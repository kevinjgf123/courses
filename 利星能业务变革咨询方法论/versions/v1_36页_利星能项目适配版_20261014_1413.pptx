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0" Type="http://schemas.openxmlformats.org/officeDocument/2006/relationships/officeDocument" Target="ppt/presentation.xml"/><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37"/>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0" Type="http://schemas.openxmlformats.org/officeDocument/2006/relationships/slideMaster" Target="slideMasters/slideMaster1.xml"/><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tableStyles" Target="tableStyles.xml"/><Relationship Id="rId4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0"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各位好。在讲方法之前，先说清楚一件事：这一册不是另一套新方法论，它是各位手上那套 4A 架构方法论的项目适配版。原理一个字没变，改的是怎么落到利星能这个项目上、做到什么颗粒度、交什么出来。为什么非要单独做一册？因为通用方法论讲的是架构怎么画，招标文件要的是你在这个项目里第一步做什么、谁做、做到什么程度才叫做完了。这两句话之间有一段距离，这一段距离就是今天要填的东西。</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整册分五部分。前一部分讲为什么必须改、中间两部分讲怎么改、后面按四个阶段讲每一步做什么、交什么。跟前面那几册的读法有个区别：前面几册可以跳着看，这一册建议按顺序看，因为后面的做法全是建立在前面的约束上的，尤其是颗粒度和可追溯这两条。</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先讲为什么要改，不是为了显得更专业。三句话：第一，照搬会做浅——通用方法论说分层分级就够了，但这个项目合同里写着要写到 L4 子流程，颗粒度不写死，交付的时候没法逐项核对；第二，照搬会做虚——通用方法论不点业务域，我们面对的是能源七块加储能两块，每块的流程形态和数据特征都不一样；第三，照搬会漏项——AI 在通用方法论里不是主体，但招标文件把它单列了三条，漏了就是废标项。所以这一册做的事就是把通用方法论改装成能对着招标文件逐条应答的施工方案。</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全册的施工图。四个阶段顺序不能颠倒，每个阶段的收口交付物就是招标文件里点名的那一份。很多人做架构规划喜欢直接从目标态开始画，那是省事，但省事的后果是后面验收的时候说不清。做咨询有个铁律：没诊断就设计蓝图，等于照着痛点画系统。这一页底部那四条铁律，建议各位拍下来贴在项目组墙上。</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下面这部分是项目适配的清单，一共六处改装。每一处改装后面都对应招标文件里的一条硬要求，不是我们自己想改的——比如颗粒度那条对应 3.3.2 的三个「到 L4、到逻辑实体、到功能模块」，可追溯那条对应 3.2 里写了「须保证」三个字的唯一硬条款。看这六页的时候，各位可以对照招标文件一起翻，能逐条对上号的，就是我们的承诺；对着不上的，我们宁可改册子也不改口径。</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这一页建议在评审时直接念。左边是招标文件 3.2 里的原文条款，中间是我们用的方法，右边是落到哪一页、交什么。评标委员会最关心的就是这一页——他们要确认的不是你懂不懂架构，而是你说的方法和你承诺的产出物能不能对上。逐行念一遍，比任何自我介绍都有说服力。</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招标文件的 3.1.1 把业务域列得很清楚，我们把它画成了一张图。能源侧五块加一块横切的指标体系，储能侧两块。这里要特别提一句中间那条黑色部分：供应商、物料、项目编码、指标口径这四样，是两条链共用的底座。如果这两条链上各建各的，后面所有集成都得做两遍，这是整套架构里最贵的一个坑。所以跨链一致性是这次诊断的第一优先级，不是并列的第几项。</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招标文件 3.1.2 列了九个参与部门。我们的做法是每个部门准备专属的三问，不是发一份通用问卷下去。为什么？因为发问卷收到的答案一定是「基本都差不多」，而真正有价值的信息——哪个环节最卡、哪张单据填两遍、上次出纰漏是什么时候——只有针对性提问才问得出来。这一页的中间两列，评审时可以现场展示，说明我们对每个部门的准备是做到位的。</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颗粒度这一页，是全册最硬的一条约束。招标写得很清楚：业务架构的蓝图设计到 L4 子流程，数据架构到业务逻辑实体，应用架构到功能模块。阶段三再往下压一层到 L5-L6、实体属性、应用服务和特性子特性。我想强调的是下面那句话：评审现场一定会有人说差不多得了，到时候能救场的只有一把客观的尺子。颗粒度就是这把尺，清单逐行打勾，缺哪行一目了然，不用争。</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招标文件里唯一一条写了「须保证」三个字的要求，全链路可追溯。做法不复杂：给痛点、根因、变革建议、系统需求各编一套号，四段一一对应，中间不许有空号。关键在两条规则——一是可上不可下，每条根因必须挂到至少一条建议，每条建议必须挂到至少一条需求；二是反向可查，评审时抽任意一条需求，三分钟能倒推回痛点原话。做不到的话，追溯矩阵就会退化成一张凑数的表。</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六处改动，用一句话概括共同点：都是为了在评审现场能指着这一行说我们就是这么做的，并且交得出对应的产出物。前面几册讲的是原理，这一册讲的是怎么在特定项目里落地。原理是通用的，落地方式是项目特定的——这就是为什么要单独出一册。</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方法论不落到人头上就只是一本册子。这一页是把它钉到执行层：四组人、十个人左右，各负责一段交付物；访谈分决策层、管理层、骨干层三层，骨干层最关键，因为流程颗粒度全靠这一层问出来；不发烧问卷，问卷只用来收单据和系统清单。下面那三个现场动作，评审时可以当场演示，这是最能建立信任的三招。</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第一阶段是现状分析，对应招标 3.3.1，收口是《现状分析报告》。这一阶段最容易做成一堆问题清单——问题列了五十条，评审时评委问哪条最痛，还是答不上来。我们用四个动作来防止跑偏：调研摸底、三维度诊断、五问追根、定改进方向，每个动作都有明确的产出物，四条产出物拼起来正好就是这份报告的骨架。这一部分我会重点讲五问追根那一页，那是整个第一阶段的核心动作。</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四个动作：调研摸底、三维度诊断、五问追根、定改进方向。这里我要专门讲五问追根，因为它决定了后面所有内容有没有价值。只问到第二层，得到的就只是系统需求；问到第五层，得到的才是变革建议。能源项目里大量痛点最终落在权责划分上——谁对投资回报负责、谁对资产保值负责，这一层追不到，补再多系统也没用。还有一个做法：追不到根因的痛点不要硬下结论，标记成现象待观察，写进报告但不下判断，避免评审时被迫二选一。</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业务现状的五维扫描，对应招标文件里要求的五项盘点。每一维我都给了判据，这些判据不是形式，是防止被「基本覆盖」糊弄过去的。比如单据台账这一维，我们只收实际样表，不接受照标准流程应该这样的描述；比如系统数据对象这一维，一个流程跨三个系统以上，集成断点基本就在那儿。现场情况往往比标准流程乱得多，乱的地方才是要改的地方。</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数据现状这一块，重点是主数据。八类主数据逐类回答四个问题：谁认领、在哪维护、谁是权威、编码规则是什么。这四个问题答不上来，就是空白区，需要在报告里如实标出来。治理现状四问也是同样的逻辑：权责、流程、标准、质量。诊断阶段我们只出最小可行治理清单，不推全量治理体系——真正卡住建设的通常就三件事：设备台账口径、供应商编码与财务不一致、同名指标不同义。先把这三类的责任人和标准定下来，其余的分期做。</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应用现状分两步走：先盘应用资产，每个系统四要素齐了才算盘清；再盘集成现状，逐对列明集成方式、协议、数据流转、服务调用。中间这一排是示例，实际盘点的时候会把所有系统两两过一遍。这里有三条诊断判据想请各位记一下：口径先于接口，集成问题九成是口径问题，先对口径再谈接口，否则集成一次错一次；一个实体一个权威源；弱集成必须记账，人工挂接、人工对账的地方要逐条列出来，这是后面蓝图里必须消掉的债。</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技术现状分两块。左边是传统基础设施四层，比较常规。右边这块是招标文件特别要求的 AI 所需技术，五项就绪度：推理算力、模型服务、向量检索、智能体编排、数据与治理配套。每一项我们给「有、半有、无」加一句差距说明。这里有个方法上的要求：这五项就绪度，每一项都要挂到具体的 AI 场景上，不能写成一份跟场景无关的技术清单。还有一条：合规先于能力，数据出域和密级限制是硬约束，评估的时候先把边界划出来，边界内的场景优先做。</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是第一份交付物。左边是五章结构，右边是交报告前的八条自检。这八条建议各位现在就拍一下，因为报告写到最后人是最累的时候，累的时候最容易漏掉覆盖率、漏掉冲突项。八条全过才能交——报告里任何一条不过，评审现场一定会被人指出来，与其被别人指出来，不如自己先过一遍。</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第二阶段是变革蓝图设计，对应招标 3.3.2，收口是《业务蓝图设计》——一份交付物里要装下 BA、DA、AA 三层加 AI 场景初识清单。这一阶段我最想讲的是顺序问题：为什么必须 BA 先定稿、DA 和 AA 才能跟进。把顺序搞错了，整体返工的成本比重来一遍还高。这一部分四页，分别是流程领域架构、数据四维度、应用分域分层、AI 场景识别与优先级。</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阶段二的做法是 BA 先定稿、DA 和 AA 跟进、TA 托底。为什么 BA 必须先？因为四层有一个交汇点，就是业务对象。BA 从上往下拆，拆到业务对象为止；DA 从下往上收，收上来也是业务对象。流程会变、组织会调、系统会换，但一台设备、一张工单不会变。业务对象定不下来，DA 的实体就是自造的，AA 的功能就是凭空的，阶段三的需求基线也无从验收。所以 BA 未过评审，不启动 DA 和 AA 的目标设计。</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业务蓝图分三块。先是流程领域架构，我们把七个业务块归成四个价值流，能源三个、储能一个，并且把两条链的交汇点显式画出来。然后是核心业务循环，比如资产运营循环的六环，每一环之间的接口都要标注传递的数据对象和传递方式，标人工的进弱集成债清单。最后是 L4 子流程，五条判定标准全满足才算一条 L4。少了就合并，凑不齐就拆开，不允许先这么写着。另外组织与职责适配建议跟流程域同时出，不放到最后补。</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数据蓝图按招标文件要求从四个维度讲：数据资产目录、数据模型、数据标准、数据分布，颗粒度到业务逻辑实体。左边四列是每个维度的设计要点，右边这块讲两件事。第一件是什么算业务逻辑实体——业务上能独立描述清楚、有唯一标识、能被流程引用的事物才算，数据库表不算，资产项目这种过粗的概念词也不算；标志是运营和工程在业务上能对上话。第二件是数据架构必须两条线拉通，向上跟业务架构对信息链，向下跟应用架构对数据分布。这条断了，集成架构就是空的。</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应用架构两块。先是分域分层，分三个应用域、三层能力。注意最右边那条：跨域共享能力只建一次，这是两条链的集成成本能不能降下来的关键。再是集成架构四要素——集成方式、集成协议、数据流转、服务调用，逐对列明，不允许留空。这里有一条硬规定：目标态不允许人工方式，人工挂接必须有目标态方案。另外提醒一句，功能模块的颗粒度就到模块，不下到页面，页面级设计属于系统实现阶段，放进咨询会越界。</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AI 场景识别单列一页，因为它在招标文件里是独立的一条。识别方法是四路来源：痛点、核心循环、知识密集岗位、合成去重，核心原则是场景从业务里长出来，不是从技术能力里想出来。优先级用三维打分，业务价值 45%、技术可行性 35%、风险与合规 20%。中间这一排是示例打分，这几行里 P2 排得比 P1 高是有原因的——文档检索风险低、见效快，缺陷判读价值更高但风险也更高。所以打分依据必须写明，不能只给总分。</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这是第二份交付物，一份要装下 BA、DA、AA 三层加 AI 场景清单。右边八条自检里，有一条我想特别提示：跨链公共实体是否只建了一套定义。这条过了，两条链的集成成本就是可控的；没过，后面所有的成本估算都会偏。评审的时候我们会建议做一次追溯抽查，现场抽一条痛点，看它能不能一路走到 L4、逻辑实体和功能模块。走通整套蓝图就成立，走不通说明某一层是凭想象画的。</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第三阶段是需求规格化，对应招标 3.3.3，收口是《架构详细设计》。这一阶段有个特点：九项交付物里有六项在阶段二和阶段三产出，所以这一阶段的密度最高，压力也最大。我要提前说清楚一件事——这个阶段最后一定要有基线冻结这个动作，这不是流程上的形式，而是保护甲乙双方的关键设计：没有冻结，建设期每个新增需求都能说当初没写清楚，最后所有变更都变成谈判。这一部分三页，讲 L5-L6 下探、数据下探、基线冻结。</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五个动作：BA 下探 L5-L6、DA 下探属性、AA 下探服务、AI 场景细化、编撰并冻结。这里有两个数要留意：交付物九项里有六项在这一阶段产出，密度很高；基线冻结这一步是招标文件的明文要求，不能省。为什么不能省？因为蓝图是设计，需求规格说明书是承诺。没有冻结动作，建设期每个新增需求都能说当初没写清楚，最后所有变更都变成谈判，而不是工程问题。</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 L5-L6 怎么下探，看一个实际例子：L4 检修工单执行拆成三个 L5，每个 L5 都有责任岗位、关键输入输出和绩效指标，然后 L5 再拆成 L6 任务。招标文件要求的两条在这里都能看到：一是绩效指标必须写，方案一次通过率、平均修复周期、验收一次通过率，这些都会进指标字典；二是例外处理必须写，备件不足怎么办、设备带病运行怎么办、超预算怎么办。右下角那句不越界也要强调：L6 不做界面设计、不做代码设计，做到能被估工作量、能被验收就算到位。</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数据下探左边是逻辑实体的属性设计示例，八列里最值得看的是最后两列：数据标准和代码标准。为什么这两列必须有？因为属性定了但标准没定，各系统各自实现，同一个字段叫三种名字，集成的时候要写一堆转换。右上是双向拉通，向下跟应用架构对数据分布。右边两个交付物：指标字典八要素缺一项就不进字典，宁可少几个也不能有错的口径；绩效考核业务数据清单以 HR 提供的考核标的为输入，HR 没提供就顺延并书面记录，不自行假设。</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基线冻结分四步：预审、分域评审、追溯抽查、冻结签字。第三步我想专门强调：追溯抽查放在最后，而且要求当场抽。一旦允许会后补，整张追溯矩阵就会退化成凑数的表。另外需求条目的六要素里，最容易被跳过的是验收标准和例外处理——这两项恰恰是验收时唯一能用的东西。冻结之后的变更也有规矩：提出方写明影响范围，评估影响与工作量，通过后基线升版并保留历史版本。</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最后一个部分包含两件事：实施路线图和交付验收。路线图对应招标 3.3.4，交付验收对应 3.4 的九项交付物清单。这一部分页数不多，但每一条都是合同里的明文要求，评审时最容易漏看——比如投入收益测算必须写明依据的假设条件，比如每项交付物的验收不过怎么办，都得写出来。这一部分四页：路线图编制方法、九项交付物总账、风险与前置条件、结语。</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路线图按招标要求分四块。分期我给了一个三期方案，依据是：先补底座，再补链路，最后补智能。这个顺序不是拍脑袋，因为 AI 依赖前两期的数据底座，提前做效果无法保证。关键路径这一块要提醒各位注意一个现象：三条链的关键节点分别是设备台账口径、转换规则沉淀、指标口径裁定——这三项都是治理动作，不是开发动作。这意味着一件事：项目卡住的时候，大概率卡在治理而不是开发，进度管理要按这个来设预期。</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这一页是九项交付物的总账，每一行都写了验收要点和验收不过怎么办。这一列写进去是有意的：评审时对方最关心的不是你说能做什么，而是说做不出来怎么办。写明处理方式，反而显得可信——按域补，不整体返工，这句话是专业的表现。最后一行有个特例要说明：绩效考核业务数据清单依赖 HR 提供考核标的数据，如果时间没对上，这项顺延并书面记录，不自行假设标的。这条建议提前在项目章程里写清楚。</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最后把风险说在前面。左边六条是我们在执行中判断最可能出问题的地方，对应的对策都写在右边。其中 R1 和 R2 最关键：访谈排期配合度和口径裁定人，这两条如果不解决，后面颗粒度一定做不到 L6。所以我们的建议是，进场首周就把这两件事定下来，写进项目章程，而不是边做边谈。右边是开工前需要客户确认的六项前置条件，坦白讲这六条如果哪条给不了，我们会提前说，而不是等到交付期才暴露。</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a:prstGeom prst="rect">
            <a:avLst/>
          </a:prstGeom>
        </p:spPr>
        <p:txBody>
          <a:bodyPr wrap="square">
            <a:normAutofit/>
          </a:bodyPr>
          <a:lstStyle/>
          <a:p>
            <a:r>
              <a:rPr lang="zh-CN" sz="1200" dirty="0"/>
              <a:t>最后用一句话收口，这也是这一册真正的验收标准：随便抽一条痛点，看它能不能一路走到一条带验收标准的需求编号。走通了，说明四层之间没有断点，这份诊断和这套蓝图是同一个故事；走不通，说明某一层是凭想象画的，后面系统建得再好，接的也是另一套需求。这一句话在现场五分钟就能验完，却能挡住整套交付物里最常见的那类问题——每一层单看都不错，串起来却对不上。四句承诺就在下面，我们愿意用这四条被检验。谢谢各位。</a:t>
            </a:r>
          </a:p>
        </p:txBody>
      </p:sp>
    </p:spTree>
  </p:cSld>
  <p:clrMapOvr>
    <a:masterClrMapping/>
  </p:clrMapOvr>
</p:notes>
</file>

<file path=ppt/slideLayouts/_rels/slideLayout1.xml.rels><?xml version='1.0' encoding='UTF-8' standalone='yes'?>
<Relationships xmlns="http://schemas.openxmlformats.org/package/2006/relationships"><Relationship Id="rId0"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0" Type="http://schemas.openxmlformats.org/officeDocument/2006/relationships/slideLayout" Target="../slideLayouts/slideLayout1.xml"/><Relationship Id="rId1"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0"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p="http://schemas.openxmlformats.org/presentationml/2006/main" xmlns:a="http://schemas.openxmlformats.org/drawingml/2006/main">
  <p:cSld>
    <p:spTree>
      <p:nvGrpSpPr>
        <p:cNvPr id="1" name="" descr="&lt;Slide style={{ width: 1280, height: 720, background: '#0F1423' }}&gt;&#10;  &lt;Box style={{ position: 'absolute', left: 0, top: 0, width: 1280, height: 720, background: 'linear-gradient(135deg, #0F1423 0%, #2A1810 100%)' }} /&gt;&#10;  &lt;Box style={{ position: 'absolute', right: 0, top: 0, width: 620, height: 720, background: 'linear-gradient(200deg, rgba(250,79,36,0.26) 0%, rgba(250,79,36,0) 70%)' }} /&gt;&#10;&#10;  &lt;Box style={{ position: 'absolute', left: 88, top: 78, width: 1104 }}&gt;&#10;    &lt;Box style={{ flexDirection: 'row', alignItems: 'center', gap: 14 }}&gt;&#10;      &lt;Box style={{ width: 14, height: 14, background: '#FA4F24' }} /&gt;&#10;      &lt;Text style={{ fontSize: 15, color: 'rgba(255,255,255,0.5)', letterSpacing: 3 }}&gt;EA 企业架构咨询方法论 · 第十四册&lt;/Text&gt;&#10;    &lt;/Box&gt;&#10;    &lt;Text style={{ fontSize: 50, fontWeight: 'bold', color: '#FFFFFF', marginTop: 24, lineHeight: 1.15 }}&gt;&#10;      利星能业务变革&lt;span style={{ color: '#FA4F24' }}&gt;咨询方法论&lt;/span&gt;&#10;    &lt;/Text&gt;&#10;    &lt;Text style={{ fontSize: 19, color: 'rgba(255,255,255,0.72)', marginTop: 18, lineHeight: 1.6, width: 960 }}&gt;&#10;      4A 企业架构方法论的项目适配版——把通用架构方法论改装成能对着招标第 3 章逐条应答、逐项交付的施工方案&#10;    &lt;/Text&gt;&#10;    &lt;Box style={{ width: 72, height: 5, background: '#FA4F24', marginTop: 24 }} /&gt;&#10;&#10;    &lt;Box style={{ flexDirection: 'row', gap: 10, marginTop: 28 }}&gt;&#10;      {['36 页', '四阶段 Approach', '能源七块 + 储能两块', '九部门 × 4A', '九项交付物', '全链路可追溯'].map((t) =&gt; (&#10;        &lt;Box key={t} style={{ height: 32, borderRadius: 16, border: '1px solid rgba(255,255,255,0.22)', padding: '0 15px', flexDirection: 'row', alignItems: 'center' }}&gt;&#10;          &lt;Text style={{ fontSize: 13, color: 'rgba(255,255,255,0.78)' }}&gt;{t}&lt;/Text&gt;&#10;        &lt;/Box&gt;&#10;      ))}&#10;    &lt;/Box&gt;&#10;  &lt;/Box&gt;&#10;&#10;  &lt;Box style={{ position: 'absolute', left: 88, top: 576, flexDirection: 'row', gap: 24 }}&gt;&#10;    {[&#10;      { b: 'BA', t: '业务架构 · 到 L4/L6' },&#10;      { b: 'DA', t: '数据架构 · 到逻辑实体' },&#10;      { b: 'AA', t: '应用架构 · 到功能模块' },&#10;      { b: 'TA', t: '技术架构 · 含 AI 所需' },&#10;      { b: '4 阶段', t: '现状→蓝图→规格→路线', c: '#FA4F24' },&#10;      { b: '9 交付', t: '合同级清单', c: '#FA4F24' },&#10;    ].map((x) =&gt; (&#10;      &lt;Box key={x.b} style={{ opacity: x.c ? 1 : 0.42 }}&gt;&#10;        &lt;Text style={{ fontSize: 15, fontWeight: 'bold', color: x.c || '#FFFFFF' }}&gt;{x.b}&lt;/Text&gt;&#10;        &lt;Text style={{ fontSize: 11.5, color: 'rgba(255,255,255,0.7)', marginTop: 3 }}&gt;{x.t}&lt;/Text&gt;&#10;      &lt;/Box&gt;&#10;    ))}&#10;  &lt;/Box&gt;&#10;&#10;  &lt;Box style={{ position: 'absolute', right: 88, bottom: 44, flexDirection: 'row', alignItems: 'center', gap: 12 }}&gt;&#10;    &lt;Text style={{ fontSize: 14, color: 'rgba(255,255,255,0.5)' }}&gt;硕磐机密 · 利星能业务变革咨询方法论&lt;/Text&gt;&#10;    &lt;Text style={{ fontSize: 14, color: 'rgba(255,255,255,0.5)', marginLeft: 12 }}&gt;01 / 36&lt;/Text&gt;&#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0F1423"/>
          </a:solidFill>
          <a:ln/>
        </p:spPr>
        <p:txBody>
          <a:bodyPr/>
          <a:p/>
        </p:txBody>
      </p:sp>
      <p:sp>
        <p:nvSpPr>
          <p:cNvPr id="3"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4" name=""/>
          <p:cNvSpPr/>
          <p:nvPr/>
        </p:nvSpPr>
        <p:spPr>
          <a:xfrm rot="0" flipH="0" flipV="0">
            <a:off x="6286500" y="0"/>
            <a:ext cx="5905500" cy="6858000"/>
          </a:xfrm>
          <a:prstGeom prst="rect">
            <a:avLst/>
          </a:prstGeom>
          <a:gradFill>
            <a:gsLst>
              <a:gs pos="0">
                <a:srgbClr val="FA4F24">
                  <a:alpha val="26000"/>
                </a:srgbClr>
              </a:gs>
              <a:gs pos="70000">
                <a:srgbClr val="FA4F24">
                  <a:alpha val="0"/>
                </a:srgbClr>
              </a:gs>
            </a:gsLst>
            <a:lin ang="6600000" scaled="1"/>
          </a:gradFill>
          <a:ln/>
        </p:spPr>
        <p:txBody>
          <a:bodyPr/>
          <a:p/>
        </p:txBody>
      </p:sp>
      <p:sp>
        <p:nvSpPr>
          <p:cNvPr id="5" name=""/>
          <p:cNvSpPr/>
          <p:nvPr/>
        </p:nvSpPr>
        <p:spPr>
          <a:xfrm rot="0" flipH="0" flipV="0">
            <a:off x="838200" y="762000"/>
            <a:ext cx="133350" cy="133350"/>
          </a:xfrm>
          <a:prstGeom prst="rect">
            <a:avLst/>
          </a:prstGeom>
          <a:solidFill>
            <a:srgbClr val="FA4F24"/>
          </a:solidFill>
          <a:ln/>
        </p:spPr>
        <p:txBody>
          <a:bodyPr/>
          <a:p/>
        </p:txBody>
      </p:sp>
      <p:sp>
        <p:nvSpPr>
          <p:cNvPr id="6" name="" descr="{&quot;isTemplate&quot;:true,&quot;type&quot;:&quot;text&quot;}"/>
          <p:cNvSpPr txBox="1"/>
          <p:nvPr/>
        </p:nvSpPr>
        <p:spPr>
          <a:xfrm rot="0" flipH="0" flipV="0">
            <a:off x="1104900" y="742950"/>
            <a:ext cx="27432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 xml:space="preserve">EA </a:t>
            </a:r>
            <a:r>
              <a:rPr lang="zh-CN" sz="1125" spc="225">
                <a:solidFill>
                  <a:srgbClr val="FFFFFF">
                    <a:alpha val="50000"/>
                  </a:srgbClr>
                </a:solidFill>
                <a:latin typeface="Microsoft YaHei"/>
                <a:ea typeface="Microsoft YaHei"/>
              </a:rPr>
              <a:t>企业架构咨询方法论</a:t>
            </a:r>
            <a:r>
              <a:rPr lang="en-US" sz="1125" spc="225">
                <a:solidFill>
                  <a:srgbClr val="FFFFFF">
                    <a:alpha val="50000"/>
                  </a:srgbClr>
                </a:solidFill>
                <a:latin typeface="Microsoft YaHei"/>
                <a:ea typeface="Microsoft YaHei"/>
              </a:rPr>
              <a:t xml:space="preserve"> · </a:t>
            </a:r>
            <a:r>
              <a:rPr lang="zh-CN" sz="1125" spc="225">
                <a:solidFill>
                  <a:srgbClr val="FFFFFF">
                    <a:alpha val="50000"/>
                  </a:srgbClr>
                </a:solidFill>
                <a:latin typeface="Microsoft YaHei"/>
                <a:ea typeface="Microsoft YaHei"/>
              </a:rPr>
              <a:t>第十四册</a:t>
            </a:r>
            <a:endParaRPr/>
          </a:p>
        </p:txBody>
      </p:sp>
      <p:sp>
        <p:nvSpPr>
          <p:cNvPr id="7" name="" descr="{&quot;isTemplate&quot;:true,&quot;type&quot;:&quot;text&quot;}"/>
          <p:cNvSpPr txBox="1"/>
          <p:nvPr/>
        </p:nvSpPr>
        <p:spPr>
          <a:xfrm rot="0" flipH="0" flipV="0">
            <a:off x="838200" y="1143000"/>
            <a:ext cx="10515600" cy="657225"/>
          </a:xfrm>
          <a:prstGeom prst="rect"/>
        </p:spPr>
        <p:txBody>
          <a:bodyPr wrap="none" lIns="0" tIns="0" rIns="0" bIns="0"/>
          <a:p>
            <a:pPr>
              <a:lnSpc>
                <a:spcPct val="114999"/>
              </a:lnSpc>
            </a:pPr>
            <a:r>
              <a:rPr lang="zh-CN" sz="3750" b="1">
                <a:solidFill>
                  <a:srgbClr val="FFFFFF"/>
                </a:solidFill>
                <a:latin typeface="Microsoft YaHei"/>
                <a:ea typeface="Microsoft YaHei"/>
              </a:rPr>
              <a:t>利星能业务变革</a:t>
            </a:r>
            <a:r>
              <a:rPr lang="zh-CN" sz="3750" b="1">
                <a:solidFill>
                  <a:srgbClr val="FA4F24"/>
                </a:solidFill>
                <a:latin typeface="Microsoft YaHei"/>
                <a:ea typeface="Microsoft YaHei"/>
              </a:rPr>
              <a:t>咨询方法论</a:t>
            </a:r>
            <a:endParaRPr/>
          </a:p>
        </p:txBody>
      </p:sp>
      <p:sp>
        <p:nvSpPr>
          <p:cNvPr id="8" name="" descr="{&quot;isTemplate&quot;:true,&quot;type&quot;:&quot;text&quot;}"/>
          <p:cNvSpPr txBox="1"/>
          <p:nvPr/>
        </p:nvSpPr>
        <p:spPr>
          <a:xfrm rot="0" flipH="0" flipV="0">
            <a:off x="838200" y="1971675"/>
            <a:ext cx="9144000" cy="352425"/>
          </a:xfrm>
          <a:prstGeom prst="rect"/>
        </p:spPr>
        <p:txBody>
          <a:bodyPr wrap="none" lIns="0" tIns="0" rIns="0" bIns="0"/>
          <a:p>
            <a:pPr>
              <a:lnSpc>
                <a:spcPct val="160000"/>
              </a:lnSpc>
            </a:pPr>
            <a:r>
              <a:rPr lang="en-US" sz="1425">
                <a:solidFill>
                  <a:srgbClr val="FFFFFF">
                    <a:alpha val="72000"/>
                  </a:srgbClr>
                </a:solidFill>
                <a:latin typeface="Microsoft YaHei"/>
                <a:ea typeface="Microsoft YaHei"/>
              </a:rPr>
              <a:t xml:space="preserve">4A </a:t>
            </a:r>
            <a:r>
              <a:rPr lang="zh-CN" sz="1425">
                <a:solidFill>
                  <a:srgbClr val="FFFFFF">
                    <a:alpha val="72000"/>
                  </a:srgbClr>
                </a:solidFill>
                <a:latin typeface="Microsoft YaHei"/>
                <a:ea typeface="Microsoft YaHei"/>
              </a:rPr>
              <a:t>企业架构方法论的项目适配版——把通用架构方法论改装成能对着招标第</a:t>
            </a:r>
            <a:r>
              <a:rPr lang="en-US" sz="1425">
                <a:solidFill>
                  <a:srgbClr val="FFFFFF">
                    <a:alpha val="72000"/>
                  </a:srgbClr>
                </a:solidFill>
                <a:latin typeface="Microsoft YaHei"/>
                <a:ea typeface="Microsoft YaHei"/>
              </a:rPr>
              <a:t xml:space="preserve"> 3 </a:t>
            </a:r>
            <a:r>
              <a:rPr lang="zh-CN" sz="1425">
                <a:solidFill>
                  <a:srgbClr val="FFFFFF">
                    <a:alpha val="72000"/>
                  </a:srgbClr>
                </a:solidFill>
                <a:latin typeface="Microsoft YaHei"/>
                <a:ea typeface="Microsoft YaHei"/>
              </a:rPr>
              <a:t>章逐条应答、逐项交付的施工方案</a:t>
            </a:r>
            <a:endParaRPr/>
          </a:p>
        </p:txBody>
      </p:sp>
      <p:sp>
        <p:nvSpPr>
          <p:cNvPr id="9" name=""/>
          <p:cNvSpPr/>
          <p:nvPr/>
        </p:nvSpPr>
        <p:spPr>
          <a:xfrm rot="0" flipH="0" flipV="0">
            <a:off x="838200" y="2552700"/>
            <a:ext cx="685800" cy="47625"/>
          </a:xfrm>
          <a:prstGeom prst="rect">
            <a:avLst/>
          </a:prstGeom>
          <a:solidFill>
            <a:srgbClr val="FA4F24"/>
          </a:solidFill>
          <a:ln/>
        </p:spPr>
        <p:txBody>
          <a:bodyPr/>
          <a:p/>
        </p:txBody>
      </p:sp>
      <p:sp>
        <p:nvSpPr>
          <p:cNvPr id="10" name=""/>
          <p:cNvSpPr/>
          <p:nvPr/>
        </p:nvSpPr>
        <p:spPr>
          <a:xfrm rot="0" flipH="0" flipV="0">
            <a:off x="838200" y="2867025"/>
            <a:ext cx="600075" cy="304800"/>
          </a:xfrm>
          <a:prstGeom prst="roundRect">
            <a:avLst>
              <a:gd name="adj" fmla="val 50000"/>
            </a:avLst>
          </a:prstGeom>
          <a:ln w="12700">
            <a:solidFill>
              <a:srgbClr val="FFFFFF">
                <a:alpha val="22000"/>
              </a:srgbClr>
            </a:solidFill>
            <a:prstDash val="solid"/>
          </a:ln>
        </p:spPr>
        <p:txBody>
          <a:bodyPr/>
          <a:p/>
        </p:txBody>
      </p:sp>
      <p:sp>
        <p:nvSpPr>
          <p:cNvPr id="11" name="" descr="{&quot;isTemplate&quot;:true,&quot;type&quot;:&quot;text&quot;}"/>
          <p:cNvSpPr txBox="1"/>
          <p:nvPr/>
        </p:nvSpPr>
        <p:spPr>
          <a:xfrm rot="0" flipH="0" flipV="0">
            <a:off x="981075" y="2943225"/>
            <a:ext cx="314325" cy="152400"/>
          </a:xfrm>
          <a:prstGeom prst="rect"/>
        </p:spPr>
        <p:txBody>
          <a:bodyPr wrap="none" lIns="0" tIns="0" rIns="0" bIns="0"/>
          <a:p>
            <a:pPr>
              <a:lnSpc>
                <a:spcPct val="100000"/>
              </a:lnSpc>
            </a:pPr>
            <a:r>
              <a:rPr lang="en-US" sz="975">
                <a:solidFill>
                  <a:srgbClr val="FFFFFF">
                    <a:alpha val="78000"/>
                  </a:srgbClr>
                </a:solidFill>
                <a:latin typeface="Microsoft YaHei"/>
                <a:ea typeface="Microsoft YaHei"/>
              </a:rPr>
              <a:t xml:space="preserve">36 </a:t>
            </a:r>
            <a:r>
              <a:rPr lang="zh-CN" sz="975">
                <a:solidFill>
                  <a:srgbClr val="FFFFFF">
                    <a:alpha val="78000"/>
                  </a:srgbClr>
                </a:solidFill>
                <a:latin typeface="Microsoft YaHei"/>
                <a:ea typeface="Microsoft YaHei"/>
              </a:rPr>
              <a:t>页</a:t>
            </a:r>
            <a:endParaRPr/>
          </a:p>
        </p:txBody>
      </p:sp>
      <p:sp>
        <p:nvSpPr>
          <p:cNvPr id="12" name=""/>
          <p:cNvSpPr/>
          <p:nvPr/>
        </p:nvSpPr>
        <p:spPr>
          <a:xfrm rot="0" flipH="0" flipV="0">
            <a:off x="1533525" y="2867025"/>
            <a:ext cx="1276350" cy="304800"/>
          </a:xfrm>
          <a:prstGeom prst="roundRect">
            <a:avLst>
              <a:gd name="adj" fmla="val 50000"/>
            </a:avLst>
          </a:prstGeom>
          <a:ln w="12700">
            <a:solidFill>
              <a:srgbClr val="FFFFFF">
                <a:alpha val="22000"/>
              </a:srgbClr>
            </a:solidFill>
            <a:prstDash val="solid"/>
          </a:ln>
        </p:spPr>
        <p:txBody>
          <a:bodyPr/>
          <a:p/>
        </p:txBody>
      </p:sp>
      <p:sp>
        <p:nvSpPr>
          <p:cNvPr id="13" name="" descr="{&quot;isTemplate&quot;:true,&quot;type&quot;:&quot;text&quot;}"/>
          <p:cNvSpPr txBox="1"/>
          <p:nvPr/>
        </p:nvSpPr>
        <p:spPr>
          <a:xfrm rot="0" flipH="0" flipV="0">
            <a:off x="1676400" y="2943225"/>
            <a:ext cx="990600" cy="152400"/>
          </a:xfrm>
          <a:prstGeom prst="rect"/>
        </p:spPr>
        <p:txBody>
          <a:bodyPr wrap="none" lIns="0" tIns="0" rIns="0" bIns="0"/>
          <a:p>
            <a:pPr>
              <a:lnSpc>
                <a:spcPct val="100000"/>
              </a:lnSpc>
            </a:pPr>
            <a:r>
              <a:rPr lang="zh-CN" sz="975">
                <a:solidFill>
                  <a:srgbClr val="FFFFFF">
                    <a:alpha val="78000"/>
                  </a:srgbClr>
                </a:solidFill>
                <a:latin typeface="Microsoft YaHei"/>
                <a:ea typeface="Microsoft YaHei"/>
              </a:rPr>
              <a:t>四阶段</a:t>
            </a:r>
            <a:r>
              <a:rPr lang="en-US" sz="975">
                <a:solidFill>
                  <a:srgbClr val="FFFFFF">
                    <a:alpha val="78000"/>
                  </a:srgbClr>
                </a:solidFill>
                <a:latin typeface="Microsoft YaHei"/>
                <a:ea typeface="Microsoft YaHei"/>
              </a:rPr>
              <a:t xml:space="preserve"> Approach</a:t>
            </a:r>
            <a:endParaRPr/>
          </a:p>
        </p:txBody>
      </p:sp>
      <p:sp>
        <p:nvSpPr>
          <p:cNvPr id="14" name=""/>
          <p:cNvSpPr/>
          <p:nvPr/>
        </p:nvSpPr>
        <p:spPr>
          <a:xfrm rot="0" flipH="0" flipV="0">
            <a:off x="2905125" y="2867025"/>
            <a:ext cx="1447800" cy="304800"/>
          </a:xfrm>
          <a:prstGeom prst="roundRect">
            <a:avLst>
              <a:gd name="adj" fmla="val 50000"/>
            </a:avLst>
          </a:prstGeom>
          <a:ln w="12700">
            <a:solidFill>
              <a:srgbClr val="FFFFFF">
                <a:alpha val="22000"/>
              </a:srgbClr>
            </a:solidFill>
            <a:prstDash val="solid"/>
          </a:ln>
        </p:spPr>
        <p:txBody>
          <a:bodyPr/>
          <a:p/>
        </p:txBody>
      </p:sp>
      <p:sp>
        <p:nvSpPr>
          <p:cNvPr id="15" name="" descr="{&quot;isTemplate&quot;:true,&quot;type&quot;:&quot;text&quot;}"/>
          <p:cNvSpPr txBox="1"/>
          <p:nvPr/>
        </p:nvSpPr>
        <p:spPr>
          <a:xfrm rot="0" flipH="0" flipV="0">
            <a:off x="3048000" y="2943225"/>
            <a:ext cx="1162050" cy="152400"/>
          </a:xfrm>
          <a:prstGeom prst="rect"/>
        </p:spPr>
        <p:txBody>
          <a:bodyPr wrap="none" lIns="0" tIns="0" rIns="0" bIns="0"/>
          <a:p>
            <a:pPr>
              <a:lnSpc>
                <a:spcPct val="100000"/>
              </a:lnSpc>
            </a:pPr>
            <a:r>
              <a:rPr lang="zh-CN" sz="975">
                <a:solidFill>
                  <a:srgbClr val="FFFFFF">
                    <a:alpha val="78000"/>
                  </a:srgbClr>
                </a:solidFill>
                <a:latin typeface="Microsoft YaHei"/>
                <a:ea typeface="Microsoft YaHei"/>
              </a:rPr>
              <a:t>能源七块</a:t>
            </a:r>
            <a:r>
              <a:rPr lang="en-US" sz="975">
                <a:solidFill>
                  <a:srgbClr val="FFFFFF">
                    <a:alpha val="78000"/>
                  </a:srgbClr>
                </a:solidFill>
                <a:latin typeface="Microsoft YaHei"/>
                <a:ea typeface="Microsoft YaHei"/>
              </a:rPr>
              <a:t xml:space="preserve"> + </a:t>
            </a:r>
            <a:r>
              <a:rPr lang="zh-CN" sz="975">
                <a:solidFill>
                  <a:srgbClr val="FFFFFF">
                    <a:alpha val="78000"/>
                  </a:srgbClr>
                </a:solidFill>
                <a:latin typeface="Microsoft YaHei"/>
                <a:ea typeface="Microsoft YaHei"/>
              </a:rPr>
              <a:t>储能两块</a:t>
            </a:r>
            <a:endParaRPr/>
          </a:p>
        </p:txBody>
      </p:sp>
      <p:sp>
        <p:nvSpPr>
          <p:cNvPr id="16" name=""/>
          <p:cNvSpPr/>
          <p:nvPr/>
        </p:nvSpPr>
        <p:spPr>
          <a:xfrm rot="0" flipH="0" flipV="0">
            <a:off x="4448175" y="2867025"/>
            <a:ext cx="990600" cy="304800"/>
          </a:xfrm>
          <a:prstGeom prst="roundRect">
            <a:avLst>
              <a:gd name="adj" fmla="val 50000"/>
            </a:avLst>
          </a:prstGeom>
          <a:ln w="12700">
            <a:solidFill>
              <a:srgbClr val="FFFFFF">
                <a:alpha val="22000"/>
              </a:srgbClr>
            </a:solidFill>
            <a:prstDash val="solid"/>
          </a:ln>
        </p:spPr>
        <p:txBody>
          <a:bodyPr/>
          <a:p/>
        </p:txBody>
      </p:sp>
      <p:sp>
        <p:nvSpPr>
          <p:cNvPr id="17" name="" descr="{&quot;isTemplate&quot;:true,&quot;type&quot;:&quot;text&quot;}"/>
          <p:cNvSpPr txBox="1"/>
          <p:nvPr/>
        </p:nvSpPr>
        <p:spPr>
          <a:xfrm rot="0" flipH="0" flipV="0">
            <a:off x="4591050" y="2943225"/>
            <a:ext cx="704850" cy="152400"/>
          </a:xfrm>
          <a:prstGeom prst="rect"/>
        </p:spPr>
        <p:txBody>
          <a:bodyPr wrap="none" lIns="0" tIns="0" rIns="0" bIns="0"/>
          <a:p>
            <a:pPr>
              <a:lnSpc>
                <a:spcPct val="100000"/>
              </a:lnSpc>
            </a:pPr>
            <a:r>
              <a:rPr lang="zh-CN" sz="975">
                <a:solidFill>
                  <a:srgbClr val="FFFFFF">
                    <a:alpha val="78000"/>
                  </a:srgbClr>
                </a:solidFill>
                <a:latin typeface="Microsoft YaHei"/>
                <a:ea typeface="Microsoft YaHei"/>
              </a:rPr>
              <a:t>九部门</a:t>
            </a:r>
            <a:r>
              <a:rPr lang="en-US" sz="975">
                <a:solidFill>
                  <a:srgbClr val="FFFFFF">
                    <a:alpha val="78000"/>
                  </a:srgbClr>
                </a:solidFill>
                <a:latin typeface="Microsoft YaHei"/>
                <a:ea typeface="Microsoft YaHei"/>
              </a:rPr>
              <a:t xml:space="preserve"> × 4A</a:t>
            </a:r>
            <a:endParaRPr/>
          </a:p>
        </p:txBody>
      </p:sp>
      <p:sp>
        <p:nvSpPr>
          <p:cNvPr id="18" name=""/>
          <p:cNvSpPr/>
          <p:nvPr/>
        </p:nvSpPr>
        <p:spPr>
          <a:xfrm rot="0" flipH="0" flipV="0">
            <a:off x="5534025" y="2867025"/>
            <a:ext cx="904875" cy="304800"/>
          </a:xfrm>
          <a:prstGeom prst="roundRect">
            <a:avLst>
              <a:gd name="adj" fmla="val 50000"/>
            </a:avLst>
          </a:prstGeom>
          <a:ln w="12700">
            <a:solidFill>
              <a:srgbClr val="FFFFFF">
                <a:alpha val="22000"/>
              </a:srgbClr>
            </a:solidFill>
            <a:prstDash val="solid"/>
          </a:ln>
        </p:spPr>
        <p:txBody>
          <a:bodyPr/>
          <a:p/>
        </p:txBody>
      </p:sp>
      <p:sp>
        <p:nvSpPr>
          <p:cNvPr id="19" name="" descr="{&quot;isTemplate&quot;:true,&quot;type&quot;:&quot;text&quot;}"/>
          <p:cNvSpPr txBox="1"/>
          <p:nvPr/>
        </p:nvSpPr>
        <p:spPr>
          <a:xfrm rot="0" flipH="0" flipV="0">
            <a:off x="5676900" y="2943225"/>
            <a:ext cx="619125" cy="152400"/>
          </a:xfrm>
          <a:prstGeom prst="rect"/>
        </p:spPr>
        <p:txBody>
          <a:bodyPr wrap="none" lIns="0" tIns="0" rIns="0" bIns="0"/>
          <a:p>
            <a:pPr>
              <a:lnSpc>
                <a:spcPct val="100000"/>
              </a:lnSpc>
            </a:pPr>
            <a:r>
              <a:rPr lang="zh-CN" sz="975">
                <a:solidFill>
                  <a:srgbClr val="FFFFFF">
                    <a:alpha val="78000"/>
                  </a:srgbClr>
                </a:solidFill>
                <a:latin typeface="Microsoft YaHei"/>
                <a:ea typeface="Microsoft YaHei"/>
              </a:rPr>
              <a:t>九项交付物</a:t>
            </a:r>
            <a:endParaRPr/>
          </a:p>
        </p:txBody>
      </p:sp>
      <p:sp>
        <p:nvSpPr>
          <p:cNvPr id="20" name=""/>
          <p:cNvSpPr/>
          <p:nvPr/>
        </p:nvSpPr>
        <p:spPr>
          <a:xfrm rot="0" flipH="0" flipV="0">
            <a:off x="6534150" y="2867025"/>
            <a:ext cx="1028700" cy="304800"/>
          </a:xfrm>
          <a:prstGeom prst="roundRect">
            <a:avLst>
              <a:gd name="adj" fmla="val 50000"/>
            </a:avLst>
          </a:prstGeom>
          <a:ln w="12700">
            <a:solidFill>
              <a:srgbClr val="FFFFFF">
                <a:alpha val="22000"/>
              </a:srgbClr>
            </a:solidFill>
            <a:prstDash val="solid"/>
          </a:ln>
        </p:spPr>
        <p:txBody>
          <a:bodyPr/>
          <a:p/>
        </p:txBody>
      </p:sp>
      <p:sp>
        <p:nvSpPr>
          <p:cNvPr id="21" name="" descr="{&quot;isTemplate&quot;:true,&quot;type&quot;:&quot;text&quot;}"/>
          <p:cNvSpPr txBox="1"/>
          <p:nvPr/>
        </p:nvSpPr>
        <p:spPr>
          <a:xfrm rot="0" flipH="0" flipV="0">
            <a:off x="6677025" y="2943225"/>
            <a:ext cx="742950" cy="152400"/>
          </a:xfrm>
          <a:prstGeom prst="rect"/>
        </p:spPr>
        <p:txBody>
          <a:bodyPr wrap="none" lIns="0" tIns="0" rIns="0" bIns="0"/>
          <a:p>
            <a:pPr>
              <a:lnSpc>
                <a:spcPct val="100000"/>
              </a:lnSpc>
            </a:pPr>
            <a:r>
              <a:rPr lang="zh-CN" sz="975">
                <a:solidFill>
                  <a:srgbClr val="FFFFFF">
                    <a:alpha val="78000"/>
                  </a:srgbClr>
                </a:solidFill>
                <a:latin typeface="Microsoft YaHei"/>
                <a:ea typeface="Microsoft YaHei"/>
              </a:rPr>
              <a:t>全链路可追溯</a:t>
            </a:r>
            <a:endParaRPr/>
          </a:p>
        </p:txBody>
      </p:sp>
      <p:sp>
        <p:nvSpPr>
          <p:cNvPr id="22" name="" descr="{&quot;isTemplate&quot;:true,&quot;type&quot;:&quot;text&quot;}"/>
          <p:cNvSpPr txBox="1"/>
          <p:nvPr/>
        </p:nvSpPr>
        <p:spPr>
          <a:xfrm rot="0" flipH="0" flipV="0">
            <a:off x="5924550" y="5486400"/>
            <a:ext cx="1209675" cy="171450"/>
          </a:xfrm>
          <a:prstGeom prst="rect"/>
        </p:spPr>
        <p:txBody>
          <a:bodyPr wrap="none" lIns="0" tIns="0" rIns="0" bIns="0"/>
          <a:p>
            <a:pPr>
              <a:lnSpc>
                <a:spcPct val="100000"/>
              </a:lnSpc>
            </a:pPr>
            <a:r>
              <a:rPr lang="en-US" sz="1125" b="1">
                <a:solidFill>
                  <a:srgbClr val="FA4F24"/>
                </a:solidFill>
                <a:latin typeface="Microsoft YaHei"/>
                <a:ea typeface="Microsoft YaHei"/>
              </a:rPr>
              <a:t xml:space="preserve">4 </a:t>
            </a:r>
            <a:r>
              <a:rPr lang="zh-CN" sz="1125" b="1">
                <a:solidFill>
                  <a:srgbClr val="FA4F24"/>
                </a:solidFill>
                <a:latin typeface="Microsoft YaHei"/>
                <a:ea typeface="Microsoft YaHei"/>
              </a:rPr>
              <a:t>阶段</a:t>
            </a:r>
            <a:endParaRPr/>
          </a:p>
        </p:txBody>
      </p:sp>
      <p:sp>
        <p:nvSpPr>
          <p:cNvPr id="23" name="" descr="{&quot;isTemplate&quot;:true,&quot;type&quot;:&quot;text&quot;}"/>
          <p:cNvSpPr txBox="1"/>
          <p:nvPr/>
        </p:nvSpPr>
        <p:spPr>
          <a:xfrm rot="0" flipH="0" flipV="0">
            <a:off x="5924550" y="5686425"/>
            <a:ext cx="1209675" cy="133350"/>
          </a:xfrm>
          <a:prstGeom prst="rect"/>
        </p:spPr>
        <p:txBody>
          <a:bodyPr wrap="none" lIns="0" tIns="0" rIns="0" bIns="0"/>
          <a:p>
            <a:pPr>
              <a:lnSpc>
                <a:spcPct val="100000"/>
              </a:lnSpc>
            </a:pPr>
            <a:r>
              <a:rPr lang="zh-CN" sz="863">
                <a:solidFill>
                  <a:srgbClr val="FFFFFF">
                    <a:alpha val="70000"/>
                  </a:srgbClr>
                </a:solidFill>
                <a:latin typeface="Microsoft YaHei"/>
                <a:ea typeface="Microsoft YaHei"/>
              </a:rPr>
              <a:t>现状→蓝图→规格→路线</a:t>
            </a:r>
            <a:endParaRPr/>
          </a:p>
        </p:txBody>
      </p:sp>
      <p:sp>
        <p:nvSpPr>
          <p:cNvPr id="24" name="" descr="{&quot;isTemplate&quot;:true,&quot;type&quot;:&quot;text&quot;}"/>
          <p:cNvSpPr txBox="1"/>
          <p:nvPr/>
        </p:nvSpPr>
        <p:spPr>
          <a:xfrm rot="0" flipH="0" flipV="0">
            <a:off x="7362825" y="5486400"/>
            <a:ext cx="552450" cy="171450"/>
          </a:xfrm>
          <a:prstGeom prst="rect"/>
        </p:spPr>
        <p:txBody>
          <a:bodyPr wrap="none" lIns="0" tIns="0" rIns="0" bIns="0"/>
          <a:p>
            <a:pPr>
              <a:lnSpc>
                <a:spcPct val="100000"/>
              </a:lnSpc>
            </a:pPr>
            <a:r>
              <a:rPr lang="en-US" sz="1125" b="1">
                <a:solidFill>
                  <a:srgbClr val="FA4F24"/>
                </a:solidFill>
                <a:latin typeface="Microsoft YaHei"/>
                <a:ea typeface="Microsoft YaHei"/>
              </a:rPr>
              <a:t xml:space="preserve">9 </a:t>
            </a:r>
            <a:r>
              <a:rPr lang="zh-CN" sz="1125" b="1">
                <a:solidFill>
                  <a:srgbClr val="FA4F24"/>
                </a:solidFill>
                <a:latin typeface="Microsoft YaHei"/>
                <a:ea typeface="Microsoft YaHei"/>
              </a:rPr>
              <a:t>交付</a:t>
            </a:r>
            <a:endParaRPr/>
          </a:p>
        </p:txBody>
      </p:sp>
      <p:sp>
        <p:nvSpPr>
          <p:cNvPr id="25" name="" descr="{&quot;isTemplate&quot;:true,&quot;type&quot;:&quot;text&quot;}"/>
          <p:cNvSpPr txBox="1"/>
          <p:nvPr/>
        </p:nvSpPr>
        <p:spPr>
          <a:xfrm rot="0" flipH="0" flipV="0">
            <a:off x="7362825" y="5686425"/>
            <a:ext cx="552450" cy="133350"/>
          </a:xfrm>
          <a:prstGeom prst="rect"/>
        </p:spPr>
        <p:txBody>
          <a:bodyPr wrap="none" lIns="0" tIns="0" rIns="0" bIns="0"/>
          <a:p>
            <a:pPr>
              <a:lnSpc>
                <a:spcPct val="100000"/>
              </a:lnSpc>
            </a:pPr>
            <a:r>
              <a:rPr lang="zh-CN" sz="863">
                <a:solidFill>
                  <a:srgbClr val="FFFFFF">
                    <a:alpha val="70000"/>
                  </a:srgbClr>
                </a:solidFill>
                <a:latin typeface="Microsoft YaHei"/>
                <a:ea typeface="Microsoft YaHei"/>
              </a:rPr>
              <a:t>合同级清单</a:t>
            </a:r>
            <a:endParaRPr/>
          </a:p>
        </p:txBody>
      </p:sp>
      <p:sp>
        <p:nvSpPr>
          <p:cNvPr id="26" name="" descr="{&quot;isTemplate&quot;:true,&quot;type&quot;:&quot;text&quot;}"/>
          <p:cNvSpPr txBox="1"/>
          <p:nvPr/>
        </p:nvSpPr>
        <p:spPr>
          <a:xfrm rot="0" flipH="0" flipV="0">
            <a:off x="838200" y="5486400"/>
            <a:ext cx="962025" cy="171450"/>
          </a:xfrm>
          <a:prstGeom prst="rect"/>
        </p:spPr>
        <p:txBody>
          <a:bodyPr wrap="none" lIns="0" tIns="0" rIns="0" bIns="0"/>
          <a:p>
            <a:pPr>
              <a:lnSpc>
                <a:spcPct val="100000"/>
              </a:lnSpc>
            </a:pPr>
            <a:r>
              <a:rPr lang="en-US" sz="1125" b="1">
                <a:solidFill>
                  <a:srgbClr val="FFFFFF">
                    <a:alpha val="42000"/>
                  </a:srgbClr>
                </a:solidFill>
                <a:latin typeface="Microsoft YaHei"/>
                <a:ea typeface="Microsoft YaHei"/>
              </a:rPr>
              <a:t>BA</a:t>
            </a:r>
            <a:endParaRPr/>
          </a:p>
        </p:txBody>
      </p:sp>
      <p:sp>
        <p:nvSpPr>
          <p:cNvPr id="27" name="" descr="{&quot;isTemplate&quot;:true,&quot;type&quot;:&quot;text&quot;}"/>
          <p:cNvSpPr txBox="1"/>
          <p:nvPr/>
        </p:nvSpPr>
        <p:spPr>
          <a:xfrm rot="0" flipH="0" flipV="0">
            <a:off x="838200" y="5686425"/>
            <a:ext cx="962025" cy="133350"/>
          </a:xfrm>
          <a:prstGeom prst="rect"/>
        </p:spPr>
        <p:txBody>
          <a:bodyPr wrap="none" lIns="0" tIns="0" rIns="0" bIns="0"/>
          <a:p>
            <a:pPr>
              <a:lnSpc>
                <a:spcPct val="100000"/>
              </a:lnSpc>
            </a:pPr>
            <a:r>
              <a:rPr lang="zh-CN" sz="863">
                <a:solidFill>
                  <a:srgbClr val="FFFFFF">
                    <a:alpha val="29400"/>
                  </a:srgbClr>
                </a:solidFill>
                <a:latin typeface="Microsoft YaHei"/>
                <a:ea typeface="Microsoft YaHei"/>
              </a:rPr>
              <a:t>业务架构</a:t>
            </a:r>
            <a:r>
              <a:rPr lang="en-US" sz="863">
                <a:solidFill>
                  <a:srgbClr val="FFFFFF">
                    <a:alpha val="29400"/>
                  </a:srgbClr>
                </a:solidFill>
                <a:latin typeface="Microsoft YaHei"/>
                <a:ea typeface="Microsoft YaHei"/>
              </a:rPr>
              <a:t xml:space="preserve"> · </a:t>
            </a:r>
            <a:r>
              <a:rPr lang="zh-CN" sz="863">
                <a:solidFill>
                  <a:srgbClr val="FFFFFF">
                    <a:alpha val="29400"/>
                  </a:srgbClr>
                </a:solidFill>
                <a:latin typeface="Microsoft YaHei"/>
                <a:ea typeface="Microsoft YaHei"/>
              </a:rPr>
              <a:t>到</a:t>
            </a:r>
            <a:r>
              <a:rPr lang="en-US" sz="863">
                <a:solidFill>
                  <a:srgbClr val="FFFFFF">
                    <a:alpha val="29400"/>
                  </a:srgbClr>
                </a:solidFill>
                <a:latin typeface="Microsoft YaHei"/>
                <a:ea typeface="Microsoft YaHei"/>
              </a:rPr>
              <a:t xml:space="preserve"> L4/L6</a:t>
            </a:r>
            <a:endParaRPr/>
          </a:p>
        </p:txBody>
      </p:sp>
      <p:sp>
        <p:nvSpPr>
          <p:cNvPr id="28" name="" descr="{&quot;isTemplate&quot;:true,&quot;type&quot;:&quot;text&quot;}"/>
          <p:cNvSpPr txBox="1"/>
          <p:nvPr/>
        </p:nvSpPr>
        <p:spPr>
          <a:xfrm rot="0" flipH="0" flipV="0">
            <a:off x="2028825" y="5486400"/>
            <a:ext cx="1085850" cy="171450"/>
          </a:xfrm>
          <a:prstGeom prst="rect"/>
        </p:spPr>
        <p:txBody>
          <a:bodyPr wrap="none" lIns="0" tIns="0" rIns="0" bIns="0"/>
          <a:p>
            <a:pPr>
              <a:lnSpc>
                <a:spcPct val="100000"/>
              </a:lnSpc>
            </a:pPr>
            <a:r>
              <a:rPr lang="en-US" sz="1125" b="1">
                <a:solidFill>
                  <a:srgbClr val="FFFFFF">
                    <a:alpha val="42000"/>
                  </a:srgbClr>
                </a:solidFill>
                <a:latin typeface="Microsoft YaHei"/>
                <a:ea typeface="Microsoft YaHei"/>
              </a:rPr>
              <a:t>DA</a:t>
            </a:r>
            <a:endParaRPr/>
          </a:p>
        </p:txBody>
      </p:sp>
      <p:sp>
        <p:nvSpPr>
          <p:cNvPr id="29" name="" descr="{&quot;isTemplate&quot;:true,&quot;type&quot;:&quot;text&quot;}"/>
          <p:cNvSpPr txBox="1"/>
          <p:nvPr/>
        </p:nvSpPr>
        <p:spPr>
          <a:xfrm rot="0" flipH="0" flipV="0">
            <a:off x="2028825" y="5686425"/>
            <a:ext cx="1085850" cy="133350"/>
          </a:xfrm>
          <a:prstGeom prst="rect"/>
        </p:spPr>
        <p:txBody>
          <a:bodyPr wrap="none" lIns="0" tIns="0" rIns="0" bIns="0"/>
          <a:p>
            <a:pPr>
              <a:lnSpc>
                <a:spcPct val="100000"/>
              </a:lnSpc>
            </a:pPr>
            <a:r>
              <a:rPr lang="zh-CN" sz="863">
                <a:solidFill>
                  <a:srgbClr val="FFFFFF">
                    <a:alpha val="29400"/>
                  </a:srgbClr>
                </a:solidFill>
                <a:latin typeface="Microsoft YaHei"/>
                <a:ea typeface="Microsoft YaHei"/>
              </a:rPr>
              <a:t>数据架构</a:t>
            </a:r>
            <a:r>
              <a:rPr lang="en-US" sz="863">
                <a:solidFill>
                  <a:srgbClr val="FFFFFF">
                    <a:alpha val="29400"/>
                  </a:srgbClr>
                </a:solidFill>
                <a:latin typeface="Microsoft YaHei"/>
                <a:ea typeface="Microsoft YaHei"/>
              </a:rPr>
              <a:t xml:space="preserve"> · </a:t>
            </a:r>
            <a:r>
              <a:rPr lang="zh-CN" sz="863">
                <a:solidFill>
                  <a:srgbClr val="FFFFFF">
                    <a:alpha val="29400"/>
                  </a:srgbClr>
                </a:solidFill>
                <a:latin typeface="Microsoft YaHei"/>
                <a:ea typeface="Microsoft YaHei"/>
              </a:rPr>
              <a:t>到逻辑实体</a:t>
            </a:r>
            <a:endParaRPr/>
          </a:p>
        </p:txBody>
      </p:sp>
      <p:sp>
        <p:nvSpPr>
          <p:cNvPr id="30" name="" descr="{&quot;isTemplate&quot;:true,&quot;type&quot;:&quot;text&quot;}"/>
          <p:cNvSpPr txBox="1"/>
          <p:nvPr/>
        </p:nvSpPr>
        <p:spPr>
          <a:xfrm rot="0" flipH="0" flipV="0">
            <a:off x="3343275" y="5486400"/>
            <a:ext cx="1085850" cy="171450"/>
          </a:xfrm>
          <a:prstGeom prst="rect"/>
        </p:spPr>
        <p:txBody>
          <a:bodyPr wrap="none" lIns="0" tIns="0" rIns="0" bIns="0"/>
          <a:p>
            <a:pPr>
              <a:lnSpc>
                <a:spcPct val="100000"/>
              </a:lnSpc>
            </a:pPr>
            <a:r>
              <a:rPr lang="en-US" sz="1125" b="1">
                <a:solidFill>
                  <a:srgbClr val="FFFFFF">
                    <a:alpha val="42000"/>
                  </a:srgbClr>
                </a:solidFill>
                <a:latin typeface="Microsoft YaHei"/>
                <a:ea typeface="Microsoft YaHei"/>
              </a:rPr>
              <a:t>AA</a:t>
            </a:r>
            <a:endParaRPr/>
          </a:p>
        </p:txBody>
      </p:sp>
      <p:sp>
        <p:nvSpPr>
          <p:cNvPr id="31" name="" descr="{&quot;isTemplate&quot;:true,&quot;type&quot;:&quot;text&quot;}"/>
          <p:cNvSpPr txBox="1"/>
          <p:nvPr/>
        </p:nvSpPr>
        <p:spPr>
          <a:xfrm rot="0" flipH="0" flipV="0">
            <a:off x="3343275" y="5686425"/>
            <a:ext cx="1085850" cy="133350"/>
          </a:xfrm>
          <a:prstGeom prst="rect"/>
        </p:spPr>
        <p:txBody>
          <a:bodyPr wrap="none" lIns="0" tIns="0" rIns="0" bIns="0"/>
          <a:p>
            <a:pPr>
              <a:lnSpc>
                <a:spcPct val="100000"/>
              </a:lnSpc>
            </a:pPr>
            <a:r>
              <a:rPr lang="zh-CN" sz="863">
                <a:solidFill>
                  <a:srgbClr val="FFFFFF">
                    <a:alpha val="29400"/>
                  </a:srgbClr>
                </a:solidFill>
                <a:latin typeface="Microsoft YaHei"/>
                <a:ea typeface="Microsoft YaHei"/>
              </a:rPr>
              <a:t>应用架构</a:t>
            </a:r>
            <a:r>
              <a:rPr lang="en-US" sz="863">
                <a:solidFill>
                  <a:srgbClr val="FFFFFF">
                    <a:alpha val="29400"/>
                  </a:srgbClr>
                </a:solidFill>
                <a:latin typeface="Microsoft YaHei"/>
                <a:ea typeface="Microsoft YaHei"/>
              </a:rPr>
              <a:t xml:space="preserve"> · </a:t>
            </a:r>
            <a:r>
              <a:rPr lang="zh-CN" sz="863">
                <a:solidFill>
                  <a:srgbClr val="FFFFFF">
                    <a:alpha val="29400"/>
                  </a:srgbClr>
                </a:solidFill>
                <a:latin typeface="Microsoft YaHei"/>
                <a:ea typeface="Microsoft YaHei"/>
              </a:rPr>
              <a:t>到功能模块</a:t>
            </a:r>
            <a:endParaRPr/>
          </a:p>
        </p:txBody>
      </p:sp>
      <p:sp>
        <p:nvSpPr>
          <p:cNvPr id="32" name="" descr="{&quot;isTemplate&quot;:true,&quot;type&quot;:&quot;text&quot;}"/>
          <p:cNvSpPr txBox="1"/>
          <p:nvPr/>
        </p:nvSpPr>
        <p:spPr>
          <a:xfrm rot="0" flipH="0" flipV="0">
            <a:off x="4657725" y="5486400"/>
            <a:ext cx="1038225" cy="171450"/>
          </a:xfrm>
          <a:prstGeom prst="rect"/>
        </p:spPr>
        <p:txBody>
          <a:bodyPr wrap="none" lIns="0" tIns="0" rIns="0" bIns="0"/>
          <a:p>
            <a:pPr>
              <a:lnSpc>
                <a:spcPct val="100000"/>
              </a:lnSpc>
            </a:pPr>
            <a:r>
              <a:rPr lang="en-US" sz="1125" b="1">
                <a:solidFill>
                  <a:srgbClr val="FFFFFF">
                    <a:alpha val="42000"/>
                  </a:srgbClr>
                </a:solidFill>
                <a:latin typeface="Microsoft YaHei"/>
                <a:ea typeface="Microsoft YaHei"/>
              </a:rPr>
              <a:t>TA</a:t>
            </a:r>
            <a:endParaRPr/>
          </a:p>
        </p:txBody>
      </p:sp>
      <p:sp>
        <p:nvSpPr>
          <p:cNvPr id="33" name="" descr="{&quot;isTemplate&quot;:true,&quot;type&quot;:&quot;text&quot;}"/>
          <p:cNvSpPr txBox="1"/>
          <p:nvPr/>
        </p:nvSpPr>
        <p:spPr>
          <a:xfrm rot="0" flipH="0" flipV="0">
            <a:off x="4657725" y="5686425"/>
            <a:ext cx="1038225" cy="133350"/>
          </a:xfrm>
          <a:prstGeom prst="rect"/>
        </p:spPr>
        <p:txBody>
          <a:bodyPr wrap="none" lIns="0" tIns="0" rIns="0" bIns="0"/>
          <a:p>
            <a:pPr>
              <a:lnSpc>
                <a:spcPct val="100000"/>
              </a:lnSpc>
            </a:pPr>
            <a:r>
              <a:rPr lang="zh-CN" sz="863">
                <a:solidFill>
                  <a:srgbClr val="FFFFFF">
                    <a:alpha val="29400"/>
                  </a:srgbClr>
                </a:solidFill>
                <a:latin typeface="Microsoft YaHei"/>
                <a:ea typeface="Microsoft YaHei"/>
              </a:rPr>
              <a:t>技术架构</a:t>
            </a:r>
            <a:r>
              <a:rPr lang="en-US" sz="863">
                <a:solidFill>
                  <a:srgbClr val="FFFFFF">
                    <a:alpha val="29400"/>
                  </a:srgbClr>
                </a:solidFill>
                <a:latin typeface="Microsoft YaHei"/>
                <a:ea typeface="Microsoft YaHei"/>
              </a:rPr>
              <a:t xml:space="preserve"> · </a:t>
            </a:r>
            <a:r>
              <a:rPr lang="zh-CN" sz="863">
                <a:solidFill>
                  <a:srgbClr val="FFFFFF">
                    <a:alpha val="29400"/>
                  </a:srgbClr>
                </a:solidFill>
                <a:latin typeface="Microsoft YaHei"/>
                <a:ea typeface="Microsoft YaHei"/>
              </a:rPr>
              <a:t>含</a:t>
            </a:r>
            <a:r>
              <a:rPr lang="en-US" sz="863">
                <a:solidFill>
                  <a:srgbClr val="FFFFFF">
                    <a:alpha val="29400"/>
                  </a:srgbClr>
                </a:solidFill>
                <a:latin typeface="Microsoft YaHei"/>
                <a:ea typeface="Microsoft YaHei"/>
              </a:rPr>
              <a:t xml:space="preserve"> AI </a:t>
            </a:r>
            <a:r>
              <a:rPr lang="zh-CN" sz="863">
                <a:solidFill>
                  <a:srgbClr val="FFFFFF">
                    <a:alpha val="29400"/>
                  </a:srgbClr>
                </a:solidFill>
                <a:latin typeface="Microsoft YaHei"/>
                <a:ea typeface="Microsoft YaHei"/>
              </a:rPr>
              <a:t>所需</a:t>
            </a:r>
            <a:endParaRPr/>
          </a:p>
        </p:txBody>
      </p:sp>
      <p:sp>
        <p:nvSpPr>
          <p:cNvPr id="34" name="" descr="{&quot;isTemplate&quot;:true,&quot;type&quot;:&quot;text&quot;}"/>
          <p:cNvSpPr txBox="1"/>
          <p:nvPr/>
        </p:nvSpPr>
        <p:spPr>
          <a:xfrm rot="0" flipH="0" flipV="0">
            <a:off x="8420100" y="6276975"/>
            <a:ext cx="224790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利星能业务变革咨询方法论</a:t>
            </a:r>
            <a:endParaRPr/>
          </a:p>
        </p:txBody>
      </p:sp>
      <p:sp>
        <p:nvSpPr>
          <p:cNvPr id="35" name="" descr="{&quot;isTemplate&quot;:true,&quot;type&quot;:&quot;text&quot;}"/>
          <p:cNvSpPr txBox="1"/>
          <p:nvPr/>
        </p:nvSpPr>
        <p:spPr>
          <a:xfrm rot="0" flipH="0" flipV="0">
            <a:off x="10896600" y="62769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01 / 36</a:t>
            </a:r>
            <a:endParaRPr/>
          </a:p>
        </p:txBody>
      </p:sp>
    </p:spTree>
  </p:cSld>
</p:sld>
</file>

<file path=ppt/slides/slide2.xml><?xml version="1.0" encoding="utf-8"?>
<p:sld xmlns:p="http://schemas.openxmlformats.org/presentationml/2006/main" xmlns:a="http://schemas.openxmlformats.org/drawingml/2006/main">
  <p:cSld>
    <p:spTree>
      <p:nvGrpSpPr>
        <p:cNvPr id="683" name="" descr="&lt;Slide style={{ width: 1280, height: 720, background: '#FFFFFF', padding: '24px 64px 0' }}&gt;&#10;    {/* A 区 */}&#10;    &lt;Box style={{ height: 96, flexDirection: 'column', justifyContent: 'flex-start' }}&gt;&#10;        &lt;Text style={{ fontSize: 32, fontWeight: 'bold', color: '#0F1423' }}&gt;&#10;            目录：&lt;span style={{ color: '#FA4F24' }}&gt;五个部分&lt;/span&gt;，从通用方法论到合同交付物&#10;        &lt;/Text&gt;&#10;        &lt;Text style={{ fontSize: 19, color: '#8A8F99', marginTop: 7 }}&gt;&#10;            前面讲为什么必须改、中间讲怎么改、后面按四个阶段讲每一步做什么、交什么&#10;        &lt;/Text&gt;&#10;    &lt;/Box&gt;&#10;    &lt;Box style={{ height: 1, background: '#E8E8E8' }} /&gt;&#10;&#10;    {/* B 区 */}&#10;    &lt;Box style={{ paddingTop: 10, paddingBottom: 6, height: 479, flexDirection: 'column', gap: 8 }}&gt;&#10;        {[&#10;            { n: '01', t: '项目适配的六处改装', d: '招标逐条应答总表 · 业务域地图 · 九部门矩阵 · 颗粒度阶梯 · 可追溯矩阵', tag: 'P05–12' },&#10;            { n: '02', t: '阶段一：现状分析', d: '业务/数据/应用/技术四套现状框架 · 五问追根 · 现状分析报告结构', tag: 'P13–19' },&#10;            { n: '03', t: '阶段二：变革蓝图设计', d: '业务蓝图到 L4 · 数据蓝图到逻辑实体 · 应用蓝图到功能模块 · AI 场景优先级', tag: 'P20–26' },&#10;            { n: '04', t: '阶段三：需求规格化', d: 'L5-L6 详细设计 · 逻辑实体属性与指标字典 · 需求基线评审冻结', tag: 'P27–31' },&#10;            { n: '05', t: '阶段四：实施路线图与验收', d: '分期与关键路径 · 投入收益测算 · 九项交付物总账 · 风险与前置条件', tag: 'P32–36' },&#10;        ].map((x, i) =&gt; (&#10;            &lt;Box key={x.n} style={{ flex: 1, flexDirection: 'row', alignItems: 'stretch', gap: 10, background: i === 0 ? '#FFF3EE' : '#F7F7F8', borderRadius: 4, borderLeft: '4px solid ' + (i === 0 ? '#FA4F24' : '#E8E8E8') }}&gt;&#10;                &lt;Box style={{ width: 82, alignItems: 'center', justifyContent: 'center' }}&gt;&#10;                    &lt;Text style={{ fontSize: 30, fontWeight: 'bold', color: i === 0 ? '#FA4F24' : '#C8CCD4' }}&gt;{x.n}&lt;/Text&gt;&#10;                &lt;/Box&gt;&#10;                &lt;Box style={{ flex: 1, flexDirection: 'column', justifyContent: 'center' }}&gt;&#10;                    &lt;Text style={{ fontSize: 17, fontWeight: 'bold', color: '#0F1423' }}&gt;{x.t}&lt;/Text&gt;&#10;                    &lt;Text style={{ fontSize: 12.5, color: '#5A6070', marginTop: 4 }}&gt;{x.d}&lt;/Text&gt;&#10;                &lt;/Box&gt;&#10;                &lt;Box style={{ width: 92, alignItems: 'flex-end', justifyContent: 'center' }}&gt;&#10;                    &lt;Text style={{ fontSize: 13, color: '#8A8F99' }}&gt;{x.tag}&lt;/Text&gt;&#10;                &lt;/Box&gt;&#10;            &lt;/Box&gt;&#10;        ))}&#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02 / 36&lt;/Text&gt;&#10;    &lt;/Box&gt;&#10;&lt;/Slide&gt;&#10;"/>
        <p:cNvGrpSpPr/>
        <p:nvPr/>
      </p:nvGrpSpPr>
      <p:grpSpPr>
        <a:xfrm>
          <a:off x="0" y="0"/>
          <a:ext cx="0" cy="0"/>
          <a:chOff x="0" y="0"/>
          <a:chExt cx="0" cy="0"/>
        </a:xfrm>
      </p:grpSpPr>
      <p:sp>
        <p:nvSpPr>
          <p:cNvPr id="684" name=""/>
          <p:cNvSpPr/>
          <p:nvPr/>
        </p:nvSpPr>
        <p:spPr>
          <a:xfrm rot="0" flipH="0" flipV="0">
            <a:off x="0" y="0"/>
            <a:ext cx="12192000" cy="6858000"/>
          </a:xfrm>
          <a:prstGeom prst="rect">
            <a:avLst/>
          </a:prstGeom>
          <a:solidFill>
            <a:srgbClr val="FFFFFF"/>
          </a:solidFill>
          <a:ln/>
        </p:spPr>
        <p:txBody>
          <a:bodyPr/>
          <a:p/>
        </p:txBody>
      </p:sp>
      <p:sp>
        <p:nvSpPr>
          <p:cNvPr id="685"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目录：</a:t>
            </a:r>
            <a:r>
              <a:rPr lang="zh-CN" sz="2400" b="1">
                <a:solidFill>
                  <a:srgbClr val="FA4F24"/>
                </a:solidFill>
                <a:latin typeface="Microsoft YaHei"/>
                <a:ea typeface="Microsoft YaHei"/>
              </a:rPr>
              <a:t>五个部分</a:t>
            </a:r>
            <a:r>
              <a:rPr lang="zh-CN" sz="2400" b="1">
                <a:solidFill>
                  <a:srgbClr val="0F1423"/>
                </a:solidFill>
                <a:latin typeface="Microsoft YaHei"/>
                <a:ea typeface="Microsoft YaHei"/>
              </a:rPr>
              <a:t>，从通用方法论到合同交付物</a:t>
            </a:r>
            <a:endParaRPr/>
          </a:p>
        </p:txBody>
      </p:sp>
      <p:sp>
        <p:nvSpPr>
          <p:cNvPr id="686"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前面讲为什么必须改、中间讲怎么改、后面按四个阶段讲每一步做什么、交什么</a:t>
            </a:r>
            <a:endParaRPr/>
          </a:p>
        </p:txBody>
      </p:sp>
      <p:sp>
        <p:nvSpPr>
          <p:cNvPr id="687" name=""/>
          <p:cNvSpPr/>
          <p:nvPr/>
        </p:nvSpPr>
        <p:spPr>
          <a:xfrm rot="0" flipH="0" flipV="0">
            <a:off x="609600" y="1143000"/>
            <a:ext cx="10972800" cy="9525"/>
          </a:xfrm>
          <a:prstGeom prst="rect">
            <a:avLst/>
          </a:prstGeom>
          <a:solidFill>
            <a:srgbClr val="E8E8E8"/>
          </a:solidFill>
          <a:ln/>
        </p:spPr>
        <p:txBody>
          <a:bodyPr/>
          <a:p/>
        </p:txBody>
      </p:sp>
      <p:sp>
        <p:nvSpPr>
          <p:cNvPr id="688" name=""/>
          <p:cNvSpPr/>
          <p:nvPr/>
        </p:nvSpPr>
        <p:spPr>
          <a:xfrm rot="0" flipH="0" flipV="0">
            <a:off x="647700" y="1247775"/>
            <a:ext cx="10972800" cy="819150"/>
          </a:xfrm>
          <a:prstGeom prst="roundRect">
            <a:avLst>
              <a:gd name="adj" fmla="val 4651"/>
            </a:avLst>
          </a:prstGeom>
          <a:solidFill>
            <a:srgbClr val="FFF3EE"/>
          </a:solidFill>
          <a:ln/>
        </p:spPr>
        <p:txBody>
          <a:bodyPr/>
          <a:p/>
        </p:txBody>
      </p:sp>
      <p:sp>
        <p:nvSpPr>
          <p:cNvPr id="689" name=""/>
          <p:cNvSpPr/>
          <p:nvPr/>
        </p:nvSpPr>
        <p:spPr>
          <a:xfrm rot="0" flipH="0" flipV="0">
            <a:off x="647700" y="1247775"/>
            <a:ext cx="10972800" cy="819150"/>
          </a:xfrm>
          <a:custGeom>
            <a:pathLst>
              <a:path w="1152" h="86">
                <a:moveTo>
                  <a:pt x="4" y="86"/>
                </a:moveTo>
                <a:cubicBezTo>
                  <a:pt x="2" y="86"/>
                  <a:pt x="0" y="84"/>
                  <a:pt x="0" y="82"/>
                </a:cubicBezTo>
                <a:lnTo>
                  <a:pt x="0" y="4"/>
                </a:lnTo>
                <a:cubicBezTo>
                  <a:pt x="0" y="2"/>
                  <a:pt x="2" y="0"/>
                  <a:pt x="4" y="0"/>
                </a:cubicBezTo>
                <a:lnTo>
                  <a:pt x="4" y="86"/>
                </a:lnTo>
                <a:close/>
              </a:path>
            </a:pathLst>
          </a:custGeom>
          <a:solidFill>
            <a:srgbClr val="FA4F24"/>
          </a:solidFill>
          <a:ln/>
        </p:spPr>
        <p:txBody>
          <a:bodyPr/>
          <a:p/>
        </p:txBody>
      </p:sp>
      <p:sp>
        <p:nvSpPr>
          <p:cNvPr id="690" name="" descr="{&quot;isTemplate&quot;:true,&quot;type&quot;:&quot;text&quot;}"/>
          <p:cNvSpPr txBox="1"/>
          <p:nvPr/>
        </p:nvSpPr>
        <p:spPr>
          <a:xfrm rot="0" flipH="0" flipV="0">
            <a:off x="857250" y="1485900"/>
            <a:ext cx="361950" cy="342900"/>
          </a:xfrm>
          <a:prstGeom prst="rect"/>
        </p:spPr>
        <p:txBody>
          <a:bodyPr wrap="none" lIns="0" tIns="0" rIns="0" bIns="0"/>
          <a:p>
            <a:pPr>
              <a:lnSpc>
                <a:spcPct val="100000"/>
              </a:lnSpc>
            </a:pPr>
            <a:r>
              <a:rPr lang="en-US" sz="2250" b="1">
                <a:solidFill>
                  <a:srgbClr val="FA4F24"/>
                </a:solidFill>
                <a:latin typeface="Microsoft YaHei"/>
                <a:ea typeface="Microsoft YaHei"/>
              </a:rPr>
              <a:t>01</a:t>
            </a:r>
            <a:endParaRPr/>
          </a:p>
        </p:txBody>
      </p:sp>
      <p:sp>
        <p:nvSpPr>
          <p:cNvPr id="691" name="" descr="{&quot;isTemplate&quot;:true,&quot;type&quot;:&quot;text&quot;}"/>
          <p:cNvSpPr txBox="1"/>
          <p:nvPr/>
        </p:nvSpPr>
        <p:spPr>
          <a:xfrm rot="0" flipH="0" flipV="0">
            <a:off x="1524000" y="1466850"/>
            <a:ext cx="9086850" cy="200025"/>
          </a:xfrm>
          <a:prstGeom prst="rect"/>
        </p:spPr>
        <p:txBody>
          <a:bodyPr wrap="none" lIns="0" tIns="0" rIns="0" bIns="0"/>
          <a:p>
            <a:pPr>
              <a:lnSpc>
                <a:spcPct val="100000"/>
              </a:lnSpc>
            </a:pPr>
            <a:r>
              <a:rPr lang="zh-CN" sz="1275" b="1">
                <a:solidFill>
                  <a:srgbClr val="0F1423"/>
                </a:solidFill>
                <a:latin typeface="Microsoft YaHei"/>
                <a:ea typeface="Microsoft YaHei"/>
              </a:rPr>
              <a:t>项目适配的六处改装</a:t>
            </a:r>
            <a:endParaRPr/>
          </a:p>
        </p:txBody>
      </p:sp>
      <p:sp>
        <p:nvSpPr>
          <p:cNvPr id="692" name="" descr="{&quot;isTemplate&quot;:true,&quot;type&quot;:&quot;text&quot;}"/>
          <p:cNvSpPr txBox="1"/>
          <p:nvPr/>
        </p:nvSpPr>
        <p:spPr>
          <a:xfrm rot="0" flipH="0" flipV="0">
            <a:off x="1524000" y="1704975"/>
            <a:ext cx="9086850" cy="142875"/>
          </a:xfrm>
          <a:prstGeom prst="rect"/>
        </p:spPr>
        <p:txBody>
          <a:bodyPr wrap="none" lIns="0" tIns="0" rIns="0" bIns="0"/>
          <a:p>
            <a:pPr>
              <a:lnSpc>
                <a:spcPct val="100000"/>
              </a:lnSpc>
            </a:pPr>
            <a:r>
              <a:rPr lang="zh-CN" sz="938">
                <a:solidFill>
                  <a:srgbClr val="5A6070"/>
                </a:solidFill>
                <a:latin typeface="Microsoft YaHei"/>
                <a:ea typeface="Microsoft YaHei"/>
              </a:rPr>
              <a:t>招标逐条应答总表</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业务域地图</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九部门矩阵</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颗粒度阶梯</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可追溯矩阵</a:t>
            </a:r>
            <a:endParaRPr/>
          </a:p>
        </p:txBody>
      </p:sp>
      <p:sp>
        <p:nvSpPr>
          <p:cNvPr id="693" name="" descr="{&quot;isTemplate&quot;:true,&quot;type&quot;:&quot;text&quot;}"/>
          <p:cNvSpPr txBox="1"/>
          <p:nvPr/>
        </p:nvSpPr>
        <p:spPr>
          <a:xfrm rot="0" flipH="0" flipV="0">
            <a:off x="11144250" y="1581150"/>
            <a:ext cx="438150" cy="152400"/>
          </a:xfrm>
          <a:prstGeom prst="rect"/>
        </p:spPr>
        <p:txBody>
          <a:bodyPr wrap="none" lIns="0" tIns="0" rIns="0" bIns="0"/>
          <a:p>
            <a:pPr>
              <a:lnSpc>
                <a:spcPct val="100000"/>
              </a:lnSpc>
            </a:pPr>
            <a:r>
              <a:rPr lang="en-US" sz="975">
                <a:solidFill>
                  <a:srgbClr val="8A8F99"/>
                </a:solidFill>
                <a:latin typeface="Microsoft YaHei"/>
                <a:ea typeface="Microsoft YaHei"/>
              </a:rPr>
              <a:t>P05–12</a:t>
            </a:r>
            <a:endParaRPr/>
          </a:p>
        </p:txBody>
      </p:sp>
      <p:sp>
        <p:nvSpPr>
          <p:cNvPr id="694" name=""/>
          <p:cNvSpPr/>
          <p:nvPr/>
        </p:nvSpPr>
        <p:spPr>
          <a:xfrm rot="0" flipH="0" flipV="0">
            <a:off x="647700" y="2143125"/>
            <a:ext cx="10972800" cy="819150"/>
          </a:xfrm>
          <a:prstGeom prst="roundRect">
            <a:avLst>
              <a:gd name="adj" fmla="val 4651"/>
            </a:avLst>
          </a:prstGeom>
          <a:solidFill>
            <a:srgbClr val="F7F7F8"/>
          </a:solidFill>
          <a:ln/>
        </p:spPr>
        <p:txBody>
          <a:bodyPr/>
          <a:p/>
        </p:txBody>
      </p:sp>
      <p:sp>
        <p:nvSpPr>
          <p:cNvPr id="695" name=""/>
          <p:cNvSpPr/>
          <p:nvPr/>
        </p:nvSpPr>
        <p:spPr>
          <a:xfrm rot="0" flipH="0" flipV="0">
            <a:off x="647700" y="2143125"/>
            <a:ext cx="10972800" cy="819150"/>
          </a:xfrm>
          <a:custGeom>
            <a:pathLst>
              <a:path w="1152" h="86">
                <a:moveTo>
                  <a:pt x="4" y="86"/>
                </a:moveTo>
                <a:cubicBezTo>
                  <a:pt x="2" y="86"/>
                  <a:pt x="0" y="84"/>
                  <a:pt x="0" y="82"/>
                </a:cubicBezTo>
                <a:lnTo>
                  <a:pt x="0" y="4"/>
                </a:lnTo>
                <a:cubicBezTo>
                  <a:pt x="0" y="2"/>
                  <a:pt x="2" y="0"/>
                  <a:pt x="4" y="0"/>
                </a:cubicBezTo>
                <a:lnTo>
                  <a:pt x="4" y="86"/>
                </a:lnTo>
                <a:close/>
              </a:path>
            </a:pathLst>
          </a:custGeom>
          <a:solidFill>
            <a:srgbClr val="E8E8E8"/>
          </a:solidFill>
          <a:ln/>
        </p:spPr>
        <p:txBody>
          <a:bodyPr/>
          <a:p/>
        </p:txBody>
      </p:sp>
      <p:sp>
        <p:nvSpPr>
          <p:cNvPr id="696" name="" descr="{&quot;isTemplate&quot;:true,&quot;type&quot;:&quot;text&quot;}"/>
          <p:cNvSpPr txBox="1"/>
          <p:nvPr/>
        </p:nvSpPr>
        <p:spPr>
          <a:xfrm rot="0" flipH="0" flipV="0">
            <a:off x="857250" y="2381250"/>
            <a:ext cx="361950" cy="342900"/>
          </a:xfrm>
          <a:prstGeom prst="rect"/>
        </p:spPr>
        <p:txBody>
          <a:bodyPr wrap="none" lIns="0" tIns="0" rIns="0" bIns="0"/>
          <a:p>
            <a:pPr>
              <a:lnSpc>
                <a:spcPct val="100000"/>
              </a:lnSpc>
            </a:pPr>
            <a:r>
              <a:rPr lang="en-US" sz="2250" b="1">
                <a:solidFill>
                  <a:srgbClr val="C8CCD4"/>
                </a:solidFill>
                <a:latin typeface="Microsoft YaHei"/>
                <a:ea typeface="Microsoft YaHei"/>
              </a:rPr>
              <a:t>02</a:t>
            </a:r>
            <a:endParaRPr/>
          </a:p>
        </p:txBody>
      </p:sp>
      <p:sp>
        <p:nvSpPr>
          <p:cNvPr id="697" name="" descr="{&quot;isTemplate&quot;:true,&quot;type&quot;:&quot;text&quot;}"/>
          <p:cNvSpPr txBox="1"/>
          <p:nvPr/>
        </p:nvSpPr>
        <p:spPr>
          <a:xfrm rot="0" flipH="0" flipV="0">
            <a:off x="1524000" y="2362200"/>
            <a:ext cx="9086850" cy="200025"/>
          </a:xfrm>
          <a:prstGeom prst="rect"/>
        </p:spPr>
        <p:txBody>
          <a:bodyPr wrap="none" lIns="0" tIns="0" rIns="0" bIns="0"/>
          <a:p>
            <a:pPr>
              <a:lnSpc>
                <a:spcPct val="100000"/>
              </a:lnSpc>
            </a:pPr>
            <a:r>
              <a:rPr lang="zh-CN" sz="1275" b="1">
                <a:solidFill>
                  <a:srgbClr val="0F1423"/>
                </a:solidFill>
                <a:latin typeface="Microsoft YaHei"/>
                <a:ea typeface="Microsoft YaHei"/>
              </a:rPr>
              <a:t>阶段一：现状分析</a:t>
            </a:r>
            <a:endParaRPr/>
          </a:p>
        </p:txBody>
      </p:sp>
      <p:sp>
        <p:nvSpPr>
          <p:cNvPr id="698" name="" descr="{&quot;isTemplate&quot;:true,&quot;type&quot;:&quot;text&quot;}"/>
          <p:cNvSpPr txBox="1"/>
          <p:nvPr/>
        </p:nvSpPr>
        <p:spPr>
          <a:xfrm rot="0" flipH="0" flipV="0">
            <a:off x="1524000" y="2600325"/>
            <a:ext cx="9086850" cy="142875"/>
          </a:xfrm>
          <a:prstGeom prst="rect"/>
        </p:spPr>
        <p:txBody>
          <a:bodyPr wrap="none" lIns="0" tIns="0" rIns="0" bIns="0"/>
          <a:p>
            <a:pPr>
              <a:lnSpc>
                <a:spcPct val="100000"/>
              </a:lnSpc>
            </a:pPr>
            <a:r>
              <a:rPr lang="zh-CN" sz="938">
                <a:solidFill>
                  <a:srgbClr val="5A6070"/>
                </a:solidFill>
                <a:latin typeface="Microsoft YaHei"/>
                <a:ea typeface="Microsoft YaHei"/>
              </a:rPr>
              <a:t>业务</a:t>
            </a:r>
            <a:r>
              <a:rPr lang="en-US" sz="938">
                <a:solidFill>
                  <a:srgbClr val="5A6070"/>
                </a:solidFill>
                <a:latin typeface="Microsoft YaHei"/>
                <a:ea typeface="Microsoft YaHei"/>
              </a:rPr>
              <a:t>/</a:t>
            </a:r>
            <a:r>
              <a:rPr lang="zh-CN" sz="938">
                <a:solidFill>
                  <a:srgbClr val="5A6070"/>
                </a:solidFill>
                <a:latin typeface="Microsoft YaHei"/>
                <a:ea typeface="Microsoft YaHei"/>
              </a:rPr>
              <a:t>数据</a:t>
            </a:r>
            <a:r>
              <a:rPr lang="en-US" sz="938">
                <a:solidFill>
                  <a:srgbClr val="5A6070"/>
                </a:solidFill>
                <a:latin typeface="Microsoft YaHei"/>
                <a:ea typeface="Microsoft YaHei"/>
              </a:rPr>
              <a:t>/</a:t>
            </a:r>
            <a:r>
              <a:rPr lang="zh-CN" sz="938">
                <a:solidFill>
                  <a:srgbClr val="5A6070"/>
                </a:solidFill>
                <a:latin typeface="Microsoft YaHei"/>
                <a:ea typeface="Microsoft YaHei"/>
              </a:rPr>
              <a:t>应用</a:t>
            </a:r>
            <a:r>
              <a:rPr lang="en-US" sz="938">
                <a:solidFill>
                  <a:srgbClr val="5A6070"/>
                </a:solidFill>
                <a:latin typeface="Microsoft YaHei"/>
                <a:ea typeface="Microsoft YaHei"/>
              </a:rPr>
              <a:t>/</a:t>
            </a:r>
            <a:r>
              <a:rPr lang="zh-CN" sz="938">
                <a:solidFill>
                  <a:srgbClr val="5A6070"/>
                </a:solidFill>
                <a:latin typeface="Microsoft YaHei"/>
                <a:ea typeface="Microsoft YaHei"/>
              </a:rPr>
              <a:t>技术四套现状框架</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五问追根</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现状分析报告结构</a:t>
            </a:r>
            <a:endParaRPr/>
          </a:p>
        </p:txBody>
      </p:sp>
      <p:sp>
        <p:nvSpPr>
          <p:cNvPr id="699" name="" descr="{&quot;isTemplate&quot;:true,&quot;type&quot;:&quot;text&quot;}"/>
          <p:cNvSpPr txBox="1"/>
          <p:nvPr/>
        </p:nvSpPr>
        <p:spPr>
          <a:xfrm rot="0" flipH="0" flipV="0">
            <a:off x="11144250" y="2476500"/>
            <a:ext cx="438150" cy="152400"/>
          </a:xfrm>
          <a:prstGeom prst="rect"/>
        </p:spPr>
        <p:txBody>
          <a:bodyPr wrap="none" lIns="0" tIns="0" rIns="0" bIns="0"/>
          <a:p>
            <a:pPr>
              <a:lnSpc>
                <a:spcPct val="100000"/>
              </a:lnSpc>
            </a:pPr>
            <a:r>
              <a:rPr lang="en-US" sz="975">
                <a:solidFill>
                  <a:srgbClr val="8A8F99"/>
                </a:solidFill>
                <a:latin typeface="Microsoft YaHei"/>
                <a:ea typeface="Microsoft YaHei"/>
              </a:rPr>
              <a:t>P13–19</a:t>
            </a:r>
            <a:endParaRPr/>
          </a:p>
        </p:txBody>
      </p:sp>
      <p:sp>
        <p:nvSpPr>
          <p:cNvPr id="700" name=""/>
          <p:cNvSpPr/>
          <p:nvPr/>
        </p:nvSpPr>
        <p:spPr>
          <a:xfrm rot="0" flipH="0" flipV="0">
            <a:off x="647700" y="3038475"/>
            <a:ext cx="10972800" cy="828675"/>
          </a:xfrm>
          <a:prstGeom prst="roundRect">
            <a:avLst>
              <a:gd name="adj" fmla="val 4598"/>
            </a:avLst>
          </a:prstGeom>
          <a:solidFill>
            <a:srgbClr val="F7F7F8"/>
          </a:solidFill>
          <a:ln/>
        </p:spPr>
        <p:txBody>
          <a:bodyPr/>
          <a:p/>
        </p:txBody>
      </p:sp>
      <p:sp>
        <p:nvSpPr>
          <p:cNvPr id="701" name=""/>
          <p:cNvSpPr/>
          <p:nvPr/>
        </p:nvSpPr>
        <p:spPr>
          <a:xfrm rot="0" flipH="0" flipV="0">
            <a:off x="647700" y="3038475"/>
            <a:ext cx="10972800" cy="828675"/>
          </a:xfrm>
          <a:custGeom>
            <a:pathLst>
              <a:path w="1152" h="87">
                <a:moveTo>
                  <a:pt x="4" y="87"/>
                </a:moveTo>
                <a:cubicBezTo>
                  <a:pt x="2" y="87"/>
                  <a:pt x="0" y="85"/>
                  <a:pt x="0" y="83"/>
                </a:cubicBezTo>
                <a:lnTo>
                  <a:pt x="0" y="4"/>
                </a:lnTo>
                <a:cubicBezTo>
                  <a:pt x="0" y="2"/>
                  <a:pt x="2" y="0"/>
                  <a:pt x="4" y="0"/>
                </a:cubicBezTo>
                <a:lnTo>
                  <a:pt x="4" y="87"/>
                </a:lnTo>
                <a:close/>
              </a:path>
            </a:pathLst>
          </a:custGeom>
          <a:solidFill>
            <a:srgbClr val="E8E8E8"/>
          </a:solidFill>
          <a:ln/>
        </p:spPr>
        <p:txBody>
          <a:bodyPr/>
          <a:p/>
        </p:txBody>
      </p:sp>
      <p:sp>
        <p:nvSpPr>
          <p:cNvPr id="702" name="" descr="{&quot;isTemplate&quot;:true,&quot;type&quot;:&quot;text&quot;}"/>
          <p:cNvSpPr txBox="1"/>
          <p:nvPr/>
        </p:nvSpPr>
        <p:spPr>
          <a:xfrm rot="0" flipH="0" flipV="0">
            <a:off x="857250" y="3286125"/>
            <a:ext cx="361950" cy="342900"/>
          </a:xfrm>
          <a:prstGeom prst="rect"/>
        </p:spPr>
        <p:txBody>
          <a:bodyPr wrap="none" lIns="0" tIns="0" rIns="0" bIns="0"/>
          <a:p>
            <a:pPr>
              <a:lnSpc>
                <a:spcPct val="100000"/>
              </a:lnSpc>
            </a:pPr>
            <a:r>
              <a:rPr lang="en-US" sz="2250" b="1">
                <a:solidFill>
                  <a:srgbClr val="C8CCD4"/>
                </a:solidFill>
                <a:latin typeface="Microsoft YaHei"/>
                <a:ea typeface="Microsoft YaHei"/>
              </a:rPr>
              <a:t>03</a:t>
            </a:r>
            <a:endParaRPr/>
          </a:p>
        </p:txBody>
      </p:sp>
      <p:sp>
        <p:nvSpPr>
          <p:cNvPr id="703" name="" descr="{&quot;isTemplate&quot;:true,&quot;type&quot;:&quot;text&quot;}"/>
          <p:cNvSpPr txBox="1"/>
          <p:nvPr/>
        </p:nvSpPr>
        <p:spPr>
          <a:xfrm rot="0" flipH="0" flipV="0">
            <a:off x="1524000" y="3267075"/>
            <a:ext cx="9086850" cy="200025"/>
          </a:xfrm>
          <a:prstGeom prst="rect"/>
        </p:spPr>
        <p:txBody>
          <a:bodyPr wrap="none" lIns="0" tIns="0" rIns="0" bIns="0"/>
          <a:p>
            <a:pPr>
              <a:lnSpc>
                <a:spcPct val="100000"/>
              </a:lnSpc>
            </a:pPr>
            <a:r>
              <a:rPr lang="zh-CN" sz="1275" b="1">
                <a:solidFill>
                  <a:srgbClr val="0F1423"/>
                </a:solidFill>
                <a:latin typeface="Microsoft YaHei"/>
                <a:ea typeface="Microsoft YaHei"/>
              </a:rPr>
              <a:t>阶段二：变革蓝图设计</a:t>
            </a:r>
            <a:endParaRPr/>
          </a:p>
        </p:txBody>
      </p:sp>
      <p:sp>
        <p:nvSpPr>
          <p:cNvPr id="704" name="" descr="{&quot;isTemplate&quot;:true,&quot;type&quot;:&quot;text&quot;}"/>
          <p:cNvSpPr txBox="1"/>
          <p:nvPr/>
        </p:nvSpPr>
        <p:spPr>
          <a:xfrm rot="0" flipH="0" flipV="0">
            <a:off x="1524000" y="3505200"/>
            <a:ext cx="9086850" cy="142875"/>
          </a:xfrm>
          <a:prstGeom prst="rect"/>
        </p:spPr>
        <p:txBody>
          <a:bodyPr wrap="none" lIns="0" tIns="0" rIns="0" bIns="0"/>
          <a:p>
            <a:pPr>
              <a:lnSpc>
                <a:spcPct val="100000"/>
              </a:lnSpc>
            </a:pPr>
            <a:r>
              <a:rPr lang="zh-CN" sz="938">
                <a:solidFill>
                  <a:srgbClr val="5A6070"/>
                </a:solidFill>
                <a:latin typeface="Microsoft YaHei"/>
                <a:ea typeface="Microsoft YaHei"/>
              </a:rPr>
              <a:t>业务蓝图到</a:t>
            </a:r>
            <a:r>
              <a:rPr lang="en-US" sz="938">
                <a:solidFill>
                  <a:srgbClr val="5A6070"/>
                </a:solidFill>
                <a:latin typeface="Microsoft YaHei"/>
                <a:ea typeface="Microsoft YaHei"/>
              </a:rPr>
              <a:t xml:space="preserve"> L4 · </a:t>
            </a:r>
            <a:r>
              <a:rPr lang="zh-CN" sz="938">
                <a:solidFill>
                  <a:srgbClr val="5A6070"/>
                </a:solidFill>
                <a:latin typeface="Microsoft YaHei"/>
                <a:ea typeface="Microsoft YaHei"/>
              </a:rPr>
              <a:t>数据蓝图到逻辑实体</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应用蓝图到功能模块</a:t>
            </a:r>
            <a:r>
              <a:rPr lang="en-US" sz="938">
                <a:solidFill>
                  <a:srgbClr val="5A6070"/>
                </a:solidFill>
                <a:latin typeface="Microsoft YaHei"/>
                <a:ea typeface="Microsoft YaHei"/>
              </a:rPr>
              <a:t xml:space="preserve"> · AI </a:t>
            </a:r>
            <a:r>
              <a:rPr lang="zh-CN" sz="938">
                <a:solidFill>
                  <a:srgbClr val="5A6070"/>
                </a:solidFill>
                <a:latin typeface="Microsoft YaHei"/>
                <a:ea typeface="Microsoft YaHei"/>
              </a:rPr>
              <a:t>场景优先级</a:t>
            </a:r>
            <a:endParaRPr/>
          </a:p>
        </p:txBody>
      </p:sp>
      <p:sp>
        <p:nvSpPr>
          <p:cNvPr id="705" name="" descr="{&quot;isTemplate&quot;:true,&quot;type&quot;:&quot;text&quot;}"/>
          <p:cNvSpPr txBox="1"/>
          <p:nvPr/>
        </p:nvSpPr>
        <p:spPr>
          <a:xfrm rot="0" flipH="0" flipV="0">
            <a:off x="11144250" y="3381375"/>
            <a:ext cx="438150" cy="152400"/>
          </a:xfrm>
          <a:prstGeom prst="rect"/>
        </p:spPr>
        <p:txBody>
          <a:bodyPr wrap="none" lIns="0" tIns="0" rIns="0" bIns="0"/>
          <a:p>
            <a:pPr>
              <a:lnSpc>
                <a:spcPct val="100000"/>
              </a:lnSpc>
            </a:pPr>
            <a:r>
              <a:rPr lang="en-US" sz="975">
                <a:solidFill>
                  <a:srgbClr val="8A8F99"/>
                </a:solidFill>
                <a:latin typeface="Microsoft YaHei"/>
                <a:ea typeface="Microsoft YaHei"/>
              </a:rPr>
              <a:t>P20–26</a:t>
            </a:r>
            <a:endParaRPr/>
          </a:p>
        </p:txBody>
      </p:sp>
      <p:sp>
        <p:nvSpPr>
          <p:cNvPr id="706" name=""/>
          <p:cNvSpPr/>
          <p:nvPr/>
        </p:nvSpPr>
        <p:spPr>
          <a:xfrm rot="0" flipH="0" flipV="0">
            <a:off x="647700" y="3943350"/>
            <a:ext cx="10972800" cy="819150"/>
          </a:xfrm>
          <a:prstGeom prst="roundRect">
            <a:avLst>
              <a:gd name="adj" fmla="val 4651"/>
            </a:avLst>
          </a:prstGeom>
          <a:solidFill>
            <a:srgbClr val="F7F7F8"/>
          </a:solidFill>
          <a:ln/>
        </p:spPr>
        <p:txBody>
          <a:bodyPr/>
          <a:p/>
        </p:txBody>
      </p:sp>
      <p:sp>
        <p:nvSpPr>
          <p:cNvPr id="707" name=""/>
          <p:cNvSpPr/>
          <p:nvPr/>
        </p:nvSpPr>
        <p:spPr>
          <a:xfrm rot="0" flipH="0" flipV="0">
            <a:off x="647700" y="3943350"/>
            <a:ext cx="10972800" cy="819150"/>
          </a:xfrm>
          <a:custGeom>
            <a:pathLst>
              <a:path w="1152" h="86">
                <a:moveTo>
                  <a:pt x="4" y="86"/>
                </a:moveTo>
                <a:cubicBezTo>
                  <a:pt x="2" y="86"/>
                  <a:pt x="0" y="84"/>
                  <a:pt x="0" y="82"/>
                </a:cubicBezTo>
                <a:lnTo>
                  <a:pt x="0" y="4"/>
                </a:lnTo>
                <a:cubicBezTo>
                  <a:pt x="0" y="2"/>
                  <a:pt x="2" y="0"/>
                  <a:pt x="4" y="0"/>
                </a:cubicBezTo>
                <a:lnTo>
                  <a:pt x="4" y="86"/>
                </a:lnTo>
                <a:close/>
              </a:path>
            </a:pathLst>
          </a:custGeom>
          <a:solidFill>
            <a:srgbClr val="E8E8E8"/>
          </a:solidFill>
          <a:ln/>
        </p:spPr>
        <p:txBody>
          <a:bodyPr/>
          <a:p/>
        </p:txBody>
      </p:sp>
      <p:sp>
        <p:nvSpPr>
          <p:cNvPr id="708" name="" descr="{&quot;isTemplate&quot;:true,&quot;type&quot;:&quot;text&quot;}"/>
          <p:cNvSpPr txBox="1"/>
          <p:nvPr/>
        </p:nvSpPr>
        <p:spPr>
          <a:xfrm rot="0" flipH="0" flipV="0">
            <a:off x="857250" y="4181475"/>
            <a:ext cx="361950" cy="342900"/>
          </a:xfrm>
          <a:prstGeom prst="rect"/>
        </p:spPr>
        <p:txBody>
          <a:bodyPr wrap="none" lIns="0" tIns="0" rIns="0" bIns="0"/>
          <a:p>
            <a:pPr>
              <a:lnSpc>
                <a:spcPct val="100000"/>
              </a:lnSpc>
            </a:pPr>
            <a:r>
              <a:rPr lang="en-US" sz="2250" b="1">
                <a:solidFill>
                  <a:srgbClr val="C8CCD4"/>
                </a:solidFill>
                <a:latin typeface="Microsoft YaHei"/>
                <a:ea typeface="Microsoft YaHei"/>
              </a:rPr>
              <a:t>04</a:t>
            </a:r>
            <a:endParaRPr/>
          </a:p>
        </p:txBody>
      </p:sp>
      <p:sp>
        <p:nvSpPr>
          <p:cNvPr id="709" name="" descr="{&quot;isTemplate&quot;:true,&quot;type&quot;:&quot;text&quot;}"/>
          <p:cNvSpPr txBox="1"/>
          <p:nvPr/>
        </p:nvSpPr>
        <p:spPr>
          <a:xfrm rot="0" flipH="0" flipV="0">
            <a:off x="1524000" y="4162425"/>
            <a:ext cx="9086850" cy="200025"/>
          </a:xfrm>
          <a:prstGeom prst="rect"/>
        </p:spPr>
        <p:txBody>
          <a:bodyPr wrap="none" lIns="0" tIns="0" rIns="0" bIns="0"/>
          <a:p>
            <a:pPr>
              <a:lnSpc>
                <a:spcPct val="100000"/>
              </a:lnSpc>
            </a:pPr>
            <a:r>
              <a:rPr lang="zh-CN" sz="1275" b="1">
                <a:solidFill>
                  <a:srgbClr val="0F1423"/>
                </a:solidFill>
                <a:latin typeface="Microsoft YaHei"/>
                <a:ea typeface="Microsoft YaHei"/>
              </a:rPr>
              <a:t>阶段三：需求规格化</a:t>
            </a:r>
            <a:endParaRPr/>
          </a:p>
        </p:txBody>
      </p:sp>
      <p:sp>
        <p:nvSpPr>
          <p:cNvPr id="710" name="" descr="{&quot;isTemplate&quot;:true,&quot;type&quot;:&quot;text&quot;}"/>
          <p:cNvSpPr txBox="1"/>
          <p:nvPr/>
        </p:nvSpPr>
        <p:spPr>
          <a:xfrm rot="0" flipH="0" flipV="0">
            <a:off x="1524000" y="4400550"/>
            <a:ext cx="9086850" cy="142875"/>
          </a:xfrm>
          <a:prstGeom prst="rect"/>
        </p:spPr>
        <p:txBody>
          <a:bodyPr wrap="none" lIns="0" tIns="0" rIns="0" bIns="0"/>
          <a:p>
            <a:pPr>
              <a:lnSpc>
                <a:spcPct val="100000"/>
              </a:lnSpc>
            </a:pPr>
            <a:r>
              <a:rPr lang="en-US" sz="938">
                <a:solidFill>
                  <a:srgbClr val="5A6070"/>
                </a:solidFill>
                <a:latin typeface="Microsoft YaHei"/>
                <a:ea typeface="Microsoft YaHei"/>
              </a:rPr>
              <a:t xml:space="preserve">L5-L6 </a:t>
            </a:r>
            <a:r>
              <a:rPr lang="zh-CN" sz="938">
                <a:solidFill>
                  <a:srgbClr val="5A6070"/>
                </a:solidFill>
                <a:latin typeface="Microsoft YaHei"/>
                <a:ea typeface="Microsoft YaHei"/>
              </a:rPr>
              <a:t>详细设计</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逻辑实体属性与指标字典</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需求基线评审冻结</a:t>
            </a:r>
            <a:endParaRPr/>
          </a:p>
        </p:txBody>
      </p:sp>
      <p:sp>
        <p:nvSpPr>
          <p:cNvPr id="711" name="" descr="{&quot;isTemplate&quot;:true,&quot;type&quot;:&quot;text&quot;}"/>
          <p:cNvSpPr txBox="1"/>
          <p:nvPr/>
        </p:nvSpPr>
        <p:spPr>
          <a:xfrm rot="0" flipH="0" flipV="0">
            <a:off x="11144250" y="4276725"/>
            <a:ext cx="438150" cy="152400"/>
          </a:xfrm>
          <a:prstGeom prst="rect"/>
        </p:spPr>
        <p:txBody>
          <a:bodyPr wrap="none" lIns="0" tIns="0" rIns="0" bIns="0"/>
          <a:p>
            <a:pPr>
              <a:lnSpc>
                <a:spcPct val="100000"/>
              </a:lnSpc>
            </a:pPr>
            <a:r>
              <a:rPr lang="en-US" sz="975">
                <a:solidFill>
                  <a:srgbClr val="8A8F99"/>
                </a:solidFill>
                <a:latin typeface="Microsoft YaHei"/>
                <a:ea typeface="Microsoft YaHei"/>
              </a:rPr>
              <a:t>P27–31</a:t>
            </a:r>
            <a:endParaRPr/>
          </a:p>
        </p:txBody>
      </p:sp>
      <p:sp>
        <p:nvSpPr>
          <p:cNvPr id="712" name=""/>
          <p:cNvSpPr/>
          <p:nvPr/>
        </p:nvSpPr>
        <p:spPr>
          <a:xfrm rot="0" flipH="0" flipV="0">
            <a:off x="647700" y="4838700"/>
            <a:ext cx="10972800" cy="819150"/>
          </a:xfrm>
          <a:prstGeom prst="roundRect">
            <a:avLst>
              <a:gd name="adj" fmla="val 4651"/>
            </a:avLst>
          </a:prstGeom>
          <a:solidFill>
            <a:srgbClr val="F7F7F8"/>
          </a:solidFill>
          <a:ln/>
        </p:spPr>
        <p:txBody>
          <a:bodyPr/>
          <a:p/>
        </p:txBody>
      </p:sp>
      <p:sp>
        <p:nvSpPr>
          <p:cNvPr id="713" name=""/>
          <p:cNvSpPr/>
          <p:nvPr/>
        </p:nvSpPr>
        <p:spPr>
          <a:xfrm rot="0" flipH="0" flipV="0">
            <a:off x="647700" y="4838700"/>
            <a:ext cx="10972800" cy="819150"/>
          </a:xfrm>
          <a:custGeom>
            <a:pathLst>
              <a:path w="1152" h="86">
                <a:moveTo>
                  <a:pt x="4" y="86"/>
                </a:moveTo>
                <a:cubicBezTo>
                  <a:pt x="2" y="86"/>
                  <a:pt x="0" y="84"/>
                  <a:pt x="0" y="82"/>
                </a:cubicBezTo>
                <a:lnTo>
                  <a:pt x="0" y="4"/>
                </a:lnTo>
                <a:cubicBezTo>
                  <a:pt x="0" y="2"/>
                  <a:pt x="2" y="0"/>
                  <a:pt x="4" y="0"/>
                </a:cubicBezTo>
                <a:lnTo>
                  <a:pt x="4" y="86"/>
                </a:lnTo>
                <a:close/>
              </a:path>
            </a:pathLst>
          </a:custGeom>
          <a:solidFill>
            <a:srgbClr val="E8E8E8"/>
          </a:solidFill>
          <a:ln/>
        </p:spPr>
        <p:txBody>
          <a:bodyPr/>
          <a:p/>
        </p:txBody>
      </p:sp>
      <p:sp>
        <p:nvSpPr>
          <p:cNvPr id="714" name="" descr="{&quot;isTemplate&quot;:true,&quot;type&quot;:&quot;text&quot;}"/>
          <p:cNvSpPr txBox="1"/>
          <p:nvPr/>
        </p:nvSpPr>
        <p:spPr>
          <a:xfrm rot="0" flipH="0" flipV="0">
            <a:off x="857250" y="5076825"/>
            <a:ext cx="361950" cy="342900"/>
          </a:xfrm>
          <a:prstGeom prst="rect"/>
        </p:spPr>
        <p:txBody>
          <a:bodyPr wrap="none" lIns="0" tIns="0" rIns="0" bIns="0"/>
          <a:p>
            <a:pPr>
              <a:lnSpc>
                <a:spcPct val="100000"/>
              </a:lnSpc>
            </a:pPr>
            <a:r>
              <a:rPr lang="en-US" sz="2250" b="1">
                <a:solidFill>
                  <a:srgbClr val="C8CCD4"/>
                </a:solidFill>
                <a:latin typeface="Microsoft YaHei"/>
                <a:ea typeface="Microsoft YaHei"/>
              </a:rPr>
              <a:t>05</a:t>
            </a:r>
            <a:endParaRPr/>
          </a:p>
        </p:txBody>
      </p:sp>
      <p:sp>
        <p:nvSpPr>
          <p:cNvPr id="715" name="" descr="{&quot;isTemplate&quot;:true,&quot;type&quot;:&quot;text&quot;}"/>
          <p:cNvSpPr txBox="1"/>
          <p:nvPr/>
        </p:nvSpPr>
        <p:spPr>
          <a:xfrm rot="0" flipH="0" flipV="0">
            <a:off x="1524000" y="5057775"/>
            <a:ext cx="9086850" cy="200025"/>
          </a:xfrm>
          <a:prstGeom prst="rect"/>
        </p:spPr>
        <p:txBody>
          <a:bodyPr wrap="none" lIns="0" tIns="0" rIns="0" bIns="0"/>
          <a:p>
            <a:pPr>
              <a:lnSpc>
                <a:spcPct val="100000"/>
              </a:lnSpc>
            </a:pPr>
            <a:r>
              <a:rPr lang="zh-CN" sz="1275" b="1">
                <a:solidFill>
                  <a:srgbClr val="0F1423"/>
                </a:solidFill>
                <a:latin typeface="Microsoft YaHei"/>
                <a:ea typeface="Microsoft YaHei"/>
              </a:rPr>
              <a:t>阶段四：实施路线图与验收</a:t>
            </a:r>
            <a:endParaRPr/>
          </a:p>
        </p:txBody>
      </p:sp>
      <p:sp>
        <p:nvSpPr>
          <p:cNvPr id="716" name="" descr="{&quot;isTemplate&quot;:true,&quot;type&quot;:&quot;text&quot;}"/>
          <p:cNvSpPr txBox="1"/>
          <p:nvPr/>
        </p:nvSpPr>
        <p:spPr>
          <a:xfrm rot="0" flipH="0" flipV="0">
            <a:off x="1524000" y="5295900"/>
            <a:ext cx="9086850" cy="142875"/>
          </a:xfrm>
          <a:prstGeom prst="rect"/>
        </p:spPr>
        <p:txBody>
          <a:bodyPr wrap="none" lIns="0" tIns="0" rIns="0" bIns="0"/>
          <a:p>
            <a:pPr>
              <a:lnSpc>
                <a:spcPct val="100000"/>
              </a:lnSpc>
            </a:pPr>
            <a:r>
              <a:rPr lang="zh-CN" sz="938">
                <a:solidFill>
                  <a:srgbClr val="5A6070"/>
                </a:solidFill>
                <a:latin typeface="Microsoft YaHei"/>
                <a:ea typeface="Microsoft YaHei"/>
              </a:rPr>
              <a:t>分期与关键路径</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投入收益测算</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九项交付物总账</a:t>
            </a:r>
            <a:r>
              <a:rPr lang="en-US" sz="938">
                <a:solidFill>
                  <a:srgbClr val="5A6070"/>
                </a:solidFill>
                <a:latin typeface="Microsoft YaHei"/>
                <a:ea typeface="Microsoft YaHei"/>
              </a:rPr>
              <a:t xml:space="preserve"> · </a:t>
            </a:r>
            <a:r>
              <a:rPr lang="zh-CN" sz="938">
                <a:solidFill>
                  <a:srgbClr val="5A6070"/>
                </a:solidFill>
                <a:latin typeface="Microsoft YaHei"/>
                <a:ea typeface="Microsoft YaHei"/>
              </a:rPr>
              <a:t>风险与前置条件</a:t>
            </a:r>
            <a:endParaRPr/>
          </a:p>
        </p:txBody>
      </p:sp>
      <p:sp>
        <p:nvSpPr>
          <p:cNvPr id="717" name="" descr="{&quot;isTemplate&quot;:true,&quot;type&quot;:&quot;text&quot;}"/>
          <p:cNvSpPr txBox="1"/>
          <p:nvPr/>
        </p:nvSpPr>
        <p:spPr>
          <a:xfrm rot="0" flipH="0" flipV="0">
            <a:off x="11144250" y="5172075"/>
            <a:ext cx="438150" cy="152400"/>
          </a:xfrm>
          <a:prstGeom prst="rect"/>
        </p:spPr>
        <p:txBody>
          <a:bodyPr wrap="none" lIns="0" tIns="0" rIns="0" bIns="0"/>
          <a:p>
            <a:pPr>
              <a:lnSpc>
                <a:spcPct val="100000"/>
              </a:lnSpc>
            </a:pPr>
            <a:r>
              <a:rPr lang="en-US" sz="975">
                <a:solidFill>
                  <a:srgbClr val="8A8F99"/>
                </a:solidFill>
                <a:latin typeface="Microsoft YaHei"/>
                <a:ea typeface="Microsoft YaHei"/>
              </a:rPr>
              <a:t>P32–36</a:t>
            </a:r>
            <a:endParaRPr/>
          </a:p>
        </p:txBody>
      </p:sp>
      <p:sp>
        <p:nvSpPr>
          <p:cNvPr id="718" name=""/>
          <p:cNvSpPr/>
          <p:nvPr/>
        </p:nvSpPr>
        <p:spPr>
          <a:xfrm rot="0" flipH="0" flipV="0">
            <a:off x="609600" y="5943600"/>
            <a:ext cx="133350" cy="133350"/>
          </a:xfrm>
          <a:prstGeom prst="rect">
            <a:avLst/>
          </a:prstGeom>
          <a:solidFill>
            <a:srgbClr val="FA4F24"/>
          </a:solidFill>
          <a:ln/>
        </p:spPr>
        <p:txBody>
          <a:bodyPr/>
          <a:p/>
        </p:txBody>
      </p:sp>
      <p:sp>
        <p:nvSpPr>
          <p:cNvPr id="719"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72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02 / 36</a:t>
            </a:r>
            <a:endParaRPr/>
          </a:p>
        </p:txBody>
      </p:sp>
    </p:spTree>
  </p:cSld>
</p:sld>
</file>

<file path=ppt/slides/slide3.xml><?xml version="1.0" encoding="utf-8"?>
<p:sld xmlns:p="http://schemas.openxmlformats.org/presentationml/2006/main" xmlns:a="http://schemas.openxmlformats.org/drawingml/2006/main">
  <p:cSld>
    <p:spTree>
      <p:nvGrpSpPr>
        <p:cNvPr id="1481" name="" descr="&lt;Slide style={{ width: 1280, height: 720, background: '#FFFFFF', padding: '24px 64px 0' }}&gt;&#13;&#10;    {/* A 区 */}&#13;&#10;    &lt;Box style={{ height: 96, flexDirection: 'column', justifyContent: 'flex-start' }}&gt;&#13;&#10;        &lt;Text style={{ fontSize: 32, fontWeight: 'bold', color: '#0F1423' }}&gt;&#13;&#10;            序论：通用方法论&lt;span style={{ color: '#FA4F24' }}&gt;为什么不能直接照搬&lt;/span&gt;&#13;&#10;        &lt;/Text&gt;&#13;&#10;        &lt;Text style={{ fontSize: 19, color: '#8A8F99', marginTop: 7 }}&gt;&#13;&#10;            方法论讲的是「架构怎么画」，招标要的是「你在这个项目里怎么一步步做出来、做到什么颗粒度」&#13;&#10;        &lt;/Text&gt;&#13;&#10;    &lt;/Box&gt;&#13;&#10;    &lt;Box style={{ height: 1, background: '#E8E8E8' }} /&gt;&#13;&#10;&#13;&#10;    {/* B 区 */}&#13;&#10;    &lt;Box style={{ paddingTop: 10, paddingBottom: 6, height: 479, flexDirection: 'column', gap: 9 }}&gt;&#13;&#10;        {/* 上：三句硬话 */}&#13;&#10;        &lt;Box style={{ height: 68, flexDirection: 'row', gap: 10 }}&gt;&#13;&#10;            {[&#13;&#10;                { n: '1', t: '照搬会做浅', d: '通用方法论说「分层分级」，本项目合同要求写到 L4 子流程——颗粒度不写死，交付验收时无法逐项核对' },&#13;&#10;                { n: '2', t: '照搬会做虚', d: '通用方法论不点业务域，本项目是能源七块 + 储能两块，每块的流程形态和数据特征完全不同' },&#13;&#10;                { n: '3', t: '照搬会漏项', d: '通用方法论里没有 AI 这一层，但招标单列两条硬要求，漏了就是废标项' },&#13;&#10;            ].map((x) =&gt; (&#13;&#10;                &lt;Box key={x.n} style={{ flex: 1, background: '#F7F7F8', borderRadius: 4, padding: '0 16px', flexDirection: 'column', justifyContent: 'center', borderLeft: '4px solid #FA4F24' }}&gt;&#13;&#10;                    &lt;Text style={{ fontSize: 15, fontWeight: 'bold', color: '#0F1423' }}&gt;{x.t}&lt;/Text&gt;&#13;&#10;                    &lt;Text style={{ fontSize: 11.5, color: '#5A6070', lineHeight: 1.4, marginTop: 4 }}&gt;{x.d}&lt;/Text&gt;&#13;&#10;                &lt;/Box&gt;&#13;&#10;            ))}&#13;&#10;        &lt;/Box&gt;&#13;&#10;&#13;&#10;        {/* 中：通用 vs 本项目 对照 */}&#13;&#10;        &lt;Box style={{ height: 200, flexDirection: 'row', gap: 10 }}&gt;&#13;&#10;            &lt;Box style={{ width: 570, background: '#0F1423', borderRadius: 4, padding: '16px 18px', flexDirection: 'column' }}&gt;&#13;&#10;                &lt;Text style={{ fontSize: 12, color: '#FBA15C', letterSpacing: 2 }}&gt;通用 4A 方法论怎么说&lt;/Text&gt;&#13;&#10;                &lt;Box style={{ flex: 1, flexDirection: 'column', gap: 7, marginTop: 11 }}&gt;&#13;&#10;                    {[&#13;&#10;                        '业务架构：画到分层分级，识别价值流与能力',&#13;&#10;                        '数据架构：从数据资产目录到模型、标准、分布',&#13;&#10;                        '应用架构：分域分层的应用规划与集成关系',&#13;&#10;                        '技术架构：云平台、微服务、集成与安全底座',&#13;&#10;                        'AI：不在方法论主体内，作为应用的一种实现',&#13;&#10;                    ].map((x, i) =&gt; (&#13;&#10;                        &lt;Box key={x} style={{ flexDirection: 'row', alignItems: 'flex-start', gap: 8, flex: 1 }}&gt;&#13;&#10;                            &lt;Text style={{ fontSize: 11, color: '#FA4F24', fontWeight: 'bold' }}&gt;{'0' + (i + 1)}&lt;/Text&gt;&#13;&#10;                            &lt;Text style={{ fontSize: 12.5, color: 'rgba(255,255,255,0.86)', lineHeight: 1.4, flex: 1 }}&gt;{x}&lt;/Text&gt;&#13;&#10;                        &lt;/Box&gt;&#13;&#10;                    ))}&#13;&#10;                &lt;/Box&gt;&#13;&#10;            &lt;/Box&gt;&#13;&#10;            &lt;Box style={{ width: 570, background: '#FFF3EE', borderRadius: 4, padding: '16px 18px', flexDirection: 'column', borderLeft: '4px solid #FA4F24' }}&gt;&#13;&#10;                &lt;Text style={{ fontSize: 12, color: '#C43A17', letterSpacing: 2 }}&gt;本项目必须改成&lt;/Text&gt;&#13;&#10;                &lt;Box style={{ flex: 1, flexDirection: 'column', gap: 7, marginTop: 11 }}&gt;&#13;&#10;                    {[&#13;&#10;                        '业务架构：流程领域架构 + 核心业务循环 + L4 子流程清单',&#13;&#10;                        '数据架构：四维度展开，颗粒度到业务逻辑实体及属性',&#13;&#10;                        '应用架构：应用域边界 + 集成方式/协议/服务调用，到功能模块',&#13;&#10;                        '技术架构：额外盘点 AI 所需技术（算力、模型、向量、编排）',&#13;&#10;                        'AI：单独成节做场景识别与优先级评估，蓝图与详设各一轮',&#13;&#10;                    ].map((x, i) =&gt; (&#13;&#10;                        &lt;Box key={x} style={{ flexDirection: 'row', alignItems: 'flex-start', gap: 8, flex: 1 }}&gt;&#13;&#10;                            &lt;Text style={{ fontSize: 11, color: '#FA4F24', fontWeight: 'bold' }}&gt;{'0' + (i + 1)}&lt;/Text&gt;&#13;&#10;                            &lt;Text style={{ fontSize: 12.5, color: '#0F1423', lineHeight: 1.4, flex: 1 }}&gt;{x}&lt;/Text&gt;&#13;&#10;                        &lt;/Box&gt;&#13;&#10;                    ))}&#13;&#10;                &lt;/Box&gt;&#13;&#10;            &lt;/Box&gt;&#13;&#10;        &lt;/Box&gt;&#13;&#10;&#13;&#10;        {/* 下：本册定位 */}&#13;&#10;        &lt;Box style={{ flex: 1, background: '#0F1423', borderRadius: 4, padding: '0 20px', flexDirection: 'row', alignItems: 'center', gap: 16 }}&gt;&#13;&#10;            &lt;Text style={{ fontSize: 13.5, fontWeight: 'bold', color: '#FBA15C', width: 156 }}&gt;这一册的定位&lt;/Text&gt;&#13;&#10;            &lt;Text style={{ fontSize: 14.5, color: '#FFFFFF', flex: 1, lineHeight: 1.5 }}&gt;&#13;&#10;                不是另一套方法论，是同一套方法论的&lt;span style={{ color: '#FBA15C' }}&gt;项目改装版&lt;/span&gt;。通用册讲原理，本册讲在本项目里第一步做什么、交什么、谁签收&#13;&#10;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03 / 36&lt;/Text&gt;&#13;&#10;    &lt;/Box&gt;&#13;&#10;&lt;/Slide&gt;&#13;&#10;"/>
        <p:cNvGrpSpPr/>
        <p:nvPr/>
      </p:nvGrpSpPr>
      <p:grpSpPr>
        <a:xfrm>
          <a:off x="0" y="0"/>
          <a:ext cx="0" cy="0"/>
          <a:chOff x="0" y="0"/>
          <a:chExt cx="0" cy="0"/>
        </a:xfrm>
      </p:grpSpPr>
      <p:sp>
        <p:nvSpPr>
          <p:cNvPr id="1482" name=""/>
          <p:cNvSpPr/>
          <p:nvPr/>
        </p:nvSpPr>
        <p:spPr>
          <a:xfrm rot="0" flipH="0" flipV="0">
            <a:off x="0" y="0"/>
            <a:ext cx="12192000" cy="6858000"/>
          </a:xfrm>
          <a:prstGeom prst="rect">
            <a:avLst/>
          </a:prstGeom>
          <a:solidFill>
            <a:srgbClr val="FFFFFF"/>
          </a:solidFill>
          <a:ln/>
        </p:spPr>
        <p:txBody>
          <a:bodyPr/>
          <a:p/>
        </p:txBody>
      </p:sp>
      <p:sp>
        <p:nvSpPr>
          <p:cNvPr id="148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序论：通用方法论</a:t>
            </a:r>
            <a:r>
              <a:rPr lang="zh-CN" sz="2400" b="1">
                <a:solidFill>
                  <a:srgbClr val="FA4F24"/>
                </a:solidFill>
                <a:latin typeface="Microsoft YaHei"/>
                <a:ea typeface="Microsoft YaHei"/>
              </a:rPr>
              <a:t>为什么不能直接照搬</a:t>
            </a:r>
            <a:endParaRPr/>
          </a:p>
        </p:txBody>
      </p:sp>
      <p:sp>
        <p:nvSpPr>
          <p:cNvPr id="1484"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方法论讲的是「架构怎么画」，招标要的是「你在这个项目里怎么一步步做出来、做到什么颗粒度」</a:t>
            </a:r>
            <a:endParaRPr/>
          </a:p>
        </p:txBody>
      </p:sp>
      <p:sp>
        <p:nvSpPr>
          <p:cNvPr id="1485" name=""/>
          <p:cNvSpPr/>
          <p:nvPr/>
        </p:nvSpPr>
        <p:spPr>
          <a:xfrm rot="0" flipH="0" flipV="0">
            <a:off x="609600" y="1143000"/>
            <a:ext cx="10972800" cy="9525"/>
          </a:xfrm>
          <a:prstGeom prst="rect">
            <a:avLst/>
          </a:prstGeom>
          <a:solidFill>
            <a:srgbClr val="E8E8E8"/>
          </a:solidFill>
          <a:ln/>
        </p:spPr>
        <p:txBody>
          <a:bodyPr/>
          <a:p/>
        </p:txBody>
      </p:sp>
      <p:sp>
        <p:nvSpPr>
          <p:cNvPr id="1486" name=""/>
          <p:cNvSpPr/>
          <p:nvPr/>
        </p:nvSpPr>
        <p:spPr>
          <a:xfrm rot="0" flipH="0" flipV="0">
            <a:off x="647700" y="1247775"/>
            <a:ext cx="3590925" cy="647700"/>
          </a:xfrm>
          <a:prstGeom prst="roundRect">
            <a:avLst>
              <a:gd name="adj" fmla="val 5882"/>
            </a:avLst>
          </a:prstGeom>
          <a:solidFill>
            <a:srgbClr val="F7F7F8"/>
          </a:solidFill>
          <a:ln/>
        </p:spPr>
        <p:txBody>
          <a:bodyPr/>
          <a:p/>
        </p:txBody>
      </p:sp>
      <p:sp>
        <p:nvSpPr>
          <p:cNvPr id="1487" name=""/>
          <p:cNvSpPr/>
          <p:nvPr/>
        </p:nvSpPr>
        <p:spPr>
          <a:xfrm rot="0" flipH="0" flipV="0">
            <a:off x="647700" y="1247775"/>
            <a:ext cx="3590925" cy="647700"/>
          </a:xfrm>
          <a:custGeom>
            <a:pathLst>
              <a:path w="377" h="68">
                <a:moveTo>
                  <a:pt x="4" y="68"/>
                </a:moveTo>
                <a:cubicBezTo>
                  <a:pt x="2" y="68"/>
                  <a:pt x="0" y="66"/>
                  <a:pt x="0" y="64"/>
                </a:cubicBezTo>
                <a:lnTo>
                  <a:pt x="0" y="4"/>
                </a:lnTo>
                <a:cubicBezTo>
                  <a:pt x="0" y="2"/>
                  <a:pt x="2" y="0"/>
                  <a:pt x="4" y="0"/>
                </a:cubicBezTo>
                <a:lnTo>
                  <a:pt x="4" y="68"/>
                </a:lnTo>
                <a:close/>
              </a:path>
            </a:pathLst>
          </a:custGeom>
          <a:solidFill>
            <a:srgbClr val="FA4F24"/>
          </a:solidFill>
          <a:ln/>
        </p:spPr>
        <p:txBody>
          <a:bodyPr/>
          <a:p/>
        </p:txBody>
      </p:sp>
      <p:sp>
        <p:nvSpPr>
          <p:cNvPr id="1488" name="" descr="{&quot;isTemplate&quot;:true,&quot;type&quot;:&quot;text&quot;}"/>
          <p:cNvSpPr txBox="1"/>
          <p:nvPr/>
        </p:nvSpPr>
        <p:spPr>
          <a:xfrm rot="0" flipH="0" flipV="0">
            <a:off x="800100" y="1285875"/>
            <a:ext cx="3248025" cy="171450"/>
          </a:xfrm>
          <a:prstGeom prst="rect"/>
        </p:spPr>
        <p:txBody>
          <a:bodyPr wrap="none" lIns="0" tIns="0" rIns="0" bIns="0"/>
          <a:p>
            <a:pPr>
              <a:lnSpc>
                <a:spcPct val="100000"/>
              </a:lnSpc>
            </a:pPr>
            <a:r>
              <a:rPr lang="zh-CN" sz="1125" b="1">
                <a:solidFill>
                  <a:srgbClr val="0F1423"/>
                </a:solidFill>
                <a:latin typeface="Microsoft YaHei"/>
                <a:ea typeface="Microsoft YaHei"/>
              </a:rPr>
              <a:t>照搬会做浅</a:t>
            </a:r>
            <a:endParaRPr/>
          </a:p>
        </p:txBody>
      </p:sp>
      <p:sp>
        <p:nvSpPr>
          <p:cNvPr id="1489" name="" descr="{&quot;isTemplate&quot;:true,&quot;type&quot;:&quot;text&quot;}"/>
          <p:cNvSpPr txBox="1"/>
          <p:nvPr/>
        </p:nvSpPr>
        <p:spPr>
          <a:xfrm rot="0" flipH="0" flipV="0">
            <a:off x="800100" y="1495425"/>
            <a:ext cx="3248025" cy="371475"/>
          </a:xfrm>
          <a:prstGeom prst="rect"/>
        </p:spPr>
        <p:txBody>
          <a:bodyPr wrap="square" lIns="0" tIns="0" rIns="0" bIns="0">
            <a:normAutofit/>
          </a:bodyPr>
          <a:p>
            <a:pPr>
              <a:lnSpc>
                <a:spcPct val="140000"/>
              </a:lnSpc>
            </a:pPr>
            <a:r>
              <a:rPr lang="zh-CN" sz="863">
                <a:solidFill>
                  <a:srgbClr val="5A6070"/>
                </a:solidFill>
                <a:latin typeface="Microsoft YaHei"/>
                <a:ea typeface="Microsoft YaHei"/>
              </a:rPr>
              <a:t>通用方法论说「分层分级」，本项目合同要求写到</a:t>
            </a:r>
            <a:r>
              <a:rPr lang="en-US" sz="863">
                <a:solidFill>
                  <a:srgbClr val="5A6070"/>
                </a:solidFill>
                <a:latin typeface="Microsoft YaHei"/>
                <a:ea typeface="Microsoft YaHei"/>
              </a:rPr>
              <a:t xml:space="preserve"> L4 </a:t>
            </a:r>
            <a:r>
              <a:rPr lang="zh-CN" sz="863">
                <a:solidFill>
                  <a:srgbClr val="5A6070"/>
                </a:solidFill>
                <a:latin typeface="Microsoft YaHei"/>
                <a:ea typeface="Microsoft YaHei"/>
              </a:rPr>
              <a:t>子流程——颗粒度不写死，交付验收时无法逐项核对</a:t>
            </a:r>
            <a:endParaRPr/>
          </a:p>
        </p:txBody>
      </p:sp>
      <p:sp>
        <p:nvSpPr>
          <p:cNvPr id="1490" name=""/>
          <p:cNvSpPr/>
          <p:nvPr/>
        </p:nvSpPr>
        <p:spPr>
          <a:xfrm rot="0" flipH="0" flipV="0">
            <a:off x="4333875" y="1247775"/>
            <a:ext cx="3600450" cy="647700"/>
          </a:xfrm>
          <a:prstGeom prst="roundRect">
            <a:avLst>
              <a:gd name="adj" fmla="val 5882"/>
            </a:avLst>
          </a:prstGeom>
          <a:solidFill>
            <a:srgbClr val="F7F7F8"/>
          </a:solidFill>
          <a:ln/>
        </p:spPr>
        <p:txBody>
          <a:bodyPr/>
          <a:p/>
        </p:txBody>
      </p:sp>
      <p:sp>
        <p:nvSpPr>
          <p:cNvPr id="1491" name=""/>
          <p:cNvSpPr/>
          <p:nvPr/>
        </p:nvSpPr>
        <p:spPr>
          <a:xfrm rot="0" flipH="0" flipV="0">
            <a:off x="4333875" y="1247775"/>
            <a:ext cx="3600450" cy="647700"/>
          </a:xfrm>
          <a:custGeom>
            <a:pathLst>
              <a:path w="378" h="68">
                <a:moveTo>
                  <a:pt x="4" y="68"/>
                </a:moveTo>
                <a:cubicBezTo>
                  <a:pt x="2" y="68"/>
                  <a:pt x="0" y="66"/>
                  <a:pt x="0" y="64"/>
                </a:cubicBezTo>
                <a:lnTo>
                  <a:pt x="0" y="4"/>
                </a:lnTo>
                <a:cubicBezTo>
                  <a:pt x="0" y="2"/>
                  <a:pt x="2" y="0"/>
                  <a:pt x="4" y="0"/>
                </a:cubicBezTo>
                <a:lnTo>
                  <a:pt x="4" y="68"/>
                </a:lnTo>
                <a:close/>
              </a:path>
            </a:pathLst>
          </a:custGeom>
          <a:solidFill>
            <a:srgbClr val="FA4F24"/>
          </a:solidFill>
          <a:ln/>
        </p:spPr>
        <p:txBody>
          <a:bodyPr/>
          <a:p/>
        </p:txBody>
      </p:sp>
      <p:sp>
        <p:nvSpPr>
          <p:cNvPr id="1492" name="" descr="{&quot;isTemplate&quot;:true,&quot;type&quot;:&quot;text&quot;}"/>
          <p:cNvSpPr txBox="1"/>
          <p:nvPr/>
        </p:nvSpPr>
        <p:spPr>
          <a:xfrm rot="0" flipH="0" flipV="0">
            <a:off x="4486275" y="1285875"/>
            <a:ext cx="3257550" cy="171450"/>
          </a:xfrm>
          <a:prstGeom prst="rect"/>
        </p:spPr>
        <p:txBody>
          <a:bodyPr wrap="none" lIns="0" tIns="0" rIns="0" bIns="0"/>
          <a:p>
            <a:pPr>
              <a:lnSpc>
                <a:spcPct val="100000"/>
              </a:lnSpc>
            </a:pPr>
            <a:r>
              <a:rPr lang="zh-CN" sz="1125" b="1">
                <a:solidFill>
                  <a:srgbClr val="0F1423"/>
                </a:solidFill>
                <a:latin typeface="Microsoft YaHei"/>
                <a:ea typeface="Microsoft YaHei"/>
              </a:rPr>
              <a:t>照搬会做虚</a:t>
            </a:r>
            <a:endParaRPr/>
          </a:p>
        </p:txBody>
      </p:sp>
      <p:sp>
        <p:nvSpPr>
          <p:cNvPr id="1493" name="" descr="{&quot;isTemplate&quot;:true,&quot;type&quot;:&quot;text&quot;}"/>
          <p:cNvSpPr txBox="1"/>
          <p:nvPr/>
        </p:nvSpPr>
        <p:spPr>
          <a:xfrm rot="0" flipH="0" flipV="0">
            <a:off x="4486275" y="1495425"/>
            <a:ext cx="3257550" cy="371475"/>
          </a:xfrm>
          <a:prstGeom prst="rect"/>
        </p:spPr>
        <p:txBody>
          <a:bodyPr wrap="square" lIns="0" tIns="0" rIns="0" bIns="0">
            <a:normAutofit/>
          </a:bodyPr>
          <a:p>
            <a:pPr>
              <a:lnSpc>
                <a:spcPct val="140000"/>
              </a:lnSpc>
            </a:pPr>
            <a:r>
              <a:rPr lang="zh-CN" sz="863">
                <a:solidFill>
                  <a:srgbClr val="5A6070"/>
                </a:solidFill>
                <a:latin typeface="Microsoft YaHei"/>
                <a:ea typeface="Microsoft YaHei"/>
              </a:rPr>
              <a:t>通用方法论不点业务域，本项目是能源七块</a:t>
            </a:r>
            <a:r>
              <a:rPr lang="en-US" sz="863">
                <a:solidFill>
                  <a:srgbClr val="5A6070"/>
                </a:solidFill>
                <a:latin typeface="Microsoft YaHei"/>
                <a:ea typeface="Microsoft YaHei"/>
              </a:rPr>
              <a:t xml:space="preserve"> + </a:t>
            </a:r>
            <a:r>
              <a:rPr lang="zh-CN" sz="863">
                <a:solidFill>
                  <a:srgbClr val="5A6070"/>
                </a:solidFill>
                <a:latin typeface="Microsoft YaHei"/>
                <a:ea typeface="Microsoft YaHei"/>
              </a:rPr>
              <a:t>储能两块，每块的流程形态和数据特征完全不同</a:t>
            </a:r>
            <a:endParaRPr/>
          </a:p>
        </p:txBody>
      </p:sp>
      <p:sp>
        <p:nvSpPr>
          <p:cNvPr id="1494" name=""/>
          <p:cNvSpPr/>
          <p:nvPr/>
        </p:nvSpPr>
        <p:spPr>
          <a:xfrm rot="0" flipH="0" flipV="0">
            <a:off x="8029575" y="1247775"/>
            <a:ext cx="3590925" cy="647700"/>
          </a:xfrm>
          <a:prstGeom prst="roundRect">
            <a:avLst>
              <a:gd name="adj" fmla="val 5882"/>
            </a:avLst>
          </a:prstGeom>
          <a:solidFill>
            <a:srgbClr val="F7F7F8"/>
          </a:solidFill>
          <a:ln/>
        </p:spPr>
        <p:txBody>
          <a:bodyPr/>
          <a:p/>
        </p:txBody>
      </p:sp>
      <p:sp>
        <p:nvSpPr>
          <p:cNvPr id="1495" name=""/>
          <p:cNvSpPr/>
          <p:nvPr/>
        </p:nvSpPr>
        <p:spPr>
          <a:xfrm rot="0" flipH="0" flipV="0">
            <a:off x="8029575" y="1247775"/>
            <a:ext cx="3590925" cy="647700"/>
          </a:xfrm>
          <a:custGeom>
            <a:pathLst>
              <a:path w="377" h="68">
                <a:moveTo>
                  <a:pt x="4" y="68"/>
                </a:moveTo>
                <a:cubicBezTo>
                  <a:pt x="2" y="68"/>
                  <a:pt x="0" y="66"/>
                  <a:pt x="0" y="64"/>
                </a:cubicBezTo>
                <a:lnTo>
                  <a:pt x="0" y="4"/>
                </a:lnTo>
                <a:cubicBezTo>
                  <a:pt x="0" y="2"/>
                  <a:pt x="2" y="0"/>
                  <a:pt x="4" y="0"/>
                </a:cubicBezTo>
                <a:lnTo>
                  <a:pt x="4" y="68"/>
                </a:lnTo>
                <a:close/>
              </a:path>
            </a:pathLst>
          </a:custGeom>
          <a:solidFill>
            <a:srgbClr val="FA4F24"/>
          </a:solidFill>
          <a:ln/>
        </p:spPr>
        <p:txBody>
          <a:bodyPr/>
          <a:p/>
        </p:txBody>
      </p:sp>
      <p:sp>
        <p:nvSpPr>
          <p:cNvPr id="1496" name="" descr="{&quot;isTemplate&quot;:true,&quot;type&quot;:&quot;text&quot;}"/>
          <p:cNvSpPr txBox="1"/>
          <p:nvPr/>
        </p:nvSpPr>
        <p:spPr>
          <a:xfrm rot="0" flipH="0" flipV="0">
            <a:off x="8181975" y="1285875"/>
            <a:ext cx="3248025" cy="171450"/>
          </a:xfrm>
          <a:prstGeom prst="rect"/>
        </p:spPr>
        <p:txBody>
          <a:bodyPr wrap="none" lIns="0" tIns="0" rIns="0" bIns="0"/>
          <a:p>
            <a:pPr>
              <a:lnSpc>
                <a:spcPct val="100000"/>
              </a:lnSpc>
            </a:pPr>
            <a:r>
              <a:rPr lang="zh-CN" sz="1125" b="1">
                <a:solidFill>
                  <a:srgbClr val="0F1423"/>
                </a:solidFill>
                <a:latin typeface="Microsoft YaHei"/>
                <a:ea typeface="Microsoft YaHei"/>
              </a:rPr>
              <a:t>照搬会漏项</a:t>
            </a:r>
            <a:endParaRPr/>
          </a:p>
        </p:txBody>
      </p:sp>
      <p:sp>
        <p:nvSpPr>
          <p:cNvPr id="1497" name="" descr="{&quot;isTemplate&quot;:true,&quot;type&quot;:&quot;text&quot;}"/>
          <p:cNvSpPr txBox="1"/>
          <p:nvPr/>
        </p:nvSpPr>
        <p:spPr>
          <a:xfrm rot="0" flipH="0" flipV="0">
            <a:off x="8181975" y="1495425"/>
            <a:ext cx="3248025" cy="371475"/>
          </a:xfrm>
          <a:prstGeom prst="rect"/>
        </p:spPr>
        <p:txBody>
          <a:bodyPr wrap="square" lIns="0" tIns="0" rIns="0" bIns="0">
            <a:normAutofit/>
          </a:bodyPr>
          <a:p>
            <a:pPr>
              <a:lnSpc>
                <a:spcPct val="140000"/>
              </a:lnSpc>
            </a:pPr>
            <a:r>
              <a:rPr lang="zh-CN" sz="863">
                <a:solidFill>
                  <a:srgbClr val="5A6070"/>
                </a:solidFill>
                <a:latin typeface="Microsoft YaHei"/>
                <a:ea typeface="Microsoft YaHei"/>
              </a:rPr>
              <a:t>通用方法论里没有</a:t>
            </a:r>
            <a:r>
              <a:rPr lang="en-US" sz="863">
                <a:solidFill>
                  <a:srgbClr val="5A6070"/>
                </a:solidFill>
                <a:latin typeface="Microsoft YaHei"/>
                <a:ea typeface="Microsoft YaHei"/>
              </a:rPr>
              <a:t xml:space="preserve"> AI </a:t>
            </a:r>
            <a:r>
              <a:rPr lang="zh-CN" sz="863">
                <a:solidFill>
                  <a:srgbClr val="5A6070"/>
                </a:solidFill>
                <a:latin typeface="Microsoft YaHei"/>
                <a:ea typeface="Microsoft YaHei"/>
              </a:rPr>
              <a:t>这一层，但招标单列两条硬要求，漏了就是废标项</a:t>
            </a:r>
            <a:endParaRPr/>
          </a:p>
        </p:txBody>
      </p:sp>
      <p:sp>
        <p:nvSpPr>
          <p:cNvPr id="1498" name=""/>
          <p:cNvSpPr/>
          <p:nvPr/>
        </p:nvSpPr>
        <p:spPr>
          <a:xfrm rot="0" flipH="0" flipV="0">
            <a:off x="609600" y="1981200"/>
            <a:ext cx="5429250" cy="1905000"/>
          </a:xfrm>
          <a:prstGeom prst="roundRect">
            <a:avLst>
              <a:gd name="adj" fmla="val 2000"/>
            </a:avLst>
          </a:prstGeom>
          <a:solidFill>
            <a:srgbClr val="0F1423"/>
          </a:solidFill>
          <a:ln/>
        </p:spPr>
        <p:txBody>
          <a:bodyPr/>
          <a:p/>
        </p:txBody>
      </p:sp>
      <p:sp>
        <p:nvSpPr>
          <p:cNvPr id="1499" name="" descr="{&quot;isTemplate&quot;:true,&quot;type&quot;:&quot;text&quot;}"/>
          <p:cNvSpPr txBox="1"/>
          <p:nvPr/>
        </p:nvSpPr>
        <p:spPr>
          <a:xfrm rot="0" flipH="0" flipV="0">
            <a:off x="781050" y="2133600"/>
            <a:ext cx="5086350" cy="142875"/>
          </a:xfrm>
          <a:prstGeom prst="rect"/>
        </p:spPr>
        <p:txBody>
          <a:bodyPr wrap="none" lIns="0" tIns="0" rIns="0" bIns="0"/>
          <a:p>
            <a:pPr>
              <a:lnSpc>
                <a:spcPct val="100000"/>
              </a:lnSpc>
            </a:pPr>
            <a:r>
              <a:rPr lang="zh-CN" sz="900" spc="150">
                <a:solidFill>
                  <a:srgbClr val="FBA15C"/>
                </a:solidFill>
                <a:latin typeface="Microsoft YaHei"/>
                <a:ea typeface="Microsoft YaHei"/>
              </a:rPr>
              <a:t>通用</a:t>
            </a:r>
            <a:r>
              <a:rPr lang="en-US" sz="900" spc="150">
                <a:solidFill>
                  <a:srgbClr val="FBA15C"/>
                </a:solidFill>
                <a:latin typeface="Microsoft YaHei"/>
                <a:ea typeface="Microsoft YaHei"/>
              </a:rPr>
              <a:t xml:space="preserve"> 4A </a:t>
            </a:r>
            <a:r>
              <a:rPr lang="zh-CN" sz="900" spc="150">
                <a:solidFill>
                  <a:srgbClr val="FBA15C"/>
                </a:solidFill>
                <a:latin typeface="Microsoft YaHei"/>
                <a:ea typeface="Microsoft YaHei"/>
              </a:rPr>
              <a:t>方法论怎么说</a:t>
            </a:r>
            <a:endParaRPr/>
          </a:p>
        </p:txBody>
      </p:sp>
      <p:sp>
        <p:nvSpPr>
          <p:cNvPr id="1500" name="" descr="{&quot;isTemplate&quot;:true,&quot;type&quot;:&quot;text&quot;}"/>
          <p:cNvSpPr txBox="1"/>
          <p:nvPr/>
        </p:nvSpPr>
        <p:spPr>
          <a:xfrm rot="0" flipH="0" flipV="0">
            <a:off x="781050" y="2381250"/>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01</a:t>
            </a:r>
            <a:endParaRPr/>
          </a:p>
        </p:txBody>
      </p:sp>
      <p:sp>
        <p:nvSpPr>
          <p:cNvPr id="1501" name="" descr="{&quot;isTemplate&quot;:true,&quot;type&quot;:&quot;text&quot;}"/>
          <p:cNvSpPr txBox="1"/>
          <p:nvPr/>
        </p:nvSpPr>
        <p:spPr>
          <a:xfrm rot="0" flipH="0" flipV="0">
            <a:off x="990600" y="2381250"/>
            <a:ext cx="4876800" cy="200025"/>
          </a:xfrm>
          <a:prstGeom prst="rect"/>
        </p:spPr>
        <p:txBody>
          <a:bodyPr wrap="none" lIns="0" tIns="0" rIns="0" bIns="0"/>
          <a:p>
            <a:pPr>
              <a:lnSpc>
                <a:spcPct val="140000"/>
              </a:lnSpc>
            </a:pPr>
            <a:r>
              <a:rPr lang="zh-CN" sz="938">
                <a:solidFill>
                  <a:srgbClr val="FFFFFF">
                    <a:alpha val="86000"/>
                  </a:srgbClr>
                </a:solidFill>
                <a:latin typeface="Microsoft YaHei"/>
                <a:ea typeface="Microsoft YaHei"/>
              </a:rPr>
              <a:t>业务架构：画到分层分级，识别价值流与能力</a:t>
            </a:r>
            <a:endParaRPr/>
          </a:p>
        </p:txBody>
      </p:sp>
      <p:sp>
        <p:nvSpPr>
          <p:cNvPr id="1502" name="" descr="{&quot;isTemplate&quot;:true,&quot;type&quot;:&quot;text&quot;}"/>
          <p:cNvSpPr txBox="1"/>
          <p:nvPr/>
        </p:nvSpPr>
        <p:spPr>
          <a:xfrm rot="0" flipH="0" flipV="0">
            <a:off x="781050" y="2667000"/>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02</a:t>
            </a:r>
            <a:endParaRPr/>
          </a:p>
        </p:txBody>
      </p:sp>
      <p:sp>
        <p:nvSpPr>
          <p:cNvPr id="1503" name="" descr="{&quot;isTemplate&quot;:true,&quot;type&quot;:&quot;text&quot;}"/>
          <p:cNvSpPr txBox="1"/>
          <p:nvPr/>
        </p:nvSpPr>
        <p:spPr>
          <a:xfrm rot="0" flipH="0" flipV="0">
            <a:off x="990600" y="2667000"/>
            <a:ext cx="4876800" cy="200025"/>
          </a:xfrm>
          <a:prstGeom prst="rect"/>
        </p:spPr>
        <p:txBody>
          <a:bodyPr wrap="none" lIns="0" tIns="0" rIns="0" bIns="0"/>
          <a:p>
            <a:pPr>
              <a:lnSpc>
                <a:spcPct val="140000"/>
              </a:lnSpc>
            </a:pPr>
            <a:r>
              <a:rPr lang="zh-CN" sz="938">
                <a:solidFill>
                  <a:srgbClr val="FFFFFF">
                    <a:alpha val="86000"/>
                  </a:srgbClr>
                </a:solidFill>
                <a:latin typeface="Microsoft YaHei"/>
                <a:ea typeface="Microsoft YaHei"/>
              </a:rPr>
              <a:t>数据架构：从数据资产目录到模型、标准、分布</a:t>
            </a:r>
            <a:endParaRPr/>
          </a:p>
        </p:txBody>
      </p:sp>
      <p:sp>
        <p:nvSpPr>
          <p:cNvPr id="1504" name="" descr="{&quot;isTemplate&quot;:true,&quot;type&quot;:&quot;text&quot;}"/>
          <p:cNvSpPr txBox="1"/>
          <p:nvPr/>
        </p:nvSpPr>
        <p:spPr>
          <a:xfrm rot="0" flipH="0" flipV="0">
            <a:off x="781050" y="2952750"/>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03</a:t>
            </a:r>
            <a:endParaRPr/>
          </a:p>
        </p:txBody>
      </p:sp>
      <p:sp>
        <p:nvSpPr>
          <p:cNvPr id="1505" name="" descr="{&quot;isTemplate&quot;:true,&quot;type&quot;:&quot;text&quot;}"/>
          <p:cNvSpPr txBox="1"/>
          <p:nvPr/>
        </p:nvSpPr>
        <p:spPr>
          <a:xfrm rot="0" flipH="0" flipV="0">
            <a:off x="990600" y="2952750"/>
            <a:ext cx="4876800" cy="200025"/>
          </a:xfrm>
          <a:prstGeom prst="rect"/>
        </p:spPr>
        <p:txBody>
          <a:bodyPr wrap="none" lIns="0" tIns="0" rIns="0" bIns="0"/>
          <a:p>
            <a:pPr>
              <a:lnSpc>
                <a:spcPct val="140000"/>
              </a:lnSpc>
            </a:pPr>
            <a:r>
              <a:rPr lang="zh-CN" sz="938">
                <a:solidFill>
                  <a:srgbClr val="FFFFFF">
                    <a:alpha val="86000"/>
                  </a:srgbClr>
                </a:solidFill>
                <a:latin typeface="Microsoft YaHei"/>
                <a:ea typeface="Microsoft YaHei"/>
              </a:rPr>
              <a:t>应用架构：分域分层的应用规划与集成关系</a:t>
            </a:r>
            <a:endParaRPr/>
          </a:p>
        </p:txBody>
      </p:sp>
      <p:sp>
        <p:nvSpPr>
          <p:cNvPr id="1506" name="" descr="{&quot;isTemplate&quot;:true,&quot;type&quot;:&quot;text&quot;}"/>
          <p:cNvSpPr txBox="1"/>
          <p:nvPr/>
        </p:nvSpPr>
        <p:spPr>
          <a:xfrm rot="0" flipH="0" flipV="0">
            <a:off x="781050" y="3228975"/>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04</a:t>
            </a:r>
            <a:endParaRPr/>
          </a:p>
        </p:txBody>
      </p:sp>
      <p:sp>
        <p:nvSpPr>
          <p:cNvPr id="1507" name="" descr="{&quot;isTemplate&quot;:true,&quot;type&quot;:&quot;text&quot;}"/>
          <p:cNvSpPr txBox="1"/>
          <p:nvPr/>
        </p:nvSpPr>
        <p:spPr>
          <a:xfrm rot="0" flipH="0" flipV="0">
            <a:off x="990600" y="3228975"/>
            <a:ext cx="4876800" cy="200025"/>
          </a:xfrm>
          <a:prstGeom prst="rect"/>
        </p:spPr>
        <p:txBody>
          <a:bodyPr wrap="none" lIns="0" tIns="0" rIns="0" bIns="0"/>
          <a:p>
            <a:pPr>
              <a:lnSpc>
                <a:spcPct val="140000"/>
              </a:lnSpc>
            </a:pPr>
            <a:r>
              <a:rPr lang="zh-CN" sz="938">
                <a:solidFill>
                  <a:srgbClr val="FFFFFF">
                    <a:alpha val="86000"/>
                  </a:srgbClr>
                </a:solidFill>
                <a:latin typeface="Microsoft YaHei"/>
                <a:ea typeface="Microsoft YaHei"/>
              </a:rPr>
              <a:t>技术架构：云平台、微服务、集成与安全底座</a:t>
            </a:r>
            <a:endParaRPr/>
          </a:p>
        </p:txBody>
      </p:sp>
      <p:sp>
        <p:nvSpPr>
          <p:cNvPr id="1508" name="" descr="{&quot;isTemplate&quot;:true,&quot;type&quot;:&quot;text&quot;}"/>
          <p:cNvSpPr txBox="1"/>
          <p:nvPr/>
        </p:nvSpPr>
        <p:spPr>
          <a:xfrm rot="0" flipH="0" flipV="0">
            <a:off x="781050" y="3514725"/>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05</a:t>
            </a:r>
            <a:endParaRPr/>
          </a:p>
        </p:txBody>
      </p:sp>
      <p:sp>
        <p:nvSpPr>
          <p:cNvPr id="1509" name="" descr="{&quot;isTemplate&quot;:true,&quot;type&quot;:&quot;text&quot;}"/>
          <p:cNvSpPr txBox="1"/>
          <p:nvPr/>
        </p:nvSpPr>
        <p:spPr>
          <a:xfrm rot="0" flipH="0" flipV="0">
            <a:off x="990600" y="3514725"/>
            <a:ext cx="4876800" cy="200025"/>
          </a:xfrm>
          <a:prstGeom prst="rect"/>
        </p:spPr>
        <p:txBody>
          <a:bodyPr wrap="none" lIns="0" tIns="0" rIns="0" bIns="0"/>
          <a:p>
            <a:pPr>
              <a:lnSpc>
                <a:spcPct val="140000"/>
              </a:lnSpc>
            </a:pPr>
            <a:r>
              <a:rPr lang="en-US" sz="938">
                <a:solidFill>
                  <a:srgbClr val="FFFFFF">
                    <a:alpha val="86000"/>
                  </a:srgbClr>
                </a:solidFill>
                <a:latin typeface="Microsoft YaHei"/>
                <a:ea typeface="Microsoft YaHei"/>
              </a:rPr>
              <a:t>AI</a:t>
            </a:r>
            <a:r>
              <a:rPr lang="zh-CN" sz="938">
                <a:solidFill>
                  <a:srgbClr val="FFFFFF">
                    <a:alpha val="86000"/>
                  </a:srgbClr>
                </a:solidFill>
                <a:latin typeface="Microsoft YaHei"/>
                <a:ea typeface="Microsoft YaHei"/>
              </a:rPr>
              <a:t>：不在方法论主体内，作为应用的一种实现</a:t>
            </a:r>
            <a:endParaRPr/>
          </a:p>
        </p:txBody>
      </p:sp>
      <p:sp>
        <p:nvSpPr>
          <p:cNvPr id="1510" name=""/>
          <p:cNvSpPr/>
          <p:nvPr/>
        </p:nvSpPr>
        <p:spPr>
          <a:xfrm rot="0" flipH="0" flipV="0">
            <a:off x="6172200" y="1981200"/>
            <a:ext cx="5391150" cy="1905000"/>
          </a:xfrm>
          <a:prstGeom prst="roundRect">
            <a:avLst>
              <a:gd name="adj" fmla="val 2000"/>
            </a:avLst>
          </a:prstGeom>
          <a:solidFill>
            <a:srgbClr val="FFF3EE"/>
          </a:solidFill>
          <a:ln/>
        </p:spPr>
        <p:txBody>
          <a:bodyPr/>
          <a:p/>
        </p:txBody>
      </p:sp>
      <p:sp>
        <p:nvSpPr>
          <p:cNvPr id="1511" name=""/>
          <p:cNvSpPr/>
          <p:nvPr/>
        </p:nvSpPr>
        <p:spPr>
          <a:xfrm rot="0" flipH="0" flipV="0">
            <a:off x="6172200" y="1981200"/>
            <a:ext cx="5391150" cy="1905000"/>
          </a:xfrm>
          <a:custGeom>
            <a:pathLst>
              <a:path w="566" h="200">
                <a:moveTo>
                  <a:pt x="4" y="200"/>
                </a:moveTo>
                <a:cubicBezTo>
                  <a:pt x="2" y="200"/>
                  <a:pt x="0" y="198"/>
                  <a:pt x="0" y="196"/>
                </a:cubicBezTo>
                <a:lnTo>
                  <a:pt x="0" y="4"/>
                </a:lnTo>
                <a:cubicBezTo>
                  <a:pt x="0" y="2"/>
                  <a:pt x="2" y="0"/>
                  <a:pt x="4" y="0"/>
                </a:cubicBezTo>
                <a:lnTo>
                  <a:pt x="4" y="200"/>
                </a:lnTo>
                <a:close/>
              </a:path>
            </a:pathLst>
          </a:custGeom>
          <a:solidFill>
            <a:srgbClr val="FA4F24"/>
          </a:solidFill>
          <a:ln/>
        </p:spPr>
        <p:txBody>
          <a:bodyPr/>
          <a:p/>
        </p:txBody>
      </p:sp>
      <p:sp>
        <p:nvSpPr>
          <p:cNvPr id="1512" name="" descr="{&quot;isTemplate&quot;:true,&quot;type&quot;:&quot;text&quot;}"/>
          <p:cNvSpPr txBox="1"/>
          <p:nvPr/>
        </p:nvSpPr>
        <p:spPr>
          <a:xfrm rot="0" flipH="0" flipV="0">
            <a:off x="6343650" y="2133600"/>
            <a:ext cx="5048250" cy="142875"/>
          </a:xfrm>
          <a:prstGeom prst="rect"/>
        </p:spPr>
        <p:txBody>
          <a:bodyPr wrap="none" lIns="0" tIns="0" rIns="0" bIns="0"/>
          <a:p>
            <a:pPr>
              <a:lnSpc>
                <a:spcPct val="100000"/>
              </a:lnSpc>
            </a:pPr>
            <a:r>
              <a:rPr lang="zh-CN" sz="900" spc="150">
                <a:solidFill>
                  <a:srgbClr val="C43A17"/>
                </a:solidFill>
                <a:latin typeface="Microsoft YaHei"/>
                <a:ea typeface="Microsoft YaHei"/>
              </a:rPr>
              <a:t>本项目必须改成</a:t>
            </a:r>
            <a:endParaRPr/>
          </a:p>
        </p:txBody>
      </p:sp>
      <p:sp>
        <p:nvSpPr>
          <p:cNvPr id="1513" name="" descr="{&quot;isTemplate&quot;:true,&quot;type&quot;:&quot;text&quot;}"/>
          <p:cNvSpPr txBox="1"/>
          <p:nvPr/>
        </p:nvSpPr>
        <p:spPr>
          <a:xfrm rot="0" flipH="0" flipV="0">
            <a:off x="6343650" y="2381250"/>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01</a:t>
            </a:r>
            <a:endParaRPr/>
          </a:p>
        </p:txBody>
      </p:sp>
      <p:sp>
        <p:nvSpPr>
          <p:cNvPr id="1514" name="" descr="{&quot;isTemplate&quot;:true,&quot;type&quot;:&quot;text&quot;}"/>
          <p:cNvSpPr txBox="1"/>
          <p:nvPr/>
        </p:nvSpPr>
        <p:spPr>
          <a:xfrm rot="0" flipH="0" flipV="0">
            <a:off x="6553200" y="2381250"/>
            <a:ext cx="4838700" cy="200025"/>
          </a:xfrm>
          <a:prstGeom prst="rect"/>
        </p:spPr>
        <p:txBody>
          <a:bodyPr wrap="none" lIns="0" tIns="0" rIns="0" bIns="0"/>
          <a:p>
            <a:pPr>
              <a:lnSpc>
                <a:spcPct val="140000"/>
              </a:lnSpc>
            </a:pPr>
            <a:r>
              <a:rPr lang="zh-CN" sz="938">
                <a:solidFill>
                  <a:srgbClr val="0F1423"/>
                </a:solidFill>
                <a:latin typeface="Microsoft YaHei"/>
                <a:ea typeface="Microsoft YaHei"/>
              </a:rPr>
              <a:t>业务架构：流程领域架构</a:t>
            </a:r>
            <a:r>
              <a:rPr lang="en-US" sz="938">
                <a:solidFill>
                  <a:srgbClr val="0F1423"/>
                </a:solidFill>
                <a:latin typeface="Microsoft YaHei"/>
                <a:ea typeface="Microsoft YaHei"/>
              </a:rPr>
              <a:t xml:space="preserve"> + </a:t>
            </a:r>
            <a:r>
              <a:rPr lang="zh-CN" sz="938">
                <a:solidFill>
                  <a:srgbClr val="0F1423"/>
                </a:solidFill>
                <a:latin typeface="Microsoft YaHei"/>
                <a:ea typeface="Microsoft YaHei"/>
              </a:rPr>
              <a:t>核心业务循环</a:t>
            </a:r>
            <a:r>
              <a:rPr lang="en-US" sz="938">
                <a:solidFill>
                  <a:srgbClr val="0F1423"/>
                </a:solidFill>
                <a:latin typeface="Microsoft YaHei"/>
                <a:ea typeface="Microsoft YaHei"/>
              </a:rPr>
              <a:t xml:space="preserve"> + L4 </a:t>
            </a:r>
            <a:r>
              <a:rPr lang="zh-CN" sz="938">
                <a:solidFill>
                  <a:srgbClr val="0F1423"/>
                </a:solidFill>
                <a:latin typeface="Microsoft YaHei"/>
                <a:ea typeface="Microsoft YaHei"/>
              </a:rPr>
              <a:t>子流程清单</a:t>
            </a:r>
            <a:endParaRPr/>
          </a:p>
        </p:txBody>
      </p:sp>
      <p:sp>
        <p:nvSpPr>
          <p:cNvPr id="1515" name="" descr="{&quot;isTemplate&quot;:true,&quot;type&quot;:&quot;text&quot;}"/>
          <p:cNvSpPr txBox="1"/>
          <p:nvPr/>
        </p:nvSpPr>
        <p:spPr>
          <a:xfrm rot="0" flipH="0" flipV="0">
            <a:off x="6343650" y="2667000"/>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02</a:t>
            </a:r>
            <a:endParaRPr/>
          </a:p>
        </p:txBody>
      </p:sp>
      <p:sp>
        <p:nvSpPr>
          <p:cNvPr id="1516" name="" descr="{&quot;isTemplate&quot;:true,&quot;type&quot;:&quot;text&quot;}"/>
          <p:cNvSpPr txBox="1"/>
          <p:nvPr/>
        </p:nvSpPr>
        <p:spPr>
          <a:xfrm rot="0" flipH="0" flipV="0">
            <a:off x="6553200" y="2667000"/>
            <a:ext cx="4838700" cy="200025"/>
          </a:xfrm>
          <a:prstGeom prst="rect"/>
        </p:spPr>
        <p:txBody>
          <a:bodyPr wrap="none" lIns="0" tIns="0" rIns="0" bIns="0"/>
          <a:p>
            <a:pPr>
              <a:lnSpc>
                <a:spcPct val="140000"/>
              </a:lnSpc>
            </a:pPr>
            <a:r>
              <a:rPr lang="zh-CN" sz="938">
                <a:solidFill>
                  <a:srgbClr val="0F1423"/>
                </a:solidFill>
                <a:latin typeface="Microsoft YaHei"/>
                <a:ea typeface="Microsoft YaHei"/>
              </a:rPr>
              <a:t>数据架构：四维度展开，颗粒度到业务逻辑实体及属性</a:t>
            </a:r>
            <a:endParaRPr/>
          </a:p>
        </p:txBody>
      </p:sp>
      <p:sp>
        <p:nvSpPr>
          <p:cNvPr id="1517" name="" descr="{&quot;isTemplate&quot;:true,&quot;type&quot;:&quot;text&quot;}"/>
          <p:cNvSpPr txBox="1"/>
          <p:nvPr/>
        </p:nvSpPr>
        <p:spPr>
          <a:xfrm rot="0" flipH="0" flipV="0">
            <a:off x="6343650" y="2952750"/>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03</a:t>
            </a:r>
            <a:endParaRPr/>
          </a:p>
        </p:txBody>
      </p:sp>
      <p:sp>
        <p:nvSpPr>
          <p:cNvPr id="1518" name="" descr="{&quot;isTemplate&quot;:true,&quot;type&quot;:&quot;text&quot;}"/>
          <p:cNvSpPr txBox="1"/>
          <p:nvPr/>
        </p:nvSpPr>
        <p:spPr>
          <a:xfrm rot="0" flipH="0" flipV="0">
            <a:off x="6553200" y="2952750"/>
            <a:ext cx="4838700" cy="200025"/>
          </a:xfrm>
          <a:prstGeom prst="rect"/>
        </p:spPr>
        <p:txBody>
          <a:bodyPr wrap="none" lIns="0" tIns="0" rIns="0" bIns="0"/>
          <a:p>
            <a:pPr>
              <a:lnSpc>
                <a:spcPct val="140000"/>
              </a:lnSpc>
            </a:pPr>
            <a:r>
              <a:rPr lang="zh-CN" sz="938">
                <a:solidFill>
                  <a:srgbClr val="0F1423"/>
                </a:solidFill>
                <a:latin typeface="Microsoft YaHei"/>
                <a:ea typeface="Microsoft YaHei"/>
              </a:rPr>
              <a:t>应用架构：应用域边界</a:t>
            </a:r>
            <a:r>
              <a:rPr lang="en-US" sz="938">
                <a:solidFill>
                  <a:srgbClr val="0F1423"/>
                </a:solidFill>
                <a:latin typeface="Microsoft YaHei"/>
                <a:ea typeface="Microsoft YaHei"/>
              </a:rPr>
              <a:t xml:space="preserve"> + </a:t>
            </a:r>
            <a:r>
              <a:rPr lang="zh-CN" sz="938">
                <a:solidFill>
                  <a:srgbClr val="0F1423"/>
                </a:solidFill>
                <a:latin typeface="Microsoft YaHei"/>
                <a:ea typeface="Microsoft YaHei"/>
              </a:rPr>
              <a:t>集成方式</a:t>
            </a:r>
            <a:r>
              <a:rPr lang="en-US" sz="938">
                <a:solidFill>
                  <a:srgbClr val="0F1423"/>
                </a:solidFill>
                <a:latin typeface="Microsoft YaHei"/>
                <a:ea typeface="Microsoft YaHei"/>
              </a:rPr>
              <a:t>/</a:t>
            </a:r>
            <a:r>
              <a:rPr lang="zh-CN" sz="938">
                <a:solidFill>
                  <a:srgbClr val="0F1423"/>
                </a:solidFill>
                <a:latin typeface="Microsoft YaHei"/>
                <a:ea typeface="Microsoft YaHei"/>
              </a:rPr>
              <a:t>协议</a:t>
            </a:r>
            <a:r>
              <a:rPr lang="en-US" sz="938">
                <a:solidFill>
                  <a:srgbClr val="0F1423"/>
                </a:solidFill>
                <a:latin typeface="Microsoft YaHei"/>
                <a:ea typeface="Microsoft YaHei"/>
              </a:rPr>
              <a:t>/</a:t>
            </a:r>
            <a:r>
              <a:rPr lang="zh-CN" sz="938">
                <a:solidFill>
                  <a:srgbClr val="0F1423"/>
                </a:solidFill>
                <a:latin typeface="Microsoft YaHei"/>
                <a:ea typeface="Microsoft YaHei"/>
              </a:rPr>
              <a:t>服务调用，到功能模块</a:t>
            </a:r>
            <a:endParaRPr/>
          </a:p>
        </p:txBody>
      </p:sp>
      <p:sp>
        <p:nvSpPr>
          <p:cNvPr id="1519" name="" descr="{&quot;isTemplate&quot;:true,&quot;type&quot;:&quot;text&quot;}"/>
          <p:cNvSpPr txBox="1"/>
          <p:nvPr/>
        </p:nvSpPr>
        <p:spPr>
          <a:xfrm rot="0" flipH="0" flipV="0">
            <a:off x="6343650" y="3228975"/>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04</a:t>
            </a:r>
            <a:endParaRPr/>
          </a:p>
        </p:txBody>
      </p:sp>
      <p:sp>
        <p:nvSpPr>
          <p:cNvPr id="1520" name="" descr="{&quot;isTemplate&quot;:true,&quot;type&quot;:&quot;text&quot;}"/>
          <p:cNvSpPr txBox="1"/>
          <p:nvPr/>
        </p:nvSpPr>
        <p:spPr>
          <a:xfrm rot="0" flipH="0" flipV="0">
            <a:off x="6553200" y="3228975"/>
            <a:ext cx="4838700" cy="200025"/>
          </a:xfrm>
          <a:prstGeom prst="rect"/>
        </p:spPr>
        <p:txBody>
          <a:bodyPr wrap="none" lIns="0" tIns="0" rIns="0" bIns="0"/>
          <a:p>
            <a:pPr>
              <a:lnSpc>
                <a:spcPct val="140000"/>
              </a:lnSpc>
            </a:pPr>
            <a:r>
              <a:rPr lang="zh-CN" sz="938">
                <a:solidFill>
                  <a:srgbClr val="0F1423"/>
                </a:solidFill>
                <a:latin typeface="Microsoft YaHei"/>
                <a:ea typeface="Microsoft YaHei"/>
              </a:rPr>
              <a:t>技术架构：额外盘点</a:t>
            </a:r>
            <a:r>
              <a:rPr lang="en-US" sz="938">
                <a:solidFill>
                  <a:srgbClr val="0F1423"/>
                </a:solidFill>
                <a:latin typeface="Microsoft YaHei"/>
                <a:ea typeface="Microsoft YaHei"/>
              </a:rPr>
              <a:t xml:space="preserve"> AI </a:t>
            </a:r>
            <a:r>
              <a:rPr lang="zh-CN" sz="938">
                <a:solidFill>
                  <a:srgbClr val="0F1423"/>
                </a:solidFill>
                <a:latin typeface="Microsoft YaHei"/>
                <a:ea typeface="Microsoft YaHei"/>
              </a:rPr>
              <a:t>所需技术（算力、模型、向量、编排）</a:t>
            </a:r>
            <a:endParaRPr/>
          </a:p>
        </p:txBody>
      </p:sp>
      <p:sp>
        <p:nvSpPr>
          <p:cNvPr id="1521" name="" descr="{&quot;isTemplate&quot;:true,&quot;type&quot;:&quot;text&quot;}"/>
          <p:cNvSpPr txBox="1"/>
          <p:nvPr/>
        </p:nvSpPr>
        <p:spPr>
          <a:xfrm rot="0" flipH="0" flipV="0">
            <a:off x="6343650" y="3514725"/>
            <a:ext cx="133350" cy="133350"/>
          </a:xfrm>
          <a:prstGeom prst="rect"/>
        </p:spPr>
        <p:txBody>
          <a:bodyPr wrap="none" lIns="0" tIns="0" rIns="0" bIns="0"/>
          <a:p>
            <a:pPr>
              <a:lnSpc>
                <a:spcPct val="100000"/>
              </a:lnSpc>
            </a:pPr>
            <a:r>
              <a:rPr lang="en-US" sz="825" b="1">
                <a:solidFill>
                  <a:srgbClr val="FA4F24"/>
                </a:solidFill>
                <a:latin typeface="Microsoft YaHei"/>
                <a:ea typeface="Microsoft YaHei"/>
              </a:rPr>
              <a:t>05</a:t>
            </a:r>
            <a:endParaRPr/>
          </a:p>
        </p:txBody>
      </p:sp>
      <p:sp>
        <p:nvSpPr>
          <p:cNvPr id="1522" name="" descr="{&quot;isTemplate&quot;:true,&quot;type&quot;:&quot;text&quot;}"/>
          <p:cNvSpPr txBox="1"/>
          <p:nvPr/>
        </p:nvSpPr>
        <p:spPr>
          <a:xfrm rot="0" flipH="0" flipV="0">
            <a:off x="6553200" y="3514725"/>
            <a:ext cx="4838700" cy="200025"/>
          </a:xfrm>
          <a:prstGeom prst="rect"/>
        </p:spPr>
        <p:txBody>
          <a:bodyPr wrap="none" lIns="0" tIns="0" rIns="0" bIns="0"/>
          <a:p>
            <a:pPr>
              <a:lnSpc>
                <a:spcPct val="140000"/>
              </a:lnSpc>
            </a:pPr>
            <a:r>
              <a:rPr lang="en-US" sz="938">
                <a:solidFill>
                  <a:srgbClr val="0F1423"/>
                </a:solidFill>
                <a:latin typeface="Microsoft YaHei"/>
                <a:ea typeface="Microsoft YaHei"/>
              </a:rPr>
              <a:t>AI</a:t>
            </a:r>
            <a:r>
              <a:rPr lang="zh-CN" sz="938">
                <a:solidFill>
                  <a:srgbClr val="0F1423"/>
                </a:solidFill>
                <a:latin typeface="Microsoft YaHei"/>
                <a:ea typeface="Microsoft YaHei"/>
              </a:rPr>
              <a:t>：单独成节做场景识别与优先级评估，蓝图与详设各一轮</a:t>
            </a:r>
            <a:endParaRPr/>
          </a:p>
        </p:txBody>
      </p:sp>
      <p:sp>
        <p:nvSpPr>
          <p:cNvPr id="1523" name=""/>
          <p:cNvSpPr/>
          <p:nvPr/>
        </p:nvSpPr>
        <p:spPr>
          <a:xfrm rot="0" flipH="0" flipV="0">
            <a:off x="609600" y="3971925"/>
            <a:ext cx="10972800" cy="1685925"/>
          </a:xfrm>
          <a:prstGeom prst="roundRect">
            <a:avLst>
              <a:gd name="adj" fmla="val 2260"/>
            </a:avLst>
          </a:prstGeom>
          <a:solidFill>
            <a:srgbClr val="0F1423"/>
          </a:solidFill>
          <a:ln/>
        </p:spPr>
        <p:txBody>
          <a:bodyPr/>
          <a:p/>
        </p:txBody>
      </p:sp>
      <p:sp>
        <p:nvSpPr>
          <p:cNvPr id="1524" name="" descr="{&quot;isTemplate&quot;:true,&quot;type&quot;:&quot;text&quot;}"/>
          <p:cNvSpPr txBox="1"/>
          <p:nvPr/>
        </p:nvSpPr>
        <p:spPr>
          <a:xfrm rot="0" flipH="0" flipV="0">
            <a:off x="800100" y="4733925"/>
            <a:ext cx="1485900" cy="161925"/>
          </a:xfrm>
          <a:prstGeom prst="rect"/>
        </p:spPr>
        <p:txBody>
          <a:bodyPr wrap="none" lIns="0" tIns="0" rIns="0" bIns="0"/>
          <a:p>
            <a:pPr>
              <a:lnSpc>
                <a:spcPct val="100000"/>
              </a:lnSpc>
            </a:pPr>
            <a:r>
              <a:rPr lang="zh-CN" sz="1013" b="1">
                <a:solidFill>
                  <a:srgbClr val="FBA15C"/>
                </a:solidFill>
                <a:latin typeface="Microsoft YaHei"/>
                <a:ea typeface="Microsoft YaHei"/>
              </a:rPr>
              <a:t>这一册的定位</a:t>
            </a:r>
            <a:endParaRPr/>
          </a:p>
        </p:txBody>
      </p:sp>
      <p:sp>
        <p:nvSpPr>
          <p:cNvPr id="1525" name="" descr="{&quot;isTemplate&quot;:true,&quot;type&quot;:&quot;text&quot;}"/>
          <p:cNvSpPr txBox="1"/>
          <p:nvPr/>
        </p:nvSpPr>
        <p:spPr>
          <a:xfrm rot="0" flipH="0" flipV="0">
            <a:off x="2438400" y="4686300"/>
            <a:ext cx="8953500" cy="257175"/>
          </a:xfrm>
          <a:prstGeom prst="rect"/>
        </p:spPr>
        <p:txBody>
          <a:bodyPr wrap="none" lIns="0" tIns="0" rIns="0" bIns="0"/>
          <a:p>
            <a:pPr>
              <a:lnSpc>
                <a:spcPct val="150000"/>
              </a:lnSpc>
            </a:pPr>
            <a:r>
              <a:rPr lang="zh-CN" sz="1088">
                <a:solidFill>
                  <a:srgbClr val="FFFFFF"/>
                </a:solidFill>
                <a:latin typeface="Microsoft YaHei"/>
                <a:ea typeface="Microsoft YaHei"/>
              </a:rPr>
              <a:t>不是另一套方法论，是同一套方法论的</a:t>
            </a:r>
            <a:r>
              <a:rPr lang="zh-CN" sz="1088">
                <a:solidFill>
                  <a:srgbClr val="FBA15C"/>
                </a:solidFill>
                <a:latin typeface="Microsoft YaHei"/>
                <a:ea typeface="Microsoft YaHei"/>
              </a:rPr>
              <a:t>项目改装版</a:t>
            </a:r>
            <a:r>
              <a:rPr lang="zh-CN" sz="1088">
                <a:solidFill>
                  <a:srgbClr val="FFFFFF"/>
                </a:solidFill>
                <a:latin typeface="Microsoft YaHei"/>
                <a:ea typeface="Microsoft YaHei"/>
              </a:rPr>
              <a:t>。通用册讲原理，本册讲在本项目里第一步做什么、交什么、谁签收</a:t>
            </a:r>
            <a:endParaRPr/>
          </a:p>
        </p:txBody>
      </p:sp>
      <p:sp>
        <p:nvSpPr>
          <p:cNvPr id="1526" name=""/>
          <p:cNvSpPr/>
          <p:nvPr/>
        </p:nvSpPr>
        <p:spPr>
          <a:xfrm rot="0" flipH="0" flipV="0">
            <a:off x="609600" y="5943600"/>
            <a:ext cx="133350" cy="133350"/>
          </a:xfrm>
          <a:prstGeom prst="rect">
            <a:avLst/>
          </a:prstGeom>
          <a:solidFill>
            <a:srgbClr val="FA4F24"/>
          </a:solidFill>
          <a:ln/>
        </p:spPr>
        <p:txBody>
          <a:bodyPr/>
          <a:p/>
        </p:txBody>
      </p:sp>
      <p:sp>
        <p:nvSpPr>
          <p:cNvPr id="1527"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528"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03 / 36</a:t>
            </a:r>
            <a:endParaRPr/>
          </a:p>
        </p:txBody>
      </p:sp>
    </p:spTree>
  </p:cSld>
</p:sld>
</file>

<file path=ppt/slides/slide4.xml><?xml version="1.0" encoding="utf-8"?>
<p:sld xmlns:p="http://schemas.openxmlformats.org/presentationml/2006/main" xmlns:a="http://schemas.openxmlformats.org/drawingml/2006/main">
  <p:cSld>
    <p:spTree>
      <p:nvGrpSpPr>
        <p:cNvPr id="2159" name="" descr="&lt;Slide style={{ width: 1280, height: 720, background: '#FFFFFF', padding: '24px 64px 0' }}&gt;&#10;    {/* A 区 */}&#10;    &lt;Box style={{ height: 96, flexDirection: 'column', justifyContent: 'flex-start' }}&gt;&#10;        &lt;Text style={{ fontSize: 32, fontWeight: 'bold', color: '#0F1423' }}&gt;&#10;            Approach：&lt;span style={{ color: '#FA4F24' }}&gt;四阶段&lt;/span&gt;全景与每一步的产出物&#10;        &lt;/Text&gt;&#10;        &lt;Text style={{ fontSize: 19, color: '#8A8F99', marginTop: 7 }}&gt;&#10;            箭头不可颠倒，四个阶段每个阶段的收口交付物就是招标 3.4 里点名的那一份&#10;        &lt;/Text&gt;&#10;    &lt;/Box&gt;&#10;    &lt;Box style={{ height: 1, background: '#E8E8E8' }} /&gt;&#10;&#10;    {/* B 区 */}&#10;    &lt;Box style={{ paddingTop: 10, paddingBottom: 6, height: 479, flexDirection: 'column', gap: 8 }}&gt;&#10;&#10;        {/* 阶段色带 */}&#10;        &lt;Box style={{ height: 28, flexDirection: 'row', gap: 4 }}&gt;&#10;            {[&#10;                { n: '阶段一', t: '现状分析', c: '#FA4F24' },&#10;                { n: '阶段二', t: '变革蓝图设计', c: '#E0641E' },&#10;                { n: '阶段三', t: '需求规格化', c: '#C43A17' },&#10;                { n: '阶段四', t: '实施路线图', c: '#9E3410' },&#10;            ].map((x) =&gt; (&#10;                &lt;Box key={x.n} style={{ flex: 1, background: x.c, borderRadius: 3, flexDirection: 'row', alignItems: 'center', justifyContent: 'center', gap: 7 }}&gt;&#10;                    &lt;Text style={{ fontSize: 12.5, fontWeight: 'bold', color: '#FFFFFF' }}&gt;{x.n}&lt;/Text&gt;&#10;                    &lt;Text style={{ fontSize: 13.5, fontWeight: 'bold', color: 'rgba(255,255,255,0.92)' }}&gt;{x.t}&lt;/Text&gt;&#10;                &lt;/Box&gt;&#10;            ))}&#10;        &lt;/Box&gt;&#10;&#10;        {/* 每阶段内部动作 */}&#10;        &lt;Box style={{ flex: 1, flexDirection: 'row', gap: 4 }}&gt;&#10;            {[&#10;                {&#10;                    c: '#FA4F24', steps: ['业务/数据/应用/技术\n四套现状扫描', '九部门访谈\n+ 关键岗位', '痛点清单\n+ 五问追根', '改进方向\n定优先级'],&#10;                    out: '① 现状分析报告', out2: '痛点↔根因逐项对应表',&#10;                },&#10;                {&#10;                    c: '#E0641E', steps: ['流程领域架构\n+ 核心业务循环', '业务蓝图到 L4\n子流程清单', '数据四维度\n到逻辑实体', '应用分域分层\n到功能模块'],&#10;                    out: '② 业务蓝图设计', out2: 'AI 场景初识清单 + 优先级',&#10;                },&#10;                {&#10;                    c: '#C43A17', steps: ['L5-L6 活动\n角色与绩效指标', '逻辑实体属性\n+ 数据标准代码', '应用服务/特性\n/ 子特性', 'AI 场景细化\n+ 需求基线冻结'],&#10;                    out: '③④ 架构详细设计', out2: '⑤⑥ 需求规格说明书/清单',&#10;                },&#10;                {&#10;                    c: '#9E3410', steps: ['按优先级与\n依赖关系分期', '关键路径\n与里程碑', '投入收益测算\n+ 假设条件', '组织与数据\n保障机制'],&#10;                    out: '⑦ 实施路线图', out2: '⑧⑨ 指标字典/考核数据清单',&#10;                },&#10;            ].map((g, gi) =&gt; (&#10;                &lt;Box key={gi} style={{ flex: 1, borderRadius: 4, border: '1px solid #E8E8E8', borderTop: '3px solid ' + g.c, padding: '9px 10px', flexDirection: 'column' }}&gt;&#10;                    &lt;Text style={{ fontSize: 11.5, color: '#8A8F99', marginBottom: 6 }}&gt;阶段内动作&lt;/Text&gt;&#10;                    {g.steps.map((s, si) =&gt; (&#10;                        &lt;Box key={si} style={{ flex: 1, background: '#F7F7F8', borderRadius: 3, padding: '0 9px', flexDirection: 'row', alignItems: 'center', marginBottom: 4 }}&gt;&#10;                            &lt;Text style={{ fontSize: 10, color: g.c, fontWeight: 'bold', marginRight: 5 }}&gt;{'0' + (si + 1)}&lt;/Text&gt;&#10;                            &lt;Text style={{ fontSize: 11, color: '#3A4050', flex: 1, lineHeight: 1.3 }}&gt;{s}&lt;/Text&gt;&#10;                        &lt;/Box&gt;&#10;                    ))}&#10;                    &lt;Box style={{ height: 34, background: g.c, borderRadius: 3, padding: '0 9px', flexDirection: 'column', justifyContent: 'center' }}&gt;&#10;                        &lt;Text style={{ fontSize: 11.5, fontWeight: 'bold', color: '#FFFFFF' }}&gt;收口交付物&lt;/Text&gt;&#10;                        &lt;Text style={{ fontSize: 10, color: 'rgba(255,255,255,0.88)', marginTop: 2 }}&gt;{g.out}&lt;/Text&gt;&#10;                    &lt;/Box&gt;&#10;                    &lt;Text style={{ fontSize: 10, color: '#5A6070', marginTop: 4, lineHeight: 1.3 }}&gt;{g.out2}&lt;/Text&gt;&#10;                &lt;/Box&gt;&#10;            ))}&#10;        &lt;/Box&gt;&#10;&#10;        {/* 底部四条铁律 */}&#10;        &lt;Box style={{ height: 34, flexDirection: 'row', gap: 7 }}&gt;&#10;            {[&#10;                { k: '顺序不可颠倒', v: '没诊断就设计蓝图 = 照着痛点画系统', c: '#FA4F24', dark: true },&#10;                { k: '可追溯贯穿', v: '诊断→建议→需求，每条都必须能指向下一环', c: '#F87D2F', dark: false },&#10;                { k: '颗粒度写死', v: 'L4 / 逻辑实体 / 功能模块，不接受「基本覆盖」', c: '#FA4F24', dark: false },&#10;                { k: '基线即冻结', v: '评审通过后需求基线冻结，后续变更走变更流程', c: '#C43A17', dark: false },&#10;            ].map((x) =&gt; (&#10;                &lt;Box key={x.k} style={{ flex: 1, background: x.dark ? '#0F1423' : '#F7F7F8', borderLeft: '4px solid ' + x.c, borderRadius: 3, padding: '0 12px', flexDirection: 'row', alignItems: 'center', gap: 8 }}&gt;&#10;                    &lt;Text style={{ fontSize: 11.5, fontWeight: 'bold', color: x.dark ? '#FBA15C' : '#0F1423' }}&gt;{x.k}&lt;/Text&gt;&#10;                    &lt;Text style={{ fontSize: 10, color: x.dark ? 'rgba(255,255,255,0.88)' : '#5A6070', flex: 1, lineHeight: 1.3 }}&gt;{x.v}&lt;/Text&gt;&#10;                &lt;/Box&gt;&#10;            ))}&#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04 / 36&lt;/Text&gt;&#10;    &lt;/Box&gt;&#10;&lt;/Slide&gt;&#10;"/>
        <p:cNvGrpSpPr/>
        <p:nvPr/>
      </p:nvGrpSpPr>
      <p:grpSpPr>
        <a:xfrm>
          <a:off x="0" y="0"/>
          <a:ext cx="0" cy="0"/>
          <a:chOff x="0" y="0"/>
          <a:chExt cx="0" cy="0"/>
        </a:xfrm>
      </p:grpSpPr>
      <p:sp>
        <p:nvSpPr>
          <p:cNvPr id="2160" name=""/>
          <p:cNvSpPr/>
          <p:nvPr/>
        </p:nvSpPr>
        <p:spPr>
          <a:xfrm rot="0" flipH="0" flipV="0">
            <a:off x="0" y="0"/>
            <a:ext cx="12192000" cy="6858000"/>
          </a:xfrm>
          <a:prstGeom prst="rect">
            <a:avLst/>
          </a:prstGeom>
          <a:solidFill>
            <a:srgbClr val="FFFFFF"/>
          </a:solidFill>
          <a:ln/>
        </p:spPr>
        <p:txBody>
          <a:bodyPr/>
          <a:p/>
        </p:txBody>
      </p:sp>
      <p:sp>
        <p:nvSpPr>
          <p:cNvPr id="216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en-US" sz="2400" b="1">
                <a:solidFill>
                  <a:srgbClr val="0F1423"/>
                </a:solidFill>
                <a:latin typeface="Microsoft YaHei"/>
                <a:ea typeface="Microsoft YaHei"/>
              </a:rPr>
              <a:t>Approach</a:t>
            </a:r>
            <a:r>
              <a:rPr lang="zh-CN" sz="2400" b="1">
                <a:solidFill>
                  <a:srgbClr val="0F1423"/>
                </a:solidFill>
                <a:latin typeface="Microsoft YaHei"/>
                <a:ea typeface="Microsoft YaHei"/>
              </a:rPr>
              <a:t>：</a:t>
            </a:r>
            <a:r>
              <a:rPr lang="zh-CN" sz="2400" b="1">
                <a:solidFill>
                  <a:srgbClr val="FA4F24"/>
                </a:solidFill>
                <a:latin typeface="Microsoft YaHei"/>
                <a:ea typeface="Microsoft YaHei"/>
              </a:rPr>
              <a:t>四阶段</a:t>
            </a:r>
            <a:r>
              <a:rPr lang="zh-CN" sz="2400" b="1">
                <a:solidFill>
                  <a:srgbClr val="0F1423"/>
                </a:solidFill>
                <a:latin typeface="Microsoft YaHei"/>
                <a:ea typeface="Microsoft YaHei"/>
              </a:rPr>
              <a:t>全景与每一步的产出物</a:t>
            </a:r>
            <a:endParaRPr/>
          </a:p>
        </p:txBody>
      </p:sp>
      <p:sp>
        <p:nvSpPr>
          <p:cNvPr id="2162"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箭头不可颠倒，四个阶段每个阶段的收口交付物就是招标</a:t>
            </a:r>
            <a:r>
              <a:rPr lang="en-US" sz="1425">
                <a:solidFill>
                  <a:srgbClr val="8A8F99"/>
                </a:solidFill>
                <a:latin typeface="Microsoft YaHei"/>
                <a:ea typeface="Microsoft YaHei"/>
              </a:rPr>
              <a:t xml:space="preserve"> 3.4 </a:t>
            </a:r>
            <a:r>
              <a:rPr lang="zh-CN" sz="1425">
                <a:solidFill>
                  <a:srgbClr val="8A8F99"/>
                </a:solidFill>
                <a:latin typeface="Microsoft YaHei"/>
                <a:ea typeface="Microsoft YaHei"/>
              </a:rPr>
              <a:t>里点名的那一份</a:t>
            </a:r>
            <a:endParaRPr/>
          </a:p>
        </p:txBody>
      </p:sp>
      <p:sp>
        <p:nvSpPr>
          <p:cNvPr id="2163" name=""/>
          <p:cNvSpPr/>
          <p:nvPr/>
        </p:nvSpPr>
        <p:spPr>
          <a:xfrm rot="0" flipH="0" flipV="0">
            <a:off x="609600" y="1143000"/>
            <a:ext cx="10972800" cy="9525"/>
          </a:xfrm>
          <a:prstGeom prst="rect">
            <a:avLst/>
          </a:prstGeom>
          <a:solidFill>
            <a:srgbClr val="E8E8E8"/>
          </a:solidFill>
          <a:ln/>
        </p:spPr>
        <p:txBody>
          <a:bodyPr/>
          <a:p/>
        </p:txBody>
      </p:sp>
      <p:sp>
        <p:nvSpPr>
          <p:cNvPr id="2164" name=""/>
          <p:cNvSpPr/>
          <p:nvPr/>
        </p:nvSpPr>
        <p:spPr>
          <a:xfrm rot="0" flipH="0" flipV="0">
            <a:off x="609600" y="1247775"/>
            <a:ext cx="2714625" cy="266700"/>
          </a:xfrm>
          <a:prstGeom prst="roundRect">
            <a:avLst>
              <a:gd name="adj" fmla="val 10714"/>
            </a:avLst>
          </a:prstGeom>
          <a:solidFill>
            <a:srgbClr val="FA4F24"/>
          </a:solidFill>
          <a:ln/>
        </p:spPr>
        <p:txBody>
          <a:bodyPr/>
          <a:p/>
        </p:txBody>
      </p:sp>
      <p:sp>
        <p:nvSpPr>
          <p:cNvPr id="2165" name="" descr="{&quot;isTemplate&quot;:true,&quot;type&quot;:&quot;text&quot;}"/>
          <p:cNvSpPr txBox="1"/>
          <p:nvPr/>
        </p:nvSpPr>
        <p:spPr>
          <a:xfrm rot="0" flipH="0" flipV="0">
            <a:off x="1495425" y="1314450"/>
            <a:ext cx="361950" cy="142875"/>
          </a:xfrm>
          <a:prstGeom prst="rect"/>
        </p:spPr>
        <p:txBody>
          <a:bodyPr wrap="none" lIns="0" tIns="0" rIns="0" bIns="0"/>
          <a:p>
            <a:pPr>
              <a:lnSpc>
                <a:spcPct val="100000"/>
              </a:lnSpc>
            </a:pPr>
            <a:r>
              <a:rPr lang="zh-CN" sz="938" b="1">
                <a:solidFill>
                  <a:srgbClr val="FFFFFF"/>
                </a:solidFill>
                <a:latin typeface="Microsoft YaHei"/>
                <a:ea typeface="Microsoft YaHei"/>
              </a:rPr>
              <a:t>阶段一</a:t>
            </a:r>
            <a:endParaRPr/>
          </a:p>
        </p:txBody>
      </p:sp>
      <p:sp>
        <p:nvSpPr>
          <p:cNvPr id="2166" name="" descr="{&quot;isTemplate&quot;:true,&quot;type&quot;:&quot;text&quot;}"/>
          <p:cNvSpPr txBox="1"/>
          <p:nvPr/>
        </p:nvSpPr>
        <p:spPr>
          <a:xfrm rot="0" flipH="0" flipV="0">
            <a:off x="1924050" y="1304925"/>
            <a:ext cx="514350" cy="161925"/>
          </a:xfrm>
          <a:prstGeom prst="rect"/>
        </p:spPr>
        <p:txBody>
          <a:bodyPr wrap="none" lIns="0" tIns="0" rIns="0" bIns="0"/>
          <a:p>
            <a:pPr>
              <a:lnSpc>
                <a:spcPct val="100000"/>
              </a:lnSpc>
            </a:pPr>
            <a:r>
              <a:rPr lang="zh-CN" sz="1013" b="1">
                <a:solidFill>
                  <a:srgbClr val="FFFFFF">
                    <a:alpha val="92000"/>
                  </a:srgbClr>
                </a:solidFill>
                <a:latin typeface="Microsoft YaHei"/>
                <a:ea typeface="Microsoft YaHei"/>
              </a:rPr>
              <a:t>现状分析</a:t>
            </a:r>
            <a:endParaRPr/>
          </a:p>
        </p:txBody>
      </p:sp>
      <p:sp>
        <p:nvSpPr>
          <p:cNvPr id="2167" name=""/>
          <p:cNvSpPr/>
          <p:nvPr/>
        </p:nvSpPr>
        <p:spPr>
          <a:xfrm rot="0" flipH="0" flipV="0">
            <a:off x="3362325" y="1247775"/>
            <a:ext cx="2714625" cy="266700"/>
          </a:xfrm>
          <a:prstGeom prst="roundRect">
            <a:avLst>
              <a:gd name="adj" fmla="val 10714"/>
            </a:avLst>
          </a:prstGeom>
          <a:solidFill>
            <a:srgbClr val="E0641E"/>
          </a:solidFill>
          <a:ln/>
        </p:spPr>
        <p:txBody>
          <a:bodyPr/>
          <a:p/>
        </p:txBody>
      </p:sp>
      <p:sp>
        <p:nvSpPr>
          <p:cNvPr id="2168" name="" descr="{&quot;isTemplate&quot;:true,&quot;type&quot;:&quot;text&quot;}"/>
          <p:cNvSpPr txBox="1"/>
          <p:nvPr/>
        </p:nvSpPr>
        <p:spPr>
          <a:xfrm rot="0" flipH="0" flipV="0">
            <a:off x="4124325" y="1314450"/>
            <a:ext cx="361950" cy="142875"/>
          </a:xfrm>
          <a:prstGeom prst="rect"/>
        </p:spPr>
        <p:txBody>
          <a:bodyPr wrap="none" lIns="0" tIns="0" rIns="0" bIns="0"/>
          <a:p>
            <a:pPr>
              <a:lnSpc>
                <a:spcPct val="100000"/>
              </a:lnSpc>
            </a:pPr>
            <a:r>
              <a:rPr lang="zh-CN" sz="938" b="1">
                <a:solidFill>
                  <a:srgbClr val="FFFFFF"/>
                </a:solidFill>
                <a:latin typeface="Microsoft YaHei"/>
                <a:ea typeface="Microsoft YaHei"/>
              </a:rPr>
              <a:t>阶段二</a:t>
            </a:r>
            <a:endParaRPr/>
          </a:p>
        </p:txBody>
      </p:sp>
      <p:sp>
        <p:nvSpPr>
          <p:cNvPr id="2169" name="" descr="{&quot;isTemplate&quot;:true,&quot;type&quot;:&quot;text&quot;}"/>
          <p:cNvSpPr txBox="1"/>
          <p:nvPr/>
        </p:nvSpPr>
        <p:spPr>
          <a:xfrm rot="0" flipH="0" flipV="0">
            <a:off x="4552950" y="1304925"/>
            <a:ext cx="771525" cy="161925"/>
          </a:xfrm>
          <a:prstGeom prst="rect"/>
        </p:spPr>
        <p:txBody>
          <a:bodyPr wrap="none" lIns="0" tIns="0" rIns="0" bIns="0"/>
          <a:p>
            <a:pPr>
              <a:lnSpc>
                <a:spcPct val="100000"/>
              </a:lnSpc>
            </a:pPr>
            <a:r>
              <a:rPr lang="zh-CN" sz="1013" b="1">
                <a:solidFill>
                  <a:srgbClr val="FFFFFF">
                    <a:alpha val="92000"/>
                  </a:srgbClr>
                </a:solidFill>
                <a:latin typeface="Microsoft YaHei"/>
                <a:ea typeface="Microsoft YaHei"/>
              </a:rPr>
              <a:t>变革蓝图设计</a:t>
            </a:r>
            <a:endParaRPr/>
          </a:p>
        </p:txBody>
      </p:sp>
      <p:sp>
        <p:nvSpPr>
          <p:cNvPr id="2170" name=""/>
          <p:cNvSpPr/>
          <p:nvPr/>
        </p:nvSpPr>
        <p:spPr>
          <a:xfrm rot="0" flipH="0" flipV="0">
            <a:off x="6115050" y="1247775"/>
            <a:ext cx="2714625" cy="266700"/>
          </a:xfrm>
          <a:prstGeom prst="roundRect">
            <a:avLst>
              <a:gd name="adj" fmla="val 10714"/>
            </a:avLst>
          </a:prstGeom>
          <a:solidFill>
            <a:srgbClr val="C43A17"/>
          </a:solidFill>
          <a:ln/>
        </p:spPr>
        <p:txBody>
          <a:bodyPr/>
          <a:p/>
        </p:txBody>
      </p:sp>
      <p:sp>
        <p:nvSpPr>
          <p:cNvPr id="2171" name="" descr="{&quot;isTemplate&quot;:true,&quot;type&quot;:&quot;text&quot;}"/>
          <p:cNvSpPr txBox="1"/>
          <p:nvPr/>
        </p:nvSpPr>
        <p:spPr>
          <a:xfrm rot="0" flipH="0" flipV="0">
            <a:off x="6934200" y="1314450"/>
            <a:ext cx="361950" cy="142875"/>
          </a:xfrm>
          <a:prstGeom prst="rect"/>
        </p:spPr>
        <p:txBody>
          <a:bodyPr wrap="none" lIns="0" tIns="0" rIns="0" bIns="0"/>
          <a:p>
            <a:pPr>
              <a:lnSpc>
                <a:spcPct val="100000"/>
              </a:lnSpc>
            </a:pPr>
            <a:r>
              <a:rPr lang="zh-CN" sz="938" b="1">
                <a:solidFill>
                  <a:srgbClr val="FFFFFF"/>
                </a:solidFill>
                <a:latin typeface="Microsoft YaHei"/>
                <a:ea typeface="Microsoft YaHei"/>
              </a:rPr>
              <a:t>阶段三</a:t>
            </a:r>
            <a:endParaRPr/>
          </a:p>
        </p:txBody>
      </p:sp>
      <p:sp>
        <p:nvSpPr>
          <p:cNvPr id="2172" name="" descr="{&quot;isTemplate&quot;:true,&quot;type&quot;:&quot;text&quot;}"/>
          <p:cNvSpPr txBox="1"/>
          <p:nvPr/>
        </p:nvSpPr>
        <p:spPr>
          <a:xfrm rot="0" flipH="0" flipV="0">
            <a:off x="7362825" y="1304925"/>
            <a:ext cx="647700" cy="161925"/>
          </a:xfrm>
          <a:prstGeom prst="rect"/>
        </p:spPr>
        <p:txBody>
          <a:bodyPr wrap="none" lIns="0" tIns="0" rIns="0" bIns="0"/>
          <a:p>
            <a:pPr>
              <a:lnSpc>
                <a:spcPct val="100000"/>
              </a:lnSpc>
            </a:pPr>
            <a:r>
              <a:rPr lang="zh-CN" sz="1013" b="1">
                <a:solidFill>
                  <a:srgbClr val="FFFFFF">
                    <a:alpha val="92000"/>
                  </a:srgbClr>
                </a:solidFill>
                <a:latin typeface="Microsoft YaHei"/>
                <a:ea typeface="Microsoft YaHei"/>
              </a:rPr>
              <a:t>需求规格化</a:t>
            </a:r>
            <a:endParaRPr/>
          </a:p>
        </p:txBody>
      </p:sp>
      <p:sp>
        <p:nvSpPr>
          <p:cNvPr id="2173" name=""/>
          <p:cNvSpPr/>
          <p:nvPr/>
        </p:nvSpPr>
        <p:spPr>
          <a:xfrm rot="0" flipH="0" flipV="0">
            <a:off x="8867775" y="1247775"/>
            <a:ext cx="2714625" cy="266700"/>
          </a:xfrm>
          <a:prstGeom prst="roundRect">
            <a:avLst>
              <a:gd name="adj" fmla="val 10714"/>
            </a:avLst>
          </a:prstGeom>
          <a:solidFill>
            <a:srgbClr val="9E3410"/>
          </a:solidFill>
          <a:ln/>
        </p:spPr>
        <p:txBody>
          <a:bodyPr/>
          <a:p/>
        </p:txBody>
      </p:sp>
      <p:sp>
        <p:nvSpPr>
          <p:cNvPr id="2174" name="" descr="{&quot;isTemplate&quot;:true,&quot;type&quot;:&quot;text&quot;}"/>
          <p:cNvSpPr txBox="1"/>
          <p:nvPr/>
        </p:nvSpPr>
        <p:spPr>
          <a:xfrm rot="0" flipH="0" flipV="0">
            <a:off x="9686925" y="1314450"/>
            <a:ext cx="361950" cy="142875"/>
          </a:xfrm>
          <a:prstGeom prst="rect"/>
        </p:spPr>
        <p:txBody>
          <a:bodyPr wrap="none" lIns="0" tIns="0" rIns="0" bIns="0"/>
          <a:p>
            <a:pPr>
              <a:lnSpc>
                <a:spcPct val="100000"/>
              </a:lnSpc>
            </a:pPr>
            <a:r>
              <a:rPr lang="zh-CN" sz="938" b="1">
                <a:solidFill>
                  <a:srgbClr val="FFFFFF"/>
                </a:solidFill>
                <a:latin typeface="Microsoft YaHei"/>
                <a:ea typeface="Microsoft YaHei"/>
              </a:rPr>
              <a:t>阶段四</a:t>
            </a:r>
            <a:endParaRPr/>
          </a:p>
        </p:txBody>
      </p:sp>
      <p:sp>
        <p:nvSpPr>
          <p:cNvPr id="2175" name="" descr="{&quot;isTemplate&quot;:true,&quot;type&quot;:&quot;text&quot;}"/>
          <p:cNvSpPr txBox="1"/>
          <p:nvPr/>
        </p:nvSpPr>
        <p:spPr>
          <a:xfrm rot="0" flipH="0" flipV="0">
            <a:off x="10115550" y="1304925"/>
            <a:ext cx="647700" cy="161925"/>
          </a:xfrm>
          <a:prstGeom prst="rect"/>
        </p:spPr>
        <p:txBody>
          <a:bodyPr wrap="none" lIns="0" tIns="0" rIns="0" bIns="0"/>
          <a:p>
            <a:pPr>
              <a:lnSpc>
                <a:spcPct val="100000"/>
              </a:lnSpc>
            </a:pPr>
            <a:r>
              <a:rPr lang="zh-CN" sz="1013" b="1">
                <a:solidFill>
                  <a:srgbClr val="FFFFFF">
                    <a:alpha val="92000"/>
                  </a:srgbClr>
                </a:solidFill>
                <a:latin typeface="Microsoft YaHei"/>
                <a:ea typeface="Microsoft YaHei"/>
              </a:rPr>
              <a:t>实施路线图</a:t>
            </a:r>
            <a:endParaRPr/>
          </a:p>
        </p:txBody>
      </p:sp>
      <p:sp>
        <p:nvSpPr>
          <p:cNvPr id="2176" name=""/>
          <p:cNvSpPr/>
          <p:nvPr/>
        </p:nvSpPr>
        <p:spPr>
          <a:xfrm rot="0" flipH="0" flipV="0">
            <a:off x="609600" y="1619250"/>
            <a:ext cx="2714625" cy="3667125"/>
          </a:xfrm>
          <a:prstGeom prst="roundRect">
            <a:avLst>
              <a:gd name="adj" fmla="val 1404"/>
            </a:avLst>
          </a:prstGeom>
          <a:ln/>
        </p:spPr>
        <p:txBody>
          <a:bodyPr/>
          <a:p/>
        </p:txBody>
      </p:sp>
      <p:sp>
        <p:nvSpPr>
          <p:cNvPr id="2177" name=""/>
          <p:cNvSpPr/>
          <p:nvPr/>
        </p:nvSpPr>
        <p:spPr>
          <a:xfrm rot="0" flipH="0" flipV="0">
            <a:off x="609600" y="1619250"/>
            <a:ext cx="2714625" cy="3667125"/>
          </a:xfrm>
          <a:custGeom>
            <a:pathLst>
              <a:path w="285" h="385">
                <a:moveTo>
                  <a:pt x="281" y="0"/>
                </a:moveTo>
                <a:cubicBezTo>
                  <a:pt x="283" y="0"/>
                  <a:pt x="285" y="2"/>
                  <a:pt x="285" y="4"/>
                </a:cubicBezTo>
                <a:cubicBezTo>
                  <a:pt x="285" y="3"/>
                  <a:pt x="284" y="3"/>
                  <a:pt x="284" y="3"/>
                </a:cubicBezTo>
                <a:lnTo>
                  <a:pt x="1" y="3"/>
                </a:lnTo>
                <a:cubicBezTo>
                  <a:pt x="1" y="3"/>
                  <a:pt x="0" y="3"/>
                  <a:pt x="0" y="4"/>
                </a:cubicBezTo>
                <a:cubicBezTo>
                  <a:pt x="0" y="2"/>
                  <a:pt x="2" y="0"/>
                  <a:pt x="4" y="0"/>
                </a:cubicBezTo>
                <a:lnTo>
                  <a:pt x="281" y="0"/>
                </a:lnTo>
                <a:close/>
              </a:path>
            </a:pathLst>
          </a:custGeom>
          <a:solidFill>
            <a:srgbClr val="FA4F24"/>
          </a:solidFill>
          <a:ln/>
        </p:spPr>
        <p:txBody>
          <a:bodyPr/>
          <a:p/>
        </p:txBody>
      </p:sp>
      <p:sp>
        <p:nvSpPr>
          <p:cNvPr id="2178" name="" descr="{&quot;isTemplate&quot;:true,&quot;type&quot;:&quot;text&quot;}"/>
          <p:cNvSpPr txBox="1"/>
          <p:nvPr/>
        </p:nvSpPr>
        <p:spPr>
          <a:xfrm rot="0" flipH="0" flipV="0">
            <a:off x="704850" y="1704975"/>
            <a:ext cx="2524125" cy="133350"/>
          </a:xfrm>
          <a:prstGeom prst="rect"/>
        </p:spPr>
        <p:txBody>
          <a:bodyPr wrap="none" lIns="0" tIns="0" rIns="0" bIns="0"/>
          <a:p>
            <a:pPr>
              <a:lnSpc>
                <a:spcPct val="100000"/>
              </a:lnSpc>
            </a:pPr>
            <a:r>
              <a:rPr lang="zh-CN" sz="863">
                <a:solidFill>
                  <a:srgbClr val="8A8F99"/>
                </a:solidFill>
                <a:latin typeface="Microsoft YaHei"/>
                <a:ea typeface="Microsoft YaHei"/>
              </a:rPr>
              <a:t>阶段内动作</a:t>
            </a:r>
            <a:endParaRPr/>
          </a:p>
        </p:txBody>
      </p:sp>
      <p:sp>
        <p:nvSpPr>
          <p:cNvPr id="2179" name=""/>
          <p:cNvSpPr/>
          <p:nvPr/>
        </p:nvSpPr>
        <p:spPr>
          <a:xfrm rot="0" flipH="0" flipV="0">
            <a:off x="704850" y="1895475"/>
            <a:ext cx="2524125" cy="657225"/>
          </a:xfrm>
          <a:prstGeom prst="roundRect">
            <a:avLst>
              <a:gd name="adj" fmla="val 4348"/>
            </a:avLst>
          </a:prstGeom>
          <a:solidFill>
            <a:srgbClr val="F7F7F8"/>
          </a:solidFill>
          <a:ln/>
        </p:spPr>
        <p:txBody>
          <a:bodyPr/>
          <a:p/>
        </p:txBody>
      </p:sp>
      <p:sp>
        <p:nvSpPr>
          <p:cNvPr id="2180" name="" descr="{&quot;isTemplate&quot;:true,&quot;type&quot;:&quot;text&quot;}"/>
          <p:cNvSpPr txBox="1"/>
          <p:nvPr/>
        </p:nvSpPr>
        <p:spPr>
          <a:xfrm rot="0" flipH="0" flipV="0">
            <a:off x="790575" y="2171700"/>
            <a:ext cx="123825" cy="114300"/>
          </a:xfrm>
          <a:prstGeom prst="rect"/>
        </p:spPr>
        <p:txBody>
          <a:bodyPr wrap="none" lIns="0" tIns="0" rIns="0" bIns="0"/>
          <a:p>
            <a:pPr>
              <a:lnSpc>
                <a:spcPct val="100000"/>
              </a:lnSpc>
            </a:pPr>
            <a:r>
              <a:rPr lang="en-US" sz="750" b="1">
                <a:solidFill>
                  <a:srgbClr val="FA4F24"/>
                </a:solidFill>
                <a:latin typeface="Microsoft YaHei"/>
                <a:ea typeface="Microsoft YaHei"/>
              </a:rPr>
              <a:t>01</a:t>
            </a:r>
            <a:endParaRPr/>
          </a:p>
        </p:txBody>
      </p:sp>
      <p:sp>
        <p:nvSpPr>
          <p:cNvPr id="2181" name="" descr="{&quot;isTemplate&quot;:true,&quot;type&quot;:&quot;text&quot;}"/>
          <p:cNvSpPr txBox="1"/>
          <p:nvPr/>
        </p:nvSpPr>
        <p:spPr>
          <a:xfrm rot="0" flipH="0" flipV="0">
            <a:off x="962025" y="2057400"/>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业务</a:t>
            </a:r>
            <a:r>
              <a:rPr lang="en-US" sz="825">
                <a:solidFill>
                  <a:srgbClr val="3A4050"/>
                </a:solidFill>
                <a:latin typeface="Microsoft YaHei"/>
                <a:ea typeface="Microsoft YaHei"/>
              </a:rPr>
              <a:t>/</a:t>
            </a:r>
            <a:r>
              <a:rPr lang="zh-CN" sz="825">
                <a:solidFill>
                  <a:srgbClr val="3A4050"/>
                </a:solidFill>
                <a:latin typeface="Microsoft YaHei"/>
                <a:ea typeface="Microsoft YaHei"/>
              </a:rPr>
              <a:t>数据</a:t>
            </a:r>
            <a:r>
              <a:rPr lang="en-US" sz="825">
                <a:solidFill>
                  <a:srgbClr val="3A4050"/>
                </a:solidFill>
                <a:latin typeface="Microsoft YaHei"/>
                <a:ea typeface="Microsoft YaHei"/>
              </a:rPr>
              <a:t>/</a:t>
            </a:r>
            <a:r>
              <a:rPr lang="zh-CN" sz="825">
                <a:solidFill>
                  <a:srgbClr val="3A4050"/>
                </a:solidFill>
                <a:latin typeface="Microsoft YaHei"/>
                <a:ea typeface="Microsoft YaHei"/>
              </a:rPr>
              <a:t>应用</a:t>
            </a:r>
            <a:r>
              <a:rPr lang="en-US" sz="825">
                <a:solidFill>
                  <a:srgbClr val="3A4050"/>
                </a:solidFill>
                <a:latin typeface="Microsoft YaHei"/>
                <a:ea typeface="Microsoft YaHei"/>
              </a:rPr>
              <a:t>/</a:t>
            </a:r>
            <a:r>
              <a:rPr lang="zh-CN" sz="825">
                <a:solidFill>
                  <a:srgbClr val="3A4050"/>
                </a:solidFill>
                <a:latin typeface="Microsoft YaHei"/>
                <a:ea typeface="Microsoft YaHei"/>
              </a:rPr>
              <a:t>技术
四套现状扫描</a:t>
            </a:r>
            <a:endParaRPr/>
          </a:p>
        </p:txBody>
      </p:sp>
      <p:sp>
        <p:nvSpPr>
          <p:cNvPr id="2182" name=""/>
          <p:cNvSpPr/>
          <p:nvPr/>
        </p:nvSpPr>
        <p:spPr>
          <a:xfrm rot="0" flipH="0" flipV="0">
            <a:off x="704850" y="2590800"/>
            <a:ext cx="2524125" cy="647700"/>
          </a:xfrm>
          <a:prstGeom prst="roundRect">
            <a:avLst>
              <a:gd name="adj" fmla="val 4412"/>
            </a:avLst>
          </a:prstGeom>
          <a:solidFill>
            <a:srgbClr val="F7F7F8"/>
          </a:solidFill>
          <a:ln/>
        </p:spPr>
        <p:txBody>
          <a:bodyPr/>
          <a:p/>
        </p:txBody>
      </p:sp>
      <p:sp>
        <p:nvSpPr>
          <p:cNvPr id="2183" name="" descr="{&quot;isTemplate&quot;:true,&quot;type&quot;:&quot;text&quot;}"/>
          <p:cNvSpPr txBox="1"/>
          <p:nvPr/>
        </p:nvSpPr>
        <p:spPr>
          <a:xfrm rot="0" flipH="0" flipV="0">
            <a:off x="790575" y="2857500"/>
            <a:ext cx="123825" cy="114300"/>
          </a:xfrm>
          <a:prstGeom prst="rect"/>
        </p:spPr>
        <p:txBody>
          <a:bodyPr wrap="none" lIns="0" tIns="0" rIns="0" bIns="0"/>
          <a:p>
            <a:pPr>
              <a:lnSpc>
                <a:spcPct val="100000"/>
              </a:lnSpc>
            </a:pPr>
            <a:r>
              <a:rPr lang="en-US" sz="750" b="1">
                <a:solidFill>
                  <a:srgbClr val="FA4F24"/>
                </a:solidFill>
                <a:latin typeface="Microsoft YaHei"/>
                <a:ea typeface="Microsoft YaHei"/>
              </a:rPr>
              <a:t>02</a:t>
            </a:r>
            <a:endParaRPr/>
          </a:p>
        </p:txBody>
      </p:sp>
      <p:sp>
        <p:nvSpPr>
          <p:cNvPr id="2184" name="" descr="{&quot;isTemplate&quot;:true,&quot;type&quot;:&quot;text&quot;}"/>
          <p:cNvSpPr txBox="1"/>
          <p:nvPr/>
        </p:nvSpPr>
        <p:spPr>
          <a:xfrm rot="0" flipH="0" flipV="0">
            <a:off x="962025" y="2752725"/>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 xml:space="preserve">九部门访谈
</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关键岗位</a:t>
            </a:r>
            <a:endParaRPr/>
          </a:p>
        </p:txBody>
      </p:sp>
      <p:sp>
        <p:nvSpPr>
          <p:cNvPr id="2185" name=""/>
          <p:cNvSpPr/>
          <p:nvPr/>
        </p:nvSpPr>
        <p:spPr>
          <a:xfrm rot="0" flipH="0" flipV="0">
            <a:off x="704850" y="3276600"/>
            <a:ext cx="2524125" cy="657225"/>
          </a:xfrm>
          <a:prstGeom prst="roundRect">
            <a:avLst>
              <a:gd name="adj" fmla="val 4348"/>
            </a:avLst>
          </a:prstGeom>
          <a:solidFill>
            <a:srgbClr val="F7F7F8"/>
          </a:solidFill>
          <a:ln/>
        </p:spPr>
        <p:txBody>
          <a:bodyPr/>
          <a:p/>
        </p:txBody>
      </p:sp>
      <p:sp>
        <p:nvSpPr>
          <p:cNvPr id="2186" name="" descr="{&quot;isTemplate&quot;:true,&quot;type&quot;:&quot;text&quot;}"/>
          <p:cNvSpPr txBox="1"/>
          <p:nvPr/>
        </p:nvSpPr>
        <p:spPr>
          <a:xfrm rot="0" flipH="0" flipV="0">
            <a:off x="790575" y="3552825"/>
            <a:ext cx="123825" cy="114300"/>
          </a:xfrm>
          <a:prstGeom prst="rect"/>
        </p:spPr>
        <p:txBody>
          <a:bodyPr wrap="none" lIns="0" tIns="0" rIns="0" bIns="0"/>
          <a:p>
            <a:pPr>
              <a:lnSpc>
                <a:spcPct val="100000"/>
              </a:lnSpc>
            </a:pPr>
            <a:r>
              <a:rPr lang="en-US" sz="750" b="1">
                <a:solidFill>
                  <a:srgbClr val="FA4F24"/>
                </a:solidFill>
                <a:latin typeface="Microsoft YaHei"/>
                <a:ea typeface="Microsoft YaHei"/>
              </a:rPr>
              <a:t>03</a:t>
            </a:r>
            <a:endParaRPr/>
          </a:p>
        </p:txBody>
      </p:sp>
      <p:sp>
        <p:nvSpPr>
          <p:cNvPr id="2187" name="" descr="{&quot;isTemplate&quot;:true,&quot;type&quot;:&quot;text&quot;}"/>
          <p:cNvSpPr txBox="1"/>
          <p:nvPr/>
        </p:nvSpPr>
        <p:spPr>
          <a:xfrm rot="0" flipH="0" flipV="0">
            <a:off x="962025" y="3438525"/>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 xml:space="preserve">痛点清单
</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五问追根</a:t>
            </a:r>
            <a:endParaRPr/>
          </a:p>
        </p:txBody>
      </p:sp>
      <p:sp>
        <p:nvSpPr>
          <p:cNvPr id="2188" name=""/>
          <p:cNvSpPr/>
          <p:nvPr/>
        </p:nvSpPr>
        <p:spPr>
          <a:xfrm rot="0" flipH="0" flipV="0">
            <a:off x="704850" y="3971925"/>
            <a:ext cx="2524125" cy="647700"/>
          </a:xfrm>
          <a:prstGeom prst="roundRect">
            <a:avLst>
              <a:gd name="adj" fmla="val 4412"/>
            </a:avLst>
          </a:prstGeom>
          <a:solidFill>
            <a:srgbClr val="F7F7F8"/>
          </a:solidFill>
          <a:ln/>
        </p:spPr>
        <p:txBody>
          <a:bodyPr/>
          <a:p/>
        </p:txBody>
      </p:sp>
      <p:sp>
        <p:nvSpPr>
          <p:cNvPr id="2189" name="" descr="{&quot;isTemplate&quot;:true,&quot;type&quot;:&quot;text&quot;}"/>
          <p:cNvSpPr txBox="1"/>
          <p:nvPr/>
        </p:nvSpPr>
        <p:spPr>
          <a:xfrm rot="0" flipH="0" flipV="0">
            <a:off x="790575" y="4238625"/>
            <a:ext cx="123825" cy="114300"/>
          </a:xfrm>
          <a:prstGeom prst="rect"/>
        </p:spPr>
        <p:txBody>
          <a:bodyPr wrap="none" lIns="0" tIns="0" rIns="0" bIns="0"/>
          <a:p>
            <a:pPr>
              <a:lnSpc>
                <a:spcPct val="100000"/>
              </a:lnSpc>
            </a:pPr>
            <a:r>
              <a:rPr lang="en-US" sz="750" b="1">
                <a:solidFill>
                  <a:srgbClr val="FA4F24"/>
                </a:solidFill>
                <a:latin typeface="Microsoft YaHei"/>
                <a:ea typeface="Microsoft YaHei"/>
              </a:rPr>
              <a:t>04</a:t>
            </a:r>
            <a:endParaRPr/>
          </a:p>
        </p:txBody>
      </p:sp>
      <p:sp>
        <p:nvSpPr>
          <p:cNvPr id="2190" name="" descr="{&quot;isTemplate&quot;:true,&quot;type&quot;:&quot;text&quot;}"/>
          <p:cNvSpPr txBox="1"/>
          <p:nvPr/>
        </p:nvSpPr>
        <p:spPr>
          <a:xfrm rot="0" flipH="0" flipV="0">
            <a:off x="962025" y="4133850"/>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改进方向
定优先级</a:t>
            </a:r>
            <a:endParaRPr/>
          </a:p>
        </p:txBody>
      </p:sp>
      <p:sp>
        <p:nvSpPr>
          <p:cNvPr id="2191" name=""/>
          <p:cNvSpPr/>
          <p:nvPr/>
        </p:nvSpPr>
        <p:spPr>
          <a:xfrm rot="0" flipH="0" flipV="0">
            <a:off x="704850" y="4657725"/>
            <a:ext cx="2524125" cy="323850"/>
          </a:xfrm>
          <a:prstGeom prst="roundRect">
            <a:avLst>
              <a:gd name="adj" fmla="val 8824"/>
            </a:avLst>
          </a:prstGeom>
          <a:solidFill>
            <a:srgbClr val="FA4F24"/>
          </a:solidFill>
          <a:ln/>
        </p:spPr>
        <p:txBody>
          <a:bodyPr/>
          <a:p/>
        </p:txBody>
      </p:sp>
      <p:sp>
        <p:nvSpPr>
          <p:cNvPr id="2192" name="" descr="{&quot;isTemplate&quot;:true,&quot;type&quot;:&quot;text&quot;}"/>
          <p:cNvSpPr txBox="1"/>
          <p:nvPr/>
        </p:nvSpPr>
        <p:spPr>
          <a:xfrm rot="0" flipH="0" flipV="0">
            <a:off x="790575" y="4686300"/>
            <a:ext cx="2352675" cy="133350"/>
          </a:xfrm>
          <a:prstGeom prst="rect"/>
        </p:spPr>
        <p:txBody>
          <a:bodyPr wrap="none" lIns="0" tIns="0" rIns="0" bIns="0"/>
          <a:p>
            <a:pPr>
              <a:lnSpc>
                <a:spcPct val="100000"/>
              </a:lnSpc>
            </a:pPr>
            <a:r>
              <a:rPr lang="zh-CN" sz="863" b="1">
                <a:solidFill>
                  <a:srgbClr val="FFFFFF"/>
                </a:solidFill>
                <a:latin typeface="Microsoft YaHei"/>
                <a:ea typeface="Microsoft YaHei"/>
              </a:rPr>
              <a:t>收口交付物</a:t>
            </a:r>
            <a:endParaRPr/>
          </a:p>
        </p:txBody>
      </p:sp>
      <p:sp>
        <p:nvSpPr>
          <p:cNvPr id="2193" name="" descr="{&quot;isTemplate&quot;:true,&quot;type&quot;:&quot;text&quot;}"/>
          <p:cNvSpPr txBox="1"/>
          <p:nvPr/>
        </p:nvSpPr>
        <p:spPr>
          <a:xfrm rot="0" flipH="0" flipV="0">
            <a:off x="790575" y="4838700"/>
            <a:ext cx="2352675" cy="114300"/>
          </a:xfrm>
          <a:prstGeom prst="rect"/>
        </p:spPr>
        <p:txBody>
          <a:bodyPr wrap="none" lIns="0" tIns="0" rIns="0" bIns="0"/>
          <a:p>
            <a:pPr>
              <a:lnSpc>
                <a:spcPct val="100000"/>
              </a:lnSpc>
            </a:pPr>
            <a:r>
              <a:rPr lang="en-US" sz="750">
                <a:solidFill>
                  <a:srgbClr val="FFFFFF">
                    <a:alpha val="88000"/>
                  </a:srgbClr>
                </a:solidFill>
                <a:latin typeface="Microsoft YaHei"/>
                <a:ea typeface="Microsoft YaHei"/>
              </a:rPr>
              <a:t xml:space="preserve">① </a:t>
            </a:r>
            <a:r>
              <a:rPr lang="zh-CN" sz="750">
                <a:solidFill>
                  <a:srgbClr val="FFFFFF">
                    <a:alpha val="88000"/>
                  </a:srgbClr>
                </a:solidFill>
                <a:latin typeface="Microsoft YaHei"/>
                <a:ea typeface="Microsoft YaHei"/>
              </a:rPr>
              <a:t>现状分析报告</a:t>
            </a:r>
            <a:endParaRPr/>
          </a:p>
        </p:txBody>
      </p:sp>
      <p:sp>
        <p:nvSpPr>
          <p:cNvPr id="2194" name="" descr="{&quot;isTemplate&quot;:true,&quot;type&quot;:&quot;text&quot;}"/>
          <p:cNvSpPr txBox="1"/>
          <p:nvPr/>
        </p:nvSpPr>
        <p:spPr>
          <a:xfrm rot="0" flipH="0" flipV="0">
            <a:off x="704850" y="5019675"/>
            <a:ext cx="2524125" cy="152400"/>
          </a:xfrm>
          <a:prstGeom prst="rect"/>
        </p:spPr>
        <p:txBody>
          <a:bodyPr wrap="none" lIns="0" tIns="0" rIns="0" bIns="0"/>
          <a:p>
            <a:pPr>
              <a:lnSpc>
                <a:spcPct val="130000"/>
              </a:lnSpc>
            </a:pPr>
            <a:r>
              <a:rPr lang="zh-CN" sz="750">
                <a:solidFill>
                  <a:srgbClr val="5A6070"/>
                </a:solidFill>
                <a:latin typeface="Microsoft YaHei"/>
                <a:ea typeface="Microsoft YaHei"/>
              </a:rPr>
              <a:t>痛点↔根因逐项对应表</a:t>
            </a:r>
            <a:endParaRPr/>
          </a:p>
        </p:txBody>
      </p:sp>
      <p:sp>
        <p:nvSpPr>
          <p:cNvPr id="2195" name=""/>
          <p:cNvSpPr/>
          <p:nvPr/>
        </p:nvSpPr>
        <p:spPr>
          <a:xfrm rot="0" flipH="0" flipV="0">
            <a:off x="3362325" y="1619250"/>
            <a:ext cx="2714625" cy="3667125"/>
          </a:xfrm>
          <a:prstGeom prst="roundRect">
            <a:avLst>
              <a:gd name="adj" fmla="val 1404"/>
            </a:avLst>
          </a:prstGeom>
          <a:ln/>
        </p:spPr>
        <p:txBody>
          <a:bodyPr/>
          <a:p/>
        </p:txBody>
      </p:sp>
      <p:sp>
        <p:nvSpPr>
          <p:cNvPr id="2196" name=""/>
          <p:cNvSpPr/>
          <p:nvPr/>
        </p:nvSpPr>
        <p:spPr>
          <a:xfrm rot="0" flipH="0" flipV="0">
            <a:off x="3362325" y="1619250"/>
            <a:ext cx="2714625" cy="3667125"/>
          </a:xfrm>
          <a:custGeom>
            <a:pathLst>
              <a:path w="285" h="385">
                <a:moveTo>
                  <a:pt x="281" y="0"/>
                </a:moveTo>
                <a:cubicBezTo>
                  <a:pt x="283" y="0"/>
                  <a:pt x="285" y="2"/>
                  <a:pt x="285" y="4"/>
                </a:cubicBezTo>
                <a:cubicBezTo>
                  <a:pt x="285" y="3"/>
                  <a:pt x="284" y="3"/>
                  <a:pt x="284" y="3"/>
                </a:cubicBezTo>
                <a:lnTo>
                  <a:pt x="1" y="3"/>
                </a:lnTo>
                <a:cubicBezTo>
                  <a:pt x="1" y="3"/>
                  <a:pt x="0" y="3"/>
                  <a:pt x="0" y="4"/>
                </a:cubicBezTo>
                <a:cubicBezTo>
                  <a:pt x="0" y="2"/>
                  <a:pt x="2" y="0"/>
                  <a:pt x="4" y="0"/>
                </a:cubicBezTo>
                <a:lnTo>
                  <a:pt x="281" y="0"/>
                </a:lnTo>
                <a:close/>
              </a:path>
            </a:pathLst>
          </a:custGeom>
          <a:solidFill>
            <a:srgbClr val="E0641E"/>
          </a:solidFill>
          <a:ln/>
        </p:spPr>
        <p:txBody>
          <a:bodyPr/>
          <a:p/>
        </p:txBody>
      </p:sp>
      <p:sp>
        <p:nvSpPr>
          <p:cNvPr id="2197" name="" descr="{&quot;isTemplate&quot;:true,&quot;type&quot;:&quot;text&quot;}"/>
          <p:cNvSpPr txBox="1"/>
          <p:nvPr/>
        </p:nvSpPr>
        <p:spPr>
          <a:xfrm rot="0" flipH="0" flipV="0">
            <a:off x="3457575" y="1704975"/>
            <a:ext cx="2524125" cy="133350"/>
          </a:xfrm>
          <a:prstGeom prst="rect"/>
        </p:spPr>
        <p:txBody>
          <a:bodyPr wrap="none" lIns="0" tIns="0" rIns="0" bIns="0"/>
          <a:p>
            <a:pPr>
              <a:lnSpc>
                <a:spcPct val="100000"/>
              </a:lnSpc>
            </a:pPr>
            <a:r>
              <a:rPr lang="zh-CN" sz="863">
                <a:solidFill>
                  <a:srgbClr val="8A8F99"/>
                </a:solidFill>
                <a:latin typeface="Microsoft YaHei"/>
                <a:ea typeface="Microsoft YaHei"/>
              </a:rPr>
              <a:t>阶段内动作</a:t>
            </a:r>
            <a:endParaRPr/>
          </a:p>
        </p:txBody>
      </p:sp>
      <p:sp>
        <p:nvSpPr>
          <p:cNvPr id="2198" name=""/>
          <p:cNvSpPr/>
          <p:nvPr/>
        </p:nvSpPr>
        <p:spPr>
          <a:xfrm rot="0" flipH="0" flipV="0">
            <a:off x="3457575" y="1895475"/>
            <a:ext cx="2524125" cy="657225"/>
          </a:xfrm>
          <a:prstGeom prst="roundRect">
            <a:avLst>
              <a:gd name="adj" fmla="val 4348"/>
            </a:avLst>
          </a:prstGeom>
          <a:solidFill>
            <a:srgbClr val="F7F7F8"/>
          </a:solidFill>
          <a:ln/>
        </p:spPr>
        <p:txBody>
          <a:bodyPr/>
          <a:p/>
        </p:txBody>
      </p:sp>
      <p:sp>
        <p:nvSpPr>
          <p:cNvPr id="2199" name="" descr="{&quot;isTemplate&quot;:true,&quot;type&quot;:&quot;text&quot;}"/>
          <p:cNvSpPr txBox="1"/>
          <p:nvPr/>
        </p:nvSpPr>
        <p:spPr>
          <a:xfrm rot="0" flipH="0" flipV="0">
            <a:off x="3543300" y="2171700"/>
            <a:ext cx="123825" cy="114300"/>
          </a:xfrm>
          <a:prstGeom prst="rect"/>
        </p:spPr>
        <p:txBody>
          <a:bodyPr wrap="none" lIns="0" tIns="0" rIns="0" bIns="0"/>
          <a:p>
            <a:pPr>
              <a:lnSpc>
                <a:spcPct val="100000"/>
              </a:lnSpc>
            </a:pPr>
            <a:r>
              <a:rPr lang="en-US" sz="750" b="1">
                <a:solidFill>
                  <a:srgbClr val="E0641E"/>
                </a:solidFill>
                <a:latin typeface="Microsoft YaHei"/>
                <a:ea typeface="Microsoft YaHei"/>
              </a:rPr>
              <a:t>01</a:t>
            </a:r>
            <a:endParaRPr/>
          </a:p>
        </p:txBody>
      </p:sp>
      <p:sp>
        <p:nvSpPr>
          <p:cNvPr id="2200" name="" descr="{&quot;isTemplate&quot;:true,&quot;type&quot;:&quot;text&quot;}"/>
          <p:cNvSpPr txBox="1"/>
          <p:nvPr/>
        </p:nvSpPr>
        <p:spPr>
          <a:xfrm rot="0" flipH="0" flipV="0">
            <a:off x="3714750" y="2057400"/>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 xml:space="preserve">流程领域架构
</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核心业务循环</a:t>
            </a:r>
            <a:endParaRPr/>
          </a:p>
        </p:txBody>
      </p:sp>
      <p:sp>
        <p:nvSpPr>
          <p:cNvPr id="2201" name=""/>
          <p:cNvSpPr/>
          <p:nvPr/>
        </p:nvSpPr>
        <p:spPr>
          <a:xfrm rot="0" flipH="0" flipV="0">
            <a:off x="3457575" y="2590800"/>
            <a:ext cx="2524125" cy="647700"/>
          </a:xfrm>
          <a:prstGeom prst="roundRect">
            <a:avLst>
              <a:gd name="adj" fmla="val 4412"/>
            </a:avLst>
          </a:prstGeom>
          <a:solidFill>
            <a:srgbClr val="F7F7F8"/>
          </a:solidFill>
          <a:ln/>
        </p:spPr>
        <p:txBody>
          <a:bodyPr/>
          <a:p/>
        </p:txBody>
      </p:sp>
      <p:sp>
        <p:nvSpPr>
          <p:cNvPr id="2202" name="" descr="{&quot;isTemplate&quot;:true,&quot;type&quot;:&quot;text&quot;}"/>
          <p:cNvSpPr txBox="1"/>
          <p:nvPr/>
        </p:nvSpPr>
        <p:spPr>
          <a:xfrm rot="0" flipH="0" flipV="0">
            <a:off x="3543300" y="2857500"/>
            <a:ext cx="123825" cy="114300"/>
          </a:xfrm>
          <a:prstGeom prst="rect"/>
        </p:spPr>
        <p:txBody>
          <a:bodyPr wrap="none" lIns="0" tIns="0" rIns="0" bIns="0"/>
          <a:p>
            <a:pPr>
              <a:lnSpc>
                <a:spcPct val="100000"/>
              </a:lnSpc>
            </a:pPr>
            <a:r>
              <a:rPr lang="en-US" sz="750" b="1">
                <a:solidFill>
                  <a:srgbClr val="E0641E"/>
                </a:solidFill>
                <a:latin typeface="Microsoft YaHei"/>
                <a:ea typeface="Microsoft YaHei"/>
              </a:rPr>
              <a:t>02</a:t>
            </a:r>
            <a:endParaRPr/>
          </a:p>
        </p:txBody>
      </p:sp>
      <p:sp>
        <p:nvSpPr>
          <p:cNvPr id="2203" name="" descr="{&quot;isTemplate&quot;:true,&quot;type&quot;:&quot;text&quot;}"/>
          <p:cNvSpPr txBox="1"/>
          <p:nvPr/>
        </p:nvSpPr>
        <p:spPr>
          <a:xfrm rot="0" flipH="0" flipV="0">
            <a:off x="3714750" y="2752725"/>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业务蓝图到</a:t>
            </a:r>
            <a:r>
              <a:rPr lang="en-US" sz="825">
                <a:solidFill>
                  <a:srgbClr val="3A4050"/>
                </a:solidFill>
                <a:latin typeface="Microsoft YaHei"/>
                <a:ea typeface="Microsoft YaHei"/>
              </a:rPr>
              <a:t xml:space="preserve"> L4
</a:t>
            </a:r>
            <a:r>
              <a:rPr lang="zh-CN" sz="825">
                <a:solidFill>
                  <a:srgbClr val="3A4050"/>
                </a:solidFill>
                <a:latin typeface="Microsoft YaHei"/>
                <a:ea typeface="Microsoft YaHei"/>
              </a:rPr>
              <a:t>子流程清单</a:t>
            </a:r>
            <a:endParaRPr/>
          </a:p>
        </p:txBody>
      </p:sp>
      <p:sp>
        <p:nvSpPr>
          <p:cNvPr id="2204" name=""/>
          <p:cNvSpPr/>
          <p:nvPr/>
        </p:nvSpPr>
        <p:spPr>
          <a:xfrm rot="0" flipH="0" flipV="0">
            <a:off x="3457575" y="3276600"/>
            <a:ext cx="2524125" cy="657225"/>
          </a:xfrm>
          <a:prstGeom prst="roundRect">
            <a:avLst>
              <a:gd name="adj" fmla="val 4348"/>
            </a:avLst>
          </a:prstGeom>
          <a:solidFill>
            <a:srgbClr val="F7F7F8"/>
          </a:solidFill>
          <a:ln/>
        </p:spPr>
        <p:txBody>
          <a:bodyPr/>
          <a:p/>
        </p:txBody>
      </p:sp>
      <p:sp>
        <p:nvSpPr>
          <p:cNvPr id="2205" name="" descr="{&quot;isTemplate&quot;:true,&quot;type&quot;:&quot;text&quot;}"/>
          <p:cNvSpPr txBox="1"/>
          <p:nvPr/>
        </p:nvSpPr>
        <p:spPr>
          <a:xfrm rot="0" flipH="0" flipV="0">
            <a:off x="3543300" y="3552825"/>
            <a:ext cx="123825" cy="114300"/>
          </a:xfrm>
          <a:prstGeom prst="rect"/>
        </p:spPr>
        <p:txBody>
          <a:bodyPr wrap="none" lIns="0" tIns="0" rIns="0" bIns="0"/>
          <a:p>
            <a:pPr>
              <a:lnSpc>
                <a:spcPct val="100000"/>
              </a:lnSpc>
            </a:pPr>
            <a:r>
              <a:rPr lang="en-US" sz="750" b="1">
                <a:solidFill>
                  <a:srgbClr val="E0641E"/>
                </a:solidFill>
                <a:latin typeface="Microsoft YaHei"/>
                <a:ea typeface="Microsoft YaHei"/>
              </a:rPr>
              <a:t>03</a:t>
            </a:r>
            <a:endParaRPr/>
          </a:p>
        </p:txBody>
      </p:sp>
      <p:sp>
        <p:nvSpPr>
          <p:cNvPr id="2206" name="" descr="{&quot;isTemplate&quot;:true,&quot;type&quot;:&quot;text&quot;}"/>
          <p:cNvSpPr txBox="1"/>
          <p:nvPr/>
        </p:nvSpPr>
        <p:spPr>
          <a:xfrm rot="0" flipH="0" flipV="0">
            <a:off x="3714750" y="3438525"/>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数据四维度
到逻辑实体</a:t>
            </a:r>
            <a:endParaRPr/>
          </a:p>
        </p:txBody>
      </p:sp>
      <p:sp>
        <p:nvSpPr>
          <p:cNvPr id="2207" name=""/>
          <p:cNvSpPr/>
          <p:nvPr/>
        </p:nvSpPr>
        <p:spPr>
          <a:xfrm rot="0" flipH="0" flipV="0">
            <a:off x="3457575" y="3971925"/>
            <a:ext cx="2524125" cy="647700"/>
          </a:xfrm>
          <a:prstGeom prst="roundRect">
            <a:avLst>
              <a:gd name="adj" fmla="val 4412"/>
            </a:avLst>
          </a:prstGeom>
          <a:solidFill>
            <a:srgbClr val="F7F7F8"/>
          </a:solidFill>
          <a:ln/>
        </p:spPr>
        <p:txBody>
          <a:bodyPr/>
          <a:p/>
        </p:txBody>
      </p:sp>
      <p:sp>
        <p:nvSpPr>
          <p:cNvPr id="2208" name="" descr="{&quot;isTemplate&quot;:true,&quot;type&quot;:&quot;text&quot;}"/>
          <p:cNvSpPr txBox="1"/>
          <p:nvPr/>
        </p:nvSpPr>
        <p:spPr>
          <a:xfrm rot="0" flipH="0" flipV="0">
            <a:off x="3543300" y="4238625"/>
            <a:ext cx="123825" cy="114300"/>
          </a:xfrm>
          <a:prstGeom prst="rect"/>
        </p:spPr>
        <p:txBody>
          <a:bodyPr wrap="none" lIns="0" tIns="0" rIns="0" bIns="0"/>
          <a:p>
            <a:pPr>
              <a:lnSpc>
                <a:spcPct val="100000"/>
              </a:lnSpc>
            </a:pPr>
            <a:r>
              <a:rPr lang="en-US" sz="750" b="1">
                <a:solidFill>
                  <a:srgbClr val="E0641E"/>
                </a:solidFill>
                <a:latin typeface="Microsoft YaHei"/>
                <a:ea typeface="Microsoft YaHei"/>
              </a:rPr>
              <a:t>04</a:t>
            </a:r>
            <a:endParaRPr/>
          </a:p>
        </p:txBody>
      </p:sp>
      <p:sp>
        <p:nvSpPr>
          <p:cNvPr id="2209" name="" descr="{&quot;isTemplate&quot;:true,&quot;type&quot;:&quot;text&quot;}"/>
          <p:cNvSpPr txBox="1"/>
          <p:nvPr/>
        </p:nvSpPr>
        <p:spPr>
          <a:xfrm rot="0" flipH="0" flipV="0">
            <a:off x="3714750" y="4133850"/>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应用分域分层
到功能模块</a:t>
            </a:r>
            <a:endParaRPr/>
          </a:p>
        </p:txBody>
      </p:sp>
      <p:sp>
        <p:nvSpPr>
          <p:cNvPr id="2210" name=""/>
          <p:cNvSpPr/>
          <p:nvPr/>
        </p:nvSpPr>
        <p:spPr>
          <a:xfrm rot="0" flipH="0" flipV="0">
            <a:off x="3457575" y="4657725"/>
            <a:ext cx="2524125" cy="323850"/>
          </a:xfrm>
          <a:prstGeom prst="roundRect">
            <a:avLst>
              <a:gd name="adj" fmla="val 8824"/>
            </a:avLst>
          </a:prstGeom>
          <a:solidFill>
            <a:srgbClr val="E0641E"/>
          </a:solidFill>
          <a:ln/>
        </p:spPr>
        <p:txBody>
          <a:bodyPr/>
          <a:p/>
        </p:txBody>
      </p:sp>
      <p:sp>
        <p:nvSpPr>
          <p:cNvPr id="2211" name="" descr="{&quot;isTemplate&quot;:true,&quot;type&quot;:&quot;text&quot;}"/>
          <p:cNvSpPr txBox="1"/>
          <p:nvPr/>
        </p:nvSpPr>
        <p:spPr>
          <a:xfrm rot="0" flipH="0" flipV="0">
            <a:off x="3543300" y="4686300"/>
            <a:ext cx="2352675" cy="133350"/>
          </a:xfrm>
          <a:prstGeom prst="rect"/>
        </p:spPr>
        <p:txBody>
          <a:bodyPr wrap="none" lIns="0" tIns="0" rIns="0" bIns="0"/>
          <a:p>
            <a:pPr>
              <a:lnSpc>
                <a:spcPct val="100000"/>
              </a:lnSpc>
            </a:pPr>
            <a:r>
              <a:rPr lang="zh-CN" sz="863" b="1">
                <a:solidFill>
                  <a:srgbClr val="FFFFFF"/>
                </a:solidFill>
                <a:latin typeface="Microsoft YaHei"/>
                <a:ea typeface="Microsoft YaHei"/>
              </a:rPr>
              <a:t>收口交付物</a:t>
            </a:r>
            <a:endParaRPr/>
          </a:p>
        </p:txBody>
      </p:sp>
      <p:sp>
        <p:nvSpPr>
          <p:cNvPr id="2212" name="" descr="{&quot;isTemplate&quot;:true,&quot;type&quot;:&quot;text&quot;}"/>
          <p:cNvSpPr txBox="1"/>
          <p:nvPr/>
        </p:nvSpPr>
        <p:spPr>
          <a:xfrm rot="0" flipH="0" flipV="0">
            <a:off x="3543300" y="4838700"/>
            <a:ext cx="2352675" cy="114300"/>
          </a:xfrm>
          <a:prstGeom prst="rect"/>
        </p:spPr>
        <p:txBody>
          <a:bodyPr wrap="none" lIns="0" tIns="0" rIns="0" bIns="0"/>
          <a:p>
            <a:pPr>
              <a:lnSpc>
                <a:spcPct val="100000"/>
              </a:lnSpc>
            </a:pPr>
            <a:r>
              <a:rPr lang="en-US" sz="750">
                <a:solidFill>
                  <a:srgbClr val="FFFFFF">
                    <a:alpha val="88000"/>
                  </a:srgbClr>
                </a:solidFill>
                <a:latin typeface="Microsoft YaHei"/>
                <a:ea typeface="Microsoft YaHei"/>
              </a:rPr>
              <a:t xml:space="preserve">② </a:t>
            </a:r>
            <a:r>
              <a:rPr lang="zh-CN" sz="750">
                <a:solidFill>
                  <a:srgbClr val="FFFFFF">
                    <a:alpha val="88000"/>
                  </a:srgbClr>
                </a:solidFill>
                <a:latin typeface="Microsoft YaHei"/>
                <a:ea typeface="Microsoft YaHei"/>
              </a:rPr>
              <a:t>业务蓝图设计</a:t>
            </a:r>
            <a:endParaRPr/>
          </a:p>
        </p:txBody>
      </p:sp>
      <p:sp>
        <p:nvSpPr>
          <p:cNvPr id="2213" name="" descr="{&quot;isTemplate&quot;:true,&quot;type&quot;:&quot;text&quot;}"/>
          <p:cNvSpPr txBox="1"/>
          <p:nvPr/>
        </p:nvSpPr>
        <p:spPr>
          <a:xfrm rot="0" flipH="0" flipV="0">
            <a:off x="3457575" y="5019675"/>
            <a:ext cx="2524125"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AI </a:t>
            </a:r>
            <a:r>
              <a:rPr lang="zh-CN" sz="750">
                <a:solidFill>
                  <a:srgbClr val="5A6070"/>
                </a:solidFill>
                <a:latin typeface="Microsoft YaHei"/>
                <a:ea typeface="Microsoft YaHei"/>
              </a:rPr>
              <a:t>场景初识清单</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优先级</a:t>
            </a:r>
            <a:endParaRPr/>
          </a:p>
        </p:txBody>
      </p:sp>
      <p:sp>
        <p:nvSpPr>
          <p:cNvPr id="2214" name=""/>
          <p:cNvSpPr/>
          <p:nvPr/>
        </p:nvSpPr>
        <p:spPr>
          <a:xfrm rot="0" flipH="0" flipV="0">
            <a:off x="6115050" y="1619250"/>
            <a:ext cx="2714625" cy="3667125"/>
          </a:xfrm>
          <a:prstGeom prst="roundRect">
            <a:avLst>
              <a:gd name="adj" fmla="val 1404"/>
            </a:avLst>
          </a:prstGeom>
          <a:ln/>
        </p:spPr>
        <p:txBody>
          <a:bodyPr/>
          <a:p/>
        </p:txBody>
      </p:sp>
      <p:sp>
        <p:nvSpPr>
          <p:cNvPr id="2215" name=""/>
          <p:cNvSpPr/>
          <p:nvPr/>
        </p:nvSpPr>
        <p:spPr>
          <a:xfrm rot="0" flipH="0" flipV="0">
            <a:off x="6115050" y="1619250"/>
            <a:ext cx="2714625" cy="3667125"/>
          </a:xfrm>
          <a:custGeom>
            <a:pathLst>
              <a:path w="285" h="385">
                <a:moveTo>
                  <a:pt x="281" y="0"/>
                </a:moveTo>
                <a:cubicBezTo>
                  <a:pt x="283" y="0"/>
                  <a:pt x="285" y="2"/>
                  <a:pt x="285" y="4"/>
                </a:cubicBezTo>
                <a:cubicBezTo>
                  <a:pt x="285" y="3"/>
                  <a:pt x="284" y="3"/>
                  <a:pt x="284" y="3"/>
                </a:cubicBezTo>
                <a:lnTo>
                  <a:pt x="1" y="3"/>
                </a:lnTo>
                <a:cubicBezTo>
                  <a:pt x="1" y="3"/>
                  <a:pt x="0" y="3"/>
                  <a:pt x="0" y="4"/>
                </a:cubicBezTo>
                <a:cubicBezTo>
                  <a:pt x="0" y="2"/>
                  <a:pt x="2" y="0"/>
                  <a:pt x="4" y="0"/>
                </a:cubicBezTo>
                <a:lnTo>
                  <a:pt x="281" y="0"/>
                </a:lnTo>
                <a:close/>
              </a:path>
            </a:pathLst>
          </a:custGeom>
          <a:solidFill>
            <a:srgbClr val="C43A17"/>
          </a:solidFill>
          <a:ln/>
        </p:spPr>
        <p:txBody>
          <a:bodyPr/>
          <a:p/>
        </p:txBody>
      </p:sp>
      <p:sp>
        <p:nvSpPr>
          <p:cNvPr id="2216" name="" descr="{&quot;isTemplate&quot;:true,&quot;type&quot;:&quot;text&quot;}"/>
          <p:cNvSpPr txBox="1"/>
          <p:nvPr/>
        </p:nvSpPr>
        <p:spPr>
          <a:xfrm rot="0" flipH="0" flipV="0">
            <a:off x="6210300" y="1704975"/>
            <a:ext cx="2524125" cy="133350"/>
          </a:xfrm>
          <a:prstGeom prst="rect"/>
        </p:spPr>
        <p:txBody>
          <a:bodyPr wrap="none" lIns="0" tIns="0" rIns="0" bIns="0"/>
          <a:p>
            <a:pPr>
              <a:lnSpc>
                <a:spcPct val="100000"/>
              </a:lnSpc>
            </a:pPr>
            <a:r>
              <a:rPr lang="zh-CN" sz="863">
                <a:solidFill>
                  <a:srgbClr val="8A8F99"/>
                </a:solidFill>
                <a:latin typeface="Microsoft YaHei"/>
                <a:ea typeface="Microsoft YaHei"/>
              </a:rPr>
              <a:t>阶段内动作</a:t>
            </a:r>
            <a:endParaRPr/>
          </a:p>
        </p:txBody>
      </p:sp>
      <p:sp>
        <p:nvSpPr>
          <p:cNvPr id="2217" name=""/>
          <p:cNvSpPr/>
          <p:nvPr/>
        </p:nvSpPr>
        <p:spPr>
          <a:xfrm rot="0" flipH="0" flipV="0">
            <a:off x="6210300" y="1895475"/>
            <a:ext cx="2524125" cy="657225"/>
          </a:xfrm>
          <a:prstGeom prst="roundRect">
            <a:avLst>
              <a:gd name="adj" fmla="val 4348"/>
            </a:avLst>
          </a:prstGeom>
          <a:solidFill>
            <a:srgbClr val="F7F7F8"/>
          </a:solidFill>
          <a:ln/>
        </p:spPr>
        <p:txBody>
          <a:bodyPr/>
          <a:p/>
        </p:txBody>
      </p:sp>
      <p:sp>
        <p:nvSpPr>
          <p:cNvPr id="2218" name="" descr="{&quot;isTemplate&quot;:true,&quot;type&quot;:&quot;text&quot;}"/>
          <p:cNvSpPr txBox="1"/>
          <p:nvPr/>
        </p:nvSpPr>
        <p:spPr>
          <a:xfrm rot="0" flipH="0" flipV="0">
            <a:off x="6296025" y="2171700"/>
            <a:ext cx="123825" cy="114300"/>
          </a:xfrm>
          <a:prstGeom prst="rect"/>
        </p:spPr>
        <p:txBody>
          <a:bodyPr wrap="none" lIns="0" tIns="0" rIns="0" bIns="0"/>
          <a:p>
            <a:pPr>
              <a:lnSpc>
                <a:spcPct val="100000"/>
              </a:lnSpc>
            </a:pPr>
            <a:r>
              <a:rPr lang="en-US" sz="750" b="1">
                <a:solidFill>
                  <a:srgbClr val="C43A17"/>
                </a:solidFill>
                <a:latin typeface="Microsoft YaHei"/>
                <a:ea typeface="Microsoft YaHei"/>
              </a:rPr>
              <a:t>01</a:t>
            </a:r>
            <a:endParaRPr/>
          </a:p>
        </p:txBody>
      </p:sp>
      <p:sp>
        <p:nvSpPr>
          <p:cNvPr id="2219" name="" descr="{&quot;isTemplate&quot;:true,&quot;type&quot;:&quot;text&quot;}"/>
          <p:cNvSpPr txBox="1"/>
          <p:nvPr/>
        </p:nvSpPr>
        <p:spPr>
          <a:xfrm rot="0" flipH="0" flipV="0">
            <a:off x="6467475" y="2057400"/>
            <a:ext cx="2181225" cy="333375"/>
          </a:xfrm>
          <a:prstGeom prst="rect"/>
        </p:spPr>
        <p:txBody>
          <a:bodyPr wrap="none" lIns="0" tIns="0" rIns="0" bIns="0"/>
          <a:p>
            <a:pPr>
              <a:lnSpc>
                <a:spcPct val="130000"/>
              </a:lnSpc>
            </a:pPr>
            <a:r>
              <a:rPr lang="en-US" sz="825">
                <a:solidFill>
                  <a:srgbClr val="3A4050"/>
                </a:solidFill>
                <a:latin typeface="Microsoft YaHei"/>
                <a:ea typeface="Microsoft YaHei"/>
              </a:rPr>
              <a:t xml:space="preserve">L5-L6 </a:t>
            </a:r>
            <a:r>
              <a:rPr lang="zh-CN" sz="825">
                <a:solidFill>
                  <a:srgbClr val="3A4050"/>
                </a:solidFill>
                <a:latin typeface="Microsoft YaHei"/>
                <a:ea typeface="Microsoft YaHei"/>
              </a:rPr>
              <a:t>活动
角色与绩效指标</a:t>
            </a:r>
            <a:endParaRPr/>
          </a:p>
        </p:txBody>
      </p:sp>
      <p:sp>
        <p:nvSpPr>
          <p:cNvPr id="2220" name=""/>
          <p:cNvSpPr/>
          <p:nvPr/>
        </p:nvSpPr>
        <p:spPr>
          <a:xfrm rot="0" flipH="0" flipV="0">
            <a:off x="6210300" y="2590800"/>
            <a:ext cx="2524125" cy="647700"/>
          </a:xfrm>
          <a:prstGeom prst="roundRect">
            <a:avLst>
              <a:gd name="adj" fmla="val 4412"/>
            </a:avLst>
          </a:prstGeom>
          <a:solidFill>
            <a:srgbClr val="F7F7F8"/>
          </a:solidFill>
          <a:ln/>
        </p:spPr>
        <p:txBody>
          <a:bodyPr/>
          <a:p/>
        </p:txBody>
      </p:sp>
      <p:sp>
        <p:nvSpPr>
          <p:cNvPr id="2221" name="" descr="{&quot;isTemplate&quot;:true,&quot;type&quot;:&quot;text&quot;}"/>
          <p:cNvSpPr txBox="1"/>
          <p:nvPr/>
        </p:nvSpPr>
        <p:spPr>
          <a:xfrm rot="0" flipH="0" flipV="0">
            <a:off x="6296025" y="2857500"/>
            <a:ext cx="123825" cy="114300"/>
          </a:xfrm>
          <a:prstGeom prst="rect"/>
        </p:spPr>
        <p:txBody>
          <a:bodyPr wrap="none" lIns="0" tIns="0" rIns="0" bIns="0"/>
          <a:p>
            <a:pPr>
              <a:lnSpc>
                <a:spcPct val="100000"/>
              </a:lnSpc>
            </a:pPr>
            <a:r>
              <a:rPr lang="en-US" sz="750" b="1">
                <a:solidFill>
                  <a:srgbClr val="C43A17"/>
                </a:solidFill>
                <a:latin typeface="Microsoft YaHei"/>
                <a:ea typeface="Microsoft YaHei"/>
              </a:rPr>
              <a:t>02</a:t>
            </a:r>
            <a:endParaRPr/>
          </a:p>
        </p:txBody>
      </p:sp>
      <p:sp>
        <p:nvSpPr>
          <p:cNvPr id="2222" name="" descr="{&quot;isTemplate&quot;:true,&quot;type&quot;:&quot;text&quot;}"/>
          <p:cNvSpPr txBox="1"/>
          <p:nvPr/>
        </p:nvSpPr>
        <p:spPr>
          <a:xfrm rot="0" flipH="0" flipV="0">
            <a:off x="6467475" y="2752725"/>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 xml:space="preserve">逻辑实体属性
</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数据标准代码</a:t>
            </a:r>
            <a:endParaRPr/>
          </a:p>
        </p:txBody>
      </p:sp>
      <p:sp>
        <p:nvSpPr>
          <p:cNvPr id="2223" name=""/>
          <p:cNvSpPr/>
          <p:nvPr/>
        </p:nvSpPr>
        <p:spPr>
          <a:xfrm rot="0" flipH="0" flipV="0">
            <a:off x="6210300" y="3276600"/>
            <a:ext cx="2524125" cy="657225"/>
          </a:xfrm>
          <a:prstGeom prst="roundRect">
            <a:avLst>
              <a:gd name="adj" fmla="val 4348"/>
            </a:avLst>
          </a:prstGeom>
          <a:solidFill>
            <a:srgbClr val="F7F7F8"/>
          </a:solidFill>
          <a:ln/>
        </p:spPr>
        <p:txBody>
          <a:bodyPr/>
          <a:p/>
        </p:txBody>
      </p:sp>
      <p:sp>
        <p:nvSpPr>
          <p:cNvPr id="2224" name="" descr="{&quot;isTemplate&quot;:true,&quot;type&quot;:&quot;text&quot;}"/>
          <p:cNvSpPr txBox="1"/>
          <p:nvPr/>
        </p:nvSpPr>
        <p:spPr>
          <a:xfrm rot="0" flipH="0" flipV="0">
            <a:off x="6296025" y="3552825"/>
            <a:ext cx="123825" cy="114300"/>
          </a:xfrm>
          <a:prstGeom prst="rect"/>
        </p:spPr>
        <p:txBody>
          <a:bodyPr wrap="none" lIns="0" tIns="0" rIns="0" bIns="0"/>
          <a:p>
            <a:pPr>
              <a:lnSpc>
                <a:spcPct val="100000"/>
              </a:lnSpc>
            </a:pPr>
            <a:r>
              <a:rPr lang="en-US" sz="750" b="1">
                <a:solidFill>
                  <a:srgbClr val="C43A17"/>
                </a:solidFill>
                <a:latin typeface="Microsoft YaHei"/>
                <a:ea typeface="Microsoft YaHei"/>
              </a:rPr>
              <a:t>03</a:t>
            </a:r>
            <a:endParaRPr/>
          </a:p>
        </p:txBody>
      </p:sp>
      <p:sp>
        <p:nvSpPr>
          <p:cNvPr id="2225" name="" descr="{&quot;isTemplate&quot;:true,&quot;type&quot;:&quot;text&quot;}"/>
          <p:cNvSpPr txBox="1"/>
          <p:nvPr/>
        </p:nvSpPr>
        <p:spPr>
          <a:xfrm rot="0" flipH="0" flipV="0">
            <a:off x="6467475" y="3438525"/>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应用服务</a:t>
            </a:r>
            <a:r>
              <a:rPr lang="en-US" sz="825">
                <a:solidFill>
                  <a:srgbClr val="3A4050"/>
                </a:solidFill>
                <a:latin typeface="Microsoft YaHei"/>
                <a:ea typeface="Microsoft YaHei"/>
              </a:rPr>
              <a:t>/</a:t>
            </a:r>
            <a:r>
              <a:rPr lang="zh-CN" sz="825">
                <a:solidFill>
                  <a:srgbClr val="3A4050"/>
                </a:solidFill>
                <a:latin typeface="Microsoft YaHei"/>
                <a:ea typeface="Microsoft YaHei"/>
              </a:rPr>
              <a:t xml:space="preserve">特性
</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子特性</a:t>
            </a:r>
            <a:endParaRPr/>
          </a:p>
        </p:txBody>
      </p:sp>
      <p:sp>
        <p:nvSpPr>
          <p:cNvPr id="2226" name=""/>
          <p:cNvSpPr/>
          <p:nvPr/>
        </p:nvSpPr>
        <p:spPr>
          <a:xfrm rot="0" flipH="0" flipV="0">
            <a:off x="6210300" y="3971925"/>
            <a:ext cx="2524125" cy="647700"/>
          </a:xfrm>
          <a:prstGeom prst="roundRect">
            <a:avLst>
              <a:gd name="adj" fmla="val 4412"/>
            </a:avLst>
          </a:prstGeom>
          <a:solidFill>
            <a:srgbClr val="F7F7F8"/>
          </a:solidFill>
          <a:ln/>
        </p:spPr>
        <p:txBody>
          <a:bodyPr/>
          <a:p/>
        </p:txBody>
      </p:sp>
      <p:sp>
        <p:nvSpPr>
          <p:cNvPr id="2227" name="" descr="{&quot;isTemplate&quot;:true,&quot;type&quot;:&quot;text&quot;}"/>
          <p:cNvSpPr txBox="1"/>
          <p:nvPr/>
        </p:nvSpPr>
        <p:spPr>
          <a:xfrm rot="0" flipH="0" flipV="0">
            <a:off x="6296025" y="4238625"/>
            <a:ext cx="123825" cy="114300"/>
          </a:xfrm>
          <a:prstGeom prst="rect"/>
        </p:spPr>
        <p:txBody>
          <a:bodyPr wrap="none" lIns="0" tIns="0" rIns="0" bIns="0"/>
          <a:p>
            <a:pPr>
              <a:lnSpc>
                <a:spcPct val="100000"/>
              </a:lnSpc>
            </a:pPr>
            <a:r>
              <a:rPr lang="en-US" sz="750" b="1">
                <a:solidFill>
                  <a:srgbClr val="C43A17"/>
                </a:solidFill>
                <a:latin typeface="Microsoft YaHei"/>
                <a:ea typeface="Microsoft YaHei"/>
              </a:rPr>
              <a:t>04</a:t>
            </a:r>
            <a:endParaRPr/>
          </a:p>
        </p:txBody>
      </p:sp>
      <p:sp>
        <p:nvSpPr>
          <p:cNvPr id="2228" name="" descr="{&quot;isTemplate&quot;:true,&quot;type&quot;:&quot;text&quot;}"/>
          <p:cNvSpPr txBox="1"/>
          <p:nvPr/>
        </p:nvSpPr>
        <p:spPr>
          <a:xfrm rot="0" flipH="0" flipV="0">
            <a:off x="6467475" y="4133850"/>
            <a:ext cx="2181225" cy="333375"/>
          </a:xfrm>
          <a:prstGeom prst="rect"/>
        </p:spPr>
        <p:txBody>
          <a:bodyPr wrap="none" lIns="0" tIns="0" rIns="0" bIns="0"/>
          <a:p>
            <a:pPr>
              <a:lnSpc>
                <a:spcPct val="130000"/>
              </a:lnSpc>
            </a:pPr>
            <a:r>
              <a:rPr lang="en-US" sz="825">
                <a:solidFill>
                  <a:srgbClr val="3A4050"/>
                </a:solidFill>
                <a:latin typeface="Microsoft YaHei"/>
                <a:ea typeface="Microsoft YaHei"/>
              </a:rPr>
              <a:t xml:space="preserve">AI </a:t>
            </a:r>
            <a:r>
              <a:rPr lang="zh-CN" sz="825">
                <a:solidFill>
                  <a:srgbClr val="3A4050"/>
                </a:solidFill>
                <a:latin typeface="Microsoft YaHei"/>
                <a:ea typeface="Microsoft YaHei"/>
              </a:rPr>
              <a:t xml:space="preserve">场景细化
</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需求基线冻结</a:t>
            </a:r>
            <a:endParaRPr/>
          </a:p>
        </p:txBody>
      </p:sp>
      <p:sp>
        <p:nvSpPr>
          <p:cNvPr id="2229" name=""/>
          <p:cNvSpPr/>
          <p:nvPr/>
        </p:nvSpPr>
        <p:spPr>
          <a:xfrm rot="0" flipH="0" flipV="0">
            <a:off x="6210300" y="4657725"/>
            <a:ext cx="2524125" cy="323850"/>
          </a:xfrm>
          <a:prstGeom prst="roundRect">
            <a:avLst>
              <a:gd name="adj" fmla="val 8824"/>
            </a:avLst>
          </a:prstGeom>
          <a:solidFill>
            <a:srgbClr val="C43A17"/>
          </a:solidFill>
          <a:ln/>
        </p:spPr>
        <p:txBody>
          <a:bodyPr/>
          <a:p/>
        </p:txBody>
      </p:sp>
      <p:sp>
        <p:nvSpPr>
          <p:cNvPr id="2230" name="" descr="{&quot;isTemplate&quot;:true,&quot;type&quot;:&quot;text&quot;}"/>
          <p:cNvSpPr txBox="1"/>
          <p:nvPr/>
        </p:nvSpPr>
        <p:spPr>
          <a:xfrm rot="0" flipH="0" flipV="0">
            <a:off x="6296025" y="4686300"/>
            <a:ext cx="2352675" cy="133350"/>
          </a:xfrm>
          <a:prstGeom prst="rect"/>
        </p:spPr>
        <p:txBody>
          <a:bodyPr wrap="none" lIns="0" tIns="0" rIns="0" bIns="0"/>
          <a:p>
            <a:pPr>
              <a:lnSpc>
                <a:spcPct val="100000"/>
              </a:lnSpc>
            </a:pPr>
            <a:r>
              <a:rPr lang="zh-CN" sz="863" b="1">
                <a:solidFill>
                  <a:srgbClr val="FFFFFF"/>
                </a:solidFill>
                <a:latin typeface="Microsoft YaHei"/>
                <a:ea typeface="Microsoft YaHei"/>
              </a:rPr>
              <a:t>收口交付物</a:t>
            </a:r>
            <a:endParaRPr/>
          </a:p>
        </p:txBody>
      </p:sp>
      <p:sp>
        <p:nvSpPr>
          <p:cNvPr id="2231" name="" descr="{&quot;isTemplate&quot;:true,&quot;type&quot;:&quot;text&quot;}"/>
          <p:cNvSpPr txBox="1"/>
          <p:nvPr/>
        </p:nvSpPr>
        <p:spPr>
          <a:xfrm rot="0" flipH="0" flipV="0">
            <a:off x="6296025" y="4838700"/>
            <a:ext cx="2352675" cy="114300"/>
          </a:xfrm>
          <a:prstGeom prst="rect"/>
        </p:spPr>
        <p:txBody>
          <a:bodyPr wrap="none" lIns="0" tIns="0" rIns="0" bIns="0"/>
          <a:p>
            <a:pPr>
              <a:lnSpc>
                <a:spcPct val="100000"/>
              </a:lnSpc>
            </a:pPr>
            <a:r>
              <a:rPr lang="en-US" sz="750">
                <a:solidFill>
                  <a:srgbClr val="FFFFFF">
                    <a:alpha val="88000"/>
                  </a:srgbClr>
                </a:solidFill>
                <a:latin typeface="Microsoft YaHei"/>
                <a:ea typeface="Microsoft YaHei"/>
              </a:rPr>
              <a:t xml:space="preserve">③④ </a:t>
            </a:r>
            <a:r>
              <a:rPr lang="zh-CN" sz="750">
                <a:solidFill>
                  <a:srgbClr val="FFFFFF">
                    <a:alpha val="88000"/>
                  </a:srgbClr>
                </a:solidFill>
                <a:latin typeface="Microsoft YaHei"/>
                <a:ea typeface="Microsoft YaHei"/>
              </a:rPr>
              <a:t>架构详细设计</a:t>
            </a:r>
            <a:endParaRPr/>
          </a:p>
        </p:txBody>
      </p:sp>
      <p:sp>
        <p:nvSpPr>
          <p:cNvPr id="2232" name="" descr="{&quot;isTemplate&quot;:true,&quot;type&quot;:&quot;text&quot;}"/>
          <p:cNvSpPr txBox="1"/>
          <p:nvPr/>
        </p:nvSpPr>
        <p:spPr>
          <a:xfrm rot="0" flipH="0" flipV="0">
            <a:off x="6210300" y="5019675"/>
            <a:ext cx="2524125"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⑤⑥ </a:t>
            </a:r>
            <a:r>
              <a:rPr lang="zh-CN" sz="750">
                <a:solidFill>
                  <a:srgbClr val="5A6070"/>
                </a:solidFill>
                <a:latin typeface="Microsoft YaHei"/>
                <a:ea typeface="Microsoft YaHei"/>
              </a:rPr>
              <a:t>需求规格说明书</a:t>
            </a:r>
            <a:r>
              <a:rPr lang="en-US" sz="750">
                <a:solidFill>
                  <a:srgbClr val="5A6070"/>
                </a:solidFill>
                <a:latin typeface="Microsoft YaHei"/>
                <a:ea typeface="Microsoft YaHei"/>
              </a:rPr>
              <a:t>/</a:t>
            </a:r>
            <a:r>
              <a:rPr lang="zh-CN" sz="750">
                <a:solidFill>
                  <a:srgbClr val="5A6070"/>
                </a:solidFill>
                <a:latin typeface="Microsoft YaHei"/>
                <a:ea typeface="Microsoft YaHei"/>
              </a:rPr>
              <a:t>清单</a:t>
            </a:r>
            <a:endParaRPr/>
          </a:p>
        </p:txBody>
      </p:sp>
      <p:sp>
        <p:nvSpPr>
          <p:cNvPr id="2233" name=""/>
          <p:cNvSpPr/>
          <p:nvPr/>
        </p:nvSpPr>
        <p:spPr>
          <a:xfrm rot="0" flipH="0" flipV="0">
            <a:off x="8867775" y="1619250"/>
            <a:ext cx="2714625" cy="3667125"/>
          </a:xfrm>
          <a:prstGeom prst="roundRect">
            <a:avLst>
              <a:gd name="adj" fmla="val 1404"/>
            </a:avLst>
          </a:prstGeom>
          <a:ln/>
        </p:spPr>
        <p:txBody>
          <a:bodyPr/>
          <a:p/>
        </p:txBody>
      </p:sp>
      <p:sp>
        <p:nvSpPr>
          <p:cNvPr id="2234" name=""/>
          <p:cNvSpPr/>
          <p:nvPr/>
        </p:nvSpPr>
        <p:spPr>
          <a:xfrm rot="0" flipH="0" flipV="0">
            <a:off x="8867775" y="1619250"/>
            <a:ext cx="2714625" cy="3667125"/>
          </a:xfrm>
          <a:custGeom>
            <a:pathLst>
              <a:path w="285" h="385">
                <a:moveTo>
                  <a:pt x="281" y="0"/>
                </a:moveTo>
                <a:cubicBezTo>
                  <a:pt x="283" y="0"/>
                  <a:pt x="285" y="2"/>
                  <a:pt x="285" y="4"/>
                </a:cubicBezTo>
                <a:cubicBezTo>
                  <a:pt x="285" y="3"/>
                  <a:pt x="284" y="3"/>
                  <a:pt x="284" y="3"/>
                </a:cubicBezTo>
                <a:lnTo>
                  <a:pt x="1" y="3"/>
                </a:lnTo>
                <a:cubicBezTo>
                  <a:pt x="1" y="3"/>
                  <a:pt x="0" y="3"/>
                  <a:pt x="0" y="4"/>
                </a:cubicBezTo>
                <a:cubicBezTo>
                  <a:pt x="0" y="2"/>
                  <a:pt x="2" y="0"/>
                  <a:pt x="4" y="0"/>
                </a:cubicBezTo>
                <a:lnTo>
                  <a:pt x="281" y="0"/>
                </a:lnTo>
                <a:close/>
              </a:path>
            </a:pathLst>
          </a:custGeom>
          <a:solidFill>
            <a:srgbClr val="9E3410"/>
          </a:solidFill>
          <a:ln/>
        </p:spPr>
        <p:txBody>
          <a:bodyPr/>
          <a:p/>
        </p:txBody>
      </p:sp>
      <p:sp>
        <p:nvSpPr>
          <p:cNvPr id="2235" name="" descr="{&quot;isTemplate&quot;:true,&quot;type&quot;:&quot;text&quot;}"/>
          <p:cNvSpPr txBox="1"/>
          <p:nvPr/>
        </p:nvSpPr>
        <p:spPr>
          <a:xfrm rot="0" flipH="0" flipV="0">
            <a:off x="8963025" y="1704975"/>
            <a:ext cx="2524125" cy="133350"/>
          </a:xfrm>
          <a:prstGeom prst="rect"/>
        </p:spPr>
        <p:txBody>
          <a:bodyPr wrap="none" lIns="0" tIns="0" rIns="0" bIns="0"/>
          <a:p>
            <a:pPr>
              <a:lnSpc>
                <a:spcPct val="100000"/>
              </a:lnSpc>
            </a:pPr>
            <a:r>
              <a:rPr lang="zh-CN" sz="863">
                <a:solidFill>
                  <a:srgbClr val="8A8F99"/>
                </a:solidFill>
                <a:latin typeface="Microsoft YaHei"/>
                <a:ea typeface="Microsoft YaHei"/>
              </a:rPr>
              <a:t>阶段内动作</a:t>
            </a:r>
            <a:endParaRPr/>
          </a:p>
        </p:txBody>
      </p:sp>
      <p:sp>
        <p:nvSpPr>
          <p:cNvPr id="2236" name=""/>
          <p:cNvSpPr/>
          <p:nvPr/>
        </p:nvSpPr>
        <p:spPr>
          <a:xfrm rot="0" flipH="0" flipV="0">
            <a:off x="8963025" y="1895475"/>
            <a:ext cx="2524125" cy="657225"/>
          </a:xfrm>
          <a:prstGeom prst="roundRect">
            <a:avLst>
              <a:gd name="adj" fmla="val 4348"/>
            </a:avLst>
          </a:prstGeom>
          <a:solidFill>
            <a:srgbClr val="F7F7F8"/>
          </a:solidFill>
          <a:ln/>
        </p:spPr>
        <p:txBody>
          <a:bodyPr/>
          <a:p/>
        </p:txBody>
      </p:sp>
      <p:sp>
        <p:nvSpPr>
          <p:cNvPr id="2237" name="" descr="{&quot;isTemplate&quot;:true,&quot;type&quot;:&quot;text&quot;}"/>
          <p:cNvSpPr txBox="1"/>
          <p:nvPr/>
        </p:nvSpPr>
        <p:spPr>
          <a:xfrm rot="0" flipH="0" flipV="0">
            <a:off x="9048750" y="2171700"/>
            <a:ext cx="123825" cy="114300"/>
          </a:xfrm>
          <a:prstGeom prst="rect"/>
        </p:spPr>
        <p:txBody>
          <a:bodyPr wrap="none" lIns="0" tIns="0" rIns="0" bIns="0"/>
          <a:p>
            <a:pPr>
              <a:lnSpc>
                <a:spcPct val="100000"/>
              </a:lnSpc>
            </a:pPr>
            <a:r>
              <a:rPr lang="en-US" sz="750" b="1">
                <a:solidFill>
                  <a:srgbClr val="9E3410"/>
                </a:solidFill>
                <a:latin typeface="Microsoft YaHei"/>
                <a:ea typeface="Microsoft YaHei"/>
              </a:rPr>
              <a:t>01</a:t>
            </a:r>
            <a:endParaRPr/>
          </a:p>
        </p:txBody>
      </p:sp>
      <p:sp>
        <p:nvSpPr>
          <p:cNvPr id="2238" name="" descr="{&quot;isTemplate&quot;:true,&quot;type&quot;:&quot;text&quot;}"/>
          <p:cNvSpPr txBox="1"/>
          <p:nvPr/>
        </p:nvSpPr>
        <p:spPr>
          <a:xfrm rot="0" flipH="0" flipV="0">
            <a:off x="9220200" y="2057400"/>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按优先级与
依赖关系分期</a:t>
            </a:r>
            <a:endParaRPr/>
          </a:p>
        </p:txBody>
      </p:sp>
      <p:sp>
        <p:nvSpPr>
          <p:cNvPr id="2239" name=""/>
          <p:cNvSpPr/>
          <p:nvPr/>
        </p:nvSpPr>
        <p:spPr>
          <a:xfrm rot="0" flipH="0" flipV="0">
            <a:off x="8963025" y="2590800"/>
            <a:ext cx="2524125" cy="647700"/>
          </a:xfrm>
          <a:prstGeom prst="roundRect">
            <a:avLst>
              <a:gd name="adj" fmla="val 4412"/>
            </a:avLst>
          </a:prstGeom>
          <a:solidFill>
            <a:srgbClr val="F7F7F8"/>
          </a:solidFill>
          <a:ln/>
        </p:spPr>
        <p:txBody>
          <a:bodyPr/>
          <a:p/>
        </p:txBody>
      </p:sp>
      <p:sp>
        <p:nvSpPr>
          <p:cNvPr id="2240" name="" descr="{&quot;isTemplate&quot;:true,&quot;type&quot;:&quot;text&quot;}"/>
          <p:cNvSpPr txBox="1"/>
          <p:nvPr/>
        </p:nvSpPr>
        <p:spPr>
          <a:xfrm rot="0" flipH="0" flipV="0">
            <a:off x="9048750" y="2857500"/>
            <a:ext cx="123825" cy="114300"/>
          </a:xfrm>
          <a:prstGeom prst="rect"/>
        </p:spPr>
        <p:txBody>
          <a:bodyPr wrap="none" lIns="0" tIns="0" rIns="0" bIns="0"/>
          <a:p>
            <a:pPr>
              <a:lnSpc>
                <a:spcPct val="100000"/>
              </a:lnSpc>
            </a:pPr>
            <a:r>
              <a:rPr lang="en-US" sz="750" b="1">
                <a:solidFill>
                  <a:srgbClr val="9E3410"/>
                </a:solidFill>
                <a:latin typeface="Microsoft YaHei"/>
                <a:ea typeface="Microsoft YaHei"/>
              </a:rPr>
              <a:t>02</a:t>
            </a:r>
            <a:endParaRPr/>
          </a:p>
        </p:txBody>
      </p:sp>
      <p:sp>
        <p:nvSpPr>
          <p:cNvPr id="2241" name="" descr="{&quot;isTemplate&quot;:true,&quot;type&quot;:&quot;text&quot;}"/>
          <p:cNvSpPr txBox="1"/>
          <p:nvPr/>
        </p:nvSpPr>
        <p:spPr>
          <a:xfrm rot="0" flipH="0" flipV="0">
            <a:off x="9220200" y="2752725"/>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关键路径
与里程碑</a:t>
            </a:r>
            <a:endParaRPr/>
          </a:p>
        </p:txBody>
      </p:sp>
      <p:sp>
        <p:nvSpPr>
          <p:cNvPr id="2242" name=""/>
          <p:cNvSpPr/>
          <p:nvPr/>
        </p:nvSpPr>
        <p:spPr>
          <a:xfrm rot="0" flipH="0" flipV="0">
            <a:off x="8963025" y="3276600"/>
            <a:ext cx="2524125" cy="657225"/>
          </a:xfrm>
          <a:prstGeom prst="roundRect">
            <a:avLst>
              <a:gd name="adj" fmla="val 4348"/>
            </a:avLst>
          </a:prstGeom>
          <a:solidFill>
            <a:srgbClr val="F7F7F8"/>
          </a:solidFill>
          <a:ln/>
        </p:spPr>
        <p:txBody>
          <a:bodyPr/>
          <a:p/>
        </p:txBody>
      </p:sp>
      <p:sp>
        <p:nvSpPr>
          <p:cNvPr id="2243" name="" descr="{&quot;isTemplate&quot;:true,&quot;type&quot;:&quot;text&quot;}"/>
          <p:cNvSpPr txBox="1"/>
          <p:nvPr/>
        </p:nvSpPr>
        <p:spPr>
          <a:xfrm rot="0" flipH="0" flipV="0">
            <a:off x="9048750" y="3552825"/>
            <a:ext cx="123825" cy="114300"/>
          </a:xfrm>
          <a:prstGeom prst="rect"/>
        </p:spPr>
        <p:txBody>
          <a:bodyPr wrap="none" lIns="0" tIns="0" rIns="0" bIns="0"/>
          <a:p>
            <a:pPr>
              <a:lnSpc>
                <a:spcPct val="100000"/>
              </a:lnSpc>
            </a:pPr>
            <a:r>
              <a:rPr lang="en-US" sz="750" b="1">
                <a:solidFill>
                  <a:srgbClr val="9E3410"/>
                </a:solidFill>
                <a:latin typeface="Microsoft YaHei"/>
                <a:ea typeface="Microsoft YaHei"/>
              </a:rPr>
              <a:t>03</a:t>
            </a:r>
            <a:endParaRPr/>
          </a:p>
        </p:txBody>
      </p:sp>
      <p:sp>
        <p:nvSpPr>
          <p:cNvPr id="2244" name="" descr="{&quot;isTemplate&quot;:true,&quot;type&quot;:&quot;text&quot;}"/>
          <p:cNvSpPr txBox="1"/>
          <p:nvPr/>
        </p:nvSpPr>
        <p:spPr>
          <a:xfrm rot="0" flipH="0" flipV="0">
            <a:off x="9220200" y="3438525"/>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 xml:space="preserve">投入收益测算
</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假设条件</a:t>
            </a:r>
            <a:endParaRPr/>
          </a:p>
        </p:txBody>
      </p:sp>
      <p:sp>
        <p:nvSpPr>
          <p:cNvPr id="2245" name=""/>
          <p:cNvSpPr/>
          <p:nvPr/>
        </p:nvSpPr>
        <p:spPr>
          <a:xfrm rot="0" flipH="0" flipV="0">
            <a:off x="8963025" y="3971925"/>
            <a:ext cx="2524125" cy="647700"/>
          </a:xfrm>
          <a:prstGeom prst="roundRect">
            <a:avLst>
              <a:gd name="adj" fmla="val 4412"/>
            </a:avLst>
          </a:prstGeom>
          <a:solidFill>
            <a:srgbClr val="F7F7F8"/>
          </a:solidFill>
          <a:ln/>
        </p:spPr>
        <p:txBody>
          <a:bodyPr/>
          <a:p/>
        </p:txBody>
      </p:sp>
      <p:sp>
        <p:nvSpPr>
          <p:cNvPr id="2246" name="" descr="{&quot;isTemplate&quot;:true,&quot;type&quot;:&quot;text&quot;}"/>
          <p:cNvSpPr txBox="1"/>
          <p:nvPr/>
        </p:nvSpPr>
        <p:spPr>
          <a:xfrm rot="0" flipH="0" flipV="0">
            <a:off x="9048750" y="4238625"/>
            <a:ext cx="123825" cy="114300"/>
          </a:xfrm>
          <a:prstGeom prst="rect"/>
        </p:spPr>
        <p:txBody>
          <a:bodyPr wrap="none" lIns="0" tIns="0" rIns="0" bIns="0"/>
          <a:p>
            <a:pPr>
              <a:lnSpc>
                <a:spcPct val="100000"/>
              </a:lnSpc>
            </a:pPr>
            <a:r>
              <a:rPr lang="en-US" sz="750" b="1">
                <a:solidFill>
                  <a:srgbClr val="9E3410"/>
                </a:solidFill>
                <a:latin typeface="Microsoft YaHei"/>
                <a:ea typeface="Microsoft YaHei"/>
              </a:rPr>
              <a:t>04</a:t>
            </a:r>
            <a:endParaRPr/>
          </a:p>
        </p:txBody>
      </p:sp>
      <p:sp>
        <p:nvSpPr>
          <p:cNvPr id="2247" name="" descr="{&quot;isTemplate&quot;:true,&quot;type&quot;:&quot;text&quot;}"/>
          <p:cNvSpPr txBox="1"/>
          <p:nvPr/>
        </p:nvSpPr>
        <p:spPr>
          <a:xfrm rot="0" flipH="0" flipV="0">
            <a:off x="9220200" y="4133850"/>
            <a:ext cx="2181225" cy="333375"/>
          </a:xfrm>
          <a:prstGeom prst="rect"/>
        </p:spPr>
        <p:txBody>
          <a:bodyPr wrap="none" lIns="0" tIns="0" rIns="0" bIns="0"/>
          <a:p>
            <a:pPr>
              <a:lnSpc>
                <a:spcPct val="130000"/>
              </a:lnSpc>
            </a:pPr>
            <a:r>
              <a:rPr lang="zh-CN" sz="825">
                <a:solidFill>
                  <a:srgbClr val="3A4050"/>
                </a:solidFill>
                <a:latin typeface="Microsoft YaHei"/>
                <a:ea typeface="Microsoft YaHei"/>
              </a:rPr>
              <a:t>组织与数据
保障机制</a:t>
            </a:r>
            <a:endParaRPr/>
          </a:p>
        </p:txBody>
      </p:sp>
      <p:sp>
        <p:nvSpPr>
          <p:cNvPr id="2248" name=""/>
          <p:cNvSpPr/>
          <p:nvPr/>
        </p:nvSpPr>
        <p:spPr>
          <a:xfrm rot="0" flipH="0" flipV="0">
            <a:off x="8963025" y="4657725"/>
            <a:ext cx="2524125" cy="323850"/>
          </a:xfrm>
          <a:prstGeom prst="roundRect">
            <a:avLst>
              <a:gd name="adj" fmla="val 8824"/>
            </a:avLst>
          </a:prstGeom>
          <a:solidFill>
            <a:srgbClr val="9E3410"/>
          </a:solidFill>
          <a:ln/>
        </p:spPr>
        <p:txBody>
          <a:bodyPr/>
          <a:p/>
        </p:txBody>
      </p:sp>
      <p:sp>
        <p:nvSpPr>
          <p:cNvPr id="2249" name="" descr="{&quot;isTemplate&quot;:true,&quot;type&quot;:&quot;text&quot;}"/>
          <p:cNvSpPr txBox="1"/>
          <p:nvPr/>
        </p:nvSpPr>
        <p:spPr>
          <a:xfrm rot="0" flipH="0" flipV="0">
            <a:off x="9048750" y="4686300"/>
            <a:ext cx="2352675" cy="133350"/>
          </a:xfrm>
          <a:prstGeom prst="rect"/>
        </p:spPr>
        <p:txBody>
          <a:bodyPr wrap="none" lIns="0" tIns="0" rIns="0" bIns="0"/>
          <a:p>
            <a:pPr>
              <a:lnSpc>
                <a:spcPct val="100000"/>
              </a:lnSpc>
            </a:pPr>
            <a:r>
              <a:rPr lang="zh-CN" sz="863" b="1">
                <a:solidFill>
                  <a:srgbClr val="FFFFFF"/>
                </a:solidFill>
                <a:latin typeface="Microsoft YaHei"/>
                <a:ea typeface="Microsoft YaHei"/>
              </a:rPr>
              <a:t>收口交付物</a:t>
            </a:r>
            <a:endParaRPr/>
          </a:p>
        </p:txBody>
      </p:sp>
      <p:sp>
        <p:nvSpPr>
          <p:cNvPr id="2250" name="" descr="{&quot;isTemplate&quot;:true,&quot;type&quot;:&quot;text&quot;}"/>
          <p:cNvSpPr txBox="1"/>
          <p:nvPr/>
        </p:nvSpPr>
        <p:spPr>
          <a:xfrm rot="0" flipH="0" flipV="0">
            <a:off x="9048750" y="4838700"/>
            <a:ext cx="2352675" cy="114300"/>
          </a:xfrm>
          <a:prstGeom prst="rect"/>
        </p:spPr>
        <p:txBody>
          <a:bodyPr wrap="none" lIns="0" tIns="0" rIns="0" bIns="0"/>
          <a:p>
            <a:pPr>
              <a:lnSpc>
                <a:spcPct val="100000"/>
              </a:lnSpc>
            </a:pPr>
            <a:r>
              <a:rPr lang="en-US" sz="750">
                <a:solidFill>
                  <a:srgbClr val="FFFFFF">
                    <a:alpha val="88000"/>
                  </a:srgbClr>
                </a:solidFill>
                <a:latin typeface="Microsoft YaHei"/>
                <a:ea typeface="Microsoft YaHei"/>
              </a:rPr>
              <a:t xml:space="preserve">⑦ </a:t>
            </a:r>
            <a:r>
              <a:rPr lang="zh-CN" sz="750">
                <a:solidFill>
                  <a:srgbClr val="FFFFFF">
                    <a:alpha val="88000"/>
                  </a:srgbClr>
                </a:solidFill>
                <a:latin typeface="Microsoft YaHei"/>
                <a:ea typeface="Microsoft YaHei"/>
              </a:rPr>
              <a:t>实施路线图</a:t>
            </a:r>
            <a:endParaRPr/>
          </a:p>
        </p:txBody>
      </p:sp>
      <p:sp>
        <p:nvSpPr>
          <p:cNvPr id="2251" name="" descr="{&quot;isTemplate&quot;:true,&quot;type&quot;:&quot;text&quot;}"/>
          <p:cNvSpPr txBox="1"/>
          <p:nvPr/>
        </p:nvSpPr>
        <p:spPr>
          <a:xfrm rot="0" flipH="0" flipV="0">
            <a:off x="8963025" y="5019675"/>
            <a:ext cx="2524125"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⑧⑨ </a:t>
            </a:r>
            <a:r>
              <a:rPr lang="zh-CN" sz="750">
                <a:solidFill>
                  <a:srgbClr val="5A6070"/>
                </a:solidFill>
                <a:latin typeface="Microsoft YaHei"/>
                <a:ea typeface="Microsoft YaHei"/>
              </a:rPr>
              <a:t>指标字典</a:t>
            </a:r>
            <a:r>
              <a:rPr lang="en-US" sz="750">
                <a:solidFill>
                  <a:srgbClr val="5A6070"/>
                </a:solidFill>
                <a:latin typeface="Microsoft YaHei"/>
                <a:ea typeface="Microsoft YaHei"/>
              </a:rPr>
              <a:t>/</a:t>
            </a:r>
            <a:r>
              <a:rPr lang="zh-CN" sz="750">
                <a:solidFill>
                  <a:srgbClr val="5A6070"/>
                </a:solidFill>
                <a:latin typeface="Microsoft YaHei"/>
                <a:ea typeface="Microsoft YaHei"/>
              </a:rPr>
              <a:t>考核数据清单</a:t>
            </a:r>
            <a:endParaRPr/>
          </a:p>
        </p:txBody>
      </p:sp>
      <p:sp>
        <p:nvSpPr>
          <p:cNvPr id="2252" name=""/>
          <p:cNvSpPr/>
          <p:nvPr/>
        </p:nvSpPr>
        <p:spPr>
          <a:xfrm rot="0" flipH="0" flipV="0">
            <a:off x="647700" y="5334000"/>
            <a:ext cx="2695575" cy="323850"/>
          </a:xfrm>
          <a:prstGeom prst="roundRect">
            <a:avLst>
              <a:gd name="adj" fmla="val 8824"/>
            </a:avLst>
          </a:prstGeom>
          <a:solidFill>
            <a:srgbClr val="0F1423"/>
          </a:solidFill>
          <a:ln/>
        </p:spPr>
        <p:txBody>
          <a:bodyPr/>
          <a:p/>
        </p:txBody>
      </p:sp>
      <p:sp>
        <p:nvSpPr>
          <p:cNvPr id="2253" name=""/>
          <p:cNvSpPr/>
          <p:nvPr/>
        </p:nvSpPr>
        <p:spPr>
          <a:xfrm rot="0" flipH="0" flipV="0">
            <a:off x="647700" y="5334000"/>
            <a:ext cx="2695575" cy="323850"/>
          </a:xfrm>
          <a:custGeom>
            <a:pathLst>
              <a:path w="283" h="34">
                <a:moveTo>
                  <a:pt x="4" y="34"/>
                </a:moveTo>
                <a:cubicBezTo>
                  <a:pt x="3" y="34"/>
                  <a:pt x="2" y="34"/>
                  <a:pt x="1" y="33"/>
                </a:cubicBezTo>
                <a:cubicBezTo>
                  <a:pt x="0" y="32"/>
                  <a:pt x="0" y="32"/>
                  <a:pt x="0" y="31"/>
                </a:cubicBezTo>
                <a:lnTo>
                  <a:pt x="0" y="3"/>
                </a:lnTo>
                <a:cubicBezTo>
                  <a:pt x="0" y="1"/>
                  <a:pt x="1" y="0"/>
                  <a:pt x="3" y="0"/>
                </a:cubicBezTo>
                <a:lnTo>
                  <a:pt x="4" y="0"/>
                </a:lnTo>
                <a:close/>
              </a:path>
            </a:pathLst>
          </a:custGeom>
          <a:solidFill>
            <a:srgbClr val="FA4F24"/>
          </a:solidFill>
          <a:ln/>
        </p:spPr>
        <p:txBody>
          <a:bodyPr/>
          <a:p/>
        </p:txBody>
      </p:sp>
      <p:sp>
        <p:nvSpPr>
          <p:cNvPr id="2254" name="" descr="{&quot;isTemplate&quot;:true,&quot;type&quot;:&quot;text&quot;}"/>
          <p:cNvSpPr txBox="1"/>
          <p:nvPr/>
        </p:nvSpPr>
        <p:spPr>
          <a:xfrm rot="0" flipH="0" flipV="0">
            <a:off x="762000" y="5429250"/>
            <a:ext cx="657225" cy="133350"/>
          </a:xfrm>
          <a:prstGeom prst="rect"/>
        </p:spPr>
        <p:txBody>
          <a:bodyPr wrap="none" lIns="0" tIns="0" rIns="0" bIns="0"/>
          <a:p>
            <a:pPr>
              <a:lnSpc>
                <a:spcPct val="100000"/>
              </a:lnSpc>
            </a:pPr>
            <a:r>
              <a:rPr lang="zh-CN" sz="863" b="1">
                <a:solidFill>
                  <a:srgbClr val="FBA15C"/>
                </a:solidFill>
                <a:latin typeface="Microsoft YaHei"/>
                <a:ea typeface="Microsoft YaHei"/>
              </a:rPr>
              <a:t>顺序不可颠倒</a:t>
            </a:r>
            <a:endParaRPr/>
          </a:p>
        </p:txBody>
      </p:sp>
      <p:sp>
        <p:nvSpPr>
          <p:cNvPr id="2255" name="" descr="{&quot;isTemplate&quot;:true,&quot;type&quot;:&quot;text&quot;}"/>
          <p:cNvSpPr txBox="1"/>
          <p:nvPr/>
        </p:nvSpPr>
        <p:spPr>
          <a:xfrm rot="0" flipH="0" flipV="0">
            <a:off x="1495425" y="5419725"/>
            <a:ext cx="1695450" cy="152400"/>
          </a:xfrm>
          <a:prstGeom prst="rect"/>
        </p:spPr>
        <p:txBody>
          <a:bodyPr wrap="none" lIns="0" tIns="0" rIns="0" bIns="0"/>
          <a:p>
            <a:pPr>
              <a:lnSpc>
                <a:spcPct val="130000"/>
              </a:lnSpc>
            </a:pPr>
            <a:r>
              <a:rPr lang="zh-CN" sz="750">
                <a:solidFill>
                  <a:srgbClr val="FFFFFF">
                    <a:alpha val="88000"/>
                  </a:srgbClr>
                </a:solidFill>
                <a:latin typeface="Microsoft YaHei"/>
                <a:ea typeface="Microsoft YaHei"/>
              </a:rPr>
              <a:t>没诊断就设计蓝图</a:t>
            </a:r>
            <a:r>
              <a:rPr lang="en-US" sz="750">
                <a:solidFill>
                  <a:srgbClr val="FFFFFF">
                    <a:alpha val="88000"/>
                  </a:srgbClr>
                </a:solidFill>
                <a:latin typeface="Microsoft YaHei"/>
                <a:ea typeface="Microsoft YaHei"/>
              </a:rPr>
              <a:t xml:space="preserve"> = </a:t>
            </a:r>
            <a:r>
              <a:rPr lang="zh-CN" sz="750">
                <a:solidFill>
                  <a:srgbClr val="FFFFFF">
                    <a:alpha val="88000"/>
                  </a:srgbClr>
                </a:solidFill>
                <a:latin typeface="Microsoft YaHei"/>
                <a:ea typeface="Microsoft YaHei"/>
              </a:rPr>
              <a:t>照着痛点画系统</a:t>
            </a:r>
            <a:endParaRPr/>
          </a:p>
        </p:txBody>
      </p:sp>
      <p:sp>
        <p:nvSpPr>
          <p:cNvPr id="2256" name=""/>
          <p:cNvSpPr/>
          <p:nvPr/>
        </p:nvSpPr>
        <p:spPr>
          <a:xfrm rot="0" flipH="0" flipV="0">
            <a:off x="3409950" y="5334000"/>
            <a:ext cx="2695575" cy="323850"/>
          </a:xfrm>
          <a:prstGeom prst="roundRect">
            <a:avLst>
              <a:gd name="adj" fmla="val 8824"/>
            </a:avLst>
          </a:prstGeom>
          <a:solidFill>
            <a:srgbClr val="F7F7F8"/>
          </a:solidFill>
          <a:ln/>
        </p:spPr>
        <p:txBody>
          <a:bodyPr/>
          <a:p/>
        </p:txBody>
      </p:sp>
      <p:sp>
        <p:nvSpPr>
          <p:cNvPr id="2257" name=""/>
          <p:cNvSpPr/>
          <p:nvPr/>
        </p:nvSpPr>
        <p:spPr>
          <a:xfrm rot="0" flipH="0" flipV="0">
            <a:off x="3409950" y="5334000"/>
            <a:ext cx="2695575" cy="323850"/>
          </a:xfrm>
          <a:custGeom>
            <a:pathLst>
              <a:path w="283" h="34">
                <a:moveTo>
                  <a:pt x="4" y="34"/>
                </a:moveTo>
                <a:cubicBezTo>
                  <a:pt x="3" y="34"/>
                  <a:pt x="2" y="34"/>
                  <a:pt x="1" y="33"/>
                </a:cubicBezTo>
                <a:cubicBezTo>
                  <a:pt x="0" y="32"/>
                  <a:pt x="0" y="32"/>
                  <a:pt x="0" y="31"/>
                </a:cubicBezTo>
                <a:lnTo>
                  <a:pt x="0" y="3"/>
                </a:lnTo>
                <a:cubicBezTo>
                  <a:pt x="0" y="1"/>
                  <a:pt x="1" y="0"/>
                  <a:pt x="3" y="0"/>
                </a:cubicBezTo>
                <a:lnTo>
                  <a:pt x="4" y="0"/>
                </a:lnTo>
                <a:close/>
              </a:path>
            </a:pathLst>
          </a:custGeom>
          <a:solidFill>
            <a:srgbClr val="F87D2F"/>
          </a:solidFill>
          <a:ln/>
        </p:spPr>
        <p:txBody>
          <a:bodyPr/>
          <a:p/>
        </p:txBody>
      </p:sp>
      <p:sp>
        <p:nvSpPr>
          <p:cNvPr id="2258" name="" descr="{&quot;isTemplate&quot;:true,&quot;type&quot;:&quot;text&quot;}"/>
          <p:cNvSpPr txBox="1"/>
          <p:nvPr/>
        </p:nvSpPr>
        <p:spPr>
          <a:xfrm rot="0" flipH="0" flipV="0">
            <a:off x="3524250" y="5429250"/>
            <a:ext cx="552450" cy="133350"/>
          </a:xfrm>
          <a:prstGeom prst="rect"/>
        </p:spPr>
        <p:txBody>
          <a:bodyPr wrap="none" lIns="0" tIns="0" rIns="0" bIns="0"/>
          <a:p>
            <a:pPr>
              <a:lnSpc>
                <a:spcPct val="100000"/>
              </a:lnSpc>
            </a:pPr>
            <a:r>
              <a:rPr lang="zh-CN" sz="863" b="1">
                <a:solidFill>
                  <a:srgbClr val="0F1423"/>
                </a:solidFill>
                <a:latin typeface="Microsoft YaHei"/>
                <a:ea typeface="Microsoft YaHei"/>
              </a:rPr>
              <a:t>可追溯贯穿</a:t>
            </a:r>
            <a:endParaRPr/>
          </a:p>
        </p:txBody>
      </p:sp>
      <p:sp>
        <p:nvSpPr>
          <p:cNvPr id="2259" name="" descr="{&quot;isTemplate&quot;:true,&quot;type&quot;:&quot;text&quot;}"/>
          <p:cNvSpPr txBox="1"/>
          <p:nvPr/>
        </p:nvSpPr>
        <p:spPr>
          <a:xfrm rot="0" flipH="0" flipV="0">
            <a:off x="4152900" y="5419725"/>
            <a:ext cx="1800225" cy="152400"/>
          </a:xfrm>
          <a:prstGeom prst="rect"/>
        </p:spPr>
        <p:txBody>
          <a:bodyPr wrap="none" lIns="0" tIns="0" rIns="0" bIns="0"/>
          <a:p>
            <a:pPr>
              <a:lnSpc>
                <a:spcPct val="130000"/>
              </a:lnSpc>
            </a:pPr>
            <a:r>
              <a:rPr lang="zh-CN" sz="750">
                <a:solidFill>
                  <a:srgbClr val="5A6070"/>
                </a:solidFill>
                <a:latin typeface="Microsoft YaHei"/>
                <a:ea typeface="Microsoft YaHei"/>
              </a:rPr>
              <a:t>诊断→建议→需求，每条都必须能指向下一环</a:t>
            </a:r>
            <a:endParaRPr/>
          </a:p>
        </p:txBody>
      </p:sp>
      <p:sp>
        <p:nvSpPr>
          <p:cNvPr id="2260" name=""/>
          <p:cNvSpPr/>
          <p:nvPr/>
        </p:nvSpPr>
        <p:spPr>
          <a:xfrm rot="0" flipH="0" flipV="0">
            <a:off x="6172200" y="5334000"/>
            <a:ext cx="2686050" cy="323850"/>
          </a:xfrm>
          <a:prstGeom prst="roundRect">
            <a:avLst>
              <a:gd name="adj" fmla="val 8824"/>
            </a:avLst>
          </a:prstGeom>
          <a:solidFill>
            <a:srgbClr val="F7F7F8"/>
          </a:solidFill>
          <a:ln/>
        </p:spPr>
        <p:txBody>
          <a:bodyPr/>
          <a:p/>
        </p:txBody>
      </p:sp>
      <p:sp>
        <p:nvSpPr>
          <p:cNvPr id="2261" name=""/>
          <p:cNvSpPr/>
          <p:nvPr/>
        </p:nvSpPr>
        <p:spPr>
          <a:xfrm rot="0" flipH="0" flipV="0">
            <a:off x="6172200" y="5334000"/>
            <a:ext cx="2686050" cy="323850"/>
          </a:xfrm>
          <a:custGeom>
            <a:pathLst>
              <a:path w="282" h="34">
                <a:moveTo>
                  <a:pt x="4" y="34"/>
                </a:moveTo>
                <a:cubicBezTo>
                  <a:pt x="3" y="34"/>
                  <a:pt x="2" y="34"/>
                  <a:pt x="1" y="33"/>
                </a:cubicBezTo>
                <a:cubicBezTo>
                  <a:pt x="0" y="32"/>
                  <a:pt x="0" y="32"/>
                  <a:pt x="0" y="31"/>
                </a:cubicBezTo>
                <a:lnTo>
                  <a:pt x="0" y="3"/>
                </a:lnTo>
                <a:cubicBezTo>
                  <a:pt x="0" y="1"/>
                  <a:pt x="1" y="0"/>
                  <a:pt x="3" y="0"/>
                </a:cubicBezTo>
                <a:lnTo>
                  <a:pt x="4" y="0"/>
                </a:lnTo>
                <a:close/>
              </a:path>
            </a:pathLst>
          </a:custGeom>
          <a:solidFill>
            <a:srgbClr val="FA4F24"/>
          </a:solidFill>
          <a:ln/>
        </p:spPr>
        <p:txBody>
          <a:bodyPr/>
          <a:p/>
        </p:txBody>
      </p:sp>
      <p:sp>
        <p:nvSpPr>
          <p:cNvPr id="2262" name="" descr="{&quot;isTemplate&quot;:true,&quot;type&quot;:&quot;text&quot;}"/>
          <p:cNvSpPr txBox="1"/>
          <p:nvPr/>
        </p:nvSpPr>
        <p:spPr>
          <a:xfrm rot="0" flipH="0" flipV="0">
            <a:off x="6286500" y="5429250"/>
            <a:ext cx="552450" cy="133350"/>
          </a:xfrm>
          <a:prstGeom prst="rect"/>
        </p:spPr>
        <p:txBody>
          <a:bodyPr wrap="none" lIns="0" tIns="0" rIns="0" bIns="0"/>
          <a:p>
            <a:pPr>
              <a:lnSpc>
                <a:spcPct val="100000"/>
              </a:lnSpc>
            </a:pPr>
            <a:r>
              <a:rPr lang="zh-CN" sz="863" b="1">
                <a:solidFill>
                  <a:srgbClr val="0F1423"/>
                </a:solidFill>
                <a:latin typeface="Microsoft YaHei"/>
                <a:ea typeface="Microsoft YaHei"/>
              </a:rPr>
              <a:t>颗粒度写死</a:t>
            </a:r>
            <a:endParaRPr/>
          </a:p>
        </p:txBody>
      </p:sp>
      <p:sp>
        <p:nvSpPr>
          <p:cNvPr id="2263" name="" descr="{&quot;isTemplate&quot;:true,&quot;type&quot;:&quot;text&quot;}"/>
          <p:cNvSpPr txBox="1"/>
          <p:nvPr/>
        </p:nvSpPr>
        <p:spPr>
          <a:xfrm rot="0" flipH="0" flipV="0">
            <a:off x="6915150" y="5419725"/>
            <a:ext cx="1790700"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L4 / </a:t>
            </a:r>
            <a:r>
              <a:rPr lang="zh-CN" sz="750">
                <a:solidFill>
                  <a:srgbClr val="5A6070"/>
                </a:solidFill>
                <a:latin typeface="Microsoft YaHei"/>
                <a:ea typeface="Microsoft YaHei"/>
              </a:rPr>
              <a:t>逻辑实体</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功能模块，不接受「基本覆盖」</a:t>
            </a:r>
            <a:endParaRPr/>
          </a:p>
        </p:txBody>
      </p:sp>
      <p:sp>
        <p:nvSpPr>
          <p:cNvPr id="2264" name=""/>
          <p:cNvSpPr/>
          <p:nvPr/>
        </p:nvSpPr>
        <p:spPr>
          <a:xfrm rot="0" flipH="0" flipV="0">
            <a:off x="8924925" y="5334000"/>
            <a:ext cx="2695575" cy="323850"/>
          </a:xfrm>
          <a:prstGeom prst="roundRect">
            <a:avLst>
              <a:gd name="adj" fmla="val 8824"/>
            </a:avLst>
          </a:prstGeom>
          <a:solidFill>
            <a:srgbClr val="F7F7F8"/>
          </a:solidFill>
          <a:ln/>
        </p:spPr>
        <p:txBody>
          <a:bodyPr/>
          <a:p/>
        </p:txBody>
      </p:sp>
      <p:sp>
        <p:nvSpPr>
          <p:cNvPr id="2265" name=""/>
          <p:cNvSpPr/>
          <p:nvPr/>
        </p:nvSpPr>
        <p:spPr>
          <a:xfrm rot="0" flipH="0" flipV="0">
            <a:off x="8924925" y="5334000"/>
            <a:ext cx="2695575" cy="323850"/>
          </a:xfrm>
          <a:custGeom>
            <a:pathLst>
              <a:path w="283" h="34">
                <a:moveTo>
                  <a:pt x="4" y="34"/>
                </a:moveTo>
                <a:cubicBezTo>
                  <a:pt x="3" y="34"/>
                  <a:pt x="2" y="34"/>
                  <a:pt x="1" y="33"/>
                </a:cubicBezTo>
                <a:cubicBezTo>
                  <a:pt x="0" y="32"/>
                  <a:pt x="0" y="32"/>
                  <a:pt x="0" y="31"/>
                </a:cubicBezTo>
                <a:lnTo>
                  <a:pt x="0" y="3"/>
                </a:lnTo>
                <a:cubicBezTo>
                  <a:pt x="0" y="1"/>
                  <a:pt x="1" y="0"/>
                  <a:pt x="3" y="0"/>
                </a:cubicBezTo>
                <a:lnTo>
                  <a:pt x="4" y="0"/>
                </a:lnTo>
                <a:close/>
              </a:path>
            </a:pathLst>
          </a:custGeom>
          <a:solidFill>
            <a:srgbClr val="C43A17"/>
          </a:solidFill>
          <a:ln/>
        </p:spPr>
        <p:txBody>
          <a:bodyPr/>
          <a:p/>
        </p:txBody>
      </p:sp>
      <p:sp>
        <p:nvSpPr>
          <p:cNvPr id="2266" name="" descr="{&quot;isTemplate&quot;:true,&quot;type&quot;:&quot;text&quot;}"/>
          <p:cNvSpPr txBox="1"/>
          <p:nvPr/>
        </p:nvSpPr>
        <p:spPr>
          <a:xfrm rot="0" flipH="0" flipV="0">
            <a:off x="9039225" y="5429250"/>
            <a:ext cx="552450" cy="133350"/>
          </a:xfrm>
          <a:prstGeom prst="rect"/>
        </p:spPr>
        <p:txBody>
          <a:bodyPr wrap="none" lIns="0" tIns="0" rIns="0" bIns="0"/>
          <a:p>
            <a:pPr>
              <a:lnSpc>
                <a:spcPct val="100000"/>
              </a:lnSpc>
            </a:pPr>
            <a:r>
              <a:rPr lang="zh-CN" sz="863" b="1">
                <a:solidFill>
                  <a:srgbClr val="0F1423"/>
                </a:solidFill>
                <a:latin typeface="Microsoft YaHei"/>
                <a:ea typeface="Microsoft YaHei"/>
              </a:rPr>
              <a:t>基线即冻结</a:t>
            </a:r>
            <a:endParaRPr/>
          </a:p>
        </p:txBody>
      </p:sp>
      <p:sp>
        <p:nvSpPr>
          <p:cNvPr id="2267" name="" descr="{&quot;isTemplate&quot;:true,&quot;type&quot;:&quot;text&quot;}"/>
          <p:cNvSpPr txBox="1"/>
          <p:nvPr/>
        </p:nvSpPr>
        <p:spPr>
          <a:xfrm rot="0" flipH="0" flipV="0">
            <a:off x="9667875" y="5419725"/>
            <a:ext cx="1800225" cy="152400"/>
          </a:xfrm>
          <a:prstGeom prst="rect"/>
        </p:spPr>
        <p:txBody>
          <a:bodyPr wrap="none" lIns="0" tIns="0" rIns="0" bIns="0"/>
          <a:p>
            <a:pPr>
              <a:lnSpc>
                <a:spcPct val="130000"/>
              </a:lnSpc>
            </a:pPr>
            <a:r>
              <a:rPr lang="zh-CN" sz="750">
                <a:solidFill>
                  <a:srgbClr val="5A6070"/>
                </a:solidFill>
                <a:latin typeface="Microsoft YaHei"/>
                <a:ea typeface="Microsoft YaHei"/>
              </a:rPr>
              <a:t>评审通过后需求基线冻结，后续变更走变更流程</a:t>
            </a:r>
            <a:endParaRPr/>
          </a:p>
        </p:txBody>
      </p:sp>
      <p:sp>
        <p:nvSpPr>
          <p:cNvPr id="2268" name=""/>
          <p:cNvSpPr/>
          <p:nvPr/>
        </p:nvSpPr>
        <p:spPr>
          <a:xfrm rot="0" flipH="0" flipV="0">
            <a:off x="609600" y="5943600"/>
            <a:ext cx="133350" cy="133350"/>
          </a:xfrm>
          <a:prstGeom prst="rect">
            <a:avLst/>
          </a:prstGeom>
          <a:solidFill>
            <a:srgbClr val="FA4F24"/>
          </a:solidFill>
          <a:ln/>
        </p:spPr>
        <p:txBody>
          <a:bodyPr/>
          <a:p/>
        </p:txBody>
      </p:sp>
      <p:sp>
        <p:nvSpPr>
          <p:cNvPr id="2269"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227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04 / 36</a:t>
            </a:r>
            <a:endParaRPr/>
          </a:p>
        </p:txBody>
      </p:sp>
    </p:spTree>
  </p:cSld>
</p:sld>
</file>

<file path=ppt/slides/slide5.xml><?xml version="1.0" encoding="utf-8"?>
<p:sld xmlns:p="http://schemas.openxmlformats.org/presentationml/2006/main" xmlns:a="http://schemas.openxmlformats.org/drawingml/2006/main">
  <p:cSld>
    <p:spTree>
      <p:nvGrpSpPr>
        <p:cNvPr id="2271" name="" descr="&lt;Slide style={{ width: 1280, height: 720, background: '#0F1423' }}&gt;&#10;  &lt;Box style={{ position: 'absolute', left: 0, top: 0, width: 1280, height: 720, background: 'linear-gradient(135deg, #0F1423 0%, #2A1810 100%)' }} /&gt;&#10;  &lt;Box style={{ position: 'absolute', right: 0, top: 0, width: 560, height: 720, background: 'linear-gradient(200deg, rgba(250,79,36,0.28) 0%, rgba(250,79,36,0) 70%)' }} /&gt;&#10;&#10;  &lt;Box style={{ position: 'absolute', right: 70, top: 110 }}&gt;&#10;    &lt;Text style={{ fontSize: 300, fontWeight: 'bold', color: 'rgba(255,255,255,0.08)', lineHeight: 1.0 }}&gt;01&lt;/Text&gt;&#10;  &lt;/Box&gt;&#10;&#10;  &lt;Box style={{ position: 'absolute', left: 88, top: 236, width: 720, flexDirection: 'column' }}&gt;&#10;    &lt;Text style={{ fontSize: 15, color: 'rgba(255,255,255,0.5)', letterSpacing: 3 }}&gt;PART 01&lt;/Text&gt;&#10;    &lt;Box style={{ width: 72, height: 5, background: '#FA4F24', marginTop: 20 }} /&gt;&#10;    &lt;Text style={{ fontSize: 54, fontWeight: 'bold', color: '#FFFFFF', marginTop: 26, lineHeight: 1.15 }}&gt;项目适配的六处改装&lt;/Text&gt;&#10;    &lt;Text style={{ fontSize: 17, color: 'rgba(255,255,255,0.62)', letterSpacing: 2, marginTop: 18 }}&gt;SIX ADAPTATIONS&lt;/Text&gt;&#10;    &lt;Text style={{ fontSize: 19, color: 'rgba(255,255,255,0.85)', marginTop: 24, lineHeight: 1.6 }}&gt;把招标第 3 章的每一条要求，翻译成方法论里的一个动作和一个产出物&lt;/Text&gt;&#10;  &lt;/Box&gt;&#10;&#10;  &lt;Box style={{ position: 'absolute', left: 88, top: 524, flexDirection: 'row', gap: 30 }}&gt;&#10;    {[&#10;      { k: '逐条应答', v: '3.2 五个方法论条款' },&#10;      { k: '业务域', v: '能源七块 + 储能两块' },&#10;      { k: '组织', v: '九个参与部门' },&#10;      { k: '颗粒度', v: 'L4 / 逻辑实体 / 功能模块' },&#10;      { k: '追溯', v: '诊断→建议→需求' },&#10;      { k: 'AI', v: '识别 + 优先级两轮' }&#10;    ].map((x) =&gt; (&#10;      &lt;Box key={x.k} style={{ opacity: 0.72 }}&gt;&#10;        &lt;Text style={{ fontSize: 12.5, color: '#FBA15C', fontWeight: 'bold' }}&gt;{x.k}&lt;/Text&gt;&#10;        &lt;Text style={{ fontSize: 12, color: 'rgba(255,255,255,0.8)', marginTop: 4 }}&gt;{x.v}&lt;/Text&gt;&#10;      &lt;/Box&gt;&#10;    ))}&#10;  &lt;/Box&gt;&#10;&#10;  &lt;Box style={{ position: 'absolute', right: 88, bottom: 60, flexDirection: 'row', alignItems: 'center', gap: 12 }}&gt;&#10;    &lt;Box style={{ width: 14, height: 14, background: '#FA4F24' }} /&gt;&#10;    &lt;Text style={{ fontSize: 14, color: 'rgba(255,255,255,0.5)' }}&gt;硕磐机密 · 利星能业务变革咨询方法论&lt;/Text&gt;&#10;    &lt;Text style={{ fontSize: 14, color: 'rgba(255,255,255,0.5)', marginLeft: 12 }}&gt;05 / 36&lt;/Text&gt;&#10;  &lt;/Box&gt;&#10;&lt;/Slide&gt;&#10;"/>
        <p:cNvGrpSpPr/>
        <p:nvPr/>
      </p:nvGrpSpPr>
      <p:grpSpPr>
        <a:xfrm>
          <a:off x="0" y="0"/>
          <a:ext cx="0" cy="0"/>
          <a:chOff x="0" y="0"/>
          <a:chExt cx="0" cy="0"/>
        </a:xfrm>
      </p:grpSpPr>
      <p:sp>
        <p:nvSpPr>
          <p:cNvPr id="2272" name=""/>
          <p:cNvSpPr/>
          <p:nvPr/>
        </p:nvSpPr>
        <p:spPr>
          <a:xfrm rot="0" flipH="0" flipV="0">
            <a:off x="0" y="0"/>
            <a:ext cx="12192000" cy="6858000"/>
          </a:xfrm>
          <a:prstGeom prst="rect">
            <a:avLst/>
          </a:prstGeom>
          <a:solidFill>
            <a:srgbClr val="0F1423"/>
          </a:solidFill>
          <a:ln/>
        </p:spPr>
        <p:txBody>
          <a:bodyPr/>
          <a:p/>
        </p:txBody>
      </p:sp>
      <p:sp>
        <p:nvSpPr>
          <p:cNvPr id="2273"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2274"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2275" name="" descr="{&quot;isTemplate&quot;:true,&quot;type&quot;:&quot;text&quot;}"/>
          <p:cNvSpPr txBox="1"/>
          <p:nvPr/>
        </p:nvSpPr>
        <p:spPr>
          <a:xfrm rot="0" flipH="0" flipV="0">
            <a:off x="7991475" y="1047750"/>
            <a:ext cx="3533775" cy="3429000"/>
          </a:xfrm>
          <a:prstGeom prst="rect"/>
        </p:spPr>
        <p:txBody>
          <a:bodyPr wrap="none" lIns="0" tIns="0" rIns="0" bIns="0"/>
          <a:p>
            <a:pPr>
              <a:lnSpc>
                <a:spcPct val="100000"/>
              </a:lnSpc>
            </a:pPr>
            <a:r>
              <a:rPr lang="en-US" sz="22500" b="1">
                <a:solidFill>
                  <a:srgbClr val="FFFFFF">
                    <a:alpha val="8000"/>
                  </a:srgbClr>
                </a:solidFill>
                <a:latin typeface="Microsoft YaHei"/>
                <a:ea typeface="Microsoft YaHei"/>
              </a:rPr>
              <a:t>01</a:t>
            </a:r>
            <a:endParaRPr/>
          </a:p>
        </p:txBody>
      </p:sp>
      <p:sp>
        <p:nvSpPr>
          <p:cNvPr id="2276" name="" descr="{&quot;isTemplate&quot;:true,&quot;type&quot;:&quot;text&quot;}"/>
          <p:cNvSpPr txBox="1"/>
          <p:nvPr/>
        </p:nvSpPr>
        <p:spPr>
          <a:xfrm rot="0" flipH="0" flipV="0">
            <a:off x="838200" y="2247900"/>
            <a:ext cx="68580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01</a:t>
            </a:r>
            <a:endParaRPr/>
          </a:p>
        </p:txBody>
      </p:sp>
      <p:sp>
        <p:nvSpPr>
          <p:cNvPr id="2277" name=""/>
          <p:cNvSpPr/>
          <p:nvPr/>
        </p:nvSpPr>
        <p:spPr>
          <a:xfrm rot="0" flipH="0" flipV="0">
            <a:off x="838200" y="2609850"/>
            <a:ext cx="685800" cy="47625"/>
          </a:xfrm>
          <a:prstGeom prst="rect">
            <a:avLst/>
          </a:prstGeom>
          <a:solidFill>
            <a:srgbClr val="FA4F24"/>
          </a:solidFill>
          <a:ln/>
        </p:spPr>
        <p:txBody>
          <a:bodyPr/>
          <a:p/>
        </p:txBody>
      </p:sp>
      <p:sp>
        <p:nvSpPr>
          <p:cNvPr id="2278" name="" descr="{&quot;isTemplate&quot;:true,&quot;type&quot;:&quot;text&quot;}"/>
          <p:cNvSpPr txBox="1"/>
          <p:nvPr/>
        </p:nvSpPr>
        <p:spPr>
          <a:xfrm rot="0" flipH="0" flipV="0">
            <a:off x="838200" y="2905125"/>
            <a:ext cx="6858000" cy="714375"/>
          </a:xfrm>
          <a:prstGeom prst="rect"/>
        </p:spPr>
        <p:txBody>
          <a:bodyPr wrap="none" lIns="0" tIns="0" rIns="0" bIns="0"/>
          <a:p>
            <a:pPr>
              <a:lnSpc>
                <a:spcPct val="114999"/>
              </a:lnSpc>
            </a:pPr>
            <a:r>
              <a:rPr lang="zh-CN" sz="4050" b="1">
                <a:solidFill>
                  <a:srgbClr val="FFFFFF"/>
                </a:solidFill>
                <a:latin typeface="Microsoft YaHei"/>
                <a:ea typeface="Microsoft YaHei"/>
              </a:rPr>
              <a:t>项目适配的六处改装</a:t>
            </a:r>
            <a:endParaRPr/>
          </a:p>
        </p:txBody>
      </p:sp>
      <p:sp>
        <p:nvSpPr>
          <p:cNvPr id="2279" name="" descr="{&quot;isTemplate&quot;:true,&quot;type&quot;:&quot;text&quot;}"/>
          <p:cNvSpPr txBox="1"/>
          <p:nvPr/>
        </p:nvSpPr>
        <p:spPr>
          <a:xfrm rot="0" flipH="0" flipV="0">
            <a:off x="838200" y="3790950"/>
            <a:ext cx="68580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SIX ADAPTATIONS</a:t>
            </a:r>
            <a:endParaRPr/>
          </a:p>
        </p:txBody>
      </p:sp>
      <p:sp>
        <p:nvSpPr>
          <p:cNvPr id="2280" name="" descr="{&quot;isTemplate&quot;:true,&quot;type&quot;:&quot;text&quot;}"/>
          <p:cNvSpPr txBox="1"/>
          <p:nvPr/>
        </p:nvSpPr>
        <p:spPr>
          <a:xfrm rot="0" flipH="0" flipV="0">
            <a:off x="838200" y="4219575"/>
            <a:ext cx="68580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把招标第</a:t>
            </a:r>
            <a:r>
              <a:rPr lang="en-US" sz="1425">
                <a:solidFill>
                  <a:srgbClr val="FFFFFF">
                    <a:alpha val="85000"/>
                  </a:srgbClr>
                </a:solidFill>
                <a:latin typeface="Microsoft YaHei"/>
                <a:ea typeface="Microsoft YaHei"/>
              </a:rPr>
              <a:t xml:space="preserve"> 3 </a:t>
            </a:r>
            <a:r>
              <a:rPr lang="zh-CN" sz="1425">
                <a:solidFill>
                  <a:srgbClr val="FFFFFF">
                    <a:alpha val="85000"/>
                  </a:srgbClr>
                </a:solidFill>
                <a:latin typeface="Microsoft YaHei"/>
                <a:ea typeface="Microsoft YaHei"/>
              </a:rPr>
              <a:t>章的每一条要求，翻译成方法论里的一个动作和一个产出物</a:t>
            </a:r>
            <a:endParaRPr/>
          </a:p>
        </p:txBody>
      </p:sp>
      <p:sp>
        <p:nvSpPr>
          <p:cNvPr id="2281" name="" descr="{&quot;isTemplate&quot;:true,&quot;type&quot;:&quot;text&quot;}"/>
          <p:cNvSpPr txBox="1"/>
          <p:nvPr/>
        </p:nvSpPr>
        <p:spPr>
          <a:xfrm rot="0" flipH="0" flipV="0">
            <a:off x="838200" y="4991100"/>
            <a:ext cx="1000125"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逐条应答</a:t>
            </a:r>
            <a:endParaRPr/>
          </a:p>
        </p:txBody>
      </p:sp>
      <p:sp>
        <p:nvSpPr>
          <p:cNvPr id="2282" name="" descr="{&quot;isTemplate&quot;:true,&quot;type&quot;:&quot;text&quot;}"/>
          <p:cNvSpPr txBox="1"/>
          <p:nvPr/>
        </p:nvSpPr>
        <p:spPr>
          <a:xfrm rot="0" flipH="0" flipV="0">
            <a:off x="838200" y="5172075"/>
            <a:ext cx="1000125" cy="142875"/>
          </a:xfrm>
          <a:prstGeom prst="rect"/>
        </p:spPr>
        <p:txBody>
          <a:bodyPr wrap="none" lIns="0" tIns="0" rIns="0" bIns="0"/>
          <a:p>
            <a:pPr>
              <a:lnSpc>
                <a:spcPct val="100000"/>
              </a:lnSpc>
            </a:pPr>
            <a:r>
              <a:rPr lang="en-US" sz="900">
                <a:solidFill>
                  <a:srgbClr val="FFFFFF">
                    <a:alpha val="57600"/>
                  </a:srgbClr>
                </a:solidFill>
                <a:latin typeface="Microsoft YaHei"/>
                <a:ea typeface="Microsoft YaHei"/>
              </a:rPr>
              <a:t xml:space="preserve">3.2 </a:t>
            </a:r>
            <a:r>
              <a:rPr lang="zh-CN" sz="900">
                <a:solidFill>
                  <a:srgbClr val="FFFFFF">
                    <a:alpha val="57600"/>
                  </a:srgbClr>
                </a:solidFill>
                <a:latin typeface="Microsoft YaHei"/>
                <a:ea typeface="Microsoft YaHei"/>
              </a:rPr>
              <a:t>五个方法论条款</a:t>
            </a:r>
            <a:endParaRPr/>
          </a:p>
        </p:txBody>
      </p:sp>
      <p:sp>
        <p:nvSpPr>
          <p:cNvPr id="2283" name="" descr="{&quot;isTemplate&quot;:true,&quot;type&quot;:&quot;text&quot;}"/>
          <p:cNvSpPr txBox="1"/>
          <p:nvPr/>
        </p:nvSpPr>
        <p:spPr>
          <a:xfrm rot="0" flipH="0" flipV="0">
            <a:off x="2124075" y="4991100"/>
            <a:ext cx="1076325"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业务域</a:t>
            </a:r>
            <a:endParaRPr/>
          </a:p>
        </p:txBody>
      </p:sp>
      <p:sp>
        <p:nvSpPr>
          <p:cNvPr id="2284" name="" descr="{&quot;isTemplate&quot;:true,&quot;type&quot;:&quot;text&quot;}"/>
          <p:cNvSpPr txBox="1"/>
          <p:nvPr/>
        </p:nvSpPr>
        <p:spPr>
          <a:xfrm rot="0" flipH="0" flipV="0">
            <a:off x="2124075" y="5172075"/>
            <a:ext cx="1076325"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能源七块</a:t>
            </a:r>
            <a:r>
              <a:rPr lang="en-US" sz="900">
                <a:solidFill>
                  <a:srgbClr val="FFFFFF">
                    <a:alpha val="57600"/>
                  </a:srgbClr>
                </a:solidFill>
                <a:latin typeface="Microsoft YaHei"/>
                <a:ea typeface="Microsoft YaHei"/>
              </a:rPr>
              <a:t xml:space="preserve"> + </a:t>
            </a:r>
            <a:r>
              <a:rPr lang="zh-CN" sz="900">
                <a:solidFill>
                  <a:srgbClr val="FFFFFF">
                    <a:alpha val="57600"/>
                  </a:srgbClr>
                </a:solidFill>
                <a:latin typeface="Microsoft YaHei"/>
                <a:ea typeface="Microsoft YaHei"/>
              </a:rPr>
              <a:t>储能两块</a:t>
            </a:r>
            <a:endParaRPr/>
          </a:p>
        </p:txBody>
      </p:sp>
      <p:sp>
        <p:nvSpPr>
          <p:cNvPr id="2285" name="" descr="{&quot;isTemplate&quot;:true,&quot;type&quot;:&quot;text&quot;}"/>
          <p:cNvSpPr txBox="1"/>
          <p:nvPr/>
        </p:nvSpPr>
        <p:spPr>
          <a:xfrm rot="0" flipH="0" flipV="0">
            <a:off x="3486150" y="4991100"/>
            <a:ext cx="685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组织</a:t>
            </a:r>
            <a:endParaRPr/>
          </a:p>
        </p:txBody>
      </p:sp>
      <p:sp>
        <p:nvSpPr>
          <p:cNvPr id="2286" name="" descr="{&quot;isTemplate&quot;:true,&quot;type&quot;:&quot;text&quot;}"/>
          <p:cNvSpPr txBox="1"/>
          <p:nvPr/>
        </p:nvSpPr>
        <p:spPr>
          <a:xfrm rot="0" flipH="0" flipV="0">
            <a:off x="3486150" y="5172075"/>
            <a:ext cx="685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九个参与部门</a:t>
            </a:r>
            <a:endParaRPr/>
          </a:p>
        </p:txBody>
      </p:sp>
      <p:sp>
        <p:nvSpPr>
          <p:cNvPr id="2287" name="" descr="{&quot;isTemplate&quot;:true,&quot;type&quot;:&quot;text&quot;}"/>
          <p:cNvSpPr txBox="1"/>
          <p:nvPr/>
        </p:nvSpPr>
        <p:spPr>
          <a:xfrm rot="0" flipH="0" flipV="0">
            <a:off x="4457700" y="4991100"/>
            <a:ext cx="127635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颗粒度</a:t>
            </a:r>
            <a:endParaRPr/>
          </a:p>
        </p:txBody>
      </p:sp>
      <p:sp>
        <p:nvSpPr>
          <p:cNvPr id="2288" name="" descr="{&quot;isTemplate&quot;:true,&quot;type&quot;:&quot;text&quot;}"/>
          <p:cNvSpPr txBox="1"/>
          <p:nvPr/>
        </p:nvSpPr>
        <p:spPr>
          <a:xfrm rot="0" flipH="0" flipV="0">
            <a:off x="4457700" y="5172075"/>
            <a:ext cx="1276350" cy="142875"/>
          </a:xfrm>
          <a:prstGeom prst="rect"/>
        </p:spPr>
        <p:txBody>
          <a:bodyPr wrap="none" lIns="0" tIns="0" rIns="0" bIns="0"/>
          <a:p>
            <a:pPr>
              <a:lnSpc>
                <a:spcPct val="100000"/>
              </a:lnSpc>
            </a:pPr>
            <a:r>
              <a:rPr lang="en-US" sz="900">
                <a:solidFill>
                  <a:srgbClr val="FFFFFF">
                    <a:alpha val="57600"/>
                  </a:srgbClr>
                </a:solidFill>
                <a:latin typeface="Microsoft YaHei"/>
                <a:ea typeface="Microsoft YaHei"/>
              </a:rPr>
              <a:t xml:space="preserve">L4 / </a:t>
            </a:r>
            <a:r>
              <a:rPr lang="zh-CN" sz="900">
                <a:solidFill>
                  <a:srgbClr val="FFFFFF">
                    <a:alpha val="57600"/>
                  </a:srgbClr>
                </a:solidFill>
                <a:latin typeface="Microsoft YaHei"/>
                <a:ea typeface="Microsoft YaHei"/>
              </a:rPr>
              <a:t>逻辑实体</a:t>
            </a:r>
            <a:r>
              <a:rPr lang="en-US" sz="900">
                <a:solidFill>
                  <a:srgbClr val="FFFFFF">
                    <a:alpha val="57600"/>
                  </a:srgbClr>
                </a:solidFill>
                <a:latin typeface="Microsoft YaHei"/>
                <a:ea typeface="Microsoft YaHei"/>
              </a:rPr>
              <a:t xml:space="preserve"> / </a:t>
            </a:r>
            <a:r>
              <a:rPr lang="zh-CN" sz="900">
                <a:solidFill>
                  <a:srgbClr val="FFFFFF">
                    <a:alpha val="57600"/>
                  </a:srgbClr>
                </a:solidFill>
                <a:latin typeface="Microsoft YaHei"/>
                <a:ea typeface="Microsoft YaHei"/>
              </a:rPr>
              <a:t>功能模块</a:t>
            </a:r>
            <a:endParaRPr/>
          </a:p>
        </p:txBody>
      </p:sp>
      <p:sp>
        <p:nvSpPr>
          <p:cNvPr id="2289" name="" descr="{&quot;isTemplate&quot;:true,&quot;type&quot;:&quot;text&quot;}"/>
          <p:cNvSpPr txBox="1"/>
          <p:nvPr/>
        </p:nvSpPr>
        <p:spPr>
          <a:xfrm rot="0" flipH="0" flipV="0">
            <a:off x="6019800" y="4991100"/>
            <a:ext cx="9144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追溯</a:t>
            </a:r>
            <a:endParaRPr/>
          </a:p>
        </p:txBody>
      </p:sp>
      <p:sp>
        <p:nvSpPr>
          <p:cNvPr id="2290" name="" descr="{&quot;isTemplate&quot;:true,&quot;type&quot;:&quot;text&quot;}"/>
          <p:cNvSpPr txBox="1"/>
          <p:nvPr/>
        </p:nvSpPr>
        <p:spPr>
          <a:xfrm rot="0" flipH="0" flipV="0">
            <a:off x="6019800" y="5172075"/>
            <a:ext cx="9144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诊断→建议→需求</a:t>
            </a:r>
            <a:endParaRPr/>
          </a:p>
        </p:txBody>
      </p:sp>
      <p:sp>
        <p:nvSpPr>
          <p:cNvPr id="2291" name="" descr="{&quot;isTemplate&quot;:true,&quot;type&quot;:&quot;text&quot;}"/>
          <p:cNvSpPr txBox="1"/>
          <p:nvPr/>
        </p:nvSpPr>
        <p:spPr>
          <a:xfrm rot="0" flipH="0" flipV="0">
            <a:off x="7219950" y="4991100"/>
            <a:ext cx="962025" cy="142875"/>
          </a:xfrm>
          <a:prstGeom prst="rect"/>
        </p:spPr>
        <p:txBody>
          <a:bodyPr wrap="none" lIns="0" tIns="0" rIns="0" bIns="0"/>
          <a:p>
            <a:pPr>
              <a:lnSpc>
                <a:spcPct val="100000"/>
              </a:lnSpc>
            </a:pPr>
            <a:r>
              <a:rPr lang="en-US" sz="938" b="1">
                <a:solidFill>
                  <a:srgbClr val="FBA15C">
                    <a:alpha val="72000"/>
                  </a:srgbClr>
                </a:solidFill>
                <a:latin typeface="Microsoft YaHei"/>
                <a:ea typeface="Microsoft YaHei"/>
              </a:rPr>
              <a:t>AI</a:t>
            </a:r>
            <a:endParaRPr/>
          </a:p>
        </p:txBody>
      </p:sp>
      <p:sp>
        <p:nvSpPr>
          <p:cNvPr id="2292" name="" descr="{&quot;isTemplate&quot;:true,&quot;type&quot;:&quot;text&quot;}"/>
          <p:cNvSpPr txBox="1"/>
          <p:nvPr/>
        </p:nvSpPr>
        <p:spPr>
          <a:xfrm rot="0" flipH="0" flipV="0">
            <a:off x="7219950" y="5172075"/>
            <a:ext cx="962025"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识别</a:t>
            </a:r>
            <a:r>
              <a:rPr lang="en-US" sz="900">
                <a:solidFill>
                  <a:srgbClr val="FFFFFF">
                    <a:alpha val="57600"/>
                  </a:srgbClr>
                </a:solidFill>
                <a:latin typeface="Microsoft YaHei"/>
                <a:ea typeface="Microsoft YaHei"/>
              </a:rPr>
              <a:t xml:space="preserve"> + </a:t>
            </a:r>
            <a:r>
              <a:rPr lang="zh-CN" sz="900">
                <a:solidFill>
                  <a:srgbClr val="FFFFFF">
                    <a:alpha val="57600"/>
                  </a:srgbClr>
                </a:solidFill>
                <a:latin typeface="Microsoft YaHei"/>
                <a:ea typeface="Microsoft YaHei"/>
              </a:rPr>
              <a:t>优先级两轮</a:t>
            </a:r>
            <a:endParaRPr/>
          </a:p>
        </p:txBody>
      </p:sp>
      <p:sp>
        <p:nvSpPr>
          <p:cNvPr id="2293" name=""/>
          <p:cNvSpPr/>
          <p:nvPr/>
        </p:nvSpPr>
        <p:spPr>
          <a:xfrm rot="0" flipH="0" flipV="0">
            <a:off x="8172450" y="6143625"/>
            <a:ext cx="133350" cy="133350"/>
          </a:xfrm>
          <a:prstGeom prst="rect">
            <a:avLst/>
          </a:prstGeom>
          <a:solidFill>
            <a:srgbClr val="FA4F24"/>
          </a:solidFill>
          <a:ln/>
        </p:spPr>
        <p:txBody>
          <a:bodyPr/>
          <a:p/>
        </p:txBody>
      </p:sp>
      <p:sp>
        <p:nvSpPr>
          <p:cNvPr id="2294" name="" descr="{&quot;isTemplate&quot;:true,&quot;type&quot;:&quot;text&quot;}"/>
          <p:cNvSpPr txBox="1"/>
          <p:nvPr/>
        </p:nvSpPr>
        <p:spPr>
          <a:xfrm rot="0" flipH="0" flipV="0">
            <a:off x="8420100" y="6124575"/>
            <a:ext cx="224790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利星能业务变革咨询方法论</a:t>
            </a:r>
            <a:endParaRPr/>
          </a:p>
        </p:txBody>
      </p:sp>
      <p:sp>
        <p:nvSpPr>
          <p:cNvPr id="2295" name="" descr="{&quot;isTemplate&quot;:true,&quot;type&quot;:&quot;text&quot;}"/>
          <p:cNvSpPr txBox="1"/>
          <p:nvPr/>
        </p:nvSpPr>
        <p:spPr>
          <a:xfrm rot="0" flipH="0" flipV="0">
            <a:off x="10896600" y="61245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05 / 36</a:t>
            </a:r>
            <a:endParaRPr/>
          </a:p>
        </p:txBody>
      </p:sp>
    </p:spTree>
  </p:cSld>
</p:sld>
</file>

<file path=ppt/slides/slide6.xml><?xml version="1.0" encoding="utf-8"?>
<p:sld xmlns:p="http://schemas.openxmlformats.org/presentationml/2006/main" xmlns:a="http://schemas.openxmlformats.org/drawingml/2006/main">
  <p:cSld>
    <p:spTree>
      <p:nvGrpSpPr>
        <p:cNvPr id="2296" name="" descr="&lt;Slide style={{ width: 1280, height: 720, background: '#FFFFFF', padding: '24px 64px 0' }}&gt;&#10;    {/* A 区 */}&#10;    &lt;Box style={{ height: 96, flexDirection: 'column', justifyContent: 'flex-start' }}&gt;&#10;        &lt;Text style={{ fontSize: 32, fontWeight: 'bold', color: '#0F1423' }}&gt;&#10;            招标 3.2 五条方法论要求 &lt;span style={{ color: '#FA4F24' }}&gt;→ 方法论逐条应答&lt;/span&gt;&#10;        &lt;/Text&gt;&#10;        &lt;Text style={{ fontSize: 19, color: '#8A8F99', marginTop: 7 }}&gt;&#10;            每一行都能在评审时被指着念：这一条我们用哪个方法、在哪一页、交什么&#10;        &lt;/Text&gt;&#10;    &lt;/Box&gt;&#10;    &lt;Box style={{ height: 1, background: '#E8E8E8' }} /&gt;&#10;&#10;    {/* B 区 */}&#10;    &lt;Box style={{ paddingTop: 10, paddingBottom: 6, height: 479, flexDirection: 'column', gap: 8 }}&gt;&#10;        {/* 表头 */}&#10;        &lt;Box style={{ height: 30, flexDirection: 'row', gap: 6 }}&gt;&#10;            &lt;Box style={{ width: 208, background: '#0F1423', borderRadius: 3, padding: '0 12px', flexDirection: 'row', alignItems: 'center' }}&gt;&#10;                &lt;Text style={{ fontSize: 12, fontWeight: 'bold', color: '#FFFFFF' }}&gt;招标条款&lt;/Text&gt;&#10;            &lt;/Box&gt;&#10;            &lt;Box style={{ flex: 1, background: '#0F1423', borderRadius: 3, padding: '0 12px', flexDirection: 'row', alignItems: 'center' }}&gt;&#10;                &lt;Text style={{ fontSize: 12, fontWeight: 'bold', color: '#FFFFFF' }}&gt;对应 4A 域&lt;/Text&gt;&#10;            &lt;/Box&gt;&#10;            &lt;Box style={{ flex: 1, background: '#0F1423', borderRadius: 3, padding: '0 12px', flexDirection: 'row', alignItems: 'center' }}&gt;&#10;                &lt;Text style={{ fontSize: 12, fontWeight: 'bold', color: '#FFFFFF' }}&gt;我们用的方法&lt;/Text&gt;&#10;            &lt;/Box&gt;&#10;            &lt;Box style={{ width: 244, background: '#0F1423', borderRadius: 3, padding: '0 12px', flexDirection: 'row', alignItems: 'center' }}&gt;&#10;                &lt;Text style={{ fontSize: 12, fontWeight: 'bold', color: '#FFFFFF' }}&gt;落到哪一页 / 交什么&lt;/Text&gt;&#10;            &lt;/Box&gt;&#10;        &lt;/Box&gt;&#10;&#10;        {/* 五行 */}&#10;        {[&#10;            { c: '3.2(1)', d: '业务现状分析框架 · 含根因分析方法', a: 'BA', m: '五维现状扫描 + 五问追根法（连问五次到组织与规则层）', p: 'P15　痛点↔根因逐项对应表', col: '#FA4F24' },&#10;            { c: '3.2(1)', d: '业务流程优化 · 含目标流程设计方法', a: 'BA', m: '流程领域架构 → 核心业务循环 → L4 子流程（带接口与数据流转）', p: 'P22　流程领域架构图 + L4 清单', col: '#FA4F24' },&#10;            { c: '3.2(1)', d: '业务需求分析 · 须全链路可追溯', a: 'BA', m: '四段式追溯矩阵：痛点→根因→变革建议→系统需求，编号一一对应', p: 'P10 / P31　追溯矩阵 + 基线冻结', col: '#FA4F24' },&#10;            { c: '3.2(2)', d: '数据现状分析 · 含主数据与数据治理', a: 'DA', m: '数据四维现状（资产/模型/标准/分布）+ 主数据八类识别 + 最小可行治理', p: 'P16 / P30　实体属性与数据标准清单', col: '#E0641E' },&#10;            { c: '3.2(3)', d: '应用现状分析 · 含应用集成', a: 'AA', m: '应用资产盘点（系统数·功能·用户）+ 集成现状（方式·协议·调用）', p: 'P17 / P24　应用域划分与集成架构', col: '#C43A17' },&#10;            { c: '3.2(4)', d: '技术现状分析 · 含 AI 所需技术', a: 'TA', m: '基础设施四层盘点 + AI 五项就绪度（算力/模型/向量/编排/治理）', p: 'P18　AI 技术就绪度评估表', col: '#9E3410' },&#10;            { c: '3.2(5)', d: 'AI 场景识别与优先级评估方法', a: 'BA+AA', m: '价值×可行性×风险三维打分，蓝图阶段初识、规格阶段细化', p: 'P25 / P33　AI 应用场景清单（排序）', col: '#C43A17' },&#10;        ].map((r, i) =&gt; (&#10;            &lt;Box key={i} style={{ flex: 1, flexDirection: 'row', gap: 6, alignItems: 'stretch' }}&gt;&#10;                &lt;Box style={{ width: 208, background: '#F7F7F8', borderRadius: 3, borderLeft: '3px solid ' + r.col, padding: '0 11px', flexDirection: 'column', justifyContent: 'center' }}&gt;&#10;                    &lt;Text style={{ fontSize: 10.5, color: r.col, fontWeight: 'bold' }}&gt;{r.c}&lt;/Text&gt;&#10;                    &lt;Text style={{ fontSize: 11, color: '#3A4050', lineHeight: 1.3, marginTop: 2 }}&gt;{r.d}&lt;/Text&gt;&#10;                &lt;/Box&gt;&#10;                &lt;Box style={{ flex: 1, background: '#F7F7F8', borderRadius: 3, padding: '0 12px', flexDirection: 'row', alignItems: 'center', gap: 7 }}&gt;&#10;                    &lt;Box style={{ height: 19, width: 40, borderRadius: 2, background: r.col, alignItems: 'center', justifyContent: 'center', flexDirection: 'row' }}&gt;&#10;                        &lt;Text style={{ fontSize: 11, fontWeight: 'bold', color: '#FFFFFF' }}&gt;{r.a}&lt;/Text&gt;&#10;                    &lt;/Box&gt;&#10;                    &lt;Text style={{ fontSize: 11, color: '#0F1423', lineHeight: 1.35, flex: 1 }}&gt;{r.m}&lt;/Text&gt;&#10;                &lt;/Box&gt;&#10;                &lt;Box style={{ width: 244, background: '#FFF3EE', borderRadius: 3, padding: '0 12px', flexDirection: 'row', alignItems: 'center', gap: 6 }}&gt;&#10;                    &lt;Text style={{ fontSize: 11.5, fontWeight: 'bold', color: '#C43A17' }}&gt;{r.p}&lt;/Text&gt;&#10;                &lt;/Box&gt;&#10;            &lt;/Box&gt;&#10;        ))}&#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06 / 36&lt;/Text&gt;&#10;    &lt;/Box&gt;&#10;&lt;/Slide&gt;&#10;"/>
        <p:cNvGrpSpPr/>
        <p:nvPr/>
      </p:nvGrpSpPr>
      <p:grpSpPr>
        <a:xfrm>
          <a:off x="0" y="0"/>
          <a:ext cx="0" cy="0"/>
          <a:chOff x="0" y="0"/>
          <a:chExt cx="0" cy="0"/>
        </a:xfrm>
      </p:grpSpPr>
      <p:sp>
        <p:nvSpPr>
          <p:cNvPr id="2297" name=""/>
          <p:cNvSpPr/>
          <p:nvPr/>
        </p:nvSpPr>
        <p:spPr>
          <a:xfrm rot="0" flipH="0" flipV="0">
            <a:off x="0" y="0"/>
            <a:ext cx="12192000" cy="6858000"/>
          </a:xfrm>
          <a:prstGeom prst="rect">
            <a:avLst/>
          </a:prstGeom>
          <a:solidFill>
            <a:srgbClr val="FFFFFF"/>
          </a:solidFill>
          <a:ln/>
        </p:spPr>
        <p:txBody>
          <a:bodyPr/>
          <a:p/>
        </p:txBody>
      </p:sp>
      <p:sp>
        <p:nvSpPr>
          <p:cNvPr id="229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招标</a:t>
            </a:r>
            <a:r>
              <a:rPr lang="en-US" sz="2400" b="1">
                <a:solidFill>
                  <a:srgbClr val="0F1423"/>
                </a:solidFill>
                <a:latin typeface="Microsoft YaHei"/>
                <a:ea typeface="Microsoft YaHei"/>
              </a:rPr>
              <a:t xml:space="preserve"> 3.2 </a:t>
            </a:r>
            <a:r>
              <a:rPr lang="zh-CN" sz="2400" b="1">
                <a:solidFill>
                  <a:srgbClr val="0F1423"/>
                </a:solidFill>
                <a:latin typeface="Microsoft YaHei"/>
                <a:ea typeface="Microsoft YaHei"/>
              </a:rPr>
              <a:t>五条方法论要求</a:t>
            </a:r>
            <a:r>
              <a:rPr lang="en-US" sz="2400" b="1">
                <a:solidFill>
                  <a:srgbClr val="0F1423"/>
                </a:solidFill>
                <a:latin typeface="Microsoft YaHei"/>
                <a:ea typeface="Microsoft YaHei"/>
              </a:rPr>
              <a:t xml:space="preserve"> </a:t>
            </a:r>
            <a:r>
              <a:rPr lang="en-US" sz="2400" b="1">
                <a:solidFill>
                  <a:srgbClr val="FA4F24"/>
                </a:solidFill>
                <a:latin typeface="Microsoft YaHei"/>
                <a:ea typeface="Microsoft YaHei"/>
              </a:rPr>
              <a:t xml:space="preserve">→ </a:t>
            </a:r>
            <a:r>
              <a:rPr lang="zh-CN" sz="2400" b="1">
                <a:solidFill>
                  <a:srgbClr val="FA4F24"/>
                </a:solidFill>
                <a:latin typeface="Microsoft YaHei"/>
                <a:ea typeface="Microsoft YaHei"/>
              </a:rPr>
              <a:t>方法论逐条应答</a:t>
            </a:r>
            <a:endParaRPr/>
          </a:p>
        </p:txBody>
      </p:sp>
      <p:sp>
        <p:nvSpPr>
          <p:cNvPr id="2299"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每一行都能在评审时被指着念：这一条我们用哪个方法、在哪一页、交什么</a:t>
            </a:r>
            <a:endParaRPr/>
          </a:p>
        </p:txBody>
      </p:sp>
      <p:sp>
        <p:nvSpPr>
          <p:cNvPr id="2300" name=""/>
          <p:cNvSpPr/>
          <p:nvPr/>
        </p:nvSpPr>
        <p:spPr>
          <a:xfrm rot="0" flipH="0" flipV="0">
            <a:off x="609600" y="1143000"/>
            <a:ext cx="10972800" cy="9525"/>
          </a:xfrm>
          <a:prstGeom prst="rect">
            <a:avLst/>
          </a:prstGeom>
          <a:solidFill>
            <a:srgbClr val="E8E8E8"/>
          </a:solidFill>
          <a:ln/>
        </p:spPr>
        <p:txBody>
          <a:bodyPr/>
          <a:p/>
        </p:txBody>
      </p:sp>
      <p:sp>
        <p:nvSpPr>
          <p:cNvPr id="2301" name=""/>
          <p:cNvSpPr/>
          <p:nvPr/>
        </p:nvSpPr>
        <p:spPr>
          <a:xfrm rot="0" flipH="0" flipV="0">
            <a:off x="609600" y="1247775"/>
            <a:ext cx="1981200" cy="285750"/>
          </a:xfrm>
          <a:prstGeom prst="roundRect">
            <a:avLst>
              <a:gd name="adj" fmla="val 10000"/>
            </a:avLst>
          </a:prstGeom>
          <a:solidFill>
            <a:srgbClr val="0F1423"/>
          </a:solidFill>
          <a:ln/>
        </p:spPr>
        <p:txBody>
          <a:bodyPr/>
          <a:p/>
        </p:txBody>
      </p:sp>
      <p:sp>
        <p:nvSpPr>
          <p:cNvPr id="2302" name="" descr="{&quot;isTemplate&quot;:true,&quot;type&quot;:&quot;text&quot;}"/>
          <p:cNvSpPr txBox="1"/>
          <p:nvPr/>
        </p:nvSpPr>
        <p:spPr>
          <a:xfrm rot="0" flipH="0" flipV="0">
            <a:off x="723900" y="1323975"/>
            <a:ext cx="457200" cy="142875"/>
          </a:xfrm>
          <a:prstGeom prst="rect"/>
        </p:spPr>
        <p:txBody>
          <a:bodyPr wrap="none" lIns="0" tIns="0" rIns="0" bIns="0"/>
          <a:p>
            <a:pPr>
              <a:lnSpc>
                <a:spcPct val="100000"/>
              </a:lnSpc>
            </a:pPr>
            <a:r>
              <a:rPr lang="zh-CN" sz="900" b="1">
                <a:solidFill>
                  <a:srgbClr val="FFFFFF"/>
                </a:solidFill>
                <a:latin typeface="Microsoft YaHei"/>
                <a:ea typeface="Microsoft YaHei"/>
              </a:rPr>
              <a:t>招标条款</a:t>
            </a:r>
            <a:endParaRPr/>
          </a:p>
        </p:txBody>
      </p:sp>
      <p:sp>
        <p:nvSpPr>
          <p:cNvPr id="2303" name=""/>
          <p:cNvSpPr/>
          <p:nvPr/>
        </p:nvSpPr>
        <p:spPr>
          <a:xfrm rot="0" flipH="0" flipV="0">
            <a:off x="2647950" y="1247775"/>
            <a:ext cx="3248025" cy="285750"/>
          </a:xfrm>
          <a:prstGeom prst="roundRect">
            <a:avLst>
              <a:gd name="adj" fmla="val 10000"/>
            </a:avLst>
          </a:prstGeom>
          <a:solidFill>
            <a:srgbClr val="0F1423"/>
          </a:solidFill>
          <a:ln/>
        </p:spPr>
        <p:txBody>
          <a:bodyPr/>
          <a:p/>
        </p:txBody>
      </p:sp>
      <p:sp>
        <p:nvSpPr>
          <p:cNvPr id="2304" name="" descr="{&quot;isTemplate&quot;:true,&quot;type&quot;:&quot;text&quot;}"/>
          <p:cNvSpPr txBox="1"/>
          <p:nvPr/>
        </p:nvSpPr>
        <p:spPr>
          <a:xfrm rot="0" flipH="0" flipV="0">
            <a:off x="2762250" y="1323975"/>
            <a:ext cx="571500" cy="142875"/>
          </a:xfrm>
          <a:prstGeom prst="rect"/>
        </p:spPr>
        <p:txBody>
          <a:bodyPr wrap="none" lIns="0" tIns="0" rIns="0" bIns="0"/>
          <a:p>
            <a:pPr>
              <a:lnSpc>
                <a:spcPct val="100000"/>
              </a:lnSpc>
            </a:pPr>
            <a:r>
              <a:rPr lang="zh-CN" sz="900" b="1">
                <a:solidFill>
                  <a:srgbClr val="FFFFFF"/>
                </a:solidFill>
                <a:latin typeface="Microsoft YaHei"/>
                <a:ea typeface="Microsoft YaHei"/>
              </a:rPr>
              <a:t>对应</a:t>
            </a:r>
            <a:r>
              <a:rPr lang="en-US" sz="900" b="1">
                <a:solidFill>
                  <a:srgbClr val="FFFFFF"/>
                </a:solidFill>
                <a:latin typeface="Microsoft YaHei"/>
                <a:ea typeface="Microsoft YaHei"/>
              </a:rPr>
              <a:t xml:space="preserve"> 4A </a:t>
            </a:r>
            <a:r>
              <a:rPr lang="zh-CN" sz="900" b="1">
                <a:solidFill>
                  <a:srgbClr val="FFFFFF"/>
                </a:solidFill>
                <a:latin typeface="Microsoft YaHei"/>
                <a:ea typeface="Microsoft YaHei"/>
              </a:rPr>
              <a:t>域</a:t>
            </a:r>
            <a:endParaRPr/>
          </a:p>
        </p:txBody>
      </p:sp>
      <p:sp>
        <p:nvSpPr>
          <p:cNvPr id="2305" name=""/>
          <p:cNvSpPr/>
          <p:nvPr/>
        </p:nvSpPr>
        <p:spPr>
          <a:xfrm rot="0" flipH="0" flipV="0">
            <a:off x="5953125" y="1247775"/>
            <a:ext cx="3248025" cy="285750"/>
          </a:xfrm>
          <a:prstGeom prst="roundRect">
            <a:avLst>
              <a:gd name="adj" fmla="val 10000"/>
            </a:avLst>
          </a:prstGeom>
          <a:solidFill>
            <a:srgbClr val="0F1423"/>
          </a:solidFill>
          <a:ln/>
        </p:spPr>
        <p:txBody>
          <a:bodyPr/>
          <a:p/>
        </p:txBody>
      </p:sp>
      <p:sp>
        <p:nvSpPr>
          <p:cNvPr id="2306" name="" descr="{&quot;isTemplate&quot;:true,&quot;type&quot;:&quot;text&quot;}"/>
          <p:cNvSpPr txBox="1"/>
          <p:nvPr/>
        </p:nvSpPr>
        <p:spPr>
          <a:xfrm rot="0" flipH="0" flipV="0">
            <a:off x="6067425" y="1323975"/>
            <a:ext cx="685800" cy="142875"/>
          </a:xfrm>
          <a:prstGeom prst="rect"/>
        </p:spPr>
        <p:txBody>
          <a:bodyPr wrap="none" lIns="0" tIns="0" rIns="0" bIns="0"/>
          <a:p>
            <a:pPr>
              <a:lnSpc>
                <a:spcPct val="100000"/>
              </a:lnSpc>
            </a:pPr>
            <a:r>
              <a:rPr lang="zh-CN" sz="900" b="1">
                <a:solidFill>
                  <a:srgbClr val="FFFFFF"/>
                </a:solidFill>
                <a:latin typeface="Microsoft YaHei"/>
                <a:ea typeface="Microsoft YaHei"/>
              </a:rPr>
              <a:t>我们用的方法</a:t>
            </a:r>
            <a:endParaRPr/>
          </a:p>
        </p:txBody>
      </p:sp>
      <p:sp>
        <p:nvSpPr>
          <p:cNvPr id="2307" name=""/>
          <p:cNvSpPr/>
          <p:nvPr/>
        </p:nvSpPr>
        <p:spPr>
          <a:xfrm rot="0" flipH="0" flipV="0">
            <a:off x="9258300" y="1247775"/>
            <a:ext cx="2324100" cy="285750"/>
          </a:xfrm>
          <a:prstGeom prst="roundRect">
            <a:avLst>
              <a:gd name="adj" fmla="val 10000"/>
            </a:avLst>
          </a:prstGeom>
          <a:solidFill>
            <a:srgbClr val="0F1423"/>
          </a:solidFill>
          <a:ln/>
        </p:spPr>
        <p:txBody>
          <a:bodyPr/>
          <a:p/>
        </p:txBody>
      </p:sp>
      <p:sp>
        <p:nvSpPr>
          <p:cNvPr id="2308" name="" descr="{&quot;isTemplate&quot;:true,&quot;type&quot;:&quot;text&quot;}"/>
          <p:cNvSpPr txBox="1"/>
          <p:nvPr/>
        </p:nvSpPr>
        <p:spPr>
          <a:xfrm rot="0" flipH="0" flipV="0">
            <a:off x="9372600" y="1323975"/>
            <a:ext cx="1038225" cy="142875"/>
          </a:xfrm>
          <a:prstGeom prst="rect"/>
        </p:spPr>
        <p:txBody>
          <a:bodyPr wrap="none" lIns="0" tIns="0" rIns="0" bIns="0"/>
          <a:p>
            <a:pPr>
              <a:lnSpc>
                <a:spcPct val="100000"/>
              </a:lnSpc>
            </a:pPr>
            <a:r>
              <a:rPr lang="zh-CN" sz="900" b="1">
                <a:solidFill>
                  <a:srgbClr val="FFFFFF"/>
                </a:solidFill>
                <a:latin typeface="Microsoft YaHei"/>
                <a:ea typeface="Microsoft YaHei"/>
              </a:rPr>
              <a:t>落到哪一页</a:t>
            </a:r>
            <a:r>
              <a:rPr lang="en-US" sz="900" b="1">
                <a:solidFill>
                  <a:srgbClr val="FFFFFF"/>
                </a:solidFill>
                <a:latin typeface="Microsoft YaHei"/>
                <a:ea typeface="Microsoft YaHei"/>
              </a:rPr>
              <a:t xml:space="preserve"> / </a:t>
            </a:r>
            <a:r>
              <a:rPr lang="zh-CN" sz="900" b="1">
                <a:solidFill>
                  <a:srgbClr val="FFFFFF"/>
                </a:solidFill>
                <a:latin typeface="Microsoft YaHei"/>
                <a:ea typeface="Microsoft YaHei"/>
              </a:rPr>
              <a:t>交什么</a:t>
            </a:r>
            <a:endParaRPr/>
          </a:p>
        </p:txBody>
      </p:sp>
      <p:sp>
        <p:nvSpPr>
          <p:cNvPr id="2309" name=""/>
          <p:cNvSpPr/>
          <p:nvPr/>
        </p:nvSpPr>
        <p:spPr>
          <a:xfrm rot="0" flipH="0" flipV="0">
            <a:off x="638175" y="1609725"/>
            <a:ext cx="1952625" cy="514350"/>
          </a:xfrm>
          <a:prstGeom prst="roundRect">
            <a:avLst>
              <a:gd name="adj" fmla="val 5556"/>
            </a:avLst>
          </a:prstGeom>
          <a:solidFill>
            <a:srgbClr val="F7F7F8"/>
          </a:solidFill>
          <a:ln/>
        </p:spPr>
        <p:txBody>
          <a:bodyPr/>
          <a:p/>
        </p:txBody>
      </p:sp>
      <p:sp>
        <p:nvSpPr>
          <p:cNvPr id="2310" name=""/>
          <p:cNvSpPr/>
          <p:nvPr/>
        </p:nvSpPr>
        <p:spPr>
          <a:xfrm rot="0" flipH="0" flipV="0">
            <a:off x="638175" y="1609725"/>
            <a:ext cx="1952625" cy="514350"/>
          </a:xfrm>
          <a:custGeom>
            <a:pathLst>
              <a:path w="205" h="54">
                <a:moveTo>
                  <a:pt x="3" y="54"/>
                </a:moveTo>
                <a:cubicBezTo>
                  <a:pt x="1" y="54"/>
                  <a:pt x="0" y="53"/>
                  <a:pt x="0" y="51"/>
                </a:cubicBezTo>
                <a:lnTo>
                  <a:pt x="0" y="3"/>
                </a:lnTo>
                <a:cubicBezTo>
                  <a:pt x="0" y="1"/>
                  <a:pt x="1" y="0"/>
                  <a:pt x="3" y="0"/>
                </a:cubicBezTo>
                <a:lnTo>
                  <a:pt x="3" y="54"/>
                </a:lnTo>
                <a:close/>
              </a:path>
            </a:pathLst>
          </a:custGeom>
          <a:solidFill>
            <a:srgbClr val="FA4F24"/>
          </a:solidFill>
          <a:ln/>
        </p:spPr>
        <p:txBody>
          <a:bodyPr/>
          <a:p/>
        </p:txBody>
      </p:sp>
      <p:sp>
        <p:nvSpPr>
          <p:cNvPr id="2311" name="" descr="{&quot;isTemplate&quot;:true,&quot;type&quot;:&quot;text&quot;}"/>
          <p:cNvSpPr txBox="1"/>
          <p:nvPr/>
        </p:nvSpPr>
        <p:spPr>
          <a:xfrm rot="0" flipH="0" flipV="0">
            <a:off x="742950" y="1714500"/>
            <a:ext cx="1743075" cy="123825"/>
          </a:xfrm>
          <a:prstGeom prst="rect"/>
        </p:spPr>
        <p:txBody>
          <a:bodyPr wrap="none" lIns="0" tIns="0" rIns="0" bIns="0"/>
          <a:p>
            <a:pPr>
              <a:lnSpc>
                <a:spcPct val="100000"/>
              </a:lnSpc>
            </a:pPr>
            <a:r>
              <a:rPr lang="en-US" sz="788" b="1">
                <a:solidFill>
                  <a:srgbClr val="FA4F24"/>
                </a:solidFill>
                <a:latin typeface="Microsoft YaHei"/>
                <a:ea typeface="Microsoft YaHei"/>
              </a:rPr>
              <a:t>3.2(1)</a:t>
            </a:r>
            <a:endParaRPr/>
          </a:p>
        </p:txBody>
      </p:sp>
      <p:sp>
        <p:nvSpPr>
          <p:cNvPr id="2312" name="" descr="{&quot;isTemplate&quot;:true,&quot;type&quot;:&quot;text&quot;}"/>
          <p:cNvSpPr txBox="1"/>
          <p:nvPr/>
        </p:nvSpPr>
        <p:spPr>
          <a:xfrm rot="0" flipH="0" flipV="0">
            <a:off x="742950" y="1857375"/>
            <a:ext cx="1743075" cy="171450"/>
          </a:xfrm>
          <a:prstGeom prst="rect"/>
        </p:spPr>
        <p:txBody>
          <a:bodyPr wrap="none" lIns="0" tIns="0" rIns="0" bIns="0"/>
          <a:p>
            <a:pPr>
              <a:lnSpc>
                <a:spcPct val="130000"/>
              </a:lnSpc>
            </a:pPr>
            <a:r>
              <a:rPr lang="zh-CN" sz="825">
                <a:solidFill>
                  <a:srgbClr val="3A4050"/>
                </a:solidFill>
                <a:latin typeface="Microsoft YaHei"/>
                <a:ea typeface="Microsoft YaHei"/>
              </a:rPr>
              <a:t>业务现状分析框架</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含根因分析方法</a:t>
            </a:r>
            <a:endParaRPr/>
          </a:p>
        </p:txBody>
      </p:sp>
      <p:sp>
        <p:nvSpPr>
          <p:cNvPr id="2313" name=""/>
          <p:cNvSpPr/>
          <p:nvPr/>
        </p:nvSpPr>
        <p:spPr>
          <a:xfrm rot="0" flipH="0" flipV="0">
            <a:off x="2647950" y="1609725"/>
            <a:ext cx="6553200" cy="514350"/>
          </a:xfrm>
          <a:prstGeom prst="roundRect">
            <a:avLst>
              <a:gd name="adj" fmla="val 5556"/>
            </a:avLst>
          </a:prstGeom>
          <a:solidFill>
            <a:srgbClr val="F7F7F8"/>
          </a:solidFill>
          <a:ln/>
        </p:spPr>
        <p:txBody>
          <a:bodyPr/>
          <a:p/>
        </p:txBody>
      </p:sp>
      <p:sp>
        <p:nvSpPr>
          <p:cNvPr id="2314" name=""/>
          <p:cNvSpPr/>
          <p:nvPr/>
        </p:nvSpPr>
        <p:spPr>
          <a:xfrm rot="0" flipH="0" flipV="0">
            <a:off x="2762250" y="1781175"/>
            <a:ext cx="381000" cy="180975"/>
          </a:xfrm>
          <a:prstGeom prst="roundRect">
            <a:avLst>
              <a:gd name="adj" fmla="val 10526"/>
            </a:avLst>
          </a:prstGeom>
          <a:solidFill>
            <a:srgbClr val="FA4F24"/>
          </a:solidFill>
          <a:ln/>
        </p:spPr>
        <p:txBody>
          <a:bodyPr/>
          <a:p/>
        </p:txBody>
      </p:sp>
      <p:sp>
        <p:nvSpPr>
          <p:cNvPr id="2315" name="" descr="{&quot;isTemplate&quot;:true,&quot;type&quot;:&quot;text&quot;}"/>
          <p:cNvSpPr txBox="1"/>
          <p:nvPr/>
        </p:nvSpPr>
        <p:spPr>
          <a:xfrm rot="0" flipH="0" flipV="0">
            <a:off x="2876550" y="1809750"/>
            <a:ext cx="152400" cy="133350"/>
          </a:xfrm>
          <a:prstGeom prst="rect"/>
        </p:spPr>
        <p:txBody>
          <a:bodyPr wrap="none" lIns="0" tIns="0" rIns="0" bIns="0"/>
          <a:p>
            <a:pPr>
              <a:lnSpc>
                <a:spcPct val="100000"/>
              </a:lnSpc>
            </a:pPr>
            <a:r>
              <a:rPr lang="en-US" sz="825" b="1">
                <a:solidFill>
                  <a:srgbClr val="FFFFFF"/>
                </a:solidFill>
                <a:latin typeface="Microsoft YaHei"/>
                <a:ea typeface="Microsoft YaHei"/>
              </a:rPr>
              <a:t>BA</a:t>
            </a:r>
            <a:endParaRPr/>
          </a:p>
        </p:txBody>
      </p:sp>
      <p:sp>
        <p:nvSpPr>
          <p:cNvPr id="2316" name="" descr="{&quot;isTemplate&quot;:true,&quot;type&quot;:&quot;text&quot;}"/>
          <p:cNvSpPr txBox="1"/>
          <p:nvPr/>
        </p:nvSpPr>
        <p:spPr>
          <a:xfrm rot="0" flipH="0" flipV="0">
            <a:off x="3209925" y="1781175"/>
            <a:ext cx="5876925" cy="171450"/>
          </a:xfrm>
          <a:prstGeom prst="rect"/>
        </p:spPr>
        <p:txBody>
          <a:bodyPr wrap="none" lIns="0" tIns="0" rIns="0" bIns="0"/>
          <a:p>
            <a:pPr>
              <a:lnSpc>
                <a:spcPct val="135000"/>
              </a:lnSpc>
            </a:pPr>
            <a:r>
              <a:rPr lang="zh-CN" sz="825">
                <a:solidFill>
                  <a:srgbClr val="0F1423"/>
                </a:solidFill>
                <a:latin typeface="Microsoft YaHei"/>
                <a:ea typeface="Microsoft YaHei"/>
              </a:rPr>
              <a:t>五维现状扫描</a:t>
            </a:r>
            <a:r>
              <a:rPr lang="en-US" sz="825">
                <a:solidFill>
                  <a:srgbClr val="0F1423"/>
                </a:solidFill>
                <a:latin typeface="Microsoft YaHei"/>
                <a:ea typeface="Microsoft YaHei"/>
              </a:rPr>
              <a:t xml:space="preserve"> + </a:t>
            </a:r>
            <a:r>
              <a:rPr lang="zh-CN" sz="825">
                <a:solidFill>
                  <a:srgbClr val="0F1423"/>
                </a:solidFill>
                <a:latin typeface="Microsoft YaHei"/>
                <a:ea typeface="Microsoft YaHei"/>
              </a:rPr>
              <a:t>五问追根法（连问五次到组织与规则层）</a:t>
            </a:r>
            <a:endParaRPr/>
          </a:p>
        </p:txBody>
      </p:sp>
      <p:sp>
        <p:nvSpPr>
          <p:cNvPr id="2317" name=""/>
          <p:cNvSpPr/>
          <p:nvPr/>
        </p:nvSpPr>
        <p:spPr>
          <a:xfrm rot="0" flipH="0" flipV="0">
            <a:off x="9258300" y="1609725"/>
            <a:ext cx="2324100" cy="514350"/>
          </a:xfrm>
          <a:prstGeom prst="roundRect">
            <a:avLst>
              <a:gd name="adj" fmla="val 5556"/>
            </a:avLst>
          </a:prstGeom>
          <a:solidFill>
            <a:srgbClr val="FFF3EE"/>
          </a:solidFill>
          <a:ln/>
        </p:spPr>
        <p:txBody>
          <a:bodyPr/>
          <a:p/>
        </p:txBody>
      </p:sp>
      <p:sp>
        <p:nvSpPr>
          <p:cNvPr id="2318" name="" descr="{&quot;isTemplate&quot;:true,&quot;type&quot;:&quot;text&quot;}"/>
          <p:cNvSpPr txBox="1"/>
          <p:nvPr/>
        </p:nvSpPr>
        <p:spPr>
          <a:xfrm rot="0" flipH="0" flipV="0">
            <a:off x="9372600" y="1800225"/>
            <a:ext cx="1400175" cy="133350"/>
          </a:xfrm>
          <a:prstGeom prst="rect"/>
        </p:spPr>
        <p:txBody>
          <a:bodyPr wrap="none" lIns="0" tIns="0" rIns="0" bIns="0"/>
          <a:p>
            <a:pPr>
              <a:lnSpc>
                <a:spcPct val="100000"/>
              </a:lnSpc>
            </a:pPr>
            <a:r>
              <a:rPr lang="en-US" sz="863" b="1">
                <a:solidFill>
                  <a:srgbClr val="C43A17"/>
                </a:solidFill>
                <a:latin typeface="Microsoft YaHei"/>
                <a:ea typeface="Microsoft YaHei"/>
              </a:rPr>
              <a:t>P15</a:t>
            </a:r>
            <a:r>
              <a:rPr lang="zh-CN" sz="863" b="1">
                <a:solidFill>
                  <a:srgbClr val="C43A17"/>
                </a:solidFill>
                <a:latin typeface="Microsoft YaHei"/>
                <a:ea typeface="Microsoft YaHei"/>
              </a:rPr>
              <a:t>　痛点↔根因逐项对应表</a:t>
            </a:r>
            <a:endParaRPr/>
          </a:p>
        </p:txBody>
      </p:sp>
      <p:sp>
        <p:nvSpPr>
          <p:cNvPr id="2319" name=""/>
          <p:cNvSpPr/>
          <p:nvPr/>
        </p:nvSpPr>
        <p:spPr>
          <a:xfrm rot="0" flipH="0" flipV="0">
            <a:off x="638175" y="2200275"/>
            <a:ext cx="1952625" cy="514350"/>
          </a:xfrm>
          <a:prstGeom prst="roundRect">
            <a:avLst>
              <a:gd name="adj" fmla="val 5556"/>
            </a:avLst>
          </a:prstGeom>
          <a:solidFill>
            <a:srgbClr val="F7F7F8"/>
          </a:solidFill>
          <a:ln/>
        </p:spPr>
        <p:txBody>
          <a:bodyPr/>
          <a:p/>
        </p:txBody>
      </p:sp>
      <p:sp>
        <p:nvSpPr>
          <p:cNvPr id="2320" name=""/>
          <p:cNvSpPr/>
          <p:nvPr/>
        </p:nvSpPr>
        <p:spPr>
          <a:xfrm rot="0" flipH="0" flipV="0">
            <a:off x="638175" y="2200275"/>
            <a:ext cx="1952625" cy="514350"/>
          </a:xfrm>
          <a:custGeom>
            <a:pathLst>
              <a:path w="205" h="54">
                <a:moveTo>
                  <a:pt x="3" y="54"/>
                </a:moveTo>
                <a:cubicBezTo>
                  <a:pt x="1" y="54"/>
                  <a:pt x="0" y="53"/>
                  <a:pt x="0" y="51"/>
                </a:cubicBezTo>
                <a:lnTo>
                  <a:pt x="0" y="3"/>
                </a:lnTo>
                <a:cubicBezTo>
                  <a:pt x="0" y="1"/>
                  <a:pt x="1" y="0"/>
                  <a:pt x="3" y="0"/>
                </a:cubicBezTo>
                <a:lnTo>
                  <a:pt x="3" y="54"/>
                </a:lnTo>
                <a:close/>
              </a:path>
            </a:pathLst>
          </a:custGeom>
          <a:solidFill>
            <a:srgbClr val="FA4F24"/>
          </a:solidFill>
          <a:ln/>
        </p:spPr>
        <p:txBody>
          <a:bodyPr/>
          <a:p/>
        </p:txBody>
      </p:sp>
      <p:sp>
        <p:nvSpPr>
          <p:cNvPr id="2321" name="" descr="{&quot;isTemplate&quot;:true,&quot;type&quot;:&quot;text&quot;}"/>
          <p:cNvSpPr txBox="1"/>
          <p:nvPr/>
        </p:nvSpPr>
        <p:spPr>
          <a:xfrm rot="0" flipH="0" flipV="0">
            <a:off x="742950" y="2305050"/>
            <a:ext cx="1743075" cy="123825"/>
          </a:xfrm>
          <a:prstGeom prst="rect"/>
        </p:spPr>
        <p:txBody>
          <a:bodyPr wrap="none" lIns="0" tIns="0" rIns="0" bIns="0"/>
          <a:p>
            <a:pPr>
              <a:lnSpc>
                <a:spcPct val="100000"/>
              </a:lnSpc>
            </a:pPr>
            <a:r>
              <a:rPr lang="en-US" sz="788" b="1">
                <a:solidFill>
                  <a:srgbClr val="FA4F24"/>
                </a:solidFill>
                <a:latin typeface="Microsoft YaHei"/>
                <a:ea typeface="Microsoft YaHei"/>
              </a:rPr>
              <a:t>3.2(1)</a:t>
            </a:r>
            <a:endParaRPr/>
          </a:p>
        </p:txBody>
      </p:sp>
      <p:sp>
        <p:nvSpPr>
          <p:cNvPr id="2322" name="" descr="{&quot;isTemplate&quot;:true,&quot;type&quot;:&quot;text&quot;}"/>
          <p:cNvSpPr txBox="1"/>
          <p:nvPr/>
        </p:nvSpPr>
        <p:spPr>
          <a:xfrm rot="0" flipH="0" flipV="0">
            <a:off x="742950" y="2447925"/>
            <a:ext cx="1743075" cy="171450"/>
          </a:xfrm>
          <a:prstGeom prst="rect"/>
        </p:spPr>
        <p:txBody>
          <a:bodyPr wrap="none" lIns="0" tIns="0" rIns="0" bIns="0"/>
          <a:p>
            <a:pPr>
              <a:lnSpc>
                <a:spcPct val="130000"/>
              </a:lnSpc>
            </a:pPr>
            <a:r>
              <a:rPr lang="zh-CN" sz="825">
                <a:solidFill>
                  <a:srgbClr val="3A4050"/>
                </a:solidFill>
                <a:latin typeface="Microsoft YaHei"/>
                <a:ea typeface="Microsoft YaHei"/>
              </a:rPr>
              <a:t>业务流程优化</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含目标流程设计方法</a:t>
            </a:r>
            <a:endParaRPr/>
          </a:p>
        </p:txBody>
      </p:sp>
      <p:sp>
        <p:nvSpPr>
          <p:cNvPr id="2323" name=""/>
          <p:cNvSpPr/>
          <p:nvPr/>
        </p:nvSpPr>
        <p:spPr>
          <a:xfrm rot="0" flipH="0" flipV="0">
            <a:off x="2647950" y="2200275"/>
            <a:ext cx="6553200" cy="514350"/>
          </a:xfrm>
          <a:prstGeom prst="roundRect">
            <a:avLst>
              <a:gd name="adj" fmla="val 5556"/>
            </a:avLst>
          </a:prstGeom>
          <a:solidFill>
            <a:srgbClr val="F7F7F8"/>
          </a:solidFill>
          <a:ln/>
        </p:spPr>
        <p:txBody>
          <a:bodyPr/>
          <a:p/>
        </p:txBody>
      </p:sp>
      <p:sp>
        <p:nvSpPr>
          <p:cNvPr id="2324" name=""/>
          <p:cNvSpPr/>
          <p:nvPr/>
        </p:nvSpPr>
        <p:spPr>
          <a:xfrm rot="0" flipH="0" flipV="0">
            <a:off x="2762250" y="2371725"/>
            <a:ext cx="381000" cy="180975"/>
          </a:xfrm>
          <a:prstGeom prst="roundRect">
            <a:avLst>
              <a:gd name="adj" fmla="val 10526"/>
            </a:avLst>
          </a:prstGeom>
          <a:solidFill>
            <a:srgbClr val="FA4F24"/>
          </a:solidFill>
          <a:ln/>
        </p:spPr>
        <p:txBody>
          <a:bodyPr/>
          <a:p/>
        </p:txBody>
      </p:sp>
      <p:sp>
        <p:nvSpPr>
          <p:cNvPr id="2325" name="" descr="{&quot;isTemplate&quot;:true,&quot;type&quot;:&quot;text&quot;}"/>
          <p:cNvSpPr txBox="1"/>
          <p:nvPr/>
        </p:nvSpPr>
        <p:spPr>
          <a:xfrm rot="0" flipH="0" flipV="0">
            <a:off x="2876550" y="2400300"/>
            <a:ext cx="152400" cy="133350"/>
          </a:xfrm>
          <a:prstGeom prst="rect"/>
        </p:spPr>
        <p:txBody>
          <a:bodyPr wrap="none" lIns="0" tIns="0" rIns="0" bIns="0"/>
          <a:p>
            <a:pPr>
              <a:lnSpc>
                <a:spcPct val="100000"/>
              </a:lnSpc>
            </a:pPr>
            <a:r>
              <a:rPr lang="en-US" sz="825" b="1">
                <a:solidFill>
                  <a:srgbClr val="FFFFFF"/>
                </a:solidFill>
                <a:latin typeface="Microsoft YaHei"/>
                <a:ea typeface="Microsoft YaHei"/>
              </a:rPr>
              <a:t>BA</a:t>
            </a:r>
            <a:endParaRPr/>
          </a:p>
        </p:txBody>
      </p:sp>
      <p:sp>
        <p:nvSpPr>
          <p:cNvPr id="2326" name="" descr="{&quot;isTemplate&quot;:true,&quot;type&quot;:&quot;text&quot;}"/>
          <p:cNvSpPr txBox="1"/>
          <p:nvPr/>
        </p:nvSpPr>
        <p:spPr>
          <a:xfrm rot="0" flipH="0" flipV="0">
            <a:off x="3209925" y="2371725"/>
            <a:ext cx="5876925" cy="171450"/>
          </a:xfrm>
          <a:prstGeom prst="rect"/>
        </p:spPr>
        <p:txBody>
          <a:bodyPr wrap="none" lIns="0" tIns="0" rIns="0" bIns="0"/>
          <a:p>
            <a:pPr>
              <a:lnSpc>
                <a:spcPct val="135000"/>
              </a:lnSpc>
            </a:pPr>
            <a:r>
              <a:rPr lang="zh-CN" sz="825">
                <a:solidFill>
                  <a:srgbClr val="0F1423"/>
                </a:solidFill>
                <a:latin typeface="Microsoft YaHei"/>
                <a:ea typeface="Microsoft YaHei"/>
              </a:rPr>
              <a:t>流程领域架构</a:t>
            </a:r>
            <a:r>
              <a:rPr lang="en-US" sz="825">
                <a:solidFill>
                  <a:srgbClr val="0F1423"/>
                </a:solidFill>
                <a:latin typeface="Microsoft YaHei"/>
                <a:ea typeface="Microsoft YaHei"/>
              </a:rPr>
              <a:t xml:space="preserve"> → </a:t>
            </a:r>
            <a:r>
              <a:rPr lang="zh-CN" sz="825">
                <a:solidFill>
                  <a:srgbClr val="0F1423"/>
                </a:solidFill>
                <a:latin typeface="Microsoft YaHei"/>
                <a:ea typeface="Microsoft YaHei"/>
              </a:rPr>
              <a:t>核心业务循环</a:t>
            </a:r>
            <a:r>
              <a:rPr lang="en-US" sz="825">
                <a:solidFill>
                  <a:srgbClr val="0F1423"/>
                </a:solidFill>
                <a:latin typeface="Microsoft YaHei"/>
                <a:ea typeface="Microsoft YaHei"/>
              </a:rPr>
              <a:t xml:space="preserve"> → L4 </a:t>
            </a:r>
            <a:r>
              <a:rPr lang="zh-CN" sz="825">
                <a:solidFill>
                  <a:srgbClr val="0F1423"/>
                </a:solidFill>
                <a:latin typeface="Microsoft YaHei"/>
                <a:ea typeface="Microsoft YaHei"/>
              </a:rPr>
              <a:t>子流程（带接口与数据流转）</a:t>
            </a:r>
            <a:endParaRPr/>
          </a:p>
        </p:txBody>
      </p:sp>
      <p:sp>
        <p:nvSpPr>
          <p:cNvPr id="2327" name=""/>
          <p:cNvSpPr/>
          <p:nvPr/>
        </p:nvSpPr>
        <p:spPr>
          <a:xfrm rot="0" flipH="0" flipV="0">
            <a:off x="9258300" y="2200275"/>
            <a:ext cx="2324100" cy="514350"/>
          </a:xfrm>
          <a:prstGeom prst="roundRect">
            <a:avLst>
              <a:gd name="adj" fmla="val 5556"/>
            </a:avLst>
          </a:prstGeom>
          <a:solidFill>
            <a:srgbClr val="FFF3EE"/>
          </a:solidFill>
          <a:ln/>
        </p:spPr>
        <p:txBody>
          <a:bodyPr/>
          <a:p/>
        </p:txBody>
      </p:sp>
      <p:sp>
        <p:nvSpPr>
          <p:cNvPr id="2328" name="" descr="{&quot;isTemplate&quot;:true,&quot;type&quot;:&quot;text&quot;}"/>
          <p:cNvSpPr txBox="1"/>
          <p:nvPr/>
        </p:nvSpPr>
        <p:spPr>
          <a:xfrm rot="0" flipH="0" flipV="0">
            <a:off x="9372600" y="2390775"/>
            <a:ext cx="1619250" cy="133350"/>
          </a:xfrm>
          <a:prstGeom prst="rect"/>
        </p:spPr>
        <p:txBody>
          <a:bodyPr wrap="none" lIns="0" tIns="0" rIns="0" bIns="0"/>
          <a:p>
            <a:pPr>
              <a:lnSpc>
                <a:spcPct val="100000"/>
              </a:lnSpc>
            </a:pPr>
            <a:r>
              <a:rPr lang="en-US" sz="863" b="1">
                <a:solidFill>
                  <a:srgbClr val="C43A17"/>
                </a:solidFill>
                <a:latin typeface="Microsoft YaHei"/>
                <a:ea typeface="Microsoft YaHei"/>
              </a:rPr>
              <a:t>P22</a:t>
            </a:r>
            <a:r>
              <a:rPr lang="zh-CN" sz="863" b="1">
                <a:solidFill>
                  <a:srgbClr val="C43A17"/>
                </a:solidFill>
                <a:latin typeface="Microsoft YaHei"/>
                <a:ea typeface="Microsoft YaHei"/>
              </a:rPr>
              <a:t>　流程领域架构图</a:t>
            </a:r>
            <a:r>
              <a:rPr lang="en-US" sz="863" b="1">
                <a:solidFill>
                  <a:srgbClr val="C43A17"/>
                </a:solidFill>
                <a:latin typeface="Microsoft YaHei"/>
                <a:ea typeface="Microsoft YaHei"/>
              </a:rPr>
              <a:t xml:space="preserve"> + L4 </a:t>
            </a:r>
            <a:r>
              <a:rPr lang="zh-CN" sz="863" b="1">
                <a:solidFill>
                  <a:srgbClr val="C43A17"/>
                </a:solidFill>
                <a:latin typeface="Microsoft YaHei"/>
                <a:ea typeface="Microsoft YaHei"/>
              </a:rPr>
              <a:t>清单</a:t>
            </a:r>
            <a:endParaRPr/>
          </a:p>
        </p:txBody>
      </p:sp>
      <p:sp>
        <p:nvSpPr>
          <p:cNvPr id="2329" name=""/>
          <p:cNvSpPr/>
          <p:nvPr/>
        </p:nvSpPr>
        <p:spPr>
          <a:xfrm rot="0" flipH="0" flipV="0">
            <a:off x="638175" y="2790825"/>
            <a:ext cx="1952625" cy="514350"/>
          </a:xfrm>
          <a:prstGeom prst="roundRect">
            <a:avLst>
              <a:gd name="adj" fmla="val 5556"/>
            </a:avLst>
          </a:prstGeom>
          <a:solidFill>
            <a:srgbClr val="F7F7F8"/>
          </a:solidFill>
          <a:ln/>
        </p:spPr>
        <p:txBody>
          <a:bodyPr/>
          <a:p/>
        </p:txBody>
      </p:sp>
      <p:sp>
        <p:nvSpPr>
          <p:cNvPr id="2330" name=""/>
          <p:cNvSpPr/>
          <p:nvPr/>
        </p:nvSpPr>
        <p:spPr>
          <a:xfrm rot="0" flipH="0" flipV="0">
            <a:off x="638175" y="2790825"/>
            <a:ext cx="1952625" cy="514350"/>
          </a:xfrm>
          <a:custGeom>
            <a:pathLst>
              <a:path w="205" h="54">
                <a:moveTo>
                  <a:pt x="3" y="54"/>
                </a:moveTo>
                <a:cubicBezTo>
                  <a:pt x="1" y="54"/>
                  <a:pt x="0" y="53"/>
                  <a:pt x="0" y="51"/>
                </a:cubicBezTo>
                <a:lnTo>
                  <a:pt x="0" y="3"/>
                </a:lnTo>
                <a:cubicBezTo>
                  <a:pt x="0" y="1"/>
                  <a:pt x="1" y="0"/>
                  <a:pt x="3" y="0"/>
                </a:cubicBezTo>
                <a:lnTo>
                  <a:pt x="3" y="54"/>
                </a:lnTo>
                <a:close/>
              </a:path>
            </a:pathLst>
          </a:custGeom>
          <a:solidFill>
            <a:srgbClr val="FA4F24"/>
          </a:solidFill>
          <a:ln/>
        </p:spPr>
        <p:txBody>
          <a:bodyPr/>
          <a:p/>
        </p:txBody>
      </p:sp>
      <p:sp>
        <p:nvSpPr>
          <p:cNvPr id="2331" name="" descr="{&quot;isTemplate&quot;:true,&quot;type&quot;:&quot;text&quot;}"/>
          <p:cNvSpPr txBox="1"/>
          <p:nvPr/>
        </p:nvSpPr>
        <p:spPr>
          <a:xfrm rot="0" flipH="0" flipV="0">
            <a:off x="742950" y="2895600"/>
            <a:ext cx="1743075" cy="123825"/>
          </a:xfrm>
          <a:prstGeom prst="rect"/>
        </p:spPr>
        <p:txBody>
          <a:bodyPr wrap="none" lIns="0" tIns="0" rIns="0" bIns="0"/>
          <a:p>
            <a:pPr>
              <a:lnSpc>
                <a:spcPct val="100000"/>
              </a:lnSpc>
            </a:pPr>
            <a:r>
              <a:rPr lang="en-US" sz="788" b="1">
                <a:solidFill>
                  <a:srgbClr val="FA4F24"/>
                </a:solidFill>
                <a:latin typeface="Microsoft YaHei"/>
                <a:ea typeface="Microsoft YaHei"/>
              </a:rPr>
              <a:t>3.2(1)</a:t>
            </a:r>
            <a:endParaRPr/>
          </a:p>
        </p:txBody>
      </p:sp>
      <p:sp>
        <p:nvSpPr>
          <p:cNvPr id="2332" name="" descr="{&quot;isTemplate&quot;:true,&quot;type&quot;:&quot;text&quot;}"/>
          <p:cNvSpPr txBox="1"/>
          <p:nvPr/>
        </p:nvSpPr>
        <p:spPr>
          <a:xfrm rot="0" flipH="0" flipV="0">
            <a:off x="742950" y="3038475"/>
            <a:ext cx="1743075" cy="171450"/>
          </a:xfrm>
          <a:prstGeom prst="rect"/>
        </p:spPr>
        <p:txBody>
          <a:bodyPr wrap="none" lIns="0" tIns="0" rIns="0" bIns="0"/>
          <a:p>
            <a:pPr>
              <a:lnSpc>
                <a:spcPct val="130000"/>
              </a:lnSpc>
            </a:pPr>
            <a:r>
              <a:rPr lang="zh-CN" sz="825">
                <a:solidFill>
                  <a:srgbClr val="3A4050"/>
                </a:solidFill>
                <a:latin typeface="Microsoft YaHei"/>
                <a:ea typeface="Microsoft YaHei"/>
              </a:rPr>
              <a:t>业务需求分析</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须全链路可追溯</a:t>
            </a:r>
            <a:endParaRPr/>
          </a:p>
        </p:txBody>
      </p:sp>
      <p:sp>
        <p:nvSpPr>
          <p:cNvPr id="2333" name=""/>
          <p:cNvSpPr/>
          <p:nvPr/>
        </p:nvSpPr>
        <p:spPr>
          <a:xfrm rot="0" flipH="0" flipV="0">
            <a:off x="2647950" y="2790825"/>
            <a:ext cx="6553200" cy="514350"/>
          </a:xfrm>
          <a:prstGeom prst="roundRect">
            <a:avLst>
              <a:gd name="adj" fmla="val 5556"/>
            </a:avLst>
          </a:prstGeom>
          <a:solidFill>
            <a:srgbClr val="F7F7F8"/>
          </a:solidFill>
          <a:ln/>
        </p:spPr>
        <p:txBody>
          <a:bodyPr/>
          <a:p/>
        </p:txBody>
      </p:sp>
      <p:sp>
        <p:nvSpPr>
          <p:cNvPr id="2334" name=""/>
          <p:cNvSpPr/>
          <p:nvPr/>
        </p:nvSpPr>
        <p:spPr>
          <a:xfrm rot="0" flipH="0" flipV="0">
            <a:off x="2762250" y="2962275"/>
            <a:ext cx="381000" cy="180975"/>
          </a:xfrm>
          <a:prstGeom prst="roundRect">
            <a:avLst>
              <a:gd name="adj" fmla="val 10526"/>
            </a:avLst>
          </a:prstGeom>
          <a:solidFill>
            <a:srgbClr val="FA4F24"/>
          </a:solidFill>
          <a:ln/>
        </p:spPr>
        <p:txBody>
          <a:bodyPr/>
          <a:p/>
        </p:txBody>
      </p:sp>
      <p:sp>
        <p:nvSpPr>
          <p:cNvPr id="2335" name="" descr="{&quot;isTemplate&quot;:true,&quot;type&quot;:&quot;text&quot;}"/>
          <p:cNvSpPr txBox="1"/>
          <p:nvPr/>
        </p:nvSpPr>
        <p:spPr>
          <a:xfrm rot="0" flipH="0" flipV="0">
            <a:off x="2876550" y="2990850"/>
            <a:ext cx="152400" cy="133350"/>
          </a:xfrm>
          <a:prstGeom prst="rect"/>
        </p:spPr>
        <p:txBody>
          <a:bodyPr wrap="none" lIns="0" tIns="0" rIns="0" bIns="0"/>
          <a:p>
            <a:pPr>
              <a:lnSpc>
                <a:spcPct val="100000"/>
              </a:lnSpc>
            </a:pPr>
            <a:r>
              <a:rPr lang="en-US" sz="825" b="1">
                <a:solidFill>
                  <a:srgbClr val="FFFFFF"/>
                </a:solidFill>
                <a:latin typeface="Microsoft YaHei"/>
                <a:ea typeface="Microsoft YaHei"/>
              </a:rPr>
              <a:t>BA</a:t>
            </a:r>
            <a:endParaRPr/>
          </a:p>
        </p:txBody>
      </p:sp>
      <p:sp>
        <p:nvSpPr>
          <p:cNvPr id="2336" name="" descr="{&quot;isTemplate&quot;:true,&quot;type&quot;:&quot;text&quot;}"/>
          <p:cNvSpPr txBox="1"/>
          <p:nvPr/>
        </p:nvSpPr>
        <p:spPr>
          <a:xfrm rot="0" flipH="0" flipV="0">
            <a:off x="3209925" y="2962275"/>
            <a:ext cx="5876925" cy="171450"/>
          </a:xfrm>
          <a:prstGeom prst="rect"/>
        </p:spPr>
        <p:txBody>
          <a:bodyPr wrap="none" lIns="0" tIns="0" rIns="0" bIns="0"/>
          <a:p>
            <a:pPr>
              <a:lnSpc>
                <a:spcPct val="135000"/>
              </a:lnSpc>
            </a:pPr>
            <a:r>
              <a:rPr lang="zh-CN" sz="825">
                <a:solidFill>
                  <a:srgbClr val="0F1423"/>
                </a:solidFill>
                <a:latin typeface="Microsoft YaHei"/>
                <a:ea typeface="Microsoft YaHei"/>
              </a:rPr>
              <a:t>四段式追溯矩阵：痛点→根因→变革建议→系统需求，编号一一对应</a:t>
            </a:r>
            <a:endParaRPr/>
          </a:p>
        </p:txBody>
      </p:sp>
      <p:sp>
        <p:nvSpPr>
          <p:cNvPr id="2337" name=""/>
          <p:cNvSpPr/>
          <p:nvPr/>
        </p:nvSpPr>
        <p:spPr>
          <a:xfrm rot="0" flipH="0" flipV="0">
            <a:off x="9258300" y="2790825"/>
            <a:ext cx="2324100" cy="514350"/>
          </a:xfrm>
          <a:prstGeom prst="roundRect">
            <a:avLst>
              <a:gd name="adj" fmla="val 5556"/>
            </a:avLst>
          </a:prstGeom>
          <a:solidFill>
            <a:srgbClr val="FFF3EE"/>
          </a:solidFill>
          <a:ln/>
        </p:spPr>
        <p:txBody>
          <a:bodyPr/>
          <a:p/>
        </p:txBody>
      </p:sp>
      <p:sp>
        <p:nvSpPr>
          <p:cNvPr id="2338" name="" descr="{&quot;isTemplate&quot;:true,&quot;type&quot;:&quot;text&quot;}"/>
          <p:cNvSpPr txBox="1"/>
          <p:nvPr/>
        </p:nvSpPr>
        <p:spPr>
          <a:xfrm rot="0" flipH="0" flipV="0">
            <a:off x="9372600" y="2981325"/>
            <a:ext cx="1666875" cy="133350"/>
          </a:xfrm>
          <a:prstGeom prst="rect"/>
        </p:spPr>
        <p:txBody>
          <a:bodyPr wrap="none" lIns="0" tIns="0" rIns="0" bIns="0"/>
          <a:p>
            <a:pPr>
              <a:lnSpc>
                <a:spcPct val="100000"/>
              </a:lnSpc>
            </a:pPr>
            <a:r>
              <a:rPr lang="en-US" sz="863" b="1">
                <a:solidFill>
                  <a:srgbClr val="C43A17"/>
                </a:solidFill>
                <a:latin typeface="Microsoft YaHei"/>
                <a:ea typeface="Microsoft YaHei"/>
              </a:rPr>
              <a:t>P10 / P31</a:t>
            </a:r>
            <a:r>
              <a:rPr lang="zh-CN" sz="863" b="1">
                <a:solidFill>
                  <a:srgbClr val="C43A17"/>
                </a:solidFill>
                <a:latin typeface="Microsoft YaHei"/>
                <a:ea typeface="Microsoft YaHei"/>
              </a:rPr>
              <a:t>　追溯矩阵</a:t>
            </a:r>
            <a:r>
              <a:rPr lang="en-US" sz="863" b="1">
                <a:solidFill>
                  <a:srgbClr val="C43A17"/>
                </a:solidFill>
                <a:latin typeface="Microsoft YaHei"/>
                <a:ea typeface="Microsoft YaHei"/>
              </a:rPr>
              <a:t xml:space="preserve"> + </a:t>
            </a:r>
            <a:r>
              <a:rPr lang="zh-CN" sz="863" b="1">
                <a:solidFill>
                  <a:srgbClr val="C43A17"/>
                </a:solidFill>
                <a:latin typeface="Microsoft YaHei"/>
                <a:ea typeface="Microsoft YaHei"/>
              </a:rPr>
              <a:t>基线冻结</a:t>
            </a:r>
            <a:endParaRPr/>
          </a:p>
        </p:txBody>
      </p:sp>
      <p:sp>
        <p:nvSpPr>
          <p:cNvPr id="2339" name=""/>
          <p:cNvSpPr/>
          <p:nvPr/>
        </p:nvSpPr>
        <p:spPr>
          <a:xfrm rot="0" flipH="0" flipV="0">
            <a:off x="638175" y="3381375"/>
            <a:ext cx="1952625" cy="504825"/>
          </a:xfrm>
          <a:prstGeom prst="roundRect">
            <a:avLst>
              <a:gd name="adj" fmla="val 5660"/>
            </a:avLst>
          </a:prstGeom>
          <a:solidFill>
            <a:srgbClr val="F7F7F8"/>
          </a:solidFill>
          <a:ln/>
        </p:spPr>
        <p:txBody>
          <a:bodyPr/>
          <a:p/>
        </p:txBody>
      </p:sp>
      <p:sp>
        <p:nvSpPr>
          <p:cNvPr id="2340" name=""/>
          <p:cNvSpPr/>
          <p:nvPr/>
        </p:nvSpPr>
        <p:spPr>
          <a:xfrm rot="0" flipH="0" flipV="0">
            <a:off x="638175" y="3381375"/>
            <a:ext cx="1952625" cy="504825"/>
          </a:xfrm>
          <a:custGeom>
            <a:pathLst>
              <a:path w="205" h="53">
                <a:moveTo>
                  <a:pt x="3" y="53"/>
                </a:moveTo>
                <a:cubicBezTo>
                  <a:pt x="1" y="53"/>
                  <a:pt x="0" y="52"/>
                  <a:pt x="0" y="50"/>
                </a:cubicBezTo>
                <a:lnTo>
                  <a:pt x="0" y="3"/>
                </a:lnTo>
                <a:cubicBezTo>
                  <a:pt x="0" y="1"/>
                  <a:pt x="1" y="0"/>
                  <a:pt x="3" y="0"/>
                </a:cubicBezTo>
                <a:lnTo>
                  <a:pt x="3" y="53"/>
                </a:lnTo>
                <a:close/>
              </a:path>
            </a:pathLst>
          </a:custGeom>
          <a:solidFill>
            <a:srgbClr val="E0641E"/>
          </a:solidFill>
          <a:ln/>
        </p:spPr>
        <p:txBody>
          <a:bodyPr/>
          <a:p/>
        </p:txBody>
      </p:sp>
      <p:sp>
        <p:nvSpPr>
          <p:cNvPr id="2341" name="" descr="{&quot;isTemplate&quot;:true,&quot;type&quot;:&quot;text&quot;}"/>
          <p:cNvSpPr txBox="1"/>
          <p:nvPr/>
        </p:nvSpPr>
        <p:spPr>
          <a:xfrm rot="0" flipH="0" flipV="0">
            <a:off x="742950" y="3476625"/>
            <a:ext cx="1743075" cy="123825"/>
          </a:xfrm>
          <a:prstGeom prst="rect"/>
        </p:spPr>
        <p:txBody>
          <a:bodyPr wrap="none" lIns="0" tIns="0" rIns="0" bIns="0"/>
          <a:p>
            <a:pPr>
              <a:lnSpc>
                <a:spcPct val="100000"/>
              </a:lnSpc>
            </a:pPr>
            <a:r>
              <a:rPr lang="en-US" sz="788" b="1">
                <a:solidFill>
                  <a:srgbClr val="E0641E"/>
                </a:solidFill>
                <a:latin typeface="Microsoft YaHei"/>
                <a:ea typeface="Microsoft YaHei"/>
              </a:rPr>
              <a:t>3.2(2)</a:t>
            </a:r>
            <a:endParaRPr/>
          </a:p>
        </p:txBody>
      </p:sp>
      <p:sp>
        <p:nvSpPr>
          <p:cNvPr id="2342" name="" descr="{&quot;isTemplate&quot;:true,&quot;type&quot;:&quot;text&quot;}"/>
          <p:cNvSpPr txBox="1"/>
          <p:nvPr/>
        </p:nvSpPr>
        <p:spPr>
          <a:xfrm rot="0" flipH="0" flipV="0">
            <a:off x="742950" y="3619500"/>
            <a:ext cx="1743075" cy="171450"/>
          </a:xfrm>
          <a:prstGeom prst="rect"/>
        </p:spPr>
        <p:txBody>
          <a:bodyPr wrap="none" lIns="0" tIns="0" rIns="0" bIns="0"/>
          <a:p>
            <a:pPr>
              <a:lnSpc>
                <a:spcPct val="130000"/>
              </a:lnSpc>
            </a:pPr>
            <a:r>
              <a:rPr lang="zh-CN" sz="825">
                <a:solidFill>
                  <a:srgbClr val="3A4050"/>
                </a:solidFill>
                <a:latin typeface="Microsoft YaHei"/>
                <a:ea typeface="Microsoft YaHei"/>
              </a:rPr>
              <a:t>数据现状分析</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含主数据与数据治理</a:t>
            </a:r>
            <a:endParaRPr/>
          </a:p>
        </p:txBody>
      </p:sp>
      <p:sp>
        <p:nvSpPr>
          <p:cNvPr id="2343" name=""/>
          <p:cNvSpPr/>
          <p:nvPr/>
        </p:nvSpPr>
        <p:spPr>
          <a:xfrm rot="0" flipH="0" flipV="0">
            <a:off x="2647950" y="3381375"/>
            <a:ext cx="6553200" cy="504825"/>
          </a:xfrm>
          <a:prstGeom prst="roundRect">
            <a:avLst>
              <a:gd name="adj" fmla="val 5660"/>
            </a:avLst>
          </a:prstGeom>
          <a:solidFill>
            <a:srgbClr val="F7F7F8"/>
          </a:solidFill>
          <a:ln/>
        </p:spPr>
        <p:txBody>
          <a:bodyPr/>
          <a:p/>
        </p:txBody>
      </p:sp>
      <p:sp>
        <p:nvSpPr>
          <p:cNvPr id="2344" name=""/>
          <p:cNvSpPr/>
          <p:nvPr/>
        </p:nvSpPr>
        <p:spPr>
          <a:xfrm rot="0" flipH="0" flipV="0">
            <a:off x="2762250" y="3543300"/>
            <a:ext cx="381000" cy="180975"/>
          </a:xfrm>
          <a:prstGeom prst="roundRect">
            <a:avLst>
              <a:gd name="adj" fmla="val 10526"/>
            </a:avLst>
          </a:prstGeom>
          <a:solidFill>
            <a:srgbClr val="E0641E"/>
          </a:solidFill>
          <a:ln/>
        </p:spPr>
        <p:txBody>
          <a:bodyPr/>
          <a:p/>
        </p:txBody>
      </p:sp>
      <p:sp>
        <p:nvSpPr>
          <p:cNvPr id="2345" name="" descr="{&quot;isTemplate&quot;:true,&quot;type&quot;:&quot;text&quot;}"/>
          <p:cNvSpPr txBox="1"/>
          <p:nvPr/>
        </p:nvSpPr>
        <p:spPr>
          <a:xfrm rot="0" flipH="0" flipV="0">
            <a:off x="2876550" y="3571875"/>
            <a:ext cx="161925" cy="133350"/>
          </a:xfrm>
          <a:prstGeom prst="rect"/>
        </p:spPr>
        <p:txBody>
          <a:bodyPr wrap="none" lIns="0" tIns="0" rIns="0" bIns="0"/>
          <a:p>
            <a:pPr>
              <a:lnSpc>
                <a:spcPct val="100000"/>
              </a:lnSpc>
            </a:pPr>
            <a:r>
              <a:rPr lang="en-US" sz="825" b="1">
                <a:solidFill>
                  <a:srgbClr val="FFFFFF"/>
                </a:solidFill>
                <a:latin typeface="Microsoft YaHei"/>
                <a:ea typeface="Microsoft YaHei"/>
              </a:rPr>
              <a:t>DA</a:t>
            </a:r>
            <a:endParaRPr/>
          </a:p>
        </p:txBody>
      </p:sp>
      <p:sp>
        <p:nvSpPr>
          <p:cNvPr id="2346" name="" descr="{&quot;isTemplate&quot;:true,&quot;type&quot;:&quot;text&quot;}"/>
          <p:cNvSpPr txBox="1"/>
          <p:nvPr/>
        </p:nvSpPr>
        <p:spPr>
          <a:xfrm rot="0" flipH="0" flipV="0">
            <a:off x="3209925" y="3552825"/>
            <a:ext cx="5876925" cy="171450"/>
          </a:xfrm>
          <a:prstGeom prst="rect"/>
        </p:spPr>
        <p:txBody>
          <a:bodyPr wrap="none" lIns="0" tIns="0" rIns="0" bIns="0"/>
          <a:p>
            <a:pPr>
              <a:lnSpc>
                <a:spcPct val="135000"/>
              </a:lnSpc>
            </a:pPr>
            <a:r>
              <a:rPr lang="zh-CN" sz="825">
                <a:solidFill>
                  <a:srgbClr val="0F1423"/>
                </a:solidFill>
                <a:latin typeface="Microsoft YaHei"/>
                <a:ea typeface="Microsoft YaHei"/>
              </a:rPr>
              <a:t>数据四维现状（资产</a:t>
            </a:r>
            <a:r>
              <a:rPr lang="en-US" sz="825">
                <a:solidFill>
                  <a:srgbClr val="0F1423"/>
                </a:solidFill>
                <a:latin typeface="Microsoft YaHei"/>
                <a:ea typeface="Microsoft YaHei"/>
              </a:rPr>
              <a:t>/</a:t>
            </a:r>
            <a:r>
              <a:rPr lang="zh-CN" sz="825">
                <a:solidFill>
                  <a:srgbClr val="0F1423"/>
                </a:solidFill>
                <a:latin typeface="Microsoft YaHei"/>
                <a:ea typeface="Microsoft YaHei"/>
              </a:rPr>
              <a:t>模型</a:t>
            </a:r>
            <a:r>
              <a:rPr lang="en-US" sz="825">
                <a:solidFill>
                  <a:srgbClr val="0F1423"/>
                </a:solidFill>
                <a:latin typeface="Microsoft YaHei"/>
                <a:ea typeface="Microsoft YaHei"/>
              </a:rPr>
              <a:t>/</a:t>
            </a:r>
            <a:r>
              <a:rPr lang="zh-CN" sz="825">
                <a:solidFill>
                  <a:srgbClr val="0F1423"/>
                </a:solidFill>
                <a:latin typeface="Microsoft YaHei"/>
                <a:ea typeface="Microsoft YaHei"/>
              </a:rPr>
              <a:t>标准</a:t>
            </a:r>
            <a:r>
              <a:rPr lang="en-US" sz="825">
                <a:solidFill>
                  <a:srgbClr val="0F1423"/>
                </a:solidFill>
                <a:latin typeface="Microsoft YaHei"/>
                <a:ea typeface="Microsoft YaHei"/>
              </a:rPr>
              <a:t>/</a:t>
            </a:r>
            <a:r>
              <a:rPr lang="zh-CN" sz="825">
                <a:solidFill>
                  <a:srgbClr val="0F1423"/>
                </a:solidFill>
                <a:latin typeface="Microsoft YaHei"/>
                <a:ea typeface="Microsoft YaHei"/>
              </a:rPr>
              <a:t>分布）</a:t>
            </a:r>
            <a:r>
              <a:rPr lang="en-US" sz="825">
                <a:solidFill>
                  <a:srgbClr val="0F1423"/>
                </a:solidFill>
                <a:latin typeface="Microsoft YaHei"/>
                <a:ea typeface="Microsoft YaHei"/>
              </a:rPr>
              <a:t xml:space="preserve">+ </a:t>
            </a:r>
            <a:r>
              <a:rPr lang="zh-CN" sz="825">
                <a:solidFill>
                  <a:srgbClr val="0F1423"/>
                </a:solidFill>
                <a:latin typeface="Microsoft YaHei"/>
                <a:ea typeface="Microsoft YaHei"/>
              </a:rPr>
              <a:t>主数据八类识别</a:t>
            </a:r>
            <a:r>
              <a:rPr lang="en-US" sz="825">
                <a:solidFill>
                  <a:srgbClr val="0F1423"/>
                </a:solidFill>
                <a:latin typeface="Microsoft YaHei"/>
                <a:ea typeface="Microsoft YaHei"/>
              </a:rPr>
              <a:t xml:space="preserve"> + </a:t>
            </a:r>
            <a:r>
              <a:rPr lang="zh-CN" sz="825">
                <a:solidFill>
                  <a:srgbClr val="0F1423"/>
                </a:solidFill>
                <a:latin typeface="Microsoft YaHei"/>
                <a:ea typeface="Microsoft YaHei"/>
              </a:rPr>
              <a:t>最小可行治理</a:t>
            </a:r>
            <a:endParaRPr/>
          </a:p>
        </p:txBody>
      </p:sp>
      <p:sp>
        <p:nvSpPr>
          <p:cNvPr id="2347" name=""/>
          <p:cNvSpPr/>
          <p:nvPr/>
        </p:nvSpPr>
        <p:spPr>
          <a:xfrm rot="0" flipH="0" flipV="0">
            <a:off x="9258300" y="3381375"/>
            <a:ext cx="2324100" cy="504825"/>
          </a:xfrm>
          <a:prstGeom prst="roundRect">
            <a:avLst>
              <a:gd name="adj" fmla="val 5660"/>
            </a:avLst>
          </a:prstGeom>
          <a:solidFill>
            <a:srgbClr val="FFF3EE"/>
          </a:solidFill>
          <a:ln/>
        </p:spPr>
        <p:txBody>
          <a:bodyPr/>
          <a:p/>
        </p:txBody>
      </p:sp>
      <p:sp>
        <p:nvSpPr>
          <p:cNvPr id="2348" name="" descr="{&quot;isTemplate&quot;:true,&quot;type&quot;:&quot;text&quot;}"/>
          <p:cNvSpPr txBox="1"/>
          <p:nvPr/>
        </p:nvSpPr>
        <p:spPr>
          <a:xfrm rot="0" flipH="0" flipV="0">
            <a:off x="9372600" y="3571875"/>
            <a:ext cx="1847850" cy="133350"/>
          </a:xfrm>
          <a:prstGeom prst="rect"/>
        </p:spPr>
        <p:txBody>
          <a:bodyPr wrap="none" lIns="0" tIns="0" rIns="0" bIns="0"/>
          <a:p>
            <a:pPr>
              <a:lnSpc>
                <a:spcPct val="100000"/>
              </a:lnSpc>
            </a:pPr>
            <a:r>
              <a:rPr lang="en-US" sz="863" b="1">
                <a:solidFill>
                  <a:srgbClr val="C43A17"/>
                </a:solidFill>
                <a:latin typeface="Microsoft YaHei"/>
                <a:ea typeface="Microsoft YaHei"/>
              </a:rPr>
              <a:t>P16 / P30</a:t>
            </a:r>
            <a:r>
              <a:rPr lang="zh-CN" sz="863" b="1">
                <a:solidFill>
                  <a:srgbClr val="C43A17"/>
                </a:solidFill>
                <a:latin typeface="Microsoft YaHei"/>
                <a:ea typeface="Microsoft YaHei"/>
              </a:rPr>
              <a:t>　实体属性与数据标准清单</a:t>
            </a:r>
            <a:endParaRPr/>
          </a:p>
        </p:txBody>
      </p:sp>
      <p:sp>
        <p:nvSpPr>
          <p:cNvPr id="2349" name=""/>
          <p:cNvSpPr/>
          <p:nvPr/>
        </p:nvSpPr>
        <p:spPr>
          <a:xfrm rot="0" flipH="0" flipV="0">
            <a:off x="638175" y="3962400"/>
            <a:ext cx="1952625" cy="514350"/>
          </a:xfrm>
          <a:prstGeom prst="roundRect">
            <a:avLst>
              <a:gd name="adj" fmla="val 5556"/>
            </a:avLst>
          </a:prstGeom>
          <a:solidFill>
            <a:srgbClr val="F7F7F8"/>
          </a:solidFill>
          <a:ln/>
        </p:spPr>
        <p:txBody>
          <a:bodyPr/>
          <a:p/>
        </p:txBody>
      </p:sp>
      <p:sp>
        <p:nvSpPr>
          <p:cNvPr id="2350" name=""/>
          <p:cNvSpPr/>
          <p:nvPr/>
        </p:nvSpPr>
        <p:spPr>
          <a:xfrm rot="0" flipH="0" flipV="0">
            <a:off x="638175" y="3962400"/>
            <a:ext cx="1952625" cy="514350"/>
          </a:xfrm>
          <a:custGeom>
            <a:pathLst>
              <a:path w="205" h="54">
                <a:moveTo>
                  <a:pt x="3" y="54"/>
                </a:moveTo>
                <a:cubicBezTo>
                  <a:pt x="1" y="54"/>
                  <a:pt x="0" y="53"/>
                  <a:pt x="0" y="51"/>
                </a:cubicBezTo>
                <a:lnTo>
                  <a:pt x="0" y="3"/>
                </a:lnTo>
                <a:cubicBezTo>
                  <a:pt x="0" y="1"/>
                  <a:pt x="1" y="0"/>
                  <a:pt x="3" y="0"/>
                </a:cubicBezTo>
                <a:lnTo>
                  <a:pt x="3" y="54"/>
                </a:lnTo>
                <a:close/>
              </a:path>
            </a:pathLst>
          </a:custGeom>
          <a:solidFill>
            <a:srgbClr val="C43A17"/>
          </a:solidFill>
          <a:ln/>
        </p:spPr>
        <p:txBody>
          <a:bodyPr/>
          <a:p/>
        </p:txBody>
      </p:sp>
      <p:sp>
        <p:nvSpPr>
          <p:cNvPr id="2351" name="" descr="{&quot;isTemplate&quot;:true,&quot;type&quot;:&quot;text&quot;}"/>
          <p:cNvSpPr txBox="1"/>
          <p:nvPr/>
        </p:nvSpPr>
        <p:spPr>
          <a:xfrm rot="0" flipH="0" flipV="0">
            <a:off x="742950" y="4067175"/>
            <a:ext cx="1743075" cy="123825"/>
          </a:xfrm>
          <a:prstGeom prst="rect"/>
        </p:spPr>
        <p:txBody>
          <a:bodyPr wrap="none" lIns="0" tIns="0" rIns="0" bIns="0"/>
          <a:p>
            <a:pPr>
              <a:lnSpc>
                <a:spcPct val="100000"/>
              </a:lnSpc>
            </a:pPr>
            <a:r>
              <a:rPr lang="en-US" sz="788" b="1">
                <a:solidFill>
                  <a:srgbClr val="C43A17"/>
                </a:solidFill>
                <a:latin typeface="Microsoft YaHei"/>
                <a:ea typeface="Microsoft YaHei"/>
              </a:rPr>
              <a:t>3.2(3)</a:t>
            </a:r>
            <a:endParaRPr/>
          </a:p>
        </p:txBody>
      </p:sp>
      <p:sp>
        <p:nvSpPr>
          <p:cNvPr id="2352" name="" descr="{&quot;isTemplate&quot;:true,&quot;type&quot;:&quot;text&quot;}"/>
          <p:cNvSpPr txBox="1"/>
          <p:nvPr/>
        </p:nvSpPr>
        <p:spPr>
          <a:xfrm rot="0" flipH="0" flipV="0">
            <a:off x="742950" y="4210050"/>
            <a:ext cx="1743075" cy="171450"/>
          </a:xfrm>
          <a:prstGeom prst="rect"/>
        </p:spPr>
        <p:txBody>
          <a:bodyPr wrap="none" lIns="0" tIns="0" rIns="0" bIns="0"/>
          <a:p>
            <a:pPr>
              <a:lnSpc>
                <a:spcPct val="130000"/>
              </a:lnSpc>
            </a:pPr>
            <a:r>
              <a:rPr lang="zh-CN" sz="825">
                <a:solidFill>
                  <a:srgbClr val="3A4050"/>
                </a:solidFill>
                <a:latin typeface="Microsoft YaHei"/>
                <a:ea typeface="Microsoft YaHei"/>
              </a:rPr>
              <a:t>应用现状分析</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含应用集成</a:t>
            </a:r>
            <a:endParaRPr/>
          </a:p>
        </p:txBody>
      </p:sp>
      <p:sp>
        <p:nvSpPr>
          <p:cNvPr id="2353" name=""/>
          <p:cNvSpPr/>
          <p:nvPr/>
        </p:nvSpPr>
        <p:spPr>
          <a:xfrm rot="0" flipH="0" flipV="0">
            <a:off x="2647950" y="3962400"/>
            <a:ext cx="6553200" cy="514350"/>
          </a:xfrm>
          <a:prstGeom prst="roundRect">
            <a:avLst>
              <a:gd name="adj" fmla="val 5556"/>
            </a:avLst>
          </a:prstGeom>
          <a:solidFill>
            <a:srgbClr val="F7F7F8"/>
          </a:solidFill>
          <a:ln/>
        </p:spPr>
        <p:txBody>
          <a:bodyPr/>
          <a:p/>
        </p:txBody>
      </p:sp>
      <p:sp>
        <p:nvSpPr>
          <p:cNvPr id="2354" name=""/>
          <p:cNvSpPr/>
          <p:nvPr/>
        </p:nvSpPr>
        <p:spPr>
          <a:xfrm rot="0" flipH="0" flipV="0">
            <a:off x="2762250" y="4133850"/>
            <a:ext cx="381000" cy="180975"/>
          </a:xfrm>
          <a:prstGeom prst="roundRect">
            <a:avLst>
              <a:gd name="adj" fmla="val 10526"/>
            </a:avLst>
          </a:prstGeom>
          <a:solidFill>
            <a:srgbClr val="C43A17"/>
          </a:solidFill>
          <a:ln/>
        </p:spPr>
        <p:txBody>
          <a:bodyPr/>
          <a:p/>
        </p:txBody>
      </p:sp>
      <p:sp>
        <p:nvSpPr>
          <p:cNvPr id="2355" name="" descr="{&quot;isTemplate&quot;:true,&quot;type&quot;:&quot;text&quot;}"/>
          <p:cNvSpPr txBox="1"/>
          <p:nvPr/>
        </p:nvSpPr>
        <p:spPr>
          <a:xfrm rot="0" flipH="0" flipV="0">
            <a:off x="2876550" y="4162425"/>
            <a:ext cx="161925" cy="133350"/>
          </a:xfrm>
          <a:prstGeom prst="rect"/>
        </p:spPr>
        <p:txBody>
          <a:bodyPr wrap="none" lIns="0" tIns="0" rIns="0" bIns="0"/>
          <a:p>
            <a:pPr>
              <a:lnSpc>
                <a:spcPct val="100000"/>
              </a:lnSpc>
            </a:pPr>
            <a:r>
              <a:rPr lang="en-US" sz="825" b="1">
                <a:solidFill>
                  <a:srgbClr val="FFFFFF"/>
                </a:solidFill>
                <a:latin typeface="Microsoft YaHei"/>
                <a:ea typeface="Microsoft YaHei"/>
              </a:rPr>
              <a:t>AA</a:t>
            </a:r>
            <a:endParaRPr/>
          </a:p>
        </p:txBody>
      </p:sp>
      <p:sp>
        <p:nvSpPr>
          <p:cNvPr id="2356" name="" descr="{&quot;isTemplate&quot;:true,&quot;type&quot;:&quot;text&quot;}"/>
          <p:cNvSpPr txBox="1"/>
          <p:nvPr/>
        </p:nvSpPr>
        <p:spPr>
          <a:xfrm rot="0" flipH="0" flipV="0">
            <a:off x="3209925" y="4133850"/>
            <a:ext cx="5876925" cy="171450"/>
          </a:xfrm>
          <a:prstGeom prst="rect"/>
        </p:spPr>
        <p:txBody>
          <a:bodyPr wrap="none" lIns="0" tIns="0" rIns="0" bIns="0"/>
          <a:p>
            <a:pPr>
              <a:lnSpc>
                <a:spcPct val="135000"/>
              </a:lnSpc>
            </a:pPr>
            <a:r>
              <a:rPr lang="zh-CN" sz="825">
                <a:solidFill>
                  <a:srgbClr val="0F1423"/>
                </a:solidFill>
                <a:latin typeface="Microsoft YaHei"/>
                <a:ea typeface="Microsoft YaHei"/>
              </a:rPr>
              <a:t>应用资产盘点（系统数·功能·用户）</a:t>
            </a:r>
            <a:r>
              <a:rPr lang="en-US" sz="825">
                <a:solidFill>
                  <a:srgbClr val="0F1423"/>
                </a:solidFill>
                <a:latin typeface="Microsoft YaHei"/>
                <a:ea typeface="Microsoft YaHei"/>
              </a:rPr>
              <a:t xml:space="preserve">+ </a:t>
            </a:r>
            <a:r>
              <a:rPr lang="zh-CN" sz="825">
                <a:solidFill>
                  <a:srgbClr val="0F1423"/>
                </a:solidFill>
                <a:latin typeface="Microsoft YaHei"/>
                <a:ea typeface="Microsoft YaHei"/>
              </a:rPr>
              <a:t>集成现状（方式·协议·调用）</a:t>
            </a:r>
            <a:endParaRPr/>
          </a:p>
        </p:txBody>
      </p:sp>
      <p:sp>
        <p:nvSpPr>
          <p:cNvPr id="2357" name=""/>
          <p:cNvSpPr/>
          <p:nvPr/>
        </p:nvSpPr>
        <p:spPr>
          <a:xfrm rot="0" flipH="0" flipV="0">
            <a:off x="9258300" y="3962400"/>
            <a:ext cx="2324100" cy="514350"/>
          </a:xfrm>
          <a:prstGeom prst="roundRect">
            <a:avLst>
              <a:gd name="adj" fmla="val 5556"/>
            </a:avLst>
          </a:prstGeom>
          <a:solidFill>
            <a:srgbClr val="FFF3EE"/>
          </a:solidFill>
          <a:ln/>
        </p:spPr>
        <p:txBody>
          <a:bodyPr/>
          <a:p/>
        </p:txBody>
      </p:sp>
      <p:sp>
        <p:nvSpPr>
          <p:cNvPr id="2358" name="" descr="{&quot;isTemplate&quot;:true,&quot;type&quot;:&quot;text&quot;}"/>
          <p:cNvSpPr txBox="1"/>
          <p:nvPr/>
        </p:nvSpPr>
        <p:spPr>
          <a:xfrm rot="0" flipH="0" flipV="0">
            <a:off x="9372600" y="4152900"/>
            <a:ext cx="1743075" cy="133350"/>
          </a:xfrm>
          <a:prstGeom prst="rect"/>
        </p:spPr>
        <p:txBody>
          <a:bodyPr wrap="none" lIns="0" tIns="0" rIns="0" bIns="0"/>
          <a:p>
            <a:pPr>
              <a:lnSpc>
                <a:spcPct val="100000"/>
              </a:lnSpc>
            </a:pPr>
            <a:r>
              <a:rPr lang="en-US" sz="863" b="1">
                <a:solidFill>
                  <a:srgbClr val="C43A17"/>
                </a:solidFill>
                <a:latin typeface="Microsoft YaHei"/>
                <a:ea typeface="Microsoft YaHei"/>
              </a:rPr>
              <a:t>P17 / P24</a:t>
            </a:r>
            <a:r>
              <a:rPr lang="zh-CN" sz="863" b="1">
                <a:solidFill>
                  <a:srgbClr val="C43A17"/>
                </a:solidFill>
                <a:latin typeface="Microsoft YaHei"/>
                <a:ea typeface="Microsoft YaHei"/>
              </a:rPr>
              <a:t>　应用域划分与集成架构</a:t>
            </a:r>
            <a:endParaRPr/>
          </a:p>
        </p:txBody>
      </p:sp>
      <p:sp>
        <p:nvSpPr>
          <p:cNvPr id="2359" name=""/>
          <p:cNvSpPr/>
          <p:nvPr/>
        </p:nvSpPr>
        <p:spPr>
          <a:xfrm rot="0" flipH="0" flipV="0">
            <a:off x="638175" y="4552950"/>
            <a:ext cx="1952625" cy="514350"/>
          </a:xfrm>
          <a:prstGeom prst="roundRect">
            <a:avLst>
              <a:gd name="adj" fmla="val 5556"/>
            </a:avLst>
          </a:prstGeom>
          <a:solidFill>
            <a:srgbClr val="F7F7F8"/>
          </a:solidFill>
          <a:ln/>
        </p:spPr>
        <p:txBody>
          <a:bodyPr/>
          <a:p/>
        </p:txBody>
      </p:sp>
      <p:sp>
        <p:nvSpPr>
          <p:cNvPr id="2360" name=""/>
          <p:cNvSpPr/>
          <p:nvPr/>
        </p:nvSpPr>
        <p:spPr>
          <a:xfrm rot="0" flipH="0" flipV="0">
            <a:off x="638175" y="4552950"/>
            <a:ext cx="1952625" cy="514350"/>
          </a:xfrm>
          <a:custGeom>
            <a:pathLst>
              <a:path w="205" h="54">
                <a:moveTo>
                  <a:pt x="3" y="54"/>
                </a:moveTo>
                <a:cubicBezTo>
                  <a:pt x="1" y="54"/>
                  <a:pt x="0" y="53"/>
                  <a:pt x="0" y="51"/>
                </a:cubicBezTo>
                <a:lnTo>
                  <a:pt x="0" y="3"/>
                </a:lnTo>
                <a:cubicBezTo>
                  <a:pt x="0" y="1"/>
                  <a:pt x="1" y="0"/>
                  <a:pt x="3" y="0"/>
                </a:cubicBezTo>
                <a:lnTo>
                  <a:pt x="3" y="54"/>
                </a:lnTo>
                <a:close/>
              </a:path>
            </a:pathLst>
          </a:custGeom>
          <a:solidFill>
            <a:srgbClr val="9E3410"/>
          </a:solidFill>
          <a:ln/>
        </p:spPr>
        <p:txBody>
          <a:bodyPr/>
          <a:p/>
        </p:txBody>
      </p:sp>
      <p:sp>
        <p:nvSpPr>
          <p:cNvPr id="2361" name="" descr="{&quot;isTemplate&quot;:true,&quot;type&quot;:&quot;text&quot;}"/>
          <p:cNvSpPr txBox="1"/>
          <p:nvPr/>
        </p:nvSpPr>
        <p:spPr>
          <a:xfrm rot="0" flipH="0" flipV="0">
            <a:off x="742950" y="4657725"/>
            <a:ext cx="1743075" cy="123825"/>
          </a:xfrm>
          <a:prstGeom prst="rect"/>
        </p:spPr>
        <p:txBody>
          <a:bodyPr wrap="none" lIns="0" tIns="0" rIns="0" bIns="0"/>
          <a:p>
            <a:pPr>
              <a:lnSpc>
                <a:spcPct val="100000"/>
              </a:lnSpc>
            </a:pPr>
            <a:r>
              <a:rPr lang="en-US" sz="788" b="1">
                <a:solidFill>
                  <a:srgbClr val="9E3410"/>
                </a:solidFill>
                <a:latin typeface="Microsoft YaHei"/>
                <a:ea typeface="Microsoft YaHei"/>
              </a:rPr>
              <a:t>3.2(4)</a:t>
            </a:r>
            <a:endParaRPr/>
          </a:p>
        </p:txBody>
      </p:sp>
      <p:sp>
        <p:nvSpPr>
          <p:cNvPr id="2362" name="" descr="{&quot;isTemplate&quot;:true,&quot;type&quot;:&quot;text&quot;}"/>
          <p:cNvSpPr txBox="1"/>
          <p:nvPr/>
        </p:nvSpPr>
        <p:spPr>
          <a:xfrm rot="0" flipH="0" flipV="0">
            <a:off x="742950" y="4800600"/>
            <a:ext cx="1743075" cy="171450"/>
          </a:xfrm>
          <a:prstGeom prst="rect"/>
        </p:spPr>
        <p:txBody>
          <a:bodyPr wrap="none" lIns="0" tIns="0" rIns="0" bIns="0"/>
          <a:p>
            <a:pPr>
              <a:lnSpc>
                <a:spcPct val="130000"/>
              </a:lnSpc>
            </a:pPr>
            <a:r>
              <a:rPr lang="zh-CN" sz="825">
                <a:solidFill>
                  <a:srgbClr val="3A4050"/>
                </a:solidFill>
                <a:latin typeface="Microsoft YaHei"/>
                <a:ea typeface="Microsoft YaHei"/>
              </a:rPr>
              <a:t>技术现状分析</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含</a:t>
            </a:r>
            <a:r>
              <a:rPr lang="en-US" sz="825">
                <a:solidFill>
                  <a:srgbClr val="3A4050"/>
                </a:solidFill>
                <a:latin typeface="Microsoft YaHei"/>
                <a:ea typeface="Microsoft YaHei"/>
              </a:rPr>
              <a:t xml:space="preserve"> AI </a:t>
            </a:r>
            <a:r>
              <a:rPr lang="zh-CN" sz="825">
                <a:solidFill>
                  <a:srgbClr val="3A4050"/>
                </a:solidFill>
                <a:latin typeface="Microsoft YaHei"/>
                <a:ea typeface="Microsoft YaHei"/>
              </a:rPr>
              <a:t>所需技术</a:t>
            </a:r>
            <a:endParaRPr/>
          </a:p>
        </p:txBody>
      </p:sp>
      <p:sp>
        <p:nvSpPr>
          <p:cNvPr id="2363" name=""/>
          <p:cNvSpPr/>
          <p:nvPr/>
        </p:nvSpPr>
        <p:spPr>
          <a:xfrm rot="0" flipH="0" flipV="0">
            <a:off x="2647950" y="4552950"/>
            <a:ext cx="6553200" cy="514350"/>
          </a:xfrm>
          <a:prstGeom prst="roundRect">
            <a:avLst>
              <a:gd name="adj" fmla="val 5556"/>
            </a:avLst>
          </a:prstGeom>
          <a:solidFill>
            <a:srgbClr val="F7F7F8"/>
          </a:solidFill>
          <a:ln/>
        </p:spPr>
        <p:txBody>
          <a:bodyPr/>
          <a:p/>
        </p:txBody>
      </p:sp>
      <p:sp>
        <p:nvSpPr>
          <p:cNvPr id="2364" name=""/>
          <p:cNvSpPr/>
          <p:nvPr/>
        </p:nvSpPr>
        <p:spPr>
          <a:xfrm rot="0" flipH="0" flipV="0">
            <a:off x="2762250" y="4724400"/>
            <a:ext cx="381000" cy="180975"/>
          </a:xfrm>
          <a:prstGeom prst="roundRect">
            <a:avLst>
              <a:gd name="adj" fmla="val 10526"/>
            </a:avLst>
          </a:prstGeom>
          <a:solidFill>
            <a:srgbClr val="9E3410"/>
          </a:solidFill>
          <a:ln/>
        </p:spPr>
        <p:txBody>
          <a:bodyPr/>
          <a:p/>
        </p:txBody>
      </p:sp>
      <p:sp>
        <p:nvSpPr>
          <p:cNvPr id="2365" name="" descr="{&quot;isTemplate&quot;:true,&quot;type&quot;:&quot;text&quot;}"/>
          <p:cNvSpPr txBox="1"/>
          <p:nvPr/>
        </p:nvSpPr>
        <p:spPr>
          <a:xfrm rot="0" flipH="0" flipV="0">
            <a:off x="2886075" y="4752975"/>
            <a:ext cx="142875" cy="133350"/>
          </a:xfrm>
          <a:prstGeom prst="rect"/>
        </p:spPr>
        <p:txBody>
          <a:bodyPr wrap="none" lIns="0" tIns="0" rIns="0" bIns="0"/>
          <a:p>
            <a:pPr>
              <a:lnSpc>
                <a:spcPct val="100000"/>
              </a:lnSpc>
            </a:pPr>
            <a:r>
              <a:rPr lang="en-US" sz="825" b="1">
                <a:solidFill>
                  <a:srgbClr val="FFFFFF"/>
                </a:solidFill>
                <a:latin typeface="Microsoft YaHei"/>
                <a:ea typeface="Microsoft YaHei"/>
              </a:rPr>
              <a:t>TA</a:t>
            </a:r>
            <a:endParaRPr/>
          </a:p>
        </p:txBody>
      </p:sp>
      <p:sp>
        <p:nvSpPr>
          <p:cNvPr id="2366" name="" descr="{&quot;isTemplate&quot;:true,&quot;type&quot;:&quot;text&quot;}"/>
          <p:cNvSpPr txBox="1"/>
          <p:nvPr/>
        </p:nvSpPr>
        <p:spPr>
          <a:xfrm rot="0" flipH="0" flipV="0">
            <a:off x="3209925" y="4724400"/>
            <a:ext cx="5876925" cy="171450"/>
          </a:xfrm>
          <a:prstGeom prst="rect"/>
        </p:spPr>
        <p:txBody>
          <a:bodyPr wrap="none" lIns="0" tIns="0" rIns="0" bIns="0"/>
          <a:p>
            <a:pPr>
              <a:lnSpc>
                <a:spcPct val="135000"/>
              </a:lnSpc>
            </a:pPr>
            <a:r>
              <a:rPr lang="zh-CN" sz="825">
                <a:solidFill>
                  <a:srgbClr val="0F1423"/>
                </a:solidFill>
                <a:latin typeface="Microsoft YaHei"/>
                <a:ea typeface="Microsoft YaHei"/>
              </a:rPr>
              <a:t>基础设施四层盘点</a:t>
            </a:r>
            <a:r>
              <a:rPr lang="en-US" sz="825">
                <a:solidFill>
                  <a:srgbClr val="0F1423"/>
                </a:solidFill>
                <a:latin typeface="Microsoft YaHei"/>
                <a:ea typeface="Microsoft YaHei"/>
              </a:rPr>
              <a:t xml:space="preserve"> + AI </a:t>
            </a:r>
            <a:r>
              <a:rPr lang="zh-CN" sz="825">
                <a:solidFill>
                  <a:srgbClr val="0F1423"/>
                </a:solidFill>
                <a:latin typeface="Microsoft YaHei"/>
                <a:ea typeface="Microsoft YaHei"/>
              </a:rPr>
              <a:t>五项就绪度（算力</a:t>
            </a:r>
            <a:r>
              <a:rPr lang="en-US" sz="825">
                <a:solidFill>
                  <a:srgbClr val="0F1423"/>
                </a:solidFill>
                <a:latin typeface="Microsoft YaHei"/>
                <a:ea typeface="Microsoft YaHei"/>
              </a:rPr>
              <a:t>/</a:t>
            </a:r>
            <a:r>
              <a:rPr lang="zh-CN" sz="825">
                <a:solidFill>
                  <a:srgbClr val="0F1423"/>
                </a:solidFill>
                <a:latin typeface="Microsoft YaHei"/>
                <a:ea typeface="Microsoft YaHei"/>
              </a:rPr>
              <a:t>模型</a:t>
            </a:r>
            <a:r>
              <a:rPr lang="en-US" sz="825">
                <a:solidFill>
                  <a:srgbClr val="0F1423"/>
                </a:solidFill>
                <a:latin typeface="Microsoft YaHei"/>
                <a:ea typeface="Microsoft YaHei"/>
              </a:rPr>
              <a:t>/</a:t>
            </a:r>
            <a:r>
              <a:rPr lang="zh-CN" sz="825">
                <a:solidFill>
                  <a:srgbClr val="0F1423"/>
                </a:solidFill>
                <a:latin typeface="Microsoft YaHei"/>
                <a:ea typeface="Microsoft YaHei"/>
              </a:rPr>
              <a:t>向量</a:t>
            </a:r>
            <a:r>
              <a:rPr lang="en-US" sz="825">
                <a:solidFill>
                  <a:srgbClr val="0F1423"/>
                </a:solidFill>
                <a:latin typeface="Microsoft YaHei"/>
                <a:ea typeface="Microsoft YaHei"/>
              </a:rPr>
              <a:t>/</a:t>
            </a:r>
            <a:r>
              <a:rPr lang="zh-CN" sz="825">
                <a:solidFill>
                  <a:srgbClr val="0F1423"/>
                </a:solidFill>
                <a:latin typeface="Microsoft YaHei"/>
                <a:ea typeface="Microsoft YaHei"/>
              </a:rPr>
              <a:t>编排</a:t>
            </a:r>
            <a:r>
              <a:rPr lang="en-US" sz="825">
                <a:solidFill>
                  <a:srgbClr val="0F1423"/>
                </a:solidFill>
                <a:latin typeface="Microsoft YaHei"/>
                <a:ea typeface="Microsoft YaHei"/>
              </a:rPr>
              <a:t>/</a:t>
            </a:r>
            <a:r>
              <a:rPr lang="zh-CN" sz="825">
                <a:solidFill>
                  <a:srgbClr val="0F1423"/>
                </a:solidFill>
                <a:latin typeface="Microsoft YaHei"/>
                <a:ea typeface="Microsoft YaHei"/>
              </a:rPr>
              <a:t>治理）</a:t>
            </a:r>
            <a:endParaRPr/>
          </a:p>
        </p:txBody>
      </p:sp>
      <p:sp>
        <p:nvSpPr>
          <p:cNvPr id="2367" name=""/>
          <p:cNvSpPr/>
          <p:nvPr/>
        </p:nvSpPr>
        <p:spPr>
          <a:xfrm rot="0" flipH="0" flipV="0">
            <a:off x="9258300" y="4552950"/>
            <a:ext cx="2324100" cy="514350"/>
          </a:xfrm>
          <a:prstGeom prst="roundRect">
            <a:avLst>
              <a:gd name="adj" fmla="val 5556"/>
            </a:avLst>
          </a:prstGeom>
          <a:solidFill>
            <a:srgbClr val="FFF3EE"/>
          </a:solidFill>
          <a:ln/>
        </p:spPr>
        <p:txBody>
          <a:bodyPr/>
          <a:p/>
        </p:txBody>
      </p:sp>
      <p:sp>
        <p:nvSpPr>
          <p:cNvPr id="2368" name="" descr="{&quot;isTemplate&quot;:true,&quot;type&quot;:&quot;text&quot;}"/>
          <p:cNvSpPr txBox="1"/>
          <p:nvPr/>
        </p:nvSpPr>
        <p:spPr>
          <a:xfrm rot="0" flipH="0" flipV="0">
            <a:off x="9372600" y="4743450"/>
            <a:ext cx="1352550" cy="133350"/>
          </a:xfrm>
          <a:prstGeom prst="rect"/>
        </p:spPr>
        <p:txBody>
          <a:bodyPr wrap="none" lIns="0" tIns="0" rIns="0" bIns="0"/>
          <a:p>
            <a:pPr>
              <a:lnSpc>
                <a:spcPct val="100000"/>
              </a:lnSpc>
            </a:pPr>
            <a:r>
              <a:rPr lang="en-US" sz="863" b="1">
                <a:solidFill>
                  <a:srgbClr val="C43A17"/>
                </a:solidFill>
                <a:latin typeface="Microsoft YaHei"/>
                <a:ea typeface="Microsoft YaHei"/>
              </a:rPr>
              <a:t>P18</a:t>
            </a:r>
            <a:r>
              <a:rPr lang="zh-CN" sz="863" b="1">
                <a:solidFill>
                  <a:srgbClr val="C43A17"/>
                </a:solidFill>
                <a:latin typeface="Microsoft YaHei"/>
                <a:ea typeface="Microsoft YaHei"/>
              </a:rPr>
              <a:t>　</a:t>
            </a:r>
            <a:r>
              <a:rPr lang="en-US" sz="863" b="1">
                <a:solidFill>
                  <a:srgbClr val="C43A17"/>
                </a:solidFill>
                <a:latin typeface="Microsoft YaHei"/>
                <a:ea typeface="Microsoft YaHei"/>
              </a:rPr>
              <a:t xml:space="preserve">AI </a:t>
            </a:r>
            <a:r>
              <a:rPr lang="zh-CN" sz="863" b="1">
                <a:solidFill>
                  <a:srgbClr val="C43A17"/>
                </a:solidFill>
                <a:latin typeface="Microsoft YaHei"/>
                <a:ea typeface="Microsoft YaHei"/>
              </a:rPr>
              <a:t>技术就绪度评估表</a:t>
            </a:r>
            <a:endParaRPr/>
          </a:p>
        </p:txBody>
      </p:sp>
      <p:sp>
        <p:nvSpPr>
          <p:cNvPr id="2369" name=""/>
          <p:cNvSpPr/>
          <p:nvPr/>
        </p:nvSpPr>
        <p:spPr>
          <a:xfrm rot="0" flipH="0" flipV="0">
            <a:off x="638175" y="5143500"/>
            <a:ext cx="1952625" cy="514350"/>
          </a:xfrm>
          <a:prstGeom prst="roundRect">
            <a:avLst>
              <a:gd name="adj" fmla="val 5556"/>
            </a:avLst>
          </a:prstGeom>
          <a:solidFill>
            <a:srgbClr val="F7F7F8"/>
          </a:solidFill>
          <a:ln/>
        </p:spPr>
        <p:txBody>
          <a:bodyPr/>
          <a:p/>
        </p:txBody>
      </p:sp>
      <p:sp>
        <p:nvSpPr>
          <p:cNvPr id="2370" name=""/>
          <p:cNvSpPr/>
          <p:nvPr/>
        </p:nvSpPr>
        <p:spPr>
          <a:xfrm rot="0" flipH="0" flipV="0">
            <a:off x="638175" y="5143500"/>
            <a:ext cx="1952625" cy="514350"/>
          </a:xfrm>
          <a:custGeom>
            <a:pathLst>
              <a:path w="205" h="54">
                <a:moveTo>
                  <a:pt x="3" y="54"/>
                </a:moveTo>
                <a:cubicBezTo>
                  <a:pt x="1" y="54"/>
                  <a:pt x="0" y="53"/>
                  <a:pt x="0" y="51"/>
                </a:cubicBezTo>
                <a:lnTo>
                  <a:pt x="0" y="3"/>
                </a:lnTo>
                <a:cubicBezTo>
                  <a:pt x="0" y="1"/>
                  <a:pt x="1" y="0"/>
                  <a:pt x="3" y="0"/>
                </a:cubicBezTo>
                <a:lnTo>
                  <a:pt x="3" y="54"/>
                </a:lnTo>
                <a:close/>
              </a:path>
            </a:pathLst>
          </a:custGeom>
          <a:solidFill>
            <a:srgbClr val="C43A17"/>
          </a:solidFill>
          <a:ln/>
        </p:spPr>
        <p:txBody>
          <a:bodyPr/>
          <a:p/>
        </p:txBody>
      </p:sp>
      <p:sp>
        <p:nvSpPr>
          <p:cNvPr id="2371" name="" descr="{&quot;isTemplate&quot;:true,&quot;type&quot;:&quot;text&quot;}"/>
          <p:cNvSpPr txBox="1"/>
          <p:nvPr/>
        </p:nvSpPr>
        <p:spPr>
          <a:xfrm rot="0" flipH="0" flipV="0">
            <a:off x="742950" y="5248275"/>
            <a:ext cx="1743075" cy="123825"/>
          </a:xfrm>
          <a:prstGeom prst="rect"/>
        </p:spPr>
        <p:txBody>
          <a:bodyPr wrap="none" lIns="0" tIns="0" rIns="0" bIns="0"/>
          <a:p>
            <a:pPr>
              <a:lnSpc>
                <a:spcPct val="100000"/>
              </a:lnSpc>
            </a:pPr>
            <a:r>
              <a:rPr lang="en-US" sz="788" b="1">
                <a:solidFill>
                  <a:srgbClr val="C43A17"/>
                </a:solidFill>
                <a:latin typeface="Microsoft YaHei"/>
                <a:ea typeface="Microsoft YaHei"/>
              </a:rPr>
              <a:t>3.2(5)</a:t>
            </a:r>
            <a:endParaRPr/>
          </a:p>
        </p:txBody>
      </p:sp>
      <p:sp>
        <p:nvSpPr>
          <p:cNvPr id="2372" name="" descr="{&quot;isTemplate&quot;:true,&quot;type&quot;:&quot;text&quot;}"/>
          <p:cNvSpPr txBox="1"/>
          <p:nvPr/>
        </p:nvSpPr>
        <p:spPr>
          <a:xfrm rot="0" flipH="0" flipV="0">
            <a:off x="742950" y="5391150"/>
            <a:ext cx="1743075" cy="171450"/>
          </a:xfrm>
          <a:prstGeom prst="rect"/>
        </p:spPr>
        <p:txBody>
          <a:bodyPr wrap="none" lIns="0" tIns="0" rIns="0" bIns="0"/>
          <a:p>
            <a:pPr>
              <a:lnSpc>
                <a:spcPct val="130000"/>
              </a:lnSpc>
            </a:pPr>
            <a:r>
              <a:rPr lang="en-US" sz="825">
                <a:solidFill>
                  <a:srgbClr val="3A4050"/>
                </a:solidFill>
                <a:latin typeface="Microsoft YaHei"/>
                <a:ea typeface="Microsoft YaHei"/>
              </a:rPr>
              <a:t xml:space="preserve">AI </a:t>
            </a:r>
            <a:r>
              <a:rPr lang="zh-CN" sz="825">
                <a:solidFill>
                  <a:srgbClr val="3A4050"/>
                </a:solidFill>
                <a:latin typeface="Microsoft YaHei"/>
                <a:ea typeface="Microsoft YaHei"/>
              </a:rPr>
              <a:t>场景识别与优先级评估方法</a:t>
            </a:r>
            <a:endParaRPr/>
          </a:p>
        </p:txBody>
      </p:sp>
      <p:sp>
        <p:nvSpPr>
          <p:cNvPr id="2373" name=""/>
          <p:cNvSpPr/>
          <p:nvPr/>
        </p:nvSpPr>
        <p:spPr>
          <a:xfrm rot="0" flipH="0" flipV="0">
            <a:off x="2647950" y="5143500"/>
            <a:ext cx="6553200" cy="514350"/>
          </a:xfrm>
          <a:prstGeom prst="roundRect">
            <a:avLst>
              <a:gd name="adj" fmla="val 5556"/>
            </a:avLst>
          </a:prstGeom>
          <a:solidFill>
            <a:srgbClr val="F7F7F8"/>
          </a:solidFill>
          <a:ln/>
        </p:spPr>
        <p:txBody>
          <a:bodyPr/>
          <a:p/>
        </p:txBody>
      </p:sp>
      <p:sp>
        <p:nvSpPr>
          <p:cNvPr id="2374" name=""/>
          <p:cNvSpPr/>
          <p:nvPr/>
        </p:nvSpPr>
        <p:spPr>
          <a:xfrm rot="0" flipH="0" flipV="0">
            <a:off x="2762250" y="5314950"/>
            <a:ext cx="381000" cy="180975"/>
          </a:xfrm>
          <a:prstGeom prst="roundRect">
            <a:avLst>
              <a:gd name="adj" fmla="val 10526"/>
            </a:avLst>
          </a:prstGeom>
          <a:solidFill>
            <a:srgbClr val="C43A17"/>
          </a:solidFill>
          <a:ln/>
        </p:spPr>
        <p:txBody>
          <a:bodyPr/>
          <a:p/>
        </p:txBody>
      </p:sp>
      <p:sp>
        <p:nvSpPr>
          <p:cNvPr id="2375" name="" descr="{&quot;isTemplate&quot;:true,&quot;type&quot;:&quot;text&quot;}"/>
          <p:cNvSpPr txBox="1"/>
          <p:nvPr/>
        </p:nvSpPr>
        <p:spPr>
          <a:xfrm rot="0" flipH="0" flipV="0">
            <a:off x="2762250" y="5343525"/>
            <a:ext cx="381000" cy="133350"/>
          </a:xfrm>
          <a:prstGeom prst="rect"/>
        </p:spPr>
        <p:txBody>
          <a:bodyPr wrap="none" lIns="0" tIns="0" rIns="0" bIns="0"/>
          <a:p>
            <a:pPr>
              <a:lnSpc>
                <a:spcPct val="100000"/>
              </a:lnSpc>
            </a:pPr>
            <a:r>
              <a:rPr lang="en-US" sz="825" b="1">
                <a:solidFill>
                  <a:srgbClr val="FFFFFF"/>
                </a:solidFill>
                <a:latin typeface="Microsoft YaHei"/>
                <a:ea typeface="Microsoft YaHei"/>
              </a:rPr>
              <a:t>BA+AA</a:t>
            </a:r>
            <a:endParaRPr/>
          </a:p>
        </p:txBody>
      </p:sp>
      <p:sp>
        <p:nvSpPr>
          <p:cNvPr id="2376" name="" descr="{&quot;isTemplate&quot;:true,&quot;type&quot;:&quot;text&quot;}"/>
          <p:cNvSpPr txBox="1"/>
          <p:nvPr/>
        </p:nvSpPr>
        <p:spPr>
          <a:xfrm rot="0" flipH="0" flipV="0">
            <a:off x="3209925" y="5314950"/>
            <a:ext cx="5876925" cy="171450"/>
          </a:xfrm>
          <a:prstGeom prst="rect"/>
        </p:spPr>
        <p:txBody>
          <a:bodyPr wrap="none" lIns="0" tIns="0" rIns="0" bIns="0"/>
          <a:p>
            <a:pPr>
              <a:lnSpc>
                <a:spcPct val="135000"/>
              </a:lnSpc>
            </a:pPr>
            <a:r>
              <a:rPr lang="zh-CN" sz="825">
                <a:solidFill>
                  <a:srgbClr val="0F1423"/>
                </a:solidFill>
                <a:latin typeface="Microsoft YaHei"/>
                <a:ea typeface="Microsoft YaHei"/>
              </a:rPr>
              <a:t>价值×可行性×风险三维打分，蓝图阶段初识、规格阶段细化</a:t>
            </a:r>
            <a:endParaRPr/>
          </a:p>
        </p:txBody>
      </p:sp>
      <p:sp>
        <p:nvSpPr>
          <p:cNvPr id="2377" name=""/>
          <p:cNvSpPr/>
          <p:nvPr/>
        </p:nvSpPr>
        <p:spPr>
          <a:xfrm rot="0" flipH="0" flipV="0">
            <a:off x="9258300" y="5143500"/>
            <a:ext cx="2324100" cy="514350"/>
          </a:xfrm>
          <a:prstGeom prst="roundRect">
            <a:avLst>
              <a:gd name="adj" fmla="val 5556"/>
            </a:avLst>
          </a:prstGeom>
          <a:solidFill>
            <a:srgbClr val="FFF3EE"/>
          </a:solidFill>
          <a:ln/>
        </p:spPr>
        <p:txBody>
          <a:bodyPr/>
          <a:p/>
        </p:txBody>
      </p:sp>
      <p:sp>
        <p:nvSpPr>
          <p:cNvPr id="2378" name="" descr="{&quot;isTemplate&quot;:true,&quot;type&quot;:&quot;text&quot;}"/>
          <p:cNvSpPr txBox="1"/>
          <p:nvPr/>
        </p:nvSpPr>
        <p:spPr>
          <a:xfrm rot="0" flipH="0" flipV="0">
            <a:off x="9372600" y="5334000"/>
            <a:ext cx="1895475" cy="133350"/>
          </a:xfrm>
          <a:prstGeom prst="rect"/>
        </p:spPr>
        <p:txBody>
          <a:bodyPr wrap="none" lIns="0" tIns="0" rIns="0" bIns="0"/>
          <a:p>
            <a:pPr>
              <a:lnSpc>
                <a:spcPct val="100000"/>
              </a:lnSpc>
            </a:pPr>
            <a:r>
              <a:rPr lang="en-US" sz="863" b="1">
                <a:solidFill>
                  <a:srgbClr val="C43A17"/>
                </a:solidFill>
                <a:latin typeface="Microsoft YaHei"/>
                <a:ea typeface="Microsoft YaHei"/>
              </a:rPr>
              <a:t>P25 / P33</a:t>
            </a:r>
            <a:r>
              <a:rPr lang="zh-CN" sz="863" b="1">
                <a:solidFill>
                  <a:srgbClr val="C43A17"/>
                </a:solidFill>
                <a:latin typeface="Microsoft YaHei"/>
                <a:ea typeface="Microsoft YaHei"/>
              </a:rPr>
              <a:t>　</a:t>
            </a:r>
            <a:r>
              <a:rPr lang="en-US" sz="863" b="1">
                <a:solidFill>
                  <a:srgbClr val="C43A17"/>
                </a:solidFill>
                <a:latin typeface="Microsoft YaHei"/>
                <a:ea typeface="Microsoft YaHei"/>
              </a:rPr>
              <a:t xml:space="preserve">AI </a:t>
            </a:r>
            <a:r>
              <a:rPr lang="zh-CN" sz="863" b="1">
                <a:solidFill>
                  <a:srgbClr val="C43A17"/>
                </a:solidFill>
                <a:latin typeface="Microsoft YaHei"/>
                <a:ea typeface="Microsoft YaHei"/>
              </a:rPr>
              <a:t>应用场景清单（排序）</a:t>
            </a:r>
            <a:endParaRPr/>
          </a:p>
        </p:txBody>
      </p:sp>
      <p:sp>
        <p:nvSpPr>
          <p:cNvPr id="2379" name=""/>
          <p:cNvSpPr/>
          <p:nvPr/>
        </p:nvSpPr>
        <p:spPr>
          <a:xfrm rot="0" flipH="0" flipV="0">
            <a:off x="609600" y="5943600"/>
            <a:ext cx="133350" cy="133350"/>
          </a:xfrm>
          <a:prstGeom prst="rect">
            <a:avLst/>
          </a:prstGeom>
          <a:solidFill>
            <a:srgbClr val="FA4F24"/>
          </a:solidFill>
          <a:ln/>
        </p:spPr>
        <p:txBody>
          <a:bodyPr/>
          <a:p/>
        </p:txBody>
      </p:sp>
      <p:sp>
        <p:nvSpPr>
          <p:cNvPr id="2380"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2381"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06 / 36</a:t>
            </a:r>
            <a:endParaRPr/>
          </a:p>
        </p:txBody>
      </p:sp>
    </p:spTree>
  </p:cSld>
</p:sld>
</file>

<file path=ppt/slides/slide7.xml><?xml version="1.0" encoding="utf-8"?>
<p:sld xmlns:p="http://schemas.openxmlformats.org/presentationml/2006/main" xmlns:a="http://schemas.openxmlformats.org/drawingml/2006/main">
  <p:cSld>
    <p:spTree>
      <p:nvGrpSpPr>
        <p:cNvPr id="2382" name="" descr="&lt;Slide style={{ width: 1280, height: 720, background: '#FFFFFF', padding: '24px 64px 0' }}&gt;&#13;&#10;    {/* A 区 */}&#13;&#10;    &lt;Box style={{ height: 96, flexDirection: 'column', justifyContent: 'flex-start' }}&gt;&#13;&#10;        &lt;Text style={{ fontSize: 32, fontWeight: 'bold', color: '#0F1423' }}&gt;&#13;&#10;            业务域地图：&lt;span style={{ color: '#FA4F24' }}&gt;能源七块&lt;/span&gt; + 储能两块&#13;&#10;        &lt;/Text&gt;&#13;&#10;        &lt;Text style={{ fontSize: 19, color: '#8A8F99', marginTop: 7 }}&gt;&#13;&#10;            每一块的流程形态、数据特征、AI 落点都不同，不能用一套模板扫过去&#13;&#10;        &lt;/Text&gt;&#13;&#10;    &lt;/Box&gt;&#13;&#10;    &lt;Box style={{ height: 1, background: '#E8E8E8' }} /&gt;&#13;&#10;&#13;&#10;    {/* B 区 */}&#13;&#10;    &lt;Box style={{ paddingTop: 10, paddingBottom: 6, height: 479, flexDirection: 'column', gap: 8 }}&gt;&#13;&#10;&#13;&#10;        {/* 能源链：五段 */}&#13;&#10;        &lt;Box style={{ height: 22, flexDirection: 'row', alignItems: 'center', gap: 8 }}&gt;&#13;&#10;            &lt;Box style={{ width: 4, height: 16, background: '#FA4F24' }} /&gt;&#13;&#10;            &lt;Text style={{ fontSize: 13, fontWeight: 'bold', color: '#0F1423' }}&gt;能源业务链（招标 3.1.1）&lt;/Text&gt;&#13;&#10;            &lt;Text style={{ fontSize: 11, color: '#8A8F99' }}&gt;从投资到运营的价值流转，五块各有独立流程形态&lt;/Text&gt;&#13;&#10;        &lt;/Box&gt;&#13;&#10;        &lt;Box style={{ height: 116, flexDirection: 'row', gap: 5 }}&gt;&#13;&#10;            {[&#13;&#10;                { n: 'E1', t: '开发与投资', d: '项目机会筛选、可研测算、投资决策', ch: '长周期 · 强合规 · 文档驱动', ai: '尽调与可研加速', c: '#FA4F24' },&#13;&#10;                { n: 'E2', t: '建设', d: '设计、采购、施工、监理、进度与验收', ch: '现场为主 · 大量工程数据', ai: '进度偏差预警 / 文档智能核对', c: '#E0641E' },&#13;&#10;                { n: 'E3', t: '运营运维', d: '含资产管理：设备台账、缺陷工单、检修计划', ch: '资产为核 · 时序数据为主', ai: '缺陷预判 / 检修策略推荐', c: '#D2531A' },&#13;&#10;                { n: 'E4', t: '交易', d: '电力市场交易申报、结算、偏差与风险敞口', ch: '高频 · 强时效 · 规则驱动', ai: '报价策略与风险提示', c: '#C43A17' },&#13;&#10;                { n: 'E5', t: '项目四算', d: '概算、预算、竣工决算、运营成本核算', ch: '算量规则复杂 · 追溯要求极高', ai: '算量与差异归因辅助', c: '#9E3410' },&#13;&#10;            ].map((x) =&gt; (&#13;&#10;                &lt;Box key={x.n} style={{ flex: 1, background: '#F7F7F8', borderRadius: 4, borderTop: '3px solid ' + x.c, padding: '9px 10px', flexDirection: 'column' }}&gt;&#13;&#10;                    &lt;Box style={{ flexDirection: 'row', alignItems: 'center', gap: 6 }}&gt;&#13;&#10;                        &lt;Text style={{ fontSize: 13, fontWeight: 'bold', color: x.c }}&gt;{x.n}&lt;/Text&gt;&#13;&#10;                        &lt;Text style={{ fontSize: 13.5, fontWeight: 'bold', color: '#0F1423' }}&gt;{x.t}&lt;/Text&gt;&#13;&#10;                    &lt;/Box&gt;&#13;&#10;                    &lt;Text style={{ fontSize: 10.5, color: '#5A6070', lineHeight: 1.35, marginTop: 5, flex: 1 }}&gt;{x.d}&lt;/Text&gt;&#13;&#10;                    &lt;Text style={{ fontSize: 9.5, color: '#8A8F99', lineHeight: 1.3 }}&gt;{x.ch}&lt;/Text&gt;&#13;&#10;                    &lt;Text style={{ fontSize: 9.5, color: x.c, lineHeight: 1.3, marginTop: 2 }}&gt;AI：{x.ai}&lt;/Text&gt;&#13;&#10;                &lt;/Box&gt;&#13;&#10;            ))}&#13;&#10;        &lt;/Box&gt;&#13;&#10;&#13;&#10;        {/* 能源：指标体系 */}&#13;&#10;        &lt;Box style={{ height: 40, flexDirection: 'row', gap: 10, alignItems: 'stretch' }}&gt;&#13;&#10;            &lt;Box style={{ width: 244, background: '#0F1423', borderRadius: 4, padding: '0 15px', flexDirection: 'column', justifyContent: 'center' }}&gt;&#13;&#10;                &lt;Text style={{ fontSize: 12.5, fontWeight: 'bold', color: '#FBA15C' }}&gt;E6　指标体系建设（横切）&lt;/Text&gt;&#13;&#10;                &lt;Text style={{ fontSize: 10, color: 'rgba(255,255,255,0.78)', marginTop: 2 }}&gt;穿透前五块，单独成交付物&lt;/Text&gt;&#13;&#10;            &lt;/Box&gt;&#13;&#10;            &lt;Box style={{ flex: 1, background: '#FFF3EE', borderRadius: 4, borderLeft: '4px solid #FA4F24', padding: '0 15px', flexDirection: 'row', alignItems: 'center', gap: 14 }}&gt;&#13;&#10;                &lt;Text style={{ fontSize: 11.5, color: '#3A4050', flex: 1, lineHeight: 1.4 }}&gt;&#13;&#10;                    核心动作：指标名称与编码、业务定义、计算公式、计量单位、统计周期、数据来源与取数口径、业务与数据责任人、有效期与使用场景 —— 八要素缺一项就不进指标字典&#13;&#10;                &lt;/Text&gt;&#13;&#10;            &lt;/Box&gt;&#13;&#10;        &lt;/Box&gt;&#13;&#10;&#13;&#10;        {/* 储能 */}&#13;&#10;        &lt;Box style={{ height: 22, flexDirection: 'row', alignItems: 'center', gap: 8 }}&gt;&#13;&#10;            &lt;Box style={{ width: 4, height: 16, background: '#5A6070' }} /&gt;&#13;&#10;            &lt;Text style={{ fontSize: 13, fontWeight: 'bold', color: '#0F1423' }}&gt;储能业务链（招标 3.1.1）&lt;/Text&gt;&#13;&#10;            &lt;Text style={{ fontSize: 11, color: '#8A8F99' }}&gt;制造侧衔接，核心矛盾在 EBOM 到 MBOM 的转化&lt;/Text&gt;&#13;&#10;        &lt;/Box&gt;&#13;&#10;        &lt;Box style={{ flex: 1, flexDirection: 'row', gap: 8, alignItems: 'stretch' }}&gt;&#13;&#10;            &lt;Box style={{ width: 456, background: '#F7F7F8', borderRadius: 4, borderTop: '3px solid #3A4050', padding: '10px 14px', flexDirection: 'column' }}&gt;&#13;&#10;                &lt;Text style={{ fontSize: 13, fontWeight: 'bold', color: '#3A4050' }}&gt;S1　采购履行与协同管理&lt;/Text&gt;&#13;&#10;                &lt;Text style={{ fontSize: 11, color: '#5A6070', lineHeight: 1.4, marginTop: 5, flex: 1 }}&gt;&#13;&#10;                    寻源、询比价、订单、催交、到货检验、入库 —— 与能源建设链在采购侧交汇，是两条链的公共域&#13;&#10;                &lt;/Text&gt;&#13;&#10;                &lt;Text style={{ fontSize: 10, color: '#8A8F99' }}&gt;共建对象：采购履行中台 · 与 E2 共用供应商与物料主数据&lt;/Text&gt;&#13;&#10;            &lt;/Box&gt;&#13;&#10;            &lt;Box style={{ width: 456, background: '#F7F7F8', borderRadius: 4, borderTop: '3px solid #0F1423', padding: '10px 14px', flexDirection: 'column' }}&gt;&#13;&#10;                &lt;Text style={{ fontSize: 13, fontWeight: 'bold', color: '#0F1423' }}&gt;S2　EBOM → MBOM 转化&lt;/Text&gt;&#13;&#10;                &lt;Text style={{ fontSize: 11, color: '#5A6070', lineHeight: 1.4, marginTop: 5, flex: 1 }}&gt;&#13;&#10;                    设计 BOM 到制造 BOM 的逐层展开、工艺路线配套、替代料规则 —— 本项目数据架构最难的一块，也是主数据与流程的交叉点&#13;&#10;                &lt;/Text&gt;&#13;&#10;                &lt;Text style={{ fontSize: 10, color: '#C43A17' }}&gt;风险：转换规则不沉淀成系统能力，每接一个新产品都要重做一遍&lt;/Text&gt;&#13;&#10;            &lt;/Box&gt;&#13;&#10;            &lt;Box style={{ flex: 1, background: '#0F1423', borderRadius: 4, padding: '10px 15px', flexDirection: 'column', justifyContent: 'center' }}&gt;&#13;&#10;                &lt;Text style={{ fontSize: 12, color: '#FBA15C', letterSpacing: 1 }}&gt;两条链的公共底座&lt;/Text&gt;&#13;&#10;                &lt;Text style={{ fontSize: 11.5, color: '#FFFFFF', lineHeight: 1.45, marginTop: 6 }}&gt;&#13;&#10;                    物料/供应商主数据、组织与人员、项目编码、指标口径 —— 这四样在两条链上各存一份，整套架构就废了&#13;&#10;                &lt;/Text&gt;&#13;&#10;                &lt;Text style={{ fontSize: 10, color: 'rgba(255,255,255,0.7)', marginTop: 6 }}&gt;跨链一致性是本次诊断的第一优先级&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07 / 36&lt;/Text&gt;&#13;&#10;    &lt;/Box&gt;&#13;&#10;&lt;/Slide&gt;&#13;&#10;"/>
        <p:cNvGrpSpPr/>
        <p:nvPr/>
      </p:nvGrpSpPr>
      <p:grpSpPr>
        <a:xfrm>
          <a:off x="0" y="0"/>
          <a:ext cx="0" cy="0"/>
          <a:chOff x="0" y="0"/>
          <a:chExt cx="0" cy="0"/>
        </a:xfrm>
      </p:grpSpPr>
      <p:sp>
        <p:nvSpPr>
          <p:cNvPr id="2383" name=""/>
          <p:cNvSpPr/>
          <p:nvPr/>
        </p:nvSpPr>
        <p:spPr>
          <a:xfrm rot="0" flipH="0" flipV="0">
            <a:off x="0" y="0"/>
            <a:ext cx="12192000" cy="6858000"/>
          </a:xfrm>
          <a:prstGeom prst="rect">
            <a:avLst/>
          </a:prstGeom>
          <a:solidFill>
            <a:srgbClr val="FFFFFF"/>
          </a:solidFill>
          <a:ln/>
        </p:spPr>
        <p:txBody>
          <a:bodyPr/>
          <a:p/>
        </p:txBody>
      </p:sp>
      <p:sp>
        <p:nvSpPr>
          <p:cNvPr id="2384"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业务域地图：</a:t>
            </a:r>
            <a:r>
              <a:rPr lang="zh-CN" sz="2400" b="1">
                <a:solidFill>
                  <a:srgbClr val="FA4F24"/>
                </a:solidFill>
                <a:latin typeface="Microsoft YaHei"/>
                <a:ea typeface="Microsoft YaHei"/>
              </a:rPr>
              <a:t>能源七块</a:t>
            </a:r>
            <a:r>
              <a:rPr lang="en-US" sz="2400" b="1">
                <a:solidFill>
                  <a:srgbClr val="0F1423"/>
                </a:solidFill>
                <a:latin typeface="Microsoft YaHei"/>
                <a:ea typeface="Microsoft YaHei"/>
              </a:rPr>
              <a:t xml:space="preserve"> + </a:t>
            </a:r>
            <a:r>
              <a:rPr lang="zh-CN" sz="2400" b="1">
                <a:solidFill>
                  <a:srgbClr val="0F1423"/>
                </a:solidFill>
                <a:latin typeface="Microsoft YaHei"/>
                <a:ea typeface="Microsoft YaHei"/>
              </a:rPr>
              <a:t>储能两块</a:t>
            </a:r>
            <a:endParaRPr/>
          </a:p>
        </p:txBody>
      </p:sp>
      <p:sp>
        <p:nvSpPr>
          <p:cNvPr id="2385"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每一块的流程形态、数据特征、</a:t>
            </a:r>
            <a:r>
              <a:rPr lang="en-US" sz="1425">
                <a:solidFill>
                  <a:srgbClr val="8A8F99"/>
                </a:solidFill>
                <a:latin typeface="Microsoft YaHei"/>
                <a:ea typeface="Microsoft YaHei"/>
              </a:rPr>
              <a:t xml:space="preserve">AI </a:t>
            </a:r>
            <a:r>
              <a:rPr lang="zh-CN" sz="1425">
                <a:solidFill>
                  <a:srgbClr val="8A8F99"/>
                </a:solidFill>
                <a:latin typeface="Microsoft YaHei"/>
                <a:ea typeface="Microsoft YaHei"/>
              </a:rPr>
              <a:t>落点都不同，不能用一套模板扫过去</a:t>
            </a:r>
            <a:endParaRPr/>
          </a:p>
        </p:txBody>
      </p:sp>
      <p:sp>
        <p:nvSpPr>
          <p:cNvPr id="2386" name=""/>
          <p:cNvSpPr/>
          <p:nvPr/>
        </p:nvSpPr>
        <p:spPr>
          <a:xfrm rot="0" flipH="0" flipV="0">
            <a:off x="609600" y="1143000"/>
            <a:ext cx="10972800" cy="9525"/>
          </a:xfrm>
          <a:prstGeom prst="rect">
            <a:avLst/>
          </a:prstGeom>
          <a:solidFill>
            <a:srgbClr val="E8E8E8"/>
          </a:solidFill>
          <a:ln/>
        </p:spPr>
        <p:txBody>
          <a:bodyPr/>
          <a:p/>
        </p:txBody>
      </p:sp>
      <p:sp>
        <p:nvSpPr>
          <p:cNvPr id="2387" name=""/>
          <p:cNvSpPr/>
          <p:nvPr/>
        </p:nvSpPr>
        <p:spPr>
          <a:xfrm rot="0" flipH="0" flipV="0">
            <a:off x="609600" y="1276350"/>
            <a:ext cx="38100" cy="152400"/>
          </a:xfrm>
          <a:prstGeom prst="rect">
            <a:avLst/>
          </a:prstGeom>
          <a:solidFill>
            <a:srgbClr val="FA4F24"/>
          </a:solidFill>
          <a:ln/>
        </p:spPr>
        <p:txBody>
          <a:bodyPr/>
          <a:p/>
        </p:txBody>
      </p:sp>
      <p:sp>
        <p:nvSpPr>
          <p:cNvPr id="2388" name="" descr="{&quot;isTemplate&quot;:true,&quot;type&quot;:&quot;text&quot;}"/>
          <p:cNvSpPr txBox="1"/>
          <p:nvPr/>
        </p:nvSpPr>
        <p:spPr>
          <a:xfrm rot="0" flipH="0" flipV="0">
            <a:off x="723900" y="1276350"/>
            <a:ext cx="1457325" cy="152400"/>
          </a:xfrm>
          <a:prstGeom prst="rect"/>
        </p:spPr>
        <p:txBody>
          <a:bodyPr wrap="none" lIns="0" tIns="0" rIns="0" bIns="0"/>
          <a:p>
            <a:pPr>
              <a:lnSpc>
                <a:spcPct val="100000"/>
              </a:lnSpc>
            </a:pPr>
            <a:r>
              <a:rPr lang="zh-CN" sz="975" b="1">
                <a:solidFill>
                  <a:srgbClr val="0F1423"/>
                </a:solidFill>
                <a:latin typeface="Microsoft YaHei"/>
                <a:ea typeface="Microsoft YaHei"/>
              </a:rPr>
              <a:t>能源业务链（招标</a:t>
            </a:r>
            <a:r>
              <a:rPr lang="en-US" sz="975" b="1">
                <a:solidFill>
                  <a:srgbClr val="0F1423"/>
                </a:solidFill>
                <a:latin typeface="Microsoft YaHei"/>
                <a:ea typeface="Microsoft YaHei"/>
              </a:rPr>
              <a:t xml:space="preserve"> 3.1.1</a:t>
            </a:r>
            <a:r>
              <a:rPr lang="zh-CN" sz="975" b="1">
                <a:solidFill>
                  <a:srgbClr val="0F1423"/>
                </a:solidFill>
                <a:latin typeface="Microsoft YaHei"/>
                <a:ea typeface="Microsoft YaHei"/>
              </a:rPr>
              <a:t>）</a:t>
            </a:r>
            <a:endParaRPr/>
          </a:p>
        </p:txBody>
      </p:sp>
      <p:sp>
        <p:nvSpPr>
          <p:cNvPr id="2389" name="" descr="{&quot;isTemplate&quot;:true,&quot;type&quot;:&quot;text&quot;}"/>
          <p:cNvSpPr txBox="1"/>
          <p:nvPr/>
        </p:nvSpPr>
        <p:spPr>
          <a:xfrm rot="0" flipH="0" flipV="0">
            <a:off x="2257425" y="1285875"/>
            <a:ext cx="2305050" cy="133350"/>
          </a:xfrm>
          <a:prstGeom prst="rect"/>
        </p:spPr>
        <p:txBody>
          <a:bodyPr wrap="none" lIns="0" tIns="0" rIns="0" bIns="0"/>
          <a:p>
            <a:pPr>
              <a:lnSpc>
                <a:spcPct val="100000"/>
              </a:lnSpc>
            </a:pPr>
            <a:r>
              <a:rPr lang="zh-CN" sz="825">
                <a:solidFill>
                  <a:srgbClr val="8A8F99"/>
                </a:solidFill>
                <a:latin typeface="Microsoft YaHei"/>
                <a:ea typeface="Microsoft YaHei"/>
              </a:rPr>
              <a:t>从投资到运营的价值流转，五块各有独立流程形态</a:t>
            </a:r>
            <a:endParaRPr/>
          </a:p>
        </p:txBody>
      </p:sp>
      <p:sp>
        <p:nvSpPr>
          <p:cNvPr id="2390" name=""/>
          <p:cNvSpPr/>
          <p:nvPr/>
        </p:nvSpPr>
        <p:spPr>
          <a:xfrm rot="0" flipH="0" flipV="0">
            <a:off x="609600" y="1562100"/>
            <a:ext cx="2152650" cy="1104900"/>
          </a:xfrm>
          <a:prstGeom prst="roundRect">
            <a:avLst>
              <a:gd name="adj" fmla="val 3448"/>
            </a:avLst>
          </a:prstGeom>
          <a:solidFill>
            <a:srgbClr val="F7F7F8"/>
          </a:solidFill>
          <a:ln/>
        </p:spPr>
        <p:txBody>
          <a:bodyPr/>
          <a:p/>
        </p:txBody>
      </p:sp>
      <p:sp>
        <p:nvSpPr>
          <p:cNvPr id="2391" name=""/>
          <p:cNvSpPr/>
          <p:nvPr/>
        </p:nvSpPr>
        <p:spPr>
          <a:xfrm rot="0" flipH="0" flipV="0">
            <a:off x="609600" y="1562100"/>
            <a:ext cx="2152650" cy="1104900"/>
          </a:xfrm>
          <a:custGeom>
            <a:pathLst>
              <a:path w="226" h="116">
                <a:moveTo>
                  <a:pt x="222" y="0"/>
                </a:moveTo>
                <a:cubicBezTo>
                  <a:pt x="224" y="0"/>
                  <a:pt x="226" y="2"/>
                  <a:pt x="226" y="4"/>
                </a:cubicBezTo>
                <a:cubicBezTo>
                  <a:pt x="226" y="3"/>
                  <a:pt x="225" y="3"/>
                  <a:pt x="225" y="3"/>
                </a:cubicBezTo>
                <a:lnTo>
                  <a:pt x="1" y="3"/>
                </a:lnTo>
                <a:cubicBezTo>
                  <a:pt x="1" y="3"/>
                  <a:pt x="0" y="3"/>
                  <a:pt x="0" y="4"/>
                </a:cubicBezTo>
                <a:cubicBezTo>
                  <a:pt x="0" y="2"/>
                  <a:pt x="2" y="0"/>
                  <a:pt x="4" y="0"/>
                </a:cubicBezTo>
                <a:lnTo>
                  <a:pt x="222" y="0"/>
                </a:lnTo>
                <a:close/>
              </a:path>
            </a:pathLst>
          </a:custGeom>
          <a:solidFill>
            <a:srgbClr val="FA4F24"/>
          </a:solidFill>
          <a:ln/>
        </p:spPr>
        <p:txBody>
          <a:bodyPr/>
          <a:p/>
        </p:txBody>
      </p:sp>
      <p:sp>
        <p:nvSpPr>
          <p:cNvPr id="2392" name="" descr="{&quot;isTemplate&quot;:true,&quot;type&quot;:&quot;text&quot;}"/>
          <p:cNvSpPr txBox="1"/>
          <p:nvPr/>
        </p:nvSpPr>
        <p:spPr>
          <a:xfrm rot="0" flipH="0" flipV="0">
            <a:off x="704850" y="1657350"/>
            <a:ext cx="152400" cy="152400"/>
          </a:xfrm>
          <a:prstGeom prst="rect"/>
        </p:spPr>
        <p:txBody>
          <a:bodyPr wrap="none" lIns="0" tIns="0" rIns="0" bIns="0"/>
          <a:p>
            <a:pPr>
              <a:lnSpc>
                <a:spcPct val="100000"/>
              </a:lnSpc>
            </a:pPr>
            <a:r>
              <a:rPr lang="en-US" sz="975" b="1">
                <a:solidFill>
                  <a:srgbClr val="FA4F24"/>
                </a:solidFill>
                <a:latin typeface="Microsoft YaHei"/>
                <a:ea typeface="Microsoft YaHei"/>
              </a:rPr>
              <a:t>E1</a:t>
            </a:r>
            <a:endParaRPr/>
          </a:p>
        </p:txBody>
      </p:sp>
      <p:sp>
        <p:nvSpPr>
          <p:cNvPr id="2393" name="" descr="{&quot;isTemplate&quot;:true,&quot;type&quot;:&quot;text&quot;}"/>
          <p:cNvSpPr txBox="1"/>
          <p:nvPr/>
        </p:nvSpPr>
        <p:spPr>
          <a:xfrm rot="0" flipH="0" flipV="0">
            <a:off x="914400" y="1647825"/>
            <a:ext cx="647700" cy="161925"/>
          </a:xfrm>
          <a:prstGeom prst="rect"/>
        </p:spPr>
        <p:txBody>
          <a:bodyPr wrap="none" lIns="0" tIns="0" rIns="0" bIns="0"/>
          <a:p>
            <a:pPr>
              <a:lnSpc>
                <a:spcPct val="100000"/>
              </a:lnSpc>
            </a:pPr>
            <a:r>
              <a:rPr lang="zh-CN" sz="1013" b="1">
                <a:solidFill>
                  <a:srgbClr val="0F1423"/>
                </a:solidFill>
                <a:latin typeface="Microsoft YaHei"/>
                <a:ea typeface="Microsoft YaHei"/>
              </a:rPr>
              <a:t>开发与投资</a:t>
            </a:r>
            <a:endParaRPr/>
          </a:p>
        </p:txBody>
      </p:sp>
      <p:sp>
        <p:nvSpPr>
          <p:cNvPr id="2394" name="" descr="{&quot;isTemplate&quot;:true,&quot;type&quot;:&quot;text&quot;}"/>
          <p:cNvSpPr txBox="1"/>
          <p:nvPr/>
        </p:nvSpPr>
        <p:spPr>
          <a:xfrm rot="0" flipH="0" flipV="0">
            <a:off x="704850" y="1857375"/>
            <a:ext cx="1962150" cy="390525"/>
          </a:xfrm>
          <a:prstGeom prst="rect"/>
        </p:spPr>
        <p:txBody>
          <a:bodyPr wrap="none" lIns="0" tIns="0" rIns="0" bIns="0"/>
          <a:p>
            <a:pPr>
              <a:lnSpc>
                <a:spcPct val="135000"/>
              </a:lnSpc>
            </a:pPr>
            <a:r>
              <a:rPr lang="zh-CN" sz="788">
                <a:solidFill>
                  <a:srgbClr val="5A6070"/>
                </a:solidFill>
                <a:latin typeface="Microsoft YaHei"/>
                <a:ea typeface="Microsoft YaHei"/>
              </a:rPr>
              <a:t>项目机会筛选、可研测算、投资决策</a:t>
            </a:r>
            <a:endParaRPr/>
          </a:p>
        </p:txBody>
      </p:sp>
      <p:sp>
        <p:nvSpPr>
          <p:cNvPr id="2395" name="" descr="{&quot;isTemplate&quot;:true,&quot;type&quot;:&quot;text&quot;}"/>
          <p:cNvSpPr txBox="1"/>
          <p:nvPr/>
        </p:nvSpPr>
        <p:spPr>
          <a:xfrm rot="0" flipH="0" flipV="0">
            <a:off x="704850" y="2247900"/>
            <a:ext cx="1962150" cy="142875"/>
          </a:xfrm>
          <a:prstGeom prst="rect"/>
        </p:spPr>
        <p:txBody>
          <a:bodyPr wrap="none" lIns="0" tIns="0" rIns="0" bIns="0"/>
          <a:p>
            <a:pPr>
              <a:lnSpc>
                <a:spcPct val="130000"/>
              </a:lnSpc>
            </a:pPr>
            <a:r>
              <a:rPr lang="zh-CN" sz="713">
                <a:solidFill>
                  <a:srgbClr val="8A8F99"/>
                </a:solidFill>
                <a:latin typeface="Microsoft YaHei"/>
                <a:ea typeface="Microsoft YaHei"/>
              </a:rPr>
              <a:t>长周期</a:t>
            </a:r>
            <a:r>
              <a:rPr lang="en-US" sz="713">
                <a:solidFill>
                  <a:srgbClr val="8A8F99"/>
                </a:solidFill>
                <a:latin typeface="Microsoft YaHei"/>
                <a:ea typeface="Microsoft YaHei"/>
              </a:rPr>
              <a:t xml:space="preserve"> · </a:t>
            </a:r>
            <a:r>
              <a:rPr lang="zh-CN" sz="713">
                <a:solidFill>
                  <a:srgbClr val="8A8F99"/>
                </a:solidFill>
                <a:latin typeface="Microsoft YaHei"/>
                <a:ea typeface="Microsoft YaHei"/>
              </a:rPr>
              <a:t>强合规</a:t>
            </a:r>
            <a:r>
              <a:rPr lang="en-US" sz="713">
                <a:solidFill>
                  <a:srgbClr val="8A8F99"/>
                </a:solidFill>
                <a:latin typeface="Microsoft YaHei"/>
                <a:ea typeface="Microsoft YaHei"/>
              </a:rPr>
              <a:t xml:space="preserve"> · </a:t>
            </a:r>
            <a:r>
              <a:rPr lang="zh-CN" sz="713">
                <a:solidFill>
                  <a:srgbClr val="8A8F99"/>
                </a:solidFill>
                <a:latin typeface="Microsoft YaHei"/>
                <a:ea typeface="Microsoft YaHei"/>
              </a:rPr>
              <a:t>文档驱动</a:t>
            </a:r>
            <a:endParaRPr/>
          </a:p>
        </p:txBody>
      </p:sp>
      <p:sp>
        <p:nvSpPr>
          <p:cNvPr id="2396" name="" descr="{&quot;isTemplate&quot;:true,&quot;type&quot;:&quot;text&quot;}"/>
          <p:cNvSpPr txBox="1"/>
          <p:nvPr/>
        </p:nvSpPr>
        <p:spPr>
          <a:xfrm rot="0" flipH="0" flipV="0">
            <a:off x="704850" y="2409825"/>
            <a:ext cx="1962150" cy="142875"/>
          </a:xfrm>
          <a:prstGeom prst="rect"/>
        </p:spPr>
        <p:txBody>
          <a:bodyPr wrap="none" lIns="0" tIns="0" rIns="0" bIns="0"/>
          <a:p>
            <a:pPr>
              <a:lnSpc>
                <a:spcPct val="130000"/>
              </a:lnSpc>
            </a:pPr>
            <a:r>
              <a:rPr lang="en-US" sz="713">
                <a:solidFill>
                  <a:srgbClr val="FA4F24"/>
                </a:solidFill>
                <a:latin typeface="Microsoft YaHei"/>
                <a:ea typeface="Microsoft YaHei"/>
              </a:rPr>
              <a:t>AI</a:t>
            </a:r>
            <a:r>
              <a:rPr lang="zh-CN" sz="713">
                <a:solidFill>
                  <a:srgbClr val="FA4F24"/>
                </a:solidFill>
                <a:latin typeface="Microsoft YaHei"/>
                <a:ea typeface="Microsoft YaHei"/>
              </a:rPr>
              <a:t>：</a:t>
            </a:r>
            <a:r>
              <a:rPr lang="zh-CN" sz="713">
                <a:solidFill>
                  <a:srgbClr val="FA4F24"/>
                </a:solidFill>
                <a:latin typeface="Microsoft YaHei"/>
                <a:ea typeface="Microsoft YaHei"/>
              </a:rPr>
              <a:t>尽调与可研加速</a:t>
            </a:r>
            <a:endParaRPr/>
          </a:p>
        </p:txBody>
      </p:sp>
      <p:sp>
        <p:nvSpPr>
          <p:cNvPr id="2397" name=""/>
          <p:cNvSpPr/>
          <p:nvPr/>
        </p:nvSpPr>
        <p:spPr>
          <a:xfrm rot="0" flipH="0" flipV="0">
            <a:off x="2809875" y="1562100"/>
            <a:ext cx="2162175" cy="1104900"/>
          </a:xfrm>
          <a:prstGeom prst="roundRect">
            <a:avLst>
              <a:gd name="adj" fmla="val 3448"/>
            </a:avLst>
          </a:prstGeom>
          <a:solidFill>
            <a:srgbClr val="F7F7F8"/>
          </a:solidFill>
          <a:ln/>
        </p:spPr>
        <p:txBody>
          <a:bodyPr/>
          <a:p/>
        </p:txBody>
      </p:sp>
      <p:sp>
        <p:nvSpPr>
          <p:cNvPr id="2398" name=""/>
          <p:cNvSpPr/>
          <p:nvPr/>
        </p:nvSpPr>
        <p:spPr>
          <a:xfrm rot="0" flipH="0" flipV="0">
            <a:off x="2809875" y="1562100"/>
            <a:ext cx="2162175" cy="1104900"/>
          </a:xfrm>
          <a:custGeom>
            <a:pathLst>
              <a:path w="227" h="116">
                <a:moveTo>
                  <a:pt x="223" y="0"/>
                </a:moveTo>
                <a:cubicBezTo>
                  <a:pt x="225" y="0"/>
                  <a:pt x="227" y="2"/>
                  <a:pt x="227" y="4"/>
                </a:cubicBezTo>
                <a:cubicBezTo>
                  <a:pt x="227" y="3"/>
                  <a:pt x="226" y="3"/>
                  <a:pt x="226" y="3"/>
                </a:cubicBezTo>
                <a:lnTo>
                  <a:pt x="1" y="3"/>
                </a:lnTo>
                <a:cubicBezTo>
                  <a:pt x="1" y="3"/>
                  <a:pt x="0" y="3"/>
                  <a:pt x="0" y="4"/>
                </a:cubicBezTo>
                <a:cubicBezTo>
                  <a:pt x="0" y="2"/>
                  <a:pt x="2" y="0"/>
                  <a:pt x="4" y="0"/>
                </a:cubicBezTo>
                <a:lnTo>
                  <a:pt x="223" y="0"/>
                </a:lnTo>
                <a:close/>
              </a:path>
            </a:pathLst>
          </a:custGeom>
          <a:solidFill>
            <a:srgbClr val="E0641E"/>
          </a:solidFill>
          <a:ln/>
        </p:spPr>
        <p:txBody>
          <a:bodyPr/>
          <a:p/>
        </p:txBody>
      </p:sp>
      <p:sp>
        <p:nvSpPr>
          <p:cNvPr id="2399" name="" descr="{&quot;isTemplate&quot;:true,&quot;type&quot;:&quot;text&quot;}"/>
          <p:cNvSpPr txBox="1"/>
          <p:nvPr/>
        </p:nvSpPr>
        <p:spPr>
          <a:xfrm rot="0" flipH="0" flipV="0">
            <a:off x="2905125" y="1657350"/>
            <a:ext cx="152400" cy="152400"/>
          </a:xfrm>
          <a:prstGeom prst="rect"/>
        </p:spPr>
        <p:txBody>
          <a:bodyPr wrap="none" lIns="0" tIns="0" rIns="0" bIns="0"/>
          <a:p>
            <a:pPr>
              <a:lnSpc>
                <a:spcPct val="100000"/>
              </a:lnSpc>
            </a:pPr>
            <a:r>
              <a:rPr lang="en-US" sz="975" b="1">
                <a:solidFill>
                  <a:srgbClr val="E0641E"/>
                </a:solidFill>
                <a:latin typeface="Microsoft YaHei"/>
                <a:ea typeface="Microsoft YaHei"/>
              </a:rPr>
              <a:t>E2</a:t>
            </a:r>
            <a:endParaRPr/>
          </a:p>
        </p:txBody>
      </p:sp>
      <p:sp>
        <p:nvSpPr>
          <p:cNvPr id="2400" name="" descr="{&quot;isTemplate&quot;:true,&quot;type&quot;:&quot;text&quot;}"/>
          <p:cNvSpPr txBox="1"/>
          <p:nvPr/>
        </p:nvSpPr>
        <p:spPr>
          <a:xfrm rot="0" flipH="0" flipV="0">
            <a:off x="3114675" y="1647825"/>
            <a:ext cx="257175" cy="161925"/>
          </a:xfrm>
          <a:prstGeom prst="rect"/>
        </p:spPr>
        <p:txBody>
          <a:bodyPr wrap="none" lIns="0" tIns="0" rIns="0" bIns="0"/>
          <a:p>
            <a:pPr>
              <a:lnSpc>
                <a:spcPct val="100000"/>
              </a:lnSpc>
            </a:pPr>
            <a:r>
              <a:rPr lang="zh-CN" sz="1013" b="1">
                <a:solidFill>
                  <a:srgbClr val="0F1423"/>
                </a:solidFill>
                <a:latin typeface="Microsoft YaHei"/>
                <a:ea typeface="Microsoft YaHei"/>
              </a:rPr>
              <a:t>建设</a:t>
            </a:r>
            <a:endParaRPr/>
          </a:p>
        </p:txBody>
      </p:sp>
      <p:sp>
        <p:nvSpPr>
          <p:cNvPr id="2401" name="" descr="{&quot;isTemplate&quot;:true,&quot;type&quot;:&quot;text&quot;}"/>
          <p:cNvSpPr txBox="1"/>
          <p:nvPr/>
        </p:nvSpPr>
        <p:spPr>
          <a:xfrm rot="0" flipH="0" flipV="0">
            <a:off x="2905125" y="1857375"/>
            <a:ext cx="1971675" cy="390525"/>
          </a:xfrm>
          <a:prstGeom prst="rect"/>
        </p:spPr>
        <p:txBody>
          <a:bodyPr wrap="none" lIns="0" tIns="0" rIns="0" bIns="0"/>
          <a:p>
            <a:pPr>
              <a:lnSpc>
                <a:spcPct val="135000"/>
              </a:lnSpc>
            </a:pPr>
            <a:r>
              <a:rPr lang="zh-CN" sz="788">
                <a:solidFill>
                  <a:srgbClr val="5A6070"/>
                </a:solidFill>
                <a:latin typeface="Microsoft YaHei"/>
                <a:ea typeface="Microsoft YaHei"/>
              </a:rPr>
              <a:t>设计、采购、施工、监理、进度与验收</a:t>
            </a:r>
            <a:endParaRPr/>
          </a:p>
        </p:txBody>
      </p:sp>
      <p:sp>
        <p:nvSpPr>
          <p:cNvPr id="2402" name="" descr="{&quot;isTemplate&quot;:true,&quot;type&quot;:&quot;text&quot;}"/>
          <p:cNvSpPr txBox="1"/>
          <p:nvPr/>
        </p:nvSpPr>
        <p:spPr>
          <a:xfrm rot="0" flipH="0" flipV="0">
            <a:off x="2905125" y="2247900"/>
            <a:ext cx="1971675" cy="142875"/>
          </a:xfrm>
          <a:prstGeom prst="rect"/>
        </p:spPr>
        <p:txBody>
          <a:bodyPr wrap="none" lIns="0" tIns="0" rIns="0" bIns="0"/>
          <a:p>
            <a:pPr>
              <a:lnSpc>
                <a:spcPct val="130000"/>
              </a:lnSpc>
            </a:pPr>
            <a:r>
              <a:rPr lang="zh-CN" sz="713">
                <a:solidFill>
                  <a:srgbClr val="8A8F99"/>
                </a:solidFill>
                <a:latin typeface="Microsoft YaHei"/>
                <a:ea typeface="Microsoft YaHei"/>
              </a:rPr>
              <a:t>现场为主</a:t>
            </a:r>
            <a:r>
              <a:rPr lang="en-US" sz="713">
                <a:solidFill>
                  <a:srgbClr val="8A8F99"/>
                </a:solidFill>
                <a:latin typeface="Microsoft YaHei"/>
                <a:ea typeface="Microsoft YaHei"/>
              </a:rPr>
              <a:t xml:space="preserve"> · </a:t>
            </a:r>
            <a:r>
              <a:rPr lang="zh-CN" sz="713">
                <a:solidFill>
                  <a:srgbClr val="8A8F99"/>
                </a:solidFill>
                <a:latin typeface="Microsoft YaHei"/>
                <a:ea typeface="Microsoft YaHei"/>
              </a:rPr>
              <a:t>大量工程数据</a:t>
            </a:r>
            <a:endParaRPr/>
          </a:p>
        </p:txBody>
      </p:sp>
      <p:sp>
        <p:nvSpPr>
          <p:cNvPr id="2403" name="" descr="{&quot;isTemplate&quot;:true,&quot;type&quot;:&quot;text&quot;}"/>
          <p:cNvSpPr txBox="1"/>
          <p:nvPr/>
        </p:nvSpPr>
        <p:spPr>
          <a:xfrm rot="0" flipH="0" flipV="0">
            <a:off x="2905125" y="2409825"/>
            <a:ext cx="1971675" cy="142875"/>
          </a:xfrm>
          <a:prstGeom prst="rect"/>
        </p:spPr>
        <p:txBody>
          <a:bodyPr wrap="none" lIns="0" tIns="0" rIns="0" bIns="0"/>
          <a:p>
            <a:pPr>
              <a:lnSpc>
                <a:spcPct val="130000"/>
              </a:lnSpc>
            </a:pPr>
            <a:r>
              <a:rPr lang="en-US" sz="713">
                <a:solidFill>
                  <a:srgbClr val="E0641E"/>
                </a:solidFill>
                <a:latin typeface="Microsoft YaHei"/>
                <a:ea typeface="Microsoft YaHei"/>
              </a:rPr>
              <a:t>AI</a:t>
            </a:r>
            <a:r>
              <a:rPr lang="zh-CN" sz="713">
                <a:solidFill>
                  <a:srgbClr val="E0641E"/>
                </a:solidFill>
                <a:latin typeface="Microsoft YaHei"/>
                <a:ea typeface="Microsoft YaHei"/>
              </a:rPr>
              <a:t>：</a:t>
            </a:r>
            <a:r>
              <a:rPr lang="zh-CN" sz="713">
                <a:solidFill>
                  <a:srgbClr val="E0641E"/>
                </a:solidFill>
                <a:latin typeface="Microsoft YaHei"/>
                <a:ea typeface="Microsoft YaHei"/>
              </a:rPr>
              <a:t>进度偏差预警</a:t>
            </a:r>
            <a:r>
              <a:rPr lang="en-US" sz="713">
                <a:solidFill>
                  <a:srgbClr val="E0641E"/>
                </a:solidFill>
                <a:latin typeface="Microsoft YaHei"/>
                <a:ea typeface="Microsoft YaHei"/>
              </a:rPr>
              <a:t xml:space="preserve"> / </a:t>
            </a:r>
            <a:r>
              <a:rPr lang="zh-CN" sz="713">
                <a:solidFill>
                  <a:srgbClr val="E0641E"/>
                </a:solidFill>
                <a:latin typeface="Microsoft YaHei"/>
                <a:ea typeface="Microsoft YaHei"/>
              </a:rPr>
              <a:t>文档智能核对</a:t>
            </a:r>
            <a:endParaRPr/>
          </a:p>
        </p:txBody>
      </p:sp>
      <p:sp>
        <p:nvSpPr>
          <p:cNvPr id="2404" name=""/>
          <p:cNvSpPr/>
          <p:nvPr/>
        </p:nvSpPr>
        <p:spPr>
          <a:xfrm rot="0" flipH="0" flipV="0">
            <a:off x="5019675" y="1562100"/>
            <a:ext cx="2152650" cy="1104900"/>
          </a:xfrm>
          <a:prstGeom prst="roundRect">
            <a:avLst>
              <a:gd name="adj" fmla="val 3448"/>
            </a:avLst>
          </a:prstGeom>
          <a:solidFill>
            <a:srgbClr val="F7F7F8"/>
          </a:solidFill>
          <a:ln/>
        </p:spPr>
        <p:txBody>
          <a:bodyPr/>
          <a:p/>
        </p:txBody>
      </p:sp>
      <p:sp>
        <p:nvSpPr>
          <p:cNvPr id="2405" name=""/>
          <p:cNvSpPr/>
          <p:nvPr/>
        </p:nvSpPr>
        <p:spPr>
          <a:xfrm rot="0" flipH="0" flipV="0">
            <a:off x="5019675" y="1562100"/>
            <a:ext cx="2152650" cy="1104900"/>
          </a:xfrm>
          <a:custGeom>
            <a:pathLst>
              <a:path w="226" h="116">
                <a:moveTo>
                  <a:pt x="222" y="0"/>
                </a:moveTo>
                <a:cubicBezTo>
                  <a:pt x="224" y="0"/>
                  <a:pt x="226" y="2"/>
                  <a:pt x="226" y="4"/>
                </a:cubicBezTo>
                <a:cubicBezTo>
                  <a:pt x="226" y="3"/>
                  <a:pt x="225" y="3"/>
                  <a:pt x="225" y="3"/>
                </a:cubicBezTo>
                <a:lnTo>
                  <a:pt x="1" y="3"/>
                </a:lnTo>
                <a:cubicBezTo>
                  <a:pt x="1" y="3"/>
                  <a:pt x="0" y="3"/>
                  <a:pt x="0" y="4"/>
                </a:cubicBezTo>
                <a:cubicBezTo>
                  <a:pt x="0" y="2"/>
                  <a:pt x="2" y="0"/>
                  <a:pt x="4" y="0"/>
                </a:cubicBezTo>
                <a:lnTo>
                  <a:pt x="222" y="0"/>
                </a:lnTo>
                <a:close/>
              </a:path>
            </a:pathLst>
          </a:custGeom>
          <a:solidFill>
            <a:srgbClr val="D2531A"/>
          </a:solidFill>
          <a:ln/>
        </p:spPr>
        <p:txBody>
          <a:bodyPr/>
          <a:p/>
        </p:txBody>
      </p:sp>
      <p:sp>
        <p:nvSpPr>
          <p:cNvPr id="2406" name="" descr="{&quot;isTemplate&quot;:true,&quot;type&quot;:&quot;text&quot;}"/>
          <p:cNvSpPr txBox="1"/>
          <p:nvPr/>
        </p:nvSpPr>
        <p:spPr>
          <a:xfrm rot="0" flipH="0" flipV="0">
            <a:off x="5114925" y="1657350"/>
            <a:ext cx="152400" cy="152400"/>
          </a:xfrm>
          <a:prstGeom prst="rect"/>
        </p:spPr>
        <p:txBody>
          <a:bodyPr wrap="none" lIns="0" tIns="0" rIns="0" bIns="0"/>
          <a:p>
            <a:pPr>
              <a:lnSpc>
                <a:spcPct val="100000"/>
              </a:lnSpc>
            </a:pPr>
            <a:r>
              <a:rPr lang="en-US" sz="975" b="1">
                <a:solidFill>
                  <a:srgbClr val="D2531A"/>
                </a:solidFill>
                <a:latin typeface="Microsoft YaHei"/>
                <a:ea typeface="Microsoft YaHei"/>
              </a:rPr>
              <a:t>E3</a:t>
            </a:r>
            <a:endParaRPr/>
          </a:p>
        </p:txBody>
      </p:sp>
      <p:sp>
        <p:nvSpPr>
          <p:cNvPr id="2407" name="" descr="{&quot;isTemplate&quot;:true,&quot;type&quot;:&quot;text&quot;}"/>
          <p:cNvSpPr txBox="1"/>
          <p:nvPr/>
        </p:nvSpPr>
        <p:spPr>
          <a:xfrm rot="0" flipH="0" flipV="0">
            <a:off x="5324475" y="1647825"/>
            <a:ext cx="514350" cy="161925"/>
          </a:xfrm>
          <a:prstGeom prst="rect"/>
        </p:spPr>
        <p:txBody>
          <a:bodyPr wrap="none" lIns="0" tIns="0" rIns="0" bIns="0"/>
          <a:p>
            <a:pPr>
              <a:lnSpc>
                <a:spcPct val="100000"/>
              </a:lnSpc>
            </a:pPr>
            <a:r>
              <a:rPr lang="zh-CN" sz="1013" b="1">
                <a:solidFill>
                  <a:srgbClr val="0F1423"/>
                </a:solidFill>
                <a:latin typeface="Microsoft YaHei"/>
                <a:ea typeface="Microsoft YaHei"/>
              </a:rPr>
              <a:t>运营运维</a:t>
            </a:r>
            <a:endParaRPr/>
          </a:p>
        </p:txBody>
      </p:sp>
      <p:sp>
        <p:nvSpPr>
          <p:cNvPr id="2408" name="" descr="{&quot;isTemplate&quot;:true,&quot;type&quot;:&quot;text&quot;}"/>
          <p:cNvSpPr txBox="1"/>
          <p:nvPr/>
        </p:nvSpPr>
        <p:spPr>
          <a:xfrm rot="0" flipH="0" flipV="0">
            <a:off x="5114925" y="1857375"/>
            <a:ext cx="1962150" cy="39052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含资产管理：设备台账、缺陷工单、检修计划</a:t>
            </a:r>
            <a:endParaRPr/>
          </a:p>
        </p:txBody>
      </p:sp>
      <p:sp>
        <p:nvSpPr>
          <p:cNvPr id="2409" name="" descr="{&quot;isTemplate&quot;:true,&quot;type&quot;:&quot;text&quot;}"/>
          <p:cNvSpPr txBox="1"/>
          <p:nvPr/>
        </p:nvSpPr>
        <p:spPr>
          <a:xfrm rot="0" flipH="0" flipV="0">
            <a:off x="5114925" y="2247900"/>
            <a:ext cx="1962150" cy="142875"/>
          </a:xfrm>
          <a:prstGeom prst="rect"/>
        </p:spPr>
        <p:txBody>
          <a:bodyPr wrap="none" lIns="0" tIns="0" rIns="0" bIns="0"/>
          <a:p>
            <a:pPr>
              <a:lnSpc>
                <a:spcPct val="130000"/>
              </a:lnSpc>
            </a:pPr>
            <a:r>
              <a:rPr lang="zh-CN" sz="713">
                <a:solidFill>
                  <a:srgbClr val="8A8F99"/>
                </a:solidFill>
                <a:latin typeface="Microsoft YaHei"/>
                <a:ea typeface="Microsoft YaHei"/>
              </a:rPr>
              <a:t>资产为核</a:t>
            </a:r>
            <a:r>
              <a:rPr lang="en-US" sz="713">
                <a:solidFill>
                  <a:srgbClr val="8A8F99"/>
                </a:solidFill>
                <a:latin typeface="Microsoft YaHei"/>
                <a:ea typeface="Microsoft YaHei"/>
              </a:rPr>
              <a:t xml:space="preserve"> · </a:t>
            </a:r>
            <a:r>
              <a:rPr lang="zh-CN" sz="713">
                <a:solidFill>
                  <a:srgbClr val="8A8F99"/>
                </a:solidFill>
                <a:latin typeface="Microsoft YaHei"/>
                <a:ea typeface="Microsoft YaHei"/>
              </a:rPr>
              <a:t>时序数据为主</a:t>
            </a:r>
            <a:endParaRPr/>
          </a:p>
        </p:txBody>
      </p:sp>
      <p:sp>
        <p:nvSpPr>
          <p:cNvPr id="2410" name="" descr="{&quot;isTemplate&quot;:true,&quot;type&quot;:&quot;text&quot;}"/>
          <p:cNvSpPr txBox="1"/>
          <p:nvPr/>
        </p:nvSpPr>
        <p:spPr>
          <a:xfrm rot="0" flipH="0" flipV="0">
            <a:off x="5114925" y="2409825"/>
            <a:ext cx="1962150" cy="142875"/>
          </a:xfrm>
          <a:prstGeom prst="rect"/>
        </p:spPr>
        <p:txBody>
          <a:bodyPr wrap="none" lIns="0" tIns="0" rIns="0" bIns="0"/>
          <a:p>
            <a:pPr>
              <a:lnSpc>
                <a:spcPct val="130000"/>
              </a:lnSpc>
            </a:pPr>
            <a:r>
              <a:rPr lang="en-US" sz="713">
                <a:solidFill>
                  <a:srgbClr val="D2531A"/>
                </a:solidFill>
                <a:latin typeface="Microsoft YaHei"/>
                <a:ea typeface="Microsoft YaHei"/>
              </a:rPr>
              <a:t>AI</a:t>
            </a:r>
            <a:r>
              <a:rPr lang="zh-CN" sz="713">
                <a:solidFill>
                  <a:srgbClr val="D2531A"/>
                </a:solidFill>
                <a:latin typeface="Microsoft YaHei"/>
                <a:ea typeface="Microsoft YaHei"/>
              </a:rPr>
              <a:t>：</a:t>
            </a:r>
            <a:r>
              <a:rPr lang="zh-CN" sz="713">
                <a:solidFill>
                  <a:srgbClr val="D2531A"/>
                </a:solidFill>
                <a:latin typeface="Microsoft YaHei"/>
                <a:ea typeface="Microsoft YaHei"/>
              </a:rPr>
              <a:t>缺陷预判</a:t>
            </a:r>
            <a:r>
              <a:rPr lang="en-US" sz="713">
                <a:solidFill>
                  <a:srgbClr val="D2531A"/>
                </a:solidFill>
                <a:latin typeface="Microsoft YaHei"/>
                <a:ea typeface="Microsoft YaHei"/>
              </a:rPr>
              <a:t xml:space="preserve"> / </a:t>
            </a:r>
            <a:r>
              <a:rPr lang="zh-CN" sz="713">
                <a:solidFill>
                  <a:srgbClr val="D2531A"/>
                </a:solidFill>
                <a:latin typeface="Microsoft YaHei"/>
                <a:ea typeface="Microsoft YaHei"/>
              </a:rPr>
              <a:t>检修策略推荐</a:t>
            </a:r>
            <a:endParaRPr/>
          </a:p>
        </p:txBody>
      </p:sp>
      <p:sp>
        <p:nvSpPr>
          <p:cNvPr id="2411" name=""/>
          <p:cNvSpPr/>
          <p:nvPr/>
        </p:nvSpPr>
        <p:spPr>
          <a:xfrm rot="0" flipH="0" flipV="0">
            <a:off x="7219950" y="1562100"/>
            <a:ext cx="2162175" cy="1104900"/>
          </a:xfrm>
          <a:prstGeom prst="roundRect">
            <a:avLst>
              <a:gd name="adj" fmla="val 3448"/>
            </a:avLst>
          </a:prstGeom>
          <a:solidFill>
            <a:srgbClr val="F7F7F8"/>
          </a:solidFill>
          <a:ln/>
        </p:spPr>
        <p:txBody>
          <a:bodyPr/>
          <a:p/>
        </p:txBody>
      </p:sp>
      <p:sp>
        <p:nvSpPr>
          <p:cNvPr id="2412" name=""/>
          <p:cNvSpPr/>
          <p:nvPr/>
        </p:nvSpPr>
        <p:spPr>
          <a:xfrm rot="0" flipH="0" flipV="0">
            <a:off x="7219950" y="1562100"/>
            <a:ext cx="2162175" cy="1104900"/>
          </a:xfrm>
          <a:custGeom>
            <a:pathLst>
              <a:path w="227" h="116">
                <a:moveTo>
                  <a:pt x="223" y="0"/>
                </a:moveTo>
                <a:cubicBezTo>
                  <a:pt x="225" y="0"/>
                  <a:pt x="227" y="2"/>
                  <a:pt x="227" y="4"/>
                </a:cubicBezTo>
                <a:cubicBezTo>
                  <a:pt x="227" y="3"/>
                  <a:pt x="226" y="3"/>
                  <a:pt x="226" y="3"/>
                </a:cubicBezTo>
                <a:lnTo>
                  <a:pt x="1" y="3"/>
                </a:lnTo>
                <a:cubicBezTo>
                  <a:pt x="1" y="3"/>
                  <a:pt x="0" y="3"/>
                  <a:pt x="0" y="4"/>
                </a:cubicBezTo>
                <a:cubicBezTo>
                  <a:pt x="0" y="2"/>
                  <a:pt x="2" y="0"/>
                  <a:pt x="4" y="0"/>
                </a:cubicBezTo>
                <a:lnTo>
                  <a:pt x="223" y="0"/>
                </a:lnTo>
                <a:close/>
              </a:path>
            </a:pathLst>
          </a:custGeom>
          <a:solidFill>
            <a:srgbClr val="C43A17"/>
          </a:solidFill>
          <a:ln/>
        </p:spPr>
        <p:txBody>
          <a:bodyPr/>
          <a:p/>
        </p:txBody>
      </p:sp>
      <p:sp>
        <p:nvSpPr>
          <p:cNvPr id="2413" name="" descr="{&quot;isTemplate&quot;:true,&quot;type&quot;:&quot;text&quot;}"/>
          <p:cNvSpPr txBox="1"/>
          <p:nvPr/>
        </p:nvSpPr>
        <p:spPr>
          <a:xfrm rot="0" flipH="0" flipV="0">
            <a:off x="7315200" y="1657350"/>
            <a:ext cx="152400" cy="152400"/>
          </a:xfrm>
          <a:prstGeom prst="rect"/>
        </p:spPr>
        <p:txBody>
          <a:bodyPr wrap="none" lIns="0" tIns="0" rIns="0" bIns="0"/>
          <a:p>
            <a:pPr>
              <a:lnSpc>
                <a:spcPct val="100000"/>
              </a:lnSpc>
            </a:pPr>
            <a:r>
              <a:rPr lang="en-US" sz="975" b="1">
                <a:solidFill>
                  <a:srgbClr val="C43A17"/>
                </a:solidFill>
                <a:latin typeface="Microsoft YaHei"/>
                <a:ea typeface="Microsoft YaHei"/>
              </a:rPr>
              <a:t>E4</a:t>
            </a:r>
            <a:endParaRPr/>
          </a:p>
        </p:txBody>
      </p:sp>
      <p:sp>
        <p:nvSpPr>
          <p:cNvPr id="2414" name="" descr="{&quot;isTemplate&quot;:true,&quot;type&quot;:&quot;text&quot;}"/>
          <p:cNvSpPr txBox="1"/>
          <p:nvPr/>
        </p:nvSpPr>
        <p:spPr>
          <a:xfrm rot="0" flipH="0" flipV="0">
            <a:off x="7524750" y="1647825"/>
            <a:ext cx="257175" cy="161925"/>
          </a:xfrm>
          <a:prstGeom prst="rect"/>
        </p:spPr>
        <p:txBody>
          <a:bodyPr wrap="none" lIns="0" tIns="0" rIns="0" bIns="0"/>
          <a:p>
            <a:pPr>
              <a:lnSpc>
                <a:spcPct val="100000"/>
              </a:lnSpc>
            </a:pPr>
            <a:r>
              <a:rPr lang="zh-CN" sz="1013" b="1">
                <a:solidFill>
                  <a:srgbClr val="0F1423"/>
                </a:solidFill>
                <a:latin typeface="Microsoft YaHei"/>
                <a:ea typeface="Microsoft YaHei"/>
              </a:rPr>
              <a:t>交易</a:t>
            </a:r>
            <a:endParaRPr/>
          </a:p>
        </p:txBody>
      </p:sp>
      <p:sp>
        <p:nvSpPr>
          <p:cNvPr id="2415" name="" descr="{&quot;isTemplate&quot;:true,&quot;type&quot;:&quot;text&quot;}"/>
          <p:cNvSpPr txBox="1"/>
          <p:nvPr/>
        </p:nvSpPr>
        <p:spPr>
          <a:xfrm rot="0" flipH="0" flipV="0">
            <a:off x="7315200" y="1857375"/>
            <a:ext cx="1971675" cy="390525"/>
          </a:xfrm>
          <a:prstGeom prst="rect"/>
        </p:spPr>
        <p:txBody>
          <a:bodyPr wrap="none" lIns="0" tIns="0" rIns="0" bIns="0"/>
          <a:p>
            <a:pPr>
              <a:lnSpc>
                <a:spcPct val="135000"/>
              </a:lnSpc>
            </a:pPr>
            <a:r>
              <a:rPr lang="zh-CN" sz="788">
                <a:solidFill>
                  <a:srgbClr val="5A6070"/>
                </a:solidFill>
                <a:latin typeface="Microsoft YaHei"/>
                <a:ea typeface="Microsoft YaHei"/>
              </a:rPr>
              <a:t>电力市场交易申报、结算、偏差与风险敞口</a:t>
            </a:r>
            <a:endParaRPr/>
          </a:p>
        </p:txBody>
      </p:sp>
      <p:sp>
        <p:nvSpPr>
          <p:cNvPr id="2416" name="" descr="{&quot;isTemplate&quot;:true,&quot;type&quot;:&quot;text&quot;}"/>
          <p:cNvSpPr txBox="1"/>
          <p:nvPr/>
        </p:nvSpPr>
        <p:spPr>
          <a:xfrm rot="0" flipH="0" flipV="0">
            <a:off x="7315200" y="2247900"/>
            <a:ext cx="1971675" cy="142875"/>
          </a:xfrm>
          <a:prstGeom prst="rect"/>
        </p:spPr>
        <p:txBody>
          <a:bodyPr wrap="none" lIns="0" tIns="0" rIns="0" bIns="0"/>
          <a:p>
            <a:pPr>
              <a:lnSpc>
                <a:spcPct val="130000"/>
              </a:lnSpc>
            </a:pPr>
            <a:r>
              <a:rPr lang="zh-CN" sz="713">
                <a:solidFill>
                  <a:srgbClr val="8A8F99"/>
                </a:solidFill>
                <a:latin typeface="Microsoft YaHei"/>
                <a:ea typeface="Microsoft YaHei"/>
              </a:rPr>
              <a:t>高频</a:t>
            </a:r>
            <a:r>
              <a:rPr lang="en-US" sz="713">
                <a:solidFill>
                  <a:srgbClr val="8A8F99"/>
                </a:solidFill>
                <a:latin typeface="Microsoft YaHei"/>
                <a:ea typeface="Microsoft YaHei"/>
              </a:rPr>
              <a:t xml:space="preserve"> · </a:t>
            </a:r>
            <a:r>
              <a:rPr lang="zh-CN" sz="713">
                <a:solidFill>
                  <a:srgbClr val="8A8F99"/>
                </a:solidFill>
                <a:latin typeface="Microsoft YaHei"/>
                <a:ea typeface="Microsoft YaHei"/>
              </a:rPr>
              <a:t>强时效</a:t>
            </a:r>
            <a:r>
              <a:rPr lang="en-US" sz="713">
                <a:solidFill>
                  <a:srgbClr val="8A8F99"/>
                </a:solidFill>
                <a:latin typeface="Microsoft YaHei"/>
                <a:ea typeface="Microsoft YaHei"/>
              </a:rPr>
              <a:t xml:space="preserve"> · </a:t>
            </a:r>
            <a:r>
              <a:rPr lang="zh-CN" sz="713">
                <a:solidFill>
                  <a:srgbClr val="8A8F99"/>
                </a:solidFill>
                <a:latin typeface="Microsoft YaHei"/>
                <a:ea typeface="Microsoft YaHei"/>
              </a:rPr>
              <a:t>规则驱动</a:t>
            </a:r>
            <a:endParaRPr/>
          </a:p>
        </p:txBody>
      </p:sp>
      <p:sp>
        <p:nvSpPr>
          <p:cNvPr id="2417" name="" descr="{&quot;isTemplate&quot;:true,&quot;type&quot;:&quot;text&quot;}"/>
          <p:cNvSpPr txBox="1"/>
          <p:nvPr/>
        </p:nvSpPr>
        <p:spPr>
          <a:xfrm rot="0" flipH="0" flipV="0">
            <a:off x="7315200" y="2409825"/>
            <a:ext cx="1971675" cy="142875"/>
          </a:xfrm>
          <a:prstGeom prst="rect"/>
        </p:spPr>
        <p:txBody>
          <a:bodyPr wrap="none" lIns="0" tIns="0" rIns="0" bIns="0"/>
          <a:p>
            <a:pPr>
              <a:lnSpc>
                <a:spcPct val="130000"/>
              </a:lnSpc>
            </a:pPr>
            <a:r>
              <a:rPr lang="en-US" sz="713">
                <a:solidFill>
                  <a:srgbClr val="C43A17"/>
                </a:solidFill>
                <a:latin typeface="Microsoft YaHei"/>
                <a:ea typeface="Microsoft YaHei"/>
              </a:rPr>
              <a:t>AI</a:t>
            </a:r>
            <a:r>
              <a:rPr lang="zh-CN" sz="713">
                <a:solidFill>
                  <a:srgbClr val="C43A17"/>
                </a:solidFill>
                <a:latin typeface="Microsoft YaHei"/>
                <a:ea typeface="Microsoft YaHei"/>
              </a:rPr>
              <a:t>：</a:t>
            </a:r>
            <a:r>
              <a:rPr lang="zh-CN" sz="713">
                <a:solidFill>
                  <a:srgbClr val="C43A17"/>
                </a:solidFill>
                <a:latin typeface="Microsoft YaHei"/>
                <a:ea typeface="Microsoft YaHei"/>
              </a:rPr>
              <a:t>报价策略与风险提示</a:t>
            </a:r>
            <a:endParaRPr/>
          </a:p>
        </p:txBody>
      </p:sp>
      <p:sp>
        <p:nvSpPr>
          <p:cNvPr id="2418" name=""/>
          <p:cNvSpPr/>
          <p:nvPr/>
        </p:nvSpPr>
        <p:spPr>
          <a:xfrm rot="0" flipH="0" flipV="0">
            <a:off x="9429750" y="1562100"/>
            <a:ext cx="2152650" cy="1104900"/>
          </a:xfrm>
          <a:prstGeom prst="roundRect">
            <a:avLst>
              <a:gd name="adj" fmla="val 3448"/>
            </a:avLst>
          </a:prstGeom>
          <a:solidFill>
            <a:srgbClr val="F7F7F8"/>
          </a:solidFill>
          <a:ln/>
        </p:spPr>
        <p:txBody>
          <a:bodyPr/>
          <a:p/>
        </p:txBody>
      </p:sp>
      <p:sp>
        <p:nvSpPr>
          <p:cNvPr id="2419" name=""/>
          <p:cNvSpPr/>
          <p:nvPr/>
        </p:nvSpPr>
        <p:spPr>
          <a:xfrm rot="0" flipH="0" flipV="0">
            <a:off x="9429750" y="1562100"/>
            <a:ext cx="2152650" cy="1104900"/>
          </a:xfrm>
          <a:custGeom>
            <a:pathLst>
              <a:path w="226" h="116">
                <a:moveTo>
                  <a:pt x="222" y="0"/>
                </a:moveTo>
                <a:cubicBezTo>
                  <a:pt x="224" y="0"/>
                  <a:pt x="226" y="2"/>
                  <a:pt x="226" y="4"/>
                </a:cubicBezTo>
                <a:cubicBezTo>
                  <a:pt x="226" y="3"/>
                  <a:pt x="225" y="3"/>
                  <a:pt x="225" y="3"/>
                </a:cubicBezTo>
                <a:lnTo>
                  <a:pt x="1" y="3"/>
                </a:lnTo>
                <a:cubicBezTo>
                  <a:pt x="1" y="3"/>
                  <a:pt x="0" y="3"/>
                  <a:pt x="0" y="4"/>
                </a:cubicBezTo>
                <a:cubicBezTo>
                  <a:pt x="0" y="2"/>
                  <a:pt x="2" y="0"/>
                  <a:pt x="4" y="0"/>
                </a:cubicBezTo>
                <a:lnTo>
                  <a:pt x="222" y="0"/>
                </a:lnTo>
                <a:close/>
              </a:path>
            </a:pathLst>
          </a:custGeom>
          <a:solidFill>
            <a:srgbClr val="9E3410"/>
          </a:solidFill>
          <a:ln/>
        </p:spPr>
        <p:txBody>
          <a:bodyPr/>
          <a:p/>
        </p:txBody>
      </p:sp>
      <p:sp>
        <p:nvSpPr>
          <p:cNvPr id="2420" name="" descr="{&quot;isTemplate&quot;:true,&quot;type&quot;:&quot;text&quot;}"/>
          <p:cNvSpPr txBox="1"/>
          <p:nvPr/>
        </p:nvSpPr>
        <p:spPr>
          <a:xfrm rot="0" flipH="0" flipV="0">
            <a:off x="9525000" y="1657350"/>
            <a:ext cx="152400" cy="152400"/>
          </a:xfrm>
          <a:prstGeom prst="rect"/>
        </p:spPr>
        <p:txBody>
          <a:bodyPr wrap="none" lIns="0" tIns="0" rIns="0" bIns="0"/>
          <a:p>
            <a:pPr>
              <a:lnSpc>
                <a:spcPct val="100000"/>
              </a:lnSpc>
            </a:pPr>
            <a:r>
              <a:rPr lang="en-US" sz="975" b="1">
                <a:solidFill>
                  <a:srgbClr val="9E3410"/>
                </a:solidFill>
                <a:latin typeface="Microsoft YaHei"/>
                <a:ea typeface="Microsoft YaHei"/>
              </a:rPr>
              <a:t>E5</a:t>
            </a:r>
            <a:endParaRPr/>
          </a:p>
        </p:txBody>
      </p:sp>
      <p:sp>
        <p:nvSpPr>
          <p:cNvPr id="2421" name="" descr="{&quot;isTemplate&quot;:true,&quot;type&quot;:&quot;text&quot;}"/>
          <p:cNvSpPr txBox="1"/>
          <p:nvPr/>
        </p:nvSpPr>
        <p:spPr>
          <a:xfrm rot="0" flipH="0" flipV="0">
            <a:off x="9734550" y="1647825"/>
            <a:ext cx="514350" cy="161925"/>
          </a:xfrm>
          <a:prstGeom prst="rect"/>
        </p:spPr>
        <p:txBody>
          <a:bodyPr wrap="none" lIns="0" tIns="0" rIns="0" bIns="0"/>
          <a:p>
            <a:pPr>
              <a:lnSpc>
                <a:spcPct val="100000"/>
              </a:lnSpc>
            </a:pPr>
            <a:r>
              <a:rPr lang="zh-CN" sz="1013" b="1">
                <a:solidFill>
                  <a:srgbClr val="0F1423"/>
                </a:solidFill>
                <a:latin typeface="Microsoft YaHei"/>
                <a:ea typeface="Microsoft YaHei"/>
              </a:rPr>
              <a:t>项目四算</a:t>
            </a:r>
            <a:endParaRPr/>
          </a:p>
        </p:txBody>
      </p:sp>
      <p:sp>
        <p:nvSpPr>
          <p:cNvPr id="2422" name="" descr="{&quot;isTemplate&quot;:true,&quot;type&quot;:&quot;text&quot;}"/>
          <p:cNvSpPr txBox="1"/>
          <p:nvPr/>
        </p:nvSpPr>
        <p:spPr>
          <a:xfrm rot="0" flipH="0" flipV="0">
            <a:off x="9525000" y="1857375"/>
            <a:ext cx="1962150" cy="390525"/>
          </a:xfrm>
          <a:prstGeom prst="rect"/>
        </p:spPr>
        <p:txBody>
          <a:bodyPr wrap="none" lIns="0" tIns="0" rIns="0" bIns="0"/>
          <a:p>
            <a:pPr>
              <a:lnSpc>
                <a:spcPct val="135000"/>
              </a:lnSpc>
            </a:pPr>
            <a:r>
              <a:rPr lang="zh-CN" sz="788">
                <a:solidFill>
                  <a:srgbClr val="5A6070"/>
                </a:solidFill>
                <a:latin typeface="Microsoft YaHei"/>
                <a:ea typeface="Microsoft YaHei"/>
              </a:rPr>
              <a:t>概算、预算、竣工决算、运营成本核算</a:t>
            </a:r>
            <a:endParaRPr/>
          </a:p>
        </p:txBody>
      </p:sp>
      <p:sp>
        <p:nvSpPr>
          <p:cNvPr id="2423" name="" descr="{&quot;isTemplate&quot;:true,&quot;type&quot;:&quot;text&quot;}"/>
          <p:cNvSpPr txBox="1"/>
          <p:nvPr/>
        </p:nvSpPr>
        <p:spPr>
          <a:xfrm rot="0" flipH="0" flipV="0">
            <a:off x="9525000" y="2247900"/>
            <a:ext cx="1962150" cy="142875"/>
          </a:xfrm>
          <a:prstGeom prst="rect"/>
        </p:spPr>
        <p:txBody>
          <a:bodyPr wrap="none" lIns="0" tIns="0" rIns="0" bIns="0"/>
          <a:p>
            <a:pPr>
              <a:lnSpc>
                <a:spcPct val="130000"/>
              </a:lnSpc>
            </a:pPr>
            <a:r>
              <a:rPr lang="zh-CN" sz="713">
                <a:solidFill>
                  <a:srgbClr val="8A8F99"/>
                </a:solidFill>
                <a:latin typeface="Microsoft YaHei"/>
                <a:ea typeface="Microsoft YaHei"/>
              </a:rPr>
              <a:t>算量规则复杂</a:t>
            </a:r>
            <a:r>
              <a:rPr lang="en-US" sz="713">
                <a:solidFill>
                  <a:srgbClr val="8A8F99"/>
                </a:solidFill>
                <a:latin typeface="Microsoft YaHei"/>
                <a:ea typeface="Microsoft YaHei"/>
              </a:rPr>
              <a:t xml:space="preserve"> · </a:t>
            </a:r>
            <a:r>
              <a:rPr lang="zh-CN" sz="713">
                <a:solidFill>
                  <a:srgbClr val="8A8F99"/>
                </a:solidFill>
                <a:latin typeface="Microsoft YaHei"/>
                <a:ea typeface="Microsoft YaHei"/>
              </a:rPr>
              <a:t>追溯要求极高</a:t>
            </a:r>
            <a:endParaRPr/>
          </a:p>
        </p:txBody>
      </p:sp>
      <p:sp>
        <p:nvSpPr>
          <p:cNvPr id="2424" name="" descr="{&quot;isTemplate&quot;:true,&quot;type&quot;:&quot;text&quot;}"/>
          <p:cNvSpPr txBox="1"/>
          <p:nvPr/>
        </p:nvSpPr>
        <p:spPr>
          <a:xfrm rot="0" flipH="0" flipV="0">
            <a:off x="9525000" y="2409825"/>
            <a:ext cx="1962150" cy="142875"/>
          </a:xfrm>
          <a:prstGeom prst="rect"/>
        </p:spPr>
        <p:txBody>
          <a:bodyPr wrap="none" lIns="0" tIns="0" rIns="0" bIns="0"/>
          <a:p>
            <a:pPr>
              <a:lnSpc>
                <a:spcPct val="130000"/>
              </a:lnSpc>
            </a:pPr>
            <a:r>
              <a:rPr lang="en-US" sz="713">
                <a:solidFill>
                  <a:srgbClr val="9E3410"/>
                </a:solidFill>
                <a:latin typeface="Microsoft YaHei"/>
                <a:ea typeface="Microsoft YaHei"/>
              </a:rPr>
              <a:t>AI</a:t>
            </a:r>
            <a:r>
              <a:rPr lang="zh-CN" sz="713">
                <a:solidFill>
                  <a:srgbClr val="9E3410"/>
                </a:solidFill>
                <a:latin typeface="Microsoft YaHei"/>
                <a:ea typeface="Microsoft YaHei"/>
              </a:rPr>
              <a:t>：</a:t>
            </a:r>
            <a:r>
              <a:rPr lang="zh-CN" sz="713">
                <a:solidFill>
                  <a:srgbClr val="9E3410"/>
                </a:solidFill>
                <a:latin typeface="Microsoft YaHei"/>
                <a:ea typeface="Microsoft YaHei"/>
              </a:rPr>
              <a:t>算量与差异归因辅助</a:t>
            </a:r>
            <a:endParaRPr/>
          </a:p>
        </p:txBody>
      </p:sp>
      <p:sp>
        <p:nvSpPr>
          <p:cNvPr id="2425" name=""/>
          <p:cNvSpPr/>
          <p:nvPr/>
        </p:nvSpPr>
        <p:spPr>
          <a:xfrm rot="0" flipH="0" flipV="0">
            <a:off x="609600" y="2714625"/>
            <a:ext cx="2324100" cy="381000"/>
          </a:xfrm>
          <a:prstGeom prst="roundRect">
            <a:avLst>
              <a:gd name="adj" fmla="val 10000"/>
            </a:avLst>
          </a:prstGeom>
          <a:solidFill>
            <a:srgbClr val="0F1423"/>
          </a:solidFill>
          <a:ln/>
        </p:spPr>
        <p:txBody>
          <a:bodyPr/>
          <a:p/>
        </p:txBody>
      </p:sp>
      <p:sp>
        <p:nvSpPr>
          <p:cNvPr id="2426" name="" descr="{&quot;isTemplate&quot;:true,&quot;type&quot;:&quot;text&quot;}"/>
          <p:cNvSpPr txBox="1"/>
          <p:nvPr/>
        </p:nvSpPr>
        <p:spPr>
          <a:xfrm rot="0" flipH="0" flipV="0">
            <a:off x="752475" y="2771775"/>
            <a:ext cx="2038350" cy="142875"/>
          </a:xfrm>
          <a:prstGeom prst="rect"/>
        </p:spPr>
        <p:txBody>
          <a:bodyPr wrap="none" lIns="0" tIns="0" rIns="0" bIns="0"/>
          <a:p>
            <a:pPr>
              <a:lnSpc>
                <a:spcPct val="100000"/>
              </a:lnSpc>
            </a:pPr>
            <a:r>
              <a:rPr lang="en-US" sz="938" b="1">
                <a:solidFill>
                  <a:srgbClr val="FBA15C"/>
                </a:solidFill>
                <a:latin typeface="Microsoft YaHei"/>
                <a:ea typeface="Microsoft YaHei"/>
              </a:rPr>
              <a:t>E6</a:t>
            </a:r>
            <a:r>
              <a:rPr lang="zh-CN" sz="938" b="1">
                <a:solidFill>
                  <a:srgbClr val="FBA15C"/>
                </a:solidFill>
                <a:latin typeface="Microsoft YaHei"/>
                <a:ea typeface="Microsoft YaHei"/>
              </a:rPr>
              <a:t>　指标体系建设（横切）</a:t>
            </a:r>
            <a:endParaRPr/>
          </a:p>
        </p:txBody>
      </p:sp>
      <p:sp>
        <p:nvSpPr>
          <p:cNvPr id="2427" name="" descr="{&quot;isTemplate&quot;:true,&quot;type&quot;:&quot;text&quot;}"/>
          <p:cNvSpPr txBox="1"/>
          <p:nvPr/>
        </p:nvSpPr>
        <p:spPr>
          <a:xfrm rot="0" flipH="0" flipV="0">
            <a:off x="752475" y="2933700"/>
            <a:ext cx="2038350" cy="114300"/>
          </a:xfrm>
          <a:prstGeom prst="rect"/>
        </p:spPr>
        <p:txBody>
          <a:bodyPr wrap="none" lIns="0" tIns="0" rIns="0" bIns="0"/>
          <a:p>
            <a:pPr>
              <a:lnSpc>
                <a:spcPct val="100000"/>
              </a:lnSpc>
            </a:pPr>
            <a:r>
              <a:rPr lang="zh-CN" sz="750">
                <a:solidFill>
                  <a:srgbClr val="FFFFFF">
                    <a:alpha val="78000"/>
                  </a:srgbClr>
                </a:solidFill>
                <a:latin typeface="Microsoft YaHei"/>
                <a:ea typeface="Microsoft YaHei"/>
              </a:rPr>
              <a:t>穿透前五块，单独成交付物</a:t>
            </a:r>
            <a:endParaRPr/>
          </a:p>
        </p:txBody>
      </p:sp>
      <p:sp>
        <p:nvSpPr>
          <p:cNvPr id="2428" name=""/>
          <p:cNvSpPr/>
          <p:nvPr/>
        </p:nvSpPr>
        <p:spPr>
          <a:xfrm rot="0" flipH="0" flipV="0">
            <a:off x="3067050" y="2714625"/>
            <a:ext cx="8553450" cy="381000"/>
          </a:xfrm>
          <a:prstGeom prst="roundRect">
            <a:avLst>
              <a:gd name="adj" fmla="val 10000"/>
            </a:avLst>
          </a:prstGeom>
          <a:solidFill>
            <a:srgbClr val="FFF3EE"/>
          </a:solidFill>
          <a:ln/>
        </p:spPr>
        <p:txBody>
          <a:bodyPr/>
          <a:p/>
        </p:txBody>
      </p:sp>
      <p:sp>
        <p:nvSpPr>
          <p:cNvPr id="2429" name=""/>
          <p:cNvSpPr/>
          <p:nvPr/>
        </p:nvSpPr>
        <p:spPr>
          <a:xfrm rot="0" flipH="0" flipV="0">
            <a:off x="3067050" y="2714625"/>
            <a:ext cx="8553450" cy="381000"/>
          </a:xfrm>
          <a:custGeom>
            <a:pathLst>
              <a:path w="898" h="40">
                <a:moveTo>
                  <a:pt x="4" y="40"/>
                </a:moveTo>
                <a:cubicBezTo>
                  <a:pt x="2" y="40"/>
                  <a:pt x="0" y="38"/>
                  <a:pt x="0" y="36"/>
                </a:cubicBezTo>
                <a:lnTo>
                  <a:pt x="0" y="4"/>
                </a:lnTo>
                <a:cubicBezTo>
                  <a:pt x="0" y="2"/>
                  <a:pt x="2" y="0"/>
                  <a:pt x="4" y="0"/>
                </a:cubicBezTo>
                <a:lnTo>
                  <a:pt x="4" y="40"/>
                </a:lnTo>
                <a:close/>
              </a:path>
            </a:pathLst>
          </a:custGeom>
          <a:solidFill>
            <a:srgbClr val="FA4F24"/>
          </a:solidFill>
          <a:ln/>
        </p:spPr>
        <p:txBody>
          <a:bodyPr/>
          <a:p/>
        </p:txBody>
      </p:sp>
      <p:sp>
        <p:nvSpPr>
          <p:cNvPr id="2430" name="" descr="{&quot;isTemplate&quot;:true,&quot;type&quot;:&quot;text&quot;}"/>
          <p:cNvSpPr txBox="1"/>
          <p:nvPr/>
        </p:nvSpPr>
        <p:spPr>
          <a:xfrm rot="0" flipH="0" flipV="0">
            <a:off x="3209925" y="2724150"/>
            <a:ext cx="8229600" cy="371475"/>
          </a:xfrm>
          <a:prstGeom prst="rect"/>
        </p:spPr>
        <p:txBody>
          <a:bodyPr wrap="square" lIns="0" tIns="0" rIns="0" bIns="0">
            <a:normAutofit/>
          </a:bodyPr>
          <a:p>
            <a:pPr>
              <a:lnSpc>
                <a:spcPct val="140000"/>
              </a:lnSpc>
            </a:pPr>
            <a:r>
              <a:rPr lang="zh-CN" sz="863">
                <a:solidFill>
                  <a:srgbClr val="3A4050"/>
                </a:solidFill>
                <a:latin typeface="Microsoft YaHei"/>
                <a:ea typeface="Microsoft YaHei"/>
              </a:rPr>
              <a:t>核心动作：指标名称与编码、业务定义、计算公式、计量单位、统计周期、数据来源与取数口径、业务与数据责任人、有效期与使用场景</a:t>
            </a:r>
            <a:r>
              <a:rPr lang="en-US" sz="863">
                <a:solidFill>
                  <a:srgbClr val="3A4050"/>
                </a:solidFill>
                <a:latin typeface="Microsoft YaHei"/>
                <a:ea typeface="Microsoft YaHei"/>
              </a:rPr>
              <a:t xml:space="preserve"> —— </a:t>
            </a:r>
            <a:r>
              <a:rPr lang="zh-CN" sz="863">
                <a:solidFill>
                  <a:srgbClr val="3A4050"/>
                </a:solidFill>
                <a:latin typeface="Microsoft YaHei"/>
                <a:ea typeface="Microsoft YaHei"/>
              </a:rPr>
              <a:t>八要素缺一项就不进指标字典</a:t>
            </a:r>
            <a:endParaRPr/>
          </a:p>
        </p:txBody>
      </p:sp>
      <p:sp>
        <p:nvSpPr>
          <p:cNvPr id="2431" name=""/>
          <p:cNvSpPr/>
          <p:nvPr/>
        </p:nvSpPr>
        <p:spPr>
          <a:xfrm rot="0" flipH="0" flipV="0">
            <a:off x="609600" y="3200400"/>
            <a:ext cx="38100" cy="152400"/>
          </a:xfrm>
          <a:prstGeom prst="rect">
            <a:avLst/>
          </a:prstGeom>
          <a:solidFill>
            <a:srgbClr val="5A6070"/>
          </a:solidFill>
          <a:ln/>
        </p:spPr>
        <p:txBody>
          <a:bodyPr/>
          <a:p/>
        </p:txBody>
      </p:sp>
      <p:sp>
        <p:nvSpPr>
          <p:cNvPr id="2432" name="" descr="{&quot;isTemplate&quot;:true,&quot;type&quot;:&quot;text&quot;}"/>
          <p:cNvSpPr txBox="1"/>
          <p:nvPr/>
        </p:nvSpPr>
        <p:spPr>
          <a:xfrm rot="0" flipH="0" flipV="0">
            <a:off x="723900" y="3200400"/>
            <a:ext cx="1457325" cy="152400"/>
          </a:xfrm>
          <a:prstGeom prst="rect"/>
        </p:spPr>
        <p:txBody>
          <a:bodyPr wrap="none" lIns="0" tIns="0" rIns="0" bIns="0"/>
          <a:p>
            <a:pPr>
              <a:lnSpc>
                <a:spcPct val="100000"/>
              </a:lnSpc>
            </a:pPr>
            <a:r>
              <a:rPr lang="zh-CN" sz="975" b="1">
                <a:solidFill>
                  <a:srgbClr val="0F1423"/>
                </a:solidFill>
                <a:latin typeface="Microsoft YaHei"/>
                <a:ea typeface="Microsoft YaHei"/>
              </a:rPr>
              <a:t>储能业务链（招标</a:t>
            </a:r>
            <a:r>
              <a:rPr lang="en-US" sz="975" b="1">
                <a:solidFill>
                  <a:srgbClr val="0F1423"/>
                </a:solidFill>
                <a:latin typeface="Microsoft YaHei"/>
                <a:ea typeface="Microsoft YaHei"/>
              </a:rPr>
              <a:t xml:space="preserve"> 3.1.1</a:t>
            </a:r>
            <a:r>
              <a:rPr lang="zh-CN" sz="975" b="1">
                <a:solidFill>
                  <a:srgbClr val="0F1423"/>
                </a:solidFill>
                <a:latin typeface="Microsoft YaHei"/>
                <a:ea typeface="Microsoft YaHei"/>
              </a:rPr>
              <a:t>）</a:t>
            </a:r>
            <a:endParaRPr/>
          </a:p>
        </p:txBody>
      </p:sp>
      <p:sp>
        <p:nvSpPr>
          <p:cNvPr id="2433" name="" descr="{&quot;isTemplate&quot;:true,&quot;type&quot;:&quot;text&quot;}"/>
          <p:cNvSpPr txBox="1"/>
          <p:nvPr/>
        </p:nvSpPr>
        <p:spPr>
          <a:xfrm rot="0" flipH="0" flipV="0">
            <a:off x="2257425" y="3209925"/>
            <a:ext cx="2371725" cy="133350"/>
          </a:xfrm>
          <a:prstGeom prst="rect"/>
        </p:spPr>
        <p:txBody>
          <a:bodyPr wrap="none" lIns="0" tIns="0" rIns="0" bIns="0"/>
          <a:p>
            <a:pPr>
              <a:lnSpc>
                <a:spcPct val="100000"/>
              </a:lnSpc>
            </a:pPr>
            <a:r>
              <a:rPr lang="zh-CN" sz="825">
                <a:solidFill>
                  <a:srgbClr val="8A8F99"/>
                </a:solidFill>
                <a:latin typeface="Microsoft YaHei"/>
                <a:ea typeface="Microsoft YaHei"/>
              </a:rPr>
              <a:t>制造侧衔接，核心矛盾在</a:t>
            </a:r>
            <a:r>
              <a:rPr lang="en-US" sz="825">
                <a:solidFill>
                  <a:srgbClr val="8A8F99"/>
                </a:solidFill>
                <a:latin typeface="Microsoft YaHei"/>
                <a:ea typeface="Microsoft YaHei"/>
              </a:rPr>
              <a:t xml:space="preserve"> EBOM </a:t>
            </a:r>
            <a:r>
              <a:rPr lang="zh-CN" sz="825">
                <a:solidFill>
                  <a:srgbClr val="8A8F99"/>
                </a:solidFill>
                <a:latin typeface="Microsoft YaHei"/>
                <a:ea typeface="Microsoft YaHei"/>
              </a:rPr>
              <a:t>到</a:t>
            </a:r>
            <a:r>
              <a:rPr lang="en-US" sz="825">
                <a:solidFill>
                  <a:srgbClr val="8A8F99"/>
                </a:solidFill>
                <a:latin typeface="Microsoft YaHei"/>
                <a:ea typeface="Microsoft YaHei"/>
              </a:rPr>
              <a:t xml:space="preserve"> MBOM </a:t>
            </a:r>
            <a:r>
              <a:rPr lang="zh-CN" sz="825">
                <a:solidFill>
                  <a:srgbClr val="8A8F99"/>
                </a:solidFill>
                <a:latin typeface="Microsoft YaHei"/>
                <a:ea typeface="Microsoft YaHei"/>
              </a:rPr>
              <a:t>的转化</a:t>
            </a:r>
            <a:endParaRPr/>
          </a:p>
        </p:txBody>
      </p:sp>
      <p:sp>
        <p:nvSpPr>
          <p:cNvPr id="2434" name=""/>
          <p:cNvSpPr/>
          <p:nvPr/>
        </p:nvSpPr>
        <p:spPr>
          <a:xfrm rot="0" flipH="0" flipV="0">
            <a:off x="609600" y="3486150"/>
            <a:ext cx="4343400" cy="2200275"/>
          </a:xfrm>
          <a:prstGeom prst="roundRect">
            <a:avLst>
              <a:gd name="adj" fmla="val 1732"/>
            </a:avLst>
          </a:prstGeom>
          <a:solidFill>
            <a:srgbClr val="F7F7F8"/>
          </a:solidFill>
          <a:ln/>
        </p:spPr>
        <p:txBody>
          <a:bodyPr/>
          <a:p/>
        </p:txBody>
      </p:sp>
      <p:sp>
        <p:nvSpPr>
          <p:cNvPr id="2435" name=""/>
          <p:cNvSpPr/>
          <p:nvPr/>
        </p:nvSpPr>
        <p:spPr>
          <a:xfrm rot="0" flipH="0" flipV="0">
            <a:off x="609600" y="3486150"/>
            <a:ext cx="4343400" cy="2200275"/>
          </a:xfrm>
          <a:custGeom>
            <a:pathLst>
              <a:path w="456" h="231">
                <a:moveTo>
                  <a:pt x="452" y="0"/>
                </a:moveTo>
                <a:cubicBezTo>
                  <a:pt x="454" y="0"/>
                  <a:pt x="456" y="2"/>
                  <a:pt x="456" y="4"/>
                </a:cubicBezTo>
                <a:cubicBezTo>
                  <a:pt x="456" y="3"/>
                  <a:pt x="455" y="3"/>
                  <a:pt x="455" y="3"/>
                </a:cubicBezTo>
                <a:lnTo>
                  <a:pt x="1" y="3"/>
                </a:lnTo>
                <a:cubicBezTo>
                  <a:pt x="1" y="3"/>
                  <a:pt x="0" y="3"/>
                  <a:pt x="0" y="4"/>
                </a:cubicBezTo>
                <a:cubicBezTo>
                  <a:pt x="0" y="2"/>
                  <a:pt x="2" y="0"/>
                  <a:pt x="4" y="0"/>
                </a:cubicBezTo>
                <a:lnTo>
                  <a:pt x="452" y="0"/>
                </a:lnTo>
                <a:close/>
              </a:path>
            </a:pathLst>
          </a:custGeom>
          <a:solidFill>
            <a:srgbClr val="3A4050"/>
          </a:solidFill>
          <a:ln/>
        </p:spPr>
        <p:txBody>
          <a:bodyPr/>
          <a:p/>
        </p:txBody>
      </p:sp>
      <p:sp>
        <p:nvSpPr>
          <p:cNvPr id="2436" name="" descr="{&quot;isTemplate&quot;:true,&quot;type&quot;:&quot;text&quot;}"/>
          <p:cNvSpPr txBox="1"/>
          <p:nvPr/>
        </p:nvSpPr>
        <p:spPr>
          <a:xfrm rot="0" flipH="0" flipV="0">
            <a:off x="742950" y="3581400"/>
            <a:ext cx="4076700" cy="152400"/>
          </a:xfrm>
          <a:prstGeom prst="rect"/>
        </p:spPr>
        <p:txBody>
          <a:bodyPr wrap="none" lIns="0" tIns="0" rIns="0" bIns="0"/>
          <a:p>
            <a:pPr>
              <a:lnSpc>
                <a:spcPct val="100000"/>
              </a:lnSpc>
            </a:pPr>
            <a:r>
              <a:rPr lang="en-US" sz="975" b="1">
                <a:solidFill>
                  <a:srgbClr val="3A4050"/>
                </a:solidFill>
                <a:latin typeface="Microsoft YaHei"/>
                <a:ea typeface="Microsoft YaHei"/>
              </a:rPr>
              <a:t>S1</a:t>
            </a:r>
            <a:r>
              <a:rPr lang="zh-CN" sz="975" b="1">
                <a:solidFill>
                  <a:srgbClr val="3A4050"/>
                </a:solidFill>
                <a:latin typeface="Microsoft YaHei"/>
                <a:ea typeface="Microsoft YaHei"/>
              </a:rPr>
              <a:t>　采购履行与协同管理</a:t>
            </a:r>
            <a:endParaRPr/>
          </a:p>
        </p:txBody>
      </p:sp>
      <p:sp>
        <p:nvSpPr>
          <p:cNvPr id="2437" name="" descr="{&quot;isTemplate&quot;:true,&quot;type&quot;:&quot;text&quot;}"/>
          <p:cNvSpPr txBox="1"/>
          <p:nvPr/>
        </p:nvSpPr>
        <p:spPr>
          <a:xfrm rot="0" flipH="0" flipV="0">
            <a:off x="742950" y="3781425"/>
            <a:ext cx="4076700" cy="1666875"/>
          </a:xfrm>
          <a:prstGeom prst="rect"/>
        </p:spPr>
        <p:txBody>
          <a:bodyPr wrap="square" lIns="0" tIns="0" rIns="0" bIns="0">
            <a:normAutofit/>
          </a:bodyPr>
          <a:p>
            <a:pPr>
              <a:lnSpc>
                <a:spcPct val="140000"/>
              </a:lnSpc>
            </a:pPr>
            <a:r>
              <a:rPr lang="zh-CN" sz="825">
                <a:solidFill>
                  <a:srgbClr val="5A6070"/>
                </a:solidFill>
                <a:latin typeface="Microsoft YaHei"/>
                <a:ea typeface="Microsoft YaHei"/>
              </a:rPr>
              <a:t>寻源、询比价、订单、催交、到货检验、入库</a:t>
            </a:r>
            <a:r>
              <a:rPr lang="en-US" sz="825">
                <a:solidFill>
                  <a:srgbClr val="5A6070"/>
                </a:solidFill>
                <a:latin typeface="Microsoft YaHei"/>
                <a:ea typeface="Microsoft YaHei"/>
              </a:rPr>
              <a:t xml:space="preserve"> —— </a:t>
            </a:r>
            <a:r>
              <a:rPr lang="zh-CN" sz="825">
                <a:solidFill>
                  <a:srgbClr val="5A6070"/>
                </a:solidFill>
                <a:latin typeface="Microsoft YaHei"/>
                <a:ea typeface="Microsoft YaHei"/>
              </a:rPr>
              <a:t>与能源建设链在采购侧交汇，是两条链的公共域</a:t>
            </a:r>
            <a:endParaRPr/>
          </a:p>
        </p:txBody>
      </p:sp>
      <p:sp>
        <p:nvSpPr>
          <p:cNvPr id="2438" name="" descr="{&quot;isTemplate&quot;:true,&quot;type&quot;:&quot;text&quot;}"/>
          <p:cNvSpPr txBox="1"/>
          <p:nvPr/>
        </p:nvSpPr>
        <p:spPr>
          <a:xfrm rot="0" flipH="0" flipV="0">
            <a:off x="742950" y="5448300"/>
            <a:ext cx="4076700" cy="114300"/>
          </a:xfrm>
          <a:prstGeom prst="rect"/>
        </p:spPr>
        <p:txBody>
          <a:bodyPr wrap="none" lIns="0" tIns="0" rIns="0" bIns="0"/>
          <a:p>
            <a:pPr>
              <a:lnSpc>
                <a:spcPct val="100000"/>
              </a:lnSpc>
            </a:pPr>
            <a:r>
              <a:rPr lang="zh-CN" sz="750">
                <a:solidFill>
                  <a:srgbClr val="8A8F99"/>
                </a:solidFill>
                <a:latin typeface="Microsoft YaHei"/>
                <a:ea typeface="Microsoft YaHei"/>
              </a:rPr>
              <a:t>共建对象：采购履行中台</a:t>
            </a:r>
            <a:r>
              <a:rPr lang="en-US" sz="750">
                <a:solidFill>
                  <a:srgbClr val="8A8F99"/>
                </a:solidFill>
                <a:latin typeface="Microsoft YaHei"/>
                <a:ea typeface="Microsoft YaHei"/>
              </a:rPr>
              <a:t xml:space="preserve"> · </a:t>
            </a:r>
            <a:r>
              <a:rPr lang="zh-CN" sz="750">
                <a:solidFill>
                  <a:srgbClr val="8A8F99"/>
                </a:solidFill>
                <a:latin typeface="Microsoft YaHei"/>
                <a:ea typeface="Microsoft YaHei"/>
              </a:rPr>
              <a:t>与</a:t>
            </a:r>
            <a:r>
              <a:rPr lang="en-US" sz="750">
                <a:solidFill>
                  <a:srgbClr val="8A8F99"/>
                </a:solidFill>
                <a:latin typeface="Microsoft YaHei"/>
                <a:ea typeface="Microsoft YaHei"/>
              </a:rPr>
              <a:t xml:space="preserve"> E2 </a:t>
            </a:r>
            <a:r>
              <a:rPr lang="zh-CN" sz="750">
                <a:solidFill>
                  <a:srgbClr val="8A8F99"/>
                </a:solidFill>
                <a:latin typeface="Microsoft YaHei"/>
                <a:ea typeface="Microsoft YaHei"/>
              </a:rPr>
              <a:t>共用供应商与物料主数据</a:t>
            </a:r>
            <a:endParaRPr/>
          </a:p>
        </p:txBody>
      </p:sp>
      <p:sp>
        <p:nvSpPr>
          <p:cNvPr id="2439" name=""/>
          <p:cNvSpPr/>
          <p:nvPr/>
        </p:nvSpPr>
        <p:spPr>
          <a:xfrm rot="0" flipH="0" flipV="0">
            <a:off x="5029200" y="3486150"/>
            <a:ext cx="4343400" cy="2200275"/>
          </a:xfrm>
          <a:prstGeom prst="roundRect">
            <a:avLst>
              <a:gd name="adj" fmla="val 1732"/>
            </a:avLst>
          </a:prstGeom>
          <a:solidFill>
            <a:srgbClr val="F7F7F8"/>
          </a:solidFill>
          <a:ln/>
        </p:spPr>
        <p:txBody>
          <a:bodyPr/>
          <a:p/>
        </p:txBody>
      </p:sp>
      <p:sp>
        <p:nvSpPr>
          <p:cNvPr id="2440" name=""/>
          <p:cNvSpPr/>
          <p:nvPr/>
        </p:nvSpPr>
        <p:spPr>
          <a:xfrm rot="0" flipH="0" flipV="0">
            <a:off x="5029200" y="3486150"/>
            <a:ext cx="4343400" cy="2200275"/>
          </a:xfrm>
          <a:custGeom>
            <a:pathLst>
              <a:path w="456" h="231">
                <a:moveTo>
                  <a:pt x="452" y="0"/>
                </a:moveTo>
                <a:cubicBezTo>
                  <a:pt x="454" y="0"/>
                  <a:pt x="456" y="2"/>
                  <a:pt x="456" y="4"/>
                </a:cubicBezTo>
                <a:cubicBezTo>
                  <a:pt x="456" y="3"/>
                  <a:pt x="455" y="3"/>
                  <a:pt x="455" y="3"/>
                </a:cubicBezTo>
                <a:lnTo>
                  <a:pt x="1" y="3"/>
                </a:lnTo>
                <a:cubicBezTo>
                  <a:pt x="1" y="3"/>
                  <a:pt x="0" y="3"/>
                  <a:pt x="0" y="4"/>
                </a:cubicBezTo>
                <a:cubicBezTo>
                  <a:pt x="0" y="2"/>
                  <a:pt x="2" y="0"/>
                  <a:pt x="4" y="0"/>
                </a:cubicBezTo>
                <a:lnTo>
                  <a:pt x="452" y="0"/>
                </a:lnTo>
                <a:close/>
              </a:path>
            </a:pathLst>
          </a:custGeom>
          <a:solidFill>
            <a:srgbClr val="0F1423"/>
          </a:solidFill>
          <a:ln/>
        </p:spPr>
        <p:txBody>
          <a:bodyPr/>
          <a:p/>
        </p:txBody>
      </p:sp>
      <p:sp>
        <p:nvSpPr>
          <p:cNvPr id="2441" name="" descr="{&quot;isTemplate&quot;:true,&quot;type&quot;:&quot;text&quot;}"/>
          <p:cNvSpPr txBox="1"/>
          <p:nvPr/>
        </p:nvSpPr>
        <p:spPr>
          <a:xfrm rot="0" flipH="0" flipV="0">
            <a:off x="5162550" y="3581400"/>
            <a:ext cx="4076700" cy="152400"/>
          </a:xfrm>
          <a:prstGeom prst="rect"/>
        </p:spPr>
        <p:txBody>
          <a:bodyPr wrap="none" lIns="0" tIns="0" rIns="0" bIns="0"/>
          <a:p>
            <a:pPr>
              <a:lnSpc>
                <a:spcPct val="100000"/>
              </a:lnSpc>
            </a:pPr>
            <a:r>
              <a:rPr lang="en-US" sz="975" b="1">
                <a:solidFill>
                  <a:srgbClr val="0F1423"/>
                </a:solidFill>
                <a:latin typeface="Microsoft YaHei"/>
                <a:ea typeface="Microsoft YaHei"/>
              </a:rPr>
              <a:t>S2</a:t>
            </a:r>
            <a:r>
              <a:rPr lang="zh-CN" sz="975" b="1">
                <a:solidFill>
                  <a:srgbClr val="0F1423"/>
                </a:solidFill>
                <a:latin typeface="Microsoft YaHei"/>
                <a:ea typeface="Microsoft YaHei"/>
              </a:rPr>
              <a:t>　</a:t>
            </a:r>
            <a:r>
              <a:rPr lang="en-US" sz="975" b="1">
                <a:solidFill>
                  <a:srgbClr val="0F1423"/>
                </a:solidFill>
                <a:latin typeface="Microsoft YaHei"/>
                <a:ea typeface="Microsoft YaHei"/>
              </a:rPr>
              <a:t xml:space="preserve">EBOM → MBOM </a:t>
            </a:r>
            <a:r>
              <a:rPr lang="zh-CN" sz="975" b="1">
                <a:solidFill>
                  <a:srgbClr val="0F1423"/>
                </a:solidFill>
                <a:latin typeface="Microsoft YaHei"/>
                <a:ea typeface="Microsoft YaHei"/>
              </a:rPr>
              <a:t>转化</a:t>
            </a:r>
            <a:endParaRPr/>
          </a:p>
        </p:txBody>
      </p:sp>
      <p:sp>
        <p:nvSpPr>
          <p:cNvPr id="2442" name="" descr="{&quot;isTemplate&quot;:true,&quot;type&quot;:&quot;text&quot;}"/>
          <p:cNvSpPr txBox="1"/>
          <p:nvPr/>
        </p:nvSpPr>
        <p:spPr>
          <a:xfrm rot="0" flipH="0" flipV="0">
            <a:off x="5162550" y="3781425"/>
            <a:ext cx="4076700" cy="1666875"/>
          </a:xfrm>
          <a:prstGeom prst="rect"/>
        </p:spPr>
        <p:txBody>
          <a:bodyPr wrap="square" lIns="0" tIns="0" rIns="0" bIns="0">
            <a:normAutofit/>
          </a:bodyPr>
          <a:p>
            <a:pPr>
              <a:lnSpc>
                <a:spcPct val="140000"/>
              </a:lnSpc>
            </a:pPr>
            <a:r>
              <a:rPr lang="zh-CN" sz="825">
                <a:solidFill>
                  <a:srgbClr val="5A6070"/>
                </a:solidFill>
                <a:latin typeface="Microsoft YaHei"/>
                <a:ea typeface="Microsoft YaHei"/>
              </a:rPr>
              <a:t>设计</a:t>
            </a:r>
            <a:r>
              <a:rPr lang="en-US" sz="825">
                <a:solidFill>
                  <a:srgbClr val="5A6070"/>
                </a:solidFill>
                <a:latin typeface="Microsoft YaHei"/>
                <a:ea typeface="Microsoft YaHei"/>
              </a:rPr>
              <a:t xml:space="preserve"> BOM </a:t>
            </a:r>
            <a:r>
              <a:rPr lang="zh-CN" sz="825">
                <a:solidFill>
                  <a:srgbClr val="5A6070"/>
                </a:solidFill>
                <a:latin typeface="Microsoft YaHei"/>
                <a:ea typeface="Microsoft YaHei"/>
              </a:rPr>
              <a:t>到制造</a:t>
            </a:r>
            <a:r>
              <a:rPr lang="en-US" sz="825">
                <a:solidFill>
                  <a:srgbClr val="5A6070"/>
                </a:solidFill>
                <a:latin typeface="Microsoft YaHei"/>
                <a:ea typeface="Microsoft YaHei"/>
              </a:rPr>
              <a:t xml:space="preserve"> BOM </a:t>
            </a:r>
            <a:r>
              <a:rPr lang="zh-CN" sz="825">
                <a:solidFill>
                  <a:srgbClr val="5A6070"/>
                </a:solidFill>
                <a:latin typeface="Microsoft YaHei"/>
                <a:ea typeface="Microsoft YaHei"/>
              </a:rPr>
              <a:t>的逐层展开、工艺路线配套、替代料规则</a:t>
            </a:r>
            <a:r>
              <a:rPr lang="en-US" sz="825">
                <a:solidFill>
                  <a:srgbClr val="5A6070"/>
                </a:solidFill>
                <a:latin typeface="Microsoft YaHei"/>
                <a:ea typeface="Microsoft YaHei"/>
              </a:rPr>
              <a:t xml:space="preserve"> —— </a:t>
            </a:r>
            <a:r>
              <a:rPr lang="zh-CN" sz="825">
                <a:solidFill>
                  <a:srgbClr val="5A6070"/>
                </a:solidFill>
                <a:latin typeface="Microsoft YaHei"/>
                <a:ea typeface="Microsoft YaHei"/>
              </a:rPr>
              <a:t>本项目数据架构最难的一块，也是主数据与流程的交叉点</a:t>
            </a:r>
            <a:endParaRPr/>
          </a:p>
        </p:txBody>
      </p:sp>
      <p:sp>
        <p:nvSpPr>
          <p:cNvPr id="2443" name="" descr="{&quot;isTemplate&quot;:true,&quot;type&quot;:&quot;text&quot;}"/>
          <p:cNvSpPr txBox="1"/>
          <p:nvPr/>
        </p:nvSpPr>
        <p:spPr>
          <a:xfrm rot="0" flipH="0" flipV="0">
            <a:off x="5162550" y="5448300"/>
            <a:ext cx="4076700" cy="114300"/>
          </a:xfrm>
          <a:prstGeom prst="rect"/>
        </p:spPr>
        <p:txBody>
          <a:bodyPr wrap="none" lIns="0" tIns="0" rIns="0" bIns="0"/>
          <a:p>
            <a:pPr>
              <a:lnSpc>
                <a:spcPct val="100000"/>
              </a:lnSpc>
            </a:pPr>
            <a:r>
              <a:rPr lang="zh-CN" sz="750">
                <a:solidFill>
                  <a:srgbClr val="C43A17"/>
                </a:solidFill>
                <a:latin typeface="Microsoft YaHei"/>
                <a:ea typeface="Microsoft YaHei"/>
              </a:rPr>
              <a:t>风险：转换规则不沉淀成系统能力，每接一个新产品都要重做一遍</a:t>
            </a:r>
            <a:endParaRPr/>
          </a:p>
        </p:txBody>
      </p:sp>
      <p:sp>
        <p:nvSpPr>
          <p:cNvPr id="2444" name=""/>
          <p:cNvSpPr/>
          <p:nvPr/>
        </p:nvSpPr>
        <p:spPr>
          <a:xfrm rot="0" flipH="0" flipV="0">
            <a:off x="9448800" y="3457575"/>
            <a:ext cx="2133600" cy="2200275"/>
          </a:xfrm>
          <a:prstGeom prst="roundRect">
            <a:avLst>
              <a:gd name="adj" fmla="val 1786"/>
            </a:avLst>
          </a:prstGeom>
          <a:solidFill>
            <a:srgbClr val="0F1423"/>
          </a:solidFill>
          <a:ln/>
        </p:spPr>
        <p:txBody>
          <a:bodyPr/>
          <a:p/>
        </p:txBody>
      </p:sp>
      <p:sp>
        <p:nvSpPr>
          <p:cNvPr id="2445" name="" descr="{&quot;isTemplate&quot;:true,&quot;type&quot;:&quot;text&quot;}"/>
          <p:cNvSpPr txBox="1"/>
          <p:nvPr/>
        </p:nvSpPr>
        <p:spPr>
          <a:xfrm rot="0" flipH="0" flipV="0">
            <a:off x="9591675" y="4086225"/>
            <a:ext cx="1847850" cy="142875"/>
          </a:xfrm>
          <a:prstGeom prst="rect"/>
        </p:spPr>
        <p:txBody>
          <a:bodyPr wrap="none" lIns="0" tIns="0" rIns="0" bIns="0"/>
          <a:p>
            <a:pPr>
              <a:lnSpc>
                <a:spcPct val="100000"/>
              </a:lnSpc>
            </a:pPr>
            <a:r>
              <a:rPr lang="zh-CN" sz="900" spc="75">
                <a:solidFill>
                  <a:srgbClr val="FBA15C"/>
                </a:solidFill>
                <a:latin typeface="Microsoft YaHei"/>
                <a:ea typeface="Microsoft YaHei"/>
              </a:rPr>
              <a:t>两条链的公共底座</a:t>
            </a:r>
            <a:endParaRPr/>
          </a:p>
        </p:txBody>
      </p:sp>
      <p:sp>
        <p:nvSpPr>
          <p:cNvPr id="2446" name="" descr="{&quot;isTemplate&quot;:true,&quot;type&quot;:&quot;text&quot;}"/>
          <p:cNvSpPr txBox="1"/>
          <p:nvPr/>
        </p:nvSpPr>
        <p:spPr>
          <a:xfrm rot="0" flipH="0" flipV="0">
            <a:off x="9591675" y="4286250"/>
            <a:ext cx="1847850" cy="581025"/>
          </a:xfrm>
          <a:prstGeom prst="rect"/>
        </p:spPr>
        <p:txBody>
          <a:bodyPr wrap="square" lIns="0" tIns="0" rIns="0" bIns="0">
            <a:normAutofit/>
          </a:bodyPr>
          <a:p>
            <a:pPr>
              <a:lnSpc>
                <a:spcPct val="145000"/>
              </a:lnSpc>
            </a:pPr>
            <a:r>
              <a:rPr lang="zh-CN" sz="863">
                <a:solidFill>
                  <a:srgbClr val="FFFFFF"/>
                </a:solidFill>
                <a:latin typeface="Microsoft YaHei"/>
                <a:ea typeface="Microsoft YaHei"/>
              </a:rPr>
              <a:t>物料</a:t>
            </a:r>
            <a:r>
              <a:rPr lang="en-US" sz="863">
                <a:solidFill>
                  <a:srgbClr val="FFFFFF"/>
                </a:solidFill>
                <a:latin typeface="Microsoft YaHei"/>
                <a:ea typeface="Microsoft YaHei"/>
              </a:rPr>
              <a:t>/</a:t>
            </a:r>
            <a:r>
              <a:rPr lang="zh-CN" sz="863">
                <a:solidFill>
                  <a:srgbClr val="FFFFFF"/>
                </a:solidFill>
                <a:latin typeface="Microsoft YaHei"/>
                <a:ea typeface="Microsoft YaHei"/>
              </a:rPr>
              <a:t>供应商主数据、组织与人员、项目编码、指标口径</a:t>
            </a:r>
            <a:r>
              <a:rPr lang="en-US" sz="863">
                <a:solidFill>
                  <a:srgbClr val="FFFFFF"/>
                </a:solidFill>
                <a:latin typeface="Microsoft YaHei"/>
                <a:ea typeface="Microsoft YaHei"/>
              </a:rPr>
              <a:t xml:space="preserve"> —— </a:t>
            </a:r>
            <a:r>
              <a:rPr lang="zh-CN" sz="863">
                <a:solidFill>
                  <a:srgbClr val="FFFFFF"/>
                </a:solidFill>
                <a:latin typeface="Microsoft YaHei"/>
                <a:ea typeface="Microsoft YaHei"/>
              </a:rPr>
              <a:t>这四样在两条链上各存一份，整套架构就废了</a:t>
            </a:r>
            <a:endParaRPr/>
          </a:p>
        </p:txBody>
      </p:sp>
      <p:sp>
        <p:nvSpPr>
          <p:cNvPr id="2447" name="" descr="{&quot;isTemplate&quot;:true,&quot;type&quot;:&quot;text&quot;}"/>
          <p:cNvSpPr txBox="1"/>
          <p:nvPr/>
        </p:nvSpPr>
        <p:spPr>
          <a:xfrm rot="0" flipH="0" flipV="0">
            <a:off x="9591675" y="4924425"/>
            <a:ext cx="1847850" cy="114300"/>
          </a:xfrm>
          <a:prstGeom prst="rect"/>
        </p:spPr>
        <p:txBody>
          <a:bodyPr wrap="none" lIns="0" tIns="0" rIns="0" bIns="0"/>
          <a:p>
            <a:pPr>
              <a:lnSpc>
                <a:spcPct val="100000"/>
              </a:lnSpc>
            </a:pPr>
            <a:r>
              <a:rPr lang="zh-CN" sz="750">
                <a:solidFill>
                  <a:srgbClr val="FFFFFF">
                    <a:alpha val="70000"/>
                  </a:srgbClr>
                </a:solidFill>
                <a:latin typeface="Microsoft YaHei"/>
                <a:ea typeface="Microsoft YaHei"/>
              </a:rPr>
              <a:t>跨链一致性是本次诊断的第一优先级</a:t>
            </a:r>
            <a:endParaRPr/>
          </a:p>
        </p:txBody>
      </p:sp>
      <p:sp>
        <p:nvSpPr>
          <p:cNvPr id="2448" name=""/>
          <p:cNvSpPr/>
          <p:nvPr/>
        </p:nvSpPr>
        <p:spPr>
          <a:xfrm rot="0" flipH="0" flipV="0">
            <a:off x="609600" y="5943600"/>
            <a:ext cx="133350" cy="133350"/>
          </a:xfrm>
          <a:prstGeom prst="rect">
            <a:avLst/>
          </a:prstGeom>
          <a:solidFill>
            <a:srgbClr val="FA4F24"/>
          </a:solidFill>
          <a:ln/>
        </p:spPr>
        <p:txBody>
          <a:bodyPr/>
          <a:p/>
        </p:txBody>
      </p:sp>
      <p:sp>
        <p:nvSpPr>
          <p:cNvPr id="2449"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245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07 / 36</a:t>
            </a:r>
            <a:endParaRPr/>
          </a:p>
        </p:txBody>
      </p:sp>
    </p:spTree>
  </p:cSld>
</p:sld>
</file>

<file path=ppt/slides/slide8.xml><?xml version="1.0" encoding="utf-8"?>
<p:sld xmlns:p="http://schemas.openxmlformats.org/presentationml/2006/main" xmlns:a="http://schemas.openxmlformats.org/drawingml/2006/main">
  <p:cSld>
    <p:spTree>
      <p:nvGrpSpPr>
        <p:cNvPr id="2451" name="" descr="&lt;Slide style={{ width: 1280, height: 720, background: '#FFFFFF', padding: '24px 64px 0' }}&gt;&#10;    {/* A 区 */}&#10;    &lt;Box style={{ height: 96, flexDirection: 'column', justifyContent: 'flex-start' }}&gt;&#10;        &lt;Text style={{ fontSize: 32, fontWeight: 'bold', color: '#0F1423' }}&gt;&#10;            九个参与部门 &lt;span style={{ color: '#FA4F24' }}&gt;×&lt;/span&gt; 4A 关注点矩阵&#10;        &lt;/Text&gt;&#10;        &lt;Text style={{ fontSize: 19, color: '#8A8F99', marginTop: 7 }}&gt;&#10;            每个部门访谈必问的三件事——避免九个部门都问成同一批通用问题&#10;        &lt;/Text&gt;&#10;    &lt;/Box&gt;&#10;    &lt;Box style={{ height: 1, background: '#E8E8E8' }} /&gt;&#10;&#10;    {/* B 区 */}&#10;    &lt;Box style={{ paddingTop: 10, paddingBottom: 6, height: 479, flexDirection: 'column', gap: 7 }}&gt;&#10;        {/* 表头 */}&#10;        &lt;Box style={{ height: 26, flexDirection: 'row', gap: 4 }}&gt;&#10;            &lt;Box style={{ width: 148, background: '#0F1423', borderRadius: 3, padding: '0 10px', flexDirection: 'row', alignItems: 'center' }}&gt;&#10;                &lt;Text style={{ fontSize: 11.5, fontWeight: 'bold', color: '#FFFFFF' }}&gt;部门&lt;/Text&gt;&#10;            &lt;/Box&gt;&#10;            &lt;Box style={{ width: 62, background: '#0F1423', borderRadius: 3, alignItems: 'center', justifyContent: 'center', flexDirection: 'row' }}&gt;&#10;                &lt;Text style={{ fontSize: 11.5, fontWeight: 'bold', color: '#FFFFFF' }}&gt;主责域&lt;/Text&gt;&#10;            &lt;/Box&gt;&#10;            &lt;Box style={{ flex: 1, background: '#0F1423', borderRadius: 3, padding: '0 10px', flexDirection: 'row', alignItems: 'center' }}&gt;&#10;                &lt;Text style={{ fontSize: 11.5, fontWeight: 'bold', color: '#FFFFFF' }}&gt;业务域归属&lt;/Text&gt;&#10;            &lt;/Box&gt;&#10;            &lt;Box style={{ flex: 1.6, background: '#0F1423', borderRadius: 3, padding: '0 10px', flexDirection: 'row', alignItems: 'center' }}&gt;&#10;                &lt;Text style={{ fontSize: 11.5, fontWeight: 'bold', color: '#FFFFFF' }}&gt;这个部门的必问三件事&lt;/Text&gt;&#10;            &lt;/Box&gt;&#10;        &lt;/Box&gt;&#10;&#10;        {/* 九行 */}&#10;        {[&#10;            { d: '公司领导', a: 'BA', b: 'E1 开发与投资 / 总体', q: '这次变革最想改变哪个经营结果？哪些事情你愿意亲自拍板？', c: '#C43A17' },&#10;            { d: '电站开发部', a: 'BA', b: 'E1 开发与投资', q: '一个项目从机会到投资决策要过几道会？哪一步最慢最卡？', c: '#FA4F24' },&#10;            { d: '产品解决方案部', a: 'BA+DA', b: 'S2 EBOM→MBOM', q: '同一个产品不同配置，物料清单怎么合？差异谁说了算？', c: '#0F1423' },&#10;            { d: '项目管理部', a: 'BA', b: 'E2 建设', q: '进度、成本、变更三张表的数据从哪来？更新到不及时谁负责？', c: '#E0641E' },&#10;            { d: '工程技术部', a: 'TA+BA', b: 'E2/E3 工程与运维', q: '设备台账、设计文档、缺陷记录三套数据能不能对上？', c: '#D2531A' },&#10;            { d: '能源运营技术部', a: 'BA', b: 'E3 运营运维（含资产）', q: '一次检修从计划到闭环要几个系统？资产口径和财务口径一致吗？', c: '#C43A17' },&#10;            { d: '投融资部', a: 'BA+DA', b: 'E1/E5 四算', q: '可研测算用的历史数据从哪取？口径和财务对得上吗？', c: '#9E3410' },&#10;            { d: '财务部', a: 'DA', b: 'E5 四算 / 指标', q: '一个数字要出三个版本时，谁是最终裁定人？', c: '#3A4050' },&#10;            { d: '金融资产部', a: 'DA', b: 'E3 资产管理', q: '资产台账的价值口径、折旧口径与运维口径差在哪？', c: '#5A6070' },&#10;            { d: '制造中心', a: 'BA+DA', b: 'S1 采购履行 / S2 转化', q: '紧急采购怎么走？供应商准入谁卡？为什么卡？', c: '#3A4050' },&#10;        ].map((r) =&gt; (&#10;            &lt;Box key={r.d} style={{ flex: 1, flexDirection: 'row', gap: 4, alignItems: 'stretch' }}&gt;&#10;                &lt;Box style={{ width: 148, background: '#F7F7F8', borderRadius: 3, borderLeft: '3px solid ' + r.c, padding: '0 10px', flexDirection: 'row', alignItems: 'center' }}&gt;&#10;                    &lt;Text style={{ fontSize: 12, fontWeight: 'bold', color: '#0F1423' }}&gt;{r.d}&lt;/Text&gt;&#10;                &lt;/Box&gt;&#10;                &lt;Box style={{ width: 62, alignItems: 'center', justifyContent: 'center', flexDirection: 'row' }}&gt;&#10;                    &lt;Box style={{ height: 18, padding: '0 5px', borderRadius: 2, background: r.c, alignItems: 'center', justifyContent: 'center', flexDirection: 'row' }}&gt;&#10;                        &lt;Text style={{ fontSize: 10, fontWeight: 'bold', color: '#FFFFFF' }}&gt;{r.a}&lt;/Text&gt;&#10;                    &lt;/Box&gt;&#10;                &lt;/Box&gt;&#10;                &lt;Box style={{ flex: 1, background: '#F7F7F8', borderRadius: 3, padding: '0 10px', flexDirection: 'row', alignItems: 'center' }}&gt;&#10;                    &lt;Text style={{ fontSize: 11, color: '#5A6070', lineHeight: 1.3 }}&gt;{r.b}&lt;/Text&gt;&#10;                &lt;/Box&gt;&#10;                &lt;Box style={{ flex: 1.6, background: '#FFF3EE', borderRadius: 3, padding: '0 11px', flexDirection: 'row', alignItems: 'center' }}&gt;&#10;                    &lt;Text style={{ fontSize: 11.5, color: '#0F1423', lineHeight: 1.3 }}&gt;{r.q}&lt;/Text&gt;&#10;                &lt;/Box&gt;&#10;            &lt;/Box&gt;&#10;        ))}&#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08 / 36&lt;/Text&gt;&#10;    &lt;/Box&gt;&#10;&lt;/Slide&gt;&#10;"/>
        <p:cNvGrpSpPr/>
        <p:nvPr/>
      </p:nvGrpSpPr>
      <p:grpSpPr>
        <a:xfrm>
          <a:off x="0" y="0"/>
          <a:ext cx="0" cy="0"/>
          <a:chOff x="0" y="0"/>
          <a:chExt cx="0" cy="0"/>
        </a:xfrm>
      </p:grpSpPr>
      <p:sp>
        <p:nvSpPr>
          <p:cNvPr id="2452" name=""/>
          <p:cNvSpPr/>
          <p:nvPr/>
        </p:nvSpPr>
        <p:spPr>
          <a:xfrm rot="0" flipH="0" flipV="0">
            <a:off x="0" y="0"/>
            <a:ext cx="12192000" cy="6858000"/>
          </a:xfrm>
          <a:prstGeom prst="rect">
            <a:avLst/>
          </a:prstGeom>
          <a:solidFill>
            <a:srgbClr val="FFFFFF"/>
          </a:solidFill>
          <a:ln/>
        </p:spPr>
        <p:txBody>
          <a:bodyPr/>
          <a:p/>
        </p:txBody>
      </p:sp>
      <p:sp>
        <p:nvSpPr>
          <p:cNvPr id="245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九个参与部门</a:t>
            </a:r>
            <a:r>
              <a:rPr lang="en-US" sz="2400" b="1">
                <a:solidFill>
                  <a:srgbClr val="0F1423"/>
                </a:solidFill>
                <a:latin typeface="Microsoft YaHei"/>
                <a:ea typeface="Microsoft YaHei"/>
              </a:rPr>
              <a:t xml:space="preserve"> </a:t>
            </a:r>
            <a:r>
              <a:rPr sz="2400" b="1">
                <a:solidFill>
                  <a:srgbClr val="FA4F24"/>
                </a:solidFill>
                <a:latin typeface="Microsoft YaHei"/>
                <a:ea typeface="Microsoft YaHei"/>
              </a:rPr>
              <a:t>×</a:t>
            </a:r>
            <a:r>
              <a:rPr lang="en-US" sz="2400" b="1">
                <a:solidFill>
                  <a:srgbClr val="0F1423"/>
                </a:solidFill>
                <a:latin typeface="Microsoft YaHei"/>
                <a:ea typeface="Microsoft YaHei"/>
              </a:rPr>
              <a:t xml:space="preserve"> 4A </a:t>
            </a:r>
            <a:r>
              <a:rPr lang="zh-CN" sz="2400" b="1">
                <a:solidFill>
                  <a:srgbClr val="0F1423"/>
                </a:solidFill>
                <a:latin typeface="Microsoft YaHei"/>
                <a:ea typeface="Microsoft YaHei"/>
              </a:rPr>
              <a:t>关注点矩阵</a:t>
            </a:r>
            <a:endParaRPr/>
          </a:p>
        </p:txBody>
      </p:sp>
      <p:sp>
        <p:nvSpPr>
          <p:cNvPr id="2454"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每个部门访谈必问的三件事——避免九个部门都问成同一批通用问题</a:t>
            </a:r>
            <a:endParaRPr/>
          </a:p>
        </p:txBody>
      </p:sp>
      <p:sp>
        <p:nvSpPr>
          <p:cNvPr id="2455" name=""/>
          <p:cNvSpPr/>
          <p:nvPr/>
        </p:nvSpPr>
        <p:spPr>
          <a:xfrm rot="0" flipH="0" flipV="0">
            <a:off x="609600" y="1143000"/>
            <a:ext cx="10972800" cy="9525"/>
          </a:xfrm>
          <a:prstGeom prst="rect">
            <a:avLst/>
          </a:prstGeom>
          <a:solidFill>
            <a:srgbClr val="E8E8E8"/>
          </a:solidFill>
          <a:ln/>
        </p:spPr>
        <p:txBody>
          <a:bodyPr/>
          <a:p/>
        </p:txBody>
      </p:sp>
      <p:sp>
        <p:nvSpPr>
          <p:cNvPr id="2456" name=""/>
          <p:cNvSpPr/>
          <p:nvPr/>
        </p:nvSpPr>
        <p:spPr>
          <a:xfrm rot="0" flipH="0" flipV="0">
            <a:off x="609600" y="1247775"/>
            <a:ext cx="1409700" cy="247650"/>
          </a:xfrm>
          <a:prstGeom prst="roundRect">
            <a:avLst>
              <a:gd name="adj" fmla="val 11538"/>
            </a:avLst>
          </a:prstGeom>
          <a:solidFill>
            <a:srgbClr val="0F1423"/>
          </a:solidFill>
          <a:ln/>
        </p:spPr>
        <p:txBody>
          <a:bodyPr/>
          <a:p/>
        </p:txBody>
      </p:sp>
      <p:sp>
        <p:nvSpPr>
          <p:cNvPr id="2457" name="" descr="{&quot;isTemplate&quot;:true,&quot;type&quot;:&quot;text&quot;}"/>
          <p:cNvSpPr txBox="1"/>
          <p:nvPr/>
        </p:nvSpPr>
        <p:spPr>
          <a:xfrm rot="0" flipH="0" flipV="0">
            <a:off x="704850" y="1304925"/>
            <a:ext cx="219075" cy="133350"/>
          </a:xfrm>
          <a:prstGeom prst="rect"/>
        </p:spPr>
        <p:txBody>
          <a:bodyPr wrap="none" lIns="0" tIns="0" rIns="0" bIns="0"/>
          <a:p>
            <a:pPr>
              <a:lnSpc>
                <a:spcPct val="100000"/>
              </a:lnSpc>
            </a:pPr>
            <a:r>
              <a:rPr lang="zh-CN" sz="863" b="1">
                <a:solidFill>
                  <a:srgbClr val="FFFFFF"/>
                </a:solidFill>
                <a:latin typeface="Microsoft YaHei"/>
                <a:ea typeface="Microsoft YaHei"/>
              </a:rPr>
              <a:t>部门</a:t>
            </a:r>
            <a:endParaRPr/>
          </a:p>
        </p:txBody>
      </p:sp>
      <p:sp>
        <p:nvSpPr>
          <p:cNvPr id="2458" name=""/>
          <p:cNvSpPr/>
          <p:nvPr/>
        </p:nvSpPr>
        <p:spPr>
          <a:xfrm rot="0" flipH="0" flipV="0">
            <a:off x="2057400" y="1247775"/>
            <a:ext cx="590550" cy="247650"/>
          </a:xfrm>
          <a:prstGeom prst="roundRect">
            <a:avLst>
              <a:gd name="adj" fmla="val 11538"/>
            </a:avLst>
          </a:prstGeom>
          <a:solidFill>
            <a:srgbClr val="0F1423"/>
          </a:solidFill>
          <a:ln/>
        </p:spPr>
        <p:txBody>
          <a:bodyPr/>
          <a:p/>
        </p:txBody>
      </p:sp>
      <p:sp>
        <p:nvSpPr>
          <p:cNvPr id="2459" name="" descr="{&quot;isTemplate&quot;:true,&quot;type&quot;:&quot;text&quot;}"/>
          <p:cNvSpPr txBox="1"/>
          <p:nvPr/>
        </p:nvSpPr>
        <p:spPr>
          <a:xfrm rot="0" flipH="0" flipV="0">
            <a:off x="2190750" y="1304925"/>
            <a:ext cx="333375" cy="133350"/>
          </a:xfrm>
          <a:prstGeom prst="rect"/>
        </p:spPr>
        <p:txBody>
          <a:bodyPr wrap="none" lIns="0" tIns="0" rIns="0" bIns="0"/>
          <a:p>
            <a:pPr>
              <a:lnSpc>
                <a:spcPct val="100000"/>
              </a:lnSpc>
            </a:pPr>
            <a:r>
              <a:rPr lang="zh-CN" sz="863" b="1">
                <a:solidFill>
                  <a:srgbClr val="FFFFFF"/>
                </a:solidFill>
                <a:latin typeface="Microsoft YaHei"/>
                <a:ea typeface="Microsoft YaHei"/>
              </a:rPr>
              <a:t>主责域</a:t>
            </a:r>
            <a:endParaRPr/>
          </a:p>
        </p:txBody>
      </p:sp>
      <p:sp>
        <p:nvSpPr>
          <p:cNvPr id="2460" name=""/>
          <p:cNvSpPr/>
          <p:nvPr/>
        </p:nvSpPr>
        <p:spPr>
          <a:xfrm rot="0" flipH="0" flipV="0">
            <a:off x="2686050" y="1247775"/>
            <a:ext cx="3409950" cy="247650"/>
          </a:xfrm>
          <a:prstGeom prst="roundRect">
            <a:avLst>
              <a:gd name="adj" fmla="val 11538"/>
            </a:avLst>
          </a:prstGeom>
          <a:solidFill>
            <a:srgbClr val="0F1423"/>
          </a:solidFill>
          <a:ln/>
        </p:spPr>
        <p:txBody>
          <a:bodyPr/>
          <a:p/>
        </p:txBody>
      </p:sp>
      <p:sp>
        <p:nvSpPr>
          <p:cNvPr id="2461" name="" descr="{&quot;isTemplate&quot;:true,&quot;type&quot;:&quot;text&quot;}"/>
          <p:cNvSpPr txBox="1"/>
          <p:nvPr/>
        </p:nvSpPr>
        <p:spPr>
          <a:xfrm rot="0" flipH="0" flipV="0">
            <a:off x="2781300" y="1304925"/>
            <a:ext cx="552450" cy="133350"/>
          </a:xfrm>
          <a:prstGeom prst="rect"/>
        </p:spPr>
        <p:txBody>
          <a:bodyPr wrap="none" lIns="0" tIns="0" rIns="0" bIns="0"/>
          <a:p>
            <a:pPr>
              <a:lnSpc>
                <a:spcPct val="100000"/>
              </a:lnSpc>
            </a:pPr>
            <a:r>
              <a:rPr lang="zh-CN" sz="863" b="1">
                <a:solidFill>
                  <a:srgbClr val="FFFFFF"/>
                </a:solidFill>
                <a:latin typeface="Microsoft YaHei"/>
                <a:ea typeface="Microsoft YaHei"/>
              </a:rPr>
              <a:t>业务域归属</a:t>
            </a:r>
            <a:endParaRPr/>
          </a:p>
        </p:txBody>
      </p:sp>
      <p:sp>
        <p:nvSpPr>
          <p:cNvPr id="2462" name=""/>
          <p:cNvSpPr/>
          <p:nvPr/>
        </p:nvSpPr>
        <p:spPr>
          <a:xfrm rot="0" flipH="0" flipV="0">
            <a:off x="6134100" y="1247775"/>
            <a:ext cx="5448300" cy="247650"/>
          </a:xfrm>
          <a:prstGeom prst="roundRect">
            <a:avLst>
              <a:gd name="adj" fmla="val 11538"/>
            </a:avLst>
          </a:prstGeom>
          <a:solidFill>
            <a:srgbClr val="0F1423"/>
          </a:solidFill>
          <a:ln/>
        </p:spPr>
        <p:txBody>
          <a:bodyPr/>
          <a:p/>
        </p:txBody>
      </p:sp>
      <p:sp>
        <p:nvSpPr>
          <p:cNvPr id="2463" name="" descr="{&quot;isTemplate&quot;:true,&quot;type&quot;:&quot;text&quot;}"/>
          <p:cNvSpPr txBox="1"/>
          <p:nvPr/>
        </p:nvSpPr>
        <p:spPr>
          <a:xfrm rot="0" flipH="0" flipV="0">
            <a:off x="6229350" y="1304925"/>
            <a:ext cx="1095375" cy="133350"/>
          </a:xfrm>
          <a:prstGeom prst="rect"/>
        </p:spPr>
        <p:txBody>
          <a:bodyPr wrap="none" lIns="0" tIns="0" rIns="0" bIns="0"/>
          <a:p>
            <a:pPr>
              <a:lnSpc>
                <a:spcPct val="100000"/>
              </a:lnSpc>
            </a:pPr>
            <a:r>
              <a:rPr lang="zh-CN" sz="863" b="1">
                <a:solidFill>
                  <a:srgbClr val="FFFFFF"/>
                </a:solidFill>
                <a:latin typeface="Microsoft YaHei"/>
                <a:ea typeface="Microsoft YaHei"/>
              </a:rPr>
              <a:t>这个部门的必问三件事</a:t>
            </a:r>
            <a:endParaRPr/>
          </a:p>
        </p:txBody>
      </p:sp>
      <p:sp>
        <p:nvSpPr>
          <p:cNvPr id="2464" name=""/>
          <p:cNvSpPr/>
          <p:nvPr/>
        </p:nvSpPr>
        <p:spPr>
          <a:xfrm rot="0" flipH="0" flipV="0">
            <a:off x="638175" y="1562100"/>
            <a:ext cx="1381125" cy="352425"/>
          </a:xfrm>
          <a:prstGeom prst="roundRect">
            <a:avLst>
              <a:gd name="adj" fmla="val 8108"/>
            </a:avLst>
          </a:prstGeom>
          <a:solidFill>
            <a:srgbClr val="F7F7F8"/>
          </a:solidFill>
          <a:ln/>
        </p:spPr>
        <p:txBody>
          <a:bodyPr/>
          <a:p/>
        </p:txBody>
      </p:sp>
      <p:sp>
        <p:nvSpPr>
          <p:cNvPr id="2465" name=""/>
          <p:cNvSpPr/>
          <p:nvPr/>
        </p:nvSpPr>
        <p:spPr>
          <a:xfrm rot="0" flipH="0" flipV="0">
            <a:off x="638175" y="1562100"/>
            <a:ext cx="1381125" cy="352425"/>
          </a:xfrm>
          <a:custGeom>
            <a:pathLst>
              <a:path w="145" h="37">
                <a:moveTo>
                  <a:pt x="3" y="37"/>
                </a:moveTo>
                <a:cubicBezTo>
                  <a:pt x="1" y="37"/>
                  <a:pt x="0" y="36"/>
                  <a:pt x="0" y="34"/>
                </a:cubicBezTo>
                <a:lnTo>
                  <a:pt x="0" y="3"/>
                </a:lnTo>
                <a:cubicBezTo>
                  <a:pt x="0" y="1"/>
                  <a:pt x="1" y="0"/>
                  <a:pt x="3" y="0"/>
                </a:cubicBezTo>
                <a:lnTo>
                  <a:pt x="3" y="37"/>
                </a:lnTo>
                <a:close/>
              </a:path>
            </a:pathLst>
          </a:custGeom>
          <a:solidFill>
            <a:srgbClr val="C43A17"/>
          </a:solidFill>
          <a:ln/>
        </p:spPr>
        <p:txBody>
          <a:bodyPr/>
          <a:p/>
        </p:txBody>
      </p:sp>
      <p:sp>
        <p:nvSpPr>
          <p:cNvPr id="2466" name="" descr="{&quot;isTemplate&quot;:true,&quot;type&quot;:&quot;text&quot;}"/>
          <p:cNvSpPr txBox="1"/>
          <p:nvPr/>
        </p:nvSpPr>
        <p:spPr>
          <a:xfrm rot="0" flipH="0" flipV="0">
            <a:off x="733425" y="1666875"/>
            <a:ext cx="457200" cy="142875"/>
          </a:xfrm>
          <a:prstGeom prst="rect"/>
        </p:spPr>
        <p:txBody>
          <a:bodyPr wrap="none" lIns="0" tIns="0" rIns="0" bIns="0"/>
          <a:p>
            <a:pPr>
              <a:lnSpc>
                <a:spcPct val="100000"/>
              </a:lnSpc>
            </a:pPr>
            <a:r>
              <a:rPr lang="zh-CN" sz="900" b="1">
                <a:solidFill>
                  <a:srgbClr val="0F1423"/>
                </a:solidFill>
                <a:latin typeface="Microsoft YaHei"/>
                <a:ea typeface="Microsoft YaHei"/>
              </a:rPr>
              <a:t>公司领导</a:t>
            </a:r>
            <a:endParaRPr/>
          </a:p>
        </p:txBody>
      </p:sp>
      <p:sp>
        <p:nvSpPr>
          <p:cNvPr id="2467" name=""/>
          <p:cNvSpPr/>
          <p:nvPr/>
        </p:nvSpPr>
        <p:spPr>
          <a:xfrm rot="0" flipH="0" flipV="0">
            <a:off x="2238375" y="1657350"/>
            <a:ext cx="238125" cy="171450"/>
          </a:xfrm>
          <a:prstGeom prst="roundRect">
            <a:avLst>
              <a:gd name="adj" fmla="val 11111"/>
            </a:avLst>
          </a:prstGeom>
          <a:solidFill>
            <a:srgbClr val="C43A17"/>
          </a:solidFill>
          <a:ln/>
        </p:spPr>
        <p:txBody>
          <a:bodyPr/>
          <a:p/>
        </p:txBody>
      </p:sp>
      <p:sp>
        <p:nvSpPr>
          <p:cNvPr id="2468" name="" descr="{&quot;isTemplate&quot;:true,&quot;type&quot;:&quot;text&quot;}"/>
          <p:cNvSpPr txBox="1"/>
          <p:nvPr/>
        </p:nvSpPr>
        <p:spPr>
          <a:xfrm rot="0" flipH="0" flipV="0">
            <a:off x="2286000" y="1685925"/>
            <a:ext cx="142875" cy="114300"/>
          </a:xfrm>
          <a:prstGeom prst="rect"/>
        </p:spPr>
        <p:txBody>
          <a:bodyPr wrap="none" lIns="0" tIns="0" rIns="0" bIns="0"/>
          <a:p>
            <a:pPr>
              <a:lnSpc>
                <a:spcPct val="100000"/>
              </a:lnSpc>
            </a:pPr>
            <a:r>
              <a:rPr lang="en-US" sz="750" b="1">
                <a:solidFill>
                  <a:srgbClr val="FFFFFF"/>
                </a:solidFill>
                <a:latin typeface="Microsoft YaHei"/>
                <a:ea typeface="Microsoft YaHei"/>
              </a:rPr>
              <a:t>BA</a:t>
            </a:r>
            <a:endParaRPr/>
          </a:p>
        </p:txBody>
      </p:sp>
      <p:sp>
        <p:nvSpPr>
          <p:cNvPr id="2469" name=""/>
          <p:cNvSpPr/>
          <p:nvPr/>
        </p:nvSpPr>
        <p:spPr>
          <a:xfrm rot="0" flipH="0" flipV="0">
            <a:off x="2686050" y="1562100"/>
            <a:ext cx="3409950" cy="352425"/>
          </a:xfrm>
          <a:prstGeom prst="roundRect">
            <a:avLst>
              <a:gd name="adj" fmla="val 8108"/>
            </a:avLst>
          </a:prstGeom>
          <a:solidFill>
            <a:srgbClr val="F7F7F8"/>
          </a:solidFill>
          <a:ln/>
        </p:spPr>
        <p:txBody>
          <a:bodyPr/>
          <a:p/>
        </p:txBody>
      </p:sp>
      <p:sp>
        <p:nvSpPr>
          <p:cNvPr id="2470" name="" descr="{&quot;isTemplate&quot;:true,&quot;type&quot;:&quot;text&quot;}"/>
          <p:cNvSpPr txBox="1"/>
          <p:nvPr/>
        </p:nvSpPr>
        <p:spPr>
          <a:xfrm rot="0" flipH="0" flipV="0">
            <a:off x="2781300" y="1657350"/>
            <a:ext cx="990600" cy="171450"/>
          </a:xfrm>
          <a:prstGeom prst="rect"/>
        </p:spPr>
        <p:txBody>
          <a:bodyPr wrap="none" lIns="0" tIns="0" rIns="0" bIns="0"/>
          <a:p>
            <a:pPr>
              <a:lnSpc>
                <a:spcPct val="130000"/>
              </a:lnSpc>
            </a:pPr>
            <a:r>
              <a:rPr lang="en-US" sz="825">
                <a:solidFill>
                  <a:srgbClr val="5A6070"/>
                </a:solidFill>
                <a:latin typeface="Microsoft YaHei"/>
                <a:ea typeface="Microsoft YaHei"/>
              </a:rPr>
              <a:t xml:space="preserve">E1 </a:t>
            </a:r>
            <a:r>
              <a:rPr lang="zh-CN" sz="825">
                <a:solidFill>
                  <a:srgbClr val="5A6070"/>
                </a:solidFill>
                <a:latin typeface="Microsoft YaHei"/>
                <a:ea typeface="Microsoft YaHei"/>
              </a:rPr>
              <a:t>开发与投资</a:t>
            </a:r>
            <a:r>
              <a:rPr lang="en-US" sz="825">
                <a:solidFill>
                  <a:srgbClr val="5A6070"/>
                </a:solidFill>
                <a:latin typeface="Microsoft YaHei"/>
                <a:ea typeface="Microsoft YaHei"/>
              </a:rPr>
              <a:t xml:space="preserve"> / </a:t>
            </a:r>
            <a:r>
              <a:rPr lang="zh-CN" sz="825">
                <a:solidFill>
                  <a:srgbClr val="5A6070"/>
                </a:solidFill>
                <a:latin typeface="Microsoft YaHei"/>
                <a:ea typeface="Microsoft YaHei"/>
              </a:rPr>
              <a:t>总体</a:t>
            </a:r>
            <a:endParaRPr/>
          </a:p>
        </p:txBody>
      </p:sp>
      <p:sp>
        <p:nvSpPr>
          <p:cNvPr id="2471" name=""/>
          <p:cNvSpPr/>
          <p:nvPr/>
        </p:nvSpPr>
        <p:spPr>
          <a:xfrm rot="0" flipH="0" flipV="0">
            <a:off x="6134100" y="1562100"/>
            <a:ext cx="5448300" cy="352425"/>
          </a:xfrm>
          <a:prstGeom prst="roundRect">
            <a:avLst>
              <a:gd name="adj" fmla="val 8108"/>
            </a:avLst>
          </a:prstGeom>
          <a:solidFill>
            <a:srgbClr val="FFF3EE"/>
          </a:solidFill>
          <a:ln/>
        </p:spPr>
        <p:txBody>
          <a:bodyPr/>
          <a:p/>
        </p:txBody>
      </p:sp>
      <p:sp>
        <p:nvSpPr>
          <p:cNvPr id="2472" name="" descr="{&quot;isTemplate&quot;:true,&quot;type&quot;:&quot;text&quot;}"/>
          <p:cNvSpPr txBox="1"/>
          <p:nvPr/>
        </p:nvSpPr>
        <p:spPr>
          <a:xfrm rot="0" flipH="0" flipV="0">
            <a:off x="6238875" y="1657350"/>
            <a:ext cx="2962275" cy="171450"/>
          </a:xfrm>
          <a:prstGeom prst="rect"/>
        </p:spPr>
        <p:txBody>
          <a:bodyPr wrap="none" lIns="0" tIns="0" rIns="0" bIns="0"/>
          <a:p>
            <a:pPr>
              <a:lnSpc>
                <a:spcPct val="130000"/>
              </a:lnSpc>
            </a:pPr>
            <a:r>
              <a:rPr lang="zh-CN" sz="863">
                <a:solidFill>
                  <a:srgbClr val="0F1423"/>
                </a:solidFill>
                <a:latin typeface="Microsoft YaHei"/>
                <a:ea typeface="Microsoft YaHei"/>
              </a:rPr>
              <a:t>这次变革最想改变哪个经营结果？哪些事情你愿意亲自拍板？</a:t>
            </a:r>
            <a:endParaRPr/>
          </a:p>
        </p:txBody>
      </p:sp>
      <p:sp>
        <p:nvSpPr>
          <p:cNvPr id="2473" name=""/>
          <p:cNvSpPr/>
          <p:nvPr/>
        </p:nvSpPr>
        <p:spPr>
          <a:xfrm rot="0" flipH="0" flipV="0">
            <a:off x="638175" y="1981200"/>
            <a:ext cx="1381125" cy="342900"/>
          </a:xfrm>
          <a:prstGeom prst="roundRect">
            <a:avLst>
              <a:gd name="adj" fmla="val 8333"/>
            </a:avLst>
          </a:prstGeom>
          <a:solidFill>
            <a:srgbClr val="F7F7F8"/>
          </a:solidFill>
          <a:ln/>
        </p:spPr>
        <p:txBody>
          <a:bodyPr/>
          <a:p/>
        </p:txBody>
      </p:sp>
      <p:sp>
        <p:nvSpPr>
          <p:cNvPr id="2474" name=""/>
          <p:cNvSpPr/>
          <p:nvPr/>
        </p:nvSpPr>
        <p:spPr>
          <a:xfrm rot="0" flipH="0" flipV="0">
            <a:off x="638175" y="1981200"/>
            <a:ext cx="1381125" cy="342900"/>
          </a:xfrm>
          <a:custGeom>
            <a:pathLst>
              <a:path w="145" h="36">
                <a:moveTo>
                  <a:pt x="3" y="36"/>
                </a:moveTo>
                <a:cubicBezTo>
                  <a:pt x="1" y="36"/>
                  <a:pt x="0" y="35"/>
                  <a:pt x="0" y="33"/>
                </a:cubicBezTo>
                <a:lnTo>
                  <a:pt x="0" y="3"/>
                </a:lnTo>
                <a:cubicBezTo>
                  <a:pt x="0" y="1"/>
                  <a:pt x="1" y="0"/>
                  <a:pt x="3" y="0"/>
                </a:cubicBezTo>
                <a:lnTo>
                  <a:pt x="3" y="36"/>
                </a:lnTo>
                <a:close/>
              </a:path>
            </a:pathLst>
          </a:custGeom>
          <a:solidFill>
            <a:srgbClr val="FA4F24"/>
          </a:solidFill>
          <a:ln/>
        </p:spPr>
        <p:txBody>
          <a:bodyPr/>
          <a:p/>
        </p:txBody>
      </p:sp>
      <p:sp>
        <p:nvSpPr>
          <p:cNvPr id="2475" name="" descr="{&quot;isTemplate&quot;:true,&quot;type&quot;:&quot;text&quot;}"/>
          <p:cNvSpPr txBox="1"/>
          <p:nvPr/>
        </p:nvSpPr>
        <p:spPr>
          <a:xfrm rot="0" flipH="0" flipV="0">
            <a:off x="733425" y="2085975"/>
            <a:ext cx="571500" cy="142875"/>
          </a:xfrm>
          <a:prstGeom prst="rect"/>
        </p:spPr>
        <p:txBody>
          <a:bodyPr wrap="none" lIns="0" tIns="0" rIns="0" bIns="0"/>
          <a:p>
            <a:pPr>
              <a:lnSpc>
                <a:spcPct val="100000"/>
              </a:lnSpc>
            </a:pPr>
            <a:r>
              <a:rPr lang="zh-CN" sz="900" b="1">
                <a:solidFill>
                  <a:srgbClr val="0F1423"/>
                </a:solidFill>
                <a:latin typeface="Microsoft YaHei"/>
                <a:ea typeface="Microsoft YaHei"/>
              </a:rPr>
              <a:t>电站开发部</a:t>
            </a:r>
            <a:endParaRPr/>
          </a:p>
        </p:txBody>
      </p:sp>
      <p:sp>
        <p:nvSpPr>
          <p:cNvPr id="2476" name=""/>
          <p:cNvSpPr/>
          <p:nvPr/>
        </p:nvSpPr>
        <p:spPr>
          <a:xfrm rot="0" flipH="0" flipV="0">
            <a:off x="2238375" y="2066925"/>
            <a:ext cx="238125" cy="171450"/>
          </a:xfrm>
          <a:prstGeom prst="roundRect">
            <a:avLst>
              <a:gd name="adj" fmla="val 11111"/>
            </a:avLst>
          </a:prstGeom>
          <a:solidFill>
            <a:srgbClr val="FA4F24"/>
          </a:solidFill>
          <a:ln/>
        </p:spPr>
        <p:txBody>
          <a:bodyPr/>
          <a:p/>
        </p:txBody>
      </p:sp>
      <p:sp>
        <p:nvSpPr>
          <p:cNvPr id="2477" name="" descr="{&quot;isTemplate&quot;:true,&quot;type&quot;:&quot;text&quot;}"/>
          <p:cNvSpPr txBox="1"/>
          <p:nvPr/>
        </p:nvSpPr>
        <p:spPr>
          <a:xfrm rot="0" flipH="0" flipV="0">
            <a:off x="2286000" y="2095500"/>
            <a:ext cx="142875" cy="114300"/>
          </a:xfrm>
          <a:prstGeom prst="rect"/>
        </p:spPr>
        <p:txBody>
          <a:bodyPr wrap="none" lIns="0" tIns="0" rIns="0" bIns="0"/>
          <a:p>
            <a:pPr>
              <a:lnSpc>
                <a:spcPct val="100000"/>
              </a:lnSpc>
            </a:pPr>
            <a:r>
              <a:rPr lang="en-US" sz="750" b="1">
                <a:solidFill>
                  <a:srgbClr val="FFFFFF"/>
                </a:solidFill>
                <a:latin typeface="Microsoft YaHei"/>
                <a:ea typeface="Microsoft YaHei"/>
              </a:rPr>
              <a:t>BA</a:t>
            </a:r>
            <a:endParaRPr/>
          </a:p>
        </p:txBody>
      </p:sp>
      <p:sp>
        <p:nvSpPr>
          <p:cNvPr id="2478" name=""/>
          <p:cNvSpPr/>
          <p:nvPr/>
        </p:nvSpPr>
        <p:spPr>
          <a:xfrm rot="0" flipH="0" flipV="0">
            <a:off x="2686050" y="1981200"/>
            <a:ext cx="3409950" cy="342900"/>
          </a:xfrm>
          <a:prstGeom prst="roundRect">
            <a:avLst>
              <a:gd name="adj" fmla="val 8333"/>
            </a:avLst>
          </a:prstGeom>
          <a:solidFill>
            <a:srgbClr val="F7F7F8"/>
          </a:solidFill>
          <a:ln/>
        </p:spPr>
        <p:txBody>
          <a:bodyPr/>
          <a:p/>
        </p:txBody>
      </p:sp>
      <p:sp>
        <p:nvSpPr>
          <p:cNvPr id="2479" name="" descr="{&quot;isTemplate&quot;:true,&quot;type&quot;:&quot;text&quot;}"/>
          <p:cNvSpPr txBox="1"/>
          <p:nvPr/>
        </p:nvSpPr>
        <p:spPr>
          <a:xfrm rot="0" flipH="0" flipV="0">
            <a:off x="2781300" y="2066925"/>
            <a:ext cx="676275" cy="171450"/>
          </a:xfrm>
          <a:prstGeom prst="rect"/>
        </p:spPr>
        <p:txBody>
          <a:bodyPr wrap="none" lIns="0" tIns="0" rIns="0" bIns="0"/>
          <a:p>
            <a:pPr>
              <a:lnSpc>
                <a:spcPct val="130000"/>
              </a:lnSpc>
            </a:pPr>
            <a:r>
              <a:rPr lang="en-US" sz="825">
                <a:solidFill>
                  <a:srgbClr val="5A6070"/>
                </a:solidFill>
                <a:latin typeface="Microsoft YaHei"/>
                <a:ea typeface="Microsoft YaHei"/>
              </a:rPr>
              <a:t xml:space="preserve">E1 </a:t>
            </a:r>
            <a:r>
              <a:rPr lang="zh-CN" sz="825">
                <a:solidFill>
                  <a:srgbClr val="5A6070"/>
                </a:solidFill>
                <a:latin typeface="Microsoft YaHei"/>
                <a:ea typeface="Microsoft YaHei"/>
              </a:rPr>
              <a:t>开发与投资</a:t>
            </a:r>
            <a:endParaRPr/>
          </a:p>
        </p:txBody>
      </p:sp>
      <p:sp>
        <p:nvSpPr>
          <p:cNvPr id="2480" name=""/>
          <p:cNvSpPr/>
          <p:nvPr/>
        </p:nvSpPr>
        <p:spPr>
          <a:xfrm rot="0" flipH="0" flipV="0">
            <a:off x="6134100" y="1981200"/>
            <a:ext cx="5448300" cy="342900"/>
          </a:xfrm>
          <a:prstGeom prst="roundRect">
            <a:avLst>
              <a:gd name="adj" fmla="val 8333"/>
            </a:avLst>
          </a:prstGeom>
          <a:solidFill>
            <a:srgbClr val="FFF3EE"/>
          </a:solidFill>
          <a:ln/>
        </p:spPr>
        <p:txBody>
          <a:bodyPr/>
          <a:p/>
        </p:txBody>
      </p:sp>
      <p:sp>
        <p:nvSpPr>
          <p:cNvPr id="2481" name="" descr="{&quot;isTemplate&quot;:true,&quot;type&quot;:&quot;text&quot;}"/>
          <p:cNvSpPr txBox="1"/>
          <p:nvPr/>
        </p:nvSpPr>
        <p:spPr>
          <a:xfrm rot="0" flipH="0" flipV="0">
            <a:off x="6238875" y="2066925"/>
            <a:ext cx="2847975" cy="171450"/>
          </a:xfrm>
          <a:prstGeom prst="rect"/>
        </p:spPr>
        <p:txBody>
          <a:bodyPr wrap="none" lIns="0" tIns="0" rIns="0" bIns="0"/>
          <a:p>
            <a:pPr>
              <a:lnSpc>
                <a:spcPct val="130000"/>
              </a:lnSpc>
            </a:pPr>
            <a:r>
              <a:rPr lang="zh-CN" sz="863">
                <a:solidFill>
                  <a:srgbClr val="0F1423"/>
                </a:solidFill>
                <a:latin typeface="Microsoft YaHei"/>
                <a:ea typeface="Microsoft YaHei"/>
              </a:rPr>
              <a:t>一个项目从机会到投资决策要过几道会？哪一步最慢最卡？</a:t>
            </a:r>
            <a:endParaRPr/>
          </a:p>
        </p:txBody>
      </p:sp>
      <p:sp>
        <p:nvSpPr>
          <p:cNvPr id="2482" name=""/>
          <p:cNvSpPr/>
          <p:nvPr/>
        </p:nvSpPr>
        <p:spPr>
          <a:xfrm rot="0" flipH="0" flipV="0">
            <a:off x="638175" y="2390775"/>
            <a:ext cx="1381125" cy="352425"/>
          </a:xfrm>
          <a:prstGeom prst="roundRect">
            <a:avLst>
              <a:gd name="adj" fmla="val 8108"/>
            </a:avLst>
          </a:prstGeom>
          <a:solidFill>
            <a:srgbClr val="F7F7F8"/>
          </a:solidFill>
          <a:ln/>
        </p:spPr>
        <p:txBody>
          <a:bodyPr/>
          <a:p/>
        </p:txBody>
      </p:sp>
      <p:sp>
        <p:nvSpPr>
          <p:cNvPr id="2483" name=""/>
          <p:cNvSpPr/>
          <p:nvPr/>
        </p:nvSpPr>
        <p:spPr>
          <a:xfrm rot="0" flipH="0" flipV="0">
            <a:off x="638175" y="2390775"/>
            <a:ext cx="1381125" cy="352425"/>
          </a:xfrm>
          <a:custGeom>
            <a:pathLst>
              <a:path w="145" h="37">
                <a:moveTo>
                  <a:pt x="3" y="37"/>
                </a:moveTo>
                <a:cubicBezTo>
                  <a:pt x="1" y="37"/>
                  <a:pt x="0" y="36"/>
                  <a:pt x="0" y="34"/>
                </a:cubicBezTo>
                <a:lnTo>
                  <a:pt x="0" y="3"/>
                </a:lnTo>
                <a:cubicBezTo>
                  <a:pt x="0" y="1"/>
                  <a:pt x="1" y="0"/>
                  <a:pt x="3" y="0"/>
                </a:cubicBezTo>
                <a:lnTo>
                  <a:pt x="3" y="37"/>
                </a:lnTo>
                <a:close/>
              </a:path>
            </a:pathLst>
          </a:custGeom>
          <a:solidFill>
            <a:srgbClr val="0F1423"/>
          </a:solidFill>
          <a:ln/>
        </p:spPr>
        <p:txBody>
          <a:bodyPr/>
          <a:p/>
        </p:txBody>
      </p:sp>
      <p:sp>
        <p:nvSpPr>
          <p:cNvPr id="2484" name="" descr="{&quot;isTemplate&quot;:true,&quot;type&quot;:&quot;text&quot;}"/>
          <p:cNvSpPr txBox="1"/>
          <p:nvPr/>
        </p:nvSpPr>
        <p:spPr>
          <a:xfrm rot="0" flipH="0" flipV="0">
            <a:off x="733425" y="2495550"/>
            <a:ext cx="800100" cy="142875"/>
          </a:xfrm>
          <a:prstGeom prst="rect"/>
        </p:spPr>
        <p:txBody>
          <a:bodyPr wrap="none" lIns="0" tIns="0" rIns="0" bIns="0"/>
          <a:p>
            <a:pPr>
              <a:lnSpc>
                <a:spcPct val="100000"/>
              </a:lnSpc>
            </a:pPr>
            <a:r>
              <a:rPr lang="zh-CN" sz="900" b="1">
                <a:solidFill>
                  <a:srgbClr val="0F1423"/>
                </a:solidFill>
                <a:latin typeface="Microsoft YaHei"/>
                <a:ea typeface="Microsoft YaHei"/>
              </a:rPr>
              <a:t>产品解决方案部</a:t>
            </a:r>
            <a:endParaRPr/>
          </a:p>
        </p:txBody>
      </p:sp>
      <p:sp>
        <p:nvSpPr>
          <p:cNvPr id="2485" name=""/>
          <p:cNvSpPr/>
          <p:nvPr/>
        </p:nvSpPr>
        <p:spPr>
          <a:xfrm rot="0" flipH="0" flipV="0">
            <a:off x="2124075" y="2486025"/>
            <a:ext cx="457200" cy="171450"/>
          </a:xfrm>
          <a:prstGeom prst="roundRect">
            <a:avLst>
              <a:gd name="adj" fmla="val 11111"/>
            </a:avLst>
          </a:prstGeom>
          <a:solidFill>
            <a:srgbClr val="0F1423"/>
          </a:solidFill>
          <a:ln/>
        </p:spPr>
        <p:txBody>
          <a:bodyPr/>
          <a:p/>
        </p:txBody>
      </p:sp>
      <p:sp>
        <p:nvSpPr>
          <p:cNvPr id="2486" name="" descr="{&quot;isTemplate&quot;:true,&quot;type&quot;:&quot;text&quot;}"/>
          <p:cNvSpPr txBox="1"/>
          <p:nvPr/>
        </p:nvSpPr>
        <p:spPr>
          <a:xfrm rot="0" flipH="0" flipV="0">
            <a:off x="2171700" y="2514600"/>
            <a:ext cx="361950" cy="114300"/>
          </a:xfrm>
          <a:prstGeom prst="rect"/>
        </p:spPr>
        <p:txBody>
          <a:bodyPr wrap="none" lIns="0" tIns="0" rIns="0" bIns="0"/>
          <a:p>
            <a:pPr>
              <a:lnSpc>
                <a:spcPct val="100000"/>
              </a:lnSpc>
            </a:pPr>
            <a:r>
              <a:rPr lang="en-US" sz="750" b="1">
                <a:solidFill>
                  <a:srgbClr val="FFFFFF"/>
                </a:solidFill>
                <a:latin typeface="Microsoft YaHei"/>
                <a:ea typeface="Microsoft YaHei"/>
              </a:rPr>
              <a:t>BA+DA</a:t>
            </a:r>
            <a:endParaRPr/>
          </a:p>
        </p:txBody>
      </p:sp>
      <p:sp>
        <p:nvSpPr>
          <p:cNvPr id="2487" name=""/>
          <p:cNvSpPr/>
          <p:nvPr/>
        </p:nvSpPr>
        <p:spPr>
          <a:xfrm rot="0" flipH="0" flipV="0">
            <a:off x="2686050" y="2390775"/>
            <a:ext cx="3409950" cy="352425"/>
          </a:xfrm>
          <a:prstGeom prst="roundRect">
            <a:avLst>
              <a:gd name="adj" fmla="val 8108"/>
            </a:avLst>
          </a:prstGeom>
          <a:solidFill>
            <a:srgbClr val="F7F7F8"/>
          </a:solidFill>
          <a:ln/>
        </p:spPr>
        <p:txBody>
          <a:bodyPr/>
          <a:p/>
        </p:txBody>
      </p:sp>
      <p:sp>
        <p:nvSpPr>
          <p:cNvPr id="2488" name="" descr="{&quot;isTemplate&quot;:true,&quot;type&quot;:&quot;text&quot;}"/>
          <p:cNvSpPr txBox="1"/>
          <p:nvPr/>
        </p:nvSpPr>
        <p:spPr>
          <a:xfrm rot="0" flipH="0" flipV="0">
            <a:off x="2781300" y="2486025"/>
            <a:ext cx="933450" cy="171450"/>
          </a:xfrm>
          <a:prstGeom prst="rect"/>
        </p:spPr>
        <p:txBody>
          <a:bodyPr wrap="none" lIns="0" tIns="0" rIns="0" bIns="0"/>
          <a:p>
            <a:pPr>
              <a:lnSpc>
                <a:spcPct val="130000"/>
              </a:lnSpc>
            </a:pPr>
            <a:r>
              <a:rPr lang="en-US" sz="825">
                <a:solidFill>
                  <a:srgbClr val="5A6070"/>
                </a:solidFill>
                <a:latin typeface="Microsoft YaHei"/>
                <a:ea typeface="Microsoft YaHei"/>
              </a:rPr>
              <a:t>S2 EBOM→MBOM</a:t>
            </a:r>
            <a:endParaRPr/>
          </a:p>
        </p:txBody>
      </p:sp>
      <p:sp>
        <p:nvSpPr>
          <p:cNvPr id="2489" name=""/>
          <p:cNvSpPr/>
          <p:nvPr/>
        </p:nvSpPr>
        <p:spPr>
          <a:xfrm rot="0" flipH="0" flipV="0">
            <a:off x="6134100" y="2390775"/>
            <a:ext cx="5448300" cy="352425"/>
          </a:xfrm>
          <a:prstGeom prst="roundRect">
            <a:avLst>
              <a:gd name="adj" fmla="val 8108"/>
            </a:avLst>
          </a:prstGeom>
          <a:solidFill>
            <a:srgbClr val="FFF3EE"/>
          </a:solidFill>
          <a:ln/>
        </p:spPr>
        <p:txBody>
          <a:bodyPr/>
          <a:p/>
        </p:txBody>
      </p:sp>
      <p:sp>
        <p:nvSpPr>
          <p:cNvPr id="2490" name="" descr="{&quot;isTemplate&quot;:true,&quot;type&quot;:&quot;text&quot;}"/>
          <p:cNvSpPr txBox="1"/>
          <p:nvPr/>
        </p:nvSpPr>
        <p:spPr>
          <a:xfrm rot="0" flipH="0" flipV="0">
            <a:off x="6238875" y="2486025"/>
            <a:ext cx="2743200" cy="171450"/>
          </a:xfrm>
          <a:prstGeom prst="rect"/>
        </p:spPr>
        <p:txBody>
          <a:bodyPr wrap="none" lIns="0" tIns="0" rIns="0" bIns="0"/>
          <a:p>
            <a:pPr>
              <a:lnSpc>
                <a:spcPct val="130000"/>
              </a:lnSpc>
            </a:pPr>
            <a:r>
              <a:rPr lang="zh-CN" sz="863">
                <a:solidFill>
                  <a:srgbClr val="0F1423"/>
                </a:solidFill>
                <a:latin typeface="Microsoft YaHei"/>
                <a:ea typeface="Microsoft YaHei"/>
              </a:rPr>
              <a:t>同一个产品不同配置，物料清单怎么合？差异谁说了算？</a:t>
            </a:r>
            <a:endParaRPr/>
          </a:p>
        </p:txBody>
      </p:sp>
      <p:sp>
        <p:nvSpPr>
          <p:cNvPr id="2491" name=""/>
          <p:cNvSpPr/>
          <p:nvPr/>
        </p:nvSpPr>
        <p:spPr>
          <a:xfrm rot="0" flipH="0" flipV="0">
            <a:off x="638175" y="2809875"/>
            <a:ext cx="1381125" cy="352425"/>
          </a:xfrm>
          <a:prstGeom prst="roundRect">
            <a:avLst>
              <a:gd name="adj" fmla="val 8108"/>
            </a:avLst>
          </a:prstGeom>
          <a:solidFill>
            <a:srgbClr val="F7F7F8"/>
          </a:solidFill>
          <a:ln/>
        </p:spPr>
        <p:txBody>
          <a:bodyPr/>
          <a:p/>
        </p:txBody>
      </p:sp>
      <p:sp>
        <p:nvSpPr>
          <p:cNvPr id="2492" name=""/>
          <p:cNvSpPr/>
          <p:nvPr/>
        </p:nvSpPr>
        <p:spPr>
          <a:xfrm rot="0" flipH="0" flipV="0">
            <a:off x="638175" y="2809875"/>
            <a:ext cx="1381125" cy="352425"/>
          </a:xfrm>
          <a:custGeom>
            <a:pathLst>
              <a:path w="145" h="37">
                <a:moveTo>
                  <a:pt x="3" y="37"/>
                </a:moveTo>
                <a:cubicBezTo>
                  <a:pt x="1" y="37"/>
                  <a:pt x="0" y="36"/>
                  <a:pt x="0" y="34"/>
                </a:cubicBezTo>
                <a:lnTo>
                  <a:pt x="0" y="3"/>
                </a:lnTo>
                <a:cubicBezTo>
                  <a:pt x="0" y="1"/>
                  <a:pt x="1" y="0"/>
                  <a:pt x="3" y="0"/>
                </a:cubicBezTo>
                <a:lnTo>
                  <a:pt x="3" y="37"/>
                </a:lnTo>
                <a:close/>
              </a:path>
            </a:pathLst>
          </a:custGeom>
          <a:solidFill>
            <a:srgbClr val="E0641E"/>
          </a:solidFill>
          <a:ln/>
        </p:spPr>
        <p:txBody>
          <a:bodyPr/>
          <a:p/>
        </p:txBody>
      </p:sp>
      <p:sp>
        <p:nvSpPr>
          <p:cNvPr id="2493" name="" descr="{&quot;isTemplate&quot;:true,&quot;type&quot;:&quot;text&quot;}"/>
          <p:cNvSpPr txBox="1"/>
          <p:nvPr/>
        </p:nvSpPr>
        <p:spPr>
          <a:xfrm rot="0" flipH="0" flipV="0">
            <a:off x="733425" y="2914650"/>
            <a:ext cx="571500" cy="142875"/>
          </a:xfrm>
          <a:prstGeom prst="rect"/>
        </p:spPr>
        <p:txBody>
          <a:bodyPr wrap="none" lIns="0" tIns="0" rIns="0" bIns="0"/>
          <a:p>
            <a:pPr>
              <a:lnSpc>
                <a:spcPct val="100000"/>
              </a:lnSpc>
            </a:pPr>
            <a:r>
              <a:rPr lang="zh-CN" sz="900" b="1">
                <a:solidFill>
                  <a:srgbClr val="0F1423"/>
                </a:solidFill>
                <a:latin typeface="Microsoft YaHei"/>
                <a:ea typeface="Microsoft YaHei"/>
              </a:rPr>
              <a:t>项目管理部</a:t>
            </a:r>
            <a:endParaRPr/>
          </a:p>
        </p:txBody>
      </p:sp>
      <p:sp>
        <p:nvSpPr>
          <p:cNvPr id="2494" name=""/>
          <p:cNvSpPr/>
          <p:nvPr/>
        </p:nvSpPr>
        <p:spPr>
          <a:xfrm rot="0" flipH="0" flipV="0">
            <a:off x="2238375" y="2905125"/>
            <a:ext cx="238125" cy="171450"/>
          </a:xfrm>
          <a:prstGeom prst="roundRect">
            <a:avLst>
              <a:gd name="adj" fmla="val 11111"/>
            </a:avLst>
          </a:prstGeom>
          <a:solidFill>
            <a:srgbClr val="E0641E"/>
          </a:solidFill>
          <a:ln/>
        </p:spPr>
        <p:txBody>
          <a:bodyPr/>
          <a:p/>
        </p:txBody>
      </p:sp>
      <p:sp>
        <p:nvSpPr>
          <p:cNvPr id="2495" name="" descr="{&quot;isTemplate&quot;:true,&quot;type&quot;:&quot;text&quot;}"/>
          <p:cNvSpPr txBox="1"/>
          <p:nvPr/>
        </p:nvSpPr>
        <p:spPr>
          <a:xfrm rot="0" flipH="0" flipV="0">
            <a:off x="2286000" y="2933700"/>
            <a:ext cx="142875" cy="114300"/>
          </a:xfrm>
          <a:prstGeom prst="rect"/>
        </p:spPr>
        <p:txBody>
          <a:bodyPr wrap="none" lIns="0" tIns="0" rIns="0" bIns="0"/>
          <a:p>
            <a:pPr>
              <a:lnSpc>
                <a:spcPct val="100000"/>
              </a:lnSpc>
            </a:pPr>
            <a:r>
              <a:rPr lang="en-US" sz="750" b="1">
                <a:solidFill>
                  <a:srgbClr val="FFFFFF"/>
                </a:solidFill>
                <a:latin typeface="Microsoft YaHei"/>
                <a:ea typeface="Microsoft YaHei"/>
              </a:rPr>
              <a:t>BA</a:t>
            </a:r>
            <a:endParaRPr/>
          </a:p>
        </p:txBody>
      </p:sp>
      <p:sp>
        <p:nvSpPr>
          <p:cNvPr id="2496" name=""/>
          <p:cNvSpPr/>
          <p:nvPr/>
        </p:nvSpPr>
        <p:spPr>
          <a:xfrm rot="0" flipH="0" flipV="0">
            <a:off x="2686050" y="2809875"/>
            <a:ext cx="3409950" cy="352425"/>
          </a:xfrm>
          <a:prstGeom prst="roundRect">
            <a:avLst>
              <a:gd name="adj" fmla="val 8108"/>
            </a:avLst>
          </a:prstGeom>
          <a:solidFill>
            <a:srgbClr val="F7F7F8"/>
          </a:solidFill>
          <a:ln/>
        </p:spPr>
        <p:txBody>
          <a:bodyPr/>
          <a:p/>
        </p:txBody>
      </p:sp>
      <p:sp>
        <p:nvSpPr>
          <p:cNvPr id="2497" name="" descr="{&quot;isTemplate&quot;:true,&quot;type&quot;:&quot;text&quot;}"/>
          <p:cNvSpPr txBox="1"/>
          <p:nvPr/>
        </p:nvSpPr>
        <p:spPr>
          <a:xfrm rot="0" flipH="0" flipV="0">
            <a:off x="2781300" y="2905125"/>
            <a:ext cx="361950" cy="171450"/>
          </a:xfrm>
          <a:prstGeom prst="rect"/>
        </p:spPr>
        <p:txBody>
          <a:bodyPr wrap="none" lIns="0" tIns="0" rIns="0" bIns="0"/>
          <a:p>
            <a:pPr>
              <a:lnSpc>
                <a:spcPct val="130000"/>
              </a:lnSpc>
            </a:pPr>
            <a:r>
              <a:rPr lang="en-US" sz="825">
                <a:solidFill>
                  <a:srgbClr val="5A6070"/>
                </a:solidFill>
                <a:latin typeface="Microsoft YaHei"/>
                <a:ea typeface="Microsoft YaHei"/>
              </a:rPr>
              <a:t xml:space="preserve">E2 </a:t>
            </a:r>
            <a:r>
              <a:rPr lang="zh-CN" sz="825">
                <a:solidFill>
                  <a:srgbClr val="5A6070"/>
                </a:solidFill>
                <a:latin typeface="Microsoft YaHei"/>
                <a:ea typeface="Microsoft YaHei"/>
              </a:rPr>
              <a:t>建设</a:t>
            </a:r>
            <a:endParaRPr/>
          </a:p>
        </p:txBody>
      </p:sp>
      <p:sp>
        <p:nvSpPr>
          <p:cNvPr id="2498" name=""/>
          <p:cNvSpPr/>
          <p:nvPr/>
        </p:nvSpPr>
        <p:spPr>
          <a:xfrm rot="0" flipH="0" flipV="0">
            <a:off x="6134100" y="2809875"/>
            <a:ext cx="5448300" cy="352425"/>
          </a:xfrm>
          <a:prstGeom prst="roundRect">
            <a:avLst>
              <a:gd name="adj" fmla="val 8108"/>
            </a:avLst>
          </a:prstGeom>
          <a:solidFill>
            <a:srgbClr val="FFF3EE"/>
          </a:solidFill>
          <a:ln/>
        </p:spPr>
        <p:txBody>
          <a:bodyPr/>
          <a:p/>
        </p:txBody>
      </p:sp>
      <p:sp>
        <p:nvSpPr>
          <p:cNvPr id="2499" name="" descr="{&quot;isTemplate&quot;:true,&quot;type&quot;:&quot;text&quot;}"/>
          <p:cNvSpPr txBox="1"/>
          <p:nvPr/>
        </p:nvSpPr>
        <p:spPr>
          <a:xfrm rot="0" flipH="0" flipV="0">
            <a:off x="6238875" y="2905125"/>
            <a:ext cx="3067050" cy="171450"/>
          </a:xfrm>
          <a:prstGeom prst="rect"/>
        </p:spPr>
        <p:txBody>
          <a:bodyPr wrap="none" lIns="0" tIns="0" rIns="0" bIns="0"/>
          <a:p>
            <a:pPr>
              <a:lnSpc>
                <a:spcPct val="130000"/>
              </a:lnSpc>
            </a:pPr>
            <a:r>
              <a:rPr lang="zh-CN" sz="863">
                <a:solidFill>
                  <a:srgbClr val="0F1423"/>
                </a:solidFill>
                <a:latin typeface="Microsoft YaHei"/>
                <a:ea typeface="Microsoft YaHei"/>
              </a:rPr>
              <a:t>进度、成本、变更三张表的数据从哪来？更新到不及时谁负责？</a:t>
            </a:r>
            <a:endParaRPr/>
          </a:p>
        </p:txBody>
      </p:sp>
      <p:sp>
        <p:nvSpPr>
          <p:cNvPr id="2500" name=""/>
          <p:cNvSpPr/>
          <p:nvPr/>
        </p:nvSpPr>
        <p:spPr>
          <a:xfrm rot="0" flipH="0" flipV="0">
            <a:off x="638175" y="3228975"/>
            <a:ext cx="1381125" cy="352425"/>
          </a:xfrm>
          <a:prstGeom prst="roundRect">
            <a:avLst>
              <a:gd name="adj" fmla="val 8108"/>
            </a:avLst>
          </a:prstGeom>
          <a:solidFill>
            <a:srgbClr val="F7F7F8"/>
          </a:solidFill>
          <a:ln/>
        </p:spPr>
        <p:txBody>
          <a:bodyPr/>
          <a:p/>
        </p:txBody>
      </p:sp>
      <p:sp>
        <p:nvSpPr>
          <p:cNvPr id="2501" name=""/>
          <p:cNvSpPr/>
          <p:nvPr/>
        </p:nvSpPr>
        <p:spPr>
          <a:xfrm rot="0" flipH="0" flipV="0">
            <a:off x="638175" y="3228975"/>
            <a:ext cx="1381125" cy="352425"/>
          </a:xfrm>
          <a:custGeom>
            <a:pathLst>
              <a:path w="145" h="37">
                <a:moveTo>
                  <a:pt x="3" y="37"/>
                </a:moveTo>
                <a:cubicBezTo>
                  <a:pt x="1" y="37"/>
                  <a:pt x="0" y="36"/>
                  <a:pt x="0" y="34"/>
                </a:cubicBezTo>
                <a:lnTo>
                  <a:pt x="0" y="3"/>
                </a:lnTo>
                <a:cubicBezTo>
                  <a:pt x="0" y="1"/>
                  <a:pt x="1" y="0"/>
                  <a:pt x="3" y="0"/>
                </a:cubicBezTo>
                <a:lnTo>
                  <a:pt x="3" y="37"/>
                </a:lnTo>
                <a:close/>
              </a:path>
            </a:pathLst>
          </a:custGeom>
          <a:solidFill>
            <a:srgbClr val="D2531A"/>
          </a:solidFill>
          <a:ln/>
        </p:spPr>
        <p:txBody>
          <a:bodyPr/>
          <a:p/>
        </p:txBody>
      </p:sp>
      <p:sp>
        <p:nvSpPr>
          <p:cNvPr id="2502" name="" descr="{&quot;isTemplate&quot;:true,&quot;type&quot;:&quot;text&quot;}"/>
          <p:cNvSpPr txBox="1"/>
          <p:nvPr/>
        </p:nvSpPr>
        <p:spPr>
          <a:xfrm rot="0" flipH="0" flipV="0">
            <a:off x="733425" y="3333750"/>
            <a:ext cx="571500" cy="142875"/>
          </a:xfrm>
          <a:prstGeom prst="rect"/>
        </p:spPr>
        <p:txBody>
          <a:bodyPr wrap="none" lIns="0" tIns="0" rIns="0" bIns="0"/>
          <a:p>
            <a:pPr>
              <a:lnSpc>
                <a:spcPct val="100000"/>
              </a:lnSpc>
            </a:pPr>
            <a:r>
              <a:rPr lang="zh-CN" sz="900" b="1">
                <a:solidFill>
                  <a:srgbClr val="0F1423"/>
                </a:solidFill>
                <a:latin typeface="Microsoft YaHei"/>
                <a:ea typeface="Microsoft YaHei"/>
              </a:rPr>
              <a:t>工程技术部</a:t>
            </a:r>
            <a:endParaRPr/>
          </a:p>
        </p:txBody>
      </p:sp>
      <p:sp>
        <p:nvSpPr>
          <p:cNvPr id="2503" name=""/>
          <p:cNvSpPr/>
          <p:nvPr/>
        </p:nvSpPr>
        <p:spPr>
          <a:xfrm rot="0" flipH="0" flipV="0">
            <a:off x="2143125" y="3324225"/>
            <a:ext cx="428625" cy="171450"/>
          </a:xfrm>
          <a:prstGeom prst="roundRect">
            <a:avLst>
              <a:gd name="adj" fmla="val 11111"/>
            </a:avLst>
          </a:prstGeom>
          <a:solidFill>
            <a:srgbClr val="D2531A"/>
          </a:solidFill>
          <a:ln/>
        </p:spPr>
        <p:txBody>
          <a:bodyPr/>
          <a:p/>
        </p:txBody>
      </p:sp>
      <p:sp>
        <p:nvSpPr>
          <p:cNvPr id="2504" name="" descr="{&quot;isTemplate&quot;:true,&quot;type&quot;:&quot;text&quot;}"/>
          <p:cNvSpPr txBox="1"/>
          <p:nvPr/>
        </p:nvSpPr>
        <p:spPr>
          <a:xfrm rot="0" flipH="0" flipV="0">
            <a:off x="2190750" y="3352800"/>
            <a:ext cx="333375" cy="114300"/>
          </a:xfrm>
          <a:prstGeom prst="rect"/>
        </p:spPr>
        <p:txBody>
          <a:bodyPr wrap="none" lIns="0" tIns="0" rIns="0" bIns="0"/>
          <a:p>
            <a:pPr>
              <a:lnSpc>
                <a:spcPct val="100000"/>
              </a:lnSpc>
            </a:pPr>
            <a:r>
              <a:rPr lang="en-US" sz="750" b="1">
                <a:solidFill>
                  <a:srgbClr val="FFFFFF"/>
                </a:solidFill>
                <a:latin typeface="Microsoft YaHei"/>
                <a:ea typeface="Microsoft YaHei"/>
              </a:rPr>
              <a:t>TA+BA</a:t>
            </a:r>
            <a:endParaRPr/>
          </a:p>
        </p:txBody>
      </p:sp>
      <p:sp>
        <p:nvSpPr>
          <p:cNvPr id="2505" name=""/>
          <p:cNvSpPr/>
          <p:nvPr/>
        </p:nvSpPr>
        <p:spPr>
          <a:xfrm rot="0" flipH="0" flipV="0">
            <a:off x="2686050" y="3228975"/>
            <a:ext cx="3409950" cy="352425"/>
          </a:xfrm>
          <a:prstGeom prst="roundRect">
            <a:avLst>
              <a:gd name="adj" fmla="val 8108"/>
            </a:avLst>
          </a:prstGeom>
          <a:solidFill>
            <a:srgbClr val="F7F7F8"/>
          </a:solidFill>
          <a:ln/>
        </p:spPr>
        <p:txBody>
          <a:bodyPr/>
          <a:p/>
        </p:txBody>
      </p:sp>
      <p:sp>
        <p:nvSpPr>
          <p:cNvPr id="2506" name="" descr="{&quot;isTemplate&quot;:true,&quot;type&quot;:&quot;text&quot;}"/>
          <p:cNvSpPr txBox="1"/>
          <p:nvPr/>
        </p:nvSpPr>
        <p:spPr>
          <a:xfrm rot="0" flipH="0" flipV="0">
            <a:off x="2781300" y="3324225"/>
            <a:ext cx="838200" cy="171450"/>
          </a:xfrm>
          <a:prstGeom prst="rect"/>
        </p:spPr>
        <p:txBody>
          <a:bodyPr wrap="none" lIns="0" tIns="0" rIns="0" bIns="0"/>
          <a:p>
            <a:pPr>
              <a:lnSpc>
                <a:spcPct val="130000"/>
              </a:lnSpc>
            </a:pPr>
            <a:r>
              <a:rPr lang="en-US" sz="825">
                <a:solidFill>
                  <a:srgbClr val="5A6070"/>
                </a:solidFill>
                <a:latin typeface="Microsoft YaHei"/>
                <a:ea typeface="Microsoft YaHei"/>
              </a:rPr>
              <a:t xml:space="preserve">E2/E3 </a:t>
            </a:r>
            <a:r>
              <a:rPr lang="zh-CN" sz="825">
                <a:solidFill>
                  <a:srgbClr val="5A6070"/>
                </a:solidFill>
                <a:latin typeface="Microsoft YaHei"/>
                <a:ea typeface="Microsoft YaHei"/>
              </a:rPr>
              <a:t>工程与运维</a:t>
            </a:r>
            <a:endParaRPr/>
          </a:p>
        </p:txBody>
      </p:sp>
      <p:sp>
        <p:nvSpPr>
          <p:cNvPr id="2507" name=""/>
          <p:cNvSpPr/>
          <p:nvPr/>
        </p:nvSpPr>
        <p:spPr>
          <a:xfrm rot="0" flipH="0" flipV="0">
            <a:off x="6134100" y="3228975"/>
            <a:ext cx="5448300" cy="352425"/>
          </a:xfrm>
          <a:prstGeom prst="roundRect">
            <a:avLst>
              <a:gd name="adj" fmla="val 8108"/>
            </a:avLst>
          </a:prstGeom>
          <a:solidFill>
            <a:srgbClr val="FFF3EE"/>
          </a:solidFill>
          <a:ln/>
        </p:spPr>
        <p:txBody>
          <a:bodyPr/>
          <a:p/>
        </p:txBody>
      </p:sp>
      <p:sp>
        <p:nvSpPr>
          <p:cNvPr id="2508" name="" descr="{&quot;isTemplate&quot;:true,&quot;type&quot;:&quot;text&quot;}"/>
          <p:cNvSpPr txBox="1"/>
          <p:nvPr/>
        </p:nvSpPr>
        <p:spPr>
          <a:xfrm rot="0" flipH="0" flipV="0">
            <a:off x="6238875" y="3324225"/>
            <a:ext cx="2628900" cy="171450"/>
          </a:xfrm>
          <a:prstGeom prst="rect"/>
        </p:spPr>
        <p:txBody>
          <a:bodyPr wrap="none" lIns="0" tIns="0" rIns="0" bIns="0"/>
          <a:p>
            <a:pPr>
              <a:lnSpc>
                <a:spcPct val="130000"/>
              </a:lnSpc>
            </a:pPr>
            <a:r>
              <a:rPr lang="zh-CN" sz="863">
                <a:solidFill>
                  <a:srgbClr val="0F1423"/>
                </a:solidFill>
                <a:latin typeface="Microsoft YaHei"/>
                <a:ea typeface="Microsoft YaHei"/>
              </a:rPr>
              <a:t>设备台账、设计文档、缺陷记录三套数据能不能对上？</a:t>
            </a:r>
            <a:endParaRPr/>
          </a:p>
        </p:txBody>
      </p:sp>
      <p:sp>
        <p:nvSpPr>
          <p:cNvPr id="2509" name=""/>
          <p:cNvSpPr/>
          <p:nvPr/>
        </p:nvSpPr>
        <p:spPr>
          <a:xfrm rot="0" flipH="0" flipV="0">
            <a:off x="638175" y="3648075"/>
            <a:ext cx="1381125" cy="342900"/>
          </a:xfrm>
          <a:prstGeom prst="roundRect">
            <a:avLst>
              <a:gd name="adj" fmla="val 8333"/>
            </a:avLst>
          </a:prstGeom>
          <a:solidFill>
            <a:srgbClr val="F7F7F8"/>
          </a:solidFill>
          <a:ln/>
        </p:spPr>
        <p:txBody>
          <a:bodyPr/>
          <a:p/>
        </p:txBody>
      </p:sp>
      <p:sp>
        <p:nvSpPr>
          <p:cNvPr id="2510" name=""/>
          <p:cNvSpPr/>
          <p:nvPr/>
        </p:nvSpPr>
        <p:spPr>
          <a:xfrm rot="0" flipH="0" flipV="0">
            <a:off x="638175" y="3648075"/>
            <a:ext cx="1381125" cy="342900"/>
          </a:xfrm>
          <a:custGeom>
            <a:pathLst>
              <a:path w="145" h="36">
                <a:moveTo>
                  <a:pt x="3" y="36"/>
                </a:moveTo>
                <a:cubicBezTo>
                  <a:pt x="1" y="36"/>
                  <a:pt x="0" y="35"/>
                  <a:pt x="0" y="33"/>
                </a:cubicBezTo>
                <a:lnTo>
                  <a:pt x="0" y="3"/>
                </a:lnTo>
                <a:cubicBezTo>
                  <a:pt x="0" y="1"/>
                  <a:pt x="1" y="0"/>
                  <a:pt x="3" y="0"/>
                </a:cubicBezTo>
                <a:lnTo>
                  <a:pt x="3" y="36"/>
                </a:lnTo>
                <a:close/>
              </a:path>
            </a:pathLst>
          </a:custGeom>
          <a:solidFill>
            <a:srgbClr val="C43A17"/>
          </a:solidFill>
          <a:ln/>
        </p:spPr>
        <p:txBody>
          <a:bodyPr/>
          <a:p/>
        </p:txBody>
      </p:sp>
      <p:sp>
        <p:nvSpPr>
          <p:cNvPr id="2511" name="" descr="{&quot;isTemplate&quot;:true,&quot;type&quot;:&quot;text&quot;}"/>
          <p:cNvSpPr txBox="1"/>
          <p:nvPr/>
        </p:nvSpPr>
        <p:spPr>
          <a:xfrm rot="0" flipH="0" flipV="0">
            <a:off x="733425" y="3752850"/>
            <a:ext cx="800100" cy="142875"/>
          </a:xfrm>
          <a:prstGeom prst="rect"/>
        </p:spPr>
        <p:txBody>
          <a:bodyPr wrap="none" lIns="0" tIns="0" rIns="0" bIns="0"/>
          <a:p>
            <a:pPr>
              <a:lnSpc>
                <a:spcPct val="100000"/>
              </a:lnSpc>
            </a:pPr>
            <a:r>
              <a:rPr lang="zh-CN" sz="900" b="1">
                <a:solidFill>
                  <a:srgbClr val="0F1423"/>
                </a:solidFill>
                <a:latin typeface="Microsoft YaHei"/>
                <a:ea typeface="Microsoft YaHei"/>
              </a:rPr>
              <a:t>能源运营技术部</a:t>
            </a:r>
            <a:endParaRPr/>
          </a:p>
        </p:txBody>
      </p:sp>
      <p:sp>
        <p:nvSpPr>
          <p:cNvPr id="2512" name=""/>
          <p:cNvSpPr/>
          <p:nvPr/>
        </p:nvSpPr>
        <p:spPr>
          <a:xfrm rot="0" flipH="0" flipV="0">
            <a:off x="2238375" y="3733800"/>
            <a:ext cx="238125" cy="171450"/>
          </a:xfrm>
          <a:prstGeom prst="roundRect">
            <a:avLst>
              <a:gd name="adj" fmla="val 11111"/>
            </a:avLst>
          </a:prstGeom>
          <a:solidFill>
            <a:srgbClr val="C43A17"/>
          </a:solidFill>
          <a:ln/>
        </p:spPr>
        <p:txBody>
          <a:bodyPr/>
          <a:p/>
        </p:txBody>
      </p:sp>
      <p:sp>
        <p:nvSpPr>
          <p:cNvPr id="2513" name="" descr="{&quot;isTemplate&quot;:true,&quot;type&quot;:&quot;text&quot;}"/>
          <p:cNvSpPr txBox="1"/>
          <p:nvPr/>
        </p:nvSpPr>
        <p:spPr>
          <a:xfrm rot="0" flipH="0" flipV="0">
            <a:off x="2286000" y="3762375"/>
            <a:ext cx="142875" cy="114300"/>
          </a:xfrm>
          <a:prstGeom prst="rect"/>
        </p:spPr>
        <p:txBody>
          <a:bodyPr wrap="none" lIns="0" tIns="0" rIns="0" bIns="0"/>
          <a:p>
            <a:pPr>
              <a:lnSpc>
                <a:spcPct val="100000"/>
              </a:lnSpc>
            </a:pPr>
            <a:r>
              <a:rPr lang="en-US" sz="750" b="1">
                <a:solidFill>
                  <a:srgbClr val="FFFFFF"/>
                </a:solidFill>
                <a:latin typeface="Microsoft YaHei"/>
                <a:ea typeface="Microsoft YaHei"/>
              </a:rPr>
              <a:t>BA</a:t>
            </a:r>
            <a:endParaRPr/>
          </a:p>
        </p:txBody>
      </p:sp>
      <p:sp>
        <p:nvSpPr>
          <p:cNvPr id="2514" name=""/>
          <p:cNvSpPr/>
          <p:nvPr/>
        </p:nvSpPr>
        <p:spPr>
          <a:xfrm rot="0" flipH="0" flipV="0">
            <a:off x="2686050" y="3648075"/>
            <a:ext cx="3409950" cy="342900"/>
          </a:xfrm>
          <a:prstGeom prst="roundRect">
            <a:avLst>
              <a:gd name="adj" fmla="val 8333"/>
            </a:avLst>
          </a:prstGeom>
          <a:solidFill>
            <a:srgbClr val="F7F7F8"/>
          </a:solidFill>
          <a:ln/>
        </p:spPr>
        <p:txBody>
          <a:bodyPr/>
          <a:p/>
        </p:txBody>
      </p:sp>
      <p:sp>
        <p:nvSpPr>
          <p:cNvPr id="2515" name="" descr="{&quot;isTemplate&quot;:true,&quot;type&quot;:&quot;text&quot;}"/>
          <p:cNvSpPr txBox="1"/>
          <p:nvPr/>
        </p:nvSpPr>
        <p:spPr>
          <a:xfrm rot="0" flipH="0" flipV="0">
            <a:off x="2781300" y="3733800"/>
            <a:ext cx="1095375" cy="171450"/>
          </a:xfrm>
          <a:prstGeom prst="rect"/>
        </p:spPr>
        <p:txBody>
          <a:bodyPr wrap="none" lIns="0" tIns="0" rIns="0" bIns="0"/>
          <a:p>
            <a:pPr>
              <a:lnSpc>
                <a:spcPct val="130000"/>
              </a:lnSpc>
            </a:pPr>
            <a:r>
              <a:rPr lang="en-US" sz="825">
                <a:solidFill>
                  <a:srgbClr val="5A6070"/>
                </a:solidFill>
                <a:latin typeface="Microsoft YaHei"/>
                <a:ea typeface="Microsoft YaHei"/>
              </a:rPr>
              <a:t xml:space="preserve">E3 </a:t>
            </a:r>
            <a:r>
              <a:rPr lang="zh-CN" sz="825">
                <a:solidFill>
                  <a:srgbClr val="5A6070"/>
                </a:solidFill>
                <a:latin typeface="Microsoft YaHei"/>
                <a:ea typeface="Microsoft YaHei"/>
              </a:rPr>
              <a:t>运营运维（含资产）</a:t>
            </a:r>
            <a:endParaRPr/>
          </a:p>
        </p:txBody>
      </p:sp>
      <p:sp>
        <p:nvSpPr>
          <p:cNvPr id="2516" name=""/>
          <p:cNvSpPr/>
          <p:nvPr/>
        </p:nvSpPr>
        <p:spPr>
          <a:xfrm rot="0" flipH="0" flipV="0">
            <a:off x="6134100" y="3648075"/>
            <a:ext cx="5448300" cy="342900"/>
          </a:xfrm>
          <a:prstGeom prst="roundRect">
            <a:avLst>
              <a:gd name="adj" fmla="val 8333"/>
            </a:avLst>
          </a:prstGeom>
          <a:solidFill>
            <a:srgbClr val="FFF3EE"/>
          </a:solidFill>
          <a:ln/>
        </p:spPr>
        <p:txBody>
          <a:bodyPr/>
          <a:p/>
        </p:txBody>
      </p:sp>
      <p:sp>
        <p:nvSpPr>
          <p:cNvPr id="2517" name="" descr="{&quot;isTemplate&quot;:true,&quot;type&quot;:&quot;text&quot;}"/>
          <p:cNvSpPr txBox="1"/>
          <p:nvPr/>
        </p:nvSpPr>
        <p:spPr>
          <a:xfrm rot="0" flipH="0" flipV="0">
            <a:off x="6238875" y="3733800"/>
            <a:ext cx="3181350" cy="171450"/>
          </a:xfrm>
          <a:prstGeom prst="rect"/>
        </p:spPr>
        <p:txBody>
          <a:bodyPr wrap="none" lIns="0" tIns="0" rIns="0" bIns="0"/>
          <a:p>
            <a:pPr>
              <a:lnSpc>
                <a:spcPct val="130000"/>
              </a:lnSpc>
            </a:pPr>
            <a:r>
              <a:rPr lang="zh-CN" sz="863">
                <a:solidFill>
                  <a:srgbClr val="0F1423"/>
                </a:solidFill>
                <a:latin typeface="Microsoft YaHei"/>
                <a:ea typeface="Microsoft YaHei"/>
              </a:rPr>
              <a:t>一次检修从计划到闭环要几个系统？资产口径和财务口径一致吗？</a:t>
            </a:r>
            <a:endParaRPr/>
          </a:p>
        </p:txBody>
      </p:sp>
      <p:sp>
        <p:nvSpPr>
          <p:cNvPr id="2518" name=""/>
          <p:cNvSpPr/>
          <p:nvPr/>
        </p:nvSpPr>
        <p:spPr>
          <a:xfrm rot="0" flipH="0" flipV="0">
            <a:off x="638175" y="4057650"/>
            <a:ext cx="1381125" cy="352425"/>
          </a:xfrm>
          <a:prstGeom prst="roundRect">
            <a:avLst>
              <a:gd name="adj" fmla="val 8108"/>
            </a:avLst>
          </a:prstGeom>
          <a:solidFill>
            <a:srgbClr val="F7F7F8"/>
          </a:solidFill>
          <a:ln/>
        </p:spPr>
        <p:txBody>
          <a:bodyPr/>
          <a:p/>
        </p:txBody>
      </p:sp>
      <p:sp>
        <p:nvSpPr>
          <p:cNvPr id="2519" name=""/>
          <p:cNvSpPr/>
          <p:nvPr/>
        </p:nvSpPr>
        <p:spPr>
          <a:xfrm rot="0" flipH="0" flipV="0">
            <a:off x="638175" y="4057650"/>
            <a:ext cx="1381125" cy="352425"/>
          </a:xfrm>
          <a:custGeom>
            <a:pathLst>
              <a:path w="145" h="37">
                <a:moveTo>
                  <a:pt x="3" y="37"/>
                </a:moveTo>
                <a:cubicBezTo>
                  <a:pt x="1" y="37"/>
                  <a:pt x="0" y="36"/>
                  <a:pt x="0" y="34"/>
                </a:cubicBezTo>
                <a:lnTo>
                  <a:pt x="0" y="3"/>
                </a:lnTo>
                <a:cubicBezTo>
                  <a:pt x="0" y="1"/>
                  <a:pt x="1" y="0"/>
                  <a:pt x="3" y="0"/>
                </a:cubicBezTo>
                <a:lnTo>
                  <a:pt x="3" y="37"/>
                </a:lnTo>
                <a:close/>
              </a:path>
            </a:pathLst>
          </a:custGeom>
          <a:solidFill>
            <a:srgbClr val="9E3410"/>
          </a:solidFill>
          <a:ln/>
        </p:spPr>
        <p:txBody>
          <a:bodyPr/>
          <a:p/>
        </p:txBody>
      </p:sp>
      <p:sp>
        <p:nvSpPr>
          <p:cNvPr id="2520" name="" descr="{&quot;isTemplate&quot;:true,&quot;type&quot;:&quot;text&quot;}"/>
          <p:cNvSpPr txBox="1"/>
          <p:nvPr/>
        </p:nvSpPr>
        <p:spPr>
          <a:xfrm rot="0" flipH="0" flipV="0">
            <a:off x="733425" y="4162425"/>
            <a:ext cx="457200" cy="142875"/>
          </a:xfrm>
          <a:prstGeom prst="rect"/>
        </p:spPr>
        <p:txBody>
          <a:bodyPr wrap="none" lIns="0" tIns="0" rIns="0" bIns="0"/>
          <a:p>
            <a:pPr>
              <a:lnSpc>
                <a:spcPct val="100000"/>
              </a:lnSpc>
            </a:pPr>
            <a:r>
              <a:rPr lang="zh-CN" sz="900" b="1">
                <a:solidFill>
                  <a:srgbClr val="0F1423"/>
                </a:solidFill>
                <a:latin typeface="Microsoft YaHei"/>
                <a:ea typeface="Microsoft YaHei"/>
              </a:rPr>
              <a:t>投融资部</a:t>
            </a:r>
            <a:endParaRPr/>
          </a:p>
        </p:txBody>
      </p:sp>
      <p:sp>
        <p:nvSpPr>
          <p:cNvPr id="2521" name=""/>
          <p:cNvSpPr/>
          <p:nvPr/>
        </p:nvSpPr>
        <p:spPr>
          <a:xfrm rot="0" flipH="0" flipV="0">
            <a:off x="2124075" y="4152900"/>
            <a:ext cx="457200" cy="171450"/>
          </a:xfrm>
          <a:prstGeom prst="roundRect">
            <a:avLst>
              <a:gd name="adj" fmla="val 11111"/>
            </a:avLst>
          </a:prstGeom>
          <a:solidFill>
            <a:srgbClr val="9E3410"/>
          </a:solidFill>
          <a:ln/>
        </p:spPr>
        <p:txBody>
          <a:bodyPr/>
          <a:p/>
        </p:txBody>
      </p:sp>
      <p:sp>
        <p:nvSpPr>
          <p:cNvPr id="2522" name="" descr="{&quot;isTemplate&quot;:true,&quot;type&quot;:&quot;text&quot;}"/>
          <p:cNvSpPr txBox="1"/>
          <p:nvPr/>
        </p:nvSpPr>
        <p:spPr>
          <a:xfrm rot="0" flipH="0" flipV="0">
            <a:off x="2171700" y="4181475"/>
            <a:ext cx="361950" cy="114300"/>
          </a:xfrm>
          <a:prstGeom prst="rect"/>
        </p:spPr>
        <p:txBody>
          <a:bodyPr wrap="none" lIns="0" tIns="0" rIns="0" bIns="0"/>
          <a:p>
            <a:pPr>
              <a:lnSpc>
                <a:spcPct val="100000"/>
              </a:lnSpc>
            </a:pPr>
            <a:r>
              <a:rPr lang="en-US" sz="750" b="1">
                <a:solidFill>
                  <a:srgbClr val="FFFFFF"/>
                </a:solidFill>
                <a:latin typeface="Microsoft YaHei"/>
                <a:ea typeface="Microsoft YaHei"/>
              </a:rPr>
              <a:t>BA+DA</a:t>
            </a:r>
            <a:endParaRPr/>
          </a:p>
        </p:txBody>
      </p:sp>
      <p:sp>
        <p:nvSpPr>
          <p:cNvPr id="2523" name=""/>
          <p:cNvSpPr/>
          <p:nvPr/>
        </p:nvSpPr>
        <p:spPr>
          <a:xfrm rot="0" flipH="0" flipV="0">
            <a:off x="2686050" y="4057650"/>
            <a:ext cx="3409950" cy="352425"/>
          </a:xfrm>
          <a:prstGeom prst="roundRect">
            <a:avLst>
              <a:gd name="adj" fmla="val 8108"/>
            </a:avLst>
          </a:prstGeom>
          <a:solidFill>
            <a:srgbClr val="F7F7F8"/>
          </a:solidFill>
          <a:ln/>
        </p:spPr>
        <p:txBody>
          <a:bodyPr/>
          <a:p/>
        </p:txBody>
      </p:sp>
      <p:sp>
        <p:nvSpPr>
          <p:cNvPr id="2524" name="" descr="{&quot;isTemplate&quot;:true,&quot;type&quot;:&quot;text&quot;}"/>
          <p:cNvSpPr txBox="1"/>
          <p:nvPr/>
        </p:nvSpPr>
        <p:spPr>
          <a:xfrm rot="0" flipH="0" flipV="0">
            <a:off x="2781300" y="4152900"/>
            <a:ext cx="523875" cy="171450"/>
          </a:xfrm>
          <a:prstGeom prst="rect"/>
        </p:spPr>
        <p:txBody>
          <a:bodyPr wrap="none" lIns="0" tIns="0" rIns="0" bIns="0"/>
          <a:p>
            <a:pPr>
              <a:lnSpc>
                <a:spcPct val="130000"/>
              </a:lnSpc>
            </a:pPr>
            <a:r>
              <a:rPr lang="en-US" sz="825">
                <a:solidFill>
                  <a:srgbClr val="5A6070"/>
                </a:solidFill>
                <a:latin typeface="Microsoft YaHei"/>
                <a:ea typeface="Microsoft YaHei"/>
              </a:rPr>
              <a:t xml:space="preserve">E1/E5 </a:t>
            </a:r>
            <a:r>
              <a:rPr lang="zh-CN" sz="825">
                <a:solidFill>
                  <a:srgbClr val="5A6070"/>
                </a:solidFill>
                <a:latin typeface="Microsoft YaHei"/>
                <a:ea typeface="Microsoft YaHei"/>
              </a:rPr>
              <a:t>四算</a:t>
            </a:r>
            <a:endParaRPr/>
          </a:p>
        </p:txBody>
      </p:sp>
      <p:sp>
        <p:nvSpPr>
          <p:cNvPr id="2525" name=""/>
          <p:cNvSpPr/>
          <p:nvPr/>
        </p:nvSpPr>
        <p:spPr>
          <a:xfrm rot="0" flipH="0" flipV="0">
            <a:off x="6134100" y="4057650"/>
            <a:ext cx="5448300" cy="352425"/>
          </a:xfrm>
          <a:prstGeom prst="roundRect">
            <a:avLst>
              <a:gd name="adj" fmla="val 8108"/>
            </a:avLst>
          </a:prstGeom>
          <a:solidFill>
            <a:srgbClr val="FFF3EE"/>
          </a:solidFill>
          <a:ln/>
        </p:spPr>
        <p:txBody>
          <a:bodyPr/>
          <a:p/>
        </p:txBody>
      </p:sp>
      <p:sp>
        <p:nvSpPr>
          <p:cNvPr id="2526" name="" descr="{&quot;isTemplate&quot;:true,&quot;type&quot;:&quot;text&quot;}"/>
          <p:cNvSpPr txBox="1"/>
          <p:nvPr/>
        </p:nvSpPr>
        <p:spPr>
          <a:xfrm rot="0" flipH="0" flipV="0">
            <a:off x="6238875" y="4152900"/>
            <a:ext cx="2628900" cy="171450"/>
          </a:xfrm>
          <a:prstGeom prst="rect"/>
        </p:spPr>
        <p:txBody>
          <a:bodyPr wrap="none" lIns="0" tIns="0" rIns="0" bIns="0"/>
          <a:p>
            <a:pPr>
              <a:lnSpc>
                <a:spcPct val="130000"/>
              </a:lnSpc>
            </a:pPr>
            <a:r>
              <a:rPr lang="zh-CN" sz="863">
                <a:solidFill>
                  <a:srgbClr val="0F1423"/>
                </a:solidFill>
                <a:latin typeface="Microsoft YaHei"/>
                <a:ea typeface="Microsoft YaHei"/>
              </a:rPr>
              <a:t>可研测算用的历史数据从哪取？口径和财务对得上吗？</a:t>
            </a:r>
            <a:endParaRPr/>
          </a:p>
        </p:txBody>
      </p:sp>
      <p:sp>
        <p:nvSpPr>
          <p:cNvPr id="2527" name=""/>
          <p:cNvSpPr/>
          <p:nvPr/>
        </p:nvSpPr>
        <p:spPr>
          <a:xfrm rot="0" flipH="0" flipV="0">
            <a:off x="638175" y="4476750"/>
            <a:ext cx="1381125" cy="352425"/>
          </a:xfrm>
          <a:prstGeom prst="roundRect">
            <a:avLst>
              <a:gd name="adj" fmla="val 8108"/>
            </a:avLst>
          </a:prstGeom>
          <a:solidFill>
            <a:srgbClr val="F7F7F8"/>
          </a:solidFill>
          <a:ln/>
        </p:spPr>
        <p:txBody>
          <a:bodyPr/>
          <a:p/>
        </p:txBody>
      </p:sp>
      <p:sp>
        <p:nvSpPr>
          <p:cNvPr id="2528" name=""/>
          <p:cNvSpPr/>
          <p:nvPr/>
        </p:nvSpPr>
        <p:spPr>
          <a:xfrm rot="0" flipH="0" flipV="0">
            <a:off x="638175" y="4476750"/>
            <a:ext cx="1381125" cy="352425"/>
          </a:xfrm>
          <a:custGeom>
            <a:pathLst>
              <a:path w="145" h="37">
                <a:moveTo>
                  <a:pt x="3" y="37"/>
                </a:moveTo>
                <a:cubicBezTo>
                  <a:pt x="1" y="37"/>
                  <a:pt x="0" y="36"/>
                  <a:pt x="0" y="34"/>
                </a:cubicBezTo>
                <a:lnTo>
                  <a:pt x="0" y="3"/>
                </a:lnTo>
                <a:cubicBezTo>
                  <a:pt x="0" y="1"/>
                  <a:pt x="1" y="0"/>
                  <a:pt x="3" y="0"/>
                </a:cubicBezTo>
                <a:lnTo>
                  <a:pt x="3" y="37"/>
                </a:lnTo>
                <a:close/>
              </a:path>
            </a:pathLst>
          </a:custGeom>
          <a:solidFill>
            <a:srgbClr val="3A4050"/>
          </a:solidFill>
          <a:ln/>
        </p:spPr>
        <p:txBody>
          <a:bodyPr/>
          <a:p/>
        </p:txBody>
      </p:sp>
      <p:sp>
        <p:nvSpPr>
          <p:cNvPr id="2529" name="" descr="{&quot;isTemplate&quot;:true,&quot;type&quot;:&quot;text&quot;}"/>
          <p:cNvSpPr txBox="1"/>
          <p:nvPr/>
        </p:nvSpPr>
        <p:spPr>
          <a:xfrm rot="0" flipH="0" flipV="0">
            <a:off x="733425" y="4581525"/>
            <a:ext cx="342900" cy="142875"/>
          </a:xfrm>
          <a:prstGeom prst="rect"/>
        </p:spPr>
        <p:txBody>
          <a:bodyPr wrap="none" lIns="0" tIns="0" rIns="0" bIns="0"/>
          <a:p>
            <a:pPr>
              <a:lnSpc>
                <a:spcPct val="100000"/>
              </a:lnSpc>
            </a:pPr>
            <a:r>
              <a:rPr lang="zh-CN" sz="900" b="1">
                <a:solidFill>
                  <a:srgbClr val="0F1423"/>
                </a:solidFill>
                <a:latin typeface="Microsoft YaHei"/>
                <a:ea typeface="Microsoft YaHei"/>
              </a:rPr>
              <a:t>财务部</a:t>
            </a:r>
            <a:endParaRPr/>
          </a:p>
        </p:txBody>
      </p:sp>
      <p:sp>
        <p:nvSpPr>
          <p:cNvPr id="2530" name=""/>
          <p:cNvSpPr/>
          <p:nvPr/>
        </p:nvSpPr>
        <p:spPr>
          <a:xfrm rot="0" flipH="0" flipV="0">
            <a:off x="2228850" y="4572000"/>
            <a:ext cx="247650" cy="171450"/>
          </a:xfrm>
          <a:prstGeom prst="roundRect">
            <a:avLst>
              <a:gd name="adj" fmla="val 11111"/>
            </a:avLst>
          </a:prstGeom>
          <a:solidFill>
            <a:srgbClr val="3A4050"/>
          </a:solidFill>
          <a:ln/>
        </p:spPr>
        <p:txBody>
          <a:bodyPr/>
          <a:p/>
        </p:txBody>
      </p:sp>
      <p:sp>
        <p:nvSpPr>
          <p:cNvPr id="2531" name="" descr="{&quot;isTemplate&quot;:true,&quot;type&quot;:&quot;text&quot;}"/>
          <p:cNvSpPr txBox="1"/>
          <p:nvPr/>
        </p:nvSpPr>
        <p:spPr>
          <a:xfrm rot="0" flipH="0" flipV="0">
            <a:off x="2276475" y="4600575"/>
            <a:ext cx="152400" cy="114300"/>
          </a:xfrm>
          <a:prstGeom prst="rect"/>
        </p:spPr>
        <p:txBody>
          <a:bodyPr wrap="none" lIns="0" tIns="0" rIns="0" bIns="0"/>
          <a:p>
            <a:pPr>
              <a:lnSpc>
                <a:spcPct val="100000"/>
              </a:lnSpc>
            </a:pPr>
            <a:r>
              <a:rPr lang="en-US" sz="750" b="1">
                <a:solidFill>
                  <a:srgbClr val="FFFFFF"/>
                </a:solidFill>
                <a:latin typeface="Microsoft YaHei"/>
                <a:ea typeface="Microsoft YaHei"/>
              </a:rPr>
              <a:t>DA</a:t>
            </a:r>
            <a:endParaRPr/>
          </a:p>
        </p:txBody>
      </p:sp>
      <p:sp>
        <p:nvSpPr>
          <p:cNvPr id="2532" name=""/>
          <p:cNvSpPr/>
          <p:nvPr/>
        </p:nvSpPr>
        <p:spPr>
          <a:xfrm rot="0" flipH="0" flipV="0">
            <a:off x="2686050" y="4476750"/>
            <a:ext cx="3409950" cy="352425"/>
          </a:xfrm>
          <a:prstGeom prst="roundRect">
            <a:avLst>
              <a:gd name="adj" fmla="val 8108"/>
            </a:avLst>
          </a:prstGeom>
          <a:solidFill>
            <a:srgbClr val="F7F7F8"/>
          </a:solidFill>
          <a:ln/>
        </p:spPr>
        <p:txBody>
          <a:bodyPr/>
          <a:p/>
        </p:txBody>
      </p:sp>
      <p:sp>
        <p:nvSpPr>
          <p:cNvPr id="2533" name="" descr="{&quot;isTemplate&quot;:true,&quot;type&quot;:&quot;text&quot;}"/>
          <p:cNvSpPr txBox="1"/>
          <p:nvPr/>
        </p:nvSpPr>
        <p:spPr>
          <a:xfrm rot="0" flipH="0" flipV="0">
            <a:off x="2781300" y="4572000"/>
            <a:ext cx="676275" cy="171450"/>
          </a:xfrm>
          <a:prstGeom prst="rect"/>
        </p:spPr>
        <p:txBody>
          <a:bodyPr wrap="none" lIns="0" tIns="0" rIns="0" bIns="0"/>
          <a:p>
            <a:pPr>
              <a:lnSpc>
                <a:spcPct val="130000"/>
              </a:lnSpc>
            </a:pPr>
            <a:r>
              <a:rPr lang="en-US" sz="825">
                <a:solidFill>
                  <a:srgbClr val="5A6070"/>
                </a:solidFill>
                <a:latin typeface="Microsoft YaHei"/>
                <a:ea typeface="Microsoft YaHei"/>
              </a:rPr>
              <a:t xml:space="preserve">E5 </a:t>
            </a:r>
            <a:r>
              <a:rPr lang="zh-CN" sz="825">
                <a:solidFill>
                  <a:srgbClr val="5A6070"/>
                </a:solidFill>
                <a:latin typeface="Microsoft YaHei"/>
                <a:ea typeface="Microsoft YaHei"/>
              </a:rPr>
              <a:t>四算</a:t>
            </a:r>
            <a:r>
              <a:rPr lang="en-US" sz="825">
                <a:solidFill>
                  <a:srgbClr val="5A6070"/>
                </a:solidFill>
                <a:latin typeface="Microsoft YaHei"/>
                <a:ea typeface="Microsoft YaHei"/>
              </a:rPr>
              <a:t xml:space="preserve"> / </a:t>
            </a:r>
            <a:r>
              <a:rPr lang="zh-CN" sz="825">
                <a:solidFill>
                  <a:srgbClr val="5A6070"/>
                </a:solidFill>
                <a:latin typeface="Microsoft YaHei"/>
                <a:ea typeface="Microsoft YaHei"/>
              </a:rPr>
              <a:t>指标</a:t>
            </a:r>
            <a:endParaRPr/>
          </a:p>
        </p:txBody>
      </p:sp>
      <p:sp>
        <p:nvSpPr>
          <p:cNvPr id="2534" name=""/>
          <p:cNvSpPr/>
          <p:nvPr/>
        </p:nvSpPr>
        <p:spPr>
          <a:xfrm rot="0" flipH="0" flipV="0">
            <a:off x="6134100" y="4476750"/>
            <a:ext cx="5448300" cy="352425"/>
          </a:xfrm>
          <a:prstGeom prst="roundRect">
            <a:avLst>
              <a:gd name="adj" fmla="val 8108"/>
            </a:avLst>
          </a:prstGeom>
          <a:solidFill>
            <a:srgbClr val="FFF3EE"/>
          </a:solidFill>
          <a:ln/>
        </p:spPr>
        <p:txBody>
          <a:bodyPr/>
          <a:p/>
        </p:txBody>
      </p:sp>
      <p:sp>
        <p:nvSpPr>
          <p:cNvPr id="2535" name="" descr="{&quot;isTemplate&quot;:true,&quot;type&quot;:&quot;text&quot;}"/>
          <p:cNvSpPr txBox="1"/>
          <p:nvPr/>
        </p:nvSpPr>
        <p:spPr>
          <a:xfrm rot="0" flipH="0" flipV="0">
            <a:off x="6238875" y="4572000"/>
            <a:ext cx="2190750" cy="171450"/>
          </a:xfrm>
          <a:prstGeom prst="rect"/>
        </p:spPr>
        <p:txBody>
          <a:bodyPr wrap="none" lIns="0" tIns="0" rIns="0" bIns="0"/>
          <a:p>
            <a:pPr>
              <a:lnSpc>
                <a:spcPct val="130000"/>
              </a:lnSpc>
            </a:pPr>
            <a:r>
              <a:rPr lang="zh-CN" sz="863">
                <a:solidFill>
                  <a:srgbClr val="0F1423"/>
                </a:solidFill>
                <a:latin typeface="Microsoft YaHei"/>
                <a:ea typeface="Microsoft YaHei"/>
              </a:rPr>
              <a:t>一个数字要出三个版本时，谁是最终裁定人？</a:t>
            </a:r>
            <a:endParaRPr/>
          </a:p>
        </p:txBody>
      </p:sp>
      <p:sp>
        <p:nvSpPr>
          <p:cNvPr id="2536" name=""/>
          <p:cNvSpPr/>
          <p:nvPr/>
        </p:nvSpPr>
        <p:spPr>
          <a:xfrm rot="0" flipH="0" flipV="0">
            <a:off x="638175" y="4895850"/>
            <a:ext cx="1381125" cy="342900"/>
          </a:xfrm>
          <a:prstGeom prst="roundRect">
            <a:avLst>
              <a:gd name="adj" fmla="val 8333"/>
            </a:avLst>
          </a:prstGeom>
          <a:solidFill>
            <a:srgbClr val="F7F7F8"/>
          </a:solidFill>
          <a:ln/>
        </p:spPr>
        <p:txBody>
          <a:bodyPr/>
          <a:p/>
        </p:txBody>
      </p:sp>
      <p:sp>
        <p:nvSpPr>
          <p:cNvPr id="2537" name=""/>
          <p:cNvSpPr/>
          <p:nvPr/>
        </p:nvSpPr>
        <p:spPr>
          <a:xfrm rot="0" flipH="0" flipV="0">
            <a:off x="638175" y="4895850"/>
            <a:ext cx="1381125" cy="342900"/>
          </a:xfrm>
          <a:custGeom>
            <a:pathLst>
              <a:path w="145" h="36">
                <a:moveTo>
                  <a:pt x="3" y="36"/>
                </a:moveTo>
                <a:cubicBezTo>
                  <a:pt x="1" y="36"/>
                  <a:pt x="0" y="35"/>
                  <a:pt x="0" y="33"/>
                </a:cubicBezTo>
                <a:lnTo>
                  <a:pt x="0" y="3"/>
                </a:lnTo>
                <a:cubicBezTo>
                  <a:pt x="0" y="1"/>
                  <a:pt x="1" y="0"/>
                  <a:pt x="3" y="0"/>
                </a:cubicBezTo>
                <a:lnTo>
                  <a:pt x="3" y="36"/>
                </a:lnTo>
                <a:close/>
              </a:path>
            </a:pathLst>
          </a:custGeom>
          <a:solidFill>
            <a:srgbClr val="5A6070"/>
          </a:solidFill>
          <a:ln/>
        </p:spPr>
        <p:txBody>
          <a:bodyPr/>
          <a:p/>
        </p:txBody>
      </p:sp>
      <p:sp>
        <p:nvSpPr>
          <p:cNvPr id="2538" name="" descr="{&quot;isTemplate&quot;:true,&quot;type&quot;:&quot;text&quot;}"/>
          <p:cNvSpPr txBox="1"/>
          <p:nvPr/>
        </p:nvSpPr>
        <p:spPr>
          <a:xfrm rot="0" flipH="0" flipV="0">
            <a:off x="733425" y="5000625"/>
            <a:ext cx="571500" cy="142875"/>
          </a:xfrm>
          <a:prstGeom prst="rect"/>
        </p:spPr>
        <p:txBody>
          <a:bodyPr wrap="none" lIns="0" tIns="0" rIns="0" bIns="0"/>
          <a:p>
            <a:pPr>
              <a:lnSpc>
                <a:spcPct val="100000"/>
              </a:lnSpc>
            </a:pPr>
            <a:r>
              <a:rPr lang="zh-CN" sz="900" b="1">
                <a:solidFill>
                  <a:srgbClr val="0F1423"/>
                </a:solidFill>
                <a:latin typeface="Microsoft YaHei"/>
                <a:ea typeface="Microsoft YaHei"/>
              </a:rPr>
              <a:t>金融资产部</a:t>
            </a:r>
            <a:endParaRPr/>
          </a:p>
        </p:txBody>
      </p:sp>
      <p:sp>
        <p:nvSpPr>
          <p:cNvPr id="2539" name=""/>
          <p:cNvSpPr/>
          <p:nvPr/>
        </p:nvSpPr>
        <p:spPr>
          <a:xfrm rot="0" flipH="0" flipV="0">
            <a:off x="2228850" y="4981575"/>
            <a:ext cx="247650" cy="171450"/>
          </a:xfrm>
          <a:prstGeom prst="roundRect">
            <a:avLst>
              <a:gd name="adj" fmla="val 11111"/>
            </a:avLst>
          </a:prstGeom>
          <a:solidFill>
            <a:srgbClr val="5A6070"/>
          </a:solidFill>
          <a:ln/>
        </p:spPr>
        <p:txBody>
          <a:bodyPr/>
          <a:p/>
        </p:txBody>
      </p:sp>
      <p:sp>
        <p:nvSpPr>
          <p:cNvPr id="2540" name="" descr="{&quot;isTemplate&quot;:true,&quot;type&quot;:&quot;text&quot;}"/>
          <p:cNvSpPr txBox="1"/>
          <p:nvPr/>
        </p:nvSpPr>
        <p:spPr>
          <a:xfrm rot="0" flipH="0" flipV="0">
            <a:off x="2276475" y="5010150"/>
            <a:ext cx="152400" cy="114300"/>
          </a:xfrm>
          <a:prstGeom prst="rect"/>
        </p:spPr>
        <p:txBody>
          <a:bodyPr wrap="none" lIns="0" tIns="0" rIns="0" bIns="0"/>
          <a:p>
            <a:pPr>
              <a:lnSpc>
                <a:spcPct val="100000"/>
              </a:lnSpc>
            </a:pPr>
            <a:r>
              <a:rPr lang="en-US" sz="750" b="1">
                <a:solidFill>
                  <a:srgbClr val="FFFFFF"/>
                </a:solidFill>
                <a:latin typeface="Microsoft YaHei"/>
                <a:ea typeface="Microsoft YaHei"/>
              </a:rPr>
              <a:t>DA</a:t>
            </a:r>
            <a:endParaRPr/>
          </a:p>
        </p:txBody>
      </p:sp>
      <p:sp>
        <p:nvSpPr>
          <p:cNvPr id="2541" name=""/>
          <p:cNvSpPr/>
          <p:nvPr/>
        </p:nvSpPr>
        <p:spPr>
          <a:xfrm rot="0" flipH="0" flipV="0">
            <a:off x="2686050" y="4895850"/>
            <a:ext cx="3409950" cy="342900"/>
          </a:xfrm>
          <a:prstGeom prst="roundRect">
            <a:avLst>
              <a:gd name="adj" fmla="val 8333"/>
            </a:avLst>
          </a:prstGeom>
          <a:solidFill>
            <a:srgbClr val="F7F7F8"/>
          </a:solidFill>
          <a:ln/>
        </p:spPr>
        <p:txBody>
          <a:bodyPr/>
          <a:p/>
        </p:txBody>
      </p:sp>
      <p:sp>
        <p:nvSpPr>
          <p:cNvPr id="2542" name="" descr="{&quot;isTemplate&quot;:true,&quot;type&quot;:&quot;text&quot;}"/>
          <p:cNvSpPr txBox="1"/>
          <p:nvPr/>
        </p:nvSpPr>
        <p:spPr>
          <a:xfrm rot="0" flipH="0" flipV="0">
            <a:off x="2781300" y="4981575"/>
            <a:ext cx="571500" cy="171450"/>
          </a:xfrm>
          <a:prstGeom prst="rect"/>
        </p:spPr>
        <p:txBody>
          <a:bodyPr wrap="none" lIns="0" tIns="0" rIns="0" bIns="0"/>
          <a:p>
            <a:pPr>
              <a:lnSpc>
                <a:spcPct val="130000"/>
              </a:lnSpc>
            </a:pPr>
            <a:r>
              <a:rPr lang="en-US" sz="825">
                <a:solidFill>
                  <a:srgbClr val="5A6070"/>
                </a:solidFill>
                <a:latin typeface="Microsoft YaHei"/>
                <a:ea typeface="Microsoft YaHei"/>
              </a:rPr>
              <a:t xml:space="preserve">E3 </a:t>
            </a:r>
            <a:r>
              <a:rPr lang="zh-CN" sz="825">
                <a:solidFill>
                  <a:srgbClr val="5A6070"/>
                </a:solidFill>
                <a:latin typeface="Microsoft YaHei"/>
                <a:ea typeface="Microsoft YaHei"/>
              </a:rPr>
              <a:t>资产管理</a:t>
            </a:r>
            <a:endParaRPr/>
          </a:p>
        </p:txBody>
      </p:sp>
      <p:sp>
        <p:nvSpPr>
          <p:cNvPr id="2543" name=""/>
          <p:cNvSpPr/>
          <p:nvPr/>
        </p:nvSpPr>
        <p:spPr>
          <a:xfrm rot="0" flipH="0" flipV="0">
            <a:off x="6134100" y="4895850"/>
            <a:ext cx="5448300" cy="342900"/>
          </a:xfrm>
          <a:prstGeom prst="roundRect">
            <a:avLst>
              <a:gd name="adj" fmla="val 8333"/>
            </a:avLst>
          </a:prstGeom>
          <a:solidFill>
            <a:srgbClr val="FFF3EE"/>
          </a:solidFill>
          <a:ln/>
        </p:spPr>
        <p:txBody>
          <a:bodyPr/>
          <a:p/>
        </p:txBody>
      </p:sp>
      <p:sp>
        <p:nvSpPr>
          <p:cNvPr id="2544" name="" descr="{&quot;isTemplate&quot;:true,&quot;type&quot;:&quot;text&quot;}"/>
          <p:cNvSpPr txBox="1"/>
          <p:nvPr/>
        </p:nvSpPr>
        <p:spPr>
          <a:xfrm rot="0" flipH="0" flipV="0">
            <a:off x="6238875" y="4981575"/>
            <a:ext cx="2524125" cy="171450"/>
          </a:xfrm>
          <a:prstGeom prst="rect"/>
        </p:spPr>
        <p:txBody>
          <a:bodyPr wrap="none" lIns="0" tIns="0" rIns="0" bIns="0"/>
          <a:p>
            <a:pPr>
              <a:lnSpc>
                <a:spcPct val="130000"/>
              </a:lnSpc>
            </a:pPr>
            <a:r>
              <a:rPr lang="zh-CN" sz="863">
                <a:solidFill>
                  <a:srgbClr val="0F1423"/>
                </a:solidFill>
                <a:latin typeface="Microsoft YaHei"/>
                <a:ea typeface="Microsoft YaHei"/>
              </a:rPr>
              <a:t>资产台账的价值口径、折旧口径与运维口径差在哪？</a:t>
            </a:r>
            <a:endParaRPr/>
          </a:p>
        </p:txBody>
      </p:sp>
      <p:sp>
        <p:nvSpPr>
          <p:cNvPr id="2545" name=""/>
          <p:cNvSpPr/>
          <p:nvPr/>
        </p:nvSpPr>
        <p:spPr>
          <a:xfrm rot="0" flipH="0" flipV="0">
            <a:off x="638175" y="5305425"/>
            <a:ext cx="1381125" cy="352425"/>
          </a:xfrm>
          <a:prstGeom prst="roundRect">
            <a:avLst>
              <a:gd name="adj" fmla="val 8108"/>
            </a:avLst>
          </a:prstGeom>
          <a:solidFill>
            <a:srgbClr val="F7F7F8"/>
          </a:solidFill>
          <a:ln/>
        </p:spPr>
        <p:txBody>
          <a:bodyPr/>
          <a:p/>
        </p:txBody>
      </p:sp>
      <p:sp>
        <p:nvSpPr>
          <p:cNvPr id="2546" name=""/>
          <p:cNvSpPr/>
          <p:nvPr/>
        </p:nvSpPr>
        <p:spPr>
          <a:xfrm rot="0" flipH="0" flipV="0">
            <a:off x="638175" y="5305425"/>
            <a:ext cx="1381125" cy="352425"/>
          </a:xfrm>
          <a:custGeom>
            <a:pathLst>
              <a:path w="145" h="37">
                <a:moveTo>
                  <a:pt x="3" y="37"/>
                </a:moveTo>
                <a:cubicBezTo>
                  <a:pt x="1" y="37"/>
                  <a:pt x="0" y="36"/>
                  <a:pt x="0" y="34"/>
                </a:cubicBezTo>
                <a:lnTo>
                  <a:pt x="0" y="3"/>
                </a:lnTo>
                <a:cubicBezTo>
                  <a:pt x="0" y="1"/>
                  <a:pt x="1" y="0"/>
                  <a:pt x="3" y="0"/>
                </a:cubicBezTo>
                <a:lnTo>
                  <a:pt x="3" y="37"/>
                </a:lnTo>
                <a:close/>
              </a:path>
            </a:pathLst>
          </a:custGeom>
          <a:solidFill>
            <a:srgbClr val="3A4050"/>
          </a:solidFill>
          <a:ln/>
        </p:spPr>
        <p:txBody>
          <a:bodyPr/>
          <a:p/>
        </p:txBody>
      </p:sp>
      <p:sp>
        <p:nvSpPr>
          <p:cNvPr id="2547" name="" descr="{&quot;isTemplate&quot;:true,&quot;type&quot;:&quot;text&quot;}"/>
          <p:cNvSpPr txBox="1"/>
          <p:nvPr/>
        </p:nvSpPr>
        <p:spPr>
          <a:xfrm rot="0" flipH="0" flipV="0">
            <a:off x="733425" y="5410200"/>
            <a:ext cx="457200" cy="142875"/>
          </a:xfrm>
          <a:prstGeom prst="rect"/>
        </p:spPr>
        <p:txBody>
          <a:bodyPr wrap="none" lIns="0" tIns="0" rIns="0" bIns="0"/>
          <a:p>
            <a:pPr>
              <a:lnSpc>
                <a:spcPct val="100000"/>
              </a:lnSpc>
            </a:pPr>
            <a:r>
              <a:rPr lang="zh-CN" sz="900" b="1">
                <a:solidFill>
                  <a:srgbClr val="0F1423"/>
                </a:solidFill>
                <a:latin typeface="Microsoft YaHei"/>
                <a:ea typeface="Microsoft YaHei"/>
              </a:rPr>
              <a:t>制造中心</a:t>
            </a:r>
            <a:endParaRPr/>
          </a:p>
        </p:txBody>
      </p:sp>
      <p:sp>
        <p:nvSpPr>
          <p:cNvPr id="2548" name=""/>
          <p:cNvSpPr/>
          <p:nvPr/>
        </p:nvSpPr>
        <p:spPr>
          <a:xfrm rot="0" flipH="0" flipV="0">
            <a:off x="2124075" y="5400675"/>
            <a:ext cx="457200" cy="171450"/>
          </a:xfrm>
          <a:prstGeom prst="roundRect">
            <a:avLst>
              <a:gd name="adj" fmla="val 11111"/>
            </a:avLst>
          </a:prstGeom>
          <a:solidFill>
            <a:srgbClr val="3A4050"/>
          </a:solidFill>
          <a:ln/>
        </p:spPr>
        <p:txBody>
          <a:bodyPr/>
          <a:p/>
        </p:txBody>
      </p:sp>
      <p:sp>
        <p:nvSpPr>
          <p:cNvPr id="2549" name="" descr="{&quot;isTemplate&quot;:true,&quot;type&quot;:&quot;text&quot;}"/>
          <p:cNvSpPr txBox="1"/>
          <p:nvPr/>
        </p:nvSpPr>
        <p:spPr>
          <a:xfrm rot="0" flipH="0" flipV="0">
            <a:off x="2171700" y="5429250"/>
            <a:ext cx="361950" cy="114300"/>
          </a:xfrm>
          <a:prstGeom prst="rect"/>
        </p:spPr>
        <p:txBody>
          <a:bodyPr wrap="none" lIns="0" tIns="0" rIns="0" bIns="0"/>
          <a:p>
            <a:pPr>
              <a:lnSpc>
                <a:spcPct val="100000"/>
              </a:lnSpc>
            </a:pPr>
            <a:r>
              <a:rPr lang="en-US" sz="750" b="1">
                <a:solidFill>
                  <a:srgbClr val="FFFFFF"/>
                </a:solidFill>
                <a:latin typeface="Microsoft YaHei"/>
                <a:ea typeface="Microsoft YaHei"/>
              </a:rPr>
              <a:t>BA+DA</a:t>
            </a:r>
            <a:endParaRPr/>
          </a:p>
        </p:txBody>
      </p:sp>
      <p:sp>
        <p:nvSpPr>
          <p:cNvPr id="2550" name=""/>
          <p:cNvSpPr/>
          <p:nvPr/>
        </p:nvSpPr>
        <p:spPr>
          <a:xfrm rot="0" flipH="0" flipV="0">
            <a:off x="2686050" y="5305425"/>
            <a:ext cx="3409950" cy="352425"/>
          </a:xfrm>
          <a:prstGeom prst="roundRect">
            <a:avLst>
              <a:gd name="adj" fmla="val 8108"/>
            </a:avLst>
          </a:prstGeom>
          <a:solidFill>
            <a:srgbClr val="F7F7F8"/>
          </a:solidFill>
          <a:ln/>
        </p:spPr>
        <p:txBody>
          <a:bodyPr/>
          <a:p/>
        </p:txBody>
      </p:sp>
      <p:sp>
        <p:nvSpPr>
          <p:cNvPr id="2551" name="" descr="{&quot;isTemplate&quot;:true,&quot;type&quot;:&quot;text&quot;}"/>
          <p:cNvSpPr txBox="1"/>
          <p:nvPr/>
        </p:nvSpPr>
        <p:spPr>
          <a:xfrm rot="0" flipH="0" flipV="0">
            <a:off x="2781300" y="5400675"/>
            <a:ext cx="1047750" cy="171450"/>
          </a:xfrm>
          <a:prstGeom prst="rect"/>
        </p:spPr>
        <p:txBody>
          <a:bodyPr wrap="none" lIns="0" tIns="0" rIns="0" bIns="0"/>
          <a:p>
            <a:pPr>
              <a:lnSpc>
                <a:spcPct val="130000"/>
              </a:lnSpc>
            </a:pPr>
            <a:r>
              <a:rPr lang="en-US" sz="825">
                <a:solidFill>
                  <a:srgbClr val="5A6070"/>
                </a:solidFill>
                <a:latin typeface="Microsoft YaHei"/>
                <a:ea typeface="Microsoft YaHei"/>
              </a:rPr>
              <a:t xml:space="preserve">S1 </a:t>
            </a:r>
            <a:r>
              <a:rPr lang="zh-CN" sz="825">
                <a:solidFill>
                  <a:srgbClr val="5A6070"/>
                </a:solidFill>
                <a:latin typeface="Microsoft YaHei"/>
                <a:ea typeface="Microsoft YaHei"/>
              </a:rPr>
              <a:t>采购履行</a:t>
            </a:r>
            <a:r>
              <a:rPr lang="en-US" sz="825">
                <a:solidFill>
                  <a:srgbClr val="5A6070"/>
                </a:solidFill>
                <a:latin typeface="Microsoft YaHei"/>
                <a:ea typeface="Microsoft YaHei"/>
              </a:rPr>
              <a:t xml:space="preserve"> / S2 </a:t>
            </a:r>
            <a:r>
              <a:rPr lang="zh-CN" sz="825">
                <a:solidFill>
                  <a:srgbClr val="5A6070"/>
                </a:solidFill>
                <a:latin typeface="Microsoft YaHei"/>
                <a:ea typeface="Microsoft YaHei"/>
              </a:rPr>
              <a:t>转化</a:t>
            </a:r>
            <a:endParaRPr/>
          </a:p>
        </p:txBody>
      </p:sp>
      <p:sp>
        <p:nvSpPr>
          <p:cNvPr id="2552" name=""/>
          <p:cNvSpPr/>
          <p:nvPr/>
        </p:nvSpPr>
        <p:spPr>
          <a:xfrm rot="0" flipH="0" flipV="0">
            <a:off x="6134100" y="5305425"/>
            <a:ext cx="5448300" cy="352425"/>
          </a:xfrm>
          <a:prstGeom prst="roundRect">
            <a:avLst>
              <a:gd name="adj" fmla="val 8108"/>
            </a:avLst>
          </a:prstGeom>
          <a:solidFill>
            <a:srgbClr val="FFF3EE"/>
          </a:solidFill>
          <a:ln/>
        </p:spPr>
        <p:txBody>
          <a:bodyPr/>
          <a:p/>
        </p:txBody>
      </p:sp>
      <p:sp>
        <p:nvSpPr>
          <p:cNvPr id="2553" name="" descr="{&quot;isTemplate&quot;:true,&quot;type&quot;:&quot;text&quot;}"/>
          <p:cNvSpPr txBox="1"/>
          <p:nvPr/>
        </p:nvSpPr>
        <p:spPr>
          <a:xfrm rot="0" flipH="0" flipV="0">
            <a:off x="6238875" y="5400675"/>
            <a:ext cx="2305050" cy="171450"/>
          </a:xfrm>
          <a:prstGeom prst="rect"/>
        </p:spPr>
        <p:txBody>
          <a:bodyPr wrap="none" lIns="0" tIns="0" rIns="0" bIns="0"/>
          <a:p>
            <a:pPr>
              <a:lnSpc>
                <a:spcPct val="130000"/>
              </a:lnSpc>
            </a:pPr>
            <a:r>
              <a:rPr lang="zh-CN" sz="863">
                <a:solidFill>
                  <a:srgbClr val="0F1423"/>
                </a:solidFill>
                <a:latin typeface="Microsoft YaHei"/>
                <a:ea typeface="Microsoft YaHei"/>
              </a:rPr>
              <a:t>紧急采购怎么走？供应商准入谁卡？为什么卡？</a:t>
            </a:r>
            <a:endParaRPr/>
          </a:p>
        </p:txBody>
      </p:sp>
      <p:sp>
        <p:nvSpPr>
          <p:cNvPr id="2554" name=""/>
          <p:cNvSpPr/>
          <p:nvPr/>
        </p:nvSpPr>
        <p:spPr>
          <a:xfrm rot="0" flipH="0" flipV="0">
            <a:off x="609600" y="5943600"/>
            <a:ext cx="133350" cy="133350"/>
          </a:xfrm>
          <a:prstGeom prst="rect">
            <a:avLst/>
          </a:prstGeom>
          <a:solidFill>
            <a:srgbClr val="FA4F24"/>
          </a:solidFill>
          <a:ln/>
        </p:spPr>
        <p:txBody>
          <a:bodyPr/>
          <a:p/>
        </p:txBody>
      </p:sp>
      <p:sp>
        <p:nvSpPr>
          <p:cNvPr id="2555"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255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08 / 36</a:t>
            </a:r>
            <a:endParaRPr/>
          </a:p>
        </p:txBody>
      </p:sp>
    </p:spTree>
  </p:cSld>
</p:sld>
</file>

<file path=ppt/slides/slide9.xml><?xml version="1.0" encoding="utf-8"?>
<p:sld xmlns:p="http://schemas.openxmlformats.org/presentationml/2006/main" xmlns:a="http://schemas.openxmlformats.org/drawingml/2006/main">
  <p:cSld>
    <p:spTree>
      <p:nvGrpSpPr>
        <p:cNvPr id="2557" name="" descr="&lt;Slide style={{ width: 1280, height: 720, background: '#FFFFFF', padding: '24px 64px 0' }}&gt;&#10;    {/* A 区 */}&#10;    &lt;Box style={{ height: 96, flexDirection: 'column', justifyContent: 'flex-start' }}&gt;&#10;        &lt;Text style={{ fontSize: 32, fontWeight: 'bold', color: '#0F1423' }}&gt;&#10;            颗粒度阶梯：&lt;span style={{ color: '#FA4F24' }}&gt;从 L4 到 L6&lt;/span&gt; 的三级下探&#10;        &lt;/Text&gt;&#10;        &lt;Text style={{ fontSize: 19, color: '#8A8F99', marginTop: 7 }}&gt;&#10;            招标把颗粒度写进了合同，这页就是全册的硬约束——后面每一页的做法都受它管&#10;        &lt;/Text&gt;&#10;    &lt;/Box&gt;&#10;    &lt;Box style={{ height: 1, background: '#E8E8E8' }} /&gt;&#10;&#10;    {/* B 区 */}&#10;    &lt;Box style={{ paddingTop: 10, paddingBottom: 6, height: 479, flexDirection: 'column', gap: 8 }}&gt;&#10;&#10;        {/* 三层阶梯 */}&#10;        &lt;Box style={{ height: 214, flexDirection: 'column', gap: 6 }}&gt;&#10;            {[&#10;                {&#10;                    lv: 'L1–L3', t: '流程分层（阶段二）', col: '#FBA15C', h: 46,&#10;                    d: 'L1 价值流 / L2 流程域 / L3 流程组', ex: '例：电站资产全生命周期管理 → 资产运营 → 缺陷与检修管理',&#10;                },&#10;                {&#10;                    lv: 'L4', t: '子流程（阶段二收口，招标明文要求）', col: '#E0641E', h: 62,&#10;                    d: '可独立指派责任、可识别输入输出、有明确触发与结束的最小流程单元', ex: '例：缺陷工单生成 → 派工 → 处理 → 验收 → 归档 → 绩效取数',&#10;                },&#10;                {&#10;                    lv: 'L5–L6', t: '活动与任务（阶段三收口，招标明文要求）', col: '#C43A17', h: 94,&#10;                    d: 'L5 业务活动（带岗位角色、关键输入输出、绩效指标）　L6 可执行任务（系统功能与操作步骤的落点）',&#10;                    ex: '例：L5「缺陷判定」= 判断是否需停机 / 责任岗位：值长 / 输入：缺陷描述+设备画像 / 输出：处理结论+停机建议 / 绩效：误判率',&#10;                },&#10;            ].map((x) =&gt; (&#10;                &lt;Box key={x.lv} style={{ height: x.h, background: '#F7F7F8', borderRadius: 4, borderLeft: '5px solid ' + x.col, padding: '0 16px', flexDirection: 'row', alignItems: 'center', gap: 14 }}&gt;&#10;                    &lt;Box style={{ width: 62, alignItems: 'center' }}&gt;&#10;                        &lt;Text style={{ fontSize: 19, fontWeight: 'bold', color: x.col }}&gt;{x.lv}&lt;/Text&gt;&#10;                    &lt;/Box&gt;&#10;                    &lt;Box style={{ flex: 1, flexDirection: 'column' }}&gt;&#10;                        &lt;Text style={{ fontSize: 13.5, fontWeight: 'bold', color: '#0F1423' }}&gt;{x.t}&lt;/Text&gt;&#10;                        &lt;Text style={{ fontSize: 11.5, color: '#5A6070', lineHeight: 1.4, marginTop: 3 }}&gt;{x.d}&lt;/Text&gt;&#10;                    &lt;/Box&gt;&#10;                    &lt;Box style={{ width: 336, background: '#FFF3EE', borderRadius: 3, padding: '0 11px' }}&gt;&#10;                        &lt;Text style={{ fontSize: 10.5, color: '#C43A17', lineHeight: 1.35 }}&gt;{x.ex}&lt;/Text&gt;&#10;                    &lt;/Box&gt;&#10;                &lt;/Box&gt;&#10;            ))}&#10;        &lt;/Box&gt;&#10;&#10;        {/* 三域颗粒度对照 + 铁律 */}&#10;        &lt;Box style={{ flex: 1, flexDirection: 'row', gap: 9, alignItems: 'stretch' }}&gt;&#10;            &lt;Box style={{ width: 370, background: '#0F1423', borderRadius: 4, padding: '13px 16px', flexDirection: 'column' }}&gt;&#10;                &lt;Text style={{ fontSize: 12, color: '#FBA15C', letterSpacing: 1 }}&gt;三域的阶段二 / 阶段三落点&lt;/Text&gt;&#10;                {[&#10;                    { a: 'BA', s2: 'L4 子流程清单', s3: 'L5-L6 活动与任务' },&#10;                    { a: 'DA', s2: '业务逻辑实体', s3: '实体属性 + 数据标准/代码标准' },&#10;                    { a: 'AA', s2: '功能模块', s3: '应用服务 / 特性 / 子特性' },&#10;                ].map((x) =&gt; (&#10;                    &lt;Box key={x.a} style={{ flexDirection: 'row', alignItems: 'center', gap: 8, flex: 1, marginTop: 8 }}&gt;&#10;                        &lt;Text style={{ fontSize: 14, fontWeight: 'bold', color: '#FA4F24', width: 26 }}&gt;{x.a}&lt;/Text&gt;&#10;                        &lt;Text style={{ fontSize: 11.5, color: 'rgba(255,255,255,0.9)', width: 122 }}&gt;{x.s2}&lt;/Text&gt;&#10;                        &lt;Text style={{ fontSize: 11.5, color: '#FBA15C', flex: 1 }}&gt;→ {x.s3}&lt;/Text&gt;&#10;                    &lt;/Box&gt;&#10;                ))}&#10;            &lt;/Box&gt;&#10;            &lt;Box style={{ flex: 1, background: '#FFF3EE', borderRadius: 4, borderLeft: '4px solid #FA4F24', padding: '13px 16px', flexDirection: 'column', justifyContent: 'center' }}&gt;&#10;                &lt;Text style={{ fontSize: 12.5, fontWeight: 'bold', color: '#C43A17' }}&gt;为什么不许「基本覆盖」这类交付语言&lt;/Text&gt;&#10;                &lt;Text style={{ fontSize: 12, color: '#3A4050', lineHeight: 1.5, marginTop: 7 }}&gt;&#10;                    评审现场一定会有人问「差不多了吧」。到时候能救场的只有一个东西 —— 客观标尺。颗粒度就是这把尺：清单里逐行打勾，缺哪一行一目了然，不用争论。&#10;                &lt;/Text&gt;&#10;                &lt;Text style={{ fontSize: 12, fontWeight: 'bold', color: '#C43A17', marginTop: 8 }}&gt;&#10;                    标尺写在这一页，评审时对着念：L4 子流程逐条有输入输出接口，L5-L6 逐条有角色与绩效指标，逻辑实体逐条有属性与标准，功能模块逐条有服务与特性。&#10;                &lt;/Text&gt;&#10;            &lt;/Box&gt;&#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09 / 36&lt;/Text&gt;&#10;    &lt;/Box&gt;&#10;&lt;/Slide&gt;&#10;"/>
        <p:cNvGrpSpPr/>
        <p:nvPr/>
      </p:nvGrpSpPr>
      <p:grpSpPr>
        <a:xfrm>
          <a:off x="0" y="0"/>
          <a:ext cx="0" cy="0"/>
          <a:chOff x="0" y="0"/>
          <a:chExt cx="0" cy="0"/>
        </a:xfrm>
      </p:grpSpPr>
      <p:sp>
        <p:nvSpPr>
          <p:cNvPr id="2558" name=""/>
          <p:cNvSpPr/>
          <p:nvPr/>
        </p:nvSpPr>
        <p:spPr>
          <a:xfrm rot="0" flipH="0" flipV="0">
            <a:off x="0" y="0"/>
            <a:ext cx="12192000" cy="6858000"/>
          </a:xfrm>
          <a:prstGeom prst="rect">
            <a:avLst/>
          </a:prstGeom>
          <a:solidFill>
            <a:srgbClr val="FFFFFF"/>
          </a:solidFill>
          <a:ln/>
        </p:spPr>
        <p:txBody>
          <a:bodyPr/>
          <a:p/>
        </p:txBody>
      </p:sp>
      <p:sp>
        <p:nvSpPr>
          <p:cNvPr id="255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颗粒度阶梯：</a:t>
            </a:r>
            <a:r>
              <a:rPr lang="zh-CN" sz="2400" b="1">
                <a:solidFill>
                  <a:srgbClr val="FA4F24"/>
                </a:solidFill>
                <a:latin typeface="Microsoft YaHei"/>
                <a:ea typeface="Microsoft YaHei"/>
              </a:rPr>
              <a:t>从</a:t>
            </a:r>
            <a:r>
              <a:rPr lang="en-US" sz="2400" b="1">
                <a:solidFill>
                  <a:srgbClr val="FA4F24"/>
                </a:solidFill>
                <a:latin typeface="Microsoft YaHei"/>
                <a:ea typeface="Microsoft YaHei"/>
              </a:rPr>
              <a:t xml:space="preserve"> L4 </a:t>
            </a:r>
            <a:r>
              <a:rPr lang="zh-CN" sz="2400" b="1">
                <a:solidFill>
                  <a:srgbClr val="FA4F24"/>
                </a:solidFill>
                <a:latin typeface="Microsoft YaHei"/>
                <a:ea typeface="Microsoft YaHei"/>
              </a:rPr>
              <a:t>到</a:t>
            </a:r>
            <a:r>
              <a:rPr lang="en-US" sz="2400" b="1">
                <a:solidFill>
                  <a:srgbClr val="FA4F24"/>
                </a:solidFill>
                <a:latin typeface="Microsoft YaHei"/>
                <a:ea typeface="Microsoft YaHei"/>
              </a:rPr>
              <a:t xml:space="preserve"> L6</a:t>
            </a:r>
            <a:r>
              <a:rPr lang="en-US" sz="2400" b="1">
                <a:solidFill>
                  <a:srgbClr val="0F1423"/>
                </a:solidFill>
                <a:latin typeface="Microsoft YaHei"/>
                <a:ea typeface="Microsoft YaHei"/>
              </a:rPr>
              <a:t xml:space="preserve"> </a:t>
            </a:r>
            <a:r>
              <a:rPr lang="zh-CN" sz="2400" b="1">
                <a:solidFill>
                  <a:srgbClr val="0F1423"/>
                </a:solidFill>
                <a:latin typeface="Microsoft YaHei"/>
                <a:ea typeface="Microsoft YaHei"/>
              </a:rPr>
              <a:t>的三级下探</a:t>
            </a:r>
            <a:endParaRPr/>
          </a:p>
        </p:txBody>
      </p:sp>
      <p:sp>
        <p:nvSpPr>
          <p:cNvPr id="2560"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招标把颗粒度写进了合同，这页就是全册的硬约束——后面每一页的做法都受它管</a:t>
            </a:r>
            <a:endParaRPr/>
          </a:p>
        </p:txBody>
      </p:sp>
      <p:sp>
        <p:nvSpPr>
          <p:cNvPr id="2561" name=""/>
          <p:cNvSpPr/>
          <p:nvPr/>
        </p:nvSpPr>
        <p:spPr>
          <a:xfrm rot="0" flipH="0" flipV="0">
            <a:off x="609600" y="1143000"/>
            <a:ext cx="10972800" cy="9525"/>
          </a:xfrm>
          <a:prstGeom prst="rect">
            <a:avLst/>
          </a:prstGeom>
          <a:solidFill>
            <a:srgbClr val="E8E8E8"/>
          </a:solidFill>
          <a:ln/>
        </p:spPr>
        <p:txBody>
          <a:bodyPr/>
          <a:p/>
        </p:txBody>
      </p:sp>
      <p:sp>
        <p:nvSpPr>
          <p:cNvPr id="2562" name=""/>
          <p:cNvSpPr/>
          <p:nvPr/>
        </p:nvSpPr>
        <p:spPr>
          <a:xfrm rot="0" flipH="0" flipV="0">
            <a:off x="657225" y="1247775"/>
            <a:ext cx="10972800" cy="438150"/>
          </a:xfrm>
          <a:prstGeom prst="roundRect">
            <a:avLst>
              <a:gd name="adj" fmla="val 8696"/>
            </a:avLst>
          </a:prstGeom>
          <a:solidFill>
            <a:srgbClr val="F7F7F8"/>
          </a:solidFill>
          <a:ln/>
        </p:spPr>
        <p:txBody>
          <a:bodyPr/>
          <a:p/>
        </p:txBody>
      </p:sp>
      <p:sp>
        <p:nvSpPr>
          <p:cNvPr id="2563" name=""/>
          <p:cNvSpPr/>
          <p:nvPr/>
        </p:nvSpPr>
        <p:spPr>
          <a:xfrm rot="0" flipH="0" flipV="0">
            <a:off x="657225" y="1247775"/>
            <a:ext cx="10972800" cy="438150"/>
          </a:xfrm>
          <a:custGeom>
            <a:pathLst>
              <a:path w="1152" h="46">
                <a:moveTo>
                  <a:pt x="5" y="46"/>
                </a:moveTo>
                <a:cubicBezTo>
                  <a:pt x="4" y="46"/>
                  <a:pt x="3" y="46"/>
                  <a:pt x="2" y="45"/>
                </a:cubicBezTo>
                <a:cubicBezTo>
                  <a:pt x="1" y="45"/>
                  <a:pt x="0" y="44"/>
                  <a:pt x="0" y="42"/>
                </a:cubicBezTo>
                <a:lnTo>
                  <a:pt x="0" y="42"/>
                </a:lnTo>
                <a:lnTo>
                  <a:pt x="0" y="42"/>
                </a:lnTo>
                <a:lnTo>
                  <a:pt x="0" y="4"/>
                </a:lnTo>
                <a:cubicBezTo>
                  <a:pt x="0" y="2"/>
                  <a:pt x="2" y="0"/>
                  <a:pt x="4" y="0"/>
                </a:cubicBezTo>
                <a:lnTo>
                  <a:pt x="5" y="0"/>
                </a:lnTo>
                <a:close/>
              </a:path>
            </a:pathLst>
          </a:custGeom>
          <a:solidFill>
            <a:srgbClr val="FBA15C"/>
          </a:solidFill>
          <a:ln/>
        </p:spPr>
        <p:txBody>
          <a:bodyPr/>
          <a:p/>
        </p:txBody>
      </p:sp>
      <p:sp>
        <p:nvSpPr>
          <p:cNvPr id="2564" name="" descr="{&quot;isTemplate&quot;:true,&quot;type&quot;:&quot;text&quot;}"/>
          <p:cNvSpPr txBox="1"/>
          <p:nvPr/>
        </p:nvSpPr>
        <p:spPr>
          <a:xfrm rot="0" flipH="0" flipV="0">
            <a:off x="847725" y="1362075"/>
            <a:ext cx="523875" cy="219075"/>
          </a:xfrm>
          <a:prstGeom prst="rect"/>
        </p:spPr>
        <p:txBody>
          <a:bodyPr wrap="none" lIns="0" tIns="0" rIns="0" bIns="0"/>
          <a:p>
            <a:pPr>
              <a:lnSpc>
                <a:spcPct val="100000"/>
              </a:lnSpc>
            </a:pPr>
            <a:r>
              <a:rPr lang="en-US" sz="1425" b="1">
                <a:solidFill>
                  <a:srgbClr val="FBA15C"/>
                </a:solidFill>
                <a:latin typeface="Microsoft YaHei"/>
                <a:ea typeface="Microsoft YaHei"/>
              </a:rPr>
              <a:t>L1–L3</a:t>
            </a:r>
            <a:endParaRPr/>
          </a:p>
        </p:txBody>
      </p:sp>
      <p:sp>
        <p:nvSpPr>
          <p:cNvPr id="2565" name="" descr="{&quot;isTemplate&quot;:true,&quot;type&quot;:&quot;text&quot;}"/>
          <p:cNvSpPr txBox="1"/>
          <p:nvPr/>
        </p:nvSpPr>
        <p:spPr>
          <a:xfrm rot="0" flipH="0" flipV="0">
            <a:off x="1533525" y="1276350"/>
            <a:ext cx="6562725" cy="161925"/>
          </a:xfrm>
          <a:prstGeom prst="rect"/>
        </p:spPr>
        <p:txBody>
          <a:bodyPr wrap="none" lIns="0" tIns="0" rIns="0" bIns="0"/>
          <a:p>
            <a:pPr>
              <a:lnSpc>
                <a:spcPct val="100000"/>
              </a:lnSpc>
            </a:pPr>
            <a:r>
              <a:rPr lang="zh-CN" sz="1013" b="1">
                <a:solidFill>
                  <a:srgbClr val="0F1423"/>
                </a:solidFill>
                <a:latin typeface="Microsoft YaHei"/>
                <a:ea typeface="Microsoft YaHei"/>
              </a:rPr>
              <a:t>流程分层（阶段二）</a:t>
            </a:r>
            <a:endParaRPr/>
          </a:p>
        </p:txBody>
      </p:sp>
      <p:sp>
        <p:nvSpPr>
          <p:cNvPr id="2566" name="" descr="{&quot;isTemplate&quot;:true,&quot;type&quot;:&quot;text&quot;}"/>
          <p:cNvSpPr txBox="1"/>
          <p:nvPr/>
        </p:nvSpPr>
        <p:spPr>
          <a:xfrm rot="0" flipH="0" flipV="0">
            <a:off x="1533525" y="1466850"/>
            <a:ext cx="6562725" cy="190500"/>
          </a:xfrm>
          <a:prstGeom prst="rect"/>
        </p:spPr>
        <p:txBody>
          <a:bodyPr wrap="none" lIns="0" tIns="0" rIns="0" bIns="0"/>
          <a:p>
            <a:pPr>
              <a:lnSpc>
                <a:spcPct val="140000"/>
              </a:lnSpc>
            </a:pPr>
            <a:r>
              <a:rPr lang="en-US" sz="863">
                <a:solidFill>
                  <a:srgbClr val="5A6070"/>
                </a:solidFill>
                <a:latin typeface="Microsoft YaHei"/>
                <a:ea typeface="Microsoft YaHei"/>
              </a:rPr>
              <a:t xml:space="preserve">L1 </a:t>
            </a:r>
            <a:r>
              <a:rPr lang="zh-CN" sz="863">
                <a:solidFill>
                  <a:srgbClr val="5A6070"/>
                </a:solidFill>
                <a:latin typeface="Microsoft YaHei"/>
                <a:ea typeface="Microsoft YaHei"/>
              </a:rPr>
              <a:t>价值流</a:t>
            </a:r>
            <a:r>
              <a:rPr lang="en-US" sz="863">
                <a:solidFill>
                  <a:srgbClr val="5A6070"/>
                </a:solidFill>
                <a:latin typeface="Microsoft YaHei"/>
                <a:ea typeface="Microsoft YaHei"/>
              </a:rPr>
              <a:t xml:space="preserve"> / L2 </a:t>
            </a:r>
            <a:r>
              <a:rPr lang="zh-CN" sz="863">
                <a:solidFill>
                  <a:srgbClr val="5A6070"/>
                </a:solidFill>
                <a:latin typeface="Microsoft YaHei"/>
                <a:ea typeface="Microsoft YaHei"/>
              </a:rPr>
              <a:t>流程域</a:t>
            </a:r>
            <a:r>
              <a:rPr lang="en-US" sz="863">
                <a:solidFill>
                  <a:srgbClr val="5A6070"/>
                </a:solidFill>
                <a:latin typeface="Microsoft YaHei"/>
                <a:ea typeface="Microsoft YaHei"/>
              </a:rPr>
              <a:t xml:space="preserve"> / L3 </a:t>
            </a:r>
            <a:r>
              <a:rPr lang="zh-CN" sz="863">
                <a:solidFill>
                  <a:srgbClr val="5A6070"/>
                </a:solidFill>
                <a:latin typeface="Microsoft YaHei"/>
                <a:ea typeface="Microsoft YaHei"/>
              </a:rPr>
              <a:t>流程组</a:t>
            </a:r>
            <a:endParaRPr/>
          </a:p>
        </p:txBody>
      </p:sp>
      <p:sp>
        <p:nvSpPr>
          <p:cNvPr id="2567" name=""/>
          <p:cNvSpPr/>
          <p:nvPr/>
        </p:nvSpPr>
        <p:spPr>
          <a:xfrm rot="0" flipH="0" flipV="0">
            <a:off x="8229600" y="1381125"/>
            <a:ext cx="3200400" cy="171450"/>
          </a:xfrm>
          <a:prstGeom prst="roundRect">
            <a:avLst>
              <a:gd name="adj" fmla="val 16667"/>
            </a:avLst>
          </a:prstGeom>
          <a:solidFill>
            <a:srgbClr val="FFF3EE"/>
          </a:solidFill>
          <a:ln/>
        </p:spPr>
        <p:txBody>
          <a:bodyPr/>
          <a:p/>
        </p:txBody>
      </p:sp>
      <p:sp>
        <p:nvSpPr>
          <p:cNvPr id="2568" name="" descr="{&quot;isTemplate&quot;:true,&quot;type&quot;:&quot;text&quot;}"/>
          <p:cNvSpPr txBox="1"/>
          <p:nvPr/>
        </p:nvSpPr>
        <p:spPr>
          <a:xfrm rot="0" flipH="0" flipV="0">
            <a:off x="8334375" y="1381125"/>
            <a:ext cx="2990850" cy="171450"/>
          </a:xfrm>
          <a:prstGeom prst="rect"/>
        </p:spPr>
        <p:txBody>
          <a:bodyPr wrap="none" lIns="0" tIns="0" rIns="0" bIns="0"/>
          <a:p>
            <a:pPr>
              <a:lnSpc>
                <a:spcPct val="135000"/>
              </a:lnSpc>
            </a:pPr>
            <a:r>
              <a:rPr lang="zh-CN" sz="788">
                <a:solidFill>
                  <a:srgbClr val="C43A17"/>
                </a:solidFill>
                <a:latin typeface="Microsoft YaHei"/>
                <a:ea typeface="Microsoft YaHei"/>
              </a:rPr>
              <a:t>例：电站资产全生命周期管理</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资产运营</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缺陷与检修管理</a:t>
            </a:r>
            <a:endParaRPr/>
          </a:p>
        </p:txBody>
      </p:sp>
      <p:sp>
        <p:nvSpPr>
          <p:cNvPr id="2569" name=""/>
          <p:cNvSpPr/>
          <p:nvPr/>
        </p:nvSpPr>
        <p:spPr>
          <a:xfrm rot="0" flipH="0" flipV="0">
            <a:off x="657225" y="1743075"/>
            <a:ext cx="10972800" cy="590550"/>
          </a:xfrm>
          <a:prstGeom prst="roundRect">
            <a:avLst>
              <a:gd name="adj" fmla="val 6452"/>
            </a:avLst>
          </a:prstGeom>
          <a:solidFill>
            <a:srgbClr val="F7F7F8"/>
          </a:solidFill>
          <a:ln/>
        </p:spPr>
        <p:txBody>
          <a:bodyPr/>
          <a:p/>
        </p:txBody>
      </p:sp>
      <p:sp>
        <p:nvSpPr>
          <p:cNvPr id="2570" name=""/>
          <p:cNvSpPr/>
          <p:nvPr/>
        </p:nvSpPr>
        <p:spPr>
          <a:xfrm rot="0" flipH="0" flipV="0">
            <a:off x="657225" y="1743075"/>
            <a:ext cx="10972800" cy="590550"/>
          </a:xfrm>
          <a:custGeom>
            <a:pathLst>
              <a:path w="1152" h="62">
                <a:moveTo>
                  <a:pt x="5" y="62"/>
                </a:moveTo>
                <a:cubicBezTo>
                  <a:pt x="4" y="62"/>
                  <a:pt x="3" y="62"/>
                  <a:pt x="2" y="61"/>
                </a:cubicBezTo>
                <a:cubicBezTo>
                  <a:pt x="1" y="61"/>
                  <a:pt x="0" y="60"/>
                  <a:pt x="0" y="58"/>
                </a:cubicBezTo>
                <a:lnTo>
                  <a:pt x="0" y="58"/>
                </a:lnTo>
                <a:lnTo>
                  <a:pt x="0" y="58"/>
                </a:lnTo>
                <a:lnTo>
                  <a:pt x="0" y="4"/>
                </a:lnTo>
                <a:cubicBezTo>
                  <a:pt x="0" y="2"/>
                  <a:pt x="2" y="0"/>
                  <a:pt x="4" y="0"/>
                </a:cubicBezTo>
                <a:lnTo>
                  <a:pt x="5" y="0"/>
                </a:lnTo>
                <a:close/>
              </a:path>
            </a:pathLst>
          </a:custGeom>
          <a:solidFill>
            <a:srgbClr val="E0641E"/>
          </a:solidFill>
          <a:ln/>
        </p:spPr>
        <p:txBody>
          <a:bodyPr/>
          <a:p/>
        </p:txBody>
      </p:sp>
      <p:sp>
        <p:nvSpPr>
          <p:cNvPr id="2571" name="" descr="{&quot;isTemplate&quot;:true,&quot;type&quot;:&quot;text&quot;}"/>
          <p:cNvSpPr txBox="1"/>
          <p:nvPr/>
        </p:nvSpPr>
        <p:spPr>
          <a:xfrm rot="0" flipH="0" flipV="0">
            <a:off x="1000125" y="1933575"/>
            <a:ext cx="219075" cy="219075"/>
          </a:xfrm>
          <a:prstGeom prst="rect"/>
        </p:spPr>
        <p:txBody>
          <a:bodyPr wrap="none" lIns="0" tIns="0" rIns="0" bIns="0"/>
          <a:p>
            <a:pPr>
              <a:lnSpc>
                <a:spcPct val="100000"/>
              </a:lnSpc>
            </a:pPr>
            <a:r>
              <a:rPr lang="en-US" sz="1425" b="1">
                <a:solidFill>
                  <a:srgbClr val="E0641E"/>
                </a:solidFill>
                <a:latin typeface="Microsoft YaHei"/>
                <a:ea typeface="Microsoft YaHei"/>
              </a:rPr>
              <a:t>L4</a:t>
            </a:r>
            <a:endParaRPr/>
          </a:p>
        </p:txBody>
      </p:sp>
      <p:sp>
        <p:nvSpPr>
          <p:cNvPr id="2572" name="" descr="{&quot;isTemplate&quot;:true,&quot;type&quot;:&quot;text&quot;}"/>
          <p:cNvSpPr txBox="1"/>
          <p:nvPr/>
        </p:nvSpPr>
        <p:spPr>
          <a:xfrm rot="0" flipH="0" flipV="0">
            <a:off x="1533525" y="1847850"/>
            <a:ext cx="6562725" cy="161925"/>
          </a:xfrm>
          <a:prstGeom prst="rect"/>
        </p:spPr>
        <p:txBody>
          <a:bodyPr wrap="none" lIns="0" tIns="0" rIns="0" bIns="0"/>
          <a:p>
            <a:pPr>
              <a:lnSpc>
                <a:spcPct val="100000"/>
              </a:lnSpc>
            </a:pPr>
            <a:r>
              <a:rPr lang="zh-CN" sz="1013" b="1">
                <a:solidFill>
                  <a:srgbClr val="0F1423"/>
                </a:solidFill>
                <a:latin typeface="Microsoft YaHei"/>
                <a:ea typeface="Microsoft YaHei"/>
              </a:rPr>
              <a:t>子流程（阶段二收口，招标明文要求）</a:t>
            </a:r>
            <a:endParaRPr/>
          </a:p>
        </p:txBody>
      </p:sp>
      <p:sp>
        <p:nvSpPr>
          <p:cNvPr id="2573" name="" descr="{&quot;isTemplate&quot;:true,&quot;type&quot;:&quot;text&quot;}"/>
          <p:cNvSpPr txBox="1"/>
          <p:nvPr/>
        </p:nvSpPr>
        <p:spPr>
          <a:xfrm rot="0" flipH="0" flipV="0">
            <a:off x="1533525" y="2038350"/>
            <a:ext cx="6562725" cy="190500"/>
          </a:xfrm>
          <a:prstGeom prst="rect"/>
        </p:spPr>
        <p:txBody>
          <a:bodyPr wrap="none" lIns="0" tIns="0" rIns="0" bIns="0"/>
          <a:p>
            <a:pPr>
              <a:lnSpc>
                <a:spcPct val="140000"/>
              </a:lnSpc>
            </a:pPr>
            <a:r>
              <a:rPr lang="zh-CN" sz="863">
                <a:solidFill>
                  <a:srgbClr val="5A6070"/>
                </a:solidFill>
                <a:latin typeface="Microsoft YaHei"/>
                <a:ea typeface="Microsoft YaHei"/>
              </a:rPr>
              <a:t>可独立指派责任、可识别输入输出、有明确触发与结束的最小流程单元</a:t>
            </a:r>
            <a:endParaRPr/>
          </a:p>
        </p:txBody>
      </p:sp>
      <p:sp>
        <p:nvSpPr>
          <p:cNvPr id="2574" name=""/>
          <p:cNvSpPr/>
          <p:nvPr/>
        </p:nvSpPr>
        <p:spPr>
          <a:xfrm rot="0" flipH="0" flipV="0">
            <a:off x="8229600" y="1952625"/>
            <a:ext cx="3200400" cy="171450"/>
          </a:xfrm>
          <a:prstGeom prst="roundRect">
            <a:avLst>
              <a:gd name="adj" fmla="val 16667"/>
            </a:avLst>
          </a:prstGeom>
          <a:solidFill>
            <a:srgbClr val="FFF3EE"/>
          </a:solidFill>
          <a:ln/>
        </p:spPr>
        <p:txBody>
          <a:bodyPr/>
          <a:p/>
        </p:txBody>
      </p:sp>
      <p:sp>
        <p:nvSpPr>
          <p:cNvPr id="2575" name="" descr="{&quot;isTemplate&quot;:true,&quot;type&quot;:&quot;text&quot;}"/>
          <p:cNvSpPr txBox="1"/>
          <p:nvPr/>
        </p:nvSpPr>
        <p:spPr>
          <a:xfrm rot="0" flipH="0" flipV="0">
            <a:off x="8334375" y="1952625"/>
            <a:ext cx="2990850" cy="171450"/>
          </a:xfrm>
          <a:prstGeom prst="rect"/>
        </p:spPr>
        <p:txBody>
          <a:bodyPr wrap="none" lIns="0" tIns="0" rIns="0" bIns="0"/>
          <a:p>
            <a:pPr>
              <a:lnSpc>
                <a:spcPct val="135000"/>
              </a:lnSpc>
            </a:pPr>
            <a:r>
              <a:rPr lang="zh-CN" sz="788">
                <a:solidFill>
                  <a:srgbClr val="C43A17"/>
                </a:solidFill>
                <a:latin typeface="Microsoft YaHei"/>
                <a:ea typeface="Microsoft YaHei"/>
              </a:rPr>
              <a:t>例：缺陷工单生成</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派工</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处理</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验收</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归档</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绩效取数</a:t>
            </a:r>
            <a:endParaRPr/>
          </a:p>
        </p:txBody>
      </p:sp>
      <p:sp>
        <p:nvSpPr>
          <p:cNvPr id="2576" name=""/>
          <p:cNvSpPr/>
          <p:nvPr/>
        </p:nvSpPr>
        <p:spPr>
          <a:xfrm rot="0" flipH="0" flipV="0">
            <a:off x="657225" y="2390775"/>
            <a:ext cx="10972800" cy="895350"/>
          </a:xfrm>
          <a:prstGeom prst="roundRect">
            <a:avLst>
              <a:gd name="adj" fmla="val 4255"/>
            </a:avLst>
          </a:prstGeom>
          <a:solidFill>
            <a:srgbClr val="F7F7F8"/>
          </a:solidFill>
          <a:ln/>
        </p:spPr>
        <p:txBody>
          <a:bodyPr/>
          <a:p/>
        </p:txBody>
      </p:sp>
      <p:sp>
        <p:nvSpPr>
          <p:cNvPr id="2577" name=""/>
          <p:cNvSpPr/>
          <p:nvPr/>
        </p:nvSpPr>
        <p:spPr>
          <a:xfrm rot="0" flipH="0" flipV="0">
            <a:off x="657225" y="2390775"/>
            <a:ext cx="10972800" cy="895350"/>
          </a:xfrm>
          <a:custGeom>
            <a:pathLst>
              <a:path w="1152" h="94">
                <a:moveTo>
                  <a:pt x="5" y="94"/>
                </a:moveTo>
                <a:cubicBezTo>
                  <a:pt x="4" y="94"/>
                  <a:pt x="3" y="94"/>
                  <a:pt x="2" y="93"/>
                </a:cubicBezTo>
                <a:cubicBezTo>
                  <a:pt x="1" y="93"/>
                  <a:pt x="0" y="92"/>
                  <a:pt x="0" y="90"/>
                </a:cubicBezTo>
                <a:lnTo>
                  <a:pt x="0" y="90"/>
                </a:lnTo>
                <a:lnTo>
                  <a:pt x="0" y="90"/>
                </a:lnTo>
                <a:lnTo>
                  <a:pt x="0" y="4"/>
                </a:lnTo>
                <a:cubicBezTo>
                  <a:pt x="0" y="2"/>
                  <a:pt x="2" y="0"/>
                  <a:pt x="4" y="0"/>
                </a:cubicBezTo>
                <a:lnTo>
                  <a:pt x="5" y="0"/>
                </a:lnTo>
                <a:close/>
              </a:path>
            </a:pathLst>
          </a:custGeom>
          <a:solidFill>
            <a:srgbClr val="C43A17"/>
          </a:solidFill>
          <a:ln/>
        </p:spPr>
        <p:txBody>
          <a:bodyPr/>
          <a:p/>
        </p:txBody>
      </p:sp>
      <p:sp>
        <p:nvSpPr>
          <p:cNvPr id="2578" name="" descr="{&quot;isTemplate&quot;:true,&quot;type&quot;:&quot;text&quot;}"/>
          <p:cNvSpPr txBox="1"/>
          <p:nvPr/>
        </p:nvSpPr>
        <p:spPr>
          <a:xfrm rot="0" flipH="0" flipV="0">
            <a:off x="847725" y="2733675"/>
            <a:ext cx="523875" cy="219075"/>
          </a:xfrm>
          <a:prstGeom prst="rect"/>
        </p:spPr>
        <p:txBody>
          <a:bodyPr wrap="none" lIns="0" tIns="0" rIns="0" bIns="0"/>
          <a:p>
            <a:pPr>
              <a:lnSpc>
                <a:spcPct val="100000"/>
              </a:lnSpc>
            </a:pPr>
            <a:r>
              <a:rPr lang="en-US" sz="1425" b="1">
                <a:solidFill>
                  <a:srgbClr val="C43A17"/>
                </a:solidFill>
                <a:latin typeface="Microsoft YaHei"/>
                <a:ea typeface="Microsoft YaHei"/>
              </a:rPr>
              <a:t>L5–L6</a:t>
            </a:r>
            <a:endParaRPr/>
          </a:p>
        </p:txBody>
      </p:sp>
      <p:sp>
        <p:nvSpPr>
          <p:cNvPr id="2579" name="" descr="{&quot;isTemplate&quot;:true,&quot;type&quot;:&quot;text&quot;}"/>
          <p:cNvSpPr txBox="1"/>
          <p:nvPr/>
        </p:nvSpPr>
        <p:spPr>
          <a:xfrm rot="0" flipH="0" flipV="0">
            <a:off x="1533525" y="2647950"/>
            <a:ext cx="6562725" cy="161925"/>
          </a:xfrm>
          <a:prstGeom prst="rect"/>
        </p:spPr>
        <p:txBody>
          <a:bodyPr wrap="none" lIns="0" tIns="0" rIns="0" bIns="0"/>
          <a:p>
            <a:pPr>
              <a:lnSpc>
                <a:spcPct val="100000"/>
              </a:lnSpc>
            </a:pPr>
            <a:r>
              <a:rPr lang="zh-CN" sz="1013" b="1">
                <a:solidFill>
                  <a:srgbClr val="0F1423"/>
                </a:solidFill>
                <a:latin typeface="Microsoft YaHei"/>
                <a:ea typeface="Microsoft YaHei"/>
              </a:rPr>
              <a:t>活动与任务（阶段三收口，招标明文要求）</a:t>
            </a:r>
            <a:endParaRPr/>
          </a:p>
        </p:txBody>
      </p:sp>
      <p:sp>
        <p:nvSpPr>
          <p:cNvPr id="2580" name="" descr="{&quot;isTemplate&quot;:true,&quot;type&quot;:&quot;text&quot;}"/>
          <p:cNvSpPr txBox="1"/>
          <p:nvPr/>
        </p:nvSpPr>
        <p:spPr>
          <a:xfrm rot="0" flipH="0" flipV="0">
            <a:off x="1533525" y="2838450"/>
            <a:ext cx="6562725" cy="190500"/>
          </a:xfrm>
          <a:prstGeom prst="rect"/>
        </p:spPr>
        <p:txBody>
          <a:bodyPr wrap="none" lIns="0" tIns="0" rIns="0" bIns="0"/>
          <a:p>
            <a:pPr>
              <a:lnSpc>
                <a:spcPct val="140000"/>
              </a:lnSpc>
            </a:pPr>
            <a:r>
              <a:rPr lang="en-US" sz="863">
                <a:solidFill>
                  <a:srgbClr val="5A6070"/>
                </a:solidFill>
                <a:latin typeface="Microsoft YaHei"/>
                <a:ea typeface="Microsoft YaHei"/>
              </a:rPr>
              <a:t xml:space="preserve">L5 </a:t>
            </a:r>
            <a:r>
              <a:rPr lang="zh-CN" sz="863">
                <a:solidFill>
                  <a:srgbClr val="5A6070"/>
                </a:solidFill>
                <a:latin typeface="Microsoft YaHei"/>
                <a:ea typeface="Microsoft YaHei"/>
              </a:rPr>
              <a:t>业务活动（带岗位角色、关键输入输出、绩效指标）　</a:t>
            </a:r>
            <a:r>
              <a:rPr lang="en-US" sz="863">
                <a:solidFill>
                  <a:srgbClr val="5A6070"/>
                </a:solidFill>
                <a:latin typeface="Microsoft YaHei"/>
                <a:ea typeface="Microsoft YaHei"/>
              </a:rPr>
              <a:t xml:space="preserve">L6 </a:t>
            </a:r>
            <a:r>
              <a:rPr lang="zh-CN" sz="863">
                <a:solidFill>
                  <a:srgbClr val="5A6070"/>
                </a:solidFill>
                <a:latin typeface="Microsoft YaHei"/>
                <a:ea typeface="Microsoft YaHei"/>
              </a:rPr>
              <a:t>可执行任务（系统功能与操作步骤的落点）</a:t>
            </a:r>
            <a:endParaRPr/>
          </a:p>
        </p:txBody>
      </p:sp>
      <p:sp>
        <p:nvSpPr>
          <p:cNvPr id="2581" name=""/>
          <p:cNvSpPr/>
          <p:nvPr/>
        </p:nvSpPr>
        <p:spPr>
          <a:xfrm rot="0" flipH="0" flipV="0">
            <a:off x="8229600" y="2676525"/>
            <a:ext cx="3200400" cy="333375"/>
          </a:xfrm>
          <a:prstGeom prst="roundRect">
            <a:avLst>
              <a:gd name="adj" fmla="val 8571"/>
            </a:avLst>
          </a:prstGeom>
          <a:solidFill>
            <a:srgbClr val="FFF3EE"/>
          </a:solidFill>
          <a:ln/>
        </p:spPr>
        <p:txBody>
          <a:bodyPr/>
          <a:p/>
        </p:txBody>
      </p:sp>
      <p:sp>
        <p:nvSpPr>
          <p:cNvPr id="2582" name="" descr="{&quot;isTemplate&quot;:true,&quot;type&quot;:&quot;text&quot;}"/>
          <p:cNvSpPr txBox="1"/>
          <p:nvPr/>
        </p:nvSpPr>
        <p:spPr>
          <a:xfrm rot="0" flipH="0" flipV="0">
            <a:off x="8334375" y="2676525"/>
            <a:ext cx="2990850" cy="333375"/>
          </a:xfrm>
          <a:prstGeom prst="rect"/>
        </p:spPr>
        <p:txBody>
          <a:bodyPr wrap="square" lIns="0" tIns="0" rIns="0" bIns="0">
            <a:normAutofit/>
          </a:bodyPr>
          <a:p>
            <a:pPr>
              <a:lnSpc>
                <a:spcPct val="135000"/>
              </a:lnSpc>
            </a:pPr>
            <a:r>
              <a:rPr lang="zh-CN" sz="788">
                <a:solidFill>
                  <a:srgbClr val="C43A17"/>
                </a:solidFill>
                <a:latin typeface="Microsoft YaHei"/>
                <a:ea typeface="Microsoft YaHei"/>
              </a:rPr>
              <a:t>例：</a:t>
            </a:r>
            <a:r>
              <a:rPr lang="en-US" sz="788">
                <a:solidFill>
                  <a:srgbClr val="C43A17"/>
                </a:solidFill>
                <a:latin typeface="Microsoft YaHei"/>
                <a:ea typeface="Microsoft YaHei"/>
              </a:rPr>
              <a:t>L5</a:t>
            </a:r>
            <a:r>
              <a:rPr lang="zh-CN" sz="788">
                <a:solidFill>
                  <a:srgbClr val="C43A17"/>
                </a:solidFill>
                <a:latin typeface="Microsoft YaHei"/>
                <a:ea typeface="Microsoft YaHei"/>
              </a:rPr>
              <a:t>「缺陷判定」</a:t>
            </a:r>
            <a:r>
              <a:rPr lang="en-US" sz="788">
                <a:solidFill>
                  <a:srgbClr val="C43A17"/>
                </a:solidFill>
                <a:latin typeface="Microsoft YaHei"/>
                <a:ea typeface="Microsoft YaHei"/>
              </a:rPr>
              <a:t xml:space="preserve">= </a:t>
            </a:r>
            <a:r>
              <a:rPr lang="zh-CN" sz="788">
                <a:solidFill>
                  <a:srgbClr val="C43A17"/>
                </a:solidFill>
                <a:latin typeface="Microsoft YaHei"/>
                <a:ea typeface="Microsoft YaHei"/>
              </a:rPr>
              <a:t>判断是否需停机</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责任岗位：值长</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输入：缺陷描述</a:t>
            </a:r>
            <a:r>
              <a:rPr lang="en-US" sz="788">
                <a:solidFill>
                  <a:srgbClr val="C43A17"/>
                </a:solidFill>
                <a:latin typeface="Microsoft YaHei"/>
                <a:ea typeface="Microsoft YaHei"/>
              </a:rPr>
              <a:t>+</a:t>
            </a:r>
            <a:r>
              <a:rPr lang="zh-CN" sz="788">
                <a:solidFill>
                  <a:srgbClr val="C43A17"/>
                </a:solidFill>
                <a:latin typeface="Microsoft YaHei"/>
                <a:ea typeface="Microsoft YaHei"/>
              </a:rPr>
              <a:t>设备画像</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输出：处理结论</a:t>
            </a:r>
            <a:r>
              <a:rPr lang="en-US" sz="788">
                <a:solidFill>
                  <a:srgbClr val="C43A17"/>
                </a:solidFill>
                <a:latin typeface="Microsoft YaHei"/>
                <a:ea typeface="Microsoft YaHei"/>
              </a:rPr>
              <a:t>+</a:t>
            </a:r>
            <a:r>
              <a:rPr lang="zh-CN" sz="788">
                <a:solidFill>
                  <a:srgbClr val="C43A17"/>
                </a:solidFill>
                <a:latin typeface="Microsoft YaHei"/>
                <a:ea typeface="Microsoft YaHei"/>
              </a:rPr>
              <a:t>停机建议</a:t>
            </a:r>
            <a:r>
              <a:rPr lang="en-US" sz="788">
                <a:solidFill>
                  <a:srgbClr val="C43A17"/>
                </a:solidFill>
                <a:latin typeface="Microsoft YaHei"/>
                <a:ea typeface="Microsoft YaHei"/>
              </a:rPr>
              <a:t xml:space="preserve"> / </a:t>
            </a:r>
            <a:r>
              <a:rPr lang="zh-CN" sz="788">
                <a:solidFill>
                  <a:srgbClr val="C43A17"/>
                </a:solidFill>
                <a:latin typeface="Microsoft YaHei"/>
                <a:ea typeface="Microsoft YaHei"/>
              </a:rPr>
              <a:t>绩效：误判率</a:t>
            </a:r>
            <a:endParaRPr/>
          </a:p>
        </p:txBody>
      </p:sp>
      <p:sp>
        <p:nvSpPr>
          <p:cNvPr id="2583" name=""/>
          <p:cNvSpPr/>
          <p:nvPr/>
        </p:nvSpPr>
        <p:spPr>
          <a:xfrm rot="0" flipH="0" flipV="0">
            <a:off x="609600" y="3362325"/>
            <a:ext cx="3524250" cy="2295525"/>
          </a:xfrm>
          <a:prstGeom prst="roundRect">
            <a:avLst>
              <a:gd name="adj" fmla="val 1660"/>
            </a:avLst>
          </a:prstGeom>
          <a:solidFill>
            <a:srgbClr val="0F1423"/>
          </a:solidFill>
          <a:ln/>
        </p:spPr>
        <p:txBody>
          <a:bodyPr/>
          <a:p/>
        </p:txBody>
      </p:sp>
      <p:sp>
        <p:nvSpPr>
          <p:cNvPr id="2584" name="" descr="{&quot;isTemplate&quot;:true,&quot;type&quot;:&quot;text&quot;}"/>
          <p:cNvSpPr txBox="1"/>
          <p:nvPr/>
        </p:nvSpPr>
        <p:spPr>
          <a:xfrm rot="0" flipH="0" flipV="0">
            <a:off x="762000" y="3486150"/>
            <a:ext cx="3219450" cy="142875"/>
          </a:xfrm>
          <a:prstGeom prst="rect"/>
        </p:spPr>
        <p:txBody>
          <a:bodyPr wrap="none" lIns="0" tIns="0" rIns="0" bIns="0"/>
          <a:p>
            <a:pPr>
              <a:lnSpc>
                <a:spcPct val="100000"/>
              </a:lnSpc>
            </a:pPr>
            <a:r>
              <a:rPr lang="zh-CN" sz="900" spc="75">
                <a:solidFill>
                  <a:srgbClr val="FBA15C"/>
                </a:solidFill>
                <a:latin typeface="Microsoft YaHei"/>
                <a:ea typeface="Microsoft YaHei"/>
              </a:rPr>
              <a:t>三域的阶段二</a:t>
            </a:r>
            <a:r>
              <a:rPr lang="en-US" sz="900" spc="75">
                <a:solidFill>
                  <a:srgbClr val="FBA15C"/>
                </a:solidFill>
                <a:latin typeface="Microsoft YaHei"/>
                <a:ea typeface="Microsoft YaHei"/>
              </a:rPr>
              <a:t xml:space="preserve"> / </a:t>
            </a:r>
            <a:r>
              <a:rPr lang="zh-CN" sz="900" spc="75">
                <a:solidFill>
                  <a:srgbClr val="FBA15C"/>
                </a:solidFill>
                <a:latin typeface="Microsoft YaHei"/>
                <a:ea typeface="Microsoft YaHei"/>
              </a:rPr>
              <a:t>阶段三落点</a:t>
            </a:r>
            <a:endParaRPr/>
          </a:p>
        </p:txBody>
      </p:sp>
      <p:sp>
        <p:nvSpPr>
          <p:cNvPr id="2585" name="" descr="{&quot;isTemplate&quot;:true,&quot;type&quot;:&quot;text&quot;}"/>
          <p:cNvSpPr txBox="1"/>
          <p:nvPr/>
        </p:nvSpPr>
        <p:spPr>
          <a:xfrm rot="0" flipH="0" flipV="0">
            <a:off x="762000" y="3905250"/>
            <a:ext cx="247650" cy="161925"/>
          </a:xfrm>
          <a:prstGeom prst="rect"/>
        </p:spPr>
        <p:txBody>
          <a:bodyPr wrap="none" lIns="0" tIns="0" rIns="0" bIns="0"/>
          <a:p>
            <a:pPr>
              <a:lnSpc>
                <a:spcPct val="100000"/>
              </a:lnSpc>
            </a:pPr>
            <a:r>
              <a:rPr lang="en-US" sz="1050" b="1">
                <a:solidFill>
                  <a:srgbClr val="FA4F24"/>
                </a:solidFill>
                <a:latin typeface="Microsoft YaHei"/>
                <a:ea typeface="Microsoft YaHei"/>
              </a:rPr>
              <a:t>BA</a:t>
            </a:r>
            <a:endParaRPr/>
          </a:p>
        </p:txBody>
      </p:sp>
      <p:sp>
        <p:nvSpPr>
          <p:cNvPr id="2586" name="" descr="{&quot;isTemplate&quot;:true,&quot;type&quot;:&quot;text&quot;}"/>
          <p:cNvSpPr txBox="1"/>
          <p:nvPr/>
        </p:nvSpPr>
        <p:spPr>
          <a:xfrm rot="0" flipH="0" flipV="0">
            <a:off x="1085850" y="3924300"/>
            <a:ext cx="1162050" cy="133350"/>
          </a:xfrm>
          <a:prstGeom prst="rect"/>
        </p:spPr>
        <p:txBody>
          <a:bodyPr wrap="none" lIns="0" tIns="0" rIns="0" bIns="0"/>
          <a:p>
            <a:pPr>
              <a:lnSpc>
                <a:spcPct val="100000"/>
              </a:lnSpc>
            </a:pPr>
            <a:r>
              <a:rPr lang="en-US" sz="863">
                <a:solidFill>
                  <a:srgbClr val="FFFFFF">
                    <a:alpha val="90000"/>
                  </a:srgbClr>
                </a:solidFill>
                <a:latin typeface="Microsoft YaHei"/>
                <a:ea typeface="Microsoft YaHei"/>
              </a:rPr>
              <a:t xml:space="preserve">L4 </a:t>
            </a:r>
            <a:r>
              <a:rPr lang="zh-CN" sz="863">
                <a:solidFill>
                  <a:srgbClr val="FFFFFF">
                    <a:alpha val="90000"/>
                  </a:srgbClr>
                </a:solidFill>
                <a:latin typeface="Microsoft YaHei"/>
                <a:ea typeface="Microsoft YaHei"/>
              </a:rPr>
              <a:t>子流程清单</a:t>
            </a:r>
            <a:endParaRPr/>
          </a:p>
        </p:txBody>
      </p:sp>
      <p:sp>
        <p:nvSpPr>
          <p:cNvPr id="2587" name="" descr="{&quot;isTemplate&quot;:true,&quot;type&quot;:&quot;text&quot;}"/>
          <p:cNvSpPr txBox="1"/>
          <p:nvPr/>
        </p:nvSpPr>
        <p:spPr>
          <a:xfrm rot="0" flipH="0" flipV="0">
            <a:off x="2324100" y="3924300"/>
            <a:ext cx="1657350" cy="133350"/>
          </a:xfrm>
          <a:prstGeom prst="rect"/>
        </p:spPr>
        <p:txBody>
          <a:bodyPr wrap="none" lIns="0" tIns="0" rIns="0" bIns="0"/>
          <a:p>
            <a:pPr>
              <a:lnSpc>
                <a:spcPct val="100000"/>
              </a:lnSpc>
            </a:pPr>
            <a:r>
              <a:rPr lang="en-US" sz="863">
                <a:solidFill>
                  <a:srgbClr val="FBA15C"/>
                </a:solidFill>
                <a:latin typeface="Microsoft YaHei"/>
                <a:ea typeface="Microsoft YaHei"/>
              </a:rPr>
              <a:t xml:space="preserve">→ </a:t>
            </a:r>
            <a:r>
              <a:rPr lang="en-US" sz="863">
                <a:solidFill>
                  <a:srgbClr val="FBA15C"/>
                </a:solidFill>
                <a:latin typeface="Microsoft YaHei"/>
                <a:ea typeface="Microsoft YaHei"/>
              </a:rPr>
              <a:t xml:space="preserve">L5-L6 </a:t>
            </a:r>
            <a:r>
              <a:rPr lang="zh-CN" sz="863">
                <a:solidFill>
                  <a:srgbClr val="FBA15C"/>
                </a:solidFill>
                <a:latin typeface="Microsoft YaHei"/>
                <a:ea typeface="Microsoft YaHei"/>
              </a:rPr>
              <a:t>活动与任务</a:t>
            </a:r>
            <a:endParaRPr/>
          </a:p>
        </p:txBody>
      </p:sp>
      <p:sp>
        <p:nvSpPr>
          <p:cNvPr id="2588" name="" descr="{&quot;isTemplate&quot;:true,&quot;type&quot;:&quot;text&quot;}"/>
          <p:cNvSpPr txBox="1"/>
          <p:nvPr/>
        </p:nvSpPr>
        <p:spPr>
          <a:xfrm rot="0" flipH="0" flipV="0">
            <a:off x="762000" y="4543425"/>
            <a:ext cx="247650" cy="161925"/>
          </a:xfrm>
          <a:prstGeom prst="rect"/>
        </p:spPr>
        <p:txBody>
          <a:bodyPr wrap="none" lIns="0" tIns="0" rIns="0" bIns="0"/>
          <a:p>
            <a:pPr>
              <a:lnSpc>
                <a:spcPct val="100000"/>
              </a:lnSpc>
            </a:pPr>
            <a:r>
              <a:rPr lang="en-US" sz="1050" b="1">
                <a:solidFill>
                  <a:srgbClr val="FA4F24"/>
                </a:solidFill>
                <a:latin typeface="Microsoft YaHei"/>
                <a:ea typeface="Microsoft YaHei"/>
              </a:rPr>
              <a:t>DA</a:t>
            </a:r>
            <a:endParaRPr/>
          </a:p>
        </p:txBody>
      </p:sp>
      <p:sp>
        <p:nvSpPr>
          <p:cNvPr id="2589" name="" descr="{&quot;isTemplate&quot;:true,&quot;type&quot;:&quot;text&quot;}"/>
          <p:cNvSpPr txBox="1"/>
          <p:nvPr/>
        </p:nvSpPr>
        <p:spPr>
          <a:xfrm rot="0" flipH="0" flipV="0">
            <a:off x="1085850" y="4552950"/>
            <a:ext cx="1162050" cy="133350"/>
          </a:xfrm>
          <a:prstGeom prst="rect"/>
        </p:spPr>
        <p:txBody>
          <a:bodyPr wrap="none" lIns="0" tIns="0" rIns="0" bIns="0"/>
          <a:p>
            <a:pPr>
              <a:lnSpc>
                <a:spcPct val="100000"/>
              </a:lnSpc>
            </a:pPr>
            <a:r>
              <a:rPr lang="zh-CN" sz="863">
                <a:solidFill>
                  <a:srgbClr val="FFFFFF">
                    <a:alpha val="90000"/>
                  </a:srgbClr>
                </a:solidFill>
                <a:latin typeface="Microsoft YaHei"/>
                <a:ea typeface="Microsoft YaHei"/>
              </a:rPr>
              <a:t>业务逻辑实体</a:t>
            </a:r>
            <a:endParaRPr/>
          </a:p>
        </p:txBody>
      </p:sp>
      <p:sp>
        <p:nvSpPr>
          <p:cNvPr id="2590" name="" descr="{&quot;isTemplate&quot;:true,&quot;type&quot;:&quot;text&quot;}"/>
          <p:cNvSpPr txBox="1"/>
          <p:nvPr/>
        </p:nvSpPr>
        <p:spPr>
          <a:xfrm rot="0" flipH="0" flipV="0">
            <a:off x="2324100" y="4552950"/>
            <a:ext cx="1657350" cy="133350"/>
          </a:xfrm>
          <a:prstGeom prst="rect"/>
        </p:spPr>
        <p:txBody>
          <a:bodyPr wrap="none" lIns="0" tIns="0" rIns="0" bIns="0"/>
          <a:p>
            <a:pPr>
              <a:lnSpc>
                <a:spcPct val="100000"/>
              </a:lnSpc>
            </a:pPr>
            <a:r>
              <a:rPr lang="en-US" sz="863">
                <a:solidFill>
                  <a:srgbClr val="FBA15C"/>
                </a:solidFill>
                <a:latin typeface="Microsoft YaHei"/>
                <a:ea typeface="Microsoft YaHei"/>
              </a:rPr>
              <a:t xml:space="preserve">→ </a:t>
            </a:r>
            <a:r>
              <a:rPr lang="zh-CN" sz="863">
                <a:solidFill>
                  <a:srgbClr val="FBA15C"/>
                </a:solidFill>
                <a:latin typeface="Microsoft YaHei"/>
                <a:ea typeface="Microsoft YaHei"/>
              </a:rPr>
              <a:t>实体属性</a:t>
            </a:r>
            <a:r>
              <a:rPr lang="en-US" sz="863">
                <a:solidFill>
                  <a:srgbClr val="FBA15C"/>
                </a:solidFill>
                <a:latin typeface="Microsoft YaHei"/>
                <a:ea typeface="Microsoft YaHei"/>
              </a:rPr>
              <a:t xml:space="preserve"> + </a:t>
            </a:r>
            <a:r>
              <a:rPr lang="zh-CN" sz="863">
                <a:solidFill>
                  <a:srgbClr val="FBA15C"/>
                </a:solidFill>
                <a:latin typeface="Microsoft YaHei"/>
                <a:ea typeface="Microsoft YaHei"/>
              </a:rPr>
              <a:t>数据标准</a:t>
            </a:r>
            <a:r>
              <a:rPr lang="en-US" sz="863">
                <a:solidFill>
                  <a:srgbClr val="FBA15C"/>
                </a:solidFill>
                <a:latin typeface="Microsoft YaHei"/>
                <a:ea typeface="Microsoft YaHei"/>
              </a:rPr>
              <a:t>/</a:t>
            </a:r>
            <a:r>
              <a:rPr lang="zh-CN" sz="863">
                <a:solidFill>
                  <a:srgbClr val="FBA15C"/>
                </a:solidFill>
                <a:latin typeface="Microsoft YaHei"/>
                <a:ea typeface="Microsoft YaHei"/>
              </a:rPr>
              <a:t>代码标准</a:t>
            </a:r>
            <a:endParaRPr/>
          </a:p>
        </p:txBody>
      </p:sp>
      <p:sp>
        <p:nvSpPr>
          <p:cNvPr id="2591" name="" descr="{&quot;isTemplate&quot;:true,&quot;type&quot;:&quot;text&quot;}"/>
          <p:cNvSpPr txBox="1"/>
          <p:nvPr/>
        </p:nvSpPr>
        <p:spPr>
          <a:xfrm rot="0" flipH="0" flipV="0">
            <a:off x="762000" y="5172075"/>
            <a:ext cx="247650" cy="161925"/>
          </a:xfrm>
          <a:prstGeom prst="rect"/>
        </p:spPr>
        <p:txBody>
          <a:bodyPr wrap="none" lIns="0" tIns="0" rIns="0" bIns="0"/>
          <a:p>
            <a:pPr>
              <a:lnSpc>
                <a:spcPct val="100000"/>
              </a:lnSpc>
            </a:pPr>
            <a:r>
              <a:rPr lang="en-US" sz="1050" b="1">
                <a:solidFill>
                  <a:srgbClr val="FA4F24"/>
                </a:solidFill>
                <a:latin typeface="Microsoft YaHei"/>
                <a:ea typeface="Microsoft YaHei"/>
              </a:rPr>
              <a:t>AA</a:t>
            </a:r>
            <a:endParaRPr/>
          </a:p>
        </p:txBody>
      </p:sp>
      <p:sp>
        <p:nvSpPr>
          <p:cNvPr id="2592" name="" descr="{&quot;isTemplate&quot;:true,&quot;type&quot;:&quot;text&quot;}"/>
          <p:cNvSpPr txBox="1"/>
          <p:nvPr/>
        </p:nvSpPr>
        <p:spPr>
          <a:xfrm rot="0" flipH="0" flipV="0">
            <a:off x="1085850" y="5191125"/>
            <a:ext cx="1162050" cy="133350"/>
          </a:xfrm>
          <a:prstGeom prst="rect"/>
        </p:spPr>
        <p:txBody>
          <a:bodyPr wrap="none" lIns="0" tIns="0" rIns="0" bIns="0"/>
          <a:p>
            <a:pPr>
              <a:lnSpc>
                <a:spcPct val="100000"/>
              </a:lnSpc>
            </a:pPr>
            <a:r>
              <a:rPr lang="zh-CN" sz="863">
                <a:solidFill>
                  <a:srgbClr val="FFFFFF">
                    <a:alpha val="90000"/>
                  </a:srgbClr>
                </a:solidFill>
                <a:latin typeface="Microsoft YaHei"/>
                <a:ea typeface="Microsoft YaHei"/>
              </a:rPr>
              <a:t>功能模块</a:t>
            </a:r>
            <a:endParaRPr/>
          </a:p>
        </p:txBody>
      </p:sp>
      <p:sp>
        <p:nvSpPr>
          <p:cNvPr id="2593" name="" descr="{&quot;isTemplate&quot;:true,&quot;type&quot;:&quot;text&quot;}"/>
          <p:cNvSpPr txBox="1"/>
          <p:nvPr/>
        </p:nvSpPr>
        <p:spPr>
          <a:xfrm rot="0" flipH="0" flipV="0">
            <a:off x="2324100" y="5191125"/>
            <a:ext cx="1657350" cy="133350"/>
          </a:xfrm>
          <a:prstGeom prst="rect"/>
        </p:spPr>
        <p:txBody>
          <a:bodyPr wrap="none" lIns="0" tIns="0" rIns="0" bIns="0"/>
          <a:p>
            <a:pPr>
              <a:lnSpc>
                <a:spcPct val="100000"/>
              </a:lnSpc>
            </a:pPr>
            <a:r>
              <a:rPr lang="en-US" sz="863">
                <a:solidFill>
                  <a:srgbClr val="FBA15C"/>
                </a:solidFill>
                <a:latin typeface="Microsoft YaHei"/>
                <a:ea typeface="Microsoft YaHei"/>
              </a:rPr>
              <a:t xml:space="preserve">→ </a:t>
            </a:r>
            <a:r>
              <a:rPr lang="zh-CN" sz="863">
                <a:solidFill>
                  <a:srgbClr val="FBA15C"/>
                </a:solidFill>
                <a:latin typeface="Microsoft YaHei"/>
                <a:ea typeface="Microsoft YaHei"/>
              </a:rPr>
              <a:t>应用服务</a:t>
            </a:r>
            <a:r>
              <a:rPr lang="en-US" sz="863">
                <a:solidFill>
                  <a:srgbClr val="FBA15C"/>
                </a:solidFill>
                <a:latin typeface="Microsoft YaHei"/>
                <a:ea typeface="Microsoft YaHei"/>
              </a:rPr>
              <a:t xml:space="preserve"> / </a:t>
            </a:r>
            <a:r>
              <a:rPr lang="zh-CN" sz="863">
                <a:solidFill>
                  <a:srgbClr val="FBA15C"/>
                </a:solidFill>
                <a:latin typeface="Microsoft YaHei"/>
                <a:ea typeface="Microsoft YaHei"/>
              </a:rPr>
              <a:t>特性</a:t>
            </a:r>
            <a:r>
              <a:rPr lang="en-US" sz="863">
                <a:solidFill>
                  <a:srgbClr val="FBA15C"/>
                </a:solidFill>
                <a:latin typeface="Microsoft YaHei"/>
                <a:ea typeface="Microsoft YaHei"/>
              </a:rPr>
              <a:t xml:space="preserve"> / </a:t>
            </a:r>
            <a:r>
              <a:rPr lang="zh-CN" sz="863">
                <a:solidFill>
                  <a:srgbClr val="FBA15C"/>
                </a:solidFill>
                <a:latin typeface="Microsoft YaHei"/>
                <a:ea typeface="Microsoft YaHei"/>
              </a:rPr>
              <a:t>子特性</a:t>
            </a:r>
            <a:endParaRPr/>
          </a:p>
        </p:txBody>
      </p:sp>
      <p:sp>
        <p:nvSpPr>
          <p:cNvPr id="2594" name=""/>
          <p:cNvSpPr/>
          <p:nvPr/>
        </p:nvSpPr>
        <p:spPr>
          <a:xfrm rot="0" flipH="0" flipV="0">
            <a:off x="4257675" y="3362325"/>
            <a:ext cx="7362825" cy="2295525"/>
          </a:xfrm>
          <a:prstGeom prst="roundRect">
            <a:avLst>
              <a:gd name="adj" fmla="val 1660"/>
            </a:avLst>
          </a:prstGeom>
          <a:solidFill>
            <a:srgbClr val="FFF3EE"/>
          </a:solidFill>
          <a:ln/>
        </p:spPr>
        <p:txBody>
          <a:bodyPr/>
          <a:p/>
        </p:txBody>
      </p:sp>
      <p:sp>
        <p:nvSpPr>
          <p:cNvPr id="2595" name=""/>
          <p:cNvSpPr/>
          <p:nvPr/>
        </p:nvSpPr>
        <p:spPr>
          <a:xfrm rot="0" flipH="0" flipV="0">
            <a:off x="4257675" y="3362325"/>
            <a:ext cx="7362825" cy="2295525"/>
          </a:xfrm>
          <a:custGeom>
            <a:pathLst>
              <a:path w="773" h="241">
                <a:moveTo>
                  <a:pt x="4" y="241"/>
                </a:moveTo>
                <a:cubicBezTo>
                  <a:pt x="2" y="241"/>
                  <a:pt x="0" y="239"/>
                  <a:pt x="0" y="237"/>
                </a:cubicBezTo>
                <a:lnTo>
                  <a:pt x="0" y="4"/>
                </a:lnTo>
                <a:cubicBezTo>
                  <a:pt x="0" y="2"/>
                  <a:pt x="2" y="0"/>
                  <a:pt x="4" y="0"/>
                </a:cubicBezTo>
                <a:lnTo>
                  <a:pt x="4" y="241"/>
                </a:lnTo>
                <a:close/>
              </a:path>
            </a:pathLst>
          </a:custGeom>
          <a:solidFill>
            <a:srgbClr val="FA4F24"/>
          </a:solidFill>
          <a:ln/>
        </p:spPr>
        <p:txBody>
          <a:bodyPr/>
          <a:p/>
        </p:txBody>
      </p:sp>
      <p:sp>
        <p:nvSpPr>
          <p:cNvPr id="2596" name="" descr="{&quot;isTemplate&quot;:true,&quot;type&quot;:&quot;text&quot;}"/>
          <p:cNvSpPr txBox="1"/>
          <p:nvPr/>
        </p:nvSpPr>
        <p:spPr>
          <a:xfrm rot="0" flipH="0" flipV="0">
            <a:off x="4410075" y="4019550"/>
            <a:ext cx="7019925" cy="142875"/>
          </a:xfrm>
          <a:prstGeom prst="rect"/>
        </p:spPr>
        <p:txBody>
          <a:bodyPr wrap="none" lIns="0" tIns="0" rIns="0" bIns="0"/>
          <a:p>
            <a:pPr>
              <a:lnSpc>
                <a:spcPct val="100000"/>
              </a:lnSpc>
            </a:pPr>
            <a:r>
              <a:rPr lang="zh-CN" sz="938" b="1">
                <a:solidFill>
                  <a:srgbClr val="C43A17"/>
                </a:solidFill>
                <a:latin typeface="Microsoft YaHei"/>
                <a:ea typeface="Microsoft YaHei"/>
              </a:rPr>
              <a:t>为什么不许「基本覆盖」这类交付语言</a:t>
            </a:r>
            <a:endParaRPr/>
          </a:p>
        </p:txBody>
      </p:sp>
      <p:sp>
        <p:nvSpPr>
          <p:cNvPr id="2597" name="" descr="{&quot;isTemplate&quot;:true,&quot;type&quot;:&quot;text&quot;}"/>
          <p:cNvSpPr txBox="1"/>
          <p:nvPr/>
        </p:nvSpPr>
        <p:spPr>
          <a:xfrm rot="0" flipH="0" flipV="0">
            <a:off x="4410075" y="4229100"/>
            <a:ext cx="7019925" cy="419100"/>
          </a:xfrm>
          <a:prstGeom prst="rect"/>
        </p:spPr>
        <p:txBody>
          <a:bodyPr wrap="square" lIns="0" tIns="0" rIns="0" bIns="0">
            <a:normAutofit/>
          </a:bodyPr>
          <a:p>
            <a:pPr>
              <a:lnSpc>
                <a:spcPct val="150000"/>
              </a:lnSpc>
            </a:pPr>
            <a:r>
              <a:rPr lang="zh-CN" sz="900">
                <a:solidFill>
                  <a:srgbClr val="3A4050"/>
                </a:solidFill>
                <a:latin typeface="Microsoft YaHei"/>
                <a:ea typeface="Microsoft YaHei"/>
              </a:rPr>
              <a:t>评审现场一定会有人问「差不多了吧」。到时候能救场的只有一个东西</a:t>
            </a:r>
            <a:r>
              <a:rPr lang="en-US" sz="900">
                <a:solidFill>
                  <a:srgbClr val="3A4050"/>
                </a:solidFill>
                <a:latin typeface="Microsoft YaHei"/>
                <a:ea typeface="Microsoft YaHei"/>
              </a:rPr>
              <a:t xml:space="preserve"> —— </a:t>
            </a:r>
            <a:r>
              <a:rPr lang="zh-CN" sz="900">
                <a:solidFill>
                  <a:srgbClr val="3A4050"/>
                </a:solidFill>
                <a:latin typeface="Microsoft YaHei"/>
                <a:ea typeface="Microsoft YaHei"/>
              </a:rPr>
              <a:t>客观标尺。颗粒度就是这把尺：清单里逐行打勾，缺哪一行一目了然，不用争论。</a:t>
            </a:r>
            <a:endParaRPr/>
          </a:p>
        </p:txBody>
      </p:sp>
      <p:sp>
        <p:nvSpPr>
          <p:cNvPr id="2598" name="" descr="{&quot;isTemplate&quot;:true,&quot;type&quot;:&quot;text&quot;}"/>
          <p:cNvSpPr txBox="1"/>
          <p:nvPr/>
        </p:nvSpPr>
        <p:spPr>
          <a:xfrm rot="0" flipH="0" flipV="0">
            <a:off x="4410075" y="4724400"/>
            <a:ext cx="7019925" cy="276225"/>
          </a:xfrm>
          <a:prstGeom prst="rect"/>
        </p:spPr>
        <p:txBody>
          <a:bodyPr wrap="square" lIns="0" tIns="0" rIns="0" bIns="0">
            <a:normAutofit/>
          </a:bodyPr>
          <a:p>
            <a:pPr>
              <a:lnSpc>
                <a:spcPct val="100000"/>
              </a:lnSpc>
            </a:pPr>
            <a:r>
              <a:rPr lang="zh-CN" sz="900" b="1">
                <a:solidFill>
                  <a:srgbClr val="C43A17"/>
                </a:solidFill>
                <a:latin typeface="Microsoft YaHei"/>
                <a:ea typeface="Microsoft YaHei"/>
              </a:rPr>
              <a:t>标尺写在这一页，评审时对着念：</a:t>
            </a:r>
            <a:r>
              <a:rPr lang="en-US" sz="900" b="1">
                <a:solidFill>
                  <a:srgbClr val="C43A17"/>
                </a:solidFill>
                <a:latin typeface="Microsoft YaHei"/>
                <a:ea typeface="Microsoft YaHei"/>
              </a:rPr>
              <a:t xml:space="preserve">L4 </a:t>
            </a:r>
            <a:r>
              <a:rPr lang="zh-CN" sz="900" b="1">
                <a:solidFill>
                  <a:srgbClr val="C43A17"/>
                </a:solidFill>
                <a:latin typeface="Microsoft YaHei"/>
                <a:ea typeface="Microsoft YaHei"/>
              </a:rPr>
              <a:t>子流程逐条有输入输出接口，</a:t>
            </a:r>
            <a:r>
              <a:rPr lang="en-US" sz="900" b="1">
                <a:solidFill>
                  <a:srgbClr val="C43A17"/>
                </a:solidFill>
                <a:latin typeface="Microsoft YaHei"/>
                <a:ea typeface="Microsoft YaHei"/>
              </a:rPr>
              <a:t xml:space="preserve">L5-L6 </a:t>
            </a:r>
            <a:r>
              <a:rPr lang="zh-CN" sz="900" b="1">
                <a:solidFill>
                  <a:srgbClr val="C43A17"/>
                </a:solidFill>
                <a:latin typeface="Microsoft YaHei"/>
                <a:ea typeface="Microsoft YaHei"/>
              </a:rPr>
              <a:t>逐条有角色与绩效指标，逻辑实体逐条有属性与标准，功能模块逐条有服务与特性。</a:t>
            </a:r>
            <a:endParaRPr/>
          </a:p>
        </p:txBody>
      </p:sp>
      <p:sp>
        <p:nvSpPr>
          <p:cNvPr id="2599" name=""/>
          <p:cNvSpPr/>
          <p:nvPr/>
        </p:nvSpPr>
        <p:spPr>
          <a:xfrm rot="0" flipH="0" flipV="0">
            <a:off x="609600" y="5943600"/>
            <a:ext cx="133350" cy="133350"/>
          </a:xfrm>
          <a:prstGeom prst="rect">
            <a:avLst/>
          </a:prstGeom>
          <a:solidFill>
            <a:srgbClr val="FA4F24"/>
          </a:solidFill>
          <a:ln/>
        </p:spPr>
        <p:txBody>
          <a:bodyPr/>
          <a:p/>
        </p:txBody>
      </p:sp>
      <p:sp>
        <p:nvSpPr>
          <p:cNvPr id="2600"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2601"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09 / 36</a:t>
            </a:r>
            <a:endParaRPr/>
          </a:p>
        </p:txBody>
      </p:sp>
    </p:spTree>
  </p:cSld>
</p:sld>
</file>

<file path=ppt/slides/slide10.xml><?xml version="1.0" encoding="utf-8"?>
<p:sld xmlns:p="http://schemas.openxmlformats.org/presentationml/2006/main" xmlns:a="http://schemas.openxmlformats.org/drawingml/2006/main">
  <p:cSld>
    <p:spTree>
      <p:nvGrpSpPr>
        <p:cNvPr id="36" name="" descr="&lt;Slide style={{ width: 1280, height: 720, background: '#FFFFFF', padding: '24px 64px 0' }}&gt;&#10;    {/* A 区 */}&#10;    &lt;Box style={{ height: 96, flexDirection: 'column', justifyContent: 'flex-start' }}&gt;&#10;        &lt;Text style={{ fontSize: 32, fontWeight: 'bold', color: '#0F1423' }}&gt;&#10;            全链路可追溯矩阵 &lt;span style={{ color: '#FA4F24' }}&gt;诊断 → 建议 → 需求&lt;/span&gt;&#10;        &lt;/Text&gt;&#10;        &lt;Text style={{ fontSize: 19, color: '#8A8F99', marginTop: 7 }}&gt;&#10;            招标 3.2(1) 明文要求，这是本册唯一一条不能打折扣的硬条款&#10;        &lt;/Text&gt;&#10;    &lt;/Box&gt;&#10;    &lt;Box style={{ height: 1, background: '#E8E8E8' }} /&gt;&#10;&#10;    {/* B 区 */}&#10;    &lt;Box style={{ paddingTop: 10, paddingBottom: 6, height: 479, flexDirection: 'column', gap: 8 }}&gt;&#10;&#10;        {/* 上：四段链条 */}&#10;        &lt;Box style={{ height: 34, flexDirection: 'row', gap: 6, alignItems: 'stretch' }}&gt;&#10;            {[&#10;                { n: 'P', t: '痛点', s: '现象与影响（业务/数据/系统三维度）', c: '#8A8F99' },&#10;                { n: 'R', t: '根因', s: '追到组织、规则、权责层（不是停在现象）', c: '#F87D2F' },&#10;                { n: 'B', t: '变革建议', s: '改哪条流程、建什么能力、谁负责', c: '#FA4F24' },&#10;                { n: 'S', t: '系统需求', s: '落到 L5-L6 / 实体属性 / 应用特性', c: '#C43A17' },&#10;            ].map((x, i) =&gt; (&#10;                &lt;Box key={x.n} style={{ flex: 1, background: '#F7F7F8', borderRadius: 4, borderTop: '3px solid ' + x.c, padding: '0 12px', flexDirection: 'row', alignItems: 'center', gap: 8 }}&gt;&#10;                    &lt;Box style={{ width: 24, height: 24, borderRadius: 12, background: x.c, alignItems: 'center', justifyContent: 'center', flexDirection: 'row' }}&gt;&#10;                        &lt;Text style={{ fontSize: 12, fontWeight: 'bold', color: '#FFFFFF' }}&gt;{x.n}&lt;/Text&gt;&#10;                    &lt;/Box&gt;&#10;                    &lt;Box style={{ flex: 1 }}&gt;&#10;                        &lt;Text style={{ fontSize: 12.5, fontWeight: 'bold', color: '#0F1423' }}&gt;{x.t}&lt;/Text&gt;&#10;                        &lt;Text style={{ fontSize: 10, color: '#5A6070', marginTop: 1 }}&gt;{x.s}&lt;/Text&gt;&#10;                    &lt;/Box&gt;&#10;                    {i &lt; 3 &amp;&amp; &lt;Text style={{ fontSize: 15, color: '#C8CCD4', fontWeight: 'bold' }}&gt;›&lt;/Text&gt;}&#10;                &lt;/Box&gt;&#10;            ))}&#10;        &lt;/Box&gt;&#10;&#10;        {/* 中：编号规则 + 示例行 */}&#10;        &lt;Box style={{ flex: 1, flexDirection: 'column', gap: 5 }}&gt;&#10;            &lt;Box style={{ height: 26, flexDirection: 'row', gap: 6 }}&gt;&#10;                &lt;Box style={{ width: 400, background: '#0F1423', borderRadius: 3, padding: '0 11px', flexDirection: 'row', alignItems: 'center' }}&gt;&#10;                    &lt;Text style={{ fontSize: 11, fontWeight: 'bold', color: '#FFFFFF' }}&gt;编号规则（四段各一段，不允许空号）&lt;/Text&gt;&#10;                &lt;/Box&gt;&#10;                &lt;Box style={{ flex: 1, background: '#0F1423', borderRadius: 3, padding: '0 11px', flexDirection: 'row', alignItems: 'center' }}&gt;&#10;                    &lt;Text style={{ fontSize: 11, fontWeight: 'bold', color: '#FFFFFF' }}&gt;示例行（真实诊断中会写成这样一条）&lt;/Text&gt;&#10;                &lt;/Box&gt;&#10;            &lt;/Box&gt;&#10;            {[&#10;                {&#10;                    id: 'PAIN-E3-07　ROOT-E3-03　BLD-E3-05　REQ-E3-118',&#10;                    a: '运维缺陷闭环要跨 3 个系统，平均 6.5 天',&#10;                    b: '缺陷与设备资产未建立主键关联，工单只能手工挂接',&#10;                    c: '建「设备—缺陷—检修工单」主数据关联，缺陷在资产台账内闭环',&#10;                    d: 'REQ：设备资产主数据模型 / 工单自动挂接规则 / 缺陷闭环时限监控',&#10;                },&#10;                {&#10;                    id: 'PAIN-S2-02　ROOT-S2-01　BLD-S2-03　REQ-S2-041',&#10;                    a: '同一产品不同配置的 EBOM 差异靠人工比对',&#10;                    b: 'EBOM→MBOM 转换规则只存在工程师个人经验里，未沉淀',&#10;                    c: '把转换规则建成可维护的规则库，配置差异自动展开',&#10;                    d: 'REQ：转换规则模型 / 规则版本管理 / 差异审批流',&#10;                },&#10;                {&#10;                    id: 'PAIN-E5-04　ROOT-E5-02　BLD-E5-06　REQ-E5-073',&#10;                    a: '同一个投资额财务与项目管理各有一个版本',&#10;                    b: '概算/预算/决算口径分散在多系统，无统一裁定规则',&#10;                    c: '建立四算主数据与口径裁定机制，指标字典作为唯一出口',&#10;                    d: 'REQ：四算主数据模型 / 口径裁定流程 / 指标字典接口',&#10;                },&#10;            ].map((r, i) =&gt; (&#10;                &lt;Box key={i} style={{ flex: 1, flexDirection: 'row', gap: 6, alignItems: 'stretch' }}&gt;&#10;                    &lt;Box style={{ width: 400, background: '#FFF3EE', borderRadius: 3, borderLeft: '3px solid #FA4F24', padding: '0 11px', flexDirection: 'column', justifyContent: 'center' }}&gt;&#10;                        &lt;Text style={{ fontSize: 10.5, color: '#C43A17', fontWeight: 'bold', lineHeight: 1.35 }}&gt;{r.id}&lt;/Text&gt;&#10;                    &lt;/Box&gt;&#10;                    &lt;Box style={{ flex: 1, background: '#F7F7F8', borderRadius: 3, padding: '0 11px', flexDirection: 'column', justifyContent: 'center', gap: 2 }}&gt;&#10;                        &lt;Text style={{ fontSize: 10, color: '#5A6070', lineHeight: 1.3 }}&gt;P：{r.a}&lt;/Text&gt;&#10;                        &lt;Text style={{ fontSize: 10, color: '#5A6070', lineHeight: 1.3 }}&gt;R：{r.b}&lt;/Text&gt;&#10;                        &lt;Text style={{ fontSize: 10, color: '#3A4050', lineHeight: 1.3 }}&gt;B：{r.c}&lt;/Text&gt;&#10;                        &lt;Text style={{ fontSize: 10, color: '#0F1423', lineHeight: 1.3 }}&gt;S：{r.d}&lt;/Text&gt;&#10;                    &lt;/Box&gt;&#10;                &lt;/Box&gt;&#10;            ))}&#10;        &lt;/Box&gt;&#10;&#10;        {/* 下：三条规则 */}&#10;        &lt;Box style={{ height: 44, flexDirection: 'row', gap: 7 }}&gt;&#10;            {[&#10;                { k: '可上不可下', v: '每条根因必须至少有一条变革建议，每条建议必须至少有一条需求', c: '#FA4F24', dark: true },&#10;                { k: '空号即作废', v: '不写「待定」，写不出就删掉这条痛点，不进矩阵', c: '#F87D2F', dark: false },&#10;                { k: '反向可查', v: '评审时抽任意一条需求，能三分钟倒推回痛点原话', c: '#C43A17', dark: false },&#10;            ].map((x) =&gt; (&#10;                &lt;Box key={x.k} style={{ flex: 1, background: x.dark ? '#0F1423' : '#F7F7F8', borderLeft: '4px solid ' + x.c, borderRadius: 3, padding: '0 12px', flexDirection: 'column', justifyContent: 'center' }}&gt;&#10;                    &lt;Text style={{ fontSize: 12, fontWeight: 'bold', color: x.dark ? '#FBA15C' : '#0F1423' }}&gt;{x.k}&lt;/Text&gt;&#10;                    &lt;Text style={{ fontSize: 10, color: x.dark ? 'rgba(255,255,255,0.86)' : '#5A6070', lineHeight: 1.3, marginTop: 2 }}&gt;{x.v}&lt;/Text&gt;&#10;                &lt;/Box&gt;&#10;            ))}&#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10 / 36&lt;/Text&gt;&#10;    &lt;/Box&gt;&#10;&lt;/Slide&gt;&#10;"/>
        <p:cNvGrpSpPr/>
        <p:nvPr/>
      </p:nvGrpSpPr>
      <p:grpSpPr>
        <a:xfrm>
          <a:off x="0" y="0"/>
          <a:ext cx="0" cy="0"/>
          <a:chOff x="0" y="0"/>
          <a:chExt cx="0" cy="0"/>
        </a:xfrm>
      </p:grpSpPr>
      <p:sp>
        <p:nvSpPr>
          <p:cNvPr id="37" name=""/>
          <p:cNvSpPr/>
          <p:nvPr/>
        </p:nvSpPr>
        <p:spPr>
          <a:xfrm rot="0" flipH="0" flipV="0">
            <a:off x="0" y="0"/>
            <a:ext cx="12192000" cy="6858000"/>
          </a:xfrm>
          <a:prstGeom prst="rect">
            <a:avLst/>
          </a:prstGeom>
          <a:solidFill>
            <a:srgbClr val="FFFFFF"/>
          </a:solidFill>
          <a:ln/>
        </p:spPr>
        <p:txBody>
          <a:bodyPr/>
          <a:p/>
        </p:txBody>
      </p:sp>
      <p:sp>
        <p:nvSpPr>
          <p:cNvPr id="3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全链路可追溯矩阵</a:t>
            </a:r>
            <a:r>
              <a:rPr lang="en-US" sz="2400" b="1">
                <a:solidFill>
                  <a:srgbClr val="0F1423"/>
                </a:solidFill>
                <a:latin typeface="Microsoft YaHei"/>
                <a:ea typeface="Microsoft YaHei"/>
              </a:rPr>
              <a:t xml:space="preserve"> </a:t>
            </a:r>
            <a:r>
              <a:rPr lang="zh-CN" sz="2400" b="1">
                <a:solidFill>
                  <a:srgbClr val="FA4F24"/>
                </a:solidFill>
                <a:latin typeface="Microsoft YaHei"/>
                <a:ea typeface="Microsoft YaHei"/>
              </a:rPr>
              <a:t>诊断</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建议</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需求</a:t>
            </a:r>
            <a:endParaRPr/>
          </a:p>
        </p:txBody>
      </p:sp>
      <p:sp>
        <p:nvSpPr>
          <p:cNvPr id="39"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3.2(1) </a:t>
            </a:r>
            <a:r>
              <a:rPr lang="zh-CN" sz="1425">
                <a:solidFill>
                  <a:srgbClr val="8A8F99"/>
                </a:solidFill>
                <a:latin typeface="Microsoft YaHei"/>
                <a:ea typeface="Microsoft YaHei"/>
              </a:rPr>
              <a:t>明文要求，这是本册唯一一条不能打折扣的硬条款</a:t>
            </a:r>
            <a:endParaRPr/>
          </a:p>
        </p:txBody>
      </p:sp>
      <p:sp>
        <p:nvSpPr>
          <p:cNvPr id="40" name=""/>
          <p:cNvSpPr/>
          <p:nvPr/>
        </p:nvSpPr>
        <p:spPr>
          <a:xfrm rot="0" flipH="0" flipV="0">
            <a:off x="609600" y="1143000"/>
            <a:ext cx="10972800" cy="9525"/>
          </a:xfrm>
          <a:prstGeom prst="rect">
            <a:avLst/>
          </a:prstGeom>
          <a:solidFill>
            <a:srgbClr val="E8E8E8"/>
          </a:solidFill>
          <a:ln/>
        </p:spPr>
        <p:txBody>
          <a:bodyPr/>
          <a:p/>
        </p:txBody>
      </p:sp>
      <p:sp>
        <p:nvSpPr>
          <p:cNvPr id="41" name=""/>
          <p:cNvSpPr/>
          <p:nvPr/>
        </p:nvSpPr>
        <p:spPr>
          <a:xfrm rot="0" flipH="0" flipV="0">
            <a:off x="609600" y="1276350"/>
            <a:ext cx="2705100" cy="323850"/>
          </a:xfrm>
          <a:prstGeom prst="roundRect">
            <a:avLst>
              <a:gd name="adj" fmla="val 11765"/>
            </a:avLst>
          </a:prstGeom>
          <a:solidFill>
            <a:srgbClr val="F7F7F8"/>
          </a:solidFill>
          <a:ln/>
        </p:spPr>
        <p:txBody>
          <a:bodyPr/>
          <a:p/>
        </p:txBody>
      </p:sp>
      <p:sp>
        <p:nvSpPr>
          <p:cNvPr id="42" name=""/>
          <p:cNvSpPr/>
          <p:nvPr/>
        </p:nvSpPr>
        <p:spPr>
          <a:xfrm rot="0" flipH="0" flipV="0">
            <a:off x="609600" y="1276350"/>
            <a:ext cx="2705100" cy="323850"/>
          </a:xfrm>
          <a:custGeom>
            <a:pathLst>
              <a:path w="284" h="34">
                <a:moveTo>
                  <a:pt x="280" y="0"/>
                </a:moveTo>
                <a:cubicBezTo>
                  <a:pt x="282" y="0"/>
                  <a:pt x="284" y="2"/>
                  <a:pt x="284" y="4"/>
                </a:cubicBezTo>
                <a:cubicBezTo>
                  <a:pt x="284" y="3"/>
                  <a:pt x="283" y="3"/>
                  <a:pt x="283" y="3"/>
                </a:cubicBezTo>
                <a:lnTo>
                  <a:pt x="1" y="3"/>
                </a:lnTo>
                <a:cubicBezTo>
                  <a:pt x="1" y="3"/>
                  <a:pt x="0" y="3"/>
                  <a:pt x="0" y="4"/>
                </a:cubicBezTo>
                <a:cubicBezTo>
                  <a:pt x="0" y="2"/>
                  <a:pt x="2" y="0"/>
                  <a:pt x="4" y="0"/>
                </a:cubicBezTo>
                <a:lnTo>
                  <a:pt x="280" y="0"/>
                </a:lnTo>
                <a:close/>
              </a:path>
            </a:pathLst>
          </a:custGeom>
          <a:solidFill>
            <a:srgbClr val="8A8F99"/>
          </a:solidFill>
          <a:ln/>
        </p:spPr>
        <p:txBody>
          <a:bodyPr/>
          <a:p/>
        </p:txBody>
      </p:sp>
      <p:sp>
        <p:nvSpPr>
          <p:cNvPr id="43" name=""/>
          <p:cNvSpPr/>
          <p:nvPr/>
        </p:nvSpPr>
        <p:spPr>
          <a:xfrm rot="0" flipH="0" flipV="0">
            <a:off x="723900" y="1314450"/>
            <a:ext cx="228600" cy="228600"/>
          </a:xfrm>
          <a:prstGeom prst="roundRect">
            <a:avLst>
              <a:gd name="adj" fmla="val 50000"/>
            </a:avLst>
          </a:prstGeom>
          <a:solidFill>
            <a:srgbClr val="8A8F99"/>
          </a:solidFill>
          <a:ln/>
        </p:spPr>
        <p:txBody>
          <a:bodyPr/>
          <a:p/>
        </p:txBody>
      </p:sp>
      <p:sp>
        <p:nvSpPr>
          <p:cNvPr id="44" name="" descr="{&quot;isTemplate&quot;:true,&quot;type&quot;:&quot;text&quot;}"/>
          <p:cNvSpPr txBox="1"/>
          <p:nvPr/>
        </p:nvSpPr>
        <p:spPr>
          <a:xfrm rot="0" flipH="0" flipV="0">
            <a:off x="800100" y="1362075"/>
            <a:ext cx="76200" cy="142875"/>
          </a:xfrm>
          <a:prstGeom prst="rect"/>
        </p:spPr>
        <p:txBody>
          <a:bodyPr wrap="none" lIns="0" tIns="0" rIns="0" bIns="0"/>
          <a:p>
            <a:pPr>
              <a:lnSpc>
                <a:spcPct val="100000"/>
              </a:lnSpc>
            </a:pPr>
            <a:r>
              <a:rPr lang="en-US" sz="900" b="1">
                <a:solidFill>
                  <a:srgbClr val="FFFFFF"/>
                </a:solidFill>
                <a:latin typeface="Microsoft YaHei"/>
                <a:ea typeface="Microsoft YaHei"/>
              </a:rPr>
              <a:t>P</a:t>
            </a:r>
            <a:endParaRPr/>
          </a:p>
        </p:txBody>
      </p:sp>
      <p:sp>
        <p:nvSpPr>
          <p:cNvPr id="45" name="" descr="{&quot;isTemplate&quot;:true,&quot;type&quot;:&quot;text&quot;}"/>
          <p:cNvSpPr txBox="1"/>
          <p:nvPr/>
        </p:nvSpPr>
        <p:spPr>
          <a:xfrm rot="0" flipH="0" flipV="0">
            <a:off x="1028700" y="1295400"/>
            <a:ext cx="2038350" cy="142875"/>
          </a:xfrm>
          <a:prstGeom prst="rect"/>
        </p:spPr>
        <p:txBody>
          <a:bodyPr wrap="none" lIns="0" tIns="0" rIns="0" bIns="0"/>
          <a:p>
            <a:pPr>
              <a:lnSpc>
                <a:spcPct val="100000"/>
              </a:lnSpc>
            </a:pPr>
            <a:r>
              <a:rPr lang="zh-CN" sz="938" b="1">
                <a:solidFill>
                  <a:srgbClr val="0F1423"/>
                </a:solidFill>
                <a:latin typeface="Microsoft YaHei"/>
                <a:ea typeface="Microsoft YaHei"/>
              </a:rPr>
              <a:t>痛点</a:t>
            </a:r>
            <a:endParaRPr/>
          </a:p>
        </p:txBody>
      </p:sp>
      <p:sp>
        <p:nvSpPr>
          <p:cNvPr id="46" name="" descr="{&quot;isTemplate&quot;:true,&quot;type&quot;:&quot;text&quot;}"/>
          <p:cNvSpPr txBox="1"/>
          <p:nvPr/>
        </p:nvSpPr>
        <p:spPr>
          <a:xfrm rot="0" flipH="0" flipV="0">
            <a:off x="1028700" y="1447800"/>
            <a:ext cx="2038350" cy="114300"/>
          </a:xfrm>
          <a:prstGeom prst="rect"/>
        </p:spPr>
        <p:txBody>
          <a:bodyPr wrap="none" lIns="0" tIns="0" rIns="0" bIns="0"/>
          <a:p>
            <a:pPr>
              <a:lnSpc>
                <a:spcPct val="100000"/>
              </a:lnSpc>
            </a:pPr>
            <a:r>
              <a:rPr lang="zh-CN" sz="750">
                <a:solidFill>
                  <a:srgbClr val="5A6070"/>
                </a:solidFill>
                <a:latin typeface="Microsoft YaHei"/>
                <a:ea typeface="Microsoft YaHei"/>
              </a:rPr>
              <a:t>现象与影响（业务</a:t>
            </a:r>
            <a:r>
              <a:rPr lang="en-US" sz="750">
                <a:solidFill>
                  <a:srgbClr val="5A6070"/>
                </a:solidFill>
                <a:latin typeface="Microsoft YaHei"/>
                <a:ea typeface="Microsoft YaHei"/>
              </a:rPr>
              <a:t>/</a:t>
            </a:r>
            <a:r>
              <a:rPr lang="zh-CN" sz="750">
                <a:solidFill>
                  <a:srgbClr val="5A6070"/>
                </a:solidFill>
                <a:latin typeface="Microsoft YaHei"/>
                <a:ea typeface="Microsoft YaHei"/>
              </a:rPr>
              <a:t>数据</a:t>
            </a:r>
            <a:r>
              <a:rPr lang="en-US" sz="750">
                <a:solidFill>
                  <a:srgbClr val="5A6070"/>
                </a:solidFill>
                <a:latin typeface="Microsoft YaHei"/>
                <a:ea typeface="Microsoft YaHei"/>
              </a:rPr>
              <a:t>/</a:t>
            </a:r>
            <a:r>
              <a:rPr lang="zh-CN" sz="750">
                <a:solidFill>
                  <a:srgbClr val="5A6070"/>
                </a:solidFill>
                <a:latin typeface="Microsoft YaHei"/>
                <a:ea typeface="Microsoft YaHei"/>
              </a:rPr>
              <a:t>系统三维度）</a:t>
            </a:r>
            <a:endParaRPr/>
          </a:p>
        </p:txBody>
      </p:sp>
      <p:sp>
        <p:nvSpPr>
          <p:cNvPr id="47" name="" descr="{&quot;isTemplate&quot;:true,&quot;type&quot;:&quot;text&quot;}"/>
          <p:cNvSpPr txBox="1"/>
          <p:nvPr/>
        </p:nvSpPr>
        <p:spPr>
          <a:xfrm rot="0" flipH="0" flipV="0">
            <a:off x="3143250" y="1343025"/>
            <a:ext cx="57150" cy="171450"/>
          </a:xfrm>
          <a:prstGeom prst="rect"/>
        </p:spPr>
        <p:txBody>
          <a:bodyPr wrap="none" lIns="0" tIns="0" rIns="0" bIns="0"/>
          <a:p>
            <a:pPr>
              <a:lnSpc>
                <a:spcPct val="100000"/>
              </a:lnSpc>
            </a:pPr>
            <a:r>
              <a:rPr sz="1125" b="1">
                <a:solidFill>
                  <a:srgbClr val="C8CCD4"/>
                </a:solidFill>
                <a:latin typeface="Microsoft YaHei"/>
                <a:ea typeface="Microsoft YaHei"/>
              </a:rPr>
              <a:t>›</a:t>
            </a:r>
            <a:endParaRPr/>
          </a:p>
        </p:txBody>
      </p:sp>
      <p:sp>
        <p:nvSpPr>
          <p:cNvPr id="48" name=""/>
          <p:cNvSpPr/>
          <p:nvPr/>
        </p:nvSpPr>
        <p:spPr>
          <a:xfrm rot="0" flipH="0" flipV="0">
            <a:off x="3371850" y="1276350"/>
            <a:ext cx="2695575" cy="323850"/>
          </a:xfrm>
          <a:prstGeom prst="roundRect">
            <a:avLst>
              <a:gd name="adj" fmla="val 11765"/>
            </a:avLst>
          </a:prstGeom>
          <a:solidFill>
            <a:srgbClr val="F7F7F8"/>
          </a:solidFill>
          <a:ln/>
        </p:spPr>
        <p:txBody>
          <a:bodyPr/>
          <a:p/>
        </p:txBody>
      </p:sp>
      <p:sp>
        <p:nvSpPr>
          <p:cNvPr id="49" name=""/>
          <p:cNvSpPr/>
          <p:nvPr/>
        </p:nvSpPr>
        <p:spPr>
          <a:xfrm rot="0" flipH="0" flipV="0">
            <a:off x="3371850" y="1276350"/>
            <a:ext cx="2695575" cy="323850"/>
          </a:xfrm>
          <a:custGeom>
            <a:pathLst>
              <a:path w="283" h="34">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F87D2F"/>
          </a:solidFill>
          <a:ln/>
        </p:spPr>
        <p:txBody>
          <a:bodyPr/>
          <a:p/>
        </p:txBody>
      </p:sp>
      <p:sp>
        <p:nvSpPr>
          <p:cNvPr id="50" name=""/>
          <p:cNvSpPr/>
          <p:nvPr/>
        </p:nvSpPr>
        <p:spPr>
          <a:xfrm rot="0" flipH="0" flipV="0">
            <a:off x="3486150" y="1314450"/>
            <a:ext cx="228600" cy="228600"/>
          </a:xfrm>
          <a:prstGeom prst="roundRect">
            <a:avLst>
              <a:gd name="adj" fmla="val 50000"/>
            </a:avLst>
          </a:prstGeom>
          <a:solidFill>
            <a:srgbClr val="F87D2F"/>
          </a:solidFill>
          <a:ln/>
        </p:spPr>
        <p:txBody>
          <a:bodyPr/>
          <a:p/>
        </p:txBody>
      </p:sp>
      <p:sp>
        <p:nvSpPr>
          <p:cNvPr id="51" name="" descr="{&quot;isTemplate&quot;:true,&quot;type&quot;:&quot;text&quot;}"/>
          <p:cNvSpPr txBox="1"/>
          <p:nvPr/>
        </p:nvSpPr>
        <p:spPr>
          <a:xfrm rot="0" flipH="0" flipV="0">
            <a:off x="3562350" y="1362075"/>
            <a:ext cx="85725" cy="142875"/>
          </a:xfrm>
          <a:prstGeom prst="rect"/>
        </p:spPr>
        <p:txBody>
          <a:bodyPr wrap="none" lIns="0" tIns="0" rIns="0" bIns="0"/>
          <a:p>
            <a:pPr>
              <a:lnSpc>
                <a:spcPct val="100000"/>
              </a:lnSpc>
            </a:pPr>
            <a:r>
              <a:rPr lang="en-US" sz="900" b="1">
                <a:solidFill>
                  <a:srgbClr val="FFFFFF"/>
                </a:solidFill>
                <a:latin typeface="Microsoft YaHei"/>
                <a:ea typeface="Microsoft YaHei"/>
              </a:rPr>
              <a:t>R</a:t>
            </a:r>
            <a:endParaRPr/>
          </a:p>
        </p:txBody>
      </p:sp>
      <p:sp>
        <p:nvSpPr>
          <p:cNvPr id="52" name="" descr="{&quot;isTemplate&quot;:true,&quot;type&quot;:&quot;text&quot;}"/>
          <p:cNvSpPr txBox="1"/>
          <p:nvPr/>
        </p:nvSpPr>
        <p:spPr>
          <a:xfrm rot="0" flipH="0" flipV="0">
            <a:off x="3790950" y="1295400"/>
            <a:ext cx="2028825" cy="142875"/>
          </a:xfrm>
          <a:prstGeom prst="rect"/>
        </p:spPr>
        <p:txBody>
          <a:bodyPr wrap="none" lIns="0" tIns="0" rIns="0" bIns="0"/>
          <a:p>
            <a:pPr>
              <a:lnSpc>
                <a:spcPct val="100000"/>
              </a:lnSpc>
            </a:pPr>
            <a:r>
              <a:rPr lang="zh-CN" sz="938" b="1">
                <a:solidFill>
                  <a:srgbClr val="0F1423"/>
                </a:solidFill>
                <a:latin typeface="Microsoft YaHei"/>
                <a:ea typeface="Microsoft YaHei"/>
              </a:rPr>
              <a:t>根因</a:t>
            </a:r>
            <a:endParaRPr/>
          </a:p>
        </p:txBody>
      </p:sp>
      <p:sp>
        <p:nvSpPr>
          <p:cNvPr id="53" name="" descr="{&quot;isTemplate&quot;:true,&quot;type&quot;:&quot;text&quot;}"/>
          <p:cNvSpPr txBox="1"/>
          <p:nvPr/>
        </p:nvSpPr>
        <p:spPr>
          <a:xfrm rot="0" flipH="0" flipV="0">
            <a:off x="3790950" y="1447800"/>
            <a:ext cx="2028825" cy="114300"/>
          </a:xfrm>
          <a:prstGeom prst="rect"/>
        </p:spPr>
        <p:txBody>
          <a:bodyPr wrap="none" lIns="0" tIns="0" rIns="0" bIns="0"/>
          <a:p>
            <a:pPr>
              <a:lnSpc>
                <a:spcPct val="100000"/>
              </a:lnSpc>
            </a:pPr>
            <a:r>
              <a:rPr lang="zh-CN" sz="750">
                <a:solidFill>
                  <a:srgbClr val="5A6070"/>
                </a:solidFill>
                <a:latin typeface="Microsoft YaHei"/>
                <a:ea typeface="Microsoft YaHei"/>
              </a:rPr>
              <a:t>追到组织、规则、权责层（不是停在现象）</a:t>
            </a:r>
            <a:endParaRPr/>
          </a:p>
        </p:txBody>
      </p:sp>
      <p:sp>
        <p:nvSpPr>
          <p:cNvPr id="54" name="" descr="{&quot;isTemplate&quot;:true,&quot;type&quot;:&quot;text&quot;}"/>
          <p:cNvSpPr txBox="1"/>
          <p:nvPr/>
        </p:nvSpPr>
        <p:spPr>
          <a:xfrm rot="0" flipH="0" flipV="0">
            <a:off x="5895975" y="1343025"/>
            <a:ext cx="57150" cy="171450"/>
          </a:xfrm>
          <a:prstGeom prst="rect"/>
        </p:spPr>
        <p:txBody>
          <a:bodyPr wrap="none" lIns="0" tIns="0" rIns="0" bIns="0"/>
          <a:p>
            <a:pPr>
              <a:lnSpc>
                <a:spcPct val="100000"/>
              </a:lnSpc>
            </a:pPr>
            <a:r>
              <a:rPr sz="1125" b="1">
                <a:solidFill>
                  <a:srgbClr val="C8CCD4"/>
                </a:solidFill>
                <a:latin typeface="Microsoft YaHei"/>
                <a:ea typeface="Microsoft YaHei"/>
              </a:rPr>
              <a:t>›</a:t>
            </a:r>
            <a:endParaRPr/>
          </a:p>
        </p:txBody>
      </p:sp>
      <p:sp>
        <p:nvSpPr>
          <p:cNvPr id="55" name=""/>
          <p:cNvSpPr/>
          <p:nvPr/>
        </p:nvSpPr>
        <p:spPr>
          <a:xfrm rot="0" flipH="0" flipV="0">
            <a:off x="6124575" y="1276350"/>
            <a:ext cx="2705100" cy="323850"/>
          </a:xfrm>
          <a:prstGeom prst="roundRect">
            <a:avLst>
              <a:gd name="adj" fmla="val 11765"/>
            </a:avLst>
          </a:prstGeom>
          <a:solidFill>
            <a:srgbClr val="F7F7F8"/>
          </a:solidFill>
          <a:ln/>
        </p:spPr>
        <p:txBody>
          <a:bodyPr/>
          <a:p/>
        </p:txBody>
      </p:sp>
      <p:sp>
        <p:nvSpPr>
          <p:cNvPr id="56" name=""/>
          <p:cNvSpPr/>
          <p:nvPr/>
        </p:nvSpPr>
        <p:spPr>
          <a:xfrm rot="0" flipH="0" flipV="0">
            <a:off x="6124575" y="1276350"/>
            <a:ext cx="2705100" cy="323850"/>
          </a:xfrm>
          <a:custGeom>
            <a:pathLst>
              <a:path w="284" h="34">
                <a:moveTo>
                  <a:pt x="280" y="0"/>
                </a:moveTo>
                <a:cubicBezTo>
                  <a:pt x="282" y="0"/>
                  <a:pt x="284" y="2"/>
                  <a:pt x="284" y="4"/>
                </a:cubicBezTo>
                <a:cubicBezTo>
                  <a:pt x="284" y="3"/>
                  <a:pt x="283" y="3"/>
                  <a:pt x="283" y="3"/>
                </a:cubicBezTo>
                <a:lnTo>
                  <a:pt x="1" y="3"/>
                </a:lnTo>
                <a:cubicBezTo>
                  <a:pt x="1" y="3"/>
                  <a:pt x="0" y="3"/>
                  <a:pt x="0" y="4"/>
                </a:cubicBezTo>
                <a:cubicBezTo>
                  <a:pt x="0" y="2"/>
                  <a:pt x="2" y="0"/>
                  <a:pt x="4" y="0"/>
                </a:cubicBezTo>
                <a:lnTo>
                  <a:pt x="280" y="0"/>
                </a:lnTo>
                <a:close/>
              </a:path>
            </a:pathLst>
          </a:custGeom>
          <a:solidFill>
            <a:srgbClr val="FA4F24"/>
          </a:solidFill>
          <a:ln/>
        </p:spPr>
        <p:txBody>
          <a:bodyPr/>
          <a:p/>
        </p:txBody>
      </p:sp>
      <p:sp>
        <p:nvSpPr>
          <p:cNvPr id="57" name=""/>
          <p:cNvSpPr/>
          <p:nvPr/>
        </p:nvSpPr>
        <p:spPr>
          <a:xfrm rot="0" flipH="0" flipV="0">
            <a:off x="6238875" y="1314450"/>
            <a:ext cx="228600" cy="228600"/>
          </a:xfrm>
          <a:prstGeom prst="roundRect">
            <a:avLst>
              <a:gd name="adj" fmla="val 50000"/>
            </a:avLst>
          </a:prstGeom>
          <a:solidFill>
            <a:srgbClr val="FA4F24"/>
          </a:solidFill>
          <a:ln/>
        </p:spPr>
        <p:txBody>
          <a:bodyPr/>
          <a:p/>
        </p:txBody>
      </p:sp>
      <p:sp>
        <p:nvSpPr>
          <p:cNvPr id="58" name="" descr="{&quot;isTemplate&quot;:true,&quot;type&quot;:&quot;text&quot;}"/>
          <p:cNvSpPr txBox="1"/>
          <p:nvPr/>
        </p:nvSpPr>
        <p:spPr>
          <a:xfrm rot="0" flipH="0" flipV="0">
            <a:off x="6315075" y="1362075"/>
            <a:ext cx="85725" cy="142875"/>
          </a:xfrm>
          <a:prstGeom prst="rect"/>
        </p:spPr>
        <p:txBody>
          <a:bodyPr wrap="none" lIns="0" tIns="0" rIns="0" bIns="0"/>
          <a:p>
            <a:pPr>
              <a:lnSpc>
                <a:spcPct val="100000"/>
              </a:lnSpc>
            </a:pPr>
            <a:r>
              <a:rPr lang="en-US" sz="900" b="1">
                <a:solidFill>
                  <a:srgbClr val="FFFFFF"/>
                </a:solidFill>
                <a:latin typeface="Microsoft YaHei"/>
                <a:ea typeface="Microsoft YaHei"/>
              </a:rPr>
              <a:t>B</a:t>
            </a:r>
            <a:endParaRPr/>
          </a:p>
        </p:txBody>
      </p:sp>
      <p:sp>
        <p:nvSpPr>
          <p:cNvPr id="59" name="" descr="{&quot;isTemplate&quot;:true,&quot;type&quot;:&quot;text&quot;}"/>
          <p:cNvSpPr txBox="1"/>
          <p:nvPr/>
        </p:nvSpPr>
        <p:spPr>
          <a:xfrm rot="0" flipH="0" flipV="0">
            <a:off x="6543675" y="1295400"/>
            <a:ext cx="2038350" cy="142875"/>
          </a:xfrm>
          <a:prstGeom prst="rect"/>
        </p:spPr>
        <p:txBody>
          <a:bodyPr wrap="none" lIns="0" tIns="0" rIns="0" bIns="0"/>
          <a:p>
            <a:pPr>
              <a:lnSpc>
                <a:spcPct val="100000"/>
              </a:lnSpc>
            </a:pPr>
            <a:r>
              <a:rPr lang="zh-CN" sz="938" b="1">
                <a:solidFill>
                  <a:srgbClr val="0F1423"/>
                </a:solidFill>
                <a:latin typeface="Microsoft YaHei"/>
                <a:ea typeface="Microsoft YaHei"/>
              </a:rPr>
              <a:t>变革建议</a:t>
            </a:r>
            <a:endParaRPr/>
          </a:p>
        </p:txBody>
      </p:sp>
      <p:sp>
        <p:nvSpPr>
          <p:cNvPr id="60" name="" descr="{&quot;isTemplate&quot;:true,&quot;type&quot;:&quot;text&quot;}"/>
          <p:cNvSpPr txBox="1"/>
          <p:nvPr/>
        </p:nvSpPr>
        <p:spPr>
          <a:xfrm rot="0" flipH="0" flipV="0">
            <a:off x="6543675" y="1447800"/>
            <a:ext cx="2038350" cy="114300"/>
          </a:xfrm>
          <a:prstGeom prst="rect"/>
        </p:spPr>
        <p:txBody>
          <a:bodyPr wrap="none" lIns="0" tIns="0" rIns="0" bIns="0"/>
          <a:p>
            <a:pPr>
              <a:lnSpc>
                <a:spcPct val="100000"/>
              </a:lnSpc>
            </a:pPr>
            <a:r>
              <a:rPr lang="zh-CN" sz="750">
                <a:solidFill>
                  <a:srgbClr val="5A6070"/>
                </a:solidFill>
                <a:latin typeface="Microsoft YaHei"/>
                <a:ea typeface="Microsoft YaHei"/>
              </a:rPr>
              <a:t>改哪条流程、建什么能力、谁负责</a:t>
            </a:r>
            <a:endParaRPr/>
          </a:p>
        </p:txBody>
      </p:sp>
      <p:sp>
        <p:nvSpPr>
          <p:cNvPr id="61" name="" descr="{&quot;isTemplate&quot;:true,&quot;type&quot;:&quot;text&quot;}"/>
          <p:cNvSpPr txBox="1"/>
          <p:nvPr/>
        </p:nvSpPr>
        <p:spPr>
          <a:xfrm rot="0" flipH="0" flipV="0">
            <a:off x="8658225" y="1343025"/>
            <a:ext cx="57150" cy="171450"/>
          </a:xfrm>
          <a:prstGeom prst="rect"/>
        </p:spPr>
        <p:txBody>
          <a:bodyPr wrap="none" lIns="0" tIns="0" rIns="0" bIns="0"/>
          <a:p>
            <a:pPr>
              <a:lnSpc>
                <a:spcPct val="100000"/>
              </a:lnSpc>
            </a:pPr>
            <a:r>
              <a:rPr sz="1125" b="1">
                <a:solidFill>
                  <a:srgbClr val="C8CCD4"/>
                </a:solidFill>
                <a:latin typeface="Microsoft YaHei"/>
                <a:ea typeface="Microsoft YaHei"/>
              </a:rPr>
              <a:t>›</a:t>
            </a:r>
            <a:endParaRPr/>
          </a:p>
        </p:txBody>
      </p:sp>
      <p:sp>
        <p:nvSpPr>
          <p:cNvPr id="62" name=""/>
          <p:cNvSpPr/>
          <p:nvPr/>
        </p:nvSpPr>
        <p:spPr>
          <a:xfrm rot="0" flipH="0" flipV="0">
            <a:off x="8886825" y="1276350"/>
            <a:ext cx="2695575" cy="323850"/>
          </a:xfrm>
          <a:prstGeom prst="roundRect">
            <a:avLst>
              <a:gd name="adj" fmla="val 11765"/>
            </a:avLst>
          </a:prstGeom>
          <a:solidFill>
            <a:srgbClr val="F7F7F8"/>
          </a:solidFill>
          <a:ln/>
        </p:spPr>
        <p:txBody>
          <a:bodyPr/>
          <a:p/>
        </p:txBody>
      </p:sp>
      <p:sp>
        <p:nvSpPr>
          <p:cNvPr id="63" name=""/>
          <p:cNvSpPr/>
          <p:nvPr/>
        </p:nvSpPr>
        <p:spPr>
          <a:xfrm rot="0" flipH="0" flipV="0">
            <a:off x="8886825" y="1276350"/>
            <a:ext cx="2695575" cy="323850"/>
          </a:xfrm>
          <a:custGeom>
            <a:pathLst>
              <a:path w="283" h="34">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C43A17"/>
          </a:solidFill>
          <a:ln/>
        </p:spPr>
        <p:txBody>
          <a:bodyPr/>
          <a:p/>
        </p:txBody>
      </p:sp>
      <p:sp>
        <p:nvSpPr>
          <p:cNvPr id="64" name=""/>
          <p:cNvSpPr/>
          <p:nvPr/>
        </p:nvSpPr>
        <p:spPr>
          <a:xfrm rot="0" flipH="0" flipV="0">
            <a:off x="9001125" y="1314450"/>
            <a:ext cx="228600" cy="228600"/>
          </a:xfrm>
          <a:prstGeom prst="roundRect">
            <a:avLst>
              <a:gd name="adj" fmla="val 50000"/>
            </a:avLst>
          </a:prstGeom>
          <a:solidFill>
            <a:srgbClr val="C43A17"/>
          </a:solidFill>
          <a:ln/>
        </p:spPr>
        <p:txBody>
          <a:bodyPr/>
          <a:p/>
        </p:txBody>
      </p:sp>
      <p:sp>
        <p:nvSpPr>
          <p:cNvPr id="65" name="" descr="{&quot;isTemplate&quot;:true,&quot;type&quot;:&quot;text&quot;}"/>
          <p:cNvSpPr txBox="1"/>
          <p:nvPr/>
        </p:nvSpPr>
        <p:spPr>
          <a:xfrm rot="0" flipH="0" flipV="0">
            <a:off x="9077325" y="1362075"/>
            <a:ext cx="76200" cy="142875"/>
          </a:xfrm>
          <a:prstGeom prst="rect"/>
        </p:spPr>
        <p:txBody>
          <a:bodyPr wrap="none" lIns="0" tIns="0" rIns="0" bIns="0"/>
          <a:p>
            <a:pPr>
              <a:lnSpc>
                <a:spcPct val="100000"/>
              </a:lnSpc>
            </a:pPr>
            <a:r>
              <a:rPr lang="en-US" sz="900" b="1">
                <a:solidFill>
                  <a:srgbClr val="FFFFFF"/>
                </a:solidFill>
                <a:latin typeface="Microsoft YaHei"/>
                <a:ea typeface="Microsoft YaHei"/>
              </a:rPr>
              <a:t>S</a:t>
            </a:r>
            <a:endParaRPr/>
          </a:p>
        </p:txBody>
      </p:sp>
      <p:sp>
        <p:nvSpPr>
          <p:cNvPr id="66" name="" descr="{&quot;isTemplate&quot;:true,&quot;type&quot;:&quot;text&quot;}"/>
          <p:cNvSpPr txBox="1"/>
          <p:nvPr/>
        </p:nvSpPr>
        <p:spPr>
          <a:xfrm rot="0" flipH="0" flipV="0">
            <a:off x="9305925" y="1295400"/>
            <a:ext cx="2162175" cy="142875"/>
          </a:xfrm>
          <a:prstGeom prst="rect"/>
        </p:spPr>
        <p:txBody>
          <a:bodyPr wrap="none" lIns="0" tIns="0" rIns="0" bIns="0"/>
          <a:p>
            <a:pPr>
              <a:lnSpc>
                <a:spcPct val="100000"/>
              </a:lnSpc>
            </a:pPr>
            <a:r>
              <a:rPr lang="zh-CN" sz="938" b="1">
                <a:solidFill>
                  <a:srgbClr val="0F1423"/>
                </a:solidFill>
                <a:latin typeface="Microsoft YaHei"/>
                <a:ea typeface="Microsoft YaHei"/>
              </a:rPr>
              <a:t>系统需求</a:t>
            </a:r>
            <a:endParaRPr/>
          </a:p>
        </p:txBody>
      </p:sp>
      <p:sp>
        <p:nvSpPr>
          <p:cNvPr id="67" name="" descr="{&quot;isTemplate&quot;:true,&quot;type&quot;:&quot;text&quot;}"/>
          <p:cNvSpPr txBox="1"/>
          <p:nvPr/>
        </p:nvSpPr>
        <p:spPr>
          <a:xfrm rot="0" flipH="0" flipV="0">
            <a:off x="9305925" y="1447800"/>
            <a:ext cx="2162175" cy="114300"/>
          </a:xfrm>
          <a:prstGeom prst="rect"/>
        </p:spPr>
        <p:txBody>
          <a:bodyPr wrap="none" lIns="0" tIns="0" rIns="0" bIns="0"/>
          <a:p>
            <a:pPr>
              <a:lnSpc>
                <a:spcPct val="100000"/>
              </a:lnSpc>
            </a:pPr>
            <a:r>
              <a:rPr lang="zh-CN" sz="750">
                <a:solidFill>
                  <a:srgbClr val="5A6070"/>
                </a:solidFill>
                <a:latin typeface="Microsoft YaHei"/>
                <a:ea typeface="Microsoft YaHei"/>
              </a:rPr>
              <a:t>落到</a:t>
            </a:r>
            <a:r>
              <a:rPr lang="en-US" sz="750">
                <a:solidFill>
                  <a:srgbClr val="5A6070"/>
                </a:solidFill>
                <a:latin typeface="Microsoft YaHei"/>
                <a:ea typeface="Microsoft YaHei"/>
              </a:rPr>
              <a:t xml:space="preserve"> L5-L6 / </a:t>
            </a:r>
            <a:r>
              <a:rPr lang="zh-CN" sz="750">
                <a:solidFill>
                  <a:srgbClr val="5A6070"/>
                </a:solidFill>
                <a:latin typeface="Microsoft YaHei"/>
                <a:ea typeface="Microsoft YaHei"/>
              </a:rPr>
              <a:t>实体属性</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应用特性</a:t>
            </a:r>
            <a:endParaRPr/>
          </a:p>
        </p:txBody>
      </p:sp>
      <p:sp>
        <p:nvSpPr>
          <p:cNvPr id="68" name=""/>
          <p:cNvSpPr/>
          <p:nvPr/>
        </p:nvSpPr>
        <p:spPr>
          <a:xfrm rot="0" flipH="0" flipV="0">
            <a:off x="609600" y="1647825"/>
            <a:ext cx="3810000" cy="247650"/>
          </a:xfrm>
          <a:prstGeom prst="roundRect">
            <a:avLst>
              <a:gd name="adj" fmla="val 11538"/>
            </a:avLst>
          </a:prstGeom>
          <a:solidFill>
            <a:srgbClr val="0F1423"/>
          </a:solidFill>
          <a:ln/>
        </p:spPr>
        <p:txBody>
          <a:bodyPr/>
          <a:p/>
        </p:txBody>
      </p:sp>
      <p:sp>
        <p:nvSpPr>
          <p:cNvPr id="69" name="" descr="{&quot;isTemplate&quot;:true,&quot;type&quot;:&quot;text&quot;}"/>
          <p:cNvSpPr txBox="1"/>
          <p:nvPr/>
        </p:nvSpPr>
        <p:spPr>
          <a:xfrm rot="0" flipH="0" flipV="0">
            <a:off x="714375" y="1704975"/>
            <a:ext cx="1781175" cy="133350"/>
          </a:xfrm>
          <a:prstGeom prst="rect"/>
        </p:spPr>
        <p:txBody>
          <a:bodyPr wrap="none" lIns="0" tIns="0" rIns="0" bIns="0"/>
          <a:p>
            <a:pPr>
              <a:lnSpc>
                <a:spcPct val="100000"/>
              </a:lnSpc>
            </a:pPr>
            <a:r>
              <a:rPr lang="zh-CN" sz="825" b="1">
                <a:solidFill>
                  <a:srgbClr val="FFFFFF"/>
                </a:solidFill>
                <a:latin typeface="Microsoft YaHei"/>
                <a:ea typeface="Microsoft YaHei"/>
              </a:rPr>
              <a:t>编号规则（四段各一段，不允许空号）</a:t>
            </a:r>
            <a:endParaRPr/>
          </a:p>
        </p:txBody>
      </p:sp>
      <p:sp>
        <p:nvSpPr>
          <p:cNvPr id="70" name=""/>
          <p:cNvSpPr/>
          <p:nvPr/>
        </p:nvSpPr>
        <p:spPr>
          <a:xfrm rot="0" flipH="0" flipV="0">
            <a:off x="4476750" y="1647825"/>
            <a:ext cx="7105650" cy="247650"/>
          </a:xfrm>
          <a:prstGeom prst="roundRect">
            <a:avLst>
              <a:gd name="adj" fmla="val 11538"/>
            </a:avLst>
          </a:prstGeom>
          <a:solidFill>
            <a:srgbClr val="0F1423"/>
          </a:solidFill>
          <a:ln/>
        </p:spPr>
        <p:txBody>
          <a:bodyPr/>
          <a:p/>
        </p:txBody>
      </p:sp>
      <p:sp>
        <p:nvSpPr>
          <p:cNvPr id="71" name="" descr="{&quot;isTemplate&quot;:true,&quot;type&quot;:&quot;text&quot;}"/>
          <p:cNvSpPr txBox="1"/>
          <p:nvPr/>
        </p:nvSpPr>
        <p:spPr>
          <a:xfrm rot="0" flipH="0" flipV="0">
            <a:off x="4581525" y="1704975"/>
            <a:ext cx="1781175" cy="133350"/>
          </a:xfrm>
          <a:prstGeom prst="rect"/>
        </p:spPr>
        <p:txBody>
          <a:bodyPr wrap="none" lIns="0" tIns="0" rIns="0" bIns="0"/>
          <a:p>
            <a:pPr>
              <a:lnSpc>
                <a:spcPct val="100000"/>
              </a:lnSpc>
            </a:pPr>
            <a:r>
              <a:rPr lang="zh-CN" sz="825" b="1">
                <a:solidFill>
                  <a:srgbClr val="FFFFFF"/>
                </a:solidFill>
                <a:latin typeface="Microsoft YaHei"/>
                <a:ea typeface="Microsoft YaHei"/>
              </a:rPr>
              <a:t>示例行（真实诊断中会写成这样一条）</a:t>
            </a:r>
            <a:endParaRPr/>
          </a:p>
        </p:txBody>
      </p:sp>
      <p:sp>
        <p:nvSpPr>
          <p:cNvPr id="72" name=""/>
          <p:cNvSpPr/>
          <p:nvPr/>
        </p:nvSpPr>
        <p:spPr>
          <a:xfrm rot="0" flipH="0" flipV="0">
            <a:off x="638175" y="1943100"/>
            <a:ext cx="3781425" cy="1038225"/>
          </a:xfrm>
          <a:prstGeom prst="roundRect">
            <a:avLst>
              <a:gd name="adj" fmla="val 2752"/>
            </a:avLst>
          </a:prstGeom>
          <a:solidFill>
            <a:srgbClr val="FFF3EE"/>
          </a:solidFill>
          <a:ln/>
        </p:spPr>
        <p:txBody>
          <a:bodyPr/>
          <a:p/>
        </p:txBody>
      </p:sp>
      <p:sp>
        <p:nvSpPr>
          <p:cNvPr id="73" name=""/>
          <p:cNvSpPr/>
          <p:nvPr/>
        </p:nvSpPr>
        <p:spPr>
          <a:xfrm rot="0" flipH="0" flipV="0">
            <a:off x="638175" y="1943100"/>
            <a:ext cx="3781425" cy="1038225"/>
          </a:xfrm>
          <a:custGeom>
            <a:pathLst>
              <a:path w="397" h="109">
                <a:moveTo>
                  <a:pt x="3" y="109"/>
                </a:moveTo>
                <a:cubicBezTo>
                  <a:pt x="1" y="109"/>
                  <a:pt x="0" y="108"/>
                  <a:pt x="0" y="106"/>
                </a:cubicBezTo>
                <a:lnTo>
                  <a:pt x="0" y="3"/>
                </a:lnTo>
                <a:cubicBezTo>
                  <a:pt x="0" y="1"/>
                  <a:pt x="1" y="0"/>
                  <a:pt x="3" y="0"/>
                </a:cubicBezTo>
                <a:lnTo>
                  <a:pt x="3" y="109"/>
                </a:lnTo>
                <a:close/>
              </a:path>
            </a:pathLst>
          </a:custGeom>
          <a:solidFill>
            <a:srgbClr val="FA4F24"/>
          </a:solidFill>
          <a:ln/>
        </p:spPr>
        <p:txBody>
          <a:bodyPr/>
          <a:p/>
        </p:txBody>
      </p:sp>
      <p:sp>
        <p:nvSpPr>
          <p:cNvPr id="74" name="" descr="{&quot;isTemplate&quot;:true,&quot;type&quot;:&quot;text&quot;}"/>
          <p:cNvSpPr txBox="1"/>
          <p:nvPr/>
        </p:nvSpPr>
        <p:spPr>
          <a:xfrm rot="0" flipH="0" flipV="0">
            <a:off x="742950" y="2381250"/>
            <a:ext cx="3571875" cy="171450"/>
          </a:xfrm>
          <a:prstGeom prst="rect"/>
        </p:spPr>
        <p:txBody>
          <a:bodyPr wrap="none" lIns="0" tIns="0" rIns="0" bIns="0"/>
          <a:p>
            <a:pPr>
              <a:lnSpc>
                <a:spcPct val="135000"/>
              </a:lnSpc>
            </a:pPr>
            <a:r>
              <a:rPr lang="en-US" sz="788" b="1">
                <a:solidFill>
                  <a:srgbClr val="C43A17"/>
                </a:solidFill>
                <a:latin typeface="Microsoft YaHei"/>
                <a:ea typeface="Microsoft YaHei"/>
              </a:rPr>
              <a:t>PAIN-E3-07</a:t>
            </a:r>
            <a:r>
              <a:rPr lang="zh-CN" sz="788" b="1">
                <a:solidFill>
                  <a:srgbClr val="C43A17"/>
                </a:solidFill>
                <a:latin typeface="Microsoft YaHei"/>
                <a:ea typeface="Microsoft YaHei"/>
              </a:rPr>
              <a:t>　</a:t>
            </a:r>
            <a:r>
              <a:rPr lang="en-US" sz="788" b="1">
                <a:solidFill>
                  <a:srgbClr val="C43A17"/>
                </a:solidFill>
                <a:latin typeface="Microsoft YaHei"/>
                <a:ea typeface="Microsoft YaHei"/>
              </a:rPr>
              <a:t>ROOT-E3-03</a:t>
            </a:r>
            <a:r>
              <a:rPr lang="zh-CN" sz="788" b="1">
                <a:solidFill>
                  <a:srgbClr val="C43A17"/>
                </a:solidFill>
                <a:latin typeface="Microsoft YaHei"/>
                <a:ea typeface="Microsoft YaHei"/>
              </a:rPr>
              <a:t>　</a:t>
            </a:r>
            <a:r>
              <a:rPr lang="en-US" sz="788" b="1">
                <a:solidFill>
                  <a:srgbClr val="C43A17"/>
                </a:solidFill>
                <a:latin typeface="Microsoft YaHei"/>
                <a:ea typeface="Microsoft YaHei"/>
              </a:rPr>
              <a:t>BLD-E3-05</a:t>
            </a:r>
            <a:r>
              <a:rPr lang="zh-CN" sz="788" b="1">
                <a:solidFill>
                  <a:srgbClr val="C43A17"/>
                </a:solidFill>
                <a:latin typeface="Microsoft YaHei"/>
                <a:ea typeface="Microsoft YaHei"/>
              </a:rPr>
              <a:t>　</a:t>
            </a:r>
            <a:r>
              <a:rPr lang="en-US" sz="788" b="1">
                <a:solidFill>
                  <a:srgbClr val="C43A17"/>
                </a:solidFill>
                <a:latin typeface="Microsoft YaHei"/>
                <a:ea typeface="Microsoft YaHei"/>
              </a:rPr>
              <a:t>REQ-E3-118</a:t>
            </a:r>
            <a:endParaRPr/>
          </a:p>
        </p:txBody>
      </p:sp>
      <p:sp>
        <p:nvSpPr>
          <p:cNvPr id="75" name=""/>
          <p:cNvSpPr/>
          <p:nvPr/>
        </p:nvSpPr>
        <p:spPr>
          <a:xfrm rot="0" flipH="0" flipV="0">
            <a:off x="4476750" y="1943100"/>
            <a:ext cx="7105650" cy="1038225"/>
          </a:xfrm>
          <a:prstGeom prst="roundRect">
            <a:avLst>
              <a:gd name="adj" fmla="val 2752"/>
            </a:avLst>
          </a:prstGeom>
          <a:solidFill>
            <a:srgbClr val="F7F7F8"/>
          </a:solidFill>
          <a:ln/>
        </p:spPr>
        <p:txBody>
          <a:bodyPr/>
          <a:p/>
        </p:txBody>
      </p:sp>
      <p:sp>
        <p:nvSpPr>
          <p:cNvPr id="76" name="" descr="{&quot;isTemplate&quot;:true,&quot;type&quot;:&quot;text&quot;}"/>
          <p:cNvSpPr txBox="1"/>
          <p:nvPr/>
        </p:nvSpPr>
        <p:spPr>
          <a:xfrm rot="0" flipH="0" flipV="0">
            <a:off x="4581525" y="2133600"/>
            <a:ext cx="6896100" cy="152400"/>
          </a:xfrm>
          <a:prstGeom prst="rect"/>
        </p:spPr>
        <p:txBody>
          <a:bodyPr wrap="none" lIns="0" tIns="0" rIns="0" bIns="0"/>
          <a:p>
            <a:pPr>
              <a:lnSpc>
                <a:spcPct val="130000"/>
              </a:lnSpc>
            </a:pPr>
            <a:r>
              <a:rPr lang="en-US" sz="750">
                <a:solidFill>
                  <a:srgbClr val="5A6070"/>
                </a:solidFill>
                <a:latin typeface="Microsoft YaHei"/>
                <a:ea typeface="Microsoft YaHei"/>
              </a:rPr>
              <a:t>P</a:t>
            </a:r>
            <a:r>
              <a:rPr lang="zh-CN" sz="750">
                <a:solidFill>
                  <a:srgbClr val="5A6070"/>
                </a:solidFill>
                <a:latin typeface="Microsoft YaHei"/>
                <a:ea typeface="Microsoft YaHei"/>
              </a:rPr>
              <a:t>：</a:t>
            </a:r>
            <a:r>
              <a:rPr lang="zh-CN" sz="750">
                <a:solidFill>
                  <a:srgbClr val="5A6070"/>
                </a:solidFill>
                <a:latin typeface="Microsoft YaHei"/>
                <a:ea typeface="Microsoft YaHei"/>
              </a:rPr>
              <a:t>运维缺陷闭环要跨</a:t>
            </a:r>
            <a:r>
              <a:rPr lang="en-US" sz="750">
                <a:solidFill>
                  <a:srgbClr val="5A6070"/>
                </a:solidFill>
                <a:latin typeface="Microsoft YaHei"/>
                <a:ea typeface="Microsoft YaHei"/>
              </a:rPr>
              <a:t xml:space="preserve"> 3 </a:t>
            </a:r>
            <a:r>
              <a:rPr lang="zh-CN" sz="750">
                <a:solidFill>
                  <a:srgbClr val="5A6070"/>
                </a:solidFill>
                <a:latin typeface="Microsoft YaHei"/>
                <a:ea typeface="Microsoft YaHei"/>
              </a:rPr>
              <a:t>个系统，平均</a:t>
            </a:r>
            <a:r>
              <a:rPr lang="en-US" sz="750">
                <a:solidFill>
                  <a:srgbClr val="5A6070"/>
                </a:solidFill>
                <a:latin typeface="Microsoft YaHei"/>
                <a:ea typeface="Microsoft YaHei"/>
              </a:rPr>
              <a:t xml:space="preserve"> 6.5 </a:t>
            </a:r>
            <a:r>
              <a:rPr lang="zh-CN" sz="750">
                <a:solidFill>
                  <a:srgbClr val="5A6070"/>
                </a:solidFill>
                <a:latin typeface="Microsoft YaHei"/>
                <a:ea typeface="Microsoft YaHei"/>
              </a:rPr>
              <a:t>天</a:t>
            </a:r>
            <a:endParaRPr/>
          </a:p>
        </p:txBody>
      </p:sp>
      <p:sp>
        <p:nvSpPr>
          <p:cNvPr id="77" name="" descr="{&quot;isTemplate&quot;:true,&quot;type&quot;:&quot;text&quot;}"/>
          <p:cNvSpPr txBox="1"/>
          <p:nvPr/>
        </p:nvSpPr>
        <p:spPr>
          <a:xfrm rot="0" flipH="0" flipV="0">
            <a:off x="4581525" y="2305050"/>
            <a:ext cx="6896100" cy="152400"/>
          </a:xfrm>
          <a:prstGeom prst="rect"/>
        </p:spPr>
        <p:txBody>
          <a:bodyPr wrap="none" lIns="0" tIns="0" rIns="0" bIns="0"/>
          <a:p>
            <a:pPr>
              <a:lnSpc>
                <a:spcPct val="130000"/>
              </a:lnSpc>
            </a:pPr>
            <a:r>
              <a:rPr lang="en-US" sz="750">
                <a:solidFill>
                  <a:srgbClr val="5A6070"/>
                </a:solidFill>
                <a:latin typeface="Microsoft YaHei"/>
                <a:ea typeface="Microsoft YaHei"/>
              </a:rPr>
              <a:t>R</a:t>
            </a:r>
            <a:r>
              <a:rPr lang="zh-CN" sz="750">
                <a:solidFill>
                  <a:srgbClr val="5A6070"/>
                </a:solidFill>
                <a:latin typeface="Microsoft YaHei"/>
                <a:ea typeface="Microsoft YaHei"/>
              </a:rPr>
              <a:t>：</a:t>
            </a:r>
            <a:r>
              <a:rPr lang="zh-CN" sz="750">
                <a:solidFill>
                  <a:srgbClr val="5A6070"/>
                </a:solidFill>
                <a:latin typeface="Microsoft YaHei"/>
                <a:ea typeface="Microsoft YaHei"/>
              </a:rPr>
              <a:t>缺陷与设备资产未建立主键关联，工单只能手工挂接</a:t>
            </a:r>
            <a:endParaRPr/>
          </a:p>
        </p:txBody>
      </p:sp>
      <p:sp>
        <p:nvSpPr>
          <p:cNvPr id="78" name="" descr="{&quot;isTemplate&quot;:true,&quot;type&quot;:&quot;text&quot;}"/>
          <p:cNvSpPr txBox="1"/>
          <p:nvPr/>
        </p:nvSpPr>
        <p:spPr>
          <a:xfrm rot="0" flipH="0" flipV="0">
            <a:off x="4581525" y="2476500"/>
            <a:ext cx="6896100" cy="152400"/>
          </a:xfrm>
          <a:prstGeom prst="rect"/>
        </p:spPr>
        <p:txBody>
          <a:bodyPr wrap="none" lIns="0" tIns="0" rIns="0" bIns="0"/>
          <a:p>
            <a:pPr>
              <a:lnSpc>
                <a:spcPct val="130000"/>
              </a:lnSpc>
            </a:pPr>
            <a:r>
              <a:rPr lang="en-US" sz="750">
                <a:solidFill>
                  <a:srgbClr val="3A4050"/>
                </a:solidFill>
                <a:latin typeface="Microsoft YaHei"/>
                <a:ea typeface="Microsoft YaHei"/>
              </a:rPr>
              <a:t>B</a:t>
            </a:r>
            <a:r>
              <a:rPr lang="zh-CN" sz="750">
                <a:solidFill>
                  <a:srgbClr val="3A4050"/>
                </a:solidFill>
                <a:latin typeface="Microsoft YaHei"/>
                <a:ea typeface="Microsoft YaHei"/>
              </a:rPr>
              <a:t>：</a:t>
            </a:r>
            <a:r>
              <a:rPr lang="zh-CN" sz="750">
                <a:solidFill>
                  <a:srgbClr val="3A4050"/>
                </a:solidFill>
                <a:latin typeface="Microsoft YaHei"/>
                <a:ea typeface="Microsoft YaHei"/>
              </a:rPr>
              <a:t>建「设备—缺陷—检修工单」主数据关联，缺陷在资产台账内闭环</a:t>
            </a:r>
            <a:endParaRPr/>
          </a:p>
        </p:txBody>
      </p:sp>
      <p:sp>
        <p:nvSpPr>
          <p:cNvPr id="79" name="" descr="{&quot;isTemplate&quot;:true,&quot;type&quot;:&quot;text&quot;}"/>
          <p:cNvSpPr txBox="1"/>
          <p:nvPr/>
        </p:nvSpPr>
        <p:spPr>
          <a:xfrm rot="0" flipH="0" flipV="0">
            <a:off x="4581525" y="2647950"/>
            <a:ext cx="6896100" cy="152400"/>
          </a:xfrm>
          <a:prstGeom prst="rect"/>
        </p:spPr>
        <p:txBody>
          <a:bodyPr wrap="none" lIns="0" tIns="0" rIns="0" bIns="0"/>
          <a:p>
            <a:pPr>
              <a:lnSpc>
                <a:spcPct val="130000"/>
              </a:lnSpc>
            </a:pPr>
            <a:r>
              <a:rPr lang="en-US" sz="750">
                <a:solidFill>
                  <a:srgbClr val="0F1423"/>
                </a:solidFill>
                <a:latin typeface="Microsoft YaHei"/>
                <a:ea typeface="Microsoft YaHei"/>
              </a:rPr>
              <a:t>S</a:t>
            </a:r>
            <a:r>
              <a:rPr lang="zh-CN" sz="750">
                <a:solidFill>
                  <a:srgbClr val="0F1423"/>
                </a:solidFill>
                <a:latin typeface="Microsoft YaHei"/>
                <a:ea typeface="Microsoft YaHei"/>
              </a:rPr>
              <a:t>：</a:t>
            </a:r>
            <a:r>
              <a:rPr lang="en-US" sz="750">
                <a:solidFill>
                  <a:srgbClr val="0F1423"/>
                </a:solidFill>
                <a:latin typeface="Microsoft YaHei"/>
                <a:ea typeface="Microsoft YaHei"/>
              </a:rPr>
              <a:t>REQ</a:t>
            </a:r>
            <a:r>
              <a:rPr lang="zh-CN" sz="750">
                <a:solidFill>
                  <a:srgbClr val="0F1423"/>
                </a:solidFill>
                <a:latin typeface="Microsoft YaHei"/>
                <a:ea typeface="Microsoft YaHei"/>
              </a:rPr>
              <a:t>：设备资产主数据模型</a:t>
            </a:r>
            <a:r>
              <a:rPr lang="en-US" sz="750">
                <a:solidFill>
                  <a:srgbClr val="0F1423"/>
                </a:solidFill>
                <a:latin typeface="Microsoft YaHei"/>
                <a:ea typeface="Microsoft YaHei"/>
              </a:rPr>
              <a:t xml:space="preserve"> / </a:t>
            </a:r>
            <a:r>
              <a:rPr lang="zh-CN" sz="750">
                <a:solidFill>
                  <a:srgbClr val="0F1423"/>
                </a:solidFill>
                <a:latin typeface="Microsoft YaHei"/>
                <a:ea typeface="Microsoft YaHei"/>
              </a:rPr>
              <a:t>工单自动挂接规则</a:t>
            </a:r>
            <a:r>
              <a:rPr lang="en-US" sz="750">
                <a:solidFill>
                  <a:srgbClr val="0F1423"/>
                </a:solidFill>
                <a:latin typeface="Microsoft YaHei"/>
                <a:ea typeface="Microsoft YaHei"/>
              </a:rPr>
              <a:t xml:space="preserve"> / </a:t>
            </a:r>
            <a:r>
              <a:rPr lang="zh-CN" sz="750">
                <a:solidFill>
                  <a:srgbClr val="0F1423"/>
                </a:solidFill>
                <a:latin typeface="Microsoft YaHei"/>
                <a:ea typeface="Microsoft YaHei"/>
              </a:rPr>
              <a:t>缺陷闭环时限监控</a:t>
            </a:r>
            <a:endParaRPr/>
          </a:p>
        </p:txBody>
      </p:sp>
      <p:sp>
        <p:nvSpPr>
          <p:cNvPr id="80" name=""/>
          <p:cNvSpPr/>
          <p:nvPr/>
        </p:nvSpPr>
        <p:spPr>
          <a:xfrm rot="0" flipH="0" flipV="0">
            <a:off x="638175" y="3028950"/>
            <a:ext cx="3781425" cy="1047750"/>
          </a:xfrm>
          <a:prstGeom prst="roundRect">
            <a:avLst>
              <a:gd name="adj" fmla="val 2727"/>
            </a:avLst>
          </a:prstGeom>
          <a:solidFill>
            <a:srgbClr val="FFF3EE"/>
          </a:solidFill>
          <a:ln/>
        </p:spPr>
        <p:txBody>
          <a:bodyPr/>
          <a:p/>
        </p:txBody>
      </p:sp>
      <p:sp>
        <p:nvSpPr>
          <p:cNvPr id="81" name=""/>
          <p:cNvSpPr/>
          <p:nvPr/>
        </p:nvSpPr>
        <p:spPr>
          <a:xfrm rot="0" flipH="0" flipV="0">
            <a:off x="638175" y="3028950"/>
            <a:ext cx="3781425" cy="1047750"/>
          </a:xfrm>
          <a:custGeom>
            <a:pathLst>
              <a:path w="397" h="110">
                <a:moveTo>
                  <a:pt x="3" y="110"/>
                </a:moveTo>
                <a:cubicBezTo>
                  <a:pt x="1" y="110"/>
                  <a:pt x="0" y="109"/>
                  <a:pt x="0" y="107"/>
                </a:cubicBezTo>
                <a:lnTo>
                  <a:pt x="0" y="3"/>
                </a:lnTo>
                <a:cubicBezTo>
                  <a:pt x="0" y="1"/>
                  <a:pt x="1" y="0"/>
                  <a:pt x="3" y="0"/>
                </a:cubicBezTo>
                <a:lnTo>
                  <a:pt x="3" y="110"/>
                </a:lnTo>
                <a:close/>
              </a:path>
            </a:pathLst>
          </a:custGeom>
          <a:solidFill>
            <a:srgbClr val="FA4F24"/>
          </a:solidFill>
          <a:ln/>
        </p:spPr>
        <p:txBody>
          <a:bodyPr/>
          <a:p/>
        </p:txBody>
      </p:sp>
      <p:sp>
        <p:nvSpPr>
          <p:cNvPr id="82" name="" descr="{&quot;isTemplate&quot;:true,&quot;type&quot;:&quot;text&quot;}"/>
          <p:cNvSpPr txBox="1"/>
          <p:nvPr/>
        </p:nvSpPr>
        <p:spPr>
          <a:xfrm rot="0" flipH="0" flipV="0">
            <a:off x="742950" y="3467100"/>
            <a:ext cx="3571875" cy="171450"/>
          </a:xfrm>
          <a:prstGeom prst="rect"/>
        </p:spPr>
        <p:txBody>
          <a:bodyPr wrap="none" lIns="0" tIns="0" rIns="0" bIns="0"/>
          <a:p>
            <a:pPr>
              <a:lnSpc>
                <a:spcPct val="135000"/>
              </a:lnSpc>
            </a:pPr>
            <a:r>
              <a:rPr lang="en-US" sz="788" b="1">
                <a:solidFill>
                  <a:srgbClr val="C43A17"/>
                </a:solidFill>
                <a:latin typeface="Microsoft YaHei"/>
                <a:ea typeface="Microsoft YaHei"/>
              </a:rPr>
              <a:t>PAIN-S2-02</a:t>
            </a:r>
            <a:r>
              <a:rPr lang="zh-CN" sz="788" b="1">
                <a:solidFill>
                  <a:srgbClr val="C43A17"/>
                </a:solidFill>
                <a:latin typeface="Microsoft YaHei"/>
                <a:ea typeface="Microsoft YaHei"/>
              </a:rPr>
              <a:t>　</a:t>
            </a:r>
            <a:r>
              <a:rPr lang="en-US" sz="788" b="1">
                <a:solidFill>
                  <a:srgbClr val="C43A17"/>
                </a:solidFill>
                <a:latin typeface="Microsoft YaHei"/>
                <a:ea typeface="Microsoft YaHei"/>
              </a:rPr>
              <a:t>ROOT-S2-01</a:t>
            </a:r>
            <a:r>
              <a:rPr lang="zh-CN" sz="788" b="1">
                <a:solidFill>
                  <a:srgbClr val="C43A17"/>
                </a:solidFill>
                <a:latin typeface="Microsoft YaHei"/>
                <a:ea typeface="Microsoft YaHei"/>
              </a:rPr>
              <a:t>　</a:t>
            </a:r>
            <a:r>
              <a:rPr lang="en-US" sz="788" b="1">
                <a:solidFill>
                  <a:srgbClr val="C43A17"/>
                </a:solidFill>
                <a:latin typeface="Microsoft YaHei"/>
                <a:ea typeface="Microsoft YaHei"/>
              </a:rPr>
              <a:t>BLD-S2-03</a:t>
            </a:r>
            <a:r>
              <a:rPr lang="zh-CN" sz="788" b="1">
                <a:solidFill>
                  <a:srgbClr val="C43A17"/>
                </a:solidFill>
                <a:latin typeface="Microsoft YaHei"/>
                <a:ea typeface="Microsoft YaHei"/>
              </a:rPr>
              <a:t>　</a:t>
            </a:r>
            <a:r>
              <a:rPr lang="en-US" sz="788" b="1">
                <a:solidFill>
                  <a:srgbClr val="C43A17"/>
                </a:solidFill>
                <a:latin typeface="Microsoft YaHei"/>
                <a:ea typeface="Microsoft YaHei"/>
              </a:rPr>
              <a:t>REQ-S2-041</a:t>
            </a:r>
            <a:endParaRPr/>
          </a:p>
        </p:txBody>
      </p:sp>
      <p:sp>
        <p:nvSpPr>
          <p:cNvPr id="83" name=""/>
          <p:cNvSpPr/>
          <p:nvPr/>
        </p:nvSpPr>
        <p:spPr>
          <a:xfrm rot="0" flipH="0" flipV="0">
            <a:off x="4476750" y="3028950"/>
            <a:ext cx="7105650" cy="1047750"/>
          </a:xfrm>
          <a:prstGeom prst="roundRect">
            <a:avLst>
              <a:gd name="adj" fmla="val 2727"/>
            </a:avLst>
          </a:prstGeom>
          <a:solidFill>
            <a:srgbClr val="F7F7F8"/>
          </a:solidFill>
          <a:ln/>
        </p:spPr>
        <p:txBody>
          <a:bodyPr/>
          <a:p/>
        </p:txBody>
      </p:sp>
      <p:sp>
        <p:nvSpPr>
          <p:cNvPr id="84" name="" descr="{&quot;isTemplate&quot;:true,&quot;type&quot;:&quot;text&quot;}"/>
          <p:cNvSpPr txBox="1"/>
          <p:nvPr/>
        </p:nvSpPr>
        <p:spPr>
          <a:xfrm rot="0" flipH="0" flipV="0">
            <a:off x="4581525" y="3219450"/>
            <a:ext cx="6896100" cy="152400"/>
          </a:xfrm>
          <a:prstGeom prst="rect"/>
        </p:spPr>
        <p:txBody>
          <a:bodyPr wrap="none" lIns="0" tIns="0" rIns="0" bIns="0"/>
          <a:p>
            <a:pPr>
              <a:lnSpc>
                <a:spcPct val="130000"/>
              </a:lnSpc>
            </a:pPr>
            <a:r>
              <a:rPr lang="en-US" sz="750">
                <a:solidFill>
                  <a:srgbClr val="5A6070"/>
                </a:solidFill>
                <a:latin typeface="Microsoft YaHei"/>
                <a:ea typeface="Microsoft YaHei"/>
              </a:rPr>
              <a:t>P</a:t>
            </a:r>
            <a:r>
              <a:rPr lang="zh-CN" sz="750">
                <a:solidFill>
                  <a:srgbClr val="5A6070"/>
                </a:solidFill>
                <a:latin typeface="Microsoft YaHei"/>
                <a:ea typeface="Microsoft YaHei"/>
              </a:rPr>
              <a:t>：</a:t>
            </a:r>
            <a:r>
              <a:rPr lang="zh-CN" sz="750">
                <a:solidFill>
                  <a:srgbClr val="5A6070"/>
                </a:solidFill>
                <a:latin typeface="Microsoft YaHei"/>
                <a:ea typeface="Microsoft YaHei"/>
              </a:rPr>
              <a:t>同一产品不同配置的</a:t>
            </a:r>
            <a:r>
              <a:rPr lang="en-US" sz="750">
                <a:solidFill>
                  <a:srgbClr val="5A6070"/>
                </a:solidFill>
                <a:latin typeface="Microsoft YaHei"/>
                <a:ea typeface="Microsoft YaHei"/>
              </a:rPr>
              <a:t xml:space="preserve"> EBOM </a:t>
            </a:r>
            <a:r>
              <a:rPr lang="zh-CN" sz="750">
                <a:solidFill>
                  <a:srgbClr val="5A6070"/>
                </a:solidFill>
                <a:latin typeface="Microsoft YaHei"/>
                <a:ea typeface="Microsoft YaHei"/>
              </a:rPr>
              <a:t>差异靠人工比对</a:t>
            </a:r>
            <a:endParaRPr/>
          </a:p>
        </p:txBody>
      </p:sp>
      <p:sp>
        <p:nvSpPr>
          <p:cNvPr id="85" name="" descr="{&quot;isTemplate&quot;:true,&quot;type&quot;:&quot;text&quot;}"/>
          <p:cNvSpPr txBox="1"/>
          <p:nvPr/>
        </p:nvSpPr>
        <p:spPr>
          <a:xfrm rot="0" flipH="0" flipV="0">
            <a:off x="4581525" y="3390900"/>
            <a:ext cx="6896100" cy="152400"/>
          </a:xfrm>
          <a:prstGeom prst="rect"/>
        </p:spPr>
        <p:txBody>
          <a:bodyPr wrap="none" lIns="0" tIns="0" rIns="0" bIns="0"/>
          <a:p>
            <a:pPr>
              <a:lnSpc>
                <a:spcPct val="130000"/>
              </a:lnSpc>
            </a:pPr>
            <a:r>
              <a:rPr lang="en-US" sz="750">
                <a:solidFill>
                  <a:srgbClr val="5A6070"/>
                </a:solidFill>
                <a:latin typeface="Microsoft YaHei"/>
                <a:ea typeface="Microsoft YaHei"/>
              </a:rPr>
              <a:t>R</a:t>
            </a:r>
            <a:r>
              <a:rPr lang="zh-CN" sz="750">
                <a:solidFill>
                  <a:srgbClr val="5A6070"/>
                </a:solidFill>
                <a:latin typeface="Microsoft YaHei"/>
                <a:ea typeface="Microsoft YaHei"/>
              </a:rPr>
              <a:t>：</a:t>
            </a:r>
            <a:r>
              <a:rPr lang="en-US" sz="750">
                <a:solidFill>
                  <a:srgbClr val="5A6070"/>
                </a:solidFill>
                <a:latin typeface="Microsoft YaHei"/>
                <a:ea typeface="Microsoft YaHei"/>
              </a:rPr>
              <a:t xml:space="preserve">EBOM→MBOM </a:t>
            </a:r>
            <a:r>
              <a:rPr lang="zh-CN" sz="750">
                <a:solidFill>
                  <a:srgbClr val="5A6070"/>
                </a:solidFill>
                <a:latin typeface="Microsoft YaHei"/>
                <a:ea typeface="Microsoft YaHei"/>
              </a:rPr>
              <a:t>转换规则只存在工程师个人经验里，未沉淀</a:t>
            </a:r>
            <a:endParaRPr/>
          </a:p>
        </p:txBody>
      </p:sp>
      <p:sp>
        <p:nvSpPr>
          <p:cNvPr id="86" name="" descr="{&quot;isTemplate&quot;:true,&quot;type&quot;:&quot;text&quot;}"/>
          <p:cNvSpPr txBox="1"/>
          <p:nvPr/>
        </p:nvSpPr>
        <p:spPr>
          <a:xfrm rot="0" flipH="0" flipV="0">
            <a:off x="4581525" y="3562350"/>
            <a:ext cx="6896100" cy="152400"/>
          </a:xfrm>
          <a:prstGeom prst="rect"/>
        </p:spPr>
        <p:txBody>
          <a:bodyPr wrap="none" lIns="0" tIns="0" rIns="0" bIns="0"/>
          <a:p>
            <a:pPr>
              <a:lnSpc>
                <a:spcPct val="130000"/>
              </a:lnSpc>
            </a:pPr>
            <a:r>
              <a:rPr lang="en-US" sz="750">
                <a:solidFill>
                  <a:srgbClr val="3A4050"/>
                </a:solidFill>
                <a:latin typeface="Microsoft YaHei"/>
                <a:ea typeface="Microsoft YaHei"/>
              </a:rPr>
              <a:t>B</a:t>
            </a:r>
            <a:r>
              <a:rPr lang="zh-CN" sz="750">
                <a:solidFill>
                  <a:srgbClr val="3A4050"/>
                </a:solidFill>
                <a:latin typeface="Microsoft YaHei"/>
                <a:ea typeface="Microsoft YaHei"/>
              </a:rPr>
              <a:t>：</a:t>
            </a:r>
            <a:r>
              <a:rPr lang="zh-CN" sz="750">
                <a:solidFill>
                  <a:srgbClr val="3A4050"/>
                </a:solidFill>
                <a:latin typeface="Microsoft YaHei"/>
                <a:ea typeface="Microsoft YaHei"/>
              </a:rPr>
              <a:t>把转换规则建成可维护的规则库，配置差异自动展开</a:t>
            </a:r>
            <a:endParaRPr/>
          </a:p>
        </p:txBody>
      </p:sp>
      <p:sp>
        <p:nvSpPr>
          <p:cNvPr id="87" name="" descr="{&quot;isTemplate&quot;:true,&quot;type&quot;:&quot;text&quot;}"/>
          <p:cNvSpPr txBox="1"/>
          <p:nvPr/>
        </p:nvSpPr>
        <p:spPr>
          <a:xfrm rot="0" flipH="0" flipV="0">
            <a:off x="4581525" y="3733800"/>
            <a:ext cx="6896100" cy="152400"/>
          </a:xfrm>
          <a:prstGeom prst="rect"/>
        </p:spPr>
        <p:txBody>
          <a:bodyPr wrap="none" lIns="0" tIns="0" rIns="0" bIns="0"/>
          <a:p>
            <a:pPr>
              <a:lnSpc>
                <a:spcPct val="130000"/>
              </a:lnSpc>
            </a:pPr>
            <a:r>
              <a:rPr lang="en-US" sz="750">
                <a:solidFill>
                  <a:srgbClr val="0F1423"/>
                </a:solidFill>
                <a:latin typeface="Microsoft YaHei"/>
                <a:ea typeface="Microsoft YaHei"/>
              </a:rPr>
              <a:t>S</a:t>
            </a:r>
            <a:r>
              <a:rPr lang="zh-CN" sz="750">
                <a:solidFill>
                  <a:srgbClr val="0F1423"/>
                </a:solidFill>
                <a:latin typeface="Microsoft YaHei"/>
                <a:ea typeface="Microsoft YaHei"/>
              </a:rPr>
              <a:t>：</a:t>
            </a:r>
            <a:r>
              <a:rPr lang="en-US" sz="750">
                <a:solidFill>
                  <a:srgbClr val="0F1423"/>
                </a:solidFill>
                <a:latin typeface="Microsoft YaHei"/>
                <a:ea typeface="Microsoft YaHei"/>
              </a:rPr>
              <a:t>REQ</a:t>
            </a:r>
            <a:r>
              <a:rPr lang="zh-CN" sz="750">
                <a:solidFill>
                  <a:srgbClr val="0F1423"/>
                </a:solidFill>
                <a:latin typeface="Microsoft YaHei"/>
                <a:ea typeface="Microsoft YaHei"/>
              </a:rPr>
              <a:t>：转换规则模型</a:t>
            </a:r>
            <a:r>
              <a:rPr lang="en-US" sz="750">
                <a:solidFill>
                  <a:srgbClr val="0F1423"/>
                </a:solidFill>
                <a:latin typeface="Microsoft YaHei"/>
                <a:ea typeface="Microsoft YaHei"/>
              </a:rPr>
              <a:t xml:space="preserve"> / </a:t>
            </a:r>
            <a:r>
              <a:rPr lang="zh-CN" sz="750">
                <a:solidFill>
                  <a:srgbClr val="0F1423"/>
                </a:solidFill>
                <a:latin typeface="Microsoft YaHei"/>
                <a:ea typeface="Microsoft YaHei"/>
              </a:rPr>
              <a:t>规则版本管理</a:t>
            </a:r>
            <a:r>
              <a:rPr lang="en-US" sz="750">
                <a:solidFill>
                  <a:srgbClr val="0F1423"/>
                </a:solidFill>
                <a:latin typeface="Microsoft YaHei"/>
                <a:ea typeface="Microsoft YaHei"/>
              </a:rPr>
              <a:t xml:space="preserve"> / </a:t>
            </a:r>
            <a:r>
              <a:rPr lang="zh-CN" sz="750">
                <a:solidFill>
                  <a:srgbClr val="0F1423"/>
                </a:solidFill>
                <a:latin typeface="Microsoft YaHei"/>
                <a:ea typeface="Microsoft YaHei"/>
              </a:rPr>
              <a:t>差异审批流</a:t>
            </a:r>
            <a:endParaRPr/>
          </a:p>
        </p:txBody>
      </p:sp>
      <p:sp>
        <p:nvSpPr>
          <p:cNvPr id="88" name=""/>
          <p:cNvSpPr/>
          <p:nvPr/>
        </p:nvSpPr>
        <p:spPr>
          <a:xfrm rot="0" flipH="0" flipV="0">
            <a:off x="638175" y="4124325"/>
            <a:ext cx="3781425" cy="1038225"/>
          </a:xfrm>
          <a:prstGeom prst="roundRect">
            <a:avLst>
              <a:gd name="adj" fmla="val 2752"/>
            </a:avLst>
          </a:prstGeom>
          <a:solidFill>
            <a:srgbClr val="FFF3EE"/>
          </a:solidFill>
          <a:ln/>
        </p:spPr>
        <p:txBody>
          <a:bodyPr/>
          <a:p/>
        </p:txBody>
      </p:sp>
      <p:sp>
        <p:nvSpPr>
          <p:cNvPr id="89" name=""/>
          <p:cNvSpPr/>
          <p:nvPr/>
        </p:nvSpPr>
        <p:spPr>
          <a:xfrm rot="0" flipH="0" flipV="0">
            <a:off x="638175" y="4124325"/>
            <a:ext cx="3781425" cy="1038225"/>
          </a:xfrm>
          <a:custGeom>
            <a:pathLst>
              <a:path w="397" h="109">
                <a:moveTo>
                  <a:pt x="3" y="109"/>
                </a:moveTo>
                <a:cubicBezTo>
                  <a:pt x="1" y="109"/>
                  <a:pt x="0" y="108"/>
                  <a:pt x="0" y="106"/>
                </a:cubicBezTo>
                <a:lnTo>
                  <a:pt x="0" y="3"/>
                </a:lnTo>
                <a:cubicBezTo>
                  <a:pt x="0" y="1"/>
                  <a:pt x="1" y="0"/>
                  <a:pt x="3" y="0"/>
                </a:cubicBezTo>
                <a:lnTo>
                  <a:pt x="3" y="109"/>
                </a:lnTo>
                <a:close/>
              </a:path>
            </a:pathLst>
          </a:custGeom>
          <a:solidFill>
            <a:srgbClr val="FA4F24"/>
          </a:solidFill>
          <a:ln/>
        </p:spPr>
        <p:txBody>
          <a:bodyPr/>
          <a:p/>
        </p:txBody>
      </p:sp>
      <p:sp>
        <p:nvSpPr>
          <p:cNvPr id="90" name="" descr="{&quot;isTemplate&quot;:true,&quot;type&quot;:&quot;text&quot;}"/>
          <p:cNvSpPr txBox="1"/>
          <p:nvPr/>
        </p:nvSpPr>
        <p:spPr>
          <a:xfrm rot="0" flipH="0" flipV="0">
            <a:off x="742950" y="4562475"/>
            <a:ext cx="3571875" cy="171450"/>
          </a:xfrm>
          <a:prstGeom prst="rect"/>
        </p:spPr>
        <p:txBody>
          <a:bodyPr wrap="none" lIns="0" tIns="0" rIns="0" bIns="0"/>
          <a:p>
            <a:pPr>
              <a:lnSpc>
                <a:spcPct val="135000"/>
              </a:lnSpc>
            </a:pPr>
            <a:r>
              <a:rPr lang="en-US" sz="788" b="1">
                <a:solidFill>
                  <a:srgbClr val="C43A17"/>
                </a:solidFill>
                <a:latin typeface="Microsoft YaHei"/>
                <a:ea typeface="Microsoft YaHei"/>
              </a:rPr>
              <a:t>PAIN-E5-04</a:t>
            </a:r>
            <a:r>
              <a:rPr lang="zh-CN" sz="788" b="1">
                <a:solidFill>
                  <a:srgbClr val="C43A17"/>
                </a:solidFill>
                <a:latin typeface="Microsoft YaHei"/>
                <a:ea typeface="Microsoft YaHei"/>
              </a:rPr>
              <a:t>　</a:t>
            </a:r>
            <a:r>
              <a:rPr lang="en-US" sz="788" b="1">
                <a:solidFill>
                  <a:srgbClr val="C43A17"/>
                </a:solidFill>
                <a:latin typeface="Microsoft YaHei"/>
                <a:ea typeface="Microsoft YaHei"/>
              </a:rPr>
              <a:t>ROOT-E5-02</a:t>
            </a:r>
            <a:r>
              <a:rPr lang="zh-CN" sz="788" b="1">
                <a:solidFill>
                  <a:srgbClr val="C43A17"/>
                </a:solidFill>
                <a:latin typeface="Microsoft YaHei"/>
                <a:ea typeface="Microsoft YaHei"/>
              </a:rPr>
              <a:t>　</a:t>
            </a:r>
            <a:r>
              <a:rPr lang="en-US" sz="788" b="1">
                <a:solidFill>
                  <a:srgbClr val="C43A17"/>
                </a:solidFill>
                <a:latin typeface="Microsoft YaHei"/>
                <a:ea typeface="Microsoft YaHei"/>
              </a:rPr>
              <a:t>BLD-E5-06</a:t>
            </a:r>
            <a:r>
              <a:rPr lang="zh-CN" sz="788" b="1">
                <a:solidFill>
                  <a:srgbClr val="C43A17"/>
                </a:solidFill>
                <a:latin typeface="Microsoft YaHei"/>
                <a:ea typeface="Microsoft YaHei"/>
              </a:rPr>
              <a:t>　</a:t>
            </a:r>
            <a:r>
              <a:rPr lang="en-US" sz="788" b="1">
                <a:solidFill>
                  <a:srgbClr val="C43A17"/>
                </a:solidFill>
                <a:latin typeface="Microsoft YaHei"/>
                <a:ea typeface="Microsoft YaHei"/>
              </a:rPr>
              <a:t>REQ-E5-073</a:t>
            </a:r>
            <a:endParaRPr/>
          </a:p>
        </p:txBody>
      </p:sp>
      <p:sp>
        <p:nvSpPr>
          <p:cNvPr id="91" name=""/>
          <p:cNvSpPr/>
          <p:nvPr/>
        </p:nvSpPr>
        <p:spPr>
          <a:xfrm rot="0" flipH="0" flipV="0">
            <a:off x="4476750" y="4124325"/>
            <a:ext cx="7105650" cy="1038225"/>
          </a:xfrm>
          <a:prstGeom prst="roundRect">
            <a:avLst>
              <a:gd name="adj" fmla="val 2752"/>
            </a:avLst>
          </a:prstGeom>
          <a:solidFill>
            <a:srgbClr val="F7F7F8"/>
          </a:solidFill>
          <a:ln/>
        </p:spPr>
        <p:txBody>
          <a:bodyPr/>
          <a:p/>
        </p:txBody>
      </p:sp>
      <p:sp>
        <p:nvSpPr>
          <p:cNvPr id="92" name="" descr="{&quot;isTemplate&quot;:true,&quot;type&quot;:&quot;text&quot;}"/>
          <p:cNvSpPr txBox="1"/>
          <p:nvPr/>
        </p:nvSpPr>
        <p:spPr>
          <a:xfrm rot="0" flipH="0" flipV="0">
            <a:off x="4581525" y="4314825"/>
            <a:ext cx="6896100" cy="152400"/>
          </a:xfrm>
          <a:prstGeom prst="rect"/>
        </p:spPr>
        <p:txBody>
          <a:bodyPr wrap="none" lIns="0" tIns="0" rIns="0" bIns="0"/>
          <a:p>
            <a:pPr>
              <a:lnSpc>
                <a:spcPct val="130000"/>
              </a:lnSpc>
            </a:pPr>
            <a:r>
              <a:rPr lang="en-US" sz="750">
                <a:solidFill>
                  <a:srgbClr val="5A6070"/>
                </a:solidFill>
                <a:latin typeface="Microsoft YaHei"/>
                <a:ea typeface="Microsoft YaHei"/>
              </a:rPr>
              <a:t>P</a:t>
            </a:r>
            <a:r>
              <a:rPr lang="zh-CN" sz="750">
                <a:solidFill>
                  <a:srgbClr val="5A6070"/>
                </a:solidFill>
                <a:latin typeface="Microsoft YaHei"/>
                <a:ea typeface="Microsoft YaHei"/>
              </a:rPr>
              <a:t>：</a:t>
            </a:r>
            <a:r>
              <a:rPr lang="zh-CN" sz="750">
                <a:solidFill>
                  <a:srgbClr val="5A6070"/>
                </a:solidFill>
                <a:latin typeface="Microsoft YaHei"/>
                <a:ea typeface="Microsoft YaHei"/>
              </a:rPr>
              <a:t>同一个投资额财务与项目管理各有一个版本</a:t>
            </a:r>
            <a:endParaRPr/>
          </a:p>
        </p:txBody>
      </p:sp>
      <p:sp>
        <p:nvSpPr>
          <p:cNvPr id="93" name="" descr="{&quot;isTemplate&quot;:true,&quot;type&quot;:&quot;text&quot;}"/>
          <p:cNvSpPr txBox="1"/>
          <p:nvPr/>
        </p:nvSpPr>
        <p:spPr>
          <a:xfrm rot="0" flipH="0" flipV="0">
            <a:off x="4581525" y="4486275"/>
            <a:ext cx="6896100" cy="152400"/>
          </a:xfrm>
          <a:prstGeom prst="rect"/>
        </p:spPr>
        <p:txBody>
          <a:bodyPr wrap="none" lIns="0" tIns="0" rIns="0" bIns="0"/>
          <a:p>
            <a:pPr>
              <a:lnSpc>
                <a:spcPct val="130000"/>
              </a:lnSpc>
            </a:pPr>
            <a:r>
              <a:rPr lang="en-US" sz="750">
                <a:solidFill>
                  <a:srgbClr val="5A6070"/>
                </a:solidFill>
                <a:latin typeface="Microsoft YaHei"/>
                <a:ea typeface="Microsoft YaHei"/>
              </a:rPr>
              <a:t>R</a:t>
            </a:r>
            <a:r>
              <a:rPr lang="zh-CN" sz="750">
                <a:solidFill>
                  <a:srgbClr val="5A6070"/>
                </a:solidFill>
                <a:latin typeface="Microsoft YaHei"/>
                <a:ea typeface="Microsoft YaHei"/>
              </a:rPr>
              <a:t>：</a:t>
            </a:r>
            <a:r>
              <a:rPr lang="zh-CN" sz="750">
                <a:solidFill>
                  <a:srgbClr val="5A6070"/>
                </a:solidFill>
                <a:latin typeface="Microsoft YaHei"/>
                <a:ea typeface="Microsoft YaHei"/>
              </a:rPr>
              <a:t>概算</a:t>
            </a:r>
            <a:r>
              <a:rPr lang="en-US" sz="750">
                <a:solidFill>
                  <a:srgbClr val="5A6070"/>
                </a:solidFill>
                <a:latin typeface="Microsoft YaHei"/>
                <a:ea typeface="Microsoft YaHei"/>
              </a:rPr>
              <a:t>/</a:t>
            </a:r>
            <a:r>
              <a:rPr lang="zh-CN" sz="750">
                <a:solidFill>
                  <a:srgbClr val="5A6070"/>
                </a:solidFill>
                <a:latin typeface="Microsoft YaHei"/>
                <a:ea typeface="Microsoft YaHei"/>
              </a:rPr>
              <a:t>预算</a:t>
            </a:r>
            <a:r>
              <a:rPr lang="en-US" sz="750">
                <a:solidFill>
                  <a:srgbClr val="5A6070"/>
                </a:solidFill>
                <a:latin typeface="Microsoft YaHei"/>
                <a:ea typeface="Microsoft YaHei"/>
              </a:rPr>
              <a:t>/</a:t>
            </a:r>
            <a:r>
              <a:rPr lang="zh-CN" sz="750">
                <a:solidFill>
                  <a:srgbClr val="5A6070"/>
                </a:solidFill>
                <a:latin typeface="Microsoft YaHei"/>
                <a:ea typeface="Microsoft YaHei"/>
              </a:rPr>
              <a:t>决算口径分散在多系统，无统一裁定规则</a:t>
            </a:r>
            <a:endParaRPr/>
          </a:p>
        </p:txBody>
      </p:sp>
      <p:sp>
        <p:nvSpPr>
          <p:cNvPr id="94" name="" descr="{&quot;isTemplate&quot;:true,&quot;type&quot;:&quot;text&quot;}"/>
          <p:cNvSpPr txBox="1"/>
          <p:nvPr/>
        </p:nvSpPr>
        <p:spPr>
          <a:xfrm rot="0" flipH="0" flipV="0">
            <a:off x="4581525" y="4657725"/>
            <a:ext cx="6896100" cy="152400"/>
          </a:xfrm>
          <a:prstGeom prst="rect"/>
        </p:spPr>
        <p:txBody>
          <a:bodyPr wrap="none" lIns="0" tIns="0" rIns="0" bIns="0"/>
          <a:p>
            <a:pPr>
              <a:lnSpc>
                <a:spcPct val="130000"/>
              </a:lnSpc>
            </a:pPr>
            <a:r>
              <a:rPr lang="en-US" sz="750">
                <a:solidFill>
                  <a:srgbClr val="3A4050"/>
                </a:solidFill>
                <a:latin typeface="Microsoft YaHei"/>
                <a:ea typeface="Microsoft YaHei"/>
              </a:rPr>
              <a:t>B</a:t>
            </a:r>
            <a:r>
              <a:rPr lang="zh-CN" sz="750">
                <a:solidFill>
                  <a:srgbClr val="3A4050"/>
                </a:solidFill>
                <a:latin typeface="Microsoft YaHei"/>
                <a:ea typeface="Microsoft YaHei"/>
              </a:rPr>
              <a:t>：</a:t>
            </a:r>
            <a:r>
              <a:rPr lang="zh-CN" sz="750">
                <a:solidFill>
                  <a:srgbClr val="3A4050"/>
                </a:solidFill>
                <a:latin typeface="Microsoft YaHei"/>
                <a:ea typeface="Microsoft YaHei"/>
              </a:rPr>
              <a:t>建立四算主数据与口径裁定机制，指标字典作为唯一出口</a:t>
            </a:r>
            <a:endParaRPr/>
          </a:p>
        </p:txBody>
      </p:sp>
      <p:sp>
        <p:nvSpPr>
          <p:cNvPr id="95" name="" descr="{&quot;isTemplate&quot;:true,&quot;type&quot;:&quot;text&quot;}"/>
          <p:cNvSpPr txBox="1"/>
          <p:nvPr/>
        </p:nvSpPr>
        <p:spPr>
          <a:xfrm rot="0" flipH="0" flipV="0">
            <a:off x="4581525" y="4829175"/>
            <a:ext cx="6896100" cy="152400"/>
          </a:xfrm>
          <a:prstGeom prst="rect"/>
        </p:spPr>
        <p:txBody>
          <a:bodyPr wrap="none" lIns="0" tIns="0" rIns="0" bIns="0"/>
          <a:p>
            <a:pPr>
              <a:lnSpc>
                <a:spcPct val="130000"/>
              </a:lnSpc>
            </a:pPr>
            <a:r>
              <a:rPr lang="en-US" sz="750">
                <a:solidFill>
                  <a:srgbClr val="0F1423"/>
                </a:solidFill>
                <a:latin typeface="Microsoft YaHei"/>
                <a:ea typeface="Microsoft YaHei"/>
              </a:rPr>
              <a:t>S</a:t>
            </a:r>
            <a:r>
              <a:rPr lang="zh-CN" sz="750">
                <a:solidFill>
                  <a:srgbClr val="0F1423"/>
                </a:solidFill>
                <a:latin typeface="Microsoft YaHei"/>
                <a:ea typeface="Microsoft YaHei"/>
              </a:rPr>
              <a:t>：</a:t>
            </a:r>
            <a:r>
              <a:rPr lang="en-US" sz="750">
                <a:solidFill>
                  <a:srgbClr val="0F1423"/>
                </a:solidFill>
                <a:latin typeface="Microsoft YaHei"/>
                <a:ea typeface="Microsoft YaHei"/>
              </a:rPr>
              <a:t>REQ</a:t>
            </a:r>
            <a:r>
              <a:rPr lang="zh-CN" sz="750">
                <a:solidFill>
                  <a:srgbClr val="0F1423"/>
                </a:solidFill>
                <a:latin typeface="Microsoft YaHei"/>
                <a:ea typeface="Microsoft YaHei"/>
              </a:rPr>
              <a:t>：四算主数据模型</a:t>
            </a:r>
            <a:r>
              <a:rPr lang="en-US" sz="750">
                <a:solidFill>
                  <a:srgbClr val="0F1423"/>
                </a:solidFill>
                <a:latin typeface="Microsoft YaHei"/>
                <a:ea typeface="Microsoft YaHei"/>
              </a:rPr>
              <a:t xml:space="preserve"> / </a:t>
            </a:r>
            <a:r>
              <a:rPr lang="zh-CN" sz="750">
                <a:solidFill>
                  <a:srgbClr val="0F1423"/>
                </a:solidFill>
                <a:latin typeface="Microsoft YaHei"/>
                <a:ea typeface="Microsoft YaHei"/>
              </a:rPr>
              <a:t>口径裁定流程</a:t>
            </a:r>
            <a:r>
              <a:rPr lang="en-US" sz="750">
                <a:solidFill>
                  <a:srgbClr val="0F1423"/>
                </a:solidFill>
                <a:latin typeface="Microsoft YaHei"/>
                <a:ea typeface="Microsoft YaHei"/>
              </a:rPr>
              <a:t xml:space="preserve"> / </a:t>
            </a:r>
            <a:r>
              <a:rPr lang="zh-CN" sz="750">
                <a:solidFill>
                  <a:srgbClr val="0F1423"/>
                </a:solidFill>
                <a:latin typeface="Microsoft YaHei"/>
                <a:ea typeface="Microsoft YaHei"/>
              </a:rPr>
              <a:t>指标字典接口</a:t>
            </a:r>
            <a:endParaRPr/>
          </a:p>
        </p:txBody>
      </p:sp>
      <p:sp>
        <p:nvSpPr>
          <p:cNvPr id="96" name=""/>
          <p:cNvSpPr/>
          <p:nvPr/>
        </p:nvSpPr>
        <p:spPr>
          <a:xfrm rot="0" flipH="0" flipV="0">
            <a:off x="647700" y="5238750"/>
            <a:ext cx="3609975" cy="419100"/>
          </a:xfrm>
          <a:prstGeom prst="roundRect">
            <a:avLst>
              <a:gd name="adj" fmla="val 6818"/>
            </a:avLst>
          </a:prstGeom>
          <a:solidFill>
            <a:srgbClr val="0F1423"/>
          </a:solidFill>
          <a:ln/>
        </p:spPr>
        <p:txBody>
          <a:bodyPr/>
          <a:p/>
        </p:txBody>
      </p:sp>
      <p:sp>
        <p:nvSpPr>
          <p:cNvPr id="97" name=""/>
          <p:cNvSpPr/>
          <p:nvPr/>
        </p:nvSpPr>
        <p:spPr>
          <a:xfrm rot="0" flipH="0" flipV="0">
            <a:off x="647700" y="5238750"/>
            <a:ext cx="3609975" cy="419100"/>
          </a:xfrm>
          <a:custGeom>
            <a:pathLst>
              <a:path w="379" h="44">
                <a:moveTo>
                  <a:pt x="4" y="44"/>
                </a:moveTo>
                <a:cubicBezTo>
                  <a:pt x="3" y="44"/>
                  <a:pt x="2" y="44"/>
                  <a:pt x="1" y="43"/>
                </a:cubicBezTo>
                <a:cubicBezTo>
                  <a:pt x="0" y="42"/>
                  <a:pt x="0" y="42"/>
                  <a:pt x="0" y="41"/>
                </a:cubicBezTo>
                <a:lnTo>
                  <a:pt x="0" y="3"/>
                </a:lnTo>
                <a:cubicBezTo>
                  <a:pt x="0" y="1"/>
                  <a:pt x="1" y="0"/>
                  <a:pt x="3" y="0"/>
                </a:cubicBezTo>
                <a:lnTo>
                  <a:pt x="4" y="0"/>
                </a:lnTo>
                <a:close/>
              </a:path>
            </a:pathLst>
          </a:custGeom>
          <a:solidFill>
            <a:srgbClr val="FA4F24"/>
          </a:solidFill>
          <a:ln/>
        </p:spPr>
        <p:txBody>
          <a:bodyPr/>
          <a:p/>
        </p:txBody>
      </p:sp>
      <p:sp>
        <p:nvSpPr>
          <p:cNvPr id="98" name="" descr="{&quot;isTemplate&quot;:true,&quot;type&quot;:&quot;text&quot;}"/>
          <p:cNvSpPr txBox="1"/>
          <p:nvPr/>
        </p:nvSpPr>
        <p:spPr>
          <a:xfrm rot="0" flipH="0" flipV="0">
            <a:off x="762000" y="5295900"/>
            <a:ext cx="3343275" cy="142875"/>
          </a:xfrm>
          <a:prstGeom prst="rect"/>
        </p:spPr>
        <p:txBody>
          <a:bodyPr wrap="none" lIns="0" tIns="0" rIns="0" bIns="0"/>
          <a:p>
            <a:pPr>
              <a:lnSpc>
                <a:spcPct val="100000"/>
              </a:lnSpc>
            </a:pPr>
            <a:r>
              <a:rPr lang="zh-CN" sz="900" b="1">
                <a:solidFill>
                  <a:srgbClr val="FBA15C"/>
                </a:solidFill>
                <a:latin typeface="Microsoft YaHei"/>
                <a:ea typeface="Microsoft YaHei"/>
              </a:rPr>
              <a:t>可上不可下</a:t>
            </a:r>
            <a:endParaRPr/>
          </a:p>
        </p:txBody>
      </p:sp>
      <p:sp>
        <p:nvSpPr>
          <p:cNvPr id="99" name="" descr="{&quot;isTemplate&quot;:true,&quot;type&quot;:&quot;text&quot;}"/>
          <p:cNvSpPr txBox="1"/>
          <p:nvPr/>
        </p:nvSpPr>
        <p:spPr>
          <a:xfrm rot="0" flipH="0" flipV="0">
            <a:off x="762000" y="5457825"/>
            <a:ext cx="3343275" cy="152400"/>
          </a:xfrm>
          <a:prstGeom prst="rect"/>
        </p:spPr>
        <p:txBody>
          <a:bodyPr wrap="none" lIns="0" tIns="0" rIns="0" bIns="0"/>
          <a:p>
            <a:pPr>
              <a:lnSpc>
                <a:spcPct val="130000"/>
              </a:lnSpc>
            </a:pPr>
            <a:r>
              <a:rPr lang="zh-CN" sz="750">
                <a:solidFill>
                  <a:srgbClr val="FFFFFF">
                    <a:alpha val="86000"/>
                  </a:srgbClr>
                </a:solidFill>
                <a:latin typeface="Microsoft YaHei"/>
                <a:ea typeface="Microsoft YaHei"/>
              </a:rPr>
              <a:t>每条根因必须至少有一条变革建议，每条建议必须至少有一条需求</a:t>
            </a:r>
            <a:endParaRPr/>
          </a:p>
        </p:txBody>
      </p:sp>
      <p:sp>
        <p:nvSpPr>
          <p:cNvPr id="100" name=""/>
          <p:cNvSpPr/>
          <p:nvPr/>
        </p:nvSpPr>
        <p:spPr>
          <a:xfrm rot="0" flipH="0" flipV="0">
            <a:off x="4324350" y="5238750"/>
            <a:ext cx="3619500" cy="419100"/>
          </a:xfrm>
          <a:prstGeom prst="roundRect">
            <a:avLst>
              <a:gd name="adj" fmla="val 6818"/>
            </a:avLst>
          </a:prstGeom>
          <a:solidFill>
            <a:srgbClr val="F7F7F8"/>
          </a:solidFill>
          <a:ln/>
        </p:spPr>
        <p:txBody>
          <a:bodyPr/>
          <a:p/>
        </p:txBody>
      </p:sp>
      <p:sp>
        <p:nvSpPr>
          <p:cNvPr id="101" name=""/>
          <p:cNvSpPr/>
          <p:nvPr/>
        </p:nvSpPr>
        <p:spPr>
          <a:xfrm rot="0" flipH="0" flipV="0">
            <a:off x="4324350" y="5238750"/>
            <a:ext cx="3619500" cy="419100"/>
          </a:xfrm>
          <a:custGeom>
            <a:pathLst>
              <a:path w="380" h="44">
                <a:moveTo>
                  <a:pt x="4" y="44"/>
                </a:moveTo>
                <a:cubicBezTo>
                  <a:pt x="3" y="44"/>
                  <a:pt x="2" y="44"/>
                  <a:pt x="1" y="43"/>
                </a:cubicBezTo>
                <a:cubicBezTo>
                  <a:pt x="0" y="42"/>
                  <a:pt x="0" y="42"/>
                  <a:pt x="0" y="41"/>
                </a:cubicBezTo>
                <a:lnTo>
                  <a:pt x="0" y="3"/>
                </a:lnTo>
                <a:cubicBezTo>
                  <a:pt x="0" y="1"/>
                  <a:pt x="1" y="0"/>
                  <a:pt x="3" y="0"/>
                </a:cubicBezTo>
                <a:lnTo>
                  <a:pt x="4" y="0"/>
                </a:lnTo>
                <a:close/>
              </a:path>
            </a:pathLst>
          </a:custGeom>
          <a:solidFill>
            <a:srgbClr val="F87D2F"/>
          </a:solidFill>
          <a:ln/>
        </p:spPr>
        <p:txBody>
          <a:bodyPr/>
          <a:p/>
        </p:txBody>
      </p:sp>
      <p:sp>
        <p:nvSpPr>
          <p:cNvPr id="102" name="" descr="{&quot;isTemplate&quot;:true,&quot;type&quot;:&quot;text&quot;}"/>
          <p:cNvSpPr txBox="1"/>
          <p:nvPr/>
        </p:nvSpPr>
        <p:spPr>
          <a:xfrm rot="0" flipH="0" flipV="0">
            <a:off x="4438650" y="5295900"/>
            <a:ext cx="3352800" cy="142875"/>
          </a:xfrm>
          <a:prstGeom prst="rect"/>
        </p:spPr>
        <p:txBody>
          <a:bodyPr wrap="none" lIns="0" tIns="0" rIns="0" bIns="0"/>
          <a:p>
            <a:pPr>
              <a:lnSpc>
                <a:spcPct val="100000"/>
              </a:lnSpc>
            </a:pPr>
            <a:r>
              <a:rPr lang="zh-CN" sz="900" b="1">
                <a:solidFill>
                  <a:srgbClr val="0F1423"/>
                </a:solidFill>
                <a:latin typeface="Microsoft YaHei"/>
                <a:ea typeface="Microsoft YaHei"/>
              </a:rPr>
              <a:t>空号即作废</a:t>
            </a:r>
            <a:endParaRPr/>
          </a:p>
        </p:txBody>
      </p:sp>
      <p:sp>
        <p:nvSpPr>
          <p:cNvPr id="103" name="" descr="{&quot;isTemplate&quot;:true,&quot;type&quot;:&quot;text&quot;}"/>
          <p:cNvSpPr txBox="1"/>
          <p:nvPr/>
        </p:nvSpPr>
        <p:spPr>
          <a:xfrm rot="0" flipH="0" flipV="0">
            <a:off x="4438650" y="5457825"/>
            <a:ext cx="3352800" cy="152400"/>
          </a:xfrm>
          <a:prstGeom prst="rect"/>
        </p:spPr>
        <p:txBody>
          <a:bodyPr wrap="none" lIns="0" tIns="0" rIns="0" bIns="0"/>
          <a:p>
            <a:pPr>
              <a:lnSpc>
                <a:spcPct val="130000"/>
              </a:lnSpc>
            </a:pPr>
            <a:r>
              <a:rPr lang="zh-CN" sz="750">
                <a:solidFill>
                  <a:srgbClr val="5A6070"/>
                </a:solidFill>
                <a:latin typeface="Microsoft YaHei"/>
                <a:ea typeface="Microsoft YaHei"/>
              </a:rPr>
              <a:t>不写「待定」，写不出就删掉这条痛点，不进矩阵</a:t>
            </a:r>
            <a:endParaRPr/>
          </a:p>
        </p:txBody>
      </p:sp>
      <p:sp>
        <p:nvSpPr>
          <p:cNvPr id="104" name=""/>
          <p:cNvSpPr/>
          <p:nvPr/>
        </p:nvSpPr>
        <p:spPr>
          <a:xfrm rot="0" flipH="0" flipV="0">
            <a:off x="8010525" y="5238750"/>
            <a:ext cx="3609975" cy="419100"/>
          </a:xfrm>
          <a:prstGeom prst="roundRect">
            <a:avLst>
              <a:gd name="adj" fmla="val 6818"/>
            </a:avLst>
          </a:prstGeom>
          <a:solidFill>
            <a:srgbClr val="F7F7F8"/>
          </a:solidFill>
          <a:ln/>
        </p:spPr>
        <p:txBody>
          <a:bodyPr/>
          <a:p/>
        </p:txBody>
      </p:sp>
      <p:sp>
        <p:nvSpPr>
          <p:cNvPr id="105" name=""/>
          <p:cNvSpPr/>
          <p:nvPr/>
        </p:nvSpPr>
        <p:spPr>
          <a:xfrm rot="0" flipH="0" flipV="0">
            <a:off x="8010525" y="5238750"/>
            <a:ext cx="3609975" cy="419100"/>
          </a:xfrm>
          <a:custGeom>
            <a:pathLst>
              <a:path w="379" h="44">
                <a:moveTo>
                  <a:pt x="4" y="44"/>
                </a:moveTo>
                <a:cubicBezTo>
                  <a:pt x="3" y="44"/>
                  <a:pt x="2" y="44"/>
                  <a:pt x="1" y="43"/>
                </a:cubicBezTo>
                <a:cubicBezTo>
                  <a:pt x="0" y="42"/>
                  <a:pt x="0" y="42"/>
                  <a:pt x="0" y="41"/>
                </a:cubicBezTo>
                <a:lnTo>
                  <a:pt x="0" y="3"/>
                </a:lnTo>
                <a:cubicBezTo>
                  <a:pt x="0" y="1"/>
                  <a:pt x="1" y="0"/>
                  <a:pt x="3" y="0"/>
                </a:cubicBezTo>
                <a:lnTo>
                  <a:pt x="4" y="0"/>
                </a:lnTo>
                <a:close/>
              </a:path>
            </a:pathLst>
          </a:custGeom>
          <a:solidFill>
            <a:srgbClr val="C43A17"/>
          </a:solidFill>
          <a:ln/>
        </p:spPr>
        <p:txBody>
          <a:bodyPr/>
          <a:p/>
        </p:txBody>
      </p:sp>
      <p:sp>
        <p:nvSpPr>
          <p:cNvPr id="106" name="" descr="{&quot;isTemplate&quot;:true,&quot;type&quot;:&quot;text&quot;}"/>
          <p:cNvSpPr txBox="1"/>
          <p:nvPr/>
        </p:nvSpPr>
        <p:spPr>
          <a:xfrm rot="0" flipH="0" flipV="0">
            <a:off x="8124825" y="5295900"/>
            <a:ext cx="3343275" cy="142875"/>
          </a:xfrm>
          <a:prstGeom prst="rect"/>
        </p:spPr>
        <p:txBody>
          <a:bodyPr wrap="none" lIns="0" tIns="0" rIns="0" bIns="0"/>
          <a:p>
            <a:pPr>
              <a:lnSpc>
                <a:spcPct val="100000"/>
              </a:lnSpc>
            </a:pPr>
            <a:r>
              <a:rPr lang="zh-CN" sz="900" b="1">
                <a:solidFill>
                  <a:srgbClr val="0F1423"/>
                </a:solidFill>
                <a:latin typeface="Microsoft YaHei"/>
                <a:ea typeface="Microsoft YaHei"/>
              </a:rPr>
              <a:t>反向可查</a:t>
            </a:r>
            <a:endParaRPr/>
          </a:p>
        </p:txBody>
      </p:sp>
      <p:sp>
        <p:nvSpPr>
          <p:cNvPr id="107" name="" descr="{&quot;isTemplate&quot;:true,&quot;type&quot;:&quot;text&quot;}"/>
          <p:cNvSpPr txBox="1"/>
          <p:nvPr/>
        </p:nvSpPr>
        <p:spPr>
          <a:xfrm rot="0" flipH="0" flipV="0">
            <a:off x="8124825" y="5457825"/>
            <a:ext cx="3343275" cy="152400"/>
          </a:xfrm>
          <a:prstGeom prst="rect"/>
        </p:spPr>
        <p:txBody>
          <a:bodyPr wrap="none" lIns="0" tIns="0" rIns="0" bIns="0"/>
          <a:p>
            <a:pPr>
              <a:lnSpc>
                <a:spcPct val="130000"/>
              </a:lnSpc>
            </a:pPr>
            <a:r>
              <a:rPr lang="zh-CN" sz="750">
                <a:solidFill>
                  <a:srgbClr val="5A6070"/>
                </a:solidFill>
                <a:latin typeface="Microsoft YaHei"/>
                <a:ea typeface="Microsoft YaHei"/>
              </a:rPr>
              <a:t>评审时抽任意一条需求，能三分钟倒推回痛点原话</a:t>
            </a:r>
            <a:endParaRPr/>
          </a:p>
        </p:txBody>
      </p:sp>
      <p:sp>
        <p:nvSpPr>
          <p:cNvPr id="108" name=""/>
          <p:cNvSpPr/>
          <p:nvPr/>
        </p:nvSpPr>
        <p:spPr>
          <a:xfrm rot="0" flipH="0" flipV="0">
            <a:off x="609600" y="5943600"/>
            <a:ext cx="133350" cy="133350"/>
          </a:xfrm>
          <a:prstGeom prst="rect">
            <a:avLst/>
          </a:prstGeom>
          <a:solidFill>
            <a:srgbClr val="FA4F24"/>
          </a:solidFill>
          <a:ln/>
        </p:spPr>
        <p:txBody>
          <a:bodyPr/>
          <a:p/>
        </p:txBody>
      </p:sp>
      <p:sp>
        <p:nvSpPr>
          <p:cNvPr id="109"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1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10 / 36</a:t>
            </a:r>
            <a:endParaRPr/>
          </a:p>
        </p:txBody>
      </p:sp>
    </p:spTree>
  </p:cSld>
</p:sld>
</file>

<file path=ppt/slides/slide11.xml><?xml version="1.0" encoding="utf-8"?>
<p:sld xmlns:p="http://schemas.openxmlformats.org/presentationml/2006/main" xmlns:a="http://schemas.openxmlformats.org/drawingml/2006/main">
  <p:cSld>
    <p:spTree>
      <p:nvGrpSpPr>
        <p:cNvPr id="111" name="" descr="&lt;Slide style={{ width: 1280, height: 720, background: '#FFFFFF', padding: '24px 64px 0' }}&gt;&#10;    {/* A 区 */}&#10;    &lt;Box style={{ height: 96, flexDirection: 'column', justifyContent: 'flex-start' }}&gt;&#10;        &lt;Text style={{ fontSize: 32, fontWeight: 'bold', color: '#0F1423' }}&gt;&#10;            相对通用册，&lt;span style={{ color: '#FA4F24' }}&gt;改了哪六处&lt;/span&gt;&#10;        &lt;/Text&gt;&#10;        &lt;Text style={{ fontSize: 19, color: '#8A8F99', marginTop: 7 }}&gt;&#10;            每处改动都对应招标里的一条硬要求，不是为了好看才改的&#10;        &lt;/Text&gt;&#10;    &lt;/Box&gt;&#10;    &lt;Box style={{ height: 1, background: '#E8E8E8' }} /&gt;&#10;&#10;    {/* B 区 */}&#10;    &lt;Box style={{ paddingTop: 10, paddingBottom: 6, height: 479, flexDirection: 'column', gap: 8 }}&gt;&#10;&#10;        {/* 六处改动：2 列 × 3 行 */}&#10;        &lt;Box style={{ flex: 1, flexDirection: 'column', gap: 7 }}&gt;&#10;            {[&#10;                [&#10;                    { n: '改 1', t: '颗粒度从「分层分级」改到逐条可勾', f: '通用：BA 到分层分级', t2: '本项目：BA 到 L4 子流程，阶段三到 L5-L6；DA 到业务逻辑实体再到属性；AA 到功能模块再到服务/特性/子特性', c: '#FA4F24' },&#10;                    { n: '改 2', t: '业务域从泛行业改到九个业务块', f: '通用：以制造/零售为例', t2: '本项目：E1–E5 能源链 + S1/S2 储能链 + 指标体系横切，每块单独出流程形态与 AI 落点', c: '#FA4F24' },&#10;                    { n: '改 3', t: '组织从泛指部门改到九个实名部门', f: '通用：访谈业务与技术口', t2: '本项目：九个部门各自有必问三件事，访谈提纲按部门分册，不发通用问卷', c: '#E0641E' },&#10;                ],&#10;                [&#10;                    { n: '改 4', t: '可追溯从「有关联」改到编号一一对应', f: '通用：说明四层之间的关系', t2: '本项目：PAIN/ROOT/BLD/REQ 四段编号，空号即作废，需求可反向三分钟倒推回痛点', c: '#C43A17' },&#10;                    { n: '改 5', t: 'AI 从一种实现改为独立成节两轮作业', f: '通用：AI 不在方法论主体内', t2: '本项目：阶段二出初识清单与优先级排序，阶段三出场景详细设计（目标/输入/知识来源/智能体边界/评估指标）', c: '#C43A17' },&#10;                    { n: '改 6', t: '交付从方法论自然产出改为九项合同清单', f: '通用：按方法论自然沉淀成果', t2: '本项目：九项交付物逐项绑定阶段、责任人与验收要点，评审时按清单逐行签收', c: '#9E3410' },&#10;                ],&#10;            ].map((row, ri) =&gt; (&#10;                &lt;Box key={ri} style={{ flex: 1, flexDirection: 'row', gap: 7 }}&gt;&#10;                    {row.map((x) =&gt; (&#10;                        &lt;Box key={x.n} style={{ flex: 1, background: '#F7F7F8', borderRadius: 4, borderLeft: '4px solid ' + x.c, padding: '11px 14px', flexDirection: 'column' }}&gt;&#10;                            &lt;Box style={{ flexDirection: 'row', alignItems: 'center', gap: 7 }}&gt;&#10;                                &lt;Box style={{ height: 18, padding: '0 6px', borderRadius: 2, background: x.c, alignItems: 'center', justifyContent: 'center', flexDirection: 'row' }}&gt;&#10;                                    &lt;Text style={{ fontSize: 10, fontWeight: 'bold', color: '#FFFFFF' }}&gt;{x.n}&lt;/Text&gt;&#10;                                &lt;/Box&gt;&#10;                                &lt;Text style={{ fontSize: 13, fontWeight: 'bold', color: '#0F1423', flex: 1 }}&gt;{x.t}&lt;/Text&gt;&#10;                            &lt;/Box&gt;&#10;                            &lt;Text style={{ fontSize: 10.5, color: '#8A8F99', lineHeight: 1.3, marginTop: 6 }}&gt;{x.f}&lt;/Text&gt;&#10;                            &lt;Text style={{ fontSize: 11, color: '#3A4050', lineHeight: 1.4, marginTop: 3, flex: 1 }}&gt;{x.t2}&lt;/Text&gt;&#10;                        &lt;/Box&gt;&#10;                    ))}&#10;                &lt;/Box&gt;&#10;            ))}&#10;        &lt;/Box&gt;&#10;&#10;        {/* 底部 */}&#10;        &lt;Box style={{ height: 54, background: '#0F1423', borderRadius: 4, padding: '0 20px', flexDirection: 'row', alignItems: 'center', gap: 16 }}&gt;&#10;            &lt;Text style={{ fontSize: 13, fontWeight: 'bold', color: '#FBA15C', width: 176 }}&gt;六处改动的共同点&lt;/Text&gt;&#10;            &lt;Text style={{ fontSize: 14, color: '#FFFFFF', flex: 1, lineHeight: 1.5 }}&gt;&#10;                没有一处改动是为了「显得更专业」，全部是为了在评审现场&lt;span style={{ color: '#FBA15C' }}&gt;能指着这一行说「我们就是这么做的」&lt;/span&gt;，并且交得出对应的产出物&#10;            &lt;/Text&gt;&#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11 / 36&lt;/Text&gt;&#10;    &lt;/Box&gt;&#10;&lt;/Slide&gt;&#10;"/>
        <p:cNvGrpSpPr/>
        <p:nvPr/>
      </p:nvGrpSpPr>
      <p:grpSpPr>
        <a:xfrm>
          <a:off x="0" y="0"/>
          <a:ext cx="0" cy="0"/>
          <a:chOff x="0" y="0"/>
          <a:chExt cx="0" cy="0"/>
        </a:xfrm>
      </p:grpSpPr>
      <p:sp>
        <p:nvSpPr>
          <p:cNvPr id="112" name=""/>
          <p:cNvSpPr/>
          <p:nvPr/>
        </p:nvSpPr>
        <p:spPr>
          <a:xfrm rot="0" flipH="0" flipV="0">
            <a:off x="0" y="0"/>
            <a:ext cx="12192000" cy="6858000"/>
          </a:xfrm>
          <a:prstGeom prst="rect">
            <a:avLst/>
          </a:prstGeom>
          <a:solidFill>
            <a:srgbClr val="FFFFFF"/>
          </a:solidFill>
          <a:ln/>
        </p:spPr>
        <p:txBody>
          <a:bodyPr/>
          <a:p/>
        </p:txBody>
      </p:sp>
      <p:sp>
        <p:nvSpPr>
          <p:cNvPr id="11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相对通用册，</a:t>
            </a:r>
            <a:r>
              <a:rPr lang="zh-CN" sz="2400" b="1">
                <a:solidFill>
                  <a:srgbClr val="FA4F24"/>
                </a:solidFill>
                <a:latin typeface="Microsoft YaHei"/>
                <a:ea typeface="Microsoft YaHei"/>
              </a:rPr>
              <a:t>改了哪六处</a:t>
            </a:r>
            <a:endParaRPr/>
          </a:p>
        </p:txBody>
      </p:sp>
      <p:sp>
        <p:nvSpPr>
          <p:cNvPr id="114"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每处改动都对应招标里的一条硬要求，不是为了好看才改的</a:t>
            </a:r>
            <a:endParaRPr/>
          </a:p>
        </p:txBody>
      </p:sp>
      <p:sp>
        <p:nvSpPr>
          <p:cNvPr id="115" name=""/>
          <p:cNvSpPr/>
          <p:nvPr/>
        </p:nvSpPr>
        <p:spPr>
          <a:xfrm rot="0" flipH="0" flipV="0">
            <a:off x="609600" y="1143000"/>
            <a:ext cx="10972800" cy="9525"/>
          </a:xfrm>
          <a:prstGeom prst="rect">
            <a:avLst/>
          </a:prstGeom>
          <a:solidFill>
            <a:srgbClr val="E8E8E8"/>
          </a:solidFill>
          <a:ln/>
        </p:spPr>
        <p:txBody>
          <a:bodyPr/>
          <a:p/>
        </p:txBody>
      </p:sp>
      <p:sp>
        <p:nvSpPr>
          <p:cNvPr id="116" name=""/>
          <p:cNvSpPr/>
          <p:nvPr/>
        </p:nvSpPr>
        <p:spPr>
          <a:xfrm rot="0" flipH="0" flipV="0">
            <a:off x="647700" y="1247775"/>
            <a:ext cx="3609975" cy="1876425"/>
          </a:xfrm>
          <a:prstGeom prst="roundRect">
            <a:avLst>
              <a:gd name="adj" fmla="val 2030"/>
            </a:avLst>
          </a:prstGeom>
          <a:solidFill>
            <a:srgbClr val="F7F7F8"/>
          </a:solidFill>
          <a:ln/>
        </p:spPr>
        <p:txBody>
          <a:bodyPr/>
          <a:p/>
        </p:txBody>
      </p:sp>
      <p:sp>
        <p:nvSpPr>
          <p:cNvPr id="117" name=""/>
          <p:cNvSpPr/>
          <p:nvPr/>
        </p:nvSpPr>
        <p:spPr>
          <a:xfrm rot="0" flipH="0" flipV="0">
            <a:off x="647700" y="1247775"/>
            <a:ext cx="3609975" cy="1876425"/>
          </a:xfrm>
          <a:custGeom>
            <a:pathLst>
              <a:path w="379" h="197">
                <a:moveTo>
                  <a:pt x="4" y="197"/>
                </a:moveTo>
                <a:cubicBezTo>
                  <a:pt x="2" y="197"/>
                  <a:pt x="0" y="195"/>
                  <a:pt x="0" y="193"/>
                </a:cubicBezTo>
                <a:lnTo>
                  <a:pt x="0" y="4"/>
                </a:lnTo>
                <a:cubicBezTo>
                  <a:pt x="0" y="2"/>
                  <a:pt x="2" y="0"/>
                  <a:pt x="4" y="0"/>
                </a:cubicBezTo>
                <a:lnTo>
                  <a:pt x="4" y="197"/>
                </a:lnTo>
                <a:close/>
              </a:path>
            </a:pathLst>
          </a:custGeom>
          <a:solidFill>
            <a:srgbClr val="FA4F24"/>
          </a:solidFill>
          <a:ln/>
        </p:spPr>
        <p:txBody>
          <a:bodyPr/>
          <a:p/>
        </p:txBody>
      </p:sp>
      <p:sp>
        <p:nvSpPr>
          <p:cNvPr id="118" name=""/>
          <p:cNvSpPr/>
          <p:nvPr/>
        </p:nvSpPr>
        <p:spPr>
          <a:xfrm rot="0" flipH="0" flipV="0">
            <a:off x="781050" y="1352550"/>
            <a:ext cx="304800" cy="171450"/>
          </a:xfrm>
          <a:prstGeom prst="roundRect">
            <a:avLst>
              <a:gd name="adj" fmla="val 11111"/>
            </a:avLst>
          </a:prstGeom>
          <a:solidFill>
            <a:srgbClr val="FA4F24"/>
          </a:solidFill>
          <a:ln/>
        </p:spPr>
        <p:txBody>
          <a:bodyPr/>
          <a:p/>
        </p:txBody>
      </p:sp>
      <p:sp>
        <p:nvSpPr>
          <p:cNvPr id="119" name="" descr="{&quot;isTemplate&quot;:true,&quot;type&quot;:&quot;text&quot;}"/>
          <p:cNvSpPr txBox="1"/>
          <p:nvPr/>
        </p:nvSpPr>
        <p:spPr>
          <a:xfrm rot="0" flipH="0" flipV="0">
            <a:off x="838200" y="1381125"/>
            <a:ext cx="190500" cy="114300"/>
          </a:xfrm>
          <a:prstGeom prst="rect"/>
        </p:spPr>
        <p:txBody>
          <a:bodyPr wrap="none" lIns="0" tIns="0" rIns="0" bIns="0"/>
          <a:p>
            <a:pPr>
              <a:lnSpc>
                <a:spcPct val="100000"/>
              </a:lnSpc>
            </a:pPr>
            <a:r>
              <a:rPr lang="zh-CN" sz="750" b="1">
                <a:solidFill>
                  <a:srgbClr val="FFFFFF"/>
                </a:solidFill>
                <a:latin typeface="Microsoft YaHei"/>
                <a:ea typeface="Microsoft YaHei"/>
              </a:rPr>
              <a:t>改</a:t>
            </a:r>
            <a:r>
              <a:rPr lang="en-US" sz="750" b="1">
                <a:solidFill>
                  <a:srgbClr val="FFFFFF"/>
                </a:solidFill>
                <a:latin typeface="Microsoft YaHei"/>
                <a:ea typeface="Microsoft YaHei"/>
              </a:rPr>
              <a:t xml:space="preserve"> 1</a:t>
            </a:r>
            <a:endParaRPr/>
          </a:p>
        </p:txBody>
      </p:sp>
      <p:sp>
        <p:nvSpPr>
          <p:cNvPr id="120" name="" descr="{&quot;isTemplate&quot;:true,&quot;type&quot;:&quot;text&quot;}"/>
          <p:cNvSpPr txBox="1"/>
          <p:nvPr/>
        </p:nvSpPr>
        <p:spPr>
          <a:xfrm rot="0" flipH="0" flipV="0">
            <a:off x="1152525" y="1362075"/>
            <a:ext cx="2933700" cy="152400"/>
          </a:xfrm>
          <a:prstGeom prst="rect"/>
        </p:spPr>
        <p:txBody>
          <a:bodyPr wrap="none" lIns="0" tIns="0" rIns="0" bIns="0"/>
          <a:p>
            <a:pPr>
              <a:lnSpc>
                <a:spcPct val="100000"/>
              </a:lnSpc>
            </a:pPr>
            <a:r>
              <a:rPr lang="zh-CN" sz="975" b="1">
                <a:solidFill>
                  <a:srgbClr val="0F1423"/>
                </a:solidFill>
                <a:latin typeface="Microsoft YaHei"/>
                <a:ea typeface="Microsoft YaHei"/>
              </a:rPr>
              <a:t>颗粒度从「分层分级」改到逐条可勾</a:t>
            </a:r>
            <a:endParaRPr/>
          </a:p>
        </p:txBody>
      </p:sp>
      <p:sp>
        <p:nvSpPr>
          <p:cNvPr id="121" name="" descr="{&quot;isTemplate&quot;:true,&quot;type&quot;:&quot;text&quot;}"/>
          <p:cNvSpPr txBox="1"/>
          <p:nvPr/>
        </p:nvSpPr>
        <p:spPr>
          <a:xfrm rot="0" flipH="0" flipV="0">
            <a:off x="781050" y="1581150"/>
            <a:ext cx="3305175" cy="161925"/>
          </a:xfrm>
          <a:prstGeom prst="rect"/>
        </p:spPr>
        <p:txBody>
          <a:bodyPr wrap="none" lIns="0" tIns="0" rIns="0" bIns="0"/>
          <a:p>
            <a:pPr>
              <a:lnSpc>
                <a:spcPct val="130000"/>
              </a:lnSpc>
            </a:pPr>
            <a:r>
              <a:rPr lang="zh-CN" sz="788">
                <a:solidFill>
                  <a:srgbClr val="8A8F99"/>
                </a:solidFill>
                <a:latin typeface="Microsoft YaHei"/>
                <a:ea typeface="Microsoft YaHei"/>
              </a:rPr>
              <a:t>通用：</a:t>
            </a:r>
            <a:r>
              <a:rPr lang="en-US" sz="788">
                <a:solidFill>
                  <a:srgbClr val="8A8F99"/>
                </a:solidFill>
                <a:latin typeface="Microsoft YaHei"/>
                <a:ea typeface="Microsoft YaHei"/>
              </a:rPr>
              <a:t xml:space="preserve">BA </a:t>
            </a:r>
            <a:r>
              <a:rPr lang="zh-CN" sz="788">
                <a:solidFill>
                  <a:srgbClr val="8A8F99"/>
                </a:solidFill>
                <a:latin typeface="Microsoft YaHei"/>
                <a:ea typeface="Microsoft YaHei"/>
              </a:rPr>
              <a:t>到分层分级</a:t>
            </a:r>
            <a:endParaRPr/>
          </a:p>
        </p:txBody>
      </p:sp>
      <p:sp>
        <p:nvSpPr>
          <p:cNvPr id="122" name="" descr="{&quot;isTemplate&quot;:true,&quot;type&quot;:&quot;text&quot;}"/>
          <p:cNvSpPr txBox="1"/>
          <p:nvPr/>
        </p:nvSpPr>
        <p:spPr>
          <a:xfrm rot="0" flipH="0" flipV="0">
            <a:off x="781050" y="1771650"/>
            <a:ext cx="3305175" cy="1247775"/>
          </a:xfrm>
          <a:prstGeom prst="rect"/>
        </p:spPr>
        <p:txBody>
          <a:bodyPr wrap="square" lIns="0" tIns="0" rIns="0" bIns="0">
            <a:normAutofit/>
          </a:bodyPr>
          <a:p>
            <a:pPr>
              <a:lnSpc>
                <a:spcPct val="140000"/>
              </a:lnSpc>
            </a:pPr>
            <a:r>
              <a:rPr lang="zh-CN" sz="825">
                <a:solidFill>
                  <a:srgbClr val="3A4050"/>
                </a:solidFill>
                <a:latin typeface="Microsoft YaHei"/>
                <a:ea typeface="Microsoft YaHei"/>
              </a:rPr>
              <a:t>本项目：</a:t>
            </a:r>
            <a:r>
              <a:rPr lang="en-US" sz="825">
                <a:solidFill>
                  <a:srgbClr val="3A4050"/>
                </a:solidFill>
                <a:latin typeface="Microsoft YaHei"/>
                <a:ea typeface="Microsoft YaHei"/>
              </a:rPr>
              <a:t xml:space="preserve">BA </a:t>
            </a:r>
            <a:r>
              <a:rPr lang="zh-CN" sz="825">
                <a:solidFill>
                  <a:srgbClr val="3A4050"/>
                </a:solidFill>
                <a:latin typeface="Microsoft YaHei"/>
                <a:ea typeface="Microsoft YaHei"/>
              </a:rPr>
              <a:t>到</a:t>
            </a:r>
            <a:r>
              <a:rPr lang="en-US" sz="825">
                <a:solidFill>
                  <a:srgbClr val="3A4050"/>
                </a:solidFill>
                <a:latin typeface="Microsoft YaHei"/>
                <a:ea typeface="Microsoft YaHei"/>
              </a:rPr>
              <a:t xml:space="preserve"> L4 </a:t>
            </a:r>
            <a:r>
              <a:rPr lang="zh-CN" sz="825">
                <a:solidFill>
                  <a:srgbClr val="3A4050"/>
                </a:solidFill>
                <a:latin typeface="Microsoft YaHei"/>
                <a:ea typeface="Microsoft YaHei"/>
              </a:rPr>
              <a:t>子流程，阶段三到</a:t>
            </a:r>
            <a:r>
              <a:rPr lang="en-US" sz="825">
                <a:solidFill>
                  <a:srgbClr val="3A4050"/>
                </a:solidFill>
                <a:latin typeface="Microsoft YaHei"/>
                <a:ea typeface="Microsoft YaHei"/>
              </a:rPr>
              <a:t xml:space="preserve"> L5-L6</a:t>
            </a:r>
            <a:r>
              <a:rPr lang="zh-CN" sz="825">
                <a:solidFill>
                  <a:srgbClr val="3A4050"/>
                </a:solidFill>
                <a:latin typeface="Microsoft YaHei"/>
                <a:ea typeface="Microsoft YaHei"/>
              </a:rPr>
              <a:t>；</a:t>
            </a:r>
            <a:r>
              <a:rPr lang="en-US" sz="825">
                <a:solidFill>
                  <a:srgbClr val="3A4050"/>
                </a:solidFill>
                <a:latin typeface="Microsoft YaHei"/>
                <a:ea typeface="Microsoft YaHei"/>
              </a:rPr>
              <a:t xml:space="preserve">DA </a:t>
            </a:r>
            <a:r>
              <a:rPr lang="zh-CN" sz="825">
                <a:solidFill>
                  <a:srgbClr val="3A4050"/>
                </a:solidFill>
                <a:latin typeface="Microsoft YaHei"/>
                <a:ea typeface="Microsoft YaHei"/>
              </a:rPr>
              <a:t>到业务逻辑实体再到属性；</a:t>
            </a:r>
            <a:r>
              <a:rPr lang="en-US" sz="825">
                <a:solidFill>
                  <a:srgbClr val="3A4050"/>
                </a:solidFill>
                <a:latin typeface="Microsoft YaHei"/>
                <a:ea typeface="Microsoft YaHei"/>
              </a:rPr>
              <a:t xml:space="preserve">AA </a:t>
            </a:r>
            <a:r>
              <a:rPr lang="zh-CN" sz="825">
                <a:solidFill>
                  <a:srgbClr val="3A4050"/>
                </a:solidFill>
                <a:latin typeface="Microsoft YaHei"/>
                <a:ea typeface="Microsoft YaHei"/>
              </a:rPr>
              <a:t>到功能模块再到服务</a:t>
            </a:r>
            <a:r>
              <a:rPr lang="en-US" sz="825">
                <a:solidFill>
                  <a:srgbClr val="3A4050"/>
                </a:solidFill>
                <a:latin typeface="Microsoft YaHei"/>
                <a:ea typeface="Microsoft YaHei"/>
              </a:rPr>
              <a:t>/</a:t>
            </a:r>
            <a:r>
              <a:rPr lang="zh-CN" sz="825">
                <a:solidFill>
                  <a:srgbClr val="3A4050"/>
                </a:solidFill>
                <a:latin typeface="Microsoft YaHei"/>
                <a:ea typeface="Microsoft YaHei"/>
              </a:rPr>
              <a:t>特性</a:t>
            </a:r>
            <a:r>
              <a:rPr lang="en-US" sz="825">
                <a:solidFill>
                  <a:srgbClr val="3A4050"/>
                </a:solidFill>
                <a:latin typeface="Microsoft YaHei"/>
                <a:ea typeface="Microsoft YaHei"/>
              </a:rPr>
              <a:t>/</a:t>
            </a:r>
            <a:r>
              <a:rPr lang="zh-CN" sz="825">
                <a:solidFill>
                  <a:srgbClr val="3A4050"/>
                </a:solidFill>
                <a:latin typeface="Microsoft YaHei"/>
                <a:ea typeface="Microsoft YaHei"/>
              </a:rPr>
              <a:t>子特性</a:t>
            </a:r>
            <a:endParaRPr/>
          </a:p>
        </p:txBody>
      </p:sp>
      <p:sp>
        <p:nvSpPr>
          <p:cNvPr id="123" name=""/>
          <p:cNvSpPr/>
          <p:nvPr/>
        </p:nvSpPr>
        <p:spPr>
          <a:xfrm rot="0" flipH="0" flipV="0">
            <a:off x="4324350" y="1247775"/>
            <a:ext cx="3619500" cy="1876425"/>
          </a:xfrm>
          <a:prstGeom prst="roundRect">
            <a:avLst>
              <a:gd name="adj" fmla="val 2030"/>
            </a:avLst>
          </a:prstGeom>
          <a:solidFill>
            <a:srgbClr val="F7F7F8"/>
          </a:solidFill>
          <a:ln/>
        </p:spPr>
        <p:txBody>
          <a:bodyPr/>
          <a:p/>
        </p:txBody>
      </p:sp>
      <p:sp>
        <p:nvSpPr>
          <p:cNvPr id="124" name=""/>
          <p:cNvSpPr/>
          <p:nvPr/>
        </p:nvSpPr>
        <p:spPr>
          <a:xfrm rot="0" flipH="0" flipV="0">
            <a:off x="4324350" y="1247775"/>
            <a:ext cx="3619500" cy="1876425"/>
          </a:xfrm>
          <a:custGeom>
            <a:pathLst>
              <a:path w="380" h="197">
                <a:moveTo>
                  <a:pt x="4" y="197"/>
                </a:moveTo>
                <a:cubicBezTo>
                  <a:pt x="2" y="197"/>
                  <a:pt x="0" y="195"/>
                  <a:pt x="0" y="193"/>
                </a:cubicBezTo>
                <a:lnTo>
                  <a:pt x="0" y="4"/>
                </a:lnTo>
                <a:cubicBezTo>
                  <a:pt x="0" y="2"/>
                  <a:pt x="2" y="0"/>
                  <a:pt x="4" y="0"/>
                </a:cubicBezTo>
                <a:lnTo>
                  <a:pt x="4" y="197"/>
                </a:lnTo>
                <a:close/>
              </a:path>
            </a:pathLst>
          </a:custGeom>
          <a:solidFill>
            <a:srgbClr val="FA4F24"/>
          </a:solidFill>
          <a:ln/>
        </p:spPr>
        <p:txBody>
          <a:bodyPr/>
          <a:p/>
        </p:txBody>
      </p:sp>
      <p:sp>
        <p:nvSpPr>
          <p:cNvPr id="125" name=""/>
          <p:cNvSpPr/>
          <p:nvPr/>
        </p:nvSpPr>
        <p:spPr>
          <a:xfrm rot="0" flipH="0" flipV="0">
            <a:off x="4457700" y="1352550"/>
            <a:ext cx="304800" cy="171450"/>
          </a:xfrm>
          <a:prstGeom prst="roundRect">
            <a:avLst>
              <a:gd name="adj" fmla="val 11111"/>
            </a:avLst>
          </a:prstGeom>
          <a:solidFill>
            <a:srgbClr val="FA4F24"/>
          </a:solidFill>
          <a:ln/>
        </p:spPr>
        <p:txBody>
          <a:bodyPr/>
          <a:p/>
        </p:txBody>
      </p:sp>
      <p:sp>
        <p:nvSpPr>
          <p:cNvPr id="126" name="" descr="{&quot;isTemplate&quot;:true,&quot;type&quot;:&quot;text&quot;}"/>
          <p:cNvSpPr txBox="1"/>
          <p:nvPr/>
        </p:nvSpPr>
        <p:spPr>
          <a:xfrm rot="0" flipH="0" flipV="0">
            <a:off x="4514850" y="1381125"/>
            <a:ext cx="190500" cy="114300"/>
          </a:xfrm>
          <a:prstGeom prst="rect"/>
        </p:spPr>
        <p:txBody>
          <a:bodyPr wrap="none" lIns="0" tIns="0" rIns="0" bIns="0"/>
          <a:p>
            <a:pPr>
              <a:lnSpc>
                <a:spcPct val="100000"/>
              </a:lnSpc>
            </a:pPr>
            <a:r>
              <a:rPr lang="zh-CN" sz="750" b="1">
                <a:solidFill>
                  <a:srgbClr val="FFFFFF"/>
                </a:solidFill>
                <a:latin typeface="Microsoft YaHei"/>
                <a:ea typeface="Microsoft YaHei"/>
              </a:rPr>
              <a:t>改</a:t>
            </a:r>
            <a:r>
              <a:rPr lang="en-US" sz="750" b="1">
                <a:solidFill>
                  <a:srgbClr val="FFFFFF"/>
                </a:solidFill>
                <a:latin typeface="Microsoft YaHei"/>
                <a:ea typeface="Microsoft YaHei"/>
              </a:rPr>
              <a:t xml:space="preserve"> 2</a:t>
            </a:r>
            <a:endParaRPr/>
          </a:p>
        </p:txBody>
      </p:sp>
      <p:sp>
        <p:nvSpPr>
          <p:cNvPr id="127" name="" descr="{&quot;isTemplate&quot;:true,&quot;type&quot;:&quot;text&quot;}"/>
          <p:cNvSpPr txBox="1"/>
          <p:nvPr/>
        </p:nvSpPr>
        <p:spPr>
          <a:xfrm rot="0" flipH="0" flipV="0">
            <a:off x="4829175" y="1362075"/>
            <a:ext cx="2943225" cy="152400"/>
          </a:xfrm>
          <a:prstGeom prst="rect"/>
        </p:spPr>
        <p:txBody>
          <a:bodyPr wrap="none" lIns="0" tIns="0" rIns="0" bIns="0"/>
          <a:p>
            <a:pPr>
              <a:lnSpc>
                <a:spcPct val="100000"/>
              </a:lnSpc>
            </a:pPr>
            <a:r>
              <a:rPr lang="zh-CN" sz="975" b="1">
                <a:solidFill>
                  <a:srgbClr val="0F1423"/>
                </a:solidFill>
                <a:latin typeface="Microsoft YaHei"/>
                <a:ea typeface="Microsoft YaHei"/>
              </a:rPr>
              <a:t>业务域从泛行业改到九个业务块</a:t>
            </a:r>
            <a:endParaRPr/>
          </a:p>
        </p:txBody>
      </p:sp>
      <p:sp>
        <p:nvSpPr>
          <p:cNvPr id="128" name="" descr="{&quot;isTemplate&quot;:true,&quot;type&quot;:&quot;text&quot;}"/>
          <p:cNvSpPr txBox="1"/>
          <p:nvPr/>
        </p:nvSpPr>
        <p:spPr>
          <a:xfrm rot="0" flipH="0" flipV="0">
            <a:off x="4457700" y="1581150"/>
            <a:ext cx="3314700" cy="161925"/>
          </a:xfrm>
          <a:prstGeom prst="rect"/>
        </p:spPr>
        <p:txBody>
          <a:bodyPr wrap="none" lIns="0" tIns="0" rIns="0" bIns="0"/>
          <a:p>
            <a:pPr>
              <a:lnSpc>
                <a:spcPct val="130000"/>
              </a:lnSpc>
            </a:pPr>
            <a:r>
              <a:rPr lang="zh-CN" sz="788">
                <a:solidFill>
                  <a:srgbClr val="8A8F99"/>
                </a:solidFill>
                <a:latin typeface="Microsoft YaHei"/>
                <a:ea typeface="Microsoft YaHei"/>
              </a:rPr>
              <a:t>通用：以制造</a:t>
            </a:r>
            <a:r>
              <a:rPr lang="en-US" sz="788">
                <a:solidFill>
                  <a:srgbClr val="8A8F99"/>
                </a:solidFill>
                <a:latin typeface="Microsoft YaHei"/>
                <a:ea typeface="Microsoft YaHei"/>
              </a:rPr>
              <a:t>/</a:t>
            </a:r>
            <a:r>
              <a:rPr lang="zh-CN" sz="788">
                <a:solidFill>
                  <a:srgbClr val="8A8F99"/>
                </a:solidFill>
                <a:latin typeface="Microsoft YaHei"/>
                <a:ea typeface="Microsoft YaHei"/>
              </a:rPr>
              <a:t>零售为例</a:t>
            </a:r>
            <a:endParaRPr/>
          </a:p>
        </p:txBody>
      </p:sp>
      <p:sp>
        <p:nvSpPr>
          <p:cNvPr id="129" name="" descr="{&quot;isTemplate&quot;:true,&quot;type&quot;:&quot;text&quot;}"/>
          <p:cNvSpPr txBox="1"/>
          <p:nvPr/>
        </p:nvSpPr>
        <p:spPr>
          <a:xfrm rot="0" flipH="0" flipV="0">
            <a:off x="4457700" y="1771650"/>
            <a:ext cx="3314700" cy="1247775"/>
          </a:xfrm>
          <a:prstGeom prst="rect"/>
        </p:spPr>
        <p:txBody>
          <a:bodyPr wrap="square" lIns="0" tIns="0" rIns="0" bIns="0">
            <a:normAutofit/>
          </a:bodyPr>
          <a:p>
            <a:pPr>
              <a:lnSpc>
                <a:spcPct val="140000"/>
              </a:lnSpc>
            </a:pPr>
            <a:r>
              <a:rPr lang="zh-CN" sz="825">
                <a:solidFill>
                  <a:srgbClr val="3A4050"/>
                </a:solidFill>
                <a:latin typeface="Microsoft YaHei"/>
                <a:ea typeface="Microsoft YaHei"/>
              </a:rPr>
              <a:t>本项目：</a:t>
            </a:r>
            <a:r>
              <a:rPr lang="en-US" sz="825">
                <a:solidFill>
                  <a:srgbClr val="3A4050"/>
                </a:solidFill>
                <a:latin typeface="Microsoft YaHei"/>
                <a:ea typeface="Microsoft YaHei"/>
              </a:rPr>
              <a:t xml:space="preserve">E1–E5 </a:t>
            </a:r>
            <a:r>
              <a:rPr lang="zh-CN" sz="825">
                <a:solidFill>
                  <a:srgbClr val="3A4050"/>
                </a:solidFill>
                <a:latin typeface="Microsoft YaHei"/>
                <a:ea typeface="Microsoft YaHei"/>
              </a:rPr>
              <a:t>能源链</a:t>
            </a:r>
            <a:r>
              <a:rPr lang="en-US" sz="825">
                <a:solidFill>
                  <a:srgbClr val="3A4050"/>
                </a:solidFill>
                <a:latin typeface="Microsoft YaHei"/>
                <a:ea typeface="Microsoft YaHei"/>
              </a:rPr>
              <a:t xml:space="preserve"> + S1/S2 </a:t>
            </a:r>
            <a:r>
              <a:rPr lang="zh-CN" sz="825">
                <a:solidFill>
                  <a:srgbClr val="3A4050"/>
                </a:solidFill>
                <a:latin typeface="Microsoft YaHei"/>
                <a:ea typeface="Microsoft YaHei"/>
              </a:rPr>
              <a:t>储能链</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指标体系横切，每块单独出流程形态与</a:t>
            </a:r>
            <a:r>
              <a:rPr lang="en-US" sz="825">
                <a:solidFill>
                  <a:srgbClr val="3A4050"/>
                </a:solidFill>
                <a:latin typeface="Microsoft YaHei"/>
                <a:ea typeface="Microsoft YaHei"/>
              </a:rPr>
              <a:t xml:space="preserve"> AI </a:t>
            </a:r>
            <a:r>
              <a:rPr lang="zh-CN" sz="825">
                <a:solidFill>
                  <a:srgbClr val="3A4050"/>
                </a:solidFill>
                <a:latin typeface="Microsoft YaHei"/>
                <a:ea typeface="Microsoft YaHei"/>
              </a:rPr>
              <a:t>落点</a:t>
            </a:r>
            <a:endParaRPr/>
          </a:p>
        </p:txBody>
      </p:sp>
      <p:sp>
        <p:nvSpPr>
          <p:cNvPr id="130" name=""/>
          <p:cNvSpPr/>
          <p:nvPr/>
        </p:nvSpPr>
        <p:spPr>
          <a:xfrm rot="0" flipH="0" flipV="0">
            <a:off x="8010525" y="1247775"/>
            <a:ext cx="3609975" cy="1876425"/>
          </a:xfrm>
          <a:prstGeom prst="roundRect">
            <a:avLst>
              <a:gd name="adj" fmla="val 2030"/>
            </a:avLst>
          </a:prstGeom>
          <a:solidFill>
            <a:srgbClr val="F7F7F8"/>
          </a:solidFill>
          <a:ln/>
        </p:spPr>
        <p:txBody>
          <a:bodyPr/>
          <a:p/>
        </p:txBody>
      </p:sp>
      <p:sp>
        <p:nvSpPr>
          <p:cNvPr id="131" name=""/>
          <p:cNvSpPr/>
          <p:nvPr/>
        </p:nvSpPr>
        <p:spPr>
          <a:xfrm rot="0" flipH="0" flipV="0">
            <a:off x="8010525" y="1247775"/>
            <a:ext cx="3609975" cy="1876425"/>
          </a:xfrm>
          <a:custGeom>
            <a:pathLst>
              <a:path w="379" h="197">
                <a:moveTo>
                  <a:pt x="4" y="197"/>
                </a:moveTo>
                <a:cubicBezTo>
                  <a:pt x="2" y="197"/>
                  <a:pt x="0" y="195"/>
                  <a:pt x="0" y="193"/>
                </a:cubicBezTo>
                <a:lnTo>
                  <a:pt x="0" y="4"/>
                </a:lnTo>
                <a:cubicBezTo>
                  <a:pt x="0" y="2"/>
                  <a:pt x="2" y="0"/>
                  <a:pt x="4" y="0"/>
                </a:cubicBezTo>
                <a:lnTo>
                  <a:pt x="4" y="197"/>
                </a:lnTo>
                <a:close/>
              </a:path>
            </a:pathLst>
          </a:custGeom>
          <a:solidFill>
            <a:srgbClr val="E0641E"/>
          </a:solidFill>
          <a:ln/>
        </p:spPr>
        <p:txBody>
          <a:bodyPr/>
          <a:p/>
        </p:txBody>
      </p:sp>
      <p:sp>
        <p:nvSpPr>
          <p:cNvPr id="132" name=""/>
          <p:cNvSpPr/>
          <p:nvPr/>
        </p:nvSpPr>
        <p:spPr>
          <a:xfrm rot="0" flipH="0" flipV="0">
            <a:off x="8143875" y="1352550"/>
            <a:ext cx="304800" cy="171450"/>
          </a:xfrm>
          <a:prstGeom prst="roundRect">
            <a:avLst>
              <a:gd name="adj" fmla="val 11111"/>
            </a:avLst>
          </a:prstGeom>
          <a:solidFill>
            <a:srgbClr val="E0641E"/>
          </a:solidFill>
          <a:ln/>
        </p:spPr>
        <p:txBody>
          <a:bodyPr/>
          <a:p/>
        </p:txBody>
      </p:sp>
      <p:sp>
        <p:nvSpPr>
          <p:cNvPr id="133" name="" descr="{&quot;isTemplate&quot;:true,&quot;type&quot;:&quot;text&quot;}"/>
          <p:cNvSpPr txBox="1"/>
          <p:nvPr/>
        </p:nvSpPr>
        <p:spPr>
          <a:xfrm rot="0" flipH="0" flipV="0">
            <a:off x="8201025" y="1381125"/>
            <a:ext cx="190500" cy="114300"/>
          </a:xfrm>
          <a:prstGeom prst="rect"/>
        </p:spPr>
        <p:txBody>
          <a:bodyPr wrap="none" lIns="0" tIns="0" rIns="0" bIns="0"/>
          <a:p>
            <a:pPr>
              <a:lnSpc>
                <a:spcPct val="100000"/>
              </a:lnSpc>
            </a:pPr>
            <a:r>
              <a:rPr lang="zh-CN" sz="750" b="1">
                <a:solidFill>
                  <a:srgbClr val="FFFFFF"/>
                </a:solidFill>
                <a:latin typeface="Microsoft YaHei"/>
                <a:ea typeface="Microsoft YaHei"/>
              </a:rPr>
              <a:t>改</a:t>
            </a:r>
            <a:r>
              <a:rPr lang="en-US" sz="750" b="1">
                <a:solidFill>
                  <a:srgbClr val="FFFFFF"/>
                </a:solidFill>
                <a:latin typeface="Microsoft YaHei"/>
                <a:ea typeface="Microsoft YaHei"/>
              </a:rPr>
              <a:t xml:space="preserve"> 3</a:t>
            </a:r>
            <a:endParaRPr/>
          </a:p>
        </p:txBody>
      </p:sp>
      <p:sp>
        <p:nvSpPr>
          <p:cNvPr id="134" name="" descr="{&quot;isTemplate&quot;:true,&quot;type&quot;:&quot;text&quot;}"/>
          <p:cNvSpPr txBox="1"/>
          <p:nvPr/>
        </p:nvSpPr>
        <p:spPr>
          <a:xfrm rot="0" flipH="0" flipV="0">
            <a:off x="8515350" y="1362075"/>
            <a:ext cx="2933700" cy="152400"/>
          </a:xfrm>
          <a:prstGeom prst="rect"/>
        </p:spPr>
        <p:txBody>
          <a:bodyPr wrap="none" lIns="0" tIns="0" rIns="0" bIns="0"/>
          <a:p>
            <a:pPr>
              <a:lnSpc>
                <a:spcPct val="100000"/>
              </a:lnSpc>
            </a:pPr>
            <a:r>
              <a:rPr lang="zh-CN" sz="975" b="1">
                <a:solidFill>
                  <a:srgbClr val="0F1423"/>
                </a:solidFill>
                <a:latin typeface="Microsoft YaHei"/>
                <a:ea typeface="Microsoft YaHei"/>
              </a:rPr>
              <a:t>组织从泛指部门改到九个实名部门</a:t>
            </a:r>
            <a:endParaRPr/>
          </a:p>
        </p:txBody>
      </p:sp>
      <p:sp>
        <p:nvSpPr>
          <p:cNvPr id="135" name="" descr="{&quot;isTemplate&quot;:true,&quot;type&quot;:&quot;text&quot;}"/>
          <p:cNvSpPr txBox="1"/>
          <p:nvPr/>
        </p:nvSpPr>
        <p:spPr>
          <a:xfrm rot="0" flipH="0" flipV="0">
            <a:off x="8143875" y="1581150"/>
            <a:ext cx="3305175" cy="161925"/>
          </a:xfrm>
          <a:prstGeom prst="rect"/>
        </p:spPr>
        <p:txBody>
          <a:bodyPr wrap="none" lIns="0" tIns="0" rIns="0" bIns="0"/>
          <a:p>
            <a:pPr>
              <a:lnSpc>
                <a:spcPct val="130000"/>
              </a:lnSpc>
            </a:pPr>
            <a:r>
              <a:rPr lang="zh-CN" sz="788">
                <a:solidFill>
                  <a:srgbClr val="8A8F99"/>
                </a:solidFill>
                <a:latin typeface="Microsoft YaHei"/>
                <a:ea typeface="Microsoft YaHei"/>
              </a:rPr>
              <a:t>通用：访谈业务与技术口</a:t>
            </a:r>
            <a:endParaRPr/>
          </a:p>
        </p:txBody>
      </p:sp>
      <p:sp>
        <p:nvSpPr>
          <p:cNvPr id="136" name="" descr="{&quot;isTemplate&quot;:true,&quot;type&quot;:&quot;text&quot;}"/>
          <p:cNvSpPr txBox="1"/>
          <p:nvPr/>
        </p:nvSpPr>
        <p:spPr>
          <a:xfrm rot="0" flipH="0" flipV="0">
            <a:off x="8143875" y="1771650"/>
            <a:ext cx="3305175" cy="1247775"/>
          </a:xfrm>
          <a:prstGeom prst="rect"/>
        </p:spPr>
        <p:txBody>
          <a:bodyPr wrap="square" lIns="0" tIns="0" rIns="0" bIns="0">
            <a:normAutofit/>
          </a:bodyPr>
          <a:p>
            <a:pPr>
              <a:lnSpc>
                <a:spcPct val="140000"/>
              </a:lnSpc>
            </a:pPr>
            <a:r>
              <a:rPr lang="zh-CN" sz="825">
                <a:solidFill>
                  <a:srgbClr val="3A4050"/>
                </a:solidFill>
                <a:latin typeface="Microsoft YaHei"/>
                <a:ea typeface="Microsoft YaHei"/>
              </a:rPr>
              <a:t>本项目：九个部门各自有必问三件事，访谈提纲按部门分册，不发通用问卷</a:t>
            </a:r>
            <a:endParaRPr/>
          </a:p>
        </p:txBody>
      </p:sp>
      <p:sp>
        <p:nvSpPr>
          <p:cNvPr id="137" name=""/>
          <p:cNvSpPr/>
          <p:nvPr/>
        </p:nvSpPr>
        <p:spPr>
          <a:xfrm rot="0" flipH="0" flipV="0">
            <a:off x="647700" y="3190875"/>
            <a:ext cx="3609975" cy="1876425"/>
          </a:xfrm>
          <a:prstGeom prst="roundRect">
            <a:avLst>
              <a:gd name="adj" fmla="val 2030"/>
            </a:avLst>
          </a:prstGeom>
          <a:solidFill>
            <a:srgbClr val="F7F7F8"/>
          </a:solidFill>
          <a:ln/>
        </p:spPr>
        <p:txBody>
          <a:bodyPr/>
          <a:p/>
        </p:txBody>
      </p:sp>
      <p:sp>
        <p:nvSpPr>
          <p:cNvPr id="138" name=""/>
          <p:cNvSpPr/>
          <p:nvPr/>
        </p:nvSpPr>
        <p:spPr>
          <a:xfrm rot="0" flipH="0" flipV="0">
            <a:off x="647700" y="3190875"/>
            <a:ext cx="3609975" cy="1876425"/>
          </a:xfrm>
          <a:custGeom>
            <a:pathLst>
              <a:path w="379" h="197">
                <a:moveTo>
                  <a:pt x="4" y="197"/>
                </a:moveTo>
                <a:cubicBezTo>
                  <a:pt x="2" y="197"/>
                  <a:pt x="0" y="195"/>
                  <a:pt x="0" y="193"/>
                </a:cubicBezTo>
                <a:lnTo>
                  <a:pt x="0" y="4"/>
                </a:lnTo>
                <a:cubicBezTo>
                  <a:pt x="0" y="2"/>
                  <a:pt x="2" y="0"/>
                  <a:pt x="4" y="0"/>
                </a:cubicBezTo>
                <a:lnTo>
                  <a:pt x="4" y="197"/>
                </a:lnTo>
                <a:close/>
              </a:path>
            </a:pathLst>
          </a:custGeom>
          <a:solidFill>
            <a:srgbClr val="C43A17"/>
          </a:solidFill>
          <a:ln/>
        </p:spPr>
        <p:txBody>
          <a:bodyPr/>
          <a:p/>
        </p:txBody>
      </p:sp>
      <p:sp>
        <p:nvSpPr>
          <p:cNvPr id="139" name=""/>
          <p:cNvSpPr/>
          <p:nvPr/>
        </p:nvSpPr>
        <p:spPr>
          <a:xfrm rot="0" flipH="0" flipV="0">
            <a:off x="781050" y="3295650"/>
            <a:ext cx="304800" cy="171450"/>
          </a:xfrm>
          <a:prstGeom prst="roundRect">
            <a:avLst>
              <a:gd name="adj" fmla="val 11111"/>
            </a:avLst>
          </a:prstGeom>
          <a:solidFill>
            <a:srgbClr val="C43A17"/>
          </a:solidFill>
          <a:ln/>
        </p:spPr>
        <p:txBody>
          <a:bodyPr/>
          <a:p/>
        </p:txBody>
      </p:sp>
      <p:sp>
        <p:nvSpPr>
          <p:cNvPr id="140" name="" descr="{&quot;isTemplate&quot;:true,&quot;type&quot;:&quot;text&quot;}"/>
          <p:cNvSpPr txBox="1"/>
          <p:nvPr/>
        </p:nvSpPr>
        <p:spPr>
          <a:xfrm rot="0" flipH="0" flipV="0">
            <a:off x="838200" y="3324225"/>
            <a:ext cx="190500" cy="114300"/>
          </a:xfrm>
          <a:prstGeom prst="rect"/>
        </p:spPr>
        <p:txBody>
          <a:bodyPr wrap="none" lIns="0" tIns="0" rIns="0" bIns="0"/>
          <a:p>
            <a:pPr>
              <a:lnSpc>
                <a:spcPct val="100000"/>
              </a:lnSpc>
            </a:pPr>
            <a:r>
              <a:rPr lang="zh-CN" sz="750" b="1">
                <a:solidFill>
                  <a:srgbClr val="FFFFFF"/>
                </a:solidFill>
                <a:latin typeface="Microsoft YaHei"/>
                <a:ea typeface="Microsoft YaHei"/>
              </a:rPr>
              <a:t>改</a:t>
            </a:r>
            <a:r>
              <a:rPr lang="en-US" sz="750" b="1">
                <a:solidFill>
                  <a:srgbClr val="FFFFFF"/>
                </a:solidFill>
                <a:latin typeface="Microsoft YaHei"/>
                <a:ea typeface="Microsoft YaHei"/>
              </a:rPr>
              <a:t xml:space="preserve"> 4</a:t>
            </a:r>
            <a:endParaRPr/>
          </a:p>
        </p:txBody>
      </p:sp>
      <p:sp>
        <p:nvSpPr>
          <p:cNvPr id="141" name="" descr="{&quot;isTemplate&quot;:true,&quot;type&quot;:&quot;text&quot;}"/>
          <p:cNvSpPr txBox="1"/>
          <p:nvPr/>
        </p:nvSpPr>
        <p:spPr>
          <a:xfrm rot="0" flipH="0" flipV="0">
            <a:off x="1152525" y="3305175"/>
            <a:ext cx="2933700" cy="152400"/>
          </a:xfrm>
          <a:prstGeom prst="rect"/>
        </p:spPr>
        <p:txBody>
          <a:bodyPr wrap="none" lIns="0" tIns="0" rIns="0" bIns="0"/>
          <a:p>
            <a:pPr>
              <a:lnSpc>
                <a:spcPct val="100000"/>
              </a:lnSpc>
            </a:pPr>
            <a:r>
              <a:rPr lang="zh-CN" sz="975" b="1">
                <a:solidFill>
                  <a:srgbClr val="0F1423"/>
                </a:solidFill>
                <a:latin typeface="Microsoft YaHei"/>
                <a:ea typeface="Microsoft YaHei"/>
              </a:rPr>
              <a:t>可追溯从「有关联」改到编号一一对应</a:t>
            </a:r>
            <a:endParaRPr/>
          </a:p>
        </p:txBody>
      </p:sp>
      <p:sp>
        <p:nvSpPr>
          <p:cNvPr id="142" name="" descr="{&quot;isTemplate&quot;:true,&quot;type&quot;:&quot;text&quot;}"/>
          <p:cNvSpPr txBox="1"/>
          <p:nvPr/>
        </p:nvSpPr>
        <p:spPr>
          <a:xfrm rot="0" flipH="0" flipV="0">
            <a:off x="781050" y="3524250"/>
            <a:ext cx="3305175" cy="161925"/>
          </a:xfrm>
          <a:prstGeom prst="rect"/>
        </p:spPr>
        <p:txBody>
          <a:bodyPr wrap="none" lIns="0" tIns="0" rIns="0" bIns="0"/>
          <a:p>
            <a:pPr>
              <a:lnSpc>
                <a:spcPct val="130000"/>
              </a:lnSpc>
            </a:pPr>
            <a:r>
              <a:rPr lang="zh-CN" sz="788">
                <a:solidFill>
                  <a:srgbClr val="8A8F99"/>
                </a:solidFill>
                <a:latin typeface="Microsoft YaHei"/>
                <a:ea typeface="Microsoft YaHei"/>
              </a:rPr>
              <a:t>通用：说明四层之间的关系</a:t>
            </a:r>
            <a:endParaRPr/>
          </a:p>
        </p:txBody>
      </p:sp>
      <p:sp>
        <p:nvSpPr>
          <p:cNvPr id="143" name="" descr="{&quot;isTemplate&quot;:true,&quot;type&quot;:&quot;text&quot;}"/>
          <p:cNvSpPr txBox="1"/>
          <p:nvPr/>
        </p:nvSpPr>
        <p:spPr>
          <a:xfrm rot="0" flipH="0" flipV="0">
            <a:off x="781050" y="3714750"/>
            <a:ext cx="3305175" cy="1247775"/>
          </a:xfrm>
          <a:prstGeom prst="rect"/>
        </p:spPr>
        <p:txBody>
          <a:bodyPr wrap="square" lIns="0" tIns="0" rIns="0" bIns="0">
            <a:normAutofit/>
          </a:bodyPr>
          <a:p>
            <a:pPr>
              <a:lnSpc>
                <a:spcPct val="140000"/>
              </a:lnSpc>
            </a:pPr>
            <a:r>
              <a:rPr lang="zh-CN" sz="825">
                <a:solidFill>
                  <a:srgbClr val="3A4050"/>
                </a:solidFill>
                <a:latin typeface="Microsoft YaHei"/>
                <a:ea typeface="Microsoft YaHei"/>
              </a:rPr>
              <a:t>本项目：</a:t>
            </a:r>
            <a:r>
              <a:rPr lang="en-US" sz="825">
                <a:solidFill>
                  <a:srgbClr val="3A4050"/>
                </a:solidFill>
                <a:latin typeface="Microsoft YaHei"/>
                <a:ea typeface="Microsoft YaHei"/>
              </a:rPr>
              <a:t xml:space="preserve">PAIN/ROOT/BLD/REQ </a:t>
            </a:r>
            <a:r>
              <a:rPr lang="zh-CN" sz="825">
                <a:solidFill>
                  <a:srgbClr val="3A4050"/>
                </a:solidFill>
                <a:latin typeface="Microsoft YaHei"/>
                <a:ea typeface="Microsoft YaHei"/>
              </a:rPr>
              <a:t>四段编号，空号即作废，需求可反向三分钟倒推回痛点</a:t>
            </a:r>
            <a:endParaRPr/>
          </a:p>
        </p:txBody>
      </p:sp>
      <p:sp>
        <p:nvSpPr>
          <p:cNvPr id="144" name=""/>
          <p:cNvSpPr/>
          <p:nvPr/>
        </p:nvSpPr>
        <p:spPr>
          <a:xfrm rot="0" flipH="0" flipV="0">
            <a:off x="4324350" y="3190875"/>
            <a:ext cx="3619500" cy="1876425"/>
          </a:xfrm>
          <a:prstGeom prst="roundRect">
            <a:avLst>
              <a:gd name="adj" fmla="val 2030"/>
            </a:avLst>
          </a:prstGeom>
          <a:solidFill>
            <a:srgbClr val="F7F7F8"/>
          </a:solidFill>
          <a:ln/>
        </p:spPr>
        <p:txBody>
          <a:bodyPr/>
          <a:p/>
        </p:txBody>
      </p:sp>
      <p:sp>
        <p:nvSpPr>
          <p:cNvPr id="145" name=""/>
          <p:cNvSpPr/>
          <p:nvPr/>
        </p:nvSpPr>
        <p:spPr>
          <a:xfrm rot="0" flipH="0" flipV="0">
            <a:off x="4324350" y="3190875"/>
            <a:ext cx="3619500" cy="1876425"/>
          </a:xfrm>
          <a:custGeom>
            <a:pathLst>
              <a:path w="380" h="197">
                <a:moveTo>
                  <a:pt x="4" y="197"/>
                </a:moveTo>
                <a:cubicBezTo>
                  <a:pt x="2" y="197"/>
                  <a:pt x="0" y="195"/>
                  <a:pt x="0" y="193"/>
                </a:cubicBezTo>
                <a:lnTo>
                  <a:pt x="0" y="4"/>
                </a:lnTo>
                <a:cubicBezTo>
                  <a:pt x="0" y="2"/>
                  <a:pt x="2" y="0"/>
                  <a:pt x="4" y="0"/>
                </a:cubicBezTo>
                <a:lnTo>
                  <a:pt x="4" y="197"/>
                </a:lnTo>
                <a:close/>
              </a:path>
            </a:pathLst>
          </a:custGeom>
          <a:solidFill>
            <a:srgbClr val="C43A17"/>
          </a:solidFill>
          <a:ln/>
        </p:spPr>
        <p:txBody>
          <a:bodyPr/>
          <a:p/>
        </p:txBody>
      </p:sp>
      <p:sp>
        <p:nvSpPr>
          <p:cNvPr id="146" name=""/>
          <p:cNvSpPr/>
          <p:nvPr/>
        </p:nvSpPr>
        <p:spPr>
          <a:xfrm rot="0" flipH="0" flipV="0">
            <a:off x="4457700" y="3295650"/>
            <a:ext cx="304800" cy="171450"/>
          </a:xfrm>
          <a:prstGeom prst="roundRect">
            <a:avLst>
              <a:gd name="adj" fmla="val 11111"/>
            </a:avLst>
          </a:prstGeom>
          <a:solidFill>
            <a:srgbClr val="C43A17"/>
          </a:solidFill>
          <a:ln/>
        </p:spPr>
        <p:txBody>
          <a:bodyPr/>
          <a:p/>
        </p:txBody>
      </p:sp>
      <p:sp>
        <p:nvSpPr>
          <p:cNvPr id="147" name="" descr="{&quot;isTemplate&quot;:true,&quot;type&quot;:&quot;text&quot;}"/>
          <p:cNvSpPr txBox="1"/>
          <p:nvPr/>
        </p:nvSpPr>
        <p:spPr>
          <a:xfrm rot="0" flipH="0" flipV="0">
            <a:off x="4514850" y="3324225"/>
            <a:ext cx="190500" cy="114300"/>
          </a:xfrm>
          <a:prstGeom prst="rect"/>
        </p:spPr>
        <p:txBody>
          <a:bodyPr wrap="none" lIns="0" tIns="0" rIns="0" bIns="0"/>
          <a:p>
            <a:pPr>
              <a:lnSpc>
                <a:spcPct val="100000"/>
              </a:lnSpc>
            </a:pPr>
            <a:r>
              <a:rPr lang="zh-CN" sz="750" b="1">
                <a:solidFill>
                  <a:srgbClr val="FFFFFF"/>
                </a:solidFill>
                <a:latin typeface="Microsoft YaHei"/>
                <a:ea typeface="Microsoft YaHei"/>
              </a:rPr>
              <a:t>改</a:t>
            </a:r>
            <a:r>
              <a:rPr lang="en-US" sz="750" b="1">
                <a:solidFill>
                  <a:srgbClr val="FFFFFF"/>
                </a:solidFill>
                <a:latin typeface="Microsoft YaHei"/>
                <a:ea typeface="Microsoft YaHei"/>
              </a:rPr>
              <a:t xml:space="preserve"> 5</a:t>
            </a:r>
            <a:endParaRPr/>
          </a:p>
        </p:txBody>
      </p:sp>
      <p:sp>
        <p:nvSpPr>
          <p:cNvPr id="148" name="" descr="{&quot;isTemplate&quot;:true,&quot;type&quot;:&quot;text&quot;}"/>
          <p:cNvSpPr txBox="1"/>
          <p:nvPr/>
        </p:nvSpPr>
        <p:spPr>
          <a:xfrm rot="0" flipH="0" flipV="0">
            <a:off x="4829175" y="3305175"/>
            <a:ext cx="2943225" cy="152400"/>
          </a:xfrm>
          <a:prstGeom prst="rect"/>
        </p:spPr>
        <p:txBody>
          <a:bodyPr wrap="none" lIns="0" tIns="0" rIns="0" bIns="0"/>
          <a:p>
            <a:pPr>
              <a:lnSpc>
                <a:spcPct val="100000"/>
              </a:lnSpc>
            </a:pPr>
            <a:r>
              <a:rPr lang="en-US" sz="975" b="1">
                <a:solidFill>
                  <a:srgbClr val="0F1423"/>
                </a:solidFill>
                <a:latin typeface="Microsoft YaHei"/>
                <a:ea typeface="Microsoft YaHei"/>
              </a:rPr>
              <a:t xml:space="preserve">AI </a:t>
            </a:r>
            <a:r>
              <a:rPr lang="zh-CN" sz="975" b="1">
                <a:solidFill>
                  <a:srgbClr val="0F1423"/>
                </a:solidFill>
                <a:latin typeface="Microsoft YaHei"/>
                <a:ea typeface="Microsoft YaHei"/>
              </a:rPr>
              <a:t>从一种实现改为独立成节两轮作业</a:t>
            </a:r>
            <a:endParaRPr/>
          </a:p>
        </p:txBody>
      </p:sp>
      <p:sp>
        <p:nvSpPr>
          <p:cNvPr id="149" name="" descr="{&quot;isTemplate&quot;:true,&quot;type&quot;:&quot;text&quot;}"/>
          <p:cNvSpPr txBox="1"/>
          <p:nvPr/>
        </p:nvSpPr>
        <p:spPr>
          <a:xfrm rot="0" flipH="0" flipV="0">
            <a:off x="4457700" y="3524250"/>
            <a:ext cx="3314700" cy="161925"/>
          </a:xfrm>
          <a:prstGeom prst="rect"/>
        </p:spPr>
        <p:txBody>
          <a:bodyPr wrap="none" lIns="0" tIns="0" rIns="0" bIns="0"/>
          <a:p>
            <a:pPr>
              <a:lnSpc>
                <a:spcPct val="130000"/>
              </a:lnSpc>
            </a:pPr>
            <a:r>
              <a:rPr lang="zh-CN" sz="788">
                <a:solidFill>
                  <a:srgbClr val="8A8F99"/>
                </a:solidFill>
                <a:latin typeface="Microsoft YaHei"/>
                <a:ea typeface="Microsoft YaHei"/>
              </a:rPr>
              <a:t>通用：</a:t>
            </a:r>
            <a:r>
              <a:rPr lang="en-US" sz="788">
                <a:solidFill>
                  <a:srgbClr val="8A8F99"/>
                </a:solidFill>
                <a:latin typeface="Microsoft YaHei"/>
                <a:ea typeface="Microsoft YaHei"/>
              </a:rPr>
              <a:t xml:space="preserve">AI </a:t>
            </a:r>
            <a:r>
              <a:rPr lang="zh-CN" sz="788">
                <a:solidFill>
                  <a:srgbClr val="8A8F99"/>
                </a:solidFill>
                <a:latin typeface="Microsoft YaHei"/>
                <a:ea typeface="Microsoft YaHei"/>
              </a:rPr>
              <a:t>不在方法论主体内</a:t>
            </a:r>
            <a:endParaRPr/>
          </a:p>
        </p:txBody>
      </p:sp>
      <p:sp>
        <p:nvSpPr>
          <p:cNvPr id="150" name="" descr="{&quot;isTemplate&quot;:true,&quot;type&quot;:&quot;text&quot;}"/>
          <p:cNvSpPr txBox="1"/>
          <p:nvPr/>
        </p:nvSpPr>
        <p:spPr>
          <a:xfrm rot="0" flipH="0" flipV="0">
            <a:off x="4457700" y="3714750"/>
            <a:ext cx="3314700" cy="1247775"/>
          </a:xfrm>
          <a:prstGeom prst="rect"/>
        </p:spPr>
        <p:txBody>
          <a:bodyPr wrap="square" lIns="0" tIns="0" rIns="0" bIns="0">
            <a:normAutofit/>
          </a:bodyPr>
          <a:p>
            <a:pPr>
              <a:lnSpc>
                <a:spcPct val="140000"/>
              </a:lnSpc>
            </a:pPr>
            <a:r>
              <a:rPr lang="zh-CN" sz="825">
                <a:solidFill>
                  <a:srgbClr val="3A4050"/>
                </a:solidFill>
                <a:latin typeface="Microsoft YaHei"/>
                <a:ea typeface="Microsoft YaHei"/>
              </a:rPr>
              <a:t>本项目：阶段二出初识清单与优先级排序，阶段三出场景详细设计（目标</a:t>
            </a:r>
            <a:r>
              <a:rPr lang="en-US" sz="825">
                <a:solidFill>
                  <a:srgbClr val="3A4050"/>
                </a:solidFill>
                <a:latin typeface="Microsoft YaHei"/>
                <a:ea typeface="Microsoft YaHei"/>
              </a:rPr>
              <a:t>/</a:t>
            </a:r>
            <a:r>
              <a:rPr lang="zh-CN" sz="825">
                <a:solidFill>
                  <a:srgbClr val="3A4050"/>
                </a:solidFill>
                <a:latin typeface="Microsoft YaHei"/>
                <a:ea typeface="Microsoft YaHei"/>
              </a:rPr>
              <a:t>输入</a:t>
            </a:r>
            <a:r>
              <a:rPr lang="en-US" sz="825">
                <a:solidFill>
                  <a:srgbClr val="3A4050"/>
                </a:solidFill>
                <a:latin typeface="Microsoft YaHei"/>
                <a:ea typeface="Microsoft YaHei"/>
              </a:rPr>
              <a:t>/</a:t>
            </a:r>
            <a:r>
              <a:rPr lang="zh-CN" sz="825">
                <a:solidFill>
                  <a:srgbClr val="3A4050"/>
                </a:solidFill>
                <a:latin typeface="Microsoft YaHei"/>
                <a:ea typeface="Microsoft YaHei"/>
              </a:rPr>
              <a:t>知识来源</a:t>
            </a:r>
            <a:r>
              <a:rPr lang="en-US" sz="825">
                <a:solidFill>
                  <a:srgbClr val="3A4050"/>
                </a:solidFill>
                <a:latin typeface="Microsoft YaHei"/>
                <a:ea typeface="Microsoft YaHei"/>
              </a:rPr>
              <a:t>/</a:t>
            </a:r>
            <a:r>
              <a:rPr lang="zh-CN" sz="825">
                <a:solidFill>
                  <a:srgbClr val="3A4050"/>
                </a:solidFill>
                <a:latin typeface="Microsoft YaHei"/>
                <a:ea typeface="Microsoft YaHei"/>
              </a:rPr>
              <a:t>智能体边界</a:t>
            </a:r>
            <a:r>
              <a:rPr lang="en-US" sz="825">
                <a:solidFill>
                  <a:srgbClr val="3A4050"/>
                </a:solidFill>
                <a:latin typeface="Microsoft YaHei"/>
                <a:ea typeface="Microsoft YaHei"/>
              </a:rPr>
              <a:t>/</a:t>
            </a:r>
            <a:r>
              <a:rPr lang="zh-CN" sz="825">
                <a:solidFill>
                  <a:srgbClr val="3A4050"/>
                </a:solidFill>
                <a:latin typeface="Microsoft YaHei"/>
                <a:ea typeface="Microsoft YaHei"/>
              </a:rPr>
              <a:t>评估指标）</a:t>
            </a:r>
            <a:endParaRPr/>
          </a:p>
        </p:txBody>
      </p:sp>
      <p:sp>
        <p:nvSpPr>
          <p:cNvPr id="151" name=""/>
          <p:cNvSpPr/>
          <p:nvPr/>
        </p:nvSpPr>
        <p:spPr>
          <a:xfrm rot="0" flipH="0" flipV="0">
            <a:off x="8010525" y="3190875"/>
            <a:ext cx="3609975" cy="1876425"/>
          </a:xfrm>
          <a:prstGeom prst="roundRect">
            <a:avLst>
              <a:gd name="adj" fmla="val 2030"/>
            </a:avLst>
          </a:prstGeom>
          <a:solidFill>
            <a:srgbClr val="F7F7F8"/>
          </a:solidFill>
          <a:ln/>
        </p:spPr>
        <p:txBody>
          <a:bodyPr/>
          <a:p/>
        </p:txBody>
      </p:sp>
      <p:sp>
        <p:nvSpPr>
          <p:cNvPr id="152" name=""/>
          <p:cNvSpPr/>
          <p:nvPr/>
        </p:nvSpPr>
        <p:spPr>
          <a:xfrm rot="0" flipH="0" flipV="0">
            <a:off x="8010525" y="3190875"/>
            <a:ext cx="3609975" cy="1876425"/>
          </a:xfrm>
          <a:custGeom>
            <a:pathLst>
              <a:path w="379" h="197">
                <a:moveTo>
                  <a:pt x="4" y="197"/>
                </a:moveTo>
                <a:cubicBezTo>
                  <a:pt x="2" y="197"/>
                  <a:pt x="0" y="195"/>
                  <a:pt x="0" y="193"/>
                </a:cubicBezTo>
                <a:lnTo>
                  <a:pt x="0" y="4"/>
                </a:lnTo>
                <a:cubicBezTo>
                  <a:pt x="0" y="2"/>
                  <a:pt x="2" y="0"/>
                  <a:pt x="4" y="0"/>
                </a:cubicBezTo>
                <a:lnTo>
                  <a:pt x="4" y="197"/>
                </a:lnTo>
                <a:close/>
              </a:path>
            </a:pathLst>
          </a:custGeom>
          <a:solidFill>
            <a:srgbClr val="9E3410"/>
          </a:solidFill>
          <a:ln/>
        </p:spPr>
        <p:txBody>
          <a:bodyPr/>
          <a:p/>
        </p:txBody>
      </p:sp>
      <p:sp>
        <p:nvSpPr>
          <p:cNvPr id="153" name=""/>
          <p:cNvSpPr/>
          <p:nvPr/>
        </p:nvSpPr>
        <p:spPr>
          <a:xfrm rot="0" flipH="0" flipV="0">
            <a:off x="8143875" y="3295650"/>
            <a:ext cx="304800" cy="171450"/>
          </a:xfrm>
          <a:prstGeom prst="roundRect">
            <a:avLst>
              <a:gd name="adj" fmla="val 11111"/>
            </a:avLst>
          </a:prstGeom>
          <a:solidFill>
            <a:srgbClr val="9E3410"/>
          </a:solidFill>
          <a:ln/>
        </p:spPr>
        <p:txBody>
          <a:bodyPr/>
          <a:p/>
        </p:txBody>
      </p:sp>
      <p:sp>
        <p:nvSpPr>
          <p:cNvPr id="154" name="" descr="{&quot;isTemplate&quot;:true,&quot;type&quot;:&quot;text&quot;}"/>
          <p:cNvSpPr txBox="1"/>
          <p:nvPr/>
        </p:nvSpPr>
        <p:spPr>
          <a:xfrm rot="0" flipH="0" flipV="0">
            <a:off x="8201025" y="3324225"/>
            <a:ext cx="190500" cy="114300"/>
          </a:xfrm>
          <a:prstGeom prst="rect"/>
        </p:spPr>
        <p:txBody>
          <a:bodyPr wrap="none" lIns="0" tIns="0" rIns="0" bIns="0"/>
          <a:p>
            <a:pPr>
              <a:lnSpc>
                <a:spcPct val="100000"/>
              </a:lnSpc>
            </a:pPr>
            <a:r>
              <a:rPr lang="zh-CN" sz="750" b="1">
                <a:solidFill>
                  <a:srgbClr val="FFFFFF"/>
                </a:solidFill>
                <a:latin typeface="Microsoft YaHei"/>
                <a:ea typeface="Microsoft YaHei"/>
              </a:rPr>
              <a:t>改</a:t>
            </a:r>
            <a:r>
              <a:rPr lang="en-US" sz="750" b="1">
                <a:solidFill>
                  <a:srgbClr val="FFFFFF"/>
                </a:solidFill>
                <a:latin typeface="Microsoft YaHei"/>
                <a:ea typeface="Microsoft YaHei"/>
              </a:rPr>
              <a:t xml:space="preserve"> 6</a:t>
            </a:r>
            <a:endParaRPr/>
          </a:p>
        </p:txBody>
      </p:sp>
      <p:sp>
        <p:nvSpPr>
          <p:cNvPr id="155" name="" descr="{&quot;isTemplate&quot;:true,&quot;type&quot;:&quot;text&quot;}"/>
          <p:cNvSpPr txBox="1"/>
          <p:nvPr/>
        </p:nvSpPr>
        <p:spPr>
          <a:xfrm rot="0" flipH="0" flipV="0">
            <a:off x="8515350" y="3305175"/>
            <a:ext cx="2933700" cy="152400"/>
          </a:xfrm>
          <a:prstGeom prst="rect"/>
        </p:spPr>
        <p:txBody>
          <a:bodyPr wrap="none" lIns="0" tIns="0" rIns="0" bIns="0"/>
          <a:p>
            <a:pPr>
              <a:lnSpc>
                <a:spcPct val="100000"/>
              </a:lnSpc>
            </a:pPr>
            <a:r>
              <a:rPr lang="zh-CN" sz="975" b="1">
                <a:solidFill>
                  <a:srgbClr val="0F1423"/>
                </a:solidFill>
                <a:latin typeface="Microsoft YaHei"/>
                <a:ea typeface="Microsoft YaHei"/>
              </a:rPr>
              <a:t>交付从方法论自然产出改为九项合同清单</a:t>
            </a:r>
            <a:endParaRPr/>
          </a:p>
        </p:txBody>
      </p:sp>
      <p:sp>
        <p:nvSpPr>
          <p:cNvPr id="156" name="" descr="{&quot;isTemplate&quot;:true,&quot;type&quot;:&quot;text&quot;}"/>
          <p:cNvSpPr txBox="1"/>
          <p:nvPr/>
        </p:nvSpPr>
        <p:spPr>
          <a:xfrm rot="0" flipH="0" flipV="0">
            <a:off x="8143875" y="3524250"/>
            <a:ext cx="3305175" cy="161925"/>
          </a:xfrm>
          <a:prstGeom prst="rect"/>
        </p:spPr>
        <p:txBody>
          <a:bodyPr wrap="none" lIns="0" tIns="0" rIns="0" bIns="0"/>
          <a:p>
            <a:pPr>
              <a:lnSpc>
                <a:spcPct val="130000"/>
              </a:lnSpc>
            </a:pPr>
            <a:r>
              <a:rPr lang="zh-CN" sz="788">
                <a:solidFill>
                  <a:srgbClr val="8A8F99"/>
                </a:solidFill>
                <a:latin typeface="Microsoft YaHei"/>
                <a:ea typeface="Microsoft YaHei"/>
              </a:rPr>
              <a:t>通用：按方法论自然沉淀成果</a:t>
            </a:r>
            <a:endParaRPr/>
          </a:p>
        </p:txBody>
      </p:sp>
      <p:sp>
        <p:nvSpPr>
          <p:cNvPr id="157" name="" descr="{&quot;isTemplate&quot;:true,&quot;type&quot;:&quot;text&quot;}"/>
          <p:cNvSpPr txBox="1"/>
          <p:nvPr/>
        </p:nvSpPr>
        <p:spPr>
          <a:xfrm rot="0" flipH="0" flipV="0">
            <a:off x="8143875" y="3714750"/>
            <a:ext cx="3305175" cy="1247775"/>
          </a:xfrm>
          <a:prstGeom prst="rect"/>
        </p:spPr>
        <p:txBody>
          <a:bodyPr wrap="square" lIns="0" tIns="0" rIns="0" bIns="0">
            <a:normAutofit/>
          </a:bodyPr>
          <a:p>
            <a:pPr>
              <a:lnSpc>
                <a:spcPct val="140000"/>
              </a:lnSpc>
            </a:pPr>
            <a:r>
              <a:rPr lang="zh-CN" sz="825">
                <a:solidFill>
                  <a:srgbClr val="3A4050"/>
                </a:solidFill>
                <a:latin typeface="Microsoft YaHei"/>
                <a:ea typeface="Microsoft YaHei"/>
              </a:rPr>
              <a:t>本项目：九项交付物逐项绑定阶段、责任人与验收要点，评审时按清单逐行签收</a:t>
            </a:r>
            <a:endParaRPr/>
          </a:p>
        </p:txBody>
      </p:sp>
      <p:sp>
        <p:nvSpPr>
          <p:cNvPr id="158" name=""/>
          <p:cNvSpPr/>
          <p:nvPr/>
        </p:nvSpPr>
        <p:spPr>
          <a:xfrm rot="0" flipH="0" flipV="0">
            <a:off x="609600" y="5143500"/>
            <a:ext cx="10972800" cy="514350"/>
          </a:xfrm>
          <a:prstGeom prst="roundRect">
            <a:avLst>
              <a:gd name="adj" fmla="val 7407"/>
            </a:avLst>
          </a:prstGeom>
          <a:solidFill>
            <a:srgbClr val="0F1423"/>
          </a:solidFill>
          <a:ln/>
        </p:spPr>
        <p:txBody>
          <a:bodyPr/>
          <a:p/>
        </p:txBody>
      </p:sp>
      <p:sp>
        <p:nvSpPr>
          <p:cNvPr id="159" name="" descr="{&quot;isTemplate&quot;:true,&quot;type&quot;:&quot;text&quot;}"/>
          <p:cNvSpPr txBox="1"/>
          <p:nvPr/>
        </p:nvSpPr>
        <p:spPr>
          <a:xfrm rot="0" flipH="0" flipV="0">
            <a:off x="800100" y="5324475"/>
            <a:ext cx="1676400" cy="152400"/>
          </a:xfrm>
          <a:prstGeom prst="rect"/>
        </p:spPr>
        <p:txBody>
          <a:bodyPr wrap="none" lIns="0" tIns="0" rIns="0" bIns="0"/>
          <a:p>
            <a:pPr>
              <a:lnSpc>
                <a:spcPct val="100000"/>
              </a:lnSpc>
            </a:pPr>
            <a:r>
              <a:rPr lang="zh-CN" sz="975" b="1">
                <a:solidFill>
                  <a:srgbClr val="FBA15C"/>
                </a:solidFill>
                <a:latin typeface="Microsoft YaHei"/>
                <a:ea typeface="Microsoft YaHei"/>
              </a:rPr>
              <a:t>六处改动的共同点</a:t>
            </a:r>
            <a:endParaRPr/>
          </a:p>
        </p:txBody>
      </p:sp>
      <p:sp>
        <p:nvSpPr>
          <p:cNvPr id="160" name="" descr="{&quot;isTemplate&quot;:true,&quot;type&quot;:&quot;text&quot;}"/>
          <p:cNvSpPr txBox="1"/>
          <p:nvPr/>
        </p:nvSpPr>
        <p:spPr>
          <a:xfrm rot="0" flipH="0" flipV="0">
            <a:off x="2628900" y="5276850"/>
            <a:ext cx="8763000" cy="247650"/>
          </a:xfrm>
          <a:prstGeom prst="rect"/>
        </p:spPr>
        <p:txBody>
          <a:bodyPr wrap="none" lIns="0" tIns="0" rIns="0" bIns="0"/>
          <a:p>
            <a:pPr>
              <a:lnSpc>
                <a:spcPct val="150000"/>
              </a:lnSpc>
            </a:pPr>
            <a:r>
              <a:rPr lang="zh-CN" sz="1050">
                <a:solidFill>
                  <a:srgbClr val="FFFFFF"/>
                </a:solidFill>
                <a:latin typeface="Microsoft YaHei"/>
                <a:ea typeface="Microsoft YaHei"/>
              </a:rPr>
              <a:t>没有一处改动是为了「显得更专业」，全部是为了在评审现场</a:t>
            </a:r>
            <a:r>
              <a:rPr lang="zh-CN" sz="1050">
                <a:solidFill>
                  <a:srgbClr val="FBA15C"/>
                </a:solidFill>
                <a:latin typeface="Microsoft YaHei"/>
                <a:ea typeface="Microsoft YaHei"/>
              </a:rPr>
              <a:t>能指着这一行说「我们就是这么做的」</a:t>
            </a:r>
            <a:r>
              <a:rPr lang="zh-CN" sz="1050">
                <a:solidFill>
                  <a:srgbClr val="FFFFFF"/>
                </a:solidFill>
                <a:latin typeface="Microsoft YaHei"/>
                <a:ea typeface="Microsoft YaHei"/>
              </a:rPr>
              <a:t>，并且交得出对应的产出物</a:t>
            </a:r>
            <a:endParaRPr/>
          </a:p>
        </p:txBody>
      </p:sp>
      <p:sp>
        <p:nvSpPr>
          <p:cNvPr id="161" name=""/>
          <p:cNvSpPr/>
          <p:nvPr/>
        </p:nvSpPr>
        <p:spPr>
          <a:xfrm rot="0" flipH="0" flipV="0">
            <a:off x="609600" y="5943600"/>
            <a:ext cx="133350" cy="133350"/>
          </a:xfrm>
          <a:prstGeom prst="rect">
            <a:avLst/>
          </a:prstGeom>
          <a:solidFill>
            <a:srgbClr val="FA4F24"/>
          </a:solidFill>
          <a:ln/>
        </p:spPr>
        <p:txBody>
          <a:bodyPr/>
          <a:p/>
        </p:txBody>
      </p:sp>
      <p:sp>
        <p:nvSpPr>
          <p:cNvPr id="162"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6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11 / 36</a:t>
            </a:r>
            <a:endParaRPr/>
          </a:p>
        </p:txBody>
      </p:sp>
    </p:spTree>
  </p:cSld>
</p:sld>
</file>

<file path=ppt/slides/slide12.xml><?xml version="1.0" encoding="utf-8"?>
<p:sld xmlns:p="http://schemas.openxmlformats.org/presentationml/2006/main" xmlns:a="http://schemas.openxmlformats.org/drawingml/2006/main">
  <p:cSld>
    <p:spTree>
      <p:nvGrpSpPr>
        <p:cNvPr id="164" name="" descr="&lt;Slide style={{ width: 1280, height: 720, background: '#FFFFFF', padding: '24px 64px 0' }}&gt;&#13;&#10;    {/* A 区 */}&#13;&#10;    &lt;Box style={{ height: 96, flexDirection: 'column', justifyContent: 'flex-start' }}&gt;&#13;&#10;        &lt;Text style={{ fontSize: 32, fontWeight: 'bold', color: '#0F1423' }}&gt;&#13;&#10;            怎么用这一册：&lt;span style={{ color: '#FA4F24' }}&gt;团队、访谈、节奏&lt;/span&gt;&#13;&#10;        &lt;/Text&gt;&#13;&#10;        &lt;Text style={{ fontSize: 19, color: '#8A8F99', marginTop: 7 }}&gt;&#13;&#10;            方法论不落到人头上就只是一本册子——这一页是把它钉到执行层&#13;&#10;        &lt;/Text&gt;&#13;&#10;    &lt;/Box&gt;&#13;&#10;    &lt;Box style={{ height: 1, background: '#E8E8E8' }} /&gt;&#13;&#10;&#13;&#10;    {/* B 区 */}&#13;&#10;    &lt;Box style={{ paddingTop: 10, paddingBottom: 6, height: 479, flexDirection: 'column', gap: 8 }}&gt;&#13;&#10;        {/* 上：三栏 */}&#13;&#10;        &lt;Box style={{ height: 274, flexDirection: 'row', gap: 9 }}&gt;&#13;&#10;            {[&#13;&#10;                {&#13;&#10;                    t: '项目团队四角色', c: '#FA4F24', sub: '每个角色对一段交付物负责',&#13;&#10;                    rows: [&#13;&#10;                        { k: '业务架构组', v: '3 人：BA 负责人 + 2 分析师，对应 L4 子流程与流程领域架构' },&#13;&#10;                        { k: '数据架构组', v: '3 人：DA 负责人 + 主数据/指标各 1，对应逻辑实体与指标字典' },&#13;&#10;                        { k: '应用与技术组', v: '3 人：AA + TA + 集成，对应功能模块与 AI 技术就绪度' },&#13;&#10;                        { k: 'PMO 与评审对接', v: '1 人：负责访谈排期、基线冻结、交付物签收台账' },&#13;&#10;                    ],&#13;&#10;                },&#13;&#10;                {&#13;&#10;                    t: '访谈三层法', c: '#E0641E', sub: '招标 3.1.3 要求的三类对象',&#13;&#10;                    rows: [&#13;&#10;                        { k: '决策层', v: '公司领导：只问经营结果与拍板意愿，不问系统' },&#13;&#10;                        { k: '管理层', v: '九个部门负责人：问权责边界与跨部门卡点，最容易出真话' },&#13;&#10;                        { k: '骨干层', v: '关键岗位：问实际操作与例外处理，流程颗粒度全靠这一层' },&#13;&#10;                        { k: '不发问卷', v: '关键问题当面问，问卷只用来收集单据台账与系统清单' },&#13;&#10;                    ],&#13;&#10;                },&#13;&#10;                {&#13;&#10;                    t: '四阶段节奏', c: '#C43A17', sub: '每个阶段的收口都必须过评审',&#13;&#10;                    rows: [&#13;&#10;                        { k: '现状分析', v: '调研 → 痛点清单 → 五问追根 → 改进方向排序' },&#13;&#10;                        { k: '蓝图设计', v: 'BA 先定稿 → DA/AA 跟进 → AI 初识清单 → 组织适配建议' },&#13;&#10;                        { k: '需求规格化', v: 'L5-L6 + 实体属性 + 应用特性 → 需求基线评审冻结' },&#13;&#10;                        { k: '路线图', v: '分期 → 关键路径 → 投入收益 → 保障机制' },&#13;&#10;                    ],&#13;&#10;                },&#13;&#10;            ].map((g) =&gt; (&#13;&#10;                &lt;Box key={g.t} style={{ flex: 1, background: '#F7F7F8', borderRadius: 4, borderTop: '3px solid ' + g.c, padding: '12px 14px', flexDirection: 'column' }}&gt;&#13;&#10;                    &lt;Text style={{ fontSize: 14, fontWeight: 'bold', color: g.c }}&gt;{g.t}&lt;/Text&gt;&#13;&#10;                    &lt;Text style={{ fontSize: 10.5, color: '#8A8F99', marginTop: 3 }}&gt;{g.sub}&lt;/Text&gt;&#13;&#10;                    &lt;Box style={{ flex: 1, flexDirection: 'column', gap: 6, marginTop: 10 }}&gt;&#13;&#10;                        {g.rows.map((r) =&gt; (&#13;&#10;                            &lt;Box key={r.k} style={{ background: '#FFFFFF', borderRadius: 3, padding: '7px 10px', flex: 1, flexDirection: 'column', justifyContent: 'center' }}&gt;&#13;&#10;                                &lt;Text style={{ fontSize: 11, fontWeight: 'bold', color: '#0F1423' }}&gt;{r.k}&lt;/Text&gt;&#13;&#10;                                &lt;Text style={{ fontSize: 10, color: '#5A6070', lineHeight: 1.3, marginTop: 2 }}&gt;{r.v}&lt;/Text&gt;&#13;&#10;                            &lt;/Box&gt;&#13;&#10;                        ))}&#13;&#10;                    &lt;/Box&gt;&#13;&#10;                &lt;/Box&gt;&#13;&#10;            ))}&#13;&#10;        &lt;/Box&gt;&#13;&#10;&#13;&#10;        {/* 中：现场动作三例 */}&#13;&#10;        &lt;Box style={{ height: 150, flexDirection: 'column', gap: 6 }}&gt;&#13;&#10;            &lt;Box style={{ height: 22, flexDirection: 'row', alignItems: 'center', gap: 8 }}&gt;&#13;&#10;                &lt;Box style={{ width: 4, height: 15, background: '#FA4F24' }} /&gt;&#13;&#10;                &lt;Text style={{ fontSize: 13, fontWeight: 'bold', color: '#0F1423' }}&gt;三个现场动作（评审时可以直接演示）&lt;/Text&gt;&#13;&#10;            &lt;/Box&gt;&#13;&#10;            &lt;Box style={{ flex: 1, flexDirection: 'row', gap: 7 }}&gt;&#13;&#10;                {[&#13;&#10;                    { t: '随机抽一个业务对象问四句', d: '「它在哪几个系统里？叫什么名？有几份？谁是权威？」四个答案对不上，Y 模型就还没画完——这招五秒出结果，比看 PPT 有用。', c: '#FA4F24' },&#13;&#10;                    { t: '当场挑一条痛点走四段追溯', d: '从现象出发，追五层到根因，再推一条变革建议，最后落到一条系统需求。走不通当场说走不通，不用圆。', c: '#E0641E' },&#13;&#10;                    { t: '让客户自己说出交叉点', d: '问「哪两个部门的数据最常打架」，客户说出来的第一个答案，就是主数据和指标体系的落点。', c: '#C43A17' },&#13;&#10;                ].map((x) =&gt; (&#13;&#10;                    &lt;Box key={x.t} style={{ flex: 1, background: '#FFF3EE', borderRadius: 4, borderLeft: '4px solid ' + x.c, padding: '10px 13px', flexDirection: 'column', justifyContent: 'center' }}&gt;&#13;&#10;                        &lt;Text style={{ fontSize: 12.5, fontWeight: 'bold', color: x.c }}&gt;{x.t}&lt;/Text&gt;&#13;&#10;                        &lt;Text style={{ fontSize: 11, color: '#3A4050', lineHeight: 1.45, marginTop: 5 }}&gt;{x.d}&lt;/Text&gt;&#13;&#10;                    &lt;/Box&gt;&#13;&#10;                ))}&#13;&#10;            &lt;/Box&gt;&#13;&#10;        &lt;/Box&gt;&#13;&#10;&#13;&#10;        {/* 下 */}&#13;&#10;        &lt;Box style={{ flex: 1, background: '#0F1423', borderRadius: 4, padding: '0 20px', flexDirection: 'row', alignItems: 'center', gap: 16 }}&gt;&#13;&#10;            &lt;Text style={{ fontSize: 13, fontWeight: 'bold', color: '#FBA15C', width: 176 }}&gt;这一册的用法&lt;/Text&gt;&#13;&#10;            &lt;Text style={{ fontSize: 14, color: '#FFFFFF', flex: 1, lineHeight: 1.5 }}&gt;&#13;&#10;                评审时按第 06 页逐条念、按第 04 页讲顺序、按第 09 页交颗粒度、按第 10 页交追溯 —— 这四页是承诺，其余页是做法&#13;&#10;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12 / 36&lt;/Text&gt;&#13;&#10;    &lt;/Box&gt;&#13;&#10;&lt;/Slide&gt;&#13;&#10;"/>
        <p:cNvGrpSpPr/>
        <p:nvPr/>
      </p:nvGrpSpPr>
      <p:grpSpPr>
        <a:xfrm>
          <a:off x="0" y="0"/>
          <a:ext cx="0" cy="0"/>
          <a:chOff x="0" y="0"/>
          <a:chExt cx="0" cy="0"/>
        </a:xfrm>
      </p:grpSpPr>
      <p:sp>
        <p:nvSpPr>
          <p:cNvPr id="165" name=""/>
          <p:cNvSpPr/>
          <p:nvPr/>
        </p:nvSpPr>
        <p:spPr>
          <a:xfrm rot="0" flipH="0" flipV="0">
            <a:off x="0" y="0"/>
            <a:ext cx="12192000" cy="6858000"/>
          </a:xfrm>
          <a:prstGeom prst="rect">
            <a:avLst/>
          </a:prstGeom>
          <a:solidFill>
            <a:srgbClr val="FFFFFF"/>
          </a:solidFill>
          <a:ln/>
        </p:spPr>
        <p:txBody>
          <a:bodyPr/>
          <a:p/>
        </p:txBody>
      </p:sp>
      <p:sp>
        <p:nvSpPr>
          <p:cNvPr id="16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怎么用这一册：</a:t>
            </a:r>
            <a:r>
              <a:rPr lang="zh-CN" sz="2400" b="1">
                <a:solidFill>
                  <a:srgbClr val="FA4F24"/>
                </a:solidFill>
                <a:latin typeface="Microsoft YaHei"/>
                <a:ea typeface="Microsoft YaHei"/>
              </a:rPr>
              <a:t>团队、访谈、节奏</a:t>
            </a:r>
            <a:endParaRPr/>
          </a:p>
        </p:txBody>
      </p:sp>
      <p:sp>
        <p:nvSpPr>
          <p:cNvPr id="167"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方法论不落到人头上就只是一本册子——这一页是把它钉到执行层</a:t>
            </a:r>
            <a:endParaRPr/>
          </a:p>
        </p:txBody>
      </p:sp>
      <p:sp>
        <p:nvSpPr>
          <p:cNvPr id="168" name=""/>
          <p:cNvSpPr/>
          <p:nvPr/>
        </p:nvSpPr>
        <p:spPr>
          <a:xfrm rot="0" flipH="0" flipV="0">
            <a:off x="609600" y="1143000"/>
            <a:ext cx="10972800" cy="9525"/>
          </a:xfrm>
          <a:prstGeom prst="rect">
            <a:avLst/>
          </a:prstGeom>
          <a:solidFill>
            <a:srgbClr val="E8E8E8"/>
          </a:solidFill>
          <a:ln/>
        </p:spPr>
        <p:txBody>
          <a:bodyPr/>
          <a:p/>
        </p:txBody>
      </p:sp>
      <p:sp>
        <p:nvSpPr>
          <p:cNvPr id="169" name=""/>
          <p:cNvSpPr/>
          <p:nvPr/>
        </p:nvSpPr>
        <p:spPr>
          <a:xfrm rot="0" flipH="0" flipV="0">
            <a:off x="609600" y="1276350"/>
            <a:ext cx="3600450" cy="2609850"/>
          </a:xfrm>
          <a:prstGeom prst="roundRect">
            <a:avLst>
              <a:gd name="adj" fmla="val 1460"/>
            </a:avLst>
          </a:prstGeom>
          <a:solidFill>
            <a:srgbClr val="F7F7F8"/>
          </a:solidFill>
          <a:ln/>
        </p:spPr>
        <p:txBody>
          <a:bodyPr/>
          <a:p/>
        </p:txBody>
      </p:sp>
      <p:sp>
        <p:nvSpPr>
          <p:cNvPr id="170" name=""/>
          <p:cNvSpPr/>
          <p:nvPr/>
        </p:nvSpPr>
        <p:spPr>
          <a:xfrm rot="0" flipH="0" flipV="0">
            <a:off x="609600" y="1276350"/>
            <a:ext cx="3600450" cy="2609850"/>
          </a:xfrm>
          <a:custGeom>
            <a:pathLst>
              <a:path w="378" h="274">
                <a:moveTo>
                  <a:pt x="374" y="0"/>
                </a:moveTo>
                <a:cubicBezTo>
                  <a:pt x="376" y="0"/>
                  <a:pt x="378" y="2"/>
                  <a:pt x="378" y="4"/>
                </a:cubicBezTo>
                <a:cubicBezTo>
                  <a:pt x="378" y="3"/>
                  <a:pt x="377" y="3"/>
                  <a:pt x="377" y="3"/>
                </a:cubicBezTo>
                <a:lnTo>
                  <a:pt x="1" y="3"/>
                </a:lnTo>
                <a:cubicBezTo>
                  <a:pt x="1" y="3"/>
                  <a:pt x="0" y="3"/>
                  <a:pt x="0" y="4"/>
                </a:cubicBezTo>
                <a:cubicBezTo>
                  <a:pt x="0" y="2"/>
                  <a:pt x="2" y="0"/>
                  <a:pt x="4" y="0"/>
                </a:cubicBezTo>
                <a:lnTo>
                  <a:pt x="374" y="0"/>
                </a:lnTo>
                <a:close/>
              </a:path>
            </a:pathLst>
          </a:custGeom>
          <a:solidFill>
            <a:srgbClr val="FA4F24"/>
          </a:solidFill>
          <a:ln/>
        </p:spPr>
        <p:txBody>
          <a:bodyPr/>
          <a:p/>
        </p:txBody>
      </p:sp>
      <p:sp>
        <p:nvSpPr>
          <p:cNvPr id="171" name="" descr="{&quot;isTemplate&quot;:true,&quot;type&quot;:&quot;text&quot;}"/>
          <p:cNvSpPr txBox="1"/>
          <p:nvPr/>
        </p:nvSpPr>
        <p:spPr>
          <a:xfrm rot="0" flipH="0" flipV="0">
            <a:off x="742950" y="1390650"/>
            <a:ext cx="3333750" cy="161925"/>
          </a:xfrm>
          <a:prstGeom prst="rect"/>
        </p:spPr>
        <p:txBody>
          <a:bodyPr wrap="none" lIns="0" tIns="0" rIns="0" bIns="0"/>
          <a:p>
            <a:pPr>
              <a:lnSpc>
                <a:spcPct val="100000"/>
              </a:lnSpc>
            </a:pPr>
            <a:r>
              <a:rPr lang="zh-CN" sz="1050" b="1">
                <a:solidFill>
                  <a:srgbClr val="FA4F24"/>
                </a:solidFill>
                <a:latin typeface="Microsoft YaHei"/>
                <a:ea typeface="Microsoft YaHei"/>
              </a:rPr>
              <a:t>项目团队四角色</a:t>
            </a:r>
            <a:endParaRPr/>
          </a:p>
        </p:txBody>
      </p:sp>
      <p:sp>
        <p:nvSpPr>
          <p:cNvPr id="172" name="" descr="{&quot;isTemplate&quot;:true,&quot;type&quot;:&quot;text&quot;}"/>
          <p:cNvSpPr txBox="1"/>
          <p:nvPr/>
        </p:nvSpPr>
        <p:spPr>
          <a:xfrm rot="0" flipH="0" flipV="0">
            <a:off x="742950" y="1581150"/>
            <a:ext cx="3333750" cy="123825"/>
          </a:xfrm>
          <a:prstGeom prst="rect"/>
        </p:spPr>
        <p:txBody>
          <a:bodyPr wrap="none" lIns="0" tIns="0" rIns="0" bIns="0"/>
          <a:p>
            <a:pPr>
              <a:lnSpc>
                <a:spcPct val="100000"/>
              </a:lnSpc>
            </a:pPr>
            <a:r>
              <a:rPr lang="zh-CN" sz="788">
                <a:solidFill>
                  <a:srgbClr val="8A8F99"/>
                </a:solidFill>
                <a:latin typeface="Microsoft YaHei"/>
                <a:ea typeface="Microsoft YaHei"/>
              </a:rPr>
              <a:t>每个角色对一段交付物负责</a:t>
            </a:r>
            <a:endParaRPr/>
          </a:p>
        </p:txBody>
      </p:sp>
      <p:sp>
        <p:nvSpPr>
          <p:cNvPr id="173" name=""/>
          <p:cNvSpPr/>
          <p:nvPr/>
        </p:nvSpPr>
        <p:spPr>
          <a:xfrm rot="0" flipH="0" flipV="0">
            <a:off x="742950" y="1800225"/>
            <a:ext cx="3333750" cy="447675"/>
          </a:xfrm>
          <a:prstGeom prst="roundRect">
            <a:avLst>
              <a:gd name="adj" fmla="val 6383"/>
            </a:avLst>
          </a:prstGeom>
          <a:solidFill>
            <a:srgbClr val="FFFFFF"/>
          </a:solidFill>
          <a:ln/>
        </p:spPr>
        <p:txBody>
          <a:bodyPr/>
          <a:p/>
        </p:txBody>
      </p:sp>
      <p:sp>
        <p:nvSpPr>
          <p:cNvPr id="174" name="" descr="{&quot;isTemplate&quot;:true,&quot;type&quot;:&quot;text&quot;}"/>
          <p:cNvSpPr txBox="1"/>
          <p:nvPr/>
        </p:nvSpPr>
        <p:spPr>
          <a:xfrm rot="0" flipH="0" flipV="0">
            <a:off x="838200" y="1876425"/>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业务架构组</a:t>
            </a:r>
            <a:endParaRPr/>
          </a:p>
        </p:txBody>
      </p:sp>
      <p:sp>
        <p:nvSpPr>
          <p:cNvPr id="175" name="" descr="{&quot;isTemplate&quot;:true,&quot;type&quot;:&quot;text&quot;}"/>
          <p:cNvSpPr txBox="1"/>
          <p:nvPr/>
        </p:nvSpPr>
        <p:spPr>
          <a:xfrm rot="0" flipH="0" flipV="0">
            <a:off x="838200" y="2028825"/>
            <a:ext cx="3143250"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3 </a:t>
            </a:r>
            <a:r>
              <a:rPr lang="zh-CN" sz="750">
                <a:solidFill>
                  <a:srgbClr val="5A6070"/>
                </a:solidFill>
                <a:latin typeface="Microsoft YaHei"/>
                <a:ea typeface="Microsoft YaHei"/>
              </a:rPr>
              <a:t>人：</a:t>
            </a:r>
            <a:r>
              <a:rPr lang="en-US" sz="750">
                <a:solidFill>
                  <a:srgbClr val="5A6070"/>
                </a:solidFill>
                <a:latin typeface="Microsoft YaHei"/>
                <a:ea typeface="Microsoft YaHei"/>
              </a:rPr>
              <a:t xml:space="preserve">BA </a:t>
            </a:r>
            <a:r>
              <a:rPr lang="zh-CN" sz="750">
                <a:solidFill>
                  <a:srgbClr val="5A6070"/>
                </a:solidFill>
                <a:latin typeface="Microsoft YaHei"/>
                <a:ea typeface="Microsoft YaHei"/>
              </a:rPr>
              <a:t>负责人</a:t>
            </a:r>
            <a:r>
              <a:rPr lang="en-US" sz="750">
                <a:solidFill>
                  <a:srgbClr val="5A6070"/>
                </a:solidFill>
                <a:latin typeface="Microsoft YaHei"/>
                <a:ea typeface="Microsoft YaHei"/>
              </a:rPr>
              <a:t xml:space="preserve"> + 2 </a:t>
            </a:r>
            <a:r>
              <a:rPr lang="zh-CN" sz="750">
                <a:solidFill>
                  <a:srgbClr val="5A6070"/>
                </a:solidFill>
                <a:latin typeface="Microsoft YaHei"/>
                <a:ea typeface="Microsoft YaHei"/>
              </a:rPr>
              <a:t>分析师，对应</a:t>
            </a:r>
            <a:r>
              <a:rPr lang="en-US" sz="750">
                <a:solidFill>
                  <a:srgbClr val="5A6070"/>
                </a:solidFill>
                <a:latin typeface="Microsoft YaHei"/>
                <a:ea typeface="Microsoft YaHei"/>
              </a:rPr>
              <a:t xml:space="preserve"> L4 </a:t>
            </a:r>
            <a:r>
              <a:rPr lang="zh-CN" sz="750">
                <a:solidFill>
                  <a:srgbClr val="5A6070"/>
                </a:solidFill>
                <a:latin typeface="Microsoft YaHei"/>
                <a:ea typeface="Microsoft YaHei"/>
              </a:rPr>
              <a:t>子流程与流程领域架构</a:t>
            </a:r>
            <a:endParaRPr/>
          </a:p>
        </p:txBody>
      </p:sp>
      <p:sp>
        <p:nvSpPr>
          <p:cNvPr id="176" name=""/>
          <p:cNvSpPr/>
          <p:nvPr/>
        </p:nvSpPr>
        <p:spPr>
          <a:xfrm rot="0" flipH="0" flipV="0">
            <a:off x="742950" y="2305050"/>
            <a:ext cx="3333750" cy="438150"/>
          </a:xfrm>
          <a:prstGeom prst="roundRect">
            <a:avLst>
              <a:gd name="adj" fmla="val 6522"/>
            </a:avLst>
          </a:prstGeom>
          <a:solidFill>
            <a:srgbClr val="FFFFFF"/>
          </a:solidFill>
          <a:ln/>
        </p:spPr>
        <p:txBody>
          <a:bodyPr/>
          <a:p/>
        </p:txBody>
      </p:sp>
      <p:sp>
        <p:nvSpPr>
          <p:cNvPr id="177" name="" descr="{&quot;isTemplate&quot;:true,&quot;type&quot;:&quot;text&quot;}"/>
          <p:cNvSpPr txBox="1"/>
          <p:nvPr/>
        </p:nvSpPr>
        <p:spPr>
          <a:xfrm rot="0" flipH="0" flipV="0">
            <a:off x="838200" y="2371725"/>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数据架构组</a:t>
            </a:r>
            <a:endParaRPr/>
          </a:p>
        </p:txBody>
      </p:sp>
      <p:sp>
        <p:nvSpPr>
          <p:cNvPr id="178" name="" descr="{&quot;isTemplate&quot;:true,&quot;type&quot;:&quot;text&quot;}"/>
          <p:cNvSpPr txBox="1"/>
          <p:nvPr/>
        </p:nvSpPr>
        <p:spPr>
          <a:xfrm rot="0" flipH="0" flipV="0">
            <a:off x="838200" y="2524125"/>
            <a:ext cx="3143250"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3 </a:t>
            </a:r>
            <a:r>
              <a:rPr lang="zh-CN" sz="750">
                <a:solidFill>
                  <a:srgbClr val="5A6070"/>
                </a:solidFill>
                <a:latin typeface="Microsoft YaHei"/>
                <a:ea typeface="Microsoft YaHei"/>
              </a:rPr>
              <a:t>人：</a:t>
            </a:r>
            <a:r>
              <a:rPr lang="en-US" sz="750">
                <a:solidFill>
                  <a:srgbClr val="5A6070"/>
                </a:solidFill>
                <a:latin typeface="Microsoft YaHei"/>
                <a:ea typeface="Microsoft YaHei"/>
              </a:rPr>
              <a:t xml:space="preserve">DA </a:t>
            </a:r>
            <a:r>
              <a:rPr lang="zh-CN" sz="750">
                <a:solidFill>
                  <a:srgbClr val="5A6070"/>
                </a:solidFill>
                <a:latin typeface="Microsoft YaHei"/>
                <a:ea typeface="Microsoft YaHei"/>
              </a:rPr>
              <a:t>负责人</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主数据</a:t>
            </a:r>
            <a:r>
              <a:rPr lang="en-US" sz="750">
                <a:solidFill>
                  <a:srgbClr val="5A6070"/>
                </a:solidFill>
                <a:latin typeface="Microsoft YaHei"/>
                <a:ea typeface="Microsoft YaHei"/>
              </a:rPr>
              <a:t>/</a:t>
            </a:r>
            <a:r>
              <a:rPr lang="zh-CN" sz="750">
                <a:solidFill>
                  <a:srgbClr val="5A6070"/>
                </a:solidFill>
                <a:latin typeface="Microsoft YaHei"/>
                <a:ea typeface="Microsoft YaHei"/>
              </a:rPr>
              <a:t>指标各</a:t>
            </a:r>
            <a:r>
              <a:rPr lang="en-US" sz="750">
                <a:solidFill>
                  <a:srgbClr val="5A6070"/>
                </a:solidFill>
                <a:latin typeface="Microsoft YaHei"/>
                <a:ea typeface="Microsoft YaHei"/>
              </a:rPr>
              <a:t xml:space="preserve"> 1</a:t>
            </a:r>
            <a:r>
              <a:rPr lang="zh-CN" sz="750">
                <a:solidFill>
                  <a:srgbClr val="5A6070"/>
                </a:solidFill>
                <a:latin typeface="Microsoft YaHei"/>
                <a:ea typeface="Microsoft YaHei"/>
              </a:rPr>
              <a:t>，对应逻辑实体与指标字典</a:t>
            </a:r>
            <a:endParaRPr/>
          </a:p>
        </p:txBody>
      </p:sp>
      <p:sp>
        <p:nvSpPr>
          <p:cNvPr id="179" name=""/>
          <p:cNvSpPr/>
          <p:nvPr/>
        </p:nvSpPr>
        <p:spPr>
          <a:xfrm rot="0" flipH="0" flipV="0">
            <a:off x="742950" y="2800350"/>
            <a:ext cx="3333750" cy="447675"/>
          </a:xfrm>
          <a:prstGeom prst="roundRect">
            <a:avLst>
              <a:gd name="adj" fmla="val 6383"/>
            </a:avLst>
          </a:prstGeom>
          <a:solidFill>
            <a:srgbClr val="FFFFFF"/>
          </a:solidFill>
          <a:ln/>
        </p:spPr>
        <p:txBody>
          <a:bodyPr/>
          <a:p/>
        </p:txBody>
      </p:sp>
      <p:sp>
        <p:nvSpPr>
          <p:cNvPr id="180" name="" descr="{&quot;isTemplate&quot;:true,&quot;type&quot;:&quot;text&quot;}"/>
          <p:cNvSpPr txBox="1"/>
          <p:nvPr/>
        </p:nvSpPr>
        <p:spPr>
          <a:xfrm rot="0" flipH="0" flipV="0">
            <a:off x="838200" y="2876550"/>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应用与技术组</a:t>
            </a:r>
            <a:endParaRPr/>
          </a:p>
        </p:txBody>
      </p:sp>
      <p:sp>
        <p:nvSpPr>
          <p:cNvPr id="181" name="" descr="{&quot;isTemplate&quot;:true,&quot;type&quot;:&quot;text&quot;}"/>
          <p:cNvSpPr txBox="1"/>
          <p:nvPr/>
        </p:nvSpPr>
        <p:spPr>
          <a:xfrm rot="0" flipH="0" flipV="0">
            <a:off x="838200" y="3028950"/>
            <a:ext cx="3143250"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3 </a:t>
            </a:r>
            <a:r>
              <a:rPr lang="zh-CN" sz="750">
                <a:solidFill>
                  <a:srgbClr val="5A6070"/>
                </a:solidFill>
                <a:latin typeface="Microsoft YaHei"/>
                <a:ea typeface="Microsoft YaHei"/>
              </a:rPr>
              <a:t>人：</a:t>
            </a:r>
            <a:r>
              <a:rPr lang="en-US" sz="750">
                <a:solidFill>
                  <a:srgbClr val="5A6070"/>
                </a:solidFill>
                <a:latin typeface="Microsoft YaHei"/>
                <a:ea typeface="Microsoft YaHei"/>
              </a:rPr>
              <a:t xml:space="preserve">AA + TA + </a:t>
            </a:r>
            <a:r>
              <a:rPr lang="zh-CN" sz="750">
                <a:solidFill>
                  <a:srgbClr val="5A6070"/>
                </a:solidFill>
                <a:latin typeface="Microsoft YaHei"/>
                <a:ea typeface="Microsoft YaHei"/>
              </a:rPr>
              <a:t>集成，对应功能模块与</a:t>
            </a:r>
            <a:r>
              <a:rPr lang="en-US" sz="750">
                <a:solidFill>
                  <a:srgbClr val="5A6070"/>
                </a:solidFill>
                <a:latin typeface="Microsoft YaHei"/>
                <a:ea typeface="Microsoft YaHei"/>
              </a:rPr>
              <a:t xml:space="preserve"> AI </a:t>
            </a:r>
            <a:r>
              <a:rPr lang="zh-CN" sz="750">
                <a:solidFill>
                  <a:srgbClr val="5A6070"/>
                </a:solidFill>
                <a:latin typeface="Microsoft YaHei"/>
                <a:ea typeface="Microsoft YaHei"/>
              </a:rPr>
              <a:t>技术就绪度</a:t>
            </a:r>
            <a:endParaRPr/>
          </a:p>
        </p:txBody>
      </p:sp>
      <p:sp>
        <p:nvSpPr>
          <p:cNvPr id="182" name=""/>
          <p:cNvSpPr/>
          <p:nvPr/>
        </p:nvSpPr>
        <p:spPr>
          <a:xfrm rot="0" flipH="0" flipV="0">
            <a:off x="742950" y="3305175"/>
            <a:ext cx="3333750" cy="438150"/>
          </a:xfrm>
          <a:prstGeom prst="roundRect">
            <a:avLst>
              <a:gd name="adj" fmla="val 6522"/>
            </a:avLst>
          </a:prstGeom>
          <a:solidFill>
            <a:srgbClr val="FFFFFF"/>
          </a:solidFill>
          <a:ln/>
        </p:spPr>
        <p:txBody>
          <a:bodyPr/>
          <a:p/>
        </p:txBody>
      </p:sp>
      <p:sp>
        <p:nvSpPr>
          <p:cNvPr id="183" name="" descr="{&quot;isTemplate&quot;:true,&quot;type&quot;:&quot;text&quot;}"/>
          <p:cNvSpPr txBox="1"/>
          <p:nvPr/>
        </p:nvSpPr>
        <p:spPr>
          <a:xfrm rot="0" flipH="0" flipV="0">
            <a:off x="838200" y="3371850"/>
            <a:ext cx="3143250" cy="133350"/>
          </a:xfrm>
          <a:prstGeom prst="rect"/>
        </p:spPr>
        <p:txBody>
          <a:bodyPr wrap="none" lIns="0" tIns="0" rIns="0" bIns="0"/>
          <a:p>
            <a:pPr>
              <a:lnSpc>
                <a:spcPct val="100000"/>
              </a:lnSpc>
            </a:pPr>
            <a:r>
              <a:rPr lang="en-US" sz="825" b="1">
                <a:solidFill>
                  <a:srgbClr val="0F1423"/>
                </a:solidFill>
                <a:latin typeface="Microsoft YaHei"/>
                <a:ea typeface="Microsoft YaHei"/>
              </a:rPr>
              <a:t xml:space="preserve">PMO </a:t>
            </a:r>
            <a:r>
              <a:rPr lang="zh-CN" sz="825" b="1">
                <a:solidFill>
                  <a:srgbClr val="0F1423"/>
                </a:solidFill>
                <a:latin typeface="Microsoft YaHei"/>
                <a:ea typeface="Microsoft YaHei"/>
              </a:rPr>
              <a:t>与评审对接</a:t>
            </a:r>
            <a:endParaRPr/>
          </a:p>
        </p:txBody>
      </p:sp>
      <p:sp>
        <p:nvSpPr>
          <p:cNvPr id="184" name="" descr="{&quot;isTemplate&quot;:true,&quot;type&quot;:&quot;text&quot;}"/>
          <p:cNvSpPr txBox="1"/>
          <p:nvPr/>
        </p:nvSpPr>
        <p:spPr>
          <a:xfrm rot="0" flipH="0" flipV="0">
            <a:off x="838200" y="3524250"/>
            <a:ext cx="3143250"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1 </a:t>
            </a:r>
            <a:r>
              <a:rPr lang="zh-CN" sz="750">
                <a:solidFill>
                  <a:srgbClr val="5A6070"/>
                </a:solidFill>
                <a:latin typeface="Microsoft YaHei"/>
                <a:ea typeface="Microsoft YaHei"/>
              </a:rPr>
              <a:t>人：负责访谈排期、基线冻结、交付物签收台账</a:t>
            </a:r>
            <a:endParaRPr/>
          </a:p>
        </p:txBody>
      </p:sp>
      <p:sp>
        <p:nvSpPr>
          <p:cNvPr id="185" name=""/>
          <p:cNvSpPr/>
          <p:nvPr/>
        </p:nvSpPr>
        <p:spPr>
          <a:xfrm rot="0" flipH="0" flipV="0">
            <a:off x="4295775" y="1276350"/>
            <a:ext cx="3600450" cy="2609850"/>
          </a:xfrm>
          <a:prstGeom prst="roundRect">
            <a:avLst>
              <a:gd name="adj" fmla="val 1460"/>
            </a:avLst>
          </a:prstGeom>
          <a:solidFill>
            <a:srgbClr val="F7F7F8"/>
          </a:solidFill>
          <a:ln/>
        </p:spPr>
        <p:txBody>
          <a:bodyPr/>
          <a:p/>
        </p:txBody>
      </p:sp>
      <p:sp>
        <p:nvSpPr>
          <p:cNvPr id="186" name=""/>
          <p:cNvSpPr/>
          <p:nvPr/>
        </p:nvSpPr>
        <p:spPr>
          <a:xfrm rot="0" flipH="0" flipV="0">
            <a:off x="4295775" y="1276350"/>
            <a:ext cx="3600450" cy="2609850"/>
          </a:xfrm>
          <a:custGeom>
            <a:pathLst>
              <a:path w="378" h="274">
                <a:moveTo>
                  <a:pt x="374" y="0"/>
                </a:moveTo>
                <a:cubicBezTo>
                  <a:pt x="376" y="0"/>
                  <a:pt x="378" y="2"/>
                  <a:pt x="378" y="4"/>
                </a:cubicBezTo>
                <a:cubicBezTo>
                  <a:pt x="378" y="3"/>
                  <a:pt x="377" y="3"/>
                  <a:pt x="377" y="3"/>
                </a:cubicBezTo>
                <a:lnTo>
                  <a:pt x="1" y="3"/>
                </a:lnTo>
                <a:cubicBezTo>
                  <a:pt x="1" y="3"/>
                  <a:pt x="0" y="3"/>
                  <a:pt x="0" y="4"/>
                </a:cubicBezTo>
                <a:cubicBezTo>
                  <a:pt x="0" y="2"/>
                  <a:pt x="2" y="0"/>
                  <a:pt x="4" y="0"/>
                </a:cubicBezTo>
                <a:lnTo>
                  <a:pt x="374" y="0"/>
                </a:lnTo>
                <a:close/>
              </a:path>
            </a:pathLst>
          </a:custGeom>
          <a:solidFill>
            <a:srgbClr val="E0641E"/>
          </a:solidFill>
          <a:ln/>
        </p:spPr>
        <p:txBody>
          <a:bodyPr/>
          <a:p/>
        </p:txBody>
      </p:sp>
      <p:sp>
        <p:nvSpPr>
          <p:cNvPr id="187" name="" descr="{&quot;isTemplate&quot;:true,&quot;type&quot;:&quot;text&quot;}"/>
          <p:cNvSpPr txBox="1"/>
          <p:nvPr/>
        </p:nvSpPr>
        <p:spPr>
          <a:xfrm rot="0" flipH="0" flipV="0">
            <a:off x="4429125" y="1390650"/>
            <a:ext cx="3333750" cy="161925"/>
          </a:xfrm>
          <a:prstGeom prst="rect"/>
        </p:spPr>
        <p:txBody>
          <a:bodyPr wrap="none" lIns="0" tIns="0" rIns="0" bIns="0"/>
          <a:p>
            <a:pPr>
              <a:lnSpc>
                <a:spcPct val="100000"/>
              </a:lnSpc>
            </a:pPr>
            <a:r>
              <a:rPr lang="zh-CN" sz="1050" b="1">
                <a:solidFill>
                  <a:srgbClr val="E0641E"/>
                </a:solidFill>
                <a:latin typeface="Microsoft YaHei"/>
                <a:ea typeface="Microsoft YaHei"/>
              </a:rPr>
              <a:t>访谈三层法</a:t>
            </a:r>
            <a:endParaRPr/>
          </a:p>
        </p:txBody>
      </p:sp>
      <p:sp>
        <p:nvSpPr>
          <p:cNvPr id="188" name="" descr="{&quot;isTemplate&quot;:true,&quot;type&quot;:&quot;text&quot;}"/>
          <p:cNvSpPr txBox="1"/>
          <p:nvPr/>
        </p:nvSpPr>
        <p:spPr>
          <a:xfrm rot="0" flipH="0" flipV="0">
            <a:off x="4429125" y="1581150"/>
            <a:ext cx="3333750" cy="123825"/>
          </a:xfrm>
          <a:prstGeom prst="rect"/>
        </p:spPr>
        <p:txBody>
          <a:bodyPr wrap="none" lIns="0" tIns="0" rIns="0" bIns="0"/>
          <a:p>
            <a:pPr>
              <a:lnSpc>
                <a:spcPct val="100000"/>
              </a:lnSpc>
            </a:pPr>
            <a:r>
              <a:rPr lang="zh-CN" sz="788">
                <a:solidFill>
                  <a:srgbClr val="8A8F99"/>
                </a:solidFill>
                <a:latin typeface="Microsoft YaHei"/>
                <a:ea typeface="Microsoft YaHei"/>
              </a:rPr>
              <a:t>招标</a:t>
            </a:r>
            <a:r>
              <a:rPr lang="en-US" sz="788">
                <a:solidFill>
                  <a:srgbClr val="8A8F99"/>
                </a:solidFill>
                <a:latin typeface="Microsoft YaHei"/>
                <a:ea typeface="Microsoft YaHei"/>
              </a:rPr>
              <a:t xml:space="preserve"> 3.1.3 </a:t>
            </a:r>
            <a:r>
              <a:rPr lang="zh-CN" sz="788">
                <a:solidFill>
                  <a:srgbClr val="8A8F99"/>
                </a:solidFill>
                <a:latin typeface="Microsoft YaHei"/>
                <a:ea typeface="Microsoft YaHei"/>
              </a:rPr>
              <a:t>要求的三类对象</a:t>
            </a:r>
            <a:endParaRPr/>
          </a:p>
        </p:txBody>
      </p:sp>
      <p:sp>
        <p:nvSpPr>
          <p:cNvPr id="189" name=""/>
          <p:cNvSpPr/>
          <p:nvPr/>
        </p:nvSpPr>
        <p:spPr>
          <a:xfrm rot="0" flipH="0" flipV="0">
            <a:off x="4429125" y="1800225"/>
            <a:ext cx="3333750" cy="447675"/>
          </a:xfrm>
          <a:prstGeom prst="roundRect">
            <a:avLst>
              <a:gd name="adj" fmla="val 6383"/>
            </a:avLst>
          </a:prstGeom>
          <a:solidFill>
            <a:srgbClr val="FFFFFF"/>
          </a:solidFill>
          <a:ln/>
        </p:spPr>
        <p:txBody>
          <a:bodyPr/>
          <a:p/>
        </p:txBody>
      </p:sp>
      <p:sp>
        <p:nvSpPr>
          <p:cNvPr id="190" name="" descr="{&quot;isTemplate&quot;:true,&quot;type&quot;:&quot;text&quot;}"/>
          <p:cNvSpPr txBox="1"/>
          <p:nvPr/>
        </p:nvSpPr>
        <p:spPr>
          <a:xfrm rot="0" flipH="0" flipV="0">
            <a:off x="4524375" y="1876425"/>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决策层</a:t>
            </a:r>
            <a:endParaRPr/>
          </a:p>
        </p:txBody>
      </p:sp>
      <p:sp>
        <p:nvSpPr>
          <p:cNvPr id="191" name="" descr="{&quot;isTemplate&quot;:true,&quot;type&quot;:&quot;text&quot;}"/>
          <p:cNvSpPr txBox="1"/>
          <p:nvPr/>
        </p:nvSpPr>
        <p:spPr>
          <a:xfrm rot="0" flipH="0" flipV="0">
            <a:off x="4524375" y="2028825"/>
            <a:ext cx="3143250" cy="152400"/>
          </a:xfrm>
          <a:prstGeom prst="rect"/>
        </p:spPr>
        <p:txBody>
          <a:bodyPr wrap="none" lIns="0" tIns="0" rIns="0" bIns="0"/>
          <a:p>
            <a:pPr>
              <a:lnSpc>
                <a:spcPct val="130000"/>
              </a:lnSpc>
            </a:pPr>
            <a:r>
              <a:rPr lang="zh-CN" sz="750">
                <a:solidFill>
                  <a:srgbClr val="5A6070"/>
                </a:solidFill>
                <a:latin typeface="Microsoft YaHei"/>
                <a:ea typeface="Microsoft YaHei"/>
              </a:rPr>
              <a:t>公司领导：只问经营结果与拍板意愿，不问系统</a:t>
            </a:r>
            <a:endParaRPr/>
          </a:p>
        </p:txBody>
      </p:sp>
      <p:sp>
        <p:nvSpPr>
          <p:cNvPr id="192" name=""/>
          <p:cNvSpPr/>
          <p:nvPr/>
        </p:nvSpPr>
        <p:spPr>
          <a:xfrm rot="0" flipH="0" flipV="0">
            <a:off x="4429125" y="2305050"/>
            <a:ext cx="3333750" cy="438150"/>
          </a:xfrm>
          <a:prstGeom prst="roundRect">
            <a:avLst>
              <a:gd name="adj" fmla="val 6522"/>
            </a:avLst>
          </a:prstGeom>
          <a:solidFill>
            <a:srgbClr val="FFFFFF"/>
          </a:solidFill>
          <a:ln/>
        </p:spPr>
        <p:txBody>
          <a:bodyPr/>
          <a:p/>
        </p:txBody>
      </p:sp>
      <p:sp>
        <p:nvSpPr>
          <p:cNvPr id="193" name="" descr="{&quot;isTemplate&quot;:true,&quot;type&quot;:&quot;text&quot;}"/>
          <p:cNvSpPr txBox="1"/>
          <p:nvPr/>
        </p:nvSpPr>
        <p:spPr>
          <a:xfrm rot="0" flipH="0" flipV="0">
            <a:off x="4524375" y="2371725"/>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管理层</a:t>
            </a:r>
            <a:endParaRPr/>
          </a:p>
        </p:txBody>
      </p:sp>
      <p:sp>
        <p:nvSpPr>
          <p:cNvPr id="194" name="" descr="{&quot;isTemplate&quot;:true,&quot;type&quot;:&quot;text&quot;}"/>
          <p:cNvSpPr txBox="1"/>
          <p:nvPr/>
        </p:nvSpPr>
        <p:spPr>
          <a:xfrm rot="0" flipH="0" flipV="0">
            <a:off x="4524375" y="2524125"/>
            <a:ext cx="3143250" cy="152400"/>
          </a:xfrm>
          <a:prstGeom prst="rect"/>
        </p:spPr>
        <p:txBody>
          <a:bodyPr wrap="none" lIns="0" tIns="0" rIns="0" bIns="0"/>
          <a:p>
            <a:pPr>
              <a:lnSpc>
                <a:spcPct val="130000"/>
              </a:lnSpc>
            </a:pPr>
            <a:r>
              <a:rPr lang="zh-CN" sz="750">
                <a:solidFill>
                  <a:srgbClr val="5A6070"/>
                </a:solidFill>
                <a:latin typeface="Microsoft YaHei"/>
                <a:ea typeface="Microsoft YaHei"/>
              </a:rPr>
              <a:t>九个部门负责人：问权责边界与跨部门卡点，最容易出真话</a:t>
            </a:r>
            <a:endParaRPr/>
          </a:p>
        </p:txBody>
      </p:sp>
      <p:sp>
        <p:nvSpPr>
          <p:cNvPr id="195" name=""/>
          <p:cNvSpPr/>
          <p:nvPr/>
        </p:nvSpPr>
        <p:spPr>
          <a:xfrm rot="0" flipH="0" flipV="0">
            <a:off x="4429125" y="2800350"/>
            <a:ext cx="3333750" cy="447675"/>
          </a:xfrm>
          <a:prstGeom prst="roundRect">
            <a:avLst>
              <a:gd name="adj" fmla="val 6383"/>
            </a:avLst>
          </a:prstGeom>
          <a:solidFill>
            <a:srgbClr val="FFFFFF"/>
          </a:solidFill>
          <a:ln/>
        </p:spPr>
        <p:txBody>
          <a:bodyPr/>
          <a:p/>
        </p:txBody>
      </p:sp>
      <p:sp>
        <p:nvSpPr>
          <p:cNvPr id="196" name="" descr="{&quot;isTemplate&quot;:true,&quot;type&quot;:&quot;text&quot;}"/>
          <p:cNvSpPr txBox="1"/>
          <p:nvPr/>
        </p:nvSpPr>
        <p:spPr>
          <a:xfrm rot="0" flipH="0" flipV="0">
            <a:off x="4524375" y="2876550"/>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骨干层</a:t>
            </a:r>
            <a:endParaRPr/>
          </a:p>
        </p:txBody>
      </p:sp>
      <p:sp>
        <p:nvSpPr>
          <p:cNvPr id="197" name="" descr="{&quot;isTemplate&quot;:true,&quot;type&quot;:&quot;text&quot;}"/>
          <p:cNvSpPr txBox="1"/>
          <p:nvPr/>
        </p:nvSpPr>
        <p:spPr>
          <a:xfrm rot="0" flipH="0" flipV="0">
            <a:off x="4524375" y="3028950"/>
            <a:ext cx="3143250" cy="152400"/>
          </a:xfrm>
          <a:prstGeom prst="rect"/>
        </p:spPr>
        <p:txBody>
          <a:bodyPr wrap="none" lIns="0" tIns="0" rIns="0" bIns="0"/>
          <a:p>
            <a:pPr>
              <a:lnSpc>
                <a:spcPct val="130000"/>
              </a:lnSpc>
            </a:pPr>
            <a:r>
              <a:rPr lang="zh-CN" sz="750">
                <a:solidFill>
                  <a:srgbClr val="5A6070"/>
                </a:solidFill>
                <a:latin typeface="Microsoft YaHei"/>
                <a:ea typeface="Microsoft YaHei"/>
              </a:rPr>
              <a:t>关键岗位：问实际操作与例外处理，流程颗粒度全靠这一层</a:t>
            </a:r>
            <a:endParaRPr/>
          </a:p>
        </p:txBody>
      </p:sp>
      <p:sp>
        <p:nvSpPr>
          <p:cNvPr id="198" name=""/>
          <p:cNvSpPr/>
          <p:nvPr/>
        </p:nvSpPr>
        <p:spPr>
          <a:xfrm rot="0" flipH="0" flipV="0">
            <a:off x="4429125" y="3305175"/>
            <a:ext cx="3333750" cy="438150"/>
          </a:xfrm>
          <a:prstGeom prst="roundRect">
            <a:avLst>
              <a:gd name="adj" fmla="val 6522"/>
            </a:avLst>
          </a:prstGeom>
          <a:solidFill>
            <a:srgbClr val="FFFFFF"/>
          </a:solidFill>
          <a:ln/>
        </p:spPr>
        <p:txBody>
          <a:bodyPr/>
          <a:p/>
        </p:txBody>
      </p:sp>
      <p:sp>
        <p:nvSpPr>
          <p:cNvPr id="199" name="" descr="{&quot;isTemplate&quot;:true,&quot;type&quot;:&quot;text&quot;}"/>
          <p:cNvSpPr txBox="1"/>
          <p:nvPr/>
        </p:nvSpPr>
        <p:spPr>
          <a:xfrm rot="0" flipH="0" flipV="0">
            <a:off x="4524375" y="3371850"/>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不发问卷</a:t>
            </a:r>
            <a:endParaRPr/>
          </a:p>
        </p:txBody>
      </p:sp>
      <p:sp>
        <p:nvSpPr>
          <p:cNvPr id="200" name="" descr="{&quot;isTemplate&quot;:true,&quot;type&quot;:&quot;text&quot;}"/>
          <p:cNvSpPr txBox="1"/>
          <p:nvPr/>
        </p:nvSpPr>
        <p:spPr>
          <a:xfrm rot="0" flipH="0" flipV="0">
            <a:off x="4524375" y="3524250"/>
            <a:ext cx="3143250" cy="152400"/>
          </a:xfrm>
          <a:prstGeom prst="rect"/>
        </p:spPr>
        <p:txBody>
          <a:bodyPr wrap="none" lIns="0" tIns="0" rIns="0" bIns="0"/>
          <a:p>
            <a:pPr>
              <a:lnSpc>
                <a:spcPct val="130000"/>
              </a:lnSpc>
            </a:pPr>
            <a:r>
              <a:rPr lang="zh-CN" sz="750">
                <a:solidFill>
                  <a:srgbClr val="5A6070"/>
                </a:solidFill>
                <a:latin typeface="Microsoft YaHei"/>
                <a:ea typeface="Microsoft YaHei"/>
              </a:rPr>
              <a:t>关键问题当面问，问卷只用来收集单据台账与系统清单</a:t>
            </a:r>
            <a:endParaRPr/>
          </a:p>
        </p:txBody>
      </p:sp>
      <p:sp>
        <p:nvSpPr>
          <p:cNvPr id="201" name=""/>
          <p:cNvSpPr/>
          <p:nvPr/>
        </p:nvSpPr>
        <p:spPr>
          <a:xfrm rot="0" flipH="0" flipV="0">
            <a:off x="7981950" y="1276350"/>
            <a:ext cx="3600450" cy="2609850"/>
          </a:xfrm>
          <a:prstGeom prst="roundRect">
            <a:avLst>
              <a:gd name="adj" fmla="val 1460"/>
            </a:avLst>
          </a:prstGeom>
          <a:solidFill>
            <a:srgbClr val="F7F7F8"/>
          </a:solidFill>
          <a:ln/>
        </p:spPr>
        <p:txBody>
          <a:bodyPr/>
          <a:p/>
        </p:txBody>
      </p:sp>
      <p:sp>
        <p:nvSpPr>
          <p:cNvPr id="202" name=""/>
          <p:cNvSpPr/>
          <p:nvPr/>
        </p:nvSpPr>
        <p:spPr>
          <a:xfrm rot="0" flipH="0" flipV="0">
            <a:off x="7981950" y="1276350"/>
            <a:ext cx="3600450" cy="2609850"/>
          </a:xfrm>
          <a:custGeom>
            <a:pathLst>
              <a:path w="378" h="274">
                <a:moveTo>
                  <a:pt x="374" y="0"/>
                </a:moveTo>
                <a:cubicBezTo>
                  <a:pt x="376" y="0"/>
                  <a:pt x="378" y="2"/>
                  <a:pt x="378" y="4"/>
                </a:cubicBezTo>
                <a:cubicBezTo>
                  <a:pt x="378" y="3"/>
                  <a:pt x="377" y="3"/>
                  <a:pt x="377" y="3"/>
                </a:cubicBezTo>
                <a:lnTo>
                  <a:pt x="1" y="3"/>
                </a:lnTo>
                <a:cubicBezTo>
                  <a:pt x="1" y="3"/>
                  <a:pt x="0" y="3"/>
                  <a:pt x="0" y="4"/>
                </a:cubicBezTo>
                <a:cubicBezTo>
                  <a:pt x="0" y="2"/>
                  <a:pt x="2" y="0"/>
                  <a:pt x="4" y="0"/>
                </a:cubicBezTo>
                <a:lnTo>
                  <a:pt x="374" y="0"/>
                </a:lnTo>
                <a:close/>
              </a:path>
            </a:pathLst>
          </a:custGeom>
          <a:solidFill>
            <a:srgbClr val="C43A17"/>
          </a:solidFill>
          <a:ln/>
        </p:spPr>
        <p:txBody>
          <a:bodyPr/>
          <a:p/>
        </p:txBody>
      </p:sp>
      <p:sp>
        <p:nvSpPr>
          <p:cNvPr id="203" name="" descr="{&quot;isTemplate&quot;:true,&quot;type&quot;:&quot;text&quot;}"/>
          <p:cNvSpPr txBox="1"/>
          <p:nvPr/>
        </p:nvSpPr>
        <p:spPr>
          <a:xfrm rot="0" flipH="0" flipV="0">
            <a:off x="8115300" y="1390650"/>
            <a:ext cx="3333750" cy="161925"/>
          </a:xfrm>
          <a:prstGeom prst="rect"/>
        </p:spPr>
        <p:txBody>
          <a:bodyPr wrap="none" lIns="0" tIns="0" rIns="0" bIns="0"/>
          <a:p>
            <a:pPr>
              <a:lnSpc>
                <a:spcPct val="100000"/>
              </a:lnSpc>
            </a:pPr>
            <a:r>
              <a:rPr lang="zh-CN" sz="1050" b="1">
                <a:solidFill>
                  <a:srgbClr val="C43A17"/>
                </a:solidFill>
                <a:latin typeface="Microsoft YaHei"/>
                <a:ea typeface="Microsoft YaHei"/>
              </a:rPr>
              <a:t>四阶段节奏</a:t>
            </a:r>
            <a:endParaRPr/>
          </a:p>
        </p:txBody>
      </p:sp>
      <p:sp>
        <p:nvSpPr>
          <p:cNvPr id="204" name="" descr="{&quot;isTemplate&quot;:true,&quot;type&quot;:&quot;text&quot;}"/>
          <p:cNvSpPr txBox="1"/>
          <p:nvPr/>
        </p:nvSpPr>
        <p:spPr>
          <a:xfrm rot="0" flipH="0" flipV="0">
            <a:off x="8115300" y="1581150"/>
            <a:ext cx="3333750" cy="123825"/>
          </a:xfrm>
          <a:prstGeom prst="rect"/>
        </p:spPr>
        <p:txBody>
          <a:bodyPr wrap="none" lIns="0" tIns="0" rIns="0" bIns="0"/>
          <a:p>
            <a:pPr>
              <a:lnSpc>
                <a:spcPct val="100000"/>
              </a:lnSpc>
            </a:pPr>
            <a:r>
              <a:rPr lang="zh-CN" sz="788">
                <a:solidFill>
                  <a:srgbClr val="8A8F99"/>
                </a:solidFill>
                <a:latin typeface="Microsoft YaHei"/>
                <a:ea typeface="Microsoft YaHei"/>
              </a:rPr>
              <a:t>每个阶段的收口都必须过评审</a:t>
            </a:r>
            <a:endParaRPr/>
          </a:p>
        </p:txBody>
      </p:sp>
      <p:sp>
        <p:nvSpPr>
          <p:cNvPr id="205" name=""/>
          <p:cNvSpPr/>
          <p:nvPr/>
        </p:nvSpPr>
        <p:spPr>
          <a:xfrm rot="0" flipH="0" flipV="0">
            <a:off x="8115300" y="1800225"/>
            <a:ext cx="3333750" cy="447675"/>
          </a:xfrm>
          <a:prstGeom prst="roundRect">
            <a:avLst>
              <a:gd name="adj" fmla="val 6383"/>
            </a:avLst>
          </a:prstGeom>
          <a:solidFill>
            <a:srgbClr val="FFFFFF"/>
          </a:solidFill>
          <a:ln/>
        </p:spPr>
        <p:txBody>
          <a:bodyPr/>
          <a:p/>
        </p:txBody>
      </p:sp>
      <p:sp>
        <p:nvSpPr>
          <p:cNvPr id="206" name="" descr="{&quot;isTemplate&quot;:true,&quot;type&quot;:&quot;text&quot;}"/>
          <p:cNvSpPr txBox="1"/>
          <p:nvPr/>
        </p:nvSpPr>
        <p:spPr>
          <a:xfrm rot="0" flipH="0" flipV="0">
            <a:off x="8210550" y="1876425"/>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现状分析</a:t>
            </a:r>
            <a:endParaRPr/>
          </a:p>
        </p:txBody>
      </p:sp>
      <p:sp>
        <p:nvSpPr>
          <p:cNvPr id="207" name="" descr="{&quot;isTemplate&quot;:true,&quot;type&quot;:&quot;text&quot;}"/>
          <p:cNvSpPr txBox="1"/>
          <p:nvPr/>
        </p:nvSpPr>
        <p:spPr>
          <a:xfrm rot="0" flipH="0" flipV="0">
            <a:off x="8210550" y="2028825"/>
            <a:ext cx="3143250" cy="152400"/>
          </a:xfrm>
          <a:prstGeom prst="rect"/>
        </p:spPr>
        <p:txBody>
          <a:bodyPr wrap="none" lIns="0" tIns="0" rIns="0" bIns="0"/>
          <a:p>
            <a:pPr>
              <a:lnSpc>
                <a:spcPct val="130000"/>
              </a:lnSpc>
            </a:pPr>
            <a:r>
              <a:rPr lang="zh-CN" sz="750">
                <a:solidFill>
                  <a:srgbClr val="5A6070"/>
                </a:solidFill>
                <a:latin typeface="Microsoft YaHei"/>
                <a:ea typeface="Microsoft YaHei"/>
              </a:rPr>
              <a:t>调研</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痛点清单</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五问追根</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改进方向排序</a:t>
            </a:r>
            <a:endParaRPr/>
          </a:p>
        </p:txBody>
      </p:sp>
      <p:sp>
        <p:nvSpPr>
          <p:cNvPr id="208" name=""/>
          <p:cNvSpPr/>
          <p:nvPr/>
        </p:nvSpPr>
        <p:spPr>
          <a:xfrm rot="0" flipH="0" flipV="0">
            <a:off x="8115300" y="2305050"/>
            <a:ext cx="3333750" cy="438150"/>
          </a:xfrm>
          <a:prstGeom prst="roundRect">
            <a:avLst>
              <a:gd name="adj" fmla="val 6522"/>
            </a:avLst>
          </a:prstGeom>
          <a:solidFill>
            <a:srgbClr val="FFFFFF"/>
          </a:solidFill>
          <a:ln/>
        </p:spPr>
        <p:txBody>
          <a:bodyPr/>
          <a:p/>
        </p:txBody>
      </p:sp>
      <p:sp>
        <p:nvSpPr>
          <p:cNvPr id="209" name="" descr="{&quot;isTemplate&quot;:true,&quot;type&quot;:&quot;text&quot;}"/>
          <p:cNvSpPr txBox="1"/>
          <p:nvPr/>
        </p:nvSpPr>
        <p:spPr>
          <a:xfrm rot="0" flipH="0" flipV="0">
            <a:off x="8210550" y="2371725"/>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蓝图设计</a:t>
            </a:r>
            <a:endParaRPr/>
          </a:p>
        </p:txBody>
      </p:sp>
      <p:sp>
        <p:nvSpPr>
          <p:cNvPr id="210" name="" descr="{&quot;isTemplate&quot;:true,&quot;type&quot;:&quot;text&quot;}"/>
          <p:cNvSpPr txBox="1"/>
          <p:nvPr/>
        </p:nvSpPr>
        <p:spPr>
          <a:xfrm rot="0" flipH="0" flipV="0">
            <a:off x="8210550" y="2524125"/>
            <a:ext cx="3143250"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BA </a:t>
            </a:r>
            <a:r>
              <a:rPr lang="zh-CN" sz="750">
                <a:solidFill>
                  <a:srgbClr val="5A6070"/>
                </a:solidFill>
                <a:latin typeface="Microsoft YaHei"/>
                <a:ea typeface="Microsoft YaHei"/>
              </a:rPr>
              <a:t>先定稿</a:t>
            </a:r>
            <a:r>
              <a:rPr lang="en-US" sz="750">
                <a:solidFill>
                  <a:srgbClr val="5A6070"/>
                </a:solidFill>
                <a:latin typeface="Microsoft YaHei"/>
                <a:ea typeface="Microsoft YaHei"/>
              </a:rPr>
              <a:t xml:space="preserve"> → DA/AA </a:t>
            </a:r>
            <a:r>
              <a:rPr lang="zh-CN" sz="750">
                <a:solidFill>
                  <a:srgbClr val="5A6070"/>
                </a:solidFill>
                <a:latin typeface="Microsoft YaHei"/>
                <a:ea typeface="Microsoft YaHei"/>
              </a:rPr>
              <a:t>跟进</a:t>
            </a:r>
            <a:r>
              <a:rPr lang="en-US" sz="750">
                <a:solidFill>
                  <a:srgbClr val="5A6070"/>
                </a:solidFill>
                <a:latin typeface="Microsoft YaHei"/>
                <a:ea typeface="Microsoft YaHei"/>
              </a:rPr>
              <a:t xml:space="preserve"> → AI </a:t>
            </a:r>
            <a:r>
              <a:rPr lang="zh-CN" sz="750">
                <a:solidFill>
                  <a:srgbClr val="5A6070"/>
                </a:solidFill>
                <a:latin typeface="Microsoft YaHei"/>
                <a:ea typeface="Microsoft YaHei"/>
              </a:rPr>
              <a:t>初识清单</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组织适配建议</a:t>
            </a:r>
            <a:endParaRPr/>
          </a:p>
        </p:txBody>
      </p:sp>
      <p:sp>
        <p:nvSpPr>
          <p:cNvPr id="211" name=""/>
          <p:cNvSpPr/>
          <p:nvPr/>
        </p:nvSpPr>
        <p:spPr>
          <a:xfrm rot="0" flipH="0" flipV="0">
            <a:off x="8115300" y="2800350"/>
            <a:ext cx="3333750" cy="447675"/>
          </a:xfrm>
          <a:prstGeom prst="roundRect">
            <a:avLst>
              <a:gd name="adj" fmla="val 6383"/>
            </a:avLst>
          </a:prstGeom>
          <a:solidFill>
            <a:srgbClr val="FFFFFF"/>
          </a:solidFill>
          <a:ln/>
        </p:spPr>
        <p:txBody>
          <a:bodyPr/>
          <a:p/>
        </p:txBody>
      </p:sp>
      <p:sp>
        <p:nvSpPr>
          <p:cNvPr id="212" name="" descr="{&quot;isTemplate&quot;:true,&quot;type&quot;:&quot;text&quot;}"/>
          <p:cNvSpPr txBox="1"/>
          <p:nvPr/>
        </p:nvSpPr>
        <p:spPr>
          <a:xfrm rot="0" flipH="0" flipV="0">
            <a:off x="8210550" y="2876550"/>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需求规格化</a:t>
            </a:r>
            <a:endParaRPr/>
          </a:p>
        </p:txBody>
      </p:sp>
      <p:sp>
        <p:nvSpPr>
          <p:cNvPr id="213" name="" descr="{&quot;isTemplate&quot;:true,&quot;type&quot;:&quot;text&quot;}"/>
          <p:cNvSpPr txBox="1"/>
          <p:nvPr/>
        </p:nvSpPr>
        <p:spPr>
          <a:xfrm rot="0" flipH="0" flipV="0">
            <a:off x="8210550" y="3028950"/>
            <a:ext cx="3143250" cy="152400"/>
          </a:xfrm>
          <a:prstGeom prst="rect"/>
        </p:spPr>
        <p:txBody>
          <a:bodyPr wrap="none" lIns="0" tIns="0" rIns="0" bIns="0"/>
          <a:p>
            <a:pPr>
              <a:lnSpc>
                <a:spcPct val="130000"/>
              </a:lnSpc>
            </a:pPr>
            <a:r>
              <a:rPr lang="en-US" sz="750">
                <a:solidFill>
                  <a:srgbClr val="5A6070"/>
                </a:solidFill>
                <a:latin typeface="Microsoft YaHei"/>
                <a:ea typeface="Microsoft YaHei"/>
              </a:rPr>
              <a:t xml:space="preserve">L5-L6 + </a:t>
            </a:r>
            <a:r>
              <a:rPr lang="zh-CN" sz="750">
                <a:solidFill>
                  <a:srgbClr val="5A6070"/>
                </a:solidFill>
                <a:latin typeface="Microsoft YaHei"/>
                <a:ea typeface="Microsoft YaHei"/>
              </a:rPr>
              <a:t>实体属性</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应用特性</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需求基线评审冻结</a:t>
            </a:r>
            <a:endParaRPr/>
          </a:p>
        </p:txBody>
      </p:sp>
      <p:sp>
        <p:nvSpPr>
          <p:cNvPr id="214" name=""/>
          <p:cNvSpPr/>
          <p:nvPr/>
        </p:nvSpPr>
        <p:spPr>
          <a:xfrm rot="0" flipH="0" flipV="0">
            <a:off x="8115300" y="3305175"/>
            <a:ext cx="3333750" cy="438150"/>
          </a:xfrm>
          <a:prstGeom prst="roundRect">
            <a:avLst>
              <a:gd name="adj" fmla="val 6522"/>
            </a:avLst>
          </a:prstGeom>
          <a:solidFill>
            <a:srgbClr val="FFFFFF"/>
          </a:solidFill>
          <a:ln/>
        </p:spPr>
        <p:txBody>
          <a:bodyPr/>
          <a:p/>
        </p:txBody>
      </p:sp>
      <p:sp>
        <p:nvSpPr>
          <p:cNvPr id="215" name="" descr="{&quot;isTemplate&quot;:true,&quot;type&quot;:&quot;text&quot;}"/>
          <p:cNvSpPr txBox="1"/>
          <p:nvPr/>
        </p:nvSpPr>
        <p:spPr>
          <a:xfrm rot="0" flipH="0" flipV="0">
            <a:off x="8210550" y="3371850"/>
            <a:ext cx="3143250" cy="133350"/>
          </a:xfrm>
          <a:prstGeom prst="rect"/>
        </p:spPr>
        <p:txBody>
          <a:bodyPr wrap="none" lIns="0" tIns="0" rIns="0" bIns="0"/>
          <a:p>
            <a:pPr>
              <a:lnSpc>
                <a:spcPct val="100000"/>
              </a:lnSpc>
            </a:pPr>
            <a:r>
              <a:rPr lang="zh-CN" sz="825" b="1">
                <a:solidFill>
                  <a:srgbClr val="0F1423"/>
                </a:solidFill>
                <a:latin typeface="Microsoft YaHei"/>
                <a:ea typeface="Microsoft YaHei"/>
              </a:rPr>
              <a:t>路线图</a:t>
            </a:r>
            <a:endParaRPr/>
          </a:p>
        </p:txBody>
      </p:sp>
      <p:sp>
        <p:nvSpPr>
          <p:cNvPr id="216" name="" descr="{&quot;isTemplate&quot;:true,&quot;type&quot;:&quot;text&quot;}"/>
          <p:cNvSpPr txBox="1"/>
          <p:nvPr/>
        </p:nvSpPr>
        <p:spPr>
          <a:xfrm rot="0" flipH="0" flipV="0">
            <a:off x="8210550" y="3524250"/>
            <a:ext cx="3143250" cy="152400"/>
          </a:xfrm>
          <a:prstGeom prst="rect"/>
        </p:spPr>
        <p:txBody>
          <a:bodyPr wrap="none" lIns="0" tIns="0" rIns="0" bIns="0"/>
          <a:p>
            <a:pPr>
              <a:lnSpc>
                <a:spcPct val="130000"/>
              </a:lnSpc>
            </a:pPr>
            <a:r>
              <a:rPr lang="zh-CN" sz="750">
                <a:solidFill>
                  <a:srgbClr val="5A6070"/>
                </a:solidFill>
                <a:latin typeface="Microsoft YaHei"/>
                <a:ea typeface="Microsoft YaHei"/>
              </a:rPr>
              <a:t>分期</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关键路径</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投入收益</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保障机制</a:t>
            </a:r>
            <a:endParaRPr/>
          </a:p>
        </p:txBody>
      </p:sp>
      <p:sp>
        <p:nvSpPr>
          <p:cNvPr id="217" name=""/>
          <p:cNvSpPr/>
          <p:nvPr/>
        </p:nvSpPr>
        <p:spPr>
          <a:xfrm rot="0" flipH="0" flipV="0">
            <a:off x="609600" y="3971925"/>
            <a:ext cx="38100" cy="142875"/>
          </a:xfrm>
          <a:prstGeom prst="rect">
            <a:avLst/>
          </a:prstGeom>
          <a:solidFill>
            <a:srgbClr val="FA4F24"/>
          </a:solidFill>
          <a:ln/>
        </p:spPr>
        <p:txBody>
          <a:bodyPr/>
          <a:p/>
        </p:txBody>
      </p:sp>
      <p:sp>
        <p:nvSpPr>
          <p:cNvPr id="218" name="" descr="{&quot;isTemplate&quot;:true,&quot;type&quot;:&quot;text&quot;}"/>
          <p:cNvSpPr txBox="1"/>
          <p:nvPr/>
        </p:nvSpPr>
        <p:spPr>
          <a:xfrm rot="0" flipH="0" flipV="0">
            <a:off x="723900" y="3962400"/>
            <a:ext cx="2105025" cy="152400"/>
          </a:xfrm>
          <a:prstGeom prst="rect"/>
        </p:spPr>
        <p:txBody>
          <a:bodyPr wrap="none" lIns="0" tIns="0" rIns="0" bIns="0"/>
          <a:p>
            <a:pPr>
              <a:lnSpc>
                <a:spcPct val="100000"/>
              </a:lnSpc>
            </a:pPr>
            <a:r>
              <a:rPr lang="zh-CN" sz="975" b="1">
                <a:solidFill>
                  <a:srgbClr val="0F1423"/>
                </a:solidFill>
                <a:latin typeface="Microsoft YaHei"/>
                <a:ea typeface="Microsoft YaHei"/>
              </a:rPr>
              <a:t>三个现场动作（评审时可以直接演示）</a:t>
            </a:r>
            <a:endParaRPr/>
          </a:p>
        </p:txBody>
      </p:sp>
      <p:sp>
        <p:nvSpPr>
          <p:cNvPr id="219" name=""/>
          <p:cNvSpPr/>
          <p:nvPr/>
        </p:nvSpPr>
        <p:spPr>
          <a:xfrm rot="0" flipH="0" flipV="0">
            <a:off x="647700" y="4200525"/>
            <a:ext cx="3609975" cy="1162050"/>
          </a:xfrm>
          <a:prstGeom prst="roundRect">
            <a:avLst>
              <a:gd name="adj" fmla="val 3279"/>
            </a:avLst>
          </a:prstGeom>
          <a:solidFill>
            <a:srgbClr val="FFF3EE"/>
          </a:solidFill>
          <a:ln/>
        </p:spPr>
        <p:txBody>
          <a:bodyPr/>
          <a:p/>
        </p:txBody>
      </p:sp>
      <p:sp>
        <p:nvSpPr>
          <p:cNvPr id="220" name=""/>
          <p:cNvSpPr/>
          <p:nvPr/>
        </p:nvSpPr>
        <p:spPr>
          <a:xfrm rot="0" flipH="0" flipV="0">
            <a:off x="647700" y="4200525"/>
            <a:ext cx="3609975" cy="1162050"/>
          </a:xfrm>
          <a:custGeom>
            <a:pathLst>
              <a:path w="379" h="122">
                <a:moveTo>
                  <a:pt x="4" y="122"/>
                </a:moveTo>
                <a:cubicBezTo>
                  <a:pt x="2" y="122"/>
                  <a:pt x="0" y="120"/>
                  <a:pt x="0" y="118"/>
                </a:cubicBezTo>
                <a:lnTo>
                  <a:pt x="0" y="4"/>
                </a:lnTo>
                <a:cubicBezTo>
                  <a:pt x="0" y="2"/>
                  <a:pt x="2" y="0"/>
                  <a:pt x="4" y="0"/>
                </a:cubicBezTo>
                <a:lnTo>
                  <a:pt x="4" y="122"/>
                </a:lnTo>
                <a:close/>
              </a:path>
            </a:pathLst>
          </a:custGeom>
          <a:solidFill>
            <a:srgbClr val="FA4F24"/>
          </a:solidFill>
          <a:ln/>
        </p:spPr>
        <p:txBody>
          <a:bodyPr/>
          <a:p/>
        </p:txBody>
      </p:sp>
      <p:sp>
        <p:nvSpPr>
          <p:cNvPr id="221" name="" descr="{&quot;isTemplate&quot;:true,&quot;type&quot;:&quot;text&quot;}"/>
          <p:cNvSpPr txBox="1"/>
          <p:nvPr/>
        </p:nvSpPr>
        <p:spPr>
          <a:xfrm rot="0" flipH="0" flipV="0">
            <a:off x="771525" y="4505325"/>
            <a:ext cx="3324225" cy="142875"/>
          </a:xfrm>
          <a:prstGeom prst="rect"/>
        </p:spPr>
        <p:txBody>
          <a:bodyPr wrap="none" lIns="0" tIns="0" rIns="0" bIns="0"/>
          <a:p>
            <a:pPr>
              <a:lnSpc>
                <a:spcPct val="100000"/>
              </a:lnSpc>
            </a:pPr>
            <a:r>
              <a:rPr lang="zh-CN" sz="938" b="1">
                <a:solidFill>
                  <a:srgbClr val="FA4F24"/>
                </a:solidFill>
                <a:latin typeface="Microsoft YaHei"/>
                <a:ea typeface="Microsoft YaHei"/>
              </a:rPr>
              <a:t>随机抽一个业务对象问四句</a:t>
            </a:r>
            <a:endParaRPr/>
          </a:p>
        </p:txBody>
      </p:sp>
      <p:sp>
        <p:nvSpPr>
          <p:cNvPr id="222" name="" descr="{&quot;isTemplate&quot;:true,&quot;type&quot;:&quot;text&quot;}"/>
          <p:cNvSpPr txBox="1"/>
          <p:nvPr/>
        </p:nvSpPr>
        <p:spPr>
          <a:xfrm rot="0" flipH="0" flipV="0">
            <a:off x="771525" y="4695825"/>
            <a:ext cx="33242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「它在哪几个系统里？叫什么名？有几份？谁是权威？」四个答案对不上，</a:t>
            </a:r>
            <a:r>
              <a:rPr lang="en-US" sz="825">
                <a:solidFill>
                  <a:srgbClr val="3A4050"/>
                </a:solidFill>
                <a:latin typeface="Microsoft YaHei"/>
                <a:ea typeface="Microsoft YaHei"/>
              </a:rPr>
              <a:t xml:space="preserve">Y </a:t>
            </a:r>
            <a:r>
              <a:rPr lang="zh-CN" sz="825">
                <a:solidFill>
                  <a:srgbClr val="3A4050"/>
                </a:solidFill>
                <a:latin typeface="Microsoft YaHei"/>
                <a:ea typeface="Microsoft YaHei"/>
              </a:rPr>
              <a:t>模型就还没画完——这招五秒出结果，比看</a:t>
            </a:r>
            <a:r>
              <a:rPr lang="en-US" sz="825">
                <a:solidFill>
                  <a:srgbClr val="3A4050"/>
                </a:solidFill>
                <a:latin typeface="Microsoft YaHei"/>
                <a:ea typeface="Microsoft YaHei"/>
              </a:rPr>
              <a:t xml:space="preserve"> PPT </a:t>
            </a:r>
            <a:r>
              <a:rPr lang="zh-CN" sz="825">
                <a:solidFill>
                  <a:srgbClr val="3A4050"/>
                </a:solidFill>
                <a:latin typeface="Microsoft YaHei"/>
                <a:ea typeface="Microsoft YaHei"/>
              </a:rPr>
              <a:t>有用。</a:t>
            </a:r>
            <a:endParaRPr/>
          </a:p>
        </p:txBody>
      </p:sp>
      <p:sp>
        <p:nvSpPr>
          <p:cNvPr id="223" name=""/>
          <p:cNvSpPr/>
          <p:nvPr/>
        </p:nvSpPr>
        <p:spPr>
          <a:xfrm rot="0" flipH="0" flipV="0">
            <a:off x="4324350" y="4200525"/>
            <a:ext cx="3619500" cy="1162050"/>
          </a:xfrm>
          <a:prstGeom prst="roundRect">
            <a:avLst>
              <a:gd name="adj" fmla="val 3279"/>
            </a:avLst>
          </a:prstGeom>
          <a:solidFill>
            <a:srgbClr val="FFF3EE"/>
          </a:solidFill>
          <a:ln/>
        </p:spPr>
        <p:txBody>
          <a:bodyPr/>
          <a:p/>
        </p:txBody>
      </p:sp>
      <p:sp>
        <p:nvSpPr>
          <p:cNvPr id="224" name=""/>
          <p:cNvSpPr/>
          <p:nvPr/>
        </p:nvSpPr>
        <p:spPr>
          <a:xfrm rot="0" flipH="0" flipV="0">
            <a:off x="4324350" y="4200525"/>
            <a:ext cx="3619500" cy="1162050"/>
          </a:xfrm>
          <a:custGeom>
            <a:pathLst>
              <a:path w="380" h="122">
                <a:moveTo>
                  <a:pt x="4" y="122"/>
                </a:moveTo>
                <a:cubicBezTo>
                  <a:pt x="2" y="122"/>
                  <a:pt x="0" y="120"/>
                  <a:pt x="0" y="118"/>
                </a:cubicBezTo>
                <a:lnTo>
                  <a:pt x="0" y="4"/>
                </a:lnTo>
                <a:cubicBezTo>
                  <a:pt x="0" y="2"/>
                  <a:pt x="2" y="0"/>
                  <a:pt x="4" y="0"/>
                </a:cubicBezTo>
                <a:lnTo>
                  <a:pt x="4" y="122"/>
                </a:lnTo>
                <a:close/>
              </a:path>
            </a:pathLst>
          </a:custGeom>
          <a:solidFill>
            <a:srgbClr val="E0641E"/>
          </a:solidFill>
          <a:ln/>
        </p:spPr>
        <p:txBody>
          <a:bodyPr/>
          <a:p/>
        </p:txBody>
      </p:sp>
      <p:sp>
        <p:nvSpPr>
          <p:cNvPr id="225" name="" descr="{&quot;isTemplate&quot;:true,&quot;type&quot;:&quot;text&quot;}"/>
          <p:cNvSpPr txBox="1"/>
          <p:nvPr/>
        </p:nvSpPr>
        <p:spPr>
          <a:xfrm rot="0" flipH="0" flipV="0">
            <a:off x="4448175" y="4505325"/>
            <a:ext cx="3333750" cy="142875"/>
          </a:xfrm>
          <a:prstGeom prst="rect"/>
        </p:spPr>
        <p:txBody>
          <a:bodyPr wrap="none" lIns="0" tIns="0" rIns="0" bIns="0"/>
          <a:p>
            <a:pPr>
              <a:lnSpc>
                <a:spcPct val="100000"/>
              </a:lnSpc>
            </a:pPr>
            <a:r>
              <a:rPr lang="zh-CN" sz="938" b="1">
                <a:solidFill>
                  <a:srgbClr val="E0641E"/>
                </a:solidFill>
                <a:latin typeface="Microsoft YaHei"/>
                <a:ea typeface="Microsoft YaHei"/>
              </a:rPr>
              <a:t>当场挑一条痛点走四段追溯</a:t>
            </a:r>
            <a:endParaRPr/>
          </a:p>
        </p:txBody>
      </p:sp>
      <p:sp>
        <p:nvSpPr>
          <p:cNvPr id="226" name="" descr="{&quot;isTemplate&quot;:true,&quot;type&quot;:&quot;text&quot;}"/>
          <p:cNvSpPr txBox="1"/>
          <p:nvPr/>
        </p:nvSpPr>
        <p:spPr>
          <a:xfrm rot="0" flipH="0" flipV="0">
            <a:off x="4448175" y="4695825"/>
            <a:ext cx="3333750"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从现象出发，追五层到根因，再推一条变革建议，最后落到一条系统需求。走不通当场说走不通，不用圆。</a:t>
            </a:r>
            <a:endParaRPr/>
          </a:p>
        </p:txBody>
      </p:sp>
      <p:sp>
        <p:nvSpPr>
          <p:cNvPr id="227" name=""/>
          <p:cNvSpPr/>
          <p:nvPr/>
        </p:nvSpPr>
        <p:spPr>
          <a:xfrm rot="0" flipH="0" flipV="0">
            <a:off x="8010525" y="4200525"/>
            <a:ext cx="3609975" cy="1162050"/>
          </a:xfrm>
          <a:prstGeom prst="roundRect">
            <a:avLst>
              <a:gd name="adj" fmla="val 3279"/>
            </a:avLst>
          </a:prstGeom>
          <a:solidFill>
            <a:srgbClr val="FFF3EE"/>
          </a:solidFill>
          <a:ln/>
        </p:spPr>
        <p:txBody>
          <a:bodyPr/>
          <a:p/>
        </p:txBody>
      </p:sp>
      <p:sp>
        <p:nvSpPr>
          <p:cNvPr id="228" name=""/>
          <p:cNvSpPr/>
          <p:nvPr/>
        </p:nvSpPr>
        <p:spPr>
          <a:xfrm rot="0" flipH="0" flipV="0">
            <a:off x="8010525" y="4200525"/>
            <a:ext cx="3609975" cy="1162050"/>
          </a:xfrm>
          <a:custGeom>
            <a:pathLst>
              <a:path w="379" h="122">
                <a:moveTo>
                  <a:pt x="4" y="122"/>
                </a:moveTo>
                <a:cubicBezTo>
                  <a:pt x="2" y="122"/>
                  <a:pt x="0" y="120"/>
                  <a:pt x="0" y="118"/>
                </a:cubicBezTo>
                <a:lnTo>
                  <a:pt x="0" y="4"/>
                </a:lnTo>
                <a:cubicBezTo>
                  <a:pt x="0" y="2"/>
                  <a:pt x="2" y="0"/>
                  <a:pt x="4" y="0"/>
                </a:cubicBezTo>
                <a:lnTo>
                  <a:pt x="4" y="122"/>
                </a:lnTo>
                <a:close/>
              </a:path>
            </a:pathLst>
          </a:custGeom>
          <a:solidFill>
            <a:srgbClr val="C43A17"/>
          </a:solidFill>
          <a:ln/>
        </p:spPr>
        <p:txBody>
          <a:bodyPr/>
          <a:p/>
        </p:txBody>
      </p:sp>
      <p:sp>
        <p:nvSpPr>
          <p:cNvPr id="229" name="" descr="{&quot;isTemplate&quot;:true,&quot;type&quot;:&quot;text&quot;}"/>
          <p:cNvSpPr txBox="1"/>
          <p:nvPr/>
        </p:nvSpPr>
        <p:spPr>
          <a:xfrm rot="0" flipH="0" flipV="0">
            <a:off x="8134350" y="4505325"/>
            <a:ext cx="3324225" cy="142875"/>
          </a:xfrm>
          <a:prstGeom prst="rect"/>
        </p:spPr>
        <p:txBody>
          <a:bodyPr wrap="none" lIns="0" tIns="0" rIns="0" bIns="0"/>
          <a:p>
            <a:pPr>
              <a:lnSpc>
                <a:spcPct val="100000"/>
              </a:lnSpc>
            </a:pPr>
            <a:r>
              <a:rPr lang="zh-CN" sz="938" b="1">
                <a:solidFill>
                  <a:srgbClr val="C43A17"/>
                </a:solidFill>
                <a:latin typeface="Microsoft YaHei"/>
                <a:ea typeface="Microsoft YaHei"/>
              </a:rPr>
              <a:t>让客户自己说出交叉点</a:t>
            </a:r>
            <a:endParaRPr/>
          </a:p>
        </p:txBody>
      </p:sp>
      <p:sp>
        <p:nvSpPr>
          <p:cNvPr id="230" name="" descr="{&quot;isTemplate&quot;:true,&quot;type&quot;:&quot;text&quot;}"/>
          <p:cNvSpPr txBox="1"/>
          <p:nvPr/>
        </p:nvSpPr>
        <p:spPr>
          <a:xfrm rot="0" flipH="0" flipV="0">
            <a:off x="8134350" y="4695825"/>
            <a:ext cx="3324225" cy="371475"/>
          </a:xfrm>
          <a:prstGeom prst="rect"/>
        </p:spPr>
        <p:txBody>
          <a:bodyPr wrap="square" lIns="0" tIns="0" rIns="0" bIns="0">
            <a:normAutofit/>
          </a:bodyPr>
          <a:p>
            <a:pPr>
              <a:lnSpc>
                <a:spcPct val="145000"/>
              </a:lnSpc>
            </a:pPr>
            <a:r>
              <a:rPr lang="zh-CN" sz="825">
                <a:solidFill>
                  <a:srgbClr val="3A4050"/>
                </a:solidFill>
                <a:latin typeface="Microsoft YaHei"/>
                <a:ea typeface="Microsoft YaHei"/>
              </a:rPr>
              <a:t>问「哪两个部门的数据最常打架」，客户说出来的第一个答案，就是主数据和指标体系的落点。</a:t>
            </a:r>
            <a:endParaRPr/>
          </a:p>
        </p:txBody>
      </p:sp>
      <p:sp>
        <p:nvSpPr>
          <p:cNvPr id="231" name=""/>
          <p:cNvSpPr/>
          <p:nvPr/>
        </p:nvSpPr>
        <p:spPr>
          <a:xfrm rot="0" flipH="0" flipV="0">
            <a:off x="609600" y="5438775"/>
            <a:ext cx="10972800" cy="247650"/>
          </a:xfrm>
          <a:prstGeom prst="roundRect">
            <a:avLst>
              <a:gd name="adj" fmla="val 15385"/>
            </a:avLst>
          </a:prstGeom>
          <a:solidFill>
            <a:srgbClr val="0F1423"/>
          </a:solidFill>
          <a:ln/>
        </p:spPr>
        <p:txBody>
          <a:bodyPr/>
          <a:p/>
        </p:txBody>
      </p:sp>
      <p:sp>
        <p:nvSpPr>
          <p:cNvPr id="232" name="" descr="{&quot;isTemplate&quot;:true,&quot;type&quot;:&quot;text&quot;}"/>
          <p:cNvSpPr txBox="1"/>
          <p:nvPr/>
        </p:nvSpPr>
        <p:spPr>
          <a:xfrm rot="0" flipH="0" flipV="0">
            <a:off x="800100" y="5486400"/>
            <a:ext cx="1676400" cy="152400"/>
          </a:xfrm>
          <a:prstGeom prst="rect"/>
        </p:spPr>
        <p:txBody>
          <a:bodyPr wrap="none" lIns="0" tIns="0" rIns="0" bIns="0"/>
          <a:p>
            <a:pPr>
              <a:lnSpc>
                <a:spcPct val="100000"/>
              </a:lnSpc>
            </a:pPr>
            <a:r>
              <a:rPr lang="zh-CN" sz="975" b="1">
                <a:solidFill>
                  <a:srgbClr val="FBA15C"/>
                </a:solidFill>
                <a:latin typeface="Microsoft YaHei"/>
                <a:ea typeface="Microsoft YaHei"/>
              </a:rPr>
              <a:t>这一册的用法</a:t>
            </a:r>
            <a:endParaRPr/>
          </a:p>
        </p:txBody>
      </p:sp>
      <p:sp>
        <p:nvSpPr>
          <p:cNvPr id="233" name="" descr="{&quot;isTemplate&quot;:true,&quot;type&quot;:&quot;text&quot;}"/>
          <p:cNvSpPr txBox="1"/>
          <p:nvPr/>
        </p:nvSpPr>
        <p:spPr>
          <a:xfrm rot="0" flipH="0" flipV="0">
            <a:off x="2628900" y="5438775"/>
            <a:ext cx="8763000" cy="247650"/>
          </a:xfrm>
          <a:prstGeom prst="rect"/>
        </p:spPr>
        <p:txBody>
          <a:bodyPr wrap="none" lIns="0" tIns="0" rIns="0" bIns="0"/>
          <a:p>
            <a:pPr>
              <a:lnSpc>
                <a:spcPct val="150000"/>
              </a:lnSpc>
            </a:pPr>
            <a:r>
              <a:rPr lang="zh-CN" sz="1050">
                <a:solidFill>
                  <a:srgbClr val="FFFFFF"/>
                </a:solidFill>
                <a:latin typeface="Microsoft YaHei"/>
                <a:ea typeface="Microsoft YaHei"/>
              </a:rPr>
              <a:t>评审时按第</a:t>
            </a:r>
            <a:r>
              <a:rPr lang="en-US" sz="1050">
                <a:solidFill>
                  <a:srgbClr val="FFFFFF"/>
                </a:solidFill>
                <a:latin typeface="Microsoft YaHei"/>
                <a:ea typeface="Microsoft YaHei"/>
              </a:rPr>
              <a:t xml:space="preserve"> 06 </a:t>
            </a:r>
            <a:r>
              <a:rPr lang="zh-CN" sz="1050">
                <a:solidFill>
                  <a:srgbClr val="FFFFFF"/>
                </a:solidFill>
                <a:latin typeface="Microsoft YaHei"/>
                <a:ea typeface="Microsoft YaHei"/>
              </a:rPr>
              <a:t>页逐条念、按第</a:t>
            </a:r>
            <a:r>
              <a:rPr lang="en-US" sz="1050">
                <a:solidFill>
                  <a:srgbClr val="FFFFFF"/>
                </a:solidFill>
                <a:latin typeface="Microsoft YaHei"/>
                <a:ea typeface="Microsoft YaHei"/>
              </a:rPr>
              <a:t xml:space="preserve"> 04 </a:t>
            </a:r>
            <a:r>
              <a:rPr lang="zh-CN" sz="1050">
                <a:solidFill>
                  <a:srgbClr val="FFFFFF"/>
                </a:solidFill>
                <a:latin typeface="Microsoft YaHei"/>
                <a:ea typeface="Microsoft YaHei"/>
              </a:rPr>
              <a:t>页讲顺序、按第</a:t>
            </a:r>
            <a:r>
              <a:rPr lang="en-US" sz="1050">
                <a:solidFill>
                  <a:srgbClr val="FFFFFF"/>
                </a:solidFill>
                <a:latin typeface="Microsoft YaHei"/>
                <a:ea typeface="Microsoft YaHei"/>
              </a:rPr>
              <a:t xml:space="preserve"> 09 </a:t>
            </a:r>
            <a:r>
              <a:rPr lang="zh-CN" sz="1050">
                <a:solidFill>
                  <a:srgbClr val="FFFFFF"/>
                </a:solidFill>
                <a:latin typeface="Microsoft YaHei"/>
                <a:ea typeface="Microsoft YaHei"/>
              </a:rPr>
              <a:t>页交颗粒度、按第</a:t>
            </a:r>
            <a:r>
              <a:rPr lang="en-US" sz="1050">
                <a:solidFill>
                  <a:srgbClr val="FFFFFF"/>
                </a:solidFill>
                <a:latin typeface="Microsoft YaHei"/>
                <a:ea typeface="Microsoft YaHei"/>
              </a:rPr>
              <a:t xml:space="preserve"> 10 </a:t>
            </a:r>
            <a:r>
              <a:rPr lang="zh-CN" sz="1050">
                <a:solidFill>
                  <a:srgbClr val="FFFFFF"/>
                </a:solidFill>
                <a:latin typeface="Microsoft YaHei"/>
                <a:ea typeface="Microsoft YaHei"/>
              </a:rPr>
              <a:t>页交追溯</a:t>
            </a:r>
            <a:r>
              <a:rPr lang="en-US" sz="1050">
                <a:solidFill>
                  <a:srgbClr val="FFFFFF"/>
                </a:solidFill>
                <a:latin typeface="Microsoft YaHei"/>
                <a:ea typeface="Microsoft YaHei"/>
              </a:rPr>
              <a:t xml:space="preserve"> —— </a:t>
            </a:r>
            <a:r>
              <a:rPr lang="zh-CN" sz="1050">
                <a:solidFill>
                  <a:srgbClr val="FFFFFF"/>
                </a:solidFill>
                <a:latin typeface="Microsoft YaHei"/>
                <a:ea typeface="Microsoft YaHei"/>
              </a:rPr>
              <a:t>这四页是承诺，其余页是做法</a:t>
            </a:r>
            <a:endParaRPr/>
          </a:p>
        </p:txBody>
      </p:sp>
      <p:sp>
        <p:nvSpPr>
          <p:cNvPr id="234" name=""/>
          <p:cNvSpPr/>
          <p:nvPr/>
        </p:nvSpPr>
        <p:spPr>
          <a:xfrm rot="0" flipH="0" flipV="0">
            <a:off x="609600" y="5943600"/>
            <a:ext cx="133350" cy="133350"/>
          </a:xfrm>
          <a:prstGeom prst="rect">
            <a:avLst/>
          </a:prstGeom>
          <a:solidFill>
            <a:srgbClr val="FA4F24"/>
          </a:solidFill>
          <a:ln/>
        </p:spPr>
        <p:txBody>
          <a:bodyPr/>
          <a:p/>
        </p:txBody>
      </p:sp>
      <p:sp>
        <p:nvSpPr>
          <p:cNvPr id="235"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23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12 / 36</a:t>
            </a:r>
            <a:endParaRPr/>
          </a:p>
        </p:txBody>
      </p:sp>
    </p:spTree>
  </p:cSld>
</p:sld>
</file>

<file path=ppt/slides/slide13.xml><?xml version="1.0" encoding="utf-8"?>
<p:sld xmlns:p="http://schemas.openxmlformats.org/presentationml/2006/main" xmlns:a="http://schemas.openxmlformats.org/drawingml/2006/main">
  <p:cSld>
    <p:spTree>
      <p:nvGrpSpPr>
        <p:cNvPr id="237" name="" descr="&lt;Slide style={{ width: 1280, height: 720, background: '#0F1423' }}&gt;&#10;  &lt;Box style={{ position: 'absolute', left: 0, top: 0, width: 1280, height: 720, background: 'linear-gradient(135deg, #0F1423 0%, #2A1810 100%)' }} /&gt;&#10;  &lt;Box style={{ position: 'absolute', right: 0, top: 0, width: 560, height: 720, background: 'linear-gradient(200deg, rgba(250,79,36,0.28) 0%, rgba(250,79,36,0) 70%)' }} /&gt;&#10;&#10;  &lt;Box style={{ position: 'absolute', right: 70, top: 110 }}&gt;&#10;    &lt;Text style={{ fontSize: 290, fontWeight: 'bold', color: 'rgba(255,255,255,0.08)', lineHeight: 1.0 }}&gt;02&lt;/Text&gt;&#10;  &lt;/Box&gt;&#10;&#10;  &lt;Box style={{ position: 'absolute', left: 88, top: 236, width: 740, flexDirection: 'column' }}&gt;&#10;    &lt;Text style={{ fontSize: 15, color: 'rgba(255,255,255,0.5)', letterSpacing: 3 }}&gt;PART 02&lt;/Text&gt;&#10;    &lt;Box style={{ width: 72, height: 5, background: '#FA4F24', marginTop: 20 }} /&gt;&#10;    &lt;Text style={{ fontSize: 54, fontWeight: 'bold', color: '#FFFFFF', marginTop: 26, lineHeight: 1.15 }}&gt;阶段一：现状分析&lt;/Text&gt;&#10;    &lt;Text style={{ fontSize: 17, color: 'rgba(255,255,255,0.62)', letterSpacing: 2, marginTop: 18 }}&gt;CURRENT STATE DIAGNOSIS&lt;/Text&gt;&#10;    &lt;Text style={{ fontSize: 19, color: 'rgba(255,255,255,0.85)', marginTop: 24, lineHeight: 1.6 }}&gt;业务、数据、应用、技术四套现状框架，加一套追根方法，收口成一份《现状分析报告》&lt;/Text&gt;&#10;  &lt;/Box&gt;&#10;&#10;  &lt;Box style={{ position: 'absolute', left: 88, top: 524, flexDirection: 'row', gap: 30 }}&gt;&#10;    {[&#10;      { k: '四套框架', v: '业务/数据/应用/技术' },&#10;      { k: '五问追根', v: '追到组织与规则层' },&#10;      { k: '九部门', v: '分层访谈提纲' },&#10;      { k: '可追溯', v: '痛点↔根因编号对应' },&#10;      { k: '收口物', v: '现状分析报告' }&#10;    ].map((x) =&gt; (&#10;      &lt;Box key={x.k} style={{ opacity: 0.72 }}&gt;&#10;        &lt;Text style={{ fontSize: 12.5, color: '#FBA15C', fontWeight: 'bold' }}&gt;{x.k}&lt;/Text&gt;&#10;        &lt;Text style={{ fontSize: 12, color: 'rgba(255,255,255,0.8)', marginTop: 4 }}&gt;{x.v}&lt;/Text&gt;&#10;      &lt;/Box&gt;&#10;    ))}&#10;  &lt;/Box&gt;&#10;&#10;  &lt;Box style={{ position: 'absolute', right: 88, bottom: 60, flexDirection: 'row', alignItems: 'center', gap: 12 }}&gt;&#10;    &lt;Box style={{ width: 14, height: 14, background: '#FA4F24' }} /&gt;&#10;    &lt;Text style={{ fontSize: 14, color: 'rgba(255,255,255,0.5)' }}&gt;硕磐机密 · 利星能业务变革咨询方法论&lt;/Text&gt;&#10;    &lt;Text style={{ fontSize: 14, color: 'rgba(255,255,255,0.5)', marginLeft: 12 }}&gt;13 / 36&lt;/Text&gt;&#10;  &lt;/Box&gt;&#10;&lt;/Slide&gt;&#10;"/>
        <p:cNvGrpSpPr/>
        <p:nvPr/>
      </p:nvGrpSpPr>
      <p:grpSpPr>
        <a:xfrm>
          <a:off x="0" y="0"/>
          <a:ext cx="0" cy="0"/>
          <a:chOff x="0" y="0"/>
          <a:chExt cx="0" cy="0"/>
        </a:xfrm>
      </p:grpSpPr>
      <p:sp>
        <p:nvSpPr>
          <p:cNvPr id="238" name=""/>
          <p:cNvSpPr/>
          <p:nvPr/>
        </p:nvSpPr>
        <p:spPr>
          <a:xfrm rot="0" flipH="0" flipV="0">
            <a:off x="0" y="0"/>
            <a:ext cx="12192000" cy="6858000"/>
          </a:xfrm>
          <a:prstGeom prst="rect">
            <a:avLst/>
          </a:prstGeom>
          <a:solidFill>
            <a:srgbClr val="0F1423"/>
          </a:solidFill>
          <a:ln/>
        </p:spPr>
        <p:txBody>
          <a:bodyPr/>
          <a:p/>
        </p:txBody>
      </p:sp>
      <p:sp>
        <p:nvSpPr>
          <p:cNvPr id="239"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240"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241" name="" descr="{&quot;isTemplate&quot;:true,&quot;type&quot;:&quot;text&quot;}"/>
          <p:cNvSpPr txBox="1"/>
          <p:nvPr/>
        </p:nvSpPr>
        <p:spPr>
          <a:xfrm rot="0" flipH="0" flipV="0">
            <a:off x="8115300" y="1047750"/>
            <a:ext cx="3409950" cy="3314700"/>
          </a:xfrm>
          <a:prstGeom prst="rect"/>
        </p:spPr>
        <p:txBody>
          <a:bodyPr wrap="none" lIns="0" tIns="0" rIns="0" bIns="0"/>
          <a:p>
            <a:pPr>
              <a:lnSpc>
                <a:spcPct val="100000"/>
              </a:lnSpc>
            </a:pPr>
            <a:r>
              <a:rPr lang="en-US" sz="21750" b="1">
                <a:solidFill>
                  <a:srgbClr val="FFFFFF">
                    <a:alpha val="8000"/>
                  </a:srgbClr>
                </a:solidFill>
                <a:latin typeface="Microsoft YaHei"/>
                <a:ea typeface="Microsoft YaHei"/>
              </a:rPr>
              <a:t>02</a:t>
            </a:r>
            <a:endParaRPr/>
          </a:p>
        </p:txBody>
      </p:sp>
      <p:sp>
        <p:nvSpPr>
          <p:cNvPr id="242" name="" descr="{&quot;isTemplate&quot;:true,&quot;type&quot;:&quot;text&quot;}"/>
          <p:cNvSpPr txBox="1"/>
          <p:nvPr/>
        </p:nvSpPr>
        <p:spPr>
          <a:xfrm rot="0" flipH="0" flipV="0">
            <a:off x="838200" y="2247900"/>
            <a:ext cx="7048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02</a:t>
            </a:r>
            <a:endParaRPr/>
          </a:p>
        </p:txBody>
      </p:sp>
      <p:sp>
        <p:nvSpPr>
          <p:cNvPr id="243" name=""/>
          <p:cNvSpPr/>
          <p:nvPr/>
        </p:nvSpPr>
        <p:spPr>
          <a:xfrm rot="0" flipH="0" flipV="0">
            <a:off x="838200" y="2609850"/>
            <a:ext cx="685800" cy="47625"/>
          </a:xfrm>
          <a:prstGeom prst="rect">
            <a:avLst/>
          </a:prstGeom>
          <a:solidFill>
            <a:srgbClr val="FA4F24"/>
          </a:solidFill>
          <a:ln/>
        </p:spPr>
        <p:txBody>
          <a:bodyPr/>
          <a:p/>
        </p:txBody>
      </p:sp>
      <p:sp>
        <p:nvSpPr>
          <p:cNvPr id="244" name="" descr="{&quot;isTemplate&quot;:true,&quot;type&quot;:&quot;text&quot;}"/>
          <p:cNvSpPr txBox="1"/>
          <p:nvPr/>
        </p:nvSpPr>
        <p:spPr>
          <a:xfrm rot="0" flipH="0" flipV="0">
            <a:off x="838200" y="2905125"/>
            <a:ext cx="7048500" cy="714375"/>
          </a:xfrm>
          <a:prstGeom prst="rect"/>
        </p:spPr>
        <p:txBody>
          <a:bodyPr wrap="none" lIns="0" tIns="0" rIns="0" bIns="0"/>
          <a:p>
            <a:pPr>
              <a:lnSpc>
                <a:spcPct val="114999"/>
              </a:lnSpc>
            </a:pPr>
            <a:r>
              <a:rPr lang="zh-CN" sz="4050" b="1">
                <a:solidFill>
                  <a:srgbClr val="FFFFFF"/>
                </a:solidFill>
                <a:latin typeface="Microsoft YaHei"/>
                <a:ea typeface="Microsoft YaHei"/>
              </a:rPr>
              <a:t>阶段一：现状分析</a:t>
            </a:r>
            <a:endParaRPr/>
          </a:p>
        </p:txBody>
      </p:sp>
      <p:sp>
        <p:nvSpPr>
          <p:cNvPr id="245" name="" descr="{&quot;isTemplate&quot;:true,&quot;type&quot;:&quot;text&quot;}"/>
          <p:cNvSpPr txBox="1"/>
          <p:nvPr/>
        </p:nvSpPr>
        <p:spPr>
          <a:xfrm rot="0" flipH="0" flipV="0">
            <a:off x="838200" y="3790950"/>
            <a:ext cx="7048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CURRENT STATE DIAGNOSIS</a:t>
            </a:r>
            <a:endParaRPr/>
          </a:p>
        </p:txBody>
      </p:sp>
      <p:sp>
        <p:nvSpPr>
          <p:cNvPr id="246" name="" descr="{&quot;isTemplate&quot;:true,&quot;type&quot;:&quot;text&quot;}"/>
          <p:cNvSpPr txBox="1"/>
          <p:nvPr/>
        </p:nvSpPr>
        <p:spPr>
          <a:xfrm rot="0" flipH="0" flipV="0">
            <a:off x="838200" y="4219575"/>
            <a:ext cx="7048500" cy="695325"/>
          </a:xfrm>
          <a:prstGeom prst="rect"/>
        </p:spPr>
        <p:txBody>
          <a:bodyPr wrap="square" lIns="0" tIns="0" rIns="0" bIns="0">
            <a:normAutofit/>
          </a:bodyPr>
          <a:p>
            <a:pPr>
              <a:lnSpc>
                <a:spcPct val="160000"/>
              </a:lnSpc>
            </a:pPr>
            <a:r>
              <a:rPr lang="zh-CN" sz="1425">
                <a:solidFill>
                  <a:srgbClr val="FFFFFF">
                    <a:alpha val="85000"/>
                  </a:srgbClr>
                </a:solidFill>
                <a:latin typeface="Microsoft YaHei"/>
                <a:ea typeface="Microsoft YaHei"/>
              </a:rPr>
              <a:t>业务、数据、应用、技术四套现状框架，加一套追根方法，收口成一份《现状分析报告》</a:t>
            </a:r>
            <a:endParaRPr/>
          </a:p>
        </p:txBody>
      </p:sp>
      <p:sp>
        <p:nvSpPr>
          <p:cNvPr id="247" name="" descr="{&quot;isTemplate&quot;:true,&quot;type&quot;:&quot;text&quot;}"/>
          <p:cNvSpPr txBox="1"/>
          <p:nvPr/>
        </p:nvSpPr>
        <p:spPr>
          <a:xfrm rot="0" flipH="0" flipV="0">
            <a:off x="838200" y="4991100"/>
            <a:ext cx="1066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四套框架</a:t>
            </a:r>
            <a:endParaRPr/>
          </a:p>
        </p:txBody>
      </p:sp>
      <p:sp>
        <p:nvSpPr>
          <p:cNvPr id="248" name="" descr="{&quot;isTemplate&quot;:true,&quot;type&quot;:&quot;text&quot;}"/>
          <p:cNvSpPr txBox="1"/>
          <p:nvPr/>
        </p:nvSpPr>
        <p:spPr>
          <a:xfrm rot="0" flipH="0" flipV="0">
            <a:off x="838200" y="5172075"/>
            <a:ext cx="1066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业务</a:t>
            </a:r>
            <a:r>
              <a:rPr lang="en-US" sz="900">
                <a:solidFill>
                  <a:srgbClr val="FFFFFF">
                    <a:alpha val="57600"/>
                  </a:srgbClr>
                </a:solidFill>
                <a:latin typeface="Microsoft YaHei"/>
                <a:ea typeface="Microsoft YaHei"/>
              </a:rPr>
              <a:t>/</a:t>
            </a:r>
            <a:r>
              <a:rPr lang="zh-CN" sz="900">
                <a:solidFill>
                  <a:srgbClr val="FFFFFF">
                    <a:alpha val="57600"/>
                  </a:srgbClr>
                </a:solidFill>
                <a:latin typeface="Microsoft YaHei"/>
                <a:ea typeface="Microsoft YaHei"/>
              </a:rPr>
              <a:t>数据</a:t>
            </a:r>
            <a:r>
              <a:rPr lang="en-US" sz="900">
                <a:solidFill>
                  <a:srgbClr val="FFFFFF">
                    <a:alpha val="57600"/>
                  </a:srgbClr>
                </a:solidFill>
                <a:latin typeface="Microsoft YaHei"/>
                <a:ea typeface="Microsoft YaHei"/>
              </a:rPr>
              <a:t>/</a:t>
            </a:r>
            <a:r>
              <a:rPr lang="zh-CN" sz="900">
                <a:solidFill>
                  <a:srgbClr val="FFFFFF">
                    <a:alpha val="57600"/>
                  </a:srgbClr>
                </a:solidFill>
                <a:latin typeface="Microsoft YaHei"/>
                <a:ea typeface="Microsoft YaHei"/>
              </a:rPr>
              <a:t>应用</a:t>
            </a:r>
            <a:r>
              <a:rPr lang="en-US" sz="900">
                <a:solidFill>
                  <a:srgbClr val="FFFFFF">
                    <a:alpha val="57600"/>
                  </a:srgbClr>
                </a:solidFill>
                <a:latin typeface="Microsoft YaHei"/>
                <a:ea typeface="Microsoft YaHei"/>
              </a:rPr>
              <a:t>/</a:t>
            </a:r>
            <a:r>
              <a:rPr lang="zh-CN" sz="900">
                <a:solidFill>
                  <a:srgbClr val="FFFFFF">
                    <a:alpha val="57600"/>
                  </a:srgbClr>
                </a:solidFill>
                <a:latin typeface="Microsoft YaHei"/>
                <a:ea typeface="Microsoft YaHei"/>
              </a:rPr>
              <a:t>技术</a:t>
            </a:r>
            <a:endParaRPr/>
          </a:p>
        </p:txBody>
      </p:sp>
      <p:sp>
        <p:nvSpPr>
          <p:cNvPr id="249" name="" descr="{&quot;isTemplate&quot;:true,&quot;type&quot;:&quot;text&quot;}"/>
          <p:cNvSpPr txBox="1"/>
          <p:nvPr/>
        </p:nvSpPr>
        <p:spPr>
          <a:xfrm rot="0" flipH="0" flipV="0">
            <a:off x="2190750" y="4991100"/>
            <a:ext cx="9144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五问追根</a:t>
            </a:r>
            <a:endParaRPr/>
          </a:p>
        </p:txBody>
      </p:sp>
      <p:sp>
        <p:nvSpPr>
          <p:cNvPr id="250" name="" descr="{&quot;isTemplate&quot;:true,&quot;type&quot;:&quot;text&quot;}"/>
          <p:cNvSpPr txBox="1"/>
          <p:nvPr/>
        </p:nvSpPr>
        <p:spPr>
          <a:xfrm rot="0" flipH="0" flipV="0">
            <a:off x="2190750" y="5172075"/>
            <a:ext cx="9144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追到组织与规则层</a:t>
            </a:r>
            <a:endParaRPr/>
          </a:p>
        </p:txBody>
      </p:sp>
      <p:sp>
        <p:nvSpPr>
          <p:cNvPr id="251" name="" descr="{&quot;isTemplate&quot;:true,&quot;type&quot;:&quot;text&quot;}"/>
          <p:cNvSpPr txBox="1"/>
          <p:nvPr/>
        </p:nvSpPr>
        <p:spPr>
          <a:xfrm rot="0" flipH="0" flipV="0">
            <a:off x="3390900" y="4991100"/>
            <a:ext cx="685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九部门</a:t>
            </a:r>
            <a:endParaRPr/>
          </a:p>
        </p:txBody>
      </p:sp>
      <p:sp>
        <p:nvSpPr>
          <p:cNvPr id="252" name="" descr="{&quot;isTemplate&quot;:true,&quot;type&quot;:&quot;text&quot;}"/>
          <p:cNvSpPr txBox="1"/>
          <p:nvPr/>
        </p:nvSpPr>
        <p:spPr>
          <a:xfrm rot="0" flipH="0" flipV="0">
            <a:off x="3390900" y="5172075"/>
            <a:ext cx="685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分层访谈提纲</a:t>
            </a:r>
            <a:endParaRPr/>
          </a:p>
        </p:txBody>
      </p:sp>
      <p:sp>
        <p:nvSpPr>
          <p:cNvPr id="253" name="" descr="{&quot;isTemplate&quot;:true,&quot;type&quot;:&quot;text&quot;}"/>
          <p:cNvSpPr txBox="1"/>
          <p:nvPr/>
        </p:nvSpPr>
        <p:spPr>
          <a:xfrm rot="0" flipH="0" flipV="0">
            <a:off x="4362450" y="4991100"/>
            <a:ext cx="1019175"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可追溯</a:t>
            </a:r>
            <a:endParaRPr/>
          </a:p>
        </p:txBody>
      </p:sp>
      <p:sp>
        <p:nvSpPr>
          <p:cNvPr id="254" name="" descr="{&quot;isTemplate&quot;:true,&quot;type&quot;:&quot;text&quot;}"/>
          <p:cNvSpPr txBox="1"/>
          <p:nvPr/>
        </p:nvSpPr>
        <p:spPr>
          <a:xfrm rot="0" flipH="0" flipV="0">
            <a:off x="4362450" y="5172075"/>
            <a:ext cx="1019175"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痛点↔根因编号对应</a:t>
            </a:r>
            <a:endParaRPr/>
          </a:p>
        </p:txBody>
      </p:sp>
      <p:sp>
        <p:nvSpPr>
          <p:cNvPr id="255" name="" descr="{&quot;isTemplate&quot;:true,&quot;type&quot;:&quot;text&quot;}"/>
          <p:cNvSpPr txBox="1"/>
          <p:nvPr/>
        </p:nvSpPr>
        <p:spPr>
          <a:xfrm rot="0" flipH="0" flipV="0">
            <a:off x="5667375" y="4991100"/>
            <a:ext cx="685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收口物</a:t>
            </a:r>
            <a:endParaRPr/>
          </a:p>
        </p:txBody>
      </p:sp>
      <p:sp>
        <p:nvSpPr>
          <p:cNvPr id="256" name="" descr="{&quot;isTemplate&quot;:true,&quot;type&quot;:&quot;text&quot;}"/>
          <p:cNvSpPr txBox="1"/>
          <p:nvPr/>
        </p:nvSpPr>
        <p:spPr>
          <a:xfrm rot="0" flipH="0" flipV="0">
            <a:off x="5667375" y="5172075"/>
            <a:ext cx="685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现状分析报告</a:t>
            </a:r>
            <a:endParaRPr/>
          </a:p>
        </p:txBody>
      </p:sp>
      <p:sp>
        <p:nvSpPr>
          <p:cNvPr id="257" name=""/>
          <p:cNvSpPr/>
          <p:nvPr/>
        </p:nvSpPr>
        <p:spPr>
          <a:xfrm rot="0" flipH="0" flipV="0">
            <a:off x="8172450" y="6143625"/>
            <a:ext cx="133350" cy="133350"/>
          </a:xfrm>
          <a:prstGeom prst="rect">
            <a:avLst/>
          </a:prstGeom>
          <a:solidFill>
            <a:srgbClr val="FA4F24"/>
          </a:solidFill>
          <a:ln/>
        </p:spPr>
        <p:txBody>
          <a:bodyPr/>
          <a:p/>
        </p:txBody>
      </p:sp>
      <p:sp>
        <p:nvSpPr>
          <p:cNvPr id="258" name="" descr="{&quot;isTemplate&quot;:true,&quot;type&quot;:&quot;text&quot;}"/>
          <p:cNvSpPr txBox="1"/>
          <p:nvPr/>
        </p:nvSpPr>
        <p:spPr>
          <a:xfrm rot="0" flipH="0" flipV="0">
            <a:off x="8420100" y="6124575"/>
            <a:ext cx="224790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利星能业务变革咨询方法论</a:t>
            </a:r>
            <a:endParaRPr/>
          </a:p>
        </p:txBody>
      </p:sp>
      <p:sp>
        <p:nvSpPr>
          <p:cNvPr id="259" name="" descr="{&quot;isTemplate&quot;:true,&quot;type&quot;:&quot;text&quot;}"/>
          <p:cNvSpPr txBox="1"/>
          <p:nvPr/>
        </p:nvSpPr>
        <p:spPr>
          <a:xfrm rot="0" flipH="0" flipV="0">
            <a:off x="10896600" y="61245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13 / 36</a:t>
            </a:r>
            <a:endParaRPr/>
          </a:p>
        </p:txBody>
      </p:sp>
    </p:spTree>
  </p:cSld>
</p:sld>
</file>

<file path=ppt/slides/slide14.xml><?xml version="1.0" encoding="utf-8"?>
<p:sld xmlns:p="http://schemas.openxmlformats.org/presentationml/2006/main" xmlns:a="http://schemas.openxmlformats.org/drawingml/2006/main">
  <p:cSld>
    <p:spTree>
      <p:nvGrpSpPr>
        <p:cNvPr id="260" name="" descr="&lt;Slide style={{ width: 1280, height: 720, background: '#FFFFFF', padding: '24px 64px 0' }}&gt;&#13;&#10;    {/* A 区 */}&#13;&#10;    &lt;Box style={{ height: 96, flexDirection: 'column', justifyContent: 'flex-start' }}&gt;&#13;&#10;        &lt;Text style={{ fontSize: 32, fontWeight: 'bold', color: '#0F1423' }}&gt;&#13;&#10;            阶段一 Approach：&lt;span style={{ color: '#FA4F24' }}&gt;调研 → 诊断 → 追根 → 定方向&lt;/span&gt;&#13;&#10;        &lt;/Text&gt;&#13;&#10;        &lt;Text style={{ fontSize: 19, color: '#8A8F99', marginTop: 7 }}&gt;&#13;&#10;            这一阶段最容易做成「一堆问题清单」，四个动作各有明确的产出物，防止跑偏&#13;&#10;        &lt;/Text&gt;&#13;&#10;    &lt;/Box&gt;&#13;&#10;    &lt;Box style={{ height: 1, background: '#E8E8E8' }} /&gt;&#13;&#10;&#13;&#10;    {/* B 区 */}&#13;&#10;    &lt;Box style={{ paddingTop: 10, paddingBottom: 6, height: 479, flexDirection: 'column', gap: 8 }}&gt;&#13;&#10;&#13;&#10;        {/* 四动作链条 */}&#13;&#10;        &lt;Box style={{ height: 190, flexDirection: 'row', gap: 6 }}&gt;&#13;&#10;            {[&#13;&#10;                {&#13;&#10;                    n: '01', t: '调研摸底', days: '方法动作', c: '#FA4F24',&#13;&#10;                    pts: ['九部门分层访谈：决策层问经营结果、管理层问权责、骨干层问例外', '现场收集单据台账、岗位说明书、系统清单、指标现有口径', '按 E1–E5 / S1–S2 七个业务块逐块走一遍，不跳块'],&#13;&#10;                    out: '调研记录（含对象/时间/议题）',                },&#13;&#10;                {&#13;&#10;                    n: '02', t: '三维度诊断', days: '方法动作', c: '#E0641E',&#13;&#10;                    pts: ['业务维度：流程数量、单据台账、岗位角色现状盘点', '数据维度：系统数据对象、主数据现状、指标口径与取数方式', '系统维度：应用清单、集成现状、基础设施与 AI 技术就绪度'],&#13;&#10;                    out: '痛点清单（编号 + 证据）',&#13;&#10;                },&#13;&#10;                {&#13;&#10;                    n: '03', t: '五问追根', days: '方法动作', c: '#C43A17',&#13;&#10;                    pts: ['每条痛点连续追问五次，直到落到组织、规则、权责层面', '追不到根因的痛点标记为「现象待观察」，不进变更建议', '跨部门痛点强制做归因，确认到底卡在谁的权责上'],&#13;&#10;                    out: '痛点↔根因逐项对应表',&#13;&#10;                },&#13;&#10;                {&#13;&#10;                    n: '04', t: '定改进方向', days: '方法动作', c: '#9E3410',&#13;&#10;                    pts: ['按业务价值与实现难度给每条方向排优先级', '标出跨块依赖：哪些方向不解决就白做', '明确本项目不建议碰的部分及原因'],&#13;&#10;                    out: '改进方向与优先级清单',&#13;&#10;                },&#13;&#10;            ].map((g) =&gt; (&#13;&#10;                &lt;Box key={g.n} style={{ flex: 1, background: '#F7F7F8', borderRadius: 4, borderTop: '3px solid ' + g.c, padding: '11px 12px', flexDirection: 'column' }}&gt;&#13;&#10;                    &lt;Box style={{ flexDirection: 'row', alignItems: 'center', gap: 7 }}&gt;&#13;&#10;                        &lt;Text style={{ fontSize: 15, fontWeight: 'bold', color: g.c }}&gt;{g.n}&lt;/Text&gt;&#13;&#10;                        &lt;Text style={{ fontSize: 14.5, fontWeight: 'bold', color: '#0F1423', flex: 1 }}&gt;{g.t}&lt;/Text&gt;&#13;&#10;                    &lt;/Box&gt;&#13;&#10;                    &lt;Box style={{ flex: 1, flexDirection: 'column', gap: 6, marginTop: 8 }}&gt;&#13;&#10;                        {g.pts.map((p) =&gt; (&#13;&#10;                            &lt;Box key={p} style={{ flexDirection: 'row', alignItems: 'flex-start', gap: 6, flex: 1 }}&gt;&#13;&#10;                                &lt;Text style={{ fontSize: 10, color: g.c, fontWeight: 'bold' }}&gt;▪&lt;/Text&gt;&#13;&#10;                                &lt;Text style={{ fontSize: 10.5, color: '#3A4050', lineHeight: 1.35, flex: 1 }}&gt;{p}&lt;/Text&gt;&#13;&#10;                            &lt;/Box&gt;&#13;&#10;                        ))}&#13;&#10;                    &lt;/Box&gt;&#13;&#10;                    &lt;Box style={{ height: 28, background: g.c, borderRadius: 3, padding: '0 10px', flexDirection: 'column', justifyContent: 'center' }}&gt;&#13;&#10;                        &lt;Text style={{ fontSize: 10, color: 'rgba(255,255,255,0.85)' }}&gt;产出&lt;/Text&gt;&#13;&#10;                        &lt;Text style={{ fontSize: 10.5, fontWeight: 'bold', color: '#FFFFFF' }}&gt;{g.out}&lt;/Text&gt;&#13;&#10;                    &lt;/Box&gt;&#13;&#10;                &lt;/Box&gt;&#13;&#10;            ))}&#13;&#10;        &lt;/Box&gt;&#13;&#10;&#13;&#10;        {/* 中：五问追根示意 */}&#13;&#10;        &lt;Box style={{ flex: 1, flexDirection: 'row', gap: 9, alignItems: 'stretch' }}&gt;&#13;&#10;            &lt;Box style={{ width: 570, background: '#0F1423', borderRadius: 4, padding: '13px 16px', flexDirection: 'column' }}&gt;&#13;&#10;                &lt;Text style={{ fontSize: 12, color: '#FBA15C', letterSpacing: 1 }}&gt;五问追根：这页是本阶段最核心的动作&lt;/Text&gt;&#13;&#10;                {[&#13;&#10;                    { q: '第 1 问', d: '这个痛点表现在哪里？（要具体到某张表、某个环节、某个数字）' },&#13;&#10;                    { q: '第 2 问', d: '为什么会这样？（追问到规则层面，不是「因为人不够」）' },&#13;&#10;                    { q: '第 3 问', d: '这条规则是谁定的？什么时候定的？还合用吗？' },&#13;&#10;                    { q: '第 4 问', d: '如果改这条规则，会动到谁的权责？（跨部门影响在这里暴露）' },&#13;&#10;                    { q: '第 5 问', d: '不改这条规则，后果由谁承担？（找到真正的压力来源）' },&#13;&#10;                ].map((x, i) =&gt; (&#13;&#10;                    &lt;Box key={x.q} style={{ flexDirection: 'row', alignItems: 'center', gap: 9, flex: 1, marginTop: i === 0 ? 9 : 4 }}&gt;&#13;&#10;                        &lt;Text style={{ fontSize: 11, fontWeight: 'bold', color: '#FA4F24', width: 42 }}&gt;{x.q}&lt;/Text&gt;&#13;&#10;                        &lt;Text style={{ fontSize: 11.5, color: 'rgba(255,255,255,0.88)', flex: 1, lineHeight: 1.3 }}&gt;{x.d}&lt;/Text&gt;&#13;&#10;                    &lt;/Box&gt;&#13;&#10;                ))}&#13;&#10;            &lt;/Box&gt;&#13;&#10;            &lt;Box style={{ flex: 1, background: '#FFF3EE', borderRadius: 4, borderLeft: '4px solid #FA4F24', padding: '13px 16px', flexDirection: 'column', justifyContent: 'center' }}&gt;&#13;&#10;                &lt;Text style={{ fontSize: 12.5, fontWeight: 'bold', color: '#C43A17' }}&gt;为什么必须追到第五层&lt;/Text&gt;&#13;&#10;                &lt;Text style={{ fontSize: 11.5, color: '#3A4050', lineHeight: 1.5, marginTop: 7 }}&gt;&#13;&#10;                    只问到第二层，得到的是系统需求；问到第五层，得到的才是变革建议。能源项目里大量痛点最终落在「权责划分」上 —— 谁对投资回报负责、谁对资产保值负责，追不到这一层，补再多系统也没用。&#13;&#10;                &lt;/Text&gt;&#13;&#10;                &lt;Text style={{ fontSize: 11.5, fontWeight: 'bold', color: '#C43A17', marginTop: 8, lineHeight: 1.4 }}&gt;&#13;&#10;                    追不到根因的痛点不是删掉，是标记为「现象待观察」——写进报告但不下结论，避免在评审时被迫二选一。&#13;&#10;                &lt;/Text&gt;&#13;&#10;            &lt;/Box&gt;&#13;&#10;        &lt;/Box&gt;&#13;&#10;&#13;&#10;        {/* 下 */}&#13;&#10;        &lt;Box style={{ height: 38, background: '#F7F7F8', borderRadius: 4, borderLeft: '4px solid #FA4F24', padding: '0 16px', flexDirection: 'row', alignItems: 'center', gap: 14 }}&gt;&#13;&#10;            &lt;Text style={{ fontSize: 12.5, fontWeight: 'bold', color: '#C43A17', width: 128 }}&gt;阶段一收口&lt;/Text&gt;&#13;&#10;            &lt;Text style={{ fontSize: 11.5, color: '#0F1423', flex: 1, lineHeight: 1.3 }}&gt;&#13;&#10;                《现状分析报告》= 调研概况与访谈记录 + 业务/数据/系统三维度诊断 + 痛点与根因逐项对应 + 现状数据盘点（流程数量、单据台账、岗位角色、系统数据对象、关键指标口径与取数方式）+ 改进方向与优先级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14 / 36&lt;/Text&gt;&#13;&#10;    &lt;/Box&gt;&#13;&#10;&lt;/Slide&gt;&#13;&#10;"/>
        <p:cNvGrpSpPr/>
        <p:nvPr/>
      </p:nvGrpSpPr>
      <p:grpSpPr>
        <a:xfrm>
          <a:off x="0" y="0"/>
          <a:ext cx="0" cy="0"/>
          <a:chOff x="0" y="0"/>
          <a:chExt cx="0" cy="0"/>
        </a:xfrm>
      </p:grpSpPr>
      <p:sp>
        <p:nvSpPr>
          <p:cNvPr id="261" name=""/>
          <p:cNvSpPr/>
          <p:nvPr/>
        </p:nvSpPr>
        <p:spPr>
          <a:xfrm rot="0" flipH="0" flipV="0">
            <a:off x="0" y="0"/>
            <a:ext cx="12192000" cy="6858000"/>
          </a:xfrm>
          <a:prstGeom prst="rect">
            <a:avLst/>
          </a:prstGeom>
          <a:solidFill>
            <a:srgbClr val="FFFFFF"/>
          </a:solidFill>
          <a:ln/>
        </p:spPr>
        <p:txBody>
          <a:bodyPr/>
          <a:p/>
        </p:txBody>
      </p:sp>
      <p:sp>
        <p:nvSpPr>
          <p:cNvPr id="262"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阶段一</a:t>
            </a:r>
            <a:r>
              <a:rPr lang="en-US" sz="2400" b="1">
                <a:solidFill>
                  <a:srgbClr val="0F1423"/>
                </a:solidFill>
                <a:latin typeface="Microsoft YaHei"/>
                <a:ea typeface="Microsoft YaHei"/>
              </a:rPr>
              <a:t xml:space="preserve"> Approach</a:t>
            </a:r>
            <a:r>
              <a:rPr lang="zh-CN" sz="2400" b="1">
                <a:solidFill>
                  <a:srgbClr val="0F1423"/>
                </a:solidFill>
                <a:latin typeface="Microsoft YaHei"/>
                <a:ea typeface="Microsoft YaHei"/>
              </a:rPr>
              <a:t>：</a:t>
            </a:r>
            <a:r>
              <a:rPr lang="zh-CN" sz="2400" b="1">
                <a:solidFill>
                  <a:srgbClr val="FA4F24"/>
                </a:solidFill>
                <a:latin typeface="Microsoft YaHei"/>
                <a:ea typeface="Microsoft YaHei"/>
              </a:rPr>
              <a:t>调研</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诊断</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追根</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定方向</a:t>
            </a:r>
            <a:endParaRPr/>
          </a:p>
        </p:txBody>
      </p:sp>
      <p:sp>
        <p:nvSpPr>
          <p:cNvPr id="263"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这一阶段最容易做成「一堆问题清单」，四个动作各有明确的产出物，防止跑偏</a:t>
            </a:r>
            <a:endParaRPr/>
          </a:p>
        </p:txBody>
      </p:sp>
      <p:sp>
        <p:nvSpPr>
          <p:cNvPr id="264" name=""/>
          <p:cNvSpPr/>
          <p:nvPr/>
        </p:nvSpPr>
        <p:spPr>
          <a:xfrm rot="0" flipH="0" flipV="0">
            <a:off x="609600" y="1143000"/>
            <a:ext cx="10972800" cy="9525"/>
          </a:xfrm>
          <a:prstGeom prst="rect">
            <a:avLst/>
          </a:prstGeom>
          <a:solidFill>
            <a:srgbClr val="E8E8E8"/>
          </a:solidFill>
          <a:ln/>
        </p:spPr>
        <p:txBody>
          <a:bodyPr/>
          <a:p/>
        </p:txBody>
      </p:sp>
      <p:sp>
        <p:nvSpPr>
          <p:cNvPr id="265" name=""/>
          <p:cNvSpPr/>
          <p:nvPr/>
        </p:nvSpPr>
        <p:spPr>
          <a:xfrm rot="0" flipH="0" flipV="0">
            <a:off x="609600" y="1276350"/>
            <a:ext cx="2705100" cy="1809750"/>
          </a:xfrm>
          <a:prstGeom prst="roundRect">
            <a:avLst>
              <a:gd name="adj" fmla="val 2105"/>
            </a:avLst>
          </a:prstGeom>
          <a:solidFill>
            <a:srgbClr val="F7F7F8"/>
          </a:solidFill>
          <a:ln/>
        </p:spPr>
        <p:txBody>
          <a:bodyPr/>
          <a:p/>
        </p:txBody>
      </p:sp>
      <p:sp>
        <p:nvSpPr>
          <p:cNvPr id="266" name=""/>
          <p:cNvSpPr/>
          <p:nvPr/>
        </p:nvSpPr>
        <p:spPr>
          <a:xfrm rot="0" flipH="0" flipV="0">
            <a:off x="609600" y="1276350"/>
            <a:ext cx="2705100" cy="1809750"/>
          </a:xfrm>
          <a:custGeom>
            <a:pathLst>
              <a:path w="284" h="190">
                <a:moveTo>
                  <a:pt x="280" y="0"/>
                </a:moveTo>
                <a:cubicBezTo>
                  <a:pt x="282" y="0"/>
                  <a:pt x="284" y="2"/>
                  <a:pt x="284" y="4"/>
                </a:cubicBezTo>
                <a:cubicBezTo>
                  <a:pt x="284" y="3"/>
                  <a:pt x="283" y="3"/>
                  <a:pt x="283" y="3"/>
                </a:cubicBezTo>
                <a:lnTo>
                  <a:pt x="1" y="3"/>
                </a:lnTo>
                <a:cubicBezTo>
                  <a:pt x="1" y="3"/>
                  <a:pt x="0" y="3"/>
                  <a:pt x="0" y="4"/>
                </a:cubicBezTo>
                <a:cubicBezTo>
                  <a:pt x="0" y="2"/>
                  <a:pt x="2" y="0"/>
                  <a:pt x="4" y="0"/>
                </a:cubicBezTo>
                <a:lnTo>
                  <a:pt x="280" y="0"/>
                </a:lnTo>
                <a:close/>
              </a:path>
            </a:pathLst>
          </a:custGeom>
          <a:solidFill>
            <a:srgbClr val="FA4F24"/>
          </a:solidFill>
          <a:ln/>
        </p:spPr>
        <p:txBody>
          <a:bodyPr/>
          <a:p/>
        </p:txBody>
      </p:sp>
      <p:sp>
        <p:nvSpPr>
          <p:cNvPr id="267" name="" descr="{&quot;isTemplate&quot;:true,&quot;type&quot;:&quot;text&quot;}"/>
          <p:cNvSpPr txBox="1"/>
          <p:nvPr/>
        </p:nvSpPr>
        <p:spPr>
          <a:xfrm rot="0" flipH="0" flipV="0">
            <a:off x="723900" y="1381125"/>
            <a:ext cx="180975" cy="171450"/>
          </a:xfrm>
          <a:prstGeom prst="rect"/>
        </p:spPr>
        <p:txBody>
          <a:bodyPr wrap="none" lIns="0" tIns="0" rIns="0" bIns="0"/>
          <a:p>
            <a:pPr>
              <a:lnSpc>
                <a:spcPct val="100000"/>
              </a:lnSpc>
            </a:pPr>
            <a:r>
              <a:rPr lang="en-US" sz="1125" b="1">
                <a:solidFill>
                  <a:srgbClr val="FA4F24"/>
                </a:solidFill>
                <a:latin typeface="Microsoft YaHei"/>
                <a:ea typeface="Microsoft YaHei"/>
              </a:rPr>
              <a:t>01</a:t>
            </a:r>
            <a:endParaRPr/>
          </a:p>
        </p:txBody>
      </p:sp>
      <p:sp>
        <p:nvSpPr>
          <p:cNvPr id="268" name="" descr="{&quot;isTemplate&quot;:true,&quot;type&quot;:&quot;text&quot;}"/>
          <p:cNvSpPr txBox="1"/>
          <p:nvPr/>
        </p:nvSpPr>
        <p:spPr>
          <a:xfrm rot="0" flipH="0" flipV="0">
            <a:off x="971550" y="1381125"/>
            <a:ext cx="2228850" cy="171450"/>
          </a:xfrm>
          <a:prstGeom prst="rect"/>
        </p:spPr>
        <p:txBody>
          <a:bodyPr wrap="none" lIns="0" tIns="0" rIns="0" bIns="0"/>
          <a:p>
            <a:pPr>
              <a:lnSpc>
                <a:spcPct val="100000"/>
              </a:lnSpc>
            </a:pPr>
            <a:r>
              <a:rPr lang="zh-CN" sz="1088" b="1">
                <a:solidFill>
                  <a:srgbClr val="0F1423"/>
                </a:solidFill>
                <a:latin typeface="Microsoft YaHei"/>
                <a:ea typeface="Microsoft YaHei"/>
              </a:rPr>
              <a:t>调研摸底</a:t>
            </a:r>
            <a:endParaRPr/>
          </a:p>
        </p:txBody>
      </p:sp>
      <p:sp>
        <p:nvSpPr>
          <p:cNvPr id="269" name="" descr="{&quot;isTemplate&quot;:true,&quot;type&quot;:&quot;text&quot;}"/>
          <p:cNvSpPr txBox="1"/>
          <p:nvPr/>
        </p:nvSpPr>
        <p:spPr>
          <a:xfrm rot="0" flipH="0" flipV="0">
            <a:off x="723900" y="1628775"/>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270" name="" descr="{&quot;isTemplate&quot;:true,&quot;type&quot;:&quot;text&quot;}"/>
          <p:cNvSpPr txBox="1"/>
          <p:nvPr/>
        </p:nvSpPr>
        <p:spPr>
          <a:xfrm rot="0" flipH="0" flipV="0">
            <a:off x="819150" y="1628775"/>
            <a:ext cx="23812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九部门分层访谈：决策层问经营结果、管理层问权责、骨干层问例外</a:t>
            </a:r>
            <a:endParaRPr/>
          </a:p>
        </p:txBody>
      </p:sp>
      <p:sp>
        <p:nvSpPr>
          <p:cNvPr id="271" name="" descr="{&quot;isTemplate&quot;:true,&quot;type&quot;:&quot;text&quot;}"/>
          <p:cNvSpPr txBox="1"/>
          <p:nvPr/>
        </p:nvSpPr>
        <p:spPr>
          <a:xfrm rot="0" flipH="0" flipV="0">
            <a:off x="723900" y="205740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272" name="" descr="{&quot;isTemplate&quot;:true,&quot;type&quot;:&quot;text&quot;}"/>
          <p:cNvSpPr txBox="1"/>
          <p:nvPr/>
        </p:nvSpPr>
        <p:spPr>
          <a:xfrm rot="0" flipH="0" flipV="0">
            <a:off x="819150" y="2057400"/>
            <a:ext cx="23812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现场收集单据台账、岗位说明书、系统清单、指标现有口径</a:t>
            </a:r>
            <a:endParaRPr/>
          </a:p>
        </p:txBody>
      </p:sp>
      <p:sp>
        <p:nvSpPr>
          <p:cNvPr id="273" name="" descr="{&quot;isTemplate&quot;:true,&quot;type&quot;:&quot;text&quot;}"/>
          <p:cNvSpPr txBox="1"/>
          <p:nvPr/>
        </p:nvSpPr>
        <p:spPr>
          <a:xfrm rot="0" flipH="0" flipV="0">
            <a:off x="723900" y="247650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274" name="" descr="{&quot;isTemplate&quot;:true,&quot;type&quot;:&quot;text&quot;}"/>
          <p:cNvSpPr txBox="1"/>
          <p:nvPr/>
        </p:nvSpPr>
        <p:spPr>
          <a:xfrm rot="0" flipH="0" flipV="0">
            <a:off x="819150" y="2476500"/>
            <a:ext cx="2381250" cy="171450"/>
          </a:xfrm>
          <a:prstGeom prst="rect"/>
        </p:spPr>
        <p:txBody>
          <a:bodyPr wrap="none" lIns="0" tIns="0" rIns="0" bIns="0"/>
          <a:p>
            <a:pPr>
              <a:lnSpc>
                <a:spcPct val="135000"/>
              </a:lnSpc>
            </a:pPr>
            <a:r>
              <a:rPr lang="zh-CN" sz="788">
                <a:solidFill>
                  <a:srgbClr val="3A4050"/>
                </a:solidFill>
                <a:latin typeface="Microsoft YaHei"/>
                <a:ea typeface="Microsoft YaHei"/>
              </a:rPr>
              <a:t>按</a:t>
            </a:r>
            <a:r>
              <a:rPr lang="en-US" sz="788">
                <a:solidFill>
                  <a:srgbClr val="3A4050"/>
                </a:solidFill>
                <a:latin typeface="Microsoft YaHei"/>
                <a:ea typeface="Microsoft YaHei"/>
              </a:rPr>
              <a:t xml:space="preserve"> E1–E5 / S1–S2 </a:t>
            </a:r>
            <a:r>
              <a:rPr lang="zh-CN" sz="788">
                <a:solidFill>
                  <a:srgbClr val="3A4050"/>
                </a:solidFill>
                <a:latin typeface="Microsoft YaHei"/>
                <a:ea typeface="Microsoft YaHei"/>
              </a:rPr>
              <a:t>七个业务块逐块走一遍，不跳块</a:t>
            </a:r>
            <a:endParaRPr/>
          </a:p>
        </p:txBody>
      </p:sp>
      <p:sp>
        <p:nvSpPr>
          <p:cNvPr id="275" name=""/>
          <p:cNvSpPr/>
          <p:nvPr/>
        </p:nvSpPr>
        <p:spPr>
          <a:xfrm rot="0" flipH="0" flipV="0">
            <a:off x="723900" y="2686050"/>
            <a:ext cx="2476500" cy="266700"/>
          </a:xfrm>
          <a:prstGeom prst="roundRect">
            <a:avLst>
              <a:gd name="adj" fmla="val 10714"/>
            </a:avLst>
          </a:prstGeom>
          <a:solidFill>
            <a:srgbClr val="FA4F24"/>
          </a:solidFill>
          <a:ln/>
        </p:spPr>
        <p:txBody>
          <a:bodyPr/>
          <a:p/>
        </p:txBody>
      </p:sp>
      <p:sp>
        <p:nvSpPr>
          <p:cNvPr id="276" name="" descr="{&quot;isTemplate&quot;:true,&quot;type&quot;:&quot;text&quot;}"/>
          <p:cNvSpPr txBox="1"/>
          <p:nvPr/>
        </p:nvSpPr>
        <p:spPr>
          <a:xfrm rot="0" flipH="0" flipV="0">
            <a:off x="819150" y="2705100"/>
            <a:ext cx="2286000" cy="114300"/>
          </a:xfrm>
          <a:prstGeom prst="rect"/>
        </p:spPr>
        <p:txBody>
          <a:bodyPr wrap="none" lIns="0" tIns="0" rIns="0" bIns="0"/>
          <a:p>
            <a:pPr>
              <a:lnSpc>
                <a:spcPct val="100000"/>
              </a:lnSpc>
            </a:pPr>
            <a:r>
              <a:rPr lang="zh-CN" sz="750">
                <a:solidFill>
                  <a:srgbClr val="FFFFFF">
                    <a:alpha val="85000"/>
                  </a:srgbClr>
                </a:solidFill>
                <a:latin typeface="Microsoft YaHei"/>
                <a:ea typeface="Microsoft YaHei"/>
              </a:rPr>
              <a:t>产出</a:t>
            </a:r>
            <a:endParaRPr/>
          </a:p>
        </p:txBody>
      </p:sp>
      <p:sp>
        <p:nvSpPr>
          <p:cNvPr id="277" name="" descr="{&quot;isTemplate&quot;:true,&quot;type&quot;:&quot;text&quot;}"/>
          <p:cNvSpPr txBox="1"/>
          <p:nvPr/>
        </p:nvSpPr>
        <p:spPr>
          <a:xfrm rot="0" flipH="0" flipV="0">
            <a:off x="819150" y="2819400"/>
            <a:ext cx="2286000" cy="123825"/>
          </a:xfrm>
          <a:prstGeom prst="rect"/>
        </p:spPr>
        <p:txBody>
          <a:bodyPr wrap="none" lIns="0" tIns="0" rIns="0" bIns="0"/>
          <a:p>
            <a:pPr>
              <a:lnSpc>
                <a:spcPct val="100000"/>
              </a:lnSpc>
            </a:pPr>
            <a:r>
              <a:rPr lang="zh-CN" sz="788" b="1">
                <a:solidFill>
                  <a:srgbClr val="FFFFFF"/>
                </a:solidFill>
                <a:latin typeface="Microsoft YaHei"/>
                <a:ea typeface="Microsoft YaHei"/>
              </a:rPr>
              <a:t>调研记录（含对象</a:t>
            </a:r>
            <a:r>
              <a:rPr lang="en-US" sz="788" b="1">
                <a:solidFill>
                  <a:srgbClr val="FFFFFF"/>
                </a:solidFill>
                <a:latin typeface="Microsoft YaHei"/>
                <a:ea typeface="Microsoft YaHei"/>
              </a:rPr>
              <a:t>/</a:t>
            </a:r>
            <a:r>
              <a:rPr lang="zh-CN" sz="788" b="1">
                <a:solidFill>
                  <a:srgbClr val="FFFFFF"/>
                </a:solidFill>
                <a:latin typeface="Microsoft YaHei"/>
                <a:ea typeface="Microsoft YaHei"/>
              </a:rPr>
              <a:t>时间</a:t>
            </a:r>
            <a:r>
              <a:rPr lang="en-US" sz="788" b="1">
                <a:solidFill>
                  <a:srgbClr val="FFFFFF"/>
                </a:solidFill>
                <a:latin typeface="Microsoft YaHei"/>
                <a:ea typeface="Microsoft YaHei"/>
              </a:rPr>
              <a:t>/</a:t>
            </a:r>
            <a:r>
              <a:rPr lang="zh-CN" sz="788" b="1">
                <a:solidFill>
                  <a:srgbClr val="FFFFFF"/>
                </a:solidFill>
                <a:latin typeface="Microsoft YaHei"/>
                <a:ea typeface="Microsoft YaHei"/>
              </a:rPr>
              <a:t>议题）</a:t>
            </a:r>
            <a:endParaRPr/>
          </a:p>
        </p:txBody>
      </p:sp>
      <p:sp>
        <p:nvSpPr>
          <p:cNvPr id="278" name=""/>
          <p:cNvSpPr/>
          <p:nvPr/>
        </p:nvSpPr>
        <p:spPr>
          <a:xfrm rot="0" flipH="0" flipV="0">
            <a:off x="3371850" y="1276350"/>
            <a:ext cx="2695575" cy="1809750"/>
          </a:xfrm>
          <a:prstGeom prst="roundRect">
            <a:avLst>
              <a:gd name="adj" fmla="val 2105"/>
            </a:avLst>
          </a:prstGeom>
          <a:solidFill>
            <a:srgbClr val="F7F7F8"/>
          </a:solidFill>
          <a:ln/>
        </p:spPr>
        <p:txBody>
          <a:bodyPr/>
          <a:p/>
        </p:txBody>
      </p:sp>
      <p:sp>
        <p:nvSpPr>
          <p:cNvPr id="279" name=""/>
          <p:cNvSpPr/>
          <p:nvPr/>
        </p:nvSpPr>
        <p:spPr>
          <a:xfrm rot="0" flipH="0" flipV="0">
            <a:off x="3371850" y="1276350"/>
            <a:ext cx="2695575" cy="1809750"/>
          </a:xfrm>
          <a:custGeom>
            <a:pathLst>
              <a:path w="283" h="190">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E0641E"/>
          </a:solidFill>
          <a:ln/>
        </p:spPr>
        <p:txBody>
          <a:bodyPr/>
          <a:p/>
        </p:txBody>
      </p:sp>
      <p:sp>
        <p:nvSpPr>
          <p:cNvPr id="280" name="" descr="{&quot;isTemplate&quot;:true,&quot;type&quot;:&quot;text&quot;}"/>
          <p:cNvSpPr txBox="1"/>
          <p:nvPr/>
        </p:nvSpPr>
        <p:spPr>
          <a:xfrm rot="0" flipH="0" flipV="0">
            <a:off x="3486150" y="1381125"/>
            <a:ext cx="180975" cy="171450"/>
          </a:xfrm>
          <a:prstGeom prst="rect"/>
        </p:spPr>
        <p:txBody>
          <a:bodyPr wrap="none" lIns="0" tIns="0" rIns="0" bIns="0"/>
          <a:p>
            <a:pPr>
              <a:lnSpc>
                <a:spcPct val="100000"/>
              </a:lnSpc>
            </a:pPr>
            <a:r>
              <a:rPr lang="en-US" sz="1125" b="1">
                <a:solidFill>
                  <a:srgbClr val="E0641E"/>
                </a:solidFill>
                <a:latin typeface="Microsoft YaHei"/>
                <a:ea typeface="Microsoft YaHei"/>
              </a:rPr>
              <a:t>02</a:t>
            </a:r>
            <a:endParaRPr/>
          </a:p>
        </p:txBody>
      </p:sp>
      <p:sp>
        <p:nvSpPr>
          <p:cNvPr id="281" name="" descr="{&quot;isTemplate&quot;:true,&quot;type&quot;:&quot;text&quot;}"/>
          <p:cNvSpPr txBox="1"/>
          <p:nvPr/>
        </p:nvSpPr>
        <p:spPr>
          <a:xfrm rot="0" flipH="0" flipV="0">
            <a:off x="3733800" y="1381125"/>
            <a:ext cx="2219325" cy="171450"/>
          </a:xfrm>
          <a:prstGeom prst="rect"/>
        </p:spPr>
        <p:txBody>
          <a:bodyPr wrap="none" lIns="0" tIns="0" rIns="0" bIns="0"/>
          <a:p>
            <a:pPr>
              <a:lnSpc>
                <a:spcPct val="100000"/>
              </a:lnSpc>
            </a:pPr>
            <a:r>
              <a:rPr lang="zh-CN" sz="1088" b="1">
                <a:solidFill>
                  <a:srgbClr val="0F1423"/>
                </a:solidFill>
                <a:latin typeface="Microsoft YaHei"/>
                <a:ea typeface="Microsoft YaHei"/>
              </a:rPr>
              <a:t>三维度诊断</a:t>
            </a:r>
            <a:endParaRPr/>
          </a:p>
        </p:txBody>
      </p:sp>
      <p:sp>
        <p:nvSpPr>
          <p:cNvPr id="282" name="" descr="{&quot;isTemplate&quot;:true,&quot;type&quot;:&quot;text&quot;}"/>
          <p:cNvSpPr txBox="1"/>
          <p:nvPr/>
        </p:nvSpPr>
        <p:spPr>
          <a:xfrm rot="0" flipH="0" flipV="0">
            <a:off x="3486150" y="1628775"/>
            <a:ext cx="38100" cy="114300"/>
          </a:xfrm>
          <a:prstGeom prst="rect"/>
        </p:spPr>
        <p:txBody>
          <a:bodyPr wrap="none" lIns="0" tIns="0" rIns="0" bIns="0"/>
          <a:p>
            <a:pPr>
              <a:lnSpc>
                <a:spcPct val="100000"/>
              </a:lnSpc>
            </a:pPr>
            <a:r>
              <a:rPr sz="750" b="1">
                <a:solidFill>
                  <a:srgbClr val="E0641E"/>
                </a:solidFill>
                <a:latin typeface="Microsoft YaHei"/>
                <a:ea typeface="Microsoft YaHei"/>
              </a:rPr>
              <a:t>▪</a:t>
            </a:r>
            <a:endParaRPr/>
          </a:p>
        </p:txBody>
      </p:sp>
      <p:sp>
        <p:nvSpPr>
          <p:cNvPr id="283" name="" descr="{&quot;isTemplate&quot;:true,&quot;type&quot;:&quot;text&quot;}"/>
          <p:cNvSpPr txBox="1"/>
          <p:nvPr/>
        </p:nvSpPr>
        <p:spPr>
          <a:xfrm rot="0" flipH="0" flipV="0">
            <a:off x="3581400" y="162877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业务维度：流程数量、单据台账、岗位角色现状盘点</a:t>
            </a:r>
            <a:endParaRPr/>
          </a:p>
        </p:txBody>
      </p:sp>
      <p:sp>
        <p:nvSpPr>
          <p:cNvPr id="284" name="" descr="{&quot;isTemplate&quot;:true,&quot;type&quot;:&quot;text&quot;}"/>
          <p:cNvSpPr txBox="1"/>
          <p:nvPr/>
        </p:nvSpPr>
        <p:spPr>
          <a:xfrm rot="0" flipH="0" flipV="0">
            <a:off x="3486150" y="1895475"/>
            <a:ext cx="38100" cy="114300"/>
          </a:xfrm>
          <a:prstGeom prst="rect"/>
        </p:spPr>
        <p:txBody>
          <a:bodyPr wrap="none" lIns="0" tIns="0" rIns="0" bIns="0"/>
          <a:p>
            <a:pPr>
              <a:lnSpc>
                <a:spcPct val="100000"/>
              </a:lnSpc>
            </a:pPr>
            <a:r>
              <a:rPr sz="750" b="1">
                <a:solidFill>
                  <a:srgbClr val="E0641E"/>
                </a:solidFill>
                <a:latin typeface="Microsoft YaHei"/>
                <a:ea typeface="Microsoft YaHei"/>
              </a:rPr>
              <a:t>▪</a:t>
            </a:r>
            <a:endParaRPr/>
          </a:p>
        </p:txBody>
      </p:sp>
      <p:sp>
        <p:nvSpPr>
          <p:cNvPr id="285" name="" descr="{&quot;isTemplate&quot;:true,&quot;type&quot;:&quot;text&quot;}"/>
          <p:cNvSpPr txBox="1"/>
          <p:nvPr/>
        </p:nvSpPr>
        <p:spPr>
          <a:xfrm rot="0" flipH="0" flipV="0">
            <a:off x="3581400" y="1895475"/>
            <a:ext cx="2371725"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数据维度：系统数据对象、主数据现状、指标口径与取数方式</a:t>
            </a:r>
            <a:endParaRPr/>
          </a:p>
        </p:txBody>
      </p:sp>
      <p:sp>
        <p:nvSpPr>
          <p:cNvPr id="286" name="" descr="{&quot;isTemplate&quot;:true,&quot;type&quot;:&quot;text&quot;}"/>
          <p:cNvSpPr txBox="1"/>
          <p:nvPr/>
        </p:nvSpPr>
        <p:spPr>
          <a:xfrm rot="0" flipH="0" flipV="0">
            <a:off x="3486150" y="2314575"/>
            <a:ext cx="38100" cy="114300"/>
          </a:xfrm>
          <a:prstGeom prst="rect"/>
        </p:spPr>
        <p:txBody>
          <a:bodyPr wrap="none" lIns="0" tIns="0" rIns="0" bIns="0"/>
          <a:p>
            <a:pPr>
              <a:lnSpc>
                <a:spcPct val="100000"/>
              </a:lnSpc>
            </a:pPr>
            <a:r>
              <a:rPr sz="750" b="1">
                <a:solidFill>
                  <a:srgbClr val="E0641E"/>
                </a:solidFill>
                <a:latin typeface="Microsoft YaHei"/>
                <a:ea typeface="Microsoft YaHei"/>
              </a:rPr>
              <a:t>▪</a:t>
            </a:r>
            <a:endParaRPr/>
          </a:p>
        </p:txBody>
      </p:sp>
      <p:sp>
        <p:nvSpPr>
          <p:cNvPr id="287" name="" descr="{&quot;isTemplate&quot;:true,&quot;type&quot;:&quot;text&quot;}"/>
          <p:cNvSpPr txBox="1"/>
          <p:nvPr/>
        </p:nvSpPr>
        <p:spPr>
          <a:xfrm rot="0" flipH="0" flipV="0">
            <a:off x="3581400" y="2314575"/>
            <a:ext cx="2371725"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系统维度：应用清单、集成现状、基础设施与</a:t>
            </a:r>
            <a:r>
              <a:rPr lang="en-US" sz="788">
                <a:solidFill>
                  <a:srgbClr val="3A4050"/>
                </a:solidFill>
                <a:latin typeface="Microsoft YaHei"/>
                <a:ea typeface="Microsoft YaHei"/>
              </a:rPr>
              <a:t xml:space="preserve"> AI </a:t>
            </a:r>
            <a:r>
              <a:rPr lang="zh-CN" sz="788">
                <a:solidFill>
                  <a:srgbClr val="3A4050"/>
                </a:solidFill>
                <a:latin typeface="Microsoft YaHei"/>
                <a:ea typeface="Microsoft YaHei"/>
              </a:rPr>
              <a:t>技术就绪度</a:t>
            </a:r>
            <a:endParaRPr/>
          </a:p>
        </p:txBody>
      </p:sp>
      <p:sp>
        <p:nvSpPr>
          <p:cNvPr id="288" name=""/>
          <p:cNvSpPr/>
          <p:nvPr/>
        </p:nvSpPr>
        <p:spPr>
          <a:xfrm rot="0" flipH="0" flipV="0">
            <a:off x="3486150" y="2686050"/>
            <a:ext cx="2466975" cy="266700"/>
          </a:xfrm>
          <a:prstGeom prst="roundRect">
            <a:avLst>
              <a:gd name="adj" fmla="val 10714"/>
            </a:avLst>
          </a:prstGeom>
          <a:solidFill>
            <a:srgbClr val="E0641E"/>
          </a:solidFill>
          <a:ln/>
        </p:spPr>
        <p:txBody>
          <a:bodyPr/>
          <a:p/>
        </p:txBody>
      </p:sp>
      <p:sp>
        <p:nvSpPr>
          <p:cNvPr id="289" name="" descr="{&quot;isTemplate&quot;:true,&quot;type&quot;:&quot;text&quot;}"/>
          <p:cNvSpPr txBox="1"/>
          <p:nvPr/>
        </p:nvSpPr>
        <p:spPr>
          <a:xfrm rot="0" flipH="0" flipV="0">
            <a:off x="3581400" y="2705100"/>
            <a:ext cx="2276475" cy="114300"/>
          </a:xfrm>
          <a:prstGeom prst="rect"/>
        </p:spPr>
        <p:txBody>
          <a:bodyPr wrap="none" lIns="0" tIns="0" rIns="0" bIns="0"/>
          <a:p>
            <a:pPr>
              <a:lnSpc>
                <a:spcPct val="100000"/>
              </a:lnSpc>
            </a:pPr>
            <a:r>
              <a:rPr lang="zh-CN" sz="750">
                <a:solidFill>
                  <a:srgbClr val="FFFFFF">
                    <a:alpha val="85000"/>
                  </a:srgbClr>
                </a:solidFill>
                <a:latin typeface="Microsoft YaHei"/>
                <a:ea typeface="Microsoft YaHei"/>
              </a:rPr>
              <a:t>产出</a:t>
            </a:r>
            <a:endParaRPr/>
          </a:p>
        </p:txBody>
      </p:sp>
      <p:sp>
        <p:nvSpPr>
          <p:cNvPr id="290" name="" descr="{&quot;isTemplate&quot;:true,&quot;type&quot;:&quot;text&quot;}"/>
          <p:cNvSpPr txBox="1"/>
          <p:nvPr/>
        </p:nvSpPr>
        <p:spPr>
          <a:xfrm rot="0" flipH="0" flipV="0">
            <a:off x="3581400" y="2819400"/>
            <a:ext cx="2276475" cy="123825"/>
          </a:xfrm>
          <a:prstGeom prst="rect"/>
        </p:spPr>
        <p:txBody>
          <a:bodyPr wrap="none" lIns="0" tIns="0" rIns="0" bIns="0"/>
          <a:p>
            <a:pPr>
              <a:lnSpc>
                <a:spcPct val="100000"/>
              </a:lnSpc>
            </a:pPr>
            <a:r>
              <a:rPr lang="zh-CN" sz="788" b="1">
                <a:solidFill>
                  <a:srgbClr val="FFFFFF"/>
                </a:solidFill>
                <a:latin typeface="Microsoft YaHei"/>
                <a:ea typeface="Microsoft YaHei"/>
              </a:rPr>
              <a:t>痛点清单（编号</a:t>
            </a:r>
            <a:r>
              <a:rPr lang="en-US" sz="788" b="1">
                <a:solidFill>
                  <a:srgbClr val="FFFFFF"/>
                </a:solidFill>
                <a:latin typeface="Microsoft YaHei"/>
                <a:ea typeface="Microsoft YaHei"/>
              </a:rPr>
              <a:t xml:space="preserve"> + </a:t>
            </a:r>
            <a:r>
              <a:rPr lang="zh-CN" sz="788" b="1">
                <a:solidFill>
                  <a:srgbClr val="FFFFFF"/>
                </a:solidFill>
                <a:latin typeface="Microsoft YaHei"/>
                <a:ea typeface="Microsoft YaHei"/>
              </a:rPr>
              <a:t>证据）</a:t>
            </a:r>
            <a:endParaRPr/>
          </a:p>
        </p:txBody>
      </p:sp>
      <p:sp>
        <p:nvSpPr>
          <p:cNvPr id="291" name=""/>
          <p:cNvSpPr/>
          <p:nvPr/>
        </p:nvSpPr>
        <p:spPr>
          <a:xfrm rot="0" flipH="0" flipV="0">
            <a:off x="6124575" y="1276350"/>
            <a:ext cx="2705100" cy="1809750"/>
          </a:xfrm>
          <a:prstGeom prst="roundRect">
            <a:avLst>
              <a:gd name="adj" fmla="val 2105"/>
            </a:avLst>
          </a:prstGeom>
          <a:solidFill>
            <a:srgbClr val="F7F7F8"/>
          </a:solidFill>
          <a:ln/>
        </p:spPr>
        <p:txBody>
          <a:bodyPr/>
          <a:p/>
        </p:txBody>
      </p:sp>
      <p:sp>
        <p:nvSpPr>
          <p:cNvPr id="292" name=""/>
          <p:cNvSpPr/>
          <p:nvPr/>
        </p:nvSpPr>
        <p:spPr>
          <a:xfrm rot="0" flipH="0" flipV="0">
            <a:off x="6124575" y="1276350"/>
            <a:ext cx="2705100" cy="1809750"/>
          </a:xfrm>
          <a:custGeom>
            <a:pathLst>
              <a:path w="284" h="190">
                <a:moveTo>
                  <a:pt x="280" y="0"/>
                </a:moveTo>
                <a:cubicBezTo>
                  <a:pt x="282" y="0"/>
                  <a:pt x="284" y="2"/>
                  <a:pt x="284" y="4"/>
                </a:cubicBezTo>
                <a:cubicBezTo>
                  <a:pt x="284" y="3"/>
                  <a:pt x="283" y="3"/>
                  <a:pt x="283" y="3"/>
                </a:cubicBezTo>
                <a:lnTo>
                  <a:pt x="1" y="3"/>
                </a:lnTo>
                <a:cubicBezTo>
                  <a:pt x="1" y="3"/>
                  <a:pt x="0" y="3"/>
                  <a:pt x="0" y="4"/>
                </a:cubicBezTo>
                <a:cubicBezTo>
                  <a:pt x="0" y="2"/>
                  <a:pt x="2" y="0"/>
                  <a:pt x="4" y="0"/>
                </a:cubicBezTo>
                <a:lnTo>
                  <a:pt x="280" y="0"/>
                </a:lnTo>
                <a:close/>
              </a:path>
            </a:pathLst>
          </a:custGeom>
          <a:solidFill>
            <a:srgbClr val="C43A17"/>
          </a:solidFill>
          <a:ln/>
        </p:spPr>
        <p:txBody>
          <a:bodyPr/>
          <a:p/>
        </p:txBody>
      </p:sp>
      <p:sp>
        <p:nvSpPr>
          <p:cNvPr id="293" name="" descr="{&quot;isTemplate&quot;:true,&quot;type&quot;:&quot;text&quot;}"/>
          <p:cNvSpPr txBox="1"/>
          <p:nvPr/>
        </p:nvSpPr>
        <p:spPr>
          <a:xfrm rot="0" flipH="0" flipV="0">
            <a:off x="6238875" y="1381125"/>
            <a:ext cx="180975" cy="171450"/>
          </a:xfrm>
          <a:prstGeom prst="rect"/>
        </p:spPr>
        <p:txBody>
          <a:bodyPr wrap="none" lIns="0" tIns="0" rIns="0" bIns="0"/>
          <a:p>
            <a:pPr>
              <a:lnSpc>
                <a:spcPct val="100000"/>
              </a:lnSpc>
            </a:pPr>
            <a:r>
              <a:rPr lang="en-US" sz="1125" b="1">
                <a:solidFill>
                  <a:srgbClr val="C43A17"/>
                </a:solidFill>
                <a:latin typeface="Microsoft YaHei"/>
                <a:ea typeface="Microsoft YaHei"/>
              </a:rPr>
              <a:t>03</a:t>
            </a:r>
            <a:endParaRPr/>
          </a:p>
        </p:txBody>
      </p:sp>
      <p:sp>
        <p:nvSpPr>
          <p:cNvPr id="294" name="" descr="{&quot;isTemplate&quot;:true,&quot;type&quot;:&quot;text&quot;}"/>
          <p:cNvSpPr txBox="1"/>
          <p:nvPr/>
        </p:nvSpPr>
        <p:spPr>
          <a:xfrm rot="0" flipH="0" flipV="0">
            <a:off x="6486525" y="1381125"/>
            <a:ext cx="2228850" cy="171450"/>
          </a:xfrm>
          <a:prstGeom prst="rect"/>
        </p:spPr>
        <p:txBody>
          <a:bodyPr wrap="none" lIns="0" tIns="0" rIns="0" bIns="0"/>
          <a:p>
            <a:pPr>
              <a:lnSpc>
                <a:spcPct val="100000"/>
              </a:lnSpc>
            </a:pPr>
            <a:r>
              <a:rPr lang="zh-CN" sz="1088" b="1">
                <a:solidFill>
                  <a:srgbClr val="0F1423"/>
                </a:solidFill>
                <a:latin typeface="Microsoft YaHei"/>
                <a:ea typeface="Microsoft YaHei"/>
              </a:rPr>
              <a:t>五问追根</a:t>
            </a:r>
            <a:endParaRPr/>
          </a:p>
        </p:txBody>
      </p:sp>
      <p:sp>
        <p:nvSpPr>
          <p:cNvPr id="295" name="" descr="{&quot;isTemplate&quot;:true,&quot;type&quot;:&quot;text&quot;}"/>
          <p:cNvSpPr txBox="1"/>
          <p:nvPr/>
        </p:nvSpPr>
        <p:spPr>
          <a:xfrm rot="0" flipH="0" flipV="0">
            <a:off x="6238875" y="1628775"/>
            <a:ext cx="38100" cy="114300"/>
          </a:xfrm>
          <a:prstGeom prst="rect"/>
        </p:spPr>
        <p:txBody>
          <a:bodyPr wrap="none" lIns="0" tIns="0" rIns="0" bIns="0"/>
          <a:p>
            <a:pPr>
              <a:lnSpc>
                <a:spcPct val="100000"/>
              </a:lnSpc>
            </a:pPr>
            <a:r>
              <a:rPr sz="750" b="1">
                <a:solidFill>
                  <a:srgbClr val="C43A17"/>
                </a:solidFill>
                <a:latin typeface="Microsoft YaHei"/>
                <a:ea typeface="Microsoft YaHei"/>
              </a:rPr>
              <a:t>▪</a:t>
            </a:r>
            <a:endParaRPr/>
          </a:p>
        </p:txBody>
      </p:sp>
      <p:sp>
        <p:nvSpPr>
          <p:cNvPr id="296" name="" descr="{&quot;isTemplate&quot;:true,&quot;type&quot;:&quot;text&quot;}"/>
          <p:cNvSpPr txBox="1"/>
          <p:nvPr/>
        </p:nvSpPr>
        <p:spPr>
          <a:xfrm rot="0" flipH="0" flipV="0">
            <a:off x="6334125" y="1628775"/>
            <a:ext cx="23812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每条痛点连续追问五次，直到落到组织、规则、权责层面</a:t>
            </a:r>
            <a:endParaRPr/>
          </a:p>
        </p:txBody>
      </p:sp>
      <p:sp>
        <p:nvSpPr>
          <p:cNvPr id="297" name="" descr="{&quot;isTemplate&quot;:true,&quot;type&quot;:&quot;text&quot;}"/>
          <p:cNvSpPr txBox="1"/>
          <p:nvPr/>
        </p:nvSpPr>
        <p:spPr>
          <a:xfrm rot="0" flipH="0" flipV="0">
            <a:off x="6238875" y="2057400"/>
            <a:ext cx="38100" cy="114300"/>
          </a:xfrm>
          <a:prstGeom prst="rect"/>
        </p:spPr>
        <p:txBody>
          <a:bodyPr wrap="none" lIns="0" tIns="0" rIns="0" bIns="0"/>
          <a:p>
            <a:pPr>
              <a:lnSpc>
                <a:spcPct val="100000"/>
              </a:lnSpc>
            </a:pPr>
            <a:r>
              <a:rPr sz="750" b="1">
                <a:solidFill>
                  <a:srgbClr val="C43A17"/>
                </a:solidFill>
                <a:latin typeface="Microsoft YaHei"/>
                <a:ea typeface="Microsoft YaHei"/>
              </a:rPr>
              <a:t>▪</a:t>
            </a:r>
            <a:endParaRPr/>
          </a:p>
        </p:txBody>
      </p:sp>
      <p:sp>
        <p:nvSpPr>
          <p:cNvPr id="298" name="" descr="{&quot;isTemplate&quot;:true,&quot;type&quot;:&quot;text&quot;}"/>
          <p:cNvSpPr txBox="1"/>
          <p:nvPr/>
        </p:nvSpPr>
        <p:spPr>
          <a:xfrm rot="0" flipH="0" flipV="0">
            <a:off x="6334125" y="2057400"/>
            <a:ext cx="23812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追不到根因的痛点标记为「现象待观察」，不进变更建议</a:t>
            </a:r>
            <a:endParaRPr/>
          </a:p>
        </p:txBody>
      </p:sp>
      <p:sp>
        <p:nvSpPr>
          <p:cNvPr id="299" name="" descr="{&quot;isTemplate&quot;:true,&quot;type&quot;:&quot;text&quot;}"/>
          <p:cNvSpPr txBox="1"/>
          <p:nvPr/>
        </p:nvSpPr>
        <p:spPr>
          <a:xfrm rot="0" flipH="0" flipV="0">
            <a:off x="6238875" y="2476500"/>
            <a:ext cx="38100" cy="114300"/>
          </a:xfrm>
          <a:prstGeom prst="rect"/>
        </p:spPr>
        <p:txBody>
          <a:bodyPr wrap="none" lIns="0" tIns="0" rIns="0" bIns="0"/>
          <a:p>
            <a:pPr>
              <a:lnSpc>
                <a:spcPct val="100000"/>
              </a:lnSpc>
            </a:pPr>
            <a:r>
              <a:rPr sz="750" b="1">
                <a:solidFill>
                  <a:srgbClr val="C43A17"/>
                </a:solidFill>
                <a:latin typeface="Microsoft YaHei"/>
                <a:ea typeface="Microsoft YaHei"/>
              </a:rPr>
              <a:t>▪</a:t>
            </a:r>
            <a:endParaRPr/>
          </a:p>
        </p:txBody>
      </p:sp>
      <p:sp>
        <p:nvSpPr>
          <p:cNvPr id="300" name="" descr="{&quot;isTemplate&quot;:true,&quot;type&quot;:&quot;text&quot;}"/>
          <p:cNvSpPr txBox="1"/>
          <p:nvPr/>
        </p:nvSpPr>
        <p:spPr>
          <a:xfrm rot="0" flipH="0" flipV="0">
            <a:off x="6334125" y="2476500"/>
            <a:ext cx="2381250" cy="171450"/>
          </a:xfrm>
          <a:prstGeom prst="rect"/>
        </p:spPr>
        <p:txBody>
          <a:bodyPr wrap="none" lIns="0" tIns="0" rIns="0" bIns="0"/>
          <a:p>
            <a:pPr>
              <a:lnSpc>
                <a:spcPct val="135000"/>
              </a:lnSpc>
            </a:pPr>
            <a:r>
              <a:rPr lang="zh-CN" sz="788">
                <a:solidFill>
                  <a:srgbClr val="3A4050"/>
                </a:solidFill>
                <a:latin typeface="Microsoft YaHei"/>
                <a:ea typeface="Microsoft YaHei"/>
              </a:rPr>
              <a:t>跨部门痛点强制做归因，确认到底卡在谁的权责上</a:t>
            </a:r>
            <a:endParaRPr/>
          </a:p>
        </p:txBody>
      </p:sp>
      <p:sp>
        <p:nvSpPr>
          <p:cNvPr id="301" name=""/>
          <p:cNvSpPr/>
          <p:nvPr/>
        </p:nvSpPr>
        <p:spPr>
          <a:xfrm rot="0" flipH="0" flipV="0">
            <a:off x="6238875" y="2686050"/>
            <a:ext cx="2476500" cy="266700"/>
          </a:xfrm>
          <a:prstGeom prst="roundRect">
            <a:avLst>
              <a:gd name="adj" fmla="val 10714"/>
            </a:avLst>
          </a:prstGeom>
          <a:solidFill>
            <a:srgbClr val="C43A17"/>
          </a:solidFill>
          <a:ln/>
        </p:spPr>
        <p:txBody>
          <a:bodyPr/>
          <a:p/>
        </p:txBody>
      </p:sp>
      <p:sp>
        <p:nvSpPr>
          <p:cNvPr id="302" name="" descr="{&quot;isTemplate&quot;:true,&quot;type&quot;:&quot;text&quot;}"/>
          <p:cNvSpPr txBox="1"/>
          <p:nvPr/>
        </p:nvSpPr>
        <p:spPr>
          <a:xfrm rot="0" flipH="0" flipV="0">
            <a:off x="6334125" y="2705100"/>
            <a:ext cx="2286000" cy="114300"/>
          </a:xfrm>
          <a:prstGeom prst="rect"/>
        </p:spPr>
        <p:txBody>
          <a:bodyPr wrap="none" lIns="0" tIns="0" rIns="0" bIns="0"/>
          <a:p>
            <a:pPr>
              <a:lnSpc>
                <a:spcPct val="100000"/>
              </a:lnSpc>
            </a:pPr>
            <a:r>
              <a:rPr lang="zh-CN" sz="750">
                <a:solidFill>
                  <a:srgbClr val="FFFFFF">
                    <a:alpha val="85000"/>
                  </a:srgbClr>
                </a:solidFill>
                <a:latin typeface="Microsoft YaHei"/>
                <a:ea typeface="Microsoft YaHei"/>
              </a:rPr>
              <a:t>产出</a:t>
            </a:r>
            <a:endParaRPr/>
          </a:p>
        </p:txBody>
      </p:sp>
      <p:sp>
        <p:nvSpPr>
          <p:cNvPr id="303" name="" descr="{&quot;isTemplate&quot;:true,&quot;type&quot;:&quot;text&quot;}"/>
          <p:cNvSpPr txBox="1"/>
          <p:nvPr/>
        </p:nvSpPr>
        <p:spPr>
          <a:xfrm rot="0" flipH="0" flipV="0">
            <a:off x="6334125" y="2819400"/>
            <a:ext cx="2286000" cy="123825"/>
          </a:xfrm>
          <a:prstGeom prst="rect"/>
        </p:spPr>
        <p:txBody>
          <a:bodyPr wrap="none" lIns="0" tIns="0" rIns="0" bIns="0"/>
          <a:p>
            <a:pPr>
              <a:lnSpc>
                <a:spcPct val="100000"/>
              </a:lnSpc>
            </a:pPr>
            <a:r>
              <a:rPr lang="zh-CN" sz="788" b="1">
                <a:solidFill>
                  <a:srgbClr val="FFFFFF"/>
                </a:solidFill>
                <a:latin typeface="Microsoft YaHei"/>
                <a:ea typeface="Microsoft YaHei"/>
              </a:rPr>
              <a:t>痛点↔根因逐项对应表</a:t>
            </a:r>
            <a:endParaRPr/>
          </a:p>
        </p:txBody>
      </p:sp>
      <p:sp>
        <p:nvSpPr>
          <p:cNvPr id="304" name=""/>
          <p:cNvSpPr/>
          <p:nvPr/>
        </p:nvSpPr>
        <p:spPr>
          <a:xfrm rot="0" flipH="0" flipV="0">
            <a:off x="8886825" y="1276350"/>
            <a:ext cx="2695575" cy="1809750"/>
          </a:xfrm>
          <a:prstGeom prst="roundRect">
            <a:avLst>
              <a:gd name="adj" fmla="val 2105"/>
            </a:avLst>
          </a:prstGeom>
          <a:solidFill>
            <a:srgbClr val="F7F7F8"/>
          </a:solidFill>
          <a:ln/>
        </p:spPr>
        <p:txBody>
          <a:bodyPr/>
          <a:p/>
        </p:txBody>
      </p:sp>
      <p:sp>
        <p:nvSpPr>
          <p:cNvPr id="305" name=""/>
          <p:cNvSpPr/>
          <p:nvPr/>
        </p:nvSpPr>
        <p:spPr>
          <a:xfrm rot="0" flipH="0" flipV="0">
            <a:off x="8886825" y="1276350"/>
            <a:ext cx="2695575" cy="1809750"/>
          </a:xfrm>
          <a:custGeom>
            <a:pathLst>
              <a:path w="283" h="190">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9E3410"/>
          </a:solidFill>
          <a:ln/>
        </p:spPr>
        <p:txBody>
          <a:bodyPr/>
          <a:p/>
        </p:txBody>
      </p:sp>
      <p:sp>
        <p:nvSpPr>
          <p:cNvPr id="306" name="" descr="{&quot;isTemplate&quot;:true,&quot;type&quot;:&quot;text&quot;}"/>
          <p:cNvSpPr txBox="1"/>
          <p:nvPr/>
        </p:nvSpPr>
        <p:spPr>
          <a:xfrm rot="0" flipH="0" flipV="0">
            <a:off x="9001125" y="1381125"/>
            <a:ext cx="180975" cy="171450"/>
          </a:xfrm>
          <a:prstGeom prst="rect"/>
        </p:spPr>
        <p:txBody>
          <a:bodyPr wrap="none" lIns="0" tIns="0" rIns="0" bIns="0"/>
          <a:p>
            <a:pPr>
              <a:lnSpc>
                <a:spcPct val="100000"/>
              </a:lnSpc>
            </a:pPr>
            <a:r>
              <a:rPr lang="en-US" sz="1125" b="1">
                <a:solidFill>
                  <a:srgbClr val="9E3410"/>
                </a:solidFill>
                <a:latin typeface="Microsoft YaHei"/>
                <a:ea typeface="Microsoft YaHei"/>
              </a:rPr>
              <a:t>04</a:t>
            </a:r>
            <a:endParaRPr/>
          </a:p>
        </p:txBody>
      </p:sp>
      <p:sp>
        <p:nvSpPr>
          <p:cNvPr id="307" name="" descr="{&quot;isTemplate&quot;:true,&quot;type&quot;:&quot;text&quot;}"/>
          <p:cNvSpPr txBox="1"/>
          <p:nvPr/>
        </p:nvSpPr>
        <p:spPr>
          <a:xfrm rot="0" flipH="0" flipV="0">
            <a:off x="9248775" y="1381125"/>
            <a:ext cx="2219325" cy="171450"/>
          </a:xfrm>
          <a:prstGeom prst="rect"/>
        </p:spPr>
        <p:txBody>
          <a:bodyPr wrap="none" lIns="0" tIns="0" rIns="0" bIns="0"/>
          <a:p>
            <a:pPr>
              <a:lnSpc>
                <a:spcPct val="100000"/>
              </a:lnSpc>
            </a:pPr>
            <a:r>
              <a:rPr lang="zh-CN" sz="1088" b="1">
                <a:solidFill>
                  <a:srgbClr val="0F1423"/>
                </a:solidFill>
                <a:latin typeface="Microsoft YaHei"/>
                <a:ea typeface="Microsoft YaHei"/>
              </a:rPr>
              <a:t>定改进方向</a:t>
            </a:r>
            <a:endParaRPr/>
          </a:p>
        </p:txBody>
      </p:sp>
      <p:sp>
        <p:nvSpPr>
          <p:cNvPr id="308" name="" descr="{&quot;isTemplate&quot;:true,&quot;type&quot;:&quot;text&quot;}"/>
          <p:cNvSpPr txBox="1"/>
          <p:nvPr/>
        </p:nvSpPr>
        <p:spPr>
          <a:xfrm rot="0" flipH="0" flipV="0">
            <a:off x="9001125" y="1628775"/>
            <a:ext cx="38100" cy="114300"/>
          </a:xfrm>
          <a:prstGeom prst="rect"/>
        </p:spPr>
        <p:txBody>
          <a:bodyPr wrap="none" lIns="0" tIns="0" rIns="0" bIns="0"/>
          <a:p>
            <a:pPr>
              <a:lnSpc>
                <a:spcPct val="100000"/>
              </a:lnSpc>
            </a:pPr>
            <a:r>
              <a:rPr sz="750" b="1">
                <a:solidFill>
                  <a:srgbClr val="9E3410"/>
                </a:solidFill>
                <a:latin typeface="Microsoft YaHei"/>
                <a:ea typeface="Microsoft YaHei"/>
              </a:rPr>
              <a:t>▪</a:t>
            </a:r>
            <a:endParaRPr/>
          </a:p>
        </p:txBody>
      </p:sp>
      <p:sp>
        <p:nvSpPr>
          <p:cNvPr id="309" name="" descr="{&quot;isTemplate&quot;:true,&quot;type&quot;:&quot;text&quot;}"/>
          <p:cNvSpPr txBox="1"/>
          <p:nvPr/>
        </p:nvSpPr>
        <p:spPr>
          <a:xfrm rot="0" flipH="0" flipV="0">
            <a:off x="9096375" y="162877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按业务价值与实现难度给每条方向排优先级</a:t>
            </a:r>
            <a:endParaRPr/>
          </a:p>
        </p:txBody>
      </p:sp>
      <p:sp>
        <p:nvSpPr>
          <p:cNvPr id="310" name="" descr="{&quot;isTemplate&quot;:true,&quot;type&quot;:&quot;text&quot;}"/>
          <p:cNvSpPr txBox="1"/>
          <p:nvPr/>
        </p:nvSpPr>
        <p:spPr>
          <a:xfrm rot="0" flipH="0" flipV="0">
            <a:off x="9001125" y="2000250"/>
            <a:ext cx="38100" cy="114300"/>
          </a:xfrm>
          <a:prstGeom prst="rect"/>
        </p:spPr>
        <p:txBody>
          <a:bodyPr wrap="none" lIns="0" tIns="0" rIns="0" bIns="0"/>
          <a:p>
            <a:pPr>
              <a:lnSpc>
                <a:spcPct val="100000"/>
              </a:lnSpc>
            </a:pPr>
            <a:r>
              <a:rPr sz="750" b="1">
                <a:solidFill>
                  <a:srgbClr val="9E3410"/>
                </a:solidFill>
                <a:latin typeface="Microsoft YaHei"/>
                <a:ea typeface="Microsoft YaHei"/>
              </a:rPr>
              <a:t>▪</a:t>
            </a:r>
            <a:endParaRPr/>
          </a:p>
        </p:txBody>
      </p:sp>
      <p:sp>
        <p:nvSpPr>
          <p:cNvPr id="311" name="" descr="{&quot;isTemplate&quot;:true,&quot;type&quot;:&quot;text&quot;}"/>
          <p:cNvSpPr txBox="1"/>
          <p:nvPr/>
        </p:nvSpPr>
        <p:spPr>
          <a:xfrm rot="0" flipH="0" flipV="0">
            <a:off x="9096375" y="2000250"/>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标出跨块依赖：哪些方向不解决就白做</a:t>
            </a:r>
            <a:endParaRPr/>
          </a:p>
        </p:txBody>
      </p:sp>
      <p:sp>
        <p:nvSpPr>
          <p:cNvPr id="312" name="" descr="{&quot;isTemplate&quot;:true,&quot;type&quot;:&quot;text&quot;}"/>
          <p:cNvSpPr txBox="1"/>
          <p:nvPr/>
        </p:nvSpPr>
        <p:spPr>
          <a:xfrm rot="0" flipH="0" flipV="0">
            <a:off x="9001125" y="2371725"/>
            <a:ext cx="38100" cy="114300"/>
          </a:xfrm>
          <a:prstGeom prst="rect"/>
        </p:spPr>
        <p:txBody>
          <a:bodyPr wrap="none" lIns="0" tIns="0" rIns="0" bIns="0"/>
          <a:p>
            <a:pPr>
              <a:lnSpc>
                <a:spcPct val="100000"/>
              </a:lnSpc>
            </a:pPr>
            <a:r>
              <a:rPr sz="750" b="1">
                <a:solidFill>
                  <a:srgbClr val="9E3410"/>
                </a:solidFill>
                <a:latin typeface="Microsoft YaHei"/>
                <a:ea typeface="Microsoft YaHei"/>
              </a:rPr>
              <a:t>▪</a:t>
            </a:r>
            <a:endParaRPr/>
          </a:p>
        </p:txBody>
      </p:sp>
      <p:sp>
        <p:nvSpPr>
          <p:cNvPr id="313" name="" descr="{&quot;isTemplate&quot;:true,&quot;type&quot;:&quot;text&quot;}"/>
          <p:cNvSpPr txBox="1"/>
          <p:nvPr/>
        </p:nvSpPr>
        <p:spPr>
          <a:xfrm rot="0" flipH="0" flipV="0">
            <a:off x="9096375" y="237172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明确本项目不建议碰的部分及原因</a:t>
            </a:r>
            <a:endParaRPr/>
          </a:p>
        </p:txBody>
      </p:sp>
      <p:sp>
        <p:nvSpPr>
          <p:cNvPr id="314" name=""/>
          <p:cNvSpPr/>
          <p:nvPr/>
        </p:nvSpPr>
        <p:spPr>
          <a:xfrm rot="0" flipH="0" flipV="0">
            <a:off x="9001125" y="2686050"/>
            <a:ext cx="2466975" cy="266700"/>
          </a:xfrm>
          <a:prstGeom prst="roundRect">
            <a:avLst>
              <a:gd name="adj" fmla="val 10714"/>
            </a:avLst>
          </a:prstGeom>
          <a:solidFill>
            <a:srgbClr val="9E3410"/>
          </a:solidFill>
          <a:ln/>
        </p:spPr>
        <p:txBody>
          <a:bodyPr/>
          <a:p/>
        </p:txBody>
      </p:sp>
      <p:sp>
        <p:nvSpPr>
          <p:cNvPr id="315" name="" descr="{&quot;isTemplate&quot;:true,&quot;type&quot;:&quot;text&quot;}"/>
          <p:cNvSpPr txBox="1"/>
          <p:nvPr/>
        </p:nvSpPr>
        <p:spPr>
          <a:xfrm rot="0" flipH="0" flipV="0">
            <a:off x="9096375" y="2705100"/>
            <a:ext cx="2276475" cy="114300"/>
          </a:xfrm>
          <a:prstGeom prst="rect"/>
        </p:spPr>
        <p:txBody>
          <a:bodyPr wrap="none" lIns="0" tIns="0" rIns="0" bIns="0"/>
          <a:p>
            <a:pPr>
              <a:lnSpc>
                <a:spcPct val="100000"/>
              </a:lnSpc>
            </a:pPr>
            <a:r>
              <a:rPr lang="zh-CN" sz="750">
                <a:solidFill>
                  <a:srgbClr val="FFFFFF">
                    <a:alpha val="85000"/>
                  </a:srgbClr>
                </a:solidFill>
                <a:latin typeface="Microsoft YaHei"/>
                <a:ea typeface="Microsoft YaHei"/>
              </a:rPr>
              <a:t>产出</a:t>
            </a:r>
            <a:endParaRPr/>
          </a:p>
        </p:txBody>
      </p:sp>
      <p:sp>
        <p:nvSpPr>
          <p:cNvPr id="316" name="" descr="{&quot;isTemplate&quot;:true,&quot;type&quot;:&quot;text&quot;}"/>
          <p:cNvSpPr txBox="1"/>
          <p:nvPr/>
        </p:nvSpPr>
        <p:spPr>
          <a:xfrm rot="0" flipH="0" flipV="0">
            <a:off x="9096375" y="2819400"/>
            <a:ext cx="2276475" cy="123825"/>
          </a:xfrm>
          <a:prstGeom prst="rect"/>
        </p:spPr>
        <p:txBody>
          <a:bodyPr wrap="none" lIns="0" tIns="0" rIns="0" bIns="0"/>
          <a:p>
            <a:pPr>
              <a:lnSpc>
                <a:spcPct val="100000"/>
              </a:lnSpc>
            </a:pPr>
            <a:r>
              <a:rPr lang="zh-CN" sz="788" b="1">
                <a:solidFill>
                  <a:srgbClr val="FFFFFF"/>
                </a:solidFill>
                <a:latin typeface="Microsoft YaHei"/>
                <a:ea typeface="Microsoft YaHei"/>
              </a:rPr>
              <a:t>改进方向与优先级清单</a:t>
            </a:r>
            <a:endParaRPr/>
          </a:p>
        </p:txBody>
      </p:sp>
      <p:sp>
        <p:nvSpPr>
          <p:cNvPr id="317" name=""/>
          <p:cNvSpPr/>
          <p:nvPr/>
        </p:nvSpPr>
        <p:spPr>
          <a:xfrm rot="0" flipH="0" flipV="0">
            <a:off x="609600" y="3133725"/>
            <a:ext cx="5429250" cy="2085975"/>
          </a:xfrm>
          <a:prstGeom prst="roundRect">
            <a:avLst>
              <a:gd name="adj" fmla="val 1826"/>
            </a:avLst>
          </a:prstGeom>
          <a:solidFill>
            <a:srgbClr val="0F1423"/>
          </a:solidFill>
          <a:ln/>
        </p:spPr>
        <p:txBody>
          <a:bodyPr/>
          <a:p/>
        </p:txBody>
      </p:sp>
      <p:sp>
        <p:nvSpPr>
          <p:cNvPr id="318" name="" descr="{&quot;isTemplate&quot;:true,&quot;type&quot;:&quot;text&quot;}"/>
          <p:cNvSpPr txBox="1"/>
          <p:nvPr/>
        </p:nvSpPr>
        <p:spPr>
          <a:xfrm rot="0" flipH="0" flipV="0">
            <a:off x="762000" y="3257550"/>
            <a:ext cx="5124450" cy="142875"/>
          </a:xfrm>
          <a:prstGeom prst="rect"/>
        </p:spPr>
        <p:txBody>
          <a:bodyPr wrap="none" lIns="0" tIns="0" rIns="0" bIns="0"/>
          <a:p>
            <a:pPr>
              <a:lnSpc>
                <a:spcPct val="100000"/>
              </a:lnSpc>
            </a:pPr>
            <a:r>
              <a:rPr lang="zh-CN" sz="900" spc="75">
                <a:solidFill>
                  <a:srgbClr val="FBA15C"/>
                </a:solidFill>
                <a:latin typeface="Microsoft YaHei"/>
                <a:ea typeface="Microsoft YaHei"/>
              </a:rPr>
              <a:t>五问追根：这页是本阶段最核心的动作</a:t>
            </a:r>
            <a:endParaRPr/>
          </a:p>
        </p:txBody>
      </p:sp>
      <p:sp>
        <p:nvSpPr>
          <p:cNvPr id="319" name="" descr="{&quot;isTemplate&quot;:true,&quot;type&quot;:&quot;text&quot;}"/>
          <p:cNvSpPr txBox="1"/>
          <p:nvPr/>
        </p:nvSpPr>
        <p:spPr>
          <a:xfrm rot="0" flipH="0" flipV="0">
            <a:off x="762000" y="3571875"/>
            <a:ext cx="400050" cy="133350"/>
          </a:xfrm>
          <a:prstGeom prst="rect"/>
        </p:spPr>
        <p:txBody>
          <a:bodyPr wrap="none" lIns="0" tIns="0" rIns="0" bIns="0"/>
          <a:p>
            <a:pPr>
              <a:lnSpc>
                <a:spcPct val="100000"/>
              </a:lnSpc>
            </a:pPr>
            <a:r>
              <a:rPr lang="zh-CN" sz="825" b="1">
                <a:solidFill>
                  <a:srgbClr val="FA4F24"/>
                </a:solidFill>
                <a:latin typeface="Microsoft YaHei"/>
                <a:ea typeface="Microsoft YaHei"/>
              </a:rPr>
              <a:t>第</a:t>
            </a:r>
            <a:r>
              <a:rPr lang="en-US" sz="825" b="1">
                <a:solidFill>
                  <a:srgbClr val="FA4F24"/>
                </a:solidFill>
                <a:latin typeface="Microsoft YaHei"/>
                <a:ea typeface="Microsoft YaHei"/>
              </a:rPr>
              <a:t xml:space="preserve"> 1 </a:t>
            </a:r>
            <a:r>
              <a:rPr lang="zh-CN" sz="825" b="1">
                <a:solidFill>
                  <a:srgbClr val="FA4F24"/>
                </a:solidFill>
                <a:latin typeface="Microsoft YaHei"/>
                <a:ea typeface="Microsoft YaHei"/>
              </a:rPr>
              <a:t>问</a:t>
            </a:r>
            <a:endParaRPr/>
          </a:p>
        </p:txBody>
      </p:sp>
      <p:sp>
        <p:nvSpPr>
          <p:cNvPr id="320" name="" descr="{&quot;isTemplate&quot;:true,&quot;type&quot;:&quot;text&quot;}"/>
          <p:cNvSpPr txBox="1"/>
          <p:nvPr/>
        </p:nvSpPr>
        <p:spPr>
          <a:xfrm rot="0" flipH="0" flipV="0">
            <a:off x="1247775" y="3552825"/>
            <a:ext cx="4638675" cy="171450"/>
          </a:xfrm>
          <a:prstGeom prst="rect"/>
        </p:spPr>
        <p:txBody>
          <a:bodyPr wrap="none" lIns="0" tIns="0" rIns="0" bIns="0"/>
          <a:p>
            <a:pPr>
              <a:lnSpc>
                <a:spcPct val="130000"/>
              </a:lnSpc>
            </a:pPr>
            <a:r>
              <a:rPr lang="zh-CN" sz="863">
                <a:solidFill>
                  <a:srgbClr val="FFFFFF">
                    <a:alpha val="88000"/>
                  </a:srgbClr>
                </a:solidFill>
                <a:latin typeface="Microsoft YaHei"/>
                <a:ea typeface="Microsoft YaHei"/>
              </a:rPr>
              <a:t>这个痛点表现在哪里？（要具体到某张表、某个环节、某个数字）</a:t>
            </a:r>
            <a:endParaRPr/>
          </a:p>
        </p:txBody>
      </p:sp>
      <p:sp>
        <p:nvSpPr>
          <p:cNvPr id="321" name="" descr="{&quot;isTemplate&quot;:true,&quot;type&quot;:&quot;text&quot;}"/>
          <p:cNvSpPr txBox="1"/>
          <p:nvPr/>
        </p:nvSpPr>
        <p:spPr>
          <a:xfrm rot="0" flipH="0" flipV="0">
            <a:off x="762000" y="3895725"/>
            <a:ext cx="400050" cy="133350"/>
          </a:xfrm>
          <a:prstGeom prst="rect"/>
        </p:spPr>
        <p:txBody>
          <a:bodyPr wrap="none" lIns="0" tIns="0" rIns="0" bIns="0"/>
          <a:p>
            <a:pPr>
              <a:lnSpc>
                <a:spcPct val="100000"/>
              </a:lnSpc>
            </a:pPr>
            <a:r>
              <a:rPr lang="zh-CN" sz="825" b="1">
                <a:solidFill>
                  <a:srgbClr val="FA4F24"/>
                </a:solidFill>
                <a:latin typeface="Microsoft YaHei"/>
                <a:ea typeface="Microsoft YaHei"/>
              </a:rPr>
              <a:t>第</a:t>
            </a:r>
            <a:r>
              <a:rPr lang="en-US" sz="825" b="1">
                <a:solidFill>
                  <a:srgbClr val="FA4F24"/>
                </a:solidFill>
                <a:latin typeface="Microsoft YaHei"/>
                <a:ea typeface="Microsoft YaHei"/>
              </a:rPr>
              <a:t xml:space="preserve"> 2 </a:t>
            </a:r>
            <a:r>
              <a:rPr lang="zh-CN" sz="825" b="1">
                <a:solidFill>
                  <a:srgbClr val="FA4F24"/>
                </a:solidFill>
                <a:latin typeface="Microsoft YaHei"/>
                <a:ea typeface="Microsoft YaHei"/>
              </a:rPr>
              <a:t>问</a:t>
            </a:r>
            <a:endParaRPr/>
          </a:p>
        </p:txBody>
      </p:sp>
      <p:sp>
        <p:nvSpPr>
          <p:cNvPr id="322" name="" descr="{&quot;isTemplate&quot;:true,&quot;type&quot;:&quot;text&quot;}"/>
          <p:cNvSpPr txBox="1"/>
          <p:nvPr/>
        </p:nvSpPr>
        <p:spPr>
          <a:xfrm rot="0" flipH="0" flipV="0">
            <a:off x="1247775" y="3876675"/>
            <a:ext cx="4638675" cy="171450"/>
          </a:xfrm>
          <a:prstGeom prst="rect"/>
        </p:spPr>
        <p:txBody>
          <a:bodyPr wrap="none" lIns="0" tIns="0" rIns="0" bIns="0"/>
          <a:p>
            <a:pPr>
              <a:lnSpc>
                <a:spcPct val="130000"/>
              </a:lnSpc>
            </a:pPr>
            <a:r>
              <a:rPr lang="zh-CN" sz="863">
                <a:solidFill>
                  <a:srgbClr val="FFFFFF">
                    <a:alpha val="88000"/>
                  </a:srgbClr>
                </a:solidFill>
                <a:latin typeface="Microsoft YaHei"/>
                <a:ea typeface="Microsoft YaHei"/>
              </a:rPr>
              <a:t>为什么会这样？（追问到规则层面，不是「因为人不够」）</a:t>
            </a:r>
            <a:endParaRPr/>
          </a:p>
        </p:txBody>
      </p:sp>
      <p:sp>
        <p:nvSpPr>
          <p:cNvPr id="323" name="" descr="{&quot;isTemplate&quot;:true,&quot;type&quot;:&quot;text&quot;}"/>
          <p:cNvSpPr txBox="1"/>
          <p:nvPr/>
        </p:nvSpPr>
        <p:spPr>
          <a:xfrm rot="0" flipH="0" flipV="0">
            <a:off x="762000" y="4229100"/>
            <a:ext cx="400050" cy="133350"/>
          </a:xfrm>
          <a:prstGeom prst="rect"/>
        </p:spPr>
        <p:txBody>
          <a:bodyPr wrap="none" lIns="0" tIns="0" rIns="0" bIns="0"/>
          <a:p>
            <a:pPr>
              <a:lnSpc>
                <a:spcPct val="100000"/>
              </a:lnSpc>
            </a:pPr>
            <a:r>
              <a:rPr lang="zh-CN" sz="825" b="1">
                <a:solidFill>
                  <a:srgbClr val="FA4F24"/>
                </a:solidFill>
                <a:latin typeface="Microsoft YaHei"/>
                <a:ea typeface="Microsoft YaHei"/>
              </a:rPr>
              <a:t>第</a:t>
            </a:r>
            <a:r>
              <a:rPr lang="en-US" sz="825" b="1">
                <a:solidFill>
                  <a:srgbClr val="FA4F24"/>
                </a:solidFill>
                <a:latin typeface="Microsoft YaHei"/>
                <a:ea typeface="Microsoft YaHei"/>
              </a:rPr>
              <a:t xml:space="preserve"> 3 </a:t>
            </a:r>
            <a:r>
              <a:rPr lang="zh-CN" sz="825" b="1">
                <a:solidFill>
                  <a:srgbClr val="FA4F24"/>
                </a:solidFill>
                <a:latin typeface="Microsoft YaHei"/>
                <a:ea typeface="Microsoft YaHei"/>
              </a:rPr>
              <a:t>问</a:t>
            </a:r>
            <a:endParaRPr/>
          </a:p>
        </p:txBody>
      </p:sp>
      <p:sp>
        <p:nvSpPr>
          <p:cNvPr id="324" name="" descr="{&quot;isTemplate&quot;:true,&quot;type&quot;:&quot;text&quot;}"/>
          <p:cNvSpPr txBox="1"/>
          <p:nvPr/>
        </p:nvSpPr>
        <p:spPr>
          <a:xfrm rot="0" flipH="0" flipV="0">
            <a:off x="1247775" y="4210050"/>
            <a:ext cx="4638675" cy="171450"/>
          </a:xfrm>
          <a:prstGeom prst="rect"/>
        </p:spPr>
        <p:txBody>
          <a:bodyPr wrap="none" lIns="0" tIns="0" rIns="0" bIns="0"/>
          <a:p>
            <a:pPr>
              <a:lnSpc>
                <a:spcPct val="130000"/>
              </a:lnSpc>
            </a:pPr>
            <a:r>
              <a:rPr lang="zh-CN" sz="863">
                <a:solidFill>
                  <a:srgbClr val="FFFFFF">
                    <a:alpha val="88000"/>
                  </a:srgbClr>
                </a:solidFill>
                <a:latin typeface="Microsoft YaHei"/>
                <a:ea typeface="Microsoft YaHei"/>
              </a:rPr>
              <a:t>这条规则是谁定的？什么时候定的？还合用吗？</a:t>
            </a:r>
            <a:endParaRPr/>
          </a:p>
        </p:txBody>
      </p:sp>
      <p:sp>
        <p:nvSpPr>
          <p:cNvPr id="325" name="" descr="{&quot;isTemplate&quot;:true,&quot;type&quot;:&quot;text&quot;}"/>
          <p:cNvSpPr txBox="1"/>
          <p:nvPr/>
        </p:nvSpPr>
        <p:spPr>
          <a:xfrm rot="0" flipH="0" flipV="0">
            <a:off x="762000" y="4552950"/>
            <a:ext cx="400050" cy="133350"/>
          </a:xfrm>
          <a:prstGeom prst="rect"/>
        </p:spPr>
        <p:txBody>
          <a:bodyPr wrap="none" lIns="0" tIns="0" rIns="0" bIns="0"/>
          <a:p>
            <a:pPr>
              <a:lnSpc>
                <a:spcPct val="100000"/>
              </a:lnSpc>
            </a:pPr>
            <a:r>
              <a:rPr lang="zh-CN" sz="825" b="1">
                <a:solidFill>
                  <a:srgbClr val="FA4F24"/>
                </a:solidFill>
                <a:latin typeface="Microsoft YaHei"/>
                <a:ea typeface="Microsoft YaHei"/>
              </a:rPr>
              <a:t>第</a:t>
            </a:r>
            <a:r>
              <a:rPr lang="en-US" sz="825" b="1">
                <a:solidFill>
                  <a:srgbClr val="FA4F24"/>
                </a:solidFill>
                <a:latin typeface="Microsoft YaHei"/>
                <a:ea typeface="Microsoft YaHei"/>
              </a:rPr>
              <a:t xml:space="preserve"> 4 </a:t>
            </a:r>
            <a:r>
              <a:rPr lang="zh-CN" sz="825" b="1">
                <a:solidFill>
                  <a:srgbClr val="FA4F24"/>
                </a:solidFill>
                <a:latin typeface="Microsoft YaHei"/>
                <a:ea typeface="Microsoft YaHei"/>
              </a:rPr>
              <a:t>问</a:t>
            </a:r>
            <a:endParaRPr/>
          </a:p>
        </p:txBody>
      </p:sp>
      <p:sp>
        <p:nvSpPr>
          <p:cNvPr id="326" name="" descr="{&quot;isTemplate&quot;:true,&quot;type&quot;:&quot;text&quot;}"/>
          <p:cNvSpPr txBox="1"/>
          <p:nvPr/>
        </p:nvSpPr>
        <p:spPr>
          <a:xfrm rot="0" flipH="0" flipV="0">
            <a:off x="1247775" y="4533900"/>
            <a:ext cx="4638675" cy="171450"/>
          </a:xfrm>
          <a:prstGeom prst="rect"/>
        </p:spPr>
        <p:txBody>
          <a:bodyPr wrap="none" lIns="0" tIns="0" rIns="0" bIns="0"/>
          <a:p>
            <a:pPr>
              <a:lnSpc>
                <a:spcPct val="130000"/>
              </a:lnSpc>
            </a:pPr>
            <a:r>
              <a:rPr lang="zh-CN" sz="863">
                <a:solidFill>
                  <a:srgbClr val="FFFFFF">
                    <a:alpha val="88000"/>
                  </a:srgbClr>
                </a:solidFill>
                <a:latin typeface="Microsoft YaHei"/>
                <a:ea typeface="Microsoft YaHei"/>
              </a:rPr>
              <a:t>如果改这条规则，会动到谁的权责？（跨部门影响在这里暴露）</a:t>
            </a:r>
            <a:endParaRPr/>
          </a:p>
        </p:txBody>
      </p:sp>
      <p:sp>
        <p:nvSpPr>
          <p:cNvPr id="327" name="" descr="{&quot;isTemplate&quot;:true,&quot;type&quot;:&quot;text&quot;}"/>
          <p:cNvSpPr txBox="1"/>
          <p:nvPr/>
        </p:nvSpPr>
        <p:spPr>
          <a:xfrm rot="0" flipH="0" flipV="0">
            <a:off x="762000" y="4886325"/>
            <a:ext cx="400050" cy="133350"/>
          </a:xfrm>
          <a:prstGeom prst="rect"/>
        </p:spPr>
        <p:txBody>
          <a:bodyPr wrap="none" lIns="0" tIns="0" rIns="0" bIns="0"/>
          <a:p>
            <a:pPr>
              <a:lnSpc>
                <a:spcPct val="100000"/>
              </a:lnSpc>
            </a:pPr>
            <a:r>
              <a:rPr lang="zh-CN" sz="825" b="1">
                <a:solidFill>
                  <a:srgbClr val="FA4F24"/>
                </a:solidFill>
                <a:latin typeface="Microsoft YaHei"/>
                <a:ea typeface="Microsoft YaHei"/>
              </a:rPr>
              <a:t>第</a:t>
            </a:r>
            <a:r>
              <a:rPr lang="en-US" sz="825" b="1">
                <a:solidFill>
                  <a:srgbClr val="FA4F24"/>
                </a:solidFill>
                <a:latin typeface="Microsoft YaHei"/>
                <a:ea typeface="Microsoft YaHei"/>
              </a:rPr>
              <a:t xml:space="preserve"> 5 </a:t>
            </a:r>
            <a:r>
              <a:rPr lang="zh-CN" sz="825" b="1">
                <a:solidFill>
                  <a:srgbClr val="FA4F24"/>
                </a:solidFill>
                <a:latin typeface="Microsoft YaHei"/>
                <a:ea typeface="Microsoft YaHei"/>
              </a:rPr>
              <a:t>问</a:t>
            </a:r>
            <a:endParaRPr/>
          </a:p>
        </p:txBody>
      </p:sp>
      <p:sp>
        <p:nvSpPr>
          <p:cNvPr id="328" name="" descr="{&quot;isTemplate&quot;:true,&quot;type&quot;:&quot;text&quot;}"/>
          <p:cNvSpPr txBox="1"/>
          <p:nvPr/>
        </p:nvSpPr>
        <p:spPr>
          <a:xfrm rot="0" flipH="0" flipV="0">
            <a:off x="1247775" y="4867275"/>
            <a:ext cx="4638675" cy="171450"/>
          </a:xfrm>
          <a:prstGeom prst="rect"/>
        </p:spPr>
        <p:txBody>
          <a:bodyPr wrap="none" lIns="0" tIns="0" rIns="0" bIns="0"/>
          <a:p>
            <a:pPr>
              <a:lnSpc>
                <a:spcPct val="130000"/>
              </a:lnSpc>
            </a:pPr>
            <a:r>
              <a:rPr lang="zh-CN" sz="863">
                <a:solidFill>
                  <a:srgbClr val="FFFFFF">
                    <a:alpha val="88000"/>
                  </a:srgbClr>
                </a:solidFill>
                <a:latin typeface="Microsoft YaHei"/>
                <a:ea typeface="Microsoft YaHei"/>
              </a:rPr>
              <a:t>不改这条规则，后果由谁承担？（找到真正的压力来源）</a:t>
            </a:r>
            <a:endParaRPr/>
          </a:p>
        </p:txBody>
      </p:sp>
      <p:sp>
        <p:nvSpPr>
          <p:cNvPr id="329" name=""/>
          <p:cNvSpPr/>
          <p:nvPr/>
        </p:nvSpPr>
        <p:spPr>
          <a:xfrm rot="0" flipH="0" flipV="0">
            <a:off x="6162675" y="3133725"/>
            <a:ext cx="5457825" cy="2085975"/>
          </a:xfrm>
          <a:prstGeom prst="roundRect">
            <a:avLst>
              <a:gd name="adj" fmla="val 1826"/>
            </a:avLst>
          </a:prstGeom>
          <a:solidFill>
            <a:srgbClr val="FFF3EE"/>
          </a:solidFill>
          <a:ln/>
        </p:spPr>
        <p:txBody>
          <a:bodyPr/>
          <a:p/>
        </p:txBody>
      </p:sp>
      <p:sp>
        <p:nvSpPr>
          <p:cNvPr id="330" name=""/>
          <p:cNvSpPr/>
          <p:nvPr/>
        </p:nvSpPr>
        <p:spPr>
          <a:xfrm rot="0" flipH="0" flipV="0">
            <a:off x="6162675" y="3133725"/>
            <a:ext cx="5457825" cy="2085975"/>
          </a:xfrm>
          <a:custGeom>
            <a:pathLst>
              <a:path w="573" h="219">
                <a:moveTo>
                  <a:pt x="4" y="219"/>
                </a:moveTo>
                <a:cubicBezTo>
                  <a:pt x="2" y="219"/>
                  <a:pt x="0" y="217"/>
                  <a:pt x="0" y="215"/>
                </a:cubicBezTo>
                <a:lnTo>
                  <a:pt x="0" y="4"/>
                </a:lnTo>
                <a:cubicBezTo>
                  <a:pt x="0" y="2"/>
                  <a:pt x="2" y="0"/>
                  <a:pt x="4" y="0"/>
                </a:cubicBezTo>
                <a:lnTo>
                  <a:pt x="4" y="219"/>
                </a:lnTo>
                <a:close/>
              </a:path>
            </a:pathLst>
          </a:custGeom>
          <a:solidFill>
            <a:srgbClr val="FA4F24"/>
          </a:solidFill>
          <a:ln/>
        </p:spPr>
        <p:txBody>
          <a:bodyPr/>
          <a:p/>
        </p:txBody>
      </p:sp>
      <p:sp>
        <p:nvSpPr>
          <p:cNvPr id="331" name="" descr="{&quot;isTemplate&quot;:true,&quot;type&quot;:&quot;text&quot;}"/>
          <p:cNvSpPr txBox="1"/>
          <p:nvPr/>
        </p:nvSpPr>
        <p:spPr>
          <a:xfrm rot="0" flipH="0" flipV="0">
            <a:off x="6315075" y="3648075"/>
            <a:ext cx="5114925" cy="142875"/>
          </a:xfrm>
          <a:prstGeom prst="rect"/>
        </p:spPr>
        <p:txBody>
          <a:bodyPr wrap="none" lIns="0" tIns="0" rIns="0" bIns="0"/>
          <a:p>
            <a:pPr>
              <a:lnSpc>
                <a:spcPct val="100000"/>
              </a:lnSpc>
            </a:pPr>
            <a:r>
              <a:rPr lang="zh-CN" sz="938" b="1">
                <a:solidFill>
                  <a:srgbClr val="C43A17"/>
                </a:solidFill>
                <a:latin typeface="Microsoft YaHei"/>
                <a:ea typeface="Microsoft YaHei"/>
              </a:rPr>
              <a:t>为什么必须追到第五层</a:t>
            </a:r>
            <a:endParaRPr/>
          </a:p>
        </p:txBody>
      </p:sp>
      <p:sp>
        <p:nvSpPr>
          <p:cNvPr id="332" name="" descr="{&quot;isTemplate&quot;:true,&quot;type&quot;:&quot;text&quot;}"/>
          <p:cNvSpPr txBox="1"/>
          <p:nvPr/>
        </p:nvSpPr>
        <p:spPr>
          <a:xfrm rot="0" flipH="0" flipV="0">
            <a:off x="6315075" y="3857625"/>
            <a:ext cx="511492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只问到第二层，得到的是系统需求；问到第五层，得到的才是变革建议。能源项目里大量痛点最终落在「权责划分」上</a:t>
            </a:r>
            <a:r>
              <a:rPr lang="en-US" sz="863">
                <a:solidFill>
                  <a:srgbClr val="3A4050"/>
                </a:solidFill>
                <a:latin typeface="Microsoft YaHei"/>
                <a:ea typeface="Microsoft YaHei"/>
              </a:rPr>
              <a:t xml:space="preserve"> —— </a:t>
            </a:r>
            <a:r>
              <a:rPr lang="zh-CN" sz="863">
                <a:solidFill>
                  <a:srgbClr val="3A4050"/>
                </a:solidFill>
                <a:latin typeface="Microsoft YaHei"/>
                <a:ea typeface="Microsoft YaHei"/>
              </a:rPr>
              <a:t>谁对投资回报负责、谁对资产保值负责，追不到这一层，补再多系统也没用。</a:t>
            </a:r>
            <a:endParaRPr/>
          </a:p>
        </p:txBody>
      </p:sp>
      <p:sp>
        <p:nvSpPr>
          <p:cNvPr id="333" name="" descr="{&quot;isTemplate&quot;:true,&quot;type&quot;:&quot;text&quot;}"/>
          <p:cNvSpPr txBox="1"/>
          <p:nvPr/>
        </p:nvSpPr>
        <p:spPr>
          <a:xfrm rot="0" flipH="0" flipV="0">
            <a:off x="6315075" y="4333875"/>
            <a:ext cx="5114925" cy="371475"/>
          </a:xfrm>
          <a:prstGeom prst="rect"/>
        </p:spPr>
        <p:txBody>
          <a:bodyPr wrap="square" lIns="0" tIns="0" rIns="0" bIns="0">
            <a:normAutofit/>
          </a:bodyPr>
          <a:p>
            <a:pPr>
              <a:lnSpc>
                <a:spcPct val="140000"/>
              </a:lnSpc>
            </a:pPr>
            <a:r>
              <a:rPr lang="zh-CN" sz="863" b="1">
                <a:solidFill>
                  <a:srgbClr val="C43A17"/>
                </a:solidFill>
                <a:latin typeface="Microsoft YaHei"/>
                <a:ea typeface="Microsoft YaHei"/>
              </a:rPr>
              <a:t>追不到根因的痛点不是删掉，是标记为「现象待观察」——写进报告但不下结论，避免在评审时被迫二选一。</a:t>
            </a:r>
            <a:endParaRPr/>
          </a:p>
        </p:txBody>
      </p:sp>
      <p:sp>
        <p:nvSpPr>
          <p:cNvPr id="334" name=""/>
          <p:cNvSpPr/>
          <p:nvPr/>
        </p:nvSpPr>
        <p:spPr>
          <a:xfrm rot="0" flipH="0" flipV="0">
            <a:off x="647700" y="5295900"/>
            <a:ext cx="10972800" cy="361950"/>
          </a:xfrm>
          <a:prstGeom prst="roundRect">
            <a:avLst>
              <a:gd name="adj" fmla="val 10526"/>
            </a:avLst>
          </a:prstGeom>
          <a:solidFill>
            <a:srgbClr val="F7F7F8"/>
          </a:solidFill>
          <a:ln/>
        </p:spPr>
        <p:txBody>
          <a:bodyPr/>
          <a:p/>
        </p:txBody>
      </p:sp>
      <p:sp>
        <p:nvSpPr>
          <p:cNvPr id="335" name=""/>
          <p:cNvSpPr/>
          <p:nvPr/>
        </p:nvSpPr>
        <p:spPr>
          <a:xfrm rot="0" flipH="0" flipV="0">
            <a:off x="647700" y="5295900"/>
            <a:ext cx="10972800" cy="361950"/>
          </a:xfrm>
          <a:custGeom>
            <a:pathLst>
              <a:path w="1152" h="38">
                <a:moveTo>
                  <a:pt x="4" y="38"/>
                </a:moveTo>
                <a:cubicBezTo>
                  <a:pt x="2" y="38"/>
                  <a:pt x="0" y="36"/>
                  <a:pt x="0" y="34"/>
                </a:cubicBezTo>
                <a:lnTo>
                  <a:pt x="0" y="4"/>
                </a:lnTo>
                <a:cubicBezTo>
                  <a:pt x="0" y="2"/>
                  <a:pt x="2" y="0"/>
                  <a:pt x="4" y="0"/>
                </a:cubicBezTo>
                <a:lnTo>
                  <a:pt x="4" y="38"/>
                </a:lnTo>
                <a:close/>
              </a:path>
            </a:pathLst>
          </a:custGeom>
          <a:solidFill>
            <a:srgbClr val="FA4F24"/>
          </a:solidFill>
          <a:ln/>
        </p:spPr>
        <p:txBody>
          <a:bodyPr/>
          <a:p/>
        </p:txBody>
      </p:sp>
      <p:sp>
        <p:nvSpPr>
          <p:cNvPr id="336" name="" descr="{&quot;isTemplate&quot;:true,&quot;type&quot;:&quot;text&quot;}"/>
          <p:cNvSpPr txBox="1"/>
          <p:nvPr/>
        </p:nvSpPr>
        <p:spPr>
          <a:xfrm rot="0" flipH="0" flipV="0">
            <a:off x="800100" y="5410200"/>
            <a:ext cx="1219200" cy="142875"/>
          </a:xfrm>
          <a:prstGeom prst="rect"/>
        </p:spPr>
        <p:txBody>
          <a:bodyPr wrap="none" lIns="0" tIns="0" rIns="0" bIns="0"/>
          <a:p>
            <a:pPr>
              <a:lnSpc>
                <a:spcPct val="100000"/>
              </a:lnSpc>
            </a:pPr>
            <a:r>
              <a:rPr lang="zh-CN" sz="938" b="1">
                <a:solidFill>
                  <a:srgbClr val="C43A17"/>
                </a:solidFill>
                <a:latin typeface="Microsoft YaHei"/>
                <a:ea typeface="Microsoft YaHei"/>
              </a:rPr>
              <a:t>阶段一收口</a:t>
            </a:r>
            <a:endParaRPr/>
          </a:p>
        </p:txBody>
      </p:sp>
      <p:sp>
        <p:nvSpPr>
          <p:cNvPr id="337" name="" descr="{&quot;isTemplate&quot;:true,&quot;type&quot;:&quot;text&quot;}"/>
          <p:cNvSpPr txBox="1"/>
          <p:nvPr/>
        </p:nvSpPr>
        <p:spPr>
          <a:xfrm rot="0" flipH="0" flipV="0">
            <a:off x="2152650" y="5305425"/>
            <a:ext cx="9277350" cy="342900"/>
          </a:xfrm>
          <a:prstGeom prst="rect"/>
        </p:spPr>
        <p:txBody>
          <a:bodyPr wrap="square" lIns="0" tIns="0" rIns="0" bIns="0">
            <a:normAutofit/>
          </a:bodyPr>
          <a:p>
            <a:pPr>
              <a:lnSpc>
                <a:spcPct val="130000"/>
              </a:lnSpc>
            </a:pPr>
            <a:r>
              <a:rPr lang="zh-CN" sz="863">
                <a:solidFill>
                  <a:srgbClr val="0F1423"/>
                </a:solidFill>
                <a:latin typeface="Microsoft YaHei"/>
                <a:ea typeface="Microsoft YaHei"/>
              </a:rPr>
              <a:t>《现状分析报告》</a:t>
            </a:r>
            <a:r>
              <a:rPr lang="en-US" sz="863">
                <a:solidFill>
                  <a:srgbClr val="0F1423"/>
                </a:solidFill>
                <a:latin typeface="Microsoft YaHei"/>
                <a:ea typeface="Microsoft YaHei"/>
              </a:rPr>
              <a:t xml:space="preserve">= </a:t>
            </a:r>
            <a:r>
              <a:rPr lang="zh-CN" sz="863">
                <a:solidFill>
                  <a:srgbClr val="0F1423"/>
                </a:solidFill>
                <a:latin typeface="Microsoft YaHei"/>
                <a:ea typeface="Microsoft YaHei"/>
              </a:rPr>
              <a:t>调研概况与访谈记录</a:t>
            </a:r>
            <a:r>
              <a:rPr lang="en-US" sz="863">
                <a:solidFill>
                  <a:srgbClr val="0F1423"/>
                </a:solidFill>
                <a:latin typeface="Microsoft YaHei"/>
                <a:ea typeface="Microsoft YaHei"/>
              </a:rPr>
              <a:t xml:space="preserve"> + </a:t>
            </a:r>
            <a:r>
              <a:rPr lang="zh-CN" sz="863">
                <a:solidFill>
                  <a:srgbClr val="0F1423"/>
                </a:solidFill>
                <a:latin typeface="Microsoft YaHei"/>
                <a:ea typeface="Microsoft YaHei"/>
              </a:rPr>
              <a:t>业务</a:t>
            </a:r>
            <a:r>
              <a:rPr lang="en-US" sz="863">
                <a:solidFill>
                  <a:srgbClr val="0F1423"/>
                </a:solidFill>
                <a:latin typeface="Microsoft YaHei"/>
                <a:ea typeface="Microsoft YaHei"/>
              </a:rPr>
              <a:t>/</a:t>
            </a:r>
            <a:r>
              <a:rPr lang="zh-CN" sz="863">
                <a:solidFill>
                  <a:srgbClr val="0F1423"/>
                </a:solidFill>
                <a:latin typeface="Microsoft YaHei"/>
                <a:ea typeface="Microsoft YaHei"/>
              </a:rPr>
              <a:t>数据</a:t>
            </a:r>
            <a:r>
              <a:rPr lang="en-US" sz="863">
                <a:solidFill>
                  <a:srgbClr val="0F1423"/>
                </a:solidFill>
                <a:latin typeface="Microsoft YaHei"/>
                <a:ea typeface="Microsoft YaHei"/>
              </a:rPr>
              <a:t>/</a:t>
            </a:r>
            <a:r>
              <a:rPr lang="zh-CN" sz="863">
                <a:solidFill>
                  <a:srgbClr val="0F1423"/>
                </a:solidFill>
                <a:latin typeface="Microsoft YaHei"/>
                <a:ea typeface="Microsoft YaHei"/>
              </a:rPr>
              <a:t>系统三维度诊断</a:t>
            </a:r>
            <a:r>
              <a:rPr lang="en-US" sz="863">
                <a:solidFill>
                  <a:srgbClr val="0F1423"/>
                </a:solidFill>
                <a:latin typeface="Microsoft YaHei"/>
                <a:ea typeface="Microsoft YaHei"/>
              </a:rPr>
              <a:t xml:space="preserve"> + </a:t>
            </a:r>
            <a:r>
              <a:rPr lang="zh-CN" sz="863">
                <a:solidFill>
                  <a:srgbClr val="0F1423"/>
                </a:solidFill>
                <a:latin typeface="Microsoft YaHei"/>
                <a:ea typeface="Microsoft YaHei"/>
              </a:rPr>
              <a:t>痛点与根因逐项对应</a:t>
            </a:r>
            <a:r>
              <a:rPr lang="en-US" sz="863">
                <a:solidFill>
                  <a:srgbClr val="0F1423"/>
                </a:solidFill>
                <a:latin typeface="Microsoft YaHei"/>
                <a:ea typeface="Microsoft YaHei"/>
              </a:rPr>
              <a:t xml:space="preserve"> + </a:t>
            </a:r>
            <a:r>
              <a:rPr lang="zh-CN" sz="863">
                <a:solidFill>
                  <a:srgbClr val="0F1423"/>
                </a:solidFill>
                <a:latin typeface="Microsoft YaHei"/>
                <a:ea typeface="Microsoft YaHei"/>
              </a:rPr>
              <a:t>现状数据盘点（流程数量、单据台账、岗位角色、系统数据对象、关键指标口径与取数方式）</a:t>
            </a:r>
            <a:r>
              <a:rPr lang="en-US" sz="863">
                <a:solidFill>
                  <a:srgbClr val="0F1423"/>
                </a:solidFill>
                <a:latin typeface="Microsoft YaHei"/>
                <a:ea typeface="Microsoft YaHei"/>
              </a:rPr>
              <a:t xml:space="preserve">+ </a:t>
            </a:r>
            <a:r>
              <a:rPr lang="zh-CN" sz="863">
                <a:solidFill>
                  <a:srgbClr val="0F1423"/>
                </a:solidFill>
                <a:latin typeface="Microsoft YaHei"/>
                <a:ea typeface="Microsoft YaHei"/>
              </a:rPr>
              <a:t>改进方向与优先级</a:t>
            </a:r>
            <a:r>
              <a:rPr lang="en-US" sz="863">
                <a:solidFill>
                  <a:srgbClr val="0F1423"/>
                </a:solidFill>
                <a:latin typeface="Microsoft YaHei"/>
                <a:ea typeface="Microsoft YaHei"/>
              </a:rPr>
              <a:t xml:space="preserve">            </a:t>
            </a:r>
            <a:endParaRPr/>
          </a:p>
        </p:txBody>
      </p:sp>
      <p:sp>
        <p:nvSpPr>
          <p:cNvPr id="338" name=""/>
          <p:cNvSpPr/>
          <p:nvPr/>
        </p:nvSpPr>
        <p:spPr>
          <a:xfrm rot="0" flipH="0" flipV="0">
            <a:off x="609600" y="5943600"/>
            <a:ext cx="133350" cy="133350"/>
          </a:xfrm>
          <a:prstGeom prst="rect">
            <a:avLst/>
          </a:prstGeom>
          <a:solidFill>
            <a:srgbClr val="FA4F24"/>
          </a:solidFill>
          <a:ln/>
        </p:spPr>
        <p:txBody>
          <a:bodyPr/>
          <a:p/>
        </p:txBody>
      </p:sp>
      <p:sp>
        <p:nvSpPr>
          <p:cNvPr id="339"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34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14 / 36</a:t>
            </a:r>
            <a:endParaRPr/>
          </a:p>
        </p:txBody>
      </p:sp>
    </p:spTree>
  </p:cSld>
</p:sld>
</file>

<file path=ppt/slides/slide15.xml><?xml version="1.0" encoding="utf-8"?>
<p:sld xmlns:p="http://schemas.openxmlformats.org/presentationml/2006/main" xmlns:a="http://schemas.openxmlformats.org/drawingml/2006/main">
  <p:cSld>
    <p:spTree>
      <p:nvGrpSpPr>
        <p:cNvPr id="341" name="" descr="&lt;Slide style={{ width: 1280, height: 720, background: '#FFFFFF', padding: '24px 64px 0' }}&gt;&#10;    {/* A 区 */}&#10;    &lt;Box style={{ height: 96, flexDirection: 'column', justifyContent: 'flex-start' }}&gt;&#10;        &lt;Text style={{ fontSize: 32, fontWeight: 'bold', color: '#0F1423' }}&gt;&#10;            业务现状分析框架 &lt;span style={{ color: '#FA4F24' }}&gt;五维扫描&lt;/span&gt;&#10;        &lt;/Text&gt;&#10;        &lt;Text style={{ fontSize: 19, color: '#8A8F99', marginTop: 7 }}&gt;&#10;            招标要求的五项现状盘点逐项给判据，不采信「基本覆盖」这种说法&#10;        &lt;/Text&gt;&#10;    &lt;/Box&gt;&#10;    &lt;Box style={{ height: 1, background: '#E8E8E8' }} /&gt;&#10;&#10;    {/* B 区 */}&#10;    &lt;Box style={{ paddingTop: 10, paddingBottom: 6, height: 479, flexDirection: 'column', gap: 8 }}&gt;&#10;        {/* 五维 */}&#10;        {[&#10;            { n: '1', t: '流程现状', c: '#FA4F24', pts: ['盘点到 L3：每个流程域有多少条流程、每条流程多少个关键环节', '判据：能独立指派责任、输入输出明确的才算一条流程', '重点看跨部门交接点，交接次数越多越容易挂起'], d: '产出：流程现状清单（含流程数量）' },&#10;            { n: '2', t: '单据台账', c: '#E0641E', pts: ['每条流程逐环节列出单据名称、份数、填写方、审批方', '判据：同一信息在两张单据上填两遍 = 冗余登记', '收集实际样表，不接受「照标准流程应该这样」的描述'], d: '产出：单据台账矩阵（含样表）' },&#10;            { n: '3', t: '岗位角色', c: '#D2531A', pts: ['每个环节标出责任岗位、审批岗位、协同岗位', '判据：一岗多责且无优先级排序，是审批挂起的常见根因', '角色与组织名对齐，但先画角色再对组织'], d: '产出：岗位角色责任矩阵' },&#10;            { n: '4', t: '系统数据对象', c: '#C43A17', pts: ['每个流程环节标出：由哪个系统的哪个数据对象支撑', '判据：一个流程跨三个系统以上，集成断点就在这里', '同时标出系统里「有但没人用」的数据对象'], d: '产出：系统—流程—数据对象对应表' },&#10;            { n: '5', t: '关键指标口径与取数', c: '#9E3410', pts: ['逐指标问清：业务定义、计算公式、取哪张表、多久更新一次', '判据：同一个指标出现两个版本且没人能裁定，就是治理问题', '口径没定下来的指标，一律标为「口径待裁定」'], d: '产出：指标口径现状表（含冲突标记）' },&#10;        ].map((x, i) =&gt; (&#10;            &lt;Box key={x.n} style={{ flex: 1, flexDirection: 'row', gap: 10, alignItems: 'stretch', background: i === 0 ? '#FFF3EE' : '#F7F7F8', borderRadius: 4, borderLeft: '4px solid ' + x.c }}&gt;&#10;                &lt;Box style={{ width: 44, alignItems: 'center', justifyContent: 'center', flexDirection: 'row' }}&gt;&#10;                    &lt;Text style={{ fontSize: 24, fontWeight: 'bold', color: x.c }}&gt;{x.n}&lt;/Text&gt;&#10;                &lt;/Box&gt;&#10;                &lt;Box style={{ width: 128, justifyContent: 'center', flexDirection: 'column' }}&gt;&#10;                    &lt;Text style={{ fontSize: 14, fontWeight: 'bold', color: '#0F1423' }}&gt;{x.t}&lt;/Text&gt;&#10;                &lt;/Box&gt;&#10;                &lt;Box style={{ flex: 1, flexDirection: 'column', justifyContent: 'center', gap: 2 }}&gt;&#10;                    {x.pts.map((p) =&gt; (&#10;                        &lt;Text key={p} style={{ fontSize: 10.5, color: '#3A4050', lineHeight: 1.35 }}&gt;{'· ' + p}&lt;/Text&gt;&#10;                    ))}&#10;                &lt;/Box&gt;&#10;                &lt;Box style={{ width: 246, background: '#FFFFFF', borderRadius: 3, padding: '0 11px', flexDirection: 'column', justifyContent: 'center' }}&gt;&#10;                    &lt;Text style={{ fontSize: 10.5, color: x.c, fontWeight: 'bold', lineHeight: 1.3 }}&gt;{x.d}&lt;/Text&gt;&#10;                &lt;/Box&gt;&#10;            &lt;/Box&gt;&#10;        ))}&#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15 / 36&lt;/Text&gt;&#10;    &lt;/Box&gt;&#10;&lt;/Slide&gt;&#10;"/>
        <p:cNvGrpSpPr/>
        <p:nvPr/>
      </p:nvGrpSpPr>
      <p:grpSpPr>
        <a:xfrm>
          <a:off x="0" y="0"/>
          <a:ext cx="0" cy="0"/>
          <a:chOff x="0" y="0"/>
          <a:chExt cx="0" cy="0"/>
        </a:xfrm>
      </p:grpSpPr>
      <p:sp>
        <p:nvSpPr>
          <p:cNvPr id="342" name=""/>
          <p:cNvSpPr/>
          <p:nvPr/>
        </p:nvSpPr>
        <p:spPr>
          <a:xfrm rot="0" flipH="0" flipV="0">
            <a:off x="0" y="0"/>
            <a:ext cx="12192000" cy="6858000"/>
          </a:xfrm>
          <a:prstGeom prst="rect">
            <a:avLst/>
          </a:prstGeom>
          <a:solidFill>
            <a:srgbClr val="FFFFFF"/>
          </a:solidFill>
          <a:ln/>
        </p:spPr>
        <p:txBody>
          <a:bodyPr/>
          <a:p/>
        </p:txBody>
      </p:sp>
      <p:sp>
        <p:nvSpPr>
          <p:cNvPr id="34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业务现状分析框架</a:t>
            </a:r>
            <a:r>
              <a:rPr lang="en-US" sz="2400" b="1">
                <a:solidFill>
                  <a:srgbClr val="0F1423"/>
                </a:solidFill>
                <a:latin typeface="Microsoft YaHei"/>
                <a:ea typeface="Microsoft YaHei"/>
              </a:rPr>
              <a:t xml:space="preserve"> </a:t>
            </a:r>
            <a:r>
              <a:rPr lang="zh-CN" sz="2400" b="1">
                <a:solidFill>
                  <a:srgbClr val="FA4F24"/>
                </a:solidFill>
                <a:latin typeface="Microsoft YaHei"/>
                <a:ea typeface="Microsoft YaHei"/>
              </a:rPr>
              <a:t>五维扫描</a:t>
            </a:r>
            <a:endParaRPr/>
          </a:p>
        </p:txBody>
      </p:sp>
      <p:sp>
        <p:nvSpPr>
          <p:cNvPr id="344"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招标要求的五项现状盘点逐项给判据，不采信「基本覆盖」这种说法</a:t>
            </a:r>
            <a:endParaRPr/>
          </a:p>
        </p:txBody>
      </p:sp>
      <p:sp>
        <p:nvSpPr>
          <p:cNvPr id="345" name=""/>
          <p:cNvSpPr/>
          <p:nvPr/>
        </p:nvSpPr>
        <p:spPr>
          <a:xfrm rot="0" flipH="0" flipV="0">
            <a:off x="609600" y="1143000"/>
            <a:ext cx="10972800" cy="9525"/>
          </a:xfrm>
          <a:prstGeom prst="rect">
            <a:avLst/>
          </a:prstGeom>
          <a:solidFill>
            <a:srgbClr val="E8E8E8"/>
          </a:solidFill>
          <a:ln/>
        </p:spPr>
        <p:txBody>
          <a:bodyPr/>
          <a:p/>
        </p:txBody>
      </p:sp>
      <p:sp>
        <p:nvSpPr>
          <p:cNvPr id="346" name=""/>
          <p:cNvSpPr/>
          <p:nvPr/>
        </p:nvSpPr>
        <p:spPr>
          <a:xfrm rot="0" flipH="0" flipV="0">
            <a:off x="647700" y="1247775"/>
            <a:ext cx="10972800" cy="819150"/>
          </a:xfrm>
          <a:prstGeom prst="roundRect">
            <a:avLst>
              <a:gd name="adj" fmla="val 4651"/>
            </a:avLst>
          </a:prstGeom>
          <a:solidFill>
            <a:srgbClr val="FFF3EE"/>
          </a:solidFill>
          <a:ln/>
        </p:spPr>
        <p:txBody>
          <a:bodyPr/>
          <a:p/>
        </p:txBody>
      </p:sp>
      <p:sp>
        <p:nvSpPr>
          <p:cNvPr id="347" name=""/>
          <p:cNvSpPr/>
          <p:nvPr/>
        </p:nvSpPr>
        <p:spPr>
          <a:xfrm rot="0" flipH="0" flipV="0">
            <a:off x="647700" y="1247775"/>
            <a:ext cx="10972800" cy="819150"/>
          </a:xfrm>
          <a:custGeom>
            <a:pathLst>
              <a:path w="1152" h="86">
                <a:moveTo>
                  <a:pt x="4" y="86"/>
                </a:moveTo>
                <a:cubicBezTo>
                  <a:pt x="2" y="86"/>
                  <a:pt x="0" y="84"/>
                  <a:pt x="0" y="82"/>
                </a:cubicBezTo>
                <a:lnTo>
                  <a:pt x="0" y="4"/>
                </a:lnTo>
                <a:cubicBezTo>
                  <a:pt x="0" y="2"/>
                  <a:pt x="2" y="0"/>
                  <a:pt x="4" y="0"/>
                </a:cubicBezTo>
                <a:lnTo>
                  <a:pt x="4" y="86"/>
                </a:lnTo>
                <a:close/>
              </a:path>
            </a:pathLst>
          </a:custGeom>
          <a:solidFill>
            <a:srgbClr val="FA4F24"/>
          </a:solidFill>
          <a:ln/>
        </p:spPr>
        <p:txBody>
          <a:bodyPr/>
          <a:p/>
        </p:txBody>
      </p:sp>
      <p:sp>
        <p:nvSpPr>
          <p:cNvPr id="348" name="" descr="{&quot;isTemplate&quot;:true,&quot;type&quot;:&quot;text&quot;}"/>
          <p:cNvSpPr txBox="1"/>
          <p:nvPr/>
        </p:nvSpPr>
        <p:spPr>
          <a:xfrm rot="0" flipH="0" flipV="0">
            <a:off x="790575" y="1524000"/>
            <a:ext cx="142875" cy="276225"/>
          </a:xfrm>
          <a:prstGeom prst="rect"/>
        </p:spPr>
        <p:txBody>
          <a:bodyPr wrap="none" lIns="0" tIns="0" rIns="0" bIns="0"/>
          <a:p>
            <a:pPr>
              <a:lnSpc>
                <a:spcPct val="100000"/>
              </a:lnSpc>
            </a:pPr>
            <a:r>
              <a:rPr lang="en-US" sz="1800" b="1">
                <a:solidFill>
                  <a:srgbClr val="FA4F24"/>
                </a:solidFill>
                <a:latin typeface="Microsoft YaHei"/>
                <a:ea typeface="Microsoft YaHei"/>
              </a:rPr>
              <a:t>1</a:t>
            </a:r>
            <a:endParaRPr/>
          </a:p>
        </p:txBody>
      </p:sp>
      <p:sp>
        <p:nvSpPr>
          <p:cNvPr id="349" name="" descr="{&quot;isTemplate&quot;:true,&quot;type&quot;:&quot;text&quot;}"/>
          <p:cNvSpPr txBox="1"/>
          <p:nvPr/>
        </p:nvSpPr>
        <p:spPr>
          <a:xfrm rot="0" flipH="0" flipV="0">
            <a:off x="1162050" y="1581150"/>
            <a:ext cx="1219200" cy="161925"/>
          </a:xfrm>
          <a:prstGeom prst="rect"/>
        </p:spPr>
        <p:txBody>
          <a:bodyPr wrap="none" lIns="0" tIns="0" rIns="0" bIns="0"/>
          <a:p>
            <a:pPr>
              <a:lnSpc>
                <a:spcPct val="100000"/>
              </a:lnSpc>
            </a:pPr>
            <a:r>
              <a:rPr lang="zh-CN" sz="1050" b="1">
                <a:solidFill>
                  <a:srgbClr val="0F1423"/>
                </a:solidFill>
                <a:latin typeface="Microsoft YaHei"/>
                <a:ea typeface="Microsoft YaHei"/>
              </a:rPr>
              <a:t>流程现状</a:t>
            </a:r>
            <a:endParaRPr/>
          </a:p>
        </p:txBody>
      </p:sp>
      <p:sp>
        <p:nvSpPr>
          <p:cNvPr id="350" name="" descr="{&quot;isTemplate&quot;:true,&quot;type&quot;:&quot;text&quot;}"/>
          <p:cNvSpPr txBox="1"/>
          <p:nvPr/>
        </p:nvSpPr>
        <p:spPr>
          <a:xfrm rot="0" flipH="0" flipV="0">
            <a:off x="2476500" y="1381125"/>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盘点到</a:t>
            </a:r>
            <a:r>
              <a:rPr lang="en-US" sz="788">
                <a:solidFill>
                  <a:srgbClr val="3A4050"/>
                </a:solidFill>
                <a:latin typeface="Microsoft YaHei"/>
                <a:ea typeface="Microsoft YaHei"/>
              </a:rPr>
              <a:t xml:space="preserve"> L3</a:t>
            </a:r>
            <a:r>
              <a:rPr lang="zh-CN" sz="788">
                <a:solidFill>
                  <a:srgbClr val="3A4050"/>
                </a:solidFill>
                <a:latin typeface="Microsoft YaHei"/>
                <a:ea typeface="Microsoft YaHei"/>
              </a:rPr>
              <a:t>：每个流程域有多少条流程、每条流程多少个关键环节</a:t>
            </a:r>
            <a:endParaRPr/>
          </a:p>
        </p:txBody>
      </p:sp>
      <p:sp>
        <p:nvSpPr>
          <p:cNvPr id="351" name="" descr="{&quot;isTemplate&quot;:true,&quot;type&quot;:&quot;text&quot;}"/>
          <p:cNvSpPr txBox="1"/>
          <p:nvPr/>
        </p:nvSpPr>
        <p:spPr>
          <a:xfrm rot="0" flipH="0" flipV="0">
            <a:off x="2476500" y="1571625"/>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判据：能独立指派责任、输入输出明确的才算一条流程</a:t>
            </a:r>
            <a:endParaRPr/>
          </a:p>
        </p:txBody>
      </p:sp>
      <p:sp>
        <p:nvSpPr>
          <p:cNvPr id="352" name="" descr="{&quot;isTemplate&quot;:true,&quot;type&quot;:&quot;text&quot;}"/>
          <p:cNvSpPr txBox="1"/>
          <p:nvPr/>
        </p:nvSpPr>
        <p:spPr>
          <a:xfrm rot="0" flipH="0" flipV="0">
            <a:off x="2476500" y="1762125"/>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重点看跨部门交接点，交接次数越多越容易挂起</a:t>
            </a:r>
            <a:endParaRPr/>
          </a:p>
        </p:txBody>
      </p:sp>
      <p:sp>
        <p:nvSpPr>
          <p:cNvPr id="353" name=""/>
          <p:cNvSpPr/>
          <p:nvPr/>
        </p:nvSpPr>
        <p:spPr>
          <a:xfrm rot="0" flipH="0" flipV="0">
            <a:off x="9239250" y="1247775"/>
            <a:ext cx="2343150" cy="819150"/>
          </a:xfrm>
          <a:prstGeom prst="roundRect">
            <a:avLst>
              <a:gd name="adj" fmla="val 3488"/>
            </a:avLst>
          </a:prstGeom>
          <a:solidFill>
            <a:srgbClr val="FFFFFF"/>
          </a:solidFill>
          <a:ln/>
        </p:spPr>
        <p:txBody>
          <a:bodyPr/>
          <a:p/>
        </p:txBody>
      </p:sp>
      <p:sp>
        <p:nvSpPr>
          <p:cNvPr id="354" name="" descr="{&quot;isTemplate&quot;:true,&quot;type&quot;:&quot;text&quot;}"/>
          <p:cNvSpPr txBox="1"/>
          <p:nvPr/>
        </p:nvSpPr>
        <p:spPr>
          <a:xfrm rot="0" flipH="0" flipV="0">
            <a:off x="9344025" y="1581150"/>
            <a:ext cx="2133600" cy="161925"/>
          </a:xfrm>
          <a:prstGeom prst="rect"/>
        </p:spPr>
        <p:txBody>
          <a:bodyPr wrap="none" lIns="0" tIns="0" rIns="0" bIns="0"/>
          <a:p>
            <a:pPr>
              <a:lnSpc>
                <a:spcPct val="130000"/>
              </a:lnSpc>
            </a:pPr>
            <a:r>
              <a:rPr lang="zh-CN" sz="788" b="1">
                <a:solidFill>
                  <a:srgbClr val="FA4F24"/>
                </a:solidFill>
                <a:latin typeface="Microsoft YaHei"/>
                <a:ea typeface="Microsoft YaHei"/>
              </a:rPr>
              <a:t>产出：流程现状清单（含流程数量）</a:t>
            </a:r>
            <a:endParaRPr/>
          </a:p>
        </p:txBody>
      </p:sp>
      <p:sp>
        <p:nvSpPr>
          <p:cNvPr id="355" name=""/>
          <p:cNvSpPr/>
          <p:nvPr/>
        </p:nvSpPr>
        <p:spPr>
          <a:xfrm rot="0" flipH="0" flipV="0">
            <a:off x="647700" y="2143125"/>
            <a:ext cx="10972800" cy="819150"/>
          </a:xfrm>
          <a:prstGeom prst="roundRect">
            <a:avLst>
              <a:gd name="adj" fmla="val 4651"/>
            </a:avLst>
          </a:prstGeom>
          <a:solidFill>
            <a:srgbClr val="F7F7F8"/>
          </a:solidFill>
          <a:ln/>
        </p:spPr>
        <p:txBody>
          <a:bodyPr/>
          <a:p/>
        </p:txBody>
      </p:sp>
      <p:sp>
        <p:nvSpPr>
          <p:cNvPr id="356" name=""/>
          <p:cNvSpPr/>
          <p:nvPr/>
        </p:nvSpPr>
        <p:spPr>
          <a:xfrm rot="0" flipH="0" flipV="0">
            <a:off x="647700" y="2143125"/>
            <a:ext cx="10972800" cy="819150"/>
          </a:xfrm>
          <a:custGeom>
            <a:pathLst>
              <a:path w="1152" h="86">
                <a:moveTo>
                  <a:pt x="4" y="86"/>
                </a:moveTo>
                <a:cubicBezTo>
                  <a:pt x="2" y="86"/>
                  <a:pt x="0" y="84"/>
                  <a:pt x="0" y="82"/>
                </a:cubicBezTo>
                <a:lnTo>
                  <a:pt x="0" y="4"/>
                </a:lnTo>
                <a:cubicBezTo>
                  <a:pt x="0" y="2"/>
                  <a:pt x="2" y="0"/>
                  <a:pt x="4" y="0"/>
                </a:cubicBezTo>
                <a:lnTo>
                  <a:pt x="4" y="86"/>
                </a:lnTo>
                <a:close/>
              </a:path>
            </a:pathLst>
          </a:custGeom>
          <a:solidFill>
            <a:srgbClr val="E0641E"/>
          </a:solidFill>
          <a:ln/>
        </p:spPr>
        <p:txBody>
          <a:bodyPr/>
          <a:p/>
        </p:txBody>
      </p:sp>
      <p:sp>
        <p:nvSpPr>
          <p:cNvPr id="357" name="" descr="{&quot;isTemplate&quot;:true,&quot;type&quot;:&quot;text&quot;}"/>
          <p:cNvSpPr txBox="1"/>
          <p:nvPr/>
        </p:nvSpPr>
        <p:spPr>
          <a:xfrm rot="0" flipH="0" flipV="0">
            <a:off x="790575" y="2419350"/>
            <a:ext cx="142875" cy="276225"/>
          </a:xfrm>
          <a:prstGeom prst="rect"/>
        </p:spPr>
        <p:txBody>
          <a:bodyPr wrap="none" lIns="0" tIns="0" rIns="0" bIns="0"/>
          <a:p>
            <a:pPr>
              <a:lnSpc>
                <a:spcPct val="100000"/>
              </a:lnSpc>
            </a:pPr>
            <a:r>
              <a:rPr lang="en-US" sz="1800" b="1">
                <a:solidFill>
                  <a:srgbClr val="E0641E"/>
                </a:solidFill>
                <a:latin typeface="Microsoft YaHei"/>
                <a:ea typeface="Microsoft YaHei"/>
              </a:rPr>
              <a:t>2</a:t>
            </a:r>
            <a:endParaRPr/>
          </a:p>
        </p:txBody>
      </p:sp>
      <p:sp>
        <p:nvSpPr>
          <p:cNvPr id="358" name="" descr="{&quot;isTemplate&quot;:true,&quot;type&quot;:&quot;text&quot;}"/>
          <p:cNvSpPr txBox="1"/>
          <p:nvPr/>
        </p:nvSpPr>
        <p:spPr>
          <a:xfrm rot="0" flipH="0" flipV="0">
            <a:off x="1162050" y="2476500"/>
            <a:ext cx="1219200" cy="161925"/>
          </a:xfrm>
          <a:prstGeom prst="rect"/>
        </p:spPr>
        <p:txBody>
          <a:bodyPr wrap="none" lIns="0" tIns="0" rIns="0" bIns="0"/>
          <a:p>
            <a:pPr>
              <a:lnSpc>
                <a:spcPct val="100000"/>
              </a:lnSpc>
            </a:pPr>
            <a:r>
              <a:rPr lang="zh-CN" sz="1050" b="1">
                <a:solidFill>
                  <a:srgbClr val="0F1423"/>
                </a:solidFill>
                <a:latin typeface="Microsoft YaHei"/>
                <a:ea typeface="Microsoft YaHei"/>
              </a:rPr>
              <a:t>单据台账</a:t>
            </a:r>
            <a:endParaRPr/>
          </a:p>
        </p:txBody>
      </p:sp>
      <p:sp>
        <p:nvSpPr>
          <p:cNvPr id="359" name="" descr="{&quot;isTemplate&quot;:true,&quot;type&quot;:&quot;text&quot;}"/>
          <p:cNvSpPr txBox="1"/>
          <p:nvPr/>
        </p:nvSpPr>
        <p:spPr>
          <a:xfrm rot="0" flipH="0" flipV="0">
            <a:off x="2476500" y="2276475"/>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每条流程逐环节列出单据名称、份数、填写方、审批方</a:t>
            </a:r>
            <a:endParaRPr/>
          </a:p>
        </p:txBody>
      </p:sp>
      <p:sp>
        <p:nvSpPr>
          <p:cNvPr id="360" name="" descr="{&quot;isTemplate&quot;:true,&quot;type&quot;:&quot;text&quot;}"/>
          <p:cNvSpPr txBox="1"/>
          <p:nvPr/>
        </p:nvSpPr>
        <p:spPr>
          <a:xfrm rot="0" flipH="0" flipV="0">
            <a:off x="2476500" y="2466975"/>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判据：同一信息在两张单据上填两遍</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冗余登记</a:t>
            </a:r>
            <a:endParaRPr/>
          </a:p>
        </p:txBody>
      </p:sp>
      <p:sp>
        <p:nvSpPr>
          <p:cNvPr id="361" name="" descr="{&quot;isTemplate&quot;:true,&quot;type&quot;:&quot;text&quot;}"/>
          <p:cNvSpPr txBox="1"/>
          <p:nvPr/>
        </p:nvSpPr>
        <p:spPr>
          <a:xfrm rot="0" flipH="0" flipV="0">
            <a:off x="2476500" y="2657475"/>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收集实际样表，不接受「照标准流程应该这样」的描述</a:t>
            </a:r>
            <a:endParaRPr/>
          </a:p>
        </p:txBody>
      </p:sp>
      <p:sp>
        <p:nvSpPr>
          <p:cNvPr id="362" name=""/>
          <p:cNvSpPr/>
          <p:nvPr/>
        </p:nvSpPr>
        <p:spPr>
          <a:xfrm rot="0" flipH="0" flipV="0">
            <a:off x="9239250" y="2143125"/>
            <a:ext cx="2343150" cy="819150"/>
          </a:xfrm>
          <a:prstGeom prst="roundRect">
            <a:avLst>
              <a:gd name="adj" fmla="val 3488"/>
            </a:avLst>
          </a:prstGeom>
          <a:solidFill>
            <a:srgbClr val="FFFFFF"/>
          </a:solidFill>
          <a:ln/>
        </p:spPr>
        <p:txBody>
          <a:bodyPr/>
          <a:p/>
        </p:txBody>
      </p:sp>
      <p:sp>
        <p:nvSpPr>
          <p:cNvPr id="363" name="" descr="{&quot;isTemplate&quot;:true,&quot;type&quot;:&quot;text&quot;}"/>
          <p:cNvSpPr txBox="1"/>
          <p:nvPr/>
        </p:nvSpPr>
        <p:spPr>
          <a:xfrm rot="0" flipH="0" flipV="0">
            <a:off x="9344025" y="2476500"/>
            <a:ext cx="2133600" cy="161925"/>
          </a:xfrm>
          <a:prstGeom prst="rect"/>
        </p:spPr>
        <p:txBody>
          <a:bodyPr wrap="none" lIns="0" tIns="0" rIns="0" bIns="0"/>
          <a:p>
            <a:pPr>
              <a:lnSpc>
                <a:spcPct val="130000"/>
              </a:lnSpc>
            </a:pPr>
            <a:r>
              <a:rPr lang="zh-CN" sz="788" b="1">
                <a:solidFill>
                  <a:srgbClr val="E0641E"/>
                </a:solidFill>
                <a:latin typeface="Microsoft YaHei"/>
                <a:ea typeface="Microsoft YaHei"/>
              </a:rPr>
              <a:t>产出：单据台账矩阵（含样表）</a:t>
            </a:r>
            <a:endParaRPr/>
          </a:p>
        </p:txBody>
      </p:sp>
      <p:sp>
        <p:nvSpPr>
          <p:cNvPr id="364" name=""/>
          <p:cNvSpPr/>
          <p:nvPr/>
        </p:nvSpPr>
        <p:spPr>
          <a:xfrm rot="0" flipH="0" flipV="0">
            <a:off x="647700" y="3038475"/>
            <a:ext cx="10972800" cy="828675"/>
          </a:xfrm>
          <a:prstGeom prst="roundRect">
            <a:avLst>
              <a:gd name="adj" fmla="val 4598"/>
            </a:avLst>
          </a:prstGeom>
          <a:solidFill>
            <a:srgbClr val="F7F7F8"/>
          </a:solidFill>
          <a:ln/>
        </p:spPr>
        <p:txBody>
          <a:bodyPr/>
          <a:p/>
        </p:txBody>
      </p:sp>
      <p:sp>
        <p:nvSpPr>
          <p:cNvPr id="365" name=""/>
          <p:cNvSpPr/>
          <p:nvPr/>
        </p:nvSpPr>
        <p:spPr>
          <a:xfrm rot="0" flipH="0" flipV="0">
            <a:off x="647700" y="3038475"/>
            <a:ext cx="10972800" cy="828675"/>
          </a:xfrm>
          <a:custGeom>
            <a:pathLst>
              <a:path w="1152" h="87">
                <a:moveTo>
                  <a:pt x="4" y="87"/>
                </a:moveTo>
                <a:cubicBezTo>
                  <a:pt x="2" y="87"/>
                  <a:pt x="0" y="85"/>
                  <a:pt x="0" y="83"/>
                </a:cubicBezTo>
                <a:lnTo>
                  <a:pt x="0" y="4"/>
                </a:lnTo>
                <a:cubicBezTo>
                  <a:pt x="0" y="2"/>
                  <a:pt x="2" y="0"/>
                  <a:pt x="4" y="0"/>
                </a:cubicBezTo>
                <a:lnTo>
                  <a:pt x="4" y="87"/>
                </a:lnTo>
                <a:close/>
              </a:path>
            </a:pathLst>
          </a:custGeom>
          <a:solidFill>
            <a:srgbClr val="D2531A"/>
          </a:solidFill>
          <a:ln/>
        </p:spPr>
        <p:txBody>
          <a:bodyPr/>
          <a:p/>
        </p:txBody>
      </p:sp>
      <p:sp>
        <p:nvSpPr>
          <p:cNvPr id="366" name="" descr="{&quot;isTemplate&quot;:true,&quot;type&quot;:&quot;text&quot;}"/>
          <p:cNvSpPr txBox="1"/>
          <p:nvPr/>
        </p:nvSpPr>
        <p:spPr>
          <a:xfrm rot="0" flipH="0" flipV="0">
            <a:off x="790575" y="3314700"/>
            <a:ext cx="142875" cy="276225"/>
          </a:xfrm>
          <a:prstGeom prst="rect"/>
        </p:spPr>
        <p:txBody>
          <a:bodyPr wrap="none" lIns="0" tIns="0" rIns="0" bIns="0"/>
          <a:p>
            <a:pPr>
              <a:lnSpc>
                <a:spcPct val="100000"/>
              </a:lnSpc>
            </a:pPr>
            <a:r>
              <a:rPr lang="en-US" sz="1800" b="1">
                <a:solidFill>
                  <a:srgbClr val="D2531A"/>
                </a:solidFill>
                <a:latin typeface="Microsoft YaHei"/>
                <a:ea typeface="Microsoft YaHei"/>
              </a:rPr>
              <a:t>3</a:t>
            </a:r>
            <a:endParaRPr/>
          </a:p>
        </p:txBody>
      </p:sp>
      <p:sp>
        <p:nvSpPr>
          <p:cNvPr id="367" name="" descr="{&quot;isTemplate&quot;:true,&quot;type&quot;:&quot;text&quot;}"/>
          <p:cNvSpPr txBox="1"/>
          <p:nvPr/>
        </p:nvSpPr>
        <p:spPr>
          <a:xfrm rot="0" flipH="0" flipV="0">
            <a:off x="1162050" y="3371850"/>
            <a:ext cx="1219200" cy="161925"/>
          </a:xfrm>
          <a:prstGeom prst="rect"/>
        </p:spPr>
        <p:txBody>
          <a:bodyPr wrap="none" lIns="0" tIns="0" rIns="0" bIns="0"/>
          <a:p>
            <a:pPr>
              <a:lnSpc>
                <a:spcPct val="100000"/>
              </a:lnSpc>
            </a:pPr>
            <a:r>
              <a:rPr lang="zh-CN" sz="1050" b="1">
                <a:solidFill>
                  <a:srgbClr val="0F1423"/>
                </a:solidFill>
                <a:latin typeface="Microsoft YaHei"/>
                <a:ea typeface="Microsoft YaHei"/>
              </a:rPr>
              <a:t>岗位角色</a:t>
            </a:r>
            <a:endParaRPr/>
          </a:p>
        </p:txBody>
      </p:sp>
      <p:sp>
        <p:nvSpPr>
          <p:cNvPr id="368" name="" descr="{&quot;isTemplate&quot;:true,&quot;type&quot;:&quot;text&quot;}"/>
          <p:cNvSpPr txBox="1"/>
          <p:nvPr/>
        </p:nvSpPr>
        <p:spPr>
          <a:xfrm rot="0" flipH="0" flipV="0">
            <a:off x="2476500" y="3181350"/>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每个环节标出责任岗位、审批岗位、协同岗位</a:t>
            </a:r>
            <a:endParaRPr/>
          </a:p>
        </p:txBody>
      </p:sp>
      <p:sp>
        <p:nvSpPr>
          <p:cNvPr id="369" name="" descr="{&quot;isTemplate&quot;:true,&quot;type&quot;:&quot;text&quot;}"/>
          <p:cNvSpPr txBox="1"/>
          <p:nvPr/>
        </p:nvSpPr>
        <p:spPr>
          <a:xfrm rot="0" flipH="0" flipV="0">
            <a:off x="2476500" y="3371850"/>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判据：一岗多责且无优先级排序，是审批挂起的常见根因</a:t>
            </a:r>
            <a:endParaRPr/>
          </a:p>
        </p:txBody>
      </p:sp>
      <p:sp>
        <p:nvSpPr>
          <p:cNvPr id="370" name="" descr="{&quot;isTemplate&quot;:true,&quot;type&quot;:&quot;text&quot;}"/>
          <p:cNvSpPr txBox="1"/>
          <p:nvPr/>
        </p:nvSpPr>
        <p:spPr>
          <a:xfrm rot="0" flipH="0" flipV="0">
            <a:off x="2476500" y="3562350"/>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角色与组织名对齐，但先画角色再对组织</a:t>
            </a:r>
            <a:endParaRPr/>
          </a:p>
        </p:txBody>
      </p:sp>
      <p:sp>
        <p:nvSpPr>
          <p:cNvPr id="371" name=""/>
          <p:cNvSpPr/>
          <p:nvPr/>
        </p:nvSpPr>
        <p:spPr>
          <a:xfrm rot="0" flipH="0" flipV="0">
            <a:off x="9239250" y="3038475"/>
            <a:ext cx="2343150" cy="828675"/>
          </a:xfrm>
          <a:prstGeom prst="roundRect">
            <a:avLst>
              <a:gd name="adj" fmla="val 3448"/>
            </a:avLst>
          </a:prstGeom>
          <a:solidFill>
            <a:srgbClr val="FFFFFF"/>
          </a:solidFill>
          <a:ln/>
        </p:spPr>
        <p:txBody>
          <a:bodyPr/>
          <a:p/>
        </p:txBody>
      </p:sp>
      <p:sp>
        <p:nvSpPr>
          <p:cNvPr id="372" name="" descr="{&quot;isTemplate&quot;:true,&quot;type&quot;:&quot;text&quot;}"/>
          <p:cNvSpPr txBox="1"/>
          <p:nvPr/>
        </p:nvSpPr>
        <p:spPr>
          <a:xfrm rot="0" flipH="0" flipV="0">
            <a:off x="9344025" y="3371850"/>
            <a:ext cx="2133600" cy="161925"/>
          </a:xfrm>
          <a:prstGeom prst="rect"/>
        </p:spPr>
        <p:txBody>
          <a:bodyPr wrap="none" lIns="0" tIns="0" rIns="0" bIns="0"/>
          <a:p>
            <a:pPr>
              <a:lnSpc>
                <a:spcPct val="130000"/>
              </a:lnSpc>
            </a:pPr>
            <a:r>
              <a:rPr lang="zh-CN" sz="788" b="1">
                <a:solidFill>
                  <a:srgbClr val="D2531A"/>
                </a:solidFill>
                <a:latin typeface="Microsoft YaHei"/>
                <a:ea typeface="Microsoft YaHei"/>
              </a:rPr>
              <a:t>产出：岗位角色责任矩阵</a:t>
            </a:r>
            <a:endParaRPr/>
          </a:p>
        </p:txBody>
      </p:sp>
      <p:sp>
        <p:nvSpPr>
          <p:cNvPr id="373" name=""/>
          <p:cNvSpPr/>
          <p:nvPr/>
        </p:nvSpPr>
        <p:spPr>
          <a:xfrm rot="0" flipH="0" flipV="0">
            <a:off x="647700" y="3943350"/>
            <a:ext cx="10972800" cy="819150"/>
          </a:xfrm>
          <a:prstGeom prst="roundRect">
            <a:avLst>
              <a:gd name="adj" fmla="val 4651"/>
            </a:avLst>
          </a:prstGeom>
          <a:solidFill>
            <a:srgbClr val="F7F7F8"/>
          </a:solidFill>
          <a:ln/>
        </p:spPr>
        <p:txBody>
          <a:bodyPr/>
          <a:p/>
        </p:txBody>
      </p:sp>
      <p:sp>
        <p:nvSpPr>
          <p:cNvPr id="374" name=""/>
          <p:cNvSpPr/>
          <p:nvPr/>
        </p:nvSpPr>
        <p:spPr>
          <a:xfrm rot="0" flipH="0" flipV="0">
            <a:off x="647700" y="3943350"/>
            <a:ext cx="10972800" cy="819150"/>
          </a:xfrm>
          <a:custGeom>
            <a:pathLst>
              <a:path w="1152" h="86">
                <a:moveTo>
                  <a:pt x="4" y="86"/>
                </a:moveTo>
                <a:cubicBezTo>
                  <a:pt x="2" y="86"/>
                  <a:pt x="0" y="84"/>
                  <a:pt x="0" y="82"/>
                </a:cubicBezTo>
                <a:lnTo>
                  <a:pt x="0" y="4"/>
                </a:lnTo>
                <a:cubicBezTo>
                  <a:pt x="0" y="2"/>
                  <a:pt x="2" y="0"/>
                  <a:pt x="4" y="0"/>
                </a:cubicBezTo>
                <a:lnTo>
                  <a:pt x="4" y="86"/>
                </a:lnTo>
                <a:close/>
              </a:path>
            </a:pathLst>
          </a:custGeom>
          <a:solidFill>
            <a:srgbClr val="C43A17"/>
          </a:solidFill>
          <a:ln/>
        </p:spPr>
        <p:txBody>
          <a:bodyPr/>
          <a:p/>
        </p:txBody>
      </p:sp>
      <p:sp>
        <p:nvSpPr>
          <p:cNvPr id="375" name="" descr="{&quot;isTemplate&quot;:true,&quot;type&quot;:&quot;text&quot;}"/>
          <p:cNvSpPr txBox="1"/>
          <p:nvPr/>
        </p:nvSpPr>
        <p:spPr>
          <a:xfrm rot="0" flipH="0" flipV="0">
            <a:off x="790575" y="4219575"/>
            <a:ext cx="142875" cy="276225"/>
          </a:xfrm>
          <a:prstGeom prst="rect"/>
        </p:spPr>
        <p:txBody>
          <a:bodyPr wrap="none" lIns="0" tIns="0" rIns="0" bIns="0"/>
          <a:p>
            <a:pPr>
              <a:lnSpc>
                <a:spcPct val="100000"/>
              </a:lnSpc>
            </a:pPr>
            <a:r>
              <a:rPr lang="en-US" sz="1800" b="1">
                <a:solidFill>
                  <a:srgbClr val="C43A17"/>
                </a:solidFill>
                <a:latin typeface="Microsoft YaHei"/>
                <a:ea typeface="Microsoft YaHei"/>
              </a:rPr>
              <a:t>4</a:t>
            </a:r>
            <a:endParaRPr/>
          </a:p>
        </p:txBody>
      </p:sp>
      <p:sp>
        <p:nvSpPr>
          <p:cNvPr id="376" name="" descr="{&quot;isTemplate&quot;:true,&quot;type&quot;:&quot;text&quot;}"/>
          <p:cNvSpPr txBox="1"/>
          <p:nvPr/>
        </p:nvSpPr>
        <p:spPr>
          <a:xfrm rot="0" flipH="0" flipV="0">
            <a:off x="1162050" y="4276725"/>
            <a:ext cx="1219200" cy="161925"/>
          </a:xfrm>
          <a:prstGeom prst="rect"/>
        </p:spPr>
        <p:txBody>
          <a:bodyPr wrap="none" lIns="0" tIns="0" rIns="0" bIns="0"/>
          <a:p>
            <a:pPr>
              <a:lnSpc>
                <a:spcPct val="100000"/>
              </a:lnSpc>
            </a:pPr>
            <a:r>
              <a:rPr lang="zh-CN" sz="1050" b="1">
                <a:solidFill>
                  <a:srgbClr val="0F1423"/>
                </a:solidFill>
                <a:latin typeface="Microsoft YaHei"/>
                <a:ea typeface="Microsoft YaHei"/>
              </a:rPr>
              <a:t>系统数据对象</a:t>
            </a:r>
            <a:endParaRPr/>
          </a:p>
        </p:txBody>
      </p:sp>
      <p:sp>
        <p:nvSpPr>
          <p:cNvPr id="377" name="" descr="{&quot;isTemplate&quot;:true,&quot;type&quot;:&quot;text&quot;}"/>
          <p:cNvSpPr txBox="1"/>
          <p:nvPr/>
        </p:nvSpPr>
        <p:spPr>
          <a:xfrm rot="0" flipH="0" flipV="0">
            <a:off x="2476500" y="4076700"/>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每个流程环节标出：由哪个系统的哪个数据对象支撑</a:t>
            </a:r>
            <a:endParaRPr/>
          </a:p>
        </p:txBody>
      </p:sp>
      <p:sp>
        <p:nvSpPr>
          <p:cNvPr id="378" name="" descr="{&quot;isTemplate&quot;:true,&quot;type&quot;:&quot;text&quot;}"/>
          <p:cNvSpPr txBox="1"/>
          <p:nvPr/>
        </p:nvSpPr>
        <p:spPr>
          <a:xfrm rot="0" flipH="0" flipV="0">
            <a:off x="2476500" y="4267200"/>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判据：一个流程跨三个系统以上，集成断点就在这里</a:t>
            </a:r>
            <a:endParaRPr/>
          </a:p>
        </p:txBody>
      </p:sp>
      <p:sp>
        <p:nvSpPr>
          <p:cNvPr id="379" name="" descr="{&quot;isTemplate&quot;:true,&quot;type&quot;:&quot;text&quot;}"/>
          <p:cNvSpPr txBox="1"/>
          <p:nvPr/>
        </p:nvSpPr>
        <p:spPr>
          <a:xfrm rot="0" flipH="0" flipV="0">
            <a:off x="2476500" y="4457700"/>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同时标出系统里「有但没人用」的数据对象</a:t>
            </a:r>
            <a:endParaRPr/>
          </a:p>
        </p:txBody>
      </p:sp>
      <p:sp>
        <p:nvSpPr>
          <p:cNvPr id="380" name=""/>
          <p:cNvSpPr/>
          <p:nvPr/>
        </p:nvSpPr>
        <p:spPr>
          <a:xfrm rot="0" flipH="0" flipV="0">
            <a:off x="9239250" y="3943350"/>
            <a:ext cx="2343150" cy="819150"/>
          </a:xfrm>
          <a:prstGeom prst="roundRect">
            <a:avLst>
              <a:gd name="adj" fmla="val 3488"/>
            </a:avLst>
          </a:prstGeom>
          <a:solidFill>
            <a:srgbClr val="FFFFFF"/>
          </a:solidFill>
          <a:ln/>
        </p:spPr>
        <p:txBody>
          <a:bodyPr/>
          <a:p/>
        </p:txBody>
      </p:sp>
      <p:sp>
        <p:nvSpPr>
          <p:cNvPr id="381" name="" descr="{&quot;isTemplate&quot;:true,&quot;type&quot;:&quot;text&quot;}"/>
          <p:cNvSpPr txBox="1"/>
          <p:nvPr/>
        </p:nvSpPr>
        <p:spPr>
          <a:xfrm rot="0" flipH="0" flipV="0">
            <a:off x="9344025" y="4276725"/>
            <a:ext cx="2133600" cy="161925"/>
          </a:xfrm>
          <a:prstGeom prst="rect"/>
        </p:spPr>
        <p:txBody>
          <a:bodyPr wrap="none" lIns="0" tIns="0" rIns="0" bIns="0"/>
          <a:p>
            <a:pPr>
              <a:lnSpc>
                <a:spcPct val="130000"/>
              </a:lnSpc>
            </a:pPr>
            <a:r>
              <a:rPr lang="zh-CN" sz="788" b="1">
                <a:solidFill>
                  <a:srgbClr val="C43A17"/>
                </a:solidFill>
                <a:latin typeface="Microsoft YaHei"/>
                <a:ea typeface="Microsoft YaHei"/>
              </a:rPr>
              <a:t>产出：系统—流程—数据对象对应表</a:t>
            </a:r>
            <a:endParaRPr/>
          </a:p>
        </p:txBody>
      </p:sp>
      <p:sp>
        <p:nvSpPr>
          <p:cNvPr id="382" name=""/>
          <p:cNvSpPr/>
          <p:nvPr/>
        </p:nvSpPr>
        <p:spPr>
          <a:xfrm rot="0" flipH="0" flipV="0">
            <a:off x="647700" y="4838700"/>
            <a:ext cx="10972800" cy="819150"/>
          </a:xfrm>
          <a:prstGeom prst="roundRect">
            <a:avLst>
              <a:gd name="adj" fmla="val 4651"/>
            </a:avLst>
          </a:prstGeom>
          <a:solidFill>
            <a:srgbClr val="F7F7F8"/>
          </a:solidFill>
          <a:ln/>
        </p:spPr>
        <p:txBody>
          <a:bodyPr/>
          <a:p/>
        </p:txBody>
      </p:sp>
      <p:sp>
        <p:nvSpPr>
          <p:cNvPr id="383" name=""/>
          <p:cNvSpPr/>
          <p:nvPr/>
        </p:nvSpPr>
        <p:spPr>
          <a:xfrm rot="0" flipH="0" flipV="0">
            <a:off x="647700" y="4838700"/>
            <a:ext cx="10972800" cy="819150"/>
          </a:xfrm>
          <a:custGeom>
            <a:pathLst>
              <a:path w="1152" h="86">
                <a:moveTo>
                  <a:pt x="4" y="86"/>
                </a:moveTo>
                <a:cubicBezTo>
                  <a:pt x="2" y="86"/>
                  <a:pt x="0" y="84"/>
                  <a:pt x="0" y="82"/>
                </a:cubicBezTo>
                <a:lnTo>
                  <a:pt x="0" y="4"/>
                </a:lnTo>
                <a:cubicBezTo>
                  <a:pt x="0" y="2"/>
                  <a:pt x="2" y="0"/>
                  <a:pt x="4" y="0"/>
                </a:cubicBezTo>
                <a:lnTo>
                  <a:pt x="4" y="86"/>
                </a:lnTo>
                <a:close/>
              </a:path>
            </a:pathLst>
          </a:custGeom>
          <a:solidFill>
            <a:srgbClr val="9E3410"/>
          </a:solidFill>
          <a:ln/>
        </p:spPr>
        <p:txBody>
          <a:bodyPr/>
          <a:p/>
        </p:txBody>
      </p:sp>
      <p:sp>
        <p:nvSpPr>
          <p:cNvPr id="384" name="" descr="{&quot;isTemplate&quot;:true,&quot;type&quot;:&quot;text&quot;}"/>
          <p:cNvSpPr txBox="1"/>
          <p:nvPr/>
        </p:nvSpPr>
        <p:spPr>
          <a:xfrm rot="0" flipH="0" flipV="0">
            <a:off x="790575" y="5114925"/>
            <a:ext cx="142875" cy="276225"/>
          </a:xfrm>
          <a:prstGeom prst="rect"/>
        </p:spPr>
        <p:txBody>
          <a:bodyPr wrap="none" lIns="0" tIns="0" rIns="0" bIns="0"/>
          <a:p>
            <a:pPr>
              <a:lnSpc>
                <a:spcPct val="100000"/>
              </a:lnSpc>
            </a:pPr>
            <a:r>
              <a:rPr lang="en-US" sz="1800" b="1">
                <a:solidFill>
                  <a:srgbClr val="9E3410"/>
                </a:solidFill>
                <a:latin typeface="Microsoft YaHei"/>
                <a:ea typeface="Microsoft YaHei"/>
              </a:rPr>
              <a:t>5</a:t>
            </a:r>
            <a:endParaRPr/>
          </a:p>
        </p:txBody>
      </p:sp>
      <p:sp>
        <p:nvSpPr>
          <p:cNvPr id="385" name="" descr="{&quot;isTemplate&quot;:true,&quot;type&quot;:&quot;text&quot;}"/>
          <p:cNvSpPr txBox="1"/>
          <p:nvPr/>
        </p:nvSpPr>
        <p:spPr>
          <a:xfrm rot="0" flipH="0" flipV="0">
            <a:off x="1162050" y="5172075"/>
            <a:ext cx="1219200" cy="161925"/>
          </a:xfrm>
          <a:prstGeom prst="rect"/>
        </p:spPr>
        <p:txBody>
          <a:bodyPr wrap="none" lIns="0" tIns="0" rIns="0" bIns="0"/>
          <a:p>
            <a:pPr>
              <a:lnSpc>
                <a:spcPct val="100000"/>
              </a:lnSpc>
            </a:pPr>
            <a:r>
              <a:rPr lang="zh-CN" sz="1050" b="1">
                <a:solidFill>
                  <a:srgbClr val="0F1423"/>
                </a:solidFill>
                <a:latin typeface="Microsoft YaHei"/>
                <a:ea typeface="Microsoft YaHei"/>
              </a:rPr>
              <a:t>关键指标口径与取数</a:t>
            </a:r>
            <a:endParaRPr/>
          </a:p>
        </p:txBody>
      </p:sp>
      <p:sp>
        <p:nvSpPr>
          <p:cNvPr id="386" name="" descr="{&quot;isTemplate&quot;:true,&quot;type&quot;:&quot;text&quot;}"/>
          <p:cNvSpPr txBox="1"/>
          <p:nvPr/>
        </p:nvSpPr>
        <p:spPr>
          <a:xfrm rot="0" flipH="0" flipV="0">
            <a:off x="2476500" y="4972050"/>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逐指标问清：业务定义、计算公式、取哪张表、多久更新一次</a:t>
            </a:r>
            <a:endParaRPr/>
          </a:p>
        </p:txBody>
      </p:sp>
      <p:sp>
        <p:nvSpPr>
          <p:cNvPr id="387" name="" descr="{&quot;isTemplate&quot;:true,&quot;type&quot;:&quot;text&quot;}"/>
          <p:cNvSpPr txBox="1"/>
          <p:nvPr/>
        </p:nvSpPr>
        <p:spPr>
          <a:xfrm rot="0" flipH="0" flipV="0">
            <a:off x="2476500" y="5162550"/>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判据：同一个指标出现两个版本且没人能裁定，就是治理问题</a:t>
            </a:r>
            <a:endParaRPr/>
          </a:p>
        </p:txBody>
      </p:sp>
      <p:sp>
        <p:nvSpPr>
          <p:cNvPr id="388" name="" descr="{&quot;isTemplate&quot;:true,&quot;type&quot;:&quot;text&quot;}"/>
          <p:cNvSpPr txBox="1"/>
          <p:nvPr/>
        </p:nvSpPr>
        <p:spPr>
          <a:xfrm rot="0" flipH="0" flipV="0">
            <a:off x="2476500" y="5353050"/>
            <a:ext cx="66675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 </a:t>
            </a:r>
            <a:r>
              <a:rPr lang="zh-CN" sz="788">
                <a:solidFill>
                  <a:srgbClr val="3A4050"/>
                </a:solidFill>
                <a:latin typeface="Microsoft YaHei"/>
                <a:ea typeface="Microsoft YaHei"/>
              </a:rPr>
              <a:t>口径没定下来的指标，一律标为「口径待裁定」</a:t>
            </a:r>
            <a:endParaRPr/>
          </a:p>
        </p:txBody>
      </p:sp>
      <p:sp>
        <p:nvSpPr>
          <p:cNvPr id="389" name=""/>
          <p:cNvSpPr/>
          <p:nvPr/>
        </p:nvSpPr>
        <p:spPr>
          <a:xfrm rot="0" flipH="0" flipV="0">
            <a:off x="9239250" y="4838700"/>
            <a:ext cx="2343150" cy="819150"/>
          </a:xfrm>
          <a:prstGeom prst="roundRect">
            <a:avLst>
              <a:gd name="adj" fmla="val 3488"/>
            </a:avLst>
          </a:prstGeom>
          <a:solidFill>
            <a:srgbClr val="FFFFFF"/>
          </a:solidFill>
          <a:ln/>
        </p:spPr>
        <p:txBody>
          <a:bodyPr/>
          <a:p/>
        </p:txBody>
      </p:sp>
      <p:sp>
        <p:nvSpPr>
          <p:cNvPr id="390" name="" descr="{&quot;isTemplate&quot;:true,&quot;type&quot;:&quot;text&quot;}"/>
          <p:cNvSpPr txBox="1"/>
          <p:nvPr/>
        </p:nvSpPr>
        <p:spPr>
          <a:xfrm rot="0" flipH="0" flipV="0">
            <a:off x="9344025" y="5172075"/>
            <a:ext cx="2133600" cy="161925"/>
          </a:xfrm>
          <a:prstGeom prst="rect"/>
        </p:spPr>
        <p:txBody>
          <a:bodyPr wrap="none" lIns="0" tIns="0" rIns="0" bIns="0"/>
          <a:p>
            <a:pPr>
              <a:lnSpc>
                <a:spcPct val="130000"/>
              </a:lnSpc>
            </a:pPr>
            <a:r>
              <a:rPr lang="zh-CN" sz="788" b="1">
                <a:solidFill>
                  <a:srgbClr val="9E3410"/>
                </a:solidFill>
                <a:latin typeface="Microsoft YaHei"/>
                <a:ea typeface="Microsoft YaHei"/>
              </a:rPr>
              <a:t>产出：指标口径现状表（含冲突标记）</a:t>
            </a:r>
            <a:endParaRPr/>
          </a:p>
        </p:txBody>
      </p:sp>
      <p:sp>
        <p:nvSpPr>
          <p:cNvPr id="391" name=""/>
          <p:cNvSpPr/>
          <p:nvPr/>
        </p:nvSpPr>
        <p:spPr>
          <a:xfrm rot="0" flipH="0" flipV="0">
            <a:off x="609600" y="5943600"/>
            <a:ext cx="133350" cy="133350"/>
          </a:xfrm>
          <a:prstGeom prst="rect">
            <a:avLst/>
          </a:prstGeom>
          <a:solidFill>
            <a:srgbClr val="FA4F24"/>
          </a:solidFill>
          <a:ln/>
        </p:spPr>
        <p:txBody>
          <a:bodyPr/>
          <a:p/>
        </p:txBody>
      </p:sp>
      <p:sp>
        <p:nvSpPr>
          <p:cNvPr id="392"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39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15 / 36</a:t>
            </a:r>
            <a:endParaRPr/>
          </a:p>
        </p:txBody>
      </p:sp>
    </p:spTree>
  </p:cSld>
</p:sld>
</file>

<file path=ppt/slides/slide16.xml><?xml version="1.0" encoding="utf-8"?>
<p:sld xmlns:p="http://schemas.openxmlformats.org/presentationml/2006/main" xmlns:a="http://schemas.openxmlformats.org/drawingml/2006/main">
  <p:cSld>
    <p:spTree>
      <p:nvGrpSpPr>
        <p:cNvPr id="394" name="" descr="&lt;Slide style={{ width: 1280, height: 720, background: '#FFFFFF', padding: '24px 64px 0' }}&gt;&#10;    {/* A 区 */}&#10;    &lt;Box style={{ height: 96, flexDirection: 'column', justifyContent: 'flex-start' }}&gt;&#10;        &lt;Text style={{ fontSize: 32, fontWeight: 'bold', color: '#0F1423' }}&gt;&#10;            数据现状分析框架 &lt;span style={{ color: '#FA4F24' }}&gt;含主数据与治理&lt;/span&gt;&#10;        &lt;/Text&gt;&#10;        &lt;Text style={{ fontSize: 19, color: '#8A8F99', marginTop: 7 }}&gt;&#10;            能源与储能两条链的数据问题八成不在存储上，在主数据没人认领&#10;        &lt;/Text&gt;&#10;    &lt;/Box&gt;&#10;    &lt;Box style={{ height: 1, background: '#E8E8E8' }} /&gt;&#10;&#10;    {/* B 区 */}&#10;    &lt;Box style={{ paddingTop: 10, paddingBottom: 6, height: 479, flexDirection: 'column', gap: 8 }}&gt;&#10;        {/* 上：主数据八类识别 */}&#10;        &lt;Box style={{ height: 152, flexDirection: 'column', gap: 6 }}&gt;&#10;            &lt;Box style={{ height: 22, flexDirection: 'row', alignItems: 'center', gap: 8 }}&gt;&#10;                &lt;Box style={{ width: 4, height: 15, background: '#FA4F24' }} /&gt;&#10;                &lt;Text style={{ fontSize: 13.5, fontWeight: 'bold', color: '#0F1423' }}&gt;主数据八类识别（逐类回答四问：谁认领 · 在哪维护 · 谁是权威 · 编码规则是什么）&lt;/Text&gt;&#10;            &lt;/Box&gt;&#10;            &lt;Box style={{ flex: 1, flexDirection: 'row', gap: 5 }}&gt;&#10;                {[&#10;                    { t: '组织与人员', d: '含项目部、班组、岗位', c: '#FA4F24' },&#10;                    { t: '客户与供应商', d: '采购与售电两侧主体', c: '#FA4F24' },&#10;                    { t: '物料 / 设备', d: 'BOM 基础，两条链共用', c: '#FA4F24' },&#10;                    { t: '电站资产', d: '机组、场站、组件', c: '#E0641E' },&#10;                    { t: '项目', d: '在建与存量项目编码', c: '#E0641E' },&#10;                    { t: '合同', d: '框架与具体合同', c: '#E0641E' },&#10;                    { t: '产品与配置', d: 'EBOM 版本与配置项', c: '#C43A17' },&#10;                    { t: '指标', d: '口径本身即主数据', c: '#C43A17' },&#10;                ].map((x) =&gt; (&#10;                    &lt;Box key={x.t} style={{ flex: 1, background: '#F7F7F8', borderRadius: 4, borderTop: '3px solid ' + x.c, padding: '9px 9px', flexDirection: 'column', justifyContent: 'center' }}&gt;&#10;                        &lt;Text style={{ fontSize: 12.5, fontWeight: 'bold', color: '#0F1423', lineHeight: 1.25 }}&gt;{x.t}&lt;/Text&gt;&#10;                        &lt;Text style={{ fontSize: 10, color: '#8A8F99', lineHeight: 1.3, marginTop: 4 }}&gt;{x.d}&lt;/Text&gt;&#10;                    &lt;/Box&gt;&#10;                ))}&#10;            &lt;/Box&gt;&#10;        &lt;/Box&gt;&#10;&#10;        {/* 中：治理四问 + 最小可行治理 */}&#10;        &lt;Box style={{ flex: 1, flexDirection: 'row', gap: 9, alignItems: 'stretch' }}&gt;&#10;            &lt;Box style={{ width: 550, background: '#0F1423', borderRadius: 4, padding: '13px 16px', flexDirection: 'column' }}&gt;&#10;                &lt;Text style={{ fontSize: 12, color: '#FBA15C', letterSpacing: 1 }}&gt;治理现状四问（答不上来就是空白区）&lt;/Text&gt;&#10;                {[&#10;                    { q: '权责', d: '每类主数据有没有明确认领部门？没有认领的，规则会自然分叉' },&#10;                    { q: '流程', d: '新增/变更/停用走不走审批？绕过流程直接改库的入口封了没有' },&#10;                    { q: '标准', d: '编码、命名、取值域有没有标准？标准文档是否在版本控制中' },&#10;                    { q: '质量', d: '完整率、唯一率、引用完整性有没有在定期度量？没有度量就没有改进' },&#10;                ].map((x, i) =&gt; (&#10;                    &lt;Box key={x.q} style={{ flexDirection: 'row', alignItems: 'center', gap: 10, flex: 1, marginTop: i === 0 ? 9 : 4 }}&gt;&#10;                        &lt;Box style={{ width: 40, height: 19, borderRadius: 2, background: '#FA4F24', alignItems: 'center', justifyContent: 'center', flexDirection: 'row' }}&gt;&#10;                            &lt;Text style={{ fontSize: 10.5, fontWeight: 'bold', color: '#FFFFFF' }}&gt;{x.q}&lt;/Text&gt;&#10;                        &lt;/Box&gt;&#10;                        &lt;Text style={{ fontSize: 11.5, color: 'rgba(255,255,255,0.88)', flex: 1, lineHeight: 1.3 }}&gt;{x.d}&lt;/Text&gt;&#10;                    &lt;/Box&gt;&#10;                ))}&#10;            &lt;/Box&gt;&#10;            &lt;Box style={{ flex: 1, background: '#FFF3EE', borderRadius: 4, borderLeft: '4px solid #FA4F24', padding: '13px 16px', flexDirection: 'column' }}&gt;&#10;                &lt;Text style={{ fontSize: 12.5, fontWeight: 'bold', color: '#C43A17' }}&gt;诊断结论只出「最小可行治理清单」&lt;/Text&gt;&#10;                &lt;Text style={{ fontSize: 11.5, color: '#3A4050', lineHeight: 1.5, marginTop: 7, flex: 1 }}&gt;&#10;                    不在诊断阶段推全量治理体系。能源项目真正卡住建设的，通常就是三件事：设备台账口径不统一、供应商编码与财务不一致、指标同名不同义。先把这三类的责任人和标准定下来，其余分期做。&#10;                &lt;/Text&gt;&#10;                &lt;Text style={{ fontSize: 11, color: '#C43A17', lineHeight: 1.4, marginTop: 6 }}&gt;&#10;                    判据：清单里每一项都要有「认领部门 + 完成标准」，写不出这两样的不写进清单。&#10;                &lt;/Text&gt;&#10;            &lt;/Box&gt;&#10;        &lt;/Box&gt;&#10;&#10;        {/* 下：数据现状盘点四产出 */}&#10;        &lt;Box style={{ height: 48, flexDirection: 'row', gap: 7 }}&gt;&#10;            {[&#10;                { k: '数据资产目录现状', v: '已有目录覆盖哪些主题域、缺哪些' },&#10;                { k: '逻辑实体现状', v: '已定义实体数、重复实体、无主实体' },&#10;                { k: '数据标准现状', v: '已有标准数、覆盖率、冲突数' },&#10;                { k: '数据分布现状', v: '同一实体跨几套库、有几份副本' },&#10;            ].map((x) =&gt; (&#10;                &lt;Box key={x.k} style={{ flex: 1, background: '#F7F7F8', borderRadius: 4, borderLeft: '4px solid #E0641E', padding: '0 12px', flexDirection: 'column', justifyContent: 'center' }}&gt;&#10;                    &lt;Text style={{ fontSize: 12, fontWeight: 'bold', color: '#0F1423' }}&gt;{x.k}&lt;/Text&gt;&#10;                    &lt;Text style={{ fontSize: 10, color: '#5A6070', lineHeight: 1.3, marginTop: 2 }}&gt;{x.v}&lt;/Text&gt;&#10;                &lt;/Box&gt;&#10;            ))}&#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16 / 36&lt;/Text&gt;&#10;    &lt;/Box&gt;&#10;&lt;/Slide&gt;&#10;"/>
        <p:cNvGrpSpPr/>
        <p:nvPr/>
      </p:nvGrpSpPr>
      <p:grpSpPr>
        <a:xfrm>
          <a:off x="0" y="0"/>
          <a:ext cx="0" cy="0"/>
          <a:chOff x="0" y="0"/>
          <a:chExt cx="0" cy="0"/>
        </a:xfrm>
      </p:grpSpPr>
      <p:sp>
        <p:nvSpPr>
          <p:cNvPr id="395" name=""/>
          <p:cNvSpPr/>
          <p:nvPr/>
        </p:nvSpPr>
        <p:spPr>
          <a:xfrm rot="0" flipH="0" flipV="0">
            <a:off x="0" y="0"/>
            <a:ext cx="12192000" cy="6858000"/>
          </a:xfrm>
          <a:prstGeom prst="rect">
            <a:avLst/>
          </a:prstGeom>
          <a:solidFill>
            <a:srgbClr val="FFFFFF"/>
          </a:solidFill>
          <a:ln/>
        </p:spPr>
        <p:txBody>
          <a:bodyPr/>
          <a:p/>
        </p:txBody>
      </p:sp>
      <p:sp>
        <p:nvSpPr>
          <p:cNvPr id="39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数据现状分析框架</a:t>
            </a:r>
            <a:r>
              <a:rPr lang="en-US" sz="2400" b="1">
                <a:solidFill>
                  <a:srgbClr val="0F1423"/>
                </a:solidFill>
                <a:latin typeface="Microsoft YaHei"/>
                <a:ea typeface="Microsoft YaHei"/>
              </a:rPr>
              <a:t xml:space="preserve"> </a:t>
            </a:r>
            <a:r>
              <a:rPr lang="zh-CN" sz="2400" b="1">
                <a:solidFill>
                  <a:srgbClr val="FA4F24"/>
                </a:solidFill>
                <a:latin typeface="Microsoft YaHei"/>
                <a:ea typeface="Microsoft YaHei"/>
              </a:rPr>
              <a:t>含主数据与治理</a:t>
            </a:r>
            <a:endParaRPr/>
          </a:p>
        </p:txBody>
      </p:sp>
      <p:sp>
        <p:nvSpPr>
          <p:cNvPr id="397"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能源与储能两条链的数据问题八成不在存储上，在主数据没人认领</a:t>
            </a:r>
            <a:endParaRPr/>
          </a:p>
        </p:txBody>
      </p:sp>
      <p:sp>
        <p:nvSpPr>
          <p:cNvPr id="398" name=""/>
          <p:cNvSpPr/>
          <p:nvPr/>
        </p:nvSpPr>
        <p:spPr>
          <a:xfrm rot="0" flipH="0" flipV="0">
            <a:off x="609600" y="1143000"/>
            <a:ext cx="10972800" cy="9525"/>
          </a:xfrm>
          <a:prstGeom prst="rect">
            <a:avLst/>
          </a:prstGeom>
          <a:solidFill>
            <a:srgbClr val="E8E8E8"/>
          </a:solidFill>
          <a:ln/>
        </p:spPr>
        <p:txBody>
          <a:bodyPr/>
          <a:p/>
        </p:txBody>
      </p:sp>
      <p:sp>
        <p:nvSpPr>
          <p:cNvPr id="399" name=""/>
          <p:cNvSpPr/>
          <p:nvPr/>
        </p:nvSpPr>
        <p:spPr>
          <a:xfrm rot="0" flipH="0" flipV="0">
            <a:off x="609600" y="1285875"/>
            <a:ext cx="38100" cy="142875"/>
          </a:xfrm>
          <a:prstGeom prst="rect">
            <a:avLst/>
          </a:prstGeom>
          <a:solidFill>
            <a:srgbClr val="FA4F24"/>
          </a:solidFill>
          <a:ln/>
        </p:spPr>
        <p:txBody>
          <a:bodyPr/>
          <a:p/>
        </p:txBody>
      </p:sp>
      <p:sp>
        <p:nvSpPr>
          <p:cNvPr id="400" name="" descr="{&quot;isTemplate&quot;:true,&quot;type&quot;:&quot;text&quot;}"/>
          <p:cNvSpPr txBox="1"/>
          <p:nvPr/>
        </p:nvSpPr>
        <p:spPr>
          <a:xfrm rot="0" flipH="0" flipV="0">
            <a:off x="723900" y="1276350"/>
            <a:ext cx="4772025" cy="161925"/>
          </a:xfrm>
          <a:prstGeom prst="rect"/>
        </p:spPr>
        <p:txBody>
          <a:bodyPr wrap="none" lIns="0" tIns="0" rIns="0" bIns="0"/>
          <a:p>
            <a:pPr>
              <a:lnSpc>
                <a:spcPct val="100000"/>
              </a:lnSpc>
            </a:pPr>
            <a:r>
              <a:rPr lang="zh-CN" sz="1013" b="1">
                <a:solidFill>
                  <a:srgbClr val="0F1423"/>
                </a:solidFill>
                <a:latin typeface="Microsoft YaHei"/>
                <a:ea typeface="Microsoft YaHei"/>
              </a:rPr>
              <a:t>主数据八类识别（逐类回答四问：谁认领</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在哪维护</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谁是权威</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编码规则是什么）</a:t>
            </a:r>
            <a:endParaRPr/>
          </a:p>
        </p:txBody>
      </p:sp>
      <p:sp>
        <p:nvSpPr>
          <p:cNvPr id="401" name=""/>
          <p:cNvSpPr/>
          <p:nvPr/>
        </p:nvSpPr>
        <p:spPr>
          <a:xfrm rot="0" flipH="0" flipV="0">
            <a:off x="609600" y="1543050"/>
            <a:ext cx="1333500" cy="1181100"/>
          </a:xfrm>
          <a:prstGeom prst="roundRect">
            <a:avLst>
              <a:gd name="adj" fmla="val 3226"/>
            </a:avLst>
          </a:prstGeom>
          <a:solidFill>
            <a:srgbClr val="F7F7F8"/>
          </a:solidFill>
          <a:ln/>
        </p:spPr>
        <p:txBody>
          <a:bodyPr/>
          <a:p/>
        </p:txBody>
      </p:sp>
      <p:sp>
        <p:nvSpPr>
          <p:cNvPr id="402" name=""/>
          <p:cNvSpPr/>
          <p:nvPr/>
        </p:nvSpPr>
        <p:spPr>
          <a:xfrm rot="0" flipH="0" flipV="0">
            <a:off x="609600" y="1543050"/>
            <a:ext cx="1333500" cy="1181100"/>
          </a:xfrm>
          <a:custGeom>
            <a:pathLst>
              <a:path w="140" h="124">
                <a:moveTo>
                  <a:pt x="136" y="0"/>
                </a:moveTo>
                <a:cubicBezTo>
                  <a:pt x="138" y="0"/>
                  <a:pt x="140" y="2"/>
                  <a:pt x="140" y="4"/>
                </a:cubicBezTo>
                <a:cubicBezTo>
                  <a:pt x="140" y="3"/>
                  <a:pt x="139" y="3"/>
                  <a:pt x="139" y="3"/>
                </a:cubicBezTo>
                <a:lnTo>
                  <a:pt x="1" y="3"/>
                </a:lnTo>
                <a:cubicBezTo>
                  <a:pt x="1" y="3"/>
                  <a:pt x="0" y="3"/>
                  <a:pt x="0" y="4"/>
                </a:cubicBezTo>
                <a:cubicBezTo>
                  <a:pt x="0" y="2"/>
                  <a:pt x="2" y="0"/>
                  <a:pt x="4" y="0"/>
                </a:cubicBezTo>
                <a:lnTo>
                  <a:pt x="136" y="0"/>
                </a:lnTo>
                <a:close/>
              </a:path>
            </a:pathLst>
          </a:custGeom>
          <a:solidFill>
            <a:srgbClr val="FA4F24"/>
          </a:solidFill>
          <a:ln/>
        </p:spPr>
        <p:txBody>
          <a:bodyPr/>
          <a:p/>
        </p:txBody>
      </p:sp>
      <p:sp>
        <p:nvSpPr>
          <p:cNvPr id="403" name="" descr="{&quot;isTemplate&quot;:true,&quot;type&quot;:&quot;text&quot;}"/>
          <p:cNvSpPr txBox="1"/>
          <p:nvPr/>
        </p:nvSpPr>
        <p:spPr>
          <a:xfrm rot="0" flipH="0" flipV="0">
            <a:off x="695325" y="1933575"/>
            <a:ext cx="1162050" cy="180975"/>
          </a:xfrm>
          <a:prstGeom prst="rect"/>
        </p:spPr>
        <p:txBody>
          <a:bodyPr wrap="none" lIns="0" tIns="0" rIns="0" bIns="0"/>
          <a:p>
            <a:pPr>
              <a:lnSpc>
                <a:spcPct val="125000"/>
              </a:lnSpc>
            </a:pPr>
            <a:r>
              <a:rPr lang="zh-CN" sz="938" b="1">
                <a:solidFill>
                  <a:srgbClr val="0F1423"/>
                </a:solidFill>
                <a:latin typeface="Microsoft YaHei"/>
                <a:ea typeface="Microsoft YaHei"/>
              </a:rPr>
              <a:t>组织与人员</a:t>
            </a:r>
            <a:endParaRPr/>
          </a:p>
        </p:txBody>
      </p:sp>
      <p:sp>
        <p:nvSpPr>
          <p:cNvPr id="404" name="" descr="{&quot;isTemplate&quot;:true,&quot;type&quot;:&quot;text&quot;}"/>
          <p:cNvSpPr txBox="1"/>
          <p:nvPr/>
        </p:nvSpPr>
        <p:spPr>
          <a:xfrm rot="0" flipH="0" flipV="0">
            <a:off x="695325" y="2152650"/>
            <a:ext cx="1162050" cy="152400"/>
          </a:xfrm>
          <a:prstGeom prst="rect"/>
        </p:spPr>
        <p:txBody>
          <a:bodyPr wrap="none" lIns="0" tIns="0" rIns="0" bIns="0"/>
          <a:p>
            <a:pPr>
              <a:lnSpc>
                <a:spcPct val="130000"/>
              </a:lnSpc>
            </a:pPr>
            <a:r>
              <a:rPr lang="zh-CN" sz="750">
                <a:solidFill>
                  <a:srgbClr val="8A8F99"/>
                </a:solidFill>
                <a:latin typeface="Microsoft YaHei"/>
                <a:ea typeface="Microsoft YaHei"/>
              </a:rPr>
              <a:t>含项目部、班组、岗位</a:t>
            </a:r>
            <a:endParaRPr/>
          </a:p>
        </p:txBody>
      </p:sp>
      <p:sp>
        <p:nvSpPr>
          <p:cNvPr id="405" name=""/>
          <p:cNvSpPr/>
          <p:nvPr/>
        </p:nvSpPr>
        <p:spPr>
          <a:xfrm rot="0" flipH="0" flipV="0">
            <a:off x="1990725" y="1543050"/>
            <a:ext cx="1323975" cy="1181100"/>
          </a:xfrm>
          <a:prstGeom prst="roundRect">
            <a:avLst>
              <a:gd name="adj" fmla="val 3226"/>
            </a:avLst>
          </a:prstGeom>
          <a:solidFill>
            <a:srgbClr val="F7F7F8"/>
          </a:solidFill>
          <a:ln/>
        </p:spPr>
        <p:txBody>
          <a:bodyPr/>
          <a:p/>
        </p:txBody>
      </p:sp>
      <p:sp>
        <p:nvSpPr>
          <p:cNvPr id="406" name=""/>
          <p:cNvSpPr/>
          <p:nvPr/>
        </p:nvSpPr>
        <p:spPr>
          <a:xfrm rot="0" flipH="0" flipV="0">
            <a:off x="1990725" y="1543050"/>
            <a:ext cx="1323975" cy="1181100"/>
          </a:xfrm>
          <a:custGeom>
            <a:pathLst>
              <a:path w="139" h="124">
                <a:moveTo>
                  <a:pt x="135" y="0"/>
                </a:moveTo>
                <a:cubicBezTo>
                  <a:pt x="137" y="0"/>
                  <a:pt x="139" y="2"/>
                  <a:pt x="139" y="4"/>
                </a:cubicBezTo>
                <a:cubicBezTo>
                  <a:pt x="139" y="3"/>
                  <a:pt x="138" y="3"/>
                  <a:pt x="138" y="3"/>
                </a:cubicBezTo>
                <a:lnTo>
                  <a:pt x="1" y="3"/>
                </a:lnTo>
                <a:cubicBezTo>
                  <a:pt x="1" y="3"/>
                  <a:pt x="0" y="3"/>
                  <a:pt x="0" y="4"/>
                </a:cubicBezTo>
                <a:cubicBezTo>
                  <a:pt x="0" y="2"/>
                  <a:pt x="2" y="0"/>
                  <a:pt x="4" y="0"/>
                </a:cubicBezTo>
                <a:lnTo>
                  <a:pt x="135" y="0"/>
                </a:lnTo>
                <a:close/>
              </a:path>
            </a:pathLst>
          </a:custGeom>
          <a:solidFill>
            <a:srgbClr val="FA4F24"/>
          </a:solidFill>
          <a:ln/>
        </p:spPr>
        <p:txBody>
          <a:bodyPr/>
          <a:p/>
        </p:txBody>
      </p:sp>
      <p:sp>
        <p:nvSpPr>
          <p:cNvPr id="407" name="" descr="{&quot;isTemplate&quot;:true,&quot;type&quot;:&quot;text&quot;}"/>
          <p:cNvSpPr txBox="1"/>
          <p:nvPr/>
        </p:nvSpPr>
        <p:spPr>
          <a:xfrm rot="0" flipH="0" flipV="0">
            <a:off x="2076450" y="1933575"/>
            <a:ext cx="1152525" cy="180975"/>
          </a:xfrm>
          <a:prstGeom prst="rect"/>
        </p:spPr>
        <p:txBody>
          <a:bodyPr wrap="none" lIns="0" tIns="0" rIns="0" bIns="0"/>
          <a:p>
            <a:pPr>
              <a:lnSpc>
                <a:spcPct val="125000"/>
              </a:lnSpc>
            </a:pPr>
            <a:r>
              <a:rPr lang="zh-CN" sz="938" b="1">
                <a:solidFill>
                  <a:srgbClr val="0F1423"/>
                </a:solidFill>
                <a:latin typeface="Microsoft YaHei"/>
                <a:ea typeface="Microsoft YaHei"/>
              </a:rPr>
              <a:t>客户与供应商</a:t>
            </a:r>
            <a:endParaRPr/>
          </a:p>
        </p:txBody>
      </p:sp>
      <p:sp>
        <p:nvSpPr>
          <p:cNvPr id="408" name="" descr="{&quot;isTemplate&quot;:true,&quot;type&quot;:&quot;text&quot;}"/>
          <p:cNvSpPr txBox="1"/>
          <p:nvPr/>
        </p:nvSpPr>
        <p:spPr>
          <a:xfrm rot="0" flipH="0" flipV="0">
            <a:off x="2076450" y="2152650"/>
            <a:ext cx="1152525" cy="152400"/>
          </a:xfrm>
          <a:prstGeom prst="rect"/>
        </p:spPr>
        <p:txBody>
          <a:bodyPr wrap="none" lIns="0" tIns="0" rIns="0" bIns="0"/>
          <a:p>
            <a:pPr>
              <a:lnSpc>
                <a:spcPct val="130000"/>
              </a:lnSpc>
            </a:pPr>
            <a:r>
              <a:rPr lang="zh-CN" sz="750">
                <a:solidFill>
                  <a:srgbClr val="8A8F99"/>
                </a:solidFill>
                <a:latin typeface="Microsoft YaHei"/>
                <a:ea typeface="Microsoft YaHei"/>
              </a:rPr>
              <a:t>采购与售电两侧主体</a:t>
            </a:r>
            <a:endParaRPr/>
          </a:p>
        </p:txBody>
      </p:sp>
      <p:sp>
        <p:nvSpPr>
          <p:cNvPr id="409" name=""/>
          <p:cNvSpPr/>
          <p:nvPr/>
        </p:nvSpPr>
        <p:spPr>
          <a:xfrm rot="0" flipH="0" flipV="0">
            <a:off x="3362325" y="1543050"/>
            <a:ext cx="1333500" cy="1181100"/>
          </a:xfrm>
          <a:prstGeom prst="roundRect">
            <a:avLst>
              <a:gd name="adj" fmla="val 3226"/>
            </a:avLst>
          </a:prstGeom>
          <a:solidFill>
            <a:srgbClr val="F7F7F8"/>
          </a:solidFill>
          <a:ln/>
        </p:spPr>
        <p:txBody>
          <a:bodyPr/>
          <a:p/>
        </p:txBody>
      </p:sp>
      <p:sp>
        <p:nvSpPr>
          <p:cNvPr id="410" name=""/>
          <p:cNvSpPr/>
          <p:nvPr/>
        </p:nvSpPr>
        <p:spPr>
          <a:xfrm rot="0" flipH="0" flipV="0">
            <a:off x="3362325" y="1543050"/>
            <a:ext cx="1333500" cy="1181100"/>
          </a:xfrm>
          <a:custGeom>
            <a:pathLst>
              <a:path w="140" h="124">
                <a:moveTo>
                  <a:pt x="136" y="0"/>
                </a:moveTo>
                <a:cubicBezTo>
                  <a:pt x="138" y="0"/>
                  <a:pt x="140" y="2"/>
                  <a:pt x="140" y="4"/>
                </a:cubicBezTo>
                <a:cubicBezTo>
                  <a:pt x="140" y="3"/>
                  <a:pt x="139" y="3"/>
                  <a:pt x="139" y="3"/>
                </a:cubicBezTo>
                <a:lnTo>
                  <a:pt x="1" y="3"/>
                </a:lnTo>
                <a:cubicBezTo>
                  <a:pt x="1" y="3"/>
                  <a:pt x="0" y="3"/>
                  <a:pt x="0" y="4"/>
                </a:cubicBezTo>
                <a:cubicBezTo>
                  <a:pt x="0" y="2"/>
                  <a:pt x="2" y="0"/>
                  <a:pt x="4" y="0"/>
                </a:cubicBezTo>
                <a:lnTo>
                  <a:pt x="136" y="0"/>
                </a:lnTo>
                <a:close/>
              </a:path>
            </a:pathLst>
          </a:custGeom>
          <a:solidFill>
            <a:srgbClr val="FA4F24"/>
          </a:solidFill>
          <a:ln/>
        </p:spPr>
        <p:txBody>
          <a:bodyPr/>
          <a:p/>
        </p:txBody>
      </p:sp>
      <p:sp>
        <p:nvSpPr>
          <p:cNvPr id="411" name="" descr="{&quot;isTemplate&quot;:true,&quot;type&quot;:&quot;text&quot;}"/>
          <p:cNvSpPr txBox="1"/>
          <p:nvPr/>
        </p:nvSpPr>
        <p:spPr>
          <a:xfrm rot="0" flipH="0" flipV="0">
            <a:off x="3448050" y="1933575"/>
            <a:ext cx="1162050" cy="180975"/>
          </a:xfrm>
          <a:prstGeom prst="rect"/>
        </p:spPr>
        <p:txBody>
          <a:bodyPr wrap="none" lIns="0" tIns="0" rIns="0" bIns="0"/>
          <a:p>
            <a:pPr>
              <a:lnSpc>
                <a:spcPct val="125000"/>
              </a:lnSpc>
            </a:pPr>
            <a:r>
              <a:rPr lang="zh-CN" sz="938" b="1">
                <a:solidFill>
                  <a:srgbClr val="0F1423"/>
                </a:solidFill>
                <a:latin typeface="Microsoft YaHei"/>
                <a:ea typeface="Microsoft YaHei"/>
              </a:rPr>
              <a:t>物料</a:t>
            </a:r>
            <a:r>
              <a:rPr lang="en-US" sz="938" b="1">
                <a:solidFill>
                  <a:srgbClr val="0F1423"/>
                </a:solidFill>
                <a:latin typeface="Microsoft YaHei"/>
                <a:ea typeface="Microsoft YaHei"/>
              </a:rPr>
              <a:t xml:space="preserve"> / </a:t>
            </a:r>
            <a:r>
              <a:rPr lang="zh-CN" sz="938" b="1">
                <a:solidFill>
                  <a:srgbClr val="0F1423"/>
                </a:solidFill>
                <a:latin typeface="Microsoft YaHei"/>
                <a:ea typeface="Microsoft YaHei"/>
              </a:rPr>
              <a:t>设备</a:t>
            </a:r>
            <a:endParaRPr/>
          </a:p>
        </p:txBody>
      </p:sp>
      <p:sp>
        <p:nvSpPr>
          <p:cNvPr id="412" name="" descr="{&quot;isTemplate&quot;:true,&quot;type&quot;:&quot;text&quot;}"/>
          <p:cNvSpPr txBox="1"/>
          <p:nvPr/>
        </p:nvSpPr>
        <p:spPr>
          <a:xfrm rot="0" flipH="0" flipV="0">
            <a:off x="3448050" y="2152650"/>
            <a:ext cx="1162050" cy="152400"/>
          </a:xfrm>
          <a:prstGeom prst="rect"/>
        </p:spPr>
        <p:txBody>
          <a:bodyPr wrap="none" lIns="0" tIns="0" rIns="0" bIns="0"/>
          <a:p>
            <a:pPr>
              <a:lnSpc>
                <a:spcPct val="130000"/>
              </a:lnSpc>
            </a:pPr>
            <a:r>
              <a:rPr lang="en-US" sz="750">
                <a:solidFill>
                  <a:srgbClr val="8A8F99"/>
                </a:solidFill>
                <a:latin typeface="Microsoft YaHei"/>
                <a:ea typeface="Microsoft YaHei"/>
              </a:rPr>
              <a:t xml:space="preserve">BOM </a:t>
            </a:r>
            <a:r>
              <a:rPr lang="zh-CN" sz="750">
                <a:solidFill>
                  <a:srgbClr val="8A8F99"/>
                </a:solidFill>
                <a:latin typeface="Microsoft YaHei"/>
                <a:ea typeface="Microsoft YaHei"/>
              </a:rPr>
              <a:t>基础，两条链共用</a:t>
            </a:r>
            <a:endParaRPr/>
          </a:p>
        </p:txBody>
      </p:sp>
      <p:sp>
        <p:nvSpPr>
          <p:cNvPr id="413" name=""/>
          <p:cNvSpPr/>
          <p:nvPr/>
        </p:nvSpPr>
        <p:spPr>
          <a:xfrm rot="0" flipH="0" flipV="0">
            <a:off x="4743450" y="1543050"/>
            <a:ext cx="1333500" cy="1181100"/>
          </a:xfrm>
          <a:prstGeom prst="roundRect">
            <a:avLst>
              <a:gd name="adj" fmla="val 3226"/>
            </a:avLst>
          </a:prstGeom>
          <a:solidFill>
            <a:srgbClr val="F7F7F8"/>
          </a:solidFill>
          <a:ln/>
        </p:spPr>
        <p:txBody>
          <a:bodyPr/>
          <a:p/>
        </p:txBody>
      </p:sp>
      <p:sp>
        <p:nvSpPr>
          <p:cNvPr id="414" name=""/>
          <p:cNvSpPr/>
          <p:nvPr/>
        </p:nvSpPr>
        <p:spPr>
          <a:xfrm rot="0" flipH="0" flipV="0">
            <a:off x="4743450" y="1543050"/>
            <a:ext cx="1333500" cy="1181100"/>
          </a:xfrm>
          <a:custGeom>
            <a:pathLst>
              <a:path w="140" h="124">
                <a:moveTo>
                  <a:pt x="136" y="0"/>
                </a:moveTo>
                <a:cubicBezTo>
                  <a:pt x="138" y="0"/>
                  <a:pt x="140" y="2"/>
                  <a:pt x="140" y="4"/>
                </a:cubicBezTo>
                <a:cubicBezTo>
                  <a:pt x="140" y="3"/>
                  <a:pt x="139" y="3"/>
                  <a:pt x="139" y="3"/>
                </a:cubicBezTo>
                <a:lnTo>
                  <a:pt x="1" y="3"/>
                </a:lnTo>
                <a:cubicBezTo>
                  <a:pt x="1" y="3"/>
                  <a:pt x="0" y="3"/>
                  <a:pt x="0" y="4"/>
                </a:cubicBezTo>
                <a:cubicBezTo>
                  <a:pt x="0" y="2"/>
                  <a:pt x="2" y="0"/>
                  <a:pt x="4" y="0"/>
                </a:cubicBezTo>
                <a:lnTo>
                  <a:pt x="136" y="0"/>
                </a:lnTo>
                <a:close/>
              </a:path>
            </a:pathLst>
          </a:custGeom>
          <a:solidFill>
            <a:srgbClr val="E0641E"/>
          </a:solidFill>
          <a:ln/>
        </p:spPr>
        <p:txBody>
          <a:bodyPr/>
          <a:p/>
        </p:txBody>
      </p:sp>
      <p:sp>
        <p:nvSpPr>
          <p:cNvPr id="415" name="" descr="{&quot;isTemplate&quot;:true,&quot;type&quot;:&quot;text&quot;}"/>
          <p:cNvSpPr txBox="1"/>
          <p:nvPr/>
        </p:nvSpPr>
        <p:spPr>
          <a:xfrm rot="0" flipH="0" flipV="0">
            <a:off x="4829175" y="1933575"/>
            <a:ext cx="1162050" cy="180975"/>
          </a:xfrm>
          <a:prstGeom prst="rect"/>
        </p:spPr>
        <p:txBody>
          <a:bodyPr wrap="none" lIns="0" tIns="0" rIns="0" bIns="0"/>
          <a:p>
            <a:pPr>
              <a:lnSpc>
                <a:spcPct val="125000"/>
              </a:lnSpc>
            </a:pPr>
            <a:r>
              <a:rPr lang="zh-CN" sz="938" b="1">
                <a:solidFill>
                  <a:srgbClr val="0F1423"/>
                </a:solidFill>
                <a:latin typeface="Microsoft YaHei"/>
                <a:ea typeface="Microsoft YaHei"/>
              </a:rPr>
              <a:t>电站资产</a:t>
            </a:r>
            <a:endParaRPr/>
          </a:p>
        </p:txBody>
      </p:sp>
      <p:sp>
        <p:nvSpPr>
          <p:cNvPr id="416" name="" descr="{&quot;isTemplate&quot;:true,&quot;type&quot;:&quot;text&quot;}"/>
          <p:cNvSpPr txBox="1"/>
          <p:nvPr/>
        </p:nvSpPr>
        <p:spPr>
          <a:xfrm rot="0" flipH="0" flipV="0">
            <a:off x="4829175" y="2152650"/>
            <a:ext cx="1162050" cy="152400"/>
          </a:xfrm>
          <a:prstGeom prst="rect"/>
        </p:spPr>
        <p:txBody>
          <a:bodyPr wrap="none" lIns="0" tIns="0" rIns="0" bIns="0"/>
          <a:p>
            <a:pPr>
              <a:lnSpc>
                <a:spcPct val="130000"/>
              </a:lnSpc>
            </a:pPr>
            <a:r>
              <a:rPr lang="zh-CN" sz="750">
                <a:solidFill>
                  <a:srgbClr val="8A8F99"/>
                </a:solidFill>
                <a:latin typeface="Microsoft YaHei"/>
                <a:ea typeface="Microsoft YaHei"/>
              </a:rPr>
              <a:t>机组、场站、组件</a:t>
            </a:r>
            <a:endParaRPr/>
          </a:p>
        </p:txBody>
      </p:sp>
      <p:sp>
        <p:nvSpPr>
          <p:cNvPr id="417" name=""/>
          <p:cNvSpPr/>
          <p:nvPr/>
        </p:nvSpPr>
        <p:spPr>
          <a:xfrm rot="0" flipH="0" flipV="0">
            <a:off x="6124575" y="1543050"/>
            <a:ext cx="1323975" cy="1181100"/>
          </a:xfrm>
          <a:prstGeom prst="roundRect">
            <a:avLst>
              <a:gd name="adj" fmla="val 3226"/>
            </a:avLst>
          </a:prstGeom>
          <a:solidFill>
            <a:srgbClr val="F7F7F8"/>
          </a:solidFill>
          <a:ln/>
        </p:spPr>
        <p:txBody>
          <a:bodyPr/>
          <a:p/>
        </p:txBody>
      </p:sp>
      <p:sp>
        <p:nvSpPr>
          <p:cNvPr id="418" name=""/>
          <p:cNvSpPr/>
          <p:nvPr/>
        </p:nvSpPr>
        <p:spPr>
          <a:xfrm rot="0" flipH="0" flipV="0">
            <a:off x="6124575" y="1543050"/>
            <a:ext cx="1323975" cy="1181100"/>
          </a:xfrm>
          <a:custGeom>
            <a:pathLst>
              <a:path w="139" h="124">
                <a:moveTo>
                  <a:pt x="135" y="0"/>
                </a:moveTo>
                <a:cubicBezTo>
                  <a:pt x="137" y="0"/>
                  <a:pt x="139" y="2"/>
                  <a:pt x="139" y="4"/>
                </a:cubicBezTo>
                <a:cubicBezTo>
                  <a:pt x="139" y="3"/>
                  <a:pt x="138" y="3"/>
                  <a:pt x="138" y="3"/>
                </a:cubicBezTo>
                <a:lnTo>
                  <a:pt x="1" y="3"/>
                </a:lnTo>
                <a:cubicBezTo>
                  <a:pt x="1" y="3"/>
                  <a:pt x="0" y="3"/>
                  <a:pt x="0" y="4"/>
                </a:cubicBezTo>
                <a:cubicBezTo>
                  <a:pt x="0" y="2"/>
                  <a:pt x="2" y="0"/>
                  <a:pt x="4" y="0"/>
                </a:cubicBezTo>
                <a:lnTo>
                  <a:pt x="135" y="0"/>
                </a:lnTo>
                <a:close/>
              </a:path>
            </a:pathLst>
          </a:custGeom>
          <a:solidFill>
            <a:srgbClr val="E0641E"/>
          </a:solidFill>
          <a:ln/>
        </p:spPr>
        <p:txBody>
          <a:bodyPr/>
          <a:p/>
        </p:txBody>
      </p:sp>
      <p:sp>
        <p:nvSpPr>
          <p:cNvPr id="419" name="" descr="{&quot;isTemplate&quot;:true,&quot;type&quot;:&quot;text&quot;}"/>
          <p:cNvSpPr txBox="1"/>
          <p:nvPr/>
        </p:nvSpPr>
        <p:spPr>
          <a:xfrm rot="0" flipH="0" flipV="0">
            <a:off x="6210300" y="1933575"/>
            <a:ext cx="1152525" cy="180975"/>
          </a:xfrm>
          <a:prstGeom prst="rect"/>
        </p:spPr>
        <p:txBody>
          <a:bodyPr wrap="none" lIns="0" tIns="0" rIns="0" bIns="0"/>
          <a:p>
            <a:pPr>
              <a:lnSpc>
                <a:spcPct val="125000"/>
              </a:lnSpc>
            </a:pPr>
            <a:r>
              <a:rPr lang="zh-CN" sz="938" b="1">
                <a:solidFill>
                  <a:srgbClr val="0F1423"/>
                </a:solidFill>
                <a:latin typeface="Microsoft YaHei"/>
                <a:ea typeface="Microsoft YaHei"/>
              </a:rPr>
              <a:t>项目</a:t>
            </a:r>
            <a:endParaRPr/>
          </a:p>
        </p:txBody>
      </p:sp>
      <p:sp>
        <p:nvSpPr>
          <p:cNvPr id="420" name="" descr="{&quot;isTemplate&quot;:true,&quot;type&quot;:&quot;text&quot;}"/>
          <p:cNvSpPr txBox="1"/>
          <p:nvPr/>
        </p:nvSpPr>
        <p:spPr>
          <a:xfrm rot="0" flipH="0" flipV="0">
            <a:off x="6210300" y="2152650"/>
            <a:ext cx="1152525" cy="152400"/>
          </a:xfrm>
          <a:prstGeom prst="rect"/>
        </p:spPr>
        <p:txBody>
          <a:bodyPr wrap="none" lIns="0" tIns="0" rIns="0" bIns="0"/>
          <a:p>
            <a:pPr>
              <a:lnSpc>
                <a:spcPct val="130000"/>
              </a:lnSpc>
            </a:pPr>
            <a:r>
              <a:rPr lang="zh-CN" sz="750">
                <a:solidFill>
                  <a:srgbClr val="8A8F99"/>
                </a:solidFill>
                <a:latin typeface="Microsoft YaHei"/>
                <a:ea typeface="Microsoft YaHei"/>
              </a:rPr>
              <a:t>在建与存量项目编码</a:t>
            </a:r>
            <a:endParaRPr/>
          </a:p>
        </p:txBody>
      </p:sp>
      <p:sp>
        <p:nvSpPr>
          <p:cNvPr id="421" name=""/>
          <p:cNvSpPr/>
          <p:nvPr/>
        </p:nvSpPr>
        <p:spPr>
          <a:xfrm rot="0" flipH="0" flipV="0">
            <a:off x="7496175" y="1543050"/>
            <a:ext cx="1333500" cy="1181100"/>
          </a:xfrm>
          <a:prstGeom prst="roundRect">
            <a:avLst>
              <a:gd name="adj" fmla="val 3226"/>
            </a:avLst>
          </a:prstGeom>
          <a:solidFill>
            <a:srgbClr val="F7F7F8"/>
          </a:solidFill>
          <a:ln/>
        </p:spPr>
        <p:txBody>
          <a:bodyPr/>
          <a:p/>
        </p:txBody>
      </p:sp>
      <p:sp>
        <p:nvSpPr>
          <p:cNvPr id="422" name=""/>
          <p:cNvSpPr/>
          <p:nvPr/>
        </p:nvSpPr>
        <p:spPr>
          <a:xfrm rot="0" flipH="0" flipV="0">
            <a:off x="7496175" y="1543050"/>
            <a:ext cx="1333500" cy="1181100"/>
          </a:xfrm>
          <a:custGeom>
            <a:pathLst>
              <a:path w="140" h="124">
                <a:moveTo>
                  <a:pt x="136" y="0"/>
                </a:moveTo>
                <a:cubicBezTo>
                  <a:pt x="138" y="0"/>
                  <a:pt x="140" y="2"/>
                  <a:pt x="140" y="4"/>
                </a:cubicBezTo>
                <a:cubicBezTo>
                  <a:pt x="140" y="3"/>
                  <a:pt x="139" y="3"/>
                  <a:pt x="139" y="3"/>
                </a:cubicBezTo>
                <a:lnTo>
                  <a:pt x="1" y="3"/>
                </a:lnTo>
                <a:cubicBezTo>
                  <a:pt x="1" y="3"/>
                  <a:pt x="0" y="3"/>
                  <a:pt x="0" y="4"/>
                </a:cubicBezTo>
                <a:cubicBezTo>
                  <a:pt x="0" y="2"/>
                  <a:pt x="2" y="0"/>
                  <a:pt x="4" y="0"/>
                </a:cubicBezTo>
                <a:lnTo>
                  <a:pt x="136" y="0"/>
                </a:lnTo>
                <a:close/>
              </a:path>
            </a:pathLst>
          </a:custGeom>
          <a:solidFill>
            <a:srgbClr val="E0641E"/>
          </a:solidFill>
          <a:ln/>
        </p:spPr>
        <p:txBody>
          <a:bodyPr/>
          <a:p/>
        </p:txBody>
      </p:sp>
      <p:sp>
        <p:nvSpPr>
          <p:cNvPr id="423" name="" descr="{&quot;isTemplate&quot;:true,&quot;type&quot;:&quot;text&quot;}"/>
          <p:cNvSpPr txBox="1"/>
          <p:nvPr/>
        </p:nvSpPr>
        <p:spPr>
          <a:xfrm rot="0" flipH="0" flipV="0">
            <a:off x="7581900" y="1933575"/>
            <a:ext cx="1162050" cy="180975"/>
          </a:xfrm>
          <a:prstGeom prst="rect"/>
        </p:spPr>
        <p:txBody>
          <a:bodyPr wrap="none" lIns="0" tIns="0" rIns="0" bIns="0"/>
          <a:p>
            <a:pPr>
              <a:lnSpc>
                <a:spcPct val="125000"/>
              </a:lnSpc>
            </a:pPr>
            <a:r>
              <a:rPr lang="zh-CN" sz="938" b="1">
                <a:solidFill>
                  <a:srgbClr val="0F1423"/>
                </a:solidFill>
                <a:latin typeface="Microsoft YaHei"/>
                <a:ea typeface="Microsoft YaHei"/>
              </a:rPr>
              <a:t>合同</a:t>
            </a:r>
            <a:endParaRPr/>
          </a:p>
        </p:txBody>
      </p:sp>
      <p:sp>
        <p:nvSpPr>
          <p:cNvPr id="424" name="" descr="{&quot;isTemplate&quot;:true,&quot;type&quot;:&quot;text&quot;}"/>
          <p:cNvSpPr txBox="1"/>
          <p:nvPr/>
        </p:nvSpPr>
        <p:spPr>
          <a:xfrm rot="0" flipH="0" flipV="0">
            <a:off x="7581900" y="2152650"/>
            <a:ext cx="1162050" cy="152400"/>
          </a:xfrm>
          <a:prstGeom prst="rect"/>
        </p:spPr>
        <p:txBody>
          <a:bodyPr wrap="none" lIns="0" tIns="0" rIns="0" bIns="0"/>
          <a:p>
            <a:pPr>
              <a:lnSpc>
                <a:spcPct val="130000"/>
              </a:lnSpc>
            </a:pPr>
            <a:r>
              <a:rPr lang="zh-CN" sz="750">
                <a:solidFill>
                  <a:srgbClr val="8A8F99"/>
                </a:solidFill>
                <a:latin typeface="Microsoft YaHei"/>
                <a:ea typeface="Microsoft YaHei"/>
              </a:rPr>
              <a:t>框架与具体合同</a:t>
            </a:r>
            <a:endParaRPr/>
          </a:p>
        </p:txBody>
      </p:sp>
      <p:sp>
        <p:nvSpPr>
          <p:cNvPr id="425" name=""/>
          <p:cNvSpPr/>
          <p:nvPr/>
        </p:nvSpPr>
        <p:spPr>
          <a:xfrm rot="0" flipH="0" flipV="0">
            <a:off x="8877300" y="1543050"/>
            <a:ext cx="1323975" cy="1181100"/>
          </a:xfrm>
          <a:prstGeom prst="roundRect">
            <a:avLst>
              <a:gd name="adj" fmla="val 3226"/>
            </a:avLst>
          </a:prstGeom>
          <a:solidFill>
            <a:srgbClr val="F7F7F8"/>
          </a:solidFill>
          <a:ln/>
        </p:spPr>
        <p:txBody>
          <a:bodyPr/>
          <a:p/>
        </p:txBody>
      </p:sp>
      <p:sp>
        <p:nvSpPr>
          <p:cNvPr id="426" name=""/>
          <p:cNvSpPr/>
          <p:nvPr/>
        </p:nvSpPr>
        <p:spPr>
          <a:xfrm rot="0" flipH="0" flipV="0">
            <a:off x="8877300" y="1543050"/>
            <a:ext cx="1323975" cy="1181100"/>
          </a:xfrm>
          <a:custGeom>
            <a:pathLst>
              <a:path w="139" h="124">
                <a:moveTo>
                  <a:pt x="135" y="0"/>
                </a:moveTo>
                <a:cubicBezTo>
                  <a:pt x="137" y="0"/>
                  <a:pt x="139" y="2"/>
                  <a:pt x="139" y="4"/>
                </a:cubicBezTo>
                <a:cubicBezTo>
                  <a:pt x="139" y="3"/>
                  <a:pt x="138" y="3"/>
                  <a:pt x="138" y="3"/>
                </a:cubicBezTo>
                <a:lnTo>
                  <a:pt x="1" y="3"/>
                </a:lnTo>
                <a:cubicBezTo>
                  <a:pt x="1" y="3"/>
                  <a:pt x="0" y="3"/>
                  <a:pt x="0" y="4"/>
                </a:cubicBezTo>
                <a:cubicBezTo>
                  <a:pt x="0" y="2"/>
                  <a:pt x="2" y="0"/>
                  <a:pt x="4" y="0"/>
                </a:cubicBezTo>
                <a:lnTo>
                  <a:pt x="135" y="0"/>
                </a:lnTo>
                <a:close/>
              </a:path>
            </a:pathLst>
          </a:custGeom>
          <a:solidFill>
            <a:srgbClr val="C43A17"/>
          </a:solidFill>
          <a:ln/>
        </p:spPr>
        <p:txBody>
          <a:bodyPr/>
          <a:p/>
        </p:txBody>
      </p:sp>
      <p:sp>
        <p:nvSpPr>
          <p:cNvPr id="427" name="" descr="{&quot;isTemplate&quot;:true,&quot;type&quot;:&quot;text&quot;}"/>
          <p:cNvSpPr txBox="1"/>
          <p:nvPr/>
        </p:nvSpPr>
        <p:spPr>
          <a:xfrm rot="0" flipH="0" flipV="0">
            <a:off x="8963025" y="1933575"/>
            <a:ext cx="1152525" cy="180975"/>
          </a:xfrm>
          <a:prstGeom prst="rect"/>
        </p:spPr>
        <p:txBody>
          <a:bodyPr wrap="none" lIns="0" tIns="0" rIns="0" bIns="0"/>
          <a:p>
            <a:pPr>
              <a:lnSpc>
                <a:spcPct val="125000"/>
              </a:lnSpc>
            </a:pPr>
            <a:r>
              <a:rPr lang="zh-CN" sz="938" b="1">
                <a:solidFill>
                  <a:srgbClr val="0F1423"/>
                </a:solidFill>
                <a:latin typeface="Microsoft YaHei"/>
                <a:ea typeface="Microsoft YaHei"/>
              </a:rPr>
              <a:t>产品与配置</a:t>
            </a:r>
            <a:endParaRPr/>
          </a:p>
        </p:txBody>
      </p:sp>
      <p:sp>
        <p:nvSpPr>
          <p:cNvPr id="428" name="" descr="{&quot;isTemplate&quot;:true,&quot;type&quot;:&quot;text&quot;}"/>
          <p:cNvSpPr txBox="1"/>
          <p:nvPr/>
        </p:nvSpPr>
        <p:spPr>
          <a:xfrm rot="0" flipH="0" flipV="0">
            <a:off x="8963025" y="2152650"/>
            <a:ext cx="1152525" cy="152400"/>
          </a:xfrm>
          <a:prstGeom prst="rect"/>
        </p:spPr>
        <p:txBody>
          <a:bodyPr wrap="none" lIns="0" tIns="0" rIns="0" bIns="0"/>
          <a:p>
            <a:pPr>
              <a:lnSpc>
                <a:spcPct val="130000"/>
              </a:lnSpc>
            </a:pPr>
            <a:r>
              <a:rPr lang="en-US" sz="750">
                <a:solidFill>
                  <a:srgbClr val="8A8F99"/>
                </a:solidFill>
                <a:latin typeface="Microsoft YaHei"/>
                <a:ea typeface="Microsoft YaHei"/>
              </a:rPr>
              <a:t xml:space="preserve">EBOM </a:t>
            </a:r>
            <a:r>
              <a:rPr lang="zh-CN" sz="750">
                <a:solidFill>
                  <a:srgbClr val="8A8F99"/>
                </a:solidFill>
                <a:latin typeface="Microsoft YaHei"/>
                <a:ea typeface="Microsoft YaHei"/>
              </a:rPr>
              <a:t>版本与配置项</a:t>
            </a:r>
            <a:endParaRPr/>
          </a:p>
        </p:txBody>
      </p:sp>
      <p:sp>
        <p:nvSpPr>
          <p:cNvPr id="429" name=""/>
          <p:cNvSpPr/>
          <p:nvPr/>
        </p:nvSpPr>
        <p:spPr>
          <a:xfrm rot="0" flipH="0" flipV="0">
            <a:off x="10248900" y="1543050"/>
            <a:ext cx="1333500" cy="1181100"/>
          </a:xfrm>
          <a:prstGeom prst="roundRect">
            <a:avLst>
              <a:gd name="adj" fmla="val 3226"/>
            </a:avLst>
          </a:prstGeom>
          <a:solidFill>
            <a:srgbClr val="F7F7F8"/>
          </a:solidFill>
          <a:ln/>
        </p:spPr>
        <p:txBody>
          <a:bodyPr/>
          <a:p/>
        </p:txBody>
      </p:sp>
      <p:sp>
        <p:nvSpPr>
          <p:cNvPr id="430" name=""/>
          <p:cNvSpPr/>
          <p:nvPr/>
        </p:nvSpPr>
        <p:spPr>
          <a:xfrm rot="0" flipH="0" flipV="0">
            <a:off x="10248900" y="1543050"/>
            <a:ext cx="1333500" cy="1181100"/>
          </a:xfrm>
          <a:custGeom>
            <a:pathLst>
              <a:path w="140" h="124">
                <a:moveTo>
                  <a:pt x="136" y="0"/>
                </a:moveTo>
                <a:cubicBezTo>
                  <a:pt x="138" y="0"/>
                  <a:pt x="140" y="2"/>
                  <a:pt x="140" y="4"/>
                </a:cubicBezTo>
                <a:cubicBezTo>
                  <a:pt x="140" y="3"/>
                  <a:pt x="139" y="3"/>
                  <a:pt x="139" y="3"/>
                </a:cubicBezTo>
                <a:lnTo>
                  <a:pt x="1" y="3"/>
                </a:lnTo>
                <a:cubicBezTo>
                  <a:pt x="1" y="3"/>
                  <a:pt x="0" y="3"/>
                  <a:pt x="0" y="4"/>
                </a:cubicBezTo>
                <a:cubicBezTo>
                  <a:pt x="0" y="2"/>
                  <a:pt x="2" y="0"/>
                  <a:pt x="4" y="0"/>
                </a:cubicBezTo>
                <a:lnTo>
                  <a:pt x="136" y="0"/>
                </a:lnTo>
                <a:close/>
              </a:path>
            </a:pathLst>
          </a:custGeom>
          <a:solidFill>
            <a:srgbClr val="C43A17"/>
          </a:solidFill>
          <a:ln/>
        </p:spPr>
        <p:txBody>
          <a:bodyPr/>
          <a:p/>
        </p:txBody>
      </p:sp>
      <p:sp>
        <p:nvSpPr>
          <p:cNvPr id="431" name="" descr="{&quot;isTemplate&quot;:true,&quot;type&quot;:&quot;text&quot;}"/>
          <p:cNvSpPr txBox="1"/>
          <p:nvPr/>
        </p:nvSpPr>
        <p:spPr>
          <a:xfrm rot="0" flipH="0" flipV="0">
            <a:off x="10334625" y="1933575"/>
            <a:ext cx="1162050" cy="180975"/>
          </a:xfrm>
          <a:prstGeom prst="rect"/>
        </p:spPr>
        <p:txBody>
          <a:bodyPr wrap="none" lIns="0" tIns="0" rIns="0" bIns="0"/>
          <a:p>
            <a:pPr>
              <a:lnSpc>
                <a:spcPct val="125000"/>
              </a:lnSpc>
            </a:pPr>
            <a:r>
              <a:rPr lang="zh-CN" sz="938" b="1">
                <a:solidFill>
                  <a:srgbClr val="0F1423"/>
                </a:solidFill>
                <a:latin typeface="Microsoft YaHei"/>
                <a:ea typeface="Microsoft YaHei"/>
              </a:rPr>
              <a:t>指标</a:t>
            </a:r>
            <a:endParaRPr/>
          </a:p>
        </p:txBody>
      </p:sp>
      <p:sp>
        <p:nvSpPr>
          <p:cNvPr id="432" name="" descr="{&quot;isTemplate&quot;:true,&quot;type&quot;:&quot;text&quot;}"/>
          <p:cNvSpPr txBox="1"/>
          <p:nvPr/>
        </p:nvSpPr>
        <p:spPr>
          <a:xfrm rot="0" flipH="0" flipV="0">
            <a:off x="10334625" y="2152650"/>
            <a:ext cx="1162050" cy="152400"/>
          </a:xfrm>
          <a:prstGeom prst="rect"/>
        </p:spPr>
        <p:txBody>
          <a:bodyPr wrap="none" lIns="0" tIns="0" rIns="0" bIns="0"/>
          <a:p>
            <a:pPr>
              <a:lnSpc>
                <a:spcPct val="130000"/>
              </a:lnSpc>
            </a:pPr>
            <a:r>
              <a:rPr lang="zh-CN" sz="750">
                <a:solidFill>
                  <a:srgbClr val="8A8F99"/>
                </a:solidFill>
                <a:latin typeface="Microsoft YaHei"/>
                <a:ea typeface="Microsoft YaHei"/>
              </a:rPr>
              <a:t>口径本身即主数据</a:t>
            </a:r>
            <a:endParaRPr/>
          </a:p>
        </p:txBody>
      </p:sp>
      <p:sp>
        <p:nvSpPr>
          <p:cNvPr id="433" name=""/>
          <p:cNvSpPr/>
          <p:nvPr/>
        </p:nvSpPr>
        <p:spPr>
          <a:xfrm rot="0" flipH="0" flipV="0">
            <a:off x="609600" y="2771775"/>
            <a:ext cx="5238750" cy="2352675"/>
          </a:xfrm>
          <a:prstGeom prst="roundRect">
            <a:avLst>
              <a:gd name="adj" fmla="val 1619"/>
            </a:avLst>
          </a:prstGeom>
          <a:solidFill>
            <a:srgbClr val="0F1423"/>
          </a:solidFill>
          <a:ln/>
        </p:spPr>
        <p:txBody>
          <a:bodyPr/>
          <a:p/>
        </p:txBody>
      </p:sp>
      <p:sp>
        <p:nvSpPr>
          <p:cNvPr id="434" name="" descr="{&quot;isTemplate&quot;:true,&quot;type&quot;:&quot;text&quot;}"/>
          <p:cNvSpPr txBox="1"/>
          <p:nvPr/>
        </p:nvSpPr>
        <p:spPr>
          <a:xfrm rot="0" flipH="0" flipV="0">
            <a:off x="762000" y="2895600"/>
            <a:ext cx="4933950" cy="142875"/>
          </a:xfrm>
          <a:prstGeom prst="rect"/>
        </p:spPr>
        <p:txBody>
          <a:bodyPr wrap="none" lIns="0" tIns="0" rIns="0" bIns="0"/>
          <a:p>
            <a:pPr>
              <a:lnSpc>
                <a:spcPct val="100000"/>
              </a:lnSpc>
            </a:pPr>
            <a:r>
              <a:rPr lang="zh-CN" sz="900" spc="75">
                <a:solidFill>
                  <a:srgbClr val="FBA15C"/>
                </a:solidFill>
                <a:latin typeface="Microsoft YaHei"/>
                <a:ea typeface="Microsoft YaHei"/>
              </a:rPr>
              <a:t>治理现状四问（答不上来就是空白区）</a:t>
            </a:r>
            <a:endParaRPr/>
          </a:p>
        </p:txBody>
      </p:sp>
      <p:sp>
        <p:nvSpPr>
          <p:cNvPr id="435" name=""/>
          <p:cNvSpPr/>
          <p:nvPr/>
        </p:nvSpPr>
        <p:spPr>
          <a:xfrm rot="0" flipH="0" flipV="0">
            <a:off x="762000" y="3257550"/>
            <a:ext cx="381000" cy="180975"/>
          </a:xfrm>
          <a:prstGeom prst="roundRect">
            <a:avLst>
              <a:gd name="adj" fmla="val 10526"/>
            </a:avLst>
          </a:prstGeom>
          <a:solidFill>
            <a:srgbClr val="FA4F24"/>
          </a:solidFill>
          <a:ln/>
        </p:spPr>
        <p:txBody>
          <a:bodyPr/>
          <a:p/>
        </p:txBody>
      </p:sp>
      <p:sp>
        <p:nvSpPr>
          <p:cNvPr id="436" name="" descr="{&quot;isTemplate&quot;:true,&quot;type&quot;:&quot;text&quot;}"/>
          <p:cNvSpPr txBox="1"/>
          <p:nvPr/>
        </p:nvSpPr>
        <p:spPr>
          <a:xfrm rot="0" flipH="0" flipV="0">
            <a:off x="857250" y="3286125"/>
            <a:ext cx="200025" cy="123825"/>
          </a:xfrm>
          <a:prstGeom prst="rect"/>
        </p:spPr>
        <p:txBody>
          <a:bodyPr wrap="none" lIns="0" tIns="0" rIns="0" bIns="0"/>
          <a:p>
            <a:pPr>
              <a:lnSpc>
                <a:spcPct val="100000"/>
              </a:lnSpc>
            </a:pPr>
            <a:r>
              <a:rPr lang="zh-CN" sz="788" b="1">
                <a:solidFill>
                  <a:srgbClr val="FFFFFF"/>
                </a:solidFill>
                <a:latin typeface="Microsoft YaHei"/>
                <a:ea typeface="Microsoft YaHei"/>
              </a:rPr>
              <a:t>权责</a:t>
            </a:r>
            <a:endParaRPr/>
          </a:p>
        </p:txBody>
      </p:sp>
      <p:sp>
        <p:nvSpPr>
          <p:cNvPr id="437" name="" descr="{&quot;isTemplate&quot;:true,&quot;type&quot;:&quot;text&quot;}"/>
          <p:cNvSpPr txBox="1"/>
          <p:nvPr/>
        </p:nvSpPr>
        <p:spPr>
          <a:xfrm rot="0" flipH="0" flipV="0">
            <a:off x="1238250" y="3257550"/>
            <a:ext cx="4457700" cy="171450"/>
          </a:xfrm>
          <a:prstGeom prst="rect"/>
        </p:spPr>
        <p:txBody>
          <a:bodyPr wrap="none" lIns="0" tIns="0" rIns="0" bIns="0"/>
          <a:p>
            <a:pPr>
              <a:lnSpc>
                <a:spcPct val="130000"/>
              </a:lnSpc>
            </a:pPr>
            <a:r>
              <a:rPr lang="zh-CN" sz="863">
                <a:solidFill>
                  <a:srgbClr val="FFFFFF">
                    <a:alpha val="88000"/>
                  </a:srgbClr>
                </a:solidFill>
                <a:latin typeface="Microsoft YaHei"/>
                <a:ea typeface="Microsoft YaHei"/>
              </a:rPr>
              <a:t>每类主数据有没有明确认领部门？没有认领的，规则会自然分叉</a:t>
            </a:r>
            <a:endParaRPr/>
          </a:p>
        </p:txBody>
      </p:sp>
      <p:sp>
        <p:nvSpPr>
          <p:cNvPr id="438" name=""/>
          <p:cNvSpPr/>
          <p:nvPr/>
        </p:nvSpPr>
        <p:spPr>
          <a:xfrm rot="0" flipH="0" flipV="0">
            <a:off x="762000" y="3733800"/>
            <a:ext cx="381000" cy="180975"/>
          </a:xfrm>
          <a:prstGeom prst="roundRect">
            <a:avLst>
              <a:gd name="adj" fmla="val 10526"/>
            </a:avLst>
          </a:prstGeom>
          <a:solidFill>
            <a:srgbClr val="FA4F24"/>
          </a:solidFill>
          <a:ln/>
        </p:spPr>
        <p:txBody>
          <a:bodyPr/>
          <a:p/>
        </p:txBody>
      </p:sp>
      <p:sp>
        <p:nvSpPr>
          <p:cNvPr id="439" name="" descr="{&quot;isTemplate&quot;:true,&quot;type&quot;:&quot;text&quot;}"/>
          <p:cNvSpPr txBox="1"/>
          <p:nvPr/>
        </p:nvSpPr>
        <p:spPr>
          <a:xfrm rot="0" flipH="0" flipV="0">
            <a:off x="857250" y="3762375"/>
            <a:ext cx="200025" cy="123825"/>
          </a:xfrm>
          <a:prstGeom prst="rect"/>
        </p:spPr>
        <p:txBody>
          <a:bodyPr wrap="none" lIns="0" tIns="0" rIns="0" bIns="0"/>
          <a:p>
            <a:pPr>
              <a:lnSpc>
                <a:spcPct val="100000"/>
              </a:lnSpc>
            </a:pPr>
            <a:r>
              <a:rPr lang="zh-CN" sz="788" b="1">
                <a:solidFill>
                  <a:srgbClr val="FFFFFF"/>
                </a:solidFill>
                <a:latin typeface="Microsoft YaHei"/>
                <a:ea typeface="Microsoft YaHei"/>
              </a:rPr>
              <a:t>流程</a:t>
            </a:r>
            <a:endParaRPr/>
          </a:p>
        </p:txBody>
      </p:sp>
      <p:sp>
        <p:nvSpPr>
          <p:cNvPr id="440" name="" descr="{&quot;isTemplate&quot;:true,&quot;type&quot;:&quot;text&quot;}"/>
          <p:cNvSpPr txBox="1"/>
          <p:nvPr/>
        </p:nvSpPr>
        <p:spPr>
          <a:xfrm rot="0" flipH="0" flipV="0">
            <a:off x="1238250" y="3743325"/>
            <a:ext cx="4457700" cy="171450"/>
          </a:xfrm>
          <a:prstGeom prst="rect"/>
        </p:spPr>
        <p:txBody>
          <a:bodyPr wrap="none" lIns="0" tIns="0" rIns="0" bIns="0"/>
          <a:p>
            <a:pPr>
              <a:lnSpc>
                <a:spcPct val="130000"/>
              </a:lnSpc>
            </a:pPr>
            <a:r>
              <a:rPr lang="zh-CN" sz="863">
                <a:solidFill>
                  <a:srgbClr val="FFFFFF">
                    <a:alpha val="88000"/>
                  </a:srgbClr>
                </a:solidFill>
                <a:latin typeface="Microsoft YaHei"/>
                <a:ea typeface="Microsoft YaHei"/>
              </a:rPr>
              <a:t>新增</a:t>
            </a:r>
            <a:r>
              <a:rPr lang="en-US" sz="863">
                <a:solidFill>
                  <a:srgbClr val="FFFFFF">
                    <a:alpha val="88000"/>
                  </a:srgbClr>
                </a:solidFill>
                <a:latin typeface="Microsoft YaHei"/>
                <a:ea typeface="Microsoft YaHei"/>
              </a:rPr>
              <a:t>/</a:t>
            </a:r>
            <a:r>
              <a:rPr lang="zh-CN" sz="863">
                <a:solidFill>
                  <a:srgbClr val="FFFFFF">
                    <a:alpha val="88000"/>
                  </a:srgbClr>
                </a:solidFill>
                <a:latin typeface="Microsoft YaHei"/>
                <a:ea typeface="Microsoft YaHei"/>
              </a:rPr>
              <a:t>变更</a:t>
            </a:r>
            <a:r>
              <a:rPr lang="en-US" sz="863">
                <a:solidFill>
                  <a:srgbClr val="FFFFFF">
                    <a:alpha val="88000"/>
                  </a:srgbClr>
                </a:solidFill>
                <a:latin typeface="Microsoft YaHei"/>
                <a:ea typeface="Microsoft YaHei"/>
              </a:rPr>
              <a:t>/</a:t>
            </a:r>
            <a:r>
              <a:rPr lang="zh-CN" sz="863">
                <a:solidFill>
                  <a:srgbClr val="FFFFFF">
                    <a:alpha val="88000"/>
                  </a:srgbClr>
                </a:solidFill>
                <a:latin typeface="Microsoft YaHei"/>
                <a:ea typeface="Microsoft YaHei"/>
              </a:rPr>
              <a:t>停用走不走审批？绕过流程直接改库的入口封了没有</a:t>
            </a:r>
            <a:endParaRPr/>
          </a:p>
        </p:txBody>
      </p:sp>
      <p:sp>
        <p:nvSpPr>
          <p:cNvPr id="441" name=""/>
          <p:cNvSpPr/>
          <p:nvPr/>
        </p:nvSpPr>
        <p:spPr>
          <a:xfrm rot="0" flipH="0" flipV="0">
            <a:off x="762000" y="4219575"/>
            <a:ext cx="381000" cy="180975"/>
          </a:xfrm>
          <a:prstGeom prst="roundRect">
            <a:avLst>
              <a:gd name="adj" fmla="val 10526"/>
            </a:avLst>
          </a:prstGeom>
          <a:solidFill>
            <a:srgbClr val="FA4F24"/>
          </a:solidFill>
          <a:ln/>
        </p:spPr>
        <p:txBody>
          <a:bodyPr/>
          <a:p/>
        </p:txBody>
      </p:sp>
      <p:sp>
        <p:nvSpPr>
          <p:cNvPr id="442" name="" descr="{&quot;isTemplate&quot;:true,&quot;type&quot;:&quot;text&quot;}"/>
          <p:cNvSpPr txBox="1"/>
          <p:nvPr/>
        </p:nvSpPr>
        <p:spPr>
          <a:xfrm rot="0" flipH="0" flipV="0">
            <a:off x="857250" y="4248150"/>
            <a:ext cx="200025" cy="123825"/>
          </a:xfrm>
          <a:prstGeom prst="rect"/>
        </p:spPr>
        <p:txBody>
          <a:bodyPr wrap="none" lIns="0" tIns="0" rIns="0" bIns="0"/>
          <a:p>
            <a:pPr>
              <a:lnSpc>
                <a:spcPct val="100000"/>
              </a:lnSpc>
            </a:pPr>
            <a:r>
              <a:rPr lang="zh-CN" sz="788" b="1">
                <a:solidFill>
                  <a:srgbClr val="FFFFFF"/>
                </a:solidFill>
                <a:latin typeface="Microsoft YaHei"/>
                <a:ea typeface="Microsoft YaHei"/>
              </a:rPr>
              <a:t>标准</a:t>
            </a:r>
            <a:endParaRPr/>
          </a:p>
        </p:txBody>
      </p:sp>
      <p:sp>
        <p:nvSpPr>
          <p:cNvPr id="443" name="" descr="{&quot;isTemplate&quot;:true,&quot;type&quot;:&quot;text&quot;}"/>
          <p:cNvSpPr txBox="1"/>
          <p:nvPr/>
        </p:nvSpPr>
        <p:spPr>
          <a:xfrm rot="0" flipH="0" flipV="0">
            <a:off x="1238250" y="4219575"/>
            <a:ext cx="4457700" cy="171450"/>
          </a:xfrm>
          <a:prstGeom prst="rect"/>
        </p:spPr>
        <p:txBody>
          <a:bodyPr wrap="none" lIns="0" tIns="0" rIns="0" bIns="0"/>
          <a:p>
            <a:pPr>
              <a:lnSpc>
                <a:spcPct val="130000"/>
              </a:lnSpc>
            </a:pPr>
            <a:r>
              <a:rPr lang="zh-CN" sz="863">
                <a:solidFill>
                  <a:srgbClr val="FFFFFF">
                    <a:alpha val="88000"/>
                  </a:srgbClr>
                </a:solidFill>
                <a:latin typeface="Microsoft YaHei"/>
                <a:ea typeface="Microsoft YaHei"/>
              </a:rPr>
              <a:t>编码、命名、取值域有没有标准？标准文档是否在版本控制中</a:t>
            </a:r>
            <a:endParaRPr/>
          </a:p>
        </p:txBody>
      </p:sp>
      <p:sp>
        <p:nvSpPr>
          <p:cNvPr id="444" name=""/>
          <p:cNvSpPr/>
          <p:nvPr/>
        </p:nvSpPr>
        <p:spPr>
          <a:xfrm rot="0" flipH="0" flipV="0">
            <a:off x="762000" y="4695825"/>
            <a:ext cx="381000" cy="180975"/>
          </a:xfrm>
          <a:prstGeom prst="roundRect">
            <a:avLst>
              <a:gd name="adj" fmla="val 10526"/>
            </a:avLst>
          </a:prstGeom>
          <a:solidFill>
            <a:srgbClr val="FA4F24"/>
          </a:solidFill>
          <a:ln/>
        </p:spPr>
        <p:txBody>
          <a:bodyPr/>
          <a:p/>
        </p:txBody>
      </p:sp>
      <p:sp>
        <p:nvSpPr>
          <p:cNvPr id="445" name="" descr="{&quot;isTemplate&quot;:true,&quot;type&quot;:&quot;text&quot;}"/>
          <p:cNvSpPr txBox="1"/>
          <p:nvPr/>
        </p:nvSpPr>
        <p:spPr>
          <a:xfrm rot="0" flipH="0" flipV="0">
            <a:off x="857250" y="4724400"/>
            <a:ext cx="200025" cy="123825"/>
          </a:xfrm>
          <a:prstGeom prst="rect"/>
        </p:spPr>
        <p:txBody>
          <a:bodyPr wrap="none" lIns="0" tIns="0" rIns="0" bIns="0"/>
          <a:p>
            <a:pPr>
              <a:lnSpc>
                <a:spcPct val="100000"/>
              </a:lnSpc>
            </a:pPr>
            <a:r>
              <a:rPr lang="zh-CN" sz="788" b="1">
                <a:solidFill>
                  <a:srgbClr val="FFFFFF"/>
                </a:solidFill>
                <a:latin typeface="Microsoft YaHei"/>
                <a:ea typeface="Microsoft YaHei"/>
              </a:rPr>
              <a:t>质量</a:t>
            </a:r>
            <a:endParaRPr/>
          </a:p>
        </p:txBody>
      </p:sp>
      <p:sp>
        <p:nvSpPr>
          <p:cNvPr id="446" name="" descr="{&quot;isTemplate&quot;:true,&quot;type&quot;:&quot;text&quot;}"/>
          <p:cNvSpPr txBox="1"/>
          <p:nvPr/>
        </p:nvSpPr>
        <p:spPr>
          <a:xfrm rot="0" flipH="0" flipV="0">
            <a:off x="1238250" y="4695825"/>
            <a:ext cx="4457700" cy="171450"/>
          </a:xfrm>
          <a:prstGeom prst="rect"/>
        </p:spPr>
        <p:txBody>
          <a:bodyPr wrap="none" lIns="0" tIns="0" rIns="0" bIns="0"/>
          <a:p>
            <a:pPr>
              <a:lnSpc>
                <a:spcPct val="130000"/>
              </a:lnSpc>
            </a:pPr>
            <a:r>
              <a:rPr lang="zh-CN" sz="863">
                <a:solidFill>
                  <a:srgbClr val="FFFFFF">
                    <a:alpha val="88000"/>
                  </a:srgbClr>
                </a:solidFill>
                <a:latin typeface="Microsoft YaHei"/>
                <a:ea typeface="Microsoft YaHei"/>
              </a:rPr>
              <a:t>完整率、唯一率、引用完整性有没有在定期度量？没有度量就没有改进</a:t>
            </a:r>
            <a:endParaRPr/>
          </a:p>
        </p:txBody>
      </p:sp>
      <p:sp>
        <p:nvSpPr>
          <p:cNvPr id="447" name=""/>
          <p:cNvSpPr/>
          <p:nvPr/>
        </p:nvSpPr>
        <p:spPr>
          <a:xfrm rot="0" flipH="0" flipV="0">
            <a:off x="5972175" y="2771775"/>
            <a:ext cx="5648325" cy="2352675"/>
          </a:xfrm>
          <a:prstGeom prst="roundRect">
            <a:avLst>
              <a:gd name="adj" fmla="val 1619"/>
            </a:avLst>
          </a:prstGeom>
          <a:solidFill>
            <a:srgbClr val="FFF3EE"/>
          </a:solidFill>
          <a:ln/>
        </p:spPr>
        <p:txBody>
          <a:bodyPr/>
          <a:p/>
        </p:txBody>
      </p:sp>
      <p:sp>
        <p:nvSpPr>
          <p:cNvPr id="448" name=""/>
          <p:cNvSpPr/>
          <p:nvPr/>
        </p:nvSpPr>
        <p:spPr>
          <a:xfrm rot="0" flipH="0" flipV="0">
            <a:off x="5972175" y="2771775"/>
            <a:ext cx="5648325" cy="2352675"/>
          </a:xfrm>
          <a:custGeom>
            <a:pathLst>
              <a:path w="593" h="247">
                <a:moveTo>
                  <a:pt x="4" y="247"/>
                </a:moveTo>
                <a:cubicBezTo>
                  <a:pt x="2" y="247"/>
                  <a:pt x="0" y="245"/>
                  <a:pt x="0" y="243"/>
                </a:cubicBezTo>
                <a:lnTo>
                  <a:pt x="0" y="4"/>
                </a:lnTo>
                <a:cubicBezTo>
                  <a:pt x="0" y="2"/>
                  <a:pt x="2" y="0"/>
                  <a:pt x="4" y="0"/>
                </a:cubicBezTo>
                <a:lnTo>
                  <a:pt x="4" y="247"/>
                </a:lnTo>
                <a:close/>
              </a:path>
            </a:pathLst>
          </a:custGeom>
          <a:solidFill>
            <a:srgbClr val="FA4F24"/>
          </a:solidFill>
          <a:ln/>
        </p:spPr>
        <p:txBody>
          <a:bodyPr/>
          <a:p/>
        </p:txBody>
      </p:sp>
      <p:sp>
        <p:nvSpPr>
          <p:cNvPr id="449" name="" descr="{&quot;isTemplate&quot;:true,&quot;type&quot;:&quot;text&quot;}"/>
          <p:cNvSpPr txBox="1"/>
          <p:nvPr/>
        </p:nvSpPr>
        <p:spPr>
          <a:xfrm rot="0" flipH="0" flipV="0">
            <a:off x="6124575" y="2895600"/>
            <a:ext cx="5305425" cy="142875"/>
          </a:xfrm>
          <a:prstGeom prst="rect"/>
        </p:spPr>
        <p:txBody>
          <a:bodyPr wrap="none" lIns="0" tIns="0" rIns="0" bIns="0"/>
          <a:p>
            <a:pPr>
              <a:lnSpc>
                <a:spcPct val="100000"/>
              </a:lnSpc>
            </a:pPr>
            <a:r>
              <a:rPr lang="zh-CN" sz="938" b="1">
                <a:solidFill>
                  <a:srgbClr val="C43A17"/>
                </a:solidFill>
                <a:latin typeface="Microsoft YaHei"/>
                <a:ea typeface="Microsoft YaHei"/>
              </a:rPr>
              <a:t>诊断结论只出「最小可行治理清单」</a:t>
            </a:r>
            <a:endParaRPr/>
          </a:p>
        </p:txBody>
      </p:sp>
      <p:sp>
        <p:nvSpPr>
          <p:cNvPr id="450" name="" descr="{&quot;isTemplate&quot;:true,&quot;type&quot;:&quot;text&quot;}"/>
          <p:cNvSpPr txBox="1"/>
          <p:nvPr/>
        </p:nvSpPr>
        <p:spPr>
          <a:xfrm rot="0" flipH="0" flipV="0">
            <a:off x="6124575" y="3105150"/>
            <a:ext cx="5305425" cy="16573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不在诊断阶段推全量治理体系。能源项目真正卡住建设的，通常就是三件事：设备台账口径不统一、供应商编码与财务不一致、指标同名不同义。先把这三类的责任人和标准定下来，其余分期做。</a:t>
            </a:r>
            <a:endParaRPr/>
          </a:p>
        </p:txBody>
      </p:sp>
      <p:sp>
        <p:nvSpPr>
          <p:cNvPr id="451" name="" descr="{&quot;isTemplate&quot;:true,&quot;type&quot;:&quot;text&quot;}"/>
          <p:cNvSpPr txBox="1"/>
          <p:nvPr/>
        </p:nvSpPr>
        <p:spPr>
          <a:xfrm rot="0" flipH="0" flipV="0">
            <a:off x="6124575" y="4819650"/>
            <a:ext cx="5305425" cy="180975"/>
          </a:xfrm>
          <a:prstGeom prst="rect"/>
        </p:spPr>
        <p:txBody>
          <a:bodyPr wrap="none" lIns="0" tIns="0" rIns="0" bIns="0"/>
          <a:p>
            <a:pPr>
              <a:lnSpc>
                <a:spcPct val="140000"/>
              </a:lnSpc>
            </a:pPr>
            <a:r>
              <a:rPr lang="zh-CN" sz="825">
                <a:solidFill>
                  <a:srgbClr val="C43A17"/>
                </a:solidFill>
                <a:latin typeface="Microsoft YaHei"/>
                <a:ea typeface="Microsoft YaHei"/>
              </a:rPr>
              <a:t>判据：清单里每一项都要有「认领部门</a:t>
            </a:r>
            <a:r>
              <a:rPr lang="en-US" sz="825">
                <a:solidFill>
                  <a:srgbClr val="C43A17"/>
                </a:solidFill>
                <a:latin typeface="Microsoft YaHei"/>
                <a:ea typeface="Microsoft YaHei"/>
              </a:rPr>
              <a:t xml:space="preserve"> + </a:t>
            </a:r>
            <a:r>
              <a:rPr lang="zh-CN" sz="825">
                <a:solidFill>
                  <a:srgbClr val="C43A17"/>
                </a:solidFill>
                <a:latin typeface="Microsoft YaHei"/>
                <a:ea typeface="Microsoft YaHei"/>
              </a:rPr>
              <a:t>完成标准」，写不出这两样的不写进清单。</a:t>
            </a:r>
            <a:endParaRPr/>
          </a:p>
        </p:txBody>
      </p:sp>
      <p:sp>
        <p:nvSpPr>
          <p:cNvPr id="452" name=""/>
          <p:cNvSpPr/>
          <p:nvPr/>
        </p:nvSpPr>
        <p:spPr>
          <a:xfrm rot="0" flipH="0" flipV="0">
            <a:off x="647700" y="5200650"/>
            <a:ext cx="2695575" cy="457200"/>
          </a:xfrm>
          <a:prstGeom prst="roundRect">
            <a:avLst>
              <a:gd name="adj" fmla="val 8333"/>
            </a:avLst>
          </a:prstGeom>
          <a:solidFill>
            <a:srgbClr val="F7F7F8"/>
          </a:solidFill>
          <a:ln/>
        </p:spPr>
        <p:txBody>
          <a:bodyPr/>
          <a:p/>
        </p:txBody>
      </p:sp>
      <p:sp>
        <p:nvSpPr>
          <p:cNvPr id="453" name=""/>
          <p:cNvSpPr/>
          <p:nvPr/>
        </p:nvSpPr>
        <p:spPr>
          <a:xfrm rot="0" flipH="0" flipV="0">
            <a:off x="647700" y="5200650"/>
            <a:ext cx="2695575" cy="457200"/>
          </a:xfrm>
          <a:custGeom>
            <a:pathLst>
              <a:path w="283" h="48">
                <a:moveTo>
                  <a:pt x="4" y="48"/>
                </a:moveTo>
                <a:cubicBezTo>
                  <a:pt x="2" y="48"/>
                  <a:pt x="0" y="46"/>
                  <a:pt x="0" y="44"/>
                </a:cubicBezTo>
                <a:lnTo>
                  <a:pt x="0" y="4"/>
                </a:lnTo>
                <a:cubicBezTo>
                  <a:pt x="0" y="2"/>
                  <a:pt x="2" y="0"/>
                  <a:pt x="4" y="0"/>
                </a:cubicBezTo>
                <a:lnTo>
                  <a:pt x="4" y="48"/>
                </a:lnTo>
                <a:close/>
              </a:path>
            </a:pathLst>
          </a:custGeom>
          <a:solidFill>
            <a:srgbClr val="E0641E"/>
          </a:solidFill>
          <a:ln/>
        </p:spPr>
        <p:txBody>
          <a:bodyPr/>
          <a:p/>
        </p:txBody>
      </p:sp>
      <p:sp>
        <p:nvSpPr>
          <p:cNvPr id="454" name="" descr="{&quot;isTemplate&quot;:true,&quot;type&quot;:&quot;text&quot;}"/>
          <p:cNvSpPr txBox="1"/>
          <p:nvPr/>
        </p:nvSpPr>
        <p:spPr>
          <a:xfrm rot="0" flipH="0" flipV="0">
            <a:off x="762000" y="5276850"/>
            <a:ext cx="2428875" cy="142875"/>
          </a:xfrm>
          <a:prstGeom prst="rect"/>
        </p:spPr>
        <p:txBody>
          <a:bodyPr wrap="none" lIns="0" tIns="0" rIns="0" bIns="0"/>
          <a:p>
            <a:pPr>
              <a:lnSpc>
                <a:spcPct val="100000"/>
              </a:lnSpc>
            </a:pPr>
            <a:r>
              <a:rPr lang="zh-CN" sz="900" b="1">
                <a:solidFill>
                  <a:srgbClr val="0F1423"/>
                </a:solidFill>
                <a:latin typeface="Microsoft YaHei"/>
                <a:ea typeface="Microsoft YaHei"/>
              </a:rPr>
              <a:t>数据资产目录现状</a:t>
            </a:r>
            <a:endParaRPr/>
          </a:p>
        </p:txBody>
      </p:sp>
      <p:sp>
        <p:nvSpPr>
          <p:cNvPr id="455" name="" descr="{&quot;isTemplate&quot;:true,&quot;type&quot;:&quot;text&quot;}"/>
          <p:cNvSpPr txBox="1"/>
          <p:nvPr/>
        </p:nvSpPr>
        <p:spPr>
          <a:xfrm rot="0" flipH="0" flipV="0">
            <a:off x="762000" y="5438775"/>
            <a:ext cx="2428875" cy="152400"/>
          </a:xfrm>
          <a:prstGeom prst="rect"/>
        </p:spPr>
        <p:txBody>
          <a:bodyPr wrap="none" lIns="0" tIns="0" rIns="0" bIns="0"/>
          <a:p>
            <a:pPr>
              <a:lnSpc>
                <a:spcPct val="130000"/>
              </a:lnSpc>
            </a:pPr>
            <a:r>
              <a:rPr lang="zh-CN" sz="750">
                <a:solidFill>
                  <a:srgbClr val="5A6070"/>
                </a:solidFill>
                <a:latin typeface="Microsoft YaHei"/>
                <a:ea typeface="Microsoft YaHei"/>
              </a:rPr>
              <a:t>已有目录覆盖哪些主题域、缺哪些</a:t>
            </a:r>
            <a:endParaRPr/>
          </a:p>
        </p:txBody>
      </p:sp>
      <p:sp>
        <p:nvSpPr>
          <p:cNvPr id="456" name=""/>
          <p:cNvSpPr/>
          <p:nvPr/>
        </p:nvSpPr>
        <p:spPr>
          <a:xfrm rot="0" flipH="0" flipV="0">
            <a:off x="3409950" y="5200650"/>
            <a:ext cx="2695575" cy="457200"/>
          </a:xfrm>
          <a:prstGeom prst="roundRect">
            <a:avLst>
              <a:gd name="adj" fmla="val 8333"/>
            </a:avLst>
          </a:prstGeom>
          <a:solidFill>
            <a:srgbClr val="F7F7F8"/>
          </a:solidFill>
          <a:ln/>
        </p:spPr>
        <p:txBody>
          <a:bodyPr/>
          <a:p/>
        </p:txBody>
      </p:sp>
      <p:sp>
        <p:nvSpPr>
          <p:cNvPr id="457" name=""/>
          <p:cNvSpPr/>
          <p:nvPr/>
        </p:nvSpPr>
        <p:spPr>
          <a:xfrm rot="0" flipH="0" flipV="0">
            <a:off x="3409950" y="5200650"/>
            <a:ext cx="2695575" cy="457200"/>
          </a:xfrm>
          <a:custGeom>
            <a:pathLst>
              <a:path w="283" h="48">
                <a:moveTo>
                  <a:pt x="4" y="48"/>
                </a:moveTo>
                <a:cubicBezTo>
                  <a:pt x="2" y="48"/>
                  <a:pt x="0" y="46"/>
                  <a:pt x="0" y="44"/>
                </a:cubicBezTo>
                <a:lnTo>
                  <a:pt x="0" y="4"/>
                </a:lnTo>
                <a:cubicBezTo>
                  <a:pt x="0" y="2"/>
                  <a:pt x="2" y="0"/>
                  <a:pt x="4" y="0"/>
                </a:cubicBezTo>
                <a:lnTo>
                  <a:pt x="4" y="48"/>
                </a:lnTo>
                <a:close/>
              </a:path>
            </a:pathLst>
          </a:custGeom>
          <a:solidFill>
            <a:srgbClr val="E0641E"/>
          </a:solidFill>
          <a:ln/>
        </p:spPr>
        <p:txBody>
          <a:bodyPr/>
          <a:p/>
        </p:txBody>
      </p:sp>
      <p:sp>
        <p:nvSpPr>
          <p:cNvPr id="458" name="" descr="{&quot;isTemplate&quot;:true,&quot;type&quot;:&quot;text&quot;}"/>
          <p:cNvSpPr txBox="1"/>
          <p:nvPr/>
        </p:nvSpPr>
        <p:spPr>
          <a:xfrm rot="0" flipH="0" flipV="0">
            <a:off x="3524250" y="5276850"/>
            <a:ext cx="2428875" cy="142875"/>
          </a:xfrm>
          <a:prstGeom prst="rect"/>
        </p:spPr>
        <p:txBody>
          <a:bodyPr wrap="none" lIns="0" tIns="0" rIns="0" bIns="0"/>
          <a:p>
            <a:pPr>
              <a:lnSpc>
                <a:spcPct val="100000"/>
              </a:lnSpc>
            </a:pPr>
            <a:r>
              <a:rPr lang="zh-CN" sz="900" b="1">
                <a:solidFill>
                  <a:srgbClr val="0F1423"/>
                </a:solidFill>
                <a:latin typeface="Microsoft YaHei"/>
                <a:ea typeface="Microsoft YaHei"/>
              </a:rPr>
              <a:t>逻辑实体现状</a:t>
            </a:r>
            <a:endParaRPr/>
          </a:p>
        </p:txBody>
      </p:sp>
      <p:sp>
        <p:nvSpPr>
          <p:cNvPr id="459" name="" descr="{&quot;isTemplate&quot;:true,&quot;type&quot;:&quot;text&quot;}"/>
          <p:cNvSpPr txBox="1"/>
          <p:nvPr/>
        </p:nvSpPr>
        <p:spPr>
          <a:xfrm rot="0" flipH="0" flipV="0">
            <a:off x="3524250" y="5438775"/>
            <a:ext cx="2428875" cy="152400"/>
          </a:xfrm>
          <a:prstGeom prst="rect"/>
        </p:spPr>
        <p:txBody>
          <a:bodyPr wrap="none" lIns="0" tIns="0" rIns="0" bIns="0"/>
          <a:p>
            <a:pPr>
              <a:lnSpc>
                <a:spcPct val="130000"/>
              </a:lnSpc>
            </a:pPr>
            <a:r>
              <a:rPr lang="zh-CN" sz="750">
                <a:solidFill>
                  <a:srgbClr val="5A6070"/>
                </a:solidFill>
                <a:latin typeface="Microsoft YaHei"/>
                <a:ea typeface="Microsoft YaHei"/>
              </a:rPr>
              <a:t>已定义实体数、重复实体、无主实体</a:t>
            </a:r>
            <a:endParaRPr/>
          </a:p>
        </p:txBody>
      </p:sp>
      <p:sp>
        <p:nvSpPr>
          <p:cNvPr id="460" name=""/>
          <p:cNvSpPr/>
          <p:nvPr/>
        </p:nvSpPr>
        <p:spPr>
          <a:xfrm rot="0" flipH="0" flipV="0">
            <a:off x="6172200" y="5200650"/>
            <a:ext cx="2686050" cy="457200"/>
          </a:xfrm>
          <a:prstGeom prst="roundRect">
            <a:avLst>
              <a:gd name="adj" fmla="val 8333"/>
            </a:avLst>
          </a:prstGeom>
          <a:solidFill>
            <a:srgbClr val="F7F7F8"/>
          </a:solidFill>
          <a:ln/>
        </p:spPr>
        <p:txBody>
          <a:bodyPr/>
          <a:p/>
        </p:txBody>
      </p:sp>
      <p:sp>
        <p:nvSpPr>
          <p:cNvPr id="461" name=""/>
          <p:cNvSpPr/>
          <p:nvPr/>
        </p:nvSpPr>
        <p:spPr>
          <a:xfrm rot="0" flipH="0" flipV="0">
            <a:off x="6172200" y="5200650"/>
            <a:ext cx="2686050" cy="457200"/>
          </a:xfrm>
          <a:custGeom>
            <a:pathLst>
              <a:path w="282" h="48">
                <a:moveTo>
                  <a:pt x="4" y="48"/>
                </a:moveTo>
                <a:cubicBezTo>
                  <a:pt x="2" y="48"/>
                  <a:pt x="0" y="46"/>
                  <a:pt x="0" y="44"/>
                </a:cubicBezTo>
                <a:lnTo>
                  <a:pt x="0" y="4"/>
                </a:lnTo>
                <a:cubicBezTo>
                  <a:pt x="0" y="2"/>
                  <a:pt x="2" y="0"/>
                  <a:pt x="4" y="0"/>
                </a:cubicBezTo>
                <a:lnTo>
                  <a:pt x="4" y="48"/>
                </a:lnTo>
                <a:close/>
              </a:path>
            </a:pathLst>
          </a:custGeom>
          <a:solidFill>
            <a:srgbClr val="E0641E"/>
          </a:solidFill>
          <a:ln/>
        </p:spPr>
        <p:txBody>
          <a:bodyPr/>
          <a:p/>
        </p:txBody>
      </p:sp>
      <p:sp>
        <p:nvSpPr>
          <p:cNvPr id="462" name="" descr="{&quot;isTemplate&quot;:true,&quot;type&quot;:&quot;text&quot;}"/>
          <p:cNvSpPr txBox="1"/>
          <p:nvPr/>
        </p:nvSpPr>
        <p:spPr>
          <a:xfrm rot="0" flipH="0" flipV="0">
            <a:off x="6286500" y="5276850"/>
            <a:ext cx="2419350" cy="142875"/>
          </a:xfrm>
          <a:prstGeom prst="rect"/>
        </p:spPr>
        <p:txBody>
          <a:bodyPr wrap="none" lIns="0" tIns="0" rIns="0" bIns="0"/>
          <a:p>
            <a:pPr>
              <a:lnSpc>
                <a:spcPct val="100000"/>
              </a:lnSpc>
            </a:pPr>
            <a:r>
              <a:rPr lang="zh-CN" sz="900" b="1">
                <a:solidFill>
                  <a:srgbClr val="0F1423"/>
                </a:solidFill>
                <a:latin typeface="Microsoft YaHei"/>
                <a:ea typeface="Microsoft YaHei"/>
              </a:rPr>
              <a:t>数据标准现状</a:t>
            </a:r>
            <a:endParaRPr/>
          </a:p>
        </p:txBody>
      </p:sp>
      <p:sp>
        <p:nvSpPr>
          <p:cNvPr id="463" name="" descr="{&quot;isTemplate&quot;:true,&quot;type&quot;:&quot;text&quot;}"/>
          <p:cNvSpPr txBox="1"/>
          <p:nvPr/>
        </p:nvSpPr>
        <p:spPr>
          <a:xfrm rot="0" flipH="0" flipV="0">
            <a:off x="6286500" y="5438775"/>
            <a:ext cx="2419350" cy="152400"/>
          </a:xfrm>
          <a:prstGeom prst="rect"/>
        </p:spPr>
        <p:txBody>
          <a:bodyPr wrap="none" lIns="0" tIns="0" rIns="0" bIns="0"/>
          <a:p>
            <a:pPr>
              <a:lnSpc>
                <a:spcPct val="130000"/>
              </a:lnSpc>
            </a:pPr>
            <a:r>
              <a:rPr lang="zh-CN" sz="750">
                <a:solidFill>
                  <a:srgbClr val="5A6070"/>
                </a:solidFill>
                <a:latin typeface="Microsoft YaHei"/>
                <a:ea typeface="Microsoft YaHei"/>
              </a:rPr>
              <a:t>已有标准数、覆盖率、冲突数</a:t>
            </a:r>
            <a:endParaRPr/>
          </a:p>
        </p:txBody>
      </p:sp>
      <p:sp>
        <p:nvSpPr>
          <p:cNvPr id="464" name=""/>
          <p:cNvSpPr/>
          <p:nvPr/>
        </p:nvSpPr>
        <p:spPr>
          <a:xfrm rot="0" flipH="0" flipV="0">
            <a:off x="8924925" y="5200650"/>
            <a:ext cx="2695575" cy="457200"/>
          </a:xfrm>
          <a:prstGeom prst="roundRect">
            <a:avLst>
              <a:gd name="adj" fmla="val 8333"/>
            </a:avLst>
          </a:prstGeom>
          <a:solidFill>
            <a:srgbClr val="F7F7F8"/>
          </a:solidFill>
          <a:ln/>
        </p:spPr>
        <p:txBody>
          <a:bodyPr/>
          <a:p/>
        </p:txBody>
      </p:sp>
      <p:sp>
        <p:nvSpPr>
          <p:cNvPr id="465" name=""/>
          <p:cNvSpPr/>
          <p:nvPr/>
        </p:nvSpPr>
        <p:spPr>
          <a:xfrm rot="0" flipH="0" flipV="0">
            <a:off x="8924925" y="5200650"/>
            <a:ext cx="2695575" cy="457200"/>
          </a:xfrm>
          <a:custGeom>
            <a:pathLst>
              <a:path w="283" h="48">
                <a:moveTo>
                  <a:pt x="4" y="48"/>
                </a:moveTo>
                <a:cubicBezTo>
                  <a:pt x="2" y="48"/>
                  <a:pt x="0" y="46"/>
                  <a:pt x="0" y="44"/>
                </a:cubicBezTo>
                <a:lnTo>
                  <a:pt x="0" y="4"/>
                </a:lnTo>
                <a:cubicBezTo>
                  <a:pt x="0" y="2"/>
                  <a:pt x="2" y="0"/>
                  <a:pt x="4" y="0"/>
                </a:cubicBezTo>
                <a:lnTo>
                  <a:pt x="4" y="48"/>
                </a:lnTo>
                <a:close/>
              </a:path>
            </a:pathLst>
          </a:custGeom>
          <a:solidFill>
            <a:srgbClr val="E0641E"/>
          </a:solidFill>
          <a:ln/>
        </p:spPr>
        <p:txBody>
          <a:bodyPr/>
          <a:p/>
        </p:txBody>
      </p:sp>
      <p:sp>
        <p:nvSpPr>
          <p:cNvPr id="466" name="" descr="{&quot;isTemplate&quot;:true,&quot;type&quot;:&quot;text&quot;}"/>
          <p:cNvSpPr txBox="1"/>
          <p:nvPr/>
        </p:nvSpPr>
        <p:spPr>
          <a:xfrm rot="0" flipH="0" flipV="0">
            <a:off x="9039225" y="5276850"/>
            <a:ext cx="2428875" cy="142875"/>
          </a:xfrm>
          <a:prstGeom prst="rect"/>
        </p:spPr>
        <p:txBody>
          <a:bodyPr wrap="none" lIns="0" tIns="0" rIns="0" bIns="0"/>
          <a:p>
            <a:pPr>
              <a:lnSpc>
                <a:spcPct val="100000"/>
              </a:lnSpc>
            </a:pPr>
            <a:r>
              <a:rPr lang="zh-CN" sz="900" b="1">
                <a:solidFill>
                  <a:srgbClr val="0F1423"/>
                </a:solidFill>
                <a:latin typeface="Microsoft YaHei"/>
                <a:ea typeface="Microsoft YaHei"/>
              </a:rPr>
              <a:t>数据分布现状</a:t>
            </a:r>
            <a:endParaRPr/>
          </a:p>
        </p:txBody>
      </p:sp>
      <p:sp>
        <p:nvSpPr>
          <p:cNvPr id="467" name="" descr="{&quot;isTemplate&quot;:true,&quot;type&quot;:&quot;text&quot;}"/>
          <p:cNvSpPr txBox="1"/>
          <p:nvPr/>
        </p:nvSpPr>
        <p:spPr>
          <a:xfrm rot="0" flipH="0" flipV="0">
            <a:off x="9039225" y="5438775"/>
            <a:ext cx="2428875" cy="152400"/>
          </a:xfrm>
          <a:prstGeom prst="rect"/>
        </p:spPr>
        <p:txBody>
          <a:bodyPr wrap="none" lIns="0" tIns="0" rIns="0" bIns="0"/>
          <a:p>
            <a:pPr>
              <a:lnSpc>
                <a:spcPct val="130000"/>
              </a:lnSpc>
            </a:pPr>
            <a:r>
              <a:rPr lang="zh-CN" sz="750">
                <a:solidFill>
                  <a:srgbClr val="5A6070"/>
                </a:solidFill>
                <a:latin typeface="Microsoft YaHei"/>
                <a:ea typeface="Microsoft YaHei"/>
              </a:rPr>
              <a:t>同一实体跨几套库、有几份副本</a:t>
            </a:r>
            <a:endParaRPr/>
          </a:p>
        </p:txBody>
      </p:sp>
      <p:sp>
        <p:nvSpPr>
          <p:cNvPr id="468" name=""/>
          <p:cNvSpPr/>
          <p:nvPr/>
        </p:nvSpPr>
        <p:spPr>
          <a:xfrm rot="0" flipH="0" flipV="0">
            <a:off x="609600" y="5943600"/>
            <a:ext cx="133350" cy="133350"/>
          </a:xfrm>
          <a:prstGeom prst="rect">
            <a:avLst/>
          </a:prstGeom>
          <a:solidFill>
            <a:srgbClr val="FA4F24"/>
          </a:solidFill>
          <a:ln/>
        </p:spPr>
        <p:txBody>
          <a:bodyPr/>
          <a:p/>
        </p:txBody>
      </p:sp>
      <p:sp>
        <p:nvSpPr>
          <p:cNvPr id="469"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47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16 / 36</a:t>
            </a:r>
            <a:endParaRPr/>
          </a:p>
        </p:txBody>
      </p:sp>
    </p:spTree>
  </p:cSld>
</p:sld>
</file>

<file path=ppt/slides/slide17.xml><?xml version="1.0" encoding="utf-8"?>
<p:sld xmlns:p="http://schemas.openxmlformats.org/presentationml/2006/main" xmlns:a="http://schemas.openxmlformats.org/drawingml/2006/main">
  <p:cSld>
    <p:spTree>
      <p:nvGrpSpPr>
        <p:cNvPr id="471" name="" descr="&lt;Slide style={{ width: 1280, height: 720, background: '#FFFFFF', padding: '24px 64px 0' }}&gt;&#10;    {/* A 区 */}&#10;    &lt;Box style={{ height: 96, flexDirection: 'column', justifyContent: 'flex-start' }}&gt;&#10;        &lt;Text style={{ fontSize: 32, fontWeight: 'bold', color: '#0F1423' }}&gt;&#10;            应用现状分析框架 &lt;span style={{ color: '#FA4F24' }}&gt;含应用集成&lt;/span&gt;&#10;        &lt;/Text&gt;&#10;        &lt;Text style={{ fontSize: 19, color: '#8A8F99', marginTop: 7 }}&gt;&#10;            集成不是接口数量问题，是「谁在什么场景下、用什么方式、传的是什么口径」的问题&#10;        &lt;/Text&gt;&#10;    &lt;/Box&gt;&#10;    &lt;Box style={{ height: 1, background: '#E8E8E8' }} /&gt;&#10;&#10;    {/* B 区 */}&#10;    &lt;Box style={{ paddingTop: 10, paddingBottom: 6, height: 479, flexDirection: 'column', gap: 8 }}&gt;&#10;        {/* 上：应用资产盘点四要素 */}&#10;        &lt;Box style={{ height: 24, flexDirection: 'row', alignItems: 'center', gap: 8 }}&gt;&#10;            &lt;Box style={{ width: 4, height: 16, background: '#FA4F24' }} /&gt;&#10;            &lt;Text style={{ fontSize: 13.5, fontWeight: 'bold', color: '#0F1423' }}&gt;第一步：应用资产盘点（每个系统四要素齐了才算盘清）&lt;/Text&gt;&#10;        &lt;/Box&gt;&#10;        &lt;Box style={{ height: 84, flexDirection: 'row', gap: 7 }}&gt;&#10;            {[&#10;                { k: '系统清单', v: '名称、厂商、上线年份、当前版本、部署位置（本地/云）、承载业务块', c: '#FA4F24' },&#10;                { k: '功能清单', v: '主要功能模块（到二级即可）、实际使用率、闲置功能占比', c: '#E0641E' },&#10;                { k: '用户清单', v: '实名用户数、按部门分布、活跃度、外部用户范围', c: '#C43A17' },&#10;                { k: '数据对象清单', v: '该系统是哪些业务逻辑实体的权威来源？一份还是多份？', c: '#9E3410' },&#10;            ].map((x) =&gt; (&#10;                &lt;Box key={x.k} style={{ flex: 1, background: '#F7F7F8', borderRadius: 4, borderLeft: '4px solid ' + x.c, padding: '0 12px', flexDirection: 'column', justifyContent: 'center' }}&gt;&#10;                    &lt;Text style={{ fontSize: 12.5, fontWeight: 'bold', color: x.c }}&gt;{x.k}&lt;/Text&gt;&#10;                    &lt;Text style={{ fontSize: 10.5, color: '#5A6070', lineHeight: 1.35, marginTop: 4 }}&gt;{x.v}&lt;/Text&gt;&#10;                &lt;/Box&gt;&#10;            ))}&#10;        &lt;/Box&gt;&#10;&#10;        {/* 中：集成现状矩阵 */}&#10;        &lt;Box style={{ flex: 1, flexDirection: 'column', gap: 6 }}&gt;&#10;            &lt;Box style={{ height: 24, flexDirection: 'row', alignItems: 'center', gap: 8 }}&gt;&#10;                &lt;Box style={{ width: 4, height: 16, background: '#C43A17' }} /&gt;&#10;                &lt;Text style={{ fontSize: 13.5, fontWeight: 'bold', color: '#0F1423' }}&gt;第二步：集成现状逐对盘点（集成方式 / 协议 / 数据流 / 服务调用 / 频率）&lt;/Text&gt;&#10;            &lt;/Box&gt;&#10;            &lt;Box style={{ flex: 1, flexDirection: 'row', gap: 5 }}&gt;&#10;                {[&#10;                    { a: 'EAM / 资产', b: '财务核算', m: '定时文件交换', p: 'SFTP + Excel', d: '资产台账与价值口径', r: '差异月月有，靠人工对账' },&#10;                    { a: '项目管理系统', b: '财务系统', m: '接口同步', p: 'API / 数据库直连', d: '投资额与进度款', r: '两套口径，投资额版本不一' },&#10;                    { a: '运维工单', b: 'EAM 资产', m: '弱集成（人工挂接）', p: '人工录入', d: '缺陷↔设备主键', r: '全项目最脆的一环' },&#10;                    { a: 'PLM / EBOM', b: '制造 MES', m: '文件 + 人工确认', p: '文件传输', d: 'EBOM→MBOM 转换结果', r: '规则只在个人经验里' },&#10;                    { a: '采购系统', b: '供应商门户', m: '接口 + 门户', p: 'API + 邮件/门户', d: '订单与催交状态', r: '状态回传不及时' },&#10;                    { a: '交易系统', b: '计量系统', m: '实时调用', p: '消息队列', d: '上网电量与结算价', r: '口径不一致需人工修正' },&#10;                ].map((x) =&gt; (&#10;                    &lt;Box key={x.a + x.b} style={{ flex: 1, background: '#F7F7F8', borderRadius: 4, padding: '9px 9px', flexDirection: 'column' }}&gt;&#10;                        &lt;Text style={{ fontSize: 10.5, color: '#0F1423', fontWeight: 'bold', lineHeight: 1.3 }}&gt;{x.a} → {x.b}&lt;/Text&gt;&#10;                        &lt;Text style={{ fontSize: 10, color: '#C43A17', marginTop: 4, lineHeight: 1.3 }}&gt;{x.m}&lt;/Text&gt;&#10;                        &lt;Text style={{ fontSize: 9.5, color: '#8A8F99', marginTop: 2, lineHeight: 1.3 }}&gt;{x.p}&lt;/Text&gt;&#10;                        &lt;Text style={{ fontSize: 9.5, color: '#3A4050', marginTop: 3, lineHeight: 1.3, flex: 1 }}&gt;{x.d}&lt;/Text&gt;&#10;                        &lt;Text style={{ fontSize: 9.5, color: '#FA4F24', lineHeight: 1.3, marginTop: 3 }}&gt;{x.r}&lt;/Text&gt;&#10;                    &lt;/Box&gt;&#10;                ))}&#10;            &lt;/Box&gt;&#10;        &lt;/Box&gt;&#10;&#10;        {/* 下：三条诊断判据 */}&#10;        &lt;Box style={{ height: 46, flexDirection: 'row', gap: 7 }}&gt;&#10;            {[&#10;                { k: '口径先于接口', v: '集成问题九成是口径问题，先对口径再谈接口，否则集成一次错一次', c: '#FA4F24', dark: true },&#10;                { k: '一个实体一个权威源', v: '同一逻辑实体有两份权威，系统越多越乱，诊断报告里要逐个点名', c: '#E0641E', dark: false },&#10;                { k: '弱集成必须记账', v: '人工挂接、人工对账的地方逐条列出，这是后续蓝图里必须消掉的债', c: '#C43A17', dark: false },&#10;            ].map((x) =&gt; (&#10;                &lt;Box key={x.k} style={{ flex: 1, background: x.dark ? '#0F1423' : '#F7F7F8', borderLeft: '4px solid ' + x.c, borderRadius: 3, padding: '0 13px', flexDirection: 'column', justifyContent: 'center' }}&gt;&#10;                    &lt;Text style={{ fontSize: 12, fontWeight: 'bold', color: x.dark ? '#FBA15C' : '#0F1423' }}&gt;{x.k}&lt;/Text&gt;&#10;                    &lt;Text style={{ fontSize: 10, color: x.dark ? 'rgba(255,255,255,0.86)' : '#5A6070', lineHeight: 1.3, marginTop: 2 }}&gt;{x.v}&lt;/Text&gt;&#10;                &lt;/Box&gt;&#10;            ))}&#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17 / 36&lt;/Text&gt;&#10;    &lt;/Box&gt;&#10;&lt;/Slide&gt;&#10;"/>
        <p:cNvGrpSpPr/>
        <p:nvPr/>
      </p:nvGrpSpPr>
      <p:grpSpPr>
        <a:xfrm>
          <a:off x="0" y="0"/>
          <a:ext cx="0" cy="0"/>
          <a:chOff x="0" y="0"/>
          <a:chExt cx="0" cy="0"/>
        </a:xfrm>
      </p:grpSpPr>
      <p:sp>
        <p:nvSpPr>
          <p:cNvPr id="472" name=""/>
          <p:cNvSpPr/>
          <p:nvPr/>
        </p:nvSpPr>
        <p:spPr>
          <a:xfrm rot="0" flipH="0" flipV="0">
            <a:off x="0" y="0"/>
            <a:ext cx="12192000" cy="6858000"/>
          </a:xfrm>
          <a:prstGeom prst="rect">
            <a:avLst/>
          </a:prstGeom>
          <a:solidFill>
            <a:srgbClr val="FFFFFF"/>
          </a:solidFill>
          <a:ln/>
        </p:spPr>
        <p:txBody>
          <a:bodyPr/>
          <a:p/>
        </p:txBody>
      </p:sp>
      <p:sp>
        <p:nvSpPr>
          <p:cNvPr id="473"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应用现状分析框架</a:t>
            </a:r>
            <a:r>
              <a:rPr lang="en-US" sz="2400" b="1">
                <a:solidFill>
                  <a:srgbClr val="0F1423"/>
                </a:solidFill>
                <a:latin typeface="Microsoft YaHei"/>
                <a:ea typeface="Microsoft YaHei"/>
              </a:rPr>
              <a:t xml:space="preserve"> </a:t>
            </a:r>
            <a:r>
              <a:rPr lang="zh-CN" sz="2400" b="1">
                <a:solidFill>
                  <a:srgbClr val="FA4F24"/>
                </a:solidFill>
                <a:latin typeface="Microsoft YaHei"/>
                <a:ea typeface="Microsoft YaHei"/>
              </a:rPr>
              <a:t>含应用集成</a:t>
            </a:r>
            <a:endParaRPr/>
          </a:p>
        </p:txBody>
      </p:sp>
      <p:sp>
        <p:nvSpPr>
          <p:cNvPr id="474"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集成不是接口数量问题，是「谁在什么场景下、用什么方式、传的是什么口径」的问题</a:t>
            </a:r>
            <a:endParaRPr/>
          </a:p>
        </p:txBody>
      </p:sp>
      <p:sp>
        <p:nvSpPr>
          <p:cNvPr id="475" name=""/>
          <p:cNvSpPr/>
          <p:nvPr/>
        </p:nvSpPr>
        <p:spPr>
          <a:xfrm rot="0" flipH="0" flipV="0">
            <a:off x="609600" y="1143000"/>
            <a:ext cx="10972800" cy="9525"/>
          </a:xfrm>
          <a:prstGeom prst="rect">
            <a:avLst/>
          </a:prstGeom>
          <a:solidFill>
            <a:srgbClr val="E8E8E8"/>
          </a:solidFill>
          <a:ln/>
        </p:spPr>
        <p:txBody>
          <a:bodyPr/>
          <a:p/>
        </p:txBody>
      </p:sp>
      <p:sp>
        <p:nvSpPr>
          <p:cNvPr id="476" name=""/>
          <p:cNvSpPr/>
          <p:nvPr/>
        </p:nvSpPr>
        <p:spPr>
          <a:xfrm rot="0" flipH="0" flipV="0">
            <a:off x="609600" y="1285875"/>
            <a:ext cx="38100" cy="152400"/>
          </a:xfrm>
          <a:prstGeom prst="rect">
            <a:avLst/>
          </a:prstGeom>
          <a:solidFill>
            <a:srgbClr val="FA4F24"/>
          </a:solidFill>
          <a:ln/>
        </p:spPr>
        <p:txBody>
          <a:bodyPr/>
          <a:p/>
        </p:txBody>
      </p:sp>
      <p:sp>
        <p:nvSpPr>
          <p:cNvPr id="477" name="" descr="{&quot;isTemplate&quot;:true,&quot;type&quot;:&quot;text&quot;}"/>
          <p:cNvSpPr txBox="1"/>
          <p:nvPr/>
        </p:nvSpPr>
        <p:spPr>
          <a:xfrm rot="0" flipH="0" flipV="0">
            <a:off x="723900" y="1285875"/>
            <a:ext cx="3219450" cy="161925"/>
          </a:xfrm>
          <a:prstGeom prst="rect"/>
        </p:spPr>
        <p:txBody>
          <a:bodyPr wrap="none" lIns="0" tIns="0" rIns="0" bIns="0"/>
          <a:p>
            <a:pPr>
              <a:lnSpc>
                <a:spcPct val="100000"/>
              </a:lnSpc>
            </a:pPr>
            <a:r>
              <a:rPr lang="zh-CN" sz="1013" b="1">
                <a:solidFill>
                  <a:srgbClr val="0F1423"/>
                </a:solidFill>
                <a:latin typeface="Microsoft YaHei"/>
                <a:ea typeface="Microsoft YaHei"/>
              </a:rPr>
              <a:t>第一步：应用资产盘点（每个系统四要素齐了才算盘清）</a:t>
            </a:r>
            <a:endParaRPr/>
          </a:p>
        </p:txBody>
      </p:sp>
      <p:sp>
        <p:nvSpPr>
          <p:cNvPr id="478" name=""/>
          <p:cNvSpPr/>
          <p:nvPr/>
        </p:nvSpPr>
        <p:spPr>
          <a:xfrm rot="0" flipH="0" flipV="0">
            <a:off x="647700" y="1552575"/>
            <a:ext cx="2695575" cy="800100"/>
          </a:xfrm>
          <a:prstGeom prst="roundRect">
            <a:avLst>
              <a:gd name="adj" fmla="val 4762"/>
            </a:avLst>
          </a:prstGeom>
          <a:solidFill>
            <a:srgbClr val="F7F7F8"/>
          </a:solidFill>
          <a:ln/>
        </p:spPr>
        <p:txBody>
          <a:bodyPr/>
          <a:p/>
        </p:txBody>
      </p:sp>
      <p:sp>
        <p:nvSpPr>
          <p:cNvPr id="479" name=""/>
          <p:cNvSpPr/>
          <p:nvPr/>
        </p:nvSpPr>
        <p:spPr>
          <a:xfrm rot="0" flipH="0" flipV="0">
            <a:off x="647700" y="1552575"/>
            <a:ext cx="2695575" cy="800100"/>
          </a:xfrm>
          <a:custGeom>
            <a:pathLst>
              <a:path w="283" h="84">
                <a:moveTo>
                  <a:pt x="4" y="84"/>
                </a:moveTo>
                <a:cubicBezTo>
                  <a:pt x="2" y="84"/>
                  <a:pt x="0" y="82"/>
                  <a:pt x="0" y="80"/>
                </a:cubicBezTo>
                <a:lnTo>
                  <a:pt x="0" y="4"/>
                </a:lnTo>
                <a:cubicBezTo>
                  <a:pt x="0" y="2"/>
                  <a:pt x="2" y="0"/>
                  <a:pt x="4" y="0"/>
                </a:cubicBezTo>
                <a:lnTo>
                  <a:pt x="4" y="84"/>
                </a:lnTo>
                <a:close/>
              </a:path>
            </a:pathLst>
          </a:custGeom>
          <a:solidFill>
            <a:srgbClr val="FA4F24"/>
          </a:solidFill>
          <a:ln/>
        </p:spPr>
        <p:txBody>
          <a:bodyPr/>
          <a:p/>
        </p:txBody>
      </p:sp>
      <p:sp>
        <p:nvSpPr>
          <p:cNvPr id="480" name="" descr="{&quot;isTemplate&quot;:true,&quot;type&quot;:&quot;text&quot;}"/>
          <p:cNvSpPr txBox="1"/>
          <p:nvPr/>
        </p:nvSpPr>
        <p:spPr>
          <a:xfrm rot="0" flipH="0" flipV="0">
            <a:off x="762000" y="1695450"/>
            <a:ext cx="2428875" cy="142875"/>
          </a:xfrm>
          <a:prstGeom prst="rect"/>
        </p:spPr>
        <p:txBody>
          <a:bodyPr wrap="none" lIns="0" tIns="0" rIns="0" bIns="0"/>
          <a:p>
            <a:pPr>
              <a:lnSpc>
                <a:spcPct val="100000"/>
              </a:lnSpc>
            </a:pPr>
            <a:r>
              <a:rPr lang="zh-CN" sz="938" b="1">
                <a:solidFill>
                  <a:srgbClr val="FA4F24"/>
                </a:solidFill>
                <a:latin typeface="Microsoft YaHei"/>
                <a:ea typeface="Microsoft YaHei"/>
              </a:rPr>
              <a:t>系统清单</a:t>
            </a:r>
            <a:endParaRPr/>
          </a:p>
        </p:txBody>
      </p:sp>
      <p:sp>
        <p:nvSpPr>
          <p:cNvPr id="481" name="" descr="{&quot;isTemplate&quot;:true,&quot;type&quot;:&quot;text&quot;}"/>
          <p:cNvSpPr txBox="1"/>
          <p:nvPr/>
        </p:nvSpPr>
        <p:spPr>
          <a:xfrm rot="0" flipH="0" flipV="0">
            <a:off x="762000" y="1876425"/>
            <a:ext cx="2428875" cy="33337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名称、厂商、上线年份、当前版本、部署位置（本地</a:t>
            </a:r>
            <a:r>
              <a:rPr lang="en-US" sz="788">
                <a:solidFill>
                  <a:srgbClr val="5A6070"/>
                </a:solidFill>
                <a:latin typeface="Microsoft YaHei"/>
                <a:ea typeface="Microsoft YaHei"/>
              </a:rPr>
              <a:t>/</a:t>
            </a:r>
            <a:r>
              <a:rPr lang="zh-CN" sz="788">
                <a:solidFill>
                  <a:srgbClr val="5A6070"/>
                </a:solidFill>
                <a:latin typeface="Microsoft YaHei"/>
                <a:ea typeface="Microsoft YaHei"/>
              </a:rPr>
              <a:t>云）、承载业务块</a:t>
            </a:r>
            <a:endParaRPr/>
          </a:p>
        </p:txBody>
      </p:sp>
      <p:sp>
        <p:nvSpPr>
          <p:cNvPr id="482" name=""/>
          <p:cNvSpPr/>
          <p:nvPr/>
        </p:nvSpPr>
        <p:spPr>
          <a:xfrm rot="0" flipH="0" flipV="0">
            <a:off x="3409950" y="1552575"/>
            <a:ext cx="2695575" cy="800100"/>
          </a:xfrm>
          <a:prstGeom prst="roundRect">
            <a:avLst>
              <a:gd name="adj" fmla="val 4762"/>
            </a:avLst>
          </a:prstGeom>
          <a:solidFill>
            <a:srgbClr val="F7F7F8"/>
          </a:solidFill>
          <a:ln/>
        </p:spPr>
        <p:txBody>
          <a:bodyPr/>
          <a:p/>
        </p:txBody>
      </p:sp>
      <p:sp>
        <p:nvSpPr>
          <p:cNvPr id="483" name=""/>
          <p:cNvSpPr/>
          <p:nvPr/>
        </p:nvSpPr>
        <p:spPr>
          <a:xfrm rot="0" flipH="0" flipV="0">
            <a:off x="3409950" y="1552575"/>
            <a:ext cx="2695575" cy="800100"/>
          </a:xfrm>
          <a:custGeom>
            <a:pathLst>
              <a:path w="283" h="84">
                <a:moveTo>
                  <a:pt x="4" y="84"/>
                </a:moveTo>
                <a:cubicBezTo>
                  <a:pt x="2" y="84"/>
                  <a:pt x="0" y="82"/>
                  <a:pt x="0" y="80"/>
                </a:cubicBezTo>
                <a:lnTo>
                  <a:pt x="0" y="4"/>
                </a:lnTo>
                <a:cubicBezTo>
                  <a:pt x="0" y="2"/>
                  <a:pt x="2" y="0"/>
                  <a:pt x="4" y="0"/>
                </a:cubicBezTo>
                <a:lnTo>
                  <a:pt x="4" y="84"/>
                </a:lnTo>
                <a:close/>
              </a:path>
            </a:pathLst>
          </a:custGeom>
          <a:solidFill>
            <a:srgbClr val="E0641E"/>
          </a:solidFill>
          <a:ln/>
        </p:spPr>
        <p:txBody>
          <a:bodyPr/>
          <a:p/>
        </p:txBody>
      </p:sp>
      <p:sp>
        <p:nvSpPr>
          <p:cNvPr id="484" name="" descr="{&quot;isTemplate&quot;:true,&quot;type&quot;:&quot;text&quot;}"/>
          <p:cNvSpPr txBox="1"/>
          <p:nvPr/>
        </p:nvSpPr>
        <p:spPr>
          <a:xfrm rot="0" flipH="0" flipV="0">
            <a:off x="3524250" y="1695450"/>
            <a:ext cx="2428875" cy="142875"/>
          </a:xfrm>
          <a:prstGeom prst="rect"/>
        </p:spPr>
        <p:txBody>
          <a:bodyPr wrap="none" lIns="0" tIns="0" rIns="0" bIns="0"/>
          <a:p>
            <a:pPr>
              <a:lnSpc>
                <a:spcPct val="100000"/>
              </a:lnSpc>
            </a:pPr>
            <a:r>
              <a:rPr lang="zh-CN" sz="938" b="1">
                <a:solidFill>
                  <a:srgbClr val="E0641E"/>
                </a:solidFill>
                <a:latin typeface="Microsoft YaHei"/>
                <a:ea typeface="Microsoft YaHei"/>
              </a:rPr>
              <a:t>功能清单</a:t>
            </a:r>
            <a:endParaRPr/>
          </a:p>
        </p:txBody>
      </p:sp>
      <p:sp>
        <p:nvSpPr>
          <p:cNvPr id="485" name="" descr="{&quot;isTemplate&quot;:true,&quot;type&quot;:&quot;text&quot;}"/>
          <p:cNvSpPr txBox="1"/>
          <p:nvPr/>
        </p:nvSpPr>
        <p:spPr>
          <a:xfrm rot="0" flipH="0" flipV="0">
            <a:off x="3524250" y="1876425"/>
            <a:ext cx="2428875" cy="33337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主要功能模块（到二级即可）、实际使用率、闲置功能占比</a:t>
            </a:r>
            <a:endParaRPr/>
          </a:p>
        </p:txBody>
      </p:sp>
      <p:sp>
        <p:nvSpPr>
          <p:cNvPr id="486" name=""/>
          <p:cNvSpPr/>
          <p:nvPr/>
        </p:nvSpPr>
        <p:spPr>
          <a:xfrm rot="0" flipH="0" flipV="0">
            <a:off x="6172200" y="1552575"/>
            <a:ext cx="2686050" cy="800100"/>
          </a:xfrm>
          <a:prstGeom prst="roundRect">
            <a:avLst>
              <a:gd name="adj" fmla="val 4762"/>
            </a:avLst>
          </a:prstGeom>
          <a:solidFill>
            <a:srgbClr val="F7F7F8"/>
          </a:solidFill>
          <a:ln/>
        </p:spPr>
        <p:txBody>
          <a:bodyPr/>
          <a:p/>
        </p:txBody>
      </p:sp>
      <p:sp>
        <p:nvSpPr>
          <p:cNvPr id="487" name=""/>
          <p:cNvSpPr/>
          <p:nvPr/>
        </p:nvSpPr>
        <p:spPr>
          <a:xfrm rot="0" flipH="0" flipV="0">
            <a:off x="6172200" y="1552575"/>
            <a:ext cx="2686050" cy="800100"/>
          </a:xfrm>
          <a:custGeom>
            <a:pathLst>
              <a:path w="282" h="84">
                <a:moveTo>
                  <a:pt x="4" y="84"/>
                </a:moveTo>
                <a:cubicBezTo>
                  <a:pt x="2" y="84"/>
                  <a:pt x="0" y="82"/>
                  <a:pt x="0" y="80"/>
                </a:cubicBezTo>
                <a:lnTo>
                  <a:pt x="0" y="4"/>
                </a:lnTo>
                <a:cubicBezTo>
                  <a:pt x="0" y="2"/>
                  <a:pt x="2" y="0"/>
                  <a:pt x="4" y="0"/>
                </a:cubicBezTo>
                <a:lnTo>
                  <a:pt x="4" y="84"/>
                </a:lnTo>
                <a:close/>
              </a:path>
            </a:pathLst>
          </a:custGeom>
          <a:solidFill>
            <a:srgbClr val="C43A17"/>
          </a:solidFill>
          <a:ln/>
        </p:spPr>
        <p:txBody>
          <a:bodyPr/>
          <a:p/>
        </p:txBody>
      </p:sp>
      <p:sp>
        <p:nvSpPr>
          <p:cNvPr id="488" name="" descr="{&quot;isTemplate&quot;:true,&quot;type&quot;:&quot;text&quot;}"/>
          <p:cNvSpPr txBox="1"/>
          <p:nvPr/>
        </p:nvSpPr>
        <p:spPr>
          <a:xfrm rot="0" flipH="0" flipV="0">
            <a:off x="6286500" y="1781175"/>
            <a:ext cx="2419350" cy="142875"/>
          </a:xfrm>
          <a:prstGeom prst="rect"/>
        </p:spPr>
        <p:txBody>
          <a:bodyPr wrap="none" lIns="0" tIns="0" rIns="0" bIns="0"/>
          <a:p>
            <a:pPr>
              <a:lnSpc>
                <a:spcPct val="100000"/>
              </a:lnSpc>
            </a:pPr>
            <a:r>
              <a:rPr lang="zh-CN" sz="938" b="1">
                <a:solidFill>
                  <a:srgbClr val="C43A17"/>
                </a:solidFill>
                <a:latin typeface="Microsoft YaHei"/>
                <a:ea typeface="Microsoft YaHei"/>
              </a:rPr>
              <a:t>用户清单</a:t>
            </a:r>
            <a:endParaRPr/>
          </a:p>
        </p:txBody>
      </p:sp>
      <p:sp>
        <p:nvSpPr>
          <p:cNvPr id="489" name="" descr="{&quot;isTemplate&quot;:true,&quot;type&quot;:&quot;text&quot;}"/>
          <p:cNvSpPr txBox="1"/>
          <p:nvPr/>
        </p:nvSpPr>
        <p:spPr>
          <a:xfrm rot="0" flipH="0" flipV="0">
            <a:off x="6286500" y="1962150"/>
            <a:ext cx="2419350" cy="171450"/>
          </a:xfrm>
          <a:prstGeom prst="rect"/>
        </p:spPr>
        <p:txBody>
          <a:bodyPr wrap="none" lIns="0" tIns="0" rIns="0" bIns="0"/>
          <a:p>
            <a:pPr>
              <a:lnSpc>
                <a:spcPct val="135000"/>
              </a:lnSpc>
            </a:pPr>
            <a:r>
              <a:rPr lang="zh-CN" sz="788">
                <a:solidFill>
                  <a:srgbClr val="5A6070"/>
                </a:solidFill>
                <a:latin typeface="Microsoft YaHei"/>
                <a:ea typeface="Microsoft YaHei"/>
              </a:rPr>
              <a:t>实名用户数、按部门分布、活跃度、外部用户范围</a:t>
            </a:r>
            <a:endParaRPr/>
          </a:p>
        </p:txBody>
      </p:sp>
      <p:sp>
        <p:nvSpPr>
          <p:cNvPr id="490" name=""/>
          <p:cNvSpPr/>
          <p:nvPr/>
        </p:nvSpPr>
        <p:spPr>
          <a:xfrm rot="0" flipH="0" flipV="0">
            <a:off x="8924925" y="1552575"/>
            <a:ext cx="2695575" cy="800100"/>
          </a:xfrm>
          <a:prstGeom prst="roundRect">
            <a:avLst>
              <a:gd name="adj" fmla="val 4762"/>
            </a:avLst>
          </a:prstGeom>
          <a:solidFill>
            <a:srgbClr val="F7F7F8"/>
          </a:solidFill>
          <a:ln/>
        </p:spPr>
        <p:txBody>
          <a:bodyPr/>
          <a:p/>
        </p:txBody>
      </p:sp>
      <p:sp>
        <p:nvSpPr>
          <p:cNvPr id="491" name=""/>
          <p:cNvSpPr/>
          <p:nvPr/>
        </p:nvSpPr>
        <p:spPr>
          <a:xfrm rot="0" flipH="0" flipV="0">
            <a:off x="8924925" y="1552575"/>
            <a:ext cx="2695575" cy="800100"/>
          </a:xfrm>
          <a:custGeom>
            <a:pathLst>
              <a:path w="283" h="84">
                <a:moveTo>
                  <a:pt x="4" y="84"/>
                </a:moveTo>
                <a:cubicBezTo>
                  <a:pt x="2" y="84"/>
                  <a:pt x="0" y="82"/>
                  <a:pt x="0" y="80"/>
                </a:cubicBezTo>
                <a:lnTo>
                  <a:pt x="0" y="4"/>
                </a:lnTo>
                <a:cubicBezTo>
                  <a:pt x="0" y="2"/>
                  <a:pt x="2" y="0"/>
                  <a:pt x="4" y="0"/>
                </a:cubicBezTo>
                <a:lnTo>
                  <a:pt x="4" y="84"/>
                </a:lnTo>
                <a:close/>
              </a:path>
            </a:pathLst>
          </a:custGeom>
          <a:solidFill>
            <a:srgbClr val="9E3410"/>
          </a:solidFill>
          <a:ln/>
        </p:spPr>
        <p:txBody>
          <a:bodyPr/>
          <a:p/>
        </p:txBody>
      </p:sp>
      <p:sp>
        <p:nvSpPr>
          <p:cNvPr id="492" name="" descr="{&quot;isTemplate&quot;:true,&quot;type&quot;:&quot;text&quot;}"/>
          <p:cNvSpPr txBox="1"/>
          <p:nvPr/>
        </p:nvSpPr>
        <p:spPr>
          <a:xfrm rot="0" flipH="0" flipV="0">
            <a:off x="9039225" y="1695450"/>
            <a:ext cx="2428875" cy="142875"/>
          </a:xfrm>
          <a:prstGeom prst="rect"/>
        </p:spPr>
        <p:txBody>
          <a:bodyPr wrap="none" lIns="0" tIns="0" rIns="0" bIns="0"/>
          <a:p>
            <a:pPr>
              <a:lnSpc>
                <a:spcPct val="100000"/>
              </a:lnSpc>
            </a:pPr>
            <a:r>
              <a:rPr lang="zh-CN" sz="938" b="1">
                <a:solidFill>
                  <a:srgbClr val="9E3410"/>
                </a:solidFill>
                <a:latin typeface="Microsoft YaHei"/>
                <a:ea typeface="Microsoft YaHei"/>
              </a:rPr>
              <a:t>数据对象清单</a:t>
            </a:r>
            <a:endParaRPr/>
          </a:p>
        </p:txBody>
      </p:sp>
      <p:sp>
        <p:nvSpPr>
          <p:cNvPr id="493" name="" descr="{&quot;isTemplate&quot;:true,&quot;type&quot;:&quot;text&quot;}"/>
          <p:cNvSpPr txBox="1"/>
          <p:nvPr/>
        </p:nvSpPr>
        <p:spPr>
          <a:xfrm rot="0" flipH="0" flipV="0">
            <a:off x="9039225" y="1876425"/>
            <a:ext cx="2428875" cy="33337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该系统是哪些业务逻辑实体的权威来源？一份还是多份？</a:t>
            </a:r>
            <a:endParaRPr/>
          </a:p>
        </p:txBody>
      </p:sp>
      <p:sp>
        <p:nvSpPr>
          <p:cNvPr id="494" name=""/>
          <p:cNvSpPr/>
          <p:nvPr/>
        </p:nvSpPr>
        <p:spPr>
          <a:xfrm rot="0" flipH="0" flipV="0">
            <a:off x="609600" y="2466975"/>
            <a:ext cx="38100" cy="152400"/>
          </a:xfrm>
          <a:prstGeom prst="rect">
            <a:avLst/>
          </a:prstGeom>
          <a:solidFill>
            <a:srgbClr val="C43A17"/>
          </a:solidFill>
          <a:ln/>
        </p:spPr>
        <p:txBody>
          <a:bodyPr/>
          <a:p/>
        </p:txBody>
      </p:sp>
      <p:sp>
        <p:nvSpPr>
          <p:cNvPr id="495" name="" descr="{&quot;isTemplate&quot;:true,&quot;type&quot;:&quot;text&quot;}"/>
          <p:cNvSpPr txBox="1"/>
          <p:nvPr/>
        </p:nvSpPr>
        <p:spPr>
          <a:xfrm rot="0" flipH="0" flipV="0">
            <a:off x="723900" y="2466975"/>
            <a:ext cx="4286250" cy="161925"/>
          </a:xfrm>
          <a:prstGeom prst="rect"/>
        </p:spPr>
        <p:txBody>
          <a:bodyPr wrap="none" lIns="0" tIns="0" rIns="0" bIns="0"/>
          <a:p>
            <a:pPr>
              <a:lnSpc>
                <a:spcPct val="100000"/>
              </a:lnSpc>
            </a:pPr>
            <a:r>
              <a:rPr lang="zh-CN" sz="1013" b="1">
                <a:solidFill>
                  <a:srgbClr val="0F1423"/>
                </a:solidFill>
                <a:latin typeface="Microsoft YaHei"/>
                <a:ea typeface="Microsoft YaHei"/>
              </a:rPr>
              <a:t>第二步：集成现状逐对盘点（集成方式</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协议</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数据流</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服务调用</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频率）</a:t>
            </a:r>
            <a:endParaRPr/>
          </a:p>
        </p:txBody>
      </p:sp>
      <p:sp>
        <p:nvSpPr>
          <p:cNvPr id="496" name=""/>
          <p:cNvSpPr/>
          <p:nvPr/>
        </p:nvSpPr>
        <p:spPr>
          <a:xfrm rot="0" flipH="0" flipV="0">
            <a:off x="609600" y="2714625"/>
            <a:ext cx="1790700" cy="2428875"/>
          </a:xfrm>
          <a:prstGeom prst="roundRect">
            <a:avLst>
              <a:gd name="adj" fmla="val 2128"/>
            </a:avLst>
          </a:prstGeom>
          <a:solidFill>
            <a:srgbClr val="F7F7F8"/>
          </a:solidFill>
          <a:ln/>
        </p:spPr>
        <p:txBody>
          <a:bodyPr/>
          <a:p/>
        </p:txBody>
      </p:sp>
      <p:sp>
        <p:nvSpPr>
          <p:cNvPr id="497" name="" descr="{&quot;isTemplate&quot;:true,&quot;type&quot;:&quot;text&quot;}"/>
          <p:cNvSpPr txBox="1"/>
          <p:nvPr/>
        </p:nvSpPr>
        <p:spPr>
          <a:xfrm rot="0" flipH="0" flipV="0">
            <a:off x="695325" y="2800350"/>
            <a:ext cx="1619250" cy="161925"/>
          </a:xfrm>
          <a:prstGeom prst="rect"/>
        </p:spPr>
        <p:txBody>
          <a:bodyPr wrap="none" lIns="0" tIns="0" rIns="0" bIns="0"/>
          <a:p>
            <a:pPr>
              <a:lnSpc>
                <a:spcPct val="130000"/>
              </a:lnSpc>
            </a:pPr>
            <a:r>
              <a:rPr lang="en-US" sz="788" b="1">
                <a:solidFill>
                  <a:srgbClr val="0F1423"/>
                </a:solidFill>
                <a:latin typeface="Microsoft YaHei"/>
                <a:ea typeface="Microsoft YaHei"/>
              </a:rPr>
              <a:t xml:space="preserve">EAM / </a:t>
            </a:r>
            <a:r>
              <a:rPr lang="zh-CN" sz="788" b="1">
                <a:solidFill>
                  <a:srgbClr val="0F1423"/>
                </a:solidFill>
                <a:latin typeface="Microsoft YaHei"/>
                <a:ea typeface="Microsoft YaHei"/>
              </a:rPr>
              <a:t>资产</a:t>
            </a:r>
            <a:r>
              <a:rPr lang="en-US" sz="788" b="1">
                <a:solidFill>
                  <a:srgbClr val="0F1423"/>
                </a:solidFill>
                <a:latin typeface="Microsoft YaHei"/>
                <a:ea typeface="Microsoft YaHei"/>
              </a:rPr>
              <a:t xml:space="preserve"> → </a:t>
            </a:r>
            <a:r>
              <a:rPr lang="zh-CN" sz="788" b="1">
                <a:solidFill>
                  <a:srgbClr val="0F1423"/>
                </a:solidFill>
                <a:latin typeface="Microsoft YaHei"/>
                <a:ea typeface="Microsoft YaHei"/>
              </a:rPr>
              <a:t>财务核算</a:t>
            </a:r>
            <a:endParaRPr/>
          </a:p>
        </p:txBody>
      </p:sp>
      <p:sp>
        <p:nvSpPr>
          <p:cNvPr id="498" name="" descr="{&quot;isTemplate&quot;:true,&quot;type&quot;:&quot;text&quot;}"/>
          <p:cNvSpPr txBox="1"/>
          <p:nvPr/>
        </p:nvSpPr>
        <p:spPr>
          <a:xfrm rot="0" flipH="0" flipV="0">
            <a:off x="695325" y="3000375"/>
            <a:ext cx="1619250" cy="152400"/>
          </a:xfrm>
          <a:prstGeom prst="rect"/>
        </p:spPr>
        <p:txBody>
          <a:bodyPr wrap="none" lIns="0" tIns="0" rIns="0" bIns="0"/>
          <a:p>
            <a:pPr>
              <a:lnSpc>
                <a:spcPct val="130000"/>
              </a:lnSpc>
            </a:pPr>
            <a:r>
              <a:rPr lang="zh-CN" sz="750">
                <a:solidFill>
                  <a:srgbClr val="C43A17"/>
                </a:solidFill>
                <a:latin typeface="Microsoft YaHei"/>
                <a:ea typeface="Microsoft YaHei"/>
              </a:rPr>
              <a:t>定时文件交换</a:t>
            </a:r>
            <a:endParaRPr/>
          </a:p>
        </p:txBody>
      </p:sp>
      <p:sp>
        <p:nvSpPr>
          <p:cNvPr id="499" name="" descr="{&quot;isTemplate&quot;:true,&quot;type&quot;:&quot;text&quot;}"/>
          <p:cNvSpPr txBox="1"/>
          <p:nvPr/>
        </p:nvSpPr>
        <p:spPr>
          <a:xfrm rot="0" flipH="0" flipV="0">
            <a:off x="695325" y="3171825"/>
            <a:ext cx="1619250" cy="142875"/>
          </a:xfrm>
          <a:prstGeom prst="rect"/>
        </p:spPr>
        <p:txBody>
          <a:bodyPr wrap="none" lIns="0" tIns="0" rIns="0" bIns="0"/>
          <a:p>
            <a:pPr>
              <a:lnSpc>
                <a:spcPct val="130000"/>
              </a:lnSpc>
            </a:pPr>
            <a:r>
              <a:rPr lang="en-US" sz="713">
                <a:solidFill>
                  <a:srgbClr val="8A8F99"/>
                </a:solidFill>
                <a:latin typeface="Microsoft YaHei"/>
                <a:ea typeface="Microsoft YaHei"/>
              </a:rPr>
              <a:t>SFTP + Excel</a:t>
            </a:r>
            <a:endParaRPr/>
          </a:p>
        </p:txBody>
      </p:sp>
      <p:sp>
        <p:nvSpPr>
          <p:cNvPr id="500" name="" descr="{&quot;isTemplate&quot;:true,&quot;type&quot;:&quot;text&quot;}"/>
          <p:cNvSpPr txBox="1"/>
          <p:nvPr/>
        </p:nvSpPr>
        <p:spPr>
          <a:xfrm rot="0" flipH="0" flipV="0">
            <a:off x="695325" y="3343275"/>
            <a:ext cx="1619250" cy="1543050"/>
          </a:xfrm>
          <a:prstGeom prst="rect"/>
        </p:spPr>
        <p:txBody>
          <a:bodyPr wrap="none" lIns="0" tIns="0" rIns="0" bIns="0"/>
          <a:p>
            <a:pPr>
              <a:lnSpc>
                <a:spcPct val="130000"/>
              </a:lnSpc>
            </a:pPr>
            <a:r>
              <a:rPr lang="zh-CN" sz="713">
                <a:solidFill>
                  <a:srgbClr val="3A4050"/>
                </a:solidFill>
                <a:latin typeface="Microsoft YaHei"/>
                <a:ea typeface="Microsoft YaHei"/>
              </a:rPr>
              <a:t>资产台账与价值口径</a:t>
            </a:r>
            <a:endParaRPr/>
          </a:p>
        </p:txBody>
      </p:sp>
      <p:sp>
        <p:nvSpPr>
          <p:cNvPr id="501" name="" descr="{&quot;isTemplate&quot;:true,&quot;type&quot;:&quot;text&quot;}"/>
          <p:cNvSpPr txBox="1"/>
          <p:nvPr/>
        </p:nvSpPr>
        <p:spPr>
          <a:xfrm rot="0" flipH="0" flipV="0">
            <a:off x="695325" y="4914900"/>
            <a:ext cx="1619250" cy="142875"/>
          </a:xfrm>
          <a:prstGeom prst="rect"/>
        </p:spPr>
        <p:txBody>
          <a:bodyPr wrap="none" lIns="0" tIns="0" rIns="0" bIns="0"/>
          <a:p>
            <a:pPr>
              <a:lnSpc>
                <a:spcPct val="130000"/>
              </a:lnSpc>
            </a:pPr>
            <a:r>
              <a:rPr lang="zh-CN" sz="713">
                <a:solidFill>
                  <a:srgbClr val="FA4F24"/>
                </a:solidFill>
                <a:latin typeface="Microsoft YaHei"/>
                <a:ea typeface="Microsoft YaHei"/>
              </a:rPr>
              <a:t>差异月月有，靠人工对账</a:t>
            </a:r>
            <a:endParaRPr/>
          </a:p>
        </p:txBody>
      </p:sp>
      <p:sp>
        <p:nvSpPr>
          <p:cNvPr id="502" name=""/>
          <p:cNvSpPr/>
          <p:nvPr/>
        </p:nvSpPr>
        <p:spPr>
          <a:xfrm rot="0" flipH="0" flipV="0">
            <a:off x="2447925" y="2714625"/>
            <a:ext cx="1790700" cy="2428875"/>
          </a:xfrm>
          <a:prstGeom prst="roundRect">
            <a:avLst>
              <a:gd name="adj" fmla="val 2128"/>
            </a:avLst>
          </a:prstGeom>
          <a:solidFill>
            <a:srgbClr val="F7F7F8"/>
          </a:solidFill>
          <a:ln/>
        </p:spPr>
        <p:txBody>
          <a:bodyPr/>
          <a:p/>
        </p:txBody>
      </p:sp>
      <p:sp>
        <p:nvSpPr>
          <p:cNvPr id="503" name="" descr="{&quot;isTemplate&quot;:true,&quot;type&quot;:&quot;text&quot;}"/>
          <p:cNvSpPr txBox="1"/>
          <p:nvPr/>
        </p:nvSpPr>
        <p:spPr>
          <a:xfrm rot="0" flipH="0" flipV="0">
            <a:off x="2533650" y="2800350"/>
            <a:ext cx="1619250" cy="161925"/>
          </a:xfrm>
          <a:prstGeom prst="rect"/>
        </p:spPr>
        <p:txBody>
          <a:bodyPr wrap="none" lIns="0" tIns="0" rIns="0" bIns="0"/>
          <a:p>
            <a:pPr>
              <a:lnSpc>
                <a:spcPct val="130000"/>
              </a:lnSpc>
            </a:pPr>
            <a:r>
              <a:rPr lang="zh-CN" sz="788" b="1">
                <a:solidFill>
                  <a:srgbClr val="0F1423"/>
                </a:solidFill>
                <a:latin typeface="Microsoft YaHei"/>
                <a:ea typeface="Microsoft YaHei"/>
              </a:rPr>
              <a:t>项目管理系统</a:t>
            </a:r>
            <a:r>
              <a:rPr lang="en-US" sz="788" b="1">
                <a:solidFill>
                  <a:srgbClr val="0F1423"/>
                </a:solidFill>
                <a:latin typeface="Microsoft YaHei"/>
                <a:ea typeface="Microsoft YaHei"/>
              </a:rPr>
              <a:t xml:space="preserve"> → </a:t>
            </a:r>
            <a:r>
              <a:rPr lang="zh-CN" sz="788" b="1">
                <a:solidFill>
                  <a:srgbClr val="0F1423"/>
                </a:solidFill>
                <a:latin typeface="Microsoft YaHei"/>
                <a:ea typeface="Microsoft YaHei"/>
              </a:rPr>
              <a:t>财务系统</a:t>
            </a:r>
            <a:endParaRPr/>
          </a:p>
        </p:txBody>
      </p:sp>
      <p:sp>
        <p:nvSpPr>
          <p:cNvPr id="504" name="" descr="{&quot;isTemplate&quot;:true,&quot;type&quot;:&quot;text&quot;}"/>
          <p:cNvSpPr txBox="1"/>
          <p:nvPr/>
        </p:nvSpPr>
        <p:spPr>
          <a:xfrm rot="0" flipH="0" flipV="0">
            <a:off x="2533650" y="3000375"/>
            <a:ext cx="1619250" cy="152400"/>
          </a:xfrm>
          <a:prstGeom prst="rect"/>
        </p:spPr>
        <p:txBody>
          <a:bodyPr wrap="none" lIns="0" tIns="0" rIns="0" bIns="0"/>
          <a:p>
            <a:pPr>
              <a:lnSpc>
                <a:spcPct val="130000"/>
              </a:lnSpc>
            </a:pPr>
            <a:r>
              <a:rPr lang="zh-CN" sz="750">
                <a:solidFill>
                  <a:srgbClr val="C43A17"/>
                </a:solidFill>
                <a:latin typeface="Microsoft YaHei"/>
                <a:ea typeface="Microsoft YaHei"/>
              </a:rPr>
              <a:t>接口同步</a:t>
            </a:r>
            <a:endParaRPr/>
          </a:p>
        </p:txBody>
      </p:sp>
      <p:sp>
        <p:nvSpPr>
          <p:cNvPr id="505" name="" descr="{&quot;isTemplate&quot;:true,&quot;type&quot;:&quot;text&quot;}"/>
          <p:cNvSpPr txBox="1"/>
          <p:nvPr/>
        </p:nvSpPr>
        <p:spPr>
          <a:xfrm rot="0" flipH="0" flipV="0">
            <a:off x="2533650" y="3171825"/>
            <a:ext cx="1619250" cy="142875"/>
          </a:xfrm>
          <a:prstGeom prst="rect"/>
        </p:spPr>
        <p:txBody>
          <a:bodyPr wrap="none" lIns="0" tIns="0" rIns="0" bIns="0"/>
          <a:p>
            <a:pPr>
              <a:lnSpc>
                <a:spcPct val="130000"/>
              </a:lnSpc>
            </a:pPr>
            <a:r>
              <a:rPr lang="en-US" sz="713">
                <a:solidFill>
                  <a:srgbClr val="8A8F99"/>
                </a:solidFill>
                <a:latin typeface="Microsoft YaHei"/>
                <a:ea typeface="Microsoft YaHei"/>
              </a:rPr>
              <a:t xml:space="preserve">API / </a:t>
            </a:r>
            <a:r>
              <a:rPr lang="zh-CN" sz="713">
                <a:solidFill>
                  <a:srgbClr val="8A8F99"/>
                </a:solidFill>
                <a:latin typeface="Microsoft YaHei"/>
                <a:ea typeface="Microsoft YaHei"/>
              </a:rPr>
              <a:t>数据库直连</a:t>
            </a:r>
            <a:endParaRPr/>
          </a:p>
        </p:txBody>
      </p:sp>
      <p:sp>
        <p:nvSpPr>
          <p:cNvPr id="506" name="" descr="{&quot;isTemplate&quot;:true,&quot;type&quot;:&quot;text&quot;}"/>
          <p:cNvSpPr txBox="1"/>
          <p:nvPr/>
        </p:nvSpPr>
        <p:spPr>
          <a:xfrm rot="0" flipH="0" flipV="0">
            <a:off x="2533650" y="3343275"/>
            <a:ext cx="1619250" cy="1543050"/>
          </a:xfrm>
          <a:prstGeom prst="rect"/>
        </p:spPr>
        <p:txBody>
          <a:bodyPr wrap="none" lIns="0" tIns="0" rIns="0" bIns="0"/>
          <a:p>
            <a:pPr>
              <a:lnSpc>
                <a:spcPct val="130000"/>
              </a:lnSpc>
            </a:pPr>
            <a:r>
              <a:rPr lang="zh-CN" sz="713">
                <a:solidFill>
                  <a:srgbClr val="3A4050"/>
                </a:solidFill>
                <a:latin typeface="Microsoft YaHei"/>
                <a:ea typeface="Microsoft YaHei"/>
              </a:rPr>
              <a:t>投资额与进度款</a:t>
            </a:r>
            <a:endParaRPr/>
          </a:p>
        </p:txBody>
      </p:sp>
      <p:sp>
        <p:nvSpPr>
          <p:cNvPr id="507" name="" descr="{&quot;isTemplate&quot;:true,&quot;type&quot;:&quot;text&quot;}"/>
          <p:cNvSpPr txBox="1"/>
          <p:nvPr/>
        </p:nvSpPr>
        <p:spPr>
          <a:xfrm rot="0" flipH="0" flipV="0">
            <a:off x="2533650" y="4914900"/>
            <a:ext cx="1619250" cy="142875"/>
          </a:xfrm>
          <a:prstGeom prst="rect"/>
        </p:spPr>
        <p:txBody>
          <a:bodyPr wrap="none" lIns="0" tIns="0" rIns="0" bIns="0"/>
          <a:p>
            <a:pPr>
              <a:lnSpc>
                <a:spcPct val="130000"/>
              </a:lnSpc>
            </a:pPr>
            <a:r>
              <a:rPr lang="zh-CN" sz="713">
                <a:solidFill>
                  <a:srgbClr val="FA4F24"/>
                </a:solidFill>
                <a:latin typeface="Microsoft YaHei"/>
                <a:ea typeface="Microsoft YaHei"/>
              </a:rPr>
              <a:t>两套口径，投资额版本不一</a:t>
            </a:r>
            <a:endParaRPr/>
          </a:p>
        </p:txBody>
      </p:sp>
      <p:sp>
        <p:nvSpPr>
          <p:cNvPr id="508" name=""/>
          <p:cNvSpPr/>
          <p:nvPr/>
        </p:nvSpPr>
        <p:spPr>
          <a:xfrm rot="0" flipH="0" flipV="0">
            <a:off x="4286250" y="2714625"/>
            <a:ext cx="1790700" cy="2428875"/>
          </a:xfrm>
          <a:prstGeom prst="roundRect">
            <a:avLst>
              <a:gd name="adj" fmla="val 2128"/>
            </a:avLst>
          </a:prstGeom>
          <a:solidFill>
            <a:srgbClr val="F7F7F8"/>
          </a:solidFill>
          <a:ln/>
        </p:spPr>
        <p:txBody>
          <a:bodyPr/>
          <a:p/>
        </p:txBody>
      </p:sp>
      <p:sp>
        <p:nvSpPr>
          <p:cNvPr id="509" name="" descr="{&quot;isTemplate&quot;:true,&quot;type&quot;:&quot;text&quot;}"/>
          <p:cNvSpPr txBox="1"/>
          <p:nvPr/>
        </p:nvSpPr>
        <p:spPr>
          <a:xfrm rot="0" flipH="0" flipV="0">
            <a:off x="4371975" y="2800350"/>
            <a:ext cx="1619250" cy="161925"/>
          </a:xfrm>
          <a:prstGeom prst="rect"/>
        </p:spPr>
        <p:txBody>
          <a:bodyPr wrap="none" lIns="0" tIns="0" rIns="0" bIns="0"/>
          <a:p>
            <a:pPr>
              <a:lnSpc>
                <a:spcPct val="130000"/>
              </a:lnSpc>
            </a:pPr>
            <a:r>
              <a:rPr lang="zh-CN" sz="788" b="1">
                <a:solidFill>
                  <a:srgbClr val="0F1423"/>
                </a:solidFill>
                <a:latin typeface="Microsoft YaHei"/>
                <a:ea typeface="Microsoft YaHei"/>
              </a:rPr>
              <a:t>运维工单</a:t>
            </a:r>
            <a:r>
              <a:rPr lang="en-US" sz="788" b="1">
                <a:solidFill>
                  <a:srgbClr val="0F1423"/>
                </a:solidFill>
                <a:latin typeface="Microsoft YaHei"/>
                <a:ea typeface="Microsoft YaHei"/>
              </a:rPr>
              <a:t xml:space="preserve"> → </a:t>
            </a:r>
            <a:r>
              <a:rPr lang="en-US" sz="788" b="1">
                <a:solidFill>
                  <a:srgbClr val="0F1423"/>
                </a:solidFill>
                <a:latin typeface="Microsoft YaHei"/>
                <a:ea typeface="Microsoft YaHei"/>
              </a:rPr>
              <a:t xml:space="preserve">EAM </a:t>
            </a:r>
            <a:r>
              <a:rPr lang="zh-CN" sz="788" b="1">
                <a:solidFill>
                  <a:srgbClr val="0F1423"/>
                </a:solidFill>
                <a:latin typeface="Microsoft YaHei"/>
                <a:ea typeface="Microsoft YaHei"/>
              </a:rPr>
              <a:t>资产</a:t>
            </a:r>
            <a:endParaRPr/>
          </a:p>
        </p:txBody>
      </p:sp>
      <p:sp>
        <p:nvSpPr>
          <p:cNvPr id="510" name="" descr="{&quot;isTemplate&quot;:true,&quot;type&quot;:&quot;text&quot;}"/>
          <p:cNvSpPr txBox="1"/>
          <p:nvPr/>
        </p:nvSpPr>
        <p:spPr>
          <a:xfrm rot="0" flipH="0" flipV="0">
            <a:off x="4371975" y="3000375"/>
            <a:ext cx="1619250" cy="152400"/>
          </a:xfrm>
          <a:prstGeom prst="rect"/>
        </p:spPr>
        <p:txBody>
          <a:bodyPr wrap="none" lIns="0" tIns="0" rIns="0" bIns="0"/>
          <a:p>
            <a:pPr>
              <a:lnSpc>
                <a:spcPct val="130000"/>
              </a:lnSpc>
            </a:pPr>
            <a:r>
              <a:rPr lang="zh-CN" sz="750">
                <a:solidFill>
                  <a:srgbClr val="C43A17"/>
                </a:solidFill>
                <a:latin typeface="Microsoft YaHei"/>
                <a:ea typeface="Microsoft YaHei"/>
              </a:rPr>
              <a:t>弱集成（人工挂接）</a:t>
            </a:r>
            <a:endParaRPr/>
          </a:p>
        </p:txBody>
      </p:sp>
      <p:sp>
        <p:nvSpPr>
          <p:cNvPr id="511" name="" descr="{&quot;isTemplate&quot;:true,&quot;type&quot;:&quot;text&quot;}"/>
          <p:cNvSpPr txBox="1"/>
          <p:nvPr/>
        </p:nvSpPr>
        <p:spPr>
          <a:xfrm rot="0" flipH="0" flipV="0">
            <a:off x="4371975" y="3171825"/>
            <a:ext cx="1619250" cy="142875"/>
          </a:xfrm>
          <a:prstGeom prst="rect"/>
        </p:spPr>
        <p:txBody>
          <a:bodyPr wrap="none" lIns="0" tIns="0" rIns="0" bIns="0"/>
          <a:p>
            <a:pPr>
              <a:lnSpc>
                <a:spcPct val="130000"/>
              </a:lnSpc>
            </a:pPr>
            <a:r>
              <a:rPr lang="zh-CN" sz="713">
                <a:solidFill>
                  <a:srgbClr val="8A8F99"/>
                </a:solidFill>
                <a:latin typeface="Microsoft YaHei"/>
                <a:ea typeface="Microsoft YaHei"/>
              </a:rPr>
              <a:t>人工录入</a:t>
            </a:r>
            <a:endParaRPr/>
          </a:p>
        </p:txBody>
      </p:sp>
      <p:sp>
        <p:nvSpPr>
          <p:cNvPr id="512" name="" descr="{&quot;isTemplate&quot;:true,&quot;type&quot;:&quot;text&quot;}"/>
          <p:cNvSpPr txBox="1"/>
          <p:nvPr/>
        </p:nvSpPr>
        <p:spPr>
          <a:xfrm rot="0" flipH="0" flipV="0">
            <a:off x="4371975" y="3343275"/>
            <a:ext cx="1619250" cy="1543050"/>
          </a:xfrm>
          <a:prstGeom prst="rect"/>
        </p:spPr>
        <p:txBody>
          <a:bodyPr wrap="none" lIns="0" tIns="0" rIns="0" bIns="0"/>
          <a:p>
            <a:pPr>
              <a:lnSpc>
                <a:spcPct val="130000"/>
              </a:lnSpc>
            </a:pPr>
            <a:r>
              <a:rPr lang="zh-CN" sz="713">
                <a:solidFill>
                  <a:srgbClr val="3A4050"/>
                </a:solidFill>
                <a:latin typeface="Microsoft YaHei"/>
                <a:ea typeface="Microsoft YaHei"/>
              </a:rPr>
              <a:t>缺陷↔设备主键</a:t>
            </a:r>
            <a:endParaRPr/>
          </a:p>
        </p:txBody>
      </p:sp>
      <p:sp>
        <p:nvSpPr>
          <p:cNvPr id="513" name="" descr="{&quot;isTemplate&quot;:true,&quot;type&quot;:&quot;text&quot;}"/>
          <p:cNvSpPr txBox="1"/>
          <p:nvPr/>
        </p:nvSpPr>
        <p:spPr>
          <a:xfrm rot="0" flipH="0" flipV="0">
            <a:off x="4371975" y="4914900"/>
            <a:ext cx="1619250" cy="142875"/>
          </a:xfrm>
          <a:prstGeom prst="rect"/>
        </p:spPr>
        <p:txBody>
          <a:bodyPr wrap="none" lIns="0" tIns="0" rIns="0" bIns="0"/>
          <a:p>
            <a:pPr>
              <a:lnSpc>
                <a:spcPct val="130000"/>
              </a:lnSpc>
            </a:pPr>
            <a:r>
              <a:rPr lang="zh-CN" sz="713">
                <a:solidFill>
                  <a:srgbClr val="FA4F24"/>
                </a:solidFill>
                <a:latin typeface="Microsoft YaHei"/>
                <a:ea typeface="Microsoft YaHei"/>
              </a:rPr>
              <a:t>全项目最脆的一环</a:t>
            </a:r>
            <a:endParaRPr/>
          </a:p>
        </p:txBody>
      </p:sp>
      <p:sp>
        <p:nvSpPr>
          <p:cNvPr id="514" name=""/>
          <p:cNvSpPr/>
          <p:nvPr/>
        </p:nvSpPr>
        <p:spPr>
          <a:xfrm rot="0" flipH="0" flipV="0">
            <a:off x="6124575" y="2714625"/>
            <a:ext cx="1781175" cy="2428875"/>
          </a:xfrm>
          <a:prstGeom prst="roundRect">
            <a:avLst>
              <a:gd name="adj" fmla="val 2139"/>
            </a:avLst>
          </a:prstGeom>
          <a:solidFill>
            <a:srgbClr val="F7F7F8"/>
          </a:solidFill>
          <a:ln/>
        </p:spPr>
        <p:txBody>
          <a:bodyPr/>
          <a:p/>
        </p:txBody>
      </p:sp>
      <p:sp>
        <p:nvSpPr>
          <p:cNvPr id="515" name="" descr="{&quot;isTemplate&quot;:true,&quot;type&quot;:&quot;text&quot;}"/>
          <p:cNvSpPr txBox="1"/>
          <p:nvPr/>
        </p:nvSpPr>
        <p:spPr>
          <a:xfrm rot="0" flipH="0" flipV="0">
            <a:off x="6210300" y="2800350"/>
            <a:ext cx="1609725" cy="161925"/>
          </a:xfrm>
          <a:prstGeom prst="rect"/>
        </p:spPr>
        <p:txBody>
          <a:bodyPr wrap="none" lIns="0" tIns="0" rIns="0" bIns="0"/>
          <a:p>
            <a:pPr>
              <a:lnSpc>
                <a:spcPct val="130000"/>
              </a:lnSpc>
            </a:pPr>
            <a:r>
              <a:rPr lang="en-US" sz="788" b="1">
                <a:solidFill>
                  <a:srgbClr val="0F1423"/>
                </a:solidFill>
                <a:latin typeface="Microsoft YaHei"/>
                <a:ea typeface="Microsoft YaHei"/>
              </a:rPr>
              <a:t>PLM / EBOM</a:t>
            </a:r>
            <a:r>
              <a:rPr lang="en-US" sz="788" b="1">
                <a:solidFill>
                  <a:srgbClr val="0F1423"/>
                </a:solidFill>
                <a:latin typeface="Microsoft YaHei"/>
                <a:ea typeface="Microsoft YaHei"/>
              </a:rPr>
              <a:t xml:space="preserve"> → </a:t>
            </a:r>
            <a:r>
              <a:rPr lang="zh-CN" sz="788" b="1">
                <a:solidFill>
                  <a:srgbClr val="0F1423"/>
                </a:solidFill>
                <a:latin typeface="Microsoft YaHei"/>
                <a:ea typeface="Microsoft YaHei"/>
              </a:rPr>
              <a:t>制造</a:t>
            </a:r>
            <a:r>
              <a:rPr lang="en-US" sz="788" b="1">
                <a:solidFill>
                  <a:srgbClr val="0F1423"/>
                </a:solidFill>
                <a:latin typeface="Microsoft YaHei"/>
                <a:ea typeface="Microsoft YaHei"/>
              </a:rPr>
              <a:t xml:space="preserve"> MES</a:t>
            </a:r>
            <a:endParaRPr/>
          </a:p>
        </p:txBody>
      </p:sp>
      <p:sp>
        <p:nvSpPr>
          <p:cNvPr id="516" name="" descr="{&quot;isTemplate&quot;:true,&quot;type&quot;:&quot;text&quot;}"/>
          <p:cNvSpPr txBox="1"/>
          <p:nvPr/>
        </p:nvSpPr>
        <p:spPr>
          <a:xfrm rot="0" flipH="0" flipV="0">
            <a:off x="6210300" y="3000375"/>
            <a:ext cx="1609725" cy="152400"/>
          </a:xfrm>
          <a:prstGeom prst="rect"/>
        </p:spPr>
        <p:txBody>
          <a:bodyPr wrap="none" lIns="0" tIns="0" rIns="0" bIns="0"/>
          <a:p>
            <a:pPr>
              <a:lnSpc>
                <a:spcPct val="130000"/>
              </a:lnSpc>
            </a:pPr>
            <a:r>
              <a:rPr lang="zh-CN" sz="750">
                <a:solidFill>
                  <a:srgbClr val="C43A17"/>
                </a:solidFill>
                <a:latin typeface="Microsoft YaHei"/>
                <a:ea typeface="Microsoft YaHei"/>
              </a:rPr>
              <a:t>文件</a:t>
            </a:r>
            <a:r>
              <a:rPr lang="en-US" sz="750">
                <a:solidFill>
                  <a:srgbClr val="C43A17"/>
                </a:solidFill>
                <a:latin typeface="Microsoft YaHei"/>
                <a:ea typeface="Microsoft YaHei"/>
              </a:rPr>
              <a:t xml:space="preserve"> + </a:t>
            </a:r>
            <a:r>
              <a:rPr lang="zh-CN" sz="750">
                <a:solidFill>
                  <a:srgbClr val="C43A17"/>
                </a:solidFill>
                <a:latin typeface="Microsoft YaHei"/>
                <a:ea typeface="Microsoft YaHei"/>
              </a:rPr>
              <a:t>人工确认</a:t>
            </a:r>
            <a:endParaRPr/>
          </a:p>
        </p:txBody>
      </p:sp>
      <p:sp>
        <p:nvSpPr>
          <p:cNvPr id="517" name="" descr="{&quot;isTemplate&quot;:true,&quot;type&quot;:&quot;text&quot;}"/>
          <p:cNvSpPr txBox="1"/>
          <p:nvPr/>
        </p:nvSpPr>
        <p:spPr>
          <a:xfrm rot="0" flipH="0" flipV="0">
            <a:off x="6210300" y="3171825"/>
            <a:ext cx="1609725" cy="142875"/>
          </a:xfrm>
          <a:prstGeom prst="rect"/>
        </p:spPr>
        <p:txBody>
          <a:bodyPr wrap="none" lIns="0" tIns="0" rIns="0" bIns="0"/>
          <a:p>
            <a:pPr>
              <a:lnSpc>
                <a:spcPct val="130000"/>
              </a:lnSpc>
            </a:pPr>
            <a:r>
              <a:rPr lang="zh-CN" sz="713">
                <a:solidFill>
                  <a:srgbClr val="8A8F99"/>
                </a:solidFill>
                <a:latin typeface="Microsoft YaHei"/>
                <a:ea typeface="Microsoft YaHei"/>
              </a:rPr>
              <a:t>文件传输</a:t>
            </a:r>
            <a:endParaRPr/>
          </a:p>
        </p:txBody>
      </p:sp>
      <p:sp>
        <p:nvSpPr>
          <p:cNvPr id="518" name="" descr="{&quot;isTemplate&quot;:true,&quot;type&quot;:&quot;text&quot;}"/>
          <p:cNvSpPr txBox="1"/>
          <p:nvPr/>
        </p:nvSpPr>
        <p:spPr>
          <a:xfrm rot="0" flipH="0" flipV="0">
            <a:off x="6210300" y="3343275"/>
            <a:ext cx="1609725" cy="1543050"/>
          </a:xfrm>
          <a:prstGeom prst="rect"/>
        </p:spPr>
        <p:txBody>
          <a:bodyPr wrap="none" lIns="0" tIns="0" rIns="0" bIns="0"/>
          <a:p>
            <a:pPr>
              <a:lnSpc>
                <a:spcPct val="130000"/>
              </a:lnSpc>
            </a:pPr>
            <a:r>
              <a:rPr lang="en-US" sz="713">
                <a:solidFill>
                  <a:srgbClr val="3A4050"/>
                </a:solidFill>
                <a:latin typeface="Microsoft YaHei"/>
                <a:ea typeface="Microsoft YaHei"/>
              </a:rPr>
              <a:t xml:space="preserve">EBOM→MBOM </a:t>
            </a:r>
            <a:r>
              <a:rPr lang="zh-CN" sz="713">
                <a:solidFill>
                  <a:srgbClr val="3A4050"/>
                </a:solidFill>
                <a:latin typeface="Microsoft YaHei"/>
                <a:ea typeface="Microsoft YaHei"/>
              </a:rPr>
              <a:t>转换结果</a:t>
            </a:r>
            <a:endParaRPr/>
          </a:p>
        </p:txBody>
      </p:sp>
      <p:sp>
        <p:nvSpPr>
          <p:cNvPr id="519" name="" descr="{&quot;isTemplate&quot;:true,&quot;type&quot;:&quot;text&quot;}"/>
          <p:cNvSpPr txBox="1"/>
          <p:nvPr/>
        </p:nvSpPr>
        <p:spPr>
          <a:xfrm rot="0" flipH="0" flipV="0">
            <a:off x="6210300" y="4914900"/>
            <a:ext cx="1609725" cy="142875"/>
          </a:xfrm>
          <a:prstGeom prst="rect"/>
        </p:spPr>
        <p:txBody>
          <a:bodyPr wrap="none" lIns="0" tIns="0" rIns="0" bIns="0"/>
          <a:p>
            <a:pPr>
              <a:lnSpc>
                <a:spcPct val="130000"/>
              </a:lnSpc>
            </a:pPr>
            <a:r>
              <a:rPr lang="zh-CN" sz="713">
                <a:solidFill>
                  <a:srgbClr val="FA4F24"/>
                </a:solidFill>
                <a:latin typeface="Microsoft YaHei"/>
                <a:ea typeface="Microsoft YaHei"/>
              </a:rPr>
              <a:t>规则只在个人经验里</a:t>
            </a:r>
            <a:endParaRPr/>
          </a:p>
        </p:txBody>
      </p:sp>
      <p:sp>
        <p:nvSpPr>
          <p:cNvPr id="520" name=""/>
          <p:cNvSpPr/>
          <p:nvPr/>
        </p:nvSpPr>
        <p:spPr>
          <a:xfrm rot="0" flipH="0" flipV="0">
            <a:off x="7953375" y="2714625"/>
            <a:ext cx="1790700" cy="2428875"/>
          </a:xfrm>
          <a:prstGeom prst="roundRect">
            <a:avLst>
              <a:gd name="adj" fmla="val 2128"/>
            </a:avLst>
          </a:prstGeom>
          <a:solidFill>
            <a:srgbClr val="F7F7F8"/>
          </a:solidFill>
          <a:ln/>
        </p:spPr>
        <p:txBody>
          <a:bodyPr/>
          <a:p/>
        </p:txBody>
      </p:sp>
      <p:sp>
        <p:nvSpPr>
          <p:cNvPr id="521" name="" descr="{&quot;isTemplate&quot;:true,&quot;type&quot;:&quot;text&quot;}"/>
          <p:cNvSpPr txBox="1"/>
          <p:nvPr/>
        </p:nvSpPr>
        <p:spPr>
          <a:xfrm rot="0" flipH="0" flipV="0">
            <a:off x="8039100" y="2800350"/>
            <a:ext cx="1619250" cy="161925"/>
          </a:xfrm>
          <a:prstGeom prst="rect"/>
        </p:spPr>
        <p:txBody>
          <a:bodyPr wrap="none" lIns="0" tIns="0" rIns="0" bIns="0"/>
          <a:p>
            <a:pPr>
              <a:lnSpc>
                <a:spcPct val="130000"/>
              </a:lnSpc>
            </a:pPr>
            <a:r>
              <a:rPr lang="zh-CN" sz="788" b="1">
                <a:solidFill>
                  <a:srgbClr val="0F1423"/>
                </a:solidFill>
                <a:latin typeface="Microsoft YaHei"/>
                <a:ea typeface="Microsoft YaHei"/>
              </a:rPr>
              <a:t>采购系统</a:t>
            </a:r>
            <a:r>
              <a:rPr lang="en-US" sz="788" b="1">
                <a:solidFill>
                  <a:srgbClr val="0F1423"/>
                </a:solidFill>
                <a:latin typeface="Microsoft YaHei"/>
                <a:ea typeface="Microsoft YaHei"/>
              </a:rPr>
              <a:t xml:space="preserve"> → </a:t>
            </a:r>
            <a:r>
              <a:rPr lang="zh-CN" sz="788" b="1">
                <a:solidFill>
                  <a:srgbClr val="0F1423"/>
                </a:solidFill>
                <a:latin typeface="Microsoft YaHei"/>
                <a:ea typeface="Microsoft YaHei"/>
              </a:rPr>
              <a:t>供应商门户</a:t>
            </a:r>
            <a:endParaRPr/>
          </a:p>
        </p:txBody>
      </p:sp>
      <p:sp>
        <p:nvSpPr>
          <p:cNvPr id="522" name="" descr="{&quot;isTemplate&quot;:true,&quot;type&quot;:&quot;text&quot;}"/>
          <p:cNvSpPr txBox="1"/>
          <p:nvPr/>
        </p:nvSpPr>
        <p:spPr>
          <a:xfrm rot="0" flipH="0" flipV="0">
            <a:off x="8039100" y="3000375"/>
            <a:ext cx="1619250" cy="152400"/>
          </a:xfrm>
          <a:prstGeom prst="rect"/>
        </p:spPr>
        <p:txBody>
          <a:bodyPr wrap="none" lIns="0" tIns="0" rIns="0" bIns="0"/>
          <a:p>
            <a:pPr>
              <a:lnSpc>
                <a:spcPct val="130000"/>
              </a:lnSpc>
            </a:pPr>
            <a:r>
              <a:rPr lang="zh-CN" sz="750">
                <a:solidFill>
                  <a:srgbClr val="C43A17"/>
                </a:solidFill>
                <a:latin typeface="Microsoft YaHei"/>
                <a:ea typeface="Microsoft YaHei"/>
              </a:rPr>
              <a:t>接口</a:t>
            </a:r>
            <a:r>
              <a:rPr lang="en-US" sz="750">
                <a:solidFill>
                  <a:srgbClr val="C43A17"/>
                </a:solidFill>
                <a:latin typeface="Microsoft YaHei"/>
                <a:ea typeface="Microsoft YaHei"/>
              </a:rPr>
              <a:t xml:space="preserve"> + </a:t>
            </a:r>
            <a:r>
              <a:rPr lang="zh-CN" sz="750">
                <a:solidFill>
                  <a:srgbClr val="C43A17"/>
                </a:solidFill>
                <a:latin typeface="Microsoft YaHei"/>
                <a:ea typeface="Microsoft YaHei"/>
              </a:rPr>
              <a:t>门户</a:t>
            </a:r>
            <a:endParaRPr/>
          </a:p>
        </p:txBody>
      </p:sp>
      <p:sp>
        <p:nvSpPr>
          <p:cNvPr id="523" name="" descr="{&quot;isTemplate&quot;:true,&quot;type&quot;:&quot;text&quot;}"/>
          <p:cNvSpPr txBox="1"/>
          <p:nvPr/>
        </p:nvSpPr>
        <p:spPr>
          <a:xfrm rot="0" flipH="0" flipV="0">
            <a:off x="8039100" y="3171825"/>
            <a:ext cx="1619250" cy="142875"/>
          </a:xfrm>
          <a:prstGeom prst="rect"/>
        </p:spPr>
        <p:txBody>
          <a:bodyPr wrap="none" lIns="0" tIns="0" rIns="0" bIns="0"/>
          <a:p>
            <a:pPr>
              <a:lnSpc>
                <a:spcPct val="130000"/>
              </a:lnSpc>
            </a:pPr>
            <a:r>
              <a:rPr lang="en-US" sz="713">
                <a:solidFill>
                  <a:srgbClr val="8A8F99"/>
                </a:solidFill>
                <a:latin typeface="Microsoft YaHei"/>
                <a:ea typeface="Microsoft YaHei"/>
              </a:rPr>
              <a:t xml:space="preserve">API + </a:t>
            </a:r>
            <a:r>
              <a:rPr lang="zh-CN" sz="713">
                <a:solidFill>
                  <a:srgbClr val="8A8F99"/>
                </a:solidFill>
                <a:latin typeface="Microsoft YaHei"/>
                <a:ea typeface="Microsoft YaHei"/>
              </a:rPr>
              <a:t>邮件</a:t>
            </a:r>
            <a:r>
              <a:rPr lang="en-US" sz="713">
                <a:solidFill>
                  <a:srgbClr val="8A8F99"/>
                </a:solidFill>
                <a:latin typeface="Microsoft YaHei"/>
                <a:ea typeface="Microsoft YaHei"/>
              </a:rPr>
              <a:t>/</a:t>
            </a:r>
            <a:r>
              <a:rPr lang="zh-CN" sz="713">
                <a:solidFill>
                  <a:srgbClr val="8A8F99"/>
                </a:solidFill>
                <a:latin typeface="Microsoft YaHei"/>
                <a:ea typeface="Microsoft YaHei"/>
              </a:rPr>
              <a:t>门户</a:t>
            </a:r>
            <a:endParaRPr/>
          </a:p>
        </p:txBody>
      </p:sp>
      <p:sp>
        <p:nvSpPr>
          <p:cNvPr id="524" name="" descr="{&quot;isTemplate&quot;:true,&quot;type&quot;:&quot;text&quot;}"/>
          <p:cNvSpPr txBox="1"/>
          <p:nvPr/>
        </p:nvSpPr>
        <p:spPr>
          <a:xfrm rot="0" flipH="0" flipV="0">
            <a:off x="8039100" y="3343275"/>
            <a:ext cx="1619250" cy="1543050"/>
          </a:xfrm>
          <a:prstGeom prst="rect"/>
        </p:spPr>
        <p:txBody>
          <a:bodyPr wrap="none" lIns="0" tIns="0" rIns="0" bIns="0"/>
          <a:p>
            <a:pPr>
              <a:lnSpc>
                <a:spcPct val="130000"/>
              </a:lnSpc>
            </a:pPr>
            <a:r>
              <a:rPr lang="zh-CN" sz="713">
                <a:solidFill>
                  <a:srgbClr val="3A4050"/>
                </a:solidFill>
                <a:latin typeface="Microsoft YaHei"/>
                <a:ea typeface="Microsoft YaHei"/>
              </a:rPr>
              <a:t>订单与催交状态</a:t>
            </a:r>
            <a:endParaRPr/>
          </a:p>
        </p:txBody>
      </p:sp>
      <p:sp>
        <p:nvSpPr>
          <p:cNvPr id="525" name="" descr="{&quot;isTemplate&quot;:true,&quot;type&quot;:&quot;text&quot;}"/>
          <p:cNvSpPr txBox="1"/>
          <p:nvPr/>
        </p:nvSpPr>
        <p:spPr>
          <a:xfrm rot="0" flipH="0" flipV="0">
            <a:off x="8039100" y="4914900"/>
            <a:ext cx="1619250" cy="142875"/>
          </a:xfrm>
          <a:prstGeom prst="rect"/>
        </p:spPr>
        <p:txBody>
          <a:bodyPr wrap="none" lIns="0" tIns="0" rIns="0" bIns="0"/>
          <a:p>
            <a:pPr>
              <a:lnSpc>
                <a:spcPct val="130000"/>
              </a:lnSpc>
            </a:pPr>
            <a:r>
              <a:rPr lang="zh-CN" sz="713">
                <a:solidFill>
                  <a:srgbClr val="FA4F24"/>
                </a:solidFill>
                <a:latin typeface="Microsoft YaHei"/>
                <a:ea typeface="Microsoft YaHei"/>
              </a:rPr>
              <a:t>状态回传不及时</a:t>
            </a:r>
            <a:endParaRPr/>
          </a:p>
        </p:txBody>
      </p:sp>
      <p:sp>
        <p:nvSpPr>
          <p:cNvPr id="526" name=""/>
          <p:cNvSpPr/>
          <p:nvPr/>
        </p:nvSpPr>
        <p:spPr>
          <a:xfrm rot="0" flipH="0" flipV="0">
            <a:off x="9791700" y="2714625"/>
            <a:ext cx="1790700" cy="2428875"/>
          </a:xfrm>
          <a:prstGeom prst="roundRect">
            <a:avLst>
              <a:gd name="adj" fmla="val 2128"/>
            </a:avLst>
          </a:prstGeom>
          <a:solidFill>
            <a:srgbClr val="F7F7F8"/>
          </a:solidFill>
          <a:ln/>
        </p:spPr>
        <p:txBody>
          <a:bodyPr/>
          <a:p/>
        </p:txBody>
      </p:sp>
      <p:sp>
        <p:nvSpPr>
          <p:cNvPr id="527" name="" descr="{&quot;isTemplate&quot;:true,&quot;type&quot;:&quot;text&quot;}"/>
          <p:cNvSpPr txBox="1"/>
          <p:nvPr/>
        </p:nvSpPr>
        <p:spPr>
          <a:xfrm rot="0" flipH="0" flipV="0">
            <a:off x="9877425" y="2800350"/>
            <a:ext cx="1619250" cy="161925"/>
          </a:xfrm>
          <a:prstGeom prst="rect"/>
        </p:spPr>
        <p:txBody>
          <a:bodyPr wrap="none" lIns="0" tIns="0" rIns="0" bIns="0"/>
          <a:p>
            <a:pPr>
              <a:lnSpc>
                <a:spcPct val="130000"/>
              </a:lnSpc>
            </a:pPr>
            <a:r>
              <a:rPr lang="zh-CN" sz="788" b="1">
                <a:solidFill>
                  <a:srgbClr val="0F1423"/>
                </a:solidFill>
                <a:latin typeface="Microsoft YaHei"/>
                <a:ea typeface="Microsoft YaHei"/>
              </a:rPr>
              <a:t>交易系统</a:t>
            </a:r>
            <a:r>
              <a:rPr lang="en-US" sz="788" b="1">
                <a:solidFill>
                  <a:srgbClr val="0F1423"/>
                </a:solidFill>
                <a:latin typeface="Microsoft YaHei"/>
                <a:ea typeface="Microsoft YaHei"/>
              </a:rPr>
              <a:t xml:space="preserve"> → </a:t>
            </a:r>
            <a:r>
              <a:rPr lang="zh-CN" sz="788" b="1">
                <a:solidFill>
                  <a:srgbClr val="0F1423"/>
                </a:solidFill>
                <a:latin typeface="Microsoft YaHei"/>
                <a:ea typeface="Microsoft YaHei"/>
              </a:rPr>
              <a:t>计量系统</a:t>
            </a:r>
            <a:endParaRPr/>
          </a:p>
        </p:txBody>
      </p:sp>
      <p:sp>
        <p:nvSpPr>
          <p:cNvPr id="528" name="" descr="{&quot;isTemplate&quot;:true,&quot;type&quot;:&quot;text&quot;}"/>
          <p:cNvSpPr txBox="1"/>
          <p:nvPr/>
        </p:nvSpPr>
        <p:spPr>
          <a:xfrm rot="0" flipH="0" flipV="0">
            <a:off x="9877425" y="3000375"/>
            <a:ext cx="1619250" cy="152400"/>
          </a:xfrm>
          <a:prstGeom prst="rect"/>
        </p:spPr>
        <p:txBody>
          <a:bodyPr wrap="none" lIns="0" tIns="0" rIns="0" bIns="0"/>
          <a:p>
            <a:pPr>
              <a:lnSpc>
                <a:spcPct val="130000"/>
              </a:lnSpc>
            </a:pPr>
            <a:r>
              <a:rPr lang="zh-CN" sz="750">
                <a:solidFill>
                  <a:srgbClr val="C43A17"/>
                </a:solidFill>
                <a:latin typeface="Microsoft YaHei"/>
                <a:ea typeface="Microsoft YaHei"/>
              </a:rPr>
              <a:t>实时调用</a:t>
            </a:r>
            <a:endParaRPr/>
          </a:p>
        </p:txBody>
      </p:sp>
      <p:sp>
        <p:nvSpPr>
          <p:cNvPr id="529" name="" descr="{&quot;isTemplate&quot;:true,&quot;type&quot;:&quot;text&quot;}"/>
          <p:cNvSpPr txBox="1"/>
          <p:nvPr/>
        </p:nvSpPr>
        <p:spPr>
          <a:xfrm rot="0" flipH="0" flipV="0">
            <a:off x="9877425" y="3171825"/>
            <a:ext cx="1619250" cy="142875"/>
          </a:xfrm>
          <a:prstGeom prst="rect"/>
        </p:spPr>
        <p:txBody>
          <a:bodyPr wrap="none" lIns="0" tIns="0" rIns="0" bIns="0"/>
          <a:p>
            <a:pPr>
              <a:lnSpc>
                <a:spcPct val="130000"/>
              </a:lnSpc>
            </a:pPr>
            <a:r>
              <a:rPr lang="zh-CN" sz="713">
                <a:solidFill>
                  <a:srgbClr val="8A8F99"/>
                </a:solidFill>
                <a:latin typeface="Microsoft YaHei"/>
                <a:ea typeface="Microsoft YaHei"/>
              </a:rPr>
              <a:t>消息队列</a:t>
            </a:r>
            <a:endParaRPr/>
          </a:p>
        </p:txBody>
      </p:sp>
      <p:sp>
        <p:nvSpPr>
          <p:cNvPr id="530" name="" descr="{&quot;isTemplate&quot;:true,&quot;type&quot;:&quot;text&quot;}"/>
          <p:cNvSpPr txBox="1"/>
          <p:nvPr/>
        </p:nvSpPr>
        <p:spPr>
          <a:xfrm rot="0" flipH="0" flipV="0">
            <a:off x="9877425" y="3343275"/>
            <a:ext cx="1619250" cy="1543050"/>
          </a:xfrm>
          <a:prstGeom prst="rect"/>
        </p:spPr>
        <p:txBody>
          <a:bodyPr wrap="none" lIns="0" tIns="0" rIns="0" bIns="0"/>
          <a:p>
            <a:pPr>
              <a:lnSpc>
                <a:spcPct val="130000"/>
              </a:lnSpc>
            </a:pPr>
            <a:r>
              <a:rPr lang="zh-CN" sz="713">
                <a:solidFill>
                  <a:srgbClr val="3A4050"/>
                </a:solidFill>
                <a:latin typeface="Microsoft YaHei"/>
                <a:ea typeface="Microsoft YaHei"/>
              </a:rPr>
              <a:t>上网电量与结算价</a:t>
            </a:r>
            <a:endParaRPr/>
          </a:p>
        </p:txBody>
      </p:sp>
      <p:sp>
        <p:nvSpPr>
          <p:cNvPr id="531" name="" descr="{&quot;isTemplate&quot;:true,&quot;type&quot;:&quot;text&quot;}"/>
          <p:cNvSpPr txBox="1"/>
          <p:nvPr/>
        </p:nvSpPr>
        <p:spPr>
          <a:xfrm rot="0" flipH="0" flipV="0">
            <a:off x="9877425" y="4914900"/>
            <a:ext cx="1619250" cy="142875"/>
          </a:xfrm>
          <a:prstGeom prst="rect"/>
        </p:spPr>
        <p:txBody>
          <a:bodyPr wrap="none" lIns="0" tIns="0" rIns="0" bIns="0"/>
          <a:p>
            <a:pPr>
              <a:lnSpc>
                <a:spcPct val="130000"/>
              </a:lnSpc>
            </a:pPr>
            <a:r>
              <a:rPr lang="zh-CN" sz="713">
                <a:solidFill>
                  <a:srgbClr val="FA4F24"/>
                </a:solidFill>
                <a:latin typeface="Microsoft YaHei"/>
                <a:ea typeface="Microsoft YaHei"/>
              </a:rPr>
              <a:t>口径不一致需人工修正</a:t>
            </a:r>
            <a:endParaRPr/>
          </a:p>
        </p:txBody>
      </p:sp>
      <p:sp>
        <p:nvSpPr>
          <p:cNvPr id="532" name=""/>
          <p:cNvSpPr/>
          <p:nvPr/>
        </p:nvSpPr>
        <p:spPr>
          <a:xfrm rot="0" flipH="0" flipV="0">
            <a:off x="647700" y="5219700"/>
            <a:ext cx="3609975" cy="438150"/>
          </a:xfrm>
          <a:prstGeom prst="roundRect">
            <a:avLst>
              <a:gd name="adj" fmla="val 6522"/>
            </a:avLst>
          </a:prstGeom>
          <a:solidFill>
            <a:srgbClr val="0F1423"/>
          </a:solidFill>
          <a:ln/>
        </p:spPr>
        <p:txBody>
          <a:bodyPr/>
          <a:p/>
        </p:txBody>
      </p:sp>
      <p:sp>
        <p:nvSpPr>
          <p:cNvPr id="533" name=""/>
          <p:cNvSpPr/>
          <p:nvPr/>
        </p:nvSpPr>
        <p:spPr>
          <a:xfrm rot="0" flipH="0" flipV="0">
            <a:off x="647700" y="5219700"/>
            <a:ext cx="3609975" cy="438150"/>
          </a:xfrm>
          <a:custGeom>
            <a:pathLst>
              <a:path w="379" h="46">
                <a:moveTo>
                  <a:pt x="4" y="46"/>
                </a:moveTo>
                <a:cubicBezTo>
                  <a:pt x="3" y="46"/>
                  <a:pt x="2" y="46"/>
                  <a:pt x="1" y="45"/>
                </a:cubicBezTo>
                <a:cubicBezTo>
                  <a:pt x="0" y="44"/>
                  <a:pt x="0" y="44"/>
                  <a:pt x="0" y="43"/>
                </a:cubicBezTo>
                <a:lnTo>
                  <a:pt x="0" y="3"/>
                </a:lnTo>
                <a:cubicBezTo>
                  <a:pt x="0" y="1"/>
                  <a:pt x="1" y="0"/>
                  <a:pt x="3" y="0"/>
                </a:cubicBezTo>
                <a:lnTo>
                  <a:pt x="4" y="0"/>
                </a:lnTo>
                <a:close/>
              </a:path>
            </a:pathLst>
          </a:custGeom>
          <a:solidFill>
            <a:srgbClr val="FA4F24"/>
          </a:solidFill>
          <a:ln/>
        </p:spPr>
        <p:txBody>
          <a:bodyPr/>
          <a:p/>
        </p:txBody>
      </p:sp>
      <p:sp>
        <p:nvSpPr>
          <p:cNvPr id="534" name="" descr="{&quot;isTemplate&quot;:true,&quot;type&quot;:&quot;text&quot;}"/>
          <p:cNvSpPr txBox="1"/>
          <p:nvPr/>
        </p:nvSpPr>
        <p:spPr>
          <a:xfrm rot="0" flipH="0" flipV="0">
            <a:off x="771525" y="5286375"/>
            <a:ext cx="3324225" cy="142875"/>
          </a:xfrm>
          <a:prstGeom prst="rect"/>
        </p:spPr>
        <p:txBody>
          <a:bodyPr wrap="none" lIns="0" tIns="0" rIns="0" bIns="0"/>
          <a:p>
            <a:pPr>
              <a:lnSpc>
                <a:spcPct val="100000"/>
              </a:lnSpc>
            </a:pPr>
            <a:r>
              <a:rPr lang="zh-CN" sz="900" b="1">
                <a:solidFill>
                  <a:srgbClr val="FBA15C"/>
                </a:solidFill>
                <a:latin typeface="Microsoft YaHei"/>
                <a:ea typeface="Microsoft YaHei"/>
              </a:rPr>
              <a:t>口径先于接口</a:t>
            </a:r>
            <a:endParaRPr/>
          </a:p>
        </p:txBody>
      </p:sp>
      <p:sp>
        <p:nvSpPr>
          <p:cNvPr id="535" name="" descr="{&quot;isTemplate&quot;:true,&quot;type&quot;:&quot;text&quot;}"/>
          <p:cNvSpPr txBox="1"/>
          <p:nvPr/>
        </p:nvSpPr>
        <p:spPr>
          <a:xfrm rot="0" flipH="0" flipV="0">
            <a:off x="771525" y="5448300"/>
            <a:ext cx="3324225" cy="152400"/>
          </a:xfrm>
          <a:prstGeom prst="rect"/>
        </p:spPr>
        <p:txBody>
          <a:bodyPr wrap="none" lIns="0" tIns="0" rIns="0" bIns="0"/>
          <a:p>
            <a:pPr>
              <a:lnSpc>
                <a:spcPct val="130000"/>
              </a:lnSpc>
            </a:pPr>
            <a:r>
              <a:rPr lang="zh-CN" sz="750">
                <a:solidFill>
                  <a:srgbClr val="FFFFFF">
                    <a:alpha val="86000"/>
                  </a:srgbClr>
                </a:solidFill>
                <a:latin typeface="Microsoft YaHei"/>
                <a:ea typeface="Microsoft YaHei"/>
              </a:rPr>
              <a:t>集成问题九成是口径问题，先对口径再谈接口，否则集成一次错一次</a:t>
            </a:r>
            <a:endParaRPr/>
          </a:p>
        </p:txBody>
      </p:sp>
      <p:sp>
        <p:nvSpPr>
          <p:cNvPr id="536" name=""/>
          <p:cNvSpPr/>
          <p:nvPr/>
        </p:nvSpPr>
        <p:spPr>
          <a:xfrm rot="0" flipH="0" flipV="0">
            <a:off x="4324350" y="5219700"/>
            <a:ext cx="3619500" cy="438150"/>
          </a:xfrm>
          <a:prstGeom prst="roundRect">
            <a:avLst>
              <a:gd name="adj" fmla="val 6522"/>
            </a:avLst>
          </a:prstGeom>
          <a:solidFill>
            <a:srgbClr val="F7F7F8"/>
          </a:solidFill>
          <a:ln/>
        </p:spPr>
        <p:txBody>
          <a:bodyPr/>
          <a:p/>
        </p:txBody>
      </p:sp>
      <p:sp>
        <p:nvSpPr>
          <p:cNvPr id="537" name=""/>
          <p:cNvSpPr/>
          <p:nvPr/>
        </p:nvSpPr>
        <p:spPr>
          <a:xfrm rot="0" flipH="0" flipV="0">
            <a:off x="4324350" y="5219700"/>
            <a:ext cx="3619500" cy="438150"/>
          </a:xfrm>
          <a:custGeom>
            <a:pathLst>
              <a:path w="380" h="46">
                <a:moveTo>
                  <a:pt x="4" y="46"/>
                </a:moveTo>
                <a:cubicBezTo>
                  <a:pt x="3" y="46"/>
                  <a:pt x="2" y="46"/>
                  <a:pt x="1" y="45"/>
                </a:cubicBezTo>
                <a:cubicBezTo>
                  <a:pt x="0" y="44"/>
                  <a:pt x="0" y="44"/>
                  <a:pt x="0" y="43"/>
                </a:cubicBezTo>
                <a:lnTo>
                  <a:pt x="0" y="3"/>
                </a:lnTo>
                <a:cubicBezTo>
                  <a:pt x="0" y="1"/>
                  <a:pt x="1" y="0"/>
                  <a:pt x="3" y="0"/>
                </a:cubicBezTo>
                <a:lnTo>
                  <a:pt x="4" y="0"/>
                </a:lnTo>
                <a:close/>
              </a:path>
            </a:pathLst>
          </a:custGeom>
          <a:solidFill>
            <a:srgbClr val="E0641E"/>
          </a:solidFill>
          <a:ln/>
        </p:spPr>
        <p:txBody>
          <a:bodyPr/>
          <a:p/>
        </p:txBody>
      </p:sp>
      <p:sp>
        <p:nvSpPr>
          <p:cNvPr id="538" name="" descr="{&quot;isTemplate&quot;:true,&quot;type&quot;:&quot;text&quot;}"/>
          <p:cNvSpPr txBox="1"/>
          <p:nvPr/>
        </p:nvSpPr>
        <p:spPr>
          <a:xfrm rot="0" flipH="0" flipV="0">
            <a:off x="4448175" y="5286375"/>
            <a:ext cx="3333750" cy="142875"/>
          </a:xfrm>
          <a:prstGeom prst="rect"/>
        </p:spPr>
        <p:txBody>
          <a:bodyPr wrap="none" lIns="0" tIns="0" rIns="0" bIns="0"/>
          <a:p>
            <a:pPr>
              <a:lnSpc>
                <a:spcPct val="100000"/>
              </a:lnSpc>
            </a:pPr>
            <a:r>
              <a:rPr lang="zh-CN" sz="900" b="1">
                <a:solidFill>
                  <a:srgbClr val="0F1423"/>
                </a:solidFill>
                <a:latin typeface="Microsoft YaHei"/>
                <a:ea typeface="Microsoft YaHei"/>
              </a:rPr>
              <a:t>一个实体一个权威源</a:t>
            </a:r>
            <a:endParaRPr/>
          </a:p>
        </p:txBody>
      </p:sp>
      <p:sp>
        <p:nvSpPr>
          <p:cNvPr id="539" name="" descr="{&quot;isTemplate&quot;:true,&quot;type&quot;:&quot;text&quot;}"/>
          <p:cNvSpPr txBox="1"/>
          <p:nvPr/>
        </p:nvSpPr>
        <p:spPr>
          <a:xfrm rot="0" flipH="0" flipV="0">
            <a:off x="4448175" y="5448300"/>
            <a:ext cx="3333750" cy="152400"/>
          </a:xfrm>
          <a:prstGeom prst="rect"/>
        </p:spPr>
        <p:txBody>
          <a:bodyPr wrap="none" lIns="0" tIns="0" rIns="0" bIns="0"/>
          <a:p>
            <a:pPr>
              <a:lnSpc>
                <a:spcPct val="130000"/>
              </a:lnSpc>
            </a:pPr>
            <a:r>
              <a:rPr lang="zh-CN" sz="750">
                <a:solidFill>
                  <a:srgbClr val="5A6070"/>
                </a:solidFill>
                <a:latin typeface="Microsoft YaHei"/>
                <a:ea typeface="Microsoft YaHei"/>
              </a:rPr>
              <a:t>同一逻辑实体有两份权威，系统越多越乱，诊断报告里要逐个点名</a:t>
            </a:r>
            <a:endParaRPr/>
          </a:p>
        </p:txBody>
      </p:sp>
      <p:sp>
        <p:nvSpPr>
          <p:cNvPr id="540" name=""/>
          <p:cNvSpPr/>
          <p:nvPr/>
        </p:nvSpPr>
        <p:spPr>
          <a:xfrm rot="0" flipH="0" flipV="0">
            <a:off x="8010525" y="5219700"/>
            <a:ext cx="3609975" cy="438150"/>
          </a:xfrm>
          <a:prstGeom prst="roundRect">
            <a:avLst>
              <a:gd name="adj" fmla="val 6522"/>
            </a:avLst>
          </a:prstGeom>
          <a:solidFill>
            <a:srgbClr val="F7F7F8"/>
          </a:solidFill>
          <a:ln/>
        </p:spPr>
        <p:txBody>
          <a:bodyPr/>
          <a:p/>
        </p:txBody>
      </p:sp>
      <p:sp>
        <p:nvSpPr>
          <p:cNvPr id="541" name=""/>
          <p:cNvSpPr/>
          <p:nvPr/>
        </p:nvSpPr>
        <p:spPr>
          <a:xfrm rot="0" flipH="0" flipV="0">
            <a:off x="8010525" y="5219700"/>
            <a:ext cx="3609975" cy="438150"/>
          </a:xfrm>
          <a:custGeom>
            <a:pathLst>
              <a:path w="379" h="46">
                <a:moveTo>
                  <a:pt x="4" y="46"/>
                </a:moveTo>
                <a:cubicBezTo>
                  <a:pt x="3" y="46"/>
                  <a:pt x="2" y="46"/>
                  <a:pt x="1" y="45"/>
                </a:cubicBezTo>
                <a:cubicBezTo>
                  <a:pt x="0" y="44"/>
                  <a:pt x="0" y="44"/>
                  <a:pt x="0" y="43"/>
                </a:cubicBezTo>
                <a:lnTo>
                  <a:pt x="0" y="3"/>
                </a:lnTo>
                <a:cubicBezTo>
                  <a:pt x="0" y="1"/>
                  <a:pt x="1" y="0"/>
                  <a:pt x="3" y="0"/>
                </a:cubicBezTo>
                <a:lnTo>
                  <a:pt x="4" y="0"/>
                </a:lnTo>
                <a:close/>
              </a:path>
            </a:pathLst>
          </a:custGeom>
          <a:solidFill>
            <a:srgbClr val="C43A17"/>
          </a:solidFill>
          <a:ln/>
        </p:spPr>
        <p:txBody>
          <a:bodyPr/>
          <a:p/>
        </p:txBody>
      </p:sp>
      <p:sp>
        <p:nvSpPr>
          <p:cNvPr id="542" name="" descr="{&quot;isTemplate&quot;:true,&quot;type&quot;:&quot;text&quot;}"/>
          <p:cNvSpPr txBox="1"/>
          <p:nvPr/>
        </p:nvSpPr>
        <p:spPr>
          <a:xfrm rot="0" flipH="0" flipV="0">
            <a:off x="8134350" y="5286375"/>
            <a:ext cx="3324225" cy="142875"/>
          </a:xfrm>
          <a:prstGeom prst="rect"/>
        </p:spPr>
        <p:txBody>
          <a:bodyPr wrap="none" lIns="0" tIns="0" rIns="0" bIns="0"/>
          <a:p>
            <a:pPr>
              <a:lnSpc>
                <a:spcPct val="100000"/>
              </a:lnSpc>
            </a:pPr>
            <a:r>
              <a:rPr lang="zh-CN" sz="900" b="1">
                <a:solidFill>
                  <a:srgbClr val="0F1423"/>
                </a:solidFill>
                <a:latin typeface="Microsoft YaHei"/>
                <a:ea typeface="Microsoft YaHei"/>
              </a:rPr>
              <a:t>弱集成必须记账</a:t>
            </a:r>
            <a:endParaRPr/>
          </a:p>
        </p:txBody>
      </p:sp>
      <p:sp>
        <p:nvSpPr>
          <p:cNvPr id="543" name="" descr="{&quot;isTemplate&quot;:true,&quot;type&quot;:&quot;text&quot;}"/>
          <p:cNvSpPr txBox="1"/>
          <p:nvPr/>
        </p:nvSpPr>
        <p:spPr>
          <a:xfrm rot="0" flipH="0" flipV="0">
            <a:off x="8134350" y="5448300"/>
            <a:ext cx="3324225" cy="152400"/>
          </a:xfrm>
          <a:prstGeom prst="rect"/>
        </p:spPr>
        <p:txBody>
          <a:bodyPr wrap="none" lIns="0" tIns="0" rIns="0" bIns="0"/>
          <a:p>
            <a:pPr>
              <a:lnSpc>
                <a:spcPct val="130000"/>
              </a:lnSpc>
            </a:pPr>
            <a:r>
              <a:rPr lang="zh-CN" sz="750">
                <a:solidFill>
                  <a:srgbClr val="5A6070"/>
                </a:solidFill>
                <a:latin typeface="Microsoft YaHei"/>
                <a:ea typeface="Microsoft YaHei"/>
              </a:rPr>
              <a:t>人工挂接、人工对账的地方逐条列出，这是后续蓝图里必须消掉的债</a:t>
            </a:r>
            <a:endParaRPr/>
          </a:p>
        </p:txBody>
      </p:sp>
      <p:sp>
        <p:nvSpPr>
          <p:cNvPr id="544" name=""/>
          <p:cNvSpPr/>
          <p:nvPr/>
        </p:nvSpPr>
        <p:spPr>
          <a:xfrm rot="0" flipH="0" flipV="0">
            <a:off x="609600" y="5943600"/>
            <a:ext cx="133350" cy="133350"/>
          </a:xfrm>
          <a:prstGeom prst="rect">
            <a:avLst/>
          </a:prstGeom>
          <a:solidFill>
            <a:srgbClr val="FA4F24"/>
          </a:solidFill>
          <a:ln/>
        </p:spPr>
        <p:txBody>
          <a:bodyPr/>
          <a:p/>
        </p:txBody>
      </p:sp>
      <p:sp>
        <p:nvSpPr>
          <p:cNvPr id="545"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54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17 / 36</a:t>
            </a:r>
            <a:endParaRPr/>
          </a:p>
        </p:txBody>
      </p:sp>
    </p:spTree>
  </p:cSld>
</p:sld>
</file>

<file path=ppt/slides/slide18.xml><?xml version="1.0" encoding="utf-8"?>
<p:sld xmlns:p="http://schemas.openxmlformats.org/presentationml/2006/main" xmlns:a="http://schemas.openxmlformats.org/drawingml/2006/main">
  <p:cSld>
    <p:spTree>
      <p:nvGrpSpPr>
        <p:cNvPr id="547" name="" descr="&lt;Slide style={{ width: 1280, height: 720, background: '#FFFFFF', padding: '24px 64px 0' }}&gt;&#10;    {/* A 区 */}&#10;    &lt;Box style={{ height: 96, flexDirection: 'column', justifyContent: 'flex-start' }}&gt;&#10;        &lt;Text style={{ fontSize: 32, fontWeight: 'bold', color: '#0F1423' }}&gt;&#10;            技术现状分析框架 &lt;span style={{ color: '#FA4F24' }}&gt;含 AI 所需技术&lt;/span&gt;&#10;        &lt;/Text&gt;&#10;        &lt;Text style={{ fontSize: 19, color: '#8A8F99', marginTop: 7 }}&gt;&#10;            招标 3.2(4) 要求含 AI 所需技术——这一项不写在诊断里，阶段二就无从落地&#10;        &lt;/Text&gt;&#10;    &lt;/Box&gt;&#10;    &lt;Box style={{ height: 1, background: '#E8E8E8' }} /&gt;&#10;&#10;    {/* B 区 */}&#10;    &lt;Box style={{ paddingTop: 10, paddingBottom: 6, height: 479, flexDirection: 'column', gap: 8 }}&gt;&#10;        {/* 上：基础设施四层 */}&#10;        &lt;Box style={{ height: 26, flexDirection: 'row', alignItems: 'center', gap: 8 }}&gt;&#10;            &lt;Box style={{ width: 4, height: 16, background: '#3A4050' }} /&gt;&#10;            &lt;Text style={{ fontSize: 13.5, fontWeight: 'bold', color: '#0F1423' }}&gt;基础设施四层现状（传统技术侧）&lt;/Text&gt;&#10;            &lt;Text style={{ fontSize: 11, color: '#8A8F99' }}&gt;算力与存储 · 网络 · 运行环境 · 安全合规&lt;/Text&gt;&#10;        &lt;/Box&gt;&#10;        &lt;Box style={{ height: 76, flexDirection: 'row', gap: 7 }}&gt;&#10;            {[&#10;                { t: '算力与存储', v: '本地机房 / 云上资源，GPU 是否已有，存储容量与增速' },&#10;                { t: '网络', v: '总部—电站—工厂链路，带宽与时延，异地访问是否受限' },&#10;                { t: '运行环境', v: '虚拟化/容器化程度，中间件版本，运维自动化程度' },&#10;                { t: '安全合规', v: '等保与密级要求，数据出域限制，第三方接入审批链路' },&#10;            ].map((x) =&gt; (&#10;                &lt;Box key={x.t} style={{ flex: 1, background: '#F7F7F8', borderRadius: 4, borderTop: '3px solid #5A6070', padding: '10px 12px', flexDirection: 'column', justifyContent: 'center' }}&gt;&#10;                    &lt;Text style={{ fontSize: 12.5, fontWeight: 'bold', color: '#0F1423' }}&gt;{x.t}&lt;/Text&gt;&#10;                    &lt;Text style={{ fontSize: 10.5, color: '#5A6070', lineHeight: 1.35, marginTop: 4 }}&gt;{x.v}&lt;/Text&gt;&#10;                &lt;/Box&gt;&#10;            ))}&#10;        &lt;/Box&gt;&#10;&#10;        {/* 中：AI 五项就绪度 */}&#10;        &lt;Box style={{ flex: 1, flexDirection: 'column', gap: 6 }}&gt;&#10;            &lt;Box style={{ height: 26, flexDirection: 'row', alignItems: 'center', gap: 8 }}&gt;&#10;                &lt;Box style={{ width: 4, height: 16, background: '#FA4F24' }} /&gt;&#10;                &lt;Text style={{ fontSize: 13.5, fontWeight: 'bold', color: '#0F1423' }}&gt;AI 所需技术五项就绪度（每项给「有 / 半有 / 无 + 差距说明」）&lt;/Text&gt;&#10;            &lt;/Box&gt;&#10;            &lt;Box style={{ flex: 1, flexDirection: 'column', gap: 5 }}&gt;&#10;                {[&#10;                    { t: '推理算力', d: 'GPU 资源是否可稳定供给给推理任务；电力行业还需考虑厂区侧可用性与数据不出域要求', lvl: '半有 · 需明确专属配额与调度规则', c: '#FA4F24' },&#10;                    { t: '模型服务', d: '大模型或领域模型的服务化部署能力；本地部署还是外部 API，商务与合规是否已通', lvl: '无 · 需在蓝图层定部署形态', c: '#E0641E' },&#10;                    { t: '向量与检索', d: '文档与知识的切片、向量化、检索能力；这是知识库类场景的前置条件', lvl: '半有 · 需评估切片工艺与密级继承', c: '#D2531A' },&#10;                    { t: '智能体编排', d: '工具白名单、调用编排、状态与记忆管理、人工干预点；决定智能体能不能上线', lvl: '无 · 属应用架构范畴', c: '#C43A17' },&#10;                    { t: '数据与治理配套', d: '数据权限、血缘、日志、评测集；AI 出错时能不能追责，靠这一项兜底', lvl: '半有 · 权限与日志最薄弱', c: '#9E3410' },&#10;                ].map((x) =&gt; (&#10;                    &lt;Box key={x.t} style={{ flex: 1, flexDirection: 'row', gap: 10, alignItems: 'stretch', background: '#F7F7F8', borderRadius: 4, borderLeft: '4px solid ' + x.c }}&gt;&#10;                        &lt;Box style={{ width: 116, justifyContent: 'center', flexDirection: 'column', paddingLeft: '12px' }}&gt;&#10;                            &lt;Text style={{ fontSize: 13, fontWeight: 'bold', color: x.c }}&gt;{x.t}&lt;/Text&gt;&#10;                        &lt;/Box&gt;&#10;                        &lt;Box style={{ flex: 1, justifyContent: 'center', flexDirection: 'column' }}&gt;&#10;                            &lt;Text style={{ fontSize: 10.5, color: '#3A4050', lineHeight: 1.35 }}&gt;{x.d}&lt;/Text&gt;&#10;                        &lt;/Box&gt;&#10;                        &lt;Box style={{ width: 250, background: '#FFF3EE', borderRadius: 3, padding: '0 11px', flexDirection: 'column', justifyContent: 'center' }}&gt;&#10;                            &lt;Text style={{ fontSize: 10.5, color: '#C43A17', fontWeight: 'bold', lineHeight: 1.3 }}&gt;{x.lvl}&lt;/Text&gt;&#10;                        &lt;/Box&gt;&#10;                    &lt;/Box&gt;&#10;                ))}&#10;            &lt;/Box&gt;&#10;        &lt;/Box&gt;&#10;&#10;        {/* 下 */}&#10;        &lt;Box style={{ height: 44, flexDirection: 'row', gap: 7 }}&gt;&#10;            {[&#10;                { k: '技术结论只写差距', v: '不堆技术名词，写「哪一项缺什么、缺了会挡住哪个场景」', c: '#FA4F24', dark: true },&#10;                { k: 'AI 就绪度绑定场景', v: '每项就绪度都挂到具体 AI 场景上，避免变成与技术无关的清单', c: '#E0641E', dark: false },&#10;                { k: '合规先于能力', v: '数据出域与密级限制是硬约束，模型再强也不能突破，评估时先划边界', c: '#C43A17', dark: false },&#10;            ].map((x) =&gt; (&#10;                &lt;Box key={x.k} style={{ flex: 1, background: x.dark ? '#0F1423' : '#F7F7F8', borderLeft: '4px solid ' + x.c, borderRadius: 3, padding: '0 13px', flexDirection: 'column', justifyContent: 'center' }}&gt;&#10;                    &lt;Text style={{ fontSize: 12, fontWeight: 'bold', color: x.dark ? '#FBA15C' : '#0F1423' }}&gt;{x.k}&lt;/Text&gt;&#10;                    &lt;Text style={{ fontSize: 10, color: x.dark ? 'rgba(255,255,255,0.86)' : '#5A6070', lineHeight: 1.3, marginTop: 2 }}&gt;{x.v}&lt;/Text&gt;&#10;                &lt;/Box&gt;&#10;            ))}&#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18 / 36&lt;/Text&gt;&#10;    &lt;/Box&gt;&#10;&lt;/Slide&gt;&#10;"/>
        <p:cNvGrpSpPr/>
        <p:nvPr/>
      </p:nvGrpSpPr>
      <p:grpSpPr>
        <a:xfrm>
          <a:off x="0" y="0"/>
          <a:ext cx="0" cy="0"/>
          <a:chOff x="0" y="0"/>
          <a:chExt cx="0" cy="0"/>
        </a:xfrm>
      </p:grpSpPr>
      <p:sp>
        <p:nvSpPr>
          <p:cNvPr id="548" name=""/>
          <p:cNvSpPr/>
          <p:nvPr/>
        </p:nvSpPr>
        <p:spPr>
          <a:xfrm rot="0" flipH="0" flipV="0">
            <a:off x="0" y="0"/>
            <a:ext cx="12192000" cy="6858000"/>
          </a:xfrm>
          <a:prstGeom prst="rect">
            <a:avLst/>
          </a:prstGeom>
          <a:solidFill>
            <a:srgbClr val="FFFFFF"/>
          </a:solidFill>
          <a:ln/>
        </p:spPr>
        <p:txBody>
          <a:bodyPr/>
          <a:p/>
        </p:txBody>
      </p:sp>
      <p:sp>
        <p:nvSpPr>
          <p:cNvPr id="54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技术现状分析框架</a:t>
            </a:r>
            <a:r>
              <a:rPr lang="en-US" sz="2400" b="1">
                <a:solidFill>
                  <a:srgbClr val="0F1423"/>
                </a:solidFill>
                <a:latin typeface="Microsoft YaHei"/>
                <a:ea typeface="Microsoft YaHei"/>
              </a:rPr>
              <a:t xml:space="preserve"> </a:t>
            </a:r>
            <a:r>
              <a:rPr lang="zh-CN" sz="2400" b="1">
                <a:solidFill>
                  <a:srgbClr val="FA4F24"/>
                </a:solidFill>
                <a:latin typeface="Microsoft YaHei"/>
                <a:ea typeface="Microsoft YaHei"/>
              </a:rPr>
              <a:t>含</a:t>
            </a:r>
            <a:r>
              <a:rPr lang="en-US" sz="2400" b="1">
                <a:solidFill>
                  <a:srgbClr val="FA4F24"/>
                </a:solidFill>
                <a:latin typeface="Microsoft YaHei"/>
                <a:ea typeface="Microsoft YaHei"/>
              </a:rPr>
              <a:t xml:space="preserve"> AI </a:t>
            </a:r>
            <a:r>
              <a:rPr lang="zh-CN" sz="2400" b="1">
                <a:solidFill>
                  <a:srgbClr val="FA4F24"/>
                </a:solidFill>
                <a:latin typeface="Microsoft YaHei"/>
                <a:ea typeface="Microsoft YaHei"/>
              </a:rPr>
              <a:t>所需技术</a:t>
            </a:r>
            <a:endParaRPr/>
          </a:p>
        </p:txBody>
      </p:sp>
      <p:sp>
        <p:nvSpPr>
          <p:cNvPr id="550"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3.2(4) </a:t>
            </a:r>
            <a:r>
              <a:rPr lang="zh-CN" sz="1425">
                <a:solidFill>
                  <a:srgbClr val="8A8F99"/>
                </a:solidFill>
                <a:latin typeface="Microsoft YaHei"/>
                <a:ea typeface="Microsoft YaHei"/>
              </a:rPr>
              <a:t>要求含</a:t>
            </a:r>
            <a:r>
              <a:rPr lang="en-US" sz="1425">
                <a:solidFill>
                  <a:srgbClr val="8A8F99"/>
                </a:solidFill>
                <a:latin typeface="Microsoft YaHei"/>
                <a:ea typeface="Microsoft YaHei"/>
              </a:rPr>
              <a:t xml:space="preserve"> AI </a:t>
            </a:r>
            <a:r>
              <a:rPr lang="zh-CN" sz="1425">
                <a:solidFill>
                  <a:srgbClr val="8A8F99"/>
                </a:solidFill>
                <a:latin typeface="Microsoft YaHei"/>
                <a:ea typeface="Microsoft YaHei"/>
              </a:rPr>
              <a:t>所需技术——这一项不写在诊断里，阶段二就无从落地</a:t>
            </a:r>
            <a:endParaRPr/>
          </a:p>
        </p:txBody>
      </p:sp>
      <p:sp>
        <p:nvSpPr>
          <p:cNvPr id="551" name=""/>
          <p:cNvSpPr/>
          <p:nvPr/>
        </p:nvSpPr>
        <p:spPr>
          <a:xfrm rot="0" flipH="0" flipV="0">
            <a:off x="609600" y="1143000"/>
            <a:ext cx="10972800" cy="9525"/>
          </a:xfrm>
          <a:prstGeom prst="rect">
            <a:avLst/>
          </a:prstGeom>
          <a:solidFill>
            <a:srgbClr val="E8E8E8"/>
          </a:solidFill>
          <a:ln/>
        </p:spPr>
        <p:txBody>
          <a:bodyPr/>
          <a:p/>
        </p:txBody>
      </p:sp>
      <p:sp>
        <p:nvSpPr>
          <p:cNvPr id="552" name=""/>
          <p:cNvSpPr/>
          <p:nvPr/>
        </p:nvSpPr>
        <p:spPr>
          <a:xfrm rot="0" flipH="0" flipV="0">
            <a:off x="609600" y="1295400"/>
            <a:ext cx="38100" cy="152400"/>
          </a:xfrm>
          <a:prstGeom prst="rect">
            <a:avLst/>
          </a:prstGeom>
          <a:solidFill>
            <a:srgbClr val="3A4050"/>
          </a:solidFill>
          <a:ln/>
        </p:spPr>
        <p:txBody>
          <a:bodyPr/>
          <a:p/>
        </p:txBody>
      </p:sp>
      <p:sp>
        <p:nvSpPr>
          <p:cNvPr id="553" name="" descr="{&quot;isTemplate&quot;:true,&quot;type&quot;:&quot;text&quot;}"/>
          <p:cNvSpPr txBox="1"/>
          <p:nvPr/>
        </p:nvSpPr>
        <p:spPr>
          <a:xfrm rot="0" flipH="0" flipV="0">
            <a:off x="723900" y="1295400"/>
            <a:ext cx="1933575" cy="161925"/>
          </a:xfrm>
          <a:prstGeom prst="rect"/>
        </p:spPr>
        <p:txBody>
          <a:bodyPr wrap="none" lIns="0" tIns="0" rIns="0" bIns="0"/>
          <a:p>
            <a:pPr>
              <a:lnSpc>
                <a:spcPct val="100000"/>
              </a:lnSpc>
            </a:pPr>
            <a:r>
              <a:rPr lang="zh-CN" sz="1013" b="1">
                <a:solidFill>
                  <a:srgbClr val="0F1423"/>
                </a:solidFill>
                <a:latin typeface="Microsoft YaHei"/>
                <a:ea typeface="Microsoft YaHei"/>
              </a:rPr>
              <a:t>基础设施四层现状（传统技术侧）</a:t>
            </a:r>
            <a:endParaRPr/>
          </a:p>
        </p:txBody>
      </p:sp>
      <p:sp>
        <p:nvSpPr>
          <p:cNvPr id="554" name="" descr="{&quot;isTemplate&quot;:true,&quot;type&quot;:&quot;text&quot;}"/>
          <p:cNvSpPr txBox="1"/>
          <p:nvPr/>
        </p:nvSpPr>
        <p:spPr>
          <a:xfrm rot="0" flipH="0" flipV="0">
            <a:off x="2733675" y="1304925"/>
            <a:ext cx="1838325" cy="133350"/>
          </a:xfrm>
          <a:prstGeom prst="rect"/>
        </p:spPr>
        <p:txBody>
          <a:bodyPr wrap="none" lIns="0" tIns="0" rIns="0" bIns="0"/>
          <a:p>
            <a:pPr>
              <a:lnSpc>
                <a:spcPct val="100000"/>
              </a:lnSpc>
            </a:pPr>
            <a:r>
              <a:rPr lang="zh-CN" sz="825">
                <a:solidFill>
                  <a:srgbClr val="8A8F99"/>
                </a:solidFill>
                <a:latin typeface="Microsoft YaHei"/>
                <a:ea typeface="Microsoft YaHei"/>
              </a:rPr>
              <a:t>算力与存储</a:t>
            </a:r>
            <a:r>
              <a:rPr lang="en-US" sz="825">
                <a:solidFill>
                  <a:srgbClr val="8A8F99"/>
                </a:solidFill>
                <a:latin typeface="Microsoft YaHei"/>
                <a:ea typeface="Microsoft YaHei"/>
              </a:rPr>
              <a:t xml:space="preserve"> · </a:t>
            </a:r>
            <a:r>
              <a:rPr lang="zh-CN" sz="825">
                <a:solidFill>
                  <a:srgbClr val="8A8F99"/>
                </a:solidFill>
                <a:latin typeface="Microsoft YaHei"/>
                <a:ea typeface="Microsoft YaHei"/>
              </a:rPr>
              <a:t>网络</a:t>
            </a:r>
            <a:r>
              <a:rPr lang="en-US" sz="825">
                <a:solidFill>
                  <a:srgbClr val="8A8F99"/>
                </a:solidFill>
                <a:latin typeface="Microsoft YaHei"/>
                <a:ea typeface="Microsoft YaHei"/>
              </a:rPr>
              <a:t xml:space="preserve"> · </a:t>
            </a:r>
            <a:r>
              <a:rPr lang="zh-CN" sz="825">
                <a:solidFill>
                  <a:srgbClr val="8A8F99"/>
                </a:solidFill>
                <a:latin typeface="Microsoft YaHei"/>
                <a:ea typeface="Microsoft YaHei"/>
              </a:rPr>
              <a:t>运行环境</a:t>
            </a:r>
            <a:r>
              <a:rPr lang="en-US" sz="825">
                <a:solidFill>
                  <a:srgbClr val="8A8F99"/>
                </a:solidFill>
                <a:latin typeface="Microsoft YaHei"/>
                <a:ea typeface="Microsoft YaHei"/>
              </a:rPr>
              <a:t xml:space="preserve"> · </a:t>
            </a:r>
            <a:r>
              <a:rPr lang="zh-CN" sz="825">
                <a:solidFill>
                  <a:srgbClr val="8A8F99"/>
                </a:solidFill>
                <a:latin typeface="Microsoft YaHei"/>
                <a:ea typeface="Microsoft YaHei"/>
              </a:rPr>
              <a:t>安全合规</a:t>
            </a:r>
            <a:endParaRPr/>
          </a:p>
        </p:txBody>
      </p:sp>
      <p:sp>
        <p:nvSpPr>
          <p:cNvPr id="555" name=""/>
          <p:cNvSpPr/>
          <p:nvPr/>
        </p:nvSpPr>
        <p:spPr>
          <a:xfrm rot="0" flipH="0" flipV="0">
            <a:off x="609600" y="1600200"/>
            <a:ext cx="2695575" cy="723900"/>
          </a:xfrm>
          <a:prstGeom prst="roundRect">
            <a:avLst>
              <a:gd name="adj" fmla="val 5263"/>
            </a:avLst>
          </a:prstGeom>
          <a:solidFill>
            <a:srgbClr val="F7F7F8"/>
          </a:solidFill>
          <a:ln/>
        </p:spPr>
        <p:txBody>
          <a:bodyPr/>
          <a:p/>
        </p:txBody>
      </p:sp>
      <p:sp>
        <p:nvSpPr>
          <p:cNvPr id="556" name=""/>
          <p:cNvSpPr/>
          <p:nvPr/>
        </p:nvSpPr>
        <p:spPr>
          <a:xfrm rot="0" flipH="0" flipV="0">
            <a:off x="609600" y="1600200"/>
            <a:ext cx="2695575" cy="723900"/>
          </a:xfrm>
          <a:custGeom>
            <a:pathLst>
              <a:path w="283" h="76">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5A6070"/>
          </a:solidFill>
          <a:ln/>
        </p:spPr>
        <p:txBody>
          <a:bodyPr/>
          <a:p/>
        </p:txBody>
      </p:sp>
      <p:sp>
        <p:nvSpPr>
          <p:cNvPr id="557" name="" descr="{&quot;isTemplate&quot;:true,&quot;type&quot;:&quot;text&quot;}"/>
          <p:cNvSpPr txBox="1"/>
          <p:nvPr/>
        </p:nvSpPr>
        <p:spPr>
          <a:xfrm rot="0" flipH="0" flipV="0">
            <a:off x="723900" y="1771650"/>
            <a:ext cx="2466975" cy="142875"/>
          </a:xfrm>
          <a:prstGeom prst="rect"/>
        </p:spPr>
        <p:txBody>
          <a:bodyPr wrap="none" lIns="0" tIns="0" rIns="0" bIns="0"/>
          <a:p>
            <a:pPr>
              <a:lnSpc>
                <a:spcPct val="100000"/>
              </a:lnSpc>
            </a:pPr>
            <a:r>
              <a:rPr lang="zh-CN" sz="938" b="1">
                <a:solidFill>
                  <a:srgbClr val="0F1423"/>
                </a:solidFill>
                <a:latin typeface="Microsoft YaHei"/>
                <a:ea typeface="Microsoft YaHei"/>
              </a:rPr>
              <a:t>算力与存储</a:t>
            </a:r>
            <a:endParaRPr/>
          </a:p>
        </p:txBody>
      </p:sp>
      <p:sp>
        <p:nvSpPr>
          <p:cNvPr id="558" name="" descr="{&quot;isTemplate&quot;:true,&quot;type&quot;:&quot;text&quot;}"/>
          <p:cNvSpPr txBox="1"/>
          <p:nvPr/>
        </p:nvSpPr>
        <p:spPr>
          <a:xfrm rot="0" flipH="0" flipV="0">
            <a:off x="723900" y="1952625"/>
            <a:ext cx="2466975" cy="171450"/>
          </a:xfrm>
          <a:prstGeom prst="rect"/>
        </p:spPr>
        <p:txBody>
          <a:bodyPr wrap="none" lIns="0" tIns="0" rIns="0" bIns="0"/>
          <a:p>
            <a:pPr>
              <a:lnSpc>
                <a:spcPct val="135000"/>
              </a:lnSpc>
            </a:pPr>
            <a:r>
              <a:rPr lang="zh-CN" sz="788">
                <a:solidFill>
                  <a:srgbClr val="5A6070"/>
                </a:solidFill>
                <a:latin typeface="Microsoft YaHei"/>
                <a:ea typeface="Microsoft YaHei"/>
              </a:rPr>
              <a:t>本地机房</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云上资源，</a:t>
            </a:r>
            <a:r>
              <a:rPr lang="en-US" sz="788">
                <a:solidFill>
                  <a:srgbClr val="5A6070"/>
                </a:solidFill>
                <a:latin typeface="Microsoft YaHei"/>
                <a:ea typeface="Microsoft YaHei"/>
              </a:rPr>
              <a:t xml:space="preserve">GPU </a:t>
            </a:r>
            <a:r>
              <a:rPr lang="zh-CN" sz="788">
                <a:solidFill>
                  <a:srgbClr val="5A6070"/>
                </a:solidFill>
                <a:latin typeface="Microsoft YaHei"/>
                <a:ea typeface="Microsoft YaHei"/>
              </a:rPr>
              <a:t>是否已有，存储容量与增速</a:t>
            </a:r>
            <a:endParaRPr/>
          </a:p>
        </p:txBody>
      </p:sp>
      <p:sp>
        <p:nvSpPr>
          <p:cNvPr id="559" name=""/>
          <p:cNvSpPr/>
          <p:nvPr/>
        </p:nvSpPr>
        <p:spPr>
          <a:xfrm rot="0" flipH="0" flipV="0">
            <a:off x="3371850" y="1600200"/>
            <a:ext cx="2695575" cy="733425"/>
          </a:xfrm>
          <a:prstGeom prst="roundRect">
            <a:avLst>
              <a:gd name="adj" fmla="val 5195"/>
            </a:avLst>
          </a:prstGeom>
          <a:solidFill>
            <a:srgbClr val="F7F7F8"/>
          </a:solidFill>
          <a:ln/>
        </p:spPr>
        <p:txBody>
          <a:bodyPr/>
          <a:p/>
        </p:txBody>
      </p:sp>
      <p:sp>
        <p:nvSpPr>
          <p:cNvPr id="560" name=""/>
          <p:cNvSpPr/>
          <p:nvPr/>
        </p:nvSpPr>
        <p:spPr>
          <a:xfrm rot="0" flipH="0" flipV="0">
            <a:off x="3371850" y="1600200"/>
            <a:ext cx="2695575" cy="733425"/>
          </a:xfrm>
          <a:custGeom>
            <a:pathLst>
              <a:path w="283" h="77">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5A6070"/>
          </a:solidFill>
          <a:ln/>
        </p:spPr>
        <p:txBody>
          <a:bodyPr/>
          <a:p/>
        </p:txBody>
      </p:sp>
      <p:sp>
        <p:nvSpPr>
          <p:cNvPr id="561" name="" descr="{&quot;isTemplate&quot;:true,&quot;type&quot;:&quot;text&quot;}"/>
          <p:cNvSpPr txBox="1"/>
          <p:nvPr/>
        </p:nvSpPr>
        <p:spPr>
          <a:xfrm rot="0" flipH="0" flipV="0">
            <a:off x="3486150" y="1695450"/>
            <a:ext cx="2466975" cy="142875"/>
          </a:xfrm>
          <a:prstGeom prst="rect"/>
        </p:spPr>
        <p:txBody>
          <a:bodyPr wrap="none" lIns="0" tIns="0" rIns="0" bIns="0"/>
          <a:p>
            <a:pPr>
              <a:lnSpc>
                <a:spcPct val="100000"/>
              </a:lnSpc>
            </a:pPr>
            <a:r>
              <a:rPr lang="zh-CN" sz="938" b="1">
                <a:solidFill>
                  <a:srgbClr val="0F1423"/>
                </a:solidFill>
                <a:latin typeface="Microsoft YaHei"/>
                <a:ea typeface="Microsoft YaHei"/>
              </a:rPr>
              <a:t>网络</a:t>
            </a:r>
            <a:endParaRPr/>
          </a:p>
        </p:txBody>
      </p:sp>
      <p:sp>
        <p:nvSpPr>
          <p:cNvPr id="562" name="" descr="{&quot;isTemplate&quot;:true,&quot;type&quot;:&quot;text&quot;}"/>
          <p:cNvSpPr txBox="1"/>
          <p:nvPr/>
        </p:nvSpPr>
        <p:spPr>
          <a:xfrm rot="0" flipH="0" flipV="0">
            <a:off x="3486150" y="1876425"/>
            <a:ext cx="2466975" cy="33337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总部—电站—工厂链路，带宽与时延，异地访问是否受限</a:t>
            </a:r>
            <a:endParaRPr/>
          </a:p>
        </p:txBody>
      </p:sp>
      <p:sp>
        <p:nvSpPr>
          <p:cNvPr id="563" name=""/>
          <p:cNvSpPr/>
          <p:nvPr/>
        </p:nvSpPr>
        <p:spPr>
          <a:xfrm rot="0" flipH="0" flipV="0">
            <a:off x="6134100" y="1600200"/>
            <a:ext cx="2686050" cy="723900"/>
          </a:xfrm>
          <a:prstGeom prst="roundRect">
            <a:avLst>
              <a:gd name="adj" fmla="val 5263"/>
            </a:avLst>
          </a:prstGeom>
          <a:solidFill>
            <a:srgbClr val="F7F7F8"/>
          </a:solidFill>
          <a:ln/>
        </p:spPr>
        <p:txBody>
          <a:bodyPr/>
          <a:p/>
        </p:txBody>
      </p:sp>
      <p:sp>
        <p:nvSpPr>
          <p:cNvPr id="564" name=""/>
          <p:cNvSpPr/>
          <p:nvPr/>
        </p:nvSpPr>
        <p:spPr>
          <a:xfrm rot="0" flipH="0" flipV="0">
            <a:off x="6134100" y="1600200"/>
            <a:ext cx="2686050" cy="723900"/>
          </a:xfrm>
          <a:custGeom>
            <a:pathLst>
              <a:path w="282" h="76">
                <a:moveTo>
                  <a:pt x="278" y="0"/>
                </a:moveTo>
                <a:cubicBezTo>
                  <a:pt x="280" y="0"/>
                  <a:pt x="282" y="2"/>
                  <a:pt x="282" y="4"/>
                </a:cubicBezTo>
                <a:cubicBezTo>
                  <a:pt x="282" y="3"/>
                  <a:pt x="281" y="3"/>
                  <a:pt x="281" y="3"/>
                </a:cubicBezTo>
                <a:lnTo>
                  <a:pt x="1" y="3"/>
                </a:lnTo>
                <a:cubicBezTo>
                  <a:pt x="1" y="3"/>
                  <a:pt x="0" y="3"/>
                  <a:pt x="0" y="4"/>
                </a:cubicBezTo>
                <a:cubicBezTo>
                  <a:pt x="0" y="2"/>
                  <a:pt x="2" y="0"/>
                  <a:pt x="4" y="0"/>
                </a:cubicBezTo>
                <a:lnTo>
                  <a:pt x="278" y="0"/>
                </a:lnTo>
                <a:close/>
              </a:path>
            </a:pathLst>
          </a:custGeom>
          <a:solidFill>
            <a:srgbClr val="5A6070"/>
          </a:solidFill>
          <a:ln/>
        </p:spPr>
        <p:txBody>
          <a:bodyPr/>
          <a:p/>
        </p:txBody>
      </p:sp>
      <p:sp>
        <p:nvSpPr>
          <p:cNvPr id="565" name="" descr="{&quot;isTemplate&quot;:true,&quot;type&quot;:&quot;text&quot;}"/>
          <p:cNvSpPr txBox="1"/>
          <p:nvPr/>
        </p:nvSpPr>
        <p:spPr>
          <a:xfrm rot="0" flipH="0" flipV="0">
            <a:off x="6248400" y="1771650"/>
            <a:ext cx="2457450" cy="142875"/>
          </a:xfrm>
          <a:prstGeom prst="rect"/>
        </p:spPr>
        <p:txBody>
          <a:bodyPr wrap="none" lIns="0" tIns="0" rIns="0" bIns="0"/>
          <a:p>
            <a:pPr>
              <a:lnSpc>
                <a:spcPct val="100000"/>
              </a:lnSpc>
            </a:pPr>
            <a:r>
              <a:rPr lang="zh-CN" sz="938" b="1">
                <a:solidFill>
                  <a:srgbClr val="0F1423"/>
                </a:solidFill>
                <a:latin typeface="Microsoft YaHei"/>
                <a:ea typeface="Microsoft YaHei"/>
              </a:rPr>
              <a:t>运行环境</a:t>
            </a:r>
            <a:endParaRPr/>
          </a:p>
        </p:txBody>
      </p:sp>
      <p:sp>
        <p:nvSpPr>
          <p:cNvPr id="566" name="" descr="{&quot;isTemplate&quot;:true,&quot;type&quot;:&quot;text&quot;}"/>
          <p:cNvSpPr txBox="1"/>
          <p:nvPr/>
        </p:nvSpPr>
        <p:spPr>
          <a:xfrm rot="0" flipH="0" flipV="0">
            <a:off x="6248400" y="1952625"/>
            <a:ext cx="2457450" cy="171450"/>
          </a:xfrm>
          <a:prstGeom prst="rect"/>
        </p:spPr>
        <p:txBody>
          <a:bodyPr wrap="none" lIns="0" tIns="0" rIns="0" bIns="0"/>
          <a:p>
            <a:pPr>
              <a:lnSpc>
                <a:spcPct val="135000"/>
              </a:lnSpc>
            </a:pPr>
            <a:r>
              <a:rPr lang="zh-CN" sz="788">
                <a:solidFill>
                  <a:srgbClr val="5A6070"/>
                </a:solidFill>
                <a:latin typeface="Microsoft YaHei"/>
                <a:ea typeface="Microsoft YaHei"/>
              </a:rPr>
              <a:t>虚拟化</a:t>
            </a:r>
            <a:r>
              <a:rPr lang="en-US" sz="788">
                <a:solidFill>
                  <a:srgbClr val="5A6070"/>
                </a:solidFill>
                <a:latin typeface="Microsoft YaHei"/>
                <a:ea typeface="Microsoft YaHei"/>
              </a:rPr>
              <a:t>/</a:t>
            </a:r>
            <a:r>
              <a:rPr lang="zh-CN" sz="788">
                <a:solidFill>
                  <a:srgbClr val="5A6070"/>
                </a:solidFill>
                <a:latin typeface="Microsoft YaHei"/>
                <a:ea typeface="Microsoft YaHei"/>
              </a:rPr>
              <a:t>容器化程度，中间件版本，运维自动化程度</a:t>
            </a:r>
            <a:endParaRPr/>
          </a:p>
        </p:txBody>
      </p:sp>
      <p:sp>
        <p:nvSpPr>
          <p:cNvPr id="567" name=""/>
          <p:cNvSpPr/>
          <p:nvPr/>
        </p:nvSpPr>
        <p:spPr>
          <a:xfrm rot="0" flipH="0" flipV="0">
            <a:off x="8886825" y="1600200"/>
            <a:ext cx="2695575" cy="723900"/>
          </a:xfrm>
          <a:prstGeom prst="roundRect">
            <a:avLst>
              <a:gd name="adj" fmla="val 5263"/>
            </a:avLst>
          </a:prstGeom>
          <a:solidFill>
            <a:srgbClr val="F7F7F8"/>
          </a:solidFill>
          <a:ln/>
        </p:spPr>
        <p:txBody>
          <a:bodyPr/>
          <a:p/>
        </p:txBody>
      </p:sp>
      <p:sp>
        <p:nvSpPr>
          <p:cNvPr id="568" name=""/>
          <p:cNvSpPr/>
          <p:nvPr/>
        </p:nvSpPr>
        <p:spPr>
          <a:xfrm rot="0" flipH="0" flipV="0">
            <a:off x="8886825" y="1600200"/>
            <a:ext cx="2695575" cy="723900"/>
          </a:xfrm>
          <a:custGeom>
            <a:pathLst>
              <a:path w="283" h="76">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5A6070"/>
          </a:solidFill>
          <a:ln/>
        </p:spPr>
        <p:txBody>
          <a:bodyPr/>
          <a:p/>
        </p:txBody>
      </p:sp>
      <p:sp>
        <p:nvSpPr>
          <p:cNvPr id="569" name="" descr="{&quot;isTemplate&quot;:true,&quot;type&quot;:&quot;text&quot;}"/>
          <p:cNvSpPr txBox="1"/>
          <p:nvPr/>
        </p:nvSpPr>
        <p:spPr>
          <a:xfrm rot="0" flipH="0" flipV="0">
            <a:off x="9001125" y="1771650"/>
            <a:ext cx="2466975" cy="142875"/>
          </a:xfrm>
          <a:prstGeom prst="rect"/>
        </p:spPr>
        <p:txBody>
          <a:bodyPr wrap="none" lIns="0" tIns="0" rIns="0" bIns="0"/>
          <a:p>
            <a:pPr>
              <a:lnSpc>
                <a:spcPct val="100000"/>
              </a:lnSpc>
            </a:pPr>
            <a:r>
              <a:rPr lang="zh-CN" sz="938" b="1">
                <a:solidFill>
                  <a:srgbClr val="0F1423"/>
                </a:solidFill>
                <a:latin typeface="Microsoft YaHei"/>
                <a:ea typeface="Microsoft YaHei"/>
              </a:rPr>
              <a:t>安全合规</a:t>
            </a:r>
            <a:endParaRPr/>
          </a:p>
        </p:txBody>
      </p:sp>
      <p:sp>
        <p:nvSpPr>
          <p:cNvPr id="570" name="" descr="{&quot;isTemplate&quot;:true,&quot;type&quot;:&quot;text&quot;}"/>
          <p:cNvSpPr txBox="1"/>
          <p:nvPr/>
        </p:nvSpPr>
        <p:spPr>
          <a:xfrm rot="0" flipH="0" flipV="0">
            <a:off x="9001125" y="1952625"/>
            <a:ext cx="2466975" cy="171450"/>
          </a:xfrm>
          <a:prstGeom prst="rect"/>
        </p:spPr>
        <p:txBody>
          <a:bodyPr wrap="none" lIns="0" tIns="0" rIns="0" bIns="0"/>
          <a:p>
            <a:pPr>
              <a:lnSpc>
                <a:spcPct val="135000"/>
              </a:lnSpc>
            </a:pPr>
            <a:r>
              <a:rPr lang="zh-CN" sz="788">
                <a:solidFill>
                  <a:srgbClr val="5A6070"/>
                </a:solidFill>
                <a:latin typeface="Microsoft YaHei"/>
                <a:ea typeface="Microsoft YaHei"/>
              </a:rPr>
              <a:t>等保与密级要求，数据出域限制，第三方接入审批链路</a:t>
            </a:r>
            <a:endParaRPr/>
          </a:p>
        </p:txBody>
      </p:sp>
      <p:sp>
        <p:nvSpPr>
          <p:cNvPr id="571" name=""/>
          <p:cNvSpPr/>
          <p:nvPr/>
        </p:nvSpPr>
        <p:spPr>
          <a:xfrm rot="0" flipH="0" flipV="0">
            <a:off x="609600" y="2419350"/>
            <a:ext cx="38100" cy="152400"/>
          </a:xfrm>
          <a:prstGeom prst="rect">
            <a:avLst/>
          </a:prstGeom>
          <a:solidFill>
            <a:srgbClr val="FA4F24"/>
          </a:solidFill>
          <a:ln/>
        </p:spPr>
        <p:txBody>
          <a:bodyPr/>
          <a:p/>
        </p:txBody>
      </p:sp>
      <p:sp>
        <p:nvSpPr>
          <p:cNvPr id="572" name="" descr="{&quot;isTemplate&quot;:true,&quot;type&quot;:&quot;text&quot;}"/>
          <p:cNvSpPr txBox="1"/>
          <p:nvPr/>
        </p:nvSpPr>
        <p:spPr>
          <a:xfrm rot="0" flipH="0" flipV="0">
            <a:off x="723900" y="2419350"/>
            <a:ext cx="3714750" cy="161925"/>
          </a:xfrm>
          <a:prstGeom prst="rect"/>
        </p:spPr>
        <p:txBody>
          <a:bodyPr wrap="none" lIns="0" tIns="0" rIns="0" bIns="0"/>
          <a:p>
            <a:pPr>
              <a:lnSpc>
                <a:spcPct val="100000"/>
              </a:lnSpc>
            </a:pPr>
            <a:r>
              <a:rPr lang="en-US" sz="1013" b="1">
                <a:solidFill>
                  <a:srgbClr val="0F1423"/>
                </a:solidFill>
                <a:latin typeface="Microsoft YaHei"/>
                <a:ea typeface="Microsoft YaHei"/>
              </a:rPr>
              <a:t xml:space="preserve">AI </a:t>
            </a:r>
            <a:r>
              <a:rPr lang="zh-CN" sz="1013" b="1">
                <a:solidFill>
                  <a:srgbClr val="0F1423"/>
                </a:solidFill>
                <a:latin typeface="Microsoft YaHei"/>
                <a:ea typeface="Microsoft YaHei"/>
              </a:rPr>
              <a:t>所需技术五项就绪度（每项给「有</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半有</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无</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差距说明」）</a:t>
            </a:r>
            <a:endParaRPr/>
          </a:p>
        </p:txBody>
      </p:sp>
      <p:sp>
        <p:nvSpPr>
          <p:cNvPr id="573" name=""/>
          <p:cNvSpPr/>
          <p:nvPr/>
        </p:nvSpPr>
        <p:spPr>
          <a:xfrm rot="0" flipH="0" flipV="0">
            <a:off x="647700" y="2676525"/>
            <a:ext cx="10972800" cy="457200"/>
          </a:xfrm>
          <a:prstGeom prst="roundRect">
            <a:avLst>
              <a:gd name="adj" fmla="val 8333"/>
            </a:avLst>
          </a:prstGeom>
          <a:solidFill>
            <a:srgbClr val="F7F7F8"/>
          </a:solidFill>
          <a:ln/>
        </p:spPr>
        <p:txBody>
          <a:bodyPr/>
          <a:p/>
        </p:txBody>
      </p:sp>
      <p:sp>
        <p:nvSpPr>
          <p:cNvPr id="574" name=""/>
          <p:cNvSpPr/>
          <p:nvPr/>
        </p:nvSpPr>
        <p:spPr>
          <a:xfrm rot="0" flipH="0" flipV="0">
            <a:off x="647700" y="2676525"/>
            <a:ext cx="10972800" cy="457200"/>
          </a:xfrm>
          <a:custGeom>
            <a:pathLst>
              <a:path w="1152" h="48">
                <a:moveTo>
                  <a:pt x="4" y="48"/>
                </a:moveTo>
                <a:cubicBezTo>
                  <a:pt x="2" y="48"/>
                  <a:pt x="0" y="46"/>
                  <a:pt x="0" y="44"/>
                </a:cubicBezTo>
                <a:lnTo>
                  <a:pt x="0" y="4"/>
                </a:lnTo>
                <a:cubicBezTo>
                  <a:pt x="0" y="2"/>
                  <a:pt x="2" y="0"/>
                  <a:pt x="4" y="0"/>
                </a:cubicBezTo>
                <a:lnTo>
                  <a:pt x="4" y="48"/>
                </a:lnTo>
                <a:close/>
              </a:path>
            </a:pathLst>
          </a:custGeom>
          <a:solidFill>
            <a:srgbClr val="FA4F24"/>
          </a:solidFill>
          <a:ln/>
        </p:spPr>
        <p:txBody>
          <a:bodyPr/>
          <a:p/>
        </p:txBody>
      </p:sp>
      <p:sp>
        <p:nvSpPr>
          <p:cNvPr id="575" name="" descr="{&quot;isTemplate&quot;:true,&quot;type&quot;:&quot;text&quot;}"/>
          <p:cNvSpPr txBox="1"/>
          <p:nvPr/>
        </p:nvSpPr>
        <p:spPr>
          <a:xfrm rot="0" flipH="0" flipV="0">
            <a:off x="762000" y="2828925"/>
            <a:ext cx="990600" cy="152400"/>
          </a:xfrm>
          <a:prstGeom prst="rect"/>
        </p:spPr>
        <p:txBody>
          <a:bodyPr wrap="none" lIns="0" tIns="0" rIns="0" bIns="0"/>
          <a:p>
            <a:pPr>
              <a:lnSpc>
                <a:spcPct val="100000"/>
              </a:lnSpc>
            </a:pPr>
            <a:r>
              <a:rPr lang="zh-CN" sz="975" b="1">
                <a:solidFill>
                  <a:srgbClr val="FA4F24"/>
                </a:solidFill>
                <a:latin typeface="Microsoft YaHei"/>
                <a:ea typeface="Microsoft YaHei"/>
              </a:rPr>
              <a:t>推理算力</a:t>
            </a:r>
            <a:endParaRPr/>
          </a:p>
        </p:txBody>
      </p:sp>
      <p:sp>
        <p:nvSpPr>
          <p:cNvPr id="576" name="" descr="{&quot;isTemplate&quot;:true,&quot;type&quot;:&quot;text&quot;}"/>
          <p:cNvSpPr txBox="1"/>
          <p:nvPr/>
        </p:nvSpPr>
        <p:spPr>
          <a:xfrm rot="0" flipH="0" flipV="0">
            <a:off x="1847850" y="2819400"/>
            <a:ext cx="725805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GPU </a:t>
            </a:r>
            <a:r>
              <a:rPr lang="zh-CN" sz="788">
                <a:solidFill>
                  <a:srgbClr val="3A4050"/>
                </a:solidFill>
                <a:latin typeface="Microsoft YaHei"/>
                <a:ea typeface="Microsoft YaHei"/>
              </a:rPr>
              <a:t>资源是否可稳定供给给推理任务；电力行业还需考虑厂区侧可用性与数据不出域要求</a:t>
            </a:r>
            <a:endParaRPr/>
          </a:p>
        </p:txBody>
      </p:sp>
      <p:sp>
        <p:nvSpPr>
          <p:cNvPr id="577" name=""/>
          <p:cNvSpPr/>
          <p:nvPr/>
        </p:nvSpPr>
        <p:spPr>
          <a:xfrm rot="0" flipH="0" flipV="0">
            <a:off x="9201150" y="2676525"/>
            <a:ext cx="2381250" cy="457200"/>
          </a:xfrm>
          <a:prstGeom prst="roundRect">
            <a:avLst>
              <a:gd name="adj" fmla="val 6250"/>
            </a:avLst>
          </a:prstGeom>
          <a:solidFill>
            <a:srgbClr val="FFF3EE"/>
          </a:solidFill>
          <a:ln/>
        </p:spPr>
        <p:txBody>
          <a:bodyPr/>
          <a:p/>
        </p:txBody>
      </p:sp>
      <p:sp>
        <p:nvSpPr>
          <p:cNvPr id="578" name="" descr="{&quot;isTemplate&quot;:true,&quot;type&quot;:&quot;text&quot;}"/>
          <p:cNvSpPr txBox="1"/>
          <p:nvPr/>
        </p:nvSpPr>
        <p:spPr>
          <a:xfrm rot="0" flipH="0" flipV="0">
            <a:off x="9305925" y="2828925"/>
            <a:ext cx="2171700" cy="161925"/>
          </a:xfrm>
          <a:prstGeom prst="rect"/>
        </p:spPr>
        <p:txBody>
          <a:bodyPr wrap="none" lIns="0" tIns="0" rIns="0" bIns="0"/>
          <a:p>
            <a:pPr>
              <a:lnSpc>
                <a:spcPct val="130000"/>
              </a:lnSpc>
            </a:pPr>
            <a:r>
              <a:rPr lang="zh-CN" sz="788" b="1">
                <a:solidFill>
                  <a:srgbClr val="C43A17"/>
                </a:solidFill>
                <a:latin typeface="Microsoft YaHei"/>
                <a:ea typeface="Microsoft YaHei"/>
              </a:rPr>
              <a:t>半有</a:t>
            </a:r>
            <a:r>
              <a:rPr lang="en-US" sz="788" b="1">
                <a:solidFill>
                  <a:srgbClr val="C43A17"/>
                </a:solidFill>
                <a:latin typeface="Microsoft YaHei"/>
                <a:ea typeface="Microsoft YaHei"/>
              </a:rPr>
              <a:t xml:space="preserve"> · </a:t>
            </a:r>
            <a:r>
              <a:rPr lang="zh-CN" sz="788" b="1">
                <a:solidFill>
                  <a:srgbClr val="C43A17"/>
                </a:solidFill>
                <a:latin typeface="Microsoft YaHei"/>
                <a:ea typeface="Microsoft YaHei"/>
              </a:rPr>
              <a:t>需明确专属配额与调度规则</a:t>
            </a:r>
            <a:endParaRPr/>
          </a:p>
        </p:txBody>
      </p:sp>
      <p:sp>
        <p:nvSpPr>
          <p:cNvPr id="579" name=""/>
          <p:cNvSpPr/>
          <p:nvPr/>
        </p:nvSpPr>
        <p:spPr>
          <a:xfrm rot="0" flipH="0" flipV="0">
            <a:off x="647700" y="3181350"/>
            <a:ext cx="10972800" cy="457200"/>
          </a:xfrm>
          <a:prstGeom prst="roundRect">
            <a:avLst>
              <a:gd name="adj" fmla="val 8333"/>
            </a:avLst>
          </a:prstGeom>
          <a:solidFill>
            <a:srgbClr val="F7F7F8"/>
          </a:solidFill>
          <a:ln/>
        </p:spPr>
        <p:txBody>
          <a:bodyPr/>
          <a:p/>
        </p:txBody>
      </p:sp>
      <p:sp>
        <p:nvSpPr>
          <p:cNvPr id="580" name=""/>
          <p:cNvSpPr/>
          <p:nvPr/>
        </p:nvSpPr>
        <p:spPr>
          <a:xfrm rot="0" flipH="0" flipV="0">
            <a:off x="647700" y="3181350"/>
            <a:ext cx="10972800" cy="457200"/>
          </a:xfrm>
          <a:custGeom>
            <a:pathLst>
              <a:path w="1152" h="48">
                <a:moveTo>
                  <a:pt x="4" y="48"/>
                </a:moveTo>
                <a:cubicBezTo>
                  <a:pt x="2" y="48"/>
                  <a:pt x="0" y="46"/>
                  <a:pt x="0" y="44"/>
                </a:cubicBezTo>
                <a:lnTo>
                  <a:pt x="0" y="4"/>
                </a:lnTo>
                <a:cubicBezTo>
                  <a:pt x="0" y="2"/>
                  <a:pt x="2" y="0"/>
                  <a:pt x="4" y="0"/>
                </a:cubicBezTo>
                <a:lnTo>
                  <a:pt x="4" y="48"/>
                </a:lnTo>
                <a:close/>
              </a:path>
            </a:pathLst>
          </a:custGeom>
          <a:solidFill>
            <a:srgbClr val="E0641E"/>
          </a:solidFill>
          <a:ln/>
        </p:spPr>
        <p:txBody>
          <a:bodyPr/>
          <a:p/>
        </p:txBody>
      </p:sp>
      <p:sp>
        <p:nvSpPr>
          <p:cNvPr id="581" name="" descr="{&quot;isTemplate&quot;:true,&quot;type&quot;:&quot;text&quot;}"/>
          <p:cNvSpPr txBox="1"/>
          <p:nvPr/>
        </p:nvSpPr>
        <p:spPr>
          <a:xfrm rot="0" flipH="0" flipV="0">
            <a:off x="762000" y="3333750"/>
            <a:ext cx="990600" cy="152400"/>
          </a:xfrm>
          <a:prstGeom prst="rect"/>
        </p:spPr>
        <p:txBody>
          <a:bodyPr wrap="none" lIns="0" tIns="0" rIns="0" bIns="0"/>
          <a:p>
            <a:pPr>
              <a:lnSpc>
                <a:spcPct val="100000"/>
              </a:lnSpc>
            </a:pPr>
            <a:r>
              <a:rPr lang="zh-CN" sz="975" b="1">
                <a:solidFill>
                  <a:srgbClr val="E0641E"/>
                </a:solidFill>
                <a:latin typeface="Microsoft YaHei"/>
                <a:ea typeface="Microsoft YaHei"/>
              </a:rPr>
              <a:t>模型服务</a:t>
            </a:r>
            <a:endParaRPr/>
          </a:p>
        </p:txBody>
      </p:sp>
      <p:sp>
        <p:nvSpPr>
          <p:cNvPr id="582" name="" descr="{&quot;isTemplate&quot;:true,&quot;type&quot;:&quot;text&quot;}"/>
          <p:cNvSpPr txBox="1"/>
          <p:nvPr/>
        </p:nvSpPr>
        <p:spPr>
          <a:xfrm rot="0" flipH="0" flipV="0">
            <a:off x="1847850" y="3324225"/>
            <a:ext cx="7258050" cy="171450"/>
          </a:xfrm>
          <a:prstGeom prst="rect"/>
        </p:spPr>
        <p:txBody>
          <a:bodyPr wrap="none" lIns="0" tIns="0" rIns="0" bIns="0"/>
          <a:p>
            <a:pPr>
              <a:lnSpc>
                <a:spcPct val="135000"/>
              </a:lnSpc>
            </a:pPr>
            <a:r>
              <a:rPr lang="zh-CN" sz="788">
                <a:solidFill>
                  <a:srgbClr val="3A4050"/>
                </a:solidFill>
                <a:latin typeface="Microsoft YaHei"/>
                <a:ea typeface="Microsoft YaHei"/>
              </a:rPr>
              <a:t>大模型或领域模型的服务化部署能力；本地部署还是外部</a:t>
            </a:r>
            <a:r>
              <a:rPr lang="en-US" sz="788">
                <a:solidFill>
                  <a:srgbClr val="3A4050"/>
                </a:solidFill>
                <a:latin typeface="Microsoft YaHei"/>
                <a:ea typeface="Microsoft YaHei"/>
              </a:rPr>
              <a:t xml:space="preserve"> API</a:t>
            </a:r>
            <a:r>
              <a:rPr lang="zh-CN" sz="788">
                <a:solidFill>
                  <a:srgbClr val="3A4050"/>
                </a:solidFill>
                <a:latin typeface="Microsoft YaHei"/>
                <a:ea typeface="Microsoft YaHei"/>
              </a:rPr>
              <a:t>，商务与合规是否已通</a:t>
            </a:r>
            <a:endParaRPr/>
          </a:p>
        </p:txBody>
      </p:sp>
      <p:sp>
        <p:nvSpPr>
          <p:cNvPr id="583" name=""/>
          <p:cNvSpPr/>
          <p:nvPr/>
        </p:nvSpPr>
        <p:spPr>
          <a:xfrm rot="0" flipH="0" flipV="0">
            <a:off x="9201150" y="3181350"/>
            <a:ext cx="2381250" cy="457200"/>
          </a:xfrm>
          <a:prstGeom prst="roundRect">
            <a:avLst>
              <a:gd name="adj" fmla="val 6250"/>
            </a:avLst>
          </a:prstGeom>
          <a:solidFill>
            <a:srgbClr val="FFF3EE"/>
          </a:solidFill>
          <a:ln/>
        </p:spPr>
        <p:txBody>
          <a:bodyPr/>
          <a:p/>
        </p:txBody>
      </p:sp>
      <p:sp>
        <p:nvSpPr>
          <p:cNvPr id="584" name="" descr="{&quot;isTemplate&quot;:true,&quot;type&quot;:&quot;text&quot;}"/>
          <p:cNvSpPr txBox="1"/>
          <p:nvPr/>
        </p:nvSpPr>
        <p:spPr>
          <a:xfrm rot="0" flipH="0" flipV="0">
            <a:off x="9305925" y="3333750"/>
            <a:ext cx="2171700" cy="161925"/>
          </a:xfrm>
          <a:prstGeom prst="rect"/>
        </p:spPr>
        <p:txBody>
          <a:bodyPr wrap="none" lIns="0" tIns="0" rIns="0" bIns="0"/>
          <a:p>
            <a:pPr>
              <a:lnSpc>
                <a:spcPct val="130000"/>
              </a:lnSpc>
            </a:pPr>
            <a:r>
              <a:rPr lang="zh-CN" sz="788" b="1">
                <a:solidFill>
                  <a:srgbClr val="C43A17"/>
                </a:solidFill>
                <a:latin typeface="Microsoft YaHei"/>
                <a:ea typeface="Microsoft YaHei"/>
              </a:rPr>
              <a:t>无</a:t>
            </a:r>
            <a:r>
              <a:rPr lang="en-US" sz="788" b="1">
                <a:solidFill>
                  <a:srgbClr val="C43A17"/>
                </a:solidFill>
                <a:latin typeface="Microsoft YaHei"/>
                <a:ea typeface="Microsoft YaHei"/>
              </a:rPr>
              <a:t xml:space="preserve"> · </a:t>
            </a:r>
            <a:r>
              <a:rPr lang="zh-CN" sz="788" b="1">
                <a:solidFill>
                  <a:srgbClr val="C43A17"/>
                </a:solidFill>
                <a:latin typeface="Microsoft YaHei"/>
                <a:ea typeface="Microsoft YaHei"/>
              </a:rPr>
              <a:t>需在蓝图层定部署形态</a:t>
            </a:r>
            <a:endParaRPr/>
          </a:p>
        </p:txBody>
      </p:sp>
      <p:sp>
        <p:nvSpPr>
          <p:cNvPr id="585" name=""/>
          <p:cNvSpPr/>
          <p:nvPr/>
        </p:nvSpPr>
        <p:spPr>
          <a:xfrm rot="0" flipH="0" flipV="0">
            <a:off x="647700" y="3686175"/>
            <a:ext cx="10972800" cy="466725"/>
          </a:xfrm>
          <a:prstGeom prst="roundRect">
            <a:avLst>
              <a:gd name="adj" fmla="val 8163"/>
            </a:avLst>
          </a:prstGeom>
          <a:solidFill>
            <a:srgbClr val="F7F7F8"/>
          </a:solidFill>
          <a:ln/>
        </p:spPr>
        <p:txBody>
          <a:bodyPr/>
          <a:p/>
        </p:txBody>
      </p:sp>
      <p:sp>
        <p:nvSpPr>
          <p:cNvPr id="586" name=""/>
          <p:cNvSpPr/>
          <p:nvPr/>
        </p:nvSpPr>
        <p:spPr>
          <a:xfrm rot="0" flipH="0" flipV="0">
            <a:off x="647700" y="3686175"/>
            <a:ext cx="10972800" cy="466725"/>
          </a:xfrm>
          <a:custGeom>
            <a:pathLst>
              <a:path w="1152" h="49">
                <a:moveTo>
                  <a:pt x="4" y="49"/>
                </a:moveTo>
                <a:cubicBezTo>
                  <a:pt x="2" y="49"/>
                  <a:pt x="0" y="47"/>
                  <a:pt x="0" y="45"/>
                </a:cubicBezTo>
                <a:lnTo>
                  <a:pt x="0" y="4"/>
                </a:lnTo>
                <a:cubicBezTo>
                  <a:pt x="0" y="2"/>
                  <a:pt x="2" y="0"/>
                  <a:pt x="4" y="0"/>
                </a:cubicBezTo>
                <a:lnTo>
                  <a:pt x="4" y="49"/>
                </a:lnTo>
                <a:close/>
              </a:path>
            </a:pathLst>
          </a:custGeom>
          <a:solidFill>
            <a:srgbClr val="D2531A"/>
          </a:solidFill>
          <a:ln/>
        </p:spPr>
        <p:txBody>
          <a:bodyPr/>
          <a:p/>
        </p:txBody>
      </p:sp>
      <p:sp>
        <p:nvSpPr>
          <p:cNvPr id="587" name="" descr="{&quot;isTemplate&quot;:true,&quot;type&quot;:&quot;text&quot;}"/>
          <p:cNvSpPr txBox="1"/>
          <p:nvPr/>
        </p:nvSpPr>
        <p:spPr>
          <a:xfrm rot="0" flipH="0" flipV="0">
            <a:off x="762000" y="3848100"/>
            <a:ext cx="990600" cy="152400"/>
          </a:xfrm>
          <a:prstGeom prst="rect"/>
        </p:spPr>
        <p:txBody>
          <a:bodyPr wrap="none" lIns="0" tIns="0" rIns="0" bIns="0"/>
          <a:p>
            <a:pPr>
              <a:lnSpc>
                <a:spcPct val="100000"/>
              </a:lnSpc>
            </a:pPr>
            <a:r>
              <a:rPr lang="zh-CN" sz="975" b="1">
                <a:solidFill>
                  <a:srgbClr val="D2531A"/>
                </a:solidFill>
                <a:latin typeface="Microsoft YaHei"/>
                <a:ea typeface="Microsoft YaHei"/>
              </a:rPr>
              <a:t>向量与检索</a:t>
            </a:r>
            <a:endParaRPr/>
          </a:p>
        </p:txBody>
      </p:sp>
      <p:sp>
        <p:nvSpPr>
          <p:cNvPr id="588" name="" descr="{&quot;isTemplate&quot;:true,&quot;type&quot;:&quot;text&quot;}"/>
          <p:cNvSpPr txBox="1"/>
          <p:nvPr/>
        </p:nvSpPr>
        <p:spPr>
          <a:xfrm rot="0" flipH="0" flipV="0">
            <a:off x="1847850" y="3838575"/>
            <a:ext cx="7258050" cy="171450"/>
          </a:xfrm>
          <a:prstGeom prst="rect"/>
        </p:spPr>
        <p:txBody>
          <a:bodyPr wrap="none" lIns="0" tIns="0" rIns="0" bIns="0"/>
          <a:p>
            <a:pPr>
              <a:lnSpc>
                <a:spcPct val="135000"/>
              </a:lnSpc>
            </a:pPr>
            <a:r>
              <a:rPr lang="zh-CN" sz="788">
                <a:solidFill>
                  <a:srgbClr val="3A4050"/>
                </a:solidFill>
                <a:latin typeface="Microsoft YaHei"/>
                <a:ea typeface="Microsoft YaHei"/>
              </a:rPr>
              <a:t>文档与知识的切片、向量化、检索能力；这是知识库类场景的前置条件</a:t>
            </a:r>
            <a:endParaRPr/>
          </a:p>
        </p:txBody>
      </p:sp>
      <p:sp>
        <p:nvSpPr>
          <p:cNvPr id="589" name=""/>
          <p:cNvSpPr/>
          <p:nvPr/>
        </p:nvSpPr>
        <p:spPr>
          <a:xfrm rot="0" flipH="0" flipV="0">
            <a:off x="9201150" y="3686175"/>
            <a:ext cx="2381250" cy="466725"/>
          </a:xfrm>
          <a:prstGeom prst="roundRect">
            <a:avLst>
              <a:gd name="adj" fmla="val 6122"/>
            </a:avLst>
          </a:prstGeom>
          <a:solidFill>
            <a:srgbClr val="FFF3EE"/>
          </a:solidFill>
          <a:ln/>
        </p:spPr>
        <p:txBody>
          <a:bodyPr/>
          <a:p/>
        </p:txBody>
      </p:sp>
      <p:sp>
        <p:nvSpPr>
          <p:cNvPr id="590" name="" descr="{&quot;isTemplate&quot;:true,&quot;type&quot;:&quot;text&quot;}"/>
          <p:cNvSpPr txBox="1"/>
          <p:nvPr/>
        </p:nvSpPr>
        <p:spPr>
          <a:xfrm rot="0" flipH="0" flipV="0">
            <a:off x="9305925" y="3838575"/>
            <a:ext cx="2171700" cy="161925"/>
          </a:xfrm>
          <a:prstGeom prst="rect"/>
        </p:spPr>
        <p:txBody>
          <a:bodyPr wrap="none" lIns="0" tIns="0" rIns="0" bIns="0"/>
          <a:p>
            <a:pPr>
              <a:lnSpc>
                <a:spcPct val="130000"/>
              </a:lnSpc>
            </a:pPr>
            <a:r>
              <a:rPr lang="zh-CN" sz="788" b="1">
                <a:solidFill>
                  <a:srgbClr val="C43A17"/>
                </a:solidFill>
                <a:latin typeface="Microsoft YaHei"/>
                <a:ea typeface="Microsoft YaHei"/>
              </a:rPr>
              <a:t>半有</a:t>
            </a:r>
            <a:r>
              <a:rPr lang="en-US" sz="788" b="1">
                <a:solidFill>
                  <a:srgbClr val="C43A17"/>
                </a:solidFill>
                <a:latin typeface="Microsoft YaHei"/>
                <a:ea typeface="Microsoft YaHei"/>
              </a:rPr>
              <a:t xml:space="preserve"> · </a:t>
            </a:r>
            <a:r>
              <a:rPr lang="zh-CN" sz="788" b="1">
                <a:solidFill>
                  <a:srgbClr val="C43A17"/>
                </a:solidFill>
                <a:latin typeface="Microsoft YaHei"/>
                <a:ea typeface="Microsoft YaHei"/>
              </a:rPr>
              <a:t>需评估切片工艺与密级继承</a:t>
            </a:r>
            <a:endParaRPr/>
          </a:p>
        </p:txBody>
      </p:sp>
      <p:sp>
        <p:nvSpPr>
          <p:cNvPr id="591" name=""/>
          <p:cNvSpPr/>
          <p:nvPr/>
        </p:nvSpPr>
        <p:spPr>
          <a:xfrm rot="0" flipH="0" flipV="0">
            <a:off x="647700" y="4200525"/>
            <a:ext cx="10972800" cy="457200"/>
          </a:xfrm>
          <a:prstGeom prst="roundRect">
            <a:avLst>
              <a:gd name="adj" fmla="val 8333"/>
            </a:avLst>
          </a:prstGeom>
          <a:solidFill>
            <a:srgbClr val="F7F7F8"/>
          </a:solidFill>
          <a:ln/>
        </p:spPr>
        <p:txBody>
          <a:bodyPr/>
          <a:p/>
        </p:txBody>
      </p:sp>
      <p:sp>
        <p:nvSpPr>
          <p:cNvPr id="592" name=""/>
          <p:cNvSpPr/>
          <p:nvPr/>
        </p:nvSpPr>
        <p:spPr>
          <a:xfrm rot="0" flipH="0" flipV="0">
            <a:off x="647700" y="4200525"/>
            <a:ext cx="10972800" cy="457200"/>
          </a:xfrm>
          <a:custGeom>
            <a:pathLst>
              <a:path w="1152" h="48">
                <a:moveTo>
                  <a:pt x="4" y="48"/>
                </a:moveTo>
                <a:cubicBezTo>
                  <a:pt x="2" y="48"/>
                  <a:pt x="0" y="46"/>
                  <a:pt x="0" y="44"/>
                </a:cubicBezTo>
                <a:lnTo>
                  <a:pt x="0" y="4"/>
                </a:lnTo>
                <a:cubicBezTo>
                  <a:pt x="0" y="2"/>
                  <a:pt x="2" y="0"/>
                  <a:pt x="4" y="0"/>
                </a:cubicBezTo>
                <a:lnTo>
                  <a:pt x="4" y="48"/>
                </a:lnTo>
                <a:close/>
              </a:path>
            </a:pathLst>
          </a:custGeom>
          <a:solidFill>
            <a:srgbClr val="C43A17"/>
          </a:solidFill>
          <a:ln/>
        </p:spPr>
        <p:txBody>
          <a:bodyPr/>
          <a:p/>
        </p:txBody>
      </p:sp>
      <p:sp>
        <p:nvSpPr>
          <p:cNvPr id="593" name="" descr="{&quot;isTemplate&quot;:true,&quot;type&quot;:&quot;text&quot;}"/>
          <p:cNvSpPr txBox="1"/>
          <p:nvPr/>
        </p:nvSpPr>
        <p:spPr>
          <a:xfrm rot="0" flipH="0" flipV="0">
            <a:off x="762000" y="4352925"/>
            <a:ext cx="990600" cy="152400"/>
          </a:xfrm>
          <a:prstGeom prst="rect"/>
        </p:spPr>
        <p:txBody>
          <a:bodyPr wrap="none" lIns="0" tIns="0" rIns="0" bIns="0"/>
          <a:p>
            <a:pPr>
              <a:lnSpc>
                <a:spcPct val="100000"/>
              </a:lnSpc>
            </a:pPr>
            <a:r>
              <a:rPr lang="zh-CN" sz="975" b="1">
                <a:solidFill>
                  <a:srgbClr val="C43A17"/>
                </a:solidFill>
                <a:latin typeface="Microsoft YaHei"/>
                <a:ea typeface="Microsoft YaHei"/>
              </a:rPr>
              <a:t>智能体编排</a:t>
            </a:r>
            <a:endParaRPr/>
          </a:p>
        </p:txBody>
      </p:sp>
      <p:sp>
        <p:nvSpPr>
          <p:cNvPr id="594" name="" descr="{&quot;isTemplate&quot;:true,&quot;type&quot;:&quot;text&quot;}"/>
          <p:cNvSpPr txBox="1"/>
          <p:nvPr/>
        </p:nvSpPr>
        <p:spPr>
          <a:xfrm rot="0" flipH="0" flipV="0">
            <a:off x="1847850" y="4343400"/>
            <a:ext cx="7258050" cy="171450"/>
          </a:xfrm>
          <a:prstGeom prst="rect"/>
        </p:spPr>
        <p:txBody>
          <a:bodyPr wrap="none" lIns="0" tIns="0" rIns="0" bIns="0"/>
          <a:p>
            <a:pPr>
              <a:lnSpc>
                <a:spcPct val="135000"/>
              </a:lnSpc>
            </a:pPr>
            <a:r>
              <a:rPr lang="zh-CN" sz="788">
                <a:solidFill>
                  <a:srgbClr val="3A4050"/>
                </a:solidFill>
                <a:latin typeface="Microsoft YaHei"/>
                <a:ea typeface="Microsoft YaHei"/>
              </a:rPr>
              <a:t>工具白名单、调用编排、状态与记忆管理、人工干预点；决定智能体能不能上线</a:t>
            </a:r>
            <a:endParaRPr/>
          </a:p>
        </p:txBody>
      </p:sp>
      <p:sp>
        <p:nvSpPr>
          <p:cNvPr id="595" name=""/>
          <p:cNvSpPr/>
          <p:nvPr/>
        </p:nvSpPr>
        <p:spPr>
          <a:xfrm rot="0" flipH="0" flipV="0">
            <a:off x="9201150" y="4200525"/>
            <a:ext cx="2381250" cy="457200"/>
          </a:xfrm>
          <a:prstGeom prst="roundRect">
            <a:avLst>
              <a:gd name="adj" fmla="val 6250"/>
            </a:avLst>
          </a:prstGeom>
          <a:solidFill>
            <a:srgbClr val="FFF3EE"/>
          </a:solidFill>
          <a:ln/>
        </p:spPr>
        <p:txBody>
          <a:bodyPr/>
          <a:p/>
        </p:txBody>
      </p:sp>
      <p:sp>
        <p:nvSpPr>
          <p:cNvPr id="596" name="" descr="{&quot;isTemplate&quot;:true,&quot;type&quot;:&quot;text&quot;}"/>
          <p:cNvSpPr txBox="1"/>
          <p:nvPr/>
        </p:nvSpPr>
        <p:spPr>
          <a:xfrm rot="0" flipH="0" flipV="0">
            <a:off x="9305925" y="4352925"/>
            <a:ext cx="2171700" cy="161925"/>
          </a:xfrm>
          <a:prstGeom prst="rect"/>
        </p:spPr>
        <p:txBody>
          <a:bodyPr wrap="none" lIns="0" tIns="0" rIns="0" bIns="0"/>
          <a:p>
            <a:pPr>
              <a:lnSpc>
                <a:spcPct val="130000"/>
              </a:lnSpc>
            </a:pPr>
            <a:r>
              <a:rPr lang="zh-CN" sz="788" b="1">
                <a:solidFill>
                  <a:srgbClr val="C43A17"/>
                </a:solidFill>
                <a:latin typeface="Microsoft YaHei"/>
                <a:ea typeface="Microsoft YaHei"/>
              </a:rPr>
              <a:t>无</a:t>
            </a:r>
            <a:r>
              <a:rPr lang="en-US" sz="788" b="1">
                <a:solidFill>
                  <a:srgbClr val="C43A17"/>
                </a:solidFill>
                <a:latin typeface="Microsoft YaHei"/>
                <a:ea typeface="Microsoft YaHei"/>
              </a:rPr>
              <a:t xml:space="preserve"> · </a:t>
            </a:r>
            <a:r>
              <a:rPr lang="zh-CN" sz="788" b="1">
                <a:solidFill>
                  <a:srgbClr val="C43A17"/>
                </a:solidFill>
                <a:latin typeface="Microsoft YaHei"/>
                <a:ea typeface="Microsoft YaHei"/>
              </a:rPr>
              <a:t>属应用架构范畴</a:t>
            </a:r>
            <a:endParaRPr/>
          </a:p>
        </p:txBody>
      </p:sp>
      <p:sp>
        <p:nvSpPr>
          <p:cNvPr id="597" name=""/>
          <p:cNvSpPr/>
          <p:nvPr/>
        </p:nvSpPr>
        <p:spPr>
          <a:xfrm rot="0" flipH="0" flipV="0">
            <a:off x="647700" y="4705350"/>
            <a:ext cx="10972800" cy="457200"/>
          </a:xfrm>
          <a:prstGeom prst="roundRect">
            <a:avLst>
              <a:gd name="adj" fmla="val 8333"/>
            </a:avLst>
          </a:prstGeom>
          <a:solidFill>
            <a:srgbClr val="F7F7F8"/>
          </a:solidFill>
          <a:ln/>
        </p:spPr>
        <p:txBody>
          <a:bodyPr/>
          <a:p/>
        </p:txBody>
      </p:sp>
      <p:sp>
        <p:nvSpPr>
          <p:cNvPr id="598" name=""/>
          <p:cNvSpPr/>
          <p:nvPr/>
        </p:nvSpPr>
        <p:spPr>
          <a:xfrm rot="0" flipH="0" flipV="0">
            <a:off x="647700" y="4705350"/>
            <a:ext cx="10972800" cy="457200"/>
          </a:xfrm>
          <a:custGeom>
            <a:pathLst>
              <a:path w="1152" h="48">
                <a:moveTo>
                  <a:pt x="4" y="48"/>
                </a:moveTo>
                <a:cubicBezTo>
                  <a:pt x="2" y="48"/>
                  <a:pt x="0" y="46"/>
                  <a:pt x="0" y="44"/>
                </a:cubicBezTo>
                <a:lnTo>
                  <a:pt x="0" y="4"/>
                </a:lnTo>
                <a:cubicBezTo>
                  <a:pt x="0" y="2"/>
                  <a:pt x="2" y="0"/>
                  <a:pt x="4" y="0"/>
                </a:cubicBezTo>
                <a:lnTo>
                  <a:pt x="4" y="48"/>
                </a:lnTo>
                <a:close/>
              </a:path>
            </a:pathLst>
          </a:custGeom>
          <a:solidFill>
            <a:srgbClr val="9E3410"/>
          </a:solidFill>
          <a:ln/>
        </p:spPr>
        <p:txBody>
          <a:bodyPr/>
          <a:p/>
        </p:txBody>
      </p:sp>
      <p:sp>
        <p:nvSpPr>
          <p:cNvPr id="599" name="" descr="{&quot;isTemplate&quot;:true,&quot;type&quot;:&quot;text&quot;}"/>
          <p:cNvSpPr txBox="1"/>
          <p:nvPr/>
        </p:nvSpPr>
        <p:spPr>
          <a:xfrm rot="0" flipH="0" flipV="0">
            <a:off x="762000" y="4857750"/>
            <a:ext cx="990600" cy="152400"/>
          </a:xfrm>
          <a:prstGeom prst="rect"/>
        </p:spPr>
        <p:txBody>
          <a:bodyPr wrap="none" lIns="0" tIns="0" rIns="0" bIns="0"/>
          <a:p>
            <a:pPr>
              <a:lnSpc>
                <a:spcPct val="100000"/>
              </a:lnSpc>
            </a:pPr>
            <a:r>
              <a:rPr lang="zh-CN" sz="975" b="1">
                <a:solidFill>
                  <a:srgbClr val="9E3410"/>
                </a:solidFill>
                <a:latin typeface="Microsoft YaHei"/>
                <a:ea typeface="Microsoft YaHei"/>
              </a:rPr>
              <a:t>数据与治理配套</a:t>
            </a:r>
            <a:endParaRPr/>
          </a:p>
        </p:txBody>
      </p:sp>
      <p:sp>
        <p:nvSpPr>
          <p:cNvPr id="600" name="" descr="{&quot;isTemplate&quot;:true,&quot;type&quot;:&quot;text&quot;}"/>
          <p:cNvSpPr txBox="1"/>
          <p:nvPr/>
        </p:nvSpPr>
        <p:spPr>
          <a:xfrm rot="0" flipH="0" flipV="0">
            <a:off x="1847850" y="4848225"/>
            <a:ext cx="7258050" cy="171450"/>
          </a:xfrm>
          <a:prstGeom prst="rect"/>
        </p:spPr>
        <p:txBody>
          <a:bodyPr wrap="none" lIns="0" tIns="0" rIns="0" bIns="0"/>
          <a:p>
            <a:pPr>
              <a:lnSpc>
                <a:spcPct val="135000"/>
              </a:lnSpc>
            </a:pPr>
            <a:r>
              <a:rPr lang="zh-CN" sz="788">
                <a:solidFill>
                  <a:srgbClr val="3A4050"/>
                </a:solidFill>
                <a:latin typeface="Microsoft YaHei"/>
                <a:ea typeface="Microsoft YaHei"/>
              </a:rPr>
              <a:t>数据权限、血缘、日志、评测集；</a:t>
            </a:r>
            <a:r>
              <a:rPr lang="en-US" sz="788">
                <a:solidFill>
                  <a:srgbClr val="3A4050"/>
                </a:solidFill>
                <a:latin typeface="Microsoft YaHei"/>
                <a:ea typeface="Microsoft YaHei"/>
              </a:rPr>
              <a:t xml:space="preserve">AI </a:t>
            </a:r>
            <a:r>
              <a:rPr lang="zh-CN" sz="788">
                <a:solidFill>
                  <a:srgbClr val="3A4050"/>
                </a:solidFill>
                <a:latin typeface="Microsoft YaHei"/>
                <a:ea typeface="Microsoft YaHei"/>
              </a:rPr>
              <a:t>出错时能不能追责，靠这一项兜底</a:t>
            </a:r>
            <a:endParaRPr/>
          </a:p>
        </p:txBody>
      </p:sp>
      <p:sp>
        <p:nvSpPr>
          <p:cNvPr id="601" name=""/>
          <p:cNvSpPr/>
          <p:nvPr/>
        </p:nvSpPr>
        <p:spPr>
          <a:xfrm rot="0" flipH="0" flipV="0">
            <a:off x="9201150" y="4705350"/>
            <a:ext cx="2381250" cy="457200"/>
          </a:xfrm>
          <a:prstGeom prst="roundRect">
            <a:avLst>
              <a:gd name="adj" fmla="val 6250"/>
            </a:avLst>
          </a:prstGeom>
          <a:solidFill>
            <a:srgbClr val="FFF3EE"/>
          </a:solidFill>
          <a:ln/>
        </p:spPr>
        <p:txBody>
          <a:bodyPr/>
          <a:p/>
        </p:txBody>
      </p:sp>
      <p:sp>
        <p:nvSpPr>
          <p:cNvPr id="602" name="" descr="{&quot;isTemplate&quot;:true,&quot;type&quot;:&quot;text&quot;}"/>
          <p:cNvSpPr txBox="1"/>
          <p:nvPr/>
        </p:nvSpPr>
        <p:spPr>
          <a:xfrm rot="0" flipH="0" flipV="0">
            <a:off x="9305925" y="4857750"/>
            <a:ext cx="2171700" cy="161925"/>
          </a:xfrm>
          <a:prstGeom prst="rect"/>
        </p:spPr>
        <p:txBody>
          <a:bodyPr wrap="none" lIns="0" tIns="0" rIns="0" bIns="0"/>
          <a:p>
            <a:pPr>
              <a:lnSpc>
                <a:spcPct val="130000"/>
              </a:lnSpc>
            </a:pPr>
            <a:r>
              <a:rPr lang="zh-CN" sz="788" b="1">
                <a:solidFill>
                  <a:srgbClr val="C43A17"/>
                </a:solidFill>
                <a:latin typeface="Microsoft YaHei"/>
                <a:ea typeface="Microsoft YaHei"/>
              </a:rPr>
              <a:t>半有</a:t>
            </a:r>
            <a:r>
              <a:rPr lang="en-US" sz="788" b="1">
                <a:solidFill>
                  <a:srgbClr val="C43A17"/>
                </a:solidFill>
                <a:latin typeface="Microsoft YaHei"/>
                <a:ea typeface="Microsoft YaHei"/>
              </a:rPr>
              <a:t xml:space="preserve"> · </a:t>
            </a:r>
            <a:r>
              <a:rPr lang="zh-CN" sz="788" b="1">
                <a:solidFill>
                  <a:srgbClr val="C43A17"/>
                </a:solidFill>
                <a:latin typeface="Microsoft YaHei"/>
                <a:ea typeface="Microsoft YaHei"/>
              </a:rPr>
              <a:t>权限与日志最薄弱</a:t>
            </a:r>
            <a:endParaRPr/>
          </a:p>
        </p:txBody>
      </p:sp>
      <p:sp>
        <p:nvSpPr>
          <p:cNvPr id="603" name=""/>
          <p:cNvSpPr/>
          <p:nvPr/>
        </p:nvSpPr>
        <p:spPr>
          <a:xfrm rot="0" flipH="0" flipV="0">
            <a:off x="647700" y="5238750"/>
            <a:ext cx="3609975" cy="419100"/>
          </a:xfrm>
          <a:prstGeom prst="roundRect">
            <a:avLst>
              <a:gd name="adj" fmla="val 6818"/>
            </a:avLst>
          </a:prstGeom>
          <a:solidFill>
            <a:srgbClr val="0F1423"/>
          </a:solidFill>
          <a:ln/>
        </p:spPr>
        <p:txBody>
          <a:bodyPr/>
          <a:p/>
        </p:txBody>
      </p:sp>
      <p:sp>
        <p:nvSpPr>
          <p:cNvPr id="604" name=""/>
          <p:cNvSpPr/>
          <p:nvPr/>
        </p:nvSpPr>
        <p:spPr>
          <a:xfrm rot="0" flipH="0" flipV="0">
            <a:off x="647700" y="5238750"/>
            <a:ext cx="3609975" cy="419100"/>
          </a:xfrm>
          <a:custGeom>
            <a:pathLst>
              <a:path w="379" h="44">
                <a:moveTo>
                  <a:pt x="4" y="44"/>
                </a:moveTo>
                <a:cubicBezTo>
                  <a:pt x="3" y="44"/>
                  <a:pt x="2" y="44"/>
                  <a:pt x="1" y="43"/>
                </a:cubicBezTo>
                <a:cubicBezTo>
                  <a:pt x="0" y="42"/>
                  <a:pt x="0" y="42"/>
                  <a:pt x="0" y="41"/>
                </a:cubicBezTo>
                <a:lnTo>
                  <a:pt x="0" y="3"/>
                </a:lnTo>
                <a:cubicBezTo>
                  <a:pt x="0" y="1"/>
                  <a:pt x="1" y="0"/>
                  <a:pt x="3" y="0"/>
                </a:cubicBezTo>
                <a:lnTo>
                  <a:pt x="4" y="0"/>
                </a:lnTo>
                <a:close/>
              </a:path>
            </a:pathLst>
          </a:custGeom>
          <a:solidFill>
            <a:srgbClr val="FA4F24"/>
          </a:solidFill>
          <a:ln/>
        </p:spPr>
        <p:txBody>
          <a:bodyPr/>
          <a:p/>
        </p:txBody>
      </p:sp>
      <p:sp>
        <p:nvSpPr>
          <p:cNvPr id="605" name="" descr="{&quot;isTemplate&quot;:true,&quot;type&quot;:&quot;text&quot;}"/>
          <p:cNvSpPr txBox="1"/>
          <p:nvPr/>
        </p:nvSpPr>
        <p:spPr>
          <a:xfrm rot="0" flipH="0" flipV="0">
            <a:off x="771525" y="5295900"/>
            <a:ext cx="3324225" cy="142875"/>
          </a:xfrm>
          <a:prstGeom prst="rect"/>
        </p:spPr>
        <p:txBody>
          <a:bodyPr wrap="none" lIns="0" tIns="0" rIns="0" bIns="0"/>
          <a:p>
            <a:pPr>
              <a:lnSpc>
                <a:spcPct val="100000"/>
              </a:lnSpc>
            </a:pPr>
            <a:r>
              <a:rPr lang="zh-CN" sz="900" b="1">
                <a:solidFill>
                  <a:srgbClr val="FBA15C"/>
                </a:solidFill>
                <a:latin typeface="Microsoft YaHei"/>
                <a:ea typeface="Microsoft YaHei"/>
              </a:rPr>
              <a:t>技术结论只写差距</a:t>
            </a:r>
            <a:endParaRPr/>
          </a:p>
        </p:txBody>
      </p:sp>
      <p:sp>
        <p:nvSpPr>
          <p:cNvPr id="606" name="" descr="{&quot;isTemplate&quot;:true,&quot;type&quot;:&quot;text&quot;}"/>
          <p:cNvSpPr txBox="1"/>
          <p:nvPr/>
        </p:nvSpPr>
        <p:spPr>
          <a:xfrm rot="0" flipH="0" flipV="0">
            <a:off x="771525" y="5457825"/>
            <a:ext cx="3324225" cy="152400"/>
          </a:xfrm>
          <a:prstGeom prst="rect"/>
        </p:spPr>
        <p:txBody>
          <a:bodyPr wrap="none" lIns="0" tIns="0" rIns="0" bIns="0"/>
          <a:p>
            <a:pPr>
              <a:lnSpc>
                <a:spcPct val="130000"/>
              </a:lnSpc>
            </a:pPr>
            <a:r>
              <a:rPr lang="zh-CN" sz="750">
                <a:solidFill>
                  <a:srgbClr val="FFFFFF">
                    <a:alpha val="86000"/>
                  </a:srgbClr>
                </a:solidFill>
                <a:latin typeface="Microsoft YaHei"/>
                <a:ea typeface="Microsoft YaHei"/>
              </a:rPr>
              <a:t>不堆技术名词，写「哪一项缺什么、缺了会挡住哪个场景」</a:t>
            </a:r>
            <a:endParaRPr/>
          </a:p>
        </p:txBody>
      </p:sp>
      <p:sp>
        <p:nvSpPr>
          <p:cNvPr id="607" name=""/>
          <p:cNvSpPr/>
          <p:nvPr/>
        </p:nvSpPr>
        <p:spPr>
          <a:xfrm rot="0" flipH="0" flipV="0">
            <a:off x="4324350" y="5238750"/>
            <a:ext cx="3619500" cy="419100"/>
          </a:xfrm>
          <a:prstGeom prst="roundRect">
            <a:avLst>
              <a:gd name="adj" fmla="val 6818"/>
            </a:avLst>
          </a:prstGeom>
          <a:solidFill>
            <a:srgbClr val="F7F7F8"/>
          </a:solidFill>
          <a:ln/>
        </p:spPr>
        <p:txBody>
          <a:bodyPr/>
          <a:p/>
        </p:txBody>
      </p:sp>
      <p:sp>
        <p:nvSpPr>
          <p:cNvPr id="608" name=""/>
          <p:cNvSpPr/>
          <p:nvPr/>
        </p:nvSpPr>
        <p:spPr>
          <a:xfrm rot="0" flipH="0" flipV="0">
            <a:off x="4324350" y="5238750"/>
            <a:ext cx="3619500" cy="419100"/>
          </a:xfrm>
          <a:custGeom>
            <a:pathLst>
              <a:path w="380" h="44">
                <a:moveTo>
                  <a:pt x="4" y="44"/>
                </a:moveTo>
                <a:cubicBezTo>
                  <a:pt x="3" y="44"/>
                  <a:pt x="2" y="44"/>
                  <a:pt x="1" y="43"/>
                </a:cubicBezTo>
                <a:cubicBezTo>
                  <a:pt x="0" y="42"/>
                  <a:pt x="0" y="42"/>
                  <a:pt x="0" y="41"/>
                </a:cubicBezTo>
                <a:lnTo>
                  <a:pt x="0" y="3"/>
                </a:lnTo>
                <a:cubicBezTo>
                  <a:pt x="0" y="1"/>
                  <a:pt x="1" y="0"/>
                  <a:pt x="3" y="0"/>
                </a:cubicBezTo>
                <a:lnTo>
                  <a:pt x="4" y="0"/>
                </a:lnTo>
                <a:close/>
              </a:path>
            </a:pathLst>
          </a:custGeom>
          <a:solidFill>
            <a:srgbClr val="E0641E"/>
          </a:solidFill>
          <a:ln/>
        </p:spPr>
        <p:txBody>
          <a:bodyPr/>
          <a:p/>
        </p:txBody>
      </p:sp>
      <p:sp>
        <p:nvSpPr>
          <p:cNvPr id="609" name="" descr="{&quot;isTemplate&quot;:true,&quot;type&quot;:&quot;text&quot;}"/>
          <p:cNvSpPr txBox="1"/>
          <p:nvPr/>
        </p:nvSpPr>
        <p:spPr>
          <a:xfrm rot="0" flipH="0" flipV="0">
            <a:off x="4448175" y="5295900"/>
            <a:ext cx="3333750" cy="142875"/>
          </a:xfrm>
          <a:prstGeom prst="rect"/>
        </p:spPr>
        <p:txBody>
          <a:bodyPr wrap="none" lIns="0" tIns="0" rIns="0" bIns="0"/>
          <a:p>
            <a:pPr>
              <a:lnSpc>
                <a:spcPct val="100000"/>
              </a:lnSpc>
            </a:pPr>
            <a:r>
              <a:rPr lang="en-US" sz="900" b="1">
                <a:solidFill>
                  <a:srgbClr val="0F1423"/>
                </a:solidFill>
                <a:latin typeface="Microsoft YaHei"/>
                <a:ea typeface="Microsoft YaHei"/>
              </a:rPr>
              <a:t xml:space="preserve">AI </a:t>
            </a:r>
            <a:r>
              <a:rPr lang="zh-CN" sz="900" b="1">
                <a:solidFill>
                  <a:srgbClr val="0F1423"/>
                </a:solidFill>
                <a:latin typeface="Microsoft YaHei"/>
                <a:ea typeface="Microsoft YaHei"/>
              </a:rPr>
              <a:t>就绪度绑定场景</a:t>
            </a:r>
            <a:endParaRPr/>
          </a:p>
        </p:txBody>
      </p:sp>
      <p:sp>
        <p:nvSpPr>
          <p:cNvPr id="610" name="" descr="{&quot;isTemplate&quot;:true,&quot;type&quot;:&quot;text&quot;}"/>
          <p:cNvSpPr txBox="1"/>
          <p:nvPr/>
        </p:nvSpPr>
        <p:spPr>
          <a:xfrm rot="0" flipH="0" flipV="0">
            <a:off x="4448175" y="5457825"/>
            <a:ext cx="3333750" cy="152400"/>
          </a:xfrm>
          <a:prstGeom prst="rect"/>
        </p:spPr>
        <p:txBody>
          <a:bodyPr wrap="none" lIns="0" tIns="0" rIns="0" bIns="0"/>
          <a:p>
            <a:pPr>
              <a:lnSpc>
                <a:spcPct val="130000"/>
              </a:lnSpc>
            </a:pPr>
            <a:r>
              <a:rPr lang="zh-CN" sz="750">
                <a:solidFill>
                  <a:srgbClr val="5A6070"/>
                </a:solidFill>
                <a:latin typeface="Microsoft YaHei"/>
                <a:ea typeface="Microsoft YaHei"/>
              </a:rPr>
              <a:t>每项就绪度都挂到具体</a:t>
            </a:r>
            <a:r>
              <a:rPr lang="en-US" sz="750">
                <a:solidFill>
                  <a:srgbClr val="5A6070"/>
                </a:solidFill>
                <a:latin typeface="Microsoft YaHei"/>
                <a:ea typeface="Microsoft YaHei"/>
              </a:rPr>
              <a:t xml:space="preserve"> AI </a:t>
            </a:r>
            <a:r>
              <a:rPr lang="zh-CN" sz="750">
                <a:solidFill>
                  <a:srgbClr val="5A6070"/>
                </a:solidFill>
                <a:latin typeface="Microsoft YaHei"/>
                <a:ea typeface="Microsoft YaHei"/>
              </a:rPr>
              <a:t>场景上，避免变成与技术无关的清单</a:t>
            </a:r>
            <a:endParaRPr/>
          </a:p>
        </p:txBody>
      </p:sp>
      <p:sp>
        <p:nvSpPr>
          <p:cNvPr id="611" name=""/>
          <p:cNvSpPr/>
          <p:nvPr/>
        </p:nvSpPr>
        <p:spPr>
          <a:xfrm rot="0" flipH="0" flipV="0">
            <a:off x="8010525" y="5238750"/>
            <a:ext cx="3609975" cy="419100"/>
          </a:xfrm>
          <a:prstGeom prst="roundRect">
            <a:avLst>
              <a:gd name="adj" fmla="val 6818"/>
            </a:avLst>
          </a:prstGeom>
          <a:solidFill>
            <a:srgbClr val="F7F7F8"/>
          </a:solidFill>
          <a:ln/>
        </p:spPr>
        <p:txBody>
          <a:bodyPr/>
          <a:p/>
        </p:txBody>
      </p:sp>
      <p:sp>
        <p:nvSpPr>
          <p:cNvPr id="612" name=""/>
          <p:cNvSpPr/>
          <p:nvPr/>
        </p:nvSpPr>
        <p:spPr>
          <a:xfrm rot="0" flipH="0" flipV="0">
            <a:off x="8010525" y="5238750"/>
            <a:ext cx="3609975" cy="419100"/>
          </a:xfrm>
          <a:custGeom>
            <a:pathLst>
              <a:path w="379" h="44">
                <a:moveTo>
                  <a:pt x="4" y="44"/>
                </a:moveTo>
                <a:cubicBezTo>
                  <a:pt x="3" y="44"/>
                  <a:pt x="2" y="44"/>
                  <a:pt x="1" y="43"/>
                </a:cubicBezTo>
                <a:cubicBezTo>
                  <a:pt x="0" y="42"/>
                  <a:pt x="0" y="42"/>
                  <a:pt x="0" y="41"/>
                </a:cubicBezTo>
                <a:lnTo>
                  <a:pt x="0" y="3"/>
                </a:lnTo>
                <a:cubicBezTo>
                  <a:pt x="0" y="1"/>
                  <a:pt x="1" y="0"/>
                  <a:pt x="3" y="0"/>
                </a:cubicBezTo>
                <a:lnTo>
                  <a:pt x="4" y="0"/>
                </a:lnTo>
                <a:close/>
              </a:path>
            </a:pathLst>
          </a:custGeom>
          <a:solidFill>
            <a:srgbClr val="C43A17"/>
          </a:solidFill>
          <a:ln/>
        </p:spPr>
        <p:txBody>
          <a:bodyPr/>
          <a:p/>
        </p:txBody>
      </p:sp>
      <p:sp>
        <p:nvSpPr>
          <p:cNvPr id="613" name="" descr="{&quot;isTemplate&quot;:true,&quot;type&quot;:&quot;text&quot;}"/>
          <p:cNvSpPr txBox="1"/>
          <p:nvPr/>
        </p:nvSpPr>
        <p:spPr>
          <a:xfrm rot="0" flipH="0" flipV="0">
            <a:off x="8134350" y="5295900"/>
            <a:ext cx="3324225" cy="142875"/>
          </a:xfrm>
          <a:prstGeom prst="rect"/>
        </p:spPr>
        <p:txBody>
          <a:bodyPr wrap="none" lIns="0" tIns="0" rIns="0" bIns="0"/>
          <a:p>
            <a:pPr>
              <a:lnSpc>
                <a:spcPct val="100000"/>
              </a:lnSpc>
            </a:pPr>
            <a:r>
              <a:rPr lang="zh-CN" sz="900" b="1">
                <a:solidFill>
                  <a:srgbClr val="0F1423"/>
                </a:solidFill>
                <a:latin typeface="Microsoft YaHei"/>
                <a:ea typeface="Microsoft YaHei"/>
              </a:rPr>
              <a:t>合规先于能力</a:t>
            </a:r>
            <a:endParaRPr/>
          </a:p>
        </p:txBody>
      </p:sp>
      <p:sp>
        <p:nvSpPr>
          <p:cNvPr id="614" name="" descr="{&quot;isTemplate&quot;:true,&quot;type&quot;:&quot;text&quot;}"/>
          <p:cNvSpPr txBox="1"/>
          <p:nvPr/>
        </p:nvSpPr>
        <p:spPr>
          <a:xfrm rot="0" flipH="0" flipV="0">
            <a:off x="8134350" y="5457825"/>
            <a:ext cx="3324225" cy="152400"/>
          </a:xfrm>
          <a:prstGeom prst="rect"/>
        </p:spPr>
        <p:txBody>
          <a:bodyPr wrap="none" lIns="0" tIns="0" rIns="0" bIns="0"/>
          <a:p>
            <a:pPr>
              <a:lnSpc>
                <a:spcPct val="130000"/>
              </a:lnSpc>
            </a:pPr>
            <a:r>
              <a:rPr lang="zh-CN" sz="750">
                <a:solidFill>
                  <a:srgbClr val="5A6070"/>
                </a:solidFill>
                <a:latin typeface="Microsoft YaHei"/>
                <a:ea typeface="Microsoft YaHei"/>
              </a:rPr>
              <a:t>数据出域与密级限制是硬约束，模型再强也不能突破，评估时先划边界</a:t>
            </a:r>
            <a:endParaRPr/>
          </a:p>
        </p:txBody>
      </p:sp>
      <p:sp>
        <p:nvSpPr>
          <p:cNvPr id="615" name=""/>
          <p:cNvSpPr/>
          <p:nvPr/>
        </p:nvSpPr>
        <p:spPr>
          <a:xfrm rot="0" flipH="0" flipV="0">
            <a:off x="609600" y="5943600"/>
            <a:ext cx="133350" cy="133350"/>
          </a:xfrm>
          <a:prstGeom prst="rect">
            <a:avLst/>
          </a:prstGeom>
          <a:solidFill>
            <a:srgbClr val="FA4F24"/>
          </a:solidFill>
          <a:ln/>
        </p:spPr>
        <p:txBody>
          <a:bodyPr/>
          <a:p/>
        </p:txBody>
      </p:sp>
      <p:sp>
        <p:nvSpPr>
          <p:cNvPr id="616"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617"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18 / 36</a:t>
            </a:r>
            <a:endParaRPr/>
          </a:p>
        </p:txBody>
      </p:sp>
    </p:spTree>
  </p:cSld>
</p:sld>
</file>

<file path=ppt/slides/slide19.xml><?xml version="1.0" encoding="utf-8"?>
<p:sld xmlns:p="http://schemas.openxmlformats.org/presentationml/2006/main" xmlns:a="http://schemas.openxmlformats.org/drawingml/2006/main">
  <p:cSld>
    <p:spTree>
      <p:nvGrpSpPr>
        <p:cNvPr id="618" name="" descr="&lt;Slide style={{ width: 1280, height: 720, background: '#FFFFFF', padding: '24px 64px 0' }}&gt;&#10;    {/* A 区 */}&#10;    &lt;Box style={{ height: 96, flexDirection: 'column', justifyContent: 'flex-start' }}&gt;&#10;        &lt;Text style={{ fontSize: 32, fontWeight: 'bold', color: '#0F1423' }}&gt;&#10;            交付物①《现状分析报告》&lt;span style={{ color: '#FA4F24' }}&gt;结构与自检清单&lt;/span&gt;&#10;        &lt;/Text&gt;&#10;        &lt;Text style={{ fontSize: 19, color: '#8A8F99', marginTop: 7 }}&gt;&#10;            招标 3.4 第 1 项。这一页就是交报告前最后一遍自查的清单&#10;        &lt;/Text&gt;&#10;    &lt;/Box&gt;&#10;    &lt;Box style={{ height: 1, background: '#E8E8E8' }} /&gt;&#10;&#10;    {/* B 区 */}&#10;    &lt;Box style={{ paddingTop: 10, paddingBottom: 6, height: 479, flexDirection: 'column', gap: 8 }}&gt;&#10;        {/* 左：五章结构 */}&#10;        &lt;Box style={{ flex: 1, flexDirection: 'row', gap: 9, alignItems: 'stretch' }}&gt;&#10;            &lt;Box style={{ width: 620, flexDirection: 'column', gap: 6 }}&gt;&#10;                {[&#10;                    { c: '01', t: '调研概况与访谈记录', d: '访谈对象、时间、议题逐条列出；参与部门与访谈覆盖率统计；未覆盖到的岗位单独说明原因', c: '#FA4F24' },&#10;                    { c: '02', t: '业务／数据／系统三维度现状诊断', d: '五维扫描 + 数据四维现状 + 应用集成盘点 + 技术四层与 AI 五项就绪度', c: '#E0641E' },&#10;                    { c: '03', t: '痛点与根因逐项对应分析', d: '编号 PAIN/ROOT 一一对应；追不到根因的标为「现象待观察」，不硬下结论', c: '#C43A17' },&#10;                    { c: '04', t: '现状数据盘点', d: '流程数量、单据台账、岗位角色、系统数据对象、关键指标口径与取数方式', c: '#D2531A' },&#10;                    { c: '05', t: '改进方向与优先级', d: '按业务价值与实现难度排序；标注跨块依赖；明确不建议碰的部分及原因', c: '#9E3410' },&#10;                ].map((x) =&gt; (&#10;                    &lt;Box key={x.c} style={{ flex: 1, background: '#F7F7F8', borderRadius: 4, borderLeft: '4px solid ' + x.c, padding: '0 14px', flexDirection: 'row', alignItems: 'center', gap: 11 }}&gt;&#10;                        &lt;Text style={{ fontSize: 17, fontWeight: 'bold', color: x.c, width: 26 }}&gt;{x.c}&lt;/Text&gt;&#10;                        &lt;Box style={{ flex: 1 }}&gt;&#10;                            &lt;Text style={{ fontSize: 13, fontWeight: 'bold', color: '#0F1423' }}&gt;{x.t}&lt;/Text&gt;&#10;                            &lt;Text style={{ fontSize: 10.5, color: '#5A6070', lineHeight: 1.35, marginTop: 3 }}&gt;{x.d}&lt;/Text&gt;&#10;                        &lt;/Box&gt;&#10;                    &lt;/Box&gt;&#10;                ))}&#10;            &lt;/Box&gt;&#10;&#10;            {/* 右：自检清单 */}&#10;            &lt;Box style={{ flex: 1, background: '#0F1423', borderRadius: 4, padding: '15px 18px', flexDirection: 'column' }}&gt;&#10;                &lt;Text style={{ fontSize: 12.5, color: '#FBA15C', letterSpacing: 1 }}&gt;交报告前八条自检（逐条打勾）&lt;/Text&gt;&#10;                {[&#10;                    '七个业务块 E1–E5 / S1–S2 是否每块都有流程清单，不是只扫了熟悉的块',&#10;                    '每条痛点是否都有编号，且能对应到至少一条根因',&#10;                    '每条根因是否追到了组织/规则/权责层，不是停在「沟通不畅」',&#10;                    '九个部门是否都有访谈记录，公司领导层是否单独成节',&#10;                    '单据台账是否收了实际样表，而不是标准流程文档里的描述',&#10;                    '指标口径是否逐个标了冲突项，而不是笼统写「口径不统一」',&#10;                    'AI 五项就绪度是否都挂到了具体场景上',&#10;                    '改进方向是否每条都有对应痛点编号（可上不可下）',&#10;                ].map((t, i) =&gt; (&#10;                    &lt;Box key={t} style={{ flexDirection: 'row', alignItems: 'flex-start', gap: 9, flex: 1, marginTop: i === 0 ? 11 : 4 }}&gt;&#10;                        &lt;Box style={{ width: 16, height: 16, borderRadius: 2, border: '1px solid #FBA15C', alignItems: 'center', justifyContent: 'center', flexDirection: 'row', marginTop: 1 }}&gt;&#10;                            &lt;Text style={{ fontSize: 10, color: '#FBA15C' }}&gt;✓&lt;/Text&gt;&#10;                        &lt;/Box&gt;&#10;                        &lt;Text style={{ fontSize: 11.5, color: 'rgba(255,255,255,0.88)', flex: 1, lineHeight: 1.35 }}&gt;{t}&lt;/Text&gt;&#10;                    &lt;/Box&gt;&#10;                ))}&#10;                &lt;Box style={{ height: 32, background: '#FA4F24', borderRadius: 3, padding: '0 12px', flexDirection: 'row', alignItems: 'center', marginTop: 9 }}&gt;&#10;                    &lt;Text style={{ fontSize: 11.5, color: '#FFFFFF', lineHeight: 1.35 }}&gt;&#10;                        八条全过才能交 —— 报告里任何一条不过，评审现场一定会被人指出来&#10;                    &lt;/Text&gt;&#10;                &lt;/Box&gt;&#10;            &lt;/Box&gt;&#10;        &lt;/Box&gt;&#10;&#10;        {/* 下：形式要求 */}&#10;        &lt;Box style={{ height: 34, background: '#FFF3EE', borderRadius: 4, borderLeft: '4px solid #FA4F24', padding: '0 16px', flexDirection: 'row', alignItems: 'center', gap: 14 }}&gt;&#10;            &lt;Text style={{ fontSize: 12, fontWeight: 'bold', color: '#C43A17', width: 118 }}&gt;交付形式&lt;/Text&gt;&#10;            &lt;Text style={{ fontSize: 12, color: '#3A4050', flex: 1, lineHeight: 1.35 }}&gt;&#10;                文档 + 汇报（招标 3.4 第 1 项）。文档需含全部明细清单，汇报控制在管理层能听懂并当场决策的粒度；两者的数字必须完全一致，不允许汇报版另出一套数。&#10;            &lt;/Text&gt;&#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19 / 36&lt;/Text&gt;&#10;    &lt;/Box&gt;&#10;&lt;/Slide&gt;&#10;"/>
        <p:cNvGrpSpPr/>
        <p:nvPr/>
      </p:nvGrpSpPr>
      <p:grpSpPr>
        <a:xfrm>
          <a:off x="0" y="0"/>
          <a:ext cx="0" cy="0"/>
          <a:chOff x="0" y="0"/>
          <a:chExt cx="0" cy="0"/>
        </a:xfrm>
      </p:grpSpPr>
      <p:sp>
        <p:nvSpPr>
          <p:cNvPr id="619" name=""/>
          <p:cNvSpPr/>
          <p:nvPr/>
        </p:nvSpPr>
        <p:spPr>
          <a:xfrm rot="0" flipH="0" flipV="0">
            <a:off x="0" y="0"/>
            <a:ext cx="12192000" cy="6858000"/>
          </a:xfrm>
          <a:prstGeom prst="rect">
            <a:avLst/>
          </a:prstGeom>
          <a:solidFill>
            <a:srgbClr val="FFFFFF"/>
          </a:solidFill>
          <a:ln/>
        </p:spPr>
        <p:txBody>
          <a:bodyPr/>
          <a:p/>
        </p:txBody>
      </p:sp>
      <p:sp>
        <p:nvSpPr>
          <p:cNvPr id="620"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交付物①《现状分析报告》</a:t>
            </a:r>
            <a:r>
              <a:rPr lang="zh-CN" sz="2400" b="1">
                <a:solidFill>
                  <a:srgbClr val="FA4F24"/>
                </a:solidFill>
                <a:latin typeface="Microsoft YaHei"/>
                <a:ea typeface="Microsoft YaHei"/>
              </a:rPr>
              <a:t>结构与自检清单</a:t>
            </a:r>
            <a:endParaRPr/>
          </a:p>
        </p:txBody>
      </p:sp>
      <p:sp>
        <p:nvSpPr>
          <p:cNvPr id="621"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3.4 </a:t>
            </a:r>
            <a:r>
              <a:rPr lang="zh-CN" sz="1425">
                <a:solidFill>
                  <a:srgbClr val="8A8F99"/>
                </a:solidFill>
                <a:latin typeface="Microsoft YaHei"/>
                <a:ea typeface="Microsoft YaHei"/>
              </a:rPr>
              <a:t>第</a:t>
            </a:r>
            <a:r>
              <a:rPr lang="en-US" sz="1425">
                <a:solidFill>
                  <a:srgbClr val="8A8F99"/>
                </a:solidFill>
                <a:latin typeface="Microsoft YaHei"/>
                <a:ea typeface="Microsoft YaHei"/>
              </a:rPr>
              <a:t xml:space="preserve"> 1 </a:t>
            </a:r>
            <a:r>
              <a:rPr lang="zh-CN" sz="1425">
                <a:solidFill>
                  <a:srgbClr val="8A8F99"/>
                </a:solidFill>
                <a:latin typeface="Microsoft YaHei"/>
                <a:ea typeface="Microsoft YaHei"/>
              </a:rPr>
              <a:t>项。这一页就是交报告前最后一遍自查的清单</a:t>
            </a:r>
            <a:endParaRPr/>
          </a:p>
        </p:txBody>
      </p:sp>
      <p:sp>
        <p:nvSpPr>
          <p:cNvPr id="622" name=""/>
          <p:cNvSpPr/>
          <p:nvPr/>
        </p:nvSpPr>
        <p:spPr>
          <a:xfrm rot="0" flipH="0" flipV="0">
            <a:off x="609600" y="1143000"/>
            <a:ext cx="10972800" cy="9525"/>
          </a:xfrm>
          <a:prstGeom prst="rect">
            <a:avLst/>
          </a:prstGeom>
          <a:solidFill>
            <a:srgbClr val="E8E8E8"/>
          </a:solidFill>
          <a:ln/>
        </p:spPr>
        <p:txBody>
          <a:bodyPr/>
          <a:p/>
        </p:txBody>
      </p:sp>
      <p:sp>
        <p:nvSpPr>
          <p:cNvPr id="623" name=""/>
          <p:cNvSpPr/>
          <p:nvPr/>
        </p:nvSpPr>
        <p:spPr>
          <a:xfrm rot="0" flipH="0" flipV="0">
            <a:off x="647700" y="1247775"/>
            <a:ext cx="5905500" cy="752475"/>
          </a:xfrm>
          <a:prstGeom prst="roundRect">
            <a:avLst>
              <a:gd name="adj" fmla="val 5063"/>
            </a:avLst>
          </a:prstGeom>
          <a:solidFill>
            <a:srgbClr val="F7F7F8"/>
          </a:solidFill>
          <a:ln/>
        </p:spPr>
        <p:txBody>
          <a:bodyPr/>
          <a:p/>
        </p:txBody>
      </p:sp>
      <p:sp>
        <p:nvSpPr>
          <p:cNvPr id="624" name=""/>
          <p:cNvSpPr/>
          <p:nvPr/>
        </p:nvSpPr>
        <p:spPr>
          <a:xfrm rot="0" flipH="0" flipV="0">
            <a:off x="647700" y="1247775"/>
            <a:ext cx="5905500" cy="752475"/>
          </a:xfrm>
          <a:custGeom>
            <a:pathLst>
              <a:path w="620" h="79">
                <a:moveTo>
                  <a:pt x="4" y="79"/>
                </a:moveTo>
                <a:cubicBezTo>
                  <a:pt x="2" y="79"/>
                  <a:pt x="0" y="77"/>
                  <a:pt x="0" y="75"/>
                </a:cubicBezTo>
                <a:lnTo>
                  <a:pt x="0" y="4"/>
                </a:lnTo>
                <a:cubicBezTo>
                  <a:pt x="0" y="2"/>
                  <a:pt x="2" y="0"/>
                  <a:pt x="4" y="0"/>
                </a:cubicBezTo>
                <a:lnTo>
                  <a:pt x="4" y="79"/>
                </a:lnTo>
                <a:close/>
              </a:path>
            </a:pathLst>
          </a:custGeom>
          <a:solidFill>
            <a:srgbClr val="FA4F24"/>
          </a:solidFill>
          <a:ln/>
        </p:spPr>
        <p:txBody>
          <a:bodyPr/>
          <a:p/>
        </p:txBody>
      </p:sp>
      <p:sp>
        <p:nvSpPr>
          <p:cNvPr id="625" name="" descr="{&quot;isTemplate&quot;:true,&quot;type&quot;:&quot;text&quot;}"/>
          <p:cNvSpPr txBox="1"/>
          <p:nvPr/>
        </p:nvSpPr>
        <p:spPr>
          <a:xfrm rot="0" flipH="0" flipV="0">
            <a:off x="781050" y="1524000"/>
            <a:ext cx="247650" cy="200025"/>
          </a:xfrm>
          <a:prstGeom prst="rect"/>
        </p:spPr>
        <p:txBody>
          <a:bodyPr wrap="none" lIns="0" tIns="0" rIns="0" bIns="0"/>
          <a:p>
            <a:pPr>
              <a:lnSpc>
                <a:spcPct val="100000"/>
              </a:lnSpc>
            </a:pPr>
            <a:r>
              <a:rPr lang="en-US" sz="1275" b="1">
                <a:solidFill>
                  <a:srgbClr val="FA4F24"/>
                </a:solidFill>
                <a:latin typeface="Microsoft YaHei"/>
                <a:ea typeface="Microsoft YaHei"/>
              </a:rPr>
              <a:t>#FA4F24</a:t>
            </a:r>
            <a:endParaRPr/>
          </a:p>
        </p:txBody>
      </p:sp>
      <p:sp>
        <p:nvSpPr>
          <p:cNvPr id="626" name="" descr="{&quot;isTemplate&quot;:true,&quot;type&quot;:&quot;text&quot;}"/>
          <p:cNvSpPr txBox="1"/>
          <p:nvPr/>
        </p:nvSpPr>
        <p:spPr>
          <a:xfrm rot="0" flipH="0" flipV="0">
            <a:off x="1133475" y="1447800"/>
            <a:ext cx="5248275" cy="152400"/>
          </a:xfrm>
          <a:prstGeom prst="rect"/>
        </p:spPr>
        <p:txBody>
          <a:bodyPr wrap="none" lIns="0" tIns="0" rIns="0" bIns="0"/>
          <a:p>
            <a:pPr>
              <a:lnSpc>
                <a:spcPct val="100000"/>
              </a:lnSpc>
            </a:pPr>
            <a:r>
              <a:rPr lang="zh-CN" sz="975" b="1">
                <a:solidFill>
                  <a:srgbClr val="0F1423"/>
                </a:solidFill>
                <a:latin typeface="Microsoft YaHei"/>
                <a:ea typeface="Microsoft YaHei"/>
              </a:rPr>
              <a:t>调研概况与访谈记录</a:t>
            </a:r>
            <a:endParaRPr/>
          </a:p>
        </p:txBody>
      </p:sp>
      <p:sp>
        <p:nvSpPr>
          <p:cNvPr id="627" name="" descr="{&quot;isTemplate&quot;:true,&quot;type&quot;:&quot;text&quot;}"/>
          <p:cNvSpPr txBox="1"/>
          <p:nvPr/>
        </p:nvSpPr>
        <p:spPr>
          <a:xfrm rot="0" flipH="0" flipV="0">
            <a:off x="1133475" y="1628775"/>
            <a:ext cx="5248275" cy="171450"/>
          </a:xfrm>
          <a:prstGeom prst="rect"/>
        </p:spPr>
        <p:txBody>
          <a:bodyPr wrap="none" lIns="0" tIns="0" rIns="0" bIns="0"/>
          <a:p>
            <a:pPr>
              <a:lnSpc>
                <a:spcPct val="135000"/>
              </a:lnSpc>
            </a:pPr>
            <a:r>
              <a:rPr lang="zh-CN" sz="788">
                <a:solidFill>
                  <a:srgbClr val="5A6070"/>
                </a:solidFill>
                <a:latin typeface="Microsoft YaHei"/>
                <a:ea typeface="Microsoft YaHei"/>
              </a:rPr>
              <a:t>访谈对象、时间、议题逐条列出；参与部门与访谈覆盖率统计；未覆盖到的岗位单独说明原因</a:t>
            </a:r>
            <a:endParaRPr/>
          </a:p>
        </p:txBody>
      </p:sp>
      <p:sp>
        <p:nvSpPr>
          <p:cNvPr id="628" name=""/>
          <p:cNvSpPr/>
          <p:nvPr/>
        </p:nvSpPr>
        <p:spPr>
          <a:xfrm rot="0" flipH="0" flipV="0">
            <a:off x="647700" y="2057400"/>
            <a:ext cx="5905500" cy="762000"/>
          </a:xfrm>
          <a:prstGeom prst="roundRect">
            <a:avLst>
              <a:gd name="adj" fmla="val 5000"/>
            </a:avLst>
          </a:prstGeom>
          <a:solidFill>
            <a:srgbClr val="F7F7F8"/>
          </a:solidFill>
          <a:ln/>
        </p:spPr>
        <p:txBody>
          <a:bodyPr/>
          <a:p/>
        </p:txBody>
      </p:sp>
      <p:sp>
        <p:nvSpPr>
          <p:cNvPr id="629" name=""/>
          <p:cNvSpPr/>
          <p:nvPr/>
        </p:nvSpPr>
        <p:spPr>
          <a:xfrm rot="0" flipH="0" flipV="0">
            <a:off x="647700" y="2057400"/>
            <a:ext cx="5905500" cy="762000"/>
          </a:xfrm>
          <a:custGeom>
            <a:pathLst>
              <a:path w="620" h="80">
                <a:moveTo>
                  <a:pt x="4" y="80"/>
                </a:moveTo>
                <a:cubicBezTo>
                  <a:pt x="2" y="80"/>
                  <a:pt x="0" y="78"/>
                  <a:pt x="0" y="76"/>
                </a:cubicBezTo>
                <a:lnTo>
                  <a:pt x="0" y="4"/>
                </a:lnTo>
                <a:cubicBezTo>
                  <a:pt x="0" y="2"/>
                  <a:pt x="2" y="0"/>
                  <a:pt x="4" y="0"/>
                </a:cubicBezTo>
                <a:lnTo>
                  <a:pt x="4" y="80"/>
                </a:lnTo>
                <a:close/>
              </a:path>
            </a:pathLst>
          </a:custGeom>
          <a:solidFill>
            <a:srgbClr val="E0641E"/>
          </a:solidFill>
          <a:ln/>
        </p:spPr>
        <p:txBody>
          <a:bodyPr/>
          <a:p/>
        </p:txBody>
      </p:sp>
      <p:sp>
        <p:nvSpPr>
          <p:cNvPr id="630" name="" descr="{&quot;isTemplate&quot;:true,&quot;type&quot;:&quot;text&quot;}"/>
          <p:cNvSpPr txBox="1"/>
          <p:nvPr/>
        </p:nvSpPr>
        <p:spPr>
          <a:xfrm rot="0" flipH="0" flipV="0">
            <a:off x="781050" y="2343150"/>
            <a:ext cx="247650" cy="200025"/>
          </a:xfrm>
          <a:prstGeom prst="rect"/>
        </p:spPr>
        <p:txBody>
          <a:bodyPr wrap="none" lIns="0" tIns="0" rIns="0" bIns="0"/>
          <a:p>
            <a:pPr>
              <a:lnSpc>
                <a:spcPct val="100000"/>
              </a:lnSpc>
            </a:pPr>
            <a:r>
              <a:rPr lang="en-US" sz="1275" b="1">
                <a:solidFill>
                  <a:srgbClr val="E0641E"/>
                </a:solidFill>
                <a:latin typeface="Microsoft YaHei"/>
                <a:ea typeface="Microsoft YaHei"/>
              </a:rPr>
              <a:t>#E0641E</a:t>
            </a:r>
            <a:endParaRPr/>
          </a:p>
        </p:txBody>
      </p:sp>
      <p:sp>
        <p:nvSpPr>
          <p:cNvPr id="631" name="" descr="{&quot;isTemplate&quot;:true,&quot;type&quot;:&quot;text&quot;}"/>
          <p:cNvSpPr txBox="1"/>
          <p:nvPr/>
        </p:nvSpPr>
        <p:spPr>
          <a:xfrm rot="0" flipH="0" flipV="0">
            <a:off x="1133475" y="2266950"/>
            <a:ext cx="5248275" cy="152400"/>
          </a:xfrm>
          <a:prstGeom prst="rect"/>
        </p:spPr>
        <p:txBody>
          <a:bodyPr wrap="none" lIns="0" tIns="0" rIns="0" bIns="0"/>
          <a:p>
            <a:pPr>
              <a:lnSpc>
                <a:spcPct val="100000"/>
              </a:lnSpc>
            </a:pPr>
            <a:r>
              <a:rPr lang="zh-CN" sz="975" b="1">
                <a:solidFill>
                  <a:srgbClr val="0F1423"/>
                </a:solidFill>
                <a:latin typeface="Microsoft YaHei"/>
                <a:ea typeface="Microsoft YaHei"/>
              </a:rPr>
              <a:t>业务／数据／系统三维度现状诊断</a:t>
            </a:r>
            <a:endParaRPr/>
          </a:p>
        </p:txBody>
      </p:sp>
      <p:sp>
        <p:nvSpPr>
          <p:cNvPr id="632" name="" descr="{&quot;isTemplate&quot;:true,&quot;type&quot;:&quot;text&quot;}"/>
          <p:cNvSpPr txBox="1"/>
          <p:nvPr/>
        </p:nvSpPr>
        <p:spPr>
          <a:xfrm rot="0" flipH="0" flipV="0">
            <a:off x="1133475" y="2447925"/>
            <a:ext cx="5248275" cy="171450"/>
          </a:xfrm>
          <a:prstGeom prst="rect"/>
        </p:spPr>
        <p:txBody>
          <a:bodyPr wrap="none" lIns="0" tIns="0" rIns="0" bIns="0"/>
          <a:p>
            <a:pPr>
              <a:lnSpc>
                <a:spcPct val="135000"/>
              </a:lnSpc>
            </a:pPr>
            <a:r>
              <a:rPr lang="zh-CN" sz="788">
                <a:solidFill>
                  <a:srgbClr val="5A6070"/>
                </a:solidFill>
                <a:latin typeface="Microsoft YaHei"/>
                <a:ea typeface="Microsoft YaHei"/>
              </a:rPr>
              <a:t>五维扫描</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数据四维现状</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应用集成盘点</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技术四层与</a:t>
            </a:r>
            <a:r>
              <a:rPr lang="en-US" sz="788">
                <a:solidFill>
                  <a:srgbClr val="5A6070"/>
                </a:solidFill>
                <a:latin typeface="Microsoft YaHei"/>
                <a:ea typeface="Microsoft YaHei"/>
              </a:rPr>
              <a:t xml:space="preserve"> AI </a:t>
            </a:r>
            <a:r>
              <a:rPr lang="zh-CN" sz="788">
                <a:solidFill>
                  <a:srgbClr val="5A6070"/>
                </a:solidFill>
                <a:latin typeface="Microsoft YaHei"/>
                <a:ea typeface="Microsoft YaHei"/>
              </a:rPr>
              <a:t>五项就绪度</a:t>
            </a:r>
            <a:endParaRPr/>
          </a:p>
        </p:txBody>
      </p:sp>
      <p:sp>
        <p:nvSpPr>
          <p:cNvPr id="633" name=""/>
          <p:cNvSpPr/>
          <p:nvPr/>
        </p:nvSpPr>
        <p:spPr>
          <a:xfrm rot="0" flipH="0" flipV="0">
            <a:off x="647700" y="2876550"/>
            <a:ext cx="5905500" cy="752475"/>
          </a:xfrm>
          <a:prstGeom prst="roundRect">
            <a:avLst>
              <a:gd name="adj" fmla="val 5063"/>
            </a:avLst>
          </a:prstGeom>
          <a:solidFill>
            <a:srgbClr val="F7F7F8"/>
          </a:solidFill>
          <a:ln/>
        </p:spPr>
        <p:txBody>
          <a:bodyPr/>
          <a:p/>
        </p:txBody>
      </p:sp>
      <p:sp>
        <p:nvSpPr>
          <p:cNvPr id="634" name=""/>
          <p:cNvSpPr/>
          <p:nvPr/>
        </p:nvSpPr>
        <p:spPr>
          <a:xfrm rot="0" flipH="0" flipV="0">
            <a:off x="647700" y="2876550"/>
            <a:ext cx="5905500" cy="752475"/>
          </a:xfrm>
          <a:custGeom>
            <a:pathLst>
              <a:path w="620" h="79">
                <a:moveTo>
                  <a:pt x="4" y="79"/>
                </a:moveTo>
                <a:cubicBezTo>
                  <a:pt x="2" y="79"/>
                  <a:pt x="0" y="77"/>
                  <a:pt x="0" y="75"/>
                </a:cubicBezTo>
                <a:lnTo>
                  <a:pt x="0" y="4"/>
                </a:lnTo>
                <a:cubicBezTo>
                  <a:pt x="0" y="2"/>
                  <a:pt x="2" y="0"/>
                  <a:pt x="4" y="0"/>
                </a:cubicBezTo>
                <a:lnTo>
                  <a:pt x="4" y="79"/>
                </a:lnTo>
                <a:close/>
              </a:path>
            </a:pathLst>
          </a:custGeom>
          <a:solidFill>
            <a:srgbClr val="C43A17"/>
          </a:solidFill>
          <a:ln/>
        </p:spPr>
        <p:txBody>
          <a:bodyPr/>
          <a:p/>
        </p:txBody>
      </p:sp>
      <p:sp>
        <p:nvSpPr>
          <p:cNvPr id="635" name="" descr="{&quot;isTemplate&quot;:true,&quot;type&quot;:&quot;text&quot;}"/>
          <p:cNvSpPr txBox="1"/>
          <p:nvPr/>
        </p:nvSpPr>
        <p:spPr>
          <a:xfrm rot="0" flipH="0" flipV="0">
            <a:off x="781050" y="3152775"/>
            <a:ext cx="247650" cy="200025"/>
          </a:xfrm>
          <a:prstGeom prst="rect"/>
        </p:spPr>
        <p:txBody>
          <a:bodyPr wrap="none" lIns="0" tIns="0" rIns="0" bIns="0"/>
          <a:p>
            <a:pPr>
              <a:lnSpc>
                <a:spcPct val="100000"/>
              </a:lnSpc>
            </a:pPr>
            <a:r>
              <a:rPr lang="en-US" sz="1275" b="1">
                <a:solidFill>
                  <a:srgbClr val="C43A17"/>
                </a:solidFill>
                <a:latin typeface="Microsoft YaHei"/>
                <a:ea typeface="Microsoft YaHei"/>
              </a:rPr>
              <a:t>#C43A17</a:t>
            </a:r>
            <a:endParaRPr/>
          </a:p>
        </p:txBody>
      </p:sp>
      <p:sp>
        <p:nvSpPr>
          <p:cNvPr id="636" name="" descr="{&quot;isTemplate&quot;:true,&quot;type&quot;:&quot;text&quot;}"/>
          <p:cNvSpPr txBox="1"/>
          <p:nvPr/>
        </p:nvSpPr>
        <p:spPr>
          <a:xfrm rot="0" flipH="0" flipV="0">
            <a:off x="1133475" y="3076575"/>
            <a:ext cx="5248275" cy="152400"/>
          </a:xfrm>
          <a:prstGeom prst="rect"/>
        </p:spPr>
        <p:txBody>
          <a:bodyPr wrap="none" lIns="0" tIns="0" rIns="0" bIns="0"/>
          <a:p>
            <a:pPr>
              <a:lnSpc>
                <a:spcPct val="100000"/>
              </a:lnSpc>
            </a:pPr>
            <a:r>
              <a:rPr lang="zh-CN" sz="975" b="1">
                <a:solidFill>
                  <a:srgbClr val="0F1423"/>
                </a:solidFill>
                <a:latin typeface="Microsoft YaHei"/>
                <a:ea typeface="Microsoft YaHei"/>
              </a:rPr>
              <a:t>痛点与根因逐项对应分析</a:t>
            </a:r>
            <a:endParaRPr/>
          </a:p>
        </p:txBody>
      </p:sp>
      <p:sp>
        <p:nvSpPr>
          <p:cNvPr id="637" name="" descr="{&quot;isTemplate&quot;:true,&quot;type&quot;:&quot;text&quot;}"/>
          <p:cNvSpPr txBox="1"/>
          <p:nvPr/>
        </p:nvSpPr>
        <p:spPr>
          <a:xfrm rot="0" flipH="0" flipV="0">
            <a:off x="1133475" y="3257550"/>
            <a:ext cx="5248275" cy="171450"/>
          </a:xfrm>
          <a:prstGeom prst="rect"/>
        </p:spPr>
        <p:txBody>
          <a:bodyPr wrap="none" lIns="0" tIns="0" rIns="0" bIns="0"/>
          <a:p>
            <a:pPr>
              <a:lnSpc>
                <a:spcPct val="135000"/>
              </a:lnSpc>
            </a:pPr>
            <a:r>
              <a:rPr lang="zh-CN" sz="788">
                <a:solidFill>
                  <a:srgbClr val="5A6070"/>
                </a:solidFill>
                <a:latin typeface="Microsoft YaHei"/>
                <a:ea typeface="Microsoft YaHei"/>
              </a:rPr>
              <a:t>编号</a:t>
            </a:r>
            <a:r>
              <a:rPr lang="en-US" sz="788">
                <a:solidFill>
                  <a:srgbClr val="5A6070"/>
                </a:solidFill>
                <a:latin typeface="Microsoft YaHei"/>
                <a:ea typeface="Microsoft YaHei"/>
              </a:rPr>
              <a:t xml:space="preserve"> PAIN/ROOT </a:t>
            </a:r>
            <a:r>
              <a:rPr lang="zh-CN" sz="788">
                <a:solidFill>
                  <a:srgbClr val="5A6070"/>
                </a:solidFill>
                <a:latin typeface="Microsoft YaHei"/>
                <a:ea typeface="Microsoft YaHei"/>
              </a:rPr>
              <a:t>一一对应；追不到根因的标为「现象待观察」，不硬下结论</a:t>
            </a:r>
            <a:endParaRPr/>
          </a:p>
        </p:txBody>
      </p:sp>
      <p:sp>
        <p:nvSpPr>
          <p:cNvPr id="638" name=""/>
          <p:cNvSpPr/>
          <p:nvPr/>
        </p:nvSpPr>
        <p:spPr>
          <a:xfrm rot="0" flipH="0" flipV="0">
            <a:off x="647700" y="3686175"/>
            <a:ext cx="5905500" cy="762000"/>
          </a:xfrm>
          <a:prstGeom prst="roundRect">
            <a:avLst>
              <a:gd name="adj" fmla="val 5000"/>
            </a:avLst>
          </a:prstGeom>
          <a:solidFill>
            <a:srgbClr val="F7F7F8"/>
          </a:solidFill>
          <a:ln/>
        </p:spPr>
        <p:txBody>
          <a:bodyPr/>
          <a:p/>
        </p:txBody>
      </p:sp>
      <p:sp>
        <p:nvSpPr>
          <p:cNvPr id="639" name=""/>
          <p:cNvSpPr/>
          <p:nvPr/>
        </p:nvSpPr>
        <p:spPr>
          <a:xfrm rot="0" flipH="0" flipV="0">
            <a:off x="647700" y="3686175"/>
            <a:ext cx="5905500" cy="762000"/>
          </a:xfrm>
          <a:custGeom>
            <a:pathLst>
              <a:path w="620" h="80">
                <a:moveTo>
                  <a:pt x="4" y="80"/>
                </a:moveTo>
                <a:cubicBezTo>
                  <a:pt x="2" y="80"/>
                  <a:pt x="0" y="78"/>
                  <a:pt x="0" y="76"/>
                </a:cubicBezTo>
                <a:lnTo>
                  <a:pt x="0" y="4"/>
                </a:lnTo>
                <a:cubicBezTo>
                  <a:pt x="0" y="2"/>
                  <a:pt x="2" y="0"/>
                  <a:pt x="4" y="0"/>
                </a:cubicBezTo>
                <a:lnTo>
                  <a:pt x="4" y="80"/>
                </a:lnTo>
                <a:close/>
              </a:path>
            </a:pathLst>
          </a:custGeom>
          <a:solidFill>
            <a:srgbClr val="D2531A"/>
          </a:solidFill>
          <a:ln/>
        </p:spPr>
        <p:txBody>
          <a:bodyPr/>
          <a:p/>
        </p:txBody>
      </p:sp>
      <p:sp>
        <p:nvSpPr>
          <p:cNvPr id="640" name="" descr="{&quot;isTemplate&quot;:true,&quot;type&quot;:&quot;text&quot;}"/>
          <p:cNvSpPr txBox="1"/>
          <p:nvPr/>
        </p:nvSpPr>
        <p:spPr>
          <a:xfrm rot="0" flipH="0" flipV="0">
            <a:off x="781050" y="3971925"/>
            <a:ext cx="247650" cy="200025"/>
          </a:xfrm>
          <a:prstGeom prst="rect"/>
        </p:spPr>
        <p:txBody>
          <a:bodyPr wrap="none" lIns="0" tIns="0" rIns="0" bIns="0"/>
          <a:p>
            <a:pPr>
              <a:lnSpc>
                <a:spcPct val="100000"/>
              </a:lnSpc>
            </a:pPr>
            <a:r>
              <a:rPr lang="en-US" sz="1275" b="1">
                <a:solidFill>
                  <a:srgbClr val="D2531A"/>
                </a:solidFill>
                <a:latin typeface="Microsoft YaHei"/>
                <a:ea typeface="Microsoft YaHei"/>
              </a:rPr>
              <a:t>#D2531A</a:t>
            </a:r>
            <a:endParaRPr/>
          </a:p>
        </p:txBody>
      </p:sp>
      <p:sp>
        <p:nvSpPr>
          <p:cNvPr id="641" name="" descr="{&quot;isTemplate&quot;:true,&quot;type&quot;:&quot;text&quot;}"/>
          <p:cNvSpPr txBox="1"/>
          <p:nvPr/>
        </p:nvSpPr>
        <p:spPr>
          <a:xfrm rot="0" flipH="0" flipV="0">
            <a:off x="1133475" y="3895725"/>
            <a:ext cx="5248275" cy="152400"/>
          </a:xfrm>
          <a:prstGeom prst="rect"/>
        </p:spPr>
        <p:txBody>
          <a:bodyPr wrap="none" lIns="0" tIns="0" rIns="0" bIns="0"/>
          <a:p>
            <a:pPr>
              <a:lnSpc>
                <a:spcPct val="100000"/>
              </a:lnSpc>
            </a:pPr>
            <a:r>
              <a:rPr lang="zh-CN" sz="975" b="1">
                <a:solidFill>
                  <a:srgbClr val="0F1423"/>
                </a:solidFill>
                <a:latin typeface="Microsoft YaHei"/>
                <a:ea typeface="Microsoft YaHei"/>
              </a:rPr>
              <a:t>现状数据盘点</a:t>
            </a:r>
            <a:endParaRPr/>
          </a:p>
        </p:txBody>
      </p:sp>
      <p:sp>
        <p:nvSpPr>
          <p:cNvPr id="642" name="" descr="{&quot;isTemplate&quot;:true,&quot;type&quot;:&quot;text&quot;}"/>
          <p:cNvSpPr txBox="1"/>
          <p:nvPr/>
        </p:nvSpPr>
        <p:spPr>
          <a:xfrm rot="0" flipH="0" flipV="0">
            <a:off x="1133475" y="4076700"/>
            <a:ext cx="5248275" cy="171450"/>
          </a:xfrm>
          <a:prstGeom prst="rect"/>
        </p:spPr>
        <p:txBody>
          <a:bodyPr wrap="none" lIns="0" tIns="0" rIns="0" bIns="0"/>
          <a:p>
            <a:pPr>
              <a:lnSpc>
                <a:spcPct val="135000"/>
              </a:lnSpc>
            </a:pPr>
            <a:r>
              <a:rPr lang="zh-CN" sz="788">
                <a:solidFill>
                  <a:srgbClr val="5A6070"/>
                </a:solidFill>
                <a:latin typeface="Microsoft YaHei"/>
                <a:ea typeface="Microsoft YaHei"/>
              </a:rPr>
              <a:t>流程数量、单据台账、岗位角色、系统数据对象、关键指标口径与取数方式</a:t>
            </a:r>
            <a:endParaRPr/>
          </a:p>
        </p:txBody>
      </p:sp>
      <p:sp>
        <p:nvSpPr>
          <p:cNvPr id="643" name=""/>
          <p:cNvSpPr/>
          <p:nvPr/>
        </p:nvSpPr>
        <p:spPr>
          <a:xfrm rot="0" flipH="0" flipV="0">
            <a:off x="647700" y="4505325"/>
            <a:ext cx="5905500" cy="752475"/>
          </a:xfrm>
          <a:prstGeom prst="roundRect">
            <a:avLst>
              <a:gd name="adj" fmla="val 5063"/>
            </a:avLst>
          </a:prstGeom>
          <a:solidFill>
            <a:srgbClr val="F7F7F8"/>
          </a:solidFill>
          <a:ln/>
        </p:spPr>
        <p:txBody>
          <a:bodyPr/>
          <a:p/>
        </p:txBody>
      </p:sp>
      <p:sp>
        <p:nvSpPr>
          <p:cNvPr id="644" name=""/>
          <p:cNvSpPr/>
          <p:nvPr/>
        </p:nvSpPr>
        <p:spPr>
          <a:xfrm rot="0" flipH="0" flipV="0">
            <a:off x="647700" y="4505325"/>
            <a:ext cx="5905500" cy="752475"/>
          </a:xfrm>
          <a:custGeom>
            <a:pathLst>
              <a:path w="620" h="79">
                <a:moveTo>
                  <a:pt x="4" y="79"/>
                </a:moveTo>
                <a:cubicBezTo>
                  <a:pt x="2" y="79"/>
                  <a:pt x="0" y="77"/>
                  <a:pt x="0" y="75"/>
                </a:cubicBezTo>
                <a:lnTo>
                  <a:pt x="0" y="4"/>
                </a:lnTo>
                <a:cubicBezTo>
                  <a:pt x="0" y="2"/>
                  <a:pt x="2" y="0"/>
                  <a:pt x="4" y="0"/>
                </a:cubicBezTo>
                <a:lnTo>
                  <a:pt x="4" y="79"/>
                </a:lnTo>
                <a:close/>
              </a:path>
            </a:pathLst>
          </a:custGeom>
          <a:solidFill>
            <a:srgbClr val="9E3410"/>
          </a:solidFill>
          <a:ln/>
        </p:spPr>
        <p:txBody>
          <a:bodyPr/>
          <a:p/>
        </p:txBody>
      </p:sp>
      <p:sp>
        <p:nvSpPr>
          <p:cNvPr id="645" name="" descr="{&quot;isTemplate&quot;:true,&quot;type&quot;:&quot;text&quot;}"/>
          <p:cNvSpPr txBox="1"/>
          <p:nvPr/>
        </p:nvSpPr>
        <p:spPr>
          <a:xfrm rot="0" flipH="0" flipV="0">
            <a:off x="781050" y="4781550"/>
            <a:ext cx="247650" cy="200025"/>
          </a:xfrm>
          <a:prstGeom prst="rect"/>
        </p:spPr>
        <p:txBody>
          <a:bodyPr wrap="none" lIns="0" tIns="0" rIns="0" bIns="0"/>
          <a:p>
            <a:pPr>
              <a:lnSpc>
                <a:spcPct val="100000"/>
              </a:lnSpc>
            </a:pPr>
            <a:r>
              <a:rPr lang="en-US" sz="1275" b="1">
                <a:solidFill>
                  <a:srgbClr val="9E3410"/>
                </a:solidFill>
                <a:latin typeface="Microsoft YaHei"/>
                <a:ea typeface="Microsoft YaHei"/>
              </a:rPr>
              <a:t>#9E3410</a:t>
            </a:r>
            <a:endParaRPr/>
          </a:p>
        </p:txBody>
      </p:sp>
      <p:sp>
        <p:nvSpPr>
          <p:cNvPr id="646" name="" descr="{&quot;isTemplate&quot;:true,&quot;type&quot;:&quot;text&quot;}"/>
          <p:cNvSpPr txBox="1"/>
          <p:nvPr/>
        </p:nvSpPr>
        <p:spPr>
          <a:xfrm rot="0" flipH="0" flipV="0">
            <a:off x="1133475" y="4705350"/>
            <a:ext cx="5248275" cy="152400"/>
          </a:xfrm>
          <a:prstGeom prst="rect"/>
        </p:spPr>
        <p:txBody>
          <a:bodyPr wrap="none" lIns="0" tIns="0" rIns="0" bIns="0"/>
          <a:p>
            <a:pPr>
              <a:lnSpc>
                <a:spcPct val="100000"/>
              </a:lnSpc>
            </a:pPr>
            <a:r>
              <a:rPr lang="zh-CN" sz="975" b="1">
                <a:solidFill>
                  <a:srgbClr val="0F1423"/>
                </a:solidFill>
                <a:latin typeface="Microsoft YaHei"/>
                <a:ea typeface="Microsoft YaHei"/>
              </a:rPr>
              <a:t>改进方向与优先级</a:t>
            </a:r>
            <a:endParaRPr/>
          </a:p>
        </p:txBody>
      </p:sp>
      <p:sp>
        <p:nvSpPr>
          <p:cNvPr id="647" name="" descr="{&quot;isTemplate&quot;:true,&quot;type&quot;:&quot;text&quot;}"/>
          <p:cNvSpPr txBox="1"/>
          <p:nvPr/>
        </p:nvSpPr>
        <p:spPr>
          <a:xfrm rot="0" flipH="0" flipV="0">
            <a:off x="1133475" y="4886325"/>
            <a:ext cx="5248275" cy="171450"/>
          </a:xfrm>
          <a:prstGeom prst="rect"/>
        </p:spPr>
        <p:txBody>
          <a:bodyPr wrap="none" lIns="0" tIns="0" rIns="0" bIns="0"/>
          <a:p>
            <a:pPr>
              <a:lnSpc>
                <a:spcPct val="135000"/>
              </a:lnSpc>
            </a:pPr>
            <a:r>
              <a:rPr lang="zh-CN" sz="788">
                <a:solidFill>
                  <a:srgbClr val="5A6070"/>
                </a:solidFill>
                <a:latin typeface="Microsoft YaHei"/>
                <a:ea typeface="Microsoft YaHei"/>
              </a:rPr>
              <a:t>按业务价值与实现难度排序；标注跨块依赖；明确不建议碰的部分及原因</a:t>
            </a:r>
            <a:endParaRPr/>
          </a:p>
        </p:txBody>
      </p:sp>
      <p:sp>
        <p:nvSpPr>
          <p:cNvPr id="648" name=""/>
          <p:cNvSpPr/>
          <p:nvPr/>
        </p:nvSpPr>
        <p:spPr>
          <a:xfrm rot="0" flipH="0" flipV="0">
            <a:off x="6600825" y="1247775"/>
            <a:ext cx="4981575" cy="4010025"/>
          </a:xfrm>
          <a:prstGeom prst="roundRect">
            <a:avLst>
              <a:gd name="adj" fmla="val 950"/>
            </a:avLst>
          </a:prstGeom>
          <a:solidFill>
            <a:srgbClr val="0F1423"/>
          </a:solidFill>
          <a:ln/>
        </p:spPr>
        <p:txBody>
          <a:bodyPr/>
          <a:p/>
        </p:txBody>
      </p:sp>
      <p:sp>
        <p:nvSpPr>
          <p:cNvPr id="649" name="" descr="{&quot;isTemplate&quot;:true,&quot;type&quot;:&quot;text&quot;}"/>
          <p:cNvSpPr txBox="1"/>
          <p:nvPr/>
        </p:nvSpPr>
        <p:spPr>
          <a:xfrm rot="0" flipH="0" flipV="0">
            <a:off x="6772275" y="1390650"/>
            <a:ext cx="4638675" cy="142875"/>
          </a:xfrm>
          <a:prstGeom prst="rect"/>
        </p:spPr>
        <p:txBody>
          <a:bodyPr wrap="none" lIns="0" tIns="0" rIns="0" bIns="0"/>
          <a:p>
            <a:pPr>
              <a:lnSpc>
                <a:spcPct val="100000"/>
              </a:lnSpc>
            </a:pPr>
            <a:r>
              <a:rPr lang="zh-CN" sz="938" spc="75">
                <a:solidFill>
                  <a:srgbClr val="FBA15C"/>
                </a:solidFill>
                <a:latin typeface="Microsoft YaHei"/>
                <a:ea typeface="Microsoft YaHei"/>
              </a:rPr>
              <a:t>交报告前八条自检（逐条打勾）</a:t>
            </a:r>
            <a:endParaRPr/>
          </a:p>
        </p:txBody>
      </p:sp>
      <p:sp>
        <p:nvSpPr>
          <p:cNvPr id="650" name=""/>
          <p:cNvSpPr/>
          <p:nvPr/>
        </p:nvSpPr>
        <p:spPr>
          <a:xfrm rot="0" flipH="0" flipV="0">
            <a:off x="6772275" y="1647825"/>
            <a:ext cx="152400" cy="152400"/>
          </a:xfrm>
          <a:prstGeom prst="roundRect">
            <a:avLst>
              <a:gd name="adj" fmla="val 12500"/>
            </a:avLst>
          </a:prstGeom>
          <a:ln w="12700">
            <a:solidFill>
              <a:srgbClr val="FBA15C"/>
            </a:solidFill>
            <a:prstDash val="solid"/>
          </a:ln>
        </p:spPr>
        <p:txBody>
          <a:bodyPr/>
          <a:p/>
        </p:txBody>
      </p:sp>
      <p:sp>
        <p:nvSpPr>
          <p:cNvPr id="651" name="" descr="{&quot;isTemplate&quot;:true,&quot;type&quot;:&quot;text&quot;}"/>
          <p:cNvSpPr txBox="1"/>
          <p:nvPr/>
        </p:nvSpPr>
        <p:spPr>
          <a:xfrm rot="0" flipH="0" flipV="0">
            <a:off x="6800850" y="1666875"/>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652" name="" descr="{&quot;isTemplate&quot;:true,&quot;type&quot;:&quot;text&quot;}"/>
          <p:cNvSpPr txBox="1"/>
          <p:nvPr/>
        </p:nvSpPr>
        <p:spPr>
          <a:xfrm rot="0" flipH="0" flipV="0">
            <a:off x="7010400" y="1638300"/>
            <a:ext cx="44005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七个业务块</a:t>
            </a:r>
            <a:r>
              <a:rPr lang="en-US" sz="863">
                <a:solidFill>
                  <a:srgbClr val="FFFFFF">
                    <a:alpha val="88000"/>
                  </a:srgbClr>
                </a:solidFill>
                <a:latin typeface="Microsoft YaHei"/>
                <a:ea typeface="Microsoft YaHei"/>
              </a:rPr>
              <a:t xml:space="preserve"> E1–E5 / S1–S2 </a:t>
            </a:r>
            <a:r>
              <a:rPr lang="zh-CN" sz="863">
                <a:solidFill>
                  <a:srgbClr val="FFFFFF">
                    <a:alpha val="88000"/>
                  </a:srgbClr>
                </a:solidFill>
                <a:latin typeface="Microsoft YaHei"/>
                <a:ea typeface="Microsoft YaHei"/>
              </a:rPr>
              <a:t>是否每块都有流程清单，不是只扫了熟悉的块</a:t>
            </a:r>
            <a:endParaRPr/>
          </a:p>
        </p:txBody>
      </p:sp>
      <p:sp>
        <p:nvSpPr>
          <p:cNvPr id="653" name=""/>
          <p:cNvSpPr/>
          <p:nvPr/>
        </p:nvSpPr>
        <p:spPr>
          <a:xfrm rot="0" flipH="0" flipV="0">
            <a:off x="6772275" y="2038350"/>
            <a:ext cx="152400" cy="152400"/>
          </a:xfrm>
          <a:prstGeom prst="roundRect">
            <a:avLst>
              <a:gd name="adj" fmla="val 12500"/>
            </a:avLst>
          </a:prstGeom>
          <a:ln w="12700">
            <a:solidFill>
              <a:srgbClr val="FBA15C"/>
            </a:solidFill>
            <a:prstDash val="solid"/>
          </a:ln>
        </p:spPr>
        <p:txBody>
          <a:bodyPr/>
          <a:p/>
        </p:txBody>
      </p:sp>
      <p:sp>
        <p:nvSpPr>
          <p:cNvPr id="654" name="" descr="{&quot;isTemplate&quot;:true,&quot;type&quot;:&quot;text&quot;}"/>
          <p:cNvSpPr txBox="1"/>
          <p:nvPr/>
        </p:nvSpPr>
        <p:spPr>
          <a:xfrm rot="0" flipH="0" flipV="0">
            <a:off x="6800850" y="2057400"/>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655" name="" descr="{&quot;isTemplate&quot;:true,&quot;type&quot;:&quot;text&quot;}"/>
          <p:cNvSpPr txBox="1"/>
          <p:nvPr/>
        </p:nvSpPr>
        <p:spPr>
          <a:xfrm rot="0" flipH="0" flipV="0">
            <a:off x="7010400" y="2028825"/>
            <a:ext cx="44005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每条痛点是否都有编号，且能对应到至少一条根因</a:t>
            </a:r>
            <a:endParaRPr/>
          </a:p>
        </p:txBody>
      </p:sp>
      <p:sp>
        <p:nvSpPr>
          <p:cNvPr id="656" name=""/>
          <p:cNvSpPr/>
          <p:nvPr/>
        </p:nvSpPr>
        <p:spPr>
          <a:xfrm rot="0" flipH="0" flipV="0">
            <a:off x="6772275" y="2428875"/>
            <a:ext cx="152400" cy="152400"/>
          </a:xfrm>
          <a:prstGeom prst="roundRect">
            <a:avLst>
              <a:gd name="adj" fmla="val 12500"/>
            </a:avLst>
          </a:prstGeom>
          <a:ln w="12700">
            <a:solidFill>
              <a:srgbClr val="FBA15C"/>
            </a:solidFill>
            <a:prstDash val="solid"/>
          </a:ln>
        </p:spPr>
        <p:txBody>
          <a:bodyPr/>
          <a:p/>
        </p:txBody>
      </p:sp>
      <p:sp>
        <p:nvSpPr>
          <p:cNvPr id="657" name="" descr="{&quot;isTemplate&quot;:true,&quot;type&quot;:&quot;text&quot;}"/>
          <p:cNvSpPr txBox="1"/>
          <p:nvPr/>
        </p:nvSpPr>
        <p:spPr>
          <a:xfrm rot="0" flipH="0" flipV="0">
            <a:off x="6800850" y="2447925"/>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658" name="" descr="{&quot;isTemplate&quot;:true,&quot;type&quot;:&quot;text&quot;}"/>
          <p:cNvSpPr txBox="1"/>
          <p:nvPr/>
        </p:nvSpPr>
        <p:spPr>
          <a:xfrm rot="0" flipH="0" flipV="0">
            <a:off x="7010400" y="2419350"/>
            <a:ext cx="44005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每条根因是否追到了组织</a:t>
            </a:r>
            <a:r>
              <a:rPr lang="en-US" sz="863">
                <a:solidFill>
                  <a:srgbClr val="FFFFFF">
                    <a:alpha val="88000"/>
                  </a:srgbClr>
                </a:solidFill>
                <a:latin typeface="Microsoft YaHei"/>
                <a:ea typeface="Microsoft YaHei"/>
              </a:rPr>
              <a:t>/</a:t>
            </a:r>
            <a:r>
              <a:rPr lang="zh-CN" sz="863">
                <a:solidFill>
                  <a:srgbClr val="FFFFFF">
                    <a:alpha val="88000"/>
                  </a:srgbClr>
                </a:solidFill>
                <a:latin typeface="Microsoft YaHei"/>
                <a:ea typeface="Microsoft YaHei"/>
              </a:rPr>
              <a:t>规则</a:t>
            </a:r>
            <a:r>
              <a:rPr lang="en-US" sz="863">
                <a:solidFill>
                  <a:srgbClr val="FFFFFF">
                    <a:alpha val="88000"/>
                  </a:srgbClr>
                </a:solidFill>
                <a:latin typeface="Microsoft YaHei"/>
                <a:ea typeface="Microsoft YaHei"/>
              </a:rPr>
              <a:t>/</a:t>
            </a:r>
            <a:r>
              <a:rPr lang="zh-CN" sz="863">
                <a:solidFill>
                  <a:srgbClr val="FFFFFF">
                    <a:alpha val="88000"/>
                  </a:srgbClr>
                </a:solidFill>
                <a:latin typeface="Microsoft YaHei"/>
                <a:ea typeface="Microsoft YaHei"/>
              </a:rPr>
              <a:t>权责层，不是停在「沟通不畅」</a:t>
            </a:r>
            <a:endParaRPr/>
          </a:p>
        </p:txBody>
      </p:sp>
      <p:sp>
        <p:nvSpPr>
          <p:cNvPr id="659" name=""/>
          <p:cNvSpPr/>
          <p:nvPr/>
        </p:nvSpPr>
        <p:spPr>
          <a:xfrm rot="0" flipH="0" flipV="0">
            <a:off x="6772275" y="2819400"/>
            <a:ext cx="152400" cy="152400"/>
          </a:xfrm>
          <a:prstGeom prst="roundRect">
            <a:avLst>
              <a:gd name="adj" fmla="val 12500"/>
            </a:avLst>
          </a:prstGeom>
          <a:ln w="12700">
            <a:solidFill>
              <a:srgbClr val="FBA15C"/>
            </a:solidFill>
            <a:prstDash val="solid"/>
          </a:ln>
        </p:spPr>
        <p:txBody>
          <a:bodyPr/>
          <a:p/>
        </p:txBody>
      </p:sp>
      <p:sp>
        <p:nvSpPr>
          <p:cNvPr id="660" name="" descr="{&quot;isTemplate&quot;:true,&quot;type&quot;:&quot;text&quot;}"/>
          <p:cNvSpPr txBox="1"/>
          <p:nvPr/>
        </p:nvSpPr>
        <p:spPr>
          <a:xfrm rot="0" flipH="0" flipV="0">
            <a:off x="6800850" y="2838450"/>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661" name="" descr="{&quot;isTemplate&quot;:true,&quot;type&quot;:&quot;text&quot;}"/>
          <p:cNvSpPr txBox="1"/>
          <p:nvPr/>
        </p:nvSpPr>
        <p:spPr>
          <a:xfrm rot="0" flipH="0" flipV="0">
            <a:off x="7010400" y="2809875"/>
            <a:ext cx="44005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九个部门是否都有访谈记录，公司领导层是否单独成节</a:t>
            </a:r>
            <a:endParaRPr/>
          </a:p>
        </p:txBody>
      </p:sp>
      <p:sp>
        <p:nvSpPr>
          <p:cNvPr id="662" name=""/>
          <p:cNvSpPr/>
          <p:nvPr/>
        </p:nvSpPr>
        <p:spPr>
          <a:xfrm rot="0" flipH="0" flipV="0">
            <a:off x="6772275" y="3209925"/>
            <a:ext cx="152400" cy="152400"/>
          </a:xfrm>
          <a:prstGeom prst="roundRect">
            <a:avLst>
              <a:gd name="adj" fmla="val 12500"/>
            </a:avLst>
          </a:prstGeom>
          <a:ln w="12700">
            <a:solidFill>
              <a:srgbClr val="FBA15C"/>
            </a:solidFill>
            <a:prstDash val="solid"/>
          </a:ln>
        </p:spPr>
        <p:txBody>
          <a:bodyPr/>
          <a:p/>
        </p:txBody>
      </p:sp>
      <p:sp>
        <p:nvSpPr>
          <p:cNvPr id="663" name="" descr="{&quot;isTemplate&quot;:true,&quot;type&quot;:&quot;text&quot;}"/>
          <p:cNvSpPr txBox="1"/>
          <p:nvPr/>
        </p:nvSpPr>
        <p:spPr>
          <a:xfrm rot="0" flipH="0" flipV="0">
            <a:off x="6800850" y="3228975"/>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664" name="" descr="{&quot;isTemplate&quot;:true,&quot;type&quot;:&quot;text&quot;}"/>
          <p:cNvSpPr txBox="1"/>
          <p:nvPr/>
        </p:nvSpPr>
        <p:spPr>
          <a:xfrm rot="0" flipH="0" flipV="0">
            <a:off x="7010400" y="3200400"/>
            <a:ext cx="44005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单据台账是否收了实际样表，而不是标准流程文档里的描述</a:t>
            </a:r>
            <a:endParaRPr/>
          </a:p>
        </p:txBody>
      </p:sp>
      <p:sp>
        <p:nvSpPr>
          <p:cNvPr id="665" name=""/>
          <p:cNvSpPr/>
          <p:nvPr/>
        </p:nvSpPr>
        <p:spPr>
          <a:xfrm rot="0" flipH="0" flipV="0">
            <a:off x="6772275" y="3600450"/>
            <a:ext cx="152400" cy="152400"/>
          </a:xfrm>
          <a:prstGeom prst="roundRect">
            <a:avLst>
              <a:gd name="adj" fmla="val 12500"/>
            </a:avLst>
          </a:prstGeom>
          <a:ln w="12700">
            <a:solidFill>
              <a:srgbClr val="FBA15C"/>
            </a:solidFill>
            <a:prstDash val="solid"/>
          </a:ln>
        </p:spPr>
        <p:txBody>
          <a:bodyPr/>
          <a:p/>
        </p:txBody>
      </p:sp>
      <p:sp>
        <p:nvSpPr>
          <p:cNvPr id="666" name="" descr="{&quot;isTemplate&quot;:true,&quot;type&quot;:&quot;text&quot;}"/>
          <p:cNvSpPr txBox="1"/>
          <p:nvPr/>
        </p:nvSpPr>
        <p:spPr>
          <a:xfrm rot="0" flipH="0" flipV="0">
            <a:off x="6800850" y="3619500"/>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667" name="" descr="{&quot;isTemplate&quot;:true,&quot;type&quot;:&quot;text&quot;}"/>
          <p:cNvSpPr txBox="1"/>
          <p:nvPr/>
        </p:nvSpPr>
        <p:spPr>
          <a:xfrm rot="0" flipH="0" flipV="0">
            <a:off x="7010400" y="3590925"/>
            <a:ext cx="44005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指标口径是否逐个标了冲突项，而不是笼统写「口径不统一」</a:t>
            </a:r>
            <a:endParaRPr/>
          </a:p>
        </p:txBody>
      </p:sp>
      <p:sp>
        <p:nvSpPr>
          <p:cNvPr id="668" name=""/>
          <p:cNvSpPr/>
          <p:nvPr/>
        </p:nvSpPr>
        <p:spPr>
          <a:xfrm rot="0" flipH="0" flipV="0">
            <a:off x="6772275" y="3990975"/>
            <a:ext cx="152400" cy="152400"/>
          </a:xfrm>
          <a:prstGeom prst="roundRect">
            <a:avLst>
              <a:gd name="adj" fmla="val 12500"/>
            </a:avLst>
          </a:prstGeom>
          <a:ln w="12700">
            <a:solidFill>
              <a:srgbClr val="FBA15C"/>
            </a:solidFill>
            <a:prstDash val="solid"/>
          </a:ln>
        </p:spPr>
        <p:txBody>
          <a:bodyPr/>
          <a:p/>
        </p:txBody>
      </p:sp>
      <p:sp>
        <p:nvSpPr>
          <p:cNvPr id="669" name="" descr="{&quot;isTemplate&quot;:true,&quot;type&quot;:&quot;text&quot;}"/>
          <p:cNvSpPr txBox="1"/>
          <p:nvPr/>
        </p:nvSpPr>
        <p:spPr>
          <a:xfrm rot="0" flipH="0" flipV="0">
            <a:off x="6800850" y="4010025"/>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670" name="" descr="{&quot;isTemplate&quot;:true,&quot;type&quot;:&quot;text&quot;}"/>
          <p:cNvSpPr txBox="1"/>
          <p:nvPr/>
        </p:nvSpPr>
        <p:spPr>
          <a:xfrm rot="0" flipH="0" flipV="0">
            <a:off x="7010400" y="3981450"/>
            <a:ext cx="4400550" cy="180975"/>
          </a:xfrm>
          <a:prstGeom prst="rect"/>
        </p:spPr>
        <p:txBody>
          <a:bodyPr wrap="none" lIns="0" tIns="0" rIns="0" bIns="0"/>
          <a:p>
            <a:pPr>
              <a:lnSpc>
                <a:spcPct val="135000"/>
              </a:lnSpc>
            </a:pPr>
            <a:r>
              <a:rPr lang="en-US" sz="863">
                <a:solidFill>
                  <a:srgbClr val="FFFFFF">
                    <a:alpha val="88000"/>
                  </a:srgbClr>
                </a:solidFill>
                <a:latin typeface="Microsoft YaHei"/>
                <a:ea typeface="Microsoft YaHei"/>
              </a:rPr>
              <a:t xml:space="preserve">AI </a:t>
            </a:r>
            <a:r>
              <a:rPr lang="zh-CN" sz="863">
                <a:solidFill>
                  <a:srgbClr val="FFFFFF">
                    <a:alpha val="88000"/>
                  </a:srgbClr>
                </a:solidFill>
                <a:latin typeface="Microsoft YaHei"/>
                <a:ea typeface="Microsoft YaHei"/>
              </a:rPr>
              <a:t>五项就绪度是否都挂到了具体场景上</a:t>
            </a:r>
            <a:endParaRPr/>
          </a:p>
        </p:txBody>
      </p:sp>
      <p:sp>
        <p:nvSpPr>
          <p:cNvPr id="671" name=""/>
          <p:cNvSpPr/>
          <p:nvPr/>
        </p:nvSpPr>
        <p:spPr>
          <a:xfrm rot="0" flipH="0" flipV="0">
            <a:off x="6772275" y="4381500"/>
            <a:ext cx="152400" cy="152400"/>
          </a:xfrm>
          <a:prstGeom prst="roundRect">
            <a:avLst>
              <a:gd name="adj" fmla="val 12500"/>
            </a:avLst>
          </a:prstGeom>
          <a:ln w="12700">
            <a:solidFill>
              <a:srgbClr val="FBA15C"/>
            </a:solidFill>
            <a:prstDash val="solid"/>
          </a:ln>
        </p:spPr>
        <p:txBody>
          <a:bodyPr/>
          <a:p/>
        </p:txBody>
      </p:sp>
      <p:sp>
        <p:nvSpPr>
          <p:cNvPr id="672" name="" descr="{&quot;isTemplate&quot;:true,&quot;type&quot;:&quot;text&quot;}"/>
          <p:cNvSpPr txBox="1"/>
          <p:nvPr/>
        </p:nvSpPr>
        <p:spPr>
          <a:xfrm rot="0" flipH="0" flipV="0">
            <a:off x="6800850" y="4400550"/>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673" name="" descr="{&quot;isTemplate&quot;:true,&quot;type&quot;:&quot;text&quot;}"/>
          <p:cNvSpPr txBox="1"/>
          <p:nvPr/>
        </p:nvSpPr>
        <p:spPr>
          <a:xfrm rot="0" flipH="0" flipV="0">
            <a:off x="7010400" y="4371975"/>
            <a:ext cx="44005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改进方向是否每条都有对应痛点编号（可上不可下）</a:t>
            </a:r>
            <a:endParaRPr/>
          </a:p>
        </p:txBody>
      </p:sp>
      <p:sp>
        <p:nvSpPr>
          <p:cNvPr id="674" name=""/>
          <p:cNvSpPr/>
          <p:nvPr/>
        </p:nvSpPr>
        <p:spPr>
          <a:xfrm rot="0" flipH="0" flipV="0">
            <a:off x="6772275" y="4810125"/>
            <a:ext cx="4638675" cy="304800"/>
          </a:xfrm>
          <a:prstGeom prst="roundRect">
            <a:avLst>
              <a:gd name="adj" fmla="val 9375"/>
            </a:avLst>
          </a:prstGeom>
          <a:solidFill>
            <a:srgbClr val="FA4F24"/>
          </a:solidFill>
          <a:ln/>
        </p:spPr>
        <p:txBody>
          <a:bodyPr/>
          <a:p/>
        </p:txBody>
      </p:sp>
      <p:sp>
        <p:nvSpPr>
          <p:cNvPr id="675" name="" descr="{&quot;isTemplate&quot;:true,&quot;type&quot;:&quot;text&quot;}"/>
          <p:cNvSpPr txBox="1"/>
          <p:nvPr/>
        </p:nvSpPr>
        <p:spPr>
          <a:xfrm rot="0" flipH="0" flipV="0">
            <a:off x="6886575" y="4876800"/>
            <a:ext cx="3486150" cy="180975"/>
          </a:xfrm>
          <a:prstGeom prst="rect"/>
        </p:spPr>
        <p:txBody>
          <a:bodyPr wrap="none" lIns="0" tIns="0" rIns="0" bIns="0"/>
          <a:p>
            <a:pPr>
              <a:lnSpc>
                <a:spcPct val="135000"/>
              </a:lnSpc>
            </a:pPr>
            <a:r>
              <a:rPr lang="zh-CN" sz="863">
                <a:solidFill>
                  <a:srgbClr val="FFFFFF"/>
                </a:solidFill>
                <a:latin typeface="Microsoft YaHei"/>
                <a:ea typeface="Microsoft YaHei"/>
              </a:rPr>
              <a:t>八条全过才能交</a:t>
            </a:r>
            <a:r>
              <a:rPr lang="en-US" sz="863">
                <a:solidFill>
                  <a:srgbClr val="FFFFFF"/>
                </a:solidFill>
                <a:latin typeface="Microsoft YaHei"/>
                <a:ea typeface="Microsoft YaHei"/>
              </a:rPr>
              <a:t xml:space="preserve"> —— </a:t>
            </a:r>
            <a:r>
              <a:rPr lang="zh-CN" sz="863">
                <a:solidFill>
                  <a:srgbClr val="FFFFFF"/>
                </a:solidFill>
                <a:latin typeface="Microsoft YaHei"/>
                <a:ea typeface="Microsoft YaHei"/>
              </a:rPr>
              <a:t>报告里任何一条不过，评审现场一定会被人指出来</a:t>
            </a:r>
            <a:endParaRPr/>
          </a:p>
        </p:txBody>
      </p:sp>
      <p:sp>
        <p:nvSpPr>
          <p:cNvPr id="676" name=""/>
          <p:cNvSpPr/>
          <p:nvPr/>
        </p:nvSpPr>
        <p:spPr>
          <a:xfrm rot="0" flipH="0" flipV="0">
            <a:off x="647700" y="5334000"/>
            <a:ext cx="10972800" cy="323850"/>
          </a:xfrm>
          <a:prstGeom prst="roundRect">
            <a:avLst>
              <a:gd name="adj" fmla="val 11765"/>
            </a:avLst>
          </a:prstGeom>
          <a:solidFill>
            <a:srgbClr val="FFF3EE"/>
          </a:solidFill>
          <a:ln/>
        </p:spPr>
        <p:txBody>
          <a:bodyPr/>
          <a:p/>
        </p:txBody>
      </p:sp>
      <p:sp>
        <p:nvSpPr>
          <p:cNvPr id="677" name=""/>
          <p:cNvSpPr/>
          <p:nvPr/>
        </p:nvSpPr>
        <p:spPr>
          <a:xfrm rot="0" flipH="0" flipV="0">
            <a:off x="647700" y="5334000"/>
            <a:ext cx="10972800" cy="323850"/>
          </a:xfrm>
          <a:custGeom>
            <a:pathLst>
              <a:path w="1152" h="34">
                <a:moveTo>
                  <a:pt x="4" y="34"/>
                </a:moveTo>
                <a:cubicBezTo>
                  <a:pt x="2" y="34"/>
                  <a:pt x="0" y="32"/>
                  <a:pt x="0" y="30"/>
                </a:cubicBezTo>
                <a:lnTo>
                  <a:pt x="0" y="4"/>
                </a:lnTo>
                <a:cubicBezTo>
                  <a:pt x="0" y="2"/>
                  <a:pt x="2" y="0"/>
                  <a:pt x="4" y="0"/>
                </a:cubicBezTo>
                <a:lnTo>
                  <a:pt x="4" y="34"/>
                </a:lnTo>
                <a:close/>
              </a:path>
            </a:pathLst>
          </a:custGeom>
          <a:solidFill>
            <a:srgbClr val="FA4F24"/>
          </a:solidFill>
          <a:ln/>
        </p:spPr>
        <p:txBody>
          <a:bodyPr/>
          <a:p/>
        </p:txBody>
      </p:sp>
      <p:sp>
        <p:nvSpPr>
          <p:cNvPr id="678" name="" descr="{&quot;isTemplate&quot;:true,&quot;type&quot;:&quot;text&quot;}"/>
          <p:cNvSpPr txBox="1"/>
          <p:nvPr/>
        </p:nvSpPr>
        <p:spPr>
          <a:xfrm rot="0" flipH="0" flipV="0">
            <a:off x="800100" y="5429250"/>
            <a:ext cx="1123950" cy="142875"/>
          </a:xfrm>
          <a:prstGeom prst="rect"/>
        </p:spPr>
        <p:txBody>
          <a:bodyPr wrap="none" lIns="0" tIns="0" rIns="0" bIns="0"/>
          <a:p>
            <a:pPr>
              <a:lnSpc>
                <a:spcPct val="100000"/>
              </a:lnSpc>
            </a:pPr>
            <a:r>
              <a:rPr lang="zh-CN" sz="900" b="1">
                <a:solidFill>
                  <a:srgbClr val="C43A17"/>
                </a:solidFill>
                <a:latin typeface="Microsoft YaHei"/>
                <a:ea typeface="Microsoft YaHei"/>
              </a:rPr>
              <a:t>交付形式</a:t>
            </a:r>
            <a:endParaRPr/>
          </a:p>
        </p:txBody>
      </p:sp>
      <p:sp>
        <p:nvSpPr>
          <p:cNvPr id="679" name="" descr="{&quot;isTemplate&quot;:true,&quot;type&quot;:&quot;text&quot;}"/>
          <p:cNvSpPr txBox="1"/>
          <p:nvPr/>
        </p:nvSpPr>
        <p:spPr>
          <a:xfrm rot="0" flipH="0" flipV="0">
            <a:off x="2057400" y="5400675"/>
            <a:ext cx="9372600" cy="190500"/>
          </a:xfrm>
          <a:prstGeom prst="rect"/>
        </p:spPr>
        <p:txBody>
          <a:bodyPr wrap="none" lIns="0" tIns="0" rIns="0" bIns="0"/>
          <a:p>
            <a:pPr>
              <a:lnSpc>
                <a:spcPct val="135000"/>
              </a:lnSpc>
            </a:pPr>
            <a:r>
              <a:rPr lang="zh-CN" sz="900">
                <a:solidFill>
                  <a:srgbClr val="3A4050"/>
                </a:solidFill>
                <a:latin typeface="Microsoft YaHei"/>
                <a:ea typeface="Microsoft YaHei"/>
              </a:rPr>
              <a:t>文档</a:t>
            </a:r>
            <a:r>
              <a:rPr lang="en-US" sz="900">
                <a:solidFill>
                  <a:srgbClr val="3A4050"/>
                </a:solidFill>
                <a:latin typeface="Microsoft YaHei"/>
                <a:ea typeface="Microsoft YaHei"/>
              </a:rPr>
              <a:t xml:space="preserve"> + </a:t>
            </a:r>
            <a:r>
              <a:rPr lang="zh-CN" sz="900">
                <a:solidFill>
                  <a:srgbClr val="3A4050"/>
                </a:solidFill>
                <a:latin typeface="Microsoft YaHei"/>
                <a:ea typeface="Microsoft YaHei"/>
              </a:rPr>
              <a:t>汇报（招标</a:t>
            </a:r>
            <a:r>
              <a:rPr lang="en-US" sz="900">
                <a:solidFill>
                  <a:srgbClr val="3A4050"/>
                </a:solidFill>
                <a:latin typeface="Microsoft YaHei"/>
                <a:ea typeface="Microsoft YaHei"/>
              </a:rPr>
              <a:t xml:space="preserve"> 3.4 </a:t>
            </a:r>
            <a:r>
              <a:rPr lang="zh-CN" sz="900">
                <a:solidFill>
                  <a:srgbClr val="3A4050"/>
                </a:solidFill>
                <a:latin typeface="Microsoft YaHei"/>
                <a:ea typeface="Microsoft YaHei"/>
              </a:rPr>
              <a:t>第</a:t>
            </a:r>
            <a:r>
              <a:rPr lang="en-US" sz="900">
                <a:solidFill>
                  <a:srgbClr val="3A4050"/>
                </a:solidFill>
                <a:latin typeface="Microsoft YaHei"/>
                <a:ea typeface="Microsoft YaHei"/>
              </a:rPr>
              <a:t xml:space="preserve"> 1 </a:t>
            </a:r>
            <a:r>
              <a:rPr lang="zh-CN" sz="900">
                <a:solidFill>
                  <a:srgbClr val="3A4050"/>
                </a:solidFill>
                <a:latin typeface="Microsoft YaHei"/>
                <a:ea typeface="Microsoft YaHei"/>
              </a:rPr>
              <a:t>项）。文档需含全部明细清单，汇报控制在管理层能听懂并当场决策的粒度；两者的数字必须完全一致，不允许汇报版另出一套数。</a:t>
            </a:r>
            <a:endParaRPr/>
          </a:p>
        </p:txBody>
      </p:sp>
      <p:sp>
        <p:nvSpPr>
          <p:cNvPr id="680" name=""/>
          <p:cNvSpPr/>
          <p:nvPr/>
        </p:nvSpPr>
        <p:spPr>
          <a:xfrm rot="0" flipH="0" flipV="0">
            <a:off x="609600" y="5943600"/>
            <a:ext cx="133350" cy="133350"/>
          </a:xfrm>
          <a:prstGeom prst="rect">
            <a:avLst/>
          </a:prstGeom>
          <a:solidFill>
            <a:srgbClr val="FA4F24"/>
          </a:solidFill>
          <a:ln/>
        </p:spPr>
        <p:txBody>
          <a:bodyPr/>
          <a:p/>
        </p:txBody>
      </p:sp>
      <p:sp>
        <p:nvSpPr>
          <p:cNvPr id="681"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682"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19 / 36</a:t>
            </a:r>
            <a:endParaRPr/>
          </a:p>
        </p:txBody>
      </p:sp>
    </p:spTree>
  </p:cSld>
</p:sld>
</file>

<file path=ppt/slides/slide20.xml><?xml version="1.0" encoding="utf-8"?>
<p:sld xmlns:p="http://schemas.openxmlformats.org/presentationml/2006/main" xmlns:a="http://schemas.openxmlformats.org/drawingml/2006/main">
  <p:cSld>
    <p:spTree>
      <p:nvGrpSpPr>
        <p:cNvPr id="721" name="" descr="&lt;Slide style={{ width: 1280, height: 720, background: '#0F1423' }}&gt;&#10;  &lt;Box style={{ position: 'absolute', left: 0, top: 0, width: 1280, height: 720, background: 'linear-gradient(135deg, #0F1423 0%, #2A1810 100%)' }} /&gt;&#10;  &lt;Box style={{ position: 'absolute', right: 0, top: 0, width: 560, height: 720, background: 'linear-gradient(200deg, rgba(250,79,36,0.28) 0%, rgba(250,79,36,0) 70%)' }} /&gt;&#10;&#10;  &lt;Box style={{ position: 'absolute', right: 70, top: 110 }}&gt;&#10;    &lt;Text style={{ fontSize: 290, fontWeight: 'bold', color: 'rgba(255,255,255,0.08)', lineHeight: 1.0 }}&gt;03&lt;/Text&gt;&#10;  &lt;/Box&gt;&#10;&#10;  &lt;Box style={{ position: 'absolute', left: 88, top: 236, width: 740, flexDirection: 'column' }}&gt;&#10;    &lt;Text style={{ fontSize: 15, color: 'rgba(255,255,255,0.5)', letterSpacing: 3 }}&gt;PART 03&lt;/Text&gt;&#10;    &lt;Box style={{ width: 72, height: 5, background: '#FA4F24', marginTop: 20 }} /&gt;&#10;    &lt;Text style={{ fontSize: 54, fontWeight: 'bold', color: '#FFFFFF', marginTop: 26, lineHeight: 1.15 }}&gt;阶段二：变革蓝图设计&lt;/Text&gt;&#10;    &lt;Text style={{ fontSize: 17, color: 'rgba(255,255,255,0.62)', letterSpacing: 2, marginTop: 18 }}&gt;TARGET BLUEPRINT&lt;/Text&gt;&#10;    &lt;Text style={{ fontSize: 19, color: 'rgba(255,255,255,0.85)', marginTop: 24, lineHeight: 1.6 }}&gt;BA 先定稿、DA 与 AA 跟进、TA 托底，收口成一份《业务蓝图设计》&lt;/Text&gt;&#10;  &lt;/Box&gt;&#10;&#10;  &lt;Box style={{ position: 'absolute', left: 88, top: 524, flexDirection: 'row', gap: 28 }}&gt;&#10;    {[&#10;      { k: 'BA', v: '到 L4 子流程' },&#10;      { k: 'DA', v: '到业务逻辑实体' },&#10;      { k: 'AA', v: '到功能模块' },&#10;      { k: 'AI', v: '初识清单 + 优先级' },&#10;      { k: '组织', v: '职责适配建议' },&#10;      { k: '收口物', v: '业务蓝图设计' }&#10;    ].map((x) =&gt; (&#10;      &lt;Box key={x.k} style={{ opacity: 0.72 }}&gt;&#10;        &lt;Text style={{ fontSize: 12.5, color: '#FBA15C', fontWeight: 'bold' }}&gt;{x.k}&lt;/Text&gt;&#10;        &lt;Text style={{ fontSize: 12, color: 'rgba(255,255,255,0.8)', marginTop: 4 }}&gt;{x.v}&lt;/Text&gt;&#10;      &lt;/Box&gt;&#10;    ))}&#10;  &lt;/Box&gt;&#10;&#10;  &lt;Box style={{ position: 'absolute', right: 88, bottom: 60, flexDirection: 'row', alignItems: 'center', gap: 12 }}&gt;&#10;    &lt;Box style={{ width: 14, height: 14, background: '#FA4F24' }} /&gt;&#10;    &lt;Text style={{ fontSize: 14, color: 'rgba(255,255,255,0.5)' }}&gt;硕磐机密 · 利星能业务变革咨询方法论&lt;/Text&gt;&#10;    &lt;Text style={{ fontSize: 14, color: 'rgba(255,255,255,0.5)', marginLeft: 12 }}&gt;20 / 36&lt;/Text&gt;&#10;  &lt;/Box&gt;&#10;&lt;/Slide&gt;&#10;"/>
        <p:cNvGrpSpPr/>
        <p:nvPr/>
      </p:nvGrpSpPr>
      <p:grpSpPr>
        <a:xfrm>
          <a:off x="0" y="0"/>
          <a:ext cx="0" cy="0"/>
          <a:chOff x="0" y="0"/>
          <a:chExt cx="0" cy="0"/>
        </a:xfrm>
      </p:grpSpPr>
      <p:sp>
        <p:nvSpPr>
          <p:cNvPr id="722" name=""/>
          <p:cNvSpPr/>
          <p:nvPr/>
        </p:nvSpPr>
        <p:spPr>
          <a:xfrm rot="0" flipH="0" flipV="0">
            <a:off x="0" y="0"/>
            <a:ext cx="12192000" cy="6858000"/>
          </a:xfrm>
          <a:prstGeom prst="rect">
            <a:avLst/>
          </a:prstGeom>
          <a:solidFill>
            <a:srgbClr val="0F1423"/>
          </a:solidFill>
          <a:ln/>
        </p:spPr>
        <p:txBody>
          <a:bodyPr/>
          <a:p/>
        </p:txBody>
      </p:sp>
      <p:sp>
        <p:nvSpPr>
          <p:cNvPr id="723"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724"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725" name="" descr="{&quot;isTemplate&quot;:true,&quot;type&quot;:&quot;text&quot;}"/>
          <p:cNvSpPr txBox="1"/>
          <p:nvPr/>
        </p:nvSpPr>
        <p:spPr>
          <a:xfrm rot="0" flipH="0" flipV="0">
            <a:off x="8115300" y="1047750"/>
            <a:ext cx="3409950" cy="3314700"/>
          </a:xfrm>
          <a:prstGeom prst="rect"/>
        </p:spPr>
        <p:txBody>
          <a:bodyPr wrap="none" lIns="0" tIns="0" rIns="0" bIns="0"/>
          <a:p>
            <a:pPr>
              <a:lnSpc>
                <a:spcPct val="100000"/>
              </a:lnSpc>
            </a:pPr>
            <a:r>
              <a:rPr lang="en-US" sz="21750" b="1">
                <a:solidFill>
                  <a:srgbClr val="FFFFFF">
                    <a:alpha val="8000"/>
                  </a:srgbClr>
                </a:solidFill>
                <a:latin typeface="Microsoft YaHei"/>
                <a:ea typeface="Microsoft YaHei"/>
              </a:rPr>
              <a:t>03</a:t>
            </a:r>
            <a:endParaRPr/>
          </a:p>
        </p:txBody>
      </p:sp>
      <p:sp>
        <p:nvSpPr>
          <p:cNvPr id="726" name="" descr="{&quot;isTemplate&quot;:true,&quot;type&quot;:&quot;text&quot;}"/>
          <p:cNvSpPr txBox="1"/>
          <p:nvPr/>
        </p:nvSpPr>
        <p:spPr>
          <a:xfrm rot="0" flipH="0" flipV="0">
            <a:off x="838200" y="2247900"/>
            <a:ext cx="7048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03</a:t>
            </a:r>
            <a:endParaRPr/>
          </a:p>
        </p:txBody>
      </p:sp>
      <p:sp>
        <p:nvSpPr>
          <p:cNvPr id="727" name=""/>
          <p:cNvSpPr/>
          <p:nvPr/>
        </p:nvSpPr>
        <p:spPr>
          <a:xfrm rot="0" flipH="0" flipV="0">
            <a:off x="838200" y="2609850"/>
            <a:ext cx="685800" cy="47625"/>
          </a:xfrm>
          <a:prstGeom prst="rect">
            <a:avLst/>
          </a:prstGeom>
          <a:solidFill>
            <a:srgbClr val="FA4F24"/>
          </a:solidFill>
          <a:ln/>
        </p:spPr>
        <p:txBody>
          <a:bodyPr/>
          <a:p/>
        </p:txBody>
      </p:sp>
      <p:sp>
        <p:nvSpPr>
          <p:cNvPr id="728" name="" descr="{&quot;isTemplate&quot;:true,&quot;type&quot;:&quot;text&quot;}"/>
          <p:cNvSpPr txBox="1"/>
          <p:nvPr/>
        </p:nvSpPr>
        <p:spPr>
          <a:xfrm rot="0" flipH="0" flipV="0">
            <a:off x="838200" y="2905125"/>
            <a:ext cx="7048500" cy="714375"/>
          </a:xfrm>
          <a:prstGeom prst="rect"/>
        </p:spPr>
        <p:txBody>
          <a:bodyPr wrap="none" lIns="0" tIns="0" rIns="0" bIns="0"/>
          <a:p>
            <a:pPr>
              <a:lnSpc>
                <a:spcPct val="114999"/>
              </a:lnSpc>
            </a:pPr>
            <a:r>
              <a:rPr lang="zh-CN" sz="4050" b="1">
                <a:solidFill>
                  <a:srgbClr val="FFFFFF"/>
                </a:solidFill>
                <a:latin typeface="Microsoft YaHei"/>
                <a:ea typeface="Microsoft YaHei"/>
              </a:rPr>
              <a:t>阶段二：变革蓝图设计</a:t>
            </a:r>
            <a:endParaRPr/>
          </a:p>
        </p:txBody>
      </p:sp>
      <p:sp>
        <p:nvSpPr>
          <p:cNvPr id="729" name="" descr="{&quot;isTemplate&quot;:true,&quot;type&quot;:&quot;text&quot;}"/>
          <p:cNvSpPr txBox="1"/>
          <p:nvPr/>
        </p:nvSpPr>
        <p:spPr>
          <a:xfrm rot="0" flipH="0" flipV="0">
            <a:off x="838200" y="3790950"/>
            <a:ext cx="7048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TARGET BLUEPRINT</a:t>
            </a:r>
            <a:endParaRPr/>
          </a:p>
        </p:txBody>
      </p:sp>
      <p:sp>
        <p:nvSpPr>
          <p:cNvPr id="730" name="" descr="{&quot;isTemplate&quot;:true,&quot;type&quot;:&quot;text&quot;}"/>
          <p:cNvSpPr txBox="1"/>
          <p:nvPr/>
        </p:nvSpPr>
        <p:spPr>
          <a:xfrm rot="0" flipH="0" flipV="0">
            <a:off x="838200" y="4219575"/>
            <a:ext cx="7048500" cy="352425"/>
          </a:xfrm>
          <a:prstGeom prst="rect"/>
        </p:spPr>
        <p:txBody>
          <a:bodyPr wrap="none" lIns="0" tIns="0" rIns="0" bIns="0"/>
          <a:p>
            <a:pPr>
              <a:lnSpc>
                <a:spcPct val="160000"/>
              </a:lnSpc>
            </a:pPr>
            <a:r>
              <a:rPr lang="en-US" sz="1425">
                <a:solidFill>
                  <a:srgbClr val="FFFFFF">
                    <a:alpha val="85000"/>
                  </a:srgbClr>
                </a:solidFill>
                <a:latin typeface="Microsoft YaHei"/>
                <a:ea typeface="Microsoft YaHei"/>
              </a:rPr>
              <a:t xml:space="preserve">BA </a:t>
            </a:r>
            <a:r>
              <a:rPr lang="zh-CN" sz="1425">
                <a:solidFill>
                  <a:srgbClr val="FFFFFF">
                    <a:alpha val="85000"/>
                  </a:srgbClr>
                </a:solidFill>
                <a:latin typeface="Microsoft YaHei"/>
                <a:ea typeface="Microsoft YaHei"/>
              </a:rPr>
              <a:t>先定稿、</a:t>
            </a:r>
            <a:r>
              <a:rPr lang="en-US" sz="1425">
                <a:solidFill>
                  <a:srgbClr val="FFFFFF">
                    <a:alpha val="85000"/>
                  </a:srgbClr>
                </a:solidFill>
                <a:latin typeface="Microsoft YaHei"/>
                <a:ea typeface="Microsoft YaHei"/>
              </a:rPr>
              <a:t xml:space="preserve">DA </a:t>
            </a:r>
            <a:r>
              <a:rPr lang="zh-CN" sz="1425">
                <a:solidFill>
                  <a:srgbClr val="FFFFFF">
                    <a:alpha val="85000"/>
                  </a:srgbClr>
                </a:solidFill>
                <a:latin typeface="Microsoft YaHei"/>
                <a:ea typeface="Microsoft YaHei"/>
              </a:rPr>
              <a:t>与</a:t>
            </a:r>
            <a:r>
              <a:rPr lang="en-US" sz="1425">
                <a:solidFill>
                  <a:srgbClr val="FFFFFF">
                    <a:alpha val="85000"/>
                  </a:srgbClr>
                </a:solidFill>
                <a:latin typeface="Microsoft YaHei"/>
                <a:ea typeface="Microsoft YaHei"/>
              </a:rPr>
              <a:t xml:space="preserve"> AA </a:t>
            </a:r>
            <a:r>
              <a:rPr lang="zh-CN" sz="1425">
                <a:solidFill>
                  <a:srgbClr val="FFFFFF">
                    <a:alpha val="85000"/>
                  </a:srgbClr>
                </a:solidFill>
                <a:latin typeface="Microsoft YaHei"/>
                <a:ea typeface="Microsoft YaHei"/>
              </a:rPr>
              <a:t>跟进、</a:t>
            </a:r>
            <a:r>
              <a:rPr lang="en-US" sz="1425">
                <a:solidFill>
                  <a:srgbClr val="FFFFFF">
                    <a:alpha val="85000"/>
                  </a:srgbClr>
                </a:solidFill>
                <a:latin typeface="Microsoft YaHei"/>
                <a:ea typeface="Microsoft YaHei"/>
              </a:rPr>
              <a:t xml:space="preserve">TA </a:t>
            </a:r>
            <a:r>
              <a:rPr lang="zh-CN" sz="1425">
                <a:solidFill>
                  <a:srgbClr val="FFFFFF">
                    <a:alpha val="85000"/>
                  </a:srgbClr>
                </a:solidFill>
                <a:latin typeface="Microsoft YaHei"/>
                <a:ea typeface="Microsoft YaHei"/>
              </a:rPr>
              <a:t>托底，收口成一份《业务蓝图设计》</a:t>
            </a:r>
            <a:endParaRPr/>
          </a:p>
        </p:txBody>
      </p:sp>
      <p:sp>
        <p:nvSpPr>
          <p:cNvPr id="731" name="" descr="{&quot;isTemplate&quot;:true,&quot;type&quot;:&quot;text&quot;}"/>
          <p:cNvSpPr txBox="1"/>
          <p:nvPr/>
        </p:nvSpPr>
        <p:spPr>
          <a:xfrm rot="0" flipH="0" flipV="0">
            <a:off x="838200" y="4991100"/>
            <a:ext cx="657225" cy="142875"/>
          </a:xfrm>
          <a:prstGeom prst="rect"/>
        </p:spPr>
        <p:txBody>
          <a:bodyPr wrap="none" lIns="0" tIns="0" rIns="0" bIns="0"/>
          <a:p>
            <a:pPr>
              <a:lnSpc>
                <a:spcPct val="100000"/>
              </a:lnSpc>
            </a:pPr>
            <a:r>
              <a:rPr lang="en-US" sz="938" b="1">
                <a:solidFill>
                  <a:srgbClr val="FBA15C">
                    <a:alpha val="72000"/>
                  </a:srgbClr>
                </a:solidFill>
                <a:latin typeface="Microsoft YaHei"/>
                <a:ea typeface="Microsoft YaHei"/>
              </a:rPr>
              <a:t>BA</a:t>
            </a:r>
            <a:endParaRPr/>
          </a:p>
        </p:txBody>
      </p:sp>
      <p:sp>
        <p:nvSpPr>
          <p:cNvPr id="732" name="" descr="{&quot;isTemplate&quot;:true,&quot;type&quot;:&quot;text&quot;}"/>
          <p:cNvSpPr txBox="1"/>
          <p:nvPr/>
        </p:nvSpPr>
        <p:spPr>
          <a:xfrm rot="0" flipH="0" flipV="0">
            <a:off x="838200" y="5172075"/>
            <a:ext cx="657225"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到</a:t>
            </a:r>
            <a:r>
              <a:rPr lang="en-US" sz="900">
                <a:solidFill>
                  <a:srgbClr val="FFFFFF">
                    <a:alpha val="57600"/>
                  </a:srgbClr>
                </a:solidFill>
                <a:latin typeface="Microsoft YaHei"/>
                <a:ea typeface="Microsoft YaHei"/>
              </a:rPr>
              <a:t xml:space="preserve"> L4 </a:t>
            </a:r>
            <a:r>
              <a:rPr lang="zh-CN" sz="900">
                <a:solidFill>
                  <a:srgbClr val="FFFFFF">
                    <a:alpha val="57600"/>
                  </a:srgbClr>
                </a:solidFill>
                <a:latin typeface="Microsoft YaHei"/>
                <a:ea typeface="Microsoft YaHei"/>
              </a:rPr>
              <a:t>子流程</a:t>
            </a:r>
            <a:endParaRPr/>
          </a:p>
        </p:txBody>
      </p:sp>
      <p:sp>
        <p:nvSpPr>
          <p:cNvPr id="733" name="" descr="{&quot;isTemplate&quot;:true,&quot;type&quot;:&quot;text&quot;}"/>
          <p:cNvSpPr txBox="1"/>
          <p:nvPr/>
        </p:nvSpPr>
        <p:spPr>
          <a:xfrm rot="0" flipH="0" flipV="0">
            <a:off x="1762125" y="4991100"/>
            <a:ext cx="800100" cy="142875"/>
          </a:xfrm>
          <a:prstGeom prst="rect"/>
        </p:spPr>
        <p:txBody>
          <a:bodyPr wrap="none" lIns="0" tIns="0" rIns="0" bIns="0"/>
          <a:p>
            <a:pPr>
              <a:lnSpc>
                <a:spcPct val="100000"/>
              </a:lnSpc>
            </a:pPr>
            <a:r>
              <a:rPr lang="en-US" sz="938" b="1">
                <a:solidFill>
                  <a:srgbClr val="FBA15C">
                    <a:alpha val="72000"/>
                  </a:srgbClr>
                </a:solidFill>
                <a:latin typeface="Microsoft YaHei"/>
                <a:ea typeface="Microsoft YaHei"/>
              </a:rPr>
              <a:t>DA</a:t>
            </a:r>
            <a:endParaRPr/>
          </a:p>
        </p:txBody>
      </p:sp>
      <p:sp>
        <p:nvSpPr>
          <p:cNvPr id="734" name="" descr="{&quot;isTemplate&quot;:true,&quot;type&quot;:&quot;text&quot;}"/>
          <p:cNvSpPr txBox="1"/>
          <p:nvPr/>
        </p:nvSpPr>
        <p:spPr>
          <a:xfrm rot="0" flipH="0" flipV="0">
            <a:off x="1762125" y="5172075"/>
            <a:ext cx="8001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到业务逻辑实体</a:t>
            </a:r>
            <a:endParaRPr/>
          </a:p>
        </p:txBody>
      </p:sp>
      <p:sp>
        <p:nvSpPr>
          <p:cNvPr id="735" name="" descr="{&quot;isTemplate&quot;:true,&quot;type&quot;:&quot;text&quot;}"/>
          <p:cNvSpPr txBox="1"/>
          <p:nvPr/>
        </p:nvSpPr>
        <p:spPr>
          <a:xfrm rot="0" flipH="0" flipV="0">
            <a:off x="2828925" y="4991100"/>
            <a:ext cx="571500" cy="142875"/>
          </a:xfrm>
          <a:prstGeom prst="rect"/>
        </p:spPr>
        <p:txBody>
          <a:bodyPr wrap="none" lIns="0" tIns="0" rIns="0" bIns="0"/>
          <a:p>
            <a:pPr>
              <a:lnSpc>
                <a:spcPct val="100000"/>
              </a:lnSpc>
            </a:pPr>
            <a:r>
              <a:rPr lang="en-US" sz="938" b="1">
                <a:solidFill>
                  <a:srgbClr val="FBA15C">
                    <a:alpha val="72000"/>
                  </a:srgbClr>
                </a:solidFill>
                <a:latin typeface="Microsoft YaHei"/>
                <a:ea typeface="Microsoft YaHei"/>
              </a:rPr>
              <a:t>AA</a:t>
            </a:r>
            <a:endParaRPr/>
          </a:p>
        </p:txBody>
      </p:sp>
      <p:sp>
        <p:nvSpPr>
          <p:cNvPr id="736" name="" descr="{&quot;isTemplate&quot;:true,&quot;type&quot;:&quot;text&quot;}"/>
          <p:cNvSpPr txBox="1"/>
          <p:nvPr/>
        </p:nvSpPr>
        <p:spPr>
          <a:xfrm rot="0" flipH="0" flipV="0">
            <a:off x="2828925" y="5172075"/>
            <a:ext cx="5715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到功能模块</a:t>
            </a:r>
            <a:endParaRPr/>
          </a:p>
        </p:txBody>
      </p:sp>
      <p:sp>
        <p:nvSpPr>
          <p:cNvPr id="737" name="" descr="{&quot;isTemplate&quot;:true,&quot;type&quot;:&quot;text&quot;}"/>
          <p:cNvSpPr txBox="1"/>
          <p:nvPr/>
        </p:nvSpPr>
        <p:spPr>
          <a:xfrm rot="0" flipH="0" flipV="0">
            <a:off x="3667125" y="4991100"/>
            <a:ext cx="962025" cy="142875"/>
          </a:xfrm>
          <a:prstGeom prst="rect"/>
        </p:spPr>
        <p:txBody>
          <a:bodyPr wrap="none" lIns="0" tIns="0" rIns="0" bIns="0"/>
          <a:p>
            <a:pPr>
              <a:lnSpc>
                <a:spcPct val="100000"/>
              </a:lnSpc>
            </a:pPr>
            <a:r>
              <a:rPr lang="en-US" sz="938" b="1">
                <a:solidFill>
                  <a:srgbClr val="FBA15C">
                    <a:alpha val="72000"/>
                  </a:srgbClr>
                </a:solidFill>
                <a:latin typeface="Microsoft YaHei"/>
                <a:ea typeface="Microsoft YaHei"/>
              </a:rPr>
              <a:t>AI</a:t>
            </a:r>
            <a:endParaRPr/>
          </a:p>
        </p:txBody>
      </p:sp>
      <p:sp>
        <p:nvSpPr>
          <p:cNvPr id="738" name="" descr="{&quot;isTemplate&quot;:true,&quot;type&quot;:&quot;text&quot;}"/>
          <p:cNvSpPr txBox="1"/>
          <p:nvPr/>
        </p:nvSpPr>
        <p:spPr>
          <a:xfrm rot="0" flipH="0" flipV="0">
            <a:off x="3667125" y="5172075"/>
            <a:ext cx="962025"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初识清单</a:t>
            </a:r>
            <a:r>
              <a:rPr lang="en-US" sz="900">
                <a:solidFill>
                  <a:srgbClr val="FFFFFF">
                    <a:alpha val="57600"/>
                  </a:srgbClr>
                </a:solidFill>
                <a:latin typeface="Microsoft YaHei"/>
                <a:ea typeface="Microsoft YaHei"/>
              </a:rPr>
              <a:t xml:space="preserve"> + </a:t>
            </a:r>
            <a:r>
              <a:rPr lang="zh-CN" sz="900">
                <a:solidFill>
                  <a:srgbClr val="FFFFFF">
                    <a:alpha val="57600"/>
                  </a:srgbClr>
                </a:solidFill>
                <a:latin typeface="Microsoft YaHei"/>
                <a:ea typeface="Microsoft YaHei"/>
              </a:rPr>
              <a:t>优先级</a:t>
            </a:r>
            <a:endParaRPr/>
          </a:p>
        </p:txBody>
      </p:sp>
      <p:sp>
        <p:nvSpPr>
          <p:cNvPr id="739" name="" descr="{&quot;isTemplate&quot;:true,&quot;type&quot;:&quot;text&quot;}"/>
          <p:cNvSpPr txBox="1"/>
          <p:nvPr/>
        </p:nvSpPr>
        <p:spPr>
          <a:xfrm rot="0" flipH="0" flipV="0">
            <a:off x="4895850" y="4991100"/>
            <a:ext cx="685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组织</a:t>
            </a:r>
            <a:endParaRPr/>
          </a:p>
        </p:txBody>
      </p:sp>
      <p:sp>
        <p:nvSpPr>
          <p:cNvPr id="740" name="" descr="{&quot;isTemplate&quot;:true,&quot;type&quot;:&quot;text&quot;}"/>
          <p:cNvSpPr txBox="1"/>
          <p:nvPr/>
        </p:nvSpPr>
        <p:spPr>
          <a:xfrm rot="0" flipH="0" flipV="0">
            <a:off x="4895850" y="5172075"/>
            <a:ext cx="685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职责适配建议</a:t>
            </a:r>
            <a:endParaRPr/>
          </a:p>
        </p:txBody>
      </p:sp>
      <p:sp>
        <p:nvSpPr>
          <p:cNvPr id="741" name="" descr="{&quot;isTemplate&quot;:true,&quot;type&quot;:&quot;text&quot;}"/>
          <p:cNvSpPr txBox="1"/>
          <p:nvPr/>
        </p:nvSpPr>
        <p:spPr>
          <a:xfrm rot="0" flipH="0" flipV="0">
            <a:off x="5848350" y="4991100"/>
            <a:ext cx="685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收口物</a:t>
            </a:r>
            <a:endParaRPr/>
          </a:p>
        </p:txBody>
      </p:sp>
      <p:sp>
        <p:nvSpPr>
          <p:cNvPr id="742" name="" descr="{&quot;isTemplate&quot;:true,&quot;type&quot;:&quot;text&quot;}"/>
          <p:cNvSpPr txBox="1"/>
          <p:nvPr/>
        </p:nvSpPr>
        <p:spPr>
          <a:xfrm rot="0" flipH="0" flipV="0">
            <a:off x="5848350" y="5172075"/>
            <a:ext cx="685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业务蓝图设计</a:t>
            </a:r>
            <a:endParaRPr/>
          </a:p>
        </p:txBody>
      </p:sp>
      <p:sp>
        <p:nvSpPr>
          <p:cNvPr id="743" name=""/>
          <p:cNvSpPr/>
          <p:nvPr/>
        </p:nvSpPr>
        <p:spPr>
          <a:xfrm rot="0" flipH="0" flipV="0">
            <a:off x="8172450" y="6143625"/>
            <a:ext cx="133350" cy="133350"/>
          </a:xfrm>
          <a:prstGeom prst="rect">
            <a:avLst/>
          </a:prstGeom>
          <a:solidFill>
            <a:srgbClr val="FA4F24"/>
          </a:solidFill>
          <a:ln/>
        </p:spPr>
        <p:txBody>
          <a:bodyPr/>
          <a:p/>
        </p:txBody>
      </p:sp>
      <p:sp>
        <p:nvSpPr>
          <p:cNvPr id="744" name="" descr="{&quot;isTemplate&quot;:true,&quot;type&quot;:&quot;text&quot;}"/>
          <p:cNvSpPr txBox="1"/>
          <p:nvPr/>
        </p:nvSpPr>
        <p:spPr>
          <a:xfrm rot="0" flipH="0" flipV="0">
            <a:off x="8420100" y="6124575"/>
            <a:ext cx="224790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利星能业务变革咨询方法论</a:t>
            </a:r>
            <a:endParaRPr/>
          </a:p>
        </p:txBody>
      </p:sp>
      <p:sp>
        <p:nvSpPr>
          <p:cNvPr id="745" name="" descr="{&quot;isTemplate&quot;:true,&quot;type&quot;:&quot;text&quot;}"/>
          <p:cNvSpPr txBox="1"/>
          <p:nvPr/>
        </p:nvSpPr>
        <p:spPr>
          <a:xfrm rot="0" flipH="0" flipV="0">
            <a:off x="10896600" y="61245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20 / 36</a:t>
            </a:r>
            <a:endParaRPr/>
          </a:p>
        </p:txBody>
      </p:sp>
    </p:spTree>
  </p:cSld>
</p:sld>
</file>

<file path=ppt/slides/slide21.xml><?xml version="1.0" encoding="utf-8"?>
<p:sld xmlns:p="http://schemas.openxmlformats.org/presentationml/2006/main" xmlns:a="http://schemas.openxmlformats.org/drawingml/2006/main">
  <p:cSld>
    <p:spTree>
      <p:nvGrpSpPr>
        <p:cNvPr id="746" name="" descr="&lt;Slide style={{ width: 1280, height: 720, background: '#FFFFFF', padding: '24px 64px 0' }}&gt;&#13;&#10;    {/* A 区 */}&#13;&#10;    &lt;Box style={{ height: 96, flexDirection: 'column', justifyContent: 'flex-start' }}&gt;&#13;&#10;        &lt;Text style={{ fontSize: 32, fontWeight: 'bold', color: '#0F1423' }}&gt;&#13;&#10;            阶段二 Approach：&lt;span style={{ color: '#FA4F24' }}&gt;BA 先定 · DA/AA 跟进 · TA 托底&lt;/span&gt;&#13;&#10;        &lt;/Text&gt;&#13;&#10;        &lt;Text style={{ fontSize: 19, color: '#8A8F99', marginTop: 7 }}&gt;&#13;&#10;            为什么顺序不能换——业务对象是四层的交汇点，业务对象没定下来，另外三层的颗粒度都是虚的&#13;&#10;        &lt;/Text&gt;&#13;&#10;    &lt;/Box&gt;&#13;&#10;    &lt;Box style={{ height: 1, background: '#E8E8E8' }} /&gt;&#13;&#10;&#13;&#10;    {/* B 区 */}&#13;&#10;    &lt;Box style={{ paddingTop: 10, paddingBottom: 6, height: 479, flexDirection: 'column', gap: 8 }}&gt;&#13;&#10;        {/* 串接四步 */}&#13;&#10;        &lt;Box style={{ height: 174, flexDirection: 'row', gap: 6 }}&gt;&#13;&#10;            {[&#13;&#10;                {&#13;&#10;                    n: 'BA', t: '业务架构定稿', c: '#FA4F24', when: '先做，先评审',&#13;&#10;                    pts: ['流程领域架构：把七个业务块归成 L1/L2 流程域', '核心业务循环：明确能源与储能各自的循环与接口', 'L4 子流程清单：每条带输入输出、接口与数据流转'],&#13;&#10;                    out: '流程领域架构图 + L4 子流程清单',&#13;&#10;                },&#13;&#10;                {&#13;&#10;                    n: 'DA', t: '数据架构跟进', c: '#E0641E', when: 'BA 定稿后',&#13;&#10;                    pts: ['业务对象 → 逻辑实体：BA 里的对象一个个落成实体', '四维度展开：资产目录、模型、标准、分布', '收口到业务逻辑实体，不下到物理表'],&#13;&#10;                    out: '逻辑实体清单 + 四维度设计',&#13;&#10;                },&#13;&#10;                {&#13;&#10;                    n: 'AA', t: '应用架构跟进', c: '#C43A17', when: 'DA 定稿后',&#13;&#10;                    pts: ['按业务域划分应用域，明确应用边界与职责', '功能模块级设计：到模块，不到页面', '集成架构：方式、协议、数据流转、服务调用'],&#13;&#10;                    out: '应用域划分 + 功能模块清单 + 集成架构',&#13;&#10;                },&#13;&#10;                {&#13;&#10;                    n: 'TA', t: '技术架构托底', c: '#9E3410', when: '前三层并行支撑',&#13;&#10;                    pts: ['承载前三层的运行底座与集成技术选型', '补齐 AI 五项就绪度对应的技术方案', '安全合规：密级继承与数据出域边界'],&#13;&#10;                    out: '技术架构方案 + AI 技术配套',&#13;&#10;                },&#13;&#10;            ].map((g) =&gt; (&#13;&#10;                &lt;Box key={g.n} style={{ flex: 1, background: '#F7F7F8', borderRadius: 4, borderTop: '3px solid ' + g.c, padding: '11px 12px', flexDirection: 'column' }}&gt;&#13;&#10;                    &lt;Box style={{ flexDirection: 'row', alignItems: 'center', gap: 7 }}&gt;&#13;&#10;                        &lt;Text style={{ fontSize: 16, fontWeight: 'bold', color: g.c }}&gt;{g.n}&lt;/Text&gt;&#13;&#10;                        &lt;Text style={{ fontSize: 14, fontWeight: 'bold', color: '#0F1423', flex: 1 }}&gt;{g.t}&lt;/Text&gt;&#13;&#10;                    &lt;/Box&gt;&#13;&#10;                    &lt;Text style={{ fontSize: 10, color: '#8A8F99', marginTop: 3 }}&gt;{g.when}&lt;/Text&gt;&#13;&#10;                    &lt;Box style={{ flex: 1, flexDirection: 'column', gap: 6, marginTop: 8 }}&gt;&#13;&#10;                        {g.pts.map((p) =&gt; (&#13;&#10;                            &lt;Box key={p} style={{ flexDirection: 'row', alignItems: 'flex-start', gap: 6, flex: 1 }}&gt;&#13;&#10;                                &lt;Text style={{ fontSize: 10, color: g.c, fontWeight: 'bold' }}&gt;▪&lt;/Text&gt;&#13;&#10;                                &lt;Text style={{ fontSize: 10.5, color: '#3A4050', lineHeight: 1.35, flex: 1 }}&gt;{p}&lt;/Text&gt;&#13;&#10;                            &lt;/Box&gt;&#13;&#10;                        ))}&#13;&#10;                    &lt;/Box&gt;&#13;&#10;                    &lt;Box style={{ height: 28, background: g.c, borderRadius: 3, padding: '0 10px', flexDirection: 'column', justifyContent: 'center' }}&gt;&#13;&#10;                        &lt;Text style={{ fontSize: 10, color: 'rgba(255,255,255,0.85)' }}&gt;产出&lt;/Text&gt;&#13;&#10;                        &lt;Text style={{ fontSize: 10.5, fontWeight: 'bold', color: '#FFFFFF' }}&gt;{g.out}&lt;/Text&gt;&#13;&#10;                    &lt;/Box&gt;&#13;&#10;                &lt;/Box&gt;&#13;&#10;            ))}&#13;&#10;        &lt;/Box&gt;&#13;&#10;&#13;&#10;        {/* 中：为什么顺序不能换 */}&#13;&#10;        &lt;Box style={{ flex: 1, flexDirection: 'row', gap: 9, alignItems: 'stretch' }}&gt;&#13;&#10;            &lt;Box style={{ width: 606, background: '#0F1423', borderRadius: 4, padding: '14px 17px', flexDirection: 'column' }}&gt;&#13;&#10;                &lt;Text style={{ fontSize: 12, color: '#FBA15C', letterSpacing: 1 }}&gt;交汇点是业务对象：BA 往下拆、DA 往上收，在这里合上&lt;/Text&gt;&#13;&#10;                &lt;Box style={{ flex: 1, flexDirection: 'row', alignItems: 'center', gap: 8, marginTop: 10 }}&gt;&#13;&#10;                    &lt;Box style={{ width: 158, background: '#FA4F24', borderRadius: 3, padding: '10px 11px', flexDirection: 'column' }}&gt;&#13;&#10;                        &lt;Text style={{ fontSize: 11.5, fontWeight: 'bold', color: '#FFFFFF' }}&gt;BA 往下拆&lt;/Text&gt;&#13;&#10;                        &lt;Text style={{ fontSize: 10, color: 'rgba(255,255,255,0.88)', marginTop: 4, lineHeight: 1.35 }}&gt;价值流 → 能力 → 活动 → 业务对象&lt;/Text&gt;&#13;&#10;                    &lt;/Box&gt;&#13;&#10;                    &lt;Text style={{ fontSize: 18, color: '#FBA15C', fontWeight: 'bold' }}&gt;→&lt;/Text&gt;&#13;&#10;                    &lt;Box style={{ width: 158, background: '#FFFFFF', borderRadius: 3, padding: '10px 11px', flexDirection: 'column' }}&gt;&#13;&#10;                        &lt;Text style={{ fontSize: 12, fontWeight: 'bold', color: '#C43A17' }}&gt;业务对象&lt;/Text&gt;&#13;&#10;                        &lt;Text style={{ fontSize: 10, color: '#5A6070', marginTop: 4, lineHeight: 1.35 }}&gt;电站、设备、工单、合同、供应商&lt;/Text&gt;&#13;&#10;                    &lt;/Box&gt;&#13;&#10;                    &lt;Text style={{ fontSize: 18, color: '#FBA15C', fontWeight: 'bold' }}&gt;←&lt;/Text&gt;&#13;&#10;                    &lt;Box style={{ width: 158, background: '#E0641E', borderRadius: 3, padding: '10px 11px', flexDirection: 'column' }}&gt;&#13;&#10;                        &lt;Text style={{ fontSize: 11.5, fontWeight: 'bold', color: '#FFFFFF' }}&gt;DA 往上收&lt;/Text&gt;&#13;&#10;                        &lt;Text style={{ fontSize: 10, color: 'rgba(255,255,255,0.9)', marginTop: 4, lineHeight: 1.35 }}&gt;逻辑实体 → 逻辑属性 → 物理分布&lt;/Text&gt;&#13;&#10;                    &lt;/Box&gt;&#13;&#10;                &lt;/Box&gt;&#13;&#10;                &lt;Text style={{ fontSize: 11, color: 'rgba(255,255,255,0.82)', lineHeight: 1.45, marginTop: 10, flex: 1 }}&gt;&#13;&#10;                    业务对象是四层唯一稳定的交汇点：流程会变、组织会调、系统会换，但「一台设备」「一张工单」不会变。业务对象定不下来，DA 的实体就是自造的，AA 的功能就是凭空的，阶段三的需求基线也无从验收。&#13;&#10;                &lt;/Text&gt;&#13;&#10;            &lt;/Box&gt;&#13;&#10;            &lt;Box style={{ flex: 1, flexDirection: 'column', gap: 7 }}&gt;&#13;&#10;                {[&#13;&#10;                    { k: '并行不是同时开工', v: 'BA 未定稿前，DA 只能做存量摸底，不能定目标实体', c: '#FA4F24' },&#13;&#10;                    { k: '评审卡在 BA', v: 'BA 未过评审不启动 DA/AA 的目标设计，避免整体返工', c: '#E0641E' },&#13;&#10;                    { k: 'AI 必须在蓝图里定', v: 'AI 场景从 BA 的循环与活动里找落点，不允许先想 AI 用在哪', c: '#C43A17' },&#13;&#10;                    { k: '组织适配随 BA 出', v: '职责适配建议与流程域同时出，不放到最后补', c: '#9E3410' },&#13;&#10;                ].map((x) =&gt; (&#13;&#10;                    &lt;Box key={x.k} style={{ flex: 1, background: '#F7F7F8', borderRadius: 4, borderLeft: '4px solid ' + x.c, padding: '0 13px', flexDirection: 'column', justifyContent: 'center' }}&gt;&#13;&#10;                        &lt;Text style={{ fontSize: 12, fontWeight: 'bold', color: '#0F1423' }}&gt;{x.k}&lt;/Text&gt;&#13;&#10;                        &lt;Text style={{ fontSize: 10.5, color: '#5A6070', lineHeight: 1.3, marginTop: 2 }}&gt;{x.v}&lt;/Text&gt;&#13;&#10;                    &lt;/Box&gt;&#13;&#10;                ))}&#13;&#10;            &lt;/Box&gt;&#13;&#10;        &lt;/Box&gt;&#13;&#10;&#13;&#10;        {/* 下 */}&#13;&#10;        &lt;Box style={{ height: 40, background: '#FFF3EE', borderRadius: 4, borderLeft: '4px solid #FA4F24', padding: '0 16px', flexDirection: 'row', alignItems: 'center', gap: 14 }}&gt;&#13;&#10;            &lt;Text style={{ fontSize: 12, fontWeight: 'bold', color: '#C43A17', width: 118 }}&gt;阶段二收口&lt;/Text&gt;&#13;&#10;            &lt;Text style={{ fontSize: 11, color: '#3A4050', flex: 1, lineHeight: 1.3 }}&gt;&#13;&#10;                《业务蓝图设计》= 流程领域架构 + L4 子流程清单 + 组织与职责适配建议 + 核心业务循环与接口数据流转 + 数据四维度设计（到逻辑实体）+ 应用域划分与集成架构（到功能模块）+ AI 场景初步清单及优先级&#13;&#10;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21 / 36&lt;/Text&gt;&#13;&#10;    &lt;/Box&gt;&#13;&#10;&lt;/Slide&gt;&#13;&#10;"/>
        <p:cNvGrpSpPr/>
        <p:nvPr/>
      </p:nvGrpSpPr>
      <p:grpSpPr>
        <a:xfrm>
          <a:off x="0" y="0"/>
          <a:ext cx="0" cy="0"/>
          <a:chOff x="0" y="0"/>
          <a:chExt cx="0" cy="0"/>
        </a:xfrm>
      </p:grpSpPr>
      <p:sp>
        <p:nvSpPr>
          <p:cNvPr id="747" name=""/>
          <p:cNvSpPr/>
          <p:nvPr/>
        </p:nvSpPr>
        <p:spPr>
          <a:xfrm rot="0" flipH="0" flipV="0">
            <a:off x="0" y="0"/>
            <a:ext cx="12192000" cy="6858000"/>
          </a:xfrm>
          <a:prstGeom prst="rect">
            <a:avLst/>
          </a:prstGeom>
          <a:solidFill>
            <a:srgbClr val="FFFFFF"/>
          </a:solidFill>
          <a:ln/>
        </p:spPr>
        <p:txBody>
          <a:bodyPr/>
          <a:p/>
        </p:txBody>
      </p:sp>
      <p:sp>
        <p:nvSpPr>
          <p:cNvPr id="74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阶段二</a:t>
            </a:r>
            <a:r>
              <a:rPr lang="en-US" sz="2400" b="1">
                <a:solidFill>
                  <a:srgbClr val="0F1423"/>
                </a:solidFill>
                <a:latin typeface="Microsoft YaHei"/>
                <a:ea typeface="Microsoft YaHei"/>
              </a:rPr>
              <a:t xml:space="preserve"> Approach</a:t>
            </a:r>
            <a:r>
              <a:rPr lang="zh-CN" sz="2400" b="1">
                <a:solidFill>
                  <a:srgbClr val="0F1423"/>
                </a:solidFill>
                <a:latin typeface="Microsoft YaHei"/>
                <a:ea typeface="Microsoft YaHei"/>
              </a:rPr>
              <a:t>：</a:t>
            </a:r>
            <a:r>
              <a:rPr lang="en-US" sz="2400" b="1">
                <a:solidFill>
                  <a:srgbClr val="FA4F24"/>
                </a:solidFill>
                <a:latin typeface="Microsoft YaHei"/>
                <a:ea typeface="Microsoft YaHei"/>
              </a:rPr>
              <a:t xml:space="preserve">BA </a:t>
            </a:r>
            <a:r>
              <a:rPr lang="zh-CN" sz="2400" b="1">
                <a:solidFill>
                  <a:srgbClr val="FA4F24"/>
                </a:solidFill>
                <a:latin typeface="Microsoft YaHei"/>
                <a:ea typeface="Microsoft YaHei"/>
              </a:rPr>
              <a:t>先定</a:t>
            </a:r>
            <a:r>
              <a:rPr lang="en-US" sz="2400" b="1">
                <a:solidFill>
                  <a:srgbClr val="FA4F24"/>
                </a:solidFill>
                <a:latin typeface="Microsoft YaHei"/>
                <a:ea typeface="Microsoft YaHei"/>
              </a:rPr>
              <a:t xml:space="preserve"> · DA/AA </a:t>
            </a:r>
            <a:r>
              <a:rPr lang="zh-CN" sz="2400" b="1">
                <a:solidFill>
                  <a:srgbClr val="FA4F24"/>
                </a:solidFill>
                <a:latin typeface="Microsoft YaHei"/>
                <a:ea typeface="Microsoft YaHei"/>
              </a:rPr>
              <a:t>跟进</a:t>
            </a:r>
            <a:r>
              <a:rPr lang="en-US" sz="2400" b="1">
                <a:solidFill>
                  <a:srgbClr val="FA4F24"/>
                </a:solidFill>
                <a:latin typeface="Microsoft YaHei"/>
                <a:ea typeface="Microsoft YaHei"/>
              </a:rPr>
              <a:t xml:space="preserve"> · TA </a:t>
            </a:r>
            <a:r>
              <a:rPr lang="zh-CN" sz="2400" b="1">
                <a:solidFill>
                  <a:srgbClr val="FA4F24"/>
                </a:solidFill>
                <a:latin typeface="Microsoft YaHei"/>
                <a:ea typeface="Microsoft YaHei"/>
              </a:rPr>
              <a:t>托底</a:t>
            </a:r>
            <a:endParaRPr/>
          </a:p>
        </p:txBody>
      </p:sp>
      <p:sp>
        <p:nvSpPr>
          <p:cNvPr id="749"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为什么顺序不能换——业务对象是四层的交汇点，业务对象没定下来，另外三层的颗粒度都是虚的</a:t>
            </a:r>
            <a:endParaRPr/>
          </a:p>
        </p:txBody>
      </p:sp>
      <p:sp>
        <p:nvSpPr>
          <p:cNvPr id="750" name=""/>
          <p:cNvSpPr/>
          <p:nvPr/>
        </p:nvSpPr>
        <p:spPr>
          <a:xfrm rot="0" flipH="0" flipV="0">
            <a:off x="609600" y="1143000"/>
            <a:ext cx="10972800" cy="9525"/>
          </a:xfrm>
          <a:prstGeom prst="rect">
            <a:avLst/>
          </a:prstGeom>
          <a:solidFill>
            <a:srgbClr val="E8E8E8"/>
          </a:solidFill>
          <a:ln/>
        </p:spPr>
        <p:txBody>
          <a:bodyPr/>
          <a:p/>
        </p:txBody>
      </p:sp>
      <p:sp>
        <p:nvSpPr>
          <p:cNvPr id="751" name=""/>
          <p:cNvSpPr/>
          <p:nvPr/>
        </p:nvSpPr>
        <p:spPr>
          <a:xfrm rot="0" flipH="0" flipV="0">
            <a:off x="609600" y="1276350"/>
            <a:ext cx="2705100" cy="1657350"/>
          </a:xfrm>
          <a:prstGeom prst="roundRect">
            <a:avLst>
              <a:gd name="adj" fmla="val 2299"/>
            </a:avLst>
          </a:prstGeom>
          <a:solidFill>
            <a:srgbClr val="F7F7F8"/>
          </a:solidFill>
          <a:ln/>
        </p:spPr>
        <p:txBody>
          <a:bodyPr/>
          <a:p/>
        </p:txBody>
      </p:sp>
      <p:sp>
        <p:nvSpPr>
          <p:cNvPr id="752" name=""/>
          <p:cNvSpPr/>
          <p:nvPr/>
        </p:nvSpPr>
        <p:spPr>
          <a:xfrm rot="0" flipH="0" flipV="0">
            <a:off x="609600" y="1276350"/>
            <a:ext cx="2705100" cy="1657350"/>
          </a:xfrm>
          <a:custGeom>
            <a:pathLst>
              <a:path w="284" h="174">
                <a:moveTo>
                  <a:pt x="280" y="0"/>
                </a:moveTo>
                <a:cubicBezTo>
                  <a:pt x="282" y="0"/>
                  <a:pt x="284" y="2"/>
                  <a:pt x="284" y="4"/>
                </a:cubicBezTo>
                <a:cubicBezTo>
                  <a:pt x="284" y="3"/>
                  <a:pt x="283" y="3"/>
                  <a:pt x="283" y="3"/>
                </a:cubicBezTo>
                <a:lnTo>
                  <a:pt x="1" y="3"/>
                </a:lnTo>
                <a:cubicBezTo>
                  <a:pt x="1" y="3"/>
                  <a:pt x="0" y="3"/>
                  <a:pt x="0" y="4"/>
                </a:cubicBezTo>
                <a:cubicBezTo>
                  <a:pt x="0" y="2"/>
                  <a:pt x="2" y="0"/>
                  <a:pt x="4" y="0"/>
                </a:cubicBezTo>
                <a:lnTo>
                  <a:pt x="280" y="0"/>
                </a:lnTo>
                <a:close/>
              </a:path>
            </a:pathLst>
          </a:custGeom>
          <a:solidFill>
            <a:srgbClr val="FA4F24"/>
          </a:solidFill>
          <a:ln/>
        </p:spPr>
        <p:txBody>
          <a:bodyPr/>
          <a:p/>
        </p:txBody>
      </p:sp>
      <p:sp>
        <p:nvSpPr>
          <p:cNvPr id="753" name="" descr="{&quot;isTemplate&quot;:true,&quot;type&quot;:&quot;text&quot;}"/>
          <p:cNvSpPr txBox="1"/>
          <p:nvPr/>
        </p:nvSpPr>
        <p:spPr>
          <a:xfrm rot="0" flipH="0" flipV="0">
            <a:off x="723900" y="1381125"/>
            <a:ext cx="219075" cy="190500"/>
          </a:xfrm>
          <a:prstGeom prst="rect"/>
        </p:spPr>
        <p:txBody>
          <a:bodyPr wrap="none" lIns="0" tIns="0" rIns="0" bIns="0"/>
          <a:p>
            <a:pPr>
              <a:lnSpc>
                <a:spcPct val="100000"/>
              </a:lnSpc>
            </a:pPr>
            <a:r>
              <a:rPr lang="en-US" sz="1200" b="1">
                <a:solidFill>
                  <a:srgbClr val="FA4F24"/>
                </a:solidFill>
                <a:latin typeface="Microsoft YaHei"/>
                <a:ea typeface="Microsoft YaHei"/>
              </a:rPr>
              <a:t>BA</a:t>
            </a:r>
            <a:endParaRPr/>
          </a:p>
        </p:txBody>
      </p:sp>
      <p:sp>
        <p:nvSpPr>
          <p:cNvPr id="754" name="" descr="{&quot;isTemplate&quot;:true,&quot;type&quot;:&quot;text&quot;}"/>
          <p:cNvSpPr txBox="1"/>
          <p:nvPr/>
        </p:nvSpPr>
        <p:spPr>
          <a:xfrm rot="0" flipH="0" flipV="0">
            <a:off x="1009650" y="1400175"/>
            <a:ext cx="2190750" cy="161925"/>
          </a:xfrm>
          <a:prstGeom prst="rect"/>
        </p:spPr>
        <p:txBody>
          <a:bodyPr wrap="none" lIns="0" tIns="0" rIns="0" bIns="0"/>
          <a:p>
            <a:pPr>
              <a:lnSpc>
                <a:spcPct val="100000"/>
              </a:lnSpc>
            </a:pPr>
            <a:r>
              <a:rPr lang="zh-CN" sz="1050" b="1">
                <a:solidFill>
                  <a:srgbClr val="0F1423"/>
                </a:solidFill>
                <a:latin typeface="Microsoft YaHei"/>
                <a:ea typeface="Microsoft YaHei"/>
              </a:rPr>
              <a:t>业务架构定稿</a:t>
            </a:r>
            <a:endParaRPr/>
          </a:p>
        </p:txBody>
      </p:sp>
      <p:sp>
        <p:nvSpPr>
          <p:cNvPr id="755" name="" descr="{&quot;isTemplate&quot;:true,&quot;type&quot;:&quot;text&quot;}"/>
          <p:cNvSpPr txBox="1"/>
          <p:nvPr/>
        </p:nvSpPr>
        <p:spPr>
          <a:xfrm rot="0" flipH="0" flipV="0">
            <a:off x="723900" y="1600200"/>
            <a:ext cx="2476500" cy="114300"/>
          </a:xfrm>
          <a:prstGeom prst="rect"/>
        </p:spPr>
        <p:txBody>
          <a:bodyPr wrap="none" lIns="0" tIns="0" rIns="0" bIns="0"/>
          <a:p>
            <a:pPr>
              <a:lnSpc>
                <a:spcPct val="100000"/>
              </a:lnSpc>
            </a:pPr>
            <a:r>
              <a:rPr lang="zh-CN" sz="750">
                <a:solidFill>
                  <a:srgbClr val="8A8F99"/>
                </a:solidFill>
                <a:latin typeface="Microsoft YaHei"/>
                <a:ea typeface="Microsoft YaHei"/>
              </a:rPr>
              <a:t>先做，先评审</a:t>
            </a:r>
            <a:endParaRPr/>
          </a:p>
        </p:txBody>
      </p:sp>
      <p:sp>
        <p:nvSpPr>
          <p:cNvPr id="756" name="" descr="{&quot;isTemplate&quot;:true,&quot;type&quot;:&quot;text&quot;}"/>
          <p:cNvSpPr txBox="1"/>
          <p:nvPr/>
        </p:nvSpPr>
        <p:spPr>
          <a:xfrm rot="0" flipH="0" flipV="0">
            <a:off x="723900" y="179070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757" name="" descr="{&quot;isTemplate&quot;:true,&quot;type&quot;:&quot;text&quot;}"/>
          <p:cNvSpPr txBox="1"/>
          <p:nvPr/>
        </p:nvSpPr>
        <p:spPr>
          <a:xfrm rot="0" flipH="0" flipV="0">
            <a:off x="819150" y="1790700"/>
            <a:ext cx="2381250" cy="171450"/>
          </a:xfrm>
          <a:prstGeom prst="rect"/>
        </p:spPr>
        <p:txBody>
          <a:bodyPr wrap="none" lIns="0" tIns="0" rIns="0" bIns="0"/>
          <a:p>
            <a:pPr>
              <a:lnSpc>
                <a:spcPct val="135000"/>
              </a:lnSpc>
            </a:pPr>
            <a:r>
              <a:rPr lang="zh-CN" sz="788">
                <a:solidFill>
                  <a:srgbClr val="3A4050"/>
                </a:solidFill>
                <a:latin typeface="Microsoft YaHei"/>
                <a:ea typeface="Microsoft YaHei"/>
              </a:rPr>
              <a:t>流程领域架构：把七个业务块归成</a:t>
            </a:r>
            <a:r>
              <a:rPr lang="en-US" sz="788">
                <a:solidFill>
                  <a:srgbClr val="3A4050"/>
                </a:solidFill>
                <a:latin typeface="Microsoft YaHei"/>
                <a:ea typeface="Microsoft YaHei"/>
              </a:rPr>
              <a:t xml:space="preserve"> L1/L2 </a:t>
            </a:r>
            <a:r>
              <a:rPr lang="zh-CN" sz="788">
                <a:solidFill>
                  <a:srgbClr val="3A4050"/>
                </a:solidFill>
                <a:latin typeface="Microsoft YaHei"/>
                <a:ea typeface="Microsoft YaHei"/>
              </a:rPr>
              <a:t>流程域</a:t>
            </a:r>
            <a:endParaRPr/>
          </a:p>
        </p:txBody>
      </p:sp>
      <p:sp>
        <p:nvSpPr>
          <p:cNvPr id="758" name="" descr="{&quot;isTemplate&quot;:true,&quot;type&quot;:&quot;text&quot;}"/>
          <p:cNvSpPr txBox="1"/>
          <p:nvPr/>
        </p:nvSpPr>
        <p:spPr>
          <a:xfrm rot="0" flipH="0" flipV="0">
            <a:off x="723900" y="205740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759" name="" descr="{&quot;isTemplate&quot;:true,&quot;type&quot;:&quot;text&quot;}"/>
          <p:cNvSpPr txBox="1"/>
          <p:nvPr/>
        </p:nvSpPr>
        <p:spPr>
          <a:xfrm rot="0" flipH="0" flipV="0">
            <a:off x="819150" y="2057400"/>
            <a:ext cx="2381250" cy="171450"/>
          </a:xfrm>
          <a:prstGeom prst="rect"/>
        </p:spPr>
        <p:txBody>
          <a:bodyPr wrap="none" lIns="0" tIns="0" rIns="0" bIns="0"/>
          <a:p>
            <a:pPr>
              <a:lnSpc>
                <a:spcPct val="135000"/>
              </a:lnSpc>
            </a:pPr>
            <a:r>
              <a:rPr lang="zh-CN" sz="788">
                <a:solidFill>
                  <a:srgbClr val="3A4050"/>
                </a:solidFill>
                <a:latin typeface="Microsoft YaHei"/>
                <a:ea typeface="Microsoft YaHei"/>
              </a:rPr>
              <a:t>核心业务循环：明确能源与储能各自的循环与接口</a:t>
            </a:r>
            <a:endParaRPr/>
          </a:p>
        </p:txBody>
      </p:sp>
      <p:sp>
        <p:nvSpPr>
          <p:cNvPr id="760" name="" descr="{&quot;isTemplate&quot;:true,&quot;type&quot;:&quot;text&quot;}"/>
          <p:cNvSpPr txBox="1"/>
          <p:nvPr/>
        </p:nvSpPr>
        <p:spPr>
          <a:xfrm rot="0" flipH="0" flipV="0">
            <a:off x="723900" y="232410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761" name="" descr="{&quot;isTemplate&quot;:true,&quot;type&quot;:&quot;text&quot;}"/>
          <p:cNvSpPr txBox="1"/>
          <p:nvPr/>
        </p:nvSpPr>
        <p:spPr>
          <a:xfrm rot="0" flipH="0" flipV="0">
            <a:off x="819150" y="2324100"/>
            <a:ext cx="238125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L4 </a:t>
            </a:r>
            <a:r>
              <a:rPr lang="zh-CN" sz="788">
                <a:solidFill>
                  <a:srgbClr val="3A4050"/>
                </a:solidFill>
                <a:latin typeface="Microsoft YaHei"/>
                <a:ea typeface="Microsoft YaHei"/>
              </a:rPr>
              <a:t>子流程清单：每条带输入输出、接口与数据流转</a:t>
            </a:r>
            <a:endParaRPr/>
          </a:p>
        </p:txBody>
      </p:sp>
      <p:sp>
        <p:nvSpPr>
          <p:cNvPr id="762" name=""/>
          <p:cNvSpPr/>
          <p:nvPr/>
        </p:nvSpPr>
        <p:spPr>
          <a:xfrm rot="0" flipH="0" flipV="0">
            <a:off x="723900" y="2533650"/>
            <a:ext cx="2476500" cy="266700"/>
          </a:xfrm>
          <a:prstGeom prst="roundRect">
            <a:avLst>
              <a:gd name="adj" fmla="val 10714"/>
            </a:avLst>
          </a:prstGeom>
          <a:solidFill>
            <a:srgbClr val="FA4F24"/>
          </a:solidFill>
          <a:ln/>
        </p:spPr>
        <p:txBody>
          <a:bodyPr/>
          <a:p/>
        </p:txBody>
      </p:sp>
      <p:sp>
        <p:nvSpPr>
          <p:cNvPr id="763" name="" descr="{&quot;isTemplate&quot;:true,&quot;type&quot;:&quot;text&quot;}"/>
          <p:cNvSpPr txBox="1"/>
          <p:nvPr/>
        </p:nvSpPr>
        <p:spPr>
          <a:xfrm rot="0" flipH="0" flipV="0">
            <a:off x="819150" y="2552700"/>
            <a:ext cx="2286000" cy="114300"/>
          </a:xfrm>
          <a:prstGeom prst="rect"/>
        </p:spPr>
        <p:txBody>
          <a:bodyPr wrap="none" lIns="0" tIns="0" rIns="0" bIns="0"/>
          <a:p>
            <a:pPr>
              <a:lnSpc>
                <a:spcPct val="100000"/>
              </a:lnSpc>
            </a:pPr>
            <a:r>
              <a:rPr lang="zh-CN" sz="750">
                <a:solidFill>
                  <a:srgbClr val="FFFFFF">
                    <a:alpha val="85000"/>
                  </a:srgbClr>
                </a:solidFill>
                <a:latin typeface="Microsoft YaHei"/>
                <a:ea typeface="Microsoft YaHei"/>
              </a:rPr>
              <a:t>产出</a:t>
            </a:r>
            <a:endParaRPr/>
          </a:p>
        </p:txBody>
      </p:sp>
      <p:sp>
        <p:nvSpPr>
          <p:cNvPr id="764" name="" descr="{&quot;isTemplate&quot;:true,&quot;type&quot;:&quot;text&quot;}"/>
          <p:cNvSpPr txBox="1"/>
          <p:nvPr/>
        </p:nvSpPr>
        <p:spPr>
          <a:xfrm rot="0" flipH="0" flipV="0">
            <a:off x="819150" y="2667000"/>
            <a:ext cx="2286000" cy="123825"/>
          </a:xfrm>
          <a:prstGeom prst="rect"/>
        </p:spPr>
        <p:txBody>
          <a:bodyPr wrap="none" lIns="0" tIns="0" rIns="0" bIns="0"/>
          <a:p>
            <a:pPr>
              <a:lnSpc>
                <a:spcPct val="100000"/>
              </a:lnSpc>
            </a:pPr>
            <a:r>
              <a:rPr lang="zh-CN" sz="788" b="1">
                <a:solidFill>
                  <a:srgbClr val="FFFFFF"/>
                </a:solidFill>
                <a:latin typeface="Microsoft YaHei"/>
                <a:ea typeface="Microsoft YaHei"/>
              </a:rPr>
              <a:t>流程领域架构图</a:t>
            </a:r>
            <a:r>
              <a:rPr lang="en-US" sz="788" b="1">
                <a:solidFill>
                  <a:srgbClr val="FFFFFF"/>
                </a:solidFill>
                <a:latin typeface="Microsoft YaHei"/>
                <a:ea typeface="Microsoft YaHei"/>
              </a:rPr>
              <a:t xml:space="preserve"> + L4 </a:t>
            </a:r>
            <a:r>
              <a:rPr lang="zh-CN" sz="788" b="1">
                <a:solidFill>
                  <a:srgbClr val="FFFFFF"/>
                </a:solidFill>
                <a:latin typeface="Microsoft YaHei"/>
                <a:ea typeface="Microsoft YaHei"/>
              </a:rPr>
              <a:t>子流程清单</a:t>
            </a:r>
            <a:endParaRPr/>
          </a:p>
        </p:txBody>
      </p:sp>
      <p:sp>
        <p:nvSpPr>
          <p:cNvPr id="765" name=""/>
          <p:cNvSpPr/>
          <p:nvPr/>
        </p:nvSpPr>
        <p:spPr>
          <a:xfrm rot="0" flipH="0" flipV="0">
            <a:off x="3371850" y="1276350"/>
            <a:ext cx="2695575" cy="1657350"/>
          </a:xfrm>
          <a:prstGeom prst="roundRect">
            <a:avLst>
              <a:gd name="adj" fmla="val 2299"/>
            </a:avLst>
          </a:prstGeom>
          <a:solidFill>
            <a:srgbClr val="F7F7F8"/>
          </a:solidFill>
          <a:ln/>
        </p:spPr>
        <p:txBody>
          <a:bodyPr/>
          <a:p/>
        </p:txBody>
      </p:sp>
      <p:sp>
        <p:nvSpPr>
          <p:cNvPr id="766" name=""/>
          <p:cNvSpPr/>
          <p:nvPr/>
        </p:nvSpPr>
        <p:spPr>
          <a:xfrm rot="0" flipH="0" flipV="0">
            <a:off x="3371850" y="1276350"/>
            <a:ext cx="2695575" cy="1657350"/>
          </a:xfrm>
          <a:custGeom>
            <a:pathLst>
              <a:path w="283" h="174">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E0641E"/>
          </a:solidFill>
          <a:ln/>
        </p:spPr>
        <p:txBody>
          <a:bodyPr/>
          <a:p/>
        </p:txBody>
      </p:sp>
      <p:sp>
        <p:nvSpPr>
          <p:cNvPr id="767" name="" descr="{&quot;isTemplate&quot;:true,&quot;type&quot;:&quot;text&quot;}"/>
          <p:cNvSpPr txBox="1"/>
          <p:nvPr/>
        </p:nvSpPr>
        <p:spPr>
          <a:xfrm rot="0" flipH="0" flipV="0">
            <a:off x="3486150" y="1381125"/>
            <a:ext cx="238125" cy="190500"/>
          </a:xfrm>
          <a:prstGeom prst="rect"/>
        </p:spPr>
        <p:txBody>
          <a:bodyPr wrap="none" lIns="0" tIns="0" rIns="0" bIns="0"/>
          <a:p>
            <a:pPr>
              <a:lnSpc>
                <a:spcPct val="100000"/>
              </a:lnSpc>
            </a:pPr>
            <a:r>
              <a:rPr lang="en-US" sz="1200" b="1">
                <a:solidFill>
                  <a:srgbClr val="E0641E"/>
                </a:solidFill>
                <a:latin typeface="Microsoft YaHei"/>
                <a:ea typeface="Microsoft YaHei"/>
              </a:rPr>
              <a:t>DA</a:t>
            </a:r>
            <a:endParaRPr/>
          </a:p>
        </p:txBody>
      </p:sp>
      <p:sp>
        <p:nvSpPr>
          <p:cNvPr id="768" name="" descr="{&quot;isTemplate&quot;:true,&quot;type&quot;:&quot;text&quot;}"/>
          <p:cNvSpPr txBox="1"/>
          <p:nvPr/>
        </p:nvSpPr>
        <p:spPr>
          <a:xfrm rot="0" flipH="0" flipV="0">
            <a:off x="3790950" y="1400175"/>
            <a:ext cx="2162175" cy="161925"/>
          </a:xfrm>
          <a:prstGeom prst="rect"/>
        </p:spPr>
        <p:txBody>
          <a:bodyPr wrap="none" lIns="0" tIns="0" rIns="0" bIns="0"/>
          <a:p>
            <a:pPr>
              <a:lnSpc>
                <a:spcPct val="100000"/>
              </a:lnSpc>
            </a:pPr>
            <a:r>
              <a:rPr lang="zh-CN" sz="1050" b="1">
                <a:solidFill>
                  <a:srgbClr val="0F1423"/>
                </a:solidFill>
                <a:latin typeface="Microsoft YaHei"/>
                <a:ea typeface="Microsoft YaHei"/>
              </a:rPr>
              <a:t>数据架构跟进</a:t>
            </a:r>
            <a:endParaRPr/>
          </a:p>
        </p:txBody>
      </p:sp>
      <p:sp>
        <p:nvSpPr>
          <p:cNvPr id="769" name="" descr="{&quot;isTemplate&quot;:true,&quot;type&quot;:&quot;text&quot;}"/>
          <p:cNvSpPr txBox="1"/>
          <p:nvPr/>
        </p:nvSpPr>
        <p:spPr>
          <a:xfrm rot="0" flipH="0" flipV="0">
            <a:off x="3486150" y="1600200"/>
            <a:ext cx="2466975" cy="114300"/>
          </a:xfrm>
          <a:prstGeom prst="rect"/>
        </p:spPr>
        <p:txBody>
          <a:bodyPr wrap="none" lIns="0" tIns="0" rIns="0" bIns="0"/>
          <a:p>
            <a:pPr>
              <a:lnSpc>
                <a:spcPct val="100000"/>
              </a:lnSpc>
            </a:pPr>
            <a:r>
              <a:rPr lang="en-US" sz="750">
                <a:solidFill>
                  <a:srgbClr val="8A8F99"/>
                </a:solidFill>
                <a:latin typeface="Microsoft YaHei"/>
                <a:ea typeface="Microsoft YaHei"/>
              </a:rPr>
              <a:t xml:space="preserve">BA </a:t>
            </a:r>
            <a:r>
              <a:rPr lang="zh-CN" sz="750">
                <a:solidFill>
                  <a:srgbClr val="8A8F99"/>
                </a:solidFill>
                <a:latin typeface="Microsoft YaHei"/>
                <a:ea typeface="Microsoft YaHei"/>
              </a:rPr>
              <a:t>定稿后</a:t>
            </a:r>
            <a:endParaRPr/>
          </a:p>
        </p:txBody>
      </p:sp>
      <p:sp>
        <p:nvSpPr>
          <p:cNvPr id="770" name="" descr="{&quot;isTemplate&quot;:true,&quot;type&quot;:&quot;text&quot;}"/>
          <p:cNvSpPr txBox="1"/>
          <p:nvPr/>
        </p:nvSpPr>
        <p:spPr>
          <a:xfrm rot="0" flipH="0" flipV="0">
            <a:off x="3486150" y="1790700"/>
            <a:ext cx="38100" cy="114300"/>
          </a:xfrm>
          <a:prstGeom prst="rect"/>
        </p:spPr>
        <p:txBody>
          <a:bodyPr wrap="none" lIns="0" tIns="0" rIns="0" bIns="0"/>
          <a:p>
            <a:pPr>
              <a:lnSpc>
                <a:spcPct val="100000"/>
              </a:lnSpc>
            </a:pPr>
            <a:r>
              <a:rPr sz="750" b="1">
                <a:solidFill>
                  <a:srgbClr val="E0641E"/>
                </a:solidFill>
                <a:latin typeface="Microsoft YaHei"/>
                <a:ea typeface="Microsoft YaHei"/>
              </a:rPr>
              <a:t>▪</a:t>
            </a:r>
            <a:endParaRPr/>
          </a:p>
        </p:txBody>
      </p:sp>
      <p:sp>
        <p:nvSpPr>
          <p:cNvPr id="771" name="" descr="{&quot;isTemplate&quot;:true,&quot;type&quot;:&quot;text&quot;}"/>
          <p:cNvSpPr txBox="1"/>
          <p:nvPr/>
        </p:nvSpPr>
        <p:spPr>
          <a:xfrm rot="0" flipH="0" flipV="0">
            <a:off x="3581400" y="1790700"/>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业务对象</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逻辑实体：</a:t>
            </a:r>
            <a:r>
              <a:rPr lang="en-US" sz="788">
                <a:solidFill>
                  <a:srgbClr val="3A4050"/>
                </a:solidFill>
                <a:latin typeface="Microsoft YaHei"/>
                <a:ea typeface="Microsoft YaHei"/>
              </a:rPr>
              <a:t xml:space="preserve">BA </a:t>
            </a:r>
            <a:r>
              <a:rPr lang="zh-CN" sz="788">
                <a:solidFill>
                  <a:srgbClr val="3A4050"/>
                </a:solidFill>
                <a:latin typeface="Microsoft YaHei"/>
                <a:ea typeface="Microsoft YaHei"/>
              </a:rPr>
              <a:t>里的对象一个个落成实体</a:t>
            </a:r>
            <a:endParaRPr/>
          </a:p>
        </p:txBody>
      </p:sp>
      <p:sp>
        <p:nvSpPr>
          <p:cNvPr id="772" name="" descr="{&quot;isTemplate&quot;:true,&quot;type&quot;:&quot;text&quot;}"/>
          <p:cNvSpPr txBox="1"/>
          <p:nvPr/>
        </p:nvSpPr>
        <p:spPr>
          <a:xfrm rot="0" flipH="0" flipV="0">
            <a:off x="3486150" y="2057400"/>
            <a:ext cx="38100" cy="114300"/>
          </a:xfrm>
          <a:prstGeom prst="rect"/>
        </p:spPr>
        <p:txBody>
          <a:bodyPr wrap="none" lIns="0" tIns="0" rIns="0" bIns="0"/>
          <a:p>
            <a:pPr>
              <a:lnSpc>
                <a:spcPct val="100000"/>
              </a:lnSpc>
            </a:pPr>
            <a:r>
              <a:rPr sz="750" b="1">
                <a:solidFill>
                  <a:srgbClr val="E0641E"/>
                </a:solidFill>
                <a:latin typeface="Microsoft YaHei"/>
                <a:ea typeface="Microsoft YaHei"/>
              </a:rPr>
              <a:t>▪</a:t>
            </a:r>
            <a:endParaRPr/>
          </a:p>
        </p:txBody>
      </p:sp>
      <p:sp>
        <p:nvSpPr>
          <p:cNvPr id="773" name="" descr="{&quot;isTemplate&quot;:true,&quot;type&quot;:&quot;text&quot;}"/>
          <p:cNvSpPr txBox="1"/>
          <p:nvPr/>
        </p:nvSpPr>
        <p:spPr>
          <a:xfrm rot="0" flipH="0" flipV="0">
            <a:off x="3581400" y="2057400"/>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四维度展开：资产目录、模型、标准、分布</a:t>
            </a:r>
            <a:endParaRPr/>
          </a:p>
        </p:txBody>
      </p:sp>
      <p:sp>
        <p:nvSpPr>
          <p:cNvPr id="774" name="" descr="{&quot;isTemplate&quot;:true,&quot;type&quot;:&quot;text&quot;}"/>
          <p:cNvSpPr txBox="1"/>
          <p:nvPr/>
        </p:nvSpPr>
        <p:spPr>
          <a:xfrm rot="0" flipH="0" flipV="0">
            <a:off x="3486150" y="2324100"/>
            <a:ext cx="38100" cy="114300"/>
          </a:xfrm>
          <a:prstGeom prst="rect"/>
        </p:spPr>
        <p:txBody>
          <a:bodyPr wrap="none" lIns="0" tIns="0" rIns="0" bIns="0"/>
          <a:p>
            <a:pPr>
              <a:lnSpc>
                <a:spcPct val="100000"/>
              </a:lnSpc>
            </a:pPr>
            <a:r>
              <a:rPr sz="750" b="1">
                <a:solidFill>
                  <a:srgbClr val="E0641E"/>
                </a:solidFill>
                <a:latin typeface="Microsoft YaHei"/>
                <a:ea typeface="Microsoft YaHei"/>
              </a:rPr>
              <a:t>▪</a:t>
            </a:r>
            <a:endParaRPr/>
          </a:p>
        </p:txBody>
      </p:sp>
      <p:sp>
        <p:nvSpPr>
          <p:cNvPr id="775" name="" descr="{&quot;isTemplate&quot;:true,&quot;type&quot;:&quot;text&quot;}"/>
          <p:cNvSpPr txBox="1"/>
          <p:nvPr/>
        </p:nvSpPr>
        <p:spPr>
          <a:xfrm rot="0" flipH="0" flipV="0">
            <a:off x="3581400" y="2324100"/>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收口到业务逻辑实体，不下到物理表</a:t>
            </a:r>
            <a:endParaRPr/>
          </a:p>
        </p:txBody>
      </p:sp>
      <p:sp>
        <p:nvSpPr>
          <p:cNvPr id="776" name=""/>
          <p:cNvSpPr/>
          <p:nvPr/>
        </p:nvSpPr>
        <p:spPr>
          <a:xfrm rot="0" flipH="0" flipV="0">
            <a:off x="3486150" y="2533650"/>
            <a:ext cx="2466975" cy="266700"/>
          </a:xfrm>
          <a:prstGeom prst="roundRect">
            <a:avLst>
              <a:gd name="adj" fmla="val 10714"/>
            </a:avLst>
          </a:prstGeom>
          <a:solidFill>
            <a:srgbClr val="E0641E"/>
          </a:solidFill>
          <a:ln/>
        </p:spPr>
        <p:txBody>
          <a:bodyPr/>
          <a:p/>
        </p:txBody>
      </p:sp>
      <p:sp>
        <p:nvSpPr>
          <p:cNvPr id="777" name="" descr="{&quot;isTemplate&quot;:true,&quot;type&quot;:&quot;text&quot;}"/>
          <p:cNvSpPr txBox="1"/>
          <p:nvPr/>
        </p:nvSpPr>
        <p:spPr>
          <a:xfrm rot="0" flipH="0" flipV="0">
            <a:off x="3581400" y="2552700"/>
            <a:ext cx="2276475" cy="114300"/>
          </a:xfrm>
          <a:prstGeom prst="rect"/>
        </p:spPr>
        <p:txBody>
          <a:bodyPr wrap="none" lIns="0" tIns="0" rIns="0" bIns="0"/>
          <a:p>
            <a:pPr>
              <a:lnSpc>
                <a:spcPct val="100000"/>
              </a:lnSpc>
            </a:pPr>
            <a:r>
              <a:rPr lang="zh-CN" sz="750">
                <a:solidFill>
                  <a:srgbClr val="FFFFFF">
                    <a:alpha val="85000"/>
                  </a:srgbClr>
                </a:solidFill>
                <a:latin typeface="Microsoft YaHei"/>
                <a:ea typeface="Microsoft YaHei"/>
              </a:rPr>
              <a:t>产出</a:t>
            </a:r>
            <a:endParaRPr/>
          </a:p>
        </p:txBody>
      </p:sp>
      <p:sp>
        <p:nvSpPr>
          <p:cNvPr id="778" name="" descr="{&quot;isTemplate&quot;:true,&quot;type&quot;:&quot;text&quot;}"/>
          <p:cNvSpPr txBox="1"/>
          <p:nvPr/>
        </p:nvSpPr>
        <p:spPr>
          <a:xfrm rot="0" flipH="0" flipV="0">
            <a:off x="3581400" y="2667000"/>
            <a:ext cx="2276475" cy="123825"/>
          </a:xfrm>
          <a:prstGeom prst="rect"/>
        </p:spPr>
        <p:txBody>
          <a:bodyPr wrap="none" lIns="0" tIns="0" rIns="0" bIns="0"/>
          <a:p>
            <a:pPr>
              <a:lnSpc>
                <a:spcPct val="100000"/>
              </a:lnSpc>
            </a:pPr>
            <a:r>
              <a:rPr lang="zh-CN" sz="788" b="1">
                <a:solidFill>
                  <a:srgbClr val="FFFFFF"/>
                </a:solidFill>
                <a:latin typeface="Microsoft YaHei"/>
                <a:ea typeface="Microsoft YaHei"/>
              </a:rPr>
              <a:t>逻辑实体清单</a:t>
            </a:r>
            <a:r>
              <a:rPr lang="en-US" sz="788" b="1">
                <a:solidFill>
                  <a:srgbClr val="FFFFFF"/>
                </a:solidFill>
                <a:latin typeface="Microsoft YaHei"/>
                <a:ea typeface="Microsoft YaHei"/>
              </a:rPr>
              <a:t xml:space="preserve"> + </a:t>
            </a:r>
            <a:r>
              <a:rPr lang="zh-CN" sz="788" b="1">
                <a:solidFill>
                  <a:srgbClr val="FFFFFF"/>
                </a:solidFill>
                <a:latin typeface="Microsoft YaHei"/>
                <a:ea typeface="Microsoft YaHei"/>
              </a:rPr>
              <a:t>四维度设计</a:t>
            </a:r>
            <a:endParaRPr/>
          </a:p>
        </p:txBody>
      </p:sp>
      <p:sp>
        <p:nvSpPr>
          <p:cNvPr id="779" name=""/>
          <p:cNvSpPr/>
          <p:nvPr/>
        </p:nvSpPr>
        <p:spPr>
          <a:xfrm rot="0" flipH="0" flipV="0">
            <a:off x="6124575" y="1276350"/>
            <a:ext cx="2705100" cy="1657350"/>
          </a:xfrm>
          <a:prstGeom prst="roundRect">
            <a:avLst>
              <a:gd name="adj" fmla="val 2299"/>
            </a:avLst>
          </a:prstGeom>
          <a:solidFill>
            <a:srgbClr val="F7F7F8"/>
          </a:solidFill>
          <a:ln/>
        </p:spPr>
        <p:txBody>
          <a:bodyPr/>
          <a:p/>
        </p:txBody>
      </p:sp>
      <p:sp>
        <p:nvSpPr>
          <p:cNvPr id="780" name=""/>
          <p:cNvSpPr/>
          <p:nvPr/>
        </p:nvSpPr>
        <p:spPr>
          <a:xfrm rot="0" flipH="0" flipV="0">
            <a:off x="6124575" y="1276350"/>
            <a:ext cx="2705100" cy="1657350"/>
          </a:xfrm>
          <a:custGeom>
            <a:pathLst>
              <a:path w="284" h="174">
                <a:moveTo>
                  <a:pt x="280" y="0"/>
                </a:moveTo>
                <a:cubicBezTo>
                  <a:pt x="282" y="0"/>
                  <a:pt x="284" y="2"/>
                  <a:pt x="284" y="4"/>
                </a:cubicBezTo>
                <a:cubicBezTo>
                  <a:pt x="284" y="3"/>
                  <a:pt x="283" y="3"/>
                  <a:pt x="283" y="3"/>
                </a:cubicBezTo>
                <a:lnTo>
                  <a:pt x="1" y="3"/>
                </a:lnTo>
                <a:cubicBezTo>
                  <a:pt x="1" y="3"/>
                  <a:pt x="0" y="3"/>
                  <a:pt x="0" y="4"/>
                </a:cubicBezTo>
                <a:cubicBezTo>
                  <a:pt x="0" y="2"/>
                  <a:pt x="2" y="0"/>
                  <a:pt x="4" y="0"/>
                </a:cubicBezTo>
                <a:lnTo>
                  <a:pt x="280" y="0"/>
                </a:lnTo>
                <a:close/>
              </a:path>
            </a:pathLst>
          </a:custGeom>
          <a:solidFill>
            <a:srgbClr val="C43A17"/>
          </a:solidFill>
          <a:ln/>
        </p:spPr>
        <p:txBody>
          <a:bodyPr/>
          <a:p/>
        </p:txBody>
      </p:sp>
      <p:sp>
        <p:nvSpPr>
          <p:cNvPr id="781" name="" descr="{&quot;isTemplate&quot;:true,&quot;type&quot;:&quot;text&quot;}"/>
          <p:cNvSpPr txBox="1"/>
          <p:nvPr/>
        </p:nvSpPr>
        <p:spPr>
          <a:xfrm rot="0" flipH="0" flipV="0">
            <a:off x="6238875" y="1381125"/>
            <a:ext cx="238125" cy="190500"/>
          </a:xfrm>
          <a:prstGeom prst="rect"/>
        </p:spPr>
        <p:txBody>
          <a:bodyPr wrap="none" lIns="0" tIns="0" rIns="0" bIns="0"/>
          <a:p>
            <a:pPr>
              <a:lnSpc>
                <a:spcPct val="100000"/>
              </a:lnSpc>
            </a:pPr>
            <a:r>
              <a:rPr lang="en-US" sz="1200" b="1">
                <a:solidFill>
                  <a:srgbClr val="C43A17"/>
                </a:solidFill>
                <a:latin typeface="Microsoft YaHei"/>
                <a:ea typeface="Microsoft YaHei"/>
              </a:rPr>
              <a:t>AA</a:t>
            </a:r>
            <a:endParaRPr/>
          </a:p>
        </p:txBody>
      </p:sp>
      <p:sp>
        <p:nvSpPr>
          <p:cNvPr id="782" name="" descr="{&quot;isTemplate&quot;:true,&quot;type&quot;:&quot;text&quot;}"/>
          <p:cNvSpPr txBox="1"/>
          <p:nvPr/>
        </p:nvSpPr>
        <p:spPr>
          <a:xfrm rot="0" flipH="0" flipV="0">
            <a:off x="6543675" y="1400175"/>
            <a:ext cx="2171700" cy="161925"/>
          </a:xfrm>
          <a:prstGeom prst="rect"/>
        </p:spPr>
        <p:txBody>
          <a:bodyPr wrap="none" lIns="0" tIns="0" rIns="0" bIns="0"/>
          <a:p>
            <a:pPr>
              <a:lnSpc>
                <a:spcPct val="100000"/>
              </a:lnSpc>
            </a:pPr>
            <a:r>
              <a:rPr lang="zh-CN" sz="1050" b="1">
                <a:solidFill>
                  <a:srgbClr val="0F1423"/>
                </a:solidFill>
                <a:latin typeface="Microsoft YaHei"/>
                <a:ea typeface="Microsoft YaHei"/>
              </a:rPr>
              <a:t>应用架构跟进</a:t>
            </a:r>
            <a:endParaRPr/>
          </a:p>
        </p:txBody>
      </p:sp>
      <p:sp>
        <p:nvSpPr>
          <p:cNvPr id="783" name="" descr="{&quot;isTemplate&quot;:true,&quot;type&quot;:&quot;text&quot;}"/>
          <p:cNvSpPr txBox="1"/>
          <p:nvPr/>
        </p:nvSpPr>
        <p:spPr>
          <a:xfrm rot="0" flipH="0" flipV="0">
            <a:off x="6238875" y="1600200"/>
            <a:ext cx="2476500" cy="114300"/>
          </a:xfrm>
          <a:prstGeom prst="rect"/>
        </p:spPr>
        <p:txBody>
          <a:bodyPr wrap="none" lIns="0" tIns="0" rIns="0" bIns="0"/>
          <a:p>
            <a:pPr>
              <a:lnSpc>
                <a:spcPct val="100000"/>
              </a:lnSpc>
            </a:pPr>
            <a:r>
              <a:rPr lang="en-US" sz="750">
                <a:solidFill>
                  <a:srgbClr val="8A8F99"/>
                </a:solidFill>
                <a:latin typeface="Microsoft YaHei"/>
                <a:ea typeface="Microsoft YaHei"/>
              </a:rPr>
              <a:t xml:space="preserve">DA </a:t>
            </a:r>
            <a:r>
              <a:rPr lang="zh-CN" sz="750">
                <a:solidFill>
                  <a:srgbClr val="8A8F99"/>
                </a:solidFill>
                <a:latin typeface="Microsoft YaHei"/>
                <a:ea typeface="Microsoft YaHei"/>
              </a:rPr>
              <a:t>定稿后</a:t>
            </a:r>
            <a:endParaRPr/>
          </a:p>
        </p:txBody>
      </p:sp>
      <p:sp>
        <p:nvSpPr>
          <p:cNvPr id="784" name="" descr="{&quot;isTemplate&quot;:true,&quot;type&quot;:&quot;text&quot;}"/>
          <p:cNvSpPr txBox="1"/>
          <p:nvPr/>
        </p:nvSpPr>
        <p:spPr>
          <a:xfrm rot="0" flipH="0" flipV="0">
            <a:off x="6238875" y="1790700"/>
            <a:ext cx="38100" cy="114300"/>
          </a:xfrm>
          <a:prstGeom prst="rect"/>
        </p:spPr>
        <p:txBody>
          <a:bodyPr wrap="none" lIns="0" tIns="0" rIns="0" bIns="0"/>
          <a:p>
            <a:pPr>
              <a:lnSpc>
                <a:spcPct val="100000"/>
              </a:lnSpc>
            </a:pPr>
            <a:r>
              <a:rPr sz="750" b="1">
                <a:solidFill>
                  <a:srgbClr val="C43A17"/>
                </a:solidFill>
                <a:latin typeface="Microsoft YaHei"/>
                <a:ea typeface="Microsoft YaHei"/>
              </a:rPr>
              <a:t>▪</a:t>
            </a:r>
            <a:endParaRPr/>
          </a:p>
        </p:txBody>
      </p:sp>
      <p:sp>
        <p:nvSpPr>
          <p:cNvPr id="785" name="" descr="{&quot;isTemplate&quot;:true,&quot;type&quot;:&quot;text&quot;}"/>
          <p:cNvSpPr txBox="1"/>
          <p:nvPr/>
        </p:nvSpPr>
        <p:spPr>
          <a:xfrm rot="0" flipH="0" flipV="0">
            <a:off x="6334125" y="1790700"/>
            <a:ext cx="2381250" cy="171450"/>
          </a:xfrm>
          <a:prstGeom prst="rect"/>
        </p:spPr>
        <p:txBody>
          <a:bodyPr wrap="none" lIns="0" tIns="0" rIns="0" bIns="0"/>
          <a:p>
            <a:pPr>
              <a:lnSpc>
                <a:spcPct val="135000"/>
              </a:lnSpc>
            </a:pPr>
            <a:r>
              <a:rPr lang="zh-CN" sz="788">
                <a:solidFill>
                  <a:srgbClr val="3A4050"/>
                </a:solidFill>
                <a:latin typeface="Microsoft YaHei"/>
                <a:ea typeface="Microsoft YaHei"/>
              </a:rPr>
              <a:t>按业务域划分应用域，明确应用边界与职责</a:t>
            </a:r>
            <a:endParaRPr/>
          </a:p>
        </p:txBody>
      </p:sp>
      <p:sp>
        <p:nvSpPr>
          <p:cNvPr id="786" name="" descr="{&quot;isTemplate&quot;:true,&quot;type&quot;:&quot;text&quot;}"/>
          <p:cNvSpPr txBox="1"/>
          <p:nvPr/>
        </p:nvSpPr>
        <p:spPr>
          <a:xfrm rot="0" flipH="0" flipV="0">
            <a:off x="6238875" y="2057400"/>
            <a:ext cx="38100" cy="114300"/>
          </a:xfrm>
          <a:prstGeom prst="rect"/>
        </p:spPr>
        <p:txBody>
          <a:bodyPr wrap="none" lIns="0" tIns="0" rIns="0" bIns="0"/>
          <a:p>
            <a:pPr>
              <a:lnSpc>
                <a:spcPct val="100000"/>
              </a:lnSpc>
            </a:pPr>
            <a:r>
              <a:rPr sz="750" b="1">
                <a:solidFill>
                  <a:srgbClr val="C43A17"/>
                </a:solidFill>
                <a:latin typeface="Microsoft YaHei"/>
                <a:ea typeface="Microsoft YaHei"/>
              </a:rPr>
              <a:t>▪</a:t>
            </a:r>
            <a:endParaRPr/>
          </a:p>
        </p:txBody>
      </p:sp>
      <p:sp>
        <p:nvSpPr>
          <p:cNvPr id="787" name="" descr="{&quot;isTemplate&quot;:true,&quot;type&quot;:&quot;text&quot;}"/>
          <p:cNvSpPr txBox="1"/>
          <p:nvPr/>
        </p:nvSpPr>
        <p:spPr>
          <a:xfrm rot="0" flipH="0" flipV="0">
            <a:off x="6334125" y="2057400"/>
            <a:ext cx="2381250" cy="171450"/>
          </a:xfrm>
          <a:prstGeom prst="rect"/>
        </p:spPr>
        <p:txBody>
          <a:bodyPr wrap="none" lIns="0" tIns="0" rIns="0" bIns="0"/>
          <a:p>
            <a:pPr>
              <a:lnSpc>
                <a:spcPct val="135000"/>
              </a:lnSpc>
            </a:pPr>
            <a:r>
              <a:rPr lang="zh-CN" sz="788">
                <a:solidFill>
                  <a:srgbClr val="3A4050"/>
                </a:solidFill>
                <a:latin typeface="Microsoft YaHei"/>
                <a:ea typeface="Microsoft YaHei"/>
              </a:rPr>
              <a:t>功能模块级设计：到模块，不到页面</a:t>
            </a:r>
            <a:endParaRPr/>
          </a:p>
        </p:txBody>
      </p:sp>
      <p:sp>
        <p:nvSpPr>
          <p:cNvPr id="788" name="" descr="{&quot;isTemplate&quot;:true,&quot;type&quot;:&quot;text&quot;}"/>
          <p:cNvSpPr txBox="1"/>
          <p:nvPr/>
        </p:nvSpPr>
        <p:spPr>
          <a:xfrm rot="0" flipH="0" flipV="0">
            <a:off x="6238875" y="2324100"/>
            <a:ext cx="38100" cy="114300"/>
          </a:xfrm>
          <a:prstGeom prst="rect"/>
        </p:spPr>
        <p:txBody>
          <a:bodyPr wrap="none" lIns="0" tIns="0" rIns="0" bIns="0"/>
          <a:p>
            <a:pPr>
              <a:lnSpc>
                <a:spcPct val="100000"/>
              </a:lnSpc>
            </a:pPr>
            <a:r>
              <a:rPr sz="750" b="1">
                <a:solidFill>
                  <a:srgbClr val="C43A17"/>
                </a:solidFill>
                <a:latin typeface="Microsoft YaHei"/>
                <a:ea typeface="Microsoft YaHei"/>
              </a:rPr>
              <a:t>▪</a:t>
            </a:r>
            <a:endParaRPr/>
          </a:p>
        </p:txBody>
      </p:sp>
      <p:sp>
        <p:nvSpPr>
          <p:cNvPr id="789" name="" descr="{&quot;isTemplate&quot;:true,&quot;type&quot;:&quot;text&quot;}"/>
          <p:cNvSpPr txBox="1"/>
          <p:nvPr/>
        </p:nvSpPr>
        <p:spPr>
          <a:xfrm rot="0" flipH="0" flipV="0">
            <a:off x="6334125" y="2324100"/>
            <a:ext cx="2381250" cy="171450"/>
          </a:xfrm>
          <a:prstGeom prst="rect"/>
        </p:spPr>
        <p:txBody>
          <a:bodyPr wrap="none" lIns="0" tIns="0" rIns="0" bIns="0"/>
          <a:p>
            <a:pPr>
              <a:lnSpc>
                <a:spcPct val="135000"/>
              </a:lnSpc>
            </a:pPr>
            <a:r>
              <a:rPr lang="zh-CN" sz="788">
                <a:solidFill>
                  <a:srgbClr val="3A4050"/>
                </a:solidFill>
                <a:latin typeface="Microsoft YaHei"/>
                <a:ea typeface="Microsoft YaHei"/>
              </a:rPr>
              <a:t>集成架构：方式、协议、数据流转、服务调用</a:t>
            </a:r>
            <a:endParaRPr/>
          </a:p>
        </p:txBody>
      </p:sp>
      <p:sp>
        <p:nvSpPr>
          <p:cNvPr id="790" name=""/>
          <p:cNvSpPr/>
          <p:nvPr/>
        </p:nvSpPr>
        <p:spPr>
          <a:xfrm rot="0" flipH="0" flipV="0">
            <a:off x="6238875" y="2533650"/>
            <a:ext cx="2476500" cy="266700"/>
          </a:xfrm>
          <a:prstGeom prst="roundRect">
            <a:avLst>
              <a:gd name="adj" fmla="val 10714"/>
            </a:avLst>
          </a:prstGeom>
          <a:solidFill>
            <a:srgbClr val="C43A17"/>
          </a:solidFill>
          <a:ln/>
        </p:spPr>
        <p:txBody>
          <a:bodyPr/>
          <a:p/>
        </p:txBody>
      </p:sp>
      <p:sp>
        <p:nvSpPr>
          <p:cNvPr id="791" name="" descr="{&quot;isTemplate&quot;:true,&quot;type&quot;:&quot;text&quot;}"/>
          <p:cNvSpPr txBox="1"/>
          <p:nvPr/>
        </p:nvSpPr>
        <p:spPr>
          <a:xfrm rot="0" flipH="0" flipV="0">
            <a:off x="6334125" y="2552700"/>
            <a:ext cx="2286000" cy="114300"/>
          </a:xfrm>
          <a:prstGeom prst="rect"/>
        </p:spPr>
        <p:txBody>
          <a:bodyPr wrap="none" lIns="0" tIns="0" rIns="0" bIns="0"/>
          <a:p>
            <a:pPr>
              <a:lnSpc>
                <a:spcPct val="100000"/>
              </a:lnSpc>
            </a:pPr>
            <a:r>
              <a:rPr lang="zh-CN" sz="750">
                <a:solidFill>
                  <a:srgbClr val="FFFFFF">
                    <a:alpha val="85000"/>
                  </a:srgbClr>
                </a:solidFill>
                <a:latin typeface="Microsoft YaHei"/>
                <a:ea typeface="Microsoft YaHei"/>
              </a:rPr>
              <a:t>产出</a:t>
            </a:r>
            <a:endParaRPr/>
          </a:p>
        </p:txBody>
      </p:sp>
      <p:sp>
        <p:nvSpPr>
          <p:cNvPr id="792" name="" descr="{&quot;isTemplate&quot;:true,&quot;type&quot;:&quot;text&quot;}"/>
          <p:cNvSpPr txBox="1"/>
          <p:nvPr/>
        </p:nvSpPr>
        <p:spPr>
          <a:xfrm rot="0" flipH="0" flipV="0">
            <a:off x="6334125" y="2667000"/>
            <a:ext cx="2286000" cy="123825"/>
          </a:xfrm>
          <a:prstGeom prst="rect"/>
        </p:spPr>
        <p:txBody>
          <a:bodyPr wrap="none" lIns="0" tIns="0" rIns="0" bIns="0"/>
          <a:p>
            <a:pPr>
              <a:lnSpc>
                <a:spcPct val="100000"/>
              </a:lnSpc>
            </a:pPr>
            <a:r>
              <a:rPr lang="zh-CN" sz="788" b="1">
                <a:solidFill>
                  <a:srgbClr val="FFFFFF"/>
                </a:solidFill>
                <a:latin typeface="Microsoft YaHei"/>
                <a:ea typeface="Microsoft YaHei"/>
              </a:rPr>
              <a:t>应用域划分</a:t>
            </a:r>
            <a:r>
              <a:rPr lang="en-US" sz="788" b="1">
                <a:solidFill>
                  <a:srgbClr val="FFFFFF"/>
                </a:solidFill>
                <a:latin typeface="Microsoft YaHei"/>
                <a:ea typeface="Microsoft YaHei"/>
              </a:rPr>
              <a:t xml:space="preserve"> + </a:t>
            </a:r>
            <a:r>
              <a:rPr lang="zh-CN" sz="788" b="1">
                <a:solidFill>
                  <a:srgbClr val="FFFFFF"/>
                </a:solidFill>
                <a:latin typeface="Microsoft YaHei"/>
                <a:ea typeface="Microsoft YaHei"/>
              </a:rPr>
              <a:t>功能模块清单</a:t>
            </a:r>
            <a:r>
              <a:rPr lang="en-US" sz="788" b="1">
                <a:solidFill>
                  <a:srgbClr val="FFFFFF"/>
                </a:solidFill>
                <a:latin typeface="Microsoft YaHei"/>
                <a:ea typeface="Microsoft YaHei"/>
              </a:rPr>
              <a:t xml:space="preserve"> + </a:t>
            </a:r>
            <a:r>
              <a:rPr lang="zh-CN" sz="788" b="1">
                <a:solidFill>
                  <a:srgbClr val="FFFFFF"/>
                </a:solidFill>
                <a:latin typeface="Microsoft YaHei"/>
                <a:ea typeface="Microsoft YaHei"/>
              </a:rPr>
              <a:t>集成架构</a:t>
            </a:r>
            <a:endParaRPr/>
          </a:p>
        </p:txBody>
      </p:sp>
      <p:sp>
        <p:nvSpPr>
          <p:cNvPr id="793" name=""/>
          <p:cNvSpPr/>
          <p:nvPr/>
        </p:nvSpPr>
        <p:spPr>
          <a:xfrm rot="0" flipH="0" flipV="0">
            <a:off x="8886825" y="1276350"/>
            <a:ext cx="2695575" cy="1657350"/>
          </a:xfrm>
          <a:prstGeom prst="roundRect">
            <a:avLst>
              <a:gd name="adj" fmla="val 2299"/>
            </a:avLst>
          </a:prstGeom>
          <a:solidFill>
            <a:srgbClr val="F7F7F8"/>
          </a:solidFill>
          <a:ln/>
        </p:spPr>
        <p:txBody>
          <a:bodyPr/>
          <a:p/>
        </p:txBody>
      </p:sp>
      <p:sp>
        <p:nvSpPr>
          <p:cNvPr id="794" name=""/>
          <p:cNvSpPr/>
          <p:nvPr/>
        </p:nvSpPr>
        <p:spPr>
          <a:xfrm rot="0" flipH="0" flipV="0">
            <a:off x="8886825" y="1276350"/>
            <a:ext cx="2695575" cy="1657350"/>
          </a:xfrm>
          <a:custGeom>
            <a:pathLst>
              <a:path w="283" h="174">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9E3410"/>
          </a:solidFill>
          <a:ln/>
        </p:spPr>
        <p:txBody>
          <a:bodyPr/>
          <a:p/>
        </p:txBody>
      </p:sp>
      <p:sp>
        <p:nvSpPr>
          <p:cNvPr id="795" name="" descr="{&quot;isTemplate&quot;:true,&quot;type&quot;:&quot;text&quot;}"/>
          <p:cNvSpPr txBox="1"/>
          <p:nvPr/>
        </p:nvSpPr>
        <p:spPr>
          <a:xfrm rot="0" flipH="0" flipV="0">
            <a:off x="9001125" y="1381125"/>
            <a:ext cx="200025" cy="190500"/>
          </a:xfrm>
          <a:prstGeom prst="rect"/>
        </p:spPr>
        <p:txBody>
          <a:bodyPr wrap="none" lIns="0" tIns="0" rIns="0" bIns="0"/>
          <a:p>
            <a:pPr>
              <a:lnSpc>
                <a:spcPct val="100000"/>
              </a:lnSpc>
            </a:pPr>
            <a:r>
              <a:rPr lang="en-US" sz="1200" b="1">
                <a:solidFill>
                  <a:srgbClr val="9E3410"/>
                </a:solidFill>
                <a:latin typeface="Microsoft YaHei"/>
                <a:ea typeface="Microsoft YaHei"/>
              </a:rPr>
              <a:t>TA</a:t>
            </a:r>
            <a:endParaRPr/>
          </a:p>
        </p:txBody>
      </p:sp>
      <p:sp>
        <p:nvSpPr>
          <p:cNvPr id="796" name="" descr="{&quot;isTemplate&quot;:true,&quot;type&quot;:&quot;text&quot;}"/>
          <p:cNvSpPr txBox="1"/>
          <p:nvPr/>
        </p:nvSpPr>
        <p:spPr>
          <a:xfrm rot="0" flipH="0" flipV="0">
            <a:off x="9267825" y="1400175"/>
            <a:ext cx="2200275" cy="161925"/>
          </a:xfrm>
          <a:prstGeom prst="rect"/>
        </p:spPr>
        <p:txBody>
          <a:bodyPr wrap="none" lIns="0" tIns="0" rIns="0" bIns="0"/>
          <a:p>
            <a:pPr>
              <a:lnSpc>
                <a:spcPct val="100000"/>
              </a:lnSpc>
            </a:pPr>
            <a:r>
              <a:rPr lang="zh-CN" sz="1050" b="1">
                <a:solidFill>
                  <a:srgbClr val="0F1423"/>
                </a:solidFill>
                <a:latin typeface="Microsoft YaHei"/>
                <a:ea typeface="Microsoft YaHei"/>
              </a:rPr>
              <a:t>技术架构托底</a:t>
            </a:r>
            <a:endParaRPr/>
          </a:p>
        </p:txBody>
      </p:sp>
      <p:sp>
        <p:nvSpPr>
          <p:cNvPr id="797" name="" descr="{&quot;isTemplate&quot;:true,&quot;type&quot;:&quot;text&quot;}"/>
          <p:cNvSpPr txBox="1"/>
          <p:nvPr/>
        </p:nvSpPr>
        <p:spPr>
          <a:xfrm rot="0" flipH="0" flipV="0">
            <a:off x="9001125" y="1600200"/>
            <a:ext cx="2466975" cy="114300"/>
          </a:xfrm>
          <a:prstGeom prst="rect"/>
        </p:spPr>
        <p:txBody>
          <a:bodyPr wrap="none" lIns="0" tIns="0" rIns="0" bIns="0"/>
          <a:p>
            <a:pPr>
              <a:lnSpc>
                <a:spcPct val="100000"/>
              </a:lnSpc>
            </a:pPr>
            <a:r>
              <a:rPr lang="zh-CN" sz="750">
                <a:solidFill>
                  <a:srgbClr val="8A8F99"/>
                </a:solidFill>
                <a:latin typeface="Microsoft YaHei"/>
                <a:ea typeface="Microsoft YaHei"/>
              </a:rPr>
              <a:t>前三层并行支撑</a:t>
            </a:r>
            <a:endParaRPr/>
          </a:p>
        </p:txBody>
      </p:sp>
      <p:sp>
        <p:nvSpPr>
          <p:cNvPr id="798" name="" descr="{&quot;isTemplate&quot;:true,&quot;type&quot;:&quot;text&quot;}"/>
          <p:cNvSpPr txBox="1"/>
          <p:nvPr/>
        </p:nvSpPr>
        <p:spPr>
          <a:xfrm rot="0" flipH="0" flipV="0">
            <a:off x="9001125" y="1790700"/>
            <a:ext cx="38100" cy="114300"/>
          </a:xfrm>
          <a:prstGeom prst="rect"/>
        </p:spPr>
        <p:txBody>
          <a:bodyPr wrap="none" lIns="0" tIns="0" rIns="0" bIns="0"/>
          <a:p>
            <a:pPr>
              <a:lnSpc>
                <a:spcPct val="100000"/>
              </a:lnSpc>
            </a:pPr>
            <a:r>
              <a:rPr sz="750" b="1">
                <a:solidFill>
                  <a:srgbClr val="9E3410"/>
                </a:solidFill>
                <a:latin typeface="Microsoft YaHei"/>
                <a:ea typeface="Microsoft YaHei"/>
              </a:rPr>
              <a:t>▪</a:t>
            </a:r>
            <a:endParaRPr/>
          </a:p>
        </p:txBody>
      </p:sp>
      <p:sp>
        <p:nvSpPr>
          <p:cNvPr id="799" name="" descr="{&quot;isTemplate&quot;:true,&quot;type&quot;:&quot;text&quot;}"/>
          <p:cNvSpPr txBox="1"/>
          <p:nvPr/>
        </p:nvSpPr>
        <p:spPr>
          <a:xfrm rot="0" flipH="0" flipV="0">
            <a:off x="9096375" y="1790700"/>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承载前三层的运行底座与集成技术选型</a:t>
            </a:r>
            <a:endParaRPr/>
          </a:p>
        </p:txBody>
      </p:sp>
      <p:sp>
        <p:nvSpPr>
          <p:cNvPr id="800" name="" descr="{&quot;isTemplate&quot;:true,&quot;type&quot;:&quot;text&quot;}"/>
          <p:cNvSpPr txBox="1"/>
          <p:nvPr/>
        </p:nvSpPr>
        <p:spPr>
          <a:xfrm rot="0" flipH="0" flipV="0">
            <a:off x="9001125" y="2057400"/>
            <a:ext cx="38100" cy="114300"/>
          </a:xfrm>
          <a:prstGeom prst="rect"/>
        </p:spPr>
        <p:txBody>
          <a:bodyPr wrap="none" lIns="0" tIns="0" rIns="0" bIns="0"/>
          <a:p>
            <a:pPr>
              <a:lnSpc>
                <a:spcPct val="100000"/>
              </a:lnSpc>
            </a:pPr>
            <a:r>
              <a:rPr sz="750" b="1">
                <a:solidFill>
                  <a:srgbClr val="9E3410"/>
                </a:solidFill>
                <a:latin typeface="Microsoft YaHei"/>
                <a:ea typeface="Microsoft YaHei"/>
              </a:rPr>
              <a:t>▪</a:t>
            </a:r>
            <a:endParaRPr/>
          </a:p>
        </p:txBody>
      </p:sp>
      <p:sp>
        <p:nvSpPr>
          <p:cNvPr id="801" name="" descr="{&quot;isTemplate&quot;:true,&quot;type&quot;:&quot;text&quot;}"/>
          <p:cNvSpPr txBox="1"/>
          <p:nvPr/>
        </p:nvSpPr>
        <p:spPr>
          <a:xfrm rot="0" flipH="0" flipV="0">
            <a:off x="9096375" y="2057400"/>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补齐</a:t>
            </a:r>
            <a:r>
              <a:rPr lang="en-US" sz="788">
                <a:solidFill>
                  <a:srgbClr val="3A4050"/>
                </a:solidFill>
                <a:latin typeface="Microsoft YaHei"/>
                <a:ea typeface="Microsoft YaHei"/>
              </a:rPr>
              <a:t xml:space="preserve"> AI </a:t>
            </a:r>
            <a:r>
              <a:rPr lang="zh-CN" sz="788">
                <a:solidFill>
                  <a:srgbClr val="3A4050"/>
                </a:solidFill>
                <a:latin typeface="Microsoft YaHei"/>
                <a:ea typeface="Microsoft YaHei"/>
              </a:rPr>
              <a:t>五项就绪度对应的技术方案</a:t>
            </a:r>
            <a:endParaRPr/>
          </a:p>
        </p:txBody>
      </p:sp>
      <p:sp>
        <p:nvSpPr>
          <p:cNvPr id="802" name="" descr="{&quot;isTemplate&quot;:true,&quot;type&quot;:&quot;text&quot;}"/>
          <p:cNvSpPr txBox="1"/>
          <p:nvPr/>
        </p:nvSpPr>
        <p:spPr>
          <a:xfrm rot="0" flipH="0" flipV="0">
            <a:off x="9001125" y="2324100"/>
            <a:ext cx="38100" cy="114300"/>
          </a:xfrm>
          <a:prstGeom prst="rect"/>
        </p:spPr>
        <p:txBody>
          <a:bodyPr wrap="none" lIns="0" tIns="0" rIns="0" bIns="0"/>
          <a:p>
            <a:pPr>
              <a:lnSpc>
                <a:spcPct val="100000"/>
              </a:lnSpc>
            </a:pPr>
            <a:r>
              <a:rPr sz="750" b="1">
                <a:solidFill>
                  <a:srgbClr val="9E3410"/>
                </a:solidFill>
                <a:latin typeface="Microsoft YaHei"/>
                <a:ea typeface="Microsoft YaHei"/>
              </a:rPr>
              <a:t>▪</a:t>
            </a:r>
            <a:endParaRPr/>
          </a:p>
        </p:txBody>
      </p:sp>
      <p:sp>
        <p:nvSpPr>
          <p:cNvPr id="803" name="" descr="{&quot;isTemplate&quot;:true,&quot;type&quot;:&quot;text&quot;}"/>
          <p:cNvSpPr txBox="1"/>
          <p:nvPr/>
        </p:nvSpPr>
        <p:spPr>
          <a:xfrm rot="0" flipH="0" flipV="0">
            <a:off x="9096375" y="2324100"/>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安全合规：密级继承与数据出域边界</a:t>
            </a:r>
            <a:endParaRPr/>
          </a:p>
        </p:txBody>
      </p:sp>
      <p:sp>
        <p:nvSpPr>
          <p:cNvPr id="804" name=""/>
          <p:cNvSpPr/>
          <p:nvPr/>
        </p:nvSpPr>
        <p:spPr>
          <a:xfrm rot="0" flipH="0" flipV="0">
            <a:off x="9001125" y="2533650"/>
            <a:ext cx="2466975" cy="266700"/>
          </a:xfrm>
          <a:prstGeom prst="roundRect">
            <a:avLst>
              <a:gd name="adj" fmla="val 10714"/>
            </a:avLst>
          </a:prstGeom>
          <a:solidFill>
            <a:srgbClr val="9E3410"/>
          </a:solidFill>
          <a:ln/>
        </p:spPr>
        <p:txBody>
          <a:bodyPr/>
          <a:p/>
        </p:txBody>
      </p:sp>
      <p:sp>
        <p:nvSpPr>
          <p:cNvPr id="805" name="" descr="{&quot;isTemplate&quot;:true,&quot;type&quot;:&quot;text&quot;}"/>
          <p:cNvSpPr txBox="1"/>
          <p:nvPr/>
        </p:nvSpPr>
        <p:spPr>
          <a:xfrm rot="0" flipH="0" flipV="0">
            <a:off x="9096375" y="2552700"/>
            <a:ext cx="2276475" cy="114300"/>
          </a:xfrm>
          <a:prstGeom prst="rect"/>
        </p:spPr>
        <p:txBody>
          <a:bodyPr wrap="none" lIns="0" tIns="0" rIns="0" bIns="0"/>
          <a:p>
            <a:pPr>
              <a:lnSpc>
                <a:spcPct val="100000"/>
              </a:lnSpc>
            </a:pPr>
            <a:r>
              <a:rPr lang="zh-CN" sz="750">
                <a:solidFill>
                  <a:srgbClr val="FFFFFF">
                    <a:alpha val="85000"/>
                  </a:srgbClr>
                </a:solidFill>
                <a:latin typeface="Microsoft YaHei"/>
                <a:ea typeface="Microsoft YaHei"/>
              </a:rPr>
              <a:t>产出</a:t>
            </a:r>
            <a:endParaRPr/>
          </a:p>
        </p:txBody>
      </p:sp>
      <p:sp>
        <p:nvSpPr>
          <p:cNvPr id="806" name="" descr="{&quot;isTemplate&quot;:true,&quot;type&quot;:&quot;text&quot;}"/>
          <p:cNvSpPr txBox="1"/>
          <p:nvPr/>
        </p:nvSpPr>
        <p:spPr>
          <a:xfrm rot="0" flipH="0" flipV="0">
            <a:off x="9096375" y="2667000"/>
            <a:ext cx="2276475" cy="123825"/>
          </a:xfrm>
          <a:prstGeom prst="rect"/>
        </p:spPr>
        <p:txBody>
          <a:bodyPr wrap="none" lIns="0" tIns="0" rIns="0" bIns="0"/>
          <a:p>
            <a:pPr>
              <a:lnSpc>
                <a:spcPct val="100000"/>
              </a:lnSpc>
            </a:pPr>
            <a:r>
              <a:rPr lang="zh-CN" sz="788" b="1">
                <a:solidFill>
                  <a:srgbClr val="FFFFFF"/>
                </a:solidFill>
                <a:latin typeface="Microsoft YaHei"/>
                <a:ea typeface="Microsoft YaHei"/>
              </a:rPr>
              <a:t>技术架构方案</a:t>
            </a:r>
            <a:r>
              <a:rPr lang="en-US" sz="788" b="1">
                <a:solidFill>
                  <a:srgbClr val="FFFFFF"/>
                </a:solidFill>
                <a:latin typeface="Microsoft YaHei"/>
                <a:ea typeface="Microsoft YaHei"/>
              </a:rPr>
              <a:t xml:space="preserve"> + AI </a:t>
            </a:r>
            <a:r>
              <a:rPr lang="zh-CN" sz="788" b="1">
                <a:solidFill>
                  <a:srgbClr val="FFFFFF"/>
                </a:solidFill>
                <a:latin typeface="Microsoft YaHei"/>
                <a:ea typeface="Microsoft YaHei"/>
              </a:rPr>
              <a:t>技术配套</a:t>
            </a:r>
            <a:endParaRPr/>
          </a:p>
        </p:txBody>
      </p:sp>
      <p:sp>
        <p:nvSpPr>
          <p:cNvPr id="807" name=""/>
          <p:cNvSpPr/>
          <p:nvPr/>
        </p:nvSpPr>
        <p:spPr>
          <a:xfrm rot="0" flipH="0" flipV="0">
            <a:off x="609600" y="2981325"/>
            <a:ext cx="5772150" cy="2219325"/>
          </a:xfrm>
          <a:prstGeom prst="roundRect">
            <a:avLst>
              <a:gd name="adj" fmla="val 1717"/>
            </a:avLst>
          </a:prstGeom>
          <a:solidFill>
            <a:srgbClr val="0F1423"/>
          </a:solidFill>
          <a:ln/>
        </p:spPr>
        <p:txBody>
          <a:bodyPr/>
          <a:p/>
        </p:txBody>
      </p:sp>
      <p:sp>
        <p:nvSpPr>
          <p:cNvPr id="808" name="" descr="{&quot;isTemplate&quot;:true,&quot;type&quot;:&quot;text&quot;}"/>
          <p:cNvSpPr txBox="1"/>
          <p:nvPr/>
        </p:nvSpPr>
        <p:spPr>
          <a:xfrm rot="0" flipH="0" flipV="0">
            <a:off x="771525" y="3114675"/>
            <a:ext cx="5448300" cy="142875"/>
          </a:xfrm>
          <a:prstGeom prst="rect"/>
        </p:spPr>
        <p:txBody>
          <a:bodyPr wrap="none" lIns="0" tIns="0" rIns="0" bIns="0"/>
          <a:p>
            <a:pPr>
              <a:lnSpc>
                <a:spcPct val="100000"/>
              </a:lnSpc>
            </a:pPr>
            <a:r>
              <a:rPr lang="zh-CN" sz="900" spc="75">
                <a:solidFill>
                  <a:srgbClr val="FBA15C"/>
                </a:solidFill>
                <a:latin typeface="Microsoft YaHei"/>
                <a:ea typeface="Microsoft YaHei"/>
              </a:rPr>
              <a:t>交汇点是业务对象：</a:t>
            </a:r>
            <a:r>
              <a:rPr lang="en-US" sz="900" spc="75">
                <a:solidFill>
                  <a:srgbClr val="FBA15C"/>
                </a:solidFill>
                <a:latin typeface="Microsoft YaHei"/>
                <a:ea typeface="Microsoft YaHei"/>
              </a:rPr>
              <a:t xml:space="preserve">BA </a:t>
            </a:r>
            <a:r>
              <a:rPr lang="zh-CN" sz="900" spc="75">
                <a:solidFill>
                  <a:srgbClr val="FBA15C"/>
                </a:solidFill>
                <a:latin typeface="Microsoft YaHei"/>
                <a:ea typeface="Microsoft YaHei"/>
              </a:rPr>
              <a:t>往下拆、</a:t>
            </a:r>
            <a:r>
              <a:rPr lang="en-US" sz="900" spc="75">
                <a:solidFill>
                  <a:srgbClr val="FBA15C"/>
                </a:solidFill>
                <a:latin typeface="Microsoft YaHei"/>
                <a:ea typeface="Microsoft YaHei"/>
              </a:rPr>
              <a:t xml:space="preserve">DA </a:t>
            </a:r>
            <a:r>
              <a:rPr lang="zh-CN" sz="900" spc="75">
                <a:solidFill>
                  <a:srgbClr val="FBA15C"/>
                </a:solidFill>
                <a:latin typeface="Microsoft YaHei"/>
                <a:ea typeface="Microsoft YaHei"/>
              </a:rPr>
              <a:t>往上收，在这里合上</a:t>
            </a:r>
            <a:endParaRPr/>
          </a:p>
        </p:txBody>
      </p:sp>
      <p:sp>
        <p:nvSpPr>
          <p:cNvPr id="809" name=""/>
          <p:cNvSpPr/>
          <p:nvPr/>
        </p:nvSpPr>
        <p:spPr>
          <a:xfrm rot="0" flipH="0" flipV="0">
            <a:off x="771525" y="3505200"/>
            <a:ext cx="1504950" cy="676275"/>
          </a:xfrm>
          <a:prstGeom prst="roundRect">
            <a:avLst>
              <a:gd name="adj" fmla="val 4225"/>
            </a:avLst>
          </a:prstGeom>
          <a:solidFill>
            <a:srgbClr val="FA4F24"/>
          </a:solidFill>
          <a:ln/>
        </p:spPr>
        <p:txBody>
          <a:bodyPr/>
          <a:p/>
        </p:txBody>
      </p:sp>
      <p:sp>
        <p:nvSpPr>
          <p:cNvPr id="810" name="" descr="{&quot;isTemplate&quot;:true,&quot;type&quot;:&quot;text&quot;}"/>
          <p:cNvSpPr txBox="1"/>
          <p:nvPr/>
        </p:nvSpPr>
        <p:spPr>
          <a:xfrm rot="0" flipH="0" flipV="0">
            <a:off x="876300" y="3600450"/>
            <a:ext cx="1295400"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BA </a:t>
            </a:r>
            <a:r>
              <a:rPr lang="zh-CN" sz="863" b="1">
                <a:solidFill>
                  <a:srgbClr val="FFFFFF"/>
                </a:solidFill>
                <a:latin typeface="Microsoft YaHei"/>
                <a:ea typeface="Microsoft YaHei"/>
              </a:rPr>
              <a:t>往下拆</a:t>
            </a:r>
            <a:endParaRPr/>
          </a:p>
        </p:txBody>
      </p:sp>
      <p:sp>
        <p:nvSpPr>
          <p:cNvPr id="811" name="" descr="{&quot;isTemplate&quot;:true,&quot;type&quot;:&quot;text&quot;}"/>
          <p:cNvSpPr txBox="1"/>
          <p:nvPr/>
        </p:nvSpPr>
        <p:spPr>
          <a:xfrm rot="0" flipH="0" flipV="0">
            <a:off x="876300" y="3771900"/>
            <a:ext cx="1295400" cy="314325"/>
          </a:xfrm>
          <a:prstGeom prst="rect"/>
        </p:spPr>
        <p:txBody>
          <a:bodyPr wrap="square" lIns="0" tIns="0" rIns="0" bIns="0">
            <a:normAutofit/>
          </a:bodyPr>
          <a:p>
            <a:pPr>
              <a:lnSpc>
                <a:spcPct val="135000"/>
              </a:lnSpc>
            </a:pPr>
            <a:r>
              <a:rPr lang="zh-CN" sz="750">
                <a:solidFill>
                  <a:srgbClr val="FFFFFF">
                    <a:alpha val="88000"/>
                  </a:srgbClr>
                </a:solidFill>
                <a:latin typeface="Microsoft YaHei"/>
                <a:ea typeface="Microsoft YaHei"/>
              </a:rPr>
              <a:t>价值流</a:t>
            </a:r>
            <a:r>
              <a:rPr lang="en-US" sz="750">
                <a:solidFill>
                  <a:srgbClr val="FFFFFF">
                    <a:alpha val="88000"/>
                  </a:srgbClr>
                </a:solidFill>
                <a:latin typeface="Microsoft YaHei"/>
                <a:ea typeface="Microsoft YaHei"/>
              </a:rPr>
              <a:t xml:space="preserve"> → </a:t>
            </a:r>
            <a:r>
              <a:rPr lang="zh-CN" sz="750">
                <a:solidFill>
                  <a:srgbClr val="FFFFFF">
                    <a:alpha val="88000"/>
                  </a:srgbClr>
                </a:solidFill>
                <a:latin typeface="Microsoft YaHei"/>
                <a:ea typeface="Microsoft YaHei"/>
              </a:rPr>
              <a:t>能力</a:t>
            </a:r>
            <a:r>
              <a:rPr lang="en-US" sz="750">
                <a:solidFill>
                  <a:srgbClr val="FFFFFF">
                    <a:alpha val="88000"/>
                  </a:srgbClr>
                </a:solidFill>
                <a:latin typeface="Microsoft YaHei"/>
                <a:ea typeface="Microsoft YaHei"/>
              </a:rPr>
              <a:t xml:space="preserve"> → </a:t>
            </a:r>
            <a:r>
              <a:rPr lang="zh-CN" sz="750">
                <a:solidFill>
                  <a:srgbClr val="FFFFFF">
                    <a:alpha val="88000"/>
                  </a:srgbClr>
                </a:solidFill>
                <a:latin typeface="Microsoft YaHei"/>
                <a:ea typeface="Microsoft YaHei"/>
              </a:rPr>
              <a:t>活动</a:t>
            </a:r>
            <a:r>
              <a:rPr lang="en-US" sz="750">
                <a:solidFill>
                  <a:srgbClr val="FFFFFF">
                    <a:alpha val="88000"/>
                  </a:srgbClr>
                </a:solidFill>
                <a:latin typeface="Microsoft YaHei"/>
                <a:ea typeface="Microsoft YaHei"/>
              </a:rPr>
              <a:t xml:space="preserve"> → </a:t>
            </a:r>
            <a:r>
              <a:rPr lang="zh-CN" sz="750">
                <a:solidFill>
                  <a:srgbClr val="FFFFFF">
                    <a:alpha val="88000"/>
                  </a:srgbClr>
                </a:solidFill>
                <a:latin typeface="Microsoft YaHei"/>
                <a:ea typeface="Microsoft YaHei"/>
              </a:rPr>
              <a:t>业务对象</a:t>
            </a:r>
            <a:endParaRPr/>
          </a:p>
        </p:txBody>
      </p:sp>
      <p:sp>
        <p:nvSpPr>
          <p:cNvPr id="812" name="" descr="{&quot;isTemplate&quot;:true,&quot;type&quot;:&quot;text&quot;}"/>
          <p:cNvSpPr txBox="1"/>
          <p:nvPr/>
        </p:nvSpPr>
        <p:spPr>
          <a:xfrm rot="0" flipH="0" flipV="0">
            <a:off x="2352675" y="3733800"/>
            <a:ext cx="171450" cy="209550"/>
          </a:xfrm>
          <a:prstGeom prst="rect"/>
        </p:spPr>
        <p:txBody>
          <a:bodyPr wrap="none" lIns="0" tIns="0" rIns="0" bIns="0"/>
          <a:p>
            <a:pPr>
              <a:lnSpc>
                <a:spcPct val="100000"/>
              </a:lnSpc>
            </a:pPr>
            <a:r>
              <a:rPr sz="1350" b="1">
                <a:solidFill>
                  <a:srgbClr val="FBA15C"/>
                </a:solidFill>
                <a:latin typeface="Microsoft YaHei"/>
                <a:ea typeface="Microsoft YaHei"/>
              </a:rPr>
              <a:t>→</a:t>
            </a:r>
            <a:endParaRPr/>
          </a:p>
        </p:txBody>
      </p:sp>
      <p:sp>
        <p:nvSpPr>
          <p:cNvPr id="813" name=""/>
          <p:cNvSpPr/>
          <p:nvPr/>
        </p:nvSpPr>
        <p:spPr>
          <a:xfrm rot="0" flipH="0" flipV="0">
            <a:off x="2600325" y="3495675"/>
            <a:ext cx="1504950" cy="685800"/>
          </a:xfrm>
          <a:prstGeom prst="roundRect">
            <a:avLst>
              <a:gd name="adj" fmla="val 4167"/>
            </a:avLst>
          </a:prstGeom>
          <a:solidFill>
            <a:srgbClr val="FFFFFF"/>
          </a:solidFill>
          <a:ln/>
        </p:spPr>
        <p:txBody>
          <a:bodyPr/>
          <a:p/>
        </p:txBody>
      </p:sp>
      <p:sp>
        <p:nvSpPr>
          <p:cNvPr id="814" name="" descr="{&quot;isTemplate&quot;:true,&quot;type&quot;:&quot;text&quot;}"/>
          <p:cNvSpPr txBox="1"/>
          <p:nvPr/>
        </p:nvSpPr>
        <p:spPr>
          <a:xfrm rot="0" flipH="0" flipV="0">
            <a:off x="2705100" y="3590925"/>
            <a:ext cx="1295400" cy="142875"/>
          </a:xfrm>
          <a:prstGeom prst="rect"/>
        </p:spPr>
        <p:txBody>
          <a:bodyPr wrap="none" lIns="0" tIns="0" rIns="0" bIns="0"/>
          <a:p>
            <a:pPr>
              <a:lnSpc>
                <a:spcPct val="100000"/>
              </a:lnSpc>
            </a:pPr>
            <a:r>
              <a:rPr lang="zh-CN" sz="900" b="1">
                <a:solidFill>
                  <a:srgbClr val="C43A17"/>
                </a:solidFill>
                <a:latin typeface="Microsoft YaHei"/>
                <a:ea typeface="Microsoft YaHei"/>
              </a:rPr>
              <a:t>业务对象</a:t>
            </a:r>
            <a:endParaRPr/>
          </a:p>
        </p:txBody>
      </p:sp>
      <p:sp>
        <p:nvSpPr>
          <p:cNvPr id="815" name="" descr="{&quot;isTemplate&quot;:true,&quot;type&quot;:&quot;text&quot;}"/>
          <p:cNvSpPr txBox="1"/>
          <p:nvPr/>
        </p:nvSpPr>
        <p:spPr>
          <a:xfrm rot="0" flipH="0" flipV="0">
            <a:off x="2705100" y="3771900"/>
            <a:ext cx="1295400" cy="314325"/>
          </a:xfrm>
          <a:prstGeom prst="rect"/>
        </p:spPr>
        <p:txBody>
          <a:bodyPr wrap="square" lIns="0" tIns="0" rIns="0" bIns="0">
            <a:normAutofit/>
          </a:bodyPr>
          <a:p>
            <a:pPr>
              <a:lnSpc>
                <a:spcPct val="135000"/>
              </a:lnSpc>
            </a:pPr>
            <a:r>
              <a:rPr lang="zh-CN" sz="750">
                <a:solidFill>
                  <a:srgbClr val="5A6070"/>
                </a:solidFill>
                <a:latin typeface="Microsoft YaHei"/>
                <a:ea typeface="Microsoft YaHei"/>
              </a:rPr>
              <a:t>电站、设备、工单、合同、供应商</a:t>
            </a:r>
            <a:endParaRPr/>
          </a:p>
        </p:txBody>
      </p:sp>
      <p:sp>
        <p:nvSpPr>
          <p:cNvPr id="816" name="" descr="{&quot;isTemplate&quot;:true,&quot;type&quot;:&quot;text&quot;}"/>
          <p:cNvSpPr txBox="1"/>
          <p:nvPr/>
        </p:nvSpPr>
        <p:spPr>
          <a:xfrm rot="0" flipH="0" flipV="0">
            <a:off x="4181475" y="3733800"/>
            <a:ext cx="171450" cy="209550"/>
          </a:xfrm>
          <a:prstGeom prst="rect"/>
        </p:spPr>
        <p:txBody>
          <a:bodyPr wrap="none" lIns="0" tIns="0" rIns="0" bIns="0"/>
          <a:p>
            <a:pPr>
              <a:lnSpc>
                <a:spcPct val="100000"/>
              </a:lnSpc>
            </a:pPr>
            <a:r>
              <a:rPr sz="1350" b="1">
                <a:solidFill>
                  <a:srgbClr val="FBA15C"/>
                </a:solidFill>
                <a:latin typeface="Microsoft YaHei"/>
                <a:ea typeface="Microsoft YaHei"/>
              </a:rPr>
              <a:t>←</a:t>
            </a:r>
            <a:endParaRPr/>
          </a:p>
        </p:txBody>
      </p:sp>
      <p:sp>
        <p:nvSpPr>
          <p:cNvPr id="817" name=""/>
          <p:cNvSpPr/>
          <p:nvPr/>
        </p:nvSpPr>
        <p:spPr>
          <a:xfrm rot="0" flipH="0" flipV="0">
            <a:off x="4429125" y="3505200"/>
            <a:ext cx="1504950" cy="676275"/>
          </a:xfrm>
          <a:prstGeom prst="roundRect">
            <a:avLst>
              <a:gd name="adj" fmla="val 4225"/>
            </a:avLst>
          </a:prstGeom>
          <a:solidFill>
            <a:srgbClr val="E0641E"/>
          </a:solidFill>
          <a:ln/>
        </p:spPr>
        <p:txBody>
          <a:bodyPr/>
          <a:p/>
        </p:txBody>
      </p:sp>
      <p:sp>
        <p:nvSpPr>
          <p:cNvPr id="818" name="" descr="{&quot;isTemplate&quot;:true,&quot;type&quot;:&quot;text&quot;}"/>
          <p:cNvSpPr txBox="1"/>
          <p:nvPr/>
        </p:nvSpPr>
        <p:spPr>
          <a:xfrm rot="0" flipH="0" flipV="0">
            <a:off x="4533900" y="3600450"/>
            <a:ext cx="1295400"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DA </a:t>
            </a:r>
            <a:r>
              <a:rPr lang="zh-CN" sz="863" b="1">
                <a:solidFill>
                  <a:srgbClr val="FFFFFF"/>
                </a:solidFill>
                <a:latin typeface="Microsoft YaHei"/>
                <a:ea typeface="Microsoft YaHei"/>
              </a:rPr>
              <a:t>往上收</a:t>
            </a:r>
            <a:endParaRPr/>
          </a:p>
        </p:txBody>
      </p:sp>
      <p:sp>
        <p:nvSpPr>
          <p:cNvPr id="819" name="" descr="{&quot;isTemplate&quot;:true,&quot;type&quot;:&quot;text&quot;}"/>
          <p:cNvSpPr txBox="1"/>
          <p:nvPr/>
        </p:nvSpPr>
        <p:spPr>
          <a:xfrm rot="0" flipH="0" flipV="0">
            <a:off x="4533900" y="3771900"/>
            <a:ext cx="1295400" cy="314325"/>
          </a:xfrm>
          <a:prstGeom prst="rect"/>
        </p:spPr>
        <p:txBody>
          <a:bodyPr wrap="square" lIns="0" tIns="0" rIns="0" bIns="0">
            <a:normAutofit/>
          </a:bodyPr>
          <a:p>
            <a:pPr>
              <a:lnSpc>
                <a:spcPct val="135000"/>
              </a:lnSpc>
            </a:pPr>
            <a:r>
              <a:rPr lang="zh-CN" sz="750">
                <a:solidFill>
                  <a:srgbClr val="FFFFFF">
                    <a:alpha val="90000"/>
                  </a:srgbClr>
                </a:solidFill>
                <a:latin typeface="Microsoft YaHei"/>
                <a:ea typeface="Microsoft YaHei"/>
              </a:rPr>
              <a:t>逻辑实体</a:t>
            </a:r>
            <a:r>
              <a:rPr lang="en-US" sz="750">
                <a:solidFill>
                  <a:srgbClr val="FFFFFF">
                    <a:alpha val="90000"/>
                  </a:srgbClr>
                </a:solidFill>
                <a:latin typeface="Microsoft YaHei"/>
                <a:ea typeface="Microsoft YaHei"/>
              </a:rPr>
              <a:t xml:space="preserve"> → </a:t>
            </a:r>
            <a:r>
              <a:rPr lang="zh-CN" sz="750">
                <a:solidFill>
                  <a:srgbClr val="FFFFFF">
                    <a:alpha val="90000"/>
                  </a:srgbClr>
                </a:solidFill>
                <a:latin typeface="Microsoft YaHei"/>
                <a:ea typeface="Microsoft YaHei"/>
              </a:rPr>
              <a:t>逻辑属性</a:t>
            </a:r>
            <a:r>
              <a:rPr lang="en-US" sz="750">
                <a:solidFill>
                  <a:srgbClr val="FFFFFF">
                    <a:alpha val="90000"/>
                  </a:srgbClr>
                </a:solidFill>
                <a:latin typeface="Microsoft YaHei"/>
                <a:ea typeface="Microsoft YaHei"/>
              </a:rPr>
              <a:t xml:space="preserve"> → </a:t>
            </a:r>
            <a:r>
              <a:rPr lang="zh-CN" sz="750">
                <a:solidFill>
                  <a:srgbClr val="FFFFFF">
                    <a:alpha val="90000"/>
                  </a:srgbClr>
                </a:solidFill>
                <a:latin typeface="Microsoft YaHei"/>
                <a:ea typeface="Microsoft YaHei"/>
              </a:rPr>
              <a:t>物理分布</a:t>
            </a:r>
            <a:endParaRPr/>
          </a:p>
        </p:txBody>
      </p:sp>
      <p:sp>
        <p:nvSpPr>
          <p:cNvPr id="820" name="" descr="{&quot;isTemplate&quot;:true,&quot;type&quot;:&quot;text&quot;}"/>
          <p:cNvSpPr txBox="1"/>
          <p:nvPr/>
        </p:nvSpPr>
        <p:spPr>
          <a:xfrm rot="0" flipH="0" flipV="0">
            <a:off x="771525" y="4419600"/>
            <a:ext cx="5448300" cy="647700"/>
          </a:xfrm>
          <a:prstGeom prst="rect"/>
        </p:spPr>
        <p:txBody>
          <a:bodyPr wrap="square" lIns="0" tIns="0" rIns="0" bIns="0">
            <a:normAutofit/>
          </a:bodyPr>
          <a:p>
            <a:pPr>
              <a:lnSpc>
                <a:spcPct val="145000"/>
              </a:lnSpc>
            </a:pPr>
            <a:r>
              <a:rPr lang="zh-CN" sz="825">
                <a:solidFill>
                  <a:srgbClr val="FFFFFF">
                    <a:alpha val="82000"/>
                  </a:srgbClr>
                </a:solidFill>
                <a:latin typeface="Microsoft YaHei"/>
                <a:ea typeface="Microsoft YaHei"/>
              </a:rPr>
              <a:t>业务对象是四层唯一稳定的交汇点：流程会变、组织会调、系统会换，但「一台设备」「一张工单」不会变。业务对象定不下来，</a:t>
            </a:r>
            <a:r>
              <a:rPr lang="en-US" sz="825">
                <a:solidFill>
                  <a:srgbClr val="FFFFFF">
                    <a:alpha val="82000"/>
                  </a:srgbClr>
                </a:solidFill>
                <a:latin typeface="Microsoft YaHei"/>
                <a:ea typeface="Microsoft YaHei"/>
              </a:rPr>
              <a:t xml:space="preserve">DA </a:t>
            </a:r>
            <a:r>
              <a:rPr lang="zh-CN" sz="825">
                <a:solidFill>
                  <a:srgbClr val="FFFFFF">
                    <a:alpha val="82000"/>
                  </a:srgbClr>
                </a:solidFill>
                <a:latin typeface="Microsoft YaHei"/>
                <a:ea typeface="Microsoft YaHei"/>
              </a:rPr>
              <a:t>的实体就是自造的，</a:t>
            </a:r>
            <a:r>
              <a:rPr lang="en-US" sz="825">
                <a:solidFill>
                  <a:srgbClr val="FFFFFF">
                    <a:alpha val="82000"/>
                  </a:srgbClr>
                </a:solidFill>
                <a:latin typeface="Microsoft YaHei"/>
                <a:ea typeface="Microsoft YaHei"/>
              </a:rPr>
              <a:t xml:space="preserve">AA </a:t>
            </a:r>
            <a:r>
              <a:rPr lang="zh-CN" sz="825">
                <a:solidFill>
                  <a:srgbClr val="FFFFFF">
                    <a:alpha val="82000"/>
                  </a:srgbClr>
                </a:solidFill>
                <a:latin typeface="Microsoft YaHei"/>
                <a:ea typeface="Microsoft YaHei"/>
              </a:rPr>
              <a:t>的功能就是凭空的，阶段三的需求基线也无从验收。</a:t>
            </a:r>
            <a:endParaRPr/>
          </a:p>
        </p:txBody>
      </p:sp>
      <p:sp>
        <p:nvSpPr>
          <p:cNvPr id="821" name=""/>
          <p:cNvSpPr/>
          <p:nvPr/>
        </p:nvSpPr>
        <p:spPr>
          <a:xfrm rot="0" flipH="0" flipV="0">
            <a:off x="6505575" y="2981325"/>
            <a:ext cx="5114925" cy="504825"/>
          </a:xfrm>
          <a:prstGeom prst="roundRect">
            <a:avLst>
              <a:gd name="adj" fmla="val 7547"/>
            </a:avLst>
          </a:prstGeom>
          <a:solidFill>
            <a:srgbClr val="F7F7F8"/>
          </a:solidFill>
          <a:ln/>
        </p:spPr>
        <p:txBody>
          <a:bodyPr/>
          <a:p/>
        </p:txBody>
      </p:sp>
      <p:sp>
        <p:nvSpPr>
          <p:cNvPr id="822" name=""/>
          <p:cNvSpPr/>
          <p:nvPr/>
        </p:nvSpPr>
        <p:spPr>
          <a:xfrm rot="0" flipH="0" flipV="0">
            <a:off x="6505575" y="2981325"/>
            <a:ext cx="5114925" cy="504825"/>
          </a:xfrm>
          <a:custGeom>
            <a:pathLst>
              <a:path w="537" h="53">
                <a:moveTo>
                  <a:pt x="4" y="53"/>
                </a:moveTo>
                <a:cubicBezTo>
                  <a:pt x="2" y="53"/>
                  <a:pt x="0" y="51"/>
                  <a:pt x="0" y="49"/>
                </a:cubicBezTo>
                <a:lnTo>
                  <a:pt x="0" y="4"/>
                </a:lnTo>
                <a:cubicBezTo>
                  <a:pt x="0" y="2"/>
                  <a:pt x="2" y="0"/>
                  <a:pt x="4" y="0"/>
                </a:cubicBezTo>
                <a:lnTo>
                  <a:pt x="4" y="53"/>
                </a:lnTo>
                <a:close/>
              </a:path>
            </a:pathLst>
          </a:custGeom>
          <a:solidFill>
            <a:srgbClr val="FA4F24"/>
          </a:solidFill>
          <a:ln/>
        </p:spPr>
        <p:txBody>
          <a:bodyPr/>
          <a:p/>
        </p:txBody>
      </p:sp>
      <p:sp>
        <p:nvSpPr>
          <p:cNvPr id="823" name="" descr="{&quot;isTemplate&quot;:true,&quot;type&quot;:&quot;text&quot;}"/>
          <p:cNvSpPr txBox="1"/>
          <p:nvPr/>
        </p:nvSpPr>
        <p:spPr>
          <a:xfrm rot="0" flipH="0" flipV="0">
            <a:off x="6629400" y="3076575"/>
            <a:ext cx="4829175" cy="142875"/>
          </a:xfrm>
          <a:prstGeom prst="rect"/>
        </p:spPr>
        <p:txBody>
          <a:bodyPr wrap="none" lIns="0" tIns="0" rIns="0" bIns="0"/>
          <a:p>
            <a:pPr>
              <a:lnSpc>
                <a:spcPct val="100000"/>
              </a:lnSpc>
            </a:pPr>
            <a:r>
              <a:rPr lang="zh-CN" sz="900" b="1">
                <a:solidFill>
                  <a:srgbClr val="0F1423"/>
                </a:solidFill>
                <a:latin typeface="Microsoft YaHei"/>
                <a:ea typeface="Microsoft YaHei"/>
              </a:rPr>
              <a:t>并行不是同时开工</a:t>
            </a:r>
            <a:endParaRPr/>
          </a:p>
        </p:txBody>
      </p:sp>
      <p:sp>
        <p:nvSpPr>
          <p:cNvPr id="824" name="" descr="{&quot;isTemplate&quot;:true,&quot;type&quot;:&quot;text&quot;}"/>
          <p:cNvSpPr txBox="1"/>
          <p:nvPr/>
        </p:nvSpPr>
        <p:spPr>
          <a:xfrm rot="0" flipH="0" flipV="0">
            <a:off x="6629400" y="3238500"/>
            <a:ext cx="4829175" cy="161925"/>
          </a:xfrm>
          <a:prstGeom prst="rect"/>
        </p:spPr>
        <p:txBody>
          <a:bodyPr wrap="none" lIns="0" tIns="0" rIns="0" bIns="0"/>
          <a:p>
            <a:pPr>
              <a:lnSpc>
                <a:spcPct val="130000"/>
              </a:lnSpc>
            </a:pPr>
            <a:r>
              <a:rPr lang="en-US" sz="788">
                <a:solidFill>
                  <a:srgbClr val="5A6070"/>
                </a:solidFill>
                <a:latin typeface="Microsoft YaHei"/>
                <a:ea typeface="Microsoft YaHei"/>
              </a:rPr>
              <a:t xml:space="preserve">BA </a:t>
            </a:r>
            <a:r>
              <a:rPr lang="zh-CN" sz="788">
                <a:solidFill>
                  <a:srgbClr val="5A6070"/>
                </a:solidFill>
                <a:latin typeface="Microsoft YaHei"/>
                <a:ea typeface="Microsoft YaHei"/>
              </a:rPr>
              <a:t>未定稿前，</a:t>
            </a:r>
            <a:r>
              <a:rPr lang="en-US" sz="788">
                <a:solidFill>
                  <a:srgbClr val="5A6070"/>
                </a:solidFill>
                <a:latin typeface="Microsoft YaHei"/>
                <a:ea typeface="Microsoft YaHei"/>
              </a:rPr>
              <a:t xml:space="preserve">DA </a:t>
            </a:r>
            <a:r>
              <a:rPr lang="zh-CN" sz="788">
                <a:solidFill>
                  <a:srgbClr val="5A6070"/>
                </a:solidFill>
                <a:latin typeface="Microsoft YaHei"/>
                <a:ea typeface="Microsoft YaHei"/>
              </a:rPr>
              <a:t>只能做存量摸底，不能定目标实体</a:t>
            </a:r>
            <a:endParaRPr/>
          </a:p>
        </p:txBody>
      </p:sp>
      <p:sp>
        <p:nvSpPr>
          <p:cNvPr id="825" name=""/>
          <p:cNvSpPr/>
          <p:nvPr/>
        </p:nvSpPr>
        <p:spPr>
          <a:xfrm rot="0" flipH="0" flipV="0">
            <a:off x="6505575" y="3552825"/>
            <a:ext cx="5114925" cy="504825"/>
          </a:xfrm>
          <a:prstGeom prst="roundRect">
            <a:avLst>
              <a:gd name="adj" fmla="val 7547"/>
            </a:avLst>
          </a:prstGeom>
          <a:solidFill>
            <a:srgbClr val="F7F7F8"/>
          </a:solidFill>
          <a:ln/>
        </p:spPr>
        <p:txBody>
          <a:bodyPr/>
          <a:p/>
        </p:txBody>
      </p:sp>
      <p:sp>
        <p:nvSpPr>
          <p:cNvPr id="826" name=""/>
          <p:cNvSpPr/>
          <p:nvPr/>
        </p:nvSpPr>
        <p:spPr>
          <a:xfrm rot="0" flipH="0" flipV="0">
            <a:off x="6505575" y="3552825"/>
            <a:ext cx="5114925" cy="504825"/>
          </a:xfrm>
          <a:custGeom>
            <a:pathLst>
              <a:path w="537" h="53">
                <a:moveTo>
                  <a:pt x="4" y="53"/>
                </a:moveTo>
                <a:cubicBezTo>
                  <a:pt x="2" y="53"/>
                  <a:pt x="0" y="51"/>
                  <a:pt x="0" y="49"/>
                </a:cubicBezTo>
                <a:lnTo>
                  <a:pt x="0" y="4"/>
                </a:lnTo>
                <a:cubicBezTo>
                  <a:pt x="0" y="2"/>
                  <a:pt x="2" y="0"/>
                  <a:pt x="4" y="0"/>
                </a:cubicBezTo>
                <a:lnTo>
                  <a:pt x="4" y="53"/>
                </a:lnTo>
                <a:close/>
              </a:path>
            </a:pathLst>
          </a:custGeom>
          <a:solidFill>
            <a:srgbClr val="E0641E"/>
          </a:solidFill>
          <a:ln/>
        </p:spPr>
        <p:txBody>
          <a:bodyPr/>
          <a:p/>
        </p:txBody>
      </p:sp>
      <p:sp>
        <p:nvSpPr>
          <p:cNvPr id="827" name="" descr="{&quot;isTemplate&quot;:true,&quot;type&quot;:&quot;text&quot;}"/>
          <p:cNvSpPr txBox="1"/>
          <p:nvPr/>
        </p:nvSpPr>
        <p:spPr>
          <a:xfrm rot="0" flipH="0" flipV="0">
            <a:off x="6629400" y="3648075"/>
            <a:ext cx="4829175" cy="142875"/>
          </a:xfrm>
          <a:prstGeom prst="rect"/>
        </p:spPr>
        <p:txBody>
          <a:bodyPr wrap="none" lIns="0" tIns="0" rIns="0" bIns="0"/>
          <a:p>
            <a:pPr>
              <a:lnSpc>
                <a:spcPct val="100000"/>
              </a:lnSpc>
            </a:pPr>
            <a:r>
              <a:rPr lang="zh-CN" sz="900" b="1">
                <a:solidFill>
                  <a:srgbClr val="0F1423"/>
                </a:solidFill>
                <a:latin typeface="Microsoft YaHei"/>
                <a:ea typeface="Microsoft YaHei"/>
              </a:rPr>
              <a:t>评审卡在</a:t>
            </a:r>
            <a:r>
              <a:rPr lang="en-US" sz="900" b="1">
                <a:solidFill>
                  <a:srgbClr val="0F1423"/>
                </a:solidFill>
                <a:latin typeface="Microsoft YaHei"/>
                <a:ea typeface="Microsoft YaHei"/>
              </a:rPr>
              <a:t xml:space="preserve"> BA</a:t>
            </a:r>
            <a:endParaRPr/>
          </a:p>
        </p:txBody>
      </p:sp>
      <p:sp>
        <p:nvSpPr>
          <p:cNvPr id="828" name="" descr="{&quot;isTemplate&quot;:true,&quot;type&quot;:&quot;text&quot;}"/>
          <p:cNvSpPr txBox="1"/>
          <p:nvPr/>
        </p:nvSpPr>
        <p:spPr>
          <a:xfrm rot="0" flipH="0" flipV="0">
            <a:off x="6629400" y="3810000"/>
            <a:ext cx="4829175" cy="161925"/>
          </a:xfrm>
          <a:prstGeom prst="rect"/>
        </p:spPr>
        <p:txBody>
          <a:bodyPr wrap="none" lIns="0" tIns="0" rIns="0" bIns="0"/>
          <a:p>
            <a:pPr>
              <a:lnSpc>
                <a:spcPct val="130000"/>
              </a:lnSpc>
            </a:pPr>
            <a:r>
              <a:rPr lang="en-US" sz="788">
                <a:solidFill>
                  <a:srgbClr val="5A6070"/>
                </a:solidFill>
                <a:latin typeface="Microsoft YaHei"/>
                <a:ea typeface="Microsoft YaHei"/>
              </a:rPr>
              <a:t xml:space="preserve">BA </a:t>
            </a:r>
            <a:r>
              <a:rPr lang="zh-CN" sz="788">
                <a:solidFill>
                  <a:srgbClr val="5A6070"/>
                </a:solidFill>
                <a:latin typeface="Microsoft YaHei"/>
                <a:ea typeface="Microsoft YaHei"/>
              </a:rPr>
              <a:t>未过评审不启动</a:t>
            </a:r>
            <a:r>
              <a:rPr lang="en-US" sz="788">
                <a:solidFill>
                  <a:srgbClr val="5A6070"/>
                </a:solidFill>
                <a:latin typeface="Microsoft YaHei"/>
                <a:ea typeface="Microsoft YaHei"/>
              </a:rPr>
              <a:t xml:space="preserve"> DA/AA </a:t>
            </a:r>
            <a:r>
              <a:rPr lang="zh-CN" sz="788">
                <a:solidFill>
                  <a:srgbClr val="5A6070"/>
                </a:solidFill>
                <a:latin typeface="Microsoft YaHei"/>
                <a:ea typeface="Microsoft YaHei"/>
              </a:rPr>
              <a:t>的目标设计，避免整体返工</a:t>
            </a:r>
            <a:endParaRPr/>
          </a:p>
        </p:txBody>
      </p:sp>
      <p:sp>
        <p:nvSpPr>
          <p:cNvPr id="829" name=""/>
          <p:cNvSpPr/>
          <p:nvPr/>
        </p:nvSpPr>
        <p:spPr>
          <a:xfrm rot="0" flipH="0" flipV="0">
            <a:off x="6505575" y="4124325"/>
            <a:ext cx="5114925" cy="504825"/>
          </a:xfrm>
          <a:prstGeom prst="roundRect">
            <a:avLst>
              <a:gd name="adj" fmla="val 7547"/>
            </a:avLst>
          </a:prstGeom>
          <a:solidFill>
            <a:srgbClr val="F7F7F8"/>
          </a:solidFill>
          <a:ln/>
        </p:spPr>
        <p:txBody>
          <a:bodyPr/>
          <a:p/>
        </p:txBody>
      </p:sp>
      <p:sp>
        <p:nvSpPr>
          <p:cNvPr id="830" name=""/>
          <p:cNvSpPr/>
          <p:nvPr/>
        </p:nvSpPr>
        <p:spPr>
          <a:xfrm rot="0" flipH="0" flipV="0">
            <a:off x="6505575" y="4124325"/>
            <a:ext cx="5114925" cy="504825"/>
          </a:xfrm>
          <a:custGeom>
            <a:pathLst>
              <a:path w="537" h="53">
                <a:moveTo>
                  <a:pt x="4" y="53"/>
                </a:moveTo>
                <a:cubicBezTo>
                  <a:pt x="2" y="53"/>
                  <a:pt x="0" y="51"/>
                  <a:pt x="0" y="49"/>
                </a:cubicBezTo>
                <a:lnTo>
                  <a:pt x="0" y="4"/>
                </a:lnTo>
                <a:cubicBezTo>
                  <a:pt x="0" y="2"/>
                  <a:pt x="2" y="0"/>
                  <a:pt x="4" y="0"/>
                </a:cubicBezTo>
                <a:lnTo>
                  <a:pt x="4" y="53"/>
                </a:lnTo>
                <a:close/>
              </a:path>
            </a:pathLst>
          </a:custGeom>
          <a:solidFill>
            <a:srgbClr val="C43A17"/>
          </a:solidFill>
          <a:ln/>
        </p:spPr>
        <p:txBody>
          <a:bodyPr/>
          <a:p/>
        </p:txBody>
      </p:sp>
      <p:sp>
        <p:nvSpPr>
          <p:cNvPr id="831" name="" descr="{&quot;isTemplate&quot;:true,&quot;type&quot;:&quot;text&quot;}"/>
          <p:cNvSpPr txBox="1"/>
          <p:nvPr/>
        </p:nvSpPr>
        <p:spPr>
          <a:xfrm rot="0" flipH="0" flipV="0">
            <a:off x="6629400" y="4219575"/>
            <a:ext cx="4829175" cy="142875"/>
          </a:xfrm>
          <a:prstGeom prst="rect"/>
        </p:spPr>
        <p:txBody>
          <a:bodyPr wrap="none" lIns="0" tIns="0" rIns="0" bIns="0"/>
          <a:p>
            <a:pPr>
              <a:lnSpc>
                <a:spcPct val="100000"/>
              </a:lnSpc>
            </a:pPr>
            <a:r>
              <a:rPr lang="en-US" sz="900" b="1">
                <a:solidFill>
                  <a:srgbClr val="0F1423"/>
                </a:solidFill>
                <a:latin typeface="Microsoft YaHei"/>
                <a:ea typeface="Microsoft YaHei"/>
              </a:rPr>
              <a:t xml:space="preserve">AI </a:t>
            </a:r>
            <a:r>
              <a:rPr lang="zh-CN" sz="900" b="1">
                <a:solidFill>
                  <a:srgbClr val="0F1423"/>
                </a:solidFill>
                <a:latin typeface="Microsoft YaHei"/>
                <a:ea typeface="Microsoft YaHei"/>
              </a:rPr>
              <a:t>必须在蓝图里定</a:t>
            </a:r>
            <a:endParaRPr/>
          </a:p>
        </p:txBody>
      </p:sp>
      <p:sp>
        <p:nvSpPr>
          <p:cNvPr id="832" name="" descr="{&quot;isTemplate&quot;:true,&quot;type&quot;:&quot;text&quot;}"/>
          <p:cNvSpPr txBox="1"/>
          <p:nvPr/>
        </p:nvSpPr>
        <p:spPr>
          <a:xfrm rot="0" flipH="0" flipV="0">
            <a:off x="6629400" y="4381500"/>
            <a:ext cx="4829175" cy="161925"/>
          </a:xfrm>
          <a:prstGeom prst="rect"/>
        </p:spPr>
        <p:txBody>
          <a:bodyPr wrap="none" lIns="0" tIns="0" rIns="0" bIns="0"/>
          <a:p>
            <a:pPr>
              <a:lnSpc>
                <a:spcPct val="130000"/>
              </a:lnSpc>
            </a:pPr>
            <a:r>
              <a:rPr lang="en-US" sz="788">
                <a:solidFill>
                  <a:srgbClr val="5A6070"/>
                </a:solidFill>
                <a:latin typeface="Microsoft YaHei"/>
                <a:ea typeface="Microsoft YaHei"/>
              </a:rPr>
              <a:t xml:space="preserve">AI </a:t>
            </a:r>
            <a:r>
              <a:rPr lang="zh-CN" sz="788">
                <a:solidFill>
                  <a:srgbClr val="5A6070"/>
                </a:solidFill>
                <a:latin typeface="Microsoft YaHei"/>
                <a:ea typeface="Microsoft YaHei"/>
              </a:rPr>
              <a:t>场景从</a:t>
            </a:r>
            <a:r>
              <a:rPr lang="en-US" sz="788">
                <a:solidFill>
                  <a:srgbClr val="5A6070"/>
                </a:solidFill>
                <a:latin typeface="Microsoft YaHei"/>
                <a:ea typeface="Microsoft YaHei"/>
              </a:rPr>
              <a:t xml:space="preserve"> BA </a:t>
            </a:r>
            <a:r>
              <a:rPr lang="zh-CN" sz="788">
                <a:solidFill>
                  <a:srgbClr val="5A6070"/>
                </a:solidFill>
                <a:latin typeface="Microsoft YaHei"/>
                <a:ea typeface="Microsoft YaHei"/>
              </a:rPr>
              <a:t>的循环与活动里找落点，不允许先想</a:t>
            </a:r>
            <a:r>
              <a:rPr lang="en-US" sz="788">
                <a:solidFill>
                  <a:srgbClr val="5A6070"/>
                </a:solidFill>
                <a:latin typeface="Microsoft YaHei"/>
                <a:ea typeface="Microsoft YaHei"/>
              </a:rPr>
              <a:t xml:space="preserve"> AI </a:t>
            </a:r>
            <a:r>
              <a:rPr lang="zh-CN" sz="788">
                <a:solidFill>
                  <a:srgbClr val="5A6070"/>
                </a:solidFill>
                <a:latin typeface="Microsoft YaHei"/>
                <a:ea typeface="Microsoft YaHei"/>
              </a:rPr>
              <a:t>用在哪</a:t>
            </a:r>
            <a:endParaRPr/>
          </a:p>
        </p:txBody>
      </p:sp>
      <p:sp>
        <p:nvSpPr>
          <p:cNvPr id="833" name=""/>
          <p:cNvSpPr/>
          <p:nvPr/>
        </p:nvSpPr>
        <p:spPr>
          <a:xfrm rot="0" flipH="0" flipV="0">
            <a:off x="6505575" y="4695825"/>
            <a:ext cx="5114925" cy="504825"/>
          </a:xfrm>
          <a:prstGeom prst="roundRect">
            <a:avLst>
              <a:gd name="adj" fmla="val 7547"/>
            </a:avLst>
          </a:prstGeom>
          <a:solidFill>
            <a:srgbClr val="F7F7F8"/>
          </a:solidFill>
          <a:ln/>
        </p:spPr>
        <p:txBody>
          <a:bodyPr/>
          <a:p/>
        </p:txBody>
      </p:sp>
      <p:sp>
        <p:nvSpPr>
          <p:cNvPr id="834" name=""/>
          <p:cNvSpPr/>
          <p:nvPr/>
        </p:nvSpPr>
        <p:spPr>
          <a:xfrm rot="0" flipH="0" flipV="0">
            <a:off x="6505575" y="4695825"/>
            <a:ext cx="5114925" cy="504825"/>
          </a:xfrm>
          <a:custGeom>
            <a:pathLst>
              <a:path w="537" h="53">
                <a:moveTo>
                  <a:pt x="4" y="53"/>
                </a:moveTo>
                <a:cubicBezTo>
                  <a:pt x="2" y="53"/>
                  <a:pt x="0" y="51"/>
                  <a:pt x="0" y="49"/>
                </a:cubicBezTo>
                <a:lnTo>
                  <a:pt x="0" y="4"/>
                </a:lnTo>
                <a:cubicBezTo>
                  <a:pt x="0" y="2"/>
                  <a:pt x="2" y="0"/>
                  <a:pt x="4" y="0"/>
                </a:cubicBezTo>
                <a:lnTo>
                  <a:pt x="4" y="53"/>
                </a:lnTo>
                <a:close/>
              </a:path>
            </a:pathLst>
          </a:custGeom>
          <a:solidFill>
            <a:srgbClr val="9E3410"/>
          </a:solidFill>
          <a:ln/>
        </p:spPr>
        <p:txBody>
          <a:bodyPr/>
          <a:p/>
        </p:txBody>
      </p:sp>
      <p:sp>
        <p:nvSpPr>
          <p:cNvPr id="835" name="" descr="{&quot;isTemplate&quot;:true,&quot;type&quot;:&quot;text&quot;}"/>
          <p:cNvSpPr txBox="1"/>
          <p:nvPr/>
        </p:nvSpPr>
        <p:spPr>
          <a:xfrm rot="0" flipH="0" flipV="0">
            <a:off x="6629400" y="4791075"/>
            <a:ext cx="4829175" cy="142875"/>
          </a:xfrm>
          <a:prstGeom prst="rect"/>
        </p:spPr>
        <p:txBody>
          <a:bodyPr wrap="none" lIns="0" tIns="0" rIns="0" bIns="0"/>
          <a:p>
            <a:pPr>
              <a:lnSpc>
                <a:spcPct val="100000"/>
              </a:lnSpc>
            </a:pPr>
            <a:r>
              <a:rPr lang="zh-CN" sz="900" b="1">
                <a:solidFill>
                  <a:srgbClr val="0F1423"/>
                </a:solidFill>
                <a:latin typeface="Microsoft YaHei"/>
                <a:ea typeface="Microsoft YaHei"/>
              </a:rPr>
              <a:t>组织适配随</a:t>
            </a:r>
            <a:r>
              <a:rPr lang="en-US" sz="900" b="1">
                <a:solidFill>
                  <a:srgbClr val="0F1423"/>
                </a:solidFill>
                <a:latin typeface="Microsoft YaHei"/>
                <a:ea typeface="Microsoft YaHei"/>
              </a:rPr>
              <a:t xml:space="preserve"> BA </a:t>
            </a:r>
            <a:r>
              <a:rPr lang="zh-CN" sz="900" b="1">
                <a:solidFill>
                  <a:srgbClr val="0F1423"/>
                </a:solidFill>
                <a:latin typeface="Microsoft YaHei"/>
                <a:ea typeface="Microsoft YaHei"/>
              </a:rPr>
              <a:t>出</a:t>
            </a:r>
            <a:endParaRPr/>
          </a:p>
        </p:txBody>
      </p:sp>
      <p:sp>
        <p:nvSpPr>
          <p:cNvPr id="836" name="" descr="{&quot;isTemplate&quot;:true,&quot;type&quot;:&quot;text&quot;}"/>
          <p:cNvSpPr txBox="1"/>
          <p:nvPr/>
        </p:nvSpPr>
        <p:spPr>
          <a:xfrm rot="0" flipH="0" flipV="0">
            <a:off x="6629400" y="4953000"/>
            <a:ext cx="4829175" cy="161925"/>
          </a:xfrm>
          <a:prstGeom prst="rect"/>
        </p:spPr>
        <p:txBody>
          <a:bodyPr wrap="none" lIns="0" tIns="0" rIns="0" bIns="0"/>
          <a:p>
            <a:pPr>
              <a:lnSpc>
                <a:spcPct val="130000"/>
              </a:lnSpc>
            </a:pPr>
            <a:r>
              <a:rPr lang="zh-CN" sz="788">
                <a:solidFill>
                  <a:srgbClr val="5A6070"/>
                </a:solidFill>
                <a:latin typeface="Microsoft YaHei"/>
                <a:ea typeface="Microsoft YaHei"/>
              </a:rPr>
              <a:t>职责适配建议与流程域同时出，不放到最后补</a:t>
            </a:r>
            <a:endParaRPr/>
          </a:p>
        </p:txBody>
      </p:sp>
      <p:sp>
        <p:nvSpPr>
          <p:cNvPr id="837" name=""/>
          <p:cNvSpPr/>
          <p:nvPr/>
        </p:nvSpPr>
        <p:spPr>
          <a:xfrm rot="0" flipH="0" flipV="0">
            <a:off x="647700" y="5276850"/>
            <a:ext cx="10972800" cy="381000"/>
          </a:xfrm>
          <a:prstGeom prst="roundRect">
            <a:avLst>
              <a:gd name="adj" fmla="val 10000"/>
            </a:avLst>
          </a:prstGeom>
          <a:solidFill>
            <a:srgbClr val="FFF3EE"/>
          </a:solidFill>
          <a:ln/>
        </p:spPr>
        <p:txBody>
          <a:bodyPr/>
          <a:p/>
        </p:txBody>
      </p:sp>
      <p:sp>
        <p:nvSpPr>
          <p:cNvPr id="838" name=""/>
          <p:cNvSpPr/>
          <p:nvPr/>
        </p:nvSpPr>
        <p:spPr>
          <a:xfrm rot="0" flipH="0" flipV="0">
            <a:off x="647700" y="5276850"/>
            <a:ext cx="10972800" cy="381000"/>
          </a:xfrm>
          <a:custGeom>
            <a:pathLst>
              <a:path w="1152" h="40">
                <a:moveTo>
                  <a:pt x="4" y="40"/>
                </a:moveTo>
                <a:cubicBezTo>
                  <a:pt x="2" y="40"/>
                  <a:pt x="0" y="38"/>
                  <a:pt x="0" y="36"/>
                </a:cubicBezTo>
                <a:lnTo>
                  <a:pt x="0" y="4"/>
                </a:lnTo>
                <a:cubicBezTo>
                  <a:pt x="0" y="2"/>
                  <a:pt x="2" y="0"/>
                  <a:pt x="4" y="0"/>
                </a:cubicBezTo>
                <a:lnTo>
                  <a:pt x="4" y="40"/>
                </a:lnTo>
                <a:close/>
              </a:path>
            </a:pathLst>
          </a:custGeom>
          <a:solidFill>
            <a:srgbClr val="FA4F24"/>
          </a:solidFill>
          <a:ln/>
        </p:spPr>
        <p:txBody>
          <a:bodyPr/>
          <a:p/>
        </p:txBody>
      </p:sp>
      <p:sp>
        <p:nvSpPr>
          <p:cNvPr id="839" name="" descr="{&quot;isTemplate&quot;:true,&quot;type&quot;:&quot;text&quot;}"/>
          <p:cNvSpPr txBox="1"/>
          <p:nvPr/>
        </p:nvSpPr>
        <p:spPr>
          <a:xfrm rot="0" flipH="0" flipV="0">
            <a:off x="800100" y="5400675"/>
            <a:ext cx="1123950" cy="142875"/>
          </a:xfrm>
          <a:prstGeom prst="rect"/>
        </p:spPr>
        <p:txBody>
          <a:bodyPr wrap="none" lIns="0" tIns="0" rIns="0" bIns="0"/>
          <a:p>
            <a:pPr>
              <a:lnSpc>
                <a:spcPct val="100000"/>
              </a:lnSpc>
            </a:pPr>
            <a:r>
              <a:rPr lang="zh-CN" sz="900" b="1">
                <a:solidFill>
                  <a:srgbClr val="C43A17"/>
                </a:solidFill>
                <a:latin typeface="Microsoft YaHei"/>
                <a:ea typeface="Microsoft YaHei"/>
              </a:rPr>
              <a:t>阶段二收口</a:t>
            </a:r>
            <a:endParaRPr/>
          </a:p>
        </p:txBody>
      </p:sp>
      <p:sp>
        <p:nvSpPr>
          <p:cNvPr id="840" name="" descr="{&quot;isTemplate&quot;:true,&quot;type&quot;:&quot;text&quot;}"/>
          <p:cNvSpPr txBox="1"/>
          <p:nvPr/>
        </p:nvSpPr>
        <p:spPr>
          <a:xfrm rot="0" flipH="0" flipV="0">
            <a:off x="2057400" y="5305425"/>
            <a:ext cx="9372600" cy="333375"/>
          </a:xfrm>
          <a:prstGeom prst="rect"/>
        </p:spPr>
        <p:txBody>
          <a:bodyPr wrap="square" lIns="0" tIns="0" rIns="0" bIns="0">
            <a:normAutofit/>
          </a:bodyPr>
          <a:p>
            <a:pPr>
              <a:lnSpc>
                <a:spcPct val="130000"/>
              </a:lnSpc>
            </a:pPr>
            <a:r>
              <a:rPr lang="zh-CN" sz="825">
                <a:solidFill>
                  <a:srgbClr val="3A4050"/>
                </a:solidFill>
                <a:latin typeface="Microsoft YaHei"/>
                <a:ea typeface="Microsoft YaHei"/>
              </a:rPr>
              <a:t>《业务蓝图设计》</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流程领域架构</a:t>
            </a:r>
            <a:r>
              <a:rPr lang="en-US" sz="825">
                <a:solidFill>
                  <a:srgbClr val="3A4050"/>
                </a:solidFill>
                <a:latin typeface="Microsoft YaHei"/>
                <a:ea typeface="Microsoft YaHei"/>
              </a:rPr>
              <a:t xml:space="preserve"> + L4 </a:t>
            </a:r>
            <a:r>
              <a:rPr lang="zh-CN" sz="825">
                <a:solidFill>
                  <a:srgbClr val="3A4050"/>
                </a:solidFill>
                <a:latin typeface="Microsoft YaHei"/>
                <a:ea typeface="Microsoft YaHei"/>
              </a:rPr>
              <a:t>子流程清单</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组织与职责适配建议</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核心业务循环与接口数据流转</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数据四维度设计（到逻辑实体）</a:t>
            </a:r>
            <a:r>
              <a:rPr lang="en-US" sz="825">
                <a:solidFill>
                  <a:srgbClr val="3A4050"/>
                </a:solidFill>
                <a:latin typeface="Microsoft YaHei"/>
                <a:ea typeface="Microsoft YaHei"/>
              </a:rPr>
              <a:t xml:space="preserve">+ </a:t>
            </a:r>
            <a:r>
              <a:rPr lang="zh-CN" sz="825">
                <a:solidFill>
                  <a:srgbClr val="3A4050"/>
                </a:solidFill>
                <a:latin typeface="Microsoft YaHei"/>
                <a:ea typeface="Microsoft YaHei"/>
              </a:rPr>
              <a:t>应用域划分与集成架构（到功能模块）</a:t>
            </a:r>
            <a:r>
              <a:rPr lang="en-US" sz="825">
                <a:solidFill>
                  <a:srgbClr val="3A4050"/>
                </a:solidFill>
                <a:latin typeface="Microsoft YaHei"/>
                <a:ea typeface="Microsoft YaHei"/>
              </a:rPr>
              <a:t xml:space="preserve">+ AI </a:t>
            </a:r>
            <a:r>
              <a:rPr lang="zh-CN" sz="825">
                <a:solidFill>
                  <a:srgbClr val="3A4050"/>
                </a:solidFill>
                <a:latin typeface="Microsoft YaHei"/>
                <a:ea typeface="Microsoft YaHei"/>
              </a:rPr>
              <a:t>场景初步清单及优先级</a:t>
            </a:r>
            <a:endParaRPr/>
          </a:p>
        </p:txBody>
      </p:sp>
      <p:sp>
        <p:nvSpPr>
          <p:cNvPr id="841" name=""/>
          <p:cNvSpPr/>
          <p:nvPr/>
        </p:nvSpPr>
        <p:spPr>
          <a:xfrm rot="0" flipH="0" flipV="0">
            <a:off x="609600" y="5943600"/>
            <a:ext cx="133350" cy="133350"/>
          </a:xfrm>
          <a:prstGeom prst="rect">
            <a:avLst/>
          </a:prstGeom>
          <a:solidFill>
            <a:srgbClr val="FA4F24"/>
          </a:solidFill>
          <a:ln/>
        </p:spPr>
        <p:txBody>
          <a:bodyPr/>
          <a:p/>
        </p:txBody>
      </p:sp>
      <p:sp>
        <p:nvSpPr>
          <p:cNvPr id="842"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84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21 / 36</a:t>
            </a:r>
            <a:endParaRPr/>
          </a:p>
        </p:txBody>
      </p:sp>
    </p:spTree>
  </p:cSld>
</p:sld>
</file>

<file path=ppt/slides/slide22.xml><?xml version="1.0" encoding="utf-8"?>
<p:sld xmlns:p="http://schemas.openxmlformats.org/presentationml/2006/main" xmlns:a="http://schemas.openxmlformats.org/drawingml/2006/main">
  <p:cSld>
    <p:spTree>
      <p:nvGrpSpPr>
        <p:cNvPr id="844" name="" descr="&lt;Slide style={{ width: 1280, height: 720, background: '#FFFFFF', padding: '24px 64px 0' }}&gt;&#13;&#10;    {/* A 区 */}&#13;&#10;    &lt;Box style={{ height: 96, flexDirection: 'column', justifyContent: 'flex-start' }}&gt;&#13;&#10;        &lt;Text style={{ fontSize: 32, fontWeight: 'bold', color: '#0F1423' }}&gt;&#13;&#10;            业务蓝图设计：&lt;span style={{ color: '#FA4F24' }}&gt;流程领域架构 → 核心循环 → L4&lt;/span&gt;&#13;&#10;        &lt;/Text&gt;&#13;&#10;        &lt;Text style={{ fontSize: 19, color: '#8A8F99', marginTop: 7 }}&gt;&#13;&#10;            招标 3.3.2 三条业务蓝图要求：关键流程与核心循环、流程领域架构与职责建议、蓝图到 L4 子流程&#13;&#10;        &lt;/Text&gt;&#13;&#10;    &lt;/Box&gt;&#13;&#10;    &lt;Box style={{ height: 1, background: '#E8E8E8' }} /&gt;&#13;&#10;&#13;&#10;    {/* B 区 */}&#13;&#10;    &lt;Box style={{ paddingTop: 10, paddingBottom: 6, height: 479, flexDirection: 'column', gap: 8 }}&gt;&#13;&#10;        {/* 上：流程领域架构（两层） */}&#13;&#10;        &lt;Box style={{ height: 22, flexDirection: 'row', alignItems: 'center', gap: 8 }}&gt;&#13;&#10;            &lt;Box style={{ width: 4, height: 16, background: '#FA4F24' }} /&gt;&#13;&#10;            &lt;Text style={{ fontSize: 13.5, fontWeight: 'bold', color: '#0F1423' }}&gt;① 流程领域架构：L1 价值流 → L2 流程域 → L3 流程组 → L4 子流程（覆盖业务全维度）&lt;/Text&gt;&#13;&#10;        &lt;/Box&gt;&#13;&#10;        &lt;Box style={{ height: 212, flexDirection: 'row', gap: 8, alignItems: 'stretch' }}&gt;&#13;&#10;            &lt;Box style={{ width: 470, background: '#F7F7F8', borderRadius: 4, borderLeft: '4px solid #FA4F24', padding: '12px 14px', flexDirection: 'column' }}&gt;&#13;&#10;                &lt;Text style={{ fontSize: 12.5, fontWeight: 'bold', color: '#FA4F24' }}&gt;能源侧：三个价值流&lt;/Text&gt;&#13;&#10;                {[&#13;&#10;                    { v: 'V1', d: '资产形成与交付价值流', g: '开发与投资 → 建设 → 投产移交' },&#13;&#10;                    { v: 'V2', d: '资产运营与价值实现价值流', g: '运营运维（含资产）→ 交易' },&#13;&#10;                    { v: 'V3', d: '投资价值度量价值流', g: '项目四算 → 指标体系' },&#13;&#10;                ].map((x, i) =&gt; (&#13;&#10;                    &lt;Box key={x.v} style={{ background: '#FFFFFF', borderRadius: 3, padding: '8px 11px', marginTop: i === 0 ? 8 : 5, flex: 1, flexDirection: 'column', justifyContent: 'center' }}&gt;&#13;&#10;                        &lt;Box style={{ flexDirection: 'row', alignItems: 'center', gap: 7 }}&gt;&#13;&#10;                            &lt;Text style={{ fontSize: 12, fontWeight: 'bold', color: '#FA4F24' }}&gt;{x.v}&lt;/Text&gt;&#13;&#10;                            &lt;Text style={{ fontSize: 12.5, fontWeight: 'bold', color: '#0F1423' }}&gt;{x.d}&lt;/Text&gt;&#13;&#10;                        &lt;/Box&gt;&#13;&#10;                        &lt;Text style={{ fontSize: 10.5, color: '#5A6070', marginTop: 3 }}&gt;{x.g}&lt;/Text&gt;&#13;&#10;                    &lt;/Box&gt;&#13;&#10;                ))}&#13;&#10;            &lt;/Box&gt;&#13;&#10;            &lt;Box style={{ flex: 1, background: '#F7F7F8', borderRadius: 4, borderLeft: '4px solid #3A4050', padding: '12px 14px', flexDirection: 'column' }}&gt;&#13;&#10;                &lt;Text style={{ fontSize: 12.5, fontWeight: 'bold', color: '#3A4050' }}&gt;储能侧：一个价值流 + 与能源的交汇点&lt;/Text&gt;&#13;&#10;                &lt;Box style={{ background: '#FFFFFF', borderRadius: 3, padding: '8px 11px', marginTop: 8, flexDirection: 'column' }}&gt;&#13;&#10;                    &lt;Text style={{ fontSize: 12.5, fontWeight: 'bold', color: '#0F1423' }}&gt;V4　产品交付与制造履约价值流&lt;/Text&gt;&#13;&#10;                    &lt;Text style={{ fontSize: 10.5, color: '#5A6070', marginTop: 3, lineHeight: 1.35 }}&gt;寻源 → 采购履行 → EBOM→MBOM 转化 → 制造交付 → 入库与项目对接&lt;/Text&gt;&#13;&#10;                &lt;/Box&gt;&#13;&#10;                &lt;Box style={{ background: '#FFF3EE', borderRadius: 3, padding: '8px 11px', marginTop: 6, flex: 1, flexDirection: 'column', justifyContent: 'center' }}&gt;&#13;&#10;                    &lt;Text style={{ fontSize: 11, fontWeight: 'bold', color: '#C43A17' }}&gt;与能源侧的交汇点（架构上必须显式画出）&lt;/Text&gt;&#13;&#10;                    &lt;Text style={{ fontSize: 10.5, color: '#3A4050', lineHeight: 1.4, marginTop: 4 }}&gt;&#13;&#10;                        供应商准入、物料主数据、采购订单、到货检验 —— V4 与 V1 在这里共用。这四个对象如果两边各建一套，后面所有集成成本都要翻倍。&#13;&#10;                    &lt;/Text&gt;&#13;&#10;                &lt;/Box&gt;&#13;&#10;            &lt;/Box&gt;&#13;&#10;            &lt;Box style={{ width: 296, background: '#0F1423', borderRadius: 4, padding: '12px 14px', flexDirection: 'column' }}&gt;&#13;&#10;                &lt;Text style={{ fontSize: 12, color: '#FBA15C', letterSpacing: 1 }}&gt;L4 子流程：判定标准&lt;/Text&gt;&#13;&#10;                {[&#13;&#10;                    '可独立指派责任岗位',&#13;&#10;                    '有明确触发条件与结束条件',&#13;&#10;                    '有可识别的输入与输出',&#13;&#10;                    '与其他 L4 之间有显式接口',&#13;&#10;                    '粒度过粗拆不动，过细没人用',&#13;&#10;                ].map((t, i) =&gt; (&#13;&#10;                    &lt;Box key={t} style={{ flexDirection: 'row', alignItems: 'flex-start', gap: 8, flex: 1, marginTop: i === 0 ? 9 : 4 }}&gt;&#13;&#10;                        &lt;Text style={{ fontSize: 10, color: '#FA4F24', fontWeight: 'bold' }}&gt;✓&lt;/Text&gt;&#13;&#10;                        &lt;Text style={{ fontSize: 11, color: 'rgba(255,255,255,0.88)', flex: 1, lineHeight: 1.35 }}&gt;{t}&lt;/Text&gt;&#13;&#10;                    &lt;/Box&gt;&#13;&#10;                ))}&#13;&#10;                &lt;Text style={{ fontSize: 10.5, color: '#FBA15C', lineHeight: 1.35, marginTop: 8 }}&gt;&#13;&#10;                    五条全满足才算一条 L4。少一条就合并，凑不齐就拆开——不允许「先这么写着」。&#13;&#10;                &lt;/Text&gt;&#13;&#10;            &lt;/Box&gt;&#13;&#10;        &lt;/Box&gt;&#13;&#10;&#13;&#10;        {/* 中：核心循环 + 接口数据流转 */}&#13;&#10;        &lt;Box style={{ flex: 1, flexDirection: 'row', gap: 8, alignItems: 'stretch' }}&gt;&#13;&#10;            &lt;Box style={{ width: 700, background: '#F7F7F8', borderRadius: 4, padding: '11px 15px', flexDirection: 'column' }}&gt;&#13;&#10;                &lt;Text style={{ fontSize: 12.5, fontWeight: 'bold', color: '#0F1423' }}&gt;② 核心业务循环与接口关系（能源示例：资产运营循环）&lt;/Text&gt;&#13;&#10;                &lt;Box style={{ flexDirection: 'row', alignItems: 'center', gap: 4, marginTop: 9, flex: 1 }}&gt;&#13;&#10;                    {[&#13;&#10;                        { t: '监视与采集', d: '运行数据/台账' },&#13;&#10;                        { t: '缺陷识别', d: '告警/巡检' },&#13;&#10;                        { t: '工单派发', d: '缺陷记录' },&#13;&#10;                        { t: '检修执行', d: '工单/领料' },&#13;&#10;                        { t: '验收闭环', d: '完工/结算' },&#13;&#10;                        { t: '资产更新', d: '台账变更' },&#13;&#10;                    ].map((x, i) =&gt; (&#13;&#10;                        &lt;Box key={x.t} style={{ flex: 1, background: '#FFFFFF', borderRadius: 3, border: '1px solid #E8E8E8', padding: '0 7px', height: 52, flexDirection: 'column', justifyContent: 'center' }}&gt;&#13;&#10;                            &lt;Text style={{ fontSize: 11, fontWeight: 'bold', color: '#0F1423', lineHeight: 1.25 }}&gt;{x.t}&lt;/Text&gt;&#13;&#10;                            &lt;Text style={{ fontSize: 9, color: '#8A8F99', marginTop: 3, lineHeight: 1.25 }}&gt;{x.d}&lt;/Text&gt;&#13;&#10;                        &lt;/Box&gt;&#13;&#10;                    ))}&#13;&#10;                &lt;/Box&gt;&#13;&#10;                &lt;Text style={{ fontSize: 10.5, color: '#5A6070', lineHeight: 1.4, marginTop: 7 }}&gt;&#13;&#10;                    每一环之间的接口，必须标注传递的数据对象与传递方式（接口/文件/人工）。凡标注「人工」的，一律进弱集成债清单。&#13;&#10;                &lt;/Text&gt;&#13;&#10;            &lt;/Box&gt;&#13;&#10;            &lt;Box style={{ flex: 1, background: '#FFF3EE', borderRadius: 4, borderLeft: '4px solid #FA4F24', padding: '11px 15px', flexDirection: 'column', justifyContent: 'center' }}&gt;&#13;&#10;                &lt;Text style={{ fontSize: 12.5, fontWeight: 'bold', color: '#C43A17' }}&gt;③ 组织与职责适配建议&lt;/Text&gt;&#13;&#10;                &lt;Text style={{ fontSize: 10.5, color: '#3A4050', lineHeight: 1.45, marginTop: 6 }}&gt;&#13;&#10;                    蓝图改的是流程，落地靠的是权责。每个流程域给出：主责部门、协同部门、决策层级、需要新建或合并的岗位。架构适配建议单独成节，不混在流程描述里。&#13;&#10;                &lt;/Text&gt;&#13;&#10;                &lt;Text style={{ fontSize: 10.5, color: '#C43A17', lineHeight: 1.4, marginTop: 6 }}&gt;&#13;&#10;                    判据：流程域的每个 L4 都必须能落到唯一一个主责岗位，落不到就是权责空白。&#13;&#10;                &lt;/Text&gt;&#13;&#10;            &lt;/Box&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22 / 36&lt;/Text&gt;&#13;&#10;    &lt;/Box&gt;&#13;&#10;&lt;/Slide&gt;&#13;&#10;"/>
        <p:cNvGrpSpPr/>
        <p:nvPr/>
      </p:nvGrpSpPr>
      <p:grpSpPr>
        <a:xfrm>
          <a:off x="0" y="0"/>
          <a:ext cx="0" cy="0"/>
          <a:chOff x="0" y="0"/>
          <a:chExt cx="0" cy="0"/>
        </a:xfrm>
      </p:grpSpPr>
      <p:sp>
        <p:nvSpPr>
          <p:cNvPr id="845" name=""/>
          <p:cNvSpPr/>
          <p:nvPr/>
        </p:nvSpPr>
        <p:spPr>
          <a:xfrm rot="0" flipH="0" flipV="0">
            <a:off x="0" y="0"/>
            <a:ext cx="12192000" cy="6858000"/>
          </a:xfrm>
          <a:prstGeom prst="rect">
            <a:avLst/>
          </a:prstGeom>
          <a:solidFill>
            <a:srgbClr val="FFFFFF"/>
          </a:solidFill>
          <a:ln/>
        </p:spPr>
        <p:txBody>
          <a:bodyPr/>
          <a:p/>
        </p:txBody>
      </p:sp>
      <p:sp>
        <p:nvSpPr>
          <p:cNvPr id="84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业务蓝图设计：</a:t>
            </a:r>
            <a:r>
              <a:rPr lang="zh-CN" sz="2400" b="1">
                <a:solidFill>
                  <a:srgbClr val="FA4F24"/>
                </a:solidFill>
                <a:latin typeface="Microsoft YaHei"/>
                <a:ea typeface="Microsoft YaHei"/>
              </a:rPr>
              <a:t>流程领域架构</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核心循环</a:t>
            </a:r>
            <a:r>
              <a:rPr lang="en-US" sz="2400" b="1">
                <a:solidFill>
                  <a:srgbClr val="FA4F24"/>
                </a:solidFill>
                <a:latin typeface="Microsoft YaHei"/>
                <a:ea typeface="Microsoft YaHei"/>
              </a:rPr>
              <a:t xml:space="preserve"> → L4</a:t>
            </a:r>
            <a:endParaRPr/>
          </a:p>
        </p:txBody>
      </p:sp>
      <p:sp>
        <p:nvSpPr>
          <p:cNvPr id="847"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3.3.2 </a:t>
            </a:r>
            <a:r>
              <a:rPr lang="zh-CN" sz="1425">
                <a:solidFill>
                  <a:srgbClr val="8A8F99"/>
                </a:solidFill>
                <a:latin typeface="Microsoft YaHei"/>
                <a:ea typeface="Microsoft YaHei"/>
              </a:rPr>
              <a:t>三条业务蓝图要求：关键流程与核心循环、流程领域架构与职责建议、蓝图到</a:t>
            </a:r>
            <a:r>
              <a:rPr lang="en-US" sz="1425">
                <a:solidFill>
                  <a:srgbClr val="8A8F99"/>
                </a:solidFill>
                <a:latin typeface="Microsoft YaHei"/>
                <a:ea typeface="Microsoft YaHei"/>
              </a:rPr>
              <a:t xml:space="preserve"> L4 </a:t>
            </a:r>
            <a:r>
              <a:rPr lang="zh-CN" sz="1425">
                <a:solidFill>
                  <a:srgbClr val="8A8F99"/>
                </a:solidFill>
                <a:latin typeface="Microsoft YaHei"/>
                <a:ea typeface="Microsoft YaHei"/>
              </a:rPr>
              <a:t>子流程</a:t>
            </a:r>
            <a:endParaRPr/>
          </a:p>
        </p:txBody>
      </p:sp>
      <p:sp>
        <p:nvSpPr>
          <p:cNvPr id="848" name=""/>
          <p:cNvSpPr/>
          <p:nvPr/>
        </p:nvSpPr>
        <p:spPr>
          <a:xfrm rot="0" flipH="0" flipV="0">
            <a:off x="609600" y="1143000"/>
            <a:ext cx="10972800" cy="9525"/>
          </a:xfrm>
          <a:prstGeom prst="rect">
            <a:avLst/>
          </a:prstGeom>
          <a:solidFill>
            <a:srgbClr val="E8E8E8"/>
          </a:solidFill>
          <a:ln/>
        </p:spPr>
        <p:txBody>
          <a:bodyPr/>
          <a:p/>
        </p:txBody>
      </p:sp>
      <p:sp>
        <p:nvSpPr>
          <p:cNvPr id="849" name=""/>
          <p:cNvSpPr/>
          <p:nvPr/>
        </p:nvSpPr>
        <p:spPr>
          <a:xfrm rot="0" flipH="0" flipV="0">
            <a:off x="609600" y="1276350"/>
            <a:ext cx="38100" cy="152400"/>
          </a:xfrm>
          <a:prstGeom prst="rect">
            <a:avLst/>
          </a:prstGeom>
          <a:solidFill>
            <a:srgbClr val="FA4F24"/>
          </a:solidFill>
          <a:ln/>
        </p:spPr>
        <p:txBody>
          <a:bodyPr/>
          <a:p/>
        </p:txBody>
      </p:sp>
      <p:sp>
        <p:nvSpPr>
          <p:cNvPr id="850" name="" descr="{&quot;isTemplate&quot;:true,&quot;type&quot;:&quot;text&quot;}"/>
          <p:cNvSpPr txBox="1"/>
          <p:nvPr/>
        </p:nvSpPr>
        <p:spPr>
          <a:xfrm rot="0" flipH="0" flipV="0">
            <a:off x="723900" y="1276350"/>
            <a:ext cx="5143500" cy="161925"/>
          </a:xfrm>
          <a:prstGeom prst="rect"/>
        </p:spPr>
        <p:txBody>
          <a:bodyPr wrap="none" lIns="0" tIns="0" rIns="0" bIns="0"/>
          <a:p>
            <a:pPr>
              <a:lnSpc>
                <a:spcPct val="100000"/>
              </a:lnSpc>
            </a:pPr>
            <a:r>
              <a:rPr lang="en-US" sz="1013" b="1">
                <a:solidFill>
                  <a:srgbClr val="0F1423"/>
                </a:solidFill>
                <a:latin typeface="Microsoft YaHei"/>
                <a:ea typeface="Microsoft YaHei"/>
              </a:rPr>
              <a:t xml:space="preserve">① </a:t>
            </a:r>
            <a:r>
              <a:rPr lang="zh-CN" sz="1013" b="1">
                <a:solidFill>
                  <a:srgbClr val="0F1423"/>
                </a:solidFill>
                <a:latin typeface="Microsoft YaHei"/>
                <a:ea typeface="Microsoft YaHei"/>
              </a:rPr>
              <a:t>流程领域架构：</a:t>
            </a:r>
            <a:r>
              <a:rPr lang="en-US" sz="1013" b="1">
                <a:solidFill>
                  <a:srgbClr val="0F1423"/>
                </a:solidFill>
                <a:latin typeface="Microsoft YaHei"/>
                <a:ea typeface="Microsoft YaHei"/>
              </a:rPr>
              <a:t xml:space="preserve">L1 </a:t>
            </a:r>
            <a:r>
              <a:rPr lang="zh-CN" sz="1013" b="1">
                <a:solidFill>
                  <a:srgbClr val="0F1423"/>
                </a:solidFill>
                <a:latin typeface="Microsoft YaHei"/>
                <a:ea typeface="Microsoft YaHei"/>
              </a:rPr>
              <a:t>价值流</a:t>
            </a:r>
            <a:r>
              <a:rPr lang="en-US" sz="1013" b="1">
                <a:solidFill>
                  <a:srgbClr val="0F1423"/>
                </a:solidFill>
                <a:latin typeface="Microsoft YaHei"/>
                <a:ea typeface="Microsoft YaHei"/>
              </a:rPr>
              <a:t xml:space="preserve"> → L2 </a:t>
            </a:r>
            <a:r>
              <a:rPr lang="zh-CN" sz="1013" b="1">
                <a:solidFill>
                  <a:srgbClr val="0F1423"/>
                </a:solidFill>
                <a:latin typeface="Microsoft YaHei"/>
                <a:ea typeface="Microsoft YaHei"/>
              </a:rPr>
              <a:t>流程域</a:t>
            </a:r>
            <a:r>
              <a:rPr lang="en-US" sz="1013" b="1">
                <a:solidFill>
                  <a:srgbClr val="0F1423"/>
                </a:solidFill>
                <a:latin typeface="Microsoft YaHei"/>
                <a:ea typeface="Microsoft YaHei"/>
              </a:rPr>
              <a:t xml:space="preserve"> → L3 </a:t>
            </a:r>
            <a:r>
              <a:rPr lang="zh-CN" sz="1013" b="1">
                <a:solidFill>
                  <a:srgbClr val="0F1423"/>
                </a:solidFill>
                <a:latin typeface="Microsoft YaHei"/>
                <a:ea typeface="Microsoft YaHei"/>
              </a:rPr>
              <a:t>流程组</a:t>
            </a:r>
            <a:r>
              <a:rPr lang="en-US" sz="1013" b="1">
                <a:solidFill>
                  <a:srgbClr val="0F1423"/>
                </a:solidFill>
                <a:latin typeface="Microsoft YaHei"/>
                <a:ea typeface="Microsoft YaHei"/>
              </a:rPr>
              <a:t xml:space="preserve"> → L4 </a:t>
            </a:r>
            <a:r>
              <a:rPr lang="zh-CN" sz="1013" b="1">
                <a:solidFill>
                  <a:srgbClr val="0F1423"/>
                </a:solidFill>
                <a:latin typeface="Microsoft YaHei"/>
                <a:ea typeface="Microsoft YaHei"/>
              </a:rPr>
              <a:t>子流程（覆盖业务全维度）</a:t>
            </a:r>
            <a:endParaRPr/>
          </a:p>
        </p:txBody>
      </p:sp>
      <p:sp>
        <p:nvSpPr>
          <p:cNvPr id="851" name=""/>
          <p:cNvSpPr/>
          <p:nvPr/>
        </p:nvSpPr>
        <p:spPr>
          <a:xfrm rot="0" flipH="0" flipV="0">
            <a:off x="647700" y="1533525"/>
            <a:ext cx="4438650" cy="2019300"/>
          </a:xfrm>
          <a:prstGeom prst="roundRect">
            <a:avLst>
              <a:gd name="adj" fmla="val 1887"/>
            </a:avLst>
          </a:prstGeom>
          <a:solidFill>
            <a:srgbClr val="F7F7F8"/>
          </a:solidFill>
          <a:ln/>
        </p:spPr>
        <p:txBody>
          <a:bodyPr/>
          <a:p/>
        </p:txBody>
      </p:sp>
      <p:sp>
        <p:nvSpPr>
          <p:cNvPr id="852" name=""/>
          <p:cNvSpPr/>
          <p:nvPr/>
        </p:nvSpPr>
        <p:spPr>
          <a:xfrm rot="0" flipH="0" flipV="0">
            <a:off x="647700" y="1533525"/>
            <a:ext cx="4438650" cy="2019300"/>
          </a:xfrm>
          <a:custGeom>
            <a:pathLst>
              <a:path w="466" h="212">
                <a:moveTo>
                  <a:pt x="4" y="212"/>
                </a:moveTo>
                <a:cubicBezTo>
                  <a:pt x="2" y="212"/>
                  <a:pt x="0" y="210"/>
                  <a:pt x="0" y="208"/>
                </a:cubicBezTo>
                <a:lnTo>
                  <a:pt x="0" y="4"/>
                </a:lnTo>
                <a:cubicBezTo>
                  <a:pt x="0" y="2"/>
                  <a:pt x="2" y="0"/>
                  <a:pt x="4" y="0"/>
                </a:cubicBezTo>
                <a:lnTo>
                  <a:pt x="4" y="212"/>
                </a:lnTo>
                <a:close/>
              </a:path>
            </a:pathLst>
          </a:custGeom>
          <a:solidFill>
            <a:srgbClr val="FA4F24"/>
          </a:solidFill>
          <a:ln/>
        </p:spPr>
        <p:txBody>
          <a:bodyPr/>
          <a:p/>
        </p:txBody>
      </p:sp>
      <p:sp>
        <p:nvSpPr>
          <p:cNvPr id="853" name="" descr="{&quot;isTemplate&quot;:true,&quot;type&quot;:&quot;text&quot;}"/>
          <p:cNvSpPr txBox="1"/>
          <p:nvPr/>
        </p:nvSpPr>
        <p:spPr>
          <a:xfrm rot="0" flipH="0" flipV="0">
            <a:off x="781050" y="1647825"/>
            <a:ext cx="4171950" cy="142875"/>
          </a:xfrm>
          <a:prstGeom prst="rect"/>
        </p:spPr>
        <p:txBody>
          <a:bodyPr wrap="none" lIns="0" tIns="0" rIns="0" bIns="0"/>
          <a:p>
            <a:pPr>
              <a:lnSpc>
                <a:spcPct val="100000"/>
              </a:lnSpc>
            </a:pPr>
            <a:r>
              <a:rPr lang="zh-CN" sz="938" b="1">
                <a:solidFill>
                  <a:srgbClr val="FA4F24"/>
                </a:solidFill>
                <a:latin typeface="Microsoft YaHei"/>
                <a:ea typeface="Microsoft YaHei"/>
              </a:rPr>
              <a:t>能源侧：三个价值流</a:t>
            </a:r>
            <a:endParaRPr/>
          </a:p>
        </p:txBody>
      </p:sp>
      <p:sp>
        <p:nvSpPr>
          <p:cNvPr id="854" name=""/>
          <p:cNvSpPr/>
          <p:nvPr/>
        </p:nvSpPr>
        <p:spPr>
          <a:xfrm rot="0" flipH="0" flipV="0">
            <a:off x="781050" y="1866900"/>
            <a:ext cx="4171950" cy="495300"/>
          </a:xfrm>
          <a:prstGeom prst="roundRect">
            <a:avLst>
              <a:gd name="adj" fmla="val 5769"/>
            </a:avLst>
          </a:prstGeom>
          <a:solidFill>
            <a:srgbClr val="FFFFFF"/>
          </a:solidFill>
          <a:ln/>
        </p:spPr>
        <p:txBody>
          <a:bodyPr/>
          <a:p/>
        </p:txBody>
      </p:sp>
      <p:sp>
        <p:nvSpPr>
          <p:cNvPr id="855" name="" descr="{&quot;isTemplate&quot;:true,&quot;type&quot;:&quot;text&quot;}"/>
          <p:cNvSpPr txBox="1"/>
          <p:nvPr/>
        </p:nvSpPr>
        <p:spPr>
          <a:xfrm rot="0" flipH="0" flipV="0">
            <a:off x="885825" y="1971675"/>
            <a:ext cx="152400" cy="142875"/>
          </a:xfrm>
          <a:prstGeom prst="rect"/>
        </p:spPr>
        <p:txBody>
          <a:bodyPr wrap="none" lIns="0" tIns="0" rIns="0" bIns="0"/>
          <a:p>
            <a:pPr>
              <a:lnSpc>
                <a:spcPct val="100000"/>
              </a:lnSpc>
            </a:pPr>
            <a:r>
              <a:rPr lang="en-US" sz="900" b="1">
                <a:solidFill>
                  <a:srgbClr val="FA4F24"/>
                </a:solidFill>
                <a:latin typeface="Microsoft YaHei"/>
                <a:ea typeface="Microsoft YaHei"/>
              </a:rPr>
              <a:t>V1</a:t>
            </a:r>
            <a:endParaRPr/>
          </a:p>
        </p:txBody>
      </p:sp>
      <p:sp>
        <p:nvSpPr>
          <p:cNvPr id="856" name="" descr="{&quot;isTemplate&quot;:true,&quot;type&quot;:&quot;text&quot;}"/>
          <p:cNvSpPr txBox="1"/>
          <p:nvPr/>
        </p:nvSpPr>
        <p:spPr>
          <a:xfrm rot="0" flipH="0" flipV="0">
            <a:off x="1104900" y="1971675"/>
            <a:ext cx="1190625" cy="142875"/>
          </a:xfrm>
          <a:prstGeom prst="rect"/>
        </p:spPr>
        <p:txBody>
          <a:bodyPr wrap="none" lIns="0" tIns="0" rIns="0" bIns="0"/>
          <a:p>
            <a:pPr>
              <a:lnSpc>
                <a:spcPct val="100000"/>
              </a:lnSpc>
            </a:pPr>
            <a:r>
              <a:rPr lang="zh-CN" sz="938" b="1">
                <a:solidFill>
                  <a:srgbClr val="0F1423"/>
                </a:solidFill>
                <a:latin typeface="Microsoft YaHei"/>
                <a:ea typeface="Microsoft YaHei"/>
              </a:rPr>
              <a:t>资产形成与交付价值流</a:t>
            </a:r>
            <a:endParaRPr/>
          </a:p>
        </p:txBody>
      </p:sp>
      <p:sp>
        <p:nvSpPr>
          <p:cNvPr id="857" name="" descr="{&quot;isTemplate&quot;:true,&quot;type&quot;:&quot;text&quot;}"/>
          <p:cNvSpPr txBox="1"/>
          <p:nvPr/>
        </p:nvSpPr>
        <p:spPr>
          <a:xfrm rot="0" flipH="0" flipV="0">
            <a:off x="885825" y="2143125"/>
            <a:ext cx="3962400" cy="123825"/>
          </a:xfrm>
          <a:prstGeom prst="rect"/>
        </p:spPr>
        <p:txBody>
          <a:bodyPr wrap="none" lIns="0" tIns="0" rIns="0" bIns="0"/>
          <a:p>
            <a:pPr>
              <a:lnSpc>
                <a:spcPct val="100000"/>
              </a:lnSpc>
            </a:pPr>
            <a:r>
              <a:rPr lang="zh-CN" sz="788">
                <a:solidFill>
                  <a:srgbClr val="5A6070"/>
                </a:solidFill>
                <a:latin typeface="Microsoft YaHei"/>
                <a:ea typeface="Microsoft YaHei"/>
              </a:rPr>
              <a:t>开发与投资</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建设</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投产移交</a:t>
            </a:r>
            <a:endParaRPr/>
          </a:p>
        </p:txBody>
      </p:sp>
      <p:sp>
        <p:nvSpPr>
          <p:cNvPr id="858" name=""/>
          <p:cNvSpPr/>
          <p:nvPr/>
        </p:nvSpPr>
        <p:spPr>
          <a:xfrm rot="0" flipH="0" flipV="0">
            <a:off x="781050" y="2409825"/>
            <a:ext cx="4171950" cy="485775"/>
          </a:xfrm>
          <a:prstGeom prst="roundRect">
            <a:avLst>
              <a:gd name="adj" fmla="val 5882"/>
            </a:avLst>
          </a:prstGeom>
          <a:solidFill>
            <a:srgbClr val="FFFFFF"/>
          </a:solidFill>
          <a:ln/>
        </p:spPr>
        <p:txBody>
          <a:bodyPr/>
          <a:p/>
        </p:txBody>
      </p:sp>
      <p:sp>
        <p:nvSpPr>
          <p:cNvPr id="859" name="" descr="{&quot;isTemplate&quot;:true,&quot;type&quot;:&quot;text&quot;}"/>
          <p:cNvSpPr txBox="1"/>
          <p:nvPr/>
        </p:nvSpPr>
        <p:spPr>
          <a:xfrm rot="0" flipH="0" flipV="0">
            <a:off x="885825" y="2505075"/>
            <a:ext cx="152400" cy="142875"/>
          </a:xfrm>
          <a:prstGeom prst="rect"/>
        </p:spPr>
        <p:txBody>
          <a:bodyPr wrap="none" lIns="0" tIns="0" rIns="0" bIns="0"/>
          <a:p>
            <a:pPr>
              <a:lnSpc>
                <a:spcPct val="100000"/>
              </a:lnSpc>
            </a:pPr>
            <a:r>
              <a:rPr lang="en-US" sz="900" b="1">
                <a:solidFill>
                  <a:srgbClr val="FA4F24"/>
                </a:solidFill>
                <a:latin typeface="Microsoft YaHei"/>
                <a:ea typeface="Microsoft YaHei"/>
              </a:rPr>
              <a:t>V2</a:t>
            </a:r>
            <a:endParaRPr/>
          </a:p>
        </p:txBody>
      </p:sp>
      <p:sp>
        <p:nvSpPr>
          <p:cNvPr id="860" name="" descr="{&quot;isTemplate&quot;:true,&quot;type&quot;:&quot;text&quot;}"/>
          <p:cNvSpPr txBox="1"/>
          <p:nvPr/>
        </p:nvSpPr>
        <p:spPr>
          <a:xfrm rot="0" flipH="0" flipV="0">
            <a:off x="1104900" y="2505075"/>
            <a:ext cx="1428750" cy="142875"/>
          </a:xfrm>
          <a:prstGeom prst="rect"/>
        </p:spPr>
        <p:txBody>
          <a:bodyPr wrap="none" lIns="0" tIns="0" rIns="0" bIns="0"/>
          <a:p>
            <a:pPr>
              <a:lnSpc>
                <a:spcPct val="100000"/>
              </a:lnSpc>
            </a:pPr>
            <a:r>
              <a:rPr lang="zh-CN" sz="938" b="1">
                <a:solidFill>
                  <a:srgbClr val="0F1423"/>
                </a:solidFill>
                <a:latin typeface="Microsoft YaHei"/>
                <a:ea typeface="Microsoft YaHei"/>
              </a:rPr>
              <a:t>资产运营与价值实现价值流</a:t>
            </a:r>
            <a:endParaRPr/>
          </a:p>
        </p:txBody>
      </p:sp>
      <p:sp>
        <p:nvSpPr>
          <p:cNvPr id="861" name="" descr="{&quot;isTemplate&quot;:true,&quot;type&quot;:&quot;text&quot;}"/>
          <p:cNvSpPr txBox="1"/>
          <p:nvPr/>
        </p:nvSpPr>
        <p:spPr>
          <a:xfrm rot="0" flipH="0" flipV="0">
            <a:off x="885825" y="2676525"/>
            <a:ext cx="3962400" cy="123825"/>
          </a:xfrm>
          <a:prstGeom prst="rect"/>
        </p:spPr>
        <p:txBody>
          <a:bodyPr wrap="none" lIns="0" tIns="0" rIns="0" bIns="0"/>
          <a:p>
            <a:pPr>
              <a:lnSpc>
                <a:spcPct val="100000"/>
              </a:lnSpc>
            </a:pPr>
            <a:r>
              <a:rPr lang="zh-CN" sz="788">
                <a:solidFill>
                  <a:srgbClr val="5A6070"/>
                </a:solidFill>
                <a:latin typeface="Microsoft YaHei"/>
                <a:ea typeface="Microsoft YaHei"/>
              </a:rPr>
              <a:t>运营运维（含资产）→</a:t>
            </a:r>
            <a:r>
              <a:rPr lang="en-US" sz="788">
                <a:solidFill>
                  <a:srgbClr val="5A6070"/>
                </a:solidFill>
                <a:latin typeface="Microsoft YaHei"/>
                <a:ea typeface="Microsoft YaHei"/>
              </a:rPr>
              <a:t xml:space="preserve"> </a:t>
            </a:r>
            <a:r>
              <a:rPr lang="zh-CN" sz="788">
                <a:solidFill>
                  <a:srgbClr val="5A6070"/>
                </a:solidFill>
                <a:latin typeface="Microsoft YaHei"/>
                <a:ea typeface="Microsoft YaHei"/>
              </a:rPr>
              <a:t>交易</a:t>
            </a:r>
            <a:endParaRPr/>
          </a:p>
        </p:txBody>
      </p:sp>
      <p:sp>
        <p:nvSpPr>
          <p:cNvPr id="862" name=""/>
          <p:cNvSpPr/>
          <p:nvPr/>
        </p:nvSpPr>
        <p:spPr>
          <a:xfrm rot="0" flipH="0" flipV="0">
            <a:off x="781050" y="2943225"/>
            <a:ext cx="4171950" cy="495300"/>
          </a:xfrm>
          <a:prstGeom prst="roundRect">
            <a:avLst>
              <a:gd name="adj" fmla="val 5769"/>
            </a:avLst>
          </a:prstGeom>
          <a:solidFill>
            <a:srgbClr val="FFFFFF"/>
          </a:solidFill>
          <a:ln/>
        </p:spPr>
        <p:txBody>
          <a:bodyPr/>
          <a:p/>
        </p:txBody>
      </p:sp>
      <p:sp>
        <p:nvSpPr>
          <p:cNvPr id="863" name="" descr="{&quot;isTemplate&quot;:true,&quot;type&quot;:&quot;text&quot;}"/>
          <p:cNvSpPr txBox="1"/>
          <p:nvPr/>
        </p:nvSpPr>
        <p:spPr>
          <a:xfrm rot="0" flipH="0" flipV="0">
            <a:off x="885825" y="3048000"/>
            <a:ext cx="152400" cy="142875"/>
          </a:xfrm>
          <a:prstGeom prst="rect"/>
        </p:spPr>
        <p:txBody>
          <a:bodyPr wrap="none" lIns="0" tIns="0" rIns="0" bIns="0"/>
          <a:p>
            <a:pPr>
              <a:lnSpc>
                <a:spcPct val="100000"/>
              </a:lnSpc>
            </a:pPr>
            <a:r>
              <a:rPr lang="en-US" sz="900" b="1">
                <a:solidFill>
                  <a:srgbClr val="FA4F24"/>
                </a:solidFill>
                <a:latin typeface="Microsoft YaHei"/>
                <a:ea typeface="Microsoft YaHei"/>
              </a:rPr>
              <a:t>V3</a:t>
            </a:r>
            <a:endParaRPr/>
          </a:p>
        </p:txBody>
      </p:sp>
      <p:sp>
        <p:nvSpPr>
          <p:cNvPr id="864" name="" descr="{&quot;isTemplate&quot;:true,&quot;type&quot;:&quot;text&quot;}"/>
          <p:cNvSpPr txBox="1"/>
          <p:nvPr/>
        </p:nvSpPr>
        <p:spPr>
          <a:xfrm rot="0" flipH="0" flipV="0">
            <a:off x="1104900" y="3048000"/>
            <a:ext cx="1076325" cy="142875"/>
          </a:xfrm>
          <a:prstGeom prst="rect"/>
        </p:spPr>
        <p:txBody>
          <a:bodyPr wrap="none" lIns="0" tIns="0" rIns="0" bIns="0"/>
          <a:p>
            <a:pPr>
              <a:lnSpc>
                <a:spcPct val="100000"/>
              </a:lnSpc>
            </a:pPr>
            <a:r>
              <a:rPr lang="zh-CN" sz="938" b="1">
                <a:solidFill>
                  <a:srgbClr val="0F1423"/>
                </a:solidFill>
                <a:latin typeface="Microsoft YaHei"/>
                <a:ea typeface="Microsoft YaHei"/>
              </a:rPr>
              <a:t>投资价值度量价值流</a:t>
            </a:r>
            <a:endParaRPr/>
          </a:p>
        </p:txBody>
      </p:sp>
      <p:sp>
        <p:nvSpPr>
          <p:cNvPr id="865" name="" descr="{&quot;isTemplate&quot;:true,&quot;type&quot;:&quot;text&quot;}"/>
          <p:cNvSpPr txBox="1"/>
          <p:nvPr/>
        </p:nvSpPr>
        <p:spPr>
          <a:xfrm rot="0" flipH="0" flipV="0">
            <a:off x="885825" y="3219450"/>
            <a:ext cx="3962400" cy="123825"/>
          </a:xfrm>
          <a:prstGeom prst="rect"/>
        </p:spPr>
        <p:txBody>
          <a:bodyPr wrap="none" lIns="0" tIns="0" rIns="0" bIns="0"/>
          <a:p>
            <a:pPr>
              <a:lnSpc>
                <a:spcPct val="100000"/>
              </a:lnSpc>
            </a:pPr>
            <a:r>
              <a:rPr lang="zh-CN" sz="788">
                <a:solidFill>
                  <a:srgbClr val="5A6070"/>
                </a:solidFill>
                <a:latin typeface="Microsoft YaHei"/>
                <a:ea typeface="Microsoft YaHei"/>
              </a:rPr>
              <a:t>项目四算</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指标体系</a:t>
            </a:r>
            <a:endParaRPr/>
          </a:p>
        </p:txBody>
      </p:sp>
      <p:sp>
        <p:nvSpPr>
          <p:cNvPr id="866" name=""/>
          <p:cNvSpPr/>
          <p:nvPr/>
        </p:nvSpPr>
        <p:spPr>
          <a:xfrm rot="0" flipH="0" flipV="0">
            <a:off x="5200650" y="1533525"/>
            <a:ext cx="3524250" cy="2019300"/>
          </a:xfrm>
          <a:prstGeom prst="roundRect">
            <a:avLst>
              <a:gd name="adj" fmla="val 1887"/>
            </a:avLst>
          </a:prstGeom>
          <a:solidFill>
            <a:srgbClr val="F7F7F8"/>
          </a:solidFill>
          <a:ln/>
        </p:spPr>
        <p:txBody>
          <a:bodyPr/>
          <a:p/>
        </p:txBody>
      </p:sp>
      <p:sp>
        <p:nvSpPr>
          <p:cNvPr id="867" name=""/>
          <p:cNvSpPr/>
          <p:nvPr/>
        </p:nvSpPr>
        <p:spPr>
          <a:xfrm rot="0" flipH="0" flipV="0">
            <a:off x="5200650" y="1533525"/>
            <a:ext cx="3524250" cy="2019300"/>
          </a:xfrm>
          <a:custGeom>
            <a:pathLst>
              <a:path w="370" h="212">
                <a:moveTo>
                  <a:pt x="4" y="212"/>
                </a:moveTo>
                <a:cubicBezTo>
                  <a:pt x="2" y="212"/>
                  <a:pt x="0" y="210"/>
                  <a:pt x="0" y="208"/>
                </a:cubicBezTo>
                <a:lnTo>
                  <a:pt x="0" y="4"/>
                </a:lnTo>
                <a:cubicBezTo>
                  <a:pt x="0" y="2"/>
                  <a:pt x="2" y="0"/>
                  <a:pt x="4" y="0"/>
                </a:cubicBezTo>
                <a:lnTo>
                  <a:pt x="4" y="212"/>
                </a:lnTo>
                <a:close/>
              </a:path>
            </a:pathLst>
          </a:custGeom>
          <a:solidFill>
            <a:srgbClr val="3A4050"/>
          </a:solidFill>
          <a:ln/>
        </p:spPr>
        <p:txBody>
          <a:bodyPr/>
          <a:p/>
        </p:txBody>
      </p:sp>
      <p:sp>
        <p:nvSpPr>
          <p:cNvPr id="868" name="" descr="{&quot;isTemplate&quot;:true,&quot;type&quot;:&quot;text&quot;}"/>
          <p:cNvSpPr txBox="1"/>
          <p:nvPr/>
        </p:nvSpPr>
        <p:spPr>
          <a:xfrm rot="0" flipH="0" flipV="0">
            <a:off x="5334000" y="1647825"/>
            <a:ext cx="3219450" cy="142875"/>
          </a:xfrm>
          <a:prstGeom prst="rect"/>
        </p:spPr>
        <p:txBody>
          <a:bodyPr wrap="none" lIns="0" tIns="0" rIns="0" bIns="0"/>
          <a:p>
            <a:pPr>
              <a:lnSpc>
                <a:spcPct val="100000"/>
              </a:lnSpc>
            </a:pPr>
            <a:r>
              <a:rPr lang="zh-CN" sz="938" b="1">
                <a:solidFill>
                  <a:srgbClr val="3A4050"/>
                </a:solidFill>
                <a:latin typeface="Microsoft YaHei"/>
                <a:ea typeface="Microsoft YaHei"/>
              </a:rPr>
              <a:t>储能侧：一个价值流</a:t>
            </a:r>
            <a:r>
              <a:rPr lang="en-US" sz="938" b="1">
                <a:solidFill>
                  <a:srgbClr val="3A4050"/>
                </a:solidFill>
                <a:latin typeface="Microsoft YaHei"/>
                <a:ea typeface="Microsoft YaHei"/>
              </a:rPr>
              <a:t xml:space="preserve"> + </a:t>
            </a:r>
            <a:r>
              <a:rPr lang="zh-CN" sz="938" b="1">
                <a:solidFill>
                  <a:srgbClr val="3A4050"/>
                </a:solidFill>
                <a:latin typeface="Microsoft YaHei"/>
                <a:ea typeface="Microsoft YaHei"/>
              </a:rPr>
              <a:t>与能源的交汇点</a:t>
            </a:r>
            <a:endParaRPr/>
          </a:p>
        </p:txBody>
      </p:sp>
      <p:sp>
        <p:nvSpPr>
          <p:cNvPr id="869" name=""/>
          <p:cNvSpPr/>
          <p:nvPr/>
        </p:nvSpPr>
        <p:spPr>
          <a:xfrm rot="0" flipH="0" flipV="0">
            <a:off x="5334000" y="1866900"/>
            <a:ext cx="3219450" cy="657225"/>
          </a:xfrm>
          <a:prstGeom prst="roundRect">
            <a:avLst>
              <a:gd name="adj" fmla="val 4348"/>
            </a:avLst>
          </a:prstGeom>
          <a:solidFill>
            <a:srgbClr val="FFFFFF"/>
          </a:solidFill>
          <a:ln/>
        </p:spPr>
        <p:txBody>
          <a:bodyPr/>
          <a:p/>
        </p:txBody>
      </p:sp>
      <p:sp>
        <p:nvSpPr>
          <p:cNvPr id="870" name="" descr="{&quot;isTemplate&quot;:true,&quot;type&quot;:&quot;text&quot;}"/>
          <p:cNvSpPr txBox="1"/>
          <p:nvPr/>
        </p:nvSpPr>
        <p:spPr>
          <a:xfrm rot="0" flipH="0" flipV="0">
            <a:off x="5438775" y="1943100"/>
            <a:ext cx="3009900" cy="142875"/>
          </a:xfrm>
          <a:prstGeom prst="rect"/>
        </p:spPr>
        <p:txBody>
          <a:bodyPr wrap="none" lIns="0" tIns="0" rIns="0" bIns="0"/>
          <a:p>
            <a:pPr>
              <a:lnSpc>
                <a:spcPct val="100000"/>
              </a:lnSpc>
            </a:pPr>
            <a:r>
              <a:rPr lang="en-US" sz="938" b="1">
                <a:solidFill>
                  <a:srgbClr val="0F1423"/>
                </a:solidFill>
                <a:latin typeface="Microsoft YaHei"/>
                <a:ea typeface="Microsoft YaHei"/>
              </a:rPr>
              <a:t>V4</a:t>
            </a:r>
            <a:r>
              <a:rPr lang="zh-CN" sz="938" b="1">
                <a:solidFill>
                  <a:srgbClr val="0F1423"/>
                </a:solidFill>
                <a:latin typeface="Microsoft YaHei"/>
                <a:ea typeface="Microsoft YaHei"/>
              </a:rPr>
              <a:t>　产品交付与制造履约价值流</a:t>
            </a:r>
            <a:endParaRPr/>
          </a:p>
        </p:txBody>
      </p:sp>
      <p:sp>
        <p:nvSpPr>
          <p:cNvPr id="871" name="" descr="{&quot;isTemplate&quot;:true,&quot;type&quot;:&quot;text&quot;}"/>
          <p:cNvSpPr txBox="1"/>
          <p:nvPr/>
        </p:nvSpPr>
        <p:spPr>
          <a:xfrm rot="0" flipH="0" flipV="0">
            <a:off x="5438775" y="2114550"/>
            <a:ext cx="3009900" cy="33337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寻源</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采购履行</a:t>
            </a:r>
            <a:r>
              <a:rPr lang="en-US" sz="788">
                <a:solidFill>
                  <a:srgbClr val="5A6070"/>
                </a:solidFill>
                <a:latin typeface="Microsoft YaHei"/>
                <a:ea typeface="Microsoft YaHei"/>
              </a:rPr>
              <a:t xml:space="preserve"> → EBOM→MBOM </a:t>
            </a:r>
            <a:r>
              <a:rPr lang="zh-CN" sz="788">
                <a:solidFill>
                  <a:srgbClr val="5A6070"/>
                </a:solidFill>
                <a:latin typeface="Microsoft YaHei"/>
                <a:ea typeface="Microsoft YaHei"/>
              </a:rPr>
              <a:t>转化</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制造交付</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入库与项目对接</a:t>
            </a:r>
            <a:endParaRPr/>
          </a:p>
        </p:txBody>
      </p:sp>
      <p:sp>
        <p:nvSpPr>
          <p:cNvPr id="872" name=""/>
          <p:cNvSpPr/>
          <p:nvPr/>
        </p:nvSpPr>
        <p:spPr>
          <a:xfrm rot="0" flipH="0" flipV="0">
            <a:off x="5334000" y="2581275"/>
            <a:ext cx="3219450" cy="857250"/>
          </a:xfrm>
          <a:prstGeom prst="roundRect">
            <a:avLst>
              <a:gd name="adj" fmla="val 3333"/>
            </a:avLst>
          </a:prstGeom>
          <a:solidFill>
            <a:srgbClr val="FFF3EE"/>
          </a:solidFill>
          <a:ln/>
        </p:spPr>
        <p:txBody>
          <a:bodyPr/>
          <a:p/>
        </p:txBody>
      </p:sp>
      <p:sp>
        <p:nvSpPr>
          <p:cNvPr id="873" name="" descr="{&quot;isTemplate&quot;:true,&quot;type&quot;:&quot;text&quot;}"/>
          <p:cNvSpPr txBox="1"/>
          <p:nvPr/>
        </p:nvSpPr>
        <p:spPr>
          <a:xfrm rot="0" flipH="0" flipV="0">
            <a:off x="5438775" y="2676525"/>
            <a:ext cx="3009900" cy="133350"/>
          </a:xfrm>
          <a:prstGeom prst="rect"/>
        </p:spPr>
        <p:txBody>
          <a:bodyPr wrap="none" lIns="0" tIns="0" rIns="0" bIns="0"/>
          <a:p>
            <a:pPr>
              <a:lnSpc>
                <a:spcPct val="100000"/>
              </a:lnSpc>
            </a:pPr>
            <a:r>
              <a:rPr lang="zh-CN" sz="825" b="1">
                <a:solidFill>
                  <a:srgbClr val="C43A17"/>
                </a:solidFill>
                <a:latin typeface="Microsoft YaHei"/>
                <a:ea typeface="Microsoft YaHei"/>
              </a:rPr>
              <a:t>与能源侧的交汇点（架构上必须显式画出）</a:t>
            </a:r>
            <a:endParaRPr/>
          </a:p>
        </p:txBody>
      </p:sp>
      <p:sp>
        <p:nvSpPr>
          <p:cNvPr id="874" name="" descr="{&quot;isTemplate&quot;:true,&quot;type&quot;:&quot;text&quot;}"/>
          <p:cNvSpPr txBox="1"/>
          <p:nvPr/>
        </p:nvSpPr>
        <p:spPr>
          <a:xfrm rot="0" flipH="0" flipV="0">
            <a:off x="5438775" y="2847975"/>
            <a:ext cx="3009900" cy="504825"/>
          </a:xfrm>
          <a:prstGeom prst="rect"/>
        </p:spPr>
        <p:txBody>
          <a:bodyPr wrap="square" lIns="0" tIns="0" rIns="0" bIns="0">
            <a:normAutofit/>
          </a:bodyPr>
          <a:p>
            <a:pPr>
              <a:lnSpc>
                <a:spcPct val="140000"/>
              </a:lnSpc>
            </a:pPr>
            <a:r>
              <a:rPr lang="zh-CN" sz="788">
                <a:solidFill>
                  <a:srgbClr val="3A4050"/>
                </a:solidFill>
                <a:latin typeface="Microsoft YaHei"/>
                <a:ea typeface="Microsoft YaHei"/>
              </a:rPr>
              <a:t>供应商准入、物料主数据、采购订单、到货检验</a:t>
            </a:r>
            <a:r>
              <a:rPr lang="en-US" sz="788">
                <a:solidFill>
                  <a:srgbClr val="3A4050"/>
                </a:solidFill>
                <a:latin typeface="Microsoft YaHei"/>
                <a:ea typeface="Microsoft YaHei"/>
              </a:rPr>
              <a:t xml:space="preserve"> —— V4 </a:t>
            </a:r>
            <a:r>
              <a:rPr lang="zh-CN" sz="788">
                <a:solidFill>
                  <a:srgbClr val="3A4050"/>
                </a:solidFill>
                <a:latin typeface="Microsoft YaHei"/>
                <a:ea typeface="Microsoft YaHei"/>
              </a:rPr>
              <a:t>与</a:t>
            </a:r>
            <a:r>
              <a:rPr lang="en-US" sz="788">
                <a:solidFill>
                  <a:srgbClr val="3A4050"/>
                </a:solidFill>
                <a:latin typeface="Microsoft YaHei"/>
                <a:ea typeface="Microsoft YaHei"/>
              </a:rPr>
              <a:t xml:space="preserve"> V1 </a:t>
            </a:r>
            <a:r>
              <a:rPr lang="zh-CN" sz="788">
                <a:solidFill>
                  <a:srgbClr val="3A4050"/>
                </a:solidFill>
                <a:latin typeface="Microsoft YaHei"/>
                <a:ea typeface="Microsoft YaHei"/>
              </a:rPr>
              <a:t>在这里共用。这四个对象如果两边各建一套，后面所有集成成本都要翻倍。</a:t>
            </a:r>
            <a:endParaRPr/>
          </a:p>
        </p:txBody>
      </p:sp>
      <p:sp>
        <p:nvSpPr>
          <p:cNvPr id="875" name=""/>
          <p:cNvSpPr/>
          <p:nvPr/>
        </p:nvSpPr>
        <p:spPr>
          <a:xfrm rot="0" flipH="0" flipV="0">
            <a:off x="8763000" y="1533525"/>
            <a:ext cx="2819400" cy="2019300"/>
          </a:xfrm>
          <a:prstGeom prst="roundRect">
            <a:avLst>
              <a:gd name="adj" fmla="val 1887"/>
            </a:avLst>
          </a:prstGeom>
          <a:solidFill>
            <a:srgbClr val="0F1423"/>
          </a:solidFill>
          <a:ln/>
        </p:spPr>
        <p:txBody>
          <a:bodyPr/>
          <a:p/>
        </p:txBody>
      </p:sp>
      <p:sp>
        <p:nvSpPr>
          <p:cNvPr id="876" name="" descr="{&quot;isTemplate&quot;:true,&quot;type&quot;:&quot;text&quot;}"/>
          <p:cNvSpPr txBox="1"/>
          <p:nvPr/>
        </p:nvSpPr>
        <p:spPr>
          <a:xfrm rot="0" flipH="0" flipV="0">
            <a:off x="8896350" y="1647825"/>
            <a:ext cx="2552700" cy="142875"/>
          </a:xfrm>
          <a:prstGeom prst="rect"/>
        </p:spPr>
        <p:txBody>
          <a:bodyPr wrap="none" lIns="0" tIns="0" rIns="0" bIns="0"/>
          <a:p>
            <a:pPr>
              <a:lnSpc>
                <a:spcPct val="100000"/>
              </a:lnSpc>
            </a:pPr>
            <a:r>
              <a:rPr lang="en-US" sz="900" spc="75">
                <a:solidFill>
                  <a:srgbClr val="FBA15C"/>
                </a:solidFill>
                <a:latin typeface="Microsoft YaHei"/>
                <a:ea typeface="Microsoft YaHei"/>
              </a:rPr>
              <a:t xml:space="preserve">L4 </a:t>
            </a:r>
            <a:r>
              <a:rPr lang="zh-CN" sz="900" spc="75">
                <a:solidFill>
                  <a:srgbClr val="FBA15C"/>
                </a:solidFill>
                <a:latin typeface="Microsoft YaHei"/>
                <a:ea typeface="Microsoft YaHei"/>
              </a:rPr>
              <a:t>子流程：判定标准</a:t>
            </a:r>
            <a:endParaRPr/>
          </a:p>
        </p:txBody>
      </p:sp>
      <p:sp>
        <p:nvSpPr>
          <p:cNvPr id="877" name="" descr="{&quot;isTemplate&quot;:true,&quot;type&quot;:&quot;text&quot;}"/>
          <p:cNvSpPr txBox="1"/>
          <p:nvPr/>
        </p:nvSpPr>
        <p:spPr>
          <a:xfrm rot="0" flipH="0" flipV="0">
            <a:off x="8896350" y="1876425"/>
            <a:ext cx="9525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878" name="" descr="{&quot;isTemplate&quot;:true,&quot;type&quot;:&quot;text&quot;}"/>
          <p:cNvSpPr txBox="1"/>
          <p:nvPr/>
        </p:nvSpPr>
        <p:spPr>
          <a:xfrm rot="0" flipH="0" flipV="0">
            <a:off x="9067800" y="1876425"/>
            <a:ext cx="2381250" cy="171450"/>
          </a:xfrm>
          <a:prstGeom prst="rect"/>
        </p:spPr>
        <p:txBody>
          <a:bodyPr wrap="none" lIns="0" tIns="0" rIns="0" bIns="0"/>
          <a:p>
            <a:pPr>
              <a:lnSpc>
                <a:spcPct val="135000"/>
              </a:lnSpc>
            </a:pPr>
            <a:r>
              <a:rPr lang="zh-CN" sz="825">
                <a:solidFill>
                  <a:srgbClr val="FFFFFF">
                    <a:alpha val="88000"/>
                  </a:srgbClr>
                </a:solidFill>
                <a:latin typeface="Microsoft YaHei"/>
                <a:ea typeface="Microsoft YaHei"/>
              </a:rPr>
              <a:t>可独立指派责任岗位</a:t>
            </a:r>
            <a:endParaRPr/>
          </a:p>
        </p:txBody>
      </p:sp>
      <p:sp>
        <p:nvSpPr>
          <p:cNvPr id="879" name="" descr="{&quot;isTemplate&quot;:true,&quot;type&quot;:&quot;text&quot;}"/>
          <p:cNvSpPr txBox="1"/>
          <p:nvPr/>
        </p:nvSpPr>
        <p:spPr>
          <a:xfrm rot="0" flipH="0" flipV="0">
            <a:off x="8896350" y="2114550"/>
            <a:ext cx="9525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880" name="" descr="{&quot;isTemplate&quot;:true,&quot;type&quot;:&quot;text&quot;}"/>
          <p:cNvSpPr txBox="1"/>
          <p:nvPr/>
        </p:nvSpPr>
        <p:spPr>
          <a:xfrm rot="0" flipH="0" flipV="0">
            <a:off x="9067800" y="2114550"/>
            <a:ext cx="2381250" cy="171450"/>
          </a:xfrm>
          <a:prstGeom prst="rect"/>
        </p:spPr>
        <p:txBody>
          <a:bodyPr wrap="none" lIns="0" tIns="0" rIns="0" bIns="0"/>
          <a:p>
            <a:pPr>
              <a:lnSpc>
                <a:spcPct val="135000"/>
              </a:lnSpc>
            </a:pPr>
            <a:r>
              <a:rPr lang="zh-CN" sz="825">
                <a:solidFill>
                  <a:srgbClr val="FFFFFF">
                    <a:alpha val="88000"/>
                  </a:srgbClr>
                </a:solidFill>
                <a:latin typeface="Microsoft YaHei"/>
                <a:ea typeface="Microsoft YaHei"/>
              </a:rPr>
              <a:t>有明确触发条件与结束条件</a:t>
            </a:r>
            <a:endParaRPr/>
          </a:p>
        </p:txBody>
      </p:sp>
      <p:sp>
        <p:nvSpPr>
          <p:cNvPr id="881" name="" descr="{&quot;isTemplate&quot;:true,&quot;type&quot;:&quot;text&quot;}"/>
          <p:cNvSpPr txBox="1"/>
          <p:nvPr/>
        </p:nvSpPr>
        <p:spPr>
          <a:xfrm rot="0" flipH="0" flipV="0">
            <a:off x="8896350" y="2352675"/>
            <a:ext cx="9525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882" name="" descr="{&quot;isTemplate&quot;:true,&quot;type&quot;:&quot;text&quot;}"/>
          <p:cNvSpPr txBox="1"/>
          <p:nvPr/>
        </p:nvSpPr>
        <p:spPr>
          <a:xfrm rot="0" flipH="0" flipV="0">
            <a:off x="9067800" y="2352675"/>
            <a:ext cx="2381250" cy="171450"/>
          </a:xfrm>
          <a:prstGeom prst="rect"/>
        </p:spPr>
        <p:txBody>
          <a:bodyPr wrap="none" lIns="0" tIns="0" rIns="0" bIns="0"/>
          <a:p>
            <a:pPr>
              <a:lnSpc>
                <a:spcPct val="135000"/>
              </a:lnSpc>
            </a:pPr>
            <a:r>
              <a:rPr lang="zh-CN" sz="825">
                <a:solidFill>
                  <a:srgbClr val="FFFFFF">
                    <a:alpha val="88000"/>
                  </a:srgbClr>
                </a:solidFill>
                <a:latin typeface="Microsoft YaHei"/>
                <a:ea typeface="Microsoft YaHei"/>
              </a:rPr>
              <a:t>有可识别的输入与输出</a:t>
            </a:r>
            <a:endParaRPr/>
          </a:p>
        </p:txBody>
      </p:sp>
      <p:sp>
        <p:nvSpPr>
          <p:cNvPr id="883" name="" descr="{&quot;isTemplate&quot;:true,&quot;type&quot;:&quot;text&quot;}"/>
          <p:cNvSpPr txBox="1"/>
          <p:nvPr/>
        </p:nvSpPr>
        <p:spPr>
          <a:xfrm rot="0" flipH="0" flipV="0">
            <a:off x="8896350" y="2590800"/>
            <a:ext cx="9525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884" name="" descr="{&quot;isTemplate&quot;:true,&quot;type&quot;:&quot;text&quot;}"/>
          <p:cNvSpPr txBox="1"/>
          <p:nvPr/>
        </p:nvSpPr>
        <p:spPr>
          <a:xfrm rot="0" flipH="0" flipV="0">
            <a:off x="9067800" y="2590800"/>
            <a:ext cx="2381250" cy="171450"/>
          </a:xfrm>
          <a:prstGeom prst="rect"/>
        </p:spPr>
        <p:txBody>
          <a:bodyPr wrap="none" lIns="0" tIns="0" rIns="0" bIns="0"/>
          <a:p>
            <a:pPr>
              <a:lnSpc>
                <a:spcPct val="135000"/>
              </a:lnSpc>
            </a:pPr>
            <a:r>
              <a:rPr lang="zh-CN" sz="825">
                <a:solidFill>
                  <a:srgbClr val="FFFFFF">
                    <a:alpha val="88000"/>
                  </a:srgbClr>
                </a:solidFill>
                <a:latin typeface="Microsoft YaHei"/>
                <a:ea typeface="Microsoft YaHei"/>
              </a:rPr>
              <a:t>与其他</a:t>
            </a:r>
            <a:r>
              <a:rPr lang="en-US" sz="825">
                <a:solidFill>
                  <a:srgbClr val="FFFFFF">
                    <a:alpha val="88000"/>
                  </a:srgbClr>
                </a:solidFill>
                <a:latin typeface="Microsoft YaHei"/>
                <a:ea typeface="Microsoft YaHei"/>
              </a:rPr>
              <a:t xml:space="preserve"> L4 </a:t>
            </a:r>
            <a:r>
              <a:rPr lang="zh-CN" sz="825">
                <a:solidFill>
                  <a:srgbClr val="FFFFFF">
                    <a:alpha val="88000"/>
                  </a:srgbClr>
                </a:solidFill>
                <a:latin typeface="Microsoft YaHei"/>
                <a:ea typeface="Microsoft YaHei"/>
              </a:rPr>
              <a:t>之间有显式接口</a:t>
            </a:r>
            <a:endParaRPr/>
          </a:p>
        </p:txBody>
      </p:sp>
      <p:sp>
        <p:nvSpPr>
          <p:cNvPr id="885" name="" descr="{&quot;isTemplate&quot;:true,&quot;type&quot;:&quot;text&quot;}"/>
          <p:cNvSpPr txBox="1"/>
          <p:nvPr/>
        </p:nvSpPr>
        <p:spPr>
          <a:xfrm rot="0" flipH="0" flipV="0">
            <a:off x="8896350" y="2828925"/>
            <a:ext cx="9525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886" name="" descr="{&quot;isTemplate&quot;:true,&quot;type&quot;:&quot;text&quot;}"/>
          <p:cNvSpPr txBox="1"/>
          <p:nvPr/>
        </p:nvSpPr>
        <p:spPr>
          <a:xfrm rot="0" flipH="0" flipV="0">
            <a:off x="9067800" y="2828925"/>
            <a:ext cx="2381250" cy="171450"/>
          </a:xfrm>
          <a:prstGeom prst="rect"/>
        </p:spPr>
        <p:txBody>
          <a:bodyPr wrap="none" lIns="0" tIns="0" rIns="0" bIns="0"/>
          <a:p>
            <a:pPr>
              <a:lnSpc>
                <a:spcPct val="135000"/>
              </a:lnSpc>
            </a:pPr>
            <a:r>
              <a:rPr lang="zh-CN" sz="825">
                <a:solidFill>
                  <a:srgbClr val="FFFFFF">
                    <a:alpha val="88000"/>
                  </a:srgbClr>
                </a:solidFill>
                <a:latin typeface="Microsoft YaHei"/>
                <a:ea typeface="Microsoft YaHei"/>
              </a:rPr>
              <a:t>粒度过粗拆不动，过细没人用</a:t>
            </a:r>
            <a:endParaRPr/>
          </a:p>
        </p:txBody>
      </p:sp>
      <p:sp>
        <p:nvSpPr>
          <p:cNvPr id="887" name="" descr="{&quot;isTemplate&quot;:true,&quot;type&quot;:&quot;text&quot;}"/>
          <p:cNvSpPr txBox="1"/>
          <p:nvPr/>
        </p:nvSpPr>
        <p:spPr>
          <a:xfrm rot="0" flipH="0" flipV="0">
            <a:off x="8896350" y="3105150"/>
            <a:ext cx="2552700" cy="333375"/>
          </a:xfrm>
          <a:prstGeom prst="rect"/>
        </p:spPr>
        <p:txBody>
          <a:bodyPr wrap="square" lIns="0" tIns="0" rIns="0" bIns="0">
            <a:normAutofit/>
          </a:bodyPr>
          <a:p>
            <a:pPr>
              <a:lnSpc>
                <a:spcPct val="135000"/>
              </a:lnSpc>
            </a:pPr>
            <a:r>
              <a:rPr lang="zh-CN" sz="788">
                <a:solidFill>
                  <a:srgbClr val="FBA15C"/>
                </a:solidFill>
                <a:latin typeface="Microsoft YaHei"/>
                <a:ea typeface="Microsoft YaHei"/>
              </a:rPr>
              <a:t>五条全满足才算一条</a:t>
            </a:r>
            <a:r>
              <a:rPr lang="en-US" sz="788">
                <a:solidFill>
                  <a:srgbClr val="FBA15C"/>
                </a:solidFill>
                <a:latin typeface="Microsoft YaHei"/>
                <a:ea typeface="Microsoft YaHei"/>
              </a:rPr>
              <a:t xml:space="preserve"> L4</a:t>
            </a:r>
            <a:r>
              <a:rPr lang="zh-CN" sz="788">
                <a:solidFill>
                  <a:srgbClr val="FBA15C"/>
                </a:solidFill>
                <a:latin typeface="Microsoft YaHei"/>
                <a:ea typeface="Microsoft YaHei"/>
              </a:rPr>
              <a:t>。少一条就合并，凑不齐就拆开——不允许「先这么写着」。</a:t>
            </a:r>
            <a:endParaRPr/>
          </a:p>
        </p:txBody>
      </p:sp>
      <p:sp>
        <p:nvSpPr>
          <p:cNvPr id="888" name=""/>
          <p:cNvSpPr/>
          <p:nvPr/>
        </p:nvSpPr>
        <p:spPr>
          <a:xfrm rot="0" flipH="0" flipV="0">
            <a:off x="609600" y="3629025"/>
            <a:ext cx="6667500" cy="2028825"/>
          </a:xfrm>
          <a:prstGeom prst="roundRect">
            <a:avLst>
              <a:gd name="adj" fmla="val 1878"/>
            </a:avLst>
          </a:prstGeom>
          <a:solidFill>
            <a:srgbClr val="F7F7F8"/>
          </a:solidFill>
          <a:ln/>
        </p:spPr>
        <p:txBody>
          <a:bodyPr/>
          <a:p/>
        </p:txBody>
      </p:sp>
      <p:sp>
        <p:nvSpPr>
          <p:cNvPr id="889" name="" descr="{&quot;isTemplate&quot;:true,&quot;type&quot;:&quot;text&quot;}"/>
          <p:cNvSpPr txBox="1"/>
          <p:nvPr/>
        </p:nvSpPr>
        <p:spPr>
          <a:xfrm rot="0" flipH="0" flipV="0">
            <a:off x="752475" y="3733800"/>
            <a:ext cx="6381750" cy="142875"/>
          </a:xfrm>
          <a:prstGeom prst="rect"/>
        </p:spPr>
        <p:txBody>
          <a:bodyPr wrap="none" lIns="0" tIns="0" rIns="0" bIns="0"/>
          <a:p>
            <a:pPr>
              <a:lnSpc>
                <a:spcPct val="100000"/>
              </a:lnSpc>
            </a:pPr>
            <a:r>
              <a:rPr lang="en-US" sz="938" b="1">
                <a:solidFill>
                  <a:srgbClr val="0F1423"/>
                </a:solidFill>
                <a:latin typeface="Microsoft YaHei"/>
                <a:ea typeface="Microsoft YaHei"/>
              </a:rPr>
              <a:t xml:space="preserve">② </a:t>
            </a:r>
            <a:r>
              <a:rPr lang="zh-CN" sz="938" b="1">
                <a:solidFill>
                  <a:srgbClr val="0F1423"/>
                </a:solidFill>
                <a:latin typeface="Microsoft YaHei"/>
                <a:ea typeface="Microsoft YaHei"/>
              </a:rPr>
              <a:t>核心业务循环与接口关系（能源示例：资产运营循环）</a:t>
            </a:r>
            <a:endParaRPr/>
          </a:p>
        </p:txBody>
      </p:sp>
      <p:sp>
        <p:nvSpPr>
          <p:cNvPr id="890" name=""/>
          <p:cNvSpPr/>
          <p:nvPr/>
        </p:nvSpPr>
        <p:spPr>
          <a:xfrm rot="0" flipH="0" flipV="0">
            <a:off x="752475" y="4391025"/>
            <a:ext cx="1028700" cy="495300"/>
          </a:xfrm>
          <a:prstGeom prst="roundRect">
            <a:avLst>
              <a:gd name="adj" fmla="val 5769"/>
            </a:avLst>
          </a:prstGeom>
          <a:solidFill>
            <a:srgbClr val="FFFFFF"/>
          </a:solidFill>
          <a:ln w="12700">
            <a:solidFill>
              <a:srgbClr val="E8E8E8"/>
            </a:solidFill>
            <a:prstDash val="solid"/>
          </a:ln>
        </p:spPr>
        <p:txBody>
          <a:bodyPr/>
          <a:p/>
        </p:txBody>
      </p:sp>
      <p:sp>
        <p:nvSpPr>
          <p:cNvPr id="891" name="" descr="{&quot;isTemplate&quot;:true,&quot;type&quot;:&quot;text&quot;}"/>
          <p:cNvSpPr txBox="1"/>
          <p:nvPr/>
        </p:nvSpPr>
        <p:spPr>
          <a:xfrm rot="0" flipH="0" flipV="0">
            <a:off x="819150" y="4476750"/>
            <a:ext cx="895350" cy="161925"/>
          </a:xfrm>
          <a:prstGeom prst="rect"/>
        </p:spPr>
        <p:txBody>
          <a:bodyPr wrap="none" lIns="0" tIns="0" rIns="0" bIns="0"/>
          <a:p>
            <a:pPr>
              <a:lnSpc>
                <a:spcPct val="125000"/>
              </a:lnSpc>
            </a:pPr>
            <a:r>
              <a:rPr lang="zh-CN" sz="825" b="1">
                <a:solidFill>
                  <a:srgbClr val="0F1423"/>
                </a:solidFill>
                <a:latin typeface="Microsoft YaHei"/>
                <a:ea typeface="Microsoft YaHei"/>
              </a:rPr>
              <a:t>监视与采集</a:t>
            </a:r>
            <a:endParaRPr/>
          </a:p>
        </p:txBody>
      </p:sp>
      <p:sp>
        <p:nvSpPr>
          <p:cNvPr id="892" name="" descr="{&quot;isTemplate&quot;:true,&quot;type&quot;:&quot;text&quot;}"/>
          <p:cNvSpPr txBox="1"/>
          <p:nvPr/>
        </p:nvSpPr>
        <p:spPr>
          <a:xfrm rot="0" flipH="0" flipV="0">
            <a:off x="819150" y="4667250"/>
            <a:ext cx="895350" cy="133350"/>
          </a:xfrm>
          <a:prstGeom prst="rect"/>
        </p:spPr>
        <p:txBody>
          <a:bodyPr wrap="none" lIns="0" tIns="0" rIns="0" bIns="0"/>
          <a:p>
            <a:pPr>
              <a:lnSpc>
                <a:spcPct val="125000"/>
              </a:lnSpc>
            </a:pPr>
            <a:r>
              <a:rPr lang="zh-CN" sz="675">
                <a:solidFill>
                  <a:srgbClr val="8A8F99"/>
                </a:solidFill>
                <a:latin typeface="Microsoft YaHei"/>
                <a:ea typeface="Microsoft YaHei"/>
              </a:rPr>
              <a:t>运行数据</a:t>
            </a:r>
            <a:r>
              <a:rPr lang="en-US" sz="675">
                <a:solidFill>
                  <a:srgbClr val="8A8F99"/>
                </a:solidFill>
                <a:latin typeface="Microsoft YaHei"/>
                <a:ea typeface="Microsoft YaHei"/>
              </a:rPr>
              <a:t>/</a:t>
            </a:r>
            <a:r>
              <a:rPr lang="zh-CN" sz="675">
                <a:solidFill>
                  <a:srgbClr val="8A8F99"/>
                </a:solidFill>
                <a:latin typeface="Microsoft YaHei"/>
                <a:ea typeface="Microsoft YaHei"/>
              </a:rPr>
              <a:t>台账</a:t>
            </a:r>
            <a:endParaRPr/>
          </a:p>
        </p:txBody>
      </p:sp>
      <p:sp>
        <p:nvSpPr>
          <p:cNvPr id="893" name=""/>
          <p:cNvSpPr/>
          <p:nvPr/>
        </p:nvSpPr>
        <p:spPr>
          <a:xfrm rot="0" flipH="0" flipV="0">
            <a:off x="1819275" y="4391025"/>
            <a:ext cx="1038225" cy="495300"/>
          </a:xfrm>
          <a:prstGeom prst="roundRect">
            <a:avLst>
              <a:gd name="adj" fmla="val 5769"/>
            </a:avLst>
          </a:prstGeom>
          <a:solidFill>
            <a:srgbClr val="FFFFFF"/>
          </a:solidFill>
          <a:ln w="12700">
            <a:solidFill>
              <a:srgbClr val="E8E8E8"/>
            </a:solidFill>
            <a:prstDash val="solid"/>
          </a:ln>
        </p:spPr>
        <p:txBody>
          <a:bodyPr/>
          <a:p/>
        </p:txBody>
      </p:sp>
      <p:sp>
        <p:nvSpPr>
          <p:cNvPr id="894" name="" descr="{&quot;isTemplate&quot;:true,&quot;type&quot;:&quot;text&quot;}"/>
          <p:cNvSpPr txBox="1"/>
          <p:nvPr/>
        </p:nvSpPr>
        <p:spPr>
          <a:xfrm rot="0" flipH="0" flipV="0">
            <a:off x="1885950" y="4476750"/>
            <a:ext cx="904875" cy="161925"/>
          </a:xfrm>
          <a:prstGeom prst="rect"/>
        </p:spPr>
        <p:txBody>
          <a:bodyPr wrap="none" lIns="0" tIns="0" rIns="0" bIns="0"/>
          <a:p>
            <a:pPr>
              <a:lnSpc>
                <a:spcPct val="125000"/>
              </a:lnSpc>
            </a:pPr>
            <a:r>
              <a:rPr lang="zh-CN" sz="825" b="1">
                <a:solidFill>
                  <a:srgbClr val="0F1423"/>
                </a:solidFill>
                <a:latin typeface="Microsoft YaHei"/>
                <a:ea typeface="Microsoft YaHei"/>
              </a:rPr>
              <a:t>缺陷识别</a:t>
            </a:r>
            <a:endParaRPr/>
          </a:p>
        </p:txBody>
      </p:sp>
      <p:sp>
        <p:nvSpPr>
          <p:cNvPr id="895" name="" descr="{&quot;isTemplate&quot;:true,&quot;type&quot;:&quot;text&quot;}"/>
          <p:cNvSpPr txBox="1"/>
          <p:nvPr/>
        </p:nvSpPr>
        <p:spPr>
          <a:xfrm rot="0" flipH="0" flipV="0">
            <a:off x="1885950" y="4667250"/>
            <a:ext cx="904875" cy="133350"/>
          </a:xfrm>
          <a:prstGeom prst="rect"/>
        </p:spPr>
        <p:txBody>
          <a:bodyPr wrap="none" lIns="0" tIns="0" rIns="0" bIns="0"/>
          <a:p>
            <a:pPr>
              <a:lnSpc>
                <a:spcPct val="125000"/>
              </a:lnSpc>
            </a:pPr>
            <a:r>
              <a:rPr lang="zh-CN" sz="675">
                <a:solidFill>
                  <a:srgbClr val="8A8F99"/>
                </a:solidFill>
                <a:latin typeface="Microsoft YaHei"/>
                <a:ea typeface="Microsoft YaHei"/>
              </a:rPr>
              <a:t>告警</a:t>
            </a:r>
            <a:r>
              <a:rPr lang="en-US" sz="675">
                <a:solidFill>
                  <a:srgbClr val="8A8F99"/>
                </a:solidFill>
                <a:latin typeface="Microsoft YaHei"/>
                <a:ea typeface="Microsoft YaHei"/>
              </a:rPr>
              <a:t>/</a:t>
            </a:r>
            <a:r>
              <a:rPr lang="zh-CN" sz="675">
                <a:solidFill>
                  <a:srgbClr val="8A8F99"/>
                </a:solidFill>
                <a:latin typeface="Microsoft YaHei"/>
                <a:ea typeface="Microsoft YaHei"/>
              </a:rPr>
              <a:t>巡检</a:t>
            </a:r>
            <a:endParaRPr/>
          </a:p>
        </p:txBody>
      </p:sp>
      <p:sp>
        <p:nvSpPr>
          <p:cNvPr id="896" name=""/>
          <p:cNvSpPr/>
          <p:nvPr/>
        </p:nvSpPr>
        <p:spPr>
          <a:xfrm rot="0" flipH="0" flipV="0">
            <a:off x="2895600" y="4391025"/>
            <a:ext cx="1028700" cy="495300"/>
          </a:xfrm>
          <a:prstGeom prst="roundRect">
            <a:avLst>
              <a:gd name="adj" fmla="val 5769"/>
            </a:avLst>
          </a:prstGeom>
          <a:solidFill>
            <a:srgbClr val="FFFFFF"/>
          </a:solidFill>
          <a:ln w="12700">
            <a:solidFill>
              <a:srgbClr val="E8E8E8"/>
            </a:solidFill>
            <a:prstDash val="solid"/>
          </a:ln>
        </p:spPr>
        <p:txBody>
          <a:bodyPr/>
          <a:p/>
        </p:txBody>
      </p:sp>
      <p:sp>
        <p:nvSpPr>
          <p:cNvPr id="897" name="" descr="{&quot;isTemplate&quot;:true,&quot;type&quot;:&quot;text&quot;}"/>
          <p:cNvSpPr txBox="1"/>
          <p:nvPr/>
        </p:nvSpPr>
        <p:spPr>
          <a:xfrm rot="0" flipH="0" flipV="0">
            <a:off x="2962275" y="4476750"/>
            <a:ext cx="895350" cy="161925"/>
          </a:xfrm>
          <a:prstGeom prst="rect"/>
        </p:spPr>
        <p:txBody>
          <a:bodyPr wrap="none" lIns="0" tIns="0" rIns="0" bIns="0"/>
          <a:p>
            <a:pPr>
              <a:lnSpc>
                <a:spcPct val="125000"/>
              </a:lnSpc>
            </a:pPr>
            <a:r>
              <a:rPr lang="zh-CN" sz="825" b="1">
                <a:solidFill>
                  <a:srgbClr val="0F1423"/>
                </a:solidFill>
                <a:latin typeface="Microsoft YaHei"/>
                <a:ea typeface="Microsoft YaHei"/>
              </a:rPr>
              <a:t>工单派发</a:t>
            </a:r>
            <a:endParaRPr/>
          </a:p>
        </p:txBody>
      </p:sp>
      <p:sp>
        <p:nvSpPr>
          <p:cNvPr id="898" name="" descr="{&quot;isTemplate&quot;:true,&quot;type&quot;:&quot;text&quot;}"/>
          <p:cNvSpPr txBox="1"/>
          <p:nvPr/>
        </p:nvSpPr>
        <p:spPr>
          <a:xfrm rot="0" flipH="0" flipV="0">
            <a:off x="2962275" y="4667250"/>
            <a:ext cx="895350" cy="133350"/>
          </a:xfrm>
          <a:prstGeom prst="rect"/>
        </p:spPr>
        <p:txBody>
          <a:bodyPr wrap="none" lIns="0" tIns="0" rIns="0" bIns="0"/>
          <a:p>
            <a:pPr>
              <a:lnSpc>
                <a:spcPct val="125000"/>
              </a:lnSpc>
            </a:pPr>
            <a:r>
              <a:rPr lang="zh-CN" sz="675">
                <a:solidFill>
                  <a:srgbClr val="8A8F99"/>
                </a:solidFill>
                <a:latin typeface="Microsoft YaHei"/>
                <a:ea typeface="Microsoft YaHei"/>
              </a:rPr>
              <a:t>缺陷记录</a:t>
            </a:r>
            <a:endParaRPr/>
          </a:p>
        </p:txBody>
      </p:sp>
      <p:sp>
        <p:nvSpPr>
          <p:cNvPr id="899" name=""/>
          <p:cNvSpPr/>
          <p:nvPr/>
        </p:nvSpPr>
        <p:spPr>
          <a:xfrm rot="0" flipH="0" flipV="0">
            <a:off x="3962400" y="4391025"/>
            <a:ext cx="1028700" cy="495300"/>
          </a:xfrm>
          <a:prstGeom prst="roundRect">
            <a:avLst>
              <a:gd name="adj" fmla="val 5769"/>
            </a:avLst>
          </a:prstGeom>
          <a:solidFill>
            <a:srgbClr val="FFFFFF"/>
          </a:solidFill>
          <a:ln w="12700">
            <a:solidFill>
              <a:srgbClr val="E8E8E8"/>
            </a:solidFill>
            <a:prstDash val="solid"/>
          </a:ln>
        </p:spPr>
        <p:txBody>
          <a:bodyPr/>
          <a:p/>
        </p:txBody>
      </p:sp>
      <p:sp>
        <p:nvSpPr>
          <p:cNvPr id="900" name="" descr="{&quot;isTemplate&quot;:true,&quot;type&quot;:&quot;text&quot;}"/>
          <p:cNvSpPr txBox="1"/>
          <p:nvPr/>
        </p:nvSpPr>
        <p:spPr>
          <a:xfrm rot="0" flipH="0" flipV="0">
            <a:off x="4029075" y="4476750"/>
            <a:ext cx="895350" cy="161925"/>
          </a:xfrm>
          <a:prstGeom prst="rect"/>
        </p:spPr>
        <p:txBody>
          <a:bodyPr wrap="none" lIns="0" tIns="0" rIns="0" bIns="0"/>
          <a:p>
            <a:pPr>
              <a:lnSpc>
                <a:spcPct val="125000"/>
              </a:lnSpc>
            </a:pPr>
            <a:r>
              <a:rPr lang="zh-CN" sz="825" b="1">
                <a:solidFill>
                  <a:srgbClr val="0F1423"/>
                </a:solidFill>
                <a:latin typeface="Microsoft YaHei"/>
                <a:ea typeface="Microsoft YaHei"/>
              </a:rPr>
              <a:t>检修执行</a:t>
            </a:r>
            <a:endParaRPr/>
          </a:p>
        </p:txBody>
      </p:sp>
      <p:sp>
        <p:nvSpPr>
          <p:cNvPr id="901" name="" descr="{&quot;isTemplate&quot;:true,&quot;type&quot;:&quot;text&quot;}"/>
          <p:cNvSpPr txBox="1"/>
          <p:nvPr/>
        </p:nvSpPr>
        <p:spPr>
          <a:xfrm rot="0" flipH="0" flipV="0">
            <a:off x="4029075" y="4667250"/>
            <a:ext cx="895350" cy="133350"/>
          </a:xfrm>
          <a:prstGeom prst="rect"/>
        </p:spPr>
        <p:txBody>
          <a:bodyPr wrap="none" lIns="0" tIns="0" rIns="0" bIns="0"/>
          <a:p>
            <a:pPr>
              <a:lnSpc>
                <a:spcPct val="125000"/>
              </a:lnSpc>
            </a:pPr>
            <a:r>
              <a:rPr lang="zh-CN" sz="675">
                <a:solidFill>
                  <a:srgbClr val="8A8F99"/>
                </a:solidFill>
                <a:latin typeface="Microsoft YaHei"/>
                <a:ea typeface="Microsoft YaHei"/>
              </a:rPr>
              <a:t>工单</a:t>
            </a:r>
            <a:r>
              <a:rPr lang="en-US" sz="675">
                <a:solidFill>
                  <a:srgbClr val="8A8F99"/>
                </a:solidFill>
                <a:latin typeface="Microsoft YaHei"/>
                <a:ea typeface="Microsoft YaHei"/>
              </a:rPr>
              <a:t>/</a:t>
            </a:r>
            <a:r>
              <a:rPr lang="zh-CN" sz="675">
                <a:solidFill>
                  <a:srgbClr val="8A8F99"/>
                </a:solidFill>
                <a:latin typeface="Microsoft YaHei"/>
                <a:ea typeface="Microsoft YaHei"/>
              </a:rPr>
              <a:t>领料</a:t>
            </a:r>
            <a:endParaRPr/>
          </a:p>
        </p:txBody>
      </p:sp>
      <p:sp>
        <p:nvSpPr>
          <p:cNvPr id="902" name=""/>
          <p:cNvSpPr/>
          <p:nvPr/>
        </p:nvSpPr>
        <p:spPr>
          <a:xfrm rot="0" flipH="0" flipV="0">
            <a:off x="5029200" y="4391025"/>
            <a:ext cx="1038225" cy="495300"/>
          </a:xfrm>
          <a:prstGeom prst="roundRect">
            <a:avLst>
              <a:gd name="adj" fmla="val 5769"/>
            </a:avLst>
          </a:prstGeom>
          <a:solidFill>
            <a:srgbClr val="FFFFFF"/>
          </a:solidFill>
          <a:ln w="12700">
            <a:solidFill>
              <a:srgbClr val="E8E8E8"/>
            </a:solidFill>
            <a:prstDash val="solid"/>
          </a:ln>
        </p:spPr>
        <p:txBody>
          <a:bodyPr/>
          <a:p/>
        </p:txBody>
      </p:sp>
      <p:sp>
        <p:nvSpPr>
          <p:cNvPr id="903" name="" descr="{&quot;isTemplate&quot;:true,&quot;type&quot;:&quot;text&quot;}"/>
          <p:cNvSpPr txBox="1"/>
          <p:nvPr/>
        </p:nvSpPr>
        <p:spPr>
          <a:xfrm rot="0" flipH="0" flipV="0">
            <a:off x="5095875" y="4476750"/>
            <a:ext cx="904875" cy="161925"/>
          </a:xfrm>
          <a:prstGeom prst="rect"/>
        </p:spPr>
        <p:txBody>
          <a:bodyPr wrap="none" lIns="0" tIns="0" rIns="0" bIns="0"/>
          <a:p>
            <a:pPr>
              <a:lnSpc>
                <a:spcPct val="125000"/>
              </a:lnSpc>
            </a:pPr>
            <a:r>
              <a:rPr lang="zh-CN" sz="825" b="1">
                <a:solidFill>
                  <a:srgbClr val="0F1423"/>
                </a:solidFill>
                <a:latin typeface="Microsoft YaHei"/>
                <a:ea typeface="Microsoft YaHei"/>
              </a:rPr>
              <a:t>验收闭环</a:t>
            </a:r>
            <a:endParaRPr/>
          </a:p>
        </p:txBody>
      </p:sp>
      <p:sp>
        <p:nvSpPr>
          <p:cNvPr id="904" name="" descr="{&quot;isTemplate&quot;:true,&quot;type&quot;:&quot;text&quot;}"/>
          <p:cNvSpPr txBox="1"/>
          <p:nvPr/>
        </p:nvSpPr>
        <p:spPr>
          <a:xfrm rot="0" flipH="0" flipV="0">
            <a:off x="5095875" y="4667250"/>
            <a:ext cx="904875" cy="133350"/>
          </a:xfrm>
          <a:prstGeom prst="rect"/>
        </p:spPr>
        <p:txBody>
          <a:bodyPr wrap="none" lIns="0" tIns="0" rIns="0" bIns="0"/>
          <a:p>
            <a:pPr>
              <a:lnSpc>
                <a:spcPct val="125000"/>
              </a:lnSpc>
            </a:pPr>
            <a:r>
              <a:rPr lang="zh-CN" sz="675">
                <a:solidFill>
                  <a:srgbClr val="8A8F99"/>
                </a:solidFill>
                <a:latin typeface="Microsoft YaHei"/>
                <a:ea typeface="Microsoft YaHei"/>
              </a:rPr>
              <a:t>完工</a:t>
            </a:r>
            <a:r>
              <a:rPr lang="en-US" sz="675">
                <a:solidFill>
                  <a:srgbClr val="8A8F99"/>
                </a:solidFill>
                <a:latin typeface="Microsoft YaHei"/>
                <a:ea typeface="Microsoft YaHei"/>
              </a:rPr>
              <a:t>/</a:t>
            </a:r>
            <a:r>
              <a:rPr lang="zh-CN" sz="675">
                <a:solidFill>
                  <a:srgbClr val="8A8F99"/>
                </a:solidFill>
                <a:latin typeface="Microsoft YaHei"/>
                <a:ea typeface="Microsoft YaHei"/>
              </a:rPr>
              <a:t>结算</a:t>
            </a:r>
            <a:endParaRPr/>
          </a:p>
        </p:txBody>
      </p:sp>
      <p:sp>
        <p:nvSpPr>
          <p:cNvPr id="905" name=""/>
          <p:cNvSpPr/>
          <p:nvPr/>
        </p:nvSpPr>
        <p:spPr>
          <a:xfrm rot="0" flipH="0" flipV="0">
            <a:off x="6105525" y="4391025"/>
            <a:ext cx="1028700" cy="495300"/>
          </a:xfrm>
          <a:prstGeom prst="roundRect">
            <a:avLst>
              <a:gd name="adj" fmla="val 5769"/>
            </a:avLst>
          </a:prstGeom>
          <a:solidFill>
            <a:srgbClr val="FFFFFF"/>
          </a:solidFill>
          <a:ln w="12700">
            <a:solidFill>
              <a:srgbClr val="E8E8E8"/>
            </a:solidFill>
            <a:prstDash val="solid"/>
          </a:ln>
        </p:spPr>
        <p:txBody>
          <a:bodyPr/>
          <a:p/>
        </p:txBody>
      </p:sp>
      <p:sp>
        <p:nvSpPr>
          <p:cNvPr id="906" name="" descr="{&quot;isTemplate&quot;:true,&quot;type&quot;:&quot;text&quot;}"/>
          <p:cNvSpPr txBox="1"/>
          <p:nvPr/>
        </p:nvSpPr>
        <p:spPr>
          <a:xfrm rot="0" flipH="0" flipV="0">
            <a:off x="6172200" y="4476750"/>
            <a:ext cx="895350" cy="161925"/>
          </a:xfrm>
          <a:prstGeom prst="rect"/>
        </p:spPr>
        <p:txBody>
          <a:bodyPr wrap="none" lIns="0" tIns="0" rIns="0" bIns="0"/>
          <a:p>
            <a:pPr>
              <a:lnSpc>
                <a:spcPct val="125000"/>
              </a:lnSpc>
            </a:pPr>
            <a:r>
              <a:rPr lang="zh-CN" sz="825" b="1">
                <a:solidFill>
                  <a:srgbClr val="0F1423"/>
                </a:solidFill>
                <a:latin typeface="Microsoft YaHei"/>
                <a:ea typeface="Microsoft YaHei"/>
              </a:rPr>
              <a:t>资产更新</a:t>
            </a:r>
            <a:endParaRPr/>
          </a:p>
        </p:txBody>
      </p:sp>
      <p:sp>
        <p:nvSpPr>
          <p:cNvPr id="907" name="" descr="{&quot;isTemplate&quot;:true,&quot;type&quot;:&quot;text&quot;}"/>
          <p:cNvSpPr txBox="1"/>
          <p:nvPr/>
        </p:nvSpPr>
        <p:spPr>
          <a:xfrm rot="0" flipH="0" flipV="0">
            <a:off x="6172200" y="4667250"/>
            <a:ext cx="895350" cy="133350"/>
          </a:xfrm>
          <a:prstGeom prst="rect"/>
        </p:spPr>
        <p:txBody>
          <a:bodyPr wrap="none" lIns="0" tIns="0" rIns="0" bIns="0"/>
          <a:p>
            <a:pPr>
              <a:lnSpc>
                <a:spcPct val="125000"/>
              </a:lnSpc>
            </a:pPr>
            <a:r>
              <a:rPr lang="zh-CN" sz="675">
                <a:solidFill>
                  <a:srgbClr val="8A8F99"/>
                </a:solidFill>
                <a:latin typeface="Microsoft YaHei"/>
                <a:ea typeface="Microsoft YaHei"/>
              </a:rPr>
              <a:t>台账变更</a:t>
            </a:r>
            <a:endParaRPr/>
          </a:p>
        </p:txBody>
      </p:sp>
      <p:sp>
        <p:nvSpPr>
          <p:cNvPr id="908" name="" descr="{&quot;isTemplate&quot;:true,&quot;type&quot;:&quot;text&quot;}"/>
          <p:cNvSpPr txBox="1"/>
          <p:nvPr/>
        </p:nvSpPr>
        <p:spPr>
          <a:xfrm rot="0" flipH="0" flipV="0">
            <a:off x="752475" y="5381625"/>
            <a:ext cx="6381750" cy="171450"/>
          </a:xfrm>
          <a:prstGeom prst="rect"/>
        </p:spPr>
        <p:txBody>
          <a:bodyPr wrap="none" lIns="0" tIns="0" rIns="0" bIns="0"/>
          <a:p>
            <a:pPr>
              <a:lnSpc>
                <a:spcPct val="140000"/>
              </a:lnSpc>
            </a:pPr>
            <a:r>
              <a:rPr lang="zh-CN" sz="788">
                <a:solidFill>
                  <a:srgbClr val="5A6070"/>
                </a:solidFill>
                <a:latin typeface="Microsoft YaHei"/>
                <a:ea typeface="Microsoft YaHei"/>
              </a:rPr>
              <a:t>每一环之间的接口，必须标注传递的数据对象与传递方式（接口</a:t>
            </a:r>
            <a:r>
              <a:rPr lang="en-US" sz="788">
                <a:solidFill>
                  <a:srgbClr val="5A6070"/>
                </a:solidFill>
                <a:latin typeface="Microsoft YaHei"/>
                <a:ea typeface="Microsoft YaHei"/>
              </a:rPr>
              <a:t>/</a:t>
            </a:r>
            <a:r>
              <a:rPr lang="zh-CN" sz="788">
                <a:solidFill>
                  <a:srgbClr val="5A6070"/>
                </a:solidFill>
                <a:latin typeface="Microsoft YaHei"/>
                <a:ea typeface="Microsoft YaHei"/>
              </a:rPr>
              <a:t>文件</a:t>
            </a:r>
            <a:r>
              <a:rPr lang="en-US" sz="788">
                <a:solidFill>
                  <a:srgbClr val="5A6070"/>
                </a:solidFill>
                <a:latin typeface="Microsoft YaHei"/>
                <a:ea typeface="Microsoft YaHei"/>
              </a:rPr>
              <a:t>/</a:t>
            </a:r>
            <a:r>
              <a:rPr lang="zh-CN" sz="788">
                <a:solidFill>
                  <a:srgbClr val="5A6070"/>
                </a:solidFill>
                <a:latin typeface="Microsoft YaHei"/>
                <a:ea typeface="Microsoft YaHei"/>
              </a:rPr>
              <a:t>人工）。凡标注「人工」的，一律进弱集成债清单。</a:t>
            </a:r>
            <a:endParaRPr/>
          </a:p>
        </p:txBody>
      </p:sp>
      <p:sp>
        <p:nvSpPr>
          <p:cNvPr id="909" name=""/>
          <p:cNvSpPr/>
          <p:nvPr/>
        </p:nvSpPr>
        <p:spPr>
          <a:xfrm rot="0" flipH="0" flipV="0">
            <a:off x="7391400" y="3629025"/>
            <a:ext cx="4229100" cy="2028825"/>
          </a:xfrm>
          <a:prstGeom prst="roundRect">
            <a:avLst>
              <a:gd name="adj" fmla="val 1878"/>
            </a:avLst>
          </a:prstGeom>
          <a:solidFill>
            <a:srgbClr val="FFF3EE"/>
          </a:solidFill>
          <a:ln/>
        </p:spPr>
        <p:txBody>
          <a:bodyPr/>
          <a:p/>
        </p:txBody>
      </p:sp>
      <p:sp>
        <p:nvSpPr>
          <p:cNvPr id="910" name=""/>
          <p:cNvSpPr/>
          <p:nvPr/>
        </p:nvSpPr>
        <p:spPr>
          <a:xfrm rot="0" flipH="0" flipV="0">
            <a:off x="7391400" y="3629025"/>
            <a:ext cx="4229100" cy="2028825"/>
          </a:xfrm>
          <a:custGeom>
            <a:pathLst>
              <a:path w="444" h="213">
                <a:moveTo>
                  <a:pt x="4" y="213"/>
                </a:moveTo>
                <a:cubicBezTo>
                  <a:pt x="2" y="213"/>
                  <a:pt x="0" y="211"/>
                  <a:pt x="0" y="209"/>
                </a:cubicBezTo>
                <a:lnTo>
                  <a:pt x="0" y="4"/>
                </a:lnTo>
                <a:cubicBezTo>
                  <a:pt x="0" y="2"/>
                  <a:pt x="2" y="0"/>
                  <a:pt x="4" y="0"/>
                </a:cubicBezTo>
                <a:lnTo>
                  <a:pt x="4" y="213"/>
                </a:lnTo>
                <a:close/>
              </a:path>
            </a:pathLst>
          </a:custGeom>
          <a:solidFill>
            <a:srgbClr val="FA4F24"/>
          </a:solidFill>
          <a:ln/>
        </p:spPr>
        <p:txBody>
          <a:bodyPr/>
          <a:p/>
        </p:txBody>
      </p:sp>
      <p:sp>
        <p:nvSpPr>
          <p:cNvPr id="911" name="" descr="{&quot;isTemplate&quot;:true,&quot;type&quot;:&quot;text&quot;}"/>
          <p:cNvSpPr txBox="1"/>
          <p:nvPr/>
        </p:nvSpPr>
        <p:spPr>
          <a:xfrm rot="0" flipH="0" flipV="0">
            <a:off x="7534275" y="4257675"/>
            <a:ext cx="3905250" cy="142875"/>
          </a:xfrm>
          <a:prstGeom prst="rect"/>
        </p:spPr>
        <p:txBody>
          <a:bodyPr wrap="none" lIns="0" tIns="0" rIns="0" bIns="0"/>
          <a:p>
            <a:pPr>
              <a:lnSpc>
                <a:spcPct val="100000"/>
              </a:lnSpc>
            </a:pPr>
            <a:r>
              <a:rPr lang="en-US" sz="938" b="1">
                <a:solidFill>
                  <a:srgbClr val="C43A17"/>
                </a:solidFill>
                <a:latin typeface="Microsoft YaHei"/>
                <a:ea typeface="Microsoft YaHei"/>
              </a:rPr>
              <a:t xml:space="preserve">③ </a:t>
            </a:r>
            <a:r>
              <a:rPr lang="zh-CN" sz="938" b="1">
                <a:solidFill>
                  <a:srgbClr val="C43A17"/>
                </a:solidFill>
                <a:latin typeface="Microsoft YaHei"/>
                <a:ea typeface="Microsoft YaHei"/>
              </a:rPr>
              <a:t>组织与职责适配建议</a:t>
            </a:r>
            <a:endParaRPr/>
          </a:p>
        </p:txBody>
      </p:sp>
      <p:sp>
        <p:nvSpPr>
          <p:cNvPr id="912" name="" descr="{&quot;isTemplate&quot;:true,&quot;type&quot;:&quot;text&quot;}"/>
          <p:cNvSpPr txBox="1"/>
          <p:nvPr/>
        </p:nvSpPr>
        <p:spPr>
          <a:xfrm rot="0" flipH="0" flipV="0">
            <a:off x="7534275" y="4457700"/>
            <a:ext cx="3905250" cy="352425"/>
          </a:xfrm>
          <a:prstGeom prst="rect"/>
        </p:spPr>
        <p:txBody>
          <a:bodyPr wrap="square" lIns="0" tIns="0" rIns="0" bIns="0">
            <a:normAutofit/>
          </a:bodyPr>
          <a:p>
            <a:pPr>
              <a:lnSpc>
                <a:spcPct val="145000"/>
              </a:lnSpc>
            </a:pPr>
            <a:r>
              <a:rPr lang="zh-CN" sz="788">
                <a:solidFill>
                  <a:srgbClr val="3A4050"/>
                </a:solidFill>
                <a:latin typeface="Microsoft YaHei"/>
                <a:ea typeface="Microsoft YaHei"/>
              </a:rPr>
              <a:t>蓝图改的是流程，落地靠的是权责。每个流程域给出：主责部门、协同部门、决策层级、需要新建或合并的岗位。架构适配建议单独成节，不混在流程描述里。</a:t>
            </a:r>
            <a:endParaRPr/>
          </a:p>
        </p:txBody>
      </p:sp>
      <p:sp>
        <p:nvSpPr>
          <p:cNvPr id="913" name="" descr="{&quot;isTemplate&quot;:true,&quot;type&quot;:&quot;text&quot;}"/>
          <p:cNvSpPr txBox="1"/>
          <p:nvPr/>
        </p:nvSpPr>
        <p:spPr>
          <a:xfrm rot="0" flipH="0" flipV="0">
            <a:off x="7534275" y="4867275"/>
            <a:ext cx="3905250" cy="171450"/>
          </a:xfrm>
          <a:prstGeom prst="rect"/>
        </p:spPr>
        <p:txBody>
          <a:bodyPr wrap="none" lIns="0" tIns="0" rIns="0" bIns="0"/>
          <a:p>
            <a:pPr>
              <a:lnSpc>
                <a:spcPct val="140000"/>
              </a:lnSpc>
            </a:pPr>
            <a:r>
              <a:rPr lang="zh-CN" sz="788">
                <a:solidFill>
                  <a:srgbClr val="C43A17"/>
                </a:solidFill>
                <a:latin typeface="Microsoft YaHei"/>
                <a:ea typeface="Microsoft YaHei"/>
              </a:rPr>
              <a:t>判据：流程域的每个</a:t>
            </a:r>
            <a:r>
              <a:rPr lang="en-US" sz="788">
                <a:solidFill>
                  <a:srgbClr val="C43A17"/>
                </a:solidFill>
                <a:latin typeface="Microsoft YaHei"/>
                <a:ea typeface="Microsoft YaHei"/>
              </a:rPr>
              <a:t xml:space="preserve"> L4 </a:t>
            </a:r>
            <a:r>
              <a:rPr lang="zh-CN" sz="788">
                <a:solidFill>
                  <a:srgbClr val="C43A17"/>
                </a:solidFill>
                <a:latin typeface="Microsoft YaHei"/>
                <a:ea typeface="Microsoft YaHei"/>
              </a:rPr>
              <a:t>都必须能落到唯一一个主责岗位，落不到就是权责空白。</a:t>
            </a:r>
            <a:endParaRPr/>
          </a:p>
        </p:txBody>
      </p:sp>
      <p:sp>
        <p:nvSpPr>
          <p:cNvPr id="914" name=""/>
          <p:cNvSpPr/>
          <p:nvPr/>
        </p:nvSpPr>
        <p:spPr>
          <a:xfrm rot="0" flipH="0" flipV="0">
            <a:off x="609600" y="5943600"/>
            <a:ext cx="133350" cy="133350"/>
          </a:xfrm>
          <a:prstGeom prst="rect">
            <a:avLst/>
          </a:prstGeom>
          <a:solidFill>
            <a:srgbClr val="FA4F24"/>
          </a:solidFill>
          <a:ln/>
        </p:spPr>
        <p:txBody>
          <a:bodyPr/>
          <a:p/>
        </p:txBody>
      </p:sp>
      <p:sp>
        <p:nvSpPr>
          <p:cNvPr id="915"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91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22 / 36</a:t>
            </a:r>
            <a:endParaRPr/>
          </a:p>
        </p:txBody>
      </p:sp>
    </p:spTree>
  </p:cSld>
</p:sld>
</file>

<file path=ppt/slides/slide23.xml><?xml version="1.0" encoding="utf-8"?>
<p:sld xmlns:p="http://schemas.openxmlformats.org/presentationml/2006/main" xmlns:a="http://schemas.openxmlformats.org/drawingml/2006/main">
  <p:cSld>
    <p:spTree>
      <p:nvGrpSpPr>
        <p:cNvPr id="917" name="" descr="&lt;Slide style={{ width: 1280, height: 720, background: '#FFFFFF', padding: '24px 64px 0' }}&gt;&#10;    {/* A 区 */}&#10;    &lt;Box style={{ height: 96, flexDirection: 'column', justifyContent: 'flex-start' }}&gt;&#10;        &lt;Text style={{ fontSize: 32, fontWeight: 'bold', color: '#0F1423' }}&gt;&#10;            数据蓝图：&lt;span style={{ color: '#FA4F24' }}&gt;四维度设计&lt;/span&gt;，收口到业务逻辑实体&#10;        &lt;/Text&gt;&#10;        &lt;Text style={{ fontSize: 19, color: '#8A8F99', marginTop: 7 }}&gt;&#10;            招标 3.3.2 明文要求四个维度都要讲，且颗粒度到业务逻辑实体——不到物理表，也不停在概念层&#10;        &lt;/Text&gt;&#10;    &lt;/Box&gt;&#10;    &lt;Box style={{ height: 1, background: '#E8E8E8' }} /&gt;&#10;&#10;    {/* B 区 */}&#10;    &lt;Box style={{ paddingTop: 10, paddingBottom: 6, height: 479, flexDirection: 'column', gap: 8 }}&gt;&#10;        {/* 四维度四列 */}&#10;        &lt;Box style={{ height: 214, flexDirection: 'row', gap: 7 }}&gt;&#10;            {[&#10;                {&#10;                    n: 'D1', t: '数据资产目录', c: '#FA4F24',&#10;                    sub: '目录要能回答「有什么、在哪、谁负责」',&#10;                    pts: ['按主题域 → 业务对象 → 逻辑实体 → 属性四层组织', '每个实体标注责任部门、数据owner、密级、更新频率', '能源与储能两条链的公共实体单独标出（共用不重复建）', '与指标字典关联：每个指标注明取自哪些实体'],&#10;                    out: '产出：数据资产目录（四层）',&#10;                },&#10;                {&#10;                    n: 'D2', t: '数据模型', c: '#E0641E',&#10;                    sub: '模型是对现状问题的正面回答',&#10;                    pts: ['概念模型：实体与关系，标注基数与可选性', '逻辑模型：实体属性、主键、引用关系，颗粒度到业务逻辑实体', '每个模型标注它回应哪条 PAIN 编号', '跨链一致性检查：同一实体在两条链的定义是否一致'],&#10;                    out: '产出：逻辑实体清单 + 关系模型',&#10;                },&#10;                {&#10;                    n: 'D3', t: '数据标准', c: '#D2531A',&#10;                    sub: '标准不写清，后面全是扯皮',&#10;                    pts: ['基础标准：编码规则、命名规则、值域规范', '核心标准：指标口径、主数据定义、代码标准', '每条标准标注适用业务域与生效范围', '冲突项单独列表，给裁定规则与裁定人'],&#10;                    out: '产出：数据标准集（含冲突裁定表）',&#10;                },&#10;                {&#10;                    n: 'D4', t: '数据分布', c: '#C43A17',&#10;                    sub: '回答「放在哪、怎么取、怎么同步」',&#10;                    pts: ['按应用域/系统标注实体落点，明确权威源唯一', '集成路径：来源系统 → 目标系统 → 同步方式与频率', '标注哪些是实时调用、哪些是批量、哪些仍是人工', '弱集成（人工/文件）逐条列出并给出目标态'],&#10;                    out: '产出：数据分布与集成路径图',&#10;                },&#10;            ].map((x) =&gt; (&#10;                &lt;Box key={x.n} style={{ flex: 1, background: '#F7F7F8', borderRadius: 4, borderTop: '3px solid ' + x.c, padding: '11px 12px', flexDirection: 'column' }}&gt;&#10;                    &lt;Box style={{ flexDirection: 'row', alignItems: 'center', gap: 7 }}&gt;&#10;                        &lt;Text style={{ fontSize: 14, fontWeight: 'bold', color: x.c }}&gt;{x.n}&lt;/Text&gt;&#10;                        &lt;Text style={{ fontSize: 13.5, fontWeight: 'bold', color: '#0F1423', flex: 1 }}&gt;{x.t}&lt;/Text&gt;&#10;                    &lt;/Box&gt;&#10;                    &lt;Text style={{ fontSize: 10, color: '#8A8F99', marginTop: 3, lineHeight: 1.3 }}&gt;{x.sub}&lt;/Text&gt;&#10;                    &lt;Box style={{ flex: 1, flexDirection: 'column', gap: 5, marginTop: 8 }}&gt;&#10;                        {x.pts.map((p) =&gt; (&#10;                            &lt;Box key={p} style={{ flexDirection: 'row', alignItems: 'flex-start', gap: 6, flex: 1 }}&gt;&#10;                                &lt;Text style={{ fontSize: 9.5, color: x.c, fontWeight: 'bold' }}&gt;▪&lt;/Text&gt;&#10;                                &lt;Text style={{ fontSize: 10.5, color: '#3A4050', lineHeight: 1.35, flex: 1 }}&gt;{p}&lt;/Text&gt;&#10;                            &lt;/Box&gt;&#10;                        ))}&#10;                    &lt;/Box&gt;&#10;                    &lt;Box style={{ height: 28, background: x.c, borderRadius: 3, padding: '0 10px', flexDirection: 'column', justifyContent: 'center' }}&gt;&#10;                        &lt;Text style={{ fontSize: 10.5, fontWeight: 'bold', color: '#FFFFFF' }}&gt;{x.out}&lt;/Text&gt;&#10;                    &lt;/Box&gt;&#10;                &lt;/Box&gt;&#10;            ))}&#10;        &lt;/Box&gt;&#10;&#10;        {/* 下：颗粒度界定 + 与业务拉通 */}&#10;        &lt;Box style={{ flex: 1, flexDirection: 'row', gap: 9, alignItems: 'stretch' }}&gt;&#10;            &lt;Box style={{ width: 470, background: '#0F1423', borderRadius: 4, padding: '13px 16px', flexDirection: 'column' }}&gt;&#10;                &lt;Text style={{ fontSize: 12, color: '#FBA15C', letterSpacing: 1 }}&gt;什么算「业务逻辑实体」（这一条最容易被做偏）&lt;/Text&gt;&#10;                {[&#10;                    { t: '算', d: '业务上能独立描述清楚、有唯一标识、能被流程引用的事物（电站、设备、工单、合同、供应商、物料）' },&#10;                    { t: '不算', d: '数据库表、视图、接口报文的物理实现；也不停留在「资产」「项目」这类过粗的概念词' },&#10;                    { t: '标志', d: '实体名在业务部门之间能对上话——如果运营说不清「工单」和「缺陷单」的区别，这两个就该是两个实体' },&#10;                ].map((x, i) =&gt; (&#10;                    &lt;Box key={x.t} style={{ flexDirection: 'row', alignItems: 'flex-start', gap: 9, flex: 1, marginTop: i === 0 ? 9 : 4 }}&gt;&#10;                        &lt;Box style={{ width: 34, height: 19, borderRadius: 2, background: x.t === '算' ? '#FA4F24' : x.t === '不算' ? '#5A6070' : '#FBA15C', alignItems: 'center', justifyContent: 'center', flexDirection: 'row', marginTop: 1 }}&gt;&#10;                            &lt;Text style={{ fontSize: 10, fontWeight: 'bold', color: x.t === '标志' ? '#0F1423' : '#FFFFFF' }}&gt;{x.t}&lt;/Text&gt;&#10;                        &lt;/Box&gt;&#10;                        &lt;Text style={{ fontSize: 11, color: 'rgba(255,255,255,0.88)', flex: 1, lineHeight: 1.35 }}&gt;{x.d}&lt;/Text&gt;&#10;                    &lt;/Box&gt;&#10;                ))}&#10;            &lt;/Box&gt;&#10;            &lt;Box style={{ flex: 1, background: '#FFF3EE', borderRadius: 4, borderLeft: '4px solid #FA4F24', padding: '13px 16px', flexDirection: 'column', justifyContent: 'center' }}&gt;&#10;                &lt;Text style={{ fontSize: 12.5, fontWeight: 'bold', color: '#C43A17' }}&gt;数据架构不是孤立画的，必须两条线拉通&lt;/Text&gt;&#10;                &lt;Box style={{ flexDirection: 'row', alignItems: 'center', gap: 8, marginTop: 8 }}&gt;&#10;                    &lt;Box style={{ flex: 1, background: '#FFFFFF', borderRadius: 3, padding: '8px 11px' }}&gt;&#10;                        &lt;Text style={{ fontSize: 11, fontWeight: 'bold', color: '#0F1423' }}&gt;向上拉通 BA&lt;/Text&gt;&#10;                        &lt;Text style={{ fontSize: 10, color: '#5A6070', lineHeight: 1.35, marginTop: 3 }}&gt;每个实体标注它服务哪几个 L4 子流程；每条 L4 标注它需要哪些实体才能跑通&lt;/Text&gt;&#10;                    &lt;/Box&gt;&#10;                    &lt;Box style={{ flex: 1, background: '#FFFFFF', borderRadius: 3, padding: '8px 11px' }}&gt;&#10;                        &lt;Text style={{ fontSize: 11, fontWeight: 'bold', color: '#0F1423' }}&gt;向下拉通 AA&lt;/Text&gt;&#10;                        &lt;Text style={{ fontSize: 10, color: '#5A6070', lineHeight: 1.35, marginTop: 3 }}&gt;每个实体标注落点系统与集成方式；数据分布不做，集成架构就是空的&lt;/Text&gt;&#10;                    &lt;/Box&gt;&#10;                &lt;/Box&gt;&#10;                &lt;Text style={{ fontSize: 10.5, color: '#C43A17', lineHeight: 1.4, marginTop: 8 }}&gt;&#10;                    验收动作：随便抽一个 L4 子流程，问「它跑通需要哪几个实体、这几个实体分别在哪」。答不上来，说明数据架构没和业务架构拉通。&#10;                &lt;/Text&gt;&#10;            &lt;/Box&gt;&#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23 / 36&lt;/Text&gt;&#10;    &lt;/Box&gt;&#10;&lt;/Slide&gt;&#10;"/>
        <p:cNvGrpSpPr/>
        <p:nvPr/>
      </p:nvGrpSpPr>
      <p:grpSpPr>
        <a:xfrm>
          <a:off x="0" y="0"/>
          <a:ext cx="0" cy="0"/>
          <a:chOff x="0" y="0"/>
          <a:chExt cx="0" cy="0"/>
        </a:xfrm>
      </p:grpSpPr>
      <p:sp>
        <p:nvSpPr>
          <p:cNvPr id="918" name=""/>
          <p:cNvSpPr/>
          <p:nvPr/>
        </p:nvSpPr>
        <p:spPr>
          <a:xfrm rot="0" flipH="0" flipV="0">
            <a:off x="0" y="0"/>
            <a:ext cx="12192000" cy="6858000"/>
          </a:xfrm>
          <a:prstGeom prst="rect">
            <a:avLst/>
          </a:prstGeom>
          <a:solidFill>
            <a:srgbClr val="FFFFFF"/>
          </a:solidFill>
          <a:ln/>
        </p:spPr>
        <p:txBody>
          <a:bodyPr/>
          <a:p/>
        </p:txBody>
      </p:sp>
      <p:sp>
        <p:nvSpPr>
          <p:cNvPr id="91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数据蓝图：</a:t>
            </a:r>
            <a:r>
              <a:rPr lang="zh-CN" sz="2400" b="1">
                <a:solidFill>
                  <a:srgbClr val="FA4F24"/>
                </a:solidFill>
                <a:latin typeface="Microsoft YaHei"/>
                <a:ea typeface="Microsoft YaHei"/>
              </a:rPr>
              <a:t>四维度设计</a:t>
            </a:r>
            <a:r>
              <a:rPr lang="zh-CN" sz="2400" b="1">
                <a:solidFill>
                  <a:srgbClr val="0F1423"/>
                </a:solidFill>
                <a:latin typeface="Microsoft YaHei"/>
                <a:ea typeface="Microsoft YaHei"/>
              </a:rPr>
              <a:t>，收口到业务逻辑实体</a:t>
            </a:r>
            <a:endParaRPr/>
          </a:p>
        </p:txBody>
      </p:sp>
      <p:sp>
        <p:nvSpPr>
          <p:cNvPr id="920"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3.3.2 </a:t>
            </a:r>
            <a:r>
              <a:rPr lang="zh-CN" sz="1425">
                <a:solidFill>
                  <a:srgbClr val="8A8F99"/>
                </a:solidFill>
                <a:latin typeface="Microsoft YaHei"/>
                <a:ea typeface="Microsoft YaHei"/>
              </a:rPr>
              <a:t>明文要求四个维度都要讲，且颗粒度到业务逻辑实体——不到物理表，也不停在概念层</a:t>
            </a:r>
            <a:endParaRPr/>
          </a:p>
        </p:txBody>
      </p:sp>
      <p:sp>
        <p:nvSpPr>
          <p:cNvPr id="921" name=""/>
          <p:cNvSpPr/>
          <p:nvPr/>
        </p:nvSpPr>
        <p:spPr>
          <a:xfrm rot="0" flipH="0" flipV="0">
            <a:off x="609600" y="1143000"/>
            <a:ext cx="10972800" cy="9525"/>
          </a:xfrm>
          <a:prstGeom prst="rect">
            <a:avLst/>
          </a:prstGeom>
          <a:solidFill>
            <a:srgbClr val="E8E8E8"/>
          </a:solidFill>
          <a:ln/>
        </p:spPr>
        <p:txBody>
          <a:bodyPr/>
          <a:p/>
        </p:txBody>
      </p:sp>
      <p:sp>
        <p:nvSpPr>
          <p:cNvPr id="922" name=""/>
          <p:cNvSpPr/>
          <p:nvPr/>
        </p:nvSpPr>
        <p:spPr>
          <a:xfrm rot="0" flipH="0" flipV="0">
            <a:off x="609600" y="1276350"/>
            <a:ext cx="2695575" cy="2038350"/>
          </a:xfrm>
          <a:prstGeom prst="roundRect">
            <a:avLst>
              <a:gd name="adj" fmla="val 1869"/>
            </a:avLst>
          </a:prstGeom>
          <a:solidFill>
            <a:srgbClr val="F7F7F8"/>
          </a:solidFill>
          <a:ln/>
        </p:spPr>
        <p:txBody>
          <a:bodyPr/>
          <a:p/>
        </p:txBody>
      </p:sp>
      <p:sp>
        <p:nvSpPr>
          <p:cNvPr id="923" name=""/>
          <p:cNvSpPr/>
          <p:nvPr/>
        </p:nvSpPr>
        <p:spPr>
          <a:xfrm rot="0" flipH="0" flipV="0">
            <a:off x="609600" y="1276350"/>
            <a:ext cx="2695575" cy="2038350"/>
          </a:xfrm>
          <a:custGeom>
            <a:pathLst>
              <a:path w="283" h="214">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FA4F24"/>
          </a:solidFill>
          <a:ln/>
        </p:spPr>
        <p:txBody>
          <a:bodyPr/>
          <a:p/>
        </p:txBody>
      </p:sp>
      <p:sp>
        <p:nvSpPr>
          <p:cNvPr id="924" name="" descr="{&quot;isTemplate&quot;:true,&quot;type&quot;:&quot;text&quot;}"/>
          <p:cNvSpPr txBox="1"/>
          <p:nvPr/>
        </p:nvSpPr>
        <p:spPr>
          <a:xfrm rot="0" flipH="0" flipV="0">
            <a:off x="723900" y="1381125"/>
            <a:ext cx="190500" cy="161925"/>
          </a:xfrm>
          <a:prstGeom prst="rect"/>
        </p:spPr>
        <p:txBody>
          <a:bodyPr wrap="none" lIns="0" tIns="0" rIns="0" bIns="0"/>
          <a:p>
            <a:pPr>
              <a:lnSpc>
                <a:spcPct val="100000"/>
              </a:lnSpc>
            </a:pPr>
            <a:r>
              <a:rPr lang="en-US" sz="1050" b="1">
                <a:solidFill>
                  <a:srgbClr val="FA4F24"/>
                </a:solidFill>
                <a:latin typeface="Microsoft YaHei"/>
                <a:ea typeface="Microsoft YaHei"/>
              </a:rPr>
              <a:t>D1</a:t>
            </a:r>
            <a:endParaRPr/>
          </a:p>
        </p:txBody>
      </p:sp>
      <p:sp>
        <p:nvSpPr>
          <p:cNvPr id="925" name="" descr="{&quot;isTemplate&quot;:true,&quot;type&quot;:&quot;text&quot;}"/>
          <p:cNvSpPr txBox="1"/>
          <p:nvPr/>
        </p:nvSpPr>
        <p:spPr>
          <a:xfrm rot="0" flipH="0" flipV="0">
            <a:off x="981075" y="1381125"/>
            <a:ext cx="2209800" cy="161925"/>
          </a:xfrm>
          <a:prstGeom prst="rect"/>
        </p:spPr>
        <p:txBody>
          <a:bodyPr wrap="none" lIns="0" tIns="0" rIns="0" bIns="0"/>
          <a:p>
            <a:pPr>
              <a:lnSpc>
                <a:spcPct val="100000"/>
              </a:lnSpc>
            </a:pPr>
            <a:r>
              <a:rPr lang="zh-CN" sz="1013" b="1">
                <a:solidFill>
                  <a:srgbClr val="0F1423"/>
                </a:solidFill>
                <a:latin typeface="Microsoft YaHei"/>
                <a:ea typeface="Microsoft YaHei"/>
              </a:rPr>
              <a:t>数据资产目录</a:t>
            </a:r>
            <a:endParaRPr/>
          </a:p>
        </p:txBody>
      </p:sp>
      <p:sp>
        <p:nvSpPr>
          <p:cNvPr id="926" name="" descr="{&quot;isTemplate&quot;:true,&quot;type&quot;:&quot;text&quot;}"/>
          <p:cNvSpPr txBox="1"/>
          <p:nvPr/>
        </p:nvSpPr>
        <p:spPr>
          <a:xfrm rot="0" flipH="0" flipV="0">
            <a:off x="723900" y="1571625"/>
            <a:ext cx="2466975" cy="152400"/>
          </a:xfrm>
          <a:prstGeom prst="rect"/>
        </p:spPr>
        <p:txBody>
          <a:bodyPr wrap="none" lIns="0" tIns="0" rIns="0" bIns="0"/>
          <a:p>
            <a:pPr>
              <a:lnSpc>
                <a:spcPct val="130000"/>
              </a:lnSpc>
            </a:pPr>
            <a:r>
              <a:rPr lang="zh-CN" sz="750">
                <a:solidFill>
                  <a:srgbClr val="8A8F99"/>
                </a:solidFill>
                <a:latin typeface="Microsoft YaHei"/>
                <a:ea typeface="Microsoft YaHei"/>
              </a:rPr>
              <a:t>目录要能回答「有什么、在哪、谁负责」</a:t>
            </a:r>
            <a:endParaRPr/>
          </a:p>
        </p:txBody>
      </p:sp>
      <p:sp>
        <p:nvSpPr>
          <p:cNvPr id="927" name="" descr="{&quot;isTemplate&quot;:true,&quot;type&quot;:&quot;text&quot;}"/>
          <p:cNvSpPr txBox="1"/>
          <p:nvPr/>
        </p:nvSpPr>
        <p:spPr>
          <a:xfrm rot="0" flipH="0" flipV="0">
            <a:off x="723900" y="1800225"/>
            <a:ext cx="38100" cy="114300"/>
          </a:xfrm>
          <a:prstGeom prst="rect"/>
        </p:spPr>
        <p:txBody>
          <a:bodyPr wrap="none" lIns="0" tIns="0" rIns="0" bIns="0"/>
          <a:p>
            <a:pPr>
              <a:lnSpc>
                <a:spcPct val="100000"/>
              </a:lnSpc>
            </a:pPr>
            <a:r>
              <a:rPr sz="713" b="1">
                <a:solidFill>
                  <a:srgbClr val="FA4F24"/>
                </a:solidFill>
                <a:latin typeface="Microsoft YaHei"/>
                <a:ea typeface="Microsoft YaHei"/>
              </a:rPr>
              <a:t>▪</a:t>
            </a:r>
            <a:endParaRPr/>
          </a:p>
        </p:txBody>
      </p:sp>
      <p:sp>
        <p:nvSpPr>
          <p:cNvPr id="928" name="" descr="{&quot;isTemplate&quot;:true,&quot;type&quot;:&quot;text&quot;}"/>
          <p:cNvSpPr txBox="1"/>
          <p:nvPr/>
        </p:nvSpPr>
        <p:spPr>
          <a:xfrm rot="0" flipH="0" flipV="0">
            <a:off x="819150" y="180022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按主题域</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业务对象</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逻辑实体</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属性四层组织</a:t>
            </a:r>
            <a:endParaRPr/>
          </a:p>
        </p:txBody>
      </p:sp>
      <p:sp>
        <p:nvSpPr>
          <p:cNvPr id="929" name="" descr="{&quot;isTemplate&quot;:true,&quot;type&quot;:&quot;text&quot;}"/>
          <p:cNvSpPr txBox="1"/>
          <p:nvPr/>
        </p:nvSpPr>
        <p:spPr>
          <a:xfrm rot="0" flipH="0" flipV="0">
            <a:off x="723900" y="2047875"/>
            <a:ext cx="38100" cy="114300"/>
          </a:xfrm>
          <a:prstGeom prst="rect"/>
        </p:spPr>
        <p:txBody>
          <a:bodyPr wrap="none" lIns="0" tIns="0" rIns="0" bIns="0"/>
          <a:p>
            <a:pPr>
              <a:lnSpc>
                <a:spcPct val="100000"/>
              </a:lnSpc>
            </a:pPr>
            <a:r>
              <a:rPr sz="713" b="1">
                <a:solidFill>
                  <a:srgbClr val="FA4F24"/>
                </a:solidFill>
                <a:latin typeface="Microsoft YaHei"/>
                <a:ea typeface="Microsoft YaHei"/>
              </a:rPr>
              <a:t>▪</a:t>
            </a:r>
            <a:endParaRPr/>
          </a:p>
        </p:txBody>
      </p:sp>
      <p:sp>
        <p:nvSpPr>
          <p:cNvPr id="930" name="" descr="{&quot;isTemplate&quot;:true,&quot;type&quot;:&quot;text&quot;}"/>
          <p:cNvSpPr txBox="1"/>
          <p:nvPr/>
        </p:nvSpPr>
        <p:spPr>
          <a:xfrm rot="0" flipH="0" flipV="0">
            <a:off x="819150" y="204787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每个实体标注责任部门、数据</a:t>
            </a:r>
            <a:r>
              <a:rPr lang="en-US" sz="788">
                <a:solidFill>
                  <a:srgbClr val="3A4050"/>
                </a:solidFill>
                <a:latin typeface="Microsoft YaHei"/>
                <a:ea typeface="Microsoft YaHei"/>
              </a:rPr>
              <a:t>owner</a:t>
            </a:r>
            <a:r>
              <a:rPr lang="zh-CN" sz="788">
                <a:solidFill>
                  <a:srgbClr val="3A4050"/>
                </a:solidFill>
                <a:latin typeface="Microsoft YaHei"/>
                <a:ea typeface="Microsoft YaHei"/>
              </a:rPr>
              <a:t>、密级、更新频率</a:t>
            </a:r>
            <a:endParaRPr/>
          </a:p>
        </p:txBody>
      </p:sp>
      <p:sp>
        <p:nvSpPr>
          <p:cNvPr id="931" name="" descr="{&quot;isTemplate&quot;:true,&quot;type&quot;:&quot;text&quot;}"/>
          <p:cNvSpPr txBox="1"/>
          <p:nvPr/>
        </p:nvSpPr>
        <p:spPr>
          <a:xfrm rot="0" flipH="0" flipV="0">
            <a:off x="723900" y="2305050"/>
            <a:ext cx="38100" cy="114300"/>
          </a:xfrm>
          <a:prstGeom prst="rect"/>
        </p:spPr>
        <p:txBody>
          <a:bodyPr wrap="none" lIns="0" tIns="0" rIns="0" bIns="0"/>
          <a:p>
            <a:pPr>
              <a:lnSpc>
                <a:spcPct val="100000"/>
              </a:lnSpc>
            </a:pPr>
            <a:r>
              <a:rPr sz="713" b="1">
                <a:solidFill>
                  <a:srgbClr val="FA4F24"/>
                </a:solidFill>
                <a:latin typeface="Microsoft YaHei"/>
                <a:ea typeface="Microsoft YaHei"/>
              </a:rPr>
              <a:t>▪</a:t>
            </a:r>
            <a:endParaRPr/>
          </a:p>
        </p:txBody>
      </p:sp>
      <p:sp>
        <p:nvSpPr>
          <p:cNvPr id="932" name="" descr="{&quot;isTemplate&quot;:true,&quot;type&quot;:&quot;text&quot;}"/>
          <p:cNvSpPr txBox="1"/>
          <p:nvPr/>
        </p:nvSpPr>
        <p:spPr>
          <a:xfrm rot="0" flipH="0" flipV="0">
            <a:off x="819150" y="2305050"/>
            <a:ext cx="2371725"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能源与储能两条链的公共实体单独标出（共用不重复建）</a:t>
            </a:r>
            <a:endParaRPr/>
          </a:p>
        </p:txBody>
      </p:sp>
      <p:sp>
        <p:nvSpPr>
          <p:cNvPr id="933" name="" descr="{&quot;isTemplate&quot;:true,&quot;type&quot;:&quot;text&quot;}"/>
          <p:cNvSpPr txBox="1"/>
          <p:nvPr/>
        </p:nvSpPr>
        <p:spPr>
          <a:xfrm rot="0" flipH="0" flipV="0">
            <a:off x="723900" y="2714625"/>
            <a:ext cx="38100" cy="114300"/>
          </a:xfrm>
          <a:prstGeom prst="rect"/>
        </p:spPr>
        <p:txBody>
          <a:bodyPr wrap="none" lIns="0" tIns="0" rIns="0" bIns="0"/>
          <a:p>
            <a:pPr>
              <a:lnSpc>
                <a:spcPct val="100000"/>
              </a:lnSpc>
            </a:pPr>
            <a:r>
              <a:rPr sz="713" b="1">
                <a:solidFill>
                  <a:srgbClr val="FA4F24"/>
                </a:solidFill>
                <a:latin typeface="Microsoft YaHei"/>
                <a:ea typeface="Microsoft YaHei"/>
              </a:rPr>
              <a:t>▪</a:t>
            </a:r>
            <a:endParaRPr/>
          </a:p>
        </p:txBody>
      </p:sp>
      <p:sp>
        <p:nvSpPr>
          <p:cNvPr id="934" name="" descr="{&quot;isTemplate&quot;:true,&quot;type&quot;:&quot;text&quot;}"/>
          <p:cNvSpPr txBox="1"/>
          <p:nvPr/>
        </p:nvSpPr>
        <p:spPr>
          <a:xfrm rot="0" flipH="0" flipV="0">
            <a:off x="819150" y="271462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与指标字典关联：每个指标注明取自哪些实体</a:t>
            </a:r>
            <a:endParaRPr/>
          </a:p>
        </p:txBody>
      </p:sp>
      <p:sp>
        <p:nvSpPr>
          <p:cNvPr id="935" name=""/>
          <p:cNvSpPr/>
          <p:nvPr/>
        </p:nvSpPr>
        <p:spPr>
          <a:xfrm rot="0" flipH="0" flipV="0">
            <a:off x="723900" y="2914650"/>
            <a:ext cx="2466975" cy="266700"/>
          </a:xfrm>
          <a:prstGeom prst="roundRect">
            <a:avLst>
              <a:gd name="adj" fmla="val 10714"/>
            </a:avLst>
          </a:prstGeom>
          <a:solidFill>
            <a:srgbClr val="FA4F24"/>
          </a:solidFill>
          <a:ln/>
        </p:spPr>
        <p:txBody>
          <a:bodyPr/>
          <a:p/>
        </p:txBody>
      </p:sp>
      <p:sp>
        <p:nvSpPr>
          <p:cNvPr id="936" name="" descr="{&quot;isTemplate&quot;:true,&quot;type&quot;:&quot;text&quot;}"/>
          <p:cNvSpPr txBox="1"/>
          <p:nvPr/>
        </p:nvSpPr>
        <p:spPr>
          <a:xfrm rot="0" flipH="0" flipV="0">
            <a:off x="819150" y="2990850"/>
            <a:ext cx="2276475" cy="123825"/>
          </a:xfrm>
          <a:prstGeom prst="rect"/>
        </p:spPr>
        <p:txBody>
          <a:bodyPr wrap="none" lIns="0" tIns="0" rIns="0" bIns="0"/>
          <a:p>
            <a:pPr>
              <a:lnSpc>
                <a:spcPct val="100000"/>
              </a:lnSpc>
            </a:pPr>
            <a:r>
              <a:rPr lang="zh-CN" sz="788" b="1">
                <a:solidFill>
                  <a:srgbClr val="FFFFFF"/>
                </a:solidFill>
                <a:latin typeface="Microsoft YaHei"/>
                <a:ea typeface="Microsoft YaHei"/>
              </a:rPr>
              <a:t>产出：数据资产目录（四层）</a:t>
            </a:r>
            <a:endParaRPr/>
          </a:p>
        </p:txBody>
      </p:sp>
      <p:sp>
        <p:nvSpPr>
          <p:cNvPr id="937" name=""/>
          <p:cNvSpPr/>
          <p:nvPr/>
        </p:nvSpPr>
        <p:spPr>
          <a:xfrm rot="0" flipH="0" flipV="0">
            <a:off x="3371850" y="1276350"/>
            <a:ext cx="2695575" cy="2038350"/>
          </a:xfrm>
          <a:prstGeom prst="roundRect">
            <a:avLst>
              <a:gd name="adj" fmla="val 1869"/>
            </a:avLst>
          </a:prstGeom>
          <a:solidFill>
            <a:srgbClr val="F7F7F8"/>
          </a:solidFill>
          <a:ln/>
        </p:spPr>
        <p:txBody>
          <a:bodyPr/>
          <a:p/>
        </p:txBody>
      </p:sp>
      <p:sp>
        <p:nvSpPr>
          <p:cNvPr id="938" name=""/>
          <p:cNvSpPr/>
          <p:nvPr/>
        </p:nvSpPr>
        <p:spPr>
          <a:xfrm rot="0" flipH="0" flipV="0">
            <a:off x="3371850" y="1276350"/>
            <a:ext cx="2695575" cy="2038350"/>
          </a:xfrm>
          <a:custGeom>
            <a:pathLst>
              <a:path w="283" h="214">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E0641E"/>
          </a:solidFill>
          <a:ln/>
        </p:spPr>
        <p:txBody>
          <a:bodyPr/>
          <a:p/>
        </p:txBody>
      </p:sp>
      <p:sp>
        <p:nvSpPr>
          <p:cNvPr id="939" name="" descr="{&quot;isTemplate&quot;:true,&quot;type&quot;:&quot;text&quot;}"/>
          <p:cNvSpPr txBox="1"/>
          <p:nvPr/>
        </p:nvSpPr>
        <p:spPr>
          <a:xfrm rot="0" flipH="0" flipV="0">
            <a:off x="3486150" y="1381125"/>
            <a:ext cx="190500" cy="161925"/>
          </a:xfrm>
          <a:prstGeom prst="rect"/>
        </p:spPr>
        <p:txBody>
          <a:bodyPr wrap="none" lIns="0" tIns="0" rIns="0" bIns="0"/>
          <a:p>
            <a:pPr>
              <a:lnSpc>
                <a:spcPct val="100000"/>
              </a:lnSpc>
            </a:pPr>
            <a:r>
              <a:rPr lang="en-US" sz="1050" b="1">
                <a:solidFill>
                  <a:srgbClr val="E0641E"/>
                </a:solidFill>
                <a:latin typeface="Microsoft YaHei"/>
                <a:ea typeface="Microsoft YaHei"/>
              </a:rPr>
              <a:t>D2</a:t>
            </a:r>
            <a:endParaRPr/>
          </a:p>
        </p:txBody>
      </p:sp>
      <p:sp>
        <p:nvSpPr>
          <p:cNvPr id="940" name="" descr="{&quot;isTemplate&quot;:true,&quot;type&quot;:&quot;text&quot;}"/>
          <p:cNvSpPr txBox="1"/>
          <p:nvPr/>
        </p:nvSpPr>
        <p:spPr>
          <a:xfrm rot="0" flipH="0" flipV="0">
            <a:off x="3743325" y="1381125"/>
            <a:ext cx="2209800" cy="161925"/>
          </a:xfrm>
          <a:prstGeom prst="rect"/>
        </p:spPr>
        <p:txBody>
          <a:bodyPr wrap="none" lIns="0" tIns="0" rIns="0" bIns="0"/>
          <a:p>
            <a:pPr>
              <a:lnSpc>
                <a:spcPct val="100000"/>
              </a:lnSpc>
            </a:pPr>
            <a:r>
              <a:rPr lang="zh-CN" sz="1013" b="1">
                <a:solidFill>
                  <a:srgbClr val="0F1423"/>
                </a:solidFill>
                <a:latin typeface="Microsoft YaHei"/>
                <a:ea typeface="Microsoft YaHei"/>
              </a:rPr>
              <a:t>数据模型</a:t>
            </a:r>
            <a:endParaRPr/>
          </a:p>
        </p:txBody>
      </p:sp>
      <p:sp>
        <p:nvSpPr>
          <p:cNvPr id="941" name="" descr="{&quot;isTemplate&quot;:true,&quot;type&quot;:&quot;text&quot;}"/>
          <p:cNvSpPr txBox="1"/>
          <p:nvPr/>
        </p:nvSpPr>
        <p:spPr>
          <a:xfrm rot="0" flipH="0" flipV="0">
            <a:off x="3486150" y="1571625"/>
            <a:ext cx="2466975" cy="152400"/>
          </a:xfrm>
          <a:prstGeom prst="rect"/>
        </p:spPr>
        <p:txBody>
          <a:bodyPr wrap="none" lIns="0" tIns="0" rIns="0" bIns="0"/>
          <a:p>
            <a:pPr>
              <a:lnSpc>
                <a:spcPct val="130000"/>
              </a:lnSpc>
            </a:pPr>
            <a:r>
              <a:rPr lang="zh-CN" sz="750">
                <a:solidFill>
                  <a:srgbClr val="8A8F99"/>
                </a:solidFill>
                <a:latin typeface="Microsoft YaHei"/>
                <a:ea typeface="Microsoft YaHei"/>
              </a:rPr>
              <a:t>模型是对现状问题的正面回答</a:t>
            </a:r>
            <a:endParaRPr/>
          </a:p>
        </p:txBody>
      </p:sp>
      <p:sp>
        <p:nvSpPr>
          <p:cNvPr id="942" name="" descr="{&quot;isTemplate&quot;:true,&quot;type&quot;:&quot;text&quot;}"/>
          <p:cNvSpPr txBox="1"/>
          <p:nvPr/>
        </p:nvSpPr>
        <p:spPr>
          <a:xfrm rot="0" flipH="0" flipV="0">
            <a:off x="3486150" y="1800225"/>
            <a:ext cx="38100" cy="114300"/>
          </a:xfrm>
          <a:prstGeom prst="rect"/>
        </p:spPr>
        <p:txBody>
          <a:bodyPr wrap="none" lIns="0" tIns="0" rIns="0" bIns="0"/>
          <a:p>
            <a:pPr>
              <a:lnSpc>
                <a:spcPct val="100000"/>
              </a:lnSpc>
            </a:pPr>
            <a:r>
              <a:rPr sz="713" b="1">
                <a:solidFill>
                  <a:srgbClr val="E0641E"/>
                </a:solidFill>
                <a:latin typeface="Microsoft YaHei"/>
                <a:ea typeface="Microsoft YaHei"/>
              </a:rPr>
              <a:t>▪</a:t>
            </a:r>
            <a:endParaRPr/>
          </a:p>
        </p:txBody>
      </p:sp>
      <p:sp>
        <p:nvSpPr>
          <p:cNvPr id="943" name="" descr="{&quot;isTemplate&quot;:true,&quot;type&quot;:&quot;text&quot;}"/>
          <p:cNvSpPr txBox="1"/>
          <p:nvPr/>
        </p:nvSpPr>
        <p:spPr>
          <a:xfrm rot="0" flipH="0" flipV="0">
            <a:off x="3581400" y="180022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概念模型：实体与关系，标注基数与可选性</a:t>
            </a:r>
            <a:endParaRPr/>
          </a:p>
        </p:txBody>
      </p:sp>
      <p:sp>
        <p:nvSpPr>
          <p:cNvPr id="944" name="" descr="{&quot;isTemplate&quot;:true,&quot;type&quot;:&quot;text&quot;}"/>
          <p:cNvSpPr txBox="1"/>
          <p:nvPr/>
        </p:nvSpPr>
        <p:spPr>
          <a:xfrm rot="0" flipH="0" flipV="0">
            <a:off x="3486150" y="2047875"/>
            <a:ext cx="38100" cy="114300"/>
          </a:xfrm>
          <a:prstGeom prst="rect"/>
        </p:spPr>
        <p:txBody>
          <a:bodyPr wrap="none" lIns="0" tIns="0" rIns="0" bIns="0"/>
          <a:p>
            <a:pPr>
              <a:lnSpc>
                <a:spcPct val="100000"/>
              </a:lnSpc>
            </a:pPr>
            <a:r>
              <a:rPr sz="713" b="1">
                <a:solidFill>
                  <a:srgbClr val="E0641E"/>
                </a:solidFill>
                <a:latin typeface="Microsoft YaHei"/>
                <a:ea typeface="Microsoft YaHei"/>
              </a:rPr>
              <a:t>▪</a:t>
            </a:r>
            <a:endParaRPr/>
          </a:p>
        </p:txBody>
      </p:sp>
      <p:sp>
        <p:nvSpPr>
          <p:cNvPr id="945" name="" descr="{&quot;isTemplate&quot;:true,&quot;type&quot;:&quot;text&quot;}"/>
          <p:cNvSpPr txBox="1"/>
          <p:nvPr/>
        </p:nvSpPr>
        <p:spPr>
          <a:xfrm rot="0" flipH="0" flipV="0">
            <a:off x="3581400" y="2047875"/>
            <a:ext cx="2371725"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逻辑模型：实体属性、主键、引用关系，颗粒度到业务逻辑实体</a:t>
            </a:r>
            <a:endParaRPr/>
          </a:p>
        </p:txBody>
      </p:sp>
      <p:sp>
        <p:nvSpPr>
          <p:cNvPr id="946" name="" descr="{&quot;isTemplate&quot;:true,&quot;type&quot;:&quot;text&quot;}"/>
          <p:cNvSpPr txBox="1"/>
          <p:nvPr/>
        </p:nvSpPr>
        <p:spPr>
          <a:xfrm rot="0" flipH="0" flipV="0">
            <a:off x="3486150" y="2466975"/>
            <a:ext cx="38100" cy="114300"/>
          </a:xfrm>
          <a:prstGeom prst="rect"/>
        </p:spPr>
        <p:txBody>
          <a:bodyPr wrap="none" lIns="0" tIns="0" rIns="0" bIns="0"/>
          <a:p>
            <a:pPr>
              <a:lnSpc>
                <a:spcPct val="100000"/>
              </a:lnSpc>
            </a:pPr>
            <a:r>
              <a:rPr sz="713" b="1">
                <a:solidFill>
                  <a:srgbClr val="E0641E"/>
                </a:solidFill>
                <a:latin typeface="Microsoft YaHei"/>
                <a:ea typeface="Microsoft YaHei"/>
              </a:rPr>
              <a:t>▪</a:t>
            </a:r>
            <a:endParaRPr/>
          </a:p>
        </p:txBody>
      </p:sp>
      <p:sp>
        <p:nvSpPr>
          <p:cNvPr id="947" name="" descr="{&quot;isTemplate&quot;:true,&quot;type&quot;:&quot;text&quot;}"/>
          <p:cNvSpPr txBox="1"/>
          <p:nvPr/>
        </p:nvSpPr>
        <p:spPr>
          <a:xfrm rot="0" flipH="0" flipV="0">
            <a:off x="3581400" y="246697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每个模型标注它回应哪条</a:t>
            </a:r>
            <a:r>
              <a:rPr lang="en-US" sz="788">
                <a:solidFill>
                  <a:srgbClr val="3A4050"/>
                </a:solidFill>
                <a:latin typeface="Microsoft YaHei"/>
                <a:ea typeface="Microsoft YaHei"/>
              </a:rPr>
              <a:t xml:space="preserve"> PAIN </a:t>
            </a:r>
            <a:r>
              <a:rPr lang="zh-CN" sz="788">
                <a:solidFill>
                  <a:srgbClr val="3A4050"/>
                </a:solidFill>
                <a:latin typeface="Microsoft YaHei"/>
                <a:ea typeface="Microsoft YaHei"/>
              </a:rPr>
              <a:t>编号</a:t>
            </a:r>
            <a:endParaRPr/>
          </a:p>
        </p:txBody>
      </p:sp>
      <p:sp>
        <p:nvSpPr>
          <p:cNvPr id="948" name="" descr="{&quot;isTemplate&quot;:true,&quot;type&quot;:&quot;text&quot;}"/>
          <p:cNvSpPr txBox="1"/>
          <p:nvPr/>
        </p:nvSpPr>
        <p:spPr>
          <a:xfrm rot="0" flipH="0" flipV="0">
            <a:off x="3486150" y="2714625"/>
            <a:ext cx="38100" cy="114300"/>
          </a:xfrm>
          <a:prstGeom prst="rect"/>
        </p:spPr>
        <p:txBody>
          <a:bodyPr wrap="none" lIns="0" tIns="0" rIns="0" bIns="0"/>
          <a:p>
            <a:pPr>
              <a:lnSpc>
                <a:spcPct val="100000"/>
              </a:lnSpc>
            </a:pPr>
            <a:r>
              <a:rPr sz="713" b="1">
                <a:solidFill>
                  <a:srgbClr val="E0641E"/>
                </a:solidFill>
                <a:latin typeface="Microsoft YaHei"/>
                <a:ea typeface="Microsoft YaHei"/>
              </a:rPr>
              <a:t>▪</a:t>
            </a:r>
            <a:endParaRPr/>
          </a:p>
        </p:txBody>
      </p:sp>
      <p:sp>
        <p:nvSpPr>
          <p:cNvPr id="949" name="" descr="{&quot;isTemplate&quot;:true,&quot;type&quot;:&quot;text&quot;}"/>
          <p:cNvSpPr txBox="1"/>
          <p:nvPr/>
        </p:nvSpPr>
        <p:spPr>
          <a:xfrm rot="0" flipH="0" flipV="0">
            <a:off x="3581400" y="271462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跨链一致性检查：同一实体在两条链的定义是否一致</a:t>
            </a:r>
            <a:endParaRPr/>
          </a:p>
        </p:txBody>
      </p:sp>
      <p:sp>
        <p:nvSpPr>
          <p:cNvPr id="950" name=""/>
          <p:cNvSpPr/>
          <p:nvPr/>
        </p:nvSpPr>
        <p:spPr>
          <a:xfrm rot="0" flipH="0" flipV="0">
            <a:off x="3486150" y="2914650"/>
            <a:ext cx="2466975" cy="266700"/>
          </a:xfrm>
          <a:prstGeom prst="roundRect">
            <a:avLst>
              <a:gd name="adj" fmla="val 10714"/>
            </a:avLst>
          </a:prstGeom>
          <a:solidFill>
            <a:srgbClr val="E0641E"/>
          </a:solidFill>
          <a:ln/>
        </p:spPr>
        <p:txBody>
          <a:bodyPr/>
          <a:p/>
        </p:txBody>
      </p:sp>
      <p:sp>
        <p:nvSpPr>
          <p:cNvPr id="951" name="" descr="{&quot;isTemplate&quot;:true,&quot;type&quot;:&quot;text&quot;}"/>
          <p:cNvSpPr txBox="1"/>
          <p:nvPr/>
        </p:nvSpPr>
        <p:spPr>
          <a:xfrm rot="0" flipH="0" flipV="0">
            <a:off x="3581400" y="2990850"/>
            <a:ext cx="2276475" cy="123825"/>
          </a:xfrm>
          <a:prstGeom prst="rect"/>
        </p:spPr>
        <p:txBody>
          <a:bodyPr wrap="none" lIns="0" tIns="0" rIns="0" bIns="0"/>
          <a:p>
            <a:pPr>
              <a:lnSpc>
                <a:spcPct val="100000"/>
              </a:lnSpc>
            </a:pPr>
            <a:r>
              <a:rPr lang="zh-CN" sz="788" b="1">
                <a:solidFill>
                  <a:srgbClr val="FFFFFF"/>
                </a:solidFill>
                <a:latin typeface="Microsoft YaHei"/>
                <a:ea typeface="Microsoft YaHei"/>
              </a:rPr>
              <a:t>产出：逻辑实体清单</a:t>
            </a:r>
            <a:r>
              <a:rPr lang="en-US" sz="788" b="1">
                <a:solidFill>
                  <a:srgbClr val="FFFFFF"/>
                </a:solidFill>
                <a:latin typeface="Microsoft YaHei"/>
                <a:ea typeface="Microsoft YaHei"/>
              </a:rPr>
              <a:t xml:space="preserve"> + </a:t>
            </a:r>
            <a:r>
              <a:rPr lang="zh-CN" sz="788" b="1">
                <a:solidFill>
                  <a:srgbClr val="FFFFFF"/>
                </a:solidFill>
                <a:latin typeface="Microsoft YaHei"/>
                <a:ea typeface="Microsoft YaHei"/>
              </a:rPr>
              <a:t>关系模型</a:t>
            </a:r>
            <a:endParaRPr/>
          </a:p>
        </p:txBody>
      </p:sp>
      <p:sp>
        <p:nvSpPr>
          <p:cNvPr id="952" name=""/>
          <p:cNvSpPr/>
          <p:nvPr/>
        </p:nvSpPr>
        <p:spPr>
          <a:xfrm rot="0" flipH="0" flipV="0">
            <a:off x="6134100" y="1276350"/>
            <a:ext cx="2686050" cy="2038350"/>
          </a:xfrm>
          <a:prstGeom prst="roundRect">
            <a:avLst>
              <a:gd name="adj" fmla="val 1869"/>
            </a:avLst>
          </a:prstGeom>
          <a:solidFill>
            <a:srgbClr val="F7F7F8"/>
          </a:solidFill>
          <a:ln/>
        </p:spPr>
        <p:txBody>
          <a:bodyPr/>
          <a:p/>
        </p:txBody>
      </p:sp>
      <p:sp>
        <p:nvSpPr>
          <p:cNvPr id="953" name=""/>
          <p:cNvSpPr/>
          <p:nvPr/>
        </p:nvSpPr>
        <p:spPr>
          <a:xfrm rot="0" flipH="0" flipV="0">
            <a:off x="6134100" y="1276350"/>
            <a:ext cx="2686050" cy="2038350"/>
          </a:xfrm>
          <a:custGeom>
            <a:pathLst>
              <a:path w="282" h="214">
                <a:moveTo>
                  <a:pt x="278" y="0"/>
                </a:moveTo>
                <a:cubicBezTo>
                  <a:pt x="280" y="0"/>
                  <a:pt x="282" y="2"/>
                  <a:pt x="282" y="4"/>
                </a:cubicBezTo>
                <a:cubicBezTo>
                  <a:pt x="282" y="3"/>
                  <a:pt x="281" y="3"/>
                  <a:pt x="281" y="3"/>
                </a:cubicBezTo>
                <a:lnTo>
                  <a:pt x="1" y="3"/>
                </a:lnTo>
                <a:cubicBezTo>
                  <a:pt x="1" y="3"/>
                  <a:pt x="0" y="3"/>
                  <a:pt x="0" y="4"/>
                </a:cubicBezTo>
                <a:cubicBezTo>
                  <a:pt x="0" y="2"/>
                  <a:pt x="2" y="0"/>
                  <a:pt x="4" y="0"/>
                </a:cubicBezTo>
                <a:lnTo>
                  <a:pt x="278" y="0"/>
                </a:lnTo>
                <a:close/>
              </a:path>
            </a:pathLst>
          </a:custGeom>
          <a:solidFill>
            <a:srgbClr val="D2531A"/>
          </a:solidFill>
          <a:ln/>
        </p:spPr>
        <p:txBody>
          <a:bodyPr/>
          <a:p/>
        </p:txBody>
      </p:sp>
      <p:sp>
        <p:nvSpPr>
          <p:cNvPr id="954" name="" descr="{&quot;isTemplate&quot;:true,&quot;type&quot;:&quot;text&quot;}"/>
          <p:cNvSpPr txBox="1"/>
          <p:nvPr/>
        </p:nvSpPr>
        <p:spPr>
          <a:xfrm rot="0" flipH="0" flipV="0">
            <a:off x="6248400" y="1381125"/>
            <a:ext cx="190500" cy="161925"/>
          </a:xfrm>
          <a:prstGeom prst="rect"/>
        </p:spPr>
        <p:txBody>
          <a:bodyPr wrap="none" lIns="0" tIns="0" rIns="0" bIns="0"/>
          <a:p>
            <a:pPr>
              <a:lnSpc>
                <a:spcPct val="100000"/>
              </a:lnSpc>
            </a:pPr>
            <a:r>
              <a:rPr lang="en-US" sz="1050" b="1">
                <a:solidFill>
                  <a:srgbClr val="D2531A"/>
                </a:solidFill>
                <a:latin typeface="Microsoft YaHei"/>
                <a:ea typeface="Microsoft YaHei"/>
              </a:rPr>
              <a:t>D3</a:t>
            </a:r>
            <a:endParaRPr/>
          </a:p>
        </p:txBody>
      </p:sp>
      <p:sp>
        <p:nvSpPr>
          <p:cNvPr id="955" name="" descr="{&quot;isTemplate&quot;:true,&quot;type&quot;:&quot;text&quot;}"/>
          <p:cNvSpPr txBox="1"/>
          <p:nvPr/>
        </p:nvSpPr>
        <p:spPr>
          <a:xfrm rot="0" flipH="0" flipV="0">
            <a:off x="6505575" y="1381125"/>
            <a:ext cx="2200275" cy="161925"/>
          </a:xfrm>
          <a:prstGeom prst="rect"/>
        </p:spPr>
        <p:txBody>
          <a:bodyPr wrap="none" lIns="0" tIns="0" rIns="0" bIns="0"/>
          <a:p>
            <a:pPr>
              <a:lnSpc>
                <a:spcPct val="100000"/>
              </a:lnSpc>
            </a:pPr>
            <a:r>
              <a:rPr lang="zh-CN" sz="1013" b="1">
                <a:solidFill>
                  <a:srgbClr val="0F1423"/>
                </a:solidFill>
                <a:latin typeface="Microsoft YaHei"/>
                <a:ea typeface="Microsoft YaHei"/>
              </a:rPr>
              <a:t>数据标准</a:t>
            </a:r>
            <a:endParaRPr/>
          </a:p>
        </p:txBody>
      </p:sp>
      <p:sp>
        <p:nvSpPr>
          <p:cNvPr id="956" name="" descr="{&quot;isTemplate&quot;:true,&quot;type&quot;:&quot;text&quot;}"/>
          <p:cNvSpPr txBox="1"/>
          <p:nvPr/>
        </p:nvSpPr>
        <p:spPr>
          <a:xfrm rot="0" flipH="0" flipV="0">
            <a:off x="6248400" y="1571625"/>
            <a:ext cx="2457450" cy="152400"/>
          </a:xfrm>
          <a:prstGeom prst="rect"/>
        </p:spPr>
        <p:txBody>
          <a:bodyPr wrap="none" lIns="0" tIns="0" rIns="0" bIns="0"/>
          <a:p>
            <a:pPr>
              <a:lnSpc>
                <a:spcPct val="130000"/>
              </a:lnSpc>
            </a:pPr>
            <a:r>
              <a:rPr lang="zh-CN" sz="750">
                <a:solidFill>
                  <a:srgbClr val="8A8F99"/>
                </a:solidFill>
                <a:latin typeface="Microsoft YaHei"/>
                <a:ea typeface="Microsoft YaHei"/>
              </a:rPr>
              <a:t>标准不写清，后面全是扯皮</a:t>
            </a:r>
            <a:endParaRPr/>
          </a:p>
        </p:txBody>
      </p:sp>
      <p:sp>
        <p:nvSpPr>
          <p:cNvPr id="957" name="" descr="{&quot;isTemplate&quot;:true,&quot;type&quot;:&quot;text&quot;}"/>
          <p:cNvSpPr txBox="1"/>
          <p:nvPr/>
        </p:nvSpPr>
        <p:spPr>
          <a:xfrm rot="0" flipH="0" flipV="0">
            <a:off x="6248400" y="1800225"/>
            <a:ext cx="38100" cy="114300"/>
          </a:xfrm>
          <a:prstGeom prst="rect"/>
        </p:spPr>
        <p:txBody>
          <a:bodyPr wrap="none" lIns="0" tIns="0" rIns="0" bIns="0"/>
          <a:p>
            <a:pPr>
              <a:lnSpc>
                <a:spcPct val="100000"/>
              </a:lnSpc>
            </a:pPr>
            <a:r>
              <a:rPr sz="713" b="1">
                <a:solidFill>
                  <a:srgbClr val="D2531A"/>
                </a:solidFill>
                <a:latin typeface="Microsoft YaHei"/>
                <a:ea typeface="Microsoft YaHei"/>
              </a:rPr>
              <a:t>▪</a:t>
            </a:r>
            <a:endParaRPr/>
          </a:p>
        </p:txBody>
      </p:sp>
      <p:sp>
        <p:nvSpPr>
          <p:cNvPr id="958" name="" descr="{&quot;isTemplate&quot;:true,&quot;type&quot;:&quot;text&quot;}"/>
          <p:cNvSpPr txBox="1"/>
          <p:nvPr/>
        </p:nvSpPr>
        <p:spPr>
          <a:xfrm rot="0" flipH="0" flipV="0">
            <a:off x="6343650" y="1800225"/>
            <a:ext cx="2362200" cy="171450"/>
          </a:xfrm>
          <a:prstGeom prst="rect"/>
        </p:spPr>
        <p:txBody>
          <a:bodyPr wrap="none" lIns="0" tIns="0" rIns="0" bIns="0"/>
          <a:p>
            <a:pPr>
              <a:lnSpc>
                <a:spcPct val="135000"/>
              </a:lnSpc>
            </a:pPr>
            <a:r>
              <a:rPr lang="zh-CN" sz="788">
                <a:solidFill>
                  <a:srgbClr val="3A4050"/>
                </a:solidFill>
                <a:latin typeface="Microsoft YaHei"/>
                <a:ea typeface="Microsoft YaHei"/>
              </a:rPr>
              <a:t>基础标准：编码规则、命名规则、值域规范</a:t>
            </a:r>
            <a:endParaRPr/>
          </a:p>
        </p:txBody>
      </p:sp>
      <p:sp>
        <p:nvSpPr>
          <p:cNvPr id="959" name="" descr="{&quot;isTemplate&quot;:true,&quot;type&quot;:&quot;text&quot;}"/>
          <p:cNvSpPr txBox="1"/>
          <p:nvPr/>
        </p:nvSpPr>
        <p:spPr>
          <a:xfrm rot="0" flipH="0" flipV="0">
            <a:off x="6248400" y="2095500"/>
            <a:ext cx="38100" cy="114300"/>
          </a:xfrm>
          <a:prstGeom prst="rect"/>
        </p:spPr>
        <p:txBody>
          <a:bodyPr wrap="none" lIns="0" tIns="0" rIns="0" bIns="0"/>
          <a:p>
            <a:pPr>
              <a:lnSpc>
                <a:spcPct val="100000"/>
              </a:lnSpc>
            </a:pPr>
            <a:r>
              <a:rPr sz="713" b="1">
                <a:solidFill>
                  <a:srgbClr val="D2531A"/>
                </a:solidFill>
                <a:latin typeface="Microsoft YaHei"/>
                <a:ea typeface="Microsoft YaHei"/>
              </a:rPr>
              <a:t>▪</a:t>
            </a:r>
            <a:endParaRPr/>
          </a:p>
        </p:txBody>
      </p:sp>
      <p:sp>
        <p:nvSpPr>
          <p:cNvPr id="960" name="" descr="{&quot;isTemplate&quot;:true,&quot;type&quot;:&quot;text&quot;}"/>
          <p:cNvSpPr txBox="1"/>
          <p:nvPr/>
        </p:nvSpPr>
        <p:spPr>
          <a:xfrm rot="0" flipH="0" flipV="0">
            <a:off x="6343650" y="2095500"/>
            <a:ext cx="2362200" cy="171450"/>
          </a:xfrm>
          <a:prstGeom prst="rect"/>
        </p:spPr>
        <p:txBody>
          <a:bodyPr wrap="none" lIns="0" tIns="0" rIns="0" bIns="0"/>
          <a:p>
            <a:pPr>
              <a:lnSpc>
                <a:spcPct val="135000"/>
              </a:lnSpc>
            </a:pPr>
            <a:r>
              <a:rPr lang="zh-CN" sz="788">
                <a:solidFill>
                  <a:srgbClr val="3A4050"/>
                </a:solidFill>
                <a:latin typeface="Microsoft YaHei"/>
                <a:ea typeface="Microsoft YaHei"/>
              </a:rPr>
              <a:t>核心标准：指标口径、主数据定义、代码标准</a:t>
            </a:r>
            <a:endParaRPr/>
          </a:p>
        </p:txBody>
      </p:sp>
      <p:sp>
        <p:nvSpPr>
          <p:cNvPr id="961" name="" descr="{&quot;isTemplate&quot;:true,&quot;type&quot;:&quot;text&quot;}"/>
          <p:cNvSpPr txBox="1"/>
          <p:nvPr/>
        </p:nvSpPr>
        <p:spPr>
          <a:xfrm rot="0" flipH="0" flipV="0">
            <a:off x="6248400" y="2381250"/>
            <a:ext cx="38100" cy="114300"/>
          </a:xfrm>
          <a:prstGeom prst="rect"/>
        </p:spPr>
        <p:txBody>
          <a:bodyPr wrap="none" lIns="0" tIns="0" rIns="0" bIns="0"/>
          <a:p>
            <a:pPr>
              <a:lnSpc>
                <a:spcPct val="100000"/>
              </a:lnSpc>
            </a:pPr>
            <a:r>
              <a:rPr sz="713" b="1">
                <a:solidFill>
                  <a:srgbClr val="D2531A"/>
                </a:solidFill>
                <a:latin typeface="Microsoft YaHei"/>
                <a:ea typeface="Microsoft YaHei"/>
              </a:rPr>
              <a:t>▪</a:t>
            </a:r>
            <a:endParaRPr/>
          </a:p>
        </p:txBody>
      </p:sp>
      <p:sp>
        <p:nvSpPr>
          <p:cNvPr id="962" name="" descr="{&quot;isTemplate&quot;:true,&quot;type&quot;:&quot;text&quot;}"/>
          <p:cNvSpPr txBox="1"/>
          <p:nvPr/>
        </p:nvSpPr>
        <p:spPr>
          <a:xfrm rot="0" flipH="0" flipV="0">
            <a:off x="6343650" y="2381250"/>
            <a:ext cx="2362200" cy="171450"/>
          </a:xfrm>
          <a:prstGeom prst="rect"/>
        </p:spPr>
        <p:txBody>
          <a:bodyPr wrap="none" lIns="0" tIns="0" rIns="0" bIns="0"/>
          <a:p>
            <a:pPr>
              <a:lnSpc>
                <a:spcPct val="135000"/>
              </a:lnSpc>
            </a:pPr>
            <a:r>
              <a:rPr lang="zh-CN" sz="788">
                <a:solidFill>
                  <a:srgbClr val="3A4050"/>
                </a:solidFill>
                <a:latin typeface="Microsoft YaHei"/>
                <a:ea typeface="Microsoft YaHei"/>
              </a:rPr>
              <a:t>每条标准标注适用业务域与生效范围</a:t>
            </a:r>
            <a:endParaRPr/>
          </a:p>
        </p:txBody>
      </p:sp>
      <p:sp>
        <p:nvSpPr>
          <p:cNvPr id="963" name="" descr="{&quot;isTemplate&quot;:true,&quot;type&quot;:&quot;text&quot;}"/>
          <p:cNvSpPr txBox="1"/>
          <p:nvPr/>
        </p:nvSpPr>
        <p:spPr>
          <a:xfrm rot="0" flipH="0" flipV="0">
            <a:off x="6248400" y="2676525"/>
            <a:ext cx="38100" cy="114300"/>
          </a:xfrm>
          <a:prstGeom prst="rect"/>
        </p:spPr>
        <p:txBody>
          <a:bodyPr wrap="none" lIns="0" tIns="0" rIns="0" bIns="0"/>
          <a:p>
            <a:pPr>
              <a:lnSpc>
                <a:spcPct val="100000"/>
              </a:lnSpc>
            </a:pPr>
            <a:r>
              <a:rPr sz="713" b="1">
                <a:solidFill>
                  <a:srgbClr val="D2531A"/>
                </a:solidFill>
                <a:latin typeface="Microsoft YaHei"/>
                <a:ea typeface="Microsoft YaHei"/>
              </a:rPr>
              <a:t>▪</a:t>
            </a:r>
            <a:endParaRPr/>
          </a:p>
        </p:txBody>
      </p:sp>
      <p:sp>
        <p:nvSpPr>
          <p:cNvPr id="964" name="" descr="{&quot;isTemplate&quot;:true,&quot;type&quot;:&quot;text&quot;}"/>
          <p:cNvSpPr txBox="1"/>
          <p:nvPr/>
        </p:nvSpPr>
        <p:spPr>
          <a:xfrm rot="0" flipH="0" flipV="0">
            <a:off x="6343650" y="2676525"/>
            <a:ext cx="2362200" cy="171450"/>
          </a:xfrm>
          <a:prstGeom prst="rect"/>
        </p:spPr>
        <p:txBody>
          <a:bodyPr wrap="none" lIns="0" tIns="0" rIns="0" bIns="0"/>
          <a:p>
            <a:pPr>
              <a:lnSpc>
                <a:spcPct val="135000"/>
              </a:lnSpc>
            </a:pPr>
            <a:r>
              <a:rPr lang="zh-CN" sz="788">
                <a:solidFill>
                  <a:srgbClr val="3A4050"/>
                </a:solidFill>
                <a:latin typeface="Microsoft YaHei"/>
                <a:ea typeface="Microsoft YaHei"/>
              </a:rPr>
              <a:t>冲突项单独列表，给裁定规则与裁定人</a:t>
            </a:r>
            <a:endParaRPr/>
          </a:p>
        </p:txBody>
      </p:sp>
      <p:sp>
        <p:nvSpPr>
          <p:cNvPr id="965" name=""/>
          <p:cNvSpPr/>
          <p:nvPr/>
        </p:nvSpPr>
        <p:spPr>
          <a:xfrm rot="0" flipH="0" flipV="0">
            <a:off x="6248400" y="2914650"/>
            <a:ext cx="2457450" cy="266700"/>
          </a:xfrm>
          <a:prstGeom prst="roundRect">
            <a:avLst>
              <a:gd name="adj" fmla="val 10714"/>
            </a:avLst>
          </a:prstGeom>
          <a:solidFill>
            <a:srgbClr val="D2531A"/>
          </a:solidFill>
          <a:ln/>
        </p:spPr>
        <p:txBody>
          <a:bodyPr/>
          <a:p/>
        </p:txBody>
      </p:sp>
      <p:sp>
        <p:nvSpPr>
          <p:cNvPr id="966" name="" descr="{&quot;isTemplate&quot;:true,&quot;type&quot;:&quot;text&quot;}"/>
          <p:cNvSpPr txBox="1"/>
          <p:nvPr/>
        </p:nvSpPr>
        <p:spPr>
          <a:xfrm rot="0" flipH="0" flipV="0">
            <a:off x="6343650" y="2990850"/>
            <a:ext cx="2266950" cy="123825"/>
          </a:xfrm>
          <a:prstGeom prst="rect"/>
        </p:spPr>
        <p:txBody>
          <a:bodyPr wrap="none" lIns="0" tIns="0" rIns="0" bIns="0"/>
          <a:p>
            <a:pPr>
              <a:lnSpc>
                <a:spcPct val="100000"/>
              </a:lnSpc>
            </a:pPr>
            <a:r>
              <a:rPr lang="zh-CN" sz="788" b="1">
                <a:solidFill>
                  <a:srgbClr val="FFFFFF"/>
                </a:solidFill>
                <a:latin typeface="Microsoft YaHei"/>
                <a:ea typeface="Microsoft YaHei"/>
              </a:rPr>
              <a:t>产出：数据标准集（含冲突裁定表）</a:t>
            </a:r>
            <a:endParaRPr/>
          </a:p>
        </p:txBody>
      </p:sp>
      <p:sp>
        <p:nvSpPr>
          <p:cNvPr id="967" name=""/>
          <p:cNvSpPr/>
          <p:nvPr/>
        </p:nvSpPr>
        <p:spPr>
          <a:xfrm rot="0" flipH="0" flipV="0">
            <a:off x="8886825" y="1276350"/>
            <a:ext cx="2695575" cy="2038350"/>
          </a:xfrm>
          <a:prstGeom prst="roundRect">
            <a:avLst>
              <a:gd name="adj" fmla="val 1869"/>
            </a:avLst>
          </a:prstGeom>
          <a:solidFill>
            <a:srgbClr val="F7F7F8"/>
          </a:solidFill>
          <a:ln/>
        </p:spPr>
        <p:txBody>
          <a:bodyPr/>
          <a:p/>
        </p:txBody>
      </p:sp>
      <p:sp>
        <p:nvSpPr>
          <p:cNvPr id="968" name=""/>
          <p:cNvSpPr/>
          <p:nvPr/>
        </p:nvSpPr>
        <p:spPr>
          <a:xfrm rot="0" flipH="0" flipV="0">
            <a:off x="8886825" y="1276350"/>
            <a:ext cx="2695575" cy="2038350"/>
          </a:xfrm>
          <a:custGeom>
            <a:pathLst>
              <a:path w="283" h="214">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C43A17"/>
          </a:solidFill>
          <a:ln/>
        </p:spPr>
        <p:txBody>
          <a:bodyPr/>
          <a:p/>
        </p:txBody>
      </p:sp>
      <p:sp>
        <p:nvSpPr>
          <p:cNvPr id="969" name="" descr="{&quot;isTemplate&quot;:true,&quot;type&quot;:&quot;text&quot;}"/>
          <p:cNvSpPr txBox="1"/>
          <p:nvPr/>
        </p:nvSpPr>
        <p:spPr>
          <a:xfrm rot="0" flipH="0" flipV="0">
            <a:off x="9001125" y="1381125"/>
            <a:ext cx="190500" cy="161925"/>
          </a:xfrm>
          <a:prstGeom prst="rect"/>
        </p:spPr>
        <p:txBody>
          <a:bodyPr wrap="none" lIns="0" tIns="0" rIns="0" bIns="0"/>
          <a:p>
            <a:pPr>
              <a:lnSpc>
                <a:spcPct val="100000"/>
              </a:lnSpc>
            </a:pPr>
            <a:r>
              <a:rPr lang="en-US" sz="1050" b="1">
                <a:solidFill>
                  <a:srgbClr val="C43A17"/>
                </a:solidFill>
                <a:latin typeface="Microsoft YaHei"/>
                <a:ea typeface="Microsoft YaHei"/>
              </a:rPr>
              <a:t>D4</a:t>
            </a:r>
            <a:endParaRPr/>
          </a:p>
        </p:txBody>
      </p:sp>
      <p:sp>
        <p:nvSpPr>
          <p:cNvPr id="970" name="" descr="{&quot;isTemplate&quot;:true,&quot;type&quot;:&quot;text&quot;}"/>
          <p:cNvSpPr txBox="1"/>
          <p:nvPr/>
        </p:nvSpPr>
        <p:spPr>
          <a:xfrm rot="0" flipH="0" flipV="0">
            <a:off x="9258300" y="1381125"/>
            <a:ext cx="2209800" cy="161925"/>
          </a:xfrm>
          <a:prstGeom prst="rect"/>
        </p:spPr>
        <p:txBody>
          <a:bodyPr wrap="none" lIns="0" tIns="0" rIns="0" bIns="0"/>
          <a:p>
            <a:pPr>
              <a:lnSpc>
                <a:spcPct val="100000"/>
              </a:lnSpc>
            </a:pPr>
            <a:r>
              <a:rPr lang="zh-CN" sz="1013" b="1">
                <a:solidFill>
                  <a:srgbClr val="0F1423"/>
                </a:solidFill>
                <a:latin typeface="Microsoft YaHei"/>
                <a:ea typeface="Microsoft YaHei"/>
              </a:rPr>
              <a:t>数据分布</a:t>
            </a:r>
            <a:endParaRPr/>
          </a:p>
        </p:txBody>
      </p:sp>
      <p:sp>
        <p:nvSpPr>
          <p:cNvPr id="971" name="" descr="{&quot;isTemplate&quot;:true,&quot;type&quot;:&quot;text&quot;}"/>
          <p:cNvSpPr txBox="1"/>
          <p:nvPr/>
        </p:nvSpPr>
        <p:spPr>
          <a:xfrm rot="0" flipH="0" flipV="0">
            <a:off x="9001125" y="1571625"/>
            <a:ext cx="2466975" cy="152400"/>
          </a:xfrm>
          <a:prstGeom prst="rect"/>
        </p:spPr>
        <p:txBody>
          <a:bodyPr wrap="none" lIns="0" tIns="0" rIns="0" bIns="0"/>
          <a:p>
            <a:pPr>
              <a:lnSpc>
                <a:spcPct val="130000"/>
              </a:lnSpc>
            </a:pPr>
            <a:r>
              <a:rPr lang="zh-CN" sz="750">
                <a:solidFill>
                  <a:srgbClr val="8A8F99"/>
                </a:solidFill>
                <a:latin typeface="Microsoft YaHei"/>
                <a:ea typeface="Microsoft YaHei"/>
              </a:rPr>
              <a:t>回答「放在哪、怎么取、怎么同步」</a:t>
            </a:r>
            <a:endParaRPr/>
          </a:p>
        </p:txBody>
      </p:sp>
      <p:sp>
        <p:nvSpPr>
          <p:cNvPr id="972" name="" descr="{&quot;isTemplate&quot;:true,&quot;type&quot;:&quot;text&quot;}"/>
          <p:cNvSpPr txBox="1"/>
          <p:nvPr/>
        </p:nvSpPr>
        <p:spPr>
          <a:xfrm rot="0" flipH="0" flipV="0">
            <a:off x="9001125" y="1800225"/>
            <a:ext cx="38100" cy="114300"/>
          </a:xfrm>
          <a:prstGeom prst="rect"/>
        </p:spPr>
        <p:txBody>
          <a:bodyPr wrap="none" lIns="0" tIns="0" rIns="0" bIns="0"/>
          <a:p>
            <a:pPr>
              <a:lnSpc>
                <a:spcPct val="100000"/>
              </a:lnSpc>
            </a:pPr>
            <a:r>
              <a:rPr sz="713" b="1">
                <a:solidFill>
                  <a:srgbClr val="C43A17"/>
                </a:solidFill>
                <a:latin typeface="Microsoft YaHei"/>
                <a:ea typeface="Microsoft YaHei"/>
              </a:rPr>
              <a:t>▪</a:t>
            </a:r>
            <a:endParaRPr/>
          </a:p>
        </p:txBody>
      </p:sp>
      <p:sp>
        <p:nvSpPr>
          <p:cNvPr id="973" name="" descr="{&quot;isTemplate&quot;:true,&quot;type&quot;:&quot;text&quot;}"/>
          <p:cNvSpPr txBox="1"/>
          <p:nvPr/>
        </p:nvSpPr>
        <p:spPr>
          <a:xfrm rot="0" flipH="0" flipV="0">
            <a:off x="9096375" y="180022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按应用域</a:t>
            </a:r>
            <a:r>
              <a:rPr lang="en-US" sz="788">
                <a:solidFill>
                  <a:srgbClr val="3A4050"/>
                </a:solidFill>
                <a:latin typeface="Microsoft YaHei"/>
                <a:ea typeface="Microsoft YaHei"/>
              </a:rPr>
              <a:t>/</a:t>
            </a:r>
            <a:r>
              <a:rPr lang="zh-CN" sz="788">
                <a:solidFill>
                  <a:srgbClr val="3A4050"/>
                </a:solidFill>
                <a:latin typeface="Microsoft YaHei"/>
                <a:ea typeface="Microsoft YaHei"/>
              </a:rPr>
              <a:t>系统标注实体落点，明确权威源唯一</a:t>
            </a:r>
            <a:endParaRPr/>
          </a:p>
        </p:txBody>
      </p:sp>
      <p:sp>
        <p:nvSpPr>
          <p:cNvPr id="974" name="" descr="{&quot;isTemplate&quot;:true,&quot;type&quot;:&quot;text&quot;}"/>
          <p:cNvSpPr txBox="1"/>
          <p:nvPr/>
        </p:nvSpPr>
        <p:spPr>
          <a:xfrm rot="0" flipH="0" flipV="0">
            <a:off x="9001125" y="2095500"/>
            <a:ext cx="38100" cy="114300"/>
          </a:xfrm>
          <a:prstGeom prst="rect"/>
        </p:spPr>
        <p:txBody>
          <a:bodyPr wrap="none" lIns="0" tIns="0" rIns="0" bIns="0"/>
          <a:p>
            <a:pPr>
              <a:lnSpc>
                <a:spcPct val="100000"/>
              </a:lnSpc>
            </a:pPr>
            <a:r>
              <a:rPr sz="713" b="1">
                <a:solidFill>
                  <a:srgbClr val="C43A17"/>
                </a:solidFill>
                <a:latin typeface="Microsoft YaHei"/>
                <a:ea typeface="Microsoft YaHei"/>
              </a:rPr>
              <a:t>▪</a:t>
            </a:r>
            <a:endParaRPr/>
          </a:p>
        </p:txBody>
      </p:sp>
      <p:sp>
        <p:nvSpPr>
          <p:cNvPr id="975" name="" descr="{&quot;isTemplate&quot;:true,&quot;type&quot;:&quot;text&quot;}"/>
          <p:cNvSpPr txBox="1"/>
          <p:nvPr/>
        </p:nvSpPr>
        <p:spPr>
          <a:xfrm rot="0" flipH="0" flipV="0">
            <a:off x="9096375" y="2095500"/>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集成路径：来源系统</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目标系统</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同步方式与频率</a:t>
            </a:r>
            <a:endParaRPr/>
          </a:p>
        </p:txBody>
      </p:sp>
      <p:sp>
        <p:nvSpPr>
          <p:cNvPr id="976" name="" descr="{&quot;isTemplate&quot;:true,&quot;type&quot;:&quot;text&quot;}"/>
          <p:cNvSpPr txBox="1"/>
          <p:nvPr/>
        </p:nvSpPr>
        <p:spPr>
          <a:xfrm rot="0" flipH="0" flipV="0">
            <a:off x="9001125" y="2381250"/>
            <a:ext cx="38100" cy="114300"/>
          </a:xfrm>
          <a:prstGeom prst="rect"/>
        </p:spPr>
        <p:txBody>
          <a:bodyPr wrap="none" lIns="0" tIns="0" rIns="0" bIns="0"/>
          <a:p>
            <a:pPr>
              <a:lnSpc>
                <a:spcPct val="100000"/>
              </a:lnSpc>
            </a:pPr>
            <a:r>
              <a:rPr sz="713" b="1">
                <a:solidFill>
                  <a:srgbClr val="C43A17"/>
                </a:solidFill>
                <a:latin typeface="Microsoft YaHei"/>
                <a:ea typeface="Microsoft YaHei"/>
              </a:rPr>
              <a:t>▪</a:t>
            </a:r>
            <a:endParaRPr/>
          </a:p>
        </p:txBody>
      </p:sp>
      <p:sp>
        <p:nvSpPr>
          <p:cNvPr id="977" name="" descr="{&quot;isTemplate&quot;:true,&quot;type&quot;:&quot;text&quot;}"/>
          <p:cNvSpPr txBox="1"/>
          <p:nvPr/>
        </p:nvSpPr>
        <p:spPr>
          <a:xfrm rot="0" flipH="0" flipV="0">
            <a:off x="9096375" y="2381250"/>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标注哪些是实时调用、哪些是批量、哪些仍是人工</a:t>
            </a:r>
            <a:endParaRPr/>
          </a:p>
        </p:txBody>
      </p:sp>
      <p:sp>
        <p:nvSpPr>
          <p:cNvPr id="978" name="" descr="{&quot;isTemplate&quot;:true,&quot;type&quot;:&quot;text&quot;}"/>
          <p:cNvSpPr txBox="1"/>
          <p:nvPr/>
        </p:nvSpPr>
        <p:spPr>
          <a:xfrm rot="0" flipH="0" flipV="0">
            <a:off x="9001125" y="2676525"/>
            <a:ext cx="38100" cy="114300"/>
          </a:xfrm>
          <a:prstGeom prst="rect"/>
        </p:spPr>
        <p:txBody>
          <a:bodyPr wrap="none" lIns="0" tIns="0" rIns="0" bIns="0"/>
          <a:p>
            <a:pPr>
              <a:lnSpc>
                <a:spcPct val="100000"/>
              </a:lnSpc>
            </a:pPr>
            <a:r>
              <a:rPr sz="713" b="1">
                <a:solidFill>
                  <a:srgbClr val="C43A17"/>
                </a:solidFill>
                <a:latin typeface="Microsoft YaHei"/>
                <a:ea typeface="Microsoft YaHei"/>
              </a:rPr>
              <a:t>▪</a:t>
            </a:r>
            <a:endParaRPr/>
          </a:p>
        </p:txBody>
      </p:sp>
      <p:sp>
        <p:nvSpPr>
          <p:cNvPr id="979" name="" descr="{&quot;isTemplate&quot;:true,&quot;type&quot;:&quot;text&quot;}"/>
          <p:cNvSpPr txBox="1"/>
          <p:nvPr/>
        </p:nvSpPr>
        <p:spPr>
          <a:xfrm rot="0" flipH="0" flipV="0">
            <a:off x="9096375" y="2676525"/>
            <a:ext cx="2371725" cy="171450"/>
          </a:xfrm>
          <a:prstGeom prst="rect"/>
        </p:spPr>
        <p:txBody>
          <a:bodyPr wrap="none" lIns="0" tIns="0" rIns="0" bIns="0"/>
          <a:p>
            <a:pPr>
              <a:lnSpc>
                <a:spcPct val="135000"/>
              </a:lnSpc>
            </a:pPr>
            <a:r>
              <a:rPr lang="zh-CN" sz="788">
                <a:solidFill>
                  <a:srgbClr val="3A4050"/>
                </a:solidFill>
                <a:latin typeface="Microsoft YaHei"/>
                <a:ea typeface="Microsoft YaHei"/>
              </a:rPr>
              <a:t>弱集成（人工</a:t>
            </a:r>
            <a:r>
              <a:rPr lang="en-US" sz="788">
                <a:solidFill>
                  <a:srgbClr val="3A4050"/>
                </a:solidFill>
                <a:latin typeface="Microsoft YaHei"/>
                <a:ea typeface="Microsoft YaHei"/>
              </a:rPr>
              <a:t>/</a:t>
            </a:r>
            <a:r>
              <a:rPr lang="zh-CN" sz="788">
                <a:solidFill>
                  <a:srgbClr val="3A4050"/>
                </a:solidFill>
                <a:latin typeface="Microsoft YaHei"/>
                <a:ea typeface="Microsoft YaHei"/>
              </a:rPr>
              <a:t>文件）逐条列出并给出目标态</a:t>
            </a:r>
            <a:endParaRPr/>
          </a:p>
        </p:txBody>
      </p:sp>
      <p:sp>
        <p:nvSpPr>
          <p:cNvPr id="980" name=""/>
          <p:cNvSpPr/>
          <p:nvPr/>
        </p:nvSpPr>
        <p:spPr>
          <a:xfrm rot="0" flipH="0" flipV="0">
            <a:off x="9001125" y="2914650"/>
            <a:ext cx="2466975" cy="266700"/>
          </a:xfrm>
          <a:prstGeom prst="roundRect">
            <a:avLst>
              <a:gd name="adj" fmla="val 10714"/>
            </a:avLst>
          </a:prstGeom>
          <a:solidFill>
            <a:srgbClr val="C43A17"/>
          </a:solidFill>
          <a:ln/>
        </p:spPr>
        <p:txBody>
          <a:bodyPr/>
          <a:p/>
        </p:txBody>
      </p:sp>
      <p:sp>
        <p:nvSpPr>
          <p:cNvPr id="981" name="" descr="{&quot;isTemplate&quot;:true,&quot;type&quot;:&quot;text&quot;}"/>
          <p:cNvSpPr txBox="1"/>
          <p:nvPr/>
        </p:nvSpPr>
        <p:spPr>
          <a:xfrm rot="0" flipH="0" flipV="0">
            <a:off x="9096375" y="2990850"/>
            <a:ext cx="2276475" cy="123825"/>
          </a:xfrm>
          <a:prstGeom prst="rect"/>
        </p:spPr>
        <p:txBody>
          <a:bodyPr wrap="none" lIns="0" tIns="0" rIns="0" bIns="0"/>
          <a:p>
            <a:pPr>
              <a:lnSpc>
                <a:spcPct val="100000"/>
              </a:lnSpc>
            </a:pPr>
            <a:r>
              <a:rPr lang="zh-CN" sz="788" b="1">
                <a:solidFill>
                  <a:srgbClr val="FFFFFF"/>
                </a:solidFill>
                <a:latin typeface="Microsoft YaHei"/>
                <a:ea typeface="Microsoft YaHei"/>
              </a:rPr>
              <a:t>产出：数据分布与集成路径图</a:t>
            </a:r>
            <a:endParaRPr/>
          </a:p>
        </p:txBody>
      </p:sp>
      <p:sp>
        <p:nvSpPr>
          <p:cNvPr id="982" name=""/>
          <p:cNvSpPr/>
          <p:nvPr/>
        </p:nvSpPr>
        <p:spPr>
          <a:xfrm rot="0" flipH="0" flipV="0">
            <a:off x="609600" y="3362325"/>
            <a:ext cx="4476750" cy="2295525"/>
          </a:xfrm>
          <a:prstGeom prst="roundRect">
            <a:avLst>
              <a:gd name="adj" fmla="val 1660"/>
            </a:avLst>
          </a:prstGeom>
          <a:solidFill>
            <a:srgbClr val="0F1423"/>
          </a:solidFill>
          <a:ln/>
        </p:spPr>
        <p:txBody>
          <a:bodyPr/>
          <a:p/>
        </p:txBody>
      </p:sp>
      <p:sp>
        <p:nvSpPr>
          <p:cNvPr id="983" name="" descr="{&quot;isTemplate&quot;:true,&quot;type&quot;:&quot;text&quot;}"/>
          <p:cNvSpPr txBox="1"/>
          <p:nvPr/>
        </p:nvSpPr>
        <p:spPr>
          <a:xfrm rot="0" flipH="0" flipV="0">
            <a:off x="762000" y="3486150"/>
            <a:ext cx="4171950" cy="142875"/>
          </a:xfrm>
          <a:prstGeom prst="rect"/>
        </p:spPr>
        <p:txBody>
          <a:bodyPr wrap="none" lIns="0" tIns="0" rIns="0" bIns="0"/>
          <a:p>
            <a:pPr>
              <a:lnSpc>
                <a:spcPct val="100000"/>
              </a:lnSpc>
            </a:pPr>
            <a:r>
              <a:rPr lang="zh-CN" sz="900" spc="75">
                <a:solidFill>
                  <a:srgbClr val="FBA15C"/>
                </a:solidFill>
                <a:latin typeface="Microsoft YaHei"/>
                <a:ea typeface="Microsoft YaHei"/>
              </a:rPr>
              <a:t>什么算「业务逻辑实体」（这一条最容易被做偏）</a:t>
            </a:r>
            <a:endParaRPr/>
          </a:p>
        </p:txBody>
      </p:sp>
      <p:sp>
        <p:nvSpPr>
          <p:cNvPr id="984" name=""/>
          <p:cNvSpPr/>
          <p:nvPr/>
        </p:nvSpPr>
        <p:spPr>
          <a:xfrm rot="0" flipH="0" flipV="0">
            <a:off x="762000" y="3724275"/>
            <a:ext cx="323850" cy="180975"/>
          </a:xfrm>
          <a:prstGeom prst="roundRect">
            <a:avLst>
              <a:gd name="adj" fmla="val 10526"/>
            </a:avLst>
          </a:prstGeom>
          <a:solidFill>
            <a:srgbClr val="FA4F24"/>
          </a:solidFill>
          <a:ln/>
        </p:spPr>
        <p:txBody>
          <a:bodyPr/>
          <a:p/>
        </p:txBody>
      </p:sp>
      <p:sp>
        <p:nvSpPr>
          <p:cNvPr id="985" name="" descr="{&quot;isTemplate&quot;:true,&quot;type&quot;:&quot;text&quot;}"/>
          <p:cNvSpPr txBox="1"/>
          <p:nvPr/>
        </p:nvSpPr>
        <p:spPr>
          <a:xfrm rot="0" flipH="0" flipV="0">
            <a:off x="876300" y="3762375"/>
            <a:ext cx="95250" cy="114300"/>
          </a:xfrm>
          <a:prstGeom prst="rect"/>
        </p:spPr>
        <p:txBody>
          <a:bodyPr wrap="none" lIns="0" tIns="0" rIns="0" bIns="0"/>
          <a:p>
            <a:pPr>
              <a:lnSpc>
                <a:spcPct val="100000"/>
              </a:lnSpc>
            </a:pPr>
            <a:r>
              <a:rPr lang="zh-CN" sz="750" b="1">
                <a:solidFill>
                  <a:srgbClr val="FFFFFF"/>
                </a:solidFill>
                <a:latin typeface="Microsoft YaHei"/>
                <a:ea typeface="Microsoft YaHei"/>
              </a:rPr>
              <a:t>算</a:t>
            </a:r>
            <a:endParaRPr/>
          </a:p>
        </p:txBody>
      </p:sp>
      <p:sp>
        <p:nvSpPr>
          <p:cNvPr id="986" name="" descr="{&quot;isTemplate&quot;:true,&quot;type&quot;:&quot;text&quot;}"/>
          <p:cNvSpPr txBox="1"/>
          <p:nvPr/>
        </p:nvSpPr>
        <p:spPr>
          <a:xfrm rot="0" flipH="0" flipV="0">
            <a:off x="1171575" y="3714750"/>
            <a:ext cx="3762375" cy="342900"/>
          </a:xfrm>
          <a:prstGeom prst="rect"/>
        </p:spPr>
        <p:txBody>
          <a:bodyPr wrap="square" lIns="0" tIns="0" rIns="0" bIns="0">
            <a:normAutofit/>
          </a:bodyPr>
          <a:p>
            <a:pPr>
              <a:lnSpc>
                <a:spcPct val="135000"/>
              </a:lnSpc>
            </a:pPr>
            <a:r>
              <a:rPr lang="zh-CN" sz="825">
                <a:solidFill>
                  <a:srgbClr val="FFFFFF">
                    <a:alpha val="88000"/>
                  </a:srgbClr>
                </a:solidFill>
                <a:latin typeface="Microsoft YaHei"/>
                <a:ea typeface="Microsoft YaHei"/>
              </a:rPr>
              <a:t>业务上能独立描述清楚、有唯一标识、能被流程引用的事物（电站、设备、工单、合同、供应商、物料）</a:t>
            </a:r>
            <a:endParaRPr/>
          </a:p>
        </p:txBody>
      </p:sp>
      <p:sp>
        <p:nvSpPr>
          <p:cNvPr id="987" name=""/>
          <p:cNvSpPr/>
          <p:nvPr/>
        </p:nvSpPr>
        <p:spPr>
          <a:xfrm rot="0" flipH="0" flipV="0">
            <a:off x="762000" y="4343400"/>
            <a:ext cx="323850" cy="180975"/>
          </a:xfrm>
          <a:prstGeom prst="roundRect">
            <a:avLst>
              <a:gd name="adj" fmla="val 10526"/>
            </a:avLst>
          </a:prstGeom>
          <a:solidFill>
            <a:srgbClr val="5A6070"/>
          </a:solidFill>
          <a:ln/>
        </p:spPr>
        <p:txBody>
          <a:bodyPr/>
          <a:p/>
        </p:txBody>
      </p:sp>
      <p:sp>
        <p:nvSpPr>
          <p:cNvPr id="988" name="" descr="{&quot;isTemplate&quot;:true,&quot;type&quot;:&quot;text&quot;}"/>
          <p:cNvSpPr txBox="1"/>
          <p:nvPr/>
        </p:nvSpPr>
        <p:spPr>
          <a:xfrm rot="0" flipH="0" flipV="0">
            <a:off x="828675" y="4381500"/>
            <a:ext cx="190500" cy="114300"/>
          </a:xfrm>
          <a:prstGeom prst="rect"/>
        </p:spPr>
        <p:txBody>
          <a:bodyPr wrap="none" lIns="0" tIns="0" rIns="0" bIns="0"/>
          <a:p>
            <a:pPr>
              <a:lnSpc>
                <a:spcPct val="100000"/>
              </a:lnSpc>
            </a:pPr>
            <a:r>
              <a:rPr lang="zh-CN" sz="750" b="1">
                <a:solidFill>
                  <a:srgbClr val="FFFFFF"/>
                </a:solidFill>
                <a:latin typeface="Microsoft YaHei"/>
                <a:ea typeface="Microsoft YaHei"/>
              </a:rPr>
              <a:t>不算</a:t>
            </a:r>
            <a:endParaRPr/>
          </a:p>
        </p:txBody>
      </p:sp>
      <p:sp>
        <p:nvSpPr>
          <p:cNvPr id="989" name="" descr="{&quot;isTemplate&quot;:true,&quot;type&quot;:&quot;text&quot;}"/>
          <p:cNvSpPr txBox="1"/>
          <p:nvPr/>
        </p:nvSpPr>
        <p:spPr>
          <a:xfrm rot="0" flipH="0" flipV="0">
            <a:off x="1171575" y="4333875"/>
            <a:ext cx="3762375" cy="342900"/>
          </a:xfrm>
          <a:prstGeom prst="rect"/>
        </p:spPr>
        <p:txBody>
          <a:bodyPr wrap="square" lIns="0" tIns="0" rIns="0" bIns="0">
            <a:normAutofit/>
          </a:bodyPr>
          <a:p>
            <a:pPr>
              <a:lnSpc>
                <a:spcPct val="135000"/>
              </a:lnSpc>
            </a:pPr>
            <a:r>
              <a:rPr lang="zh-CN" sz="825">
                <a:solidFill>
                  <a:srgbClr val="FFFFFF">
                    <a:alpha val="88000"/>
                  </a:srgbClr>
                </a:solidFill>
                <a:latin typeface="Microsoft YaHei"/>
                <a:ea typeface="Microsoft YaHei"/>
              </a:rPr>
              <a:t>数据库表、视图、接口报文的物理实现；也不停留在「资产」「项目」这类过粗的概念词</a:t>
            </a:r>
            <a:endParaRPr/>
          </a:p>
        </p:txBody>
      </p:sp>
      <p:sp>
        <p:nvSpPr>
          <p:cNvPr id="990" name=""/>
          <p:cNvSpPr/>
          <p:nvPr/>
        </p:nvSpPr>
        <p:spPr>
          <a:xfrm rot="0" flipH="0" flipV="0">
            <a:off x="762000" y="4962525"/>
            <a:ext cx="323850" cy="180975"/>
          </a:xfrm>
          <a:prstGeom prst="roundRect">
            <a:avLst>
              <a:gd name="adj" fmla="val 10526"/>
            </a:avLst>
          </a:prstGeom>
          <a:solidFill>
            <a:srgbClr val="FBA15C"/>
          </a:solidFill>
          <a:ln/>
        </p:spPr>
        <p:txBody>
          <a:bodyPr/>
          <a:p/>
        </p:txBody>
      </p:sp>
      <p:sp>
        <p:nvSpPr>
          <p:cNvPr id="991" name="" descr="{&quot;isTemplate&quot;:true,&quot;type&quot;:&quot;text&quot;}"/>
          <p:cNvSpPr txBox="1"/>
          <p:nvPr/>
        </p:nvSpPr>
        <p:spPr>
          <a:xfrm rot="0" flipH="0" flipV="0">
            <a:off x="828675" y="5000625"/>
            <a:ext cx="190500" cy="114300"/>
          </a:xfrm>
          <a:prstGeom prst="rect"/>
        </p:spPr>
        <p:txBody>
          <a:bodyPr wrap="none" lIns="0" tIns="0" rIns="0" bIns="0"/>
          <a:p>
            <a:pPr>
              <a:lnSpc>
                <a:spcPct val="100000"/>
              </a:lnSpc>
            </a:pPr>
            <a:r>
              <a:rPr lang="zh-CN" sz="750" b="1">
                <a:solidFill>
                  <a:srgbClr val="0F1423"/>
                </a:solidFill>
                <a:latin typeface="Microsoft YaHei"/>
                <a:ea typeface="Microsoft YaHei"/>
              </a:rPr>
              <a:t>标志</a:t>
            </a:r>
            <a:endParaRPr/>
          </a:p>
        </p:txBody>
      </p:sp>
      <p:sp>
        <p:nvSpPr>
          <p:cNvPr id="992" name="" descr="{&quot;isTemplate&quot;:true,&quot;type&quot;:&quot;text&quot;}"/>
          <p:cNvSpPr txBox="1"/>
          <p:nvPr/>
        </p:nvSpPr>
        <p:spPr>
          <a:xfrm rot="0" flipH="0" flipV="0">
            <a:off x="1171575" y="4953000"/>
            <a:ext cx="3762375" cy="342900"/>
          </a:xfrm>
          <a:prstGeom prst="rect"/>
        </p:spPr>
        <p:txBody>
          <a:bodyPr wrap="square" lIns="0" tIns="0" rIns="0" bIns="0">
            <a:normAutofit/>
          </a:bodyPr>
          <a:p>
            <a:pPr>
              <a:lnSpc>
                <a:spcPct val="135000"/>
              </a:lnSpc>
            </a:pPr>
            <a:r>
              <a:rPr lang="zh-CN" sz="825">
                <a:solidFill>
                  <a:srgbClr val="FFFFFF">
                    <a:alpha val="88000"/>
                  </a:srgbClr>
                </a:solidFill>
                <a:latin typeface="Microsoft YaHei"/>
                <a:ea typeface="Microsoft YaHei"/>
              </a:rPr>
              <a:t>实体名在业务部门之间能对上话——如果运营说不清「工单」和「缺陷单」的区别，这两个就该是两个实体</a:t>
            </a:r>
            <a:endParaRPr/>
          </a:p>
        </p:txBody>
      </p:sp>
      <p:sp>
        <p:nvSpPr>
          <p:cNvPr id="993" name=""/>
          <p:cNvSpPr/>
          <p:nvPr/>
        </p:nvSpPr>
        <p:spPr>
          <a:xfrm rot="0" flipH="0" flipV="0">
            <a:off x="5210175" y="3362325"/>
            <a:ext cx="6410325" cy="2295525"/>
          </a:xfrm>
          <a:prstGeom prst="roundRect">
            <a:avLst>
              <a:gd name="adj" fmla="val 1660"/>
            </a:avLst>
          </a:prstGeom>
          <a:solidFill>
            <a:srgbClr val="FFF3EE"/>
          </a:solidFill>
          <a:ln/>
        </p:spPr>
        <p:txBody>
          <a:bodyPr/>
          <a:p/>
        </p:txBody>
      </p:sp>
      <p:sp>
        <p:nvSpPr>
          <p:cNvPr id="994" name=""/>
          <p:cNvSpPr/>
          <p:nvPr/>
        </p:nvSpPr>
        <p:spPr>
          <a:xfrm rot="0" flipH="0" flipV="0">
            <a:off x="5210175" y="3362325"/>
            <a:ext cx="6410325" cy="2295525"/>
          </a:xfrm>
          <a:custGeom>
            <a:pathLst>
              <a:path w="673" h="241">
                <a:moveTo>
                  <a:pt x="4" y="241"/>
                </a:moveTo>
                <a:cubicBezTo>
                  <a:pt x="2" y="241"/>
                  <a:pt x="0" y="239"/>
                  <a:pt x="0" y="237"/>
                </a:cubicBezTo>
                <a:lnTo>
                  <a:pt x="0" y="4"/>
                </a:lnTo>
                <a:cubicBezTo>
                  <a:pt x="0" y="2"/>
                  <a:pt x="2" y="0"/>
                  <a:pt x="4" y="0"/>
                </a:cubicBezTo>
                <a:lnTo>
                  <a:pt x="4" y="241"/>
                </a:lnTo>
                <a:close/>
              </a:path>
            </a:pathLst>
          </a:custGeom>
          <a:solidFill>
            <a:srgbClr val="FA4F24"/>
          </a:solidFill>
          <a:ln/>
        </p:spPr>
        <p:txBody>
          <a:bodyPr/>
          <a:p/>
        </p:txBody>
      </p:sp>
      <p:sp>
        <p:nvSpPr>
          <p:cNvPr id="995" name="" descr="{&quot;isTemplate&quot;:true,&quot;type&quot;:&quot;text&quot;}"/>
          <p:cNvSpPr txBox="1"/>
          <p:nvPr/>
        </p:nvSpPr>
        <p:spPr>
          <a:xfrm rot="0" flipH="0" flipV="0">
            <a:off x="5362575" y="3962400"/>
            <a:ext cx="6067425" cy="142875"/>
          </a:xfrm>
          <a:prstGeom prst="rect"/>
        </p:spPr>
        <p:txBody>
          <a:bodyPr wrap="none" lIns="0" tIns="0" rIns="0" bIns="0"/>
          <a:p>
            <a:pPr>
              <a:lnSpc>
                <a:spcPct val="100000"/>
              </a:lnSpc>
            </a:pPr>
            <a:r>
              <a:rPr lang="zh-CN" sz="938" b="1">
                <a:solidFill>
                  <a:srgbClr val="C43A17"/>
                </a:solidFill>
                <a:latin typeface="Microsoft YaHei"/>
                <a:ea typeface="Microsoft YaHei"/>
              </a:rPr>
              <a:t>数据架构不是孤立画的，必须两条线拉通</a:t>
            </a:r>
            <a:endParaRPr/>
          </a:p>
        </p:txBody>
      </p:sp>
      <p:sp>
        <p:nvSpPr>
          <p:cNvPr id="996" name=""/>
          <p:cNvSpPr/>
          <p:nvPr/>
        </p:nvSpPr>
        <p:spPr>
          <a:xfrm rot="0" flipH="0" flipV="0">
            <a:off x="5362575" y="4181475"/>
            <a:ext cx="3000375" cy="628650"/>
          </a:xfrm>
          <a:prstGeom prst="roundRect">
            <a:avLst>
              <a:gd name="adj" fmla="val 4545"/>
            </a:avLst>
          </a:prstGeom>
          <a:solidFill>
            <a:srgbClr val="FFFFFF"/>
          </a:solidFill>
          <a:ln/>
        </p:spPr>
        <p:txBody>
          <a:bodyPr/>
          <a:p/>
        </p:txBody>
      </p:sp>
      <p:sp>
        <p:nvSpPr>
          <p:cNvPr id="997" name="" descr="{&quot;isTemplate&quot;:true,&quot;type&quot;:&quot;text&quot;}"/>
          <p:cNvSpPr txBox="1"/>
          <p:nvPr/>
        </p:nvSpPr>
        <p:spPr>
          <a:xfrm rot="0" flipH="0" flipV="0">
            <a:off x="5467350" y="4257675"/>
            <a:ext cx="2790825" cy="133350"/>
          </a:xfrm>
          <a:prstGeom prst="rect"/>
        </p:spPr>
        <p:txBody>
          <a:bodyPr wrap="none" lIns="0" tIns="0" rIns="0" bIns="0"/>
          <a:p>
            <a:pPr>
              <a:lnSpc>
                <a:spcPct val="100000"/>
              </a:lnSpc>
            </a:pPr>
            <a:r>
              <a:rPr lang="zh-CN" sz="825" b="1">
                <a:solidFill>
                  <a:srgbClr val="0F1423"/>
                </a:solidFill>
                <a:latin typeface="Microsoft YaHei"/>
                <a:ea typeface="Microsoft YaHei"/>
              </a:rPr>
              <a:t>向上拉通</a:t>
            </a:r>
            <a:r>
              <a:rPr lang="en-US" sz="825" b="1">
                <a:solidFill>
                  <a:srgbClr val="0F1423"/>
                </a:solidFill>
                <a:latin typeface="Microsoft YaHei"/>
                <a:ea typeface="Microsoft YaHei"/>
              </a:rPr>
              <a:t xml:space="preserve"> BA</a:t>
            </a:r>
            <a:endParaRPr/>
          </a:p>
        </p:txBody>
      </p:sp>
      <p:sp>
        <p:nvSpPr>
          <p:cNvPr id="998" name="" descr="{&quot;isTemplate&quot;:true,&quot;type&quot;:&quot;text&quot;}"/>
          <p:cNvSpPr txBox="1"/>
          <p:nvPr/>
        </p:nvSpPr>
        <p:spPr>
          <a:xfrm rot="0" flipH="0" flipV="0">
            <a:off x="5467350" y="4419600"/>
            <a:ext cx="2790825" cy="314325"/>
          </a:xfrm>
          <a:prstGeom prst="rect"/>
        </p:spPr>
        <p:txBody>
          <a:bodyPr wrap="square" lIns="0" tIns="0" rIns="0" bIns="0">
            <a:normAutofit/>
          </a:bodyPr>
          <a:p>
            <a:pPr>
              <a:lnSpc>
                <a:spcPct val="135000"/>
              </a:lnSpc>
            </a:pPr>
            <a:r>
              <a:rPr lang="zh-CN" sz="750">
                <a:solidFill>
                  <a:srgbClr val="5A6070"/>
                </a:solidFill>
                <a:latin typeface="Microsoft YaHei"/>
                <a:ea typeface="Microsoft YaHei"/>
              </a:rPr>
              <a:t>每个实体标注它服务哪几个</a:t>
            </a:r>
            <a:r>
              <a:rPr lang="en-US" sz="750">
                <a:solidFill>
                  <a:srgbClr val="5A6070"/>
                </a:solidFill>
                <a:latin typeface="Microsoft YaHei"/>
                <a:ea typeface="Microsoft YaHei"/>
              </a:rPr>
              <a:t xml:space="preserve"> L4 </a:t>
            </a:r>
            <a:r>
              <a:rPr lang="zh-CN" sz="750">
                <a:solidFill>
                  <a:srgbClr val="5A6070"/>
                </a:solidFill>
                <a:latin typeface="Microsoft YaHei"/>
                <a:ea typeface="Microsoft YaHei"/>
              </a:rPr>
              <a:t>子流程；每条</a:t>
            </a:r>
            <a:r>
              <a:rPr lang="en-US" sz="750">
                <a:solidFill>
                  <a:srgbClr val="5A6070"/>
                </a:solidFill>
                <a:latin typeface="Microsoft YaHei"/>
                <a:ea typeface="Microsoft YaHei"/>
              </a:rPr>
              <a:t xml:space="preserve"> L4 </a:t>
            </a:r>
            <a:r>
              <a:rPr lang="zh-CN" sz="750">
                <a:solidFill>
                  <a:srgbClr val="5A6070"/>
                </a:solidFill>
                <a:latin typeface="Microsoft YaHei"/>
                <a:ea typeface="Microsoft YaHei"/>
              </a:rPr>
              <a:t>标注它需要哪些实体才能跑通</a:t>
            </a:r>
            <a:endParaRPr/>
          </a:p>
        </p:txBody>
      </p:sp>
      <p:sp>
        <p:nvSpPr>
          <p:cNvPr id="999" name=""/>
          <p:cNvSpPr/>
          <p:nvPr/>
        </p:nvSpPr>
        <p:spPr>
          <a:xfrm rot="0" flipH="0" flipV="0">
            <a:off x="8439150" y="4181475"/>
            <a:ext cx="2990850" cy="628650"/>
          </a:xfrm>
          <a:prstGeom prst="roundRect">
            <a:avLst>
              <a:gd name="adj" fmla="val 4545"/>
            </a:avLst>
          </a:prstGeom>
          <a:solidFill>
            <a:srgbClr val="FFFFFF"/>
          </a:solidFill>
          <a:ln/>
        </p:spPr>
        <p:txBody>
          <a:bodyPr/>
          <a:p/>
        </p:txBody>
      </p:sp>
      <p:sp>
        <p:nvSpPr>
          <p:cNvPr id="1000" name="" descr="{&quot;isTemplate&quot;:true,&quot;type&quot;:&quot;text&quot;}"/>
          <p:cNvSpPr txBox="1"/>
          <p:nvPr/>
        </p:nvSpPr>
        <p:spPr>
          <a:xfrm rot="0" flipH="0" flipV="0">
            <a:off x="8543925" y="4257675"/>
            <a:ext cx="2781300" cy="133350"/>
          </a:xfrm>
          <a:prstGeom prst="rect"/>
        </p:spPr>
        <p:txBody>
          <a:bodyPr wrap="none" lIns="0" tIns="0" rIns="0" bIns="0"/>
          <a:p>
            <a:pPr>
              <a:lnSpc>
                <a:spcPct val="100000"/>
              </a:lnSpc>
            </a:pPr>
            <a:r>
              <a:rPr lang="zh-CN" sz="825" b="1">
                <a:solidFill>
                  <a:srgbClr val="0F1423"/>
                </a:solidFill>
                <a:latin typeface="Microsoft YaHei"/>
                <a:ea typeface="Microsoft YaHei"/>
              </a:rPr>
              <a:t>向下拉通</a:t>
            </a:r>
            <a:r>
              <a:rPr lang="en-US" sz="825" b="1">
                <a:solidFill>
                  <a:srgbClr val="0F1423"/>
                </a:solidFill>
                <a:latin typeface="Microsoft YaHei"/>
                <a:ea typeface="Microsoft YaHei"/>
              </a:rPr>
              <a:t xml:space="preserve"> AA</a:t>
            </a:r>
            <a:endParaRPr/>
          </a:p>
        </p:txBody>
      </p:sp>
      <p:sp>
        <p:nvSpPr>
          <p:cNvPr id="1001" name="" descr="{&quot;isTemplate&quot;:true,&quot;type&quot;:&quot;text&quot;}"/>
          <p:cNvSpPr txBox="1"/>
          <p:nvPr/>
        </p:nvSpPr>
        <p:spPr>
          <a:xfrm rot="0" flipH="0" flipV="0">
            <a:off x="8543925" y="4419600"/>
            <a:ext cx="2781300" cy="314325"/>
          </a:xfrm>
          <a:prstGeom prst="rect"/>
        </p:spPr>
        <p:txBody>
          <a:bodyPr wrap="square" lIns="0" tIns="0" rIns="0" bIns="0">
            <a:normAutofit/>
          </a:bodyPr>
          <a:p>
            <a:pPr>
              <a:lnSpc>
                <a:spcPct val="135000"/>
              </a:lnSpc>
            </a:pPr>
            <a:r>
              <a:rPr lang="zh-CN" sz="750">
                <a:solidFill>
                  <a:srgbClr val="5A6070"/>
                </a:solidFill>
                <a:latin typeface="Microsoft YaHei"/>
                <a:ea typeface="Microsoft YaHei"/>
              </a:rPr>
              <a:t>每个实体标注落点系统与集成方式；数据分布不做，集成架构就是空的</a:t>
            </a:r>
            <a:endParaRPr/>
          </a:p>
        </p:txBody>
      </p:sp>
      <p:sp>
        <p:nvSpPr>
          <p:cNvPr id="1002" name="" descr="{&quot;isTemplate&quot;:true,&quot;type&quot;:&quot;text&quot;}"/>
          <p:cNvSpPr txBox="1"/>
          <p:nvPr/>
        </p:nvSpPr>
        <p:spPr>
          <a:xfrm rot="0" flipH="0" flipV="0">
            <a:off x="5362575" y="4886325"/>
            <a:ext cx="6067425" cy="171450"/>
          </a:xfrm>
          <a:prstGeom prst="rect"/>
        </p:spPr>
        <p:txBody>
          <a:bodyPr wrap="none" lIns="0" tIns="0" rIns="0" bIns="0"/>
          <a:p>
            <a:pPr>
              <a:lnSpc>
                <a:spcPct val="140000"/>
              </a:lnSpc>
            </a:pPr>
            <a:r>
              <a:rPr lang="zh-CN" sz="788">
                <a:solidFill>
                  <a:srgbClr val="C43A17"/>
                </a:solidFill>
                <a:latin typeface="Microsoft YaHei"/>
                <a:ea typeface="Microsoft YaHei"/>
              </a:rPr>
              <a:t>验收动作：随便抽一个</a:t>
            </a:r>
            <a:r>
              <a:rPr lang="en-US" sz="788">
                <a:solidFill>
                  <a:srgbClr val="C43A17"/>
                </a:solidFill>
                <a:latin typeface="Microsoft YaHei"/>
                <a:ea typeface="Microsoft YaHei"/>
              </a:rPr>
              <a:t xml:space="preserve"> L4 </a:t>
            </a:r>
            <a:r>
              <a:rPr lang="zh-CN" sz="788">
                <a:solidFill>
                  <a:srgbClr val="C43A17"/>
                </a:solidFill>
                <a:latin typeface="Microsoft YaHei"/>
                <a:ea typeface="Microsoft YaHei"/>
              </a:rPr>
              <a:t>子流程，问「它跑通需要哪几个实体、这几个实体分别在哪」。答不上来，说明数据架构没和业务架构拉通。</a:t>
            </a:r>
            <a:endParaRPr/>
          </a:p>
        </p:txBody>
      </p:sp>
      <p:sp>
        <p:nvSpPr>
          <p:cNvPr id="1003" name=""/>
          <p:cNvSpPr/>
          <p:nvPr/>
        </p:nvSpPr>
        <p:spPr>
          <a:xfrm rot="0" flipH="0" flipV="0">
            <a:off x="609600" y="5943600"/>
            <a:ext cx="133350" cy="133350"/>
          </a:xfrm>
          <a:prstGeom prst="rect">
            <a:avLst/>
          </a:prstGeom>
          <a:solidFill>
            <a:srgbClr val="FA4F24"/>
          </a:solidFill>
          <a:ln/>
        </p:spPr>
        <p:txBody>
          <a:bodyPr/>
          <a:p/>
        </p:txBody>
      </p:sp>
      <p:sp>
        <p:nvSpPr>
          <p:cNvPr id="1004"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00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23 / 36</a:t>
            </a:r>
            <a:endParaRPr/>
          </a:p>
        </p:txBody>
      </p:sp>
    </p:spTree>
  </p:cSld>
</p:sld>
</file>

<file path=ppt/slides/slide24.xml><?xml version="1.0" encoding="utf-8"?>
<p:sld xmlns:p="http://schemas.openxmlformats.org/presentationml/2006/main" xmlns:a="http://schemas.openxmlformats.org/drawingml/2006/main">
  <p:cSld>
    <p:spTree>
      <p:nvGrpSpPr>
        <p:cNvPr id="1006" name="" descr="&lt;Slide style={{ width: 1280, height: 720, background: '#FFFFFF', padding: '24px 64px 0' }}&gt;&#13;&#10;    {/* A 区 */}&#13;&#10;    &lt;Box style={{ height: 96, flexDirection: 'column', justifyContent: 'flex-start' }}&gt;&#13;&#10;        &lt;Text style={{ fontSize: 32, fontWeight: 'bold', color: '#0F1423' }}&gt;&#13;&#10;            应用蓝图：&lt;span style={{ color: '#FA4F24' }}&gt;分域分层&lt;/span&gt; + 集成架构，到功能模块&#13;&#10;        &lt;/Text&gt;&#13;&#10;        &lt;Text style={{ fontSize: 19, color: '#8A8F99', marginTop: 7 }}&gt;&#13;&#10;            招标 3.3.2 三条要求：应用域划分与功能分布、集成架构（方式/协议/流转/调用）、颗粒度到功能模块&#13;&#10;        &lt;/Text&gt;&#13;&#10;    &lt;/Box&gt;&#13;&#10;    &lt;Box style={{ height: 1, background: '#E8E8E8' }} /&gt;&#13;&#10;&#13;&#10;    {/* B 区 */}&#13;&#10;    &lt;Box style={{ paddingTop: 10, paddingBottom: 6, height: 479, flexDirection: 'column', gap: 8 }}&gt;&#13;&#10;        {/* 上：分层 */}&#13;&#10;        &lt;Box style={{ height: 22, flexDirection: 'row', alignItems: 'center', gap: 8 }}&gt;&#13;&#10;            &lt;Box style={{ width: 4, height: 16, background: '#FA4F24' }} /&gt;&#13;&#10;            &lt;Text style={{ fontSize: 13.5, fontWeight: 'bold', color: '#0F1423' }}&gt;① 应用分域分层：三个应用域 + 三层能力&lt;/Text&gt;&#13;&#10;        &lt;/Box&gt;&#13;&#10;        &lt;Box style={{ height: 210, flexDirection: 'row', gap: 8, alignItems: 'stretch' }}&gt;&#13;&#10;            {[&#13;&#10;                {&#13;&#10;                    t: '运营支撑域', c: '#FA4F24', d: 'E3 运营运维 + E4 交易',&#13;&#10;                    mods: ['资产台账', '缺陷工单', '检修计划', '两票与安全', '交易申报', '结算对账'],&#13;&#10;                },&#13;&#10;                {&#13;&#10;                    t: '项目交付域', c: '#E0641E', d: 'E1 开发与投资 + E2 建设 + E5 四算',&#13;&#10;                    mods: ['项目立项', '可研测算', '设计管理', '进度成本', '采购履行', '四算管理'],&#13;&#10;                },&#13;&#10;                {&#13;&#10;                    t: '产品制造域', c: '#C43A17', d: 'S1 采购协同 + S2 转化',&#13;&#10;                    mods: ['供应商管理', '寻源比价', 'EBOM 管理', '转换规则库', '到货检验'],&#13;&#10;                },&#13;&#10;            ].map((x) =&gt; (&#13;&#10;                &lt;Box key={x.t} style={{ flex: 1, background: '#F7F7F8', borderRadius: 4, borderTop: '3px solid ' + x.c, padding: '11px 13px', flexDirection: 'column' }}&gt;&#13;&#10;                    &lt;Text style={{ fontSize: 14, fontWeight: 'bold', color: x.c }}&gt;{x.t}&lt;/Text&gt;&#13;&#10;                    &lt;Text style={{ fontSize: 10, color: '#8A8F99', marginTop: 3 }}&gt;{x.d}&lt;/Text&gt;&#13;&#10;                    &lt;Box style={{ flex: 1, flexDirection: 'column', gap: 4, marginTop: 8 }}&gt;&#13;&#10;                        {x.mods.map((m) =&gt; (&#13;&#10;                            &lt;Box key={m} style={{ background: '#FFFFFF', borderRadius: 3, padding: '0 9px', flex: 1, flexDirection: 'row', alignItems: 'center', border: '1px solid #E8E8E8', minHeight: 0 }}&gt;&#13;&#10;                                &lt;Text style={{ fontSize: 10.5, color: '#3A4050' }}&gt;功能模块 · {m}&lt;/Text&gt;&#13;&#10;                            &lt;/Box&gt;&#13;&#10;                        ))}&#13;&#10;                    &lt;/Box&gt;&#13;&#10;                &lt;/Box&gt;&#13;&#10;            ))}&#13;&#10;            &lt;Box style={{ width: 268, background: '#0F1423', borderRadius: 4, padding: '12px 14px', flexDirection: 'column' }}&gt;&#13;&#10;                &lt;Text style={{ fontSize: 12, color: '#FBA15C', letterSpacing: 1 }}&gt;三层能力划分&lt;/Text&gt;&#13;&#10;                {[&#13;&#10;                    { l: 'L1 业务应用层', v: '面向岗位的应用，功能模块所在层' },&#13;&#10;                    { l: 'L2 共享能力层', v: '主数据、台账、规则、流程引擎' },&#13;&#10;                    { l: 'L3 集成与数据层', v: '接口网关、消息、数据交换' },&#13;&#10;                ].map((x, i) =&gt; (&#13;&#10;                    &lt;Box key={x.l} style={{ background: 'rgba(255,255,255,0.08)', borderRadius: 3, padding: '0 10px', marginTop: i === 0 ? 8 : 5, flex: 1, flexDirection: 'column', justifyContent: 'center' }}&gt;&#13;&#10;                        &lt;Text style={{ fontSize: 11.5, fontWeight: 'bold', color: '#FFFFFF' }}&gt;{x.l}&lt;/Text&gt;&#13;&#10;                        &lt;Text style={{ fontSize: 10, color: 'rgba(255,255,255,0.8)', lineHeight: 1.3, marginTop: 2 }}&gt;{x.v}&lt;/Text&gt;&#13;&#10;                    &lt;/Box&gt;&#13;&#10;                ))}&#13;&#10;                &lt;Box style={{ background: 'rgba(250,79,36,0.18)', borderRadius: 3, padding: '7px 10px', marginTop: 7, flexDirection: 'column' }}&gt;&#13;&#10;                    &lt;Text style={{ fontSize: 10.5, color: '#FBA15C', lineHeight: 1.35 }}&gt;&#13;&#10;                        跨域共享能力只建一次&#13;&#10;                    &lt;/Text&gt;&#13;&#10;                &lt;/Box&gt;&#13;&#10;            &lt;/Box&gt;&#13;&#10;        &lt;/Box&gt;&#13;&#10;&#13;&#10;        {/* 中：集成架构四要素 */}&#13;&#10;        &lt;Box style={{ flex: 1, flexDirection: 'row', gap: 8, alignItems: 'stretch' }}&gt;&#13;&#10;            &lt;Box style={{ width: 690, background: '#F7F7F8', borderRadius: 4, padding: '11px 14px', flexDirection: 'column' }}&gt;&#13;&#10;                &lt;Text style={{ fontSize: 12.5, fontWeight: 'bold', color: '#0F1423' }}&gt;② 应用集成架构四要素（逐对列明，不允许留空）&lt;/Text&gt;&#13;&#10;                &lt;Box style={{ flex: 1, flexDirection: 'column', gap: 4, marginTop: 7 }}&gt;&#13;&#10;                    {[&#13;&#10;                        { a: '集成方式', v: '实时同步 / 批量 / 消息 / 文件 / 人工——目标态不允许「人工」' },&#13;&#10;                        { a: '集成协议', v: 'API / 消息队列 / 数据库视图 / 文件格式，逐条定' },&#13;&#10;                        { a: '数据流转', v: '来源系统 → 目标系统 → 传哪些实体 → 同步频率与延迟要求' },&#13;&#10;                        { a: '服务调用', v: '跨应用调用的服务清单、调用方向、超时与重试策略' },&#13;&#10;                    ].map((x) =&gt; (&#13;&#10;                        &lt;Box key={x.a} style={{ flex: 1, background: '#FFFFFF', borderRadius: 3, padding: '0 11px', flexDirection: 'row', alignItems: 'center', gap: 10, border: '1px solid #E8E8E8' }}&gt;&#13;&#10;                            &lt;Box style={{ width: 78, height: 20, borderRadius: 2, background: '#FA4F24', alignItems: 'center', justifyContent: 'center', flexDirection: 'row' }}&gt;&#13;&#10;                                &lt;Text style={{ fontSize: 10.5, fontWeight: 'bold', color: '#FFFFFF' }}&gt;{x.a}&lt;/Text&gt;&#13;&#10;                            &lt;/Box&gt;&#13;&#10;                            &lt;Text style={{ fontSize: 10.5, color: '#3A4050', flex: 1, lineHeight: 1.35 }}&gt;{x.v}&lt;/Text&gt;&#13;&#10;                        &lt;/Box&gt;&#13;&#10;                    ))}&#13;&#10;                &lt;/Box&gt;&#13;&#10;            &lt;/Box&gt;&#13;&#10;            &lt;Box style={{ flex: 1, background: '#FFF3EE', borderRadius: 4, borderLeft: '4px solid #FA4F24', padding: '12px 15px', flexDirection: 'column', justifyContent: 'center' }}&gt;&#13;&#10;                &lt;Text style={{ fontSize: 12.5, fontWeight: 'bold', color: '#C43A17' }}&gt;功能模块级设计：三条判据&lt;/Text&gt;&#13;&#10;                {[&#13;&#10;                    '模块名与业务语言一致：叫「缺陷工单」不要叫「问题处理」，叫「检修计划」不要叫「维护管理」',&#13;&#10;                    '每个模块标注它支撑哪几条 L4、依赖哪些逻辑实体',&#13;&#10;                    '模块边界即应用边界：两个模块要共享同一份主数据，就必须放同一个应用',&#13;&#10;                ].map((t, i) =&gt; (&#13;&#10;                    &lt;Box key={t} style={{ flexDirection: 'row', alignItems: 'flex-start', gap: 8, flex: 1, marginTop: i === 0 ? 6 : 3 }}&gt;&#13;&#10;                        &lt;Text style={{ fontSize: 10, color: '#FA4F24', fontWeight: 'bold' }}&gt;▪&lt;/Text&gt;&#13;&#10;                        &lt;Text style={{ fontSize: 11, color: '#3A4050', flex: 1, lineHeight: 1.4 }}&gt;{t}&lt;/Text&gt;&#13;&#10;                    &lt;/Box&gt;&#13;&#10;                ))}&#13;&#10;                &lt;Text style={{ fontSize: 11, fontWeight: 'bold', color: '#C43A17', marginTop: 7, lineHeight: 1.35 }}&gt;&#13;&#10;                    颗粒度到功能模块，不下到页面。页面级设计属于系统实现阶段，放进咨询会越界。&#13;&#10;                &lt;/Text&gt;&#13;&#10;            &lt;/Box&gt;&#13;&#10;        &lt;/Box&gt;&#13;&#10;&#13;&#10;        {/* 下 */}&#13;&#10;        &lt;Box style={{ height: 30, flexDirection: 'row', gap: 7 }}&gt;&#13;&#10;            {[&#13;&#10;                { k: '演进路径要写', v: '现状 → 目标态分几步、每步投入多少', c: '#FA4F24', dark: true },&#13;&#10;                { k: '不拆现有系统', v: '蓝图不预设推倒重来，只给演进路径与替换顺序', c: '#E0641E', dark: false },&#13;&#10;                { k: '集成债要销账', v: '阶段一列的弱集成，逐条给出目标处理方式', c: '#C43A17', dark: false },&#13;&#10;            ].map((x) =&gt; (&#13;&#10;                &lt;Box key={x.k} style={{ flex: 1, background: x.dark ? '#0F1423' : '#F7F7F8', borderLeft: '4px solid ' + x.c, borderRadius: 3, padding: '0 12px', flexDirection: 'row', alignItems: 'center', gap: 8 }}&gt;&#13;&#10;                    &lt;Text style={{ fontSize: 11.5, fontWeight: 'bold', color: x.dark ? '#FBA15C' : '#0F1423' }}&gt;{x.k}&lt;/Text&gt;&#13;&#10;                    &lt;Text style={{ fontSize: 10, color: x.dark ? 'rgba(255,255,255,0.86)' : '#5A6070', flex: 1, lineHeight: 1.3 }}&gt;{x.v}&lt;/Text&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24 / 36&lt;/Text&gt;&#13;&#10;    &lt;/Box&gt;&#13;&#10;&lt;/Slide&gt;&#13;&#10;"/>
        <p:cNvGrpSpPr/>
        <p:nvPr/>
      </p:nvGrpSpPr>
      <p:grpSpPr>
        <a:xfrm>
          <a:off x="0" y="0"/>
          <a:ext cx="0" cy="0"/>
          <a:chOff x="0" y="0"/>
          <a:chExt cx="0" cy="0"/>
        </a:xfrm>
      </p:grpSpPr>
      <p:sp>
        <p:nvSpPr>
          <p:cNvPr id="1007" name=""/>
          <p:cNvSpPr/>
          <p:nvPr/>
        </p:nvSpPr>
        <p:spPr>
          <a:xfrm rot="0" flipH="0" flipV="0">
            <a:off x="0" y="0"/>
            <a:ext cx="12192000" cy="6858000"/>
          </a:xfrm>
          <a:prstGeom prst="rect">
            <a:avLst/>
          </a:prstGeom>
          <a:solidFill>
            <a:srgbClr val="FFFFFF"/>
          </a:solidFill>
          <a:ln/>
        </p:spPr>
        <p:txBody>
          <a:bodyPr/>
          <a:p/>
        </p:txBody>
      </p:sp>
      <p:sp>
        <p:nvSpPr>
          <p:cNvPr id="100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应用蓝图：</a:t>
            </a:r>
            <a:r>
              <a:rPr lang="zh-CN" sz="2400" b="1">
                <a:solidFill>
                  <a:srgbClr val="FA4F24"/>
                </a:solidFill>
                <a:latin typeface="Microsoft YaHei"/>
                <a:ea typeface="Microsoft YaHei"/>
              </a:rPr>
              <a:t>分域分层</a:t>
            </a:r>
            <a:r>
              <a:rPr lang="en-US" sz="2400" b="1">
                <a:solidFill>
                  <a:srgbClr val="0F1423"/>
                </a:solidFill>
                <a:latin typeface="Microsoft YaHei"/>
                <a:ea typeface="Microsoft YaHei"/>
              </a:rPr>
              <a:t xml:space="preserve"> + </a:t>
            </a:r>
            <a:r>
              <a:rPr lang="zh-CN" sz="2400" b="1">
                <a:solidFill>
                  <a:srgbClr val="0F1423"/>
                </a:solidFill>
                <a:latin typeface="Microsoft YaHei"/>
                <a:ea typeface="Microsoft YaHei"/>
              </a:rPr>
              <a:t>集成架构，到功能模块</a:t>
            </a:r>
            <a:endParaRPr/>
          </a:p>
        </p:txBody>
      </p:sp>
      <p:sp>
        <p:nvSpPr>
          <p:cNvPr id="1009"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3.3.2 </a:t>
            </a:r>
            <a:r>
              <a:rPr lang="zh-CN" sz="1425">
                <a:solidFill>
                  <a:srgbClr val="8A8F99"/>
                </a:solidFill>
                <a:latin typeface="Microsoft YaHei"/>
                <a:ea typeface="Microsoft YaHei"/>
              </a:rPr>
              <a:t>三条要求：应用域划分与功能分布、集成架构（方式</a:t>
            </a:r>
            <a:r>
              <a:rPr lang="en-US" sz="1425">
                <a:solidFill>
                  <a:srgbClr val="8A8F99"/>
                </a:solidFill>
                <a:latin typeface="Microsoft YaHei"/>
                <a:ea typeface="Microsoft YaHei"/>
              </a:rPr>
              <a:t>/</a:t>
            </a:r>
            <a:r>
              <a:rPr lang="zh-CN" sz="1425">
                <a:solidFill>
                  <a:srgbClr val="8A8F99"/>
                </a:solidFill>
                <a:latin typeface="Microsoft YaHei"/>
                <a:ea typeface="Microsoft YaHei"/>
              </a:rPr>
              <a:t>协议</a:t>
            </a:r>
            <a:r>
              <a:rPr lang="en-US" sz="1425">
                <a:solidFill>
                  <a:srgbClr val="8A8F99"/>
                </a:solidFill>
                <a:latin typeface="Microsoft YaHei"/>
                <a:ea typeface="Microsoft YaHei"/>
              </a:rPr>
              <a:t>/</a:t>
            </a:r>
            <a:r>
              <a:rPr lang="zh-CN" sz="1425">
                <a:solidFill>
                  <a:srgbClr val="8A8F99"/>
                </a:solidFill>
                <a:latin typeface="Microsoft YaHei"/>
                <a:ea typeface="Microsoft YaHei"/>
              </a:rPr>
              <a:t>流转</a:t>
            </a:r>
            <a:r>
              <a:rPr lang="en-US" sz="1425">
                <a:solidFill>
                  <a:srgbClr val="8A8F99"/>
                </a:solidFill>
                <a:latin typeface="Microsoft YaHei"/>
                <a:ea typeface="Microsoft YaHei"/>
              </a:rPr>
              <a:t>/</a:t>
            </a:r>
            <a:r>
              <a:rPr lang="zh-CN" sz="1425">
                <a:solidFill>
                  <a:srgbClr val="8A8F99"/>
                </a:solidFill>
                <a:latin typeface="Microsoft YaHei"/>
                <a:ea typeface="Microsoft YaHei"/>
              </a:rPr>
              <a:t>调用）、颗粒度到功能模块</a:t>
            </a:r>
            <a:endParaRPr/>
          </a:p>
        </p:txBody>
      </p:sp>
      <p:sp>
        <p:nvSpPr>
          <p:cNvPr id="1010" name=""/>
          <p:cNvSpPr/>
          <p:nvPr/>
        </p:nvSpPr>
        <p:spPr>
          <a:xfrm rot="0" flipH="0" flipV="0">
            <a:off x="609600" y="1143000"/>
            <a:ext cx="10972800" cy="9525"/>
          </a:xfrm>
          <a:prstGeom prst="rect">
            <a:avLst/>
          </a:prstGeom>
          <a:solidFill>
            <a:srgbClr val="E8E8E8"/>
          </a:solidFill>
          <a:ln/>
        </p:spPr>
        <p:txBody>
          <a:bodyPr/>
          <a:p/>
        </p:txBody>
      </p:sp>
      <p:sp>
        <p:nvSpPr>
          <p:cNvPr id="1011" name=""/>
          <p:cNvSpPr/>
          <p:nvPr/>
        </p:nvSpPr>
        <p:spPr>
          <a:xfrm rot="0" flipH="0" flipV="0">
            <a:off x="609600" y="1276350"/>
            <a:ext cx="38100" cy="152400"/>
          </a:xfrm>
          <a:prstGeom prst="rect">
            <a:avLst/>
          </a:prstGeom>
          <a:solidFill>
            <a:srgbClr val="FA4F24"/>
          </a:solidFill>
          <a:ln/>
        </p:spPr>
        <p:txBody>
          <a:bodyPr/>
          <a:p/>
        </p:txBody>
      </p:sp>
      <p:sp>
        <p:nvSpPr>
          <p:cNvPr id="1012" name="" descr="{&quot;isTemplate&quot;:true,&quot;type&quot;:&quot;text&quot;}"/>
          <p:cNvSpPr txBox="1"/>
          <p:nvPr/>
        </p:nvSpPr>
        <p:spPr>
          <a:xfrm rot="0" flipH="0" flipV="0">
            <a:off x="723900" y="1276350"/>
            <a:ext cx="2400300" cy="161925"/>
          </a:xfrm>
          <a:prstGeom prst="rect"/>
        </p:spPr>
        <p:txBody>
          <a:bodyPr wrap="none" lIns="0" tIns="0" rIns="0" bIns="0"/>
          <a:p>
            <a:pPr>
              <a:lnSpc>
                <a:spcPct val="100000"/>
              </a:lnSpc>
            </a:pPr>
            <a:r>
              <a:rPr lang="en-US" sz="1013" b="1">
                <a:solidFill>
                  <a:srgbClr val="0F1423"/>
                </a:solidFill>
                <a:latin typeface="Microsoft YaHei"/>
                <a:ea typeface="Microsoft YaHei"/>
              </a:rPr>
              <a:t xml:space="preserve">① </a:t>
            </a:r>
            <a:r>
              <a:rPr lang="zh-CN" sz="1013" b="1">
                <a:solidFill>
                  <a:srgbClr val="0F1423"/>
                </a:solidFill>
                <a:latin typeface="Microsoft YaHei"/>
                <a:ea typeface="Microsoft YaHei"/>
              </a:rPr>
              <a:t>应用分域分层：三个应用域</a:t>
            </a:r>
            <a:r>
              <a:rPr lang="en-US" sz="1013" b="1">
                <a:solidFill>
                  <a:srgbClr val="0F1423"/>
                </a:solidFill>
                <a:latin typeface="Microsoft YaHei"/>
                <a:ea typeface="Microsoft YaHei"/>
              </a:rPr>
              <a:t xml:space="preserve"> + </a:t>
            </a:r>
            <a:r>
              <a:rPr lang="zh-CN" sz="1013" b="1">
                <a:solidFill>
                  <a:srgbClr val="0F1423"/>
                </a:solidFill>
                <a:latin typeface="Microsoft YaHei"/>
                <a:ea typeface="Microsoft YaHei"/>
              </a:rPr>
              <a:t>三层能力</a:t>
            </a:r>
            <a:endParaRPr/>
          </a:p>
        </p:txBody>
      </p:sp>
      <p:sp>
        <p:nvSpPr>
          <p:cNvPr id="1013" name=""/>
          <p:cNvSpPr/>
          <p:nvPr/>
        </p:nvSpPr>
        <p:spPr>
          <a:xfrm rot="0" flipH="0" flipV="0">
            <a:off x="609600" y="1562100"/>
            <a:ext cx="2733675" cy="2000250"/>
          </a:xfrm>
          <a:prstGeom prst="roundRect">
            <a:avLst>
              <a:gd name="adj" fmla="val 1905"/>
            </a:avLst>
          </a:prstGeom>
          <a:solidFill>
            <a:srgbClr val="F7F7F8"/>
          </a:solidFill>
          <a:ln/>
        </p:spPr>
        <p:txBody>
          <a:bodyPr/>
          <a:p/>
        </p:txBody>
      </p:sp>
      <p:sp>
        <p:nvSpPr>
          <p:cNvPr id="1014" name=""/>
          <p:cNvSpPr/>
          <p:nvPr/>
        </p:nvSpPr>
        <p:spPr>
          <a:xfrm rot="0" flipH="0" flipV="0">
            <a:off x="609600" y="1562100"/>
            <a:ext cx="2733675" cy="2000250"/>
          </a:xfrm>
          <a:custGeom>
            <a:pathLst>
              <a:path w="287" h="210">
                <a:moveTo>
                  <a:pt x="283" y="0"/>
                </a:moveTo>
                <a:cubicBezTo>
                  <a:pt x="285" y="0"/>
                  <a:pt x="287" y="2"/>
                  <a:pt x="287" y="4"/>
                </a:cubicBezTo>
                <a:cubicBezTo>
                  <a:pt x="287" y="3"/>
                  <a:pt x="286" y="3"/>
                  <a:pt x="286" y="3"/>
                </a:cubicBezTo>
                <a:lnTo>
                  <a:pt x="1" y="3"/>
                </a:lnTo>
                <a:cubicBezTo>
                  <a:pt x="1" y="3"/>
                  <a:pt x="0" y="3"/>
                  <a:pt x="0" y="4"/>
                </a:cubicBezTo>
                <a:cubicBezTo>
                  <a:pt x="0" y="2"/>
                  <a:pt x="2" y="0"/>
                  <a:pt x="4" y="0"/>
                </a:cubicBezTo>
                <a:lnTo>
                  <a:pt x="283" y="0"/>
                </a:lnTo>
                <a:close/>
              </a:path>
            </a:pathLst>
          </a:custGeom>
          <a:solidFill>
            <a:srgbClr val="FA4F24"/>
          </a:solidFill>
          <a:ln/>
        </p:spPr>
        <p:txBody>
          <a:bodyPr/>
          <a:p/>
        </p:txBody>
      </p:sp>
      <p:sp>
        <p:nvSpPr>
          <p:cNvPr id="1015" name="" descr="{&quot;isTemplate&quot;:true,&quot;type&quot;:&quot;text&quot;}"/>
          <p:cNvSpPr txBox="1"/>
          <p:nvPr/>
        </p:nvSpPr>
        <p:spPr>
          <a:xfrm rot="0" flipH="0" flipV="0">
            <a:off x="733425" y="1666875"/>
            <a:ext cx="2486025" cy="161925"/>
          </a:xfrm>
          <a:prstGeom prst="rect"/>
        </p:spPr>
        <p:txBody>
          <a:bodyPr wrap="none" lIns="0" tIns="0" rIns="0" bIns="0"/>
          <a:p>
            <a:pPr>
              <a:lnSpc>
                <a:spcPct val="100000"/>
              </a:lnSpc>
            </a:pPr>
            <a:r>
              <a:rPr lang="zh-CN" sz="1050" b="1">
                <a:solidFill>
                  <a:srgbClr val="FA4F24"/>
                </a:solidFill>
                <a:latin typeface="Microsoft YaHei"/>
                <a:ea typeface="Microsoft YaHei"/>
              </a:rPr>
              <a:t>运营支撑域</a:t>
            </a:r>
            <a:endParaRPr/>
          </a:p>
        </p:txBody>
      </p:sp>
      <p:sp>
        <p:nvSpPr>
          <p:cNvPr id="1016" name="" descr="{&quot;isTemplate&quot;:true,&quot;type&quot;:&quot;text&quot;}"/>
          <p:cNvSpPr txBox="1"/>
          <p:nvPr/>
        </p:nvSpPr>
        <p:spPr>
          <a:xfrm rot="0" flipH="0" flipV="0">
            <a:off x="733425" y="1857375"/>
            <a:ext cx="2486025" cy="114300"/>
          </a:xfrm>
          <a:prstGeom prst="rect"/>
        </p:spPr>
        <p:txBody>
          <a:bodyPr wrap="none" lIns="0" tIns="0" rIns="0" bIns="0"/>
          <a:p>
            <a:pPr>
              <a:lnSpc>
                <a:spcPct val="100000"/>
              </a:lnSpc>
            </a:pPr>
            <a:r>
              <a:rPr lang="en-US" sz="750">
                <a:solidFill>
                  <a:srgbClr val="8A8F99"/>
                </a:solidFill>
                <a:latin typeface="Microsoft YaHei"/>
                <a:ea typeface="Microsoft YaHei"/>
              </a:rPr>
              <a:t xml:space="preserve">E3 </a:t>
            </a:r>
            <a:r>
              <a:rPr lang="zh-CN" sz="750">
                <a:solidFill>
                  <a:srgbClr val="8A8F99"/>
                </a:solidFill>
                <a:latin typeface="Microsoft YaHei"/>
                <a:ea typeface="Microsoft YaHei"/>
              </a:rPr>
              <a:t>运营运维</a:t>
            </a:r>
            <a:r>
              <a:rPr lang="en-US" sz="750">
                <a:solidFill>
                  <a:srgbClr val="8A8F99"/>
                </a:solidFill>
                <a:latin typeface="Microsoft YaHei"/>
                <a:ea typeface="Microsoft YaHei"/>
              </a:rPr>
              <a:t xml:space="preserve"> + E4 </a:t>
            </a:r>
            <a:r>
              <a:rPr lang="zh-CN" sz="750">
                <a:solidFill>
                  <a:srgbClr val="8A8F99"/>
                </a:solidFill>
                <a:latin typeface="Microsoft YaHei"/>
                <a:ea typeface="Microsoft YaHei"/>
              </a:rPr>
              <a:t>交易</a:t>
            </a:r>
            <a:endParaRPr/>
          </a:p>
        </p:txBody>
      </p:sp>
      <p:sp>
        <p:nvSpPr>
          <p:cNvPr id="1017" name=""/>
          <p:cNvSpPr/>
          <p:nvPr/>
        </p:nvSpPr>
        <p:spPr>
          <a:xfrm rot="0" flipH="0" flipV="0">
            <a:off x="733425" y="2047875"/>
            <a:ext cx="2486025" cy="200025"/>
          </a:xfrm>
          <a:prstGeom prst="roundRect">
            <a:avLst>
              <a:gd name="adj" fmla="val 14286"/>
            </a:avLst>
          </a:prstGeom>
          <a:solidFill>
            <a:srgbClr val="FFFFFF"/>
          </a:solidFill>
          <a:ln w="12700">
            <a:solidFill>
              <a:srgbClr val="E8E8E8"/>
            </a:solidFill>
            <a:prstDash val="solid"/>
          </a:ln>
        </p:spPr>
        <p:txBody>
          <a:bodyPr/>
          <a:p/>
        </p:txBody>
      </p:sp>
      <p:sp>
        <p:nvSpPr>
          <p:cNvPr id="1018" name="" descr="{&quot;isTemplate&quot;:true,&quot;type&quot;:&quot;text&quot;}"/>
          <p:cNvSpPr txBox="1"/>
          <p:nvPr/>
        </p:nvSpPr>
        <p:spPr>
          <a:xfrm rot="0" flipH="0" flipV="0">
            <a:off x="819150" y="2085975"/>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资产台账</a:t>
            </a:r>
            <a:endParaRPr/>
          </a:p>
        </p:txBody>
      </p:sp>
      <p:sp>
        <p:nvSpPr>
          <p:cNvPr id="1019" name=""/>
          <p:cNvSpPr/>
          <p:nvPr/>
        </p:nvSpPr>
        <p:spPr>
          <a:xfrm rot="0" flipH="0" flipV="0">
            <a:off x="733425" y="2286000"/>
            <a:ext cx="2486025" cy="200025"/>
          </a:xfrm>
          <a:prstGeom prst="roundRect">
            <a:avLst>
              <a:gd name="adj" fmla="val 14286"/>
            </a:avLst>
          </a:prstGeom>
          <a:solidFill>
            <a:srgbClr val="FFFFFF"/>
          </a:solidFill>
          <a:ln w="12700">
            <a:solidFill>
              <a:srgbClr val="E8E8E8"/>
            </a:solidFill>
            <a:prstDash val="solid"/>
          </a:ln>
        </p:spPr>
        <p:txBody>
          <a:bodyPr/>
          <a:p/>
        </p:txBody>
      </p:sp>
      <p:sp>
        <p:nvSpPr>
          <p:cNvPr id="1020" name="" descr="{&quot;isTemplate&quot;:true,&quot;type&quot;:&quot;text&quot;}"/>
          <p:cNvSpPr txBox="1"/>
          <p:nvPr/>
        </p:nvSpPr>
        <p:spPr>
          <a:xfrm rot="0" flipH="0" flipV="0">
            <a:off x="819150" y="2324100"/>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缺陷工单</a:t>
            </a:r>
            <a:endParaRPr/>
          </a:p>
        </p:txBody>
      </p:sp>
      <p:sp>
        <p:nvSpPr>
          <p:cNvPr id="1021" name=""/>
          <p:cNvSpPr/>
          <p:nvPr/>
        </p:nvSpPr>
        <p:spPr>
          <a:xfrm rot="0" flipH="0" flipV="0">
            <a:off x="733425" y="2524125"/>
            <a:ext cx="2486025" cy="200025"/>
          </a:xfrm>
          <a:prstGeom prst="roundRect">
            <a:avLst>
              <a:gd name="adj" fmla="val 14286"/>
            </a:avLst>
          </a:prstGeom>
          <a:solidFill>
            <a:srgbClr val="FFFFFF"/>
          </a:solidFill>
          <a:ln w="12700">
            <a:solidFill>
              <a:srgbClr val="E8E8E8"/>
            </a:solidFill>
            <a:prstDash val="solid"/>
          </a:ln>
        </p:spPr>
        <p:txBody>
          <a:bodyPr/>
          <a:p/>
        </p:txBody>
      </p:sp>
      <p:sp>
        <p:nvSpPr>
          <p:cNvPr id="1022" name="" descr="{&quot;isTemplate&quot;:true,&quot;type&quot;:&quot;text&quot;}"/>
          <p:cNvSpPr txBox="1"/>
          <p:nvPr/>
        </p:nvSpPr>
        <p:spPr>
          <a:xfrm rot="0" flipH="0" flipV="0">
            <a:off x="819150" y="2562225"/>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检修计划</a:t>
            </a:r>
            <a:endParaRPr/>
          </a:p>
        </p:txBody>
      </p:sp>
      <p:sp>
        <p:nvSpPr>
          <p:cNvPr id="1023" name=""/>
          <p:cNvSpPr/>
          <p:nvPr/>
        </p:nvSpPr>
        <p:spPr>
          <a:xfrm rot="0" flipH="0" flipV="0">
            <a:off x="733425" y="2762250"/>
            <a:ext cx="2486025" cy="190500"/>
          </a:xfrm>
          <a:prstGeom prst="roundRect">
            <a:avLst>
              <a:gd name="adj" fmla="val 15000"/>
            </a:avLst>
          </a:prstGeom>
          <a:solidFill>
            <a:srgbClr val="FFFFFF"/>
          </a:solidFill>
          <a:ln w="12700">
            <a:solidFill>
              <a:srgbClr val="E8E8E8"/>
            </a:solidFill>
            <a:prstDash val="solid"/>
          </a:ln>
        </p:spPr>
        <p:txBody>
          <a:bodyPr/>
          <a:p/>
        </p:txBody>
      </p:sp>
      <p:sp>
        <p:nvSpPr>
          <p:cNvPr id="1024" name="" descr="{&quot;isTemplate&quot;:true,&quot;type&quot;:&quot;text&quot;}"/>
          <p:cNvSpPr txBox="1"/>
          <p:nvPr/>
        </p:nvSpPr>
        <p:spPr>
          <a:xfrm rot="0" flipH="0" flipV="0">
            <a:off x="819150" y="2800350"/>
            <a:ext cx="990600"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两票与安全</a:t>
            </a:r>
            <a:endParaRPr/>
          </a:p>
        </p:txBody>
      </p:sp>
      <p:sp>
        <p:nvSpPr>
          <p:cNvPr id="1025" name=""/>
          <p:cNvSpPr/>
          <p:nvPr/>
        </p:nvSpPr>
        <p:spPr>
          <a:xfrm rot="0" flipH="0" flipV="0">
            <a:off x="733425" y="2990850"/>
            <a:ext cx="2486025" cy="200025"/>
          </a:xfrm>
          <a:prstGeom prst="roundRect">
            <a:avLst>
              <a:gd name="adj" fmla="val 14286"/>
            </a:avLst>
          </a:prstGeom>
          <a:solidFill>
            <a:srgbClr val="FFFFFF"/>
          </a:solidFill>
          <a:ln w="12700">
            <a:solidFill>
              <a:srgbClr val="E8E8E8"/>
            </a:solidFill>
            <a:prstDash val="solid"/>
          </a:ln>
        </p:spPr>
        <p:txBody>
          <a:bodyPr/>
          <a:p/>
        </p:txBody>
      </p:sp>
      <p:sp>
        <p:nvSpPr>
          <p:cNvPr id="1026" name="" descr="{&quot;isTemplate&quot;:true,&quot;type&quot;:&quot;text&quot;}"/>
          <p:cNvSpPr txBox="1"/>
          <p:nvPr/>
        </p:nvSpPr>
        <p:spPr>
          <a:xfrm rot="0" flipH="0" flipV="0">
            <a:off x="819150" y="3028950"/>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交易申报</a:t>
            </a:r>
            <a:endParaRPr/>
          </a:p>
        </p:txBody>
      </p:sp>
      <p:sp>
        <p:nvSpPr>
          <p:cNvPr id="1027" name=""/>
          <p:cNvSpPr/>
          <p:nvPr/>
        </p:nvSpPr>
        <p:spPr>
          <a:xfrm rot="0" flipH="0" flipV="0">
            <a:off x="733425" y="3228975"/>
            <a:ext cx="2486025" cy="200025"/>
          </a:xfrm>
          <a:prstGeom prst="roundRect">
            <a:avLst>
              <a:gd name="adj" fmla="val 14286"/>
            </a:avLst>
          </a:prstGeom>
          <a:solidFill>
            <a:srgbClr val="FFFFFF"/>
          </a:solidFill>
          <a:ln w="12700">
            <a:solidFill>
              <a:srgbClr val="E8E8E8"/>
            </a:solidFill>
            <a:prstDash val="solid"/>
          </a:ln>
        </p:spPr>
        <p:txBody>
          <a:bodyPr/>
          <a:p/>
        </p:txBody>
      </p:sp>
      <p:sp>
        <p:nvSpPr>
          <p:cNvPr id="1028" name="" descr="{&quot;isTemplate&quot;:true,&quot;type&quot;:&quot;text&quot;}"/>
          <p:cNvSpPr txBox="1"/>
          <p:nvPr/>
        </p:nvSpPr>
        <p:spPr>
          <a:xfrm rot="0" flipH="0" flipV="0">
            <a:off x="819150" y="3267075"/>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结算对账</a:t>
            </a:r>
            <a:endParaRPr/>
          </a:p>
        </p:txBody>
      </p:sp>
      <p:sp>
        <p:nvSpPr>
          <p:cNvPr id="1029" name=""/>
          <p:cNvSpPr/>
          <p:nvPr/>
        </p:nvSpPr>
        <p:spPr>
          <a:xfrm rot="0" flipH="0" flipV="0">
            <a:off x="3419475" y="1562100"/>
            <a:ext cx="2724150" cy="2000250"/>
          </a:xfrm>
          <a:prstGeom prst="roundRect">
            <a:avLst>
              <a:gd name="adj" fmla="val 1905"/>
            </a:avLst>
          </a:prstGeom>
          <a:solidFill>
            <a:srgbClr val="F7F7F8"/>
          </a:solidFill>
          <a:ln/>
        </p:spPr>
        <p:txBody>
          <a:bodyPr/>
          <a:p/>
        </p:txBody>
      </p:sp>
      <p:sp>
        <p:nvSpPr>
          <p:cNvPr id="1030" name=""/>
          <p:cNvSpPr/>
          <p:nvPr/>
        </p:nvSpPr>
        <p:spPr>
          <a:xfrm rot="0" flipH="0" flipV="0">
            <a:off x="3419475" y="1562100"/>
            <a:ext cx="2724150" cy="2000250"/>
          </a:xfrm>
          <a:custGeom>
            <a:pathLst>
              <a:path w="286" h="210">
                <a:moveTo>
                  <a:pt x="282" y="0"/>
                </a:moveTo>
                <a:cubicBezTo>
                  <a:pt x="284" y="0"/>
                  <a:pt x="286" y="2"/>
                  <a:pt x="286" y="4"/>
                </a:cubicBezTo>
                <a:cubicBezTo>
                  <a:pt x="286" y="3"/>
                  <a:pt x="285" y="3"/>
                  <a:pt x="285" y="3"/>
                </a:cubicBezTo>
                <a:lnTo>
                  <a:pt x="1" y="3"/>
                </a:lnTo>
                <a:cubicBezTo>
                  <a:pt x="1" y="3"/>
                  <a:pt x="0" y="3"/>
                  <a:pt x="0" y="4"/>
                </a:cubicBezTo>
                <a:cubicBezTo>
                  <a:pt x="0" y="2"/>
                  <a:pt x="2" y="0"/>
                  <a:pt x="4" y="0"/>
                </a:cubicBezTo>
                <a:lnTo>
                  <a:pt x="282" y="0"/>
                </a:lnTo>
                <a:close/>
              </a:path>
            </a:pathLst>
          </a:custGeom>
          <a:solidFill>
            <a:srgbClr val="E0641E"/>
          </a:solidFill>
          <a:ln/>
        </p:spPr>
        <p:txBody>
          <a:bodyPr/>
          <a:p/>
        </p:txBody>
      </p:sp>
      <p:sp>
        <p:nvSpPr>
          <p:cNvPr id="1031" name="" descr="{&quot;isTemplate&quot;:true,&quot;type&quot;:&quot;text&quot;}"/>
          <p:cNvSpPr txBox="1"/>
          <p:nvPr/>
        </p:nvSpPr>
        <p:spPr>
          <a:xfrm rot="0" flipH="0" flipV="0">
            <a:off x="3543300" y="1666875"/>
            <a:ext cx="2476500" cy="161925"/>
          </a:xfrm>
          <a:prstGeom prst="rect"/>
        </p:spPr>
        <p:txBody>
          <a:bodyPr wrap="none" lIns="0" tIns="0" rIns="0" bIns="0"/>
          <a:p>
            <a:pPr>
              <a:lnSpc>
                <a:spcPct val="100000"/>
              </a:lnSpc>
            </a:pPr>
            <a:r>
              <a:rPr lang="zh-CN" sz="1050" b="1">
                <a:solidFill>
                  <a:srgbClr val="E0641E"/>
                </a:solidFill>
                <a:latin typeface="Microsoft YaHei"/>
                <a:ea typeface="Microsoft YaHei"/>
              </a:rPr>
              <a:t>项目交付域</a:t>
            </a:r>
            <a:endParaRPr/>
          </a:p>
        </p:txBody>
      </p:sp>
      <p:sp>
        <p:nvSpPr>
          <p:cNvPr id="1032" name="" descr="{&quot;isTemplate&quot;:true,&quot;type&quot;:&quot;text&quot;}"/>
          <p:cNvSpPr txBox="1"/>
          <p:nvPr/>
        </p:nvSpPr>
        <p:spPr>
          <a:xfrm rot="0" flipH="0" flipV="0">
            <a:off x="3543300" y="1857375"/>
            <a:ext cx="2476500" cy="114300"/>
          </a:xfrm>
          <a:prstGeom prst="rect"/>
        </p:spPr>
        <p:txBody>
          <a:bodyPr wrap="none" lIns="0" tIns="0" rIns="0" bIns="0"/>
          <a:p>
            <a:pPr>
              <a:lnSpc>
                <a:spcPct val="100000"/>
              </a:lnSpc>
            </a:pPr>
            <a:r>
              <a:rPr lang="en-US" sz="750">
                <a:solidFill>
                  <a:srgbClr val="8A8F99"/>
                </a:solidFill>
                <a:latin typeface="Microsoft YaHei"/>
                <a:ea typeface="Microsoft YaHei"/>
              </a:rPr>
              <a:t xml:space="preserve">E1 </a:t>
            </a:r>
            <a:r>
              <a:rPr lang="zh-CN" sz="750">
                <a:solidFill>
                  <a:srgbClr val="8A8F99"/>
                </a:solidFill>
                <a:latin typeface="Microsoft YaHei"/>
                <a:ea typeface="Microsoft YaHei"/>
              </a:rPr>
              <a:t>开发与投资</a:t>
            </a:r>
            <a:r>
              <a:rPr lang="en-US" sz="750">
                <a:solidFill>
                  <a:srgbClr val="8A8F99"/>
                </a:solidFill>
                <a:latin typeface="Microsoft YaHei"/>
                <a:ea typeface="Microsoft YaHei"/>
              </a:rPr>
              <a:t xml:space="preserve"> + E2 </a:t>
            </a:r>
            <a:r>
              <a:rPr lang="zh-CN" sz="750">
                <a:solidFill>
                  <a:srgbClr val="8A8F99"/>
                </a:solidFill>
                <a:latin typeface="Microsoft YaHei"/>
                <a:ea typeface="Microsoft YaHei"/>
              </a:rPr>
              <a:t>建设</a:t>
            </a:r>
            <a:r>
              <a:rPr lang="en-US" sz="750">
                <a:solidFill>
                  <a:srgbClr val="8A8F99"/>
                </a:solidFill>
                <a:latin typeface="Microsoft YaHei"/>
                <a:ea typeface="Microsoft YaHei"/>
              </a:rPr>
              <a:t xml:space="preserve"> + E5 </a:t>
            </a:r>
            <a:r>
              <a:rPr lang="zh-CN" sz="750">
                <a:solidFill>
                  <a:srgbClr val="8A8F99"/>
                </a:solidFill>
                <a:latin typeface="Microsoft YaHei"/>
                <a:ea typeface="Microsoft YaHei"/>
              </a:rPr>
              <a:t>四算</a:t>
            </a:r>
            <a:endParaRPr/>
          </a:p>
        </p:txBody>
      </p:sp>
      <p:sp>
        <p:nvSpPr>
          <p:cNvPr id="1033" name=""/>
          <p:cNvSpPr/>
          <p:nvPr/>
        </p:nvSpPr>
        <p:spPr>
          <a:xfrm rot="0" flipH="0" flipV="0">
            <a:off x="3543300" y="2047875"/>
            <a:ext cx="2476500" cy="200025"/>
          </a:xfrm>
          <a:prstGeom prst="roundRect">
            <a:avLst>
              <a:gd name="adj" fmla="val 14286"/>
            </a:avLst>
          </a:prstGeom>
          <a:solidFill>
            <a:srgbClr val="FFFFFF"/>
          </a:solidFill>
          <a:ln w="12700">
            <a:solidFill>
              <a:srgbClr val="E8E8E8"/>
            </a:solidFill>
            <a:prstDash val="solid"/>
          </a:ln>
        </p:spPr>
        <p:txBody>
          <a:bodyPr/>
          <a:p/>
        </p:txBody>
      </p:sp>
      <p:sp>
        <p:nvSpPr>
          <p:cNvPr id="1034" name="" descr="{&quot;isTemplate&quot;:true,&quot;type&quot;:&quot;text&quot;}"/>
          <p:cNvSpPr txBox="1"/>
          <p:nvPr/>
        </p:nvSpPr>
        <p:spPr>
          <a:xfrm rot="0" flipH="0" flipV="0">
            <a:off x="3629025" y="2085975"/>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项目立项</a:t>
            </a:r>
            <a:endParaRPr/>
          </a:p>
        </p:txBody>
      </p:sp>
      <p:sp>
        <p:nvSpPr>
          <p:cNvPr id="1035" name=""/>
          <p:cNvSpPr/>
          <p:nvPr/>
        </p:nvSpPr>
        <p:spPr>
          <a:xfrm rot="0" flipH="0" flipV="0">
            <a:off x="3543300" y="2286000"/>
            <a:ext cx="2476500" cy="200025"/>
          </a:xfrm>
          <a:prstGeom prst="roundRect">
            <a:avLst>
              <a:gd name="adj" fmla="val 14286"/>
            </a:avLst>
          </a:prstGeom>
          <a:solidFill>
            <a:srgbClr val="FFFFFF"/>
          </a:solidFill>
          <a:ln w="12700">
            <a:solidFill>
              <a:srgbClr val="E8E8E8"/>
            </a:solidFill>
            <a:prstDash val="solid"/>
          </a:ln>
        </p:spPr>
        <p:txBody>
          <a:bodyPr/>
          <a:p/>
        </p:txBody>
      </p:sp>
      <p:sp>
        <p:nvSpPr>
          <p:cNvPr id="1036" name="" descr="{&quot;isTemplate&quot;:true,&quot;type&quot;:&quot;text&quot;}"/>
          <p:cNvSpPr txBox="1"/>
          <p:nvPr/>
        </p:nvSpPr>
        <p:spPr>
          <a:xfrm rot="0" flipH="0" flipV="0">
            <a:off x="3629025" y="2324100"/>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可研测算</a:t>
            </a:r>
            <a:endParaRPr/>
          </a:p>
        </p:txBody>
      </p:sp>
      <p:sp>
        <p:nvSpPr>
          <p:cNvPr id="1037" name=""/>
          <p:cNvSpPr/>
          <p:nvPr/>
        </p:nvSpPr>
        <p:spPr>
          <a:xfrm rot="0" flipH="0" flipV="0">
            <a:off x="3543300" y="2524125"/>
            <a:ext cx="2476500" cy="200025"/>
          </a:xfrm>
          <a:prstGeom prst="roundRect">
            <a:avLst>
              <a:gd name="adj" fmla="val 14286"/>
            </a:avLst>
          </a:prstGeom>
          <a:solidFill>
            <a:srgbClr val="FFFFFF"/>
          </a:solidFill>
          <a:ln w="12700">
            <a:solidFill>
              <a:srgbClr val="E8E8E8"/>
            </a:solidFill>
            <a:prstDash val="solid"/>
          </a:ln>
        </p:spPr>
        <p:txBody>
          <a:bodyPr/>
          <a:p/>
        </p:txBody>
      </p:sp>
      <p:sp>
        <p:nvSpPr>
          <p:cNvPr id="1038" name="" descr="{&quot;isTemplate&quot;:true,&quot;type&quot;:&quot;text&quot;}"/>
          <p:cNvSpPr txBox="1"/>
          <p:nvPr/>
        </p:nvSpPr>
        <p:spPr>
          <a:xfrm rot="0" flipH="0" flipV="0">
            <a:off x="3629025" y="2562225"/>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设计管理</a:t>
            </a:r>
            <a:endParaRPr/>
          </a:p>
        </p:txBody>
      </p:sp>
      <p:sp>
        <p:nvSpPr>
          <p:cNvPr id="1039" name=""/>
          <p:cNvSpPr/>
          <p:nvPr/>
        </p:nvSpPr>
        <p:spPr>
          <a:xfrm rot="0" flipH="0" flipV="0">
            <a:off x="3543300" y="2762250"/>
            <a:ext cx="2476500" cy="190500"/>
          </a:xfrm>
          <a:prstGeom prst="roundRect">
            <a:avLst>
              <a:gd name="adj" fmla="val 15000"/>
            </a:avLst>
          </a:prstGeom>
          <a:solidFill>
            <a:srgbClr val="FFFFFF"/>
          </a:solidFill>
          <a:ln w="12700">
            <a:solidFill>
              <a:srgbClr val="E8E8E8"/>
            </a:solidFill>
            <a:prstDash val="solid"/>
          </a:ln>
        </p:spPr>
        <p:txBody>
          <a:bodyPr/>
          <a:p/>
        </p:txBody>
      </p:sp>
      <p:sp>
        <p:nvSpPr>
          <p:cNvPr id="1040" name="" descr="{&quot;isTemplate&quot;:true,&quot;type&quot;:&quot;text&quot;}"/>
          <p:cNvSpPr txBox="1"/>
          <p:nvPr/>
        </p:nvSpPr>
        <p:spPr>
          <a:xfrm rot="0" flipH="0" flipV="0">
            <a:off x="3629025" y="2800350"/>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进度成本</a:t>
            </a:r>
            <a:endParaRPr/>
          </a:p>
        </p:txBody>
      </p:sp>
      <p:sp>
        <p:nvSpPr>
          <p:cNvPr id="1041" name=""/>
          <p:cNvSpPr/>
          <p:nvPr/>
        </p:nvSpPr>
        <p:spPr>
          <a:xfrm rot="0" flipH="0" flipV="0">
            <a:off x="3543300" y="2990850"/>
            <a:ext cx="2476500" cy="200025"/>
          </a:xfrm>
          <a:prstGeom prst="roundRect">
            <a:avLst>
              <a:gd name="adj" fmla="val 14286"/>
            </a:avLst>
          </a:prstGeom>
          <a:solidFill>
            <a:srgbClr val="FFFFFF"/>
          </a:solidFill>
          <a:ln w="12700">
            <a:solidFill>
              <a:srgbClr val="E8E8E8"/>
            </a:solidFill>
            <a:prstDash val="solid"/>
          </a:ln>
        </p:spPr>
        <p:txBody>
          <a:bodyPr/>
          <a:p/>
        </p:txBody>
      </p:sp>
      <p:sp>
        <p:nvSpPr>
          <p:cNvPr id="1042" name="" descr="{&quot;isTemplate&quot;:true,&quot;type&quot;:&quot;text&quot;}"/>
          <p:cNvSpPr txBox="1"/>
          <p:nvPr/>
        </p:nvSpPr>
        <p:spPr>
          <a:xfrm rot="0" flipH="0" flipV="0">
            <a:off x="3629025" y="3028950"/>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采购履行</a:t>
            </a:r>
            <a:endParaRPr/>
          </a:p>
        </p:txBody>
      </p:sp>
      <p:sp>
        <p:nvSpPr>
          <p:cNvPr id="1043" name=""/>
          <p:cNvSpPr/>
          <p:nvPr/>
        </p:nvSpPr>
        <p:spPr>
          <a:xfrm rot="0" flipH="0" flipV="0">
            <a:off x="3543300" y="3228975"/>
            <a:ext cx="2476500" cy="200025"/>
          </a:xfrm>
          <a:prstGeom prst="roundRect">
            <a:avLst>
              <a:gd name="adj" fmla="val 14286"/>
            </a:avLst>
          </a:prstGeom>
          <a:solidFill>
            <a:srgbClr val="FFFFFF"/>
          </a:solidFill>
          <a:ln w="12700">
            <a:solidFill>
              <a:srgbClr val="E8E8E8"/>
            </a:solidFill>
            <a:prstDash val="solid"/>
          </a:ln>
        </p:spPr>
        <p:txBody>
          <a:bodyPr/>
          <a:p/>
        </p:txBody>
      </p:sp>
      <p:sp>
        <p:nvSpPr>
          <p:cNvPr id="1044" name="" descr="{&quot;isTemplate&quot;:true,&quot;type&quot;:&quot;text&quot;}"/>
          <p:cNvSpPr txBox="1"/>
          <p:nvPr/>
        </p:nvSpPr>
        <p:spPr>
          <a:xfrm rot="0" flipH="0" flipV="0">
            <a:off x="3629025" y="3267075"/>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四算管理</a:t>
            </a:r>
            <a:endParaRPr/>
          </a:p>
        </p:txBody>
      </p:sp>
      <p:sp>
        <p:nvSpPr>
          <p:cNvPr id="1045" name=""/>
          <p:cNvSpPr/>
          <p:nvPr/>
        </p:nvSpPr>
        <p:spPr>
          <a:xfrm rot="0" flipH="0" flipV="0">
            <a:off x="6219825" y="1562100"/>
            <a:ext cx="2733675" cy="2000250"/>
          </a:xfrm>
          <a:prstGeom prst="roundRect">
            <a:avLst>
              <a:gd name="adj" fmla="val 1905"/>
            </a:avLst>
          </a:prstGeom>
          <a:solidFill>
            <a:srgbClr val="F7F7F8"/>
          </a:solidFill>
          <a:ln/>
        </p:spPr>
        <p:txBody>
          <a:bodyPr/>
          <a:p/>
        </p:txBody>
      </p:sp>
      <p:sp>
        <p:nvSpPr>
          <p:cNvPr id="1046" name=""/>
          <p:cNvSpPr/>
          <p:nvPr/>
        </p:nvSpPr>
        <p:spPr>
          <a:xfrm rot="0" flipH="0" flipV="0">
            <a:off x="6219825" y="1562100"/>
            <a:ext cx="2733675" cy="2000250"/>
          </a:xfrm>
          <a:custGeom>
            <a:pathLst>
              <a:path w="287" h="210">
                <a:moveTo>
                  <a:pt x="283" y="0"/>
                </a:moveTo>
                <a:cubicBezTo>
                  <a:pt x="285" y="0"/>
                  <a:pt x="287" y="2"/>
                  <a:pt x="287" y="4"/>
                </a:cubicBezTo>
                <a:cubicBezTo>
                  <a:pt x="287" y="3"/>
                  <a:pt x="286" y="3"/>
                  <a:pt x="286" y="3"/>
                </a:cubicBezTo>
                <a:lnTo>
                  <a:pt x="1" y="3"/>
                </a:lnTo>
                <a:cubicBezTo>
                  <a:pt x="1" y="3"/>
                  <a:pt x="0" y="3"/>
                  <a:pt x="0" y="4"/>
                </a:cubicBezTo>
                <a:cubicBezTo>
                  <a:pt x="0" y="2"/>
                  <a:pt x="2" y="0"/>
                  <a:pt x="4" y="0"/>
                </a:cubicBezTo>
                <a:lnTo>
                  <a:pt x="283" y="0"/>
                </a:lnTo>
                <a:close/>
              </a:path>
            </a:pathLst>
          </a:custGeom>
          <a:solidFill>
            <a:srgbClr val="C43A17"/>
          </a:solidFill>
          <a:ln/>
        </p:spPr>
        <p:txBody>
          <a:bodyPr/>
          <a:p/>
        </p:txBody>
      </p:sp>
      <p:sp>
        <p:nvSpPr>
          <p:cNvPr id="1047" name="" descr="{&quot;isTemplate&quot;:true,&quot;type&quot;:&quot;text&quot;}"/>
          <p:cNvSpPr txBox="1"/>
          <p:nvPr/>
        </p:nvSpPr>
        <p:spPr>
          <a:xfrm rot="0" flipH="0" flipV="0">
            <a:off x="6343650" y="1666875"/>
            <a:ext cx="2486025" cy="161925"/>
          </a:xfrm>
          <a:prstGeom prst="rect"/>
        </p:spPr>
        <p:txBody>
          <a:bodyPr wrap="none" lIns="0" tIns="0" rIns="0" bIns="0"/>
          <a:p>
            <a:pPr>
              <a:lnSpc>
                <a:spcPct val="100000"/>
              </a:lnSpc>
            </a:pPr>
            <a:r>
              <a:rPr lang="zh-CN" sz="1050" b="1">
                <a:solidFill>
                  <a:srgbClr val="C43A17"/>
                </a:solidFill>
                <a:latin typeface="Microsoft YaHei"/>
                <a:ea typeface="Microsoft YaHei"/>
              </a:rPr>
              <a:t>产品制造域</a:t>
            </a:r>
            <a:endParaRPr/>
          </a:p>
        </p:txBody>
      </p:sp>
      <p:sp>
        <p:nvSpPr>
          <p:cNvPr id="1048" name="" descr="{&quot;isTemplate&quot;:true,&quot;type&quot;:&quot;text&quot;}"/>
          <p:cNvSpPr txBox="1"/>
          <p:nvPr/>
        </p:nvSpPr>
        <p:spPr>
          <a:xfrm rot="0" flipH="0" flipV="0">
            <a:off x="6343650" y="1857375"/>
            <a:ext cx="2486025" cy="114300"/>
          </a:xfrm>
          <a:prstGeom prst="rect"/>
        </p:spPr>
        <p:txBody>
          <a:bodyPr wrap="none" lIns="0" tIns="0" rIns="0" bIns="0"/>
          <a:p>
            <a:pPr>
              <a:lnSpc>
                <a:spcPct val="100000"/>
              </a:lnSpc>
            </a:pPr>
            <a:r>
              <a:rPr lang="en-US" sz="750">
                <a:solidFill>
                  <a:srgbClr val="8A8F99"/>
                </a:solidFill>
                <a:latin typeface="Microsoft YaHei"/>
                <a:ea typeface="Microsoft YaHei"/>
              </a:rPr>
              <a:t xml:space="preserve">S1 </a:t>
            </a:r>
            <a:r>
              <a:rPr lang="zh-CN" sz="750">
                <a:solidFill>
                  <a:srgbClr val="8A8F99"/>
                </a:solidFill>
                <a:latin typeface="Microsoft YaHei"/>
                <a:ea typeface="Microsoft YaHei"/>
              </a:rPr>
              <a:t>采购协同</a:t>
            </a:r>
            <a:r>
              <a:rPr lang="en-US" sz="750">
                <a:solidFill>
                  <a:srgbClr val="8A8F99"/>
                </a:solidFill>
                <a:latin typeface="Microsoft YaHei"/>
                <a:ea typeface="Microsoft YaHei"/>
              </a:rPr>
              <a:t xml:space="preserve"> + S2 </a:t>
            </a:r>
            <a:r>
              <a:rPr lang="zh-CN" sz="750">
                <a:solidFill>
                  <a:srgbClr val="8A8F99"/>
                </a:solidFill>
                <a:latin typeface="Microsoft YaHei"/>
                <a:ea typeface="Microsoft YaHei"/>
              </a:rPr>
              <a:t>转化</a:t>
            </a:r>
            <a:endParaRPr/>
          </a:p>
        </p:txBody>
      </p:sp>
      <p:sp>
        <p:nvSpPr>
          <p:cNvPr id="1049" name=""/>
          <p:cNvSpPr/>
          <p:nvPr/>
        </p:nvSpPr>
        <p:spPr>
          <a:xfrm rot="0" flipH="0" flipV="0">
            <a:off x="6343650" y="2047875"/>
            <a:ext cx="2486025" cy="247650"/>
          </a:xfrm>
          <a:prstGeom prst="roundRect">
            <a:avLst>
              <a:gd name="adj" fmla="val 11538"/>
            </a:avLst>
          </a:prstGeom>
          <a:solidFill>
            <a:srgbClr val="FFFFFF"/>
          </a:solidFill>
          <a:ln w="12700">
            <a:solidFill>
              <a:srgbClr val="E8E8E8"/>
            </a:solidFill>
            <a:prstDash val="solid"/>
          </a:ln>
        </p:spPr>
        <p:txBody>
          <a:bodyPr/>
          <a:p/>
        </p:txBody>
      </p:sp>
      <p:sp>
        <p:nvSpPr>
          <p:cNvPr id="1050" name="" descr="{&quot;isTemplate&quot;:true,&quot;type&quot;:&quot;text&quot;}"/>
          <p:cNvSpPr txBox="1"/>
          <p:nvPr/>
        </p:nvSpPr>
        <p:spPr>
          <a:xfrm rot="0" flipH="0" flipV="0">
            <a:off x="6429375" y="2114550"/>
            <a:ext cx="990600"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供应商管理</a:t>
            </a:r>
            <a:endParaRPr/>
          </a:p>
        </p:txBody>
      </p:sp>
      <p:sp>
        <p:nvSpPr>
          <p:cNvPr id="1051" name=""/>
          <p:cNvSpPr/>
          <p:nvPr/>
        </p:nvSpPr>
        <p:spPr>
          <a:xfrm rot="0" flipH="0" flipV="0">
            <a:off x="6343650" y="2333625"/>
            <a:ext cx="2486025" cy="247650"/>
          </a:xfrm>
          <a:prstGeom prst="roundRect">
            <a:avLst>
              <a:gd name="adj" fmla="val 11538"/>
            </a:avLst>
          </a:prstGeom>
          <a:solidFill>
            <a:srgbClr val="FFFFFF"/>
          </a:solidFill>
          <a:ln w="12700">
            <a:solidFill>
              <a:srgbClr val="E8E8E8"/>
            </a:solidFill>
            <a:prstDash val="solid"/>
          </a:ln>
        </p:spPr>
        <p:txBody>
          <a:bodyPr/>
          <a:p/>
        </p:txBody>
      </p:sp>
      <p:sp>
        <p:nvSpPr>
          <p:cNvPr id="1052" name="" descr="{&quot;isTemplate&quot;:true,&quot;type&quot;:&quot;text&quot;}"/>
          <p:cNvSpPr txBox="1"/>
          <p:nvPr/>
        </p:nvSpPr>
        <p:spPr>
          <a:xfrm rot="0" flipH="0" flipV="0">
            <a:off x="6429375" y="2400300"/>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寻源比价</a:t>
            </a:r>
            <a:endParaRPr/>
          </a:p>
        </p:txBody>
      </p:sp>
      <p:sp>
        <p:nvSpPr>
          <p:cNvPr id="1053" name=""/>
          <p:cNvSpPr/>
          <p:nvPr/>
        </p:nvSpPr>
        <p:spPr>
          <a:xfrm rot="0" flipH="0" flipV="0">
            <a:off x="6343650" y="2619375"/>
            <a:ext cx="2486025" cy="238125"/>
          </a:xfrm>
          <a:prstGeom prst="roundRect">
            <a:avLst>
              <a:gd name="adj" fmla="val 12000"/>
            </a:avLst>
          </a:prstGeom>
          <a:solidFill>
            <a:srgbClr val="FFFFFF"/>
          </a:solidFill>
          <a:ln w="12700">
            <a:solidFill>
              <a:srgbClr val="E8E8E8"/>
            </a:solidFill>
            <a:prstDash val="solid"/>
          </a:ln>
        </p:spPr>
        <p:txBody>
          <a:bodyPr/>
          <a:p/>
        </p:txBody>
      </p:sp>
      <p:sp>
        <p:nvSpPr>
          <p:cNvPr id="1054" name="" descr="{&quot;isTemplate&quot;:true,&quot;type&quot;:&quot;text&quot;}"/>
          <p:cNvSpPr txBox="1"/>
          <p:nvPr/>
        </p:nvSpPr>
        <p:spPr>
          <a:xfrm rot="0" flipH="0" flipV="0">
            <a:off x="6429375" y="2676525"/>
            <a:ext cx="101917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en-US" sz="788">
                <a:solidFill>
                  <a:srgbClr val="3A4050"/>
                </a:solidFill>
                <a:latin typeface="Microsoft YaHei"/>
                <a:ea typeface="Microsoft YaHei"/>
              </a:rPr>
              <a:t xml:space="preserve">EBOM </a:t>
            </a:r>
            <a:r>
              <a:rPr lang="zh-CN" sz="788">
                <a:solidFill>
                  <a:srgbClr val="3A4050"/>
                </a:solidFill>
                <a:latin typeface="Microsoft YaHei"/>
                <a:ea typeface="Microsoft YaHei"/>
              </a:rPr>
              <a:t>管理</a:t>
            </a:r>
            <a:endParaRPr/>
          </a:p>
        </p:txBody>
      </p:sp>
      <p:sp>
        <p:nvSpPr>
          <p:cNvPr id="1055" name=""/>
          <p:cNvSpPr/>
          <p:nvPr/>
        </p:nvSpPr>
        <p:spPr>
          <a:xfrm rot="0" flipH="0" flipV="0">
            <a:off x="6343650" y="2895600"/>
            <a:ext cx="2486025" cy="247650"/>
          </a:xfrm>
          <a:prstGeom prst="roundRect">
            <a:avLst>
              <a:gd name="adj" fmla="val 11538"/>
            </a:avLst>
          </a:prstGeom>
          <a:solidFill>
            <a:srgbClr val="FFFFFF"/>
          </a:solidFill>
          <a:ln w="12700">
            <a:solidFill>
              <a:srgbClr val="E8E8E8"/>
            </a:solidFill>
            <a:prstDash val="solid"/>
          </a:ln>
        </p:spPr>
        <p:txBody>
          <a:bodyPr/>
          <a:p/>
        </p:txBody>
      </p:sp>
      <p:sp>
        <p:nvSpPr>
          <p:cNvPr id="1056" name="" descr="{&quot;isTemplate&quot;:true,&quot;type&quot;:&quot;text&quot;}"/>
          <p:cNvSpPr txBox="1"/>
          <p:nvPr/>
        </p:nvSpPr>
        <p:spPr>
          <a:xfrm rot="0" flipH="0" flipV="0">
            <a:off x="6429375" y="2962275"/>
            <a:ext cx="990600"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转换规则库</a:t>
            </a:r>
            <a:endParaRPr/>
          </a:p>
        </p:txBody>
      </p:sp>
      <p:sp>
        <p:nvSpPr>
          <p:cNvPr id="1057" name=""/>
          <p:cNvSpPr/>
          <p:nvPr/>
        </p:nvSpPr>
        <p:spPr>
          <a:xfrm rot="0" flipH="0" flipV="0">
            <a:off x="6343650" y="3181350"/>
            <a:ext cx="2486025" cy="247650"/>
          </a:xfrm>
          <a:prstGeom prst="roundRect">
            <a:avLst>
              <a:gd name="adj" fmla="val 11538"/>
            </a:avLst>
          </a:prstGeom>
          <a:solidFill>
            <a:srgbClr val="FFFFFF"/>
          </a:solidFill>
          <a:ln w="12700">
            <a:solidFill>
              <a:srgbClr val="E8E8E8"/>
            </a:solidFill>
            <a:prstDash val="solid"/>
          </a:ln>
        </p:spPr>
        <p:txBody>
          <a:bodyPr/>
          <a:p/>
        </p:txBody>
      </p:sp>
      <p:sp>
        <p:nvSpPr>
          <p:cNvPr id="1058" name="" descr="{&quot;isTemplate&quot;:true,&quot;type&quot;:&quot;text&quot;}"/>
          <p:cNvSpPr txBox="1"/>
          <p:nvPr/>
        </p:nvSpPr>
        <p:spPr>
          <a:xfrm rot="0" flipH="0" flipV="0">
            <a:off x="6429375" y="3248025"/>
            <a:ext cx="885825" cy="123825"/>
          </a:xfrm>
          <a:prstGeom prst="rect"/>
        </p:spPr>
        <p:txBody>
          <a:bodyPr wrap="none" lIns="0" tIns="0" rIns="0" bIns="0"/>
          <a:p>
            <a:pPr>
              <a:lnSpc>
                <a:spcPct val="100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到货检验</a:t>
            </a:r>
            <a:endParaRPr/>
          </a:p>
        </p:txBody>
      </p:sp>
      <p:sp>
        <p:nvSpPr>
          <p:cNvPr id="1059" name=""/>
          <p:cNvSpPr/>
          <p:nvPr/>
        </p:nvSpPr>
        <p:spPr>
          <a:xfrm rot="0" flipH="0" flipV="0">
            <a:off x="9029700" y="1533525"/>
            <a:ext cx="2552700" cy="2000250"/>
          </a:xfrm>
          <a:prstGeom prst="roundRect">
            <a:avLst>
              <a:gd name="adj" fmla="val 1905"/>
            </a:avLst>
          </a:prstGeom>
          <a:solidFill>
            <a:srgbClr val="0F1423"/>
          </a:solidFill>
          <a:ln/>
        </p:spPr>
        <p:txBody>
          <a:bodyPr/>
          <a:p/>
        </p:txBody>
      </p:sp>
      <p:sp>
        <p:nvSpPr>
          <p:cNvPr id="1060" name="" descr="{&quot;isTemplate&quot;:true,&quot;type&quot;:&quot;text&quot;}"/>
          <p:cNvSpPr txBox="1"/>
          <p:nvPr/>
        </p:nvSpPr>
        <p:spPr>
          <a:xfrm rot="0" flipH="0" flipV="0">
            <a:off x="9163050" y="1647825"/>
            <a:ext cx="2286000" cy="142875"/>
          </a:xfrm>
          <a:prstGeom prst="rect"/>
        </p:spPr>
        <p:txBody>
          <a:bodyPr wrap="none" lIns="0" tIns="0" rIns="0" bIns="0"/>
          <a:p>
            <a:pPr>
              <a:lnSpc>
                <a:spcPct val="100000"/>
              </a:lnSpc>
            </a:pPr>
            <a:r>
              <a:rPr lang="zh-CN" sz="900" spc="75">
                <a:solidFill>
                  <a:srgbClr val="FBA15C"/>
                </a:solidFill>
                <a:latin typeface="Microsoft YaHei"/>
                <a:ea typeface="Microsoft YaHei"/>
              </a:rPr>
              <a:t>三层能力划分</a:t>
            </a:r>
            <a:endParaRPr/>
          </a:p>
        </p:txBody>
      </p:sp>
      <p:sp>
        <p:nvSpPr>
          <p:cNvPr id="1061" name=""/>
          <p:cNvSpPr/>
          <p:nvPr/>
        </p:nvSpPr>
        <p:spPr>
          <a:xfrm rot="0" flipH="0" flipV="0">
            <a:off x="9163050" y="1866900"/>
            <a:ext cx="2286000" cy="361950"/>
          </a:xfrm>
          <a:prstGeom prst="roundRect">
            <a:avLst>
              <a:gd name="adj" fmla="val 7895"/>
            </a:avLst>
          </a:prstGeom>
          <a:solidFill>
            <a:srgbClr val="FFFFFF">
              <a:alpha val="8000"/>
            </a:srgbClr>
          </a:solidFill>
          <a:ln/>
        </p:spPr>
        <p:txBody>
          <a:bodyPr/>
          <a:p/>
        </p:txBody>
      </p:sp>
      <p:sp>
        <p:nvSpPr>
          <p:cNvPr id="1062" name="" descr="{&quot;isTemplate&quot;:true,&quot;type&quot;:&quot;text&quot;}"/>
          <p:cNvSpPr txBox="1"/>
          <p:nvPr/>
        </p:nvSpPr>
        <p:spPr>
          <a:xfrm rot="0" flipH="0" flipV="0">
            <a:off x="9258300" y="1895475"/>
            <a:ext cx="2095500"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L1 </a:t>
            </a:r>
            <a:r>
              <a:rPr lang="zh-CN" sz="863" b="1">
                <a:solidFill>
                  <a:srgbClr val="FFFFFF"/>
                </a:solidFill>
                <a:latin typeface="Microsoft YaHei"/>
                <a:ea typeface="Microsoft YaHei"/>
              </a:rPr>
              <a:t>业务应用层</a:t>
            </a:r>
            <a:endParaRPr/>
          </a:p>
        </p:txBody>
      </p:sp>
      <p:sp>
        <p:nvSpPr>
          <p:cNvPr id="1063" name="" descr="{&quot;isTemplate&quot;:true,&quot;type&quot;:&quot;text&quot;}"/>
          <p:cNvSpPr txBox="1"/>
          <p:nvPr/>
        </p:nvSpPr>
        <p:spPr>
          <a:xfrm rot="0" flipH="0" flipV="0">
            <a:off x="9258300" y="2047875"/>
            <a:ext cx="2095500" cy="152400"/>
          </a:xfrm>
          <a:prstGeom prst="rect"/>
        </p:spPr>
        <p:txBody>
          <a:bodyPr wrap="none" lIns="0" tIns="0" rIns="0" bIns="0"/>
          <a:p>
            <a:pPr>
              <a:lnSpc>
                <a:spcPct val="130000"/>
              </a:lnSpc>
            </a:pPr>
            <a:r>
              <a:rPr lang="zh-CN" sz="750">
                <a:solidFill>
                  <a:srgbClr val="FFFFFF">
                    <a:alpha val="80000"/>
                  </a:srgbClr>
                </a:solidFill>
                <a:latin typeface="Microsoft YaHei"/>
                <a:ea typeface="Microsoft YaHei"/>
              </a:rPr>
              <a:t>面向岗位的应用，功能模块所在层</a:t>
            </a:r>
            <a:endParaRPr/>
          </a:p>
        </p:txBody>
      </p:sp>
      <p:sp>
        <p:nvSpPr>
          <p:cNvPr id="1064" name=""/>
          <p:cNvSpPr/>
          <p:nvPr/>
        </p:nvSpPr>
        <p:spPr>
          <a:xfrm rot="0" flipH="0" flipV="0">
            <a:off x="9163050" y="2276475"/>
            <a:ext cx="2286000" cy="361950"/>
          </a:xfrm>
          <a:prstGeom prst="roundRect">
            <a:avLst>
              <a:gd name="adj" fmla="val 7895"/>
            </a:avLst>
          </a:prstGeom>
          <a:solidFill>
            <a:srgbClr val="FFFFFF">
              <a:alpha val="8000"/>
            </a:srgbClr>
          </a:solidFill>
          <a:ln/>
        </p:spPr>
        <p:txBody>
          <a:bodyPr/>
          <a:p/>
        </p:txBody>
      </p:sp>
      <p:sp>
        <p:nvSpPr>
          <p:cNvPr id="1065" name="" descr="{&quot;isTemplate&quot;:true,&quot;type&quot;:&quot;text&quot;}"/>
          <p:cNvSpPr txBox="1"/>
          <p:nvPr/>
        </p:nvSpPr>
        <p:spPr>
          <a:xfrm rot="0" flipH="0" flipV="0">
            <a:off x="9258300" y="2305050"/>
            <a:ext cx="2095500"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L2 </a:t>
            </a:r>
            <a:r>
              <a:rPr lang="zh-CN" sz="863" b="1">
                <a:solidFill>
                  <a:srgbClr val="FFFFFF"/>
                </a:solidFill>
                <a:latin typeface="Microsoft YaHei"/>
                <a:ea typeface="Microsoft YaHei"/>
              </a:rPr>
              <a:t>共享能力层</a:t>
            </a:r>
            <a:endParaRPr/>
          </a:p>
        </p:txBody>
      </p:sp>
      <p:sp>
        <p:nvSpPr>
          <p:cNvPr id="1066" name="" descr="{&quot;isTemplate&quot;:true,&quot;type&quot;:&quot;text&quot;}"/>
          <p:cNvSpPr txBox="1"/>
          <p:nvPr/>
        </p:nvSpPr>
        <p:spPr>
          <a:xfrm rot="0" flipH="0" flipV="0">
            <a:off x="9258300" y="2457450"/>
            <a:ext cx="2095500" cy="152400"/>
          </a:xfrm>
          <a:prstGeom prst="rect"/>
        </p:spPr>
        <p:txBody>
          <a:bodyPr wrap="none" lIns="0" tIns="0" rIns="0" bIns="0"/>
          <a:p>
            <a:pPr>
              <a:lnSpc>
                <a:spcPct val="130000"/>
              </a:lnSpc>
            </a:pPr>
            <a:r>
              <a:rPr lang="zh-CN" sz="750">
                <a:solidFill>
                  <a:srgbClr val="FFFFFF">
                    <a:alpha val="80000"/>
                  </a:srgbClr>
                </a:solidFill>
                <a:latin typeface="Microsoft YaHei"/>
                <a:ea typeface="Microsoft YaHei"/>
              </a:rPr>
              <a:t>主数据、台账、规则、流程引擎</a:t>
            </a:r>
            <a:endParaRPr/>
          </a:p>
        </p:txBody>
      </p:sp>
      <p:sp>
        <p:nvSpPr>
          <p:cNvPr id="1067" name=""/>
          <p:cNvSpPr/>
          <p:nvPr/>
        </p:nvSpPr>
        <p:spPr>
          <a:xfrm rot="0" flipH="0" flipV="0">
            <a:off x="9163050" y="2686050"/>
            <a:ext cx="2286000" cy="361950"/>
          </a:xfrm>
          <a:prstGeom prst="roundRect">
            <a:avLst>
              <a:gd name="adj" fmla="val 7895"/>
            </a:avLst>
          </a:prstGeom>
          <a:solidFill>
            <a:srgbClr val="FFFFFF">
              <a:alpha val="8000"/>
            </a:srgbClr>
          </a:solidFill>
          <a:ln/>
        </p:spPr>
        <p:txBody>
          <a:bodyPr/>
          <a:p/>
        </p:txBody>
      </p:sp>
      <p:sp>
        <p:nvSpPr>
          <p:cNvPr id="1068" name="" descr="{&quot;isTemplate&quot;:true,&quot;type&quot;:&quot;text&quot;}"/>
          <p:cNvSpPr txBox="1"/>
          <p:nvPr/>
        </p:nvSpPr>
        <p:spPr>
          <a:xfrm rot="0" flipH="0" flipV="0">
            <a:off x="9258300" y="2714625"/>
            <a:ext cx="2095500"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L3 </a:t>
            </a:r>
            <a:r>
              <a:rPr lang="zh-CN" sz="863" b="1">
                <a:solidFill>
                  <a:srgbClr val="FFFFFF"/>
                </a:solidFill>
                <a:latin typeface="Microsoft YaHei"/>
                <a:ea typeface="Microsoft YaHei"/>
              </a:rPr>
              <a:t>集成与数据层</a:t>
            </a:r>
            <a:endParaRPr/>
          </a:p>
        </p:txBody>
      </p:sp>
      <p:sp>
        <p:nvSpPr>
          <p:cNvPr id="1069" name="" descr="{&quot;isTemplate&quot;:true,&quot;type&quot;:&quot;text&quot;}"/>
          <p:cNvSpPr txBox="1"/>
          <p:nvPr/>
        </p:nvSpPr>
        <p:spPr>
          <a:xfrm rot="0" flipH="0" flipV="0">
            <a:off x="9258300" y="2867025"/>
            <a:ext cx="2095500" cy="152400"/>
          </a:xfrm>
          <a:prstGeom prst="rect"/>
        </p:spPr>
        <p:txBody>
          <a:bodyPr wrap="none" lIns="0" tIns="0" rIns="0" bIns="0"/>
          <a:p>
            <a:pPr>
              <a:lnSpc>
                <a:spcPct val="130000"/>
              </a:lnSpc>
            </a:pPr>
            <a:r>
              <a:rPr lang="zh-CN" sz="750">
                <a:solidFill>
                  <a:srgbClr val="FFFFFF">
                    <a:alpha val="80000"/>
                  </a:srgbClr>
                </a:solidFill>
                <a:latin typeface="Microsoft YaHei"/>
                <a:ea typeface="Microsoft YaHei"/>
              </a:rPr>
              <a:t>接口网关、消息、数据交换</a:t>
            </a:r>
            <a:endParaRPr/>
          </a:p>
        </p:txBody>
      </p:sp>
      <p:sp>
        <p:nvSpPr>
          <p:cNvPr id="1070" name=""/>
          <p:cNvSpPr/>
          <p:nvPr/>
        </p:nvSpPr>
        <p:spPr>
          <a:xfrm rot="0" flipH="0" flipV="0">
            <a:off x="9163050" y="3114675"/>
            <a:ext cx="2286000" cy="304800"/>
          </a:xfrm>
          <a:prstGeom prst="roundRect">
            <a:avLst>
              <a:gd name="adj" fmla="val 9375"/>
            </a:avLst>
          </a:prstGeom>
          <a:solidFill>
            <a:srgbClr val="FA4F24">
              <a:alpha val="18000"/>
            </a:srgbClr>
          </a:solidFill>
          <a:ln/>
        </p:spPr>
        <p:txBody>
          <a:bodyPr/>
          <a:p/>
        </p:txBody>
      </p:sp>
      <p:sp>
        <p:nvSpPr>
          <p:cNvPr id="1071" name="" descr="{&quot;isTemplate&quot;:true,&quot;type&quot;:&quot;text&quot;}"/>
          <p:cNvSpPr txBox="1"/>
          <p:nvPr/>
        </p:nvSpPr>
        <p:spPr>
          <a:xfrm rot="0" flipH="0" flipV="0">
            <a:off x="9258300" y="3181350"/>
            <a:ext cx="2095500" cy="171450"/>
          </a:xfrm>
          <a:prstGeom prst="rect"/>
        </p:spPr>
        <p:txBody>
          <a:bodyPr wrap="none" lIns="0" tIns="0" rIns="0" bIns="0"/>
          <a:p>
            <a:pPr>
              <a:lnSpc>
                <a:spcPct val="135000"/>
              </a:lnSpc>
            </a:pPr>
            <a:r>
              <a:rPr lang="zh-CN" sz="788">
                <a:solidFill>
                  <a:srgbClr val="FBA15C"/>
                </a:solidFill>
                <a:latin typeface="Microsoft YaHei"/>
                <a:ea typeface="Microsoft YaHei"/>
              </a:rPr>
              <a:t>跨域共享能力只建一次</a:t>
            </a:r>
            <a:endParaRPr/>
          </a:p>
        </p:txBody>
      </p:sp>
      <p:sp>
        <p:nvSpPr>
          <p:cNvPr id="1072" name=""/>
          <p:cNvSpPr/>
          <p:nvPr/>
        </p:nvSpPr>
        <p:spPr>
          <a:xfrm rot="0" flipH="0" flipV="0">
            <a:off x="609600" y="3609975"/>
            <a:ext cx="6572250" cy="1685925"/>
          </a:xfrm>
          <a:prstGeom prst="roundRect">
            <a:avLst>
              <a:gd name="adj" fmla="val 2260"/>
            </a:avLst>
          </a:prstGeom>
          <a:solidFill>
            <a:srgbClr val="F7F7F8"/>
          </a:solidFill>
          <a:ln/>
        </p:spPr>
        <p:txBody>
          <a:bodyPr/>
          <a:p/>
        </p:txBody>
      </p:sp>
      <p:sp>
        <p:nvSpPr>
          <p:cNvPr id="1073" name="" descr="{&quot;isTemplate&quot;:true,&quot;type&quot;:&quot;text&quot;}"/>
          <p:cNvSpPr txBox="1"/>
          <p:nvPr/>
        </p:nvSpPr>
        <p:spPr>
          <a:xfrm rot="0" flipH="0" flipV="0">
            <a:off x="742950" y="3714750"/>
            <a:ext cx="6305550" cy="142875"/>
          </a:xfrm>
          <a:prstGeom prst="rect"/>
        </p:spPr>
        <p:txBody>
          <a:bodyPr wrap="none" lIns="0" tIns="0" rIns="0" bIns="0"/>
          <a:p>
            <a:pPr>
              <a:lnSpc>
                <a:spcPct val="100000"/>
              </a:lnSpc>
            </a:pPr>
            <a:r>
              <a:rPr lang="en-US" sz="938" b="1">
                <a:solidFill>
                  <a:srgbClr val="0F1423"/>
                </a:solidFill>
                <a:latin typeface="Microsoft YaHei"/>
                <a:ea typeface="Microsoft YaHei"/>
              </a:rPr>
              <a:t xml:space="preserve">② </a:t>
            </a:r>
            <a:r>
              <a:rPr lang="zh-CN" sz="938" b="1">
                <a:solidFill>
                  <a:srgbClr val="0F1423"/>
                </a:solidFill>
                <a:latin typeface="Microsoft YaHei"/>
                <a:ea typeface="Microsoft YaHei"/>
              </a:rPr>
              <a:t>应用集成架构四要素（逐对列明，不允许留空）</a:t>
            </a:r>
            <a:endParaRPr/>
          </a:p>
        </p:txBody>
      </p:sp>
      <p:sp>
        <p:nvSpPr>
          <p:cNvPr id="1074" name=""/>
          <p:cNvSpPr/>
          <p:nvPr/>
        </p:nvSpPr>
        <p:spPr>
          <a:xfrm rot="0" flipH="0" flipV="0">
            <a:off x="742950" y="3924300"/>
            <a:ext cx="6305550" cy="285750"/>
          </a:xfrm>
          <a:prstGeom prst="roundRect">
            <a:avLst>
              <a:gd name="adj" fmla="val 10000"/>
            </a:avLst>
          </a:prstGeom>
          <a:solidFill>
            <a:srgbClr val="FFFFFF"/>
          </a:solidFill>
          <a:ln w="12700">
            <a:solidFill>
              <a:srgbClr val="E8E8E8"/>
            </a:solidFill>
            <a:prstDash val="solid"/>
          </a:ln>
        </p:spPr>
        <p:txBody>
          <a:bodyPr/>
          <a:p/>
        </p:txBody>
      </p:sp>
      <p:sp>
        <p:nvSpPr>
          <p:cNvPr id="1075" name=""/>
          <p:cNvSpPr/>
          <p:nvPr/>
        </p:nvSpPr>
        <p:spPr>
          <a:xfrm rot="0" flipH="0" flipV="0">
            <a:off x="847725" y="3971925"/>
            <a:ext cx="742950" cy="190500"/>
          </a:xfrm>
          <a:prstGeom prst="roundRect">
            <a:avLst>
              <a:gd name="adj" fmla="val 10000"/>
            </a:avLst>
          </a:prstGeom>
          <a:solidFill>
            <a:srgbClr val="FA4F24"/>
          </a:solidFill>
          <a:ln/>
        </p:spPr>
        <p:txBody>
          <a:bodyPr/>
          <a:p/>
        </p:txBody>
      </p:sp>
      <p:sp>
        <p:nvSpPr>
          <p:cNvPr id="1076" name="" descr="{&quot;isTemplate&quot;:true,&quot;type&quot;:&quot;text&quot;}"/>
          <p:cNvSpPr txBox="1"/>
          <p:nvPr/>
        </p:nvSpPr>
        <p:spPr>
          <a:xfrm rot="0" flipH="0" flipV="0">
            <a:off x="1019175" y="4010025"/>
            <a:ext cx="400050" cy="123825"/>
          </a:xfrm>
          <a:prstGeom prst="rect"/>
        </p:spPr>
        <p:txBody>
          <a:bodyPr wrap="none" lIns="0" tIns="0" rIns="0" bIns="0"/>
          <a:p>
            <a:pPr>
              <a:lnSpc>
                <a:spcPct val="100000"/>
              </a:lnSpc>
            </a:pPr>
            <a:r>
              <a:rPr lang="zh-CN" sz="788" b="1">
                <a:solidFill>
                  <a:srgbClr val="FFFFFF"/>
                </a:solidFill>
                <a:latin typeface="Microsoft YaHei"/>
                <a:ea typeface="Microsoft YaHei"/>
              </a:rPr>
              <a:t>集成方式</a:t>
            </a:r>
            <a:endParaRPr/>
          </a:p>
        </p:txBody>
      </p:sp>
      <p:sp>
        <p:nvSpPr>
          <p:cNvPr id="1077" name="" descr="{&quot;isTemplate&quot;:true,&quot;type&quot;:&quot;text&quot;}"/>
          <p:cNvSpPr txBox="1"/>
          <p:nvPr/>
        </p:nvSpPr>
        <p:spPr>
          <a:xfrm rot="0" flipH="0" flipV="0">
            <a:off x="1685925" y="3981450"/>
            <a:ext cx="5257800" cy="171450"/>
          </a:xfrm>
          <a:prstGeom prst="rect"/>
        </p:spPr>
        <p:txBody>
          <a:bodyPr wrap="none" lIns="0" tIns="0" rIns="0" bIns="0"/>
          <a:p>
            <a:pPr>
              <a:lnSpc>
                <a:spcPct val="135000"/>
              </a:lnSpc>
            </a:pPr>
            <a:r>
              <a:rPr lang="zh-CN" sz="788">
                <a:solidFill>
                  <a:srgbClr val="3A4050"/>
                </a:solidFill>
                <a:latin typeface="Microsoft YaHei"/>
                <a:ea typeface="Microsoft YaHei"/>
              </a:rPr>
              <a:t>实时同步</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批量</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消息</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文件</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人工——目标态不允许「人工」</a:t>
            </a:r>
            <a:endParaRPr/>
          </a:p>
        </p:txBody>
      </p:sp>
      <p:sp>
        <p:nvSpPr>
          <p:cNvPr id="1078" name=""/>
          <p:cNvSpPr/>
          <p:nvPr/>
        </p:nvSpPr>
        <p:spPr>
          <a:xfrm rot="0" flipH="0" flipV="0">
            <a:off x="742950" y="4248150"/>
            <a:ext cx="6305550" cy="295275"/>
          </a:xfrm>
          <a:prstGeom prst="roundRect">
            <a:avLst>
              <a:gd name="adj" fmla="val 9677"/>
            </a:avLst>
          </a:prstGeom>
          <a:solidFill>
            <a:srgbClr val="FFFFFF"/>
          </a:solidFill>
          <a:ln w="12700">
            <a:solidFill>
              <a:srgbClr val="E8E8E8"/>
            </a:solidFill>
            <a:prstDash val="solid"/>
          </a:ln>
        </p:spPr>
        <p:txBody>
          <a:bodyPr/>
          <a:p/>
        </p:txBody>
      </p:sp>
      <p:sp>
        <p:nvSpPr>
          <p:cNvPr id="1079" name=""/>
          <p:cNvSpPr/>
          <p:nvPr/>
        </p:nvSpPr>
        <p:spPr>
          <a:xfrm rot="0" flipH="0" flipV="0">
            <a:off x="847725" y="4305300"/>
            <a:ext cx="742950" cy="190500"/>
          </a:xfrm>
          <a:prstGeom prst="roundRect">
            <a:avLst>
              <a:gd name="adj" fmla="val 10000"/>
            </a:avLst>
          </a:prstGeom>
          <a:solidFill>
            <a:srgbClr val="FA4F24"/>
          </a:solidFill>
          <a:ln/>
        </p:spPr>
        <p:txBody>
          <a:bodyPr/>
          <a:p/>
        </p:txBody>
      </p:sp>
      <p:sp>
        <p:nvSpPr>
          <p:cNvPr id="1080" name="" descr="{&quot;isTemplate&quot;:true,&quot;type&quot;:&quot;text&quot;}"/>
          <p:cNvSpPr txBox="1"/>
          <p:nvPr/>
        </p:nvSpPr>
        <p:spPr>
          <a:xfrm rot="0" flipH="0" flipV="0">
            <a:off x="1019175" y="4343400"/>
            <a:ext cx="400050" cy="123825"/>
          </a:xfrm>
          <a:prstGeom prst="rect"/>
        </p:spPr>
        <p:txBody>
          <a:bodyPr wrap="none" lIns="0" tIns="0" rIns="0" bIns="0"/>
          <a:p>
            <a:pPr>
              <a:lnSpc>
                <a:spcPct val="100000"/>
              </a:lnSpc>
            </a:pPr>
            <a:r>
              <a:rPr lang="zh-CN" sz="788" b="1">
                <a:solidFill>
                  <a:srgbClr val="FFFFFF"/>
                </a:solidFill>
                <a:latin typeface="Microsoft YaHei"/>
                <a:ea typeface="Microsoft YaHei"/>
              </a:rPr>
              <a:t>集成协议</a:t>
            </a:r>
            <a:endParaRPr/>
          </a:p>
        </p:txBody>
      </p:sp>
      <p:sp>
        <p:nvSpPr>
          <p:cNvPr id="1081" name="" descr="{&quot;isTemplate&quot;:true,&quot;type&quot;:&quot;text&quot;}"/>
          <p:cNvSpPr txBox="1"/>
          <p:nvPr/>
        </p:nvSpPr>
        <p:spPr>
          <a:xfrm rot="0" flipH="0" flipV="0">
            <a:off x="1685925" y="4314825"/>
            <a:ext cx="5257800" cy="171450"/>
          </a:xfrm>
          <a:prstGeom prst="rect"/>
        </p:spPr>
        <p:txBody>
          <a:bodyPr wrap="none" lIns="0" tIns="0" rIns="0" bIns="0"/>
          <a:p>
            <a:pPr>
              <a:lnSpc>
                <a:spcPct val="135000"/>
              </a:lnSpc>
            </a:pPr>
            <a:r>
              <a:rPr lang="en-US" sz="788">
                <a:solidFill>
                  <a:srgbClr val="3A4050"/>
                </a:solidFill>
                <a:latin typeface="Microsoft YaHei"/>
                <a:ea typeface="Microsoft YaHei"/>
              </a:rPr>
              <a:t xml:space="preserve">API / </a:t>
            </a:r>
            <a:r>
              <a:rPr lang="zh-CN" sz="788">
                <a:solidFill>
                  <a:srgbClr val="3A4050"/>
                </a:solidFill>
                <a:latin typeface="Microsoft YaHei"/>
                <a:ea typeface="Microsoft YaHei"/>
              </a:rPr>
              <a:t>消息队列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数据库视图</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文件格式，逐条定</a:t>
            </a:r>
            <a:endParaRPr/>
          </a:p>
        </p:txBody>
      </p:sp>
      <p:sp>
        <p:nvSpPr>
          <p:cNvPr id="1082" name=""/>
          <p:cNvSpPr/>
          <p:nvPr/>
        </p:nvSpPr>
        <p:spPr>
          <a:xfrm rot="0" flipH="0" flipV="0">
            <a:off x="742950" y="4581525"/>
            <a:ext cx="6305550" cy="285750"/>
          </a:xfrm>
          <a:prstGeom prst="roundRect">
            <a:avLst>
              <a:gd name="adj" fmla="val 10000"/>
            </a:avLst>
          </a:prstGeom>
          <a:solidFill>
            <a:srgbClr val="FFFFFF"/>
          </a:solidFill>
          <a:ln w="12700">
            <a:solidFill>
              <a:srgbClr val="E8E8E8"/>
            </a:solidFill>
            <a:prstDash val="solid"/>
          </a:ln>
        </p:spPr>
        <p:txBody>
          <a:bodyPr/>
          <a:p/>
        </p:txBody>
      </p:sp>
      <p:sp>
        <p:nvSpPr>
          <p:cNvPr id="1083" name=""/>
          <p:cNvSpPr/>
          <p:nvPr/>
        </p:nvSpPr>
        <p:spPr>
          <a:xfrm rot="0" flipH="0" flipV="0">
            <a:off x="847725" y="4629150"/>
            <a:ext cx="742950" cy="190500"/>
          </a:xfrm>
          <a:prstGeom prst="roundRect">
            <a:avLst>
              <a:gd name="adj" fmla="val 10000"/>
            </a:avLst>
          </a:prstGeom>
          <a:solidFill>
            <a:srgbClr val="FA4F24"/>
          </a:solidFill>
          <a:ln/>
        </p:spPr>
        <p:txBody>
          <a:bodyPr/>
          <a:p/>
        </p:txBody>
      </p:sp>
      <p:sp>
        <p:nvSpPr>
          <p:cNvPr id="1084" name="" descr="{&quot;isTemplate&quot;:true,&quot;type&quot;:&quot;text&quot;}"/>
          <p:cNvSpPr txBox="1"/>
          <p:nvPr/>
        </p:nvSpPr>
        <p:spPr>
          <a:xfrm rot="0" flipH="0" flipV="0">
            <a:off x="1019175" y="4667250"/>
            <a:ext cx="400050" cy="123825"/>
          </a:xfrm>
          <a:prstGeom prst="rect"/>
        </p:spPr>
        <p:txBody>
          <a:bodyPr wrap="none" lIns="0" tIns="0" rIns="0" bIns="0"/>
          <a:p>
            <a:pPr>
              <a:lnSpc>
                <a:spcPct val="100000"/>
              </a:lnSpc>
            </a:pPr>
            <a:r>
              <a:rPr lang="zh-CN" sz="788" b="1">
                <a:solidFill>
                  <a:srgbClr val="FFFFFF"/>
                </a:solidFill>
                <a:latin typeface="Microsoft YaHei"/>
                <a:ea typeface="Microsoft YaHei"/>
              </a:rPr>
              <a:t>数据流转</a:t>
            </a:r>
            <a:endParaRPr/>
          </a:p>
        </p:txBody>
      </p:sp>
      <p:sp>
        <p:nvSpPr>
          <p:cNvPr id="1085" name="" descr="{&quot;isTemplate&quot;:true,&quot;type&quot;:&quot;text&quot;}"/>
          <p:cNvSpPr txBox="1"/>
          <p:nvPr/>
        </p:nvSpPr>
        <p:spPr>
          <a:xfrm rot="0" flipH="0" flipV="0">
            <a:off x="1685925" y="4638675"/>
            <a:ext cx="5257800" cy="171450"/>
          </a:xfrm>
          <a:prstGeom prst="rect"/>
        </p:spPr>
        <p:txBody>
          <a:bodyPr wrap="none" lIns="0" tIns="0" rIns="0" bIns="0"/>
          <a:p>
            <a:pPr>
              <a:lnSpc>
                <a:spcPct val="135000"/>
              </a:lnSpc>
            </a:pPr>
            <a:r>
              <a:rPr lang="zh-CN" sz="788">
                <a:solidFill>
                  <a:srgbClr val="3A4050"/>
                </a:solidFill>
                <a:latin typeface="Microsoft YaHei"/>
                <a:ea typeface="Microsoft YaHei"/>
              </a:rPr>
              <a:t>来源系统</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目标系统</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传哪些实体</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同步频率与延迟要求</a:t>
            </a:r>
            <a:endParaRPr/>
          </a:p>
        </p:txBody>
      </p:sp>
      <p:sp>
        <p:nvSpPr>
          <p:cNvPr id="1086" name=""/>
          <p:cNvSpPr/>
          <p:nvPr/>
        </p:nvSpPr>
        <p:spPr>
          <a:xfrm rot="0" flipH="0" flipV="0">
            <a:off x="742950" y="4905375"/>
            <a:ext cx="6305550" cy="285750"/>
          </a:xfrm>
          <a:prstGeom prst="roundRect">
            <a:avLst>
              <a:gd name="adj" fmla="val 10000"/>
            </a:avLst>
          </a:prstGeom>
          <a:solidFill>
            <a:srgbClr val="FFFFFF"/>
          </a:solidFill>
          <a:ln w="12700">
            <a:solidFill>
              <a:srgbClr val="E8E8E8"/>
            </a:solidFill>
            <a:prstDash val="solid"/>
          </a:ln>
        </p:spPr>
        <p:txBody>
          <a:bodyPr/>
          <a:p/>
        </p:txBody>
      </p:sp>
      <p:sp>
        <p:nvSpPr>
          <p:cNvPr id="1087" name=""/>
          <p:cNvSpPr/>
          <p:nvPr/>
        </p:nvSpPr>
        <p:spPr>
          <a:xfrm rot="0" flipH="0" flipV="0">
            <a:off x="847725" y="4953000"/>
            <a:ext cx="742950" cy="190500"/>
          </a:xfrm>
          <a:prstGeom prst="roundRect">
            <a:avLst>
              <a:gd name="adj" fmla="val 10000"/>
            </a:avLst>
          </a:prstGeom>
          <a:solidFill>
            <a:srgbClr val="FA4F24"/>
          </a:solidFill>
          <a:ln/>
        </p:spPr>
        <p:txBody>
          <a:bodyPr/>
          <a:p/>
        </p:txBody>
      </p:sp>
      <p:sp>
        <p:nvSpPr>
          <p:cNvPr id="1088" name="" descr="{&quot;isTemplate&quot;:true,&quot;type&quot;:&quot;text&quot;}"/>
          <p:cNvSpPr txBox="1"/>
          <p:nvPr/>
        </p:nvSpPr>
        <p:spPr>
          <a:xfrm rot="0" flipH="0" flipV="0">
            <a:off x="1019175" y="4991100"/>
            <a:ext cx="400050" cy="123825"/>
          </a:xfrm>
          <a:prstGeom prst="rect"/>
        </p:spPr>
        <p:txBody>
          <a:bodyPr wrap="none" lIns="0" tIns="0" rIns="0" bIns="0"/>
          <a:p>
            <a:pPr>
              <a:lnSpc>
                <a:spcPct val="100000"/>
              </a:lnSpc>
            </a:pPr>
            <a:r>
              <a:rPr lang="zh-CN" sz="788" b="1">
                <a:solidFill>
                  <a:srgbClr val="FFFFFF"/>
                </a:solidFill>
                <a:latin typeface="Microsoft YaHei"/>
                <a:ea typeface="Microsoft YaHei"/>
              </a:rPr>
              <a:t>服务调用</a:t>
            </a:r>
            <a:endParaRPr/>
          </a:p>
        </p:txBody>
      </p:sp>
      <p:sp>
        <p:nvSpPr>
          <p:cNvPr id="1089" name="" descr="{&quot;isTemplate&quot;:true,&quot;type&quot;:&quot;text&quot;}"/>
          <p:cNvSpPr txBox="1"/>
          <p:nvPr/>
        </p:nvSpPr>
        <p:spPr>
          <a:xfrm rot="0" flipH="0" flipV="0">
            <a:off x="1685925" y="4962525"/>
            <a:ext cx="5257800" cy="171450"/>
          </a:xfrm>
          <a:prstGeom prst="rect"/>
        </p:spPr>
        <p:txBody>
          <a:bodyPr wrap="none" lIns="0" tIns="0" rIns="0" bIns="0"/>
          <a:p>
            <a:pPr>
              <a:lnSpc>
                <a:spcPct val="135000"/>
              </a:lnSpc>
            </a:pPr>
            <a:r>
              <a:rPr lang="zh-CN" sz="788">
                <a:solidFill>
                  <a:srgbClr val="3A4050"/>
                </a:solidFill>
                <a:latin typeface="Microsoft YaHei"/>
                <a:ea typeface="Microsoft YaHei"/>
              </a:rPr>
              <a:t>跨应用调用的服务清单、调用方向、超时与重试策略</a:t>
            </a:r>
            <a:endParaRPr/>
          </a:p>
        </p:txBody>
      </p:sp>
      <p:sp>
        <p:nvSpPr>
          <p:cNvPr id="1090" name=""/>
          <p:cNvSpPr/>
          <p:nvPr/>
        </p:nvSpPr>
        <p:spPr>
          <a:xfrm rot="0" flipH="0" flipV="0">
            <a:off x="7296150" y="3609975"/>
            <a:ext cx="4324350" cy="1685925"/>
          </a:xfrm>
          <a:prstGeom prst="roundRect">
            <a:avLst>
              <a:gd name="adj" fmla="val 2260"/>
            </a:avLst>
          </a:prstGeom>
          <a:solidFill>
            <a:srgbClr val="FFF3EE"/>
          </a:solidFill>
          <a:ln/>
        </p:spPr>
        <p:txBody>
          <a:bodyPr/>
          <a:p/>
        </p:txBody>
      </p:sp>
      <p:sp>
        <p:nvSpPr>
          <p:cNvPr id="1091" name=""/>
          <p:cNvSpPr/>
          <p:nvPr/>
        </p:nvSpPr>
        <p:spPr>
          <a:xfrm rot="0" flipH="0" flipV="0">
            <a:off x="7296150" y="3609975"/>
            <a:ext cx="4324350" cy="1685925"/>
          </a:xfrm>
          <a:custGeom>
            <a:pathLst>
              <a:path w="454" h="177">
                <a:moveTo>
                  <a:pt x="4" y="177"/>
                </a:moveTo>
                <a:cubicBezTo>
                  <a:pt x="2" y="177"/>
                  <a:pt x="0" y="175"/>
                  <a:pt x="0" y="173"/>
                </a:cubicBezTo>
                <a:lnTo>
                  <a:pt x="0" y="4"/>
                </a:lnTo>
                <a:cubicBezTo>
                  <a:pt x="0" y="2"/>
                  <a:pt x="2" y="0"/>
                  <a:pt x="4" y="0"/>
                </a:cubicBezTo>
                <a:lnTo>
                  <a:pt x="4" y="177"/>
                </a:lnTo>
                <a:close/>
              </a:path>
            </a:pathLst>
          </a:custGeom>
          <a:solidFill>
            <a:srgbClr val="FA4F24"/>
          </a:solidFill>
          <a:ln/>
        </p:spPr>
        <p:txBody>
          <a:bodyPr/>
          <a:p/>
        </p:txBody>
      </p:sp>
      <p:sp>
        <p:nvSpPr>
          <p:cNvPr id="1092" name="" descr="{&quot;isTemplate&quot;:true,&quot;type&quot;:&quot;text&quot;}"/>
          <p:cNvSpPr txBox="1"/>
          <p:nvPr/>
        </p:nvSpPr>
        <p:spPr>
          <a:xfrm rot="0" flipH="0" flipV="0">
            <a:off x="7439025" y="3724275"/>
            <a:ext cx="4000500" cy="142875"/>
          </a:xfrm>
          <a:prstGeom prst="rect"/>
        </p:spPr>
        <p:txBody>
          <a:bodyPr wrap="none" lIns="0" tIns="0" rIns="0" bIns="0"/>
          <a:p>
            <a:pPr>
              <a:lnSpc>
                <a:spcPct val="100000"/>
              </a:lnSpc>
            </a:pPr>
            <a:r>
              <a:rPr lang="zh-CN" sz="938" b="1">
                <a:solidFill>
                  <a:srgbClr val="C43A17"/>
                </a:solidFill>
                <a:latin typeface="Microsoft YaHei"/>
                <a:ea typeface="Microsoft YaHei"/>
              </a:rPr>
              <a:t>功能模块级设计：三条判据</a:t>
            </a:r>
            <a:endParaRPr/>
          </a:p>
        </p:txBody>
      </p:sp>
      <p:sp>
        <p:nvSpPr>
          <p:cNvPr id="1093" name="" descr="{&quot;isTemplate&quot;:true,&quot;type&quot;:&quot;text&quot;}"/>
          <p:cNvSpPr txBox="1"/>
          <p:nvPr/>
        </p:nvSpPr>
        <p:spPr>
          <a:xfrm rot="0" flipH="0" flipV="0">
            <a:off x="7439025" y="392430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094" name="" descr="{&quot;isTemplate&quot;:true,&quot;type&quot;:&quot;text&quot;}"/>
          <p:cNvSpPr txBox="1"/>
          <p:nvPr/>
        </p:nvSpPr>
        <p:spPr>
          <a:xfrm rot="0" flipH="0" flipV="0">
            <a:off x="7553325" y="3924300"/>
            <a:ext cx="3886200" cy="352425"/>
          </a:xfrm>
          <a:prstGeom prst="rect"/>
        </p:spPr>
        <p:txBody>
          <a:bodyPr wrap="square" lIns="0" tIns="0" rIns="0" bIns="0">
            <a:normAutofit/>
          </a:bodyPr>
          <a:p>
            <a:pPr>
              <a:lnSpc>
                <a:spcPct val="140000"/>
              </a:lnSpc>
            </a:pPr>
            <a:r>
              <a:rPr lang="zh-CN" sz="825">
                <a:solidFill>
                  <a:srgbClr val="3A4050"/>
                </a:solidFill>
                <a:latin typeface="Microsoft YaHei"/>
                <a:ea typeface="Microsoft YaHei"/>
              </a:rPr>
              <a:t>模块名与业务语言一致：叫「缺陷工单」不要叫「问题处理」，叫「检修计划」不要叫「维护管理」</a:t>
            </a:r>
            <a:endParaRPr/>
          </a:p>
        </p:txBody>
      </p:sp>
      <p:sp>
        <p:nvSpPr>
          <p:cNvPr id="1095" name="" descr="{&quot;isTemplate&quot;:true,&quot;type&quot;:&quot;text&quot;}"/>
          <p:cNvSpPr txBox="1"/>
          <p:nvPr/>
        </p:nvSpPr>
        <p:spPr>
          <a:xfrm rot="0" flipH="0" flipV="0">
            <a:off x="7439025" y="4391025"/>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096" name="" descr="{&quot;isTemplate&quot;:true,&quot;type&quot;:&quot;text&quot;}"/>
          <p:cNvSpPr txBox="1"/>
          <p:nvPr/>
        </p:nvSpPr>
        <p:spPr>
          <a:xfrm rot="0" flipH="0" flipV="0">
            <a:off x="7553325" y="4391025"/>
            <a:ext cx="3886200" cy="180975"/>
          </a:xfrm>
          <a:prstGeom prst="rect"/>
        </p:spPr>
        <p:txBody>
          <a:bodyPr wrap="none" lIns="0" tIns="0" rIns="0" bIns="0"/>
          <a:p>
            <a:pPr>
              <a:lnSpc>
                <a:spcPct val="140000"/>
              </a:lnSpc>
            </a:pPr>
            <a:r>
              <a:rPr lang="zh-CN" sz="825">
                <a:solidFill>
                  <a:srgbClr val="3A4050"/>
                </a:solidFill>
                <a:latin typeface="Microsoft YaHei"/>
                <a:ea typeface="Microsoft YaHei"/>
              </a:rPr>
              <a:t>每个模块标注它支撑哪几条</a:t>
            </a:r>
            <a:r>
              <a:rPr lang="en-US" sz="825">
                <a:solidFill>
                  <a:srgbClr val="3A4050"/>
                </a:solidFill>
                <a:latin typeface="Microsoft YaHei"/>
                <a:ea typeface="Microsoft YaHei"/>
              </a:rPr>
              <a:t xml:space="preserve"> L4</a:t>
            </a:r>
            <a:r>
              <a:rPr lang="zh-CN" sz="825">
                <a:solidFill>
                  <a:srgbClr val="3A4050"/>
                </a:solidFill>
                <a:latin typeface="Microsoft YaHei"/>
                <a:ea typeface="Microsoft YaHei"/>
              </a:rPr>
              <a:t>、依赖哪些逻辑实体</a:t>
            </a:r>
            <a:endParaRPr/>
          </a:p>
        </p:txBody>
      </p:sp>
      <p:sp>
        <p:nvSpPr>
          <p:cNvPr id="1097" name="" descr="{&quot;isTemplate&quot;:true,&quot;type&quot;:&quot;text&quot;}"/>
          <p:cNvSpPr txBox="1"/>
          <p:nvPr/>
        </p:nvSpPr>
        <p:spPr>
          <a:xfrm rot="0" flipH="0" flipV="0">
            <a:off x="7439025" y="4676775"/>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098" name="" descr="{&quot;isTemplate&quot;:true,&quot;type&quot;:&quot;text&quot;}"/>
          <p:cNvSpPr txBox="1"/>
          <p:nvPr/>
        </p:nvSpPr>
        <p:spPr>
          <a:xfrm rot="0" flipH="0" flipV="0">
            <a:off x="7553325" y="4676775"/>
            <a:ext cx="3886200" cy="180975"/>
          </a:xfrm>
          <a:prstGeom prst="rect"/>
        </p:spPr>
        <p:txBody>
          <a:bodyPr wrap="none" lIns="0" tIns="0" rIns="0" bIns="0"/>
          <a:p>
            <a:pPr>
              <a:lnSpc>
                <a:spcPct val="140000"/>
              </a:lnSpc>
            </a:pPr>
            <a:r>
              <a:rPr lang="zh-CN" sz="825">
                <a:solidFill>
                  <a:srgbClr val="3A4050"/>
                </a:solidFill>
                <a:latin typeface="Microsoft YaHei"/>
                <a:ea typeface="Microsoft YaHei"/>
              </a:rPr>
              <a:t>模块边界即应用边界：两个模块要共享同一份主数据，就必须放同一个应用</a:t>
            </a:r>
            <a:endParaRPr/>
          </a:p>
        </p:txBody>
      </p:sp>
      <p:sp>
        <p:nvSpPr>
          <p:cNvPr id="1099" name="" descr="{&quot;isTemplate&quot;:true,&quot;type&quot;:&quot;text&quot;}"/>
          <p:cNvSpPr txBox="1"/>
          <p:nvPr/>
        </p:nvSpPr>
        <p:spPr>
          <a:xfrm rot="0" flipH="0" flipV="0">
            <a:off x="7439025" y="5010150"/>
            <a:ext cx="4000500" cy="171450"/>
          </a:xfrm>
          <a:prstGeom prst="rect"/>
        </p:spPr>
        <p:txBody>
          <a:bodyPr wrap="none" lIns="0" tIns="0" rIns="0" bIns="0"/>
          <a:p>
            <a:pPr>
              <a:lnSpc>
                <a:spcPct val="135000"/>
              </a:lnSpc>
            </a:pPr>
            <a:r>
              <a:rPr lang="zh-CN" sz="825" b="1">
                <a:solidFill>
                  <a:srgbClr val="C43A17"/>
                </a:solidFill>
                <a:latin typeface="Microsoft YaHei"/>
                <a:ea typeface="Microsoft YaHei"/>
              </a:rPr>
              <a:t>颗粒度到功能模块，不下到页面。页面级设计属于系统实现阶段，放进咨询会越界。</a:t>
            </a:r>
            <a:endParaRPr/>
          </a:p>
        </p:txBody>
      </p:sp>
      <p:sp>
        <p:nvSpPr>
          <p:cNvPr id="1100" name=""/>
          <p:cNvSpPr/>
          <p:nvPr/>
        </p:nvSpPr>
        <p:spPr>
          <a:xfrm rot="0" flipH="0" flipV="0">
            <a:off x="647700" y="5372100"/>
            <a:ext cx="3609975" cy="285750"/>
          </a:xfrm>
          <a:prstGeom prst="roundRect">
            <a:avLst>
              <a:gd name="adj" fmla="val 10000"/>
            </a:avLst>
          </a:prstGeom>
          <a:solidFill>
            <a:srgbClr val="0F1423"/>
          </a:solidFill>
          <a:ln/>
        </p:spPr>
        <p:txBody>
          <a:bodyPr/>
          <a:p/>
        </p:txBody>
      </p:sp>
      <p:sp>
        <p:nvSpPr>
          <p:cNvPr id="1101" name=""/>
          <p:cNvSpPr/>
          <p:nvPr/>
        </p:nvSpPr>
        <p:spPr>
          <a:xfrm rot="0" flipH="0" flipV="0">
            <a:off x="647700" y="5372100"/>
            <a:ext cx="3609975" cy="285750"/>
          </a:xfrm>
          <a:custGeom>
            <a:pathLst>
              <a:path w="379" h="30">
                <a:moveTo>
                  <a:pt x="4" y="30"/>
                </a:moveTo>
                <a:cubicBezTo>
                  <a:pt x="3" y="30"/>
                  <a:pt x="2" y="30"/>
                  <a:pt x="1" y="29"/>
                </a:cubicBezTo>
                <a:cubicBezTo>
                  <a:pt x="0" y="28"/>
                  <a:pt x="0" y="28"/>
                  <a:pt x="0" y="27"/>
                </a:cubicBezTo>
                <a:lnTo>
                  <a:pt x="0" y="3"/>
                </a:lnTo>
                <a:cubicBezTo>
                  <a:pt x="0" y="1"/>
                  <a:pt x="1" y="0"/>
                  <a:pt x="3" y="0"/>
                </a:cubicBezTo>
                <a:lnTo>
                  <a:pt x="4" y="0"/>
                </a:lnTo>
                <a:close/>
              </a:path>
            </a:pathLst>
          </a:custGeom>
          <a:solidFill>
            <a:srgbClr val="FA4F24"/>
          </a:solidFill>
          <a:ln/>
        </p:spPr>
        <p:txBody>
          <a:bodyPr/>
          <a:p/>
        </p:txBody>
      </p:sp>
      <p:sp>
        <p:nvSpPr>
          <p:cNvPr id="1102" name="" descr="{&quot;isTemplate&quot;:true,&quot;type&quot;:&quot;text&quot;}"/>
          <p:cNvSpPr txBox="1"/>
          <p:nvPr/>
        </p:nvSpPr>
        <p:spPr>
          <a:xfrm rot="0" flipH="0" flipV="0">
            <a:off x="762000" y="5448300"/>
            <a:ext cx="657225" cy="133350"/>
          </a:xfrm>
          <a:prstGeom prst="rect"/>
        </p:spPr>
        <p:txBody>
          <a:bodyPr wrap="none" lIns="0" tIns="0" rIns="0" bIns="0"/>
          <a:p>
            <a:pPr>
              <a:lnSpc>
                <a:spcPct val="100000"/>
              </a:lnSpc>
            </a:pPr>
            <a:r>
              <a:rPr lang="zh-CN" sz="863" b="1">
                <a:solidFill>
                  <a:srgbClr val="FBA15C"/>
                </a:solidFill>
                <a:latin typeface="Microsoft YaHei"/>
                <a:ea typeface="Microsoft YaHei"/>
              </a:rPr>
              <a:t>演进路径要写</a:t>
            </a:r>
            <a:endParaRPr/>
          </a:p>
        </p:txBody>
      </p:sp>
      <p:sp>
        <p:nvSpPr>
          <p:cNvPr id="1103" name="" descr="{&quot;isTemplate&quot;:true,&quot;type&quot;:&quot;text&quot;}"/>
          <p:cNvSpPr txBox="1"/>
          <p:nvPr/>
        </p:nvSpPr>
        <p:spPr>
          <a:xfrm rot="0" flipH="0" flipV="0">
            <a:off x="1495425" y="5438775"/>
            <a:ext cx="2609850" cy="152400"/>
          </a:xfrm>
          <a:prstGeom prst="rect"/>
        </p:spPr>
        <p:txBody>
          <a:bodyPr wrap="none" lIns="0" tIns="0" rIns="0" bIns="0"/>
          <a:p>
            <a:pPr>
              <a:lnSpc>
                <a:spcPct val="130000"/>
              </a:lnSpc>
            </a:pPr>
            <a:r>
              <a:rPr lang="zh-CN" sz="750">
                <a:solidFill>
                  <a:srgbClr val="FFFFFF">
                    <a:alpha val="86000"/>
                  </a:srgbClr>
                </a:solidFill>
                <a:latin typeface="Microsoft YaHei"/>
                <a:ea typeface="Microsoft YaHei"/>
              </a:rPr>
              <a:t>现状</a:t>
            </a:r>
            <a:r>
              <a:rPr lang="en-US" sz="750">
                <a:solidFill>
                  <a:srgbClr val="FFFFFF">
                    <a:alpha val="86000"/>
                  </a:srgbClr>
                </a:solidFill>
                <a:latin typeface="Microsoft YaHei"/>
                <a:ea typeface="Microsoft YaHei"/>
              </a:rPr>
              <a:t xml:space="preserve"> → </a:t>
            </a:r>
            <a:r>
              <a:rPr lang="zh-CN" sz="750">
                <a:solidFill>
                  <a:srgbClr val="FFFFFF">
                    <a:alpha val="86000"/>
                  </a:srgbClr>
                </a:solidFill>
                <a:latin typeface="Microsoft YaHei"/>
                <a:ea typeface="Microsoft YaHei"/>
              </a:rPr>
              <a:t>目标态分几步、每步投入多少</a:t>
            </a:r>
            <a:endParaRPr/>
          </a:p>
        </p:txBody>
      </p:sp>
      <p:sp>
        <p:nvSpPr>
          <p:cNvPr id="1104" name=""/>
          <p:cNvSpPr/>
          <p:nvPr/>
        </p:nvSpPr>
        <p:spPr>
          <a:xfrm rot="0" flipH="0" flipV="0">
            <a:off x="4324350" y="5372100"/>
            <a:ext cx="3619500" cy="285750"/>
          </a:xfrm>
          <a:prstGeom prst="roundRect">
            <a:avLst>
              <a:gd name="adj" fmla="val 10000"/>
            </a:avLst>
          </a:prstGeom>
          <a:solidFill>
            <a:srgbClr val="F7F7F8"/>
          </a:solidFill>
          <a:ln/>
        </p:spPr>
        <p:txBody>
          <a:bodyPr/>
          <a:p/>
        </p:txBody>
      </p:sp>
      <p:sp>
        <p:nvSpPr>
          <p:cNvPr id="1105" name=""/>
          <p:cNvSpPr/>
          <p:nvPr/>
        </p:nvSpPr>
        <p:spPr>
          <a:xfrm rot="0" flipH="0" flipV="0">
            <a:off x="4324350" y="5372100"/>
            <a:ext cx="3619500" cy="285750"/>
          </a:xfrm>
          <a:custGeom>
            <a:pathLst>
              <a:path w="380" h="30">
                <a:moveTo>
                  <a:pt x="4" y="30"/>
                </a:moveTo>
                <a:cubicBezTo>
                  <a:pt x="3" y="30"/>
                  <a:pt x="2" y="30"/>
                  <a:pt x="1" y="29"/>
                </a:cubicBezTo>
                <a:cubicBezTo>
                  <a:pt x="0" y="28"/>
                  <a:pt x="0" y="28"/>
                  <a:pt x="0" y="27"/>
                </a:cubicBezTo>
                <a:lnTo>
                  <a:pt x="0" y="3"/>
                </a:lnTo>
                <a:cubicBezTo>
                  <a:pt x="0" y="1"/>
                  <a:pt x="1" y="0"/>
                  <a:pt x="3" y="0"/>
                </a:cubicBezTo>
                <a:lnTo>
                  <a:pt x="4" y="0"/>
                </a:lnTo>
                <a:close/>
              </a:path>
            </a:pathLst>
          </a:custGeom>
          <a:solidFill>
            <a:srgbClr val="E0641E"/>
          </a:solidFill>
          <a:ln/>
        </p:spPr>
        <p:txBody>
          <a:bodyPr/>
          <a:p/>
        </p:txBody>
      </p:sp>
      <p:sp>
        <p:nvSpPr>
          <p:cNvPr id="1106" name="" descr="{&quot;isTemplate&quot;:true,&quot;type&quot;:&quot;text&quot;}"/>
          <p:cNvSpPr txBox="1"/>
          <p:nvPr/>
        </p:nvSpPr>
        <p:spPr>
          <a:xfrm rot="0" flipH="0" flipV="0">
            <a:off x="4438650" y="5448300"/>
            <a:ext cx="657225" cy="133350"/>
          </a:xfrm>
          <a:prstGeom prst="rect"/>
        </p:spPr>
        <p:txBody>
          <a:bodyPr wrap="none" lIns="0" tIns="0" rIns="0" bIns="0"/>
          <a:p>
            <a:pPr>
              <a:lnSpc>
                <a:spcPct val="100000"/>
              </a:lnSpc>
            </a:pPr>
            <a:r>
              <a:rPr lang="zh-CN" sz="863" b="1">
                <a:solidFill>
                  <a:srgbClr val="0F1423"/>
                </a:solidFill>
                <a:latin typeface="Microsoft YaHei"/>
                <a:ea typeface="Microsoft YaHei"/>
              </a:rPr>
              <a:t>不拆现有系统</a:t>
            </a:r>
            <a:endParaRPr/>
          </a:p>
        </p:txBody>
      </p:sp>
      <p:sp>
        <p:nvSpPr>
          <p:cNvPr id="1107" name="" descr="{&quot;isTemplate&quot;:true,&quot;type&quot;:&quot;text&quot;}"/>
          <p:cNvSpPr txBox="1"/>
          <p:nvPr/>
        </p:nvSpPr>
        <p:spPr>
          <a:xfrm rot="0" flipH="0" flipV="0">
            <a:off x="5172075" y="5438775"/>
            <a:ext cx="2619375" cy="152400"/>
          </a:xfrm>
          <a:prstGeom prst="rect"/>
        </p:spPr>
        <p:txBody>
          <a:bodyPr wrap="none" lIns="0" tIns="0" rIns="0" bIns="0"/>
          <a:p>
            <a:pPr>
              <a:lnSpc>
                <a:spcPct val="130000"/>
              </a:lnSpc>
            </a:pPr>
            <a:r>
              <a:rPr lang="zh-CN" sz="750">
                <a:solidFill>
                  <a:srgbClr val="5A6070"/>
                </a:solidFill>
                <a:latin typeface="Microsoft YaHei"/>
                <a:ea typeface="Microsoft YaHei"/>
              </a:rPr>
              <a:t>蓝图不预设推倒重来，只给演进路径与替换顺序</a:t>
            </a:r>
            <a:endParaRPr/>
          </a:p>
        </p:txBody>
      </p:sp>
      <p:sp>
        <p:nvSpPr>
          <p:cNvPr id="1108" name=""/>
          <p:cNvSpPr/>
          <p:nvPr/>
        </p:nvSpPr>
        <p:spPr>
          <a:xfrm rot="0" flipH="0" flipV="0">
            <a:off x="8010525" y="5372100"/>
            <a:ext cx="3609975" cy="285750"/>
          </a:xfrm>
          <a:prstGeom prst="roundRect">
            <a:avLst>
              <a:gd name="adj" fmla="val 10000"/>
            </a:avLst>
          </a:prstGeom>
          <a:solidFill>
            <a:srgbClr val="F7F7F8"/>
          </a:solidFill>
          <a:ln/>
        </p:spPr>
        <p:txBody>
          <a:bodyPr/>
          <a:p/>
        </p:txBody>
      </p:sp>
      <p:sp>
        <p:nvSpPr>
          <p:cNvPr id="1109" name=""/>
          <p:cNvSpPr/>
          <p:nvPr/>
        </p:nvSpPr>
        <p:spPr>
          <a:xfrm rot="0" flipH="0" flipV="0">
            <a:off x="8010525" y="5372100"/>
            <a:ext cx="3609975" cy="285750"/>
          </a:xfrm>
          <a:custGeom>
            <a:pathLst>
              <a:path w="379" h="30">
                <a:moveTo>
                  <a:pt x="4" y="30"/>
                </a:moveTo>
                <a:cubicBezTo>
                  <a:pt x="3" y="30"/>
                  <a:pt x="2" y="30"/>
                  <a:pt x="1" y="29"/>
                </a:cubicBezTo>
                <a:cubicBezTo>
                  <a:pt x="0" y="28"/>
                  <a:pt x="0" y="28"/>
                  <a:pt x="0" y="27"/>
                </a:cubicBezTo>
                <a:lnTo>
                  <a:pt x="0" y="3"/>
                </a:lnTo>
                <a:cubicBezTo>
                  <a:pt x="0" y="1"/>
                  <a:pt x="1" y="0"/>
                  <a:pt x="3" y="0"/>
                </a:cubicBezTo>
                <a:lnTo>
                  <a:pt x="4" y="0"/>
                </a:lnTo>
                <a:close/>
              </a:path>
            </a:pathLst>
          </a:custGeom>
          <a:solidFill>
            <a:srgbClr val="C43A17"/>
          </a:solidFill>
          <a:ln/>
        </p:spPr>
        <p:txBody>
          <a:bodyPr/>
          <a:p/>
        </p:txBody>
      </p:sp>
      <p:sp>
        <p:nvSpPr>
          <p:cNvPr id="1110" name="" descr="{&quot;isTemplate&quot;:true,&quot;type&quot;:&quot;text&quot;}"/>
          <p:cNvSpPr txBox="1"/>
          <p:nvPr/>
        </p:nvSpPr>
        <p:spPr>
          <a:xfrm rot="0" flipH="0" flipV="0">
            <a:off x="8124825" y="5448300"/>
            <a:ext cx="657225" cy="133350"/>
          </a:xfrm>
          <a:prstGeom prst="rect"/>
        </p:spPr>
        <p:txBody>
          <a:bodyPr wrap="none" lIns="0" tIns="0" rIns="0" bIns="0"/>
          <a:p>
            <a:pPr>
              <a:lnSpc>
                <a:spcPct val="100000"/>
              </a:lnSpc>
            </a:pPr>
            <a:r>
              <a:rPr lang="zh-CN" sz="863" b="1">
                <a:solidFill>
                  <a:srgbClr val="0F1423"/>
                </a:solidFill>
                <a:latin typeface="Microsoft YaHei"/>
                <a:ea typeface="Microsoft YaHei"/>
              </a:rPr>
              <a:t>集成债要销账</a:t>
            </a:r>
            <a:endParaRPr/>
          </a:p>
        </p:txBody>
      </p:sp>
      <p:sp>
        <p:nvSpPr>
          <p:cNvPr id="1111" name="" descr="{&quot;isTemplate&quot;:true,&quot;type&quot;:&quot;text&quot;}"/>
          <p:cNvSpPr txBox="1"/>
          <p:nvPr/>
        </p:nvSpPr>
        <p:spPr>
          <a:xfrm rot="0" flipH="0" flipV="0">
            <a:off x="8858250" y="5438775"/>
            <a:ext cx="2609850" cy="152400"/>
          </a:xfrm>
          <a:prstGeom prst="rect"/>
        </p:spPr>
        <p:txBody>
          <a:bodyPr wrap="none" lIns="0" tIns="0" rIns="0" bIns="0"/>
          <a:p>
            <a:pPr>
              <a:lnSpc>
                <a:spcPct val="130000"/>
              </a:lnSpc>
            </a:pPr>
            <a:r>
              <a:rPr lang="zh-CN" sz="750">
                <a:solidFill>
                  <a:srgbClr val="5A6070"/>
                </a:solidFill>
                <a:latin typeface="Microsoft YaHei"/>
                <a:ea typeface="Microsoft YaHei"/>
              </a:rPr>
              <a:t>阶段一列的弱集成，逐条给出目标处理方式</a:t>
            </a:r>
            <a:endParaRPr/>
          </a:p>
        </p:txBody>
      </p:sp>
      <p:sp>
        <p:nvSpPr>
          <p:cNvPr id="1112" name=""/>
          <p:cNvSpPr/>
          <p:nvPr/>
        </p:nvSpPr>
        <p:spPr>
          <a:xfrm rot="0" flipH="0" flipV="0">
            <a:off x="609600" y="5943600"/>
            <a:ext cx="133350" cy="133350"/>
          </a:xfrm>
          <a:prstGeom prst="rect">
            <a:avLst/>
          </a:prstGeom>
          <a:solidFill>
            <a:srgbClr val="FA4F24"/>
          </a:solidFill>
          <a:ln/>
        </p:spPr>
        <p:txBody>
          <a:bodyPr/>
          <a:p/>
        </p:txBody>
      </p:sp>
      <p:sp>
        <p:nvSpPr>
          <p:cNvPr id="1113"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114"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24 / 36</a:t>
            </a:r>
            <a:endParaRPr/>
          </a:p>
        </p:txBody>
      </p:sp>
    </p:spTree>
  </p:cSld>
</p:sld>
</file>

<file path=ppt/slides/slide25.xml><?xml version="1.0" encoding="utf-8"?>
<p:sld xmlns:p="http://schemas.openxmlformats.org/presentationml/2006/main" xmlns:a="http://schemas.openxmlformats.org/drawingml/2006/main">
  <p:cSld>
    <p:spTree>
      <p:nvGrpSpPr>
        <p:cNvPr id="1115" name="" descr="&lt;Slide style={{ width: 1280, height: 720, background: '#FFFFFF', padding: '24px 64px 0' }}&gt;&#13;&#10;    {/* A 区 */}&#13;&#10;    &lt;Box style={{ height: 96, flexDirection: 'column', justifyContent: 'flex-start' }}&gt;&#13;&#10;        &lt;Text style={{ fontSize: 32, fontWeight: 'bold', color: '#0F1423' }}&gt;&#13;&#10;            AI 应用场景识别 &lt;span style={{ color: '#FA4F24' }}&gt;与优先级评估&lt;/span&gt;&#13;&#10;        &lt;/Text&gt;&#13;&#10;        &lt;Text style={{ fontSize: 19, color: '#8A8F99', marginTop: 7 }}&gt;&#13;&#10;            招标 3.2(5) 单列的一条方法。场景从业务循环里长出来，不是从技术能力里想出来&#13;&#10;        &lt;/Text&gt;&#13;&#10;    &lt;/Box&gt;&#13;&#10;    &lt;Box style={{ height: 1, background: '#E8E8E8' }} /&gt;&#13;&#10;&#13;&#10;    {/* B 区 */}&#13;&#10;    &lt;Box style={{ paddingTop: 10, paddingBottom: 6, height: 479, flexDirection: 'column', gap: 8 }}&gt;&#13;&#10;        {/* 上：四步识别法 */}&#13;&#10;        &lt;Box style={{ height: 102, flexDirection: 'row', gap: 6 }}&gt;&#13;&#10;            {[&#13;&#10;                { n: '1', t: '从痛点找场景', d: '逐条读 PAIN-ROOT 表，凡是「需要大量阅读、判断、重复录入、跨系统搬运」的痛点，都可能是 AI 落点', c: '#FA4F24' },&#13;&#10;                { n: '2', t: '从核心循环找场景', d: '沿四个核心业务循环逐环节扫一遍，标出「信息不全所以靠人补」的环节', c: '#E0641E' },&#13;&#10;                { n: '3', t: '从知识密集岗位找场景', d: '访谈中记录「这份材料我一般要翻三个系统才能查全」的岗位', c: '#C43A17' },&#13;&#10;                { n: '4', t: '合成并去重', d: '三类来源合并去重，同一动作在三处出现的合并为一条，只保留一次', c: '#9E3410' },&#13;&#10;            ].map((x) =&gt; (&#13;&#10;                &lt;Box key={x.n} style={{ flex: 1, background: '#F7F7F8', borderRadius: 4, borderLeft: '4px solid ' + x.c, padding: '11px 13px', flexDirection: 'column', justifyContent: 'center' }}&gt;&#13;&#10;                    &lt;Box style={{ flexDirection: 'row', alignItems: 'center', gap: 7 }}&gt;&#13;&#10;                        &lt;Box style={{ width: 22, height: 22, borderRadius: 11, background: x.c, alignItems: 'center', justifyContent: 'center', flexDirection: 'row' }}&gt;&#13;&#10;                            &lt;Text style={{ fontSize: 11.5, fontWeight: 'bold', color: '#FFFFFF' }}&gt;{x.n}&lt;/Text&gt;&#13;&#10;                        &lt;/Box&gt;&#13;&#10;                        &lt;Text style={{ fontSize: 13.5, fontWeight: 'bold', color: '#0F1423', flex: 1 }}&gt;{x.t}&lt;/Text&gt;&#13;&#10;                    &lt;/Box&gt;&#13;&#10;                    &lt;Text style={{ fontSize: 10.5, color: '#5A6070', lineHeight: 1.4, marginTop: 6 }}&gt;{x.d}&lt;/Text&gt;&#13;&#10;                &lt;/Box&gt;&#13;&#10;            ))}&#13;&#10;        &lt;/Box&gt;&#13;&#10;&#13;&#10;        {/* 中：三维打分模型 */}&#13;&#10;        &lt;Box style={{ height: 156, flexDirection: 'row', gap: 8, alignItems: 'stretch' }}&gt;&#13;&#10;            &lt;Box style={{ width: 460, background: '#0F1423', borderRadius: 4, padding: '13px 16px', flexDirection: 'column' }}&gt;&#13;&#10;                &lt;Text style={{ fontSize: 12, color: '#FBA15C', letterSpacing: 1 }}&gt;优先级 = 价值 × 可行性 × 风险系数&lt;/Text&gt;&#13;&#10;                {[&#13;&#10;                    { d: '业务价值', w: '权重 45%', s: '量化：节省工时/减少损失/提升收益；不能量化的写清判断依据' },&#13;&#10;                    { d: '技术可行性', w: '权重 35%', s: '数据是否就绪、模型是否可得、集成难度、算力是否够' },&#13;&#10;                    { d: '风险与合规', w: '权重 20%', s: '密级与数据出域限制、决策是否可逆、错误的直接后果' },&#13;&#10;                ].map((x, i) =&gt; (&#13;&#10;                    &lt;Box key={x.d} style={{ flexDirection: 'row', alignItems: 'center', gap: 10, flex: 1, marginTop: i === 0 ? 9 : 4 }}&gt;&#13;&#10;                        &lt;Text style={{ fontSize: 12, fontWeight: 'bold', color: '#FFFFFF', width: 62 }}&gt;{x.d}&lt;/Text&gt;&#13;&#10;                        &lt;Text style={{ fontSize: 10.5, color: '#FBA15C', width: 58 }}&gt;{x.w}&lt;/Text&gt;&#13;&#10;                        &lt;Text style={{ fontSize: 10.5, color: 'rgba(255,255,255,0.84)', flex: 1, lineHeight: 1.3 }}&gt;{x.s}&lt;/Text&gt;&#13;&#10;                    &lt;/Box&gt;&#13;&#10;                ))}&#13;&#10;                &lt;Text style={{ fontSize: 10.5, color: '#FBA15C', lineHeight: 1.35, marginTop: 7 }}&gt;&#13;&#10;                    每个场景三项各自打分并写明打分依据，不允许只给总分——评审一定会问「凭什么」。&#13;&#10;                &lt;/Text&gt;&#13;&#10;            &lt;/Box&gt;&#13;&#10;            &lt;Box style={{ flex: 1, background: '#F7F7F8', borderRadius: 4, padding: '12px 14px', flexDirection: 'column' }}&gt;&#13;&#10;                &lt;Text style={{ fontSize: 12.5, fontWeight: 'bold', color: '#0F1423' }}&gt;示例：能源侧初识场景与排序&lt;/Text&gt;&#13;&#10;                &lt;Box style={{ flex: 1, flexDirection: 'column', gap: 4, marginTop: 7 }}&gt;&#13;&#10;                    {[&#13;&#10;                        { r: 'P1', t: '设备缺陷智能判读与检修建议', b: 'E3', v: '高', f: '高', k: '中', c: '#FA4F24' },&#13;&#10;                        { r: 'P2', t: '检修与安全文档智能检索问答', b: 'E3', v: '高', f: '高', k: '低', c: '#FA4F24' },&#13;&#10;                        { r: 'P3', t: 'EBOM→MBOM 转换规则辅助生成', b: 'S2', v: '高', f: '中', k: '中', c: '#E0641E' },&#13;&#10;                        { r: 'P4', t: '交易报价策略与风险提示', b: 'E4', v: '高', f: '中', k: '高', c: '#E0641E' },&#13;&#10;                        { r: 'P5', t: '四算差异归因与算量辅助', b: 'E5', v: '中', f: '中', k: '中', c: '#C43A17' },&#13;&#10;                        { r: 'P6', t: '进度偏差预警（偏预测非生成）', b: 'E2', v: '中', f: '高', k: '低', c: '#C43A17' },&#13;&#10;                    ].map((x) =&gt; (&#13;&#10;                        &lt;Box key={x.r} style={{ flex: 1, flexDirection: 'row', alignItems: 'stretch', gap: 0 }}&gt;&#13;&#10;                            &lt;Box style={{ width: 34, background: x.c, alignItems: 'center', justifyContent: 'center', flexDirection: 'row' }}&gt;&#13;&#10;                                &lt;Text style={{ fontSize: 11, fontWeight: 'bold', color: '#FFFFFF' }}&gt;{x.r}&lt;/Text&gt;&#13;&#10;                            &lt;/Box&gt;&#13;&#10;                            &lt;Box style={{ flex: 1, background: '#FFFFFF', padding: '0 9px', flexDirection: 'row', alignItems: 'center', justifyContent: 'space-between', border: '1px solid #E8E8E8', borderLeft: 'none' }}&gt;&#13;&#10;                                &lt;Text style={{ fontSize: 10.5, color: '#0F1423', flex: 1 }}&gt;{x.t}&lt;/Text&gt;&#13;&#10;                                &lt;Text style={{ fontSize: 9.5, color: '#8A8F99', width: 24 }}&gt;{x.b}&lt;/Text&gt;&#13;&#10;                            &lt;/Box&gt;&#13;&#10;                            &lt;Box style={{ width: 62, background: '#FFFFFF', alignItems: 'center', justifyContent: 'center', flexDirection: 'row', border: '1px solid #E8E8E8', borderLeft: 'none' }}&gt;&#13;&#10;                                &lt;Text style={{ fontSize: 10, color: '#3A4050' }}&gt;{x.v}/{x.f}/{x.k}&lt;/Text&gt;&#13;&#10;                            &lt;/Box&gt;&#13;&#10;                        &lt;/Box&gt;&#13;&#10;                    ))}&#13;&#10;                &lt;/Box&gt;&#13;&#10;            &lt;/Box&gt;&#13;&#10;            &lt;Box style={{ width: 292, background: '#FFF3EE', borderRadius: 4, borderLeft: '4px solid #FA4F24', padding: '12px 14px', flexDirection: 'column', justifyContent: 'center' }}&gt;&#13;&#10;                &lt;Text style={{ fontSize: 12.5, fontWeight: 'bold', color: '#C43A17' }}&gt;三条不做的红线&lt;/Text&gt;&#13;&#10;                {[&#13;&#10;                    '不从技术出发找场景：先定「模型能做什么」再找业务的，一律不写进清单',&#13;&#10;                    '不做不可验证的场景：说不出效果评估指标的，降级或剔除',&#13;&#10;                    '不做高风险决策场景：涉及安全红线与资金审批的，AI 只做提示不做决策',&#13;&#10;                ].map((t, i) =&gt; (&#13;&#10;                    &lt;Box key={t} style={{ flexDirection: 'row', alignItems: 'flex-start', gap: 8, flex: 1, marginTop: i === 0 ? 6 : 3 }}&gt;&#13;&#10;                        &lt;Text style={{ fontSize: 10, color: '#FA4F24', fontWeight: 'bold' }}&gt;✕&lt;/Text&gt;&#13;&#10;                        &lt;Text style={{ fontSize: 10.5, color: '#3A4050', flex: 1, lineHeight: 1.35 }}&gt;{t}&lt;/Text&gt;&#13;&#10;                    &lt;/Box&gt;&#13;&#10;                ))}&#13;&#10;            &lt;/Box&gt;&#13;&#10;        &lt;/Box&gt;&#13;&#10;&#13;&#10;        {/* 下 */}&#13;&#10;        &lt;Box style={{ flex: 1, background: '#F7F7F8', borderRadius: 4, borderLeft: '4px solid #C43A17', padding: '0 16px', flexDirection: 'row', alignItems: 'center', gap: 14 }}&gt;&#13;&#10;            &lt;Text style={{ fontSize: 12, fontWeight: 'bold', color: '#C43A17', width: 148 }}&gt;阶段二 / 阶段三的分工&lt;/Text&gt;&#13;&#10;            &lt;Text style={{ fontSize: 12, color: '#3A4050', flex: 1, lineHeight: 1.4 }}&gt;&#13;&#10;                阶段二只出「初识清单 + 优先级」：场景是什么、解决哪条痛点、值不值得做。阶段三才做详细设计：输入数据、知识来源、智能体职责边界、人机协同方式、效果评估指标。同一个场景在两阶段的颗粒度不同，但编号一致。&#13;&#10;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25 / 36&lt;/Text&gt;&#13;&#10;    &lt;/Box&gt;&#13;&#10;&lt;/Slide&gt;&#13;&#10;"/>
        <p:cNvGrpSpPr/>
        <p:nvPr/>
      </p:nvGrpSpPr>
      <p:grpSpPr>
        <a:xfrm>
          <a:off x="0" y="0"/>
          <a:ext cx="0" cy="0"/>
          <a:chOff x="0" y="0"/>
          <a:chExt cx="0" cy="0"/>
        </a:xfrm>
      </p:grpSpPr>
      <p:sp>
        <p:nvSpPr>
          <p:cNvPr id="1116" name=""/>
          <p:cNvSpPr/>
          <p:nvPr/>
        </p:nvSpPr>
        <p:spPr>
          <a:xfrm rot="0" flipH="0" flipV="0">
            <a:off x="0" y="0"/>
            <a:ext cx="12192000" cy="6858000"/>
          </a:xfrm>
          <a:prstGeom prst="rect">
            <a:avLst/>
          </a:prstGeom>
          <a:solidFill>
            <a:srgbClr val="FFFFFF"/>
          </a:solidFill>
          <a:ln/>
        </p:spPr>
        <p:txBody>
          <a:bodyPr/>
          <a:p/>
        </p:txBody>
      </p:sp>
      <p:sp>
        <p:nvSpPr>
          <p:cNvPr id="1117"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en-US" sz="2400" b="1">
                <a:solidFill>
                  <a:srgbClr val="0F1423"/>
                </a:solidFill>
                <a:latin typeface="Microsoft YaHei"/>
                <a:ea typeface="Microsoft YaHei"/>
              </a:rPr>
              <a:t xml:space="preserve">AI </a:t>
            </a:r>
            <a:r>
              <a:rPr lang="zh-CN" sz="2400" b="1">
                <a:solidFill>
                  <a:srgbClr val="0F1423"/>
                </a:solidFill>
                <a:latin typeface="Microsoft YaHei"/>
                <a:ea typeface="Microsoft YaHei"/>
              </a:rPr>
              <a:t>应用场景识别</a:t>
            </a:r>
            <a:r>
              <a:rPr lang="en-US" sz="2400" b="1">
                <a:solidFill>
                  <a:srgbClr val="0F1423"/>
                </a:solidFill>
                <a:latin typeface="Microsoft YaHei"/>
                <a:ea typeface="Microsoft YaHei"/>
              </a:rPr>
              <a:t xml:space="preserve"> </a:t>
            </a:r>
            <a:r>
              <a:rPr lang="zh-CN" sz="2400" b="1">
                <a:solidFill>
                  <a:srgbClr val="FA4F24"/>
                </a:solidFill>
                <a:latin typeface="Microsoft YaHei"/>
                <a:ea typeface="Microsoft YaHei"/>
              </a:rPr>
              <a:t>与优先级评估</a:t>
            </a:r>
            <a:endParaRPr/>
          </a:p>
        </p:txBody>
      </p:sp>
      <p:sp>
        <p:nvSpPr>
          <p:cNvPr id="1118"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3.2(5) </a:t>
            </a:r>
            <a:r>
              <a:rPr lang="zh-CN" sz="1425">
                <a:solidFill>
                  <a:srgbClr val="8A8F99"/>
                </a:solidFill>
                <a:latin typeface="Microsoft YaHei"/>
                <a:ea typeface="Microsoft YaHei"/>
              </a:rPr>
              <a:t>单列的一条方法。场景从业务循环里长出来，不是从技术能力里想出来</a:t>
            </a:r>
            <a:endParaRPr/>
          </a:p>
        </p:txBody>
      </p:sp>
      <p:sp>
        <p:nvSpPr>
          <p:cNvPr id="1119" name=""/>
          <p:cNvSpPr/>
          <p:nvPr/>
        </p:nvSpPr>
        <p:spPr>
          <a:xfrm rot="0" flipH="0" flipV="0">
            <a:off x="609600" y="1143000"/>
            <a:ext cx="10972800" cy="9525"/>
          </a:xfrm>
          <a:prstGeom prst="rect">
            <a:avLst/>
          </a:prstGeom>
          <a:solidFill>
            <a:srgbClr val="E8E8E8"/>
          </a:solidFill>
          <a:ln/>
        </p:spPr>
        <p:txBody>
          <a:bodyPr/>
          <a:p/>
        </p:txBody>
      </p:sp>
      <p:sp>
        <p:nvSpPr>
          <p:cNvPr id="1120" name=""/>
          <p:cNvSpPr/>
          <p:nvPr/>
        </p:nvSpPr>
        <p:spPr>
          <a:xfrm rot="0" flipH="0" flipV="0">
            <a:off x="647700" y="1247775"/>
            <a:ext cx="2705100" cy="981075"/>
          </a:xfrm>
          <a:prstGeom prst="roundRect">
            <a:avLst>
              <a:gd name="adj" fmla="val 3883"/>
            </a:avLst>
          </a:prstGeom>
          <a:solidFill>
            <a:srgbClr val="F7F7F8"/>
          </a:solidFill>
          <a:ln/>
        </p:spPr>
        <p:txBody>
          <a:bodyPr/>
          <a:p/>
        </p:txBody>
      </p:sp>
      <p:sp>
        <p:nvSpPr>
          <p:cNvPr id="1121" name=""/>
          <p:cNvSpPr/>
          <p:nvPr/>
        </p:nvSpPr>
        <p:spPr>
          <a:xfrm rot="0" flipH="0" flipV="0">
            <a:off x="647700" y="1247775"/>
            <a:ext cx="2705100" cy="981075"/>
          </a:xfrm>
          <a:custGeom>
            <a:pathLst>
              <a:path w="284" h="103">
                <a:moveTo>
                  <a:pt x="4" y="103"/>
                </a:moveTo>
                <a:cubicBezTo>
                  <a:pt x="2" y="103"/>
                  <a:pt x="0" y="101"/>
                  <a:pt x="0" y="99"/>
                </a:cubicBezTo>
                <a:lnTo>
                  <a:pt x="0" y="4"/>
                </a:lnTo>
                <a:cubicBezTo>
                  <a:pt x="0" y="2"/>
                  <a:pt x="2" y="0"/>
                  <a:pt x="4" y="0"/>
                </a:cubicBezTo>
                <a:lnTo>
                  <a:pt x="4" y="103"/>
                </a:lnTo>
                <a:close/>
              </a:path>
            </a:pathLst>
          </a:custGeom>
          <a:solidFill>
            <a:srgbClr val="FA4F24"/>
          </a:solidFill>
          <a:ln/>
        </p:spPr>
        <p:txBody>
          <a:bodyPr/>
          <a:p/>
        </p:txBody>
      </p:sp>
      <p:sp>
        <p:nvSpPr>
          <p:cNvPr id="1122" name=""/>
          <p:cNvSpPr/>
          <p:nvPr/>
        </p:nvSpPr>
        <p:spPr>
          <a:xfrm rot="0" flipH="0" flipV="0">
            <a:off x="771525" y="1438275"/>
            <a:ext cx="209550" cy="209550"/>
          </a:xfrm>
          <a:prstGeom prst="roundRect">
            <a:avLst>
              <a:gd name="adj" fmla="val 50000"/>
            </a:avLst>
          </a:prstGeom>
          <a:solidFill>
            <a:srgbClr val="FA4F24"/>
          </a:solidFill>
          <a:ln/>
        </p:spPr>
        <p:txBody>
          <a:bodyPr/>
          <a:p/>
        </p:txBody>
      </p:sp>
      <p:sp>
        <p:nvSpPr>
          <p:cNvPr id="1123" name="" descr="{&quot;isTemplate&quot;:true,&quot;type&quot;:&quot;text&quot;}"/>
          <p:cNvSpPr txBox="1"/>
          <p:nvPr/>
        </p:nvSpPr>
        <p:spPr>
          <a:xfrm rot="0" flipH="0" flipV="0">
            <a:off x="838200" y="1476375"/>
            <a:ext cx="76200" cy="133350"/>
          </a:xfrm>
          <a:prstGeom prst="rect"/>
        </p:spPr>
        <p:txBody>
          <a:bodyPr wrap="none" lIns="0" tIns="0" rIns="0" bIns="0"/>
          <a:p>
            <a:pPr>
              <a:lnSpc>
                <a:spcPct val="100000"/>
              </a:lnSpc>
            </a:pPr>
            <a:r>
              <a:rPr lang="en-US" sz="863" b="1">
                <a:solidFill>
                  <a:srgbClr val="FFFFFF"/>
                </a:solidFill>
                <a:latin typeface="Microsoft YaHei"/>
                <a:ea typeface="Microsoft YaHei"/>
              </a:rPr>
              <a:t>1</a:t>
            </a:r>
            <a:endParaRPr/>
          </a:p>
        </p:txBody>
      </p:sp>
      <p:sp>
        <p:nvSpPr>
          <p:cNvPr id="1124" name="" descr="{&quot;isTemplate&quot;:true,&quot;type&quot;:&quot;text&quot;}"/>
          <p:cNvSpPr txBox="1"/>
          <p:nvPr/>
        </p:nvSpPr>
        <p:spPr>
          <a:xfrm rot="0" flipH="0" flipV="0">
            <a:off x="1047750" y="1466850"/>
            <a:ext cx="2143125" cy="161925"/>
          </a:xfrm>
          <a:prstGeom prst="rect"/>
        </p:spPr>
        <p:txBody>
          <a:bodyPr wrap="none" lIns="0" tIns="0" rIns="0" bIns="0"/>
          <a:p>
            <a:pPr>
              <a:lnSpc>
                <a:spcPct val="100000"/>
              </a:lnSpc>
            </a:pPr>
            <a:r>
              <a:rPr lang="zh-CN" sz="1013" b="1">
                <a:solidFill>
                  <a:srgbClr val="0F1423"/>
                </a:solidFill>
                <a:latin typeface="Microsoft YaHei"/>
                <a:ea typeface="Microsoft YaHei"/>
              </a:rPr>
              <a:t>从痛点找场景</a:t>
            </a:r>
            <a:endParaRPr/>
          </a:p>
        </p:txBody>
      </p:sp>
      <p:sp>
        <p:nvSpPr>
          <p:cNvPr id="1125" name="" descr="{&quot;isTemplate&quot;:true,&quot;type&quot;:&quot;text&quot;}"/>
          <p:cNvSpPr txBox="1"/>
          <p:nvPr/>
        </p:nvSpPr>
        <p:spPr>
          <a:xfrm rot="0" flipH="0" flipV="0">
            <a:off x="771525" y="1704975"/>
            <a:ext cx="2419350" cy="342900"/>
          </a:xfrm>
          <a:prstGeom prst="rect"/>
        </p:spPr>
        <p:txBody>
          <a:bodyPr wrap="square" lIns="0" tIns="0" rIns="0" bIns="0">
            <a:normAutofit/>
          </a:bodyPr>
          <a:p>
            <a:pPr>
              <a:lnSpc>
                <a:spcPct val="140000"/>
              </a:lnSpc>
            </a:pPr>
            <a:r>
              <a:rPr lang="zh-CN" sz="788">
                <a:solidFill>
                  <a:srgbClr val="5A6070"/>
                </a:solidFill>
                <a:latin typeface="Microsoft YaHei"/>
                <a:ea typeface="Microsoft YaHei"/>
              </a:rPr>
              <a:t>逐条读</a:t>
            </a:r>
            <a:r>
              <a:rPr lang="en-US" sz="788">
                <a:solidFill>
                  <a:srgbClr val="5A6070"/>
                </a:solidFill>
                <a:latin typeface="Microsoft YaHei"/>
                <a:ea typeface="Microsoft YaHei"/>
              </a:rPr>
              <a:t xml:space="preserve"> PAIN-ROOT </a:t>
            </a:r>
            <a:r>
              <a:rPr lang="zh-CN" sz="788">
                <a:solidFill>
                  <a:srgbClr val="5A6070"/>
                </a:solidFill>
                <a:latin typeface="Microsoft YaHei"/>
                <a:ea typeface="Microsoft YaHei"/>
              </a:rPr>
              <a:t>表，凡是「需要大量阅读、判断、重复录入、跨系统搬运」的痛点，都可能是</a:t>
            </a:r>
            <a:r>
              <a:rPr lang="en-US" sz="788">
                <a:solidFill>
                  <a:srgbClr val="5A6070"/>
                </a:solidFill>
                <a:latin typeface="Microsoft YaHei"/>
                <a:ea typeface="Microsoft YaHei"/>
              </a:rPr>
              <a:t xml:space="preserve"> AI </a:t>
            </a:r>
            <a:r>
              <a:rPr lang="zh-CN" sz="788">
                <a:solidFill>
                  <a:srgbClr val="5A6070"/>
                </a:solidFill>
                <a:latin typeface="Microsoft YaHei"/>
                <a:ea typeface="Microsoft YaHei"/>
              </a:rPr>
              <a:t>落点</a:t>
            </a:r>
            <a:endParaRPr/>
          </a:p>
        </p:txBody>
      </p:sp>
      <p:sp>
        <p:nvSpPr>
          <p:cNvPr id="1126" name=""/>
          <p:cNvSpPr/>
          <p:nvPr/>
        </p:nvSpPr>
        <p:spPr>
          <a:xfrm rot="0" flipH="0" flipV="0">
            <a:off x="3409950" y="1247775"/>
            <a:ext cx="2695575" cy="971550"/>
          </a:xfrm>
          <a:prstGeom prst="roundRect">
            <a:avLst>
              <a:gd name="adj" fmla="val 3922"/>
            </a:avLst>
          </a:prstGeom>
          <a:solidFill>
            <a:srgbClr val="F7F7F8"/>
          </a:solidFill>
          <a:ln/>
        </p:spPr>
        <p:txBody>
          <a:bodyPr/>
          <a:p/>
        </p:txBody>
      </p:sp>
      <p:sp>
        <p:nvSpPr>
          <p:cNvPr id="1127" name=""/>
          <p:cNvSpPr/>
          <p:nvPr/>
        </p:nvSpPr>
        <p:spPr>
          <a:xfrm rot="0" flipH="0" flipV="0">
            <a:off x="3409950" y="1247775"/>
            <a:ext cx="2695575" cy="971550"/>
          </a:xfrm>
          <a:custGeom>
            <a:pathLst>
              <a:path w="283" h="102">
                <a:moveTo>
                  <a:pt x="4" y="102"/>
                </a:moveTo>
                <a:cubicBezTo>
                  <a:pt x="2" y="102"/>
                  <a:pt x="0" y="100"/>
                  <a:pt x="0" y="98"/>
                </a:cubicBezTo>
                <a:lnTo>
                  <a:pt x="0" y="4"/>
                </a:lnTo>
                <a:cubicBezTo>
                  <a:pt x="0" y="2"/>
                  <a:pt x="2" y="0"/>
                  <a:pt x="4" y="0"/>
                </a:cubicBezTo>
                <a:lnTo>
                  <a:pt x="4" y="102"/>
                </a:lnTo>
                <a:close/>
              </a:path>
            </a:pathLst>
          </a:custGeom>
          <a:solidFill>
            <a:srgbClr val="E0641E"/>
          </a:solidFill>
          <a:ln/>
        </p:spPr>
        <p:txBody>
          <a:bodyPr/>
          <a:p/>
        </p:txBody>
      </p:sp>
      <p:sp>
        <p:nvSpPr>
          <p:cNvPr id="1128" name=""/>
          <p:cNvSpPr/>
          <p:nvPr/>
        </p:nvSpPr>
        <p:spPr>
          <a:xfrm rot="0" flipH="0" flipV="0">
            <a:off x="3533775" y="1428750"/>
            <a:ext cx="209550" cy="209550"/>
          </a:xfrm>
          <a:prstGeom prst="roundRect">
            <a:avLst>
              <a:gd name="adj" fmla="val 50000"/>
            </a:avLst>
          </a:prstGeom>
          <a:solidFill>
            <a:srgbClr val="E0641E"/>
          </a:solidFill>
          <a:ln/>
        </p:spPr>
        <p:txBody>
          <a:bodyPr/>
          <a:p/>
        </p:txBody>
      </p:sp>
      <p:sp>
        <p:nvSpPr>
          <p:cNvPr id="1129" name="" descr="{&quot;isTemplate&quot;:true,&quot;type&quot;:&quot;text&quot;}"/>
          <p:cNvSpPr txBox="1"/>
          <p:nvPr/>
        </p:nvSpPr>
        <p:spPr>
          <a:xfrm rot="0" flipH="0" flipV="0">
            <a:off x="3600450" y="1466850"/>
            <a:ext cx="76200" cy="133350"/>
          </a:xfrm>
          <a:prstGeom prst="rect"/>
        </p:spPr>
        <p:txBody>
          <a:bodyPr wrap="none" lIns="0" tIns="0" rIns="0" bIns="0"/>
          <a:p>
            <a:pPr>
              <a:lnSpc>
                <a:spcPct val="100000"/>
              </a:lnSpc>
            </a:pPr>
            <a:r>
              <a:rPr lang="en-US" sz="863" b="1">
                <a:solidFill>
                  <a:srgbClr val="FFFFFF"/>
                </a:solidFill>
                <a:latin typeface="Microsoft YaHei"/>
                <a:ea typeface="Microsoft YaHei"/>
              </a:rPr>
              <a:t>2</a:t>
            </a:r>
            <a:endParaRPr/>
          </a:p>
        </p:txBody>
      </p:sp>
      <p:sp>
        <p:nvSpPr>
          <p:cNvPr id="1130" name="" descr="{&quot;isTemplate&quot;:true,&quot;type&quot;:&quot;text&quot;}"/>
          <p:cNvSpPr txBox="1"/>
          <p:nvPr/>
        </p:nvSpPr>
        <p:spPr>
          <a:xfrm rot="0" flipH="0" flipV="0">
            <a:off x="3810000" y="1457325"/>
            <a:ext cx="2133600" cy="161925"/>
          </a:xfrm>
          <a:prstGeom prst="rect"/>
        </p:spPr>
        <p:txBody>
          <a:bodyPr wrap="none" lIns="0" tIns="0" rIns="0" bIns="0"/>
          <a:p>
            <a:pPr>
              <a:lnSpc>
                <a:spcPct val="100000"/>
              </a:lnSpc>
            </a:pPr>
            <a:r>
              <a:rPr lang="zh-CN" sz="1013" b="1">
                <a:solidFill>
                  <a:srgbClr val="0F1423"/>
                </a:solidFill>
                <a:latin typeface="Microsoft YaHei"/>
                <a:ea typeface="Microsoft YaHei"/>
              </a:rPr>
              <a:t>从核心循环找场景</a:t>
            </a:r>
            <a:endParaRPr/>
          </a:p>
        </p:txBody>
      </p:sp>
      <p:sp>
        <p:nvSpPr>
          <p:cNvPr id="1131" name="" descr="{&quot;isTemplate&quot;:true,&quot;type&quot;:&quot;text&quot;}"/>
          <p:cNvSpPr txBox="1"/>
          <p:nvPr/>
        </p:nvSpPr>
        <p:spPr>
          <a:xfrm rot="0" flipH="0" flipV="0">
            <a:off x="3533775" y="1695450"/>
            <a:ext cx="2409825" cy="342900"/>
          </a:xfrm>
          <a:prstGeom prst="rect"/>
        </p:spPr>
        <p:txBody>
          <a:bodyPr wrap="square" lIns="0" tIns="0" rIns="0" bIns="0">
            <a:normAutofit/>
          </a:bodyPr>
          <a:p>
            <a:pPr>
              <a:lnSpc>
                <a:spcPct val="140000"/>
              </a:lnSpc>
            </a:pPr>
            <a:r>
              <a:rPr lang="zh-CN" sz="788">
                <a:solidFill>
                  <a:srgbClr val="5A6070"/>
                </a:solidFill>
                <a:latin typeface="Microsoft YaHei"/>
                <a:ea typeface="Microsoft YaHei"/>
              </a:rPr>
              <a:t>沿四个核心业务循环逐环节扫一遍，标出「信息不全所以靠人补」的环节</a:t>
            </a:r>
            <a:endParaRPr/>
          </a:p>
        </p:txBody>
      </p:sp>
      <p:sp>
        <p:nvSpPr>
          <p:cNvPr id="1132" name=""/>
          <p:cNvSpPr/>
          <p:nvPr/>
        </p:nvSpPr>
        <p:spPr>
          <a:xfrm rot="0" flipH="0" flipV="0">
            <a:off x="6162675" y="1247775"/>
            <a:ext cx="2705100" cy="971550"/>
          </a:xfrm>
          <a:prstGeom prst="roundRect">
            <a:avLst>
              <a:gd name="adj" fmla="val 3922"/>
            </a:avLst>
          </a:prstGeom>
          <a:solidFill>
            <a:srgbClr val="F7F7F8"/>
          </a:solidFill>
          <a:ln/>
        </p:spPr>
        <p:txBody>
          <a:bodyPr/>
          <a:p/>
        </p:txBody>
      </p:sp>
      <p:sp>
        <p:nvSpPr>
          <p:cNvPr id="1133" name=""/>
          <p:cNvSpPr/>
          <p:nvPr/>
        </p:nvSpPr>
        <p:spPr>
          <a:xfrm rot="0" flipH="0" flipV="0">
            <a:off x="6162675" y="1247775"/>
            <a:ext cx="2705100" cy="971550"/>
          </a:xfrm>
          <a:custGeom>
            <a:pathLst>
              <a:path w="284" h="102">
                <a:moveTo>
                  <a:pt x="4" y="102"/>
                </a:moveTo>
                <a:cubicBezTo>
                  <a:pt x="2" y="102"/>
                  <a:pt x="0" y="100"/>
                  <a:pt x="0" y="98"/>
                </a:cubicBezTo>
                <a:lnTo>
                  <a:pt x="0" y="4"/>
                </a:lnTo>
                <a:cubicBezTo>
                  <a:pt x="0" y="2"/>
                  <a:pt x="2" y="0"/>
                  <a:pt x="4" y="0"/>
                </a:cubicBezTo>
                <a:lnTo>
                  <a:pt x="4" y="102"/>
                </a:lnTo>
                <a:close/>
              </a:path>
            </a:pathLst>
          </a:custGeom>
          <a:solidFill>
            <a:srgbClr val="C43A17"/>
          </a:solidFill>
          <a:ln/>
        </p:spPr>
        <p:txBody>
          <a:bodyPr/>
          <a:p/>
        </p:txBody>
      </p:sp>
      <p:sp>
        <p:nvSpPr>
          <p:cNvPr id="1134" name=""/>
          <p:cNvSpPr/>
          <p:nvPr/>
        </p:nvSpPr>
        <p:spPr>
          <a:xfrm rot="0" flipH="0" flipV="0">
            <a:off x="6286500" y="1428750"/>
            <a:ext cx="209550" cy="209550"/>
          </a:xfrm>
          <a:prstGeom prst="roundRect">
            <a:avLst>
              <a:gd name="adj" fmla="val 50000"/>
            </a:avLst>
          </a:prstGeom>
          <a:solidFill>
            <a:srgbClr val="C43A17"/>
          </a:solidFill>
          <a:ln/>
        </p:spPr>
        <p:txBody>
          <a:bodyPr/>
          <a:p/>
        </p:txBody>
      </p:sp>
      <p:sp>
        <p:nvSpPr>
          <p:cNvPr id="1135" name="" descr="{&quot;isTemplate&quot;:true,&quot;type&quot;:&quot;text&quot;}"/>
          <p:cNvSpPr txBox="1"/>
          <p:nvPr/>
        </p:nvSpPr>
        <p:spPr>
          <a:xfrm rot="0" flipH="0" flipV="0">
            <a:off x="6353175" y="1466850"/>
            <a:ext cx="76200" cy="133350"/>
          </a:xfrm>
          <a:prstGeom prst="rect"/>
        </p:spPr>
        <p:txBody>
          <a:bodyPr wrap="none" lIns="0" tIns="0" rIns="0" bIns="0"/>
          <a:p>
            <a:pPr>
              <a:lnSpc>
                <a:spcPct val="100000"/>
              </a:lnSpc>
            </a:pPr>
            <a:r>
              <a:rPr lang="en-US" sz="863" b="1">
                <a:solidFill>
                  <a:srgbClr val="FFFFFF"/>
                </a:solidFill>
                <a:latin typeface="Microsoft YaHei"/>
                <a:ea typeface="Microsoft YaHei"/>
              </a:rPr>
              <a:t>3</a:t>
            </a:r>
            <a:endParaRPr/>
          </a:p>
        </p:txBody>
      </p:sp>
      <p:sp>
        <p:nvSpPr>
          <p:cNvPr id="1136" name="" descr="{&quot;isTemplate&quot;:true,&quot;type&quot;:&quot;text&quot;}"/>
          <p:cNvSpPr txBox="1"/>
          <p:nvPr/>
        </p:nvSpPr>
        <p:spPr>
          <a:xfrm rot="0" flipH="0" flipV="0">
            <a:off x="6562725" y="1457325"/>
            <a:ext cx="2143125" cy="161925"/>
          </a:xfrm>
          <a:prstGeom prst="rect"/>
        </p:spPr>
        <p:txBody>
          <a:bodyPr wrap="none" lIns="0" tIns="0" rIns="0" bIns="0"/>
          <a:p>
            <a:pPr>
              <a:lnSpc>
                <a:spcPct val="100000"/>
              </a:lnSpc>
            </a:pPr>
            <a:r>
              <a:rPr lang="zh-CN" sz="1013" b="1">
                <a:solidFill>
                  <a:srgbClr val="0F1423"/>
                </a:solidFill>
                <a:latin typeface="Microsoft YaHei"/>
                <a:ea typeface="Microsoft YaHei"/>
              </a:rPr>
              <a:t>从知识密集岗位找场景</a:t>
            </a:r>
            <a:endParaRPr/>
          </a:p>
        </p:txBody>
      </p:sp>
      <p:sp>
        <p:nvSpPr>
          <p:cNvPr id="1137" name="" descr="{&quot;isTemplate&quot;:true,&quot;type&quot;:&quot;text&quot;}"/>
          <p:cNvSpPr txBox="1"/>
          <p:nvPr/>
        </p:nvSpPr>
        <p:spPr>
          <a:xfrm rot="0" flipH="0" flipV="0">
            <a:off x="6286500" y="1695450"/>
            <a:ext cx="2419350" cy="342900"/>
          </a:xfrm>
          <a:prstGeom prst="rect"/>
        </p:spPr>
        <p:txBody>
          <a:bodyPr wrap="square" lIns="0" tIns="0" rIns="0" bIns="0">
            <a:normAutofit/>
          </a:bodyPr>
          <a:p>
            <a:pPr>
              <a:lnSpc>
                <a:spcPct val="140000"/>
              </a:lnSpc>
            </a:pPr>
            <a:r>
              <a:rPr lang="zh-CN" sz="788">
                <a:solidFill>
                  <a:srgbClr val="5A6070"/>
                </a:solidFill>
                <a:latin typeface="Microsoft YaHei"/>
                <a:ea typeface="Microsoft YaHei"/>
              </a:rPr>
              <a:t>访谈中记录「这份材料我一般要翻三个系统才能查全」的岗位</a:t>
            </a:r>
            <a:endParaRPr/>
          </a:p>
        </p:txBody>
      </p:sp>
      <p:sp>
        <p:nvSpPr>
          <p:cNvPr id="1138" name=""/>
          <p:cNvSpPr/>
          <p:nvPr/>
        </p:nvSpPr>
        <p:spPr>
          <a:xfrm rot="0" flipH="0" flipV="0">
            <a:off x="8924925" y="1247775"/>
            <a:ext cx="2695575" cy="971550"/>
          </a:xfrm>
          <a:prstGeom prst="roundRect">
            <a:avLst>
              <a:gd name="adj" fmla="val 3922"/>
            </a:avLst>
          </a:prstGeom>
          <a:solidFill>
            <a:srgbClr val="F7F7F8"/>
          </a:solidFill>
          <a:ln/>
        </p:spPr>
        <p:txBody>
          <a:bodyPr/>
          <a:p/>
        </p:txBody>
      </p:sp>
      <p:sp>
        <p:nvSpPr>
          <p:cNvPr id="1139" name=""/>
          <p:cNvSpPr/>
          <p:nvPr/>
        </p:nvSpPr>
        <p:spPr>
          <a:xfrm rot="0" flipH="0" flipV="0">
            <a:off x="8924925" y="1247775"/>
            <a:ext cx="2695575" cy="971550"/>
          </a:xfrm>
          <a:custGeom>
            <a:pathLst>
              <a:path w="283" h="102">
                <a:moveTo>
                  <a:pt x="4" y="102"/>
                </a:moveTo>
                <a:cubicBezTo>
                  <a:pt x="2" y="102"/>
                  <a:pt x="0" y="100"/>
                  <a:pt x="0" y="98"/>
                </a:cubicBezTo>
                <a:lnTo>
                  <a:pt x="0" y="4"/>
                </a:lnTo>
                <a:cubicBezTo>
                  <a:pt x="0" y="2"/>
                  <a:pt x="2" y="0"/>
                  <a:pt x="4" y="0"/>
                </a:cubicBezTo>
                <a:lnTo>
                  <a:pt x="4" y="102"/>
                </a:lnTo>
                <a:close/>
              </a:path>
            </a:pathLst>
          </a:custGeom>
          <a:solidFill>
            <a:srgbClr val="9E3410"/>
          </a:solidFill>
          <a:ln/>
        </p:spPr>
        <p:txBody>
          <a:bodyPr/>
          <a:p/>
        </p:txBody>
      </p:sp>
      <p:sp>
        <p:nvSpPr>
          <p:cNvPr id="1140" name=""/>
          <p:cNvSpPr/>
          <p:nvPr/>
        </p:nvSpPr>
        <p:spPr>
          <a:xfrm rot="0" flipH="0" flipV="0">
            <a:off x="9048750" y="1428750"/>
            <a:ext cx="209550" cy="209550"/>
          </a:xfrm>
          <a:prstGeom prst="roundRect">
            <a:avLst>
              <a:gd name="adj" fmla="val 50000"/>
            </a:avLst>
          </a:prstGeom>
          <a:solidFill>
            <a:srgbClr val="9E3410"/>
          </a:solidFill>
          <a:ln/>
        </p:spPr>
        <p:txBody>
          <a:bodyPr/>
          <a:p/>
        </p:txBody>
      </p:sp>
      <p:sp>
        <p:nvSpPr>
          <p:cNvPr id="1141" name="" descr="{&quot;isTemplate&quot;:true,&quot;type&quot;:&quot;text&quot;}"/>
          <p:cNvSpPr txBox="1"/>
          <p:nvPr/>
        </p:nvSpPr>
        <p:spPr>
          <a:xfrm rot="0" flipH="0" flipV="0">
            <a:off x="9115425" y="1466850"/>
            <a:ext cx="76200" cy="133350"/>
          </a:xfrm>
          <a:prstGeom prst="rect"/>
        </p:spPr>
        <p:txBody>
          <a:bodyPr wrap="none" lIns="0" tIns="0" rIns="0" bIns="0"/>
          <a:p>
            <a:pPr>
              <a:lnSpc>
                <a:spcPct val="100000"/>
              </a:lnSpc>
            </a:pPr>
            <a:r>
              <a:rPr lang="en-US" sz="863" b="1">
                <a:solidFill>
                  <a:srgbClr val="FFFFFF"/>
                </a:solidFill>
                <a:latin typeface="Microsoft YaHei"/>
                <a:ea typeface="Microsoft YaHei"/>
              </a:rPr>
              <a:t>4</a:t>
            </a:r>
            <a:endParaRPr/>
          </a:p>
        </p:txBody>
      </p:sp>
      <p:sp>
        <p:nvSpPr>
          <p:cNvPr id="1142" name="" descr="{&quot;isTemplate&quot;:true,&quot;type&quot;:&quot;text&quot;}"/>
          <p:cNvSpPr txBox="1"/>
          <p:nvPr/>
        </p:nvSpPr>
        <p:spPr>
          <a:xfrm rot="0" flipH="0" flipV="0">
            <a:off x="9324975" y="1457325"/>
            <a:ext cx="2133600" cy="161925"/>
          </a:xfrm>
          <a:prstGeom prst="rect"/>
        </p:spPr>
        <p:txBody>
          <a:bodyPr wrap="none" lIns="0" tIns="0" rIns="0" bIns="0"/>
          <a:p>
            <a:pPr>
              <a:lnSpc>
                <a:spcPct val="100000"/>
              </a:lnSpc>
            </a:pPr>
            <a:r>
              <a:rPr lang="zh-CN" sz="1013" b="1">
                <a:solidFill>
                  <a:srgbClr val="0F1423"/>
                </a:solidFill>
                <a:latin typeface="Microsoft YaHei"/>
                <a:ea typeface="Microsoft YaHei"/>
              </a:rPr>
              <a:t>合成并去重</a:t>
            </a:r>
            <a:endParaRPr/>
          </a:p>
        </p:txBody>
      </p:sp>
      <p:sp>
        <p:nvSpPr>
          <p:cNvPr id="1143" name="" descr="{&quot;isTemplate&quot;:true,&quot;type&quot;:&quot;text&quot;}"/>
          <p:cNvSpPr txBox="1"/>
          <p:nvPr/>
        </p:nvSpPr>
        <p:spPr>
          <a:xfrm rot="0" flipH="0" flipV="0">
            <a:off x="9048750" y="1695450"/>
            <a:ext cx="2409825" cy="342900"/>
          </a:xfrm>
          <a:prstGeom prst="rect"/>
        </p:spPr>
        <p:txBody>
          <a:bodyPr wrap="square" lIns="0" tIns="0" rIns="0" bIns="0">
            <a:normAutofit/>
          </a:bodyPr>
          <a:p>
            <a:pPr>
              <a:lnSpc>
                <a:spcPct val="140000"/>
              </a:lnSpc>
            </a:pPr>
            <a:r>
              <a:rPr lang="zh-CN" sz="788">
                <a:solidFill>
                  <a:srgbClr val="5A6070"/>
                </a:solidFill>
                <a:latin typeface="Microsoft YaHei"/>
                <a:ea typeface="Microsoft YaHei"/>
              </a:rPr>
              <a:t>三类来源合并去重，同一动作在三处出现的合并为一条，只保留一次</a:t>
            </a:r>
            <a:endParaRPr/>
          </a:p>
        </p:txBody>
      </p:sp>
      <p:sp>
        <p:nvSpPr>
          <p:cNvPr id="1144" name=""/>
          <p:cNvSpPr/>
          <p:nvPr/>
        </p:nvSpPr>
        <p:spPr>
          <a:xfrm rot="0" flipH="0" flipV="0">
            <a:off x="609600" y="2295525"/>
            <a:ext cx="4381500" cy="1485900"/>
          </a:xfrm>
          <a:prstGeom prst="roundRect">
            <a:avLst>
              <a:gd name="adj" fmla="val 2564"/>
            </a:avLst>
          </a:prstGeom>
          <a:solidFill>
            <a:srgbClr val="0F1423"/>
          </a:solidFill>
          <a:ln/>
        </p:spPr>
        <p:txBody>
          <a:bodyPr/>
          <a:p/>
        </p:txBody>
      </p:sp>
      <p:sp>
        <p:nvSpPr>
          <p:cNvPr id="1145" name="" descr="{&quot;isTemplate&quot;:true,&quot;type&quot;:&quot;text&quot;}"/>
          <p:cNvSpPr txBox="1"/>
          <p:nvPr/>
        </p:nvSpPr>
        <p:spPr>
          <a:xfrm rot="0" flipH="0" flipV="0">
            <a:off x="762000" y="2419350"/>
            <a:ext cx="4076700" cy="142875"/>
          </a:xfrm>
          <a:prstGeom prst="rect"/>
        </p:spPr>
        <p:txBody>
          <a:bodyPr wrap="none" lIns="0" tIns="0" rIns="0" bIns="0"/>
          <a:p>
            <a:pPr>
              <a:lnSpc>
                <a:spcPct val="100000"/>
              </a:lnSpc>
            </a:pPr>
            <a:r>
              <a:rPr lang="zh-CN" sz="900" spc="75">
                <a:solidFill>
                  <a:srgbClr val="FBA15C"/>
                </a:solidFill>
                <a:latin typeface="Microsoft YaHei"/>
                <a:ea typeface="Microsoft YaHei"/>
              </a:rPr>
              <a:t>优先级</a:t>
            </a:r>
            <a:r>
              <a:rPr lang="en-US" sz="900" spc="75">
                <a:solidFill>
                  <a:srgbClr val="FBA15C"/>
                </a:solidFill>
                <a:latin typeface="Microsoft YaHei"/>
                <a:ea typeface="Microsoft YaHei"/>
              </a:rPr>
              <a:t xml:space="preserve"> = </a:t>
            </a:r>
            <a:r>
              <a:rPr lang="zh-CN" sz="900" spc="75">
                <a:solidFill>
                  <a:srgbClr val="FBA15C"/>
                </a:solidFill>
                <a:latin typeface="Microsoft YaHei"/>
                <a:ea typeface="Microsoft YaHei"/>
              </a:rPr>
              <a:t>价值</a:t>
            </a:r>
            <a:r>
              <a:rPr lang="en-US" sz="900" spc="75">
                <a:solidFill>
                  <a:srgbClr val="FBA15C"/>
                </a:solidFill>
                <a:latin typeface="Microsoft YaHei"/>
                <a:ea typeface="Microsoft YaHei"/>
              </a:rPr>
              <a:t xml:space="preserve"> × </a:t>
            </a:r>
            <a:r>
              <a:rPr lang="zh-CN" sz="900" spc="75">
                <a:solidFill>
                  <a:srgbClr val="FBA15C"/>
                </a:solidFill>
                <a:latin typeface="Microsoft YaHei"/>
                <a:ea typeface="Microsoft YaHei"/>
              </a:rPr>
              <a:t>可行性</a:t>
            </a:r>
            <a:r>
              <a:rPr lang="en-US" sz="900" spc="75">
                <a:solidFill>
                  <a:srgbClr val="FBA15C"/>
                </a:solidFill>
                <a:latin typeface="Microsoft YaHei"/>
                <a:ea typeface="Microsoft YaHei"/>
              </a:rPr>
              <a:t xml:space="preserve"> × </a:t>
            </a:r>
            <a:r>
              <a:rPr lang="zh-CN" sz="900" spc="75">
                <a:solidFill>
                  <a:srgbClr val="FBA15C"/>
                </a:solidFill>
                <a:latin typeface="Microsoft YaHei"/>
                <a:ea typeface="Microsoft YaHei"/>
              </a:rPr>
              <a:t>风险系数</a:t>
            </a:r>
            <a:endParaRPr/>
          </a:p>
        </p:txBody>
      </p:sp>
      <p:sp>
        <p:nvSpPr>
          <p:cNvPr id="1146" name="" descr="{&quot;isTemplate&quot;:true,&quot;type&quot;:&quot;text&quot;}"/>
          <p:cNvSpPr txBox="1"/>
          <p:nvPr/>
        </p:nvSpPr>
        <p:spPr>
          <a:xfrm rot="0" flipH="0" flipV="0">
            <a:off x="762000" y="2743200"/>
            <a:ext cx="590550" cy="142875"/>
          </a:xfrm>
          <a:prstGeom prst="rect"/>
        </p:spPr>
        <p:txBody>
          <a:bodyPr wrap="none" lIns="0" tIns="0" rIns="0" bIns="0"/>
          <a:p>
            <a:pPr>
              <a:lnSpc>
                <a:spcPct val="100000"/>
              </a:lnSpc>
            </a:pPr>
            <a:r>
              <a:rPr lang="zh-CN" sz="900" b="1">
                <a:solidFill>
                  <a:srgbClr val="FFFFFF"/>
                </a:solidFill>
                <a:latin typeface="Microsoft YaHei"/>
                <a:ea typeface="Microsoft YaHei"/>
              </a:rPr>
              <a:t>业务价值</a:t>
            </a:r>
            <a:endParaRPr/>
          </a:p>
        </p:txBody>
      </p:sp>
      <p:sp>
        <p:nvSpPr>
          <p:cNvPr id="1147" name="" descr="{&quot;isTemplate&quot;:true,&quot;type&quot;:&quot;text&quot;}"/>
          <p:cNvSpPr txBox="1"/>
          <p:nvPr/>
        </p:nvSpPr>
        <p:spPr>
          <a:xfrm rot="0" flipH="0" flipV="0">
            <a:off x="1447800" y="2752725"/>
            <a:ext cx="552450" cy="123825"/>
          </a:xfrm>
          <a:prstGeom prst="rect"/>
        </p:spPr>
        <p:txBody>
          <a:bodyPr wrap="none" lIns="0" tIns="0" rIns="0" bIns="0"/>
          <a:p>
            <a:pPr>
              <a:lnSpc>
                <a:spcPct val="100000"/>
              </a:lnSpc>
            </a:pPr>
            <a:r>
              <a:rPr lang="zh-CN" sz="788">
                <a:solidFill>
                  <a:srgbClr val="FBA15C"/>
                </a:solidFill>
                <a:latin typeface="Microsoft YaHei"/>
                <a:ea typeface="Microsoft YaHei"/>
              </a:rPr>
              <a:t>权重</a:t>
            </a:r>
            <a:r>
              <a:rPr lang="en-US" sz="788">
                <a:solidFill>
                  <a:srgbClr val="FBA15C"/>
                </a:solidFill>
                <a:latin typeface="Microsoft YaHei"/>
                <a:ea typeface="Microsoft YaHei"/>
              </a:rPr>
              <a:t xml:space="preserve"> 45%</a:t>
            </a:r>
            <a:endParaRPr/>
          </a:p>
        </p:txBody>
      </p:sp>
      <p:sp>
        <p:nvSpPr>
          <p:cNvPr id="1148" name="" descr="{&quot;isTemplate&quot;:true,&quot;type&quot;:&quot;text&quot;}"/>
          <p:cNvSpPr txBox="1"/>
          <p:nvPr/>
        </p:nvSpPr>
        <p:spPr>
          <a:xfrm rot="0" flipH="0" flipV="0">
            <a:off x="2095500" y="2657475"/>
            <a:ext cx="2743200" cy="314325"/>
          </a:xfrm>
          <a:prstGeom prst="rect"/>
        </p:spPr>
        <p:txBody>
          <a:bodyPr wrap="square" lIns="0" tIns="0" rIns="0" bIns="0">
            <a:normAutofit/>
          </a:bodyPr>
          <a:p>
            <a:pPr>
              <a:lnSpc>
                <a:spcPct val="130000"/>
              </a:lnSpc>
            </a:pPr>
            <a:r>
              <a:rPr lang="zh-CN" sz="788">
                <a:solidFill>
                  <a:srgbClr val="FFFFFF">
                    <a:alpha val="84000"/>
                  </a:srgbClr>
                </a:solidFill>
                <a:latin typeface="Microsoft YaHei"/>
                <a:ea typeface="Microsoft YaHei"/>
              </a:rPr>
              <a:t>量化：节省工时</a:t>
            </a:r>
            <a:r>
              <a:rPr lang="en-US" sz="788">
                <a:solidFill>
                  <a:srgbClr val="FFFFFF">
                    <a:alpha val="84000"/>
                  </a:srgbClr>
                </a:solidFill>
                <a:latin typeface="Microsoft YaHei"/>
                <a:ea typeface="Microsoft YaHei"/>
              </a:rPr>
              <a:t>/</a:t>
            </a:r>
            <a:r>
              <a:rPr lang="zh-CN" sz="788">
                <a:solidFill>
                  <a:srgbClr val="FFFFFF">
                    <a:alpha val="84000"/>
                  </a:srgbClr>
                </a:solidFill>
                <a:latin typeface="Microsoft YaHei"/>
                <a:ea typeface="Microsoft YaHei"/>
              </a:rPr>
              <a:t>减少损失</a:t>
            </a:r>
            <a:r>
              <a:rPr lang="en-US" sz="788">
                <a:solidFill>
                  <a:srgbClr val="FFFFFF">
                    <a:alpha val="84000"/>
                  </a:srgbClr>
                </a:solidFill>
                <a:latin typeface="Microsoft YaHei"/>
                <a:ea typeface="Microsoft YaHei"/>
              </a:rPr>
              <a:t>/</a:t>
            </a:r>
            <a:r>
              <a:rPr lang="zh-CN" sz="788">
                <a:solidFill>
                  <a:srgbClr val="FFFFFF">
                    <a:alpha val="84000"/>
                  </a:srgbClr>
                </a:solidFill>
                <a:latin typeface="Microsoft YaHei"/>
                <a:ea typeface="Microsoft YaHei"/>
              </a:rPr>
              <a:t>提升收益；不能量化的写清判断依据</a:t>
            </a:r>
            <a:endParaRPr/>
          </a:p>
        </p:txBody>
      </p:sp>
      <p:sp>
        <p:nvSpPr>
          <p:cNvPr id="1149" name="" descr="{&quot;isTemplate&quot;:true,&quot;type&quot;:&quot;text&quot;}"/>
          <p:cNvSpPr txBox="1"/>
          <p:nvPr/>
        </p:nvSpPr>
        <p:spPr>
          <a:xfrm rot="0" flipH="0" flipV="0">
            <a:off x="762000" y="3038475"/>
            <a:ext cx="590550" cy="142875"/>
          </a:xfrm>
          <a:prstGeom prst="rect"/>
        </p:spPr>
        <p:txBody>
          <a:bodyPr wrap="none" lIns="0" tIns="0" rIns="0" bIns="0"/>
          <a:p>
            <a:pPr>
              <a:lnSpc>
                <a:spcPct val="100000"/>
              </a:lnSpc>
            </a:pPr>
            <a:r>
              <a:rPr lang="zh-CN" sz="900" b="1">
                <a:solidFill>
                  <a:srgbClr val="FFFFFF"/>
                </a:solidFill>
                <a:latin typeface="Microsoft YaHei"/>
                <a:ea typeface="Microsoft YaHei"/>
              </a:rPr>
              <a:t>技术可行性</a:t>
            </a:r>
            <a:endParaRPr/>
          </a:p>
        </p:txBody>
      </p:sp>
      <p:sp>
        <p:nvSpPr>
          <p:cNvPr id="1150" name="" descr="{&quot;isTemplate&quot;:true,&quot;type&quot;:&quot;text&quot;}"/>
          <p:cNvSpPr txBox="1"/>
          <p:nvPr/>
        </p:nvSpPr>
        <p:spPr>
          <a:xfrm rot="0" flipH="0" flipV="0">
            <a:off x="1447800" y="3048000"/>
            <a:ext cx="552450" cy="123825"/>
          </a:xfrm>
          <a:prstGeom prst="rect"/>
        </p:spPr>
        <p:txBody>
          <a:bodyPr wrap="none" lIns="0" tIns="0" rIns="0" bIns="0"/>
          <a:p>
            <a:pPr>
              <a:lnSpc>
                <a:spcPct val="100000"/>
              </a:lnSpc>
            </a:pPr>
            <a:r>
              <a:rPr lang="zh-CN" sz="788">
                <a:solidFill>
                  <a:srgbClr val="FBA15C"/>
                </a:solidFill>
                <a:latin typeface="Microsoft YaHei"/>
                <a:ea typeface="Microsoft YaHei"/>
              </a:rPr>
              <a:t>权重</a:t>
            </a:r>
            <a:r>
              <a:rPr lang="en-US" sz="788">
                <a:solidFill>
                  <a:srgbClr val="FBA15C"/>
                </a:solidFill>
                <a:latin typeface="Microsoft YaHei"/>
                <a:ea typeface="Microsoft YaHei"/>
              </a:rPr>
              <a:t xml:space="preserve"> 35%</a:t>
            </a:r>
            <a:endParaRPr/>
          </a:p>
        </p:txBody>
      </p:sp>
      <p:sp>
        <p:nvSpPr>
          <p:cNvPr id="1151" name="" descr="{&quot;isTemplate&quot;:true,&quot;type&quot;:&quot;text&quot;}"/>
          <p:cNvSpPr txBox="1"/>
          <p:nvPr/>
        </p:nvSpPr>
        <p:spPr>
          <a:xfrm rot="0" flipH="0" flipV="0">
            <a:off x="2095500" y="3028950"/>
            <a:ext cx="2743200" cy="161925"/>
          </a:xfrm>
          <a:prstGeom prst="rect"/>
        </p:spPr>
        <p:txBody>
          <a:bodyPr wrap="none" lIns="0" tIns="0" rIns="0" bIns="0"/>
          <a:p>
            <a:pPr>
              <a:lnSpc>
                <a:spcPct val="130000"/>
              </a:lnSpc>
            </a:pPr>
            <a:r>
              <a:rPr lang="zh-CN" sz="788">
                <a:solidFill>
                  <a:srgbClr val="FFFFFF">
                    <a:alpha val="84000"/>
                  </a:srgbClr>
                </a:solidFill>
                <a:latin typeface="Microsoft YaHei"/>
                <a:ea typeface="Microsoft YaHei"/>
              </a:rPr>
              <a:t>数据是否就绪、模型是否可得、集成难度、算力是否够</a:t>
            </a:r>
            <a:endParaRPr/>
          </a:p>
        </p:txBody>
      </p:sp>
      <p:sp>
        <p:nvSpPr>
          <p:cNvPr id="1152" name="" descr="{&quot;isTemplate&quot;:true,&quot;type&quot;:&quot;text&quot;}"/>
          <p:cNvSpPr txBox="1"/>
          <p:nvPr/>
        </p:nvSpPr>
        <p:spPr>
          <a:xfrm rot="0" flipH="0" flipV="0">
            <a:off x="762000" y="3257550"/>
            <a:ext cx="590550" cy="142875"/>
          </a:xfrm>
          <a:prstGeom prst="rect"/>
        </p:spPr>
        <p:txBody>
          <a:bodyPr wrap="none" lIns="0" tIns="0" rIns="0" bIns="0"/>
          <a:p>
            <a:pPr>
              <a:lnSpc>
                <a:spcPct val="100000"/>
              </a:lnSpc>
            </a:pPr>
            <a:r>
              <a:rPr lang="zh-CN" sz="900" b="1">
                <a:solidFill>
                  <a:srgbClr val="FFFFFF"/>
                </a:solidFill>
                <a:latin typeface="Microsoft YaHei"/>
                <a:ea typeface="Microsoft YaHei"/>
              </a:rPr>
              <a:t>风险与合规</a:t>
            </a:r>
            <a:endParaRPr/>
          </a:p>
        </p:txBody>
      </p:sp>
      <p:sp>
        <p:nvSpPr>
          <p:cNvPr id="1153" name="" descr="{&quot;isTemplate&quot;:true,&quot;type&quot;:&quot;text&quot;}"/>
          <p:cNvSpPr txBox="1"/>
          <p:nvPr/>
        </p:nvSpPr>
        <p:spPr>
          <a:xfrm rot="0" flipH="0" flipV="0">
            <a:off x="1447800" y="3267075"/>
            <a:ext cx="552450" cy="123825"/>
          </a:xfrm>
          <a:prstGeom prst="rect"/>
        </p:spPr>
        <p:txBody>
          <a:bodyPr wrap="none" lIns="0" tIns="0" rIns="0" bIns="0"/>
          <a:p>
            <a:pPr>
              <a:lnSpc>
                <a:spcPct val="100000"/>
              </a:lnSpc>
            </a:pPr>
            <a:r>
              <a:rPr lang="zh-CN" sz="788">
                <a:solidFill>
                  <a:srgbClr val="FBA15C"/>
                </a:solidFill>
                <a:latin typeface="Microsoft YaHei"/>
                <a:ea typeface="Microsoft YaHei"/>
              </a:rPr>
              <a:t>权重</a:t>
            </a:r>
            <a:r>
              <a:rPr lang="en-US" sz="788">
                <a:solidFill>
                  <a:srgbClr val="FBA15C"/>
                </a:solidFill>
                <a:latin typeface="Microsoft YaHei"/>
                <a:ea typeface="Microsoft YaHei"/>
              </a:rPr>
              <a:t xml:space="preserve"> 20%</a:t>
            </a:r>
            <a:endParaRPr/>
          </a:p>
        </p:txBody>
      </p:sp>
      <p:sp>
        <p:nvSpPr>
          <p:cNvPr id="1154" name="" descr="{&quot;isTemplate&quot;:true,&quot;type&quot;:&quot;text&quot;}"/>
          <p:cNvSpPr txBox="1"/>
          <p:nvPr/>
        </p:nvSpPr>
        <p:spPr>
          <a:xfrm rot="0" flipH="0" flipV="0">
            <a:off x="2095500" y="3248025"/>
            <a:ext cx="2743200" cy="161925"/>
          </a:xfrm>
          <a:prstGeom prst="rect"/>
        </p:spPr>
        <p:txBody>
          <a:bodyPr wrap="none" lIns="0" tIns="0" rIns="0" bIns="0"/>
          <a:p>
            <a:pPr>
              <a:lnSpc>
                <a:spcPct val="130000"/>
              </a:lnSpc>
            </a:pPr>
            <a:r>
              <a:rPr lang="zh-CN" sz="788">
                <a:solidFill>
                  <a:srgbClr val="FFFFFF">
                    <a:alpha val="84000"/>
                  </a:srgbClr>
                </a:solidFill>
                <a:latin typeface="Microsoft YaHei"/>
                <a:ea typeface="Microsoft YaHei"/>
              </a:rPr>
              <a:t>密级与数据出域限制、决策是否可逆、错误的直接后果</a:t>
            </a:r>
            <a:endParaRPr/>
          </a:p>
        </p:txBody>
      </p:sp>
      <p:sp>
        <p:nvSpPr>
          <p:cNvPr id="1155" name="" descr="{&quot;isTemplate&quot;:true,&quot;type&quot;:&quot;text&quot;}"/>
          <p:cNvSpPr txBox="1"/>
          <p:nvPr/>
        </p:nvSpPr>
        <p:spPr>
          <a:xfrm rot="0" flipH="0" flipV="0">
            <a:off x="762000" y="3486150"/>
            <a:ext cx="4076700" cy="171450"/>
          </a:xfrm>
          <a:prstGeom prst="rect"/>
        </p:spPr>
        <p:txBody>
          <a:bodyPr wrap="none" lIns="0" tIns="0" rIns="0" bIns="0"/>
          <a:p>
            <a:pPr>
              <a:lnSpc>
                <a:spcPct val="135000"/>
              </a:lnSpc>
            </a:pPr>
            <a:r>
              <a:rPr lang="zh-CN" sz="788">
                <a:solidFill>
                  <a:srgbClr val="FBA15C"/>
                </a:solidFill>
                <a:latin typeface="Microsoft YaHei"/>
                <a:ea typeface="Microsoft YaHei"/>
              </a:rPr>
              <a:t>每个场景三项各自打分并写明打分依据，不允许只给总分——评审一定会问「凭什么」。</a:t>
            </a:r>
            <a:endParaRPr/>
          </a:p>
        </p:txBody>
      </p:sp>
      <p:sp>
        <p:nvSpPr>
          <p:cNvPr id="1156" name=""/>
          <p:cNvSpPr/>
          <p:nvPr/>
        </p:nvSpPr>
        <p:spPr>
          <a:xfrm rot="0" flipH="0" flipV="0">
            <a:off x="5067300" y="2295525"/>
            <a:ext cx="3657600" cy="1485900"/>
          </a:xfrm>
          <a:prstGeom prst="roundRect">
            <a:avLst>
              <a:gd name="adj" fmla="val 2564"/>
            </a:avLst>
          </a:prstGeom>
          <a:solidFill>
            <a:srgbClr val="F7F7F8"/>
          </a:solidFill>
          <a:ln/>
        </p:spPr>
        <p:txBody>
          <a:bodyPr/>
          <a:p/>
        </p:txBody>
      </p:sp>
      <p:sp>
        <p:nvSpPr>
          <p:cNvPr id="1157" name="" descr="{&quot;isTemplate&quot;:true,&quot;type&quot;:&quot;text&quot;}"/>
          <p:cNvSpPr txBox="1"/>
          <p:nvPr/>
        </p:nvSpPr>
        <p:spPr>
          <a:xfrm rot="0" flipH="0" flipV="0">
            <a:off x="5200650" y="2409825"/>
            <a:ext cx="3390900" cy="142875"/>
          </a:xfrm>
          <a:prstGeom prst="rect"/>
        </p:spPr>
        <p:txBody>
          <a:bodyPr wrap="none" lIns="0" tIns="0" rIns="0" bIns="0"/>
          <a:p>
            <a:pPr>
              <a:lnSpc>
                <a:spcPct val="100000"/>
              </a:lnSpc>
            </a:pPr>
            <a:r>
              <a:rPr lang="zh-CN" sz="938" b="1">
                <a:solidFill>
                  <a:srgbClr val="0F1423"/>
                </a:solidFill>
                <a:latin typeface="Microsoft YaHei"/>
                <a:ea typeface="Microsoft YaHei"/>
              </a:rPr>
              <a:t>示例：能源侧初识场景与排序</a:t>
            </a:r>
            <a:endParaRPr/>
          </a:p>
        </p:txBody>
      </p:sp>
      <p:sp>
        <p:nvSpPr>
          <p:cNvPr id="1158" name=""/>
          <p:cNvSpPr/>
          <p:nvPr/>
        </p:nvSpPr>
        <p:spPr>
          <a:xfrm rot="0" flipH="0" flipV="0">
            <a:off x="5200650" y="2619375"/>
            <a:ext cx="323850" cy="142875"/>
          </a:xfrm>
          <a:prstGeom prst="rect">
            <a:avLst/>
          </a:prstGeom>
          <a:solidFill>
            <a:srgbClr val="FA4F24"/>
          </a:solidFill>
          <a:ln/>
        </p:spPr>
        <p:txBody>
          <a:bodyPr/>
          <a:p/>
        </p:txBody>
      </p:sp>
      <p:sp>
        <p:nvSpPr>
          <p:cNvPr id="1159" name="" descr="{&quot;isTemplate&quot;:true,&quot;type&quot;:&quot;text&quot;}"/>
          <p:cNvSpPr txBox="1"/>
          <p:nvPr/>
        </p:nvSpPr>
        <p:spPr>
          <a:xfrm rot="0" flipH="0" flipV="0">
            <a:off x="5295900" y="2628900"/>
            <a:ext cx="142875" cy="133350"/>
          </a:xfrm>
          <a:prstGeom prst="rect"/>
        </p:spPr>
        <p:txBody>
          <a:bodyPr wrap="none" lIns="0" tIns="0" rIns="0" bIns="0"/>
          <a:p>
            <a:pPr>
              <a:lnSpc>
                <a:spcPct val="100000"/>
              </a:lnSpc>
            </a:pPr>
            <a:r>
              <a:rPr lang="en-US" sz="825" b="1">
                <a:solidFill>
                  <a:srgbClr val="FFFFFF"/>
                </a:solidFill>
                <a:latin typeface="Microsoft YaHei"/>
                <a:ea typeface="Microsoft YaHei"/>
              </a:rPr>
              <a:t>P1</a:t>
            </a:r>
            <a:endParaRPr/>
          </a:p>
        </p:txBody>
      </p:sp>
      <p:sp>
        <p:nvSpPr>
          <p:cNvPr id="1160" name=""/>
          <p:cNvSpPr/>
          <p:nvPr/>
        </p:nvSpPr>
        <p:spPr>
          <a:xfrm rot="0" flipH="0" flipV="0">
            <a:off x="5524500" y="2619375"/>
            <a:ext cx="2476500" cy="142875"/>
          </a:xfrm>
          <a:prstGeom prst="rect">
            <a:avLst/>
          </a:prstGeom>
          <a:solidFill>
            <a:srgbClr val="FFFFFF"/>
          </a:solidFill>
          <a:ln w="12700">
            <a:solidFill>
              <a:srgbClr val="E8E8E8"/>
            </a:solidFill>
            <a:prstDash val="solid"/>
          </a:ln>
        </p:spPr>
        <p:txBody>
          <a:bodyPr/>
          <a:p/>
        </p:txBody>
      </p:sp>
      <p:sp>
        <p:nvSpPr>
          <p:cNvPr id="1161" name="" descr="{&quot;isTemplate&quot;:true,&quot;type&quot;:&quot;text&quot;}"/>
          <p:cNvSpPr txBox="1"/>
          <p:nvPr/>
        </p:nvSpPr>
        <p:spPr>
          <a:xfrm rot="0" flipH="0" flipV="0">
            <a:off x="5610225" y="2628900"/>
            <a:ext cx="2076450" cy="123825"/>
          </a:xfrm>
          <a:prstGeom prst="rect"/>
        </p:spPr>
        <p:txBody>
          <a:bodyPr wrap="none" lIns="0" tIns="0" rIns="0" bIns="0"/>
          <a:p>
            <a:pPr>
              <a:lnSpc>
                <a:spcPct val="100000"/>
              </a:lnSpc>
            </a:pPr>
            <a:r>
              <a:rPr lang="zh-CN" sz="788">
                <a:solidFill>
                  <a:srgbClr val="0F1423"/>
                </a:solidFill>
                <a:latin typeface="Microsoft YaHei"/>
                <a:ea typeface="Microsoft YaHei"/>
              </a:rPr>
              <a:t>设备缺陷智能判读与检修建议</a:t>
            </a:r>
            <a:endParaRPr/>
          </a:p>
        </p:txBody>
      </p:sp>
      <p:sp>
        <p:nvSpPr>
          <p:cNvPr id="1162" name="" descr="{&quot;isTemplate&quot;:true,&quot;type&quot;:&quot;text&quot;}"/>
          <p:cNvSpPr txBox="1"/>
          <p:nvPr/>
        </p:nvSpPr>
        <p:spPr>
          <a:xfrm rot="0" flipH="0" flipV="0">
            <a:off x="7686675" y="2638425"/>
            <a:ext cx="228600" cy="114300"/>
          </a:xfrm>
          <a:prstGeom prst="rect"/>
        </p:spPr>
        <p:txBody>
          <a:bodyPr wrap="none" lIns="0" tIns="0" rIns="0" bIns="0"/>
          <a:p>
            <a:pPr>
              <a:lnSpc>
                <a:spcPct val="100000"/>
              </a:lnSpc>
            </a:pPr>
            <a:r>
              <a:rPr lang="en-US" sz="713">
                <a:solidFill>
                  <a:srgbClr val="8A8F99"/>
                </a:solidFill>
                <a:latin typeface="Microsoft YaHei"/>
                <a:ea typeface="Microsoft YaHei"/>
              </a:rPr>
              <a:t>E3</a:t>
            </a:r>
            <a:endParaRPr/>
          </a:p>
        </p:txBody>
      </p:sp>
      <p:sp>
        <p:nvSpPr>
          <p:cNvPr id="1163" name=""/>
          <p:cNvSpPr/>
          <p:nvPr/>
        </p:nvSpPr>
        <p:spPr>
          <a:xfrm rot="0" flipH="0" flipV="0">
            <a:off x="8001000" y="2619375"/>
            <a:ext cx="590550" cy="142875"/>
          </a:xfrm>
          <a:prstGeom prst="rect">
            <a:avLst/>
          </a:prstGeom>
          <a:solidFill>
            <a:srgbClr val="FFFFFF"/>
          </a:solidFill>
          <a:ln w="12700">
            <a:solidFill>
              <a:srgbClr val="E8E8E8"/>
            </a:solidFill>
            <a:prstDash val="solid"/>
          </a:ln>
        </p:spPr>
        <p:txBody>
          <a:bodyPr/>
          <a:p/>
        </p:txBody>
      </p:sp>
      <p:sp>
        <p:nvSpPr>
          <p:cNvPr id="1164" name="" descr="{&quot;isTemplate&quot;:true,&quot;type&quot;:&quot;text&quot;}"/>
          <p:cNvSpPr txBox="1"/>
          <p:nvPr/>
        </p:nvSpPr>
        <p:spPr>
          <a:xfrm rot="0" flipH="0" flipV="0">
            <a:off x="8115300" y="2638425"/>
            <a:ext cx="371475" cy="114300"/>
          </a:xfrm>
          <a:prstGeom prst="rect"/>
        </p:spPr>
        <p:txBody>
          <a:bodyPr wrap="none" lIns="0" tIns="0" rIns="0" bIns="0"/>
          <a:p>
            <a:pPr>
              <a:lnSpc>
                <a:spcPct val="100000"/>
              </a:lnSpc>
            </a:pPr>
            <a:r>
              <a:rPr lang="zh-CN" sz="750">
                <a:solidFill>
                  <a:srgbClr val="3A4050"/>
                </a:solidFill>
                <a:latin typeface="Microsoft YaHei"/>
                <a:ea typeface="Microsoft YaHei"/>
              </a:rPr>
              <a:t>高</a:t>
            </a:r>
            <a:r>
              <a:rPr lang="en-US" sz="750">
                <a:solidFill>
                  <a:srgbClr val="3A4050"/>
                </a:solidFill>
                <a:latin typeface="Microsoft YaHei"/>
                <a:ea typeface="Microsoft YaHei"/>
              </a:rPr>
              <a:t>/</a:t>
            </a:r>
            <a:r>
              <a:rPr lang="zh-CN" sz="750">
                <a:solidFill>
                  <a:srgbClr val="3A4050"/>
                </a:solidFill>
                <a:latin typeface="Microsoft YaHei"/>
                <a:ea typeface="Microsoft YaHei"/>
              </a:rPr>
              <a:t>高</a:t>
            </a:r>
            <a:r>
              <a:rPr lang="en-US" sz="750">
                <a:solidFill>
                  <a:srgbClr val="3A4050"/>
                </a:solidFill>
                <a:latin typeface="Microsoft YaHei"/>
                <a:ea typeface="Microsoft YaHei"/>
              </a:rPr>
              <a:t>/</a:t>
            </a:r>
            <a:r>
              <a:rPr lang="zh-CN" sz="750">
                <a:solidFill>
                  <a:srgbClr val="3A4050"/>
                </a:solidFill>
                <a:latin typeface="Microsoft YaHei"/>
                <a:ea typeface="Microsoft YaHei"/>
              </a:rPr>
              <a:t>中</a:t>
            </a:r>
            <a:endParaRPr/>
          </a:p>
        </p:txBody>
      </p:sp>
      <p:sp>
        <p:nvSpPr>
          <p:cNvPr id="1165" name=""/>
          <p:cNvSpPr/>
          <p:nvPr/>
        </p:nvSpPr>
        <p:spPr>
          <a:xfrm rot="0" flipH="0" flipV="0">
            <a:off x="5200650" y="2800350"/>
            <a:ext cx="323850" cy="142875"/>
          </a:xfrm>
          <a:prstGeom prst="rect">
            <a:avLst/>
          </a:prstGeom>
          <a:solidFill>
            <a:srgbClr val="FA4F24"/>
          </a:solidFill>
          <a:ln/>
        </p:spPr>
        <p:txBody>
          <a:bodyPr/>
          <a:p/>
        </p:txBody>
      </p:sp>
      <p:sp>
        <p:nvSpPr>
          <p:cNvPr id="1166" name="" descr="{&quot;isTemplate&quot;:true,&quot;type&quot;:&quot;text&quot;}"/>
          <p:cNvSpPr txBox="1"/>
          <p:nvPr/>
        </p:nvSpPr>
        <p:spPr>
          <a:xfrm rot="0" flipH="0" flipV="0">
            <a:off x="5295900" y="2809875"/>
            <a:ext cx="142875" cy="133350"/>
          </a:xfrm>
          <a:prstGeom prst="rect"/>
        </p:spPr>
        <p:txBody>
          <a:bodyPr wrap="none" lIns="0" tIns="0" rIns="0" bIns="0"/>
          <a:p>
            <a:pPr>
              <a:lnSpc>
                <a:spcPct val="100000"/>
              </a:lnSpc>
            </a:pPr>
            <a:r>
              <a:rPr lang="en-US" sz="825" b="1">
                <a:solidFill>
                  <a:srgbClr val="FFFFFF"/>
                </a:solidFill>
                <a:latin typeface="Microsoft YaHei"/>
                <a:ea typeface="Microsoft YaHei"/>
              </a:rPr>
              <a:t>P2</a:t>
            </a:r>
            <a:endParaRPr/>
          </a:p>
        </p:txBody>
      </p:sp>
      <p:sp>
        <p:nvSpPr>
          <p:cNvPr id="1167" name=""/>
          <p:cNvSpPr/>
          <p:nvPr/>
        </p:nvSpPr>
        <p:spPr>
          <a:xfrm rot="0" flipH="0" flipV="0">
            <a:off x="5524500" y="2800350"/>
            <a:ext cx="2476500" cy="142875"/>
          </a:xfrm>
          <a:prstGeom prst="rect">
            <a:avLst/>
          </a:prstGeom>
          <a:solidFill>
            <a:srgbClr val="FFFFFF"/>
          </a:solidFill>
          <a:ln w="12700">
            <a:solidFill>
              <a:srgbClr val="E8E8E8"/>
            </a:solidFill>
            <a:prstDash val="solid"/>
          </a:ln>
        </p:spPr>
        <p:txBody>
          <a:bodyPr/>
          <a:p/>
        </p:txBody>
      </p:sp>
      <p:sp>
        <p:nvSpPr>
          <p:cNvPr id="1168" name="" descr="{&quot;isTemplate&quot;:true,&quot;type&quot;:&quot;text&quot;}"/>
          <p:cNvSpPr txBox="1"/>
          <p:nvPr/>
        </p:nvSpPr>
        <p:spPr>
          <a:xfrm rot="0" flipH="0" flipV="0">
            <a:off x="5610225" y="2809875"/>
            <a:ext cx="2076450" cy="123825"/>
          </a:xfrm>
          <a:prstGeom prst="rect"/>
        </p:spPr>
        <p:txBody>
          <a:bodyPr wrap="none" lIns="0" tIns="0" rIns="0" bIns="0"/>
          <a:p>
            <a:pPr>
              <a:lnSpc>
                <a:spcPct val="100000"/>
              </a:lnSpc>
            </a:pPr>
            <a:r>
              <a:rPr lang="zh-CN" sz="788">
                <a:solidFill>
                  <a:srgbClr val="0F1423"/>
                </a:solidFill>
                <a:latin typeface="Microsoft YaHei"/>
                <a:ea typeface="Microsoft YaHei"/>
              </a:rPr>
              <a:t>检修与安全文档智能检索问答</a:t>
            </a:r>
            <a:endParaRPr/>
          </a:p>
        </p:txBody>
      </p:sp>
      <p:sp>
        <p:nvSpPr>
          <p:cNvPr id="1169" name="" descr="{&quot;isTemplate&quot;:true,&quot;type&quot;:&quot;text&quot;}"/>
          <p:cNvSpPr txBox="1"/>
          <p:nvPr/>
        </p:nvSpPr>
        <p:spPr>
          <a:xfrm rot="0" flipH="0" flipV="0">
            <a:off x="7686675" y="2819400"/>
            <a:ext cx="228600" cy="114300"/>
          </a:xfrm>
          <a:prstGeom prst="rect"/>
        </p:spPr>
        <p:txBody>
          <a:bodyPr wrap="none" lIns="0" tIns="0" rIns="0" bIns="0"/>
          <a:p>
            <a:pPr>
              <a:lnSpc>
                <a:spcPct val="100000"/>
              </a:lnSpc>
            </a:pPr>
            <a:r>
              <a:rPr lang="en-US" sz="713">
                <a:solidFill>
                  <a:srgbClr val="8A8F99"/>
                </a:solidFill>
                <a:latin typeface="Microsoft YaHei"/>
                <a:ea typeface="Microsoft YaHei"/>
              </a:rPr>
              <a:t>E3</a:t>
            </a:r>
            <a:endParaRPr/>
          </a:p>
        </p:txBody>
      </p:sp>
      <p:sp>
        <p:nvSpPr>
          <p:cNvPr id="1170" name=""/>
          <p:cNvSpPr/>
          <p:nvPr/>
        </p:nvSpPr>
        <p:spPr>
          <a:xfrm rot="0" flipH="0" flipV="0">
            <a:off x="8001000" y="2800350"/>
            <a:ext cx="590550" cy="142875"/>
          </a:xfrm>
          <a:prstGeom prst="rect">
            <a:avLst/>
          </a:prstGeom>
          <a:solidFill>
            <a:srgbClr val="FFFFFF"/>
          </a:solidFill>
          <a:ln w="12700">
            <a:solidFill>
              <a:srgbClr val="E8E8E8"/>
            </a:solidFill>
            <a:prstDash val="solid"/>
          </a:ln>
        </p:spPr>
        <p:txBody>
          <a:bodyPr/>
          <a:p/>
        </p:txBody>
      </p:sp>
      <p:sp>
        <p:nvSpPr>
          <p:cNvPr id="1171" name="" descr="{&quot;isTemplate&quot;:true,&quot;type&quot;:&quot;text&quot;}"/>
          <p:cNvSpPr txBox="1"/>
          <p:nvPr/>
        </p:nvSpPr>
        <p:spPr>
          <a:xfrm rot="0" flipH="0" flipV="0">
            <a:off x="8115300" y="2819400"/>
            <a:ext cx="371475" cy="114300"/>
          </a:xfrm>
          <a:prstGeom prst="rect"/>
        </p:spPr>
        <p:txBody>
          <a:bodyPr wrap="none" lIns="0" tIns="0" rIns="0" bIns="0"/>
          <a:p>
            <a:pPr>
              <a:lnSpc>
                <a:spcPct val="100000"/>
              </a:lnSpc>
            </a:pPr>
            <a:r>
              <a:rPr lang="zh-CN" sz="750">
                <a:solidFill>
                  <a:srgbClr val="3A4050"/>
                </a:solidFill>
                <a:latin typeface="Microsoft YaHei"/>
                <a:ea typeface="Microsoft YaHei"/>
              </a:rPr>
              <a:t>高</a:t>
            </a:r>
            <a:r>
              <a:rPr lang="en-US" sz="750">
                <a:solidFill>
                  <a:srgbClr val="3A4050"/>
                </a:solidFill>
                <a:latin typeface="Microsoft YaHei"/>
                <a:ea typeface="Microsoft YaHei"/>
              </a:rPr>
              <a:t>/</a:t>
            </a:r>
            <a:r>
              <a:rPr lang="zh-CN" sz="750">
                <a:solidFill>
                  <a:srgbClr val="3A4050"/>
                </a:solidFill>
                <a:latin typeface="Microsoft YaHei"/>
                <a:ea typeface="Microsoft YaHei"/>
              </a:rPr>
              <a:t>高</a:t>
            </a:r>
            <a:r>
              <a:rPr lang="en-US" sz="750">
                <a:solidFill>
                  <a:srgbClr val="3A4050"/>
                </a:solidFill>
                <a:latin typeface="Microsoft YaHei"/>
                <a:ea typeface="Microsoft YaHei"/>
              </a:rPr>
              <a:t>/</a:t>
            </a:r>
            <a:r>
              <a:rPr lang="zh-CN" sz="750">
                <a:solidFill>
                  <a:srgbClr val="3A4050"/>
                </a:solidFill>
                <a:latin typeface="Microsoft YaHei"/>
                <a:ea typeface="Microsoft YaHei"/>
              </a:rPr>
              <a:t>低</a:t>
            </a:r>
            <a:endParaRPr/>
          </a:p>
        </p:txBody>
      </p:sp>
      <p:sp>
        <p:nvSpPr>
          <p:cNvPr id="1172" name=""/>
          <p:cNvSpPr/>
          <p:nvPr/>
        </p:nvSpPr>
        <p:spPr>
          <a:xfrm rot="0" flipH="0" flipV="0">
            <a:off x="5200650" y="2981325"/>
            <a:ext cx="323850" cy="142875"/>
          </a:xfrm>
          <a:prstGeom prst="rect">
            <a:avLst/>
          </a:prstGeom>
          <a:solidFill>
            <a:srgbClr val="E0641E"/>
          </a:solidFill>
          <a:ln/>
        </p:spPr>
        <p:txBody>
          <a:bodyPr/>
          <a:p/>
        </p:txBody>
      </p:sp>
      <p:sp>
        <p:nvSpPr>
          <p:cNvPr id="1173" name="" descr="{&quot;isTemplate&quot;:true,&quot;type&quot;:&quot;text&quot;}"/>
          <p:cNvSpPr txBox="1"/>
          <p:nvPr/>
        </p:nvSpPr>
        <p:spPr>
          <a:xfrm rot="0" flipH="0" flipV="0">
            <a:off x="5295900" y="2990850"/>
            <a:ext cx="142875" cy="133350"/>
          </a:xfrm>
          <a:prstGeom prst="rect"/>
        </p:spPr>
        <p:txBody>
          <a:bodyPr wrap="none" lIns="0" tIns="0" rIns="0" bIns="0"/>
          <a:p>
            <a:pPr>
              <a:lnSpc>
                <a:spcPct val="100000"/>
              </a:lnSpc>
            </a:pPr>
            <a:r>
              <a:rPr lang="en-US" sz="825" b="1">
                <a:solidFill>
                  <a:srgbClr val="FFFFFF"/>
                </a:solidFill>
                <a:latin typeface="Microsoft YaHei"/>
                <a:ea typeface="Microsoft YaHei"/>
              </a:rPr>
              <a:t>P3</a:t>
            </a:r>
            <a:endParaRPr/>
          </a:p>
        </p:txBody>
      </p:sp>
      <p:sp>
        <p:nvSpPr>
          <p:cNvPr id="1174" name=""/>
          <p:cNvSpPr/>
          <p:nvPr/>
        </p:nvSpPr>
        <p:spPr>
          <a:xfrm rot="0" flipH="0" flipV="0">
            <a:off x="5524500" y="2981325"/>
            <a:ext cx="2476500" cy="142875"/>
          </a:xfrm>
          <a:prstGeom prst="rect">
            <a:avLst/>
          </a:prstGeom>
          <a:solidFill>
            <a:srgbClr val="FFFFFF"/>
          </a:solidFill>
          <a:ln w="12700">
            <a:solidFill>
              <a:srgbClr val="E8E8E8"/>
            </a:solidFill>
            <a:prstDash val="solid"/>
          </a:ln>
        </p:spPr>
        <p:txBody>
          <a:bodyPr/>
          <a:p/>
        </p:txBody>
      </p:sp>
      <p:sp>
        <p:nvSpPr>
          <p:cNvPr id="1175" name="" descr="{&quot;isTemplate&quot;:true,&quot;type&quot;:&quot;text&quot;}"/>
          <p:cNvSpPr txBox="1"/>
          <p:nvPr/>
        </p:nvSpPr>
        <p:spPr>
          <a:xfrm rot="0" flipH="0" flipV="0">
            <a:off x="5610225" y="2990850"/>
            <a:ext cx="2076450" cy="123825"/>
          </a:xfrm>
          <a:prstGeom prst="rect"/>
        </p:spPr>
        <p:txBody>
          <a:bodyPr wrap="none" lIns="0" tIns="0" rIns="0" bIns="0"/>
          <a:p>
            <a:pPr>
              <a:lnSpc>
                <a:spcPct val="100000"/>
              </a:lnSpc>
            </a:pPr>
            <a:r>
              <a:rPr lang="en-US" sz="788">
                <a:solidFill>
                  <a:srgbClr val="0F1423"/>
                </a:solidFill>
                <a:latin typeface="Microsoft YaHei"/>
                <a:ea typeface="Microsoft YaHei"/>
              </a:rPr>
              <a:t xml:space="preserve">EBOM→MBOM </a:t>
            </a:r>
            <a:r>
              <a:rPr lang="zh-CN" sz="788">
                <a:solidFill>
                  <a:srgbClr val="0F1423"/>
                </a:solidFill>
                <a:latin typeface="Microsoft YaHei"/>
                <a:ea typeface="Microsoft YaHei"/>
              </a:rPr>
              <a:t>转换规则辅助生成</a:t>
            </a:r>
            <a:endParaRPr/>
          </a:p>
        </p:txBody>
      </p:sp>
      <p:sp>
        <p:nvSpPr>
          <p:cNvPr id="1176" name="" descr="{&quot;isTemplate&quot;:true,&quot;type&quot;:&quot;text&quot;}"/>
          <p:cNvSpPr txBox="1"/>
          <p:nvPr/>
        </p:nvSpPr>
        <p:spPr>
          <a:xfrm rot="0" flipH="0" flipV="0">
            <a:off x="7686675" y="3000375"/>
            <a:ext cx="228600" cy="114300"/>
          </a:xfrm>
          <a:prstGeom prst="rect"/>
        </p:spPr>
        <p:txBody>
          <a:bodyPr wrap="none" lIns="0" tIns="0" rIns="0" bIns="0"/>
          <a:p>
            <a:pPr>
              <a:lnSpc>
                <a:spcPct val="100000"/>
              </a:lnSpc>
            </a:pPr>
            <a:r>
              <a:rPr lang="en-US" sz="713">
                <a:solidFill>
                  <a:srgbClr val="8A8F99"/>
                </a:solidFill>
                <a:latin typeface="Microsoft YaHei"/>
                <a:ea typeface="Microsoft YaHei"/>
              </a:rPr>
              <a:t>S2</a:t>
            </a:r>
            <a:endParaRPr/>
          </a:p>
        </p:txBody>
      </p:sp>
      <p:sp>
        <p:nvSpPr>
          <p:cNvPr id="1177" name=""/>
          <p:cNvSpPr/>
          <p:nvPr/>
        </p:nvSpPr>
        <p:spPr>
          <a:xfrm rot="0" flipH="0" flipV="0">
            <a:off x="8001000" y="2981325"/>
            <a:ext cx="590550" cy="142875"/>
          </a:xfrm>
          <a:prstGeom prst="rect">
            <a:avLst/>
          </a:prstGeom>
          <a:solidFill>
            <a:srgbClr val="FFFFFF"/>
          </a:solidFill>
          <a:ln w="12700">
            <a:solidFill>
              <a:srgbClr val="E8E8E8"/>
            </a:solidFill>
            <a:prstDash val="solid"/>
          </a:ln>
        </p:spPr>
        <p:txBody>
          <a:bodyPr/>
          <a:p/>
        </p:txBody>
      </p:sp>
      <p:sp>
        <p:nvSpPr>
          <p:cNvPr id="1178" name="" descr="{&quot;isTemplate&quot;:true,&quot;type&quot;:&quot;text&quot;}"/>
          <p:cNvSpPr txBox="1"/>
          <p:nvPr/>
        </p:nvSpPr>
        <p:spPr>
          <a:xfrm rot="0" flipH="0" flipV="0">
            <a:off x="8115300" y="3000375"/>
            <a:ext cx="371475" cy="114300"/>
          </a:xfrm>
          <a:prstGeom prst="rect"/>
        </p:spPr>
        <p:txBody>
          <a:bodyPr wrap="none" lIns="0" tIns="0" rIns="0" bIns="0"/>
          <a:p>
            <a:pPr>
              <a:lnSpc>
                <a:spcPct val="100000"/>
              </a:lnSpc>
            </a:pPr>
            <a:r>
              <a:rPr lang="zh-CN" sz="750">
                <a:solidFill>
                  <a:srgbClr val="3A4050"/>
                </a:solidFill>
                <a:latin typeface="Microsoft YaHei"/>
                <a:ea typeface="Microsoft YaHei"/>
              </a:rPr>
              <a:t>高</a:t>
            </a:r>
            <a:r>
              <a:rPr lang="en-US" sz="750">
                <a:solidFill>
                  <a:srgbClr val="3A4050"/>
                </a:solidFill>
                <a:latin typeface="Microsoft YaHei"/>
                <a:ea typeface="Microsoft YaHei"/>
              </a:rPr>
              <a:t>/</a:t>
            </a:r>
            <a:r>
              <a:rPr lang="zh-CN" sz="750">
                <a:solidFill>
                  <a:srgbClr val="3A4050"/>
                </a:solidFill>
                <a:latin typeface="Microsoft YaHei"/>
                <a:ea typeface="Microsoft YaHei"/>
              </a:rPr>
              <a:t>中</a:t>
            </a:r>
            <a:r>
              <a:rPr lang="en-US" sz="750">
                <a:solidFill>
                  <a:srgbClr val="3A4050"/>
                </a:solidFill>
                <a:latin typeface="Microsoft YaHei"/>
                <a:ea typeface="Microsoft YaHei"/>
              </a:rPr>
              <a:t>/</a:t>
            </a:r>
            <a:r>
              <a:rPr lang="zh-CN" sz="750">
                <a:solidFill>
                  <a:srgbClr val="3A4050"/>
                </a:solidFill>
                <a:latin typeface="Microsoft YaHei"/>
                <a:ea typeface="Microsoft YaHei"/>
              </a:rPr>
              <a:t>中</a:t>
            </a:r>
            <a:endParaRPr/>
          </a:p>
        </p:txBody>
      </p:sp>
      <p:sp>
        <p:nvSpPr>
          <p:cNvPr id="1179" name=""/>
          <p:cNvSpPr/>
          <p:nvPr/>
        </p:nvSpPr>
        <p:spPr>
          <a:xfrm rot="0" flipH="0" flipV="0">
            <a:off x="5200650" y="3162300"/>
            <a:ext cx="323850" cy="142875"/>
          </a:xfrm>
          <a:prstGeom prst="rect">
            <a:avLst/>
          </a:prstGeom>
          <a:solidFill>
            <a:srgbClr val="E0641E"/>
          </a:solidFill>
          <a:ln/>
        </p:spPr>
        <p:txBody>
          <a:bodyPr/>
          <a:p/>
        </p:txBody>
      </p:sp>
      <p:sp>
        <p:nvSpPr>
          <p:cNvPr id="1180" name="" descr="{&quot;isTemplate&quot;:true,&quot;type&quot;:&quot;text&quot;}"/>
          <p:cNvSpPr txBox="1"/>
          <p:nvPr/>
        </p:nvSpPr>
        <p:spPr>
          <a:xfrm rot="0" flipH="0" flipV="0">
            <a:off x="5295900" y="3171825"/>
            <a:ext cx="142875" cy="133350"/>
          </a:xfrm>
          <a:prstGeom prst="rect"/>
        </p:spPr>
        <p:txBody>
          <a:bodyPr wrap="none" lIns="0" tIns="0" rIns="0" bIns="0"/>
          <a:p>
            <a:pPr>
              <a:lnSpc>
                <a:spcPct val="100000"/>
              </a:lnSpc>
            </a:pPr>
            <a:r>
              <a:rPr lang="en-US" sz="825" b="1">
                <a:solidFill>
                  <a:srgbClr val="FFFFFF"/>
                </a:solidFill>
                <a:latin typeface="Microsoft YaHei"/>
                <a:ea typeface="Microsoft YaHei"/>
              </a:rPr>
              <a:t>P4</a:t>
            </a:r>
            <a:endParaRPr/>
          </a:p>
        </p:txBody>
      </p:sp>
      <p:sp>
        <p:nvSpPr>
          <p:cNvPr id="1181" name=""/>
          <p:cNvSpPr/>
          <p:nvPr/>
        </p:nvSpPr>
        <p:spPr>
          <a:xfrm rot="0" flipH="0" flipV="0">
            <a:off x="5524500" y="3162300"/>
            <a:ext cx="2476500" cy="142875"/>
          </a:xfrm>
          <a:prstGeom prst="rect">
            <a:avLst/>
          </a:prstGeom>
          <a:solidFill>
            <a:srgbClr val="FFFFFF"/>
          </a:solidFill>
          <a:ln w="12700">
            <a:solidFill>
              <a:srgbClr val="E8E8E8"/>
            </a:solidFill>
            <a:prstDash val="solid"/>
          </a:ln>
        </p:spPr>
        <p:txBody>
          <a:bodyPr/>
          <a:p/>
        </p:txBody>
      </p:sp>
      <p:sp>
        <p:nvSpPr>
          <p:cNvPr id="1182" name="" descr="{&quot;isTemplate&quot;:true,&quot;type&quot;:&quot;text&quot;}"/>
          <p:cNvSpPr txBox="1"/>
          <p:nvPr/>
        </p:nvSpPr>
        <p:spPr>
          <a:xfrm rot="0" flipH="0" flipV="0">
            <a:off x="5610225" y="3171825"/>
            <a:ext cx="2076450" cy="123825"/>
          </a:xfrm>
          <a:prstGeom prst="rect"/>
        </p:spPr>
        <p:txBody>
          <a:bodyPr wrap="none" lIns="0" tIns="0" rIns="0" bIns="0"/>
          <a:p>
            <a:pPr>
              <a:lnSpc>
                <a:spcPct val="100000"/>
              </a:lnSpc>
            </a:pPr>
            <a:r>
              <a:rPr lang="zh-CN" sz="788">
                <a:solidFill>
                  <a:srgbClr val="0F1423"/>
                </a:solidFill>
                <a:latin typeface="Microsoft YaHei"/>
                <a:ea typeface="Microsoft YaHei"/>
              </a:rPr>
              <a:t>交易报价策略与风险提示</a:t>
            </a:r>
            <a:endParaRPr/>
          </a:p>
        </p:txBody>
      </p:sp>
      <p:sp>
        <p:nvSpPr>
          <p:cNvPr id="1183" name="" descr="{&quot;isTemplate&quot;:true,&quot;type&quot;:&quot;text&quot;}"/>
          <p:cNvSpPr txBox="1"/>
          <p:nvPr/>
        </p:nvSpPr>
        <p:spPr>
          <a:xfrm rot="0" flipH="0" flipV="0">
            <a:off x="7686675" y="3181350"/>
            <a:ext cx="228600" cy="114300"/>
          </a:xfrm>
          <a:prstGeom prst="rect"/>
        </p:spPr>
        <p:txBody>
          <a:bodyPr wrap="none" lIns="0" tIns="0" rIns="0" bIns="0"/>
          <a:p>
            <a:pPr>
              <a:lnSpc>
                <a:spcPct val="100000"/>
              </a:lnSpc>
            </a:pPr>
            <a:r>
              <a:rPr lang="en-US" sz="713">
                <a:solidFill>
                  <a:srgbClr val="8A8F99"/>
                </a:solidFill>
                <a:latin typeface="Microsoft YaHei"/>
                <a:ea typeface="Microsoft YaHei"/>
              </a:rPr>
              <a:t>E4</a:t>
            </a:r>
            <a:endParaRPr/>
          </a:p>
        </p:txBody>
      </p:sp>
      <p:sp>
        <p:nvSpPr>
          <p:cNvPr id="1184" name=""/>
          <p:cNvSpPr/>
          <p:nvPr/>
        </p:nvSpPr>
        <p:spPr>
          <a:xfrm rot="0" flipH="0" flipV="0">
            <a:off x="8001000" y="3162300"/>
            <a:ext cx="590550" cy="142875"/>
          </a:xfrm>
          <a:prstGeom prst="rect">
            <a:avLst/>
          </a:prstGeom>
          <a:solidFill>
            <a:srgbClr val="FFFFFF"/>
          </a:solidFill>
          <a:ln w="12700">
            <a:solidFill>
              <a:srgbClr val="E8E8E8"/>
            </a:solidFill>
            <a:prstDash val="solid"/>
          </a:ln>
        </p:spPr>
        <p:txBody>
          <a:bodyPr/>
          <a:p/>
        </p:txBody>
      </p:sp>
      <p:sp>
        <p:nvSpPr>
          <p:cNvPr id="1185" name="" descr="{&quot;isTemplate&quot;:true,&quot;type&quot;:&quot;text&quot;}"/>
          <p:cNvSpPr txBox="1"/>
          <p:nvPr/>
        </p:nvSpPr>
        <p:spPr>
          <a:xfrm rot="0" flipH="0" flipV="0">
            <a:off x="8115300" y="3181350"/>
            <a:ext cx="371475" cy="114300"/>
          </a:xfrm>
          <a:prstGeom prst="rect"/>
        </p:spPr>
        <p:txBody>
          <a:bodyPr wrap="none" lIns="0" tIns="0" rIns="0" bIns="0"/>
          <a:p>
            <a:pPr>
              <a:lnSpc>
                <a:spcPct val="100000"/>
              </a:lnSpc>
            </a:pPr>
            <a:r>
              <a:rPr lang="zh-CN" sz="750">
                <a:solidFill>
                  <a:srgbClr val="3A4050"/>
                </a:solidFill>
                <a:latin typeface="Microsoft YaHei"/>
                <a:ea typeface="Microsoft YaHei"/>
              </a:rPr>
              <a:t>高</a:t>
            </a:r>
            <a:r>
              <a:rPr lang="en-US" sz="750">
                <a:solidFill>
                  <a:srgbClr val="3A4050"/>
                </a:solidFill>
                <a:latin typeface="Microsoft YaHei"/>
                <a:ea typeface="Microsoft YaHei"/>
              </a:rPr>
              <a:t>/</a:t>
            </a:r>
            <a:r>
              <a:rPr lang="zh-CN" sz="750">
                <a:solidFill>
                  <a:srgbClr val="3A4050"/>
                </a:solidFill>
                <a:latin typeface="Microsoft YaHei"/>
                <a:ea typeface="Microsoft YaHei"/>
              </a:rPr>
              <a:t>中</a:t>
            </a:r>
            <a:r>
              <a:rPr lang="en-US" sz="750">
                <a:solidFill>
                  <a:srgbClr val="3A4050"/>
                </a:solidFill>
                <a:latin typeface="Microsoft YaHei"/>
                <a:ea typeface="Microsoft YaHei"/>
              </a:rPr>
              <a:t>/</a:t>
            </a:r>
            <a:r>
              <a:rPr lang="zh-CN" sz="750">
                <a:solidFill>
                  <a:srgbClr val="3A4050"/>
                </a:solidFill>
                <a:latin typeface="Microsoft YaHei"/>
                <a:ea typeface="Microsoft YaHei"/>
              </a:rPr>
              <a:t>高</a:t>
            </a:r>
            <a:endParaRPr/>
          </a:p>
        </p:txBody>
      </p:sp>
      <p:sp>
        <p:nvSpPr>
          <p:cNvPr id="1186" name=""/>
          <p:cNvSpPr/>
          <p:nvPr/>
        </p:nvSpPr>
        <p:spPr>
          <a:xfrm rot="0" flipH="0" flipV="0">
            <a:off x="5200650" y="3343275"/>
            <a:ext cx="323850" cy="142875"/>
          </a:xfrm>
          <a:prstGeom prst="rect">
            <a:avLst/>
          </a:prstGeom>
          <a:solidFill>
            <a:srgbClr val="C43A17"/>
          </a:solidFill>
          <a:ln/>
        </p:spPr>
        <p:txBody>
          <a:bodyPr/>
          <a:p/>
        </p:txBody>
      </p:sp>
      <p:sp>
        <p:nvSpPr>
          <p:cNvPr id="1187" name="" descr="{&quot;isTemplate&quot;:true,&quot;type&quot;:&quot;text&quot;}"/>
          <p:cNvSpPr txBox="1"/>
          <p:nvPr/>
        </p:nvSpPr>
        <p:spPr>
          <a:xfrm rot="0" flipH="0" flipV="0">
            <a:off x="5295900" y="3352800"/>
            <a:ext cx="142875" cy="133350"/>
          </a:xfrm>
          <a:prstGeom prst="rect"/>
        </p:spPr>
        <p:txBody>
          <a:bodyPr wrap="none" lIns="0" tIns="0" rIns="0" bIns="0"/>
          <a:p>
            <a:pPr>
              <a:lnSpc>
                <a:spcPct val="100000"/>
              </a:lnSpc>
            </a:pPr>
            <a:r>
              <a:rPr lang="en-US" sz="825" b="1">
                <a:solidFill>
                  <a:srgbClr val="FFFFFF"/>
                </a:solidFill>
                <a:latin typeface="Microsoft YaHei"/>
                <a:ea typeface="Microsoft YaHei"/>
              </a:rPr>
              <a:t>P5</a:t>
            </a:r>
            <a:endParaRPr/>
          </a:p>
        </p:txBody>
      </p:sp>
      <p:sp>
        <p:nvSpPr>
          <p:cNvPr id="1188" name=""/>
          <p:cNvSpPr/>
          <p:nvPr/>
        </p:nvSpPr>
        <p:spPr>
          <a:xfrm rot="0" flipH="0" flipV="0">
            <a:off x="5524500" y="3343275"/>
            <a:ext cx="2476500" cy="142875"/>
          </a:xfrm>
          <a:prstGeom prst="rect">
            <a:avLst/>
          </a:prstGeom>
          <a:solidFill>
            <a:srgbClr val="FFFFFF"/>
          </a:solidFill>
          <a:ln w="12700">
            <a:solidFill>
              <a:srgbClr val="E8E8E8"/>
            </a:solidFill>
            <a:prstDash val="solid"/>
          </a:ln>
        </p:spPr>
        <p:txBody>
          <a:bodyPr/>
          <a:p/>
        </p:txBody>
      </p:sp>
      <p:sp>
        <p:nvSpPr>
          <p:cNvPr id="1189" name="" descr="{&quot;isTemplate&quot;:true,&quot;type&quot;:&quot;text&quot;}"/>
          <p:cNvSpPr txBox="1"/>
          <p:nvPr/>
        </p:nvSpPr>
        <p:spPr>
          <a:xfrm rot="0" flipH="0" flipV="0">
            <a:off x="5610225" y="3352800"/>
            <a:ext cx="2076450" cy="123825"/>
          </a:xfrm>
          <a:prstGeom prst="rect"/>
        </p:spPr>
        <p:txBody>
          <a:bodyPr wrap="none" lIns="0" tIns="0" rIns="0" bIns="0"/>
          <a:p>
            <a:pPr>
              <a:lnSpc>
                <a:spcPct val="100000"/>
              </a:lnSpc>
            </a:pPr>
            <a:r>
              <a:rPr lang="zh-CN" sz="788">
                <a:solidFill>
                  <a:srgbClr val="0F1423"/>
                </a:solidFill>
                <a:latin typeface="Microsoft YaHei"/>
                <a:ea typeface="Microsoft YaHei"/>
              </a:rPr>
              <a:t>四算差异归因与算量辅助</a:t>
            </a:r>
            <a:endParaRPr/>
          </a:p>
        </p:txBody>
      </p:sp>
      <p:sp>
        <p:nvSpPr>
          <p:cNvPr id="1190" name="" descr="{&quot;isTemplate&quot;:true,&quot;type&quot;:&quot;text&quot;}"/>
          <p:cNvSpPr txBox="1"/>
          <p:nvPr/>
        </p:nvSpPr>
        <p:spPr>
          <a:xfrm rot="0" flipH="0" flipV="0">
            <a:off x="7686675" y="3362325"/>
            <a:ext cx="228600" cy="114300"/>
          </a:xfrm>
          <a:prstGeom prst="rect"/>
        </p:spPr>
        <p:txBody>
          <a:bodyPr wrap="none" lIns="0" tIns="0" rIns="0" bIns="0"/>
          <a:p>
            <a:pPr>
              <a:lnSpc>
                <a:spcPct val="100000"/>
              </a:lnSpc>
            </a:pPr>
            <a:r>
              <a:rPr lang="en-US" sz="713">
                <a:solidFill>
                  <a:srgbClr val="8A8F99"/>
                </a:solidFill>
                <a:latin typeface="Microsoft YaHei"/>
                <a:ea typeface="Microsoft YaHei"/>
              </a:rPr>
              <a:t>E5</a:t>
            </a:r>
            <a:endParaRPr/>
          </a:p>
        </p:txBody>
      </p:sp>
      <p:sp>
        <p:nvSpPr>
          <p:cNvPr id="1191" name=""/>
          <p:cNvSpPr/>
          <p:nvPr/>
        </p:nvSpPr>
        <p:spPr>
          <a:xfrm rot="0" flipH="0" flipV="0">
            <a:off x="8001000" y="3343275"/>
            <a:ext cx="590550" cy="142875"/>
          </a:xfrm>
          <a:prstGeom prst="rect">
            <a:avLst/>
          </a:prstGeom>
          <a:solidFill>
            <a:srgbClr val="FFFFFF"/>
          </a:solidFill>
          <a:ln w="12700">
            <a:solidFill>
              <a:srgbClr val="E8E8E8"/>
            </a:solidFill>
            <a:prstDash val="solid"/>
          </a:ln>
        </p:spPr>
        <p:txBody>
          <a:bodyPr/>
          <a:p/>
        </p:txBody>
      </p:sp>
      <p:sp>
        <p:nvSpPr>
          <p:cNvPr id="1192" name="" descr="{&quot;isTemplate&quot;:true,&quot;type&quot;:&quot;text&quot;}"/>
          <p:cNvSpPr txBox="1"/>
          <p:nvPr/>
        </p:nvSpPr>
        <p:spPr>
          <a:xfrm rot="0" flipH="0" flipV="0">
            <a:off x="8115300" y="3362325"/>
            <a:ext cx="371475" cy="114300"/>
          </a:xfrm>
          <a:prstGeom prst="rect"/>
        </p:spPr>
        <p:txBody>
          <a:bodyPr wrap="none" lIns="0" tIns="0" rIns="0" bIns="0"/>
          <a:p>
            <a:pPr>
              <a:lnSpc>
                <a:spcPct val="100000"/>
              </a:lnSpc>
            </a:pPr>
            <a:r>
              <a:rPr lang="zh-CN" sz="750">
                <a:solidFill>
                  <a:srgbClr val="3A4050"/>
                </a:solidFill>
                <a:latin typeface="Microsoft YaHei"/>
                <a:ea typeface="Microsoft YaHei"/>
              </a:rPr>
              <a:t>中</a:t>
            </a:r>
            <a:r>
              <a:rPr lang="en-US" sz="750">
                <a:solidFill>
                  <a:srgbClr val="3A4050"/>
                </a:solidFill>
                <a:latin typeface="Microsoft YaHei"/>
                <a:ea typeface="Microsoft YaHei"/>
              </a:rPr>
              <a:t>/</a:t>
            </a:r>
            <a:r>
              <a:rPr lang="zh-CN" sz="750">
                <a:solidFill>
                  <a:srgbClr val="3A4050"/>
                </a:solidFill>
                <a:latin typeface="Microsoft YaHei"/>
                <a:ea typeface="Microsoft YaHei"/>
              </a:rPr>
              <a:t>中</a:t>
            </a:r>
            <a:r>
              <a:rPr lang="en-US" sz="750">
                <a:solidFill>
                  <a:srgbClr val="3A4050"/>
                </a:solidFill>
                <a:latin typeface="Microsoft YaHei"/>
                <a:ea typeface="Microsoft YaHei"/>
              </a:rPr>
              <a:t>/</a:t>
            </a:r>
            <a:r>
              <a:rPr lang="zh-CN" sz="750">
                <a:solidFill>
                  <a:srgbClr val="3A4050"/>
                </a:solidFill>
                <a:latin typeface="Microsoft YaHei"/>
                <a:ea typeface="Microsoft YaHei"/>
              </a:rPr>
              <a:t>中</a:t>
            </a:r>
            <a:endParaRPr/>
          </a:p>
        </p:txBody>
      </p:sp>
      <p:sp>
        <p:nvSpPr>
          <p:cNvPr id="1193" name=""/>
          <p:cNvSpPr/>
          <p:nvPr/>
        </p:nvSpPr>
        <p:spPr>
          <a:xfrm rot="0" flipH="0" flipV="0">
            <a:off x="5200650" y="3524250"/>
            <a:ext cx="323850" cy="142875"/>
          </a:xfrm>
          <a:prstGeom prst="rect">
            <a:avLst/>
          </a:prstGeom>
          <a:solidFill>
            <a:srgbClr val="C43A17"/>
          </a:solidFill>
          <a:ln/>
        </p:spPr>
        <p:txBody>
          <a:bodyPr/>
          <a:p/>
        </p:txBody>
      </p:sp>
      <p:sp>
        <p:nvSpPr>
          <p:cNvPr id="1194" name="" descr="{&quot;isTemplate&quot;:true,&quot;type&quot;:&quot;text&quot;}"/>
          <p:cNvSpPr txBox="1"/>
          <p:nvPr/>
        </p:nvSpPr>
        <p:spPr>
          <a:xfrm rot="0" flipH="0" flipV="0">
            <a:off x="5295900" y="3533775"/>
            <a:ext cx="142875" cy="133350"/>
          </a:xfrm>
          <a:prstGeom prst="rect"/>
        </p:spPr>
        <p:txBody>
          <a:bodyPr wrap="none" lIns="0" tIns="0" rIns="0" bIns="0"/>
          <a:p>
            <a:pPr>
              <a:lnSpc>
                <a:spcPct val="100000"/>
              </a:lnSpc>
            </a:pPr>
            <a:r>
              <a:rPr lang="en-US" sz="825" b="1">
                <a:solidFill>
                  <a:srgbClr val="FFFFFF"/>
                </a:solidFill>
                <a:latin typeface="Microsoft YaHei"/>
                <a:ea typeface="Microsoft YaHei"/>
              </a:rPr>
              <a:t>P6</a:t>
            </a:r>
            <a:endParaRPr/>
          </a:p>
        </p:txBody>
      </p:sp>
      <p:sp>
        <p:nvSpPr>
          <p:cNvPr id="1195" name=""/>
          <p:cNvSpPr/>
          <p:nvPr/>
        </p:nvSpPr>
        <p:spPr>
          <a:xfrm rot="0" flipH="0" flipV="0">
            <a:off x="5524500" y="3524250"/>
            <a:ext cx="2476500" cy="142875"/>
          </a:xfrm>
          <a:prstGeom prst="rect">
            <a:avLst/>
          </a:prstGeom>
          <a:solidFill>
            <a:srgbClr val="FFFFFF"/>
          </a:solidFill>
          <a:ln w="12700">
            <a:solidFill>
              <a:srgbClr val="E8E8E8"/>
            </a:solidFill>
            <a:prstDash val="solid"/>
          </a:ln>
        </p:spPr>
        <p:txBody>
          <a:bodyPr/>
          <a:p/>
        </p:txBody>
      </p:sp>
      <p:sp>
        <p:nvSpPr>
          <p:cNvPr id="1196" name="" descr="{&quot;isTemplate&quot;:true,&quot;type&quot;:&quot;text&quot;}"/>
          <p:cNvSpPr txBox="1"/>
          <p:nvPr/>
        </p:nvSpPr>
        <p:spPr>
          <a:xfrm rot="0" flipH="0" flipV="0">
            <a:off x="5610225" y="3533775"/>
            <a:ext cx="2076450" cy="123825"/>
          </a:xfrm>
          <a:prstGeom prst="rect"/>
        </p:spPr>
        <p:txBody>
          <a:bodyPr wrap="none" lIns="0" tIns="0" rIns="0" bIns="0"/>
          <a:p>
            <a:pPr>
              <a:lnSpc>
                <a:spcPct val="100000"/>
              </a:lnSpc>
            </a:pPr>
            <a:r>
              <a:rPr lang="zh-CN" sz="788">
                <a:solidFill>
                  <a:srgbClr val="0F1423"/>
                </a:solidFill>
                <a:latin typeface="Microsoft YaHei"/>
                <a:ea typeface="Microsoft YaHei"/>
              </a:rPr>
              <a:t>进度偏差预警（偏预测非生成）</a:t>
            </a:r>
            <a:endParaRPr/>
          </a:p>
        </p:txBody>
      </p:sp>
      <p:sp>
        <p:nvSpPr>
          <p:cNvPr id="1197" name="" descr="{&quot;isTemplate&quot;:true,&quot;type&quot;:&quot;text&quot;}"/>
          <p:cNvSpPr txBox="1"/>
          <p:nvPr/>
        </p:nvSpPr>
        <p:spPr>
          <a:xfrm rot="0" flipH="0" flipV="0">
            <a:off x="7686675" y="3543300"/>
            <a:ext cx="228600" cy="114300"/>
          </a:xfrm>
          <a:prstGeom prst="rect"/>
        </p:spPr>
        <p:txBody>
          <a:bodyPr wrap="none" lIns="0" tIns="0" rIns="0" bIns="0"/>
          <a:p>
            <a:pPr>
              <a:lnSpc>
                <a:spcPct val="100000"/>
              </a:lnSpc>
            </a:pPr>
            <a:r>
              <a:rPr lang="en-US" sz="713">
                <a:solidFill>
                  <a:srgbClr val="8A8F99"/>
                </a:solidFill>
                <a:latin typeface="Microsoft YaHei"/>
                <a:ea typeface="Microsoft YaHei"/>
              </a:rPr>
              <a:t>E2</a:t>
            </a:r>
            <a:endParaRPr/>
          </a:p>
        </p:txBody>
      </p:sp>
      <p:sp>
        <p:nvSpPr>
          <p:cNvPr id="1198" name=""/>
          <p:cNvSpPr/>
          <p:nvPr/>
        </p:nvSpPr>
        <p:spPr>
          <a:xfrm rot="0" flipH="0" flipV="0">
            <a:off x="8001000" y="3524250"/>
            <a:ext cx="590550" cy="142875"/>
          </a:xfrm>
          <a:prstGeom prst="rect">
            <a:avLst/>
          </a:prstGeom>
          <a:solidFill>
            <a:srgbClr val="FFFFFF"/>
          </a:solidFill>
          <a:ln w="12700">
            <a:solidFill>
              <a:srgbClr val="E8E8E8"/>
            </a:solidFill>
            <a:prstDash val="solid"/>
          </a:ln>
        </p:spPr>
        <p:txBody>
          <a:bodyPr/>
          <a:p/>
        </p:txBody>
      </p:sp>
      <p:sp>
        <p:nvSpPr>
          <p:cNvPr id="1199" name="" descr="{&quot;isTemplate&quot;:true,&quot;type&quot;:&quot;text&quot;}"/>
          <p:cNvSpPr txBox="1"/>
          <p:nvPr/>
        </p:nvSpPr>
        <p:spPr>
          <a:xfrm rot="0" flipH="0" flipV="0">
            <a:off x="8115300" y="3543300"/>
            <a:ext cx="371475" cy="114300"/>
          </a:xfrm>
          <a:prstGeom prst="rect"/>
        </p:spPr>
        <p:txBody>
          <a:bodyPr wrap="none" lIns="0" tIns="0" rIns="0" bIns="0"/>
          <a:p>
            <a:pPr>
              <a:lnSpc>
                <a:spcPct val="100000"/>
              </a:lnSpc>
            </a:pPr>
            <a:r>
              <a:rPr lang="zh-CN" sz="750">
                <a:solidFill>
                  <a:srgbClr val="3A4050"/>
                </a:solidFill>
                <a:latin typeface="Microsoft YaHei"/>
                <a:ea typeface="Microsoft YaHei"/>
              </a:rPr>
              <a:t>中</a:t>
            </a:r>
            <a:r>
              <a:rPr lang="en-US" sz="750">
                <a:solidFill>
                  <a:srgbClr val="3A4050"/>
                </a:solidFill>
                <a:latin typeface="Microsoft YaHei"/>
                <a:ea typeface="Microsoft YaHei"/>
              </a:rPr>
              <a:t>/</a:t>
            </a:r>
            <a:r>
              <a:rPr lang="zh-CN" sz="750">
                <a:solidFill>
                  <a:srgbClr val="3A4050"/>
                </a:solidFill>
                <a:latin typeface="Microsoft YaHei"/>
                <a:ea typeface="Microsoft YaHei"/>
              </a:rPr>
              <a:t>高</a:t>
            </a:r>
            <a:r>
              <a:rPr lang="en-US" sz="750">
                <a:solidFill>
                  <a:srgbClr val="3A4050"/>
                </a:solidFill>
                <a:latin typeface="Microsoft YaHei"/>
                <a:ea typeface="Microsoft YaHei"/>
              </a:rPr>
              <a:t>/</a:t>
            </a:r>
            <a:r>
              <a:rPr lang="zh-CN" sz="750">
                <a:solidFill>
                  <a:srgbClr val="3A4050"/>
                </a:solidFill>
                <a:latin typeface="Microsoft YaHei"/>
                <a:ea typeface="Microsoft YaHei"/>
              </a:rPr>
              <a:t>低</a:t>
            </a:r>
            <a:endParaRPr/>
          </a:p>
        </p:txBody>
      </p:sp>
      <p:sp>
        <p:nvSpPr>
          <p:cNvPr id="1200" name=""/>
          <p:cNvSpPr/>
          <p:nvPr/>
        </p:nvSpPr>
        <p:spPr>
          <a:xfrm rot="0" flipH="0" flipV="0">
            <a:off x="8839200" y="2295525"/>
            <a:ext cx="2743200" cy="1485900"/>
          </a:xfrm>
          <a:prstGeom prst="roundRect">
            <a:avLst>
              <a:gd name="adj" fmla="val 2564"/>
            </a:avLst>
          </a:prstGeom>
          <a:solidFill>
            <a:srgbClr val="FFF3EE"/>
          </a:solidFill>
          <a:ln/>
        </p:spPr>
        <p:txBody>
          <a:bodyPr/>
          <a:p/>
        </p:txBody>
      </p:sp>
      <p:sp>
        <p:nvSpPr>
          <p:cNvPr id="1201" name=""/>
          <p:cNvSpPr/>
          <p:nvPr/>
        </p:nvSpPr>
        <p:spPr>
          <a:xfrm rot="0" flipH="0" flipV="0">
            <a:off x="8839200" y="2295525"/>
            <a:ext cx="2743200" cy="1485900"/>
          </a:xfrm>
          <a:custGeom>
            <a:pathLst>
              <a:path w="288" h="156">
                <a:moveTo>
                  <a:pt x="4" y="156"/>
                </a:moveTo>
                <a:cubicBezTo>
                  <a:pt x="2" y="156"/>
                  <a:pt x="0" y="154"/>
                  <a:pt x="0" y="152"/>
                </a:cubicBezTo>
                <a:lnTo>
                  <a:pt x="0" y="4"/>
                </a:lnTo>
                <a:cubicBezTo>
                  <a:pt x="0" y="2"/>
                  <a:pt x="2" y="0"/>
                  <a:pt x="4" y="0"/>
                </a:cubicBezTo>
                <a:lnTo>
                  <a:pt x="4" y="156"/>
                </a:lnTo>
                <a:close/>
              </a:path>
            </a:pathLst>
          </a:custGeom>
          <a:solidFill>
            <a:srgbClr val="FA4F24"/>
          </a:solidFill>
          <a:ln/>
        </p:spPr>
        <p:txBody>
          <a:bodyPr/>
          <a:p/>
        </p:txBody>
      </p:sp>
      <p:sp>
        <p:nvSpPr>
          <p:cNvPr id="1202" name="" descr="{&quot;isTemplate&quot;:true,&quot;type&quot;:&quot;text&quot;}"/>
          <p:cNvSpPr txBox="1"/>
          <p:nvPr/>
        </p:nvSpPr>
        <p:spPr>
          <a:xfrm rot="0" flipH="0" flipV="0">
            <a:off x="8972550" y="2409825"/>
            <a:ext cx="2476500" cy="142875"/>
          </a:xfrm>
          <a:prstGeom prst="rect"/>
        </p:spPr>
        <p:txBody>
          <a:bodyPr wrap="none" lIns="0" tIns="0" rIns="0" bIns="0"/>
          <a:p>
            <a:pPr>
              <a:lnSpc>
                <a:spcPct val="100000"/>
              </a:lnSpc>
            </a:pPr>
            <a:r>
              <a:rPr lang="zh-CN" sz="938" b="1">
                <a:solidFill>
                  <a:srgbClr val="C43A17"/>
                </a:solidFill>
                <a:latin typeface="Microsoft YaHei"/>
                <a:ea typeface="Microsoft YaHei"/>
              </a:rPr>
              <a:t>三条不做的红线</a:t>
            </a:r>
            <a:endParaRPr/>
          </a:p>
        </p:txBody>
      </p:sp>
      <p:sp>
        <p:nvSpPr>
          <p:cNvPr id="1203" name="" descr="{&quot;isTemplate&quot;:true,&quot;type&quot;:&quot;text&quot;}"/>
          <p:cNvSpPr txBox="1"/>
          <p:nvPr/>
        </p:nvSpPr>
        <p:spPr>
          <a:xfrm rot="0" flipH="0" flipV="0">
            <a:off x="8972550" y="2609850"/>
            <a:ext cx="9525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204" name="" descr="{&quot;isTemplate&quot;:true,&quot;type&quot;:&quot;text&quot;}"/>
          <p:cNvSpPr txBox="1"/>
          <p:nvPr/>
        </p:nvSpPr>
        <p:spPr>
          <a:xfrm rot="0" flipH="0" flipV="0">
            <a:off x="9144000" y="2609850"/>
            <a:ext cx="23050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不从技术出发找场景：先定「模型能做什么」再找业务的，一律不写进清单</a:t>
            </a:r>
            <a:endParaRPr/>
          </a:p>
        </p:txBody>
      </p:sp>
      <p:sp>
        <p:nvSpPr>
          <p:cNvPr id="1205" name="" descr="{&quot;isTemplate&quot;:true,&quot;type&quot;:&quot;text&quot;}"/>
          <p:cNvSpPr txBox="1"/>
          <p:nvPr/>
        </p:nvSpPr>
        <p:spPr>
          <a:xfrm rot="0" flipH="0" flipV="0">
            <a:off x="8972550" y="2971800"/>
            <a:ext cx="9525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206" name="" descr="{&quot;isTemplate&quot;:true,&quot;type&quot;:&quot;text&quot;}"/>
          <p:cNvSpPr txBox="1"/>
          <p:nvPr/>
        </p:nvSpPr>
        <p:spPr>
          <a:xfrm rot="0" flipH="0" flipV="0">
            <a:off x="9144000" y="2971800"/>
            <a:ext cx="23050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不做不可验证的场景：说不出效果评估指标的，降级或剔除</a:t>
            </a:r>
            <a:endParaRPr/>
          </a:p>
        </p:txBody>
      </p:sp>
      <p:sp>
        <p:nvSpPr>
          <p:cNvPr id="1207" name="" descr="{&quot;isTemplate&quot;:true,&quot;type&quot;:&quot;text&quot;}"/>
          <p:cNvSpPr txBox="1"/>
          <p:nvPr/>
        </p:nvSpPr>
        <p:spPr>
          <a:xfrm rot="0" flipH="0" flipV="0">
            <a:off x="8972550" y="3333750"/>
            <a:ext cx="9525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208" name="" descr="{&quot;isTemplate&quot;:true,&quot;type&quot;:&quot;text&quot;}"/>
          <p:cNvSpPr txBox="1"/>
          <p:nvPr/>
        </p:nvSpPr>
        <p:spPr>
          <a:xfrm rot="0" flipH="0" flipV="0">
            <a:off x="9144000" y="3333750"/>
            <a:ext cx="23050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不做高风险决策场景：涉及安全红线与资金审批的，</a:t>
            </a:r>
            <a:r>
              <a:rPr lang="en-US" sz="788">
                <a:solidFill>
                  <a:srgbClr val="3A4050"/>
                </a:solidFill>
                <a:latin typeface="Microsoft YaHei"/>
                <a:ea typeface="Microsoft YaHei"/>
              </a:rPr>
              <a:t xml:space="preserve">AI </a:t>
            </a:r>
            <a:r>
              <a:rPr lang="zh-CN" sz="788">
                <a:solidFill>
                  <a:srgbClr val="3A4050"/>
                </a:solidFill>
                <a:latin typeface="Microsoft YaHei"/>
                <a:ea typeface="Microsoft YaHei"/>
              </a:rPr>
              <a:t>只做提示不做决策</a:t>
            </a:r>
            <a:endParaRPr/>
          </a:p>
        </p:txBody>
      </p:sp>
      <p:sp>
        <p:nvSpPr>
          <p:cNvPr id="1209" name=""/>
          <p:cNvSpPr/>
          <p:nvPr/>
        </p:nvSpPr>
        <p:spPr>
          <a:xfrm rot="0" flipH="0" flipV="0">
            <a:off x="647700" y="3857625"/>
            <a:ext cx="10972800" cy="1800225"/>
          </a:xfrm>
          <a:prstGeom prst="roundRect">
            <a:avLst>
              <a:gd name="adj" fmla="val 2116"/>
            </a:avLst>
          </a:prstGeom>
          <a:solidFill>
            <a:srgbClr val="F7F7F8"/>
          </a:solidFill>
          <a:ln/>
        </p:spPr>
        <p:txBody>
          <a:bodyPr/>
          <a:p/>
        </p:txBody>
      </p:sp>
      <p:sp>
        <p:nvSpPr>
          <p:cNvPr id="1210" name=""/>
          <p:cNvSpPr/>
          <p:nvPr/>
        </p:nvSpPr>
        <p:spPr>
          <a:xfrm rot="0" flipH="0" flipV="0">
            <a:off x="647700" y="3857625"/>
            <a:ext cx="10972800" cy="1800225"/>
          </a:xfrm>
          <a:custGeom>
            <a:pathLst>
              <a:path w="1152" h="189">
                <a:moveTo>
                  <a:pt x="4" y="189"/>
                </a:moveTo>
                <a:cubicBezTo>
                  <a:pt x="2" y="189"/>
                  <a:pt x="0" y="187"/>
                  <a:pt x="0" y="185"/>
                </a:cubicBezTo>
                <a:lnTo>
                  <a:pt x="0" y="4"/>
                </a:lnTo>
                <a:cubicBezTo>
                  <a:pt x="0" y="2"/>
                  <a:pt x="2" y="0"/>
                  <a:pt x="4" y="0"/>
                </a:cubicBezTo>
                <a:lnTo>
                  <a:pt x="4" y="189"/>
                </a:lnTo>
                <a:close/>
              </a:path>
            </a:pathLst>
          </a:custGeom>
          <a:solidFill>
            <a:srgbClr val="C43A17"/>
          </a:solidFill>
          <a:ln/>
        </p:spPr>
        <p:txBody>
          <a:bodyPr/>
          <a:p/>
        </p:txBody>
      </p:sp>
      <p:sp>
        <p:nvSpPr>
          <p:cNvPr id="1211" name="" descr="{&quot;isTemplate&quot;:true,&quot;type&quot;:&quot;text&quot;}"/>
          <p:cNvSpPr txBox="1"/>
          <p:nvPr/>
        </p:nvSpPr>
        <p:spPr>
          <a:xfrm rot="0" flipH="0" flipV="0">
            <a:off x="800100" y="4686300"/>
            <a:ext cx="1409700" cy="142875"/>
          </a:xfrm>
          <a:prstGeom prst="rect"/>
        </p:spPr>
        <p:txBody>
          <a:bodyPr wrap="none" lIns="0" tIns="0" rIns="0" bIns="0"/>
          <a:p>
            <a:pPr>
              <a:lnSpc>
                <a:spcPct val="100000"/>
              </a:lnSpc>
            </a:pPr>
            <a:r>
              <a:rPr lang="zh-CN" sz="900" b="1">
                <a:solidFill>
                  <a:srgbClr val="C43A17"/>
                </a:solidFill>
                <a:latin typeface="Microsoft YaHei"/>
                <a:ea typeface="Microsoft YaHei"/>
              </a:rPr>
              <a:t>阶段二</a:t>
            </a:r>
            <a:r>
              <a:rPr lang="en-US" sz="900" b="1">
                <a:solidFill>
                  <a:srgbClr val="C43A17"/>
                </a:solidFill>
                <a:latin typeface="Microsoft YaHei"/>
                <a:ea typeface="Microsoft YaHei"/>
              </a:rPr>
              <a:t xml:space="preserve"> / </a:t>
            </a:r>
            <a:r>
              <a:rPr lang="zh-CN" sz="900" b="1">
                <a:solidFill>
                  <a:srgbClr val="C43A17"/>
                </a:solidFill>
                <a:latin typeface="Microsoft YaHei"/>
                <a:ea typeface="Microsoft YaHei"/>
              </a:rPr>
              <a:t>阶段三的分工</a:t>
            </a:r>
            <a:endParaRPr/>
          </a:p>
        </p:txBody>
      </p:sp>
      <p:sp>
        <p:nvSpPr>
          <p:cNvPr id="1212" name="" descr="{&quot;isTemplate&quot;:true,&quot;type&quot;:&quot;text&quot;}"/>
          <p:cNvSpPr txBox="1"/>
          <p:nvPr/>
        </p:nvSpPr>
        <p:spPr>
          <a:xfrm rot="0" flipH="0" flipV="0">
            <a:off x="2343150" y="4562475"/>
            <a:ext cx="9086850" cy="390525"/>
          </a:xfrm>
          <a:prstGeom prst="rect"/>
        </p:spPr>
        <p:txBody>
          <a:bodyPr wrap="square" lIns="0" tIns="0" rIns="0" bIns="0">
            <a:normAutofit/>
          </a:bodyPr>
          <a:p>
            <a:pPr>
              <a:lnSpc>
                <a:spcPct val="140000"/>
              </a:lnSpc>
            </a:pPr>
            <a:r>
              <a:rPr lang="zh-CN" sz="900">
                <a:solidFill>
                  <a:srgbClr val="3A4050"/>
                </a:solidFill>
                <a:latin typeface="Microsoft YaHei"/>
                <a:ea typeface="Microsoft YaHei"/>
              </a:rPr>
              <a:t>阶段二只出「初识清单</a:t>
            </a:r>
            <a:r>
              <a:rPr lang="en-US" sz="900">
                <a:solidFill>
                  <a:srgbClr val="3A4050"/>
                </a:solidFill>
                <a:latin typeface="Microsoft YaHei"/>
                <a:ea typeface="Microsoft YaHei"/>
              </a:rPr>
              <a:t xml:space="preserve"> + </a:t>
            </a:r>
            <a:r>
              <a:rPr lang="zh-CN" sz="900">
                <a:solidFill>
                  <a:srgbClr val="3A4050"/>
                </a:solidFill>
                <a:latin typeface="Microsoft YaHei"/>
                <a:ea typeface="Microsoft YaHei"/>
              </a:rPr>
              <a:t>优先级」：场景是什么、解决哪条痛点、值不值得做。阶段三才做详细设计：输入数据、知识来源、智能体职责边界、人机协同方式、效果评估指标。同一个场景在两阶段的颗粒度不同，但编号一致。</a:t>
            </a:r>
            <a:endParaRPr/>
          </a:p>
        </p:txBody>
      </p:sp>
      <p:sp>
        <p:nvSpPr>
          <p:cNvPr id="1213" name=""/>
          <p:cNvSpPr/>
          <p:nvPr/>
        </p:nvSpPr>
        <p:spPr>
          <a:xfrm rot="0" flipH="0" flipV="0">
            <a:off x="609600" y="5943600"/>
            <a:ext cx="133350" cy="133350"/>
          </a:xfrm>
          <a:prstGeom prst="rect">
            <a:avLst/>
          </a:prstGeom>
          <a:solidFill>
            <a:srgbClr val="FA4F24"/>
          </a:solidFill>
          <a:ln/>
        </p:spPr>
        <p:txBody>
          <a:bodyPr/>
          <a:p/>
        </p:txBody>
      </p:sp>
      <p:sp>
        <p:nvSpPr>
          <p:cNvPr id="1214"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21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25 / 36</a:t>
            </a:r>
            <a:endParaRPr/>
          </a:p>
        </p:txBody>
      </p:sp>
    </p:spTree>
  </p:cSld>
</p:sld>
</file>

<file path=ppt/slides/slide26.xml><?xml version="1.0" encoding="utf-8"?>
<p:sld xmlns:p="http://schemas.openxmlformats.org/presentationml/2006/main" xmlns:a="http://schemas.openxmlformats.org/drawingml/2006/main">
  <p:cSld>
    <p:spTree>
      <p:nvGrpSpPr>
        <p:cNvPr id="1216" name="" descr="&lt;Slide style={{ width: 1280, height: 720, background: '#FFFFFF', padding: '24px 64px 0' }}&gt;&#10;    {/* A 区 */}&#10;    &lt;Box style={{ height: 96, flexDirection: 'column', justifyContent: 'flex-start' }}&gt;&#10;        &lt;Text style={{ fontSize: 32, fontWeight: 'bold', color: '#0F1423' }}&gt;&#10;            交付物②《业务蓝图设计》&lt;span style={{ color: '#FA4F24' }}&gt;结构与自检清单&lt;/span&gt;&#10;        &lt;/Text&gt;&#10;        &lt;Text style={{ fontSize: 19, color: '#8A8F99', marginTop: 7 }}&gt;&#10;            招标 3.4 第 2 项，一份交付物要装下 BA/DA/AA 三层加 AI 场景清单&#10;        &lt;/Text&gt;&#10;    &lt;/Box&gt;&#10;    &lt;Box style={{ height: 1, background: '#E8E8E8' }} /&gt;&#10;&#10;    {/* B 区 */}&#10;    &lt;Box style={{ paddingTop: 10, paddingBottom: 6, height: 479, flexDirection: 'column', gap: 8 }}&gt;&#10;        {/* 左：四部分结构 */}&#10;        &lt;Box style={{ flex: 1, flexDirection: 'row', gap: 9, alignItems: 'stretch' }}&gt;&#10;            &lt;Box style={{ width: 640, flexDirection: 'column', gap: 6 }}&gt;&#10;                {[&#10;                    { c: 'BA', t: '业务架构部分', d: '流程领域架构 / L4 子流程清单（含输入输出与接口）/ 核心业务循环及流程间接口与数据流转 / 组织与职责适配建议', o: '颗粒度：L4', col: '#FA4F24' },&#10;                    { c: 'DA', t: '数据架构部分', d: '数据资产目录 / 数据模型 / 数据标准 / 数据分布四维度，每维度到业务逻辑实体；含跨链一致性检查结论', o: '颗粒度：逻辑实体', col: '#E0641E' },&#10;                    { c: 'AA', t: '应用架构部分', d: '应用域划分与分层 / 应用边界与功能分布 / 应用集成架构（方式·协议·流转·调用）/ 功能模块清单 / 演进路径', o: '颗粒度：功能模块', col: '#C43A17' },&#10;                    { c: 'AI', t: 'AI 场景初步清单', d: '场景名称、所属业务块、解决的痛点编号、业务价值、技术可行性、风险等级、优先级排序与打分依据', o: '颗粒度：场景级', col: '#9E3410' },&#10;                ].map((x) =&gt; (&#10;                    &lt;Box key={x.c} style={{ flex: 1, background: '#F7F7F8', borderRadius: 4, borderLeft: '4px solid ' + x.col, padding: '0 14px', flexDirection: 'row', alignItems: 'center', gap: 11 }}&gt;&#10;                        &lt;Box style={{ width: 42, height: 26, borderRadius: 3, background: x.col, alignItems: 'center', justifyContent: 'center', flexDirection: 'row' }}&gt;&#10;                            &lt;Text style={{ fontSize: 12.5, fontWeight: 'bold', color: '#FFFFFF' }}&gt;{x.c}&lt;/Text&gt;&#10;                        &lt;/Box&gt;&#10;                        &lt;Box style={{ flex: 1 }}&gt;&#10;                            &lt;Text style={{ fontSize: 13, fontWeight: 'bold', color: '#0F1423' }}&gt;{x.t}&lt;/Text&gt;&#10;                            &lt;Text style={{ fontSize: 10.5, color: '#5A6070', lineHeight: 1.35, marginTop: 3 }}&gt;{x.d}&lt;/Text&gt;&#10;                        &lt;/Box&gt;&#10;                        &lt;Text style={{ fontSize: 10.5, color: x.col, fontWeight: 'bold', width: 88, textAlign: 'right' }}&gt;{x.o}&lt;/Text&gt;&#10;                    &lt;/Box&gt;&#10;                ))}&#10;            &lt;/Box&gt;&#10;&#10;            {/* 右：自检 */}&#10;            &lt;Box style={{ flex: 1, background: '#0F1423', borderRadius: 4, padding: '15px 18px', flexDirection: 'column' }}&gt;&#10;                &lt;Text style={{ fontSize: 12.5, color: '#FBA15C', letterSpacing: 1 }}&gt;交蓝图前八条自检&lt;/Text&gt;&#10;                {[&#10;                    '每条 L4 子流程是否都有输入、输出、接口与主责岗位',&#10;                    '每条 L4 是否能对应到阶段一的 PAIN 编号（无来源的不写）',&#10;                    '每个逻辑实体是否都标注了服务哪几条 L4、落点在哪个应用',&#10;                    '跨链公共实体（供应商/物料/项目编码）是否只建了一套定义',&#10;                    '每个功能模块是否都标注了支撑哪几条 L4、依赖哪些实体',&#10;                    '集成架构里是否还有「人工」方式？有的话目标态是什么',&#10;                    'AI 场景是否每条都有痛点编号与打分依据（不是凭感觉排的）',&#10;                    '数据标准里冲突项是否列出了裁定规则与裁定人',&#10;                ].map((t, i) =&gt; (&#10;                    &lt;Box key={t} style={{ flexDirection: 'row', alignItems: 'flex-start', gap: 9, flex: 1, marginTop: i === 0 ? 11 : 4 }}&gt;&#10;                        &lt;Box style={{ width: 16, height: 16, borderRadius: 2, border: '1px solid #FBA15C', alignItems: 'center', justifyContent: 'center', flexDirection: 'row', marginTop: 1 }}&gt;&#10;                            &lt;Text style={{ fontSize: 10, color: '#FBA15C' }}&gt;✓&lt;/Text&gt;&#10;                        &lt;/Box&gt;&#10;                        &lt;Text style={{ fontSize: 11.5, color: 'rgba(255,255,255,0.88)', flex: 1, lineHeight: 1.35 }}&gt;{t}&lt;/Text&gt;&#10;                    &lt;/Box&gt;&#10;                ))}&#10;                &lt;Box style={{ height: 32, background: '#FA4F24', borderRadius: 3, padding: '0 12px', flexDirection: 'row', alignItems: 'center', marginTop: 9 }}&gt;&#10;                    &lt;Text style={{ fontSize: 11.5, color: '#FFFFFF', lineHeight: 1.35 }}&gt;&#10;                        评审现场一定会抽查一条 L4 走完全链路——走不通就是不可交付&#10;                    &lt;/Text&gt;&#10;                &lt;/Box&gt;&#10;            &lt;/Box&gt;&#10;        &lt;/Box&gt;&#10;&#10;        {/* 下 */}&#10;        &lt;Box style={{ height: 38, background: '#FFF3EE', borderRadius: 4, borderLeft: '4px solid #FA4F24', padding: '0 16px', flexDirection: 'row', alignItems: 'center', gap: 14 }}&gt;&#10;            &lt;Text style={{ fontSize: 12, fontWeight: 'bold', color: '#C43A17', width: 118 }}&gt;交付形式与评审&lt;/Text&gt;&#10;            &lt;Text style={{ fontSize: 11.5, color: '#3A4050', flex: 1, lineHeight: 1.35 }}&gt;&#10;                文档 + 汇报。评审要过一次「追溯抽查」：现场抽一条痛点，看它是否一路走到 L4、逻辑实体与功能模块。这条走通，整套蓝图就成立；走不通，说明某一层是凭想象画的。&#10;            &lt;/Text&gt;&#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26 / 36&lt;/Text&gt;&#10;    &lt;/Box&gt;&#10;&lt;/Slide&gt;&#10;"/>
        <p:cNvGrpSpPr/>
        <p:nvPr/>
      </p:nvGrpSpPr>
      <p:grpSpPr>
        <a:xfrm>
          <a:off x="0" y="0"/>
          <a:ext cx="0" cy="0"/>
          <a:chOff x="0" y="0"/>
          <a:chExt cx="0" cy="0"/>
        </a:xfrm>
      </p:grpSpPr>
      <p:sp>
        <p:nvSpPr>
          <p:cNvPr id="1217" name=""/>
          <p:cNvSpPr/>
          <p:nvPr/>
        </p:nvSpPr>
        <p:spPr>
          <a:xfrm rot="0" flipH="0" flipV="0">
            <a:off x="0" y="0"/>
            <a:ext cx="12192000" cy="6858000"/>
          </a:xfrm>
          <a:prstGeom prst="rect">
            <a:avLst/>
          </a:prstGeom>
          <a:solidFill>
            <a:srgbClr val="FFFFFF"/>
          </a:solidFill>
          <a:ln/>
        </p:spPr>
        <p:txBody>
          <a:bodyPr/>
          <a:p/>
        </p:txBody>
      </p:sp>
      <p:sp>
        <p:nvSpPr>
          <p:cNvPr id="121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交付物②《业务蓝图设计》</a:t>
            </a:r>
            <a:r>
              <a:rPr lang="zh-CN" sz="2400" b="1">
                <a:solidFill>
                  <a:srgbClr val="FA4F24"/>
                </a:solidFill>
                <a:latin typeface="Microsoft YaHei"/>
                <a:ea typeface="Microsoft YaHei"/>
              </a:rPr>
              <a:t>结构与自检清单</a:t>
            </a:r>
            <a:endParaRPr/>
          </a:p>
        </p:txBody>
      </p:sp>
      <p:sp>
        <p:nvSpPr>
          <p:cNvPr id="1219"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3.4 </a:t>
            </a:r>
            <a:r>
              <a:rPr lang="zh-CN" sz="1425">
                <a:solidFill>
                  <a:srgbClr val="8A8F99"/>
                </a:solidFill>
                <a:latin typeface="Microsoft YaHei"/>
                <a:ea typeface="Microsoft YaHei"/>
              </a:rPr>
              <a:t>第</a:t>
            </a:r>
            <a:r>
              <a:rPr lang="en-US" sz="1425">
                <a:solidFill>
                  <a:srgbClr val="8A8F99"/>
                </a:solidFill>
                <a:latin typeface="Microsoft YaHei"/>
                <a:ea typeface="Microsoft YaHei"/>
              </a:rPr>
              <a:t xml:space="preserve"> 2 </a:t>
            </a:r>
            <a:r>
              <a:rPr lang="zh-CN" sz="1425">
                <a:solidFill>
                  <a:srgbClr val="8A8F99"/>
                </a:solidFill>
                <a:latin typeface="Microsoft YaHei"/>
                <a:ea typeface="Microsoft YaHei"/>
              </a:rPr>
              <a:t>项，一份交付物要装下</a:t>
            </a:r>
            <a:r>
              <a:rPr lang="en-US" sz="1425">
                <a:solidFill>
                  <a:srgbClr val="8A8F99"/>
                </a:solidFill>
                <a:latin typeface="Microsoft YaHei"/>
                <a:ea typeface="Microsoft YaHei"/>
              </a:rPr>
              <a:t xml:space="preserve"> BA/DA/AA </a:t>
            </a:r>
            <a:r>
              <a:rPr lang="zh-CN" sz="1425">
                <a:solidFill>
                  <a:srgbClr val="8A8F99"/>
                </a:solidFill>
                <a:latin typeface="Microsoft YaHei"/>
                <a:ea typeface="Microsoft YaHei"/>
              </a:rPr>
              <a:t>三层加</a:t>
            </a:r>
            <a:r>
              <a:rPr lang="en-US" sz="1425">
                <a:solidFill>
                  <a:srgbClr val="8A8F99"/>
                </a:solidFill>
                <a:latin typeface="Microsoft YaHei"/>
                <a:ea typeface="Microsoft YaHei"/>
              </a:rPr>
              <a:t xml:space="preserve"> AI </a:t>
            </a:r>
            <a:r>
              <a:rPr lang="zh-CN" sz="1425">
                <a:solidFill>
                  <a:srgbClr val="8A8F99"/>
                </a:solidFill>
                <a:latin typeface="Microsoft YaHei"/>
                <a:ea typeface="Microsoft YaHei"/>
              </a:rPr>
              <a:t>场景清单</a:t>
            </a:r>
            <a:endParaRPr/>
          </a:p>
        </p:txBody>
      </p:sp>
      <p:sp>
        <p:nvSpPr>
          <p:cNvPr id="1220" name=""/>
          <p:cNvSpPr/>
          <p:nvPr/>
        </p:nvSpPr>
        <p:spPr>
          <a:xfrm rot="0" flipH="0" flipV="0">
            <a:off x="609600" y="1143000"/>
            <a:ext cx="10972800" cy="9525"/>
          </a:xfrm>
          <a:prstGeom prst="rect">
            <a:avLst/>
          </a:prstGeom>
          <a:solidFill>
            <a:srgbClr val="E8E8E8"/>
          </a:solidFill>
          <a:ln/>
        </p:spPr>
        <p:txBody>
          <a:bodyPr/>
          <a:p/>
        </p:txBody>
      </p:sp>
      <p:sp>
        <p:nvSpPr>
          <p:cNvPr id="1221" name=""/>
          <p:cNvSpPr/>
          <p:nvPr/>
        </p:nvSpPr>
        <p:spPr>
          <a:xfrm rot="0" flipH="0" flipV="0">
            <a:off x="647700" y="1247775"/>
            <a:ext cx="6096000" cy="952500"/>
          </a:xfrm>
          <a:prstGeom prst="roundRect">
            <a:avLst>
              <a:gd name="adj" fmla="val 4000"/>
            </a:avLst>
          </a:prstGeom>
          <a:solidFill>
            <a:srgbClr val="F7F7F8"/>
          </a:solidFill>
          <a:ln/>
        </p:spPr>
        <p:txBody>
          <a:bodyPr/>
          <a:p/>
        </p:txBody>
      </p:sp>
      <p:sp>
        <p:nvSpPr>
          <p:cNvPr id="1222" name=""/>
          <p:cNvSpPr/>
          <p:nvPr/>
        </p:nvSpPr>
        <p:spPr>
          <a:xfrm rot="0" flipH="0" flipV="0">
            <a:off x="647700" y="1247775"/>
            <a:ext cx="6096000" cy="952500"/>
          </a:xfrm>
          <a:custGeom>
            <a:pathLst>
              <a:path w="640" h="100">
                <a:moveTo>
                  <a:pt x="4" y="100"/>
                </a:moveTo>
                <a:cubicBezTo>
                  <a:pt x="2" y="100"/>
                  <a:pt x="0" y="98"/>
                  <a:pt x="0" y="96"/>
                </a:cubicBezTo>
                <a:lnTo>
                  <a:pt x="0" y="4"/>
                </a:lnTo>
                <a:cubicBezTo>
                  <a:pt x="0" y="2"/>
                  <a:pt x="2" y="0"/>
                  <a:pt x="4" y="0"/>
                </a:cubicBezTo>
                <a:lnTo>
                  <a:pt x="4" y="100"/>
                </a:lnTo>
                <a:close/>
              </a:path>
            </a:pathLst>
          </a:custGeom>
          <a:solidFill>
            <a:srgbClr val="FA4F24"/>
          </a:solidFill>
          <a:ln/>
        </p:spPr>
        <p:txBody>
          <a:bodyPr/>
          <a:p/>
        </p:txBody>
      </p:sp>
      <p:sp>
        <p:nvSpPr>
          <p:cNvPr id="1223" name=""/>
          <p:cNvSpPr/>
          <p:nvPr/>
        </p:nvSpPr>
        <p:spPr>
          <a:xfrm rot="0" flipH="0" flipV="0">
            <a:off x="781050" y="1600200"/>
            <a:ext cx="400050" cy="247650"/>
          </a:xfrm>
          <a:prstGeom prst="roundRect">
            <a:avLst>
              <a:gd name="adj" fmla="val 11538"/>
            </a:avLst>
          </a:prstGeom>
          <a:solidFill>
            <a:srgbClr val="FA4F24"/>
          </a:solidFill>
          <a:ln/>
        </p:spPr>
        <p:txBody>
          <a:bodyPr/>
          <a:p/>
        </p:txBody>
      </p:sp>
      <p:sp>
        <p:nvSpPr>
          <p:cNvPr id="1224" name="" descr="{&quot;isTemplate&quot;:true,&quot;type&quot;:&quot;text&quot;}"/>
          <p:cNvSpPr txBox="1"/>
          <p:nvPr/>
        </p:nvSpPr>
        <p:spPr>
          <a:xfrm rot="0" flipH="0" flipV="0">
            <a:off x="895350" y="1657350"/>
            <a:ext cx="171450" cy="142875"/>
          </a:xfrm>
          <a:prstGeom prst="rect"/>
        </p:spPr>
        <p:txBody>
          <a:bodyPr wrap="none" lIns="0" tIns="0" rIns="0" bIns="0"/>
          <a:p>
            <a:pPr>
              <a:lnSpc>
                <a:spcPct val="100000"/>
              </a:lnSpc>
            </a:pPr>
            <a:r>
              <a:rPr lang="en-US" sz="938" b="1">
                <a:solidFill>
                  <a:srgbClr val="FFFFFF"/>
                </a:solidFill>
                <a:latin typeface="Microsoft YaHei"/>
                <a:ea typeface="Microsoft YaHei"/>
              </a:rPr>
              <a:t>BA</a:t>
            </a:r>
            <a:endParaRPr/>
          </a:p>
        </p:txBody>
      </p:sp>
      <p:sp>
        <p:nvSpPr>
          <p:cNvPr id="1225" name="" descr="{&quot;isTemplate&quot;:true,&quot;type&quot;:&quot;text&quot;}"/>
          <p:cNvSpPr txBox="1"/>
          <p:nvPr/>
        </p:nvSpPr>
        <p:spPr>
          <a:xfrm rot="0" flipH="0" flipV="0">
            <a:off x="1285875" y="1466850"/>
            <a:ext cx="4343400" cy="152400"/>
          </a:xfrm>
          <a:prstGeom prst="rect"/>
        </p:spPr>
        <p:txBody>
          <a:bodyPr wrap="none" lIns="0" tIns="0" rIns="0" bIns="0"/>
          <a:p>
            <a:pPr>
              <a:lnSpc>
                <a:spcPct val="100000"/>
              </a:lnSpc>
            </a:pPr>
            <a:r>
              <a:rPr lang="zh-CN" sz="975" b="1">
                <a:solidFill>
                  <a:srgbClr val="0F1423"/>
                </a:solidFill>
                <a:latin typeface="Microsoft YaHei"/>
                <a:ea typeface="Microsoft YaHei"/>
              </a:rPr>
              <a:t>业务架构部分</a:t>
            </a:r>
            <a:endParaRPr/>
          </a:p>
        </p:txBody>
      </p:sp>
      <p:sp>
        <p:nvSpPr>
          <p:cNvPr id="1226" name="" descr="{&quot;isTemplate&quot;:true,&quot;type&quot;:&quot;text&quot;}"/>
          <p:cNvSpPr txBox="1"/>
          <p:nvPr/>
        </p:nvSpPr>
        <p:spPr>
          <a:xfrm rot="0" flipH="0" flipV="0">
            <a:off x="1285875" y="1647825"/>
            <a:ext cx="4343400" cy="33337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流程领域架构</a:t>
            </a:r>
            <a:r>
              <a:rPr lang="en-US" sz="788">
                <a:solidFill>
                  <a:srgbClr val="5A6070"/>
                </a:solidFill>
                <a:latin typeface="Microsoft YaHei"/>
                <a:ea typeface="Microsoft YaHei"/>
              </a:rPr>
              <a:t xml:space="preserve"> / L4 </a:t>
            </a:r>
            <a:r>
              <a:rPr lang="zh-CN" sz="788">
                <a:solidFill>
                  <a:srgbClr val="5A6070"/>
                </a:solidFill>
                <a:latin typeface="Microsoft YaHei"/>
                <a:ea typeface="Microsoft YaHei"/>
              </a:rPr>
              <a:t>子流程清单（含输入输出与接口）</a:t>
            </a:r>
            <a:r>
              <a:rPr lang="en-US" sz="788">
                <a:solidFill>
                  <a:srgbClr val="5A6070"/>
                </a:solidFill>
                <a:latin typeface="Microsoft YaHei"/>
                <a:ea typeface="Microsoft YaHei"/>
              </a:rPr>
              <a:t xml:space="preserve">/ </a:t>
            </a:r>
            <a:r>
              <a:rPr lang="zh-CN" sz="788">
                <a:solidFill>
                  <a:srgbClr val="5A6070"/>
                </a:solidFill>
                <a:latin typeface="Microsoft YaHei"/>
                <a:ea typeface="Microsoft YaHei"/>
              </a:rPr>
              <a:t>核心业务循环及流程间接口与数据流转</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组织与职责适配建议</a:t>
            </a:r>
            <a:endParaRPr/>
          </a:p>
        </p:txBody>
      </p:sp>
      <p:sp>
        <p:nvSpPr>
          <p:cNvPr id="1227" name="" descr="{&quot;isTemplate&quot;:true,&quot;type&quot;:&quot;text&quot;}"/>
          <p:cNvSpPr txBox="1"/>
          <p:nvPr/>
        </p:nvSpPr>
        <p:spPr>
          <a:xfrm rot="0" flipH="0" flipV="0">
            <a:off x="5734050" y="1666875"/>
            <a:ext cx="838200" cy="123825"/>
          </a:xfrm>
          <a:prstGeom prst="rect"/>
        </p:spPr>
        <p:txBody>
          <a:bodyPr wrap="none" lIns="0" tIns="0" rIns="0" bIns="0"/>
          <a:p>
            <a:pPr algn="r">
              <a:lnSpc>
                <a:spcPct val="100000"/>
              </a:lnSpc>
            </a:pPr>
            <a:r>
              <a:rPr lang="zh-CN" sz="788" b="1">
                <a:solidFill>
                  <a:srgbClr val="FA4F24"/>
                </a:solidFill>
                <a:latin typeface="Microsoft YaHei"/>
                <a:ea typeface="Microsoft YaHei"/>
              </a:rPr>
              <a:t>颗粒度：</a:t>
            </a:r>
            <a:r>
              <a:rPr lang="en-US" sz="788" b="1">
                <a:solidFill>
                  <a:srgbClr val="FA4F24"/>
                </a:solidFill>
                <a:latin typeface="Microsoft YaHei"/>
                <a:ea typeface="Microsoft YaHei"/>
              </a:rPr>
              <a:t>L4</a:t>
            </a:r>
            <a:endParaRPr/>
          </a:p>
        </p:txBody>
      </p:sp>
      <p:sp>
        <p:nvSpPr>
          <p:cNvPr id="1228" name=""/>
          <p:cNvSpPr/>
          <p:nvPr/>
        </p:nvSpPr>
        <p:spPr>
          <a:xfrm rot="0" flipH="0" flipV="0">
            <a:off x="647700" y="2257425"/>
            <a:ext cx="6096000" cy="952500"/>
          </a:xfrm>
          <a:prstGeom prst="roundRect">
            <a:avLst>
              <a:gd name="adj" fmla="val 4000"/>
            </a:avLst>
          </a:prstGeom>
          <a:solidFill>
            <a:srgbClr val="F7F7F8"/>
          </a:solidFill>
          <a:ln/>
        </p:spPr>
        <p:txBody>
          <a:bodyPr/>
          <a:p/>
        </p:txBody>
      </p:sp>
      <p:sp>
        <p:nvSpPr>
          <p:cNvPr id="1229" name=""/>
          <p:cNvSpPr/>
          <p:nvPr/>
        </p:nvSpPr>
        <p:spPr>
          <a:xfrm rot="0" flipH="0" flipV="0">
            <a:off x="647700" y="2257425"/>
            <a:ext cx="6096000" cy="952500"/>
          </a:xfrm>
          <a:custGeom>
            <a:pathLst>
              <a:path w="640" h="100">
                <a:moveTo>
                  <a:pt x="4" y="100"/>
                </a:moveTo>
                <a:cubicBezTo>
                  <a:pt x="2" y="100"/>
                  <a:pt x="0" y="98"/>
                  <a:pt x="0" y="96"/>
                </a:cubicBezTo>
                <a:lnTo>
                  <a:pt x="0" y="4"/>
                </a:lnTo>
                <a:cubicBezTo>
                  <a:pt x="0" y="2"/>
                  <a:pt x="2" y="0"/>
                  <a:pt x="4" y="0"/>
                </a:cubicBezTo>
                <a:lnTo>
                  <a:pt x="4" y="100"/>
                </a:lnTo>
                <a:close/>
              </a:path>
            </a:pathLst>
          </a:custGeom>
          <a:solidFill>
            <a:srgbClr val="E0641E"/>
          </a:solidFill>
          <a:ln/>
        </p:spPr>
        <p:txBody>
          <a:bodyPr/>
          <a:p/>
        </p:txBody>
      </p:sp>
      <p:sp>
        <p:nvSpPr>
          <p:cNvPr id="1230" name=""/>
          <p:cNvSpPr/>
          <p:nvPr/>
        </p:nvSpPr>
        <p:spPr>
          <a:xfrm rot="0" flipH="0" flipV="0">
            <a:off x="781050" y="2609850"/>
            <a:ext cx="400050" cy="247650"/>
          </a:xfrm>
          <a:prstGeom prst="roundRect">
            <a:avLst>
              <a:gd name="adj" fmla="val 11538"/>
            </a:avLst>
          </a:prstGeom>
          <a:solidFill>
            <a:srgbClr val="E0641E"/>
          </a:solidFill>
          <a:ln/>
        </p:spPr>
        <p:txBody>
          <a:bodyPr/>
          <a:p/>
        </p:txBody>
      </p:sp>
      <p:sp>
        <p:nvSpPr>
          <p:cNvPr id="1231" name="" descr="{&quot;isTemplate&quot;:true,&quot;type&quot;:&quot;text&quot;}"/>
          <p:cNvSpPr txBox="1"/>
          <p:nvPr/>
        </p:nvSpPr>
        <p:spPr>
          <a:xfrm rot="0" flipH="0" flipV="0">
            <a:off x="885825" y="2667000"/>
            <a:ext cx="190500" cy="142875"/>
          </a:xfrm>
          <a:prstGeom prst="rect"/>
        </p:spPr>
        <p:txBody>
          <a:bodyPr wrap="none" lIns="0" tIns="0" rIns="0" bIns="0"/>
          <a:p>
            <a:pPr>
              <a:lnSpc>
                <a:spcPct val="100000"/>
              </a:lnSpc>
            </a:pPr>
            <a:r>
              <a:rPr lang="en-US" sz="938" b="1">
                <a:solidFill>
                  <a:srgbClr val="FFFFFF"/>
                </a:solidFill>
                <a:latin typeface="Microsoft YaHei"/>
                <a:ea typeface="Microsoft YaHei"/>
              </a:rPr>
              <a:t>DA</a:t>
            </a:r>
            <a:endParaRPr/>
          </a:p>
        </p:txBody>
      </p:sp>
      <p:sp>
        <p:nvSpPr>
          <p:cNvPr id="1232" name="" descr="{&quot;isTemplate&quot;:true,&quot;type&quot;:&quot;text&quot;}"/>
          <p:cNvSpPr txBox="1"/>
          <p:nvPr/>
        </p:nvSpPr>
        <p:spPr>
          <a:xfrm rot="0" flipH="0" flipV="0">
            <a:off x="1285875" y="2476500"/>
            <a:ext cx="4343400" cy="152400"/>
          </a:xfrm>
          <a:prstGeom prst="rect"/>
        </p:spPr>
        <p:txBody>
          <a:bodyPr wrap="none" lIns="0" tIns="0" rIns="0" bIns="0"/>
          <a:p>
            <a:pPr>
              <a:lnSpc>
                <a:spcPct val="100000"/>
              </a:lnSpc>
            </a:pPr>
            <a:r>
              <a:rPr lang="zh-CN" sz="975" b="1">
                <a:solidFill>
                  <a:srgbClr val="0F1423"/>
                </a:solidFill>
                <a:latin typeface="Microsoft YaHei"/>
                <a:ea typeface="Microsoft YaHei"/>
              </a:rPr>
              <a:t>数据架构部分</a:t>
            </a:r>
            <a:endParaRPr/>
          </a:p>
        </p:txBody>
      </p:sp>
      <p:sp>
        <p:nvSpPr>
          <p:cNvPr id="1233" name="" descr="{&quot;isTemplate&quot;:true,&quot;type&quot;:&quot;text&quot;}"/>
          <p:cNvSpPr txBox="1"/>
          <p:nvPr/>
        </p:nvSpPr>
        <p:spPr>
          <a:xfrm rot="0" flipH="0" flipV="0">
            <a:off x="1285875" y="2657475"/>
            <a:ext cx="4343400" cy="33337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数据资产目录</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数据模型</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数据标准</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数据分布四维度，每维度到业务逻辑实体；含跨链一致性检查结论</a:t>
            </a:r>
            <a:endParaRPr/>
          </a:p>
        </p:txBody>
      </p:sp>
      <p:sp>
        <p:nvSpPr>
          <p:cNvPr id="1234" name="" descr="{&quot;isTemplate&quot;:true,&quot;type&quot;:&quot;text&quot;}"/>
          <p:cNvSpPr txBox="1"/>
          <p:nvPr/>
        </p:nvSpPr>
        <p:spPr>
          <a:xfrm rot="0" flipH="0" flipV="0">
            <a:off x="5734050" y="2676525"/>
            <a:ext cx="838200" cy="123825"/>
          </a:xfrm>
          <a:prstGeom prst="rect"/>
        </p:spPr>
        <p:txBody>
          <a:bodyPr wrap="none" lIns="0" tIns="0" rIns="0" bIns="0"/>
          <a:p>
            <a:pPr algn="r">
              <a:lnSpc>
                <a:spcPct val="100000"/>
              </a:lnSpc>
            </a:pPr>
            <a:r>
              <a:rPr lang="zh-CN" sz="788" b="1">
                <a:solidFill>
                  <a:srgbClr val="E0641E"/>
                </a:solidFill>
                <a:latin typeface="Microsoft YaHei"/>
                <a:ea typeface="Microsoft YaHei"/>
              </a:rPr>
              <a:t>颗粒度：逻辑实体</a:t>
            </a:r>
            <a:endParaRPr/>
          </a:p>
        </p:txBody>
      </p:sp>
      <p:sp>
        <p:nvSpPr>
          <p:cNvPr id="1235" name=""/>
          <p:cNvSpPr/>
          <p:nvPr/>
        </p:nvSpPr>
        <p:spPr>
          <a:xfrm rot="0" flipH="0" flipV="0">
            <a:off x="647700" y="3267075"/>
            <a:ext cx="6096000" cy="942975"/>
          </a:xfrm>
          <a:prstGeom prst="roundRect">
            <a:avLst>
              <a:gd name="adj" fmla="val 4040"/>
            </a:avLst>
          </a:prstGeom>
          <a:solidFill>
            <a:srgbClr val="F7F7F8"/>
          </a:solidFill>
          <a:ln/>
        </p:spPr>
        <p:txBody>
          <a:bodyPr/>
          <a:p/>
        </p:txBody>
      </p:sp>
      <p:sp>
        <p:nvSpPr>
          <p:cNvPr id="1236" name=""/>
          <p:cNvSpPr/>
          <p:nvPr/>
        </p:nvSpPr>
        <p:spPr>
          <a:xfrm rot="0" flipH="0" flipV="0">
            <a:off x="647700" y="3267075"/>
            <a:ext cx="6096000" cy="942975"/>
          </a:xfrm>
          <a:custGeom>
            <a:pathLst>
              <a:path w="640" h="99">
                <a:moveTo>
                  <a:pt x="4" y="99"/>
                </a:moveTo>
                <a:cubicBezTo>
                  <a:pt x="2" y="99"/>
                  <a:pt x="0" y="97"/>
                  <a:pt x="0" y="95"/>
                </a:cubicBezTo>
                <a:lnTo>
                  <a:pt x="0" y="4"/>
                </a:lnTo>
                <a:cubicBezTo>
                  <a:pt x="0" y="2"/>
                  <a:pt x="2" y="0"/>
                  <a:pt x="4" y="0"/>
                </a:cubicBezTo>
                <a:lnTo>
                  <a:pt x="4" y="99"/>
                </a:lnTo>
                <a:close/>
              </a:path>
            </a:pathLst>
          </a:custGeom>
          <a:solidFill>
            <a:srgbClr val="C43A17"/>
          </a:solidFill>
          <a:ln/>
        </p:spPr>
        <p:txBody>
          <a:bodyPr/>
          <a:p/>
        </p:txBody>
      </p:sp>
      <p:sp>
        <p:nvSpPr>
          <p:cNvPr id="1237" name=""/>
          <p:cNvSpPr/>
          <p:nvPr/>
        </p:nvSpPr>
        <p:spPr>
          <a:xfrm rot="0" flipH="0" flipV="0">
            <a:off x="781050" y="3619500"/>
            <a:ext cx="400050" cy="247650"/>
          </a:xfrm>
          <a:prstGeom prst="roundRect">
            <a:avLst>
              <a:gd name="adj" fmla="val 11538"/>
            </a:avLst>
          </a:prstGeom>
          <a:solidFill>
            <a:srgbClr val="C43A17"/>
          </a:solidFill>
          <a:ln/>
        </p:spPr>
        <p:txBody>
          <a:bodyPr/>
          <a:p/>
        </p:txBody>
      </p:sp>
      <p:sp>
        <p:nvSpPr>
          <p:cNvPr id="1238" name="" descr="{&quot;isTemplate&quot;:true,&quot;type&quot;:&quot;text&quot;}"/>
          <p:cNvSpPr txBox="1"/>
          <p:nvPr/>
        </p:nvSpPr>
        <p:spPr>
          <a:xfrm rot="0" flipH="0" flipV="0">
            <a:off x="895350" y="3676650"/>
            <a:ext cx="180975" cy="142875"/>
          </a:xfrm>
          <a:prstGeom prst="rect"/>
        </p:spPr>
        <p:txBody>
          <a:bodyPr wrap="none" lIns="0" tIns="0" rIns="0" bIns="0"/>
          <a:p>
            <a:pPr>
              <a:lnSpc>
                <a:spcPct val="100000"/>
              </a:lnSpc>
            </a:pPr>
            <a:r>
              <a:rPr lang="en-US" sz="938" b="1">
                <a:solidFill>
                  <a:srgbClr val="FFFFFF"/>
                </a:solidFill>
                <a:latin typeface="Microsoft YaHei"/>
                <a:ea typeface="Microsoft YaHei"/>
              </a:rPr>
              <a:t>AA</a:t>
            </a:r>
            <a:endParaRPr/>
          </a:p>
        </p:txBody>
      </p:sp>
      <p:sp>
        <p:nvSpPr>
          <p:cNvPr id="1239" name="" descr="{&quot;isTemplate&quot;:true,&quot;type&quot;:&quot;text&quot;}"/>
          <p:cNvSpPr txBox="1"/>
          <p:nvPr/>
        </p:nvSpPr>
        <p:spPr>
          <a:xfrm rot="0" flipH="0" flipV="0">
            <a:off x="1285875" y="3486150"/>
            <a:ext cx="4343400" cy="152400"/>
          </a:xfrm>
          <a:prstGeom prst="rect"/>
        </p:spPr>
        <p:txBody>
          <a:bodyPr wrap="none" lIns="0" tIns="0" rIns="0" bIns="0"/>
          <a:p>
            <a:pPr>
              <a:lnSpc>
                <a:spcPct val="100000"/>
              </a:lnSpc>
            </a:pPr>
            <a:r>
              <a:rPr lang="zh-CN" sz="975" b="1">
                <a:solidFill>
                  <a:srgbClr val="0F1423"/>
                </a:solidFill>
                <a:latin typeface="Microsoft YaHei"/>
                <a:ea typeface="Microsoft YaHei"/>
              </a:rPr>
              <a:t>应用架构部分</a:t>
            </a:r>
            <a:endParaRPr/>
          </a:p>
        </p:txBody>
      </p:sp>
      <p:sp>
        <p:nvSpPr>
          <p:cNvPr id="1240" name="" descr="{&quot;isTemplate&quot;:true,&quot;type&quot;:&quot;text&quot;}"/>
          <p:cNvSpPr txBox="1"/>
          <p:nvPr/>
        </p:nvSpPr>
        <p:spPr>
          <a:xfrm rot="0" flipH="0" flipV="0">
            <a:off x="1285875" y="3667125"/>
            <a:ext cx="4343400" cy="33337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应用域划分与分层</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应用边界与功能分布</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应用集成架构（方式·协议·流转·调用）</a:t>
            </a:r>
            <a:r>
              <a:rPr lang="en-US" sz="788">
                <a:solidFill>
                  <a:srgbClr val="5A6070"/>
                </a:solidFill>
                <a:latin typeface="Microsoft YaHei"/>
                <a:ea typeface="Microsoft YaHei"/>
              </a:rPr>
              <a:t xml:space="preserve">/ </a:t>
            </a:r>
            <a:r>
              <a:rPr lang="zh-CN" sz="788">
                <a:solidFill>
                  <a:srgbClr val="5A6070"/>
                </a:solidFill>
                <a:latin typeface="Microsoft YaHei"/>
                <a:ea typeface="Microsoft YaHei"/>
              </a:rPr>
              <a:t>功能模块清单</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演进路径</a:t>
            </a:r>
            <a:endParaRPr/>
          </a:p>
        </p:txBody>
      </p:sp>
      <p:sp>
        <p:nvSpPr>
          <p:cNvPr id="1241" name="" descr="{&quot;isTemplate&quot;:true,&quot;type&quot;:&quot;text&quot;}"/>
          <p:cNvSpPr txBox="1"/>
          <p:nvPr/>
        </p:nvSpPr>
        <p:spPr>
          <a:xfrm rot="0" flipH="0" flipV="0">
            <a:off x="5734050" y="3676650"/>
            <a:ext cx="838200" cy="123825"/>
          </a:xfrm>
          <a:prstGeom prst="rect"/>
        </p:spPr>
        <p:txBody>
          <a:bodyPr wrap="none" lIns="0" tIns="0" rIns="0" bIns="0"/>
          <a:p>
            <a:pPr algn="r">
              <a:lnSpc>
                <a:spcPct val="100000"/>
              </a:lnSpc>
            </a:pPr>
            <a:r>
              <a:rPr lang="zh-CN" sz="788" b="1">
                <a:solidFill>
                  <a:srgbClr val="C43A17"/>
                </a:solidFill>
                <a:latin typeface="Microsoft YaHei"/>
                <a:ea typeface="Microsoft YaHei"/>
              </a:rPr>
              <a:t>颗粒度：功能模块</a:t>
            </a:r>
            <a:endParaRPr/>
          </a:p>
        </p:txBody>
      </p:sp>
      <p:sp>
        <p:nvSpPr>
          <p:cNvPr id="1242" name=""/>
          <p:cNvSpPr/>
          <p:nvPr/>
        </p:nvSpPr>
        <p:spPr>
          <a:xfrm rot="0" flipH="0" flipV="0">
            <a:off x="647700" y="4267200"/>
            <a:ext cx="6096000" cy="952500"/>
          </a:xfrm>
          <a:prstGeom prst="roundRect">
            <a:avLst>
              <a:gd name="adj" fmla="val 4000"/>
            </a:avLst>
          </a:prstGeom>
          <a:solidFill>
            <a:srgbClr val="F7F7F8"/>
          </a:solidFill>
          <a:ln/>
        </p:spPr>
        <p:txBody>
          <a:bodyPr/>
          <a:p/>
        </p:txBody>
      </p:sp>
      <p:sp>
        <p:nvSpPr>
          <p:cNvPr id="1243" name=""/>
          <p:cNvSpPr/>
          <p:nvPr/>
        </p:nvSpPr>
        <p:spPr>
          <a:xfrm rot="0" flipH="0" flipV="0">
            <a:off x="647700" y="4267200"/>
            <a:ext cx="6096000" cy="952500"/>
          </a:xfrm>
          <a:custGeom>
            <a:pathLst>
              <a:path w="640" h="100">
                <a:moveTo>
                  <a:pt x="4" y="100"/>
                </a:moveTo>
                <a:cubicBezTo>
                  <a:pt x="2" y="100"/>
                  <a:pt x="0" y="98"/>
                  <a:pt x="0" y="96"/>
                </a:cubicBezTo>
                <a:lnTo>
                  <a:pt x="0" y="4"/>
                </a:lnTo>
                <a:cubicBezTo>
                  <a:pt x="0" y="2"/>
                  <a:pt x="2" y="0"/>
                  <a:pt x="4" y="0"/>
                </a:cubicBezTo>
                <a:lnTo>
                  <a:pt x="4" y="100"/>
                </a:lnTo>
                <a:close/>
              </a:path>
            </a:pathLst>
          </a:custGeom>
          <a:solidFill>
            <a:srgbClr val="9E3410"/>
          </a:solidFill>
          <a:ln/>
        </p:spPr>
        <p:txBody>
          <a:bodyPr/>
          <a:p/>
        </p:txBody>
      </p:sp>
      <p:sp>
        <p:nvSpPr>
          <p:cNvPr id="1244" name=""/>
          <p:cNvSpPr/>
          <p:nvPr/>
        </p:nvSpPr>
        <p:spPr>
          <a:xfrm rot="0" flipH="0" flipV="0">
            <a:off x="781050" y="4619625"/>
            <a:ext cx="400050" cy="247650"/>
          </a:xfrm>
          <a:prstGeom prst="roundRect">
            <a:avLst>
              <a:gd name="adj" fmla="val 11538"/>
            </a:avLst>
          </a:prstGeom>
          <a:solidFill>
            <a:srgbClr val="9E3410"/>
          </a:solidFill>
          <a:ln/>
        </p:spPr>
        <p:txBody>
          <a:bodyPr/>
          <a:p/>
        </p:txBody>
      </p:sp>
      <p:sp>
        <p:nvSpPr>
          <p:cNvPr id="1245" name="" descr="{&quot;isTemplate&quot;:true,&quot;type&quot;:&quot;text&quot;}"/>
          <p:cNvSpPr txBox="1"/>
          <p:nvPr/>
        </p:nvSpPr>
        <p:spPr>
          <a:xfrm rot="0" flipH="0" flipV="0">
            <a:off x="914400" y="4676775"/>
            <a:ext cx="133350" cy="142875"/>
          </a:xfrm>
          <a:prstGeom prst="rect"/>
        </p:spPr>
        <p:txBody>
          <a:bodyPr wrap="none" lIns="0" tIns="0" rIns="0" bIns="0"/>
          <a:p>
            <a:pPr>
              <a:lnSpc>
                <a:spcPct val="100000"/>
              </a:lnSpc>
            </a:pPr>
            <a:r>
              <a:rPr lang="en-US" sz="938" b="1">
                <a:solidFill>
                  <a:srgbClr val="FFFFFF"/>
                </a:solidFill>
                <a:latin typeface="Microsoft YaHei"/>
                <a:ea typeface="Microsoft YaHei"/>
              </a:rPr>
              <a:t>AI</a:t>
            </a:r>
            <a:endParaRPr/>
          </a:p>
        </p:txBody>
      </p:sp>
      <p:sp>
        <p:nvSpPr>
          <p:cNvPr id="1246" name="" descr="{&quot;isTemplate&quot;:true,&quot;type&quot;:&quot;text&quot;}"/>
          <p:cNvSpPr txBox="1"/>
          <p:nvPr/>
        </p:nvSpPr>
        <p:spPr>
          <a:xfrm rot="0" flipH="0" flipV="0">
            <a:off x="1285875" y="4486275"/>
            <a:ext cx="4343400" cy="152400"/>
          </a:xfrm>
          <a:prstGeom prst="rect"/>
        </p:spPr>
        <p:txBody>
          <a:bodyPr wrap="none" lIns="0" tIns="0" rIns="0" bIns="0"/>
          <a:p>
            <a:pPr>
              <a:lnSpc>
                <a:spcPct val="100000"/>
              </a:lnSpc>
            </a:pPr>
            <a:r>
              <a:rPr lang="en-US" sz="975" b="1">
                <a:solidFill>
                  <a:srgbClr val="0F1423"/>
                </a:solidFill>
                <a:latin typeface="Microsoft YaHei"/>
                <a:ea typeface="Microsoft YaHei"/>
              </a:rPr>
              <a:t xml:space="preserve">AI </a:t>
            </a:r>
            <a:r>
              <a:rPr lang="zh-CN" sz="975" b="1">
                <a:solidFill>
                  <a:srgbClr val="0F1423"/>
                </a:solidFill>
                <a:latin typeface="Microsoft YaHei"/>
                <a:ea typeface="Microsoft YaHei"/>
              </a:rPr>
              <a:t>场景初步清单</a:t>
            </a:r>
            <a:endParaRPr/>
          </a:p>
        </p:txBody>
      </p:sp>
      <p:sp>
        <p:nvSpPr>
          <p:cNvPr id="1247" name="" descr="{&quot;isTemplate&quot;:true,&quot;type&quot;:&quot;text&quot;}"/>
          <p:cNvSpPr txBox="1"/>
          <p:nvPr/>
        </p:nvSpPr>
        <p:spPr>
          <a:xfrm rot="0" flipH="0" flipV="0">
            <a:off x="1285875" y="4667250"/>
            <a:ext cx="4343400" cy="333375"/>
          </a:xfrm>
          <a:prstGeom prst="rect"/>
        </p:spPr>
        <p:txBody>
          <a:bodyPr wrap="square" lIns="0" tIns="0" rIns="0" bIns="0">
            <a:normAutofit/>
          </a:bodyPr>
          <a:p>
            <a:pPr>
              <a:lnSpc>
                <a:spcPct val="135000"/>
              </a:lnSpc>
            </a:pPr>
            <a:r>
              <a:rPr lang="zh-CN" sz="788">
                <a:solidFill>
                  <a:srgbClr val="5A6070"/>
                </a:solidFill>
                <a:latin typeface="Microsoft YaHei"/>
                <a:ea typeface="Microsoft YaHei"/>
              </a:rPr>
              <a:t>场景名称、所属业务块、解决的痛点编号、业务价值、技术可行性、风险等级、优先级排序与打分依据</a:t>
            </a:r>
            <a:endParaRPr/>
          </a:p>
        </p:txBody>
      </p:sp>
      <p:sp>
        <p:nvSpPr>
          <p:cNvPr id="1248" name="" descr="{&quot;isTemplate&quot;:true,&quot;type&quot;:&quot;text&quot;}"/>
          <p:cNvSpPr txBox="1"/>
          <p:nvPr/>
        </p:nvSpPr>
        <p:spPr>
          <a:xfrm rot="0" flipH="0" flipV="0">
            <a:off x="5734050" y="4686300"/>
            <a:ext cx="838200" cy="123825"/>
          </a:xfrm>
          <a:prstGeom prst="rect"/>
        </p:spPr>
        <p:txBody>
          <a:bodyPr wrap="none" lIns="0" tIns="0" rIns="0" bIns="0"/>
          <a:p>
            <a:pPr algn="r">
              <a:lnSpc>
                <a:spcPct val="100000"/>
              </a:lnSpc>
            </a:pPr>
            <a:r>
              <a:rPr lang="zh-CN" sz="788" b="1">
                <a:solidFill>
                  <a:srgbClr val="9E3410"/>
                </a:solidFill>
                <a:latin typeface="Microsoft YaHei"/>
                <a:ea typeface="Microsoft YaHei"/>
              </a:rPr>
              <a:t>颗粒度：场景级</a:t>
            </a:r>
            <a:endParaRPr/>
          </a:p>
        </p:txBody>
      </p:sp>
      <p:sp>
        <p:nvSpPr>
          <p:cNvPr id="1249" name=""/>
          <p:cNvSpPr/>
          <p:nvPr/>
        </p:nvSpPr>
        <p:spPr>
          <a:xfrm rot="0" flipH="0" flipV="0">
            <a:off x="6791325" y="1247775"/>
            <a:ext cx="4791075" cy="3971925"/>
          </a:xfrm>
          <a:prstGeom prst="roundRect">
            <a:avLst>
              <a:gd name="adj" fmla="val 959"/>
            </a:avLst>
          </a:prstGeom>
          <a:solidFill>
            <a:srgbClr val="0F1423"/>
          </a:solidFill>
          <a:ln/>
        </p:spPr>
        <p:txBody>
          <a:bodyPr/>
          <a:p/>
        </p:txBody>
      </p:sp>
      <p:sp>
        <p:nvSpPr>
          <p:cNvPr id="1250" name="" descr="{&quot;isTemplate&quot;:true,&quot;type&quot;:&quot;text&quot;}"/>
          <p:cNvSpPr txBox="1"/>
          <p:nvPr/>
        </p:nvSpPr>
        <p:spPr>
          <a:xfrm rot="0" flipH="0" flipV="0">
            <a:off x="6962775" y="1390650"/>
            <a:ext cx="4448175" cy="142875"/>
          </a:xfrm>
          <a:prstGeom prst="rect"/>
        </p:spPr>
        <p:txBody>
          <a:bodyPr wrap="none" lIns="0" tIns="0" rIns="0" bIns="0"/>
          <a:p>
            <a:pPr>
              <a:lnSpc>
                <a:spcPct val="100000"/>
              </a:lnSpc>
            </a:pPr>
            <a:r>
              <a:rPr lang="zh-CN" sz="938" spc="75">
                <a:solidFill>
                  <a:srgbClr val="FBA15C"/>
                </a:solidFill>
                <a:latin typeface="Microsoft YaHei"/>
                <a:ea typeface="Microsoft YaHei"/>
              </a:rPr>
              <a:t>交蓝图前八条自检</a:t>
            </a:r>
            <a:endParaRPr/>
          </a:p>
        </p:txBody>
      </p:sp>
      <p:sp>
        <p:nvSpPr>
          <p:cNvPr id="1251" name=""/>
          <p:cNvSpPr/>
          <p:nvPr/>
        </p:nvSpPr>
        <p:spPr>
          <a:xfrm rot="0" flipH="0" flipV="0">
            <a:off x="6962775" y="1647825"/>
            <a:ext cx="152400" cy="152400"/>
          </a:xfrm>
          <a:prstGeom prst="roundRect">
            <a:avLst>
              <a:gd name="adj" fmla="val 12500"/>
            </a:avLst>
          </a:prstGeom>
          <a:ln w="12700">
            <a:solidFill>
              <a:srgbClr val="FBA15C"/>
            </a:solidFill>
            <a:prstDash val="solid"/>
          </a:ln>
        </p:spPr>
        <p:txBody>
          <a:bodyPr/>
          <a:p/>
        </p:txBody>
      </p:sp>
      <p:sp>
        <p:nvSpPr>
          <p:cNvPr id="1252" name="" descr="{&quot;isTemplate&quot;:true,&quot;type&quot;:&quot;text&quot;}"/>
          <p:cNvSpPr txBox="1"/>
          <p:nvPr/>
        </p:nvSpPr>
        <p:spPr>
          <a:xfrm rot="0" flipH="0" flipV="0">
            <a:off x="6991350" y="1666875"/>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1253" name="" descr="{&quot;isTemplate&quot;:true,&quot;type&quot;:&quot;text&quot;}"/>
          <p:cNvSpPr txBox="1"/>
          <p:nvPr/>
        </p:nvSpPr>
        <p:spPr>
          <a:xfrm rot="0" flipH="0" flipV="0">
            <a:off x="7200900" y="1638300"/>
            <a:ext cx="42100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每条</a:t>
            </a:r>
            <a:r>
              <a:rPr lang="en-US" sz="863">
                <a:solidFill>
                  <a:srgbClr val="FFFFFF">
                    <a:alpha val="88000"/>
                  </a:srgbClr>
                </a:solidFill>
                <a:latin typeface="Microsoft YaHei"/>
                <a:ea typeface="Microsoft YaHei"/>
              </a:rPr>
              <a:t xml:space="preserve"> L4 </a:t>
            </a:r>
            <a:r>
              <a:rPr lang="zh-CN" sz="863">
                <a:solidFill>
                  <a:srgbClr val="FFFFFF">
                    <a:alpha val="88000"/>
                  </a:srgbClr>
                </a:solidFill>
                <a:latin typeface="Microsoft YaHei"/>
                <a:ea typeface="Microsoft YaHei"/>
              </a:rPr>
              <a:t>子流程是否都有输入、输出、接口与主责岗位</a:t>
            </a:r>
            <a:endParaRPr/>
          </a:p>
        </p:txBody>
      </p:sp>
      <p:sp>
        <p:nvSpPr>
          <p:cNvPr id="1254" name=""/>
          <p:cNvSpPr/>
          <p:nvPr/>
        </p:nvSpPr>
        <p:spPr>
          <a:xfrm rot="0" flipH="0" flipV="0">
            <a:off x="6962775" y="2038350"/>
            <a:ext cx="152400" cy="152400"/>
          </a:xfrm>
          <a:prstGeom prst="roundRect">
            <a:avLst>
              <a:gd name="adj" fmla="val 12500"/>
            </a:avLst>
          </a:prstGeom>
          <a:ln w="12700">
            <a:solidFill>
              <a:srgbClr val="FBA15C"/>
            </a:solidFill>
            <a:prstDash val="solid"/>
          </a:ln>
        </p:spPr>
        <p:txBody>
          <a:bodyPr/>
          <a:p/>
        </p:txBody>
      </p:sp>
      <p:sp>
        <p:nvSpPr>
          <p:cNvPr id="1255" name="" descr="{&quot;isTemplate&quot;:true,&quot;type&quot;:&quot;text&quot;}"/>
          <p:cNvSpPr txBox="1"/>
          <p:nvPr/>
        </p:nvSpPr>
        <p:spPr>
          <a:xfrm rot="0" flipH="0" flipV="0">
            <a:off x="6991350" y="2057400"/>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1256" name="" descr="{&quot;isTemplate&quot;:true,&quot;type&quot;:&quot;text&quot;}"/>
          <p:cNvSpPr txBox="1"/>
          <p:nvPr/>
        </p:nvSpPr>
        <p:spPr>
          <a:xfrm rot="0" flipH="0" flipV="0">
            <a:off x="7200900" y="2028825"/>
            <a:ext cx="42100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每条</a:t>
            </a:r>
            <a:r>
              <a:rPr lang="en-US" sz="863">
                <a:solidFill>
                  <a:srgbClr val="FFFFFF">
                    <a:alpha val="88000"/>
                  </a:srgbClr>
                </a:solidFill>
                <a:latin typeface="Microsoft YaHei"/>
                <a:ea typeface="Microsoft YaHei"/>
              </a:rPr>
              <a:t xml:space="preserve"> L4 </a:t>
            </a:r>
            <a:r>
              <a:rPr lang="zh-CN" sz="863">
                <a:solidFill>
                  <a:srgbClr val="FFFFFF">
                    <a:alpha val="88000"/>
                  </a:srgbClr>
                </a:solidFill>
                <a:latin typeface="Microsoft YaHei"/>
                <a:ea typeface="Microsoft YaHei"/>
              </a:rPr>
              <a:t>是否能对应到阶段一的</a:t>
            </a:r>
            <a:r>
              <a:rPr lang="en-US" sz="863">
                <a:solidFill>
                  <a:srgbClr val="FFFFFF">
                    <a:alpha val="88000"/>
                  </a:srgbClr>
                </a:solidFill>
                <a:latin typeface="Microsoft YaHei"/>
                <a:ea typeface="Microsoft YaHei"/>
              </a:rPr>
              <a:t xml:space="preserve"> PAIN </a:t>
            </a:r>
            <a:r>
              <a:rPr lang="zh-CN" sz="863">
                <a:solidFill>
                  <a:srgbClr val="FFFFFF">
                    <a:alpha val="88000"/>
                  </a:srgbClr>
                </a:solidFill>
                <a:latin typeface="Microsoft YaHei"/>
                <a:ea typeface="Microsoft YaHei"/>
              </a:rPr>
              <a:t>编号（无来源的不写）</a:t>
            </a:r>
            <a:endParaRPr/>
          </a:p>
        </p:txBody>
      </p:sp>
      <p:sp>
        <p:nvSpPr>
          <p:cNvPr id="1257" name=""/>
          <p:cNvSpPr/>
          <p:nvPr/>
        </p:nvSpPr>
        <p:spPr>
          <a:xfrm rot="0" flipH="0" flipV="0">
            <a:off x="6962775" y="2419350"/>
            <a:ext cx="152400" cy="152400"/>
          </a:xfrm>
          <a:prstGeom prst="roundRect">
            <a:avLst>
              <a:gd name="adj" fmla="val 12500"/>
            </a:avLst>
          </a:prstGeom>
          <a:ln w="12700">
            <a:solidFill>
              <a:srgbClr val="FBA15C"/>
            </a:solidFill>
            <a:prstDash val="solid"/>
          </a:ln>
        </p:spPr>
        <p:txBody>
          <a:bodyPr/>
          <a:p/>
        </p:txBody>
      </p:sp>
      <p:sp>
        <p:nvSpPr>
          <p:cNvPr id="1258" name="" descr="{&quot;isTemplate&quot;:true,&quot;type&quot;:&quot;text&quot;}"/>
          <p:cNvSpPr txBox="1"/>
          <p:nvPr/>
        </p:nvSpPr>
        <p:spPr>
          <a:xfrm rot="0" flipH="0" flipV="0">
            <a:off x="6991350" y="2438400"/>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1259" name="" descr="{&quot;isTemplate&quot;:true,&quot;type&quot;:&quot;text&quot;}"/>
          <p:cNvSpPr txBox="1"/>
          <p:nvPr/>
        </p:nvSpPr>
        <p:spPr>
          <a:xfrm rot="0" flipH="0" flipV="0">
            <a:off x="7200900" y="2409825"/>
            <a:ext cx="42100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每个逻辑实体是否都标注了服务哪几条</a:t>
            </a:r>
            <a:r>
              <a:rPr lang="en-US" sz="863">
                <a:solidFill>
                  <a:srgbClr val="FFFFFF">
                    <a:alpha val="88000"/>
                  </a:srgbClr>
                </a:solidFill>
                <a:latin typeface="Microsoft YaHei"/>
                <a:ea typeface="Microsoft YaHei"/>
              </a:rPr>
              <a:t xml:space="preserve"> L4</a:t>
            </a:r>
            <a:r>
              <a:rPr lang="zh-CN" sz="863">
                <a:solidFill>
                  <a:srgbClr val="FFFFFF">
                    <a:alpha val="88000"/>
                  </a:srgbClr>
                </a:solidFill>
                <a:latin typeface="Microsoft YaHei"/>
                <a:ea typeface="Microsoft YaHei"/>
              </a:rPr>
              <a:t>、落点在哪个应用</a:t>
            </a:r>
            <a:endParaRPr/>
          </a:p>
        </p:txBody>
      </p:sp>
      <p:sp>
        <p:nvSpPr>
          <p:cNvPr id="1260" name=""/>
          <p:cNvSpPr/>
          <p:nvPr/>
        </p:nvSpPr>
        <p:spPr>
          <a:xfrm rot="0" flipH="0" flipV="0">
            <a:off x="6962775" y="2809875"/>
            <a:ext cx="152400" cy="152400"/>
          </a:xfrm>
          <a:prstGeom prst="roundRect">
            <a:avLst>
              <a:gd name="adj" fmla="val 12500"/>
            </a:avLst>
          </a:prstGeom>
          <a:ln w="12700">
            <a:solidFill>
              <a:srgbClr val="FBA15C"/>
            </a:solidFill>
            <a:prstDash val="solid"/>
          </a:ln>
        </p:spPr>
        <p:txBody>
          <a:bodyPr/>
          <a:p/>
        </p:txBody>
      </p:sp>
      <p:sp>
        <p:nvSpPr>
          <p:cNvPr id="1261" name="" descr="{&quot;isTemplate&quot;:true,&quot;type&quot;:&quot;text&quot;}"/>
          <p:cNvSpPr txBox="1"/>
          <p:nvPr/>
        </p:nvSpPr>
        <p:spPr>
          <a:xfrm rot="0" flipH="0" flipV="0">
            <a:off x="6991350" y="2828925"/>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1262" name="" descr="{&quot;isTemplate&quot;:true,&quot;type&quot;:&quot;text&quot;}"/>
          <p:cNvSpPr txBox="1"/>
          <p:nvPr/>
        </p:nvSpPr>
        <p:spPr>
          <a:xfrm rot="0" flipH="0" flipV="0">
            <a:off x="7200900" y="2800350"/>
            <a:ext cx="42100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跨链公共实体（供应商</a:t>
            </a:r>
            <a:r>
              <a:rPr lang="en-US" sz="863">
                <a:solidFill>
                  <a:srgbClr val="FFFFFF">
                    <a:alpha val="88000"/>
                  </a:srgbClr>
                </a:solidFill>
                <a:latin typeface="Microsoft YaHei"/>
                <a:ea typeface="Microsoft YaHei"/>
              </a:rPr>
              <a:t>/</a:t>
            </a:r>
            <a:r>
              <a:rPr lang="zh-CN" sz="863">
                <a:solidFill>
                  <a:srgbClr val="FFFFFF">
                    <a:alpha val="88000"/>
                  </a:srgbClr>
                </a:solidFill>
                <a:latin typeface="Microsoft YaHei"/>
                <a:ea typeface="Microsoft YaHei"/>
              </a:rPr>
              <a:t>物料</a:t>
            </a:r>
            <a:r>
              <a:rPr lang="en-US" sz="863">
                <a:solidFill>
                  <a:srgbClr val="FFFFFF">
                    <a:alpha val="88000"/>
                  </a:srgbClr>
                </a:solidFill>
                <a:latin typeface="Microsoft YaHei"/>
                <a:ea typeface="Microsoft YaHei"/>
              </a:rPr>
              <a:t>/</a:t>
            </a:r>
            <a:r>
              <a:rPr lang="zh-CN" sz="863">
                <a:solidFill>
                  <a:srgbClr val="FFFFFF">
                    <a:alpha val="88000"/>
                  </a:srgbClr>
                </a:solidFill>
                <a:latin typeface="Microsoft YaHei"/>
                <a:ea typeface="Microsoft YaHei"/>
              </a:rPr>
              <a:t>项目编码）是否只建了一套定义</a:t>
            </a:r>
            <a:endParaRPr/>
          </a:p>
        </p:txBody>
      </p:sp>
      <p:sp>
        <p:nvSpPr>
          <p:cNvPr id="1263" name=""/>
          <p:cNvSpPr/>
          <p:nvPr/>
        </p:nvSpPr>
        <p:spPr>
          <a:xfrm rot="0" flipH="0" flipV="0">
            <a:off x="6962775" y="3190875"/>
            <a:ext cx="152400" cy="152400"/>
          </a:xfrm>
          <a:prstGeom prst="roundRect">
            <a:avLst>
              <a:gd name="adj" fmla="val 12500"/>
            </a:avLst>
          </a:prstGeom>
          <a:ln w="12700">
            <a:solidFill>
              <a:srgbClr val="FBA15C"/>
            </a:solidFill>
            <a:prstDash val="solid"/>
          </a:ln>
        </p:spPr>
        <p:txBody>
          <a:bodyPr/>
          <a:p/>
        </p:txBody>
      </p:sp>
      <p:sp>
        <p:nvSpPr>
          <p:cNvPr id="1264" name="" descr="{&quot;isTemplate&quot;:true,&quot;type&quot;:&quot;text&quot;}"/>
          <p:cNvSpPr txBox="1"/>
          <p:nvPr/>
        </p:nvSpPr>
        <p:spPr>
          <a:xfrm rot="0" flipH="0" flipV="0">
            <a:off x="6991350" y="3209925"/>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1265" name="" descr="{&quot;isTemplate&quot;:true,&quot;type&quot;:&quot;text&quot;}"/>
          <p:cNvSpPr txBox="1"/>
          <p:nvPr/>
        </p:nvSpPr>
        <p:spPr>
          <a:xfrm rot="0" flipH="0" flipV="0">
            <a:off x="7200900" y="3181350"/>
            <a:ext cx="42100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每个功能模块是否都标注了支撑哪几条</a:t>
            </a:r>
            <a:r>
              <a:rPr lang="en-US" sz="863">
                <a:solidFill>
                  <a:srgbClr val="FFFFFF">
                    <a:alpha val="88000"/>
                  </a:srgbClr>
                </a:solidFill>
                <a:latin typeface="Microsoft YaHei"/>
                <a:ea typeface="Microsoft YaHei"/>
              </a:rPr>
              <a:t xml:space="preserve"> L4</a:t>
            </a:r>
            <a:r>
              <a:rPr lang="zh-CN" sz="863">
                <a:solidFill>
                  <a:srgbClr val="FFFFFF">
                    <a:alpha val="88000"/>
                  </a:srgbClr>
                </a:solidFill>
                <a:latin typeface="Microsoft YaHei"/>
                <a:ea typeface="Microsoft YaHei"/>
              </a:rPr>
              <a:t>、依赖哪些实体</a:t>
            </a:r>
            <a:endParaRPr/>
          </a:p>
        </p:txBody>
      </p:sp>
      <p:sp>
        <p:nvSpPr>
          <p:cNvPr id="1266" name=""/>
          <p:cNvSpPr/>
          <p:nvPr/>
        </p:nvSpPr>
        <p:spPr>
          <a:xfrm rot="0" flipH="0" flipV="0">
            <a:off x="6962775" y="3581400"/>
            <a:ext cx="152400" cy="152400"/>
          </a:xfrm>
          <a:prstGeom prst="roundRect">
            <a:avLst>
              <a:gd name="adj" fmla="val 12500"/>
            </a:avLst>
          </a:prstGeom>
          <a:ln w="12700">
            <a:solidFill>
              <a:srgbClr val="FBA15C"/>
            </a:solidFill>
            <a:prstDash val="solid"/>
          </a:ln>
        </p:spPr>
        <p:txBody>
          <a:bodyPr/>
          <a:p/>
        </p:txBody>
      </p:sp>
      <p:sp>
        <p:nvSpPr>
          <p:cNvPr id="1267" name="" descr="{&quot;isTemplate&quot;:true,&quot;type&quot;:&quot;text&quot;}"/>
          <p:cNvSpPr txBox="1"/>
          <p:nvPr/>
        </p:nvSpPr>
        <p:spPr>
          <a:xfrm rot="0" flipH="0" flipV="0">
            <a:off x="6991350" y="3600450"/>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1268" name="" descr="{&quot;isTemplate&quot;:true,&quot;type&quot;:&quot;text&quot;}"/>
          <p:cNvSpPr txBox="1"/>
          <p:nvPr/>
        </p:nvSpPr>
        <p:spPr>
          <a:xfrm rot="0" flipH="0" flipV="0">
            <a:off x="7200900" y="3571875"/>
            <a:ext cx="42100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集成架构里是否还有「人工」方式？有的话目标态是什么</a:t>
            </a:r>
            <a:endParaRPr/>
          </a:p>
        </p:txBody>
      </p:sp>
      <p:sp>
        <p:nvSpPr>
          <p:cNvPr id="1269" name=""/>
          <p:cNvSpPr/>
          <p:nvPr/>
        </p:nvSpPr>
        <p:spPr>
          <a:xfrm rot="0" flipH="0" flipV="0">
            <a:off x="6962775" y="3962400"/>
            <a:ext cx="152400" cy="152400"/>
          </a:xfrm>
          <a:prstGeom prst="roundRect">
            <a:avLst>
              <a:gd name="adj" fmla="val 12500"/>
            </a:avLst>
          </a:prstGeom>
          <a:ln w="12700">
            <a:solidFill>
              <a:srgbClr val="FBA15C"/>
            </a:solidFill>
            <a:prstDash val="solid"/>
          </a:ln>
        </p:spPr>
        <p:txBody>
          <a:bodyPr/>
          <a:p/>
        </p:txBody>
      </p:sp>
      <p:sp>
        <p:nvSpPr>
          <p:cNvPr id="1270" name="" descr="{&quot;isTemplate&quot;:true,&quot;type&quot;:&quot;text&quot;}"/>
          <p:cNvSpPr txBox="1"/>
          <p:nvPr/>
        </p:nvSpPr>
        <p:spPr>
          <a:xfrm rot="0" flipH="0" flipV="0">
            <a:off x="6991350" y="3981450"/>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1271" name="" descr="{&quot;isTemplate&quot;:true,&quot;type&quot;:&quot;text&quot;}"/>
          <p:cNvSpPr txBox="1"/>
          <p:nvPr/>
        </p:nvSpPr>
        <p:spPr>
          <a:xfrm rot="0" flipH="0" flipV="0">
            <a:off x="7200900" y="3952875"/>
            <a:ext cx="4210050" cy="180975"/>
          </a:xfrm>
          <a:prstGeom prst="rect"/>
        </p:spPr>
        <p:txBody>
          <a:bodyPr wrap="none" lIns="0" tIns="0" rIns="0" bIns="0"/>
          <a:p>
            <a:pPr>
              <a:lnSpc>
                <a:spcPct val="135000"/>
              </a:lnSpc>
            </a:pPr>
            <a:r>
              <a:rPr lang="en-US" sz="863">
                <a:solidFill>
                  <a:srgbClr val="FFFFFF">
                    <a:alpha val="88000"/>
                  </a:srgbClr>
                </a:solidFill>
                <a:latin typeface="Microsoft YaHei"/>
                <a:ea typeface="Microsoft YaHei"/>
              </a:rPr>
              <a:t xml:space="preserve">AI </a:t>
            </a:r>
            <a:r>
              <a:rPr lang="zh-CN" sz="863">
                <a:solidFill>
                  <a:srgbClr val="FFFFFF">
                    <a:alpha val="88000"/>
                  </a:srgbClr>
                </a:solidFill>
                <a:latin typeface="Microsoft YaHei"/>
                <a:ea typeface="Microsoft YaHei"/>
              </a:rPr>
              <a:t>场景是否每条都有痛点编号与打分依据（不是凭感觉排的）</a:t>
            </a:r>
            <a:endParaRPr/>
          </a:p>
        </p:txBody>
      </p:sp>
      <p:sp>
        <p:nvSpPr>
          <p:cNvPr id="1272" name=""/>
          <p:cNvSpPr/>
          <p:nvPr/>
        </p:nvSpPr>
        <p:spPr>
          <a:xfrm rot="0" flipH="0" flipV="0">
            <a:off x="6962775" y="4352925"/>
            <a:ext cx="152400" cy="152400"/>
          </a:xfrm>
          <a:prstGeom prst="roundRect">
            <a:avLst>
              <a:gd name="adj" fmla="val 12500"/>
            </a:avLst>
          </a:prstGeom>
          <a:ln w="12700">
            <a:solidFill>
              <a:srgbClr val="FBA15C"/>
            </a:solidFill>
            <a:prstDash val="solid"/>
          </a:ln>
        </p:spPr>
        <p:txBody>
          <a:bodyPr/>
          <a:p/>
        </p:txBody>
      </p:sp>
      <p:sp>
        <p:nvSpPr>
          <p:cNvPr id="1273" name="" descr="{&quot;isTemplate&quot;:true,&quot;type&quot;:&quot;text&quot;}"/>
          <p:cNvSpPr txBox="1"/>
          <p:nvPr/>
        </p:nvSpPr>
        <p:spPr>
          <a:xfrm rot="0" flipH="0" flipV="0">
            <a:off x="6991350" y="4371975"/>
            <a:ext cx="95250" cy="114300"/>
          </a:xfrm>
          <a:prstGeom prst="rect"/>
        </p:spPr>
        <p:txBody>
          <a:bodyPr wrap="none" lIns="0" tIns="0" rIns="0" bIns="0"/>
          <a:p>
            <a:pPr>
              <a:lnSpc>
                <a:spcPct val="100000"/>
              </a:lnSpc>
            </a:pPr>
            <a:r>
              <a:rPr sz="750">
                <a:solidFill>
                  <a:srgbClr val="FBA15C"/>
                </a:solidFill>
                <a:latin typeface="Microsoft YaHei"/>
                <a:ea typeface="Microsoft YaHei"/>
              </a:rPr>
              <a:t>✓</a:t>
            </a:r>
            <a:endParaRPr/>
          </a:p>
        </p:txBody>
      </p:sp>
      <p:sp>
        <p:nvSpPr>
          <p:cNvPr id="1274" name="" descr="{&quot;isTemplate&quot;:true,&quot;type&quot;:&quot;text&quot;}"/>
          <p:cNvSpPr txBox="1"/>
          <p:nvPr/>
        </p:nvSpPr>
        <p:spPr>
          <a:xfrm rot="0" flipH="0" flipV="0">
            <a:off x="7200900" y="4343400"/>
            <a:ext cx="4210050" cy="180975"/>
          </a:xfrm>
          <a:prstGeom prst="rect"/>
        </p:spPr>
        <p:txBody>
          <a:bodyPr wrap="none" lIns="0" tIns="0" rIns="0" bIns="0"/>
          <a:p>
            <a:pPr>
              <a:lnSpc>
                <a:spcPct val="135000"/>
              </a:lnSpc>
            </a:pPr>
            <a:r>
              <a:rPr lang="zh-CN" sz="863">
                <a:solidFill>
                  <a:srgbClr val="FFFFFF">
                    <a:alpha val="88000"/>
                  </a:srgbClr>
                </a:solidFill>
                <a:latin typeface="Microsoft YaHei"/>
                <a:ea typeface="Microsoft YaHei"/>
              </a:rPr>
              <a:t>数据标准里冲突项是否列出了裁定规则与裁定人</a:t>
            </a:r>
            <a:endParaRPr/>
          </a:p>
        </p:txBody>
      </p:sp>
      <p:sp>
        <p:nvSpPr>
          <p:cNvPr id="1275" name=""/>
          <p:cNvSpPr/>
          <p:nvPr/>
        </p:nvSpPr>
        <p:spPr>
          <a:xfrm rot="0" flipH="0" flipV="0">
            <a:off x="6962775" y="4772025"/>
            <a:ext cx="4448175" cy="304800"/>
          </a:xfrm>
          <a:prstGeom prst="roundRect">
            <a:avLst>
              <a:gd name="adj" fmla="val 9375"/>
            </a:avLst>
          </a:prstGeom>
          <a:solidFill>
            <a:srgbClr val="FA4F24"/>
          </a:solidFill>
          <a:ln/>
        </p:spPr>
        <p:txBody>
          <a:bodyPr/>
          <a:p/>
        </p:txBody>
      </p:sp>
      <p:sp>
        <p:nvSpPr>
          <p:cNvPr id="1276" name="" descr="{&quot;isTemplate&quot;:true,&quot;type&quot;:&quot;text&quot;}"/>
          <p:cNvSpPr txBox="1"/>
          <p:nvPr/>
        </p:nvSpPr>
        <p:spPr>
          <a:xfrm rot="0" flipH="0" flipV="0">
            <a:off x="7077075" y="4838700"/>
            <a:ext cx="3162300" cy="180975"/>
          </a:xfrm>
          <a:prstGeom prst="rect"/>
        </p:spPr>
        <p:txBody>
          <a:bodyPr wrap="none" lIns="0" tIns="0" rIns="0" bIns="0"/>
          <a:p>
            <a:pPr>
              <a:lnSpc>
                <a:spcPct val="135000"/>
              </a:lnSpc>
            </a:pPr>
            <a:r>
              <a:rPr lang="zh-CN" sz="863">
                <a:solidFill>
                  <a:srgbClr val="FFFFFF"/>
                </a:solidFill>
                <a:latin typeface="Microsoft YaHei"/>
                <a:ea typeface="Microsoft YaHei"/>
              </a:rPr>
              <a:t>评审现场一定会抽查一条</a:t>
            </a:r>
            <a:r>
              <a:rPr lang="en-US" sz="863">
                <a:solidFill>
                  <a:srgbClr val="FFFFFF"/>
                </a:solidFill>
                <a:latin typeface="Microsoft YaHei"/>
                <a:ea typeface="Microsoft YaHei"/>
              </a:rPr>
              <a:t xml:space="preserve"> L4 </a:t>
            </a:r>
            <a:r>
              <a:rPr lang="zh-CN" sz="863">
                <a:solidFill>
                  <a:srgbClr val="FFFFFF"/>
                </a:solidFill>
                <a:latin typeface="Microsoft YaHei"/>
                <a:ea typeface="Microsoft YaHei"/>
              </a:rPr>
              <a:t>走完全链路——走不通就是不可交付</a:t>
            </a:r>
            <a:endParaRPr/>
          </a:p>
        </p:txBody>
      </p:sp>
      <p:sp>
        <p:nvSpPr>
          <p:cNvPr id="1277" name=""/>
          <p:cNvSpPr/>
          <p:nvPr/>
        </p:nvSpPr>
        <p:spPr>
          <a:xfrm rot="0" flipH="0" flipV="0">
            <a:off x="647700" y="5295900"/>
            <a:ext cx="10972800" cy="361950"/>
          </a:xfrm>
          <a:prstGeom prst="roundRect">
            <a:avLst>
              <a:gd name="adj" fmla="val 10526"/>
            </a:avLst>
          </a:prstGeom>
          <a:solidFill>
            <a:srgbClr val="FFF3EE"/>
          </a:solidFill>
          <a:ln/>
        </p:spPr>
        <p:txBody>
          <a:bodyPr/>
          <a:p/>
        </p:txBody>
      </p:sp>
      <p:sp>
        <p:nvSpPr>
          <p:cNvPr id="1278" name=""/>
          <p:cNvSpPr/>
          <p:nvPr/>
        </p:nvSpPr>
        <p:spPr>
          <a:xfrm rot="0" flipH="0" flipV="0">
            <a:off x="647700" y="5295900"/>
            <a:ext cx="10972800" cy="361950"/>
          </a:xfrm>
          <a:custGeom>
            <a:pathLst>
              <a:path w="1152" h="38">
                <a:moveTo>
                  <a:pt x="4" y="38"/>
                </a:moveTo>
                <a:cubicBezTo>
                  <a:pt x="2" y="38"/>
                  <a:pt x="0" y="36"/>
                  <a:pt x="0" y="34"/>
                </a:cubicBezTo>
                <a:lnTo>
                  <a:pt x="0" y="4"/>
                </a:lnTo>
                <a:cubicBezTo>
                  <a:pt x="0" y="2"/>
                  <a:pt x="2" y="0"/>
                  <a:pt x="4" y="0"/>
                </a:cubicBezTo>
                <a:lnTo>
                  <a:pt x="4" y="38"/>
                </a:lnTo>
                <a:close/>
              </a:path>
            </a:pathLst>
          </a:custGeom>
          <a:solidFill>
            <a:srgbClr val="FA4F24"/>
          </a:solidFill>
          <a:ln/>
        </p:spPr>
        <p:txBody>
          <a:bodyPr/>
          <a:p/>
        </p:txBody>
      </p:sp>
      <p:sp>
        <p:nvSpPr>
          <p:cNvPr id="1279" name="" descr="{&quot;isTemplate&quot;:true,&quot;type&quot;:&quot;text&quot;}"/>
          <p:cNvSpPr txBox="1"/>
          <p:nvPr/>
        </p:nvSpPr>
        <p:spPr>
          <a:xfrm rot="0" flipH="0" flipV="0">
            <a:off x="800100" y="5410200"/>
            <a:ext cx="1123950" cy="142875"/>
          </a:xfrm>
          <a:prstGeom prst="rect"/>
        </p:spPr>
        <p:txBody>
          <a:bodyPr wrap="none" lIns="0" tIns="0" rIns="0" bIns="0"/>
          <a:p>
            <a:pPr>
              <a:lnSpc>
                <a:spcPct val="100000"/>
              </a:lnSpc>
            </a:pPr>
            <a:r>
              <a:rPr lang="zh-CN" sz="900" b="1">
                <a:solidFill>
                  <a:srgbClr val="C43A17"/>
                </a:solidFill>
                <a:latin typeface="Microsoft YaHei"/>
                <a:ea typeface="Microsoft YaHei"/>
              </a:rPr>
              <a:t>交付形式与评审</a:t>
            </a:r>
            <a:endParaRPr/>
          </a:p>
        </p:txBody>
      </p:sp>
      <p:sp>
        <p:nvSpPr>
          <p:cNvPr id="1280" name="" descr="{&quot;isTemplate&quot;:true,&quot;type&quot;:&quot;text&quot;}"/>
          <p:cNvSpPr txBox="1"/>
          <p:nvPr/>
        </p:nvSpPr>
        <p:spPr>
          <a:xfrm rot="0" flipH="0" flipV="0">
            <a:off x="2057400" y="5391150"/>
            <a:ext cx="9372600" cy="180975"/>
          </a:xfrm>
          <a:prstGeom prst="rect"/>
        </p:spPr>
        <p:txBody>
          <a:bodyPr wrap="none" lIns="0" tIns="0" rIns="0" bIns="0"/>
          <a:p>
            <a:pPr>
              <a:lnSpc>
                <a:spcPct val="135000"/>
              </a:lnSpc>
            </a:pPr>
            <a:r>
              <a:rPr lang="zh-CN" sz="863">
                <a:solidFill>
                  <a:srgbClr val="3A4050"/>
                </a:solidFill>
                <a:latin typeface="Microsoft YaHei"/>
                <a:ea typeface="Microsoft YaHei"/>
              </a:rPr>
              <a:t>文档</a:t>
            </a:r>
            <a:r>
              <a:rPr lang="en-US" sz="863">
                <a:solidFill>
                  <a:srgbClr val="3A4050"/>
                </a:solidFill>
                <a:latin typeface="Microsoft YaHei"/>
                <a:ea typeface="Microsoft YaHei"/>
              </a:rPr>
              <a:t xml:space="preserve"> + </a:t>
            </a:r>
            <a:r>
              <a:rPr lang="zh-CN" sz="863">
                <a:solidFill>
                  <a:srgbClr val="3A4050"/>
                </a:solidFill>
                <a:latin typeface="Microsoft YaHei"/>
                <a:ea typeface="Microsoft YaHei"/>
              </a:rPr>
              <a:t>汇报。评审要过一次「追溯抽查」：现场抽一条痛点，看它是否一路走到</a:t>
            </a:r>
            <a:r>
              <a:rPr lang="en-US" sz="863">
                <a:solidFill>
                  <a:srgbClr val="3A4050"/>
                </a:solidFill>
                <a:latin typeface="Microsoft YaHei"/>
                <a:ea typeface="Microsoft YaHei"/>
              </a:rPr>
              <a:t xml:space="preserve"> L4</a:t>
            </a:r>
            <a:r>
              <a:rPr lang="zh-CN" sz="863">
                <a:solidFill>
                  <a:srgbClr val="3A4050"/>
                </a:solidFill>
                <a:latin typeface="Microsoft YaHei"/>
                <a:ea typeface="Microsoft YaHei"/>
              </a:rPr>
              <a:t>、逻辑实体与功能模块。这条走通，整套蓝图就成立；走不通，说明某一层是凭想象画的。</a:t>
            </a:r>
            <a:endParaRPr/>
          </a:p>
        </p:txBody>
      </p:sp>
      <p:sp>
        <p:nvSpPr>
          <p:cNvPr id="1281" name=""/>
          <p:cNvSpPr/>
          <p:nvPr/>
        </p:nvSpPr>
        <p:spPr>
          <a:xfrm rot="0" flipH="0" flipV="0">
            <a:off x="609600" y="5943600"/>
            <a:ext cx="133350" cy="133350"/>
          </a:xfrm>
          <a:prstGeom prst="rect">
            <a:avLst/>
          </a:prstGeom>
          <a:solidFill>
            <a:srgbClr val="FA4F24"/>
          </a:solidFill>
          <a:ln/>
        </p:spPr>
        <p:txBody>
          <a:bodyPr/>
          <a:p/>
        </p:txBody>
      </p:sp>
      <p:sp>
        <p:nvSpPr>
          <p:cNvPr id="1282"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28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26 / 36</a:t>
            </a:r>
            <a:endParaRPr/>
          </a:p>
        </p:txBody>
      </p:sp>
    </p:spTree>
  </p:cSld>
</p:sld>
</file>

<file path=ppt/slides/slide27.xml><?xml version="1.0" encoding="utf-8"?>
<p:sld xmlns:p="http://schemas.openxmlformats.org/presentationml/2006/main" xmlns:a="http://schemas.openxmlformats.org/drawingml/2006/main">
  <p:cSld>
    <p:spTree>
      <p:nvGrpSpPr>
        <p:cNvPr id="1284" name="" descr="&lt;Slide style={{ width: 1280, height: 720, background: '#0F1423' }}&gt;&#10;  &lt;Box style={{ position: 'absolute', left: 0, top: 0, width: 1280, height: 720, background: 'linear-gradient(135deg, #0F1423 0%, #2A1810 100%)' }} /&gt;&#10;  &lt;Box style={{ position: 'absolute', right: 0, top: 0, width: 560, height: 720, background: 'linear-gradient(200deg, rgba(250,79,36,0.28) 0%, rgba(250,79,36,0) 70%)' }} /&gt;&#10;&#10;  &lt;Box style={{ position: 'absolute', right: 70, top: 110 }}&gt;&#10;    &lt;Text style={{ fontSize: 290, fontWeight: 'bold', color: 'rgba(255,255,255,0.08)', lineHeight: 1.0 }}&gt;04&lt;/Text&gt;&#10;  &lt;/Box&gt;&#10;&#10;  &lt;Box style={{ position: 'absolute', left: 88, top: 236, width: 740, flexDirection: 'column' }}&gt;&#10;    &lt;Text style={{ fontSize: 15, color: 'rgba(255,255,255,0.5)', letterSpacing: 3 }}&gt;PART 04&lt;/Text&gt;&#10;    &lt;Box style={{ width: 72, height: 5, background: '#FA4F24', marginTop: 20 }} /&gt;&#10;    &lt;Text style={{ fontSize: 54, fontWeight: 'bold', color: '#FFFFFF', marginTop: 26, lineHeight: 1.15 }}&gt;阶段三：需求规格化&lt;/Text&gt;&#10;    &lt;Text style={{ fontSize: 17, color: 'rgba(255,255,255,0.62)', letterSpacing: 2, marginTop: 18 }}&gt;REQUIREMENT SPECIFICATION&lt;/Text&gt;&#10;    &lt;Text style={{ fontSize: 19, color: 'rgba(255,255,255,0.85)', marginTop: 24, lineHeight: 1.6 }}&gt;把蓝图压到 L6，产出可验收的需求基线，以及指标字典与考核数据清单&lt;/Text&gt;&#10;  &lt;/Box&gt;&#10;&#10;  &lt;Box style={{ position: 'absolute', left: 88, top: 524, flexDirection: 'row', gap: 28 }}&gt;&#10;    {[&#10;      { k: 'L5-L6', v: '活动与任务' },&#10;      { k: '实体属性', v: '含数据标准/代码标准' },&#10;      { k: '服务/特性', v: '应用三层设计' },&#10;      { k: '需求基线', v: '评审后冻结' },&#10;      { k: '三份清单', v: '需求/数据指标/AI' },&#10;      { k: '收口物', v: '架构详细设计' }&#10;    ].map((x) =&gt; (&#10;      &lt;Box key={x.k} style={{ opacity: 0.72 }}&gt;&#10;        &lt;Text style={{ fontSize: 12.5, color: '#FBA15C', fontWeight: 'bold' }}&gt;{x.k}&lt;/Text&gt;&#10;        &lt;Text style={{ fontSize: 12, color: 'rgba(255,255,255,0.8)', marginTop: 4 }}&gt;{x.v}&lt;/Text&gt;&#10;      &lt;/Box&gt;&#10;    ))}&#10;  &lt;/Box&gt;&#10;&#10;  &lt;Box style={{ position: 'absolute', right: 88, bottom: 60, flexDirection: 'row', alignItems: 'center', gap: 12 }}&gt;&#10;    &lt;Box style={{ width: 14, height: 14, background: '#FA4F24' }} /&gt;&#10;    &lt;Text style={{ fontSize: 14, color: 'rgba(255,255,255,0.5)' }}&gt;硕磐机密 · 利星能业务变革咨询方法论&lt;/Text&gt;&#10;    &lt;Text style={{ fontSize: 14, color: 'rgba(255,255,255,0.5)', marginLeft: 12 }}&gt;27 / 36&lt;/Text&gt;&#10;  &lt;/Box&gt;&#10;&lt;/Slide&gt;&#10;"/>
        <p:cNvGrpSpPr/>
        <p:nvPr/>
      </p:nvGrpSpPr>
      <p:grpSpPr>
        <a:xfrm>
          <a:off x="0" y="0"/>
          <a:ext cx="0" cy="0"/>
          <a:chOff x="0" y="0"/>
          <a:chExt cx="0" cy="0"/>
        </a:xfrm>
      </p:grpSpPr>
      <p:sp>
        <p:nvSpPr>
          <p:cNvPr id="1285" name=""/>
          <p:cNvSpPr/>
          <p:nvPr/>
        </p:nvSpPr>
        <p:spPr>
          <a:xfrm rot="0" flipH="0" flipV="0">
            <a:off x="0" y="0"/>
            <a:ext cx="12192000" cy="6858000"/>
          </a:xfrm>
          <a:prstGeom prst="rect">
            <a:avLst/>
          </a:prstGeom>
          <a:solidFill>
            <a:srgbClr val="0F1423"/>
          </a:solidFill>
          <a:ln/>
        </p:spPr>
        <p:txBody>
          <a:bodyPr/>
          <a:p/>
        </p:txBody>
      </p:sp>
      <p:sp>
        <p:nvSpPr>
          <p:cNvPr id="1286"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1287"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1288" name="" descr="{&quot;isTemplate&quot;:true,&quot;type&quot;:&quot;text&quot;}"/>
          <p:cNvSpPr txBox="1"/>
          <p:nvPr/>
        </p:nvSpPr>
        <p:spPr>
          <a:xfrm rot="0" flipH="0" flipV="0">
            <a:off x="8115300" y="1047750"/>
            <a:ext cx="3409950" cy="3314700"/>
          </a:xfrm>
          <a:prstGeom prst="rect"/>
        </p:spPr>
        <p:txBody>
          <a:bodyPr wrap="none" lIns="0" tIns="0" rIns="0" bIns="0"/>
          <a:p>
            <a:pPr>
              <a:lnSpc>
                <a:spcPct val="100000"/>
              </a:lnSpc>
            </a:pPr>
            <a:r>
              <a:rPr lang="en-US" sz="21750" b="1">
                <a:solidFill>
                  <a:srgbClr val="FFFFFF">
                    <a:alpha val="8000"/>
                  </a:srgbClr>
                </a:solidFill>
                <a:latin typeface="Microsoft YaHei"/>
                <a:ea typeface="Microsoft YaHei"/>
              </a:rPr>
              <a:t>04</a:t>
            </a:r>
            <a:endParaRPr/>
          </a:p>
        </p:txBody>
      </p:sp>
      <p:sp>
        <p:nvSpPr>
          <p:cNvPr id="1289" name="" descr="{&quot;isTemplate&quot;:true,&quot;type&quot;:&quot;text&quot;}"/>
          <p:cNvSpPr txBox="1"/>
          <p:nvPr/>
        </p:nvSpPr>
        <p:spPr>
          <a:xfrm rot="0" flipH="0" flipV="0">
            <a:off x="838200" y="2247900"/>
            <a:ext cx="7048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04</a:t>
            </a:r>
            <a:endParaRPr/>
          </a:p>
        </p:txBody>
      </p:sp>
      <p:sp>
        <p:nvSpPr>
          <p:cNvPr id="1290" name=""/>
          <p:cNvSpPr/>
          <p:nvPr/>
        </p:nvSpPr>
        <p:spPr>
          <a:xfrm rot="0" flipH="0" flipV="0">
            <a:off x="838200" y="2609850"/>
            <a:ext cx="685800" cy="47625"/>
          </a:xfrm>
          <a:prstGeom prst="rect">
            <a:avLst/>
          </a:prstGeom>
          <a:solidFill>
            <a:srgbClr val="FA4F24"/>
          </a:solidFill>
          <a:ln/>
        </p:spPr>
        <p:txBody>
          <a:bodyPr/>
          <a:p/>
        </p:txBody>
      </p:sp>
      <p:sp>
        <p:nvSpPr>
          <p:cNvPr id="1291" name="" descr="{&quot;isTemplate&quot;:true,&quot;type&quot;:&quot;text&quot;}"/>
          <p:cNvSpPr txBox="1"/>
          <p:nvPr/>
        </p:nvSpPr>
        <p:spPr>
          <a:xfrm rot="0" flipH="0" flipV="0">
            <a:off x="838200" y="2905125"/>
            <a:ext cx="7048500" cy="714375"/>
          </a:xfrm>
          <a:prstGeom prst="rect"/>
        </p:spPr>
        <p:txBody>
          <a:bodyPr wrap="none" lIns="0" tIns="0" rIns="0" bIns="0"/>
          <a:p>
            <a:pPr>
              <a:lnSpc>
                <a:spcPct val="114999"/>
              </a:lnSpc>
            </a:pPr>
            <a:r>
              <a:rPr lang="zh-CN" sz="4050" b="1">
                <a:solidFill>
                  <a:srgbClr val="FFFFFF"/>
                </a:solidFill>
                <a:latin typeface="Microsoft YaHei"/>
                <a:ea typeface="Microsoft YaHei"/>
              </a:rPr>
              <a:t>阶段三：需求规格化</a:t>
            </a:r>
            <a:endParaRPr/>
          </a:p>
        </p:txBody>
      </p:sp>
      <p:sp>
        <p:nvSpPr>
          <p:cNvPr id="1292" name="" descr="{&quot;isTemplate&quot;:true,&quot;type&quot;:&quot;text&quot;}"/>
          <p:cNvSpPr txBox="1"/>
          <p:nvPr/>
        </p:nvSpPr>
        <p:spPr>
          <a:xfrm rot="0" flipH="0" flipV="0">
            <a:off x="838200" y="3790950"/>
            <a:ext cx="7048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REQUIREMENT SPECIFICATION</a:t>
            </a:r>
            <a:endParaRPr/>
          </a:p>
        </p:txBody>
      </p:sp>
      <p:sp>
        <p:nvSpPr>
          <p:cNvPr id="1293" name="" descr="{&quot;isTemplate&quot;:true,&quot;type&quot;:&quot;text&quot;}"/>
          <p:cNvSpPr txBox="1"/>
          <p:nvPr/>
        </p:nvSpPr>
        <p:spPr>
          <a:xfrm rot="0" flipH="0" flipV="0">
            <a:off x="838200" y="4219575"/>
            <a:ext cx="7048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把蓝图压到</a:t>
            </a:r>
            <a:r>
              <a:rPr lang="en-US" sz="1425">
                <a:solidFill>
                  <a:srgbClr val="FFFFFF">
                    <a:alpha val="85000"/>
                  </a:srgbClr>
                </a:solidFill>
                <a:latin typeface="Microsoft YaHei"/>
                <a:ea typeface="Microsoft YaHei"/>
              </a:rPr>
              <a:t xml:space="preserve"> L6</a:t>
            </a:r>
            <a:r>
              <a:rPr lang="zh-CN" sz="1425">
                <a:solidFill>
                  <a:srgbClr val="FFFFFF">
                    <a:alpha val="85000"/>
                  </a:srgbClr>
                </a:solidFill>
                <a:latin typeface="Microsoft YaHei"/>
                <a:ea typeface="Microsoft YaHei"/>
              </a:rPr>
              <a:t>，产出可验收的需求基线，以及指标字典与考核数据清单</a:t>
            </a:r>
            <a:endParaRPr/>
          </a:p>
        </p:txBody>
      </p:sp>
      <p:sp>
        <p:nvSpPr>
          <p:cNvPr id="1294" name="" descr="{&quot;isTemplate&quot;:true,&quot;type&quot;:&quot;text&quot;}"/>
          <p:cNvSpPr txBox="1"/>
          <p:nvPr/>
        </p:nvSpPr>
        <p:spPr>
          <a:xfrm rot="0" flipH="0" flipV="0">
            <a:off x="838200" y="4991100"/>
            <a:ext cx="571500" cy="142875"/>
          </a:xfrm>
          <a:prstGeom prst="rect"/>
        </p:spPr>
        <p:txBody>
          <a:bodyPr wrap="none" lIns="0" tIns="0" rIns="0" bIns="0"/>
          <a:p>
            <a:pPr>
              <a:lnSpc>
                <a:spcPct val="100000"/>
              </a:lnSpc>
            </a:pPr>
            <a:r>
              <a:rPr lang="en-US" sz="938" b="1">
                <a:solidFill>
                  <a:srgbClr val="FBA15C">
                    <a:alpha val="72000"/>
                  </a:srgbClr>
                </a:solidFill>
                <a:latin typeface="Microsoft YaHei"/>
                <a:ea typeface="Microsoft YaHei"/>
              </a:rPr>
              <a:t>L5-L6</a:t>
            </a:r>
            <a:endParaRPr/>
          </a:p>
        </p:txBody>
      </p:sp>
      <p:sp>
        <p:nvSpPr>
          <p:cNvPr id="1295" name="" descr="{&quot;isTemplate&quot;:true,&quot;type&quot;:&quot;text&quot;}"/>
          <p:cNvSpPr txBox="1"/>
          <p:nvPr/>
        </p:nvSpPr>
        <p:spPr>
          <a:xfrm rot="0" flipH="0" flipV="0">
            <a:off x="838200" y="5172075"/>
            <a:ext cx="5715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活动与任务</a:t>
            </a:r>
            <a:endParaRPr/>
          </a:p>
        </p:txBody>
      </p:sp>
      <p:sp>
        <p:nvSpPr>
          <p:cNvPr id="1296" name="" descr="{&quot;isTemplate&quot;:true,&quot;type&quot;:&quot;text&quot;}"/>
          <p:cNvSpPr txBox="1"/>
          <p:nvPr/>
        </p:nvSpPr>
        <p:spPr>
          <a:xfrm rot="0" flipH="0" flipV="0">
            <a:off x="1676400" y="4991100"/>
            <a:ext cx="108585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实体属性</a:t>
            </a:r>
            <a:endParaRPr/>
          </a:p>
        </p:txBody>
      </p:sp>
      <p:sp>
        <p:nvSpPr>
          <p:cNvPr id="1297" name="" descr="{&quot;isTemplate&quot;:true,&quot;type&quot;:&quot;text&quot;}"/>
          <p:cNvSpPr txBox="1"/>
          <p:nvPr/>
        </p:nvSpPr>
        <p:spPr>
          <a:xfrm rot="0" flipH="0" flipV="0">
            <a:off x="1676400" y="5172075"/>
            <a:ext cx="108585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含数据标准</a:t>
            </a:r>
            <a:r>
              <a:rPr lang="en-US" sz="900">
                <a:solidFill>
                  <a:srgbClr val="FFFFFF">
                    <a:alpha val="57600"/>
                  </a:srgbClr>
                </a:solidFill>
                <a:latin typeface="Microsoft YaHei"/>
                <a:ea typeface="Microsoft YaHei"/>
              </a:rPr>
              <a:t>/</a:t>
            </a:r>
            <a:r>
              <a:rPr lang="zh-CN" sz="900">
                <a:solidFill>
                  <a:srgbClr val="FFFFFF">
                    <a:alpha val="57600"/>
                  </a:srgbClr>
                </a:solidFill>
                <a:latin typeface="Microsoft YaHei"/>
                <a:ea typeface="Microsoft YaHei"/>
              </a:rPr>
              <a:t>代码标准</a:t>
            </a:r>
            <a:endParaRPr/>
          </a:p>
        </p:txBody>
      </p:sp>
      <p:sp>
        <p:nvSpPr>
          <p:cNvPr id="1298" name="" descr="{&quot;isTemplate&quot;:true,&quot;type&quot;:&quot;text&quot;}"/>
          <p:cNvSpPr txBox="1"/>
          <p:nvPr/>
        </p:nvSpPr>
        <p:spPr>
          <a:xfrm rot="0" flipH="0" flipV="0">
            <a:off x="3028950" y="4991100"/>
            <a:ext cx="685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服务</a:t>
            </a:r>
            <a:r>
              <a:rPr lang="en-US" sz="938" b="1">
                <a:solidFill>
                  <a:srgbClr val="FBA15C">
                    <a:alpha val="72000"/>
                  </a:srgbClr>
                </a:solidFill>
                <a:latin typeface="Microsoft YaHei"/>
                <a:ea typeface="Microsoft YaHei"/>
              </a:rPr>
              <a:t>/</a:t>
            </a:r>
            <a:r>
              <a:rPr lang="zh-CN" sz="938" b="1">
                <a:solidFill>
                  <a:srgbClr val="FBA15C">
                    <a:alpha val="72000"/>
                  </a:srgbClr>
                </a:solidFill>
                <a:latin typeface="Microsoft YaHei"/>
                <a:ea typeface="Microsoft YaHei"/>
              </a:rPr>
              <a:t>特性</a:t>
            </a:r>
            <a:endParaRPr/>
          </a:p>
        </p:txBody>
      </p:sp>
      <p:sp>
        <p:nvSpPr>
          <p:cNvPr id="1299" name="" descr="{&quot;isTemplate&quot;:true,&quot;type&quot;:&quot;text&quot;}"/>
          <p:cNvSpPr txBox="1"/>
          <p:nvPr/>
        </p:nvSpPr>
        <p:spPr>
          <a:xfrm rot="0" flipH="0" flipV="0">
            <a:off x="3028950" y="5172075"/>
            <a:ext cx="685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应用三层设计</a:t>
            </a:r>
            <a:endParaRPr/>
          </a:p>
        </p:txBody>
      </p:sp>
      <p:sp>
        <p:nvSpPr>
          <p:cNvPr id="1300" name="" descr="{&quot;isTemplate&quot;:true,&quot;type&quot;:&quot;text&quot;}"/>
          <p:cNvSpPr txBox="1"/>
          <p:nvPr/>
        </p:nvSpPr>
        <p:spPr>
          <a:xfrm rot="0" flipH="0" flipV="0">
            <a:off x="3981450" y="4991100"/>
            <a:ext cx="5715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需求基线</a:t>
            </a:r>
            <a:endParaRPr/>
          </a:p>
        </p:txBody>
      </p:sp>
      <p:sp>
        <p:nvSpPr>
          <p:cNvPr id="1301" name="" descr="{&quot;isTemplate&quot;:true,&quot;type&quot;:&quot;text&quot;}"/>
          <p:cNvSpPr txBox="1"/>
          <p:nvPr/>
        </p:nvSpPr>
        <p:spPr>
          <a:xfrm rot="0" flipH="0" flipV="0">
            <a:off x="3981450" y="5172075"/>
            <a:ext cx="5715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评审后冻结</a:t>
            </a:r>
            <a:endParaRPr/>
          </a:p>
        </p:txBody>
      </p:sp>
      <p:sp>
        <p:nvSpPr>
          <p:cNvPr id="1302" name="" descr="{&quot;isTemplate&quot;:true,&quot;type&quot;:&quot;text&quot;}"/>
          <p:cNvSpPr txBox="1"/>
          <p:nvPr/>
        </p:nvSpPr>
        <p:spPr>
          <a:xfrm rot="0" flipH="0" flipV="0">
            <a:off x="4819650" y="4991100"/>
            <a:ext cx="904875"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三份清单</a:t>
            </a:r>
            <a:endParaRPr/>
          </a:p>
        </p:txBody>
      </p:sp>
      <p:sp>
        <p:nvSpPr>
          <p:cNvPr id="1303" name="" descr="{&quot;isTemplate&quot;:true,&quot;type&quot;:&quot;text&quot;}"/>
          <p:cNvSpPr txBox="1"/>
          <p:nvPr/>
        </p:nvSpPr>
        <p:spPr>
          <a:xfrm rot="0" flipH="0" flipV="0">
            <a:off x="4819650" y="5172075"/>
            <a:ext cx="904875"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需求</a:t>
            </a:r>
            <a:r>
              <a:rPr lang="en-US" sz="900">
                <a:solidFill>
                  <a:srgbClr val="FFFFFF">
                    <a:alpha val="57600"/>
                  </a:srgbClr>
                </a:solidFill>
                <a:latin typeface="Microsoft YaHei"/>
                <a:ea typeface="Microsoft YaHei"/>
              </a:rPr>
              <a:t>/</a:t>
            </a:r>
            <a:r>
              <a:rPr lang="zh-CN" sz="900">
                <a:solidFill>
                  <a:srgbClr val="FFFFFF">
                    <a:alpha val="57600"/>
                  </a:srgbClr>
                </a:solidFill>
                <a:latin typeface="Microsoft YaHei"/>
                <a:ea typeface="Microsoft YaHei"/>
              </a:rPr>
              <a:t>数据指标</a:t>
            </a:r>
            <a:r>
              <a:rPr lang="en-US" sz="900">
                <a:solidFill>
                  <a:srgbClr val="FFFFFF">
                    <a:alpha val="57600"/>
                  </a:srgbClr>
                </a:solidFill>
                <a:latin typeface="Microsoft YaHei"/>
                <a:ea typeface="Microsoft YaHei"/>
              </a:rPr>
              <a:t>/AI</a:t>
            </a:r>
            <a:endParaRPr/>
          </a:p>
        </p:txBody>
      </p:sp>
      <p:sp>
        <p:nvSpPr>
          <p:cNvPr id="1304" name="" descr="{&quot;isTemplate&quot;:true,&quot;type&quot;:&quot;text&quot;}"/>
          <p:cNvSpPr txBox="1"/>
          <p:nvPr/>
        </p:nvSpPr>
        <p:spPr>
          <a:xfrm rot="0" flipH="0" flipV="0">
            <a:off x="5991225" y="4991100"/>
            <a:ext cx="685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收口物</a:t>
            </a:r>
            <a:endParaRPr/>
          </a:p>
        </p:txBody>
      </p:sp>
      <p:sp>
        <p:nvSpPr>
          <p:cNvPr id="1305" name="" descr="{&quot;isTemplate&quot;:true,&quot;type&quot;:&quot;text&quot;}"/>
          <p:cNvSpPr txBox="1"/>
          <p:nvPr/>
        </p:nvSpPr>
        <p:spPr>
          <a:xfrm rot="0" flipH="0" flipV="0">
            <a:off x="5991225" y="5172075"/>
            <a:ext cx="685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架构详细设计</a:t>
            </a:r>
            <a:endParaRPr/>
          </a:p>
        </p:txBody>
      </p:sp>
      <p:sp>
        <p:nvSpPr>
          <p:cNvPr id="1306" name=""/>
          <p:cNvSpPr/>
          <p:nvPr/>
        </p:nvSpPr>
        <p:spPr>
          <a:xfrm rot="0" flipH="0" flipV="0">
            <a:off x="8172450" y="6143625"/>
            <a:ext cx="133350" cy="133350"/>
          </a:xfrm>
          <a:prstGeom prst="rect">
            <a:avLst/>
          </a:prstGeom>
          <a:solidFill>
            <a:srgbClr val="FA4F24"/>
          </a:solidFill>
          <a:ln/>
        </p:spPr>
        <p:txBody>
          <a:bodyPr/>
          <a:p/>
        </p:txBody>
      </p:sp>
      <p:sp>
        <p:nvSpPr>
          <p:cNvPr id="1307" name="" descr="{&quot;isTemplate&quot;:true,&quot;type&quot;:&quot;text&quot;}"/>
          <p:cNvSpPr txBox="1"/>
          <p:nvPr/>
        </p:nvSpPr>
        <p:spPr>
          <a:xfrm rot="0" flipH="0" flipV="0">
            <a:off x="8420100" y="6124575"/>
            <a:ext cx="224790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利星能业务变革咨询方法论</a:t>
            </a:r>
            <a:endParaRPr/>
          </a:p>
        </p:txBody>
      </p:sp>
      <p:sp>
        <p:nvSpPr>
          <p:cNvPr id="1308" name="" descr="{&quot;isTemplate&quot;:true,&quot;type&quot;:&quot;text&quot;}"/>
          <p:cNvSpPr txBox="1"/>
          <p:nvPr/>
        </p:nvSpPr>
        <p:spPr>
          <a:xfrm rot="0" flipH="0" flipV="0">
            <a:off x="10896600" y="61245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27 / 36</a:t>
            </a:r>
            <a:endParaRPr/>
          </a:p>
        </p:txBody>
      </p:sp>
    </p:spTree>
  </p:cSld>
</p:sld>
</file>

<file path=ppt/slides/slide28.xml><?xml version="1.0" encoding="utf-8"?>
<p:sld xmlns:p="http://schemas.openxmlformats.org/presentationml/2006/main" xmlns:a="http://schemas.openxmlformats.org/drawingml/2006/main">
  <p:cSld>
    <p:spTree>
      <p:nvGrpSpPr>
        <p:cNvPr id="1309" name="" descr="&lt;Slide style={{ width: 1280, height: 720, background: '#FFFFFF', padding: '24px 64px 0' }}&gt;&#13;&#10;    {/* A 区 */}&#13;&#10;    &lt;Box style={{ height: 96, flexDirection: 'column', justifyContent: 'flex-start' }}&gt;&#13;&#10;        &lt;Text style={{ fontSize: 32, fontWeight: 'bold', color: '#0F1423' }}&gt;&#13;&#10;            阶段三 Approach：&lt;span style={{ color: '#FA4F24' }}&gt;把蓝图压到 L6&lt;/span&gt;&#13;&#10;        &lt;/Text&gt;&#13;&#10;        &lt;Text style={{ fontSize: 19, color: '#8A8F99', marginTop: 7 }}&gt;&#13;&#10;            这一阶段的产出物决定后面系统建设怎么验收——所以最后一定要有「基线冻结」这个动作&#13;&#10;        &lt;/Text&gt;&#13;&#10;    &lt;/Box&gt;&#13;&#10;    &lt;Box style={{ height: 1, background: '#E8E8E8' }} /&gt;&#13;&#10;&#13;&#10;    {/* B 区 */}&#13;&#10;    &lt;Box style={{ paddingTop: 10, paddingBottom: 6, height: 479, flexDirection: 'column', gap: 8 }}&gt;&#13;&#10;        {/* 上：五个动作 */}&#13;&#10;        &lt;Box style={{ height: 198, flexDirection: 'row', gap: 6 }}&gt;&#13;&#10;            {[&#13;&#10;                { n: '01', t: 'BA 下探 L5-L6', c: '#FA4F24', pts: ['每条 L4 拆成 L5 业务活动，给到 L6 可执行任务', '每个 L5 标责任岗位、关键输入输出、流程绩效指标', '例外处理必须写，不能只写正常路径'], out: 'L5-L6 详细设计' },&#13;&#10;                { n: '02', t: 'DA 下探属性', c: '#E0641E', pts: ['逻辑实体逐个展开业务属性、主键、取值域', '每个属性标数据标准与代码标准引用', '向上标与 BA 的信息链、向下标与 AA 的数据流向'], out: '逻辑实体属性设计' },&#13;&#10;                { n: '03', t: 'AA 下探服务', c: '#C43A17', pts: ['功能模块 → 应用服务 → 应用特性 → 子特性', '每个特性标注对应的应用模块与集成接口', '技术选型在服务层定，不下到代码设计'], out: '应用服务/特性/子特性' },&#13;&#10;                { n: '04', t: 'AI 场景细化', c: '#9E3410', pts: ['场景目标、业务价值、输入数据、知识来源', '智能体职责边界与人机协同方式', '效果评估指标（必须可测）'], out: 'AI 应用场景清单' },&#13;&#10;                { n: '05', t: '编撰与冻结', c: '#3A4050', pts: ['转化为需求规格说明书：场景/角色/流程/规则/验收标准', '编制数据需求与指标清单、绩效考核数据清单', '组织需求评审，逐项确认后冻结为需求基线'], out: '需求基线（冻结）' },&#13;&#10;            ].map((g) =&gt; (&#13;&#10;                &lt;Box key={g.n} style={{ flex: 1, background: '#F7F7F8', borderRadius: 4, borderTop: '3px solid ' + g.c, padding: '10px 11px', flexDirection: 'column' }}&gt;&#13;&#10;                    &lt;Box style={{ flexDirection: 'row', alignItems: 'center', gap: 6 }}&gt;&#13;&#10;                        &lt;Text style={{ fontSize: 14, fontWeight: 'bold', color: g.c }}&gt;{g.n}&lt;/Text&gt;&#13;&#10;                        &lt;Text style={{ fontSize: 13, fontWeight: 'bold', color: '#0F1423', flex: 1 }}&gt;{g.t}&lt;/Text&gt;&#13;&#10;                    &lt;/Box&gt;&#13;&#10;                    &lt;Box style={{ flex: 1, flexDirection: 'column', gap: 6, marginTop: 8 }}&gt;&#13;&#10;                        {g.pts.map((p) =&gt; (&#13;&#10;                            &lt;Box key={p} style={{ flexDirection: 'row', alignItems: 'flex-start', gap: 6, flex: 1 }}&gt;&#13;&#10;                                &lt;Text style={{ fontSize: 9.5, color: g.c, fontWeight: 'bold' }}&gt;▪&lt;/Text&gt;&#13;&#10;                                &lt;Text style={{ fontSize: 10.5, color: '#3A4050', lineHeight: 1.35, flex: 1 }}&gt;{p}&lt;/Text&gt;&#13;&#10;                            &lt;/Box&gt;&#13;&#10;                        ))}&#13;&#10;                    &lt;/Box&gt;&#13;&#10;                    &lt;Box style={{ height: 28, background: g.c, borderRadius: 3, padding: '0 10px', flexDirection: 'column', justifyContent: 'center' }}&gt;&#13;&#10;                        &lt;Text style={{ fontSize: 10.5, fontWeight: 'bold', color: '#FFFFFF' }}&gt;{g.out}&lt;/Text&gt;&#13;&#10;                    &lt;/Box&gt;&#13;&#10;                &lt;/Box&gt;&#13;&#10;            ))}&#13;&#10;        &lt;/Box&gt;&#13;&#10;&#13;&#10;        {/* 中：四个产出物 + 冻结机制 */}&#13;&#10;        &lt;Box style={{ flex: 1, flexDirection: 'row', gap: 9, alignItems: 'stretch' }}&gt;&#13;&#10;            &lt;Box style={{ width: 600, background: '#0F1423', borderRadius: 4, padding: '13px 16px', flexDirection: 'column' }}&gt;&#13;&#10;                &lt;Text style={{ fontSize: 12, color: '#FBA15C', letterSpacing: 1 }}&gt;阶段三一次性交付四份东西（招标 3.4 第 3–6、8–9 项）&lt;/Text&gt;&#13;&#10;                {[&#13;&#10;                    { n: '③', t: '架构详细设计', d: 'L5-L6 + 实体属性设计 + 应用服务特性子特性', c: '#FA4F24' },&#13;&#10;                    { n: '④', t: '业务需求规格说明书', d: '含需求编号与追溯矩阵，逐条回应痛点与改进方向', c: '#E0641E' },&#13;&#10;                    { n: '⑤', t: '数据需求与指标清单', d: '数据需求条目 + 指标口径定义 + 取数来源与更新频率', c: '#C43A17' },&#13;&#10;                    { n: '⑥⑧⑨', t: 'AI 场景清单 / 指标字典 / 绩效考核业务数据清单', d: 'AI 按 HR 提供的考核标的、岗位、人员梳理数据源与传输方式', c: '#9E3410' },&#13;&#10;                ].map((x, i) =&gt; (&#13;&#10;                    &lt;Box key={x.n} style={{ flexDirection: 'row', alignItems: 'center', gap: 11, flex: 1, marginTop: i === 0 ? 9 : 5 }}&gt;&#13;&#10;                        &lt;Box style={{ width: 52, height: 24, borderRadius: 3, background: x.c, alignItems: 'center', justifyContent: 'center', flexDirection: 'row' }}&gt;&#13;&#10;                            &lt;Text style={{ fontSize: 11, fontWeight: 'bold', color: '#FFFFFF' }}&gt;{x.n}&lt;/Text&gt;&#13;&#10;                        &lt;/Box&gt;&#13;&#10;                        &lt;Box style={{ flex: 1 }}&gt;&#13;&#10;                            &lt;Text style={{ fontSize: 11.5, fontWeight: 'bold', color: '#FFFFFF' }}&gt;{x.t}&lt;/Text&gt;&#13;&#10;                            &lt;Text style={{ fontSize: 10, color: 'rgba(255,255,255,0.8)', lineHeight: 1.3, marginTop: 2 }}&gt;{x.d}&lt;/Text&gt;&#13;&#10;                        &lt;/Box&gt;&#13;&#10;                    &lt;/Box&gt;&#13;&#10;                ))}&#13;&#10;            &lt;/Box&gt;&#13;&#10;            &lt;Box style={{ flex: 1, background: '#FFF3EE', borderRadius: 4, borderLeft: '4px solid #FA4F24', padding: '13px 16px', flexDirection: 'column', justifyContent: 'center' }}&gt;&#13;&#10;                &lt;Text style={{ fontSize: 12.5, fontWeight: 'bold', color: '#C43A17' }}&gt;需求基线冻结：为什么这一步不能省&lt;/Text&gt;&#13;&#10;                &lt;Text style={{ fontSize: 11.5, color: '#3A4050', lineHeight: 1.5, marginTop: 7 }}&gt;&#13;&#10;                    蓝图是设计，需求规格说明书是承诺。没有冻结动作，建设期每个新增需求都能说「当初没写清楚」——最后所有变更都变成谈判，而不是工程问题。&#13;&#10;                &lt;/Text&gt;&#13;&#10;                {[&#13;&#10;                    { t: '冻结动作', d: '组织需求评审，逐条确认签字，形成需求基线' },&#13;&#10;                    { t: '变更规则', d: '冻结后任何变更走变更流程，标影响范围与工作量' },&#13;&#10;                    { t: '验收依据', d: '基线即系统建设与后续验收的唯一依据' },&#13;&#10;                ].map((x) =&gt; (&#13;&#10;                    &lt;Box key={x.t} style={{ flexDirection: 'row', alignItems: 'center', gap: 9, marginTop: 7 }}&gt;&#13;&#10;                        &lt;Text style={{ fontSize: 11, fontWeight: 'bold', color: '#FA4F24', width: 66 }}&gt;{x.t}&lt;/Text&gt;&#13;&#10;                        &lt;Text style={{ fontSize: 10.5, color: '#3A4050', flex: 1, lineHeight: 1.35 }}&gt;{x.d}&lt;/Text&gt;&#13;&#10;                    &lt;/Box&gt;&#13;&#10;                ))}&#13;&#10;            &lt;/Box&gt;&#13;&#10;        &lt;/Box&gt;&#13;&#10;&#13;&#10;        {/* 下 */}&#13;&#10;        &lt;Box style={{ height: 34, flexDirection: 'row', gap: 7 }}&gt;&#13;&#10;            {[&#13;&#10;                { k: '下探有底线', v: '压到 L6 活动与任务为止，不做界面原型与代码设计', c: '#FA4F24', dark: true },&#13;&#10;                { k: '指标要能取数', v: '每个指标写清取哪张表、多久更新、谁维护，否则不进清单', c: '#E0641E', dark: false },&#13;&#10;                { k: '考核清单看 HR', v: '绩效数据清单以 HR 提供的考核标的为输入，不自行假设', c: '#C43A17', dark: false },&#13;&#10;            ].map((x) =&gt; (&#13;&#10;                &lt;Box key={x.k} style={{ flex: 1, background: x.dark ? '#0F1423' : '#F7F7F8', borderLeft: '4px solid ' + x.c, borderRadius: 3, padding: '0 13px', flexDirection: 'row', alignItems: 'center', gap: 8 }}&gt;&#13;&#10;                    &lt;Text style={{ fontSize: 11.5, fontWeight: 'bold', color: x.dark ? '#FBA15C' : '#0F1423' }}&gt;{x.k}&lt;/Text&gt;&#13;&#10;                    &lt;Text style={{ fontSize: 10, color: x.dark ? 'rgba(255,255,255,0.86)' : '#5A6070', flex: 1, lineHeight: 1.3 }}&gt;{x.v}&lt;/Text&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28 / 36&lt;/Text&gt;&#13;&#10;    &lt;/Box&gt;&#13;&#10;&lt;/Slide&gt;&#13;&#10;"/>
        <p:cNvGrpSpPr/>
        <p:nvPr/>
      </p:nvGrpSpPr>
      <p:grpSpPr>
        <a:xfrm>
          <a:off x="0" y="0"/>
          <a:ext cx="0" cy="0"/>
          <a:chOff x="0" y="0"/>
          <a:chExt cx="0" cy="0"/>
        </a:xfrm>
      </p:grpSpPr>
      <p:sp>
        <p:nvSpPr>
          <p:cNvPr id="1310" name=""/>
          <p:cNvSpPr/>
          <p:nvPr/>
        </p:nvSpPr>
        <p:spPr>
          <a:xfrm rot="0" flipH="0" flipV="0">
            <a:off x="0" y="0"/>
            <a:ext cx="12192000" cy="6858000"/>
          </a:xfrm>
          <a:prstGeom prst="rect">
            <a:avLst/>
          </a:prstGeom>
          <a:solidFill>
            <a:srgbClr val="FFFFFF"/>
          </a:solidFill>
          <a:ln/>
        </p:spPr>
        <p:txBody>
          <a:bodyPr/>
          <a:p/>
        </p:txBody>
      </p:sp>
      <p:sp>
        <p:nvSpPr>
          <p:cNvPr id="131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阶段三</a:t>
            </a:r>
            <a:r>
              <a:rPr lang="en-US" sz="2400" b="1">
                <a:solidFill>
                  <a:srgbClr val="0F1423"/>
                </a:solidFill>
                <a:latin typeface="Microsoft YaHei"/>
                <a:ea typeface="Microsoft YaHei"/>
              </a:rPr>
              <a:t xml:space="preserve"> Approach</a:t>
            </a:r>
            <a:r>
              <a:rPr lang="zh-CN" sz="2400" b="1">
                <a:solidFill>
                  <a:srgbClr val="0F1423"/>
                </a:solidFill>
                <a:latin typeface="Microsoft YaHei"/>
                <a:ea typeface="Microsoft YaHei"/>
              </a:rPr>
              <a:t>：</a:t>
            </a:r>
            <a:r>
              <a:rPr lang="zh-CN" sz="2400" b="1">
                <a:solidFill>
                  <a:srgbClr val="FA4F24"/>
                </a:solidFill>
                <a:latin typeface="Microsoft YaHei"/>
                <a:ea typeface="Microsoft YaHei"/>
              </a:rPr>
              <a:t>把蓝图压到</a:t>
            </a:r>
            <a:r>
              <a:rPr lang="en-US" sz="2400" b="1">
                <a:solidFill>
                  <a:srgbClr val="FA4F24"/>
                </a:solidFill>
                <a:latin typeface="Microsoft YaHei"/>
                <a:ea typeface="Microsoft YaHei"/>
              </a:rPr>
              <a:t xml:space="preserve"> L6</a:t>
            </a:r>
            <a:endParaRPr/>
          </a:p>
        </p:txBody>
      </p:sp>
      <p:sp>
        <p:nvSpPr>
          <p:cNvPr id="1312"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这一阶段的产出物决定后面系统建设怎么验收——所以最后一定要有「基线冻结」这个动作</a:t>
            </a:r>
            <a:endParaRPr/>
          </a:p>
        </p:txBody>
      </p:sp>
      <p:sp>
        <p:nvSpPr>
          <p:cNvPr id="1313" name=""/>
          <p:cNvSpPr/>
          <p:nvPr/>
        </p:nvSpPr>
        <p:spPr>
          <a:xfrm rot="0" flipH="0" flipV="0">
            <a:off x="609600" y="1143000"/>
            <a:ext cx="10972800" cy="9525"/>
          </a:xfrm>
          <a:prstGeom prst="rect">
            <a:avLst/>
          </a:prstGeom>
          <a:solidFill>
            <a:srgbClr val="E8E8E8"/>
          </a:solidFill>
          <a:ln/>
        </p:spPr>
        <p:txBody>
          <a:bodyPr/>
          <a:p/>
        </p:txBody>
      </p:sp>
      <p:sp>
        <p:nvSpPr>
          <p:cNvPr id="1314" name=""/>
          <p:cNvSpPr/>
          <p:nvPr/>
        </p:nvSpPr>
        <p:spPr>
          <a:xfrm rot="0" flipH="0" flipV="0">
            <a:off x="609600" y="1276350"/>
            <a:ext cx="2152650" cy="1885950"/>
          </a:xfrm>
          <a:prstGeom prst="roundRect">
            <a:avLst>
              <a:gd name="adj" fmla="val 2020"/>
            </a:avLst>
          </a:prstGeom>
          <a:solidFill>
            <a:srgbClr val="F7F7F8"/>
          </a:solidFill>
          <a:ln/>
        </p:spPr>
        <p:txBody>
          <a:bodyPr/>
          <a:p/>
        </p:txBody>
      </p:sp>
      <p:sp>
        <p:nvSpPr>
          <p:cNvPr id="1315" name=""/>
          <p:cNvSpPr/>
          <p:nvPr/>
        </p:nvSpPr>
        <p:spPr>
          <a:xfrm rot="0" flipH="0" flipV="0">
            <a:off x="609600" y="1276350"/>
            <a:ext cx="2152650" cy="1885950"/>
          </a:xfrm>
          <a:custGeom>
            <a:pathLst>
              <a:path w="226" h="198">
                <a:moveTo>
                  <a:pt x="222" y="0"/>
                </a:moveTo>
                <a:cubicBezTo>
                  <a:pt x="224" y="0"/>
                  <a:pt x="226" y="2"/>
                  <a:pt x="226" y="4"/>
                </a:cubicBezTo>
                <a:cubicBezTo>
                  <a:pt x="226" y="3"/>
                  <a:pt x="225" y="3"/>
                  <a:pt x="225" y="3"/>
                </a:cubicBezTo>
                <a:lnTo>
                  <a:pt x="1" y="3"/>
                </a:lnTo>
                <a:cubicBezTo>
                  <a:pt x="1" y="3"/>
                  <a:pt x="0" y="3"/>
                  <a:pt x="0" y="4"/>
                </a:cubicBezTo>
                <a:cubicBezTo>
                  <a:pt x="0" y="2"/>
                  <a:pt x="2" y="0"/>
                  <a:pt x="4" y="0"/>
                </a:cubicBezTo>
                <a:lnTo>
                  <a:pt x="222" y="0"/>
                </a:lnTo>
                <a:close/>
              </a:path>
            </a:pathLst>
          </a:custGeom>
          <a:solidFill>
            <a:srgbClr val="FA4F24"/>
          </a:solidFill>
          <a:ln/>
        </p:spPr>
        <p:txBody>
          <a:bodyPr/>
          <a:p/>
        </p:txBody>
      </p:sp>
      <p:sp>
        <p:nvSpPr>
          <p:cNvPr id="1316" name="" descr="{&quot;isTemplate&quot;:true,&quot;type&quot;:&quot;text&quot;}"/>
          <p:cNvSpPr txBox="1"/>
          <p:nvPr/>
        </p:nvSpPr>
        <p:spPr>
          <a:xfrm rot="0" flipH="0" flipV="0">
            <a:off x="714375" y="1371600"/>
            <a:ext cx="171450" cy="161925"/>
          </a:xfrm>
          <a:prstGeom prst="rect"/>
        </p:spPr>
        <p:txBody>
          <a:bodyPr wrap="none" lIns="0" tIns="0" rIns="0" bIns="0"/>
          <a:p>
            <a:pPr>
              <a:lnSpc>
                <a:spcPct val="100000"/>
              </a:lnSpc>
            </a:pPr>
            <a:r>
              <a:rPr lang="en-US" sz="1050" b="1">
                <a:solidFill>
                  <a:srgbClr val="FA4F24"/>
                </a:solidFill>
                <a:latin typeface="Microsoft YaHei"/>
                <a:ea typeface="Microsoft YaHei"/>
              </a:rPr>
              <a:t>01</a:t>
            </a:r>
            <a:endParaRPr/>
          </a:p>
        </p:txBody>
      </p:sp>
      <p:sp>
        <p:nvSpPr>
          <p:cNvPr id="1317" name="" descr="{&quot;isTemplate&quot;:true,&quot;type&quot;:&quot;text&quot;}"/>
          <p:cNvSpPr txBox="1"/>
          <p:nvPr/>
        </p:nvSpPr>
        <p:spPr>
          <a:xfrm rot="0" flipH="0" flipV="0">
            <a:off x="942975" y="1381125"/>
            <a:ext cx="1714500" cy="152400"/>
          </a:xfrm>
          <a:prstGeom prst="rect"/>
        </p:spPr>
        <p:txBody>
          <a:bodyPr wrap="none" lIns="0" tIns="0" rIns="0" bIns="0"/>
          <a:p>
            <a:pPr>
              <a:lnSpc>
                <a:spcPct val="100000"/>
              </a:lnSpc>
            </a:pPr>
            <a:r>
              <a:rPr lang="en-US" sz="975" b="1">
                <a:solidFill>
                  <a:srgbClr val="0F1423"/>
                </a:solidFill>
                <a:latin typeface="Microsoft YaHei"/>
                <a:ea typeface="Microsoft YaHei"/>
              </a:rPr>
              <a:t xml:space="preserve">BA </a:t>
            </a:r>
            <a:r>
              <a:rPr lang="zh-CN" sz="975" b="1">
                <a:solidFill>
                  <a:srgbClr val="0F1423"/>
                </a:solidFill>
                <a:latin typeface="Microsoft YaHei"/>
                <a:ea typeface="Microsoft YaHei"/>
              </a:rPr>
              <a:t>下探</a:t>
            </a:r>
            <a:r>
              <a:rPr lang="en-US" sz="975" b="1">
                <a:solidFill>
                  <a:srgbClr val="0F1423"/>
                </a:solidFill>
                <a:latin typeface="Microsoft YaHei"/>
                <a:ea typeface="Microsoft YaHei"/>
              </a:rPr>
              <a:t xml:space="preserve"> L5-L6</a:t>
            </a:r>
            <a:endParaRPr/>
          </a:p>
        </p:txBody>
      </p:sp>
      <p:sp>
        <p:nvSpPr>
          <p:cNvPr id="1318" name="" descr="{&quot;isTemplate&quot;:true,&quot;type&quot;:&quot;text&quot;}"/>
          <p:cNvSpPr txBox="1"/>
          <p:nvPr/>
        </p:nvSpPr>
        <p:spPr>
          <a:xfrm rot="0" flipH="0" flipV="0">
            <a:off x="714375" y="1609725"/>
            <a:ext cx="38100" cy="114300"/>
          </a:xfrm>
          <a:prstGeom prst="rect"/>
        </p:spPr>
        <p:txBody>
          <a:bodyPr wrap="none" lIns="0" tIns="0" rIns="0" bIns="0"/>
          <a:p>
            <a:pPr>
              <a:lnSpc>
                <a:spcPct val="100000"/>
              </a:lnSpc>
            </a:pPr>
            <a:r>
              <a:rPr sz="713" b="1">
                <a:solidFill>
                  <a:srgbClr val="FA4F24"/>
                </a:solidFill>
                <a:latin typeface="Microsoft YaHei"/>
                <a:ea typeface="Microsoft YaHei"/>
              </a:rPr>
              <a:t>▪</a:t>
            </a:r>
            <a:endParaRPr/>
          </a:p>
        </p:txBody>
      </p:sp>
      <p:sp>
        <p:nvSpPr>
          <p:cNvPr id="1319" name="" descr="{&quot;isTemplate&quot;:true,&quot;type&quot;:&quot;text&quot;}"/>
          <p:cNvSpPr txBox="1"/>
          <p:nvPr/>
        </p:nvSpPr>
        <p:spPr>
          <a:xfrm rot="0" flipH="0" flipV="0">
            <a:off x="809625" y="1609725"/>
            <a:ext cx="18478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每条</a:t>
            </a:r>
            <a:r>
              <a:rPr lang="en-US" sz="788">
                <a:solidFill>
                  <a:srgbClr val="3A4050"/>
                </a:solidFill>
                <a:latin typeface="Microsoft YaHei"/>
                <a:ea typeface="Microsoft YaHei"/>
              </a:rPr>
              <a:t xml:space="preserve"> L4 </a:t>
            </a:r>
            <a:r>
              <a:rPr lang="zh-CN" sz="788">
                <a:solidFill>
                  <a:srgbClr val="3A4050"/>
                </a:solidFill>
                <a:latin typeface="Microsoft YaHei"/>
                <a:ea typeface="Microsoft YaHei"/>
              </a:rPr>
              <a:t>拆成</a:t>
            </a:r>
            <a:r>
              <a:rPr lang="en-US" sz="788">
                <a:solidFill>
                  <a:srgbClr val="3A4050"/>
                </a:solidFill>
                <a:latin typeface="Microsoft YaHei"/>
                <a:ea typeface="Microsoft YaHei"/>
              </a:rPr>
              <a:t xml:space="preserve"> L5 </a:t>
            </a:r>
            <a:r>
              <a:rPr lang="zh-CN" sz="788">
                <a:solidFill>
                  <a:srgbClr val="3A4050"/>
                </a:solidFill>
                <a:latin typeface="Microsoft YaHei"/>
                <a:ea typeface="Microsoft YaHei"/>
              </a:rPr>
              <a:t>业务活动，给到</a:t>
            </a:r>
            <a:r>
              <a:rPr lang="en-US" sz="788">
                <a:solidFill>
                  <a:srgbClr val="3A4050"/>
                </a:solidFill>
                <a:latin typeface="Microsoft YaHei"/>
                <a:ea typeface="Microsoft YaHei"/>
              </a:rPr>
              <a:t xml:space="preserve"> L6 </a:t>
            </a:r>
            <a:r>
              <a:rPr lang="zh-CN" sz="788">
                <a:solidFill>
                  <a:srgbClr val="3A4050"/>
                </a:solidFill>
                <a:latin typeface="Microsoft YaHei"/>
                <a:ea typeface="Microsoft YaHei"/>
              </a:rPr>
              <a:t>可执行任务</a:t>
            </a:r>
            <a:endParaRPr/>
          </a:p>
        </p:txBody>
      </p:sp>
      <p:sp>
        <p:nvSpPr>
          <p:cNvPr id="1320" name="" descr="{&quot;isTemplate&quot;:true,&quot;type&quot;:&quot;text&quot;}"/>
          <p:cNvSpPr txBox="1"/>
          <p:nvPr/>
        </p:nvSpPr>
        <p:spPr>
          <a:xfrm rot="0" flipH="0" flipV="0">
            <a:off x="714375" y="2066925"/>
            <a:ext cx="38100" cy="114300"/>
          </a:xfrm>
          <a:prstGeom prst="rect"/>
        </p:spPr>
        <p:txBody>
          <a:bodyPr wrap="none" lIns="0" tIns="0" rIns="0" bIns="0"/>
          <a:p>
            <a:pPr>
              <a:lnSpc>
                <a:spcPct val="100000"/>
              </a:lnSpc>
            </a:pPr>
            <a:r>
              <a:rPr sz="713" b="1">
                <a:solidFill>
                  <a:srgbClr val="FA4F24"/>
                </a:solidFill>
                <a:latin typeface="Microsoft YaHei"/>
                <a:ea typeface="Microsoft YaHei"/>
              </a:rPr>
              <a:t>▪</a:t>
            </a:r>
            <a:endParaRPr/>
          </a:p>
        </p:txBody>
      </p:sp>
      <p:sp>
        <p:nvSpPr>
          <p:cNvPr id="1321" name="" descr="{&quot;isTemplate&quot;:true,&quot;type&quot;:&quot;text&quot;}"/>
          <p:cNvSpPr txBox="1"/>
          <p:nvPr/>
        </p:nvSpPr>
        <p:spPr>
          <a:xfrm rot="0" flipH="0" flipV="0">
            <a:off x="809625" y="2066925"/>
            <a:ext cx="18478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每个</a:t>
            </a:r>
            <a:r>
              <a:rPr lang="en-US" sz="788">
                <a:solidFill>
                  <a:srgbClr val="3A4050"/>
                </a:solidFill>
                <a:latin typeface="Microsoft YaHei"/>
                <a:ea typeface="Microsoft YaHei"/>
              </a:rPr>
              <a:t xml:space="preserve"> L5 </a:t>
            </a:r>
            <a:r>
              <a:rPr lang="zh-CN" sz="788">
                <a:solidFill>
                  <a:srgbClr val="3A4050"/>
                </a:solidFill>
                <a:latin typeface="Microsoft YaHei"/>
                <a:ea typeface="Microsoft YaHei"/>
              </a:rPr>
              <a:t>标责任岗位、关键输入输出、流程绩效指标</a:t>
            </a:r>
            <a:endParaRPr/>
          </a:p>
        </p:txBody>
      </p:sp>
      <p:sp>
        <p:nvSpPr>
          <p:cNvPr id="1322" name="" descr="{&quot;isTemplate&quot;:true,&quot;type&quot;:&quot;text&quot;}"/>
          <p:cNvSpPr txBox="1"/>
          <p:nvPr/>
        </p:nvSpPr>
        <p:spPr>
          <a:xfrm rot="0" flipH="0" flipV="0">
            <a:off x="714375" y="2533650"/>
            <a:ext cx="38100" cy="114300"/>
          </a:xfrm>
          <a:prstGeom prst="rect"/>
        </p:spPr>
        <p:txBody>
          <a:bodyPr wrap="none" lIns="0" tIns="0" rIns="0" bIns="0"/>
          <a:p>
            <a:pPr>
              <a:lnSpc>
                <a:spcPct val="100000"/>
              </a:lnSpc>
            </a:pPr>
            <a:r>
              <a:rPr sz="713" b="1">
                <a:solidFill>
                  <a:srgbClr val="FA4F24"/>
                </a:solidFill>
                <a:latin typeface="Microsoft YaHei"/>
                <a:ea typeface="Microsoft YaHei"/>
              </a:rPr>
              <a:t>▪</a:t>
            </a:r>
            <a:endParaRPr/>
          </a:p>
        </p:txBody>
      </p:sp>
      <p:sp>
        <p:nvSpPr>
          <p:cNvPr id="1323" name="" descr="{&quot;isTemplate&quot;:true,&quot;type&quot;:&quot;text&quot;}"/>
          <p:cNvSpPr txBox="1"/>
          <p:nvPr/>
        </p:nvSpPr>
        <p:spPr>
          <a:xfrm rot="0" flipH="0" flipV="0">
            <a:off x="809625" y="2533650"/>
            <a:ext cx="1847850" cy="171450"/>
          </a:xfrm>
          <a:prstGeom prst="rect"/>
        </p:spPr>
        <p:txBody>
          <a:bodyPr wrap="none" lIns="0" tIns="0" rIns="0" bIns="0"/>
          <a:p>
            <a:pPr>
              <a:lnSpc>
                <a:spcPct val="135000"/>
              </a:lnSpc>
            </a:pPr>
            <a:r>
              <a:rPr lang="zh-CN" sz="788">
                <a:solidFill>
                  <a:srgbClr val="3A4050"/>
                </a:solidFill>
                <a:latin typeface="Microsoft YaHei"/>
                <a:ea typeface="Microsoft YaHei"/>
              </a:rPr>
              <a:t>例外处理必须写，不能只写正常路径</a:t>
            </a:r>
            <a:endParaRPr/>
          </a:p>
        </p:txBody>
      </p:sp>
      <p:sp>
        <p:nvSpPr>
          <p:cNvPr id="1324" name=""/>
          <p:cNvSpPr/>
          <p:nvPr/>
        </p:nvSpPr>
        <p:spPr>
          <a:xfrm rot="0" flipH="0" flipV="0">
            <a:off x="714375" y="2771775"/>
            <a:ext cx="1943100" cy="266700"/>
          </a:xfrm>
          <a:prstGeom prst="roundRect">
            <a:avLst>
              <a:gd name="adj" fmla="val 10714"/>
            </a:avLst>
          </a:prstGeom>
          <a:solidFill>
            <a:srgbClr val="FA4F24"/>
          </a:solidFill>
          <a:ln/>
        </p:spPr>
        <p:txBody>
          <a:bodyPr/>
          <a:p/>
        </p:txBody>
      </p:sp>
      <p:sp>
        <p:nvSpPr>
          <p:cNvPr id="1325" name="" descr="{&quot;isTemplate&quot;:true,&quot;type&quot;:&quot;text&quot;}"/>
          <p:cNvSpPr txBox="1"/>
          <p:nvPr/>
        </p:nvSpPr>
        <p:spPr>
          <a:xfrm rot="0" flipH="0" flipV="0">
            <a:off x="809625" y="2847975"/>
            <a:ext cx="1752600" cy="123825"/>
          </a:xfrm>
          <a:prstGeom prst="rect"/>
        </p:spPr>
        <p:txBody>
          <a:bodyPr wrap="none" lIns="0" tIns="0" rIns="0" bIns="0"/>
          <a:p>
            <a:pPr>
              <a:lnSpc>
                <a:spcPct val="100000"/>
              </a:lnSpc>
            </a:pPr>
            <a:r>
              <a:rPr lang="en-US" sz="788" b="1">
                <a:solidFill>
                  <a:srgbClr val="FFFFFF"/>
                </a:solidFill>
                <a:latin typeface="Microsoft YaHei"/>
                <a:ea typeface="Microsoft YaHei"/>
              </a:rPr>
              <a:t xml:space="preserve">L5-L6 </a:t>
            </a:r>
            <a:r>
              <a:rPr lang="zh-CN" sz="788" b="1">
                <a:solidFill>
                  <a:srgbClr val="FFFFFF"/>
                </a:solidFill>
                <a:latin typeface="Microsoft YaHei"/>
                <a:ea typeface="Microsoft YaHei"/>
              </a:rPr>
              <a:t>详细设计</a:t>
            </a:r>
            <a:endParaRPr/>
          </a:p>
        </p:txBody>
      </p:sp>
      <p:sp>
        <p:nvSpPr>
          <p:cNvPr id="1326" name=""/>
          <p:cNvSpPr/>
          <p:nvPr/>
        </p:nvSpPr>
        <p:spPr>
          <a:xfrm rot="0" flipH="0" flipV="0">
            <a:off x="2819400" y="1276350"/>
            <a:ext cx="2143125" cy="1885950"/>
          </a:xfrm>
          <a:prstGeom prst="roundRect">
            <a:avLst>
              <a:gd name="adj" fmla="val 2020"/>
            </a:avLst>
          </a:prstGeom>
          <a:solidFill>
            <a:srgbClr val="F7F7F8"/>
          </a:solidFill>
          <a:ln/>
        </p:spPr>
        <p:txBody>
          <a:bodyPr/>
          <a:p/>
        </p:txBody>
      </p:sp>
      <p:sp>
        <p:nvSpPr>
          <p:cNvPr id="1327" name=""/>
          <p:cNvSpPr/>
          <p:nvPr/>
        </p:nvSpPr>
        <p:spPr>
          <a:xfrm rot="0" flipH="0" flipV="0">
            <a:off x="2819400" y="1276350"/>
            <a:ext cx="2143125" cy="1885950"/>
          </a:xfrm>
          <a:custGeom>
            <a:pathLst>
              <a:path w="225" h="198">
                <a:moveTo>
                  <a:pt x="221" y="0"/>
                </a:moveTo>
                <a:cubicBezTo>
                  <a:pt x="223" y="0"/>
                  <a:pt x="225" y="2"/>
                  <a:pt x="225" y="4"/>
                </a:cubicBezTo>
                <a:cubicBezTo>
                  <a:pt x="225" y="3"/>
                  <a:pt x="224" y="3"/>
                  <a:pt x="224" y="3"/>
                </a:cubicBezTo>
                <a:lnTo>
                  <a:pt x="1" y="3"/>
                </a:lnTo>
                <a:cubicBezTo>
                  <a:pt x="1" y="3"/>
                  <a:pt x="0" y="3"/>
                  <a:pt x="0" y="4"/>
                </a:cubicBezTo>
                <a:cubicBezTo>
                  <a:pt x="0" y="2"/>
                  <a:pt x="2" y="0"/>
                  <a:pt x="4" y="0"/>
                </a:cubicBezTo>
                <a:lnTo>
                  <a:pt x="221" y="0"/>
                </a:lnTo>
                <a:close/>
              </a:path>
            </a:pathLst>
          </a:custGeom>
          <a:solidFill>
            <a:srgbClr val="E0641E"/>
          </a:solidFill>
          <a:ln/>
        </p:spPr>
        <p:txBody>
          <a:bodyPr/>
          <a:p/>
        </p:txBody>
      </p:sp>
      <p:sp>
        <p:nvSpPr>
          <p:cNvPr id="1328" name="" descr="{&quot;isTemplate&quot;:true,&quot;type&quot;:&quot;text&quot;}"/>
          <p:cNvSpPr txBox="1"/>
          <p:nvPr/>
        </p:nvSpPr>
        <p:spPr>
          <a:xfrm rot="0" flipH="0" flipV="0">
            <a:off x="2924175" y="1371600"/>
            <a:ext cx="171450" cy="161925"/>
          </a:xfrm>
          <a:prstGeom prst="rect"/>
        </p:spPr>
        <p:txBody>
          <a:bodyPr wrap="none" lIns="0" tIns="0" rIns="0" bIns="0"/>
          <a:p>
            <a:pPr>
              <a:lnSpc>
                <a:spcPct val="100000"/>
              </a:lnSpc>
            </a:pPr>
            <a:r>
              <a:rPr lang="en-US" sz="1050" b="1">
                <a:solidFill>
                  <a:srgbClr val="E0641E"/>
                </a:solidFill>
                <a:latin typeface="Microsoft YaHei"/>
                <a:ea typeface="Microsoft YaHei"/>
              </a:rPr>
              <a:t>02</a:t>
            </a:r>
            <a:endParaRPr/>
          </a:p>
        </p:txBody>
      </p:sp>
      <p:sp>
        <p:nvSpPr>
          <p:cNvPr id="1329" name="" descr="{&quot;isTemplate&quot;:true,&quot;type&quot;:&quot;text&quot;}"/>
          <p:cNvSpPr txBox="1"/>
          <p:nvPr/>
        </p:nvSpPr>
        <p:spPr>
          <a:xfrm rot="0" flipH="0" flipV="0">
            <a:off x="3152775" y="1381125"/>
            <a:ext cx="1704975" cy="152400"/>
          </a:xfrm>
          <a:prstGeom prst="rect"/>
        </p:spPr>
        <p:txBody>
          <a:bodyPr wrap="none" lIns="0" tIns="0" rIns="0" bIns="0"/>
          <a:p>
            <a:pPr>
              <a:lnSpc>
                <a:spcPct val="100000"/>
              </a:lnSpc>
            </a:pPr>
            <a:r>
              <a:rPr lang="en-US" sz="975" b="1">
                <a:solidFill>
                  <a:srgbClr val="0F1423"/>
                </a:solidFill>
                <a:latin typeface="Microsoft YaHei"/>
                <a:ea typeface="Microsoft YaHei"/>
              </a:rPr>
              <a:t xml:space="preserve">DA </a:t>
            </a:r>
            <a:r>
              <a:rPr lang="zh-CN" sz="975" b="1">
                <a:solidFill>
                  <a:srgbClr val="0F1423"/>
                </a:solidFill>
                <a:latin typeface="Microsoft YaHei"/>
                <a:ea typeface="Microsoft YaHei"/>
              </a:rPr>
              <a:t>下探属性</a:t>
            </a:r>
            <a:endParaRPr/>
          </a:p>
        </p:txBody>
      </p:sp>
      <p:sp>
        <p:nvSpPr>
          <p:cNvPr id="1330" name="" descr="{&quot;isTemplate&quot;:true,&quot;type&quot;:&quot;text&quot;}"/>
          <p:cNvSpPr txBox="1"/>
          <p:nvPr/>
        </p:nvSpPr>
        <p:spPr>
          <a:xfrm rot="0" flipH="0" flipV="0">
            <a:off x="2924175" y="1609725"/>
            <a:ext cx="38100" cy="114300"/>
          </a:xfrm>
          <a:prstGeom prst="rect"/>
        </p:spPr>
        <p:txBody>
          <a:bodyPr wrap="none" lIns="0" tIns="0" rIns="0" bIns="0"/>
          <a:p>
            <a:pPr>
              <a:lnSpc>
                <a:spcPct val="100000"/>
              </a:lnSpc>
            </a:pPr>
            <a:r>
              <a:rPr sz="713" b="1">
                <a:solidFill>
                  <a:srgbClr val="E0641E"/>
                </a:solidFill>
                <a:latin typeface="Microsoft YaHei"/>
                <a:ea typeface="Microsoft YaHei"/>
              </a:rPr>
              <a:t>▪</a:t>
            </a:r>
            <a:endParaRPr/>
          </a:p>
        </p:txBody>
      </p:sp>
      <p:sp>
        <p:nvSpPr>
          <p:cNvPr id="1331" name="" descr="{&quot;isTemplate&quot;:true,&quot;type&quot;:&quot;text&quot;}"/>
          <p:cNvSpPr txBox="1"/>
          <p:nvPr/>
        </p:nvSpPr>
        <p:spPr>
          <a:xfrm rot="0" flipH="0" flipV="0">
            <a:off x="3019425" y="1609725"/>
            <a:ext cx="1838325"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逻辑实体逐个展开业务属性、主键、取值域</a:t>
            </a:r>
            <a:endParaRPr/>
          </a:p>
        </p:txBody>
      </p:sp>
      <p:sp>
        <p:nvSpPr>
          <p:cNvPr id="1332" name="" descr="{&quot;isTemplate&quot;:true,&quot;type&quot;:&quot;text&quot;}"/>
          <p:cNvSpPr txBox="1"/>
          <p:nvPr/>
        </p:nvSpPr>
        <p:spPr>
          <a:xfrm rot="0" flipH="0" flipV="0">
            <a:off x="2924175" y="2066925"/>
            <a:ext cx="38100" cy="114300"/>
          </a:xfrm>
          <a:prstGeom prst="rect"/>
        </p:spPr>
        <p:txBody>
          <a:bodyPr wrap="none" lIns="0" tIns="0" rIns="0" bIns="0"/>
          <a:p>
            <a:pPr>
              <a:lnSpc>
                <a:spcPct val="100000"/>
              </a:lnSpc>
            </a:pPr>
            <a:r>
              <a:rPr sz="713" b="1">
                <a:solidFill>
                  <a:srgbClr val="E0641E"/>
                </a:solidFill>
                <a:latin typeface="Microsoft YaHei"/>
                <a:ea typeface="Microsoft YaHei"/>
              </a:rPr>
              <a:t>▪</a:t>
            </a:r>
            <a:endParaRPr/>
          </a:p>
        </p:txBody>
      </p:sp>
      <p:sp>
        <p:nvSpPr>
          <p:cNvPr id="1333" name="" descr="{&quot;isTemplate&quot;:true,&quot;type&quot;:&quot;text&quot;}"/>
          <p:cNvSpPr txBox="1"/>
          <p:nvPr/>
        </p:nvSpPr>
        <p:spPr>
          <a:xfrm rot="0" flipH="0" flipV="0">
            <a:off x="3019425" y="2066925"/>
            <a:ext cx="1838325" cy="171450"/>
          </a:xfrm>
          <a:prstGeom prst="rect"/>
        </p:spPr>
        <p:txBody>
          <a:bodyPr wrap="none" lIns="0" tIns="0" rIns="0" bIns="0"/>
          <a:p>
            <a:pPr>
              <a:lnSpc>
                <a:spcPct val="135000"/>
              </a:lnSpc>
            </a:pPr>
            <a:r>
              <a:rPr lang="zh-CN" sz="788">
                <a:solidFill>
                  <a:srgbClr val="3A4050"/>
                </a:solidFill>
                <a:latin typeface="Microsoft YaHei"/>
                <a:ea typeface="Microsoft YaHei"/>
              </a:rPr>
              <a:t>每个属性标数据标准与代码标准引用</a:t>
            </a:r>
            <a:endParaRPr/>
          </a:p>
        </p:txBody>
      </p:sp>
      <p:sp>
        <p:nvSpPr>
          <p:cNvPr id="1334" name="" descr="{&quot;isTemplate&quot;:true,&quot;type&quot;:&quot;text&quot;}"/>
          <p:cNvSpPr txBox="1"/>
          <p:nvPr/>
        </p:nvSpPr>
        <p:spPr>
          <a:xfrm rot="0" flipH="0" flipV="0">
            <a:off x="2924175" y="2371725"/>
            <a:ext cx="38100" cy="114300"/>
          </a:xfrm>
          <a:prstGeom prst="rect"/>
        </p:spPr>
        <p:txBody>
          <a:bodyPr wrap="none" lIns="0" tIns="0" rIns="0" bIns="0"/>
          <a:p>
            <a:pPr>
              <a:lnSpc>
                <a:spcPct val="100000"/>
              </a:lnSpc>
            </a:pPr>
            <a:r>
              <a:rPr sz="713" b="1">
                <a:solidFill>
                  <a:srgbClr val="E0641E"/>
                </a:solidFill>
                <a:latin typeface="Microsoft YaHei"/>
                <a:ea typeface="Microsoft YaHei"/>
              </a:rPr>
              <a:t>▪</a:t>
            </a:r>
            <a:endParaRPr/>
          </a:p>
        </p:txBody>
      </p:sp>
      <p:sp>
        <p:nvSpPr>
          <p:cNvPr id="1335" name="" descr="{&quot;isTemplate&quot;:true,&quot;type&quot;:&quot;text&quot;}"/>
          <p:cNvSpPr txBox="1"/>
          <p:nvPr/>
        </p:nvSpPr>
        <p:spPr>
          <a:xfrm rot="0" flipH="0" flipV="0">
            <a:off x="3019425" y="2371725"/>
            <a:ext cx="1838325"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向上标与</a:t>
            </a:r>
            <a:r>
              <a:rPr lang="en-US" sz="788">
                <a:solidFill>
                  <a:srgbClr val="3A4050"/>
                </a:solidFill>
                <a:latin typeface="Microsoft YaHei"/>
                <a:ea typeface="Microsoft YaHei"/>
              </a:rPr>
              <a:t xml:space="preserve"> BA </a:t>
            </a:r>
            <a:r>
              <a:rPr lang="zh-CN" sz="788">
                <a:solidFill>
                  <a:srgbClr val="3A4050"/>
                </a:solidFill>
                <a:latin typeface="Microsoft YaHei"/>
                <a:ea typeface="Microsoft YaHei"/>
              </a:rPr>
              <a:t>的信息链、向下标与</a:t>
            </a:r>
            <a:r>
              <a:rPr lang="en-US" sz="788">
                <a:solidFill>
                  <a:srgbClr val="3A4050"/>
                </a:solidFill>
                <a:latin typeface="Microsoft YaHei"/>
                <a:ea typeface="Microsoft YaHei"/>
              </a:rPr>
              <a:t xml:space="preserve"> AA </a:t>
            </a:r>
            <a:r>
              <a:rPr lang="zh-CN" sz="788">
                <a:solidFill>
                  <a:srgbClr val="3A4050"/>
                </a:solidFill>
                <a:latin typeface="Microsoft YaHei"/>
                <a:ea typeface="Microsoft YaHei"/>
              </a:rPr>
              <a:t>的数据流向</a:t>
            </a:r>
            <a:endParaRPr/>
          </a:p>
        </p:txBody>
      </p:sp>
      <p:sp>
        <p:nvSpPr>
          <p:cNvPr id="1336" name=""/>
          <p:cNvSpPr/>
          <p:nvPr/>
        </p:nvSpPr>
        <p:spPr>
          <a:xfrm rot="0" flipH="0" flipV="0">
            <a:off x="2924175" y="2771775"/>
            <a:ext cx="1933575" cy="266700"/>
          </a:xfrm>
          <a:prstGeom prst="roundRect">
            <a:avLst>
              <a:gd name="adj" fmla="val 10714"/>
            </a:avLst>
          </a:prstGeom>
          <a:solidFill>
            <a:srgbClr val="E0641E"/>
          </a:solidFill>
          <a:ln/>
        </p:spPr>
        <p:txBody>
          <a:bodyPr/>
          <a:p/>
        </p:txBody>
      </p:sp>
      <p:sp>
        <p:nvSpPr>
          <p:cNvPr id="1337" name="" descr="{&quot;isTemplate&quot;:true,&quot;type&quot;:&quot;text&quot;}"/>
          <p:cNvSpPr txBox="1"/>
          <p:nvPr/>
        </p:nvSpPr>
        <p:spPr>
          <a:xfrm rot="0" flipH="0" flipV="0">
            <a:off x="3019425" y="2847975"/>
            <a:ext cx="1743075" cy="123825"/>
          </a:xfrm>
          <a:prstGeom prst="rect"/>
        </p:spPr>
        <p:txBody>
          <a:bodyPr wrap="none" lIns="0" tIns="0" rIns="0" bIns="0"/>
          <a:p>
            <a:pPr>
              <a:lnSpc>
                <a:spcPct val="100000"/>
              </a:lnSpc>
            </a:pPr>
            <a:r>
              <a:rPr lang="zh-CN" sz="788" b="1">
                <a:solidFill>
                  <a:srgbClr val="FFFFFF"/>
                </a:solidFill>
                <a:latin typeface="Microsoft YaHei"/>
                <a:ea typeface="Microsoft YaHei"/>
              </a:rPr>
              <a:t>逻辑实体属性设计</a:t>
            </a:r>
            <a:endParaRPr/>
          </a:p>
        </p:txBody>
      </p:sp>
      <p:sp>
        <p:nvSpPr>
          <p:cNvPr id="1338" name=""/>
          <p:cNvSpPr/>
          <p:nvPr/>
        </p:nvSpPr>
        <p:spPr>
          <a:xfrm rot="0" flipH="0" flipV="0">
            <a:off x="5019675" y="1276350"/>
            <a:ext cx="2152650" cy="1885950"/>
          </a:xfrm>
          <a:prstGeom prst="roundRect">
            <a:avLst>
              <a:gd name="adj" fmla="val 2020"/>
            </a:avLst>
          </a:prstGeom>
          <a:solidFill>
            <a:srgbClr val="F7F7F8"/>
          </a:solidFill>
          <a:ln/>
        </p:spPr>
        <p:txBody>
          <a:bodyPr/>
          <a:p/>
        </p:txBody>
      </p:sp>
      <p:sp>
        <p:nvSpPr>
          <p:cNvPr id="1339" name=""/>
          <p:cNvSpPr/>
          <p:nvPr/>
        </p:nvSpPr>
        <p:spPr>
          <a:xfrm rot="0" flipH="0" flipV="0">
            <a:off x="5019675" y="1276350"/>
            <a:ext cx="2152650" cy="1885950"/>
          </a:xfrm>
          <a:custGeom>
            <a:pathLst>
              <a:path w="226" h="198">
                <a:moveTo>
                  <a:pt x="222" y="0"/>
                </a:moveTo>
                <a:cubicBezTo>
                  <a:pt x="224" y="0"/>
                  <a:pt x="226" y="2"/>
                  <a:pt x="226" y="4"/>
                </a:cubicBezTo>
                <a:cubicBezTo>
                  <a:pt x="226" y="3"/>
                  <a:pt x="225" y="3"/>
                  <a:pt x="225" y="3"/>
                </a:cubicBezTo>
                <a:lnTo>
                  <a:pt x="1" y="3"/>
                </a:lnTo>
                <a:cubicBezTo>
                  <a:pt x="1" y="3"/>
                  <a:pt x="0" y="3"/>
                  <a:pt x="0" y="4"/>
                </a:cubicBezTo>
                <a:cubicBezTo>
                  <a:pt x="0" y="2"/>
                  <a:pt x="2" y="0"/>
                  <a:pt x="4" y="0"/>
                </a:cubicBezTo>
                <a:lnTo>
                  <a:pt x="222" y="0"/>
                </a:lnTo>
                <a:close/>
              </a:path>
            </a:pathLst>
          </a:custGeom>
          <a:solidFill>
            <a:srgbClr val="C43A17"/>
          </a:solidFill>
          <a:ln/>
        </p:spPr>
        <p:txBody>
          <a:bodyPr/>
          <a:p/>
        </p:txBody>
      </p:sp>
      <p:sp>
        <p:nvSpPr>
          <p:cNvPr id="1340" name="" descr="{&quot;isTemplate&quot;:true,&quot;type&quot;:&quot;text&quot;}"/>
          <p:cNvSpPr txBox="1"/>
          <p:nvPr/>
        </p:nvSpPr>
        <p:spPr>
          <a:xfrm rot="0" flipH="0" flipV="0">
            <a:off x="5124450" y="1371600"/>
            <a:ext cx="171450" cy="161925"/>
          </a:xfrm>
          <a:prstGeom prst="rect"/>
        </p:spPr>
        <p:txBody>
          <a:bodyPr wrap="none" lIns="0" tIns="0" rIns="0" bIns="0"/>
          <a:p>
            <a:pPr>
              <a:lnSpc>
                <a:spcPct val="100000"/>
              </a:lnSpc>
            </a:pPr>
            <a:r>
              <a:rPr lang="en-US" sz="1050" b="1">
                <a:solidFill>
                  <a:srgbClr val="C43A17"/>
                </a:solidFill>
                <a:latin typeface="Microsoft YaHei"/>
                <a:ea typeface="Microsoft YaHei"/>
              </a:rPr>
              <a:t>03</a:t>
            </a:r>
            <a:endParaRPr/>
          </a:p>
        </p:txBody>
      </p:sp>
      <p:sp>
        <p:nvSpPr>
          <p:cNvPr id="1341" name="" descr="{&quot;isTemplate&quot;:true,&quot;type&quot;:&quot;text&quot;}"/>
          <p:cNvSpPr txBox="1"/>
          <p:nvPr/>
        </p:nvSpPr>
        <p:spPr>
          <a:xfrm rot="0" flipH="0" flipV="0">
            <a:off x="5353050" y="1381125"/>
            <a:ext cx="1714500" cy="152400"/>
          </a:xfrm>
          <a:prstGeom prst="rect"/>
        </p:spPr>
        <p:txBody>
          <a:bodyPr wrap="none" lIns="0" tIns="0" rIns="0" bIns="0"/>
          <a:p>
            <a:pPr>
              <a:lnSpc>
                <a:spcPct val="100000"/>
              </a:lnSpc>
            </a:pPr>
            <a:r>
              <a:rPr lang="en-US" sz="975" b="1">
                <a:solidFill>
                  <a:srgbClr val="0F1423"/>
                </a:solidFill>
                <a:latin typeface="Microsoft YaHei"/>
                <a:ea typeface="Microsoft YaHei"/>
              </a:rPr>
              <a:t xml:space="preserve">AA </a:t>
            </a:r>
            <a:r>
              <a:rPr lang="zh-CN" sz="975" b="1">
                <a:solidFill>
                  <a:srgbClr val="0F1423"/>
                </a:solidFill>
                <a:latin typeface="Microsoft YaHei"/>
                <a:ea typeface="Microsoft YaHei"/>
              </a:rPr>
              <a:t>下探服务</a:t>
            </a:r>
            <a:endParaRPr/>
          </a:p>
        </p:txBody>
      </p:sp>
      <p:sp>
        <p:nvSpPr>
          <p:cNvPr id="1342" name="" descr="{&quot;isTemplate&quot;:true,&quot;type&quot;:&quot;text&quot;}"/>
          <p:cNvSpPr txBox="1"/>
          <p:nvPr/>
        </p:nvSpPr>
        <p:spPr>
          <a:xfrm rot="0" flipH="0" flipV="0">
            <a:off x="5124450" y="1609725"/>
            <a:ext cx="38100" cy="114300"/>
          </a:xfrm>
          <a:prstGeom prst="rect"/>
        </p:spPr>
        <p:txBody>
          <a:bodyPr wrap="none" lIns="0" tIns="0" rIns="0" bIns="0"/>
          <a:p>
            <a:pPr>
              <a:lnSpc>
                <a:spcPct val="100000"/>
              </a:lnSpc>
            </a:pPr>
            <a:r>
              <a:rPr sz="713" b="1">
                <a:solidFill>
                  <a:srgbClr val="C43A17"/>
                </a:solidFill>
                <a:latin typeface="Microsoft YaHei"/>
                <a:ea typeface="Microsoft YaHei"/>
              </a:rPr>
              <a:t>▪</a:t>
            </a:r>
            <a:endParaRPr/>
          </a:p>
        </p:txBody>
      </p:sp>
      <p:sp>
        <p:nvSpPr>
          <p:cNvPr id="1343" name="" descr="{&quot;isTemplate&quot;:true,&quot;type&quot;:&quot;text&quot;}"/>
          <p:cNvSpPr txBox="1"/>
          <p:nvPr/>
        </p:nvSpPr>
        <p:spPr>
          <a:xfrm rot="0" flipH="0" flipV="0">
            <a:off x="5219700" y="1609725"/>
            <a:ext cx="18478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功能模块</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应用服务</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应用特性</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子特性</a:t>
            </a:r>
            <a:endParaRPr/>
          </a:p>
        </p:txBody>
      </p:sp>
      <p:sp>
        <p:nvSpPr>
          <p:cNvPr id="1344" name="" descr="{&quot;isTemplate&quot;:true,&quot;type&quot;:&quot;text&quot;}"/>
          <p:cNvSpPr txBox="1"/>
          <p:nvPr/>
        </p:nvSpPr>
        <p:spPr>
          <a:xfrm rot="0" flipH="0" flipV="0">
            <a:off x="5124450" y="2124075"/>
            <a:ext cx="38100" cy="114300"/>
          </a:xfrm>
          <a:prstGeom prst="rect"/>
        </p:spPr>
        <p:txBody>
          <a:bodyPr wrap="none" lIns="0" tIns="0" rIns="0" bIns="0"/>
          <a:p>
            <a:pPr>
              <a:lnSpc>
                <a:spcPct val="100000"/>
              </a:lnSpc>
            </a:pPr>
            <a:r>
              <a:rPr sz="713" b="1">
                <a:solidFill>
                  <a:srgbClr val="C43A17"/>
                </a:solidFill>
                <a:latin typeface="Microsoft YaHei"/>
                <a:ea typeface="Microsoft YaHei"/>
              </a:rPr>
              <a:t>▪</a:t>
            </a:r>
            <a:endParaRPr/>
          </a:p>
        </p:txBody>
      </p:sp>
      <p:sp>
        <p:nvSpPr>
          <p:cNvPr id="1345" name="" descr="{&quot;isTemplate&quot;:true,&quot;type&quot;:&quot;text&quot;}"/>
          <p:cNvSpPr txBox="1"/>
          <p:nvPr/>
        </p:nvSpPr>
        <p:spPr>
          <a:xfrm rot="0" flipH="0" flipV="0">
            <a:off x="5219700" y="2124075"/>
            <a:ext cx="1847850" cy="171450"/>
          </a:xfrm>
          <a:prstGeom prst="rect"/>
        </p:spPr>
        <p:txBody>
          <a:bodyPr wrap="none" lIns="0" tIns="0" rIns="0" bIns="0"/>
          <a:p>
            <a:pPr>
              <a:lnSpc>
                <a:spcPct val="135000"/>
              </a:lnSpc>
            </a:pPr>
            <a:r>
              <a:rPr lang="zh-CN" sz="788">
                <a:solidFill>
                  <a:srgbClr val="3A4050"/>
                </a:solidFill>
                <a:latin typeface="Microsoft YaHei"/>
                <a:ea typeface="Microsoft YaHei"/>
              </a:rPr>
              <a:t>每个特性标注对应的应用模块与集成接口</a:t>
            </a:r>
            <a:endParaRPr/>
          </a:p>
        </p:txBody>
      </p:sp>
      <p:sp>
        <p:nvSpPr>
          <p:cNvPr id="1346" name="" descr="{&quot;isTemplate&quot;:true,&quot;type&quot;:&quot;text&quot;}"/>
          <p:cNvSpPr txBox="1"/>
          <p:nvPr/>
        </p:nvSpPr>
        <p:spPr>
          <a:xfrm rot="0" flipH="0" flipV="0">
            <a:off x="5124450" y="2476500"/>
            <a:ext cx="38100" cy="114300"/>
          </a:xfrm>
          <a:prstGeom prst="rect"/>
        </p:spPr>
        <p:txBody>
          <a:bodyPr wrap="none" lIns="0" tIns="0" rIns="0" bIns="0"/>
          <a:p>
            <a:pPr>
              <a:lnSpc>
                <a:spcPct val="100000"/>
              </a:lnSpc>
            </a:pPr>
            <a:r>
              <a:rPr sz="713" b="1">
                <a:solidFill>
                  <a:srgbClr val="C43A17"/>
                </a:solidFill>
                <a:latin typeface="Microsoft YaHei"/>
                <a:ea typeface="Microsoft YaHei"/>
              </a:rPr>
              <a:t>▪</a:t>
            </a:r>
            <a:endParaRPr/>
          </a:p>
        </p:txBody>
      </p:sp>
      <p:sp>
        <p:nvSpPr>
          <p:cNvPr id="1347" name="" descr="{&quot;isTemplate&quot;:true,&quot;type&quot;:&quot;text&quot;}"/>
          <p:cNvSpPr txBox="1"/>
          <p:nvPr/>
        </p:nvSpPr>
        <p:spPr>
          <a:xfrm rot="0" flipH="0" flipV="0">
            <a:off x="5219700" y="2476500"/>
            <a:ext cx="1847850" cy="171450"/>
          </a:xfrm>
          <a:prstGeom prst="rect"/>
        </p:spPr>
        <p:txBody>
          <a:bodyPr wrap="none" lIns="0" tIns="0" rIns="0" bIns="0"/>
          <a:p>
            <a:pPr>
              <a:lnSpc>
                <a:spcPct val="135000"/>
              </a:lnSpc>
            </a:pPr>
            <a:r>
              <a:rPr lang="zh-CN" sz="788">
                <a:solidFill>
                  <a:srgbClr val="3A4050"/>
                </a:solidFill>
                <a:latin typeface="Microsoft YaHei"/>
                <a:ea typeface="Microsoft YaHei"/>
              </a:rPr>
              <a:t>技术选型在服务层定，不下到代码设计</a:t>
            </a:r>
            <a:endParaRPr/>
          </a:p>
        </p:txBody>
      </p:sp>
      <p:sp>
        <p:nvSpPr>
          <p:cNvPr id="1348" name=""/>
          <p:cNvSpPr/>
          <p:nvPr/>
        </p:nvSpPr>
        <p:spPr>
          <a:xfrm rot="0" flipH="0" flipV="0">
            <a:off x="5124450" y="2771775"/>
            <a:ext cx="1943100" cy="266700"/>
          </a:xfrm>
          <a:prstGeom prst="roundRect">
            <a:avLst>
              <a:gd name="adj" fmla="val 10714"/>
            </a:avLst>
          </a:prstGeom>
          <a:solidFill>
            <a:srgbClr val="C43A17"/>
          </a:solidFill>
          <a:ln/>
        </p:spPr>
        <p:txBody>
          <a:bodyPr/>
          <a:p/>
        </p:txBody>
      </p:sp>
      <p:sp>
        <p:nvSpPr>
          <p:cNvPr id="1349" name="" descr="{&quot;isTemplate&quot;:true,&quot;type&quot;:&quot;text&quot;}"/>
          <p:cNvSpPr txBox="1"/>
          <p:nvPr/>
        </p:nvSpPr>
        <p:spPr>
          <a:xfrm rot="0" flipH="0" flipV="0">
            <a:off x="5219700" y="2847975"/>
            <a:ext cx="1752600" cy="123825"/>
          </a:xfrm>
          <a:prstGeom prst="rect"/>
        </p:spPr>
        <p:txBody>
          <a:bodyPr wrap="none" lIns="0" tIns="0" rIns="0" bIns="0"/>
          <a:p>
            <a:pPr>
              <a:lnSpc>
                <a:spcPct val="100000"/>
              </a:lnSpc>
            </a:pPr>
            <a:r>
              <a:rPr lang="zh-CN" sz="788" b="1">
                <a:solidFill>
                  <a:srgbClr val="FFFFFF"/>
                </a:solidFill>
                <a:latin typeface="Microsoft YaHei"/>
                <a:ea typeface="Microsoft YaHei"/>
              </a:rPr>
              <a:t>应用服务</a:t>
            </a:r>
            <a:r>
              <a:rPr lang="en-US" sz="788" b="1">
                <a:solidFill>
                  <a:srgbClr val="FFFFFF"/>
                </a:solidFill>
                <a:latin typeface="Microsoft YaHei"/>
                <a:ea typeface="Microsoft YaHei"/>
              </a:rPr>
              <a:t>/</a:t>
            </a:r>
            <a:r>
              <a:rPr lang="zh-CN" sz="788" b="1">
                <a:solidFill>
                  <a:srgbClr val="FFFFFF"/>
                </a:solidFill>
                <a:latin typeface="Microsoft YaHei"/>
                <a:ea typeface="Microsoft YaHei"/>
              </a:rPr>
              <a:t>特性</a:t>
            </a:r>
            <a:r>
              <a:rPr lang="en-US" sz="788" b="1">
                <a:solidFill>
                  <a:srgbClr val="FFFFFF"/>
                </a:solidFill>
                <a:latin typeface="Microsoft YaHei"/>
                <a:ea typeface="Microsoft YaHei"/>
              </a:rPr>
              <a:t>/</a:t>
            </a:r>
            <a:r>
              <a:rPr lang="zh-CN" sz="788" b="1">
                <a:solidFill>
                  <a:srgbClr val="FFFFFF"/>
                </a:solidFill>
                <a:latin typeface="Microsoft YaHei"/>
                <a:ea typeface="Microsoft YaHei"/>
              </a:rPr>
              <a:t>子特性</a:t>
            </a:r>
            <a:endParaRPr/>
          </a:p>
        </p:txBody>
      </p:sp>
      <p:sp>
        <p:nvSpPr>
          <p:cNvPr id="1350" name=""/>
          <p:cNvSpPr/>
          <p:nvPr/>
        </p:nvSpPr>
        <p:spPr>
          <a:xfrm rot="0" flipH="0" flipV="0">
            <a:off x="7229475" y="1276350"/>
            <a:ext cx="2143125" cy="1885950"/>
          </a:xfrm>
          <a:prstGeom prst="roundRect">
            <a:avLst>
              <a:gd name="adj" fmla="val 2020"/>
            </a:avLst>
          </a:prstGeom>
          <a:solidFill>
            <a:srgbClr val="F7F7F8"/>
          </a:solidFill>
          <a:ln/>
        </p:spPr>
        <p:txBody>
          <a:bodyPr/>
          <a:p/>
        </p:txBody>
      </p:sp>
      <p:sp>
        <p:nvSpPr>
          <p:cNvPr id="1351" name=""/>
          <p:cNvSpPr/>
          <p:nvPr/>
        </p:nvSpPr>
        <p:spPr>
          <a:xfrm rot="0" flipH="0" flipV="0">
            <a:off x="7229475" y="1276350"/>
            <a:ext cx="2143125" cy="1885950"/>
          </a:xfrm>
          <a:custGeom>
            <a:pathLst>
              <a:path w="225" h="198">
                <a:moveTo>
                  <a:pt x="221" y="0"/>
                </a:moveTo>
                <a:cubicBezTo>
                  <a:pt x="223" y="0"/>
                  <a:pt x="225" y="2"/>
                  <a:pt x="225" y="4"/>
                </a:cubicBezTo>
                <a:cubicBezTo>
                  <a:pt x="225" y="3"/>
                  <a:pt x="224" y="3"/>
                  <a:pt x="224" y="3"/>
                </a:cubicBezTo>
                <a:lnTo>
                  <a:pt x="1" y="3"/>
                </a:lnTo>
                <a:cubicBezTo>
                  <a:pt x="1" y="3"/>
                  <a:pt x="0" y="3"/>
                  <a:pt x="0" y="4"/>
                </a:cubicBezTo>
                <a:cubicBezTo>
                  <a:pt x="0" y="2"/>
                  <a:pt x="2" y="0"/>
                  <a:pt x="4" y="0"/>
                </a:cubicBezTo>
                <a:lnTo>
                  <a:pt x="221" y="0"/>
                </a:lnTo>
                <a:close/>
              </a:path>
            </a:pathLst>
          </a:custGeom>
          <a:solidFill>
            <a:srgbClr val="9E3410"/>
          </a:solidFill>
          <a:ln/>
        </p:spPr>
        <p:txBody>
          <a:bodyPr/>
          <a:p/>
        </p:txBody>
      </p:sp>
      <p:sp>
        <p:nvSpPr>
          <p:cNvPr id="1352" name="" descr="{&quot;isTemplate&quot;:true,&quot;type&quot;:&quot;text&quot;}"/>
          <p:cNvSpPr txBox="1"/>
          <p:nvPr/>
        </p:nvSpPr>
        <p:spPr>
          <a:xfrm rot="0" flipH="0" flipV="0">
            <a:off x="7334250" y="1371600"/>
            <a:ext cx="171450" cy="161925"/>
          </a:xfrm>
          <a:prstGeom prst="rect"/>
        </p:spPr>
        <p:txBody>
          <a:bodyPr wrap="none" lIns="0" tIns="0" rIns="0" bIns="0"/>
          <a:p>
            <a:pPr>
              <a:lnSpc>
                <a:spcPct val="100000"/>
              </a:lnSpc>
            </a:pPr>
            <a:r>
              <a:rPr lang="en-US" sz="1050" b="1">
                <a:solidFill>
                  <a:srgbClr val="9E3410"/>
                </a:solidFill>
                <a:latin typeface="Microsoft YaHei"/>
                <a:ea typeface="Microsoft YaHei"/>
              </a:rPr>
              <a:t>04</a:t>
            </a:r>
            <a:endParaRPr/>
          </a:p>
        </p:txBody>
      </p:sp>
      <p:sp>
        <p:nvSpPr>
          <p:cNvPr id="1353" name="" descr="{&quot;isTemplate&quot;:true,&quot;type&quot;:&quot;text&quot;}"/>
          <p:cNvSpPr txBox="1"/>
          <p:nvPr/>
        </p:nvSpPr>
        <p:spPr>
          <a:xfrm rot="0" flipH="0" flipV="0">
            <a:off x="7562850" y="1381125"/>
            <a:ext cx="1704975" cy="152400"/>
          </a:xfrm>
          <a:prstGeom prst="rect"/>
        </p:spPr>
        <p:txBody>
          <a:bodyPr wrap="none" lIns="0" tIns="0" rIns="0" bIns="0"/>
          <a:p>
            <a:pPr>
              <a:lnSpc>
                <a:spcPct val="100000"/>
              </a:lnSpc>
            </a:pPr>
            <a:r>
              <a:rPr lang="en-US" sz="975" b="1">
                <a:solidFill>
                  <a:srgbClr val="0F1423"/>
                </a:solidFill>
                <a:latin typeface="Microsoft YaHei"/>
                <a:ea typeface="Microsoft YaHei"/>
              </a:rPr>
              <a:t xml:space="preserve">AI </a:t>
            </a:r>
            <a:r>
              <a:rPr lang="zh-CN" sz="975" b="1">
                <a:solidFill>
                  <a:srgbClr val="0F1423"/>
                </a:solidFill>
                <a:latin typeface="Microsoft YaHei"/>
                <a:ea typeface="Microsoft YaHei"/>
              </a:rPr>
              <a:t>场景细化</a:t>
            </a:r>
            <a:endParaRPr/>
          </a:p>
        </p:txBody>
      </p:sp>
      <p:sp>
        <p:nvSpPr>
          <p:cNvPr id="1354" name="" descr="{&quot;isTemplate&quot;:true,&quot;type&quot;:&quot;text&quot;}"/>
          <p:cNvSpPr txBox="1"/>
          <p:nvPr/>
        </p:nvSpPr>
        <p:spPr>
          <a:xfrm rot="0" flipH="0" flipV="0">
            <a:off x="7334250" y="1609725"/>
            <a:ext cx="38100" cy="114300"/>
          </a:xfrm>
          <a:prstGeom prst="rect"/>
        </p:spPr>
        <p:txBody>
          <a:bodyPr wrap="none" lIns="0" tIns="0" rIns="0" bIns="0"/>
          <a:p>
            <a:pPr>
              <a:lnSpc>
                <a:spcPct val="100000"/>
              </a:lnSpc>
            </a:pPr>
            <a:r>
              <a:rPr sz="713" b="1">
                <a:solidFill>
                  <a:srgbClr val="9E3410"/>
                </a:solidFill>
                <a:latin typeface="Microsoft YaHei"/>
                <a:ea typeface="Microsoft YaHei"/>
              </a:rPr>
              <a:t>▪</a:t>
            </a:r>
            <a:endParaRPr/>
          </a:p>
        </p:txBody>
      </p:sp>
      <p:sp>
        <p:nvSpPr>
          <p:cNvPr id="1355" name="" descr="{&quot;isTemplate&quot;:true,&quot;type&quot;:&quot;text&quot;}"/>
          <p:cNvSpPr txBox="1"/>
          <p:nvPr/>
        </p:nvSpPr>
        <p:spPr>
          <a:xfrm rot="0" flipH="0" flipV="0">
            <a:off x="7429500" y="1609725"/>
            <a:ext cx="1838325"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场景目标、业务价值、输入数据、知识来源</a:t>
            </a:r>
            <a:endParaRPr/>
          </a:p>
        </p:txBody>
      </p:sp>
      <p:sp>
        <p:nvSpPr>
          <p:cNvPr id="1356" name="" descr="{&quot;isTemplate&quot;:true,&quot;type&quot;:&quot;text&quot;}"/>
          <p:cNvSpPr txBox="1"/>
          <p:nvPr/>
        </p:nvSpPr>
        <p:spPr>
          <a:xfrm rot="0" flipH="0" flipV="0">
            <a:off x="7334250" y="2124075"/>
            <a:ext cx="38100" cy="114300"/>
          </a:xfrm>
          <a:prstGeom prst="rect"/>
        </p:spPr>
        <p:txBody>
          <a:bodyPr wrap="none" lIns="0" tIns="0" rIns="0" bIns="0"/>
          <a:p>
            <a:pPr>
              <a:lnSpc>
                <a:spcPct val="100000"/>
              </a:lnSpc>
            </a:pPr>
            <a:r>
              <a:rPr sz="713" b="1">
                <a:solidFill>
                  <a:srgbClr val="9E3410"/>
                </a:solidFill>
                <a:latin typeface="Microsoft YaHei"/>
                <a:ea typeface="Microsoft YaHei"/>
              </a:rPr>
              <a:t>▪</a:t>
            </a:r>
            <a:endParaRPr/>
          </a:p>
        </p:txBody>
      </p:sp>
      <p:sp>
        <p:nvSpPr>
          <p:cNvPr id="1357" name="" descr="{&quot;isTemplate&quot;:true,&quot;type&quot;:&quot;text&quot;}"/>
          <p:cNvSpPr txBox="1"/>
          <p:nvPr/>
        </p:nvSpPr>
        <p:spPr>
          <a:xfrm rot="0" flipH="0" flipV="0">
            <a:off x="7429500" y="2124075"/>
            <a:ext cx="1838325" cy="171450"/>
          </a:xfrm>
          <a:prstGeom prst="rect"/>
        </p:spPr>
        <p:txBody>
          <a:bodyPr wrap="none" lIns="0" tIns="0" rIns="0" bIns="0"/>
          <a:p>
            <a:pPr>
              <a:lnSpc>
                <a:spcPct val="135000"/>
              </a:lnSpc>
            </a:pPr>
            <a:r>
              <a:rPr lang="zh-CN" sz="788">
                <a:solidFill>
                  <a:srgbClr val="3A4050"/>
                </a:solidFill>
                <a:latin typeface="Microsoft YaHei"/>
                <a:ea typeface="Microsoft YaHei"/>
              </a:rPr>
              <a:t>智能体职责边界与人机协同方式</a:t>
            </a:r>
            <a:endParaRPr/>
          </a:p>
        </p:txBody>
      </p:sp>
      <p:sp>
        <p:nvSpPr>
          <p:cNvPr id="1358" name="" descr="{&quot;isTemplate&quot;:true,&quot;type&quot;:&quot;text&quot;}"/>
          <p:cNvSpPr txBox="1"/>
          <p:nvPr/>
        </p:nvSpPr>
        <p:spPr>
          <a:xfrm rot="0" flipH="0" flipV="0">
            <a:off x="7334250" y="2476500"/>
            <a:ext cx="38100" cy="114300"/>
          </a:xfrm>
          <a:prstGeom prst="rect"/>
        </p:spPr>
        <p:txBody>
          <a:bodyPr wrap="none" lIns="0" tIns="0" rIns="0" bIns="0"/>
          <a:p>
            <a:pPr>
              <a:lnSpc>
                <a:spcPct val="100000"/>
              </a:lnSpc>
            </a:pPr>
            <a:r>
              <a:rPr sz="713" b="1">
                <a:solidFill>
                  <a:srgbClr val="9E3410"/>
                </a:solidFill>
                <a:latin typeface="Microsoft YaHei"/>
                <a:ea typeface="Microsoft YaHei"/>
              </a:rPr>
              <a:t>▪</a:t>
            </a:r>
            <a:endParaRPr/>
          </a:p>
        </p:txBody>
      </p:sp>
      <p:sp>
        <p:nvSpPr>
          <p:cNvPr id="1359" name="" descr="{&quot;isTemplate&quot;:true,&quot;type&quot;:&quot;text&quot;}"/>
          <p:cNvSpPr txBox="1"/>
          <p:nvPr/>
        </p:nvSpPr>
        <p:spPr>
          <a:xfrm rot="0" flipH="0" flipV="0">
            <a:off x="7429500" y="2476500"/>
            <a:ext cx="1838325" cy="171450"/>
          </a:xfrm>
          <a:prstGeom prst="rect"/>
        </p:spPr>
        <p:txBody>
          <a:bodyPr wrap="none" lIns="0" tIns="0" rIns="0" bIns="0"/>
          <a:p>
            <a:pPr>
              <a:lnSpc>
                <a:spcPct val="135000"/>
              </a:lnSpc>
            </a:pPr>
            <a:r>
              <a:rPr lang="zh-CN" sz="788">
                <a:solidFill>
                  <a:srgbClr val="3A4050"/>
                </a:solidFill>
                <a:latin typeface="Microsoft YaHei"/>
                <a:ea typeface="Microsoft YaHei"/>
              </a:rPr>
              <a:t>效果评估指标（必须可测）</a:t>
            </a:r>
            <a:endParaRPr/>
          </a:p>
        </p:txBody>
      </p:sp>
      <p:sp>
        <p:nvSpPr>
          <p:cNvPr id="1360" name=""/>
          <p:cNvSpPr/>
          <p:nvPr/>
        </p:nvSpPr>
        <p:spPr>
          <a:xfrm rot="0" flipH="0" flipV="0">
            <a:off x="7334250" y="2771775"/>
            <a:ext cx="1933575" cy="266700"/>
          </a:xfrm>
          <a:prstGeom prst="roundRect">
            <a:avLst>
              <a:gd name="adj" fmla="val 10714"/>
            </a:avLst>
          </a:prstGeom>
          <a:solidFill>
            <a:srgbClr val="9E3410"/>
          </a:solidFill>
          <a:ln/>
        </p:spPr>
        <p:txBody>
          <a:bodyPr/>
          <a:p/>
        </p:txBody>
      </p:sp>
      <p:sp>
        <p:nvSpPr>
          <p:cNvPr id="1361" name="" descr="{&quot;isTemplate&quot;:true,&quot;type&quot;:&quot;text&quot;}"/>
          <p:cNvSpPr txBox="1"/>
          <p:nvPr/>
        </p:nvSpPr>
        <p:spPr>
          <a:xfrm rot="0" flipH="0" flipV="0">
            <a:off x="7429500" y="2847975"/>
            <a:ext cx="1743075" cy="123825"/>
          </a:xfrm>
          <a:prstGeom prst="rect"/>
        </p:spPr>
        <p:txBody>
          <a:bodyPr wrap="none" lIns="0" tIns="0" rIns="0" bIns="0"/>
          <a:p>
            <a:pPr>
              <a:lnSpc>
                <a:spcPct val="100000"/>
              </a:lnSpc>
            </a:pPr>
            <a:r>
              <a:rPr lang="en-US" sz="788" b="1">
                <a:solidFill>
                  <a:srgbClr val="FFFFFF"/>
                </a:solidFill>
                <a:latin typeface="Microsoft YaHei"/>
                <a:ea typeface="Microsoft YaHei"/>
              </a:rPr>
              <a:t xml:space="preserve">AI </a:t>
            </a:r>
            <a:r>
              <a:rPr lang="zh-CN" sz="788" b="1">
                <a:solidFill>
                  <a:srgbClr val="FFFFFF"/>
                </a:solidFill>
                <a:latin typeface="Microsoft YaHei"/>
                <a:ea typeface="Microsoft YaHei"/>
              </a:rPr>
              <a:t>应用场景清单</a:t>
            </a:r>
            <a:endParaRPr/>
          </a:p>
        </p:txBody>
      </p:sp>
      <p:sp>
        <p:nvSpPr>
          <p:cNvPr id="1362" name=""/>
          <p:cNvSpPr/>
          <p:nvPr/>
        </p:nvSpPr>
        <p:spPr>
          <a:xfrm rot="0" flipH="0" flipV="0">
            <a:off x="9429750" y="1276350"/>
            <a:ext cx="2152650" cy="1885950"/>
          </a:xfrm>
          <a:prstGeom prst="roundRect">
            <a:avLst>
              <a:gd name="adj" fmla="val 2020"/>
            </a:avLst>
          </a:prstGeom>
          <a:solidFill>
            <a:srgbClr val="F7F7F8"/>
          </a:solidFill>
          <a:ln/>
        </p:spPr>
        <p:txBody>
          <a:bodyPr/>
          <a:p/>
        </p:txBody>
      </p:sp>
      <p:sp>
        <p:nvSpPr>
          <p:cNvPr id="1363" name=""/>
          <p:cNvSpPr/>
          <p:nvPr/>
        </p:nvSpPr>
        <p:spPr>
          <a:xfrm rot="0" flipH="0" flipV="0">
            <a:off x="9429750" y="1276350"/>
            <a:ext cx="2152650" cy="1885950"/>
          </a:xfrm>
          <a:custGeom>
            <a:pathLst>
              <a:path w="226" h="198">
                <a:moveTo>
                  <a:pt x="222" y="0"/>
                </a:moveTo>
                <a:cubicBezTo>
                  <a:pt x="224" y="0"/>
                  <a:pt x="226" y="2"/>
                  <a:pt x="226" y="4"/>
                </a:cubicBezTo>
                <a:cubicBezTo>
                  <a:pt x="226" y="3"/>
                  <a:pt x="225" y="3"/>
                  <a:pt x="225" y="3"/>
                </a:cubicBezTo>
                <a:lnTo>
                  <a:pt x="1" y="3"/>
                </a:lnTo>
                <a:cubicBezTo>
                  <a:pt x="1" y="3"/>
                  <a:pt x="0" y="3"/>
                  <a:pt x="0" y="4"/>
                </a:cubicBezTo>
                <a:cubicBezTo>
                  <a:pt x="0" y="2"/>
                  <a:pt x="2" y="0"/>
                  <a:pt x="4" y="0"/>
                </a:cubicBezTo>
                <a:lnTo>
                  <a:pt x="222" y="0"/>
                </a:lnTo>
                <a:close/>
              </a:path>
            </a:pathLst>
          </a:custGeom>
          <a:solidFill>
            <a:srgbClr val="3A4050"/>
          </a:solidFill>
          <a:ln/>
        </p:spPr>
        <p:txBody>
          <a:bodyPr/>
          <a:p/>
        </p:txBody>
      </p:sp>
      <p:sp>
        <p:nvSpPr>
          <p:cNvPr id="1364" name="" descr="{&quot;isTemplate&quot;:true,&quot;type&quot;:&quot;text&quot;}"/>
          <p:cNvSpPr txBox="1"/>
          <p:nvPr/>
        </p:nvSpPr>
        <p:spPr>
          <a:xfrm rot="0" flipH="0" flipV="0">
            <a:off x="9534525" y="1371600"/>
            <a:ext cx="171450" cy="161925"/>
          </a:xfrm>
          <a:prstGeom prst="rect"/>
        </p:spPr>
        <p:txBody>
          <a:bodyPr wrap="none" lIns="0" tIns="0" rIns="0" bIns="0"/>
          <a:p>
            <a:pPr>
              <a:lnSpc>
                <a:spcPct val="100000"/>
              </a:lnSpc>
            </a:pPr>
            <a:r>
              <a:rPr lang="en-US" sz="1050" b="1">
                <a:solidFill>
                  <a:srgbClr val="3A4050"/>
                </a:solidFill>
                <a:latin typeface="Microsoft YaHei"/>
                <a:ea typeface="Microsoft YaHei"/>
              </a:rPr>
              <a:t>05</a:t>
            </a:r>
            <a:endParaRPr/>
          </a:p>
        </p:txBody>
      </p:sp>
      <p:sp>
        <p:nvSpPr>
          <p:cNvPr id="1365" name="" descr="{&quot;isTemplate&quot;:true,&quot;type&quot;:&quot;text&quot;}"/>
          <p:cNvSpPr txBox="1"/>
          <p:nvPr/>
        </p:nvSpPr>
        <p:spPr>
          <a:xfrm rot="0" flipH="0" flipV="0">
            <a:off x="9763125" y="1381125"/>
            <a:ext cx="1714500" cy="152400"/>
          </a:xfrm>
          <a:prstGeom prst="rect"/>
        </p:spPr>
        <p:txBody>
          <a:bodyPr wrap="none" lIns="0" tIns="0" rIns="0" bIns="0"/>
          <a:p>
            <a:pPr>
              <a:lnSpc>
                <a:spcPct val="100000"/>
              </a:lnSpc>
            </a:pPr>
            <a:r>
              <a:rPr lang="zh-CN" sz="975" b="1">
                <a:solidFill>
                  <a:srgbClr val="0F1423"/>
                </a:solidFill>
                <a:latin typeface="Microsoft YaHei"/>
                <a:ea typeface="Microsoft YaHei"/>
              </a:rPr>
              <a:t>编撰与冻结</a:t>
            </a:r>
            <a:endParaRPr/>
          </a:p>
        </p:txBody>
      </p:sp>
      <p:sp>
        <p:nvSpPr>
          <p:cNvPr id="1366" name="" descr="{&quot;isTemplate&quot;:true,&quot;type&quot;:&quot;text&quot;}"/>
          <p:cNvSpPr txBox="1"/>
          <p:nvPr/>
        </p:nvSpPr>
        <p:spPr>
          <a:xfrm rot="0" flipH="0" flipV="0">
            <a:off x="9534525" y="1609725"/>
            <a:ext cx="38100" cy="114300"/>
          </a:xfrm>
          <a:prstGeom prst="rect"/>
        </p:spPr>
        <p:txBody>
          <a:bodyPr wrap="none" lIns="0" tIns="0" rIns="0" bIns="0"/>
          <a:p>
            <a:pPr>
              <a:lnSpc>
                <a:spcPct val="100000"/>
              </a:lnSpc>
            </a:pPr>
            <a:r>
              <a:rPr sz="713" b="1">
                <a:solidFill>
                  <a:srgbClr val="3A4050"/>
                </a:solidFill>
                <a:latin typeface="Microsoft YaHei"/>
                <a:ea typeface="Microsoft YaHei"/>
              </a:rPr>
              <a:t>▪</a:t>
            </a:r>
            <a:endParaRPr/>
          </a:p>
        </p:txBody>
      </p:sp>
      <p:sp>
        <p:nvSpPr>
          <p:cNvPr id="1367" name="" descr="{&quot;isTemplate&quot;:true,&quot;type&quot;:&quot;text&quot;}"/>
          <p:cNvSpPr txBox="1"/>
          <p:nvPr/>
        </p:nvSpPr>
        <p:spPr>
          <a:xfrm rot="0" flipH="0" flipV="0">
            <a:off x="9629775" y="1609725"/>
            <a:ext cx="18478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转化为需求规格说明书：场景</a:t>
            </a:r>
            <a:r>
              <a:rPr lang="en-US" sz="788">
                <a:solidFill>
                  <a:srgbClr val="3A4050"/>
                </a:solidFill>
                <a:latin typeface="Microsoft YaHei"/>
                <a:ea typeface="Microsoft YaHei"/>
              </a:rPr>
              <a:t>/</a:t>
            </a:r>
            <a:r>
              <a:rPr lang="zh-CN" sz="788">
                <a:solidFill>
                  <a:srgbClr val="3A4050"/>
                </a:solidFill>
                <a:latin typeface="Microsoft YaHei"/>
                <a:ea typeface="Microsoft YaHei"/>
              </a:rPr>
              <a:t>角色</a:t>
            </a:r>
            <a:r>
              <a:rPr lang="en-US" sz="788">
                <a:solidFill>
                  <a:srgbClr val="3A4050"/>
                </a:solidFill>
                <a:latin typeface="Microsoft YaHei"/>
                <a:ea typeface="Microsoft YaHei"/>
              </a:rPr>
              <a:t>/</a:t>
            </a:r>
            <a:r>
              <a:rPr lang="zh-CN" sz="788">
                <a:solidFill>
                  <a:srgbClr val="3A4050"/>
                </a:solidFill>
                <a:latin typeface="Microsoft YaHei"/>
                <a:ea typeface="Microsoft YaHei"/>
              </a:rPr>
              <a:t>流程</a:t>
            </a:r>
            <a:r>
              <a:rPr lang="en-US" sz="788">
                <a:solidFill>
                  <a:srgbClr val="3A4050"/>
                </a:solidFill>
                <a:latin typeface="Microsoft YaHei"/>
                <a:ea typeface="Microsoft YaHei"/>
              </a:rPr>
              <a:t>/</a:t>
            </a:r>
            <a:r>
              <a:rPr lang="zh-CN" sz="788">
                <a:solidFill>
                  <a:srgbClr val="3A4050"/>
                </a:solidFill>
                <a:latin typeface="Microsoft YaHei"/>
                <a:ea typeface="Microsoft YaHei"/>
              </a:rPr>
              <a:t>规则</a:t>
            </a:r>
            <a:r>
              <a:rPr lang="en-US" sz="788">
                <a:solidFill>
                  <a:srgbClr val="3A4050"/>
                </a:solidFill>
                <a:latin typeface="Microsoft YaHei"/>
                <a:ea typeface="Microsoft YaHei"/>
              </a:rPr>
              <a:t>/</a:t>
            </a:r>
            <a:r>
              <a:rPr lang="zh-CN" sz="788">
                <a:solidFill>
                  <a:srgbClr val="3A4050"/>
                </a:solidFill>
                <a:latin typeface="Microsoft YaHei"/>
                <a:ea typeface="Microsoft YaHei"/>
              </a:rPr>
              <a:t>验收标准</a:t>
            </a:r>
            <a:endParaRPr/>
          </a:p>
        </p:txBody>
      </p:sp>
      <p:sp>
        <p:nvSpPr>
          <p:cNvPr id="1368" name="" descr="{&quot;isTemplate&quot;:true,&quot;type&quot;:&quot;text&quot;}"/>
          <p:cNvSpPr txBox="1"/>
          <p:nvPr/>
        </p:nvSpPr>
        <p:spPr>
          <a:xfrm rot="0" flipH="0" flipV="0">
            <a:off x="9534525" y="2019300"/>
            <a:ext cx="38100" cy="114300"/>
          </a:xfrm>
          <a:prstGeom prst="rect"/>
        </p:spPr>
        <p:txBody>
          <a:bodyPr wrap="none" lIns="0" tIns="0" rIns="0" bIns="0"/>
          <a:p>
            <a:pPr>
              <a:lnSpc>
                <a:spcPct val="100000"/>
              </a:lnSpc>
            </a:pPr>
            <a:r>
              <a:rPr sz="713" b="1">
                <a:solidFill>
                  <a:srgbClr val="3A4050"/>
                </a:solidFill>
                <a:latin typeface="Microsoft YaHei"/>
                <a:ea typeface="Microsoft YaHei"/>
              </a:rPr>
              <a:t>▪</a:t>
            </a:r>
            <a:endParaRPr/>
          </a:p>
        </p:txBody>
      </p:sp>
      <p:sp>
        <p:nvSpPr>
          <p:cNvPr id="1369" name="" descr="{&quot;isTemplate&quot;:true,&quot;type&quot;:&quot;text&quot;}"/>
          <p:cNvSpPr txBox="1"/>
          <p:nvPr/>
        </p:nvSpPr>
        <p:spPr>
          <a:xfrm rot="0" flipH="0" flipV="0">
            <a:off x="9629775" y="2019300"/>
            <a:ext cx="18478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编制数据需求与指标清单、绩效考核数据清单</a:t>
            </a:r>
            <a:endParaRPr/>
          </a:p>
        </p:txBody>
      </p:sp>
      <p:sp>
        <p:nvSpPr>
          <p:cNvPr id="1370" name="" descr="{&quot;isTemplate&quot;:true,&quot;type&quot;:&quot;text&quot;}"/>
          <p:cNvSpPr txBox="1"/>
          <p:nvPr/>
        </p:nvSpPr>
        <p:spPr>
          <a:xfrm rot="0" flipH="0" flipV="0">
            <a:off x="9534525" y="2419350"/>
            <a:ext cx="38100" cy="114300"/>
          </a:xfrm>
          <a:prstGeom prst="rect"/>
        </p:spPr>
        <p:txBody>
          <a:bodyPr wrap="none" lIns="0" tIns="0" rIns="0" bIns="0"/>
          <a:p>
            <a:pPr>
              <a:lnSpc>
                <a:spcPct val="100000"/>
              </a:lnSpc>
            </a:pPr>
            <a:r>
              <a:rPr sz="713" b="1">
                <a:solidFill>
                  <a:srgbClr val="3A4050"/>
                </a:solidFill>
                <a:latin typeface="Microsoft YaHei"/>
                <a:ea typeface="Microsoft YaHei"/>
              </a:rPr>
              <a:t>▪</a:t>
            </a:r>
            <a:endParaRPr/>
          </a:p>
        </p:txBody>
      </p:sp>
      <p:sp>
        <p:nvSpPr>
          <p:cNvPr id="1371" name="" descr="{&quot;isTemplate&quot;:true,&quot;type&quot;:&quot;text&quot;}"/>
          <p:cNvSpPr txBox="1"/>
          <p:nvPr/>
        </p:nvSpPr>
        <p:spPr>
          <a:xfrm rot="0" flipH="0" flipV="0">
            <a:off x="9629775" y="2419350"/>
            <a:ext cx="1847850" cy="333375"/>
          </a:xfrm>
          <a:prstGeom prst="rect"/>
        </p:spPr>
        <p:txBody>
          <a:bodyPr wrap="square" lIns="0" tIns="0" rIns="0" bIns="0">
            <a:normAutofit/>
          </a:bodyPr>
          <a:p>
            <a:pPr>
              <a:lnSpc>
                <a:spcPct val="135000"/>
              </a:lnSpc>
            </a:pPr>
            <a:r>
              <a:rPr lang="zh-CN" sz="788">
                <a:solidFill>
                  <a:srgbClr val="3A4050"/>
                </a:solidFill>
                <a:latin typeface="Microsoft YaHei"/>
                <a:ea typeface="Microsoft YaHei"/>
              </a:rPr>
              <a:t>组织需求评审，逐项确认后冻结为需求基线</a:t>
            </a:r>
            <a:endParaRPr/>
          </a:p>
        </p:txBody>
      </p:sp>
      <p:sp>
        <p:nvSpPr>
          <p:cNvPr id="1372" name=""/>
          <p:cNvSpPr/>
          <p:nvPr/>
        </p:nvSpPr>
        <p:spPr>
          <a:xfrm rot="0" flipH="0" flipV="0">
            <a:off x="9534525" y="2771775"/>
            <a:ext cx="1943100" cy="266700"/>
          </a:xfrm>
          <a:prstGeom prst="roundRect">
            <a:avLst>
              <a:gd name="adj" fmla="val 10714"/>
            </a:avLst>
          </a:prstGeom>
          <a:solidFill>
            <a:srgbClr val="3A4050"/>
          </a:solidFill>
          <a:ln/>
        </p:spPr>
        <p:txBody>
          <a:bodyPr/>
          <a:p/>
        </p:txBody>
      </p:sp>
      <p:sp>
        <p:nvSpPr>
          <p:cNvPr id="1373" name="" descr="{&quot;isTemplate&quot;:true,&quot;type&quot;:&quot;text&quot;}"/>
          <p:cNvSpPr txBox="1"/>
          <p:nvPr/>
        </p:nvSpPr>
        <p:spPr>
          <a:xfrm rot="0" flipH="0" flipV="0">
            <a:off x="9629775" y="2847975"/>
            <a:ext cx="1752600" cy="123825"/>
          </a:xfrm>
          <a:prstGeom prst="rect"/>
        </p:spPr>
        <p:txBody>
          <a:bodyPr wrap="none" lIns="0" tIns="0" rIns="0" bIns="0"/>
          <a:p>
            <a:pPr>
              <a:lnSpc>
                <a:spcPct val="100000"/>
              </a:lnSpc>
            </a:pPr>
            <a:r>
              <a:rPr lang="zh-CN" sz="788" b="1">
                <a:solidFill>
                  <a:srgbClr val="FFFFFF"/>
                </a:solidFill>
                <a:latin typeface="Microsoft YaHei"/>
                <a:ea typeface="Microsoft YaHei"/>
              </a:rPr>
              <a:t>需求基线（冻结）</a:t>
            </a:r>
            <a:endParaRPr/>
          </a:p>
        </p:txBody>
      </p:sp>
      <p:sp>
        <p:nvSpPr>
          <p:cNvPr id="1374" name=""/>
          <p:cNvSpPr/>
          <p:nvPr/>
        </p:nvSpPr>
        <p:spPr>
          <a:xfrm rot="0" flipH="0" flipV="0">
            <a:off x="609600" y="3209925"/>
            <a:ext cx="5715000" cy="2047875"/>
          </a:xfrm>
          <a:prstGeom prst="roundRect">
            <a:avLst>
              <a:gd name="adj" fmla="val 1860"/>
            </a:avLst>
          </a:prstGeom>
          <a:solidFill>
            <a:srgbClr val="0F1423"/>
          </a:solidFill>
          <a:ln/>
        </p:spPr>
        <p:txBody>
          <a:bodyPr/>
          <a:p/>
        </p:txBody>
      </p:sp>
      <p:sp>
        <p:nvSpPr>
          <p:cNvPr id="1375" name="" descr="{&quot;isTemplate&quot;:true,&quot;type&quot;:&quot;text&quot;}"/>
          <p:cNvSpPr txBox="1"/>
          <p:nvPr/>
        </p:nvSpPr>
        <p:spPr>
          <a:xfrm rot="0" flipH="0" flipV="0">
            <a:off x="762000" y="3333750"/>
            <a:ext cx="5410200" cy="142875"/>
          </a:xfrm>
          <a:prstGeom prst="rect"/>
        </p:spPr>
        <p:txBody>
          <a:bodyPr wrap="none" lIns="0" tIns="0" rIns="0" bIns="0"/>
          <a:p>
            <a:pPr>
              <a:lnSpc>
                <a:spcPct val="100000"/>
              </a:lnSpc>
            </a:pPr>
            <a:r>
              <a:rPr lang="zh-CN" sz="900" spc="75">
                <a:solidFill>
                  <a:srgbClr val="FBA15C"/>
                </a:solidFill>
                <a:latin typeface="Microsoft YaHei"/>
                <a:ea typeface="Microsoft YaHei"/>
              </a:rPr>
              <a:t>阶段三一次性交付四份东西（招标</a:t>
            </a:r>
            <a:r>
              <a:rPr lang="en-US" sz="900" spc="75">
                <a:solidFill>
                  <a:srgbClr val="FBA15C"/>
                </a:solidFill>
                <a:latin typeface="Microsoft YaHei"/>
                <a:ea typeface="Microsoft YaHei"/>
              </a:rPr>
              <a:t xml:space="preserve"> 3.4 </a:t>
            </a:r>
            <a:r>
              <a:rPr lang="zh-CN" sz="900" spc="75">
                <a:solidFill>
                  <a:srgbClr val="FBA15C"/>
                </a:solidFill>
                <a:latin typeface="Microsoft YaHei"/>
                <a:ea typeface="Microsoft YaHei"/>
              </a:rPr>
              <a:t>第</a:t>
            </a:r>
            <a:r>
              <a:rPr lang="en-US" sz="900" spc="75">
                <a:solidFill>
                  <a:srgbClr val="FBA15C"/>
                </a:solidFill>
                <a:latin typeface="Microsoft YaHei"/>
                <a:ea typeface="Microsoft YaHei"/>
              </a:rPr>
              <a:t xml:space="preserve"> 3–6</a:t>
            </a:r>
            <a:r>
              <a:rPr lang="zh-CN" sz="900" spc="75">
                <a:solidFill>
                  <a:srgbClr val="FBA15C"/>
                </a:solidFill>
                <a:latin typeface="Microsoft YaHei"/>
                <a:ea typeface="Microsoft YaHei"/>
              </a:rPr>
              <a:t>、</a:t>
            </a:r>
            <a:r>
              <a:rPr lang="en-US" sz="900" spc="75">
                <a:solidFill>
                  <a:srgbClr val="FBA15C"/>
                </a:solidFill>
                <a:latin typeface="Microsoft YaHei"/>
                <a:ea typeface="Microsoft YaHei"/>
              </a:rPr>
              <a:t xml:space="preserve">8–9 </a:t>
            </a:r>
            <a:r>
              <a:rPr lang="zh-CN" sz="900" spc="75">
                <a:solidFill>
                  <a:srgbClr val="FBA15C"/>
                </a:solidFill>
                <a:latin typeface="Microsoft YaHei"/>
                <a:ea typeface="Microsoft YaHei"/>
              </a:rPr>
              <a:t>项）</a:t>
            </a:r>
            <a:endParaRPr/>
          </a:p>
        </p:txBody>
      </p:sp>
      <p:sp>
        <p:nvSpPr>
          <p:cNvPr id="1376" name=""/>
          <p:cNvSpPr/>
          <p:nvPr/>
        </p:nvSpPr>
        <p:spPr>
          <a:xfrm rot="0" flipH="0" flipV="0">
            <a:off x="762000" y="3629025"/>
            <a:ext cx="495300" cy="228600"/>
          </a:xfrm>
          <a:prstGeom prst="roundRect">
            <a:avLst>
              <a:gd name="adj" fmla="val 12500"/>
            </a:avLst>
          </a:prstGeom>
          <a:solidFill>
            <a:srgbClr val="FA4F24"/>
          </a:solidFill>
          <a:ln/>
        </p:spPr>
        <p:txBody>
          <a:bodyPr/>
          <a:p/>
        </p:txBody>
      </p:sp>
      <p:sp>
        <p:nvSpPr>
          <p:cNvPr id="1377" name="" descr="{&quot;isTemplate&quot;:true,&quot;type&quot;:&quot;text&quot;}"/>
          <p:cNvSpPr txBox="1"/>
          <p:nvPr/>
        </p:nvSpPr>
        <p:spPr>
          <a:xfrm rot="0" flipH="0" flipV="0">
            <a:off x="962025" y="3676650"/>
            <a:ext cx="104775" cy="133350"/>
          </a:xfrm>
          <a:prstGeom prst="rect"/>
        </p:spPr>
        <p:txBody>
          <a:bodyPr wrap="none" lIns="0" tIns="0" rIns="0" bIns="0"/>
          <a:p>
            <a:pPr>
              <a:lnSpc>
                <a:spcPct val="100000"/>
              </a:lnSpc>
            </a:pPr>
            <a:r>
              <a:rPr sz="825" b="1">
                <a:solidFill>
                  <a:srgbClr val="FFFFFF"/>
                </a:solidFill>
                <a:latin typeface="Microsoft YaHei"/>
                <a:ea typeface="Microsoft YaHei"/>
              </a:rPr>
              <a:t>③</a:t>
            </a:r>
            <a:endParaRPr/>
          </a:p>
        </p:txBody>
      </p:sp>
      <p:sp>
        <p:nvSpPr>
          <p:cNvPr id="1378" name="" descr="{&quot;isTemplate&quot;:true,&quot;type&quot;:&quot;text&quot;}"/>
          <p:cNvSpPr txBox="1"/>
          <p:nvPr/>
        </p:nvSpPr>
        <p:spPr>
          <a:xfrm rot="0" flipH="0" flipV="0">
            <a:off x="1362075" y="3590925"/>
            <a:ext cx="4810125" cy="133350"/>
          </a:xfrm>
          <a:prstGeom prst="rect"/>
        </p:spPr>
        <p:txBody>
          <a:bodyPr wrap="none" lIns="0" tIns="0" rIns="0" bIns="0"/>
          <a:p>
            <a:pPr>
              <a:lnSpc>
                <a:spcPct val="100000"/>
              </a:lnSpc>
            </a:pPr>
            <a:r>
              <a:rPr lang="zh-CN" sz="863" b="1">
                <a:solidFill>
                  <a:srgbClr val="FFFFFF"/>
                </a:solidFill>
                <a:latin typeface="Microsoft YaHei"/>
                <a:ea typeface="Microsoft YaHei"/>
              </a:rPr>
              <a:t>架构详细设计</a:t>
            </a:r>
            <a:endParaRPr/>
          </a:p>
        </p:txBody>
      </p:sp>
      <p:sp>
        <p:nvSpPr>
          <p:cNvPr id="1379" name="" descr="{&quot;isTemplate&quot;:true,&quot;type&quot;:&quot;text&quot;}"/>
          <p:cNvSpPr txBox="1"/>
          <p:nvPr/>
        </p:nvSpPr>
        <p:spPr>
          <a:xfrm rot="0" flipH="0" flipV="0">
            <a:off x="1362075" y="3743325"/>
            <a:ext cx="4810125" cy="152400"/>
          </a:xfrm>
          <a:prstGeom prst="rect"/>
        </p:spPr>
        <p:txBody>
          <a:bodyPr wrap="none" lIns="0" tIns="0" rIns="0" bIns="0"/>
          <a:p>
            <a:pPr>
              <a:lnSpc>
                <a:spcPct val="130000"/>
              </a:lnSpc>
            </a:pPr>
            <a:r>
              <a:rPr lang="en-US" sz="750">
                <a:solidFill>
                  <a:srgbClr val="FFFFFF">
                    <a:alpha val="80000"/>
                  </a:srgbClr>
                </a:solidFill>
                <a:latin typeface="Microsoft YaHei"/>
                <a:ea typeface="Microsoft YaHei"/>
              </a:rPr>
              <a:t xml:space="preserve">L5-L6 + </a:t>
            </a:r>
            <a:r>
              <a:rPr lang="zh-CN" sz="750">
                <a:solidFill>
                  <a:srgbClr val="FFFFFF">
                    <a:alpha val="80000"/>
                  </a:srgbClr>
                </a:solidFill>
                <a:latin typeface="Microsoft YaHei"/>
                <a:ea typeface="Microsoft YaHei"/>
              </a:rPr>
              <a:t>实体属性设计</a:t>
            </a:r>
            <a:r>
              <a:rPr lang="en-US" sz="750">
                <a:solidFill>
                  <a:srgbClr val="FFFFFF">
                    <a:alpha val="80000"/>
                  </a:srgbClr>
                </a:solidFill>
                <a:latin typeface="Microsoft YaHei"/>
                <a:ea typeface="Microsoft YaHei"/>
              </a:rPr>
              <a:t xml:space="preserve"> + </a:t>
            </a:r>
            <a:r>
              <a:rPr lang="zh-CN" sz="750">
                <a:solidFill>
                  <a:srgbClr val="FFFFFF">
                    <a:alpha val="80000"/>
                  </a:srgbClr>
                </a:solidFill>
                <a:latin typeface="Microsoft YaHei"/>
                <a:ea typeface="Microsoft YaHei"/>
              </a:rPr>
              <a:t>应用服务特性子特性</a:t>
            </a:r>
            <a:endParaRPr/>
          </a:p>
        </p:txBody>
      </p:sp>
      <p:sp>
        <p:nvSpPr>
          <p:cNvPr id="1380" name=""/>
          <p:cNvSpPr/>
          <p:nvPr/>
        </p:nvSpPr>
        <p:spPr>
          <a:xfrm rot="0" flipH="0" flipV="0">
            <a:off x="762000" y="4038600"/>
            <a:ext cx="495300" cy="228600"/>
          </a:xfrm>
          <a:prstGeom prst="roundRect">
            <a:avLst>
              <a:gd name="adj" fmla="val 12500"/>
            </a:avLst>
          </a:prstGeom>
          <a:solidFill>
            <a:srgbClr val="E0641E"/>
          </a:solidFill>
          <a:ln/>
        </p:spPr>
        <p:txBody>
          <a:bodyPr/>
          <a:p/>
        </p:txBody>
      </p:sp>
      <p:sp>
        <p:nvSpPr>
          <p:cNvPr id="1381" name="" descr="{&quot;isTemplate&quot;:true,&quot;type&quot;:&quot;text&quot;}"/>
          <p:cNvSpPr txBox="1"/>
          <p:nvPr/>
        </p:nvSpPr>
        <p:spPr>
          <a:xfrm rot="0" flipH="0" flipV="0">
            <a:off x="962025" y="4086225"/>
            <a:ext cx="104775" cy="133350"/>
          </a:xfrm>
          <a:prstGeom prst="rect"/>
        </p:spPr>
        <p:txBody>
          <a:bodyPr wrap="none" lIns="0" tIns="0" rIns="0" bIns="0"/>
          <a:p>
            <a:pPr>
              <a:lnSpc>
                <a:spcPct val="100000"/>
              </a:lnSpc>
            </a:pPr>
            <a:r>
              <a:rPr sz="825" b="1">
                <a:solidFill>
                  <a:srgbClr val="FFFFFF"/>
                </a:solidFill>
                <a:latin typeface="Microsoft YaHei"/>
                <a:ea typeface="Microsoft YaHei"/>
              </a:rPr>
              <a:t>④</a:t>
            </a:r>
            <a:endParaRPr/>
          </a:p>
        </p:txBody>
      </p:sp>
      <p:sp>
        <p:nvSpPr>
          <p:cNvPr id="1382" name="" descr="{&quot;isTemplate&quot;:true,&quot;type&quot;:&quot;text&quot;}"/>
          <p:cNvSpPr txBox="1"/>
          <p:nvPr/>
        </p:nvSpPr>
        <p:spPr>
          <a:xfrm rot="0" flipH="0" flipV="0">
            <a:off x="1362075" y="4000500"/>
            <a:ext cx="4810125" cy="133350"/>
          </a:xfrm>
          <a:prstGeom prst="rect"/>
        </p:spPr>
        <p:txBody>
          <a:bodyPr wrap="none" lIns="0" tIns="0" rIns="0" bIns="0"/>
          <a:p>
            <a:pPr>
              <a:lnSpc>
                <a:spcPct val="100000"/>
              </a:lnSpc>
            </a:pPr>
            <a:r>
              <a:rPr lang="zh-CN" sz="863" b="1">
                <a:solidFill>
                  <a:srgbClr val="FFFFFF"/>
                </a:solidFill>
                <a:latin typeface="Microsoft YaHei"/>
                <a:ea typeface="Microsoft YaHei"/>
              </a:rPr>
              <a:t>业务需求规格说明书</a:t>
            </a:r>
            <a:endParaRPr/>
          </a:p>
        </p:txBody>
      </p:sp>
      <p:sp>
        <p:nvSpPr>
          <p:cNvPr id="1383" name="" descr="{&quot;isTemplate&quot;:true,&quot;type&quot;:&quot;text&quot;}"/>
          <p:cNvSpPr txBox="1"/>
          <p:nvPr/>
        </p:nvSpPr>
        <p:spPr>
          <a:xfrm rot="0" flipH="0" flipV="0">
            <a:off x="1362075" y="4152900"/>
            <a:ext cx="4810125" cy="152400"/>
          </a:xfrm>
          <a:prstGeom prst="rect"/>
        </p:spPr>
        <p:txBody>
          <a:bodyPr wrap="none" lIns="0" tIns="0" rIns="0" bIns="0"/>
          <a:p>
            <a:pPr>
              <a:lnSpc>
                <a:spcPct val="130000"/>
              </a:lnSpc>
            </a:pPr>
            <a:r>
              <a:rPr lang="zh-CN" sz="750">
                <a:solidFill>
                  <a:srgbClr val="FFFFFF">
                    <a:alpha val="80000"/>
                  </a:srgbClr>
                </a:solidFill>
                <a:latin typeface="Microsoft YaHei"/>
                <a:ea typeface="Microsoft YaHei"/>
              </a:rPr>
              <a:t>含需求编号与追溯矩阵，逐条回应痛点与改进方向</a:t>
            </a:r>
            <a:endParaRPr/>
          </a:p>
        </p:txBody>
      </p:sp>
      <p:sp>
        <p:nvSpPr>
          <p:cNvPr id="1384" name=""/>
          <p:cNvSpPr/>
          <p:nvPr/>
        </p:nvSpPr>
        <p:spPr>
          <a:xfrm rot="0" flipH="0" flipV="0">
            <a:off x="762000" y="4438650"/>
            <a:ext cx="495300" cy="228600"/>
          </a:xfrm>
          <a:prstGeom prst="roundRect">
            <a:avLst>
              <a:gd name="adj" fmla="val 12500"/>
            </a:avLst>
          </a:prstGeom>
          <a:solidFill>
            <a:srgbClr val="C43A17"/>
          </a:solidFill>
          <a:ln/>
        </p:spPr>
        <p:txBody>
          <a:bodyPr/>
          <a:p/>
        </p:txBody>
      </p:sp>
      <p:sp>
        <p:nvSpPr>
          <p:cNvPr id="1385" name="" descr="{&quot;isTemplate&quot;:true,&quot;type&quot;:&quot;text&quot;}"/>
          <p:cNvSpPr txBox="1"/>
          <p:nvPr/>
        </p:nvSpPr>
        <p:spPr>
          <a:xfrm rot="0" flipH="0" flipV="0">
            <a:off x="962025" y="4486275"/>
            <a:ext cx="104775" cy="133350"/>
          </a:xfrm>
          <a:prstGeom prst="rect"/>
        </p:spPr>
        <p:txBody>
          <a:bodyPr wrap="none" lIns="0" tIns="0" rIns="0" bIns="0"/>
          <a:p>
            <a:pPr>
              <a:lnSpc>
                <a:spcPct val="100000"/>
              </a:lnSpc>
            </a:pPr>
            <a:r>
              <a:rPr sz="825" b="1">
                <a:solidFill>
                  <a:srgbClr val="FFFFFF"/>
                </a:solidFill>
                <a:latin typeface="Microsoft YaHei"/>
                <a:ea typeface="Microsoft YaHei"/>
              </a:rPr>
              <a:t>⑤</a:t>
            </a:r>
            <a:endParaRPr/>
          </a:p>
        </p:txBody>
      </p:sp>
      <p:sp>
        <p:nvSpPr>
          <p:cNvPr id="1386" name="" descr="{&quot;isTemplate&quot;:true,&quot;type&quot;:&quot;text&quot;}"/>
          <p:cNvSpPr txBox="1"/>
          <p:nvPr/>
        </p:nvSpPr>
        <p:spPr>
          <a:xfrm rot="0" flipH="0" flipV="0">
            <a:off x="1362075" y="4400550"/>
            <a:ext cx="4810125" cy="133350"/>
          </a:xfrm>
          <a:prstGeom prst="rect"/>
        </p:spPr>
        <p:txBody>
          <a:bodyPr wrap="none" lIns="0" tIns="0" rIns="0" bIns="0"/>
          <a:p>
            <a:pPr>
              <a:lnSpc>
                <a:spcPct val="100000"/>
              </a:lnSpc>
            </a:pPr>
            <a:r>
              <a:rPr lang="zh-CN" sz="863" b="1">
                <a:solidFill>
                  <a:srgbClr val="FFFFFF"/>
                </a:solidFill>
                <a:latin typeface="Microsoft YaHei"/>
                <a:ea typeface="Microsoft YaHei"/>
              </a:rPr>
              <a:t>数据需求与指标清单</a:t>
            </a:r>
            <a:endParaRPr/>
          </a:p>
        </p:txBody>
      </p:sp>
      <p:sp>
        <p:nvSpPr>
          <p:cNvPr id="1387" name="" descr="{&quot;isTemplate&quot;:true,&quot;type&quot;:&quot;text&quot;}"/>
          <p:cNvSpPr txBox="1"/>
          <p:nvPr/>
        </p:nvSpPr>
        <p:spPr>
          <a:xfrm rot="0" flipH="0" flipV="0">
            <a:off x="1362075" y="4552950"/>
            <a:ext cx="4810125" cy="152400"/>
          </a:xfrm>
          <a:prstGeom prst="rect"/>
        </p:spPr>
        <p:txBody>
          <a:bodyPr wrap="none" lIns="0" tIns="0" rIns="0" bIns="0"/>
          <a:p>
            <a:pPr>
              <a:lnSpc>
                <a:spcPct val="130000"/>
              </a:lnSpc>
            </a:pPr>
            <a:r>
              <a:rPr lang="zh-CN" sz="750">
                <a:solidFill>
                  <a:srgbClr val="FFFFFF">
                    <a:alpha val="80000"/>
                  </a:srgbClr>
                </a:solidFill>
                <a:latin typeface="Microsoft YaHei"/>
                <a:ea typeface="Microsoft YaHei"/>
              </a:rPr>
              <a:t>数据需求条目</a:t>
            </a:r>
            <a:r>
              <a:rPr lang="en-US" sz="750">
                <a:solidFill>
                  <a:srgbClr val="FFFFFF">
                    <a:alpha val="80000"/>
                  </a:srgbClr>
                </a:solidFill>
                <a:latin typeface="Microsoft YaHei"/>
                <a:ea typeface="Microsoft YaHei"/>
              </a:rPr>
              <a:t xml:space="preserve"> + </a:t>
            </a:r>
            <a:r>
              <a:rPr lang="zh-CN" sz="750">
                <a:solidFill>
                  <a:srgbClr val="FFFFFF">
                    <a:alpha val="80000"/>
                  </a:srgbClr>
                </a:solidFill>
                <a:latin typeface="Microsoft YaHei"/>
                <a:ea typeface="Microsoft YaHei"/>
              </a:rPr>
              <a:t>指标口径定义</a:t>
            </a:r>
            <a:r>
              <a:rPr lang="en-US" sz="750">
                <a:solidFill>
                  <a:srgbClr val="FFFFFF">
                    <a:alpha val="80000"/>
                  </a:srgbClr>
                </a:solidFill>
                <a:latin typeface="Microsoft YaHei"/>
                <a:ea typeface="Microsoft YaHei"/>
              </a:rPr>
              <a:t xml:space="preserve"> + </a:t>
            </a:r>
            <a:r>
              <a:rPr lang="zh-CN" sz="750">
                <a:solidFill>
                  <a:srgbClr val="FFFFFF">
                    <a:alpha val="80000"/>
                  </a:srgbClr>
                </a:solidFill>
                <a:latin typeface="Microsoft YaHei"/>
                <a:ea typeface="Microsoft YaHei"/>
              </a:rPr>
              <a:t>取数来源与更新频率</a:t>
            </a:r>
            <a:endParaRPr/>
          </a:p>
        </p:txBody>
      </p:sp>
      <p:sp>
        <p:nvSpPr>
          <p:cNvPr id="1388" name=""/>
          <p:cNvSpPr/>
          <p:nvPr/>
        </p:nvSpPr>
        <p:spPr>
          <a:xfrm rot="0" flipH="0" flipV="0">
            <a:off x="762000" y="4848225"/>
            <a:ext cx="495300" cy="228600"/>
          </a:xfrm>
          <a:prstGeom prst="roundRect">
            <a:avLst>
              <a:gd name="adj" fmla="val 12500"/>
            </a:avLst>
          </a:prstGeom>
          <a:solidFill>
            <a:srgbClr val="9E3410"/>
          </a:solidFill>
          <a:ln/>
        </p:spPr>
        <p:txBody>
          <a:bodyPr/>
          <a:p/>
        </p:txBody>
      </p:sp>
      <p:sp>
        <p:nvSpPr>
          <p:cNvPr id="1389" name="" descr="{&quot;isTemplate&quot;:true,&quot;type&quot;:&quot;text&quot;}"/>
          <p:cNvSpPr txBox="1"/>
          <p:nvPr/>
        </p:nvSpPr>
        <p:spPr>
          <a:xfrm rot="0" flipH="0" flipV="0">
            <a:off x="857250" y="4895850"/>
            <a:ext cx="314325" cy="133350"/>
          </a:xfrm>
          <a:prstGeom prst="rect"/>
        </p:spPr>
        <p:txBody>
          <a:bodyPr wrap="none" lIns="0" tIns="0" rIns="0" bIns="0"/>
          <a:p>
            <a:pPr>
              <a:lnSpc>
                <a:spcPct val="100000"/>
              </a:lnSpc>
            </a:pPr>
            <a:r>
              <a:rPr sz="825" b="1">
                <a:solidFill>
                  <a:srgbClr val="FFFFFF"/>
                </a:solidFill>
                <a:latin typeface="Microsoft YaHei"/>
                <a:ea typeface="Microsoft YaHei"/>
              </a:rPr>
              <a:t>⑥⑧⑨</a:t>
            </a:r>
            <a:endParaRPr/>
          </a:p>
        </p:txBody>
      </p:sp>
      <p:sp>
        <p:nvSpPr>
          <p:cNvPr id="1390" name="" descr="{&quot;isTemplate&quot;:true,&quot;type&quot;:&quot;text&quot;}"/>
          <p:cNvSpPr txBox="1"/>
          <p:nvPr/>
        </p:nvSpPr>
        <p:spPr>
          <a:xfrm rot="0" flipH="0" flipV="0">
            <a:off x="1362075" y="4810125"/>
            <a:ext cx="4810125" cy="133350"/>
          </a:xfrm>
          <a:prstGeom prst="rect"/>
        </p:spPr>
        <p:txBody>
          <a:bodyPr wrap="none" lIns="0" tIns="0" rIns="0" bIns="0"/>
          <a:p>
            <a:pPr>
              <a:lnSpc>
                <a:spcPct val="100000"/>
              </a:lnSpc>
            </a:pPr>
            <a:r>
              <a:rPr lang="en-US" sz="863" b="1">
                <a:solidFill>
                  <a:srgbClr val="FFFFFF"/>
                </a:solidFill>
                <a:latin typeface="Microsoft YaHei"/>
                <a:ea typeface="Microsoft YaHei"/>
              </a:rPr>
              <a:t xml:space="preserve">AI </a:t>
            </a:r>
            <a:r>
              <a:rPr lang="zh-CN" sz="863" b="1">
                <a:solidFill>
                  <a:srgbClr val="FFFFFF"/>
                </a:solidFill>
                <a:latin typeface="Microsoft YaHei"/>
                <a:ea typeface="Microsoft YaHei"/>
              </a:rPr>
              <a:t>场景清单</a:t>
            </a:r>
            <a:r>
              <a:rPr lang="en-US" sz="863" b="1">
                <a:solidFill>
                  <a:srgbClr val="FFFFFF"/>
                </a:solidFill>
                <a:latin typeface="Microsoft YaHei"/>
                <a:ea typeface="Microsoft YaHei"/>
              </a:rPr>
              <a:t xml:space="preserve"> / </a:t>
            </a:r>
            <a:r>
              <a:rPr lang="zh-CN" sz="863" b="1">
                <a:solidFill>
                  <a:srgbClr val="FFFFFF"/>
                </a:solidFill>
                <a:latin typeface="Microsoft YaHei"/>
                <a:ea typeface="Microsoft YaHei"/>
              </a:rPr>
              <a:t>指标字典</a:t>
            </a:r>
            <a:r>
              <a:rPr lang="en-US" sz="863" b="1">
                <a:solidFill>
                  <a:srgbClr val="FFFFFF"/>
                </a:solidFill>
                <a:latin typeface="Microsoft YaHei"/>
                <a:ea typeface="Microsoft YaHei"/>
              </a:rPr>
              <a:t xml:space="preserve"> / </a:t>
            </a:r>
            <a:r>
              <a:rPr lang="zh-CN" sz="863" b="1">
                <a:solidFill>
                  <a:srgbClr val="FFFFFF"/>
                </a:solidFill>
                <a:latin typeface="Microsoft YaHei"/>
                <a:ea typeface="Microsoft YaHei"/>
              </a:rPr>
              <a:t>绩效考核业务数据清单</a:t>
            </a:r>
            <a:endParaRPr/>
          </a:p>
        </p:txBody>
      </p:sp>
      <p:sp>
        <p:nvSpPr>
          <p:cNvPr id="1391" name="" descr="{&quot;isTemplate&quot;:true,&quot;type&quot;:&quot;text&quot;}"/>
          <p:cNvSpPr txBox="1"/>
          <p:nvPr/>
        </p:nvSpPr>
        <p:spPr>
          <a:xfrm rot="0" flipH="0" flipV="0">
            <a:off x="1362075" y="4962525"/>
            <a:ext cx="4810125" cy="152400"/>
          </a:xfrm>
          <a:prstGeom prst="rect"/>
        </p:spPr>
        <p:txBody>
          <a:bodyPr wrap="none" lIns="0" tIns="0" rIns="0" bIns="0"/>
          <a:p>
            <a:pPr>
              <a:lnSpc>
                <a:spcPct val="130000"/>
              </a:lnSpc>
            </a:pPr>
            <a:r>
              <a:rPr lang="en-US" sz="750">
                <a:solidFill>
                  <a:srgbClr val="FFFFFF">
                    <a:alpha val="80000"/>
                  </a:srgbClr>
                </a:solidFill>
                <a:latin typeface="Microsoft YaHei"/>
                <a:ea typeface="Microsoft YaHei"/>
              </a:rPr>
              <a:t xml:space="preserve">AI </a:t>
            </a:r>
            <a:r>
              <a:rPr lang="zh-CN" sz="750">
                <a:solidFill>
                  <a:srgbClr val="FFFFFF">
                    <a:alpha val="80000"/>
                  </a:srgbClr>
                </a:solidFill>
                <a:latin typeface="Microsoft YaHei"/>
                <a:ea typeface="Microsoft YaHei"/>
              </a:rPr>
              <a:t>按</a:t>
            </a:r>
            <a:r>
              <a:rPr lang="en-US" sz="750">
                <a:solidFill>
                  <a:srgbClr val="FFFFFF">
                    <a:alpha val="80000"/>
                  </a:srgbClr>
                </a:solidFill>
                <a:latin typeface="Microsoft YaHei"/>
                <a:ea typeface="Microsoft YaHei"/>
              </a:rPr>
              <a:t xml:space="preserve"> HR </a:t>
            </a:r>
            <a:r>
              <a:rPr lang="zh-CN" sz="750">
                <a:solidFill>
                  <a:srgbClr val="FFFFFF">
                    <a:alpha val="80000"/>
                  </a:srgbClr>
                </a:solidFill>
                <a:latin typeface="Microsoft YaHei"/>
                <a:ea typeface="Microsoft YaHei"/>
              </a:rPr>
              <a:t>提供的考核标的、岗位、人员梳理数据源与传输方式</a:t>
            </a:r>
            <a:endParaRPr/>
          </a:p>
        </p:txBody>
      </p:sp>
      <p:sp>
        <p:nvSpPr>
          <p:cNvPr id="1392" name=""/>
          <p:cNvSpPr/>
          <p:nvPr/>
        </p:nvSpPr>
        <p:spPr>
          <a:xfrm rot="0" flipH="0" flipV="0">
            <a:off x="6448425" y="3209925"/>
            <a:ext cx="5172075" cy="2047875"/>
          </a:xfrm>
          <a:prstGeom prst="roundRect">
            <a:avLst>
              <a:gd name="adj" fmla="val 1860"/>
            </a:avLst>
          </a:prstGeom>
          <a:solidFill>
            <a:srgbClr val="FFF3EE"/>
          </a:solidFill>
          <a:ln/>
        </p:spPr>
        <p:txBody>
          <a:bodyPr/>
          <a:p/>
        </p:txBody>
      </p:sp>
      <p:sp>
        <p:nvSpPr>
          <p:cNvPr id="1393" name=""/>
          <p:cNvSpPr/>
          <p:nvPr/>
        </p:nvSpPr>
        <p:spPr>
          <a:xfrm rot="0" flipH="0" flipV="0">
            <a:off x="6448425" y="3209925"/>
            <a:ext cx="5172075" cy="2047875"/>
          </a:xfrm>
          <a:custGeom>
            <a:pathLst>
              <a:path w="543" h="215">
                <a:moveTo>
                  <a:pt x="4" y="215"/>
                </a:moveTo>
                <a:cubicBezTo>
                  <a:pt x="2" y="215"/>
                  <a:pt x="0" y="213"/>
                  <a:pt x="0" y="211"/>
                </a:cubicBezTo>
                <a:lnTo>
                  <a:pt x="0" y="4"/>
                </a:lnTo>
                <a:cubicBezTo>
                  <a:pt x="0" y="2"/>
                  <a:pt x="2" y="0"/>
                  <a:pt x="4" y="0"/>
                </a:cubicBezTo>
                <a:lnTo>
                  <a:pt x="4" y="215"/>
                </a:lnTo>
                <a:close/>
              </a:path>
            </a:pathLst>
          </a:custGeom>
          <a:solidFill>
            <a:srgbClr val="FA4F24"/>
          </a:solidFill>
          <a:ln/>
        </p:spPr>
        <p:txBody>
          <a:bodyPr/>
          <a:p/>
        </p:txBody>
      </p:sp>
      <p:sp>
        <p:nvSpPr>
          <p:cNvPr id="1394" name="" descr="{&quot;isTemplate&quot;:true,&quot;type&quot;:&quot;text&quot;}"/>
          <p:cNvSpPr txBox="1"/>
          <p:nvPr/>
        </p:nvSpPr>
        <p:spPr>
          <a:xfrm rot="0" flipH="0" flipV="0">
            <a:off x="6600825" y="3571875"/>
            <a:ext cx="4829175" cy="142875"/>
          </a:xfrm>
          <a:prstGeom prst="rect"/>
        </p:spPr>
        <p:txBody>
          <a:bodyPr wrap="none" lIns="0" tIns="0" rIns="0" bIns="0"/>
          <a:p>
            <a:pPr>
              <a:lnSpc>
                <a:spcPct val="100000"/>
              </a:lnSpc>
            </a:pPr>
            <a:r>
              <a:rPr lang="zh-CN" sz="938" b="1">
                <a:solidFill>
                  <a:srgbClr val="C43A17"/>
                </a:solidFill>
                <a:latin typeface="Microsoft YaHei"/>
                <a:ea typeface="Microsoft YaHei"/>
              </a:rPr>
              <a:t>需求基线冻结：为什么这一步不能省</a:t>
            </a:r>
            <a:endParaRPr/>
          </a:p>
        </p:txBody>
      </p:sp>
      <p:sp>
        <p:nvSpPr>
          <p:cNvPr id="1395" name="" descr="{&quot;isTemplate&quot;:true,&quot;type&quot;:&quot;text&quot;}"/>
          <p:cNvSpPr txBox="1"/>
          <p:nvPr/>
        </p:nvSpPr>
        <p:spPr>
          <a:xfrm rot="0" flipH="0" flipV="0">
            <a:off x="6600825" y="3781425"/>
            <a:ext cx="4829175" cy="400050"/>
          </a:xfrm>
          <a:prstGeom prst="rect"/>
        </p:spPr>
        <p:txBody>
          <a:bodyPr wrap="square" lIns="0" tIns="0" rIns="0" bIns="0">
            <a:normAutofit/>
          </a:bodyPr>
          <a:p>
            <a:pPr>
              <a:lnSpc>
                <a:spcPct val="150000"/>
              </a:lnSpc>
            </a:pPr>
            <a:r>
              <a:rPr lang="zh-CN" sz="863">
                <a:solidFill>
                  <a:srgbClr val="3A4050"/>
                </a:solidFill>
                <a:latin typeface="Microsoft YaHei"/>
                <a:ea typeface="Microsoft YaHei"/>
              </a:rPr>
              <a:t>蓝图是设计，需求规格说明书是承诺。没有冻结动作，建设期每个新增需求都能说「当初没写清楚」——最后所有变更都变成谈判，而不是工程问题。</a:t>
            </a:r>
            <a:endParaRPr/>
          </a:p>
        </p:txBody>
      </p:sp>
      <p:sp>
        <p:nvSpPr>
          <p:cNvPr id="1396" name="" descr="{&quot;isTemplate&quot;:true,&quot;type&quot;:&quot;text&quot;}"/>
          <p:cNvSpPr txBox="1"/>
          <p:nvPr/>
        </p:nvSpPr>
        <p:spPr>
          <a:xfrm rot="0" flipH="0" flipV="0">
            <a:off x="6600825" y="4267200"/>
            <a:ext cx="628650" cy="133350"/>
          </a:xfrm>
          <a:prstGeom prst="rect"/>
        </p:spPr>
        <p:txBody>
          <a:bodyPr wrap="none" lIns="0" tIns="0" rIns="0" bIns="0"/>
          <a:p>
            <a:pPr>
              <a:lnSpc>
                <a:spcPct val="100000"/>
              </a:lnSpc>
            </a:pPr>
            <a:r>
              <a:rPr lang="zh-CN" sz="825" b="1">
                <a:solidFill>
                  <a:srgbClr val="FA4F24"/>
                </a:solidFill>
                <a:latin typeface="Microsoft YaHei"/>
                <a:ea typeface="Microsoft YaHei"/>
              </a:rPr>
              <a:t>冻结动作</a:t>
            </a:r>
            <a:endParaRPr/>
          </a:p>
        </p:txBody>
      </p:sp>
      <p:sp>
        <p:nvSpPr>
          <p:cNvPr id="1397" name="" descr="{&quot;isTemplate&quot;:true,&quot;type&quot;:&quot;text&quot;}"/>
          <p:cNvSpPr txBox="1"/>
          <p:nvPr/>
        </p:nvSpPr>
        <p:spPr>
          <a:xfrm rot="0" flipH="0" flipV="0">
            <a:off x="7315200" y="4248150"/>
            <a:ext cx="4114800" cy="171450"/>
          </a:xfrm>
          <a:prstGeom prst="rect"/>
        </p:spPr>
        <p:txBody>
          <a:bodyPr wrap="none" lIns="0" tIns="0" rIns="0" bIns="0"/>
          <a:p>
            <a:pPr>
              <a:lnSpc>
                <a:spcPct val="135000"/>
              </a:lnSpc>
            </a:pPr>
            <a:r>
              <a:rPr lang="zh-CN" sz="788">
                <a:solidFill>
                  <a:srgbClr val="3A4050"/>
                </a:solidFill>
                <a:latin typeface="Microsoft YaHei"/>
                <a:ea typeface="Microsoft YaHei"/>
              </a:rPr>
              <a:t>组织需求评审，逐条确认签字，形成需求基线</a:t>
            </a:r>
            <a:endParaRPr/>
          </a:p>
        </p:txBody>
      </p:sp>
      <p:sp>
        <p:nvSpPr>
          <p:cNvPr id="1398" name="" descr="{&quot;isTemplate&quot;:true,&quot;type&quot;:&quot;text&quot;}"/>
          <p:cNvSpPr txBox="1"/>
          <p:nvPr/>
        </p:nvSpPr>
        <p:spPr>
          <a:xfrm rot="0" flipH="0" flipV="0">
            <a:off x="6600825" y="4505325"/>
            <a:ext cx="628650" cy="133350"/>
          </a:xfrm>
          <a:prstGeom prst="rect"/>
        </p:spPr>
        <p:txBody>
          <a:bodyPr wrap="none" lIns="0" tIns="0" rIns="0" bIns="0"/>
          <a:p>
            <a:pPr>
              <a:lnSpc>
                <a:spcPct val="100000"/>
              </a:lnSpc>
            </a:pPr>
            <a:r>
              <a:rPr lang="zh-CN" sz="825" b="1">
                <a:solidFill>
                  <a:srgbClr val="FA4F24"/>
                </a:solidFill>
                <a:latin typeface="Microsoft YaHei"/>
                <a:ea typeface="Microsoft YaHei"/>
              </a:rPr>
              <a:t>变更规则</a:t>
            </a:r>
            <a:endParaRPr/>
          </a:p>
        </p:txBody>
      </p:sp>
      <p:sp>
        <p:nvSpPr>
          <p:cNvPr id="1399" name="" descr="{&quot;isTemplate&quot;:true,&quot;type&quot;:&quot;text&quot;}"/>
          <p:cNvSpPr txBox="1"/>
          <p:nvPr/>
        </p:nvSpPr>
        <p:spPr>
          <a:xfrm rot="0" flipH="0" flipV="0">
            <a:off x="7315200" y="4486275"/>
            <a:ext cx="4114800" cy="171450"/>
          </a:xfrm>
          <a:prstGeom prst="rect"/>
        </p:spPr>
        <p:txBody>
          <a:bodyPr wrap="none" lIns="0" tIns="0" rIns="0" bIns="0"/>
          <a:p>
            <a:pPr>
              <a:lnSpc>
                <a:spcPct val="135000"/>
              </a:lnSpc>
            </a:pPr>
            <a:r>
              <a:rPr lang="zh-CN" sz="788">
                <a:solidFill>
                  <a:srgbClr val="3A4050"/>
                </a:solidFill>
                <a:latin typeface="Microsoft YaHei"/>
                <a:ea typeface="Microsoft YaHei"/>
              </a:rPr>
              <a:t>冻结后任何变更走变更流程，标影响范围与工作量</a:t>
            </a:r>
            <a:endParaRPr/>
          </a:p>
        </p:txBody>
      </p:sp>
      <p:sp>
        <p:nvSpPr>
          <p:cNvPr id="1400" name="" descr="{&quot;isTemplate&quot;:true,&quot;type&quot;:&quot;text&quot;}"/>
          <p:cNvSpPr txBox="1"/>
          <p:nvPr/>
        </p:nvSpPr>
        <p:spPr>
          <a:xfrm rot="0" flipH="0" flipV="0">
            <a:off x="6600825" y="4743450"/>
            <a:ext cx="628650" cy="133350"/>
          </a:xfrm>
          <a:prstGeom prst="rect"/>
        </p:spPr>
        <p:txBody>
          <a:bodyPr wrap="none" lIns="0" tIns="0" rIns="0" bIns="0"/>
          <a:p>
            <a:pPr>
              <a:lnSpc>
                <a:spcPct val="100000"/>
              </a:lnSpc>
            </a:pPr>
            <a:r>
              <a:rPr lang="zh-CN" sz="825" b="1">
                <a:solidFill>
                  <a:srgbClr val="FA4F24"/>
                </a:solidFill>
                <a:latin typeface="Microsoft YaHei"/>
                <a:ea typeface="Microsoft YaHei"/>
              </a:rPr>
              <a:t>验收依据</a:t>
            </a:r>
            <a:endParaRPr/>
          </a:p>
        </p:txBody>
      </p:sp>
      <p:sp>
        <p:nvSpPr>
          <p:cNvPr id="1401" name="" descr="{&quot;isTemplate&quot;:true,&quot;type&quot;:&quot;text&quot;}"/>
          <p:cNvSpPr txBox="1"/>
          <p:nvPr/>
        </p:nvSpPr>
        <p:spPr>
          <a:xfrm rot="0" flipH="0" flipV="0">
            <a:off x="7315200" y="4724400"/>
            <a:ext cx="4114800" cy="171450"/>
          </a:xfrm>
          <a:prstGeom prst="rect"/>
        </p:spPr>
        <p:txBody>
          <a:bodyPr wrap="none" lIns="0" tIns="0" rIns="0" bIns="0"/>
          <a:p>
            <a:pPr>
              <a:lnSpc>
                <a:spcPct val="135000"/>
              </a:lnSpc>
            </a:pPr>
            <a:r>
              <a:rPr lang="zh-CN" sz="788">
                <a:solidFill>
                  <a:srgbClr val="3A4050"/>
                </a:solidFill>
                <a:latin typeface="Microsoft YaHei"/>
                <a:ea typeface="Microsoft YaHei"/>
              </a:rPr>
              <a:t>基线即系统建设与后续验收的唯一依据</a:t>
            </a:r>
            <a:endParaRPr/>
          </a:p>
        </p:txBody>
      </p:sp>
      <p:sp>
        <p:nvSpPr>
          <p:cNvPr id="1402" name=""/>
          <p:cNvSpPr/>
          <p:nvPr/>
        </p:nvSpPr>
        <p:spPr>
          <a:xfrm rot="0" flipH="0" flipV="0">
            <a:off x="647700" y="5334000"/>
            <a:ext cx="3609975" cy="323850"/>
          </a:xfrm>
          <a:prstGeom prst="roundRect">
            <a:avLst>
              <a:gd name="adj" fmla="val 8824"/>
            </a:avLst>
          </a:prstGeom>
          <a:solidFill>
            <a:srgbClr val="0F1423"/>
          </a:solidFill>
          <a:ln/>
        </p:spPr>
        <p:txBody>
          <a:bodyPr/>
          <a:p/>
        </p:txBody>
      </p:sp>
      <p:sp>
        <p:nvSpPr>
          <p:cNvPr id="1403" name=""/>
          <p:cNvSpPr/>
          <p:nvPr/>
        </p:nvSpPr>
        <p:spPr>
          <a:xfrm rot="0" flipH="0" flipV="0">
            <a:off x="647700" y="5334000"/>
            <a:ext cx="3609975" cy="323850"/>
          </a:xfrm>
          <a:custGeom>
            <a:pathLst>
              <a:path w="379" h="34">
                <a:moveTo>
                  <a:pt x="4" y="34"/>
                </a:moveTo>
                <a:cubicBezTo>
                  <a:pt x="3" y="34"/>
                  <a:pt x="2" y="34"/>
                  <a:pt x="1" y="33"/>
                </a:cubicBezTo>
                <a:cubicBezTo>
                  <a:pt x="0" y="32"/>
                  <a:pt x="0" y="32"/>
                  <a:pt x="0" y="31"/>
                </a:cubicBezTo>
                <a:lnTo>
                  <a:pt x="0" y="3"/>
                </a:lnTo>
                <a:cubicBezTo>
                  <a:pt x="0" y="1"/>
                  <a:pt x="1" y="0"/>
                  <a:pt x="3" y="0"/>
                </a:cubicBezTo>
                <a:lnTo>
                  <a:pt x="4" y="0"/>
                </a:lnTo>
                <a:close/>
              </a:path>
            </a:pathLst>
          </a:custGeom>
          <a:solidFill>
            <a:srgbClr val="FA4F24"/>
          </a:solidFill>
          <a:ln/>
        </p:spPr>
        <p:txBody>
          <a:bodyPr/>
          <a:p/>
        </p:txBody>
      </p:sp>
      <p:sp>
        <p:nvSpPr>
          <p:cNvPr id="1404" name="" descr="{&quot;isTemplate&quot;:true,&quot;type&quot;:&quot;text&quot;}"/>
          <p:cNvSpPr txBox="1"/>
          <p:nvPr/>
        </p:nvSpPr>
        <p:spPr>
          <a:xfrm rot="0" flipH="0" flipV="0">
            <a:off x="771525" y="5429250"/>
            <a:ext cx="552450" cy="133350"/>
          </a:xfrm>
          <a:prstGeom prst="rect"/>
        </p:spPr>
        <p:txBody>
          <a:bodyPr wrap="none" lIns="0" tIns="0" rIns="0" bIns="0"/>
          <a:p>
            <a:pPr>
              <a:lnSpc>
                <a:spcPct val="100000"/>
              </a:lnSpc>
            </a:pPr>
            <a:r>
              <a:rPr lang="zh-CN" sz="863" b="1">
                <a:solidFill>
                  <a:srgbClr val="FBA15C"/>
                </a:solidFill>
                <a:latin typeface="Microsoft YaHei"/>
                <a:ea typeface="Microsoft YaHei"/>
              </a:rPr>
              <a:t>下探有底线</a:t>
            </a:r>
            <a:endParaRPr/>
          </a:p>
        </p:txBody>
      </p:sp>
      <p:sp>
        <p:nvSpPr>
          <p:cNvPr id="1405" name="" descr="{&quot;isTemplate&quot;:true,&quot;type&quot;:&quot;text&quot;}"/>
          <p:cNvSpPr txBox="1"/>
          <p:nvPr/>
        </p:nvSpPr>
        <p:spPr>
          <a:xfrm rot="0" flipH="0" flipV="0">
            <a:off x="1400175" y="5419725"/>
            <a:ext cx="2695575" cy="152400"/>
          </a:xfrm>
          <a:prstGeom prst="rect"/>
        </p:spPr>
        <p:txBody>
          <a:bodyPr wrap="none" lIns="0" tIns="0" rIns="0" bIns="0"/>
          <a:p>
            <a:pPr>
              <a:lnSpc>
                <a:spcPct val="130000"/>
              </a:lnSpc>
            </a:pPr>
            <a:r>
              <a:rPr lang="zh-CN" sz="750">
                <a:solidFill>
                  <a:srgbClr val="FFFFFF">
                    <a:alpha val="86000"/>
                  </a:srgbClr>
                </a:solidFill>
                <a:latin typeface="Microsoft YaHei"/>
                <a:ea typeface="Microsoft YaHei"/>
              </a:rPr>
              <a:t>压到</a:t>
            </a:r>
            <a:r>
              <a:rPr lang="en-US" sz="750">
                <a:solidFill>
                  <a:srgbClr val="FFFFFF">
                    <a:alpha val="86000"/>
                  </a:srgbClr>
                </a:solidFill>
                <a:latin typeface="Microsoft YaHei"/>
                <a:ea typeface="Microsoft YaHei"/>
              </a:rPr>
              <a:t xml:space="preserve"> L6 </a:t>
            </a:r>
            <a:r>
              <a:rPr lang="zh-CN" sz="750">
                <a:solidFill>
                  <a:srgbClr val="FFFFFF">
                    <a:alpha val="86000"/>
                  </a:srgbClr>
                </a:solidFill>
                <a:latin typeface="Microsoft YaHei"/>
                <a:ea typeface="Microsoft YaHei"/>
              </a:rPr>
              <a:t>活动与任务为止，不做界面原型与代码设计</a:t>
            </a:r>
            <a:endParaRPr/>
          </a:p>
        </p:txBody>
      </p:sp>
      <p:sp>
        <p:nvSpPr>
          <p:cNvPr id="1406" name=""/>
          <p:cNvSpPr/>
          <p:nvPr/>
        </p:nvSpPr>
        <p:spPr>
          <a:xfrm rot="0" flipH="0" flipV="0">
            <a:off x="4324350" y="5334000"/>
            <a:ext cx="3619500" cy="323850"/>
          </a:xfrm>
          <a:prstGeom prst="roundRect">
            <a:avLst>
              <a:gd name="adj" fmla="val 8824"/>
            </a:avLst>
          </a:prstGeom>
          <a:solidFill>
            <a:srgbClr val="F7F7F8"/>
          </a:solidFill>
          <a:ln/>
        </p:spPr>
        <p:txBody>
          <a:bodyPr/>
          <a:p/>
        </p:txBody>
      </p:sp>
      <p:sp>
        <p:nvSpPr>
          <p:cNvPr id="1407" name=""/>
          <p:cNvSpPr/>
          <p:nvPr/>
        </p:nvSpPr>
        <p:spPr>
          <a:xfrm rot="0" flipH="0" flipV="0">
            <a:off x="4324350" y="5334000"/>
            <a:ext cx="3619500" cy="323850"/>
          </a:xfrm>
          <a:custGeom>
            <a:pathLst>
              <a:path w="380" h="34">
                <a:moveTo>
                  <a:pt x="4" y="34"/>
                </a:moveTo>
                <a:cubicBezTo>
                  <a:pt x="3" y="34"/>
                  <a:pt x="2" y="34"/>
                  <a:pt x="1" y="33"/>
                </a:cubicBezTo>
                <a:cubicBezTo>
                  <a:pt x="0" y="32"/>
                  <a:pt x="0" y="32"/>
                  <a:pt x="0" y="31"/>
                </a:cubicBezTo>
                <a:lnTo>
                  <a:pt x="0" y="3"/>
                </a:lnTo>
                <a:cubicBezTo>
                  <a:pt x="0" y="1"/>
                  <a:pt x="1" y="0"/>
                  <a:pt x="3" y="0"/>
                </a:cubicBezTo>
                <a:lnTo>
                  <a:pt x="4" y="0"/>
                </a:lnTo>
                <a:close/>
              </a:path>
            </a:pathLst>
          </a:custGeom>
          <a:solidFill>
            <a:srgbClr val="E0641E"/>
          </a:solidFill>
          <a:ln/>
        </p:spPr>
        <p:txBody>
          <a:bodyPr/>
          <a:p/>
        </p:txBody>
      </p:sp>
      <p:sp>
        <p:nvSpPr>
          <p:cNvPr id="1408" name="" descr="{&quot;isTemplate&quot;:true,&quot;type&quot;:&quot;text&quot;}"/>
          <p:cNvSpPr txBox="1"/>
          <p:nvPr/>
        </p:nvSpPr>
        <p:spPr>
          <a:xfrm rot="0" flipH="0" flipV="0">
            <a:off x="4448175" y="5429250"/>
            <a:ext cx="657225" cy="133350"/>
          </a:xfrm>
          <a:prstGeom prst="rect"/>
        </p:spPr>
        <p:txBody>
          <a:bodyPr wrap="none" lIns="0" tIns="0" rIns="0" bIns="0"/>
          <a:p>
            <a:pPr>
              <a:lnSpc>
                <a:spcPct val="100000"/>
              </a:lnSpc>
            </a:pPr>
            <a:r>
              <a:rPr lang="zh-CN" sz="863" b="1">
                <a:solidFill>
                  <a:srgbClr val="0F1423"/>
                </a:solidFill>
                <a:latin typeface="Microsoft YaHei"/>
                <a:ea typeface="Microsoft YaHei"/>
              </a:rPr>
              <a:t>指标要能取数</a:t>
            </a:r>
            <a:endParaRPr/>
          </a:p>
        </p:txBody>
      </p:sp>
      <p:sp>
        <p:nvSpPr>
          <p:cNvPr id="1409" name="" descr="{&quot;isTemplate&quot;:true,&quot;type&quot;:&quot;text&quot;}"/>
          <p:cNvSpPr txBox="1"/>
          <p:nvPr/>
        </p:nvSpPr>
        <p:spPr>
          <a:xfrm rot="0" flipH="0" flipV="0">
            <a:off x="5181600" y="5419725"/>
            <a:ext cx="2600325" cy="152400"/>
          </a:xfrm>
          <a:prstGeom prst="rect"/>
        </p:spPr>
        <p:txBody>
          <a:bodyPr wrap="none" lIns="0" tIns="0" rIns="0" bIns="0"/>
          <a:p>
            <a:pPr>
              <a:lnSpc>
                <a:spcPct val="130000"/>
              </a:lnSpc>
            </a:pPr>
            <a:r>
              <a:rPr lang="zh-CN" sz="750">
                <a:solidFill>
                  <a:srgbClr val="5A6070"/>
                </a:solidFill>
                <a:latin typeface="Microsoft YaHei"/>
                <a:ea typeface="Microsoft YaHei"/>
              </a:rPr>
              <a:t>每个指标写清取哪张表、多久更新、谁维护，否则不进清单</a:t>
            </a:r>
            <a:endParaRPr/>
          </a:p>
        </p:txBody>
      </p:sp>
      <p:sp>
        <p:nvSpPr>
          <p:cNvPr id="1410" name=""/>
          <p:cNvSpPr/>
          <p:nvPr/>
        </p:nvSpPr>
        <p:spPr>
          <a:xfrm rot="0" flipH="0" flipV="0">
            <a:off x="8010525" y="5334000"/>
            <a:ext cx="3609975" cy="323850"/>
          </a:xfrm>
          <a:prstGeom prst="roundRect">
            <a:avLst>
              <a:gd name="adj" fmla="val 8824"/>
            </a:avLst>
          </a:prstGeom>
          <a:solidFill>
            <a:srgbClr val="F7F7F8"/>
          </a:solidFill>
          <a:ln/>
        </p:spPr>
        <p:txBody>
          <a:bodyPr/>
          <a:p/>
        </p:txBody>
      </p:sp>
      <p:sp>
        <p:nvSpPr>
          <p:cNvPr id="1411" name=""/>
          <p:cNvSpPr/>
          <p:nvPr/>
        </p:nvSpPr>
        <p:spPr>
          <a:xfrm rot="0" flipH="0" flipV="0">
            <a:off x="8010525" y="5334000"/>
            <a:ext cx="3609975" cy="323850"/>
          </a:xfrm>
          <a:custGeom>
            <a:pathLst>
              <a:path w="379" h="34">
                <a:moveTo>
                  <a:pt x="4" y="34"/>
                </a:moveTo>
                <a:cubicBezTo>
                  <a:pt x="3" y="34"/>
                  <a:pt x="2" y="34"/>
                  <a:pt x="1" y="33"/>
                </a:cubicBezTo>
                <a:cubicBezTo>
                  <a:pt x="0" y="32"/>
                  <a:pt x="0" y="32"/>
                  <a:pt x="0" y="31"/>
                </a:cubicBezTo>
                <a:lnTo>
                  <a:pt x="0" y="3"/>
                </a:lnTo>
                <a:cubicBezTo>
                  <a:pt x="0" y="1"/>
                  <a:pt x="1" y="0"/>
                  <a:pt x="3" y="0"/>
                </a:cubicBezTo>
                <a:lnTo>
                  <a:pt x="4" y="0"/>
                </a:lnTo>
                <a:close/>
              </a:path>
            </a:pathLst>
          </a:custGeom>
          <a:solidFill>
            <a:srgbClr val="C43A17"/>
          </a:solidFill>
          <a:ln/>
        </p:spPr>
        <p:txBody>
          <a:bodyPr/>
          <a:p/>
        </p:txBody>
      </p:sp>
      <p:sp>
        <p:nvSpPr>
          <p:cNvPr id="1412" name="" descr="{&quot;isTemplate&quot;:true,&quot;type&quot;:&quot;text&quot;}"/>
          <p:cNvSpPr txBox="1"/>
          <p:nvPr/>
        </p:nvSpPr>
        <p:spPr>
          <a:xfrm rot="0" flipH="0" flipV="0">
            <a:off x="8134350" y="5429250"/>
            <a:ext cx="752475" cy="133350"/>
          </a:xfrm>
          <a:prstGeom prst="rect"/>
        </p:spPr>
        <p:txBody>
          <a:bodyPr wrap="none" lIns="0" tIns="0" rIns="0" bIns="0"/>
          <a:p>
            <a:pPr>
              <a:lnSpc>
                <a:spcPct val="100000"/>
              </a:lnSpc>
            </a:pPr>
            <a:r>
              <a:rPr lang="zh-CN" sz="863" b="1">
                <a:solidFill>
                  <a:srgbClr val="0F1423"/>
                </a:solidFill>
                <a:latin typeface="Microsoft YaHei"/>
                <a:ea typeface="Microsoft YaHei"/>
              </a:rPr>
              <a:t>考核清单看</a:t>
            </a:r>
            <a:r>
              <a:rPr lang="en-US" sz="863" b="1">
                <a:solidFill>
                  <a:srgbClr val="0F1423"/>
                </a:solidFill>
                <a:latin typeface="Microsoft YaHei"/>
                <a:ea typeface="Microsoft YaHei"/>
              </a:rPr>
              <a:t xml:space="preserve"> HR</a:t>
            </a:r>
            <a:endParaRPr/>
          </a:p>
        </p:txBody>
      </p:sp>
      <p:sp>
        <p:nvSpPr>
          <p:cNvPr id="1413" name="" descr="{&quot;isTemplate&quot;:true,&quot;type&quot;:&quot;text&quot;}"/>
          <p:cNvSpPr txBox="1"/>
          <p:nvPr/>
        </p:nvSpPr>
        <p:spPr>
          <a:xfrm rot="0" flipH="0" flipV="0">
            <a:off x="8963025" y="5419725"/>
            <a:ext cx="2495550" cy="152400"/>
          </a:xfrm>
          <a:prstGeom prst="rect"/>
        </p:spPr>
        <p:txBody>
          <a:bodyPr wrap="none" lIns="0" tIns="0" rIns="0" bIns="0"/>
          <a:p>
            <a:pPr>
              <a:lnSpc>
                <a:spcPct val="130000"/>
              </a:lnSpc>
            </a:pPr>
            <a:r>
              <a:rPr lang="zh-CN" sz="750">
                <a:solidFill>
                  <a:srgbClr val="5A6070"/>
                </a:solidFill>
                <a:latin typeface="Microsoft YaHei"/>
                <a:ea typeface="Microsoft YaHei"/>
              </a:rPr>
              <a:t>绩效数据清单以</a:t>
            </a:r>
            <a:r>
              <a:rPr lang="en-US" sz="750">
                <a:solidFill>
                  <a:srgbClr val="5A6070"/>
                </a:solidFill>
                <a:latin typeface="Microsoft YaHei"/>
                <a:ea typeface="Microsoft YaHei"/>
              </a:rPr>
              <a:t xml:space="preserve"> HR </a:t>
            </a:r>
            <a:r>
              <a:rPr lang="zh-CN" sz="750">
                <a:solidFill>
                  <a:srgbClr val="5A6070"/>
                </a:solidFill>
                <a:latin typeface="Microsoft YaHei"/>
                <a:ea typeface="Microsoft YaHei"/>
              </a:rPr>
              <a:t>提供的考核标的为输入，不自行假设</a:t>
            </a:r>
            <a:endParaRPr/>
          </a:p>
        </p:txBody>
      </p:sp>
      <p:sp>
        <p:nvSpPr>
          <p:cNvPr id="1414" name=""/>
          <p:cNvSpPr/>
          <p:nvPr/>
        </p:nvSpPr>
        <p:spPr>
          <a:xfrm rot="0" flipH="0" flipV="0">
            <a:off x="609600" y="5943600"/>
            <a:ext cx="133350" cy="133350"/>
          </a:xfrm>
          <a:prstGeom prst="rect">
            <a:avLst/>
          </a:prstGeom>
          <a:solidFill>
            <a:srgbClr val="FA4F24"/>
          </a:solidFill>
          <a:ln/>
        </p:spPr>
        <p:txBody>
          <a:bodyPr/>
          <a:p/>
        </p:txBody>
      </p:sp>
      <p:sp>
        <p:nvSpPr>
          <p:cNvPr id="1415"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41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28 / 36</a:t>
            </a:r>
            <a:endParaRPr/>
          </a:p>
        </p:txBody>
      </p:sp>
    </p:spTree>
  </p:cSld>
</p:sld>
</file>

<file path=ppt/slides/slide29.xml><?xml version="1.0" encoding="utf-8"?>
<p:sld xmlns:p="http://schemas.openxmlformats.org/presentationml/2006/main" xmlns:a="http://schemas.openxmlformats.org/drawingml/2006/main">
  <p:cSld>
    <p:spTree>
      <p:nvGrpSpPr>
        <p:cNvPr id="1417" name="" descr="&lt;Slide style={{ width: 1280, height: 720, background: '#FFFFFF', padding: '24px 64px 0' }}&gt;&#13;&#10;    {/* A 区 */}&#13;&#10;    &lt;Box style={{ height: 96, flexDirection: 'column', justifyContent: 'flex-start' }}&gt;&#13;&#10;        &lt;Text style={{ fontSize: 32, fontWeight: 'bold', color: '#0F1423' }}&gt;&#13;&#10;            L5-L6 详细设计：&lt;span style={{ color: '#FA4F24' }}&gt;活动 · 角色 · 绩效指标&lt;/span&gt;&#13;&#10;        &lt;/Text&gt;&#13;&#10;        &lt;Text style={{ fontSize: 19, color: '#8A8F99', marginTop: 7 }}&gt;&#13;&#10;            招标 3.3.3(1) 要求四条信息：业务活动、岗位角色、关键输入输出、流程绩效指标&#13;&#10;        &lt;/Text&gt;&#13;&#10;    &lt;/Box&gt;&#13;&#10;    &lt;Box style={{ height: 1, background: '#E8E8E8' }} /&gt;&#13;&#10;&#13;&#10;    {/* B 区 */}&#13;&#10;    &lt;Box style={{ paddingTop: 10, paddingBottom: 6, height: 479, flexDirection: 'column', gap: 8 }}&gt;&#13;&#10;        {/* 上：下探示例 */}&#13;&#10;        &lt;Box style={{ height: 22, flexDirection: 'row', alignItems: 'center', gap: 8 }}&gt;&#13;&#10;            &lt;Box style={{ width: 4, height: 16, background: '#FA4F24' }} /&gt;&#13;&#10;            &lt;Text style={{ fontSize: 13.5, fontWeight: 'bold', color: '#0F1423' }}&gt;下探示例：L4「检修工单执行」逐层拆到 L6&lt;/Text&gt;&#13;&#10;        &lt;/Box&gt;&#13;&#10;        &lt;Box style={{ height: 214, flexDirection: 'row', gap: 6, alignItems: 'stretch' }}&gt;&#13;&#10;            &lt;Box style={{ width: 260, background: '#F7F7F8', borderRadius: 4, borderTop: '3px solid #FBA15C', padding: '11px 13px', flexDirection: 'column' }}&gt;&#13;&#10;                &lt;Text style={{ fontSize: 12, fontWeight: 'bold', color: '#FBA15C' }}&gt;L4　检修工单执行&lt;/Text&gt;&#13;&#10;                &lt;Text style={{ fontSize: 10.5, color: '#5A6070', lineHeight: 1.4, marginTop: 6, flex: 1 }}&gt;&#13;&#10;                    触发：缺陷确认需检修。输入：缺陷记录、设备画像、备件库存。输出：完工记录、验收结论、结算依据。&#13;&#10;                &lt;/Text&gt;&#13;&#10;                &lt;Text style={{ fontSize: 10, color: '#8A8F99', lineHeight: 1.35, marginTop: 6 }}&gt;主责：能源运营技术部　弱集成：工单与资产靠人工挂接&lt;/Text&gt;&#13;&#10;            &lt;/Box&gt;&#13;&#10;            &lt;Text style={{ fontSize: 16, color: '#C8CCD4', alignSelf: 'center', fontWeight: 'bold' }}&gt;›&lt;/Text&gt;&#13;&#10;            &lt;Box style={{ flex: 1, background: '#FFF3EE', borderRadius: 4, borderTop: '3px solid #FA4F24', padding: '11px 13px', flexDirection: 'column' }}&gt;&#13;&#10;                &lt;Text style={{ fontSize: 12.5, fontWeight: 'bold', color: '#FA4F24' }}&gt;L5 三个业务活动&lt;/Text&gt;&#13;&#10;                {[&#13;&#10;                    { t: 'L5-1 检修方案编制', r: '检修工程师', i: '缺陷记录+设备画像', o: '方案+备件清单', k: '方案一次通过率' },&#13;&#10;                    { t: 'L5-2 现场检修执行', r: '检修班组/值长', i: '已审批方案+出库单', o: '完工记录+异常说明', k: '平均修复时长、一次修复率' },&#13;&#10;                    { t: 'L5-3 验收与结算', r: '技术负责人/资产管理员', i: '完工记录+备件消耗', o: '验收结论+台账更新', k: '验收一次通过率、台账更新及时率' },&#13;&#10;                ].map((x) =&gt; (&#13;&#10;                    &lt;Box key={x.t} style={{ flex: 1, background: '#FFFFFF', borderRadius: 3, padding: '0 10px', marginTop: 5, flexDirection: 'column', justifyContent: 'center' }}&gt;&#13;&#10;                        &lt;Box style={{ flexDirection: 'row', alignItems: 'center', justifyContent: 'space-between' }}&gt;&#13;&#10;                            &lt;Text style={{ fontSize: 11.5, fontWeight: 'bold', color: '#0F1423' }}&gt;{x.t}&lt;/Text&gt;&#13;&#10;                            &lt;Text style={{ fontSize: 10, color: '#8A8F99' }}&gt;{x.r}&lt;/Text&gt;&#13;&#10;                        &lt;/Box&gt;&#13;&#10;                        &lt;Text style={{ fontSize: 10, color: '#5A6070', lineHeight: 1.3, marginTop: 2 }}&gt;{x.i}　→　{x.o}&lt;/Text&gt;&#13;&#10;                        &lt;Text style={{ fontSize: 10, color: '#C43A17', lineHeight: 1.3 }}&gt;{x.k}&lt;/Text&gt;&#13;&#10;                    &lt;/Box&gt;&#13;&#10;                ))}&#13;&#10;            &lt;/Box&gt;&#13;&#10;            &lt;Text style={{ fontSize: 16, color: '#C8CCD4', alignSelf: 'center', fontWeight: 'bold' }}&gt;›&lt;/Text&gt;&#13;&#10;            &lt;Box style={{ width: 300, background: '#0F1423', borderRadius: 4, padding: '11px 13px', flexDirection: 'column' }}&gt;&#13;&#10;                &lt;Text style={{ fontSize: 12.5, color: '#FBA15C' }}&gt;L6 可执行任务&lt;/Text&gt;&#13;&#10;                &lt;Text style={{ fontSize: 10, color: 'rgba(255,255,255,0.7)', lineHeight: 1.35, marginTop: 5, flex: 1 }}&gt;&#13;&#10;                    L6 落到系统能做什么：L5-1 拆为读取画像、生成草稿、库存校验、提交审批四个任务。&#13;&#10;                &lt;/Text&gt;&#13;&#10;                {[&#13;&#10;                    { t: '例外处理', d: '备件不足、带病运行、超预算，三条都要写' },&#13;&#10;                    { t: '角色映射', d: '每个 L6 标岗位、系统承载、是否审批' },&#13;&#10;                    { t: '不越界', d: '不做界面与代码设计，能估工作量、能验收即到位' },&#13;&#10;                ].map((x, i) =&gt; (&#13;&#10;                    &lt;Box key={x.t} style={{ marginTop: i === 0 ? 8 : 5, flexDirection: 'column' }}&gt;&#13;&#10;                        &lt;Text style={{ fontSize: 11, fontWeight: 'bold', color: '#FFFFFF' }}&gt;{x.t}&lt;/Text&gt;&#13;&#10;                        &lt;Text style={{ fontSize: 10, color: 'rgba(255,255,255,0.8)', lineHeight: 1.3, marginTop: 2 }}&gt;{x.d}&lt;/Text&gt;&#13;&#10;                    &lt;/Box&gt;&#13;&#10;                ))}&#13;&#10;            &lt;/Box&gt;&#13;&#10;        &lt;/Box&gt;&#13;&#10;&#13;&#10;        {/* 下：四条设计要求 + 判据 */}&#13;&#10;        &lt;Box style={{ flex: 1, flexDirection: 'row', gap: 8, alignItems: 'stretch' }}&gt;&#13;&#10;            {[&#13;&#10;                { k: '① 业务活动', d: '逐个 L5 写清做什么、谁做、和上下游的关系', c: '#FA4F24' },&#13;&#10;                { k: '② 岗位角色', d: '责任岗位 + 审批岗位 + 协同岗位，不写「相关部门」', c: '#E0641E' },&#13;&#10;                { k: '③ 关键输入输出', d: '输入输出必须能对应到逻辑实体，不能是「相关信息」', c: '#C43A17' },&#13;&#10;                { k: '④ 流程绩效指标', d: '每个 L5 至少一个可度量指标，进指标字典', c: '#9E3410' },&#13;&#10;            ].map((x) =&gt; (&#13;&#10;                &lt;Box key={x.k} style={{ flex: 1, background: '#F7F7F8', borderRadius: 4, borderLeft: '4px solid ' + x.c, padding: '0 13px', flexDirection: 'column', justifyContent: 'center' }}&gt;&#13;&#10;                    &lt;Text style={{ fontSize: 12.5, fontWeight: 'bold', color: x.c }}&gt;{x.k}&lt;/Text&gt;&#13;&#10;                    &lt;Text style={{ fontSize: 10.5, color: '#5A6070', lineHeight: 1.4, marginTop: 4 }}&gt;{x.d}&lt;/Text&gt;&#13;&#10;                &lt;/Box&gt;&#13;&#10;            ))}&#13;&#10;        &lt;/Box&gt;&#13;&#10;&#13;&#10;        {/* 底 */}&#13;&#10;        &lt;Box style={{ height: 32, background: '#FFF3EE', borderRadius: 4, borderLeft: '4px solid #FA4F24', padding: '0 16px', flexDirection: 'row', alignItems: 'center', gap: 14 }}&gt;&#13;&#10;            &lt;Text style={{ fontSize: 12, fontWeight: 'bold', color: '#C43A17', width: 118 }}&gt;现场检验法&lt;/Text&gt;&#13;&#10;            &lt;Text style={{ fontSize: 11.5, color: '#3A4050', flex: 1, lineHeight: 1.35 }}&gt;&#13;&#10;                随机抽一个 L5，让客户说出这个活动今天实际是怎么干的、耗时多久、上次出问题是什么时候。说不出来或对不上，说明设计脱离现场，要重做。&#13;&#10;            &lt;/Text&gt;&#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29 / 36&lt;/Text&gt;&#13;&#10;    &lt;/Box&gt;&#13;&#10;&lt;/Slide&gt;&#13;&#10;"/>
        <p:cNvGrpSpPr/>
        <p:nvPr/>
      </p:nvGrpSpPr>
      <p:grpSpPr>
        <a:xfrm>
          <a:off x="0" y="0"/>
          <a:ext cx="0" cy="0"/>
          <a:chOff x="0" y="0"/>
          <a:chExt cx="0" cy="0"/>
        </a:xfrm>
      </p:grpSpPr>
      <p:sp>
        <p:nvSpPr>
          <p:cNvPr id="1418" name=""/>
          <p:cNvSpPr/>
          <p:nvPr/>
        </p:nvSpPr>
        <p:spPr>
          <a:xfrm rot="0" flipH="0" flipV="0">
            <a:off x="0" y="0"/>
            <a:ext cx="12192000" cy="6858000"/>
          </a:xfrm>
          <a:prstGeom prst="rect">
            <a:avLst/>
          </a:prstGeom>
          <a:solidFill>
            <a:srgbClr val="FFFFFF"/>
          </a:solidFill>
          <a:ln/>
        </p:spPr>
        <p:txBody>
          <a:bodyPr/>
          <a:p/>
        </p:txBody>
      </p:sp>
      <p:sp>
        <p:nvSpPr>
          <p:cNvPr id="141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en-US" sz="2400" b="1">
                <a:solidFill>
                  <a:srgbClr val="0F1423"/>
                </a:solidFill>
                <a:latin typeface="Microsoft YaHei"/>
                <a:ea typeface="Microsoft YaHei"/>
              </a:rPr>
              <a:t xml:space="preserve">L5-L6 </a:t>
            </a:r>
            <a:r>
              <a:rPr lang="zh-CN" sz="2400" b="1">
                <a:solidFill>
                  <a:srgbClr val="0F1423"/>
                </a:solidFill>
                <a:latin typeface="Microsoft YaHei"/>
                <a:ea typeface="Microsoft YaHei"/>
              </a:rPr>
              <a:t>详细设计：</a:t>
            </a:r>
            <a:r>
              <a:rPr lang="zh-CN" sz="2400" b="1">
                <a:solidFill>
                  <a:srgbClr val="FA4F24"/>
                </a:solidFill>
                <a:latin typeface="Microsoft YaHei"/>
                <a:ea typeface="Microsoft YaHei"/>
              </a:rPr>
              <a:t>活动</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角色</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绩效指标</a:t>
            </a:r>
            <a:endParaRPr/>
          </a:p>
        </p:txBody>
      </p:sp>
      <p:sp>
        <p:nvSpPr>
          <p:cNvPr id="1420"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3.3.3(1) </a:t>
            </a:r>
            <a:r>
              <a:rPr lang="zh-CN" sz="1425">
                <a:solidFill>
                  <a:srgbClr val="8A8F99"/>
                </a:solidFill>
                <a:latin typeface="Microsoft YaHei"/>
                <a:ea typeface="Microsoft YaHei"/>
              </a:rPr>
              <a:t>要求四条信息：业务活动、岗位角色、关键输入输出、流程绩效指标</a:t>
            </a:r>
            <a:endParaRPr/>
          </a:p>
        </p:txBody>
      </p:sp>
      <p:sp>
        <p:nvSpPr>
          <p:cNvPr id="1421" name=""/>
          <p:cNvSpPr/>
          <p:nvPr/>
        </p:nvSpPr>
        <p:spPr>
          <a:xfrm rot="0" flipH="0" flipV="0">
            <a:off x="609600" y="1143000"/>
            <a:ext cx="10972800" cy="9525"/>
          </a:xfrm>
          <a:prstGeom prst="rect">
            <a:avLst/>
          </a:prstGeom>
          <a:solidFill>
            <a:srgbClr val="E8E8E8"/>
          </a:solidFill>
          <a:ln/>
        </p:spPr>
        <p:txBody>
          <a:bodyPr/>
          <a:p/>
        </p:txBody>
      </p:sp>
      <p:sp>
        <p:nvSpPr>
          <p:cNvPr id="1422" name=""/>
          <p:cNvSpPr/>
          <p:nvPr/>
        </p:nvSpPr>
        <p:spPr>
          <a:xfrm rot="0" flipH="0" flipV="0">
            <a:off x="609600" y="1276350"/>
            <a:ext cx="38100" cy="152400"/>
          </a:xfrm>
          <a:prstGeom prst="rect">
            <a:avLst/>
          </a:prstGeom>
          <a:solidFill>
            <a:srgbClr val="FA4F24"/>
          </a:solidFill>
          <a:ln/>
        </p:spPr>
        <p:txBody>
          <a:bodyPr/>
          <a:p/>
        </p:txBody>
      </p:sp>
      <p:sp>
        <p:nvSpPr>
          <p:cNvPr id="1423" name="" descr="{&quot;isTemplate&quot;:true,&quot;type&quot;:&quot;text&quot;}"/>
          <p:cNvSpPr txBox="1"/>
          <p:nvPr/>
        </p:nvSpPr>
        <p:spPr>
          <a:xfrm rot="0" flipH="0" flipV="0">
            <a:off x="723900" y="1276350"/>
            <a:ext cx="2524125" cy="161925"/>
          </a:xfrm>
          <a:prstGeom prst="rect"/>
        </p:spPr>
        <p:txBody>
          <a:bodyPr wrap="none" lIns="0" tIns="0" rIns="0" bIns="0"/>
          <a:p>
            <a:pPr>
              <a:lnSpc>
                <a:spcPct val="100000"/>
              </a:lnSpc>
            </a:pPr>
            <a:r>
              <a:rPr lang="zh-CN" sz="1013" b="1">
                <a:solidFill>
                  <a:srgbClr val="0F1423"/>
                </a:solidFill>
                <a:latin typeface="Microsoft YaHei"/>
                <a:ea typeface="Microsoft YaHei"/>
              </a:rPr>
              <a:t>下探示例：</a:t>
            </a:r>
            <a:r>
              <a:rPr lang="en-US" sz="1013" b="1">
                <a:solidFill>
                  <a:srgbClr val="0F1423"/>
                </a:solidFill>
                <a:latin typeface="Microsoft YaHei"/>
                <a:ea typeface="Microsoft YaHei"/>
              </a:rPr>
              <a:t>L4</a:t>
            </a:r>
            <a:r>
              <a:rPr lang="zh-CN" sz="1013" b="1">
                <a:solidFill>
                  <a:srgbClr val="0F1423"/>
                </a:solidFill>
                <a:latin typeface="Microsoft YaHei"/>
                <a:ea typeface="Microsoft YaHei"/>
              </a:rPr>
              <a:t>「检修工单执行」逐层拆到</a:t>
            </a:r>
            <a:r>
              <a:rPr lang="en-US" sz="1013" b="1">
                <a:solidFill>
                  <a:srgbClr val="0F1423"/>
                </a:solidFill>
                <a:latin typeface="Microsoft YaHei"/>
                <a:ea typeface="Microsoft YaHei"/>
              </a:rPr>
              <a:t xml:space="preserve"> L6</a:t>
            </a:r>
            <a:endParaRPr/>
          </a:p>
        </p:txBody>
      </p:sp>
      <p:sp>
        <p:nvSpPr>
          <p:cNvPr id="1424" name=""/>
          <p:cNvSpPr/>
          <p:nvPr/>
        </p:nvSpPr>
        <p:spPr>
          <a:xfrm rot="0" flipH="0" flipV="0">
            <a:off x="609600" y="1562100"/>
            <a:ext cx="2476500" cy="2038350"/>
          </a:xfrm>
          <a:prstGeom prst="roundRect">
            <a:avLst>
              <a:gd name="adj" fmla="val 1869"/>
            </a:avLst>
          </a:prstGeom>
          <a:solidFill>
            <a:srgbClr val="F7F7F8"/>
          </a:solidFill>
          <a:ln/>
        </p:spPr>
        <p:txBody>
          <a:bodyPr/>
          <a:p/>
        </p:txBody>
      </p:sp>
      <p:sp>
        <p:nvSpPr>
          <p:cNvPr id="1425" name=""/>
          <p:cNvSpPr/>
          <p:nvPr/>
        </p:nvSpPr>
        <p:spPr>
          <a:xfrm rot="0" flipH="0" flipV="0">
            <a:off x="609600" y="1562100"/>
            <a:ext cx="2476500" cy="2038350"/>
          </a:xfrm>
          <a:custGeom>
            <a:pathLst>
              <a:path w="260" h="214">
                <a:moveTo>
                  <a:pt x="256" y="0"/>
                </a:moveTo>
                <a:cubicBezTo>
                  <a:pt x="258" y="0"/>
                  <a:pt x="260" y="2"/>
                  <a:pt x="260" y="4"/>
                </a:cubicBezTo>
                <a:cubicBezTo>
                  <a:pt x="260" y="3"/>
                  <a:pt x="259" y="3"/>
                  <a:pt x="259" y="3"/>
                </a:cubicBezTo>
                <a:lnTo>
                  <a:pt x="1" y="3"/>
                </a:lnTo>
                <a:cubicBezTo>
                  <a:pt x="1" y="3"/>
                  <a:pt x="0" y="3"/>
                  <a:pt x="0" y="4"/>
                </a:cubicBezTo>
                <a:cubicBezTo>
                  <a:pt x="0" y="2"/>
                  <a:pt x="2" y="0"/>
                  <a:pt x="4" y="0"/>
                </a:cubicBezTo>
                <a:lnTo>
                  <a:pt x="256" y="0"/>
                </a:lnTo>
                <a:close/>
              </a:path>
            </a:pathLst>
          </a:custGeom>
          <a:solidFill>
            <a:srgbClr val="FBA15C"/>
          </a:solidFill>
          <a:ln/>
        </p:spPr>
        <p:txBody>
          <a:bodyPr/>
          <a:p/>
        </p:txBody>
      </p:sp>
      <p:sp>
        <p:nvSpPr>
          <p:cNvPr id="1426" name="" descr="{&quot;isTemplate&quot;:true,&quot;type&quot;:&quot;text&quot;}"/>
          <p:cNvSpPr txBox="1"/>
          <p:nvPr/>
        </p:nvSpPr>
        <p:spPr>
          <a:xfrm rot="0" flipH="0" flipV="0">
            <a:off x="733425" y="1666875"/>
            <a:ext cx="2228850" cy="142875"/>
          </a:xfrm>
          <a:prstGeom prst="rect"/>
        </p:spPr>
        <p:txBody>
          <a:bodyPr wrap="none" lIns="0" tIns="0" rIns="0" bIns="0"/>
          <a:p>
            <a:pPr>
              <a:lnSpc>
                <a:spcPct val="100000"/>
              </a:lnSpc>
            </a:pPr>
            <a:r>
              <a:rPr lang="en-US" sz="900" b="1">
                <a:solidFill>
                  <a:srgbClr val="FBA15C"/>
                </a:solidFill>
                <a:latin typeface="Microsoft YaHei"/>
                <a:ea typeface="Microsoft YaHei"/>
              </a:rPr>
              <a:t>L4</a:t>
            </a:r>
            <a:r>
              <a:rPr lang="zh-CN" sz="900" b="1">
                <a:solidFill>
                  <a:srgbClr val="FBA15C"/>
                </a:solidFill>
                <a:latin typeface="Microsoft YaHei"/>
                <a:ea typeface="Microsoft YaHei"/>
              </a:rPr>
              <a:t>　检修工单执行</a:t>
            </a:r>
            <a:endParaRPr/>
          </a:p>
        </p:txBody>
      </p:sp>
      <p:sp>
        <p:nvSpPr>
          <p:cNvPr id="1427" name="" descr="{&quot;isTemplate&quot;:true,&quot;type&quot;:&quot;text&quot;}"/>
          <p:cNvSpPr txBox="1"/>
          <p:nvPr/>
        </p:nvSpPr>
        <p:spPr>
          <a:xfrm rot="0" flipH="0" flipV="0">
            <a:off x="733425" y="1866900"/>
            <a:ext cx="2228850" cy="1228725"/>
          </a:xfrm>
          <a:prstGeom prst="rect"/>
        </p:spPr>
        <p:txBody>
          <a:bodyPr wrap="square" lIns="0" tIns="0" rIns="0" bIns="0">
            <a:normAutofit/>
          </a:bodyPr>
          <a:p>
            <a:pPr>
              <a:lnSpc>
                <a:spcPct val="140000"/>
              </a:lnSpc>
            </a:pPr>
            <a:r>
              <a:rPr lang="zh-CN" sz="788">
                <a:solidFill>
                  <a:srgbClr val="5A6070"/>
                </a:solidFill>
                <a:latin typeface="Microsoft YaHei"/>
                <a:ea typeface="Microsoft YaHei"/>
              </a:rPr>
              <a:t>触发：缺陷确认需检修。输入：缺陷记录、设备画像、备件库存。输出：完工记录、验收结论、结算依据。</a:t>
            </a:r>
            <a:endParaRPr/>
          </a:p>
        </p:txBody>
      </p:sp>
      <p:sp>
        <p:nvSpPr>
          <p:cNvPr id="1428" name="" descr="{&quot;isTemplate&quot;:true,&quot;type&quot;:&quot;text&quot;}"/>
          <p:cNvSpPr txBox="1"/>
          <p:nvPr/>
        </p:nvSpPr>
        <p:spPr>
          <a:xfrm rot="0" flipH="0" flipV="0">
            <a:off x="733425" y="3152775"/>
            <a:ext cx="2228850" cy="314325"/>
          </a:xfrm>
          <a:prstGeom prst="rect"/>
        </p:spPr>
        <p:txBody>
          <a:bodyPr wrap="square" lIns="0" tIns="0" rIns="0" bIns="0">
            <a:normAutofit/>
          </a:bodyPr>
          <a:p>
            <a:pPr>
              <a:lnSpc>
                <a:spcPct val="135000"/>
              </a:lnSpc>
            </a:pPr>
            <a:r>
              <a:rPr lang="zh-CN" sz="750">
                <a:solidFill>
                  <a:srgbClr val="8A8F99"/>
                </a:solidFill>
                <a:latin typeface="Microsoft YaHei"/>
                <a:ea typeface="Microsoft YaHei"/>
              </a:rPr>
              <a:t>主责：能源运营技术部　弱集成：工单与资产靠人工挂接</a:t>
            </a:r>
            <a:endParaRPr/>
          </a:p>
        </p:txBody>
      </p:sp>
      <p:sp>
        <p:nvSpPr>
          <p:cNvPr id="1429" name="" descr="{&quot;isTemplate&quot;:true,&quot;type&quot;:&quot;text&quot;}"/>
          <p:cNvSpPr txBox="1"/>
          <p:nvPr/>
        </p:nvSpPr>
        <p:spPr>
          <a:xfrm rot="0" flipH="0" flipV="0">
            <a:off x="3143250" y="2457450"/>
            <a:ext cx="57150" cy="190500"/>
          </a:xfrm>
          <a:prstGeom prst="rect"/>
        </p:spPr>
        <p:txBody>
          <a:bodyPr wrap="none" lIns="0" tIns="0" rIns="0" bIns="0"/>
          <a:p>
            <a:pPr>
              <a:lnSpc>
                <a:spcPct val="100000"/>
              </a:lnSpc>
            </a:pPr>
            <a:r>
              <a:rPr sz="1200" b="1">
                <a:solidFill>
                  <a:srgbClr val="C8CCD4"/>
                </a:solidFill>
                <a:latin typeface="Microsoft YaHei"/>
                <a:ea typeface="Microsoft YaHei"/>
              </a:rPr>
              <a:t>›</a:t>
            </a:r>
            <a:endParaRPr/>
          </a:p>
        </p:txBody>
      </p:sp>
      <p:sp>
        <p:nvSpPr>
          <p:cNvPr id="1430" name=""/>
          <p:cNvSpPr/>
          <p:nvPr/>
        </p:nvSpPr>
        <p:spPr>
          <a:xfrm rot="0" flipH="0" flipV="0">
            <a:off x="3257550" y="1562100"/>
            <a:ext cx="5295900" cy="2038350"/>
          </a:xfrm>
          <a:prstGeom prst="roundRect">
            <a:avLst>
              <a:gd name="adj" fmla="val 1869"/>
            </a:avLst>
          </a:prstGeom>
          <a:solidFill>
            <a:srgbClr val="FFF3EE"/>
          </a:solidFill>
          <a:ln/>
        </p:spPr>
        <p:txBody>
          <a:bodyPr/>
          <a:p/>
        </p:txBody>
      </p:sp>
      <p:sp>
        <p:nvSpPr>
          <p:cNvPr id="1431" name=""/>
          <p:cNvSpPr/>
          <p:nvPr/>
        </p:nvSpPr>
        <p:spPr>
          <a:xfrm rot="0" flipH="0" flipV="0">
            <a:off x="3257550" y="1562100"/>
            <a:ext cx="5295900" cy="2038350"/>
          </a:xfrm>
          <a:custGeom>
            <a:pathLst>
              <a:path w="556" h="214">
                <a:moveTo>
                  <a:pt x="552" y="0"/>
                </a:moveTo>
                <a:cubicBezTo>
                  <a:pt x="554" y="0"/>
                  <a:pt x="556" y="2"/>
                  <a:pt x="556" y="4"/>
                </a:cubicBezTo>
                <a:cubicBezTo>
                  <a:pt x="556" y="3"/>
                  <a:pt x="555" y="3"/>
                  <a:pt x="555" y="3"/>
                </a:cubicBezTo>
                <a:lnTo>
                  <a:pt x="1" y="3"/>
                </a:lnTo>
                <a:cubicBezTo>
                  <a:pt x="1" y="3"/>
                  <a:pt x="0" y="3"/>
                  <a:pt x="0" y="4"/>
                </a:cubicBezTo>
                <a:cubicBezTo>
                  <a:pt x="0" y="2"/>
                  <a:pt x="2" y="0"/>
                  <a:pt x="4" y="0"/>
                </a:cubicBezTo>
                <a:lnTo>
                  <a:pt x="552" y="0"/>
                </a:lnTo>
                <a:close/>
              </a:path>
            </a:pathLst>
          </a:custGeom>
          <a:solidFill>
            <a:srgbClr val="FA4F24"/>
          </a:solidFill>
          <a:ln/>
        </p:spPr>
        <p:txBody>
          <a:bodyPr/>
          <a:p/>
        </p:txBody>
      </p:sp>
      <p:sp>
        <p:nvSpPr>
          <p:cNvPr id="1432" name="" descr="{&quot;isTemplate&quot;:true,&quot;type&quot;:&quot;text&quot;}"/>
          <p:cNvSpPr txBox="1"/>
          <p:nvPr/>
        </p:nvSpPr>
        <p:spPr>
          <a:xfrm rot="0" flipH="0" flipV="0">
            <a:off x="3381375" y="1666875"/>
            <a:ext cx="5048250" cy="142875"/>
          </a:xfrm>
          <a:prstGeom prst="rect"/>
        </p:spPr>
        <p:txBody>
          <a:bodyPr wrap="none" lIns="0" tIns="0" rIns="0" bIns="0"/>
          <a:p>
            <a:pPr>
              <a:lnSpc>
                <a:spcPct val="100000"/>
              </a:lnSpc>
            </a:pPr>
            <a:r>
              <a:rPr lang="en-US" sz="938" b="1">
                <a:solidFill>
                  <a:srgbClr val="FA4F24"/>
                </a:solidFill>
                <a:latin typeface="Microsoft YaHei"/>
                <a:ea typeface="Microsoft YaHei"/>
              </a:rPr>
              <a:t xml:space="preserve">L5 </a:t>
            </a:r>
            <a:r>
              <a:rPr lang="zh-CN" sz="938" b="1">
                <a:solidFill>
                  <a:srgbClr val="FA4F24"/>
                </a:solidFill>
                <a:latin typeface="Microsoft YaHei"/>
                <a:ea typeface="Microsoft YaHei"/>
              </a:rPr>
              <a:t>三个业务活动</a:t>
            </a:r>
            <a:endParaRPr/>
          </a:p>
        </p:txBody>
      </p:sp>
      <p:sp>
        <p:nvSpPr>
          <p:cNvPr id="1433" name=""/>
          <p:cNvSpPr/>
          <p:nvPr/>
        </p:nvSpPr>
        <p:spPr>
          <a:xfrm rot="0" flipH="0" flipV="0">
            <a:off x="3381375" y="1857375"/>
            <a:ext cx="5048250" cy="504825"/>
          </a:xfrm>
          <a:prstGeom prst="roundRect">
            <a:avLst>
              <a:gd name="adj" fmla="val 5660"/>
            </a:avLst>
          </a:prstGeom>
          <a:solidFill>
            <a:srgbClr val="FFFFFF"/>
          </a:solidFill>
          <a:ln/>
        </p:spPr>
        <p:txBody>
          <a:bodyPr/>
          <a:p/>
        </p:txBody>
      </p:sp>
      <p:sp>
        <p:nvSpPr>
          <p:cNvPr id="1434" name="" descr="{&quot;isTemplate&quot;:true,&quot;type&quot;:&quot;text&quot;}"/>
          <p:cNvSpPr txBox="1"/>
          <p:nvPr/>
        </p:nvSpPr>
        <p:spPr>
          <a:xfrm rot="0" flipH="0" flipV="0">
            <a:off x="3476625" y="1885950"/>
            <a:ext cx="933450" cy="133350"/>
          </a:xfrm>
          <a:prstGeom prst="rect"/>
        </p:spPr>
        <p:txBody>
          <a:bodyPr wrap="none" lIns="0" tIns="0" rIns="0" bIns="0"/>
          <a:p>
            <a:pPr>
              <a:lnSpc>
                <a:spcPct val="100000"/>
              </a:lnSpc>
            </a:pPr>
            <a:r>
              <a:rPr lang="en-US" sz="863" b="1">
                <a:solidFill>
                  <a:srgbClr val="0F1423"/>
                </a:solidFill>
                <a:latin typeface="Microsoft YaHei"/>
                <a:ea typeface="Microsoft YaHei"/>
              </a:rPr>
              <a:t xml:space="preserve">L5-1 </a:t>
            </a:r>
            <a:r>
              <a:rPr lang="zh-CN" sz="863" b="1">
                <a:solidFill>
                  <a:srgbClr val="0F1423"/>
                </a:solidFill>
                <a:latin typeface="Microsoft YaHei"/>
                <a:ea typeface="Microsoft YaHei"/>
              </a:rPr>
              <a:t>检修方案编制</a:t>
            </a:r>
            <a:endParaRPr/>
          </a:p>
        </p:txBody>
      </p:sp>
      <p:sp>
        <p:nvSpPr>
          <p:cNvPr id="1435" name="" descr="{&quot;isTemplate&quot;:true,&quot;type&quot;:&quot;text&quot;}"/>
          <p:cNvSpPr txBox="1"/>
          <p:nvPr/>
        </p:nvSpPr>
        <p:spPr>
          <a:xfrm rot="0" flipH="0" flipV="0">
            <a:off x="7858125" y="1895475"/>
            <a:ext cx="476250" cy="114300"/>
          </a:xfrm>
          <a:prstGeom prst="rect"/>
        </p:spPr>
        <p:txBody>
          <a:bodyPr wrap="none" lIns="0" tIns="0" rIns="0" bIns="0"/>
          <a:p>
            <a:pPr>
              <a:lnSpc>
                <a:spcPct val="100000"/>
              </a:lnSpc>
            </a:pPr>
            <a:r>
              <a:rPr lang="zh-CN" sz="750">
                <a:solidFill>
                  <a:srgbClr val="8A8F99"/>
                </a:solidFill>
                <a:latin typeface="Microsoft YaHei"/>
                <a:ea typeface="Microsoft YaHei"/>
              </a:rPr>
              <a:t>检修工程师</a:t>
            </a:r>
            <a:endParaRPr/>
          </a:p>
        </p:txBody>
      </p:sp>
      <p:sp>
        <p:nvSpPr>
          <p:cNvPr id="1436" name="" descr="{&quot;isTemplate&quot;:true,&quot;type&quot;:&quot;text&quot;}"/>
          <p:cNvSpPr txBox="1"/>
          <p:nvPr/>
        </p:nvSpPr>
        <p:spPr>
          <a:xfrm rot="0" flipH="0" flipV="0">
            <a:off x="3476625" y="2038350"/>
            <a:ext cx="4857750" cy="152400"/>
          </a:xfrm>
          <a:prstGeom prst="rect"/>
        </p:spPr>
        <p:txBody>
          <a:bodyPr wrap="none" lIns="0" tIns="0" rIns="0" bIns="0"/>
          <a:p>
            <a:pPr>
              <a:lnSpc>
                <a:spcPct val="130000"/>
              </a:lnSpc>
            </a:pPr>
            <a:r>
              <a:rPr lang="zh-CN" sz="750">
                <a:solidFill>
                  <a:srgbClr val="5A6070"/>
                </a:solidFill>
                <a:latin typeface="Microsoft YaHei"/>
                <a:ea typeface="Microsoft YaHei"/>
              </a:rPr>
              <a:t>缺陷记录</a:t>
            </a:r>
            <a:r>
              <a:rPr lang="en-US" sz="750">
                <a:solidFill>
                  <a:srgbClr val="5A6070"/>
                </a:solidFill>
                <a:latin typeface="Microsoft YaHei"/>
                <a:ea typeface="Microsoft YaHei"/>
              </a:rPr>
              <a:t>+</a:t>
            </a:r>
            <a:r>
              <a:rPr lang="zh-CN" sz="750">
                <a:solidFill>
                  <a:srgbClr val="5A6070"/>
                </a:solidFill>
                <a:latin typeface="Microsoft YaHei"/>
                <a:ea typeface="Microsoft YaHei"/>
              </a:rPr>
              <a:t>设备画像</a:t>
            </a:r>
            <a:r>
              <a:rPr lang="zh-CN" sz="750">
                <a:solidFill>
                  <a:srgbClr val="5A6070"/>
                </a:solidFill>
                <a:latin typeface="Microsoft YaHei"/>
                <a:ea typeface="Microsoft YaHei"/>
              </a:rPr>
              <a:t>　→　</a:t>
            </a:r>
            <a:r>
              <a:rPr lang="zh-CN" sz="750">
                <a:solidFill>
                  <a:srgbClr val="5A6070"/>
                </a:solidFill>
                <a:latin typeface="Microsoft YaHei"/>
                <a:ea typeface="Microsoft YaHei"/>
              </a:rPr>
              <a:t>方案</a:t>
            </a:r>
            <a:r>
              <a:rPr lang="en-US" sz="750">
                <a:solidFill>
                  <a:srgbClr val="5A6070"/>
                </a:solidFill>
                <a:latin typeface="Microsoft YaHei"/>
                <a:ea typeface="Microsoft YaHei"/>
              </a:rPr>
              <a:t>+</a:t>
            </a:r>
            <a:r>
              <a:rPr lang="zh-CN" sz="750">
                <a:solidFill>
                  <a:srgbClr val="5A6070"/>
                </a:solidFill>
                <a:latin typeface="Microsoft YaHei"/>
                <a:ea typeface="Microsoft YaHei"/>
              </a:rPr>
              <a:t>备件清单</a:t>
            </a:r>
            <a:endParaRPr/>
          </a:p>
        </p:txBody>
      </p:sp>
      <p:sp>
        <p:nvSpPr>
          <p:cNvPr id="1437" name="" descr="{&quot;isTemplate&quot;:true,&quot;type&quot;:&quot;text&quot;}"/>
          <p:cNvSpPr txBox="1"/>
          <p:nvPr/>
        </p:nvSpPr>
        <p:spPr>
          <a:xfrm rot="0" flipH="0" flipV="0">
            <a:off x="3476625" y="2190750"/>
            <a:ext cx="4857750" cy="152400"/>
          </a:xfrm>
          <a:prstGeom prst="rect"/>
        </p:spPr>
        <p:txBody>
          <a:bodyPr wrap="none" lIns="0" tIns="0" rIns="0" bIns="0"/>
          <a:p>
            <a:pPr>
              <a:lnSpc>
                <a:spcPct val="130000"/>
              </a:lnSpc>
            </a:pPr>
            <a:r>
              <a:rPr lang="zh-CN" sz="750">
                <a:solidFill>
                  <a:srgbClr val="C43A17"/>
                </a:solidFill>
                <a:latin typeface="Microsoft YaHei"/>
                <a:ea typeface="Microsoft YaHei"/>
              </a:rPr>
              <a:t>方案一次通过率</a:t>
            </a:r>
            <a:endParaRPr/>
          </a:p>
        </p:txBody>
      </p:sp>
      <p:sp>
        <p:nvSpPr>
          <p:cNvPr id="1438" name=""/>
          <p:cNvSpPr/>
          <p:nvPr/>
        </p:nvSpPr>
        <p:spPr>
          <a:xfrm rot="0" flipH="0" flipV="0">
            <a:off x="3381375" y="2409825"/>
            <a:ext cx="5048250" cy="504825"/>
          </a:xfrm>
          <a:prstGeom prst="roundRect">
            <a:avLst>
              <a:gd name="adj" fmla="val 5660"/>
            </a:avLst>
          </a:prstGeom>
          <a:solidFill>
            <a:srgbClr val="FFFFFF"/>
          </a:solidFill>
          <a:ln/>
        </p:spPr>
        <p:txBody>
          <a:bodyPr/>
          <a:p/>
        </p:txBody>
      </p:sp>
      <p:sp>
        <p:nvSpPr>
          <p:cNvPr id="1439" name="" descr="{&quot;isTemplate&quot;:true,&quot;type&quot;:&quot;text&quot;}"/>
          <p:cNvSpPr txBox="1"/>
          <p:nvPr/>
        </p:nvSpPr>
        <p:spPr>
          <a:xfrm rot="0" flipH="0" flipV="0">
            <a:off x="3476625" y="2438400"/>
            <a:ext cx="933450" cy="133350"/>
          </a:xfrm>
          <a:prstGeom prst="rect"/>
        </p:spPr>
        <p:txBody>
          <a:bodyPr wrap="none" lIns="0" tIns="0" rIns="0" bIns="0"/>
          <a:p>
            <a:pPr>
              <a:lnSpc>
                <a:spcPct val="100000"/>
              </a:lnSpc>
            </a:pPr>
            <a:r>
              <a:rPr lang="en-US" sz="863" b="1">
                <a:solidFill>
                  <a:srgbClr val="0F1423"/>
                </a:solidFill>
                <a:latin typeface="Microsoft YaHei"/>
                <a:ea typeface="Microsoft YaHei"/>
              </a:rPr>
              <a:t xml:space="preserve">L5-2 </a:t>
            </a:r>
            <a:r>
              <a:rPr lang="zh-CN" sz="863" b="1">
                <a:solidFill>
                  <a:srgbClr val="0F1423"/>
                </a:solidFill>
                <a:latin typeface="Microsoft YaHei"/>
                <a:ea typeface="Microsoft YaHei"/>
              </a:rPr>
              <a:t>现场检修执行</a:t>
            </a:r>
            <a:endParaRPr/>
          </a:p>
        </p:txBody>
      </p:sp>
      <p:sp>
        <p:nvSpPr>
          <p:cNvPr id="1440" name="" descr="{&quot;isTemplate&quot;:true,&quot;type&quot;:&quot;text&quot;}"/>
          <p:cNvSpPr txBox="1"/>
          <p:nvPr/>
        </p:nvSpPr>
        <p:spPr>
          <a:xfrm rot="0" flipH="0" flipV="0">
            <a:off x="7715250" y="2447925"/>
            <a:ext cx="619125" cy="114300"/>
          </a:xfrm>
          <a:prstGeom prst="rect"/>
        </p:spPr>
        <p:txBody>
          <a:bodyPr wrap="none" lIns="0" tIns="0" rIns="0" bIns="0"/>
          <a:p>
            <a:pPr>
              <a:lnSpc>
                <a:spcPct val="100000"/>
              </a:lnSpc>
            </a:pPr>
            <a:r>
              <a:rPr lang="zh-CN" sz="750">
                <a:solidFill>
                  <a:srgbClr val="8A8F99"/>
                </a:solidFill>
                <a:latin typeface="Microsoft YaHei"/>
                <a:ea typeface="Microsoft YaHei"/>
              </a:rPr>
              <a:t>检修班组</a:t>
            </a:r>
            <a:r>
              <a:rPr lang="en-US" sz="750">
                <a:solidFill>
                  <a:srgbClr val="8A8F99"/>
                </a:solidFill>
                <a:latin typeface="Microsoft YaHei"/>
                <a:ea typeface="Microsoft YaHei"/>
              </a:rPr>
              <a:t>/</a:t>
            </a:r>
            <a:r>
              <a:rPr lang="zh-CN" sz="750">
                <a:solidFill>
                  <a:srgbClr val="8A8F99"/>
                </a:solidFill>
                <a:latin typeface="Microsoft YaHei"/>
                <a:ea typeface="Microsoft YaHei"/>
              </a:rPr>
              <a:t>值长</a:t>
            </a:r>
            <a:endParaRPr/>
          </a:p>
        </p:txBody>
      </p:sp>
      <p:sp>
        <p:nvSpPr>
          <p:cNvPr id="1441" name="" descr="{&quot;isTemplate&quot;:true,&quot;type&quot;:&quot;text&quot;}"/>
          <p:cNvSpPr txBox="1"/>
          <p:nvPr/>
        </p:nvSpPr>
        <p:spPr>
          <a:xfrm rot="0" flipH="0" flipV="0">
            <a:off x="3476625" y="2590800"/>
            <a:ext cx="4857750" cy="152400"/>
          </a:xfrm>
          <a:prstGeom prst="rect"/>
        </p:spPr>
        <p:txBody>
          <a:bodyPr wrap="none" lIns="0" tIns="0" rIns="0" bIns="0"/>
          <a:p>
            <a:pPr>
              <a:lnSpc>
                <a:spcPct val="130000"/>
              </a:lnSpc>
            </a:pPr>
            <a:r>
              <a:rPr lang="zh-CN" sz="750">
                <a:solidFill>
                  <a:srgbClr val="5A6070"/>
                </a:solidFill>
                <a:latin typeface="Microsoft YaHei"/>
                <a:ea typeface="Microsoft YaHei"/>
              </a:rPr>
              <a:t>已审批方案</a:t>
            </a:r>
            <a:r>
              <a:rPr lang="en-US" sz="750">
                <a:solidFill>
                  <a:srgbClr val="5A6070"/>
                </a:solidFill>
                <a:latin typeface="Microsoft YaHei"/>
                <a:ea typeface="Microsoft YaHei"/>
              </a:rPr>
              <a:t>+</a:t>
            </a:r>
            <a:r>
              <a:rPr lang="zh-CN" sz="750">
                <a:solidFill>
                  <a:srgbClr val="5A6070"/>
                </a:solidFill>
                <a:latin typeface="Microsoft YaHei"/>
                <a:ea typeface="Microsoft YaHei"/>
              </a:rPr>
              <a:t>出库单</a:t>
            </a:r>
            <a:r>
              <a:rPr lang="zh-CN" sz="750">
                <a:solidFill>
                  <a:srgbClr val="5A6070"/>
                </a:solidFill>
                <a:latin typeface="Microsoft YaHei"/>
                <a:ea typeface="Microsoft YaHei"/>
              </a:rPr>
              <a:t>　→　</a:t>
            </a:r>
            <a:r>
              <a:rPr lang="zh-CN" sz="750">
                <a:solidFill>
                  <a:srgbClr val="5A6070"/>
                </a:solidFill>
                <a:latin typeface="Microsoft YaHei"/>
                <a:ea typeface="Microsoft YaHei"/>
              </a:rPr>
              <a:t>完工记录</a:t>
            </a:r>
            <a:r>
              <a:rPr lang="en-US" sz="750">
                <a:solidFill>
                  <a:srgbClr val="5A6070"/>
                </a:solidFill>
                <a:latin typeface="Microsoft YaHei"/>
                <a:ea typeface="Microsoft YaHei"/>
              </a:rPr>
              <a:t>+</a:t>
            </a:r>
            <a:r>
              <a:rPr lang="zh-CN" sz="750">
                <a:solidFill>
                  <a:srgbClr val="5A6070"/>
                </a:solidFill>
                <a:latin typeface="Microsoft YaHei"/>
                <a:ea typeface="Microsoft YaHei"/>
              </a:rPr>
              <a:t>异常说明</a:t>
            </a:r>
            <a:endParaRPr/>
          </a:p>
        </p:txBody>
      </p:sp>
      <p:sp>
        <p:nvSpPr>
          <p:cNvPr id="1442" name="" descr="{&quot;isTemplate&quot;:true,&quot;type&quot;:&quot;text&quot;}"/>
          <p:cNvSpPr txBox="1"/>
          <p:nvPr/>
        </p:nvSpPr>
        <p:spPr>
          <a:xfrm rot="0" flipH="0" flipV="0">
            <a:off x="3476625" y="2743200"/>
            <a:ext cx="4857750" cy="152400"/>
          </a:xfrm>
          <a:prstGeom prst="rect"/>
        </p:spPr>
        <p:txBody>
          <a:bodyPr wrap="none" lIns="0" tIns="0" rIns="0" bIns="0"/>
          <a:p>
            <a:pPr>
              <a:lnSpc>
                <a:spcPct val="130000"/>
              </a:lnSpc>
            </a:pPr>
            <a:r>
              <a:rPr lang="zh-CN" sz="750">
                <a:solidFill>
                  <a:srgbClr val="C43A17"/>
                </a:solidFill>
                <a:latin typeface="Microsoft YaHei"/>
                <a:ea typeface="Microsoft YaHei"/>
              </a:rPr>
              <a:t>平均修复时长、一次修复率</a:t>
            </a:r>
            <a:endParaRPr/>
          </a:p>
        </p:txBody>
      </p:sp>
      <p:sp>
        <p:nvSpPr>
          <p:cNvPr id="1443" name=""/>
          <p:cNvSpPr/>
          <p:nvPr/>
        </p:nvSpPr>
        <p:spPr>
          <a:xfrm rot="0" flipH="0" flipV="0">
            <a:off x="3381375" y="2962275"/>
            <a:ext cx="5048250" cy="504825"/>
          </a:xfrm>
          <a:prstGeom prst="roundRect">
            <a:avLst>
              <a:gd name="adj" fmla="val 5660"/>
            </a:avLst>
          </a:prstGeom>
          <a:solidFill>
            <a:srgbClr val="FFFFFF"/>
          </a:solidFill>
          <a:ln/>
        </p:spPr>
        <p:txBody>
          <a:bodyPr/>
          <a:p/>
        </p:txBody>
      </p:sp>
      <p:sp>
        <p:nvSpPr>
          <p:cNvPr id="1444" name="" descr="{&quot;isTemplate&quot;:true,&quot;type&quot;:&quot;text&quot;}"/>
          <p:cNvSpPr txBox="1"/>
          <p:nvPr/>
        </p:nvSpPr>
        <p:spPr>
          <a:xfrm rot="0" flipH="0" flipV="0">
            <a:off x="3476625" y="2990850"/>
            <a:ext cx="828675" cy="133350"/>
          </a:xfrm>
          <a:prstGeom prst="rect"/>
        </p:spPr>
        <p:txBody>
          <a:bodyPr wrap="none" lIns="0" tIns="0" rIns="0" bIns="0"/>
          <a:p>
            <a:pPr>
              <a:lnSpc>
                <a:spcPct val="100000"/>
              </a:lnSpc>
            </a:pPr>
            <a:r>
              <a:rPr lang="en-US" sz="863" b="1">
                <a:solidFill>
                  <a:srgbClr val="0F1423"/>
                </a:solidFill>
                <a:latin typeface="Microsoft YaHei"/>
                <a:ea typeface="Microsoft YaHei"/>
              </a:rPr>
              <a:t xml:space="preserve">L5-3 </a:t>
            </a:r>
            <a:r>
              <a:rPr lang="zh-CN" sz="863" b="1">
                <a:solidFill>
                  <a:srgbClr val="0F1423"/>
                </a:solidFill>
                <a:latin typeface="Microsoft YaHei"/>
                <a:ea typeface="Microsoft YaHei"/>
              </a:rPr>
              <a:t>验收与结算</a:t>
            </a:r>
            <a:endParaRPr/>
          </a:p>
        </p:txBody>
      </p:sp>
      <p:sp>
        <p:nvSpPr>
          <p:cNvPr id="1445" name="" descr="{&quot;isTemplate&quot;:true,&quot;type&quot;:&quot;text&quot;}"/>
          <p:cNvSpPr txBox="1"/>
          <p:nvPr/>
        </p:nvSpPr>
        <p:spPr>
          <a:xfrm rot="0" flipH="0" flipV="0">
            <a:off x="7334250" y="3000375"/>
            <a:ext cx="1000125" cy="114300"/>
          </a:xfrm>
          <a:prstGeom prst="rect"/>
        </p:spPr>
        <p:txBody>
          <a:bodyPr wrap="none" lIns="0" tIns="0" rIns="0" bIns="0"/>
          <a:p>
            <a:pPr>
              <a:lnSpc>
                <a:spcPct val="100000"/>
              </a:lnSpc>
            </a:pPr>
            <a:r>
              <a:rPr lang="zh-CN" sz="750">
                <a:solidFill>
                  <a:srgbClr val="8A8F99"/>
                </a:solidFill>
                <a:latin typeface="Microsoft YaHei"/>
                <a:ea typeface="Microsoft YaHei"/>
              </a:rPr>
              <a:t>技术负责人</a:t>
            </a:r>
            <a:r>
              <a:rPr lang="en-US" sz="750">
                <a:solidFill>
                  <a:srgbClr val="8A8F99"/>
                </a:solidFill>
                <a:latin typeface="Microsoft YaHei"/>
                <a:ea typeface="Microsoft YaHei"/>
              </a:rPr>
              <a:t>/</a:t>
            </a:r>
            <a:r>
              <a:rPr lang="zh-CN" sz="750">
                <a:solidFill>
                  <a:srgbClr val="8A8F99"/>
                </a:solidFill>
                <a:latin typeface="Microsoft YaHei"/>
                <a:ea typeface="Microsoft YaHei"/>
              </a:rPr>
              <a:t>资产管理员</a:t>
            </a:r>
            <a:endParaRPr/>
          </a:p>
        </p:txBody>
      </p:sp>
      <p:sp>
        <p:nvSpPr>
          <p:cNvPr id="1446" name="" descr="{&quot;isTemplate&quot;:true,&quot;type&quot;:&quot;text&quot;}"/>
          <p:cNvSpPr txBox="1"/>
          <p:nvPr/>
        </p:nvSpPr>
        <p:spPr>
          <a:xfrm rot="0" flipH="0" flipV="0">
            <a:off x="3476625" y="3143250"/>
            <a:ext cx="4857750" cy="152400"/>
          </a:xfrm>
          <a:prstGeom prst="rect"/>
        </p:spPr>
        <p:txBody>
          <a:bodyPr wrap="none" lIns="0" tIns="0" rIns="0" bIns="0"/>
          <a:p>
            <a:pPr>
              <a:lnSpc>
                <a:spcPct val="130000"/>
              </a:lnSpc>
            </a:pPr>
            <a:r>
              <a:rPr lang="zh-CN" sz="750">
                <a:solidFill>
                  <a:srgbClr val="5A6070"/>
                </a:solidFill>
                <a:latin typeface="Microsoft YaHei"/>
                <a:ea typeface="Microsoft YaHei"/>
              </a:rPr>
              <a:t>完工记录</a:t>
            </a:r>
            <a:r>
              <a:rPr lang="en-US" sz="750">
                <a:solidFill>
                  <a:srgbClr val="5A6070"/>
                </a:solidFill>
                <a:latin typeface="Microsoft YaHei"/>
                <a:ea typeface="Microsoft YaHei"/>
              </a:rPr>
              <a:t>+</a:t>
            </a:r>
            <a:r>
              <a:rPr lang="zh-CN" sz="750">
                <a:solidFill>
                  <a:srgbClr val="5A6070"/>
                </a:solidFill>
                <a:latin typeface="Microsoft YaHei"/>
                <a:ea typeface="Microsoft YaHei"/>
              </a:rPr>
              <a:t>备件消耗</a:t>
            </a:r>
            <a:r>
              <a:rPr lang="zh-CN" sz="750">
                <a:solidFill>
                  <a:srgbClr val="5A6070"/>
                </a:solidFill>
                <a:latin typeface="Microsoft YaHei"/>
                <a:ea typeface="Microsoft YaHei"/>
              </a:rPr>
              <a:t>　→　</a:t>
            </a:r>
            <a:r>
              <a:rPr lang="zh-CN" sz="750">
                <a:solidFill>
                  <a:srgbClr val="5A6070"/>
                </a:solidFill>
                <a:latin typeface="Microsoft YaHei"/>
                <a:ea typeface="Microsoft YaHei"/>
              </a:rPr>
              <a:t>验收结论</a:t>
            </a:r>
            <a:r>
              <a:rPr lang="en-US" sz="750">
                <a:solidFill>
                  <a:srgbClr val="5A6070"/>
                </a:solidFill>
                <a:latin typeface="Microsoft YaHei"/>
                <a:ea typeface="Microsoft YaHei"/>
              </a:rPr>
              <a:t>+</a:t>
            </a:r>
            <a:r>
              <a:rPr lang="zh-CN" sz="750">
                <a:solidFill>
                  <a:srgbClr val="5A6070"/>
                </a:solidFill>
                <a:latin typeface="Microsoft YaHei"/>
                <a:ea typeface="Microsoft YaHei"/>
              </a:rPr>
              <a:t>台账更新</a:t>
            </a:r>
            <a:endParaRPr/>
          </a:p>
        </p:txBody>
      </p:sp>
      <p:sp>
        <p:nvSpPr>
          <p:cNvPr id="1447" name="" descr="{&quot;isTemplate&quot;:true,&quot;type&quot;:&quot;text&quot;}"/>
          <p:cNvSpPr txBox="1"/>
          <p:nvPr/>
        </p:nvSpPr>
        <p:spPr>
          <a:xfrm rot="0" flipH="0" flipV="0">
            <a:off x="3476625" y="3295650"/>
            <a:ext cx="4857750" cy="152400"/>
          </a:xfrm>
          <a:prstGeom prst="rect"/>
        </p:spPr>
        <p:txBody>
          <a:bodyPr wrap="none" lIns="0" tIns="0" rIns="0" bIns="0"/>
          <a:p>
            <a:pPr>
              <a:lnSpc>
                <a:spcPct val="130000"/>
              </a:lnSpc>
            </a:pPr>
            <a:r>
              <a:rPr lang="zh-CN" sz="750">
                <a:solidFill>
                  <a:srgbClr val="C43A17"/>
                </a:solidFill>
                <a:latin typeface="Microsoft YaHei"/>
                <a:ea typeface="Microsoft YaHei"/>
              </a:rPr>
              <a:t>验收一次通过率、台账更新及时率</a:t>
            </a:r>
            <a:endParaRPr/>
          </a:p>
        </p:txBody>
      </p:sp>
      <p:sp>
        <p:nvSpPr>
          <p:cNvPr id="1448" name="" descr="{&quot;isTemplate&quot;:true,&quot;type&quot;:&quot;text&quot;}"/>
          <p:cNvSpPr txBox="1"/>
          <p:nvPr/>
        </p:nvSpPr>
        <p:spPr>
          <a:xfrm rot="0" flipH="0" flipV="0">
            <a:off x="8610600" y="2457450"/>
            <a:ext cx="57150" cy="190500"/>
          </a:xfrm>
          <a:prstGeom prst="rect"/>
        </p:spPr>
        <p:txBody>
          <a:bodyPr wrap="none" lIns="0" tIns="0" rIns="0" bIns="0"/>
          <a:p>
            <a:pPr>
              <a:lnSpc>
                <a:spcPct val="100000"/>
              </a:lnSpc>
            </a:pPr>
            <a:r>
              <a:rPr sz="1200" b="1">
                <a:solidFill>
                  <a:srgbClr val="C8CCD4"/>
                </a:solidFill>
                <a:latin typeface="Microsoft YaHei"/>
                <a:ea typeface="Microsoft YaHei"/>
              </a:rPr>
              <a:t>›</a:t>
            </a:r>
            <a:endParaRPr/>
          </a:p>
        </p:txBody>
      </p:sp>
      <p:sp>
        <p:nvSpPr>
          <p:cNvPr id="1449" name=""/>
          <p:cNvSpPr/>
          <p:nvPr/>
        </p:nvSpPr>
        <p:spPr>
          <a:xfrm rot="0" flipH="0" flipV="0">
            <a:off x="8724900" y="1533525"/>
            <a:ext cx="2857500" cy="2038350"/>
          </a:xfrm>
          <a:prstGeom prst="roundRect">
            <a:avLst>
              <a:gd name="adj" fmla="val 1869"/>
            </a:avLst>
          </a:prstGeom>
          <a:solidFill>
            <a:srgbClr val="0F1423"/>
          </a:solidFill>
          <a:ln/>
        </p:spPr>
        <p:txBody>
          <a:bodyPr/>
          <a:p/>
        </p:txBody>
      </p:sp>
      <p:sp>
        <p:nvSpPr>
          <p:cNvPr id="1450" name="" descr="{&quot;isTemplate&quot;:true,&quot;type&quot;:&quot;text&quot;}"/>
          <p:cNvSpPr txBox="1"/>
          <p:nvPr/>
        </p:nvSpPr>
        <p:spPr>
          <a:xfrm rot="0" flipH="0" flipV="0">
            <a:off x="8848725" y="1638300"/>
            <a:ext cx="2609850" cy="142875"/>
          </a:xfrm>
          <a:prstGeom prst="rect"/>
        </p:spPr>
        <p:txBody>
          <a:bodyPr wrap="none" lIns="0" tIns="0" rIns="0" bIns="0"/>
          <a:p>
            <a:pPr>
              <a:lnSpc>
                <a:spcPct val="100000"/>
              </a:lnSpc>
            </a:pPr>
            <a:r>
              <a:rPr lang="en-US" sz="938">
                <a:solidFill>
                  <a:srgbClr val="FBA15C"/>
                </a:solidFill>
                <a:latin typeface="Microsoft YaHei"/>
                <a:ea typeface="Microsoft YaHei"/>
              </a:rPr>
              <a:t xml:space="preserve">L6 </a:t>
            </a:r>
            <a:r>
              <a:rPr lang="zh-CN" sz="938">
                <a:solidFill>
                  <a:srgbClr val="FBA15C"/>
                </a:solidFill>
                <a:latin typeface="Microsoft YaHei"/>
                <a:ea typeface="Microsoft YaHei"/>
              </a:rPr>
              <a:t>可执行任务</a:t>
            </a:r>
            <a:endParaRPr/>
          </a:p>
        </p:txBody>
      </p:sp>
      <p:sp>
        <p:nvSpPr>
          <p:cNvPr id="1451" name="" descr="{&quot;isTemplate&quot;:true,&quot;type&quot;:&quot;text&quot;}"/>
          <p:cNvSpPr txBox="1"/>
          <p:nvPr/>
        </p:nvSpPr>
        <p:spPr>
          <a:xfrm rot="0" flipH="0" flipV="0">
            <a:off x="8848725" y="1828800"/>
            <a:ext cx="2609850" cy="552450"/>
          </a:xfrm>
          <a:prstGeom prst="rect"/>
        </p:spPr>
        <p:txBody>
          <a:bodyPr wrap="square" lIns="0" tIns="0" rIns="0" bIns="0">
            <a:normAutofit/>
          </a:bodyPr>
          <a:p>
            <a:pPr>
              <a:lnSpc>
                <a:spcPct val="135000"/>
              </a:lnSpc>
            </a:pPr>
            <a:r>
              <a:rPr lang="en-US" sz="750">
                <a:solidFill>
                  <a:srgbClr val="FFFFFF">
                    <a:alpha val="70000"/>
                  </a:srgbClr>
                </a:solidFill>
                <a:latin typeface="Microsoft YaHei"/>
                <a:ea typeface="Microsoft YaHei"/>
              </a:rPr>
              <a:t xml:space="preserve">L6 </a:t>
            </a:r>
            <a:r>
              <a:rPr lang="zh-CN" sz="750">
                <a:solidFill>
                  <a:srgbClr val="FFFFFF">
                    <a:alpha val="70000"/>
                  </a:srgbClr>
                </a:solidFill>
                <a:latin typeface="Microsoft YaHei"/>
                <a:ea typeface="Microsoft YaHei"/>
              </a:rPr>
              <a:t>落到系统能做什么：</a:t>
            </a:r>
            <a:r>
              <a:rPr lang="en-US" sz="750">
                <a:solidFill>
                  <a:srgbClr val="FFFFFF">
                    <a:alpha val="70000"/>
                  </a:srgbClr>
                </a:solidFill>
                <a:latin typeface="Microsoft YaHei"/>
                <a:ea typeface="Microsoft YaHei"/>
              </a:rPr>
              <a:t xml:space="preserve">L5-1 </a:t>
            </a:r>
            <a:r>
              <a:rPr lang="zh-CN" sz="750">
                <a:solidFill>
                  <a:srgbClr val="FFFFFF">
                    <a:alpha val="70000"/>
                  </a:srgbClr>
                </a:solidFill>
                <a:latin typeface="Microsoft YaHei"/>
                <a:ea typeface="Microsoft YaHei"/>
              </a:rPr>
              <a:t>拆为读取画像、生成草稿、库存校验、提交审批四个任务。</a:t>
            </a:r>
            <a:endParaRPr/>
          </a:p>
        </p:txBody>
      </p:sp>
      <p:sp>
        <p:nvSpPr>
          <p:cNvPr id="1452" name="" descr="{&quot;isTemplate&quot;:true,&quot;type&quot;:&quot;text&quot;}"/>
          <p:cNvSpPr txBox="1"/>
          <p:nvPr/>
        </p:nvSpPr>
        <p:spPr>
          <a:xfrm rot="0" flipH="0" flipV="0">
            <a:off x="8848725" y="2457450"/>
            <a:ext cx="2609850" cy="133350"/>
          </a:xfrm>
          <a:prstGeom prst="rect"/>
        </p:spPr>
        <p:txBody>
          <a:bodyPr wrap="none" lIns="0" tIns="0" rIns="0" bIns="0"/>
          <a:p>
            <a:pPr>
              <a:lnSpc>
                <a:spcPct val="100000"/>
              </a:lnSpc>
            </a:pPr>
            <a:r>
              <a:rPr lang="zh-CN" sz="825" b="1">
                <a:solidFill>
                  <a:srgbClr val="FFFFFF"/>
                </a:solidFill>
                <a:latin typeface="Microsoft YaHei"/>
                <a:ea typeface="Microsoft YaHei"/>
              </a:rPr>
              <a:t>例外处理</a:t>
            </a:r>
            <a:endParaRPr/>
          </a:p>
        </p:txBody>
      </p:sp>
      <p:sp>
        <p:nvSpPr>
          <p:cNvPr id="1453" name="" descr="{&quot;isTemplate&quot;:true,&quot;type&quot;:&quot;text&quot;}"/>
          <p:cNvSpPr txBox="1"/>
          <p:nvPr/>
        </p:nvSpPr>
        <p:spPr>
          <a:xfrm rot="0" flipH="0" flipV="0">
            <a:off x="8848725" y="2609850"/>
            <a:ext cx="2609850" cy="152400"/>
          </a:xfrm>
          <a:prstGeom prst="rect"/>
        </p:spPr>
        <p:txBody>
          <a:bodyPr wrap="none" lIns="0" tIns="0" rIns="0" bIns="0"/>
          <a:p>
            <a:pPr>
              <a:lnSpc>
                <a:spcPct val="130000"/>
              </a:lnSpc>
            </a:pPr>
            <a:r>
              <a:rPr lang="zh-CN" sz="750">
                <a:solidFill>
                  <a:srgbClr val="FFFFFF">
                    <a:alpha val="80000"/>
                  </a:srgbClr>
                </a:solidFill>
                <a:latin typeface="Microsoft YaHei"/>
                <a:ea typeface="Microsoft YaHei"/>
              </a:rPr>
              <a:t>备件不足、带病运行、超预算，三条都要写</a:t>
            </a:r>
            <a:endParaRPr/>
          </a:p>
        </p:txBody>
      </p:sp>
      <p:sp>
        <p:nvSpPr>
          <p:cNvPr id="1454" name="" descr="{&quot;isTemplate&quot;:true,&quot;type&quot;:&quot;text&quot;}"/>
          <p:cNvSpPr txBox="1"/>
          <p:nvPr/>
        </p:nvSpPr>
        <p:spPr>
          <a:xfrm rot="0" flipH="0" flipV="0">
            <a:off x="8848725" y="2809875"/>
            <a:ext cx="2609850" cy="133350"/>
          </a:xfrm>
          <a:prstGeom prst="rect"/>
        </p:spPr>
        <p:txBody>
          <a:bodyPr wrap="none" lIns="0" tIns="0" rIns="0" bIns="0"/>
          <a:p>
            <a:pPr>
              <a:lnSpc>
                <a:spcPct val="100000"/>
              </a:lnSpc>
            </a:pPr>
            <a:r>
              <a:rPr lang="zh-CN" sz="825" b="1">
                <a:solidFill>
                  <a:srgbClr val="FFFFFF"/>
                </a:solidFill>
                <a:latin typeface="Microsoft YaHei"/>
                <a:ea typeface="Microsoft YaHei"/>
              </a:rPr>
              <a:t>角色映射</a:t>
            </a:r>
            <a:endParaRPr/>
          </a:p>
        </p:txBody>
      </p:sp>
      <p:sp>
        <p:nvSpPr>
          <p:cNvPr id="1455" name="" descr="{&quot;isTemplate&quot;:true,&quot;type&quot;:&quot;text&quot;}"/>
          <p:cNvSpPr txBox="1"/>
          <p:nvPr/>
        </p:nvSpPr>
        <p:spPr>
          <a:xfrm rot="0" flipH="0" flipV="0">
            <a:off x="8848725" y="2962275"/>
            <a:ext cx="2609850" cy="152400"/>
          </a:xfrm>
          <a:prstGeom prst="rect"/>
        </p:spPr>
        <p:txBody>
          <a:bodyPr wrap="none" lIns="0" tIns="0" rIns="0" bIns="0"/>
          <a:p>
            <a:pPr>
              <a:lnSpc>
                <a:spcPct val="130000"/>
              </a:lnSpc>
            </a:pPr>
            <a:r>
              <a:rPr lang="zh-CN" sz="750">
                <a:solidFill>
                  <a:srgbClr val="FFFFFF">
                    <a:alpha val="80000"/>
                  </a:srgbClr>
                </a:solidFill>
                <a:latin typeface="Microsoft YaHei"/>
                <a:ea typeface="Microsoft YaHei"/>
              </a:rPr>
              <a:t>每个</a:t>
            </a:r>
            <a:r>
              <a:rPr lang="en-US" sz="750">
                <a:solidFill>
                  <a:srgbClr val="FFFFFF">
                    <a:alpha val="80000"/>
                  </a:srgbClr>
                </a:solidFill>
                <a:latin typeface="Microsoft YaHei"/>
                <a:ea typeface="Microsoft YaHei"/>
              </a:rPr>
              <a:t xml:space="preserve"> L6 </a:t>
            </a:r>
            <a:r>
              <a:rPr lang="zh-CN" sz="750">
                <a:solidFill>
                  <a:srgbClr val="FFFFFF">
                    <a:alpha val="80000"/>
                  </a:srgbClr>
                </a:solidFill>
                <a:latin typeface="Microsoft YaHei"/>
                <a:ea typeface="Microsoft YaHei"/>
              </a:rPr>
              <a:t>标岗位、系统承载、是否审批</a:t>
            </a:r>
            <a:endParaRPr/>
          </a:p>
        </p:txBody>
      </p:sp>
      <p:sp>
        <p:nvSpPr>
          <p:cNvPr id="1456" name="" descr="{&quot;isTemplate&quot;:true,&quot;type&quot;:&quot;text&quot;}"/>
          <p:cNvSpPr txBox="1"/>
          <p:nvPr/>
        </p:nvSpPr>
        <p:spPr>
          <a:xfrm rot="0" flipH="0" flipV="0">
            <a:off x="8848725" y="3162300"/>
            <a:ext cx="2609850" cy="133350"/>
          </a:xfrm>
          <a:prstGeom prst="rect"/>
        </p:spPr>
        <p:txBody>
          <a:bodyPr wrap="none" lIns="0" tIns="0" rIns="0" bIns="0"/>
          <a:p>
            <a:pPr>
              <a:lnSpc>
                <a:spcPct val="100000"/>
              </a:lnSpc>
            </a:pPr>
            <a:r>
              <a:rPr lang="zh-CN" sz="825" b="1">
                <a:solidFill>
                  <a:srgbClr val="FFFFFF"/>
                </a:solidFill>
                <a:latin typeface="Microsoft YaHei"/>
                <a:ea typeface="Microsoft YaHei"/>
              </a:rPr>
              <a:t>不越界</a:t>
            </a:r>
            <a:endParaRPr/>
          </a:p>
        </p:txBody>
      </p:sp>
      <p:sp>
        <p:nvSpPr>
          <p:cNvPr id="1457" name="" descr="{&quot;isTemplate&quot;:true,&quot;type&quot;:&quot;text&quot;}"/>
          <p:cNvSpPr txBox="1"/>
          <p:nvPr/>
        </p:nvSpPr>
        <p:spPr>
          <a:xfrm rot="0" flipH="0" flipV="0">
            <a:off x="8848725" y="3314700"/>
            <a:ext cx="2609850" cy="152400"/>
          </a:xfrm>
          <a:prstGeom prst="rect"/>
        </p:spPr>
        <p:txBody>
          <a:bodyPr wrap="none" lIns="0" tIns="0" rIns="0" bIns="0"/>
          <a:p>
            <a:pPr>
              <a:lnSpc>
                <a:spcPct val="130000"/>
              </a:lnSpc>
            </a:pPr>
            <a:r>
              <a:rPr lang="zh-CN" sz="750">
                <a:solidFill>
                  <a:srgbClr val="FFFFFF">
                    <a:alpha val="80000"/>
                  </a:srgbClr>
                </a:solidFill>
                <a:latin typeface="Microsoft YaHei"/>
                <a:ea typeface="Microsoft YaHei"/>
              </a:rPr>
              <a:t>不做界面与代码设计，能估工作量、能验收即到位</a:t>
            </a:r>
            <a:endParaRPr/>
          </a:p>
        </p:txBody>
      </p:sp>
      <p:sp>
        <p:nvSpPr>
          <p:cNvPr id="1458" name=""/>
          <p:cNvSpPr/>
          <p:nvPr/>
        </p:nvSpPr>
        <p:spPr>
          <a:xfrm rot="0" flipH="0" flipV="0">
            <a:off x="647700" y="3648075"/>
            <a:ext cx="2686050" cy="1628775"/>
          </a:xfrm>
          <a:prstGeom prst="roundRect">
            <a:avLst>
              <a:gd name="adj" fmla="val 2339"/>
            </a:avLst>
          </a:prstGeom>
          <a:solidFill>
            <a:srgbClr val="F7F7F8"/>
          </a:solidFill>
          <a:ln/>
        </p:spPr>
        <p:txBody>
          <a:bodyPr/>
          <a:p/>
        </p:txBody>
      </p:sp>
      <p:sp>
        <p:nvSpPr>
          <p:cNvPr id="1459" name=""/>
          <p:cNvSpPr/>
          <p:nvPr/>
        </p:nvSpPr>
        <p:spPr>
          <a:xfrm rot="0" flipH="0" flipV="0">
            <a:off x="647700" y="3648075"/>
            <a:ext cx="2686050" cy="1628775"/>
          </a:xfrm>
          <a:custGeom>
            <a:pathLst>
              <a:path w="282" h="171">
                <a:moveTo>
                  <a:pt x="4" y="171"/>
                </a:moveTo>
                <a:cubicBezTo>
                  <a:pt x="2" y="171"/>
                  <a:pt x="0" y="169"/>
                  <a:pt x="0" y="167"/>
                </a:cubicBezTo>
                <a:lnTo>
                  <a:pt x="0" y="4"/>
                </a:lnTo>
                <a:cubicBezTo>
                  <a:pt x="0" y="2"/>
                  <a:pt x="2" y="0"/>
                  <a:pt x="4" y="0"/>
                </a:cubicBezTo>
                <a:lnTo>
                  <a:pt x="4" y="171"/>
                </a:lnTo>
                <a:close/>
              </a:path>
            </a:pathLst>
          </a:custGeom>
          <a:solidFill>
            <a:srgbClr val="FA4F24"/>
          </a:solidFill>
          <a:ln/>
        </p:spPr>
        <p:txBody>
          <a:bodyPr/>
          <a:p/>
        </p:txBody>
      </p:sp>
      <p:sp>
        <p:nvSpPr>
          <p:cNvPr id="1460" name="" descr="{&quot;isTemplate&quot;:true,&quot;type&quot;:&quot;text&quot;}"/>
          <p:cNvSpPr txBox="1"/>
          <p:nvPr/>
        </p:nvSpPr>
        <p:spPr>
          <a:xfrm rot="0" flipH="0" flipV="0">
            <a:off x="771525" y="4286250"/>
            <a:ext cx="2400300" cy="142875"/>
          </a:xfrm>
          <a:prstGeom prst="rect"/>
        </p:spPr>
        <p:txBody>
          <a:bodyPr wrap="none" lIns="0" tIns="0" rIns="0" bIns="0"/>
          <a:p>
            <a:pPr>
              <a:lnSpc>
                <a:spcPct val="100000"/>
              </a:lnSpc>
            </a:pPr>
            <a:r>
              <a:rPr lang="en-US" sz="938" b="1">
                <a:solidFill>
                  <a:srgbClr val="FA4F24"/>
                </a:solidFill>
                <a:latin typeface="Microsoft YaHei"/>
                <a:ea typeface="Microsoft YaHei"/>
              </a:rPr>
              <a:t xml:space="preserve">① </a:t>
            </a:r>
            <a:r>
              <a:rPr lang="zh-CN" sz="938" b="1">
                <a:solidFill>
                  <a:srgbClr val="FA4F24"/>
                </a:solidFill>
                <a:latin typeface="Microsoft YaHei"/>
                <a:ea typeface="Microsoft YaHei"/>
              </a:rPr>
              <a:t>业务活动</a:t>
            </a:r>
            <a:endParaRPr/>
          </a:p>
        </p:txBody>
      </p:sp>
      <p:sp>
        <p:nvSpPr>
          <p:cNvPr id="1461" name="" descr="{&quot;isTemplate&quot;:true,&quot;type&quot;:&quot;text&quot;}"/>
          <p:cNvSpPr txBox="1"/>
          <p:nvPr/>
        </p:nvSpPr>
        <p:spPr>
          <a:xfrm rot="0" flipH="0" flipV="0">
            <a:off x="771525" y="4467225"/>
            <a:ext cx="2400300" cy="171450"/>
          </a:xfrm>
          <a:prstGeom prst="rect"/>
        </p:spPr>
        <p:txBody>
          <a:bodyPr wrap="none" lIns="0" tIns="0" rIns="0" bIns="0"/>
          <a:p>
            <a:pPr>
              <a:lnSpc>
                <a:spcPct val="140000"/>
              </a:lnSpc>
            </a:pPr>
            <a:r>
              <a:rPr lang="zh-CN" sz="788">
                <a:solidFill>
                  <a:srgbClr val="5A6070"/>
                </a:solidFill>
                <a:latin typeface="Microsoft YaHei"/>
                <a:ea typeface="Microsoft YaHei"/>
              </a:rPr>
              <a:t>逐个</a:t>
            </a:r>
            <a:r>
              <a:rPr lang="en-US" sz="788">
                <a:solidFill>
                  <a:srgbClr val="5A6070"/>
                </a:solidFill>
                <a:latin typeface="Microsoft YaHei"/>
                <a:ea typeface="Microsoft YaHei"/>
              </a:rPr>
              <a:t xml:space="preserve"> L5 </a:t>
            </a:r>
            <a:r>
              <a:rPr lang="zh-CN" sz="788">
                <a:solidFill>
                  <a:srgbClr val="5A6070"/>
                </a:solidFill>
                <a:latin typeface="Microsoft YaHei"/>
                <a:ea typeface="Microsoft YaHei"/>
              </a:rPr>
              <a:t>写清做什么、谁做、和上下游的关系</a:t>
            </a:r>
            <a:endParaRPr/>
          </a:p>
        </p:txBody>
      </p:sp>
      <p:sp>
        <p:nvSpPr>
          <p:cNvPr id="1462" name=""/>
          <p:cNvSpPr/>
          <p:nvPr/>
        </p:nvSpPr>
        <p:spPr>
          <a:xfrm rot="0" flipH="0" flipV="0">
            <a:off x="3409950" y="3648075"/>
            <a:ext cx="2686050" cy="1628775"/>
          </a:xfrm>
          <a:prstGeom prst="roundRect">
            <a:avLst>
              <a:gd name="adj" fmla="val 2339"/>
            </a:avLst>
          </a:prstGeom>
          <a:solidFill>
            <a:srgbClr val="F7F7F8"/>
          </a:solidFill>
          <a:ln/>
        </p:spPr>
        <p:txBody>
          <a:bodyPr/>
          <a:p/>
        </p:txBody>
      </p:sp>
      <p:sp>
        <p:nvSpPr>
          <p:cNvPr id="1463" name=""/>
          <p:cNvSpPr/>
          <p:nvPr/>
        </p:nvSpPr>
        <p:spPr>
          <a:xfrm rot="0" flipH="0" flipV="0">
            <a:off x="3409950" y="3648075"/>
            <a:ext cx="2686050" cy="1628775"/>
          </a:xfrm>
          <a:custGeom>
            <a:pathLst>
              <a:path w="282" h="171">
                <a:moveTo>
                  <a:pt x="4" y="171"/>
                </a:moveTo>
                <a:cubicBezTo>
                  <a:pt x="2" y="171"/>
                  <a:pt x="0" y="169"/>
                  <a:pt x="0" y="167"/>
                </a:cubicBezTo>
                <a:lnTo>
                  <a:pt x="0" y="4"/>
                </a:lnTo>
                <a:cubicBezTo>
                  <a:pt x="0" y="2"/>
                  <a:pt x="2" y="0"/>
                  <a:pt x="4" y="0"/>
                </a:cubicBezTo>
                <a:lnTo>
                  <a:pt x="4" y="171"/>
                </a:lnTo>
                <a:close/>
              </a:path>
            </a:pathLst>
          </a:custGeom>
          <a:solidFill>
            <a:srgbClr val="E0641E"/>
          </a:solidFill>
          <a:ln/>
        </p:spPr>
        <p:txBody>
          <a:bodyPr/>
          <a:p/>
        </p:txBody>
      </p:sp>
      <p:sp>
        <p:nvSpPr>
          <p:cNvPr id="1464" name="" descr="{&quot;isTemplate&quot;:true,&quot;type&quot;:&quot;text&quot;}"/>
          <p:cNvSpPr txBox="1"/>
          <p:nvPr/>
        </p:nvSpPr>
        <p:spPr>
          <a:xfrm rot="0" flipH="0" flipV="0">
            <a:off x="3533775" y="4286250"/>
            <a:ext cx="2400300" cy="142875"/>
          </a:xfrm>
          <a:prstGeom prst="rect"/>
        </p:spPr>
        <p:txBody>
          <a:bodyPr wrap="none" lIns="0" tIns="0" rIns="0" bIns="0"/>
          <a:p>
            <a:pPr>
              <a:lnSpc>
                <a:spcPct val="100000"/>
              </a:lnSpc>
            </a:pPr>
            <a:r>
              <a:rPr lang="en-US" sz="938" b="1">
                <a:solidFill>
                  <a:srgbClr val="E0641E"/>
                </a:solidFill>
                <a:latin typeface="Microsoft YaHei"/>
                <a:ea typeface="Microsoft YaHei"/>
              </a:rPr>
              <a:t xml:space="preserve">② </a:t>
            </a:r>
            <a:r>
              <a:rPr lang="zh-CN" sz="938" b="1">
                <a:solidFill>
                  <a:srgbClr val="E0641E"/>
                </a:solidFill>
                <a:latin typeface="Microsoft YaHei"/>
                <a:ea typeface="Microsoft YaHei"/>
              </a:rPr>
              <a:t>岗位角色</a:t>
            </a:r>
            <a:endParaRPr/>
          </a:p>
        </p:txBody>
      </p:sp>
      <p:sp>
        <p:nvSpPr>
          <p:cNvPr id="1465" name="" descr="{&quot;isTemplate&quot;:true,&quot;type&quot;:&quot;text&quot;}"/>
          <p:cNvSpPr txBox="1"/>
          <p:nvPr/>
        </p:nvSpPr>
        <p:spPr>
          <a:xfrm rot="0" flipH="0" flipV="0">
            <a:off x="3533775" y="4467225"/>
            <a:ext cx="2400300" cy="171450"/>
          </a:xfrm>
          <a:prstGeom prst="rect"/>
        </p:spPr>
        <p:txBody>
          <a:bodyPr wrap="none" lIns="0" tIns="0" rIns="0" bIns="0"/>
          <a:p>
            <a:pPr>
              <a:lnSpc>
                <a:spcPct val="140000"/>
              </a:lnSpc>
            </a:pPr>
            <a:r>
              <a:rPr lang="zh-CN" sz="788">
                <a:solidFill>
                  <a:srgbClr val="5A6070"/>
                </a:solidFill>
                <a:latin typeface="Microsoft YaHei"/>
                <a:ea typeface="Microsoft YaHei"/>
              </a:rPr>
              <a:t>责任岗位</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审批岗位</a:t>
            </a:r>
            <a:r>
              <a:rPr lang="en-US" sz="788">
                <a:solidFill>
                  <a:srgbClr val="5A6070"/>
                </a:solidFill>
                <a:latin typeface="Microsoft YaHei"/>
                <a:ea typeface="Microsoft YaHei"/>
              </a:rPr>
              <a:t xml:space="preserve"> + </a:t>
            </a:r>
            <a:r>
              <a:rPr lang="zh-CN" sz="788">
                <a:solidFill>
                  <a:srgbClr val="5A6070"/>
                </a:solidFill>
                <a:latin typeface="Microsoft YaHei"/>
                <a:ea typeface="Microsoft YaHei"/>
              </a:rPr>
              <a:t>协同岗位，不写「相关部门」</a:t>
            </a:r>
            <a:endParaRPr/>
          </a:p>
        </p:txBody>
      </p:sp>
      <p:sp>
        <p:nvSpPr>
          <p:cNvPr id="1466" name=""/>
          <p:cNvSpPr/>
          <p:nvPr/>
        </p:nvSpPr>
        <p:spPr>
          <a:xfrm rot="0" flipH="0" flipV="0">
            <a:off x="6172200" y="3648075"/>
            <a:ext cx="2686050" cy="1628775"/>
          </a:xfrm>
          <a:prstGeom prst="roundRect">
            <a:avLst>
              <a:gd name="adj" fmla="val 2339"/>
            </a:avLst>
          </a:prstGeom>
          <a:solidFill>
            <a:srgbClr val="F7F7F8"/>
          </a:solidFill>
          <a:ln/>
        </p:spPr>
        <p:txBody>
          <a:bodyPr/>
          <a:p/>
        </p:txBody>
      </p:sp>
      <p:sp>
        <p:nvSpPr>
          <p:cNvPr id="1467" name=""/>
          <p:cNvSpPr/>
          <p:nvPr/>
        </p:nvSpPr>
        <p:spPr>
          <a:xfrm rot="0" flipH="0" flipV="0">
            <a:off x="6172200" y="3648075"/>
            <a:ext cx="2686050" cy="1628775"/>
          </a:xfrm>
          <a:custGeom>
            <a:pathLst>
              <a:path w="282" h="171">
                <a:moveTo>
                  <a:pt x="4" y="171"/>
                </a:moveTo>
                <a:cubicBezTo>
                  <a:pt x="2" y="171"/>
                  <a:pt x="0" y="169"/>
                  <a:pt x="0" y="167"/>
                </a:cubicBezTo>
                <a:lnTo>
                  <a:pt x="0" y="4"/>
                </a:lnTo>
                <a:cubicBezTo>
                  <a:pt x="0" y="2"/>
                  <a:pt x="2" y="0"/>
                  <a:pt x="4" y="0"/>
                </a:cubicBezTo>
                <a:lnTo>
                  <a:pt x="4" y="171"/>
                </a:lnTo>
                <a:close/>
              </a:path>
            </a:pathLst>
          </a:custGeom>
          <a:solidFill>
            <a:srgbClr val="C43A17"/>
          </a:solidFill>
          <a:ln/>
        </p:spPr>
        <p:txBody>
          <a:bodyPr/>
          <a:p/>
        </p:txBody>
      </p:sp>
      <p:sp>
        <p:nvSpPr>
          <p:cNvPr id="1468" name="" descr="{&quot;isTemplate&quot;:true,&quot;type&quot;:&quot;text&quot;}"/>
          <p:cNvSpPr txBox="1"/>
          <p:nvPr/>
        </p:nvSpPr>
        <p:spPr>
          <a:xfrm rot="0" flipH="0" flipV="0">
            <a:off x="6296025" y="4286250"/>
            <a:ext cx="2400300" cy="142875"/>
          </a:xfrm>
          <a:prstGeom prst="rect"/>
        </p:spPr>
        <p:txBody>
          <a:bodyPr wrap="none" lIns="0" tIns="0" rIns="0" bIns="0"/>
          <a:p>
            <a:pPr>
              <a:lnSpc>
                <a:spcPct val="100000"/>
              </a:lnSpc>
            </a:pPr>
            <a:r>
              <a:rPr lang="en-US" sz="938" b="1">
                <a:solidFill>
                  <a:srgbClr val="C43A17"/>
                </a:solidFill>
                <a:latin typeface="Microsoft YaHei"/>
                <a:ea typeface="Microsoft YaHei"/>
              </a:rPr>
              <a:t xml:space="preserve">③ </a:t>
            </a:r>
            <a:r>
              <a:rPr lang="zh-CN" sz="938" b="1">
                <a:solidFill>
                  <a:srgbClr val="C43A17"/>
                </a:solidFill>
                <a:latin typeface="Microsoft YaHei"/>
                <a:ea typeface="Microsoft YaHei"/>
              </a:rPr>
              <a:t>关键输入输出</a:t>
            </a:r>
            <a:endParaRPr/>
          </a:p>
        </p:txBody>
      </p:sp>
      <p:sp>
        <p:nvSpPr>
          <p:cNvPr id="1469" name="" descr="{&quot;isTemplate&quot;:true,&quot;type&quot;:&quot;text&quot;}"/>
          <p:cNvSpPr txBox="1"/>
          <p:nvPr/>
        </p:nvSpPr>
        <p:spPr>
          <a:xfrm rot="0" flipH="0" flipV="0">
            <a:off x="6296025" y="4467225"/>
            <a:ext cx="2400300" cy="171450"/>
          </a:xfrm>
          <a:prstGeom prst="rect"/>
        </p:spPr>
        <p:txBody>
          <a:bodyPr wrap="none" lIns="0" tIns="0" rIns="0" bIns="0"/>
          <a:p>
            <a:pPr>
              <a:lnSpc>
                <a:spcPct val="140000"/>
              </a:lnSpc>
            </a:pPr>
            <a:r>
              <a:rPr lang="zh-CN" sz="788">
                <a:solidFill>
                  <a:srgbClr val="5A6070"/>
                </a:solidFill>
                <a:latin typeface="Microsoft YaHei"/>
                <a:ea typeface="Microsoft YaHei"/>
              </a:rPr>
              <a:t>输入输出必须能对应到逻辑实体，不能是「相关信息」</a:t>
            </a:r>
            <a:endParaRPr/>
          </a:p>
        </p:txBody>
      </p:sp>
      <p:sp>
        <p:nvSpPr>
          <p:cNvPr id="1470" name=""/>
          <p:cNvSpPr/>
          <p:nvPr/>
        </p:nvSpPr>
        <p:spPr>
          <a:xfrm rot="0" flipH="0" flipV="0">
            <a:off x="8934450" y="3648075"/>
            <a:ext cx="2686050" cy="1628775"/>
          </a:xfrm>
          <a:prstGeom prst="roundRect">
            <a:avLst>
              <a:gd name="adj" fmla="val 2339"/>
            </a:avLst>
          </a:prstGeom>
          <a:solidFill>
            <a:srgbClr val="F7F7F8"/>
          </a:solidFill>
          <a:ln/>
        </p:spPr>
        <p:txBody>
          <a:bodyPr/>
          <a:p/>
        </p:txBody>
      </p:sp>
      <p:sp>
        <p:nvSpPr>
          <p:cNvPr id="1471" name=""/>
          <p:cNvSpPr/>
          <p:nvPr/>
        </p:nvSpPr>
        <p:spPr>
          <a:xfrm rot="0" flipH="0" flipV="0">
            <a:off x="8934450" y="3648075"/>
            <a:ext cx="2686050" cy="1628775"/>
          </a:xfrm>
          <a:custGeom>
            <a:pathLst>
              <a:path w="282" h="171">
                <a:moveTo>
                  <a:pt x="4" y="171"/>
                </a:moveTo>
                <a:cubicBezTo>
                  <a:pt x="2" y="171"/>
                  <a:pt x="0" y="169"/>
                  <a:pt x="0" y="167"/>
                </a:cubicBezTo>
                <a:lnTo>
                  <a:pt x="0" y="4"/>
                </a:lnTo>
                <a:cubicBezTo>
                  <a:pt x="0" y="2"/>
                  <a:pt x="2" y="0"/>
                  <a:pt x="4" y="0"/>
                </a:cubicBezTo>
                <a:lnTo>
                  <a:pt x="4" y="171"/>
                </a:lnTo>
                <a:close/>
              </a:path>
            </a:pathLst>
          </a:custGeom>
          <a:solidFill>
            <a:srgbClr val="9E3410"/>
          </a:solidFill>
          <a:ln/>
        </p:spPr>
        <p:txBody>
          <a:bodyPr/>
          <a:p/>
        </p:txBody>
      </p:sp>
      <p:sp>
        <p:nvSpPr>
          <p:cNvPr id="1472" name="" descr="{&quot;isTemplate&quot;:true,&quot;type&quot;:&quot;text&quot;}"/>
          <p:cNvSpPr txBox="1"/>
          <p:nvPr/>
        </p:nvSpPr>
        <p:spPr>
          <a:xfrm rot="0" flipH="0" flipV="0">
            <a:off x="9058275" y="4286250"/>
            <a:ext cx="2400300" cy="142875"/>
          </a:xfrm>
          <a:prstGeom prst="rect"/>
        </p:spPr>
        <p:txBody>
          <a:bodyPr wrap="none" lIns="0" tIns="0" rIns="0" bIns="0"/>
          <a:p>
            <a:pPr>
              <a:lnSpc>
                <a:spcPct val="100000"/>
              </a:lnSpc>
            </a:pPr>
            <a:r>
              <a:rPr lang="en-US" sz="938" b="1">
                <a:solidFill>
                  <a:srgbClr val="9E3410"/>
                </a:solidFill>
                <a:latin typeface="Microsoft YaHei"/>
                <a:ea typeface="Microsoft YaHei"/>
              </a:rPr>
              <a:t xml:space="preserve">④ </a:t>
            </a:r>
            <a:r>
              <a:rPr lang="zh-CN" sz="938" b="1">
                <a:solidFill>
                  <a:srgbClr val="9E3410"/>
                </a:solidFill>
                <a:latin typeface="Microsoft YaHei"/>
                <a:ea typeface="Microsoft YaHei"/>
              </a:rPr>
              <a:t>流程绩效指标</a:t>
            </a:r>
            <a:endParaRPr/>
          </a:p>
        </p:txBody>
      </p:sp>
      <p:sp>
        <p:nvSpPr>
          <p:cNvPr id="1473" name="" descr="{&quot;isTemplate&quot;:true,&quot;type&quot;:&quot;text&quot;}"/>
          <p:cNvSpPr txBox="1"/>
          <p:nvPr/>
        </p:nvSpPr>
        <p:spPr>
          <a:xfrm rot="0" flipH="0" flipV="0">
            <a:off x="9058275" y="4467225"/>
            <a:ext cx="2400300" cy="171450"/>
          </a:xfrm>
          <a:prstGeom prst="rect"/>
        </p:spPr>
        <p:txBody>
          <a:bodyPr wrap="none" lIns="0" tIns="0" rIns="0" bIns="0"/>
          <a:p>
            <a:pPr>
              <a:lnSpc>
                <a:spcPct val="140000"/>
              </a:lnSpc>
            </a:pPr>
            <a:r>
              <a:rPr lang="zh-CN" sz="788">
                <a:solidFill>
                  <a:srgbClr val="5A6070"/>
                </a:solidFill>
                <a:latin typeface="Microsoft YaHei"/>
                <a:ea typeface="Microsoft YaHei"/>
              </a:rPr>
              <a:t>每个</a:t>
            </a:r>
            <a:r>
              <a:rPr lang="en-US" sz="788">
                <a:solidFill>
                  <a:srgbClr val="5A6070"/>
                </a:solidFill>
                <a:latin typeface="Microsoft YaHei"/>
                <a:ea typeface="Microsoft YaHei"/>
              </a:rPr>
              <a:t xml:space="preserve"> L5 </a:t>
            </a:r>
            <a:r>
              <a:rPr lang="zh-CN" sz="788">
                <a:solidFill>
                  <a:srgbClr val="5A6070"/>
                </a:solidFill>
                <a:latin typeface="Microsoft YaHei"/>
                <a:ea typeface="Microsoft YaHei"/>
              </a:rPr>
              <a:t>至少一个可度量指标，进指标字典</a:t>
            </a:r>
            <a:endParaRPr/>
          </a:p>
        </p:txBody>
      </p:sp>
      <p:sp>
        <p:nvSpPr>
          <p:cNvPr id="1474" name=""/>
          <p:cNvSpPr/>
          <p:nvPr/>
        </p:nvSpPr>
        <p:spPr>
          <a:xfrm rot="0" flipH="0" flipV="0">
            <a:off x="647700" y="5353050"/>
            <a:ext cx="10972800" cy="304800"/>
          </a:xfrm>
          <a:prstGeom prst="roundRect">
            <a:avLst>
              <a:gd name="adj" fmla="val 12500"/>
            </a:avLst>
          </a:prstGeom>
          <a:solidFill>
            <a:srgbClr val="FFF3EE"/>
          </a:solidFill>
          <a:ln/>
        </p:spPr>
        <p:txBody>
          <a:bodyPr/>
          <a:p/>
        </p:txBody>
      </p:sp>
      <p:sp>
        <p:nvSpPr>
          <p:cNvPr id="1475" name=""/>
          <p:cNvSpPr/>
          <p:nvPr/>
        </p:nvSpPr>
        <p:spPr>
          <a:xfrm rot="0" flipH="0" flipV="0">
            <a:off x="647700" y="5353050"/>
            <a:ext cx="10972800" cy="304800"/>
          </a:xfrm>
          <a:custGeom>
            <a:pathLst>
              <a:path w="1152" h="32">
                <a:moveTo>
                  <a:pt x="4" y="32"/>
                </a:moveTo>
                <a:cubicBezTo>
                  <a:pt x="2" y="32"/>
                  <a:pt x="0" y="30"/>
                  <a:pt x="0" y="28"/>
                </a:cubicBezTo>
                <a:lnTo>
                  <a:pt x="0" y="4"/>
                </a:lnTo>
                <a:cubicBezTo>
                  <a:pt x="0" y="2"/>
                  <a:pt x="2" y="0"/>
                  <a:pt x="4" y="0"/>
                </a:cubicBezTo>
                <a:lnTo>
                  <a:pt x="4" y="32"/>
                </a:lnTo>
                <a:close/>
              </a:path>
            </a:pathLst>
          </a:custGeom>
          <a:solidFill>
            <a:srgbClr val="FA4F24"/>
          </a:solidFill>
          <a:ln/>
        </p:spPr>
        <p:txBody>
          <a:bodyPr/>
          <a:p/>
        </p:txBody>
      </p:sp>
      <p:sp>
        <p:nvSpPr>
          <p:cNvPr id="1476" name="" descr="{&quot;isTemplate&quot;:true,&quot;type&quot;:&quot;text&quot;}"/>
          <p:cNvSpPr txBox="1"/>
          <p:nvPr/>
        </p:nvSpPr>
        <p:spPr>
          <a:xfrm rot="0" flipH="0" flipV="0">
            <a:off x="800100" y="5438775"/>
            <a:ext cx="1123950" cy="142875"/>
          </a:xfrm>
          <a:prstGeom prst="rect"/>
        </p:spPr>
        <p:txBody>
          <a:bodyPr wrap="none" lIns="0" tIns="0" rIns="0" bIns="0"/>
          <a:p>
            <a:pPr>
              <a:lnSpc>
                <a:spcPct val="100000"/>
              </a:lnSpc>
            </a:pPr>
            <a:r>
              <a:rPr lang="zh-CN" sz="900" b="1">
                <a:solidFill>
                  <a:srgbClr val="C43A17"/>
                </a:solidFill>
                <a:latin typeface="Microsoft YaHei"/>
                <a:ea typeface="Microsoft YaHei"/>
              </a:rPr>
              <a:t>现场检验法</a:t>
            </a:r>
            <a:endParaRPr/>
          </a:p>
        </p:txBody>
      </p:sp>
      <p:sp>
        <p:nvSpPr>
          <p:cNvPr id="1477" name="" descr="{&quot;isTemplate&quot;:true,&quot;type&quot;:&quot;text&quot;}"/>
          <p:cNvSpPr txBox="1"/>
          <p:nvPr/>
        </p:nvSpPr>
        <p:spPr>
          <a:xfrm rot="0" flipH="0" flipV="0">
            <a:off x="2057400" y="5419725"/>
            <a:ext cx="9372600" cy="180975"/>
          </a:xfrm>
          <a:prstGeom prst="rect"/>
        </p:spPr>
        <p:txBody>
          <a:bodyPr wrap="none" lIns="0" tIns="0" rIns="0" bIns="0"/>
          <a:p>
            <a:pPr>
              <a:lnSpc>
                <a:spcPct val="135000"/>
              </a:lnSpc>
            </a:pPr>
            <a:r>
              <a:rPr lang="zh-CN" sz="863">
                <a:solidFill>
                  <a:srgbClr val="3A4050"/>
                </a:solidFill>
                <a:latin typeface="Microsoft YaHei"/>
                <a:ea typeface="Microsoft YaHei"/>
              </a:rPr>
              <a:t>随机抽一个</a:t>
            </a:r>
            <a:r>
              <a:rPr lang="en-US" sz="863">
                <a:solidFill>
                  <a:srgbClr val="3A4050"/>
                </a:solidFill>
                <a:latin typeface="Microsoft YaHei"/>
                <a:ea typeface="Microsoft YaHei"/>
              </a:rPr>
              <a:t xml:space="preserve"> L5</a:t>
            </a:r>
            <a:r>
              <a:rPr lang="zh-CN" sz="863">
                <a:solidFill>
                  <a:srgbClr val="3A4050"/>
                </a:solidFill>
                <a:latin typeface="Microsoft YaHei"/>
                <a:ea typeface="Microsoft YaHei"/>
              </a:rPr>
              <a:t>，让客户说出这个活动今天实际是怎么干的、耗时多久、上次出问题是什么时候。说不出来或对不上，说明设计脱离现场，要重做。</a:t>
            </a:r>
            <a:endParaRPr/>
          </a:p>
        </p:txBody>
      </p:sp>
      <p:sp>
        <p:nvSpPr>
          <p:cNvPr id="1478" name=""/>
          <p:cNvSpPr/>
          <p:nvPr/>
        </p:nvSpPr>
        <p:spPr>
          <a:xfrm rot="0" flipH="0" flipV="0">
            <a:off x="609600" y="5943600"/>
            <a:ext cx="133350" cy="133350"/>
          </a:xfrm>
          <a:prstGeom prst="rect">
            <a:avLst/>
          </a:prstGeom>
          <a:solidFill>
            <a:srgbClr val="FA4F24"/>
          </a:solidFill>
          <a:ln/>
        </p:spPr>
        <p:txBody>
          <a:bodyPr/>
          <a:p/>
        </p:txBody>
      </p:sp>
      <p:sp>
        <p:nvSpPr>
          <p:cNvPr id="1479"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480"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29 / 36</a:t>
            </a:r>
            <a:endParaRPr/>
          </a:p>
        </p:txBody>
      </p:sp>
    </p:spTree>
  </p:cSld>
</p:sld>
</file>

<file path=ppt/slides/slide30.xml><?xml version="1.0" encoding="utf-8"?>
<p:sld xmlns:p="http://schemas.openxmlformats.org/presentationml/2006/main" xmlns:a="http://schemas.openxmlformats.org/drawingml/2006/main">
  <p:cSld>
    <p:spTree>
      <p:nvGrpSpPr>
        <p:cNvPr id="1529" name="" descr="&lt;Slide style={{ width: 1280, height: 720, background: '#FFFFFF', padding: '24px 64px 0' }}&gt;&#10;    {/* A 区 */}&#10;    &lt;Box style={{ height: 96, flexDirection: 'column', justifyContent: 'flex-start' }}&gt;&#10;        &lt;Text style={{ fontSize: 32, fontWeight: 'bold', color: '#0F1423' }}&gt;&#10;            数据下探：&lt;span style={{ color: '#FA4F24' }}&gt;逻辑实体属性 + 指标字典&lt;/span&gt;&#10;        &lt;/Text&gt;&#10;        &lt;Text style={{ fontSize: 19, color: '#8A8F99', marginTop: 7 }}&gt;&#10;            招标 3.3.3(2) + 交付物⑤⑧：属性设计要同时向上向下拉通，指标字典是唯一出口&#10;        &lt;/Text&gt;&#10;    &lt;/Box&gt;&#10;    &lt;Box style={{ height: 1, background: '#E8E8E8' }} /&gt;&#10;&#10;    {/* B 区 */}&#10;    &lt;Box style={{ paddingTop: 10, paddingBottom: 6, height: 479, flexDirection: 'column', gap: 8 }}&gt;&#10;        {/* 上：实体属性表 */}&#10;        &lt;Box style={{ height: 22, flexDirection: 'row', alignItems: 'center', gap: 8 }}&gt;&#10;            &lt;Box style={{ width: 4, height: 16, background: '#FA4F24' }} /&gt;&#10;            &lt;Text style={{ fontSize: 13.5, fontWeight: 'bold', color: '#0F1423' }}&gt;逻辑实体属性设计示例：实体「电站」&lt;/Text&gt;&#10;        &lt;/Box&gt;&#10;        &lt;Box style={{ height: 22, flexDirection: 'row', gap: 5 }}&gt;&#10;            {['属性名', '业务定义', '数据类型', '取值域/枚举', '主键/外键', '数据标准', '代码标准', '密级'].map((h, i) =&gt; (&#10;                &lt;Box key={h} style={{ flex: i === 1 ? 2.2 : 1, background: '#0F1423', borderRadius: 3, padding: '0 9px', flexDirection: 'row', alignItems: 'center' }}&gt;&#10;                    &lt;Text style={{ fontSize: 10.5, fontWeight: 'bold', color: '#FFFFFF' }}&gt;{h}&lt;/Text&gt;&#10;                &lt;/Box&gt;&#10;            ))}&#10;        &lt;/Box&gt;&#10;        {[&#10;            { a: 'station_id', d: '电站唯一标识，跨系统一致', t: '字符', e: 'ST + 区域码(2) + 序列(4)', k: '主键', s: 'GB/T 电站编码规则', c: '内部编码规范 V2', m: '内部' },&#10;            { a: 'station_name', d: '电站名称，与资产台账一致', t: '字符', e: '—', k: '—', s: '命名规范：区域+类型+序号', c: '—', m: '内部' },&#10;            { a: 'owner_org_id', d: '当前运营责任组织', t: '字符', e: '引用组织主数据编码', k: '外键', s: '组织编码标准', c: '统一社会信用代码', m: '内部' },&#10;            { a: 'capacity_mw', d: '装机容量，设计口径', t: '数值', e: '&gt; 0，单位 MW', k: '—', s: '容量口径：铭牌容量/并网容量二选一', c: '—', m: '内部' },&#10;            { a: 'grid_point_id', d: '并网点标识，交易结算关联键', t: '字符', e: '引用电网编码', k: '外键', s: '并网点编码标准', c: '电网公司编码', m: '敏感' },&#10;            { a: 'asset_status', d: '资产状态，用于运维与财务对齐', t: '枚举', e: '在建/试运/在运/退役/处置', k: '—', s: '资产状态代码标准', c: '公司资产分类代码', m: '内部' },&#10;        ].map((r) =&gt; (&#10;            &lt;Box key={r.a} style={{ flex: 1, flexDirection: 'row', gap: 5 }}&gt;&#10;                &lt;Box style={{ flex: 1, background: '#F7F7F8', borderRadius: 3, padding: '0 9px', flexDirection: 'row', alignItems: 'center' }}&gt;&#10;                    &lt;Text style={{ fontSize: 10.5, color: '#0F1423', fontWeight: 'bold' }}&gt;{r.a}&lt;/Text&gt;&#10;                &lt;/Box&gt;&#10;                &lt;Box style={{ flex: 2.2, background: '#F7F7F8', borderRadius: 3, padding: '0 9px', flexDirection: 'row', alignItems: 'center' }}&gt;&#10;                    &lt;Text style={{ fontSize: 10, color: '#3A4050', lineHeight: 1.25 }}&gt;{r.d}&lt;/Text&gt;&#10;                &lt;/Box&gt;&#10;                &lt;Box style={{ flex: 1, background: '#F7F7F8', borderRadius: 3, padding: '0 9px', flexDirection: 'row', alignItems: 'center' }}&gt;&#10;                    &lt;Text style={{ fontSize: 10, color: '#5A6070' }}&gt;{r.t}&lt;/Text&gt;&#10;                &lt;/Box&gt;&#10;                &lt;Box style={{ flex: 1, background: '#F7F7F8', borderRadius: 3, padding: '0 9px', flexDirection: 'row', alignItems: 'center' }}&gt;&#10;                    &lt;Text style={{ fontSize: 10, color: '#5A6070', lineHeight: 1.25 }}&gt;{r.e}&lt;/Text&gt;&#10;                &lt;/Box&gt;&#10;                &lt;Box style={{ flex: 1, background: '#F7F7F8', borderRadius: 3, padding: '0 9px', flexDirection: 'row', alignItems: 'center' }}&gt;&#10;                    &lt;Text style={{ fontSize: 10, color: '#5A6070' }}&gt;{r.k}&lt;/Text&gt;&#10;                &lt;/Box&gt;&#10;                &lt;Box style={{ flex: 1, background: '#FFF3EE', borderRadius: 3, padding: '0 9px', flexDirection: 'row', alignItems: 'center' }}&gt;&#10;                    &lt;Text style={{ fontSize: 10, color: '#C43A17', lineHeight: 1.25 }}&gt;{r.s}&lt;/Text&gt;&#10;                &lt;/Box&gt;&#10;                &lt;Box style={{ flex: 1, background: '#FFF3EE', borderRadius: 3, padding: '0 9px', flexDirection: 'row', alignItems: 'center' }}&gt;&#10;                    &lt;Text style={{ fontSize: 10, color: '#C43A17', lineHeight: 1.25 }}&gt;{r.c}&lt;/Text&gt;&#10;                &lt;/Box&gt;&#10;                &lt;Box style={{ flex: 1, background: r.m === '敏感' ? '#FA4F24' : '#F7F7F8', borderRadius: 3, padding: '0 9px', flexDirection: 'row', alignItems: 'center' }}&gt;&#10;                    &lt;Text style={{ fontSize: 10, color: r.m === '敏感' ? '#FFFFFF' : '#5A6070' }}&gt;{r.m}&lt;/Text&gt;&#10;                &lt;/Box&gt;&#10;            &lt;/Box&gt;&#10;        ))}&#10;&#10;        {/* 中：双向拉通 */}&#10;        &lt;Box style={{ height: 30, flexDirection: 'row', gap: 8, alignItems: 'stretch' }}&gt;&#10;            &lt;Box style={{ flex: 1, background: '#0F1423', borderRadius: 3, padding: '0 14px', flexDirection: 'row', alignItems: 'center', gap: 10 }}&gt;&#10;                &lt;Text style={{ fontSize: 11.5, fontWeight: 'bold', color: '#FBA15C', width: 92 }}&gt;向上拉通 BA&lt;/Text&gt;&#10;                &lt;Text style={{ fontSize: 10.5, color: 'rgba(255,255,255,0.88)', flex: 1, lineHeight: 1.3 }}&gt;&#10;                    每个实体标注服务哪几条 L4；每条 L4 标注需要哪些实体与属性——这条链断了，L4 就跑不通&#10;                &lt;/Text&gt;&#10;            &lt;/Box&gt;&#10;            &lt;Box style={{ flex: 1, background: '#0F1423', borderRadius: 3, padding: '0 14px', flexDirection: 'row', alignItems: 'center', gap: 10 }}&gt;&#10;                &lt;Text style={{ fontSize: 11.5, fontWeight: 'bold', color: '#FBA15C', width: 92 }}&gt;向下拉通 AA&lt;/Text&gt;&#10;                &lt;Text style={{ fontSize: 10.5, color: 'rgba(255,255,255,0.88)', flex: 1, lineHeight: 1.3 }}&gt;&#10;                    每个实体标注落点系统、数据流向与同步方式——这条链断了，集成架构就是空的&#10;                &lt;/Text&gt;&#10;            &lt;/Box&gt;&#10;        &lt;/Box&gt;&#10;&#10;        {/* 下：指标字典八要素 + 考核数据清单 */}&#10;        &lt;Box style={{ flex: 1, flexDirection: 'row', gap: 8, alignItems: 'stretch' }}&gt;&#10;            &lt;Box style={{ flex: 1, background: '#FFF3EE', borderRadius: 4, borderLeft: '4px solid #FA4F24', padding: '11px 14px', flexDirection: 'column', justifyContent: 'center' }}&gt;&#10;                &lt;Text style={{ fontSize: 12.5, fontWeight: 'bold', color: '#C43A17' }}&gt;交付物⑧《指标字典》八要素（缺一项不进字典）&lt;/Text&gt;&#10;                &lt;Text style={{ fontSize: 11, color: '#3A4050', lineHeight: 1.5, marginTop: 6 }}&gt;&#10;                    指标名称与编码 · 业务定义 · 计算公式 · 计量单位 · 统计周期 · 数据来源与取数口径 · 业务与数据责任人 · 有效期与使用场景&#10;                &lt;/Text&gt;&#10;                &lt;Text style={{ fontSize: 10.5, color: '#C43A17', lineHeight: 1.35, marginTop: 6 }}&gt;&#10;                    判据：口径没定下来、责任人没落实的指标，不进字典只进待办清单——宁可少几个，不能有错的口径。&#10;                &lt;/Text&gt;&#10;            &lt;/Box&gt;&#10;            &lt;Box style={{ flex: 1, background: '#F7F7F8', borderRadius: 4, borderLeft: '4px solid #C43A17', padding: '11px 14px', flexDirection: 'column', justifyContent: 'center' }}&gt;&#10;                &lt;Text style={{ fontSize: 12.5, fontWeight: 'bold', color: '#3A4050' }}&gt;交付物⑨《绩效考核所需业务数据清单》&lt;/Text&gt;&#10;                &lt;Text style={{ fontSize: 11, color: '#3A4050', lineHeight: 1.5, marginTop: 6 }}&gt;&#10;                    以 HR 提供的考核标的、岗位、人员为输入，逐项梳理所需业务数据：数据源、数据类型、传输方式、更新频率、可见范围。&#10;                &lt;/Text&gt;&#10;                &lt;Text style={{ fontSize: 10.5, color: '#C43A17', lineHeight: 1.35, marginTop: 6 }}&gt;&#10;                    前提条件写进风险清单：若 HR 未在约定时间提供考核标的，该交付物顺延，不自行假设标的。&#10;                &lt;/Text&gt;&#10;            &lt;/Box&gt;&#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30 / 36&lt;/Text&gt;&#10;    &lt;/Box&gt;&#10;&lt;/Slide&gt;&#10;"/>
        <p:cNvGrpSpPr/>
        <p:nvPr/>
      </p:nvGrpSpPr>
      <p:grpSpPr>
        <a:xfrm>
          <a:off x="0" y="0"/>
          <a:ext cx="0" cy="0"/>
          <a:chOff x="0" y="0"/>
          <a:chExt cx="0" cy="0"/>
        </a:xfrm>
      </p:grpSpPr>
      <p:sp>
        <p:nvSpPr>
          <p:cNvPr id="1530" name=""/>
          <p:cNvSpPr/>
          <p:nvPr/>
        </p:nvSpPr>
        <p:spPr>
          <a:xfrm rot="0" flipH="0" flipV="0">
            <a:off x="0" y="0"/>
            <a:ext cx="12192000" cy="6858000"/>
          </a:xfrm>
          <a:prstGeom prst="rect">
            <a:avLst/>
          </a:prstGeom>
          <a:solidFill>
            <a:srgbClr val="FFFFFF"/>
          </a:solidFill>
          <a:ln/>
        </p:spPr>
        <p:txBody>
          <a:bodyPr/>
          <a:p/>
        </p:txBody>
      </p:sp>
      <p:sp>
        <p:nvSpPr>
          <p:cNvPr id="153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数据下探：</a:t>
            </a:r>
            <a:r>
              <a:rPr lang="zh-CN" sz="2400" b="1">
                <a:solidFill>
                  <a:srgbClr val="FA4F24"/>
                </a:solidFill>
                <a:latin typeface="Microsoft YaHei"/>
                <a:ea typeface="Microsoft YaHei"/>
              </a:rPr>
              <a:t>逻辑实体属性</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指标字典</a:t>
            </a:r>
            <a:endParaRPr/>
          </a:p>
        </p:txBody>
      </p:sp>
      <p:sp>
        <p:nvSpPr>
          <p:cNvPr id="1532"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3.3.3(2) + </a:t>
            </a:r>
            <a:r>
              <a:rPr lang="zh-CN" sz="1425">
                <a:solidFill>
                  <a:srgbClr val="8A8F99"/>
                </a:solidFill>
                <a:latin typeface="Microsoft YaHei"/>
                <a:ea typeface="Microsoft YaHei"/>
              </a:rPr>
              <a:t>交付物⑤⑧：属性设计要同时向上向下拉通，指标字典是唯一出口</a:t>
            </a:r>
            <a:endParaRPr/>
          </a:p>
        </p:txBody>
      </p:sp>
      <p:sp>
        <p:nvSpPr>
          <p:cNvPr id="1533" name=""/>
          <p:cNvSpPr/>
          <p:nvPr/>
        </p:nvSpPr>
        <p:spPr>
          <a:xfrm rot="0" flipH="0" flipV="0">
            <a:off x="609600" y="1143000"/>
            <a:ext cx="10972800" cy="9525"/>
          </a:xfrm>
          <a:prstGeom prst="rect">
            <a:avLst/>
          </a:prstGeom>
          <a:solidFill>
            <a:srgbClr val="E8E8E8"/>
          </a:solidFill>
          <a:ln/>
        </p:spPr>
        <p:txBody>
          <a:bodyPr/>
          <a:p/>
        </p:txBody>
      </p:sp>
      <p:sp>
        <p:nvSpPr>
          <p:cNvPr id="1534" name=""/>
          <p:cNvSpPr/>
          <p:nvPr/>
        </p:nvSpPr>
        <p:spPr>
          <a:xfrm rot="0" flipH="0" flipV="0">
            <a:off x="609600" y="1276350"/>
            <a:ext cx="38100" cy="152400"/>
          </a:xfrm>
          <a:prstGeom prst="rect">
            <a:avLst/>
          </a:prstGeom>
          <a:solidFill>
            <a:srgbClr val="FA4F24"/>
          </a:solidFill>
          <a:ln/>
        </p:spPr>
        <p:txBody>
          <a:bodyPr/>
          <a:p/>
        </p:txBody>
      </p:sp>
      <p:sp>
        <p:nvSpPr>
          <p:cNvPr id="1535" name="" descr="{&quot;isTemplate&quot;:true,&quot;type&quot;:&quot;text&quot;}"/>
          <p:cNvSpPr txBox="1"/>
          <p:nvPr/>
        </p:nvSpPr>
        <p:spPr>
          <a:xfrm rot="0" flipH="0" flipV="0">
            <a:off x="723900" y="1276350"/>
            <a:ext cx="2190750" cy="161925"/>
          </a:xfrm>
          <a:prstGeom prst="rect"/>
        </p:spPr>
        <p:txBody>
          <a:bodyPr wrap="none" lIns="0" tIns="0" rIns="0" bIns="0"/>
          <a:p>
            <a:pPr>
              <a:lnSpc>
                <a:spcPct val="100000"/>
              </a:lnSpc>
            </a:pPr>
            <a:r>
              <a:rPr lang="zh-CN" sz="1013" b="1">
                <a:solidFill>
                  <a:srgbClr val="0F1423"/>
                </a:solidFill>
                <a:latin typeface="Microsoft YaHei"/>
                <a:ea typeface="Microsoft YaHei"/>
              </a:rPr>
              <a:t>逻辑实体属性设计示例：实体「电站」</a:t>
            </a:r>
            <a:endParaRPr/>
          </a:p>
        </p:txBody>
      </p:sp>
      <p:sp>
        <p:nvSpPr>
          <p:cNvPr id="1536" name=""/>
          <p:cNvSpPr/>
          <p:nvPr/>
        </p:nvSpPr>
        <p:spPr>
          <a:xfrm rot="0" flipH="0" flipV="0">
            <a:off x="609600" y="1533525"/>
            <a:ext cx="1152525" cy="209550"/>
          </a:xfrm>
          <a:prstGeom prst="roundRect">
            <a:avLst>
              <a:gd name="adj" fmla="val 13636"/>
            </a:avLst>
          </a:prstGeom>
          <a:solidFill>
            <a:srgbClr val="0F1423"/>
          </a:solidFill>
          <a:ln/>
        </p:spPr>
        <p:txBody>
          <a:bodyPr/>
          <a:p/>
        </p:txBody>
      </p:sp>
      <p:sp>
        <p:nvSpPr>
          <p:cNvPr id="1537" name="" descr="{&quot;isTemplate&quot;:true,&quot;type&quot;:&quot;text&quot;}"/>
          <p:cNvSpPr txBox="1"/>
          <p:nvPr/>
        </p:nvSpPr>
        <p:spPr>
          <a:xfrm rot="0" flipH="0" flipV="0">
            <a:off x="695325" y="1581150"/>
            <a:ext cx="304800" cy="123825"/>
          </a:xfrm>
          <a:prstGeom prst="rect"/>
        </p:spPr>
        <p:txBody>
          <a:bodyPr wrap="none" lIns="0" tIns="0" rIns="0" bIns="0"/>
          <a:p>
            <a:pPr>
              <a:lnSpc>
                <a:spcPct val="100000"/>
              </a:lnSpc>
            </a:pPr>
            <a:r>
              <a:rPr lang="zh-CN" sz="788" b="1">
                <a:solidFill>
                  <a:srgbClr val="FFFFFF"/>
                </a:solidFill>
                <a:latin typeface="Microsoft YaHei"/>
                <a:ea typeface="Microsoft YaHei"/>
              </a:rPr>
              <a:t>属性名</a:t>
            </a:r>
            <a:endParaRPr/>
          </a:p>
        </p:txBody>
      </p:sp>
      <p:sp>
        <p:nvSpPr>
          <p:cNvPr id="1538" name=""/>
          <p:cNvSpPr/>
          <p:nvPr/>
        </p:nvSpPr>
        <p:spPr>
          <a:xfrm rot="0" flipH="0" flipV="0">
            <a:off x="1809750" y="1533525"/>
            <a:ext cx="2552700" cy="209550"/>
          </a:xfrm>
          <a:prstGeom prst="roundRect">
            <a:avLst>
              <a:gd name="adj" fmla="val 13636"/>
            </a:avLst>
          </a:prstGeom>
          <a:solidFill>
            <a:srgbClr val="0F1423"/>
          </a:solidFill>
          <a:ln/>
        </p:spPr>
        <p:txBody>
          <a:bodyPr/>
          <a:p/>
        </p:txBody>
      </p:sp>
      <p:sp>
        <p:nvSpPr>
          <p:cNvPr id="1539" name="" descr="{&quot;isTemplate&quot;:true,&quot;type&quot;:&quot;text&quot;}"/>
          <p:cNvSpPr txBox="1"/>
          <p:nvPr/>
        </p:nvSpPr>
        <p:spPr>
          <a:xfrm rot="0" flipH="0" flipV="0">
            <a:off x="1895475" y="1581150"/>
            <a:ext cx="400050" cy="123825"/>
          </a:xfrm>
          <a:prstGeom prst="rect"/>
        </p:spPr>
        <p:txBody>
          <a:bodyPr wrap="none" lIns="0" tIns="0" rIns="0" bIns="0"/>
          <a:p>
            <a:pPr>
              <a:lnSpc>
                <a:spcPct val="100000"/>
              </a:lnSpc>
            </a:pPr>
            <a:r>
              <a:rPr lang="zh-CN" sz="788" b="1">
                <a:solidFill>
                  <a:srgbClr val="FFFFFF"/>
                </a:solidFill>
                <a:latin typeface="Microsoft YaHei"/>
                <a:ea typeface="Microsoft YaHei"/>
              </a:rPr>
              <a:t>业务定义</a:t>
            </a:r>
            <a:endParaRPr/>
          </a:p>
        </p:txBody>
      </p:sp>
      <p:sp>
        <p:nvSpPr>
          <p:cNvPr id="1540" name=""/>
          <p:cNvSpPr/>
          <p:nvPr/>
        </p:nvSpPr>
        <p:spPr>
          <a:xfrm rot="0" flipH="0" flipV="0">
            <a:off x="4410075" y="1533525"/>
            <a:ext cx="1152525" cy="209550"/>
          </a:xfrm>
          <a:prstGeom prst="roundRect">
            <a:avLst>
              <a:gd name="adj" fmla="val 13636"/>
            </a:avLst>
          </a:prstGeom>
          <a:solidFill>
            <a:srgbClr val="0F1423"/>
          </a:solidFill>
          <a:ln/>
        </p:spPr>
        <p:txBody>
          <a:bodyPr/>
          <a:p/>
        </p:txBody>
      </p:sp>
      <p:sp>
        <p:nvSpPr>
          <p:cNvPr id="1541" name="" descr="{&quot;isTemplate&quot;:true,&quot;type&quot;:&quot;text&quot;}"/>
          <p:cNvSpPr txBox="1"/>
          <p:nvPr/>
        </p:nvSpPr>
        <p:spPr>
          <a:xfrm rot="0" flipH="0" flipV="0">
            <a:off x="4495800" y="1581150"/>
            <a:ext cx="400050" cy="123825"/>
          </a:xfrm>
          <a:prstGeom prst="rect"/>
        </p:spPr>
        <p:txBody>
          <a:bodyPr wrap="none" lIns="0" tIns="0" rIns="0" bIns="0"/>
          <a:p>
            <a:pPr>
              <a:lnSpc>
                <a:spcPct val="100000"/>
              </a:lnSpc>
            </a:pPr>
            <a:r>
              <a:rPr lang="zh-CN" sz="788" b="1">
                <a:solidFill>
                  <a:srgbClr val="FFFFFF"/>
                </a:solidFill>
                <a:latin typeface="Microsoft YaHei"/>
                <a:ea typeface="Microsoft YaHei"/>
              </a:rPr>
              <a:t>数据类型</a:t>
            </a:r>
            <a:endParaRPr/>
          </a:p>
        </p:txBody>
      </p:sp>
      <p:sp>
        <p:nvSpPr>
          <p:cNvPr id="1542" name=""/>
          <p:cNvSpPr/>
          <p:nvPr/>
        </p:nvSpPr>
        <p:spPr>
          <a:xfrm rot="0" flipH="0" flipV="0">
            <a:off x="5610225" y="1533525"/>
            <a:ext cx="1152525" cy="209550"/>
          </a:xfrm>
          <a:prstGeom prst="roundRect">
            <a:avLst>
              <a:gd name="adj" fmla="val 13636"/>
            </a:avLst>
          </a:prstGeom>
          <a:solidFill>
            <a:srgbClr val="0F1423"/>
          </a:solidFill>
          <a:ln/>
        </p:spPr>
        <p:txBody>
          <a:bodyPr/>
          <a:p/>
        </p:txBody>
      </p:sp>
      <p:sp>
        <p:nvSpPr>
          <p:cNvPr id="1543" name="" descr="{&quot;isTemplate&quot;:true,&quot;type&quot;:&quot;text&quot;}"/>
          <p:cNvSpPr txBox="1"/>
          <p:nvPr/>
        </p:nvSpPr>
        <p:spPr>
          <a:xfrm rot="0" flipH="0" flipV="0">
            <a:off x="5695950" y="1581150"/>
            <a:ext cx="552450" cy="123825"/>
          </a:xfrm>
          <a:prstGeom prst="rect"/>
        </p:spPr>
        <p:txBody>
          <a:bodyPr wrap="none" lIns="0" tIns="0" rIns="0" bIns="0"/>
          <a:p>
            <a:pPr>
              <a:lnSpc>
                <a:spcPct val="100000"/>
              </a:lnSpc>
            </a:pPr>
            <a:r>
              <a:rPr lang="zh-CN" sz="788" b="1">
                <a:solidFill>
                  <a:srgbClr val="FFFFFF"/>
                </a:solidFill>
                <a:latin typeface="Microsoft YaHei"/>
                <a:ea typeface="Microsoft YaHei"/>
              </a:rPr>
              <a:t>取值域</a:t>
            </a:r>
            <a:r>
              <a:rPr lang="en-US" sz="788" b="1">
                <a:solidFill>
                  <a:srgbClr val="FFFFFF"/>
                </a:solidFill>
                <a:latin typeface="Microsoft YaHei"/>
                <a:ea typeface="Microsoft YaHei"/>
              </a:rPr>
              <a:t>/</a:t>
            </a:r>
            <a:r>
              <a:rPr lang="zh-CN" sz="788" b="1">
                <a:solidFill>
                  <a:srgbClr val="FFFFFF"/>
                </a:solidFill>
                <a:latin typeface="Microsoft YaHei"/>
                <a:ea typeface="Microsoft YaHei"/>
              </a:rPr>
              <a:t>枚举</a:t>
            </a:r>
            <a:endParaRPr/>
          </a:p>
        </p:txBody>
      </p:sp>
      <p:sp>
        <p:nvSpPr>
          <p:cNvPr id="1544" name=""/>
          <p:cNvSpPr/>
          <p:nvPr/>
        </p:nvSpPr>
        <p:spPr>
          <a:xfrm rot="0" flipH="0" flipV="0">
            <a:off x="6810375" y="1533525"/>
            <a:ext cx="1162050" cy="209550"/>
          </a:xfrm>
          <a:prstGeom prst="roundRect">
            <a:avLst>
              <a:gd name="adj" fmla="val 13636"/>
            </a:avLst>
          </a:prstGeom>
          <a:solidFill>
            <a:srgbClr val="0F1423"/>
          </a:solidFill>
          <a:ln/>
        </p:spPr>
        <p:txBody>
          <a:bodyPr/>
          <a:p/>
        </p:txBody>
      </p:sp>
      <p:sp>
        <p:nvSpPr>
          <p:cNvPr id="1545" name="" descr="{&quot;isTemplate&quot;:true,&quot;type&quot;:&quot;text&quot;}"/>
          <p:cNvSpPr txBox="1"/>
          <p:nvPr/>
        </p:nvSpPr>
        <p:spPr>
          <a:xfrm rot="0" flipH="0" flipV="0">
            <a:off x="6896100" y="1581150"/>
            <a:ext cx="447675" cy="123825"/>
          </a:xfrm>
          <a:prstGeom prst="rect"/>
        </p:spPr>
        <p:txBody>
          <a:bodyPr wrap="none" lIns="0" tIns="0" rIns="0" bIns="0"/>
          <a:p>
            <a:pPr>
              <a:lnSpc>
                <a:spcPct val="100000"/>
              </a:lnSpc>
            </a:pPr>
            <a:r>
              <a:rPr lang="zh-CN" sz="788" b="1">
                <a:solidFill>
                  <a:srgbClr val="FFFFFF"/>
                </a:solidFill>
                <a:latin typeface="Microsoft YaHei"/>
                <a:ea typeface="Microsoft YaHei"/>
              </a:rPr>
              <a:t>主键</a:t>
            </a:r>
            <a:r>
              <a:rPr lang="en-US" sz="788" b="1">
                <a:solidFill>
                  <a:srgbClr val="FFFFFF"/>
                </a:solidFill>
                <a:latin typeface="Microsoft YaHei"/>
                <a:ea typeface="Microsoft YaHei"/>
              </a:rPr>
              <a:t>/</a:t>
            </a:r>
            <a:r>
              <a:rPr lang="zh-CN" sz="788" b="1">
                <a:solidFill>
                  <a:srgbClr val="FFFFFF"/>
                </a:solidFill>
                <a:latin typeface="Microsoft YaHei"/>
                <a:ea typeface="Microsoft YaHei"/>
              </a:rPr>
              <a:t>外键</a:t>
            </a:r>
            <a:endParaRPr/>
          </a:p>
        </p:txBody>
      </p:sp>
      <p:sp>
        <p:nvSpPr>
          <p:cNvPr id="1546" name=""/>
          <p:cNvSpPr/>
          <p:nvPr/>
        </p:nvSpPr>
        <p:spPr>
          <a:xfrm rot="0" flipH="0" flipV="0">
            <a:off x="8020050" y="1533525"/>
            <a:ext cx="1152525" cy="209550"/>
          </a:xfrm>
          <a:prstGeom prst="roundRect">
            <a:avLst>
              <a:gd name="adj" fmla="val 13636"/>
            </a:avLst>
          </a:prstGeom>
          <a:solidFill>
            <a:srgbClr val="0F1423"/>
          </a:solidFill>
          <a:ln/>
        </p:spPr>
        <p:txBody>
          <a:bodyPr/>
          <a:p/>
        </p:txBody>
      </p:sp>
      <p:sp>
        <p:nvSpPr>
          <p:cNvPr id="1547" name="" descr="{&quot;isTemplate&quot;:true,&quot;type&quot;:&quot;text&quot;}"/>
          <p:cNvSpPr txBox="1"/>
          <p:nvPr/>
        </p:nvSpPr>
        <p:spPr>
          <a:xfrm rot="0" flipH="0" flipV="0">
            <a:off x="8105775" y="1581150"/>
            <a:ext cx="400050" cy="123825"/>
          </a:xfrm>
          <a:prstGeom prst="rect"/>
        </p:spPr>
        <p:txBody>
          <a:bodyPr wrap="none" lIns="0" tIns="0" rIns="0" bIns="0"/>
          <a:p>
            <a:pPr>
              <a:lnSpc>
                <a:spcPct val="100000"/>
              </a:lnSpc>
            </a:pPr>
            <a:r>
              <a:rPr lang="zh-CN" sz="788" b="1">
                <a:solidFill>
                  <a:srgbClr val="FFFFFF"/>
                </a:solidFill>
                <a:latin typeface="Microsoft YaHei"/>
                <a:ea typeface="Microsoft YaHei"/>
              </a:rPr>
              <a:t>数据标准</a:t>
            </a:r>
            <a:endParaRPr/>
          </a:p>
        </p:txBody>
      </p:sp>
      <p:sp>
        <p:nvSpPr>
          <p:cNvPr id="1548" name=""/>
          <p:cNvSpPr/>
          <p:nvPr/>
        </p:nvSpPr>
        <p:spPr>
          <a:xfrm rot="0" flipH="0" flipV="0">
            <a:off x="9220200" y="1533525"/>
            <a:ext cx="1162050" cy="209550"/>
          </a:xfrm>
          <a:prstGeom prst="roundRect">
            <a:avLst>
              <a:gd name="adj" fmla="val 13636"/>
            </a:avLst>
          </a:prstGeom>
          <a:solidFill>
            <a:srgbClr val="0F1423"/>
          </a:solidFill>
          <a:ln/>
        </p:spPr>
        <p:txBody>
          <a:bodyPr/>
          <a:p/>
        </p:txBody>
      </p:sp>
      <p:sp>
        <p:nvSpPr>
          <p:cNvPr id="1549" name="" descr="{&quot;isTemplate&quot;:true,&quot;type&quot;:&quot;text&quot;}"/>
          <p:cNvSpPr txBox="1"/>
          <p:nvPr/>
        </p:nvSpPr>
        <p:spPr>
          <a:xfrm rot="0" flipH="0" flipV="0">
            <a:off x="9305925" y="1581150"/>
            <a:ext cx="400050" cy="123825"/>
          </a:xfrm>
          <a:prstGeom prst="rect"/>
        </p:spPr>
        <p:txBody>
          <a:bodyPr wrap="none" lIns="0" tIns="0" rIns="0" bIns="0"/>
          <a:p>
            <a:pPr>
              <a:lnSpc>
                <a:spcPct val="100000"/>
              </a:lnSpc>
            </a:pPr>
            <a:r>
              <a:rPr lang="zh-CN" sz="788" b="1">
                <a:solidFill>
                  <a:srgbClr val="FFFFFF"/>
                </a:solidFill>
                <a:latin typeface="Microsoft YaHei"/>
                <a:ea typeface="Microsoft YaHei"/>
              </a:rPr>
              <a:t>代码标准</a:t>
            </a:r>
            <a:endParaRPr/>
          </a:p>
        </p:txBody>
      </p:sp>
      <p:sp>
        <p:nvSpPr>
          <p:cNvPr id="1550" name=""/>
          <p:cNvSpPr/>
          <p:nvPr/>
        </p:nvSpPr>
        <p:spPr>
          <a:xfrm rot="0" flipH="0" flipV="0">
            <a:off x="10429875" y="1533525"/>
            <a:ext cx="1152525" cy="209550"/>
          </a:xfrm>
          <a:prstGeom prst="roundRect">
            <a:avLst>
              <a:gd name="adj" fmla="val 13636"/>
            </a:avLst>
          </a:prstGeom>
          <a:solidFill>
            <a:srgbClr val="0F1423"/>
          </a:solidFill>
          <a:ln/>
        </p:spPr>
        <p:txBody>
          <a:bodyPr/>
          <a:p/>
        </p:txBody>
      </p:sp>
      <p:sp>
        <p:nvSpPr>
          <p:cNvPr id="1551" name="" descr="{&quot;isTemplate&quot;:true,&quot;type&quot;:&quot;text&quot;}"/>
          <p:cNvSpPr txBox="1"/>
          <p:nvPr/>
        </p:nvSpPr>
        <p:spPr>
          <a:xfrm rot="0" flipH="0" flipV="0">
            <a:off x="10515600" y="1581150"/>
            <a:ext cx="200025" cy="123825"/>
          </a:xfrm>
          <a:prstGeom prst="rect"/>
        </p:spPr>
        <p:txBody>
          <a:bodyPr wrap="none" lIns="0" tIns="0" rIns="0" bIns="0"/>
          <a:p>
            <a:pPr>
              <a:lnSpc>
                <a:spcPct val="100000"/>
              </a:lnSpc>
            </a:pPr>
            <a:r>
              <a:rPr lang="zh-CN" sz="788" b="1">
                <a:solidFill>
                  <a:srgbClr val="FFFFFF"/>
                </a:solidFill>
                <a:latin typeface="Microsoft YaHei"/>
                <a:ea typeface="Microsoft YaHei"/>
              </a:rPr>
              <a:t>密级</a:t>
            </a:r>
            <a:endParaRPr/>
          </a:p>
        </p:txBody>
      </p:sp>
      <p:sp>
        <p:nvSpPr>
          <p:cNvPr id="1552" name=""/>
          <p:cNvSpPr/>
          <p:nvPr/>
        </p:nvSpPr>
        <p:spPr>
          <a:xfrm rot="0" flipH="0" flipV="0">
            <a:off x="609600" y="1819275"/>
            <a:ext cx="1152525" cy="371475"/>
          </a:xfrm>
          <a:prstGeom prst="roundRect">
            <a:avLst>
              <a:gd name="adj" fmla="val 7692"/>
            </a:avLst>
          </a:prstGeom>
          <a:solidFill>
            <a:srgbClr val="F7F7F8"/>
          </a:solidFill>
          <a:ln/>
        </p:spPr>
        <p:txBody>
          <a:bodyPr/>
          <a:p/>
        </p:txBody>
      </p:sp>
      <p:sp>
        <p:nvSpPr>
          <p:cNvPr id="1553" name="" descr="{&quot;isTemplate&quot;:true,&quot;type&quot;:&quot;text&quot;}"/>
          <p:cNvSpPr txBox="1"/>
          <p:nvPr/>
        </p:nvSpPr>
        <p:spPr>
          <a:xfrm rot="0" flipH="0" flipV="0">
            <a:off x="695325" y="1943100"/>
            <a:ext cx="495300" cy="123825"/>
          </a:xfrm>
          <a:prstGeom prst="rect"/>
        </p:spPr>
        <p:txBody>
          <a:bodyPr wrap="none" lIns="0" tIns="0" rIns="0" bIns="0"/>
          <a:p>
            <a:pPr>
              <a:lnSpc>
                <a:spcPct val="100000"/>
              </a:lnSpc>
            </a:pPr>
            <a:r>
              <a:rPr lang="en-US" sz="788" b="1">
                <a:solidFill>
                  <a:srgbClr val="0F1423"/>
                </a:solidFill>
                <a:latin typeface="Microsoft YaHei"/>
                <a:ea typeface="Microsoft YaHei"/>
              </a:rPr>
              <a:t>station_id</a:t>
            </a:r>
            <a:endParaRPr/>
          </a:p>
        </p:txBody>
      </p:sp>
      <p:sp>
        <p:nvSpPr>
          <p:cNvPr id="1554" name=""/>
          <p:cNvSpPr/>
          <p:nvPr/>
        </p:nvSpPr>
        <p:spPr>
          <a:xfrm rot="0" flipH="0" flipV="0">
            <a:off x="1809750" y="1819275"/>
            <a:ext cx="2552700" cy="371475"/>
          </a:xfrm>
          <a:prstGeom prst="roundRect">
            <a:avLst>
              <a:gd name="adj" fmla="val 7692"/>
            </a:avLst>
          </a:prstGeom>
          <a:solidFill>
            <a:srgbClr val="F7F7F8"/>
          </a:solidFill>
          <a:ln/>
        </p:spPr>
        <p:txBody>
          <a:bodyPr/>
          <a:p/>
        </p:txBody>
      </p:sp>
      <p:sp>
        <p:nvSpPr>
          <p:cNvPr id="1555" name="" descr="{&quot;isTemplate&quot;:true,&quot;type&quot;:&quot;text&quot;}"/>
          <p:cNvSpPr txBox="1"/>
          <p:nvPr/>
        </p:nvSpPr>
        <p:spPr>
          <a:xfrm rot="0" flipH="0" flipV="0">
            <a:off x="1895475" y="1933575"/>
            <a:ext cx="1143000" cy="142875"/>
          </a:xfrm>
          <a:prstGeom prst="rect"/>
        </p:spPr>
        <p:txBody>
          <a:bodyPr wrap="none" lIns="0" tIns="0" rIns="0" bIns="0"/>
          <a:p>
            <a:pPr>
              <a:lnSpc>
                <a:spcPct val="125000"/>
              </a:lnSpc>
            </a:pPr>
            <a:r>
              <a:rPr lang="zh-CN" sz="750">
                <a:solidFill>
                  <a:srgbClr val="3A4050"/>
                </a:solidFill>
                <a:latin typeface="Microsoft YaHei"/>
                <a:ea typeface="Microsoft YaHei"/>
              </a:rPr>
              <a:t>电站唯一标识，跨系统一致</a:t>
            </a:r>
            <a:endParaRPr/>
          </a:p>
        </p:txBody>
      </p:sp>
      <p:sp>
        <p:nvSpPr>
          <p:cNvPr id="1556" name=""/>
          <p:cNvSpPr/>
          <p:nvPr/>
        </p:nvSpPr>
        <p:spPr>
          <a:xfrm rot="0" flipH="0" flipV="0">
            <a:off x="4410075" y="1819275"/>
            <a:ext cx="1152525" cy="371475"/>
          </a:xfrm>
          <a:prstGeom prst="roundRect">
            <a:avLst>
              <a:gd name="adj" fmla="val 7692"/>
            </a:avLst>
          </a:prstGeom>
          <a:solidFill>
            <a:srgbClr val="F7F7F8"/>
          </a:solidFill>
          <a:ln/>
        </p:spPr>
        <p:txBody>
          <a:bodyPr/>
          <a:p/>
        </p:txBody>
      </p:sp>
      <p:sp>
        <p:nvSpPr>
          <p:cNvPr id="1557" name="" descr="{&quot;isTemplate&quot;:true,&quot;type&quot;:&quot;text&quot;}"/>
          <p:cNvSpPr txBox="1"/>
          <p:nvPr/>
        </p:nvSpPr>
        <p:spPr>
          <a:xfrm rot="0" flipH="0" flipV="0">
            <a:off x="4495800" y="1952625"/>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字符</a:t>
            </a:r>
            <a:endParaRPr/>
          </a:p>
        </p:txBody>
      </p:sp>
      <p:sp>
        <p:nvSpPr>
          <p:cNvPr id="1558" name=""/>
          <p:cNvSpPr/>
          <p:nvPr/>
        </p:nvSpPr>
        <p:spPr>
          <a:xfrm rot="0" flipH="0" flipV="0">
            <a:off x="5610225" y="1819275"/>
            <a:ext cx="1152525" cy="371475"/>
          </a:xfrm>
          <a:prstGeom prst="roundRect">
            <a:avLst>
              <a:gd name="adj" fmla="val 7692"/>
            </a:avLst>
          </a:prstGeom>
          <a:solidFill>
            <a:srgbClr val="F7F7F8"/>
          </a:solidFill>
          <a:ln/>
        </p:spPr>
        <p:txBody>
          <a:bodyPr/>
          <a:p/>
        </p:txBody>
      </p:sp>
      <p:sp>
        <p:nvSpPr>
          <p:cNvPr id="1559" name="" descr="{&quot;isTemplate&quot;:true,&quot;type&quot;:&quot;text&quot;}"/>
          <p:cNvSpPr txBox="1"/>
          <p:nvPr/>
        </p:nvSpPr>
        <p:spPr>
          <a:xfrm rot="0" flipH="0" flipV="0">
            <a:off x="5695950" y="1866900"/>
            <a:ext cx="981075" cy="285750"/>
          </a:xfrm>
          <a:prstGeom prst="rect"/>
        </p:spPr>
        <p:txBody>
          <a:bodyPr wrap="square" lIns="0" tIns="0" rIns="0" bIns="0">
            <a:normAutofit/>
          </a:bodyPr>
          <a:p>
            <a:pPr>
              <a:lnSpc>
                <a:spcPct val="125000"/>
              </a:lnSpc>
            </a:pPr>
            <a:r>
              <a:rPr lang="en-US" sz="750">
                <a:solidFill>
                  <a:srgbClr val="5A6070"/>
                </a:solidFill>
                <a:latin typeface="Microsoft YaHei"/>
                <a:ea typeface="Microsoft YaHei"/>
              </a:rPr>
              <a:t xml:space="preserve">ST + </a:t>
            </a:r>
            <a:r>
              <a:rPr lang="zh-CN" sz="750">
                <a:solidFill>
                  <a:srgbClr val="5A6070"/>
                </a:solidFill>
                <a:latin typeface="Microsoft YaHei"/>
                <a:ea typeface="Microsoft YaHei"/>
              </a:rPr>
              <a:t>区域码</a:t>
            </a:r>
            <a:r>
              <a:rPr lang="en-US" sz="750">
                <a:solidFill>
                  <a:srgbClr val="5A6070"/>
                </a:solidFill>
                <a:latin typeface="Microsoft YaHei"/>
                <a:ea typeface="Microsoft YaHei"/>
              </a:rPr>
              <a:t xml:space="preserve">(2) + </a:t>
            </a:r>
            <a:r>
              <a:rPr lang="zh-CN" sz="750">
                <a:solidFill>
                  <a:srgbClr val="5A6070"/>
                </a:solidFill>
                <a:latin typeface="Microsoft YaHei"/>
                <a:ea typeface="Microsoft YaHei"/>
              </a:rPr>
              <a:t>序列</a:t>
            </a:r>
            <a:r>
              <a:rPr lang="en-US" sz="750">
                <a:solidFill>
                  <a:srgbClr val="5A6070"/>
                </a:solidFill>
                <a:latin typeface="Microsoft YaHei"/>
                <a:ea typeface="Microsoft YaHei"/>
              </a:rPr>
              <a:t>(4)</a:t>
            </a:r>
            <a:endParaRPr/>
          </a:p>
        </p:txBody>
      </p:sp>
      <p:sp>
        <p:nvSpPr>
          <p:cNvPr id="1560" name=""/>
          <p:cNvSpPr/>
          <p:nvPr/>
        </p:nvSpPr>
        <p:spPr>
          <a:xfrm rot="0" flipH="0" flipV="0">
            <a:off x="6810375" y="1819275"/>
            <a:ext cx="1162050" cy="371475"/>
          </a:xfrm>
          <a:prstGeom prst="roundRect">
            <a:avLst>
              <a:gd name="adj" fmla="val 7692"/>
            </a:avLst>
          </a:prstGeom>
          <a:solidFill>
            <a:srgbClr val="F7F7F8"/>
          </a:solidFill>
          <a:ln/>
        </p:spPr>
        <p:txBody>
          <a:bodyPr/>
          <a:p/>
        </p:txBody>
      </p:sp>
      <p:sp>
        <p:nvSpPr>
          <p:cNvPr id="1561" name="" descr="{&quot;isTemplate&quot;:true,&quot;type&quot;:&quot;text&quot;}"/>
          <p:cNvSpPr txBox="1"/>
          <p:nvPr/>
        </p:nvSpPr>
        <p:spPr>
          <a:xfrm rot="0" flipH="0" flipV="0">
            <a:off x="6896100" y="1952625"/>
            <a:ext cx="190500" cy="114300"/>
          </a:xfrm>
          <a:prstGeom prst="rect"/>
        </p:spPr>
        <p:txBody>
          <a:bodyPr wrap="none" lIns="0" tIns="0" rIns="0" bIns="0"/>
          <a:p>
            <a:pPr>
              <a:lnSpc>
                <a:spcPct val="100000"/>
              </a:lnSpc>
            </a:pPr>
            <a:r>
              <a:rPr lang="zh-CN" sz="750">
                <a:solidFill>
                  <a:srgbClr val="5A6070"/>
                </a:solidFill>
                <a:latin typeface="Microsoft YaHei"/>
                <a:ea typeface="Microsoft YaHei"/>
              </a:rPr>
              <a:t>主键</a:t>
            </a:r>
            <a:endParaRPr/>
          </a:p>
        </p:txBody>
      </p:sp>
      <p:sp>
        <p:nvSpPr>
          <p:cNvPr id="1562" name=""/>
          <p:cNvSpPr/>
          <p:nvPr/>
        </p:nvSpPr>
        <p:spPr>
          <a:xfrm rot="0" flipH="0" flipV="0">
            <a:off x="8020050" y="1819275"/>
            <a:ext cx="1152525" cy="371475"/>
          </a:xfrm>
          <a:prstGeom prst="roundRect">
            <a:avLst>
              <a:gd name="adj" fmla="val 7692"/>
            </a:avLst>
          </a:prstGeom>
          <a:solidFill>
            <a:srgbClr val="FFF3EE"/>
          </a:solidFill>
          <a:ln/>
        </p:spPr>
        <p:txBody>
          <a:bodyPr/>
          <a:p/>
        </p:txBody>
      </p:sp>
      <p:sp>
        <p:nvSpPr>
          <p:cNvPr id="1563" name="" descr="{&quot;isTemplate&quot;:true,&quot;type&quot;:&quot;text&quot;}"/>
          <p:cNvSpPr txBox="1"/>
          <p:nvPr/>
        </p:nvSpPr>
        <p:spPr>
          <a:xfrm rot="0" flipH="0" flipV="0">
            <a:off x="8105775" y="1933575"/>
            <a:ext cx="828675" cy="142875"/>
          </a:xfrm>
          <a:prstGeom prst="rect"/>
        </p:spPr>
        <p:txBody>
          <a:bodyPr wrap="none" lIns="0" tIns="0" rIns="0" bIns="0"/>
          <a:p>
            <a:pPr>
              <a:lnSpc>
                <a:spcPct val="125000"/>
              </a:lnSpc>
            </a:pPr>
            <a:r>
              <a:rPr lang="en-US" sz="750">
                <a:solidFill>
                  <a:srgbClr val="C43A17"/>
                </a:solidFill>
                <a:latin typeface="Microsoft YaHei"/>
                <a:ea typeface="Microsoft YaHei"/>
              </a:rPr>
              <a:t xml:space="preserve">GB/T </a:t>
            </a:r>
            <a:r>
              <a:rPr lang="zh-CN" sz="750">
                <a:solidFill>
                  <a:srgbClr val="C43A17"/>
                </a:solidFill>
                <a:latin typeface="Microsoft YaHei"/>
                <a:ea typeface="Microsoft YaHei"/>
              </a:rPr>
              <a:t>电站编码规则</a:t>
            </a:r>
            <a:endParaRPr/>
          </a:p>
        </p:txBody>
      </p:sp>
      <p:sp>
        <p:nvSpPr>
          <p:cNvPr id="1564" name=""/>
          <p:cNvSpPr/>
          <p:nvPr/>
        </p:nvSpPr>
        <p:spPr>
          <a:xfrm rot="0" flipH="0" flipV="0">
            <a:off x="9220200" y="1819275"/>
            <a:ext cx="1162050" cy="371475"/>
          </a:xfrm>
          <a:prstGeom prst="roundRect">
            <a:avLst>
              <a:gd name="adj" fmla="val 7692"/>
            </a:avLst>
          </a:prstGeom>
          <a:solidFill>
            <a:srgbClr val="FFF3EE"/>
          </a:solidFill>
          <a:ln/>
        </p:spPr>
        <p:txBody>
          <a:bodyPr/>
          <a:p/>
        </p:txBody>
      </p:sp>
      <p:sp>
        <p:nvSpPr>
          <p:cNvPr id="1565" name="" descr="{&quot;isTemplate&quot;:true,&quot;type&quot;:&quot;text&quot;}"/>
          <p:cNvSpPr txBox="1"/>
          <p:nvPr/>
        </p:nvSpPr>
        <p:spPr>
          <a:xfrm rot="0" flipH="0" flipV="0">
            <a:off x="9305925" y="1933575"/>
            <a:ext cx="723900" cy="142875"/>
          </a:xfrm>
          <a:prstGeom prst="rect"/>
        </p:spPr>
        <p:txBody>
          <a:bodyPr wrap="none" lIns="0" tIns="0" rIns="0" bIns="0"/>
          <a:p>
            <a:pPr>
              <a:lnSpc>
                <a:spcPct val="125000"/>
              </a:lnSpc>
            </a:pPr>
            <a:r>
              <a:rPr lang="zh-CN" sz="750">
                <a:solidFill>
                  <a:srgbClr val="C43A17"/>
                </a:solidFill>
                <a:latin typeface="Microsoft YaHei"/>
                <a:ea typeface="Microsoft YaHei"/>
              </a:rPr>
              <a:t>内部编码规范</a:t>
            </a:r>
            <a:r>
              <a:rPr lang="en-US" sz="750">
                <a:solidFill>
                  <a:srgbClr val="C43A17"/>
                </a:solidFill>
                <a:latin typeface="Microsoft YaHei"/>
                <a:ea typeface="Microsoft YaHei"/>
              </a:rPr>
              <a:t xml:space="preserve"> V2</a:t>
            </a:r>
            <a:endParaRPr/>
          </a:p>
        </p:txBody>
      </p:sp>
      <p:sp>
        <p:nvSpPr>
          <p:cNvPr id="1566" name=""/>
          <p:cNvSpPr/>
          <p:nvPr/>
        </p:nvSpPr>
        <p:spPr>
          <a:xfrm rot="0" flipH="0" flipV="0">
            <a:off x="10429875" y="1819275"/>
            <a:ext cx="1152525" cy="371475"/>
          </a:xfrm>
          <a:prstGeom prst="roundRect">
            <a:avLst>
              <a:gd name="adj" fmla="val 7692"/>
            </a:avLst>
          </a:prstGeom>
          <a:solidFill>
            <a:srgbClr val="F7F7F8"/>
          </a:solidFill>
          <a:ln/>
        </p:spPr>
        <p:txBody>
          <a:bodyPr/>
          <a:p/>
        </p:txBody>
      </p:sp>
      <p:sp>
        <p:nvSpPr>
          <p:cNvPr id="1567" name="" descr="{&quot;isTemplate&quot;:true,&quot;type&quot;:&quot;text&quot;}"/>
          <p:cNvSpPr txBox="1"/>
          <p:nvPr/>
        </p:nvSpPr>
        <p:spPr>
          <a:xfrm rot="0" flipH="0" flipV="0">
            <a:off x="10515600" y="1952625"/>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内部</a:t>
            </a:r>
            <a:endParaRPr/>
          </a:p>
        </p:txBody>
      </p:sp>
      <p:sp>
        <p:nvSpPr>
          <p:cNvPr id="1568" name=""/>
          <p:cNvSpPr/>
          <p:nvPr/>
        </p:nvSpPr>
        <p:spPr>
          <a:xfrm rot="0" flipH="0" flipV="0">
            <a:off x="609600" y="2266950"/>
            <a:ext cx="1152525" cy="361950"/>
          </a:xfrm>
          <a:prstGeom prst="roundRect">
            <a:avLst>
              <a:gd name="adj" fmla="val 7895"/>
            </a:avLst>
          </a:prstGeom>
          <a:solidFill>
            <a:srgbClr val="F7F7F8"/>
          </a:solidFill>
          <a:ln/>
        </p:spPr>
        <p:txBody>
          <a:bodyPr/>
          <a:p/>
        </p:txBody>
      </p:sp>
      <p:sp>
        <p:nvSpPr>
          <p:cNvPr id="1569" name="" descr="{&quot;isTemplate&quot;:true,&quot;type&quot;:&quot;text&quot;}"/>
          <p:cNvSpPr txBox="1"/>
          <p:nvPr/>
        </p:nvSpPr>
        <p:spPr>
          <a:xfrm rot="0" flipH="0" flipV="0">
            <a:off x="695325" y="2390775"/>
            <a:ext cx="676275" cy="123825"/>
          </a:xfrm>
          <a:prstGeom prst="rect"/>
        </p:spPr>
        <p:txBody>
          <a:bodyPr wrap="none" lIns="0" tIns="0" rIns="0" bIns="0"/>
          <a:p>
            <a:pPr>
              <a:lnSpc>
                <a:spcPct val="100000"/>
              </a:lnSpc>
            </a:pPr>
            <a:r>
              <a:rPr lang="en-US" sz="788" b="1">
                <a:solidFill>
                  <a:srgbClr val="0F1423"/>
                </a:solidFill>
                <a:latin typeface="Microsoft YaHei"/>
                <a:ea typeface="Microsoft YaHei"/>
              </a:rPr>
              <a:t>station_name</a:t>
            </a:r>
            <a:endParaRPr/>
          </a:p>
        </p:txBody>
      </p:sp>
      <p:sp>
        <p:nvSpPr>
          <p:cNvPr id="1570" name=""/>
          <p:cNvSpPr/>
          <p:nvPr/>
        </p:nvSpPr>
        <p:spPr>
          <a:xfrm rot="0" flipH="0" flipV="0">
            <a:off x="1809750" y="2266950"/>
            <a:ext cx="2552700" cy="361950"/>
          </a:xfrm>
          <a:prstGeom prst="roundRect">
            <a:avLst>
              <a:gd name="adj" fmla="val 7895"/>
            </a:avLst>
          </a:prstGeom>
          <a:solidFill>
            <a:srgbClr val="F7F7F8"/>
          </a:solidFill>
          <a:ln/>
        </p:spPr>
        <p:txBody>
          <a:bodyPr/>
          <a:p/>
        </p:txBody>
      </p:sp>
      <p:sp>
        <p:nvSpPr>
          <p:cNvPr id="1571" name="" descr="{&quot;isTemplate&quot;:true,&quot;type&quot;:&quot;text&quot;}"/>
          <p:cNvSpPr txBox="1"/>
          <p:nvPr/>
        </p:nvSpPr>
        <p:spPr>
          <a:xfrm rot="0" flipH="0" flipV="0">
            <a:off x="1895475" y="2381250"/>
            <a:ext cx="1143000" cy="142875"/>
          </a:xfrm>
          <a:prstGeom prst="rect"/>
        </p:spPr>
        <p:txBody>
          <a:bodyPr wrap="none" lIns="0" tIns="0" rIns="0" bIns="0"/>
          <a:p>
            <a:pPr>
              <a:lnSpc>
                <a:spcPct val="125000"/>
              </a:lnSpc>
            </a:pPr>
            <a:r>
              <a:rPr lang="zh-CN" sz="750">
                <a:solidFill>
                  <a:srgbClr val="3A4050"/>
                </a:solidFill>
                <a:latin typeface="Microsoft YaHei"/>
                <a:ea typeface="Microsoft YaHei"/>
              </a:rPr>
              <a:t>电站名称，与资产台账一致</a:t>
            </a:r>
            <a:endParaRPr/>
          </a:p>
        </p:txBody>
      </p:sp>
      <p:sp>
        <p:nvSpPr>
          <p:cNvPr id="1572" name=""/>
          <p:cNvSpPr/>
          <p:nvPr/>
        </p:nvSpPr>
        <p:spPr>
          <a:xfrm rot="0" flipH="0" flipV="0">
            <a:off x="4410075" y="2266950"/>
            <a:ext cx="1152525" cy="361950"/>
          </a:xfrm>
          <a:prstGeom prst="roundRect">
            <a:avLst>
              <a:gd name="adj" fmla="val 7895"/>
            </a:avLst>
          </a:prstGeom>
          <a:solidFill>
            <a:srgbClr val="F7F7F8"/>
          </a:solidFill>
          <a:ln/>
        </p:spPr>
        <p:txBody>
          <a:bodyPr/>
          <a:p/>
        </p:txBody>
      </p:sp>
      <p:sp>
        <p:nvSpPr>
          <p:cNvPr id="1573" name="" descr="{&quot;isTemplate&quot;:true,&quot;type&quot;:&quot;text&quot;}"/>
          <p:cNvSpPr txBox="1"/>
          <p:nvPr/>
        </p:nvSpPr>
        <p:spPr>
          <a:xfrm rot="0" flipH="0" flipV="0">
            <a:off x="4495800" y="2390775"/>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字符</a:t>
            </a:r>
            <a:endParaRPr/>
          </a:p>
        </p:txBody>
      </p:sp>
      <p:sp>
        <p:nvSpPr>
          <p:cNvPr id="1574" name=""/>
          <p:cNvSpPr/>
          <p:nvPr/>
        </p:nvSpPr>
        <p:spPr>
          <a:xfrm rot="0" flipH="0" flipV="0">
            <a:off x="5610225" y="2266950"/>
            <a:ext cx="1152525" cy="361950"/>
          </a:xfrm>
          <a:prstGeom prst="roundRect">
            <a:avLst>
              <a:gd name="adj" fmla="val 7895"/>
            </a:avLst>
          </a:prstGeom>
          <a:solidFill>
            <a:srgbClr val="F7F7F8"/>
          </a:solidFill>
          <a:ln/>
        </p:spPr>
        <p:txBody>
          <a:bodyPr/>
          <a:p/>
        </p:txBody>
      </p:sp>
      <p:sp>
        <p:nvSpPr>
          <p:cNvPr id="1575" name="" descr="{&quot;isTemplate&quot;:true,&quot;type&quot;:&quot;text&quot;}"/>
          <p:cNvSpPr txBox="1"/>
          <p:nvPr/>
        </p:nvSpPr>
        <p:spPr>
          <a:xfrm rot="0" flipH="0" flipV="0">
            <a:off x="5695950" y="2381250"/>
            <a:ext cx="104775" cy="142875"/>
          </a:xfrm>
          <a:prstGeom prst="rect"/>
        </p:spPr>
        <p:txBody>
          <a:bodyPr wrap="none" lIns="0" tIns="0" rIns="0" bIns="0"/>
          <a:p>
            <a:pPr>
              <a:lnSpc>
                <a:spcPct val="125000"/>
              </a:lnSpc>
            </a:pPr>
            <a:r>
              <a:rPr sz="750">
                <a:solidFill>
                  <a:srgbClr val="5A6070"/>
                </a:solidFill>
                <a:latin typeface="Microsoft YaHei"/>
                <a:ea typeface="Microsoft YaHei"/>
              </a:rPr>
              <a:t>—</a:t>
            </a:r>
            <a:endParaRPr/>
          </a:p>
        </p:txBody>
      </p:sp>
      <p:sp>
        <p:nvSpPr>
          <p:cNvPr id="1576" name=""/>
          <p:cNvSpPr/>
          <p:nvPr/>
        </p:nvSpPr>
        <p:spPr>
          <a:xfrm rot="0" flipH="0" flipV="0">
            <a:off x="6810375" y="2266950"/>
            <a:ext cx="1162050" cy="361950"/>
          </a:xfrm>
          <a:prstGeom prst="roundRect">
            <a:avLst>
              <a:gd name="adj" fmla="val 7895"/>
            </a:avLst>
          </a:prstGeom>
          <a:solidFill>
            <a:srgbClr val="F7F7F8"/>
          </a:solidFill>
          <a:ln/>
        </p:spPr>
        <p:txBody>
          <a:bodyPr/>
          <a:p/>
        </p:txBody>
      </p:sp>
      <p:sp>
        <p:nvSpPr>
          <p:cNvPr id="1577" name="" descr="{&quot;isTemplate&quot;:true,&quot;type&quot;:&quot;text&quot;}"/>
          <p:cNvSpPr txBox="1"/>
          <p:nvPr/>
        </p:nvSpPr>
        <p:spPr>
          <a:xfrm rot="0" flipH="0" flipV="0">
            <a:off x="6896100" y="2390775"/>
            <a:ext cx="104775" cy="114300"/>
          </a:xfrm>
          <a:prstGeom prst="rect"/>
        </p:spPr>
        <p:txBody>
          <a:bodyPr wrap="none" lIns="0" tIns="0" rIns="0" bIns="0"/>
          <a:p>
            <a:pPr>
              <a:lnSpc>
                <a:spcPct val="100000"/>
              </a:lnSpc>
            </a:pPr>
            <a:r>
              <a:rPr sz="750">
                <a:solidFill>
                  <a:srgbClr val="5A6070"/>
                </a:solidFill>
                <a:latin typeface="Microsoft YaHei"/>
                <a:ea typeface="Microsoft YaHei"/>
              </a:rPr>
              <a:t>—</a:t>
            </a:r>
            <a:endParaRPr/>
          </a:p>
        </p:txBody>
      </p:sp>
      <p:sp>
        <p:nvSpPr>
          <p:cNvPr id="1578" name=""/>
          <p:cNvSpPr/>
          <p:nvPr/>
        </p:nvSpPr>
        <p:spPr>
          <a:xfrm rot="0" flipH="0" flipV="0">
            <a:off x="8020050" y="2266950"/>
            <a:ext cx="1152525" cy="361950"/>
          </a:xfrm>
          <a:prstGeom prst="roundRect">
            <a:avLst>
              <a:gd name="adj" fmla="val 7895"/>
            </a:avLst>
          </a:prstGeom>
          <a:solidFill>
            <a:srgbClr val="FFF3EE"/>
          </a:solidFill>
          <a:ln/>
        </p:spPr>
        <p:txBody>
          <a:bodyPr/>
          <a:p/>
        </p:txBody>
      </p:sp>
      <p:sp>
        <p:nvSpPr>
          <p:cNvPr id="1579" name="" descr="{&quot;isTemplate&quot;:true,&quot;type&quot;:&quot;text&quot;}"/>
          <p:cNvSpPr txBox="1"/>
          <p:nvPr/>
        </p:nvSpPr>
        <p:spPr>
          <a:xfrm rot="0" flipH="0" flipV="0">
            <a:off x="8105775" y="2305050"/>
            <a:ext cx="981075" cy="285750"/>
          </a:xfrm>
          <a:prstGeom prst="rect"/>
        </p:spPr>
        <p:txBody>
          <a:bodyPr wrap="square" lIns="0" tIns="0" rIns="0" bIns="0">
            <a:normAutofit/>
          </a:bodyPr>
          <a:p>
            <a:pPr>
              <a:lnSpc>
                <a:spcPct val="125000"/>
              </a:lnSpc>
            </a:pPr>
            <a:r>
              <a:rPr lang="zh-CN" sz="750">
                <a:solidFill>
                  <a:srgbClr val="C43A17"/>
                </a:solidFill>
                <a:latin typeface="Microsoft YaHei"/>
                <a:ea typeface="Microsoft YaHei"/>
              </a:rPr>
              <a:t>命名规范：区域</a:t>
            </a:r>
            <a:r>
              <a:rPr lang="en-US" sz="750">
                <a:solidFill>
                  <a:srgbClr val="C43A17"/>
                </a:solidFill>
                <a:latin typeface="Microsoft YaHei"/>
                <a:ea typeface="Microsoft YaHei"/>
              </a:rPr>
              <a:t>+</a:t>
            </a:r>
            <a:r>
              <a:rPr lang="zh-CN" sz="750">
                <a:solidFill>
                  <a:srgbClr val="C43A17"/>
                </a:solidFill>
                <a:latin typeface="Microsoft YaHei"/>
                <a:ea typeface="Microsoft YaHei"/>
              </a:rPr>
              <a:t>类型</a:t>
            </a:r>
            <a:r>
              <a:rPr lang="en-US" sz="750">
                <a:solidFill>
                  <a:srgbClr val="C43A17"/>
                </a:solidFill>
                <a:latin typeface="Microsoft YaHei"/>
                <a:ea typeface="Microsoft YaHei"/>
              </a:rPr>
              <a:t>+</a:t>
            </a:r>
            <a:r>
              <a:rPr lang="zh-CN" sz="750">
                <a:solidFill>
                  <a:srgbClr val="C43A17"/>
                </a:solidFill>
                <a:latin typeface="Microsoft YaHei"/>
                <a:ea typeface="Microsoft YaHei"/>
              </a:rPr>
              <a:t>序号</a:t>
            </a:r>
            <a:endParaRPr/>
          </a:p>
        </p:txBody>
      </p:sp>
      <p:sp>
        <p:nvSpPr>
          <p:cNvPr id="1580" name=""/>
          <p:cNvSpPr/>
          <p:nvPr/>
        </p:nvSpPr>
        <p:spPr>
          <a:xfrm rot="0" flipH="0" flipV="0">
            <a:off x="9220200" y="2266950"/>
            <a:ext cx="1162050" cy="361950"/>
          </a:xfrm>
          <a:prstGeom prst="roundRect">
            <a:avLst>
              <a:gd name="adj" fmla="val 7895"/>
            </a:avLst>
          </a:prstGeom>
          <a:solidFill>
            <a:srgbClr val="FFF3EE"/>
          </a:solidFill>
          <a:ln/>
        </p:spPr>
        <p:txBody>
          <a:bodyPr/>
          <a:p/>
        </p:txBody>
      </p:sp>
      <p:sp>
        <p:nvSpPr>
          <p:cNvPr id="1581" name="" descr="{&quot;isTemplate&quot;:true,&quot;type&quot;:&quot;text&quot;}"/>
          <p:cNvSpPr txBox="1"/>
          <p:nvPr/>
        </p:nvSpPr>
        <p:spPr>
          <a:xfrm rot="0" flipH="0" flipV="0">
            <a:off x="9305925" y="2381250"/>
            <a:ext cx="104775" cy="142875"/>
          </a:xfrm>
          <a:prstGeom prst="rect"/>
        </p:spPr>
        <p:txBody>
          <a:bodyPr wrap="none" lIns="0" tIns="0" rIns="0" bIns="0"/>
          <a:p>
            <a:pPr>
              <a:lnSpc>
                <a:spcPct val="125000"/>
              </a:lnSpc>
            </a:pPr>
            <a:r>
              <a:rPr sz="750">
                <a:solidFill>
                  <a:srgbClr val="C43A17"/>
                </a:solidFill>
                <a:latin typeface="Microsoft YaHei"/>
                <a:ea typeface="Microsoft YaHei"/>
              </a:rPr>
              <a:t>—</a:t>
            </a:r>
            <a:endParaRPr/>
          </a:p>
        </p:txBody>
      </p:sp>
      <p:sp>
        <p:nvSpPr>
          <p:cNvPr id="1582" name=""/>
          <p:cNvSpPr/>
          <p:nvPr/>
        </p:nvSpPr>
        <p:spPr>
          <a:xfrm rot="0" flipH="0" flipV="0">
            <a:off x="10429875" y="2266950"/>
            <a:ext cx="1152525" cy="361950"/>
          </a:xfrm>
          <a:prstGeom prst="roundRect">
            <a:avLst>
              <a:gd name="adj" fmla="val 7895"/>
            </a:avLst>
          </a:prstGeom>
          <a:solidFill>
            <a:srgbClr val="F7F7F8"/>
          </a:solidFill>
          <a:ln/>
        </p:spPr>
        <p:txBody>
          <a:bodyPr/>
          <a:p/>
        </p:txBody>
      </p:sp>
      <p:sp>
        <p:nvSpPr>
          <p:cNvPr id="1583" name="" descr="{&quot;isTemplate&quot;:true,&quot;type&quot;:&quot;text&quot;}"/>
          <p:cNvSpPr txBox="1"/>
          <p:nvPr/>
        </p:nvSpPr>
        <p:spPr>
          <a:xfrm rot="0" flipH="0" flipV="0">
            <a:off x="10515600" y="2390775"/>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内部</a:t>
            </a:r>
            <a:endParaRPr/>
          </a:p>
        </p:txBody>
      </p:sp>
      <p:sp>
        <p:nvSpPr>
          <p:cNvPr id="1584" name=""/>
          <p:cNvSpPr/>
          <p:nvPr/>
        </p:nvSpPr>
        <p:spPr>
          <a:xfrm rot="0" flipH="0" flipV="0">
            <a:off x="609600" y="2705100"/>
            <a:ext cx="1152525" cy="228600"/>
          </a:xfrm>
          <a:prstGeom prst="roundRect">
            <a:avLst>
              <a:gd name="adj" fmla="val 12500"/>
            </a:avLst>
          </a:prstGeom>
          <a:solidFill>
            <a:srgbClr val="F7F7F8"/>
          </a:solidFill>
          <a:ln/>
        </p:spPr>
        <p:txBody>
          <a:bodyPr/>
          <a:p/>
        </p:txBody>
      </p:sp>
      <p:sp>
        <p:nvSpPr>
          <p:cNvPr id="1585" name="" descr="{&quot;isTemplate&quot;:true,&quot;type&quot;:&quot;text&quot;}"/>
          <p:cNvSpPr txBox="1"/>
          <p:nvPr/>
        </p:nvSpPr>
        <p:spPr>
          <a:xfrm rot="0" flipH="0" flipV="0">
            <a:off x="695325" y="2762250"/>
            <a:ext cx="676275" cy="123825"/>
          </a:xfrm>
          <a:prstGeom prst="rect"/>
        </p:spPr>
        <p:txBody>
          <a:bodyPr wrap="none" lIns="0" tIns="0" rIns="0" bIns="0"/>
          <a:p>
            <a:pPr>
              <a:lnSpc>
                <a:spcPct val="100000"/>
              </a:lnSpc>
            </a:pPr>
            <a:r>
              <a:rPr lang="en-US" sz="788" b="1">
                <a:solidFill>
                  <a:srgbClr val="0F1423"/>
                </a:solidFill>
                <a:latin typeface="Microsoft YaHei"/>
                <a:ea typeface="Microsoft YaHei"/>
              </a:rPr>
              <a:t>owner_org_id</a:t>
            </a:r>
            <a:endParaRPr/>
          </a:p>
        </p:txBody>
      </p:sp>
      <p:sp>
        <p:nvSpPr>
          <p:cNvPr id="1586" name=""/>
          <p:cNvSpPr/>
          <p:nvPr/>
        </p:nvSpPr>
        <p:spPr>
          <a:xfrm rot="0" flipH="0" flipV="0">
            <a:off x="1809750" y="2705100"/>
            <a:ext cx="2552700" cy="228600"/>
          </a:xfrm>
          <a:prstGeom prst="roundRect">
            <a:avLst>
              <a:gd name="adj" fmla="val 12500"/>
            </a:avLst>
          </a:prstGeom>
          <a:solidFill>
            <a:srgbClr val="F7F7F8"/>
          </a:solidFill>
          <a:ln/>
        </p:spPr>
        <p:txBody>
          <a:bodyPr/>
          <a:p/>
        </p:txBody>
      </p:sp>
      <p:sp>
        <p:nvSpPr>
          <p:cNvPr id="1587" name="" descr="{&quot;isTemplate&quot;:true,&quot;type&quot;:&quot;text&quot;}"/>
          <p:cNvSpPr txBox="1"/>
          <p:nvPr/>
        </p:nvSpPr>
        <p:spPr>
          <a:xfrm rot="0" flipH="0" flipV="0">
            <a:off x="1895475" y="2752725"/>
            <a:ext cx="762000" cy="142875"/>
          </a:xfrm>
          <a:prstGeom prst="rect"/>
        </p:spPr>
        <p:txBody>
          <a:bodyPr wrap="none" lIns="0" tIns="0" rIns="0" bIns="0"/>
          <a:p>
            <a:pPr>
              <a:lnSpc>
                <a:spcPct val="125000"/>
              </a:lnSpc>
            </a:pPr>
            <a:r>
              <a:rPr lang="zh-CN" sz="750">
                <a:solidFill>
                  <a:srgbClr val="3A4050"/>
                </a:solidFill>
                <a:latin typeface="Microsoft YaHei"/>
                <a:ea typeface="Microsoft YaHei"/>
              </a:rPr>
              <a:t>当前运营责任组织</a:t>
            </a:r>
            <a:endParaRPr/>
          </a:p>
        </p:txBody>
      </p:sp>
      <p:sp>
        <p:nvSpPr>
          <p:cNvPr id="1588" name=""/>
          <p:cNvSpPr/>
          <p:nvPr/>
        </p:nvSpPr>
        <p:spPr>
          <a:xfrm rot="0" flipH="0" flipV="0">
            <a:off x="4410075" y="2705100"/>
            <a:ext cx="1152525" cy="228600"/>
          </a:xfrm>
          <a:prstGeom prst="roundRect">
            <a:avLst>
              <a:gd name="adj" fmla="val 12500"/>
            </a:avLst>
          </a:prstGeom>
          <a:solidFill>
            <a:srgbClr val="F7F7F8"/>
          </a:solidFill>
          <a:ln/>
        </p:spPr>
        <p:txBody>
          <a:bodyPr/>
          <a:p/>
        </p:txBody>
      </p:sp>
      <p:sp>
        <p:nvSpPr>
          <p:cNvPr id="1589" name="" descr="{&quot;isTemplate&quot;:true,&quot;type&quot;:&quot;text&quot;}"/>
          <p:cNvSpPr txBox="1"/>
          <p:nvPr/>
        </p:nvSpPr>
        <p:spPr>
          <a:xfrm rot="0" flipH="0" flipV="0">
            <a:off x="4495800" y="2762250"/>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字符</a:t>
            </a:r>
            <a:endParaRPr/>
          </a:p>
        </p:txBody>
      </p:sp>
      <p:sp>
        <p:nvSpPr>
          <p:cNvPr id="1590" name=""/>
          <p:cNvSpPr/>
          <p:nvPr/>
        </p:nvSpPr>
        <p:spPr>
          <a:xfrm rot="0" flipH="0" flipV="0">
            <a:off x="5610225" y="2705100"/>
            <a:ext cx="1152525" cy="228600"/>
          </a:xfrm>
          <a:prstGeom prst="roundRect">
            <a:avLst>
              <a:gd name="adj" fmla="val 12500"/>
            </a:avLst>
          </a:prstGeom>
          <a:solidFill>
            <a:srgbClr val="F7F7F8"/>
          </a:solidFill>
          <a:ln/>
        </p:spPr>
        <p:txBody>
          <a:bodyPr/>
          <a:p/>
        </p:txBody>
      </p:sp>
      <p:sp>
        <p:nvSpPr>
          <p:cNvPr id="1591" name="" descr="{&quot;isTemplate&quot;:true,&quot;type&quot;:&quot;text&quot;}"/>
          <p:cNvSpPr txBox="1"/>
          <p:nvPr/>
        </p:nvSpPr>
        <p:spPr>
          <a:xfrm rot="0" flipH="0" flipV="0">
            <a:off x="5695950" y="2752725"/>
            <a:ext cx="857250" cy="142875"/>
          </a:xfrm>
          <a:prstGeom prst="rect"/>
        </p:spPr>
        <p:txBody>
          <a:bodyPr wrap="none" lIns="0" tIns="0" rIns="0" bIns="0"/>
          <a:p>
            <a:pPr>
              <a:lnSpc>
                <a:spcPct val="125000"/>
              </a:lnSpc>
            </a:pPr>
            <a:r>
              <a:rPr lang="zh-CN" sz="750">
                <a:solidFill>
                  <a:srgbClr val="5A6070"/>
                </a:solidFill>
                <a:latin typeface="Microsoft YaHei"/>
                <a:ea typeface="Microsoft YaHei"/>
              </a:rPr>
              <a:t>引用组织主数据编码</a:t>
            </a:r>
            <a:endParaRPr/>
          </a:p>
        </p:txBody>
      </p:sp>
      <p:sp>
        <p:nvSpPr>
          <p:cNvPr id="1592" name=""/>
          <p:cNvSpPr/>
          <p:nvPr/>
        </p:nvSpPr>
        <p:spPr>
          <a:xfrm rot="0" flipH="0" flipV="0">
            <a:off x="6810375" y="2705100"/>
            <a:ext cx="1162050" cy="228600"/>
          </a:xfrm>
          <a:prstGeom prst="roundRect">
            <a:avLst>
              <a:gd name="adj" fmla="val 12500"/>
            </a:avLst>
          </a:prstGeom>
          <a:solidFill>
            <a:srgbClr val="F7F7F8"/>
          </a:solidFill>
          <a:ln/>
        </p:spPr>
        <p:txBody>
          <a:bodyPr/>
          <a:p/>
        </p:txBody>
      </p:sp>
      <p:sp>
        <p:nvSpPr>
          <p:cNvPr id="1593" name="" descr="{&quot;isTemplate&quot;:true,&quot;type&quot;:&quot;text&quot;}"/>
          <p:cNvSpPr txBox="1"/>
          <p:nvPr/>
        </p:nvSpPr>
        <p:spPr>
          <a:xfrm rot="0" flipH="0" flipV="0">
            <a:off x="6896100" y="2762250"/>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外键</a:t>
            </a:r>
            <a:endParaRPr/>
          </a:p>
        </p:txBody>
      </p:sp>
      <p:sp>
        <p:nvSpPr>
          <p:cNvPr id="1594" name=""/>
          <p:cNvSpPr/>
          <p:nvPr/>
        </p:nvSpPr>
        <p:spPr>
          <a:xfrm rot="0" flipH="0" flipV="0">
            <a:off x="8020050" y="2705100"/>
            <a:ext cx="1152525" cy="228600"/>
          </a:xfrm>
          <a:prstGeom prst="roundRect">
            <a:avLst>
              <a:gd name="adj" fmla="val 12500"/>
            </a:avLst>
          </a:prstGeom>
          <a:solidFill>
            <a:srgbClr val="FFF3EE"/>
          </a:solidFill>
          <a:ln/>
        </p:spPr>
        <p:txBody>
          <a:bodyPr/>
          <a:p/>
        </p:txBody>
      </p:sp>
      <p:sp>
        <p:nvSpPr>
          <p:cNvPr id="1595" name="" descr="{&quot;isTemplate&quot;:true,&quot;type&quot;:&quot;text&quot;}"/>
          <p:cNvSpPr txBox="1"/>
          <p:nvPr/>
        </p:nvSpPr>
        <p:spPr>
          <a:xfrm rot="0" flipH="0" flipV="0">
            <a:off x="8105775" y="2752725"/>
            <a:ext cx="571500" cy="142875"/>
          </a:xfrm>
          <a:prstGeom prst="rect"/>
        </p:spPr>
        <p:txBody>
          <a:bodyPr wrap="none" lIns="0" tIns="0" rIns="0" bIns="0"/>
          <a:p>
            <a:pPr>
              <a:lnSpc>
                <a:spcPct val="125000"/>
              </a:lnSpc>
            </a:pPr>
            <a:r>
              <a:rPr lang="zh-CN" sz="750">
                <a:solidFill>
                  <a:srgbClr val="C43A17"/>
                </a:solidFill>
                <a:latin typeface="Microsoft YaHei"/>
                <a:ea typeface="Microsoft YaHei"/>
              </a:rPr>
              <a:t>组织编码标准</a:t>
            </a:r>
            <a:endParaRPr/>
          </a:p>
        </p:txBody>
      </p:sp>
      <p:sp>
        <p:nvSpPr>
          <p:cNvPr id="1596" name=""/>
          <p:cNvSpPr/>
          <p:nvPr/>
        </p:nvSpPr>
        <p:spPr>
          <a:xfrm rot="0" flipH="0" flipV="0">
            <a:off x="9220200" y="2705100"/>
            <a:ext cx="1162050" cy="228600"/>
          </a:xfrm>
          <a:prstGeom prst="roundRect">
            <a:avLst>
              <a:gd name="adj" fmla="val 12500"/>
            </a:avLst>
          </a:prstGeom>
          <a:solidFill>
            <a:srgbClr val="FFF3EE"/>
          </a:solidFill>
          <a:ln/>
        </p:spPr>
        <p:txBody>
          <a:bodyPr/>
          <a:p/>
        </p:txBody>
      </p:sp>
      <p:sp>
        <p:nvSpPr>
          <p:cNvPr id="1597" name="" descr="{&quot;isTemplate&quot;:true,&quot;type&quot;:&quot;text&quot;}"/>
          <p:cNvSpPr txBox="1"/>
          <p:nvPr/>
        </p:nvSpPr>
        <p:spPr>
          <a:xfrm rot="0" flipH="0" flipV="0">
            <a:off x="9305925" y="2752725"/>
            <a:ext cx="762000" cy="142875"/>
          </a:xfrm>
          <a:prstGeom prst="rect"/>
        </p:spPr>
        <p:txBody>
          <a:bodyPr wrap="none" lIns="0" tIns="0" rIns="0" bIns="0"/>
          <a:p>
            <a:pPr>
              <a:lnSpc>
                <a:spcPct val="125000"/>
              </a:lnSpc>
            </a:pPr>
            <a:r>
              <a:rPr lang="zh-CN" sz="750">
                <a:solidFill>
                  <a:srgbClr val="C43A17"/>
                </a:solidFill>
                <a:latin typeface="Microsoft YaHei"/>
                <a:ea typeface="Microsoft YaHei"/>
              </a:rPr>
              <a:t>统一社会信用代码</a:t>
            </a:r>
            <a:endParaRPr/>
          </a:p>
        </p:txBody>
      </p:sp>
      <p:sp>
        <p:nvSpPr>
          <p:cNvPr id="1598" name=""/>
          <p:cNvSpPr/>
          <p:nvPr/>
        </p:nvSpPr>
        <p:spPr>
          <a:xfrm rot="0" flipH="0" flipV="0">
            <a:off x="10429875" y="2705100"/>
            <a:ext cx="1152525" cy="228600"/>
          </a:xfrm>
          <a:prstGeom prst="roundRect">
            <a:avLst>
              <a:gd name="adj" fmla="val 12500"/>
            </a:avLst>
          </a:prstGeom>
          <a:solidFill>
            <a:srgbClr val="F7F7F8"/>
          </a:solidFill>
          <a:ln/>
        </p:spPr>
        <p:txBody>
          <a:bodyPr/>
          <a:p/>
        </p:txBody>
      </p:sp>
      <p:sp>
        <p:nvSpPr>
          <p:cNvPr id="1599" name="" descr="{&quot;isTemplate&quot;:true,&quot;type&quot;:&quot;text&quot;}"/>
          <p:cNvSpPr txBox="1"/>
          <p:nvPr/>
        </p:nvSpPr>
        <p:spPr>
          <a:xfrm rot="0" flipH="0" flipV="0">
            <a:off x="10515600" y="2762250"/>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内部</a:t>
            </a:r>
            <a:endParaRPr/>
          </a:p>
        </p:txBody>
      </p:sp>
      <p:sp>
        <p:nvSpPr>
          <p:cNvPr id="1600" name=""/>
          <p:cNvSpPr/>
          <p:nvPr/>
        </p:nvSpPr>
        <p:spPr>
          <a:xfrm rot="0" flipH="0" flipV="0">
            <a:off x="609600" y="3009900"/>
            <a:ext cx="1152525" cy="361950"/>
          </a:xfrm>
          <a:prstGeom prst="roundRect">
            <a:avLst>
              <a:gd name="adj" fmla="val 7895"/>
            </a:avLst>
          </a:prstGeom>
          <a:solidFill>
            <a:srgbClr val="F7F7F8"/>
          </a:solidFill>
          <a:ln/>
        </p:spPr>
        <p:txBody>
          <a:bodyPr/>
          <a:p/>
        </p:txBody>
      </p:sp>
      <p:sp>
        <p:nvSpPr>
          <p:cNvPr id="1601" name="" descr="{&quot;isTemplate&quot;:true,&quot;type&quot;:&quot;text&quot;}"/>
          <p:cNvSpPr txBox="1"/>
          <p:nvPr/>
        </p:nvSpPr>
        <p:spPr>
          <a:xfrm rot="0" flipH="0" flipV="0">
            <a:off x="695325" y="3133725"/>
            <a:ext cx="647700" cy="123825"/>
          </a:xfrm>
          <a:prstGeom prst="rect"/>
        </p:spPr>
        <p:txBody>
          <a:bodyPr wrap="none" lIns="0" tIns="0" rIns="0" bIns="0"/>
          <a:p>
            <a:pPr>
              <a:lnSpc>
                <a:spcPct val="100000"/>
              </a:lnSpc>
            </a:pPr>
            <a:r>
              <a:rPr lang="en-US" sz="788" b="1">
                <a:solidFill>
                  <a:srgbClr val="0F1423"/>
                </a:solidFill>
                <a:latin typeface="Microsoft YaHei"/>
                <a:ea typeface="Microsoft YaHei"/>
              </a:rPr>
              <a:t>capacity_mw</a:t>
            </a:r>
            <a:endParaRPr/>
          </a:p>
        </p:txBody>
      </p:sp>
      <p:sp>
        <p:nvSpPr>
          <p:cNvPr id="1602" name=""/>
          <p:cNvSpPr/>
          <p:nvPr/>
        </p:nvSpPr>
        <p:spPr>
          <a:xfrm rot="0" flipH="0" flipV="0">
            <a:off x="1809750" y="3009900"/>
            <a:ext cx="2552700" cy="361950"/>
          </a:xfrm>
          <a:prstGeom prst="roundRect">
            <a:avLst>
              <a:gd name="adj" fmla="val 7895"/>
            </a:avLst>
          </a:prstGeom>
          <a:solidFill>
            <a:srgbClr val="F7F7F8"/>
          </a:solidFill>
          <a:ln/>
        </p:spPr>
        <p:txBody>
          <a:bodyPr/>
          <a:p/>
        </p:txBody>
      </p:sp>
      <p:sp>
        <p:nvSpPr>
          <p:cNvPr id="1603" name="" descr="{&quot;isTemplate&quot;:true,&quot;type&quot;:&quot;text&quot;}"/>
          <p:cNvSpPr txBox="1"/>
          <p:nvPr/>
        </p:nvSpPr>
        <p:spPr>
          <a:xfrm rot="0" flipH="0" flipV="0">
            <a:off x="1895475" y="3124200"/>
            <a:ext cx="857250" cy="142875"/>
          </a:xfrm>
          <a:prstGeom prst="rect"/>
        </p:spPr>
        <p:txBody>
          <a:bodyPr wrap="none" lIns="0" tIns="0" rIns="0" bIns="0"/>
          <a:p>
            <a:pPr>
              <a:lnSpc>
                <a:spcPct val="125000"/>
              </a:lnSpc>
            </a:pPr>
            <a:r>
              <a:rPr lang="zh-CN" sz="750">
                <a:solidFill>
                  <a:srgbClr val="3A4050"/>
                </a:solidFill>
                <a:latin typeface="Microsoft YaHei"/>
                <a:ea typeface="Microsoft YaHei"/>
              </a:rPr>
              <a:t>装机容量，设计口径</a:t>
            </a:r>
            <a:endParaRPr/>
          </a:p>
        </p:txBody>
      </p:sp>
      <p:sp>
        <p:nvSpPr>
          <p:cNvPr id="1604" name=""/>
          <p:cNvSpPr/>
          <p:nvPr/>
        </p:nvSpPr>
        <p:spPr>
          <a:xfrm rot="0" flipH="0" flipV="0">
            <a:off x="4410075" y="3009900"/>
            <a:ext cx="1152525" cy="361950"/>
          </a:xfrm>
          <a:prstGeom prst="roundRect">
            <a:avLst>
              <a:gd name="adj" fmla="val 7895"/>
            </a:avLst>
          </a:prstGeom>
          <a:solidFill>
            <a:srgbClr val="F7F7F8"/>
          </a:solidFill>
          <a:ln/>
        </p:spPr>
        <p:txBody>
          <a:bodyPr/>
          <a:p/>
        </p:txBody>
      </p:sp>
      <p:sp>
        <p:nvSpPr>
          <p:cNvPr id="1605" name="" descr="{&quot;isTemplate&quot;:true,&quot;type&quot;:&quot;text&quot;}"/>
          <p:cNvSpPr txBox="1"/>
          <p:nvPr/>
        </p:nvSpPr>
        <p:spPr>
          <a:xfrm rot="0" flipH="0" flipV="0">
            <a:off x="4495800" y="3133725"/>
            <a:ext cx="190500" cy="114300"/>
          </a:xfrm>
          <a:prstGeom prst="rect"/>
        </p:spPr>
        <p:txBody>
          <a:bodyPr wrap="none" lIns="0" tIns="0" rIns="0" bIns="0"/>
          <a:p>
            <a:pPr>
              <a:lnSpc>
                <a:spcPct val="100000"/>
              </a:lnSpc>
            </a:pPr>
            <a:r>
              <a:rPr lang="zh-CN" sz="750">
                <a:solidFill>
                  <a:srgbClr val="5A6070"/>
                </a:solidFill>
                <a:latin typeface="Microsoft YaHei"/>
                <a:ea typeface="Microsoft YaHei"/>
              </a:rPr>
              <a:t>数值</a:t>
            </a:r>
            <a:endParaRPr/>
          </a:p>
        </p:txBody>
      </p:sp>
      <p:sp>
        <p:nvSpPr>
          <p:cNvPr id="1606" name=""/>
          <p:cNvSpPr/>
          <p:nvPr/>
        </p:nvSpPr>
        <p:spPr>
          <a:xfrm rot="0" flipH="0" flipV="0">
            <a:off x="5610225" y="3009900"/>
            <a:ext cx="1152525" cy="361950"/>
          </a:xfrm>
          <a:prstGeom prst="roundRect">
            <a:avLst>
              <a:gd name="adj" fmla="val 7895"/>
            </a:avLst>
          </a:prstGeom>
          <a:solidFill>
            <a:srgbClr val="F7F7F8"/>
          </a:solidFill>
          <a:ln/>
        </p:spPr>
        <p:txBody>
          <a:bodyPr/>
          <a:p/>
        </p:txBody>
      </p:sp>
      <p:sp>
        <p:nvSpPr>
          <p:cNvPr id="1607" name="" descr="{&quot;isTemplate&quot;:true,&quot;type&quot;:&quot;text&quot;}"/>
          <p:cNvSpPr txBox="1"/>
          <p:nvPr/>
        </p:nvSpPr>
        <p:spPr>
          <a:xfrm rot="0" flipH="0" flipV="0">
            <a:off x="5695950" y="3124200"/>
            <a:ext cx="666750" cy="142875"/>
          </a:xfrm>
          <a:prstGeom prst="rect"/>
        </p:spPr>
        <p:txBody>
          <a:bodyPr wrap="none" lIns="0" tIns="0" rIns="0" bIns="0"/>
          <a:p>
            <a:pPr>
              <a:lnSpc>
                <a:spcPct val="125000"/>
              </a:lnSpc>
            </a:pPr>
            <a:r>
              <a:rPr lang="en-US" sz="750">
                <a:solidFill>
                  <a:srgbClr val="5A6070"/>
                </a:solidFill>
                <a:latin typeface="Microsoft YaHei"/>
                <a:ea typeface="Microsoft YaHei"/>
              </a:rPr>
              <a:t>&gt; 0</a:t>
            </a:r>
            <a:r>
              <a:rPr lang="zh-CN" sz="750">
                <a:solidFill>
                  <a:srgbClr val="5A6070"/>
                </a:solidFill>
                <a:latin typeface="Microsoft YaHei"/>
                <a:ea typeface="Microsoft YaHei"/>
              </a:rPr>
              <a:t>，单位</a:t>
            </a:r>
            <a:r>
              <a:rPr lang="en-US" sz="750">
                <a:solidFill>
                  <a:srgbClr val="5A6070"/>
                </a:solidFill>
                <a:latin typeface="Microsoft YaHei"/>
                <a:ea typeface="Microsoft YaHei"/>
              </a:rPr>
              <a:t xml:space="preserve"> MW</a:t>
            </a:r>
            <a:endParaRPr/>
          </a:p>
        </p:txBody>
      </p:sp>
      <p:sp>
        <p:nvSpPr>
          <p:cNvPr id="1608" name=""/>
          <p:cNvSpPr/>
          <p:nvPr/>
        </p:nvSpPr>
        <p:spPr>
          <a:xfrm rot="0" flipH="0" flipV="0">
            <a:off x="6810375" y="3009900"/>
            <a:ext cx="1162050" cy="361950"/>
          </a:xfrm>
          <a:prstGeom prst="roundRect">
            <a:avLst>
              <a:gd name="adj" fmla="val 7895"/>
            </a:avLst>
          </a:prstGeom>
          <a:solidFill>
            <a:srgbClr val="F7F7F8"/>
          </a:solidFill>
          <a:ln/>
        </p:spPr>
        <p:txBody>
          <a:bodyPr/>
          <a:p/>
        </p:txBody>
      </p:sp>
      <p:sp>
        <p:nvSpPr>
          <p:cNvPr id="1609" name="" descr="{&quot;isTemplate&quot;:true,&quot;type&quot;:&quot;text&quot;}"/>
          <p:cNvSpPr txBox="1"/>
          <p:nvPr/>
        </p:nvSpPr>
        <p:spPr>
          <a:xfrm rot="0" flipH="0" flipV="0">
            <a:off x="6896100" y="3133725"/>
            <a:ext cx="104775" cy="114300"/>
          </a:xfrm>
          <a:prstGeom prst="rect"/>
        </p:spPr>
        <p:txBody>
          <a:bodyPr wrap="none" lIns="0" tIns="0" rIns="0" bIns="0"/>
          <a:p>
            <a:pPr>
              <a:lnSpc>
                <a:spcPct val="100000"/>
              </a:lnSpc>
            </a:pPr>
            <a:r>
              <a:rPr sz="750">
                <a:solidFill>
                  <a:srgbClr val="5A6070"/>
                </a:solidFill>
                <a:latin typeface="Microsoft YaHei"/>
                <a:ea typeface="Microsoft YaHei"/>
              </a:rPr>
              <a:t>—</a:t>
            </a:r>
            <a:endParaRPr/>
          </a:p>
        </p:txBody>
      </p:sp>
      <p:sp>
        <p:nvSpPr>
          <p:cNvPr id="1610" name=""/>
          <p:cNvSpPr/>
          <p:nvPr/>
        </p:nvSpPr>
        <p:spPr>
          <a:xfrm rot="0" flipH="0" flipV="0">
            <a:off x="8020050" y="3009900"/>
            <a:ext cx="1152525" cy="361950"/>
          </a:xfrm>
          <a:prstGeom prst="roundRect">
            <a:avLst>
              <a:gd name="adj" fmla="val 7895"/>
            </a:avLst>
          </a:prstGeom>
          <a:solidFill>
            <a:srgbClr val="FFF3EE"/>
          </a:solidFill>
          <a:ln/>
        </p:spPr>
        <p:txBody>
          <a:bodyPr/>
          <a:p/>
        </p:txBody>
      </p:sp>
      <p:sp>
        <p:nvSpPr>
          <p:cNvPr id="1611" name="" descr="{&quot;isTemplate&quot;:true,&quot;type&quot;:&quot;text&quot;}"/>
          <p:cNvSpPr txBox="1"/>
          <p:nvPr/>
        </p:nvSpPr>
        <p:spPr>
          <a:xfrm rot="0" flipH="0" flipV="0">
            <a:off x="8105775" y="3048000"/>
            <a:ext cx="981075" cy="285750"/>
          </a:xfrm>
          <a:prstGeom prst="rect"/>
        </p:spPr>
        <p:txBody>
          <a:bodyPr wrap="square" lIns="0" tIns="0" rIns="0" bIns="0">
            <a:normAutofit/>
          </a:bodyPr>
          <a:p>
            <a:pPr>
              <a:lnSpc>
                <a:spcPct val="125000"/>
              </a:lnSpc>
            </a:pPr>
            <a:r>
              <a:rPr lang="zh-CN" sz="750">
                <a:solidFill>
                  <a:srgbClr val="C43A17"/>
                </a:solidFill>
                <a:latin typeface="Microsoft YaHei"/>
                <a:ea typeface="Microsoft YaHei"/>
              </a:rPr>
              <a:t>容量口径：铭牌容量</a:t>
            </a:r>
            <a:r>
              <a:rPr lang="en-US" sz="750">
                <a:solidFill>
                  <a:srgbClr val="C43A17"/>
                </a:solidFill>
                <a:latin typeface="Microsoft YaHei"/>
                <a:ea typeface="Microsoft YaHei"/>
              </a:rPr>
              <a:t>/</a:t>
            </a:r>
            <a:r>
              <a:rPr lang="zh-CN" sz="750">
                <a:solidFill>
                  <a:srgbClr val="C43A17"/>
                </a:solidFill>
                <a:latin typeface="Microsoft YaHei"/>
                <a:ea typeface="Microsoft YaHei"/>
              </a:rPr>
              <a:t>并网容量二选一</a:t>
            </a:r>
            <a:endParaRPr/>
          </a:p>
        </p:txBody>
      </p:sp>
      <p:sp>
        <p:nvSpPr>
          <p:cNvPr id="1612" name=""/>
          <p:cNvSpPr/>
          <p:nvPr/>
        </p:nvSpPr>
        <p:spPr>
          <a:xfrm rot="0" flipH="0" flipV="0">
            <a:off x="9220200" y="3009900"/>
            <a:ext cx="1162050" cy="361950"/>
          </a:xfrm>
          <a:prstGeom prst="roundRect">
            <a:avLst>
              <a:gd name="adj" fmla="val 7895"/>
            </a:avLst>
          </a:prstGeom>
          <a:solidFill>
            <a:srgbClr val="FFF3EE"/>
          </a:solidFill>
          <a:ln/>
        </p:spPr>
        <p:txBody>
          <a:bodyPr/>
          <a:p/>
        </p:txBody>
      </p:sp>
      <p:sp>
        <p:nvSpPr>
          <p:cNvPr id="1613" name="" descr="{&quot;isTemplate&quot;:true,&quot;type&quot;:&quot;text&quot;}"/>
          <p:cNvSpPr txBox="1"/>
          <p:nvPr/>
        </p:nvSpPr>
        <p:spPr>
          <a:xfrm rot="0" flipH="0" flipV="0">
            <a:off x="9305925" y="3124200"/>
            <a:ext cx="104775" cy="142875"/>
          </a:xfrm>
          <a:prstGeom prst="rect"/>
        </p:spPr>
        <p:txBody>
          <a:bodyPr wrap="none" lIns="0" tIns="0" rIns="0" bIns="0"/>
          <a:p>
            <a:pPr>
              <a:lnSpc>
                <a:spcPct val="125000"/>
              </a:lnSpc>
            </a:pPr>
            <a:r>
              <a:rPr sz="750">
                <a:solidFill>
                  <a:srgbClr val="C43A17"/>
                </a:solidFill>
                <a:latin typeface="Microsoft YaHei"/>
                <a:ea typeface="Microsoft YaHei"/>
              </a:rPr>
              <a:t>—</a:t>
            </a:r>
            <a:endParaRPr/>
          </a:p>
        </p:txBody>
      </p:sp>
      <p:sp>
        <p:nvSpPr>
          <p:cNvPr id="1614" name=""/>
          <p:cNvSpPr/>
          <p:nvPr/>
        </p:nvSpPr>
        <p:spPr>
          <a:xfrm rot="0" flipH="0" flipV="0">
            <a:off x="10429875" y="3009900"/>
            <a:ext cx="1152525" cy="361950"/>
          </a:xfrm>
          <a:prstGeom prst="roundRect">
            <a:avLst>
              <a:gd name="adj" fmla="val 7895"/>
            </a:avLst>
          </a:prstGeom>
          <a:solidFill>
            <a:srgbClr val="F7F7F8"/>
          </a:solidFill>
          <a:ln/>
        </p:spPr>
        <p:txBody>
          <a:bodyPr/>
          <a:p/>
        </p:txBody>
      </p:sp>
      <p:sp>
        <p:nvSpPr>
          <p:cNvPr id="1615" name="" descr="{&quot;isTemplate&quot;:true,&quot;type&quot;:&quot;text&quot;}"/>
          <p:cNvSpPr txBox="1"/>
          <p:nvPr/>
        </p:nvSpPr>
        <p:spPr>
          <a:xfrm rot="0" flipH="0" flipV="0">
            <a:off x="10515600" y="3133725"/>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内部</a:t>
            </a:r>
            <a:endParaRPr/>
          </a:p>
        </p:txBody>
      </p:sp>
      <p:sp>
        <p:nvSpPr>
          <p:cNvPr id="1616" name=""/>
          <p:cNvSpPr/>
          <p:nvPr/>
        </p:nvSpPr>
        <p:spPr>
          <a:xfrm rot="0" flipH="0" flipV="0">
            <a:off x="609600" y="3448050"/>
            <a:ext cx="1152525" cy="228600"/>
          </a:xfrm>
          <a:prstGeom prst="roundRect">
            <a:avLst>
              <a:gd name="adj" fmla="val 12500"/>
            </a:avLst>
          </a:prstGeom>
          <a:solidFill>
            <a:srgbClr val="F7F7F8"/>
          </a:solidFill>
          <a:ln/>
        </p:spPr>
        <p:txBody>
          <a:bodyPr/>
          <a:p/>
        </p:txBody>
      </p:sp>
      <p:sp>
        <p:nvSpPr>
          <p:cNvPr id="1617" name="" descr="{&quot;isTemplate&quot;:true,&quot;type&quot;:&quot;text&quot;}"/>
          <p:cNvSpPr txBox="1"/>
          <p:nvPr/>
        </p:nvSpPr>
        <p:spPr>
          <a:xfrm rot="0" flipH="0" flipV="0">
            <a:off x="695325" y="3505200"/>
            <a:ext cx="666750" cy="123825"/>
          </a:xfrm>
          <a:prstGeom prst="rect"/>
        </p:spPr>
        <p:txBody>
          <a:bodyPr wrap="none" lIns="0" tIns="0" rIns="0" bIns="0"/>
          <a:p>
            <a:pPr>
              <a:lnSpc>
                <a:spcPct val="100000"/>
              </a:lnSpc>
            </a:pPr>
            <a:r>
              <a:rPr lang="en-US" sz="788" b="1">
                <a:solidFill>
                  <a:srgbClr val="0F1423"/>
                </a:solidFill>
                <a:latin typeface="Microsoft YaHei"/>
                <a:ea typeface="Microsoft YaHei"/>
              </a:rPr>
              <a:t>grid_point_id</a:t>
            </a:r>
            <a:endParaRPr/>
          </a:p>
        </p:txBody>
      </p:sp>
      <p:sp>
        <p:nvSpPr>
          <p:cNvPr id="1618" name=""/>
          <p:cNvSpPr/>
          <p:nvPr/>
        </p:nvSpPr>
        <p:spPr>
          <a:xfrm rot="0" flipH="0" flipV="0">
            <a:off x="1809750" y="3448050"/>
            <a:ext cx="2552700" cy="228600"/>
          </a:xfrm>
          <a:prstGeom prst="roundRect">
            <a:avLst>
              <a:gd name="adj" fmla="val 12500"/>
            </a:avLst>
          </a:prstGeom>
          <a:solidFill>
            <a:srgbClr val="F7F7F8"/>
          </a:solidFill>
          <a:ln/>
        </p:spPr>
        <p:txBody>
          <a:bodyPr/>
          <a:p/>
        </p:txBody>
      </p:sp>
      <p:sp>
        <p:nvSpPr>
          <p:cNvPr id="1619" name="" descr="{&quot;isTemplate&quot;:true,&quot;type&quot;:&quot;text&quot;}"/>
          <p:cNvSpPr txBox="1"/>
          <p:nvPr/>
        </p:nvSpPr>
        <p:spPr>
          <a:xfrm rot="0" flipH="0" flipV="0">
            <a:off x="1895475" y="3495675"/>
            <a:ext cx="1238250" cy="142875"/>
          </a:xfrm>
          <a:prstGeom prst="rect"/>
        </p:spPr>
        <p:txBody>
          <a:bodyPr wrap="none" lIns="0" tIns="0" rIns="0" bIns="0"/>
          <a:p>
            <a:pPr>
              <a:lnSpc>
                <a:spcPct val="125000"/>
              </a:lnSpc>
            </a:pPr>
            <a:r>
              <a:rPr lang="zh-CN" sz="750">
                <a:solidFill>
                  <a:srgbClr val="3A4050"/>
                </a:solidFill>
                <a:latin typeface="Microsoft YaHei"/>
                <a:ea typeface="Microsoft YaHei"/>
              </a:rPr>
              <a:t>并网点标识，交易结算关联键</a:t>
            </a:r>
            <a:endParaRPr/>
          </a:p>
        </p:txBody>
      </p:sp>
      <p:sp>
        <p:nvSpPr>
          <p:cNvPr id="1620" name=""/>
          <p:cNvSpPr/>
          <p:nvPr/>
        </p:nvSpPr>
        <p:spPr>
          <a:xfrm rot="0" flipH="0" flipV="0">
            <a:off x="4410075" y="3448050"/>
            <a:ext cx="1152525" cy="228600"/>
          </a:xfrm>
          <a:prstGeom prst="roundRect">
            <a:avLst>
              <a:gd name="adj" fmla="val 12500"/>
            </a:avLst>
          </a:prstGeom>
          <a:solidFill>
            <a:srgbClr val="F7F7F8"/>
          </a:solidFill>
          <a:ln/>
        </p:spPr>
        <p:txBody>
          <a:bodyPr/>
          <a:p/>
        </p:txBody>
      </p:sp>
      <p:sp>
        <p:nvSpPr>
          <p:cNvPr id="1621" name="" descr="{&quot;isTemplate&quot;:true,&quot;type&quot;:&quot;text&quot;}"/>
          <p:cNvSpPr txBox="1"/>
          <p:nvPr/>
        </p:nvSpPr>
        <p:spPr>
          <a:xfrm rot="0" flipH="0" flipV="0">
            <a:off x="4495800" y="3505200"/>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字符</a:t>
            </a:r>
            <a:endParaRPr/>
          </a:p>
        </p:txBody>
      </p:sp>
      <p:sp>
        <p:nvSpPr>
          <p:cNvPr id="1622" name=""/>
          <p:cNvSpPr/>
          <p:nvPr/>
        </p:nvSpPr>
        <p:spPr>
          <a:xfrm rot="0" flipH="0" flipV="0">
            <a:off x="5610225" y="3448050"/>
            <a:ext cx="1152525" cy="228600"/>
          </a:xfrm>
          <a:prstGeom prst="roundRect">
            <a:avLst>
              <a:gd name="adj" fmla="val 12500"/>
            </a:avLst>
          </a:prstGeom>
          <a:solidFill>
            <a:srgbClr val="F7F7F8"/>
          </a:solidFill>
          <a:ln/>
        </p:spPr>
        <p:txBody>
          <a:bodyPr/>
          <a:p/>
        </p:txBody>
      </p:sp>
      <p:sp>
        <p:nvSpPr>
          <p:cNvPr id="1623" name="" descr="{&quot;isTemplate&quot;:true,&quot;type&quot;:&quot;text&quot;}"/>
          <p:cNvSpPr txBox="1"/>
          <p:nvPr/>
        </p:nvSpPr>
        <p:spPr>
          <a:xfrm rot="0" flipH="0" flipV="0">
            <a:off x="5695950" y="3495675"/>
            <a:ext cx="571500" cy="142875"/>
          </a:xfrm>
          <a:prstGeom prst="rect"/>
        </p:spPr>
        <p:txBody>
          <a:bodyPr wrap="none" lIns="0" tIns="0" rIns="0" bIns="0"/>
          <a:p>
            <a:pPr>
              <a:lnSpc>
                <a:spcPct val="125000"/>
              </a:lnSpc>
            </a:pPr>
            <a:r>
              <a:rPr lang="zh-CN" sz="750">
                <a:solidFill>
                  <a:srgbClr val="5A6070"/>
                </a:solidFill>
                <a:latin typeface="Microsoft YaHei"/>
                <a:ea typeface="Microsoft YaHei"/>
              </a:rPr>
              <a:t>引用电网编码</a:t>
            </a:r>
            <a:endParaRPr/>
          </a:p>
        </p:txBody>
      </p:sp>
      <p:sp>
        <p:nvSpPr>
          <p:cNvPr id="1624" name=""/>
          <p:cNvSpPr/>
          <p:nvPr/>
        </p:nvSpPr>
        <p:spPr>
          <a:xfrm rot="0" flipH="0" flipV="0">
            <a:off x="6810375" y="3448050"/>
            <a:ext cx="1162050" cy="228600"/>
          </a:xfrm>
          <a:prstGeom prst="roundRect">
            <a:avLst>
              <a:gd name="adj" fmla="val 12500"/>
            </a:avLst>
          </a:prstGeom>
          <a:solidFill>
            <a:srgbClr val="F7F7F8"/>
          </a:solidFill>
          <a:ln/>
        </p:spPr>
        <p:txBody>
          <a:bodyPr/>
          <a:p/>
        </p:txBody>
      </p:sp>
      <p:sp>
        <p:nvSpPr>
          <p:cNvPr id="1625" name="" descr="{&quot;isTemplate&quot;:true,&quot;type&quot;:&quot;text&quot;}"/>
          <p:cNvSpPr txBox="1"/>
          <p:nvPr/>
        </p:nvSpPr>
        <p:spPr>
          <a:xfrm rot="0" flipH="0" flipV="0">
            <a:off x="6896100" y="3505200"/>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外键</a:t>
            </a:r>
            <a:endParaRPr/>
          </a:p>
        </p:txBody>
      </p:sp>
      <p:sp>
        <p:nvSpPr>
          <p:cNvPr id="1626" name=""/>
          <p:cNvSpPr/>
          <p:nvPr/>
        </p:nvSpPr>
        <p:spPr>
          <a:xfrm rot="0" flipH="0" flipV="0">
            <a:off x="8020050" y="3448050"/>
            <a:ext cx="1152525" cy="228600"/>
          </a:xfrm>
          <a:prstGeom prst="roundRect">
            <a:avLst>
              <a:gd name="adj" fmla="val 12500"/>
            </a:avLst>
          </a:prstGeom>
          <a:solidFill>
            <a:srgbClr val="FFF3EE"/>
          </a:solidFill>
          <a:ln/>
        </p:spPr>
        <p:txBody>
          <a:bodyPr/>
          <a:p/>
        </p:txBody>
      </p:sp>
      <p:sp>
        <p:nvSpPr>
          <p:cNvPr id="1627" name="" descr="{&quot;isTemplate&quot;:true,&quot;type&quot;:&quot;text&quot;}"/>
          <p:cNvSpPr txBox="1"/>
          <p:nvPr/>
        </p:nvSpPr>
        <p:spPr>
          <a:xfrm rot="0" flipH="0" flipV="0">
            <a:off x="8105775" y="3495675"/>
            <a:ext cx="666750" cy="142875"/>
          </a:xfrm>
          <a:prstGeom prst="rect"/>
        </p:spPr>
        <p:txBody>
          <a:bodyPr wrap="none" lIns="0" tIns="0" rIns="0" bIns="0"/>
          <a:p>
            <a:pPr>
              <a:lnSpc>
                <a:spcPct val="125000"/>
              </a:lnSpc>
            </a:pPr>
            <a:r>
              <a:rPr lang="zh-CN" sz="750">
                <a:solidFill>
                  <a:srgbClr val="C43A17"/>
                </a:solidFill>
                <a:latin typeface="Microsoft YaHei"/>
                <a:ea typeface="Microsoft YaHei"/>
              </a:rPr>
              <a:t>并网点编码标准</a:t>
            </a:r>
            <a:endParaRPr/>
          </a:p>
        </p:txBody>
      </p:sp>
      <p:sp>
        <p:nvSpPr>
          <p:cNvPr id="1628" name=""/>
          <p:cNvSpPr/>
          <p:nvPr/>
        </p:nvSpPr>
        <p:spPr>
          <a:xfrm rot="0" flipH="0" flipV="0">
            <a:off x="9220200" y="3448050"/>
            <a:ext cx="1162050" cy="228600"/>
          </a:xfrm>
          <a:prstGeom prst="roundRect">
            <a:avLst>
              <a:gd name="adj" fmla="val 12500"/>
            </a:avLst>
          </a:prstGeom>
          <a:solidFill>
            <a:srgbClr val="FFF3EE"/>
          </a:solidFill>
          <a:ln/>
        </p:spPr>
        <p:txBody>
          <a:bodyPr/>
          <a:p/>
        </p:txBody>
      </p:sp>
      <p:sp>
        <p:nvSpPr>
          <p:cNvPr id="1629" name="" descr="{&quot;isTemplate&quot;:true,&quot;type&quot;:&quot;text&quot;}"/>
          <p:cNvSpPr txBox="1"/>
          <p:nvPr/>
        </p:nvSpPr>
        <p:spPr>
          <a:xfrm rot="0" flipH="0" flipV="0">
            <a:off x="9305925" y="3495675"/>
            <a:ext cx="571500" cy="142875"/>
          </a:xfrm>
          <a:prstGeom prst="rect"/>
        </p:spPr>
        <p:txBody>
          <a:bodyPr wrap="none" lIns="0" tIns="0" rIns="0" bIns="0"/>
          <a:p>
            <a:pPr>
              <a:lnSpc>
                <a:spcPct val="125000"/>
              </a:lnSpc>
            </a:pPr>
            <a:r>
              <a:rPr lang="zh-CN" sz="750">
                <a:solidFill>
                  <a:srgbClr val="C43A17"/>
                </a:solidFill>
                <a:latin typeface="Microsoft YaHei"/>
                <a:ea typeface="Microsoft YaHei"/>
              </a:rPr>
              <a:t>电网公司编码</a:t>
            </a:r>
            <a:endParaRPr/>
          </a:p>
        </p:txBody>
      </p:sp>
      <p:sp>
        <p:nvSpPr>
          <p:cNvPr id="1630" name=""/>
          <p:cNvSpPr/>
          <p:nvPr/>
        </p:nvSpPr>
        <p:spPr>
          <a:xfrm rot="0" flipH="0" flipV="0">
            <a:off x="10429875" y="3448050"/>
            <a:ext cx="1152525" cy="228600"/>
          </a:xfrm>
          <a:prstGeom prst="roundRect">
            <a:avLst>
              <a:gd name="adj" fmla="val 12500"/>
            </a:avLst>
          </a:prstGeom>
          <a:solidFill>
            <a:srgbClr val="FA4F24"/>
          </a:solidFill>
          <a:ln/>
        </p:spPr>
        <p:txBody>
          <a:bodyPr/>
          <a:p/>
        </p:txBody>
      </p:sp>
      <p:sp>
        <p:nvSpPr>
          <p:cNvPr id="1631" name="" descr="{&quot;isTemplate&quot;:true,&quot;type&quot;:&quot;text&quot;}"/>
          <p:cNvSpPr txBox="1"/>
          <p:nvPr/>
        </p:nvSpPr>
        <p:spPr>
          <a:xfrm rot="0" flipH="0" flipV="0">
            <a:off x="10515600" y="3505200"/>
            <a:ext cx="190500" cy="114300"/>
          </a:xfrm>
          <a:prstGeom prst="rect"/>
        </p:spPr>
        <p:txBody>
          <a:bodyPr wrap="none" lIns="0" tIns="0" rIns="0" bIns="0"/>
          <a:p>
            <a:pPr>
              <a:lnSpc>
                <a:spcPct val="100000"/>
              </a:lnSpc>
            </a:pPr>
            <a:r>
              <a:rPr lang="zh-CN" sz="750">
                <a:solidFill>
                  <a:srgbClr val="FFFFFF"/>
                </a:solidFill>
                <a:latin typeface="Microsoft YaHei"/>
                <a:ea typeface="Microsoft YaHei"/>
              </a:rPr>
              <a:t>敏感</a:t>
            </a:r>
            <a:endParaRPr/>
          </a:p>
        </p:txBody>
      </p:sp>
      <p:sp>
        <p:nvSpPr>
          <p:cNvPr id="1632" name=""/>
          <p:cNvSpPr/>
          <p:nvPr/>
        </p:nvSpPr>
        <p:spPr>
          <a:xfrm rot="0" flipH="0" flipV="0">
            <a:off x="609600" y="3752850"/>
            <a:ext cx="1152525" cy="361950"/>
          </a:xfrm>
          <a:prstGeom prst="roundRect">
            <a:avLst>
              <a:gd name="adj" fmla="val 7895"/>
            </a:avLst>
          </a:prstGeom>
          <a:solidFill>
            <a:srgbClr val="F7F7F8"/>
          </a:solidFill>
          <a:ln/>
        </p:spPr>
        <p:txBody>
          <a:bodyPr/>
          <a:p/>
        </p:txBody>
      </p:sp>
      <p:sp>
        <p:nvSpPr>
          <p:cNvPr id="1633" name="" descr="{&quot;isTemplate&quot;:true,&quot;type&quot;:&quot;text&quot;}"/>
          <p:cNvSpPr txBox="1"/>
          <p:nvPr/>
        </p:nvSpPr>
        <p:spPr>
          <a:xfrm rot="0" flipH="0" flipV="0">
            <a:off x="695325" y="3876675"/>
            <a:ext cx="609600" cy="123825"/>
          </a:xfrm>
          <a:prstGeom prst="rect"/>
        </p:spPr>
        <p:txBody>
          <a:bodyPr wrap="none" lIns="0" tIns="0" rIns="0" bIns="0"/>
          <a:p>
            <a:pPr>
              <a:lnSpc>
                <a:spcPct val="100000"/>
              </a:lnSpc>
            </a:pPr>
            <a:r>
              <a:rPr lang="en-US" sz="788" b="1">
                <a:solidFill>
                  <a:srgbClr val="0F1423"/>
                </a:solidFill>
                <a:latin typeface="Microsoft YaHei"/>
                <a:ea typeface="Microsoft YaHei"/>
              </a:rPr>
              <a:t>asset_status</a:t>
            </a:r>
            <a:endParaRPr/>
          </a:p>
        </p:txBody>
      </p:sp>
      <p:sp>
        <p:nvSpPr>
          <p:cNvPr id="1634" name=""/>
          <p:cNvSpPr/>
          <p:nvPr/>
        </p:nvSpPr>
        <p:spPr>
          <a:xfrm rot="0" flipH="0" flipV="0">
            <a:off x="1809750" y="3752850"/>
            <a:ext cx="2552700" cy="361950"/>
          </a:xfrm>
          <a:prstGeom prst="roundRect">
            <a:avLst>
              <a:gd name="adj" fmla="val 7895"/>
            </a:avLst>
          </a:prstGeom>
          <a:solidFill>
            <a:srgbClr val="F7F7F8"/>
          </a:solidFill>
          <a:ln/>
        </p:spPr>
        <p:txBody>
          <a:bodyPr/>
          <a:p/>
        </p:txBody>
      </p:sp>
      <p:sp>
        <p:nvSpPr>
          <p:cNvPr id="1635" name="" descr="{&quot;isTemplate&quot;:true,&quot;type&quot;:&quot;text&quot;}"/>
          <p:cNvSpPr txBox="1"/>
          <p:nvPr/>
        </p:nvSpPr>
        <p:spPr>
          <a:xfrm rot="0" flipH="0" flipV="0">
            <a:off x="1895475" y="3867150"/>
            <a:ext cx="1333500" cy="142875"/>
          </a:xfrm>
          <a:prstGeom prst="rect"/>
        </p:spPr>
        <p:txBody>
          <a:bodyPr wrap="none" lIns="0" tIns="0" rIns="0" bIns="0"/>
          <a:p>
            <a:pPr>
              <a:lnSpc>
                <a:spcPct val="125000"/>
              </a:lnSpc>
            </a:pPr>
            <a:r>
              <a:rPr lang="zh-CN" sz="750">
                <a:solidFill>
                  <a:srgbClr val="3A4050"/>
                </a:solidFill>
                <a:latin typeface="Microsoft YaHei"/>
                <a:ea typeface="Microsoft YaHei"/>
              </a:rPr>
              <a:t>资产状态，用于运维与财务对齐</a:t>
            </a:r>
            <a:endParaRPr/>
          </a:p>
        </p:txBody>
      </p:sp>
      <p:sp>
        <p:nvSpPr>
          <p:cNvPr id="1636" name=""/>
          <p:cNvSpPr/>
          <p:nvPr/>
        </p:nvSpPr>
        <p:spPr>
          <a:xfrm rot="0" flipH="0" flipV="0">
            <a:off x="4410075" y="3752850"/>
            <a:ext cx="1152525" cy="361950"/>
          </a:xfrm>
          <a:prstGeom prst="roundRect">
            <a:avLst>
              <a:gd name="adj" fmla="val 7895"/>
            </a:avLst>
          </a:prstGeom>
          <a:solidFill>
            <a:srgbClr val="F7F7F8"/>
          </a:solidFill>
          <a:ln/>
        </p:spPr>
        <p:txBody>
          <a:bodyPr/>
          <a:p/>
        </p:txBody>
      </p:sp>
      <p:sp>
        <p:nvSpPr>
          <p:cNvPr id="1637" name="" descr="{&quot;isTemplate&quot;:true,&quot;type&quot;:&quot;text&quot;}"/>
          <p:cNvSpPr txBox="1"/>
          <p:nvPr/>
        </p:nvSpPr>
        <p:spPr>
          <a:xfrm rot="0" flipH="0" flipV="0">
            <a:off x="4495800" y="3876675"/>
            <a:ext cx="190500" cy="114300"/>
          </a:xfrm>
          <a:prstGeom prst="rect"/>
        </p:spPr>
        <p:txBody>
          <a:bodyPr wrap="none" lIns="0" tIns="0" rIns="0" bIns="0"/>
          <a:p>
            <a:pPr>
              <a:lnSpc>
                <a:spcPct val="100000"/>
              </a:lnSpc>
            </a:pPr>
            <a:r>
              <a:rPr lang="zh-CN" sz="750">
                <a:solidFill>
                  <a:srgbClr val="5A6070"/>
                </a:solidFill>
                <a:latin typeface="Microsoft YaHei"/>
                <a:ea typeface="Microsoft YaHei"/>
              </a:rPr>
              <a:t>枚举</a:t>
            </a:r>
            <a:endParaRPr/>
          </a:p>
        </p:txBody>
      </p:sp>
      <p:sp>
        <p:nvSpPr>
          <p:cNvPr id="1638" name=""/>
          <p:cNvSpPr/>
          <p:nvPr/>
        </p:nvSpPr>
        <p:spPr>
          <a:xfrm rot="0" flipH="0" flipV="0">
            <a:off x="5610225" y="3752850"/>
            <a:ext cx="1152525" cy="361950"/>
          </a:xfrm>
          <a:prstGeom prst="roundRect">
            <a:avLst>
              <a:gd name="adj" fmla="val 7895"/>
            </a:avLst>
          </a:prstGeom>
          <a:solidFill>
            <a:srgbClr val="F7F7F8"/>
          </a:solidFill>
          <a:ln/>
        </p:spPr>
        <p:txBody>
          <a:bodyPr/>
          <a:p/>
        </p:txBody>
      </p:sp>
      <p:sp>
        <p:nvSpPr>
          <p:cNvPr id="1639" name="" descr="{&quot;isTemplate&quot;:true,&quot;type&quot;:&quot;text&quot;}"/>
          <p:cNvSpPr txBox="1"/>
          <p:nvPr/>
        </p:nvSpPr>
        <p:spPr>
          <a:xfrm rot="0" flipH="0" flipV="0">
            <a:off x="5695950" y="3790950"/>
            <a:ext cx="981075" cy="285750"/>
          </a:xfrm>
          <a:prstGeom prst="rect"/>
        </p:spPr>
        <p:txBody>
          <a:bodyPr wrap="square" lIns="0" tIns="0" rIns="0" bIns="0">
            <a:normAutofit/>
          </a:bodyPr>
          <a:p>
            <a:pPr>
              <a:lnSpc>
                <a:spcPct val="125000"/>
              </a:lnSpc>
            </a:pPr>
            <a:r>
              <a:rPr lang="zh-CN" sz="750">
                <a:solidFill>
                  <a:srgbClr val="5A6070"/>
                </a:solidFill>
                <a:latin typeface="Microsoft YaHei"/>
                <a:ea typeface="Microsoft YaHei"/>
              </a:rPr>
              <a:t>在建</a:t>
            </a:r>
            <a:r>
              <a:rPr lang="en-US" sz="750">
                <a:solidFill>
                  <a:srgbClr val="5A6070"/>
                </a:solidFill>
                <a:latin typeface="Microsoft YaHei"/>
                <a:ea typeface="Microsoft YaHei"/>
              </a:rPr>
              <a:t>/</a:t>
            </a:r>
            <a:r>
              <a:rPr lang="zh-CN" sz="750">
                <a:solidFill>
                  <a:srgbClr val="5A6070"/>
                </a:solidFill>
                <a:latin typeface="Microsoft YaHei"/>
                <a:ea typeface="Microsoft YaHei"/>
              </a:rPr>
              <a:t>试运</a:t>
            </a:r>
            <a:r>
              <a:rPr lang="en-US" sz="750">
                <a:solidFill>
                  <a:srgbClr val="5A6070"/>
                </a:solidFill>
                <a:latin typeface="Microsoft YaHei"/>
                <a:ea typeface="Microsoft YaHei"/>
              </a:rPr>
              <a:t>/</a:t>
            </a:r>
            <a:r>
              <a:rPr lang="zh-CN" sz="750">
                <a:solidFill>
                  <a:srgbClr val="5A6070"/>
                </a:solidFill>
                <a:latin typeface="Microsoft YaHei"/>
                <a:ea typeface="Microsoft YaHei"/>
              </a:rPr>
              <a:t>在运</a:t>
            </a:r>
            <a:r>
              <a:rPr lang="en-US" sz="750">
                <a:solidFill>
                  <a:srgbClr val="5A6070"/>
                </a:solidFill>
                <a:latin typeface="Microsoft YaHei"/>
                <a:ea typeface="Microsoft YaHei"/>
              </a:rPr>
              <a:t>/</a:t>
            </a:r>
            <a:r>
              <a:rPr lang="zh-CN" sz="750">
                <a:solidFill>
                  <a:srgbClr val="5A6070"/>
                </a:solidFill>
                <a:latin typeface="Microsoft YaHei"/>
                <a:ea typeface="Microsoft YaHei"/>
              </a:rPr>
              <a:t>退役</a:t>
            </a:r>
            <a:r>
              <a:rPr lang="en-US" sz="750">
                <a:solidFill>
                  <a:srgbClr val="5A6070"/>
                </a:solidFill>
                <a:latin typeface="Microsoft YaHei"/>
                <a:ea typeface="Microsoft YaHei"/>
              </a:rPr>
              <a:t>/</a:t>
            </a:r>
            <a:r>
              <a:rPr lang="zh-CN" sz="750">
                <a:solidFill>
                  <a:srgbClr val="5A6070"/>
                </a:solidFill>
                <a:latin typeface="Microsoft YaHei"/>
                <a:ea typeface="Microsoft YaHei"/>
              </a:rPr>
              <a:t>处置</a:t>
            </a:r>
            <a:endParaRPr/>
          </a:p>
        </p:txBody>
      </p:sp>
      <p:sp>
        <p:nvSpPr>
          <p:cNvPr id="1640" name=""/>
          <p:cNvSpPr/>
          <p:nvPr/>
        </p:nvSpPr>
        <p:spPr>
          <a:xfrm rot="0" flipH="0" flipV="0">
            <a:off x="6810375" y="3752850"/>
            <a:ext cx="1162050" cy="361950"/>
          </a:xfrm>
          <a:prstGeom prst="roundRect">
            <a:avLst>
              <a:gd name="adj" fmla="val 7895"/>
            </a:avLst>
          </a:prstGeom>
          <a:solidFill>
            <a:srgbClr val="F7F7F8"/>
          </a:solidFill>
          <a:ln/>
        </p:spPr>
        <p:txBody>
          <a:bodyPr/>
          <a:p/>
        </p:txBody>
      </p:sp>
      <p:sp>
        <p:nvSpPr>
          <p:cNvPr id="1641" name="" descr="{&quot;isTemplate&quot;:true,&quot;type&quot;:&quot;text&quot;}"/>
          <p:cNvSpPr txBox="1"/>
          <p:nvPr/>
        </p:nvSpPr>
        <p:spPr>
          <a:xfrm rot="0" flipH="0" flipV="0">
            <a:off x="6896100" y="3876675"/>
            <a:ext cx="104775" cy="114300"/>
          </a:xfrm>
          <a:prstGeom prst="rect"/>
        </p:spPr>
        <p:txBody>
          <a:bodyPr wrap="none" lIns="0" tIns="0" rIns="0" bIns="0"/>
          <a:p>
            <a:pPr>
              <a:lnSpc>
                <a:spcPct val="100000"/>
              </a:lnSpc>
            </a:pPr>
            <a:r>
              <a:rPr sz="750">
                <a:solidFill>
                  <a:srgbClr val="5A6070"/>
                </a:solidFill>
                <a:latin typeface="Microsoft YaHei"/>
                <a:ea typeface="Microsoft YaHei"/>
              </a:rPr>
              <a:t>—</a:t>
            </a:r>
            <a:endParaRPr/>
          </a:p>
        </p:txBody>
      </p:sp>
      <p:sp>
        <p:nvSpPr>
          <p:cNvPr id="1642" name=""/>
          <p:cNvSpPr/>
          <p:nvPr/>
        </p:nvSpPr>
        <p:spPr>
          <a:xfrm rot="0" flipH="0" flipV="0">
            <a:off x="8020050" y="3752850"/>
            <a:ext cx="1152525" cy="361950"/>
          </a:xfrm>
          <a:prstGeom prst="roundRect">
            <a:avLst>
              <a:gd name="adj" fmla="val 7895"/>
            </a:avLst>
          </a:prstGeom>
          <a:solidFill>
            <a:srgbClr val="FFF3EE"/>
          </a:solidFill>
          <a:ln/>
        </p:spPr>
        <p:txBody>
          <a:bodyPr/>
          <a:p/>
        </p:txBody>
      </p:sp>
      <p:sp>
        <p:nvSpPr>
          <p:cNvPr id="1643" name="" descr="{&quot;isTemplate&quot;:true,&quot;type&quot;:&quot;text&quot;}"/>
          <p:cNvSpPr txBox="1"/>
          <p:nvPr/>
        </p:nvSpPr>
        <p:spPr>
          <a:xfrm rot="0" flipH="0" flipV="0">
            <a:off x="8105775" y="3867150"/>
            <a:ext cx="762000" cy="142875"/>
          </a:xfrm>
          <a:prstGeom prst="rect"/>
        </p:spPr>
        <p:txBody>
          <a:bodyPr wrap="none" lIns="0" tIns="0" rIns="0" bIns="0"/>
          <a:p>
            <a:pPr>
              <a:lnSpc>
                <a:spcPct val="125000"/>
              </a:lnSpc>
            </a:pPr>
            <a:r>
              <a:rPr lang="zh-CN" sz="750">
                <a:solidFill>
                  <a:srgbClr val="C43A17"/>
                </a:solidFill>
                <a:latin typeface="Microsoft YaHei"/>
                <a:ea typeface="Microsoft YaHei"/>
              </a:rPr>
              <a:t>资产状态代码标准</a:t>
            </a:r>
            <a:endParaRPr/>
          </a:p>
        </p:txBody>
      </p:sp>
      <p:sp>
        <p:nvSpPr>
          <p:cNvPr id="1644" name=""/>
          <p:cNvSpPr/>
          <p:nvPr/>
        </p:nvSpPr>
        <p:spPr>
          <a:xfrm rot="0" flipH="0" flipV="0">
            <a:off x="9220200" y="3752850"/>
            <a:ext cx="1162050" cy="361950"/>
          </a:xfrm>
          <a:prstGeom prst="roundRect">
            <a:avLst>
              <a:gd name="adj" fmla="val 7895"/>
            </a:avLst>
          </a:prstGeom>
          <a:solidFill>
            <a:srgbClr val="FFF3EE"/>
          </a:solidFill>
          <a:ln/>
        </p:spPr>
        <p:txBody>
          <a:bodyPr/>
          <a:p/>
        </p:txBody>
      </p:sp>
      <p:sp>
        <p:nvSpPr>
          <p:cNvPr id="1645" name="" descr="{&quot;isTemplate&quot;:true,&quot;type&quot;:&quot;text&quot;}"/>
          <p:cNvSpPr txBox="1"/>
          <p:nvPr/>
        </p:nvSpPr>
        <p:spPr>
          <a:xfrm rot="0" flipH="0" flipV="0">
            <a:off x="9305925" y="3867150"/>
            <a:ext cx="762000" cy="142875"/>
          </a:xfrm>
          <a:prstGeom prst="rect"/>
        </p:spPr>
        <p:txBody>
          <a:bodyPr wrap="none" lIns="0" tIns="0" rIns="0" bIns="0"/>
          <a:p>
            <a:pPr>
              <a:lnSpc>
                <a:spcPct val="125000"/>
              </a:lnSpc>
            </a:pPr>
            <a:r>
              <a:rPr lang="zh-CN" sz="750">
                <a:solidFill>
                  <a:srgbClr val="C43A17"/>
                </a:solidFill>
                <a:latin typeface="Microsoft YaHei"/>
                <a:ea typeface="Microsoft YaHei"/>
              </a:rPr>
              <a:t>公司资产分类代码</a:t>
            </a:r>
            <a:endParaRPr/>
          </a:p>
        </p:txBody>
      </p:sp>
      <p:sp>
        <p:nvSpPr>
          <p:cNvPr id="1646" name=""/>
          <p:cNvSpPr/>
          <p:nvPr/>
        </p:nvSpPr>
        <p:spPr>
          <a:xfrm rot="0" flipH="0" flipV="0">
            <a:off x="10429875" y="3752850"/>
            <a:ext cx="1152525" cy="361950"/>
          </a:xfrm>
          <a:prstGeom prst="roundRect">
            <a:avLst>
              <a:gd name="adj" fmla="val 7895"/>
            </a:avLst>
          </a:prstGeom>
          <a:solidFill>
            <a:srgbClr val="F7F7F8"/>
          </a:solidFill>
          <a:ln/>
        </p:spPr>
        <p:txBody>
          <a:bodyPr/>
          <a:p/>
        </p:txBody>
      </p:sp>
      <p:sp>
        <p:nvSpPr>
          <p:cNvPr id="1647" name="" descr="{&quot;isTemplate&quot;:true,&quot;type&quot;:&quot;text&quot;}"/>
          <p:cNvSpPr txBox="1"/>
          <p:nvPr/>
        </p:nvSpPr>
        <p:spPr>
          <a:xfrm rot="0" flipH="0" flipV="0">
            <a:off x="10515600" y="3876675"/>
            <a:ext cx="190500" cy="114300"/>
          </a:xfrm>
          <a:prstGeom prst="rect"/>
        </p:spPr>
        <p:txBody>
          <a:bodyPr wrap="none" lIns="0" tIns="0" rIns="0" bIns="0"/>
          <a:p>
            <a:pPr>
              <a:lnSpc>
                <a:spcPct val="100000"/>
              </a:lnSpc>
            </a:pPr>
            <a:r>
              <a:rPr lang="zh-CN" sz="750">
                <a:solidFill>
                  <a:srgbClr val="5A6070"/>
                </a:solidFill>
                <a:latin typeface="Microsoft YaHei"/>
                <a:ea typeface="Microsoft YaHei"/>
              </a:rPr>
              <a:t>内部</a:t>
            </a:r>
            <a:endParaRPr/>
          </a:p>
        </p:txBody>
      </p:sp>
      <p:sp>
        <p:nvSpPr>
          <p:cNvPr id="1648" name=""/>
          <p:cNvSpPr/>
          <p:nvPr/>
        </p:nvSpPr>
        <p:spPr>
          <a:xfrm rot="0" flipH="0" flipV="0">
            <a:off x="609600" y="4191000"/>
            <a:ext cx="5448300" cy="285750"/>
          </a:xfrm>
          <a:prstGeom prst="roundRect">
            <a:avLst>
              <a:gd name="adj" fmla="val 10000"/>
            </a:avLst>
          </a:prstGeom>
          <a:solidFill>
            <a:srgbClr val="0F1423"/>
          </a:solidFill>
          <a:ln/>
        </p:spPr>
        <p:txBody>
          <a:bodyPr/>
          <a:p/>
        </p:txBody>
      </p:sp>
      <p:sp>
        <p:nvSpPr>
          <p:cNvPr id="1649" name="" descr="{&quot;isTemplate&quot;:true,&quot;type&quot;:&quot;text&quot;}"/>
          <p:cNvSpPr txBox="1"/>
          <p:nvPr/>
        </p:nvSpPr>
        <p:spPr>
          <a:xfrm rot="0" flipH="0" flipV="0">
            <a:off x="742950" y="4267200"/>
            <a:ext cx="876300" cy="133350"/>
          </a:xfrm>
          <a:prstGeom prst="rect"/>
        </p:spPr>
        <p:txBody>
          <a:bodyPr wrap="none" lIns="0" tIns="0" rIns="0" bIns="0"/>
          <a:p>
            <a:pPr>
              <a:lnSpc>
                <a:spcPct val="100000"/>
              </a:lnSpc>
            </a:pPr>
            <a:r>
              <a:rPr lang="zh-CN" sz="863" b="1">
                <a:solidFill>
                  <a:srgbClr val="FBA15C"/>
                </a:solidFill>
                <a:latin typeface="Microsoft YaHei"/>
                <a:ea typeface="Microsoft YaHei"/>
              </a:rPr>
              <a:t>向上拉通</a:t>
            </a:r>
            <a:r>
              <a:rPr lang="en-US" sz="863" b="1">
                <a:solidFill>
                  <a:srgbClr val="FBA15C"/>
                </a:solidFill>
                <a:latin typeface="Microsoft YaHei"/>
                <a:ea typeface="Microsoft YaHei"/>
              </a:rPr>
              <a:t xml:space="preserve"> BA</a:t>
            </a:r>
            <a:endParaRPr/>
          </a:p>
        </p:txBody>
      </p:sp>
      <p:sp>
        <p:nvSpPr>
          <p:cNvPr id="1650" name="" descr="{&quot;isTemplate&quot;:true,&quot;type&quot;:&quot;text&quot;}"/>
          <p:cNvSpPr txBox="1"/>
          <p:nvPr/>
        </p:nvSpPr>
        <p:spPr>
          <a:xfrm rot="0" flipH="0" flipV="0">
            <a:off x="1714500" y="4257675"/>
            <a:ext cx="4210050" cy="161925"/>
          </a:xfrm>
          <a:prstGeom prst="rect"/>
        </p:spPr>
        <p:txBody>
          <a:bodyPr wrap="none" lIns="0" tIns="0" rIns="0" bIns="0"/>
          <a:p>
            <a:pPr>
              <a:lnSpc>
                <a:spcPct val="130000"/>
              </a:lnSpc>
            </a:pPr>
            <a:r>
              <a:rPr lang="zh-CN" sz="788">
                <a:solidFill>
                  <a:srgbClr val="FFFFFF">
                    <a:alpha val="88000"/>
                  </a:srgbClr>
                </a:solidFill>
                <a:latin typeface="Microsoft YaHei"/>
                <a:ea typeface="Microsoft YaHei"/>
              </a:rPr>
              <a:t>每个实体标注服务哪几条</a:t>
            </a:r>
            <a:r>
              <a:rPr lang="en-US" sz="788">
                <a:solidFill>
                  <a:srgbClr val="FFFFFF">
                    <a:alpha val="88000"/>
                  </a:srgbClr>
                </a:solidFill>
                <a:latin typeface="Microsoft YaHei"/>
                <a:ea typeface="Microsoft YaHei"/>
              </a:rPr>
              <a:t xml:space="preserve"> L4</a:t>
            </a:r>
            <a:r>
              <a:rPr lang="zh-CN" sz="788">
                <a:solidFill>
                  <a:srgbClr val="FFFFFF">
                    <a:alpha val="88000"/>
                  </a:srgbClr>
                </a:solidFill>
                <a:latin typeface="Microsoft YaHei"/>
                <a:ea typeface="Microsoft YaHei"/>
              </a:rPr>
              <a:t>；每条</a:t>
            </a:r>
            <a:r>
              <a:rPr lang="en-US" sz="788">
                <a:solidFill>
                  <a:srgbClr val="FFFFFF">
                    <a:alpha val="88000"/>
                  </a:srgbClr>
                </a:solidFill>
                <a:latin typeface="Microsoft YaHei"/>
                <a:ea typeface="Microsoft YaHei"/>
              </a:rPr>
              <a:t xml:space="preserve"> L4 </a:t>
            </a:r>
            <a:r>
              <a:rPr lang="zh-CN" sz="788">
                <a:solidFill>
                  <a:srgbClr val="FFFFFF">
                    <a:alpha val="88000"/>
                  </a:srgbClr>
                </a:solidFill>
                <a:latin typeface="Microsoft YaHei"/>
                <a:ea typeface="Microsoft YaHei"/>
              </a:rPr>
              <a:t>标注需要哪些实体与属性——这条链断了，</a:t>
            </a:r>
            <a:r>
              <a:rPr lang="en-US" sz="788">
                <a:solidFill>
                  <a:srgbClr val="FFFFFF">
                    <a:alpha val="88000"/>
                  </a:srgbClr>
                </a:solidFill>
                <a:latin typeface="Microsoft YaHei"/>
                <a:ea typeface="Microsoft YaHei"/>
              </a:rPr>
              <a:t xml:space="preserve">L4 </a:t>
            </a:r>
            <a:r>
              <a:rPr lang="zh-CN" sz="788">
                <a:solidFill>
                  <a:srgbClr val="FFFFFF">
                    <a:alpha val="88000"/>
                  </a:srgbClr>
                </a:solidFill>
                <a:latin typeface="Microsoft YaHei"/>
                <a:ea typeface="Microsoft YaHei"/>
              </a:rPr>
              <a:t>就跑不通</a:t>
            </a:r>
            <a:endParaRPr/>
          </a:p>
        </p:txBody>
      </p:sp>
      <p:sp>
        <p:nvSpPr>
          <p:cNvPr id="1651" name=""/>
          <p:cNvSpPr/>
          <p:nvPr/>
        </p:nvSpPr>
        <p:spPr>
          <a:xfrm rot="0" flipH="0" flipV="0">
            <a:off x="6134100" y="4191000"/>
            <a:ext cx="5448300" cy="285750"/>
          </a:xfrm>
          <a:prstGeom prst="roundRect">
            <a:avLst>
              <a:gd name="adj" fmla="val 10000"/>
            </a:avLst>
          </a:prstGeom>
          <a:solidFill>
            <a:srgbClr val="0F1423"/>
          </a:solidFill>
          <a:ln/>
        </p:spPr>
        <p:txBody>
          <a:bodyPr/>
          <a:p/>
        </p:txBody>
      </p:sp>
      <p:sp>
        <p:nvSpPr>
          <p:cNvPr id="1652" name="" descr="{&quot;isTemplate&quot;:true,&quot;type&quot;:&quot;text&quot;}"/>
          <p:cNvSpPr txBox="1"/>
          <p:nvPr/>
        </p:nvSpPr>
        <p:spPr>
          <a:xfrm rot="0" flipH="0" flipV="0">
            <a:off x="6267450" y="4267200"/>
            <a:ext cx="876300" cy="133350"/>
          </a:xfrm>
          <a:prstGeom prst="rect"/>
        </p:spPr>
        <p:txBody>
          <a:bodyPr wrap="none" lIns="0" tIns="0" rIns="0" bIns="0"/>
          <a:p>
            <a:pPr>
              <a:lnSpc>
                <a:spcPct val="100000"/>
              </a:lnSpc>
            </a:pPr>
            <a:r>
              <a:rPr lang="zh-CN" sz="863" b="1">
                <a:solidFill>
                  <a:srgbClr val="FBA15C"/>
                </a:solidFill>
                <a:latin typeface="Microsoft YaHei"/>
                <a:ea typeface="Microsoft YaHei"/>
              </a:rPr>
              <a:t>向下拉通</a:t>
            </a:r>
            <a:r>
              <a:rPr lang="en-US" sz="863" b="1">
                <a:solidFill>
                  <a:srgbClr val="FBA15C"/>
                </a:solidFill>
                <a:latin typeface="Microsoft YaHei"/>
                <a:ea typeface="Microsoft YaHei"/>
              </a:rPr>
              <a:t xml:space="preserve"> AA</a:t>
            </a:r>
            <a:endParaRPr/>
          </a:p>
        </p:txBody>
      </p:sp>
      <p:sp>
        <p:nvSpPr>
          <p:cNvPr id="1653" name="" descr="{&quot;isTemplate&quot;:true,&quot;type&quot;:&quot;text&quot;}"/>
          <p:cNvSpPr txBox="1"/>
          <p:nvPr/>
        </p:nvSpPr>
        <p:spPr>
          <a:xfrm rot="0" flipH="0" flipV="0">
            <a:off x="7239000" y="4257675"/>
            <a:ext cx="4210050" cy="161925"/>
          </a:xfrm>
          <a:prstGeom prst="rect"/>
        </p:spPr>
        <p:txBody>
          <a:bodyPr wrap="none" lIns="0" tIns="0" rIns="0" bIns="0"/>
          <a:p>
            <a:pPr>
              <a:lnSpc>
                <a:spcPct val="130000"/>
              </a:lnSpc>
            </a:pPr>
            <a:r>
              <a:rPr lang="zh-CN" sz="788">
                <a:solidFill>
                  <a:srgbClr val="FFFFFF">
                    <a:alpha val="88000"/>
                  </a:srgbClr>
                </a:solidFill>
                <a:latin typeface="Microsoft YaHei"/>
                <a:ea typeface="Microsoft YaHei"/>
              </a:rPr>
              <a:t>每个实体标注落点系统、数据流向与同步方式——这条链断了，集成架构就是空的</a:t>
            </a:r>
            <a:endParaRPr/>
          </a:p>
        </p:txBody>
      </p:sp>
      <p:sp>
        <p:nvSpPr>
          <p:cNvPr id="1654" name=""/>
          <p:cNvSpPr/>
          <p:nvPr/>
        </p:nvSpPr>
        <p:spPr>
          <a:xfrm rot="0" flipH="0" flipV="0">
            <a:off x="647700" y="4552950"/>
            <a:ext cx="5448300" cy="1104900"/>
          </a:xfrm>
          <a:prstGeom prst="roundRect">
            <a:avLst>
              <a:gd name="adj" fmla="val 3448"/>
            </a:avLst>
          </a:prstGeom>
          <a:solidFill>
            <a:srgbClr val="FFF3EE"/>
          </a:solidFill>
          <a:ln/>
        </p:spPr>
        <p:txBody>
          <a:bodyPr/>
          <a:p/>
        </p:txBody>
      </p:sp>
      <p:sp>
        <p:nvSpPr>
          <p:cNvPr id="1655" name=""/>
          <p:cNvSpPr/>
          <p:nvPr/>
        </p:nvSpPr>
        <p:spPr>
          <a:xfrm rot="0" flipH="0" flipV="0">
            <a:off x="647700" y="4552950"/>
            <a:ext cx="5448300" cy="1104900"/>
          </a:xfrm>
          <a:custGeom>
            <a:pathLst>
              <a:path w="572" h="116">
                <a:moveTo>
                  <a:pt x="4" y="116"/>
                </a:moveTo>
                <a:cubicBezTo>
                  <a:pt x="2" y="116"/>
                  <a:pt x="0" y="114"/>
                  <a:pt x="0" y="112"/>
                </a:cubicBezTo>
                <a:lnTo>
                  <a:pt x="0" y="4"/>
                </a:lnTo>
                <a:cubicBezTo>
                  <a:pt x="0" y="2"/>
                  <a:pt x="2" y="0"/>
                  <a:pt x="4" y="0"/>
                </a:cubicBezTo>
                <a:lnTo>
                  <a:pt x="4" y="116"/>
                </a:lnTo>
                <a:close/>
              </a:path>
            </a:pathLst>
          </a:custGeom>
          <a:solidFill>
            <a:srgbClr val="FA4F24"/>
          </a:solidFill>
          <a:ln/>
        </p:spPr>
        <p:txBody>
          <a:bodyPr/>
          <a:p/>
        </p:txBody>
      </p:sp>
      <p:sp>
        <p:nvSpPr>
          <p:cNvPr id="1656" name="" descr="{&quot;isTemplate&quot;:true,&quot;type&quot;:&quot;text&quot;}"/>
          <p:cNvSpPr txBox="1"/>
          <p:nvPr/>
        </p:nvSpPr>
        <p:spPr>
          <a:xfrm rot="0" flipH="0" flipV="0">
            <a:off x="781050" y="4705350"/>
            <a:ext cx="5143500" cy="142875"/>
          </a:xfrm>
          <a:prstGeom prst="rect"/>
        </p:spPr>
        <p:txBody>
          <a:bodyPr wrap="none" lIns="0" tIns="0" rIns="0" bIns="0"/>
          <a:p>
            <a:pPr>
              <a:lnSpc>
                <a:spcPct val="100000"/>
              </a:lnSpc>
            </a:pPr>
            <a:r>
              <a:rPr lang="zh-CN" sz="938" b="1">
                <a:solidFill>
                  <a:srgbClr val="C43A17"/>
                </a:solidFill>
                <a:latin typeface="Microsoft YaHei"/>
                <a:ea typeface="Microsoft YaHei"/>
              </a:rPr>
              <a:t>交付物⑧《指标字典》八要素（缺一项不进字典）</a:t>
            </a:r>
            <a:endParaRPr/>
          </a:p>
        </p:txBody>
      </p:sp>
      <p:sp>
        <p:nvSpPr>
          <p:cNvPr id="1657" name="" descr="{&quot;isTemplate&quot;:true,&quot;type&quot;:&quot;text&quot;}"/>
          <p:cNvSpPr txBox="1"/>
          <p:nvPr/>
        </p:nvSpPr>
        <p:spPr>
          <a:xfrm rot="0" flipH="0" flipV="0">
            <a:off x="781050" y="4905375"/>
            <a:ext cx="5143500" cy="381000"/>
          </a:xfrm>
          <a:prstGeom prst="rect"/>
        </p:spPr>
        <p:txBody>
          <a:bodyPr wrap="square" lIns="0" tIns="0" rIns="0" bIns="0">
            <a:normAutofit/>
          </a:bodyPr>
          <a:p>
            <a:pPr>
              <a:lnSpc>
                <a:spcPct val="150000"/>
              </a:lnSpc>
            </a:pPr>
            <a:r>
              <a:rPr lang="zh-CN" sz="825">
                <a:solidFill>
                  <a:srgbClr val="3A4050"/>
                </a:solidFill>
                <a:latin typeface="Microsoft YaHei"/>
                <a:ea typeface="Microsoft YaHei"/>
              </a:rPr>
              <a:t>指标名称与编码</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业务定义</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计算公式</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计量单位</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统计周期</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数据来源与取数口径</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业务与数据责任人</a:t>
            </a:r>
            <a:r>
              <a:rPr lang="en-US" sz="825">
                <a:solidFill>
                  <a:srgbClr val="3A4050"/>
                </a:solidFill>
                <a:latin typeface="Microsoft YaHei"/>
                <a:ea typeface="Microsoft YaHei"/>
              </a:rPr>
              <a:t xml:space="preserve"> · </a:t>
            </a:r>
            <a:r>
              <a:rPr lang="zh-CN" sz="825">
                <a:solidFill>
                  <a:srgbClr val="3A4050"/>
                </a:solidFill>
                <a:latin typeface="Microsoft YaHei"/>
                <a:ea typeface="Microsoft YaHei"/>
              </a:rPr>
              <a:t>有效期与使用场景</a:t>
            </a:r>
            <a:endParaRPr/>
          </a:p>
        </p:txBody>
      </p:sp>
      <p:sp>
        <p:nvSpPr>
          <p:cNvPr id="1658" name="" descr="{&quot;isTemplate&quot;:true,&quot;type&quot;:&quot;text&quot;}"/>
          <p:cNvSpPr txBox="1"/>
          <p:nvPr/>
        </p:nvSpPr>
        <p:spPr>
          <a:xfrm rot="0" flipH="0" flipV="0">
            <a:off x="781050" y="5343525"/>
            <a:ext cx="5143500" cy="171450"/>
          </a:xfrm>
          <a:prstGeom prst="rect"/>
        </p:spPr>
        <p:txBody>
          <a:bodyPr wrap="none" lIns="0" tIns="0" rIns="0" bIns="0"/>
          <a:p>
            <a:pPr>
              <a:lnSpc>
                <a:spcPct val="135000"/>
              </a:lnSpc>
            </a:pPr>
            <a:r>
              <a:rPr lang="zh-CN" sz="788">
                <a:solidFill>
                  <a:srgbClr val="C43A17"/>
                </a:solidFill>
                <a:latin typeface="Microsoft YaHei"/>
                <a:ea typeface="Microsoft YaHei"/>
              </a:rPr>
              <a:t>判据：口径没定下来、责任人没落实的指标，不进字典只进待办清单——宁可少几个，不能有错的口径。</a:t>
            </a:r>
            <a:endParaRPr/>
          </a:p>
        </p:txBody>
      </p:sp>
      <p:sp>
        <p:nvSpPr>
          <p:cNvPr id="1659" name=""/>
          <p:cNvSpPr/>
          <p:nvPr/>
        </p:nvSpPr>
        <p:spPr>
          <a:xfrm rot="0" flipH="0" flipV="0">
            <a:off x="6172200" y="4552950"/>
            <a:ext cx="5448300" cy="1104900"/>
          </a:xfrm>
          <a:prstGeom prst="roundRect">
            <a:avLst>
              <a:gd name="adj" fmla="val 3448"/>
            </a:avLst>
          </a:prstGeom>
          <a:solidFill>
            <a:srgbClr val="F7F7F8"/>
          </a:solidFill>
          <a:ln/>
        </p:spPr>
        <p:txBody>
          <a:bodyPr/>
          <a:p/>
        </p:txBody>
      </p:sp>
      <p:sp>
        <p:nvSpPr>
          <p:cNvPr id="1660" name=""/>
          <p:cNvSpPr/>
          <p:nvPr/>
        </p:nvSpPr>
        <p:spPr>
          <a:xfrm rot="0" flipH="0" flipV="0">
            <a:off x="6172200" y="4552950"/>
            <a:ext cx="5448300" cy="1104900"/>
          </a:xfrm>
          <a:custGeom>
            <a:pathLst>
              <a:path w="572" h="116">
                <a:moveTo>
                  <a:pt x="4" y="116"/>
                </a:moveTo>
                <a:cubicBezTo>
                  <a:pt x="2" y="116"/>
                  <a:pt x="0" y="114"/>
                  <a:pt x="0" y="112"/>
                </a:cubicBezTo>
                <a:lnTo>
                  <a:pt x="0" y="4"/>
                </a:lnTo>
                <a:cubicBezTo>
                  <a:pt x="0" y="2"/>
                  <a:pt x="2" y="0"/>
                  <a:pt x="4" y="0"/>
                </a:cubicBezTo>
                <a:lnTo>
                  <a:pt x="4" y="116"/>
                </a:lnTo>
                <a:close/>
              </a:path>
            </a:pathLst>
          </a:custGeom>
          <a:solidFill>
            <a:srgbClr val="C43A17"/>
          </a:solidFill>
          <a:ln/>
        </p:spPr>
        <p:txBody>
          <a:bodyPr/>
          <a:p/>
        </p:txBody>
      </p:sp>
      <p:sp>
        <p:nvSpPr>
          <p:cNvPr id="1661" name="" descr="{&quot;isTemplate&quot;:true,&quot;type&quot;:&quot;text&quot;}"/>
          <p:cNvSpPr txBox="1"/>
          <p:nvPr/>
        </p:nvSpPr>
        <p:spPr>
          <a:xfrm rot="0" flipH="0" flipV="0">
            <a:off x="6305550" y="4705350"/>
            <a:ext cx="5143500" cy="142875"/>
          </a:xfrm>
          <a:prstGeom prst="rect"/>
        </p:spPr>
        <p:txBody>
          <a:bodyPr wrap="none" lIns="0" tIns="0" rIns="0" bIns="0"/>
          <a:p>
            <a:pPr>
              <a:lnSpc>
                <a:spcPct val="100000"/>
              </a:lnSpc>
            </a:pPr>
            <a:r>
              <a:rPr lang="zh-CN" sz="938" b="1">
                <a:solidFill>
                  <a:srgbClr val="3A4050"/>
                </a:solidFill>
                <a:latin typeface="Microsoft YaHei"/>
                <a:ea typeface="Microsoft YaHei"/>
              </a:rPr>
              <a:t>交付物⑨《绩效考核所需业务数据清单》</a:t>
            </a:r>
            <a:endParaRPr/>
          </a:p>
        </p:txBody>
      </p:sp>
      <p:sp>
        <p:nvSpPr>
          <p:cNvPr id="1662" name="" descr="{&quot;isTemplate&quot;:true,&quot;type&quot;:&quot;text&quot;}"/>
          <p:cNvSpPr txBox="1"/>
          <p:nvPr/>
        </p:nvSpPr>
        <p:spPr>
          <a:xfrm rot="0" flipH="0" flipV="0">
            <a:off x="6305550" y="4905375"/>
            <a:ext cx="5143500" cy="381000"/>
          </a:xfrm>
          <a:prstGeom prst="rect"/>
        </p:spPr>
        <p:txBody>
          <a:bodyPr wrap="square" lIns="0" tIns="0" rIns="0" bIns="0">
            <a:normAutofit/>
          </a:bodyPr>
          <a:p>
            <a:pPr>
              <a:lnSpc>
                <a:spcPct val="150000"/>
              </a:lnSpc>
            </a:pPr>
            <a:r>
              <a:rPr lang="zh-CN" sz="825">
                <a:solidFill>
                  <a:srgbClr val="3A4050"/>
                </a:solidFill>
                <a:latin typeface="Microsoft YaHei"/>
                <a:ea typeface="Microsoft YaHei"/>
              </a:rPr>
              <a:t>以</a:t>
            </a:r>
            <a:r>
              <a:rPr lang="en-US" sz="825">
                <a:solidFill>
                  <a:srgbClr val="3A4050"/>
                </a:solidFill>
                <a:latin typeface="Microsoft YaHei"/>
                <a:ea typeface="Microsoft YaHei"/>
              </a:rPr>
              <a:t xml:space="preserve"> HR </a:t>
            </a:r>
            <a:r>
              <a:rPr lang="zh-CN" sz="825">
                <a:solidFill>
                  <a:srgbClr val="3A4050"/>
                </a:solidFill>
                <a:latin typeface="Microsoft YaHei"/>
                <a:ea typeface="Microsoft YaHei"/>
              </a:rPr>
              <a:t>提供的考核标的、岗位、人员为输入，逐项梳理所需业务数据：数据源、数据类型、传输方式、更新频率、可见范围。</a:t>
            </a:r>
            <a:endParaRPr/>
          </a:p>
        </p:txBody>
      </p:sp>
      <p:sp>
        <p:nvSpPr>
          <p:cNvPr id="1663" name="" descr="{&quot;isTemplate&quot;:true,&quot;type&quot;:&quot;text&quot;}"/>
          <p:cNvSpPr txBox="1"/>
          <p:nvPr/>
        </p:nvSpPr>
        <p:spPr>
          <a:xfrm rot="0" flipH="0" flipV="0">
            <a:off x="6305550" y="5343525"/>
            <a:ext cx="5143500" cy="171450"/>
          </a:xfrm>
          <a:prstGeom prst="rect"/>
        </p:spPr>
        <p:txBody>
          <a:bodyPr wrap="none" lIns="0" tIns="0" rIns="0" bIns="0"/>
          <a:p>
            <a:pPr>
              <a:lnSpc>
                <a:spcPct val="135000"/>
              </a:lnSpc>
            </a:pPr>
            <a:r>
              <a:rPr lang="zh-CN" sz="788">
                <a:solidFill>
                  <a:srgbClr val="C43A17"/>
                </a:solidFill>
                <a:latin typeface="Microsoft YaHei"/>
                <a:ea typeface="Microsoft YaHei"/>
              </a:rPr>
              <a:t>前提条件写进风险清单：若</a:t>
            </a:r>
            <a:r>
              <a:rPr lang="en-US" sz="788">
                <a:solidFill>
                  <a:srgbClr val="C43A17"/>
                </a:solidFill>
                <a:latin typeface="Microsoft YaHei"/>
                <a:ea typeface="Microsoft YaHei"/>
              </a:rPr>
              <a:t xml:space="preserve"> HR </a:t>
            </a:r>
            <a:r>
              <a:rPr lang="zh-CN" sz="788">
                <a:solidFill>
                  <a:srgbClr val="C43A17"/>
                </a:solidFill>
                <a:latin typeface="Microsoft YaHei"/>
                <a:ea typeface="Microsoft YaHei"/>
              </a:rPr>
              <a:t>未在约定时间提供考核标的，该交付物顺延，不自行假设标的。</a:t>
            </a:r>
            <a:endParaRPr/>
          </a:p>
        </p:txBody>
      </p:sp>
      <p:sp>
        <p:nvSpPr>
          <p:cNvPr id="1664" name=""/>
          <p:cNvSpPr/>
          <p:nvPr/>
        </p:nvSpPr>
        <p:spPr>
          <a:xfrm rot="0" flipH="0" flipV="0">
            <a:off x="609600" y="5943600"/>
            <a:ext cx="133350" cy="133350"/>
          </a:xfrm>
          <a:prstGeom prst="rect">
            <a:avLst/>
          </a:prstGeom>
          <a:solidFill>
            <a:srgbClr val="FA4F24"/>
          </a:solidFill>
          <a:ln/>
        </p:spPr>
        <p:txBody>
          <a:bodyPr/>
          <a:p/>
        </p:txBody>
      </p:sp>
      <p:sp>
        <p:nvSpPr>
          <p:cNvPr id="1665"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666"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30 / 36</a:t>
            </a:r>
            <a:endParaRPr/>
          </a:p>
        </p:txBody>
      </p:sp>
    </p:spTree>
  </p:cSld>
</p:sld>
</file>

<file path=ppt/slides/slide31.xml><?xml version="1.0" encoding="utf-8"?>
<p:sld xmlns:p="http://schemas.openxmlformats.org/presentationml/2006/main" xmlns:a="http://schemas.openxmlformats.org/drawingml/2006/main">
  <p:cSld>
    <p:spTree>
      <p:nvGrpSpPr>
        <p:cNvPr id="1667" name="" descr="&lt;Slide style={{ width: 1280, height: 720, background: '#FFFFFF', padding: '24px 64px 0' }}&gt;&#10;    {/* A 区 */}&#10;    &lt;Box style={{ height: 96, flexDirection: 'column', justifyContent: 'flex-start' }}&gt;&#10;        &lt;Text style={{ fontSize: 32, fontWeight: 'bold', color: '#0F1423' }}&gt;&#10;            需求基线确认：&lt;span style={{ color: '#FA4F24' }}&gt;评审 → 冻结&lt;/span&gt;&#10;        &lt;/Text&gt;&#10;        &lt;Text style={{ fontSize: 19, color: '#8A8F99', marginTop: 7 }}&gt;&#10;            招标 3.3.3(3)：组织需求评审，逐项确认后冻结为需求基线，作为系统建设与后续验收的依据&#10;        &lt;/Text&gt;&#10;    &lt;/Box&gt;&#10;    &lt;Box style={{ height: 1, background: '#E8E8E8' }} /&gt;&#10;&#10;    {/* B 区 */}&#10;    &lt;Box style={{ paddingTop: 10, paddingBottom: 6, height: 479, flexDirection: 'column', gap: 8 }}&gt;&#10;        {/* 上：评审四步 */}&#10;        &lt;Box style={{ height: 130, flexDirection: 'row', gap: 6 }}&gt;&#10;            {[&#10;                { n: '1', t: '预审（我们内部）', d: '四份交付物交叉自查：需求条目是否都有痛点来源、实体属性是否都有标准引用、AI 场景是否都有评估指标', c: '#FA4F24', o: '自查表全过' },&#10;                { n: '2', t: '分域评审（按部门）', d: '九个部门分别评审与自己相关的 L5-L6 与实体属性，现场逐条确认角色、规则与例外处理', c: '#E0641E', o: '部门确认意见' },&#10;                { n: '3', t: '追溯抽查（当场抽）', d: '评审现场随机抽三条需求，从需求倒推回痛点原话；走不通当场修改，不允许会后补', c: '#C43A17', o: '追溯链验证记录' },&#10;                { n: '4', t: '冻结签字', d: '逐条确认后签字冻结，形成需求基线；明确基线版本号与生效日期', c: '#9E3410', o: '需求基线（冻结版）' },&#10;            ].map((x) =&gt; (&#10;                &lt;Box key={x.n} style={{ flex: 1, background: '#F7F7F8', borderRadius: 4, borderTop: '3px solid ' + x.c, padding: '12px 13px', flexDirection: 'column' }}&gt;&#10;                    &lt;Box style={{ flexDirection: 'row', alignItems: 'center', gap: 7 }}&gt;&#10;                        &lt;Box style={{ width: 22, height: 22, borderRadius: 11, background: x.c, alignItems: 'center', justifyContent: 'center', flexDirection: 'row' }}&gt;&#10;                            &lt;Text style={{ fontSize: 11.5, fontWeight: 'bold', color: '#FFFFFF' }}&gt;{x.n}&lt;/Text&gt;&#10;                        &lt;/Box&gt;&#10;                        &lt;Text style={{ fontSize: 13, fontWeight: 'bold', color: '#0F1423', flex: 1 }}&gt;{x.t}&lt;/Text&gt;&#10;                    &lt;/Box&gt;&#10;                    &lt;Text style={{ fontSize: 10.5, color: '#5A6070', lineHeight: 1.4, marginTop: 7, flex: 1 }}&gt;{x.d}&lt;/Text&gt;&#10;                    &lt;Box style={{ height: 26, background: x.c, borderRadius: 3, padding: '0 10px', flexDirection: 'row', alignItems: 'center' }}&gt;&#10;                        &lt;Text style={{ fontSize: 10.5, fontWeight: 'bold', color: '#FFFFFF' }}&gt;{x.o}&lt;/Text&gt;&#10;                    &lt;/Box&gt;&#10;                &lt;/Box&gt;&#10;            ))}&#10;        &lt;/Box&gt;&#10;&#10;        {/* 中：追溯矩阵 + 需求条目结构 */}&#10;        &lt;Box style={{ flex: 1, flexDirection: 'row', gap: 9, alignItems: 'stretch' }}&gt;&#10;            &lt;Box style={{ width: 640, background: '#FFFFFF', borderRadius: 4, border: '1px solid #E8E8E8', flexDirection: 'column' }}&gt;&#10;                &lt;Box style={{ height: 30, background: '#0F1423', borderRadius: 3, padding: '0 13px', flexDirection: 'row', alignItems: 'center' }}&gt;&#10;                    &lt;Text style={{ fontSize: 12.5, fontWeight: 'bold', color: '#FFFFFF' }}&gt;需求追溯矩阵（招标 3.4 第 4 项明确要求）&lt;/Text&gt;&#10;                &lt;/Box&gt;&#10;                &lt;Box style={{ flex: 1, padding: '10px 13px', flexDirection: 'column' }}&gt;&#10;                    &lt;Box style={{ height: 24, flexDirection: 'row', gap: 4 }}&gt;&#10;                        {['需求编号', '需求条目', '对应痛点', '所属 L5', '验收标准', '状态'].map((h, i) =&gt; (&#10;                            &lt;Box key={h} style={{ flex: i === 1 || i === 4 ? 2.4 : 1, background: '#F7F7F8', borderRadius: 3, padding: '0 8px', flexDirection: 'row', alignItems: 'center' }}&gt;&#10;                                &lt;Text style={{ fontSize: 10, fontWeight: 'bold', color: '#0F1423' }}&gt;{h}&lt;/Text&gt;&#10;                            &lt;/Box&gt;&#10;                        ))}&#10;                    &lt;/Box&gt;&#10;                    {[&#10;                        { n: 'REQ-E3-118', t: '工单自动挂接设备资产', p: 'PAIN-E3-07', l: 'L5-1 方案编制', a: '建单时自动带出设备型号与历史工单', s: '已确认' },&#10;                        { n: 'REQ-E3-125', t: '备件库存不足时走紧急领用', p: 'ROOT-E3-03', l: 'L5-2 检修执行', a: '库存不足自动转紧急流程并留痕', s: '已确认' },&#10;                        { n: 'REQ-S2-041', t: 'EBOM→MBOM 规则版本管理', p: 'PAIN-S2-02', l: 'L5 转换执行', a: '规则可维护、可回溯到版本', s: '待确认' },&#10;                        { n: 'REQ-E5-073', t: '四算口径裁定流程', p: 'PAIN-E5-04', l: 'L5 决算编制', a: '争议口径有裁定记录可查', s: '已确认' },&#10;                        { n: 'REQ-E3-131', t: '台账更新及时率看板', p: 'BLD-E3-05', l: 'L5-3 验收结算', a: '超时未更新自动预警', s: '已确认' },&#10;                    ].map((r) =&gt; (&#10;                        &lt;Box key={r.n} style={{ flex: 1, flexDirection: 'row', gap: 4, marginTop: 4 }}&gt;&#10;                            &lt;Box style={{ flex: 1, background: '#FFF3EE', borderRadius: 3, padding: '0 8px', flexDirection: 'row', alignItems: 'center' }}&gt;&#10;                                &lt;Text style={{ fontSize: 9.5, color: '#C43A17', fontWeight: 'bold' }}&gt;{r.n}&lt;/Text&gt;&#10;                            &lt;/Box&gt;&#10;                            &lt;Box style={{ flex: 2.4, background: '#F7F7F8', borderRadius: 3, padding: '0 8px', flexDirection: 'row', alignItems: 'center' }}&gt;&#10;                                &lt;Text style={{ fontSize: 9.5, color: '#0F1423' }}&gt;{r.t}&lt;/Text&gt;&#10;                            &lt;/Box&gt;&#10;                            &lt;Box style={{ flex: 1, background: '#F7F7F8', borderRadius: 3, padding: '0 8px', flexDirection: 'row', alignItems: 'center' }}&gt;&#10;                                &lt;Text style={{ fontSize: 9.5, color: '#5A6070' }}&gt;{r.p}&lt;/Text&gt;&#10;                            &lt;/Box&gt;&#10;                            &lt;Box style={{ flex: 1, background: '#F7F7F8', borderRadius: 3, padding: '0 8px', flexDirection: 'row', alignItems: 'center' }}&gt;&#10;                                &lt;Text style={{ fontSize: 9.5, color: '#5A6070' }}&gt;{r.l}&lt;/Text&gt;&#10;                            &lt;/Box&gt;&#10;                            &lt;Box style={{ flex: 2.4, background: '#F7F7F8', borderRadius: 3, padding: '0 8px', flexDirection: 'row', alignItems: 'center' }}&gt;&#10;                                &lt;Text style={{ fontSize: 9.5, color: '#3A4050', lineHeight: 1.25 }}&gt;{r.a}&lt;/Text&gt;&#10;                            &lt;/Box&gt;&#10;                            &lt;Box style={{ flex: 1, borderRadius: 3, padding: '0 8px', flexDirection: 'row', alignItems: 'center', background: r.s === '已确认' ? '#FA4F24' : '#FBA15C' }}&gt;&#10;                                &lt;Text style={{ fontSize: 9.5, color: '#FFFFFF', fontWeight: 'bold' }}&gt;{r.s}&lt;/Text&gt;&#10;                            &lt;/Box&gt;&#10;                        &lt;/Box&gt;&#10;                    ))}&#10;                &lt;/Box&gt;&#10;            &lt;/Box&gt;&#10;&#10;            &lt;Box style={{ flex: 1, flexDirection: 'column', gap: 7 }}&gt;&#10;                &lt;Box style={{ flex: 1, background: '#0F1423', borderRadius: 4, padding: '13px 16px', flexDirection: 'column' }}&gt;&#10;                    &lt;Text style={{ fontSize: 12, color: '#FBA15C', letterSpacing: 1 }}&gt;冻结之后：变更怎么走&lt;/Text&gt;&#10;                    {[&#10;                        { t: '变更申请', d: '提出方写明变更原因、影响范围（哪条 L5/哪个实体/哪个接口）' },&#10;                        { t: '影响评估', d: '评估对已冻结内容的影响与工作量，不接受口头变更' },&#10;                        { t: '基线升版', d: '评估通过后基线升版并记录变更历史，原版本可追溯' },&#10;                        { t: '不进基线的', d: '无来源、无验收标准的需求一律不进基线，走新增流程另议' },&#10;                    ].map((x, i) =&gt; (&#10;                        &lt;Box key={x.t} style={{ flexDirection: 'row', alignItems: 'flex-start', gap: 9, flex: 1, marginTop: i === 0 ? 9 : 4 }}&gt;&#10;                            &lt;Text style={{ fontSize: 10, color: '#FA4F24', fontWeight: 'bold' }}&gt;▪&lt;/Text&gt;&#10;                            &lt;Box style={{ flex: 1 }}&gt;&#10;                                &lt;Text style={{ fontSize: 11.5, fontWeight: 'bold', color: '#FFFFFF' }}&gt;{x.t}&lt;/Text&gt;&#10;                                &lt;Text style={{ fontSize: 10, color: 'rgba(255,255,255,0.82)', lineHeight: 1.3, marginTop: 2 }}&gt;{x.d}&lt;/Text&gt;&#10;                            &lt;/Box&gt;&#10;                        &lt;/Box&gt;&#10;                    ))}&#10;                &lt;/Box&gt;&#10;                &lt;Box style={{ height: 82, background: '#FFF3EE', borderRadius: 4, borderLeft: '4px solid #FA4F24', padding: '12px 15px', flexDirection: 'column', justifyContent: 'center' }}&gt;&#10;                    &lt;Text style={{ fontSize: 12.5, fontWeight: 'bold', color: '#C43A17' }}&gt;一条需求的完整结构（六要素）&lt;/Text&gt;&#10;                    &lt;Text style={{ fontSize: 10.5, color: '#3A4050', lineHeight: 1.5, marginTop: 6 }}&gt;&#10;                        需求编号 · 业务场景与用户角色 · 操作流程 · 业务规则与例外处理 · 验收标准 · 对应痛点编号。少任何一项不进入基线——尤其「验收标准」和「例外处理」。&#10;                    &lt;/Text&gt;&#10;                &lt;/Box&gt;&#10;            &lt;/Box&gt;&#10;        &lt;/Box&gt;&#10;&#10;        {/* 下 */}&#10;        &lt;Box style={{ height: 34, background: '#F7F7F8', borderRadius: 4, borderLeft: '4px solid #C43A17', padding: '0 16px', flexDirection: 'row', alignItems: 'center', gap: 14 }}&gt;&#10;            &lt;Text style={{ fontSize: 12, fontWeight: 'bold', color: '#C43A17', width: 118 }}&gt;经验之谈&lt;/Text&gt;&#10;            &lt;Text style={{ fontSize: 11.5, color: '#3A4050', flex: 1, lineHeight: 1.35 }}&gt;&#10;                评审会上最容易被跳过的就是「追溯抽查」。建议把它放在最后、并且要求当场抽——一旦允许会后补，整个追溯矩阵就会退化成凑数的表。&#10;            &lt;/Text&gt;&#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31 / 36&lt;/Text&gt;&#10;    &lt;/Box&gt;&#10;&lt;/Slide&gt;&#10;"/>
        <p:cNvGrpSpPr/>
        <p:nvPr/>
      </p:nvGrpSpPr>
      <p:grpSpPr>
        <a:xfrm>
          <a:off x="0" y="0"/>
          <a:ext cx="0" cy="0"/>
          <a:chOff x="0" y="0"/>
          <a:chExt cx="0" cy="0"/>
        </a:xfrm>
      </p:grpSpPr>
      <p:sp>
        <p:nvSpPr>
          <p:cNvPr id="1668" name=""/>
          <p:cNvSpPr/>
          <p:nvPr/>
        </p:nvSpPr>
        <p:spPr>
          <a:xfrm rot="0" flipH="0" flipV="0">
            <a:off x="0" y="0"/>
            <a:ext cx="12192000" cy="6858000"/>
          </a:xfrm>
          <a:prstGeom prst="rect">
            <a:avLst/>
          </a:prstGeom>
          <a:solidFill>
            <a:srgbClr val="FFFFFF"/>
          </a:solidFill>
          <a:ln/>
        </p:spPr>
        <p:txBody>
          <a:bodyPr/>
          <a:p/>
        </p:txBody>
      </p:sp>
      <p:sp>
        <p:nvSpPr>
          <p:cNvPr id="1669"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需求基线确认：</a:t>
            </a:r>
            <a:r>
              <a:rPr lang="zh-CN" sz="2400" b="1">
                <a:solidFill>
                  <a:srgbClr val="FA4F24"/>
                </a:solidFill>
                <a:latin typeface="Microsoft YaHei"/>
                <a:ea typeface="Microsoft YaHei"/>
              </a:rPr>
              <a:t>评审</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冻结</a:t>
            </a:r>
            <a:endParaRPr/>
          </a:p>
        </p:txBody>
      </p:sp>
      <p:sp>
        <p:nvSpPr>
          <p:cNvPr id="1670"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3.3.3(3)</a:t>
            </a:r>
            <a:r>
              <a:rPr lang="zh-CN" sz="1425">
                <a:solidFill>
                  <a:srgbClr val="8A8F99"/>
                </a:solidFill>
                <a:latin typeface="Microsoft YaHei"/>
                <a:ea typeface="Microsoft YaHei"/>
              </a:rPr>
              <a:t>：组织需求评审，逐项确认后冻结为需求基线，作为系统建设与后续验收的依据</a:t>
            </a:r>
            <a:endParaRPr/>
          </a:p>
        </p:txBody>
      </p:sp>
      <p:sp>
        <p:nvSpPr>
          <p:cNvPr id="1671" name=""/>
          <p:cNvSpPr/>
          <p:nvPr/>
        </p:nvSpPr>
        <p:spPr>
          <a:xfrm rot="0" flipH="0" flipV="0">
            <a:off x="609600" y="1143000"/>
            <a:ext cx="10972800" cy="9525"/>
          </a:xfrm>
          <a:prstGeom prst="rect">
            <a:avLst/>
          </a:prstGeom>
          <a:solidFill>
            <a:srgbClr val="E8E8E8"/>
          </a:solidFill>
          <a:ln/>
        </p:spPr>
        <p:txBody>
          <a:bodyPr/>
          <a:p/>
        </p:txBody>
      </p:sp>
      <p:sp>
        <p:nvSpPr>
          <p:cNvPr id="1672" name=""/>
          <p:cNvSpPr/>
          <p:nvPr/>
        </p:nvSpPr>
        <p:spPr>
          <a:xfrm rot="0" flipH="0" flipV="0">
            <a:off x="609600" y="1276350"/>
            <a:ext cx="2705100" cy="1238250"/>
          </a:xfrm>
          <a:prstGeom prst="roundRect">
            <a:avLst>
              <a:gd name="adj" fmla="val 3077"/>
            </a:avLst>
          </a:prstGeom>
          <a:solidFill>
            <a:srgbClr val="F7F7F8"/>
          </a:solidFill>
          <a:ln/>
        </p:spPr>
        <p:txBody>
          <a:bodyPr/>
          <a:p/>
        </p:txBody>
      </p:sp>
      <p:sp>
        <p:nvSpPr>
          <p:cNvPr id="1673" name=""/>
          <p:cNvSpPr/>
          <p:nvPr/>
        </p:nvSpPr>
        <p:spPr>
          <a:xfrm rot="0" flipH="0" flipV="0">
            <a:off x="609600" y="1276350"/>
            <a:ext cx="2705100" cy="1238250"/>
          </a:xfrm>
          <a:custGeom>
            <a:pathLst>
              <a:path w="284" h="130">
                <a:moveTo>
                  <a:pt x="280" y="0"/>
                </a:moveTo>
                <a:cubicBezTo>
                  <a:pt x="282" y="0"/>
                  <a:pt x="284" y="2"/>
                  <a:pt x="284" y="4"/>
                </a:cubicBezTo>
                <a:cubicBezTo>
                  <a:pt x="284" y="3"/>
                  <a:pt x="283" y="3"/>
                  <a:pt x="283" y="3"/>
                </a:cubicBezTo>
                <a:lnTo>
                  <a:pt x="1" y="3"/>
                </a:lnTo>
                <a:cubicBezTo>
                  <a:pt x="1" y="3"/>
                  <a:pt x="0" y="3"/>
                  <a:pt x="0" y="4"/>
                </a:cubicBezTo>
                <a:cubicBezTo>
                  <a:pt x="0" y="2"/>
                  <a:pt x="2" y="0"/>
                  <a:pt x="4" y="0"/>
                </a:cubicBezTo>
                <a:lnTo>
                  <a:pt x="280" y="0"/>
                </a:lnTo>
                <a:close/>
              </a:path>
            </a:pathLst>
          </a:custGeom>
          <a:solidFill>
            <a:srgbClr val="FA4F24"/>
          </a:solidFill>
          <a:ln/>
        </p:spPr>
        <p:txBody>
          <a:bodyPr/>
          <a:p/>
        </p:txBody>
      </p:sp>
      <p:sp>
        <p:nvSpPr>
          <p:cNvPr id="1674" name=""/>
          <p:cNvSpPr/>
          <p:nvPr/>
        </p:nvSpPr>
        <p:spPr>
          <a:xfrm rot="0" flipH="0" flipV="0">
            <a:off x="733425" y="1390650"/>
            <a:ext cx="209550" cy="209550"/>
          </a:xfrm>
          <a:prstGeom prst="roundRect">
            <a:avLst>
              <a:gd name="adj" fmla="val 50000"/>
            </a:avLst>
          </a:prstGeom>
          <a:solidFill>
            <a:srgbClr val="FA4F24"/>
          </a:solidFill>
          <a:ln/>
        </p:spPr>
        <p:txBody>
          <a:bodyPr/>
          <a:p/>
        </p:txBody>
      </p:sp>
      <p:sp>
        <p:nvSpPr>
          <p:cNvPr id="1675" name="" descr="{&quot;isTemplate&quot;:true,&quot;type&quot;:&quot;text&quot;}"/>
          <p:cNvSpPr txBox="1"/>
          <p:nvPr/>
        </p:nvSpPr>
        <p:spPr>
          <a:xfrm rot="0" flipH="0" flipV="0">
            <a:off x="800100" y="1428750"/>
            <a:ext cx="76200" cy="133350"/>
          </a:xfrm>
          <a:prstGeom prst="rect"/>
        </p:spPr>
        <p:txBody>
          <a:bodyPr wrap="none" lIns="0" tIns="0" rIns="0" bIns="0"/>
          <a:p>
            <a:pPr>
              <a:lnSpc>
                <a:spcPct val="100000"/>
              </a:lnSpc>
            </a:pPr>
            <a:r>
              <a:rPr lang="en-US" sz="863" b="1">
                <a:solidFill>
                  <a:srgbClr val="FFFFFF"/>
                </a:solidFill>
                <a:latin typeface="Microsoft YaHei"/>
                <a:ea typeface="Microsoft YaHei"/>
              </a:rPr>
              <a:t>1</a:t>
            </a:r>
            <a:endParaRPr/>
          </a:p>
        </p:txBody>
      </p:sp>
      <p:sp>
        <p:nvSpPr>
          <p:cNvPr id="1676" name="" descr="{&quot;isTemplate&quot;:true,&quot;type&quot;:&quot;text&quot;}"/>
          <p:cNvSpPr txBox="1"/>
          <p:nvPr/>
        </p:nvSpPr>
        <p:spPr>
          <a:xfrm rot="0" flipH="0" flipV="0">
            <a:off x="1009650" y="1419225"/>
            <a:ext cx="2181225" cy="152400"/>
          </a:xfrm>
          <a:prstGeom prst="rect"/>
        </p:spPr>
        <p:txBody>
          <a:bodyPr wrap="none" lIns="0" tIns="0" rIns="0" bIns="0"/>
          <a:p>
            <a:pPr>
              <a:lnSpc>
                <a:spcPct val="100000"/>
              </a:lnSpc>
            </a:pPr>
            <a:r>
              <a:rPr lang="zh-CN" sz="975" b="1">
                <a:solidFill>
                  <a:srgbClr val="0F1423"/>
                </a:solidFill>
                <a:latin typeface="Microsoft YaHei"/>
                <a:ea typeface="Microsoft YaHei"/>
              </a:rPr>
              <a:t>预审（我们内部）</a:t>
            </a:r>
            <a:endParaRPr/>
          </a:p>
        </p:txBody>
      </p:sp>
      <p:sp>
        <p:nvSpPr>
          <p:cNvPr id="1677" name="" descr="{&quot;isTemplate&quot;:true,&quot;type&quot;:&quot;text&quot;}"/>
          <p:cNvSpPr txBox="1"/>
          <p:nvPr/>
        </p:nvSpPr>
        <p:spPr>
          <a:xfrm rot="0" flipH="0" flipV="0">
            <a:off x="733425" y="1666875"/>
            <a:ext cx="2457450" cy="457200"/>
          </a:xfrm>
          <a:prstGeom prst="rect"/>
        </p:spPr>
        <p:txBody>
          <a:bodyPr wrap="square" lIns="0" tIns="0" rIns="0" bIns="0">
            <a:normAutofit/>
          </a:bodyPr>
          <a:p>
            <a:pPr>
              <a:lnSpc>
                <a:spcPct val="140000"/>
              </a:lnSpc>
            </a:pPr>
            <a:r>
              <a:rPr lang="zh-CN" sz="788">
                <a:solidFill>
                  <a:srgbClr val="5A6070"/>
                </a:solidFill>
                <a:latin typeface="Microsoft YaHei"/>
                <a:ea typeface="Microsoft YaHei"/>
              </a:rPr>
              <a:t>四份交付物交叉自查：需求条目是否都有痛点来源、实体属性是否都有标准引用、</a:t>
            </a:r>
            <a:r>
              <a:rPr lang="en-US" sz="788">
                <a:solidFill>
                  <a:srgbClr val="5A6070"/>
                </a:solidFill>
                <a:latin typeface="Microsoft YaHei"/>
                <a:ea typeface="Microsoft YaHei"/>
              </a:rPr>
              <a:t xml:space="preserve">AI </a:t>
            </a:r>
            <a:r>
              <a:rPr lang="zh-CN" sz="788">
                <a:solidFill>
                  <a:srgbClr val="5A6070"/>
                </a:solidFill>
                <a:latin typeface="Microsoft YaHei"/>
                <a:ea typeface="Microsoft YaHei"/>
              </a:rPr>
              <a:t>场景是否都有评估指标</a:t>
            </a:r>
            <a:endParaRPr/>
          </a:p>
        </p:txBody>
      </p:sp>
      <p:sp>
        <p:nvSpPr>
          <p:cNvPr id="1678" name=""/>
          <p:cNvSpPr/>
          <p:nvPr/>
        </p:nvSpPr>
        <p:spPr>
          <a:xfrm rot="0" flipH="0" flipV="0">
            <a:off x="733425" y="2124075"/>
            <a:ext cx="2457450" cy="247650"/>
          </a:xfrm>
          <a:prstGeom prst="roundRect">
            <a:avLst>
              <a:gd name="adj" fmla="val 11538"/>
            </a:avLst>
          </a:prstGeom>
          <a:solidFill>
            <a:srgbClr val="FA4F24"/>
          </a:solidFill>
          <a:ln/>
        </p:spPr>
        <p:txBody>
          <a:bodyPr/>
          <a:p/>
        </p:txBody>
      </p:sp>
      <p:sp>
        <p:nvSpPr>
          <p:cNvPr id="1679" name="" descr="{&quot;isTemplate&quot;:true,&quot;type&quot;:&quot;text&quot;}"/>
          <p:cNvSpPr txBox="1"/>
          <p:nvPr/>
        </p:nvSpPr>
        <p:spPr>
          <a:xfrm rot="0" flipH="0" flipV="0">
            <a:off x="828675" y="2190750"/>
            <a:ext cx="504825" cy="123825"/>
          </a:xfrm>
          <a:prstGeom prst="rect"/>
        </p:spPr>
        <p:txBody>
          <a:bodyPr wrap="none" lIns="0" tIns="0" rIns="0" bIns="0"/>
          <a:p>
            <a:pPr>
              <a:lnSpc>
                <a:spcPct val="100000"/>
              </a:lnSpc>
            </a:pPr>
            <a:r>
              <a:rPr lang="zh-CN" sz="788" b="1">
                <a:solidFill>
                  <a:srgbClr val="FFFFFF"/>
                </a:solidFill>
                <a:latin typeface="Microsoft YaHei"/>
                <a:ea typeface="Microsoft YaHei"/>
              </a:rPr>
              <a:t>自查表全过</a:t>
            </a:r>
            <a:endParaRPr/>
          </a:p>
        </p:txBody>
      </p:sp>
      <p:sp>
        <p:nvSpPr>
          <p:cNvPr id="1680" name=""/>
          <p:cNvSpPr/>
          <p:nvPr/>
        </p:nvSpPr>
        <p:spPr>
          <a:xfrm rot="0" flipH="0" flipV="0">
            <a:off x="3371850" y="1276350"/>
            <a:ext cx="2695575" cy="1238250"/>
          </a:xfrm>
          <a:prstGeom prst="roundRect">
            <a:avLst>
              <a:gd name="adj" fmla="val 3077"/>
            </a:avLst>
          </a:prstGeom>
          <a:solidFill>
            <a:srgbClr val="F7F7F8"/>
          </a:solidFill>
          <a:ln/>
        </p:spPr>
        <p:txBody>
          <a:bodyPr/>
          <a:p/>
        </p:txBody>
      </p:sp>
      <p:sp>
        <p:nvSpPr>
          <p:cNvPr id="1681" name=""/>
          <p:cNvSpPr/>
          <p:nvPr/>
        </p:nvSpPr>
        <p:spPr>
          <a:xfrm rot="0" flipH="0" flipV="0">
            <a:off x="3371850" y="1276350"/>
            <a:ext cx="2695575" cy="1238250"/>
          </a:xfrm>
          <a:custGeom>
            <a:pathLst>
              <a:path w="283" h="130">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E0641E"/>
          </a:solidFill>
          <a:ln/>
        </p:spPr>
        <p:txBody>
          <a:bodyPr/>
          <a:p/>
        </p:txBody>
      </p:sp>
      <p:sp>
        <p:nvSpPr>
          <p:cNvPr id="1682" name=""/>
          <p:cNvSpPr/>
          <p:nvPr/>
        </p:nvSpPr>
        <p:spPr>
          <a:xfrm rot="0" flipH="0" flipV="0">
            <a:off x="3495675" y="1390650"/>
            <a:ext cx="209550" cy="209550"/>
          </a:xfrm>
          <a:prstGeom prst="roundRect">
            <a:avLst>
              <a:gd name="adj" fmla="val 50000"/>
            </a:avLst>
          </a:prstGeom>
          <a:solidFill>
            <a:srgbClr val="E0641E"/>
          </a:solidFill>
          <a:ln/>
        </p:spPr>
        <p:txBody>
          <a:bodyPr/>
          <a:p/>
        </p:txBody>
      </p:sp>
      <p:sp>
        <p:nvSpPr>
          <p:cNvPr id="1683" name="" descr="{&quot;isTemplate&quot;:true,&quot;type&quot;:&quot;text&quot;}"/>
          <p:cNvSpPr txBox="1"/>
          <p:nvPr/>
        </p:nvSpPr>
        <p:spPr>
          <a:xfrm rot="0" flipH="0" flipV="0">
            <a:off x="3562350" y="1428750"/>
            <a:ext cx="76200" cy="133350"/>
          </a:xfrm>
          <a:prstGeom prst="rect"/>
        </p:spPr>
        <p:txBody>
          <a:bodyPr wrap="none" lIns="0" tIns="0" rIns="0" bIns="0"/>
          <a:p>
            <a:pPr>
              <a:lnSpc>
                <a:spcPct val="100000"/>
              </a:lnSpc>
            </a:pPr>
            <a:r>
              <a:rPr lang="en-US" sz="863" b="1">
                <a:solidFill>
                  <a:srgbClr val="FFFFFF"/>
                </a:solidFill>
                <a:latin typeface="Microsoft YaHei"/>
                <a:ea typeface="Microsoft YaHei"/>
              </a:rPr>
              <a:t>2</a:t>
            </a:r>
            <a:endParaRPr/>
          </a:p>
        </p:txBody>
      </p:sp>
      <p:sp>
        <p:nvSpPr>
          <p:cNvPr id="1684" name="" descr="{&quot;isTemplate&quot;:true,&quot;type&quot;:&quot;text&quot;}"/>
          <p:cNvSpPr txBox="1"/>
          <p:nvPr/>
        </p:nvSpPr>
        <p:spPr>
          <a:xfrm rot="0" flipH="0" flipV="0">
            <a:off x="3771900" y="1419225"/>
            <a:ext cx="2171700" cy="152400"/>
          </a:xfrm>
          <a:prstGeom prst="rect"/>
        </p:spPr>
        <p:txBody>
          <a:bodyPr wrap="none" lIns="0" tIns="0" rIns="0" bIns="0"/>
          <a:p>
            <a:pPr>
              <a:lnSpc>
                <a:spcPct val="100000"/>
              </a:lnSpc>
            </a:pPr>
            <a:r>
              <a:rPr lang="zh-CN" sz="975" b="1">
                <a:solidFill>
                  <a:srgbClr val="0F1423"/>
                </a:solidFill>
                <a:latin typeface="Microsoft YaHei"/>
                <a:ea typeface="Microsoft YaHei"/>
              </a:rPr>
              <a:t>分域评审（按部门）</a:t>
            </a:r>
            <a:endParaRPr/>
          </a:p>
        </p:txBody>
      </p:sp>
      <p:sp>
        <p:nvSpPr>
          <p:cNvPr id="1685" name="" descr="{&quot;isTemplate&quot;:true,&quot;type&quot;:&quot;text&quot;}"/>
          <p:cNvSpPr txBox="1"/>
          <p:nvPr/>
        </p:nvSpPr>
        <p:spPr>
          <a:xfrm rot="0" flipH="0" flipV="0">
            <a:off x="3495675" y="1666875"/>
            <a:ext cx="2447925" cy="457200"/>
          </a:xfrm>
          <a:prstGeom prst="rect"/>
        </p:spPr>
        <p:txBody>
          <a:bodyPr wrap="square" lIns="0" tIns="0" rIns="0" bIns="0">
            <a:normAutofit/>
          </a:bodyPr>
          <a:p>
            <a:pPr>
              <a:lnSpc>
                <a:spcPct val="140000"/>
              </a:lnSpc>
            </a:pPr>
            <a:r>
              <a:rPr lang="zh-CN" sz="788">
                <a:solidFill>
                  <a:srgbClr val="5A6070"/>
                </a:solidFill>
                <a:latin typeface="Microsoft YaHei"/>
                <a:ea typeface="Microsoft YaHei"/>
              </a:rPr>
              <a:t>九个部门分别评审与自己相关的</a:t>
            </a:r>
            <a:r>
              <a:rPr lang="en-US" sz="788">
                <a:solidFill>
                  <a:srgbClr val="5A6070"/>
                </a:solidFill>
                <a:latin typeface="Microsoft YaHei"/>
                <a:ea typeface="Microsoft YaHei"/>
              </a:rPr>
              <a:t xml:space="preserve"> L5-L6 </a:t>
            </a:r>
            <a:r>
              <a:rPr lang="zh-CN" sz="788">
                <a:solidFill>
                  <a:srgbClr val="5A6070"/>
                </a:solidFill>
                <a:latin typeface="Microsoft YaHei"/>
                <a:ea typeface="Microsoft YaHei"/>
              </a:rPr>
              <a:t>与实体属性，现场逐条确认角色、规则与例外处理</a:t>
            </a:r>
            <a:endParaRPr/>
          </a:p>
        </p:txBody>
      </p:sp>
      <p:sp>
        <p:nvSpPr>
          <p:cNvPr id="1686" name=""/>
          <p:cNvSpPr/>
          <p:nvPr/>
        </p:nvSpPr>
        <p:spPr>
          <a:xfrm rot="0" flipH="0" flipV="0">
            <a:off x="3495675" y="2124075"/>
            <a:ext cx="2447925" cy="247650"/>
          </a:xfrm>
          <a:prstGeom prst="roundRect">
            <a:avLst>
              <a:gd name="adj" fmla="val 11538"/>
            </a:avLst>
          </a:prstGeom>
          <a:solidFill>
            <a:srgbClr val="E0641E"/>
          </a:solidFill>
          <a:ln/>
        </p:spPr>
        <p:txBody>
          <a:bodyPr/>
          <a:p/>
        </p:txBody>
      </p:sp>
      <p:sp>
        <p:nvSpPr>
          <p:cNvPr id="1687" name="" descr="{&quot;isTemplate&quot;:true,&quot;type&quot;:&quot;text&quot;}"/>
          <p:cNvSpPr txBox="1"/>
          <p:nvPr/>
        </p:nvSpPr>
        <p:spPr>
          <a:xfrm rot="0" flipH="0" flipV="0">
            <a:off x="3590925" y="2190750"/>
            <a:ext cx="600075" cy="123825"/>
          </a:xfrm>
          <a:prstGeom prst="rect"/>
        </p:spPr>
        <p:txBody>
          <a:bodyPr wrap="none" lIns="0" tIns="0" rIns="0" bIns="0"/>
          <a:p>
            <a:pPr>
              <a:lnSpc>
                <a:spcPct val="100000"/>
              </a:lnSpc>
            </a:pPr>
            <a:r>
              <a:rPr lang="zh-CN" sz="788" b="1">
                <a:solidFill>
                  <a:srgbClr val="FFFFFF"/>
                </a:solidFill>
                <a:latin typeface="Microsoft YaHei"/>
                <a:ea typeface="Microsoft YaHei"/>
              </a:rPr>
              <a:t>部门确认意见</a:t>
            </a:r>
            <a:endParaRPr/>
          </a:p>
        </p:txBody>
      </p:sp>
      <p:sp>
        <p:nvSpPr>
          <p:cNvPr id="1688" name=""/>
          <p:cNvSpPr/>
          <p:nvPr/>
        </p:nvSpPr>
        <p:spPr>
          <a:xfrm rot="0" flipH="0" flipV="0">
            <a:off x="6124575" y="1276350"/>
            <a:ext cx="2705100" cy="1238250"/>
          </a:xfrm>
          <a:prstGeom prst="roundRect">
            <a:avLst>
              <a:gd name="adj" fmla="val 3077"/>
            </a:avLst>
          </a:prstGeom>
          <a:solidFill>
            <a:srgbClr val="F7F7F8"/>
          </a:solidFill>
          <a:ln/>
        </p:spPr>
        <p:txBody>
          <a:bodyPr/>
          <a:p/>
        </p:txBody>
      </p:sp>
      <p:sp>
        <p:nvSpPr>
          <p:cNvPr id="1689" name=""/>
          <p:cNvSpPr/>
          <p:nvPr/>
        </p:nvSpPr>
        <p:spPr>
          <a:xfrm rot="0" flipH="0" flipV="0">
            <a:off x="6124575" y="1276350"/>
            <a:ext cx="2705100" cy="1238250"/>
          </a:xfrm>
          <a:custGeom>
            <a:pathLst>
              <a:path w="284" h="130">
                <a:moveTo>
                  <a:pt x="280" y="0"/>
                </a:moveTo>
                <a:cubicBezTo>
                  <a:pt x="282" y="0"/>
                  <a:pt x="284" y="2"/>
                  <a:pt x="284" y="4"/>
                </a:cubicBezTo>
                <a:cubicBezTo>
                  <a:pt x="284" y="3"/>
                  <a:pt x="283" y="3"/>
                  <a:pt x="283" y="3"/>
                </a:cubicBezTo>
                <a:lnTo>
                  <a:pt x="1" y="3"/>
                </a:lnTo>
                <a:cubicBezTo>
                  <a:pt x="1" y="3"/>
                  <a:pt x="0" y="3"/>
                  <a:pt x="0" y="4"/>
                </a:cubicBezTo>
                <a:cubicBezTo>
                  <a:pt x="0" y="2"/>
                  <a:pt x="2" y="0"/>
                  <a:pt x="4" y="0"/>
                </a:cubicBezTo>
                <a:lnTo>
                  <a:pt x="280" y="0"/>
                </a:lnTo>
                <a:close/>
              </a:path>
            </a:pathLst>
          </a:custGeom>
          <a:solidFill>
            <a:srgbClr val="C43A17"/>
          </a:solidFill>
          <a:ln/>
        </p:spPr>
        <p:txBody>
          <a:bodyPr/>
          <a:p/>
        </p:txBody>
      </p:sp>
      <p:sp>
        <p:nvSpPr>
          <p:cNvPr id="1690" name=""/>
          <p:cNvSpPr/>
          <p:nvPr/>
        </p:nvSpPr>
        <p:spPr>
          <a:xfrm rot="0" flipH="0" flipV="0">
            <a:off x="6248400" y="1390650"/>
            <a:ext cx="209550" cy="209550"/>
          </a:xfrm>
          <a:prstGeom prst="roundRect">
            <a:avLst>
              <a:gd name="adj" fmla="val 50000"/>
            </a:avLst>
          </a:prstGeom>
          <a:solidFill>
            <a:srgbClr val="C43A17"/>
          </a:solidFill>
          <a:ln/>
        </p:spPr>
        <p:txBody>
          <a:bodyPr/>
          <a:p/>
        </p:txBody>
      </p:sp>
      <p:sp>
        <p:nvSpPr>
          <p:cNvPr id="1691" name="" descr="{&quot;isTemplate&quot;:true,&quot;type&quot;:&quot;text&quot;}"/>
          <p:cNvSpPr txBox="1"/>
          <p:nvPr/>
        </p:nvSpPr>
        <p:spPr>
          <a:xfrm rot="0" flipH="0" flipV="0">
            <a:off x="6315075" y="1428750"/>
            <a:ext cx="76200" cy="133350"/>
          </a:xfrm>
          <a:prstGeom prst="rect"/>
        </p:spPr>
        <p:txBody>
          <a:bodyPr wrap="none" lIns="0" tIns="0" rIns="0" bIns="0"/>
          <a:p>
            <a:pPr>
              <a:lnSpc>
                <a:spcPct val="100000"/>
              </a:lnSpc>
            </a:pPr>
            <a:r>
              <a:rPr lang="en-US" sz="863" b="1">
                <a:solidFill>
                  <a:srgbClr val="FFFFFF"/>
                </a:solidFill>
                <a:latin typeface="Microsoft YaHei"/>
                <a:ea typeface="Microsoft YaHei"/>
              </a:rPr>
              <a:t>3</a:t>
            </a:r>
            <a:endParaRPr/>
          </a:p>
        </p:txBody>
      </p:sp>
      <p:sp>
        <p:nvSpPr>
          <p:cNvPr id="1692" name="" descr="{&quot;isTemplate&quot;:true,&quot;type&quot;:&quot;text&quot;}"/>
          <p:cNvSpPr txBox="1"/>
          <p:nvPr/>
        </p:nvSpPr>
        <p:spPr>
          <a:xfrm rot="0" flipH="0" flipV="0">
            <a:off x="6524625" y="1419225"/>
            <a:ext cx="2181225" cy="152400"/>
          </a:xfrm>
          <a:prstGeom prst="rect"/>
        </p:spPr>
        <p:txBody>
          <a:bodyPr wrap="none" lIns="0" tIns="0" rIns="0" bIns="0"/>
          <a:p>
            <a:pPr>
              <a:lnSpc>
                <a:spcPct val="100000"/>
              </a:lnSpc>
            </a:pPr>
            <a:r>
              <a:rPr lang="zh-CN" sz="975" b="1">
                <a:solidFill>
                  <a:srgbClr val="0F1423"/>
                </a:solidFill>
                <a:latin typeface="Microsoft YaHei"/>
                <a:ea typeface="Microsoft YaHei"/>
              </a:rPr>
              <a:t>追溯抽查（当场抽）</a:t>
            </a:r>
            <a:endParaRPr/>
          </a:p>
        </p:txBody>
      </p:sp>
      <p:sp>
        <p:nvSpPr>
          <p:cNvPr id="1693" name="" descr="{&quot;isTemplate&quot;:true,&quot;type&quot;:&quot;text&quot;}"/>
          <p:cNvSpPr txBox="1"/>
          <p:nvPr/>
        </p:nvSpPr>
        <p:spPr>
          <a:xfrm rot="0" flipH="0" flipV="0">
            <a:off x="6248400" y="1666875"/>
            <a:ext cx="2457450" cy="457200"/>
          </a:xfrm>
          <a:prstGeom prst="rect"/>
        </p:spPr>
        <p:txBody>
          <a:bodyPr wrap="square" lIns="0" tIns="0" rIns="0" bIns="0">
            <a:normAutofit/>
          </a:bodyPr>
          <a:p>
            <a:pPr>
              <a:lnSpc>
                <a:spcPct val="140000"/>
              </a:lnSpc>
            </a:pPr>
            <a:r>
              <a:rPr lang="zh-CN" sz="788">
                <a:solidFill>
                  <a:srgbClr val="5A6070"/>
                </a:solidFill>
                <a:latin typeface="Microsoft YaHei"/>
                <a:ea typeface="Microsoft YaHei"/>
              </a:rPr>
              <a:t>评审现场随机抽三条需求，从需求倒推回痛点原话；走不通当场修改，不允许会后补</a:t>
            </a:r>
            <a:endParaRPr/>
          </a:p>
        </p:txBody>
      </p:sp>
      <p:sp>
        <p:nvSpPr>
          <p:cNvPr id="1694" name=""/>
          <p:cNvSpPr/>
          <p:nvPr/>
        </p:nvSpPr>
        <p:spPr>
          <a:xfrm rot="0" flipH="0" flipV="0">
            <a:off x="6248400" y="2124075"/>
            <a:ext cx="2457450" cy="247650"/>
          </a:xfrm>
          <a:prstGeom prst="roundRect">
            <a:avLst>
              <a:gd name="adj" fmla="val 11538"/>
            </a:avLst>
          </a:prstGeom>
          <a:solidFill>
            <a:srgbClr val="C43A17"/>
          </a:solidFill>
          <a:ln/>
        </p:spPr>
        <p:txBody>
          <a:bodyPr/>
          <a:p/>
        </p:txBody>
      </p:sp>
      <p:sp>
        <p:nvSpPr>
          <p:cNvPr id="1695" name="" descr="{&quot;isTemplate&quot;:true,&quot;type&quot;:&quot;text&quot;}"/>
          <p:cNvSpPr txBox="1"/>
          <p:nvPr/>
        </p:nvSpPr>
        <p:spPr>
          <a:xfrm rot="0" flipH="0" flipV="0">
            <a:off x="6343650" y="2190750"/>
            <a:ext cx="704850" cy="123825"/>
          </a:xfrm>
          <a:prstGeom prst="rect"/>
        </p:spPr>
        <p:txBody>
          <a:bodyPr wrap="none" lIns="0" tIns="0" rIns="0" bIns="0"/>
          <a:p>
            <a:pPr>
              <a:lnSpc>
                <a:spcPct val="100000"/>
              </a:lnSpc>
            </a:pPr>
            <a:r>
              <a:rPr lang="zh-CN" sz="788" b="1">
                <a:solidFill>
                  <a:srgbClr val="FFFFFF"/>
                </a:solidFill>
                <a:latin typeface="Microsoft YaHei"/>
                <a:ea typeface="Microsoft YaHei"/>
              </a:rPr>
              <a:t>追溯链验证记录</a:t>
            </a:r>
            <a:endParaRPr/>
          </a:p>
        </p:txBody>
      </p:sp>
      <p:sp>
        <p:nvSpPr>
          <p:cNvPr id="1696" name=""/>
          <p:cNvSpPr/>
          <p:nvPr/>
        </p:nvSpPr>
        <p:spPr>
          <a:xfrm rot="0" flipH="0" flipV="0">
            <a:off x="8886825" y="1276350"/>
            <a:ext cx="2695575" cy="1238250"/>
          </a:xfrm>
          <a:prstGeom prst="roundRect">
            <a:avLst>
              <a:gd name="adj" fmla="val 3077"/>
            </a:avLst>
          </a:prstGeom>
          <a:solidFill>
            <a:srgbClr val="F7F7F8"/>
          </a:solidFill>
          <a:ln/>
        </p:spPr>
        <p:txBody>
          <a:bodyPr/>
          <a:p/>
        </p:txBody>
      </p:sp>
      <p:sp>
        <p:nvSpPr>
          <p:cNvPr id="1697" name=""/>
          <p:cNvSpPr/>
          <p:nvPr/>
        </p:nvSpPr>
        <p:spPr>
          <a:xfrm rot="0" flipH="0" flipV="0">
            <a:off x="8886825" y="1276350"/>
            <a:ext cx="2695575" cy="1238250"/>
          </a:xfrm>
          <a:custGeom>
            <a:pathLst>
              <a:path w="283" h="130">
                <a:moveTo>
                  <a:pt x="279" y="0"/>
                </a:moveTo>
                <a:cubicBezTo>
                  <a:pt x="281" y="0"/>
                  <a:pt x="283" y="2"/>
                  <a:pt x="283" y="4"/>
                </a:cubicBezTo>
                <a:cubicBezTo>
                  <a:pt x="283" y="3"/>
                  <a:pt x="282" y="3"/>
                  <a:pt x="282" y="3"/>
                </a:cubicBezTo>
                <a:lnTo>
                  <a:pt x="1" y="3"/>
                </a:lnTo>
                <a:cubicBezTo>
                  <a:pt x="1" y="3"/>
                  <a:pt x="0" y="3"/>
                  <a:pt x="0" y="4"/>
                </a:cubicBezTo>
                <a:cubicBezTo>
                  <a:pt x="0" y="2"/>
                  <a:pt x="2" y="0"/>
                  <a:pt x="4" y="0"/>
                </a:cubicBezTo>
                <a:lnTo>
                  <a:pt x="279" y="0"/>
                </a:lnTo>
                <a:close/>
              </a:path>
            </a:pathLst>
          </a:custGeom>
          <a:solidFill>
            <a:srgbClr val="9E3410"/>
          </a:solidFill>
          <a:ln/>
        </p:spPr>
        <p:txBody>
          <a:bodyPr/>
          <a:p/>
        </p:txBody>
      </p:sp>
      <p:sp>
        <p:nvSpPr>
          <p:cNvPr id="1698" name=""/>
          <p:cNvSpPr/>
          <p:nvPr/>
        </p:nvSpPr>
        <p:spPr>
          <a:xfrm rot="0" flipH="0" flipV="0">
            <a:off x="9010650" y="1390650"/>
            <a:ext cx="209550" cy="209550"/>
          </a:xfrm>
          <a:prstGeom prst="roundRect">
            <a:avLst>
              <a:gd name="adj" fmla="val 50000"/>
            </a:avLst>
          </a:prstGeom>
          <a:solidFill>
            <a:srgbClr val="9E3410"/>
          </a:solidFill>
          <a:ln/>
        </p:spPr>
        <p:txBody>
          <a:bodyPr/>
          <a:p/>
        </p:txBody>
      </p:sp>
      <p:sp>
        <p:nvSpPr>
          <p:cNvPr id="1699" name="" descr="{&quot;isTemplate&quot;:true,&quot;type&quot;:&quot;text&quot;}"/>
          <p:cNvSpPr txBox="1"/>
          <p:nvPr/>
        </p:nvSpPr>
        <p:spPr>
          <a:xfrm rot="0" flipH="0" flipV="0">
            <a:off x="9077325" y="1428750"/>
            <a:ext cx="76200" cy="133350"/>
          </a:xfrm>
          <a:prstGeom prst="rect"/>
        </p:spPr>
        <p:txBody>
          <a:bodyPr wrap="none" lIns="0" tIns="0" rIns="0" bIns="0"/>
          <a:p>
            <a:pPr>
              <a:lnSpc>
                <a:spcPct val="100000"/>
              </a:lnSpc>
            </a:pPr>
            <a:r>
              <a:rPr lang="en-US" sz="863" b="1">
                <a:solidFill>
                  <a:srgbClr val="FFFFFF"/>
                </a:solidFill>
                <a:latin typeface="Microsoft YaHei"/>
                <a:ea typeface="Microsoft YaHei"/>
              </a:rPr>
              <a:t>4</a:t>
            </a:r>
            <a:endParaRPr/>
          </a:p>
        </p:txBody>
      </p:sp>
      <p:sp>
        <p:nvSpPr>
          <p:cNvPr id="1700" name="" descr="{&quot;isTemplate&quot;:true,&quot;type&quot;:&quot;text&quot;}"/>
          <p:cNvSpPr txBox="1"/>
          <p:nvPr/>
        </p:nvSpPr>
        <p:spPr>
          <a:xfrm rot="0" flipH="0" flipV="0">
            <a:off x="9286875" y="1419225"/>
            <a:ext cx="2171700" cy="152400"/>
          </a:xfrm>
          <a:prstGeom prst="rect"/>
        </p:spPr>
        <p:txBody>
          <a:bodyPr wrap="none" lIns="0" tIns="0" rIns="0" bIns="0"/>
          <a:p>
            <a:pPr>
              <a:lnSpc>
                <a:spcPct val="100000"/>
              </a:lnSpc>
            </a:pPr>
            <a:r>
              <a:rPr lang="zh-CN" sz="975" b="1">
                <a:solidFill>
                  <a:srgbClr val="0F1423"/>
                </a:solidFill>
                <a:latin typeface="Microsoft YaHei"/>
                <a:ea typeface="Microsoft YaHei"/>
              </a:rPr>
              <a:t>冻结签字</a:t>
            </a:r>
            <a:endParaRPr/>
          </a:p>
        </p:txBody>
      </p:sp>
      <p:sp>
        <p:nvSpPr>
          <p:cNvPr id="1701" name="" descr="{&quot;isTemplate&quot;:true,&quot;type&quot;:&quot;text&quot;}"/>
          <p:cNvSpPr txBox="1"/>
          <p:nvPr/>
        </p:nvSpPr>
        <p:spPr>
          <a:xfrm rot="0" flipH="0" flipV="0">
            <a:off x="9010650" y="1666875"/>
            <a:ext cx="2447925" cy="457200"/>
          </a:xfrm>
          <a:prstGeom prst="rect"/>
        </p:spPr>
        <p:txBody>
          <a:bodyPr wrap="square" lIns="0" tIns="0" rIns="0" bIns="0">
            <a:normAutofit/>
          </a:bodyPr>
          <a:p>
            <a:pPr>
              <a:lnSpc>
                <a:spcPct val="140000"/>
              </a:lnSpc>
            </a:pPr>
            <a:r>
              <a:rPr lang="zh-CN" sz="788">
                <a:solidFill>
                  <a:srgbClr val="5A6070"/>
                </a:solidFill>
                <a:latin typeface="Microsoft YaHei"/>
                <a:ea typeface="Microsoft YaHei"/>
              </a:rPr>
              <a:t>逐条确认后签字冻结，形成需求基线；明确基线版本号与生效日期</a:t>
            </a:r>
            <a:endParaRPr/>
          </a:p>
        </p:txBody>
      </p:sp>
      <p:sp>
        <p:nvSpPr>
          <p:cNvPr id="1702" name=""/>
          <p:cNvSpPr/>
          <p:nvPr/>
        </p:nvSpPr>
        <p:spPr>
          <a:xfrm rot="0" flipH="0" flipV="0">
            <a:off x="9010650" y="2124075"/>
            <a:ext cx="2447925" cy="247650"/>
          </a:xfrm>
          <a:prstGeom prst="roundRect">
            <a:avLst>
              <a:gd name="adj" fmla="val 11538"/>
            </a:avLst>
          </a:prstGeom>
          <a:solidFill>
            <a:srgbClr val="9E3410"/>
          </a:solidFill>
          <a:ln/>
        </p:spPr>
        <p:txBody>
          <a:bodyPr/>
          <a:p/>
        </p:txBody>
      </p:sp>
      <p:sp>
        <p:nvSpPr>
          <p:cNvPr id="1703" name="" descr="{&quot;isTemplate&quot;:true,&quot;type&quot;:&quot;text&quot;}"/>
          <p:cNvSpPr txBox="1"/>
          <p:nvPr/>
        </p:nvSpPr>
        <p:spPr>
          <a:xfrm rot="0" flipH="0" flipV="0">
            <a:off x="9105900" y="2190750"/>
            <a:ext cx="904875" cy="123825"/>
          </a:xfrm>
          <a:prstGeom prst="rect"/>
        </p:spPr>
        <p:txBody>
          <a:bodyPr wrap="none" lIns="0" tIns="0" rIns="0" bIns="0"/>
          <a:p>
            <a:pPr>
              <a:lnSpc>
                <a:spcPct val="100000"/>
              </a:lnSpc>
            </a:pPr>
            <a:r>
              <a:rPr lang="zh-CN" sz="788" b="1">
                <a:solidFill>
                  <a:srgbClr val="FFFFFF"/>
                </a:solidFill>
                <a:latin typeface="Microsoft YaHei"/>
                <a:ea typeface="Microsoft YaHei"/>
              </a:rPr>
              <a:t>需求基线（冻结版）</a:t>
            </a:r>
            <a:endParaRPr/>
          </a:p>
        </p:txBody>
      </p:sp>
      <p:sp>
        <p:nvSpPr>
          <p:cNvPr id="1704" name=""/>
          <p:cNvSpPr/>
          <p:nvPr/>
        </p:nvSpPr>
        <p:spPr>
          <a:xfrm rot="0" flipH="0" flipV="0">
            <a:off x="609600" y="2562225"/>
            <a:ext cx="6096000" cy="2695575"/>
          </a:xfrm>
          <a:prstGeom prst="roundRect">
            <a:avLst>
              <a:gd name="adj" fmla="val 1413"/>
            </a:avLst>
          </a:prstGeom>
          <a:solidFill>
            <a:srgbClr val="FFFFFF"/>
          </a:solidFill>
          <a:ln w="12700">
            <a:solidFill>
              <a:srgbClr val="E8E8E8"/>
            </a:solidFill>
            <a:prstDash val="solid"/>
          </a:ln>
        </p:spPr>
        <p:txBody>
          <a:bodyPr/>
          <a:p/>
        </p:txBody>
      </p:sp>
      <p:sp>
        <p:nvSpPr>
          <p:cNvPr id="1705" name=""/>
          <p:cNvSpPr/>
          <p:nvPr/>
        </p:nvSpPr>
        <p:spPr>
          <a:xfrm rot="0" flipH="0" flipV="0">
            <a:off x="609600" y="2562225"/>
            <a:ext cx="6096000" cy="285750"/>
          </a:xfrm>
          <a:prstGeom prst="roundRect">
            <a:avLst>
              <a:gd name="adj" fmla="val 10000"/>
            </a:avLst>
          </a:prstGeom>
          <a:solidFill>
            <a:srgbClr val="0F1423"/>
          </a:solidFill>
          <a:ln/>
        </p:spPr>
        <p:txBody>
          <a:bodyPr/>
          <a:p/>
        </p:txBody>
      </p:sp>
      <p:sp>
        <p:nvSpPr>
          <p:cNvPr id="1706" name="" descr="{&quot;isTemplate&quot;:true,&quot;type&quot;:&quot;text&quot;}"/>
          <p:cNvSpPr txBox="1"/>
          <p:nvPr/>
        </p:nvSpPr>
        <p:spPr>
          <a:xfrm rot="0" flipH="0" flipV="0">
            <a:off x="733425" y="2638425"/>
            <a:ext cx="2305050" cy="142875"/>
          </a:xfrm>
          <a:prstGeom prst="rect"/>
        </p:spPr>
        <p:txBody>
          <a:bodyPr wrap="none" lIns="0" tIns="0" rIns="0" bIns="0"/>
          <a:p>
            <a:pPr>
              <a:lnSpc>
                <a:spcPct val="100000"/>
              </a:lnSpc>
            </a:pPr>
            <a:r>
              <a:rPr lang="zh-CN" sz="938" b="1">
                <a:solidFill>
                  <a:srgbClr val="FFFFFF"/>
                </a:solidFill>
                <a:latin typeface="Microsoft YaHei"/>
                <a:ea typeface="Microsoft YaHei"/>
              </a:rPr>
              <a:t>需求追溯矩阵（招标</a:t>
            </a:r>
            <a:r>
              <a:rPr lang="en-US" sz="938" b="1">
                <a:solidFill>
                  <a:srgbClr val="FFFFFF"/>
                </a:solidFill>
                <a:latin typeface="Microsoft YaHei"/>
                <a:ea typeface="Microsoft YaHei"/>
              </a:rPr>
              <a:t xml:space="preserve"> 3.4 </a:t>
            </a:r>
            <a:r>
              <a:rPr lang="zh-CN" sz="938" b="1">
                <a:solidFill>
                  <a:srgbClr val="FFFFFF"/>
                </a:solidFill>
                <a:latin typeface="Microsoft YaHei"/>
                <a:ea typeface="Microsoft YaHei"/>
              </a:rPr>
              <a:t>第</a:t>
            </a:r>
            <a:r>
              <a:rPr lang="en-US" sz="938" b="1">
                <a:solidFill>
                  <a:srgbClr val="FFFFFF"/>
                </a:solidFill>
                <a:latin typeface="Microsoft YaHei"/>
                <a:ea typeface="Microsoft YaHei"/>
              </a:rPr>
              <a:t xml:space="preserve"> 4 </a:t>
            </a:r>
            <a:r>
              <a:rPr lang="zh-CN" sz="938" b="1">
                <a:solidFill>
                  <a:srgbClr val="FFFFFF"/>
                </a:solidFill>
                <a:latin typeface="Microsoft YaHei"/>
                <a:ea typeface="Microsoft YaHei"/>
              </a:rPr>
              <a:t>项明确要求）</a:t>
            </a:r>
            <a:endParaRPr/>
          </a:p>
        </p:txBody>
      </p:sp>
      <p:sp>
        <p:nvSpPr>
          <p:cNvPr id="1707" name=""/>
          <p:cNvSpPr/>
          <p:nvPr/>
        </p:nvSpPr>
        <p:spPr>
          <a:xfrm rot="0" flipH="0" flipV="0">
            <a:off x="733425" y="2943225"/>
            <a:ext cx="647700" cy="228600"/>
          </a:xfrm>
          <a:prstGeom prst="roundRect">
            <a:avLst>
              <a:gd name="adj" fmla="val 12500"/>
            </a:avLst>
          </a:prstGeom>
          <a:solidFill>
            <a:srgbClr val="F7F7F8"/>
          </a:solidFill>
          <a:ln/>
        </p:spPr>
        <p:txBody>
          <a:bodyPr/>
          <a:p/>
        </p:txBody>
      </p:sp>
      <p:sp>
        <p:nvSpPr>
          <p:cNvPr id="1708" name="" descr="{&quot;isTemplate&quot;:true,&quot;type&quot;:&quot;text&quot;}"/>
          <p:cNvSpPr txBox="1"/>
          <p:nvPr/>
        </p:nvSpPr>
        <p:spPr>
          <a:xfrm rot="0" flipH="0" flipV="0">
            <a:off x="809625" y="3000375"/>
            <a:ext cx="381000" cy="114300"/>
          </a:xfrm>
          <a:prstGeom prst="rect"/>
        </p:spPr>
        <p:txBody>
          <a:bodyPr wrap="none" lIns="0" tIns="0" rIns="0" bIns="0"/>
          <a:p>
            <a:pPr>
              <a:lnSpc>
                <a:spcPct val="100000"/>
              </a:lnSpc>
            </a:pPr>
            <a:r>
              <a:rPr lang="zh-CN" sz="750" b="1">
                <a:solidFill>
                  <a:srgbClr val="0F1423"/>
                </a:solidFill>
                <a:latin typeface="Microsoft YaHei"/>
                <a:ea typeface="Microsoft YaHei"/>
              </a:rPr>
              <a:t>需求编号</a:t>
            </a:r>
            <a:endParaRPr/>
          </a:p>
        </p:txBody>
      </p:sp>
      <p:sp>
        <p:nvSpPr>
          <p:cNvPr id="1709" name=""/>
          <p:cNvSpPr/>
          <p:nvPr/>
        </p:nvSpPr>
        <p:spPr>
          <a:xfrm rot="0" flipH="0" flipV="0">
            <a:off x="1419225" y="2943225"/>
            <a:ext cx="1543050" cy="228600"/>
          </a:xfrm>
          <a:prstGeom prst="roundRect">
            <a:avLst>
              <a:gd name="adj" fmla="val 12500"/>
            </a:avLst>
          </a:prstGeom>
          <a:solidFill>
            <a:srgbClr val="F7F7F8"/>
          </a:solidFill>
          <a:ln/>
        </p:spPr>
        <p:txBody>
          <a:bodyPr/>
          <a:p/>
        </p:txBody>
      </p:sp>
      <p:sp>
        <p:nvSpPr>
          <p:cNvPr id="1710" name="" descr="{&quot;isTemplate&quot;:true,&quot;type&quot;:&quot;text&quot;}"/>
          <p:cNvSpPr txBox="1"/>
          <p:nvPr/>
        </p:nvSpPr>
        <p:spPr>
          <a:xfrm rot="0" flipH="0" flipV="0">
            <a:off x="1495425" y="3000375"/>
            <a:ext cx="381000" cy="114300"/>
          </a:xfrm>
          <a:prstGeom prst="rect"/>
        </p:spPr>
        <p:txBody>
          <a:bodyPr wrap="none" lIns="0" tIns="0" rIns="0" bIns="0"/>
          <a:p>
            <a:pPr>
              <a:lnSpc>
                <a:spcPct val="100000"/>
              </a:lnSpc>
            </a:pPr>
            <a:r>
              <a:rPr lang="zh-CN" sz="750" b="1">
                <a:solidFill>
                  <a:srgbClr val="0F1423"/>
                </a:solidFill>
                <a:latin typeface="Microsoft YaHei"/>
                <a:ea typeface="Microsoft YaHei"/>
              </a:rPr>
              <a:t>需求条目</a:t>
            </a:r>
            <a:endParaRPr/>
          </a:p>
        </p:txBody>
      </p:sp>
      <p:sp>
        <p:nvSpPr>
          <p:cNvPr id="1711" name=""/>
          <p:cNvSpPr/>
          <p:nvPr/>
        </p:nvSpPr>
        <p:spPr>
          <a:xfrm rot="0" flipH="0" flipV="0">
            <a:off x="3000375" y="2943225"/>
            <a:ext cx="638175" cy="228600"/>
          </a:xfrm>
          <a:prstGeom prst="roundRect">
            <a:avLst>
              <a:gd name="adj" fmla="val 12500"/>
            </a:avLst>
          </a:prstGeom>
          <a:solidFill>
            <a:srgbClr val="F7F7F8"/>
          </a:solidFill>
          <a:ln/>
        </p:spPr>
        <p:txBody>
          <a:bodyPr/>
          <a:p/>
        </p:txBody>
      </p:sp>
      <p:sp>
        <p:nvSpPr>
          <p:cNvPr id="1712" name="" descr="{&quot;isTemplate&quot;:true,&quot;type&quot;:&quot;text&quot;}"/>
          <p:cNvSpPr txBox="1"/>
          <p:nvPr/>
        </p:nvSpPr>
        <p:spPr>
          <a:xfrm rot="0" flipH="0" flipV="0">
            <a:off x="3076575" y="3000375"/>
            <a:ext cx="381000" cy="114300"/>
          </a:xfrm>
          <a:prstGeom prst="rect"/>
        </p:spPr>
        <p:txBody>
          <a:bodyPr wrap="none" lIns="0" tIns="0" rIns="0" bIns="0"/>
          <a:p>
            <a:pPr>
              <a:lnSpc>
                <a:spcPct val="100000"/>
              </a:lnSpc>
            </a:pPr>
            <a:r>
              <a:rPr lang="zh-CN" sz="750" b="1">
                <a:solidFill>
                  <a:srgbClr val="0F1423"/>
                </a:solidFill>
                <a:latin typeface="Microsoft YaHei"/>
                <a:ea typeface="Microsoft YaHei"/>
              </a:rPr>
              <a:t>对应痛点</a:t>
            </a:r>
            <a:endParaRPr/>
          </a:p>
        </p:txBody>
      </p:sp>
      <p:sp>
        <p:nvSpPr>
          <p:cNvPr id="1713" name=""/>
          <p:cNvSpPr/>
          <p:nvPr/>
        </p:nvSpPr>
        <p:spPr>
          <a:xfrm rot="0" flipH="0" flipV="0">
            <a:off x="3676650" y="2943225"/>
            <a:ext cx="647700" cy="228600"/>
          </a:xfrm>
          <a:prstGeom prst="roundRect">
            <a:avLst>
              <a:gd name="adj" fmla="val 12500"/>
            </a:avLst>
          </a:prstGeom>
          <a:solidFill>
            <a:srgbClr val="F7F7F8"/>
          </a:solidFill>
          <a:ln/>
        </p:spPr>
        <p:txBody>
          <a:bodyPr/>
          <a:p/>
        </p:txBody>
      </p:sp>
      <p:sp>
        <p:nvSpPr>
          <p:cNvPr id="1714" name="" descr="{&quot;isTemplate&quot;:true,&quot;type&quot;:&quot;text&quot;}"/>
          <p:cNvSpPr txBox="1"/>
          <p:nvPr/>
        </p:nvSpPr>
        <p:spPr>
          <a:xfrm rot="0" flipH="0" flipV="0">
            <a:off x="3752850" y="3000375"/>
            <a:ext cx="333375" cy="114300"/>
          </a:xfrm>
          <a:prstGeom prst="rect"/>
        </p:spPr>
        <p:txBody>
          <a:bodyPr wrap="none" lIns="0" tIns="0" rIns="0" bIns="0"/>
          <a:p>
            <a:pPr>
              <a:lnSpc>
                <a:spcPct val="100000"/>
              </a:lnSpc>
            </a:pPr>
            <a:r>
              <a:rPr lang="zh-CN" sz="750" b="1">
                <a:solidFill>
                  <a:srgbClr val="0F1423"/>
                </a:solidFill>
                <a:latin typeface="Microsoft YaHei"/>
                <a:ea typeface="Microsoft YaHei"/>
              </a:rPr>
              <a:t>所属</a:t>
            </a:r>
            <a:r>
              <a:rPr lang="en-US" sz="750" b="1">
                <a:solidFill>
                  <a:srgbClr val="0F1423"/>
                </a:solidFill>
                <a:latin typeface="Microsoft YaHei"/>
                <a:ea typeface="Microsoft YaHei"/>
              </a:rPr>
              <a:t xml:space="preserve"> L5</a:t>
            </a:r>
            <a:endParaRPr/>
          </a:p>
        </p:txBody>
      </p:sp>
      <p:sp>
        <p:nvSpPr>
          <p:cNvPr id="1715" name=""/>
          <p:cNvSpPr/>
          <p:nvPr/>
        </p:nvSpPr>
        <p:spPr>
          <a:xfrm rot="0" flipH="0" flipV="0">
            <a:off x="4362450" y="2943225"/>
            <a:ext cx="1543050" cy="228600"/>
          </a:xfrm>
          <a:prstGeom prst="roundRect">
            <a:avLst>
              <a:gd name="adj" fmla="val 12500"/>
            </a:avLst>
          </a:prstGeom>
          <a:solidFill>
            <a:srgbClr val="F7F7F8"/>
          </a:solidFill>
          <a:ln/>
        </p:spPr>
        <p:txBody>
          <a:bodyPr/>
          <a:p/>
        </p:txBody>
      </p:sp>
      <p:sp>
        <p:nvSpPr>
          <p:cNvPr id="1716" name="" descr="{&quot;isTemplate&quot;:true,&quot;type&quot;:&quot;text&quot;}"/>
          <p:cNvSpPr txBox="1"/>
          <p:nvPr/>
        </p:nvSpPr>
        <p:spPr>
          <a:xfrm rot="0" flipH="0" flipV="0">
            <a:off x="4438650" y="3000375"/>
            <a:ext cx="381000" cy="114300"/>
          </a:xfrm>
          <a:prstGeom prst="rect"/>
        </p:spPr>
        <p:txBody>
          <a:bodyPr wrap="none" lIns="0" tIns="0" rIns="0" bIns="0"/>
          <a:p>
            <a:pPr>
              <a:lnSpc>
                <a:spcPct val="100000"/>
              </a:lnSpc>
            </a:pPr>
            <a:r>
              <a:rPr lang="zh-CN" sz="750" b="1">
                <a:solidFill>
                  <a:srgbClr val="0F1423"/>
                </a:solidFill>
                <a:latin typeface="Microsoft YaHei"/>
                <a:ea typeface="Microsoft YaHei"/>
              </a:rPr>
              <a:t>验收标准</a:t>
            </a:r>
            <a:endParaRPr/>
          </a:p>
        </p:txBody>
      </p:sp>
      <p:sp>
        <p:nvSpPr>
          <p:cNvPr id="1717" name=""/>
          <p:cNvSpPr/>
          <p:nvPr/>
        </p:nvSpPr>
        <p:spPr>
          <a:xfrm rot="0" flipH="0" flipV="0">
            <a:off x="5943600" y="2943225"/>
            <a:ext cx="638175" cy="228600"/>
          </a:xfrm>
          <a:prstGeom prst="roundRect">
            <a:avLst>
              <a:gd name="adj" fmla="val 12500"/>
            </a:avLst>
          </a:prstGeom>
          <a:solidFill>
            <a:srgbClr val="F7F7F8"/>
          </a:solidFill>
          <a:ln/>
        </p:spPr>
        <p:txBody>
          <a:bodyPr/>
          <a:p/>
        </p:txBody>
      </p:sp>
      <p:sp>
        <p:nvSpPr>
          <p:cNvPr id="1718" name="" descr="{&quot;isTemplate&quot;:true,&quot;type&quot;:&quot;text&quot;}"/>
          <p:cNvSpPr txBox="1"/>
          <p:nvPr/>
        </p:nvSpPr>
        <p:spPr>
          <a:xfrm rot="0" flipH="0" flipV="0">
            <a:off x="6019800" y="3000375"/>
            <a:ext cx="190500" cy="114300"/>
          </a:xfrm>
          <a:prstGeom prst="rect"/>
        </p:spPr>
        <p:txBody>
          <a:bodyPr wrap="none" lIns="0" tIns="0" rIns="0" bIns="0"/>
          <a:p>
            <a:pPr>
              <a:lnSpc>
                <a:spcPct val="100000"/>
              </a:lnSpc>
            </a:pPr>
            <a:r>
              <a:rPr lang="zh-CN" sz="750" b="1">
                <a:solidFill>
                  <a:srgbClr val="0F1423"/>
                </a:solidFill>
                <a:latin typeface="Microsoft YaHei"/>
                <a:ea typeface="Microsoft YaHei"/>
              </a:rPr>
              <a:t>状态</a:t>
            </a:r>
            <a:endParaRPr/>
          </a:p>
        </p:txBody>
      </p:sp>
      <p:sp>
        <p:nvSpPr>
          <p:cNvPr id="1719" name=""/>
          <p:cNvSpPr/>
          <p:nvPr/>
        </p:nvSpPr>
        <p:spPr>
          <a:xfrm rot="0" flipH="0" flipV="0">
            <a:off x="733425" y="3209925"/>
            <a:ext cx="647700" cy="409575"/>
          </a:xfrm>
          <a:prstGeom prst="roundRect">
            <a:avLst>
              <a:gd name="adj" fmla="val 6977"/>
            </a:avLst>
          </a:prstGeom>
          <a:solidFill>
            <a:srgbClr val="FFF3EE"/>
          </a:solidFill>
          <a:ln/>
        </p:spPr>
        <p:txBody>
          <a:bodyPr/>
          <a:p/>
        </p:txBody>
      </p:sp>
      <p:sp>
        <p:nvSpPr>
          <p:cNvPr id="1720" name="" descr="{&quot;isTemplate&quot;:true,&quot;type&quot;:&quot;text&quot;}"/>
          <p:cNvSpPr txBox="1"/>
          <p:nvPr/>
        </p:nvSpPr>
        <p:spPr>
          <a:xfrm rot="0" flipH="0" flipV="0">
            <a:off x="809625" y="3305175"/>
            <a:ext cx="495300" cy="219075"/>
          </a:xfrm>
          <a:prstGeom prst="rect"/>
        </p:spPr>
        <p:txBody>
          <a:bodyPr wrap="square" lIns="0" tIns="0" rIns="0" bIns="0">
            <a:normAutofit/>
          </a:bodyPr>
          <a:p>
            <a:pPr>
              <a:lnSpc>
                <a:spcPct val="100000"/>
              </a:lnSpc>
            </a:pPr>
            <a:r>
              <a:rPr lang="en-US" sz="713" b="1">
                <a:solidFill>
                  <a:srgbClr val="C43A17"/>
                </a:solidFill>
                <a:latin typeface="Microsoft YaHei"/>
                <a:ea typeface="Microsoft YaHei"/>
              </a:rPr>
              <a:t>REQ-E3-118</a:t>
            </a:r>
            <a:endParaRPr/>
          </a:p>
        </p:txBody>
      </p:sp>
      <p:sp>
        <p:nvSpPr>
          <p:cNvPr id="1721" name=""/>
          <p:cNvSpPr/>
          <p:nvPr/>
        </p:nvSpPr>
        <p:spPr>
          <a:xfrm rot="0" flipH="0" flipV="0">
            <a:off x="1419225" y="3209925"/>
            <a:ext cx="1543050" cy="409575"/>
          </a:xfrm>
          <a:prstGeom prst="roundRect">
            <a:avLst>
              <a:gd name="adj" fmla="val 6977"/>
            </a:avLst>
          </a:prstGeom>
          <a:solidFill>
            <a:srgbClr val="F7F7F8"/>
          </a:solidFill>
          <a:ln/>
        </p:spPr>
        <p:txBody>
          <a:bodyPr/>
          <a:p/>
        </p:txBody>
      </p:sp>
      <p:sp>
        <p:nvSpPr>
          <p:cNvPr id="1722" name="" descr="{&quot;isTemplate&quot;:true,&quot;type&quot;:&quot;text&quot;}"/>
          <p:cNvSpPr txBox="1"/>
          <p:nvPr/>
        </p:nvSpPr>
        <p:spPr>
          <a:xfrm rot="0" flipH="0" flipV="0">
            <a:off x="1495425" y="3362325"/>
            <a:ext cx="904875" cy="114300"/>
          </a:xfrm>
          <a:prstGeom prst="rect"/>
        </p:spPr>
        <p:txBody>
          <a:bodyPr wrap="none" lIns="0" tIns="0" rIns="0" bIns="0"/>
          <a:p>
            <a:pPr>
              <a:lnSpc>
                <a:spcPct val="100000"/>
              </a:lnSpc>
            </a:pPr>
            <a:r>
              <a:rPr lang="zh-CN" sz="713">
                <a:solidFill>
                  <a:srgbClr val="0F1423"/>
                </a:solidFill>
                <a:latin typeface="Microsoft YaHei"/>
                <a:ea typeface="Microsoft YaHei"/>
              </a:rPr>
              <a:t>工单自动挂接设备资产</a:t>
            </a:r>
            <a:endParaRPr/>
          </a:p>
        </p:txBody>
      </p:sp>
      <p:sp>
        <p:nvSpPr>
          <p:cNvPr id="1723" name=""/>
          <p:cNvSpPr/>
          <p:nvPr/>
        </p:nvSpPr>
        <p:spPr>
          <a:xfrm rot="0" flipH="0" flipV="0">
            <a:off x="3000375" y="3209925"/>
            <a:ext cx="638175" cy="409575"/>
          </a:xfrm>
          <a:prstGeom prst="roundRect">
            <a:avLst>
              <a:gd name="adj" fmla="val 6977"/>
            </a:avLst>
          </a:prstGeom>
          <a:solidFill>
            <a:srgbClr val="F7F7F8"/>
          </a:solidFill>
          <a:ln/>
        </p:spPr>
        <p:txBody>
          <a:bodyPr/>
          <a:p/>
        </p:txBody>
      </p:sp>
      <p:sp>
        <p:nvSpPr>
          <p:cNvPr id="1724" name="" descr="{&quot;isTemplate&quot;:true,&quot;type&quot;:&quot;text&quot;}"/>
          <p:cNvSpPr txBox="1"/>
          <p:nvPr/>
        </p:nvSpPr>
        <p:spPr>
          <a:xfrm rot="0" flipH="0" flipV="0">
            <a:off x="3076575" y="3305175"/>
            <a:ext cx="485775" cy="219075"/>
          </a:xfrm>
          <a:prstGeom prst="rect"/>
        </p:spPr>
        <p:txBody>
          <a:bodyPr wrap="square" lIns="0" tIns="0" rIns="0" bIns="0">
            <a:normAutofit/>
          </a:bodyPr>
          <a:p>
            <a:pPr>
              <a:lnSpc>
                <a:spcPct val="100000"/>
              </a:lnSpc>
            </a:pPr>
            <a:r>
              <a:rPr lang="en-US" sz="713">
                <a:solidFill>
                  <a:srgbClr val="5A6070"/>
                </a:solidFill>
                <a:latin typeface="Microsoft YaHei"/>
                <a:ea typeface="Microsoft YaHei"/>
              </a:rPr>
              <a:t>PAIN-E3-07</a:t>
            </a:r>
            <a:endParaRPr/>
          </a:p>
        </p:txBody>
      </p:sp>
      <p:sp>
        <p:nvSpPr>
          <p:cNvPr id="1725" name=""/>
          <p:cNvSpPr/>
          <p:nvPr/>
        </p:nvSpPr>
        <p:spPr>
          <a:xfrm rot="0" flipH="0" flipV="0">
            <a:off x="3676650" y="3209925"/>
            <a:ext cx="647700" cy="409575"/>
          </a:xfrm>
          <a:prstGeom prst="roundRect">
            <a:avLst>
              <a:gd name="adj" fmla="val 6977"/>
            </a:avLst>
          </a:prstGeom>
          <a:solidFill>
            <a:srgbClr val="F7F7F8"/>
          </a:solidFill>
          <a:ln/>
        </p:spPr>
        <p:txBody>
          <a:bodyPr/>
          <a:p/>
        </p:txBody>
      </p:sp>
      <p:sp>
        <p:nvSpPr>
          <p:cNvPr id="1726" name="" descr="{&quot;isTemplate&quot;:true,&quot;type&quot;:&quot;text&quot;}"/>
          <p:cNvSpPr txBox="1"/>
          <p:nvPr/>
        </p:nvSpPr>
        <p:spPr>
          <a:xfrm rot="0" flipH="0" flipV="0">
            <a:off x="3752850" y="3305175"/>
            <a:ext cx="495300" cy="219075"/>
          </a:xfrm>
          <a:prstGeom prst="rect"/>
        </p:spPr>
        <p:txBody>
          <a:bodyPr wrap="square" lIns="0" tIns="0" rIns="0" bIns="0">
            <a:normAutofit/>
          </a:bodyPr>
          <a:p>
            <a:pPr>
              <a:lnSpc>
                <a:spcPct val="100000"/>
              </a:lnSpc>
            </a:pPr>
            <a:r>
              <a:rPr lang="en-US" sz="713">
                <a:solidFill>
                  <a:srgbClr val="5A6070"/>
                </a:solidFill>
                <a:latin typeface="Microsoft YaHei"/>
                <a:ea typeface="Microsoft YaHei"/>
              </a:rPr>
              <a:t xml:space="preserve">L5-1 </a:t>
            </a:r>
            <a:r>
              <a:rPr lang="zh-CN" sz="713">
                <a:solidFill>
                  <a:srgbClr val="5A6070"/>
                </a:solidFill>
                <a:latin typeface="Microsoft YaHei"/>
                <a:ea typeface="Microsoft YaHei"/>
              </a:rPr>
              <a:t>方案编制</a:t>
            </a:r>
            <a:endParaRPr/>
          </a:p>
        </p:txBody>
      </p:sp>
      <p:sp>
        <p:nvSpPr>
          <p:cNvPr id="1727" name=""/>
          <p:cNvSpPr/>
          <p:nvPr/>
        </p:nvSpPr>
        <p:spPr>
          <a:xfrm rot="0" flipH="0" flipV="0">
            <a:off x="4362450" y="3209925"/>
            <a:ext cx="1543050" cy="409575"/>
          </a:xfrm>
          <a:prstGeom prst="roundRect">
            <a:avLst>
              <a:gd name="adj" fmla="val 6977"/>
            </a:avLst>
          </a:prstGeom>
          <a:solidFill>
            <a:srgbClr val="F7F7F8"/>
          </a:solidFill>
          <a:ln/>
        </p:spPr>
        <p:txBody>
          <a:bodyPr/>
          <a:p/>
        </p:txBody>
      </p:sp>
      <p:sp>
        <p:nvSpPr>
          <p:cNvPr id="1728" name="" descr="{&quot;isTemplate&quot;:true,&quot;type&quot;:&quot;text&quot;}"/>
          <p:cNvSpPr txBox="1"/>
          <p:nvPr/>
        </p:nvSpPr>
        <p:spPr>
          <a:xfrm rot="0" flipH="0" flipV="0">
            <a:off x="4438650" y="3276600"/>
            <a:ext cx="1390650" cy="276225"/>
          </a:xfrm>
          <a:prstGeom prst="rect"/>
        </p:spPr>
        <p:txBody>
          <a:bodyPr wrap="square" lIns="0" tIns="0" rIns="0" bIns="0">
            <a:normAutofit/>
          </a:bodyPr>
          <a:p>
            <a:pPr>
              <a:lnSpc>
                <a:spcPct val="125000"/>
              </a:lnSpc>
            </a:pPr>
            <a:r>
              <a:rPr lang="zh-CN" sz="713">
                <a:solidFill>
                  <a:srgbClr val="3A4050"/>
                </a:solidFill>
                <a:latin typeface="Microsoft YaHei"/>
                <a:ea typeface="Microsoft YaHei"/>
              </a:rPr>
              <a:t>建单时自动带出设备型号与历史工单</a:t>
            </a:r>
            <a:endParaRPr/>
          </a:p>
        </p:txBody>
      </p:sp>
      <p:sp>
        <p:nvSpPr>
          <p:cNvPr id="1729" name=""/>
          <p:cNvSpPr/>
          <p:nvPr/>
        </p:nvSpPr>
        <p:spPr>
          <a:xfrm rot="0" flipH="0" flipV="0">
            <a:off x="5943600" y="3209925"/>
            <a:ext cx="638175" cy="409575"/>
          </a:xfrm>
          <a:prstGeom prst="roundRect">
            <a:avLst>
              <a:gd name="adj" fmla="val 6977"/>
            </a:avLst>
          </a:prstGeom>
          <a:solidFill>
            <a:srgbClr val="FA4F24"/>
          </a:solidFill>
          <a:ln/>
        </p:spPr>
        <p:txBody>
          <a:bodyPr/>
          <a:p/>
        </p:txBody>
      </p:sp>
      <p:sp>
        <p:nvSpPr>
          <p:cNvPr id="1730" name="" descr="{&quot;isTemplate&quot;:true,&quot;type&quot;:&quot;text&quot;}"/>
          <p:cNvSpPr txBox="1"/>
          <p:nvPr/>
        </p:nvSpPr>
        <p:spPr>
          <a:xfrm rot="0" flipH="0" flipV="0">
            <a:off x="6019800" y="3362325"/>
            <a:ext cx="276225" cy="114300"/>
          </a:xfrm>
          <a:prstGeom prst="rect"/>
        </p:spPr>
        <p:txBody>
          <a:bodyPr wrap="none" lIns="0" tIns="0" rIns="0" bIns="0"/>
          <a:p>
            <a:pPr>
              <a:lnSpc>
                <a:spcPct val="100000"/>
              </a:lnSpc>
            </a:pPr>
            <a:r>
              <a:rPr lang="zh-CN" sz="713" b="1">
                <a:solidFill>
                  <a:srgbClr val="FFFFFF"/>
                </a:solidFill>
                <a:latin typeface="Microsoft YaHei"/>
                <a:ea typeface="Microsoft YaHei"/>
              </a:rPr>
              <a:t>已确认</a:t>
            </a:r>
            <a:endParaRPr/>
          </a:p>
        </p:txBody>
      </p:sp>
      <p:sp>
        <p:nvSpPr>
          <p:cNvPr id="1731" name=""/>
          <p:cNvSpPr/>
          <p:nvPr/>
        </p:nvSpPr>
        <p:spPr>
          <a:xfrm rot="0" flipH="0" flipV="0">
            <a:off x="733425" y="3657600"/>
            <a:ext cx="647700" cy="342900"/>
          </a:xfrm>
          <a:prstGeom prst="roundRect">
            <a:avLst>
              <a:gd name="adj" fmla="val 8333"/>
            </a:avLst>
          </a:prstGeom>
          <a:solidFill>
            <a:srgbClr val="FFF3EE"/>
          </a:solidFill>
          <a:ln/>
        </p:spPr>
        <p:txBody>
          <a:bodyPr/>
          <a:p/>
        </p:txBody>
      </p:sp>
      <p:sp>
        <p:nvSpPr>
          <p:cNvPr id="1732" name="" descr="{&quot;isTemplate&quot;:true,&quot;type&quot;:&quot;text&quot;}"/>
          <p:cNvSpPr txBox="1"/>
          <p:nvPr/>
        </p:nvSpPr>
        <p:spPr>
          <a:xfrm rot="0" flipH="0" flipV="0">
            <a:off x="809625" y="3724275"/>
            <a:ext cx="495300" cy="219075"/>
          </a:xfrm>
          <a:prstGeom prst="rect"/>
        </p:spPr>
        <p:txBody>
          <a:bodyPr wrap="square" lIns="0" tIns="0" rIns="0" bIns="0">
            <a:normAutofit/>
          </a:bodyPr>
          <a:p>
            <a:pPr>
              <a:lnSpc>
                <a:spcPct val="100000"/>
              </a:lnSpc>
            </a:pPr>
            <a:r>
              <a:rPr lang="en-US" sz="713" b="1">
                <a:solidFill>
                  <a:srgbClr val="C43A17"/>
                </a:solidFill>
                <a:latin typeface="Microsoft YaHei"/>
                <a:ea typeface="Microsoft YaHei"/>
              </a:rPr>
              <a:t>REQ-E3-125</a:t>
            </a:r>
            <a:endParaRPr/>
          </a:p>
        </p:txBody>
      </p:sp>
      <p:sp>
        <p:nvSpPr>
          <p:cNvPr id="1733" name=""/>
          <p:cNvSpPr/>
          <p:nvPr/>
        </p:nvSpPr>
        <p:spPr>
          <a:xfrm rot="0" flipH="0" flipV="0">
            <a:off x="1419225" y="3657600"/>
            <a:ext cx="1543050" cy="342900"/>
          </a:xfrm>
          <a:prstGeom prst="roundRect">
            <a:avLst>
              <a:gd name="adj" fmla="val 8333"/>
            </a:avLst>
          </a:prstGeom>
          <a:solidFill>
            <a:srgbClr val="F7F7F8"/>
          </a:solidFill>
          <a:ln/>
        </p:spPr>
        <p:txBody>
          <a:bodyPr/>
          <a:p/>
        </p:txBody>
      </p:sp>
      <p:sp>
        <p:nvSpPr>
          <p:cNvPr id="1734" name="" descr="{&quot;isTemplate&quot;:true,&quot;type&quot;:&quot;text&quot;}"/>
          <p:cNvSpPr txBox="1"/>
          <p:nvPr/>
        </p:nvSpPr>
        <p:spPr>
          <a:xfrm rot="0" flipH="0" flipV="0">
            <a:off x="1495425" y="3771900"/>
            <a:ext cx="1085850" cy="114300"/>
          </a:xfrm>
          <a:prstGeom prst="rect"/>
        </p:spPr>
        <p:txBody>
          <a:bodyPr wrap="none" lIns="0" tIns="0" rIns="0" bIns="0"/>
          <a:p>
            <a:pPr>
              <a:lnSpc>
                <a:spcPct val="100000"/>
              </a:lnSpc>
            </a:pPr>
            <a:r>
              <a:rPr lang="zh-CN" sz="713">
                <a:solidFill>
                  <a:srgbClr val="0F1423"/>
                </a:solidFill>
                <a:latin typeface="Microsoft YaHei"/>
                <a:ea typeface="Microsoft YaHei"/>
              </a:rPr>
              <a:t>备件库存不足时走紧急领用</a:t>
            </a:r>
            <a:endParaRPr/>
          </a:p>
        </p:txBody>
      </p:sp>
      <p:sp>
        <p:nvSpPr>
          <p:cNvPr id="1735" name=""/>
          <p:cNvSpPr/>
          <p:nvPr/>
        </p:nvSpPr>
        <p:spPr>
          <a:xfrm rot="0" flipH="0" flipV="0">
            <a:off x="3000375" y="3657600"/>
            <a:ext cx="638175" cy="342900"/>
          </a:xfrm>
          <a:prstGeom prst="roundRect">
            <a:avLst>
              <a:gd name="adj" fmla="val 8333"/>
            </a:avLst>
          </a:prstGeom>
          <a:solidFill>
            <a:srgbClr val="F7F7F8"/>
          </a:solidFill>
          <a:ln/>
        </p:spPr>
        <p:txBody>
          <a:bodyPr/>
          <a:p/>
        </p:txBody>
      </p:sp>
      <p:sp>
        <p:nvSpPr>
          <p:cNvPr id="1736" name="" descr="{&quot;isTemplate&quot;:true,&quot;type&quot;:&quot;text&quot;}"/>
          <p:cNvSpPr txBox="1"/>
          <p:nvPr/>
        </p:nvSpPr>
        <p:spPr>
          <a:xfrm rot="0" flipH="0" flipV="0">
            <a:off x="3076575" y="3724275"/>
            <a:ext cx="485775" cy="219075"/>
          </a:xfrm>
          <a:prstGeom prst="rect"/>
        </p:spPr>
        <p:txBody>
          <a:bodyPr wrap="square" lIns="0" tIns="0" rIns="0" bIns="0">
            <a:normAutofit/>
          </a:bodyPr>
          <a:p>
            <a:pPr>
              <a:lnSpc>
                <a:spcPct val="100000"/>
              </a:lnSpc>
            </a:pPr>
            <a:r>
              <a:rPr lang="en-US" sz="713">
                <a:solidFill>
                  <a:srgbClr val="5A6070"/>
                </a:solidFill>
                <a:latin typeface="Microsoft YaHei"/>
                <a:ea typeface="Microsoft YaHei"/>
              </a:rPr>
              <a:t>ROOT-E3-03</a:t>
            </a:r>
            <a:endParaRPr/>
          </a:p>
        </p:txBody>
      </p:sp>
      <p:sp>
        <p:nvSpPr>
          <p:cNvPr id="1737" name=""/>
          <p:cNvSpPr/>
          <p:nvPr/>
        </p:nvSpPr>
        <p:spPr>
          <a:xfrm rot="0" flipH="0" flipV="0">
            <a:off x="3676650" y="3657600"/>
            <a:ext cx="647700" cy="342900"/>
          </a:xfrm>
          <a:prstGeom prst="roundRect">
            <a:avLst>
              <a:gd name="adj" fmla="val 8333"/>
            </a:avLst>
          </a:prstGeom>
          <a:solidFill>
            <a:srgbClr val="F7F7F8"/>
          </a:solidFill>
          <a:ln/>
        </p:spPr>
        <p:txBody>
          <a:bodyPr/>
          <a:p/>
        </p:txBody>
      </p:sp>
      <p:sp>
        <p:nvSpPr>
          <p:cNvPr id="1738" name="" descr="{&quot;isTemplate&quot;:true,&quot;type&quot;:&quot;text&quot;}"/>
          <p:cNvSpPr txBox="1"/>
          <p:nvPr/>
        </p:nvSpPr>
        <p:spPr>
          <a:xfrm rot="0" flipH="0" flipV="0">
            <a:off x="3752850" y="3724275"/>
            <a:ext cx="495300" cy="219075"/>
          </a:xfrm>
          <a:prstGeom prst="rect"/>
        </p:spPr>
        <p:txBody>
          <a:bodyPr wrap="square" lIns="0" tIns="0" rIns="0" bIns="0">
            <a:normAutofit/>
          </a:bodyPr>
          <a:p>
            <a:pPr>
              <a:lnSpc>
                <a:spcPct val="100000"/>
              </a:lnSpc>
            </a:pPr>
            <a:r>
              <a:rPr lang="en-US" sz="713">
                <a:solidFill>
                  <a:srgbClr val="5A6070"/>
                </a:solidFill>
                <a:latin typeface="Microsoft YaHei"/>
                <a:ea typeface="Microsoft YaHei"/>
              </a:rPr>
              <a:t xml:space="preserve">L5-2 </a:t>
            </a:r>
            <a:r>
              <a:rPr lang="zh-CN" sz="713">
                <a:solidFill>
                  <a:srgbClr val="5A6070"/>
                </a:solidFill>
                <a:latin typeface="Microsoft YaHei"/>
                <a:ea typeface="Microsoft YaHei"/>
              </a:rPr>
              <a:t>检修执行</a:t>
            </a:r>
            <a:endParaRPr/>
          </a:p>
        </p:txBody>
      </p:sp>
      <p:sp>
        <p:nvSpPr>
          <p:cNvPr id="1739" name=""/>
          <p:cNvSpPr/>
          <p:nvPr/>
        </p:nvSpPr>
        <p:spPr>
          <a:xfrm rot="0" flipH="0" flipV="0">
            <a:off x="4362450" y="3657600"/>
            <a:ext cx="1543050" cy="342900"/>
          </a:xfrm>
          <a:prstGeom prst="roundRect">
            <a:avLst>
              <a:gd name="adj" fmla="val 8333"/>
            </a:avLst>
          </a:prstGeom>
          <a:solidFill>
            <a:srgbClr val="F7F7F8"/>
          </a:solidFill>
          <a:ln/>
        </p:spPr>
        <p:txBody>
          <a:bodyPr/>
          <a:p/>
        </p:txBody>
      </p:sp>
      <p:sp>
        <p:nvSpPr>
          <p:cNvPr id="1740" name="" descr="{&quot;isTemplate&quot;:true,&quot;type&quot;:&quot;text&quot;}"/>
          <p:cNvSpPr txBox="1"/>
          <p:nvPr/>
        </p:nvSpPr>
        <p:spPr>
          <a:xfrm rot="0" flipH="0" flipV="0">
            <a:off x="4438650" y="3762375"/>
            <a:ext cx="1266825" cy="142875"/>
          </a:xfrm>
          <a:prstGeom prst="rect"/>
        </p:spPr>
        <p:txBody>
          <a:bodyPr wrap="none" lIns="0" tIns="0" rIns="0" bIns="0"/>
          <a:p>
            <a:pPr>
              <a:lnSpc>
                <a:spcPct val="125000"/>
              </a:lnSpc>
            </a:pPr>
            <a:r>
              <a:rPr lang="zh-CN" sz="713">
                <a:solidFill>
                  <a:srgbClr val="3A4050"/>
                </a:solidFill>
                <a:latin typeface="Microsoft YaHei"/>
                <a:ea typeface="Microsoft YaHei"/>
              </a:rPr>
              <a:t>库存不足自动转紧急流程并留痕</a:t>
            </a:r>
            <a:endParaRPr/>
          </a:p>
        </p:txBody>
      </p:sp>
      <p:sp>
        <p:nvSpPr>
          <p:cNvPr id="1741" name=""/>
          <p:cNvSpPr/>
          <p:nvPr/>
        </p:nvSpPr>
        <p:spPr>
          <a:xfrm rot="0" flipH="0" flipV="0">
            <a:off x="5943600" y="3657600"/>
            <a:ext cx="638175" cy="342900"/>
          </a:xfrm>
          <a:prstGeom prst="roundRect">
            <a:avLst>
              <a:gd name="adj" fmla="val 8333"/>
            </a:avLst>
          </a:prstGeom>
          <a:solidFill>
            <a:srgbClr val="FA4F24"/>
          </a:solidFill>
          <a:ln/>
        </p:spPr>
        <p:txBody>
          <a:bodyPr/>
          <a:p/>
        </p:txBody>
      </p:sp>
      <p:sp>
        <p:nvSpPr>
          <p:cNvPr id="1742" name="" descr="{&quot;isTemplate&quot;:true,&quot;type&quot;:&quot;text&quot;}"/>
          <p:cNvSpPr txBox="1"/>
          <p:nvPr/>
        </p:nvSpPr>
        <p:spPr>
          <a:xfrm rot="0" flipH="0" flipV="0">
            <a:off x="6019800" y="3771900"/>
            <a:ext cx="276225" cy="114300"/>
          </a:xfrm>
          <a:prstGeom prst="rect"/>
        </p:spPr>
        <p:txBody>
          <a:bodyPr wrap="none" lIns="0" tIns="0" rIns="0" bIns="0"/>
          <a:p>
            <a:pPr>
              <a:lnSpc>
                <a:spcPct val="100000"/>
              </a:lnSpc>
            </a:pPr>
            <a:r>
              <a:rPr lang="zh-CN" sz="713" b="1">
                <a:solidFill>
                  <a:srgbClr val="FFFFFF"/>
                </a:solidFill>
                <a:latin typeface="Microsoft YaHei"/>
                <a:ea typeface="Microsoft YaHei"/>
              </a:rPr>
              <a:t>已确认</a:t>
            </a:r>
            <a:endParaRPr/>
          </a:p>
        </p:txBody>
      </p:sp>
      <p:sp>
        <p:nvSpPr>
          <p:cNvPr id="1743" name=""/>
          <p:cNvSpPr/>
          <p:nvPr/>
        </p:nvSpPr>
        <p:spPr>
          <a:xfrm rot="0" flipH="0" flipV="0">
            <a:off x="733425" y="4038600"/>
            <a:ext cx="647700" cy="352425"/>
          </a:xfrm>
          <a:prstGeom prst="roundRect">
            <a:avLst>
              <a:gd name="adj" fmla="val 8108"/>
            </a:avLst>
          </a:prstGeom>
          <a:solidFill>
            <a:srgbClr val="FFF3EE"/>
          </a:solidFill>
          <a:ln/>
        </p:spPr>
        <p:txBody>
          <a:bodyPr/>
          <a:p/>
        </p:txBody>
      </p:sp>
      <p:sp>
        <p:nvSpPr>
          <p:cNvPr id="1744" name="" descr="{&quot;isTemplate&quot;:true,&quot;type&quot;:&quot;text&quot;}"/>
          <p:cNvSpPr txBox="1"/>
          <p:nvPr/>
        </p:nvSpPr>
        <p:spPr>
          <a:xfrm rot="0" flipH="0" flipV="0">
            <a:off x="809625" y="4105275"/>
            <a:ext cx="495300" cy="219075"/>
          </a:xfrm>
          <a:prstGeom prst="rect"/>
        </p:spPr>
        <p:txBody>
          <a:bodyPr wrap="square" lIns="0" tIns="0" rIns="0" bIns="0">
            <a:normAutofit/>
          </a:bodyPr>
          <a:p>
            <a:pPr>
              <a:lnSpc>
                <a:spcPct val="100000"/>
              </a:lnSpc>
            </a:pPr>
            <a:r>
              <a:rPr lang="en-US" sz="713" b="1">
                <a:solidFill>
                  <a:srgbClr val="C43A17"/>
                </a:solidFill>
                <a:latin typeface="Microsoft YaHei"/>
                <a:ea typeface="Microsoft YaHei"/>
              </a:rPr>
              <a:t>REQ-S2-041</a:t>
            </a:r>
            <a:endParaRPr/>
          </a:p>
        </p:txBody>
      </p:sp>
      <p:sp>
        <p:nvSpPr>
          <p:cNvPr id="1745" name=""/>
          <p:cNvSpPr/>
          <p:nvPr/>
        </p:nvSpPr>
        <p:spPr>
          <a:xfrm rot="0" flipH="0" flipV="0">
            <a:off x="1419225" y="4038600"/>
            <a:ext cx="1543050" cy="352425"/>
          </a:xfrm>
          <a:prstGeom prst="roundRect">
            <a:avLst>
              <a:gd name="adj" fmla="val 8108"/>
            </a:avLst>
          </a:prstGeom>
          <a:solidFill>
            <a:srgbClr val="F7F7F8"/>
          </a:solidFill>
          <a:ln/>
        </p:spPr>
        <p:txBody>
          <a:bodyPr/>
          <a:p/>
        </p:txBody>
      </p:sp>
      <p:sp>
        <p:nvSpPr>
          <p:cNvPr id="1746" name="" descr="{&quot;isTemplate&quot;:true,&quot;type&quot;:&quot;text&quot;}"/>
          <p:cNvSpPr txBox="1"/>
          <p:nvPr/>
        </p:nvSpPr>
        <p:spPr>
          <a:xfrm rot="0" flipH="0" flipV="0">
            <a:off x="1495425" y="4162425"/>
            <a:ext cx="1238250" cy="114300"/>
          </a:xfrm>
          <a:prstGeom prst="rect"/>
        </p:spPr>
        <p:txBody>
          <a:bodyPr wrap="none" lIns="0" tIns="0" rIns="0" bIns="0"/>
          <a:p>
            <a:pPr>
              <a:lnSpc>
                <a:spcPct val="100000"/>
              </a:lnSpc>
            </a:pPr>
            <a:r>
              <a:rPr lang="en-US" sz="713">
                <a:solidFill>
                  <a:srgbClr val="0F1423"/>
                </a:solidFill>
                <a:latin typeface="Microsoft YaHei"/>
                <a:ea typeface="Microsoft YaHei"/>
              </a:rPr>
              <a:t xml:space="preserve">EBOM→MBOM </a:t>
            </a:r>
            <a:r>
              <a:rPr lang="zh-CN" sz="713">
                <a:solidFill>
                  <a:srgbClr val="0F1423"/>
                </a:solidFill>
                <a:latin typeface="Microsoft YaHei"/>
                <a:ea typeface="Microsoft YaHei"/>
              </a:rPr>
              <a:t>规则版本管理</a:t>
            </a:r>
            <a:endParaRPr/>
          </a:p>
        </p:txBody>
      </p:sp>
      <p:sp>
        <p:nvSpPr>
          <p:cNvPr id="1747" name=""/>
          <p:cNvSpPr/>
          <p:nvPr/>
        </p:nvSpPr>
        <p:spPr>
          <a:xfrm rot="0" flipH="0" flipV="0">
            <a:off x="3000375" y="4038600"/>
            <a:ext cx="638175" cy="352425"/>
          </a:xfrm>
          <a:prstGeom prst="roundRect">
            <a:avLst>
              <a:gd name="adj" fmla="val 8108"/>
            </a:avLst>
          </a:prstGeom>
          <a:solidFill>
            <a:srgbClr val="F7F7F8"/>
          </a:solidFill>
          <a:ln/>
        </p:spPr>
        <p:txBody>
          <a:bodyPr/>
          <a:p/>
        </p:txBody>
      </p:sp>
      <p:sp>
        <p:nvSpPr>
          <p:cNvPr id="1748" name="" descr="{&quot;isTemplate&quot;:true,&quot;type&quot;:&quot;text&quot;}"/>
          <p:cNvSpPr txBox="1"/>
          <p:nvPr/>
        </p:nvSpPr>
        <p:spPr>
          <a:xfrm rot="0" flipH="0" flipV="0">
            <a:off x="3076575" y="4105275"/>
            <a:ext cx="485775" cy="219075"/>
          </a:xfrm>
          <a:prstGeom prst="rect"/>
        </p:spPr>
        <p:txBody>
          <a:bodyPr wrap="square" lIns="0" tIns="0" rIns="0" bIns="0">
            <a:normAutofit/>
          </a:bodyPr>
          <a:p>
            <a:pPr>
              <a:lnSpc>
                <a:spcPct val="100000"/>
              </a:lnSpc>
            </a:pPr>
            <a:r>
              <a:rPr lang="en-US" sz="713">
                <a:solidFill>
                  <a:srgbClr val="5A6070"/>
                </a:solidFill>
                <a:latin typeface="Microsoft YaHei"/>
                <a:ea typeface="Microsoft YaHei"/>
              </a:rPr>
              <a:t>PAIN-S2-02</a:t>
            </a:r>
            <a:endParaRPr/>
          </a:p>
        </p:txBody>
      </p:sp>
      <p:sp>
        <p:nvSpPr>
          <p:cNvPr id="1749" name=""/>
          <p:cNvSpPr/>
          <p:nvPr/>
        </p:nvSpPr>
        <p:spPr>
          <a:xfrm rot="0" flipH="0" flipV="0">
            <a:off x="3676650" y="4038600"/>
            <a:ext cx="647700" cy="352425"/>
          </a:xfrm>
          <a:prstGeom prst="roundRect">
            <a:avLst>
              <a:gd name="adj" fmla="val 8108"/>
            </a:avLst>
          </a:prstGeom>
          <a:solidFill>
            <a:srgbClr val="F7F7F8"/>
          </a:solidFill>
          <a:ln/>
        </p:spPr>
        <p:txBody>
          <a:bodyPr/>
          <a:p/>
        </p:txBody>
      </p:sp>
      <p:sp>
        <p:nvSpPr>
          <p:cNvPr id="1750" name="" descr="{&quot;isTemplate&quot;:true,&quot;type&quot;:&quot;text&quot;}"/>
          <p:cNvSpPr txBox="1"/>
          <p:nvPr/>
        </p:nvSpPr>
        <p:spPr>
          <a:xfrm rot="0" flipH="0" flipV="0">
            <a:off x="3752850" y="4162425"/>
            <a:ext cx="495300" cy="114300"/>
          </a:xfrm>
          <a:prstGeom prst="rect"/>
        </p:spPr>
        <p:txBody>
          <a:bodyPr wrap="none" lIns="0" tIns="0" rIns="0" bIns="0"/>
          <a:p>
            <a:pPr>
              <a:lnSpc>
                <a:spcPct val="100000"/>
              </a:lnSpc>
            </a:pPr>
            <a:r>
              <a:rPr lang="en-US" sz="713">
                <a:solidFill>
                  <a:srgbClr val="5A6070"/>
                </a:solidFill>
                <a:latin typeface="Microsoft YaHei"/>
                <a:ea typeface="Microsoft YaHei"/>
              </a:rPr>
              <a:t xml:space="preserve">L5 </a:t>
            </a:r>
            <a:r>
              <a:rPr lang="zh-CN" sz="713">
                <a:solidFill>
                  <a:srgbClr val="5A6070"/>
                </a:solidFill>
                <a:latin typeface="Microsoft YaHei"/>
                <a:ea typeface="Microsoft YaHei"/>
              </a:rPr>
              <a:t>转换执行</a:t>
            </a:r>
            <a:endParaRPr/>
          </a:p>
        </p:txBody>
      </p:sp>
      <p:sp>
        <p:nvSpPr>
          <p:cNvPr id="1751" name=""/>
          <p:cNvSpPr/>
          <p:nvPr/>
        </p:nvSpPr>
        <p:spPr>
          <a:xfrm rot="0" flipH="0" flipV="0">
            <a:off x="4362450" y="4038600"/>
            <a:ext cx="1543050" cy="352425"/>
          </a:xfrm>
          <a:prstGeom prst="roundRect">
            <a:avLst>
              <a:gd name="adj" fmla="val 8108"/>
            </a:avLst>
          </a:prstGeom>
          <a:solidFill>
            <a:srgbClr val="F7F7F8"/>
          </a:solidFill>
          <a:ln/>
        </p:spPr>
        <p:txBody>
          <a:bodyPr/>
          <a:p/>
        </p:txBody>
      </p:sp>
      <p:sp>
        <p:nvSpPr>
          <p:cNvPr id="1752" name="" descr="{&quot;isTemplate&quot;:true,&quot;type&quot;:&quot;text&quot;}"/>
          <p:cNvSpPr txBox="1"/>
          <p:nvPr/>
        </p:nvSpPr>
        <p:spPr>
          <a:xfrm rot="0" flipH="0" flipV="0">
            <a:off x="4438650" y="4143375"/>
            <a:ext cx="1085850" cy="142875"/>
          </a:xfrm>
          <a:prstGeom prst="rect"/>
        </p:spPr>
        <p:txBody>
          <a:bodyPr wrap="none" lIns="0" tIns="0" rIns="0" bIns="0"/>
          <a:p>
            <a:pPr>
              <a:lnSpc>
                <a:spcPct val="125000"/>
              </a:lnSpc>
            </a:pPr>
            <a:r>
              <a:rPr lang="zh-CN" sz="713">
                <a:solidFill>
                  <a:srgbClr val="3A4050"/>
                </a:solidFill>
                <a:latin typeface="Microsoft YaHei"/>
                <a:ea typeface="Microsoft YaHei"/>
              </a:rPr>
              <a:t>规则可维护、可回溯到版本</a:t>
            </a:r>
            <a:endParaRPr/>
          </a:p>
        </p:txBody>
      </p:sp>
      <p:sp>
        <p:nvSpPr>
          <p:cNvPr id="1753" name=""/>
          <p:cNvSpPr/>
          <p:nvPr/>
        </p:nvSpPr>
        <p:spPr>
          <a:xfrm rot="0" flipH="0" flipV="0">
            <a:off x="5943600" y="4038600"/>
            <a:ext cx="638175" cy="352425"/>
          </a:xfrm>
          <a:prstGeom prst="roundRect">
            <a:avLst>
              <a:gd name="adj" fmla="val 8108"/>
            </a:avLst>
          </a:prstGeom>
          <a:solidFill>
            <a:srgbClr val="FBA15C"/>
          </a:solidFill>
          <a:ln/>
        </p:spPr>
        <p:txBody>
          <a:bodyPr/>
          <a:p/>
        </p:txBody>
      </p:sp>
      <p:sp>
        <p:nvSpPr>
          <p:cNvPr id="1754" name="" descr="{&quot;isTemplate&quot;:true,&quot;type&quot;:&quot;text&quot;}"/>
          <p:cNvSpPr txBox="1"/>
          <p:nvPr/>
        </p:nvSpPr>
        <p:spPr>
          <a:xfrm rot="0" flipH="0" flipV="0">
            <a:off x="6019800" y="4162425"/>
            <a:ext cx="276225" cy="114300"/>
          </a:xfrm>
          <a:prstGeom prst="rect"/>
        </p:spPr>
        <p:txBody>
          <a:bodyPr wrap="none" lIns="0" tIns="0" rIns="0" bIns="0"/>
          <a:p>
            <a:pPr>
              <a:lnSpc>
                <a:spcPct val="100000"/>
              </a:lnSpc>
            </a:pPr>
            <a:r>
              <a:rPr lang="zh-CN" sz="713" b="1">
                <a:solidFill>
                  <a:srgbClr val="FFFFFF"/>
                </a:solidFill>
                <a:latin typeface="Microsoft YaHei"/>
                <a:ea typeface="Microsoft YaHei"/>
              </a:rPr>
              <a:t>待确认</a:t>
            </a:r>
            <a:endParaRPr/>
          </a:p>
        </p:txBody>
      </p:sp>
      <p:sp>
        <p:nvSpPr>
          <p:cNvPr id="1755" name=""/>
          <p:cNvSpPr/>
          <p:nvPr/>
        </p:nvSpPr>
        <p:spPr>
          <a:xfrm rot="0" flipH="0" flipV="0">
            <a:off x="733425" y="4429125"/>
            <a:ext cx="647700" cy="342900"/>
          </a:xfrm>
          <a:prstGeom prst="roundRect">
            <a:avLst>
              <a:gd name="adj" fmla="val 8333"/>
            </a:avLst>
          </a:prstGeom>
          <a:solidFill>
            <a:srgbClr val="FFF3EE"/>
          </a:solidFill>
          <a:ln/>
        </p:spPr>
        <p:txBody>
          <a:bodyPr/>
          <a:p/>
        </p:txBody>
      </p:sp>
      <p:sp>
        <p:nvSpPr>
          <p:cNvPr id="1756" name="" descr="{&quot;isTemplate&quot;:true,&quot;type&quot;:&quot;text&quot;}"/>
          <p:cNvSpPr txBox="1"/>
          <p:nvPr/>
        </p:nvSpPr>
        <p:spPr>
          <a:xfrm rot="0" flipH="0" flipV="0">
            <a:off x="809625" y="4495800"/>
            <a:ext cx="495300" cy="219075"/>
          </a:xfrm>
          <a:prstGeom prst="rect"/>
        </p:spPr>
        <p:txBody>
          <a:bodyPr wrap="square" lIns="0" tIns="0" rIns="0" bIns="0">
            <a:normAutofit/>
          </a:bodyPr>
          <a:p>
            <a:pPr>
              <a:lnSpc>
                <a:spcPct val="100000"/>
              </a:lnSpc>
            </a:pPr>
            <a:r>
              <a:rPr lang="en-US" sz="713" b="1">
                <a:solidFill>
                  <a:srgbClr val="C43A17"/>
                </a:solidFill>
                <a:latin typeface="Microsoft YaHei"/>
                <a:ea typeface="Microsoft YaHei"/>
              </a:rPr>
              <a:t>REQ-E5-073</a:t>
            </a:r>
            <a:endParaRPr/>
          </a:p>
        </p:txBody>
      </p:sp>
      <p:sp>
        <p:nvSpPr>
          <p:cNvPr id="1757" name=""/>
          <p:cNvSpPr/>
          <p:nvPr/>
        </p:nvSpPr>
        <p:spPr>
          <a:xfrm rot="0" flipH="0" flipV="0">
            <a:off x="1419225" y="4429125"/>
            <a:ext cx="1543050" cy="342900"/>
          </a:xfrm>
          <a:prstGeom prst="roundRect">
            <a:avLst>
              <a:gd name="adj" fmla="val 8333"/>
            </a:avLst>
          </a:prstGeom>
          <a:solidFill>
            <a:srgbClr val="F7F7F8"/>
          </a:solidFill>
          <a:ln/>
        </p:spPr>
        <p:txBody>
          <a:bodyPr/>
          <a:p/>
        </p:txBody>
      </p:sp>
      <p:sp>
        <p:nvSpPr>
          <p:cNvPr id="1758" name="" descr="{&quot;isTemplate&quot;:true,&quot;type&quot;:&quot;text&quot;}"/>
          <p:cNvSpPr txBox="1"/>
          <p:nvPr/>
        </p:nvSpPr>
        <p:spPr>
          <a:xfrm rot="0" flipH="0" flipV="0">
            <a:off x="1495425" y="4543425"/>
            <a:ext cx="723900" cy="114300"/>
          </a:xfrm>
          <a:prstGeom prst="rect"/>
        </p:spPr>
        <p:txBody>
          <a:bodyPr wrap="none" lIns="0" tIns="0" rIns="0" bIns="0"/>
          <a:p>
            <a:pPr>
              <a:lnSpc>
                <a:spcPct val="100000"/>
              </a:lnSpc>
            </a:pPr>
            <a:r>
              <a:rPr lang="zh-CN" sz="713">
                <a:solidFill>
                  <a:srgbClr val="0F1423"/>
                </a:solidFill>
                <a:latin typeface="Microsoft YaHei"/>
                <a:ea typeface="Microsoft YaHei"/>
              </a:rPr>
              <a:t>四算口径裁定流程</a:t>
            </a:r>
            <a:endParaRPr/>
          </a:p>
        </p:txBody>
      </p:sp>
      <p:sp>
        <p:nvSpPr>
          <p:cNvPr id="1759" name=""/>
          <p:cNvSpPr/>
          <p:nvPr/>
        </p:nvSpPr>
        <p:spPr>
          <a:xfrm rot="0" flipH="0" flipV="0">
            <a:off x="3000375" y="4429125"/>
            <a:ext cx="638175" cy="342900"/>
          </a:xfrm>
          <a:prstGeom prst="roundRect">
            <a:avLst>
              <a:gd name="adj" fmla="val 8333"/>
            </a:avLst>
          </a:prstGeom>
          <a:solidFill>
            <a:srgbClr val="F7F7F8"/>
          </a:solidFill>
          <a:ln/>
        </p:spPr>
        <p:txBody>
          <a:bodyPr/>
          <a:p/>
        </p:txBody>
      </p:sp>
      <p:sp>
        <p:nvSpPr>
          <p:cNvPr id="1760" name="" descr="{&quot;isTemplate&quot;:true,&quot;type&quot;:&quot;text&quot;}"/>
          <p:cNvSpPr txBox="1"/>
          <p:nvPr/>
        </p:nvSpPr>
        <p:spPr>
          <a:xfrm rot="0" flipH="0" flipV="0">
            <a:off x="3076575" y="4495800"/>
            <a:ext cx="485775" cy="219075"/>
          </a:xfrm>
          <a:prstGeom prst="rect"/>
        </p:spPr>
        <p:txBody>
          <a:bodyPr wrap="square" lIns="0" tIns="0" rIns="0" bIns="0">
            <a:normAutofit/>
          </a:bodyPr>
          <a:p>
            <a:pPr>
              <a:lnSpc>
                <a:spcPct val="100000"/>
              </a:lnSpc>
            </a:pPr>
            <a:r>
              <a:rPr lang="en-US" sz="713">
                <a:solidFill>
                  <a:srgbClr val="5A6070"/>
                </a:solidFill>
                <a:latin typeface="Microsoft YaHei"/>
                <a:ea typeface="Microsoft YaHei"/>
              </a:rPr>
              <a:t>PAIN-E5-04</a:t>
            </a:r>
            <a:endParaRPr/>
          </a:p>
        </p:txBody>
      </p:sp>
      <p:sp>
        <p:nvSpPr>
          <p:cNvPr id="1761" name=""/>
          <p:cNvSpPr/>
          <p:nvPr/>
        </p:nvSpPr>
        <p:spPr>
          <a:xfrm rot="0" flipH="0" flipV="0">
            <a:off x="3676650" y="4429125"/>
            <a:ext cx="647700" cy="342900"/>
          </a:xfrm>
          <a:prstGeom prst="roundRect">
            <a:avLst>
              <a:gd name="adj" fmla="val 8333"/>
            </a:avLst>
          </a:prstGeom>
          <a:solidFill>
            <a:srgbClr val="F7F7F8"/>
          </a:solidFill>
          <a:ln/>
        </p:spPr>
        <p:txBody>
          <a:bodyPr/>
          <a:p/>
        </p:txBody>
      </p:sp>
      <p:sp>
        <p:nvSpPr>
          <p:cNvPr id="1762" name="" descr="{&quot;isTemplate&quot;:true,&quot;type&quot;:&quot;text&quot;}"/>
          <p:cNvSpPr txBox="1"/>
          <p:nvPr/>
        </p:nvSpPr>
        <p:spPr>
          <a:xfrm rot="0" flipH="0" flipV="0">
            <a:off x="3752850" y="4543425"/>
            <a:ext cx="495300" cy="114300"/>
          </a:xfrm>
          <a:prstGeom prst="rect"/>
        </p:spPr>
        <p:txBody>
          <a:bodyPr wrap="none" lIns="0" tIns="0" rIns="0" bIns="0"/>
          <a:p>
            <a:pPr>
              <a:lnSpc>
                <a:spcPct val="100000"/>
              </a:lnSpc>
            </a:pPr>
            <a:r>
              <a:rPr lang="en-US" sz="713">
                <a:solidFill>
                  <a:srgbClr val="5A6070"/>
                </a:solidFill>
                <a:latin typeface="Microsoft YaHei"/>
                <a:ea typeface="Microsoft YaHei"/>
              </a:rPr>
              <a:t xml:space="preserve">L5 </a:t>
            </a:r>
            <a:r>
              <a:rPr lang="zh-CN" sz="713">
                <a:solidFill>
                  <a:srgbClr val="5A6070"/>
                </a:solidFill>
                <a:latin typeface="Microsoft YaHei"/>
                <a:ea typeface="Microsoft YaHei"/>
              </a:rPr>
              <a:t>决算编制</a:t>
            </a:r>
            <a:endParaRPr/>
          </a:p>
        </p:txBody>
      </p:sp>
      <p:sp>
        <p:nvSpPr>
          <p:cNvPr id="1763" name=""/>
          <p:cNvSpPr/>
          <p:nvPr/>
        </p:nvSpPr>
        <p:spPr>
          <a:xfrm rot="0" flipH="0" flipV="0">
            <a:off x="4362450" y="4429125"/>
            <a:ext cx="1543050" cy="342900"/>
          </a:xfrm>
          <a:prstGeom prst="roundRect">
            <a:avLst>
              <a:gd name="adj" fmla="val 8333"/>
            </a:avLst>
          </a:prstGeom>
          <a:solidFill>
            <a:srgbClr val="F7F7F8"/>
          </a:solidFill>
          <a:ln/>
        </p:spPr>
        <p:txBody>
          <a:bodyPr/>
          <a:p/>
        </p:txBody>
      </p:sp>
      <p:sp>
        <p:nvSpPr>
          <p:cNvPr id="1764" name="" descr="{&quot;isTemplate&quot;:true,&quot;type&quot;:&quot;text&quot;}"/>
          <p:cNvSpPr txBox="1"/>
          <p:nvPr/>
        </p:nvSpPr>
        <p:spPr>
          <a:xfrm rot="0" flipH="0" flipV="0">
            <a:off x="4438650" y="4533900"/>
            <a:ext cx="1000125" cy="142875"/>
          </a:xfrm>
          <a:prstGeom prst="rect"/>
        </p:spPr>
        <p:txBody>
          <a:bodyPr wrap="none" lIns="0" tIns="0" rIns="0" bIns="0"/>
          <a:p>
            <a:pPr>
              <a:lnSpc>
                <a:spcPct val="125000"/>
              </a:lnSpc>
            </a:pPr>
            <a:r>
              <a:rPr lang="zh-CN" sz="713">
                <a:solidFill>
                  <a:srgbClr val="3A4050"/>
                </a:solidFill>
                <a:latin typeface="Microsoft YaHei"/>
                <a:ea typeface="Microsoft YaHei"/>
              </a:rPr>
              <a:t>争议口径有裁定记录可查</a:t>
            </a:r>
            <a:endParaRPr/>
          </a:p>
        </p:txBody>
      </p:sp>
      <p:sp>
        <p:nvSpPr>
          <p:cNvPr id="1765" name=""/>
          <p:cNvSpPr/>
          <p:nvPr/>
        </p:nvSpPr>
        <p:spPr>
          <a:xfrm rot="0" flipH="0" flipV="0">
            <a:off x="5943600" y="4429125"/>
            <a:ext cx="638175" cy="342900"/>
          </a:xfrm>
          <a:prstGeom prst="roundRect">
            <a:avLst>
              <a:gd name="adj" fmla="val 8333"/>
            </a:avLst>
          </a:prstGeom>
          <a:solidFill>
            <a:srgbClr val="FA4F24"/>
          </a:solidFill>
          <a:ln/>
        </p:spPr>
        <p:txBody>
          <a:bodyPr/>
          <a:p/>
        </p:txBody>
      </p:sp>
      <p:sp>
        <p:nvSpPr>
          <p:cNvPr id="1766" name="" descr="{&quot;isTemplate&quot;:true,&quot;type&quot;:&quot;text&quot;}"/>
          <p:cNvSpPr txBox="1"/>
          <p:nvPr/>
        </p:nvSpPr>
        <p:spPr>
          <a:xfrm rot="0" flipH="0" flipV="0">
            <a:off x="6019800" y="4543425"/>
            <a:ext cx="276225" cy="114300"/>
          </a:xfrm>
          <a:prstGeom prst="rect"/>
        </p:spPr>
        <p:txBody>
          <a:bodyPr wrap="none" lIns="0" tIns="0" rIns="0" bIns="0"/>
          <a:p>
            <a:pPr>
              <a:lnSpc>
                <a:spcPct val="100000"/>
              </a:lnSpc>
            </a:pPr>
            <a:r>
              <a:rPr lang="zh-CN" sz="713" b="1">
                <a:solidFill>
                  <a:srgbClr val="FFFFFF"/>
                </a:solidFill>
                <a:latin typeface="Microsoft YaHei"/>
                <a:ea typeface="Microsoft YaHei"/>
              </a:rPr>
              <a:t>已确认</a:t>
            </a:r>
            <a:endParaRPr/>
          </a:p>
        </p:txBody>
      </p:sp>
      <p:sp>
        <p:nvSpPr>
          <p:cNvPr id="1767" name=""/>
          <p:cNvSpPr/>
          <p:nvPr/>
        </p:nvSpPr>
        <p:spPr>
          <a:xfrm rot="0" flipH="0" flipV="0">
            <a:off x="733425" y="4810125"/>
            <a:ext cx="647700" cy="352425"/>
          </a:xfrm>
          <a:prstGeom prst="roundRect">
            <a:avLst>
              <a:gd name="adj" fmla="val 8108"/>
            </a:avLst>
          </a:prstGeom>
          <a:solidFill>
            <a:srgbClr val="FFF3EE"/>
          </a:solidFill>
          <a:ln/>
        </p:spPr>
        <p:txBody>
          <a:bodyPr/>
          <a:p/>
        </p:txBody>
      </p:sp>
      <p:sp>
        <p:nvSpPr>
          <p:cNvPr id="1768" name="" descr="{&quot;isTemplate&quot;:true,&quot;type&quot;:&quot;text&quot;}"/>
          <p:cNvSpPr txBox="1"/>
          <p:nvPr/>
        </p:nvSpPr>
        <p:spPr>
          <a:xfrm rot="0" flipH="0" flipV="0">
            <a:off x="809625" y="4876800"/>
            <a:ext cx="495300" cy="219075"/>
          </a:xfrm>
          <a:prstGeom prst="rect"/>
        </p:spPr>
        <p:txBody>
          <a:bodyPr wrap="square" lIns="0" tIns="0" rIns="0" bIns="0">
            <a:normAutofit/>
          </a:bodyPr>
          <a:p>
            <a:pPr>
              <a:lnSpc>
                <a:spcPct val="100000"/>
              </a:lnSpc>
            </a:pPr>
            <a:r>
              <a:rPr lang="en-US" sz="713" b="1">
                <a:solidFill>
                  <a:srgbClr val="C43A17"/>
                </a:solidFill>
                <a:latin typeface="Microsoft YaHei"/>
                <a:ea typeface="Microsoft YaHei"/>
              </a:rPr>
              <a:t>REQ-E3-131</a:t>
            </a:r>
            <a:endParaRPr/>
          </a:p>
        </p:txBody>
      </p:sp>
      <p:sp>
        <p:nvSpPr>
          <p:cNvPr id="1769" name=""/>
          <p:cNvSpPr/>
          <p:nvPr/>
        </p:nvSpPr>
        <p:spPr>
          <a:xfrm rot="0" flipH="0" flipV="0">
            <a:off x="1419225" y="4810125"/>
            <a:ext cx="1543050" cy="352425"/>
          </a:xfrm>
          <a:prstGeom prst="roundRect">
            <a:avLst>
              <a:gd name="adj" fmla="val 8108"/>
            </a:avLst>
          </a:prstGeom>
          <a:solidFill>
            <a:srgbClr val="F7F7F8"/>
          </a:solidFill>
          <a:ln/>
        </p:spPr>
        <p:txBody>
          <a:bodyPr/>
          <a:p/>
        </p:txBody>
      </p:sp>
      <p:sp>
        <p:nvSpPr>
          <p:cNvPr id="1770" name="" descr="{&quot;isTemplate&quot;:true,&quot;type&quot;:&quot;text&quot;}"/>
          <p:cNvSpPr txBox="1"/>
          <p:nvPr/>
        </p:nvSpPr>
        <p:spPr>
          <a:xfrm rot="0" flipH="0" flipV="0">
            <a:off x="1495425" y="4933950"/>
            <a:ext cx="819150" cy="114300"/>
          </a:xfrm>
          <a:prstGeom prst="rect"/>
        </p:spPr>
        <p:txBody>
          <a:bodyPr wrap="none" lIns="0" tIns="0" rIns="0" bIns="0"/>
          <a:p>
            <a:pPr>
              <a:lnSpc>
                <a:spcPct val="100000"/>
              </a:lnSpc>
            </a:pPr>
            <a:r>
              <a:rPr lang="zh-CN" sz="713">
                <a:solidFill>
                  <a:srgbClr val="0F1423"/>
                </a:solidFill>
                <a:latin typeface="Microsoft YaHei"/>
                <a:ea typeface="Microsoft YaHei"/>
              </a:rPr>
              <a:t>台账更新及时率看板</a:t>
            </a:r>
            <a:endParaRPr/>
          </a:p>
        </p:txBody>
      </p:sp>
      <p:sp>
        <p:nvSpPr>
          <p:cNvPr id="1771" name=""/>
          <p:cNvSpPr/>
          <p:nvPr/>
        </p:nvSpPr>
        <p:spPr>
          <a:xfrm rot="0" flipH="0" flipV="0">
            <a:off x="3000375" y="4810125"/>
            <a:ext cx="638175" cy="352425"/>
          </a:xfrm>
          <a:prstGeom prst="roundRect">
            <a:avLst>
              <a:gd name="adj" fmla="val 8108"/>
            </a:avLst>
          </a:prstGeom>
          <a:solidFill>
            <a:srgbClr val="F7F7F8"/>
          </a:solidFill>
          <a:ln/>
        </p:spPr>
        <p:txBody>
          <a:bodyPr/>
          <a:p/>
        </p:txBody>
      </p:sp>
      <p:sp>
        <p:nvSpPr>
          <p:cNvPr id="1772" name="" descr="{&quot;isTemplate&quot;:true,&quot;type&quot;:&quot;text&quot;}"/>
          <p:cNvSpPr txBox="1"/>
          <p:nvPr/>
        </p:nvSpPr>
        <p:spPr>
          <a:xfrm rot="0" flipH="0" flipV="0">
            <a:off x="3076575" y="4933950"/>
            <a:ext cx="466725" cy="114300"/>
          </a:xfrm>
          <a:prstGeom prst="rect"/>
        </p:spPr>
        <p:txBody>
          <a:bodyPr wrap="none" lIns="0" tIns="0" rIns="0" bIns="0"/>
          <a:p>
            <a:pPr>
              <a:lnSpc>
                <a:spcPct val="100000"/>
              </a:lnSpc>
            </a:pPr>
            <a:r>
              <a:rPr lang="en-US" sz="713">
                <a:solidFill>
                  <a:srgbClr val="5A6070"/>
                </a:solidFill>
                <a:latin typeface="Microsoft YaHei"/>
                <a:ea typeface="Microsoft YaHei"/>
              </a:rPr>
              <a:t>BLD-E3-05</a:t>
            </a:r>
            <a:endParaRPr/>
          </a:p>
        </p:txBody>
      </p:sp>
      <p:sp>
        <p:nvSpPr>
          <p:cNvPr id="1773" name=""/>
          <p:cNvSpPr/>
          <p:nvPr/>
        </p:nvSpPr>
        <p:spPr>
          <a:xfrm rot="0" flipH="0" flipV="0">
            <a:off x="3676650" y="4810125"/>
            <a:ext cx="647700" cy="352425"/>
          </a:xfrm>
          <a:prstGeom prst="roundRect">
            <a:avLst>
              <a:gd name="adj" fmla="val 8108"/>
            </a:avLst>
          </a:prstGeom>
          <a:solidFill>
            <a:srgbClr val="F7F7F8"/>
          </a:solidFill>
          <a:ln/>
        </p:spPr>
        <p:txBody>
          <a:bodyPr/>
          <a:p/>
        </p:txBody>
      </p:sp>
      <p:sp>
        <p:nvSpPr>
          <p:cNvPr id="1774" name="" descr="{&quot;isTemplate&quot;:true,&quot;type&quot;:&quot;text&quot;}"/>
          <p:cNvSpPr txBox="1"/>
          <p:nvPr/>
        </p:nvSpPr>
        <p:spPr>
          <a:xfrm rot="0" flipH="0" flipV="0">
            <a:off x="3752850" y="4876800"/>
            <a:ext cx="495300" cy="219075"/>
          </a:xfrm>
          <a:prstGeom prst="rect"/>
        </p:spPr>
        <p:txBody>
          <a:bodyPr wrap="square" lIns="0" tIns="0" rIns="0" bIns="0">
            <a:normAutofit/>
          </a:bodyPr>
          <a:p>
            <a:pPr>
              <a:lnSpc>
                <a:spcPct val="100000"/>
              </a:lnSpc>
            </a:pPr>
            <a:r>
              <a:rPr lang="en-US" sz="713">
                <a:solidFill>
                  <a:srgbClr val="5A6070"/>
                </a:solidFill>
                <a:latin typeface="Microsoft YaHei"/>
                <a:ea typeface="Microsoft YaHei"/>
              </a:rPr>
              <a:t xml:space="preserve">L5-3 </a:t>
            </a:r>
            <a:r>
              <a:rPr lang="zh-CN" sz="713">
                <a:solidFill>
                  <a:srgbClr val="5A6070"/>
                </a:solidFill>
                <a:latin typeface="Microsoft YaHei"/>
                <a:ea typeface="Microsoft YaHei"/>
              </a:rPr>
              <a:t>验收结算</a:t>
            </a:r>
            <a:endParaRPr/>
          </a:p>
        </p:txBody>
      </p:sp>
      <p:sp>
        <p:nvSpPr>
          <p:cNvPr id="1775" name=""/>
          <p:cNvSpPr/>
          <p:nvPr/>
        </p:nvSpPr>
        <p:spPr>
          <a:xfrm rot="0" flipH="0" flipV="0">
            <a:off x="4362450" y="4810125"/>
            <a:ext cx="1543050" cy="352425"/>
          </a:xfrm>
          <a:prstGeom prst="roundRect">
            <a:avLst>
              <a:gd name="adj" fmla="val 8108"/>
            </a:avLst>
          </a:prstGeom>
          <a:solidFill>
            <a:srgbClr val="F7F7F8"/>
          </a:solidFill>
          <a:ln/>
        </p:spPr>
        <p:txBody>
          <a:bodyPr/>
          <a:p/>
        </p:txBody>
      </p:sp>
      <p:sp>
        <p:nvSpPr>
          <p:cNvPr id="1776" name="" descr="{&quot;isTemplate&quot;:true,&quot;type&quot;:&quot;text&quot;}"/>
          <p:cNvSpPr txBox="1"/>
          <p:nvPr/>
        </p:nvSpPr>
        <p:spPr>
          <a:xfrm rot="0" flipH="0" flipV="0">
            <a:off x="4438650" y="4914900"/>
            <a:ext cx="819150" cy="142875"/>
          </a:xfrm>
          <a:prstGeom prst="rect"/>
        </p:spPr>
        <p:txBody>
          <a:bodyPr wrap="none" lIns="0" tIns="0" rIns="0" bIns="0"/>
          <a:p>
            <a:pPr>
              <a:lnSpc>
                <a:spcPct val="125000"/>
              </a:lnSpc>
            </a:pPr>
            <a:r>
              <a:rPr lang="zh-CN" sz="713">
                <a:solidFill>
                  <a:srgbClr val="3A4050"/>
                </a:solidFill>
                <a:latin typeface="Microsoft YaHei"/>
                <a:ea typeface="Microsoft YaHei"/>
              </a:rPr>
              <a:t>超时未更新自动预警</a:t>
            </a:r>
            <a:endParaRPr/>
          </a:p>
        </p:txBody>
      </p:sp>
      <p:sp>
        <p:nvSpPr>
          <p:cNvPr id="1777" name=""/>
          <p:cNvSpPr/>
          <p:nvPr/>
        </p:nvSpPr>
        <p:spPr>
          <a:xfrm rot="0" flipH="0" flipV="0">
            <a:off x="5943600" y="4810125"/>
            <a:ext cx="638175" cy="352425"/>
          </a:xfrm>
          <a:prstGeom prst="roundRect">
            <a:avLst>
              <a:gd name="adj" fmla="val 8108"/>
            </a:avLst>
          </a:prstGeom>
          <a:solidFill>
            <a:srgbClr val="FA4F24"/>
          </a:solidFill>
          <a:ln/>
        </p:spPr>
        <p:txBody>
          <a:bodyPr/>
          <a:p/>
        </p:txBody>
      </p:sp>
      <p:sp>
        <p:nvSpPr>
          <p:cNvPr id="1778" name="" descr="{&quot;isTemplate&quot;:true,&quot;type&quot;:&quot;text&quot;}"/>
          <p:cNvSpPr txBox="1"/>
          <p:nvPr/>
        </p:nvSpPr>
        <p:spPr>
          <a:xfrm rot="0" flipH="0" flipV="0">
            <a:off x="6019800" y="4933950"/>
            <a:ext cx="276225" cy="114300"/>
          </a:xfrm>
          <a:prstGeom prst="rect"/>
        </p:spPr>
        <p:txBody>
          <a:bodyPr wrap="none" lIns="0" tIns="0" rIns="0" bIns="0"/>
          <a:p>
            <a:pPr>
              <a:lnSpc>
                <a:spcPct val="100000"/>
              </a:lnSpc>
            </a:pPr>
            <a:r>
              <a:rPr lang="zh-CN" sz="713" b="1">
                <a:solidFill>
                  <a:srgbClr val="FFFFFF"/>
                </a:solidFill>
                <a:latin typeface="Microsoft YaHei"/>
                <a:ea typeface="Microsoft YaHei"/>
              </a:rPr>
              <a:t>已确认</a:t>
            </a:r>
            <a:endParaRPr/>
          </a:p>
        </p:txBody>
      </p:sp>
      <p:sp>
        <p:nvSpPr>
          <p:cNvPr id="1779" name=""/>
          <p:cNvSpPr/>
          <p:nvPr/>
        </p:nvSpPr>
        <p:spPr>
          <a:xfrm rot="0" flipH="0" flipV="0">
            <a:off x="6791325" y="2562225"/>
            <a:ext cx="4791075" cy="1847850"/>
          </a:xfrm>
          <a:prstGeom prst="roundRect">
            <a:avLst>
              <a:gd name="adj" fmla="val 2062"/>
            </a:avLst>
          </a:prstGeom>
          <a:solidFill>
            <a:srgbClr val="0F1423"/>
          </a:solidFill>
          <a:ln/>
        </p:spPr>
        <p:txBody>
          <a:bodyPr/>
          <a:p/>
        </p:txBody>
      </p:sp>
      <p:sp>
        <p:nvSpPr>
          <p:cNvPr id="1780" name="" descr="{&quot;isTemplate&quot;:true,&quot;type&quot;:&quot;text&quot;}"/>
          <p:cNvSpPr txBox="1"/>
          <p:nvPr/>
        </p:nvSpPr>
        <p:spPr>
          <a:xfrm rot="0" flipH="0" flipV="0">
            <a:off x="6943725" y="2686050"/>
            <a:ext cx="4486275" cy="142875"/>
          </a:xfrm>
          <a:prstGeom prst="rect"/>
        </p:spPr>
        <p:txBody>
          <a:bodyPr wrap="none" lIns="0" tIns="0" rIns="0" bIns="0"/>
          <a:p>
            <a:pPr>
              <a:lnSpc>
                <a:spcPct val="100000"/>
              </a:lnSpc>
            </a:pPr>
            <a:r>
              <a:rPr lang="zh-CN" sz="900" spc="75">
                <a:solidFill>
                  <a:srgbClr val="FBA15C"/>
                </a:solidFill>
                <a:latin typeface="Microsoft YaHei"/>
                <a:ea typeface="Microsoft YaHei"/>
              </a:rPr>
              <a:t>冻结之后：变更怎么走</a:t>
            </a:r>
            <a:endParaRPr/>
          </a:p>
        </p:txBody>
      </p:sp>
      <p:sp>
        <p:nvSpPr>
          <p:cNvPr id="1781" name="" descr="{&quot;isTemplate&quot;:true,&quot;type&quot;:&quot;text&quot;}"/>
          <p:cNvSpPr txBox="1"/>
          <p:nvPr/>
        </p:nvSpPr>
        <p:spPr>
          <a:xfrm rot="0" flipH="0" flipV="0">
            <a:off x="6943725" y="291465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782" name="" descr="{&quot;isTemplate&quot;:true,&quot;type&quot;:&quot;text&quot;}"/>
          <p:cNvSpPr txBox="1"/>
          <p:nvPr/>
        </p:nvSpPr>
        <p:spPr>
          <a:xfrm rot="0" flipH="0" flipV="0">
            <a:off x="7067550" y="2914650"/>
            <a:ext cx="4362450" cy="133350"/>
          </a:xfrm>
          <a:prstGeom prst="rect"/>
        </p:spPr>
        <p:txBody>
          <a:bodyPr wrap="none" lIns="0" tIns="0" rIns="0" bIns="0"/>
          <a:p>
            <a:pPr>
              <a:lnSpc>
                <a:spcPct val="100000"/>
              </a:lnSpc>
            </a:pPr>
            <a:r>
              <a:rPr lang="zh-CN" sz="863" b="1">
                <a:solidFill>
                  <a:srgbClr val="FFFFFF"/>
                </a:solidFill>
                <a:latin typeface="Microsoft YaHei"/>
                <a:ea typeface="Microsoft YaHei"/>
              </a:rPr>
              <a:t>变更申请</a:t>
            </a:r>
            <a:endParaRPr/>
          </a:p>
        </p:txBody>
      </p:sp>
      <p:sp>
        <p:nvSpPr>
          <p:cNvPr id="1783" name="" descr="{&quot;isTemplate&quot;:true,&quot;type&quot;:&quot;text&quot;}"/>
          <p:cNvSpPr txBox="1"/>
          <p:nvPr/>
        </p:nvSpPr>
        <p:spPr>
          <a:xfrm rot="0" flipH="0" flipV="0">
            <a:off x="7067550" y="3067050"/>
            <a:ext cx="4362450" cy="152400"/>
          </a:xfrm>
          <a:prstGeom prst="rect"/>
        </p:spPr>
        <p:txBody>
          <a:bodyPr wrap="none" lIns="0" tIns="0" rIns="0" bIns="0"/>
          <a:p>
            <a:pPr>
              <a:lnSpc>
                <a:spcPct val="130000"/>
              </a:lnSpc>
            </a:pPr>
            <a:r>
              <a:rPr lang="zh-CN" sz="750">
                <a:solidFill>
                  <a:srgbClr val="FFFFFF">
                    <a:alpha val="82000"/>
                  </a:srgbClr>
                </a:solidFill>
                <a:latin typeface="Microsoft YaHei"/>
                <a:ea typeface="Microsoft YaHei"/>
              </a:rPr>
              <a:t>提出方写明变更原因、影响范围（哪条</a:t>
            </a:r>
            <a:r>
              <a:rPr lang="en-US" sz="750">
                <a:solidFill>
                  <a:srgbClr val="FFFFFF">
                    <a:alpha val="82000"/>
                  </a:srgbClr>
                </a:solidFill>
                <a:latin typeface="Microsoft YaHei"/>
                <a:ea typeface="Microsoft YaHei"/>
              </a:rPr>
              <a:t xml:space="preserve"> L5/</a:t>
            </a:r>
            <a:r>
              <a:rPr lang="zh-CN" sz="750">
                <a:solidFill>
                  <a:srgbClr val="FFFFFF">
                    <a:alpha val="82000"/>
                  </a:srgbClr>
                </a:solidFill>
                <a:latin typeface="Microsoft YaHei"/>
                <a:ea typeface="Microsoft YaHei"/>
              </a:rPr>
              <a:t>哪个实体</a:t>
            </a:r>
            <a:r>
              <a:rPr lang="en-US" sz="750">
                <a:solidFill>
                  <a:srgbClr val="FFFFFF">
                    <a:alpha val="82000"/>
                  </a:srgbClr>
                </a:solidFill>
                <a:latin typeface="Microsoft YaHei"/>
                <a:ea typeface="Microsoft YaHei"/>
              </a:rPr>
              <a:t>/</a:t>
            </a:r>
            <a:r>
              <a:rPr lang="zh-CN" sz="750">
                <a:solidFill>
                  <a:srgbClr val="FFFFFF">
                    <a:alpha val="82000"/>
                  </a:srgbClr>
                </a:solidFill>
                <a:latin typeface="Microsoft YaHei"/>
                <a:ea typeface="Microsoft YaHei"/>
              </a:rPr>
              <a:t>哪个接口）</a:t>
            </a:r>
            <a:endParaRPr/>
          </a:p>
        </p:txBody>
      </p:sp>
      <p:sp>
        <p:nvSpPr>
          <p:cNvPr id="1784" name="" descr="{&quot;isTemplate&quot;:true,&quot;type&quot;:&quot;text&quot;}"/>
          <p:cNvSpPr txBox="1"/>
          <p:nvPr/>
        </p:nvSpPr>
        <p:spPr>
          <a:xfrm rot="0" flipH="0" flipV="0">
            <a:off x="6943725" y="3267075"/>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785" name="" descr="{&quot;isTemplate&quot;:true,&quot;type&quot;:&quot;text&quot;}"/>
          <p:cNvSpPr txBox="1"/>
          <p:nvPr/>
        </p:nvSpPr>
        <p:spPr>
          <a:xfrm rot="0" flipH="0" flipV="0">
            <a:off x="7067550" y="3267075"/>
            <a:ext cx="4362450" cy="133350"/>
          </a:xfrm>
          <a:prstGeom prst="rect"/>
        </p:spPr>
        <p:txBody>
          <a:bodyPr wrap="none" lIns="0" tIns="0" rIns="0" bIns="0"/>
          <a:p>
            <a:pPr>
              <a:lnSpc>
                <a:spcPct val="100000"/>
              </a:lnSpc>
            </a:pPr>
            <a:r>
              <a:rPr lang="zh-CN" sz="863" b="1">
                <a:solidFill>
                  <a:srgbClr val="FFFFFF"/>
                </a:solidFill>
                <a:latin typeface="Microsoft YaHei"/>
                <a:ea typeface="Microsoft YaHei"/>
              </a:rPr>
              <a:t>影响评估</a:t>
            </a:r>
            <a:endParaRPr/>
          </a:p>
        </p:txBody>
      </p:sp>
      <p:sp>
        <p:nvSpPr>
          <p:cNvPr id="1786" name="" descr="{&quot;isTemplate&quot;:true,&quot;type&quot;:&quot;text&quot;}"/>
          <p:cNvSpPr txBox="1"/>
          <p:nvPr/>
        </p:nvSpPr>
        <p:spPr>
          <a:xfrm rot="0" flipH="0" flipV="0">
            <a:off x="7067550" y="3419475"/>
            <a:ext cx="4362450" cy="152400"/>
          </a:xfrm>
          <a:prstGeom prst="rect"/>
        </p:spPr>
        <p:txBody>
          <a:bodyPr wrap="none" lIns="0" tIns="0" rIns="0" bIns="0"/>
          <a:p>
            <a:pPr>
              <a:lnSpc>
                <a:spcPct val="130000"/>
              </a:lnSpc>
            </a:pPr>
            <a:r>
              <a:rPr lang="zh-CN" sz="750">
                <a:solidFill>
                  <a:srgbClr val="FFFFFF">
                    <a:alpha val="82000"/>
                  </a:srgbClr>
                </a:solidFill>
                <a:latin typeface="Microsoft YaHei"/>
                <a:ea typeface="Microsoft YaHei"/>
              </a:rPr>
              <a:t>评估对已冻结内容的影响与工作量，不接受口头变更</a:t>
            </a:r>
            <a:endParaRPr/>
          </a:p>
        </p:txBody>
      </p:sp>
      <p:sp>
        <p:nvSpPr>
          <p:cNvPr id="1787" name="" descr="{&quot;isTemplate&quot;:true,&quot;type&quot;:&quot;text&quot;}"/>
          <p:cNvSpPr txBox="1"/>
          <p:nvPr/>
        </p:nvSpPr>
        <p:spPr>
          <a:xfrm rot="0" flipH="0" flipV="0">
            <a:off x="6943725" y="361950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788" name="" descr="{&quot;isTemplate&quot;:true,&quot;type&quot;:&quot;text&quot;}"/>
          <p:cNvSpPr txBox="1"/>
          <p:nvPr/>
        </p:nvSpPr>
        <p:spPr>
          <a:xfrm rot="0" flipH="0" flipV="0">
            <a:off x="7067550" y="3619500"/>
            <a:ext cx="4362450" cy="133350"/>
          </a:xfrm>
          <a:prstGeom prst="rect"/>
        </p:spPr>
        <p:txBody>
          <a:bodyPr wrap="none" lIns="0" tIns="0" rIns="0" bIns="0"/>
          <a:p>
            <a:pPr>
              <a:lnSpc>
                <a:spcPct val="100000"/>
              </a:lnSpc>
            </a:pPr>
            <a:r>
              <a:rPr lang="zh-CN" sz="863" b="1">
                <a:solidFill>
                  <a:srgbClr val="FFFFFF"/>
                </a:solidFill>
                <a:latin typeface="Microsoft YaHei"/>
                <a:ea typeface="Microsoft YaHei"/>
              </a:rPr>
              <a:t>基线升版</a:t>
            </a:r>
            <a:endParaRPr/>
          </a:p>
        </p:txBody>
      </p:sp>
      <p:sp>
        <p:nvSpPr>
          <p:cNvPr id="1789" name="" descr="{&quot;isTemplate&quot;:true,&quot;type&quot;:&quot;text&quot;}"/>
          <p:cNvSpPr txBox="1"/>
          <p:nvPr/>
        </p:nvSpPr>
        <p:spPr>
          <a:xfrm rot="0" flipH="0" flipV="0">
            <a:off x="7067550" y="3771900"/>
            <a:ext cx="4362450" cy="152400"/>
          </a:xfrm>
          <a:prstGeom prst="rect"/>
        </p:spPr>
        <p:txBody>
          <a:bodyPr wrap="none" lIns="0" tIns="0" rIns="0" bIns="0"/>
          <a:p>
            <a:pPr>
              <a:lnSpc>
                <a:spcPct val="130000"/>
              </a:lnSpc>
            </a:pPr>
            <a:r>
              <a:rPr lang="zh-CN" sz="750">
                <a:solidFill>
                  <a:srgbClr val="FFFFFF">
                    <a:alpha val="82000"/>
                  </a:srgbClr>
                </a:solidFill>
                <a:latin typeface="Microsoft YaHei"/>
                <a:ea typeface="Microsoft YaHei"/>
              </a:rPr>
              <a:t>评估通过后基线升版并记录变更历史，原版本可追溯</a:t>
            </a:r>
            <a:endParaRPr/>
          </a:p>
        </p:txBody>
      </p:sp>
      <p:sp>
        <p:nvSpPr>
          <p:cNvPr id="1790" name="" descr="{&quot;isTemplate&quot;:true,&quot;type&quot;:&quot;text&quot;}"/>
          <p:cNvSpPr txBox="1"/>
          <p:nvPr/>
        </p:nvSpPr>
        <p:spPr>
          <a:xfrm rot="0" flipH="0" flipV="0">
            <a:off x="6943725" y="3971925"/>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791" name="" descr="{&quot;isTemplate&quot;:true,&quot;type&quot;:&quot;text&quot;}"/>
          <p:cNvSpPr txBox="1"/>
          <p:nvPr/>
        </p:nvSpPr>
        <p:spPr>
          <a:xfrm rot="0" flipH="0" flipV="0">
            <a:off x="7067550" y="3971925"/>
            <a:ext cx="4362450" cy="133350"/>
          </a:xfrm>
          <a:prstGeom prst="rect"/>
        </p:spPr>
        <p:txBody>
          <a:bodyPr wrap="none" lIns="0" tIns="0" rIns="0" bIns="0"/>
          <a:p>
            <a:pPr>
              <a:lnSpc>
                <a:spcPct val="100000"/>
              </a:lnSpc>
            </a:pPr>
            <a:r>
              <a:rPr lang="zh-CN" sz="863" b="1">
                <a:solidFill>
                  <a:srgbClr val="FFFFFF"/>
                </a:solidFill>
                <a:latin typeface="Microsoft YaHei"/>
                <a:ea typeface="Microsoft YaHei"/>
              </a:rPr>
              <a:t>不进基线的</a:t>
            </a:r>
            <a:endParaRPr/>
          </a:p>
        </p:txBody>
      </p:sp>
      <p:sp>
        <p:nvSpPr>
          <p:cNvPr id="1792" name="" descr="{&quot;isTemplate&quot;:true,&quot;type&quot;:&quot;text&quot;}"/>
          <p:cNvSpPr txBox="1"/>
          <p:nvPr/>
        </p:nvSpPr>
        <p:spPr>
          <a:xfrm rot="0" flipH="0" flipV="0">
            <a:off x="7067550" y="4124325"/>
            <a:ext cx="4362450" cy="152400"/>
          </a:xfrm>
          <a:prstGeom prst="rect"/>
        </p:spPr>
        <p:txBody>
          <a:bodyPr wrap="none" lIns="0" tIns="0" rIns="0" bIns="0"/>
          <a:p>
            <a:pPr>
              <a:lnSpc>
                <a:spcPct val="130000"/>
              </a:lnSpc>
            </a:pPr>
            <a:r>
              <a:rPr lang="zh-CN" sz="750">
                <a:solidFill>
                  <a:srgbClr val="FFFFFF">
                    <a:alpha val="82000"/>
                  </a:srgbClr>
                </a:solidFill>
                <a:latin typeface="Microsoft YaHei"/>
                <a:ea typeface="Microsoft YaHei"/>
              </a:rPr>
              <a:t>无来源、无验收标准的需求一律不进基线，走新增流程另议</a:t>
            </a:r>
            <a:endParaRPr/>
          </a:p>
        </p:txBody>
      </p:sp>
      <p:sp>
        <p:nvSpPr>
          <p:cNvPr id="1793" name=""/>
          <p:cNvSpPr/>
          <p:nvPr/>
        </p:nvSpPr>
        <p:spPr>
          <a:xfrm rot="0" flipH="0" flipV="0">
            <a:off x="6829425" y="4476750"/>
            <a:ext cx="4791075" cy="781050"/>
          </a:xfrm>
          <a:prstGeom prst="roundRect">
            <a:avLst>
              <a:gd name="adj" fmla="val 4878"/>
            </a:avLst>
          </a:prstGeom>
          <a:solidFill>
            <a:srgbClr val="FFF3EE"/>
          </a:solidFill>
          <a:ln/>
        </p:spPr>
        <p:txBody>
          <a:bodyPr/>
          <a:p/>
        </p:txBody>
      </p:sp>
      <p:sp>
        <p:nvSpPr>
          <p:cNvPr id="1794" name=""/>
          <p:cNvSpPr/>
          <p:nvPr/>
        </p:nvSpPr>
        <p:spPr>
          <a:xfrm rot="0" flipH="0" flipV="0">
            <a:off x="6829425" y="4476750"/>
            <a:ext cx="4791075" cy="781050"/>
          </a:xfrm>
          <a:custGeom>
            <a:pathLst>
              <a:path w="503" h="82">
                <a:moveTo>
                  <a:pt x="4" y="82"/>
                </a:moveTo>
                <a:cubicBezTo>
                  <a:pt x="2" y="82"/>
                  <a:pt x="0" y="80"/>
                  <a:pt x="0" y="78"/>
                </a:cubicBezTo>
                <a:lnTo>
                  <a:pt x="0" y="4"/>
                </a:lnTo>
                <a:cubicBezTo>
                  <a:pt x="0" y="2"/>
                  <a:pt x="2" y="0"/>
                  <a:pt x="4" y="0"/>
                </a:cubicBezTo>
                <a:lnTo>
                  <a:pt x="4" y="82"/>
                </a:lnTo>
                <a:close/>
              </a:path>
            </a:pathLst>
          </a:custGeom>
          <a:solidFill>
            <a:srgbClr val="FA4F24"/>
          </a:solidFill>
          <a:ln/>
        </p:spPr>
        <p:txBody>
          <a:bodyPr/>
          <a:p/>
        </p:txBody>
      </p:sp>
      <p:sp>
        <p:nvSpPr>
          <p:cNvPr id="1795" name="" descr="{&quot;isTemplate&quot;:true,&quot;type&quot;:&quot;text&quot;}"/>
          <p:cNvSpPr txBox="1"/>
          <p:nvPr/>
        </p:nvSpPr>
        <p:spPr>
          <a:xfrm rot="0" flipH="0" flipV="0">
            <a:off x="6972300" y="4591050"/>
            <a:ext cx="4467225" cy="142875"/>
          </a:xfrm>
          <a:prstGeom prst="rect"/>
        </p:spPr>
        <p:txBody>
          <a:bodyPr wrap="none" lIns="0" tIns="0" rIns="0" bIns="0"/>
          <a:p>
            <a:pPr>
              <a:lnSpc>
                <a:spcPct val="100000"/>
              </a:lnSpc>
            </a:pPr>
            <a:r>
              <a:rPr lang="zh-CN" sz="938" b="1">
                <a:solidFill>
                  <a:srgbClr val="C43A17"/>
                </a:solidFill>
                <a:latin typeface="Microsoft YaHei"/>
                <a:ea typeface="Microsoft YaHei"/>
              </a:rPr>
              <a:t>一条需求的完整结构（六要素）</a:t>
            </a:r>
            <a:endParaRPr/>
          </a:p>
        </p:txBody>
      </p:sp>
      <p:sp>
        <p:nvSpPr>
          <p:cNvPr id="1796" name="" descr="{&quot;isTemplate&quot;:true,&quot;type&quot;:&quot;text&quot;}"/>
          <p:cNvSpPr txBox="1"/>
          <p:nvPr/>
        </p:nvSpPr>
        <p:spPr>
          <a:xfrm rot="0" flipH="0" flipV="0">
            <a:off x="6972300" y="4791075"/>
            <a:ext cx="4467225" cy="361950"/>
          </a:xfrm>
          <a:prstGeom prst="rect"/>
        </p:spPr>
        <p:txBody>
          <a:bodyPr wrap="square" lIns="0" tIns="0" rIns="0" bIns="0">
            <a:normAutofit/>
          </a:bodyPr>
          <a:p>
            <a:pPr>
              <a:lnSpc>
                <a:spcPct val="150000"/>
              </a:lnSpc>
            </a:pPr>
            <a:r>
              <a:rPr lang="zh-CN" sz="788">
                <a:solidFill>
                  <a:srgbClr val="3A4050"/>
                </a:solidFill>
                <a:latin typeface="Microsoft YaHei"/>
                <a:ea typeface="Microsoft YaHei"/>
              </a:rPr>
              <a:t>需求编号</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业务场景与用户角色</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操作流程</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业务规则与例外处理</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验收标准</a:t>
            </a:r>
            <a:r>
              <a:rPr lang="en-US" sz="788">
                <a:solidFill>
                  <a:srgbClr val="3A4050"/>
                </a:solidFill>
                <a:latin typeface="Microsoft YaHei"/>
                <a:ea typeface="Microsoft YaHei"/>
              </a:rPr>
              <a:t xml:space="preserve"> · </a:t>
            </a:r>
            <a:r>
              <a:rPr lang="zh-CN" sz="788">
                <a:solidFill>
                  <a:srgbClr val="3A4050"/>
                </a:solidFill>
                <a:latin typeface="Microsoft YaHei"/>
                <a:ea typeface="Microsoft YaHei"/>
              </a:rPr>
              <a:t>对应痛点编号。少任何一项不进入基线——尤其「验收标准」和「例外处理」。</a:t>
            </a:r>
            <a:endParaRPr/>
          </a:p>
        </p:txBody>
      </p:sp>
      <p:sp>
        <p:nvSpPr>
          <p:cNvPr id="1797" name=""/>
          <p:cNvSpPr/>
          <p:nvPr/>
        </p:nvSpPr>
        <p:spPr>
          <a:xfrm rot="0" flipH="0" flipV="0">
            <a:off x="647700" y="5334000"/>
            <a:ext cx="10972800" cy="323850"/>
          </a:xfrm>
          <a:prstGeom prst="roundRect">
            <a:avLst>
              <a:gd name="adj" fmla="val 11765"/>
            </a:avLst>
          </a:prstGeom>
          <a:solidFill>
            <a:srgbClr val="F7F7F8"/>
          </a:solidFill>
          <a:ln/>
        </p:spPr>
        <p:txBody>
          <a:bodyPr/>
          <a:p/>
        </p:txBody>
      </p:sp>
      <p:sp>
        <p:nvSpPr>
          <p:cNvPr id="1798" name=""/>
          <p:cNvSpPr/>
          <p:nvPr/>
        </p:nvSpPr>
        <p:spPr>
          <a:xfrm rot="0" flipH="0" flipV="0">
            <a:off x="647700" y="5334000"/>
            <a:ext cx="10972800" cy="323850"/>
          </a:xfrm>
          <a:custGeom>
            <a:pathLst>
              <a:path w="1152" h="34">
                <a:moveTo>
                  <a:pt x="4" y="34"/>
                </a:moveTo>
                <a:cubicBezTo>
                  <a:pt x="2" y="34"/>
                  <a:pt x="0" y="32"/>
                  <a:pt x="0" y="30"/>
                </a:cubicBezTo>
                <a:lnTo>
                  <a:pt x="0" y="4"/>
                </a:lnTo>
                <a:cubicBezTo>
                  <a:pt x="0" y="2"/>
                  <a:pt x="2" y="0"/>
                  <a:pt x="4" y="0"/>
                </a:cubicBezTo>
                <a:lnTo>
                  <a:pt x="4" y="34"/>
                </a:lnTo>
                <a:close/>
              </a:path>
            </a:pathLst>
          </a:custGeom>
          <a:solidFill>
            <a:srgbClr val="C43A17"/>
          </a:solidFill>
          <a:ln/>
        </p:spPr>
        <p:txBody>
          <a:bodyPr/>
          <a:p/>
        </p:txBody>
      </p:sp>
      <p:sp>
        <p:nvSpPr>
          <p:cNvPr id="1799" name="" descr="{&quot;isTemplate&quot;:true,&quot;type&quot;:&quot;text&quot;}"/>
          <p:cNvSpPr txBox="1"/>
          <p:nvPr/>
        </p:nvSpPr>
        <p:spPr>
          <a:xfrm rot="0" flipH="0" flipV="0">
            <a:off x="800100" y="5429250"/>
            <a:ext cx="1123950" cy="142875"/>
          </a:xfrm>
          <a:prstGeom prst="rect"/>
        </p:spPr>
        <p:txBody>
          <a:bodyPr wrap="none" lIns="0" tIns="0" rIns="0" bIns="0"/>
          <a:p>
            <a:pPr>
              <a:lnSpc>
                <a:spcPct val="100000"/>
              </a:lnSpc>
            </a:pPr>
            <a:r>
              <a:rPr lang="zh-CN" sz="900" b="1">
                <a:solidFill>
                  <a:srgbClr val="C43A17"/>
                </a:solidFill>
                <a:latin typeface="Microsoft YaHei"/>
                <a:ea typeface="Microsoft YaHei"/>
              </a:rPr>
              <a:t>经验之谈</a:t>
            </a:r>
            <a:endParaRPr/>
          </a:p>
        </p:txBody>
      </p:sp>
      <p:sp>
        <p:nvSpPr>
          <p:cNvPr id="1800" name="" descr="{&quot;isTemplate&quot;:true,&quot;type&quot;:&quot;text&quot;}"/>
          <p:cNvSpPr txBox="1"/>
          <p:nvPr/>
        </p:nvSpPr>
        <p:spPr>
          <a:xfrm rot="0" flipH="0" flipV="0">
            <a:off x="2057400" y="5410200"/>
            <a:ext cx="9372600" cy="180975"/>
          </a:xfrm>
          <a:prstGeom prst="rect"/>
        </p:spPr>
        <p:txBody>
          <a:bodyPr wrap="none" lIns="0" tIns="0" rIns="0" bIns="0"/>
          <a:p>
            <a:pPr>
              <a:lnSpc>
                <a:spcPct val="135000"/>
              </a:lnSpc>
            </a:pPr>
            <a:r>
              <a:rPr lang="zh-CN" sz="863">
                <a:solidFill>
                  <a:srgbClr val="3A4050"/>
                </a:solidFill>
                <a:latin typeface="Microsoft YaHei"/>
                <a:ea typeface="Microsoft YaHei"/>
              </a:rPr>
              <a:t>评审会上最容易被跳过的就是「追溯抽查」。建议把它放在最后、并且要求当场抽——一旦允许会后补，整个追溯矩阵就会退化成凑数的表。</a:t>
            </a:r>
            <a:endParaRPr/>
          </a:p>
        </p:txBody>
      </p:sp>
      <p:sp>
        <p:nvSpPr>
          <p:cNvPr id="1801" name=""/>
          <p:cNvSpPr/>
          <p:nvPr/>
        </p:nvSpPr>
        <p:spPr>
          <a:xfrm rot="0" flipH="0" flipV="0">
            <a:off x="609600" y="5943600"/>
            <a:ext cx="133350" cy="133350"/>
          </a:xfrm>
          <a:prstGeom prst="rect">
            <a:avLst/>
          </a:prstGeom>
          <a:solidFill>
            <a:srgbClr val="FA4F24"/>
          </a:solidFill>
          <a:ln/>
        </p:spPr>
        <p:txBody>
          <a:bodyPr/>
          <a:p/>
        </p:txBody>
      </p:sp>
      <p:sp>
        <p:nvSpPr>
          <p:cNvPr id="1802"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80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31 / 36</a:t>
            </a:r>
            <a:endParaRPr/>
          </a:p>
        </p:txBody>
      </p:sp>
    </p:spTree>
  </p:cSld>
</p:sld>
</file>

<file path=ppt/slides/slide32.xml><?xml version="1.0" encoding="utf-8"?>
<p:sld xmlns:p="http://schemas.openxmlformats.org/presentationml/2006/main" xmlns:a="http://schemas.openxmlformats.org/drawingml/2006/main">
  <p:cSld>
    <p:spTree>
      <p:nvGrpSpPr>
        <p:cNvPr id="1804" name="" descr="&lt;Slide style={{ width: 1280, height: 720, background: '#0F1423' }}&gt;&#10;  &lt;Box style={{ position: 'absolute', left: 0, top: 0, width: 1280, height: 720, background: 'linear-gradient(135deg, #0F1423 0%, #2A1810 100%)' }} /&gt;&#10;  &lt;Box style={{ position: 'absolute', right: 0, top: 0, width: 560, height: 720, background: 'linear-gradient(200deg, rgba(250,79,36,0.28) 0%, rgba(250,79,36,0) 70%)' }} /&gt;&#10;&#10;  &lt;Box style={{ position: 'absolute', right: 70, top: 110 }}&gt;&#10;    &lt;Text style={{ fontSize: 290, fontWeight: 'bold', color: 'rgba(255,255,255,0.08)', lineHeight: 1.0 }}&gt;05&lt;/Text&gt;&#10;  &lt;/Box&gt;&#10;&#10;  &lt;Box style={{ position: 'absolute', left: 88, top: 236, width: 740, flexDirection: 'column' }}&gt;&#10;    &lt;Text style={{ fontSize: 15, color: 'rgba(255,255,255,0.5)', letterSpacing: 3 }}&gt;PART 05&lt;/Text&gt;&#10;    &lt;Box style={{ width: 72, height: 5, background: '#FA4F24', marginTop: 20 }} /&gt;&#10;    &lt;Text style={{ fontSize: 54, fontWeight: 'bold', color: '#FFFFFF', marginTop: 26, lineHeight: 1.15 }}&gt;阶段四：路线图与验收&lt;/Text&gt;&#10;    &lt;Text style={{ fontSize: 17, color: 'rgba(255,255,255,0.62)', letterSpacing: 2, marginTop: 18 }}&gt;ROADMAP AND ACCEPTANCE&lt;/Text&gt;&#10;    &lt;Text style={{ fontSize: 19, color: 'rgba(255,255,255,0.85)', marginTop: 24, lineHeight: 1.6 }}&gt;分期怎么排、钱怎么算、九项交付物怎么验收，以及这个项目最可能卡在哪里&lt;/Text&gt;&#10;  &lt;/Box&gt;&#10;&#10;  &lt;Box style={{ position: 'absolute', left: 88, top: 524, flexDirection: 'row', gap: 28 }}&gt;&#10;    {[&#10;      { k: '分期', v: '按优先级与依赖' },&#10;      { k: '关键路径', v: '依赖关系与瓶颈' },&#10;      { k: '投入收益', v: '测算 + 假设条件' },&#10;      { k: '保障机制', v: '组织与数据' },&#10;      { k: '九项交付', v: '全账逐项签收' },&#10;      { k: '风险', v: '前置条件说清' }&#10;    ].map((x) =&gt; (&#10;      &lt;Box key={x.k} style={{ opacity: 0.72 }}&gt;&#10;        &lt;Text style={{ fontSize: 12.5, color: '#FBA15C', fontWeight: 'bold' }}&gt;{x.k}&lt;/Text&gt;&#10;        &lt;Text style={{ fontSize: 12, color: 'rgba(255,255,255,0.8)', marginTop: 4 }}&gt;{x.v}&lt;/Text&gt;&#10;      &lt;/Box&gt;&#10;    ))}&#10;  &lt;/Box&gt;&#10;&#10;  &lt;Box style={{ position: 'absolute', right: 88, bottom: 60, flexDirection: 'row', alignItems: 'center', gap: 12 }}&gt;&#10;    &lt;Box style={{ width: 14, height: 14, background: '#FA4F24' }} /&gt;&#10;    &lt;Text style={{ fontSize: 14, color: 'rgba(255,255,255,0.5)' }}&gt;硕磐机密 · 利星能业务变革咨询方法论&lt;/Text&gt;&#10;    &lt;Text style={{ fontSize: 14, color: 'rgba(255,255,255,0.5)', marginLeft: 12 }}&gt;32 / 36&lt;/Text&gt;&#10;  &lt;/Box&gt;&#10;&lt;/Slide&gt;&#10;"/>
        <p:cNvGrpSpPr/>
        <p:nvPr/>
      </p:nvGrpSpPr>
      <p:grpSpPr>
        <a:xfrm>
          <a:off x="0" y="0"/>
          <a:ext cx="0" cy="0"/>
          <a:chOff x="0" y="0"/>
          <a:chExt cx="0" cy="0"/>
        </a:xfrm>
      </p:grpSpPr>
      <p:sp>
        <p:nvSpPr>
          <p:cNvPr id="1805" name=""/>
          <p:cNvSpPr/>
          <p:nvPr/>
        </p:nvSpPr>
        <p:spPr>
          <a:xfrm rot="0" flipH="0" flipV="0">
            <a:off x="0" y="0"/>
            <a:ext cx="12192000" cy="6858000"/>
          </a:xfrm>
          <a:prstGeom prst="rect">
            <a:avLst/>
          </a:prstGeom>
          <a:solidFill>
            <a:srgbClr val="0F1423"/>
          </a:solidFill>
          <a:ln/>
        </p:spPr>
        <p:txBody>
          <a:bodyPr/>
          <a:p/>
        </p:txBody>
      </p:sp>
      <p:sp>
        <p:nvSpPr>
          <p:cNvPr id="1806"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1807" name=""/>
          <p:cNvSpPr/>
          <p:nvPr/>
        </p:nvSpPr>
        <p:spPr>
          <a:xfrm rot="0" flipH="0" flipV="0">
            <a:off x="6858000" y="0"/>
            <a:ext cx="5334000" cy="6858000"/>
          </a:xfrm>
          <a:prstGeom prst="rect">
            <a:avLst/>
          </a:prstGeom>
          <a:gradFill>
            <a:gsLst>
              <a:gs pos="0">
                <a:srgbClr val="FA4F24">
                  <a:alpha val="28000"/>
                </a:srgbClr>
              </a:gs>
              <a:gs pos="70000">
                <a:srgbClr val="FA4F24">
                  <a:alpha val="0"/>
                </a:srgbClr>
              </a:gs>
            </a:gsLst>
            <a:lin ang="6600000" scaled="1"/>
          </a:gradFill>
          <a:ln/>
        </p:spPr>
        <p:txBody>
          <a:bodyPr/>
          <a:p/>
        </p:txBody>
      </p:sp>
      <p:sp>
        <p:nvSpPr>
          <p:cNvPr id="1808" name="" descr="{&quot;isTemplate&quot;:true,&quot;type&quot;:&quot;text&quot;}"/>
          <p:cNvSpPr txBox="1"/>
          <p:nvPr/>
        </p:nvSpPr>
        <p:spPr>
          <a:xfrm rot="0" flipH="0" flipV="0">
            <a:off x="8115300" y="1047750"/>
            <a:ext cx="3409950" cy="3314700"/>
          </a:xfrm>
          <a:prstGeom prst="rect"/>
        </p:spPr>
        <p:txBody>
          <a:bodyPr wrap="none" lIns="0" tIns="0" rIns="0" bIns="0"/>
          <a:p>
            <a:pPr>
              <a:lnSpc>
                <a:spcPct val="100000"/>
              </a:lnSpc>
            </a:pPr>
            <a:r>
              <a:rPr lang="en-US" sz="21750" b="1">
                <a:solidFill>
                  <a:srgbClr val="FFFFFF">
                    <a:alpha val="8000"/>
                  </a:srgbClr>
                </a:solidFill>
                <a:latin typeface="Microsoft YaHei"/>
                <a:ea typeface="Microsoft YaHei"/>
              </a:rPr>
              <a:t>05</a:t>
            </a:r>
            <a:endParaRPr/>
          </a:p>
        </p:txBody>
      </p:sp>
      <p:sp>
        <p:nvSpPr>
          <p:cNvPr id="1809" name="" descr="{&quot;isTemplate&quot;:true,&quot;type&quot;:&quot;text&quot;}"/>
          <p:cNvSpPr txBox="1"/>
          <p:nvPr/>
        </p:nvSpPr>
        <p:spPr>
          <a:xfrm rot="0" flipH="0" flipV="0">
            <a:off x="838200" y="2247900"/>
            <a:ext cx="7048500" cy="171450"/>
          </a:xfrm>
          <a:prstGeom prst="rect"/>
        </p:spPr>
        <p:txBody>
          <a:bodyPr wrap="none" lIns="0" tIns="0" rIns="0" bIns="0"/>
          <a:p>
            <a:pPr>
              <a:lnSpc>
                <a:spcPct val="100000"/>
              </a:lnSpc>
            </a:pPr>
            <a:r>
              <a:rPr lang="en-US" sz="1125" spc="225">
                <a:solidFill>
                  <a:srgbClr val="FFFFFF">
                    <a:alpha val="50000"/>
                  </a:srgbClr>
                </a:solidFill>
                <a:latin typeface="Microsoft YaHei"/>
                <a:ea typeface="Microsoft YaHei"/>
              </a:rPr>
              <a:t>PART 05</a:t>
            </a:r>
            <a:endParaRPr/>
          </a:p>
        </p:txBody>
      </p:sp>
      <p:sp>
        <p:nvSpPr>
          <p:cNvPr id="1810" name=""/>
          <p:cNvSpPr/>
          <p:nvPr/>
        </p:nvSpPr>
        <p:spPr>
          <a:xfrm rot="0" flipH="0" flipV="0">
            <a:off x="838200" y="2609850"/>
            <a:ext cx="685800" cy="47625"/>
          </a:xfrm>
          <a:prstGeom prst="rect">
            <a:avLst/>
          </a:prstGeom>
          <a:solidFill>
            <a:srgbClr val="FA4F24"/>
          </a:solidFill>
          <a:ln/>
        </p:spPr>
        <p:txBody>
          <a:bodyPr/>
          <a:p/>
        </p:txBody>
      </p:sp>
      <p:sp>
        <p:nvSpPr>
          <p:cNvPr id="1811" name="" descr="{&quot;isTemplate&quot;:true,&quot;type&quot;:&quot;text&quot;}"/>
          <p:cNvSpPr txBox="1"/>
          <p:nvPr/>
        </p:nvSpPr>
        <p:spPr>
          <a:xfrm rot="0" flipH="0" flipV="0">
            <a:off x="838200" y="2905125"/>
            <a:ext cx="7048500" cy="714375"/>
          </a:xfrm>
          <a:prstGeom prst="rect"/>
        </p:spPr>
        <p:txBody>
          <a:bodyPr wrap="none" lIns="0" tIns="0" rIns="0" bIns="0"/>
          <a:p>
            <a:pPr>
              <a:lnSpc>
                <a:spcPct val="114999"/>
              </a:lnSpc>
            </a:pPr>
            <a:r>
              <a:rPr lang="zh-CN" sz="4050" b="1">
                <a:solidFill>
                  <a:srgbClr val="FFFFFF"/>
                </a:solidFill>
                <a:latin typeface="Microsoft YaHei"/>
                <a:ea typeface="Microsoft YaHei"/>
              </a:rPr>
              <a:t>阶段四：路线图与验收</a:t>
            </a:r>
            <a:endParaRPr/>
          </a:p>
        </p:txBody>
      </p:sp>
      <p:sp>
        <p:nvSpPr>
          <p:cNvPr id="1812" name="" descr="{&quot;isTemplate&quot;:true,&quot;type&quot;:&quot;text&quot;}"/>
          <p:cNvSpPr txBox="1"/>
          <p:nvPr/>
        </p:nvSpPr>
        <p:spPr>
          <a:xfrm rot="0" flipH="0" flipV="0">
            <a:off x="838200" y="3790950"/>
            <a:ext cx="7048500" cy="200025"/>
          </a:xfrm>
          <a:prstGeom prst="rect"/>
        </p:spPr>
        <p:txBody>
          <a:bodyPr wrap="none" lIns="0" tIns="0" rIns="0" bIns="0"/>
          <a:p>
            <a:pPr>
              <a:lnSpc>
                <a:spcPct val="100000"/>
              </a:lnSpc>
            </a:pPr>
            <a:r>
              <a:rPr lang="en-US" sz="1275" spc="150">
                <a:solidFill>
                  <a:srgbClr val="FFFFFF">
                    <a:alpha val="62000"/>
                  </a:srgbClr>
                </a:solidFill>
                <a:latin typeface="Microsoft YaHei"/>
                <a:ea typeface="Microsoft YaHei"/>
              </a:rPr>
              <a:t>ROADMAP AND ACCEPTANCE</a:t>
            </a:r>
            <a:endParaRPr/>
          </a:p>
        </p:txBody>
      </p:sp>
      <p:sp>
        <p:nvSpPr>
          <p:cNvPr id="1813" name="" descr="{&quot;isTemplate&quot;:true,&quot;type&quot;:&quot;text&quot;}"/>
          <p:cNvSpPr txBox="1"/>
          <p:nvPr/>
        </p:nvSpPr>
        <p:spPr>
          <a:xfrm rot="0" flipH="0" flipV="0">
            <a:off x="838200" y="4219575"/>
            <a:ext cx="7048500" cy="352425"/>
          </a:xfrm>
          <a:prstGeom prst="rect"/>
        </p:spPr>
        <p:txBody>
          <a:bodyPr wrap="none" lIns="0" tIns="0" rIns="0" bIns="0"/>
          <a:p>
            <a:pPr>
              <a:lnSpc>
                <a:spcPct val="160000"/>
              </a:lnSpc>
            </a:pPr>
            <a:r>
              <a:rPr lang="zh-CN" sz="1425">
                <a:solidFill>
                  <a:srgbClr val="FFFFFF">
                    <a:alpha val="85000"/>
                  </a:srgbClr>
                </a:solidFill>
                <a:latin typeface="Microsoft YaHei"/>
                <a:ea typeface="Microsoft YaHei"/>
              </a:rPr>
              <a:t>分期怎么排、钱怎么算、九项交付物怎么验收，以及这个项目最可能卡在哪里</a:t>
            </a:r>
            <a:endParaRPr/>
          </a:p>
        </p:txBody>
      </p:sp>
      <p:sp>
        <p:nvSpPr>
          <p:cNvPr id="1814" name="" descr="{&quot;isTemplate&quot;:true,&quot;type&quot;:&quot;text&quot;}"/>
          <p:cNvSpPr txBox="1"/>
          <p:nvPr/>
        </p:nvSpPr>
        <p:spPr>
          <a:xfrm rot="0" flipH="0" flipV="0">
            <a:off x="838200" y="4991100"/>
            <a:ext cx="8001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分期</a:t>
            </a:r>
            <a:endParaRPr/>
          </a:p>
        </p:txBody>
      </p:sp>
      <p:sp>
        <p:nvSpPr>
          <p:cNvPr id="1815" name="" descr="{&quot;isTemplate&quot;:true,&quot;type&quot;:&quot;text&quot;}"/>
          <p:cNvSpPr txBox="1"/>
          <p:nvPr/>
        </p:nvSpPr>
        <p:spPr>
          <a:xfrm rot="0" flipH="0" flipV="0">
            <a:off x="838200" y="5172075"/>
            <a:ext cx="8001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按优先级与依赖</a:t>
            </a:r>
            <a:endParaRPr/>
          </a:p>
        </p:txBody>
      </p:sp>
      <p:sp>
        <p:nvSpPr>
          <p:cNvPr id="1816" name="" descr="{&quot;isTemplate&quot;:true,&quot;type&quot;:&quot;text&quot;}"/>
          <p:cNvSpPr txBox="1"/>
          <p:nvPr/>
        </p:nvSpPr>
        <p:spPr>
          <a:xfrm rot="0" flipH="0" flipV="0">
            <a:off x="1905000" y="4991100"/>
            <a:ext cx="8001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关键路径</a:t>
            </a:r>
            <a:endParaRPr/>
          </a:p>
        </p:txBody>
      </p:sp>
      <p:sp>
        <p:nvSpPr>
          <p:cNvPr id="1817" name="" descr="{&quot;isTemplate&quot;:true,&quot;type&quot;:&quot;text&quot;}"/>
          <p:cNvSpPr txBox="1"/>
          <p:nvPr/>
        </p:nvSpPr>
        <p:spPr>
          <a:xfrm rot="0" flipH="0" flipV="0">
            <a:off x="1905000" y="5172075"/>
            <a:ext cx="8001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依赖关系与瓶颈</a:t>
            </a:r>
            <a:endParaRPr/>
          </a:p>
        </p:txBody>
      </p:sp>
      <p:sp>
        <p:nvSpPr>
          <p:cNvPr id="1818" name="" descr="{&quot;isTemplate&quot;:true,&quot;type&quot;:&quot;text&quot;}"/>
          <p:cNvSpPr txBox="1"/>
          <p:nvPr/>
        </p:nvSpPr>
        <p:spPr>
          <a:xfrm rot="0" flipH="0" flipV="0">
            <a:off x="2971800" y="4991100"/>
            <a:ext cx="847725"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投入收益</a:t>
            </a:r>
            <a:endParaRPr/>
          </a:p>
        </p:txBody>
      </p:sp>
      <p:sp>
        <p:nvSpPr>
          <p:cNvPr id="1819" name="" descr="{&quot;isTemplate&quot;:true,&quot;type&quot;:&quot;text&quot;}"/>
          <p:cNvSpPr txBox="1"/>
          <p:nvPr/>
        </p:nvSpPr>
        <p:spPr>
          <a:xfrm rot="0" flipH="0" flipV="0">
            <a:off x="2971800" y="5172075"/>
            <a:ext cx="847725"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测算</a:t>
            </a:r>
            <a:r>
              <a:rPr lang="en-US" sz="900">
                <a:solidFill>
                  <a:srgbClr val="FFFFFF">
                    <a:alpha val="57600"/>
                  </a:srgbClr>
                </a:solidFill>
                <a:latin typeface="Microsoft YaHei"/>
                <a:ea typeface="Microsoft YaHei"/>
              </a:rPr>
              <a:t xml:space="preserve"> + </a:t>
            </a:r>
            <a:r>
              <a:rPr lang="zh-CN" sz="900">
                <a:solidFill>
                  <a:srgbClr val="FFFFFF">
                    <a:alpha val="57600"/>
                  </a:srgbClr>
                </a:solidFill>
                <a:latin typeface="Microsoft YaHei"/>
                <a:ea typeface="Microsoft YaHei"/>
              </a:rPr>
              <a:t>假设条件</a:t>
            </a:r>
            <a:endParaRPr/>
          </a:p>
        </p:txBody>
      </p:sp>
      <p:sp>
        <p:nvSpPr>
          <p:cNvPr id="1820" name="" descr="{&quot;isTemplate&quot;:true,&quot;type&quot;:&quot;text&quot;}"/>
          <p:cNvSpPr txBox="1"/>
          <p:nvPr/>
        </p:nvSpPr>
        <p:spPr>
          <a:xfrm rot="0" flipH="0" flipV="0">
            <a:off x="4086225" y="4991100"/>
            <a:ext cx="5715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保障机制</a:t>
            </a:r>
            <a:endParaRPr/>
          </a:p>
        </p:txBody>
      </p:sp>
      <p:sp>
        <p:nvSpPr>
          <p:cNvPr id="1821" name="" descr="{&quot;isTemplate&quot;:true,&quot;type&quot;:&quot;text&quot;}"/>
          <p:cNvSpPr txBox="1"/>
          <p:nvPr/>
        </p:nvSpPr>
        <p:spPr>
          <a:xfrm rot="0" flipH="0" flipV="0">
            <a:off x="4086225" y="5172075"/>
            <a:ext cx="5715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组织与数据</a:t>
            </a:r>
            <a:endParaRPr/>
          </a:p>
        </p:txBody>
      </p:sp>
      <p:sp>
        <p:nvSpPr>
          <p:cNvPr id="1822" name="" descr="{&quot;isTemplate&quot;:true,&quot;type&quot;:&quot;text&quot;}"/>
          <p:cNvSpPr txBox="1"/>
          <p:nvPr/>
        </p:nvSpPr>
        <p:spPr>
          <a:xfrm rot="0" flipH="0" flipV="0">
            <a:off x="4924425" y="4991100"/>
            <a:ext cx="685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九项交付</a:t>
            </a:r>
            <a:endParaRPr/>
          </a:p>
        </p:txBody>
      </p:sp>
      <p:sp>
        <p:nvSpPr>
          <p:cNvPr id="1823" name="" descr="{&quot;isTemplate&quot;:true,&quot;type&quot;:&quot;text&quot;}"/>
          <p:cNvSpPr txBox="1"/>
          <p:nvPr/>
        </p:nvSpPr>
        <p:spPr>
          <a:xfrm rot="0" flipH="0" flipV="0">
            <a:off x="4924425" y="5172075"/>
            <a:ext cx="685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全账逐项签收</a:t>
            </a:r>
            <a:endParaRPr/>
          </a:p>
        </p:txBody>
      </p:sp>
      <p:sp>
        <p:nvSpPr>
          <p:cNvPr id="1824" name="" descr="{&quot;isTemplate&quot;:true,&quot;type&quot;:&quot;text&quot;}"/>
          <p:cNvSpPr txBox="1"/>
          <p:nvPr/>
        </p:nvSpPr>
        <p:spPr>
          <a:xfrm rot="0" flipH="0" flipV="0">
            <a:off x="5876925" y="4991100"/>
            <a:ext cx="685800" cy="142875"/>
          </a:xfrm>
          <a:prstGeom prst="rect"/>
        </p:spPr>
        <p:txBody>
          <a:bodyPr wrap="none" lIns="0" tIns="0" rIns="0" bIns="0"/>
          <a:p>
            <a:pPr>
              <a:lnSpc>
                <a:spcPct val="100000"/>
              </a:lnSpc>
            </a:pPr>
            <a:r>
              <a:rPr lang="zh-CN" sz="938" b="1">
                <a:solidFill>
                  <a:srgbClr val="FBA15C">
                    <a:alpha val="72000"/>
                  </a:srgbClr>
                </a:solidFill>
                <a:latin typeface="Microsoft YaHei"/>
                <a:ea typeface="Microsoft YaHei"/>
              </a:rPr>
              <a:t>风险</a:t>
            </a:r>
            <a:endParaRPr/>
          </a:p>
        </p:txBody>
      </p:sp>
      <p:sp>
        <p:nvSpPr>
          <p:cNvPr id="1825" name="" descr="{&quot;isTemplate&quot;:true,&quot;type&quot;:&quot;text&quot;}"/>
          <p:cNvSpPr txBox="1"/>
          <p:nvPr/>
        </p:nvSpPr>
        <p:spPr>
          <a:xfrm rot="0" flipH="0" flipV="0">
            <a:off x="5876925" y="5172075"/>
            <a:ext cx="685800" cy="142875"/>
          </a:xfrm>
          <a:prstGeom prst="rect"/>
        </p:spPr>
        <p:txBody>
          <a:bodyPr wrap="none" lIns="0" tIns="0" rIns="0" bIns="0"/>
          <a:p>
            <a:pPr>
              <a:lnSpc>
                <a:spcPct val="100000"/>
              </a:lnSpc>
            </a:pPr>
            <a:r>
              <a:rPr lang="zh-CN" sz="900">
                <a:solidFill>
                  <a:srgbClr val="FFFFFF">
                    <a:alpha val="57600"/>
                  </a:srgbClr>
                </a:solidFill>
                <a:latin typeface="Microsoft YaHei"/>
                <a:ea typeface="Microsoft YaHei"/>
              </a:rPr>
              <a:t>前置条件说清</a:t>
            </a:r>
            <a:endParaRPr/>
          </a:p>
        </p:txBody>
      </p:sp>
      <p:sp>
        <p:nvSpPr>
          <p:cNvPr id="1826" name=""/>
          <p:cNvSpPr/>
          <p:nvPr/>
        </p:nvSpPr>
        <p:spPr>
          <a:xfrm rot="0" flipH="0" flipV="0">
            <a:off x="8172450" y="6143625"/>
            <a:ext cx="133350" cy="133350"/>
          </a:xfrm>
          <a:prstGeom prst="rect">
            <a:avLst/>
          </a:prstGeom>
          <a:solidFill>
            <a:srgbClr val="FA4F24"/>
          </a:solidFill>
          <a:ln/>
        </p:spPr>
        <p:txBody>
          <a:bodyPr/>
          <a:p/>
        </p:txBody>
      </p:sp>
      <p:sp>
        <p:nvSpPr>
          <p:cNvPr id="1827" name="" descr="{&quot;isTemplate&quot;:true,&quot;type&quot;:&quot;text&quot;}"/>
          <p:cNvSpPr txBox="1"/>
          <p:nvPr/>
        </p:nvSpPr>
        <p:spPr>
          <a:xfrm rot="0" flipH="0" flipV="0">
            <a:off x="8420100" y="6124575"/>
            <a:ext cx="224790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利星能业务变革咨询方法论</a:t>
            </a:r>
            <a:endParaRPr/>
          </a:p>
        </p:txBody>
      </p:sp>
      <p:sp>
        <p:nvSpPr>
          <p:cNvPr id="1828" name="" descr="{&quot;isTemplate&quot;:true,&quot;type&quot;:&quot;text&quot;}"/>
          <p:cNvSpPr txBox="1"/>
          <p:nvPr/>
        </p:nvSpPr>
        <p:spPr>
          <a:xfrm rot="0" flipH="0" flipV="0">
            <a:off x="10896600" y="61245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32 / 36</a:t>
            </a:r>
            <a:endParaRPr/>
          </a:p>
        </p:txBody>
      </p:sp>
    </p:spTree>
  </p:cSld>
</p:sld>
</file>

<file path=ppt/slides/slide33.xml><?xml version="1.0" encoding="utf-8"?>
<p:sld xmlns:p="http://schemas.openxmlformats.org/presentationml/2006/main" xmlns:a="http://schemas.openxmlformats.org/drawingml/2006/main">
  <p:cSld>
    <p:spTree>
      <p:nvGrpSpPr>
        <p:cNvPr id="1829" name="" descr="&lt;Slide style={{ width: 1280, height: 720, background: '#FFFFFF', padding: '24px 64px 0' }}&gt;&#13;&#10;    {/* A 区 */}&#13;&#10;    &lt;Box style={{ height: 96, flexDirection: 'column', justifyContent: 'flex-start' }}&gt;&#13;&#10;        &lt;Text style={{ fontSize: 32, fontWeight: 'bold', color: '#0F1423' }}&gt;&#13;&#10;            实施路线图：&lt;span style={{ color: '#FA4F24' }}&gt;分期 · 依赖 · 投入收益 · 保障&lt;/span&gt;&#13;&#10;        &lt;/Text&gt;&#13;&#10;        &lt;Text style={{ fontSize: 19, color: '#8A8F99', marginTop: 7 }}&gt;&#13;&#10;            招标 3.3.4 五条要求逐条给方法，最容易被做成「不分先后的一堆项目」的交付物就在这里&#13;&#10;        &lt;/Text&gt;&#13;&#10;    &lt;/Box&gt;&#13;&#10;    &lt;Box style={{ height: 1, background: '#E8E8E8' }} /&gt;&#13;&#10;&#13;&#10;    {/* B 区 */}&#13;&#10;    &lt;Box style={{ paddingTop: 10, paddingBottom: 6, height: 479, flexDirection: 'column', gap: 8 }}&gt;&#13;&#10;        {/* 上：分期建议（三期） */}&#13;&#10;        &lt;Box style={{ height: 22, flexDirection: 'row', alignItems: 'center', gap: 8 }}&gt;&#13;&#10;            &lt;Box style={{ width: 4, height: 16, background: '#FA4F24' }} /&gt;&#13;&#10;            &lt;Text style={{ fontSize: 13.5, fontWeight: 'bold', color: '#0F1423' }}&gt;① 分期建议与各期范围边界（分期依据：先补底座，再补链路，最后补智能）&lt;/Text&gt;&#13;&#10;        &lt;/Box&gt;&#13;&#10;        &lt;Box style={{ height: 146, flexDirection: 'row', gap: 7 }}&gt;&#13;&#10;            {[&#13;&#10;                {&#13;&#10;                    t: '第一期　底座先行', c: '#FA4F24', m: '先立地基，否则后面全是返工',&#13;&#10;                    items: ['主数据治理：设备台账、供应商、项目编码三类统一口径', '指标字典与口径裁定机制', '数据集成通道：把人工挂接的接口打通'],&#13;&#10;                    why: '依据：这三项是 E3/E5/S1 的共同前置，不做后面三期都要返工',&#13;&#10;                },&#13;&#10;                {&#13;&#10;                    t: '第二期　核心链路贯通', c: '#E0641E', m: '把最影响经营的两条链打通',&#13;&#10;                    items: ['检修工单全链路（L4-L6 落地，关联资产自动挂接）', 'EBOM→MBOM 转换规则库建成', '四算主线贯通与口径统一'],&#13;&#10;                    why: '依据：这两条链的痛点条数最多、直接影响资产保值与制造效率',&#13;&#10;                },&#13;&#10;                {&#13;&#10;                    t: '第三期　智能与优化', c: '#C43A17', m: '数据到位了，AI 才有用',&#13;&#10;                    items: ['P1/P2 优先 AI 场景上线（缺陷判读、文档检索）', '指标看板与管理驾驶舱', '预测类场景（进度偏差预警）'],&#13;&#10;                    why: '依据：AI 依赖前两期的数据底座，提前做效果无法保证',&#13;&#10;                },&#13;&#10;            ].map((x) =&gt; (&#13;&#10;                &lt;Box key={x.t} style={{ flex: 1, background: '#F7F7F8', borderRadius: 4, borderTop: '3px solid ' + x.c, padding: '11px 13px', flexDirection: 'column' }}&gt;&#13;&#10;                    &lt;Text style={{ fontSize: 13.5, fontWeight: 'bold', color: x.c }}&gt;{x.t}&lt;/Text&gt;&#13;&#10;                    &lt;Text style={{ fontSize: 10, color: '#8A8F99', marginTop: 2 }}&gt;{x.m}&lt;/Text&gt;&#13;&#10;                    &lt;Box style={{ flex: 1, flexDirection: 'column', gap: 4, marginTop: 7 }}&gt;&#13;&#10;                        {x.items.map((i) =&gt; (&#13;&#10;                            &lt;Box key={i} style={{ background: '#FFFFFF', borderRadius: 3, padding: '0 9px', flex: 1, flexDirection: 'row', alignItems: 'center', border: '1px solid #E8E8E8' }}&gt;&#13;&#10;                                &lt;Text style={{ fontSize: 10.5, color: '#3A4050', lineHeight: 1.25 }}&gt;{i}&lt;/Text&gt;&#13;&#10;                            &lt;/Box&gt;&#13;&#10;                        ))}&#13;&#10;                    &lt;/Box&gt;&#13;&#10;                    &lt;Text style={{ fontSize: 10, color: x.c, lineHeight: 1.3, marginTop: 6 }}&gt;{x.why}&lt;/Text&gt;&#13;&#10;                &lt;/Box&gt;&#13;&#10;            ))}&#13;&#10;        &lt;/Box&gt;&#13;&#10;&#13;&#10;        {/* 中：依赖关键路径 + 投入收益 */}&#13;&#10;        &lt;Box style={{ flex: 1, flexDirection: 'row', gap: 9, alignItems: 'stretch' }}&gt;&#13;&#10;            &lt;Box style={{ width: 560, background: '#FFFFFF', borderRadius: 4, border: '1px solid #E8E8E8', flexDirection: 'column' }}&gt;&#13;&#10;                &lt;Box style={{ height: 30, background: '#0F1423', borderRadius: 3, padding: '0 13px', flexDirection: 'row', alignItems: 'center' }}&gt;&#13;&#10;                    &lt;Text style={{ fontSize: 12.5, fontWeight: 'bold', color: '#FFFFFF' }}&gt;② 依赖关系与关键路径&lt;/Text&gt;&#13;&#10;                &lt;/Box&gt;&#13;&#10;                &lt;Box style={{ flex: 1, padding: '10px 13px', flexDirection: 'column', gap: 5 }}&gt;&#13;&#10;                    {[&#13;&#10;                        { k: '设备台账口径统一', d: '→', t: '工单自动挂接', t2: '→', t3: 'AI 缺陷判读', c: '#FA4F24' },&#13;&#10;                        { k: '转换规则沉淀', d: '→', t: 'MBOM 自动展开', t2: '→', t3: 'AI 规则辅助', c: '#E0641E' },&#13;&#10;                        { k: '指标口径裁定', d: '→', t: '四算贯通', t2: '→', t3: '驾驶舱上线', c: '#C43A17' },&#13;&#10;                    ].map((r) =&gt; (&#13;&#10;                        &lt;Box key={r.k} style={{ flex: 1, flexDirection: 'row', alignItems: 'stretch', gap: 0 }}&gt;&#13;&#10;                            &lt;Box style={{ flex: 1, background: '#F7F7F8', borderRadius: 3, padding: '0 9px', flexDirection: 'column', justifyContent: 'center' }}&gt;&#13;&#10;                                &lt;Text style={{ fontSize: 10, color: '#0F1423', fontWeight: 'bold', lineHeight: 1.25 }}&gt;{r.k}&lt;/Text&gt;&#13;&#10;                            &lt;/Box&gt;&#13;&#10;                            &lt;Text style={{ width: 18, fontSize: 12, color: r.c, fontWeight: 'bold', alignSelf: 'center', textAlign: 'center' }}&gt;{r.d}&lt;/Text&gt;&#13;&#10;                            &lt;Box style={{ flex: 1, background: '#FFF3EE', borderRadius: 3, padding: '0 9px', flexDirection: 'column', justifyContent: 'center' }}&gt;&#13;&#10;                                &lt;Text style={{ fontSize: 10, color: '#C43A17', lineHeight: 1.25 }}&gt;{r.t}&lt;/Text&gt;&#13;&#10;                            &lt;/Box&gt;&#13;&#10;                            &lt;Text style={{ width: 18, fontSize: 12, color: r.c, fontWeight: 'bold', alignSelf: 'center', textAlign: 'center' }}&gt;{r.d}&lt;/Text&gt;&#13;&#10;                            &lt;Box style={{ flex: 1, background: r.c, borderRadius: 3, padding: '0 9px', flexDirection: 'column', justifyContent: 'center' }}&gt;&#13;&#10;                                &lt;Text style={{ fontSize: 10, color: '#FFFFFF', lineHeight: 1.25 }}&gt;{r.t3}&lt;/Text&gt;&#13;&#10;                            &lt;/Box&gt;&#13;&#10;                        &lt;/Box&gt;&#13;&#10;                    ))}&#13;&#10;                    &lt;Text style={{ fontSize: 10.5, color: '#5A6070', lineHeight: 1.4, marginTop: 3, flex: 1 }}&gt;&#13;&#10;                        关键路径判定：每条链上最长的那条决定整体工期。上面三条链的关键节点分别是设备台账口径、转换规则沉淀、指标口径裁定——这三项都是治理动作，不是开发动作。&#13;&#10;                    &lt;/Text&gt;&#13;&#10;                &lt;/Box&gt;&#13;&#10;            &lt;/Box&gt;&#13;&#10;            &lt;Box style={{ flex: 1, background: '#0F1423', borderRadius: 4, padding: '13px 16px', flexDirection: 'column' }}&gt;&#13;&#10;                &lt;Text style={{ fontSize: 12, color: '#FBA15C', letterSpacing: 1 }}&gt;③ 投入与预期收益测算（必须附假设条件）&lt;/Text&gt;&#13;&#10;                {[&#13;&#10;                    { t: '分三期测算', d: '每期列出人力投入、系统投入、数据治理投入三块' },&#13;&#10;                    { t: '收益可量化才写', d: '工时节约、停机减少、差错减少；不能量化的写定性判断依据' },&#13;&#10;                    { t: '假设条件单列', d: '测算依赖的前提逐条写清（数据质量到位、HR 配合、组织不调整）' },&#13;&#10;                    { t: '不做无依据的数', d: '没有基线数据支撑的收益，宁可写区间不写单点值' },&#13;&#10;                ].map((x, i) =&gt; (&#13;&#10;                    &lt;Box key={x.t} style={{ flexDirection: 'row', alignItems: 'flex-start', gap: 9, flex: 1, marginTop: i === 0 ? 9 : 4 }}&gt;&#13;&#10;                        &lt;Text style={{ fontSize: 10, color: '#FA4F24', fontWeight: 'bold' }}&gt;▪&lt;/Text&gt;&#13;&#10;                        &lt;Box style={{ flex: 1 }}&gt;&#13;&#10;                            &lt;Text style={{ fontSize: 11.5, fontWeight: 'bold', color: '#FFFFFF' }}&gt;{x.t}&lt;/Text&gt;&#13;&#10;                            &lt;Text style={{ fontSize: 10, color: 'rgba(255,255,255,0.82)', lineHeight: 1.3, marginTop: 2 }}&gt;{x.d}&lt;/Text&gt;&#13;&#10;                        &lt;/Box&gt;&#13;&#10;                    &lt;/Box&gt;&#13;&#10;                ))}&#13;&#10;            &lt;/Box&gt;&#13;&#10;        &lt;/Box&gt;&#13;&#10;&#13;&#10;        {/* 下：保障机制 */}&#13;&#10;        &lt;Box style={{ height: 42, flexDirection: 'row', gap: 7 }}&gt;&#13;&#10;            {[&#13;&#10;                { k: '④ 组织保障', v: '变革指导委员会 + 领域责任人 + 各部门数据 owner 三层机制，明确决策时限', c: '#FA4F24', dark: true },&#13;&#10;                { k: '④ 数据保障', v: '主数据认领到部门、指标口径裁定人到岗位、口径变更走流程', c: '#E0641E', dark: false },&#13;&#10;                { k: '④ 推进机制', v: '双周检查点 + 里程碑评审 + 阻塞项升级路径，写进路线图正文', c: '#C43A17', dark: false },&#13;&#10;            ].map((x) =&gt; (&#13;&#10;                &lt;Box key={x.k} style={{ flex: 1, background: x.dark ? '#0F1423' : '#F7F7F8', borderLeft: '4px solid ' + x.c, borderRadius: 3, padding: '0 13px', flexDirection: 'column', justifyContent: 'center' }}&gt;&#13;&#10;                    &lt;Text style={{ fontSize: 11.5, fontWeight: 'bold', color: x.dark ? '#FBA15C' : '#0F1423' }}&gt;{x.k}&lt;/Text&gt;&#13;&#10;                    &lt;Text style={{ fontSize: 10, color: x.dark ? 'rgba(255,255,255,0.86)' : '#5A6070', lineHeight: 1.3, marginTop: 2 }}&gt;{x.v}&lt;/Text&gt;&#13;&#10;                &lt;/Box&gt;&#13;&#10;            ))}&#13;&#10;        &lt;/Box&gt;&#13;&#10;    &lt;/Box&gt;&#13;&#10;&#13;&#10;    {/* C 区 */}&#13;&#10;    &lt;Box style={{ height: 60, flexDirection: 'row', alignItems: 'center', justifyContent: 'space-between' }}&gt;&#13;&#10;        &lt;Box style={{ flexDirection: 'row', alignItems: 'center', gap: 10 }}&gt;&#13;&#10;            &lt;Box style={{ width: 14, height: 14, background: '#FA4F24' }} /&gt;&#13;&#10;            &lt;Text style={{ fontSize: 14, color: '#8A8F99' }}&gt;硕磐机密 · 利星能业务变革咨询方法论&lt;/Text&gt;&#13;&#10;        &lt;/Box&gt;&#13;&#10;        &lt;Text style={{ fontSize: 14, color: '#8A8F99' }}&gt;33 / 36&lt;/Text&gt;&#13;&#10;    &lt;/Box&gt;&#13;&#10;&lt;/Slide&gt;&#13;&#10;"/>
        <p:cNvGrpSpPr/>
        <p:nvPr/>
      </p:nvGrpSpPr>
      <p:grpSpPr>
        <a:xfrm>
          <a:off x="0" y="0"/>
          <a:ext cx="0" cy="0"/>
          <a:chOff x="0" y="0"/>
          <a:chExt cx="0" cy="0"/>
        </a:xfrm>
      </p:grpSpPr>
      <p:sp>
        <p:nvSpPr>
          <p:cNvPr id="1830" name=""/>
          <p:cNvSpPr/>
          <p:nvPr/>
        </p:nvSpPr>
        <p:spPr>
          <a:xfrm rot="0" flipH="0" flipV="0">
            <a:off x="0" y="0"/>
            <a:ext cx="12192000" cy="6858000"/>
          </a:xfrm>
          <a:prstGeom prst="rect">
            <a:avLst/>
          </a:prstGeom>
          <a:solidFill>
            <a:srgbClr val="FFFFFF"/>
          </a:solidFill>
          <a:ln/>
        </p:spPr>
        <p:txBody>
          <a:bodyPr/>
          <a:p/>
        </p:txBody>
      </p:sp>
      <p:sp>
        <p:nvSpPr>
          <p:cNvPr id="1831"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实施路线图：</a:t>
            </a:r>
            <a:r>
              <a:rPr lang="zh-CN" sz="2400" b="1">
                <a:solidFill>
                  <a:srgbClr val="FA4F24"/>
                </a:solidFill>
                <a:latin typeface="Microsoft YaHei"/>
                <a:ea typeface="Microsoft YaHei"/>
              </a:rPr>
              <a:t>分期</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依赖</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投入收益</a:t>
            </a:r>
            <a:r>
              <a:rPr lang="en-US" sz="2400" b="1">
                <a:solidFill>
                  <a:srgbClr val="FA4F24"/>
                </a:solidFill>
                <a:latin typeface="Microsoft YaHei"/>
                <a:ea typeface="Microsoft YaHei"/>
              </a:rPr>
              <a:t xml:space="preserve"> · </a:t>
            </a:r>
            <a:r>
              <a:rPr lang="zh-CN" sz="2400" b="1">
                <a:solidFill>
                  <a:srgbClr val="FA4F24"/>
                </a:solidFill>
                <a:latin typeface="Microsoft YaHei"/>
                <a:ea typeface="Microsoft YaHei"/>
              </a:rPr>
              <a:t>保障</a:t>
            </a:r>
            <a:endParaRPr/>
          </a:p>
        </p:txBody>
      </p:sp>
      <p:sp>
        <p:nvSpPr>
          <p:cNvPr id="1832"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3.3.4 </a:t>
            </a:r>
            <a:r>
              <a:rPr lang="zh-CN" sz="1425">
                <a:solidFill>
                  <a:srgbClr val="8A8F99"/>
                </a:solidFill>
                <a:latin typeface="Microsoft YaHei"/>
                <a:ea typeface="Microsoft YaHei"/>
              </a:rPr>
              <a:t>五条要求逐条给方法，最容易被做成「不分先后的一堆项目」的交付物就在这里</a:t>
            </a:r>
            <a:endParaRPr/>
          </a:p>
        </p:txBody>
      </p:sp>
      <p:sp>
        <p:nvSpPr>
          <p:cNvPr id="1833" name=""/>
          <p:cNvSpPr/>
          <p:nvPr/>
        </p:nvSpPr>
        <p:spPr>
          <a:xfrm rot="0" flipH="0" flipV="0">
            <a:off x="609600" y="1143000"/>
            <a:ext cx="10972800" cy="9525"/>
          </a:xfrm>
          <a:prstGeom prst="rect">
            <a:avLst/>
          </a:prstGeom>
          <a:solidFill>
            <a:srgbClr val="E8E8E8"/>
          </a:solidFill>
          <a:ln/>
        </p:spPr>
        <p:txBody>
          <a:bodyPr/>
          <a:p/>
        </p:txBody>
      </p:sp>
      <p:sp>
        <p:nvSpPr>
          <p:cNvPr id="1834" name=""/>
          <p:cNvSpPr/>
          <p:nvPr/>
        </p:nvSpPr>
        <p:spPr>
          <a:xfrm rot="0" flipH="0" flipV="0">
            <a:off x="609600" y="1276350"/>
            <a:ext cx="38100" cy="152400"/>
          </a:xfrm>
          <a:prstGeom prst="rect">
            <a:avLst/>
          </a:prstGeom>
          <a:solidFill>
            <a:srgbClr val="FA4F24"/>
          </a:solidFill>
          <a:ln/>
        </p:spPr>
        <p:txBody>
          <a:bodyPr/>
          <a:p/>
        </p:txBody>
      </p:sp>
      <p:sp>
        <p:nvSpPr>
          <p:cNvPr id="1835" name="" descr="{&quot;isTemplate&quot;:true,&quot;type&quot;:&quot;text&quot;}"/>
          <p:cNvSpPr txBox="1"/>
          <p:nvPr/>
        </p:nvSpPr>
        <p:spPr>
          <a:xfrm rot="0" flipH="0" flipV="0">
            <a:off x="723900" y="1276350"/>
            <a:ext cx="4419600" cy="161925"/>
          </a:xfrm>
          <a:prstGeom prst="rect"/>
        </p:spPr>
        <p:txBody>
          <a:bodyPr wrap="none" lIns="0" tIns="0" rIns="0" bIns="0"/>
          <a:p>
            <a:pPr>
              <a:lnSpc>
                <a:spcPct val="100000"/>
              </a:lnSpc>
            </a:pPr>
            <a:r>
              <a:rPr lang="en-US" sz="1013" b="1">
                <a:solidFill>
                  <a:srgbClr val="0F1423"/>
                </a:solidFill>
                <a:latin typeface="Microsoft YaHei"/>
                <a:ea typeface="Microsoft YaHei"/>
              </a:rPr>
              <a:t xml:space="preserve">① </a:t>
            </a:r>
            <a:r>
              <a:rPr lang="zh-CN" sz="1013" b="1">
                <a:solidFill>
                  <a:srgbClr val="0F1423"/>
                </a:solidFill>
                <a:latin typeface="Microsoft YaHei"/>
                <a:ea typeface="Microsoft YaHei"/>
              </a:rPr>
              <a:t>分期建议与各期范围边界（分期依据：先补底座，再补链路，最后补智能）</a:t>
            </a:r>
            <a:endParaRPr/>
          </a:p>
        </p:txBody>
      </p:sp>
      <p:sp>
        <p:nvSpPr>
          <p:cNvPr id="1836" name=""/>
          <p:cNvSpPr/>
          <p:nvPr/>
        </p:nvSpPr>
        <p:spPr>
          <a:xfrm rot="0" flipH="0" flipV="0">
            <a:off x="609600" y="1562100"/>
            <a:ext cx="3609975" cy="1390650"/>
          </a:xfrm>
          <a:prstGeom prst="roundRect">
            <a:avLst>
              <a:gd name="adj" fmla="val 2740"/>
            </a:avLst>
          </a:prstGeom>
          <a:solidFill>
            <a:srgbClr val="F7F7F8"/>
          </a:solidFill>
          <a:ln/>
        </p:spPr>
        <p:txBody>
          <a:bodyPr/>
          <a:p/>
        </p:txBody>
      </p:sp>
      <p:sp>
        <p:nvSpPr>
          <p:cNvPr id="1837" name=""/>
          <p:cNvSpPr/>
          <p:nvPr/>
        </p:nvSpPr>
        <p:spPr>
          <a:xfrm rot="0" flipH="0" flipV="0">
            <a:off x="609600" y="1562100"/>
            <a:ext cx="3609975" cy="1390650"/>
          </a:xfrm>
          <a:custGeom>
            <a:pathLst>
              <a:path w="379" h="146">
                <a:moveTo>
                  <a:pt x="375" y="0"/>
                </a:moveTo>
                <a:cubicBezTo>
                  <a:pt x="377" y="0"/>
                  <a:pt x="379" y="2"/>
                  <a:pt x="379" y="4"/>
                </a:cubicBezTo>
                <a:cubicBezTo>
                  <a:pt x="379" y="3"/>
                  <a:pt x="378" y="3"/>
                  <a:pt x="378" y="3"/>
                </a:cubicBezTo>
                <a:lnTo>
                  <a:pt x="1" y="3"/>
                </a:lnTo>
                <a:cubicBezTo>
                  <a:pt x="1" y="3"/>
                  <a:pt x="0" y="3"/>
                  <a:pt x="0" y="4"/>
                </a:cubicBezTo>
                <a:cubicBezTo>
                  <a:pt x="0" y="2"/>
                  <a:pt x="2" y="0"/>
                  <a:pt x="4" y="0"/>
                </a:cubicBezTo>
                <a:lnTo>
                  <a:pt x="375" y="0"/>
                </a:lnTo>
                <a:close/>
              </a:path>
            </a:pathLst>
          </a:custGeom>
          <a:solidFill>
            <a:srgbClr val="FA4F24"/>
          </a:solidFill>
          <a:ln/>
        </p:spPr>
        <p:txBody>
          <a:bodyPr/>
          <a:p/>
        </p:txBody>
      </p:sp>
      <p:sp>
        <p:nvSpPr>
          <p:cNvPr id="1838" name="" descr="{&quot;isTemplate&quot;:true,&quot;type&quot;:&quot;text&quot;}"/>
          <p:cNvSpPr txBox="1"/>
          <p:nvPr/>
        </p:nvSpPr>
        <p:spPr>
          <a:xfrm rot="0" flipH="0" flipV="0">
            <a:off x="733425" y="1666875"/>
            <a:ext cx="3362325" cy="161925"/>
          </a:xfrm>
          <a:prstGeom prst="rect"/>
        </p:spPr>
        <p:txBody>
          <a:bodyPr wrap="none" lIns="0" tIns="0" rIns="0" bIns="0"/>
          <a:p>
            <a:pPr>
              <a:lnSpc>
                <a:spcPct val="100000"/>
              </a:lnSpc>
            </a:pPr>
            <a:r>
              <a:rPr lang="zh-CN" sz="1013" b="1">
                <a:solidFill>
                  <a:srgbClr val="FA4F24"/>
                </a:solidFill>
                <a:latin typeface="Microsoft YaHei"/>
                <a:ea typeface="Microsoft YaHei"/>
              </a:rPr>
              <a:t>第一期　底座先行</a:t>
            </a:r>
            <a:endParaRPr/>
          </a:p>
        </p:txBody>
      </p:sp>
      <p:sp>
        <p:nvSpPr>
          <p:cNvPr id="1839" name="" descr="{&quot;isTemplate&quot;:true,&quot;type&quot;:&quot;text&quot;}"/>
          <p:cNvSpPr txBox="1"/>
          <p:nvPr/>
        </p:nvSpPr>
        <p:spPr>
          <a:xfrm rot="0" flipH="0" flipV="0">
            <a:off x="733425" y="1847850"/>
            <a:ext cx="3362325" cy="114300"/>
          </a:xfrm>
          <a:prstGeom prst="rect"/>
        </p:spPr>
        <p:txBody>
          <a:bodyPr wrap="none" lIns="0" tIns="0" rIns="0" bIns="0"/>
          <a:p>
            <a:pPr>
              <a:lnSpc>
                <a:spcPct val="100000"/>
              </a:lnSpc>
            </a:pPr>
            <a:r>
              <a:rPr lang="zh-CN" sz="750">
                <a:solidFill>
                  <a:srgbClr val="8A8F99"/>
                </a:solidFill>
                <a:latin typeface="Microsoft YaHei"/>
                <a:ea typeface="Microsoft YaHei"/>
              </a:rPr>
              <a:t>先立地基，否则后面全是返工</a:t>
            </a:r>
            <a:endParaRPr/>
          </a:p>
        </p:txBody>
      </p:sp>
      <p:sp>
        <p:nvSpPr>
          <p:cNvPr id="1840" name=""/>
          <p:cNvSpPr/>
          <p:nvPr/>
        </p:nvSpPr>
        <p:spPr>
          <a:xfrm rot="0" flipH="0" flipV="0">
            <a:off x="733425" y="2028825"/>
            <a:ext cx="3362325" cy="171450"/>
          </a:xfrm>
          <a:prstGeom prst="roundRect">
            <a:avLst>
              <a:gd name="adj" fmla="val 16667"/>
            </a:avLst>
          </a:prstGeom>
          <a:solidFill>
            <a:srgbClr val="FFFFFF"/>
          </a:solidFill>
          <a:ln w="12700">
            <a:solidFill>
              <a:srgbClr val="E8E8E8"/>
            </a:solidFill>
            <a:prstDash val="solid"/>
          </a:ln>
        </p:spPr>
        <p:txBody>
          <a:bodyPr/>
          <a:p/>
        </p:txBody>
      </p:sp>
      <p:sp>
        <p:nvSpPr>
          <p:cNvPr id="1841" name="" descr="{&quot;isTemplate&quot;:true,&quot;type&quot;:&quot;text&quot;}"/>
          <p:cNvSpPr txBox="1"/>
          <p:nvPr/>
        </p:nvSpPr>
        <p:spPr>
          <a:xfrm rot="0" flipH="0" flipV="0">
            <a:off x="819150" y="2038350"/>
            <a:ext cx="2505075" cy="152400"/>
          </a:xfrm>
          <a:prstGeom prst="rect"/>
        </p:spPr>
        <p:txBody>
          <a:bodyPr wrap="none" lIns="0" tIns="0" rIns="0" bIns="0"/>
          <a:p>
            <a:pPr>
              <a:lnSpc>
                <a:spcPct val="125000"/>
              </a:lnSpc>
            </a:pPr>
            <a:r>
              <a:rPr lang="zh-CN" sz="788">
                <a:solidFill>
                  <a:srgbClr val="3A4050"/>
                </a:solidFill>
                <a:latin typeface="Microsoft YaHei"/>
                <a:ea typeface="Microsoft YaHei"/>
              </a:rPr>
              <a:t>主数据治理：设备台账、供应商、项目编码三类统一口径</a:t>
            </a:r>
            <a:endParaRPr/>
          </a:p>
        </p:txBody>
      </p:sp>
      <p:sp>
        <p:nvSpPr>
          <p:cNvPr id="1842" name=""/>
          <p:cNvSpPr/>
          <p:nvPr/>
        </p:nvSpPr>
        <p:spPr>
          <a:xfrm rot="0" flipH="0" flipV="0">
            <a:off x="733425" y="2238375"/>
            <a:ext cx="3362325" cy="161925"/>
          </a:xfrm>
          <a:prstGeom prst="roundRect">
            <a:avLst>
              <a:gd name="adj" fmla="val 17647"/>
            </a:avLst>
          </a:prstGeom>
          <a:solidFill>
            <a:srgbClr val="FFFFFF"/>
          </a:solidFill>
          <a:ln w="12700">
            <a:solidFill>
              <a:srgbClr val="E8E8E8"/>
            </a:solidFill>
            <a:prstDash val="solid"/>
          </a:ln>
        </p:spPr>
        <p:txBody>
          <a:bodyPr/>
          <a:p/>
        </p:txBody>
      </p:sp>
      <p:sp>
        <p:nvSpPr>
          <p:cNvPr id="1843" name="" descr="{&quot;isTemplate&quot;:true,&quot;type&quot;:&quot;text&quot;}"/>
          <p:cNvSpPr txBox="1"/>
          <p:nvPr/>
        </p:nvSpPr>
        <p:spPr>
          <a:xfrm rot="0" flipH="0" flipV="0">
            <a:off x="819150" y="2247900"/>
            <a:ext cx="1104900" cy="152400"/>
          </a:xfrm>
          <a:prstGeom prst="rect"/>
        </p:spPr>
        <p:txBody>
          <a:bodyPr wrap="none" lIns="0" tIns="0" rIns="0" bIns="0"/>
          <a:p>
            <a:pPr>
              <a:lnSpc>
                <a:spcPct val="125000"/>
              </a:lnSpc>
            </a:pPr>
            <a:r>
              <a:rPr lang="zh-CN" sz="788">
                <a:solidFill>
                  <a:srgbClr val="3A4050"/>
                </a:solidFill>
                <a:latin typeface="Microsoft YaHei"/>
                <a:ea typeface="Microsoft YaHei"/>
              </a:rPr>
              <a:t>指标字典与口径裁定机制</a:t>
            </a:r>
            <a:endParaRPr/>
          </a:p>
        </p:txBody>
      </p:sp>
      <p:sp>
        <p:nvSpPr>
          <p:cNvPr id="1844" name=""/>
          <p:cNvSpPr/>
          <p:nvPr/>
        </p:nvSpPr>
        <p:spPr>
          <a:xfrm rot="0" flipH="0" flipV="0">
            <a:off x="733425" y="2438400"/>
            <a:ext cx="3362325" cy="171450"/>
          </a:xfrm>
          <a:prstGeom prst="roundRect">
            <a:avLst>
              <a:gd name="adj" fmla="val 16667"/>
            </a:avLst>
          </a:prstGeom>
          <a:solidFill>
            <a:srgbClr val="FFFFFF"/>
          </a:solidFill>
          <a:ln w="12700">
            <a:solidFill>
              <a:srgbClr val="E8E8E8"/>
            </a:solidFill>
            <a:prstDash val="solid"/>
          </a:ln>
        </p:spPr>
        <p:txBody>
          <a:bodyPr/>
          <a:p/>
        </p:txBody>
      </p:sp>
      <p:sp>
        <p:nvSpPr>
          <p:cNvPr id="1845" name="" descr="{&quot;isTemplate&quot;:true,&quot;type&quot;:&quot;text&quot;}"/>
          <p:cNvSpPr txBox="1"/>
          <p:nvPr/>
        </p:nvSpPr>
        <p:spPr>
          <a:xfrm rot="0" flipH="0" flipV="0">
            <a:off x="819150" y="2447925"/>
            <a:ext cx="1704975" cy="152400"/>
          </a:xfrm>
          <a:prstGeom prst="rect"/>
        </p:spPr>
        <p:txBody>
          <a:bodyPr wrap="none" lIns="0" tIns="0" rIns="0" bIns="0"/>
          <a:p>
            <a:pPr>
              <a:lnSpc>
                <a:spcPct val="125000"/>
              </a:lnSpc>
            </a:pPr>
            <a:r>
              <a:rPr lang="zh-CN" sz="788">
                <a:solidFill>
                  <a:srgbClr val="3A4050"/>
                </a:solidFill>
                <a:latin typeface="Microsoft YaHei"/>
                <a:ea typeface="Microsoft YaHei"/>
              </a:rPr>
              <a:t>数据集成通道：把人工挂接的接口打通</a:t>
            </a:r>
            <a:endParaRPr/>
          </a:p>
        </p:txBody>
      </p:sp>
      <p:sp>
        <p:nvSpPr>
          <p:cNvPr id="1846" name="" descr="{&quot;isTemplate&quot;:true,&quot;type&quot;:&quot;text&quot;}"/>
          <p:cNvSpPr txBox="1"/>
          <p:nvPr/>
        </p:nvSpPr>
        <p:spPr>
          <a:xfrm rot="0" flipH="0" flipV="0">
            <a:off x="733425" y="2667000"/>
            <a:ext cx="3362325" cy="152400"/>
          </a:xfrm>
          <a:prstGeom prst="rect"/>
        </p:spPr>
        <p:txBody>
          <a:bodyPr wrap="none" lIns="0" tIns="0" rIns="0" bIns="0"/>
          <a:p>
            <a:pPr>
              <a:lnSpc>
                <a:spcPct val="130000"/>
              </a:lnSpc>
            </a:pPr>
            <a:r>
              <a:rPr lang="zh-CN" sz="750">
                <a:solidFill>
                  <a:srgbClr val="FA4F24"/>
                </a:solidFill>
                <a:latin typeface="Microsoft YaHei"/>
                <a:ea typeface="Microsoft YaHei"/>
              </a:rPr>
              <a:t>依据：这三项是</a:t>
            </a:r>
            <a:r>
              <a:rPr lang="en-US" sz="750">
                <a:solidFill>
                  <a:srgbClr val="FA4F24"/>
                </a:solidFill>
                <a:latin typeface="Microsoft YaHei"/>
                <a:ea typeface="Microsoft YaHei"/>
              </a:rPr>
              <a:t xml:space="preserve"> E3/E5/S1 </a:t>
            </a:r>
            <a:r>
              <a:rPr lang="zh-CN" sz="750">
                <a:solidFill>
                  <a:srgbClr val="FA4F24"/>
                </a:solidFill>
                <a:latin typeface="Microsoft YaHei"/>
                <a:ea typeface="Microsoft YaHei"/>
              </a:rPr>
              <a:t>的共同前置，不做后面三期都要返工</a:t>
            </a:r>
            <a:endParaRPr/>
          </a:p>
        </p:txBody>
      </p:sp>
      <p:sp>
        <p:nvSpPr>
          <p:cNvPr id="1847" name=""/>
          <p:cNvSpPr/>
          <p:nvPr/>
        </p:nvSpPr>
        <p:spPr>
          <a:xfrm rot="0" flipH="0" flipV="0">
            <a:off x="4286250" y="1562100"/>
            <a:ext cx="3619500" cy="1390650"/>
          </a:xfrm>
          <a:prstGeom prst="roundRect">
            <a:avLst>
              <a:gd name="adj" fmla="val 2740"/>
            </a:avLst>
          </a:prstGeom>
          <a:solidFill>
            <a:srgbClr val="F7F7F8"/>
          </a:solidFill>
          <a:ln/>
        </p:spPr>
        <p:txBody>
          <a:bodyPr/>
          <a:p/>
        </p:txBody>
      </p:sp>
      <p:sp>
        <p:nvSpPr>
          <p:cNvPr id="1848" name=""/>
          <p:cNvSpPr/>
          <p:nvPr/>
        </p:nvSpPr>
        <p:spPr>
          <a:xfrm rot="0" flipH="0" flipV="0">
            <a:off x="4286250" y="1562100"/>
            <a:ext cx="3619500" cy="1390650"/>
          </a:xfrm>
          <a:custGeom>
            <a:pathLst>
              <a:path w="380" h="146">
                <a:moveTo>
                  <a:pt x="376" y="0"/>
                </a:moveTo>
                <a:cubicBezTo>
                  <a:pt x="378" y="0"/>
                  <a:pt x="380" y="2"/>
                  <a:pt x="380" y="4"/>
                </a:cubicBezTo>
                <a:cubicBezTo>
                  <a:pt x="380" y="3"/>
                  <a:pt x="379" y="3"/>
                  <a:pt x="379" y="3"/>
                </a:cubicBezTo>
                <a:lnTo>
                  <a:pt x="1" y="3"/>
                </a:lnTo>
                <a:cubicBezTo>
                  <a:pt x="1" y="3"/>
                  <a:pt x="0" y="3"/>
                  <a:pt x="0" y="4"/>
                </a:cubicBezTo>
                <a:cubicBezTo>
                  <a:pt x="0" y="2"/>
                  <a:pt x="2" y="0"/>
                  <a:pt x="4" y="0"/>
                </a:cubicBezTo>
                <a:lnTo>
                  <a:pt x="376" y="0"/>
                </a:lnTo>
                <a:close/>
              </a:path>
            </a:pathLst>
          </a:custGeom>
          <a:solidFill>
            <a:srgbClr val="E0641E"/>
          </a:solidFill>
          <a:ln/>
        </p:spPr>
        <p:txBody>
          <a:bodyPr/>
          <a:p/>
        </p:txBody>
      </p:sp>
      <p:sp>
        <p:nvSpPr>
          <p:cNvPr id="1849" name="" descr="{&quot;isTemplate&quot;:true,&quot;type&quot;:&quot;text&quot;}"/>
          <p:cNvSpPr txBox="1"/>
          <p:nvPr/>
        </p:nvSpPr>
        <p:spPr>
          <a:xfrm rot="0" flipH="0" flipV="0">
            <a:off x="4410075" y="1666875"/>
            <a:ext cx="3371850" cy="161925"/>
          </a:xfrm>
          <a:prstGeom prst="rect"/>
        </p:spPr>
        <p:txBody>
          <a:bodyPr wrap="none" lIns="0" tIns="0" rIns="0" bIns="0"/>
          <a:p>
            <a:pPr>
              <a:lnSpc>
                <a:spcPct val="100000"/>
              </a:lnSpc>
            </a:pPr>
            <a:r>
              <a:rPr lang="zh-CN" sz="1013" b="1">
                <a:solidFill>
                  <a:srgbClr val="E0641E"/>
                </a:solidFill>
                <a:latin typeface="Microsoft YaHei"/>
                <a:ea typeface="Microsoft YaHei"/>
              </a:rPr>
              <a:t>第二期　核心链路贯通</a:t>
            </a:r>
            <a:endParaRPr/>
          </a:p>
        </p:txBody>
      </p:sp>
      <p:sp>
        <p:nvSpPr>
          <p:cNvPr id="1850" name="" descr="{&quot;isTemplate&quot;:true,&quot;type&quot;:&quot;text&quot;}"/>
          <p:cNvSpPr txBox="1"/>
          <p:nvPr/>
        </p:nvSpPr>
        <p:spPr>
          <a:xfrm rot="0" flipH="0" flipV="0">
            <a:off x="4410075" y="1847850"/>
            <a:ext cx="3371850" cy="114300"/>
          </a:xfrm>
          <a:prstGeom prst="rect"/>
        </p:spPr>
        <p:txBody>
          <a:bodyPr wrap="none" lIns="0" tIns="0" rIns="0" bIns="0"/>
          <a:p>
            <a:pPr>
              <a:lnSpc>
                <a:spcPct val="100000"/>
              </a:lnSpc>
            </a:pPr>
            <a:r>
              <a:rPr lang="zh-CN" sz="750">
                <a:solidFill>
                  <a:srgbClr val="8A8F99"/>
                </a:solidFill>
                <a:latin typeface="Microsoft YaHei"/>
                <a:ea typeface="Microsoft YaHei"/>
              </a:rPr>
              <a:t>把最影响经营的两条链打通</a:t>
            </a:r>
            <a:endParaRPr/>
          </a:p>
        </p:txBody>
      </p:sp>
      <p:sp>
        <p:nvSpPr>
          <p:cNvPr id="1851" name=""/>
          <p:cNvSpPr/>
          <p:nvPr/>
        </p:nvSpPr>
        <p:spPr>
          <a:xfrm rot="0" flipH="0" flipV="0">
            <a:off x="4410075" y="2028825"/>
            <a:ext cx="3371850" cy="171450"/>
          </a:xfrm>
          <a:prstGeom prst="roundRect">
            <a:avLst>
              <a:gd name="adj" fmla="val 16667"/>
            </a:avLst>
          </a:prstGeom>
          <a:solidFill>
            <a:srgbClr val="FFFFFF"/>
          </a:solidFill>
          <a:ln w="12700">
            <a:solidFill>
              <a:srgbClr val="E8E8E8"/>
            </a:solidFill>
            <a:prstDash val="solid"/>
          </a:ln>
        </p:spPr>
        <p:txBody>
          <a:bodyPr/>
          <a:p/>
        </p:txBody>
      </p:sp>
      <p:sp>
        <p:nvSpPr>
          <p:cNvPr id="1852" name="" descr="{&quot;isTemplate&quot;:true,&quot;type&quot;:&quot;text&quot;}"/>
          <p:cNvSpPr txBox="1"/>
          <p:nvPr/>
        </p:nvSpPr>
        <p:spPr>
          <a:xfrm rot="0" flipH="0" flipV="0">
            <a:off x="4495800" y="2038350"/>
            <a:ext cx="2295525" cy="152400"/>
          </a:xfrm>
          <a:prstGeom prst="rect"/>
        </p:spPr>
        <p:txBody>
          <a:bodyPr wrap="none" lIns="0" tIns="0" rIns="0" bIns="0"/>
          <a:p>
            <a:pPr>
              <a:lnSpc>
                <a:spcPct val="125000"/>
              </a:lnSpc>
            </a:pPr>
            <a:r>
              <a:rPr lang="zh-CN" sz="788">
                <a:solidFill>
                  <a:srgbClr val="3A4050"/>
                </a:solidFill>
                <a:latin typeface="Microsoft YaHei"/>
                <a:ea typeface="Microsoft YaHei"/>
              </a:rPr>
              <a:t>检修工单全链路（</a:t>
            </a:r>
            <a:r>
              <a:rPr lang="en-US" sz="788">
                <a:solidFill>
                  <a:srgbClr val="3A4050"/>
                </a:solidFill>
                <a:latin typeface="Microsoft YaHei"/>
                <a:ea typeface="Microsoft YaHei"/>
              </a:rPr>
              <a:t xml:space="preserve">L4-L6 </a:t>
            </a:r>
            <a:r>
              <a:rPr lang="zh-CN" sz="788">
                <a:solidFill>
                  <a:srgbClr val="3A4050"/>
                </a:solidFill>
                <a:latin typeface="Microsoft YaHei"/>
                <a:ea typeface="Microsoft YaHei"/>
              </a:rPr>
              <a:t>落地，关联资产自动挂接）</a:t>
            </a:r>
            <a:endParaRPr/>
          </a:p>
        </p:txBody>
      </p:sp>
      <p:sp>
        <p:nvSpPr>
          <p:cNvPr id="1853" name=""/>
          <p:cNvSpPr/>
          <p:nvPr/>
        </p:nvSpPr>
        <p:spPr>
          <a:xfrm rot="0" flipH="0" flipV="0">
            <a:off x="4410075" y="2238375"/>
            <a:ext cx="3371850" cy="161925"/>
          </a:xfrm>
          <a:prstGeom prst="roundRect">
            <a:avLst>
              <a:gd name="adj" fmla="val 17647"/>
            </a:avLst>
          </a:prstGeom>
          <a:solidFill>
            <a:srgbClr val="FFFFFF"/>
          </a:solidFill>
          <a:ln w="12700">
            <a:solidFill>
              <a:srgbClr val="E8E8E8"/>
            </a:solidFill>
            <a:prstDash val="solid"/>
          </a:ln>
        </p:spPr>
        <p:txBody>
          <a:bodyPr/>
          <a:p/>
        </p:txBody>
      </p:sp>
      <p:sp>
        <p:nvSpPr>
          <p:cNvPr id="1854" name="" descr="{&quot;isTemplate&quot;:true,&quot;type&quot;:&quot;text&quot;}"/>
          <p:cNvSpPr txBox="1"/>
          <p:nvPr/>
        </p:nvSpPr>
        <p:spPr>
          <a:xfrm rot="0" flipH="0" flipV="0">
            <a:off x="4495800" y="2247900"/>
            <a:ext cx="1466850" cy="152400"/>
          </a:xfrm>
          <a:prstGeom prst="rect"/>
        </p:spPr>
        <p:txBody>
          <a:bodyPr wrap="none" lIns="0" tIns="0" rIns="0" bIns="0"/>
          <a:p>
            <a:pPr>
              <a:lnSpc>
                <a:spcPct val="125000"/>
              </a:lnSpc>
            </a:pPr>
            <a:r>
              <a:rPr lang="en-US" sz="788">
                <a:solidFill>
                  <a:srgbClr val="3A4050"/>
                </a:solidFill>
                <a:latin typeface="Microsoft YaHei"/>
                <a:ea typeface="Microsoft YaHei"/>
              </a:rPr>
              <a:t xml:space="preserve">EBOM→MBOM </a:t>
            </a:r>
            <a:r>
              <a:rPr lang="zh-CN" sz="788">
                <a:solidFill>
                  <a:srgbClr val="3A4050"/>
                </a:solidFill>
                <a:latin typeface="Microsoft YaHei"/>
                <a:ea typeface="Microsoft YaHei"/>
              </a:rPr>
              <a:t>转换规则库建成</a:t>
            </a:r>
            <a:endParaRPr/>
          </a:p>
        </p:txBody>
      </p:sp>
      <p:sp>
        <p:nvSpPr>
          <p:cNvPr id="1855" name=""/>
          <p:cNvSpPr/>
          <p:nvPr/>
        </p:nvSpPr>
        <p:spPr>
          <a:xfrm rot="0" flipH="0" flipV="0">
            <a:off x="4410075" y="2438400"/>
            <a:ext cx="3371850" cy="171450"/>
          </a:xfrm>
          <a:prstGeom prst="roundRect">
            <a:avLst>
              <a:gd name="adj" fmla="val 16667"/>
            </a:avLst>
          </a:prstGeom>
          <a:solidFill>
            <a:srgbClr val="FFFFFF"/>
          </a:solidFill>
          <a:ln w="12700">
            <a:solidFill>
              <a:srgbClr val="E8E8E8"/>
            </a:solidFill>
            <a:prstDash val="solid"/>
          </a:ln>
        </p:spPr>
        <p:txBody>
          <a:bodyPr/>
          <a:p/>
        </p:txBody>
      </p:sp>
      <p:sp>
        <p:nvSpPr>
          <p:cNvPr id="1856" name="" descr="{&quot;isTemplate&quot;:true,&quot;type&quot;:&quot;text&quot;}"/>
          <p:cNvSpPr txBox="1"/>
          <p:nvPr/>
        </p:nvSpPr>
        <p:spPr>
          <a:xfrm rot="0" flipH="0" flipV="0">
            <a:off x="4495800" y="2447925"/>
            <a:ext cx="1104900" cy="152400"/>
          </a:xfrm>
          <a:prstGeom prst="rect"/>
        </p:spPr>
        <p:txBody>
          <a:bodyPr wrap="none" lIns="0" tIns="0" rIns="0" bIns="0"/>
          <a:p>
            <a:pPr>
              <a:lnSpc>
                <a:spcPct val="125000"/>
              </a:lnSpc>
            </a:pPr>
            <a:r>
              <a:rPr lang="zh-CN" sz="788">
                <a:solidFill>
                  <a:srgbClr val="3A4050"/>
                </a:solidFill>
                <a:latin typeface="Microsoft YaHei"/>
                <a:ea typeface="Microsoft YaHei"/>
              </a:rPr>
              <a:t>四算主线贯通与口径统一</a:t>
            </a:r>
            <a:endParaRPr/>
          </a:p>
        </p:txBody>
      </p:sp>
      <p:sp>
        <p:nvSpPr>
          <p:cNvPr id="1857" name="" descr="{&quot;isTemplate&quot;:true,&quot;type&quot;:&quot;text&quot;}"/>
          <p:cNvSpPr txBox="1"/>
          <p:nvPr/>
        </p:nvSpPr>
        <p:spPr>
          <a:xfrm rot="0" flipH="0" flipV="0">
            <a:off x="4410075" y="2667000"/>
            <a:ext cx="3371850" cy="152400"/>
          </a:xfrm>
          <a:prstGeom prst="rect"/>
        </p:spPr>
        <p:txBody>
          <a:bodyPr wrap="none" lIns="0" tIns="0" rIns="0" bIns="0"/>
          <a:p>
            <a:pPr>
              <a:lnSpc>
                <a:spcPct val="130000"/>
              </a:lnSpc>
            </a:pPr>
            <a:r>
              <a:rPr lang="zh-CN" sz="750">
                <a:solidFill>
                  <a:srgbClr val="E0641E"/>
                </a:solidFill>
                <a:latin typeface="Microsoft YaHei"/>
                <a:ea typeface="Microsoft YaHei"/>
              </a:rPr>
              <a:t>依据：这两条链的痛点条数最多、直接影响资产保值与制造效率</a:t>
            </a:r>
            <a:endParaRPr/>
          </a:p>
        </p:txBody>
      </p:sp>
      <p:sp>
        <p:nvSpPr>
          <p:cNvPr id="1858" name=""/>
          <p:cNvSpPr/>
          <p:nvPr/>
        </p:nvSpPr>
        <p:spPr>
          <a:xfrm rot="0" flipH="0" flipV="0">
            <a:off x="7972425" y="1562100"/>
            <a:ext cx="3609975" cy="1390650"/>
          </a:xfrm>
          <a:prstGeom prst="roundRect">
            <a:avLst>
              <a:gd name="adj" fmla="val 2740"/>
            </a:avLst>
          </a:prstGeom>
          <a:solidFill>
            <a:srgbClr val="F7F7F8"/>
          </a:solidFill>
          <a:ln/>
        </p:spPr>
        <p:txBody>
          <a:bodyPr/>
          <a:p/>
        </p:txBody>
      </p:sp>
      <p:sp>
        <p:nvSpPr>
          <p:cNvPr id="1859" name=""/>
          <p:cNvSpPr/>
          <p:nvPr/>
        </p:nvSpPr>
        <p:spPr>
          <a:xfrm rot="0" flipH="0" flipV="0">
            <a:off x="7972425" y="1562100"/>
            <a:ext cx="3609975" cy="1390650"/>
          </a:xfrm>
          <a:custGeom>
            <a:pathLst>
              <a:path w="379" h="146">
                <a:moveTo>
                  <a:pt x="375" y="0"/>
                </a:moveTo>
                <a:cubicBezTo>
                  <a:pt x="377" y="0"/>
                  <a:pt x="379" y="2"/>
                  <a:pt x="379" y="4"/>
                </a:cubicBezTo>
                <a:cubicBezTo>
                  <a:pt x="379" y="3"/>
                  <a:pt x="378" y="3"/>
                  <a:pt x="378" y="3"/>
                </a:cubicBezTo>
                <a:lnTo>
                  <a:pt x="1" y="3"/>
                </a:lnTo>
                <a:cubicBezTo>
                  <a:pt x="1" y="3"/>
                  <a:pt x="0" y="3"/>
                  <a:pt x="0" y="4"/>
                </a:cubicBezTo>
                <a:cubicBezTo>
                  <a:pt x="0" y="2"/>
                  <a:pt x="2" y="0"/>
                  <a:pt x="4" y="0"/>
                </a:cubicBezTo>
                <a:lnTo>
                  <a:pt x="375" y="0"/>
                </a:lnTo>
                <a:close/>
              </a:path>
            </a:pathLst>
          </a:custGeom>
          <a:solidFill>
            <a:srgbClr val="C43A17"/>
          </a:solidFill>
          <a:ln/>
        </p:spPr>
        <p:txBody>
          <a:bodyPr/>
          <a:p/>
        </p:txBody>
      </p:sp>
      <p:sp>
        <p:nvSpPr>
          <p:cNvPr id="1860" name="" descr="{&quot;isTemplate&quot;:true,&quot;type&quot;:&quot;text&quot;}"/>
          <p:cNvSpPr txBox="1"/>
          <p:nvPr/>
        </p:nvSpPr>
        <p:spPr>
          <a:xfrm rot="0" flipH="0" flipV="0">
            <a:off x="8096250" y="1666875"/>
            <a:ext cx="3362325" cy="161925"/>
          </a:xfrm>
          <a:prstGeom prst="rect"/>
        </p:spPr>
        <p:txBody>
          <a:bodyPr wrap="none" lIns="0" tIns="0" rIns="0" bIns="0"/>
          <a:p>
            <a:pPr>
              <a:lnSpc>
                <a:spcPct val="100000"/>
              </a:lnSpc>
            </a:pPr>
            <a:r>
              <a:rPr lang="zh-CN" sz="1013" b="1">
                <a:solidFill>
                  <a:srgbClr val="C43A17"/>
                </a:solidFill>
                <a:latin typeface="Microsoft YaHei"/>
                <a:ea typeface="Microsoft YaHei"/>
              </a:rPr>
              <a:t>第三期　智能与优化</a:t>
            </a:r>
            <a:endParaRPr/>
          </a:p>
        </p:txBody>
      </p:sp>
      <p:sp>
        <p:nvSpPr>
          <p:cNvPr id="1861" name="" descr="{&quot;isTemplate&quot;:true,&quot;type&quot;:&quot;text&quot;}"/>
          <p:cNvSpPr txBox="1"/>
          <p:nvPr/>
        </p:nvSpPr>
        <p:spPr>
          <a:xfrm rot="0" flipH="0" flipV="0">
            <a:off x="8096250" y="1847850"/>
            <a:ext cx="3362325" cy="114300"/>
          </a:xfrm>
          <a:prstGeom prst="rect"/>
        </p:spPr>
        <p:txBody>
          <a:bodyPr wrap="none" lIns="0" tIns="0" rIns="0" bIns="0"/>
          <a:p>
            <a:pPr>
              <a:lnSpc>
                <a:spcPct val="100000"/>
              </a:lnSpc>
            </a:pPr>
            <a:r>
              <a:rPr lang="zh-CN" sz="750">
                <a:solidFill>
                  <a:srgbClr val="8A8F99"/>
                </a:solidFill>
                <a:latin typeface="Microsoft YaHei"/>
                <a:ea typeface="Microsoft YaHei"/>
              </a:rPr>
              <a:t>数据到位了，</a:t>
            </a:r>
            <a:r>
              <a:rPr lang="en-US" sz="750">
                <a:solidFill>
                  <a:srgbClr val="8A8F99"/>
                </a:solidFill>
                <a:latin typeface="Microsoft YaHei"/>
                <a:ea typeface="Microsoft YaHei"/>
              </a:rPr>
              <a:t xml:space="preserve">AI </a:t>
            </a:r>
            <a:r>
              <a:rPr lang="zh-CN" sz="750">
                <a:solidFill>
                  <a:srgbClr val="8A8F99"/>
                </a:solidFill>
                <a:latin typeface="Microsoft YaHei"/>
                <a:ea typeface="Microsoft YaHei"/>
              </a:rPr>
              <a:t>才有用</a:t>
            </a:r>
            <a:endParaRPr/>
          </a:p>
        </p:txBody>
      </p:sp>
      <p:sp>
        <p:nvSpPr>
          <p:cNvPr id="1862" name=""/>
          <p:cNvSpPr/>
          <p:nvPr/>
        </p:nvSpPr>
        <p:spPr>
          <a:xfrm rot="0" flipH="0" flipV="0">
            <a:off x="8096250" y="2028825"/>
            <a:ext cx="3362325" cy="171450"/>
          </a:xfrm>
          <a:prstGeom prst="roundRect">
            <a:avLst>
              <a:gd name="adj" fmla="val 16667"/>
            </a:avLst>
          </a:prstGeom>
          <a:solidFill>
            <a:srgbClr val="FFFFFF"/>
          </a:solidFill>
          <a:ln w="12700">
            <a:solidFill>
              <a:srgbClr val="E8E8E8"/>
            </a:solidFill>
            <a:prstDash val="solid"/>
          </a:ln>
        </p:spPr>
        <p:txBody>
          <a:bodyPr/>
          <a:p/>
        </p:txBody>
      </p:sp>
      <p:sp>
        <p:nvSpPr>
          <p:cNvPr id="1863" name="" descr="{&quot;isTemplate&quot;:true,&quot;type&quot;:&quot;text&quot;}"/>
          <p:cNvSpPr txBox="1"/>
          <p:nvPr/>
        </p:nvSpPr>
        <p:spPr>
          <a:xfrm rot="0" flipH="0" flipV="0">
            <a:off x="8181975" y="2038350"/>
            <a:ext cx="2171700" cy="152400"/>
          </a:xfrm>
          <a:prstGeom prst="rect"/>
        </p:spPr>
        <p:txBody>
          <a:bodyPr wrap="none" lIns="0" tIns="0" rIns="0" bIns="0"/>
          <a:p>
            <a:pPr>
              <a:lnSpc>
                <a:spcPct val="125000"/>
              </a:lnSpc>
            </a:pPr>
            <a:r>
              <a:rPr lang="en-US" sz="788">
                <a:solidFill>
                  <a:srgbClr val="3A4050"/>
                </a:solidFill>
                <a:latin typeface="Microsoft YaHei"/>
                <a:ea typeface="Microsoft YaHei"/>
              </a:rPr>
              <a:t xml:space="preserve">P1/P2 </a:t>
            </a:r>
            <a:r>
              <a:rPr lang="zh-CN" sz="788">
                <a:solidFill>
                  <a:srgbClr val="3A4050"/>
                </a:solidFill>
                <a:latin typeface="Microsoft YaHei"/>
                <a:ea typeface="Microsoft YaHei"/>
              </a:rPr>
              <a:t>优先</a:t>
            </a:r>
            <a:r>
              <a:rPr lang="en-US" sz="788">
                <a:solidFill>
                  <a:srgbClr val="3A4050"/>
                </a:solidFill>
                <a:latin typeface="Microsoft YaHei"/>
                <a:ea typeface="Microsoft YaHei"/>
              </a:rPr>
              <a:t xml:space="preserve"> AI </a:t>
            </a:r>
            <a:r>
              <a:rPr lang="zh-CN" sz="788">
                <a:solidFill>
                  <a:srgbClr val="3A4050"/>
                </a:solidFill>
                <a:latin typeface="Microsoft YaHei"/>
                <a:ea typeface="Microsoft YaHei"/>
              </a:rPr>
              <a:t>场景上线（缺陷判读、文档检索）</a:t>
            </a:r>
            <a:endParaRPr/>
          </a:p>
        </p:txBody>
      </p:sp>
      <p:sp>
        <p:nvSpPr>
          <p:cNvPr id="1864" name=""/>
          <p:cNvSpPr/>
          <p:nvPr/>
        </p:nvSpPr>
        <p:spPr>
          <a:xfrm rot="0" flipH="0" flipV="0">
            <a:off x="8096250" y="2238375"/>
            <a:ext cx="3362325" cy="161925"/>
          </a:xfrm>
          <a:prstGeom prst="roundRect">
            <a:avLst>
              <a:gd name="adj" fmla="val 17647"/>
            </a:avLst>
          </a:prstGeom>
          <a:solidFill>
            <a:srgbClr val="FFFFFF"/>
          </a:solidFill>
          <a:ln w="12700">
            <a:solidFill>
              <a:srgbClr val="E8E8E8"/>
            </a:solidFill>
            <a:prstDash val="solid"/>
          </a:ln>
        </p:spPr>
        <p:txBody>
          <a:bodyPr/>
          <a:p/>
        </p:txBody>
      </p:sp>
      <p:sp>
        <p:nvSpPr>
          <p:cNvPr id="1865" name="" descr="{&quot;isTemplate&quot;:true,&quot;type&quot;:&quot;text&quot;}"/>
          <p:cNvSpPr txBox="1"/>
          <p:nvPr/>
        </p:nvSpPr>
        <p:spPr>
          <a:xfrm rot="0" flipH="0" flipV="0">
            <a:off x="8181975" y="2247900"/>
            <a:ext cx="1000125" cy="152400"/>
          </a:xfrm>
          <a:prstGeom prst="rect"/>
        </p:spPr>
        <p:txBody>
          <a:bodyPr wrap="none" lIns="0" tIns="0" rIns="0" bIns="0"/>
          <a:p>
            <a:pPr>
              <a:lnSpc>
                <a:spcPct val="125000"/>
              </a:lnSpc>
            </a:pPr>
            <a:r>
              <a:rPr lang="zh-CN" sz="788">
                <a:solidFill>
                  <a:srgbClr val="3A4050"/>
                </a:solidFill>
                <a:latin typeface="Microsoft YaHei"/>
                <a:ea typeface="Microsoft YaHei"/>
              </a:rPr>
              <a:t>指标看板与管理驾驶舱</a:t>
            </a:r>
            <a:endParaRPr/>
          </a:p>
        </p:txBody>
      </p:sp>
      <p:sp>
        <p:nvSpPr>
          <p:cNvPr id="1866" name=""/>
          <p:cNvSpPr/>
          <p:nvPr/>
        </p:nvSpPr>
        <p:spPr>
          <a:xfrm rot="0" flipH="0" flipV="0">
            <a:off x="8096250" y="2438400"/>
            <a:ext cx="3362325" cy="171450"/>
          </a:xfrm>
          <a:prstGeom prst="roundRect">
            <a:avLst>
              <a:gd name="adj" fmla="val 16667"/>
            </a:avLst>
          </a:prstGeom>
          <a:solidFill>
            <a:srgbClr val="FFFFFF"/>
          </a:solidFill>
          <a:ln w="12700">
            <a:solidFill>
              <a:srgbClr val="E8E8E8"/>
            </a:solidFill>
            <a:prstDash val="solid"/>
          </a:ln>
        </p:spPr>
        <p:txBody>
          <a:bodyPr/>
          <a:p/>
        </p:txBody>
      </p:sp>
      <p:sp>
        <p:nvSpPr>
          <p:cNvPr id="1867" name="" descr="{&quot;isTemplate&quot;:true,&quot;type&quot;:&quot;text&quot;}"/>
          <p:cNvSpPr txBox="1"/>
          <p:nvPr/>
        </p:nvSpPr>
        <p:spPr>
          <a:xfrm rot="0" flipH="0" flipV="0">
            <a:off x="8181975" y="2447925"/>
            <a:ext cx="1304925" cy="152400"/>
          </a:xfrm>
          <a:prstGeom prst="rect"/>
        </p:spPr>
        <p:txBody>
          <a:bodyPr wrap="none" lIns="0" tIns="0" rIns="0" bIns="0"/>
          <a:p>
            <a:pPr>
              <a:lnSpc>
                <a:spcPct val="125000"/>
              </a:lnSpc>
            </a:pPr>
            <a:r>
              <a:rPr lang="zh-CN" sz="788">
                <a:solidFill>
                  <a:srgbClr val="3A4050"/>
                </a:solidFill>
                <a:latin typeface="Microsoft YaHei"/>
                <a:ea typeface="Microsoft YaHei"/>
              </a:rPr>
              <a:t>预测类场景（进度偏差预警）</a:t>
            </a:r>
            <a:endParaRPr/>
          </a:p>
        </p:txBody>
      </p:sp>
      <p:sp>
        <p:nvSpPr>
          <p:cNvPr id="1868" name="" descr="{&quot;isTemplate&quot;:true,&quot;type&quot;:&quot;text&quot;}"/>
          <p:cNvSpPr txBox="1"/>
          <p:nvPr/>
        </p:nvSpPr>
        <p:spPr>
          <a:xfrm rot="0" flipH="0" flipV="0">
            <a:off x="8096250" y="2667000"/>
            <a:ext cx="3362325" cy="152400"/>
          </a:xfrm>
          <a:prstGeom prst="rect"/>
        </p:spPr>
        <p:txBody>
          <a:bodyPr wrap="none" lIns="0" tIns="0" rIns="0" bIns="0"/>
          <a:p>
            <a:pPr>
              <a:lnSpc>
                <a:spcPct val="130000"/>
              </a:lnSpc>
            </a:pPr>
            <a:r>
              <a:rPr lang="zh-CN" sz="750">
                <a:solidFill>
                  <a:srgbClr val="C43A17"/>
                </a:solidFill>
                <a:latin typeface="Microsoft YaHei"/>
                <a:ea typeface="Microsoft YaHei"/>
              </a:rPr>
              <a:t>依据：</a:t>
            </a:r>
            <a:r>
              <a:rPr lang="en-US" sz="750">
                <a:solidFill>
                  <a:srgbClr val="C43A17"/>
                </a:solidFill>
                <a:latin typeface="Microsoft YaHei"/>
                <a:ea typeface="Microsoft YaHei"/>
              </a:rPr>
              <a:t xml:space="preserve">AI </a:t>
            </a:r>
            <a:r>
              <a:rPr lang="zh-CN" sz="750">
                <a:solidFill>
                  <a:srgbClr val="C43A17"/>
                </a:solidFill>
                <a:latin typeface="Microsoft YaHei"/>
                <a:ea typeface="Microsoft YaHei"/>
              </a:rPr>
              <a:t>依赖前两期的数据底座，提前做效果无法保证</a:t>
            </a:r>
            <a:endParaRPr/>
          </a:p>
        </p:txBody>
      </p:sp>
      <p:sp>
        <p:nvSpPr>
          <p:cNvPr id="1869" name=""/>
          <p:cNvSpPr/>
          <p:nvPr/>
        </p:nvSpPr>
        <p:spPr>
          <a:xfrm rot="0" flipH="0" flipV="0">
            <a:off x="609600" y="3000375"/>
            <a:ext cx="5334000" cy="2181225"/>
          </a:xfrm>
          <a:prstGeom prst="roundRect">
            <a:avLst>
              <a:gd name="adj" fmla="val 1747"/>
            </a:avLst>
          </a:prstGeom>
          <a:solidFill>
            <a:srgbClr val="FFFFFF"/>
          </a:solidFill>
          <a:ln w="12700">
            <a:solidFill>
              <a:srgbClr val="E8E8E8"/>
            </a:solidFill>
            <a:prstDash val="solid"/>
          </a:ln>
        </p:spPr>
        <p:txBody>
          <a:bodyPr/>
          <a:p/>
        </p:txBody>
      </p:sp>
      <p:sp>
        <p:nvSpPr>
          <p:cNvPr id="1870" name=""/>
          <p:cNvSpPr/>
          <p:nvPr/>
        </p:nvSpPr>
        <p:spPr>
          <a:xfrm rot="0" flipH="0" flipV="0">
            <a:off x="609600" y="3000375"/>
            <a:ext cx="5334000" cy="285750"/>
          </a:xfrm>
          <a:prstGeom prst="roundRect">
            <a:avLst>
              <a:gd name="adj" fmla="val 10000"/>
            </a:avLst>
          </a:prstGeom>
          <a:solidFill>
            <a:srgbClr val="0F1423"/>
          </a:solidFill>
          <a:ln/>
        </p:spPr>
        <p:txBody>
          <a:bodyPr/>
          <a:p/>
        </p:txBody>
      </p:sp>
      <p:sp>
        <p:nvSpPr>
          <p:cNvPr id="1871" name="" descr="{&quot;isTemplate&quot;:true,&quot;type&quot;:&quot;text&quot;}"/>
          <p:cNvSpPr txBox="1"/>
          <p:nvPr/>
        </p:nvSpPr>
        <p:spPr>
          <a:xfrm rot="0" flipH="0" flipV="0">
            <a:off x="733425" y="3076575"/>
            <a:ext cx="1228725" cy="142875"/>
          </a:xfrm>
          <a:prstGeom prst="rect"/>
        </p:spPr>
        <p:txBody>
          <a:bodyPr wrap="none" lIns="0" tIns="0" rIns="0" bIns="0"/>
          <a:p>
            <a:pPr>
              <a:lnSpc>
                <a:spcPct val="100000"/>
              </a:lnSpc>
            </a:pPr>
            <a:r>
              <a:rPr lang="en-US" sz="938" b="1">
                <a:solidFill>
                  <a:srgbClr val="FFFFFF"/>
                </a:solidFill>
                <a:latin typeface="Microsoft YaHei"/>
                <a:ea typeface="Microsoft YaHei"/>
              </a:rPr>
              <a:t xml:space="preserve">② </a:t>
            </a:r>
            <a:r>
              <a:rPr lang="zh-CN" sz="938" b="1">
                <a:solidFill>
                  <a:srgbClr val="FFFFFF"/>
                </a:solidFill>
                <a:latin typeface="Microsoft YaHei"/>
                <a:ea typeface="Microsoft YaHei"/>
              </a:rPr>
              <a:t>依赖关系与关键路径</a:t>
            </a:r>
            <a:endParaRPr/>
          </a:p>
        </p:txBody>
      </p:sp>
      <p:sp>
        <p:nvSpPr>
          <p:cNvPr id="1872" name=""/>
          <p:cNvSpPr/>
          <p:nvPr/>
        </p:nvSpPr>
        <p:spPr>
          <a:xfrm rot="0" flipH="0" flipV="0">
            <a:off x="733425" y="3381375"/>
            <a:ext cx="1581150" cy="333375"/>
          </a:xfrm>
          <a:prstGeom prst="roundRect">
            <a:avLst>
              <a:gd name="adj" fmla="val 8571"/>
            </a:avLst>
          </a:prstGeom>
          <a:solidFill>
            <a:srgbClr val="F7F7F8"/>
          </a:solidFill>
          <a:ln/>
        </p:spPr>
        <p:txBody>
          <a:bodyPr/>
          <a:p/>
        </p:txBody>
      </p:sp>
      <p:sp>
        <p:nvSpPr>
          <p:cNvPr id="1873" name="" descr="{&quot;isTemplate&quot;:true,&quot;type&quot;:&quot;text&quot;}"/>
          <p:cNvSpPr txBox="1"/>
          <p:nvPr/>
        </p:nvSpPr>
        <p:spPr>
          <a:xfrm rot="0" flipH="0" flipV="0">
            <a:off x="819150" y="3476625"/>
            <a:ext cx="1409700" cy="142875"/>
          </a:xfrm>
          <a:prstGeom prst="rect"/>
        </p:spPr>
        <p:txBody>
          <a:bodyPr wrap="none" lIns="0" tIns="0" rIns="0" bIns="0"/>
          <a:p>
            <a:pPr>
              <a:lnSpc>
                <a:spcPct val="125000"/>
              </a:lnSpc>
            </a:pPr>
            <a:r>
              <a:rPr lang="zh-CN" sz="750" b="1">
                <a:solidFill>
                  <a:srgbClr val="0F1423"/>
                </a:solidFill>
                <a:latin typeface="Microsoft YaHei"/>
                <a:ea typeface="Microsoft YaHei"/>
              </a:rPr>
              <a:t>设备台账口径统一</a:t>
            </a:r>
            <a:endParaRPr/>
          </a:p>
        </p:txBody>
      </p:sp>
      <p:sp>
        <p:nvSpPr>
          <p:cNvPr id="1874" name="" descr="{&quot;isTemplate&quot;:true,&quot;type&quot;:&quot;text&quot;}"/>
          <p:cNvSpPr txBox="1"/>
          <p:nvPr/>
        </p:nvSpPr>
        <p:spPr>
          <a:xfrm rot="0" flipH="0" flipV="0">
            <a:off x="2314575" y="3476625"/>
            <a:ext cx="171450" cy="142875"/>
          </a:xfrm>
          <a:prstGeom prst="rect"/>
        </p:spPr>
        <p:txBody>
          <a:bodyPr wrap="none" lIns="0" tIns="0" rIns="0" bIns="0"/>
          <a:p>
            <a:pPr algn="ctr">
              <a:lnSpc>
                <a:spcPct val="100000"/>
              </a:lnSpc>
            </a:pPr>
            <a:r>
              <a:rPr sz="900" b="1">
                <a:solidFill>
                  <a:srgbClr val="FA4F24"/>
                </a:solidFill>
                <a:latin typeface="Microsoft YaHei"/>
                <a:ea typeface="Microsoft YaHei"/>
              </a:rPr>
              <a:t>→</a:t>
            </a:r>
            <a:endParaRPr/>
          </a:p>
        </p:txBody>
      </p:sp>
      <p:sp>
        <p:nvSpPr>
          <p:cNvPr id="1875" name=""/>
          <p:cNvSpPr/>
          <p:nvPr/>
        </p:nvSpPr>
        <p:spPr>
          <a:xfrm rot="0" flipH="0" flipV="0">
            <a:off x="2486025" y="3381375"/>
            <a:ext cx="1581150" cy="333375"/>
          </a:xfrm>
          <a:prstGeom prst="roundRect">
            <a:avLst>
              <a:gd name="adj" fmla="val 8571"/>
            </a:avLst>
          </a:prstGeom>
          <a:solidFill>
            <a:srgbClr val="FFF3EE"/>
          </a:solidFill>
          <a:ln/>
        </p:spPr>
        <p:txBody>
          <a:bodyPr/>
          <a:p/>
        </p:txBody>
      </p:sp>
      <p:sp>
        <p:nvSpPr>
          <p:cNvPr id="1876" name="" descr="{&quot;isTemplate&quot;:true,&quot;type&quot;:&quot;text&quot;}"/>
          <p:cNvSpPr txBox="1"/>
          <p:nvPr/>
        </p:nvSpPr>
        <p:spPr>
          <a:xfrm rot="0" flipH="0" flipV="0">
            <a:off x="2571750" y="3476625"/>
            <a:ext cx="1409700" cy="142875"/>
          </a:xfrm>
          <a:prstGeom prst="rect"/>
        </p:spPr>
        <p:txBody>
          <a:bodyPr wrap="none" lIns="0" tIns="0" rIns="0" bIns="0"/>
          <a:p>
            <a:pPr>
              <a:lnSpc>
                <a:spcPct val="125000"/>
              </a:lnSpc>
            </a:pPr>
            <a:r>
              <a:rPr lang="zh-CN" sz="750">
                <a:solidFill>
                  <a:srgbClr val="C43A17"/>
                </a:solidFill>
                <a:latin typeface="Microsoft YaHei"/>
                <a:ea typeface="Microsoft YaHei"/>
              </a:rPr>
              <a:t>工单自动挂接</a:t>
            </a:r>
            <a:endParaRPr/>
          </a:p>
        </p:txBody>
      </p:sp>
      <p:sp>
        <p:nvSpPr>
          <p:cNvPr id="1877" name="" descr="{&quot;isTemplate&quot;:true,&quot;type&quot;:&quot;text&quot;}"/>
          <p:cNvSpPr txBox="1"/>
          <p:nvPr/>
        </p:nvSpPr>
        <p:spPr>
          <a:xfrm rot="0" flipH="0" flipV="0">
            <a:off x="4067175" y="3476625"/>
            <a:ext cx="171450" cy="142875"/>
          </a:xfrm>
          <a:prstGeom prst="rect"/>
        </p:spPr>
        <p:txBody>
          <a:bodyPr wrap="none" lIns="0" tIns="0" rIns="0" bIns="0"/>
          <a:p>
            <a:pPr algn="ctr">
              <a:lnSpc>
                <a:spcPct val="100000"/>
              </a:lnSpc>
            </a:pPr>
            <a:r>
              <a:rPr sz="900" b="1">
                <a:solidFill>
                  <a:srgbClr val="FA4F24"/>
                </a:solidFill>
                <a:latin typeface="Microsoft YaHei"/>
                <a:ea typeface="Microsoft YaHei"/>
              </a:rPr>
              <a:t>→</a:t>
            </a:r>
            <a:endParaRPr/>
          </a:p>
        </p:txBody>
      </p:sp>
      <p:sp>
        <p:nvSpPr>
          <p:cNvPr id="1878" name=""/>
          <p:cNvSpPr/>
          <p:nvPr/>
        </p:nvSpPr>
        <p:spPr>
          <a:xfrm rot="0" flipH="0" flipV="0">
            <a:off x="4238625" y="3381375"/>
            <a:ext cx="1581150" cy="333375"/>
          </a:xfrm>
          <a:prstGeom prst="roundRect">
            <a:avLst>
              <a:gd name="adj" fmla="val 8571"/>
            </a:avLst>
          </a:prstGeom>
          <a:solidFill>
            <a:srgbClr val="FA4F24"/>
          </a:solidFill>
          <a:ln/>
        </p:spPr>
        <p:txBody>
          <a:bodyPr/>
          <a:p/>
        </p:txBody>
      </p:sp>
      <p:sp>
        <p:nvSpPr>
          <p:cNvPr id="1879" name="" descr="{&quot;isTemplate&quot;:true,&quot;type&quot;:&quot;text&quot;}"/>
          <p:cNvSpPr txBox="1"/>
          <p:nvPr/>
        </p:nvSpPr>
        <p:spPr>
          <a:xfrm rot="0" flipH="0" flipV="0">
            <a:off x="4324350" y="3476625"/>
            <a:ext cx="1409700" cy="142875"/>
          </a:xfrm>
          <a:prstGeom prst="rect"/>
        </p:spPr>
        <p:txBody>
          <a:bodyPr wrap="none" lIns="0" tIns="0" rIns="0" bIns="0"/>
          <a:p>
            <a:pPr>
              <a:lnSpc>
                <a:spcPct val="125000"/>
              </a:lnSpc>
            </a:pPr>
            <a:r>
              <a:rPr lang="en-US" sz="750">
                <a:solidFill>
                  <a:srgbClr val="FFFFFF"/>
                </a:solidFill>
                <a:latin typeface="Microsoft YaHei"/>
                <a:ea typeface="Microsoft YaHei"/>
              </a:rPr>
              <a:t xml:space="preserve">AI </a:t>
            </a:r>
            <a:r>
              <a:rPr lang="zh-CN" sz="750">
                <a:solidFill>
                  <a:srgbClr val="FFFFFF"/>
                </a:solidFill>
                <a:latin typeface="Microsoft YaHei"/>
                <a:ea typeface="Microsoft YaHei"/>
              </a:rPr>
              <a:t>缺陷判读</a:t>
            </a:r>
            <a:endParaRPr/>
          </a:p>
        </p:txBody>
      </p:sp>
      <p:sp>
        <p:nvSpPr>
          <p:cNvPr id="1880" name=""/>
          <p:cNvSpPr/>
          <p:nvPr/>
        </p:nvSpPr>
        <p:spPr>
          <a:xfrm rot="0" flipH="0" flipV="0">
            <a:off x="733425" y="3762375"/>
            <a:ext cx="1581150" cy="333375"/>
          </a:xfrm>
          <a:prstGeom prst="roundRect">
            <a:avLst>
              <a:gd name="adj" fmla="val 8571"/>
            </a:avLst>
          </a:prstGeom>
          <a:solidFill>
            <a:srgbClr val="F7F7F8"/>
          </a:solidFill>
          <a:ln/>
        </p:spPr>
        <p:txBody>
          <a:bodyPr/>
          <a:p/>
        </p:txBody>
      </p:sp>
      <p:sp>
        <p:nvSpPr>
          <p:cNvPr id="1881" name="" descr="{&quot;isTemplate&quot;:true,&quot;type&quot;:&quot;text&quot;}"/>
          <p:cNvSpPr txBox="1"/>
          <p:nvPr/>
        </p:nvSpPr>
        <p:spPr>
          <a:xfrm rot="0" flipH="0" flipV="0">
            <a:off x="819150" y="3857625"/>
            <a:ext cx="1409700" cy="142875"/>
          </a:xfrm>
          <a:prstGeom prst="rect"/>
        </p:spPr>
        <p:txBody>
          <a:bodyPr wrap="none" lIns="0" tIns="0" rIns="0" bIns="0"/>
          <a:p>
            <a:pPr>
              <a:lnSpc>
                <a:spcPct val="125000"/>
              </a:lnSpc>
            </a:pPr>
            <a:r>
              <a:rPr lang="zh-CN" sz="750" b="1">
                <a:solidFill>
                  <a:srgbClr val="0F1423"/>
                </a:solidFill>
                <a:latin typeface="Microsoft YaHei"/>
                <a:ea typeface="Microsoft YaHei"/>
              </a:rPr>
              <a:t>转换规则沉淀</a:t>
            </a:r>
            <a:endParaRPr/>
          </a:p>
        </p:txBody>
      </p:sp>
      <p:sp>
        <p:nvSpPr>
          <p:cNvPr id="1882" name="" descr="{&quot;isTemplate&quot;:true,&quot;type&quot;:&quot;text&quot;}"/>
          <p:cNvSpPr txBox="1"/>
          <p:nvPr/>
        </p:nvSpPr>
        <p:spPr>
          <a:xfrm rot="0" flipH="0" flipV="0">
            <a:off x="2314575" y="3857625"/>
            <a:ext cx="171450" cy="142875"/>
          </a:xfrm>
          <a:prstGeom prst="rect"/>
        </p:spPr>
        <p:txBody>
          <a:bodyPr wrap="none" lIns="0" tIns="0" rIns="0" bIns="0"/>
          <a:p>
            <a:pPr algn="ctr">
              <a:lnSpc>
                <a:spcPct val="100000"/>
              </a:lnSpc>
            </a:pPr>
            <a:r>
              <a:rPr sz="900" b="1">
                <a:solidFill>
                  <a:srgbClr val="E0641E"/>
                </a:solidFill>
                <a:latin typeface="Microsoft YaHei"/>
                <a:ea typeface="Microsoft YaHei"/>
              </a:rPr>
              <a:t>→</a:t>
            </a:r>
            <a:endParaRPr/>
          </a:p>
        </p:txBody>
      </p:sp>
      <p:sp>
        <p:nvSpPr>
          <p:cNvPr id="1883" name=""/>
          <p:cNvSpPr/>
          <p:nvPr/>
        </p:nvSpPr>
        <p:spPr>
          <a:xfrm rot="0" flipH="0" flipV="0">
            <a:off x="2486025" y="3762375"/>
            <a:ext cx="1581150" cy="333375"/>
          </a:xfrm>
          <a:prstGeom prst="roundRect">
            <a:avLst>
              <a:gd name="adj" fmla="val 8571"/>
            </a:avLst>
          </a:prstGeom>
          <a:solidFill>
            <a:srgbClr val="FFF3EE"/>
          </a:solidFill>
          <a:ln/>
        </p:spPr>
        <p:txBody>
          <a:bodyPr/>
          <a:p/>
        </p:txBody>
      </p:sp>
      <p:sp>
        <p:nvSpPr>
          <p:cNvPr id="1884" name="" descr="{&quot;isTemplate&quot;:true,&quot;type&quot;:&quot;text&quot;}"/>
          <p:cNvSpPr txBox="1"/>
          <p:nvPr/>
        </p:nvSpPr>
        <p:spPr>
          <a:xfrm rot="0" flipH="0" flipV="0">
            <a:off x="2571750" y="3857625"/>
            <a:ext cx="1409700" cy="142875"/>
          </a:xfrm>
          <a:prstGeom prst="rect"/>
        </p:spPr>
        <p:txBody>
          <a:bodyPr wrap="none" lIns="0" tIns="0" rIns="0" bIns="0"/>
          <a:p>
            <a:pPr>
              <a:lnSpc>
                <a:spcPct val="125000"/>
              </a:lnSpc>
            </a:pPr>
            <a:r>
              <a:rPr lang="en-US" sz="750">
                <a:solidFill>
                  <a:srgbClr val="C43A17"/>
                </a:solidFill>
                <a:latin typeface="Microsoft YaHei"/>
                <a:ea typeface="Microsoft YaHei"/>
              </a:rPr>
              <a:t xml:space="preserve">MBOM </a:t>
            </a:r>
            <a:r>
              <a:rPr lang="zh-CN" sz="750">
                <a:solidFill>
                  <a:srgbClr val="C43A17"/>
                </a:solidFill>
                <a:latin typeface="Microsoft YaHei"/>
                <a:ea typeface="Microsoft YaHei"/>
              </a:rPr>
              <a:t>自动展开</a:t>
            </a:r>
            <a:endParaRPr/>
          </a:p>
        </p:txBody>
      </p:sp>
      <p:sp>
        <p:nvSpPr>
          <p:cNvPr id="1885" name="" descr="{&quot;isTemplate&quot;:true,&quot;type&quot;:&quot;text&quot;}"/>
          <p:cNvSpPr txBox="1"/>
          <p:nvPr/>
        </p:nvSpPr>
        <p:spPr>
          <a:xfrm rot="0" flipH="0" flipV="0">
            <a:off x="4067175" y="3857625"/>
            <a:ext cx="171450" cy="142875"/>
          </a:xfrm>
          <a:prstGeom prst="rect"/>
        </p:spPr>
        <p:txBody>
          <a:bodyPr wrap="none" lIns="0" tIns="0" rIns="0" bIns="0"/>
          <a:p>
            <a:pPr algn="ctr">
              <a:lnSpc>
                <a:spcPct val="100000"/>
              </a:lnSpc>
            </a:pPr>
            <a:r>
              <a:rPr sz="900" b="1">
                <a:solidFill>
                  <a:srgbClr val="E0641E"/>
                </a:solidFill>
                <a:latin typeface="Microsoft YaHei"/>
                <a:ea typeface="Microsoft YaHei"/>
              </a:rPr>
              <a:t>→</a:t>
            </a:r>
            <a:endParaRPr/>
          </a:p>
        </p:txBody>
      </p:sp>
      <p:sp>
        <p:nvSpPr>
          <p:cNvPr id="1886" name=""/>
          <p:cNvSpPr/>
          <p:nvPr/>
        </p:nvSpPr>
        <p:spPr>
          <a:xfrm rot="0" flipH="0" flipV="0">
            <a:off x="4238625" y="3762375"/>
            <a:ext cx="1581150" cy="333375"/>
          </a:xfrm>
          <a:prstGeom prst="roundRect">
            <a:avLst>
              <a:gd name="adj" fmla="val 8571"/>
            </a:avLst>
          </a:prstGeom>
          <a:solidFill>
            <a:srgbClr val="E0641E"/>
          </a:solidFill>
          <a:ln/>
        </p:spPr>
        <p:txBody>
          <a:bodyPr/>
          <a:p/>
        </p:txBody>
      </p:sp>
      <p:sp>
        <p:nvSpPr>
          <p:cNvPr id="1887" name="" descr="{&quot;isTemplate&quot;:true,&quot;type&quot;:&quot;text&quot;}"/>
          <p:cNvSpPr txBox="1"/>
          <p:nvPr/>
        </p:nvSpPr>
        <p:spPr>
          <a:xfrm rot="0" flipH="0" flipV="0">
            <a:off x="4324350" y="3857625"/>
            <a:ext cx="1409700" cy="142875"/>
          </a:xfrm>
          <a:prstGeom prst="rect"/>
        </p:spPr>
        <p:txBody>
          <a:bodyPr wrap="none" lIns="0" tIns="0" rIns="0" bIns="0"/>
          <a:p>
            <a:pPr>
              <a:lnSpc>
                <a:spcPct val="125000"/>
              </a:lnSpc>
            </a:pPr>
            <a:r>
              <a:rPr lang="en-US" sz="750">
                <a:solidFill>
                  <a:srgbClr val="FFFFFF"/>
                </a:solidFill>
                <a:latin typeface="Microsoft YaHei"/>
                <a:ea typeface="Microsoft YaHei"/>
              </a:rPr>
              <a:t xml:space="preserve">AI </a:t>
            </a:r>
            <a:r>
              <a:rPr lang="zh-CN" sz="750">
                <a:solidFill>
                  <a:srgbClr val="FFFFFF"/>
                </a:solidFill>
                <a:latin typeface="Microsoft YaHei"/>
                <a:ea typeface="Microsoft YaHei"/>
              </a:rPr>
              <a:t>规则辅助</a:t>
            </a:r>
            <a:endParaRPr/>
          </a:p>
        </p:txBody>
      </p:sp>
      <p:sp>
        <p:nvSpPr>
          <p:cNvPr id="1888" name=""/>
          <p:cNvSpPr/>
          <p:nvPr/>
        </p:nvSpPr>
        <p:spPr>
          <a:xfrm rot="0" flipH="0" flipV="0">
            <a:off x="733425" y="4143375"/>
            <a:ext cx="1581150" cy="333375"/>
          </a:xfrm>
          <a:prstGeom prst="roundRect">
            <a:avLst>
              <a:gd name="adj" fmla="val 8571"/>
            </a:avLst>
          </a:prstGeom>
          <a:solidFill>
            <a:srgbClr val="F7F7F8"/>
          </a:solidFill>
          <a:ln/>
        </p:spPr>
        <p:txBody>
          <a:bodyPr/>
          <a:p/>
        </p:txBody>
      </p:sp>
      <p:sp>
        <p:nvSpPr>
          <p:cNvPr id="1889" name="" descr="{&quot;isTemplate&quot;:true,&quot;type&quot;:&quot;text&quot;}"/>
          <p:cNvSpPr txBox="1"/>
          <p:nvPr/>
        </p:nvSpPr>
        <p:spPr>
          <a:xfrm rot="0" flipH="0" flipV="0">
            <a:off x="819150" y="4238625"/>
            <a:ext cx="1409700" cy="142875"/>
          </a:xfrm>
          <a:prstGeom prst="rect"/>
        </p:spPr>
        <p:txBody>
          <a:bodyPr wrap="none" lIns="0" tIns="0" rIns="0" bIns="0"/>
          <a:p>
            <a:pPr>
              <a:lnSpc>
                <a:spcPct val="125000"/>
              </a:lnSpc>
            </a:pPr>
            <a:r>
              <a:rPr lang="zh-CN" sz="750" b="1">
                <a:solidFill>
                  <a:srgbClr val="0F1423"/>
                </a:solidFill>
                <a:latin typeface="Microsoft YaHei"/>
                <a:ea typeface="Microsoft YaHei"/>
              </a:rPr>
              <a:t>指标口径裁定</a:t>
            </a:r>
            <a:endParaRPr/>
          </a:p>
        </p:txBody>
      </p:sp>
      <p:sp>
        <p:nvSpPr>
          <p:cNvPr id="1890" name="" descr="{&quot;isTemplate&quot;:true,&quot;type&quot;:&quot;text&quot;}"/>
          <p:cNvSpPr txBox="1"/>
          <p:nvPr/>
        </p:nvSpPr>
        <p:spPr>
          <a:xfrm rot="0" flipH="0" flipV="0">
            <a:off x="2314575" y="4238625"/>
            <a:ext cx="171450" cy="142875"/>
          </a:xfrm>
          <a:prstGeom prst="rect"/>
        </p:spPr>
        <p:txBody>
          <a:bodyPr wrap="none" lIns="0" tIns="0" rIns="0" bIns="0"/>
          <a:p>
            <a:pPr algn="ctr">
              <a:lnSpc>
                <a:spcPct val="100000"/>
              </a:lnSpc>
            </a:pPr>
            <a:r>
              <a:rPr sz="900" b="1">
                <a:solidFill>
                  <a:srgbClr val="C43A17"/>
                </a:solidFill>
                <a:latin typeface="Microsoft YaHei"/>
                <a:ea typeface="Microsoft YaHei"/>
              </a:rPr>
              <a:t>→</a:t>
            </a:r>
            <a:endParaRPr/>
          </a:p>
        </p:txBody>
      </p:sp>
      <p:sp>
        <p:nvSpPr>
          <p:cNvPr id="1891" name=""/>
          <p:cNvSpPr/>
          <p:nvPr/>
        </p:nvSpPr>
        <p:spPr>
          <a:xfrm rot="0" flipH="0" flipV="0">
            <a:off x="2486025" y="4143375"/>
            <a:ext cx="1581150" cy="333375"/>
          </a:xfrm>
          <a:prstGeom prst="roundRect">
            <a:avLst>
              <a:gd name="adj" fmla="val 8571"/>
            </a:avLst>
          </a:prstGeom>
          <a:solidFill>
            <a:srgbClr val="FFF3EE"/>
          </a:solidFill>
          <a:ln/>
        </p:spPr>
        <p:txBody>
          <a:bodyPr/>
          <a:p/>
        </p:txBody>
      </p:sp>
      <p:sp>
        <p:nvSpPr>
          <p:cNvPr id="1892" name="" descr="{&quot;isTemplate&quot;:true,&quot;type&quot;:&quot;text&quot;}"/>
          <p:cNvSpPr txBox="1"/>
          <p:nvPr/>
        </p:nvSpPr>
        <p:spPr>
          <a:xfrm rot="0" flipH="0" flipV="0">
            <a:off x="2571750" y="4238625"/>
            <a:ext cx="1409700" cy="142875"/>
          </a:xfrm>
          <a:prstGeom prst="rect"/>
        </p:spPr>
        <p:txBody>
          <a:bodyPr wrap="none" lIns="0" tIns="0" rIns="0" bIns="0"/>
          <a:p>
            <a:pPr>
              <a:lnSpc>
                <a:spcPct val="125000"/>
              </a:lnSpc>
            </a:pPr>
            <a:r>
              <a:rPr lang="zh-CN" sz="750">
                <a:solidFill>
                  <a:srgbClr val="C43A17"/>
                </a:solidFill>
                <a:latin typeface="Microsoft YaHei"/>
                <a:ea typeface="Microsoft YaHei"/>
              </a:rPr>
              <a:t>四算贯通</a:t>
            </a:r>
            <a:endParaRPr/>
          </a:p>
        </p:txBody>
      </p:sp>
      <p:sp>
        <p:nvSpPr>
          <p:cNvPr id="1893" name="" descr="{&quot;isTemplate&quot;:true,&quot;type&quot;:&quot;text&quot;}"/>
          <p:cNvSpPr txBox="1"/>
          <p:nvPr/>
        </p:nvSpPr>
        <p:spPr>
          <a:xfrm rot="0" flipH="0" flipV="0">
            <a:off x="4067175" y="4238625"/>
            <a:ext cx="171450" cy="142875"/>
          </a:xfrm>
          <a:prstGeom prst="rect"/>
        </p:spPr>
        <p:txBody>
          <a:bodyPr wrap="none" lIns="0" tIns="0" rIns="0" bIns="0"/>
          <a:p>
            <a:pPr algn="ctr">
              <a:lnSpc>
                <a:spcPct val="100000"/>
              </a:lnSpc>
            </a:pPr>
            <a:r>
              <a:rPr sz="900" b="1">
                <a:solidFill>
                  <a:srgbClr val="C43A17"/>
                </a:solidFill>
                <a:latin typeface="Microsoft YaHei"/>
                <a:ea typeface="Microsoft YaHei"/>
              </a:rPr>
              <a:t>→</a:t>
            </a:r>
            <a:endParaRPr/>
          </a:p>
        </p:txBody>
      </p:sp>
      <p:sp>
        <p:nvSpPr>
          <p:cNvPr id="1894" name=""/>
          <p:cNvSpPr/>
          <p:nvPr/>
        </p:nvSpPr>
        <p:spPr>
          <a:xfrm rot="0" flipH="0" flipV="0">
            <a:off x="4238625" y="4143375"/>
            <a:ext cx="1581150" cy="333375"/>
          </a:xfrm>
          <a:prstGeom prst="roundRect">
            <a:avLst>
              <a:gd name="adj" fmla="val 8571"/>
            </a:avLst>
          </a:prstGeom>
          <a:solidFill>
            <a:srgbClr val="C43A17"/>
          </a:solidFill>
          <a:ln/>
        </p:spPr>
        <p:txBody>
          <a:bodyPr/>
          <a:p/>
        </p:txBody>
      </p:sp>
      <p:sp>
        <p:nvSpPr>
          <p:cNvPr id="1895" name="" descr="{&quot;isTemplate&quot;:true,&quot;type&quot;:&quot;text&quot;}"/>
          <p:cNvSpPr txBox="1"/>
          <p:nvPr/>
        </p:nvSpPr>
        <p:spPr>
          <a:xfrm rot="0" flipH="0" flipV="0">
            <a:off x="4324350" y="4238625"/>
            <a:ext cx="1409700" cy="142875"/>
          </a:xfrm>
          <a:prstGeom prst="rect"/>
        </p:spPr>
        <p:txBody>
          <a:bodyPr wrap="none" lIns="0" tIns="0" rIns="0" bIns="0"/>
          <a:p>
            <a:pPr>
              <a:lnSpc>
                <a:spcPct val="125000"/>
              </a:lnSpc>
            </a:pPr>
            <a:r>
              <a:rPr lang="zh-CN" sz="750">
                <a:solidFill>
                  <a:srgbClr val="FFFFFF"/>
                </a:solidFill>
                <a:latin typeface="Microsoft YaHei"/>
                <a:ea typeface="Microsoft YaHei"/>
              </a:rPr>
              <a:t>驾驶舱上线</a:t>
            </a:r>
            <a:endParaRPr/>
          </a:p>
        </p:txBody>
      </p:sp>
      <p:sp>
        <p:nvSpPr>
          <p:cNvPr id="1896" name="" descr="{&quot;isTemplate&quot;:true,&quot;type&quot;:&quot;text&quot;}"/>
          <p:cNvSpPr txBox="1"/>
          <p:nvPr/>
        </p:nvSpPr>
        <p:spPr>
          <a:xfrm rot="0" flipH="0" flipV="0">
            <a:off x="733425" y="4552950"/>
            <a:ext cx="5086350" cy="533400"/>
          </a:xfrm>
          <a:prstGeom prst="rect"/>
        </p:spPr>
        <p:txBody>
          <a:bodyPr wrap="square" lIns="0" tIns="0" rIns="0" bIns="0">
            <a:normAutofit/>
          </a:bodyPr>
          <a:p>
            <a:pPr>
              <a:lnSpc>
                <a:spcPct val="140000"/>
              </a:lnSpc>
            </a:pPr>
            <a:r>
              <a:rPr lang="zh-CN" sz="788">
                <a:solidFill>
                  <a:srgbClr val="5A6070"/>
                </a:solidFill>
                <a:latin typeface="Microsoft YaHei"/>
                <a:ea typeface="Microsoft YaHei"/>
              </a:rPr>
              <a:t>关键路径判定：每条链上最长的那条决定整体工期。上面三条链的关键节点分别是设备台账口径、转换规则沉淀、指标口径裁定——这三项都是治理动作，不是开发动作。</a:t>
            </a:r>
            <a:endParaRPr/>
          </a:p>
        </p:txBody>
      </p:sp>
      <p:sp>
        <p:nvSpPr>
          <p:cNvPr id="1897" name=""/>
          <p:cNvSpPr/>
          <p:nvPr/>
        </p:nvSpPr>
        <p:spPr>
          <a:xfrm rot="0" flipH="0" flipV="0">
            <a:off x="6029325" y="3000375"/>
            <a:ext cx="5553075" cy="2181225"/>
          </a:xfrm>
          <a:prstGeom prst="roundRect">
            <a:avLst>
              <a:gd name="adj" fmla="val 1747"/>
            </a:avLst>
          </a:prstGeom>
          <a:solidFill>
            <a:srgbClr val="0F1423"/>
          </a:solidFill>
          <a:ln/>
        </p:spPr>
        <p:txBody>
          <a:bodyPr/>
          <a:p/>
        </p:txBody>
      </p:sp>
      <p:sp>
        <p:nvSpPr>
          <p:cNvPr id="1898" name="" descr="{&quot;isTemplate&quot;:true,&quot;type&quot;:&quot;text&quot;}"/>
          <p:cNvSpPr txBox="1"/>
          <p:nvPr/>
        </p:nvSpPr>
        <p:spPr>
          <a:xfrm rot="0" flipH="0" flipV="0">
            <a:off x="6181725" y="3124200"/>
            <a:ext cx="5248275" cy="142875"/>
          </a:xfrm>
          <a:prstGeom prst="rect"/>
        </p:spPr>
        <p:txBody>
          <a:bodyPr wrap="none" lIns="0" tIns="0" rIns="0" bIns="0"/>
          <a:p>
            <a:pPr>
              <a:lnSpc>
                <a:spcPct val="100000"/>
              </a:lnSpc>
            </a:pPr>
            <a:r>
              <a:rPr lang="en-US" sz="900" spc="75">
                <a:solidFill>
                  <a:srgbClr val="FBA15C"/>
                </a:solidFill>
                <a:latin typeface="Microsoft YaHei"/>
                <a:ea typeface="Microsoft YaHei"/>
              </a:rPr>
              <a:t xml:space="preserve">③ </a:t>
            </a:r>
            <a:r>
              <a:rPr lang="zh-CN" sz="900" spc="75">
                <a:solidFill>
                  <a:srgbClr val="FBA15C"/>
                </a:solidFill>
                <a:latin typeface="Microsoft YaHei"/>
                <a:ea typeface="Microsoft YaHei"/>
              </a:rPr>
              <a:t>投入与预期收益测算（必须附假设条件）</a:t>
            </a:r>
            <a:endParaRPr/>
          </a:p>
        </p:txBody>
      </p:sp>
      <p:sp>
        <p:nvSpPr>
          <p:cNvPr id="1899" name="" descr="{&quot;isTemplate&quot;:true,&quot;type&quot;:&quot;text&quot;}"/>
          <p:cNvSpPr txBox="1"/>
          <p:nvPr/>
        </p:nvSpPr>
        <p:spPr>
          <a:xfrm rot="0" flipH="0" flipV="0">
            <a:off x="6181725" y="335280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900" name="" descr="{&quot;isTemplate&quot;:true,&quot;type&quot;:&quot;text&quot;}"/>
          <p:cNvSpPr txBox="1"/>
          <p:nvPr/>
        </p:nvSpPr>
        <p:spPr>
          <a:xfrm rot="0" flipH="0" flipV="0">
            <a:off x="6305550" y="3352800"/>
            <a:ext cx="5124450" cy="133350"/>
          </a:xfrm>
          <a:prstGeom prst="rect"/>
        </p:spPr>
        <p:txBody>
          <a:bodyPr wrap="none" lIns="0" tIns="0" rIns="0" bIns="0"/>
          <a:p>
            <a:pPr>
              <a:lnSpc>
                <a:spcPct val="100000"/>
              </a:lnSpc>
            </a:pPr>
            <a:r>
              <a:rPr lang="zh-CN" sz="863" b="1">
                <a:solidFill>
                  <a:srgbClr val="FFFFFF"/>
                </a:solidFill>
                <a:latin typeface="Microsoft YaHei"/>
                <a:ea typeface="Microsoft YaHei"/>
              </a:rPr>
              <a:t>分三期测算</a:t>
            </a:r>
            <a:endParaRPr/>
          </a:p>
        </p:txBody>
      </p:sp>
      <p:sp>
        <p:nvSpPr>
          <p:cNvPr id="1901" name="" descr="{&quot;isTemplate&quot;:true,&quot;type&quot;:&quot;text&quot;}"/>
          <p:cNvSpPr txBox="1"/>
          <p:nvPr/>
        </p:nvSpPr>
        <p:spPr>
          <a:xfrm rot="0" flipH="0" flipV="0">
            <a:off x="6305550" y="3505200"/>
            <a:ext cx="5124450" cy="152400"/>
          </a:xfrm>
          <a:prstGeom prst="rect"/>
        </p:spPr>
        <p:txBody>
          <a:bodyPr wrap="none" lIns="0" tIns="0" rIns="0" bIns="0"/>
          <a:p>
            <a:pPr>
              <a:lnSpc>
                <a:spcPct val="130000"/>
              </a:lnSpc>
            </a:pPr>
            <a:r>
              <a:rPr lang="zh-CN" sz="750">
                <a:solidFill>
                  <a:srgbClr val="FFFFFF">
                    <a:alpha val="82000"/>
                  </a:srgbClr>
                </a:solidFill>
                <a:latin typeface="Microsoft YaHei"/>
                <a:ea typeface="Microsoft YaHei"/>
              </a:rPr>
              <a:t>每期列出人力投入、系统投入、数据治理投入三块</a:t>
            </a:r>
            <a:endParaRPr/>
          </a:p>
        </p:txBody>
      </p:sp>
      <p:sp>
        <p:nvSpPr>
          <p:cNvPr id="1902" name="" descr="{&quot;isTemplate&quot;:true,&quot;type&quot;:&quot;text&quot;}"/>
          <p:cNvSpPr txBox="1"/>
          <p:nvPr/>
        </p:nvSpPr>
        <p:spPr>
          <a:xfrm rot="0" flipH="0" flipV="0">
            <a:off x="6181725" y="379095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903" name="" descr="{&quot;isTemplate&quot;:true,&quot;type&quot;:&quot;text&quot;}"/>
          <p:cNvSpPr txBox="1"/>
          <p:nvPr/>
        </p:nvSpPr>
        <p:spPr>
          <a:xfrm rot="0" flipH="0" flipV="0">
            <a:off x="6305550" y="3790950"/>
            <a:ext cx="5124450" cy="133350"/>
          </a:xfrm>
          <a:prstGeom prst="rect"/>
        </p:spPr>
        <p:txBody>
          <a:bodyPr wrap="none" lIns="0" tIns="0" rIns="0" bIns="0"/>
          <a:p>
            <a:pPr>
              <a:lnSpc>
                <a:spcPct val="100000"/>
              </a:lnSpc>
            </a:pPr>
            <a:r>
              <a:rPr lang="zh-CN" sz="863" b="1">
                <a:solidFill>
                  <a:srgbClr val="FFFFFF"/>
                </a:solidFill>
                <a:latin typeface="Microsoft YaHei"/>
                <a:ea typeface="Microsoft YaHei"/>
              </a:rPr>
              <a:t>收益可量化才写</a:t>
            </a:r>
            <a:endParaRPr/>
          </a:p>
        </p:txBody>
      </p:sp>
      <p:sp>
        <p:nvSpPr>
          <p:cNvPr id="1904" name="" descr="{&quot;isTemplate&quot;:true,&quot;type&quot;:&quot;text&quot;}"/>
          <p:cNvSpPr txBox="1"/>
          <p:nvPr/>
        </p:nvSpPr>
        <p:spPr>
          <a:xfrm rot="0" flipH="0" flipV="0">
            <a:off x="6305550" y="3943350"/>
            <a:ext cx="5124450" cy="152400"/>
          </a:xfrm>
          <a:prstGeom prst="rect"/>
        </p:spPr>
        <p:txBody>
          <a:bodyPr wrap="none" lIns="0" tIns="0" rIns="0" bIns="0"/>
          <a:p>
            <a:pPr>
              <a:lnSpc>
                <a:spcPct val="130000"/>
              </a:lnSpc>
            </a:pPr>
            <a:r>
              <a:rPr lang="zh-CN" sz="750">
                <a:solidFill>
                  <a:srgbClr val="FFFFFF">
                    <a:alpha val="82000"/>
                  </a:srgbClr>
                </a:solidFill>
                <a:latin typeface="Microsoft YaHei"/>
                <a:ea typeface="Microsoft YaHei"/>
              </a:rPr>
              <a:t>工时节约、停机减少、差错减少；不能量化的写定性判断依据</a:t>
            </a:r>
            <a:endParaRPr/>
          </a:p>
        </p:txBody>
      </p:sp>
      <p:sp>
        <p:nvSpPr>
          <p:cNvPr id="1905" name="" descr="{&quot;isTemplate&quot;:true,&quot;type&quot;:&quot;text&quot;}"/>
          <p:cNvSpPr txBox="1"/>
          <p:nvPr/>
        </p:nvSpPr>
        <p:spPr>
          <a:xfrm rot="0" flipH="0" flipV="0">
            <a:off x="6181725" y="4229100"/>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906" name="" descr="{&quot;isTemplate&quot;:true,&quot;type&quot;:&quot;text&quot;}"/>
          <p:cNvSpPr txBox="1"/>
          <p:nvPr/>
        </p:nvSpPr>
        <p:spPr>
          <a:xfrm rot="0" flipH="0" flipV="0">
            <a:off x="6305550" y="4229100"/>
            <a:ext cx="5124450" cy="133350"/>
          </a:xfrm>
          <a:prstGeom prst="rect"/>
        </p:spPr>
        <p:txBody>
          <a:bodyPr wrap="none" lIns="0" tIns="0" rIns="0" bIns="0"/>
          <a:p>
            <a:pPr>
              <a:lnSpc>
                <a:spcPct val="100000"/>
              </a:lnSpc>
            </a:pPr>
            <a:r>
              <a:rPr lang="zh-CN" sz="863" b="1">
                <a:solidFill>
                  <a:srgbClr val="FFFFFF"/>
                </a:solidFill>
                <a:latin typeface="Microsoft YaHei"/>
                <a:ea typeface="Microsoft YaHei"/>
              </a:rPr>
              <a:t>假设条件单列</a:t>
            </a:r>
            <a:endParaRPr/>
          </a:p>
        </p:txBody>
      </p:sp>
      <p:sp>
        <p:nvSpPr>
          <p:cNvPr id="1907" name="" descr="{&quot;isTemplate&quot;:true,&quot;type&quot;:&quot;text&quot;}"/>
          <p:cNvSpPr txBox="1"/>
          <p:nvPr/>
        </p:nvSpPr>
        <p:spPr>
          <a:xfrm rot="0" flipH="0" flipV="0">
            <a:off x="6305550" y="4381500"/>
            <a:ext cx="5124450" cy="152400"/>
          </a:xfrm>
          <a:prstGeom prst="rect"/>
        </p:spPr>
        <p:txBody>
          <a:bodyPr wrap="none" lIns="0" tIns="0" rIns="0" bIns="0"/>
          <a:p>
            <a:pPr>
              <a:lnSpc>
                <a:spcPct val="130000"/>
              </a:lnSpc>
            </a:pPr>
            <a:r>
              <a:rPr lang="zh-CN" sz="750">
                <a:solidFill>
                  <a:srgbClr val="FFFFFF">
                    <a:alpha val="82000"/>
                  </a:srgbClr>
                </a:solidFill>
                <a:latin typeface="Microsoft YaHei"/>
                <a:ea typeface="Microsoft YaHei"/>
              </a:rPr>
              <a:t>测算依赖的前提逐条写清（数据质量到位、</a:t>
            </a:r>
            <a:r>
              <a:rPr lang="en-US" sz="750">
                <a:solidFill>
                  <a:srgbClr val="FFFFFF">
                    <a:alpha val="82000"/>
                  </a:srgbClr>
                </a:solidFill>
                <a:latin typeface="Microsoft YaHei"/>
                <a:ea typeface="Microsoft YaHei"/>
              </a:rPr>
              <a:t xml:space="preserve">HR </a:t>
            </a:r>
            <a:r>
              <a:rPr lang="zh-CN" sz="750">
                <a:solidFill>
                  <a:srgbClr val="FFFFFF">
                    <a:alpha val="82000"/>
                  </a:srgbClr>
                </a:solidFill>
                <a:latin typeface="Microsoft YaHei"/>
                <a:ea typeface="Microsoft YaHei"/>
              </a:rPr>
              <a:t>配合、组织不调整）</a:t>
            </a:r>
            <a:endParaRPr/>
          </a:p>
        </p:txBody>
      </p:sp>
      <p:sp>
        <p:nvSpPr>
          <p:cNvPr id="1908" name="" descr="{&quot;isTemplate&quot;:true,&quot;type&quot;:&quot;text&quot;}"/>
          <p:cNvSpPr txBox="1"/>
          <p:nvPr/>
        </p:nvSpPr>
        <p:spPr>
          <a:xfrm rot="0" flipH="0" flipV="0">
            <a:off x="6181725" y="4657725"/>
            <a:ext cx="38100"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1909" name="" descr="{&quot;isTemplate&quot;:true,&quot;type&quot;:&quot;text&quot;}"/>
          <p:cNvSpPr txBox="1"/>
          <p:nvPr/>
        </p:nvSpPr>
        <p:spPr>
          <a:xfrm rot="0" flipH="0" flipV="0">
            <a:off x="6305550" y="4657725"/>
            <a:ext cx="5124450" cy="133350"/>
          </a:xfrm>
          <a:prstGeom prst="rect"/>
        </p:spPr>
        <p:txBody>
          <a:bodyPr wrap="none" lIns="0" tIns="0" rIns="0" bIns="0"/>
          <a:p>
            <a:pPr>
              <a:lnSpc>
                <a:spcPct val="100000"/>
              </a:lnSpc>
            </a:pPr>
            <a:r>
              <a:rPr lang="zh-CN" sz="863" b="1">
                <a:solidFill>
                  <a:srgbClr val="FFFFFF"/>
                </a:solidFill>
                <a:latin typeface="Microsoft YaHei"/>
                <a:ea typeface="Microsoft YaHei"/>
              </a:rPr>
              <a:t>不做无依据的数</a:t>
            </a:r>
            <a:endParaRPr/>
          </a:p>
        </p:txBody>
      </p:sp>
      <p:sp>
        <p:nvSpPr>
          <p:cNvPr id="1910" name="" descr="{&quot;isTemplate&quot;:true,&quot;type&quot;:&quot;text&quot;}"/>
          <p:cNvSpPr txBox="1"/>
          <p:nvPr/>
        </p:nvSpPr>
        <p:spPr>
          <a:xfrm rot="0" flipH="0" flipV="0">
            <a:off x="6305550" y="4810125"/>
            <a:ext cx="5124450" cy="152400"/>
          </a:xfrm>
          <a:prstGeom prst="rect"/>
        </p:spPr>
        <p:txBody>
          <a:bodyPr wrap="none" lIns="0" tIns="0" rIns="0" bIns="0"/>
          <a:p>
            <a:pPr>
              <a:lnSpc>
                <a:spcPct val="130000"/>
              </a:lnSpc>
            </a:pPr>
            <a:r>
              <a:rPr lang="zh-CN" sz="750">
                <a:solidFill>
                  <a:srgbClr val="FFFFFF">
                    <a:alpha val="82000"/>
                  </a:srgbClr>
                </a:solidFill>
                <a:latin typeface="Microsoft YaHei"/>
                <a:ea typeface="Microsoft YaHei"/>
              </a:rPr>
              <a:t>没有基线数据支撑的收益，宁可写区间不写单点值</a:t>
            </a:r>
            <a:endParaRPr/>
          </a:p>
        </p:txBody>
      </p:sp>
      <p:sp>
        <p:nvSpPr>
          <p:cNvPr id="1911" name=""/>
          <p:cNvSpPr/>
          <p:nvPr/>
        </p:nvSpPr>
        <p:spPr>
          <a:xfrm rot="0" flipH="0" flipV="0">
            <a:off x="647700" y="5257800"/>
            <a:ext cx="3609975" cy="400050"/>
          </a:xfrm>
          <a:prstGeom prst="roundRect">
            <a:avLst>
              <a:gd name="adj" fmla="val 7143"/>
            </a:avLst>
          </a:prstGeom>
          <a:solidFill>
            <a:srgbClr val="0F1423"/>
          </a:solidFill>
          <a:ln/>
        </p:spPr>
        <p:txBody>
          <a:bodyPr/>
          <a:p/>
        </p:txBody>
      </p:sp>
      <p:sp>
        <p:nvSpPr>
          <p:cNvPr id="1912" name=""/>
          <p:cNvSpPr/>
          <p:nvPr/>
        </p:nvSpPr>
        <p:spPr>
          <a:xfrm rot="0" flipH="0" flipV="0">
            <a:off x="647700" y="5257800"/>
            <a:ext cx="3609975" cy="400050"/>
          </a:xfrm>
          <a:custGeom>
            <a:pathLst>
              <a:path w="379" h="42">
                <a:moveTo>
                  <a:pt x="4" y="42"/>
                </a:moveTo>
                <a:cubicBezTo>
                  <a:pt x="3" y="42"/>
                  <a:pt x="2" y="42"/>
                  <a:pt x="1" y="41"/>
                </a:cubicBezTo>
                <a:cubicBezTo>
                  <a:pt x="0" y="40"/>
                  <a:pt x="0" y="40"/>
                  <a:pt x="0" y="39"/>
                </a:cubicBezTo>
                <a:lnTo>
                  <a:pt x="0" y="3"/>
                </a:lnTo>
                <a:cubicBezTo>
                  <a:pt x="0" y="1"/>
                  <a:pt x="1" y="0"/>
                  <a:pt x="3" y="0"/>
                </a:cubicBezTo>
                <a:lnTo>
                  <a:pt x="4" y="0"/>
                </a:lnTo>
                <a:close/>
              </a:path>
            </a:pathLst>
          </a:custGeom>
          <a:solidFill>
            <a:srgbClr val="FA4F24"/>
          </a:solidFill>
          <a:ln/>
        </p:spPr>
        <p:txBody>
          <a:bodyPr/>
          <a:p/>
        </p:txBody>
      </p:sp>
      <p:sp>
        <p:nvSpPr>
          <p:cNvPr id="1913" name="" descr="{&quot;isTemplate&quot;:true,&quot;type&quot;:&quot;text&quot;}"/>
          <p:cNvSpPr txBox="1"/>
          <p:nvPr/>
        </p:nvSpPr>
        <p:spPr>
          <a:xfrm rot="0" flipH="0" flipV="0">
            <a:off x="771525" y="5305425"/>
            <a:ext cx="3324225" cy="133350"/>
          </a:xfrm>
          <a:prstGeom prst="rect"/>
        </p:spPr>
        <p:txBody>
          <a:bodyPr wrap="none" lIns="0" tIns="0" rIns="0" bIns="0"/>
          <a:p>
            <a:pPr>
              <a:lnSpc>
                <a:spcPct val="100000"/>
              </a:lnSpc>
            </a:pPr>
            <a:r>
              <a:rPr lang="en-US" sz="863" b="1">
                <a:solidFill>
                  <a:srgbClr val="FBA15C"/>
                </a:solidFill>
                <a:latin typeface="Microsoft YaHei"/>
                <a:ea typeface="Microsoft YaHei"/>
              </a:rPr>
              <a:t xml:space="preserve">④ </a:t>
            </a:r>
            <a:r>
              <a:rPr lang="zh-CN" sz="863" b="1">
                <a:solidFill>
                  <a:srgbClr val="FBA15C"/>
                </a:solidFill>
                <a:latin typeface="Microsoft YaHei"/>
                <a:ea typeface="Microsoft YaHei"/>
              </a:rPr>
              <a:t>组织保障</a:t>
            </a:r>
            <a:endParaRPr/>
          </a:p>
        </p:txBody>
      </p:sp>
      <p:sp>
        <p:nvSpPr>
          <p:cNvPr id="1914" name="" descr="{&quot;isTemplate&quot;:true,&quot;type&quot;:&quot;text&quot;}"/>
          <p:cNvSpPr txBox="1"/>
          <p:nvPr/>
        </p:nvSpPr>
        <p:spPr>
          <a:xfrm rot="0" flipH="0" flipV="0">
            <a:off x="771525" y="5457825"/>
            <a:ext cx="3324225" cy="152400"/>
          </a:xfrm>
          <a:prstGeom prst="rect"/>
        </p:spPr>
        <p:txBody>
          <a:bodyPr wrap="none" lIns="0" tIns="0" rIns="0" bIns="0"/>
          <a:p>
            <a:pPr>
              <a:lnSpc>
                <a:spcPct val="130000"/>
              </a:lnSpc>
            </a:pPr>
            <a:r>
              <a:rPr lang="zh-CN" sz="750">
                <a:solidFill>
                  <a:srgbClr val="FFFFFF">
                    <a:alpha val="86000"/>
                  </a:srgbClr>
                </a:solidFill>
                <a:latin typeface="Microsoft YaHei"/>
                <a:ea typeface="Microsoft YaHei"/>
              </a:rPr>
              <a:t>变革指导委员会</a:t>
            </a:r>
            <a:r>
              <a:rPr lang="en-US" sz="750">
                <a:solidFill>
                  <a:srgbClr val="FFFFFF">
                    <a:alpha val="86000"/>
                  </a:srgbClr>
                </a:solidFill>
                <a:latin typeface="Microsoft YaHei"/>
                <a:ea typeface="Microsoft YaHei"/>
              </a:rPr>
              <a:t xml:space="preserve"> + </a:t>
            </a:r>
            <a:r>
              <a:rPr lang="zh-CN" sz="750">
                <a:solidFill>
                  <a:srgbClr val="FFFFFF">
                    <a:alpha val="86000"/>
                  </a:srgbClr>
                </a:solidFill>
                <a:latin typeface="Microsoft YaHei"/>
                <a:ea typeface="Microsoft YaHei"/>
              </a:rPr>
              <a:t>领域责任人</a:t>
            </a:r>
            <a:r>
              <a:rPr lang="en-US" sz="750">
                <a:solidFill>
                  <a:srgbClr val="FFFFFF">
                    <a:alpha val="86000"/>
                  </a:srgbClr>
                </a:solidFill>
                <a:latin typeface="Microsoft YaHei"/>
                <a:ea typeface="Microsoft YaHei"/>
              </a:rPr>
              <a:t xml:space="preserve"> + </a:t>
            </a:r>
            <a:r>
              <a:rPr lang="zh-CN" sz="750">
                <a:solidFill>
                  <a:srgbClr val="FFFFFF">
                    <a:alpha val="86000"/>
                  </a:srgbClr>
                </a:solidFill>
                <a:latin typeface="Microsoft YaHei"/>
                <a:ea typeface="Microsoft YaHei"/>
              </a:rPr>
              <a:t>各部门数据</a:t>
            </a:r>
            <a:r>
              <a:rPr lang="en-US" sz="750">
                <a:solidFill>
                  <a:srgbClr val="FFFFFF">
                    <a:alpha val="86000"/>
                  </a:srgbClr>
                </a:solidFill>
                <a:latin typeface="Microsoft YaHei"/>
                <a:ea typeface="Microsoft YaHei"/>
              </a:rPr>
              <a:t xml:space="preserve"> owner </a:t>
            </a:r>
            <a:r>
              <a:rPr lang="zh-CN" sz="750">
                <a:solidFill>
                  <a:srgbClr val="FFFFFF">
                    <a:alpha val="86000"/>
                  </a:srgbClr>
                </a:solidFill>
                <a:latin typeface="Microsoft YaHei"/>
                <a:ea typeface="Microsoft YaHei"/>
              </a:rPr>
              <a:t>三层机制，明确决策时限</a:t>
            </a:r>
            <a:endParaRPr/>
          </a:p>
        </p:txBody>
      </p:sp>
      <p:sp>
        <p:nvSpPr>
          <p:cNvPr id="1915" name=""/>
          <p:cNvSpPr/>
          <p:nvPr/>
        </p:nvSpPr>
        <p:spPr>
          <a:xfrm rot="0" flipH="0" flipV="0">
            <a:off x="4324350" y="5257800"/>
            <a:ext cx="3619500" cy="400050"/>
          </a:xfrm>
          <a:prstGeom prst="roundRect">
            <a:avLst>
              <a:gd name="adj" fmla="val 7143"/>
            </a:avLst>
          </a:prstGeom>
          <a:solidFill>
            <a:srgbClr val="F7F7F8"/>
          </a:solidFill>
          <a:ln/>
        </p:spPr>
        <p:txBody>
          <a:bodyPr/>
          <a:p/>
        </p:txBody>
      </p:sp>
      <p:sp>
        <p:nvSpPr>
          <p:cNvPr id="1916" name=""/>
          <p:cNvSpPr/>
          <p:nvPr/>
        </p:nvSpPr>
        <p:spPr>
          <a:xfrm rot="0" flipH="0" flipV="0">
            <a:off x="4324350" y="5257800"/>
            <a:ext cx="3619500" cy="400050"/>
          </a:xfrm>
          <a:custGeom>
            <a:pathLst>
              <a:path w="380" h="42">
                <a:moveTo>
                  <a:pt x="4" y="42"/>
                </a:moveTo>
                <a:cubicBezTo>
                  <a:pt x="3" y="42"/>
                  <a:pt x="2" y="42"/>
                  <a:pt x="1" y="41"/>
                </a:cubicBezTo>
                <a:cubicBezTo>
                  <a:pt x="0" y="40"/>
                  <a:pt x="0" y="40"/>
                  <a:pt x="0" y="39"/>
                </a:cubicBezTo>
                <a:lnTo>
                  <a:pt x="0" y="3"/>
                </a:lnTo>
                <a:cubicBezTo>
                  <a:pt x="0" y="1"/>
                  <a:pt x="1" y="0"/>
                  <a:pt x="3" y="0"/>
                </a:cubicBezTo>
                <a:lnTo>
                  <a:pt x="4" y="0"/>
                </a:lnTo>
                <a:close/>
              </a:path>
            </a:pathLst>
          </a:custGeom>
          <a:solidFill>
            <a:srgbClr val="E0641E"/>
          </a:solidFill>
          <a:ln/>
        </p:spPr>
        <p:txBody>
          <a:bodyPr/>
          <a:p/>
        </p:txBody>
      </p:sp>
      <p:sp>
        <p:nvSpPr>
          <p:cNvPr id="1917" name="" descr="{&quot;isTemplate&quot;:true,&quot;type&quot;:&quot;text&quot;}"/>
          <p:cNvSpPr txBox="1"/>
          <p:nvPr/>
        </p:nvSpPr>
        <p:spPr>
          <a:xfrm rot="0" flipH="0" flipV="0">
            <a:off x="4448175" y="5305425"/>
            <a:ext cx="3333750" cy="133350"/>
          </a:xfrm>
          <a:prstGeom prst="rect"/>
        </p:spPr>
        <p:txBody>
          <a:bodyPr wrap="none" lIns="0" tIns="0" rIns="0" bIns="0"/>
          <a:p>
            <a:pPr>
              <a:lnSpc>
                <a:spcPct val="100000"/>
              </a:lnSpc>
            </a:pPr>
            <a:r>
              <a:rPr lang="en-US" sz="863" b="1">
                <a:solidFill>
                  <a:srgbClr val="0F1423"/>
                </a:solidFill>
                <a:latin typeface="Microsoft YaHei"/>
                <a:ea typeface="Microsoft YaHei"/>
              </a:rPr>
              <a:t xml:space="preserve">④ </a:t>
            </a:r>
            <a:r>
              <a:rPr lang="zh-CN" sz="863" b="1">
                <a:solidFill>
                  <a:srgbClr val="0F1423"/>
                </a:solidFill>
                <a:latin typeface="Microsoft YaHei"/>
                <a:ea typeface="Microsoft YaHei"/>
              </a:rPr>
              <a:t>数据保障</a:t>
            </a:r>
            <a:endParaRPr/>
          </a:p>
        </p:txBody>
      </p:sp>
      <p:sp>
        <p:nvSpPr>
          <p:cNvPr id="1918" name="" descr="{&quot;isTemplate&quot;:true,&quot;type&quot;:&quot;text&quot;}"/>
          <p:cNvSpPr txBox="1"/>
          <p:nvPr/>
        </p:nvSpPr>
        <p:spPr>
          <a:xfrm rot="0" flipH="0" flipV="0">
            <a:off x="4448175" y="5457825"/>
            <a:ext cx="3333750" cy="152400"/>
          </a:xfrm>
          <a:prstGeom prst="rect"/>
        </p:spPr>
        <p:txBody>
          <a:bodyPr wrap="none" lIns="0" tIns="0" rIns="0" bIns="0"/>
          <a:p>
            <a:pPr>
              <a:lnSpc>
                <a:spcPct val="130000"/>
              </a:lnSpc>
            </a:pPr>
            <a:r>
              <a:rPr lang="zh-CN" sz="750">
                <a:solidFill>
                  <a:srgbClr val="5A6070"/>
                </a:solidFill>
                <a:latin typeface="Microsoft YaHei"/>
                <a:ea typeface="Microsoft YaHei"/>
              </a:rPr>
              <a:t>主数据认领到部门、指标口径裁定人到岗位、口径变更走流程</a:t>
            </a:r>
            <a:endParaRPr/>
          </a:p>
        </p:txBody>
      </p:sp>
      <p:sp>
        <p:nvSpPr>
          <p:cNvPr id="1919" name=""/>
          <p:cNvSpPr/>
          <p:nvPr/>
        </p:nvSpPr>
        <p:spPr>
          <a:xfrm rot="0" flipH="0" flipV="0">
            <a:off x="8010525" y="5257800"/>
            <a:ext cx="3609975" cy="400050"/>
          </a:xfrm>
          <a:prstGeom prst="roundRect">
            <a:avLst>
              <a:gd name="adj" fmla="val 7143"/>
            </a:avLst>
          </a:prstGeom>
          <a:solidFill>
            <a:srgbClr val="F7F7F8"/>
          </a:solidFill>
          <a:ln/>
        </p:spPr>
        <p:txBody>
          <a:bodyPr/>
          <a:p/>
        </p:txBody>
      </p:sp>
      <p:sp>
        <p:nvSpPr>
          <p:cNvPr id="1920" name=""/>
          <p:cNvSpPr/>
          <p:nvPr/>
        </p:nvSpPr>
        <p:spPr>
          <a:xfrm rot="0" flipH="0" flipV="0">
            <a:off x="8010525" y="5257800"/>
            <a:ext cx="3609975" cy="400050"/>
          </a:xfrm>
          <a:custGeom>
            <a:pathLst>
              <a:path w="379" h="42">
                <a:moveTo>
                  <a:pt x="4" y="42"/>
                </a:moveTo>
                <a:cubicBezTo>
                  <a:pt x="3" y="42"/>
                  <a:pt x="2" y="42"/>
                  <a:pt x="1" y="41"/>
                </a:cubicBezTo>
                <a:cubicBezTo>
                  <a:pt x="0" y="40"/>
                  <a:pt x="0" y="40"/>
                  <a:pt x="0" y="39"/>
                </a:cubicBezTo>
                <a:lnTo>
                  <a:pt x="0" y="3"/>
                </a:lnTo>
                <a:cubicBezTo>
                  <a:pt x="0" y="1"/>
                  <a:pt x="1" y="0"/>
                  <a:pt x="3" y="0"/>
                </a:cubicBezTo>
                <a:lnTo>
                  <a:pt x="4" y="0"/>
                </a:lnTo>
                <a:close/>
              </a:path>
            </a:pathLst>
          </a:custGeom>
          <a:solidFill>
            <a:srgbClr val="C43A17"/>
          </a:solidFill>
          <a:ln/>
        </p:spPr>
        <p:txBody>
          <a:bodyPr/>
          <a:p/>
        </p:txBody>
      </p:sp>
      <p:sp>
        <p:nvSpPr>
          <p:cNvPr id="1921" name="" descr="{&quot;isTemplate&quot;:true,&quot;type&quot;:&quot;text&quot;}"/>
          <p:cNvSpPr txBox="1"/>
          <p:nvPr/>
        </p:nvSpPr>
        <p:spPr>
          <a:xfrm rot="0" flipH="0" flipV="0">
            <a:off x="8134350" y="5305425"/>
            <a:ext cx="3324225" cy="133350"/>
          </a:xfrm>
          <a:prstGeom prst="rect"/>
        </p:spPr>
        <p:txBody>
          <a:bodyPr wrap="none" lIns="0" tIns="0" rIns="0" bIns="0"/>
          <a:p>
            <a:pPr>
              <a:lnSpc>
                <a:spcPct val="100000"/>
              </a:lnSpc>
            </a:pPr>
            <a:r>
              <a:rPr lang="en-US" sz="863" b="1">
                <a:solidFill>
                  <a:srgbClr val="0F1423"/>
                </a:solidFill>
                <a:latin typeface="Microsoft YaHei"/>
                <a:ea typeface="Microsoft YaHei"/>
              </a:rPr>
              <a:t xml:space="preserve">④ </a:t>
            </a:r>
            <a:r>
              <a:rPr lang="zh-CN" sz="863" b="1">
                <a:solidFill>
                  <a:srgbClr val="0F1423"/>
                </a:solidFill>
                <a:latin typeface="Microsoft YaHei"/>
                <a:ea typeface="Microsoft YaHei"/>
              </a:rPr>
              <a:t>推进机制</a:t>
            </a:r>
            <a:endParaRPr/>
          </a:p>
        </p:txBody>
      </p:sp>
      <p:sp>
        <p:nvSpPr>
          <p:cNvPr id="1922" name="" descr="{&quot;isTemplate&quot;:true,&quot;type&quot;:&quot;text&quot;}"/>
          <p:cNvSpPr txBox="1"/>
          <p:nvPr/>
        </p:nvSpPr>
        <p:spPr>
          <a:xfrm rot="0" flipH="0" flipV="0">
            <a:off x="8134350" y="5457825"/>
            <a:ext cx="3324225" cy="152400"/>
          </a:xfrm>
          <a:prstGeom prst="rect"/>
        </p:spPr>
        <p:txBody>
          <a:bodyPr wrap="none" lIns="0" tIns="0" rIns="0" bIns="0"/>
          <a:p>
            <a:pPr>
              <a:lnSpc>
                <a:spcPct val="130000"/>
              </a:lnSpc>
            </a:pPr>
            <a:r>
              <a:rPr lang="zh-CN" sz="750">
                <a:solidFill>
                  <a:srgbClr val="5A6070"/>
                </a:solidFill>
                <a:latin typeface="Microsoft YaHei"/>
                <a:ea typeface="Microsoft YaHei"/>
              </a:rPr>
              <a:t>双周检查点</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里程碑评审</a:t>
            </a:r>
            <a:r>
              <a:rPr lang="en-US" sz="750">
                <a:solidFill>
                  <a:srgbClr val="5A6070"/>
                </a:solidFill>
                <a:latin typeface="Microsoft YaHei"/>
                <a:ea typeface="Microsoft YaHei"/>
              </a:rPr>
              <a:t xml:space="preserve"> + </a:t>
            </a:r>
            <a:r>
              <a:rPr lang="zh-CN" sz="750">
                <a:solidFill>
                  <a:srgbClr val="5A6070"/>
                </a:solidFill>
                <a:latin typeface="Microsoft YaHei"/>
                <a:ea typeface="Microsoft YaHei"/>
              </a:rPr>
              <a:t>阻塞项升级路径，写进路线图正文</a:t>
            </a:r>
            <a:endParaRPr/>
          </a:p>
        </p:txBody>
      </p:sp>
      <p:sp>
        <p:nvSpPr>
          <p:cNvPr id="1923" name=""/>
          <p:cNvSpPr/>
          <p:nvPr/>
        </p:nvSpPr>
        <p:spPr>
          <a:xfrm rot="0" flipH="0" flipV="0">
            <a:off x="609600" y="5943600"/>
            <a:ext cx="133350" cy="133350"/>
          </a:xfrm>
          <a:prstGeom prst="rect">
            <a:avLst/>
          </a:prstGeom>
          <a:solidFill>
            <a:srgbClr val="FA4F24"/>
          </a:solidFill>
          <a:ln/>
        </p:spPr>
        <p:txBody>
          <a:bodyPr/>
          <a:p/>
        </p:txBody>
      </p:sp>
      <p:sp>
        <p:nvSpPr>
          <p:cNvPr id="1924"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1925"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33 / 36</a:t>
            </a:r>
            <a:endParaRPr/>
          </a:p>
        </p:txBody>
      </p:sp>
    </p:spTree>
  </p:cSld>
</p:sld>
</file>

<file path=ppt/slides/slide34.xml><?xml version="1.0" encoding="utf-8"?>
<p:sld xmlns:p="http://schemas.openxmlformats.org/presentationml/2006/main" xmlns:a="http://schemas.openxmlformats.org/drawingml/2006/main">
  <p:cSld>
    <p:spTree>
      <p:nvGrpSpPr>
        <p:cNvPr id="1926" name="" descr="&lt;Slide style={{ width: 1280, height: 720, background: '#FFFFFF', padding: '24px 64px 0' }}&gt;&#10;    {/* A 区 */}&#10;    &lt;Box style={{ height: 96, flexDirection: 'column', justifyContent: 'flex-start' }}&gt;&#10;        &lt;Text style={{ fontSize: 32, fontWeight: 'bold', color: '#0F1423' }}&gt;&#10;            九项交付物 &lt;span style={{ color: '#FA4F24' }}&gt;× 四阶段总账&lt;/span&gt;&#10;        &lt;/Text&gt;&#10;        &lt;Text style={{ fontSize: 19, color: '#8A8F99', marginTop: 7 }}&gt;&#10;            招标 3.4 逐项对应——每一行写清谁签收、拿什么验收、验收不过怎么办&#10;        &lt;/Text&gt;&#10;    &lt;/Box&gt;&#10;    &lt;Box style={{ height: 1, background: '#E8E8E8' }} /&gt;&#10;&#10;    {/* B 区 */}&#10;    &lt;Box style={{ paddingTop: 10, paddingBottom: 6, height: 479, flexDirection: 'column', gap: 7 }}&gt;&#10;        {/* 表头 */}&#10;        &lt;Box style={{ height: 26, flexDirection: 'row', gap: 5 }}&gt;&#10;            &lt;Box style={{ width: 30, background: '#0F1423', borderRadius: 3, alignItems: 'center', justifyContent: 'center', flexDirection: 'row' }}&gt;&#10;                &lt;Text style={{ fontSize: 11, fontWeight: 'bold', color: '#FFFFFF' }}&gt;序&lt;/Text&gt;&#10;            &lt;/Box&gt;&#10;            &lt;Box style={{ width: 168, background: '#0F1423', borderRadius: 3, padding: '0 10px', flexDirection: 'row', alignItems: 'center' }}&gt;&#10;                &lt;Text style={{ fontSize: 11, fontWeight: 'bold', color: '#FFFFFF' }}&gt;交付物&lt;/Text&gt;&#10;            &lt;/Box&gt;&#10;            &lt;Box style={{ width: 70, background: '#0F1423', borderRadius: 3, alignItems: 'center', justifyContent: 'center', flexDirection: 'row' }}&gt;&#10;                &lt;Text style={{ fontSize: 11, fontWeight: 'bold', color: '#FFFFFF' }}&gt;阶段&lt;/Text&gt;&#10;            &lt;/Box&gt;&#10;            &lt;Box style={{ width: 62, background: '#0F1423', borderRadius: 3, alignItems: 'center', justifyContent: 'center', flexDirection: 'row' }}&gt;&#10;                &lt;Text style={{ fontSize: 11, fontWeight: 'bold', color: '#FFFFFF' }}&gt;主责域&lt;/Text&gt;&#10;            &lt;/Box&gt;&#10;            &lt;Box style={{ flex: 1.5, background: '#0F1423', borderRadius: 3, padding: '0 10px', flexDirection: 'row', alignItems: 'center' }}&gt;&#10;                &lt;Text style={{ fontSize: 11, fontWeight: 'bold', color: '#FFFFFF' }}&gt;验收要点（评审现场拿什么核对）&lt;/Text&gt;&#10;            &lt;/Box&gt;&#10;            &lt;Box style={{ width: 118, background: '#0F1423', borderRadius: 3, padding: '0 10px', flexDirection: 'row', alignItems: 'center' }}&gt;&#10;                &lt;Text style={{ fontSize: 11, fontWeight: 'bold', color: '#FFFFFF' }}&gt;验收不过怎么办&lt;/Text&gt;&#10;            &lt;/Box&gt;&#10;        &lt;/Box&gt;&#10;&#10;        {[&#10;            { n: '1', t: '现状分析报告', s: '一', d: 'BA+DA+AA', a: '九部门访谈覆盖率、痛点根因对应完整率、七个业务块均已覆盖', f: '补调研，不重做全篇', c: '#FA4F24' },&#10;            { n: '2', t: '业务蓝图设计', s: '二', d: 'BA+DA+AA', a: 'L4 子流程逐条有输入输出接口、逻辑实体逐条有属性方向、功能模块逐条有服务', f: '缺哪项补哪项，不整体返工', c: '#FA4F24' },&#10;            { n: '3', t: '架构详细设计', s: '三', d: 'BA+DA+AA', a: 'L5-L6 逐条有角色与绩效指标、实体属性逐条有标准引用、服务特性子特性齐全', f: '按域分别补，不推翻结构', c: '#E0641E' },&#10;            { n: '4', t: '业务需求规格说明书', s: '三', d: 'BA', a: '需求六要素齐全、追溯矩阵双向可查、抽查三条能倒推回痛点', f: '补齐要素，不重写条目', c: '#E0641E' },&#10;            { n: '5', t: '数据需求与指标清单', s: '三', d: 'DA', a: '每个指标有口径、取数来源、更新频率与责任人', f: '口径待定的移出清单', c: '#C43A17' },&#10;            { n: '6', t: 'AI 应用场景清单', s: '二+三', d: 'BA+AA', a: '每场景有目标、输入、知识来源、智能体边界、评估指标与打分依据', f: '不可验证的场景降级剔除', c: '#C43A17' },&#10;            { n: '7', t: '实施路线图', s: '四', d: '全部', a: '分期依据清晰、关键路径识别、投入收益附假设条件、保障机制可执行', f: '补测算依据与假设清单', c: '#9E3410' },&#10;            { n: '8', t: '指标字典', s: '三', d: 'DA', a: '八要素逐条齐全、无口径冲突项、责任落实到岗位', f: '缺项不发布，只进待办', c: '#9E3410' },&#10;            { n: '9', t: '绩效考核业务数据清单', s: '三', d: 'DA+BA', a: '以 HR 考核标的为输入，每项数据有源、类型、传输方式', f: 'HR 未提供的部分列明并顺延', c: '#9E3410' },&#10;        ].map((r) =&gt; (&#10;            &lt;Box key={r.n} style={{ flex: 1, flexDirection: 'row', gap: 5, alignItems: 'stretch' }}&gt;&#10;                &lt;Box style={{ width: 30, background: r.c, borderRadius: 3, alignItems: 'center', justifyContent: 'center', flexDirection: 'row' }}&gt;&#10;                    &lt;Text style={{ fontSize: 12.5, fontWeight: 'bold', color: '#FFFFFF' }}&gt;{r.n}&lt;/Text&gt;&#10;                &lt;/Box&gt;&#10;                &lt;Box style={{ width: 168, background: '#F7F7F8', borderRadius: 3, padding: '0 10px', flexDirection: 'column', justifyContent: 'center' }}&gt;&#10;                    &lt;Text style={{ fontSize: 11.5, fontWeight: 'bold', color: '#0F1423' }}&gt;{r.t}&lt;/Text&gt;&#10;                &lt;/Box&gt;&#10;                &lt;Box style={{ width: 70, background: '#F7F7F8', borderRadius: 3, alignItems: 'center', justifyContent: 'center', flexDirection: 'row' }}&gt;&#10;                    &lt;Text style={{ fontSize: 11, color: r.c, fontWeight: 'bold' }}&gt;{r.s}&lt;/Text&gt;&#10;                &lt;/Box&gt;&#10;                &lt;Box style={{ width: 62, background: '#F7F7F8', borderRadius: 3, alignItems: 'center', justifyContent: 'center', flexDirection: 'row' }}&gt;&#10;                    &lt;Text style={{ fontSize: 10.5, color: '#5A6070' }}&gt;{r.d}&lt;/Text&gt;&#10;                &lt;/Box&gt;&#10;                &lt;Box style={{ flex: 1.5, background: '#FFF3EE', borderRadius: 3, padding: '0 10px', flexDirection: 'column', justifyContent: 'center' }}&gt;&#10;                    &lt;Text style={{ fontSize: 10.5, color: '#3A4050', lineHeight: 1.3 }}&gt;{r.a}&lt;/Text&gt;&#10;                &lt;/Box&gt;&#10;                &lt;Box style={{ width: 118, background: '#F7F7F8', borderRadius: 3, padding: '0 10px', flexDirection: 'column', justifyContent: 'center' }}&gt;&#10;                    &lt;Text style={{ fontSize: 10, color: '#5A6070', lineHeight: 1.3 }}&gt;{r.f}&lt;/Text&gt;&#10;                &lt;/Box&gt;&#10;            &lt;/Box&gt;&#10;        ))}&#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34 / 36&lt;/Text&gt;&#10;    &lt;/Box&gt;&#10;&lt;/Slide&gt;&#10;"/>
        <p:cNvGrpSpPr/>
        <p:nvPr/>
      </p:nvGrpSpPr>
      <p:grpSpPr>
        <a:xfrm>
          <a:off x="0" y="0"/>
          <a:ext cx="0" cy="0"/>
          <a:chOff x="0" y="0"/>
          <a:chExt cx="0" cy="0"/>
        </a:xfrm>
      </p:grpSpPr>
      <p:sp>
        <p:nvSpPr>
          <p:cNvPr id="1927" name=""/>
          <p:cNvSpPr/>
          <p:nvPr/>
        </p:nvSpPr>
        <p:spPr>
          <a:xfrm rot="0" flipH="0" flipV="0">
            <a:off x="0" y="0"/>
            <a:ext cx="12192000" cy="6858000"/>
          </a:xfrm>
          <a:prstGeom prst="rect">
            <a:avLst/>
          </a:prstGeom>
          <a:solidFill>
            <a:srgbClr val="FFFFFF"/>
          </a:solidFill>
          <a:ln/>
        </p:spPr>
        <p:txBody>
          <a:bodyPr/>
          <a:p/>
        </p:txBody>
      </p:sp>
      <p:sp>
        <p:nvSpPr>
          <p:cNvPr id="1928"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九项交付物</a:t>
            </a:r>
            <a:r>
              <a:rPr lang="en-US" sz="2400" b="1">
                <a:solidFill>
                  <a:srgbClr val="0F1423"/>
                </a:solidFill>
                <a:latin typeface="Microsoft YaHei"/>
                <a:ea typeface="Microsoft YaHei"/>
              </a:rPr>
              <a:t xml:space="preserve"> </a:t>
            </a:r>
            <a:r>
              <a:rPr lang="en-US" sz="2400" b="1">
                <a:solidFill>
                  <a:srgbClr val="FA4F24"/>
                </a:solidFill>
                <a:latin typeface="Microsoft YaHei"/>
                <a:ea typeface="Microsoft YaHei"/>
              </a:rPr>
              <a:t xml:space="preserve">× </a:t>
            </a:r>
            <a:r>
              <a:rPr lang="zh-CN" sz="2400" b="1">
                <a:solidFill>
                  <a:srgbClr val="FA4F24"/>
                </a:solidFill>
                <a:latin typeface="Microsoft YaHei"/>
                <a:ea typeface="Microsoft YaHei"/>
              </a:rPr>
              <a:t>四阶段总账</a:t>
            </a:r>
            <a:endParaRPr/>
          </a:p>
        </p:txBody>
      </p:sp>
      <p:sp>
        <p:nvSpPr>
          <p:cNvPr id="1929"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招标</a:t>
            </a:r>
            <a:r>
              <a:rPr lang="en-US" sz="1425">
                <a:solidFill>
                  <a:srgbClr val="8A8F99"/>
                </a:solidFill>
                <a:latin typeface="Microsoft YaHei"/>
                <a:ea typeface="Microsoft YaHei"/>
              </a:rPr>
              <a:t xml:space="preserve"> 3.4 </a:t>
            </a:r>
            <a:r>
              <a:rPr lang="zh-CN" sz="1425">
                <a:solidFill>
                  <a:srgbClr val="8A8F99"/>
                </a:solidFill>
                <a:latin typeface="Microsoft YaHei"/>
                <a:ea typeface="Microsoft YaHei"/>
              </a:rPr>
              <a:t>逐项对应——每一行写清谁签收、拿什么验收、验收不过怎么办</a:t>
            </a:r>
            <a:endParaRPr/>
          </a:p>
        </p:txBody>
      </p:sp>
      <p:sp>
        <p:nvSpPr>
          <p:cNvPr id="1930" name=""/>
          <p:cNvSpPr/>
          <p:nvPr/>
        </p:nvSpPr>
        <p:spPr>
          <a:xfrm rot="0" flipH="0" flipV="0">
            <a:off x="609600" y="1143000"/>
            <a:ext cx="10972800" cy="9525"/>
          </a:xfrm>
          <a:prstGeom prst="rect">
            <a:avLst/>
          </a:prstGeom>
          <a:solidFill>
            <a:srgbClr val="E8E8E8"/>
          </a:solidFill>
          <a:ln/>
        </p:spPr>
        <p:txBody>
          <a:bodyPr/>
          <a:p/>
        </p:txBody>
      </p:sp>
      <p:sp>
        <p:nvSpPr>
          <p:cNvPr id="1931" name=""/>
          <p:cNvSpPr/>
          <p:nvPr/>
        </p:nvSpPr>
        <p:spPr>
          <a:xfrm rot="0" flipH="0" flipV="0">
            <a:off x="609600" y="1247775"/>
            <a:ext cx="285750" cy="247650"/>
          </a:xfrm>
          <a:prstGeom prst="roundRect">
            <a:avLst>
              <a:gd name="adj" fmla="val 11538"/>
            </a:avLst>
          </a:prstGeom>
          <a:solidFill>
            <a:srgbClr val="0F1423"/>
          </a:solidFill>
          <a:ln/>
        </p:spPr>
        <p:txBody>
          <a:bodyPr/>
          <a:p/>
        </p:txBody>
      </p:sp>
      <p:sp>
        <p:nvSpPr>
          <p:cNvPr id="1932" name="" descr="{&quot;isTemplate&quot;:true,&quot;type&quot;:&quot;text&quot;}"/>
          <p:cNvSpPr txBox="1"/>
          <p:nvPr/>
        </p:nvSpPr>
        <p:spPr>
          <a:xfrm rot="0" flipH="0" flipV="0">
            <a:off x="704850" y="1304925"/>
            <a:ext cx="104775" cy="133350"/>
          </a:xfrm>
          <a:prstGeom prst="rect"/>
        </p:spPr>
        <p:txBody>
          <a:bodyPr wrap="none" lIns="0" tIns="0" rIns="0" bIns="0"/>
          <a:p>
            <a:pPr>
              <a:lnSpc>
                <a:spcPct val="100000"/>
              </a:lnSpc>
            </a:pPr>
            <a:r>
              <a:rPr lang="zh-CN" sz="825" b="1">
                <a:solidFill>
                  <a:srgbClr val="FFFFFF"/>
                </a:solidFill>
                <a:latin typeface="Microsoft YaHei"/>
                <a:ea typeface="Microsoft YaHei"/>
              </a:rPr>
              <a:t>序</a:t>
            </a:r>
            <a:endParaRPr/>
          </a:p>
        </p:txBody>
      </p:sp>
      <p:sp>
        <p:nvSpPr>
          <p:cNvPr id="1933" name=""/>
          <p:cNvSpPr/>
          <p:nvPr/>
        </p:nvSpPr>
        <p:spPr>
          <a:xfrm rot="0" flipH="0" flipV="0">
            <a:off x="942975" y="1247775"/>
            <a:ext cx="1600200" cy="247650"/>
          </a:xfrm>
          <a:prstGeom prst="roundRect">
            <a:avLst>
              <a:gd name="adj" fmla="val 11538"/>
            </a:avLst>
          </a:prstGeom>
          <a:solidFill>
            <a:srgbClr val="0F1423"/>
          </a:solidFill>
          <a:ln/>
        </p:spPr>
        <p:txBody>
          <a:bodyPr/>
          <a:p/>
        </p:txBody>
      </p:sp>
      <p:sp>
        <p:nvSpPr>
          <p:cNvPr id="1934" name="" descr="{&quot;isTemplate&quot;:true,&quot;type&quot;:&quot;text&quot;}"/>
          <p:cNvSpPr txBox="1"/>
          <p:nvPr/>
        </p:nvSpPr>
        <p:spPr>
          <a:xfrm rot="0" flipH="0" flipV="0">
            <a:off x="1038225" y="1304925"/>
            <a:ext cx="314325" cy="133350"/>
          </a:xfrm>
          <a:prstGeom prst="rect"/>
        </p:spPr>
        <p:txBody>
          <a:bodyPr wrap="none" lIns="0" tIns="0" rIns="0" bIns="0"/>
          <a:p>
            <a:pPr>
              <a:lnSpc>
                <a:spcPct val="100000"/>
              </a:lnSpc>
            </a:pPr>
            <a:r>
              <a:rPr lang="zh-CN" sz="825" b="1">
                <a:solidFill>
                  <a:srgbClr val="FFFFFF"/>
                </a:solidFill>
                <a:latin typeface="Microsoft YaHei"/>
                <a:ea typeface="Microsoft YaHei"/>
              </a:rPr>
              <a:t>交付物</a:t>
            </a:r>
            <a:endParaRPr/>
          </a:p>
        </p:txBody>
      </p:sp>
      <p:sp>
        <p:nvSpPr>
          <p:cNvPr id="1935" name=""/>
          <p:cNvSpPr/>
          <p:nvPr/>
        </p:nvSpPr>
        <p:spPr>
          <a:xfrm rot="0" flipH="0" flipV="0">
            <a:off x="2590800" y="1247775"/>
            <a:ext cx="666750" cy="247650"/>
          </a:xfrm>
          <a:prstGeom prst="roundRect">
            <a:avLst>
              <a:gd name="adj" fmla="val 11538"/>
            </a:avLst>
          </a:prstGeom>
          <a:solidFill>
            <a:srgbClr val="0F1423"/>
          </a:solidFill>
          <a:ln/>
        </p:spPr>
        <p:txBody>
          <a:bodyPr/>
          <a:p/>
        </p:txBody>
      </p:sp>
      <p:sp>
        <p:nvSpPr>
          <p:cNvPr id="1936" name="" descr="{&quot;isTemplate&quot;:true,&quot;type&quot;:&quot;text&quot;}"/>
          <p:cNvSpPr txBox="1"/>
          <p:nvPr/>
        </p:nvSpPr>
        <p:spPr>
          <a:xfrm rot="0" flipH="0" flipV="0">
            <a:off x="2819400" y="1304925"/>
            <a:ext cx="209550" cy="133350"/>
          </a:xfrm>
          <a:prstGeom prst="rect"/>
        </p:spPr>
        <p:txBody>
          <a:bodyPr wrap="none" lIns="0" tIns="0" rIns="0" bIns="0"/>
          <a:p>
            <a:pPr>
              <a:lnSpc>
                <a:spcPct val="100000"/>
              </a:lnSpc>
            </a:pPr>
            <a:r>
              <a:rPr lang="zh-CN" sz="825" b="1">
                <a:solidFill>
                  <a:srgbClr val="FFFFFF"/>
                </a:solidFill>
                <a:latin typeface="Microsoft YaHei"/>
                <a:ea typeface="Microsoft YaHei"/>
              </a:rPr>
              <a:t>阶段</a:t>
            </a:r>
            <a:endParaRPr/>
          </a:p>
        </p:txBody>
      </p:sp>
      <p:sp>
        <p:nvSpPr>
          <p:cNvPr id="1937" name=""/>
          <p:cNvSpPr/>
          <p:nvPr/>
        </p:nvSpPr>
        <p:spPr>
          <a:xfrm rot="0" flipH="0" flipV="0">
            <a:off x="3305175" y="1247775"/>
            <a:ext cx="590550" cy="247650"/>
          </a:xfrm>
          <a:prstGeom prst="roundRect">
            <a:avLst>
              <a:gd name="adj" fmla="val 11538"/>
            </a:avLst>
          </a:prstGeom>
          <a:solidFill>
            <a:srgbClr val="0F1423"/>
          </a:solidFill>
          <a:ln/>
        </p:spPr>
        <p:txBody>
          <a:bodyPr/>
          <a:p/>
        </p:txBody>
      </p:sp>
      <p:sp>
        <p:nvSpPr>
          <p:cNvPr id="1938" name="" descr="{&quot;isTemplate&quot;:true,&quot;type&quot;:&quot;text&quot;}"/>
          <p:cNvSpPr txBox="1"/>
          <p:nvPr/>
        </p:nvSpPr>
        <p:spPr>
          <a:xfrm rot="0" flipH="0" flipV="0">
            <a:off x="3448050" y="1304925"/>
            <a:ext cx="314325" cy="133350"/>
          </a:xfrm>
          <a:prstGeom prst="rect"/>
        </p:spPr>
        <p:txBody>
          <a:bodyPr wrap="none" lIns="0" tIns="0" rIns="0" bIns="0"/>
          <a:p>
            <a:pPr>
              <a:lnSpc>
                <a:spcPct val="100000"/>
              </a:lnSpc>
            </a:pPr>
            <a:r>
              <a:rPr lang="zh-CN" sz="825" b="1">
                <a:solidFill>
                  <a:srgbClr val="FFFFFF"/>
                </a:solidFill>
                <a:latin typeface="Microsoft YaHei"/>
                <a:ea typeface="Microsoft YaHei"/>
              </a:rPr>
              <a:t>主责域</a:t>
            </a:r>
            <a:endParaRPr/>
          </a:p>
        </p:txBody>
      </p:sp>
      <p:sp>
        <p:nvSpPr>
          <p:cNvPr id="1939" name=""/>
          <p:cNvSpPr/>
          <p:nvPr/>
        </p:nvSpPr>
        <p:spPr>
          <a:xfrm rot="0" flipH="0" flipV="0">
            <a:off x="3943350" y="1247775"/>
            <a:ext cx="6467475" cy="247650"/>
          </a:xfrm>
          <a:prstGeom prst="roundRect">
            <a:avLst>
              <a:gd name="adj" fmla="val 11538"/>
            </a:avLst>
          </a:prstGeom>
          <a:solidFill>
            <a:srgbClr val="0F1423"/>
          </a:solidFill>
          <a:ln/>
        </p:spPr>
        <p:txBody>
          <a:bodyPr/>
          <a:p/>
        </p:txBody>
      </p:sp>
      <p:sp>
        <p:nvSpPr>
          <p:cNvPr id="1940" name="" descr="{&quot;isTemplate&quot;:true,&quot;type&quot;:&quot;text&quot;}"/>
          <p:cNvSpPr txBox="1"/>
          <p:nvPr/>
        </p:nvSpPr>
        <p:spPr>
          <a:xfrm rot="0" flipH="0" flipV="0">
            <a:off x="4038600" y="1304925"/>
            <a:ext cx="1571625" cy="133350"/>
          </a:xfrm>
          <a:prstGeom prst="rect"/>
        </p:spPr>
        <p:txBody>
          <a:bodyPr wrap="none" lIns="0" tIns="0" rIns="0" bIns="0"/>
          <a:p>
            <a:pPr>
              <a:lnSpc>
                <a:spcPct val="100000"/>
              </a:lnSpc>
            </a:pPr>
            <a:r>
              <a:rPr lang="zh-CN" sz="825" b="1">
                <a:solidFill>
                  <a:srgbClr val="FFFFFF"/>
                </a:solidFill>
                <a:latin typeface="Microsoft YaHei"/>
                <a:ea typeface="Microsoft YaHei"/>
              </a:rPr>
              <a:t>验收要点（评审现场拿什么核对）</a:t>
            </a:r>
            <a:endParaRPr/>
          </a:p>
        </p:txBody>
      </p:sp>
      <p:sp>
        <p:nvSpPr>
          <p:cNvPr id="1941" name=""/>
          <p:cNvSpPr/>
          <p:nvPr/>
        </p:nvSpPr>
        <p:spPr>
          <a:xfrm rot="0" flipH="0" flipV="0">
            <a:off x="10458450" y="1247775"/>
            <a:ext cx="1123950" cy="247650"/>
          </a:xfrm>
          <a:prstGeom prst="roundRect">
            <a:avLst>
              <a:gd name="adj" fmla="val 11538"/>
            </a:avLst>
          </a:prstGeom>
          <a:solidFill>
            <a:srgbClr val="0F1423"/>
          </a:solidFill>
          <a:ln/>
        </p:spPr>
        <p:txBody>
          <a:bodyPr/>
          <a:p/>
        </p:txBody>
      </p:sp>
      <p:sp>
        <p:nvSpPr>
          <p:cNvPr id="1942" name="" descr="{&quot;isTemplate&quot;:true,&quot;type&quot;:&quot;text&quot;}"/>
          <p:cNvSpPr txBox="1"/>
          <p:nvPr/>
        </p:nvSpPr>
        <p:spPr>
          <a:xfrm rot="0" flipH="0" flipV="0">
            <a:off x="10553700" y="1304925"/>
            <a:ext cx="733425" cy="133350"/>
          </a:xfrm>
          <a:prstGeom prst="rect"/>
        </p:spPr>
        <p:txBody>
          <a:bodyPr wrap="none" lIns="0" tIns="0" rIns="0" bIns="0"/>
          <a:p>
            <a:pPr>
              <a:lnSpc>
                <a:spcPct val="100000"/>
              </a:lnSpc>
            </a:pPr>
            <a:r>
              <a:rPr lang="zh-CN" sz="825" b="1">
                <a:solidFill>
                  <a:srgbClr val="FFFFFF"/>
                </a:solidFill>
                <a:latin typeface="Microsoft YaHei"/>
                <a:ea typeface="Microsoft YaHei"/>
              </a:rPr>
              <a:t>验收不过怎么办</a:t>
            </a:r>
            <a:endParaRPr/>
          </a:p>
        </p:txBody>
      </p:sp>
      <p:sp>
        <p:nvSpPr>
          <p:cNvPr id="1943" name=""/>
          <p:cNvSpPr/>
          <p:nvPr/>
        </p:nvSpPr>
        <p:spPr>
          <a:xfrm rot="0" flipH="0" flipV="0">
            <a:off x="609600" y="1562100"/>
            <a:ext cx="285750" cy="285750"/>
          </a:xfrm>
          <a:prstGeom prst="roundRect">
            <a:avLst>
              <a:gd name="adj" fmla="val 10000"/>
            </a:avLst>
          </a:prstGeom>
          <a:solidFill>
            <a:srgbClr val="FA4F24"/>
          </a:solidFill>
          <a:ln/>
        </p:spPr>
        <p:txBody>
          <a:bodyPr/>
          <a:p/>
        </p:txBody>
      </p:sp>
      <p:sp>
        <p:nvSpPr>
          <p:cNvPr id="1944" name="" descr="{&quot;isTemplate&quot;:true,&quot;type&quot;:&quot;text&quot;}"/>
          <p:cNvSpPr txBox="1"/>
          <p:nvPr/>
        </p:nvSpPr>
        <p:spPr>
          <a:xfrm rot="0" flipH="0" flipV="0">
            <a:off x="714375" y="1638300"/>
            <a:ext cx="76200" cy="142875"/>
          </a:xfrm>
          <a:prstGeom prst="rect"/>
        </p:spPr>
        <p:txBody>
          <a:bodyPr wrap="none" lIns="0" tIns="0" rIns="0" bIns="0"/>
          <a:p>
            <a:pPr>
              <a:lnSpc>
                <a:spcPct val="100000"/>
              </a:lnSpc>
            </a:pPr>
            <a:r>
              <a:rPr lang="en-US" sz="938" b="1">
                <a:solidFill>
                  <a:srgbClr val="FFFFFF"/>
                </a:solidFill>
                <a:latin typeface="Microsoft YaHei"/>
                <a:ea typeface="Microsoft YaHei"/>
              </a:rPr>
              <a:t>1</a:t>
            </a:r>
            <a:endParaRPr/>
          </a:p>
        </p:txBody>
      </p:sp>
      <p:sp>
        <p:nvSpPr>
          <p:cNvPr id="1945" name=""/>
          <p:cNvSpPr/>
          <p:nvPr/>
        </p:nvSpPr>
        <p:spPr>
          <a:xfrm rot="0" flipH="0" flipV="0">
            <a:off x="942975" y="1562100"/>
            <a:ext cx="1600200" cy="285750"/>
          </a:xfrm>
          <a:prstGeom prst="roundRect">
            <a:avLst>
              <a:gd name="adj" fmla="val 10000"/>
            </a:avLst>
          </a:prstGeom>
          <a:solidFill>
            <a:srgbClr val="F7F7F8"/>
          </a:solidFill>
          <a:ln/>
        </p:spPr>
        <p:txBody>
          <a:bodyPr/>
          <a:p/>
        </p:txBody>
      </p:sp>
      <p:sp>
        <p:nvSpPr>
          <p:cNvPr id="1946" name="" descr="{&quot;isTemplate&quot;:true,&quot;type&quot;:&quot;text&quot;}"/>
          <p:cNvSpPr txBox="1"/>
          <p:nvPr/>
        </p:nvSpPr>
        <p:spPr>
          <a:xfrm rot="0" flipH="0" flipV="0">
            <a:off x="1038225" y="1638300"/>
            <a:ext cx="1409700" cy="133350"/>
          </a:xfrm>
          <a:prstGeom prst="rect"/>
        </p:spPr>
        <p:txBody>
          <a:bodyPr wrap="none" lIns="0" tIns="0" rIns="0" bIns="0"/>
          <a:p>
            <a:pPr>
              <a:lnSpc>
                <a:spcPct val="100000"/>
              </a:lnSpc>
            </a:pPr>
            <a:r>
              <a:rPr lang="zh-CN" sz="863" b="1">
                <a:solidFill>
                  <a:srgbClr val="0F1423"/>
                </a:solidFill>
                <a:latin typeface="Microsoft YaHei"/>
                <a:ea typeface="Microsoft YaHei"/>
              </a:rPr>
              <a:t>现状分析报告</a:t>
            </a:r>
            <a:endParaRPr/>
          </a:p>
        </p:txBody>
      </p:sp>
      <p:sp>
        <p:nvSpPr>
          <p:cNvPr id="1947" name=""/>
          <p:cNvSpPr/>
          <p:nvPr/>
        </p:nvSpPr>
        <p:spPr>
          <a:xfrm rot="0" flipH="0" flipV="0">
            <a:off x="2590800" y="1562100"/>
            <a:ext cx="666750" cy="285750"/>
          </a:xfrm>
          <a:prstGeom prst="roundRect">
            <a:avLst>
              <a:gd name="adj" fmla="val 10000"/>
            </a:avLst>
          </a:prstGeom>
          <a:solidFill>
            <a:srgbClr val="F7F7F8"/>
          </a:solidFill>
          <a:ln/>
        </p:spPr>
        <p:txBody>
          <a:bodyPr/>
          <a:p/>
        </p:txBody>
      </p:sp>
      <p:sp>
        <p:nvSpPr>
          <p:cNvPr id="1948" name="" descr="{&quot;isTemplate&quot;:true,&quot;type&quot;:&quot;text&quot;}"/>
          <p:cNvSpPr txBox="1"/>
          <p:nvPr/>
        </p:nvSpPr>
        <p:spPr>
          <a:xfrm rot="0" flipH="0" flipV="0">
            <a:off x="2876550" y="1638300"/>
            <a:ext cx="104775" cy="133350"/>
          </a:xfrm>
          <a:prstGeom prst="rect"/>
        </p:spPr>
        <p:txBody>
          <a:bodyPr wrap="none" lIns="0" tIns="0" rIns="0" bIns="0"/>
          <a:p>
            <a:pPr>
              <a:lnSpc>
                <a:spcPct val="100000"/>
              </a:lnSpc>
            </a:pPr>
            <a:r>
              <a:rPr lang="zh-CN" sz="825" b="1">
                <a:solidFill>
                  <a:srgbClr val="FA4F24"/>
                </a:solidFill>
                <a:latin typeface="Microsoft YaHei"/>
                <a:ea typeface="Microsoft YaHei"/>
              </a:rPr>
              <a:t>一</a:t>
            </a:r>
            <a:endParaRPr/>
          </a:p>
        </p:txBody>
      </p:sp>
      <p:sp>
        <p:nvSpPr>
          <p:cNvPr id="1949" name=""/>
          <p:cNvSpPr/>
          <p:nvPr/>
        </p:nvSpPr>
        <p:spPr>
          <a:xfrm rot="0" flipH="0" flipV="0">
            <a:off x="3305175" y="1562100"/>
            <a:ext cx="590550" cy="285750"/>
          </a:xfrm>
          <a:prstGeom prst="roundRect">
            <a:avLst>
              <a:gd name="adj" fmla="val 10000"/>
            </a:avLst>
          </a:prstGeom>
          <a:solidFill>
            <a:srgbClr val="F7F7F8"/>
          </a:solidFill>
          <a:ln/>
        </p:spPr>
        <p:txBody>
          <a:bodyPr/>
          <a:p/>
        </p:txBody>
      </p:sp>
      <p:sp>
        <p:nvSpPr>
          <p:cNvPr id="1950" name="" descr="{&quot;isTemplate&quot;:true,&quot;type&quot;:&quot;text&quot;}"/>
          <p:cNvSpPr txBox="1"/>
          <p:nvPr/>
        </p:nvSpPr>
        <p:spPr>
          <a:xfrm rot="0" flipH="0" flipV="0">
            <a:off x="3314700" y="1647825"/>
            <a:ext cx="571500" cy="123825"/>
          </a:xfrm>
          <a:prstGeom prst="rect"/>
        </p:spPr>
        <p:txBody>
          <a:bodyPr wrap="none" lIns="0" tIns="0" rIns="0" bIns="0"/>
          <a:p>
            <a:pPr>
              <a:lnSpc>
                <a:spcPct val="100000"/>
              </a:lnSpc>
            </a:pPr>
            <a:r>
              <a:rPr lang="en-US" sz="788">
                <a:solidFill>
                  <a:srgbClr val="5A6070"/>
                </a:solidFill>
                <a:latin typeface="Microsoft YaHei"/>
                <a:ea typeface="Microsoft YaHei"/>
              </a:rPr>
              <a:t>BA+DA+AA</a:t>
            </a:r>
            <a:endParaRPr/>
          </a:p>
        </p:txBody>
      </p:sp>
      <p:sp>
        <p:nvSpPr>
          <p:cNvPr id="1951" name=""/>
          <p:cNvSpPr/>
          <p:nvPr/>
        </p:nvSpPr>
        <p:spPr>
          <a:xfrm rot="0" flipH="0" flipV="0">
            <a:off x="3943350" y="1562100"/>
            <a:ext cx="6467475" cy="285750"/>
          </a:xfrm>
          <a:prstGeom prst="roundRect">
            <a:avLst>
              <a:gd name="adj" fmla="val 10000"/>
            </a:avLst>
          </a:prstGeom>
          <a:solidFill>
            <a:srgbClr val="FFF3EE"/>
          </a:solidFill>
          <a:ln/>
        </p:spPr>
        <p:txBody>
          <a:bodyPr/>
          <a:p/>
        </p:txBody>
      </p:sp>
      <p:sp>
        <p:nvSpPr>
          <p:cNvPr id="1952" name="" descr="{&quot;isTemplate&quot;:true,&quot;type&quot;:&quot;text&quot;}"/>
          <p:cNvSpPr txBox="1"/>
          <p:nvPr/>
        </p:nvSpPr>
        <p:spPr>
          <a:xfrm rot="0" flipH="0" flipV="0">
            <a:off x="4038600" y="1628775"/>
            <a:ext cx="6276975" cy="161925"/>
          </a:xfrm>
          <a:prstGeom prst="rect"/>
        </p:spPr>
        <p:txBody>
          <a:bodyPr wrap="none" lIns="0" tIns="0" rIns="0" bIns="0"/>
          <a:p>
            <a:pPr>
              <a:lnSpc>
                <a:spcPct val="130000"/>
              </a:lnSpc>
            </a:pPr>
            <a:r>
              <a:rPr lang="zh-CN" sz="788">
                <a:solidFill>
                  <a:srgbClr val="3A4050"/>
                </a:solidFill>
                <a:latin typeface="Microsoft YaHei"/>
                <a:ea typeface="Microsoft YaHei"/>
              </a:rPr>
              <a:t>九部门访谈覆盖率、痛点根因对应完整率、七个业务块均已覆盖</a:t>
            </a:r>
            <a:endParaRPr/>
          </a:p>
        </p:txBody>
      </p:sp>
      <p:sp>
        <p:nvSpPr>
          <p:cNvPr id="1953" name=""/>
          <p:cNvSpPr/>
          <p:nvPr/>
        </p:nvSpPr>
        <p:spPr>
          <a:xfrm rot="0" flipH="0" flipV="0">
            <a:off x="10458450" y="1562100"/>
            <a:ext cx="1123950" cy="285750"/>
          </a:xfrm>
          <a:prstGeom prst="roundRect">
            <a:avLst>
              <a:gd name="adj" fmla="val 10000"/>
            </a:avLst>
          </a:prstGeom>
          <a:solidFill>
            <a:srgbClr val="F7F7F8"/>
          </a:solidFill>
          <a:ln/>
        </p:spPr>
        <p:txBody>
          <a:bodyPr/>
          <a:p/>
        </p:txBody>
      </p:sp>
      <p:sp>
        <p:nvSpPr>
          <p:cNvPr id="1954" name="" descr="{&quot;isTemplate&quot;:true,&quot;type&quot;:&quot;text&quot;}"/>
          <p:cNvSpPr txBox="1"/>
          <p:nvPr/>
        </p:nvSpPr>
        <p:spPr>
          <a:xfrm rot="0" flipH="0" flipV="0">
            <a:off x="10553700" y="1628775"/>
            <a:ext cx="933450" cy="152400"/>
          </a:xfrm>
          <a:prstGeom prst="rect"/>
        </p:spPr>
        <p:txBody>
          <a:bodyPr wrap="none" lIns="0" tIns="0" rIns="0" bIns="0"/>
          <a:p>
            <a:pPr>
              <a:lnSpc>
                <a:spcPct val="130000"/>
              </a:lnSpc>
            </a:pPr>
            <a:r>
              <a:rPr lang="zh-CN" sz="750">
                <a:solidFill>
                  <a:srgbClr val="5A6070"/>
                </a:solidFill>
                <a:latin typeface="Microsoft YaHei"/>
                <a:ea typeface="Microsoft YaHei"/>
              </a:rPr>
              <a:t>补调研，不重做全篇</a:t>
            </a:r>
            <a:endParaRPr/>
          </a:p>
        </p:txBody>
      </p:sp>
      <p:sp>
        <p:nvSpPr>
          <p:cNvPr id="1955" name=""/>
          <p:cNvSpPr/>
          <p:nvPr/>
        </p:nvSpPr>
        <p:spPr>
          <a:xfrm rot="0" flipH="0" flipV="0">
            <a:off x="609600" y="1914525"/>
            <a:ext cx="285750" cy="428625"/>
          </a:xfrm>
          <a:prstGeom prst="roundRect">
            <a:avLst>
              <a:gd name="adj" fmla="val 10000"/>
            </a:avLst>
          </a:prstGeom>
          <a:solidFill>
            <a:srgbClr val="FA4F24"/>
          </a:solidFill>
          <a:ln/>
        </p:spPr>
        <p:txBody>
          <a:bodyPr/>
          <a:p/>
        </p:txBody>
      </p:sp>
      <p:sp>
        <p:nvSpPr>
          <p:cNvPr id="1956" name="" descr="{&quot;isTemplate&quot;:true,&quot;type&quot;:&quot;text&quot;}"/>
          <p:cNvSpPr txBox="1"/>
          <p:nvPr/>
        </p:nvSpPr>
        <p:spPr>
          <a:xfrm rot="0" flipH="0" flipV="0">
            <a:off x="714375" y="2057400"/>
            <a:ext cx="76200" cy="142875"/>
          </a:xfrm>
          <a:prstGeom prst="rect"/>
        </p:spPr>
        <p:txBody>
          <a:bodyPr wrap="none" lIns="0" tIns="0" rIns="0" bIns="0"/>
          <a:p>
            <a:pPr>
              <a:lnSpc>
                <a:spcPct val="100000"/>
              </a:lnSpc>
            </a:pPr>
            <a:r>
              <a:rPr lang="en-US" sz="938" b="1">
                <a:solidFill>
                  <a:srgbClr val="FFFFFF"/>
                </a:solidFill>
                <a:latin typeface="Microsoft YaHei"/>
                <a:ea typeface="Microsoft YaHei"/>
              </a:rPr>
              <a:t>2</a:t>
            </a:r>
            <a:endParaRPr/>
          </a:p>
        </p:txBody>
      </p:sp>
      <p:sp>
        <p:nvSpPr>
          <p:cNvPr id="1957" name=""/>
          <p:cNvSpPr/>
          <p:nvPr/>
        </p:nvSpPr>
        <p:spPr>
          <a:xfrm rot="0" flipH="0" flipV="0">
            <a:off x="942975" y="1914525"/>
            <a:ext cx="1600200" cy="428625"/>
          </a:xfrm>
          <a:prstGeom prst="roundRect">
            <a:avLst>
              <a:gd name="adj" fmla="val 6667"/>
            </a:avLst>
          </a:prstGeom>
          <a:solidFill>
            <a:srgbClr val="F7F7F8"/>
          </a:solidFill>
          <a:ln/>
        </p:spPr>
        <p:txBody>
          <a:bodyPr/>
          <a:p/>
        </p:txBody>
      </p:sp>
      <p:sp>
        <p:nvSpPr>
          <p:cNvPr id="1958" name="" descr="{&quot;isTemplate&quot;:true,&quot;type&quot;:&quot;text&quot;}"/>
          <p:cNvSpPr txBox="1"/>
          <p:nvPr/>
        </p:nvSpPr>
        <p:spPr>
          <a:xfrm rot="0" flipH="0" flipV="0">
            <a:off x="1038225" y="2066925"/>
            <a:ext cx="1409700" cy="133350"/>
          </a:xfrm>
          <a:prstGeom prst="rect"/>
        </p:spPr>
        <p:txBody>
          <a:bodyPr wrap="none" lIns="0" tIns="0" rIns="0" bIns="0"/>
          <a:p>
            <a:pPr>
              <a:lnSpc>
                <a:spcPct val="100000"/>
              </a:lnSpc>
            </a:pPr>
            <a:r>
              <a:rPr lang="zh-CN" sz="863" b="1">
                <a:solidFill>
                  <a:srgbClr val="0F1423"/>
                </a:solidFill>
                <a:latin typeface="Microsoft YaHei"/>
                <a:ea typeface="Microsoft YaHei"/>
              </a:rPr>
              <a:t>业务蓝图设计</a:t>
            </a:r>
            <a:endParaRPr/>
          </a:p>
        </p:txBody>
      </p:sp>
      <p:sp>
        <p:nvSpPr>
          <p:cNvPr id="1959" name=""/>
          <p:cNvSpPr/>
          <p:nvPr/>
        </p:nvSpPr>
        <p:spPr>
          <a:xfrm rot="0" flipH="0" flipV="0">
            <a:off x="2590800" y="1914525"/>
            <a:ext cx="666750" cy="428625"/>
          </a:xfrm>
          <a:prstGeom prst="roundRect">
            <a:avLst>
              <a:gd name="adj" fmla="val 6667"/>
            </a:avLst>
          </a:prstGeom>
          <a:solidFill>
            <a:srgbClr val="F7F7F8"/>
          </a:solidFill>
          <a:ln/>
        </p:spPr>
        <p:txBody>
          <a:bodyPr/>
          <a:p/>
        </p:txBody>
      </p:sp>
      <p:sp>
        <p:nvSpPr>
          <p:cNvPr id="1960" name="" descr="{&quot;isTemplate&quot;:true,&quot;type&quot;:&quot;text&quot;}"/>
          <p:cNvSpPr txBox="1"/>
          <p:nvPr/>
        </p:nvSpPr>
        <p:spPr>
          <a:xfrm rot="0" flipH="0" flipV="0">
            <a:off x="2876550" y="2066925"/>
            <a:ext cx="104775" cy="133350"/>
          </a:xfrm>
          <a:prstGeom prst="rect"/>
        </p:spPr>
        <p:txBody>
          <a:bodyPr wrap="none" lIns="0" tIns="0" rIns="0" bIns="0"/>
          <a:p>
            <a:pPr>
              <a:lnSpc>
                <a:spcPct val="100000"/>
              </a:lnSpc>
            </a:pPr>
            <a:r>
              <a:rPr lang="zh-CN" sz="825" b="1">
                <a:solidFill>
                  <a:srgbClr val="FA4F24"/>
                </a:solidFill>
                <a:latin typeface="Microsoft YaHei"/>
                <a:ea typeface="Microsoft YaHei"/>
              </a:rPr>
              <a:t>二</a:t>
            </a:r>
            <a:endParaRPr/>
          </a:p>
        </p:txBody>
      </p:sp>
      <p:sp>
        <p:nvSpPr>
          <p:cNvPr id="1961" name=""/>
          <p:cNvSpPr/>
          <p:nvPr/>
        </p:nvSpPr>
        <p:spPr>
          <a:xfrm rot="0" flipH="0" flipV="0">
            <a:off x="3305175" y="1914525"/>
            <a:ext cx="590550" cy="428625"/>
          </a:xfrm>
          <a:prstGeom prst="roundRect">
            <a:avLst>
              <a:gd name="adj" fmla="val 6667"/>
            </a:avLst>
          </a:prstGeom>
          <a:solidFill>
            <a:srgbClr val="F7F7F8"/>
          </a:solidFill>
          <a:ln/>
        </p:spPr>
        <p:txBody>
          <a:bodyPr/>
          <a:p/>
        </p:txBody>
      </p:sp>
      <p:sp>
        <p:nvSpPr>
          <p:cNvPr id="1962" name="" descr="{&quot;isTemplate&quot;:true,&quot;type&quot;:&quot;text&quot;}"/>
          <p:cNvSpPr txBox="1"/>
          <p:nvPr/>
        </p:nvSpPr>
        <p:spPr>
          <a:xfrm rot="0" flipH="0" flipV="0">
            <a:off x="3314700" y="2066925"/>
            <a:ext cx="571500" cy="123825"/>
          </a:xfrm>
          <a:prstGeom prst="rect"/>
        </p:spPr>
        <p:txBody>
          <a:bodyPr wrap="none" lIns="0" tIns="0" rIns="0" bIns="0"/>
          <a:p>
            <a:pPr>
              <a:lnSpc>
                <a:spcPct val="100000"/>
              </a:lnSpc>
            </a:pPr>
            <a:r>
              <a:rPr lang="en-US" sz="788">
                <a:solidFill>
                  <a:srgbClr val="5A6070"/>
                </a:solidFill>
                <a:latin typeface="Microsoft YaHei"/>
                <a:ea typeface="Microsoft YaHei"/>
              </a:rPr>
              <a:t>BA+DA+AA</a:t>
            </a:r>
            <a:endParaRPr/>
          </a:p>
        </p:txBody>
      </p:sp>
      <p:sp>
        <p:nvSpPr>
          <p:cNvPr id="1963" name=""/>
          <p:cNvSpPr/>
          <p:nvPr/>
        </p:nvSpPr>
        <p:spPr>
          <a:xfrm rot="0" flipH="0" flipV="0">
            <a:off x="3943350" y="1914525"/>
            <a:ext cx="6467475" cy="428625"/>
          </a:xfrm>
          <a:prstGeom prst="roundRect">
            <a:avLst>
              <a:gd name="adj" fmla="val 6667"/>
            </a:avLst>
          </a:prstGeom>
          <a:solidFill>
            <a:srgbClr val="FFF3EE"/>
          </a:solidFill>
          <a:ln/>
        </p:spPr>
        <p:txBody>
          <a:bodyPr/>
          <a:p/>
        </p:txBody>
      </p:sp>
      <p:sp>
        <p:nvSpPr>
          <p:cNvPr id="1964" name="" descr="{&quot;isTemplate&quot;:true,&quot;type&quot;:&quot;text&quot;}"/>
          <p:cNvSpPr txBox="1"/>
          <p:nvPr/>
        </p:nvSpPr>
        <p:spPr>
          <a:xfrm rot="0" flipH="0" flipV="0">
            <a:off x="4038600" y="2047875"/>
            <a:ext cx="6276975" cy="161925"/>
          </a:xfrm>
          <a:prstGeom prst="rect"/>
        </p:spPr>
        <p:txBody>
          <a:bodyPr wrap="none" lIns="0" tIns="0" rIns="0" bIns="0"/>
          <a:p>
            <a:pPr>
              <a:lnSpc>
                <a:spcPct val="130000"/>
              </a:lnSpc>
            </a:pPr>
            <a:r>
              <a:rPr lang="en-US" sz="788">
                <a:solidFill>
                  <a:srgbClr val="3A4050"/>
                </a:solidFill>
                <a:latin typeface="Microsoft YaHei"/>
                <a:ea typeface="Microsoft YaHei"/>
              </a:rPr>
              <a:t xml:space="preserve">L4 </a:t>
            </a:r>
            <a:r>
              <a:rPr lang="zh-CN" sz="788">
                <a:solidFill>
                  <a:srgbClr val="3A4050"/>
                </a:solidFill>
                <a:latin typeface="Microsoft YaHei"/>
                <a:ea typeface="Microsoft YaHei"/>
              </a:rPr>
              <a:t>子流程逐条有输入输出接口、逻辑实体逐条有属性方向、功能模块逐条有服务</a:t>
            </a:r>
            <a:endParaRPr/>
          </a:p>
        </p:txBody>
      </p:sp>
      <p:sp>
        <p:nvSpPr>
          <p:cNvPr id="1965" name=""/>
          <p:cNvSpPr/>
          <p:nvPr/>
        </p:nvSpPr>
        <p:spPr>
          <a:xfrm rot="0" flipH="0" flipV="0">
            <a:off x="10458450" y="1914525"/>
            <a:ext cx="1123950" cy="428625"/>
          </a:xfrm>
          <a:prstGeom prst="roundRect">
            <a:avLst>
              <a:gd name="adj" fmla="val 6667"/>
            </a:avLst>
          </a:prstGeom>
          <a:solidFill>
            <a:srgbClr val="F7F7F8"/>
          </a:solidFill>
          <a:ln/>
        </p:spPr>
        <p:txBody>
          <a:bodyPr/>
          <a:p/>
        </p:txBody>
      </p:sp>
      <p:sp>
        <p:nvSpPr>
          <p:cNvPr id="1966" name="" descr="{&quot;isTemplate&quot;:true,&quot;type&quot;:&quot;text&quot;}"/>
          <p:cNvSpPr txBox="1"/>
          <p:nvPr/>
        </p:nvSpPr>
        <p:spPr>
          <a:xfrm rot="0" flipH="0" flipV="0">
            <a:off x="10553700" y="1981200"/>
            <a:ext cx="933450" cy="304800"/>
          </a:xfrm>
          <a:prstGeom prst="rect"/>
        </p:spPr>
        <p:txBody>
          <a:bodyPr wrap="square" lIns="0" tIns="0" rIns="0" bIns="0">
            <a:normAutofit/>
          </a:bodyPr>
          <a:p>
            <a:pPr>
              <a:lnSpc>
                <a:spcPct val="130000"/>
              </a:lnSpc>
            </a:pPr>
            <a:r>
              <a:rPr lang="zh-CN" sz="750">
                <a:solidFill>
                  <a:srgbClr val="5A6070"/>
                </a:solidFill>
                <a:latin typeface="Microsoft YaHei"/>
                <a:ea typeface="Microsoft YaHei"/>
              </a:rPr>
              <a:t>缺哪项补哪项，不整体返工</a:t>
            </a:r>
            <a:endParaRPr/>
          </a:p>
        </p:txBody>
      </p:sp>
      <p:sp>
        <p:nvSpPr>
          <p:cNvPr id="1967" name=""/>
          <p:cNvSpPr/>
          <p:nvPr/>
        </p:nvSpPr>
        <p:spPr>
          <a:xfrm rot="0" flipH="0" flipV="0">
            <a:off x="609600" y="2409825"/>
            <a:ext cx="285750" cy="428625"/>
          </a:xfrm>
          <a:prstGeom prst="roundRect">
            <a:avLst>
              <a:gd name="adj" fmla="val 10000"/>
            </a:avLst>
          </a:prstGeom>
          <a:solidFill>
            <a:srgbClr val="E0641E"/>
          </a:solidFill>
          <a:ln/>
        </p:spPr>
        <p:txBody>
          <a:bodyPr/>
          <a:p/>
        </p:txBody>
      </p:sp>
      <p:sp>
        <p:nvSpPr>
          <p:cNvPr id="1968" name="" descr="{&quot;isTemplate&quot;:true,&quot;type&quot;:&quot;text&quot;}"/>
          <p:cNvSpPr txBox="1"/>
          <p:nvPr/>
        </p:nvSpPr>
        <p:spPr>
          <a:xfrm rot="0" flipH="0" flipV="0">
            <a:off x="714375" y="2552700"/>
            <a:ext cx="76200" cy="142875"/>
          </a:xfrm>
          <a:prstGeom prst="rect"/>
        </p:spPr>
        <p:txBody>
          <a:bodyPr wrap="none" lIns="0" tIns="0" rIns="0" bIns="0"/>
          <a:p>
            <a:pPr>
              <a:lnSpc>
                <a:spcPct val="100000"/>
              </a:lnSpc>
            </a:pPr>
            <a:r>
              <a:rPr lang="en-US" sz="938" b="1">
                <a:solidFill>
                  <a:srgbClr val="FFFFFF"/>
                </a:solidFill>
                <a:latin typeface="Microsoft YaHei"/>
                <a:ea typeface="Microsoft YaHei"/>
              </a:rPr>
              <a:t>3</a:t>
            </a:r>
            <a:endParaRPr/>
          </a:p>
        </p:txBody>
      </p:sp>
      <p:sp>
        <p:nvSpPr>
          <p:cNvPr id="1969" name=""/>
          <p:cNvSpPr/>
          <p:nvPr/>
        </p:nvSpPr>
        <p:spPr>
          <a:xfrm rot="0" flipH="0" flipV="0">
            <a:off x="942975" y="2409825"/>
            <a:ext cx="1600200" cy="428625"/>
          </a:xfrm>
          <a:prstGeom prst="roundRect">
            <a:avLst>
              <a:gd name="adj" fmla="val 6667"/>
            </a:avLst>
          </a:prstGeom>
          <a:solidFill>
            <a:srgbClr val="F7F7F8"/>
          </a:solidFill>
          <a:ln/>
        </p:spPr>
        <p:txBody>
          <a:bodyPr/>
          <a:p/>
        </p:txBody>
      </p:sp>
      <p:sp>
        <p:nvSpPr>
          <p:cNvPr id="1970" name="" descr="{&quot;isTemplate&quot;:true,&quot;type&quot;:&quot;text&quot;}"/>
          <p:cNvSpPr txBox="1"/>
          <p:nvPr/>
        </p:nvSpPr>
        <p:spPr>
          <a:xfrm rot="0" flipH="0" flipV="0">
            <a:off x="1038225" y="2562225"/>
            <a:ext cx="1409700" cy="133350"/>
          </a:xfrm>
          <a:prstGeom prst="rect"/>
        </p:spPr>
        <p:txBody>
          <a:bodyPr wrap="none" lIns="0" tIns="0" rIns="0" bIns="0"/>
          <a:p>
            <a:pPr>
              <a:lnSpc>
                <a:spcPct val="100000"/>
              </a:lnSpc>
            </a:pPr>
            <a:r>
              <a:rPr lang="zh-CN" sz="863" b="1">
                <a:solidFill>
                  <a:srgbClr val="0F1423"/>
                </a:solidFill>
                <a:latin typeface="Microsoft YaHei"/>
                <a:ea typeface="Microsoft YaHei"/>
              </a:rPr>
              <a:t>架构详细设计</a:t>
            </a:r>
            <a:endParaRPr/>
          </a:p>
        </p:txBody>
      </p:sp>
      <p:sp>
        <p:nvSpPr>
          <p:cNvPr id="1971" name=""/>
          <p:cNvSpPr/>
          <p:nvPr/>
        </p:nvSpPr>
        <p:spPr>
          <a:xfrm rot="0" flipH="0" flipV="0">
            <a:off x="2590800" y="2409825"/>
            <a:ext cx="666750" cy="428625"/>
          </a:xfrm>
          <a:prstGeom prst="roundRect">
            <a:avLst>
              <a:gd name="adj" fmla="val 6667"/>
            </a:avLst>
          </a:prstGeom>
          <a:solidFill>
            <a:srgbClr val="F7F7F8"/>
          </a:solidFill>
          <a:ln/>
        </p:spPr>
        <p:txBody>
          <a:bodyPr/>
          <a:p/>
        </p:txBody>
      </p:sp>
      <p:sp>
        <p:nvSpPr>
          <p:cNvPr id="1972" name="" descr="{&quot;isTemplate&quot;:true,&quot;type&quot;:&quot;text&quot;}"/>
          <p:cNvSpPr txBox="1"/>
          <p:nvPr/>
        </p:nvSpPr>
        <p:spPr>
          <a:xfrm rot="0" flipH="0" flipV="0">
            <a:off x="2876550" y="2562225"/>
            <a:ext cx="104775" cy="133350"/>
          </a:xfrm>
          <a:prstGeom prst="rect"/>
        </p:spPr>
        <p:txBody>
          <a:bodyPr wrap="none" lIns="0" tIns="0" rIns="0" bIns="0"/>
          <a:p>
            <a:pPr>
              <a:lnSpc>
                <a:spcPct val="100000"/>
              </a:lnSpc>
            </a:pPr>
            <a:r>
              <a:rPr lang="zh-CN" sz="825" b="1">
                <a:solidFill>
                  <a:srgbClr val="E0641E"/>
                </a:solidFill>
                <a:latin typeface="Microsoft YaHei"/>
                <a:ea typeface="Microsoft YaHei"/>
              </a:rPr>
              <a:t>三</a:t>
            </a:r>
            <a:endParaRPr/>
          </a:p>
        </p:txBody>
      </p:sp>
      <p:sp>
        <p:nvSpPr>
          <p:cNvPr id="1973" name=""/>
          <p:cNvSpPr/>
          <p:nvPr/>
        </p:nvSpPr>
        <p:spPr>
          <a:xfrm rot="0" flipH="0" flipV="0">
            <a:off x="3305175" y="2409825"/>
            <a:ext cx="590550" cy="428625"/>
          </a:xfrm>
          <a:prstGeom prst="roundRect">
            <a:avLst>
              <a:gd name="adj" fmla="val 6667"/>
            </a:avLst>
          </a:prstGeom>
          <a:solidFill>
            <a:srgbClr val="F7F7F8"/>
          </a:solidFill>
          <a:ln/>
        </p:spPr>
        <p:txBody>
          <a:bodyPr/>
          <a:p/>
        </p:txBody>
      </p:sp>
      <p:sp>
        <p:nvSpPr>
          <p:cNvPr id="1974" name="" descr="{&quot;isTemplate&quot;:true,&quot;type&quot;:&quot;text&quot;}"/>
          <p:cNvSpPr txBox="1"/>
          <p:nvPr/>
        </p:nvSpPr>
        <p:spPr>
          <a:xfrm rot="0" flipH="0" flipV="0">
            <a:off x="3314700" y="2562225"/>
            <a:ext cx="571500" cy="123825"/>
          </a:xfrm>
          <a:prstGeom prst="rect"/>
        </p:spPr>
        <p:txBody>
          <a:bodyPr wrap="none" lIns="0" tIns="0" rIns="0" bIns="0"/>
          <a:p>
            <a:pPr>
              <a:lnSpc>
                <a:spcPct val="100000"/>
              </a:lnSpc>
            </a:pPr>
            <a:r>
              <a:rPr lang="en-US" sz="788">
                <a:solidFill>
                  <a:srgbClr val="5A6070"/>
                </a:solidFill>
                <a:latin typeface="Microsoft YaHei"/>
                <a:ea typeface="Microsoft YaHei"/>
              </a:rPr>
              <a:t>BA+DA+AA</a:t>
            </a:r>
            <a:endParaRPr/>
          </a:p>
        </p:txBody>
      </p:sp>
      <p:sp>
        <p:nvSpPr>
          <p:cNvPr id="1975" name=""/>
          <p:cNvSpPr/>
          <p:nvPr/>
        </p:nvSpPr>
        <p:spPr>
          <a:xfrm rot="0" flipH="0" flipV="0">
            <a:off x="3943350" y="2409825"/>
            <a:ext cx="6467475" cy="428625"/>
          </a:xfrm>
          <a:prstGeom prst="roundRect">
            <a:avLst>
              <a:gd name="adj" fmla="val 6667"/>
            </a:avLst>
          </a:prstGeom>
          <a:solidFill>
            <a:srgbClr val="FFF3EE"/>
          </a:solidFill>
          <a:ln/>
        </p:spPr>
        <p:txBody>
          <a:bodyPr/>
          <a:p/>
        </p:txBody>
      </p:sp>
      <p:sp>
        <p:nvSpPr>
          <p:cNvPr id="1976" name="" descr="{&quot;isTemplate&quot;:true,&quot;type&quot;:&quot;text&quot;}"/>
          <p:cNvSpPr txBox="1"/>
          <p:nvPr/>
        </p:nvSpPr>
        <p:spPr>
          <a:xfrm rot="0" flipH="0" flipV="0">
            <a:off x="4038600" y="2543175"/>
            <a:ext cx="6276975" cy="161925"/>
          </a:xfrm>
          <a:prstGeom prst="rect"/>
        </p:spPr>
        <p:txBody>
          <a:bodyPr wrap="none" lIns="0" tIns="0" rIns="0" bIns="0"/>
          <a:p>
            <a:pPr>
              <a:lnSpc>
                <a:spcPct val="130000"/>
              </a:lnSpc>
            </a:pPr>
            <a:r>
              <a:rPr lang="en-US" sz="788">
                <a:solidFill>
                  <a:srgbClr val="3A4050"/>
                </a:solidFill>
                <a:latin typeface="Microsoft YaHei"/>
                <a:ea typeface="Microsoft YaHei"/>
              </a:rPr>
              <a:t xml:space="preserve">L5-L6 </a:t>
            </a:r>
            <a:r>
              <a:rPr lang="zh-CN" sz="788">
                <a:solidFill>
                  <a:srgbClr val="3A4050"/>
                </a:solidFill>
                <a:latin typeface="Microsoft YaHei"/>
                <a:ea typeface="Microsoft YaHei"/>
              </a:rPr>
              <a:t>逐条有角色与绩效指标、实体属性逐条有标准引用、服务特性子特性齐全</a:t>
            </a:r>
            <a:endParaRPr/>
          </a:p>
        </p:txBody>
      </p:sp>
      <p:sp>
        <p:nvSpPr>
          <p:cNvPr id="1977" name=""/>
          <p:cNvSpPr/>
          <p:nvPr/>
        </p:nvSpPr>
        <p:spPr>
          <a:xfrm rot="0" flipH="0" flipV="0">
            <a:off x="10458450" y="2409825"/>
            <a:ext cx="1123950" cy="428625"/>
          </a:xfrm>
          <a:prstGeom prst="roundRect">
            <a:avLst>
              <a:gd name="adj" fmla="val 6667"/>
            </a:avLst>
          </a:prstGeom>
          <a:solidFill>
            <a:srgbClr val="F7F7F8"/>
          </a:solidFill>
          <a:ln/>
        </p:spPr>
        <p:txBody>
          <a:bodyPr/>
          <a:p/>
        </p:txBody>
      </p:sp>
      <p:sp>
        <p:nvSpPr>
          <p:cNvPr id="1978" name="" descr="{&quot;isTemplate&quot;:true,&quot;type&quot;:&quot;text&quot;}"/>
          <p:cNvSpPr txBox="1"/>
          <p:nvPr/>
        </p:nvSpPr>
        <p:spPr>
          <a:xfrm rot="0" flipH="0" flipV="0">
            <a:off x="10553700" y="2476500"/>
            <a:ext cx="933450" cy="304800"/>
          </a:xfrm>
          <a:prstGeom prst="rect"/>
        </p:spPr>
        <p:txBody>
          <a:bodyPr wrap="square" lIns="0" tIns="0" rIns="0" bIns="0">
            <a:normAutofit/>
          </a:bodyPr>
          <a:p>
            <a:pPr>
              <a:lnSpc>
                <a:spcPct val="130000"/>
              </a:lnSpc>
            </a:pPr>
            <a:r>
              <a:rPr lang="zh-CN" sz="750">
                <a:solidFill>
                  <a:srgbClr val="5A6070"/>
                </a:solidFill>
                <a:latin typeface="Microsoft YaHei"/>
                <a:ea typeface="Microsoft YaHei"/>
              </a:rPr>
              <a:t>按域分别补，不推翻结构</a:t>
            </a:r>
            <a:endParaRPr/>
          </a:p>
        </p:txBody>
      </p:sp>
      <p:sp>
        <p:nvSpPr>
          <p:cNvPr id="1979" name=""/>
          <p:cNvSpPr/>
          <p:nvPr/>
        </p:nvSpPr>
        <p:spPr>
          <a:xfrm rot="0" flipH="0" flipV="0">
            <a:off x="609600" y="2905125"/>
            <a:ext cx="285750" cy="428625"/>
          </a:xfrm>
          <a:prstGeom prst="roundRect">
            <a:avLst>
              <a:gd name="adj" fmla="val 10000"/>
            </a:avLst>
          </a:prstGeom>
          <a:solidFill>
            <a:srgbClr val="E0641E"/>
          </a:solidFill>
          <a:ln/>
        </p:spPr>
        <p:txBody>
          <a:bodyPr/>
          <a:p/>
        </p:txBody>
      </p:sp>
      <p:sp>
        <p:nvSpPr>
          <p:cNvPr id="1980" name="" descr="{&quot;isTemplate&quot;:true,&quot;type&quot;:&quot;text&quot;}"/>
          <p:cNvSpPr txBox="1"/>
          <p:nvPr/>
        </p:nvSpPr>
        <p:spPr>
          <a:xfrm rot="0" flipH="0" flipV="0">
            <a:off x="714375" y="3048000"/>
            <a:ext cx="76200" cy="142875"/>
          </a:xfrm>
          <a:prstGeom prst="rect"/>
        </p:spPr>
        <p:txBody>
          <a:bodyPr wrap="none" lIns="0" tIns="0" rIns="0" bIns="0"/>
          <a:p>
            <a:pPr>
              <a:lnSpc>
                <a:spcPct val="100000"/>
              </a:lnSpc>
            </a:pPr>
            <a:r>
              <a:rPr lang="en-US" sz="938" b="1">
                <a:solidFill>
                  <a:srgbClr val="FFFFFF"/>
                </a:solidFill>
                <a:latin typeface="Microsoft YaHei"/>
                <a:ea typeface="Microsoft YaHei"/>
              </a:rPr>
              <a:t>4</a:t>
            </a:r>
            <a:endParaRPr/>
          </a:p>
        </p:txBody>
      </p:sp>
      <p:sp>
        <p:nvSpPr>
          <p:cNvPr id="1981" name=""/>
          <p:cNvSpPr/>
          <p:nvPr/>
        </p:nvSpPr>
        <p:spPr>
          <a:xfrm rot="0" flipH="0" flipV="0">
            <a:off x="942975" y="2905125"/>
            <a:ext cx="1600200" cy="428625"/>
          </a:xfrm>
          <a:prstGeom prst="roundRect">
            <a:avLst>
              <a:gd name="adj" fmla="val 6667"/>
            </a:avLst>
          </a:prstGeom>
          <a:solidFill>
            <a:srgbClr val="F7F7F8"/>
          </a:solidFill>
          <a:ln/>
        </p:spPr>
        <p:txBody>
          <a:bodyPr/>
          <a:p/>
        </p:txBody>
      </p:sp>
      <p:sp>
        <p:nvSpPr>
          <p:cNvPr id="1982" name="" descr="{&quot;isTemplate&quot;:true,&quot;type&quot;:&quot;text&quot;}"/>
          <p:cNvSpPr txBox="1"/>
          <p:nvPr/>
        </p:nvSpPr>
        <p:spPr>
          <a:xfrm rot="0" flipH="0" flipV="0">
            <a:off x="1038225" y="3057525"/>
            <a:ext cx="1409700" cy="133350"/>
          </a:xfrm>
          <a:prstGeom prst="rect"/>
        </p:spPr>
        <p:txBody>
          <a:bodyPr wrap="none" lIns="0" tIns="0" rIns="0" bIns="0"/>
          <a:p>
            <a:pPr>
              <a:lnSpc>
                <a:spcPct val="100000"/>
              </a:lnSpc>
            </a:pPr>
            <a:r>
              <a:rPr lang="zh-CN" sz="863" b="1">
                <a:solidFill>
                  <a:srgbClr val="0F1423"/>
                </a:solidFill>
                <a:latin typeface="Microsoft YaHei"/>
                <a:ea typeface="Microsoft YaHei"/>
              </a:rPr>
              <a:t>业务需求规格说明书</a:t>
            </a:r>
            <a:endParaRPr/>
          </a:p>
        </p:txBody>
      </p:sp>
      <p:sp>
        <p:nvSpPr>
          <p:cNvPr id="1983" name=""/>
          <p:cNvSpPr/>
          <p:nvPr/>
        </p:nvSpPr>
        <p:spPr>
          <a:xfrm rot="0" flipH="0" flipV="0">
            <a:off x="2590800" y="2905125"/>
            <a:ext cx="666750" cy="428625"/>
          </a:xfrm>
          <a:prstGeom prst="roundRect">
            <a:avLst>
              <a:gd name="adj" fmla="val 6667"/>
            </a:avLst>
          </a:prstGeom>
          <a:solidFill>
            <a:srgbClr val="F7F7F8"/>
          </a:solidFill>
          <a:ln/>
        </p:spPr>
        <p:txBody>
          <a:bodyPr/>
          <a:p/>
        </p:txBody>
      </p:sp>
      <p:sp>
        <p:nvSpPr>
          <p:cNvPr id="1984" name="" descr="{&quot;isTemplate&quot;:true,&quot;type&quot;:&quot;text&quot;}"/>
          <p:cNvSpPr txBox="1"/>
          <p:nvPr/>
        </p:nvSpPr>
        <p:spPr>
          <a:xfrm rot="0" flipH="0" flipV="0">
            <a:off x="2876550" y="3057525"/>
            <a:ext cx="104775" cy="133350"/>
          </a:xfrm>
          <a:prstGeom prst="rect"/>
        </p:spPr>
        <p:txBody>
          <a:bodyPr wrap="none" lIns="0" tIns="0" rIns="0" bIns="0"/>
          <a:p>
            <a:pPr>
              <a:lnSpc>
                <a:spcPct val="100000"/>
              </a:lnSpc>
            </a:pPr>
            <a:r>
              <a:rPr lang="zh-CN" sz="825" b="1">
                <a:solidFill>
                  <a:srgbClr val="E0641E"/>
                </a:solidFill>
                <a:latin typeface="Microsoft YaHei"/>
                <a:ea typeface="Microsoft YaHei"/>
              </a:rPr>
              <a:t>三</a:t>
            </a:r>
            <a:endParaRPr/>
          </a:p>
        </p:txBody>
      </p:sp>
      <p:sp>
        <p:nvSpPr>
          <p:cNvPr id="1985" name=""/>
          <p:cNvSpPr/>
          <p:nvPr/>
        </p:nvSpPr>
        <p:spPr>
          <a:xfrm rot="0" flipH="0" flipV="0">
            <a:off x="3305175" y="2905125"/>
            <a:ext cx="590550" cy="428625"/>
          </a:xfrm>
          <a:prstGeom prst="roundRect">
            <a:avLst>
              <a:gd name="adj" fmla="val 6667"/>
            </a:avLst>
          </a:prstGeom>
          <a:solidFill>
            <a:srgbClr val="F7F7F8"/>
          </a:solidFill>
          <a:ln/>
        </p:spPr>
        <p:txBody>
          <a:bodyPr/>
          <a:p/>
        </p:txBody>
      </p:sp>
      <p:sp>
        <p:nvSpPr>
          <p:cNvPr id="1986" name="" descr="{&quot;isTemplate&quot;:true,&quot;type&quot;:&quot;text&quot;}"/>
          <p:cNvSpPr txBox="1"/>
          <p:nvPr/>
        </p:nvSpPr>
        <p:spPr>
          <a:xfrm rot="0" flipH="0" flipV="0">
            <a:off x="3533775" y="3057525"/>
            <a:ext cx="133350" cy="123825"/>
          </a:xfrm>
          <a:prstGeom prst="rect"/>
        </p:spPr>
        <p:txBody>
          <a:bodyPr wrap="none" lIns="0" tIns="0" rIns="0" bIns="0"/>
          <a:p>
            <a:pPr>
              <a:lnSpc>
                <a:spcPct val="100000"/>
              </a:lnSpc>
            </a:pPr>
            <a:r>
              <a:rPr lang="en-US" sz="788">
                <a:solidFill>
                  <a:srgbClr val="5A6070"/>
                </a:solidFill>
                <a:latin typeface="Microsoft YaHei"/>
                <a:ea typeface="Microsoft YaHei"/>
              </a:rPr>
              <a:t>BA</a:t>
            </a:r>
            <a:endParaRPr/>
          </a:p>
        </p:txBody>
      </p:sp>
      <p:sp>
        <p:nvSpPr>
          <p:cNvPr id="1987" name=""/>
          <p:cNvSpPr/>
          <p:nvPr/>
        </p:nvSpPr>
        <p:spPr>
          <a:xfrm rot="0" flipH="0" flipV="0">
            <a:off x="3943350" y="2905125"/>
            <a:ext cx="6467475" cy="428625"/>
          </a:xfrm>
          <a:prstGeom prst="roundRect">
            <a:avLst>
              <a:gd name="adj" fmla="val 6667"/>
            </a:avLst>
          </a:prstGeom>
          <a:solidFill>
            <a:srgbClr val="FFF3EE"/>
          </a:solidFill>
          <a:ln/>
        </p:spPr>
        <p:txBody>
          <a:bodyPr/>
          <a:p/>
        </p:txBody>
      </p:sp>
      <p:sp>
        <p:nvSpPr>
          <p:cNvPr id="1988" name="" descr="{&quot;isTemplate&quot;:true,&quot;type&quot;:&quot;text&quot;}"/>
          <p:cNvSpPr txBox="1"/>
          <p:nvPr/>
        </p:nvSpPr>
        <p:spPr>
          <a:xfrm rot="0" flipH="0" flipV="0">
            <a:off x="4038600" y="3038475"/>
            <a:ext cx="6276975" cy="161925"/>
          </a:xfrm>
          <a:prstGeom prst="rect"/>
        </p:spPr>
        <p:txBody>
          <a:bodyPr wrap="none" lIns="0" tIns="0" rIns="0" bIns="0"/>
          <a:p>
            <a:pPr>
              <a:lnSpc>
                <a:spcPct val="130000"/>
              </a:lnSpc>
            </a:pPr>
            <a:r>
              <a:rPr lang="zh-CN" sz="788">
                <a:solidFill>
                  <a:srgbClr val="3A4050"/>
                </a:solidFill>
                <a:latin typeface="Microsoft YaHei"/>
                <a:ea typeface="Microsoft YaHei"/>
              </a:rPr>
              <a:t>需求六要素齐全、追溯矩阵双向可查、抽查三条能倒推回痛点</a:t>
            </a:r>
            <a:endParaRPr/>
          </a:p>
        </p:txBody>
      </p:sp>
      <p:sp>
        <p:nvSpPr>
          <p:cNvPr id="1989" name=""/>
          <p:cNvSpPr/>
          <p:nvPr/>
        </p:nvSpPr>
        <p:spPr>
          <a:xfrm rot="0" flipH="0" flipV="0">
            <a:off x="10458450" y="2905125"/>
            <a:ext cx="1123950" cy="428625"/>
          </a:xfrm>
          <a:prstGeom prst="roundRect">
            <a:avLst>
              <a:gd name="adj" fmla="val 6667"/>
            </a:avLst>
          </a:prstGeom>
          <a:solidFill>
            <a:srgbClr val="F7F7F8"/>
          </a:solidFill>
          <a:ln/>
        </p:spPr>
        <p:txBody>
          <a:bodyPr/>
          <a:p/>
        </p:txBody>
      </p:sp>
      <p:sp>
        <p:nvSpPr>
          <p:cNvPr id="1990" name="" descr="{&quot;isTemplate&quot;:true,&quot;type&quot;:&quot;text&quot;}"/>
          <p:cNvSpPr txBox="1"/>
          <p:nvPr/>
        </p:nvSpPr>
        <p:spPr>
          <a:xfrm rot="0" flipH="0" flipV="0">
            <a:off x="10553700" y="2971800"/>
            <a:ext cx="933450" cy="304800"/>
          </a:xfrm>
          <a:prstGeom prst="rect"/>
        </p:spPr>
        <p:txBody>
          <a:bodyPr wrap="square" lIns="0" tIns="0" rIns="0" bIns="0">
            <a:normAutofit/>
          </a:bodyPr>
          <a:p>
            <a:pPr>
              <a:lnSpc>
                <a:spcPct val="130000"/>
              </a:lnSpc>
            </a:pPr>
            <a:r>
              <a:rPr lang="zh-CN" sz="750">
                <a:solidFill>
                  <a:srgbClr val="5A6070"/>
                </a:solidFill>
                <a:latin typeface="Microsoft YaHei"/>
                <a:ea typeface="Microsoft YaHei"/>
              </a:rPr>
              <a:t>补齐要素，不重写条目</a:t>
            </a:r>
            <a:endParaRPr/>
          </a:p>
        </p:txBody>
      </p:sp>
      <p:sp>
        <p:nvSpPr>
          <p:cNvPr id="1991" name=""/>
          <p:cNvSpPr/>
          <p:nvPr/>
        </p:nvSpPr>
        <p:spPr>
          <a:xfrm rot="0" flipH="0" flipV="0">
            <a:off x="609600" y="3400425"/>
            <a:ext cx="285750" cy="276225"/>
          </a:xfrm>
          <a:prstGeom prst="roundRect">
            <a:avLst>
              <a:gd name="adj" fmla="val 10345"/>
            </a:avLst>
          </a:prstGeom>
          <a:solidFill>
            <a:srgbClr val="C43A17"/>
          </a:solidFill>
          <a:ln/>
        </p:spPr>
        <p:txBody>
          <a:bodyPr/>
          <a:p/>
        </p:txBody>
      </p:sp>
      <p:sp>
        <p:nvSpPr>
          <p:cNvPr id="1992" name="" descr="{&quot;isTemplate&quot;:true,&quot;type&quot;:&quot;text&quot;}"/>
          <p:cNvSpPr txBox="1"/>
          <p:nvPr/>
        </p:nvSpPr>
        <p:spPr>
          <a:xfrm rot="0" flipH="0" flipV="0">
            <a:off x="714375" y="3467100"/>
            <a:ext cx="76200" cy="142875"/>
          </a:xfrm>
          <a:prstGeom prst="rect"/>
        </p:spPr>
        <p:txBody>
          <a:bodyPr wrap="none" lIns="0" tIns="0" rIns="0" bIns="0"/>
          <a:p>
            <a:pPr>
              <a:lnSpc>
                <a:spcPct val="100000"/>
              </a:lnSpc>
            </a:pPr>
            <a:r>
              <a:rPr lang="en-US" sz="938" b="1">
                <a:solidFill>
                  <a:srgbClr val="FFFFFF"/>
                </a:solidFill>
                <a:latin typeface="Microsoft YaHei"/>
                <a:ea typeface="Microsoft YaHei"/>
              </a:rPr>
              <a:t>5</a:t>
            </a:r>
            <a:endParaRPr/>
          </a:p>
        </p:txBody>
      </p:sp>
      <p:sp>
        <p:nvSpPr>
          <p:cNvPr id="1993" name=""/>
          <p:cNvSpPr/>
          <p:nvPr/>
        </p:nvSpPr>
        <p:spPr>
          <a:xfrm rot="0" flipH="0" flipV="0">
            <a:off x="942975" y="3400425"/>
            <a:ext cx="1600200" cy="276225"/>
          </a:xfrm>
          <a:prstGeom prst="roundRect">
            <a:avLst>
              <a:gd name="adj" fmla="val 10345"/>
            </a:avLst>
          </a:prstGeom>
          <a:solidFill>
            <a:srgbClr val="F7F7F8"/>
          </a:solidFill>
          <a:ln/>
        </p:spPr>
        <p:txBody>
          <a:bodyPr/>
          <a:p/>
        </p:txBody>
      </p:sp>
      <p:sp>
        <p:nvSpPr>
          <p:cNvPr id="1994" name="" descr="{&quot;isTemplate&quot;:true,&quot;type&quot;:&quot;text&quot;}"/>
          <p:cNvSpPr txBox="1"/>
          <p:nvPr/>
        </p:nvSpPr>
        <p:spPr>
          <a:xfrm rot="0" flipH="0" flipV="0">
            <a:off x="1038225" y="3476625"/>
            <a:ext cx="1409700" cy="133350"/>
          </a:xfrm>
          <a:prstGeom prst="rect"/>
        </p:spPr>
        <p:txBody>
          <a:bodyPr wrap="none" lIns="0" tIns="0" rIns="0" bIns="0"/>
          <a:p>
            <a:pPr>
              <a:lnSpc>
                <a:spcPct val="100000"/>
              </a:lnSpc>
            </a:pPr>
            <a:r>
              <a:rPr lang="zh-CN" sz="863" b="1">
                <a:solidFill>
                  <a:srgbClr val="0F1423"/>
                </a:solidFill>
                <a:latin typeface="Microsoft YaHei"/>
                <a:ea typeface="Microsoft YaHei"/>
              </a:rPr>
              <a:t>数据需求与指标清单</a:t>
            </a:r>
            <a:endParaRPr/>
          </a:p>
        </p:txBody>
      </p:sp>
      <p:sp>
        <p:nvSpPr>
          <p:cNvPr id="1995" name=""/>
          <p:cNvSpPr/>
          <p:nvPr/>
        </p:nvSpPr>
        <p:spPr>
          <a:xfrm rot="0" flipH="0" flipV="0">
            <a:off x="2590800" y="3400425"/>
            <a:ext cx="666750" cy="276225"/>
          </a:xfrm>
          <a:prstGeom prst="roundRect">
            <a:avLst>
              <a:gd name="adj" fmla="val 10345"/>
            </a:avLst>
          </a:prstGeom>
          <a:solidFill>
            <a:srgbClr val="F7F7F8"/>
          </a:solidFill>
          <a:ln/>
        </p:spPr>
        <p:txBody>
          <a:bodyPr/>
          <a:p/>
        </p:txBody>
      </p:sp>
      <p:sp>
        <p:nvSpPr>
          <p:cNvPr id="1996" name="" descr="{&quot;isTemplate&quot;:true,&quot;type&quot;:&quot;text&quot;}"/>
          <p:cNvSpPr txBox="1"/>
          <p:nvPr/>
        </p:nvSpPr>
        <p:spPr>
          <a:xfrm rot="0" flipH="0" flipV="0">
            <a:off x="2876550" y="3476625"/>
            <a:ext cx="104775" cy="133350"/>
          </a:xfrm>
          <a:prstGeom prst="rect"/>
        </p:spPr>
        <p:txBody>
          <a:bodyPr wrap="none" lIns="0" tIns="0" rIns="0" bIns="0"/>
          <a:p>
            <a:pPr>
              <a:lnSpc>
                <a:spcPct val="100000"/>
              </a:lnSpc>
            </a:pPr>
            <a:r>
              <a:rPr lang="zh-CN" sz="825" b="1">
                <a:solidFill>
                  <a:srgbClr val="C43A17"/>
                </a:solidFill>
                <a:latin typeface="Microsoft YaHei"/>
                <a:ea typeface="Microsoft YaHei"/>
              </a:rPr>
              <a:t>三</a:t>
            </a:r>
            <a:endParaRPr/>
          </a:p>
        </p:txBody>
      </p:sp>
      <p:sp>
        <p:nvSpPr>
          <p:cNvPr id="1997" name=""/>
          <p:cNvSpPr/>
          <p:nvPr/>
        </p:nvSpPr>
        <p:spPr>
          <a:xfrm rot="0" flipH="0" flipV="0">
            <a:off x="3305175" y="3400425"/>
            <a:ext cx="590550" cy="276225"/>
          </a:xfrm>
          <a:prstGeom prst="roundRect">
            <a:avLst>
              <a:gd name="adj" fmla="val 10345"/>
            </a:avLst>
          </a:prstGeom>
          <a:solidFill>
            <a:srgbClr val="F7F7F8"/>
          </a:solidFill>
          <a:ln/>
        </p:spPr>
        <p:txBody>
          <a:bodyPr/>
          <a:p/>
        </p:txBody>
      </p:sp>
      <p:sp>
        <p:nvSpPr>
          <p:cNvPr id="1998" name="" descr="{&quot;isTemplate&quot;:true,&quot;type&quot;:&quot;text&quot;}"/>
          <p:cNvSpPr txBox="1"/>
          <p:nvPr/>
        </p:nvSpPr>
        <p:spPr>
          <a:xfrm rot="0" flipH="0" flipV="0">
            <a:off x="3524250" y="3476625"/>
            <a:ext cx="152400" cy="123825"/>
          </a:xfrm>
          <a:prstGeom prst="rect"/>
        </p:spPr>
        <p:txBody>
          <a:bodyPr wrap="none" lIns="0" tIns="0" rIns="0" bIns="0"/>
          <a:p>
            <a:pPr>
              <a:lnSpc>
                <a:spcPct val="100000"/>
              </a:lnSpc>
            </a:pPr>
            <a:r>
              <a:rPr lang="en-US" sz="788">
                <a:solidFill>
                  <a:srgbClr val="5A6070"/>
                </a:solidFill>
                <a:latin typeface="Microsoft YaHei"/>
                <a:ea typeface="Microsoft YaHei"/>
              </a:rPr>
              <a:t>DA</a:t>
            </a:r>
            <a:endParaRPr/>
          </a:p>
        </p:txBody>
      </p:sp>
      <p:sp>
        <p:nvSpPr>
          <p:cNvPr id="1999" name=""/>
          <p:cNvSpPr/>
          <p:nvPr/>
        </p:nvSpPr>
        <p:spPr>
          <a:xfrm rot="0" flipH="0" flipV="0">
            <a:off x="3943350" y="3400425"/>
            <a:ext cx="6467475" cy="276225"/>
          </a:xfrm>
          <a:prstGeom prst="roundRect">
            <a:avLst>
              <a:gd name="adj" fmla="val 10345"/>
            </a:avLst>
          </a:prstGeom>
          <a:solidFill>
            <a:srgbClr val="FFF3EE"/>
          </a:solidFill>
          <a:ln/>
        </p:spPr>
        <p:txBody>
          <a:bodyPr/>
          <a:p/>
        </p:txBody>
      </p:sp>
      <p:sp>
        <p:nvSpPr>
          <p:cNvPr id="2000" name="" descr="{&quot;isTemplate&quot;:true,&quot;type&quot;:&quot;text&quot;}"/>
          <p:cNvSpPr txBox="1"/>
          <p:nvPr/>
        </p:nvSpPr>
        <p:spPr>
          <a:xfrm rot="0" flipH="0" flipV="0">
            <a:off x="4038600" y="3457575"/>
            <a:ext cx="6276975" cy="161925"/>
          </a:xfrm>
          <a:prstGeom prst="rect"/>
        </p:spPr>
        <p:txBody>
          <a:bodyPr wrap="none" lIns="0" tIns="0" rIns="0" bIns="0"/>
          <a:p>
            <a:pPr>
              <a:lnSpc>
                <a:spcPct val="130000"/>
              </a:lnSpc>
            </a:pPr>
            <a:r>
              <a:rPr lang="zh-CN" sz="788">
                <a:solidFill>
                  <a:srgbClr val="3A4050"/>
                </a:solidFill>
                <a:latin typeface="Microsoft YaHei"/>
                <a:ea typeface="Microsoft YaHei"/>
              </a:rPr>
              <a:t>每个指标有口径、取数来源、更新频率与责任人</a:t>
            </a:r>
            <a:endParaRPr/>
          </a:p>
        </p:txBody>
      </p:sp>
      <p:sp>
        <p:nvSpPr>
          <p:cNvPr id="2001" name=""/>
          <p:cNvSpPr/>
          <p:nvPr/>
        </p:nvSpPr>
        <p:spPr>
          <a:xfrm rot="0" flipH="0" flipV="0">
            <a:off x="10458450" y="3400425"/>
            <a:ext cx="1123950" cy="276225"/>
          </a:xfrm>
          <a:prstGeom prst="roundRect">
            <a:avLst>
              <a:gd name="adj" fmla="val 10345"/>
            </a:avLst>
          </a:prstGeom>
          <a:solidFill>
            <a:srgbClr val="F7F7F8"/>
          </a:solidFill>
          <a:ln/>
        </p:spPr>
        <p:txBody>
          <a:bodyPr/>
          <a:p/>
        </p:txBody>
      </p:sp>
      <p:sp>
        <p:nvSpPr>
          <p:cNvPr id="2002" name="" descr="{&quot;isTemplate&quot;:true,&quot;type&quot;:&quot;text&quot;}"/>
          <p:cNvSpPr txBox="1"/>
          <p:nvPr/>
        </p:nvSpPr>
        <p:spPr>
          <a:xfrm rot="0" flipH="0" flipV="0">
            <a:off x="10553700" y="3467100"/>
            <a:ext cx="933450" cy="152400"/>
          </a:xfrm>
          <a:prstGeom prst="rect"/>
        </p:spPr>
        <p:txBody>
          <a:bodyPr wrap="none" lIns="0" tIns="0" rIns="0" bIns="0"/>
          <a:p>
            <a:pPr>
              <a:lnSpc>
                <a:spcPct val="130000"/>
              </a:lnSpc>
            </a:pPr>
            <a:r>
              <a:rPr lang="zh-CN" sz="750">
                <a:solidFill>
                  <a:srgbClr val="5A6070"/>
                </a:solidFill>
                <a:latin typeface="Microsoft YaHei"/>
                <a:ea typeface="Microsoft YaHei"/>
              </a:rPr>
              <a:t>口径待定的移出清单</a:t>
            </a:r>
            <a:endParaRPr/>
          </a:p>
        </p:txBody>
      </p:sp>
      <p:sp>
        <p:nvSpPr>
          <p:cNvPr id="2003" name=""/>
          <p:cNvSpPr/>
          <p:nvPr/>
        </p:nvSpPr>
        <p:spPr>
          <a:xfrm rot="0" flipH="0" flipV="0">
            <a:off x="609600" y="3743325"/>
            <a:ext cx="285750" cy="428625"/>
          </a:xfrm>
          <a:prstGeom prst="roundRect">
            <a:avLst>
              <a:gd name="adj" fmla="val 10000"/>
            </a:avLst>
          </a:prstGeom>
          <a:solidFill>
            <a:srgbClr val="C43A17"/>
          </a:solidFill>
          <a:ln/>
        </p:spPr>
        <p:txBody>
          <a:bodyPr/>
          <a:p/>
        </p:txBody>
      </p:sp>
      <p:sp>
        <p:nvSpPr>
          <p:cNvPr id="2004" name="" descr="{&quot;isTemplate&quot;:true,&quot;type&quot;:&quot;text&quot;}"/>
          <p:cNvSpPr txBox="1"/>
          <p:nvPr/>
        </p:nvSpPr>
        <p:spPr>
          <a:xfrm rot="0" flipH="0" flipV="0">
            <a:off x="714375" y="3886200"/>
            <a:ext cx="76200" cy="142875"/>
          </a:xfrm>
          <a:prstGeom prst="rect"/>
        </p:spPr>
        <p:txBody>
          <a:bodyPr wrap="none" lIns="0" tIns="0" rIns="0" bIns="0"/>
          <a:p>
            <a:pPr>
              <a:lnSpc>
                <a:spcPct val="100000"/>
              </a:lnSpc>
            </a:pPr>
            <a:r>
              <a:rPr lang="en-US" sz="938" b="1">
                <a:solidFill>
                  <a:srgbClr val="FFFFFF"/>
                </a:solidFill>
                <a:latin typeface="Microsoft YaHei"/>
                <a:ea typeface="Microsoft YaHei"/>
              </a:rPr>
              <a:t>6</a:t>
            </a:r>
            <a:endParaRPr/>
          </a:p>
        </p:txBody>
      </p:sp>
      <p:sp>
        <p:nvSpPr>
          <p:cNvPr id="2005" name=""/>
          <p:cNvSpPr/>
          <p:nvPr/>
        </p:nvSpPr>
        <p:spPr>
          <a:xfrm rot="0" flipH="0" flipV="0">
            <a:off x="942975" y="3743325"/>
            <a:ext cx="1600200" cy="428625"/>
          </a:xfrm>
          <a:prstGeom prst="roundRect">
            <a:avLst>
              <a:gd name="adj" fmla="val 6667"/>
            </a:avLst>
          </a:prstGeom>
          <a:solidFill>
            <a:srgbClr val="F7F7F8"/>
          </a:solidFill>
          <a:ln/>
        </p:spPr>
        <p:txBody>
          <a:bodyPr/>
          <a:p/>
        </p:txBody>
      </p:sp>
      <p:sp>
        <p:nvSpPr>
          <p:cNvPr id="2006" name="" descr="{&quot;isTemplate&quot;:true,&quot;type&quot;:&quot;text&quot;}"/>
          <p:cNvSpPr txBox="1"/>
          <p:nvPr/>
        </p:nvSpPr>
        <p:spPr>
          <a:xfrm rot="0" flipH="0" flipV="0">
            <a:off x="1038225" y="3895725"/>
            <a:ext cx="1409700" cy="133350"/>
          </a:xfrm>
          <a:prstGeom prst="rect"/>
        </p:spPr>
        <p:txBody>
          <a:bodyPr wrap="none" lIns="0" tIns="0" rIns="0" bIns="0"/>
          <a:p>
            <a:pPr>
              <a:lnSpc>
                <a:spcPct val="100000"/>
              </a:lnSpc>
            </a:pPr>
            <a:r>
              <a:rPr lang="en-US" sz="863" b="1">
                <a:solidFill>
                  <a:srgbClr val="0F1423"/>
                </a:solidFill>
                <a:latin typeface="Microsoft YaHei"/>
                <a:ea typeface="Microsoft YaHei"/>
              </a:rPr>
              <a:t xml:space="preserve">AI </a:t>
            </a:r>
            <a:r>
              <a:rPr lang="zh-CN" sz="863" b="1">
                <a:solidFill>
                  <a:srgbClr val="0F1423"/>
                </a:solidFill>
                <a:latin typeface="Microsoft YaHei"/>
                <a:ea typeface="Microsoft YaHei"/>
              </a:rPr>
              <a:t>应用场景清单</a:t>
            </a:r>
            <a:endParaRPr/>
          </a:p>
        </p:txBody>
      </p:sp>
      <p:sp>
        <p:nvSpPr>
          <p:cNvPr id="2007" name=""/>
          <p:cNvSpPr/>
          <p:nvPr/>
        </p:nvSpPr>
        <p:spPr>
          <a:xfrm rot="0" flipH="0" flipV="0">
            <a:off x="2590800" y="3743325"/>
            <a:ext cx="666750" cy="428625"/>
          </a:xfrm>
          <a:prstGeom prst="roundRect">
            <a:avLst>
              <a:gd name="adj" fmla="val 6667"/>
            </a:avLst>
          </a:prstGeom>
          <a:solidFill>
            <a:srgbClr val="F7F7F8"/>
          </a:solidFill>
          <a:ln/>
        </p:spPr>
        <p:txBody>
          <a:bodyPr/>
          <a:p/>
        </p:txBody>
      </p:sp>
      <p:sp>
        <p:nvSpPr>
          <p:cNvPr id="2008" name="" descr="{&quot;isTemplate&quot;:true,&quot;type&quot;:&quot;text&quot;}"/>
          <p:cNvSpPr txBox="1"/>
          <p:nvPr/>
        </p:nvSpPr>
        <p:spPr>
          <a:xfrm rot="0" flipH="0" flipV="0">
            <a:off x="2781300" y="3895725"/>
            <a:ext cx="295275" cy="133350"/>
          </a:xfrm>
          <a:prstGeom prst="rect"/>
        </p:spPr>
        <p:txBody>
          <a:bodyPr wrap="none" lIns="0" tIns="0" rIns="0" bIns="0"/>
          <a:p>
            <a:pPr>
              <a:lnSpc>
                <a:spcPct val="100000"/>
              </a:lnSpc>
            </a:pPr>
            <a:r>
              <a:rPr lang="zh-CN" sz="825" b="1">
                <a:solidFill>
                  <a:srgbClr val="C43A17"/>
                </a:solidFill>
                <a:latin typeface="Microsoft YaHei"/>
                <a:ea typeface="Microsoft YaHei"/>
              </a:rPr>
              <a:t>二</a:t>
            </a:r>
            <a:r>
              <a:rPr lang="en-US" sz="825" b="1">
                <a:solidFill>
                  <a:srgbClr val="C43A17"/>
                </a:solidFill>
                <a:latin typeface="Microsoft YaHei"/>
                <a:ea typeface="Microsoft YaHei"/>
              </a:rPr>
              <a:t>+</a:t>
            </a:r>
            <a:r>
              <a:rPr lang="zh-CN" sz="825" b="1">
                <a:solidFill>
                  <a:srgbClr val="C43A17"/>
                </a:solidFill>
                <a:latin typeface="Microsoft YaHei"/>
                <a:ea typeface="Microsoft YaHei"/>
              </a:rPr>
              <a:t>三</a:t>
            </a:r>
            <a:endParaRPr/>
          </a:p>
        </p:txBody>
      </p:sp>
      <p:sp>
        <p:nvSpPr>
          <p:cNvPr id="2009" name=""/>
          <p:cNvSpPr/>
          <p:nvPr/>
        </p:nvSpPr>
        <p:spPr>
          <a:xfrm rot="0" flipH="0" flipV="0">
            <a:off x="3305175" y="3743325"/>
            <a:ext cx="590550" cy="428625"/>
          </a:xfrm>
          <a:prstGeom prst="roundRect">
            <a:avLst>
              <a:gd name="adj" fmla="val 6667"/>
            </a:avLst>
          </a:prstGeom>
          <a:solidFill>
            <a:srgbClr val="F7F7F8"/>
          </a:solidFill>
          <a:ln/>
        </p:spPr>
        <p:txBody>
          <a:bodyPr/>
          <a:p/>
        </p:txBody>
      </p:sp>
      <p:sp>
        <p:nvSpPr>
          <p:cNvPr id="2010" name="" descr="{&quot;isTemplate&quot;:true,&quot;type&quot;:&quot;text&quot;}"/>
          <p:cNvSpPr txBox="1"/>
          <p:nvPr/>
        </p:nvSpPr>
        <p:spPr>
          <a:xfrm rot="0" flipH="0" flipV="0">
            <a:off x="3429000" y="3895725"/>
            <a:ext cx="352425" cy="123825"/>
          </a:xfrm>
          <a:prstGeom prst="rect"/>
        </p:spPr>
        <p:txBody>
          <a:bodyPr wrap="none" lIns="0" tIns="0" rIns="0" bIns="0"/>
          <a:p>
            <a:pPr>
              <a:lnSpc>
                <a:spcPct val="100000"/>
              </a:lnSpc>
            </a:pPr>
            <a:r>
              <a:rPr lang="en-US" sz="788">
                <a:solidFill>
                  <a:srgbClr val="5A6070"/>
                </a:solidFill>
                <a:latin typeface="Microsoft YaHei"/>
                <a:ea typeface="Microsoft YaHei"/>
              </a:rPr>
              <a:t>BA+AA</a:t>
            </a:r>
            <a:endParaRPr/>
          </a:p>
        </p:txBody>
      </p:sp>
      <p:sp>
        <p:nvSpPr>
          <p:cNvPr id="2011" name=""/>
          <p:cNvSpPr/>
          <p:nvPr/>
        </p:nvSpPr>
        <p:spPr>
          <a:xfrm rot="0" flipH="0" flipV="0">
            <a:off x="3943350" y="3743325"/>
            <a:ext cx="6467475" cy="428625"/>
          </a:xfrm>
          <a:prstGeom prst="roundRect">
            <a:avLst>
              <a:gd name="adj" fmla="val 6667"/>
            </a:avLst>
          </a:prstGeom>
          <a:solidFill>
            <a:srgbClr val="FFF3EE"/>
          </a:solidFill>
          <a:ln/>
        </p:spPr>
        <p:txBody>
          <a:bodyPr/>
          <a:p/>
        </p:txBody>
      </p:sp>
      <p:sp>
        <p:nvSpPr>
          <p:cNvPr id="2012" name="" descr="{&quot;isTemplate&quot;:true,&quot;type&quot;:&quot;text&quot;}"/>
          <p:cNvSpPr txBox="1"/>
          <p:nvPr/>
        </p:nvSpPr>
        <p:spPr>
          <a:xfrm rot="0" flipH="0" flipV="0">
            <a:off x="4038600" y="3876675"/>
            <a:ext cx="6276975" cy="161925"/>
          </a:xfrm>
          <a:prstGeom prst="rect"/>
        </p:spPr>
        <p:txBody>
          <a:bodyPr wrap="none" lIns="0" tIns="0" rIns="0" bIns="0"/>
          <a:p>
            <a:pPr>
              <a:lnSpc>
                <a:spcPct val="130000"/>
              </a:lnSpc>
            </a:pPr>
            <a:r>
              <a:rPr lang="zh-CN" sz="788">
                <a:solidFill>
                  <a:srgbClr val="3A4050"/>
                </a:solidFill>
                <a:latin typeface="Microsoft YaHei"/>
                <a:ea typeface="Microsoft YaHei"/>
              </a:rPr>
              <a:t>每场景有目标、输入、知识来源、智能体边界、评估指标与打分依据</a:t>
            </a:r>
            <a:endParaRPr/>
          </a:p>
        </p:txBody>
      </p:sp>
      <p:sp>
        <p:nvSpPr>
          <p:cNvPr id="2013" name=""/>
          <p:cNvSpPr/>
          <p:nvPr/>
        </p:nvSpPr>
        <p:spPr>
          <a:xfrm rot="0" flipH="0" flipV="0">
            <a:off x="10458450" y="3743325"/>
            <a:ext cx="1123950" cy="428625"/>
          </a:xfrm>
          <a:prstGeom prst="roundRect">
            <a:avLst>
              <a:gd name="adj" fmla="val 6667"/>
            </a:avLst>
          </a:prstGeom>
          <a:solidFill>
            <a:srgbClr val="F7F7F8"/>
          </a:solidFill>
          <a:ln/>
        </p:spPr>
        <p:txBody>
          <a:bodyPr/>
          <a:p/>
        </p:txBody>
      </p:sp>
      <p:sp>
        <p:nvSpPr>
          <p:cNvPr id="2014" name="" descr="{&quot;isTemplate&quot;:true,&quot;type&quot;:&quot;text&quot;}"/>
          <p:cNvSpPr txBox="1"/>
          <p:nvPr/>
        </p:nvSpPr>
        <p:spPr>
          <a:xfrm rot="0" flipH="0" flipV="0">
            <a:off x="10553700" y="3810000"/>
            <a:ext cx="933450" cy="304800"/>
          </a:xfrm>
          <a:prstGeom prst="rect"/>
        </p:spPr>
        <p:txBody>
          <a:bodyPr wrap="square" lIns="0" tIns="0" rIns="0" bIns="0">
            <a:normAutofit/>
          </a:bodyPr>
          <a:p>
            <a:pPr>
              <a:lnSpc>
                <a:spcPct val="130000"/>
              </a:lnSpc>
            </a:pPr>
            <a:r>
              <a:rPr lang="zh-CN" sz="750">
                <a:solidFill>
                  <a:srgbClr val="5A6070"/>
                </a:solidFill>
                <a:latin typeface="Microsoft YaHei"/>
                <a:ea typeface="Microsoft YaHei"/>
              </a:rPr>
              <a:t>不可验证的场景降级剔除</a:t>
            </a:r>
            <a:endParaRPr/>
          </a:p>
        </p:txBody>
      </p:sp>
      <p:sp>
        <p:nvSpPr>
          <p:cNvPr id="2015" name=""/>
          <p:cNvSpPr/>
          <p:nvPr/>
        </p:nvSpPr>
        <p:spPr>
          <a:xfrm rot="0" flipH="0" flipV="0">
            <a:off x="609600" y="4238625"/>
            <a:ext cx="285750" cy="428625"/>
          </a:xfrm>
          <a:prstGeom prst="roundRect">
            <a:avLst>
              <a:gd name="adj" fmla="val 10000"/>
            </a:avLst>
          </a:prstGeom>
          <a:solidFill>
            <a:srgbClr val="9E3410"/>
          </a:solidFill>
          <a:ln/>
        </p:spPr>
        <p:txBody>
          <a:bodyPr/>
          <a:p/>
        </p:txBody>
      </p:sp>
      <p:sp>
        <p:nvSpPr>
          <p:cNvPr id="2016" name="" descr="{&quot;isTemplate&quot;:true,&quot;type&quot;:&quot;text&quot;}"/>
          <p:cNvSpPr txBox="1"/>
          <p:nvPr/>
        </p:nvSpPr>
        <p:spPr>
          <a:xfrm rot="0" flipH="0" flipV="0">
            <a:off x="714375" y="4381500"/>
            <a:ext cx="76200" cy="142875"/>
          </a:xfrm>
          <a:prstGeom prst="rect"/>
        </p:spPr>
        <p:txBody>
          <a:bodyPr wrap="none" lIns="0" tIns="0" rIns="0" bIns="0"/>
          <a:p>
            <a:pPr>
              <a:lnSpc>
                <a:spcPct val="100000"/>
              </a:lnSpc>
            </a:pPr>
            <a:r>
              <a:rPr lang="en-US" sz="938" b="1">
                <a:solidFill>
                  <a:srgbClr val="FFFFFF"/>
                </a:solidFill>
                <a:latin typeface="Microsoft YaHei"/>
                <a:ea typeface="Microsoft YaHei"/>
              </a:rPr>
              <a:t>7</a:t>
            </a:r>
            <a:endParaRPr/>
          </a:p>
        </p:txBody>
      </p:sp>
      <p:sp>
        <p:nvSpPr>
          <p:cNvPr id="2017" name=""/>
          <p:cNvSpPr/>
          <p:nvPr/>
        </p:nvSpPr>
        <p:spPr>
          <a:xfrm rot="0" flipH="0" flipV="0">
            <a:off x="942975" y="4238625"/>
            <a:ext cx="1600200" cy="428625"/>
          </a:xfrm>
          <a:prstGeom prst="roundRect">
            <a:avLst>
              <a:gd name="adj" fmla="val 6667"/>
            </a:avLst>
          </a:prstGeom>
          <a:solidFill>
            <a:srgbClr val="F7F7F8"/>
          </a:solidFill>
          <a:ln/>
        </p:spPr>
        <p:txBody>
          <a:bodyPr/>
          <a:p/>
        </p:txBody>
      </p:sp>
      <p:sp>
        <p:nvSpPr>
          <p:cNvPr id="2018" name="" descr="{&quot;isTemplate&quot;:true,&quot;type&quot;:&quot;text&quot;}"/>
          <p:cNvSpPr txBox="1"/>
          <p:nvPr/>
        </p:nvSpPr>
        <p:spPr>
          <a:xfrm rot="0" flipH="0" flipV="0">
            <a:off x="1038225" y="4391025"/>
            <a:ext cx="1409700" cy="133350"/>
          </a:xfrm>
          <a:prstGeom prst="rect"/>
        </p:spPr>
        <p:txBody>
          <a:bodyPr wrap="none" lIns="0" tIns="0" rIns="0" bIns="0"/>
          <a:p>
            <a:pPr>
              <a:lnSpc>
                <a:spcPct val="100000"/>
              </a:lnSpc>
            </a:pPr>
            <a:r>
              <a:rPr lang="zh-CN" sz="863" b="1">
                <a:solidFill>
                  <a:srgbClr val="0F1423"/>
                </a:solidFill>
                <a:latin typeface="Microsoft YaHei"/>
                <a:ea typeface="Microsoft YaHei"/>
              </a:rPr>
              <a:t>实施路线图</a:t>
            </a:r>
            <a:endParaRPr/>
          </a:p>
        </p:txBody>
      </p:sp>
      <p:sp>
        <p:nvSpPr>
          <p:cNvPr id="2019" name=""/>
          <p:cNvSpPr/>
          <p:nvPr/>
        </p:nvSpPr>
        <p:spPr>
          <a:xfrm rot="0" flipH="0" flipV="0">
            <a:off x="2590800" y="4238625"/>
            <a:ext cx="666750" cy="428625"/>
          </a:xfrm>
          <a:prstGeom prst="roundRect">
            <a:avLst>
              <a:gd name="adj" fmla="val 6667"/>
            </a:avLst>
          </a:prstGeom>
          <a:solidFill>
            <a:srgbClr val="F7F7F8"/>
          </a:solidFill>
          <a:ln/>
        </p:spPr>
        <p:txBody>
          <a:bodyPr/>
          <a:p/>
        </p:txBody>
      </p:sp>
      <p:sp>
        <p:nvSpPr>
          <p:cNvPr id="2020" name="" descr="{&quot;isTemplate&quot;:true,&quot;type&quot;:&quot;text&quot;}"/>
          <p:cNvSpPr txBox="1"/>
          <p:nvPr/>
        </p:nvSpPr>
        <p:spPr>
          <a:xfrm rot="0" flipH="0" flipV="0">
            <a:off x="2876550" y="4391025"/>
            <a:ext cx="104775" cy="133350"/>
          </a:xfrm>
          <a:prstGeom prst="rect"/>
        </p:spPr>
        <p:txBody>
          <a:bodyPr wrap="none" lIns="0" tIns="0" rIns="0" bIns="0"/>
          <a:p>
            <a:pPr>
              <a:lnSpc>
                <a:spcPct val="100000"/>
              </a:lnSpc>
            </a:pPr>
            <a:r>
              <a:rPr lang="zh-CN" sz="825" b="1">
                <a:solidFill>
                  <a:srgbClr val="9E3410"/>
                </a:solidFill>
                <a:latin typeface="Microsoft YaHei"/>
                <a:ea typeface="Microsoft YaHei"/>
              </a:rPr>
              <a:t>四</a:t>
            </a:r>
            <a:endParaRPr/>
          </a:p>
        </p:txBody>
      </p:sp>
      <p:sp>
        <p:nvSpPr>
          <p:cNvPr id="2021" name=""/>
          <p:cNvSpPr/>
          <p:nvPr/>
        </p:nvSpPr>
        <p:spPr>
          <a:xfrm rot="0" flipH="0" flipV="0">
            <a:off x="3305175" y="4238625"/>
            <a:ext cx="590550" cy="428625"/>
          </a:xfrm>
          <a:prstGeom prst="roundRect">
            <a:avLst>
              <a:gd name="adj" fmla="val 6667"/>
            </a:avLst>
          </a:prstGeom>
          <a:solidFill>
            <a:srgbClr val="F7F7F8"/>
          </a:solidFill>
          <a:ln/>
        </p:spPr>
        <p:txBody>
          <a:bodyPr/>
          <a:p/>
        </p:txBody>
      </p:sp>
      <p:sp>
        <p:nvSpPr>
          <p:cNvPr id="2022" name="" descr="{&quot;isTemplate&quot;:true,&quot;type&quot;:&quot;text&quot;}"/>
          <p:cNvSpPr txBox="1"/>
          <p:nvPr/>
        </p:nvSpPr>
        <p:spPr>
          <a:xfrm rot="0" flipH="0" flipV="0">
            <a:off x="3505200" y="4391025"/>
            <a:ext cx="200025" cy="123825"/>
          </a:xfrm>
          <a:prstGeom prst="rect"/>
        </p:spPr>
        <p:txBody>
          <a:bodyPr wrap="none" lIns="0" tIns="0" rIns="0" bIns="0"/>
          <a:p>
            <a:pPr>
              <a:lnSpc>
                <a:spcPct val="100000"/>
              </a:lnSpc>
            </a:pPr>
            <a:r>
              <a:rPr lang="zh-CN" sz="788">
                <a:solidFill>
                  <a:srgbClr val="5A6070"/>
                </a:solidFill>
                <a:latin typeface="Microsoft YaHei"/>
                <a:ea typeface="Microsoft YaHei"/>
              </a:rPr>
              <a:t>全部</a:t>
            </a:r>
            <a:endParaRPr/>
          </a:p>
        </p:txBody>
      </p:sp>
      <p:sp>
        <p:nvSpPr>
          <p:cNvPr id="2023" name=""/>
          <p:cNvSpPr/>
          <p:nvPr/>
        </p:nvSpPr>
        <p:spPr>
          <a:xfrm rot="0" flipH="0" flipV="0">
            <a:off x="3943350" y="4238625"/>
            <a:ext cx="6467475" cy="428625"/>
          </a:xfrm>
          <a:prstGeom prst="roundRect">
            <a:avLst>
              <a:gd name="adj" fmla="val 6667"/>
            </a:avLst>
          </a:prstGeom>
          <a:solidFill>
            <a:srgbClr val="FFF3EE"/>
          </a:solidFill>
          <a:ln/>
        </p:spPr>
        <p:txBody>
          <a:bodyPr/>
          <a:p/>
        </p:txBody>
      </p:sp>
      <p:sp>
        <p:nvSpPr>
          <p:cNvPr id="2024" name="" descr="{&quot;isTemplate&quot;:true,&quot;type&quot;:&quot;text&quot;}"/>
          <p:cNvSpPr txBox="1"/>
          <p:nvPr/>
        </p:nvSpPr>
        <p:spPr>
          <a:xfrm rot="0" flipH="0" flipV="0">
            <a:off x="4038600" y="4371975"/>
            <a:ext cx="6276975" cy="161925"/>
          </a:xfrm>
          <a:prstGeom prst="rect"/>
        </p:spPr>
        <p:txBody>
          <a:bodyPr wrap="none" lIns="0" tIns="0" rIns="0" bIns="0"/>
          <a:p>
            <a:pPr>
              <a:lnSpc>
                <a:spcPct val="130000"/>
              </a:lnSpc>
            </a:pPr>
            <a:r>
              <a:rPr lang="zh-CN" sz="788">
                <a:solidFill>
                  <a:srgbClr val="3A4050"/>
                </a:solidFill>
                <a:latin typeface="Microsoft YaHei"/>
                <a:ea typeface="Microsoft YaHei"/>
              </a:rPr>
              <a:t>分期依据清晰、关键路径识别、投入收益附假设条件、保障机制可执行</a:t>
            </a:r>
            <a:endParaRPr/>
          </a:p>
        </p:txBody>
      </p:sp>
      <p:sp>
        <p:nvSpPr>
          <p:cNvPr id="2025" name=""/>
          <p:cNvSpPr/>
          <p:nvPr/>
        </p:nvSpPr>
        <p:spPr>
          <a:xfrm rot="0" flipH="0" flipV="0">
            <a:off x="10458450" y="4238625"/>
            <a:ext cx="1123950" cy="428625"/>
          </a:xfrm>
          <a:prstGeom prst="roundRect">
            <a:avLst>
              <a:gd name="adj" fmla="val 6667"/>
            </a:avLst>
          </a:prstGeom>
          <a:solidFill>
            <a:srgbClr val="F7F7F8"/>
          </a:solidFill>
          <a:ln/>
        </p:spPr>
        <p:txBody>
          <a:bodyPr/>
          <a:p/>
        </p:txBody>
      </p:sp>
      <p:sp>
        <p:nvSpPr>
          <p:cNvPr id="2026" name="" descr="{&quot;isTemplate&quot;:true,&quot;type&quot;:&quot;text&quot;}"/>
          <p:cNvSpPr txBox="1"/>
          <p:nvPr/>
        </p:nvSpPr>
        <p:spPr>
          <a:xfrm rot="0" flipH="0" flipV="0">
            <a:off x="10553700" y="4305300"/>
            <a:ext cx="933450" cy="304800"/>
          </a:xfrm>
          <a:prstGeom prst="rect"/>
        </p:spPr>
        <p:txBody>
          <a:bodyPr wrap="square" lIns="0" tIns="0" rIns="0" bIns="0">
            <a:normAutofit/>
          </a:bodyPr>
          <a:p>
            <a:pPr>
              <a:lnSpc>
                <a:spcPct val="130000"/>
              </a:lnSpc>
            </a:pPr>
            <a:r>
              <a:rPr lang="zh-CN" sz="750">
                <a:solidFill>
                  <a:srgbClr val="5A6070"/>
                </a:solidFill>
                <a:latin typeface="Microsoft YaHei"/>
                <a:ea typeface="Microsoft YaHei"/>
              </a:rPr>
              <a:t>补测算依据与假设清单</a:t>
            </a:r>
            <a:endParaRPr/>
          </a:p>
        </p:txBody>
      </p:sp>
      <p:sp>
        <p:nvSpPr>
          <p:cNvPr id="2027" name=""/>
          <p:cNvSpPr/>
          <p:nvPr/>
        </p:nvSpPr>
        <p:spPr>
          <a:xfrm rot="0" flipH="0" flipV="0">
            <a:off x="609600" y="4733925"/>
            <a:ext cx="285750" cy="428625"/>
          </a:xfrm>
          <a:prstGeom prst="roundRect">
            <a:avLst>
              <a:gd name="adj" fmla="val 10000"/>
            </a:avLst>
          </a:prstGeom>
          <a:solidFill>
            <a:srgbClr val="9E3410"/>
          </a:solidFill>
          <a:ln/>
        </p:spPr>
        <p:txBody>
          <a:bodyPr/>
          <a:p/>
        </p:txBody>
      </p:sp>
      <p:sp>
        <p:nvSpPr>
          <p:cNvPr id="2028" name="" descr="{&quot;isTemplate&quot;:true,&quot;type&quot;:&quot;text&quot;}"/>
          <p:cNvSpPr txBox="1"/>
          <p:nvPr/>
        </p:nvSpPr>
        <p:spPr>
          <a:xfrm rot="0" flipH="0" flipV="0">
            <a:off x="714375" y="4876800"/>
            <a:ext cx="76200" cy="142875"/>
          </a:xfrm>
          <a:prstGeom prst="rect"/>
        </p:spPr>
        <p:txBody>
          <a:bodyPr wrap="none" lIns="0" tIns="0" rIns="0" bIns="0"/>
          <a:p>
            <a:pPr>
              <a:lnSpc>
                <a:spcPct val="100000"/>
              </a:lnSpc>
            </a:pPr>
            <a:r>
              <a:rPr lang="en-US" sz="938" b="1">
                <a:solidFill>
                  <a:srgbClr val="FFFFFF"/>
                </a:solidFill>
                <a:latin typeface="Microsoft YaHei"/>
                <a:ea typeface="Microsoft YaHei"/>
              </a:rPr>
              <a:t>8</a:t>
            </a:r>
            <a:endParaRPr/>
          </a:p>
        </p:txBody>
      </p:sp>
      <p:sp>
        <p:nvSpPr>
          <p:cNvPr id="2029" name=""/>
          <p:cNvSpPr/>
          <p:nvPr/>
        </p:nvSpPr>
        <p:spPr>
          <a:xfrm rot="0" flipH="0" flipV="0">
            <a:off x="942975" y="4733925"/>
            <a:ext cx="1600200" cy="428625"/>
          </a:xfrm>
          <a:prstGeom prst="roundRect">
            <a:avLst>
              <a:gd name="adj" fmla="val 6667"/>
            </a:avLst>
          </a:prstGeom>
          <a:solidFill>
            <a:srgbClr val="F7F7F8"/>
          </a:solidFill>
          <a:ln/>
        </p:spPr>
        <p:txBody>
          <a:bodyPr/>
          <a:p/>
        </p:txBody>
      </p:sp>
      <p:sp>
        <p:nvSpPr>
          <p:cNvPr id="2030" name="" descr="{&quot;isTemplate&quot;:true,&quot;type&quot;:&quot;text&quot;}"/>
          <p:cNvSpPr txBox="1"/>
          <p:nvPr/>
        </p:nvSpPr>
        <p:spPr>
          <a:xfrm rot="0" flipH="0" flipV="0">
            <a:off x="1038225" y="4886325"/>
            <a:ext cx="1409700" cy="133350"/>
          </a:xfrm>
          <a:prstGeom prst="rect"/>
        </p:spPr>
        <p:txBody>
          <a:bodyPr wrap="none" lIns="0" tIns="0" rIns="0" bIns="0"/>
          <a:p>
            <a:pPr>
              <a:lnSpc>
                <a:spcPct val="100000"/>
              </a:lnSpc>
            </a:pPr>
            <a:r>
              <a:rPr lang="zh-CN" sz="863" b="1">
                <a:solidFill>
                  <a:srgbClr val="0F1423"/>
                </a:solidFill>
                <a:latin typeface="Microsoft YaHei"/>
                <a:ea typeface="Microsoft YaHei"/>
              </a:rPr>
              <a:t>指标字典</a:t>
            </a:r>
            <a:endParaRPr/>
          </a:p>
        </p:txBody>
      </p:sp>
      <p:sp>
        <p:nvSpPr>
          <p:cNvPr id="2031" name=""/>
          <p:cNvSpPr/>
          <p:nvPr/>
        </p:nvSpPr>
        <p:spPr>
          <a:xfrm rot="0" flipH="0" flipV="0">
            <a:off x="2590800" y="4733925"/>
            <a:ext cx="666750" cy="428625"/>
          </a:xfrm>
          <a:prstGeom prst="roundRect">
            <a:avLst>
              <a:gd name="adj" fmla="val 6667"/>
            </a:avLst>
          </a:prstGeom>
          <a:solidFill>
            <a:srgbClr val="F7F7F8"/>
          </a:solidFill>
          <a:ln/>
        </p:spPr>
        <p:txBody>
          <a:bodyPr/>
          <a:p/>
        </p:txBody>
      </p:sp>
      <p:sp>
        <p:nvSpPr>
          <p:cNvPr id="2032" name="" descr="{&quot;isTemplate&quot;:true,&quot;type&quot;:&quot;text&quot;}"/>
          <p:cNvSpPr txBox="1"/>
          <p:nvPr/>
        </p:nvSpPr>
        <p:spPr>
          <a:xfrm rot="0" flipH="0" flipV="0">
            <a:off x="2876550" y="4886325"/>
            <a:ext cx="104775" cy="133350"/>
          </a:xfrm>
          <a:prstGeom prst="rect"/>
        </p:spPr>
        <p:txBody>
          <a:bodyPr wrap="none" lIns="0" tIns="0" rIns="0" bIns="0"/>
          <a:p>
            <a:pPr>
              <a:lnSpc>
                <a:spcPct val="100000"/>
              </a:lnSpc>
            </a:pPr>
            <a:r>
              <a:rPr lang="zh-CN" sz="825" b="1">
                <a:solidFill>
                  <a:srgbClr val="9E3410"/>
                </a:solidFill>
                <a:latin typeface="Microsoft YaHei"/>
                <a:ea typeface="Microsoft YaHei"/>
              </a:rPr>
              <a:t>三</a:t>
            </a:r>
            <a:endParaRPr/>
          </a:p>
        </p:txBody>
      </p:sp>
      <p:sp>
        <p:nvSpPr>
          <p:cNvPr id="2033" name=""/>
          <p:cNvSpPr/>
          <p:nvPr/>
        </p:nvSpPr>
        <p:spPr>
          <a:xfrm rot="0" flipH="0" flipV="0">
            <a:off x="3305175" y="4733925"/>
            <a:ext cx="590550" cy="428625"/>
          </a:xfrm>
          <a:prstGeom prst="roundRect">
            <a:avLst>
              <a:gd name="adj" fmla="val 6667"/>
            </a:avLst>
          </a:prstGeom>
          <a:solidFill>
            <a:srgbClr val="F7F7F8"/>
          </a:solidFill>
          <a:ln/>
        </p:spPr>
        <p:txBody>
          <a:bodyPr/>
          <a:p/>
        </p:txBody>
      </p:sp>
      <p:sp>
        <p:nvSpPr>
          <p:cNvPr id="2034" name="" descr="{&quot;isTemplate&quot;:true,&quot;type&quot;:&quot;text&quot;}"/>
          <p:cNvSpPr txBox="1"/>
          <p:nvPr/>
        </p:nvSpPr>
        <p:spPr>
          <a:xfrm rot="0" flipH="0" flipV="0">
            <a:off x="3524250" y="4886325"/>
            <a:ext cx="152400" cy="123825"/>
          </a:xfrm>
          <a:prstGeom prst="rect"/>
        </p:spPr>
        <p:txBody>
          <a:bodyPr wrap="none" lIns="0" tIns="0" rIns="0" bIns="0"/>
          <a:p>
            <a:pPr>
              <a:lnSpc>
                <a:spcPct val="100000"/>
              </a:lnSpc>
            </a:pPr>
            <a:r>
              <a:rPr lang="en-US" sz="788">
                <a:solidFill>
                  <a:srgbClr val="5A6070"/>
                </a:solidFill>
                <a:latin typeface="Microsoft YaHei"/>
                <a:ea typeface="Microsoft YaHei"/>
              </a:rPr>
              <a:t>DA</a:t>
            </a:r>
            <a:endParaRPr/>
          </a:p>
        </p:txBody>
      </p:sp>
      <p:sp>
        <p:nvSpPr>
          <p:cNvPr id="2035" name=""/>
          <p:cNvSpPr/>
          <p:nvPr/>
        </p:nvSpPr>
        <p:spPr>
          <a:xfrm rot="0" flipH="0" flipV="0">
            <a:off x="3943350" y="4733925"/>
            <a:ext cx="6467475" cy="428625"/>
          </a:xfrm>
          <a:prstGeom prst="roundRect">
            <a:avLst>
              <a:gd name="adj" fmla="val 6667"/>
            </a:avLst>
          </a:prstGeom>
          <a:solidFill>
            <a:srgbClr val="FFF3EE"/>
          </a:solidFill>
          <a:ln/>
        </p:spPr>
        <p:txBody>
          <a:bodyPr/>
          <a:p/>
        </p:txBody>
      </p:sp>
      <p:sp>
        <p:nvSpPr>
          <p:cNvPr id="2036" name="" descr="{&quot;isTemplate&quot;:true,&quot;type&quot;:&quot;text&quot;}"/>
          <p:cNvSpPr txBox="1"/>
          <p:nvPr/>
        </p:nvSpPr>
        <p:spPr>
          <a:xfrm rot="0" flipH="0" flipV="0">
            <a:off x="4038600" y="4867275"/>
            <a:ext cx="6276975" cy="161925"/>
          </a:xfrm>
          <a:prstGeom prst="rect"/>
        </p:spPr>
        <p:txBody>
          <a:bodyPr wrap="none" lIns="0" tIns="0" rIns="0" bIns="0"/>
          <a:p>
            <a:pPr>
              <a:lnSpc>
                <a:spcPct val="130000"/>
              </a:lnSpc>
            </a:pPr>
            <a:r>
              <a:rPr lang="zh-CN" sz="788">
                <a:solidFill>
                  <a:srgbClr val="3A4050"/>
                </a:solidFill>
                <a:latin typeface="Microsoft YaHei"/>
                <a:ea typeface="Microsoft YaHei"/>
              </a:rPr>
              <a:t>八要素逐条齐全、无口径冲突项、责任落实到岗位</a:t>
            </a:r>
            <a:endParaRPr/>
          </a:p>
        </p:txBody>
      </p:sp>
      <p:sp>
        <p:nvSpPr>
          <p:cNvPr id="2037" name=""/>
          <p:cNvSpPr/>
          <p:nvPr/>
        </p:nvSpPr>
        <p:spPr>
          <a:xfrm rot="0" flipH="0" flipV="0">
            <a:off x="10458450" y="4733925"/>
            <a:ext cx="1123950" cy="428625"/>
          </a:xfrm>
          <a:prstGeom prst="roundRect">
            <a:avLst>
              <a:gd name="adj" fmla="val 6667"/>
            </a:avLst>
          </a:prstGeom>
          <a:solidFill>
            <a:srgbClr val="F7F7F8"/>
          </a:solidFill>
          <a:ln/>
        </p:spPr>
        <p:txBody>
          <a:bodyPr/>
          <a:p/>
        </p:txBody>
      </p:sp>
      <p:sp>
        <p:nvSpPr>
          <p:cNvPr id="2038" name="" descr="{&quot;isTemplate&quot;:true,&quot;type&quot;:&quot;text&quot;}"/>
          <p:cNvSpPr txBox="1"/>
          <p:nvPr/>
        </p:nvSpPr>
        <p:spPr>
          <a:xfrm rot="0" flipH="0" flipV="0">
            <a:off x="10553700" y="4800600"/>
            <a:ext cx="933450" cy="304800"/>
          </a:xfrm>
          <a:prstGeom prst="rect"/>
        </p:spPr>
        <p:txBody>
          <a:bodyPr wrap="square" lIns="0" tIns="0" rIns="0" bIns="0">
            <a:normAutofit/>
          </a:bodyPr>
          <a:p>
            <a:pPr>
              <a:lnSpc>
                <a:spcPct val="130000"/>
              </a:lnSpc>
            </a:pPr>
            <a:r>
              <a:rPr lang="zh-CN" sz="750">
                <a:solidFill>
                  <a:srgbClr val="5A6070"/>
                </a:solidFill>
                <a:latin typeface="Microsoft YaHei"/>
                <a:ea typeface="Microsoft YaHei"/>
              </a:rPr>
              <a:t>缺项不发布，只进待办</a:t>
            </a:r>
            <a:endParaRPr/>
          </a:p>
        </p:txBody>
      </p:sp>
      <p:sp>
        <p:nvSpPr>
          <p:cNvPr id="2039" name=""/>
          <p:cNvSpPr/>
          <p:nvPr/>
        </p:nvSpPr>
        <p:spPr>
          <a:xfrm rot="0" flipH="0" flipV="0">
            <a:off x="609600" y="5229225"/>
            <a:ext cx="285750" cy="428625"/>
          </a:xfrm>
          <a:prstGeom prst="roundRect">
            <a:avLst>
              <a:gd name="adj" fmla="val 10000"/>
            </a:avLst>
          </a:prstGeom>
          <a:solidFill>
            <a:srgbClr val="9E3410"/>
          </a:solidFill>
          <a:ln/>
        </p:spPr>
        <p:txBody>
          <a:bodyPr/>
          <a:p/>
        </p:txBody>
      </p:sp>
      <p:sp>
        <p:nvSpPr>
          <p:cNvPr id="2040" name="" descr="{&quot;isTemplate&quot;:true,&quot;type&quot;:&quot;text&quot;}"/>
          <p:cNvSpPr txBox="1"/>
          <p:nvPr/>
        </p:nvSpPr>
        <p:spPr>
          <a:xfrm rot="0" flipH="0" flipV="0">
            <a:off x="714375" y="5372100"/>
            <a:ext cx="76200" cy="142875"/>
          </a:xfrm>
          <a:prstGeom prst="rect"/>
        </p:spPr>
        <p:txBody>
          <a:bodyPr wrap="none" lIns="0" tIns="0" rIns="0" bIns="0"/>
          <a:p>
            <a:pPr>
              <a:lnSpc>
                <a:spcPct val="100000"/>
              </a:lnSpc>
            </a:pPr>
            <a:r>
              <a:rPr lang="en-US" sz="938" b="1">
                <a:solidFill>
                  <a:srgbClr val="FFFFFF"/>
                </a:solidFill>
                <a:latin typeface="Microsoft YaHei"/>
                <a:ea typeface="Microsoft YaHei"/>
              </a:rPr>
              <a:t>9</a:t>
            </a:r>
            <a:endParaRPr/>
          </a:p>
        </p:txBody>
      </p:sp>
      <p:sp>
        <p:nvSpPr>
          <p:cNvPr id="2041" name=""/>
          <p:cNvSpPr/>
          <p:nvPr/>
        </p:nvSpPr>
        <p:spPr>
          <a:xfrm rot="0" flipH="0" flipV="0">
            <a:off x="942975" y="5229225"/>
            <a:ext cx="1600200" cy="428625"/>
          </a:xfrm>
          <a:prstGeom prst="roundRect">
            <a:avLst>
              <a:gd name="adj" fmla="val 6667"/>
            </a:avLst>
          </a:prstGeom>
          <a:solidFill>
            <a:srgbClr val="F7F7F8"/>
          </a:solidFill>
          <a:ln/>
        </p:spPr>
        <p:txBody>
          <a:bodyPr/>
          <a:p/>
        </p:txBody>
      </p:sp>
      <p:sp>
        <p:nvSpPr>
          <p:cNvPr id="2042" name="" descr="{&quot;isTemplate&quot;:true,&quot;type&quot;:&quot;text&quot;}"/>
          <p:cNvSpPr txBox="1"/>
          <p:nvPr/>
        </p:nvSpPr>
        <p:spPr>
          <a:xfrm rot="0" flipH="0" flipV="0">
            <a:off x="1038225" y="5381625"/>
            <a:ext cx="1409700" cy="133350"/>
          </a:xfrm>
          <a:prstGeom prst="rect"/>
        </p:spPr>
        <p:txBody>
          <a:bodyPr wrap="none" lIns="0" tIns="0" rIns="0" bIns="0"/>
          <a:p>
            <a:pPr>
              <a:lnSpc>
                <a:spcPct val="100000"/>
              </a:lnSpc>
            </a:pPr>
            <a:r>
              <a:rPr lang="zh-CN" sz="863" b="1">
                <a:solidFill>
                  <a:srgbClr val="0F1423"/>
                </a:solidFill>
                <a:latin typeface="Microsoft YaHei"/>
                <a:ea typeface="Microsoft YaHei"/>
              </a:rPr>
              <a:t>绩效考核业务数据清单</a:t>
            </a:r>
            <a:endParaRPr/>
          </a:p>
        </p:txBody>
      </p:sp>
      <p:sp>
        <p:nvSpPr>
          <p:cNvPr id="2043" name=""/>
          <p:cNvSpPr/>
          <p:nvPr/>
        </p:nvSpPr>
        <p:spPr>
          <a:xfrm rot="0" flipH="0" flipV="0">
            <a:off x="2590800" y="5229225"/>
            <a:ext cx="666750" cy="428625"/>
          </a:xfrm>
          <a:prstGeom prst="roundRect">
            <a:avLst>
              <a:gd name="adj" fmla="val 6667"/>
            </a:avLst>
          </a:prstGeom>
          <a:solidFill>
            <a:srgbClr val="F7F7F8"/>
          </a:solidFill>
          <a:ln/>
        </p:spPr>
        <p:txBody>
          <a:bodyPr/>
          <a:p/>
        </p:txBody>
      </p:sp>
      <p:sp>
        <p:nvSpPr>
          <p:cNvPr id="2044" name="" descr="{&quot;isTemplate&quot;:true,&quot;type&quot;:&quot;text&quot;}"/>
          <p:cNvSpPr txBox="1"/>
          <p:nvPr/>
        </p:nvSpPr>
        <p:spPr>
          <a:xfrm rot="0" flipH="0" flipV="0">
            <a:off x="2876550" y="5381625"/>
            <a:ext cx="104775" cy="133350"/>
          </a:xfrm>
          <a:prstGeom prst="rect"/>
        </p:spPr>
        <p:txBody>
          <a:bodyPr wrap="none" lIns="0" tIns="0" rIns="0" bIns="0"/>
          <a:p>
            <a:pPr>
              <a:lnSpc>
                <a:spcPct val="100000"/>
              </a:lnSpc>
            </a:pPr>
            <a:r>
              <a:rPr lang="zh-CN" sz="825" b="1">
                <a:solidFill>
                  <a:srgbClr val="9E3410"/>
                </a:solidFill>
                <a:latin typeface="Microsoft YaHei"/>
                <a:ea typeface="Microsoft YaHei"/>
              </a:rPr>
              <a:t>三</a:t>
            </a:r>
            <a:endParaRPr/>
          </a:p>
        </p:txBody>
      </p:sp>
      <p:sp>
        <p:nvSpPr>
          <p:cNvPr id="2045" name=""/>
          <p:cNvSpPr/>
          <p:nvPr/>
        </p:nvSpPr>
        <p:spPr>
          <a:xfrm rot="0" flipH="0" flipV="0">
            <a:off x="3305175" y="5229225"/>
            <a:ext cx="590550" cy="428625"/>
          </a:xfrm>
          <a:prstGeom prst="roundRect">
            <a:avLst>
              <a:gd name="adj" fmla="val 6667"/>
            </a:avLst>
          </a:prstGeom>
          <a:solidFill>
            <a:srgbClr val="F7F7F8"/>
          </a:solidFill>
          <a:ln/>
        </p:spPr>
        <p:txBody>
          <a:bodyPr/>
          <a:p/>
        </p:txBody>
      </p:sp>
      <p:sp>
        <p:nvSpPr>
          <p:cNvPr id="2046" name="" descr="{&quot;isTemplate&quot;:true,&quot;type&quot;:&quot;text&quot;}"/>
          <p:cNvSpPr txBox="1"/>
          <p:nvPr/>
        </p:nvSpPr>
        <p:spPr>
          <a:xfrm rot="0" flipH="0" flipV="0">
            <a:off x="3429000" y="5381625"/>
            <a:ext cx="352425" cy="123825"/>
          </a:xfrm>
          <a:prstGeom prst="rect"/>
        </p:spPr>
        <p:txBody>
          <a:bodyPr wrap="none" lIns="0" tIns="0" rIns="0" bIns="0"/>
          <a:p>
            <a:pPr>
              <a:lnSpc>
                <a:spcPct val="100000"/>
              </a:lnSpc>
            </a:pPr>
            <a:r>
              <a:rPr lang="en-US" sz="788">
                <a:solidFill>
                  <a:srgbClr val="5A6070"/>
                </a:solidFill>
                <a:latin typeface="Microsoft YaHei"/>
                <a:ea typeface="Microsoft YaHei"/>
              </a:rPr>
              <a:t>DA+BA</a:t>
            </a:r>
            <a:endParaRPr/>
          </a:p>
        </p:txBody>
      </p:sp>
      <p:sp>
        <p:nvSpPr>
          <p:cNvPr id="2047" name=""/>
          <p:cNvSpPr/>
          <p:nvPr/>
        </p:nvSpPr>
        <p:spPr>
          <a:xfrm rot="0" flipH="0" flipV="0">
            <a:off x="3943350" y="5229225"/>
            <a:ext cx="6467475" cy="428625"/>
          </a:xfrm>
          <a:prstGeom prst="roundRect">
            <a:avLst>
              <a:gd name="adj" fmla="val 6667"/>
            </a:avLst>
          </a:prstGeom>
          <a:solidFill>
            <a:srgbClr val="FFF3EE"/>
          </a:solidFill>
          <a:ln/>
        </p:spPr>
        <p:txBody>
          <a:bodyPr/>
          <a:p/>
        </p:txBody>
      </p:sp>
      <p:sp>
        <p:nvSpPr>
          <p:cNvPr id="2048" name="" descr="{&quot;isTemplate&quot;:true,&quot;type&quot;:&quot;text&quot;}"/>
          <p:cNvSpPr txBox="1"/>
          <p:nvPr/>
        </p:nvSpPr>
        <p:spPr>
          <a:xfrm rot="0" flipH="0" flipV="0">
            <a:off x="4038600" y="5362575"/>
            <a:ext cx="6276975" cy="161925"/>
          </a:xfrm>
          <a:prstGeom prst="rect"/>
        </p:spPr>
        <p:txBody>
          <a:bodyPr wrap="none" lIns="0" tIns="0" rIns="0" bIns="0"/>
          <a:p>
            <a:pPr>
              <a:lnSpc>
                <a:spcPct val="130000"/>
              </a:lnSpc>
            </a:pPr>
            <a:r>
              <a:rPr lang="zh-CN" sz="788">
                <a:solidFill>
                  <a:srgbClr val="3A4050"/>
                </a:solidFill>
                <a:latin typeface="Microsoft YaHei"/>
                <a:ea typeface="Microsoft YaHei"/>
              </a:rPr>
              <a:t>以</a:t>
            </a:r>
            <a:r>
              <a:rPr lang="en-US" sz="788">
                <a:solidFill>
                  <a:srgbClr val="3A4050"/>
                </a:solidFill>
                <a:latin typeface="Microsoft YaHei"/>
                <a:ea typeface="Microsoft YaHei"/>
              </a:rPr>
              <a:t xml:space="preserve"> HR </a:t>
            </a:r>
            <a:r>
              <a:rPr lang="zh-CN" sz="788">
                <a:solidFill>
                  <a:srgbClr val="3A4050"/>
                </a:solidFill>
                <a:latin typeface="Microsoft YaHei"/>
                <a:ea typeface="Microsoft YaHei"/>
              </a:rPr>
              <a:t>考核标的为输入，每项数据有源、类型、传输方式</a:t>
            </a:r>
            <a:endParaRPr/>
          </a:p>
        </p:txBody>
      </p:sp>
      <p:sp>
        <p:nvSpPr>
          <p:cNvPr id="2049" name=""/>
          <p:cNvSpPr/>
          <p:nvPr/>
        </p:nvSpPr>
        <p:spPr>
          <a:xfrm rot="0" flipH="0" flipV="0">
            <a:off x="10458450" y="5229225"/>
            <a:ext cx="1123950" cy="428625"/>
          </a:xfrm>
          <a:prstGeom prst="roundRect">
            <a:avLst>
              <a:gd name="adj" fmla="val 6667"/>
            </a:avLst>
          </a:prstGeom>
          <a:solidFill>
            <a:srgbClr val="F7F7F8"/>
          </a:solidFill>
          <a:ln/>
        </p:spPr>
        <p:txBody>
          <a:bodyPr/>
          <a:p/>
        </p:txBody>
      </p:sp>
      <p:sp>
        <p:nvSpPr>
          <p:cNvPr id="2050" name="" descr="{&quot;isTemplate&quot;:true,&quot;type&quot;:&quot;text&quot;}"/>
          <p:cNvSpPr txBox="1"/>
          <p:nvPr/>
        </p:nvSpPr>
        <p:spPr>
          <a:xfrm rot="0" flipH="0" flipV="0">
            <a:off x="10553700" y="5295900"/>
            <a:ext cx="933450" cy="304800"/>
          </a:xfrm>
          <a:prstGeom prst="rect"/>
        </p:spPr>
        <p:txBody>
          <a:bodyPr wrap="square" lIns="0" tIns="0" rIns="0" bIns="0">
            <a:normAutofit/>
          </a:bodyPr>
          <a:p>
            <a:pPr>
              <a:lnSpc>
                <a:spcPct val="130000"/>
              </a:lnSpc>
            </a:pPr>
            <a:r>
              <a:rPr lang="en-US" sz="750">
                <a:solidFill>
                  <a:srgbClr val="5A6070"/>
                </a:solidFill>
                <a:latin typeface="Microsoft YaHei"/>
                <a:ea typeface="Microsoft YaHei"/>
              </a:rPr>
              <a:t xml:space="preserve">HR </a:t>
            </a:r>
            <a:r>
              <a:rPr lang="zh-CN" sz="750">
                <a:solidFill>
                  <a:srgbClr val="5A6070"/>
                </a:solidFill>
                <a:latin typeface="Microsoft YaHei"/>
                <a:ea typeface="Microsoft YaHei"/>
              </a:rPr>
              <a:t>未提供的部分列明并顺延</a:t>
            </a:r>
            <a:endParaRPr/>
          </a:p>
        </p:txBody>
      </p:sp>
      <p:sp>
        <p:nvSpPr>
          <p:cNvPr id="2051" name=""/>
          <p:cNvSpPr/>
          <p:nvPr/>
        </p:nvSpPr>
        <p:spPr>
          <a:xfrm rot="0" flipH="0" flipV="0">
            <a:off x="609600" y="5943600"/>
            <a:ext cx="133350" cy="133350"/>
          </a:xfrm>
          <a:prstGeom prst="rect">
            <a:avLst/>
          </a:prstGeom>
          <a:solidFill>
            <a:srgbClr val="FA4F24"/>
          </a:solidFill>
          <a:ln/>
        </p:spPr>
        <p:txBody>
          <a:bodyPr/>
          <a:p/>
        </p:txBody>
      </p:sp>
      <p:sp>
        <p:nvSpPr>
          <p:cNvPr id="2052"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2053"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34 / 36</a:t>
            </a:r>
            <a:endParaRPr/>
          </a:p>
        </p:txBody>
      </p:sp>
    </p:spTree>
  </p:cSld>
</p:sld>
</file>

<file path=ppt/slides/slide35.xml><?xml version="1.0" encoding="utf-8"?>
<p:sld xmlns:p="http://schemas.openxmlformats.org/presentationml/2006/main" xmlns:a="http://schemas.openxmlformats.org/drawingml/2006/main">
  <p:cSld>
    <p:spTree>
      <p:nvGrpSpPr>
        <p:cNvPr id="2054" name="" descr="&lt;Slide style={{ width: 1280, height: 720, background: '#FFFFFF', padding: '24px 64px 0' }}&gt;&#10;    {/* A 区 */}&#10;    &lt;Box style={{ height: 96, flexDirection: 'column', justifyContent: 'flex-start' }}&gt;&#10;        &lt;Text style={{ fontSize: 32, fontWeight: 'bold', color: '#0F1423' }}&gt;&#10;            项目风险与&lt;span style={{ color: '#FA4F24' }}&gt;前置条件&lt;/span&gt;&#10;        &lt;/Text&gt;&#10;        &lt;Text style={{ fontSize: 19, color: '#8A8F99', marginTop: 7 }}&gt;&#10;            提前把话说在前面：这几个条件不满足，方法论再对也交付不出想要的结果&#10;        &lt;/Text&gt;&#10;    &lt;/Box&gt;&#10;    &lt;Box style={{ height: 1, background: '#E8E8E8' }} /&gt;&#10;&#10;    {/* B 区 */}&#10;    &lt;Box style={{ paddingTop: 10, paddingBottom: 6, height: 479, flexDirection: 'column', gap: 8 }}&gt;&#10;        {/* 上：六项风险 */}&#10;        {[&#10;            { n: 'R1', t: '访谈排期与配合度', d: '九个部门的关键岗位骨干如果排不出时间，颗粒度一定做不到 L6——只能停在会议室层面', m: '对策：进场前锁定访谈窗口，管理层带头约人', c: '#FA4F24' },&#10;            { n: 'R2', t: '口径裁定人不明确', d: '指标与主数据的口径争议没有裁定人，方案写到一半就会卡住', m: '对策：进场首周要求指定各域数据裁定人，写进项目章程', c: '#FA4F24' },&#10;            { n: 'R3', t: 'HR 考核标的不及时', d: '交付物⑨《绩效考核业务数据清单》依赖 HR 提供考核标的、岗位、人员', m: '对策：约定提供时间；未提供则该交付物顺延并书面记录', c: '#E0641E' },&#10;            { n: 'R4', t: '单据台账拿不到实际样表', d: '只能拿到标准流程文档，写出来的现状与实际运行脱节', m: '对策：现场必看实物单据与真实系统截图，不接受文档描述', c: '#E0641E' },&#10;            { n: 'R5', t: 'AI 部署形态受合规限制', d: '数据出域与密级限制可能直接否掉部分 AI 场景', m: '对策：阶段一先划合规边界，边界内的场景优先评估', c: '#C43A17' },&#10;            { n: 'R6', t: '蓝图与现有系统改造冲突', d: '蓝图理想态与现有系统能力差距大，路线图容易被压成「先不建新系统」', m: '对策：阶段二就出演进路径与替换顺序，不回避改造', c: '#C43A17' },&#10;        ].map((x) =&gt; (&#10;            &lt;Box key={x.n} style={{ flex: 1, flexDirection: 'row', gap: 10, alignItems: 'stretch', background: '#F7F7F8', borderRadius: 4, borderLeft: '4px solid ' + x.c }}&gt;&#10;                &lt;Box style={{ width: 46, alignItems: 'center', justifyContent: 'center', flexDirection: 'row' }}&gt;&#10;                    &lt;Text style={{ fontSize: 15, fontWeight: 'bold', color: x.c }}&gt;{x.n}&lt;/Text&gt;&#10;                &lt;/Box&gt;&#10;                &lt;Box style={{ width: 174, justifyContent: 'center', flexDirection: 'column' }}&gt;&#10;                    &lt;Text style={{ fontSize: 13, fontWeight: 'bold', color: '#0F1423', lineHeight: 1.25 }}&gt;{x.t}&lt;/Text&gt;&#10;                &lt;/Box&gt;&#10;                &lt;Box style={{ flex: 1, justifyContent: 'center', flexDirection: 'column' }}&gt;&#10;                    &lt;Text style={{ fontSize: 10.5, color: '#3A4050', lineHeight: 1.35 }}&gt;{x.d}&lt;/Text&gt;&#10;                &lt;/Box&gt;&#10;                &lt;Box style={{ width: 330, background: '#FFF3EE', borderRadius: 3, padding: '0 12px', flexDirection: 'column', justifyContent: 'center' }}&gt;&#10;                    &lt;Text style={{ fontSize: 10.5, color: '#C43A17', lineHeight: 1.35 }}&gt;{x.m}&lt;/Text&gt;&#10;                &lt;/Box&gt;&#10;            &lt;/Box&gt;&#10;        ))}&#10;&#10;        {/* 下：前置条件 + 我们的承诺 */}&#10;        &lt;Box style={{ flex: 1, flexDirection: 'row', gap: 9, alignItems: 'stretch' }}&gt;&#10;            &lt;Box style={{ flex: 1, background: '#0F1423', borderRadius: 4, padding: '13px 16px', flexDirection: 'column' }}&gt;&#10;                &lt;Text style={{ fontSize: 12, color: '#FBA15C', letterSpacing: 1 }}&gt;开工前需要客户确认的六项前置条件&lt;/Text&gt;&#10;                {[&#10;                    '访谈窗口与关键岗位名单已确认',&#10;                    '各域数据口径裁定人已指定',&#10;                    'HR 考核标的提供时间已约定',&#10;                    '现场调研的实物单据与系统访问权限已开通',&#10;                    'AI 应用的合规边界已有初步共识',&#10;                    '阶段评审的客户侧评审人已明确',&#10;                ].map((t, i) =&gt; (&#10;                    &lt;Box key={t} style={{ flexDirection: 'row', alignItems: 'center', gap: 9, flex: 1, marginTop: i === 0 ? 8 : 2 }}&gt;&#10;                        &lt;Text style={{ fontSize: 10, color: '#FA4F24', fontWeight: 'bold' }}&gt;□&lt;/Text&gt;&#10;                        &lt;Text style={{ fontSize: 11.5, color: 'rgba(255,255,255,0.88)', flex: 1 }}&gt;{t}&lt;/Text&gt;&#10;                    &lt;/Box&gt;&#10;                ))}&#10;            &lt;/Box&gt;&#10;            &lt;Box style={{ flex: 1, background: '#FFF3EE', borderRadius: 4, borderLeft: '4px solid #FA4F24', padding: '13px 16px', flexDirection: 'column', justifyContent: 'center' }}&gt;&#10;                &lt;Text style={{ fontSize: 12.5, fontWeight: 'bold', color: '#C43A17' }}&gt;我们在方法论上的三条承诺&lt;/Text&gt;&#10;                &lt;Text style={{ fontSize: 11.5, color: '#3A4050', lineHeight: 1.55, marginTop: 7 }}&gt;&#10;                    一、颗粒度按第 09 页执行，不接受用「基本覆盖」这类表述模糊交付。&lt;br /&gt;&#10;                    二、全链路按第 10 页执行，需求可反向追溯回痛点原话。&lt;br /&gt;&#10;                    三、九项交付物按第 34 页逐项签收，验收要点写明，验收不过按列明的处理方式补，不整体返工。&#10;                &lt;/Text&gt;&#10;            &lt;/Box&gt;&#10;        &lt;/Box&gt;&#10;    &lt;/Box&gt;&#10;&#10;    {/* C 区 */}&#10;    &lt;Box style={{ height: 60, flexDirection: 'row', alignItems: 'center', justifyContent: 'space-between' }}&gt;&#10;        &lt;Box style={{ flexDirection: 'row', alignItems: 'center', gap: 10 }}&gt;&#10;            &lt;Box style={{ width: 14, height: 14, background: '#FA4F24' }} /&gt;&#10;            &lt;Text style={{ fontSize: 14, color: '#8A8F99' }}&gt;硕磐机密 · 利星能业务变革咨询方法论&lt;/Text&gt;&#10;        &lt;/Box&gt;&#10;        &lt;Text style={{ fontSize: 14, color: '#8A8F99' }}&gt;35 / 36&lt;/Text&gt;&#10;    &lt;/Box&gt;&#10;&lt;/Slide&gt;&#10;"/>
        <p:cNvGrpSpPr/>
        <p:nvPr/>
      </p:nvGrpSpPr>
      <p:grpSpPr>
        <a:xfrm>
          <a:off x="0" y="0"/>
          <a:ext cx="0" cy="0"/>
          <a:chOff x="0" y="0"/>
          <a:chExt cx="0" cy="0"/>
        </a:xfrm>
      </p:grpSpPr>
      <p:sp>
        <p:nvSpPr>
          <p:cNvPr id="2055" name=""/>
          <p:cNvSpPr/>
          <p:nvPr/>
        </p:nvSpPr>
        <p:spPr>
          <a:xfrm rot="0" flipH="0" flipV="0">
            <a:off x="0" y="0"/>
            <a:ext cx="12192000" cy="6858000"/>
          </a:xfrm>
          <a:prstGeom prst="rect">
            <a:avLst/>
          </a:prstGeom>
          <a:solidFill>
            <a:srgbClr val="FFFFFF"/>
          </a:solidFill>
          <a:ln/>
        </p:spPr>
        <p:txBody>
          <a:bodyPr/>
          <a:p/>
        </p:txBody>
      </p:sp>
      <p:sp>
        <p:nvSpPr>
          <p:cNvPr id="2056" name="" descr="{&quot;isTemplate&quot;:true,&quot;type&quot;:&quot;text&quot;}"/>
          <p:cNvSpPr txBox="1"/>
          <p:nvPr/>
        </p:nvSpPr>
        <p:spPr>
          <a:xfrm rot="0" flipH="0" flipV="0">
            <a:off x="609600" y="228600"/>
            <a:ext cx="10972800" cy="371475"/>
          </a:xfrm>
          <a:prstGeom prst="rect"/>
        </p:spPr>
        <p:txBody>
          <a:bodyPr wrap="none" lIns="0" tIns="0" rIns="0" bIns="0"/>
          <a:p>
            <a:pPr>
              <a:lnSpc>
                <a:spcPct val="100000"/>
              </a:lnSpc>
            </a:pPr>
            <a:r>
              <a:rPr lang="zh-CN" sz="2400" b="1">
                <a:solidFill>
                  <a:srgbClr val="0F1423"/>
                </a:solidFill>
                <a:latin typeface="Microsoft YaHei"/>
                <a:ea typeface="Microsoft YaHei"/>
              </a:rPr>
              <a:t>项目风险与</a:t>
            </a:r>
            <a:r>
              <a:rPr lang="zh-CN" sz="2400" b="1">
                <a:solidFill>
                  <a:srgbClr val="FA4F24"/>
                </a:solidFill>
                <a:latin typeface="Microsoft YaHei"/>
                <a:ea typeface="Microsoft YaHei"/>
              </a:rPr>
              <a:t>前置条件</a:t>
            </a:r>
            <a:endParaRPr/>
          </a:p>
        </p:txBody>
      </p:sp>
      <p:sp>
        <p:nvSpPr>
          <p:cNvPr id="2057" name="" descr="{&quot;isTemplate&quot;:true,&quot;type&quot;:&quot;text&quot;}"/>
          <p:cNvSpPr txBox="1"/>
          <p:nvPr/>
        </p:nvSpPr>
        <p:spPr>
          <a:xfrm rot="0" flipH="0" flipV="0">
            <a:off x="609600" y="666750"/>
            <a:ext cx="10972800" cy="219075"/>
          </a:xfrm>
          <a:prstGeom prst="rect"/>
        </p:spPr>
        <p:txBody>
          <a:bodyPr wrap="none" lIns="0" tIns="0" rIns="0" bIns="0"/>
          <a:p>
            <a:pPr>
              <a:lnSpc>
                <a:spcPct val="100000"/>
              </a:lnSpc>
            </a:pPr>
            <a:r>
              <a:rPr lang="zh-CN" sz="1425">
                <a:solidFill>
                  <a:srgbClr val="8A8F99"/>
                </a:solidFill>
                <a:latin typeface="Microsoft YaHei"/>
                <a:ea typeface="Microsoft YaHei"/>
              </a:rPr>
              <a:t>提前把话说在前面：这几个条件不满足，方法论再对也交付不出想要的结果</a:t>
            </a:r>
            <a:endParaRPr/>
          </a:p>
        </p:txBody>
      </p:sp>
      <p:sp>
        <p:nvSpPr>
          <p:cNvPr id="2058" name=""/>
          <p:cNvSpPr/>
          <p:nvPr/>
        </p:nvSpPr>
        <p:spPr>
          <a:xfrm rot="0" flipH="0" flipV="0">
            <a:off x="609600" y="1143000"/>
            <a:ext cx="10972800" cy="9525"/>
          </a:xfrm>
          <a:prstGeom prst="rect">
            <a:avLst/>
          </a:prstGeom>
          <a:solidFill>
            <a:srgbClr val="E8E8E8"/>
          </a:solidFill>
          <a:ln/>
        </p:spPr>
        <p:txBody>
          <a:bodyPr/>
          <a:p/>
        </p:txBody>
      </p:sp>
      <p:sp>
        <p:nvSpPr>
          <p:cNvPr id="2059" name=""/>
          <p:cNvSpPr/>
          <p:nvPr/>
        </p:nvSpPr>
        <p:spPr>
          <a:xfrm rot="0" flipH="0" flipV="0">
            <a:off x="647700" y="1247775"/>
            <a:ext cx="10972800" cy="400050"/>
          </a:xfrm>
          <a:prstGeom prst="roundRect">
            <a:avLst>
              <a:gd name="adj" fmla="val 9524"/>
            </a:avLst>
          </a:prstGeom>
          <a:solidFill>
            <a:srgbClr val="F7F7F8"/>
          </a:solidFill>
          <a:ln/>
        </p:spPr>
        <p:txBody>
          <a:bodyPr/>
          <a:p/>
        </p:txBody>
      </p:sp>
      <p:sp>
        <p:nvSpPr>
          <p:cNvPr id="2060" name=""/>
          <p:cNvSpPr/>
          <p:nvPr/>
        </p:nvSpPr>
        <p:spPr>
          <a:xfrm rot="0" flipH="0" flipV="0">
            <a:off x="647700" y="1247775"/>
            <a:ext cx="10972800" cy="400050"/>
          </a:xfrm>
          <a:custGeom>
            <a:pathLst>
              <a:path w="1152" h="42">
                <a:moveTo>
                  <a:pt x="4" y="42"/>
                </a:moveTo>
                <a:cubicBezTo>
                  <a:pt x="2" y="42"/>
                  <a:pt x="0" y="40"/>
                  <a:pt x="0" y="38"/>
                </a:cubicBezTo>
                <a:lnTo>
                  <a:pt x="0" y="4"/>
                </a:lnTo>
                <a:cubicBezTo>
                  <a:pt x="0" y="2"/>
                  <a:pt x="2" y="0"/>
                  <a:pt x="4" y="0"/>
                </a:cubicBezTo>
                <a:lnTo>
                  <a:pt x="4" y="42"/>
                </a:lnTo>
                <a:close/>
              </a:path>
            </a:pathLst>
          </a:custGeom>
          <a:solidFill>
            <a:srgbClr val="FA4F24"/>
          </a:solidFill>
          <a:ln/>
        </p:spPr>
        <p:txBody>
          <a:bodyPr/>
          <a:p/>
        </p:txBody>
      </p:sp>
      <p:sp>
        <p:nvSpPr>
          <p:cNvPr id="2061" name="" descr="{&quot;isTemplate&quot;:true,&quot;type&quot;:&quot;text&quot;}"/>
          <p:cNvSpPr txBox="1"/>
          <p:nvPr/>
        </p:nvSpPr>
        <p:spPr>
          <a:xfrm rot="0" flipH="0" flipV="0">
            <a:off x="771525" y="1362075"/>
            <a:ext cx="190500" cy="171450"/>
          </a:xfrm>
          <a:prstGeom prst="rect"/>
        </p:spPr>
        <p:txBody>
          <a:bodyPr wrap="none" lIns="0" tIns="0" rIns="0" bIns="0"/>
          <a:p>
            <a:pPr>
              <a:lnSpc>
                <a:spcPct val="100000"/>
              </a:lnSpc>
            </a:pPr>
            <a:r>
              <a:rPr lang="en-US" sz="1125" b="1">
                <a:solidFill>
                  <a:srgbClr val="FA4F24"/>
                </a:solidFill>
                <a:latin typeface="Microsoft YaHei"/>
                <a:ea typeface="Microsoft YaHei"/>
              </a:rPr>
              <a:t>R1</a:t>
            </a:r>
            <a:endParaRPr/>
          </a:p>
        </p:txBody>
      </p:sp>
      <p:sp>
        <p:nvSpPr>
          <p:cNvPr id="2062" name="" descr="{&quot;isTemplate&quot;:true,&quot;type&quot;:&quot;text&quot;}"/>
          <p:cNvSpPr txBox="1"/>
          <p:nvPr/>
        </p:nvSpPr>
        <p:spPr>
          <a:xfrm rot="0" flipH="0" flipV="0">
            <a:off x="1181100" y="1352550"/>
            <a:ext cx="1657350" cy="190500"/>
          </a:xfrm>
          <a:prstGeom prst="rect"/>
        </p:spPr>
        <p:txBody>
          <a:bodyPr wrap="none" lIns="0" tIns="0" rIns="0" bIns="0"/>
          <a:p>
            <a:pPr>
              <a:lnSpc>
                <a:spcPct val="125000"/>
              </a:lnSpc>
            </a:pPr>
            <a:r>
              <a:rPr lang="zh-CN" sz="975" b="1">
                <a:solidFill>
                  <a:srgbClr val="0F1423"/>
                </a:solidFill>
                <a:latin typeface="Microsoft YaHei"/>
                <a:ea typeface="Microsoft YaHei"/>
              </a:rPr>
              <a:t>访谈排期与配合度</a:t>
            </a:r>
            <a:endParaRPr/>
          </a:p>
        </p:txBody>
      </p:sp>
      <p:sp>
        <p:nvSpPr>
          <p:cNvPr id="2063" name="" descr="{&quot;isTemplate&quot;:true,&quot;type&quot;:&quot;text&quot;}"/>
          <p:cNvSpPr txBox="1"/>
          <p:nvPr/>
        </p:nvSpPr>
        <p:spPr>
          <a:xfrm rot="0" flipH="0" flipV="0">
            <a:off x="2933700" y="1362075"/>
            <a:ext cx="5410200" cy="171450"/>
          </a:xfrm>
          <a:prstGeom prst="rect"/>
        </p:spPr>
        <p:txBody>
          <a:bodyPr wrap="none" lIns="0" tIns="0" rIns="0" bIns="0"/>
          <a:p>
            <a:pPr>
              <a:lnSpc>
                <a:spcPct val="135000"/>
              </a:lnSpc>
            </a:pPr>
            <a:r>
              <a:rPr lang="zh-CN" sz="788">
                <a:solidFill>
                  <a:srgbClr val="3A4050"/>
                </a:solidFill>
                <a:latin typeface="Microsoft YaHei"/>
                <a:ea typeface="Microsoft YaHei"/>
              </a:rPr>
              <a:t>九个部门的关键岗位骨干如果排不出时间，颗粒度一定做不到</a:t>
            </a:r>
            <a:r>
              <a:rPr lang="en-US" sz="788">
                <a:solidFill>
                  <a:srgbClr val="3A4050"/>
                </a:solidFill>
                <a:latin typeface="Microsoft YaHei"/>
                <a:ea typeface="Microsoft YaHei"/>
              </a:rPr>
              <a:t xml:space="preserve"> L6——</a:t>
            </a:r>
            <a:r>
              <a:rPr lang="zh-CN" sz="788">
                <a:solidFill>
                  <a:srgbClr val="3A4050"/>
                </a:solidFill>
                <a:latin typeface="Microsoft YaHei"/>
                <a:ea typeface="Microsoft YaHei"/>
              </a:rPr>
              <a:t>只能停在会议室层面</a:t>
            </a:r>
            <a:endParaRPr/>
          </a:p>
        </p:txBody>
      </p:sp>
      <p:sp>
        <p:nvSpPr>
          <p:cNvPr id="2064" name=""/>
          <p:cNvSpPr/>
          <p:nvPr/>
        </p:nvSpPr>
        <p:spPr>
          <a:xfrm rot="0" flipH="0" flipV="0">
            <a:off x="8439150" y="1247775"/>
            <a:ext cx="3143250" cy="400050"/>
          </a:xfrm>
          <a:prstGeom prst="roundRect">
            <a:avLst>
              <a:gd name="adj" fmla="val 7143"/>
            </a:avLst>
          </a:prstGeom>
          <a:solidFill>
            <a:srgbClr val="FFF3EE"/>
          </a:solidFill>
          <a:ln/>
        </p:spPr>
        <p:txBody>
          <a:bodyPr/>
          <a:p/>
        </p:txBody>
      </p:sp>
      <p:sp>
        <p:nvSpPr>
          <p:cNvPr id="2065" name="" descr="{&quot;isTemplate&quot;:true,&quot;type&quot;:&quot;text&quot;}"/>
          <p:cNvSpPr txBox="1"/>
          <p:nvPr/>
        </p:nvSpPr>
        <p:spPr>
          <a:xfrm rot="0" flipH="0" flipV="0">
            <a:off x="8553450" y="1362075"/>
            <a:ext cx="2914650" cy="171450"/>
          </a:xfrm>
          <a:prstGeom prst="rect"/>
        </p:spPr>
        <p:txBody>
          <a:bodyPr wrap="none" lIns="0" tIns="0" rIns="0" bIns="0"/>
          <a:p>
            <a:pPr>
              <a:lnSpc>
                <a:spcPct val="135000"/>
              </a:lnSpc>
            </a:pPr>
            <a:r>
              <a:rPr lang="zh-CN" sz="788">
                <a:solidFill>
                  <a:srgbClr val="C43A17"/>
                </a:solidFill>
                <a:latin typeface="Microsoft YaHei"/>
                <a:ea typeface="Microsoft YaHei"/>
              </a:rPr>
              <a:t>对策：进场前锁定访谈窗口，管理层带头约人</a:t>
            </a:r>
            <a:endParaRPr/>
          </a:p>
        </p:txBody>
      </p:sp>
      <p:sp>
        <p:nvSpPr>
          <p:cNvPr id="2066" name=""/>
          <p:cNvSpPr/>
          <p:nvPr/>
        </p:nvSpPr>
        <p:spPr>
          <a:xfrm rot="0" flipH="0" flipV="0">
            <a:off x="647700" y="1724025"/>
            <a:ext cx="10972800" cy="390525"/>
          </a:xfrm>
          <a:prstGeom prst="roundRect">
            <a:avLst>
              <a:gd name="adj" fmla="val 9756"/>
            </a:avLst>
          </a:prstGeom>
          <a:solidFill>
            <a:srgbClr val="F7F7F8"/>
          </a:solidFill>
          <a:ln/>
        </p:spPr>
        <p:txBody>
          <a:bodyPr/>
          <a:p/>
        </p:txBody>
      </p:sp>
      <p:sp>
        <p:nvSpPr>
          <p:cNvPr id="2067" name=""/>
          <p:cNvSpPr/>
          <p:nvPr/>
        </p:nvSpPr>
        <p:spPr>
          <a:xfrm rot="0" flipH="0" flipV="0">
            <a:off x="647700" y="1724025"/>
            <a:ext cx="10972800" cy="390525"/>
          </a:xfrm>
          <a:custGeom>
            <a:pathLst>
              <a:path w="1152" h="41">
                <a:moveTo>
                  <a:pt x="4" y="41"/>
                </a:moveTo>
                <a:cubicBezTo>
                  <a:pt x="2" y="41"/>
                  <a:pt x="0" y="39"/>
                  <a:pt x="0" y="37"/>
                </a:cubicBezTo>
                <a:lnTo>
                  <a:pt x="0" y="4"/>
                </a:lnTo>
                <a:cubicBezTo>
                  <a:pt x="0" y="2"/>
                  <a:pt x="2" y="0"/>
                  <a:pt x="4" y="0"/>
                </a:cubicBezTo>
                <a:lnTo>
                  <a:pt x="4" y="41"/>
                </a:lnTo>
                <a:close/>
              </a:path>
            </a:pathLst>
          </a:custGeom>
          <a:solidFill>
            <a:srgbClr val="FA4F24"/>
          </a:solidFill>
          <a:ln/>
        </p:spPr>
        <p:txBody>
          <a:bodyPr/>
          <a:p/>
        </p:txBody>
      </p:sp>
      <p:sp>
        <p:nvSpPr>
          <p:cNvPr id="2068" name="" descr="{&quot;isTemplate&quot;:true,&quot;type&quot;:&quot;text&quot;}"/>
          <p:cNvSpPr txBox="1"/>
          <p:nvPr/>
        </p:nvSpPr>
        <p:spPr>
          <a:xfrm rot="0" flipH="0" flipV="0">
            <a:off x="771525" y="1838325"/>
            <a:ext cx="190500" cy="171450"/>
          </a:xfrm>
          <a:prstGeom prst="rect"/>
        </p:spPr>
        <p:txBody>
          <a:bodyPr wrap="none" lIns="0" tIns="0" rIns="0" bIns="0"/>
          <a:p>
            <a:pPr>
              <a:lnSpc>
                <a:spcPct val="100000"/>
              </a:lnSpc>
            </a:pPr>
            <a:r>
              <a:rPr lang="en-US" sz="1125" b="1">
                <a:solidFill>
                  <a:srgbClr val="FA4F24"/>
                </a:solidFill>
                <a:latin typeface="Microsoft YaHei"/>
                <a:ea typeface="Microsoft YaHei"/>
              </a:rPr>
              <a:t>R2</a:t>
            </a:r>
            <a:endParaRPr/>
          </a:p>
        </p:txBody>
      </p:sp>
      <p:sp>
        <p:nvSpPr>
          <p:cNvPr id="2069" name="" descr="{&quot;isTemplate&quot;:true,&quot;type&quot;:&quot;text&quot;}"/>
          <p:cNvSpPr txBox="1"/>
          <p:nvPr/>
        </p:nvSpPr>
        <p:spPr>
          <a:xfrm rot="0" flipH="0" flipV="0">
            <a:off x="1181100" y="1828800"/>
            <a:ext cx="1657350" cy="190500"/>
          </a:xfrm>
          <a:prstGeom prst="rect"/>
        </p:spPr>
        <p:txBody>
          <a:bodyPr wrap="none" lIns="0" tIns="0" rIns="0" bIns="0"/>
          <a:p>
            <a:pPr>
              <a:lnSpc>
                <a:spcPct val="125000"/>
              </a:lnSpc>
            </a:pPr>
            <a:r>
              <a:rPr lang="zh-CN" sz="975" b="1">
                <a:solidFill>
                  <a:srgbClr val="0F1423"/>
                </a:solidFill>
                <a:latin typeface="Microsoft YaHei"/>
                <a:ea typeface="Microsoft YaHei"/>
              </a:rPr>
              <a:t>口径裁定人不明确</a:t>
            </a:r>
            <a:endParaRPr/>
          </a:p>
        </p:txBody>
      </p:sp>
      <p:sp>
        <p:nvSpPr>
          <p:cNvPr id="2070" name="" descr="{&quot;isTemplate&quot;:true,&quot;type&quot;:&quot;text&quot;}"/>
          <p:cNvSpPr txBox="1"/>
          <p:nvPr/>
        </p:nvSpPr>
        <p:spPr>
          <a:xfrm rot="0" flipH="0" flipV="0">
            <a:off x="2933700" y="1838325"/>
            <a:ext cx="5410200" cy="171450"/>
          </a:xfrm>
          <a:prstGeom prst="rect"/>
        </p:spPr>
        <p:txBody>
          <a:bodyPr wrap="none" lIns="0" tIns="0" rIns="0" bIns="0"/>
          <a:p>
            <a:pPr>
              <a:lnSpc>
                <a:spcPct val="135000"/>
              </a:lnSpc>
            </a:pPr>
            <a:r>
              <a:rPr lang="zh-CN" sz="788">
                <a:solidFill>
                  <a:srgbClr val="3A4050"/>
                </a:solidFill>
                <a:latin typeface="Microsoft YaHei"/>
                <a:ea typeface="Microsoft YaHei"/>
              </a:rPr>
              <a:t>指标与主数据的口径争议没有裁定人，方案写到一半就会卡住</a:t>
            </a:r>
            <a:endParaRPr/>
          </a:p>
        </p:txBody>
      </p:sp>
      <p:sp>
        <p:nvSpPr>
          <p:cNvPr id="2071" name=""/>
          <p:cNvSpPr/>
          <p:nvPr/>
        </p:nvSpPr>
        <p:spPr>
          <a:xfrm rot="0" flipH="0" flipV="0">
            <a:off x="8439150" y="1724025"/>
            <a:ext cx="3143250" cy="390525"/>
          </a:xfrm>
          <a:prstGeom prst="roundRect">
            <a:avLst>
              <a:gd name="adj" fmla="val 7317"/>
            </a:avLst>
          </a:prstGeom>
          <a:solidFill>
            <a:srgbClr val="FFF3EE"/>
          </a:solidFill>
          <a:ln/>
        </p:spPr>
        <p:txBody>
          <a:bodyPr/>
          <a:p/>
        </p:txBody>
      </p:sp>
      <p:sp>
        <p:nvSpPr>
          <p:cNvPr id="2072" name="" descr="{&quot;isTemplate&quot;:true,&quot;type&quot;:&quot;text&quot;}"/>
          <p:cNvSpPr txBox="1"/>
          <p:nvPr/>
        </p:nvSpPr>
        <p:spPr>
          <a:xfrm rot="0" flipH="0" flipV="0">
            <a:off x="8553450" y="1838325"/>
            <a:ext cx="2914650" cy="171450"/>
          </a:xfrm>
          <a:prstGeom prst="rect"/>
        </p:spPr>
        <p:txBody>
          <a:bodyPr wrap="none" lIns="0" tIns="0" rIns="0" bIns="0"/>
          <a:p>
            <a:pPr>
              <a:lnSpc>
                <a:spcPct val="135000"/>
              </a:lnSpc>
            </a:pPr>
            <a:r>
              <a:rPr lang="zh-CN" sz="788">
                <a:solidFill>
                  <a:srgbClr val="C43A17"/>
                </a:solidFill>
                <a:latin typeface="Microsoft YaHei"/>
                <a:ea typeface="Microsoft YaHei"/>
              </a:rPr>
              <a:t>对策：进场首周要求指定各域数据裁定人，写进项目章程</a:t>
            </a:r>
            <a:endParaRPr/>
          </a:p>
        </p:txBody>
      </p:sp>
      <p:sp>
        <p:nvSpPr>
          <p:cNvPr id="2073" name=""/>
          <p:cNvSpPr/>
          <p:nvPr/>
        </p:nvSpPr>
        <p:spPr>
          <a:xfrm rot="0" flipH="0" flipV="0">
            <a:off x="647700" y="2190750"/>
            <a:ext cx="10972800" cy="400050"/>
          </a:xfrm>
          <a:prstGeom prst="roundRect">
            <a:avLst>
              <a:gd name="adj" fmla="val 9524"/>
            </a:avLst>
          </a:prstGeom>
          <a:solidFill>
            <a:srgbClr val="F7F7F8"/>
          </a:solidFill>
          <a:ln/>
        </p:spPr>
        <p:txBody>
          <a:bodyPr/>
          <a:p/>
        </p:txBody>
      </p:sp>
      <p:sp>
        <p:nvSpPr>
          <p:cNvPr id="2074" name=""/>
          <p:cNvSpPr/>
          <p:nvPr/>
        </p:nvSpPr>
        <p:spPr>
          <a:xfrm rot="0" flipH="0" flipV="0">
            <a:off x="647700" y="2190750"/>
            <a:ext cx="10972800" cy="400050"/>
          </a:xfrm>
          <a:custGeom>
            <a:pathLst>
              <a:path w="1152" h="42">
                <a:moveTo>
                  <a:pt x="4" y="42"/>
                </a:moveTo>
                <a:cubicBezTo>
                  <a:pt x="2" y="42"/>
                  <a:pt x="0" y="40"/>
                  <a:pt x="0" y="38"/>
                </a:cubicBezTo>
                <a:lnTo>
                  <a:pt x="0" y="4"/>
                </a:lnTo>
                <a:cubicBezTo>
                  <a:pt x="0" y="2"/>
                  <a:pt x="2" y="0"/>
                  <a:pt x="4" y="0"/>
                </a:cubicBezTo>
                <a:lnTo>
                  <a:pt x="4" y="42"/>
                </a:lnTo>
                <a:close/>
              </a:path>
            </a:pathLst>
          </a:custGeom>
          <a:solidFill>
            <a:srgbClr val="E0641E"/>
          </a:solidFill>
          <a:ln/>
        </p:spPr>
        <p:txBody>
          <a:bodyPr/>
          <a:p/>
        </p:txBody>
      </p:sp>
      <p:sp>
        <p:nvSpPr>
          <p:cNvPr id="2075" name="" descr="{&quot;isTemplate&quot;:true,&quot;type&quot;:&quot;text&quot;}"/>
          <p:cNvSpPr txBox="1"/>
          <p:nvPr/>
        </p:nvSpPr>
        <p:spPr>
          <a:xfrm rot="0" flipH="0" flipV="0">
            <a:off x="771525" y="2305050"/>
            <a:ext cx="190500" cy="171450"/>
          </a:xfrm>
          <a:prstGeom prst="rect"/>
        </p:spPr>
        <p:txBody>
          <a:bodyPr wrap="none" lIns="0" tIns="0" rIns="0" bIns="0"/>
          <a:p>
            <a:pPr>
              <a:lnSpc>
                <a:spcPct val="100000"/>
              </a:lnSpc>
            </a:pPr>
            <a:r>
              <a:rPr lang="en-US" sz="1125" b="1">
                <a:solidFill>
                  <a:srgbClr val="E0641E"/>
                </a:solidFill>
                <a:latin typeface="Microsoft YaHei"/>
                <a:ea typeface="Microsoft YaHei"/>
              </a:rPr>
              <a:t>R3</a:t>
            </a:r>
            <a:endParaRPr/>
          </a:p>
        </p:txBody>
      </p:sp>
      <p:sp>
        <p:nvSpPr>
          <p:cNvPr id="2076" name="" descr="{&quot;isTemplate&quot;:true,&quot;type&quot;:&quot;text&quot;}"/>
          <p:cNvSpPr txBox="1"/>
          <p:nvPr/>
        </p:nvSpPr>
        <p:spPr>
          <a:xfrm rot="0" flipH="0" flipV="0">
            <a:off x="1181100" y="2295525"/>
            <a:ext cx="1657350" cy="190500"/>
          </a:xfrm>
          <a:prstGeom prst="rect"/>
        </p:spPr>
        <p:txBody>
          <a:bodyPr wrap="none" lIns="0" tIns="0" rIns="0" bIns="0"/>
          <a:p>
            <a:pPr>
              <a:lnSpc>
                <a:spcPct val="125000"/>
              </a:lnSpc>
            </a:pPr>
            <a:r>
              <a:rPr lang="en-US" sz="975" b="1">
                <a:solidFill>
                  <a:srgbClr val="0F1423"/>
                </a:solidFill>
                <a:latin typeface="Microsoft YaHei"/>
                <a:ea typeface="Microsoft YaHei"/>
              </a:rPr>
              <a:t xml:space="preserve">HR </a:t>
            </a:r>
            <a:r>
              <a:rPr lang="zh-CN" sz="975" b="1">
                <a:solidFill>
                  <a:srgbClr val="0F1423"/>
                </a:solidFill>
                <a:latin typeface="Microsoft YaHei"/>
                <a:ea typeface="Microsoft YaHei"/>
              </a:rPr>
              <a:t>考核标的不及时</a:t>
            </a:r>
            <a:endParaRPr/>
          </a:p>
        </p:txBody>
      </p:sp>
      <p:sp>
        <p:nvSpPr>
          <p:cNvPr id="2077" name="" descr="{&quot;isTemplate&quot;:true,&quot;type&quot;:&quot;text&quot;}"/>
          <p:cNvSpPr txBox="1"/>
          <p:nvPr/>
        </p:nvSpPr>
        <p:spPr>
          <a:xfrm rot="0" flipH="0" flipV="0">
            <a:off x="2933700" y="2305050"/>
            <a:ext cx="5410200" cy="171450"/>
          </a:xfrm>
          <a:prstGeom prst="rect"/>
        </p:spPr>
        <p:txBody>
          <a:bodyPr wrap="none" lIns="0" tIns="0" rIns="0" bIns="0"/>
          <a:p>
            <a:pPr>
              <a:lnSpc>
                <a:spcPct val="135000"/>
              </a:lnSpc>
            </a:pPr>
            <a:r>
              <a:rPr lang="zh-CN" sz="788">
                <a:solidFill>
                  <a:srgbClr val="3A4050"/>
                </a:solidFill>
                <a:latin typeface="Microsoft YaHei"/>
                <a:ea typeface="Microsoft YaHei"/>
              </a:rPr>
              <a:t>交付物⑨《绩效考核业务数据清单》依赖</a:t>
            </a:r>
            <a:r>
              <a:rPr lang="en-US" sz="788">
                <a:solidFill>
                  <a:srgbClr val="3A4050"/>
                </a:solidFill>
                <a:latin typeface="Microsoft YaHei"/>
                <a:ea typeface="Microsoft YaHei"/>
              </a:rPr>
              <a:t xml:space="preserve"> HR </a:t>
            </a:r>
            <a:r>
              <a:rPr lang="zh-CN" sz="788">
                <a:solidFill>
                  <a:srgbClr val="3A4050"/>
                </a:solidFill>
                <a:latin typeface="Microsoft YaHei"/>
                <a:ea typeface="Microsoft YaHei"/>
              </a:rPr>
              <a:t>提供考核标的、岗位、人员</a:t>
            </a:r>
            <a:endParaRPr/>
          </a:p>
        </p:txBody>
      </p:sp>
      <p:sp>
        <p:nvSpPr>
          <p:cNvPr id="2078" name=""/>
          <p:cNvSpPr/>
          <p:nvPr/>
        </p:nvSpPr>
        <p:spPr>
          <a:xfrm rot="0" flipH="0" flipV="0">
            <a:off x="8439150" y="2190750"/>
            <a:ext cx="3143250" cy="400050"/>
          </a:xfrm>
          <a:prstGeom prst="roundRect">
            <a:avLst>
              <a:gd name="adj" fmla="val 7143"/>
            </a:avLst>
          </a:prstGeom>
          <a:solidFill>
            <a:srgbClr val="FFF3EE"/>
          </a:solidFill>
          <a:ln/>
        </p:spPr>
        <p:txBody>
          <a:bodyPr/>
          <a:p/>
        </p:txBody>
      </p:sp>
      <p:sp>
        <p:nvSpPr>
          <p:cNvPr id="2079" name="" descr="{&quot;isTemplate&quot;:true,&quot;type&quot;:&quot;text&quot;}"/>
          <p:cNvSpPr txBox="1"/>
          <p:nvPr/>
        </p:nvSpPr>
        <p:spPr>
          <a:xfrm rot="0" flipH="0" flipV="0">
            <a:off x="8553450" y="2305050"/>
            <a:ext cx="2914650" cy="171450"/>
          </a:xfrm>
          <a:prstGeom prst="rect"/>
        </p:spPr>
        <p:txBody>
          <a:bodyPr wrap="none" lIns="0" tIns="0" rIns="0" bIns="0"/>
          <a:p>
            <a:pPr>
              <a:lnSpc>
                <a:spcPct val="135000"/>
              </a:lnSpc>
            </a:pPr>
            <a:r>
              <a:rPr lang="zh-CN" sz="788">
                <a:solidFill>
                  <a:srgbClr val="C43A17"/>
                </a:solidFill>
                <a:latin typeface="Microsoft YaHei"/>
                <a:ea typeface="Microsoft YaHei"/>
              </a:rPr>
              <a:t>对策：约定提供时间；未提供则该交付物顺延并书面记录</a:t>
            </a:r>
            <a:endParaRPr/>
          </a:p>
        </p:txBody>
      </p:sp>
      <p:sp>
        <p:nvSpPr>
          <p:cNvPr id="2080" name=""/>
          <p:cNvSpPr/>
          <p:nvPr/>
        </p:nvSpPr>
        <p:spPr>
          <a:xfrm rot="0" flipH="0" flipV="0">
            <a:off x="647700" y="2667000"/>
            <a:ext cx="10972800" cy="400050"/>
          </a:xfrm>
          <a:prstGeom prst="roundRect">
            <a:avLst>
              <a:gd name="adj" fmla="val 9524"/>
            </a:avLst>
          </a:prstGeom>
          <a:solidFill>
            <a:srgbClr val="F7F7F8"/>
          </a:solidFill>
          <a:ln/>
        </p:spPr>
        <p:txBody>
          <a:bodyPr/>
          <a:p/>
        </p:txBody>
      </p:sp>
      <p:sp>
        <p:nvSpPr>
          <p:cNvPr id="2081" name=""/>
          <p:cNvSpPr/>
          <p:nvPr/>
        </p:nvSpPr>
        <p:spPr>
          <a:xfrm rot="0" flipH="0" flipV="0">
            <a:off x="647700" y="2667000"/>
            <a:ext cx="10972800" cy="400050"/>
          </a:xfrm>
          <a:custGeom>
            <a:pathLst>
              <a:path w="1152" h="42">
                <a:moveTo>
                  <a:pt x="4" y="42"/>
                </a:moveTo>
                <a:cubicBezTo>
                  <a:pt x="2" y="42"/>
                  <a:pt x="0" y="40"/>
                  <a:pt x="0" y="38"/>
                </a:cubicBezTo>
                <a:lnTo>
                  <a:pt x="0" y="4"/>
                </a:lnTo>
                <a:cubicBezTo>
                  <a:pt x="0" y="2"/>
                  <a:pt x="2" y="0"/>
                  <a:pt x="4" y="0"/>
                </a:cubicBezTo>
                <a:lnTo>
                  <a:pt x="4" y="42"/>
                </a:lnTo>
                <a:close/>
              </a:path>
            </a:pathLst>
          </a:custGeom>
          <a:solidFill>
            <a:srgbClr val="E0641E"/>
          </a:solidFill>
          <a:ln/>
        </p:spPr>
        <p:txBody>
          <a:bodyPr/>
          <a:p/>
        </p:txBody>
      </p:sp>
      <p:sp>
        <p:nvSpPr>
          <p:cNvPr id="2082" name="" descr="{&quot;isTemplate&quot;:true,&quot;type&quot;:&quot;text&quot;}"/>
          <p:cNvSpPr txBox="1"/>
          <p:nvPr/>
        </p:nvSpPr>
        <p:spPr>
          <a:xfrm rot="0" flipH="0" flipV="0">
            <a:off x="771525" y="2781300"/>
            <a:ext cx="190500" cy="171450"/>
          </a:xfrm>
          <a:prstGeom prst="rect"/>
        </p:spPr>
        <p:txBody>
          <a:bodyPr wrap="none" lIns="0" tIns="0" rIns="0" bIns="0"/>
          <a:p>
            <a:pPr>
              <a:lnSpc>
                <a:spcPct val="100000"/>
              </a:lnSpc>
            </a:pPr>
            <a:r>
              <a:rPr lang="en-US" sz="1125" b="1">
                <a:solidFill>
                  <a:srgbClr val="E0641E"/>
                </a:solidFill>
                <a:latin typeface="Microsoft YaHei"/>
                <a:ea typeface="Microsoft YaHei"/>
              </a:rPr>
              <a:t>R4</a:t>
            </a:r>
            <a:endParaRPr/>
          </a:p>
        </p:txBody>
      </p:sp>
      <p:sp>
        <p:nvSpPr>
          <p:cNvPr id="2083" name="" descr="{&quot;isTemplate&quot;:true,&quot;type&quot;:&quot;text&quot;}"/>
          <p:cNvSpPr txBox="1"/>
          <p:nvPr/>
        </p:nvSpPr>
        <p:spPr>
          <a:xfrm rot="0" flipH="0" flipV="0">
            <a:off x="1181100" y="2771775"/>
            <a:ext cx="1657350" cy="190500"/>
          </a:xfrm>
          <a:prstGeom prst="rect"/>
        </p:spPr>
        <p:txBody>
          <a:bodyPr wrap="none" lIns="0" tIns="0" rIns="0" bIns="0"/>
          <a:p>
            <a:pPr>
              <a:lnSpc>
                <a:spcPct val="125000"/>
              </a:lnSpc>
            </a:pPr>
            <a:r>
              <a:rPr lang="zh-CN" sz="975" b="1">
                <a:solidFill>
                  <a:srgbClr val="0F1423"/>
                </a:solidFill>
                <a:latin typeface="Microsoft YaHei"/>
                <a:ea typeface="Microsoft YaHei"/>
              </a:rPr>
              <a:t>单据台账拿不到实际样表</a:t>
            </a:r>
            <a:endParaRPr/>
          </a:p>
        </p:txBody>
      </p:sp>
      <p:sp>
        <p:nvSpPr>
          <p:cNvPr id="2084" name="" descr="{&quot;isTemplate&quot;:true,&quot;type&quot;:&quot;text&quot;}"/>
          <p:cNvSpPr txBox="1"/>
          <p:nvPr/>
        </p:nvSpPr>
        <p:spPr>
          <a:xfrm rot="0" flipH="0" flipV="0">
            <a:off x="2933700" y="2781300"/>
            <a:ext cx="5410200" cy="171450"/>
          </a:xfrm>
          <a:prstGeom prst="rect"/>
        </p:spPr>
        <p:txBody>
          <a:bodyPr wrap="none" lIns="0" tIns="0" rIns="0" bIns="0"/>
          <a:p>
            <a:pPr>
              <a:lnSpc>
                <a:spcPct val="135000"/>
              </a:lnSpc>
            </a:pPr>
            <a:r>
              <a:rPr lang="zh-CN" sz="788">
                <a:solidFill>
                  <a:srgbClr val="3A4050"/>
                </a:solidFill>
                <a:latin typeface="Microsoft YaHei"/>
                <a:ea typeface="Microsoft YaHei"/>
              </a:rPr>
              <a:t>只能拿到标准流程文档，写出来的现状与实际运行脱节</a:t>
            </a:r>
            <a:endParaRPr/>
          </a:p>
        </p:txBody>
      </p:sp>
      <p:sp>
        <p:nvSpPr>
          <p:cNvPr id="2085" name=""/>
          <p:cNvSpPr/>
          <p:nvPr/>
        </p:nvSpPr>
        <p:spPr>
          <a:xfrm rot="0" flipH="0" flipV="0">
            <a:off x="8439150" y="2667000"/>
            <a:ext cx="3143250" cy="400050"/>
          </a:xfrm>
          <a:prstGeom prst="roundRect">
            <a:avLst>
              <a:gd name="adj" fmla="val 7143"/>
            </a:avLst>
          </a:prstGeom>
          <a:solidFill>
            <a:srgbClr val="FFF3EE"/>
          </a:solidFill>
          <a:ln/>
        </p:spPr>
        <p:txBody>
          <a:bodyPr/>
          <a:p/>
        </p:txBody>
      </p:sp>
      <p:sp>
        <p:nvSpPr>
          <p:cNvPr id="2086" name="" descr="{&quot;isTemplate&quot;:true,&quot;type&quot;:&quot;text&quot;}"/>
          <p:cNvSpPr txBox="1"/>
          <p:nvPr/>
        </p:nvSpPr>
        <p:spPr>
          <a:xfrm rot="0" flipH="0" flipV="0">
            <a:off x="8553450" y="2781300"/>
            <a:ext cx="2914650" cy="171450"/>
          </a:xfrm>
          <a:prstGeom prst="rect"/>
        </p:spPr>
        <p:txBody>
          <a:bodyPr wrap="none" lIns="0" tIns="0" rIns="0" bIns="0"/>
          <a:p>
            <a:pPr>
              <a:lnSpc>
                <a:spcPct val="135000"/>
              </a:lnSpc>
            </a:pPr>
            <a:r>
              <a:rPr lang="zh-CN" sz="788">
                <a:solidFill>
                  <a:srgbClr val="C43A17"/>
                </a:solidFill>
                <a:latin typeface="Microsoft YaHei"/>
                <a:ea typeface="Microsoft YaHei"/>
              </a:rPr>
              <a:t>对策：现场必看实物单据与真实系统截图，不接受文档描述</a:t>
            </a:r>
            <a:endParaRPr/>
          </a:p>
        </p:txBody>
      </p:sp>
      <p:sp>
        <p:nvSpPr>
          <p:cNvPr id="2087" name=""/>
          <p:cNvSpPr/>
          <p:nvPr/>
        </p:nvSpPr>
        <p:spPr>
          <a:xfrm rot="0" flipH="0" flipV="0">
            <a:off x="647700" y="3143250"/>
            <a:ext cx="10972800" cy="400050"/>
          </a:xfrm>
          <a:prstGeom prst="roundRect">
            <a:avLst>
              <a:gd name="adj" fmla="val 9524"/>
            </a:avLst>
          </a:prstGeom>
          <a:solidFill>
            <a:srgbClr val="F7F7F8"/>
          </a:solidFill>
          <a:ln/>
        </p:spPr>
        <p:txBody>
          <a:bodyPr/>
          <a:p/>
        </p:txBody>
      </p:sp>
      <p:sp>
        <p:nvSpPr>
          <p:cNvPr id="2088" name=""/>
          <p:cNvSpPr/>
          <p:nvPr/>
        </p:nvSpPr>
        <p:spPr>
          <a:xfrm rot="0" flipH="0" flipV="0">
            <a:off x="647700" y="3143250"/>
            <a:ext cx="10972800" cy="400050"/>
          </a:xfrm>
          <a:custGeom>
            <a:pathLst>
              <a:path w="1152" h="42">
                <a:moveTo>
                  <a:pt x="4" y="42"/>
                </a:moveTo>
                <a:cubicBezTo>
                  <a:pt x="2" y="42"/>
                  <a:pt x="0" y="40"/>
                  <a:pt x="0" y="38"/>
                </a:cubicBezTo>
                <a:lnTo>
                  <a:pt x="0" y="4"/>
                </a:lnTo>
                <a:cubicBezTo>
                  <a:pt x="0" y="2"/>
                  <a:pt x="2" y="0"/>
                  <a:pt x="4" y="0"/>
                </a:cubicBezTo>
                <a:lnTo>
                  <a:pt x="4" y="42"/>
                </a:lnTo>
                <a:close/>
              </a:path>
            </a:pathLst>
          </a:custGeom>
          <a:solidFill>
            <a:srgbClr val="C43A17"/>
          </a:solidFill>
          <a:ln/>
        </p:spPr>
        <p:txBody>
          <a:bodyPr/>
          <a:p/>
        </p:txBody>
      </p:sp>
      <p:sp>
        <p:nvSpPr>
          <p:cNvPr id="2089" name="" descr="{&quot;isTemplate&quot;:true,&quot;type&quot;:&quot;text&quot;}"/>
          <p:cNvSpPr txBox="1"/>
          <p:nvPr/>
        </p:nvSpPr>
        <p:spPr>
          <a:xfrm rot="0" flipH="0" flipV="0">
            <a:off x="771525" y="3257550"/>
            <a:ext cx="190500" cy="171450"/>
          </a:xfrm>
          <a:prstGeom prst="rect"/>
        </p:spPr>
        <p:txBody>
          <a:bodyPr wrap="none" lIns="0" tIns="0" rIns="0" bIns="0"/>
          <a:p>
            <a:pPr>
              <a:lnSpc>
                <a:spcPct val="100000"/>
              </a:lnSpc>
            </a:pPr>
            <a:r>
              <a:rPr lang="en-US" sz="1125" b="1">
                <a:solidFill>
                  <a:srgbClr val="C43A17"/>
                </a:solidFill>
                <a:latin typeface="Microsoft YaHei"/>
                <a:ea typeface="Microsoft YaHei"/>
              </a:rPr>
              <a:t>R5</a:t>
            </a:r>
            <a:endParaRPr/>
          </a:p>
        </p:txBody>
      </p:sp>
      <p:sp>
        <p:nvSpPr>
          <p:cNvPr id="2090" name="" descr="{&quot;isTemplate&quot;:true,&quot;type&quot;:&quot;text&quot;}"/>
          <p:cNvSpPr txBox="1"/>
          <p:nvPr/>
        </p:nvSpPr>
        <p:spPr>
          <a:xfrm rot="0" flipH="0" flipV="0">
            <a:off x="1181100" y="3248025"/>
            <a:ext cx="1657350" cy="190500"/>
          </a:xfrm>
          <a:prstGeom prst="rect"/>
        </p:spPr>
        <p:txBody>
          <a:bodyPr wrap="none" lIns="0" tIns="0" rIns="0" bIns="0"/>
          <a:p>
            <a:pPr>
              <a:lnSpc>
                <a:spcPct val="125000"/>
              </a:lnSpc>
            </a:pPr>
            <a:r>
              <a:rPr lang="en-US" sz="975" b="1">
                <a:solidFill>
                  <a:srgbClr val="0F1423"/>
                </a:solidFill>
                <a:latin typeface="Microsoft YaHei"/>
                <a:ea typeface="Microsoft YaHei"/>
              </a:rPr>
              <a:t xml:space="preserve">AI </a:t>
            </a:r>
            <a:r>
              <a:rPr lang="zh-CN" sz="975" b="1">
                <a:solidFill>
                  <a:srgbClr val="0F1423"/>
                </a:solidFill>
                <a:latin typeface="Microsoft YaHei"/>
                <a:ea typeface="Microsoft YaHei"/>
              </a:rPr>
              <a:t>部署形态受合规限制</a:t>
            </a:r>
            <a:endParaRPr/>
          </a:p>
        </p:txBody>
      </p:sp>
      <p:sp>
        <p:nvSpPr>
          <p:cNvPr id="2091" name="" descr="{&quot;isTemplate&quot;:true,&quot;type&quot;:&quot;text&quot;}"/>
          <p:cNvSpPr txBox="1"/>
          <p:nvPr/>
        </p:nvSpPr>
        <p:spPr>
          <a:xfrm rot="0" flipH="0" flipV="0">
            <a:off x="2933700" y="3257550"/>
            <a:ext cx="5410200" cy="171450"/>
          </a:xfrm>
          <a:prstGeom prst="rect"/>
        </p:spPr>
        <p:txBody>
          <a:bodyPr wrap="none" lIns="0" tIns="0" rIns="0" bIns="0"/>
          <a:p>
            <a:pPr>
              <a:lnSpc>
                <a:spcPct val="135000"/>
              </a:lnSpc>
            </a:pPr>
            <a:r>
              <a:rPr lang="zh-CN" sz="788">
                <a:solidFill>
                  <a:srgbClr val="3A4050"/>
                </a:solidFill>
                <a:latin typeface="Microsoft YaHei"/>
                <a:ea typeface="Microsoft YaHei"/>
              </a:rPr>
              <a:t>数据出域与密级限制可能直接否掉部分</a:t>
            </a:r>
            <a:r>
              <a:rPr lang="en-US" sz="788">
                <a:solidFill>
                  <a:srgbClr val="3A4050"/>
                </a:solidFill>
                <a:latin typeface="Microsoft YaHei"/>
                <a:ea typeface="Microsoft YaHei"/>
              </a:rPr>
              <a:t xml:space="preserve"> AI </a:t>
            </a:r>
            <a:r>
              <a:rPr lang="zh-CN" sz="788">
                <a:solidFill>
                  <a:srgbClr val="3A4050"/>
                </a:solidFill>
                <a:latin typeface="Microsoft YaHei"/>
                <a:ea typeface="Microsoft YaHei"/>
              </a:rPr>
              <a:t>场景</a:t>
            </a:r>
            <a:endParaRPr/>
          </a:p>
        </p:txBody>
      </p:sp>
      <p:sp>
        <p:nvSpPr>
          <p:cNvPr id="2092" name=""/>
          <p:cNvSpPr/>
          <p:nvPr/>
        </p:nvSpPr>
        <p:spPr>
          <a:xfrm rot="0" flipH="0" flipV="0">
            <a:off x="8439150" y="3143250"/>
            <a:ext cx="3143250" cy="400050"/>
          </a:xfrm>
          <a:prstGeom prst="roundRect">
            <a:avLst>
              <a:gd name="adj" fmla="val 7143"/>
            </a:avLst>
          </a:prstGeom>
          <a:solidFill>
            <a:srgbClr val="FFF3EE"/>
          </a:solidFill>
          <a:ln/>
        </p:spPr>
        <p:txBody>
          <a:bodyPr/>
          <a:p/>
        </p:txBody>
      </p:sp>
      <p:sp>
        <p:nvSpPr>
          <p:cNvPr id="2093" name="" descr="{&quot;isTemplate&quot;:true,&quot;type&quot;:&quot;text&quot;}"/>
          <p:cNvSpPr txBox="1"/>
          <p:nvPr/>
        </p:nvSpPr>
        <p:spPr>
          <a:xfrm rot="0" flipH="0" flipV="0">
            <a:off x="8553450" y="3257550"/>
            <a:ext cx="2914650" cy="171450"/>
          </a:xfrm>
          <a:prstGeom prst="rect"/>
        </p:spPr>
        <p:txBody>
          <a:bodyPr wrap="none" lIns="0" tIns="0" rIns="0" bIns="0"/>
          <a:p>
            <a:pPr>
              <a:lnSpc>
                <a:spcPct val="135000"/>
              </a:lnSpc>
            </a:pPr>
            <a:r>
              <a:rPr lang="zh-CN" sz="788">
                <a:solidFill>
                  <a:srgbClr val="C43A17"/>
                </a:solidFill>
                <a:latin typeface="Microsoft YaHei"/>
                <a:ea typeface="Microsoft YaHei"/>
              </a:rPr>
              <a:t>对策：阶段一先划合规边界，边界内的场景优先评估</a:t>
            </a:r>
            <a:endParaRPr/>
          </a:p>
        </p:txBody>
      </p:sp>
      <p:sp>
        <p:nvSpPr>
          <p:cNvPr id="2094" name=""/>
          <p:cNvSpPr/>
          <p:nvPr/>
        </p:nvSpPr>
        <p:spPr>
          <a:xfrm rot="0" flipH="0" flipV="0">
            <a:off x="647700" y="3619500"/>
            <a:ext cx="10972800" cy="390525"/>
          </a:xfrm>
          <a:prstGeom prst="roundRect">
            <a:avLst>
              <a:gd name="adj" fmla="val 9756"/>
            </a:avLst>
          </a:prstGeom>
          <a:solidFill>
            <a:srgbClr val="F7F7F8"/>
          </a:solidFill>
          <a:ln/>
        </p:spPr>
        <p:txBody>
          <a:bodyPr/>
          <a:p/>
        </p:txBody>
      </p:sp>
      <p:sp>
        <p:nvSpPr>
          <p:cNvPr id="2095" name=""/>
          <p:cNvSpPr/>
          <p:nvPr/>
        </p:nvSpPr>
        <p:spPr>
          <a:xfrm rot="0" flipH="0" flipV="0">
            <a:off x="647700" y="3619500"/>
            <a:ext cx="10972800" cy="390525"/>
          </a:xfrm>
          <a:custGeom>
            <a:pathLst>
              <a:path w="1152" h="41">
                <a:moveTo>
                  <a:pt x="4" y="41"/>
                </a:moveTo>
                <a:cubicBezTo>
                  <a:pt x="2" y="41"/>
                  <a:pt x="0" y="39"/>
                  <a:pt x="0" y="37"/>
                </a:cubicBezTo>
                <a:lnTo>
                  <a:pt x="0" y="4"/>
                </a:lnTo>
                <a:cubicBezTo>
                  <a:pt x="0" y="2"/>
                  <a:pt x="2" y="0"/>
                  <a:pt x="4" y="0"/>
                </a:cubicBezTo>
                <a:lnTo>
                  <a:pt x="4" y="41"/>
                </a:lnTo>
                <a:close/>
              </a:path>
            </a:pathLst>
          </a:custGeom>
          <a:solidFill>
            <a:srgbClr val="C43A17"/>
          </a:solidFill>
          <a:ln/>
        </p:spPr>
        <p:txBody>
          <a:bodyPr/>
          <a:p/>
        </p:txBody>
      </p:sp>
      <p:sp>
        <p:nvSpPr>
          <p:cNvPr id="2096" name="" descr="{&quot;isTemplate&quot;:true,&quot;type&quot;:&quot;text&quot;}"/>
          <p:cNvSpPr txBox="1"/>
          <p:nvPr/>
        </p:nvSpPr>
        <p:spPr>
          <a:xfrm rot="0" flipH="0" flipV="0">
            <a:off x="771525" y="3733800"/>
            <a:ext cx="190500" cy="171450"/>
          </a:xfrm>
          <a:prstGeom prst="rect"/>
        </p:spPr>
        <p:txBody>
          <a:bodyPr wrap="none" lIns="0" tIns="0" rIns="0" bIns="0"/>
          <a:p>
            <a:pPr>
              <a:lnSpc>
                <a:spcPct val="100000"/>
              </a:lnSpc>
            </a:pPr>
            <a:r>
              <a:rPr lang="en-US" sz="1125" b="1">
                <a:solidFill>
                  <a:srgbClr val="C43A17"/>
                </a:solidFill>
                <a:latin typeface="Microsoft YaHei"/>
                <a:ea typeface="Microsoft YaHei"/>
              </a:rPr>
              <a:t>R6</a:t>
            </a:r>
            <a:endParaRPr/>
          </a:p>
        </p:txBody>
      </p:sp>
      <p:sp>
        <p:nvSpPr>
          <p:cNvPr id="2097" name="" descr="{&quot;isTemplate&quot;:true,&quot;type&quot;:&quot;text&quot;}"/>
          <p:cNvSpPr txBox="1"/>
          <p:nvPr/>
        </p:nvSpPr>
        <p:spPr>
          <a:xfrm rot="0" flipH="0" flipV="0">
            <a:off x="1181100" y="3724275"/>
            <a:ext cx="1657350" cy="190500"/>
          </a:xfrm>
          <a:prstGeom prst="rect"/>
        </p:spPr>
        <p:txBody>
          <a:bodyPr wrap="none" lIns="0" tIns="0" rIns="0" bIns="0"/>
          <a:p>
            <a:pPr>
              <a:lnSpc>
                <a:spcPct val="125000"/>
              </a:lnSpc>
            </a:pPr>
            <a:r>
              <a:rPr lang="zh-CN" sz="975" b="1">
                <a:solidFill>
                  <a:srgbClr val="0F1423"/>
                </a:solidFill>
                <a:latin typeface="Microsoft YaHei"/>
                <a:ea typeface="Microsoft YaHei"/>
              </a:rPr>
              <a:t>蓝图与现有系统改造冲突</a:t>
            </a:r>
            <a:endParaRPr/>
          </a:p>
        </p:txBody>
      </p:sp>
      <p:sp>
        <p:nvSpPr>
          <p:cNvPr id="2098" name="" descr="{&quot;isTemplate&quot;:true,&quot;type&quot;:&quot;text&quot;}"/>
          <p:cNvSpPr txBox="1"/>
          <p:nvPr/>
        </p:nvSpPr>
        <p:spPr>
          <a:xfrm rot="0" flipH="0" flipV="0">
            <a:off x="2933700" y="3733800"/>
            <a:ext cx="5410200" cy="171450"/>
          </a:xfrm>
          <a:prstGeom prst="rect"/>
        </p:spPr>
        <p:txBody>
          <a:bodyPr wrap="none" lIns="0" tIns="0" rIns="0" bIns="0"/>
          <a:p>
            <a:pPr>
              <a:lnSpc>
                <a:spcPct val="135000"/>
              </a:lnSpc>
            </a:pPr>
            <a:r>
              <a:rPr lang="zh-CN" sz="788">
                <a:solidFill>
                  <a:srgbClr val="3A4050"/>
                </a:solidFill>
                <a:latin typeface="Microsoft YaHei"/>
                <a:ea typeface="Microsoft YaHei"/>
              </a:rPr>
              <a:t>蓝图理想态与现有系统能力差距大，路线图容易被压成「先不建新系统」</a:t>
            </a:r>
            <a:endParaRPr/>
          </a:p>
        </p:txBody>
      </p:sp>
      <p:sp>
        <p:nvSpPr>
          <p:cNvPr id="2099" name=""/>
          <p:cNvSpPr/>
          <p:nvPr/>
        </p:nvSpPr>
        <p:spPr>
          <a:xfrm rot="0" flipH="0" flipV="0">
            <a:off x="8439150" y="3619500"/>
            <a:ext cx="3143250" cy="390525"/>
          </a:xfrm>
          <a:prstGeom prst="roundRect">
            <a:avLst>
              <a:gd name="adj" fmla="val 7317"/>
            </a:avLst>
          </a:prstGeom>
          <a:solidFill>
            <a:srgbClr val="FFF3EE"/>
          </a:solidFill>
          <a:ln/>
        </p:spPr>
        <p:txBody>
          <a:bodyPr/>
          <a:p/>
        </p:txBody>
      </p:sp>
      <p:sp>
        <p:nvSpPr>
          <p:cNvPr id="2100" name="" descr="{&quot;isTemplate&quot;:true,&quot;type&quot;:&quot;text&quot;}"/>
          <p:cNvSpPr txBox="1"/>
          <p:nvPr/>
        </p:nvSpPr>
        <p:spPr>
          <a:xfrm rot="0" flipH="0" flipV="0">
            <a:off x="8553450" y="3733800"/>
            <a:ext cx="2914650" cy="171450"/>
          </a:xfrm>
          <a:prstGeom prst="rect"/>
        </p:spPr>
        <p:txBody>
          <a:bodyPr wrap="none" lIns="0" tIns="0" rIns="0" bIns="0"/>
          <a:p>
            <a:pPr>
              <a:lnSpc>
                <a:spcPct val="135000"/>
              </a:lnSpc>
            </a:pPr>
            <a:r>
              <a:rPr lang="zh-CN" sz="788">
                <a:solidFill>
                  <a:srgbClr val="C43A17"/>
                </a:solidFill>
                <a:latin typeface="Microsoft YaHei"/>
                <a:ea typeface="Microsoft YaHei"/>
              </a:rPr>
              <a:t>对策：阶段二就出演进路径与替换顺序，不回避改造</a:t>
            </a:r>
            <a:endParaRPr/>
          </a:p>
        </p:txBody>
      </p:sp>
      <p:sp>
        <p:nvSpPr>
          <p:cNvPr id="2101" name=""/>
          <p:cNvSpPr/>
          <p:nvPr/>
        </p:nvSpPr>
        <p:spPr>
          <a:xfrm rot="0" flipH="0" flipV="0">
            <a:off x="609600" y="4086225"/>
            <a:ext cx="5448300" cy="1571625"/>
          </a:xfrm>
          <a:prstGeom prst="roundRect">
            <a:avLst>
              <a:gd name="adj" fmla="val 2424"/>
            </a:avLst>
          </a:prstGeom>
          <a:solidFill>
            <a:srgbClr val="0F1423"/>
          </a:solidFill>
          <a:ln/>
        </p:spPr>
        <p:txBody>
          <a:bodyPr/>
          <a:p/>
        </p:txBody>
      </p:sp>
      <p:sp>
        <p:nvSpPr>
          <p:cNvPr id="2102" name="" descr="{&quot;isTemplate&quot;:true,&quot;type&quot;:&quot;text&quot;}"/>
          <p:cNvSpPr txBox="1"/>
          <p:nvPr/>
        </p:nvSpPr>
        <p:spPr>
          <a:xfrm rot="0" flipH="0" flipV="0">
            <a:off x="762000" y="4210050"/>
            <a:ext cx="5143500" cy="142875"/>
          </a:xfrm>
          <a:prstGeom prst="rect"/>
        </p:spPr>
        <p:txBody>
          <a:bodyPr wrap="none" lIns="0" tIns="0" rIns="0" bIns="0"/>
          <a:p>
            <a:pPr>
              <a:lnSpc>
                <a:spcPct val="100000"/>
              </a:lnSpc>
            </a:pPr>
            <a:r>
              <a:rPr lang="zh-CN" sz="900" spc="75">
                <a:solidFill>
                  <a:srgbClr val="FBA15C"/>
                </a:solidFill>
                <a:latin typeface="Microsoft YaHei"/>
                <a:ea typeface="Microsoft YaHei"/>
              </a:rPr>
              <a:t>开工前需要客户确认的六项前置条件</a:t>
            </a:r>
            <a:endParaRPr/>
          </a:p>
        </p:txBody>
      </p:sp>
      <p:sp>
        <p:nvSpPr>
          <p:cNvPr id="2103" name="" descr="{&quot;isTemplate&quot;:true,&quot;type&quot;:&quot;text&quot;}"/>
          <p:cNvSpPr txBox="1"/>
          <p:nvPr/>
        </p:nvSpPr>
        <p:spPr>
          <a:xfrm rot="0" flipH="0" flipV="0">
            <a:off x="762000" y="4457700"/>
            <a:ext cx="66675"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2104" name="" descr="{&quot;isTemplate&quot;:true,&quot;type&quot;:&quot;text&quot;}"/>
          <p:cNvSpPr txBox="1"/>
          <p:nvPr/>
        </p:nvSpPr>
        <p:spPr>
          <a:xfrm rot="0" flipH="0" flipV="0">
            <a:off x="914400" y="4448175"/>
            <a:ext cx="4991100" cy="133350"/>
          </a:xfrm>
          <a:prstGeom prst="rect"/>
        </p:spPr>
        <p:txBody>
          <a:bodyPr wrap="none" lIns="0" tIns="0" rIns="0" bIns="0"/>
          <a:p>
            <a:pPr>
              <a:lnSpc>
                <a:spcPct val="100000"/>
              </a:lnSpc>
            </a:pPr>
            <a:r>
              <a:rPr lang="zh-CN" sz="863">
                <a:solidFill>
                  <a:srgbClr val="FFFFFF">
                    <a:alpha val="88000"/>
                  </a:srgbClr>
                </a:solidFill>
                <a:latin typeface="Microsoft YaHei"/>
                <a:ea typeface="Microsoft YaHei"/>
              </a:rPr>
              <a:t>访谈窗口与关键岗位名单已确认</a:t>
            </a:r>
            <a:endParaRPr/>
          </a:p>
        </p:txBody>
      </p:sp>
      <p:sp>
        <p:nvSpPr>
          <p:cNvPr id="2105" name="" descr="{&quot;isTemplate&quot;:true,&quot;type&quot;:&quot;text&quot;}"/>
          <p:cNvSpPr txBox="1"/>
          <p:nvPr/>
        </p:nvSpPr>
        <p:spPr>
          <a:xfrm rot="0" flipH="0" flipV="0">
            <a:off x="762000" y="4648200"/>
            <a:ext cx="66675"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2106" name="" descr="{&quot;isTemplate&quot;:true,&quot;type&quot;:&quot;text&quot;}"/>
          <p:cNvSpPr txBox="1"/>
          <p:nvPr/>
        </p:nvSpPr>
        <p:spPr>
          <a:xfrm rot="0" flipH="0" flipV="0">
            <a:off x="914400" y="4638675"/>
            <a:ext cx="4991100" cy="133350"/>
          </a:xfrm>
          <a:prstGeom prst="rect"/>
        </p:spPr>
        <p:txBody>
          <a:bodyPr wrap="none" lIns="0" tIns="0" rIns="0" bIns="0"/>
          <a:p>
            <a:pPr>
              <a:lnSpc>
                <a:spcPct val="100000"/>
              </a:lnSpc>
            </a:pPr>
            <a:r>
              <a:rPr lang="zh-CN" sz="863">
                <a:solidFill>
                  <a:srgbClr val="FFFFFF">
                    <a:alpha val="88000"/>
                  </a:srgbClr>
                </a:solidFill>
                <a:latin typeface="Microsoft YaHei"/>
                <a:ea typeface="Microsoft YaHei"/>
              </a:rPr>
              <a:t>各域数据口径裁定人已指定</a:t>
            </a:r>
            <a:endParaRPr/>
          </a:p>
        </p:txBody>
      </p:sp>
      <p:sp>
        <p:nvSpPr>
          <p:cNvPr id="2107" name="" descr="{&quot;isTemplate&quot;:true,&quot;type&quot;:&quot;text&quot;}"/>
          <p:cNvSpPr txBox="1"/>
          <p:nvPr/>
        </p:nvSpPr>
        <p:spPr>
          <a:xfrm rot="0" flipH="0" flipV="0">
            <a:off x="762000" y="4829175"/>
            <a:ext cx="66675"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2108" name="" descr="{&quot;isTemplate&quot;:true,&quot;type&quot;:&quot;text&quot;}"/>
          <p:cNvSpPr txBox="1"/>
          <p:nvPr/>
        </p:nvSpPr>
        <p:spPr>
          <a:xfrm rot="0" flipH="0" flipV="0">
            <a:off x="914400" y="4819650"/>
            <a:ext cx="4991100" cy="133350"/>
          </a:xfrm>
          <a:prstGeom prst="rect"/>
        </p:spPr>
        <p:txBody>
          <a:bodyPr wrap="none" lIns="0" tIns="0" rIns="0" bIns="0"/>
          <a:p>
            <a:pPr>
              <a:lnSpc>
                <a:spcPct val="100000"/>
              </a:lnSpc>
            </a:pPr>
            <a:r>
              <a:rPr lang="en-US" sz="863">
                <a:solidFill>
                  <a:srgbClr val="FFFFFF">
                    <a:alpha val="88000"/>
                  </a:srgbClr>
                </a:solidFill>
                <a:latin typeface="Microsoft YaHei"/>
                <a:ea typeface="Microsoft YaHei"/>
              </a:rPr>
              <a:t xml:space="preserve">HR </a:t>
            </a:r>
            <a:r>
              <a:rPr lang="zh-CN" sz="863">
                <a:solidFill>
                  <a:srgbClr val="FFFFFF">
                    <a:alpha val="88000"/>
                  </a:srgbClr>
                </a:solidFill>
                <a:latin typeface="Microsoft YaHei"/>
                <a:ea typeface="Microsoft YaHei"/>
              </a:rPr>
              <a:t>考核标的提供时间已约定</a:t>
            </a:r>
            <a:endParaRPr/>
          </a:p>
        </p:txBody>
      </p:sp>
      <p:sp>
        <p:nvSpPr>
          <p:cNvPr id="2109" name="" descr="{&quot;isTemplate&quot;:true,&quot;type&quot;:&quot;text&quot;}"/>
          <p:cNvSpPr txBox="1"/>
          <p:nvPr/>
        </p:nvSpPr>
        <p:spPr>
          <a:xfrm rot="0" flipH="0" flipV="0">
            <a:off x="762000" y="5019675"/>
            <a:ext cx="66675"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2110" name="" descr="{&quot;isTemplate&quot;:true,&quot;type&quot;:&quot;text&quot;}"/>
          <p:cNvSpPr txBox="1"/>
          <p:nvPr/>
        </p:nvSpPr>
        <p:spPr>
          <a:xfrm rot="0" flipH="0" flipV="0">
            <a:off x="914400" y="5010150"/>
            <a:ext cx="4991100" cy="133350"/>
          </a:xfrm>
          <a:prstGeom prst="rect"/>
        </p:spPr>
        <p:txBody>
          <a:bodyPr wrap="none" lIns="0" tIns="0" rIns="0" bIns="0"/>
          <a:p>
            <a:pPr>
              <a:lnSpc>
                <a:spcPct val="100000"/>
              </a:lnSpc>
            </a:pPr>
            <a:r>
              <a:rPr lang="zh-CN" sz="863">
                <a:solidFill>
                  <a:srgbClr val="FFFFFF">
                    <a:alpha val="88000"/>
                  </a:srgbClr>
                </a:solidFill>
                <a:latin typeface="Microsoft YaHei"/>
                <a:ea typeface="Microsoft YaHei"/>
              </a:rPr>
              <a:t>现场调研的实物单据与系统访问权限已开通</a:t>
            </a:r>
            <a:endParaRPr/>
          </a:p>
        </p:txBody>
      </p:sp>
      <p:sp>
        <p:nvSpPr>
          <p:cNvPr id="2111" name="" descr="{&quot;isTemplate&quot;:true,&quot;type&quot;:&quot;text&quot;}"/>
          <p:cNvSpPr txBox="1"/>
          <p:nvPr/>
        </p:nvSpPr>
        <p:spPr>
          <a:xfrm rot="0" flipH="0" flipV="0">
            <a:off x="762000" y="5210175"/>
            <a:ext cx="66675"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2112" name="" descr="{&quot;isTemplate&quot;:true,&quot;type&quot;:&quot;text&quot;}"/>
          <p:cNvSpPr txBox="1"/>
          <p:nvPr/>
        </p:nvSpPr>
        <p:spPr>
          <a:xfrm rot="0" flipH="0" flipV="0">
            <a:off x="914400" y="5200650"/>
            <a:ext cx="4991100" cy="133350"/>
          </a:xfrm>
          <a:prstGeom prst="rect"/>
        </p:spPr>
        <p:txBody>
          <a:bodyPr wrap="none" lIns="0" tIns="0" rIns="0" bIns="0"/>
          <a:p>
            <a:pPr>
              <a:lnSpc>
                <a:spcPct val="100000"/>
              </a:lnSpc>
            </a:pPr>
            <a:r>
              <a:rPr lang="en-US" sz="863">
                <a:solidFill>
                  <a:srgbClr val="FFFFFF">
                    <a:alpha val="88000"/>
                  </a:srgbClr>
                </a:solidFill>
                <a:latin typeface="Microsoft YaHei"/>
                <a:ea typeface="Microsoft YaHei"/>
              </a:rPr>
              <a:t xml:space="preserve">AI </a:t>
            </a:r>
            <a:r>
              <a:rPr lang="zh-CN" sz="863">
                <a:solidFill>
                  <a:srgbClr val="FFFFFF">
                    <a:alpha val="88000"/>
                  </a:srgbClr>
                </a:solidFill>
                <a:latin typeface="Microsoft YaHei"/>
                <a:ea typeface="Microsoft YaHei"/>
              </a:rPr>
              <a:t>应用的合规边界已有初步共识</a:t>
            </a:r>
            <a:endParaRPr/>
          </a:p>
        </p:txBody>
      </p:sp>
      <p:sp>
        <p:nvSpPr>
          <p:cNvPr id="2113" name="" descr="{&quot;isTemplate&quot;:true,&quot;type&quot;:&quot;text&quot;}"/>
          <p:cNvSpPr txBox="1"/>
          <p:nvPr/>
        </p:nvSpPr>
        <p:spPr>
          <a:xfrm rot="0" flipH="0" flipV="0">
            <a:off x="762000" y="5391150"/>
            <a:ext cx="66675" cy="114300"/>
          </a:xfrm>
          <a:prstGeom prst="rect"/>
        </p:spPr>
        <p:txBody>
          <a:bodyPr wrap="none" lIns="0" tIns="0" rIns="0" bIns="0"/>
          <a:p>
            <a:pPr>
              <a:lnSpc>
                <a:spcPct val="100000"/>
              </a:lnSpc>
            </a:pPr>
            <a:r>
              <a:rPr sz="750" b="1">
                <a:solidFill>
                  <a:srgbClr val="FA4F24"/>
                </a:solidFill>
                <a:latin typeface="Microsoft YaHei"/>
                <a:ea typeface="Microsoft YaHei"/>
              </a:rPr>
              <a:t>□</a:t>
            </a:r>
            <a:endParaRPr/>
          </a:p>
        </p:txBody>
      </p:sp>
      <p:sp>
        <p:nvSpPr>
          <p:cNvPr id="2114" name="" descr="{&quot;isTemplate&quot;:true,&quot;type&quot;:&quot;text&quot;}"/>
          <p:cNvSpPr txBox="1"/>
          <p:nvPr/>
        </p:nvSpPr>
        <p:spPr>
          <a:xfrm rot="0" flipH="0" flipV="0">
            <a:off x="914400" y="5381625"/>
            <a:ext cx="4991100" cy="133350"/>
          </a:xfrm>
          <a:prstGeom prst="rect"/>
        </p:spPr>
        <p:txBody>
          <a:bodyPr wrap="none" lIns="0" tIns="0" rIns="0" bIns="0"/>
          <a:p>
            <a:pPr>
              <a:lnSpc>
                <a:spcPct val="100000"/>
              </a:lnSpc>
            </a:pPr>
            <a:r>
              <a:rPr lang="zh-CN" sz="863">
                <a:solidFill>
                  <a:srgbClr val="FFFFFF">
                    <a:alpha val="88000"/>
                  </a:srgbClr>
                </a:solidFill>
                <a:latin typeface="Microsoft YaHei"/>
                <a:ea typeface="Microsoft YaHei"/>
              </a:rPr>
              <a:t>阶段评审的客户侧评审人已明确</a:t>
            </a:r>
            <a:endParaRPr/>
          </a:p>
        </p:txBody>
      </p:sp>
      <p:sp>
        <p:nvSpPr>
          <p:cNvPr id="2115" name=""/>
          <p:cNvSpPr/>
          <p:nvPr/>
        </p:nvSpPr>
        <p:spPr>
          <a:xfrm rot="0" flipH="0" flipV="0">
            <a:off x="6181725" y="4086225"/>
            <a:ext cx="5438775" cy="1571625"/>
          </a:xfrm>
          <a:prstGeom prst="roundRect">
            <a:avLst>
              <a:gd name="adj" fmla="val 2424"/>
            </a:avLst>
          </a:prstGeom>
          <a:solidFill>
            <a:srgbClr val="FFF3EE"/>
          </a:solidFill>
          <a:ln/>
        </p:spPr>
        <p:txBody>
          <a:bodyPr/>
          <a:p/>
        </p:txBody>
      </p:sp>
      <p:sp>
        <p:nvSpPr>
          <p:cNvPr id="2116" name=""/>
          <p:cNvSpPr/>
          <p:nvPr/>
        </p:nvSpPr>
        <p:spPr>
          <a:xfrm rot="0" flipH="0" flipV="0">
            <a:off x="6181725" y="4086225"/>
            <a:ext cx="5438775" cy="1571625"/>
          </a:xfrm>
          <a:custGeom>
            <a:pathLst>
              <a:path w="571" h="165">
                <a:moveTo>
                  <a:pt x="4" y="165"/>
                </a:moveTo>
                <a:cubicBezTo>
                  <a:pt x="2" y="165"/>
                  <a:pt x="0" y="163"/>
                  <a:pt x="0" y="161"/>
                </a:cubicBezTo>
                <a:lnTo>
                  <a:pt x="0" y="4"/>
                </a:lnTo>
                <a:cubicBezTo>
                  <a:pt x="0" y="2"/>
                  <a:pt x="2" y="0"/>
                  <a:pt x="4" y="0"/>
                </a:cubicBezTo>
                <a:lnTo>
                  <a:pt x="4" y="165"/>
                </a:lnTo>
                <a:close/>
              </a:path>
            </a:pathLst>
          </a:custGeom>
          <a:solidFill>
            <a:srgbClr val="FA4F24"/>
          </a:solidFill>
          <a:ln/>
        </p:spPr>
        <p:txBody>
          <a:bodyPr/>
          <a:p/>
        </p:txBody>
      </p:sp>
      <p:sp>
        <p:nvSpPr>
          <p:cNvPr id="2117" name="" descr="{&quot;isTemplate&quot;:true,&quot;type&quot;:&quot;text&quot;}"/>
          <p:cNvSpPr txBox="1"/>
          <p:nvPr/>
        </p:nvSpPr>
        <p:spPr>
          <a:xfrm rot="0" flipH="0" flipV="0">
            <a:off x="6334125" y="4457700"/>
            <a:ext cx="5095875" cy="142875"/>
          </a:xfrm>
          <a:prstGeom prst="rect"/>
        </p:spPr>
        <p:txBody>
          <a:bodyPr wrap="none" lIns="0" tIns="0" rIns="0" bIns="0"/>
          <a:p>
            <a:pPr>
              <a:lnSpc>
                <a:spcPct val="100000"/>
              </a:lnSpc>
            </a:pPr>
            <a:r>
              <a:rPr lang="zh-CN" sz="938" b="1">
                <a:solidFill>
                  <a:srgbClr val="C43A17"/>
                </a:solidFill>
                <a:latin typeface="Microsoft YaHei"/>
                <a:ea typeface="Microsoft YaHei"/>
              </a:rPr>
              <a:t>我们在方法论上的三条承诺</a:t>
            </a:r>
            <a:endParaRPr/>
          </a:p>
        </p:txBody>
      </p:sp>
      <p:sp>
        <p:nvSpPr>
          <p:cNvPr id="2118" name="" descr="{&quot;isTemplate&quot;:true,&quot;type&quot;:&quot;text&quot;}"/>
          <p:cNvSpPr txBox="1"/>
          <p:nvPr/>
        </p:nvSpPr>
        <p:spPr>
          <a:xfrm rot="0" flipH="0" flipV="0">
            <a:off x="6334125" y="4667250"/>
            <a:ext cx="5095875" cy="619125"/>
          </a:xfrm>
          <a:prstGeom prst="rect"/>
        </p:spPr>
        <p:txBody>
          <a:bodyPr wrap="none" lIns="0" tIns="0" rIns="0" bIns="0"/>
          <a:p>
            <a:pPr>
              <a:lnSpc>
                <a:spcPct val="155000"/>
              </a:lnSpc>
            </a:pPr>
            <a:r>
              <a:rPr lang="zh-CN" sz="863">
                <a:solidFill>
                  <a:srgbClr val="3A4050"/>
                </a:solidFill>
                <a:latin typeface="Microsoft YaHei"/>
                <a:ea typeface="Microsoft YaHei"/>
              </a:rPr>
              <a:t>一、颗粒度按第</a:t>
            </a:r>
            <a:r>
              <a:rPr lang="en-US" sz="863">
                <a:solidFill>
                  <a:srgbClr val="3A4050"/>
                </a:solidFill>
                <a:latin typeface="Microsoft YaHei"/>
                <a:ea typeface="Microsoft YaHei"/>
              </a:rPr>
              <a:t xml:space="preserve"> 09 </a:t>
            </a:r>
            <a:r>
              <a:rPr lang="zh-CN" sz="863">
                <a:solidFill>
                  <a:srgbClr val="3A4050"/>
                </a:solidFill>
                <a:latin typeface="Microsoft YaHei"/>
                <a:ea typeface="Microsoft YaHei"/>
              </a:rPr>
              <a:t>页执行，不接受用「基本覆盖」这类表述模糊交付。</a:t>
            </a:r>
            <a:endParaRPr/>
          </a:p>
          <a:p>
            <a:pPr>
              <a:lnSpc>
                <a:spcPct val="155000"/>
              </a:lnSpc>
            </a:pPr>
            <a:r>
              <a:rPr lang="zh-CN" sz="863">
                <a:solidFill>
                  <a:srgbClr val="3A4050"/>
                </a:solidFill>
                <a:latin typeface="Microsoft YaHei"/>
                <a:ea typeface="Microsoft YaHei"/>
              </a:rPr>
              <a:t>二、全链路按第</a:t>
            </a:r>
            <a:r>
              <a:rPr lang="en-US" sz="863">
                <a:solidFill>
                  <a:srgbClr val="3A4050"/>
                </a:solidFill>
                <a:latin typeface="Microsoft YaHei"/>
                <a:ea typeface="Microsoft YaHei"/>
              </a:rPr>
              <a:t xml:space="preserve"> 10 </a:t>
            </a:r>
            <a:r>
              <a:rPr lang="zh-CN" sz="863">
                <a:solidFill>
                  <a:srgbClr val="3A4050"/>
                </a:solidFill>
                <a:latin typeface="Microsoft YaHei"/>
                <a:ea typeface="Microsoft YaHei"/>
              </a:rPr>
              <a:t>页执行，需求可反向追溯回痛点原话。</a:t>
            </a:r>
            <a:endParaRPr/>
          </a:p>
          <a:p>
            <a:pPr>
              <a:lnSpc>
                <a:spcPct val="155000"/>
              </a:lnSpc>
            </a:pPr>
            <a:r>
              <a:rPr lang="zh-CN" sz="863">
                <a:solidFill>
                  <a:srgbClr val="3A4050"/>
                </a:solidFill>
                <a:latin typeface="Microsoft YaHei"/>
                <a:ea typeface="Microsoft YaHei"/>
              </a:rPr>
              <a:t>三、九项交付物按第</a:t>
            </a:r>
            <a:r>
              <a:rPr lang="en-US" sz="863">
                <a:solidFill>
                  <a:srgbClr val="3A4050"/>
                </a:solidFill>
                <a:latin typeface="Microsoft YaHei"/>
                <a:ea typeface="Microsoft YaHei"/>
              </a:rPr>
              <a:t xml:space="preserve"> 34 </a:t>
            </a:r>
            <a:r>
              <a:rPr lang="zh-CN" sz="863">
                <a:solidFill>
                  <a:srgbClr val="3A4050"/>
                </a:solidFill>
                <a:latin typeface="Microsoft YaHei"/>
                <a:ea typeface="Microsoft YaHei"/>
              </a:rPr>
              <a:t>页逐项签收，验收要点写明，验收不过按列明的处理方式补，不整体返工。</a:t>
            </a:r>
            <a:endParaRPr/>
          </a:p>
        </p:txBody>
      </p:sp>
      <p:sp>
        <p:nvSpPr>
          <p:cNvPr id="2119" name=""/>
          <p:cNvSpPr/>
          <p:nvPr/>
        </p:nvSpPr>
        <p:spPr>
          <a:xfrm rot="0" flipH="0" flipV="0">
            <a:off x="609600" y="5943600"/>
            <a:ext cx="133350" cy="133350"/>
          </a:xfrm>
          <a:prstGeom prst="rect">
            <a:avLst/>
          </a:prstGeom>
          <a:solidFill>
            <a:srgbClr val="FA4F24"/>
          </a:solidFill>
          <a:ln/>
        </p:spPr>
        <p:txBody>
          <a:bodyPr/>
          <a:p/>
        </p:txBody>
      </p:sp>
      <p:sp>
        <p:nvSpPr>
          <p:cNvPr id="2120" name="" descr="{&quot;isTemplate&quot;:true,&quot;type&quot;:&quot;text&quot;}"/>
          <p:cNvSpPr txBox="1"/>
          <p:nvPr/>
        </p:nvSpPr>
        <p:spPr>
          <a:xfrm rot="0" flipH="0" flipV="0">
            <a:off x="838200" y="5924550"/>
            <a:ext cx="2247900" cy="161925"/>
          </a:xfrm>
          <a:prstGeom prst="rect"/>
        </p:spPr>
        <p:txBody>
          <a:bodyPr wrap="none" lIns="0" tIns="0" rIns="0" bIns="0"/>
          <a:p>
            <a:pPr>
              <a:lnSpc>
                <a:spcPct val="100000"/>
              </a:lnSpc>
            </a:pPr>
            <a:r>
              <a:rPr lang="zh-CN" sz="1050">
                <a:solidFill>
                  <a:srgbClr val="8A8F99"/>
                </a:solidFill>
                <a:latin typeface="Microsoft YaHei"/>
                <a:ea typeface="Microsoft YaHei"/>
              </a:rPr>
              <a:t>硕磐机密</a:t>
            </a:r>
            <a:r>
              <a:rPr lang="en-US" sz="1050">
                <a:solidFill>
                  <a:srgbClr val="8A8F99"/>
                </a:solidFill>
                <a:latin typeface="Microsoft YaHei"/>
                <a:ea typeface="Microsoft YaHei"/>
              </a:rPr>
              <a:t xml:space="preserve"> · </a:t>
            </a:r>
            <a:r>
              <a:rPr lang="zh-CN" sz="1050">
                <a:solidFill>
                  <a:srgbClr val="8A8F99"/>
                </a:solidFill>
                <a:latin typeface="Microsoft YaHei"/>
                <a:ea typeface="Microsoft YaHei"/>
              </a:rPr>
              <a:t>利星能业务变革咨询方法论</a:t>
            </a:r>
            <a:endParaRPr/>
          </a:p>
        </p:txBody>
      </p:sp>
      <p:sp>
        <p:nvSpPr>
          <p:cNvPr id="2121" name="" descr="{&quot;isTemplate&quot;:true,&quot;type&quot;:&quot;text&quot;}"/>
          <p:cNvSpPr txBox="1"/>
          <p:nvPr/>
        </p:nvSpPr>
        <p:spPr>
          <a:xfrm rot="0" flipH="0" flipV="0">
            <a:off x="11125200" y="5924550"/>
            <a:ext cx="457200" cy="161925"/>
          </a:xfrm>
          <a:prstGeom prst="rect"/>
        </p:spPr>
        <p:txBody>
          <a:bodyPr wrap="none" lIns="0" tIns="0" rIns="0" bIns="0"/>
          <a:p>
            <a:pPr>
              <a:lnSpc>
                <a:spcPct val="100000"/>
              </a:lnSpc>
            </a:pPr>
            <a:r>
              <a:rPr lang="en-US" sz="1050">
                <a:solidFill>
                  <a:srgbClr val="8A8F99"/>
                </a:solidFill>
                <a:latin typeface="Microsoft YaHei"/>
                <a:ea typeface="Microsoft YaHei"/>
              </a:rPr>
              <a:t>35 / 36</a:t>
            </a:r>
            <a:endParaRPr/>
          </a:p>
        </p:txBody>
      </p:sp>
    </p:spTree>
  </p:cSld>
</p:sld>
</file>

<file path=ppt/slides/slide36.xml><?xml version="1.0" encoding="utf-8"?>
<p:sld xmlns:p="http://schemas.openxmlformats.org/presentationml/2006/main" xmlns:a="http://schemas.openxmlformats.org/drawingml/2006/main">
  <p:cSld>
    <p:spTree>
      <p:nvGrpSpPr>
        <p:cNvPr id="2122" name="" descr="&lt;Slide style={{ width: 1280, height: 720, background: '#0F1423' }}&gt;&#10;  &lt;Box style={{ position: 'absolute', left: 0, top: 0, width: 1280, height: 720, background: 'linear-gradient(135deg, #0F1423 0%, #2A1810 100%)' }} /&gt;&#10;  &lt;Box style={{ position: 'absolute', right: 0, top: 0, width: 620, height: 720, background: 'linear-gradient(200deg, rgba(250,79,36,0.26) 0%, rgba(250,79,36,0) 70%)' }} /&gt;&#10;&#10;  &lt;Box style={{ position: 'absolute', left: 88, top: 96, width: 1104 }}&gt;&#10;    &lt;Text style={{ fontSize: 15, color: 'rgba(255,255,255,0.5)', letterSpacing: 3 }}&gt;结语&lt;/Text&gt;&#10;    &lt;Text style={{ fontSize: 46, fontWeight: 'bold', color: '#FFFFFF', marginTop: 22, lineHeight: 1.2 }}&gt;&#10;      这一册的验收标准，&lt;br /&gt;其实是&lt;span style={{ color: '#FA4F24' }}&gt;一句话&lt;/span&gt;&#10;    &lt;/Text&gt;&#10;    &lt;Box style={{ width: 72, height: 5, background: '#FA4F24', marginTop: 26 }} /&gt;&#10;    &lt;Text style={{ fontSize: 24, color: 'rgba(255,255,255,0.92)', marginTop: 28, lineHeight: 1.6, width: 1020 }}&gt;&#10;      随便抽一条痛点，看它能不能一路走到一条带验收标准的需求编号。&#10;    &lt;/Text&gt;&#10;    &lt;Text style={{ fontSize: 15.5, color: 'rgba(255,255,255,0.62)', marginTop: 22, lineHeight: 1.7, width: 1020 }}&gt;&#10;      走通了，说明四层之间没有断点，这份诊断和这套蓝图是同一个故事；走不通，说明某一层是凭想象画的，&#10;      后面系统建得再好，接的也是另一套需求。这一句话在现场五分钟就能验完，却能挡住整套交付物里最常见的那类问题。&#10;    &lt;/Text&gt;&#10;  &lt;/Box&gt;&#10;&#10;  &lt;Box style={{ position: 'absolute', left: 88, top: 468, width: 1104, flexDirection: 'row', gap: 9 }}&gt;&#10;    {[&#10;      { k: '第一句承诺', t: '颗粒度写死', d: 'L4 子流程 / 业务逻辑实体 / 功能模块，L5-L6 / 实体属性 / 服务-特性-子特性', p: 'P09' },&#10;      { k: '第二句承诺', t: '全链路可追溯', d: 'PAIN → ROOT → BLD → REQ 四段编号，需求可反向三分钟倒推回痛点', p: 'P10' },&#10;      { k: '第三句承诺', t: '九项交付物签收', d: '每项绑定阶段、主责域与验收要点，验收不过按列明方式补', p: 'P34' },&#10;      { k: '第四句承诺', t: '不越界', d: '压到 L6 活动与任务为止，不做界面原型、不做代码设计', p: 'P29' },&#10;    ].map((x) =&gt; (&#10;      &lt;Box key={x.k} style={{ flex: 1, background: 'rgba(255,255,255,0.06)', borderRadius: 4, borderLeft: '3px solid #FA4F24', padding: '12px 14px', flexDirection: 'column' }}&gt;&#10;        &lt;Box style={{ flexDirection: 'row', alignItems: 'center', gap: 7 }}&gt;&#10;          &lt;Text style={{ fontSize: 10.5, color: '#FBA15C', fontWeight: 'bold' }}&gt;{x.k}&lt;/Text&gt;&#10;          &lt;Text style={{ fontSize: 10, color: 'rgba(255,255,255,0.45)' }}&gt;{x.p}&lt;/Text&gt;&#10;        &lt;/Box&gt;&#10;        &lt;Text style={{ fontSize: 16, fontWeight: 'bold', color: '#FFFFFF', marginTop: 6 }}&gt;{x.t}&lt;/Text&gt;&#10;        &lt;Text style={{ fontSize: 11, color: 'rgba(255,255,255,0.72)', lineHeight: 1.45, marginTop: 6 }}&gt;{x.d}&lt;/Text&gt;&#10;      &lt;/Box&gt;&#10;    ))}&#10;  &lt;/Box&gt;&#10;&#10;  &lt;Box style={{ position: 'absolute', left: 88, bottom: 60, flexDirection: 'row', gap: 26 }}&gt;&#10;    &lt;Text style={{ fontSize: 12.5, color: 'rgba(255,255,255,0.55)' }}&gt;&#10;      本册为《华为数字化转型之道》的项目适配分支，通用原理与 Y 模型口径以原册为准&#10;    &lt;/Text&gt;&#10;  &lt;/Box&gt;&#10;&#10;  &lt;Box style={{ position: 'absolute', right: 88, bottom: 60, flexDirection: 'row', alignItems: 'center', gap: 12 }}&gt;&#10;    &lt;Box style={{ width: 14, height: 14, background: '#FA4F24' }} /&gt;&#10;    &lt;Text style={{ fontSize: 14, color: 'rgba(255,255,255,0.5)' }}&gt;硕磐机密 · 利星能业务变革咨询方法论&lt;/Text&gt;&#10;    &lt;Text style={{ fontSize: 14, color: 'rgba(255,255,255,0.5)', marginLeft: 12 }}&gt;36 / 36&lt;/Text&gt;&#10;  &lt;/Box&gt;&#10;&lt;/Slide&gt;&#10;"/>
        <p:cNvGrpSpPr/>
        <p:nvPr/>
      </p:nvGrpSpPr>
      <p:grpSpPr>
        <a:xfrm>
          <a:off x="0" y="0"/>
          <a:ext cx="0" cy="0"/>
          <a:chOff x="0" y="0"/>
          <a:chExt cx="0" cy="0"/>
        </a:xfrm>
      </p:grpSpPr>
      <p:sp>
        <p:nvSpPr>
          <p:cNvPr id="2123" name=""/>
          <p:cNvSpPr/>
          <p:nvPr/>
        </p:nvSpPr>
        <p:spPr>
          <a:xfrm rot="0" flipH="0" flipV="0">
            <a:off x="0" y="0"/>
            <a:ext cx="12192000" cy="6858000"/>
          </a:xfrm>
          <a:prstGeom prst="rect">
            <a:avLst/>
          </a:prstGeom>
          <a:solidFill>
            <a:srgbClr val="0F1423"/>
          </a:solidFill>
          <a:ln/>
        </p:spPr>
        <p:txBody>
          <a:bodyPr/>
          <a:p/>
        </p:txBody>
      </p:sp>
      <p:sp>
        <p:nvSpPr>
          <p:cNvPr id="2124" name=""/>
          <p:cNvSpPr/>
          <p:nvPr/>
        </p:nvSpPr>
        <p:spPr>
          <a:xfrm rot="0" flipH="0" flipV="0">
            <a:off x="0" y="0"/>
            <a:ext cx="12192000" cy="6858000"/>
          </a:xfrm>
          <a:prstGeom prst="rect">
            <a:avLst/>
          </a:prstGeom>
          <a:gradFill>
            <a:gsLst>
              <a:gs pos="0">
                <a:srgbClr val="0F1423"/>
              </a:gs>
              <a:gs pos="100000">
                <a:srgbClr val="2A1810"/>
              </a:gs>
            </a:gsLst>
            <a:lin ang="2700000" scaled="1"/>
          </a:gradFill>
          <a:ln/>
        </p:spPr>
        <p:txBody>
          <a:bodyPr/>
          <a:p/>
        </p:txBody>
      </p:sp>
      <p:sp>
        <p:nvSpPr>
          <p:cNvPr id="2125" name=""/>
          <p:cNvSpPr/>
          <p:nvPr/>
        </p:nvSpPr>
        <p:spPr>
          <a:xfrm rot="0" flipH="0" flipV="0">
            <a:off x="6286500" y="0"/>
            <a:ext cx="5905500" cy="6858000"/>
          </a:xfrm>
          <a:prstGeom prst="rect">
            <a:avLst/>
          </a:prstGeom>
          <a:gradFill>
            <a:gsLst>
              <a:gs pos="0">
                <a:srgbClr val="FA4F24">
                  <a:alpha val="26000"/>
                </a:srgbClr>
              </a:gs>
              <a:gs pos="70000">
                <a:srgbClr val="FA4F24">
                  <a:alpha val="0"/>
                </a:srgbClr>
              </a:gs>
            </a:gsLst>
            <a:lin ang="6600000" scaled="1"/>
          </a:gradFill>
          <a:ln/>
        </p:spPr>
        <p:txBody>
          <a:bodyPr/>
          <a:p/>
        </p:txBody>
      </p:sp>
      <p:sp>
        <p:nvSpPr>
          <p:cNvPr id="2126" name="" descr="{&quot;isTemplate&quot;:true,&quot;type&quot;:&quot;text&quot;}"/>
          <p:cNvSpPr txBox="1"/>
          <p:nvPr/>
        </p:nvSpPr>
        <p:spPr>
          <a:xfrm rot="0" flipH="0" flipV="0">
            <a:off x="838200" y="914400"/>
            <a:ext cx="10515600" cy="171450"/>
          </a:xfrm>
          <a:prstGeom prst="rect"/>
        </p:spPr>
        <p:txBody>
          <a:bodyPr wrap="none" lIns="0" tIns="0" rIns="0" bIns="0"/>
          <a:p>
            <a:pPr>
              <a:lnSpc>
                <a:spcPct val="100000"/>
              </a:lnSpc>
            </a:pPr>
            <a:r>
              <a:rPr lang="zh-CN" sz="1125" spc="225">
                <a:solidFill>
                  <a:srgbClr val="FFFFFF">
                    <a:alpha val="50000"/>
                  </a:srgbClr>
                </a:solidFill>
                <a:latin typeface="Microsoft YaHei"/>
                <a:ea typeface="Microsoft YaHei"/>
              </a:rPr>
              <a:t>结语</a:t>
            </a:r>
            <a:endParaRPr/>
          </a:p>
        </p:txBody>
      </p:sp>
      <p:sp>
        <p:nvSpPr>
          <p:cNvPr id="2127" name="" descr="{&quot;isTemplate&quot;:true,&quot;type&quot;:&quot;text&quot;}"/>
          <p:cNvSpPr txBox="1"/>
          <p:nvPr/>
        </p:nvSpPr>
        <p:spPr>
          <a:xfrm rot="0" flipH="0" flipV="0">
            <a:off x="838200" y="1295400"/>
            <a:ext cx="10515600" cy="1266825"/>
          </a:xfrm>
          <a:prstGeom prst="rect"/>
        </p:spPr>
        <p:txBody>
          <a:bodyPr wrap="none" lIns="0" tIns="0" rIns="0" bIns="0"/>
          <a:p>
            <a:pPr>
              <a:lnSpc>
                <a:spcPct val="120000"/>
              </a:lnSpc>
            </a:pPr>
            <a:r>
              <a:rPr lang="zh-CN" sz="3450" b="1">
                <a:solidFill>
                  <a:srgbClr val="FFFFFF"/>
                </a:solidFill>
                <a:latin typeface="Microsoft YaHei"/>
                <a:ea typeface="Microsoft YaHei"/>
              </a:rPr>
              <a:t>这一册的验收标准，</a:t>
            </a:r>
            <a:endParaRPr/>
          </a:p>
          <a:p>
            <a:pPr>
              <a:lnSpc>
                <a:spcPct val="120000"/>
              </a:lnSpc>
            </a:pPr>
            <a:r>
              <a:rPr lang="zh-CN" sz="3450" b="1">
                <a:solidFill>
                  <a:srgbClr val="FFFFFF"/>
                </a:solidFill>
                <a:latin typeface="Microsoft YaHei"/>
                <a:ea typeface="Microsoft YaHei"/>
              </a:rPr>
              <a:t>其实是</a:t>
            </a:r>
            <a:r>
              <a:rPr lang="zh-CN" sz="3450" b="1">
                <a:solidFill>
                  <a:srgbClr val="FA4F24"/>
                </a:solidFill>
                <a:latin typeface="Microsoft YaHei"/>
                <a:ea typeface="Microsoft YaHei"/>
              </a:rPr>
              <a:t>一句话</a:t>
            </a:r>
            <a:endParaRPr/>
          </a:p>
        </p:txBody>
      </p:sp>
      <p:sp>
        <p:nvSpPr>
          <p:cNvPr id="2128" name=""/>
          <p:cNvSpPr/>
          <p:nvPr/>
        </p:nvSpPr>
        <p:spPr>
          <a:xfrm rot="0" flipH="0" flipV="0">
            <a:off x="838200" y="2809875"/>
            <a:ext cx="685800" cy="47625"/>
          </a:xfrm>
          <a:prstGeom prst="rect">
            <a:avLst/>
          </a:prstGeom>
          <a:solidFill>
            <a:srgbClr val="FA4F24"/>
          </a:solidFill>
          <a:ln/>
        </p:spPr>
        <p:txBody>
          <a:bodyPr/>
          <a:p/>
        </p:txBody>
      </p:sp>
      <p:sp>
        <p:nvSpPr>
          <p:cNvPr id="2129" name="" descr="{&quot;isTemplate&quot;:true,&quot;type&quot;:&quot;text&quot;}"/>
          <p:cNvSpPr txBox="1"/>
          <p:nvPr/>
        </p:nvSpPr>
        <p:spPr>
          <a:xfrm rot="0" flipH="0" flipV="0">
            <a:off x="838200" y="3124200"/>
            <a:ext cx="9715500" cy="447675"/>
          </a:xfrm>
          <a:prstGeom prst="rect"/>
        </p:spPr>
        <p:txBody>
          <a:bodyPr wrap="none" lIns="0" tIns="0" rIns="0" bIns="0"/>
          <a:p>
            <a:pPr>
              <a:lnSpc>
                <a:spcPct val="160000"/>
              </a:lnSpc>
            </a:pPr>
            <a:r>
              <a:rPr lang="zh-CN" sz="1800">
                <a:solidFill>
                  <a:srgbClr val="FFFFFF">
                    <a:alpha val="92000"/>
                  </a:srgbClr>
                </a:solidFill>
                <a:latin typeface="Microsoft YaHei"/>
                <a:ea typeface="Microsoft YaHei"/>
              </a:rPr>
              <a:t>随便抽一条痛点，看它能不能一路走到一条带验收标准的需求编号。</a:t>
            </a:r>
            <a:endParaRPr/>
          </a:p>
        </p:txBody>
      </p:sp>
      <p:sp>
        <p:nvSpPr>
          <p:cNvPr id="2130" name="" descr="{&quot;isTemplate&quot;:true,&quot;type&quot;:&quot;text&quot;}"/>
          <p:cNvSpPr txBox="1"/>
          <p:nvPr/>
        </p:nvSpPr>
        <p:spPr>
          <a:xfrm rot="0" flipH="0" flipV="0">
            <a:off x="838200" y="3781425"/>
            <a:ext cx="9715500" cy="609600"/>
          </a:xfrm>
          <a:prstGeom prst="rect"/>
        </p:spPr>
        <p:txBody>
          <a:bodyPr wrap="square" lIns="0" tIns="0" rIns="0" bIns="0">
            <a:normAutofit/>
          </a:bodyPr>
          <a:p>
            <a:pPr>
              <a:lnSpc>
                <a:spcPct val="170000"/>
              </a:lnSpc>
            </a:pPr>
            <a:r>
              <a:rPr lang="zh-CN" sz="1163">
                <a:solidFill>
                  <a:srgbClr val="FFFFFF">
                    <a:alpha val="62000"/>
                  </a:srgbClr>
                </a:solidFill>
                <a:latin typeface="Microsoft YaHei"/>
                <a:ea typeface="Microsoft YaHei"/>
              </a:rPr>
              <a:t>走通了，说明四层之间没有断点，这份诊断和这套蓝图是同一个故事；走不通，说明某一层是凭想象画的，</a:t>
            </a:r>
            <a:r>
              <a:rPr lang="en-US" sz="1163">
                <a:solidFill>
                  <a:srgbClr val="FFFFFF">
                    <a:alpha val="62000"/>
                  </a:srgbClr>
                </a:solidFill>
                <a:latin typeface="Microsoft YaHei"/>
                <a:ea typeface="Microsoft YaHei"/>
              </a:rPr>
              <a:t xml:space="preserve"> </a:t>
            </a:r>
            <a:r>
              <a:rPr lang="zh-CN" sz="1163">
                <a:solidFill>
                  <a:srgbClr val="FFFFFF">
                    <a:alpha val="62000"/>
                  </a:srgbClr>
                </a:solidFill>
                <a:latin typeface="Microsoft YaHei"/>
                <a:ea typeface="Microsoft YaHei"/>
              </a:rPr>
              <a:t>后面系统建得再好，接的也是另一套需求。这一句话在现场五分钟就能验完，却能挡住整套交付物里最常见的那类问题。</a:t>
            </a:r>
            <a:endParaRPr/>
          </a:p>
        </p:txBody>
      </p:sp>
      <p:sp>
        <p:nvSpPr>
          <p:cNvPr id="2131" name=""/>
          <p:cNvSpPr/>
          <p:nvPr/>
        </p:nvSpPr>
        <p:spPr>
          <a:xfrm rot="0" flipH="0" flipV="0">
            <a:off x="866775" y="4457700"/>
            <a:ext cx="2562225" cy="1028700"/>
          </a:xfrm>
          <a:prstGeom prst="roundRect">
            <a:avLst>
              <a:gd name="adj" fmla="val 3704"/>
            </a:avLst>
          </a:prstGeom>
          <a:solidFill>
            <a:srgbClr val="FFFFFF">
              <a:alpha val="6000"/>
            </a:srgbClr>
          </a:solidFill>
          <a:ln/>
        </p:spPr>
        <p:txBody>
          <a:bodyPr/>
          <a:p/>
        </p:txBody>
      </p:sp>
      <p:sp>
        <p:nvSpPr>
          <p:cNvPr id="2132" name=""/>
          <p:cNvSpPr/>
          <p:nvPr/>
        </p:nvSpPr>
        <p:spPr>
          <a:xfrm rot="0" flipH="0" flipV="0">
            <a:off x="866775" y="4457700"/>
            <a:ext cx="2562225" cy="1028700"/>
          </a:xfrm>
          <a:custGeom>
            <a:pathLst>
              <a:path w="269" h="108">
                <a:moveTo>
                  <a:pt x="4" y="0"/>
                </a:moveTo>
                <a:cubicBezTo>
                  <a:pt x="3" y="0"/>
                  <a:pt x="3" y="0"/>
                  <a:pt x="3" y="1"/>
                </a:cubicBezTo>
                <a:lnTo>
                  <a:pt x="3" y="107"/>
                </a:lnTo>
                <a:cubicBezTo>
                  <a:pt x="3" y="107"/>
                  <a:pt x="3" y="108"/>
                  <a:pt x="4" y="108"/>
                </a:cubicBezTo>
                <a:cubicBezTo>
                  <a:pt x="2" y="108"/>
                  <a:pt x="0" y="106"/>
                  <a:pt x="0" y="104"/>
                </a:cubicBezTo>
                <a:lnTo>
                  <a:pt x="0" y="4"/>
                </a:lnTo>
                <a:cubicBezTo>
                  <a:pt x="0" y="2"/>
                  <a:pt x="2" y="0"/>
                  <a:pt x="4" y="0"/>
                </a:cubicBezTo>
                <a:close/>
              </a:path>
            </a:pathLst>
          </a:custGeom>
          <a:solidFill>
            <a:srgbClr val="FA4F24"/>
          </a:solidFill>
          <a:ln/>
        </p:spPr>
        <p:txBody>
          <a:bodyPr/>
          <a:p/>
        </p:txBody>
      </p:sp>
      <p:sp>
        <p:nvSpPr>
          <p:cNvPr id="2133" name="" descr="{&quot;isTemplate&quot;:true,&quot;type&quot;:&quot;text&quot;}"/>
          <p:cNvSpPr txBox="1"/>
          <p:nvPr/>
        </p:nvSpPr>
        <p:spPr>
          <a:xfrm rot="0" flipH="0" flipV="0">
            <a:off x="1000125" y="4572000"/>
            <a:ext cx="504825" cy="123825"/>
          </a:xfrm>
          <a:prstGeom prst="rect"/>
        </p:spPr>
        <p:txBody>
          <a:bodyPr wrap="none" lIns="0" tIns="0" rIns="0" bIns="0"/>
          <a:p>
            <a:pPr>
              <a:lnSpc>
                <a:spcPct val="100000"/>
              </a:lnSpc>
            </a:pPr>
            <a:r>
              <a:rPr lang="zh-CN" sz="788" b="1">
                <a:solidFill>
                  <a:srgbClr val="FBA15C"/>
                </a:solidFill>
                <a:latin typeface="Microsoft YaHei"/>
                <a:ea typeface="Microsoft YaHei"/>
              </a:rPr>
              <a:t>第一句承诺</a:t>
            </a:r>
            <a:endParaRPr/>
          </a:p>
        </p:txBody>
      </p:sp>
      <p:sp>
        <p:nvSpPr>
          <p:cNvPr id="2134" name="" descr="{&quot;isTemplate&quot;:true,&quot;type&quot;:&quot;text&quot;}"/>
          <p:cNvSpPr txBox="1"/>
          <p:nvPr/>
        </p:nvSpPr>
        <p:spPr>
          <a:xfrm rot="0" flipH="0" flipV="0">
            <a:off x="1571625" y="4581525"/>
            <a:ext cx="171450" cy="114300"/>
          </a:xfrm>
          <a:prstGeom prst="rect"/>
        </p:spPr>
        <p:txBody>
          <a:bodyPr wrap="none" lIns="0" tIns="0" rIns="0" bIns="0"/>
          <a:p>
            <a:pPr>
              <a:lnSpc>
                <a:spcPct val="100000"/>
              </a:lnSpc>
            </a:pPr>
            <a:r>
              <a:rPr lang="en-US" sz="750">
                <a:solidFill>
                  <a:srgbClr val="FFFFFF">
                    <a:alpha val="45000"/>
                  </a:srgbClr>
                </a:solidFill>
                <a:latin typeface="Microsoft YaHei"/>
                <a:ea typeface="Microsoft YaHei"/>
              </a:rPr>
              <a:t>P09</a:t>
            </a:r>
            <a:endParaRPr/>
          </a:p>
        </p:txBody>
      </p:sp>
      <p:sp>
        <p:nvSpPr>
          <p:cNvPr id="2135" name="" descr="{&quot;isTemplate&quot;:true,&quot;type&quot;:&quot;text&quot;}"/>
          <p:cNvSpPr txBox="1"/>
          <p:nvPr/>
        </p:nvSpPr>
        <p:spPr>
          <a:xfrm rot="0" flipH="0" flipV="0">
            <a:off x="1000125" y="4752975"/>
            <a:ext cx="2266950" cy="190500"/>
          </a:xfrm>
          <a:prstGeom prst="rect"/>
        </p:spPr>
        <p:txBody>
          <a:bodyPr wrap="none" lIns="0" tIns="0" rIns="0" bIns="0"/>
          <a:p>
            <a:pPr>
              <a:lnSpc>
                <a:spcPct val="100000"/>
              </a:lnSpc>
            </a:pPr>
            <a:r>
              <a:rPr lang="zh-CN" sz="1200" b="1">
                <a:solidFill>
                  <a:srgbClr val="FFFFFF"/>
                </a:solidFill>
                <a:latin typeface="Microsoft YaHei"/>
                <a:ea typeface="Microsoft YaHei"/>
              </a:rPr>
              <a:t>颗粒度写死</a:t>
            </a:r>
            <a:endParaRPr/>
          </a:p>
        </p:txBody>
      </p:sp>
      <p:sp>
        <p:nvSpPr>
          <p:cNvPr id="2136" name="" descr="{&quot;isTemplate&quot;:true,&quot;type&quot;:&quot;text&quot;}"/>
          <p:cNvSpPr txBox="1"/>
          <p:nvPr/>
        </p:nvSpPr>
        <p:spPr>
          <a:xfrm rot="0" flipH="0" flipV="0">
            <a:off x="1000125" y="5000625"/>
            <a:ext cx="2266950" cy="371475"/>
          </a:xfrm>
          <a:prstGeom prst="rect"/>
        </p:spPr>
        <p:txBody>
          <a:bodyPr wrap="square" lIns="0" tIns="0" rIns="0" bIns="0">
            <a:normAutofit/>
          </a:bodyPr>
          <a:p>
            <a:pPr>
              <a:lnSpc>
                <a:spcPct val="145000"/>
              </a:lnSpc>
            </a:pPr>
            <a:r>
              <a:rPr lang="en-US" sz="825">
                <a:solidFill>
                  <a:srgbClr val="FFFFFF">
                    <a:alpha val="72000"/>
                  </a:srgbClr>
                </a:solidFill>
                <a:latin typeface="Microsoft YaHei"/>
                <a:ea typeface="Microsoft YaHei"/>
              </a:rPr>
              <a:t xml:space="preserve">L4 </a:t>
            </a:r>
            <a:r>
              <a:rPr lang="zh-CN" sz="825">
                <a:solidFill>
                  <a:srgbClr val="FFFFFF">
                    <a:alpha val="72000"/>
                  </a:srgbClr>
                </a:solidFill>
                <a:latin typeface="Microsoft YaHei"/>
                <a:ea typeface="Microsoft YaHei"/>
              </a:rPr>
              <a:t>子流程</a:t>
            </a:r>
            <a:r>
              <a:rPr lang="en-US" sz="825">
                <a:solidFill>
                  <a:srgbClr val="FFFFFF">
                    <a:alpha val="72000"/>
                  </a:srgbClr>
                </a:solidFill>
                <a:latin typeface="Microsoft YaHei"/>
                <a:ea typeface="Microsoft YaHei"/>
              </a:rPr>
              <a:t xml:space="preserve"> / </a:t>
            </a:r>
            <a:r>
              <a:rPr lang="zh-CN" sz="825">
                <a:solidFill>
                  <a:srgbClr val="FFFFFF">
                    <a:alpha val="72000"/>
                  </a:srgbClr>
                </a:solidFill>
                <a:latin typeface="Microsoft YaHei"/>
                <a:ea typeface="Microsoft YaHei"/>
              </a:rPr>
              <a:t>业务逻辑实体</a:t>
            </a:r>
            <a:r>
              <a:rPr lang="en-US" sz="825">
                <a:solidFill>
                  <a:srgbClr val="FFFFFF">
                    <a:alpha val="72000"/>
                  </a:srgbClr>
                </a:solidFill>
                <a:latin typeface="Microsoft YaHei"/>
                <a:ea typeface="Microsoft YaHei"/>
              </a:rPr>
              <a:t xml:space="preserve"> / </a:t>
            </a:r>
            <a:r>
              <a:rPr lang="zh-CN" sz="825">
                <a:solidFill>
                  <a:srgbClr val="FFFFFF">
                    <a:alpha val="72000"/>
                  </a:srgbClr>
                </a:solidFill>
                <a:latin typeface="Microsoft YaHei"/>
                <a:ea typeface="Microsoft YaHei"/>
              </a:rPr>
              <a:t>功能模块，</a:t>
            </a:r>
            <a:r>
              <a:rPr lang="en-US" sz="825">
                <a:solidFill>
                  <a:srgbClr val="FFFFFF">
                    <a:alpha val="72000"/>
                  </a:srgbClr>
                </a:solidFill>
                <a:latin typeface="Microsoft YaHei"/>
                <a:ea typeface="Microsoft YaHei"/>
              </a:rPr>
              <a:t xml:space="preserve">L5-L6 / </a:t>
            </a:r>
            <a:r>
              <a:rPr lang="zh-CN" sz="825">
                <a:solidFill>
                  <a:srgbClr val="FFFFFF">
                    <a:alpha val="72000"/>
                  </a:srgbClr>
                </a:solidFill>
                <a:latin typeface="Microsoft YaHei"/>
                <a:ea typeface="Microsoft YaHei"/>
              </a:rPr>
              <a:t>实体属性</a:t>
            </a:r>
            <a:r>
              <a:rPr lang="en-US" sz="825">
                <a:solidFill>
                  <a:srgbClr val="FFFFFF">
                    <a:alpha val="72000"/>
                  </a:srgbClr>
                </a:solidFill>
                <a:latin typeface="Microsoft YaHei"/>
                <a:ea typeface="Microsoft YaHei"/>
              </a:rPr>
              <a:t xml:space="preserve"> / </a:t>
            </a:r>
            <a:r>
              <a:rPr lang="zh-CN" sz="825">
                <a:solidFill>
                  <a:srgbClr val="FFFFFF">
                    <a:alpha val="72000"/>
                  </a:srgbClr>
                </a:solidFill>
                <a:latin typeface="Microsoft YaHei"/>
                <a:ea typeface="Microsoft YaHei"/>
              </a:rPr>
              <a:t>服务</a:t>
            </a:r>
            <a:r>
              <a:rPr lang="en-US" sz="825">
                <a:solidFill>
                  <a:srgbClr val="FFFFFF">
                    <a:alpha val="72000"/>
                  </a:srgbClr>
                </a:solidFill>
                <a:latin typeface="Microsoft YaHei"/>
                <a:ea typeface="Microsoft YaHei"/>
              </a:rPr>
              <a:t>-</a:t>
            </a:r>
            <a:r>
              <a:rPr lang="zh-CN" sz="825">
                <a:solidFill>
                  <a:srgbClr val="FFFFFF">
                    <a:alpha val="72000"/>
                  </a:srgbClr>
                </a:solidFill>
                <a:latin typeface="Microsoft YaHei"/>
                <a:ea typeface="Microsoft YaHei"/>
              </a:rPr>
              <a:t>特性</a:t>
            </a:r>
            <a:r>
              <a:rPr lang="en-US" sz="825">
                <a:solidFill>
                  <a:srgbClr val="FFFFFF">
                    <a:alpha val="72000"/>
                  </a:srgbClr>
                </a:solidFill>
                <a:latin typeface="Microsoft YaHei"/>
                <a:ea typeface="Microsoft YaHei"/>
              </a:rPr>
              <a:t>-</a:t>
            </a:r>
            <a:r>
              <a:rPr lang="zh-CN" sz="825">
                <a:solidFill>
                  <a:srgbClr val="FFFFFF">
                    <a:alpha val="72000"/>
                  </a:srgbClr>
                </a:solidFill>
                <a:latin typeface="Microsoft YaHei"/>
                <a:ea typeface="Microsoft YaHei"/>
              </a:rPr>
              <a:t>子特性</a:t>
            </a:r>
            <a:endParaRPr/>
          </a:p>
        </p:txBody>
      </p:sp>
      <p:sp>
        <p:nvSpPr>
          <p:cNvPr id="2137" name=""/>
          <p:cNvSpPr/>
          <p:nvPr/>
        </p:nvSpPr>
        <p:spPr>
          <a:xfrm rot="0" flipH="0" flipV="0">
            <a:off x="3514725" y="4457700"/>
            <a:ext cx="2571750" cy="1028700"/>
          </a:xfrm>
          <a:prstGeom prst="roundRect">
            <a:avLst>
              <a:gd name="adj" fmla="val 3704"/>
            </a:avLst>
          </a:prstGeom>
          <a:solidFill>
            <a:srgbClr val="FFFFFF">
              <a:alpha val="6000"/>
            </a:srgbClr>
          </a:solidFill>
          <a:ln/>
        </p:spPr>
        <p:txBody>
          <a:bodyPr/>
          <a:p/>
        </p:txBody>
      </p:sp>
      <p:sp>
        <p:nvSpPr>
          <p:cNvPr id="2138" name=""/>
          <p:cNvSpPr/>
          <p:nvPr/>
        </p:nvSpPr>
        <p:spPr>
          <a:xfrm rot="0" flipH="0" flipV="0">
            <a:off x="3514725" y="4457700"/>
            <a:ext cx="2571750" cy="1028700"/>
          </a:xfrm>
          <a:custGeom>
            <a:pathLst>
              <a:path w="270" h="108">
                <a:moveTo>
                  <a:pt x="4" y="0"/>
                </a:moveTo>
                <a:cubicBezTo>
                  <a:pt x="3" y="0"/>
                  <a:pt x="3" y="0"/>
                  <a:pt x="3" y="1"/>
                </a:cubicBezTo>
                <a:lnTo>
                  <a:pt x="3" y="107"/>
                </a:lnTo>
                <a:cubicBezTo>
                  <a:pt x="3" y="107"/>
                  <a:pt x="3" y="108"/>
                  <a:pt x="4" y="108"/>
                </a:cubicBezTo>
                <a:cubicBezTo>
                  <a:pt x="2" y="108"/>
                  <a:pt x="0" y="106"/>
                  <a:pt x="0" y="104"/>
                </a:cubicBezTo>
                <a:lnTo>
                  <a:pt x="0" y="4"/>
                </a:lnTo>
                <a:cubicBezTo>
                  <a:pt x="0" y="2"/>
                  <a:pt x="2" y="0"/>
                  <a:pt x="4" y="0"/>
                </a:cubicBezTo>
                <a:close/>
              </a:path>
            </a:pathLst>
          </a:custGeom>
          <a:solidFill>
            <a:srgbClr val="FA4F24"/>
          </a:solidFill>
          <a:ln/>
        </p:spPr>
        <p:txBody>
          <a:bodyPr/>
          <a:p/>
        </p:txBody>
      </p:sp>
      <p:sp>
        <p:nvSpPr>
          <p:cNvPr id="2139" name="" descr="{&quot;isTemplate&quot;:true,&quot;type&quot;:&quot;text&quot;}"/>
          <p:cNvSpPr txBox="1"/>
          <p:nvPr/>
        </p:nvSpPr>
        <p:spPr>
          <a:xfrm rot="0" flipH="0" flipV="0">
            <a:off x="3648075" y="4572000"/>
            <a:ext cx="504825" cy="123825"/>
          </a:xfrm>
          <a:prstGeom prst="rect"/>
        </p:spPr>
        <p:txBody>
          <a:bodyPr wrap="none" lIns="0" tIns="0" rIns="0" bIns="0"/>
          <a:p>
            <a:pPr>
              <a:lnSpc>
                <a:spcPct val="100000"/>
              </a:lnSpc>
            </a:pPr>
            <a:r>
              <a:rPr lang="zh-CN" sz="788" b="1">
                <a:solidFill>
                  <a:srgbClr val="FBA15C"/>
                </a:solidFill>
                <a:latin typeface="Microsoft YaHei"/>
                <a:ea typeface="Microsoft YaHei"/>
              </a:rPr>
              <a:t>第二句承诺</a:t>
            </a:r>
            <a:endParaRPr/>
          </a:p>
        </p:txBody>
      </p:sp>
      <p:sp>
        <p:nvSpPr>
          <p:cNvPr id="2140" name="" descr="{&quot;isTemplate&quot;:true,&quot;type&quot;:&quot;text&quot;}"/>
          <p:cNvSpPr txBox="1"/>
          <p:nvPr/>
        </p:nvSpPr>
        <p:spPr>
          <a:xfrm rot="0" flipH="0" flipV="0">
            <a:off x="4219575" y="4581525"/>
            <a:ext cx="171450" cy="114300"/>
          </a:xfrm>
          <a:prstGeom prst="rect"/>
        </p:spPr>
        <p:txBody>
          <a:bodyPr wrap="none" lIns="0" tIns="0" rIns="0" bIns="0"/>
          <a:p>
            <a:pPr>
              <a:lnSpc>
                <a:spcPct val="100000"/>
              </a:lnSpc>
            </a:pPr>
            <a:r>
              <a:rPr lang="en-US" sz="750">
                <a:solidFill>
                  <a:srgbClr val="FFFFFF">
                    <a:alpha val="45000"/>
                  </a:srgbClr>
                </a:solidFill>
                <a:latin typeface="Microsoft YaHei"/>
                <a:ea typeface="Microsoft YaHei"/>
              </a:rPr>
              <a:t>P10</a:t>
            </a:r>
            <a:endParaRPr/>
          </a:p>
        </p:txBody>
      </p:sp>
      <p:sp>
        <p:nvSpPr>
          <p:cNvPr id="2141" name="" descr="{&quot;isTemplate&quot;:true,&quot;type&quot;:&quot;text&quot;}"/>
          <p:cNvSpPr txBox="1"/>
          <p:nvPr/>
        </p:nvSpPr>
        <p:spPr>
          <a:xfrm rot="0" flipH="0" flipV="0">
            <a:off x="3648075" y="4752975"/>
            <a:ext cx="2276475" cy="190500"/>
          </a:xfrm>
          <a:prstGeom prst="rect"/>
        </p:spPr>
        <p:txBody>
          <a:bodyPr wrap="none" lIns="0" tIns="0" rIns="0" bIns="0"/>
          <a:p>
            <a:pPr>
              <a:lnSpc>
                <a:spcPct val="100000"/>
              </a:lnSpc>
            </a:pPr>
            <a:r>
              <a:rPr lang="zh-CN" sz="1200" b="1">
                <a:solidFill>
                  <a:srgbClr val="FFFFFF"/>
                </a:solidFill>
                <a:latin typeface="Microsoft YaHei"/>
                <a:ea typeface="Microsoft YaHei"/>
              </a:rPr>
              <a:t>全链路可追溯</a:t>
            </a:r>
            <a:endParaRPr/>
          </a:p>
        </p:txBody>
      </p:sp>
      <p:sp>
        <p:nvSpPr>
          <p:cNvPr id="2142" name="" descr="{&quot;isTemplate&quot;:true,&quot;type&quot;:&quot;text&quot;}"/>
          <p:cNvSpPr txBox="1"/>
          <p:nvPr/>
        </p:nvSpPr>
        <p:spPr>
          <a:xfrm rot="0" flipH="0" flipV="0">
            <a:off x="3648075" y="5000625"/>
            <a:ext cx="2276475" cy="371475"/>
          </a:xfrm>
          <a:prstGeom prst="rect"/>
        </p:spPr>
        <p:txBody>
          <a:bodyPr wrap="square" lIns="0" tIns="0" rIns="0" bIns="0">
            <a:normAutofit/>
          </a:bodyPr>
          <a:p>
            <a:pPr>
              <a:lnSpc>
                <a:spcPct val="145000"/>
              </a:lnSpc>
            </a:pPr>
            <a:r>
              <a:rPr lang="en-US" sz="825">
                <a:solidFill>
                  <a:srgbClr val="FFFFFF">
                    <a:alpha val="72000"/>
                  </a:srgbClr>
                </a:solidFill>
                <a:latin typeface="Microsoft YaHei"/>
                <a:ea typeface="Microsoft YaHei"/>
              </a:rPr>
              <a:t xml:space="preserve">PAIN → ROOT → BLD → REQ </a:t>
            </a:r>
            <a:r>
              <a:rPr lang="zh-CN" sz="825">
                <a:solidFill>
                  <a:srgbClr val="FFFFFF">
                    <a:alpha val="72000"/>
                  </a:srgbClr>
                </a:solidFill>
                <a:latin typeface="Microsoft YaHei"/>
                <a:ea typeface="Microsoft YaHei"/>
              </a:rPr>
              <a:t>四段编号，需求可反向三分钟倒推回痛点</a:t>
            </a:r>
            <a:endParaRPr/>
          </a:p>
        </p:txBody>
      </p:sp>
      <p:sp>
        <p:nvSpPr>
          <p:cNvPr id="2143" name=""/>
          <p:cNvSpPr/>
          <p:nvPr/>
        </p:nvSpPr>
        <p:spPr>
          <a:xfrm rot="0" flipH="0" flipV="0">
            <a:off x="6172200" y="4457700"/>
            <a:ext cx="2562225" cy="1028700"/>
          </a:xfrm>
          <a:prstGeom prst="roundRect">
            <a:avLst>
              <a:gd name="adj" fmla="val 3704"/>
            </a:avLst>
          </a:prstGeom>
          <a:solidFill>
            <a:srgbClr val="FFFFFF">
              <a:alpha val="6000"/>
            </a:srgbClr>
          </a:solidFill>
          <a:ln/>
        </p:spPr>
        <p:txBody>
          <a:bodyPr/>
          <a:p/>
        </p:txBody>
      </p:sp>
      <p:sp>
        <p:nvSpPr>
          <p:cNvPr id="2144" name=""/>
          <p:cNvSpPr/>
          <p:nvPr/>
        </p:nvSpPr>
        <p:spPr>
          <a:xfrm rot="0" flipH="0" flipV="0">
            <a:off x="6172200" y="4457700"/>
            <a:ext cx="2562225" cy="1028700"/>
          </a:xfrm>
          <a:custGeom>
            <a:pathLst>
              <a:path w="269" h="108">
                <a:moveTo>
                  <a:pt x="4" y="0"/>
                </a:moveTo>
                <a:cubicBezTo>
                  <a:pt x="3" y="0"/>
                  <a:pt x="3" y="0"/>
                  <a:pt x="3" y="1"/>
                </a:cubicBezTo>
                <a:lnTo>
                  <a:pt x="3" y="107"/>
                </a:lnTo>
                <a:cubicBezTo>
                  <a:pt x="3" y="107"/>
                  <a:pt x="3" y="108"/>
                  <a:pt x="4" y="108"/>
                </a:cubicBezTo>
                <a:cubicBezTo>
                  <a:pt x="2" y="108"/>
                  <a:pt x="0" y="106"/>
                  <a:pt x="0" y="104"/>
                </a:cubicBezTo>
                <a:lnTo>
                  <a:pt x="0" y="4"/>
                </a:lnTo>
                <a:cubicBezTo>
                  <a:pt x="0" y="2"/>
                  <a:pt x="2" y="0"/>
                  <a:pt x="4" y="0"/>
                </a:cubicBezTo>
                <a:close/>
              </a:path>
            </a:pathLst>
          </a:custGeom>
          <a:solidFill>
            <a:srgbClr val="FA4F24"/>
          </a:solidFill>
          <a:ln/>
        </p:spPr>
        <p:txBody>
          <a:bodyPr/>
          <a:p/>
        </p:txBody>
      </p:sp>
      <p:sp>
        <p:nvSpPr>
          <p:cNvPr id="2145" name="" descr="{&quot;isTemplate&quot;:true,&quot;type&quot;:&quot;text&quot;}"/>
          <p:cNvSpPr txBox="1"/>
          <p:nvPr/>
        </p:nvSpPr>
        <p:spPr>
          <a:xfrm rot="0" flipH="0" flipV="0">
            <a:off x="6305550" y="4572000"/>
            <a:ext cx="504825" cy="123825"/>
          </a:xfrm>
          <a:prstGeom prst="rect"/>
        </p:spPr>
        <p:txBody>
          <a:bodyPr wrap="none" lIns="0" tIns="0" rIns="0" bIns="0"/>
          <a:p>
            <a:pPr>
              <a:lnSpc>
                <a:spcPct val="100000"/>
              </a:lnSpc>
            </a:pPr>
            <a:r>
              <a:rPr lang="zh-CN" sz="788" b="1">
                <a:solidFill>
                  <a:srgbClr val="FBA15C"/>
                </a:solidFill>
                <a:latin typeface="Microsoft YaHei"/>
                <a:ea typeface="Microsoft YaHei"/>
              </a:rPr>
              <a:t>第三句承诺</a:t>
            </a:r>
            <a:endParaRPr/>
          </a:p>
        </p:txBody>
      </p:sp>
      <p:sp>
        <p:nvSpPr>
          <p:cNvPr id="2146" name="" descr="{&quot;isTemplate&quot;:true,&quot;type&quot;:&quot;text&quot;}"/>
          <p:cNvSpPr txBox="1"/>
          <p:nvPr/>
        </p:nvSpPr>
        <p:spPr>
          <a:xfrm rot="0" flipH="0" flipV="0">
            <a:off x="6877050" y="4581525"/>
            <a:ext cx="171450" cy="114300"/>
          </a:xfrm>
          <a:prstGeom prst="rect"/>
        </p:spPr>
        <p:txBody>
          <a:bodyPr wrap="none" lIns="0" tIns="0" rIns="0" bIns="0"/>
          <a:p>
            <a:pPr>
              <a:lnSpc>
                <a:spcPct val="100000"/>
              </a:lnSpc>
            </a:pPr>
            <a:r>
              <a:rPr lang="en-US" sz="750">
                <a:solidFill>
                  <a:srgbClr val="FFFFFF">
                    <a:alpha val="45000"/>
                  </a:srgbClr>
                </a:solidFill>
                <a:latin typeface="Microsoft YaHei"/>
                <a:ea typeface="Microsoft YaHei"/>
              </a:rPr>
              <a:t>P34</a:t>
            </a:r>
            <a:endParaRPr/>
          </a:p>
        </p:txBody>
      </p:sp>
      <p:sp>
        <p:nvSpPr>
          <p:cNvPr id="2147" name="" descr="{&quot;isTemplate&quot;:true,&quot;type&quot;:&quot;text&quot;}"/>
          <p:cNvSpPr txBox="1"/>
          <p:nvPr/>
        </p:nvSpPr>
        <p:spPr>
          <a:xfrm rot="0" flipH="0" flipV="0">
            <a:off x="6305550" y="4752975"/>
            <a:ext cx="2266950" cy="190500"/>
          </a:xfrm>
          <a:prstGeom prst="rect"/>
        </p:spPr>
        <p:txBody>
          <a:bodyPr wrap="none" lIns="0" tIns="0" rIns="0" bIns="0"/>
          <a:p>
            <a:pPr>
              <a:lnSpc>
                <a:spcPct val="100000"/>
              </a:lnSpc>
            </a:pPr>
            <a:r>
              <a:rPr lang="zh-CN" sz="1200" b="1">
                <a:solidFill>
                  <a:srgbClr val="FFFFFF"/>
                </a:solidFill>
                <a:latin typeface="Microsoft YaHei"/>
                <a:ea typeface="Microsoft YaHei"/>
              </a:rPr>
              <a:t>九项交付物签收</a:t>
            </a:r>
            <a:endParaRPr/>
          </a:p>
        </p:txBody>
      </p:sp>
      <p:sp>
        <p:nvSpPr>
          <p:cNvPr id="2148" name="" descr="{&quot;isTemplate&quot;:true,&quot;type&quot;:&quot;text&quot;}"/>
          <p:cNvSpPr txBox="1"/>
          <p:nvPr/>
        </p:nvSpPr>
        <p:spPr>
          <a:xfrm rot="0" flipH="0" flipV="0">
            <a:off x="6305550" y="5000625"/>
            <a:ext cx="2266950" cy="371475"/>
          </a:xfrm>
          <a:prstGeom prst="rect"/>
        </p:spPr>
        <p:txBody>
          <a:bodyPr wrap="square" lIns="0" tIns="0" rIns="0" bIns="0">
            <a:normAutofit/>
          </a:bodyPr>
          <a:p>
            <a:pPr>
              <a:lnSpc>
                <a:spcPct val="145000"/>
              </a:lnSpc>
            </a:pPr>
            <a:r>
              <a:rPr lang="zh-CN" sz="825">
                <a:solidFill>
                  <a:srgbClr val="FFFFFF">
                    <a:alpha val="72000"/>
                  </a:srgbClr>
                </a:solidFill>
                <a:latin typeface="Microsoft YaHei"/>
                <a:ea typeface="Microsoft YaHei"/>
              </a:rPr>
              <a:t>每项绑定阶段、主责域与验收要点，验收不过按列明方式补</a:t>
            </a:r>
            <a:endParaRPr/>
          </a:p>
        </p:txBody>
      </p:sp>
      <p:sp>
        <p:nvSpPr>
          <p:cNvPr id="2149" name=""/>
          <p:cNvSpPr/>
          <p:nvPr/>
        </p:nvSpPr>
        <p:spPr>
          <a:xfrm rot="0" flipH="0" flipV="0">
            <a:off x="8820150" y="4457700"/>
            <a:ext cx="2562225" cy="1028700"/>
          </a:xfrm>
          <a:prstGeom prst="roundRect">
            <a:avLst>
              <a:gd name="adj" fmla="val 3704"/>
            </a:avLst>
          </a:prstGeom>
          <a:solidFill>
            <a:srgbClr val="FFFFFF">
              <a:alpha val="6000"/>
            </a:srgbClr>
          </a:solidFill>
          <a:ln/>
        </p:spPr>
        <p:txBody>
          <a:bodyPr/>
          <a:p/>
        </p:txBody>
      </p:sp>
      <p:sp>
        <p:nvSpPr>
          <p:cNvPr id="2150" name=""/>
          <p:cNvSpPr/>
          <p:nvPr/>
        </p:nvSpPr>
        <p:spPr>
          <a:xfrm rot="0" flipH="0" flipV="0">
            <a:off x="8820150" y="4457700"/>
            <a:ext cx="2562225" cy="1028700"/>
          </a:xfrm>
          <a:custGeom>
            <a:pathLst>
              <a:path w="269" h="108">
                <a:moveTo>
                  <a:pt x="4" y="0"/>
                </a:moveTo>
                <a:cubicBezTo>
                  <a:pt x="3" y="0"/>
                  <a:pt x="3" y="0"/>
                  <a:pt x="3" y="1"/>
                </a:cubicBezTo>
                <a:lnTo>
                  <a:pt x="3" y="107"/>
                </a:lnTo>
                <a:cubicBezTo>
                  <a:pt x="3" y="107"/>
                  <a:pt x="3" y="108"/>
                  <a:pt x="4" y="108"/>
                </a:cubicBezTo>
                <a:cubicBezTo>
                  <a:pt x="2" y="108"/>
                  <a:pt x="0" y="106"/>
                  <a:pt x="0" y="104"/>
                </a:cubicBezTo>
                <a:lnTo>
                  <a:pt x="0" y="4"/>
                </a:lnTo>
                <a:cubicBezTo>
                  <a:pt x="0" y="2"/>
                  <a:pt x="2" y="0"/>
                  <a:pt x="4" y="0"/>
                </a:cubicBezTo>
                <a:close/>
              </a:path>
            </a:pathLst>
          </a:custGeom>
          <a:solidFill>
            <a:srgbClr val="FA4F24"/>
          </a:solidFill>
          <a:ln/>
        </p:spPr>
        <p:txBody>
          <a:bodyPr/>
          <a:p/>
        </p:txBody>
      </p:sp>
      <p:sp>
        <p:nvSpPr>
          <p:cNvPr id="2151" name="" descr="{&quot;isTemplate&quot;:true,&quot;type&quot;:&quot;text&quot;}"/>
          <p:cNvSpPr txBox="1"/>
          <p:nvPr/>
        </p:nvSpPr>
        <p:spPr>
          <a:xfrm rot="0" flipH="0" flipV="0">
            <a:off x="8953500" y="4572000"/>
            <a:ext cx="504825" cy="123825"/>
          </a:xfrm>
          <a:prstGeom prst="rect"/>
        </p:spPr>
        <p:txBody>
          <a:bodyPr wrap="none" lIns="0" tIns="0" rIns="0" bIns="0"/>
          <a:p>
            <a:pPr>
              <a:lnSpc>
                <a:spcPct val="100000"/>
              </a:lnSpc>
            </a:pPr>
            <a:r>
              <a:rPr lang="zh-CN" sz="788" b="1">
                <a:solidFill>
                  <a:srgbClr val="FBA15C"/>
                </a:solidFill>
                <a:latin typeface="Microsoft YaHei"/>
                <a:ea typeface="Microsoft YaHei"/>
              </a:rPr>
              <a:t>第四句承诺</a:t>
            </a:r>
            <a:endParaRPr/>
          </a:p>
        </p:txBody>
      </p:sp>
      <p:sp>
        <p:nvSpPr>
          <p:cNvPr id="2152" name="" descr="{&quot;isTemplate&quot;:true,&quot;type&quot;:&quot;text&quot;}"/>
          <p:cNvSpPr txBox="1"/>
          <p:nvPr/>
        </p:nvSpPr>
        <p:spPr>
          <a:xfrm rot="0" flipH="0" flipV="0">
            <a:off x="9525000" y="4581525"/>
            <a:ext cx="171450" cy="114300"/>
          </a:xfrm>
          <a:prstGeom prst="rect"/>
        </p:spPr>
        <p:txBody>
          <a:bodyPr wrap="none" lIns="0" tIns="0" rIns="0" bIns="0"/>
          <a:p>
            <a:pPr>
              <a:lnSpc>
                <a:spcPct val="100000"/>
              </a:lnSpc>
            </a:pPr>
            <a:r>
              <a:rPr lang="en-US" sz="750">
                <a:solidFill>
                  <a:srgbClr val="FFFFFF">
                    <a:alpha val="45000"/>
                  </a:srgbClr>
                </a:solidFill>
                <a:latin typeface="Microsoft YaHei"/>
                <a:ea typeface="Microsoft YaHei"/>
              </a:rPr>
              <a:t>P29</a:t>
            </a:r>
            <a:endParaRPr/>
          </a:p>
        </p:txBody>
      </p:sp>
      <p:sp>
        <p:nvSpPr>
          <p:cNvPr id="2153" name="" descr="{&quot;isTemplate&quot;:true,&quot;type&quot;:&quot;text&quot;}"/>
          <p:cNvSpPr txBox="1"/>
          <p:nvPr/>
        </p:nvSpPr>
        <p:spPr>
          <a:xfrm rot="0" flipH="0" flipV="0">
            <a:off x="8953500" y="4752975"/>
            <a:ext cx="2266950" cy="190500"/>
          </a:xfrm>
          <a:prstGeom prst="rect"/>
        </p:spPr>
        <p:txBody>
          <a:bodyPr wrap="none" lIns="0" tIns="0" rIns="0" bIns="0"/>
          <a:p>
            <a:pPr>
              <a:lnSpc>
                <a:spcPct val="100000"/>
              </a:lnSpc>
            </a:pPr>
            <a:r>
              <a:rPr lang="zh-CN" sz="1200" b="1">
                <a:solidFill>
                  <a:srgbClr val="FFFFFF"/>
                </a:solidFill>
                <a:latin typeface="Microsoft YaHei"/>
                <a:ea typeface="Microsoft YaHei"/>
              </a:rPr>
              <a:t>不越界</a:t>
            </a:r>
            <a:endParaRPr/>
          </a:p>
        </p:txBody>
      </p:sp>
      <p:sp>
        <p:nvSpPr>
          <p:cNvPr id="2154" name="" descr="{&quot;isTemplate&quot;:true,&quot;type&quot;:&quot;text&quot;}"/>
          <p:cNvSpPr txBox="1"/>
          <p:nvPr/>
        </p:nvSpPr>
        <p:spPr>
          <a:xfrm rot="0" flipH="0" flipV="0">
            <a:off x="8953500" y="5000625"/>
            <a:ext cx="2266950" cy="371475"/>
          </a:xfrm>
          <a:prstGeom prst="rect"/>
        </p:spPr>
        <p:txBody>
          <a:bodyPr wrap="square" lIns="0" tIns="0" rIns="0" bIns="0">
            <a:normAutofit/>
          </a:bodyPr>
          <a:p>
            <a:pPr>
              <a:lnSpc>
                <a:spcPct val="145000"/>
              </a:lnSpc>
            </a:pPr>
            <a:r>
              <a:rPr lang="zh-CN" sz="825">
                <a:solidFill>
                  <a:srgbClr val="FFFFFF">
                    <a:alpha val="72000"/>
                  </a:srgbClr>
                </a:solidFill>
                <a:latin typeface="Microsoft YaHei"/>
                <a:ea typeface="Microsoft YaHei"/>
              </a:rPr>
              <a:t>压到</a:t>
            </a:r>
            <a:r>
              <a:rPr lang="en-US" sz="825">
                <a:solidFill>
                  <a:srgbClr val="FFFFFF">
                    <a:alpha val="72000"/>
                  </a:srgbClr>
                </a:solidFill>
                <a:latin typeface="Microsoft YaHei"/>
                <a:ea typeface="Microsoft YaHei"/>
              </a:rPr>
              <a:t xml:space="preserve"> L6 </a:t>
            </a:r>
            <a:r>
              <a:rPr lang="zh-CN" sz="825">
                <a:solidFill>
                  <a:srgbClr val="FFFFFF">
                    <a:alpha val="72000"/>
                  </a:srgbClr>
                </a:solidFill>
                <a:latin typeface="Microsoft YaHei"/>
                <a:ea typeface="Microsoft YaHei"/>
              </a:rPr>
              <a:t>活动与任务为止，不做界面原型、不做代码设计</a:t>
            </a:r>
            <a:endParaRPr/>
          </a:p>
        </p:txBody>
      </p:sp>
      <p:sp>
        <p:nvSpPr>
          <p:cNvPr id="2155" name="" descr="{&quot;isTemplate&quot;:true,&quot;type&quot;:&quot;text&quot;}"/>
          <p:cNvSpPr txBox="1"/>
          <p:nvPr/>
        </p:nvSpPr>
        <p:spPr>
          <a:xfrm rot="0" flipH="0" flipV="0">
            <a:off x="838200" y="6143625"/>
            <a:ext cx="4429125" cy="142875"/>
          </a:xfrm>
          <a:prstGeom prst="rect"/>
        </p:spPr>
        <p:txBody>
          <a:bodyPr wrap="none" lIns="0" tIns="0" rIns="0" bIns="0"/>
          <a:p>
            <a:pPr>
              <a:lnSpc>
                <a:spcPct val="100000"/>
              </a:lnSpc>
            </a:pPr>
            <a:r>
              <a:rPr lang="zh-CN" sz="938">
                <a:solidFill>
                  <a:srgbClr val="FFFFFF">
                    <a:alpha val="55000"/>
                  </a:srgbClr>
                </a:solidFill>
                <a:latin typeface="Microsoft YaHei"/>
                <a:ea typeface="Microsoft YaHei"/>
              </a:rPr>
              <a:t>本册为《华为数字化转型之道》的项目适配分支，通用原理与</a:t>
            </a:r>
            <a:r>
              <a:rPr lang="en-US" sz="938">
                <a:solidFill>
                  <a:srgbClr val="FFFFFF">
                    <a:alpha val="55000"/>
                  </a:srgbClr>
                </a:solidFill>
                <a:latin typeface="Microsoft YaHei"/>
                <a:ea typeface="Microsoft YaHei"/>
              </a:rPr>
              <a:t xml:space="preserve"> Y </a:t>
            </a:r>
            <a:r>
              <a:rPr lang="zh-CN" sz="938">
                <a:solidFill>
                  <a:srgbClr val="FFFFFF">
                    <a:alpha val="55000"/>
                  </a:srgbClr>
                </a:solidFill>
                <a:latin typeface="Microsoft YaHei"/>
                <a:ea typeface="Microsoft YaHei"/>
              </a:rPr>
              <a:t>模型口径以原册为准</a:t>
            </a:r>
            <a:endParaRPr/>
          </a:p>
        </p:txBody>
      </p:sp>
      <p:sp>
        <p:nvSpPr>
          <p:cNvPr id="2156" name=""/>
          <p:cNvSpPr/>
          <p:nvPr/>
        </p:nvSpPr>
        <p:spPr>
          <a:xfrm rot="0" flipH="0" flipV="0">
            <a:off x="8172450" y="6143625"/>
            <a:ext cx="133350" cy="133350"/>
          </a:xfrm>
          <a:prstGeom prst="rect">
            <a:avLst/>
          </a:prstGeom>
          <a:solidFill>
            <a:srgbClr val="FA4F24"/>
          </a:solidFill>
          <a:ln/>
        </p:spPr>
        <p:txBody>
          <a:bodyPr/>
          <a:p/>
        </p:txBody>
      </p:sp>
      <p:sp>
        <p:nvSpPr>
          <p:cNvPr id="2157" name="" descr="{&quot;isTemplate&quot;:true,&quot;type&quot;:&quot;text&quot;}"/>
          <p:cNvSpPr txBox="1"/>
          <p:nvPr/>
        </p:nvSpPr>
        <p:spPr>
          <a:xfrm rot="0" flipH="0" flipV="0">
            <a:off x="8420100" y="6124575"/>
            <a:ext cx="2247900" cy="161925"/>
          </a:xfrm>
          <a:prstGeom prst="rect"/>
        </p:spPr>
        <p:txBody>
          <a:bodyPr wrap="none" lIns="0" tIns="0" rIns="0" bIns="0"/>
          <a:p>
            <a:pPr>
              <a:lnSpc>
                <a:spcPct val="100000"/>
              </a:lnSpc>
            </a:pPr>
            <a:r>
              <a:rPr lang="zh-CN" sz="1050">
                <a:solidFill>
                  <a:srgbClr val="FFFFFF">
                    <a:alpha val="50000"/>
                  </a:srgbClr>
                </a:solidFill>
                <a:latin typeface="Microsoft YaHei"/>
                <a:ea typeface="Microsoft YaHei"/>
              </a:rPr>
              <a:t>硕磐机密</a:t>
            </a:r>
            <a:r>
              <a:rPr lang="en-US" sz="1050">
                <a:solidFill>
                  <a:srgbClr val="FFFFFF">
                    <a:alpha val="50000"/>
                  </a:srgbClr>
                </a:solidFill>
                <a:latin typeface="Microsoft YaHei"/>
                <a:ea typeface="Microsoft YaHei"/>
              </a:rPr>
              <a:t xml:space="preserve"> · </a:t>
            </a:r>
            <a:r>
              <a:rPr lang="zh-CN" sz="1050">
                <a:solidFill>
                  <a:srgbClr val="FFFFFF">
                    <a:alpha val="50000"/>
                  </a:srgbClr>
                </a:solidFill>
                <a:latin typeface="Microsoft YaHei"/>
                <a:ea typeface="Microsoft YaHei"/>
              </a:rPr>
              <a:t>利星能业务变革咨询方法论</a:t>
            </a:r>
            <a:endParaRPr/>
          </a:p>
        </p:txBody>
      </p:sp>
      <p:sp>
        <p:nvSpPr>
          <p:cNvPr id="2158" name="" descr="{&quot;isTemplate&quot;:true,&quot;type&quot;:&quot;text&quot;}"/>
          <p:cNvSpPr txBox="1"/>
          <p:nvPr/>
        </p:nvSpPr>
        <p:spPr>
          <a:xfrm rot="0" flipH="0" flipV="0">
            <a:off x="10896600" y="6124575"/>
            <a:ext cx="457200" cy="161925"/>
          </a:xfrm>
          <a:prstGeom prst="rect"/>
        </p:spPr>
        <p:txBody>
          <a:bodyPr wrap="none" lIns="0" tIns="0" rIns="0" bIns="0"/>
          <a:p>
            <a:pPr>
              <a:lnSpc>
                <a:spcPct val="100000"/>
              </a:lnSpc>
            </a:pPr>
            <a:r>
              <a:rPr lang="en-US" sz="1050">
                <a:solidFill>
                  <a:srgbClr val="FFFFFF">
                    <a:alpha val="50000"/>
                  </a:srgbClr>
                </a:solidFill>
                <a:latin typeface="Microsoft YaHei"/>
                <a:ea typeface="Microsoft YaHei"/>
              </a:rPr>
              <a:t>36 / 36</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2026-10-14T14:12:10Z</dcterms:created>
  <dcterms:modified xsi:type="dcterms:W3CDTF">2026-10-14T14:12:10Z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{"AIGC":{"Label":"1","ContentProducer":"00119111010856365494821B355","ProduceID":"0d13fa0f4d074a31ba0d21cb3c8827ed","ReservedCode1":"","ContentPropagator":"00119111010856365494821B355","PropagateID":"0d13fa0f4d074a31ba0d21cb3c8827ed","ReservedCode2":""}}</vt:lpwstr>
  </property>
</Properties>
</file>