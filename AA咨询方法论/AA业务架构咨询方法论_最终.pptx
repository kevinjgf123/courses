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tableStyles" Target="tableStyles.xml"/><Relationship Id="rId3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各位好。今天这一册我们只讲一件事：用什么样的系统来承载业务能力。</a:t>
            </a:r>
          </a:p>
          <a:p>
            <a:endParaRPr lang="zh-CN"/>
          </a:p>
          <a:p>
            <a:r>
              <a:rPr lang="zh-CN" dirty="0"/>
              <a:t>先说清楚定位。前面两册我们讲业务架构和数��架构，那些册子解决的是"业务怎么设计""数据怎么管"。这一册往下沉一层，落到具体系统——业务能力被哪个应用接住了，数据从哪个口进出，系统之间怎么说话，以及最重要的一件事：哪些系统应该被减掉。</a:t>
            </a:r>
          </a:p>
          <a:p>
            <a:endParaRPr lang="zh-CN"/>
          </a:p>
          <a:p>
            <a:r>
              <a:rPr lang="zh-CN" dirty="0"/>
              <a:t>很多人以为应用架构是IT部门的技术管理事情。整册讲下来你们会发现恰好相反：应用架构里每一个关键决策，做错了都不是IT受损，是业务受损。系统拆错了，业务上线延期三个月；数据接错了，报表对不上；系统不减，成本一年比一年高。这些账最后都算在业务头上。</a:t>
            </a:r>
          </a:p>
          <a:p>
            <a:endParaRPr lang="zh-CN"/>
          </a:p>
          <a:p>
            <a:r>
              <a:rPr lang="zh-CN" dirty="0"/>
              <a:t>我姓莹莹，接下来三十页，我们把这件事讲透。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这一册的顺序不是随便排的，它其实是一条完整的作业链。</a:t>
            </a:r>
          </a:p>
          <a:p>
            <a:endParaRPr lang="zh-CN"/>
          </a:p>
          <a:p>
            <a:r>
              <a:rPr lang="zh-CN" dirty="0"/>
              <a:t>前面三页是总论和目录，说明我们在做应用架构这件事时，脑子里的基本盘是什么。</a:t>
            </a:r>
          </a:p>
          <a:p>
            <a:endParaRPr lang="zh-CN"/>
          </a:p>
          <a:p>
            <a:r>
              <a:rPr lang="zh-CN" dirty="0"/>
              <a:t>中间四个部分，是四段实操。应用组合盘点解决"到底有哪些系统"；集成架构解决"它们之间怎么连"；组合评估与四态决策解决"这些系统该怎么办"；数据流与事件流解决"数据怎么在系统间流转"。</a:t>
            </a:r>
          </a:p>
          <a:p>
            <a:endParaRPr lang="zh-CN"/>
          </a:p>
          <a:p>
            <a:r>
              <a:rPr lang="zh-CN" dirty="0"/>
              <a:t>最后两个部分是保障。没有安全合规和治理机制，前面所有的结论撑不过一年。</a:t>
            </a:r>
          </a:p>
          <a:p>
            <a:endParaRPr lang="zh-CN"/>
          </a:p>
          <a:p>
            <a:r>
              <a:rPr lang="zh-CN" dirty="0"/>
              <a:t>如果你时间有限，我建议至少听完第二部分和第四部分。盘点告诉你家底，决策告诉你方向，这两段是所有应用架构工作的骨架。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在正式讲方法之前，先把三个基本认知钉死。</a:t>
            </a:r>
          </a:p>
          <a:p>
            <a:endParaRPr lang="zh-CN"/>
          </a:p>
          <a:p>
            <a:r>
              <a:rPr lang="zh-CN" dirty="0"/>
              <a:t>第一，四个架构的关系是一条传导链。业务架构定义业务能力和价值，数据架构定义数据资产与标准，应用架构把能力落到系统，技术架构提供运行底座。这四层不是并列关系，是自上而下传导。应用架构的输入是业务架构给的"要什么能力"，输出是"用什么系统承载"。它不能自己拍脑袋定做什么系统。</a:t>
            </a:r>
          </a:p>
          <a:p>
            <a:endParaRPr lang="zh-CN"/>
          </a:p>
          <a:p>
            <a:r>
              <a:rPr lang="zh-CN" dirty="0"/>
              <a:t>第二，怎么判断应用架构有没有问题？最简单也最粗暴的指标：应用数量。应用数量只增不减，最后必然失控。为什么？因为每个应用都在索取数据、发布接口、要求独立的运维资源。这些成本是叠加的，而应用数量本身不带来任何价值。这个数字你去看政府、金融、央企的年报或者交易所披露，都有据可查。</a:t>
            </a:r>
          </a:p>
          <a:p>
            <a:endParaRPr lang="zh-CN"/>
          </a:p>
          <a:p>
            <a:r>
              <a:rPr lang="zh-CN" dirty="0"/>
              <a:t>第三，三条原则。第一，应用必须有业务Owner，而不是IT部门当Owner。这一条后面会反复讲，它决定了应用能不能被减。第二，集成优先于重建。当一个新需求来的时候，第一个问题不是"要不要建"，而是"现有系统能不能改"。第三，应用减法。这一条最难，也最重要。</a:t>
            </a:r>
          </a:p>
          <a:p>
            <a:endParaRPr lang="zh-CN"/>
          </a:p>
          <a:p>
            <a:r>
              <a:rPr lang="zh-CN" dirty="0"/>
              <a:t>带着这三条，我们进第一部分。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第一部分，应用架构总论。</a:t>
            </a:r>
          </a:p>
          <a:p>
            <a:endParaRPr lang="zh-CN"/>
          </a:p>
          <a:p>
            <a:r>
              <a:rPr lang="zh-CN" dirty="0"/>
              <a:t>这一部分只有四页，但它决定了你后面所有动作有没有落点。总论讲不清，后面做的盘点就是流水账，做的决策就是拍脑袋。</a:t>
            </a:r>
          </a:p>
          <a:p>
            <a:endParaRPr lang="zh-CN"/>
          </a:p>
          <a:p>
            <a:r>
              <a:rPr lang="zh-CN" dirty="0"/>
              <a:t>我先说这一部分要解决的问题：很多人做应用架构，做出来的东西是系统拓扑图——上面是服务器、中间件、数据库，下面是网络。这不是应用架构，这是运维架构的翻版。真正的应用架构回答的是一个业务问题：客户下单这个能力，究竟由哪个系统来承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这一页是应用架构的基本骨架，三层。</a:t>
            </a:r>
          </a:p>
          <a:p>
            <a:endParaRPr lang="zh-CN"/>
          </a:p>
          <a:p>
            <a:r>
              <a:rPr lang="zh-CN" dirty="0"/>
              <a:t>展现层，是用户和外部系统能看到的那部分。门户、移动端、开放接口、合作方对接。它的设计原则是薄——展现层只负责交互和编排，业务判断不要写在这里。为什么？因为展现层是变化最快的地方，渠道会变、设备会变、交互会变，把业务规则沉在展现层，换个渠道就得重写一遍。</a:t>
            </a:r>
          </a:p>
          <a:p>
            <a:endParaRPr lang="zh-CN"/>
          </a:p>
          <a:p>
            <a:r>
              <a:rPr lang="zh-CN" dirty="0"/>
              <a:t>支撑层，是整个应用架构的心脏，业务规则、流程编排、权限控制都在这里。一个能力该放在支撑层的哪个位置，直接决定了它能不能被复用。放对了，所有渠道都受益；放错了，就是每个渠道重做一遍。</a:t>
            </a:r>
          </a:p>
          <a:p>
            <a:endParaRPr lang="zh-CN"/>
          </a:p>
          <a:p>
            <a:r>
              <a:rPr lang="zh-CN" dirty="0"/>
              <a:t>数据访问层，负责数据的读写。它和应用架构的关系在于：这一层不应该是应用直接穿透到数据库去读。应用之间要交换数据，必须走服务化或者事件，这是第三部分会展开讲的内容。</a:t>
            </a:r>
          </a:p>
          <a:p>
            <a:endParaRPr lang="zh-CN"/>
          </a:p>
          <a:p>
            <a:r>
              <a:rPr lang="zh-CN" dirty="0"/>
              <a:t>这三层的划分不只是技术分层，它对应的是"变化的频率"。展现层高频变，支撑层中频变，数据访问层低频变。不同频率的东西放在一起，就是架构混乱的开始。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这一页是五条原则，可以直接当检查清单用。</a:t>
            </a:r>
          </a:p>
          <a:p>
            <a:endParaRPr lang="zh-CN"/>
          </a:p>
          <a:p>
            <a:r>
              <a:rPr lang="zh-CN" dirty="0"/>
              <a:t>第一条，能力驱动，不反向。项目上要投钱，是能力没有承载，不是应用不够多。因果关系搞反了，就会变成"系统越多越有安全感"。</a:t>
            </a:r>
          </a:p>
          <a:p>
            <a:endParaRPr lang="zh-CN"/>
          </a:p>
          <a:p>
            <a:r>
              <a:rPr lang="zh-CN" dirty="0"/>
              <a:t>第二条，业务Owner在业务部门。这条后面反复讲，先记住结论。</a:t>
            </a:r>
          </a:p>
          <a:p>
            <a:endParaRPr lang="zh-CN"/>
          </a:p>
          <a:p>
            <a:r>
              <a:rPr lang="zh-CN" dirty="0"/>
              <a:t>第三条，集成优先。这一条在实践中最难，因为它触碰的是排期问题。业务方要的是确定性——"给我三个月上线"，如果告诉他"我们去改老系统"，他会觉得慢、觉得不确定。所以你需要给他另一个确定性：改老系统只要一周，前提是不新建那三个月的成本。</a:t>
            </a:r>
          </a:p>
          <a:p>
            <a:endParaRPr lang="zh-CN"/>
          </a:p>
          <a:p>
            <a:r>
              <a:rPr lang="zh-CN" dirty="0"/>
              <a:t>第四条，契约化集成。所有集成必须有书面契约，不能是口头约定，也不能只有接口文档没有数据归属说明。这条是后面集成架构的核心。</a:t>
            </a:r>
          </a:p>
          <a:p>
            <a:endParaRPr lang="zh-CN"/>
          </a:p>
          <a:p>
            <a:r>
              <a:rPr lang="zh-CN" dirty="0"/>
              <a:t>第五条，架构必须有决策权，否则退化成文档。这一点我见过太多失败案例：架构评审开得很认真，报告写了三百页，然后所有项目照旧推进，因为没人有权说不。架构如果不能否决，它就只是一本参考读物。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这一页讲能力到应用的三级收敛，这是应用架构最核心的一张模型。</a:t>
            </a:r>
          </a:p>
          <a:p>
            <a:endParaRPr lang="zh-CN"/>
          </a:p>
          <a:p>
            <a:r>
              <a:rPr lang="zh-CN" dirty="0"/>
              <a:t>第一级，业务能力。什么是业务能力？业务上要做的一件事，和用什么技术实现无关。比如"完成一笔订单的结算"，这是能力；"用微服务实现的结算"，这还是能力吗？不是，那只是实现方式。混淆这一点，就会导致架构师按技术栈去分系统。</a:t>
            </a:r>
          </a:p>
          <a:p>
            <a:endParaRPr lang="zh-CN"/>
          </a:p>
          <a:p>
            <a:r>
              <a:rPr lang="zh-CN" dirty="0"/>
              <a:t>第二级，应用。应用是承载能力的载体。一个应用可以承载一个能力，也可以承载多个紧密相关的能力。判断标准是：这些能力是否总是一起被需要、一起变更、一起负责。如果是，就该在一个应用里；如果不是，就该拆开。</a:t>
            </a:r>
          </a:p>
          <a:p>
            <a:endParaRPr lang="zh-CN"/>
          </a:p>
          <a:p>
            <a:r>
              <a:rPr lang="zh-CN" dirty="0"/>
              <a:t>第三级，功能链路。从能力往下到系统内部的功能模块，这一层主要给研发用，架构师关注但不需要画到底。</a:t>
            </a:r>
          </a:p>
          <a:p>
            <a:endParaRPr lang="zh-CN"/>
          </a:p>
          <a:p>
            <a:r>
              <a:rPr lang="zh-CN" dirty="0"/>
              <a:t>收敛的判断标准就一句话：一句话说清楚这个应用为什么存在。说不清，就是它该被拆或者该被合。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第二部分，应用组合盘点。</a:t>
            </a:r>
          </a:p>
          <a:p>
            <a:endParaRPr lang="zh-CN"/>
          </a:p>
          <a:p>
            <a:r>
              <a:rPr lang="zh-CN" dirty="0"/>
              <a:t>这一部分是整个应用架构工作的地基。我见过不少项目，跳过盘点直接做整合方案，结果整合了一堆没人说得清干什么用的系统。</a:t>
            </a:r>
          </a:p>
          <a:p>
            <a:endParaRPr lang="zh-CN"/>
          </a:p>
          <a:p>
            <a:r>
              <a:rPr lang="zh-CN" dirty="0"/>
              <a:t>盘点这件事，看起来像体力活——把系统列出来，画个图。但真正有价值的盘点不是列清单，是回答三个问题：这些系统分别承载什么业务能力、它们之间是什么关系、它们各自健康吗。</a:t>
            </a:r>
          </a:p>
          <a:p>
            <a:endParaRPr lang="zh-CN"/>
          </a:p>
          <a:p>
            <a:r>
              <a:rPr lang="zh-CN" dirty="0"/>
              <a:t>这三个问题分别对应后面的方法、内容和模板三页。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这一页给的是能力映射的具体做法，四问。</a:t>
            </a:r>
          </a:p>
          <a:p>
            <a:endParaRPr lang="zh-CN"/>
          </a:p>
          <a:p>
            <a:r>
              <a:rPr lang="zh-CN" dirty="0"/>
              <a:t>第一问：这项能力现在由哪个应用承载？如果有多个，说明职责重叠，这是整合候选。如果没有，说明这是架构缺口，得新建或者补建。</a:t>
            </a:r>
          </a:p>
          <a:p>
            <a:endParaRPr lang="zh-CN"/>
          </a:p>
          <a:p>
            <a:r>
              <a:rPr lang="zh-CN" dirty="0"/>
              <a:t>第二问：这个应用的主能力是什么？一个应用承载五六个能力，通常意味着它是个"杂物袋"，将来谁都不敢动它。</a:t>
            </a:r>
          </a:p>
          <a:p>
            <a:endParaRPr lang="zh-CN"/>
          </a:p>
          <a:p>
            <a:r>
              <a:rPr lang="zh-CN" dirty="0"/>
              <a:t>第三问：它有没有业务Owner？没有Owner的系统，是所有架构问题的根源——没人对它的生命周期负责，它就只会一直活着。</a:t>
            </a:r>
          </a:p>
          <a:p>
            <a:endParaRPr lang="zh-CN"/>
          </a:p>
          <a:p>
            <a:r>
              <a:rPr lang="zh-CN" dirty="0"/>
              <a:t>第四问：它和 DA 的关系是什么？它产生什么数据、它是这些数据的源头吗？这一问把应用架构和数据架构打通了。</a:t>
            </a:r>
          </a:p>
          <a:p>
            <a:endParaRPr lang="zh-CN"/>
          </a:p>
          <a:p>
            <a:r>
              <a:rPr lang="zh-CN" dirty="0"/>
              <a:t>这个四问法的价值在于，它能把"应用盘点"这件看似模糊的事，变成一张有明确字段的表。表能填出来，结论就能出来。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这一页是我在多个客户那里沉淀下来的应用分类法，九类。</a:t>
            </a:r>
          </a:p>
          <a:p>
            <a:endParaRPr lang="zh-CN"/>
          </a:p>
          <a:p>
            <a:r>
              <a:rPr lang="zh-CN" dirty="0"/>
              <a:t>A1核心交易类，是直接产生收入或者承载核心风险的，交易、订单、支付都在这里。这类系统的要求是稳定性和一致性，评估时技术健康度权重给最高。</a:t>
            </a:r>
          </a:p>
          <a:p>
            <a:endParaRPr lang="zh-CN"/>
          </a:p>
          <a:p>
            <a:r>
              <a:rPr lang="zh-CN" dirty="0"/>
              <a:t>A2运营支撑类，是支撑业务运转的，供应链、排产、客服。这类系统最容易变成功能堆积的大杂烩，因为业务部门总想"顺手加个功能"。</a:t>
            </a:r>
          </a:p>
          <a:p>
            <a:endParaRPr lang="zh-CN"/>
          </a:p>
          <a:p>
            <a:r>
              <a:rPr lang="zh-CN" dirty="0"/>
              <a:t>A3分析决策类，BI、报表、预测。这类系统的特点是消费方多、变更频率高，是集成关系最复杂的地方。</a:t>
            </a:r>
          </a:p>
          <a:p>
            <a:endParaRPr lang="zh-CN"/>
          </a:p>
          <a:p>
            <a:r>
              <a:rPr lang="zh-CN" dirty="0"/>
              <a:t>A4协同集成类，流程引擎、消息网关、集成平台。它们本身不产生业务价值，但它们是集成秩序的守门人。</a:t>
            </a:r>
          </a:p>
          <a:p>
            <a:endParaRPr lang="zh-CN"/>
          </a:p>
          <a:p>
            <a:r>
              <a:rPr lang="zh-CN" dirty="0"/>
              <a:t>A5基础技术类，中间件、数据库、缓存。这类系统的特点是全公司共用，一个变更影响面极大。</a:t>
            </a:r>
          </a:p>
          <a:p>
            <a:endParaRPr lang="zh-CN"/>
          </a:p>
          <a:p>
            <a:r>
              <a:rPr lang="zh-CN" dirty="0"/>
              <a:t>A6公共服务类，认证、权限、通知、文件服务。这类系统应该尽量统一，避免每个应用各造一套。</a:t>
            </a:r>
          </a:p>
          <a:p>
            <a:endParaRPr lang="zh-CN"/>
          </a:p>
          <a:p>
            <a:r>
              <a:rPr lang="zh-CN" dirty="0"/>
              <a:t>A7遗留补丁类，为修补老系统缺陷而存在的小应用。这类系统数量往往比想象中多，也是减法的主要目标。</a:t>
            </a:r>
          </a:p>
          <a:p>
            <a:endParaRPr lang="zh-CN"/>
          </a:p>
          <a:p>
            <a:r>
              <a:rPr lang="zh-CN" dirty="0"/>
              <a:t>A8个人工具类，个人做的报表、爬虫、小工具。这是最容易被忽视、也最容易出安全问题的部分。</a:t>
            </a:r>
          </a:p>
          <a:p>
            <a:endParaRPr lang="zh-CN"/>
          </a:p>
          <a:p>
            <a:r>
              <a:rPr lang="zh-CN" dirty="0"/>
              <a:t>A9外包托管类，外包的系统、第三方服务。这类系统的最大风险是：出问题时你改不了，只能等。</a:t>
            </a:r>
          </a:p>
          <a:p>
            <a:endParaRPr lang="zh-CN"/>
          </a:p>
          <a:p>
            <a:r>
              <a:rPr lang="zh-CN" dirty="0"/>
              <a:t>分类的意义在于：不同类别的评估重点不同，新建门槛不同，Owner 要求也不同。用一套标准管所有系统，评估结果就没有可比性。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这一页是应用卡片模板，我建议作为最小管理单元。</a:t>
            </a:r>
          </a:p>
          <a:p>
            <a:endParaRPr lang="zh-CN"/>
          </a:p>
          <a:p>
            <a:r>
              <a:rPr lang="zh-CN" dirty="0"/>
              <a:t>一张卡片十二个字段，但真正必填的是四个：承载能力、业务Owner、技术栈、集成关系。</a:t>
            </a:r>
          </a:p>
          <a:p>
            <a:endParaRPr lang="zh-CN"/>
          </a:p>
          <a:p>
            <a:r>
              <a:rPr lang="zh-CN" dirty="0"/>
              <a:t>为什么必填这四个？因为这四个字段构成了"这个应用为什么存在"的完整回答。承载能力回答它干什么，业务Owner回答谁负责，技术栈回答它跑在哪、依赖什么，集成关系回答它和谁绑在一起。</a:t>
            </a:r>
          </a:p>
          <a:p>
            <a:endParaRPr lang="zh-CN"/>
          </a:p>
          <a:p>
            <a:r>
              <a:rPr lang="zh-CN" dirty="0"/>
              <a:t>后半部分那些字段——维护窗口、最近变更、接口数量、调用量、数据敏感度——不是填不出来，是要靠采集。调用量来自网关日志，最近变更来自代码仓库，这两类数据一定要自动化，人工维护的字段三个月就过期了，过期的字段比没有字段更危险，因为它会误导决策。</a:t>
            </a:r>
          </a:p>
          <a:p>
            <a:endParaRPr lang="zh-CN"/>
          </a:p>
          <a:p>
            <a:r>
              <a:rPr lang="zh-CN" dirty="0"/>
              <a:t>提醒一个常见错误：卡片一旦超过三页，就没人会更新。所以字段要克制，宁少勿多。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第三部分，集成架构。</a:t>
            </a:r>
          </a:p>
          <a:p>
            <a:endParaRPr lang="zh-CN"/>
          </a:p>
          <a:p>
            <a:r>
              <a:rPr lang="zh-CN" dirty="0"/>
              <a:t>前面讲的应用组合盘点，解决了"有哪些系统"。这一部分解决"它们之间怎么说话"。</a:t>
            </a:r>
          </a:p>
          <a:p>
            <a:endParaRPr lang="zh-CN"/>
          </a:p>
          <a:p>
            <a:r>
              <a:rPr lang="zh-CN" dirty="0"/>
              <a:t>集成这件事，在应用架构里占的比重可能超出很多人的预期。我做过统计，成熟企业里应用之间的集成关系数量，通常是应用数量的三到五倍。十个系统可能有四十条集成关系。所以集成质量直接决定应用架构的质量。</a:t>
            </a:r>
          </a:p>
          <a:p>
            <a:endParaRPr lang="zh-CN"/>
          </a:p>
          <a:p>
            <a:r>
              <a:rPr lang="zh-CN" dirty="0"/>
              <a:t>更麻烦的是，集成关系的维护成本会随着时间指数上升。两条应用之间一对一集成没问题，十条应用两两集成就是四十五条，这是完全不同的复杂度。所以集成必须走平台、必须走标准，不能靠项目组临时对接。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集成四问法，这一页要记的是这四个问题。</a:t>
            </a:r>
          </a:p>
          <a:p>
            <a:endParaRPr lang="zh-CN"/>
          </a:p>
          <a:p>
            <a:r>
              <a:rPr lang="zh-CN" dirty="0"/>
              <a:t>第一问，传的是什么？很多集成需求写得很模糊，说"把数据传过去"。传的是明细还是汇总？实时还是批量？全量还是增量？不问清楚，接口设计出来双方都不满意。</a:t>
            </a:r>
          </a:p>
          <a:p>
            <a:endParaRPr lang="zh-CN"/>
          </a:p>
          <a:p>
            <a:r>
              <a:rPr lang="zh-CN" dirty="0"/>
              <a:t>第二问，谁拥有这份数据？这一问最重要。数据的业务归属方是唯一源头，其他系统都是消费方。源头定不下来，就会出现两个系统都觉得自己是主人，都往里写，最后数据打架。</a:t>
            </a:r>
          </a:p>
          <a:p>
            <a:endParaRPr lang="zh-CN"/>
          </a:p>
          <a:p>
            <a:r>
              <a:rPr lang="zh-CN" dirty="0"/>
              <a:t>第三问，同步还是异步？需要对方立刻给结果的，用同步接口；只需要通知一声的，用异步事件。事件用多了排查困难，所以只在跨域通知时用。</a:t>
            </a:r>
          </a:p>
          <a:p>
            <a:endParaRPr lang="zh-CN"/>
          </a:p>
          <a:p>
            <a:r>
              <a:rPr lang="zh-CN" dirty="0"/>
              <a:t>第四问，对方挂了怎么办？超时、重试、降级、熔断，这四件事必须在契约里写清楚。特别是重试——没有幂等设计的重试，会造成重复扣款这类事故。</a:t>
            </a:r>
          </a:p>
          <a:p>
            <a:endParaRPr lang="zh-CN"/>
          </a:p>
          <a:p>
            <a:r>
              <a:rPr lang="zh-CN" dirty="0"/>
              <a:t>四种集成模式各有用处：文件传输适合大批量、跨系统的离线场景；接口调用适合实时查询；消息订阅适合削峰和一对多；数据服务适合稳定复用的数据出口。</a:t>
            </a:r>
          </a:p>
          <a:p>
            <a:endParaRPr lang="zh-CN"/>
          </a:p>
          <a:p>
            <a:r>
              <a:rPr lang="zh-CN" dirty="0"/>
              <a:t>选型的判断标准不是技术先进性，是这三个：实时性要求、数据量级、耦合容忍度。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这一页讲集成治理的三件事。</a:t>
            </a:r>
          </a:p>
          <a:p>
            <a:endParaRPr lang="zh-CN"/>
          </a:p>
          <a:p>
            <a:r>
              <a:rPr lang="zh-CN" dirty="0"/>
              <a:t>集成清单本身不复杂，难的是保持有效。清单失效有两种情况：一种是没人新增，实际情况已经在变；一种是过度新增，集成从几十条涨到几百条，成为负担。这两种都要靠机制拦住。</a:t>
            </a:r>
          </a:p>
          <a:p>
            <a:endParaRPr lang="zh-CN"/>
          </a:p>
          <a:p>
            <a:r>
              <a:rPr lang="zh-CN" dirty="0"/>
              <a:t>集成总线是收口手段。所有跨域集成尽量走总线，好处是可观测、可管控、可限流。如果允许任意系统直连任意系统，总线就形同虚设。所以要有技术强制，比如跨域调用必须通过网关，数据库端口不对外开放。</a:t>
            </a:r>
          </a:p>
          <a:p>
            <a:endParaRPr lang="zh-CN"/>
          </a:p>
          <a:p>
            <a:r>
              <a:rPr lang="zh-CN" dirty="0"/>
              <a:t>接口标准四项：命名规范、版本策略、鉴权方式、错误码规范。这四项看着枯燥，但它们决定了集成关系的长期成本。有版本策略，接口就能演进；没有版本策略，每次变更都是一次全量协调。</a:t>
            </a:r>
          </a:p>
          <a:p>
            <a:endParaRPr lang="zh-CN"/>
          </a:p>
          <a:p>
            <a:r>
              <a:rPr lang="zh-CN" dirty="0"/>
              <a:t>我强调一点：接口标准要允许例外，但例外必须登记。追求绝对统一会导致标准本身被绕过，有了例外台账，标准才能落地。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这一页是集成契约的具体形式。</a:t>
            </a:r>
          </a:p>
          <a:p>
            <a:endParaRPr lang="zh-CN"/>
          </a:p>
          <a:p>
            <a:r>
              <a:rPr lang="zh-CN" dirty="0"/>
              <a:t>左边是API台账，右边是契约卡。两者区别在于粒度：台账是全景视图，契约卡是单个集成的详细约定。</a:t>
            </a:r>
          </a:p>
          <a:p>
            <a:endParaRPr lang="zh-CN"/>
          </a:p>
          <a:p>
            <a:r>
              <a:rPr lang="zh-CN" dirty="0"/>
              <a:t>API台账的价值在于回答那个经典问题——"这个接口还有谁在用"。这个问题在整合期几乎必然出现，而且往往没人答得上来。一个跑了六年的接口，可能有三个系统在调用，其中一个已经没人维护了。台账能救你。</a:t>
            </a:r>
          </a:p>
          <a:p>
            <a:endParaRPr lang="zh-CN"/>
          </a:p>
          <a:p>
            <a:r>
              <a:rPr lang="zh-CN" dirty="0"/>
              <a:t>集成契约卡的设计要点：接口方向和业务语义、数据归属方、认证方式和密钥管理、调用频率和配额、错误码与重试规则、SLA和变更通知机制。变更通知机制这一条最容易被漏掉——接口方改了字段不通知消费方，是集成事故的头号来源。</a:t>
            </a:r>
          </a:p>
          <a:p>
            <a:endParaRPr lang="zh-CN"/>
          </a:p>
          <a:p>
            <a:r>
              <a:rPr lang="zh-CN" dirty="0"/>
              <a:t>契约必须是双方确认的，不能是提供方单方面写的。理想状态是契约进版本管理，任何改动都要评审。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第四部分，组合评估与四态决策。</a:t>
            </a:r>
          </a:p>
          <a:p>
            <a:endParaRPr lang="zh-CN"/>
          </a:p>
          <a:p>
            <a:r>
              <a:rPr lang="zh-CN" dirty="0"/>
              <a:t>前面三部分做完，我们手上有一份完整的应用清单和集成清单。这时候要做的不是画图，是做决策。</a:t>
            </a:r>
          </a:p>
          <a:p>
            <a:endParaRPr lang="zh-CN"/>
          </a:p>
          <a:p>
            <a:r>
              <a:rPr lang="zh-CN" dirty="0"/>
              <a:t>这一部分是整个应用架构咨询价值最集中的地方。前面是体检，这里是开方。客户真正付费想买的，就是这几页的结论。</a:t>
            </a:r>
          </a:p>
          <a:p>
            <a:endParaRPr lang="zh-CN"/>
          </a:p>
          <a:p>
            <a:r>
              <a:rPr lang="zh-CN" dirty="0"/>
              <a:t>我要先说一个判断：应用架构的咨询价值，八成体现在这一部分。如果前三部分做得细、这一部分做得虚，整份报告就变成了资产台账。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这一页是评估模型，业务价值乘技术健康度。</a:t>
            </a:r>
          </a:p>
          <a:p>
            <a:endParaRPr lang="zh-CN"/>
          </a:p>
          <a:p>
            <a:r>
              <a:rPr lang="zh-CN" dirty="0"/>
              <a:t>选这两个维度是有原因的：业务价值回答"该不该留"，技术健康度回答"还能撑多久"。两个维度组合，天然分成四个象限，正好对应后面四种处理方式。</a:t>
            </a:r>
          </a:p>
          <a:p>
            <a:endParaRPr lang="zh-CN"/>
          </a:p>
          <a:p>
            <a:r>
              <a:rPr lang="zh-CN" dirty="0"/>
              <a:t>业务价值的判定，不要用访问量、用户数这种容易被刷的指标。要看三件事：这个应用承载的能力，如果停了对业务有多大影响；它产生的交易量或金额量级；有没有监管或合规的硬要求。</a:t>
            </a:r>
          </a:p>
          <a:p>
            <a:endParaRPr lang="zh-CN"/>
          </a:p>
          <a:p>
            <a:r>
              <a:rPr lang="zh-CN" dirty="0"/>
              <a:t>技术健康度的判定，要客观：代码质量和技术债、扩展能力、运维成本、可替代性。这四项都要有依据，不能凭印象。特别是"可替代性"，要问清楚：厂商还在不在、技术栈还招得到人吗、这套系统有几个懂的人。这三项的答案往往决定了系统的真实寿命。</a:t>
            </a:r>
          </a:p>
          <a:p>
            <a:endParaRPr lang="zh-CN"/>
          </a:p>
          <a:p>
            <a:r>
              <a:rPr lang="zh-CN" dirty="0"/>
              <a:t>关于象限的用法，我要提醒一个常见误区：不要用象限分布图去吓唬人。分布本身没有价值，行动方案才有价值。四象限图的目的是让每一个应用都有一个明确的处理动作，而不是产生一场关于"我们公司到底有多少个垃圾系统"的辩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这一页是四态决策的具体判断标准。</a:t>
            </a:r>
          </a:p>
          <a:p>
            <a:endParaRPr lang="zh-CN"/>
          </a:p>
          <a:p>
            <a:r>
              <a:rPr lang="zh-CN" dirty="0"/>
              <a:t>建，是这个能力确实没有承载应用，且自建确实比集成划算。这里有个判断容易出错：不是"没有就用建"，而是先问现有系统能不能改。有些需求看起来是新能力，拆开看其实是对老系统的边角功能扩展，这种情况下改造老系统比新建便宜得多。</a:t>
            </a:r>
          </a:p>
          <a:p>
            <a:endParaRPr lang="zh-CN"/>
          </a:p>
          <a:p>
            <a:r>
              <a:rPr lang="zh-CN" dirty="0"/>
              <a:t>买，是市场上有成熟产品，且业务逻辑不会成为差异化的一部分。这条的关键在"差异化"三个字。如果这个能力是你的核心竞争力，买来的东西别人也能买，那它不可能成为壁垒。反过来，如果是通用的、通用的、可替换的，买是最优解。判断标准很简单：如果竞争对手也用同一套产品，这套产品能成为你的优势吗？</a:t>
            </a:r>
          </a:p>
          <a:p>
            <a:endParaRPr lang="zh-CN"/>
          </a:p>
          <a:p>
            <a:r>
              <a:rPr lang="zh-CN" dirty="0"/>
              <a:t>集成，是这个能力已经有承载者，只是能力不完整、体验不好或者流程需要重塑。这是最容易被误判成"建"的一类。判断关键在于：现有应用是能力不够，还是不想做？如果是能力不够，那是集成；如果是它有更好的战略方向，不打算在这块投入，那才是建。</a:t>
            </a:r>
          </a:p>
          <a:p>
            <a:endParaRPr lang="zh-CN"/>
          </a:p>
          <a:p>
            <a:r>
              <a:rPr lang="zh-CN" dirty="0"/>
              <a:t>退役，是调用量归零、无变更、无对应业务能力。这一类在前面提到的A7遗留补丁类里最集中。</a:t>
            </a:r>
          </a:p>
          <a:p>
            <a:endParaRPr lang="zh-CN"/>
          </a:p>
          <a:p>
            <a:r>
              <a:rPr lang="zh-CN" dirty="0"/>
              <a:t>记住这四态的顺序：先问集成，再问建。绝大多数该走集成的项目，第一次评估时被误判成了建。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这一页把前面的评估模型落成可交付的东西：热力图和决策表。</a:t>
            </a:r>
          </a:p>
          <a:p>
            <a:endParaRPr lang="zh-CN"/>
          </a:p>
          <a:p>
            <a:r>
              <a:rPr lang="zh-CN" dirty="0"/>
              <a:t>热力图的横轴是技术健康度，纵轴是业务价值。每个应用是一个点，颜色表示处理方式，点的面积表示集成复杂度。</a:t>
            </a:r>
          </a:p>
          <a:p>
            <a:endParaRPr lang="zh-CN"/>
          </a:p>
          <a:p>
            <a:r>
              <a:rPr lang="zh-CN" dirty="0"/>
              <a:t>这样一张图，好处有三个：一是老板能一眼看懂全局，汇报效率高；二是能发现结构性问题，比如右上角有没有密集点，那说明高价值高健康的应用过度集中，缺少支撑；二是能一眼看出减法空间，灰色区域有多大。</a:t>
            </a:r>
          </a:p>
          <a:p>
            <a:endParaRPr lang="zh-CN"/>
          </a:p>
          <a:p>
            <a:r>
              <a:rPr lang="zh-CN" dirty="0"/>
              <a:t>决策表是给执行用的。每个应用一行，四态结论、责任人、时间点、验收标准都要填。这一步不能省，因为诊断和执行之间，隔着一张表。</a:t>
            </a:r>
          </a:p>
          <a:p>
            <a:endParaRPr lang="zh-CN"/>
          </a:p>
          <a:p>
            <a:r>
              <a:rPr lang="zh-CN" dirty="0"/>
              <a:t>热力图我不建议做得太精细。点太多就糊了。超过四十个应用的组织，我建议按域拆成多张，而不是把所有应用挤在一张图上。</a:t>
            </a:r>
          </a:p>
          <a:p>
            <a:endParaRPr lang="zh-CN"/>
          </a:p>
          <a:p>
            <a:r>
              <a:rPr lang="zh-CN" dirty="0"/>
              <a:t>最后提醒：这张图会过期，而且会过期得很快。所以要标注生成日期，并约定更新频率。没有更新机制的资产台账，三个月后就是垃圾。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第五部分，数据流与事件流。</a:t>
            </a:r>
          </a:p>
          <a:p>
            <a:endParaRPr lang="zh-CN"/>
          </a:p>
          <a:p>
            <a:r>
              <a:rPr lang="zh-CN" dirty="0"/>
              <a:t>这一部分看起来是数据架构的内容，但我要强调它为什么在应用架构专册里。</a:t>
            </a:r>
          </a:p>
          <a:p>
            <a:endParaRPr lang="zh-CN"/>
          </a:p>
          <a:p>
            <a:r>
              <a:rPr lang="zh-CN" dirty="0"/>
              <a:t>因为应用之间的数据流转，取决于应用集成的方式，而不是取决于数据本身。集成做错了，数据流就理不顺。所以这一部分讲的其实是集成的另一面。</a:t>
            </a:r>
          </a:p>
          <a:p>
            <a:endParaRPr lang="zh-CN"/>
          </a:p>
          <a:p>
            <a:r>
              <a:rPr lang="zh-CN" dirty="0"/>
              <a:t>前面第十四页讲了集成清单和标准，这一部分讲清单里那些"数据类集成"具体应该怎么做。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这一页讲怎么找到数据出口：三问。</a:t>
            </a:r>
          </a:p>
          <a:p>
            <a:endParaRPr lang="zh-CN"/>
          </a:p>
          <a:p>
            <a:r>
              <a:rPr lang="zh-CN" dirty="0"/>
              <a:t>第一问，谁要用？这里的"谁"必须具体到系统名，不能是"各个业务系统"。具体到系统名，你才能去查它到底调不调。</a:t>
            </a:r>
          </a:p>
          <a:p>
            <a:endParaRPr lang="zh-CN"/>
          </a:p>
          <a:p>
            <a:r>
              <a:rPr lang="zh-CN" dirty="0"/>
              <a:t>第二问，用来做什么？同一个数据，给报表用和给实时决策用，SLA完全不同。不问用途，就定不出服务等级。</a:t>
            </a:r>
          </a:p>
          <a:p>
            <a:endParaRPr lang="zh-CN"/>
          </a:p>
          <a:p>
            <a:r>
              <a:rPr lang="zh-CN" dirty="0"/>
              <a:t>第三问，要什么粒度？给报表的是汇总数据，给对账的是明细数据，给分析的是标签数据。粒度不定，接口一定返工。</a:t>
            </a:r>
          </a:p>
          <a:p>
            <a:endParaRPr lang="zh-CN"/>
          </a:p>
          <a:p>
            <a:r>
              <a:rPr lang="zh-CN" dirty="0"/>
              <a:t>这三问的价值在于，它是反向的——从消费方出发，而不是从数据源出发。这一点非常关键。</a:t>
            </a:r>
          </a:p>
          <a:p>
            <a:endParaRPr lang="zh-CN"/>
          </a:p>
          <a:p>
            <a:r>
              <a:rPr lang="zh-CN" dirty="0"/>
              <a:t>我见过太多失败的集成设计：从数据源出发，把库表结构开放出去，让每个消费方自己去查。这种做法短期最快，长期一定失控。因为你无法知道谁在用、用哪些字段、什么时候不用了。等你想优化表结构的时候，发现有三十个查询依赖它，动不了。</a:t>
            </a:r>
          </a:p>
          <a:p>
            <a:endParaRPr lang="zh-CN"/>
          </a:p>
          <a:p>
            <a:r>
              <a:rPr lang="zh-CN" dirty="0"/>
              <a:t>先问消费者，再定服务。这个顺序反过来，工作量会小很多。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数据服务化四步，每一步都有明确的产出物。</a:t>
            </a:r>
          </a:p>
          <a:p>
            <a:endParaRPr lang="zh-CN"/>
          </a:p>
          <a:p>
            <a:r>
              <a:rPr lang="zh-CN" dirty="0"/>
              <a:t>收口，是源系统只对外暴露服务，不暴露库表。这一步的技术手段是禁用直连账号、只开放服务接口。产出物是一份服务清单。</a:t>
            </a:r>
          </a:p>
          <a:p>
            <a:endParaRPr lang="zh-CN"/>
          </a:p>
          <a:p>
            <a:r>
              <a:rPr lang="zh-CN" dirty="0"/>
              <a:t>定义，是服务基于业务对象定义，不基于物理表。这里要跟DA配合——服务里的字段要挂数据标准的定义，不能用"客户表里的name字段"这种描述。产出物是服务规格。</a:t>
            </a:r>
          </a:p>
          <a:p>
            <a:endParaRPr lang="zh-CN"/>
          </a:p>
          <a:p>
            <a:r>
              <a:rPr lang="zh-CN" dirty="0"/>
              <a:t>编排，是共性服务上移下沉，个性服务留在业务应用。这一步是架构师的价值所在——判断哪些是共性能力，值得抽成公共服务。抽多了耦合重，抽少了到处重复。</a:t>
            </a:r>
          </a:p>
          <a:p>
            <a:endParaRPr lang="zh-CN"/>
          </a:p>
          <a:p>
            <a:r>
              <a:rPr lang="zh-CN" dirty="0"/>
              <a:t>计量，是记录调用方、频次、字段使用情况。这一步最容易被忽略，也最重要。</a:t>
            </a:r>
          </a:p>
          <a:p>
            <a:endParaRPr lang="zh-CN"/>
          </a:p>
          <a:p>
            <a:r>
              <a:rPr lang="zh-CN" dirty="0"/>
              <a:t>为什么说计量最重要？因为没有使用统计的服务目录，一定会在两年后变成垃圾场。你不会知道哪个服务还能删，因为没人知道谁在用。</a:t>
            </a:r>
          </a:p>
          <a:p>
            <a:endParaRPr lang="zh-CN"/>
          </a:p>
          <a:p>
            <a:r>
              <a:rPr lang="zh-CN" dirty="0"/>
              <a:t>事件契约的四项：事件语义、触发与顺序、幂等与去重、失败与补偿。这四项里，幂等和补偿是最容易被漏的，而漏了它们的后果就是重复处理和数据丢失。</a:t>
            </a:r>
          </a:p>
          <a:p>
            <a:endParaRPr lang="zh-CN"/>
          </a:p>
          <a:p>
            <a:r>
              <a:rPr lang="zh-CN" dirty="0"/>
              <a:t>同步还是事件？需要对方立刻给结果，用同步接口；只需要通知一声，用事件。事件用多了排查困难。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这一页是两张可直接发的表。</a:t>
            </a:r>
          </a:p>
          <a:p>
            <a:endParaRPr lang="zh-CN"/>
          </a:p>
          <a:p>
            <a:r>
              <a:rPr lang="zh-CN" dirty="0"/>
              <a:t>左边数据服务目录模板，六列。必填的是消费方、SLA、调用量三列。</a:t>
            </a:r>
          </a:p>
          <a:p>
            <a:endParaRPr lang="zh-CN"/>
          </a:p>
          <a:p>
            <a:r>
              <a:rPr lang="zh-CN" dirty="0"/>
              <a:t>为什么消费方必填？因为没有消费方，就没人负责下线。一个服务有五个消费方，其中三个已经没人维护了，这个服务该不该合并、该不该降级，判断不了。</a:t>
            </a:r>
          </a:p>
          <a:p>
            <a:endParaRPr lang="zh-CN"/>
          </a:p>
          <a:p>
            <a:r>
              <a:rPr lang="zh-CN" dirty="0"/>
              <a:t>为什么调用量必填？因为这是唯一能自动化的数据。SLA可以拍，调用量不会骗人。</a:t>
            </a:r>
          </a:p>
          <a:p>
            <a:endParaRPr lang="zh-CN"/>
          </a:p>
          <a:p>
            <a:r>
              <a:rPr lang="zh-CN" dirty="0"/>
              <a:t>右边事件契约模板，一个例子。关键是命名和去重键。</a:t>
            </a:r>
          </a:p>
          <a:p>
            <a:endParaRPr lang="zh-CN"/>
          </a:p>
          <a:p>
            <a:r>
              <a:rPr lang="zh-CN" dirty="0"/>
              <a:t>命名上，事件名要带业务动作。ShipmentDispatched 好过 TableBUpdated。后者的问题是，看到这个名字没有任何人知道发生了什么业务事实，出了问题也没法排查。</a:t>
            </a:r>
          </a:p>
          <a:p>
            <a:endParaRPr lang="zh-CN"/>
          </a:p>
          <a:p>
            <a:r>
              <a:rPr lang="zh-CN" dirty="0"/>
              <a:t>去重键是幂等的基础。没有去重键，消费方就没有判断重复的依据，重复消费就会导致重复处理。这是异步集成里最常见的事故来源。</a:t>
            </a:r>
          </a:p>
          <a:p>
            <a:endParaRPr lang="zh-CN"/>
          </a:p>
          <a:p>
            <a:r>
              <a:rPr lang="zh-CN" dirty="0"/>
              <a:t>关于这两张表怎么用：数据服务目录每月更新一次，事件契约在契约变更时更新。更新频率不同，因为服务的使用状态变化快，契约变更频率低。</a:t>
            </a:r>
          </a:p>
          <a:p>
            <a:endParaRPr lang="zh-CN"/>
          </a:p>
          <a:p>
            <a:r>
              <a:rPr lang="zh-CN" dirty="0"/>
              <a:t>最后提醒一个坑：这两张表都必须有 Owner。没有 Owner 的服务目录，一年后就没人维护了。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第六部分，安全合规与架构治理。</a:t>
            </a:r>
          </a:p>
          <a:p>
            <a:endParaRPr lang="zh-CN"/>
          </a:p>
          <a:p>
            <a:r>
              <a:rPr lang="zh-CN" dirty="0"/>
              <a:t>前面五部分把架构做出来了，这一部分保证它不塌。</a:t>
            </a:r>
          </a:p>
          <a:p>
            <a:endParaRPr lang="zh-CN"/>
          </a:p>
          <a:p>
            <a:r>
              <a:rPr lang="zh-CN" dirty="0"/>
              <a:t>两部分内容：应用减法三步法，以及治理机制、合规红线和配套模板。</a:t>
            </a:r>
          </a:p>
          <a:p>
            <a:endParaRPr lang="zh-CN"/>
          </a:p>
          <a:p>
            <a:r>
              <a:rPr lang="zh-CN" dirty="0"/>
              <a:t>先说一句：应用减法我放在这个位置，是因为它既是架构方法，也是治理动作。它需要的不是架构师一个人的判断力，是一套能持续运转的机制。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应用减法三步：找、迁、撤。</a:t>
            </a:r>
          </a:p>
          <a:p>
            <a:endParaRPr lang="zh-CN"/>
          </a:p>
          <a:p>
            <a:r>
              <a:rPr lang="zh-CN" dirty="0"/>
              <a:t>先说为什么这件事这么难。新建一个系统，所有人都会鼓掌。让一个系统消失，需要说服所有人——业务说还能用，运维说还有依赖，财务说资产还没摊销完，研发说文档都没有。</a:t>
            </a:r>
          </a:p>
          <a:p>
            <a:endParaRPr lang="zh-CN"/>
          </a:p>
          <a:p>
            <a:r>
              <a:rPr lang="zh-CN" dirty="0"/>
              <a:t>所以减法必须有方法，必须有清单，必须有人签字。</a:t>
            </a:r>
          </a:p>
          <a:p>
            <a:endParaRPr lang="zh-CN"/>
          </a:p>
          <a:p>
            <a:r>
              <a:rPr lang="zh-CN" dirty="0"/>
              <a:t>第一步，找。找的判断标准是三条：调用量归零、十二个月无变更、无对应业务能力。</a:t>
            </a:r>
          </a:p>
          <a:p>
            <a:endParaRPr lang="zh-CN"/>
          </a:p>
          <a:p>
            <a:r>
              <a:rPr lang="zh-CN" dirty="0"/>
              <a:t>这里要特别强调：别信资产登记表，要信流量和代码仓库提交记录。登记表是有人维护的，流量和提交记录是没有办法作假的。实际做减法时，我会先从提交记录里找两年没动过的系统，然后再去查它们的调用量，这个顺序效率最高。</a:t>
            </a:r>
          </a:p>
          <a:p>
            <a:endParaRPr lang="zh-CN"/>
          </a:p>
          <a:p>
            <a:r>
              <a:rPr lang="zh-CN" dirty="0"/>
              <a:t>第二步，迁。这一步的关键认知是：功能不是砍掉，是搬到一个还在演进的系统里。如果只是砍掉功能，业务会真的跳起来反驳。但如果是"这个功能我们合并到合同系统里了，而且体验更好"，讨论就变成了技术选择而不是利益冲突。</a:t>
            </a:r>
          </a:p>
          <a:p>
            <a:endParaRPr lang="zh-CN"/>
          </a:p>
          <a:p>
            <a:r>
              <a:rPr lang="zh-CN" dirty="0"/>
              <a:t>数据在这一步要归档，可查询但不在线。</a:t>
            </a:r>
          </a:p>
          <a:p>
            <a:endParaRPr lang="zh-CN"/>
          </a:p>
          <a:p>
            <a:r>
              <a:rPr lang="zh-CN" dirty="0"/>
              <a:t>第三步，撤。撤要彻底：环境销毁、账号回收、域名注销。代码仓库只归档不删除——法律上仍需可追溯，但转成只读。</a:t>
            </a:r>
          </a:p>
          <a:p>
            <a:endParaRPr lang="zh-CN"/>
          </a:p>
          <a:p>
            <a:r>
              <a:rPr lang="zh-CN" dirty="0"/>
              <a:t>最后这一条是我最想强调的：大多数组织做不成减法，不是因为不想减，是因为没人愿意签这个字。减法没有交付里程碑，只有风险。所以必须由架构治理委员会强行立项，把下线当成一个可考核的项目来管，而不是当成IT内部杂事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这一页讲门和红线。</a:t>
            </a:r>
          </a:p>
          <a:p>
            <a:endParaRPr lang="zh-CN"/>
          </a:p>
          <a:p>
            <a:r>
              <a:rPr lang="zh-CN" dirty="0"/>
              <a:t>先说四道门。G1立项门，问的是业务能力是否已有承载应用——有的话就不新建，走集成。这一道门拦住的是"重复建设"，是四道门里价值最高的。</a:t>
            </a:r>
          </a:p>
          <a:p>
            <a:endParaRPr lang="zh-CN"/>
          </a:p>
          <a:p>
            <a:r>
              <a:rPr lang="zh-CN" dirty="0"/>
              <a:t>G2架构门，问是否复用既有能力和平台服务，复用率低于阈值必须书面说明。这道门拦住的是"什么都自己造"。</a:t>
            </a:r>
          </a:p>
          <a:p>
            <a:endParaRPr lang="zh-CN"/>
          </a:p>
          <a:p>
            <a:r>
              <a:rPr lang="zh-CN" dirty="0"/>
              <a:t>G3数据门，问是否新增一份数据副本。这个问题必须由DA参与判定，因为它涉及数据归属。</a:t>
            </a:r>
          </a:p>
          <a:p>
            <a:endParaRPr lang="zh-CN"/>
          </a:p>
          <a:p>
            <a:r>
              <a:rPr lang="zh-CN" dirty="0"/>
              <a:t>G4上线门，问集成、监控、责任人是否齐备。缺任一项不得进生产。</a:t>
            </a:r>
          </a:p>
          <a:p>
            <a:endParaRPr lang="zh-CN"/>
          </a:p>
          <a:p>
            <a:r>
              <a:rPr lang="zh-CN" dirty="0"/>
              <a:t>关于门的关键经验：门后面站着谁，决定门有没有用。</a:t>
            </a:r>
          </a:p>
          <a:p>
            <a:endParaRPr lang="zh-CN"/>
          </a:p>
          <a:p>
            <a:r>
              <a:rPr lang="zh-CN" dirty="0"/>
              <a:t>门由架构委员会把守，业务部门有一票否决权。没有业务方的否决权，门会被销售和交付压力冲垮——年底冲业绩的时候，什么门都能绕过去。没有架构委员会的同意权，门会变成走形式——每个人都签了，但没人真的在卡。</a:t>
            </a:r>
          </a:p>
          <a:p>
            <a:endParaRPr lang="zh-CN"/>
          </a:p>
          <a:p>
            <a:r>
              <a:rPr lang="zh-CN" dirty="0"/>
              <a:t>所以三五个人就够，但必须在场。</a:t>
            </a:r>
          </a:p>
          <a:p>
            <a:endParaRPr lang="zh-CN"/>
          </a:p>
          <a:p>
            <a:r>
              <a:rPr lang="zh-CN" dirty="0"/>
              <a:t>三个常设机制：应用目录例会、架构评审、例外台账。例外台账我最想强调：允许例外，但必须登记，带到期日。没有例外台账，标准会被绕过；有了例外台账，例外数量本身就能反映标准的合理性。</a:t>
            </a:r>
          </a:p>
          <a:p>
            <a:endParaRPr lang="zh-CN"/>
          </a:p>
          <a:p>
            <a:r>
              <a:rPr lang="zh-CN" dirty="0"/>
              <a:t>五条合规红线，我不多讲，这些是硬约束。越线直接否，没有讨论空间。其中第五条"系统必须登记业务Owner"，很多客户觉得这条太软——它不是安全红线，但它是所有其他红线的组织保障。没有Owner的安全责任，等于没人负责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这一页两张表，一张执行用，一张签字用。</a:t>
            </a:r>
          </a:p>
          <a:p>
            <a:endParaRPr lang="zh-CN"/>
          </a:p>
          <a:p>
            <a:r>
              <a:rPr lang="zh-CN" dirty="0"/>
              <a:t>左边退役清单，七个动作项。前两项和第四项最容易被跳过，也是最容易出事的。</a:t>
            </a:r>
          </a:p>
          <a:p>
            <a:endParaRPr lang="zh-CN"/>
          </a:p>
          <a:p>
            <a:r>
              <a:rPr lang="zh-CN" dirty="0"/>
              <a:t>第1项流量截断验证，要连续十四天零调用。为什么是十四天？因为很多系统的调用是低频的，比如月度报表、季度结算，只看一周数据会漏掉。用十四天零调用，比用一周可靠。</a:t>
            </a:r>
          </a:p>
          <a:p>
            <a:endParaRPr lang="zh-CN"/>
          </a:p>
          <a:p>
            <a:r>
              <a:rPr lang="zh-CN" dirty="0"/>
              <a:t>第4项接口改向，这是退役失败的头号原因。真实项目里，退役失败绝大多数不是技术问题，是消费方没统计全。服务器关了，有人在调它的接口，这才发现漏了。</a:t>
            </a:r>
          </a:p>
          <a:p>
            <a:endParaRPr lang="zh-CN"/>
          </a:p>
          <a:p>
            <a:r>
              <a:rPr lang="zh-CN" dirty="0"/>
              <a:t>右边评审检查表，六项带权重。</a:t>
            </a:r>
          </a:p>
          <a:p>
            <a:endParaRPr lang="zh-CN"/>
          </a:p>
          <a:p>
            <a:r>
              <a:rPr lang="zh-CN" dirty="0"/>
              <a:t>为什么要权重？不给权重，检查表会退化成打勾仪式，每个人都很配合地打六个勾，然后一个系统就下线了，然后三个月后有人来问我的数据怎么查不到了。</a:t>
            </a:r>
          </a:p>
          <a:p>
            <a:endParaRPr lang="zh-CN"/>
          </a:p>
          <a:p>
            <a:r>
              <a:rPr lang="zh-CN" dirty="0"/>
              <a:t>给权重之后，缺一项业务确认就不能推进，会强制组织真的去沟通。业务确认这一项给了25%的最高权重，因为它最难拿到，也最重要。</a:t>
            </a:r>
          </a:p>
          <a:p>
            <a:endParaRPr lang="zh-CN"/>
          </a:p>
          <a:p>
            <a:r>
              <a:rPr lang="zh-CN" dirty="0"/>
              <a:t>最后强调一点：退役之后要有观察期。我建议至少三个月，观察期内保留可快速恢复的能力。减法不能一次做绝，要留退路——这一点和新增完全相反，新增要留扩展空间，退役要留后悔药。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收口部分，我给六个判断。这六个判断，半年之后还成立，这套架构就是落地的。</a:t>
            </a:r>
          </a:p>
          <a:p>
            <a:endParaRPr lang="zh-CN"/>
          </a:p>
          <a:p>
            <a:r>
              <a:rPr lang="zh-CN" dirty="0"/>
              <a:t>能力映射有归属，每个业务能力都能说出由哪个应用承载，说不出的就是架构缺口。</a:t>
            </a:r>
          </a:p>
          <a:p>
            <a:endParaRPr lang="zh-CN"/>
          </a:p>
          <a:p>
            <a:r>
              <a:rPr lang="zh-CN" dirty="0"/>
              <a:t>每个应用有业务Owner，注意是业务部门不是IT。IT是服务提供方，业务才是需求方。Owner放错位置，整套机制就失效。</a:t>
            </a:r>
          </a:p>
          <a:p>
            <a:endParaRPr lang="zh-CN"/>
          </a:p>
          <a:p>
            <a:r>
              <a:rPr lang="zh-CN" dirty="0"/>
              <a:t>集成有契约可依，数据服务和事件都有书面契约，能查到消费方和SLA。</a:t>
            </a:r>
          </a:p>
          <a:p>
            <a:endParaRPr lang="zh-CN"/>
          </a:p>
          <a:p>
            <a:r>
              <a:rPr lang="zh-CN" dirty="0"/>
              <a:t>新增被门拦住，四道评审门真正在用，例外有台账、有到期日。</a:t>
            </a:r>
          </a:p>
          <a:p>
            <a:endParaRPr lang="zh-CN"/>
          </a:p>
          <a:p>
            <a:r>
              <a:rPr lang="zh-CN" dirty="0"/>
              <a:t>退役是常态动作，减法有清单、有签字、有观察期。</a:t>
            </a:r>
          </a:p>
          <a:p>
            <a:endParaRPr lang="zh-CN"/>
          </a:p>
          <a:p>
            <a:r>
              <a:rPr lang="zh-CN" dirty="0"/>
              <a:t>架构与预算同源，立项预算和架构结论对齐，钱花在通过门的项目上。这一条最难，但它决定了架构结论有没有实际约束力。</a:t>
            </a:r>
          </a:p>
          <a:p>
            <a:endParaRPr lang="zh-CN"/>
          </a:p>
          <a:p>
            <a:r>
              <a:rPr lang="zh-CN" dirty="0"/>
              <a:t>然后是我认为最重要的一问：交付那天问客户三个问题——半年后谁来更新应用目录？谁来盯例外台账到期？谁来判断一个系统该不该下线？</a:t>
            </a:r>
          </a:p>
          <a:p>
            <a:endParaRPr lang="zh-CN"/>
          </a:p>
          <a:p>
            <a:r>
              <a:rPr lang="zh-CN" dirty="0"/>
              <a:t>三个问题里有两个答不上来，架构就还停在文档里。</a:t>
            </a:r>
          </a:p>
          <a:p>
            <a:endParaRPr lang="zh-CN"/>
          </a:p>
          <a:p>
            <a:r>
              <a:rPr lang="zh-CN" dirty="0"/>
              <a:t>真正的落地标志不是评审通过，是有人开始因为门被拦而感到不方便。那才说明门在起作用。如果所有人都觉得门无所谓，那这个门就是个摆设。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这一页我讲五个真实项目里反复出现的坑。</a:t>
            </a:r>
          </a:p>
          <a:p>
            <a:endParaRPr lang="zh-CN"/>
          </a:p>
          <a:p>
            <a:r>
              <a:rPr lang="zh-CN" dirty="0"/>
              <a:t>第一个坑，把应用架构画成系统拓扑图。全是服务器和中间件，没有业务能力。后果是评审变成技术自嗨，业务方看不懂也不参与——因为业务方一看就明白这不是自己的东西。</a:t>
            </a:r>
          </a:p>
          <a:p>
            <a:endParaRPr lang="zh-CN"/>
          </a:p>
          <a:p>
            <a:r>
              <a:rPr lang="zh-CN" dirty="0"/>
              <a:t>第二个坑，只做盘点不做决策。清单很厚，但没有建买集成退役的结论。后果是盘点变成年度作业，明年后还得再来一遍，因为没人基于它做了任何事。</a:t>
            </a:r>
          </a:p>
          <a:p>
            <a:endParaRPr lang="zh-CN"/>
          </a:p>
          <a:p>
            <a:r>
              <a:rPr lang="zh-CN" dirty="0"/>
              <a:t>第三个坑，把Owner给了IT部门。这是IT既是运动员又是裁判，没人替业务做取舍，结果系统只增不减。这一条我在前面反复提过，因为它是最常见也最致命的。</a:t>
            </a:r>
          </a:p>
          <a:p>
            <a:endParaRPr lang="zh-CN"/>
          </a:p>
          <a:p>
            <a:r>
              <a:rPr lang="zh-CN" dirty="0"/>
              <a:t>第四个坑，集成清单只记接口不记数据归属。接口表几百行，但说不清数据是谁的。后果是接口越加越多，源头一致性无人负责。</a:t>
            </a:r>
          </a:p>
          <a:p>
            <a:endParaRPr lang="zh-CN"/>
          </a:p>
          <a:p>
            <a:r>
              <a:rPr lang="zh-CN" dirty="0"/>
              <a:t>第五个坑，只谈新建不谈退役。报告里没有一个下线建议。这种报告客户看得很舒服，因为它没有触及任何人的痛处——但技术债逐年累积，五年后想重构已经来不及了。</a:t>
            </a:r>
          </a:p>
          <a:p>
            <a:endParaRPr lang="zh-CN"/>
          </a:p>
          <a:p>
            <a:r>
              <a:rPr lang="zh-CN" dirty="0"/>
              <a:t>这五个坑的共同根因，我放在最下面：把应用架构当成IT内部的技术管理，而不是业务与技术的共同决策。</a:t>
            </a:r>
          </a:p>
          <a:p>
            <a:endParaRPr lang="zh-CN"/>
          </a:p>
          <a:p>
            <a:r>
              <a:rPr lang="zh-CN" dirty="0"/>
              <a:t>只要业务不参与取舍，第三和第五条就一定会发生；只要不看数据归属，第四条一定会发生。</a:t>
            </a:r>
          </a:p>
          <a:p>
            <a:endParaRPr lang="zh-CN"/>
          </a:p>
          <a:p>
            <a:r>
              <a:rPr lang="zh-CN" dirty="0"/>
              <a:t>这也是为什么我从第一部分就强调，Owner必须是业务部门。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dirty="0"/>
              <a:t>最后一部分，三句话收尾。</a:t>
            </a:r>
          </a:p>
          <a:p>
            <a:endParaRPr lang="zh-CN"/>
          </a:p>
          <a:p>
            <a:r>
              <a:rPr lang="zh-CN" dirty="0"/>
              <a:t>第一句：架构的价值在减法里显现。新建一个系统，所有人都会鼓掌；让一个系统消失，需要勇气、依据和一整套执行动作。难点永远在后者。</a:t>
            </a:r>
          </a:p>
          <a:p>
            <a:endParaRPr lang="zh-CN"/>
          </a:p>
          <a:p>
            <a:r>
              <a:rPr lang="zh-CN" dirty="0"/>
              <a:t>第二句：这套方法能成立，靠的不是工具，是四件事——能力有归属，集成有契约，新增有门，退役有单。这十六个字如果落不下去，做多少页PPT都没用。</a:t>
            </a:r>
          </a:p>
          <a:p>
            <a:endParaRPr lang="zh-CN"/>
          </a:p>
          <a:p>
            <a:r>
              <a:rPr lang="zh-CN" dirty="0"/>
              <a:t>第三句，也是我想带走的一句话：应用架构不是把系统管住，是把业务能力管住。系统会变、平台会换、供应商会跑，但能力是相对稳定的。把注意力放在能力上，架构就不会过时。</a:t>
            </a:r>
          </a:p>
          <a:p>
            <a:endParaRPr lang="zh-CN"/>
          </a:p>
          <a:p>
            <a:r>
              <a:rPr lang="zh-CN" dirty="0"/>
              <a:t>如果各位只记住一件事，就记住这句：把"这个应用为什么存在"这个问题，每个系统都能用一句话回答清楚，那么你们的应用架构就是健康的。</a:t>
            </a:r>
          </a:p>
          <a:p>
            <a:endParaRPr lang="zh-CN"/>
          </a:p>
          <a:p>
            <a:r>
              <a:rPr lang="zh-CN" dirty="0"/>
              <a:t>谢谢大家。接下来是提问时间。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 }}&gt;&#10;    {/* 左侧橙红几何带 */}&#10;    &lt;Box style={{ position: 'absolute', left: 0, top: 0, width: 460, height: 720, background: 'linear-gradient(160deg, #FA4F24 0%, #F87D2F 100%)' }} /&gt;&#10;    &lt;Box style={{ position: 'absolute', left: 400, top: 0, width: 120, height: 720, background: 'linear-gradient(160deg, rgba(250,79,36,0.35) 0%, rgba(248,125,47,0) 100%)' }} /&gt;&#10;&#10;    {/* 左侧品牌文字 */}&#10;    &lt;Box style={{ position: 'absolute', left: 64, top: 64, flexDirection: 'column' }}&gt;&#10;      &lt;Text style={{ fontSize: 16, color: 'rgba(255,255,255,0.85)', letterSpacing: 3 }}&gt;BOULDERAI&lt;/Text&gt;&#10;    &lt;Text style={{ fontSize: 13, color: 'rgba(255,255,255,0.65)', letterSpacing: 2, marginTop: 4 }}&gt;TECHNOLOGIES · SOLUTION&lt;/Text&gt;&#10;    &lt;/Box&gt;&#10;    &lt;Box style={{ position: 'absolute', left: 64, bottom: 72, flexDirection: 'column' }}&gt;&#10;        &lt;Box style={{ width: 56, height: 4, background: 'rgba(255,255,255,0.8)' }} /&gt;&#10;    &lt;Text style={{ fontSize: 20, color: '#FFFFFF', fontWeight: 'bold', marginTop: 18 }}&gt;硕磐智能&lt;/Text&gt;&#10;        &lt;Text style={{ fontSize: 14, color: 'rgba(255,255,255,0.8)', marginTop: 6 }}&gt;咨询交付版 · APPLICATION ARCHITECTURE&lt;/Text&gt;&#10;    &lt;/Box&gt;&#10;&#10;    {/* 右侧主标题 */}&#10;    &lt;Box style={{ position: 'absolute', left: 540, top: 150, width: 660, flexDirection: 'column' }}&gt;&#10;    &lt;Text style={{ fontSize: 88, fontWeight: 'bold', color: '#FA4F24', lineHeight: 1.0 }}&gt;AA&lt;/Text&gt;&#10;        &lt;Text style={{ fontSize: 44, fontWeight: 'bold', color: '#0F1423', marginTop: 18, lineHeight: 1.2 }}&gt;应用架构咨询方法论&lt;/Text&gt;&#10;        &lt;Box style={{ width: 88, height: 5, background: '#FA4F24', marginTop: 26 }} /&gt;&#10;        &lt;Text style={{ fontSize: 21, color: '#3A4050', marginTop: 26, lineHeight: 1.6 }}&gt;&#10;     从能力映射到应用组合，从集成契约到应用减法，构建可治理、可演进的应用架构体系&#10;      &lt;/Text&gt;&#10;    &lt;/Box&gt;&#10;&#10;    {/* 底部四组件标签 */}&#10;    &lt;Box style={{ position: 'absolute', left: 540, top: 560, flexDirection: 'row', gap: 12 }}&gt;&#10;  {['能力映射', '集成架构', '组合决策', '应用减法'].map((t, i) =&gt; (&#10;            &lt;Box key={i} style={{ background: 'rgba(250,79,36,0.08)', borderRadius: 3, padding: '8px 18px' }}&gt;&#10;                &lt;Text style={{ fontSize: 16, color: '#C43A17', fontWeight: 'bold' }}&gt;{t}&lt;/Text&gt;&#10;            &lt;/Box&gt;&#10;        ))}&#10;    &lt;/Box&gt;&#10;&#10;    {/* 依据说明 */}&#10;    &lt;Box style={{ position: 'absolute', left: 540, bottom: 78, flexDirection: 'row', alignItems: 'center', gap: 10 }}&gt;&#10;  &lt;Box style={{ width: 4, height: 18, background: '#F87D2F' }} /&gt;&#10;        &lt;Text style={{ fontSize: 14, color: '#8A8F99' }}&gt;方法论依据：《华为数据之道》（华为公司数据管理部 著）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3810000" y="0"/>
            <a:ext cx="1143000" cy="6858000"/>
          </a:xfrm>
          <a:prstGeom prst="rect">
            <a:avLst/>
          </a:prstGeom>
          <a:gradFill>
            <a:gsLst>
              <a:gs pos="0">
                <a:srgbClr val="FA4F24">
                  <a:alpha val="35000"/>
                </a:srgbClr>
              </a:gs>
              <a:gs pos="100000">
                <a:srgbClr val="F87D2F">
                  <a:alpha val="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838200"/>
            <a:ext cx="2133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5514975"/>
            <a:ext cx="533400" cy="381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2676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硕磐智能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01027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咨询交付版</a:t>
            </a: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APPLICATION ARCHITECTURE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143500" y="1428750"/>
            <a:ext cx="62865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A4F24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143500" y="2609850"/>
            <a:ext cx="62865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0F1423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143500" y="3467100"/>
            <a:ext cx="8382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143500" y="3762375"/>
            <a:ext cx="62865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3A4050"/>
                </a:solidFill>
                <a:latin typeface="Microsoft YaHei"/>
                <a:ea typeface="Microsoft YaHei"/>
              </a:rPr>
              <a:t>从能力映射到应用组合，从集成契约到应用减法，构建可治理、可演进的应用架构体系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1435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149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能力映射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103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3817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集成架构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2771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4485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组合决策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83439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153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应用减法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143500" y="5943600"/>
            <a:ext cx="38100" cy="1714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276850" y="5953125"/>
            <a:ext cx="3514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方法论依据：《华为数据之道》（华为公司数据管理部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著）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63" name="" descr="&lt;Slide style={{ width: 1280, height: 720, background: '#FFFFFF', padding: '24px 64px 0' }}&gt;&#10;  {/* A 区 */}&#10;    &lt;Box style={{ height: 96, flexDirection: 'column', justifyContent: 'flex-start' }}&gt;&#10;   &lt;Text style={{ fontSize: 32, fontWeight: 'bold', color: '#0F1423' }}&gt;&#10;本册覆盖&lt;span style={{ color: '#FA4F24' }}&gt;七个部分&lt;/span&gt;，把应用架构从能力映射到应用减法逐一拆到可交付&#10;      &lt;/Text&gt;&#10;        &lt;Text style={{ fontSize: 20, color: '#8A8F99', marginTop: 8 }}&gt;&#10; 从总论到组合盘点、集成、决策、数据流与治理，每部分均含「方法 · 内容 · 模板」三段式作业&#10;    &lt;/Text&gt;&#10;    &lt;/Box&gt;&#10;    &lt;Box style={{ height: 1, background: '#E8E8E8' }} /&gt;&#10;&#10;    {/* B 区 */}&#10;&lt;Box style={{ paddingTop: 26, paddingBottom: 14, height: 479, flexDirection: 'row', gap: 20 }}&gt;&#10;&#10;        {/* 左 60% 五条 */}&#10;    &lt;Box style={{ width: 680, flexDirection: 'column', gap: 13 }}&gt;&#10; {[&#10;    { n: '01', t: '应用架构总论', d: '三层结构、五条原则与能力→应用→功能传导', tag: 'P04–07' },&#10;      { n: '02', t: '应用组合盘点', d: '能力映射四问法，全景清单与九类资产分类', tag: 'P08–11' },&#10;  { n: '03', t: '集成架构', d: '集成四问法、四种集成模式与接口标准', tag: 'P12–15' },&#10;  { n: '04', t: '组合评估与四态决策', d: '价值×健康度二维评估，建买集成退役判定', tag: 'P16–19' },&#10;       { n: '05', t: '数据流与事件流', d: '数据消费识别，服务化与事件契约', tag: 'P20–23' },&#10;        ].map((it, i) =&gt; (&#10;         &lt;Box key={i} style={{ flex: 1, flexDirection: 'row', alignItems: 'center', background: '#F7F7F8', borderRadius: 4, padding: '0 20px', gap: 16 }}&gt;&#10;         &lt;Text style={{ fontSize: 28, fontWeight: 'bold', color: '#FA4F24', width: 48 }}&gt;{it.n}&lt;/Text&gt;&#10;    &lt;Box style={{ width: 208 }}&gt;&#10;     &lt;Text style={{ fontSize: 19, fontWeight: 'bold', color: '#0F1423' }}&gt;{it.t}&lt;/Text&gt;&#10;      &lt;/Box&gt;&#10;    &lt;Text style={{ fontSize: 15, color: '#3A4050', lineHeight: 1.4, flex: 1 }}&gt;{it.d}&lt;/Text&gt;&#10;     &lt;Text style={{ fontSize: 13, color: '#C43A17', width: 64, textAlign: 'right' }}&gt;{it.tag}&lt;/Text&gt;&#10;    &lt;/Box&gt;&#10;      ))}&#10;        &lt;/Box&gt;&#10;&#10;    {/* 右 40% 两条 + 收口 */}&#10;        &lt;Box style={{ flex: 1, flexDirection: 'column', gap: 13 }}&gt;&#10;        {[&#10;      { n: '06', t: '安全合规与架构治理', d: '应用减法三步法，治理门与合规红线', tag: 'P24–27' },&#10;                { n: '07', t: '确定性与避坑', d: '把技术不确定性关进笼子，五个常见误区', tag: 'P28–29' },&#10;        ].map((it, i) =&gt; (&#10;       &lt;Box key={i} style={{ flex: 1, flexDirection: 'column', justifyContent: 'center', background: '#F7F7F8', borderRadius: 4, padding: '0 20px' }}&gt;&#10;      &lt;Box style={{ flexDirection: 'row', alignItems: 'baseline', gap: 14 }}&gt;&#10;  &lt;Text style={{ fontSize: 28, fontWeight: 'bold', color: '#FA4F24' }}&gt;{it.n}&lt;/Text&gt;&#10;        &lt;Text style={{ fontSize: 19, fontWeight: 'bold', color: '#0F1423' }}&gt;{it.t}&lt;/Text&gt;&#10;      &lt;/Box&gt;&#10;     &lt;Text style={{ fontSize: 15, color: '#3A4050', lineHeight: 1.45, marginTop: 8 }}&gt;{it.d}&lt;/Text&gt;&#10;    &lt;Text style={{ fontSize: 13, color: '#C43A17', marginTop: 6 }}&gt;{it.tag}&lt;/Text&gt;&#10; &lt;/Box&gt;&#10;    ))}&#10;            &lt;Box style={{ flex: 1, background: 'linear-gradient(160deg, #FA4F24 0%, #F87D2F 100%)', borderRadius: 4, padding: '18px 20px', flexDirection: 'column', justifyContent: 'center' }}&gt;&#10;    &lt;Text style={{ fontSize: 17, fontWeight: 'bold', color: '#FFFFFF' }}&gt;全册一条主线&lt;/Text&gt;&#10;        &lt;Text style={{ fontSize: 15, color: 'rgba(255,255,255,0.92)', lineHeight: 1.5, marginTop: 8 }}&gt;&#10;   先问「要什么能力」，再定「用几个应用」—— 应用数量增长是技术债的主要来源&#10;  &lt;/Text&gt;&#10;            &lt;/Box&gt;&#10;        &lt;/Box&gt;&#10;    &lt;/Box&gt;&#10;&#10;    {/* C 区 */}&#10;    &lt;Box style={{ height: 60, flexDirection: 'row', alignItems: 'center', justifyContent: 'space-between' }}&gt;&#10;     &lt;Box style={{ flexDirection: 'row', alignItems: 'center', gap: 10 }}&gt;&#10;   &lt;Box style={{ width: 14, height: 14, background: '#FA4F24' }} /&gt;&#10;  &lt;Text style={{ fontSize: 14, color: '#8A8F99' }}&gt;硕磐机密 · AA应用架构咨询方法论&lt;/Text&gt;&#10;        &lt;/Box&gt;&#10;    &lt;Text style={{ fontSize: 14, color: '#8A8F99' }}&gt;02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本册覆盖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七个部分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，把应用架构从能力映射到应用减法逐一拆到可交付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从总论到组合盘点、集成、决策、数据流与治理，每部分均含「方法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模板」三段式作业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609600" y="1400175"/>
            <a:ext cx="6477000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00100" y="163830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409700" y="1695450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应用架构总论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3543300" y="1562100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三层结构、五条原则与能力→应用→功能传导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286500" y="172402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P04–07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09600" y="2324100"/>
            <a:ext cx="6477000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00100" y="256222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409700" y="261937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应用组合盘点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3543300" y="2486025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能力映射四问法，全景清单与九类资产分类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286500" y="264795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P08–11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09600" y="3248025"/>
            <a:ext cx="64770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00100" y="340995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409700" y="3467100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集成架构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3543300" y="344805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集成四问法、四种集成模式与接口标准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286500" y="349567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P12–15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609600" y="4019550"/>
            <a:ext cx="6477000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00100" y="42576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409700" y="431482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组合评估与四态决策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3543300" y="4181475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价值×健康度二维评估，建买集成退役判定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286500" y="434340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P16–19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9600" y="4943475"/>
            <a:ext cx="6477000" cy="638175"/>
          </a:xfrm>
          <a:prstGeom prst="roundRect">
            <a:avLst>
              <a:gd name="adj" fmla="val 59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00100" y="510540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409700" y="515302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数据流与事件流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3543300" y="514350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数据消费识别，服务化与事件契约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286500" y="519112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P20–23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7277100" y="1400175"/>
            <a:ext cx="4305300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467600" y="15811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934325" y="1581150"/>
            <a:ext cx="16287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安全合规与架构治理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467600" y="198120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应用减法三步法，治理门与合规红线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467600" y="2295525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P24–27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7277100" y="2743200"/>
            <a:ext cx="4305300" cy="1228725"/>
          </a:xfrm>
          <a:prstGeom prst="roundRect">
            <a:avLst>
              <a:gd name="adj" fmla="val 31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467600" y="29241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7934325" y="2924175"/>
            <a:ext cx="10858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确定性与避坑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7467600" y="3324225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把技术不确定性关进笼子，五个常见误区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467600" y="3638550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P28–29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7277100" y="4095750"/>
            <a:ext cx="4305300" cy="1485900"/>
          </a:xfrm>
          <a:prstGeom prst="roundRect">
            <a:avLst>
              <a:gd name="adj" fmla="val 256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467600" y="44481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全册一条主线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467600" y="4724400"/>
            <a:ext cx="3924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先问「要什么能力」，再定「用几个应用」——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应用数量增长是技术债的主要来源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153" name="" descr="&lt;Slide style={{ width: 1280, height: 720, background: '#FFFFFF' }}&gt;&#10;    {/* 背景装饰 */}&#10;    &lt;Box style={{ position: 'absolute', left: 0, top: 0, width: 1280, height: 8, background: 'linear-gradient(90deg, #FA4F24 0%, #F87D2F 100%)' }} /&gt;&#10;&#10;    {/* 主体标题 */}&#10;    &lt;Box style={{ position: 'absolute', left: 88, top: 62, width: 1104, flexDirection: 'column' }}&gt;&#10;        &lt;Text style={{ fontSize: 34, fontWeight: 'bold', color: '#0F1423' }}&gt;&#10;            应用架构回答&lt;span style={{ color: '#FA4F24' }}&gt;「用什么系统承载能力」&lt;/span&gt;，它是能力落地的载体&#10;  &lt;/Text&gt;&#10;        &lt;Text style={{ fontSize: 20, color: '#8A8F99', marginTop: 8 }}&gt;&#10;     应用不是越多越好—— 每多一个应用，就多一份维护成本、一处集成风险、一条技术债&#10;        &lt;/Text&gt;&#10;  &lt;Box style={{ height: 1, background: '#E8E8E8', marginTop: 18 }} /&gt;&#10;    &lt;/Box&gt;&#10;&#10;    {/* B 区 */}&#10;    &lt;Box style={{ position: 'absolute', left: 88, top: 186, width: 1104, height: 452, flexDirection: 'column', gap: 16 }}&gt;&#10;&#10;        {/* 4A 关系 + 应用数量 */}&#10;        &lt;Box style={{ flex: 1, flexDirection: 'row', gap: 14 }}&gt;&#10;    {[&#10;      { a: 'BA', cn: '业务架构', q: '做什么业务', d: '价值流 · 能力 · 组织', hero: false },&#10;         { a: 'DA', cn: '数据架构', q: '需要什么数据', d: '对象 · 标准 · 模型', hero: false },&#10;   { a: 'AA', cn: '应用架构', q: '用什么系统承载', d: '应用组合 · 集成 · 数据服务', hero: true },&#10; { a: 'TA', cn: '技术架构', q: '用什么技术实现', d: '平台 · 部署 · 运维', hero: false },&#10;   ].map((it, i) =&gt; (&#10;            &lt;Box key={i} style={{&#10;                flex: 1, borderRadius: 4, padding: '16px 16px', flexDirection: 'column', justifyContent: 'center',&#10;    background: it.hero ? 'linear-gradient(160deg, #FA4F24 0%, #F87D2F 100%)' : '#F7F7F8',&#10;        }}&gt;&#10;    &lt;Text style={{ fontSize: 28, fontWeight: 'bold', color: it.hero ? '#FFFFFF' : '#FA4F24' }}&gt;{it.a}&lt;/Text&gt;&#10;            &lt;Text style={{ fontSize: 19, fontWeight: 'bold', color: it.hero ? '#FFFFFF' : '#0F1423', marginTop: 5 }}&gt;{it.cn}&lt;/Text&gt;&#10;  &lt;Text style={{ fontSize: 14, color: it.hero ? 'rgba(255,255,255,0.95)' : '#3A4050', marginTop: 6 }}&gt;{it.q}&lt;/Text&gt;&#10;         &lt;Text style={{ fontSize: 11, color: it.hero ? 'rgba(255,255,255,0.75)' : '#8A8F99', marginTop: 5 }}&gt;{it.d}&lt;/Text&gt;&#10;     &lt;/Box&gt;&#10;            ))}&#10;  &lt;Box style={{ width: 300, background: 'rgba(250,79,36,0.06)', borderRadius: 4, padding: '14px 18px', borderLeft: '4px solid #FA4F24', flexDirection: 'column', justifyContent: 'center' }}&gt;&#10;                &lt;Text style={{ fontSize: 17, fontWeight: 'bold', color: '#C43A17' }}&gt;一个判断标准&lt;/Text&gt;&#10;   &lt;Text style={{ fontSize: 14, color: '#3A4050', lineHeight: 1.55, marginTop: 6 }}&gt;&#10;            问「这个系统对应哪项能力」。答不上来的应用，多半不需要存在。&#10;         &lt;/Text&gt;&#10;       &lt;/Box&gt;&#10;      &lt;/Box&gt;&#10;&#10;        {/* 传导链 */}&#10;        &lt;Box style={{ flex: 1, background: '#F7F7F8', borderRadius: 4, padding: '14px 24px', flexDirection: 'column', justifyContent: 'center' }}&gt;&#10;     &lt;Text style={{ fontSize: 18, fontWeight: 'bold', color: '#0F1423' }}&gt;能力到应用的传导链&lt;/Text&gt;&#10;        &lt;Box style={{ flexDirection: 'row', alignItems: 'center', gap: 8, marginTop: 12 }}&gt;&#10;      {['业务能力', '应用功能', '应用系统', '集成关系', '数据服务'].map((t, i) =&gt; (&#10;                &lt;Box key={i} style={{ flexDirection: 'row', alignItems: 'center', flex: 1 }}&gt;&#10;      &lt;Box style={{ flex: 1, background: i === 0 || i === 4 ? '#FA4F24' : '#FFFFFF', border: '1px solid #E8E8E8', borderRadius: 3, padding: '9px 6px', alignItems: 'center' }}&gt;&#10;     &lt;Text style={{ fontSize: 15, fontWeight: 'bold', color: i === 0 || i === 4 ? '#FFFFFF' : '#3A4050' }}&gt;{t}&lt;/Text&gt;&#10;          &lt;/Box&gt;&#10;    {i &lt; 4 &amp;&amp; &lt;Text style={{ fontSize: 16, color: '#FA4F24', margin: '0 6px' }}&gt;→&lt;/Text&gt;}&#10;       &lt;/Box&gt;&#10;    ))}&#10;     &lt;/Box&gt;&#10;     &lt;Text style={{ fontSize: 13, color: '#8A8F99', marginTop: 10 }}&gt;一一对应是例外，多数情况是多对多——多个能力共一个应用，一个能力散在多个应用&lt;/Text&gt;&#10;   &lt;/Box&gt;&#10;&#10;        {/* 三个判断 */}&#10;        &lt;Box style={{ flex: 1, flexDirection: 'row', gap: 12 }}&gt;&#10;      {[&#10;         { t: '应用是能力的载体，不是部门的附属', d: '每个应用必须有明确 Owner 业务方。挂在 IT 名下无人负责的应用，一定会长成没人愿意改的僵尸系统。' },&#10;     { t: '集成优先于新建', d: '能通过接口复用的，不得另建平行系统。绝大多数重复建设，都是因为「接口打不通」而不是「能力不具备」。' },&#10;  { t: '减法比加法更难', d: '退役一个应用要动数据、动流程、动组织，比新建难得多。但不做减法，技术债会以指数速度累积。' },&#10;       ].map((it, i) =&gt; (&#10;                &lt;Box key={i} style={{ flex: 1, background: 'rgba(250,79,36,0.06)', borderRadius: 4, padding: '13px 18px', borderLeft: '4px solid #FA4F24', flexDirection: 'column', justifyContent: 'center' }}&gt;&#10;             &lt;Text style={{ fontSize: 16, fontWeight: 'bold', color: '#C43A17' }}&gt;{it.t}&lt;/Text&gt;&#10;   &lt;Text style={{ fontSize: 14, color: '#3A4050', lineHeight: 1.5, marginTop: 6 }}&gt;{it.d}&lt;/Text&gt;&#10;            &lt;/Box&gt;&#10;       ))}&#10;        &lt;/Box&gt;&#10;    &lt;/Box&gt;&#10;&#10;    {/* 页脚 */}&#10;    &lt;Box style={{ position: 'absolute', left: 88, bottom: 40, right: 88, flexDirection: 'row', alignItems: 'center', justifyContent: 'space-between' }}&gt;&#10;     &lt;Box style={{ flexDirection: 'row', alignItems: 'center', gap: 10 }}&gt;&#10;  &lt;Box style={{ width: 14, height: 14, background: '#FA4F24' }} /&gt;&#10;        &lt;Text style={{ fontSize: 14, color: '#8A8F99' }}&gt;硕磐机密 · AA应用架构咨询方法论&lt;/Text&gt;&#10;    &lt;/Box&gt;&#10;        &lt;Text style={{ fontSize: 14, color: '#8A8F99' }}&gt;0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838200" y="590550"/>
            <a:ext cx="10515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423"/>
                </a:solidFill>
                <a:latin typeface="Microsoft YaHei"/>
                <a:ea typeface="Microsoft YaHei"/>
              </a:rPr>
              <a:t>应用架构回答</a:t>
            </a:r>
            <a:r>
              <a:rPr lang="zh-CN" sz="2550" b="1">
                <a:solidFill>
                  <a:srgbClr val="FA4F24"/>
                </a:solidFill>
                <a:latin typeface="Microsoft YaHei"/>
                <a:ea typeface="Microsoft YaHei"/>
              </a:rPr>
              <a:t>「用什么系统承载能力」</a:t>
            </a:r>
            <a:r>
              <a:rPr lang="zh-CN" sz="2550" b="1">
                <a:solidFill>
                  <a:srgbClr val="0F1423"/>
                </a:solidFill>
                <a:latin typeface="Microsoft YaHei"/>
                <a:ea typeface="Microsoft YaHei"/>
              </a:rPr>
              <a:t>，它是能力落地的载体</a:t>
            </a:r>
            <a:endParaRPr/>
          </a:p>
        </p:txBody>
      </p:sp>
      <p:sp>
        <p:nvSpPr>
          <p:cNvPr id="1157" name="" descr="{&quot;isTemplate&quot;:true,&quot;type&quot;:&quot;text&quot;}"/>
          <p:cNvSpPr txBox="1"/>
          <p:nvPr/>
        </p:nvSpPr>
        <p:spPr>
          <a:xfrm rot="0" flipH="0" flipV="0">
            <a:off x="838200" y="1057275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应用不是越多越好——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每多一个应用，就多一份维护成本、一处集成风险、一条技术债</a:t>
            </a:r>
            <a:endParaRPr/>
          </a:p>
        </p:txBody>
      </p:sp>
      <p:sp>
        <p:nvSpPr>
          <p:cNvPr id="1158" name=""/>
          <p:cNvSpPr/>
          <p:nvPr/>
        </p:nvSpPr>
        <p:spPr>
          <a:xfrm rot="0" flipH="0" flipV="0">
            <a:off x="838200" y="1457325"/>
            <a:ext cx="105156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59" name=""/>
          <p:cNvSpPr/>
          <p:nvPr/>
        </p:nvSpPr>
        <p:spPr>
          <a:xfrm rot="0" flipH="0" flipV="0">
            <a:off x="838200" y="1771650"/>
            <a:ext cx="1781175" cy="1400175"/>
          </a:xfrm>
          <a:prstGeom prst="roundRect">
            <a:avLst>
              <a:gd name="adj" fmla="val 272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990600" y="1981200"/>
            <a:ext cx="1476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990600" y="2352675"/>
            <a:ext cx="147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990600" y="2628900"/>
            <a:ext cx="147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做什么业务</a:t>
            </a:r>
            <a:endParaRPr/>
          </a:p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990600" y="2838450"/>
            <a:ext cx="1476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价值流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能力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组织</a:t>
            </a:r>
            <a:endParaRPr/>
          </a:p>
        </p:txBody>
      </p:sp>
      <p:sp>
        <p:nvSpPr>
          <p:cNvPr id="1164" name=""/>
          <p:cNvSpPr/>
          <p:nvPr/>
        </p:nvSpPr>
        <p:spPr>
          <a:xfrm rot="0" flipH="0" flipV="0">
            <a:off x="2752725" y="1771650"/>
            <a:ext cx="1781175" cy="1400175"/>
          </a:xfrm>
          <a:prstGeom prst="roundRect">
            <a:avLst>
              <a:gd name="adj" fmla="val 272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2905125" y="1981200"/>
            <a:ext cx="1476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2905125" y="2352675"/>
            <a:ext cx="147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2905125" y="2628900"/>
            <a:ext cx="147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需要什么数据</a:t>
            </a:r>
            <a:endParaRPr/>
          </a:p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2905125" y="2838450"/>
            <a:ext cx="1476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对象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标准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1169" name=""/>
          <p:cNvSpPr/>
          <p:nvPr/>
        </p:nvSpPr>
        <p:spPr>
          <a:xfrm rot="0" flipH="0" flipV="0">
            <a:off x="4667250" y="1771650"/>
            <a:ext cx="1781175" cy="1400175"/>
          </a:xfrm>
          <a:prstGeom prst="roundRect">
            <a:avLst>
              <a:gd name="adj" fmla="val 272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4819650" y="1981200"/>
            <a:ext cx="1476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4819650" y="2352675"/>
            <a:ext cx="147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1172" name="" descr="{&quot;isTemplate&quot;:true,&quot;type&quot;:&quot;text&quot;}"/>
          <p:cNvSpPr txBox="1"/>
          <p:nvPr/>
        </p:nvSpPr>
        <p:spPr>
          <a:xfrm rot="0" flipH="0" flipV="0">
            <a:off x="4819650" y="2628900"/>
            <a:ext cx="147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用什么系统承载</a:t>
            </a:r>
            <a:endParaRPr/>
          </a:p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4819650" y="2838450"/>
            <a:ext cx="1476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应用组合</a:t>
            </a:r>
            <a:r>
              <a:rPr lang="en-US" sz="8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集成</a:t>
            </a:r>
            <a:r>
              <a:rPr lang="en-US" sz="8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数据服务</a:t>
            </a:r>
            <a:endParaRPr/>
          </a:p>
        </p:txBody>
      </p:sp>
      <p:sp>
        <p:nvSpPr>
          <p:cNvPr id="1174" name=""/>
          <p:cNvSpPr/>
          <p:nvPr/>
        </p:nvSpPr>
        <p:spPr>
          <a:xfrm rot="0" flipH="0" flipV="0">
            <a:off x="6581775" y="1771650"/>
            <a:ext cx="1781175" cy="1400175"/>
          </a:xfrm>
          <a:prstGeom prst="roundRect">
            <a:avLst>
              <a:gd name="adj" fmla="val 272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6734175" y="1981200"/>
            <a:ext cx="1476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176" name="" descr="{&quot;isTemplate&quot;:true,&quot;type&quot;:&quot;text&quot;}"/>
          <p:cNvSpPr txBox="1"/>
          <p:nvPr/>
        </p:nvSpPr>
        <p:spPr>
          <a:xfrm rot="0" flipH="0" flipV="0">
            <a:off x="6734175" y="2352675"/>
            <a:ext cx="147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6734175" y="2628900"/>
            <a:ext cx="147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用什么技术实现</a:t>
            </a:r>
            <a:endParaRPr/>
          </a:p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6734175" y="2838450"/>
            <a:ext cx="1476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平台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部署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运维</a:t>
            </a:r>
            <a:endParaRPr/>
          </a:p>
        </p:txBody>
      </p:sp>
      <p:sp>
        <p:nvSpPr>
          <p:cNvPr id="1179" name=""/>
          <p:cNvSpPr/>
          <p:nvPr/>
        </p:nvSpPr>
        <p:spPr>
          <a:xfrm rot="0" flipH="0" flipV="0">
            <a:off x="8534400" y="1771650"/>
            <a:ext cx="2819400" cy="1400175"/>
          </a:xfrm>
          <a:prstGeom prst="roundRect">
            <a:avLst>
              <a:gd name="adj" fmla="val 2721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180" name=""/>
          <p:cNvSpPr/>
          <p:nvPr/>
        </p:nvSpPr>
        <p:spPr>
          <a:xfrm rot="0" flipH="0" flipV="0">
            <a:off x="8534400" y="1771650"/>
            <a:ext cx="2819400" cy="1400175"/>
          </a:xfrm>
          <a:custGeom>
            <a:pathLst>
              <a:path w="296" h="147">
                <a:moveTo>
                  <a:pt x="4" y="147"/>
                </a:moveTo>
                <a:cubicBezTo>
                  <a:pt x="2" y="147"/>
                  <a:pt x="0" y="145"/>
                  <a:pt x="0" y="14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8705850" y="20955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一个判断标准</a:t>
            </a:r>
            <a:endParaRPr/>
          </a:p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8705850" y="2352675"/>
            <a:ext cx="2476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问「这个系统对应哪项能力」。答不上来的应用，多半不需要存在。</a:t>
            </a:r>
            <a:endParaRPr/>
          </a:p>
        </p:txBody>
      </p:sp>
      <p:sp>
        <p:nvSpPr>
          <p:cNvPr id="1183" name=""/>
          <p:cNvSpPr/>
          <p:nvPr/>
        </p:nvSpPr>
        <p:spPr>
          <a:xfrm rot="0" flipH="0" flipV="0">
            <a:off x="838200" y="3324225"/>
            <a:ext cx="10515600" cy="1276350"/>
          </a:xfrm>
          <a:prstGeom prst="roundRect">
            <a:avLst>
              <a:gd name="adj" fmla="val 29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1066800" y="3505200"/>
            <a:ext cx="1005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能力到应用的传导链</a:t>
            </a:r>
            <a:endParaRPr/>
          </a:p>
        </p:txBody>
      </p:sp>
      <p:sp>
        <p:nvSpPr>
          <p:cNvPr id="1185" name=""/>
          <p:cNvSpPr/>
          <p:nvPr/>
        </p:nvSpPr>
        <p:spPr>
          <a:xfrm rot="0" flipH="0" flipV="0">
            <a:off x="1066800" y="3829050"/>
            <a:ext cx="1685925" cy="342900"/>
          </a:xfrm>
          <a:prstGeom prst="roundRect">
            <a:avLst>
              <a:gd name="adj" fmla="val 8333"/>
            </a:avLst>
          </a:prstGeom>
          <a:solidFill>
            <a:srgbClr val="FA4F24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1628775" y="39147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业务能力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2809875" y="39052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88" name=""/>
          <p:cNvSpPr/>
          <p:nvPr/>
        </p:nvSpPr>
        <p:spPr>
          <a:xfrm rot="0" flipH="0" flipV="0">
            <a:off x="3095625" y="3829050"/>
            <a:ext cx="168592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3657600" y="39147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应用功能</a:t>
            </a:r>
            <a:endParaRPr/>
          </a:p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4838700" y="39052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91" name=""/>
          <p:cNvSpPr/>
          <p:nvPr/>
        </p:nvSpPr>
        <p:spPr>
          <a:xfrm rot="0" flipH="0" flipV="0">
            <a:off x="5124450" y="3829050"/>
            <a:ext cx="1676400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5676900" y="39147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应用系统</a:t>
            </a:r>
            <a:endParaRPr/>
          </a:p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6858000" y="39052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94" name=""/>
          <p:cNvSpPr/>
          <p:nvPr/>
        </p:nvSpPr>
        <p:spPr>
          <a:xfrm rot="0" flipH="0" flipV="0">
            <a:off x="7143750" y="3829050"/>
            <a:ext cx="168592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95" name="" descr="{&quot;isTemplate&quot;:true,&quot;type&quot;:&quot;text&quot;}"/>
          <p:cNvSpPr txBox="1"/>
          <p:nvPr/>
        </p:nvSpPr>
        <p:spPr>
          <a:xfrm rot="0" flipH="0" flipV="0">
            <a:off x="7705725" y="39147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集成关系</a:t>
            </a:r>
            <a:endParaRPr/>
          </a:p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8886825" y="39052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97" name=""/>
          <p:cNvSpPr/>
          <p:nvPr/>
        </p:nvSpPr>
        <p:spPr>
          <a:xfrm rot="0" flipH="0" flipV="0">
            <a:off x="9172575" y="3829050"/>
            <a:ext cx="1952625" cy="342900"/>
          </a:xfrm>
          <a:prstGeom prst="roundRect">
            <a:avLst>
              <a:gd name="adj" fmla="val 8333"/>
            </a:avLst>
          </a:prstGeom>
          <a:solidFill>
            <a:srgbClr val="FA4F24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98" name="" descr="{&quot;isTemplate&quot;:true,&quot;type&quot;:&quot;text&quot;}"/>
          <p:cNvSpPr txBox="1"/>
          <p:nvPr/>
        </p:nvSpPr>
        <p:spPr>
          <a:xfrm rot="0" flipH="0" flipV="0">
            <a:off x="9867900" y="39147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数据服务</a:t>
            </a:r>
            <a:endParaRPr/>
          </a:p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1066800" y="4267200"/>
            <a:ext cx="1005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一一对应是例外，多数情况是多对多——多个能力共一个应用，一个能力散在多个应用</a:t>
            </a:r>
            <a:endParaRPr/>
          </a:p>
        </p:txBody>
      </p:sp>
      <p:sp>
        <p:nvSpPr>
          <p:cNvPr id="1200" name=""/>
          <p:cNvSpPr/>
          <p:nvPr/>
        </p:nvSpPr>
        <p:spPr>
          <a:xfrm rot="0" flipH="0" flipV="0">
            <a:off x="876300" y="4752975"/>
            <a:ext cx="3429000" cy="1323975"/>
          </a:xfrm>
          <a:prstGeom prst="roundRect">
            <a:avLst>
              <a:gd name="adj" fmla="val 287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201" name=""/>
          <p:cNvSpPr/>
          <p:nvPr/>
        </p:nvSpPr>
        <p:spPr>
          <a:xfrm rot="0" flipH="0" flipV="0">
            <a:off x="876300" y="4752975"/>
            <a:ext cx="3429000" cy="1323975"/>
          </a:xfrm>
          <a:custGeom>
            <a:pathLst>
              <a:path w="360" h="139">
                <a:moveTo>
                  <a:pt x="4" y="139"/>
                </a:moveTo>
                <a:cubicBezTo>
                  <a:pt x="2" y="139"/>
                  <a:pt x="0" y="137"/>
                  <a:pt x="0" y="13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1047750" y="493395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应用是能力的载体，不是部门的附属</a:t>
            </a:r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1047750" y="5181600"/>
            <a:ext cx="3048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每个应用必须有明确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业务方。挂在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名下无人负责的应用，一定会长成没人愿意改的僵尸系统。</a:t>
            </a:r>
            <a:endParaRPr/>
          </a:p>
        </p:txBody>
      </p:sp>
      <p:sp>
        <p:nvSpPr>
          <p:cNvPr id="1204" name=""/>
          <p:cNvSpPr/>
          <p:nvPr/>
        </p:nvSpPr>
        <p:spPr>
          <a:xfrm rot="0" flipH="0" flipV="0">
            <a:off x="4419600" y="4752975"/>
            <a:ext cx="3429000" cy="1323975"/>
          </a:xfrm>
          <a:prstGeom prst="roundRect">
            <a:avLst>
              <a:gd name="adj" fmla="val 287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205" name=""/>
          <p:cNvSpPr/>
          <p:nvPr/>
        </p:nvSpPr>
        <p:spPr>
          <a:xfrm rot="0" flipH="0" flipV="0">
            <a:off x="4419600" y="4752975"/>
            <a:ext cx="3429000" cy="1323975"/>
          </a:xfrm>
          <a:custGeom>
            <a:pathLst>
              <a:path w="360" h="139">
                <a:moveTo>
                  <a:pt x="4" y="139"/>
                </a:moveTo>
                <a:cubicBezTo>
                  <a:pt x="2" y="139"/>
                  <a:pt x="0" y="137"/>
                  <a:pt x="0" y="13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6" name="" descr="{&quot;isTemplate&quot;:true,&quot;type&quot;:&quot;text&quot;}"/>
          <p:cNvSpPr txBox="1"/>
          <p:nvPr/>
        </p:nvSpPr>
        <p:spPr>
          <a:xfrm rot="0" flipH="0" flipV="0">
            <a:off x="4591050" y="493395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集成优先于新建</a:t>
            </a:r>
            <a:endParaRPr/>
          </a:p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4591050" y="5181600"/>
            <a:ext cx="3048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能通过接口复用的，不得另建平行系统。绝大多数重复建设，都是因为「接口打不通」而不是「能力不具备」。</a:t>
            </a:r>
            <a:endParaRPr/>
          </a:p>
        </p:txBody>
      </p:sp>
      <p:sp>
        <p:nvSpPr>
          <p:cNvPr id="1208" name=""/>
          <p:cNvSpPr/>
          <p:nvPr/>
        </p:nvSpPr>
        <p:spPr>
          <a:xfrm rot="0" flipH="0" flipV="0">
            <a:off x="7962900" y="4752975"/>
            <a:ext cx="3429000" cy="1323975"/>
          </a:xfrm>
          <a:prstGeom prst="roundRect">
            <a:avLst>
              <a:gd name="adj" fmla="val 287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209" name=""/>
          <p:cNvSpPr/>
          <p:nvPr/>
        </p:nvSpPr>
        <p:spPr>
          <a:xfrm rot="0" flipH="0" flipV="0">
            <a:off x="7962900" y="4752975"/>
            <a:ext cx="3429000" cy="1323975"/>
          </a:xfrm>
          <a:custGeom>
            <a:pathLst>
              <a:path w="360" h="139">
                <a:moveTo>
                  <a:pt x="4" y="139"/>
                </a:moveTo>
                <a:cubicBezTo>
                  <a:pt x="2" y="139"/>
                  <a:pt x="0" y="137"/>
                  <a:pt x="0" y="13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8134350" y="504825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减法比加法更难</a:t>
            </a:r>
            <a:endParaRPr/>
          </a:p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8134350" y="5295900"/>
            <a:ext cx="3048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退役一个应用要动数据、动流程、动组织，比新建难得多。但不做减法，技术债会以指数速度累积。</a:t>
            </a:r>
            <a:endParaRPr/>
          </a:p>
        </p:txBody>
      </p:sp>
      <p:sp>
        <p:nvSpPr>
          <p:cNvPr id="1212" name=""/>
          <p:cNvSpPr/>
          <p:nvPr/>
        </p:nvSpPr>
        <p:spPr>
          <a:xfrm rot="0" flipH="0" flipV="0">
            <a:off x="838200" y="63341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10668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108966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03 / 30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234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      &lt;Text style={{ fontSize: 300, fontWeight: 'bold', color: 'rgba(255,255,255,0.08)', lineHeight: 1.0 }}&gt;01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1&lt;/Text&gt;&#13;&#10; &lt;Box style={{ width: 72, height: 5, background: '#FA4F24', marginTop: 22 }} /&gt;&#13;&#10;        &lt;Text style={{ fontSize: 58, fontWeight: 'bold', color: '#FFFFFF', marginTop: 28, lineHeight: 1.15 }}&gt;应用架构总论&lt;/Text&gt;&#13;&#10;        &lt;Text style={{ fontSize: 17, color: 'rgba(255,255,255,0.62)', letterSpacing: 2, marginTop: 20 }}&gt;APPLICATION ARCHITECTURE OVERVIEW&lt;/Text&gt;&#13;&#10;   &lt;Text style={{ fontSize: 19, color: 'rgba(255,255,255,0.85)', marginTop: 26, lineHeight: 1.6 }}&gt;三层结构、五条原则与能力到应用的传导&lt;/Text&gt;&#13;&#10;    &lt;/Box&gt;&#13;&#10;&#13;&#10;    {/* 右下页码 */}&#13;&#10;    &lt;Box style={{ position: 'absolute', right: 88, bottom: 64, flexDirection: 'row', alignItems: 'center', gap: 12 }}&gt;&#13;&#10;   &lt;Box style={{ width: 14, height: 14, background: '#FA4F24' }} /&gt;&#13;&#10;      &lt;Text style={{ fontSize: 14, color: 'rgba(255,255,255,0.5)' }}&gt;硕磐机密 · AA应用架构咨询方法论&lt;/Text&gt;&#13;&#10;  &lt;Text style={{ fontSize: 14, color: 'rgba(255,255,255,0.5)', marginLeft: 12 }}&gt;04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37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240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应用架构总论</a:t>
            </a:r>
            <a:endParaRPr/>
          </a:p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APPLICATION ARCHITECTURE OVERVIEW</a:t>
            </a:r>
            <a:endParaRPr/>
          </a:p>
        </p:txBody>
      </p:sp>
      <p:sp>
        <p:nvSpPr>
          <p:cNvPr id="1243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三层结构、五条原则与能力到应用的传导</a:t>
            </a:r>
            <a:endParaRPr/>
          </a:p>
        </p:txBody>
      </p:sp>
      <p:sp>
        <p:nvSpPr>
          <p:cNvPr id="1244" name=""/>
          <p:cNvSpPr/>
          <p:nvPr/>
        </p:nvSpPr>
        <p:spPr>
          <a:xfrm rot="0" flipH="0" flipV="0">
            <a:off x="83820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8629650" y="60864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04 / 30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47" name="" descr="&lt;Slide style={{ width: 1280, height: 720, background: '#FFFFFF', padding: '24px 64px 0' }}&gt;&#10;    {/* A 区 */}&#10;    &lt;Box style={{ height: 96, flexDirection: 'column', justifyContent: 'flex-start' }}&gt;&#10;   &lt;Text style={{ fontSize: 32, fontWeight: 'bold', color: '#0F1423' }}&gt;&#10;       三层结构自上而下&lt;span style={{ color: '#FA4F24' }}&gt;逐层隔离&lt;/span&gt;，把变化关在层内&#10;   &lt;/Text&gt;&#10;      &lt;Text style={{ fontSize: 20, color: '#8A8F99', marginTop: 8 }}&gt;&#10;            展现层变最频繁，技术层最稳定——层间隔离做对了，改一处不会牵动全栈&#10;        &lt;/Text&gt;&#10;    &lt;/Box&gt;&#10;    &lt;Box style={{ height: 1, background: '#E8E8E8' }} /&gt;&#10;&#10;    {/* B 区 */}&#10;  &lt;Box style={{ paddingTop: 24, paddingBottom: 14, height: 479, flexDirection: 'row', gap: 22 }}&gt;&#10;&#10;        {/* 左 三层骨架 */}&#10;        &lt;Box style={{ width: 560, flexDirection: 'column', gap: 10 }}&gt;&#10;            &lt;Text style={{ fontSize: 20, fontWeight: 'bold', color: '#0F1423', marginBottom: 2 }}&gt;应用架构三层骨架&lt;/Text&gt;&#10;            {[&#10;    { l: 'L1', t: '展现层', d: 'PC / 移动 / 大屏 / 门户 · 交互与呈现', q: '变化最快', w: 560, c: '#FA4F24', tc: '#FFFFFF' },&#10;    { l: 'L2', t: '支撑层', d: '业务服务 · 流程引擎 · 规则引擎 · 批处理', q: '承载能力', w: 500, c: '#F8622F', tc: '#FFFFFF' },&#10;      { l: 'L3', t: '数据访问层', d: '数据服务 · 缓存 · 消息 · 存储访问', q: '最稳定', w: 440, c: '#FBA15C', tc: '#3A2000' },&#10;   ].map((it, i) =&gt; (&#10;         &lt;Box key={i} style={{ width: it.w, height: 92, background: it.c, borderRadius: 4, padding: '0 18px', flexDirection: 'row', alignItems: 'center', gap: 14 }}&gt;&#10;   &lt;Text style={{ fontSize: 22, fontWeight: 'bold', color: it.tc, width: 36 }}&gt;{it.l}&lt;/Text&gt;&#10; &lt;Box style={{ flex: 1 }}&gt;&#10;    &lt;Text style={{ fontSize: 20, fontWeight: 'bold', color: it.tc }}&gt;{it.t}&lt;/Text&gt;&#10;        &lt;Text style={{ fontSize: 12, color: it.tc, opacity: 0.85, marginTop: 5 }}&gt;{it.d}&lt;/Text&gt;&#10;          &lt;/Box&gt;&#10;      &lt;Box style={{ background: 'rgba(255,255,255,0.35)', borderRadius: 3, padding: '6px 10px' }}&gt;&#10;       &lt;Text style={{ fontSize: 13, fontWeight: 'bold', color: it.tc }}&gt;{it.q}&lt;/Text&gt;&#10;        &lt;/Box&gt;&#10;      &lt;/Box&gt;&#10;      ))}&#10;       &lt;Box style={{ height: 84, background: '#F7F7F8', borderRadius: 4, padding: '14px 18px', borderLeft: '4px solid #FA4F24', flexDirection: 'column', justifyContent: 'center' }}&gt;&#10;       &lt;Text style={{ fontSize: 16, fontWeight: 'bold', color: '#C43A17' }}&gt;★ 层间隔离的判断标准&lt;/Text&gt;&#10; &lt;Text style={{ fontSize: 14, color: '#3A4050', lineHeight: 1.55, marginTop: 6 }}&gt;&#10;       改前端界面，支撑层不动；换数据库，数据访问层之上不动。&#10;      如果做不到，说明层间在直连对方的数据或代码——这就是最常见的架构腐化起点。&#10;   &lt;/Text&gt;&#10;      &lt;/Box&gt;&#10;        &lt;/Box&gt;&#10;&#10;     {/* 右 说明 */}&#10;        &lt;Box style={{ flex: 1, flexDirection: 'column', gap: 13 }}&gt;&#10;       &lt;Box style={{ background: '#F7F7F8', borderRadius: 4, padding: '16px 22px', borderLeft: '4px solid #FA4F24' }}&gt;&#10;   &lt;Text style={{ fontSize: 18, fontWeight: 'bold', color: '#0F1423' }}&gt;为什么要分这三层&lt;/Text&gt;&#10;       &lt;Text style={{ fontSize: 15, color: '#3A4050', lineHeight: 1.55, marginTop: 8 }}&gt;&#10;   不是为了好看，而是因为三者变化节奏不同：展现层跟着用户需求季度变，支撑层跟着业务能力年度变，&#10;      数据访问层跟着数据模型两年才变一次。把不同节奏的东西放一起，就会互相拖。&#10;     &lt;/Text&gt;&#10;          &lt;/Box&gt;&#10;       &lt;Box style={{ background: '#F7F7F8', borderRadius: 4, padding: '16px 22px', borderLeft: '4px solid #F87D2F' }}&gt;&#10;         &lt;Text style={{ fontSize: 18, fontWeight: 'bold', color: '#0F1423' }}&gt;支撑层是主战场&lt;/Text&gt;&#10;            &lt;Text style={{ fontSize: 15, color: '#3A4050', lineHeight: 1.55, marginTop: 8 }}&gt;&#10;   应用架构九成的治理精力都花在支撑层。这里一个接口定错，六个展现层跟着错；&#10;     这里一个能力拆错，后面数据服务与集成全要返工。&#10;       &lt;/Text&gt;&#10;            &lt;/Box&gt;&#10;      &lt;Box style={{ flex: 1, background: 'rgba(250,79,36,0.06)', borderRadius: 4, padding: '16px 22px', flexDirection: 'column', justifyContent: 'center' }}&gt;&#10;&lt;Text style={{ fontSize: 16, fontWeight: 'bold', color: '#C43A17' }}&gt;★ 全册主线&lt;/Text&gt;&#10;   &lt;Text style={{ fontSize: 15, color: '#3A4050', lineHeight: 1.55, marginTop: 8 }}&gt;&#10;      三层不是要你先做分层设计，而是判断现有系统**有没有**按这三层切。&#10;      大多数企业的现状是：展现层直接读库，支撑层里塞满历史脚本——先看清现状，再谈重构。&#10;    &lt;/Text&gt;&#10;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&lt;Box style={{ width: 14, height: 14, background: '#FA4F24' }} /&gt;&#10;            &lt;Text style={{ fontSize: 14, color: '#8A8F99' }}&gt;硕磐机密 · AA应用架构咨询方法论&lt;/Text&gt;&#10;        &lt;/Box&gt;&#10;        &lt;Text style={{ fontSize: 14, color: '#8A8F99' }}&gt;05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三层结构自上而下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逐层隔离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，把变化关在层内</a:t>
            </a:r>
            <a:endParaRPr/>
          </a:p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展现层变最频繁，技术层最稳定——层间隔离做对了，改一处不会牵动全栈</a:t>
            </a:r>
            <a:endParaRPr/>
          </a:p>
        </p:txBody>
      </p:sp>
      <p:sp>
        <p:nvSpPr>
          <p:cNvPr id="125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52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533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应用架构三层骨架</a:t>
            </a:r>
            <a:endParaRPr/>
          </a:p>
        </p:txBody>
      </p:sp>
      <p:sp>
        <p:nvSpPr>
          <p:cNvPr id="1253" name=""/>
          <p:cNvSpPr/>
          <p:nvPr/>
        </p:nvSpPr>
        <p:spPr>
          <a:xfrm rot="0" flipH="0" flipV="0">
            <a:off x="609600" y="1724025"/>
            <a:ext cx="5334000" cy="876300"/>
          </a:xfrm>
          <a:prstGeom prst="roundRect">
            <a:avLst>
              <a:gd name="adj" fmla="val 434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781050" y="2038350"/>
            <a:ext cx="34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1257300" y="1952625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展现层</a:t>
            </a:r>
            <a:endParaRPr/>
          </a:p>
        </p:txBody>
      </p:sp>
      <p:sp>
        <p:nvSpPr>
          <p:cNvPr id="1256" name=""/>
          <p:cNvSpPr/>
          <p:nvPr/>
        </p:nvSpPr>
        <p:spPr>
          <a:xfrm rot="0" flipH="0" flipV="0">
            <a:off x="5086350" y="2028825"/>
            <a:ext cx="685800" cy="266700"/>
          </a:xfrm>
          <a:prstGeom prst="roundRect">
            <a:avLst>
              <a:gd name="adj" fmla="val 10714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257" name="" descr="{&quot;isTemplate&quot;:true,&quot;type&quot;:&quot;text&quot;}"/>
          <p:cNvSpPr txBox="1"/>
          <p:nvPr/>
        </p:nvSpPr>
        <p:spPr>
          <a:xfrm rot="0" flipH="0" flipV="0">
            <a:off x="5181600" y="20859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变化最快</a:t>
            </a:r>
            <a:endParaRPr/>
          </a:p>
        </p:txBody>
      </p:sp>
      <p:sp>
        <p:nvSpPr>
          <p:cNvPr id="1258" name=""/>
          <p:cNvSpPr/>
          <p:nvPr/>
        </p:nvSpPr>
        <p:spPr>
          <a:xfrm rot="0" flipH="0" flipV="0">
            <a:off x="609600" y="2695575"/>
            <a:ext cx="4762500" cy="876300"/>
          </a:xfrm>
          <a:prstGeom prst="roundRect">
            <a:avLst>
              <a:gd name="adj" fmla="val 4348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781050" y="3009900"/>
            <a:ext cx="34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1257300" y="2924175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支撑层</a:t>
            </a:r>
            <a:endParaRPr/>
          </a:p>
        </p:txBody>
      </p:sp>
      <p:sp>
        <p:nvSpPr>
          <p:cNvPr id="1261" name=""/>
          <p:cNvSpPr/>
          <p:nvPr/>
        </p:nvSpPr>
        <p:spPr>
          <a:xfrm rot="0" flipH="0" flipV="0">
            <a:off x="4514850" y="3000375"/>
            <a:ext cx="685800" cy="266700"/>
          </a:xfrm>
          <a:prstGeom prst="roundRect">
            <a:avLst>
              <a:gd name="adj" fmla="val 10714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4610100" y="30575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承载能力</a:t>
            </a:r>
            <a:endParaRPr/>
          </a:p>
        </p:txBody>
      </p:sp>
      <p:sp>
        <p:nvSpPr>
          <p:cNvPr id="1263" name=""/>
          <p:cNvSpPr/>
          <p:nvPr/>
        </p:nvSpPr>
        <p:spPr>
          <a:xfrm rot="0" flipH="0" flipV="0">
            <a:off x="609600" y="3667125"/>
            <a:ext cx="4191000" cy="876300"/>
          </a:xfrm>
          <a:prstGeom prst="roundRect">
            <a:avLst>
              <a:gd name="adj" fmla="val 4348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781050" y="3981450"/>
            <a:ext cx="34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2000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1257300" y="3895725"/>
            <a:ext cx="2676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A2000"/>
                </a:solidFill>
                <a:latin typeface="Microsoft YaHei"/>
                <a:ea typeface="Microsoft YaHei"/>
              </a:rPr>
              <a:t>数据访问层</a:t>
            </a:r>
            <a:endParaRPr/>
          </a:p>
        </p:txBody>
      </p:sp>
      <p:sp>
        <p:nvSpPr>
          <p:cNvPr id="1266" name=""/>
          <p:cNvSpPr/>
          <p:nvPr/>
        </p:nvSpPr>
        <p:spPr>
          <a:xfrm rot="0" flipH="0" flipV="0">
            <a:off x="4067175" y="3971925"/>
            <a:ext cx="561975" cy="266700"/>
          </a:xfrm>
          <a:prstGeom prst="roundRect">
            <a:avLst>
              <a:gd name="adj" fmla="val 10714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4162425" y="4029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A2000"/>
                </a:solidFill>
                <a:latin typeface="Microsoft YaHei"/>
                <a:ea typeface="Microsoft YaHei"/>
              </a:rPr>
              <a:t>最稳定</a:t>
            </a:r>
            <a:endParaRPr/>
          </a:p>
        </p:txBody>
      </p:sp>
      <p:sp>
        <p:nvSpPr>
          <p:cNvPr id="1268" name=""/>
          <p:cNvSpPr/>
          <p:nvPr/>
        </p:nvSpPr>
        <p:spPr>
          <a:xfrm rot="0" flipH="0" flipV="0">
            <a:off x="647700" y="4638675"/>
            <a:ext cx="5334000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9" name=""/>
          <p:cNvSpPr/>
          <p:nvPr/>
        </p:nvSpPr>
        <p:spPr>
          <a:xfrm rot="0" flipH="0" flipV="0">
            <a:off x="647700" y="4638675"/>
            <a:ext cx="5334000" cy="800100"/>
          </a:xfrm>
          <a:custGeom>
            <a:pathLst>
              <a:path w="560" h="84">
                <a:moveTo>
                  <a:pt x="4" y="84"/>
                </a:moveTo>
                <a:cubicBezTo>
                  <a:pt x="2" y="84"/>
                  <a:pt x="0" y="82"/>
                  <a:pt x="0" y="8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70" name="" descr="{&quot;isTemplate&quot;:true,&quot;type&quot;:&quot;text&quot;}"/>
          <p:cNvSpPr txBox="1"/>
          <p:nvPr/>
        </p:nvSpPr>
        <p:spPr>
          <a:xfrm rot="0" flipH="0" flipV="0">
            <a:off x="819150" y="466725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层间隔离的判断标准</a:t>
            </a:r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819150" y="4914900"/>
            <a:ext cx="4953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改前端界面，支撑层不动；换数据库，数据访问层之上不动。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如果做不到，说明层间在直连对方的数据或代码——这就是最常见的架构腐化起点。</a:t>
            </a:r>
            <a:endParaRPr/>
          </a:p>
        </p:txBody>
      </p:sp>
      <p:sp>
        <p:nvSpPr>
          <p:cNvPr id="1272" name=""/>
          <p:cNvSpPr/>
          <p:nvPr/>
        </p:nvSpPr>
        <p:spPr>
          <a:xfrm rot="0" flipH="0" flipV="0">
            <a:off x="6191250" y="1381125"/>
            <a:ext cx="5429250" cy="1390650"/>
          </a:xfrm>
          <a:prstGeom prst="roundRect">
            <a:avLst>
              <a:gd name="adj" fmla="val 274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3" name=""/>
          <p:cNvSpPr/>
          <p:nvPr/>
        </p:nvSpPr>
        <p:spPr>
          <a:xfrm rot="0" flipH="0" flipV="0">
            <a:off x="6191250" y="1381125"/>
            <a:ext cx="5429250" cy="1390650"/>
          </a:xfrm>
          <a:custGeom>
            <a:pathLst>
              <a:path w="570" h="146">
                <a:moveTo>
                  <a:pt x="4" y="146"/>
                </a:moveTo>
                <a:cubicBezTo>
                  <a:pt x="2" y="146"/>
                  <a:pt x="0" y="144"/>
                  <a:pt x="0" y="1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74" name="" descr="{&quot;isTemplate&quot;:true,&quot;type&quot;:&quot;text&quot;}"/>
          <p:cNvSpPr txBox="1"/>
          <p:nvPr/>
        </p:nvSpPr>
        <p:spPr>
          <a:xfrm rot="0" flipH="0" flipV="0">
            <a:off x="6400800" y="153352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为什么要分这三层</a:t>
            </a:r>
            <a:endParaRPr/>
          </a:p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6400800" y="1819275"/>
            <a:ext cx="49720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不是为了好看，而是因为三者变化节奏不同：展现层跟着用户需求季度变，支撑层跟着业务能力年度变，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数据访问层跟着数据模型两年才变一次。把不同节奏的东西放一起，就会互相拖。</a:t>
            </a:r>
            <a:endParaRPr/>
          </a:p>
        </p:txBody>
      </p:sp>
      <p:sp>
        <p:nvSpPr>
          <p:cNvPr id="1276" name=""/>
          <p:cNvSpPr/>
          <p:nvPr/>
        </p:nvSpPr>
        <p:spPr>
          <a:xfrm rot="0" flipH="0" flipV="0">
            <a:off x="6191250" y="2895600"/>
            <a:ext cx="5429250" cy="1123950"/>
          </a:xfrm>
          <a:prstGeom prst="roundRect">
            <a:avLst>
              <a:gd name="adj" fmla="val 33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7" name=""/>
          <p:cNvSpPr/>
          <p:nvPr/>
        </p:nvSpPr>
        <p:spPr>
          <a:xfrm rot="0" flipH="0" flipV="0">
            <a:off x="6191250" y="2895600"/>
            <a:ext cx="5429250" cy="1123950"/>
          </a:xfrm>
          <a:custGeom>
            <a:pathLst>
              <a:path w="570" h="118">
                <a:moveTo>
                  <a:pt x="4" y="118"/>
                </a:moveTo>
                <a:cubicBezTo>
                  <a:pt x="2" y="118"/>
                  <a:pt x="0" y="116"/>
                  <a:pt x="0" y="11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8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6400800" y="304800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支撑层是主战场</a:t>
            </a:r>
            <a:endParaRPr/>
          </a:p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6400800" y="3333750"/>
            <a:ext cx="49720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应用架构九成的治理精力都花在支撑层。这里一个接口定错，六个展现层跟着错；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这里一个能力拆错，后面数据服务与集成全要返工。</a:t>
            </a:r>
            <a:endParaRPr/>
          </a:p>
        </p:txBody>
      </p:sp>
      <p:sp>
        <p:nvSpPr>
          <p:cNvPr id="1280" name=""/>
          <p:cNvSpPr/>
          <p:nvPr/>
        </p:nvSpPr>
        <p:spPr>
          <a:xfrm rot="0" flipH="0" flipV="0">
            <a:off x="6153150" y="4143375"/>
            <a:ext cx="5429250" cy="1438275"/>
          </a:xfrm>
          <a:prstGeom prst="roundRect">
            <a:avLst>
              <a:gd name="adj" fmla="val 2649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281" name="" descr="{&quot;isTemplate&quot;:true,&quot;type&quot;:&quot;text&quot;}"/>
          <p:cNvSpPr txBox="1"/>
          <p:nvPr/>
        </p:nvSpPr>
        <p:spPr>
          <a:xfrm rot="0" flipH="0" flipV="0">
            <a:off x="6362700" y="43338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全册主线</a:t>
            </a:r>
            <a:endParaRPr/>
          </a:p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6362700" y="4600575"/>
            <a:ext cx="50101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三层不是要你先做分层设计，而是判断现有系统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**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有没有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**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按这三层切。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大多数企业的现状是：展现层直接读库，支撑层里塞满历史脚本——先看清现状，再谈重构。</a:t>
            </a:r>
            <a:endParaRPr/>
          </a:p>
        </p:txBody>
      </p:sp>
      <p:sp>
        <p:nvSpPr>
          <p:cNvPr id="1283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05 / 30</a:t>
            </a:r>
            <a:endParaRPr/>
          </a:p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1257300" y="2228850"/>
            <a:ext cx="3695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PC /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移动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大屏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门户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交互与呈现</a:t>
            </a:r>
            <a:endParaRPr/>
          </a:p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1257300" y="3200400"/>
            <a:ext cx="3124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业务服务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流程引擎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规则引擎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批处理</a:t>
            </a:r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1257300" y="4171950"/>
            <a:ext cx="2676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数据服务</a:t>
            </a:r>
            <a:r>
              <a:rPr lang="en-US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缓存</a:t>
            </a:r>
            <a:r>
              <a:rPr lang="en-US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消息</a:t>
            </a:r>
            <a:r>
              <a:rPr lang="en-US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存储访问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289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五条原则，用来&lt;span style={{ color: '#FA4F24' }}&gt;拦住每一次「再加一个系统」&lt;/span&gt;&#10;        &lt;/Text&gt;&#10;        &lt;Text style={{ fontSize: 20, color: '#8A8F99', marginTop: 8 }}&gt;&#10;    每一条都对应一种高频重复建设——评审新应用立项时逐条对照，比事后治理有效得多&#10; &lt;/Text&gt;&#10;    &lt;/Box&gt;&#10;    &lt;Box style={{ height: 1, background: '#E8E8E8' }} /&gt;&#10;&#10;    {/* B 区 */}&#10;    &lt;Box style={{ paddingTop: 24, paddingBottom: 14, height: 479, flexDirection: 'column', gap: 12 }}&gt;&#10;&#10;        {[&#10;         { n: '01', t: '每应用必须有业务 Owner', d: '挂在 IT 名下的应用，一定会长成没人愿意改的僵尸系统。Owner 是业务方，不是信息部门。', bad: '典型坑：业主不明，需求谁提谁改' },&#10;   { n: '02', t: '能力承载优先，不为部门建系统', d: '应用必须对应明确的能力。「给财务建个系统」不是立项理由，「支撑业财一体核算能力」才是。', bad: '典型坑：一个部门一个系统' },&#10;     { n: '03', t: '集成优于重建', d: '能通过接口复用的，不得另建平行系统。绝大多数重复建设都源于「接口打不通」而非「能力不具备」。', bad: '典型坑：三套相同的供应商管理' },&#10;            { n: '04', t: '核心自建，非核采购', d: '核心能力定制获取差异化，非核心优先成熟产品。不要把「自主可控」当成全自建的理由。', bad: '典型坑：连报销工具都自研' },&#10;    { n: '05', t: '定期组合评审，强制淘汰', d: '每年评估一次应用组合，低价值高维护的必须退役。评审要有退出结论，否则永远只进不出。', bad: '典型坑：清单只增不减' },&#10;        ].map((it, i) =&gt; (&#10;      &lt;Box key={i} style={{ flex: 1, flexDirection: 'row', alignItems: 'center', background: '#F7F7F8', borderRadius: 4, padding: '0 22px', gap: 18, borderLeft: '4px solid #FA4F24' }}&gt;&#10;   &lt;Text style={{ fontSize: 30, fontWeight: 'bold', color: '#FA4F24', width: 46 }}&gt;{it.n}&lt;/Text&gt;&#10;    &lt;Box style={{ width: 230 }}&gt;&#10;   &lt;Text style={{ fontSize: 19, fontWeight: 'bold', color: '#0F1423', lineHeight: 1.25 }}&gt;{it.t}&lt;/Text&gt;&#10;      &lt;/Box&gt;&#10;    &lt;Text style={{ fontSize: 15, color: '#3A4050', lineHeight: 1.5, flex: 1 }}&gt;{it.d}&lt;/Text&gt;&#10;        &lt;Box style={{ width: 246, background: 'rgba(250,79,36,0.1)', borderRadius: 3, padding: '8px 12px' }}&gt;&#10;        &lt;Text style={{ fontSize: 13, color: '#C43A17', lineHeight: 1.4 }}&gt;{it.bad}&lt;/Text&gt;&#10;     &lt;/Box&gt;&#10;      &lt;/Box&gt;&#10;        ))}&#10;&#10;      &lt;Box style={{ height: 62, background: 'linear-gradient(160deg, #FA4F24 0%, #F87D2F 100%)', borderRadius: 4, padding: '0 24px', flexDirection: 'row', alignItems: 'center', gap: 16 }}&gt;&#10;        &lt;Text style={{ fontSize: 17, fontWeight: 'bold', color: '#FFFFFF' }}&gt;评审用法&lt;/Text&gt;&#10;      &lt;Text style={{ fontSize: 15, color: 'rgba(255,255,255,0.95)', lineHeight: 1.5, flex: 1 }}&gt;&#10;     任何新应用立项，先拿五条过一遍。凡是要靠「我们和别人不太一样」才能解释的，一律先问「差异在哪、值不值」——这个追问能挡掉一半的重复建设&#10;  &lt;/Text&gt;&#10;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&lt;Box style={{ width: 14, height: 14, background: '#FA4F24' }} /&gt;&#10;            &lt;Text style={{ fontSize: 14, color: '#8A8F99' }}&gt;硕磐机密 · AA应用架构咨询方法论&lt;/Text&gt;&#10;        &lt;/Box&gt;&#10;        &lt;Text style={{ fontSize: 14, color: '#8A8F99' }}&gt;06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五条原则，用来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拦住每一次「再加一个系统」</a:t>
            </a:r>
            <a:endParaRPr/>
          </a:p>
        </p:txBody>
      </p:sp>
      <p:sp>
        <p:nvSpPr>
          <p:cNvPr id="129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每一条都对应一种高频重复建设——评审新应用立项时逐条对照，比事后治理有效得多</a:t>
            </a:r>
            <a:endParaRPr/>
          </a:p>
        </p:txBody>
      </p:sp>
      <p:sp>
        <p:nvSpPr>
          <p:cNvPr id="129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94" name=""/>
          <p:cNvSpPr/>
          <p:nvPr/>
        </p:nvSpPr>
        <p:spPr>
          <a:xfrm rot="0" flipH="0" flipV="0">
            <a:off x="647700" y="1381125"/>
            <a:ext cx="10972800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5" name=""/>
          <p:cNvSpPr/>
          <p:nvPr/>
        </p:nvSpPr>
        <p:spPr>
          <a:xfrm rot="0" flipH="0" flipV="0">
            <a:off x="647700" y="1381125"/>
            <a:ext cx="10972800" cy="600075"/>
          </a:xfrm>
          <a:custGeom>
            <a:pathLst>
              <a:path w="1152" h="63">
                <a:moveTo>
                  <a:pt x="4" y="63"/>
                </a:moveTo>
                <a:cubicBezTo>
                  <a:pt x="2" y="63"/>
                  <a:pt x="0" y="61"/>
                  <a:pt x="0" y="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857250" y="151447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1466850" y="1543050"/>
            <a:ext cx="21907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每应用必须有业务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3829050" y="1428750"/>
            <a:ext cx="5029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挂在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名下的应用，一定会长成没人愿意改的僵尸系统。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Owner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是业务方，不是信息部门。</a:t>
            </a:r>
            <a:endParaRPr/>
          </a:p>
        </p:txBody>
      </p:sp>
      <p:sp>
        <p:nvSpPr>
          <p:cNvPr id="1299" name=""/>
          <p:cNvSpPr/>
          <p:nvPr/>
        </p:nvSpPr>
        <p:spPr>
          <a:xfrm rot="0" flipH="0" flipV="0">
            <a:off x="9029700" y="1504950"/>
            <a:ext cx="234315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9144000" y="1581150"/>
            <a:ext cx="21145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典型坑：业主不明，需求谁提谁改</a:t>
            </a:r>
            <a:endParaRPr/>
          </a:p>
        </p:txBody>
      </p:sp>
      <p:sp>
        <p:nvSpPr>
          <p:cNvPr id="1301" name=""/>
          <p:cNvSpPr/>
          <p:nvPr/>
        </p:nvSpPr>
        <p:spPr>
          <a:xfrm rot="0" flipH="0" flipV="0">
            <a:off x="647700" y="2095500"/>
            <a:ext cx="109728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2" name=""/>
          <p:cNvSpPr/>
          <p:nvPr/>
        </p:nvSpPr>
        <p:spPr>
          <a:xfrm rot="0" flipH="0" flipV="0">
            <a:off x="647700" y="2095500"/>
            <a:ext cx="10972800" cy="628650"/>
          </a:xfrm>
          <a:custGeom>
            <a:pathLst>
              <a:path w="1152" h="66">
                <a:moveTo>
                  <a:pt x="4" y="66"/>
                </a:moveTo>
                <a:cubicBezTo>
                  <a:pt x="2" y="66"/>
                  <a:pt x="0" y="64"/>
                  <a:pt x="0" y="6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857250" y="223837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04" name="" descr="{&quot;isTemplate&quot;:true,&quot;type&quot;:&quot;text&quot;}"/>
          <p:cNvSpPr txBox="1"/>
          <p:nvPr/>
        </p:nvSpPr>
        <p:spPr>
          <a:xfrm rot="0" flipH="0" flipV="0">
            <a:off x="1466850" y="2143125"/>
            <a:ext cx="219075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能力承载优先，不为部门建系统</a:t>
            </a:r>
            <a:endParaRPr/>
          </a:p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3829050" y="2152650"/>
            <a:ext cx="5029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应用必须对应明确的能力。「给财务建个系统」不是立项理由，「支撑业财一体核算能力」才是。</a:t>
            </a:r>
            <a:endParaRPr/>
          </a:p>
        </p:txBody>
      </p:sp>
      <p:sp>
        <p:nvSpPr>
          <p:cNvPr id="1306" name=""/>
          <p:cNvSpPr/>
          <p:nvPr/>
        </p:nvSpPr>
        <p:spPr>
          <a:xfrm rot="0" flipH="0" flipV="0">
            <a:off x="9029700" y="2228850"/>
            <a:ext cx="234315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9144000" y="2305050"/>
            <a:ext cx="21145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典型坑：一个部门一个系统</a:t>
            </a:r>
            <a:endParaRPr/>
          </a:p>
        </p:txBody>
      </p:sp>
      <p:sp>
        <p:nvSpPr>
          <p:cNvPr id="1308" name=""/>
          <p:cNvSpPr/>
          <p:nvPr/>
        </p:nvSpPr>
        <p:spPr>
          <a:xfrm rot="0" flipH="0" flipV="0">
            <a:off x="647700" y="2838450"/>
            <a:ext cx="10972800" cy="6096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9" name=""/>
          <p:cNvSpPr/>
          <p:nvPr/>
        </p:nvSpPr>
        <p:spPr>
          <a:xfrm rot="0" flipH="0" flipV="0">
            <a:off x="647700" y="2838450"/>
            <a:ext cx="10972800" cy="609600"/>
          </a:xfrm>
          <a:custGeom>
            <a:pathLst>
              <a:path w="1152" h="64">
                <a:moveTo>
                  <a:pt x="4" y="64"/>
                </a:moveTo>
                <a:cubicBezTo>
                  <a:pt x="2" y="64"/>
                  <a:pt x="0" y="62"/>
                  <a:pt x="0" y="6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10" name="" descr="{&quot;isTemplate&quot;:true,&quot;type&quot;:&quot;text&quot;}"/>
          <p:cNvSpPr txBox="1"/>
          <p:nvPr/>
        </p:nvSpPr>
        <p:spPr>
          <a:xfrm rot="0" flipH="0" flipV="0">
            <a:off x="857250" y="29718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1466850" y="3009900"/>
            <a:ext cx="21907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集成优于重建</a:t>
            </a:r>
            <a:endParaRPr/>
          </a:p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3829050" y="2886075"/>
            <a:ext cx="5029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能通过接口复用的，不得另建平行系统。绝大多数重复建设都源于「接口打不通」而非「能力不具备」。</a:t>
            </a:r>
            <a:endParaRPr/>
          </a:p>
        </p:txBody>
      </p:sp>
      <p:sp>
        <p:nvSpPr>
          <p:cNvPr id="1313" name=""/>
          <p:cNvSpPr/>
          <p:nvPr/>
        </p:nvSpPr>
        <p:spPr>
          <a:xfrm rot="0" flipH="0" flipV="0">
            <a:off x="9029700" y="2962275"/>
            <a:ext cx="234315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9144000" y="3038475"/>
            <a:ext cx="21145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典型坑：三套相同的供应商管理</a:t>
            </a:r>
            <a:endParaRPr/>
          </a:p>
        </p:txBody>
      </p:sp>
      <p:sp>
        <p:nvSpPr>
          <p:cNvPr id="1315" name=""/>
          <p:cNvSpPr/>
          <p:nvPr/>
        </p:nvSpPr>
        <p:spPr>
          <a:xfrm rot="0" flipH="0" flipV="0">
            <a:off x="647700" y="3562350"/>
            <a:ext cx="10972800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6" name=""/>
          <p:cNvSpPr/>
          <p:nvPr/>
        </p:nvSpPr>
        <p:spPr>
          <a:xfrm rot="0" flipH="0" flipV="0">
            <a:off x="647700" y="3562350"/>
            <a:ext cx="10972800" cy="600075"/>
          </a:xfrm>
          <a:custGeom>
            <a:pathLst>
              <a:path w="1152" h="63">
                <a:moveTo>
                  <a:pt x="4" y="63"/>
                </a:moveTo>
                <a:cubicBezTo>
                  <a:pt x="2" y="63"/>
                  <a:pt x="0" y="61"/>
                  <a:pt x="0" y="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857250" y="36957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1466850" y="3724275"/>
            <a:ext cx="21907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核心自建，非核采购</a:t>
            </a:r>
            <a:endParaRPr/>
          </a:p>
        </p:txBody>
      </p:sp>
      <p:sp>
        <p:nvSpPr>
          <p:cNvPr id="1319" name="" descr="{&quot;isTemplate&quot;:true,&quot;type&quot;:&quot;text&quot;}"/>
          <p:cNvSpPr txBox="1"/>
          <p:nvPr/>
        </p:nvSpPr>
        <p:spPr>
          <a:xfrm rot="0" flipH="0" flipV="0">
            <a:off x="3829050" y="3609975"/>
            <a:ext cx="5029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核心能力定制获取差异化，非核心优先成熟产品。不要把「自主可控」当成全自建的理由。</a:t>
            </a:r>
            <a:endParaRPr/>
          </a:p>
        </p:txBody>
      </p:sp>
      <p:sp>
        <p:nvSpPr>
          <p:cNvPr id="1320" name=""/>
          <p:cNvSpPr/>
          <p:nvPr/>
        </p:nvSpPr>
        <p:spPr>
          <a:xfrm rot="0" flipH="0" flipV="0">
            <a:off x="9029700" y="3686175"/>
            <a:ext cx="234315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9144000" y="3762375"/>
            <a:ext cx="21145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典型坑：连报销工具都自研</a:t>
            </a:r>
            <a:endParaRPr/>
          </a:p>
        </p:txBody>
      </p:sp>
      <p:sp>
        <p:nvSpPr>
          <p:cNvPr id="1322" name=""/>
          <p:cNvSpPr/>
          <p:nvPr/>
        </p:nvSpPr>
        <p:spPr>
          <a:xfrm rot="0" flipH="0" flipV="0">
            <a:off x="647700" y="4276725"/>
            <a:ext cx="10972800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3" name=""/>
          <p:cNvSpPr/>
          <p:nvPr/>
        </p:nvSpPr>
        <p:spPr>
          <a:xfrm rot="0" flipH="0" flipV="0">
            <a:off x="647700" y="4276725"/>
            <a:ext cx="10972800" cy="600075"/>
          </a:xfrm>
          <a:custGeom>
            <a:pathLst>
              <a:path w="1152" h="63">
                <a:moveTo>
                  <a:pt x="4" y="63"/>
                </a:moveTo>
                <a:cubicBezTo>
                  <a:pt x="2" y="63"/>
                  <a:pt x="0" y="61"/>
                  <a:pt x="0" y="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24" name="" descr="{&quot;isTemplate&quot;:true,&quot;type&quot;:&quot;text&quot;}"/>
          <p:cNvSpPr txBox="1"/>
          <p:nvPr/>
        </p:nvSpPr>
        <p:spPr>
          <a:xfrm rot="0" flipH="0" flipV="0">
            <a:off x="857250" y="441007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1466850" y="4438650"/>
            <a:ext cx="21907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定期组合评审，强制淘汰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3829050" y="4324350"/>
            <a:ext cx="5029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每年评估一次应用组合，低价值高维护的必须退役。评审要有退出结论，否则永远只进不出。</a:t>
            </a:r>
            <a:endParaRPr/>
          </a:p>
        </p:txBody>
      </p:sp>
      <p:sp>
        <p:nvSpPr>
          <p:cNvPr id="1327" name=""/>
          <p:cNvSpPr/>
          <p:nvPr/>
        </p:nvSpPr>
        <p:spPr>
          <a:xfrm rot="0" flipH="0" flipV="0">
            <a:off x="9029700" y="4400550"/>
            <a:ext cx="2343150" cy="361950"/>
          </a:xfrm>
          <a:prstGeom prst="roundRect">
            <a:avLst>
              <a:gd name="adj" fmla="val 7895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9144000" y="4476750"/>
            <a:ext cx="21145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典型坑：清单只增不减</a:t>
            </a:r>
            <a:endParaRPr/>
          </a:p>
        </p:txBody>
      </p:sp>
      <p:sp>
        <p:nvSpPr>
          <p:cNvPr id="1329" name=""/>
          <p:cNvSpPr/>
          <p:nvPr/>
        </p:nvSpPr>
        <p:spPr>
          <a:xfrm rot="0" flipH="0" flipV="0">
            <a:off x="609600" y="4991100"/>
            <a:ext cx="10972800" cy="590550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838200" y="51911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评审用法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1638300" y="5162550"/>
            <a:ext cx="971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任何新应用立项，先拿五条过一遍。凡是要靠「我们和别人不太一样」才能解释的，一律先问「差异在哪、值不值」——这个追问能挡掉一半的重复建设</a:t>
            </a:r>
            <a:endParaRPr/>
          </a:p>
        </p:txBody>
      </p:sp>
      <p:sp>
        <p:nvSpPr>
          <p:cNvPr id="133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06 / 30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335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能力 → 应用 → 功能：&lt;span style={{ color: '#FA4F24' }}&gt;一条链上做三次收敛&lt;/span&gt;&#10;        &lt;/Text&gt;&#10;        &lt;Text style={{ fontSize: 20, color: '#8A8F99', marginTop: 8 }}&gt;&#10;     这条链是 BA 交给 AA 的正式接口——AA 的所有决策，都必须能向上解释为「承载某项能力」&#10;     &lt;/Text&gt;&#10;    &lt;/Box&gt;&#10;    &lt;Box style={{ height: 1, background: '#E8E8E8' }} /&gt;&#10;&#10;    {/* B 区 */}&#10;    &lt;Box style={{ paddingTop: 24, paddingBottom: 14, height: 479, flexDirection: 'column', gap: 14 }}&gt;&#10;&#10;        {/* 收敛链 */}&#10;  &lt;Box style={{ flex: 1, flexDirection: 'column', gap: 10 }}&gt;&#10;    &lt;Text style={{ fontSize: 20, fontWeight: 'bold', color: '#0F1423' }}&gt;以「订单履约」能力为例的三级收敛&lt;/Text&gt;&#10;  {[&#10;{ l: '业务能力', n: 4, c: '#FA4F24', tc: '#FFFFFF', d: '接单能力 / 排程能力 / 履约跟踪能力 / 结算能力', k: '4 项能力' },&#10; { l: '应用系统', n: 2, c: '#F8622F', tc: '#FFFFFF', d: '订单中心（接单+结算） · 履约协同平台（排程+跟踪）', k: '2 个应用' },&#10;   { l: '应用功能', n: 27, c: '#FBA15C', tc: '#3A2000', d: '每个应用平均 13 个功能点，按业务对象组织功能树', k: '27 个功能' },&#10;    ].map((it, i) =&gt; (&#10;             &lt;Box key={i} style={{ flex: 1, flexDirection: 'row', alignItems: 'center', background: it.c, borderRadius: 4, padding: '0 20px', gap: 16 }}&gt;&#10;     &lt;Text style={{ fontSize: 18, fontWeight: 'bold', color: it.tc, width: 92 }}&gt;{it.l}&lt;/Text&gt;&#10;    &lt;Box style={{ flex: 1 }}&gt;&#10;         &lt;Text style={{ fontSize: 15, color: it.tc, lineHeight: 1.45 }}&gt;{it.d}&lt;/Text&gt;&#10;       &lt;/Box&gt;&#10;     &lt;Box style={{ background: 'rgba(255,255,255,0.35)', borderRadius: 3, padding: '7px 12px' }}&gt;&#10;     &lt;Text style={{ fontSize: 15, fontWeight: 'bold', color: it.tc }}&gt;{it.k}&lt;/Text&gt;&#10;   &lt;/Box&gt;&#10;            {i &lt; 2 &amp;&amp; &lt;Text style={{ fontSize: 17, color: it.tc, opacity: 0.8 }}&gt;↓&lt;/Text&gt;}&#10;       &lt;/Box&gt;&#10;            ))}&#10;        &lt;/Box&gt;&#10;&#10;        {/* 三条规则 */}&#10;        &lt;Box style={{ flex: 1, flexDirection: 'row', gap: 12 }}&gt;&#10;       {[&#10;{ t: '能力只能被承载，不能被改写', d: '应用可以合并、拆分、重构，但承载能力的语义不能变。借系统重构之名削减能力定义，是架构失控的信号。' },&#10;  { t: '应用数量由收敛结果决定', d: '不是「几个部门就几个系统」。4 项能力收敛到 2 个应用是合理结果，1 项能力建 1 个应用才是浪费。' },&#10;            { t: '功能必须挂到业务对象', d: '功能树按业务对象组织，而不是按技术模块或菜单。这样才能回答「这个功能为哪个对象服务」。' },&#10;].map((it, i) =&gt; (&#10;                &lt;Box key={i} style={{ flex: 1, background: 'rgba(250,79,36,0.06)', borderRadius: 4, padding: '13px 18px', borderLeft: '4px solid #FA4F24', flexDirection: 'column', justifyContent: 'center' }}&gt;&#10;        &lt;Text style={{ fontSize: 16, fontWeight: 'bold', color: '#C43A17' }}&gt;{it.t}&lt;/Text&gt;&#10;       &lt;Text style={{ fontSize: 14, color: '#3A4050', lineHeight: 1.5, marginTop: 6 }}&gt;{it.d}&lt;/Text&gt;&#10;         &lt;/Box&gt;&#10;       ))}&#10;        &lt;/Box&gt;&#10;&#10;   {/* 数量区间参考 */}&#10;   &lt;Box style={{ height: 76, border: '1px solid #E8E8E8', borderRadius: 4, padding: '12px 20px', flexDirection: 'row', alignItems: 'center', gap: 18 }}&gt;&#10;     &lt;Text style={{ fontSize: 16, fontWeight: 'bold', color: '#0F1423', width: 150 }}&gt;应用数量经验区间&lt;/Text&gt;&#10;       {[&#10;       { r: '大型集团', n: '80–200', c: '#FBA15C', tc: '#3A2000' },&#10;  { r: '中型企业', n: '30–80', c: '#F8622F', tc: '#FFFFFF' },&#10;   { r: '小型企业', n: '10–30', c: '#FA4F24', tc: '#FFFFFF' },&#10;        ].map((it, i) =&gt; (&#10;            &lt;Box key={i} style={{ flex: 1, background: it.c, borderRadius: 3, padding: '8px 0', alignItems: 'center' }}&gt;&#10;     &lt;Text style={{ fontSize: 12, color: it.tc, opacity: 0.9 }}&gt;{it.r}&lt;/Text&gt;&#10;     &lt;Text style={{ fontSize: 18, fontWeight: 'bold', color: it.tc, marginTop: 3 }}&gt;{it.n}&lt;/Text&gt;&#10;            &lt;/Box&gt;&#10;          ))}&#10;            &lt;Box style={{ flex: 1.4 }}&gt;&#10;   &lt;Text style={{ fontSize: 13, color: '#3A4050', lineHeight: 1.5 }}&gt;&#10;      显著超出上限，说明存在重复建设或僵尸系统；显著低于下限，往往意味着能力尚未拆细到可承载粒度。&#10;     &lt;/Text&gt;&#10;    &lt;/Box&gt;&#10;        &lt;/Box&gt;&#10;    &lt;/Box&gt;&#10;&#10;    {/* C 区 */}&#10;&lt;Box style={{ height: 60, flexDirection: 'row', alignItems: 'center', justifyContent: 'space-between' }}&gt;&#10;        &lt;Box style={{ flexDirection: 'row', alignItems: 'center', gap: 10 }}&gt;&#10;  &lt;Box style={{ width: 14, height: 14, background: '#FA4F24' }} /&gt;&#10;            &lt;Text style={{ fontSize: 14, color: '#8A8F99' }}&gt;硕磐机密 · AA应用架构咨询方法论&lt;/Text&gt;&#10;    &lt;/Box&gt;&#10;   &lt;Text style={{ fontSize: 14, color: '#8A8F99' }}&gt;0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能力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应用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功能：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一条链上做三次收敛</a:t>
            </a:r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这条链是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交给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的正式接口——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的所有决策，都必须能向上解释为「承载某项能力」</a:t>
            </a:r>
            <a:endParaRPr/>
          </a:p>
        </p:txBody>
      </p:sp>
      <p:sp>
        <p:nvSpPr>
          <p:cNvPr id="133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40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以「订单履约」能力为例的三级收敛</a:t>
            </a:r>
            <a:endParaRPr/>
          </a:p>
        </p:txBody>
      </p:sp>
      <p:sp>
        <p:nvSpPr>
          <p:cNvPr id="1341" name=""/>
          <p:cNvSpPr/>
          <p:nvPr/>
        </p:nvSpPr>
        <p:spPr>
          <a:xfrm rot="0" flipH="0" flipV="0">
            <a:off x="609600" y="1704975"/>
            <a:ext cx="10972800" cy="400050"/>
          </a:xfrm>
          <a:prstGeom prst="roundRect">
            <a:avLst>
              <a:gd name="adj" fmla="val 952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800100" y="1800225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业务能力</a:t>
            </a:r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1828800" y="1781175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接单能力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排程能力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履约跟踪能力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结算能力</a:t>
            </a:r>
            <a:endParaRPr/>
          </a:p>
        </p:txBody>
      </p:sp>
      <p:sp>
        <p:nvSpPr>
          <p:cNvPr id="1344" name=""/>
          <p:cNvSpPr/>
          <p:nvPr/>
        </p:nvSpPr>
        <p:spPr>
          <a:xfrm rot="0" flipH="0" flipV="0">
            <a:off x="10363200" y="1752600"/>
            <a:ext cx="790575" cy="304800"/>
          </a:xfrm>
          <a:prstGeom prst="roundRect">
            <a:avLst>
              <a:gd name="adj" fmla="val 9375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345" name="" descr="{&quot;isTemplate&quot;:true,&quot;type&quot;:&quot;text&quot;}"/>
          <p:cNvSpPr txBox="1"/>
          <p:nvPr/>
        </p:nvSpPr>
        <p:spPr>
          <a:xfrm rot="0" flipH="0" flipV="0">
            <a:off x="10477500" y="1819275"/>
            <a:ext cx="56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项能力</a:t>
            </a:r>
            <a:endParaRPr/>
          </a:p>
        </p:txBody>
      </p:sp>
      <p:sp>
        <p:nvSpPr>
          <p:cNvPr id="1346" name=""/>
          <p:cNvSpPr/>
          <p:nvPr/>
        </p:nvSpPr>
        <p:spPr>
          <a:xfrm rot="0" flipH="0" flipV="0">
            <a:off x="609600" y="2200275"/>
            <a:ext cx="10972800" cy="400050"/>
          </a:xfrm>
          <a:prstGeom prst="roundRect">
            <a:avLst>
              <a:gd name="adj" fmla="val 9524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800100" y="2295525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应用系统</a:t>
            </a:r>
            <a:endParaRPr/>
          </a:p>
        </p:txBody>
      </p:sp>
      <p:sp>
        <p:nvSpPr>
          <p:cNvPr id="1348" name="" descr="{&quot;isTemplate&quot;:true,&quot;type&quot;:&quot;text&quot;}"/>
          <p:cNvSpPr txBox="1"/>
          <p:nvPr/>
        </p:nvSpPr>
        <p:spPr>
          <a:xfrm rot="0" flipH="0" flipV="0">
            <a:off x="1828800" y="2276475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订单中心（接单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+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结算）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履约协同平台（排程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+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跟踪）</a:t>
            </a:r>
            <a:endParaRPr/>
          </a:p>
        </p:txBody>
      </p:sp>
      <p:sp>
        <p:nvSpPr>
          <p:cNvPr id="1349" name=""/>
          <p:cNvSpPr/>
          <p:nvPr/>
        </p:nvSpPr>
        <p:spPr>
          <a:xfrm rot="0" flipH="0" flipV="0">
            <a:off x="10363200" y="2247900"/>
            <a:ext cx="790575" cy="304800"/>
          </a:xfrm>
          <a:prstGeom prst="roundRect">
            <a:avLst>
              <a:gd name="adj" fmla="val 9375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10477500" y="2314575"/>
            <a:ext cx="56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个应用</a:t>
            </a:r>
            <a:endParaRPr/>
          </a:p>
        </p:txBody>
      </p:sp>
      <p:sp>
        <p:nvSpPr>
          <p:cNvPr id="1351" name=""/>
          <p:cNvSpPr/>
          <p:nvPr/>
        </p:nvSpPr>
        <p:spPr>
          <a:xfrm rot="0" flipH="0" flipV="0">
            <a:off x="609600" y="2695575"/>
            <a:ext cx="10972800" cy="400050"/>
          </a:xfrm>
          <a:prstGeom prst="roundRect">
            <a:avLst>
              <a:gd name="adj" fmla="val 9524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52" name="" descr="{&quot;isTemplate&quot;:true,&quot;type&quot;:&quot;text&quot;}"/>
          <p:cNvSpPr txBox="1"/>
          <p:nvPr/>
        </p:nvSpPr>
        <p:spPr>
          <a:xfrm rot="0" flipH="0" flipV="0">
            <a:off x="800100" y="2790825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2000"/>
                </a:solidFill>
                <a:latin typeface="Microsoft YaHei"/>
                <a:ea typeface="Microsoft YaHei"/>
              </a:rPr>
              <a:t>应用功能</a:t>
            </a:r>
            <a:endParaRPr/>
          </a:p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1828800" y="2771775"/>
            <a:ext cx="85344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2000"/>
                </a:solidFill>
                <a:latin typeface="Microsoft YaHei"/>
                <a:ea typeface="Microsoft YaHei"/>
              </a:rPr>
              <a:t>每个应用平均</a:t>
            </a:r>
            <a:r>
              <a:rPr lang="en-US" sz="1125">
                <a:solidFill>
                  <a:srgbClr val="3A2000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125">
                <a:solidFill>
                  <a:srgbClr val="3A2000"/>
                </a:solidFill>
                <a:latin typeface="Microsoft YaHei"/>
                <a:ea typeface="Microsoft YaHei"/>
              </a:rPr>
              <a:t>个功能点，按业务对象组织功能树</a:t>
            </a:r>
            <a:endParaRPr/>
          </a:p>
        </p:txBody>
      </p:sp>
      <p:sp>
        <p:nvSpPr>
          <p:cNvPr id="1354" name=""/>
          <p:cNvSpPr/>
          <p:nvPr/>
        </p:nvSpPr>
        <p:spPr>
          <a:xfrm rot="0" flipH="0" flipV="0">
            <a:off x="10515600" y="2743200"/>
            <a:ext cx="876300" cy="304800"/>
          </a:xfrm>
          <a:prstGeom prst="roundRect">
            <a:avLst>
              <a:gd name="adj" fmla="val 9375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355" name="" descr="{&quot;isTemplate&quot;:true,&quot;type&quot;:&quot;text&quot;}"/>
          <p:cNvSpPr txBox="1"/>
          <p:nvPr/>
        </p:nvSpPr>
        <p:spPr>
          <a:xfrm rot="0" flipH="0" flipV="0">
            <a:off x="10629900" y="2809875"/>
            <a:ext cx="64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27 </a:t>
            </a:r>
            <a:r>
              <a:rPr lang="zh-CN" sz="1125" b="1">
                <a:solidFill>
                  <a:srgbClr val="3A2000"/>
                </a:solidFill>
                <a:latin typeface="Microsoft YaHei"/>
                <a:ea typeface="Microsoft YaHei"/>
              </a:rPr>
              <a:t>个功能</a:t>
            </a:r>
            <a:endParaRPr/>
          </a:p>
        </p:txBody>
      </p:sp>
      <p:sp>
        <p:nvSpPr>
          <p:cNvPr id="1356" name=""/>
          <p:cNvSpPr/>
          <p:nvPr/>
        </p:nvSpPr>
        <p:spPr>
          <a:xfrm rot="0" flipH="0" flipV="0">
            <a:off x="647700" y="3228975"/>
            <a:ext cx="3581400" cy="1495425"/>
          </a:xfrm>
          <a:prstGeom prst="roundRect">
            <a:avLst>
              <a:gd name="adj" fmla="val 254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357" name=""/>
          <p:cNvSpPr/>
          <p:nvPr/>
        </p:nvSpPr>
        <p:spPr>
          <a:xfrm rot="0" flipH="0" flipV="0">
            <a:off x="647700" y="3228975"/>
            <a:ext cx="3581400" cy="1495425"/>
          </a:xfrm>
          <a:custGeom>
            <a:pathLst>
              <a:path w="376" h="157">
                <a:moveTo>
                  <a:pt x="4" y="157"/>
                </a:moveTo>
                <a:cubicBezTo>
                  <a:pt x="2" y="157"/>
                  <a:pt x="0" y="155"/>
                  <a:pt x="0" y="1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819150" y="349567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能力只能被承载，不能被改写</a:t>
            </a:r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819150" y="3743325"/>
            <a:ext cx="32004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应用可以合并、拆分、重构，但承载能力的语义不能变。借系统重构之名削减能力定义，是架构失控的信号。</a:t>
            </a:r>
            <a:endParaRPr/>
          </a:p>
        </p:txBody>
      </p:sp>
      <p:sp>
        <p:nvSpPr>
          <p:cNvPr id="1360" name=""/>
          <p:cNvSpPr/>
          <p:nvPr/>
        </p:nvSpPr>
        <p:spPr>
          <a:xfrm rot="0" flipH="0" flipV="0">
            <a:off x="4343400" y="3228975"/>
            <a:ext cx="3581400" cy="1495425"/>
          </a:xfrm>
          <a:prstGeom prst="roundRect">
            <a:avLst>
              <a:gd name="adj" fmla="val 254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361" name=""/>
          <p:cNvSpPr/>
          <p:nvPr/>
        </p:nvSpPr>
        <p:spPr>
          <a:xfrm rot="0" flipH="0" flipV="0">
            <a:off x="4343400" y="3228975"/>
            <a:ext cx="3581400" cy="1495425"/>
          </a:xfrm>
          <a:custGeom>
            <a:pathLst>
              <a:path w="376" h="157">
                <a:moveTo>
                  <a:pt x="4" y="157"/>
                </a:moveTo>
                <a:cubicBezTo>
                  <a:pt x="2" y="157"/>
                  <a:pt x="0" y="155"/>
                  <a:pt x="0" y="1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4514850" y="360997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应用数量由收敛结果决定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4514850" y="3857625"/>
            <a:ext cx="32004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不是「几个部门就几个系统」。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项能力收敛到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个应用是合理结果，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项能力建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个应用才是浪费。</a:t>
            </a:r>
            <a:endParaRPr/>
          </a:p>
        </p:txBody>
      </p:sp>
      <p:sp>
        <p:nvSpPr>
          <p:cNvPr id="1364" name=""/>
          <p:cNvSpPr/>
          <p:nvPr/>
        </p:nvSpPr>
        <p:spPr>
          <a:xfrm rot="0" flipH="0" flipV="0">
            <a:off x="8039100" y="3228975"/>
            <a:ext cx="3581400" cy="1495425"/>
          </a:xfrm>
          <a:prstGeom prst="roundRect">
            <a:avLst>
              <a:gd name="adj" fmla="val 254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365" name=""/>
          <p:cNvSpPr/>
          <p:nvPr/>
        </p:nvSpPr>
        <p:spPr>
          <a:xfrm rot="0" flipH="0" flipV="0">
            <a:off x="8039100" y="3228975"/>
            <a:ext cx="3581400" cy="1495425"/>
          </a:xfrm>
          <a:custGeom>
            <a:pathLst>
              <a:path w="376" h="157">
                <a:moveTo>
                  <a:pt x="4" y="157"/>
                </a:moveTo>
                <a:cubicBezTo>
                  <a:pt x="2" y="157"/>
                  <a:pt x="0" y="155"/>
                  <a:pt x="0" y="1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8210550" y="360997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功能必须挂到业务对象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8210550" y="3857625"/>
            <a:ext cx="32004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功能树按业务对象组织，而不是按技术模块或菜单。这样才能回答「这个功能为哪个对象服务」。</a:t>
            </a:r>
            <a:endParaRPr/>
          </a:p>
        </p:txBody>
      </p:sp>
      <p:sp>
        <p:nvSpPr>
          <p:cNvPr id="1368" name=""/>
          <p:cNvSpPr/>
          <p:nvPr/>
        </p:nvSpPr>
        <p:spPr>
          <a:xfrm rot="0" flipH="0" flipV="0">
            <a:off x="609600" y="4857750"/>
            <a:ext cx="10972800" cy="723900"/>
          </a:xfrm>
          <a:prstGeom prst="roundRect">
            <a:avLst>
              <a:gd name="adj" fmla="val 5263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369" name="" descr="{&quot;isTemplate&quot;:true,&quot;type&quot;:&quot;text&quot;}"/>
          <p:cNvSpPr txBox="1"/>
          <p:nvPr/>
        </p:nvSpPr>
        <p:spPr>
          <a:xfrm rot="0" flipH="0" flipV="0">
            <a:off x="800100" y="51244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应用数量经验区间</a:t>
            </a:r>
            <a:endParaRPr/>
          </a:p>
        </p:txBody>
      </p:sp>
      <p:sp>
        <p:nvSpPr>
          <p:cNvPr id="1370" name=""/>
          <p:cNvSpPr/>
          <p:nvPr/>
        </p:nvSpPr>
        <p:spPr>
          <a:xfrm rot="0" flipH="0" flipV="0">
            <a:off x="2400300" y="4953000"/>
            <a:ext cx="1924050" cy="533400"/>
          </a:xfrm>
          <a:prstGeom prst="roundRect">
            <a:avLst>
              <a:gd name="adj" fmla="val 5357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3048000" y="5200650"/>
            <a:ext cx="62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A2000"/>
                </a:solidFill>
                <a:latin typeface="Microsoft YaHei"/>
                <a:ea typeface="Microsoft YaHei"/>
              </a:rPr>
              <a:t>80–200</a:t>
            </a:r>
            <a:endParaRPr/>
          </a:p>
        </p:txBody>
      </p:sp>
      <p:sp>
        <p:nvSpPr>
          <p:cNvPr id="1372" name=""/>
          <p:cNvSpPr/>
          <p:nvPr/>
        </p:nvSpPr>
        <p:spPr>
          <a:xfrm rot="0" flipH="0" flipV="0">
            <a:off x="4495800" y="4953000"/>
            <a:ext cx="1933575" cy="533400"/>
          </a:xfrm>
          <a:prstGeom prst="roundRect">
            <a:avLst>
              <a:gd name="adj" fmla="val 5357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5200650" y="5200650"/>
            <a:ext cx="523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30–80</a:t>
            </a:r>
            <a:endParaRPr/>
          </a:p>
        </p:txBody>
      </p:sp>
      <p:sp>
        <p:nvSpPr>
          <p:cNvPr id="1374" name=""/>
          <p:cNvSpPr/>
          <p:nvPr/>
        </p:nvSpPr>
        <p:spPr>
          <a:xfrm rot="0" flipH="0" flipV="0">
            <a:off x="6600825" y="4953000"/>
            <a:ext cx="1924050" cy="533400"/>
          </a:xfrm>
          <a:prstGeom prst="roundRect">
            <a:avLst>
              <a:gd name="adj" fmla="val 535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7305675" y="5200650"/>
            <a:ext cx="523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10–30</a:t>
            </a:r>
            <a:endParaRPr/>
          </a:p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8696325" y="4886325"/>
            <a:ext cx="26955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显著超出上限，说明存在重复建设或僵尸系统；显著低于下限，往往意味着能力尚未拆细到可承载粒度。</a:t>
            </a:r>
            <a:endParaRPr/>
          </a:p>
        </p:txBody>
      </p:sp>
      <p:sp>
        <p:nvSpPr>
          <p:cNvPr id="1377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8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07 / 30</a:t>
            </a:r>
            <a:endParaRPr/>
          </a:p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11306175" y="1809750"/>
            <a:ext cx="85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11306175" y="2305050"/>
            <a:ext cx="85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382" name="" descr="{&quot;isTemplate&quot;:true,&quot;type&quot;:&quot;text&quot;}"/>
          <p:cNvSpPr txBox="1"/>
          <p:nvPr/>
        </p:nvSpPr>
        <p:spPr>
          <a:xfrm rot="0" flipH="0" flipV="0">
            <a:off x="3133725" y="50292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>大型集团</a:t>
            </a:r>
            <a:endParaRPr/>
          </a:p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5238750" y="50292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中型企业</a:t>
            </a:r>
            <a:endParaRPr/>
          </a:p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7334250" y="50292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小型企业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385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      &lt;Text style={{ fontSize: 300, fontWeight: 'bold', color: 'rgba(255,255,255,0.08)', lineHeight: 1.0 }}&gt;02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2&lt;/Text&gt;&#13;&#10; &lt;Box style={{ width: 72, height: 5, background: '#FA4F24', marginTop: 22 }} /&gt;&#13;&#10;        &lt;Text style={{ fontSize: 58, fontWeight: 'bold', color: '#FFFFFF', marginTop: 28, lineHeight: 1.15 }}&gt;应用组合盘点&lt;/Text&gt;&#13;&#10;        &lt;Text style={{ fontSize: 17, color: 'rgba(255,255,255,0.62)', letterSpacing: 2, marginTop: 20 }}&gt;APPLICATION PORTFOLIO INVENTORY&lt;/Text&gt;&#13;&#10;   &lt;Text style={{ fontSize: 19, color: 'rgba(255,255,255,0.85)', marginTop: 26, lineHeight: 1.6 }}&gt;能力映射四问法与全景清单九类资产&lt;/Text&gt;&#13;&#10;    &lt;/Box&gt;&#13;&#10;&#13;&#10;    {/* 右下页码 */}&#13;&#10;    &lt;Box style={{ position: 'absolute', right: 88, bottom: 64, flexDirection: 'row', alignItems: 'center', gap: 12 }}&gt;&#13;&#10;   &lt;Box style={{ width: 14, height: 14, background: '#FA4F24' }} /&gt;&#13;&#10;      &lt;Text style={{ fontSize: 14, color: 'rgba(255,255,255,0.5)' }}&gt;硕磐机密 · AA应用架构咨询方法论&lt;/Text&gt;&#13;&#10;  &lt;Text style={{ fontSize: 14, color: 'rgba(255,255,255,0.5)', marginLeft: 12 }}&gt;08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88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389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1391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2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应用组合盘点</a:t>
            </a:r>
            <a:endParaRPr/>
          </a:p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APPLICATION PORTFOLIO INVENTORY</a:t>
            </a:r>
            <a:endParaRPr/>
          </a:p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能力映射四问法与全景清单九类资产</a:t>
            </a:r>
            <a:endParaRPr/>
          </a:p>
        </p:txBody>
      </p:sp>
      <p:sp>
        <p:nvSpPr>
          <p:cNvPr id="1395" name=""/>
          <p:cNvSpPr/>
          <p:nvPr/>
        </p:nvSpPr>
        <p:spPr>
          <a:xfrm rot="0" flipH="0" flipV="0">
            <a:off x="83820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6" name="" descr="{&quot;isTemplate&quot;:true,&quot;type&quot;:&quot;text&quot;}"/>
          <p:cNvSpPr txBox="1"/>
          <p:nvPr/>
        </p:nvSpPr>
        <p:spPr>
          <a:xfrm rot="0" flipH="0" flipV="0">
            <a:off x="8629650" y="60864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08 / 30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398" name="" descr="&lt;Slide style={{ width: 1280, height: 720, background: '#FFFFFF', padding: '24px 64px 0' }}&gt;&#13;&#10;    {/* A 区 */}&#13;&#10;    &lt;Box style={{ height: 96, flexDirection: 'column', justifyContent: 'flex-start' }}&gt;&#13;&#10;        &lt;Text style={{ fontSize: 32, fontWeight: 'bold', color: '#0F1423' }}&gt;&#13;&#10;            之方法：&lt;span style={{ color: '#FA4F24' }}&gt;能力映射四问法&lt;/span&gt;，把业务能力逐项落到系统&#13;&#10;   &lt;/Text&gt;&#13;&#10;     &lt;Text style={{ fontSize: 20, color: '#8A8F99', marginTop: 8 }}&gt;&#13;&#10;            起点必须是 BA 输出的能力清单，不能是「现在有哪些系统」——顺序反了就会固化现状&#13;&#10;  &lt;/Text&gt;&#13;&#10;  &lt;/Box&gt;&#13;&#10;    &lt;Box style={{ height: 1, background: '#E8E8E8' }} /&gt;&#13;&#10;&#13;&#10;    {/* B 区 左标题栏 + 右四问 */}&#13;&#10;    &lt;Box style={{ paddingTop: 24, paddingBottom: 14, height: 479, flexDirection: 'row', gap: 20 }}&gt;&#13;&#10;&#13;&#10;        {/* 左 32% */}&#13;&#10;    &lt;Box style={{&#13;&#10;   width: 320, background: 'linear-gradient(160deg, #FA4F24 0%, #F87D2F 100%)',&#13;&#10;      borderRadius: 4, padding: 26, flexDirection: 'column', justifyContent: 'space-between',&#13;&#10; }}&gt;&#13;&#10;  &lt;Box&gt;&#13;&#10;      &lt;Text style={{ fontSize: 15, color: 'rgba(255,255,255,0.8)', letterSpacing: 2 }}&gt;STEP 02 · MAPPING&lt;/Text&gt;&#13;&#10;  &lt;Text style={{ fontSize: 30, fontWeight: 'bold', color: '#FFFFFF', marginTop: 14, lineHeight: 1.25 }}&gt;&#13;&#10; 能力映射&#13;&#10;     &lt;br /&gt;&#13;&#10;   四问法&#13;&#10;        &lt;/Text&gt;&#13;&#10;      &lt;/Box&gt;&#13;&#10;            &lt;Box&gt;&#13;&#10;      &lt;Box style={{ width: 44, height: 4, background: 'rgba(255,255,255,0.7)' }} /&gt;&#13;&#10;     &lt;Text style={{ fontSize: 17, color: 'rgba(255,255,255,0.94)', marginTop: 16, lineHeight: 1.55 }}&gt;&#13;&#10;    先摆能力，再找应用。反过来做（先列系统再问它干什么），&#13;&#10;     &lt;Text style={{ fontWeight: 'bold' }}&gt;等于给历史遗留做了背书&lt;/Text&gt;。&#13;&#10;    &lt;/Text&gt;&#13;&#10;        &lt;/Box&gt;&#13;&#10;        &lt;/Box&gt;&#13;&#10;&#13;&#10;   {/* 右 68% */}&#13;&#10;      &lt;Box style={{ flex: 1, flexDirection: 'column', gap: 9 }}&gt;&#13;&#10;    &lt;Text style={{ fontSize: 21, fontWeight: 'bold', color: '#0F1423' }}&gt;对每一项业务能力问四句话&lt;/Text&gt;&#13;&#10;            {[&#13;&#10;     { n: '01', t: '谁承载？', en: 'OWNER', d: '找出主责应用。不存在承载者的能力，标记为「能力空缺」，进入路线图。', k: '必答' },&#13;&#10;        { n: '02', t: '还谁在承载？', en: 'OVERLAP', d: '列出所有协同应用。若主责之外还有 3 个以上，说明能力边界该拆。', k: '查重复' },&#13;&#10;                { n: '03', t: '哪段是系统内的？', en: 'AUTOMATED', d: '区分哪些活动由应用自动完成、哪些仍靠线下。线下占比高的能力，自动化价值最大。', k: '找自动化点' },&#13;&#10;                { n: '04', t: '这个应用健康吗？', en: 'HEALTH', d: '承载该能力的应用，技术健康度如何。差的应用承载核心能力，是最大的风险点。', k: '风险识别' },&#13;&#10;     ].map((it, i) =&gt; (&#13;&#10;     &lt;Box key={i} style={{ flex: 1, flexDirection: 'row', alignItems: 'center', background: '#F7F7F8', borderRadius: 4, padding: '10px 16px', gap: 14, borderLeft: '4px solid #FA4F24' }}&gt;&#13;&#10;     &lt;Box style={{ width: 58 }}&gt;&#13;&#10;        &lt;Text style={{ fontSize: 24, fontWeight: 'bold', color: '#FA4F24' }}&gt;{it.n}&lt;/Text&gt;&#13;&#10;     &lt;Text style={{ fontSize: 8, color: '#B8BDC7' }}&gt;{it.en}&lt;/Text&gt;&#13;&#10;   &lt;/Box&gt;&#13;&#10;       &lt;Text style={{ fontSize: 18, fontWeight: 'bold', color: '#0F1423', width: 132 }}&gt;{it.t}&lt;/Text&gt;&#13;&#10;                &lt;Text style={{ fontSize: 14, color: '#3A4050', lineHeight: 1.45, flex: 1 }}&gt;{it.d}&lt;/Text&gt;&#13;&#10;             &lt;Box style={{ width: 100, background: 'rgba(250,79,36,0.1)', borderRadius: 3, padding: '6px 4px' }}&gt;&#13;&#10;           &lt;Text style={{ fontSize: 11, color: '#C43A17', textAlign: 'center', lineHeight: 1.3 }}&gt;{it.k}&lt;/Text&gt;&#13;&#10;      &lt;/Box&gt;&#13;&#10;         &lt;/Box&gt;&#13;&#10;            ))}&#13;&#10;        &lt;Box style={{ flex: 0.9, background: 'rgba(250,79,36,0.06)', borderRadius: 4, padding: '9px 16px', borderLeft: '4px solid #FA4F24', flexDirection: 'column', justifyContent: 'center' }}&gt;&#13;&#10;  &lt;Text style={{ fontSize: 16, fontWeight: 'bold', color: '#C43A17' }}&gt;映射产出：能力—应用映射表&lt;/Text&gt;&#13;&#10;       &lt;Text style={{ fontSize: 14, color: '#3A4050', lineHeight: 1.5, marginTop: 4 }}&gt;&#13;&#10;            一行一项能力，一列一个应用，交叉格填承载程度（主/协同/不承载）。&#13;&#10;   这张表是后面集成设计和四态决策的共同输入——填不出来，说明能力清单本身有问题。&#13;&#10;      &lt;/Text&gt;&#13;&#10;            &lt;/Box&gt;&#13;&#10;        &lt;/Box&gt;&#13;&#10;    &lt;/Box&gt;&#13;&#10;&#13;&#10;    {/* C 区 */}&#13;&#10;  &lt;Box style={{ height: 60, flexDirection: 'row', alignItems: 'center', justifyContent: 'space-between' }}&gt;&#13;&#10;        &lt;Box style={{ flexDirection: 'row', alignItems: 'center', gap: 10 }}&gt;&#13;&#10;   &lt;Box style={{ width: 14, height: 14, background: '#FA4F24' }} /&gt;&#13;&#10;       &lt;Text style={{ fontSize: 14, color: '#8A8F99' }}&gt;硕磐机密 · AA应用架构咨询方法论&lt;/Text&gt;&#13;&#10;        &lt;/Box&gt;&#13;&#10;        &lt;Text style={{ fontSize: 14, color: '#8A8F99' }}&gt;09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能力映射四问法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，把业务能力逐项落到系统</a:t>
            </a:r>
            <a:endParaRPr/>
          </a:p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起点必须是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输出的能力清单，不能是「现在有哪些系统」——顺序反了就会固化现状</a:t>
            </a:r>
            <a:endParaRPr/>
          </a:p>
        </p:txBody>
      </p:sp>
      <p:sp>
        <p:nvSpPr>
          <p:cNvPr id="140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03" name=""/>
          <p:cNvSpPr/>
          <p:nvPr/>
        </p:nvSpPr>
        <p:spPr>
          <a:xfrm rot="0" flipH="0" flipV="0">
            <a:off x="609600" y="1381125"/>
            <a:ext cx="3048000" cy="4200525"/>
          </a:xfrm>
          <a:prstGeom prst="roundRect">
            <a:avLst>
              <a:gd name="adj" fmla="val 125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404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STEP 02 · MAPPING</a:t>
            </a:r>
            <a:endParaRPr/>
          </a:p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857250" y="1933575"/>
            <a:ext cx="25527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能力映射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四问法</a:t>
            </a:r>
            <a:endParaRPr/>
          </a:p>
        </p:txBody>
      </p:sp>
      <p:sp>
        <p:nvSpPr>
          <p:cNvPr id="1406" name=""/>
          <p:cNvSpPr/>
          <p:nvPr/>
        </p:nvSpPr>
        <p:spPr>
          <a:xfrm rot="0" flipH="0" flipV="0">
            <a:off x="857250" y="423862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857250" y="4429125"/>
            <a:ext cx="25527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先摆能力，再找应用。反过来做（先列系统再问它干什么），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等于给历史遗留做了背书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08" name="" descr="{&quot;isTemplate&quot;:true,&quot;type&quot;:&quot;text&quot;}"/>
          <p:cNvSpPr txBox="1"/>
          <p:nvPr/>
        </p:nvSpPr>
        <p:spPr>
          <a:xfrm rot="0" flipH="0" flipV="0">
            <a:off x="3848100" y="1381125"/>
            <a:ext cx="773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对每一项业务能力问四句话</a:t>
            </a:r>
            <a:endParaRPr/>
          </a:p>
        </p:txBody>
      </p:sp>
      <p:sp>
        <p:nvSpPr>
          <p:cNvPr id="1409" name=""/>
          <p:cNvSpPr/>
          <p:nvPr/>
        </p:nvSpPr>
        <p:spPr>
          <a:xfrm rot="0" flipH="0" flipV="0">
            <a:off x="3886200" y="1714500"/>
            <a:ext cx="7734300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0" name=""/>
          <p:cNvSpPr/>
          <p:nvPr/>
        </p:nvSpPr>
        <p:spPr>
          <a:xfrm rot="0" flipH="0" flipV="0">
            <a:off x="3886200" y="1714500"/>
            <a:ext cx="7734300" cy="676275"/>
          </a:xfrm>
          <a:custGeom>
            <a:pathLst>
              <a:path w="812" h="71">
                <a:moveTo>
                  <a:pt x="4" y="71"/>
                </a:moveTo>
                <a:cubicBezTo>
                  <a:pt x="2" y="71"/>
                  <a:pt x="0" y="69"/>
                  <a:pt x="0" y="6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4038600" y="1866900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12" name="" descr="{&quot;isTemplate&quot;:true,&quot;type&quot;:&quot;text&quot;}"/>
          <p:cNvSpPr txBox="1"/>
          <p:nvPr/>
        </p:nvSpPr>
        <p:spPr>
          <a:xfrm rot="0" flipH="0" flipV="0">
            <a:off x="4038600" y="2143125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OWNER</a:t>
            </a:r>
            <a:endParaRPr/>
          </a:p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4724400" y="1952625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谁承载？</a:t>
            </a:r>
            <a:endParaRPr/>
          </a:p>
        </p:txBody>
      </p:sp>
      <p:sp>
        <p:nvSpPr>
          <p:cNvPr id="1414" name="" descr="{&quot;isTemplate&quot;:true,&quot;type&quot;:&quot;text&quot;}"/>
          <p:cNvSpPr txBox="1"/>
          <p:nvPr/>
        </p:nvSpPr>
        <p:spPr>
          <a:xfrm rot="0" flipH="0" flipV="0">
            <a:off x="6115050" y="1819275"/>
            <a:ext cx="4229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找出主责应用。不存在承载者的能力，标记为「能力空缺」，进入路线图。</a:t>
            </a:r>
            <a:endParaRPr/>
          </a:p>
        </p:txBody>
      </p:sp>
      <p:sp>
        <p:nvSpPr>
          <p:cNvPr id="1415" name=""/>
          <p:cNvSpPr/>
          <p:nvPr/>
        </p:nvSpPr>
        <p:spPr>
          <a:xfrm rot="0" flipH="0" flipV="0">
            <a:off x="10477500" y="1914525"/>
            <a:ext cx="9525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416" name="" descr="{&quot;isTemplate&quot;:true,&quot;type&quot;:&quot;text&quot;}"/>
          <p:cNvSpPr txBox="1"/>
          <p:nvPr/>
        </p:nvSpPr>
        <p:spPr>
          <a:xfrm rot="0" flipH="0" flipV="0">
            <a:off x="10515600" y="1971675"/>
            <a:ext cx="8763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必答</a:t>
            </a:r>
            <a:endParaRPr/>
          </a:p>
        </p:txBody>
      </p:sp>
      <p:sp>
        <p:nvSpPr>
          <p:cNvPr id="1417" name=""/>
          <p:cNvSpPr/>
          <p:nvPr/>
        </p:nvSpPr>
        <p:spPr>
          <a:xfrm rot="0" flipH="0" flipV="0">
            <a:off x="3886200" y="2476500"/>
            <a:ext cx="77343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8" name=""/>
          <p:cNvSpPr/>
          <p:nvPr/>
        </p:nvSpPr>
        <p:spPr>
          <a:xfrm rot="0" flipH="0" flipV="0">
            <a:off x="3886200" y="2476500"/>
            <a:ext cx="7734300" cy="581025"/>
          </a:xfrm>
          <a:custGeom>
            <a:pathLst>
              <a:path w="812" h="61">
                <a:moveTo>
                  <a:pt x="4" y="61"/>
                </a:moveTo>
                <a:cubicBezTo>
                  <a:pt x="2" y="61"/>
                  <a:pt x="0" y="59"/>
                  <a:pt x="0" y="5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19" name="" descr="{&quot;isTemplate&quot;:true,&quot;type&quot;:&quot;text&quot;}"/>
          <p:cNvSpPr txBox="1"/>
          <p:nvPr/>
        </p:nvSpPr>
        <p:spPr>
          <a:xfrm rot="0" flipH="0" flipV="0">
            <a:off x="4038600" y="2581275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4038600" y="2857500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OVERLAP</a:t>
            </a:r>
            <a:endParaRPr/>
          </a:p>
        </p:txBody>
      </p:sp>
      <p:sp>
        <p:nvSpPr>
          <p:cNvPr id="1421" name="" descr="{&quot;isTemplate&quot;:true,&quot;type&quot;:&quot;text&quot;}"/>
          <p:cNvSpPr txBox="1"/>
          <p:nvPr/>
        </p:nvSpPr>
        <p:spPr>
          <a:xfrm rot="0" flipH="0" flipV="0">
            <a:off x="4724400" y="2667000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还谁在承载？</a:t>
            </a:r>
            <a:endParaRPr/>
          </a:p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6115050" y="2647950"/>
            <a:ext cx="4229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列出所有协同应用。若主责之外还有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个以上，说明能力边界该拆。</a:t>
            </a:r>
            <a:endParaRPr/>
          </a:p>
        </p:txBody>
      </p:sp>
      <p:sp>
        <p:nvSpPr>
          <p:cNvPr id="1423" name=""/>
          <p:cNvSpPr/>
          <p:nvPr/>
        </p:nvSpPr>
        <p:spPr>
          <a:xfrm rot="0" flipH="0" flipV="0">
            <a:off x="10477500" y="2628900"/>
            <a:ext cx="9525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424" name="" descr="{&quot;isTemplate&quot;:true,&quot;type&quot;:&quot;text&quot;}"/>
          <p:cNvSpPr txBox="1"/>
          <p:nvPr/>
        </p:nvSpPr>
        <p:spPr>
          <a:xfrm rot="0" flipH="0" flipV="0">
            <a:off x="10515600" y="2686050"/>
            <a:ext cx="8763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查重复</a:t>
            </a:r>
            <a:endParaRPr/>
          </a:p>
        </p:txBody>
      </p:sp>
      <p:sp>
        <p:nvSpPr>
          <p:cNvPr id="1425" name=""/>
          <p:cNvSpPr/>
          <p:nvPr/>
        </p:nvSpPr>
        <p:spPr>
          <a:xfrm rot="0" flipH="0" flipV="0">
            <a:off x="3886200" y="3143250"/>
            <a:ext cx="7734300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26" name=""/>
          <p:cNvSpPr/>
          <p:nvPr/>
        </p:nvSpPr>
        <p:spPr>
          <a:xfrm rot="0" flipH="0" flipV="0">
            <a:off x="3886200" y="3143250"/>
            <a:ext cx="7734300" cy="685800"/>
          </a:xfrm>
          <a:custGeom>
            <a:pathLst>
              <a:path w="812" h="72">
                <a:moveTo>
                  <a:pt x="4" y="72"/>
                </a:moveTo>
                <a:cubicBezTo>
                  <a:pt x="2" y="72"/>
                  <a:pt x="0" y="70"/>
                  <a:pt x="0" y="6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27" name="" descr="{&quot;isTemplate&quot;:true,&quot;type&quot;:&quot;text&quot;}"/>
          <p:cNvSpPr txBox="1"/>
          <p:nvPr/>
        </p:nvSpPr>
        <p:spPr>
          <a:xfrm rot="0" flipH="0" flipV="0">
            <a:off x="4038600" y="3305175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28" name="" descr="{&quot;isTemplate&quot;:true,&quot;type&quot;:&quot;text&quot;}"/>
          <p:cNvSpPr txBox="1"/>
          <p:nvPr/>
        </p:nvSpPr>
        <p:spPr>
          <a:xfrm rot="0" flipH="0" flipV="0">
            <a:off x="4038600" y="3581400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AUTOMATED</a:t>
            </a:r>
            <a:endParaRPr/>
          </a:p>
        </p:txBody>
      </p:sp>
      <p:sp>
        <p:nvSpPr>
          <p:cNvPr id="1429" name="" descr="{&quot;isTemplate&quot;:true,&quot;type&quot;:&quot;text&quot;}"/>
          <p:cNvSpPr txBox="1"/>
          <p:nvPr/>
        </p:nvSpPr>
        <p:spPr>
          <a:xfrm rot="0" flipH="0" flipV="0">
            <a:off x="4724400" y="3276600"/>
            <a:ext cx="12573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哪段是系统内的？</a:t>
            </a:r>
            <a:endParaRPr/>
          </a:p>
        </p:txBody>
      </p:sp>
      <p:sp>
        <p:nvSpPr>
          <p:cNvPr id="1430" name="" descr="{&quot;isTemplate&quot;:true,&quot;type&quot;:&quot;text&quot;}"/>
          <p:cNvSpPr txBox="1"/>
          <p:nvPr/>
        </p:nvSpPr>
        <p:spPr>
          <a:xfrm rot="0" flipH="0" flipV="0">
            <a:off x="6115050" y="3257550"/>
            <a:ext cx="4229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区分哪些活动由应用自动完成、哪些仍靠线下。线下占比高的能力，自动化价值最大。</a:t>
            </a:r>
            <a:endParaRPr/>
          </a:p>
        </p:txBody>
      </p:sp>
      <p:sp>
        <p:nvSpPr>
          <p:cNvPr id="1431" name=""/>
          <p:cNvSpPr/>
          <p:nvPr/>
        </p:nvSpPr>
        <p:spPr>
          <a:xfrm rot="0" flipH="0" flipV="0">
            <a:off x="10477500" y="3343275"/>
            <a:ext cx="9525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432" name="" descr="{&quot;isTemplate&quot;:true,&quot;type&quot;:&quot;text&quot;}"/>
          <p:cNvSpPr txBox="1"/>
          <p:nvPr/>
        </p:nvSpPr>
        <p:spPr>
          <a:xfrm rot="0" flipH="0" flipV="0">
            <a:off x="10515600" y="3400425"/>
            <a:ext cx="8763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找自动化点</a:t>
            </a:r>
            <a:endParaRPr/>
          </a:p>
        </p:txBody>
      </p:sp>
      <p:sp>
        <p:nvSpPr>
          <p:cNvPr id="1433" name=""/>
          <p:cNvSpPr/>
          <p:nvPr/>
        </p:nvSpPr>
        <p:spPr>
          <a:xfrm rot="0" flipH="0" flipV="0">
            <a:off x="3886200" y="3914775"/>
            <a:ext cx="7734300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34" name=""/>
          <p:cNvSpPr/>
          <p:nvPr/>
        </p:nvSpPr>
        <p:spPr>
          <a:xfrm rot="0" flipH="0" flipV="0">
            <a:off x="3886200" y="3914775"/>
            <a:ext cx="7734300" cy="676275"/>
          </a:xfrm>
          <a:custGeom>
            <a:pathLst>
              <a:path w="812" h="71">
                <a:moveTo>
                  <a:pt x="4" y="71"/>
                </a:moveTo>
                <a:cubicBezTo>
                  <a:pt x="2" y="71"/>
                  <a:pt x="0" y="69"/>
                  <a:pt x="0" y="6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4038600" y="4067175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436" name="" descr="{&quot;isTemplate&quot;:true,&quot;type&quot;:&quot;text&quot;}"/>
          <p:cNvSpPr txBox="1"/>
          <p:nvPr/>
        </p:nvSpPr>
        <p:spPr>
          <a:xfrm rot="0" flipH="0" flipV="0">
            <a:off x="4038600" y="4343400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HEALTH</a:t>
            </a:r>
            <a:endParaRPr/>
          </a:p>
        </p:txBody>
      </p:sp>
      <p:sp>
        <p:nvSpPr>
          <p:cNvPr id="1437" name="" descr="{&quot;isTemplate&quot;:true,&quot;type&quot;:&quot;text&quot;}"/>
          <p:cNvSpPr txBox="1"/>
          <p:nvPr/>
        </p:nvSpPr>
        <p:spPr>
          <a:xfrm rot="0" flipH="0" flipV="0">
            <a:off x="4724400" y="4048125"/>
            <a:ext cx="12573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这个应用健康吗？</a:t>
            </a:r>
            <a:endParaRPr/>
          </a:p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6115050" y="4019550"/>
            <a:ext cx="4229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承载该能力的应用，技术健康度如何。差的应用承载核心能力，是最大的风险点。</a:t>
            </a:r>
            <a:endParaRPr/>
          </a:p>
        </p:txBody>
      </p:sp>
      <p:sp>
        <p:nvSpPr>
          <p:cNvPr id="1439" name=""/>
          <p:cNvSpPr/>
          <p:nvPr/>
        </p:nvSpPr>
        <p:spPr>
          <a:xfrm rot="0" flipH="0" flipV="0">
            <a:off x="10477500" y="4114800"/>
            <a:ext cx="9525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440" name="" descr="{&quot;isTemplate&quot;:true,&quot;type&quot;:&quot;text&quot;}"/>
          <p:cNvSpPr txBox="1"/>
          <p:nvPr/>
        </p:nvSpPr>
        <p:spPr>
          <a:xfrm rot="0" flipH="0" flipV="0">
            <a:off x="10515600" y="4171950"/>
            <a:ext cx="8763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风险识别</a:t>
            </a:r>
            <a:endParaRPr/>
          </a:p>
        </p:txBody>
      </p:sp>
      <p:sp>
        <p:nvSpPr>
          <p:cNvPr id="1441" name=""/>
          <p:cNvSpPr/>
          <p:nvPr/>
        </p:nvSpPr>
        <p:spPr>
          <a:xfrm rot="0" flipH="0" flipV="0">
            <a:off x="3886200" y="4676775"/>
            <a:ext cx="7734300" cy="904875"/>
          </a:xfrm>
          <a:prstGeom prst="roundRect">
            <a:avLst>
              <a:gd name="adj" fmla="val 4211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442" name=""/>
          <p:cNvSpPr/>
          <p:nvPr/>
        </p:nvSpPr>
        <p:spPr>
          <a:xfrm rot="0" flipH="0" flipV="0">
            <a:off x="3886200" y="4676775"/>
            <a:ext cx="7734300" cy="904875"/>
          </a:xfrm>
          <a:custGeom>
            <a:pathLst>
              <a:path w="812" h="95">
                <a:moveTo>
                  <a:pt x="4" y="95"/>
                </a:moveTo>
                <a:cubicBezTo>
                  <a:pt x="2" y="95"/>
                  <a:pt x="0" y="93"/>
                  <a:pt x="0" y="9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4038600" y="4772025"/>
            <a:ext cx="7391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映射产出：能力—应用映射表</a:t>
            </a:r>
            <a:endParaRPr/>
          </a:p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4038600" y="5000625"/>
            <a:ext cx="73914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一行一项能力，一列一个应用，交叉格填承载程度（主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协同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不承载）。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这张表是后面集成设计和四态决策的共同输入——填不出来，说明能力清单本身有问题。</a:t>
            </a:r>
            <a:endParaRPr/>
          </a:p>
        </p:txBody>
      </p:sp>
      <p:sp>
        <p:nvSpPr>
          <p:cNvPr id="144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09 / 30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style={{ width: 1280, height: 720, background: '#FFFFFF', padding: '24px 64px 0' }}&gt;&#10;    {/* A 区 */}&#10;    &lt;Box style={{ height: 96, flexDirection: 'column', justifyContent: 'flex-start' }}&gt;&#10;    &lt;Text style={{ fontSize: 32, fontWeight: 'bold', color: '#0F1423' }}&gt;&#10;      之内容：&lt;span style={{ color: '#FA4F24' }}&gt;应用全景清单与九类资产&lt;/span&gt;，先看清家底&#10;        &lt;/Text&gt;&#10;        &lt;Text style={{ fontSize: 20, color: '#8A8F99', marginTop: 8 }}&gt;&#10;     盘点做不扎实，后面所有决策都是猜的——尤其「僵尸系统」只有通过逐个盘点才会暴露&#10;        &lt;/Text&gt;&#10;  &lt;/Box&gt;&#10;  &lt;Box style={{ height: 1, background: '#E8E8E8' }} /&gt;&#10;&#10;    {/* B 区 */}&#10;    &lt;Box style={{ paddingTop: 24, paddingBottom: 14, height: 479, flexDirection: 'column', gap: 13 }}&gt;&#10;&#10;    {/* 九类资产 */}&#10;  &lt;Box style={{ flex: 1, flexDirection: 'column', gap: 9 }}&gt;&#10;      &lt;Text style={{ fontSize: 20, fontWeight: 'bold', color: '#0F1423' }}&gt;应用组合九类资产&lt;/Text&gt;&#10;       &lt;Box style={{ flexDirection: 'row', flexWrap: 'wrap', gap: 9, flex: 1 }}&gt;&#10;     {[&#10;      { n: 'A1', t: '核心交易类', d: '直接产生交易与资金流', c: '#FA4F24', tc: '#FFFFFF' },&#10;       { n: 'A2', t: '运营支撑类', d: '保障日常运营与作业', c: '#F8622F', tc: '#FFFFFF' },&#10;     { n: 'A3', t: '分析决策类', d: '报表、看板、数据分析', c: '#FBA15C', tc: '#3A2000' },&#10;        { n: 'A4', t: '协同集成类', d: '流程引擎、消息、门户', c: '#FDC69A', tc: '#3A2000' },&#10;{ n: 'A5', t: '基础技术类', d: '数据库、中间件、监控', c: '#D8DCE3', tc: '#3A4050' },&#10;            { n: 'A6', t: '公共服务类', d: '统一认证、权限、消息', c: '#D8DCE3', tc: '#3A4050' },&#10;    { n: 'A7', t: '遗留补丁类', d: '无人维护的部门自建系统', c: '#B8BDC7', tc: '#3A4050' },&#10;            { n: 'A8', t: '个人工具类', d: 'Excel 宏、本地脚本、外购小工具', c: '#B8BDC7', tc: '#3A4050' },&#10;            { n: 'A9', t: '外包托管类', d: '整体外包的业务系统', c: '#B8BDC7', tc: '#3A4050' },&#10;       ].map((it, i) =&gt; (&#10;       &lt;Box key={i} style={{ width: 373, background: it.c, borderRadius: 4, padding: '9px 14px', flexDirection: 'row', alignItems: 'center', gap: 12 }}&gt;&#10;          &lt;Text style={{ fontSize: 17, fontWeight: 'bold', color: it.tc, width: 28 }}&gt;{it.n}&lt;/Text&gt;&#10;       &lt;Box style={{ flex: 1 }}&gt;&#10;   &lt;Text style={{ fontSize: 15, fontWeight: 'bold', color: it.tc }}&gt;{it.t}&lt;/Text&gt;&#10;       &lt;Text style={{ fontSize: 11, color: it.tc, opacity: 0.82, marginTop: 3 }}&gt;{it.d}&lt;/Text&gt;&#10;          &lt;/Box&gt;&#10;     &lt;/Box&gt;&#10;            ))}&#10;      &lt;/Box&gt;&#10; &lt;/Box&gt;&#10;&#10;        {/* 盘点要点 */}&#10;        &lt;Box style={{ flex: 1, flexDirection: 'row', gap: 12 }}&gt;&#10;      {[&#10;      { t: 'A7/A8 是最容易漏的', d: '遗留补丁和个人工具往往不在 IT 资产清单里，但它们承载着真实业务。要盘进来，因为它们往往是真正的风险源。' },&#10;    { t: '六个必备盘点字段', d: '上线年份、用户数、技术栈、年维护成本、业务关键度、业务 Owner。缺任何一项，后续评估都会打回。' },&#10;            { t: '数据也要盘', d: '应用清单必须带出它的数据资产。僵尸系统最难退役的原因，通常是没人说得出里面存了什么数据。' },&#10;     ].map((it, i) =&gt; (&#10;            &lt;Box key={i} style={{ flex: 1, background: 'rgba(250,79,36,0.06)', borderRadius: 4, padding: '12px 16px', borderLeft: '4px solid #FA4F24', flexDirection: 'column', justifyContent: 'center' }}&gt;&#10;  &lt;Text style={{ fontSize: 16, fontWeight: 'bold', color: '#C43A17' }}&gt;{it.t}&lt;/Text&gt;&#10; &lt;Text style={{ fontSize: 13, color: '#3A4050', lineHeight: 1.5, marginTop: 6 }}&gt;{it.d}&lt;/Text&gt;&#10;     &lt;/Box&gt;&#10;            ))}&#10;        &lt;/Box&gt;&#10;    &lt;/Box&gt;&#10;&#10;    {/* C 区 */}&#10;    &lt;Box style={{ height: 60, flexDirection: 'row', alignItems: 'center', justifyContent: 'space-between' }}&gt;&#10;   &lt;Box style={{ flexDirection: 'row', alignItems: 'center', gap: 10 }}&gt;&#10;            &lt;Box style={{ width: 14, height: 14, background: '#FA4F24' }} /&gt;&#10;    &lt;Text style={{ fontSize: 14, color: '#8A8F99' }}&gt;硕磐机密 · AA应用架构咨询方法论&lt;/Text&gt;&#10;   &lt;/Box&gt;&#10;        &lt;Text style={{ fontSize: 14, color: '#8A8F99' }}&gt;10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应用全景清单与九类资产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，先看清家底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盘点做不扎实，后面所有决策都是猜的——尤其「僵尸系统」只有通过逐个盘点才会暴露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应用组合九类资产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695450"/>
            <a:ext cx="3552825" cy="695325"/>
          </a:xfrm>
          <a:prstGeom prst="roundRect">
            <a:avLst>
              <a:gd name="adj" fmla="val 5479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42950" y="1943100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A1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23950" y="1876425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核心交易类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248150" y="1695450"/>
            <a:ext cx="3552825" cy="695325"/>
          </a:xfrm>
          <a:prstGeom prst="roundRect">
            <a:avLst>
              <a:gd name="adj" fmla="val 5479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381500" y="1943100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A2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762500" y="1876425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运营支撑类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7886700" y="1695450"/>
            <a:ext cx="3552825" cy="695325"/>
          </a:xfrm>
          <a:prstGeom prst="roundRect">
            <a:avLst>
              <a:gd name="adj" fmla="val 5479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020050" y="1943100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2000"/>
                </a:solidFill>
                <a:latin typeface="Microsoft YaHei"/>
                <a:ea typeface="Microsoft YaHei"/>
              </a:rPr>
              <a:t>A3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401050" y="1876425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2000"/>
                </a:solidFill>
                <a:latin typeface="Microsoft YaHei"/>
                <a:ea typeface="Microsoft YaHei"/>
              </a:rPr>
              <a:t>分析决策类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2476500"/>
            <a:ext cx="3552825" cy="704850"/>
          </a:xfrm>
          <a:prstGeom prst="roundRect">
            <a:avLst>
              <a:gd name="adj" fmla="val 5405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42950" y="2733675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2000"/>
                </a:solidFill>
                <a:latin typeface="Microsoft YaHei"/>
                <a:ea typeface="Microsoft YaHei"/>
              </a:rPr>
              <a:t>A4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23950" y="266700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2000"/>
                </a:solidFill>
                <a:latin typeface="Microsoft YaHei"/>
                <a:ea typeface="Microsoft YaHei"/>
              </a:rPr>
              <a:t>协同集成类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248150" y="2476500"/>
            <a:ext cx="3552825" cy="704850"/>
          </a:xfrm>
          <a:prstGeom prst="roundRect">
            <a:avLst>
              <a:gd name="adj" fmla="val 5405"/>
            </a:avLst>
          </a:prstGeom>
          <a:solidFill>
            <a:srgbClr val="D8DCE3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381500" y="2733675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4050"/>
                </a:solidFill>
                <a:latin typeface="Microsoft YaHei"/>
                <a:ea typeface="Microsoft YaHei"/>
              </a:rPr>
              <a:t>A5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762500" y="266700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基础技术类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7886700" y="2476500"/>
            <a:ext cx="3552825" cy="704850"/>
          </a:xfrm>
          <a:prstGeom prst="roundRect">
            <a:avLst>
              <a:gd name="adj" fmla="val 5405"/>
            </a:avLst>
          </a:prstGeom>
          <a:solidFill>
            <a:srgbClr val="D8DCE3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20050" y="2733675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4050"/>
                </a:solidFill>
                <a:latin typeface="Microsoft YaHei"/>
                <a:ea typeface="Microsoft YaHei"/>
              </a:rPr>
              <a:t>A6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401050" y="266700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公共服务类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3267075"/>
            <a:ext cx="3552825" cy="695325"/>
          </a:xfrm>
          <a:prstGeom prst="roundRect">
            <a:avLst>
              <a:gd name="adj" fmla="val 5479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42950" y="3514725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4050"/>
                </a:solidFill>
                <a:latin typeface="Microsoft YaHei"/>
                <a:ea typeface="Microsoft YaHei"/>
              </a:rPr>
              <a:t>A7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23950" y="344805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遗留补丁类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248150" y="3267075"/>
            <a:ext cx="3552825" cy="695325"/>
          </a:xfrm>
          <a:prstGeom prst="roundRect">
            <a:avLst>
              <a:gd name="adj" fmla="val 5479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381500" y="3514725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4050"/>
                </a:solidFill>
                <a:latin typeface="Microsoft YaHei"/>
                <a:ea typeface="Microsoft YaHei"/>
              </a:rPr>
              <a:t>A8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762500" y="344805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个人工具类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7886700" y="3267075"/>
            <a:ext cx="3552825" cy="695325"/>
          </a:xfrm>
          <a:prstGeom prst="roundRect">
            <a:avLst>
              <a:gd name="adj" fmla="val 5479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020050" y="3514725"/>
            <a:ext cx="26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4050"/>
                </a:solidFill>
                <a:latin typeface="Microsoft YaHei"/>
                <a:ea typeface="Microsoft YaHei"/>
              </a:rPr>
              <a:t>A9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401050" y="3448050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外包托管类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47700" y="4086225"/>
            <a:ext cx="3581400" cy="1495425"/>
          </a:xfrm>
          <a:prstGeom prst="roundRect">
            <a:avLst>
              <a:gd name="adj" fmla="val 254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647700" y="4086225"/>
            <a:ext cx="3581400" cy="1495425"/>
          </a:xfrm>
          <a:custGeom>
            <a:pathLst>
              <a:path w="376" h="157">
                <a:moveTo>
                  <a:pt x="4" y="157"/>
                </a:moveTo>
                <a:cubicBezTo>
                  <a:pt x="2" y="157"/>
                  <a:pt x="0" y="155"/>
                  <a:pt x="0" y="1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00100" y="448627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A7/A8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是最容易漏的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0100" y="4733925"/>
            <a:ext cx="32385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遗留补丁和个人工具往往不在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资产清单里，但它们承载着真实业务。要盘进来，因为它们往往是真正的风险源。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343400" y="4086225"/>
            <a:ext cx="3581400" cy="1495425"/>
          </a:xfrm>
          <a:prstGeom prst="roundRect">
            <a:avLst>
              <a:gd name="adj" fmla="val 254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4343400" y="4086225"/>
            <a:ext cx="3581400" cy="1495425"/>
          </a:xfrm>
          <a:custGeom>
            <a:pathLst>
              <a:path w="376" h="157">
                <a:moveTo>
                  <a:pt x="4" y="157"/>
                </a:moveTo>
                <a:cubicBezTo>
                  <a:pt x="2" y="157"/>
                  <a:pt x="0" y="155"/>
                  <a:pt x="0" y="1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495800" y="448627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六个必备盘点字段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495800" y="4733925"/>
            <a:ext cx="32385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上线年份、用户数、技术栈、年维护成本、业务关键度、业务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。缺任何一项，后续评估都会打回。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039100" y="4086225"/>
            <a:ext cx="3581400" cy="1495425"/>
          </a:xfrm>
          <a:prstGeom prst="roundRect">
            <a:avLst>
              <a:gd name="adj" fmla="val 254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8039100" y="4086225"/>
            <a:ext cx="3581400" cy="1495425"/>
          </a:xfrm>
          <a:custGeom>
            <a:pathLst>
              <a:path w="376" h="157">
                <a:moveTo>
                  <a:pt x="4" y="157"/>
                </a:moveTo>
                <a:cubicBezTo>
                  <a:pt x="2" y="157"/>
                  <a:pt x="0" y="155"/>
                  <a:pt x="0" y="1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191500" y="448627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数据也要盘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191500" y="4733925"/>
            <a:ext cx="32385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应用清单必须带出它的数据资产。僵尸系统最难退役的原因，通常是没人说得出里面存了什么数据。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10 / 30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23950" y="2076450"/>
            <a:ext cx="2905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直接产生交易与资金流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762500" y="2076450"/>
            <a:ext cx="2905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保障日常运营与作业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401050" y="2076450"/>
            <a:ext cx="2905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2000">
                    <a:alpha val="82000"/>
                  </a:srgbClr>
                </a:solidFill>
                <a:latin typeface="Microsoft YaHei"/>
                <a:ea typeface="Microsoft YaHei"/>
              </a:rPr>
              <a:t>报表、看板、数据分析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23950" y="2867025"/>
            <a:ext cx="2905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2000">
                    <a:alpha val="82000"/>
                  </a:srgbClr>
                </a:solidFill>
                <a:latin typeface="Microsoft YaHei"/>
                <a:ea typeface="Microsoft YaHei"/>
              </a:rPr>
              <a:t>流程引擎、消息、门户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762500" y="2867025"/>
            <a:ext cx="2905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>
                    <a:alpha val="82000"/>
                  </a:srgbClr>
                </a:solidFill>
                <a:latin typeface="Microsoft YaHei"/>
                <a:ea typeface="Microsoft YaHei"/>
              </a:rPr>
              <a:t>数据库、中间件、监控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401050" y="2867025"/>
            <a:ext cx="2905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>
                    <a:alpha val="82000"/>
                  </a:srgbClr>
                </a:solidFill>
                <a:latin typeface="Microsoft YaHei"/>
                <a:ea typeface="Microsoft YaHei"/>
              </a:rPr>
              <a:t>统一认证、权限、消息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23950" y="3648075"/>
            <a:ext cx="2905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>
                    <a:alpha val="82000"/>
                  </a:srgbClr>
                </a:solidFill>
                <a:latin typeface="Microsoft YaHei"/>
                <a:ea typeface="Microsoft YaHei"/>
              </a:rPr>
              <a:t>无人维护的部门自建系统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762500" y="3648075"/>
            <a:ext cx="2905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>
                    <a:alpha val="82000"/>
                  </a:srgbClr>
                </a:solidFill>
                <a:latin typeface="Microsoft YaHei"/>
                <a:ea typeface="Microsoft YaHei"/>
              </a:rPr>
              <a:t xml:space="preserve">Excel </a:t>
            </a:r>
            <a:r>
              <a:rPr lang="zh-CN" sz="825">
                <a:solidFill>
                  <a:srgbClr val="3A4050">
                    <a:alpha val="82000"/>
                  </a:srgbClr>
                </a:solidFill>
                <a:latin typeface="Microsoft YaHei"/>
                <a:ea typeface="Microsoft YaHei"/>
              </a:rPr>
              <a:t>宏、本地脚本、外购小工具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401050" y="3648075"/>
            <a:ext cx="2905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>
                    <a:alpha val="82000"/>
                  </a:srgbClr>
                </a:solidFill>
                <a:latin typeface="Microsoft YaHei"/>
                <a:ea typeface="Microsoft YaHei"/>
              </a:rPr>
              <a:t>整体外包的业务系统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8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之模板：&lt;span style={{ color: '#FA4F24' }}&gt;应用卡片&lt;/span&gt;——字段即标准，填不出就是没想清楚&#10;        &lt;/Text&gt;&#10;        &lt;Text style={{ fontSize: 20, color: '#8A8F99', marginTop: 8 }}&gt;&#10;     一张卡片锁定一个应用的全部关键属性，是能力映射、组合评估、四态决策的共同底稿&#10;    &lt;/Text&gt;&#10;    &lt;/Box&gt;&#10;    &lt;Box style={{ height: 1, background: '#E8E8E8' }} /&gt;&#10;&#10;    {/* B 区 */}&#10;    &lt;Box style={{ paddingTop: 24, paddingBottom: 14, height: 479, flexDirection: 'row', gap: 22 }}&gt;&#10;&#10;        {/* 左 卡片样例 */}&#10;    &lt;Box style={{ width: 620, border: '1px solid #E8E8E8', borderRadius: 4, padding: '16px 22px', flexDirection: 'column' }}&gt;&#10;     &lt;Box style={{ flexDirection: 'row', justifyContent: 'space-between', alignItems: 'center', borderBottom: '2px solid #FA4F24', paddingBottom: 12 }}&gt;&#10;     &lt;Text style={{ fontSize: 20, fontWeight: 'bold', color: '#0F1423' }}&gt;应用卡片&lt;/Text&gt;&#10; &lt;Text style={{ fontSize: 14, color: '#8A8F99' }}&gt;示例：订单中心&lt;/Text&gt;&#10;      &lt;/Box&gt;&#10;      &lt;Box style={{ flexDirection: 'column', gap: 6, marginTop: 12, flex: 1 }}&gt;&#10;     {[&#10;     { k: '应用编号', v: 'AA-ORD-001', h: '全局唯一' },&#10;      { k: '应用名称', v: '订单中心', h: '业务命名，非技术名' },&#10;        { k: '承载能力', v: '接单能力（主）· 结算能力（主）· 排程能力（协同）', h: '必须挂到 BA 能力编号' },&#10;        { k: '业务 Owner', v: '销售运营部 王某', h: '唯一，非 IT 部门' },&#10;   { k: '资产分类', v: 'A1 核心交易类', h: '九类之一' },&#10;        { k: '技术栈', v: 'Java 8 / Oracle 11g / 自研框架', h: '含已停产项，需标注 EOL' },&#10;      { k: '技术健康度', v: 'B（主流栈 · 可维护 · 但 Oracle 已过保）', h: '四级评级之一' },&#10;            { k: '业务价值', v: 'A（直接产生交易与资金流）', h: '与能力重要度对齐' },&#10;    { k: '年维护成本', v: '约 480 万（含人力与许可）', h: '退役测算的依据' },&#10;     { k: '集成依赖', v: '被 6 个应用调用 · 依赖 4 个下游', h: '退役前必看' },&#10;        ].map((it, i) =&gt; (&#10;           &lt;Box key={i} style={{ flexDirection: 'row', alignItems: 'center', gap: 12, background: i % 2 === 0 ? '#F7F7F8' : '#FFFFFF', borderRadius: 3, padding: '6px 12px' }}&gt;&#10;     &lt;Text style={{ fontSize: 13, fontWeight: 'bold', color: '#0F1423', width: 92 }}&gt;{it.k}&lt;/Text&gt;&#10;         &lt;Text style={{ fontSize: 13, color: '#3A4050', flex: 1, lineHeight: 1.25 }}&gt;{it.v}&lt;/Text&gt;&#10;   &lt;Text style={{ fontSize: 10, color: '#B8BDC7', width: 132, textAlign: 'right', lineHeight: 1.25 }}&gt;{it.h}&lt;/Text&gt;&#10;      &lt;/Box&gt;&#10;   ))}&#10;      &lt;/Box&gt;&#10;        &lt;/Box&gt;&#10;&#10;        {/* 右 要求 */}&#10;        &lt;Box style={{ flex: 1, flexDirection: 'column', gap: 14 }}&gt;&#10;      &lt;Box style={{ background: '#F7F7F8', borderRadius: 4, padding: '14px 20px', borderLeft: '4px solid #FA4F24' }}&gt;&#10;       &lt;Text style={{ fontSize: 18, fontWeight: 'bold', color: '#0F1423' }}&gt;填写要求&lt;/Text&gt;&#10;    &lt;Text style={{ fontSize: 14, color: '#3A4050', lineHeight: 1.5, marginTop: 6 }}&gt;&#10;           ① 承载能力必须挂 BA 能力编号，不允许只写文字；&lt;br /&gt;&#10;              ② 业务 Owner 必须是业务部门的人，不能是 IT；&lt;br /&gt;&#10;            ③ 技术栈须标注 EOL（已停产）项；&lt;br /&gt;&#10; ④ 集成依赖双向填写——被谁调用、依赖谁，缺一不可。&#10;          &lt;/Text&gt;&#10;      &lt;/Box&gt;&#10;&lt;Box style={{ flex: 1, background: 'linear-gradient(160deg, #FA4F24 0%, #F87D2F 100%)', borderRadius: 4, padding: '18px 20px', flexDirection: 'column', justifyContent: 'center' }}&gt;&#10;     &lt;Text style={{ fontSize: 17, fontWeight: 'bold', color: '#FFFFFF' }}&gt;★ 模板的价值&lt;/Text&gt;&#10;   &lt;Text style={{ fontSize: 15, color: 'rgba(255,255,255,0.95)', lineHeight: 1.6, marginTop: 9 }}&gt;&#10;   卡片的用法是盘点时随身带着，逐系统问。&#10;    &lt;Text style={{ fontWeight: 'bold' }}&gt;填不出的字段就是接下来要去搞明白的地方&lt;/Text&gt;&#10;      ——尤其「集成依赖」和「年维护成本」这两栏，&#10;     它们直接决定后面退役的可行性。&#10;    &lt;/Text&gt;&#10;       &lt;/Box&gt;&#10;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&lt;Box style={{ width: 14, height: 14, background: '#FA4F24' }} /&gt;&#10;     &lt;Text style={{ fontSize: 14, color: '#8A8F99' }}&gt;硕磐机密 · AA应用架构咨询方法论&lt;/Text&gt;&#10;      &lt;/Box&gt;&#10;        &lt;Text style={{ fontSize: 14, color: '#8A8F99' }}&gt;11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应用卡片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——字段即标准，填不出就是没想清楚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一张卡片锁定一个应用的全部关键属性，是能力映射、组合评估、四态决策的共同底稿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609600" y="1381125"/>
            <a:ext cx="5905500" cy="4343400"/>
          </a:xfrm>
          <a:prstGeom prst="roundRect">
            <a:avLst>
              <a:gd name="adj" fmla="val 877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819150" y="1533525"/>
            <a:ext cx="5486400" cy="381000"/>
          </a:xfrm>
          <a:custGeom>
            <a:pathLst>
              <a:path w="576" h="40">
                <a:moveTo>
                  <a:pt x="0" y="38"/>
                </a:moveTo>
                <a:lnTo>
                  <a:pt x="576" y="38"/>
                </a:lnTo>
                <a:lnTo>
                  <a:pt x="576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19150" y="15335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应用卡片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372100" y="15716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示例：订单中心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819150" y="200977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33450" y="208597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应用编号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924050" y="206692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AA-ORD-001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933950" y="209550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全局唯一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19150" y="237172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33450" y="24479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应用名称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924050" y="24288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933950" y="245745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业务命名，非技术名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19150" y="273367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933450" y="280987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承载能力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924050" y="279082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接单能力（主）·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结算能力（主）·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排程能力（协同）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933950" y="281940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必须挂到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能力编号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819150" y="309562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33450" y="31718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业务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924050" y="31527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销售运营部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王某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933950" y="318135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唯一，非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部门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819150" y="345757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33450" y="353377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资产分类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924050" y="351472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A1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核心交易类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933950" y="354330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九类之一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819150" y="381952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33450" y="38957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技术栈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924050" y="38766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Java 8 / Oracle 11g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自研框架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933950" y="390525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含已停产项，需标注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EOL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19150" y="418147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33450" y="425767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技术健康度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924050" y="423862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B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（主流栈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可维护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但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Oracle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已过保）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933950" y="426720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四级评级之一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819150" y="454342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33450" y="46196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业务价值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924050" y="46005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A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（直接产生交易与资金流）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933950" y="462915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与能力重要度对齐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819150" y="490537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33450" y="498157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年维护成本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924050" y="496252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约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480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万（含人力与许可）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933950" y="499110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退役测算的依据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19150" y="5267325"/>
            <a:ext cx="548640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33450" y="53435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集成依赖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924050" y="53244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被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个应用调用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依赖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个下游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933950" y="5353050"/>
            <a:ext cx="12573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退役前必看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762750" y="1381125"/>
            <a:ext cx="4857750" cy="1495425"/>
          </a:xfrm>
          <a:prstGeom prst="roundRect">
            <a:avLst>
              <a:gd name="adj" fmla="val 25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6762750" y="1381125"/>
            <a:ext cx="4857750" cy="1495425"/>
          </a:xfrm>
          <a:custGeom>
            <a:pathLst>
              <a:path w="510" h="157">
                <a:moveTo>
                  <a:pt x="4" y="157"/>
                </a:moveTo>
                <a:cubicBezTo>
                  <a:pt x="2" y="157"/>
                  <a:pt x="0" y="155"/>
                  <a:pt x="0" y="1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953250" y="1514475"/>
            <a:ext cx="443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填写要求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953250" y="1781175"/>
            <a:ext cx="4438650" cy="962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承载能力必须挂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能力编号，不允许只写文字；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业务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必须是业务部门的人，不能是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技术栈须标注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EOL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（已停产）项；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集成依赖双向填写——被谁调用、依赖谁，缺一不可。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724650" y="3009900"/>
            <a:ext cx="4857750" cy="2571750"/>
          </a:xfrm>
          <a:prstGeom prst="roundRect">
            <a:avLst>
              <a:gd name="adj" fmla="val 148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915150" y="3743325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模板的价值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915150" y="4029075"/>
            <a:ext cx="4476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卡片的用法是盘点时随身带着，逐系统问。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填不出的字段就是接下来要去搞明白的地方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——尤其「集成依赖」和「年维护成本」这两栏，</a:t>
            </a:r>
            <a:r>
              <a:rPr lang="en-US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它们直接决定后面退役的可行性。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11 / 30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      &lt;Text style={{ fontSize: 300, fontWeight: 'bold', color: 'rgba(255,255,255,0.08)', lineHeight: 1.0 }}&gt;03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3&lt;/Text&gt;&#13;&#10; &lt;Box style={{ width: 72, height: 5, background: '#FA4F24', marginTop: 22 }} /&gt;&#13;&#10;        &lt;Text style={{ fontSize: 58, fontWeight: 'bold', color: '#FFFFFF', marginTop: 28, lineHeight: 1.15 }}&gt;集成架构&lt;/Text&gt;&#13;&#10;        &lt;Text style={{ fontSize: 17, color: 'rgba(255,255,255,0.62)', letterSpacing: 2, marginTop: 20 }}&gt;INTEGRATION ARCHITECTURE&lt;/Text&gt;&#13;&#10;   &lt;Text style={{ fontSize: 19, color: 'rgba(255,255,255,0.85)', marginTop: 26, lineHeight: 1.6 }}&gt;集成四问法、四种集成模式与接口标准&lt;/Text&gt;&#13;&#10;    &lt;/Box&gt;&#13;&#10;&#13;&#10;    {/* 右下页码 */}&#13;&#10;    &lt;Box style={{ position: 'absolute', right: 88, bottom: 64, flexDirection: 'row', alignItems: 'center', gap: 12 }}&gt;&#13;&#10;   &lt;Box style={{ width: 14, height: 14, background: '#FA4F24' }} /&gt;&#13;&#10;      &lt;Text style={{ fontSize: 14, color: 'rgba(255,255,255,0.5)' }}&gt;硕磐机密 · AA应用架构咨询方法论&lt;/Text&gt;&#13;&#10;  &lt;Text style={{ fontSize: 14, color: 'rgba(255,255,255,0.5)', marginLeft: 12 }}&gt;12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集成架构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INTEGRATION ARCHITECTURE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集成四问法、四种集成模式与接口标准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83820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629650" y="60864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12 / 30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 1280, height: 720, background: '#FFFFFF', padding: '24px 64px 0' }}&gt;&#10;    {/* A 区 */}&#10;  &lt;Box style={{ height: 96, flexDirection: 'column', justifyContent: 'flex-start' }}&gt;&#10;        &lt;Text style={{ fontSize: 32, fontWeight: 'bold', color: '#0F1423' }}&gt;&#10;            之方法：&lt;span style={{ color: '#FA4F24' }}&gt;集成四问法与四种集成模式&lt;/span&gt;&#10;      &lt;/Text&gt;&#10;     &lt;Text style={{ fontSize: 20, color: '#8A8F99', marginTop: 8 }}&gt;&#10;            集成是应用架构里最难做对的部分——大多数集成债不是设计出来的，是每一次「先临时对一下」累积出来的&#10;        &lt;/Text&gt;&#10;    &lt;/Box&gt;&#10;    &lt;Box style={{ height: 1, background: '#E8E8E8' }} /&gt;&#10;&#10;    {/* B 区 左四问 + 右四模式 */}&#10;    &lt;Box style={{ paddingTop: 24, paddingBottom: 14, height: 479, flexDirection: 'row', gap: 20 }}&gt;&#10;&#10;        {/* 左 45% 四问 */}&#10;        &lt;Box style={{ width: 560, flexDirection: 'column', gap: 10 }}&gt;&#10;    &lt;Text style={{ fontSize: 21, fontWeight: 'bold', color: '#0F1423' }}&gt;每条集成关系问四句话&lt;/Text&gt;&#10;            {[&#10;        { n: '01', t: '传的是什么？', d: '业务对象还是裸数据表。传对象（客户/订单）比传表字段更抗变更。' },&#10;     { n: '02', t: '谁拥有这份数据？', d: '源系统是唯一权威方，其余系统不得自行落库再改。' },&#10;   { n: '03', t: '同步还是异步？', d: '实时性要求决定方式。要求秒级响应用同步，可容忍延迟用异步。' },&#10;        { n: '04', t: '对方挂了怎么办？', d: '重试、降级、还是人工兜底。不设计失败路径的集成，上线后一定出事。' },&#10;     ].map((it, i) =&gt; (&#10;        &lt;Box key={i} style={{ flex: 1, flexDirection: 'row', alignItems: 'center', background: '#F7F7F8', borderRadius: 4, padding: '0 18px', gap: 14, borderLeft: '4px solid #FA4F24' }}&gt;&#10;   &lt;Text style={{ fontSize: 24, fontWeight: 'bold', color: '#FA4F24', width: 34 }}&gt;{it.n}&lt;/Text&gt;&#10;      &lt;Box style={{ flex: 1 }}&gt;&#10;      &lt;Text style={{ fontSize: 17, fontWeight: 'bold', color: '#0F1423' }}&gt;{it.t}&lt;/Text&gt;&#10;  &lt;Text style={{ fontSize: 13, color: '#3A4050', marginTop: 4, lineHeight: 1.4 }}&gt;{it.d}&lt;/Text&gt;&#10;      &lt;/Box&gt;&#10;     &lt;/Box&gt;&#10;     ))}&#10;     &lt;Box style={{ height: 82, background: 'rgba(250,79,36,0.06)', borderRadius: 4, padding: '12px 18px', borderLeft: '4px solid #FA4F24', flexDirection: 'column', justifyContent: 'center' }}&gt;&#10;   &lt;Text style={{ fontSize: 16, fontWeight: 'bold', color: '#C43A17' }}&gt;★ 第四问最容易被跳过&lt;/Text&gt;&#10;       &lt;Text style={{ fontSize: 14, color: '#3A4050', lineHeight: 1.5, marginTop: 5 }}&gt;&#10;  集成设计的质量，八成体现在失败路径上。源系统不可用时消费方怎么办、数据延迟怎么办、&#10;   重复消费怎么办——这三个问题答不出来，集成就只是「能跑通而已」。&#10;     &lt;/Text&gt;&#10;   &lt;/Box&gt;&#10;        &lt;/Box&gt;&#10;&#10;        {/* 右 55% 四种模式 */}&#10;   &lt;Box style={{ flex: 1, flexDirection: 'column', gap: 10 }}&gt;&#10;   &lt;Text style={{ fontSize: 21, fontWeight: 'bold', color: '#0F1423' }}&gt;四种集成模式与适用场景&lt;/Text&gt;&#10;            {[&#10;   { m: '文件传输', en: 'FILE', d: '定时批量交换，耦合最低，适合跨组织、跨厂商', bad: '时效性差，格式易腐化', c: '#FDC69A', tc: '#3A2000' },&#10;        { m: '接口调用', en: 'API', d: '同步请求响应，实时性最好，适合核心交易链路', bad: '调用链过长时雪崩风险大', c: '#F8622F', tc: '#FFFFFF' },&#10;  { m: '消息订阅', en: 'MESSAGE', d: '异步解耦，双方只约定消息格式', bad: '排查困难，需强化监控', c: '#FBA15C', tc: '#3A2000' },&#10;            { m: '数据服务', en: 'DATA API', d: '统一数据出口，消费方不直连源库', bad: '需治理数据标准，否则服务即垃圾', c: '#FA4F24', tc: '#FFFFFF' },&#10;    ].map((it, i) =&gt; (&#10;                &lt;Box key={i} style={{ flex: 1, background: it.c, borderRadius: 4, padding: '9px 16px', flexDirection: 'row', alignItems: 'center', gap: 12 }}&gt;&#10;   &lt;Box style={{ width: 62 }}&gt;&#10;       &lt;Text style={{ fontSize: 17, fontWeight: 'bold', color: it.tc }}&gt;{it.m}&lt;/Text&gt;&#10;      &lt;Text style={{ fontSize: 8, color: it.tc, opacity: 0.8 }}&gt;{it.en}&lt;/Text&gt;&#10;     &lt;/Box&gt;&#10;    &lt;Box style={{ flex: 1 }}&gt;&#10;      &lt;Text style={{ fontSize: 13, color: it.tc, lineHeight: 1.35 }}&gt;{it.d}&lt;/Text&gt;&#10;      &lt;Text style={{ fontSize: 11, color: it.tc, opacity: 0.8, marginTop: 3 }}&gt;代价：{it.bad}&lt;/Text&gt;&#10;   &lt;/Box&gt;&#10;        &lt;/Box&gt;&#10;      ))}&#10;   &lt;Box style={{ height: 76, background: 'linear-gradient(160deg, #FA4F24 0%, #F87D2F 100%)', borderRadius: 4, padding: '11px 16px', flexDirection: 'column', justifyContent: 'center' }}&gt;&#10;       &lt;Text style={{ fontSize: 16, fontWeight: 'bold', color: '#FFFFFF' }}&gt;选择原则&lt;/Text&gt;&#10;       &lt;Text style={{ fontSize: 14, color: 'rgba(255,255,255,0.95)', lineHeight: 1.5, marginTop: 5 }}&gt;&#10;     实时性要求越高，越靠同步；耦合度要求越低，越靠异步；&#10;         跨组织边界一律走文件或消息，不走实时接口。&#10;       &lt;/Text&gt;&#10;      &lt;/Box&gt;&#10;     &lt;/Box&gt;&#10;    &lt;/Box&gt;&#10;&#10;    {/* C 区 */}&#10;    &lt;Box style={{ height: 60, flexDirection: 'row', alignItems: 'center', justifyContent: 'space-between' }}&gt;&#10;    &lt;Box style={{ flexDirection: 'row', alignItems: 'center', gap: 10 }}&gt;&#10;            &lt;Box style={{ width: 14, height: 14, background: '#FA4F24' }} /&gt;&#10;      &lt;Text style={{ fontSize: 14, color: '#8A8F99' }}&gt;硕磐机密 · AA应用架构咨询方法论&lt;/Text&gt;&#10;   &lt;/Box&gt;&#10;        &lt;Text style={{ fontSize: 14, color: '#8A8F99' }}&gt;1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集成四问法与四种集成模式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集成是应用架构里最难做对的部分——大多数集成债不是设计出来的，是每一次「先临时对一下」累积出来的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5334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每条集成关系问四句话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47700" y="1724025"/>
            <a:ext cx="5334000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647700" y="1724025"/>
            <a:ext cx="5334000" cy="676275"/>
          </a:xfrm>
          <a:custGeom>
            <a:pathLst>
              <a:path w="560" h="71">
                <a:moveTo>
                  <a:pt x="4" y="71"/>
                </a:moveTo>
                <a:cubicBezTo>
                  <a:pt x="2" y="71"/>
                  <a:pt x="0" y="69"/>
                  <a:pt x="0" y="6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19150" y="1924050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276350" y="1838325"/>
            <a:ext cx="4495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传的是什么？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276350" y="207645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业务对象还是裸数据表。传对象（客户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订单）比传表字段更抗变更。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47700" y="2495550"/>
            <a:ext cx="5334000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647700" y="2495550"/>
            <a:ext cx="5334000" cy="676275"/>
          </a:xfrm>
          <a:custGeom>
            <a:pathLst>
              <a:path w="560" h="71">
                <a:moveTo>
                  <a:pt x="4" y="71"/>
                </a:moveTo>
                <a:cubicBezTo>
                  <a:pt x="2" y="71"/>
                  <a:pt x="0" y="69"/>
                  <a:pt x="0" y="6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19150" y="2695575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276350" y="2609850"/>
            <a:ext cx="4495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谁拥有这份数据？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276350" y="28479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源系统是唯一权威方，其余系统不得自行落库再改。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47700" y="3267075"/>
            <a:ext cx="5334000" cy="66675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47700" y="3267075"/>
            <a:ext cx="5334000" cy="666750"/>
          </a:xfrm>
          <a:custGeom>
            <a:pathLst>
              <a:path w="560" h="70">
                <a:moveTo>
                  <a:pt x="4" y="70"/>
                </a:move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19150" y="3467100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276350" y="3381375"/>
            <a:ext cx="4495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同步还是异步？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276350" y="361950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实时性要求决定方式。要求秒级响应用同步，可容忍延迟用异步。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47700" y="4029075"/>
            <a:ext cx="5334000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647700" y="4029075"/>
            <a:ext cx="5334000" cy="676275"/>
          </a:xfrm>
          <a:custGeom>
            <a:pathLst>
              <a:path w="560" h="71">
                <a:moveTo>
                  <a:pt x="4" y="71"/>
                </a:moveTo>
                <a:cubicBezTo>
                  <a:pt x="2" y="71"/>
                  <a:pt x="0" y="69"/>
                  <a:pt x="0" y="6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19150" y="4229100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276350" y="4143375"/>
            <a:ext cx="4495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对方挂了怎么办？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276350" y="438150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重试、降级、还是人工兜底。不设计失败路径的集成，上线后一定出事。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47700" y="4800600"/>
            <a:ext cx="5334000" cy="781050"/>
          </a:xfrm>
          <a:prstGeom prst="roundRect">
            <a:avLst>
              <a:gd name="adj" fmla="val 4878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47700" y="4800600"/>
            <a:ext cx="5334000" cy="781050"/>
          </a:xfrm>
          <a:custGeom>
            <a:pathLst>
              <a:path w="560" h="82">
                <a:moveTo>
                  <a:pt x="4" y="82"/>
                </a:moveTo>
                <a:cubicBezTo>
                  <a:pt x="2" y="82"/>
                  <a:pt x="0" y="80"/>
                  <a:pt x="0" y="7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9150" y="48291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第四问最容易被跳过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19150" y="5067300"/>
            <a:ext cx="4953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集成设计的质量，八成体现在失败路径上。源系统不可用时消费方怎么办、数据延迟怎么办、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重复消费怎么办——这三个问题答不出来，集成就只是「能跑通而已」。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134100" y="1381125"/>
            <a:ext cx="5448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四种集成模式与适用场景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134100" y="1724025"/>
            <a:ext cx="5448300" cy="685800"/>
          </a:xfrm>
          <a:prstGeom prst="roundRect">
            <a:avLst>
              <a:gd name="adj" fmla="val 5556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286500" y="1828800"/>
            <a:ext cx="5905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文件传输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991350" y="1885950"/>
            <a:ext cx="44386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定时批量交换，耦合最低，适合跨组织、跨厂商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134100" y="2505075"/>
            <a:ext cx="5448300" cy="695325"/>
          </a:xfrm>
          <a:prstGeom prst="roundRect">
            <a:avLst>
              <a:gd name="adj" fmla="val 5479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286500" y="2609850"/>
            <a:ext cx="5905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接口调用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991350" y="2667000"/>
            <a:ext cx="44386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同步请求响应，实时性最好，适合核心交易链路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134100" y="3295650"/>
            <a:ext cx="5448300" cy="685800"/>
          </a:xfrm>
          <a:prstGeom prst="roundRect">
            <a:avLst>
              <a:gd name="adj" fmla="val 5556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286500" y="3400425"/>
            <a:ext cx="5905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消息订阅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991350" y="3457575"/>
            <a:ext cx="44386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异步解耦，双方只约定消息格式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134100" y="4076700"/>
            <a:ext cx="5448300" cy="685800"/>
          </a:xfrm>
          <a:prstGeom prst="roundRect">
            <a:avLst>
              <a:gd name="adj" fmla="val 555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286500" y="4181475"/>
            <a:ext cx="5905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数据服务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991350" y="4238625"/>
            <a:ext cx="44386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统一数据出口，消费方不直连源库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134100" y="4857750"/>
            <a:ext cx="5448300" cy="723900"/>
          </a:xfrm>
          <a:prstGeom prst="roundRect">
            <a:avLst>
              <a:gd name="adj" fmla="val 5263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286500" y="4857750"/>
            <a:ext cx="514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选择原则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286500" y="5095875"/>
            <a:ext cx="5143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实时性要求越高，越靠同步；耦合度要求越低，越靠异步；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跨组织边界一律走文件或消息，不走实时接口。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13 / 30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286500" y="2219325"/>
            <a:ext cx="5905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3A2000">
                    <a:alpha val="80000"/>
                  </a:srgbClr>
                </a:solidFill>
                <a:latin typeface="Microsoft YaHei"/>
                <a:ea typeface="Microsoft YaHei"/>
              </a:rPr>
              <a:t>FILE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991350" y="2124075"/>
            <a:ext cx="443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2000">
                    <a:alpha val="80000"/>
                  </a:srgbClr>
                </a:solidFill>
                <a:latin typeface="Microsoft YaHei"/>
                <a:ea typeface="Microsoft YaHei"/>
              </a:rPr>
              <a:t>代价：</a:t>
            </a:r>
            <a:r>
              <a:rPr lang="zh-CN" sz="825">
                <a:solidFill>
                  <a:srgbClr val="3A2000">
                    <a:alpha val="80000"/>
                  </a:srgbClr>
                </a:solidFill>
                <a:latin typeface="Microsoft YaHei"/>
                <a:ea typeface="Microsoft YaHei"/>
              </a:rPr>
              <a:t>时效性差，格式易腐化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286500" y="3000375"/>
            <a:ext cx="5905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API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991350" y="2905125"/>
            <a:ext cx="443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代价：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调用链过长时雪崩风险大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286500" y="3790950"/>
            <a:ext cx="5905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3A2000">
                    <a:alpha val="80000"/>
                  </a:srgbClr>
                </a:solidFill>
                <a:latin typeface="Microsoft YaHei"/>
                <a:ea typeface="Microsoft YaHei"/>
              </a:rPr>
              <a:t>MESSAGE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991350" y="3695700"/>
            <a:ext cx="443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2000">
                    <a:alpha val="80000"/>
                  </a:srgbClr>
                </a:solidFill>
                <a:latin typeface="Microsoft YaHei"/>
                <a:ea typeface="Microsoft YaHei"/>
              </a:rPr>
              <a:t>代价：</a:t>
            </a:r>
            <a:r>
              <a:rPr lang="zh-CN" sz="825">
                <a:solidFill>
                  <a:srgbClr val="3A2000">
                    <a:alpha val="80000"/>
                  </a:srgbClr>
                </a:solidFill>
                <a:latin typeface="Microsoft YaHei"/>
                <a:ea typeface="Microsoft YaHei"/>
              </a:rPr>
              <a:t>排查困难，需强化监控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286500" y="4572000"/>
            <a:ext cx="5905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DATA API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991350" y="4476750"/>
            <a:ext cx="443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代价：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需治理数据标准，否则服务即垃圾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10" name="" descr="&lt;Slide style={{ width: 1280, height: 720, background: '#FFFFFF', padding: '24px 64px 0' }}&gt;&#13;&#10;    {/* A 区 */}&#13;&#10;    &lt;Box style={{ height: 96, flexDirection: 'column', justifyContent: 'flex-start' }}&gt;&#13;&#10;        &lt;Text style={{ fontSize: 32, fontWeight: 'bold', color: '#0F1423' }}&gt;&#13;&#10;            之内容：&lt;span style={{ color: '#FA4F24' }}&gt;集成清单、集成总线与接口标准&lt;/span&gt;&#13;&#10;        &lt;/Text&gt;&#13;&#10;        &lt;Text style={{ fontSize: 20, color: '#8A8F99', marginTop: 8 }}&gt;&#13;&#10;     清单解决「有哪些关系」，总线解决「怎么连」，标准解决「以后怎么加」——三件事不能混&#13;&#10;        &lt;/Text&gt;&#13;&#10;    &lt;/Box&gt;&#13;&#10;    &lt;Box style={{ height: 1, background: '#E8E8E8' }} /&gt;&#13;&#10;&#13;&#10;    {/* B 区 */}&#13;&#10;    &lt;Box style={{ paddingTop: 24, paddingBottom: 14, height: 479, flexDirection: 'row', gap: 22 }}&gt;&#13;&#10;&#13;&#10;   {/* 左 集成链 */}&#13;&#10;        &lt;Box style={{ width: 640, flexDirection: 'column', gap: 10 }}&gt;&#13;&#10;     &lt;Text style={{ fontSize: 20, fontWeight: 'bold', color: '#0F1423', marginBottom: 2 }}&gt;标准集成链路&lt;/Text&gt;&#13;&#10;    {[&#13;&#10;   { s: '消费方', t: '订单中心 / 履约协同 / 经营分析', d: '三个消费方不各自连源库', c: '#0F1423', tc: '#FFFFFF' },&#13;&#10;     { s: '接入层', t: 'API Gateway / 事件总线 / 数据服务网关', d: '统一入口，负责鉴权限流与协议转换', c: '#FA4F24', tc: '#FFFFFF' },&#13;&#10;     { s: '提供方', t: '主数据 / 交易 / 结算域应用', d: '唯一权威方，对外只暴露契约不暴露库表', c: '#FBA15C', tc: '#3A2000' },&#13;&#10;  ].map((it, i) =&gt; (&#13;&#10;          &lt;Box key={i} style={{ flex: 1, flexDirection: 'row', alignItems: 'center', background: it.c, borderRadius: 4, padding: '0 20px', gap: 16 }}&gt;&#13;&#10;          &lt;Text style={{ fontSize: 16, fontWeight: 'bold', color: it.tc, width: 72 }}&gt;{it.s}&lt;/Text&gt;&#13;&#10;   &lt;Box style={{ flex: 1 }}&gt;&#13;&#10;        &lt;Text style={{ fontSize: 17, fontWeight: 'bold', color: it.tc }}&gt;{it.t}&lt;/Text&gt;&#13;&#10;      &lt;Text style={{ fontSize: 12, color: it.tc, opacity: 0.85, marginTop: 4 }}&gt;{it.d}&lt;/Text&gt;&#13;&#10;       &lt;/Box&gt;&#13;&#10;       {i &lt; 2 &amp;&amp; &lt;Text style={{ fontSize: 17, color: it.tc, opacity: 0.8 }}&gt;↓&lt;/Text&gt;}&#13;&#10;     &lt;/Box&gt;&#13;&#10;            ))}&#13;&#10;     &lt;Box style={{ height: 112, background: '#F7F7F8', borderRadius: 4, padding: '11px 18px', borderLeft: '4px solid #FA4F24', flexDirection: 'column', justifyContent: 'center' }}&gt;&#13;&#10;     &lt;Text style={{ fontSize: 16, fontWeight: 'bold', color: '#C43A17' }}&gt;★ 为什么必须有接入层&lt;/Text&gt;&#13;&#10;   &lt;Text style={{ fontSize: 14, color: '#3A4050', lineHeight: 1.55, marginTop: 4 }}&gt;&#13;&#10;  没有接入层，「三个系统要一份数据」就会变成「源库开三个只读账号」。&#13;&#10;      后果是：源系统任何一次表结构变更都会打爆三个消费方，而且没人敢动那张表。&#13;&#10;      接入层把这种耦合从点对点变成星型，是应用架构里性价比最高的一次投入。&#13;&#10;      &lt;/Text&gt;&#13;&#10;     &lt;/Box&gt;&#13;&#10;   &lt;/Box&gt;&#13;&#10;&#13;&#10;   {/* 右 三条标准 */}&#13;&#10;        &lt;Box style={{ flex: 1, flexDirection: 'column', gap: 12 }}&gt;&#13;&#10;            &lt;Text style={{ fontSize: 20, fontWeight: 'bold', color: '#0F1423' }}&gt;接口标准三要素&lt;/Text&gt;&#13;&#10;            {[&#13;&#10;  { n: '01', t: '契约先行', d: '接口先定义业务对象与字段语义，再定义技术协议。顺序反了就会退化成「传一堆不确定含义的字段」。', k: '语义先于协议' },&#13;&#10;       { n: '02', t: '版本可演进', d: '不兼容变更必须升版本，老接口保留过渡期。直接改字段是最常见的集成事故源。', k: '不删老接口' },&#13;&#10;       { n: '03', t: '可观测', d: '每次调用留痕：谁在什么时候取了什么、耗时多少、是否成功。没有日志的集成，出问题只能靠猜。', k: '调用可追溯' },&#13;&#10;      ].map((it, i) =&gt; (&#13;&#10;      &lt;Box key={i} style={{ flex: 1, flexDirection: 'row', alignItems: 'center', background: '#F7F7F8', borderRadius: 4, padding: '0 16px', gap: 12, borderLeft: '4px solid #FA4F24' }}&gt;&#13;&#10;     &lt;Text style={{ fontSize: 24, fontWeight: 'bold', color: '#FA4F24', width: 34 }}&gt;{it.n}&lt;/Text&gt;&#13;&#10;     &lt;Box style={{ flex: 1 }}&gt;&#13;&#10;     &lt;Text style={{ fontSize: 17, fontWeight: 'bold', color: '#0F1423' }}&gt;{it.t}&lt;/Text&gt;&#13;&#10;    &lt;Text style={{ fontSize: 13, color: '#3A4050', marginTop: 4, lineHeight: 1.4 }}&gt;{it.d}&lt;/Text&gt;&#13;&#10;         &lt;/Box&gt;&#13;&#10;   &lt;Box style={{ width: 90, background: 'rgba(250,79,36,0.1)', borderRadius: 3, padding: '6px 4px' }}&gt;&#13;&#10;    &lt;Text style={{ fontSize: 11, color: '#C43A17', textAlign: 'center', lineHeight: 1.3 }}&gt;{it.k}&lt;/Text&gt;&#13;&#10;       &lt;/Box&gt;&#13;&#10;            &lt;/Box&gt;&#13;&#10;       ))}&#13;&#10;   &lt;Box style={{ height: 96, background: 'rgba(250,79,36,0.06)', borderRadius: 4, padding: '12px 16px', borderLeft: '4px solid #F87D2F', flexDirection: 'column', justifyContent: 'center' }}&gt;&#13;&#10;     &lt;Text style={{ fontSize: 16, fontWeight: 'bold', color: '#C43A17' }}&gt;一条反模式&lt;/Text&gt;&#13;&#10;       &lt;Text style={{ fontSize: 14, color: '#3A4050', lineHeight: 1.5, marginTop: 5 }}&gt;&#13;&#10;        「先临时对一下，以后再改接口」——这个「以后」通常不会来。&#13;&#10;     临时直连会变成永久依赖，而因为没有契约，两边都不知道对方还能不能改。&#13;&#10;     &lt;/Text&gt;&#13;&#10;        &lt;/Box&gt;&#13;&#10;        &lt;/Box&gt;&#13;&#10;    &lt;/Box&gt;&#13;&#10;&#13;&#10;    {/* C 区 */}&#13;&#10;    &lt;Box style={{ height: 60, flexDirection: 'row', alignItems: 'center', justifyContent: 'space-between' }}&gt;&#13;&#10;        &lt;Box style={{ flexDirection: 'row', alignItems: 'center', gap: 10 }}&gt;&#13;&#10;     &lt;Box style={{ width: 14, height: 14, background: '#FA4F24' }} /&gt;&#13;&#10;        &lt;Text style={{ fontSize: 14, color: '#8A8F99' }}&gt;硕磐机密 · AA应用架构咨询方法论&lt;/Text&gt;&#13;&#10;        &lt;/Box&gt;&#13;&#10;        &lt;Text style={{ fontSize: 14, color: '#8A8F99' }}&gt;14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集成清单、集成总线与接口标准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清单解决「有哪些关系」，总线解决「怎么连」，标准解决「以后怎么加」——三件事不能混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609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标准集成链路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09600" y="1724025"/>
            <a:ext cx="6096000" cy="838200"/>
          </a:xfrm>
          <a:prstGeom prst="roundRect">
            <a:avLst>
              <a:gd name="adj" fmla="val 454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00100" y="2047875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消费方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638300" y="1952625"/>
            <a:ext cx="4638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订单中心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履约协同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经营分析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2657475"/>
            <a:ext cx="6096000" cy="828675"/>
          </a:xfrm>
          <a:prstGeom prst="roundRect">
            <a:avLst>
              <a:gd name="adj" fmla="val 459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00100" y="2981325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638300" y="2886075"/>
            <a:ext cx="4638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API Gateway /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事件总线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数据服务网关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3581400"/>
            <a:ext cx="6096000" cy="838200"/>
          </a:xfrm>
          <a:prstGeom prst="roundRect">
            <a:avLst>
              <a:gd name="adj" fmla="val 4545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00100" y="3905250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A2000"/>
                </a:solidFill>
                <a:latin typeface="Microsoft YaHei"/>
                <a:ea typeface="Microsoft YaHei"/>
              </a:rPr>
              <a:t>提供方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638300" y="381000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主数据</a:t>
            </a:r>
            <a:r>
              <a:rPr lang="en-US" sz="1275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交易</a:t>
            </a:r>
            <a:r>
              <a:rPr lang="en-US" sz="1275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结算域应用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47700" y="4514850"/>
            <a:ext cx="6096000" cy="1066800"/>
          </a:xfrm>
          <a:prstGeom prst="roundRect">
            <a:avLst>
              <a:gd name="adj" fmla="val 357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647700" y="4514850"/>
            <a:ext cx="6096000" cy="1066800"/>
          </a:xfrm>
          <a:custGeom>
            <a:pathLst>
              <a:path w="640" h="112">
                <a:moveTo>
                  <a:pt x="4" y="112"/>
                </a:moveTo>
                <a:cubicBezTo>
                  <a:pt x="2" y="112"/>
                  <a:pt x="0" y="110"/>
                  <a:pt x="0" y="10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19150" y="4562475"/>
            <a:ext cx="571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为什么必须有接入层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19150" y="4791075"/>
            <a:ext cx="57150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没有接入层，「三个系统要一份数据」就会变成「源库开三个只读账号」。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后果是：源系统任何一次表结构变更都会打爆三个消费方，而且没人敢动那张表。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接入层把这种耦合从点对点变成星型，是应用架构里性价比最高的一次投入。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915150" y="1381125"/>
            <a:ext cx="466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接口标准三要素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953250" y="1724025"/>
            <a:ext cx="466725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6953250" y="1724025"/>
            <a:ext cx="4667250" cy="866775"/>
          </a:xfrm>
          <a:custGeom>
            <a:pathLst>
              <a:path w="490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105650" y="2019300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543800" y="182880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契约先行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543800" y="2066925"/>
            <a:ext cx="29146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接口先定义业务对象与字段语义，再定义技术协议。顺序反了就会退化成「传一堆不确定含义的字段」。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10572750" y="2019300"/>
            <a:ext cx="85725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610850" y="2076450"/>
            <a:ext cx="7810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语义先于协议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953250" y="2705100"/>
            <a:ext cx="466725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953250" y="2705100"/>
            <a:ext cx="4667250" cy="866775"/>
          </a:xfrm>
          <a:custGeom>
            <a:pathLst>
              <a:path w="490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105650" y="3000375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543800" y="2809875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版本可演进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543800" y="3048000"/>
            <a:ext cx="29146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不兼容变更必须升版本，老接口保留过渡期。直接改字段是最常见的集成事故源。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10572750" y="3000375"/>
            <a:ext cx="85725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610850" y="3057525"/>
            <a:ext cx="7810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不删老接口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953250" y="3686175"/>
            <a:ext cx="466725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6953250" y="3686175"/>
            <a:ext cx="4667250" cy="866775"/>
          </a:xfrm>
          <a:custGeom>
            <a:pathLst>
              <a:path w="490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105650" y="3981450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543800" y="379095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可观测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543800" y="4029075"/>
            <a:ext cx="29146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每次调用留痕：谁在什么时候取了什么、耗时多少、是否成功。没有日志的集成，出问题只能靠猜。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10572750" y="3981450"/>
            <a:ext cx="85725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0610850" y="4038600"/>
            <a:ext cx="7810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调用可追溯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953250" y="4667250"/>
            <a:ext cx="4667250" cy="914400"/>
          </a:xfrm>
          <a:prstGeom prst="roundRect">
            <a:avLst>
              <a:gd name="adj" fmla="val 4167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953250" y="4667250"/>
            <a:ext cx="4667250" cy="914400"/>
          </a:xfrm>
          <a:custGeom>
            <a:pathLst>
              <a:path w="490" h="96">
                <a:moveTo>
                  <a:pt x="4" y="96"/>
                </a:moveTo>
                <a:cubicBezTo>
                  <a:pt x="2" y="96"/>
                  <a:pt x="0" y="94"/>
                  <a:pt x="0" y="9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6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105650" y="4762500"/>
            <a:ext cx="432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一条反模式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105650" y="5000625"/>
            <a:ext cx="43243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「先临时对一下，以后再改接口」——这个「以后」通常不会来。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临时直连会变成永久依赖，而因为没有契约，两边都不知道对方还能不能改。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14 / 30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638300" y="2190750"/>
            <a:ext cx="463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三个消费方不各自连源库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429375" y="2047875"/>
            <a:ext cx="85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638300" y="3124200"/>
            <a:ext cx="463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统一入口，负责鉴权限流与协议转换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429375" y="2971800"/>
            <a:ext cx="85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638300" y="4048125"/>
            <a:ext cx="4876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唯一权威方，对外只暴露契约不暴露库表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63" name="" descr="&lt;Slide style={{ width: 1280, height: 720, background: '#FFFFFF', padding: '24px 64px 0' }}&gt;&#10;  {/* A 区 */}&#10;    &lt;Box style={{ height: 96, flexDirection: 'column', justifyContent: 'flex-start' }}&gt;&#10;  &lt;Text style={{ fontSize: 32, fontWeight: 'bold', color: '#0F1423' }}&gt;&#10;      之模板：&lt;span style={{ color: '#FA4F24' }}&gt;API 台账与集成契约卡&lt;/span&gt;，把口头约定变成书面约束&#10;        &lt;/Text&gt;&#10;     &lt;Text style={{ fontSize: 20, color: '#8A8F99', marginTop: 8 }}&gt;&#10;   集成债的根源几乎都是「当时没写下来」——契约卡就是补这一课&#10;        &lt;/Text&gt;&#10;    &lt;/Box&gt;&#10;    &lt;Box style={{ height: 1, background: '#E8E8E8' }} /&gt;&#10;&#10;    {/* B 区 */}&#10;    &lt;Box style={{ paddingTop: 24, paddingBottom: 14, height: 479, flexDirection: 'row', gap: 22 }}&gt;&#10;&#10;        {/* 左 契约卡 */}&#10;     &lt;Box style={{ width: 620, border: '1px solid #E8E8E8', borderRadius: 4, padding: '16px 22px', flexDirection: 'column' }}&gt;&#10;            &lt;Box style={{ flexDirection: 'row', justifyContent: 'space-between', alignItems: 'center', borderBottom: '2px solid #FA4F24', paddingBottom: 10 }}&gt;&#10;            &lt;Text style={{ fontSize: 20, fontWeight: 'bold', color: '#0F1423' }}&gt;集成契约卡&lt;/Text&gt;&#10;   &lt;Text style={{ fontSize: 14, color: '#8A8F99' }}&gt;示例：客户主数据查询接口&lt;/Text&gt;&#10;    &lt;/Box&gt;&#10;            &lt;Box style={{ flexDirection: 'column', gap: 6, marginTop: 12, flex: 1 }}&gt;&#10;        {[&#10;      { k: '接口编号', v: 'API-MD-003', h: '全局唯一' },&#10;     { k: '提供方 / 消费方', v: '主数据平台 / 订单中心、履约协同（各 1 个）', h: '消费方超过 5 个需评审' },&#10;        { k: '业务语义', v: '按客户统一编号查询客户主数据（不含交易信息）', h: '一句话说清传什么' },&#10;  { k: '集成模式', v: 'API 同步调用', h: '实时性要求：秒级' },&#10;     { k: '数据对象', v: '客户（Customer）· 权威方=主数据平台', h: '须挂 DA 业务对象编号' },&#10;            { k: '版本策略', v: 'v2 当前；v1 保留至 2027-03-31', h: '不兼容变更须升版本' },&#10;   { k: '失败处理', v: '超时 2s · 重试 3 次 · 连续失败转人工待办', h: '必须写降级路径' },&#10;       { k: 'SLA / 监控', v: '可用性 99.9% · 日均 42 万次 · 告警接入统一平台', h: '调用可追溯' },&#10;      ].map((it, i) =&gt; (&#10;        &lt;Box key={i} style={{ flexDirection: 'row', alignItems: 'center', gap: 12, background: i % 2 === 0 ? '#F7F7F8' : '#FFFFFF', borderRadius: 3, padding: '7px 12px' }}&gt;&#10;          &lt;Text style={{ fontSize: 13, fontWeight: 'bold', color: '#0F1423', width: 118 }}&gt;{it.k}&lt;/Text&gt;&#10;       &lt;Text style={{ fontSize: 13, color: '#3A4050', flex: 1, lineHeight: 1.25 }}&gt;{it.v}&lt;/Text&gt;&#10;    &lt;Text style={{ fontSize: 10, color: '#B8BDC7', width: 126, textAlign: 'right', lineHeight: 1.25 }}&gt;{it.h}&lt;/Text&gt;&#10;   &lt;/Box&gt;&#10;        ))}&#10;  &lt;/Box&gt;&#10;        &lt;/Box&gt;&#10;&#10;    {/* 右 API 台账 */}&#10;     &lt;Box style={{ flex: 1, flexDirection: 'column', gap: 12 }}&gt;&#10;            &lt;Text style={{ fontSize: 19, fontWeight: 'bold', color: '#0F1423' }}&gt;API 台账（节选）&lt;/Text&gt;&#10;    &lt;Box style={{ border: '1px solid #E8E8E8', borderRadius: 4, flex: 1, flexDirection: 'column' }}&gt;&#10;       {[&#10;       { k: 'API-MD-003', v: '客户主数据查询', m: 'API', c: 42 },&#10;        { k: 'API-MD-007', v: '产品目录查询', m: 'API', c: 26 },&#10;      { k: 'EVT-ORD-012', v: '订单状态变更事件', m: '消息', c: 118 },&#10;  { k: 'EVT-FIN-005', v: '结算完成事件', m: '消息', c: 9 },&#10;    { k: 'DS-BI-021', v: '经营分析数据集', m: '数据服务', c: 31 },&#10;      ].map((it, i) =&gt; (&#10;    &lt;Box key={i} style={{ flex: 1, flexDirection: 'row', alignItems: 'center', gap: 10, background: i % 2 === 0 ? '#F7F7F8' : '#FFFFFF', padding: '0 12px' }}&gt;&#10;       &lt;Text style={{ fontSize: 12, fontWeight: 'bold', color: '#0F1423', width: 104 }}&gt;{it.k}&lt;/Text&gt;&#10;      &lt;Text style={{ fontSize: 12, color: '#3A4050', flex: 1 }}&gt;{it.v}&lt;/Text&gt;&#10;     &lt;Box style={{ width: 56, background: it.m === 'API' ? '#FA4F24' : it.m === '消息' ? '#F8622F' : '#FBA15C', borderRadius: 2, padding: '4px 0', alignItems: 'center' }}&gt;&#10;       &lt;Text style={{ fontSize: 10, fontWeight: 'bold', color: it.m === '数据服务' ? '#3A2000' : '#FFFFFF' }}&gt;{it.m}&lt;/Text&gt;&#10;    &lt;/Box&gt;&#10;        &lt;Text style={{ fontSize: 11, color: '#8A8F99', width: 52, textAlign: 'right' }}&gt;{it.c} 万/日&lt;/Text&gt;&#10;     &lt;/Box&gt;&#10;    ))}&#10;   &lt;/Box&gt;&#10;      &lt;Box style={{ height: 128, background: 'linear-gradient(160deg, #FA4F24 0%, #F87D2F 100%)', borderRadius: 4, padding: '14px 18px', flexDirection: 'column', justifyContent: 'center' }}&gt;&#10;   &lt;Text style={{ fontSize: 17, fontWeight: 'bold', color: '#FFFFFF' }}&gt;★ 台账的核心价值&lt;/Text&gt;&#10;   &lt;Text style={{ fontSize: 14, color: 'rgba(255,255,255,0.95)', lineHeight: 1.55, marginTop: 7 }}&gt;&#10;   把「谁提供了什么给谁」从口头共识变成可查清单。&#10;   &lt;Text style={{ fontWeight: 'bold' }}&gt;任何新增集成都要先过台账&lt;/Text&gt;&#10;    ——先搜有没有现成接口，再决定是否新建。这一步能消掉大量重复接口。&#10;      &lt;/Text&gt;&#10;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AA应用架构咨询方法论&lt;/Text&gt;&#10;   &lt;/Box&gt;&#10;   &lt;Text style={{ fontSize: 14, color: '#8A8F99' }}&gt;15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台账与集成契约卡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，把口头约定变成书面约束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集成债的根源几乎都是「当时没写下来」——契约卡就是补这一课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609600" y="1381125"/>
            <a:ext cx="5905500" cy="4200525"/>
          </a:xfrm>
          <a:prstGeom prst="roundRect">
            <a:avLst>
              <a:gd name="adj" fmla="val 907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819150" y="1533525"/>
            <a:ext cx="5486400" cy="361950"/>
          </a:xfrm>
          <a:custGeom>
            <a:pathLst>
              <a:path w="576" h="38">
                <a:moveTo>
                  <a:pt x="0" y="36"/>
                </a:moveTo>
                <a:lnTo>
                  <a:pt x="576" y="36"/>
                </a:lnTo>
                <a:lnTo>
                  <a:pt x="576" y="38"/>
                </a:lnTo>
                <a:lnTo>
                  <a:pt x="0" y="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19150" y="153352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集成契约卡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705350" y="15716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示例：客户主数据查询接口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819150" y="1990725"/>
            <a:ext cx="5486400" cy="323850"/>
          </a:xfrm>
          <a:prstGeom prst="roundRect">
            <a:avLst>
              <a:gd name="adj" fmla="val 88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33450" y="207645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接口编号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2171700" y="2057400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API-MD-003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991100" y="2085975"/>
            <a:ext cx="12001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全局唯一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19150" y="2371725"/>
            <a:ext cx="5486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933450" y="245745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提供方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消费方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171700" y="2438400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主数据平台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订单中心、履约协同（各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个）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991100" y="2466975"/>
            <a:ext cx="12001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消费方超过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个需评审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819150" y="2752725"/>
            <a:ext cx="5486400" cy="504825"/>
          </a:xfrm>
          <a:prstGeom prst="roundRect">
            <a:avLst>
              <a:gd name="adj" fmla="val 566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33450" y="29337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业务语义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2171700" y="2819400"/>
            <a:ext cx="27051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按客户统一编号查询客户主数据（不含交易信息）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991100" y="2933700"/>
            <a:ext cx="12001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一句话说清传什么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819150" y="3314700"/>
            <a:ext cx="5486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33450" y="34004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集成模式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2171700" y="3381375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同步调用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991100" y="3409950"/>
            <a:ext cx="12001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实时性要求：秒级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19150" y="3695700"/>
            <a:ext cx="5486400" cy="323850"/>
          </a:xfrm>
          <a:prstGeom prst="roundRect">
            <a:avLst>
              <a:gd name="adj" fmla="val 88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33450" y="37814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数据对象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2171700" y="3762375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客户（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Customer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）·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权威方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=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主数据平台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991100" y="3790950"/>
            <a:ext cx="12001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须挂</a:t>
            </a:r>
            <a:r>
              <a:rPr lang="en-US" sz="750">
                <a:solidFill>
                  <a:srgbClr val="B8BDC7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业务对象编号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19150" y="4076700"/>
            <a:ext cx="5486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33450" y="41624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版本策略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171700" y="4143375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v2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当前；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v1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保留至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2027-03-31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991100" y="4171950"/>
            <a:ext cx="12001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不兼容变更须升版本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819150" y="4457700"/>
            <a:ext cx="5486400" cy="323850"/>
          </a:xfrm>
          <a:prstGeom prst="roundRect">
            <a:avLst>
              <a:gd name="adj" fmla="val 88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33450" y="45434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失败处理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2171700" y="4524375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超时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2s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重试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次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连续失败转人工待办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991100" y="4552950"/>
            <a:ext cx="12001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必须写降级路径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819150" y="4838700"/>
            <a:ext cx="5486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933450" y="49244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SLA /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监控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2171700" y="4905375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可用性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99.9%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日均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42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万次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告警接入统一平台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991100" y="4933950"/>
            <a:ext cx="12001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25000"/>
              </a:lnSpc>
            </a:pPr>
            <a:r>
              <a:rPr lang="zh-CN" sz="750">
                <a:solidFill>
                  <a:srgbClr val="B8BDC7"/>
                </a:solidFill>
                <a:latin typeface="Microsoft YaHei"/>
                <a:ea typeface="Microsoft YaHei"/>
              </a:rPr>
              <a:t>调用可追溯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724650" y="1381125"/>
            <a:ext cx="485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台账（节选）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724650" y="1714500"/>
            <a:ext cx="4857750" cy="2533650"/>
          </a:xfrm>
          <a:prstGeom prst="roundRect">
            <a:avLst>
              <a:gd name="adj" fmla="val 1504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6724650" y="1714500"/>
            <a:ext cx="4857750" cy="5048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838950" y="189547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API-MD-003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924800" y="1895475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客户主数据查询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10344150" y="1876425"/>
            <a:ext cx="533400" cy="19050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525125" y="1914525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API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972800" y="1905000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42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万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724650" y="2219325"/>
            <a:ext cx="4857750" cy="5048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38950" y="240030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API-MD-007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924800" y="2400300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产品目录查询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10344150" y="2381250"/>
            <a:ext cx="533400" cy="19050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0525125" y="24193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API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0972800" y="2409825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26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万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724650" y="2724150"/>
            <a:ext cx="4857750" cy="5143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838950" y="291465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EVT-ORD-012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924800" y="2914650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订单状态变更事件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10344150" y="2886075"/>
            <a:ext cx="533400" cy="190500"/>
          </a:xfrm>
          <a:prstGeom prst="roundRect">
            <a:avLst>
              <a:gd name="adj" fmla="val 10000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0515600" y="292417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消息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0972800" y="2914650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118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万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724650" y="3238500"/>
            <a:ext cx="4857750" cy="5048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838950" y="341947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EVT-FIN-005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924800" y="3419475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结算完成事件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10344150" y="3400425"/>
            <a:ext cx="533400" cy="190500"/>
          </a:xfrm>
          <a:prstGeom prst="roundRect">
            <a:avLst>
              <a:gd name="adj" fmla="val 10000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0515600" y="3438525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消息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972800" y="3429000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9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万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724650" y="3743325"/>
            <a:ext cx="4857750" cy="5048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838950" y="392430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DS-BI-021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924800" y="3924300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经营分析数据集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10344150" y="3905250"/>
            <a:ext cx="533400" cy="190500"/>
          </a:xfrm>
          <a:prstGeom prst="roundRect">
            <a:avLst>
              <a:gd name="adj" fmla="val 1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0420350" y="39433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3A2000"/>
                </a:solidFill>
                <a:latin typeface="Microsoft YaHei"/>
                <a:ea typeface="Microsoft YaHei"/>
              </a:rPr>
              <a:t>数据服务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0972800" y="3933825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31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万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724650" y="4362450"/>
            <a:ext cx="4857750" cy="1219200"/>
          </a:xfrm>
          <a:prstGeom prst="roundRect">
            <a:avLst>
              <a:gd name="adj" fmla="val 3125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896100" y="4467225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台账的核心价值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896100" y="4733925"/>
            <a:ext cx="45148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把「谁提供了什么给谁」从口头共识变成可查清单。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任何新增集成都要先过台账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——先搜有没有现成接口，再决定是否新建。这一步能消掉大量重复接口。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15 / 30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342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      &lt;Text style={{ fontSize: 300, fontWeight: 'bold', color: 'rgba(255,255,255,0.08)', lineHeight: 1.0 }}&gt;04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4&lt;/Text&gt;&#13;&#10; &lt;Box style={{ width: 72, height: 5, background: '#FA4F24', marginTop: 22 }} /&gt;&#13;&#10;        &lt;Text style={{ fontSize: 58, fontWeight: 'bold', color: '#FFFFFF', marginTop: 28, lineHeight: 1.15 }}&gt;组合评估与四态决策&lt;/Text&gt;&#13;&#10;        &lt;Text style={{ fontSize: 17, color: 'rgba(255,255,255,0.62)', letterSpacing: 2, marginTop: 20 }}&gt;PORTFOLIO ASSESSMENT &amp; 4-STATE DECISION&lt;/Text&gt;&#13;&#10;   &lt;Text style={{ fontSize: 19, color: 'rgba(255,255,255,0.85)', marginTop: 26, lineHeight: 1.6 }}&gt;价值×健康度二维评估与建买集成退役判定&lt;/Text&gt;&#13;&#10;    &lt;/Box&gt;&#13;&#10;&#13;&#10;    {/* 右下页码 */}&#13;&#10;    &lt;Box style={{ position: 'absolute', right: 88, bottom: 64, flexDirection: 'row', alignItems: 'center', gap: 12 }}&gt;&#13;&#10;   &lt;Box style={{ width: 14, height: 14, background: '#FA4F24' }} /&gt;&#13;&#10;      &lt;Text style={{ fontSize: 14, color: 'rgba(255,255,255,0.5)' }}&gt;硕磐机密 · AA应用架构咨询方法论&lt;/Text&gt;&#13;&#10;  &lt;Text style={{ fontSize: 14, color: 'rgba(255,255,255,0.5)', marginLeft: 12 }}&gt;16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组合评估与四态决策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PORTFOLIO ASSESSMENT &amp; 4-STATE DECISION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价值×健康度二维评估与建买集成退役判定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83820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629650" y="60864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16 / 30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55" name="" descr="&lt;Slide style={{ width: 1280, height: 720, background: '#FFFFFF', padding: '24px 64px 0' }}&gt;&#10;    {/* A 区 */}&#10; &lt;Box style={{ height: 96, flexDirection: 'column', justifyContent: 'flex-start' }}&gt;&#10;        &lt;Text style={{ fontSize: 32, fontWeight: 'bold', color: '#0F1423' }}&gt;&#10; 之方法：&lt;span style={{ color: '#FA4F24' }}&gt;业务价值 × 技术健康度二维评估&lt;/span&gt;&#10;      &lt;/Text&gt;&#10;        &lt;Text style={{ fontSize: 20, color: '#8A8F99', marginTop: 8 }}&gt;&#10;     只看技术健康度会砍掉核心系统，只看业务价值会留下技术债最重的系统——必须两个维度交叉&#10;     &lt;/Text&gt;&#10;    &lt;/Box&gt;&#10;    &lt;Box style={{ height: 1, background: '#E8E8E8' }} /&gt;&#10;&#10;    {/* B 区 左标题栏 + 右矩阵 */}&#10;    &lt;Box style={{ paddingTop: 24, paddingBottom: 14, height: 479, flexDirection: 'row', gap: 20 }}&gt;&#10;&#10;        {/* 左 32% */}&#10;&lt;Box style={{&#10; width: 320, background: 'linear-gradient(160deg, #FA4F24 0%, #F87D2F 100%)',&#10;      borderRadius: 4, padding: 26, flexDirection: 'column', justifyContent: 'space-between',&#10;        }}&gt;&#10;            &lt;Box&gt;&#10;     &lt;Text style={{ fontSize: 15, color: 'rgba(255,255,255,0.8)', letterSpacing: 2 }}&gt;STEP 04 · ASSESSMENT&lt;/Text&gt;&#10; &lt;Text style={{ fontSize: 30, fontWeight: 'bold', color: '#FFFFFF', marginTop: 14, lineHeight: 1.25 }}&gt;&#10;            二维&#10;       &lt;br /&gt;&#10;            评估法&#10;     &lt;/Text&gt;&#10;        &lt;/Box&gt;&#10;     &lt;Box&gt;&#10;         &lt;Box style={{ width: 44, height: 4, background: 'rgba(255,255,255,0.7)' }} /&gt;&#10;   &lt;Text style={{ fontSize: 17, color: 'rgba(255,255,255,0.94)', marginTop: 16, lineHeight: 1.55 }}&gt;&#10;     高价值 + 低健康度是最危险的一格：&lt;Text style={{ fontWeight: 'bold' }}&gt;它天天出问题，但没人敢动&lt;/Text&gt;。&#10;          &lt;/Text&gt;&#10;            &lt;/Box&gt;&#10;   &lt;/Box&gt;&#10;&#10;        {/* 右 68% */}&#10;     &lt;Box style={{ flex: 1, flexDirection: 'row', gap: 18 }}&gt;&#10;        {/* 矩阵 */}&#10;            &lt;Box style={{ width: 420, flexDirection: 'column' }}&gt;&#10;  &lt;Text style={{ fontSize: 20, fontWeight: 'bold', color: '#0F1423', marginBottom: 10 }}&gt;应用热力矩阵&lt;/Text&gt;&#10;   &lt;Box style={{ flex: 1, flexDirection: 'row' }}&gt;&#10;     &lt;Box style={{ width: 46, flexDirection: 'column', justifyContent: 'space-around', alignItems: 'flex-end', paddingRight: 6 }}&gt;&#10;   {['高', '中', '低'].map((t, i) =&gt; (&#10;     &lt;Text key={i} style={{ fontSize: 13, color: '#8A8F99' }}&gt;{t}&lt;/Text&gt;&#10;     ))}&#10;     &lt;/Box&gt;&#10;         &lt;Box style={{ flex: 1, flexDirection: 'column' }}&gt;&#10;     {[&#10;    { l: 'A核心', cells: [&#10;     { s: '替换', t: '重构', c: '#FA4F24', tc: '#FFFFFF' },&#10;        { s: '优先', t: '改造成本最高但收益最大', c: '#F8622F', tc: '#FFFFFF' },&#10;     { s: '维持', t: '健康核心，勿折腾', c: '#FBA15C', tc: '#3A2000' }] },&#10;    { l: 'B支撑', cells: [&#10;       { s: '集成', t: '并入核心', c: '#F8622F', tc: '#FFFFFF' },&#10;     { s: '优化', t: '常规演进', c: '#FDC69A', tc: '#3A2000' },&#10;      { s: '收缩', t: '合并入主系统', c: '#D8DCE3', tc: '#3A4050' }] },&#10;     { l: 'C工具', cells: [&#10;         { s: '退役', t: '直接下线', c: '#B8BDC7', tc: '#3A4050' },&#10;    { s: '退役', t: '功能可替代', c: '#D8DCE3', tc: '#3A4050' },&#10;     { s: '清理', t: '数据归档后清除', c: '#F2F3F5', tc: '#8A8F99' }] },&#10;     ].map((row, i) =&gt; (&#10;           &lt;Box key={i} style={{ flex: 1, flexDirection: 'row', gap: 6, marginBottom: 6, alignItems: 'stretch' }}&gt;&#10;   &lt;Box style={{ flex: 1, flexDirection: 'column', justifyContent: 'center' }}&gt;&#10;     &lt;Text style={{ fontSize: 12, color: '#B8BDC7' }}&gt;{row.l}&lt;/Text&gt;&#10;      &lt;/Box&gt;&#10;         {row.cells.map((c, j) =&gt; (&#10;      &lt;Box key={j} style={{ flex: 1, background: c.c, borderRadius: 3, padding: '6px 4px', alignItems: 'center', justifyContent: 'center' }}&gt;&#10;     &lt;Text style={{ fontSize: 14, fontWeight: 'bold', color: c.tc }}&gt;{c.s}&lt;/Text&gt;&#10;   &lt;Text style={{ fontSize: 10, color: c.tc, opacity: 0.9, marginTop: 3, textAlign: 'center', lineHeight: 1.25 }}&gt;{c.t}&lt;/Text&gt;&#10; &lt;/Box&gt;&#10;          ))}&#10;     &lt;/Box&gt;&#10;            ))}&#10;     &lt;/Box&gt;&#10;         &lt;/Box&gt;&#10;     &lt;Text style={{ fontSize: 13, color: '#8A8F99', textAlign: 'center', marginTop: 4 }}&gt;技术健康度 D → A（差 → 好）&lt;/Text&gt;&#10; &lt;/Box&gt;&#10;&#10;        {/* 右 判据 */}&#10;        &lt;Box style={{ flex: 1, flexDirection: 'column', gap: 11 }}&gt;&#10;                &lt;Text style={{ fontSize: 20, fontWeight: 'bold', color: '#0F1423' }}&gt;两个维度怎么打分&lt;/Text&gt;&#10; {[&#10;        { t: '业务价值（A/B/C）', d: '按承载能力的战略重要度定，与 BA 册的能力重要度直接对齐，不另起一套标准。', c: '#FA4F24' },&#10;   { t: '技术健康度（D/C/B/A）', d: '四项各 25 分：技术栈是否主流 · 是否可维护 · 性能是否够用 · 安全合规是否达标。', c: '#F8622F' },&#10;       ].map((it, i) =&gt; (&#10;           &lt;Box key={i} style={{ flex: 1, flexDirection: 'column', justifyContent: 'center', background: '#F7F7F8', borderRadius: 4, padding: '0 16px', borderLeft: `4px solid ${it.c}` }}&gt;&#10;   &lt;Text style={{ fontSize: 17, fontWeight: 'bold', color: '#0F1423' }}&gt;{it.t}&lt;/Text&gt;&#10;  &lt;Text style={{ fontSize: 13, color: '#3A4050', marginTop: 4, lineHeight: 1.45 }}&gt;{it.d}&lt;/Text&gt;&#10;      &lt;/Box&gt;&#10;         ))}&#10;        &lt;Box style={{ flex: 1.2, background: 'rgba(250,79,36,0.06)', borderRadius: 4, padding: '12px 16px', borderLeft: '4px solid #FA4F24', flexDirection: 'column', justifyContent: 'center' }}&gt;&#10;     &lt;Text style={{ fontSize: 16, fontWeight: 'bold', color: '#C43A17' }}&gt;最危险的一格：核心 + 差&lt;/Text&gt;&#10;        &lt;Text style={{ fontSize: 14, color: '#3A4050', lineHeight: 1.5, marginTop: 5 }}&gt;&#10;      它承载核心能力，技术栈又已过保。年年说要改，年年不敢动——最后一定出事。&#10;      这类应用必须排进第一波改造，不能因为「改动风险大」而无限期搁置。&#10;        &lt;/Text&gt;&#10;       &lt;/Box&gt;&#10;            &lt;/Box&gt;&#10;     &lt;/Box&gt;&#10;    &lt;/Box&gt;&#10;&#10;  {/* C 区 */}&#10;&lt;Box style={{ height: 60, flexDirection: 'row', alignItems: 'center', justifyContent: 'space-between' }}&gt;&#10;     &lt;Box style={{ flexDirection: 'row', alignItems: 'center', gap: 10 }}&gt;&#10;            &lt;Box style={{ width: 14, height: 14, background: '#FA4F24' }} /&gt;&#10;            &lt;Text style={{ fontSize: 14, color: '#8A8F99' }}&gt;硕磐机密 · AA应用架构咨询方法论&lt;/Text&gt;&#10;    &lt;/Box&gt;&#10;   &lt;Text style={{ fontSize: 14, color: '#8A8F99' }}&gt;1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业务价值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技术健康度二维评估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只看技术健康度会砍掉核心系统，只看业务价值会留下技术债最重的系统——必须两个维度交叉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609600" y="1381125"/>
            <a:ext cx="3048000" cy="4200525"/>
          </a:xfrm>
          <a:prstGeom prst="roundRect">
            <a:avLst>
              <a:gd name="adj" fmla="val 125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STEP 04 · ASSESSMENT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57250" y="1933575"/>
            <a:ext cx="25527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二维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评估法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857250" y="4533900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57250" y="4724400"/>
            <a:ext cx="25527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高价值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低健康度是最危险的一格：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它天天出问题，但没人敢动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3848100" y="138112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应用热力矩阵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105275" y="22479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105275" y="34766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105275" y="47053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286250" y="2266950"/>
            <a:ext cx="84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8BDC7"/>
                </a:solidFill>
                <a:latin typeface="Microsoft YaHei"/>
                <a:ea typeface="Microsoft YaHei"/>
              </a:rPr>
              <a:t>A</a:t>
            </a: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核心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5191125" y="1704975"/>
            <a:ext cx="847725" cy="1266825"/>
          </a:xfrm>
          <a:prstGeom prst="roundRect">
            <a:avLst>
              <a:gd name="adj" fmla="val 3371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486400" y="21717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替换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0" y="1704975"/>
            <a:ext cx="847725" cy="1266825"/>
          </a:xfrm>
          <a:prstGeom prst="roundRect">
            <a:avLst>
              <a:gd name="adj" fmla="val 3371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391275" y="21050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优先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7000875" y="1704975"/>
            <a:ext cx="847725" cy="1266825"/>
          </a:xfrm>
          <a:prstGeom prst="roundRect">
            <a:avLst>
              <a:gd name="adj" fmla="val 3371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296150" y="21717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维持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286250" y="3524250"/>
            <a:ext cx="84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8BDC7"/>
                </a:solidFill>
                <a:latin typeface="Microsoft YaHei"/>
                <a:ea typeface="Microsoft YaHei"/>
              </a:rPr>
              <a:t>B</a:t>
            </a: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支撑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191125" y="3028950"/>
            <a:ext cx="847725" cy="1123950"/>
          </a:xfrm>
          <a:prstGeom prst="roundRect">
            <a:avLst>
              <a:gd name="adj" fmla="val 3371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5486400" y="34290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096000" y="3028950"/>
            <a:ext cx="847725" cy="1123950"/>
          </a:xfrm>
          <a:prstGeom prst="roundRect">
            <a:avLst>
              <a:gd name="adj" fmla="val 3371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391275" y="34290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优化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7000875" y="3028950"/>
            <a:ext cx="847725" cy="1123950"/>
          </a:xfrm>
          <a:prstGeom prst="roundRect">
            <a:avLst>
              <a:gd name="adj" fmla="val 3371"/>
            </a:avLst>
          </a:prstGeom>
          <a:solidFill>
            <a:srgbClr val="D8DCE3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296150" y="34290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4050"/>
                </a:solidFill>
                <a:latin typeface="Microsoft YaHei"/>
                <a:ea typeface="Microsoft YaHei"/>
              </a:rPr>
              <a:t>收缩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286250" y="4705350"/>
            <a:ext cx="84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8BDC7"/>
                </a:solidFill>
                <a:latin typeface="Microsoft YaHei"/>
                <a:ea typeface="Microsoft YaHei"/>
              </a:rPr>
              <a:t>C</a:t>
            </a:r>
            <a:r>
              <a:rPr lang="zh-CN" sz="900">
                <a:solidFill>
                  <a:srgbClr val="B8BDC7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5191125" y="4210050"/>
            <a:ext cx="847725" cy="1123950"/>
          </a:xfrm>
          <a:prstGeom prst="roundRect">
            <a:avLst>
              <a:gd name="adj" fmla="val 3371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486400" y="46101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4050"/>
                </a:solidFill>
                <a:latin typeface="Microsoft YaHei"/>
                <a:ea typeface="Microsoft YaHei"/>
              </a:rPr>
              <a:t>退役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096000" y="4210050"/>
            <a:ext cx="847725" cy="1123950"/>
          </a:xfrm>
          <a:prstGeom prst="roundRect">
            <a:avLst>
              <a:gd name="adj" fmla="val 3371"/>
            </a:avLst>
          </a:prstGeom>
          <a:solidFill>
            <a:srgbClr val="D8DCE3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391275" y="46101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4050"/>
                </a:solidFill>
                <a:latin typeface="Microsoft YaHei"/>
                <a:ea typeface="Microsoft YaHei"/>
              </a:rPr>
              <a:t>退役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7000875" y="4210050"/>
            <a:ext cx="847725" cy="1123950"/>
          </a:xfrm>
          <a:prstGeom prst="roundRect">
            <a:avLst>
              <a:gd name="adj" fmla="val 3371"/>
            </a:avLst>
          </a:prstGeom>
          <a:solidFill>
            <a:srgbClr val="F2F3F5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296150" y="46101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8F99"/>
                </a:solidFill>
                <a:latin typeface="Microsoft YaHei"/>
                <a:ea typeface="Microsoft YaHei"/>
              </a:rPr>
              <a:t>清理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3848100" y="5429250"/>
            <a:ext cx="40005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技术健康度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D → 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（差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好）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020050" y="1381125"/>
            <a:ext cx="3562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两个维度怎么打分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8058150" y="1714500"/>
            <a:ext cx="3562350" cy="1028700"/>
          </a:xfrm>
          <a:prstGeom prst="roundRect">
            <a:avLst>
              <a:gd name="adj" fmla="val 370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8058150" y="1714500"/>
            <a:ext cx="3562350" cy="1028700"/>
          </a:xfrm>
          <a:custGeom>
            <a:pathLst>
              <a:path w="374" h="108">
                <a:moveTo>
                  <a:pt x="4" y="108"/>
                </a:moveTo>
                <a:cubicBezTo>
                  <a:pt x="2" y="108"/>
                  <a:pt x="0" y="106"/>
                  <a:pt x="0" y="10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210550" y="189547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业务价值（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>A/B/C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210550" y="2133600"/>
            <a:ext cx="3219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按承载能力的战略重要度定，与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册的能力重要度直接对齐，不另起一套标准。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8058150" y="2847975"/>
            <a:ext cx="3562350" cy="1019175"/>
          </a:xfrm>
          <a:prstGeom prst="roundRect">
            <a:avLst>
              <a:gd name="adj" fmla="val 373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8058150" y="2847975"/>
            <a:ext cx="3562350" cy="1019175"/>
          </a:xfrm>
          <a:custGeom>
            <a:pathLst>
              <a:path w="374" h="107">
                <a:moveTo>
                  <a:pt x="4" y="107"/>
                </a:moveTo>
                <a:cubicBezTo>
                  <a:pt x="2" y="107"/>
                  <a:pt x="0" y="105"/>
                  <a:pt x="0" y="10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7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210550" y="301942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技术健康度（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>D/C/B/A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210550" y="3257550"/>
            <a:ext cx="3219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四项各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25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分：技术栈是否主流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是否可维护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性能是否够用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安全合规是否达标。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8058150" y="3971925"/>
            <a:ext cx="3562350" cy="1609725"/>
          </a:xfrm>
          <a:prstGeom prst="roundRect">
            <a:avLst>
              <a:gd name="adj" fmla="val 2367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8058150" y="3971925"/>
            <a:ext cx="3562350" cy="1609725"/>
          </a:xfrm>
          <a:custGeom>
            <a:pathLst>
              <a:path w="374" h="169">
                <a:moveTo>
                  <a:pt x="4" y="169"/>
                </a:moveTo>
                <a:cubicBezTo>
                  <a:pt x="2" y="169"/>
                  <a:pt x="0" y="167"/>
                  <a:pt x="0" y="16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6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210550" y="4295775"/>
            <a:ext cx="321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最危险的一格：核心</a:t>
            </a: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差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210550" y="4533900"/>
            <a:ext cx="32194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它承载核心能力，技术栈又已过保。年年说要改，年年不敢动——最后一定出事。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这类应用必须排进第一波改造，不能因为「改动风险大」而无限期搁置。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17 / 30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524500" y="2362200"/>
            <a:ext cx="190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7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重构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134100" y="2295525"/>
            <a:ext cx="771525" cy="2857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25000"/>
              </a:lnSpc>
            </a:pPr>
            <a:r>
              <a:rPr lang="zh-CN" sz="7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改造成本最高但收益最大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7048500" y="2362200"/>
            <a:ext cx="762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750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>健康核心，勿折腾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5429250" y="3619500"/>
            <a:ext cx="381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7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并入核心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334125" y="3619500"/>
            <a:ext cx="381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750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>常规演进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143750" y="3619500"/>
            <a:ext cx="571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合并入主系统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429250" y="4800600"/>
            <a:ext cx="381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直接下线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286500" y="4800600"/>
            <a:ext cx="4762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750">
                <a:solidFill>
                  <a:srgbClr val="3A4050">
                    <a:alpha val="90000"/>
                  </a:srgbClr>
                </a:solidFill>
                <a:latin typeface="Microsoft YaHei"/>
                <a:ea typeface="Microsoft YaHei"/>
              </a:rPr>
              <a:t>功能可替代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096125" y="4800600"/>
            <a:ext cx="6667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750">
                <a:solidFill>
                  <a:srgbClr val="8A8F99">
                    <a:alpha val="90000"/>
                  </a:srgbClr>
                </a:solidFill>
                <a:latin typeface="Microsoft YaHei"/>
                <a:ea typeface="Microsoft YaHei"/>
              </a:rPr>
              <a:t>数据归档后清除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16" name="" descr="&lt;Slide style={{ width: 1280, height: 720, background: '#FFFFFF', padding: '24px 64px 0' }}&gt;&#10;    {/* A 区 */}&#10;    &lt;Box style={{ height: 96, flexDirection: 'column', justifyContent: 'flex-start' }}&gt;&#10;   &lt;Text style={{ fontSize: 32, fontWeight: 'bold', color: '#0F1423' }}&gt;&#10;            之内容：&lt;span style={{ color: '#FA4F24' }}&gt;建 · 买 · 集成 · 退役&lt;/span&gt;四态判定&#10;        &lt;/Text&gt;&#10;     &lt;Text style={{ fontSize: 20, color: '#8A8F99', marginTop: 8 }}&gt;&#10;   四态决策的价值不在于「新建」，而在于给「不新建」和「退役」一个正当的、说得出口的理由&#10;        &lt;/Text&gt;&#10;    &lt;/Box&gt;&#10;  &lt;Box style={{ height: 1, background: '#E8E8E8' }} /&gt;&#10;&#10;    {/* B 区 */}&#10;    &lt;Box style={{ paddingTop: 24, paddingBottom: 14, height: 479, flexDirection: 'column', gap: 13 }}&gt;&#10;&#10;        {/* 四态 */}&#10;      &lt;Box style={{ flex: 1, flexDirection: 'column', gap: 10 }}&gt;&#10;     &lt;Text style={{ fontSize: 20, fontWeight: 'bold', color: '#0F1423' }}&gt;四种去向的判定信号&lt;/Text&gt;&#10;      {[&#10;        { s: '建', n: 'BUILD', t: '核心能力定制', c: '#FA4F24', tc: '#FFFFFF', d: '承载 A 类核心能力且市场无成熟产品，或存在关键差异化诉求', k: '判定信号：战略价值高 · 差异化强', risk: '风险：自建周期长，必须有退出计划' },&#10;     { s: '买', n: 'BUY', t: '非核心成熟产品', c: '#F8622F', tc: '#FFFFFF', d: '能力可标准化、市场产品成熟，采购与自建总成本差三倍以上', k: '判定信号：可标准化 · 采购成本优', risk: '风险：需评估厂商锁定与后续升级费' },&#10;     { s: '集成', n: 'INTEGRATE', t: '复用现有系统', c: '#FBA15C', tc: '#3A2000', d: '已有系统能力覆盖，改造成本明显低于新建', k: '判定信号：接口可打通 · 改造成本低', risk: '风险：不要为省事牺牲长期架构清晰度' },&#10;        { s: '退役', n: 'RETIRE', t: '功能可替代', c: '#B8BDC7', tc: '#3A4050', d: '业务价值低、维护成本高，功能已被其他系统或流程覆盖', k: '判定信号：功能可替代 · 用户少', risk: '难点：数据要先归档，不能直接下线' },&#10;      ].map((it, i) =&gt; (&#10;     &lt;Box key={i} style={{ flex: 1, flexDirection: 'row', alignItems: 'center', background: '#F7F7F8', borderRadius: 4, padding: '0 20px', gap: 16, borderLeft: `4px solid ${it.c}` }}&gt;&#10;   &lt;Box style={{ width: 52, height: 52, background: it.c, borderRadius: 4, alignItems: 'center', justifyContent: 'center' }}&gt;&#10;  &lt;Text style={{ fontSize: 26, fontWeight: 'bold', color: it.tc }}&gt;{it.s}&lt;/Text&gt;&#10;      &lt;/Box&gt;&#10;      &lt;Box style={{ width: 116 }}&gt;&#10;     &lt;Text style={{ fontSize: 11, color: it.c === '#B8BDC7' ? '#8A8F99' : it.c, letterSpacing: 1 }}&gt;{it.n}&lt;/Text&gt;&#10;   &lt;Text style={{ fontSize: 16, fontWeight: 'bold', color: '#0F1423', marginTop: 3 }}&gt;{it.t}&lt;/Text&gt;&#10;     &lt;/Box&gt;&#10;  &lt;Box style={{ flex: 1 }}&gt;&#10;       &lt;Text style={{ fontSize: 14, color: '#3A4050', lineHeight: 1.4 }}&gt;{it.d}&lt;/Text&gt;&#10;     &lt;Text style={{ fontSize: 12, color: '#8A8F99', marginTop: 4 }}&gt;{it.risk}&lt;/Text&gt;&#10;      &lt;/Box&gt;&#10;   &lt;Box style={{ width: 216, background: 'rgba(250,79,36,0.1)', borderRadius: 3, padding: '8px 10px' }}&gt;&#10;      &lt;Text style={{ fontSize: 12, color: '#C43A17', lineHeight: 1.4 }}&gt;{it.k}&lt;/Text&gt;&#10;    &lt;/Box&gt;&#10;     &lt;/Box&gt;&#10;       ))}&#10;    &lt;/Box&gt;&#10;&#10;        {/* 两条硬规定 */}&#10; &lt;Box style={{ flex: 0.62, flexDirection: 'row', gap: 12 }}&gt;&#10;      {[&#10;       { t: '四态比例要健康', d: '正常企业的组合大致是：建 15%、买 20%、集成 45%、退役 20%。退役占比长期低于 10%，说明减法没做，技术债在累积。' },&#10;      { t: '退役要走完四步', d: '数据归档 → 用户迁移 → 依赖解耦 → 正式下线。跳过第一步直接下线，是最容易出事的做法。' },&#10;     ].map((it, i) =&gt; (&#10;     &lt;Box key={i} style={{ flex: 1, background: 'rgba(250,79,36,0.06)', borderRadius: 4, padding: '11px 16px', borderLeft: '4px solid #FA4F24', flexDirection: 'column', justifyContent: 'center' }}&gt;&#10;    &lt;Text style={{ fontSize: 16, fontWeight: 'bold', color: '#C43A17' }}&gt;{it.t}&lt;/Text&gt;&#10;      &lt;Text style={{ fontSize: 13, color: '#3A4050', lineHeight: 1.45, marginTop: 5 }}&gt;{it.d}&lt;/Text&gt;&#10;   &lt;/Box&gt;&#10;     ))}&#10;    &lt;/Box&gt;&#10;    &lt;/Box&gt;&#10;&#10;    {/* C 区 */}&#10;    &lt;Box style={{ height: 60, flexDirection: 'row', alignItems: 'center', justifyContent: 'space-between' }}&gt;&#10;    &lt;Box style={{ flexDirection: 'row', alignItems: 'center', gap: 10 }}&gt;&#10;            &lt;Box style={{ width: 14, height: 14, background: '#FA4F24' }} /&gt;&#10;     &lt;Text style={{ fontSize: 14, color: '#8A8F99' }}&gt;硕磐机密 · AA应用架构咨询方法论&lt;/Text&gt;&#10;        &lt;/Box&gt;&#10;        &lt;Text style={{ fontSize: 14, color: '#8A8F99' }}&gt;18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建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买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集成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退役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四态判定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四态决策的价值不在于「新建」，而在于给「不新建」和「退役」一个正当的、说得出口的理由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四种去向的判定信号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47700" y="1704975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647700" y="1704975"/>
            <a:ext cx="10972800" cy="590550"/>
          </a:xfrm>
          <a:custGeom>
            <a:pathLst>
              <a:path w="1152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838200" y="1752600"/>
            <a:ext cx="495300" cy="495300"/>
          </a:xfrm>
          <a:prstGeom prst="roundRect">
            <a:avLst>
              <a:gd name="adj" fmla="val 769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962025" y="18478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建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485900" y="1828800"/>
            <a:ext cx="1104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A4F24"/>
                </a:solidFill>
                <a:latin typeface="Microsoft YaHei"/>
                <a:ea typeface="Microsoft YaHei"/>
              </a:rPr>
              <a:t>BUILD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485900" y="199072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核心能力定制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2743200" y="1800225"/>
            <a:ext cx="64389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承载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类核心能力且市场无成熟产品，或存在关键差异化诉求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2743200" y="2066925"/>
            <a:ext cx="643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风险：自建周期长，必须有退出计划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9334500" y="1828800"/>
            <a:ext cx="2057400" cy="352425"/>
          </a:xfrm>
          <a:prstGeom prst="roundRect">
            <a:avLst>
              <a:gd name="adj" fmla="val 810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9429750" y="19050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判定信号：战略价值高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差异化强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47700" y="2390775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647700" y="2390775"/>
            <a:ext cx="10972800" cy="590550"/>
          </a:xfrm>
          <a:custGeom>
            <a:pathLst>
              <a:path w="1152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838200" y="2438400"/>
            <a:ext cx="495300" cy="495300"/>
          </a:xfrm>
          <a:prstGeom prst="roundRect">
            <a:avLst>
              <a:gd name="adj" fmla="val 7692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962025" y="25336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买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485900" y="2514600"/>
            <a:ext cx="1104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8622F"/>
                </a:solidFill>
                <a:latin typeface="Microsoft YaHei"/>
                <a:ea typeface="Microsoft YaHei"/>
              </a:rPr>
              <a:t>BUY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485900" y="267652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非核心成熟产品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2743200" y="2486025"/>
            <a:ext cx="64389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能力可标准化、市场产品成熟，采购与自建总成本差三倍以上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2743200" y="2752725"/>
            <a:ext cx="643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风险：需评估厂商锁定与后续升级费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9334500" y="2514600"/>
            <a:ext cx="2057400" cy="352425"/>
          </a:xfrm>
          <a:prstGeom prst="roundRect">
            <a:avLst>
              <a:gd name="adj" fmla="val 810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9429750" y="25908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判定信号：可标准化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采购成本优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47700" y="30765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647700" y="3076575"/>
            <a:ext cx="10972800" cy="581025"/>
          </a:xfrm>
          <a:custGeom>
            <a:pathLst>
              <a:path w="1152" h="61">
                <a:moveTo>
                  <a:pt x="4" y="61"/>
                </a:moveTo>
                <a:cubicBezTo>
                  <a:pt x="2" y="61"/>
                  <a:pt x="0" y="59"/>
                  <a:pt x="0" y="5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838200" y="3124200"/>
            <a:ext cx="495300" cy="495300"/>
          </a:xfrm>
          <a:prstGeom prst="roundRect">
            <a:avLst>
              <a:gd name="adj" fmla="val 7692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8200" y="3219450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3A2000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485900" y="3190875"/>
            <a:ext cx="1104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BA15C"/>
                </a:solidFill>
                <a:latin typeface="Microsoft YaHei"/>
                <a:ea typeface="Microsoft YaHei"/>
              </a:rPr>
              <a:t>INTEGRATE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485900" y="3352800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复用现有系统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2743200" y="3162300"/>
            <a:ext cx="64389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已有系统能力覆盖，改造成本明显低于新建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2743200" y="3429000"/>
            <a:ext cx="643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风险：不要为省事牺牲长期架构清晰度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9334500" y="3190875"/>
            <a:ext cx="2057400" cy="352425"/>
          </a:xfrm>
          <a:prstGeom prst="roundRect">
            <a:avLst>
              <a:gd name="adj" fmla="val 810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9429750" y="3267075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判定信号：接口可打通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改造成本低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47700" y="3752850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647700" y="3752850"/>
            <a:ext cx="10972800" cy="590550"/>
          </a:xfrm>
          <a:custGeom>
            <a:pathLst>
              <a:path w="1152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B8BDC7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838200" y="3800475"/>
            <a:ext cx="495300" cy="495300"/>
          </a:xfrm>
          <a:prstGeom prst="roundRect">
            <a:avLst>
              <a:gd name="adj" fmla="val 7692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38200" y="389572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3A4050"/>
                </a:solidFill>
                <a:latin typeface="Microsoft YaHei"/>
                <a:ea typeface="Microsoft YaHei"/>
              </a:rPr>
              <a:t>退役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485900" y="3876675"/>
            <a:ext cx="1104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8A8F99"/>
                </a:solidFill>
                <a:latin typeface="Microsoft YaHei"/>
                <a:ea typeface="Microsoft YaHei"/>
              </a:rPr>
              <a:t>RETIRE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485900" y="4038600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功能可替代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2743200" y="3848100"/>
            <a:ext cx="64389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业务价值低、维护成本高，功能已被其他系统或流程覆盖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2743200" y="4114800"/>
            <a:ext cx="643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难点：数据要先归档，不能直接下线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9334500" y="3876675"/>
            <a:ext cx="2057400" cy="352425"/>
          </a:xfrm>
          <a:prstGeom prst="roundRect">
            <a:avLst>
              <a:gd name="adj" fmla="val 810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429750" y="3952875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判定信号：功能可替代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用户少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47700" y="4467225"/>
            <a:ext cx="5429250" cy="1114425"/>
          </a:xfrm>
          <a:prstGeom prst="roundRect">
            <a:avLst>
              <a:gd name="adj" fmla="val 3419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463" name=""/>
          <p:cNvSpPr/>
          <p:nvPr/>
        </p:nvSpPr>
        <p:spPr>
          <a:xfrm rot="0" flipH="0" flipV="0">
            <a:off x="647700" y="4467225"/>
            <a:ext cx="5429250" cy="1114425"/>
          </a:xfrm>
          <a:custGeom>
            <a:pathLst>
              <a:path w="570" h="117">
                <a:moveTo>
                  <a:pt x="4" y="117"/>
                </a:moveTo>
                <a:cubicBezTo>
                  <a:pt x="2" y="117"/>
                  <a:pt x="0" y="115"/>
                  <a:pt x="0" y="11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00100" y="4686300"/>
            <a:ext cx="508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四态比例要健康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00100" y="4924425"/>
            <a:ext cx="50863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正常企业的组合大致是：建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15%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、买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20%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、集成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45%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、退役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20%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。退役占比长期低于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10%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，说明减法没做，技术债在累积。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191250" y="4467225"/>
            <a:ext cx="5429250" cy="1114425"/>
          </a:xfrm>
          <a:prstGeom prst="roundRect">
            <a:avLst>
              <a:gd name="adj" fmla="val 3419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6191250" y="4467225"/>
            <a:ext cx="5429250" cy="1114425"/>
          </a:xfrm>
          <a:custGeom>
            <a:pathLst>
              <a:path w="570" h="117">
                <a:moveTo>
                  <a:pt x="4" y="117"/>
                </a:moveTo>
                <a:cubicBezTo>
                  <a:pt x="2" y="117"/>
                  <a:pt x="0" y="115"/>
                  <a:pt x="0" y="11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343650" y="4686300"/>
            <a:ext cx="508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退役要走完四步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343650" y="4924425"/>
            <a:ext cx="50863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数据归档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用户迁移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依赖解耦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正式下线。跳过第一步直接下线，是最容易出事的做法。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18 / 30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73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之模板：&lt;span style={{ color: '#FA4F24' }}&gt;应用热力图与四态决策表&lt;/span&gt;，结论必须逐项落地&#10;        &lt;/Text&gt;&#10;        &lt;Text style={{ fontSize: 20, color: '#8A8F99', marginTop: 8 }}&gt;&#10;     决策表最右边那一列「落地计划」是全表的重点——没有计划表的决策表只是一张愿望清单&#10;        &lt;/Text&gt;&#10;    &lt;/Box&gt;&#10;    &lt;Box style={{ height: 1, background: '#E8E8E8' }} /&gt;&#10;&#10;    {/* B 区 */}&#10;    &lt;Box style={{ paddingTop: 24, paddingBottom: 14, height: 479, flexDirection: 'row', gap: 22 }}&gt;&#10;&#10;    {/* 左 热力图 */}&#10;   &lt;Box style={{ width: 600, border: '1px solid #E8E8E8', borderRadius: 4, padding: '10px 18px', flexDirection: 'column' }}&gt;&#10;   &lt;Box style={{ flexDirection: 'row', justifyContent: 'space-between', alignItems: 'center', borderBottom: '2px solid #FA4F24', paddingBottom: 10 }}&gt;&#10;      &lt;Text style={{ fontSize: 18, fontWeight: 'bold', color: '#0F1423' }}&gt;应用组合热力图&lt;/Text&gt;&#10;       &lt;Text style={{ fontSize: 12, color: '#8A8F99' }}&gt;横轴=技术健康度 · 纵轴=业务价值 · 点内数字=应用编号&lt;/Text&gt;&#10;            &lt;/Box&gt;&#10;       &lt;Box style={{ flexDirection: 'row', gap: 6, marginTop: 12, flex: 1 }}&gt;&#10;            &lt;Box style={{ width: 60, flexDirection: 'column', justifyContent: 'space-around' }}&gt;&#10;   {['A 核心', 'B 支撑', 'C 工具'].map((t, i) =&gt; (&#10;  &lt;Box key={i} style={{ height: 62, justifyContent: 'center' }}&gt;&#10;        &lt;Text style={{ fontSize: 12, fontWeight: 'bold', color: '#0F1423' }}&gt;{t}&lt;/Text&gt;&#10;   &lt;/Box&gt;&#10;          ))}&#10;        &lt;/Box&gt;&#10; &lt;Box style={{ flex: 1, flexDirection: 'column', gap: 5 }}&gt;&#10;     {[&#10;{ cells: [{ v: 'ORD-001', c: '#FBA15C' }, { v: 'FIN-003', c: '#F8622F' }, { v: 'PRD-002', c: '#FA4F24' }] },&#10;   { cells: [{ v: 'SCM-005', c: '#F8622F' }, { v: 'HRM-004', c: '#FDC69A' }, { v: 'OLD-012', c: '#B8BDC7' }] },&#10;   { cells: [{ v: 'RPT-008', c: '#D8DCE3' }, { v: 'TOOL-021', c: '#D8DCE3' }, { v: 'TMP-033', c: '#B8BDC7' }] },&#10;     ].map((row, i) =&gt; (&#10;          &lt;Box key={i} style={{ flex: 1, flexDirection: 'row', gap: 5 }}&gt;&#10;   {row.cells.map((c, j) =&gt; (&#10;            &lt;Box key={j} style={{ flex: 1, background: c.c, borderRadius: 3, alignItems: 'center', justifyContent: 'center' }}&gt;&#10;  &lt;Text style={{ fontSize: 13, fontWeight: 'bold', color: c.c === '#FA4F24' || c.c === '#F8622F' ? '#FFFFFF' : '#3A4050' }}&gt;{c.v}&lt;/Text&gt;&#10;          &lt;/Box&gt;&#10;              ))}&#10;      &lt;/Box&gt;&#10;       ))}&#10;   &lt;/Box&gt;&#10;            &lt;/Box&gt;&#10;    &lt;Box style={{ flexDirection: 'row', gap: 12, marginTop: 6, alignItems: 'center' }}&gt;&#10;     &lt;Text style={{ fontSize: 11, color: '#8A8F99' }}&gt;业务价值&lt;/Text&gt;&#10;       {[{ t: 'A', c: '#FA4F24' }, { t: 'B', c: '#FBA15C' }, { t: 'C', c: '#B8BDC7' }].map((g, i) =&gt; (&#10;         &lt;Box key={i} style={{ flexDirection: 'row', alignItems: 'center', gap: 5 }}&gt;&#10;     &lt;Box style={{ width: 16, height: 10, background: g.c, borderRadius: 2 }} /&gt;&#10;       &lt;Text style={{ fontSize: 11, color: '#3A4050' }}&gt;{g.t}&lt;/Text&gt;&#10;      &lt;/Box&gt;&#10;      ))}&#10;     &lt;Box style={{ flex: 1 }} /&gt;&#10;    &lt;Text style={{ fontSize: 11, color: '#8A8F99' }}&gt;技术健康度&lt;/Text&gt;&#10;        {[{ t: 'A', c: '#FA4F24' }, { t: 'B', c: '#F8622F' }, { t: 'C', c: '#FDC69A' }, { t: 'D', c: '#B8BDC7' }].map((g, i) =&gt; (&#10;          &lt;Box key={i} style={{ flexDirection: 'row', alignItems: 'center', gap: 5 }}&gt;&#10;   &lt;Box style={{ width: 16, height: 10, background: g.c, borderRadius: 2 }} /&gt;&#10;     &lt;Text style={{ fontSize: 11, color: '#3A4050' }}&gt;{g.t}&lt;/Text&gt;&#10;       &lt;/Box&gt;&#10;        ))}&#10;     &lt;/Box&gt;&#10;        &lt;/Box&gt;&#10;&#10;        {/* 右 决策表 */}&#10;        &lt;Box style={{ flex: 1, flexDirection: 'column', gap: 10 }}&gt;&#10;            &lt;Text style={{ fontSize: 18, fontWeight: 'bold', color: '#0F1423' }}&gt;四态决策表&lt;/Text&gt;&#10;            &lt;Box style={{ border: '1px solid #E8E8E8', borderRadius: 4, flex: 1, flexDirection: 'column' }}&gt;&#10;   {[&#10;         { k: 'AA-ORD-001', v: 'A / B', d: '维持', c: '#FBA15C', tc: '#3A2000', p: '2027 H2 启动 Oracle 升级' },&#10;        { k: 'AA-PRD-002', v: 'A / D', d: '重构', c: '#FA4F24', tc: '#FFFFFF', p: '2026 H1 第一波，已立项' },&#10;   { k: 'AA-SCM-005', v: 'B / D', d: '集成', c: '#F8622F', tc: '#FFFFFF', p: '2026 H2 并入订单中心' },&#10;        { k: 'AA-RPT-008', v: 'B / C', d: '集成', c: '#FDC69A', tc: '#3A2000', p: '2026 H4 接入数据服务' },&#10;     { k: 'AA-OLD-012', v: 'B / D', d: '退役', c: '#B8BDC7', tc: '#3A4050', p: '2026 H3 数据归档后下线' },&#10;        { k: 'AA-TMP-033', v: 'C / D', d: '退役', c: '#B8BDC7', tc: '#3A4050', p: '2026 H2 直接清理' },&#10;  ].map((it, i) =&gt; (&#10;     &lt;Box key={i} style={{ flex: 1, flexDirection: 'row', alignItems: 'center', gap: 8, background: i % 2 === 0 ? '#F7F7F8' : '#FFFFFF', padding: '0 10px' }}&gt;&#10;       &lt;Text style={{ fontSize: 11, fontWeight: 'bold', color: '#0F1423', width: 88 }}&gt;{it.k}&lt;/Text&gt;&#10;     &lt;Text style={{ fontSize: 11, color: '#8A8F99', width: 42 }}&gt;{it.v}&lt;/Text&gt;&#10;     &lt;Box style={{ width: 44, background: it.c, borderRadius: 2, padding: '4px 0', alignItems: 'center' }}&gt;&#10;     &lt;Text style={{ fontSize: 11, fontWeight: 'bold', color: it.tc }}&gt;{it.d}&lt;/Text&gt;&#10;       &lt;/Box&gt;&#10;    &lt;Text style={{ fontSize: 10, color: '#3A4050', flex: 1, lineHeight: 1.3 }}&gt;{it.p}&lt;/Text&gt;&#10;      &lt;/Box&gt;&#10;  ))}&#10;        &lt;/Box&gt;&#10;   &lt;Box style={{ height: 96, background: 'linear-gradient(160deg, #FA4F24 0%, #F87D2F 100%)', borderRadius: 4, padding: '12px 16px', flexDirection: 'column', justifyContent: 'center' }}&gt;&#10;     &lt;Text style={{ fontSize: 16, fontWeight: 'bold', color: '#FFFFFF' }}&gt;★ 两条硬规则&lt;/Text&gt;&#10;  &lt;Text style={{ fontSize: 13, color: 'rgba(255,255,255,0.95)', lineHeight: 1.55, marginTop: 5 }}&gt;&#10;        ① 每个应用必须给出决策，不允许留空；&lt;br /&gt;&#10;        ② 「维持」也要写下次复评时间——不做「永久维持」这个结论。&#10;   &lt;/Text&gt;&#10;        &lt;/Box&gt;&#10;   &lt;/Box&gt;&#10;    &lt;/Box&gt;&#10;&#10;    {/* C 区 */}&#10;    &lt;Box style={{ height: 60, flexDirection: 'row', alignItems: 'center', justifyContent: 'space-between' }}&gt;&#10;    &lt;Box style={{ flexDirection: 'row', alignItems: 'center', gap: 10 }}&gt;&#10;     &lt;Box style={{ width: 14, height: 14, background: '#FA4F24' }} /&gt;&#10;     &lt;Text style={{ fontSize: 14, color: '#8A8F99' }}&gt;硕磐机密 · AA应用架构咨询方法论&lt;/Text&gt;&#10;  &lt;/Box&gt;&#10;    &lt;Text style={{ fontSize: 14, color: '#8A8F99' }}&gt;19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应用热力图与四态决策表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，结论必须逐项落地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决策表最右边那一列「落地计划」是全表的重点——没有计划表的决策表只是一张愿望清单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609600" y="1381125"/>
            <a:ext cx="5715000" cy="4200525"/>
          </a:xfrm>
          <a:prstGeom prst="roundRect">
            <a:avLst>
              <a:gd name="adj" fmla="val 907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781050" y="1476375"/>
            <a:ext cx="5372100" cy="342900"/>
          </a:xfrm>
          <a:custGeom>
            <a:pathLst>
              <a:path w="564" h="36">
                <a:moveTo>
                  <a:pt x="0" y="34"/>
                </a:moveTo>
                <a:lnTo>
                  <a:pt x="564" y="34"/>
                </a:lnTo>
                <a:lnTo>
                  <a:pt x="564" y="36"/>
                </a:lnTo>
                <a:lnTo>
                  <a:pt x="0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81050" y="14763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应用组合热力图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305175" y="1514475"/>
            <a:ext cx="2847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横轴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=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技术健康度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纵轴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=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业务价值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点内数字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=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应用编号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781050" y="24098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核心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81050" y="35433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支撑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81050" y="46672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1409700" y="1914525"/>
            <a:ext cx="1552575" cy="1095375"/>
          </a:xfrm>
          <a:prstGeom prst="roundRect">
            <a:avLst>
              <a:gd name="adj" fmla="val 2609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905000" y="2390775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A4050"/>
                </a:solidFill>
                <a:latin typeface="Microsoft YaHei"/>
                <a:ea typeface="Microsoft YaHei"/>
              </a:rPr>
              <a:t>ORD-001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3009900" y="1914525"/>
            <a:ext cx="1543050" cy="1095375"/>
          </a:xfrm>
          <a:prstGeom prst="roundRect">
            <a:avLst>
              <a:gd name="adj" fmla="val 2609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3533775" y="2390775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FIN-003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4600575" y="1914525"/>
            <a:ext cx="1552575" cy="1095375"/>
          </a:xfrm>
          <a:prstGeom prst="roundRect">
            <a:avLst>
              <a:gd name="adj" fmla="val 2609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105400" y="2390775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PRD-002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1409700" y="3057525"/>
            <a:ext cx="1552575" cy="1095375"/>
          </a:xfrm>
          <a:prstGeom prst="roundRect">
            <a:avLst>
              <a:gd name="adj" fmla="val 2609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905000" y="3533775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SCM-005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3009900" y="3057525"/>
            <a:ext cx="1543050" cy="1095375"/>
          </a:xfrm>
          <a:prstGeom prst="roundRect">
            <a:avLst>
              <a:gd name="adj" fmla="val 2609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486150" y="3533775"/>
            <a:ext cx="600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A4050"/>
                </a:solidFill>
                <a:latin typeface="Microsoft YaHei"/>
                <a:ea typeface="Microsoft YaHei"/>
              </a:rPr>
              <a:t>HRM-004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4600575" y="3057525"/>
            <a:ext cx="1552575" cy="1095375"/>
          </a:xfrm>
          <a:prstGeom prst="roundRect">
            <a:avLst>
              <a:gd name="adj" fmla="val 2609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5105400" y="3533775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A4050"/>
                </a:solidFill>
                <a:latin typeface="Microsoft YaHei"/>
                <a:ea typeface="Microsoft YaHei"/>
              </a:rPr>
              <a:t>OLD-012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1409700" y="4200525"/>
            <a:ext cx="1552575" cy="1095375"/>
          </a:xfrm>
          <a:prstGeom prst="roundRect">
            <a:avLst>
              <a:gd name="adj" fmla="val 2609"/>
            </a:avLst>
          </a:prstGeom>
          <a:solidFill>
            <a:srgbClr val="D8DCE3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924050" y="4676775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A4050"/>
                </a:solidFill>
                <a:latin typeface="Microsoft YaHei"/>
                <a:ea typeface="Microsoft YaHei"/>
              </a:rPr>
              <a:t>RPT-008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3009900" y="4200525"/>
            <a:ext cx="1543050" cy="1095375"/>
          </a:xfrm>
          <a:prstGeom prst="roundRect">
            <a:avLst>
              <a:gd name="adj" fmla="val 2609"/>
            </a:avLst>
          </a:prstGeom>
          <a:solidFill>
            <a:srgbClr val="D8DCE3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3467100" y="467677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A4050"/>
                </a:solidFill>
                <a:latin typeface="Microsoft YaHei"/>
                <a:ea typeface="Microsoft YaHei"/>
              </a:rPr>
              <a:t>TOOL-021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4600575" y="4200525"/>
            <a:ext cx="1552575" cy="1095375"/>
          </a:xfrm>
          <a:prstGeom prst="roundRect">
            <a:avLst>
              <a:gd name="adj" fmla="val 2609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5095875" y="4676775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A4050"/>
                </a:solidFill>
                <a:latin typeface="Microsoft YaHei"/>
                <a:ea typeface="Microsoft YaHei"/>
              </a:rPr>
              <a:t>TMP-033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781050" y="5353050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业务价值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1314450" y="537210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514475" y="53530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1704975" y="537210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905000" y="5353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2085975" y="537210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2286000" y="53530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4067175" y="5353050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技术健康度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4705350" y="537210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4905375" y="53530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5095875" y="537210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295900" y="5353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5476875" y="537210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676900" y="5353050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5867400" y="537210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067425" y="5353050"/>
            <a:ext cx="857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534150" y="1381125"/>
            <a:ext cx="504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四态决策表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534150" y="1685925"/>
            <a:ext cx="5048250" cy="2886075"/>
          </a:xfrm>
          <a:prstGeom prst="roundRect">
            <a:avLst>
              <a:gd name="adj" fmla="val 1320"/>
            </a:avLst>
          </a:prstGeom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6534150" y="1685925"/>
            <a:ext cx="50482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6629400" y="186690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>AA-ORD-001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543800" y="1866900"/>
            <a:ext cx="400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A / B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8020050" y="1828800"/>
            <a:ext cx="419100" cy="209550"/>
          </a:xfrm>
          <a:prstGeom prst="roundRect">
            <a:avLst>
              <a:gd name="adj" fmla="val 9091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124825" y="18669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2000"/>
                </a:solidFill>
                <a:latin typeface="Microsoft YaHei"/>
                <a:ea typeface="Microsoft YaHei"/>
              </a:rPr>
              <a:t>维持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515350" y="1857375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3A4050"/>
                </a:solidFill>
                <a:latin typeface="Microsoft YaHei"/>
                <a:ea typeface="Microsoft YaHei"/>
              </a:rPr>
              <a:t xml:space="preserve">2027 H2 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启动</a:t>
            </a:r>
            <a:r>
              <a:rPr lang="en-US" sz="750">
                <a:solidFill>
                  <a:srgbClr val="3A4050"/>
                </a:solidFill>
                <a:latin typeface="Microsoft YaHei"/>
                <a:ea typeface="Microsoft YaHei"/>
              </a:rPr>
              <a:t xml:space="preserve"> Oracle 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升级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534150" y="2171700"/>
            <a:ext cx="504825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6629400" y="234315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>AA-PRD-002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7543800" y="2343150"/>
            <a:ext cx="400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A / D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8020050" y="2305050"/>
            <a:ext cx="419100" cy="209550"/>
          </a:xfrm>
          <a:prstGeom prst="roundRect">
            <a:avLst>
              <a:gd name="adj" fmla="val 9091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124825" y="234315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重构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515350" y="2333625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3A4050"/>
                </a:solidFill>
                <a:latin typeface="Microsoft YaHei"/>
                <a:ea typeface="Microsoft YaHei"/>
              </a:rPr>
              <a:t xml:space="preserve">2026 H1 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第一波，已立项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6534150" y="2647950"/>
            <a:ext cx="50482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629400" y="2828925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>AA-SCM-005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7543800" y="2828925"/>
            <a:ext cx="400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B / D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8020050" y="2790825"/>
            <a:ext cx="419100" cy="209550"/>
          </a:xfrm>
          <a:prstGeom prst="roundRect">
            <a:avLst>
              <a:gd name="adj" fmla="val 9091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124825" y="282892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515350" y="2819400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3A4050"/>
                </a:solidFill>
                <a:latin typeface="Microsoft YaHei"/>
                <a:ea typeface="Microsoft YaHei"/>
              </a:rPr>
              <a:t xml:space="preserve">2026 H2 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并入订单中心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534150" y="3133725"/>
            <a:ext cx="504825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629400" y="3305175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>AA-RPT-008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543800" y="3305175"/>
            <a:ext cx="400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B / C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8020050" y="3267075"/>
            <a:ext cx="419100" cy="209550"/>
          </a:xfrm>
          <a:prstGeom prst="roundRect">
            <a:avLst>
              <a:gd name="adj" fmla="val 9091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124825" y="33051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2000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515350" y="3295650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3A4050"/>
                </a:solidFill>
                <a:latin typeface="Microsoft YaHei"/>
                <a:ea typeface="Microsoft YaHei"/>
              </a:rPr>
              <a:t xml:space="preserve">2026 H4 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接入数据服务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534150" y="3609975"/>
            <a:ext cx="5048250" cy="4857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629400" y="379095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>AA-OLD-012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543800" y="3790950"/>
            <a:ext cx="400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B / D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8020050" y="3752850"/>
            <a:ext cx="419100" cy="209550"/>
          </a:xfrm>
          <a:prstGeom prst="roundRect">
            <a:avLst>
              <a:gd name="adj" fmla="val 9091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124825" y="379095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退役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515350" y="3781425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3A4050"/>
                </a:solidFill>
                <a:latin typeface="Microsoft YaHei"/>
                <a:ea typeface="Microsoft YaHei"/>
              </a:rPr>
              <a:t xml:space="preserve">2026 H3 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数据归档后下线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534150" y="4095750"/>
            <a:ext cx="504825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629400" y="426720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>AA-TMP-033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543800" y="4267200"/>
            <a:ext cx="400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C / D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8020050" y="4229100"/>
            <a:ext cx="419100" cy="209550"/>
          </a:xfrm>
          <a:prstGeom prst="roundRect">
            <a:avLst>
              <a:gd name="adj" fmla="val 9091"/>
            </a:avLst>
          </a:prstGeom>
          <a:solidFill>
            <a:srgbClr val="B8BDC7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124825" y="42672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退役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515350" y="4257675"/>
            <a:ext cx="297180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3A4050"/>
                </a:solidFill>
                <a:latin typeface="Microsoft YaHei"/>
                <a:ea typeface="Microsoft YaHei"/>
              </a:rPr>
              <a:t xml:space="preserve">2026 H2 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直接清理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534150" y="4667250"/>
            <a:ext cx="5048250" cy="91440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686550" y="477202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两条硬规则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686550" y="5010150"/>
            <a:ext cx="4743450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每个应用必须给出决策，不允许留空；</a:t>
            </a:r>
            <a:endParaRPr/>
          </a:p>
          <a:p>
            <a:pPr>
              <a:lnSpc>
                <a:spcPct val="155000"/>
              </a:lnSpc>
            </a:pP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「维持」也要写下次复评时间——不做「永久维持」这个结论。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19 / 30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609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      &lt;Text style={{ fontSize: 300, fontWeight: 'bold', color: 'rgba(255,255,255,0.08)', lineHeight: 1.0 }}&gt;05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5&lt;/Text&gt;&#13;&#10; &lt;Box style={{ width: 72, height: 5, background: '#FA4F24', marginTop: 22 }} /&gt;&#13;&#10;        &lt;Text style={{ fontSize: 58, fontWeight: 'bold', color: '#FFFFFF', marginTop: 28, lineHeight: 1.15 }}&gt;数据流与事件流&lt;/Text&gt;&#13;&#10;        &lt;Text style={{ fontSize: 17, color: 'rgba(255,255,255,0.62)', letterSpacing: 2, marginTop: 20 }}&gt;DATA FLOW &amp; EVENT STREAM&lt;/Text&gt;&#13;&#10;   &lt;Text style={{ fontSize: 19, color: 'rgba(255,255,255,0.85)', marginTop: 26, lineHeight: 1.6 }}&gt;数据消费识别、服务化与事件契约&lt;/Text&gt;&#13;&#10;    &lt;/Box&gt;&#13;&#10;&#13;&#10;    {/* 右下页码 */}&#13;&#10;    &lt;Box style={{ position: 'absolute', right: 88, bottom: 64, flexDirection: 'row', alignItems: 'center', gap: 12 }}&gt;&#13;&#10;   &lt;Box style={{ width: 14, height: 14, background: '#FA4F24' }} /&gt;&#13;&#10;      &lt;Text style={{ fontSize: 14, color: 'rgba(255,255,255,0.5)' }}&gt;硕磐机密 · AA应用架构咨询方法论&lt;/Text&gt;&#13;&#10;  &lt;Text style={{ fontSize: 14, color: 'rgba(255,255,255,0.5)', marginLeft: 12 }}&gt;20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05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数据流与事件流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DATA FLOW &amp; EVENT STREAM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数据消费识别、服务化与事件契约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83820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629650" y="60864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20 / 30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622" name="" descr="&lt;Slide style={{ width: 1280, height: 720, background: '#FFFFFF', padding: '24px 64px 0' }}&gt;&#10;    {/* A 区 */}&#10;    &lt;Box style={{ height: 96, flexDirection: 'column', justifyContent: 'flex-start' }}&gt;&#10;    &lt;Text style={{ fontSize: 32, fontWeight: 'bold', color: '#0F1423' }}&gt;&#10; 之方法：&lt;span style={{ color: '#FA4F24' }}&gt;数据消费识别法&lt;/span&gt;，从「谁要数据」倒推服务&#10;        &lt;/Text&gt;&#10;        &lt;Text style={{ fontSize: 20, color: '#8A8F99', marginTop: 8 }}&gt;&#10;   这是 DA 与 AA 的正式交接界面——DA 定义数据，AA 决定这些数据以什么方式被谁拿走&#10;     &lt;/Text&gt;&#10;    &lt;/Box&gt;&#10;    &lt;Box style={{ height: 1, background: '#E8E8E8' }} /&gt;&#10;&#10;    {/* B 区 左标题栏 + 右三问 */}&#10;    &lt;Box style={{ paddingTop: 24, paddingBottom: 14, height: 479, flexDirection: 'row', gap: 20 }}&gt;&#10;&#10;        {/* 左 32% */}&#10;    &lt;Box style={{&#10;        width: 320, background: 'linear-gradient(160deg, #FA4F24 0%, #F87D2F 100%)',&#10;     borderRadius: 4, padding: 26, flexDirection: 'column', justifyContent: 'space-between',&#10;    }}&gt;&#10;    &lt;Box&gt;&#10;      &lt;Text style={{ fontSize: 15, color: 'rgba(255,255,255,0.8)', letterSpacing: 2 }}&gt;STEP 05 · DATA FLOW&lt;/Text&gt;&#10;     &lt;Text style={{ fontSize: 30, fontWeight: 'bold', color: '#FFFFFF', marginTop: 14, lineHeight: 1.25 }}&gt;&#10;     数据消费&#10;     &lt;br /&gt;&#10;      识别法&#10; &lt;/Text&gt;&#10;      &lt;/Box&gt;&#10;  &lt;Box&gt;&#10;     &lt;Box style={{ width: 44, height: 4, background: 'rgba(255,255,255,0.7)' }} /&gt;&#10;     &lt;Text style={{ fontSize: 17, color: 'rgba(255,255,255,0.94)', marginTop: 16, lineHeight: 1.55 }}&gt;&#10;    顺序是&lt;b style={{ fontWeight: 'bold' }}&gt;先问消费者，再定服务&lt;/b&gt;。&#10;   从「我们有什么数据」出发做服务，一定做出一堆没人用的接口。&#10;     &lt;/Text&gt;&#10;  &lt;/Box&gt;&#10;        &lt;/Box&gt;&#10;&#10;        {/* 右 68% */}&#10;      &lt;Box style={{ flex: 1, flexDirection: 'column', gap: 11 }}&gt;&#10;            &lt;Text style={{ fontSize: 21, fontWeight: 'bold', color: '#0F1423' }}&gt;对每项关键业务对象问三句&lt;/Text&gt;&#10;    {[&#10;          { n: '01', t: '谁要用？', en: 'CONSUMER', d: '列出全部消费方：前台应用、分析看板、外部报送、监管接口。一个对象超过 5 个消费方，要重新考虑粒度。', k: '消费方 ≤ 5' },&#10;     { n: '02', t: '用来做什么？', en: 'PURPOSE', d: '消费目的是什么决策或动作。答不上来的消费方，多半是「历史习惯」，应该考虑下线。', k: '目的可说清' },&#10;    { n: '03', t: '要什么粒度？', en: 'GRANULARITY', d: '要明细还是汇总、要实时还是 T+1。粒度定错服务就会返工——定高了浪费，定低了不够用。', k: '粒度先定' },&#10;].map((it, i) =&gt; (&#10;     &lt;Box key={i} style={{ flex: 1, flexDirection: 'row', alignItems: 'center', background: '#F7F7F8', borderRadius: 4, padding: '10px 16px', gap: 14, borderLeft: '4px solid #FA4F24' }}&gt;&#10;    &lt;Box style={{ width: 58 }}&gt;&#10;     &lt;Text style={{ fontSize: 24, fontWeight: 'bold', color: '#FA4F24' }}&gt;{it.n}&lt;/Text&gt;&#10;       &lt;Text style={{ fontSize: 8, color: '#B8BDC7' }}&gt;{it.en}&lt;/Text&gt;&#10;    &lt;/Box&gt;&#10;        &lt;Text style={{ fontSize: 18, fontWeight: 'bold', color: '#0F1423', width: 134 }}&gt;{it.t}&lt;/Text&gt;&#10;      &lt;Text style={{ fontSize: 14, color: '#3A4050', lineHeight: 1.45, flex: 1 }}&gt;{it.d}&lt;/Text&gt;&#10;  &lt;Box style={{ width: 100, background: 'rgba(250,79,36,0.1)', borderRadius: 3, padding: '6px 4px' }}&gt;&#10;      &lt;Text style={{ fontSize: 11, color: '#C43A17', textAlign: 'center', lineHeight: 1.3 }}&gt;{it.k}&lt;/Text&gt;&#10;   &lt;/Box&gt;&#10;     &lt;/Box&gt;&#10;       ))}&#10;      &lt;Box style={{ flex: 1, background: 'rgba(250,79,36,0.06)', borderRadius: 4, padding: '10px 18px', borderLeft: '4px solid #FA4F24', flexDirection: 'column', justifyContent: 'center' }}&gt;&#10;   &lt;Text style={{ fontSize: 16, fontWeight: 'bold', color: '#C43A17' }}&gt;产出：数据服务清单&lt;/Text&gt;&#10;      &lt;Text style={{ fontSize: 14, color: '#3A4050', lineHeight: 1.5, marginTop: 4 }}&gt;&#10; 一行一个「业务对象 × 消费方 × 粒度 × 时效」，写明是实时接口还是 T+1 推送。&#10; 这张表会直接变成下一页的数据服务目录。&#10;       &lt;/Text&gt;&#10;        &lt;/Box&gt;&#10;   &lt;/Box&gt;&#10; &lt;/Box&gt;&#10;&#10;    {/* C 区 */}&#10;    &lt;Box style={{ height: 60, flexDirection: 'row', alignItems: 'center', justifyContent: 'space-between' }}&gt;&#10;        &lt;Box style={{ flexDirection: 'row', alignItems: 'center', gap: 10 }}&gt;&#10;     &lt;Box style={{ width: 14, height: 14, background: '#FA4F24' }} /&gt;&#10;     &lt;Text style={{ fontSize: 14, color: '#8A8F99' }}&gt;硕磐机密 · AA应用架构咨询方法论&lt;/Text&gt;&#10;    &lt;/Box&gt;&#10;        &lt;Text style={{ fontSize: 14, color: '#8A8F99' }}&gt;21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数据消费识别法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，从「谁要数据」倒推服务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与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的正式交接界面——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定义数据，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决定这些数据以什么方式被谁拿走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609600" y="1381125"/>
            <a:ext cx="3048000" cy="4200525"/>
          </a:xfrm>
          <a:prstGeom prst="roundRect">
            <a:avLst>
              <a:gd name="adj" fmla="val 125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STEP 05 · DATA FLOW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57250" y="1933575"/>
            <a:ext cx="25527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数据消费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识别法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857250" y="423862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57250" y="4429125"/>
            <a:ext cx="25527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顺序是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先问消费者，再定服务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。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从「我们有什么数据」出发做服务，一定做出一堆没人用的接口。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848100" y="1381125"/>
            <a:ext cx="773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对每项关键业务对象问三句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3886200" y="1733550"/>
            <a:ext cx="7734300" cy="819150"/>
          </a:xfrm>
          <a:prstGeom prst="roundRect">
            <a:avLst>
              <a:gd name="adj" fmla="val 46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3886200" y="1733550"/>
            <a:ext cx="7734300" cy="819150"/>
          </a:xfrm>
          <a:custGeom>
            <a:pathLst>
              <a:path w="812" h="86">
                <a:moveTo>
                  <a:pt x="4" y="86"/>
                </a:moveTo>
                <a:cubicBezTo>
                  <a:pt x="2" y="86"/>
                  <a:pt x="0" y="84"/>
                  <a:pt x="0" y="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4038600" y="1962150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4038600" y="2238375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CONSUMER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724400" y="2038350"/>
            <a:ext cx="1276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谁要用？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134100" y="1914525"/>
            <a:ext cx="42100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列出全部消费方：前台应用、分析看板、外部报送、监管接口。一个对象超过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个消费方，要重新考虑粒度。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10477500" y="2000250"/>
            <a:ext cx="9525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0515600" y="2057400"/>
            <a:ext cx="8763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消费方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≤ 5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3886200" y="2657475"/>
            <a:ext cx="7734300" cy="828675"/>
          </a:xfrm>
          <a:prstGeom prst="roundRect">
            <a:avLst>
              <a:gd name="adj" fmla="val 459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3886200" y="2657475"/>
            <a:ext cx="7734300" cy="828675"/>
          </a:xfrm>
          <a:custGeom>
            <a:pathLst>
              <a:path w="812" h="87">
                <a:moveTo>
                  <a:pt x="4" y="87"/>
                </a:moveTo>
                <a:cubicBezTo>
                  <a:pt x="2" y="87"/>
                  <a:pt x="0" y="85"/>
                  <a:pt x="0" y="8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4038600" y="2886075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4038600" y="3162300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PURPOSE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4724400" y="2971800"/>
            <a:ext cx="1276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用来做什么？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134100" y="2838450"/>
            <a:ext cx="42100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消费目的是什么决策或动作。答不上来的消费方，多半是「历史习惯」，应该考虑下线。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10477500" y="2933700"/>
            <a:ext cx="9525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0515600" y="2990850"/>
            <a:ext cx="8763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目的可说清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3886200" y="3590925"/>
            <a:ext cx="7734300" cy="819150"/>
          </a:xfrm>
          <a:prstGeom prst="roundRect">
            <a:avLst>
              <a:gd name="adj" fmla="val 46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0" name=""/>
          <p:cNvSpPr/>
          <p:nvPr/>
        </p:nvSpPr>
        <p:spPr>
          <a:xfrm rot="0" flipH="0" flipV="0">
            <a:off x="3886200" y="3590925"/>
            <a:ext cx="7734300" cy="819150"/>
          </a:xfrm>
          <a:custGeom>
            <a:pathLst>
              <a:path w="812" h="86">
                <a:moveTo>
                  <a:pt x="4" y="86"/>
                </a:moveTo>
                <a:cubicBezTo>
                  <a:pt x="2" y="86"/>
                  <a:pt x="0" y="84"/>
                  <a:pt x="0" y="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4038600" y="3819525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4038600" y="4095750"/>
            <a:ext cx="5524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B8BDC7"/>
                </a:solidFill>
                <a:latin typeface="Microsoft YaHei"/>
                <a:ea typeface="Microsoft YaHei"/>
              </a:rPr>
              <a:t>GRANULARITY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4724400" y="3895725"/>
            <a:ext cx="1276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要什么粒度？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134100" y="3771900"/>
            <a:ext cx="42100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要明细还是汇总、要实时还是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T+1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。粒度定错服务就会返工——定高了浪费，定低了不够用。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10477500" y="3857625"/>
            <a:ext cx="952500" cy="285750"/>
          </a:xfrm>
          <a:prstGeom prst="roundRect">
            <a:avLst>
              <a:gd name="adj" fmla="val 10000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10515600" y="3914775"/>
            <a:ext cx="8763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粒度先定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3886200" y="4514850"/>
            <a:ext cx="7734300" cy="1066800"/>
          </a:xfrm>
          <a:prstGeom prst="roundRect">
            <a:avLst>
              <a:gd name="adj" fmla="val 3571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658" name=""/>
          <p:cNvSpPr/>
          <p:nvPr/>
        </p:nvSpPr>
        <p:spPr>
          <a:xfrm rot="0" flipH="0" flipV="0">
            <a:off x="3886200" y="4514850"/>
            <a:ext cx="7734300" cy="1066800"/>
          </a:xfrm>
          <a:custGeom>
            <a:pathLst>
              <a:path w="812" h="112">
                <a:moveTo>
                  <a:pt x="4" y="112"/>
                </a:moveTo>
                <a:cubicBezTo>
                  <a:pt x="2" y="112"/>
                  <a:pt x="0" y="110"/>
                  <a:pt x="0" y="10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4057650" y="4695825"/>
            <a:ext cx="735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产出：数据服务清单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4057650" y="4924425"/>
            <a:ext cx="73533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一行一个「业务对象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消费方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粒度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时效」，写明是实时接口还是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T+1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推送。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这张表会直接变成下一页的数据服务目录。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21 / 30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664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之内容：&lt;span style={{ color: '#FA4F24' }}&gt;数据服务化与事件契约&lt;/span&gt;，从「数出一孔」到「数不乱」&#10;        &lt;/Text&gt;&#10;    &lt;Text style={{ fontSize: 20, color: '#8A8F99', marginTop: 8 }}&gt;&#10;            服务化解决「不让别人直连我的库」，事件契约解决「改了之后怎么通知别人」&#10;        &lt;/Text&gt;&#10;    &lt;/Box&gt;&#10;    &lt;Box style={{ height: 1, background: '#E8E8E8' }} /&gt;&#10;&#10;    {/* B 区 */}&#10;    &lt;Box style={{ paddingTop: 24, paddingBottom: 14, height: 479, flexDirection: 'row', gap: 22 }}&gt;&#10;&#10;        {/* 左 数据服务化 */}&#10;        &lt;Box style={{ width: 630, flexDirection: 'column', gap: 10 }}&gt;&#10;        &lt;Text style={{ fontSize: 20, fontWeight: 'bold', color: '#0F1423', marginBottom: 2 }}&gt;数据服务化四步&lt;/Text&gt;&#10;  {[&#10;        { n: '01', t: '收口', d: '源系统只对外暴露数据服务，不暴露库表。禁止直连只读账号。', c: '#0F1423', tc: '#FFFFFF' },&#10;        { n: '02', t: '定义', d: '服务基于业务对象定义，不基于物理表。字段语义挂 DA 的数据标准。', c: '#FA4F24', tc: '#FFFFFF' },&#10;      { n: '03', t: '编排', d: '共性服务上移下沉，个性服务留在业务应用。避免每个消费方各造一套。', c: '#FBA15C', tc: '#3A2000' },&#10;      { n: '04', t: '计量', d: '每个服务记录调用方、频次、字段使用情况。低使用率服务合并下线。', c: '#FDC69A', tc: '#3A2000' },&#10;     ].map((it, i) =&gt; (&#10;        &lt;Box key={i} style={{ flex: 1, flexDirection: 'row', alignItems: 'center', background: it.c, borderRadius: 4, padding: '0 18px', gap: 14 }}&gt;&#10;      &lt;Text style={{ fontSize: 22, fontWeight: 'bold', color: it.tc, width: 34 }}&gt;{it.n}&lt;/Text&gt;&#10;       &lt;Text style={{ fontSize: 17, fontWeight: 'bold', color: it.tc, width: 52 }}&gt;{it.t}&lt;/Text&gt;&#10;    &lt;Text style={{ fontSize: 14, color: it.tc, opacity: 0.9, flex: 1 }}&gt;{it.d}&lt;/Text&gt;&#10;      {i &lt; 3 &amp;&amp; &lt;Text style={{ fontSize: 15, color: it.tc, opacity: 0.75 }}&gt;↓&lt;/Text&gt;}&#10;    &lt;/Box&gt;&#10;      ))}&#10;        &lt;Box style={{ height: 82, background: '#F7F7F8', borderRadius: 4, padding: '12px 18px', borderLeft: '4px solid #FA4F24', flexDirection: 'column', justifyContent: 'center' }}&gt;&#10;        &lt;Text style={{ fontSize: 16, fontWeight: 'bold', color: '#C43A17' }}&gt;★ 第四步最容易被忽略&lt;/Text&gt;&#10;      &lt;Text style={{ fontSize: 14, color: '#3A4050', lineHeight: 1.5, marginTop: 4 }}&gt;&#10;     数据服务建完之后如果没有计量，用例会一路增长，直到没人知道哪个还在被用。&#10;    没有使用统计的服务目录，一定会在两年后变成垃圾场。&#10;    &lt;/Text&gt;&#10;        &lt;/Box&gt;&#10;    &lt;/Box&gt;&#10;&#10;        {/* 右 事件契约 */}&#10;     &lt;Box style={{ flex: 1, flexDirection: 'column', gap: 12 }}&gt;&#10;            &lt;Text style={{ fontSize: 20, fontWeight: 'bold', color: '#0F1423' }}&gt;事件契约要约定什么&lt;/Text&gt;&#10;     {[&#10;   { t: '事件语义', d: '发生了什么业务事实（订单已发货），不是「某表被更新了」', c: '#FA4F24' },&#10;   { t: '触发与顺序', d: '什么条件下触发；同一实体的多个事件是否保证顺序', c: '#F8622F' },&#10;    { t: '幂等与去重', d: '消费方必须能识别重复消费。契约要写明去重键', c: '#FBA15C' },&#10;    { t: '失败与补偿', d: '消费失败怎么办：重试几次、进死信还是人工介入', c: '#FDC69A', tc: '#3A2000' },&#10;   ].map((it, i) =&gt; (&#10;         &lt;Box key={i} style={{ flex: 1, flexDirection: 'row', alignItems: 'center', background: '#F7F7F8', borderRadius: 4, padding: '0 16px', gap: 12, borderLeft: `4px solid ${it.c}` }}&gt;&#10;    &lt;Text style={{ fontSize: 17, fontWeight: 'bold', color: '#0F1423', width: 106 }}&gt;{it.t}&lt;/Text&gt;&#10;      &lt;Text style={{ fontSize: 13, color: '#3A4050', flex: 1, lineHeight: 1.45 }}&gt;{it.d}&lt;/Text&gt;&#10;   &lt;/Box&gt;&#10;     ))}&#10; &lt;Box style={{ flex: 1, background: 'linear-gradient(160deg, #FA4F24 0%, #F87D2F 100%)', borderRadius: 4, padding: '14px 18px', flexDirection: 'column', justifyContent: 'center' }}&gt;&#10; &lt;Text style={{ fontSize: 16, fontWeight: 'bold', color: '#FFFFFF' }}&gt;同步 vs 事件的选择&lt;/Text&gt;&#10;    &lt;Text style={{ fontSize: 14, color: 'rgba(255,255,255,0.95)', lineHeight: 1.5, marginTop: 5 }}&gt;&#10;     需要对方立刻给结果 → 同步接口；只需要「通知你一声」→ 发事件。&#10;     事件用多了排查困难，所以只在跨域通知时用。&#10;    &lt;/Text&gt;&#10;     &lt;/Box&gt;&#10;        &lt;/Box&gt;&#10;    &lt;/Box&gt;&#10;&#10;    {/* C 区 */}&#10;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&lt;Text style={{ fontSize: 14, color: '#8A8F99' }}&gt;硕磐机密 · AA应用架构咨询方法论&lt;/Text&gt;&#10;   &lt;/Box&gt;&#10;        &lt;Text style={{ fontSize: 14, color: '#8A8F99' }}&gt;22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数据服务化与事件契约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，从「数出一孔」到「数不乱」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服务化解决「不让别人直连我的库」，事件契约解决「改了之后怎么通知别人」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600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数据服务化四步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09600" y="1724025"/>
            <a:ext cx="6000750" cy="676275"/>
          </a:xfrm>
          <a:prstGeom prst="roundRect">
            <a:avLst>
              <a:gd name="adj" fmla="val 563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781050" y="19335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1238250" y="1962150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收口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609600" y="2495550"/>
            <a:ext cx="6000750" cy="676275"/>
          </a:xfrm>
          <a:prstGeom prst="roundRect">
            <a:avLst>
              <a:gd name="adj" fmla="val 563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781050" y="27051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238250" y="2733675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609600" y="3267075"/>
            <a:ext cx="6000750" cy="666750"/>
          </a:xfrm>
          <a:prstGeom prst="roundRect">
            <a:avLst>
              <a:gd name="adj" fmla="val 5714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81050" y="347662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200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1238250" y="3505200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编排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09600" y="4029075"/>
            <a:ext cx="6000750" cy="676275"/>
          </a:xfrm>
          <a:prstGeom prst="roundRect">
            <a:avLst>
              <a:gd name="adj" fmla="val 5634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781050" y="423862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200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1238250" y="4267200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计量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47700" y="4800600"/>
            <a:ext cx="6000750" cy="781050"/>
          </a:xfrm>
          <a:prstGeom prst="roundRect">
            <a:avLst>
              <a:gd name="adj" fmla="val 487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3" name=""/>
          <p:cNvSpPr/>
          <p:nvPr/>
        </p:nvSpPr>
        <p:spPr>
          <a:xfrm rot="0" flipH="0" flipV="0">
            <a:off x="647700" y="4800600"/>
            <a:ext cx="6000750" cy="781050"/>
          </a:xfrm>
          <a:custGeom>
            <a:pathLst>
              <a:path w="630" h="82">
                <a:moveTo>
                  <a:pt x="4" y="82"/>
                </a:moveTo>
                <a:cubicBezTo>
                  <a:pt x="2" y="82"/>
                  <a:pt x="0" y="80"/>
                  <a:pt x="0" y="7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819150" y="4838700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第四步最容易被忽略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19150" y="5067300"/>
            <a:ext cx="56197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数据服务建完之后如果没有计量，用例会一路增长，直到没人知道哪个还在被用。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没有使用统计的服务目录，一定会在两年后变成垃圾场。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819900" y="138112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事件契约要约定什么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858000" y="1724025"/>
            <a:ext cx="4762500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6858000" y="1724025"/>
            <a:ext cx="4762500" cy="704850"/>
          </a:xfrm>
          <a:custGeom>
            <a:pathLst>
              <a:path w="500" h="74">
                <a:moveTo>
                  <a:pt x="4" y="74"/>
                </a:move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7010400" y="1981200"/>
            <a:ext cx="100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事件语义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134350" y="1857375"/>
            <a:ext cx="32956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发生了什么业务事实（订单已发货），不是「某表被更新了」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858000" y="2543175"/>
            <a:ext cx="4762500" cy="47625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6858000" y="2543175"/>
            <a:ext cx="4762500" cy="476250"/>
          </a:xfrm>
          <a:custGeom>
            <a:pathLst>
              <a:path w="500" h="50">
                <a:moveTo>
                  <a:pt x="4" y="50"/>
                </a:moveTo>
                <a:cubicBezTo>
                  <a:pt x="2" y="50"/>
                  <a:pt x="0" y="48"/>
                  <a:pt x="0" y="4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0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010400" y="2686050"/>
            <a:ext cx="100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触发与顺序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134350" y="2676525"/>
            <a:ext cx="3295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什么条件下触发；同一实体的多个事件是否保证顺序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858000" y="3133725"/>
            <a:ext cx="4762500" cy="485775"/>
          </a:xfrm>
          <a:prstGeom prst="roundRect">
            <a:avLst>
              <a:gd name="adj" fmla="val 78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6858000" y="3133725"/>
            <a:ext cx="4762500" cy="485775"/>
          </a:xfrm>
          <a:custGeom>
            <a:pathLst>
              <a:path w="500" h="51">
                <a:moveTo>
                  <a:pt x="4" y="51"/>
                </a:moveTo>
                <a:cubicBezTo>
                  <a:pt x="2" y="51"/>
                  <a:pt x="0" y="49"/>
                  <a:pt x="0" y="4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7010400" y="3276600"/>
            <a:ext cx="100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幂等与去重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134350" y="3267075"/>
            <a:ext cx="3295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消费方必须能识别重复消费。契约要写明去重键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6858000" y="3733800"/>
            <a:ext cx="4762500" cy="47625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0" name=""/>
          <p:cNvSpPr/>
          <p:nvPr/>
        </p:nvSpPr>
        <p:spPr>
          <a:xfrm rot="0" flipH="0" flipV="0">
            <a:off x="6858000" y="3733800"/>
            <a:ext cx="4762500" cy="476250"/>
          </a:xfrm>
          <a:custGeom>
            <a:pathLst>
              <a:path w="500" h="50">
                <a:moveTo>
                  <a:pt x="4" y="50"/>
                </a:moveTo>
                <a:cubicBezTo>
                  <a:pt x="2" y="50"/>
                  <a:pt x="0" y="48"/>
                  <a:pt x="0" y="4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0"/>
                </a:lnTo>
                <a:close/>
              </a:path>
            </a:pathLst>
          </a:custGeom>
          <a:solidFill>
            <a:srgbClr val="FDC69A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7010400" y="3876675"/>
            <a:ext cx="100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失败与补偿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134350" y="3867150"/>
            <a:ext cx="3295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消费失败怎么办：重试几次、进死信还是人工介入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6819900" y="4324350"/>
            <a:ext cx="4762500" cy="1257300"/>
          </a:xfrm>
          <a:prstGeom prst="roundRect">
            <a:avLst>
              <a:gd name="adj" fmla="val 303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991350" y="4591050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同步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事件的选择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991350" y="4829175"/>
            <a:ext cx="4419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需要对方立刻给结果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同步接口；只需要「通知你一声」→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发事件。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事件用多了排查困难，所以只在跨域通知时用。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22 / 30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1866900" y="198120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源系统只对外暴露数据服务，不暴露库表。禁止直连只读账号。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6362700" y="19812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866900" y="275272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服务基于业务对象定义，不基于物理表。字段语义挂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的数据标准。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6362700" y="27527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866900" y="352425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>共性服务上移下沉，个性服务留在业务应用。避免每个消费方各造一套。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6362700" y="351472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3A2000">
                    <a:alpha val="75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1866900" y="428625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>每个服务记录调用方、频次、字段使用情况。低使用率服务合并下线。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716" name="" descr="&lt;Slide style={{ width: 1280, height: 720, background: '#FFFFFF', padding: '24px 64px 0' }}&gt;&#10;  {/* A 区 */}&#10;  &lt;Box style={{ height: 96, flexDirection: 'column', justifyContent: 'flex-start' }}&gt;&#10;  &lt;Text style={{ fontSize: 32, fontWeight: 'bold', color: '#0F1423' }}&gt;&#10;      之模板：&lt;span style={{ color: '#FA4F24' }}&gt;数据服务目录 + 事件契约&lt;/span&gt;，两张表把集成资产化&#10; &lt;/Text&gt;&#10;    &lt;Text style={{ fontSize: 20, color: '#8A8F99', marginTop: 8 }}&gt;&#10;      一张管「谁在给数据」，一张管「谁在发事件」，都是可以直接发出去执行的东西&#10;    &lt;/Text&gt;&#10;  &lt;/Box&gt;&#10;    &lt;Box style={{ height: 1, background: '#E8E8E8' }} /&gt;&#10;&#10;  {/* B 区 */}&#10;  &lt;Box style={{ paddingTop: 22, paddingBottom: 12, height: 479, flexDirection: 'row', gap: 20 }}&gt;&#10;        {/* 左 数据服务目录模板 */}&#10;        &lt;Box style={{ width: 620, flexDirection: 'column', gap: 8 }}&gt;&#10;        &lt;Text style={{ fontSize: 20, fontWeight: 'bold', color: '#0F1423' }}&gt;模板一 · 数据服务目录&lt;/Text&gt;&#10;            &lt;Box style={{ flexDirection: 'row', gap: 4 }}&gt;&#10;{['服务编号', '服务名称', '提供方', '消费方', 'SLA', '调用量'].map((t, i) =&gt; (&#10;     &lt;Box key={i} style={{ flex: 1, background: '#0F1423', padding: '7px 4px', alignItems: 'center', borderRadius: 2 }}&gt;&#10;          &lt;Text style={{ fontSize: 13, fontWeight: 'bold', color: '#FFFFFF' }}&gt;{t}&lt;/Text&gt;&#10;            &lt;/Box&gt;&#10;       ))}&#10;  &lt;/Box&gt;&#10;        {[&#10;        { id: 'DS-001', n: '客户主数据服务', p: 'CRM', c: '订单/结算/风控', s: '99.9%', v: '日 12万' },&#10;    { id: 'DS-002', n: '组织机构树服务', p: 'OA', c: '审批/门户/BI', s: '99.5%', v: '日 3万' },&#10;    { id: 'DS-003', n: '合同台账服务', p: 'CLM', c: '收款/税务', s: '99.9%', v: '日 0.8万' },&#10;     { id: 'DS-004', n: '项目预算服务', p: 'EAM', c: '财务/报表', s: '99.0%', v: '日 0.2万' },&#10;     ].map((it, i) =&gt; (&#10;  &lt;Box key={i} style={{ flexDirection: 'row', gap: 4, alignItems: 'center' }}&gt;&#10;         {[&#10;   { v: it.id, c: '#FA4F24' },&#10;    { v: it.n, c: '#0F1423' },&#10;    { v: it.p, c: '#3A4050' },&#10;      { v: it.c, c: '#3A4050' },&#10;    { v: it.s, c: '#3A4050' },&#10;     { v: it.v, c: i === 3 ? '#C43A17' : '#3A4050' },&#10;       ].map((c, j) =&gt; (&#10;           &lt;Box key={j} style={{ flex: 1, background: i === 3 ? '#FFF3EE' : '#F7F7F8', padding: '6px 4px', alignItems: 'center', borderRadius: 2, borderBottom: `1px solid ${c.c}` }}&gt;&#10;            &lt;Text style={{ fontSize: 12, color: c.c, fontWeight: j === 0 || j === 1 ? 'bold' : 'normal' }}&gt;{c.v}&lt;/Text&gt;&#10;       &lt;/Box&gt;&#10;       ))}&#10; &lt;/Box&gt;&#10;        ))}&#10;   &lt;Box style={{ flex: 1, background: '#F7F7F8', borderRadius: 4, padding: '10px 16px', borderLeft: '4px solid #FA4F24', flexDirection: 'column', justifyContent: 'center' }}&gt;&#10;            &lt;Text style={{ fontSize: 15, fontWeight: 'bold', color: '#C43A17' }}&gt;必填四列：消费方、SLA、调用量&lt;/Text&gt;&#10;            &lt;Text style={{ fontSize: 13, color: '#3A4050', lineHeight: 1.5, marginTop: 4 }}&gt;&#10;         少了消费方就没人负责下线；少了调用量就无法判断该合该停。&#10;    最后一行示例是典型的「三年没动过」服务，属于合并候选。&#10;       &lt;/Text&gt;&#10;        &lt;/Box&gt;&#10;      &lt;/Box&gt;&#10;&#10;     {/* 右 事件契约模板 */}&#10;        &lt;Box style={{ flex: 1, flexDirection: 'column', gap: 8 }}&gt;&#10;            &lt;Text style={{ fontSize: 20, fontWeight: 'bold', color: '#0F1423' }}&gt;模板二 · 事件契约&lt;/Text&gt;&#10;        &lt;Box style={{ background: '#0F1423', borderRadius: 4, padding: '14px 16px', flexDirection: 'column' }}&gt;&#10;  {[&#10;    '事件名：ShipmentDispatched',&#10;            '业务语义：货物已离仓，物理交接完成',&#10;    '触发者：WMS 出库单状态流转',&#10;    '去重键：shipment_id + status',&#10;    '顺序保证：同一 shipment_id 内有序',&#10;    '失败处理：重试 3 次 → 死信 → 人工',&#10;          ].map((t, i) =&gt; (&#10;      &lt;Text key={i} style={{ fontSize: 13, color: i === 0 ? '#FBA15C' : 'rgba(255,255,255,0.86)', fontFamily: 'monospace', lineHeight: 1.7 }}&gt;&#10;       {t}&#10;       &lt;/Text&gt;&#10;      ))}&#10;      &lt;/Box&gt;&#10;   {[&#10;    { t: '签契约前先问', d: '消费方是系统还是人？系统要自己保证幂等' },&#10;       { t: '事件名要带业务动作', d: 'OrderPaid 好过 TableBUpdated，后者没人看得懂' },&#10;    { t: '留一条补偿通道', d: '死信必须有人看，否则等于静默丢数据' },&#10;        ].map((it, i) =&gt; (&#10;       &lt;Box key={i} style={{ flex: 1, background: '#F7F7F8', borderRadius: 4, padding: '0 14px', flexDirection: 'row', alignItems: 'center', gap: 12 }}&gt;&#10;            &lt;Text style={{ fontSize: 13, fontWeight: 'bold', color: '#FA4F24', width: 116 }}&gt;{it.t}&lt;/Text&gt;&#10;      &lt;Text style={{ fontSize: 13, color: '#3A4050', flex: 1, lineHeight: 1.45 }}&gt;{it.d}&lt;/Text&gt;&#10;     &lt;/Box&gt;&#10;    ))}&#10;        &lt;/Box&gt;&#10;    &lt;/Box&gt;&#10;&#10;    {/* C 区 */}&#10;  &lt;Box style={{ height: 58, flexDirection: 'row', alignItems: 'center', borderTop: '1px solid #E8E8E8' }}&gt;&#10;      &lt;Box style={{ width: 10, height: 10, background: '#FA4F24' }} /&gt;&#10;   &lt;Text style={{ fontSize: 13, color: '#8A8F99', marginLeft: 12 }}&gt;硕磐机密 · AA应用架构咨询方法论&lt;/Text&gt;&#10;  &lt;Text style={{ fontSize: 13, color: '#8A8F99', marginLeft: 'auto' }}&gt;23 / 30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数据服务目录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事件契约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，两张表把集成资产化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一张管「谁在给数据」，一张管「谁在发事件」，都是可以直接发出去执行的东西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模板一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数据服务目录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609600" y="1666875"/>
            <a:ext cx="952500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838200" y="1733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服务编号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1600200" y="1666875"/>
            <a:ext cx="952500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1828800" y="1733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服务名称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2590800" y="1666875"/>
            <a:ext cx="952500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2886075" y="17335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提供方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3581400" y="1666875"/>
            <a:ext cx="952500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3876675" y="17335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消费方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4572000" y="1666875"/>
            <a:ext cx="952500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4924425" y="17335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SLA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5562600" y="1666875"/>
            <a:ext cx="952500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5857875" y="17335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调用量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609600" y="20288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609600" y="20288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876300" y="2085975"/>
            <a:ext cx="428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DS-001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1600200" y="20288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8" name=""/>
          <p:cNvSpPr/>
          <p:nvPr/>
        </p:nvSpPr>
        <p:spPr>
          <a:xfrm rot="0" flipH="0" flipV="0">
            <a:off x="1600200" y="20288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1676400" y="20859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客户主数据服务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2590800" y="20288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41" name=""/>
          <p:cNvSpPr/>
          <p:nvPr/>
        </p:nvSpPr>
        <p:spPr>
          <a:xfrm rot="0" flipH="0" flipV="0">
            <a:off x="2590800" y="20288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2933700" y="2085975"/>
            <a:ext cx="266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CRM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3581400" y="20288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44" name=""/>
          <p:cNvSpPr/>
          <p:nvPr/>
        </p:nvSpPr>
        <p:spPr>
          <a:xfrm rot="0" flipH="0" flipV="0">
            <a:off x="3581400" y="20288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3667125" y="2085975"/>
            <a:ext cx="790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订单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结算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风控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4572000" y="20288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47" name=""/>
          <p:cNvSpPr/>
          <p:nvPr/>
        </p:nvSpPr>
        <p:spPr>
          <a:xfrm rot="0" flipH="0" flipV="0">
            <a:off x="4572000" y="20288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4886325" y="20859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99.9%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5562600" y="20288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0" name=""/>
          <p:cNvSpPr/>
          <p:nvPr/>
        </p:nvSpPr>
        <p:spPr>
          <a:xfrm rot="0" flipH="0" flipV="0">
            <a:off x="5562600" y="20288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5838825" y="208597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日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12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609600" y="23717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3" name=""/>
          <p:cNvSpPr/>
          <p:nvPr/>
        </p:nvSpPr>
        <p:spPr>
          <a:xfrm rot="0" flipH="0" flipV="0">
            <a:off x="609600" y="23717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876300" y="2428875"/>
            <a:ext cx="428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DS-002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1600200" y="23717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6" name=""/>
          <p:cNvSpPr/>
          <p:nvPr/>
        </p:nvSpPr>
        <p:spPr>
          <a:xfrm rot="0" flipH="0" flipV="0">
            <a:off x="1600200" y="23717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1676400" y="24288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组织机构树服务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2590800" y="23717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9" name=""/>
          <p:cNvSpPr/>
          <p:nvPr/>
        </p:nvSpPr>
        <p:spPr>
          <a:xfrm rot="0" flipH="0" flipV="0">
            <a:off x="2590800" y="23717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2981325" y="2428875"/>
            <a:ext cx="180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OA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3581400" y="23717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2" name=""/>
          <p:cNvSpPr/>
          <p:nvPr/>
        </p:nvSpPr>
        <p:spPr>
          <a:xfrm rot="0" flipH="0" flipV="0">
            <a:off x="3581400" y="23717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3724275" y="2428875"/>
            <a:ext cx="666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审批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门户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/BI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4572000" y="23717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5" name=""/>
          <p:cNvSpPr/>
          <p:nvPr/>
        </p:nvSpPr>
        <p:spPr>
          <a:xfrm rot="0" flipH="0" flipV="0">
            <a:off x="4572000" y="23717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4886325" y="24288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99.5%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5562600" y="23717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8" name=""/>
          <p:cNvSpPr/>
          <p:nvPr/>
        </p:nvSpPr>
        <p:spPr>
          <a:xfrm rot="0" flipH="0" flipV="0">
            <a:off x="5562600" y="23717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5876925" y="24288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日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609600" y="27146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1" name=""/>
          <p:cNvSpPr/>
          <p:nvPr/>
        </p:nvSpPr>
        <p:spPr>
          <a:xfrm rot="0" flipH="0" flipV="0">
            <a:off x="609600" y="27146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76300" y="2771775"/>
            <a:ext cx="428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DS-003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1600200" y="27146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4" name=""/>
          <p:cNvSpPr/>
          <p:nvPr/>
        </p:nvSpPr>
        <p:spPr>
          <a:xfrm rot="0" flipH="0" flipV="0">
            <a:off x="1600200" y="27146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1733550" y="27717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合同台账服务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2590800" y="27146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7" name=""/>
          <p:cNvSpPr/>
          <p:nvPr/>
        </p:nvSpPr>
        <p:spPr>
          <a:xfrm rot="0" flipH="0" flipV="0">
            <a:off x="2590800" y="27146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2943225" y="27717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CLM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3581400" y="27146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0" name=""/>
          <p:cNvSpPr/>
          <p:nvPr/>
        </p:nvSpPr>
        <p:spPr>
          <a:xfrm rot="0" flipH="0" flipV="0">
            <a:off x="3581400" y="27146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3800475" y="2771775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收款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税务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4572000" y="27146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3" name=""/>
          <p:cNvSpPr/>
          <p:nvPr/>
        </p:nvSpPr>
        <p:spPr>
          <a:xfrm rot="0" flipH="0" flipV="0">
            <a:off x="4572000" y="27146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4886325" y="27717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99.9%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5562600" y="27146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6" name=""/>
          <p:cNvSpPr/>
          <p:nvPr/>
        </p:nvSpPr>
        <p:spPr>
          <a:xfrm rot="0" flipH="0" flipV="0">
            <a:off x="5562600" y="27146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5829300" y="2771775"/>
            <a:ext cx="428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日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0.8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609600" y="30575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89" name=""/>
          <p:cNvSpPr/>
          <p:nvPr/>
        </p:nvSpPr>
        <p:spPr>
          <a:xfrm rot="0" flipH="0" flipV="0">
            <a:off x="609600" y="30575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876300" y="3114675"/>
            <a:ext cx="428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DS-004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1600200" y="30575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92" name=""/>
          <p:cNvSpPr/>
          <p:nvPr/>
        </p:nvSpPr>
        <p:spPr>
          <a:xfrm rot="0" flipH="0" flipV="0">
            <a:off x="1600200" y="30575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1733550" y="31146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项目预算服务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2590800" y="30575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95" name=""/>
          <p:cNvSpPr/>
          <p:nvPr/>
        </p:nvSpPr>
        <p:spPr>
          <a:xfrm rot="0" flipH="0" flipV="0">
            <a:off x="2590800" y="30575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2943225" y="3114675"/>
            <a:ext cx="257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EAM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3581400" y="30575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98" name=""/>
          <p:cNvSpPr/>
          <p:nvPr/>
        </p:nvSpPr>
        <p:spPr>
          <a:xfrm rot="0" flipH="0" flipV="0">
            <a:off x="3581400" y="30575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3800475" y="3114675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财务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报表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4572000" y="30575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01" name=""/>
          <p:cNvSpPr/>
          <p:nvPr/>
        </p:nvSpPr>
        <p:spPr>
          <a:xfrm rot="0" flipH="0" flipV="0">
            <a:off x="4572000" y="30575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4886325" y="31146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99.0%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5562600" y="3057525"/>
            <a:ext cx="952500" cy="2667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04" name=""/>
          <p:cNvSpPr/>
          <p:nvPr/>
        </p:nvSpPr>
        <p:spPr>
          <a:xfrm rot="0" flipH="0" flipV="0">
            <a:off x="5562600" y="3057525"/>
            <a:ext cx="952500" cy="266700"/>
          </a:xfrm>
          <a:custGeom>
            <a:pathLst>
              <a:path w="100" h="28">
                <a:moveTo>
                  <a:pt x="0" y="26"/>
                </a:moveTo>
                <a:cubicBezTo>
                  <a:pt x="0" y="27"/>
                  <a:pt x="0" y="27"/>
                  <a:pt x="1" y="27"/>
                </a:cubicBezTo>
                <a:lnTo>
                  <a:pt x="99" y="27"/>
                </a:lnTo>
                <a:cubicBezTo>
                  <a:pt x="99" y="27"/>
                  <a:pt x="100" y="27"/>
                  <a:pt x="100" y="26"/>
                </a:cubicBezTo>
                <a:cubicBezTo>
                  <a:pt x="100" y="27"/>
                  <a:pt x="99" y="28"/>
                  <a:pt x="98" y="28"/>
                </a:cubicBezTo>
                <a:lnTo>
                  <a:pt x="2" y="28"/>
                </a:lnTo>
                <a:cubicBezTo>
                  <a:pt x="1" y="28"/>
                  <a:pt x="0" y="27"/>
                  <a:pt x="0" y="26"/>
                </a:cubicBez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5829300" y="3114675"/>
            <a:ext cx="428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日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0.2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647700" y="3400425"/>
            <a:ext cx="5905500" cy="2200275"/>
          </a:xfrm>
          <a:prstGeom prst="roundRect">
            <a:avLst>
              <a:gd name="adj" fmla="val 17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07" name=""/>
          <p:cNvSpPr/>
          <p:nvPr/>
        </p:nvSpPr>
        <p:spPr>
          <a:xfrm rot="0" flipH="0" flipV="0">
            <a:off x="647700" y="3400425"/>
            <a:ext cx="5905500" cy="2200275"/>
          </a:xfrm>
          <a:custGeom>
            <a:pathLst>
              <a:path w="620" h="231">
                <a:moveTo>
                  <a:pt x="4" y="231"/>
                </a:moveTo>
                <a:cubicBezTo>
                  <a:pt x="2" y="231"/>
                  <a:pt x="0" y="229"/>
                  <a:pt x="0" y="22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800100" y="4171950"/>
            <a:ext cx="556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必填四列：消费方、</a:t>
            </a: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>SLA</a:t>
            </a: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、调用量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800100" y="4381500"/>
            <a:ext cx="55626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少了消费方就没人负责下线；少了调用量就无法判断该合该停。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最后一行示例是典型的「三年没动过」服务，属于合并候选。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6705600" y="1362075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模板二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事件契约</a:t>
            </a:r>
            <a:endParaRPr/>
          </a:p>
        </p:txBody>
      </p:sp>
      <p:sp>
        <p:nvSpPr>
          <p:cNvPr id="811" name=""/>
          <p:cNvSpPr/>
          <p:nvPr/>
        </p:nvSpPr>
        <p:spPr>
          <a:xfrm rot="0" flipH="0" flipV="0">
            <a:off x="6705600" y="1666875"/>
            <a:ext cx="4876800" cy="1809750"/>
          </a:xfrm>
          <a:prstGeom prst="roundRect">
            <a:avLst>
              <a:gd name="adj" fmla="val 21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6858000" y="180022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BA15C"/>
                </a:solidFill>
                <a:latin typeface="monospace"/>
                <a:ea typeface="monospace"/>
              </a:rPr>
              <a:t>事件名：</a:t>
            </a:r>
            <a:r>
              <a:rPr lang="en-US" sz="975">
                <a:solidFill>
                  <a:srgbClr val="FBA15C"/>
                </a:solidFill>
                <a:latin typeface="monospace"/>
                <a:ea typeface="monospace"/>
              </a:rPr>
              <a:t>ShipmentDispatched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6858000" y="205740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业务语义：货物已离仓，物理交接完成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858000" y="231457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触发者：</a:t>
            </a:r>
            <a:r>
              <a:rPr lang="en-US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 xml:space="preserve">WMS </a:t>
            </a: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出库单状态流转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6858000" y="257175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去重键：</a:t>
            </a:r>
            <a:r>
              <a:rPr lang="en-US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shipment_id + status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6858000" y="282892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顺序保证：同一</a:t>
            </a:r>
            <a:r>
              <a:rPr lang="en-US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 xml:space="preserve"> shipment_id </a:t>
            </a: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内有序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6858000" y="308610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失败处理：重试</a:t>
            </a:r>
            <a:r>
              <a:rPr lang="en-US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 xml:space="preserve"> 3 </a:t>
            </a: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次</a:t>
            </a:r>
            <a:r>
              <a:rPr lang="en-US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 xml:space="preserve"> → </a:t>
            </a: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死信</a:t>
            </a:r>
            <a:r>
              <a:rPr lang="en-US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 xml:space="preserve"> → </a:t>
            </a:r>
            <a:r>
              <a:rPr lang="zh-CN" sz="975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人工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6705600" y="3552825"/>
            <a:ext cx="4876800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6838950" y="3781425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签契约前先问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8058150" y="3743325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消费方是系统还是人？系统要自己保证幂等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705600" y="4229100"/>
            <a:ext cx="48768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6838950" y="4429125"/>
            <a:ext cx="11049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事件名要带业务动作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8058150" y="4467225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OrderPaid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好过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TableBUpdated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，后者没人看得懂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6705600" y="5000625"/>
            <a:ext cx="4876800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6838950" y="5229225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留一条补偿通道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8058150" y="5191125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死信必须有人看，否则等于静默丢数据</a:t>
            </a:r>
            <a:endParaRPr/>
          </a:p>
        </p:txBody>
      </p:sp>
      <p:sp>
        <p:nvSpPr>
          <p:cNvPr id="82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2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23 / 30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831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      &lt;Text style={{ fontSize: 300, fontWeight: 'bold', color: 'rgba(255,255,255,0.08)', lineHeight: 1.0 }}&gt;06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6&lt;/Text&gt;&#13;&#10; &lt;Box style={{ width: 72, height: 5, background: '#FA4F24', marginTop: 22 }} /&gt;&#13;&#10;        &lt;Text style={{ fontSize: 58, fontWeight: 'bold', color: '#FFFFFF', marginTop: 28, lineHeight: 1.15 }}&gt;安全合规与架构治理&lt;/Text&gt;&#13;&#10;        &lt;Text style={{ fontSize: 17, color: 'rgba(255,255,255,0.62)', letterSpacing: 2, marginTop: 20 }}&gt;SECURITY, COMPLIANCE &amp; GOVERNANCE&lt;/Text&gt;&#13;&#10;   &lt;Text style={{ fontSize: 19, color: 'rgba(255,255,255,0.85)', marginTop: 26, lineHeight: 1.6 }}&gt;应用减法三步法、治理门与合规红线&lt;/Text&gt;&#13;&#10;    &lt;/Box&gt;&#13;&#10;&#13;&#10;    {/* 右下页码 */}&#13;&#10;    &lt;Box style={{ position: 'absolute', right: 88, bottom: 64, flexDirection: 'row', alignItems: 'center', gap: 12 }}&gt;&#13;&#10;   &lt;Box style={{ width: 14, height: 14, background: '#FA4F24' }} /&gt;&#13;&#10;      &lt;Text style={{ fontSize: 14, color: 'rgba(255,255,255,0.5)' }}&gt;硕磐机密 · AA应用架构咨询方法论&lt;/Text&gt;&#13;&#10;  &lt;Text style={{ fontSize: 14, color: 'rgba(255,255,255,0.5)', marginLeft: 12 }}&gt;24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34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06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安全合规与架构治理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SECURITY, COMPLIANCE &amp; GOVERNANCE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应用减法三步法、治理门与合规红线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83820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8629650" y="60864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24 / 30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844" name="" descr="&lt;Slide style={{ width: 1280, height: 720, background: '#FFFFFF', padding: '24px 64px 0' }}&gt;&#10;    {/* A 区 */}&#10;    &lt;Box style={{ height: 96, flexDirection: 'column', justifyContent: 'flex-start' }}&gt;&#10;      &lt;Text style={{ fontSize: 32, fontWeight: 'bold', color: '#0F1423' }}&gt;&#10;   之方法：&lt;span style={{ color: '#FA4F24' }}&gt;应用减法三步法&lt;/span&gt;，比新建更需要方法论&#10;      &lt;/Text&gt;&#10;     &lt;Text style={{ fontSize: 20, color: '#8A8F99', marginTop: 8 }}&gt;&#10; 停止新增容易，难的是让一个跑了十年的系统真正下线&#10;    &lt;/Text&gt;&#10;    &lt;/Box&gt;&#10;    &lt;Box style={{ height: 1, background: '#E8E8E8' }} /&gt;&#10;&#10;    {/* B 区 */}&#10;    &lt;Box style={{ paddingTop: 24, paddingBottom: 14, height: 479, flexDirection: 'column', gap: 14 }}&gt;&#10;    {[&#10;     {&#10;   n: 'STEP 1', t: '找', c: '#0F1423', tc: '#FFFFFF',&#10;   d: '调用量归零 + 12 个月无变更 + 无对应业务能力',&#10;     pts: ['网关日志与数据库连接池，确认真实调用', '代码仓库提交记录，找出最后的活人', '别信登记表，要信流量和提交记录'],&#10;        },&#10;        {&#10;   n: 'STEP 2', t: '迁', c: '#FA4F24', tc: '#FFFFFF',&#10;   d: '功能迁到存留应用，数据归档，接口改向',&#10;   pts: ['功能不是砍掉，是搬到一个还在演进的系统里', '历史数据按监管年限归档，可查询不可在线', '所有消费方一次性切完，不留双跑'],&#10;  },&#10;    {&#10;       n: 'STEP 3', t: '撤', c: '#FBA15C', tc: '#3A2000',&#10;   d: '下线环境、回收账号、注销域名、留档案',&#10;        pts: ['代码仓库只归档不删除，法律上仍需可追溯', '账号与密钥必须从 IAM 里真实移除', '写一份《下线确认书》交给运维和审计'],&#10;    },&#10;      ].map((it, i) =&gt; (&#10;      &lt;Box key={i} style={{ flex: 1, flexDirection: 'row', alignItems: 'stretch', gap: 14 }}&gt;&#10;    &lt;Box style={{ width: 116, background: it.c, borderRadius: 4, alignItems: 'center', justifyContent: 'center', flexDirection: 'column' }}&gt;&#10;   &lt;Text style={{ fontSize: 13, fontWeight: 'bold', color: it.tc, letterSpacing: 1 }}&gt;{it.n}&lt;/Text&gt;&#10;   &lt;Text style={{ fontSize: 30, fontWeight: 'bold', color: it.tc, marginTop: 2 }}&gt;{it.t}&lt;/Text&gt;&#10;  &lt;/Box&gt;&#10;        &lt;Box style={{ flex: 1, flexDirection: 'column', justifyContent: 'center', gap: 5 }}&gt;&#10;   &lt;Text style={{ fontSize: 18, fontWeight: 'bold', color: '#0F1423' }}&gt;{it.d}&lt;/Text&gt;&#10;       {it.pts.map((p, j) =&gt; (&#10;     &lt;Text key={j} style={{ fontSize: 13, color: '#3A4050', lineHeight: 1.45 }}&gt;· {p}&lt;/Text&gt;&#10;       ))}&#10;        &lt;/Box&gt;&#10;            {i &lt; 2 &amp;&amp; (&#10;         &lt;Box style={{ width: 26, alignItems: 'center', justifyContent: 'center' }}&gt;&#10;   &lt;Text style={{ fontSize: 18, color: '#FA4F24', fontWeight: 'bold' }}&gt;↓&lt;/Text&gt;&#10;    &lt;/Box&gt;&#10;     )}&#10;       &lt;/Box&gt;&#10;      ))}&#10;        &lt;Box style={{ height: 66, background: 'linear-gradient(90deg, #FA4F24 0%, #F87D2F 100%)', borderRadius: 4, padding: '0 18px', flexDirection: 'row', alignItems: 'center' }}&gt;&#10;      &lt;Text style={{ fontSize: 16, fontWeight: 'bold', color: '#FFFFFF', width: 168 }}&gt;★ 为什么大多数组织做不成&lt;/Text&gt;&#10; &lt;Text style={{ fontSize: 14, color: 'rgba(255,255,255,0.95)', flex: 1, lineHeight: 1.45 }}&gt;&#10;      不是不想减，是没人愿意签这个字。减法没有交付里程碑，只有风险。必须由架构治理委员会强行立项，&#10;       把「下线」当成一个可考核的项目来管，而不是当成 IT 内部杂事。&#10;        &lt;/Text&gt;&#10;     &lt;/Box&gt;&#10; &lt;/Box&gt;&#10;&#10;    {/* C 区 */}&#10;  &lt;Box style={{ height: 58, flexDirection: 'row', alignItems: 'center', borderTop: '1px solid #E8E8E8' }}&gt;&#10;    &lt;Box style={{ width: 10, height: 10, background: '#FA4F24' }} /&gt;&#10;   &lt;Text style={{ fontSize: 13, color: '#8A8F99', marginLeft: 12 }}&gt;硕磐机密 · AA应用架构咨询方法论&lt;/Text&gt;&#10;        &lt;Text style={{ fontSize: 13, color: '#8A8F99', marginLeft: 'auto' }}&gt;25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应用减法三步法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，比新建更需要方法论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停止新增容易，难的是让一个跑了十年的系统真正下线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49" name=""/>
          <p:cNvSpPr/>
          <p:nvPr/>
        </p:nvSpPr>
        <p:spPr>
          <a:xfrm rot="0" flipH="0" flipV="0">
            <a:off x="609600" y="1381125"/>
            <a:ext cx="1104900" cy="1057275"/>
          </a:xfrm>
          <a:prstGeom prst="roundRect">
            <a:avLst>
              <a:gd name="adj" fmla="val 360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923925" y="1657350"/>
            <a:ext cx="476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FFFFF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1019175" y="18288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找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1847850" y="1409700"/>
            <a:ext cx="935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调用量归零</a:t>
            </a:r>
            <a:r>
              <a:rPr lang="en-US" sz="13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+ 12 </a:t>
            </a: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个月无变更</a:t>
            </a:r>
            <a:r>
              <a:rPr lang="en-US" sz="13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无对应业务能力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1847850" y="1666875"/>
            <a:ext cx="935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网关日志与数据库连接池，确认真实调用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1847850" y="1933575"/>
            <a:ext cx="935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代码仓库提交记录，找出最后的活人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1847850" y="2200275"/>
            <a:ext cx="935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别信登记表，要信流量和提交记录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11420475" y="18097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609600" y="2571750"/>
            <a:ext cx="1104900" cy="1057275"/>
          </a:xfrm>
          <a:prstGeom prst="roundRect">
            <a:avLst>
              <a:gd name="adj" fmla="val 360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923925" y="2847975"/>
            <a:ext cx="476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FFFFF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1019175" y="301942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迁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1847850" y="2600325"/>
            <a:ext cx="935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功能迁到存留应用，数据归档，接口改向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1847850" y="2857500"/>
            <a:ext cx="935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功能不是砍掉，是搬到一个还在演进的系统里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1847850" y="3124200"/>
            <a:ext cx="935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历史数据按监管年限归档，可查询不可在线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1847850" y="3390900"/>
            <a:ext cx="9353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所有消费方一次性切完，不留双跑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11420475" y="30003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609600" y="3762375"/>
            <a:ext cx="1104900" cy="1057275"/>
          </a:xfrm>
          <a:prstGeom prst="roundRect">
            <a:avLst>
              <a:gd name="adj" fmla="val 3604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923925" y="4038600"/>
            <a:ext cx="476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3A2000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1019175" y="421005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3A2000"/>
                </a:solidFill>
                <a:latin typeface="Microsoft YaHei"/>
                <a:ea typeface="Microsoft YaHei"/>
              </a:rPr>
              <a:t>撤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847850" y="3790950"/>
            <a:ext cx="9734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下线环境、回收账号、注销域名、留档案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1847850" y="4048125"/>
            <a:ext cx="9734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代码仓库只归档不删除，法律上仍需可追溯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1847850" y="4314825"/>
            <a:ext cx="9734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账号与密钥必须从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IAM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里真实移除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1847850" y="4581525"/>
            <a:ext cx="9734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写一份《下线确认书》交给运维和审计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609600" y="4953000"/>
            <a:ext cx="10972800" cy="628650"/>
          </a:xfrm>
          <a:prstGeom prst="roundRect">
            <a:avLst>
              <a:gd name="adj" fmla="val 606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781050" y="5086350"/>
            <a:ext cx="1600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为什么大多数组织做不成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2381250" y="5038725"/>
            <a:ext cx="90297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不是不想减，是没人愿意签这个字。减法没有交付里程碑，只有风险。必须由架构治理委员会强行立项，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把「下线」当成一个可考核的项目来管，而不是当成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内部杂事。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7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25 / 30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879" name="" descr="&lt;Slide style={{ width: 1280, height: 720, background: '#FFFFFF', padding: '24px 64px 0' }}&gt;&#10;    {/* A 区 */}&#10;  &lt;Box style={{ height: 96, flexDirection: 'column', justifyContent: 'flex-start' }}&gt;&#10;        &lt;Text style={{ fontSize: 32, fontWeight: 'bold', color: '#0F1423' }}&gt;&#10; 之方法：&lt;span style={{ color: '#FA4F24' }}&gt;治理机制、评审门与合规红线&lt;/span&gt;&#10;        &lt;/Text&gt;&#10;   &lt;Text style={{ fontSize: 20, color: '#8A8F99', marginTop: 8 }}&gt;&#10;   架构不是画出来的，是被门卡出来的&#10;    &lt;/Text&gt;&#10;    &lt;/Box&gt;&#10; &lt;Box style={{ height: 1, background: '#E8E8E8' }} /&gt;&#10;&#10;    {/* B 区 */}&#10;    &lt;Box style={{ paddingTop: 22, paddingBottom: 12, height: 479, flexDirection: 'row', gap: 20 }}&gt;&#10;  {/* 左 评审门 */}&#10;        &lt;Box style={{ width: 470, flexDirection: 'column', gap: 9 }}&gt;&#10;       &lt;Text style={{ fontSize: 20, fontWeight: 'bold', color: '#0F1423' }}&gt;四道门：每道卡一类问题&lt;/Text&gt;&#10; {[&#10;      { g: 'G1 立项门', q: '业务能力是否已有承载应用', d: '有 → 不新建，走集成；无 → 才进G2' },&#10;      { g: 'G2 架构门', q: '是否复用既有能力与平台服务', d: '复用率低于阈值必须书面说明' },&#10;      { g: 'G3 数据门', q: '是否新增一份数据副本', d: '新增副本需 DA 出具数据归属判定' },&#10;      { g: 'G4 上线门', q: '集成、监控、责任人是否齐备', d: '缺任一项不得进入生产' },&#10;   ].map((it, i) =&gt; (&#10;         &lt;Box key={i} style={{ flex: 1, background: '#F7F7F8', borderRadius: 4, padding: '0 14px', flexDirection: 'column', justifyContent: 'center', borderLeft: `4px solid #FA4F24` }}&gt;&#10;        &lt;Text style={{ fontSize: 16, fontWeight: 'bold', color: '#0F1423' }}&gt;{it.g}&lt;/Text&gt;&#10;  &lt;Text style={{ fontSize: 13, color: '#3A4050', marginTop: 3, lineHeight: 1.4 }}&gt;{it.q}&lt;/Text&gt;&#10;     &lt;Text style={{ fontSize: 12, color: '#C43A17', marginTop: 2 }}&gt;{it.d}&lt;/Text&gt;&#10;      &lt;/Box&gt;&#10;       ))}&#10; &lt;Text style={{ fontSize: 15, fontWeight: 'bold', color: '#0F1423', marginTop: 4 }}&gt;门后面站着谁，决定门有没有用&lt;/Text&gt;&#10;      &lt;Text style={{ fontSize: 13, color: '#3A4050', lineHeight: 1.55 }}&gt;&#10;        门由架构委员会把守，业务部门有一票否决权。没有业务方的否决权，门会被销售和交付压力冲垮；&#10;        没有架构委员会的同意权，门会变成走形式。三五个人就够，但必须在场。&#10;     &lt;/Text&gt;&#10;   &lt;/Box&gt;&#10;&#10;        {/* 右 治理机制 + 红线 */}&#10;     &lt;Box style={{ flex: 1, flexDirection: 'column', gap: 10 }}&gt;&#10;    &lt;Text style={{ fontSize: 20, fontWeight: 'bold', color: '#0F1423' }}&gt;三个常设机制&lt;/Text&gt;&#10;      {[&#10;    { t: '应用目录例会', d: '每月一次，只看三张表：新增、变更、下线', c: '#FA4F24' },&#10;        { t: '架构评审', d: '新应用必审，重大变更必审，复用度必审', c: '#F8622F' },&#10;        { t: '例外台账', d: '绕过门的申请必须登记，带到期日', c: '#FBA15C' },&#10;   ].map((it, i) =&gt; (&#10;  &lt;Box key={i} style={{ height: 56, background: '#F7F7F8', borderRadius: 4, padding: '0 16px', flexDirection: 'row', alignItems: 'center', gap: 12, borderLeft: `4px solid ${it.c}` }}&gt;&#10;            &lt;Text style={{ fontSize: 16, fontWeight: 'bold', color: '#0F1423', width: 116 }}&gt;{it.t}&lt;/Text&gt;&#10;   &lt;Text style={{ fontSize: 13, color: '#3A4050', flex: 1, lineHeight: 1.45 }}&gt;{it.d}&lt;/Text&gt;&#10;   &lt;/Box&gt;&#10;    ))}&#10;   &lt;Text style={{ fontSize: 20, fontWeight: 'bold', color: '#0F1423', marginTop: 6 }}&gt;五条合规红线（越线直接否）&lt;/Text&gt;&#10;      {[&#10;  '个人信息出境必须走数据合规评估，不接受口头承诺',&#10;   '生产数据不得出测试环境，脱敏必须可验证而非口头声明',&#10;   '核心系统不得依赖个人电脑或未登记的云服务',&#10;   '接口调用需有鉴权与限流，无鉴权接口不予上线',&#10;   '系统必须登记业务 Owner，无主系统视为高风险',&#10;    ].map((t, i) =&gt; (&#10;     &lt;Box key={i} style={{ flex: 1, flexDirection: 'row', alignItems: 'center', background: '#FFF3EE', borderRadius: 4, padding: '0 14px', gap: 10 }}&gt;&#10;  &lt;Box style={{ width: 6, height: 6, borderRadius: 3, background: '#FA4F24' }} /&gt;&#10;     &lt;Text style={{ fontSize: 13, color: '#3A2000', flex: 1, lineHeight: 1.4 }}&gt;{t}&lt;/Text&gt;&#10;      &lt;/Box&gt;&#10;    ))}&#10;    &lt;/Box&gt;&#10;  &lt;/Box&gt;&#10;&#10;    {/* C 区 */}&#10;    &lt;Box style={{ height: 58, flexDirection: 'row', alignItems: 'center', borderTop: '1px solid #E8E8E8' }}&gt;&#10;      &lt;Box style={{ width: 10, height: 10, background: '#FA4F24' }} /&gt;&#10;        &lt;Text style={{ fontSize: 13, color: '#8A8F99', marginLeft: 12 }}&gt;硕磐机密 · AA应用架构咨询方法论&lt;/Text&gt;&#10;     &lt;Text style={{ fontSize: 13, color: '#8A8F99', marginLeft: 'auto' }}&gt;26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治理机制、评审门与合规红线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架构不是画出来的，是被门卡出来的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四道门：每道卡一类问题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647700" y="1676400"/>
            <a:ext cx="447675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86" name=""/>
          <p:cNvSpPr/>
          <p:nvPr/>
        </p:nvSpPr>
        <p:spPr>
          <a:xfrm rot="0" flipH="0" flipV="0">
            <a:off x="647700" y="1676400"/>
            <a:ext cx="4476750" cy="647700"/>
          </a:xfrm>
          <a:custGeom>
            <a:pathLst>
              <a:path w="470" h="68">
                <a:moveTo>
                  <a:pt x="4" y="68"/>
                </a:move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781050" y="1704975"/>
            <a:ext cx="417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G1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立项门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781050" y="1924050"/>
            <a:ext cx="4171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业务能力是否已有承载应用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781050" y="2152650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有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不新建，走集成；无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才进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>G2</a:t>
            </a:r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647700" y="2409825"/>
            <a:ext cx="447675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91" name=""/>
          <p:cNvSpPr/>
          <p:nvPr/>
        </p:nvSpPr>
        <p:spPr>
          <a:xfrm rot="0" flipH="0" flipV="0">
            <a:off x="647700" y="2409825"/>
            <a:ext cx="4476750" cy="647700"/>
          </a:xfrm>
          <a:custGeom>
            <a:pathLst>
              <a:path w="470" h="68">
                <a:moveTo>
                  <a:pt x="4" y="68"/>
                </a:move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781050" y="2438400"/>
            <a:ext cx="417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G2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架构门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781050" y="2657475"/>
            <a:ext cx="4171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是否复用既有能力与平台服务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781050" y="2886075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复用率低于阈值必须书面说明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647700" y="3143250"/>
            <a:ext cx="447675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96" name=""/>
          <p:cNvSpPr/>
          <p:nvPr/>
        </p:nvSpPr>
        <p:spPr>
          <a:xfrm rot="0" flipH="0" flipV="0">
            <a:off x="647700" y="3143250"/>
            <a:ext cx="4476750" cy="647700"/>
          </a:xfrm>
          <a:custGeom>
            <a:pathLst>
              <a:path w="470" h="68">
                <a:moveTo>
                  <a:pt x="4" y="68"/>
                </a:move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781050" y="3171825"/>
            <a:ext cx="417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G3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数据门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781050" y="3390900"/>
            <a:ext cx="4171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是否新增一份数据副本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781050" y="3619500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新增副本需</a:t>
            </a: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出具数据归属判定</a:t>
            </a:r>
            <a:endParaRPr/>
          </a:p>
        </p:txBody>
      </p:sp>
      <p:sp>
        <p:nvSpPr>
          <p:cNvPr id="900" name=""/>
          <p:cNvSpPr/>
          <p:nvPr/>
        </p:nvSpPr>
        <p:spPr>
          <a:xfrm rot="0" flipH="0" flipV="0">
            <a:off x="647700" y="3876675"/>
            <a:ext cx="447675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1" name=""/>
          <p:cNvSpPr/>
          <p:nvPr/>
        </p:nvSpPr>
        <p:spPr>
          <a:xfrm rot="0" flipH="0" flipV="0">
            <a:off x="647700" y="3876675"/>
            <a:ext cx="4476750" cy="647700"/>
          </a:xfrm>
          <a:custGeom>
            <a:pathLst>
              <a:path w="470" h="68">
                <a:moveTo>
                  <a:pt x="4" y="68"/>
                </a:move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81050" y="3905250"/>
            <a:ext cx="417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G4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上线门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781050" y="4124325"/>
            <a:ext cx="4171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集成、监控、责任人是否齐备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781050" y="4352925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缺任一项不得进入生产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门后面站着谁，决定门有没有用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609600" y="4905375"/>
            <a:ext cx="44767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门由架构委员会把守，业务部门有一票否决权。没有业务方的否决权，门会被销售和交付压力冲垮；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没有架构委员会的同意权，门会变成走形式。三五个人就够，但必须在场。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5276850" y="1362075"/>
            <a:ext cx="6305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三个常设机制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5314950" y="1685925"/>
            <a:ext cx="630555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9" name=""/>
          <p:cNvSpPr/>
          <p:nvPr/>
        </p:nvSpPr>
        <p:spPr>
          <a:xfrm rot="0" flipH="0" flipV="0">
            <a:off x="5314950" y="1685925"/>
            <a:ext cx="6305550" cy="533400"/>
          </a:xfrm>
          <a:custGeom>
            <a:pathLst>
              <a:path w="662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5467350" y="185737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应用目录例会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6686550" y="1847850"/>
            <a:ext cx="47434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每月一次，只看三张表：新增、变更、下线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5314950" y="2314575"/>
            <a:ext cx="630555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3" name=""/>
          <p:cNvSpPr/>
          <p:nvPr/>
        </p:nvSpPr>
        <p:spPr>
          <a:xfrm rot="0" flipH="0" flipV="0">
            <a:off x="5314950" y="2314575"/>
            <a:ext cx="6305550" cy="533400"/>
          </a:xfrm>
          <a:custGeom>
            <a:pathLst>
              <a:path w="662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5467350" y="248602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架构评审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6686550" y="2476500"/>
            <a:ext cx="47434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新应用必审，重大变更必审，复用度必审</a:t>
            </a:r>
            <a:endParaRPr/>
          </a:p>
        </p:txBody>
      </p:sp>
      <p:sp>
        <p:nvSpPr>
          <p:cNvPr id="916" name=""/>
          <p:cNvSpPr/>
          <p:nvPr/>
        </p:nvSpPr>
        <p:spPr>
          <a:xfrm rot="0" flipH="0" flipV="0">
            <a:off x="5314950" y="2943225"/>
            <a:ext cx="630555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7" name=""/>
          <p:cNvSpPr/>
          <p:nvPr/>
        </p:nvSpPr>
        <p:spPr>
          <a:xfrm rot="0" flipH="0" flipV="0">
            <a:off x="5314950" y="2943225"/>
            <a:ext cx="6305550" cy="533400"/>
          </a:xfrm>
          <a:custGeom>
            <a:pathLst>
              <a:path w="662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5467350" y="311467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例外台账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6686550" y="3105150"/>
            <a:ext cx="47434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绕过门的申请必须登记，带到期日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5276850" y="3629025"/>
            <a:ext cx="6305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五条合规红线（越线直接否）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5276850" y="3952875"/>
            <a:ext cx="6305550" cy="257175"/>
          </a:xfrm>
          <a:prstGeom prst="roundRect">
            <a:avLst>
              <a:gd name="adj" fmla="val 1481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22" name=""/>
          <p:cNvSpPr/>
          <p:nvPr/>
        </p:nvSpPr>
        <p:spPr>
          <a:xfrm rot="0" flipH="0" flipV="0">
            <a:off x="5410200" y="40576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5562600" y="3981450"/>
            <a:ext cx="5886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个人信息出境必须走数据合规评估，不接受口头承诺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5276850" y="4305300"/>
            <a:ext cx="6305550" cy="247650"/>
          </a:xfrm>
          <a:prstGeom prst="roundRect">
            <a:avLst>
              <a:gd name="adj" fmla="val 1538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25" name=""/>
          <p:cNvSpPr/>
          <p:nvPr/>
        </p:nvSpPr>
        <p:spPr>
          <a:xfrm rot="0" flipH="0" flipV="0">
            <a:off x="5410200" y="44005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5562600" y="4324350"/>
            <a:ext cx="5886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生产数据不得出测试环境，脱敏必须可验证而非口头声明</a:t>
            </a:r>
            <a:endParaRPr/>
          </a:p>
        </p:txBody>
      </p:sp>
      <p:sp>
        <p:nvSpPr>
          <p:cNvPr id="927" name=""/>
          <p:cNvSpPr/>
          <p:nvPr/>
        </p:nvSpPr>
        <p:spPr>
          <a:xfrm rot="0" flipH="0" flipV="0">
            <a:off x="5276850" y="4648200"/>
            <a:ext cx="6305550" cy="257175"/>
          </a:xfrm>
          <a:prstGeom prst="roundRect">
            <a:avLst>
              <a:gd name="adj" fmla="val 1481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28" name=""/>
          <p:cNvSpPr/>
          <p:nvPr/>
        </p:nvSpPr>
        <p:spPr>
          <a:xfrm rot="0" flipH="0" flipV="0">
            <a:off x="5410200" y="47529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5562600" y="4676775"/>
            <a:ext cx="5886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核心系统不得依赖个人电脑或未登记的云服务</a:t>
            </a:r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5276850" y="5000625"/>
            <a:ext cx="6305550" cy="247650"/>
          </a:xfrm>
          <a:prstGeom prst="roundRect">
            <a:avLst>
              <a:gd name="adj" fmla="val 1538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31" name=""/>
          <p:cNvSpPr/>
          <p:nvPr/>
        </p:nvSpPr>
        <p:spPr>
          <a:xfrm rot="0" flipH="0" flipV="0">
            <a:off x="5410200" y="5095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5562600" y="5019675"/>
            <a:ext cx="5886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接口调用需有鉴权与限流，无鉴权接口不予上线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5276850" y="5343525"/>
            <a:ext cx="6305550" cy="257175"/>
          </a:xfrm>
          <a:prstGeom prst="roundRect">
            <a:avLst>
              <a:gd name="adj" fmla="val 1481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34" name=""/>
          <p:cNvSpPr/>
          <p:nvPr/>
        </p:nvSpPr>
        <p:spPr>
          <a:xfrm rot="0" flipH="0" flipV="0">
            <a:off x="5410200" y="5448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5562600" y="5372100"/>
            <a:ext cx="5886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系统必须登记业务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，无主系统视为高风险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3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26 / 30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940" name="" descr="&lt;Slide style={{ width: 1280, height: 720, background: '#FFFFFF', padding: '24px 64px 0' }}&gt;&#10;    {/* A 区 */}&#10;&lt;Box style={{ height: 96, flexDirection: 'column', justifyContent: 'flex-start' }}&gt;&#10;   &lt;Text style={{ fontSize: 32, fontWeight: 'bold', color: '#0F1423' }}&gt;&#10;      之模板：&lt;span style={{ color: '#FA4F24' }}&gt;应用退役清单 + 评审检查表&lt;/span&gt;，让下线有据可查&#10;      &lt;/Text&gt;&#10;    &lt;Text style={{ fontSize: 20, color: '#8A8F99', marginTop: 8 }}&gt;&#10;    左边是执行用的动作清单，右边是签字用的判据清单&#10; &lt;/Text&gt;&#10;    &lt;/Box&gt;&#10;    &lt;Box style={{ height: 1, background: '#E8E8E8' }} /&gt;&#10;&#10;    {/* B 区 */}&#10;  &lt;Box style={{ paddingTop: 22, paddingBottom: 12, height: 479, flexDirection: 'row', gap: 20 }}&gt;&#10;        {/* 左 退役清单 */}&#10;        &lt;Box style={{ width: 600, flexDirection: 'column', gap: 7 }}&gt;&#10;            &lt;Text style={{ fontSize: 19, fontWeight: 'bold', color: '#0F1423' }}&gt;模板一 · 应用退役清单&lt;/Text&gt;&#10;      &lt;Box style={{ background: '#0F1423', borderRadius: 2, flexDirection: 'row' }}&gt;&#10;     {['#', '动作项', '责任方', '验收标准'].map((t, i) =&gt; (&#10;    &lt;Box key={i} style={{ flex: i === 1 ? 3 : i === 3 ? 3 : 1, padding: '7px 6px', alignItems: 'center' }}&gt;&#10;    &lt;Text style={{ fontSize: 13, fontWeight: 'bold', color: '#FFFFFF' }}&gt;{t}&lt;/Text&gt;&#10;            &lt;/Box&gt;&#10;      ))}&#10;    &lt;/Box&gt;&#10;            {[&#10;            { n: '1', a: '流量截断验证', o: '运维', s: '网关日志连续14天零调用' },&#10;     { n: '2', a: '功能迁移确认', o: '业务', s: '迁入应用已上线并验收' },&#10;         { n: '3', a: '数据归档', o: '数据', s: '归档可查、留存期满足监管' },&#10;   { n: '4', a: '接口改向', o: '架构', s: '所有消费方切换并复测' },&#10;         { n: '5', a: '账号回收', o: '安全', s: 'IAM 中凭证已失效' },&#10;        { n: '6', a: '环境销毁', o: '运维', s: '资源回收并出具证明' },&#10;  { n: '7', a: '代码归档', o: '研发', s: '仓库转只读，保留可追溯' },&#10;    ].map((it, i) =&gt; (&#10;     &lt;Box key={i} style={{ flexDirection: 'row', alignItems: 'center' }}&gt;&#10;          {[&#10;        { v: it.n, f: 0.4, c: '#FA4F24' },&#10;        { v: it.a, f: 2.2, c: '#0F1423' },&#10;     { v: it.o, f: 0.9, c: '#3A4050' },&#10;     { v: it.s, f: 2.9, c: '#3A4050' },&#10;      ].map((c, j) =&gt; (&#10;                &lt;Box key={j} style={{ flex: c.f, padding: '6px 6px', alignItems: j === 0 ? 'center' : 'flex-start', background: i % 2 === 0 ? '#F7F7F8' : '#FFFFFF', borderBottom: '1px solid #E8E8E8' }}&gt;&#10;           &lt;Text style={{ fontSize: 12, color: c.c, fontWeight: j &lt;= 1 ? 'bold' : 'normal' }}&gt;{c.v}&lt;/Text&gt;&#10;    &lt;/Box&gt;&#10;     ))}&#10;            &lt;/Box&gt;&#10;   ))}&#10;    &lt;Text style={{ fontSize: 13, color: '#3A4050', lineHeight: 1.5, marginTop: 4 }}&gt;&#10;     第 1 项和第 4 项最常被跳过：只记得下线服务器，忘了还有人在调它的接口。&#10;  真实项目里，退役失败的绝大多数原因不是技术问题，是消费方没统计全。&#10;     &lt;/Text&gt;&#10;    &lt;/Box&gt;&#10;&#10;        {/* 右 评审检查表 */}&#10;     &lt;Box style={{ flex: 1, flexDirection: 'column', gap: 7 }}&gt;&#10;     &lt;Text style={{ fontSize: 19, fontWeight: 'bold', color: '#0F1423' }}&gt;模板二 · 评审检查表&lt;/Text&gt;&#10;      {[&#10;            { q: '业务 Owner 是否书面确认迁移', w: '权重 25%' },&#10;    { q: '调用方是否全部识别并切换', w: '权重 25%' },&#10;       { q: '数据归档与留存期是否合规', w: '权重 20%' },&#10;            { q: '是否有替代应用承接能力', w: '权重 15%' },&#10;      { q: '账号凭证是否从 IAM 移除', w: '权重 10%' },&#10;    { q: '是否明确上线后观察期', w: '权重 5%' },&#10;      ].map((it, i) =&gt; (&#10;        &lt;Box key={i} style={{ height: 46, background: '#F7F7F8', borderRadius: 4, padding: '0 14px', flexDirection: 'row', alignItems: 'center', gap: 10 }}&gt;&#10;        &lt;Box style={{ width: 20, height: 20, border: '1.5px solid #FA4F24', borderRadius: 2, alignItems: 'center', justifyContent: 'center' }}&gt;&#10;   &lt;Text style={{ fontSize: 12, color: '#FA4F24' }}&gt;✓&lt;/Text&gt;&#10; &lt;/Box&gt;&#10;     &lt;Text style={{ fontSize: 13, color: '#0F1423', flex: 1, lineHeight: 1.4 }}&gt;{it.q}&lt;/Text&gt;&#10;    &lt;Text style={{ fontSize: 12, color: '#8A8F99' }}&gt;{it.w}&lt;/Text&gt;&#10;        &lt;/Box&gt;&#10;   ))}&#10;    &lt;Box style={{ flex: 1, background: 'linear-gradient(160deg, #FA4F24 0%, #F87D2F 100%)', borderRadius: 4, padding: '14px 18px', flexDirection: 'column', justifyContent: 'center' }}&gt;&#10;  &lt;Text style={{ fontSize: 16, fontWeight: 'bold', color: '#FFFFFF' }}&gt;为什么要有权重&lt;/Text&gt;&#10;   &lt;Text style={{ fontSize: 13, color: 'rgba(255,255,255,0.95)', lineHeight: 1.55, marginTop: 5 }}&gt;&#10;      不给权重，检查表会退化成打勾仪式。给权重之后，缺一项业务确认就不能推进，&#10;      会强制组织真的去沟通，而不是自己给自己盖章。&#10;     &lt;/Text&gt;&#10;        &lt;/Box&gt;&#10;    &lt;/Box&gt;&#10; &lt;/Box&gt;&#10;&#10;    {/* C 区 */}&#10;    &lt;Box style={{ height: 58, flexDirection: 'row', alignItems: 'center', borderTop: '1px solid #E8E8E8' }}&gt;&#10;      &lt;Box style={{ width: 10, height: 10, background: '#FA4F24' }} /&gt;&#10;   &lt;Text style={{ fontSize: 13, color: '#8A8F99', marginLeft: 12 }}&gt;硕磐机密 · AA应用架构咨询方法论&lt;/Text&gt;&#10;    &lt;Text style={{ fontSize: 13, color: '#8A8F99', marginLeft: 'auto' }}&gt;2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应用退役清单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评审检查表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，让下线有据可查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左边是执行用的动作清单，右边是签字用的判据清单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模板一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应用退役清单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609600" y="1647825"/>
            <a:ext cx="5715000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923925" y="17145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#</a:t>
            </a:r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2209800" y="17145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动作项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3638550" y="17145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责任方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5010150" y="17145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验收标准</a:t>
            </a:r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609600" y="2000250"/>
            <a:ext cx="36195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2" name=""/>
          <p:cNvSpPr/>
          <p:nvPr/>
        </p:nvSpPr>
        <p:spPr>
          <a:xfrm rot="0" flipH="0" flipV="0">
            <a:off x="609600" y="2000250"/>
            <a:ext cx="361950" cy="276225"/>
          </a:xfrm>
          <a:custGeom>
            <a:pathLst>
              <a:path w="38" h="29">
                <a:moveTo>
                  <a:pt x="0" y="28"/>
                </a:moveTo>
                <a:lnTo>
                  <a:pt x="38" y="28"/>
                </a:lnTo>
                <a:lnTo>
                  <a:pt x="38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752475" y="20574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54" name=""/>
          <p:cNvSpPr/>
          <p:nvPr/>
        </p:nvSpPr>
        <p:spPr>
          <a:xfrm rot="0" flipH="0" flipV="0">
            <a:off x="971550" y="2000250"/>
            <a:ext cx="196215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5" name=""/>
          <p:cNvSpPr/>
          <p:nvPr/>
        </p:nvSpPr>
        <p:spPr>
          <a:xfrm rot="0" flipH="0" flipV="0">
            <a:off x="971550" y="2000250"/>
            <a:ext cx="1962150" cy="276225"/>
          </a:xfrm>
          <a:custGeom>
            <a:pathLst>
              <a:path w="206" h="29">
                <a:moveTo>
                  <a:pt x="0" y="28"/>
                </a:moveTo>
                <a:lnTo>
                  <a:pt x="206" y="28"/>
                </a:lnTo>
                <a:lnTo>
                  <a:pt x="20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1028700" y="20574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流量截断验证</a:t>
            </a:r>
            <a:endParaRPr/>
          </a:p>
        </p:txBody>
      </p:sp>
      <p:sp>
        <p:nvSpPr>
          <p:cNvPr id="957" name=""/>
          <p:cNvSpPr/>
          <p:nvPr/>
        </p:nvSpPr>
        <p:spPr>
          <a:xfrm rot="0" flipH="0" flipV="0">
            <a:off x="2933700" y="2000250"/>
            <a:ext cx="80010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8" name=""/>
          <p:cNvSpPr/>
          <p:nvPr/>
        </p:nvSpPr>
        <p:spPr>
          <a:xfrm rot="0" flipH="0" flipV="0">
            <a:off x="2933700" y="2000250"/>
            <a:ext cx="800100" cy="276225"/>
          </a:xfrm>
          <a:custGeom>
            <a:pathLst>
              <a:path w="84" h="29">
                <a:moveTo>
                  <a:pt x="0" y="28"/>
                </a:moveTo>
                <a:lnTo>
                  <a:pt x="84" y="28"/>
                </a:lnTo>
                <a:lnTo>
                  <a:pt x="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2990850" y="20574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运维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3733800" y="2000250"/>
            <a:ext cx="259080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61" name=""/>
          <p:cNvSpPr/>
          <p:nvPr/>
        </p:nvSpPr>
        <p:spPr>
          <a:xfrm rot="0" flipH="0" flipV="0">
            <a:off x="3733800" y="2000250"/>
            <a:ext cx="2590800" cy="276225"/>
          </a:xfrm>
          <a:custGeom>
            <a:pathLst>
              <a:path w="272" h="29">
                <a:moveTo>
                  <a:pt x="0" y="28"/>
                </a:moveTo>
                <a:lnTo>
                  <a:pt x="272" y="28"/>
                </a:lnTo>
                <a:lnTo>
                  <a:pt x="272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3790950" y="2057400"/>
            <a:ext cx="128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网关日志连续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14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天零调用</a:t>
            </a:r>
            <a:endParaRPr/>
          </a:p>
        </p:txBody>
      </p:sp>
      <p:sp>
        <p:nvSpPr>
          <p:cNvPr id="963" name=""/>
          <p:cNvSpPr/>
          <p:nvPr/>
        </p:nvSpPr>
        <p:spPr>
          <a:xfrm rot="0" flipH="0" flipV="0">
            <a:off x="609600" y="2333625"/>
            <a:ext cx="36195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4" name=""/>
          <p:cNvSpPr/>
          <p:nvPr/>
        </p:nvSpPr>
        <p:spPr>
          <a:xfrm rot="0" flipH="0" flipV="0">
            <a:off x="609600" y="2333625"/>
            <a:ext cx="361950" cy="276225"/>
          </a:xfrm>
          <a:custGeom>
            <a:pathLst>
              <a:path w="38" h="29">
                <a:moveTo>
                  <a:pt x="0" y="28"/>
                </a:moveTo>
                <a:lnTo>
                  <a:pt x="38" y="28"/>
                </a:lnTo>
                <a:lnTo>
                  <a:pt x="38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752475" y="23907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966" name=""/>
          <p:cNvSpPr/>
          <p:nvPr/>
        </p:nvSpPr>
        <p:spPr>
          <a:xfrm rot="0" flipH="0" flipV="0">
            <a:off x="971550" y="2333625"/>
            <a:ext cx="196215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7" name=""/>
          <p:cNvSpPr/>
          <p:nvPr/>
        </p:nvSpPr>
        <p:spPr>
          <a:xfrm rot="0" flipH="0" flipV="0">
            <a:off x="971550" y="2333625"/>
            <a:ext cx="1962150" cy="276225"/>
          </a:xfrm>
          <a:custGeom>
            <a:pathLst>
              <a:path w="206" h="29">
                <a:moveTo>
                  <a:pt x="0" y="28"/>
                </a:moveTo>
                <a:lnTo>
                  <a:pt x="206" y="28"/>
                </a:lnTo>
                <a:lnTo>
                  <a:pt x="20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1028700" y="23907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功能迁移确认</a:t>
            </a:r>
            <a:endParaRPr/>
          </a:p>
        </p:txBody>
      </p:sp>
      <p:sp>
        <p:nvSpPr>
          <p:cNvPr id="969" name=""/>
          <p:cNvSpPr/>
          <p:nvPr/>
        </p:nvSpPr>
        <p:spPr>
          <a:xfrm rot="0" flipH="0" flipV="0">
            <a:off x="2933700" y="2333625"/>
            <a:ext cx="8001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0" name=""/>
          <p:cNvSpPr/>
          <p:nvPr/>
        </p:nvSpPr>
        <p:spPr>
          <a:xfrm rot="0" flipH="0" flipV="0">
            <a:off x="2933700" y="2333625"/>
            <a:ext cx="800100" cy="276225"/>
          </a:xfrm>
          <a:custGeom>
            <a:pathLst>
              <a:path w="84" h="29">
                <a:moveTo>
                  <a:pt x="0" y="28"/>
                </a:moveTo>
                <a:lnTo>
                  <a:pt x="84" y="28"/>
                </a:lnTo>
                <a:lnTo>
                  <a:pt x="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2990850" y="23907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业务</a:t>
            </a:r>
            <a:endParaRPr/>
          </a:p>
        </p:txBody>
      </p:sp>
      <p:sp>
        <p:nvSpPr>
          <p:cNvPr id="972" name=""/>
          <p:cNvSpPr/>
          <p:nvPr/>
        </p:nvSpPr>
        <p:spPr>
          <a:xfrm rot="0" flipH="0" flipV="0">
            <a:off x="3733800" y="2333625"/>
            <a:ext cx="25908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3" name=""/>
          <p:cNvSpPr/>
          <p:nvPr/>
        </p:nvSpPr>
        <p:spPr>
          <a:xfrm rot="0" flipH="0" flipV="0">
            <a:off x="3733800" y="2333625"/>
            <a:ext cx="2590800" cy="276225"/>
          </a:xfrm>
          <a:custGeom>
            <a:pathLst>
              <a:path w="272" h="29">
                <a:moveTo>
                  <a:pt x="0" y="28"/>
                </a:moveTo>
                <a:lnTo>
                  <a:pt x="272" y="28"/>
                </a:lnTo>
                <a:lnTo>
                  <a:pt x="272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3790950" y="2390775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迁入应用已上线并验收</a:t>
            </a:r>
            <a:endParaRPr/>
          </a:p>
        </p:txBody>
      </p:sp>
      <p:sp>
        <p:nvSpPr>
          <p:cNvPr id="975" name=""/>
          <p:cNvSpPr/>
          <p:nvPr/>
        </p:nvSpPr>
        <p:spPr>
          <a:xfrm rot="0" flipH="0" flipV="0">
            <a:off x="609600" y="2667000"/>
            <a:ext cx="36195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6" name=""/>
          <p:cNvSpPr/>
          <p:nvPr/>
        </p:nvSpPr>
        <p:spPr>
          <a:xfrm rot="0" flipH="0" flipV="0">
            <a:off x="609600" y="2667000"/>
            <a:ext cx="361950" cy="276225"/>
          </a:xfrm>
          <a:custGeom>
            <a:pathLst>
              <a:path w="38" h="29">
                <a:moveTo>
                  <a:pt x="0" y="28"/>
                </a:moveTo>
                <a:lnTo>
                  <a:pt x="38" y="28"/>
                </a:lnTo>
                <a:lnTo>
                  <a:pt x="38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752475" y="27241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78" name=""/>
          <p:cNvSpPr/>
          <p:nvPr/>
        </p:nvSpPr>
        <p:spPr>
          <a:xfrm rot="0" flipH="0" flipV="0">
            <a:off x="971550" y="2667000"/>
            <a:ext cx="196215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9" name=""/>
          <p:cNvSpPr/>
          <p:nvPr/>
        </p:nvSpPr>
        <p:spPr>
          <a:xfrm rot="0" flipH="0" flipV="0">
            <a:off x="971550" y="2667000"/>
            <a:ext cx="1962150" cy="276225"/>
          </a:xfrm>
          <a:custGeom>
            <a:pathLst>
              <a:path w="206" h="29">
                <a:moveTo>
                  <a:pt x="0" y="28"/>
                </a:moveTo>
                <a:lnTo>
                  <a:pt x="206" y="28"/>
                </a:lnTo>
                <a:lnTo>
                  <a:pt x="20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1028700" y="27241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数据归档</a:t>
            </a:r>
            <a:endParaRPr/>
          </a:p>
        </p:txBody>
      </p:sp>
      <p:sp>
        <p:nvSpPr>
          <p:cNvPr id="981" name=""/>
          <p:cNvSpPr/>
          <p:nvPr/>
        </p:nvSpPr>
        <p:spPr>
          <a:xfrm rot="0" flipH="0" flipV="0">
            <a:off x="2933700" y="2667000"/>
            <a:ext cx="80010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2" name=""/>
          <p:cNvSpPr/>
          <p:nvPr/>
        </p:nvSpPr>
        <p:spPr>
          <a:xfrm rot="0" flipH="0" flipV="0">
            <a:off x="2933700" y="2667000"/>
            <a:ext cx="800100" cy="276225"/>
          </a:xfrm>
          <a:custGeom>
            <a:pathLst>
              <a:path w="84" h="29">
                <a:moveTo>
                  <a:pt x="0" y="28"/>
                </a:moveTo>
                <a:lnTo>
                  <a:pt x="84" y="28"/>
                </a:lnTo>
                <a:lnTo>
                  <a:pt x="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2990850" y="27241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984" name=""/>
          <p:cNvSpPr/>
          <p:nvPr/>
        </p:nvSpPr>
        <p:spPr>
          <a:xfrm rot="0" flipH="0" flipV="0">
            <a:off x="3733800" y="2667000"/>
            <a:ext cx="259080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5" name=""/>
          <p:cNvSpPr/>
          <p:nvPr/>
        </p:nvSpPr>
        <p:spPr>
          <a:xfrm rot="0" flipH="0" flipV="0">
            <a:off x="3733800" y="2667000"/>
            <a:ext cx="2590800" cy="276225"/>
          </a:xfrm>
          <a:custGeom>
            <a:pathLst>
              <a:path w="272" h="29">
                <a:moveTo>
                  <a:pt x="0" y="28"/>
                </a:moveTo>
                <a:lnTo>
                  <a:pt x="272" y="28"/>
                </a:lnTo>
                <a:lnTo>
                  <a:pt x="272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3790950" y="272415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归档可查、留存期满足监管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609600" y="3000375"/>
            <a:ext cx="36195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8" name=""/>
          <p:cNvSpPr/>
          <p:nvPr/>
        </p:nvSpPr>
        <p:spPr>
          <a:xfrm rot="0" flipH="0" flipV="0">
            <a:off x="609600" y="3000375"/>
            <a:ext cx="361950" cy="276225"/>
          </a:xfrm>
          <a:custGeom>
            <a:pathLst>
              <a:path w="38" h="29">
                <a:moveTo>
                  <a:pt x="0" y="28"/>
                </a:moveTo>
                <a:lnTo>
                  <a:pt x="38" y="28"/>
                </a:lnTo>
                <a:lnTo>
                  <a:pt x="38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752475" y="30575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971550" y="3000375"/>
            <a:ext cx="196215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1" name=""/>
          <p:cNvSpPr/>
          <p:nvPr/>
        </p:nvSpPr>
        <p:spPr>
          <a:xfrm rot="0" flipH="0" flipV="0">
            <a:off x="971550" y="3000375"/>
            <a:ext cx="1962150" cy="276225"/>
          </a:xfrm>
          <a:custGeom>
            <a:pathLst>
              <a:path w="206" h="29">
                <a:moveTo>
                  <a:pt x="0" y="28"/>
                </a:moveTo>
                <a:lnTo>
                  <a:pt x="206" y="28"/>
                </a:lnTo>
                <a:lnTo>
                  <a:pt x="20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1028700" y="3057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接口改向</a:t>
            </a:r>
            <a:endParaRPr/>
          </a:p>
        </p:txBody>
      </p:sp>
      <p:sp>
        <p:nvSpPr>
          <p:cNvPr id="993" name=""/>
          <p:cNvSpPr/>
          <p:nvPr/>
        </p:nvSpPr>
        <p:spPr>
          <a:xfrm rot="0" flipH="0" flipV="0">
            <a:off x="2933700" y="3000375"/>
            <a:ext cx="8001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4" name=""/>
          <p:cNvSpPr/>
          <p:nvPr/>
        </p:nvSpPr>
        <p:spPr>
          <a:xfrm rot="0" flipH="0" flipV="0">
            <a:off x="2933700" y="3000375"/>
            <a:ext cx="800100" cy="276225"/>
          </a:xfrm>
          <a:custGeom>
            <a:pathLst>
              <a:path w="84" h="29">
                <a:moveTo>
                  <a:pt x="0" y="28"/>
                </a:moveTo>
                <a:lnTo>
                  <a:pt x="84" y="28"/>
                </a:lnTo>
                <a:lnTo>
                  <a:pt x="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2990850" y="30575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996" name=""/>
          <p:cNvSpPr/>
          <p:nvPr/>
        </p:nvSpPr>
        <p:spPr>
          <a:xfrm rot="0" flipH="0" flipV="0">
            <a:off x="3733800" y="3000375"/>
            <a:ext cx="25908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7" name=""/>
          <p:cNvSpPr/>
          <p:nvPr/>
        </p:nvSpPr>
        <p:spPr>
          <a:xfrm rot="0" flipH="0" flipV="0">
            <a:off x="3733800" y="3000375"/>
            <a:ext cx="2590800" cy="276225"/>
          </a:xfrm>
          <a:custGeom>
            <a:pathLst>
              <a:path w="272" h="29">
                <a:moveTo>
                  <a:pt x="0" y="28"/>
                </a:moveTo>
                <a:lnTo>
                  <a:pt x="272" y="28"/>
                </a:lnTo>
                <a:lnTo>
                  <a:pt x="272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3790950" y="3057525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所有消费方切换并复测</a:t>
            </a:r>
            <a:endParaRPr/>
          </a:p>
        </p:txBody>
      </p:sp>
      <p:sp>
        <p:nvSpPr>
          <p:cNvPr id="999" name=""/>
          <p:cNvSpPr/>
          <p:nvPr/>
        </p:nvSpPr>
        <p:spPr>
          <a:xfrm rot="0" flipH="0" flipV="0">
            <a:off x="609600" y="3333750"/>
            <a:ext cx="36195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00" name=""/>
          <p:cNvSpPr/>
          <p:nvPr/>
        </p:nvSpPr>
        <p:spPr>
          <a:xfrm rot="0" flipH="0" flipV="0">
            <a:off x="609600" y="3333750"/>
            <a:ext cx="361950" cy="276225"/>
          </a:xfrm>
          <a:custGeom>
            <a:pathLst>
              <a:path w="38" h="29">
                <a:moveTo>
                  <a:pt x="0" y="28"/>
                </a:moveTo>
                <a:lnTo>
                  <a:pt x="38" y="28"/>
                </a:lnTo>
                <a:lnTo>
                  <a:pt x="38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752475" y="33909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971550" y="3333750"/>
            <a:ext cx="196215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03" name=""/>
          <p:cNvSpPr/>
          <p:nvPr/>
        </p:nvSpPr>
        <p:spPr>
          <a:xfrm rot="0" flipH="0" flipV="0">
            <a:off x="971550" y="3333750"/>
            <a:ext cx="1962150" cy="276225"/>
          </a:xfrm>
          <a:custGeom>
            <a:pathLst>
              <a:path w="206" h="29">
                <a:moveTo>
                  <a:pt x="0" y="28"/>
                </a:moveTo>
                <a:lnTo>
                  <a:pt x="206" y="28"/>
                </a:lnTo>
                <a:lnTo>
                  <a:pt x="20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1028700" y="33909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账号回收</a:t>
            </a:r>
            <a:endParaRPr/>
          </a:p>
        </p:txBody>
      </p:sp>
      <p:sp>
        <p:nvSpPr>
          <p:cNvPr id="1005" name=""/>
          <p:cNvSpPr/>
          <p:nvPr/>
        </p:nvSpPr>
        <p:spPr>
          <a:xfrm rot="0" flipH="0" flipV="0">
            <a:off x="2933700" y="3333750"/>
            <a:ext cx="80010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06" name=""/>
          <p:cNvSpPr/>
          <p:nvPr/>
        </p:nvSpPr>
        <p:spPr>
          <a:xfrm rot="0" flipH="0" flipV="0">
            <a:off x="2933700" y="3333750"/>
            <a:ext cx="800100" cy="276225"/>
          </a:xfrm>
          <a:custGeom>
            <a:pathLst>
              <a:path w="84" h="29">
                <a:moveTo>
                  <a:pt x="0" y="28"/>
                </a:moveTo>
                <a:lnTo>
                  <a:pt x="84" y="28"/>
                </a:lnTo>
                <a:lnTo>
                  <a:pt x="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2990850" y="33909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安全</a:t>
            </a:r>
            <a:endParaRPr/>
          </a:p>
        </p:txBody>
      </p:sp>
      <p:sp>
        <p:nvSpPr>
          <p:cNvPr id="1008" name=""/>
          <p:cNvSpPr/>
          <p:nvPr/>
        </p:nvSpPr>
        <p:spPr>
          <a:xfrm rot="0" flipH="0" flipV="0">
            <a:off x="3733800" y="3333750"/>
            <a:ext cx="259080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09" name=""/>
          <p:cNvSpPr/>
          <p:nvPr/>
        </p:nvSpPr>
        <p:spPr>
          <a:xfrm rot="0" flipH="0" flipV="0">
            <a:off x="3733800" y="3333750"/>
            <a:ext cx="2590800" cy="276225"/>
          </a:xfrm>
          <a:custGeom>
            <a:pathLst>
              <a:path w="272" h="29">
                <a:moveTo>
                  <a:pt x="0" y="28"/>
                </a:moveTo>
                <a:lnTo>
                  <a:pt x="272" y="28"/>
                </a:lnTo>
                <a:lnTo>
                  <a:pt x="272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3790950" y="3390900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IAM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中凭证已失效</a:t>
            </a:r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609600" y="3667125"/>
            <a:ext cx="36195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2" name=""/>
          <p:cNvSpPr/>
          <p:nvPr/>
        </p:nvSpPr>
        <p:spPr>
          <a:xfrm rot="0" flipH="0" flipV="0">
            <a:off x="609600" y="3667125"/>
            <a:ext cx="361950" cy="276225"/>
          </a:xfrm>
          <a:custGeom>
            <a:pathLst>
              <a:path w="38" h="29">
                <a:moveTo>
                  <a:pt x="0" y="28"/>
                </a:moveTo>
                <a:lnTo>
                  <a:pt x="38" y="28"/>
                </a:lnTo>
                <a:lnTo>
                  <a:pt x="38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752475" y="37242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971550" y="3667125"/>
            <a:ext cx="196215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5" name=""/>
          <p:cNvSpPr/>
          <p:nvPr/>
        </p:nvSpPr>
        <p:spPr>
          <a:xfrm rot="0" flipH="0" flipV="0">
            <a:off x="971550" y="3667125"/>
            <a:ext cx="1962150" cy="276225"/>
          </a:xfrm>
          <a:custGeom>
            <a:pathLst>
              <a:path w="206" h="29">
                <a:moveTo>
                  <a:pt x="0" y="28"/>
                </a:moveTo>
                <a:lnTo>
                  <a:pt x="206" y="28"/>
                </a:lnTo>
                <a:lnTo>
                  <a:pt x="20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1028700" y="37242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环境销毁</a:t>
            </a:r>
            <a:endParaRPr/>
          </a:p>
        </p:txBody>
      </p:sp>
      <p:sp>
        <p:nvSpPr>
          <p:cNvPr id="1017" name=""/>
          <p:cNvSpPr/>
          <p:nvPr/>
        </p:nvSpPr>
        <p:spPr>
          <a:xfrm rot="0" flipH="0" flipV="0">
            <a:off x="2933700" y="3667125"/>
            <a:ext cx="8001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8" name=""/>
          <p:cNvSpPr/>
          <p:nvPr/>
        </p:nvSpPr>
        <p:spPr>
          <a:xfrm rot="0" flipH="0" flipV="0">
            <a:off x="2933700" y="3667125"/>
            <a:ext cx="800100" cy="276225"/>
          </a:xfrm>
          <a:custGeom>
            <a:pathLst>
              <a:path w="84" h="29">
                <a:moveTo>
                  <a:pt x="0" y="28"/>
                </a:moveTo>
                <a:lnTo>
                  <a:pt x="84" y="28"/>
                </a:lnTo>
                <a:lnTo>
                  <a:pt x="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2990850" y="37242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运维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3733800" y="3667125"/>
            <a:ext cx="259080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1" name=""/>
          <p:cNvSpPr/>
          <p:nvPr/>
        </p:nvSpPr>
        <p:spPr>
          <a:xfrm rot="0" flipH="0" flipV="0">
            <a:off x="3733800" y="3667125"/>
            <a:ext cx="2590800" cy="276225"/>
          </a:xfrm>
          <a:custGeom>
            <a:pathLst>
              <a:path w="272" h="29">
                <a:moveTo>
                  <a:pt x="0" y="28"/>
                </a:moveTo>
                <a:lnTo>
                  <a:pt x="272" y="28"/>
                </a:lnTo>
                <a:lnTo>
                  <a:pt x="272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3790950" y="372427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资源回收并出具证明</a:t>
            </a:r>
            <a:endParaRPr/>
          </a:p>
        </p:txBody>
      </p:sp>
      <p:sp>
        <p:nvSpPr>
          <p:cNvPr id="1023" name=""/>
          <p:cNvSpPr/>
          <p:nvPr/>
        </p:nvSpPr>
        <p:spPr>
          <a:xfrm rot="0" flipH="0" flipV="0">
            <a:off x="609600" y="4000500"/>
            <a:ext cx="36195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4" name=""/>
          <p:cNvSpPr/>
          <p:nvPr/>
        </p:nvSpPr>
        <p:spPr>
          <a:xfrm rot="0" flipH="0" flipV="0">
            <a:off x="609600" y="4000500"/>
            <a:ext cx="361950" cy="276225"/>
          </a:xfrm>
          <a:custGeom>
            <a:pathLst>
              <a:path w="38" h="29">
                <a:moveTo>
                  <a:pt x="0" y="28"/>
                </a:moveTo>
                <a:lnTo>
                  <a:pt x="38" y="28"/>
                </a:lnTo>
                <a:lnTo>
                  <a:pt x="38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752475" y="40576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971550" y="4000500"/>
            <a:ext cx="196215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7" name=""/>
          <p:cNvSpPr/>
          <p:nvPr/>
        </p:nvSpPr>
        <p:spPr>
          <a:xfrm rot="0" flipH="0" flipV="0">
            <a:off x="971550" y="4000500"/>
            <a:ext cx="1962150" cy="276225"/>
          </a:xfrm>
          <a:custGeom>
            <a:pathLst>
              <a:path w="206" h="29">
                <a:moveTo>
                  <a:pt x="0" y="28"/>
                </a:moveTo>
                <a:lnTo>
                  <a:pt x="206" y="28"/>
                </a:lnTo>
                <a:lnTo>
                  <a:pt x="20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1028700" y="40576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代码归档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2933700" y="4000500"/>
            <a:ext cx="80010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0" name=""/>
          <p:cNvSpPr/>
          <p:nvPr/>
        </p:nvSpPr>
        <p:spPr>
          <a:xfrm rot="0" flipH="0" flipV="0">
            <a:off x="2933700" y="4000500"/>
            <a:ext cx="800100" cy="276225"/>
          </a:xfrm>
          <a:custGeom>
            <a:pathLst>
              <a:path w="84" h="29">
                <a:moveTo>
                  <a:pt x="0" y="28"/>
                </a:moveTo>
                <a:lnTo>
                  <a:pt x="84" y="28"/>
                </a:lnTo>
                <a:lnTo>
                  <a:pt x="8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2990850" y="40576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研发</a:t>
            </a:r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3733800" y="4000500"/>
            <a:ext cx="2590800" cy="2667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3" name=""/>
          <p:cNvSpPr/>
          <p:nvPr/>
        </p:nvSpPr>
        <p:spPr>
          <a:xfrm rot="0" flipH="0" flipV="0">
            <a:off x="3733800" y="4000500"/>
            <a:ext cx="2590800" cy="276225"/>
          </a:xfrm>
          <a:custGeom>
            <a:pathLst>
              <a:path w="272" h="29">
                <a:moveTo>
                  <a:pt x="0" y="28"/>
                </a:moveTo>
                <a:lnTo>
                  <a:pt x="272" y="28"/>
                </a:lnTo>
                <a:lnTo>
                  <a:pt x="272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3790950" y="405765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仓库转只读，保留可追溯</a:t>
            </a:r>
            <a:endParaRPr/>
          </a:p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609600" y="4371975"/>
            <a:ext cx="57150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项和第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项最常被跳过：只记得下线服务器，忘了还有人在调它的接口。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真实项目里，退役失败的绝大多数原因不是技术问题，是消费方没统计全。</a:t>
            </a:r>
            <a:endParaRPr/>
          </a:p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6515100" y="1362075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模板二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评审检查表</a:t>
            </a:r>
            <a:endParaRPr/>
          </a:p>
        </p:txBody>
      </p:sp>
      <p:sp>
        <p:nvSpPr>
          <p:cNvPr id="1037" name=""/>
          <p:cNvSpPr/>
          <p:nvPr/>
        </p:nvSpPr>
        <p:spPr>
          <a:xfrm rot="0" flipH="0" flipV="0">
            <a:off x="6515100" y="1647825"/>
            <a:ext cx="5067300" cy="43815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8" name=""/>
          <p:cNvSpPr/>
          <p:nvPr/>
        </p:nvSpPr>
        <p:spPr>
          <a:xfrm rot="0" flipH="0" flipV="0">
            <a:off x="6648450" y="1771650"/>
            <a:ext cx="190500" cy="190500"/>
          </a:xfrm>
          <a:prstGeom prst="roundRect">
            <a:avLst>
              <a:gd name="adj" fmla="val 100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6686550" y="18002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6934200" y="1762125"/>
            <a:ext cx="3914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业务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是否书面确认迁移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10944225" y="1800225"/>
            <a:ext cx="504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权重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25%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6515100" y="2152650"/>
            <a:ext cx="5067300" cy="43815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3" name=""/>
          <p:cNvSpPr/>
          <p:nvPr/>
        </p:nvSpPr>
        <p:spPr>
          <a:xfrm rot="0" flipH="0" flipV="0">
            <a:off x="6648450" y="2276475"/>
            <a:ext cx="190500" cy="190500"/>
          </a:xfrm>
          <a:prstGeom prst="roundRect">
            <a:avLst>
              <a:gd name="adj" fmla="val 100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6686550" y="23050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6934200" y="2266950"/>
            <a:ext cx="3914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调用方是否全部识别并切换</a:t>
            </a:r>
            <a:endParaRPr/>
          </a:p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10944225" y="2305050"/>
            <a:ext cx="504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权重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25%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6515100" y="2657475"/>
            <a:ext cx="5067300" cy="43815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8" name=""/>
          <p:cNvSpPr/>
          <p:nvPr/>
        </p:nvSpPr>
        <p:spPr>
          <a:xfrm rot="0" flipH="0" flipV="0">
            <a:off x="6648450" y="2781300"/>
            <a:ext cx="190500" cy="190500"/>
          </a:xfrm>
          <a:prstGeom prst="roundRect">
            <a:avLst>
              <a:gd name="adj" fmla="val 100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6686550" y="28098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6934200" y="2771775"/>
            <a:ext cx="3914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数据归档与留存期是否合规</a:t>
            </a:r>
            <a:endParaRPr/>
          </a:p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10944225" y="2809875"/>
            <a:ext cx="504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权重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20%</a:t>
            </a:r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6515100" y="3162300"/>
            <a:ext cx="5067300" cy="43815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3" name=""/>
          <p:cNvSpPr/>
          <p:nvPr/>
        </p:nvSpPr>
        <p:spPr>
          <a:xfrm rot="0" flipH="0" flipV="0">
            <a:off x="6648450" y="3286125"/>
            <a:ext cx="190500" cy="190500"/>
          </a:xfrm>
          <a:prstGeom prst="roundRect">
            <a:avLst>
              <a:gd name="adj" fmla="val 100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6686550" y="33147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6934200" y="3276600"/>
            <a:ext cx="3914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是否有替代应用承接能力</a:t>
            </a:r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10944225" y="3314700"/>
            <a:ext cx="504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权重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15%</a:t>
            </a:r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6515100" y="3667125"/>
            <a:ext cx="5067300" cy="43815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8" name=""/>
          <p:cNvSpPr/>
          <p:nvPr/>
        </p:nvSpPr>
        <p:spPr>
          <a:xfrm rot="0" flipH="0" flipV="0">
            <a:off x="6648450" y="3790950"/>
            <a:ext cx="190500" cy="190500"/>
          </a:xfrm>
          <a:prstGeom prst="roundRect">
            <a:avLst>
              <a:gd name="adj" fmla="val 100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6686550" y="38195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6934200" y="3781425"/>
            <a:ext cx="3914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账号凭证是否从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IAM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移除</a:t>
            </a:r>
            <a:endParaRPr/>
          </a:p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10944225" y="3819525"/>
            <a:ext cx="504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权重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10%</a:t>
            </a:r>
            <a:endParaRPr/>
          </a:p>
        </p:txBody>
      </p:sp>
      <p:sp>
        <p:nvSpPr>
          <p:cNvPr id="1062" name=""/>
          <p:cNvSpPr/>
          <p:nvPr/>
        </p:nvSpPr>
        <p:spPr>
          <a:xfrm rot="0" flipH="0" flipV="0">
            <a:off x="6515100" y="4171950"/>
            <a:ext cx="5067300" cy="43815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63" name=""/>
          <p:cNvSpPr/>
          <p:nvPr/>
        </p:nvSpPr>
        <p:spPr>
          <a:xfrm rot="0" flipH="0" flipV="0">
            <a:off x="6648450" y="4295775"/>
            <a:ext cx="190500" cy="190500"/>
          </a:xfrm>
          <a:prstGeom prst="roundRect">
            <a:avLst>
              <a:gd name="adj" fmla="val 100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6686550" y="43243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6934200" y="4286250"/>
            <a:ext cx="3981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是否明确上线后观察期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11010900" y="4324350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权重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5%</a:t>
            </a:r>
            <a:endParaRPr/>
          </a:p>
        </p:txBody>
      </p:sp>
      <p:sp>
        <p:nvSpPr>
          <p:cNvPr id="1067" name=""/>
          <p:cNvSpPr/>
          <p:nvPr/>
        </p:nvSpPr>
        <p:spPr>
          <a:xfrm rot="0" flipH="0" flipV="0">
            <a:off x="6515100" y="4676775"/>
            <a:ext cx="5067300" cy="971550"/>
          </a:xfrm>
          <a:prstGeom prst="roundRect">
            <a:avLst>
              <a:gd name="adj" fmla="val 392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6686550" y="4810125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为什么要有权重</a:t>
            </a:r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6686550" y="5048250"/>
            <a:ext cx="47244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不给权重，检查表会退化成打勾仪式。给权重之后，缺一项业务确认就不能推进，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会强制组织真的去沟通，而不是自己给自己盖章。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7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27 / 30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074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收口：&lt;span style={{ color: '#FA4F24' }}&gt;架构确定性&lt;/span&gt;，从「说得清」到「守得住」&#10;        &lt;/Text&gt;&#10;        &lt;Text style={{ fontSize: 20, color: '#8A8F99', marginTop: 8 }}&gt;&#10;     咨询的终点不是那本架构文档，而是半年后还成立的六个判断&#10;        &lt;/Text&gt;&#10;    &lt;/Box&gt;&#10;  &lt;Box style={{ height: 1, background: '#E8E8E8' }} /&gt;&#10;&#10;    {/* B 区 */}&#10;    &lt;Box style={{ paddingTop: 24, paddingBottom: 14, height: 479, flexDirection: 'column', gap: 14 }}&gt;&#10;  {[&#10; { n: '01', t: '能力映射有归属', d: '每个业务能力都能说出由哪个应用承载，说不出的就是架构缺口', c: '#0F1423', tc: '#FFFFFF' },&#10;        { n: '02', t: '每个应用有业务 Owner', d: 'Owner 是业务部门不是 IT。IT 是服务提供方，业务才是需求方', c: '#FA4F24', tc: '#FFFFFF' },&#10;    { n: '03', t: '集成有契约可依', d: '数据服务与事件都有书面契约，能查到消费方和SLA', c: '#F8622F', tc: '#FFFFFF' },&#10;      { n: '04', t: '新增被门拦住', d: '四道评审门真正在用，例外有台账、有到期日', c: '#FBA15C', tc: '#3A2000' },&#10; { n: '05', t: '退役是常态动作', d: '减法有清单、有签字、有观察期，不是偶发运动', c: '#FDC69A', tc: '#3A2000' },&#10;        { n: '06', t: '架构与预算同源', d: '立项预算与架构结论对齐，钱花在通过门的项目上', c: '#FFE3C2', tc: '#3A2000' },&#10;      ].map((it, i) =&gt; (&#10;        &lt;Box key={i} style={{ flex: 1, flexDirection: 'row', alignItems: 'center', background: it.c, borderRadius: 4, padding: '0 20px', gap: 16 }}&gt;&#10;     &lt;Text style={{ fontSize: 22, fontWeight: 'bold', color: it.tc, width: 38 }}&gt;{it.n}&lt;/Text&gt;&#10;        &lt;Text style={{ fontSize: 19, fontWeight: 'bold', color: it.tc, width: 210 }}&gt;{it.t}&lt;/Text&gt;&#10;      &lt;Text style={{ fontSize: 14, color: it.tc, opacity: 0.92, flex: 1, lineHeight: 1.45 }}&gt;{it.d}&lt;/Text&gt;&#10;   &lt;/Box&gt;&#10;    ))}&#10;        &lt;Box style={{ height: 92, background: '#F7F7F8', borderRadius: 4, borderLeft: '5px solid #FA4F24', padding: '12px 20px', flexDirection: 'row', alignItems: 'center', gap: 20 }}&gt;&#10;      &lt;Text style={{ fontSize: 17, fontWeight: 'bold', color: '#C43A17', width: 190, lineHeight: 1.4 }}&gt;&#10;            咨询交付的最后一问&#10;          &lt;/Text&gt;&#10;  &lt;Text style={{ fontSize: 15, color: '#3A4050', flex: 1, lineHeight: 1.55 }}&gt;&#10;         项目验收那天问客户：半年后谁来更新应用目录？谁来盯例外台账到期？谁来判断一个系统该不该下线？&#10;     三个问题里有两个答不上来，架构就还没有落地，只是停在文档里。真正的落地标志不是评审通过，&#10;        是有人开始因为门被拦而感到不方便——那才说明门在起作用。&#10;     &lt;/Text&gt;&#10;   &lt;/Box&gt;&#10; &lt;/Box&gt;&#10;&#10;    {/* C 区 */}&#10;    &lt;Box style={{ height: 58, flexDirection: 'row', alignItems: 'center', borderTop: '1px solid #E8E8E8' }}&gt;&#10;        &lt;Box style={{ width: 10, height: 10, background: '#FA4F24' }} /&gt;&#10;   &lt;Text style={{ fontSize: 13, color: '#8A8F99', marginLeft: 12 }}&gt;硕磐机密 · AA应用架构咨询方法论&lt;/Text&gt;&#10;    &lt;Text style={{ fontSize: 13, color: '#8A8F99', marginLeft: 'auto' }}&gt;28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收口：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架构确定性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，从「说得清」到「守得住」</a:t>
            </a:r>
            <a:endParaRPr/>
          </a:p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咨询的终点不是那本架构文档，而是半年后还成立的六个判断</a:t>
            </a:r>
            <a:endParaRPr/>
          </a:p>
        </p:txBody>
      </p:sp>
      <p:sp>
        <p:nvSpPr>
          <p:cNvPr id="107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79" name=""/>
          <p:cNvSpPr/>
          <p:nvPr/>
        </p:nvSpPr>
        <p:spPr>
          <a:xfrm rot="0" flipH="0" flipV="0">
            <a:off x="609600" y="1381125"/>
            <a:ext cx="10972800" cy="419100"/>
          </a:xfrm>
          <a:prstGeom prst="roundRect">
            <a:avLst>
              <a:gd name="adj" fmla="val 909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800100" y="1466850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1314450" y="1485900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能力映射有归属</a:t>
            </a:r>
            <a:endParaRPr/>
          </a:p>
        </p:txBody>
      </p:sp>
      <p:sp>
        <p:nvSpPr>
          <p:cNvPr id="1082" name=""/>
          <p:cNvSpPr/>
          <p:nvPr/>
        </p:nvSpPr>
        <p:spPr>
          <a:xfrm rot="0" flipH="0" flipV="0">
            <a:off x="609600" y="1933575"/>
            <a:ext cx="10972800" cy="419100"/>
          </a:xfrm>
          <a:prstGeom prst="roundRect">
            <a:avLst>
              <a:gd name="adj" fmla="val 9091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800100" y="2019300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1314450" y="2038350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每个应用有业务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1085" name=""/>
          <p:cNvSpPr/>
          <p:nvPr/>
        </p:nvSpPr>
        <p:spPr>
          <a:xfrm rot="0" flipH="0" flipV="0">
            <a:off x="609600" y="2486025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800100" y="2571750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1314450" y="2590800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集成有契约可依</a:t>
            </a:r>
            <a:endParaRPr/>
          </a:p>
        </p:txBody>
      </p:sp>
      <p:sp>
        <p:nvSpPr>
          <p:cNvPr id="1088" name=""/>
          <p:cNvSpPr/>
          <p:nvPr/>
        </p:nvSpPr>
        <p:spPr>
          <a:xfrm rot="0" flipH="0" flipV="0">
            <a:off x="609600" y="3048000"/>
            <a:ext cx="10972800" cy="419100"/>
          </a:xfrm>
          <a:prstGeom prst="roundRect">
            <a:avLst>
              <a:gd name="adj" fmla="val 9091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800100" y="3133725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200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1314450" y="3152775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A2000"/>
                </a:solidFill>
                <a:latin typeface="Microsoft YaHei"/>
                <a:ea typeface="Microsoft YaHei"/>
              </a:rPr>
              <a:t>新增被门拦住</a:t>
            </a:r>
            <a:endParaRPr/>
          </a:p>
        </p:txBody>
      </p:sp>
      <p:sp>
        <p:nvSpPr>
          <p:cNvPr id="1091" name=""/>
          <p:cNvSpPr/>
          <p:nvPr/>
        </p:nvSpPr>
        <p:spPr>
          <a:xfrm rot="0" flipH="0" flipV="0">
            <a:off x="609600" y="3600450"/>
            <a:ext cx="10972800" cy="419100"/>
          </a:xfrm>
          <a:prstGeom prst="roundRect">
            <a:avLst>
              <a:gd name="adj" fmla="val 9091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800100" y="3686175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2000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1314450" y="3705225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A2000"/>
                </a:solidFill>
                <a:latin typeface="Microsoft YaHei"/>
                <a:ea typeface="Microsoft YaHei"/>
              </a:rPr>
              <a:t>退役是常态动作</a:t>
            </a:r>
            <a:endParaRPr/>
          </a:p>
        </p:txBody>
      </p:sp>
      <p:sp>
        <p:nvSpPr>
          <p:cNvPr id="1094" name=""/>
          <p:cNvSpPr/>
          <p:nvPr/>
        </p:nvSpPr>
        <p:spPr>
          <a:xfrm rot="0" flipH="0" flipV="0">
            <a:off x="609600" y="4152900"/>
            <a:ext cx="10972800" cy="419100"/>
          </a:xfrm>
          <a:prstGeom prst="roundRect">
            <a:avLst>
              <a:gd name="adj" fmla="val 9091"/>
            </a:avLst>
          </a:prstGeom>
          <a:solidFill>
            <a:srgbClr val="FFE3C2"/>
          </a:solidFill>
          <a:ln/>
        </p:spPr>
        <p:txBody>
          <a:bodyPr/>
          <a:p/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800100" y="4238625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2000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1314450" y="4257675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A2000"/>
                </a:solidFill>
                <a:latin typeface="Microsoft YaHei"/>
                <a:ea typeface="Microsoft YaHei"/>
              </a:rPr>
              <a:t>架构与预算同源</a:t>
            </a:r>
            <a:endParaRPr/>
          </a:p>
        </p:txBody>
      </p:sp>
      <p:sp>
        <p:nvSpPr>
          <p:cNvPr id="1097" name=""/>
          <p:cNvSpPr/>
          <p:nvPr/>
        </p:nvSpPr>
        <p:spPr>
          <a:xfrm rot="0" flipH="0" flipV="0">
            <a:off x="657225" y="4705350"/>
            <a:ext cx="10972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8" name=""/>
          <p:cNvSpPr/>
          <p:nvPr/>
        </p:nvSpPr>
        <p:spPr>
          <a:xfrm rot="0" flipH="0" flipV="0">
            <a:off x="657225" y="4705350"/>
            <a:ext cx="10972800" cy="876300"/>
          </a:xfrm>
          <a:custGeom>
            <a:pathLst>
              <a:path w="1152" h="92">
                <a:moveTo>
                  <a:pt x="5" y="92"/>
                </a:moveTo>
                <a:cubicBezTo>
                  <a:pt x="4" y="92"/>
                  <a:pt x="3" y="92"/>
                  <a:pt x="2" y="91"/>
                </a:cubicBezTo>
                <a:cubicBezTo>
                  <a:pt x="1" y="91"/>
                  <a:pt x="0" y="90"/>
                  <a:pt x="0" y="88"/>
                </a:cubicBezTo>
                <a:lnTo>
                  <a:pt x="0" y="88"/>
                </a:lnTo>
                <a:lnTo>
                  <a:pt x="0" y="8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847725" y="5010150"/>
            <a:ext cx="18097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咨询交付的最后一问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2847975" y="4876800"/>
            <a:ext cx="85439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项目验收那天问客户：半年后谁来更新应用目录？谁来盯例外台账到期？谁来判断一个系统该不该下线？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三个问题里有两个答不上来，架构就还没有落地，只是停在文档里。真正的落地标志不是评审通过，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是有人开始因为门被拦而感到不方便——那才说明门在起作用。</a:t>
            </a:r>
            <a:endParaRPr/>
          </a:p>
        </p:txBody>
      </p:sp>
      <p:sp>
        <p:nvSpPr>
          <p:cNvPr id="110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0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28 / 30</a:t>
            </a:r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3467100" y="1476375"/>
            <a:ext cx="7924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每个业务能力都能说出由哪个应用承载，说不出的就是架构缺口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3467100" y="2028825"/>
            <a:ext cx="7924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Owner </a:t>
            </a: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是业务部门不是</a:t>
            </a:r>
            <a:r>
              <a:rPr lang="en-US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。</a:t>
            </a:r>
            <a:r>
              <a:rPr lang="en-US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是服务提供方，业务才是需求方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3467100" y="2581275"/>
            <a:ext cx="7924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数据服务与事件都有书面契约，能查到消费方和</a:t>
            </a:r>
            <a:r>
              <a:rPr lang="en-US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SLA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3467100" y="3143250"/>
            <a:ext cx="7924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2000">
                    <a:alpha val="92000"/>
                  </a:srgbClr>
                </a:solidFill>
                <a:latin typeface="Microsoft YaHei"/>
                <a:ea typeface="Microsoft YaHei"/>
              </a:rPr>
              <a:t>四道评审门真正在用，例外有台账、有到期日</a:t>
            </a:r>
            <a:endParaRPr/>
          </a:p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3467100" y="3695700"/>
            <a:ext cx="7924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2000">
                    <a:alpha val="92000"/>
                  </a:srgbClr>
                </a:solidFill>
                <a:latin typeface="Microsoft YaHei"/>
                <a:ea typeface="Microsoft YaHei"/>
              </a:rPr>
              <a:t>减法有清单、有签字、有观察期，不是偶发运动</a:t>
            </a:r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3467100" y="4248150"/>
            <a:ext cx="7924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2000">
                    <a:alpha val="92000"/>
                  </a:srgbClr>
                </a:solidFill>
                <a:latin typeface="Microsoft YaHei"/>
                <a:ea typeface="Microsoft YaHei"/>
              </a:rPr>
              <a:t>立项预算与架构结论对齐，钱花在通过门的项目上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11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五个把应用架构&lt;span style={{ color: '#FA4F24' }}&gt;做砸&lt;/span&gt;的坑&#10;        &lt;/Text&gt;&#10;      &lt;Text style={{ fontSize: 20, color: '#8A8F99', marginTop: 8 }}&gt;&#10;    每一个都出在真实项目里，代价都不小&#10;      &lt;/Text&gt;&#10;    &lt;/Box&gt;&#10;    &lt;Box style={{ height: 1, background: '#E8E8E8' }} /&gt;&#10;&#10;{/* B 区 */}&#10;    &lt;Box style={{ paddingTop: 22, paddingBottom: 12, height: 479, flexDirection: 'column', gap: 8 }}&gt;&#10;        {[&#10; { n: '01', t: '把应用架构画成了系统拓扑图', d: '全是服务器和中间件，没有业务能力', w: '后果：评审变成技术自嗨，业务方看不懂也不参与', c: '#0F1423' },&#10;        { n: '02', t: '只做盘点，不做决策', d: '清单很厚，但没有建买集成退役的结论', w: '后果：盘点成了年度作业，明年还得再来一遍', c: '#FA4F24' },&#10;        { n: '03', t: '把 Owner 给了 IT 部门', d: 'IT 既是运动员又是裁判', w: '后果：没人替业务做取舍，系统只增不减', c: '#F8622F' },&#10;     { n: '04', t: '集成清单只记接口不记数据归属', d: '接口表几百行，说不清数据是谁的', w: '后果：接口越加越多，源头一致性无人负责', c: '#FBA15C' },&#10;   { n: '05', t: '只谈新建，从不谈退役', d: '报告里没有一个下线建议', w: '后果：技术债逐年累积，五年后无法重构', c: '#FDC69A' },&#10;        ].map((it, i) =&gt; (&#10;      &lt;Box key={i} style={{ flex: 1, flexDirection: 'row', alignItems: 'center', background: '#F7F7F8', borderRadius: 4, padding: '0 18px', gap: 16, borderLeft: `5px solid ${it.c}` }}&gt;&#10;      &lt;Text style={{ fontSize: 20, fontWeight: 'bold', color: it.c, width: 34 }}&gt;{it.n}&lt;/Text&gt;&#10;     &lt;Box style={{ flex: 1, flexDirection: 'column' }}&gt;&#10;      &lt;Text style={{ fontSize: 17, fontWeight: 'bold', color: '#0F1423' }}&gt;{it.t}&lt;/Text&gt;&#10;        &lt;Text style={{ fontSize: 13, color: '#3A4050', marginTop: 2, lineHeight: 1.4 }}&gt;{it.d}&lt;/Text&gt;&#10;       &lt;/Box&gt;&#10;   &lt;Text style={{ fontSize: 13, color: '#C43A17', width: 330, lineHeight: 1.45 }}&gt;{it.w}&lt;/Text&gt;&#10;       &lt;/Box&gt;&#10;   ))}&#10;   &lt;Box style={{ height: 62, background: 'linear-gradient(90deg, #FA4F24 0%, #F87D2F 100%)', borderRadius: 4, padding: '0 18px', flexDirection: 'row', alignItems: 'center' }}&gt;&#10;        &lt;Text style={{ fontSize: 16, fontWeight: 'bold', color: '#FFFFFF', width: 168 }}&gt;五个坑的共同根因&lt;/Text&gt;&#10;        &lt;Text style={{ fontSize: 14, color: 'rgba(255,255,255,0.95)', flex: 1, lineHeight: 1.45 }}&gt;&#10;        把应用架构当成 IT 内部的技术管理，而不是业务与技术的共同决策。&#10;   只要业务不参与取舍，第3、5 条就一定会发生；只要不看数据归属，第4条一定会发生。&#10;        &lt;/Text&gt;&#10;      &lt;/Box&gt;&#10; &lt;/Box&gt;&#10;&#10;    {/* C 区 */}&#10;    &lt;Box style={{ height: 58, flexDirection: 'row', alignItems: 'center', borderTop: '1px solid #E8E8E8' }}&gt;&#10;      &lt;Box style={{ width: 10, height: 10, background: '#FA4F24' }} /&gt;&#10;    &lt;Text style={{ fontSize: 13, color: '#8A8F99', marginLeft: 12 }}&gt;硕磐机密 · AA应用架构咨询方法论&lt;/Text&gt;&#10;  &lt;Text style={{ fontSize: 13, color: '#8A8F99', marginLeft: 'auto' }}&gt;29 / 30&lt;/Text&gt;&#10;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五个把应用架构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做砸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的坑</a:t>
            </a:r>
            <a:endParaRPr/>
          </a:p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每一个都出在真实项目里，代价都不小</a:t>
            </a:r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16" name=""/>
          <p:cNvSpPr/>
          <p:nvPr/>
        </p:nvSpPr>
        <p:spPr>
          <a:xfrm rot="0" flipH="0" flipV="0">
            <a:off x="657225" y="1362075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7" name=""/>
          <p:cNvSpPr/>
          <p:nvPr/>
        </p:nvSpPr>
        <p:spPr>
          <a:xfrm rot="0" flipH="0" flipV="0">
            <a:off x="657225" y="1362075"/>
            <a:ext cx="10972800" cy="657225"/>
          </a:xfrm>
          <a:custGeom>
            <a:pathLst>
              <a:path w="1152" h="69">
                <a:moveTo>
                  <a:pt x="5" y="69"/>
                </a:moveTo>
                <a:cubicBezTo>
                  <a:pt x="4" y="69"/>
                  <a:pt x="3" y="69"/>
                  <a:pt x="2" y="68"/>
                </a:cubicBezTo>
                <a:cubicBezTo>
                  <a:pt x="1" y="68"/>
                  <a:pt x="0" y="67"/>
                  <a:pt x="0" y="65"/>
                </a:cubicBezTo>
                <a:lnTo>
                  <a:pt x="0" y="65"/>
                </a:lnTo>
                <a:lnTo>
                  <a:pt x="0" y="6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828675" y="158115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1304925" y="1476375"/>
            <a:ext cx="6810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把应用架构画成了系统拓扑图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1304925" y="1695450"/>
            <a:ext cx="6810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全是服务器和中间件，没有业务能力</a:t>
            </a:r>
            <a:endParaRPr/>
          </a:p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8267700" y="1581150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后果：评审变成技术自嗨，业务方看不懂也不参与</a:t>
            </a:r>
            <a:endParaRPr/>
          </a:p>
        </p:txBody>
      </p:sp>
      <p:sp>
        <p:nvSpPr>
          <p:cNvPr id="1122" name=""/>
          <p:cNvSpPr/>
          <p:nvPr/>
        </p:nvSpPr>
        <p:spPr>
          <a:xfrm rot="0" flipH="0" flipV="0">
            <a:off x="657225" y="2095500"/>
            <a:ext cx="109728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3" name=""/>
          <p:cNvSpPr/>
          <p:nvPr/>
        </p:nvSpPr>
        <p:spPr>
          <a:xfrm rot="0" flipH="0" flipV="0">
            <a:off x="657225" y="2095500"/>
            <a:ext cx="10972800" cy="647700"/>
          </a:xfrm>
          <a:custGeom>
            <a:pathLst>
              <a:path w="1152" h="68">
                <a:moveTo>
                  <a:pt x="5" y="68"/>
                </a:moveTo>
                <a:cubicBezTo>
                  <a:pt x="4" y="68"/>
                  <a:pt x="3" y="68"/>
                  <a:pt x="2" y="67"/>
                </a:cubicBezTo>
                <a:cubicBezTo>
                  <a:pt x="1" y="67"/>
                  <a:pt x="0" y="66"/>
                  <a:pt x="0" y="64"/>
                </a:cubicBezTo>
                <a:lnTo>
                  <a:pt x="0" y="64"/>
                </a:lnTo>
                <a:lnTo>
                  <a:pt x="0" y="6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828675" y="230505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1304925" y="2209800"/>
            <a:ext cx="6810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只做盘点，不做决策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1304925" y="2428875"/>
            <a:ext cx="6810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清单很厚，但没有建买集成退役的结论</a:t>
            </a:r>
            <a:endParaRPr/>
          </a:p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8267700" y="2314575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后果：盘点成了年度作业，明年还得再来一遍</a:t>
            </a:r>
            <a:endParaRPr/>
          </a:p>
        </p:txBody>
      </p:sp>
      <p:sp>
        <p:nvSpPr>
          <p:cNvPr id="1128" name=""/>
          <p:cNvSpPr/>
          <p:nvPr/>
        </p:nvSpPr>
        <p:spPr>
          <a:xfrm rot="0" flipH="0" flipV="0">
            <a:off x="657225" y="2819400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9" name=""/>
          <p:cNvSpPr/>
          <p:nvPr/>
        </p:nvSpPr>
        <p:spPr>
          <a:xfrm rot="0" flipH="0" flipV="0">
            <a:off x="657225" y="2819400"/>
            <a:ext cx="10972800" cy="657225"/>
          </a:xfrm>
          <a:custGeom>
            <a:pathLst>
              <a:path w="1152" h="69">
                <a:moveTo>
                  <a:pt x="5" y="69"/>
                </a:moveTo>
                <a:cubicBezTo>
                  <a:pt x="4" y="69"/>
                  <a:pt x="3" y="69"/>
                  <a:pt x="2" y="68"/>
                </a:cubicBezTo>
                <a:cubicBezTo>
                  <a:pt x="1" y="68"/>
                  <a:pt x="0" y="67"/>
                  <a:pt x="0" y="65"/>
                </a:cubicBezTo>
                <a:lnTo>
                  <a:pt x="0" y="65"/>
                </a:lnTo>
                <a:lnTo>
                  <a:pt x="0" y="6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828675" y="3038475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622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1304925" y="2933700"/>
            <a:ext cx="6810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把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给了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部门</a:t>
            </a:r>
            <a:endParaRPr/>
          </a:p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1304925" y="3152775"/>
            <a:ext cx="6810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既是运动员又是裁判</a:t>
            </a:r>
            <a:endParaRPr/>
          </a:p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8267700" y="3038475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后果：没人替业务做取舍，系统只增不减</a:t>
            </a:r>
            <a:endParaRPr/>
          </a:p>
        </p:txBody>
      </p:sp>
      <p:sp>
        <p:nvSpPr>
          <p:cNvPr id="1134" name=""/>
          <p:cNvSpPr/>
          <p:nvPr/>
        </p:nvSpPr>
        <p:spPr>
          <a:xfrm rot="0" flipH="0" flipV="0">
            <a:off x="657225" y="3552825"/>
            <a:ext cx="109728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5" name=""/>
          <p:cNvSpPr/>
          <p:nvPr/>
        </p:nvSpPr>
        <p:spPr>
          <a:xfrm rot="0" flipH="0" flipV="0">
            <a:off x="657225" y="3552825"/>
            <a:ext cx="10972800" cy="647700"/>
          </a:xfrm>
          <a:custGeom>
            <a:pathLst>
              <a:path w="1152" h="68">
                <a:moveTo>
                  <a:pt x="5" y="68"/>
                </a:moveTo>
                <a:cubicBezTo>
                  <a:pt x="4" y="68"/>
                  <a:pt x="3" y="68"/>
                  <a:pt x="2" y="67"/>
                </a:cubicBezTo>
                <a:cubicBezTo>
                  <a:pt x="1" y="67"/>
                  <a:pt x="0" y="66"/>
                  <a:pt x="0" y="64"/>
                </a:cubicBezTo>
                <a:lnTo>
                  <a:pt x="0" y="64"/>
                </a:lnTo>
                <a:lnTo>
                  <a:pt x="0" y="6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828675" y="3762375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BA15C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1304925" y="3667125"/>
            <a:ext cx="6810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集成清单只记接口不记数据归属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1304925" y="3886200"/>
            <a:ext cx="6810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接口表几百行，说不清数据是谁的</a:t>
            </a:r>
            <a:endParaRPr/>
          </a:p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8267700" y="3771900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后果：接口越加越多，源头一致性无人负责</a:t>
            </a:r>
            <a:endParaRPr/>
          </a:p>
        </p:txBody>
      </p:sp>
      <p:sp>
        <p:nvSpPr>
          <p:cNvPr id="1140" name=""/>
          <p:cNvSpPr/>
          <p:nvPr/>
        </p:nvSpPr>
        <p:spPr>
          <a:xfrm rot="0" flipH="0" flipV="0">
            <a:off x="657225" y="4276725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1" name=""/>
          <p:cNvSpPr/>
          <p:nvPr/>
        </p:nvSpPr>
        <p:spPr>
          <a:xfrm rot="0" flipH="0" flipV="0">
            <a:off x="657225" y="4276725"/>
            <a:ext cx="10972800" cy="657225"/>
          </a:xfrm>
          <a:custGeom>
            <a:pathLst>
              <a:path w="1152" h="69">
                <a:moveTo>
                  <a:pt x="5" y="69"/>
                </a:moveTo>
                <a:cubicBezTo>
                  <a:pt x="4" y="69"/>
                  <a:pt x="3" y="69"/>
                  <a:pt x="2" y="68"/>
                </a:cubicBezTo>
                <a:cubicBezTo>
                  <a:pt x="1" y="68"/>
                  <a:pt x="0" y="67"/>
                  <a:pt x="0" y="65"/>
                </a:cubicBezTo>
                <a:lnTo>
                  <a:pt x="0" y="65"/>
                </a:lnTo>
                <a:lnTo>
                  <a:pt x="0" y="6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DC69A"/>
          </a:solidFill>
          <a:ln/>
        </p:spPr>
        <p:txBody>
          <a:bodyPr/>
          <a:p/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828675" y="449580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DC69A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1304925" y="4391025"/>
            <a:ext cx="6810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只谈新建，从不谈退役</a:t>
            </a:r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1304925" y="4610100"/>
            <a:ext cx="6810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报告里没有一个下线建议</a:t>
            </a:r>
            <a:endParaRPr/>
          </a:p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8267700" y="4495800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后果：技术债逐年累积，五年后无法重构</a:t>
            </a:r>
            <a:endParaRPr/>
          </a:p>
        </p:txBody>
      </p:sp>
      <p:sp>
        <p:nvSpPr>
          <p:cNvPr id="1146" name=""/>
          <p:cNvSpPr/>
          <p:nvPr/>
        </p:nvSpPr>
        <p:spPr>
          <a:xfrm rot="0" flipH="0" flipV="0">
            <a:off x="609600" y="5010150"/>
            <a:ext cx="10972800" cy="590550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781050" y="5210175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五个坑的共同根因</a:t>
            </a:r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2381250" y="5076825"/>
            <a:ext cx="90297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把应用架构当成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内部的技术管理，而不是业务与技术的共同决策。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只要业务不参与取舍，第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3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条就一定会发生；只要不看数据归属，第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4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条一定会发生。</a:t>
            </a:r>
            <a:endParaRPr/>
          </a:p>
        </p:txBody>
      </p:sp>
      <p:sp>
        <p:nvSpPr>
          <p:cNvPr id="114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5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29 / 30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215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left: 0, bottom: 0, width: 720, height: 720, background: 'linear-gradient(160deg, rgba(250,79,36,0.26) 0%, rgba(250,79,36,0) 68%)' }} /&gt;&#10;&#10;    &lt;Box style={{ position: 'absolute', left: 92, top: 128, width: 780, flexDirection: 'column' }}&gt;&#10;        &lt;Text style={{ fontSize: 15, color: 'rgba(255,255,255,0.5)', letterSpacing: 4 }}&gt;EPILOGUE&lt;/Text&gt;&#10;        &lt;Box style={{ width: 72, height: 5, background: '#FA4F24', marginTop: 20 }} /&gt;&#10;   &lt;Text style={{ fontSize: 52, fontWeight: 'bold', color: '#FFFFFF', marginTop: 28, lineHeight: 1.2 }}&gt;&#10;        架构的价值&lt;br /&gt;在&lt;span style={{ color: '#FA4F24' }}&gt;减法&lt;/span&gt;里显现&#10;    &lt;/Text&gt;&#10;   &lt;Text style={{ fontSize: 19, color: 'rgba(255,255,255,0.8)', marginTop: 26, lineHeight: 1.75 }}&gt;&#10;      新建一个系统，所有人都会鼓掌。&lt;br /&gt;&#10;      让一个系统消失，需要勇气、依据和一整套执行动作。&lt;br /&gt;&#10;   后者才是应用架构真正的难点。&#10;    &lt;/Text&gt;&#10;   &lt;Box style={{ flexDirection: 'row', gap: 14, marginTop: 34 }}&gt;&#10;{['能力有归属', '集成有契约', '新增有门', '退役有单'].map((t, i) =&gt; (&#10;        &lt;Box key={i} style={{ border: '1px solid rgba(250,79,36,0.6)', borderRadius: 4, padding: '8px 18px' }}&gt;&#10;       &lt;Text style={{ fontSize: 16, color: '#FBA15C' }}&gt;{t}&lt;/Text&gt;&#10;   &lt;/Box&gt;&#10;      ))}&#10; &lt;/Box&gt;&#10;    &lt;/Box&gt;&#10;&#10;  &lt;Box style={{ position: 'absolute', right: 88, bottom: 64, flexDirection: 'row', alignItems: 'center', gap: 12 }}&gt;&#10;      &lt;Box style={{ width: 14, height: 14, background: '#FA4F24' }} /&gt;&#10;      &lt;Text style={{ fontSize: 14, color: 'rgba(255,255,255,0.5)' }}&gt;硕磐机密 · AA应用架构咨询方法论&lt;/Text&gt;&#10;        &lt;Text style={{ fontSize: 14, color: 'rgba(255,255,255,0.5)', marginLeft: 12 }}&gt;30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18" name=""/>
          <p:cNvSpPr/>
          <p:nvPr/>
        </p:nvSpPr>
        <p:spPr>
          <a:xfrm rot="0" flipH="0" flipV="0">
            <a:off x="0" y="0"/>
            <a:ext cx="68580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68000">
                <a:srgbClr val="FA4F24">
                  <a:alpha val="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876300" y="1219200"/>
            <a:ext cx="742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EPILOGUE</a:t>
            </a:r>
            <a:endParaRPr/>
          </a:p>
        </p:txBody>
      </p:sp>
      <p:sp>
        <p:nvSpPr>
          <p:cNvPr id="1220" name=""/>
          <p:cNvSpPr/>
          <p:nvPr/>
        </p:nvSpPr>
        <p:spPr>
          <a:xfrm rot="0" flipH="0" flipV="0">
            <a:off x="876300" y="158115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876300" y="1895475"/>
            <a:ext cx="74295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架构的价值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在</a:t>
            </a:r>
            <a:r>
              <a:rPr lang="zh-CN" sz="3900" b="1">
                <a:solidFill>
                  <a:srgbClr val="FA4F24"/>
                </a:solidFill>
                <a:latin typeface="Microsoft YaHei"/>
                <a:ea typeface="Microsoft YaHei"/>
              </a:rPr>
              <a:t>减法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里显现</a:t>
            </a:r>
            <a:endParaRPr/>
          </a:p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876300" y="3571875"/>
            <a:ext cx="7429500" cy="11430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新建一个系统，所有人都会鼓掌。</a:t>
            </a:r>
            <a:endParaRPr/>
          </a:p>
          <a:p>
            <a:pPr>
              <a:lnSpc>
                <a:spcPct val="17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让一个系统消失，需要勇气、依据和一整套执行动作。</a:t>
            </a:r>
            <a:endParaRPr/>
          </a:p>
          <a:p>
            <a:pPr>
              <a:lnSpc>
                <a:spcPct val="17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后者才是应用架构真正的难点。</a:t>
            </a:r>
            <a:endParaRPr/>
          </a:p>
        </p:txBody>
      </p:sp>
      <p:sp>
        <p:nvSpPr>
          <p:cNvPr id="1223" name=""/>
          <p:cNvSpPr/>
          <p:nvPr/>
        </p:nvSpPr>
        <p:spPr>
          <a:xfrm rot="0" flipH="0" flipV="0">
            <a:off x="876300" y="5038725"/>
            <a:ext cx="1104900" cy="342900"/>
          </a:xfrm>
          <a:prstGeom prst="roundRect">
            <a:avLst>
              <a:gd name="adj" fmla="val 11111"/>
            </a:avLst>
          </a:prstGeom>
          <a:ln w="12700">
            <a:solidFill>
              <a:srgbClr val="FA4F2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1047750" y="511492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A15C"/>
                </a:solidFill>
                <a:latin typeface="Microsoft YaHei"/>
                <a:ea typeface="Microsoft YaHei"/>
              </a:rPr>
              <a:t>能力有归属</a:t>
            </a:r>
            <a:endParaRPr/>
          </a:p>
        </p:txBody>
      </p:sp>
      <p:sp>
        <p:nvSpPr>
          <p:cNvPr id="1225" name=""/>
          <p:cNvSpPr/>
          <p:nvPr/>
        </p:nvSpPr>
        <p:spPr>
          <a:xfrm rot="0" flipH="0" flipV="0">
            <a:off x="2114550" y="5038725"/>
            <a:ext cx="1104900" cy="342900"/>
          </a:xfrm>
          <a:prstGeom prst="roundRect">
            <a:avLst>
              <a:gd name="adj" fmla="val 11111"/>
            </a:avLst>
          </a:prstGeom>
          <a:ln w="12700">
            <a:solidFill>
              <a:srgbClr val="FA4F2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2286000" y="511492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A15C"/>
                </a:solidFill>
                <a:latin typeface="Microsoft YaHei"/>
                <a:ea typeface="Microsoft YaHei"/>
              </a:rPr>
              <a:t>集成有契约</a:t>
            </a:r>
            <a:endParaRPr/>
          </a:p>
        </p:txBody>
      </p:sp>
      <p:sp>
        <p:nvSpPr>
          <p:cNvPr id="1227" name=""/>
          <p:cNvSpPr/>
          <p:nvPr/>
        </p:nvSpPr>
        <p:spPr>
          <a:xfrm rot="0" flipH="0" flipV="0">
            <a:off x="3352800" y="5038725"/>
            <a:ext cx="952500" cy="342900"/>
          </a:xfrm>
          <a:prstGeom prst="roundRect">
            <a:avLst>
              <a:gd name="adj" fmla="val 11111"/>
            </a:avLst>
          </a:prstGeom>
          <a:ln w="12700">
            <a:solidFill>
              <a:srgbClr val="FA4F2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352425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A15C"/>
                </a:solidFill>
                <a:latin typeface="Microsoft YaHei"/>
                <a:ea typeface="Microsoft YaHei"/>
              </a:rPr>
              <a:t>新增有门</a:t>
            </a:r>
            <a:endParaRPr/>
          </a:p>
        </p:txBody>
      </p:sp>
      <p:sp>
        <p:nvSpPr>
          <p:cNvPr id="1229" name=""/>
          <p:cNvSpPr/>
          <p:nvPr/>
        </p:nvSpPr>
        <p:spPr>
          <a:xfrm rot="0" flipH="0" flipV="0">
            <a:off x="4438650" y="5038725"/>
            <a:ext cx="952500" cy="342900"/>
          </a:xfrm>
          <a:prstGeom prst="roundRect">
            <a:avLst>
              <a:gd name="adj" fmla="val 11111"/>
            </a:avLst>
          </a:prstGeom>
          <a:ln w="12700">
            <a:solidFill>
              <a:srgbClr val="FA4F2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461010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A15C"/>
                </a:solidFill>
                <a:latin typeface="Microsoft YaHei"/>
                <a:ea typeface="Microsoft YaHei"/>
              </a:rPr>
              <a:t>退役有单</a:t>
            </a:r>
            <a:endParaRPr/>
          </a:p>
        </p:txBody>
      </p:sp>
      <p:sp>
        <p:nvSpPr>
          <p:cNvPr id="1231" name=""/>
          <p:cNvSpPr/>
          <p:nvPr/>
        </p:nvSpPr>
        <p:spPr>
          <a:xfrm rot="0" flipH="0" flipV="0">
            <a:off x="83820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8629650" y="60864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应用架构咨询方法论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30 / 30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2026-10-11T23:50:46Z</dcterms:created>
  <dcterms:modified xsi:type="dcterms:W3CDTF">2026-10-11T23:50:46Z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{"AIGC":{"Label":"1","ContentProducer":"00119111010856365494821B355","ProduceID":"01a12b98b97670349faf2b06fc1f8c9d","ReservedCode1":"","ContentPropagator":"00119111010856365494821B355","PropagateID":"01a12b98b97670349faf2b06fc1f8c9d","ReservedCode2":""}}</vt:lpwstr>
  </property>
</Properties>
</file>