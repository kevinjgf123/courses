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0" Type="http://schemas.openxmlformats.org/officeDocument/2006/relationships/officeDocument" Target="ppt/presentation.xml"/><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s>
</file>

<file path=ppt/presentation.xml><?xml version="1.0" encoding="utf-8"?>
<p:presentation xmlns:p="http://schemas.openxmlformats.org/presentationml/2006/main" xmlns:a="http://schemas.openxmlformats.org/drawingml/2006/main" xmlns:r="http://schemas.openxmlformats.org/officeDocument/2006/relationships" firstSlideNum="1">
  <p:sldMasterIdLst>
    <p:sldMasterId id="2147483648" r:id="rId0"/>
  </p:sldMasterIdLst>
  <p:notesMasterIdLst>
    <p:notesMasterId r:id="rId31"/>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0" Type="http://schemas.openxmlformats.org/officeDocument/2006/relationships/slideMaster" Target="slideMasters/slideMaster1.xml"/><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tableStyles" Target="tableStyles.xml"/><Relationship Id="rId3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0"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各位好，前面八册我们分别讲过了数据架构、业务架构、应用架构、技术架构，以及本体、智能体、知识库、管道处理四个新的实践点。今天这一册补上最后一块拼图：数据治理。我要先说一个判断——过去两年 AI 的发展，把数据治理从一个后台支撑议题，推到了业务前台。原因是所有 AI 能力都建立在同一件事上：数据能不能被正确地取用、被合法地使用、被追溯地使用。这册我参考了 Palantir 官方公开的数据保护与数据治理理论，它的定位很明确——治理管的是数据在加工全生命周期中的行为，从接入、到访问、再到删除。我们会先把治理当成一个业务应用来设计，它有自己的 4A 架构，也有自己特殊的地方。最后，我会用一页把四者的关系讲清楚。</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整册的顺序是这样：先立观点，再讲方法。第一部分讲治理的边界与基本原则，包括数据保护与数据治理的区别、八项原则、四种访问控制的融合、标记机制，以及行列级安全策略。第二部分讲治理的运行机制，包括血缘与审计、降级与功能性加密、元数据要求、目录与健康、提案与审批。第三部分是这册最关键的部分，讲治理怎么穿透管道、知识库、智能体和本体这四个方向。第四部分回到 4A，把治理当成一个业务应用来重新映射一遍，最后给成熟度分级和评审清单。</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先讲三件事。第一，治理对象变了。过去治理的是文件、是表，现在是动作——谁能用、用来干什么、出了事谁担责。第二，治理的失败是静默的。系统不会因为越权而报错，它只会悄悄把数据给出去，所以审计日志是唯一的检出手段。第三，AI 带来了一层新对象。工具调用、长期记忆、遥测日志，这三样在传统治理框架里都没有对应的东西，而它们的敏感度往往不低于原始数据。这三条决定了后面所有的设计选择。</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是整个方法的执行顺序，八个阶段，每个阶段都有明确的产出物。先做资产盘点与场景界定，产出治理资产清单和场景清单；再做责任与制度设计，产出责任矩阵；然后是分类分级与标记体系设计，产出分类分级表和标记目录；接着是访问控制策略设计；第五步血缘与元数据；第六步质量与可信度；第七步变更与审批流程；最后是审计与演进治理。走完这八步，才具备扩治理范围的条件。中间有三条硬规则：先分标记再给权限，先只读标记再开放降级，先有审计日志再扩治理范围。</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第一部分我们先把边界划清楚。这一部分回答四个问题：治理和保护的边界在哪；底线原则有哪些；访问控制怎么组合；标记和安全策略怎么落到行列粒度。这一部分的内容偏底层，建议各位把第七页和第九页作为重点，这两页是整个治理体系的地基。</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官方对这两件事有明确区分。数据保护是确保个人数据的处理始终限制在达成合法结果所必要的范围内，并且与之相称——它管的是手段。数据治理是管理企业数据在加工全生命周期中的行为，从接入、存储、加工、访问、共享，直到删除——它管的是全程。这两个词经常被混用，但在项目里必须分开：保护是安全团队的职责，治理是业务、数据、安全三方的共同职责。完整生命周期有六段，缺一段治理就有缺口。</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八项原则构成了治理的底线：收集限制、数据质量、目的限定、使用限制、安全保障、公开性、个人参与、问责。核心主题只有一个——数据最小化。这八条不是用来贴在墙上的，它有非常具体的工程含义。比如收集限制，对应的是入湖就要打标，而不是等用的时候再判断；目的限定，对应的是用途变更必须重新授权；使用限制，对应的是策略要能约束用途而不只是约束人。这八条也是后面所有设计取舍的裁判。</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四种控制各管一段，不能互相替代。RBAC 只适合功能权限，也就是能不能点这个按钮，不适合数据可见性；MAC 是标记强制控制，数据自带密级，与用户无关；ABAC 是属性驱动，靠受限视图和精确策略做动态判定；PBAC 是用途控制，靠检查点实现。物化权限取最严格者：四种控制同时命中时不做加法，做取严。实践中最常见的错误，是把 RBAC 当成万能钥匙，结果一给角色就给了全部数据。</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标记是治理的最小可执行单位。有一条硬规则先记住：标记类别一旦创建就不能删除，也不能移到别的类别。这不是技术限制，是为了让历史审计记录永远可解释——如果类别能改名，三年前的那份记录就永远解释不清了。第二，可见性按类别分配，不能逐个标记分配。第三，权限是四个独立的维度：管理权限、打标记、去标记、成员。这里有个坑：有打标记和管理权限但不是成员的用户，能打标记却看不到数据。第四，标记可以限制到单一组织，容器会继承，多个标记之间是严格的与逻辑。</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安全策略有两个粒度。对象安全策略是行级，属性安全策略是列级，两者组合就得到单元格级的控制效果。这里有三条建模硬约束：主键属性不能进入属性安全策略，否则行就定位不到了；一个非主键属性最多属于一个属性安全策略，叠加会造成语义歧义；默认继承数据源的全部强制控制，不允许出现因为忘配所以裸奔的情况。另外要交代一个已知限制：派生属性的可见性目前无法测试，所以从受限视图迁移到精确策略时必须留观察期，精确策略的比较权重也有上限，一万。</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第二部分讲运行机制。这一部分要回答：怎么知道一份数据是从哪来的、谁动过它；怎么让它能安全地分出去；元数据要采到哪些才够；治理的成果怎么让人天天看见；评审怎么从靠自觉变成走流程。这一部分的每一项能力，最终都要能回答三个问题：谁、什么、为什么。</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血缘必须是主动元数据，不是被动爬虫。这两者差别很大：爬虫是在事后猜，主动元数据是在构建时记录。每一条记录要说明这段数据是由哪段代码、哪些父数据集、在哪个运行时创建的。这样才能回答四个问题：祖先是谁、影响面有多广、最后修改人是谁、当前构建状态是否正常。审计的底线是必须包含谁、什么、为什么三要素，缺一个都无法追责。最难的不是记录，而是防推断——要知道有多少人访问了某个对象，即使没人读走内容，这个推断本身也已经是泄露。</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数据总要能分出去，问题是怎么安全地分。第一种方式是降级，也就是去掉标记，四个条件缺一不可：拥有去标记特权、分支受保护、除作者外有第二人审批、降级结果可回溯。第二种方式是功能性加密，用 Cipher 的三层结构：通道、许可、值。值的意义在于支持同一行的不同字段处于不同密级，图像也支持可逆的像素扰乱。这里要强调一点：脱敏不等于打码，打码不可逆，脱敏必须可逆，否则你无法回答事后审计的问题。</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元数据有四类必备内容和三条硬要求。四类是密级、策略、血缘、审计，这四类缺一不可，缺任何一类都会导致某个方向上的治理失效。三条硬要求是：全面捕获，一处不落；实时更新，动作提交即落库，不做隔夜汇总；可审阅，合规官能自己查到，不需要工程师代查；可做动态趋势分析，支持密级随时间的漂移分析。最后这一条经常被忽略，但它才是治理成熟度真正提升的标志。</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治理做得再好，如果没人用就等于没做。目录解决的是可见性：集合的描述可以公开，但具体文件需要授权，已经编目的对象会有徽章标识，搜索要能遍历全部元数据。健康监控解决的是持续性：监控视图看范围，健康检查看单资源，告警要走平台内通知、邮件摘要、外部系统三条路。Linter 解决的是自动发现：它识别反模式、给优化建议、分配责任人、定期复核。这三个应用是治理成果被人看见、被人天天用的三个抓手。</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评审如果靠自觉，就一定会被绕过。这里要引入三个概念：提案、复核、驳回。所有的降级、用途变更、策略变更都要走这个流程，并且全程留痕。另外是两个模式：被动模式是记录理由后放行，适合常规使用；主动模式是挂起任务等合规官批准，适合高敏感数据。这里有个必须提的实践要点：主动模式一定要定 SLA，否则业务方会绕道，绕道比不合规更危险。</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第三部分是这一册最关键的部分。前八册里，管道、知识库、智能体、本体都是各自独立的实践点。数据治理这一册要做的，是把治理这根线穿过去：同一条标记、同一套策略，在四个方向上分别有各自的落法。这四页是本册区别于前面所有专册的地方。</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管道是治理最大的放大器，它既能让标记正确传递，也能在一次清洗里把标记洗掉。传播有两条机制：一条是容器继承，靠组织纪律就能守住；另一条是血缘传播，这是最关键的机制——构建系统会自动分析血缘，把标记强制施加到下游产物上，无论经过多少次变换，开发者都无法在代码里简单地把标记去掉。传播可以主动打断，但代价是三个条件：去标记特权、分支受保护、第二人审批。在管道上要落的三个动作是：在同步任务粒度打标而不是只在文件粒度；在分支沙箱里就验证标记传播；把降级事件建成一等公民元数据。最常见的翻车方式不是忘记打标记，而是去标记后忘了补回来。</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知识库的特殊之处是，它把一份数据变成了一万个片段，也让一次授权变成了一万次判定。切片是新的治理单元，每一段都必须继承原文标记，继承规则是一律取最高密级，不做降级推断。授权发生在检索层而不是入库层，这样权限变更能即时生效，撤权后不需要重建索引。但知识库有三条特有的失效：推断泄漏，模型从低密级片段推出高密级结论，检索层管不住；缓存泄漏，向量缓存跨会话复用，撤权后旧答案还在；引用缺失，回答没有回指原始切片，审计时无法定位来源。所以落地顺序是：建密级词典、切片时打标、过滤在检索、回答带引用、缓存随权失效。</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智能体没有引入新的治理对象，只是把同一个动作可能被执行成千上万次这件事放大了。四个新增治理面：记忆要跨会话保留历史结论，等于把数据复制进了一个没有血缘的存储，所以记忆必须和工具使用同一套安全架构；出口策略决定这个智能体能把数据发到哪里，没有出口策略的工具调用等于给了它一张无限额度的信用卡；遥测日志本身也受标记管辖；提交条件要做粒度化，判的不是任务能不能做，而是结果能不能落到目标数据集。和传统治理的三个差别是：时机不同，要在前置拦截；判定者不同，模型的判断逻辑本身要纳入审计；责任不同，责任必须显式落到流程审批节点上。落地顺序上，我的建议是先禁出口再开记忆，很多团队做反了。</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策略是本体的一部分，不是外挂。判断标准很简单：如果你的本体里能看到一个对象和它的三十个属性，却没人能回答这个属性能不能给外部合作方看，那就是策略外挂。外挂的根因在建模约束上——属性安全策略只能作用在非主键属性上，本体没把属性建模清楚，策略就无从下手。所以本体设计阶段就要同时回答两个问题：这个属性是什么、这个属性给谁看。第二个问题不问清楚，本体就还差一半。右边这几条是不可越界的规则：标记类别不可删不可改类、默认继承全部强制控制、以及刚才说的权限是四维不是一维。评审时用这一页的十个问题逐条过一遍。</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把四方关系收在一起看。标记体系只定义一次，是唯一事实源，然后往四个方向走：管道靠容器继承和血缘传播，风险是一次清洗把标记洗掉；知识库靠切片继承最高密级和检索层过滤，风险是缓存跨会话泄漏；智能体靠出口策略、记忆打标、日志受管，风险是动作被复制上万次；本体靠策略对象内建，风险是策略外挂导致属性没人管。右边是四条硬边界：最小必要、目的限定、只读优先、全程留痕。这四条是不可协商的。我想强调的是最后那句推论——治理的对象是动作不是文件，一旦这样定位，全部设计都要重写：权限从按文件夹授权变成按用途审批，审计从谁下载了这个文件变成谁以什么理由让系统做了这个动作。这也是为什么数据治理不能只交给安全团队。</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第四部分回到 4A。前面三部分讲的是治理自己的机制——边界、原则、标记、策略、血缘、审计、流程，这一部分换一个视角：把治理放回企业架构的坐标系里，看它作为一个业务应用在四个层面上的样子。它在业务架构上要定责任，在数据架构上要建元数据模型，在应用架构上要交付可运维的应用，在技术架构上要有跑在热路径上的引擎。看完这四页，你会看到治理和其他实践点最大的区别：它是唯一一个需要四方角色齐备、并且失败静默的实践点。下一页是这一部分的骨架图。</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是全册的骨架。业务架构上要回答谁裁定、谁审批、谁担责，特殊之处是治理是唯一必须四方齐备的实践点，少了担责方，策略就只是配置。数据架构上要建治理元数据模型，特殊之处是血缘必须主动采集，靠爬虫补的血缘永远滞后于现实。应用架构上策略即应用，特殊之处是审批是编排里的一个节点，不是邮件。技术架构上策略即代码，特殊之处是引擎跑在热路径上，每次判定都必须可解释、可回放、可回滚。最下面这一排是数据治理自己的四个特有之处，前面其他几册都没有这四条。</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业务架构层的核心命题是：治理是一次责任分配，不是一次技术选型。技术能把权限卡死，但卡不住这件事该不该做，那必须由人来裁定。五类角色：数据所有者定义密级与用途，数据管理员执行打标，合规官审批降级与放行，审批人做第二人复核，使用人在授权范围内消费。责任矩阵要落到 RACI 上，每一条策略都必须能指出它的批准人是谁——指不出来的策略，就是没审批的策略，等于没有策略。这一层还有三个必答问题：这个对象的密级由谁定、出了泄露事故向谁通报、降级申请的审批人是谁。第三个问题的答案是不能是申请人的直属上级，层级越近越容易放水。</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数据架构层要给治理建十四项元数据模型，分四组。密级组是标记类别、类别可见性、四维权限；策略组是对象安全策略、属性安全策略、检查点与用途策略；血缘组是数据集版本与来源代码、父数据集与构建运行时、影响面与祖先链；审计组是动作日志、提案与审批状态、降级与撤回事件。这十四项的建模顺序有依赖：先有标记类别才谈得上属性安全策略，先有血缘才谈得上传播与影响面，倒过来做一定返工。右边是最容易漏掉的三项：理由对象、降级事件、遥测日志。这三项漏掉，等于把审计对象漏在了体系外面。</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应用架构层要交付六个独立的应用：数据目录、健康监控、Linter、提案审批、策略控制台、Agent 出口控制台。交付顺序建议是 G4 到 G6 倒着来：先把审批流跑起来，因为有流程才有人用；再让它可见，也就是目录；再让它会报警，也就是健康监控；最后才是精细化。这里面治理应用和别的应用最大的不同是：普通应用编排是把事做完，治理编排是按规矩做事而且要留证。所以每个动作后面要挂审计记录动作，涉及敏感数据的动作前面要挂策略判定动作，涉及降级的动作中间要挂人工审批动作。落到实现上就是一条硬约束——任何绕过策略引擎直接读写数据的路径，都属于架构缺陷，不属于灵活配置。</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技术架构层讲三块。四种控制的融合每种管一段，物化权限取最严格者。功能性加密三层：Cipher Channel 是通道，Cipher License 是访问凭证，说明这次访问为什么被谁授予，Cipher Value 是值级加密，支持同行不同字段不同密级，图像也支持可逆的像素扰乱。策略即代码有四条要求：可版本化、可测试、可回放、可导出。导出这条常被忽略，控制台里配的策略必须能导出成代码进仓库，否则策略只存在于数据库里，人一走就没人懂。底下三条非功能底线：审计存储不可篡改、引擎不能成为单点且失败时默认拒绝、审计只记谁访问了哪类数据而不记具体内容。最后要交代一个已知限制：派生属性的可见性无法测试。</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这一页是可直接拿去用的工具。成熟度五级，从 L1 无意识到 L5 有内生，判断依据不是上了多少工具，而是能不能答、能不能拦、能不能退。中间是五类失效，治理出问题基本都落在这五种形态里：静默越权、标记洗白、策略外挂、推断泄漏、审计断链。右边是十二项评审问题，逐条自检。特别提醒三条容易被忽略的：拒绝事件是否入库，因为只记成功不记拒绝的日志等于没有日志；记忆是否跨会话保留；策略是否有可指认的批准人。最后那三个问题，如果有一问答不上来，就不要急着扩治理范围，先补短板。</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收个尾。治理不是把门锁上，是让每一步都可被解释。九册走完其实是一条线：先有治，才有存；有存才有语义；有语义才有智能；有智能才谈得上可信。数据治理这一册留下六条主张，六个要点都在页面上，我不再重复。这里给三个本周就能做的动作：先分标记再给权限；先只读标记再开放降级；先有审计日志再扩治理范围。这三句看起来保守，但顺序错了代价很大。谢谢各位。</a:t>
            </a:r>
          </a:p>
        </p:txBody>
      </p:sp>
    </p:spTree>
  </p:cSld>
  <p:clrMapOvr>
    <a:masterClrMapping/>
  </p:clrMapOvr>
</p:notes>
</file>

<file path=ppt/slideLayouts/_rels/slideLayout1.xml.rels><?xml version='1.0' encoding='UTF-8' standalone='yes'?>
<Relationships xmlns="http://schemas.openxmlformats.org/package/2006/relationships"><Relationship Id="rId0"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0" Type="http://schemas.openxmlformats.org/officeDocument/2006/relationships/slideLayout" Target="../slideLayouts/slideLayout1.xml"/><Relationship Id="rId1"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p="http://schemas.openxmlformats.org/presentationml/2006/main" xmlns:a="http://schemas.openxmlformats.org/drawingml/2006/main">
  <p:cSld>
    <p:spTree>
      <p:nvGrpSpPr>
        <p:cNvPr id="1" name="" descr="&lt;Slide style={{ width: 1280, height: 720, background: '#0F1423' }}&gt;&#10;  &lt;Box style={{ position: 'absolute', left: 0, top: 0, width: 1280, height: 720, background: 'linear-gradient(135deg, #0F1423 0%, #2A1810 100%)' }} /&gt;&#10;  &lt;Box style={{ position: 'absolute', right: 0, top: 0, width: 620, height: 720, background: 'linear-gradient(200deg, rgba(250,79,36,0.26) 0%, rgba(250,79,36,0) 70%)' }} /&gt;&#10;&#10;  &lt;Box style={{ position: 'absolute', left: 88, top: 92, width: 1104 }}&gt;&#10;    &lt;Box style={{ flexDirection: 'row', alignItems: 'center', gap: 14 }}&gt;&#10;      &lt;Box style={{ width: 14, height: 14, background: '#FA4F24' }} /&gt;&#10;      &lt;Text style={{ fontSize: 15, color: 'rgba(255,255,255,0.5)', letterSpacing: 3 }}&gt;EA 企业架构咨询方法论 · 第九册&lt;/Text&gt;&#10;    &lt;/Box&gt;&#10;    &lt;Text style={{ fontSize: 58, fontWeight: 'bold', color: '#FFFFFF', marginTop: 26, lineHeight: 1.15 }}&gt;&#10;      数据治理&lt;span style={{ color: '#FA4F24' }}&gt;咨询方法论&lt;/span&gt;&#10;    &lt;/Text&gt;&#10;    &lt;Text style={{ fontSize: 19, color: 'rgba(255,255,255,0.72)', marginTop: 22, lineHeight: 1.6, width: 830 }}&gt;&#10;      治理的对象已经不是数据本身了，而是策略、动作、记忆与日志——它要回答「谁能用、用来干什么、出了事谁担责」&#10;    &lt;/Text&gt;&#10;    &lt;Box style={{ width: 72, height: 5, background: '#FA4F24', marginTop: 30 }} /&gt;&#10;&#10;    &lt;Box style={{ flexDirection: 'row', gap: 10, marginTop: 34 }}&gt;&#10;      {['30 页', '四个部分', '含 Approach 八阶段', '含治理 × 管道 × 知识库 × Agent × Ontology 关系'].map((t, i) =&gt; (&#10;        &lt;Box key={t} style={{ height: 32, borderRadius: 16, border: '1px solid rgba(255,255,255,0.22)', padding: '0 15px', flexDirection: 'row', alignItems: 'center' }}&gt;&#10;          &lt;Text style={{ fontSize: 13, color: 'rgba(255,255,255,0.78)' }}&gt;{t}&lt;/Text&gt;&#10;        &lt;/Box&gt;&#10;      ))}&#10;    &lt;/Box&gt;&#10;  &lt;/Box&gt;&#10;&#10;  &lt;Box style={{ position: 'absolute', left: 88, top: 566, flexDirection: 'row', gap: 32 }}&gt;&#10;    {[&#10;      { b: 'DA', t: '数据架构' },&#10;      { b: 'BA', t: '业务架构' },&#10;      { b: 'AA', t: '应用架构' },&#10;      { b: 'TA', t: '技术架构' },&#10;      { b: 'ONT', t: 'Ontology' },&#10;      { b: 'AGT', t: 'Agent' },&#10;      { b: 'KB', t: '知识库' },&#10;      { b: 'PIPE', t: '管道处理' },&#10;      { b: 'GOV', t: '数据治理', c: '#FA4F24' },&#10;    ].map((x, i) =&gt; (&#10;      &lt;Box key={x.b} style={{ opacity: i === 8 ? 1 : 0.4 }}&gt;&#10;        &lt;Text style={{ fontSize: 15, fontWeight: 'bold', color: x.c || '#FFFFFF' }}&gt;{x.b}&lt;/Text&gt;&#10;        &lt;Text style={{ fontSize: 11.5, color: 'rgba(255,255,255,0.7)', marginTop: 3 }}&gt;{x.t}&lt;/Text&gt;&#10;      &lt;/Box&gt;&#10;    ))}&#10;  &lt;/Box&gt;&#10;&#10;  &lt;Box style={{ position: 'absolute', right: 88, bottom: 46, flexDirection: 'row', alignItems: 'center', gap: 12 }}&gt;&#10;    &lt;Text style={{ fontSize: 14, color: 'rgba(255,255,255,0.5)' }}&gt;硕磐机密 · 数据治理咨询方法论&lt;/Text&gt;&#10;    &lt;Text style={{ fontSize: 14, color: 'rgba(255,255,255,0.5)', marginLeft: 12 }}&gt;01 / 30&lt;/Text&gt;&#10;  &lt;/Box&gt;&#10;&lt;/Slide&gt;&#10;"/>
        <p:cNvGrpSpPr/>
        <p:nvPr/>
      </p:nvGrpSpPr>
      <p:grpSpPr>
        <a:xfrm>
          <a:off x="0" y="0"/>
          <a:ext cx="0" cy="0"/>
          <a:chOff x="0" y="0"/>
          <a:chExt cx="0" cy="0"/>
        </a:xfrm>
      </p:grpSpPr>
      <p:sp>
        <p:nvSpPr>
          <p:cNvPr id="2" name=""/>
          <p:cNvSpPr/>
          <p:nvPr/>
        </p:nvSpPr>
        <p:spPr>
          <a:xfrm rot="0" flipH="0" flipV="0">
            <a:off x="0" y="0"/>
            <a:ext cx="12192000" cy="6858000"/>
          </a:xfrm>
          <a:prstGeom prst="rect">
            <a:avLst/>
          </a:prstGeom>
          <a:solidFill>
            <a:srgbClr val="0F1423"/>
          </a:solidFill>
          <a:ln/>
        </p:spPr>
        <p:txBody>
          <a:bodyPr/>
          <a:p/>
        </p:txBody>
      </p:sp>
      <p:sp>
        <p:nvSpPr>
          <p:cNvPr id="3"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p:txBody>
      </p:sp>
      <p:sp>
        <p:nvSpPr>
          <p:cNvPr id="4" name=""/>
          <p:cNvSpPr/>
          <p:nvPr/>
        </p:nvSpPr>
        <p:spPr>
          <a:xfrm rot="0" flipH="0" flipV="0">
            <a:off x="6286500" y="0"/>
            <a:ext cx="5905500" cy="6858000"/>
          </a:xfrm>
          <a:prstGeom prst="rect">
            <a:avLst/>
          </a:prstGeom>
          <a:gradFill>
            <a:gsLst>
              <a:gs pos="0">
                <a:srgbClr val="FA4F24">
                  <a:alpha val="26000"/>
                </a:srgbClr>
              </a:gs>
              <a:gs pos="70000">
                <a:srgbClr val="FA4F24">
                  <a:alpha val="0"/>
                </a:srgbClr>
              </a:gs>
            </a:gsLst>
            <a:lin ang="6600000" scaled="1"/>
          </a:gradFill>
          <a:ln/>
        </p:spPr>
        <p:txBody>
          <a:bodyPr/>
          <a:p/>
        </p:txBody>
      </p:sp>
      <p:sp>
        <p:nvSpPr>
          <p:cNvPr id="5" name=""/>
          <p:cNvSpPr/>
          <p:nvPr/>
        </p:nvSpPr>
        <p:spPr>
          <a:xfrm rot="0" flipH="0" flipV="0">
            <a:off x="838200" y="895350"/>
            <a:ext cx="133350" cy="133350"/>
          </a:xfrm>
          <a:prstGeom prst="rect">
            <a:avLst/>
          </a:prstGeom>
          <a:solidFill>
            <a:srgbClr val="FA4F24"/>
          </a:solidFill>
          <a:ln/>
        </p:spPr>
        <p:txBody>
          <a:bodyPr/>
          <a:p/>
        </p:txBody>
      </p:sp>
      <p:sp>
        <p:nvSpPr>
          <p:cNvPr id="6" name="" descr="{&quot;isTemplate&quot;:true,&quot;type&quot;:&quot;text&quot;}"/>
          <p:cNvSpPr txBox="1"/>
          <p:nvPr/>
        </p:nvSpPr>
        <p:spPr>
          <a:xfrm rot="0" flipH="0" flipV="0">
            <a:off x="1104900" y="876300"/>
            <a:ext cx="257175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 xml:space="preserve">EA </a:t>
            </a:r>
            <a:r>
              <a:rPr lang="zh-CN" sz="1125" spc="225">
                <a:solidFill>
                  <a:srgbClr val="FFFFFF">
                    <a:alpha val="50000"/>
                  </a:srgbClr>
                </a:solidFill>
                <a:latin typeface="Microsoft YaHei"/>
                <a:ea typeface="Microsoft YaHei"/>
              </a:rPr>
              <a:t>企业架构咨询方法论</a:t>
            </a:r>
            <a:r>
              <a:rPr lang="en-US" sz="1125" spc="225">
                <a:solidFill>
                  <a:srgbClr val="FFFFFF">
                    <a:alpha val="50000"/>
                  </a:srgbClr>
                </a:solidFill>
                <a:latin typeface="Microsoft YaHei"/>
                <a:ea typeface="Microsoft YaHei"/>
              </a:rPr>
              <a:t xml:space="preserve"> · </a:t>
            </a:r>
            <a:r>
              <a:rPr lang="zh-CN" sz="1125" spc="225">
                <a:solidFill>
                  <a:srgbClr val="FFFFFF">
                    <a:alpha val="50000"/>
                  </a:srgbClr>
                </a:solidFill>
                <a:latin typeface="Microsoft YaHei"/>
                <a:ea typeface="Microsoft YaHei"/>
              </a:rPr>
              <a:t>第九册</a:t>
            </a:r>
            <a:endParaRPr/>
          </a:p>
        </p:txBody>
      </p:sp>
      <p:sp>
        <p:nvSpPr>
          <p:cNvPr id="7" name="" descr="{&quot;isTemplate&quot;:true,&quot;type&quot;:&quot;text&quot;}"/>
          <p:cNvSpPr txBox="1"/>
          <p:nvPr/>
        </p:nvSpPr>
        <p:spPr>
          <a:xfrm rot="0" flipH="0" flipV="0">
            <a:off x="838200" y="1295400"/>
            <a:ext cx="10515600" cy="771525"/>
          </a:xfrm>
          <a:prstGeom prst="rect"/>
        </p:spPr>
        <p:txBody>
          <a:bodyPr wrap="none" lIns="0" tIns="0" rIns="0" bIns="0"/>
          <a:p>
            <a:pPr>
              <a:lnSpc>
                <a:spcPct val="114999"/>
              </a:lnSpc>
            </a:pPr>
            <a:r>
              <a:rPr lang="zh-CN" sz="4350" b="1">
                <a:solidFill>
                  <a:srgbClr val="FFFFFF"/>
                </a:solidFill>
                <a:latin typeface="Microsoft YaHei"/>
                <a:ea typeface="Microsoft YaHei"/>
              </a:rPr>
              <a:t>数据治理</a:t>
            </a:r>
            <a:r>
              <a:rPr lang="zh-CN" sz="4350" b="1">
                <a:solidFill>
                  <a:srgbClr val="FA4F24"/>
                </a:solidFill>
                <a:latin typeface="Microsoft YaHei"/>
                <a:ea typeface="Microsoft YaHei"/>
              </a:rPr>
              <a:t>咨询方法论</a:t>
            </a:r>
            <a:endParaRPr/>
          </a:p>
        </p:txBody>
      </p:sp>
      <p:sp>
        <p:nvSpPr>
          <p:cNvPr id="8" name="" descr="{&quot;isTemplate&quot;:true,&quot;type&quot;:&quot;text&quot;}"/>
          <p:cNvSpPr txBox="1"/>
          <p:nvPr/>
        </p:nvSpPr>
        <p:spPr>
          <a:xfrm rot="0" flipH="0" flipV="0">
            <a:off x="838200" y="2276475"/>
            <a:ext cx="7905750" cy="695325"/>
          </a:xfrm>
          <a:prstGeom prst="rect"/>
        </p:spPr>
        <p:txBody>
          <a:bodyPr wrap="square" lIns="0" tIns="0" rIns="0" bIns="0">
            <a:normAutofit/>
          </a:bodyPr>
          <a:p>
            <a:pPr>
              <a:lnSpc>
                <a:spcPct val="160000"/>
              </a:lnSpc>
            </a:pPr>
            <a:r>
              <a:rPr lang="zh-CN" sz="1425">
                <a:solidFill>
                  <a:srgbClr val="FFFFFF">
                    <a:alpha val="72000"/>
                  </a:srgbClr>
                </a:solidFill>
                <a:latin typeface="Microsoft YaHei"/>
                <a:ea typeface="Microsoft YaHei"/>
              </a:rPr>
              <a:t>治理的对象已经不是数据本身了，而是策略、动作、记忆与日志——它要回答「谁能用、用来干什么、出了事谁担责」</a:t>
            </a:r>
            <a:endParaRPr/>
          </a:p>
        </p:txBody>
      </p:sp>
      <p:sp>
        <p:nvSpPr>
          <p:cNvPr id="9" name=""/>
          <p:cNvSpPr/>
          <p:nvPr/>
        </p:nvSpPr>
        <p:spPr>
          <a:xfrm rot="0" flipH="0" flipV="0">
            <a:off x="838200" y="3257550"/>
            <a:ext cx="685800" cy="47625"/>
          </a:xfrm>
          <a:prstGeom prst="rect">
            <a:avLst/>
          </a:prstGeom>
          <a:solidFill>
            <a:srgbClr val="FA4F24"/>
          </a:solidFill>
          <a:ln/>
        </p:spPr>
        <p:txBody>
          <a:bodyPr/>
          <a:p/>
        </p:txBody>
      </p:sp>
      <p:sp>
        <p:nvSpPr>
          <p:cNvPr id="10" name=""/>
          <p:cNvSpPr/>
          <p:nvPr/>
        </p:nvSpPr>
        <p:spPr>
          <a:xfrm rot="0" flipH="0" flipV="0">
            <a:off x="838200" y="3629025"/>
            <a:ext cx="600075" cy="304800"/>
          </a:xfrm>
          <a:prstGeom prst="roundRect">
            <a:avLst>
              <a:gd name="adj" fmla="val 50000"/>
            </a:avLst>
          </a:prstGeom>
          <a:ln w="12700">
            <a:solidFill>
              <a:srgbClr val="FFFFFF">
                <a:alpha val="22000"/>
              </a:srgbClr>
            </a:solidFill>
            <a:prstDash val="solid"/>
          </a:ln>
        </p:spPr>
        <p:txBody>
          <a:bodyPr/>
          <a:p/>
        </p:txBody>
      </p:sp>
      <p:sp>
        <p:nvSpPr>
          <p:cNvPr id="11" name="" descr="{&quot;isTemplate&quot;:true,&quot;type&quot;:&quot;text&quot;}"/>
          <p:cNvSpPr txBox="1"/>
          <p:nvPr/>
        </p:nvSpPr>
        <p:spPr>
          <a:xfrm rot="0" flipH="0" flipV="0">
            <a:off x="981075" y="3705225"/>
            <a:ext cx="314325" cy="152400"/>
          </a:xfrm>
          <a:prstGeom prst="rect"/>
        </p:spPr>
        <p:txBody>
          <a:bodyPr wrap="none" lIns="0" tIns="0" rIns="0" bIns="0"/>
          <a:p>
            <a:pPr>
              <a:lnSpc>
                <a:spcPct val="100000"/>
              </a:lnSpc>
            </a:pPr>
            <a:r>
              <a:rPr lang="en-US" sz="975">
                <a:solidFill>
                  <a:srgbClr val="FFFFFF">
                    <a:alpha val="78000"/>
                  </a:srgbClr>
                </a:solidFill>
                <a:latin typeface="Microsoft YaHei"/>
                <a:ea typeface="Microsoft YaHei"/>
              </a:rPr>
              <a:t xml:space="preserve">30 </a:t>
            </a:r>
            <a:r>
              <a:rPr lang="zh-CN" sz="975">
                <a:solidFill>
                  <a:srgbClr val="FFFFFF">
                    <a:alpha val="78000"/>
                  </a:srgbClr>
                </a:solidFill>
                <a:latin typeface="Microsoft YaHei"/>
                <a:ea typeface="Microsoft YaHei"/>
              </a:rPr>
              <a:t>页</a:t>
            </a:r>
            <a:endParaRPr/>
          </a:p>
        </p:txBody>
      </p:sp>
      <p:sp>
        <p:nvSpPr>
          <p:cNvPr id="12" name=""/>
          <p:cNvSpPr/>
          <p:nvPr/>
        </p:nvSpPr>
        <p:spPr>
          <a:xfrm rot="0" flipH="0" flipV="0">
            <a:off x="1533525" y="3629025"/>
            <a:ext cx="781050" cy="304800"/>
          </a:xfrm>
          <a:prstGeom prst="roundRect">
            <a:avLst>
              <a:gd name="adj" fmla="val 50000"/>
            </a:avLst>
          </a:prstGeom>
          <a:ln w="12700">
            <a:solidFill>
              <a:srgbClr val="FFFFFF">
                <a:alpha val="22000"/>
              </a:srgbClr>
            </a:solidFill>
            <a:prstDash val="solid"/>
          </a:ln>
        </p:spPr>
        <p:txBody>
          <a:bodyPr/>
          <a:p/>
        </p:txBody>
      </p:sp>
      <p:sp>
        <p:nvSpPr>
          <p:cNvPr id="13" name="" descr="{&quot;isTemplate&quot;:true,&quot;type&quot;:&quot;text&quot;}"/>
          <p:cNvSpPr txBox="1"/>
          <p:nvPr/>
        </p:nvSpPr>
        <p:spPr>
          <a:xfrm rot="0" flipH="0" flipV="0">
            <a:off x="1676400" y="3705225"/>
            <a:ext cx="495300" cy="152400"/>
          </a:xfrm>
          <a:prstGeom prst="rect"/>
        </p:spPr>
        <p:txBody>
          <a:bodyPr wrap="none" lIns="0" tIns="0" rIns="0" bIns="0"/>
          <a:p>
            <a:pPr>
              <a:lnSpc>
                <a:spcPct val="100000"/>
              </a:lnSpc>
            </a:pPr>
            <a:r>
              <a:rPr lang="zh-CN" sz="975">
                <a:solidFill>
                  <a:srgbClr val="FFFFFF">
                    <a:alpha val="78000"/>
                  </a:srgbClr>
                </a:solidFill>
                <a:latin typeface="Microsoft YaHei"/>
                <a:ea typeface="Microsoft YaHei"/>
              </a:rPr>
              <a:t>四个部分</a:t>
            </a:r>
            <a:endParaRPr/>
          </a:p>
        </p:txBody>
      </p:sp>
      <p:sp>
        <p:nvSpPr>
          <p:cNvPr id="14" name=""/>
          <p:cNvSpPr/>
          <p:nvPr/>
        </p:nvSpPr>
        <p:spPr>
          <a:xfrm rot="0" flipH="0" flipV="0">
            <a:off x="2409825" y="3629025"/>
            <a:ext cx="1438275" cy="304800"/>
          </a:xfrm>
          <a:prstGeom prst="roundRect">
            <a:avLst>
              <a:gd name="adj" fmla="val 50000"/>
            </a:avLst>
          </a:prstGeom>
          <a:ln w="12700">
            <a:solidFill>
              <a:srgbClr val="FFFFFF">
                <a:alpha val="22000"/>
              </a:srgbClr>
            </a:solidFill>
            <a:prstDash val="solid"/>
          </a:ln>
        </p:spPr>
        <p:txBody>
          <a:bodyPr/>
          <a:p/>
        </p:txBody>
      </p:sp>
      <p:sp>
        <p:nvSpPr>
          <p:cNvPr id="15" name="" descr="{&quot;isTemplate&quot;:true,&quot;type&quot;:&quot;text&quot;}"/>
          <p:cNvSpPr txBox="1"/>
          <p:nvPr/>
        </p:nvSpPr>
        <p:spPr>
          <a:xfrm rot="0" flipH="0" flipV="0">
            <a:off x="2552700" y="3705225"/>
            <a:ext cx="1152525" cy="152400"/>
          </a:xfrm>
          <a:prstGeom prst="rect"/>
        </p:spPr>
        <p:txBody>
          <a:bodyPr wrap="none" lIns="0" tIns="0" rIns="0" bIns="0"/>
          <a:p>
            <a:pPr>
              <a:lnSpc>
                <a:spcPct val="100000"/>
              </a:lnSpc>
            </a:pPr>
            <a:r>
              <a:rPr lang="zh-CN" sz="975">
                <a:solidFill>
                  <a:srgbClr val="FFFFFF">
                    <a:alpha val="78000"/>
                  </a:srgbClr>
                </a:solidFill>
                <a:latin typeface="Microsoft YaHei"/>
                <a:ea typeface="Microsoft YaHei"/>
              </a:rPr>
              <a:t>含</a:t>
            </a:r>
            <a:r>
              <a:rPr lang="en-US" sz="975">
                <a:solidFill>
                  <a:srgbClr val="FFFFFF">
                    <a:alpha val="78000"/>
                  </a:srgbClr>
                </a:solidFill>
                <a:latin typeface="Microsoft YaHei"/>
                <a:ea typeface="Microsoft YaHei"/>
              </a:rPr>
              <a:t xml:space="preserve"> Approach </a:t>
            </a:r>
            <a:r>
              <a:rPr lang="zh-CN" sz="975">
                <a:solidFill>
                  <a:srgbClr val="FFFFFF">
                    <a:alpha val="78000"/>
                  </a:srgbClr>
                </a:solidFill>
                <a:latin typeface="Microsoft YaHei"/>
                <a:ea typeface="Microsoft YaHei"/>
              </a:rPr>
              <a:t>八阶段</a:t>
            </a:r>
            <a:endParaRPr/>
          </a:p>
        </p:txBody>
      </p:sp>
      <p:sp>
        <p:nvSpPr>
          <p:cNvPr id="16" name=""/>
          <p:cNvSpPr/>
          <p:nvPr/>
        </p:nvSpPr>
        <p:spPr>
          <a:xfrm rot="0" flipH="0" flipV="0">
            <a:off x="3943350" y="3629025"/>
            <a:ext cx="3143250" cy="304800"/>
          </a:xfrm>
          <a:prstGeom prst="roundRect">
            <a:avLst>
              <a:gd name="adj" fmla="val 50000"/>
            </a:avLst>
          </a:prstGeom>
          <a:ln w="12700">
            <a:solidFill>
              <a:srgbClr val="FFFFFF">
                <a:alpha val="22000"/>
              </a:srgbClr>
            </a:solidFill>
            <a:prstDash val="solid"/>
          </a:ln>
        </p:spPr>
        <p:txBody>
          <a:bodyPr/>
          <a:p/>
        </p:txBody>
      </p:sp>
      <p:sp>
        <p:nvSpPr>
          <p:cNvPr id="17" name="" descr="{&quot;isTemplate&quot;:true,&quot;type&quot;:&quot;text&quot;}"/>
          <p:cNvSpPr txBox="1"/>
          <p:nvPr/>
        </p:nvSpPr>
        <p:spPr>
          <a:xfrm rot="0" flipH="0" flipV="0">
            <a:off x="4086225" y="3705225"/>
            <a:ext cx="2857500" cy="152400"/>
          </a:xfrm>
          <a:prstGeom prst="rect"/>
        </p:spPr>
        <p:txBody>
          <a:bodyPr wrap="none" lIns="0" tIns="0" rIns="0" bIns="0"/>
          <a:p>
            <a:pPr>
              <a:lnSpc>
                <a:spcPct val="100000"/>
              </a:lnSpc>
            </a:pPr>
            <a:r>
              <a:rPr lang="zh-CN" sz="975">
                <a:solidFill>
                  <a:srgbClr val="FFFFFF">
                    <a:alpha val="78000"/>
                  </a:srgbClr>
                </a:solidFill>
                <a:latin typeface="Microsoft YaHei"/>
                <a:ea typeface="Microsoft YaHei"/>
              </a:rPr>
              <a:t>含治理</a:t>
            </a:r>
            <a:r>
              <a:rPr lang="en-US" sz="975">
                <a:solidFill>
                  <a:srgbClr val="FFFFFF">
                    <a:alpha val="78000"/>
                  </a:srgbClr>
                </a:solidFill>
                <a:latin typeface="Microsoft YaHei"/>
                <a:ea typeface="Microsoft YaHei"/>
              </a:rPr>
              <a:t xml:space="preserve"> × </a:t>
            </a:r>
            <a:r>
              <a:rPr lang="zh-CN" sz="975">
                <a:solidFill>
                  <a:srgbClr val="FFFFFF">
                    <a:alpha val="78000"/>
                  </a:srgbClr>
                </a:solidFill>
                <a:latin typeface="Microsoft YaHei"/>
                <a:ea typeface="Microsoft YaHei"/>
              </a:rPr>
              <a:t>管道</a:t>
            </a:r>
            <a:r>
              <a:rPr lang="en-US" sz="975">
                <a:solidFill>
                  <a:srgbClr val="FFFFFF">
                    <a:alpha val="78000"/>
                  </a:srgbClr>
                </a:solidFill>
                <a:latin typeface="Microsoft YaHei"/>
                <a:ea typeface="Microsoft YaHei"/>
              </a:rPr>
              <a:t xml:space="preserve"> × </a:t>
            </a:r>
            <a:r>
              <a:rPr lang="zh-CN" sz="975">
                <a:solidFill>
                  <a:srgbClr val="FFFFFF">
                    <a:alpha val="78000"/>
                  </a:srgbClr>
                </a:solidFill>
                <a:latin typeface="Microsoft YaHei"/>
                <a:ea typeface="Microsoft YaHei"/>
              </a:rPr>
              <a:t>知识库</a:t>
            </a:r>
            <a:r>
              <a:rPr lang="en-US" sz="975">
                <a:solidFill>
                  <a:srgbClr val="FFFFFF">
                    <a:alpha val="78000"/>
                  </a:srgbClr>
                </a:solidFill>
                <a:latin typeface="Microsoft YaHei"/>
                <a:ea typeface="Microsoft YaHei"/>
              </a:rPr>
              <a:t xml:space="preserve"> × Agent × Ontology </a:t>
            </a:r>
            <a:r>
              <a:rPr lang="zh-CN" sz="975">
                <a:solidFill>
                  <a:srgbClr val="FFFFFF">
                    <a:alpha val="78000"/>
                  </a:srgbClr>
                </a:solidFill>
                <a:latin typeface="Microsoft YaHei"/>
                <a:ea typeface="Microsoft YaHei"/>
              </a:rPr>
              <a:t>关系</a:t>
            </a:r>
            <a:endParaRPr/>
          </a:p>
        </p:txBody>
      </p:sp>
      <p:sp>
        <p:nvSpPr>
          <p:cNvPr id="18" name="" descr="{&quot;isTemplate&quot;:true,&quot;type&quot;:&quot;text&quot;}"/>
          <p:cNvSpPr txBox="1"/>
          <p:nvPr/>
        </p:nvSpPr>
        <p:spPr>
          <a:xfrm rot="0" flipH="0" flipV="0">
            <a:off x="6619875" y="5391150"/>
            <a:ext cx="438150" cy="171450"/>
          </a:xfrm>
          <a:prstGeom prst="rect"/>
        </p:spPr>
        <p:txBody>
          <a:bodyPr wrap="none" lIns="0" tIns="0" rIns="0" bIns="0"/>
          <a:p>
            <a:pPr>
              <a:lnSpc>
                <a:spcPct val="100000"/>
              </a:lnSpc>
            </a:pPr>
            <a:r>
              <a:rPr lang="en-US" sz="1125" b="1">
                <a:solidFill>
                  <a:srgbClr val="FA4F24"/>
                </a:solidFill>
                <a:latin typeface="Microsoft YaHei"/>
                <a:ea typeface="Microsoft YaHei"/>
              </a:rPr>
              <a:t>GOV</a:t>
            </a:r>
            <a:endParaRPr/>
          </a:p>
        </p:txBody>
      </p:sp>
      <p:sp>
        <p:nvSpPr>
          <p:cNvPr id="19" name="" descr="{&quot;isTemplate&quot;:true,&quot;type&quot;:&quot;text&quot;}"/>
          <p:cNvSpPr txBox="1"/>
          <p:nvPr/>
        </p:nvSpPr>
        <p:spPr>
          <a:xfrm rot="0" flipH="0" flipV="0">
            <a:off x="6619875" y="5591175"/>
            <a:ext cx="438150" cy="133350"/>
          </a:xfrm>
          <a:prstGeom prst="rect"/>
        </p:spPr>
        <p:txBody>
          <a:bodyPr wrap="none" lIns="0" tIns="0" rIns="0" bIns="0"/>
          <a:p>
            <a:pPr>
              <a:lnSpc>
                <a:spcPct val="100000"/>
              </a:lnSpc>
            </a:pPr>
            <a:r>
              <a:rPr lang="zh-CN" sz="863">
                <a:solidFill>
                  <a:srgbClr val="FFFFFF">
                    <a:alpha val="70000"/>
                  </a:srgbClr>
                </a:solidFill>
                <a:latin typeface="Microsoft YaHei"/>
                <a:ea typeface="Microsoft YaHei"/>
              </a:rPr>
              <a:t>数据治理</a:t>
            </a:r>
            <a:endParaRPr/>
          </a:p>
        </p:txBody>
      </p:sp>
      <p:sp>
        <p:nvSpPr>
          <p:cNvPr id="20" name="" descr="{&quot;isTemplate&quot;:true,&quot;type&quot;:&quot;text&quot;}"/>
          <p:cNvSpPr txBox="1"/>
          <p:nvPr/>
        </p:nvSpPr>
        <p:spPr>
          <a:xfrm rot="0" flipH="0" flipV="0">
            <a:off x="838200" y="5391150"/>
            <a:ext cx="438150" cy="171450"/>
          </a:xfrm>
          <a:prstGeom prst="rect"/>
        </p:spPr>
        <p:txBody>
          <a:bodyPr wrap="none" lIns="0" tIns="0" rIns="0" bIns="0"/>
          <a:p>
            <a:pPr>
              <a:lnSpc>
                <a:spcPct val="100000"/>
              </a:lnSpc>
            </a:pPr>
            <a:r>
              <a:rPr lang="en-US" sz="1125" b="1">
                <a:solidFill>
                  <a:srgbClr val="FFFFFF">
                    <a:alpha val="40000"/>
                  </a:srgbClr>
                </a:solidFill>
                <a:latin typeface="Microsoft YaHei"/>
                <a:ea typeface="Microsoft YaHei"/>
              </a:rPr>
              <a:t>DA</a:t>
            </a:r>
            <a:endParaRPr/>
          </a:p>
        </p:txBody>
      </p:sp>
      <p:sp>
        <p:nvSpPr>
          <p:cNvPr id="21" name="" descr="{&quot;isTemplate&quot;:true,&quot;type&quot;:&quot;text&quot;}"/>
          <p:cNvSpPr txBox="1"/>
          <p:nvPr/>
        </p:nvSpPr>
        <p:spPr>
          <a:xfrm rot="0" flipH="0" flipV="0">
            <a:off x="838200" y="5591175"/>
            <a:ext cx="438150" cy="133350"/>
          </a:xfrm>
          <a:prstGeom prst="rect"/>
        </p:spPr>
        <p:txBody>
          <a:bodyPr wrap="none" lIns="0" tIns="0" rIns="0" bIns="0"/>
          <a:p>
            <a:pPr>
              <a:lnSpc>
                <a:spcPct val="100000"/>
              </a:lnSpc>
            </a:pPr>
            <a:r>
              <a:rPr lang="zh-CN" sz="863">
                <a:solidFill>
                  <a:srgbClr val="FFFFFF">
                    <a:alpha val="28000"/>
                  </a:srgbClr>
                </a:solidFill>
                <a:latin typeface="Microsoft YaHei"/>
                <a:ea typeface="Microsoft YaHei"/>
              </a:rPr>
              <a:t>数据架构</a:t>
            </a:r>
            <a:endParaRPr/>
          </a:p>
        </p:txBody>
      </p:sp>
      <p:sp>
        <p:nvSpPr>
          <p:cNvPr id="22" name="" descr="{&quot;isTemplate&quot;:true,&quot;type&quot;:&quot;text&quot;}"/>
          <p:cNvSpPr txBox="1"/>
          <p:nvPr/>
        </p:nvSpPr>
        <p:spPr>
          <a:xfrm rot="0" flipH="0" flipV="0">
            <a:off x="1581150" y="5391150"/>
            <a:ext cx="438150" cy="171450"/>
          </a:xfrm>
          <a:prstGeom prst="rect"/>
        </p:spPr>
        <p:txBody>
          <a:bodyPr wrap="none" lIns="0" tIns="0" rIns="0" bIns="0"/>
          <a:p>
            <a:pPr>
              <a:lnSpc>
                <a:spcPct val="100000"/>
              </a:lnSpc>
            </a:pPr>
            <a:r>
              <a:rPr lang="en-US" sz="1125" b="1">
                <a:solidFill>
                  <a:srgbClr val="FFFFFF">
                    <a:alpha val="40000"/>
                  </a:srgbClr>
                </a:solidFill>
                <a:latin typeface="Microsoft YaHei"/>
                <a:ea typeface="Microsoft YaHei"/>
              </a:rPr>
              <a:t>BA</a:t>
            </a:r>
            <a:endParaRPr/>
          </a:p>
        </p:txBody>
      </p:sp>
      <p:sp>
        <p:nvSpPr>
          <p:cNvPr id="23" name="" descr="{&quot;isTemplate&quot;:true,&quot;type&quot;:&quot;text&quot;}"/>
          <p:cNvSpPr txBox="1"/>
          <p:nvPr/>
        </p:nvSpPr>
        <p:spPr>
          <a:xfrm rot="0" flipH="0" flipV="0">
            <a:off x="1581150" y="5591175"/>
            <a:ext cx="438150" cy="133350"/>
          </a:xfrm>
          <a:prstGeom prst="rect"/>
        </p:spPr>
        <p:txBody>
          <a:bodyPr wrap="none" lIns="0" tIns="0" rIns="0" bIns="0"/>
          <a:p>
            <a:pPr>
              <a:lnSpc>
                <a:spcPct val="100000"/>
              </a:lnSpc>
            </a:pPr>
            <a:r>
              <a:rPr lang="zh-CN" sz="863">
                <a:solidFill>
                  <a:srgbClr val="FFFFFF">
                    <a:alpha val="28000"/>
                  </a:srgbClr>
                </a:solidFill>
                <a:latin typeface="Microsoft YaHei"/>
                <a:ea typeface="Microsoft YaHei"/>
              </a:rPr>
              <a:t>业务架构</a:t>
            </a:r>
            <a:endParaRPr/>
          </a:p>
        </p:txBody>
      </p:sp>
      <p:sp>
        <p:nvSpPr>
          <p:cNvPr id="24" name="" descr="{&quot;isTemplate&quot;:true,&quot;type&quot;:&quot;text&quot;}"/>
          <p:cNvSpPr txBox="1"/>
          <p:nvPr/>
        </p:nvSpPr>
        <p:spPr>
          <a:xfrm rot="0" flipH="0" flipV="0">
            <a:off x="2324100" y="5391150"/>
            <a:ext cx="438150" cy="171450"/>
          </a:xfrm>
          <a:prstGeom prst="rect"/>
        </p:spPr>
        <p:txBody>
          <a:bodyPr wrap="none" lIns="0" tIns="0" rIns="0" bIns="0"/>
          <a:p>
            <a:pPr>
              <a:lnSpc>
                <a:spcPct val="100000"/>
              </a:lnSpc>
            </a:pPr>
            <a:r>
              <a:rPr lang="en-US" sz="1125" b="1">
                <a:solidFill>
                  <a:srgbClr val="FFFFFF">
                    <a:alpha val="40000"/>
                  </a:srgbClr>
                </a:solidFill>
                <a:latin typeface="Microsoft YaHei"/>
                <a:ea typeface="Microsoft YaHei"/>
              </a:rPr>
              <a:t>AA</a:t>
            </a:r>
            <a:endParaRPr/>
          </a:p>
        </p:txBody>
      </p:sp>
      <p:sp>
        <p:nvSpPr>
          <p:cNvPr id="25" name="" descr="{&quot;isTemplate&quot;:true,&quot;type&quot;:&quot;text&quot;}"/>
          <p:cNvSpPr txBox="1"/>
          <p:nvPr/>
        </p:nvSpPr>
        <p:spPr>
          <a:xfrm rot="0" flipH="0" flipV="0">
            <a:off x="2324100" y="5591175"/>
            <a:ext cx="438150" cy="133350"/>
          </a:xfrm>
          <a:prstGeom prst="rect"/>
        </p:spPr>
        <p:txBody>
          <a:bodyPr wrap="none" lIns="0" tIns="0" rIns="0" bIns="0"/>
          <a:p>
            <a:pPr>
              <a:lnSpc>
                <a:spcPct val="100000"/>
              </a:lnSpc>
            </a:pPr>
            <a:r>
              <a:rPr lang="zh-CN" sz="863">
                <a:solidFill>
                  <a:srgbClr val="FFFFFF">
                    <a:alpha val="28000"/>
                  </a:srgbClr>
                </a:solidFill>
                <a:latin typeface="Microsoft YaHei"/>
                <a:ea typeface="Microsoft YaHei"/>
              </a:rPr>
              <a:t>应用架构</a:t>
            </a:r>
            <a:endParaRPr/>
          </a:p>
        </p:txBody>
      </p:sp>
      <p:sp>
        <p:nvSpPr>
          <p:cNvPr id="26" name="" descr="{&quot;isTemplate&quot;:true,&quot;type&quot;:&quot;text&quot;}"/>
          <p:cNvSpPr txBox="1"/>
          <p:nvPr/>
        </p:nvSpPr>
        <p:spPr>
          <a:xfrm rot="0" flipH="0" flipV="0">
            <a:off x="3067050" y="5391150"/>
            <a:ext cx="438150" cy="171450"/>
          </a:xfrm>
          <a:prstGeom prst="rect"/>
        </p:spPr>
        <p:txBody>
          <a:bodyPr wrap="none" lIns="0" tIns="0" rIns="0" bIns="0"/>
          <a:p>
            <a:pPr>
              <a:lnSpc>
                <a:spcPct val="100000"/>
              </a:lnSpc>
            </a:pPr>
            <a:r>
              <a:rPr lang="en-US" sz="1125" b="1">
                <a:solidFill>
                  <a:srgbClr val="FFFFFF">
                    <a:alpha val="40000"/>
                  </a:srgbClr>
                </a:solidFill>
                <a:latin typeface="Microsoft YaHei"/>
                <a:ea typeface="Microsoft YaHei"/>
              </a:rPr>
              <a:t>TA</a:t>
            </a:r>
            <a:endParaRPr/>
          </a:p>
        </p:txBody>
      </p:sp>
      <p:sp>
        <p:nvSpPr>
          <p:cNvPr id="27" name="" descr="{&quot;isTemplate&quot;:true,&quot;type&quot;:&quot;text&quot;}"/>
          <p:cNvSpPr txBox="1"/>
          <p:nvPr/>
        </p:nvSpPr>
        <p:spPr>
          <a:xfrm rot="0" flipH="0" flipV="0">
            <a:off x="3067050" y="5591175"/>
            <a:ext cx="438150" cy="133350"/>
          </a:xfrm>
          <a:prstGeom prst="rect"/>
        </p:spPr>
        <p:txBody>
          <a:bodyPr wrap="none" lIns="0" tIns="0" rIns="0" bIns="0"/>
          <a:p>
            <a:pPr>
              <a:lnSpc>
                <a:spcPct val="100000"/>
              </a:lnSpc>
            </a:pPr>
            <a:r>
              <a:rPr lang="zh-CN" sz="863">
                <a:solidFill>
                  <a:srgbClr val="FFFFFF">
                    <a:alpha val="28000"/>
                  </a:srgbClr>
                </a:solidFill>
                <a:latin typeface="Microsoft YaHei"/>
                <a:ea typeface="Microsoft YaHei"/>
              </a:rPr>
              <a:t>技术架构</a:t>
            </a:r>
            <a:endParaRPr/>
          </a:p>
        </p:txBody>
      </p:sp>
      <p:sp>
        <p:nvSpPr>
          <p:cNvPr id="28" name="" descr="{&quot;isTemplate&quot;:true,&quot;type&quot;:&quot;text&quot;}"/>
          <p:cNvSpPr txBox="1"/>
          <p:nvPr/>
        </p:nvSpPr>
        <p:spPr>
          <a:xfrm rot="0" flipH="0" flipV="0">
            <a:off x="3810000" y="5391150"/>
            <a:ext cx="495300" cy="171450"/>
          </a:xfrm>
          <a:prstGeom prst="rect"/>
        </p:spPr>
        <p:txBody>
          <a:bodyPr wrap="none" lIns="0" tIns="0" rIns="0" bIns="0"/>
          <a:p>
            <a:pPr>
              <a:lnSpc>
                <a:spcPct val="100000"/>
              </a:lnSpc>
            </a:pPr>
            <a:r>
              <a:rPr lang="en-US" sz="1125" b="1">
                <a:solidFill>
                  <a:srgbClr val="FFFFFF">
                    <a:alpha val="40000"/>
                  </a:srgbClr>
                </a:solidFill>
                <a:latin typeface="Microsoft YaHei"/>
                <a:ea typeface="Microsoft YaHei"/>
              </a:rPr>
              <a:t>ONT</a:t>
            </a:r>
            <a:endParaRPr/>
          </a:p>
        </p:txBody>
      </p:sp>
      <p:sp>
        <p:nvSpPr>
          <p:cNvPr id="29" name="" descr="{&quot;isTemplate&quot;:true,&quot;type&quot;:&quot;text&quot;}"/>
          <p:cNvSpPr txBox="1"/>
          <p:nvPr/>
        </p:nvSpPr>
        <p:spPr>
          <a:xfrm rot="0" flipH="0" flipV="0">
            <a:off x="3810000" y="5591175"/>
            <a:ext cx="495300" cy="133350"/>
          </a:xfrm>
          <a:prstGeom prst="rect"/>
        </p:spPr>
        <p:txBody>
          <a:bodyPr wrap="none" lIns="0" tIns="0" rIns="0" bIns="0"/>
          <a:p>
            <a:pPr>
              <a:lnSpc>
                <a:spcPct val="100000"/>
              </a:lnSpc>
            </a:pPr>
            <a:r>
              <a:rPr lang="en-US" sz="863">
                <a:solidFill>
                  <a:srgbClr val="FFFFFF">
                    <a:alpha val="28000"/>
                  </a:srgbClr>
                </a:solidFill>
                <a:latin typeface="Microsoft YaHei"/>
                <a:ea typeface="Microsoft YaHei"/>
              </a:rPr>
              <a:t>Ontology</a:t>
            </a:r>
            <a:endParaRPr/>
          </a:p>
        </p:txBody>
      </p:sp>
      <p:sp>
        <p:nvSpPr>
          <p:cNvPr id="30" name="" descr="{&quot;isTemplate&quot;:true,&quot;type&quot;:&quot;text&quot;}"/>
          <p:cNvSpPr txBox="1"/>
          <p:nvPr/>
        </p:nvSpPr>
        <p:spPr>
          <a:xfrm rot="0" flipH="0" flipV="0">
            <a:off x="4610100" y="5391150"/>
            <a:ext cx="323850" cy="171450"/>
          </a:xfrm>
          <a:prstGeom prst="rect"/>
        </p:spPr>
        <p:txBody>
          <a:bodyPr wrap="none" lIns="0" tIns="0" rIns="0" bIns="0"/>
          <a:p>
            <a:pPr>
              <a:lnSpc>
                <a:spcPct val="100000"/>
              </a:lnSpc>
            </a:pPr>
            <a:r>
              <a:rPr lang="en-US" sz="1125" b="1">
                <a:solidFill>
                  <a:srgbClr val="FFFFFF">
                    <a:alpha val="40000"/>
                  </a:srgbClr>
                </a:solidFill>
                <a:latin typeface="Microsoft YaHei"/>
                <a:ea typeface="Microsoft YaHei"/>
              </a:rPr>
              <a:t>AGT</a:t>
            </a:r>
            <a:endParaRPr/>
          </a:p>
        </p:txBody>
      </p:sp>
      <p:sp>
        <p:nvSpPr>
          <p:cNvPr id="31" name="" descr="{&quot;isTemplate&quot;:true,&quot;type&quot;:&quot;text&quot;}"/>
          <p:cNvSpPr txBox="1"/>
          <p:nvPr/>
        </p:nvSpPr>
        <p:spPr>
          <a:xfrm rot="0" flipH="0" flipV="0">
            <a:off x="4610100" y="5591175"/>
            <a:ext cx="323850" cy="133350"/>
          </a:xfrm>
          <a:prstGeom prst="rect"/>
        </p:spPr>
        <p:txBody>
          <a:bodyPr wrap="none" lIns="0" tIns="0" rIns="0" bIns="0"/>
          <a:p>
            <a:pPr>
              <a:lnSpc>
                <a:spcPct val="100000"/>
              </a:lnSpc>
            </a:pPr>
            <a:r>
              <a:rPr lang="en-US" sz="863">
                <a:solidFill>
                  <a:srgbClr val="FFFFFF">
                    <a:alpha val="28000"/>
                  </a:srgbClr>
                </a:solidFill>
                <a:latin typeface="Microsoft YaHei"/>
                <a:ea typeface="Microsoft YaHei"/>
              </a:rPr>
              <a:t>Agent</a:t>
            </a:r>
            <a:endParaRPr/>
          </a:p>
        </p:txBody>
      </p:sp>
      <p:sp>
        <p:nvSpPr>
          <p:cNvPr id="32" name="" descr="{&quot;isTemplate&quot;:true,&quot;type&quot;:&quot;text&quot;}"/>
          <p:cNvSpPr txBox="1"/>
          <p:nvPr/>
        </p:nvSpPr>
        <p:spPr>
          <a:xfrm rot="0" flipH="0" flipV="0">
            <a:off x="5238750" y="5391150"/>
            <a:ext cx="333375" cy="171450"/>
          </a:xfrm>
          <a:prstGeom prst="rect"/>
        </p:spPr>
        <p:txBody>
          <a:bodyPr wrap="none" lIns="0" tIns="0" rIns="0" bIns="0"/>
          <a:p>
            <a:pPr>
              <a:lnSpc>
                <a:spcPct val="100000"/>
              </a:lnSpc>
            </a:pPr>
            <a:r>
              <a:rPr lang="en-US" sz="1125" b="1">
                <a:solidFill>
                  <a:srgbClr val="FFFFFF">
                    <a:alpha val="40000"/>
                  </a:srgbClr>
                </a:solidFill>
                <a:latin typeface="Microsoft YaHei"/>
                <a:ea typeface="Microsoft YaHei"/>
              </a:rPr>
              <a:t>KB</a:t>
            </a:r>
            <a:endParaRPr/>
          </a:p>
        </p:txBody>
      </p:sp>
      <p:sp>
        <p:nvSpPr>
          <p:cNvPr id="33" name="" descr="{&quot;isTemplate&quot;:true,&quot;type&quot;:&quot;text&quot;}"/>
          <p:cNvSpPr txBox="1"/>
          <p:nvPr/>
        </p:nvSpPr>
        <p:spPr>
          <a:xfrm rot="0" flipH="0" flipV="0">
            <a:off x="5238750" y="5591175"/>
            <a:ext cx="333375" cy="133350"/>
          </a:xfrm>
          <a:prstGeom prst="rect"/>
        </p:spPr>
        <p:txBody>
          <a:bodyPr wrap="none" lIns="0" tIns="0" rIns="0" bIns="0"/>
          <a:p>
            <a:pPr>
              <a:lnSpc>
                <a:spcPct val="100000"/>
              </a:lnSpc>
            </a:pPr>
            <a:r>
              <a:rPr lang="zh-CN" sz="863">
                <a:solidFill>
                  <a:srgbClr val="FFFFFF">
                    <a:alpha val="28000"/>
                  </a:srgbClr>
                </a:solidFill>
                <a:latin typeface="Microsoft YaHei"/>
                <a:ea typeface="Microsoft YaHei"/>
              </a:rPr>
              <a:t>知识库</a:t>
            </a:r>
            <a:endParaRPr/>
          </a:p>
        </p:txBody>
      </p:sp>
      <p:sp>
        <p:nvSpPr>
          <p:cNvPr id="34" name="" descr="{&quot;isTemplate&quot;:true,&quot;type&quot;:&quot;text&quot;}"/>
          <p:cNvSpPr txBox="1"/>
          <p:nvPr/>
        </p:nvSpPr>
        <p:spPr>
          <a:xfrm rot="0" flipH="0" flipV="0">
            <a:off x="5876925" y="5391150"/>
            <a:ext cx="438150" cy="171450"/>
          </a:xfrm>
          <a:prstGeom prst="rect"/>
        </p:spPr>
        <p:txBody>
          <a:bodyPr wrap="none" lIns="0" tIns="0" rIns="0" bIns="0"/>
          <a:p>
            <a:pPr>
              <a:lnSpc>
                <a:spcPct val="100000"/>
              </a:lnSpc>
            </a:pPr>
            <a:r>
              <a:rPr lang="en-US" sz="1125" b="1">
                <a:solidFill>
                  <a:srgbClr val="FFFFFF">
                    <a:alpha val="40000"/>
                  </a:srgbClr>
                </a:solidFill>
                <a:latin typeface="Microsoft YaHei"/>
                <a:ea typeface="Microsoft YaHei"/>
              </a:rPr>
              <a:t>PIPE</a:t>
            </a:r>
            <a:endParaRPr/>
          </a:p>
        </p:txBody>
      </p:sp>
      <p:sp>
        <p:nvSpPr>
          <p:cNvPr id="35" name="" descr="{&quot;isTemplate&quot;:true,&quot;type&quot;:&quot;text&quot;}"/>
          <p:cNvSpPr txBox="1"/>
          <p:nvPr/>
        </p:nvSpPr>
        <p:spPr>
          <a:xfrm rot="0" flipH="0" flipV="0">
            <a:off x="5876925" y="5591175"/>
            <a:ext cx="438150" cy="133350"/>
          </a:xfrm>
          <a:prstGeom prst="rect"/>
        </p:spPr>
        <p:txBody>
          <a:bodyPr wrap="none" lIns="0" tIns="0" rIns="0" bIns="0"/>
          <a:p>
            <a:pPr>
              <a:lnSpc>
                <a:spcPct val="100000"/>
              </a:lnSpc>
            </a:pPr>
            <a:r>
              <a:rPr lang="zh-CN" sz="863">
                <a:solidFill>
                  <a:srgbClr val="FFFFFF">
                    <a:alpha val="28000"/>
                  </a:srgbClr>
                </a:solidFill>
                <a:latin typeface="Microsoft YaHei"/>
                <a:ea typeface="Microsoft YaHei"/>
              </a:rPr>
              <a:t>管道处理</a:t>
            </a:r>
            <a:endParaRPr/>
          </a:p>
        </p:txBody>
      </p:sp>
      <p:sp>
        <p:nvSpPr>
          <p:cNvPr id="36" name="" descr="{&quot;isTemplate&quot;:true,&quot;type&quot;:&quot;text&quot;}"/>
          <p:cNvSpPr txBox="1"/>
          <p:nvPr/>
        </p:nvSpPr>
        <p:spPr>
          <a:xfrm rot="0" flipH="0" flipV="0">
            <a:off x="8820150" y="6257925"/>
            <a:ext cx="184785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a:t>
            </a:r>
            <a:r>
              <a:rPr lang="zh-CN" sz="1050">
                <a:solidFill>
                  <a:srgbClr val="FFFFFF">
                    <a:alpha val="50000"/>
                  </a:srgbClr>
                </a:solidFill>
                <a:latin typeface="Microsoft YaHei"/>
                <a:ea typeface="Microsoft YaHei"/>
              </a:rPr>
              <a:t>数据治理咨询方法论</a:t>
            </a:r>
            <a:endParaRPr/>
          </a:p>
        </p:txBody>
      </p:sp>
      <p:sp>
        <p:nvSpPr>
          <p:cNvPr id="37" name="" descr="{&quot;isTemplate&quot;:true,&quot;type&quot;:&quot;text&quot;}"/>
          <p:cNvSpPr txBox="1"/>
          <p:nvPr/>
        </p:nvSpPr>
        <p:spPr>
          <a:xfrm rot="0" flipH="0" flipV="0">
            <a:off x="10896600" y="625792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01 / 30</a:t>
            </a:r>
            <a:endParaRPr/>
          </a:p>
        </p:txBody>
      </p:sp>
    </p:spTree>
  </p:cSld>
</p:sld>
</file>

<file path=ppt/slides/slide2.xml><?xml version="1.0" encoding="utf-8"?>
<p:sld xmlns:p="http://schemas.openxmlformats.org/presentationml/2006/main" xmlns:a="http://schemas.openxmlformats.org/drawingml/2006/main">
  <p:cSld>
    <p:spTree>
      <p:nvGrpSpPr>
        <p:cNvPr id="482" name="" descr="&lt;Slide style={{ width: 1280, height: 720, background: '#FFFFFF', padding: '24px 64px 0' }}&gt;&#10;    &lt;Box style={{ height: 96, flexDirection: 'column', justifyContent: 'flex-start' }}&gt;&#10;      &lt;Text style={{ fontSize: 32, fontWeight: 'bold', color: '#0F1423' }}&gt;&#10;        本册&lt;span style={{ color: '#FA4F24' }}&gt;结构&lt;/span&gt;：四部分，一条主线&#10;      &lt;/Text&gt;&#10;      &lt;Text style={{ fontSize: 20, color: '#8A8F99', marginTop: 8 }}&gt;&#10;        前两部分讲治理本身与运行机制，第三部分讲治理与四方关系，第四部分回到 4A 与落地治理&#10;      &lt;/Text&gt;&#10;    &lt;/Box&gt;&#10;    &lt;Box style={{ height: 1, background: '#E8E8E8' }} /&gt;&#10;&#10;    &lt;Box style={{ paddingTop: 18, paddingBottom: 10, height: 479, flexDirection: 'row', gap: 12 }}&gt;&#10;      &lt;Box style={{ width: 632, flexDirection: 'column', gap: 8 }}&gt;&#10;        {[&#10;          { n: '序论 + 方法', p: '03-04', t: 'AI 时代治理对象的新变化；Approach 八阶段与每步产出物', c: '#0F1423' },&#10;          { n: 'PART 01', p: '05-10', t: '治理本身：保护与治理之别、八项原则、四类控制、标记、单元格级策略', c: '#FA4F24' },&#10;          { n: 'PART 02', p: '11-16', t: '运行机制：血缘与审计、降级与脱敏、元数据、数据目录、健康检查与 Linter', c: '#F87D2F' },&#10;          { n: 'PART 03', p: '17-22', t: '治理 × 管道 × 知识库 × Agent × Ontology，以及四条硬边界', c: '#E0651A' },&#10;          { n: 'PART 04', p: '23-30', t: '回到 4A、成熟度五级、五类失效、十二项评审与结语', c: '#C43A17' },&#10;        ].map((it, i) =&gt; (&#10;          &lt;Box key={it.n} style={{ flex: 1, background: '#F7F7F8', borderRadius: 4, borderLeft: '4px solid ' + it.c, padding: '0 16px', flexDirection: 'row', alignItems: 'center', gap: 14 }}&gt;&#10;            &lt;Box style={{ width: 128 }}&gt;&#10;              &lt;Text style={{ fontSize: 15, fontWeight: 'bold', color: it.c }}&gt;{it.n}&lt;/Text&gt;&#10;              &lt;Text style={{ fontSize: 11, color: '#8A8F99', marginTop: 2 }}&gt;{it.p}&lt;/Text&gt;&#10;            &lt;/Box&gt;&#10;            &lt;Text style={{ fontSize: 13, color: '#3A4050', flex: 1, lineHeight: 1.45 }}&gt;{it.t}&lt;/Text&gt;&#10;          &lt;/Box&gt;&#10;        ))}&#10;        &lt;Box style={{ height: 66, background: '#0F1423', borderRadius: 4, padding: '0 16px', flexDirection: 'row', alignItems: 'center', gap: 14 }}&gt;&#10;          &lt;Text style={{ fontSize: 13, fontWeight: 'bold', color: '#FBA15C', width: 168 }}&gt;本册要回答的核心问题&lt;/Text&gt;&#10;          &lt;Text style={{ fontSize: 13, color: 'rgba(255,255,255,0.92)', flex: 1, lineHeight: 1.45 }}&gt;&#10;            为什么治理的对象从数据变成了策略；标记为什么撤不掉；以及智能体时代多出来的记忆、工具与日志，为什么必须用同一套标记管。&#10;          &lt;/Text&gt;&#10;        &lt;/Box&gt;&#10;      &lt;/Box&gt;&#10;&#10;      &lt;Box style={{ flex: 1, flexDirection: 'column', gap: 8 }}&gt;&#10;        &lt;Box style={{ height: 214, background: '#FFF3EE', borderRadius: 4, borderLeft: '4px solid #FA4F24', padding: '12px 16px', flexDirection: 'column' }}&gt;&#10;          &lt;Text style={{ fontSize: 15, fontWeight: 'bold', color: '#C43A17', marginBottom: 8 }}&gt;九册的关系：一条链路，不是九本独立册子&lt;/Text&gt;&#10;          {[&#10;            { b: 'DA / BA / AA / TA', t: '四层架构，方法底座', c: '#8A8F99' },&#10;            { b: 'Ontology', t: '语义与动力学合一，汇流点', c: '#F87D2F' },&#10;            { b: '管道 / 知识库 / Agent', t: '进、出、供依据、做判断', c: '#FA4F24' },&#10;            { b: '数据治理', t: '给前面所有环节配护栏与审计', c: '#0F1423' },&#10;          ].map((it, i) =&gt; (&#10;            &lt;Box key={it.b} style={{ flex: 1, flexDirection: 'row', alignItems: 'center', gap: 10, borderTop: i === 0 ? 'none' : '1px solid #FBA15C' }}&gt;&#10;              &lt;Text style={{ fontSize: 13, fontWeight: 'bold', color: it.c, width: 168 }}&gt;{it.b}&lt;/Text&gt;&#10;              &lt;Text style={{ fontSize: 12, color: '#5A6072', flex: 1 }}&gt;{it.t}&lt;/Text&gt;&#10;            &lt;/Box&gt;&#10;          ))}&#10;        &lt;/Box&gt;&#10;        &lt;Box style={{ flex: 1, background: '#0F1423', borderRadius: 4, padding: '12px 16px', flexDirection: 'column', justifyContent: 'center' }}&gt;&#10;          &lt;Text style={{ fontSize: 14, fontWeight: 'bold', color: '#FBA15C' }}&gt;与管道册的关系&lt;/Text&gt;&#10;          &lt;Text style={{ fontSize: 13, color: 'rgba(255,255,255,0.9)', marginTop: 8, lineHeight: 1.6 }}&gt;&#10;            管道册讲标记怎么随血缘自动传播、传播怎么被中断、降级为什么要双人审批；这一册把整套治理机制从头讲一遍，并把治理与四方关系一起收口。&#10;          &lt;/Text&gt;&#10;        &lt;/Box&gt;&#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02 / 30&lt;/Text&gt;&#10;    &lt;/Box&gt;&#10;&lt;/Slide&gt;&#10;"/>
        <p:cNvGrpSpPr/>
        <p:nvPr/>
      </p:nvGrpSpPr>
      <p:grpSpPr>
        <a:xfrm>
          <a:off x="0" y="0"/>
          <a:ext cx="0" cy="0"/>
          <a:chOff x="0" y="0"/>
          <a:chExt cx="0" cy="0"/>
        </a:xfrm>
      </p:grpSpPr>
      <p:sp>
        <p:nvSpPr>
          <p:cNvPr id="483" name=""/>
          <p:cNvSpPr/>
          <p:nvPr/>
        </p:nvSpPr>
        <p:spPr>
          <a:xfrm rot="0" flipH="0" flipV="0">
            <a:off x="0" y="0"/>
            <a:ext cx="12192000" cy="6858000"/>
          </a:xfrm>
          <a:prstGeom prst="rect">
            <a:avLst/>
          </a:prstGeom>
          <a:solidFill>
            <a:srgbClr val="FFFFFF"/>
          </a:solidFill>
          <a:ln/>
        </p:spPr>
        <p:txBody>
          <a:bodyPr/>
          <a:p/>
        </p:txBody>
      </p:sp>
      <p:sp>
        <p:nvSpPr>
          <p:cNvPr id="484"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本册</a:t>
            </a:r>
            <a:r>
              <a:rPr lang="zh-CN" sz="2400" b="1">
                <a:solidFill>
                  <a:srgbClr val="FA4F24"/>
                </a:solidFill>
                <a:latin typeface="Microsoft YaHei"/>
                <a:ea typeface="Microsoft YaHei"/>
              </a:rPr>
              <a:t>结构</a:t>
            </a:r>
            <a:r>
              <a:rPr lang="zh-CN" sz="2400" b="1">
                <a:solidFill>
                  <a:srgbClr val="0F1423"/>
                </a:solidFill>
                <a:latin typeface="Microsoft YaHei"/>
                <a:ea typeface="Microsoft YaHei"/>
              </a:rPr>
              <a:t>：四部分，一条主线</a:t>
            </a:r>
            <a:endParaRPr/>
          </a:p>
        </p:txBody>
      </p:sp>
      <p:sp>
        <p:nvSpPr>
          <p:cNvPr id="485"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前两部分讲治理本身与运行机制，第三部分讲治理与四方关系，第四部分回到</a:t>
            </a:r>
            <a:r>
              <a:rPr lang="en-US" sz="1500">
                <a:solidFill>
                  <a:srgbClr val="8A8F99"/>
                </a:solidFill>
                <a:latin typeface="Microsoft YaHei"/>
                <a:ea typeface="Microsoft YaHei"/>
              </a:rPr>
              <a:t xml:space="preserve"> 4A </a:t>
            </a:r>
            <a:r>
              <a:rPr lang="zh-CN" sz="1500">
                <a:solidFill>
                  <a:srgbClr val="8A8F99"/>
                </a:solidFill>
                <a:latin typeface="Microsoft YaHei"/>
                <a:ea typeface="Microsoft YaHei"/>
              </a:rPr>
              <a:t>与落地治理</a:t>
            </a:r>
            <a:endParaRPr/>
          </a:p>
        </p:txBody>
      </p:sp>
      <p:sp>
        <p:nvSpPr>
          <p:cNvPr id="486" name=""/>
          <p:cNvSpPr/>
          <p:nvPr/>
        </p:nvSpPr>
        <p:spPr>
          <a:xfrm rot="0" flipH="0" flipV="0">
            <a:off x="609600" y="1143000"/>
            <a:ext cx="10972800" cy="9525"/>
          </a:xfrm>
          <a:prstGeom prst="rect">
            <a:avLst/>
          </a:prstGeom>
          <a:solidFill>
            <a:srgbClr val="E8E8E8"/>
          </a:solidFill>
          <a:ln/>
        </p:spPr>
        <p:txBody>
          <a:bodyPr/>
          <a:p/>
        </p:txBody>
      </p:sp>
      <p:sp>
        <p:nvSpPr>
          <p:cNvPr id="487" name=""/>
          <p:cNvSpPr/>
          <p:nvPr/>
        </p:nvSpPr>
        <p:spPr>
          <a:xfrm rot="0" flipH="0" flipV="0">
            <a:off x="647700" y="1323975"/>
            <a:ext cx="6019800" cy="657225"/>
          </a:xfrm>
          <a:prstGeom prst="roundRect">
            <a:avLst>
              <a:gd name="adj" fmla="val 5797"/>
            </a:avLst>
          </a:prstGeom>
          <a:solidFill>
            <a:srgbClr val="F7F7F8"/>
          </a:solidFill>
          <a:ln/>
        </p:spPr>
        <p:txBody>
          <a:bodyPr/>
          <a:p/>
        </p:txBody>
      </p:sp>
      <p:sp>
        <p:nvSpPr>
          <p:cNvPr id="488" name=""/>
          <p:cNvSpPr/>
          <p:nvPr/>
        </p:nvSpPr>
        <p:spPr>
          <a:xfrm rot="0" flipH="0" flipV="0">
            <a:off x="647700" y="1323975"/>
            <a:ext cx="6019800" cy="657225"/>
          </a:xfrm>
          <a:custGeom>
            <a:pathLst>
              <a:path w="632" h="69">
                <a:moveTo>
                  <a:pt x="4" y="69"/>
                </a:moveTo>
                <a:cubicBezTo>
                  <a:pt x="2" y="69"/>
                  <a:pt x="0" y="67"/>
                  <a:pt x="0" y="65"/>
                </a:cubicBezTo>
                <a:lnTo>
                  <a:pt x="0" y="4"/>
                </a:lnTo>
                <a:cubicBezTo>
                  <a:pt x="0" y="2"/>
                  <a:pt x="2" y="0"/>
                  <a:pt x="4" y="0"/>
                </a:cubicBezTo>
                <a:lnTo>
                  <a:pt x="4" y="69"/>
                </a:lnTo>
                <a:close/>
              </a:path>
            </a:pathLst>
          </a:custGeom>
          <a:solidFill>
            <a:srgbClr val="0F1423"/>
          </a:solidFill>
          <a:ln/>
        </p:spPr>
        <p:txBody>
          <a:bodyPr/>
          <a:p/>
        </p:txBody>
      </p:sp>
      <p:sp>
        <p:nvSpPr>
          <p:cNvPr id="489" name="" descr="{&quot;isTemplate&quot;:true,&quot;type&quot;:&quot;text&quot;}"/>
          <p:cNvSpPr txBox="1"/>
          <p:nvPr/>
        </p:nvSpPr>
        <p:spPr>
          <a:xfrm rot="0" flipH="0" flipV="0">
            <a:off x="800100" y="1495425"/>
            <a:ext cx="1219200" cy="171450"/>
          </a:xfrm>
          <a:prstGeom prst="rect"/>
        </p:spPr>
        <p:txBody>
          <a:bodyPr wrap="none" lIns="0" tIns="0" rIns="0" bIns="0"/>
          <a:p>
            <a:pPr>
              <a:lnSpc>
                <a:spcPct val="100000"/>
              </a:lnSpc>
            </a:pPr>
            <a:r>
              <a:rPr lang="zh-CN" sz="1125" b="1">
                <a:solidFill>
                  <a:srgbClr val="0F1423"/>
                </a:solidFill>
                <a:latin typeface="Microsoft YaHei"/>
                <a:ea typeface="Microsoft YaHei"/>
              </a:rPr>
              <a:t>序论</a:t>
            </a:r>
            <a:r>
              <a:rPr lang="en-US" sz="1125" b="1">
                <a:solidFill>
                  <a:srgbClr val="0F1423"/>
                </a:solidFill>
                <a:latin typeface="Microsoft YaHei"/>
                <a:ea typeface="Microsoft YaHei"/>
              </a:rPr>
              <a:t xml:space="preserve"> + </a:t>
            </a:r>
            <a:r>
              <a:rPr lang="zh-CN" sz="1125" b="1">
                <a:solidFill>
                  <a:srgbClr val="0F1423"/>
                </a:solidFill>
                <a:latin typeface="Microsoft YaHei"/>
                <a:ea typeface="Microsoft YaHei"/>
              </a:rPr>
              <a:t>方法</a:t>
            </a:r>
            <a:endParaRPr/>
          </a:p>
        </p:txBody>
      </p:sp>
      <p:sp>
        <p:nvSpPr>
          <p:cNvPr id="490" name="" descr="{&quot;isTemplate&quot;:true,&quot;type&quot;:&quot;text&quot;}"/>
          <p:cNvSpPr txBox="1"/>
          <p:nvPr/>
        </p:nvSpPr>
        <p:spPr>
          <a:xfrm rot="0" flipH="0" flipV="0">
            <a:off x="800100" y="1685925"/>
            <a:ext cx="1219200" cy="133350"/>
          </a:xfrm>
          <a:prstGeom prst="rect"/>
        </p:spPr>
        <p:txBody>
          <a:bodyPr wrap="none" lIns="0" tIns="0" rIns="0" bIns="0"/>
          <a:p>
            <a:pPr>
              <a:lnSpc>
                <a:spcPct val="100000"/>
              </a:lnSpc>
            </a:pPr>
            <a:r>
              <a:rPr lang="en-US" sz="825">
                <a:solidFill>
                  <a:srgbClr val="8A8F99"/>
                </a:solidFill>
                <a:latin typeface="Microsoft YaHei"/>
                <a:ea typeface="Microsoft YaHei"/>
              </a:rPr>
              <a:t>03-04</a:t>
            </a:r>
            <a:endParaRPr/>
          </a:p>
        </p:txBody>
      </p:sp>
      <p:sp>
        <p:nvSpPr>
          <p:cNvPr id="491" name="" descr="{&quot;isTemplate&quot;:true,&quot;type&quot;:&quot;text&quot;}"/>
          <p:cNvSpPr txBox="1"/>
          <p:nvPr/>
        </p:nvSpPr>
        <p:spPr>
          <a:xfrm rot="0" flipH="0" flipV="0">
            <a:off x="2152650" y="1543050"/>
            <a:ext cx="4324350" cy="219075"/>
          </a:xfrm>
          <a:prstGeom prst="rect"/>
        </p:spPr>
        <p:txBody>
          <a:bodyPr wrap="none" lIns="0" tIns="0" rIns="0" bIns="0"/>
          <a:p>
            <a:pPr>
              <a:lnSpc>
                <a:spcPct val="145000"/>
              </a:lnSpc>
            </a:pPr>
            <a:r>
              <a:rPr lang="en-US" sz="975">
                <a:solidFill>
                  <a:srgbClr val="3A4050"/>
                </a:solidFill>
                <a:latin typeface="Microsoft YaHei"/>
                <a:ea typeface="Microsoft YaHei"/>
              </a:rPr>
              <a:t xml:space="preserve">AI </a:t>
            </a:r>
            <a:r>
              <a:rPr lang="zh-CN" sz="975">
                <a:solidFill>
                  <a:srgbClr val="3A4050"/>
                </a:solidFill>
                <a:latin typeface="Microsoft YaHei"/>
                <a:ea typeface="Microsoft YaHei"/>
              </a:rPr>
              <a:t>时代治理对象的新变化；</a:t>
            </a:r>
            <a:r>
              <a:rPr lang="en-US" sz="975">
                <a:solidFill>
                  <a:srgbClr val="3A4050"/>
                </a:solidFill>
                <a:latin typeface="Microsoft YaHei"/>
                <a:ea typeface="Microsoft YaHei"/>
              </a:rPr>
              <a:t xml:space="preserve">Approach </a:t>
            </a:r>
            <a:r>
              <a:rPr lang="zh-CN" sz="975">
                <a:solidFill>
                  <a:srgbClr val="3A4050"/>
                </a:solidFill>
                <a:latin typeface="Microsoft YaHei"/>
                <a:ea typeface="Microsoft YaHei"/>
              </a:rPr>
              <a:t>八阶段与每步产出物</a:t>
            </a:r>
            <a:endParaRPr/>
          </a:p>
        </p:txBody>
      </p:sp>
      <p:sp>
        <p:nvSpPr>
          <p:cNvPr id="492" name=""/>
          <p:cNvSpPr/>
          <p:nvPr/>
        </p:nvSpPr>
        <p:spPr>
          <a:xfrm rot="0" flipH="0" flipV="0">
            <a:off x="647700" y="2057400"/>
            <a:ext cx="6019800" cy="657225"/>
          </a:xfrm>
          <a:prstGeom prst="roundRect">
            <a:avLst>
              <a:gd name="adj" fmla="val 5797"/>
            </a:avLst>
          </a:prstGeom>
          <a:solidFill>
            <a:srgbClr val="F7F7F8"/>
          </a:solidFill>
          <a:ln/>
        </p:spPr>
        <p:txBody>
          <a:bodyPr/>
          <a:p/>
        </p:txBody>
      </p:sp>
      <p:sp>
        <p:nvSpPr>
          <p:cNvPr id="493" name=""/>
          <p:cNvSpPr/>
          <p:nvPr/>
        </p:nvSpPr>
        <p:spPr>
          <a:xfrm rot="0" flipH="0" flipV="0">
            <a:off x="647700" y="2057400"/>
            <a:ext cx="6019800" cy="657225"/>
          </a:xfrm>
          <a:custGeom>
            <a:pathLst>
              <a:path w="632" h="69">
                <a:moveTo>
                  <a:pt x="4" y="69"/>
                </a:moveTo>
                <a:cubicBezTo>
                  <a:pt x="2" y="69"/>
                  <a:pt x="0" y="67"/>
                  <a:pt x="0" y="65"/>
                </a:cubicBezTo>
                <a:lnTo>
                  <a:pt x="0" y="4"/>
                </a:lnTo>
                <a:cubicBezTo>
                  <a:pt x="0" y="2"/>
                  <a:pt x="2" y="0"/>
                  <a:pt x="4" y="0"/>
                </a:cubicBezTo>
                <a:lnTo>
                  <a:pt x="4" y="69"/>
                </a:lnTo>
                <a:close/>
              </a:path>
            </a:pathLst>
          </a:custGeom>
          <a:solidFill>
            <a:srgbClr val="FA4F24"/>
          </a:solidFill>
          <a:ln/>
        </p:spPr>
        <p:txBody>
          <a:bodyPr/>
          <a:p/>
        </p:txBody>
      </p:sp>
      <p:sp>
        <p:nvSpPr>
          <p:cNvPr id="494" name="" descr="{&quot;isTemplate&quot;:true,&quot;type&quot;:&quot;text&quot;}"/>
          <p:cNvSpPr txBox="1"/>
          <p:nvPr/>
        </p:nvSpPr>
        <p:spPr>
          <a:xfrm rot="0" flipH="0" flipV="0">
            <a:off x="800100" y="2228850"/>
            <a:ext cx="1219200" cy="171450"/>
          </a:xfrm>
          <a:prstGeom prst="rect"/>
        </p:spPr>
        <p:txBody>
          <a:bodyPr wrap="none" lIns="0" tIns="0" rIns="0" bIns="0"/>
          <a:p>
            <a:pPr>
              <a:lnSpc>
                <a:spcPct val="100000"/>
              </a:lnSpc>
            </a:pPr>
            <a:r>
              <a:rPr lang="en-US" sz="1125" b="1">
                <a:solidFill>
                  <a:srgbClr val="FA4F24"/>
                </a:solidFill>
                <a:latin typeface="Microsoft YaHei"/>
                <a:ea typeface="Microsoft YaHei"/>
              </a:rPr>
              <a:t>PART 01</a:t>
            </a:r>
            <a:endParaRPr/>
          </a:p>
        </p:txBody>
      </p:sp>
      <p:sp>
        <p:nvSpPr>
          <p:cNvPr id="495" name="" descr="{&quot;isTemplate&quot;:true,&quot;type&quot;:&quot;text&quot;}"/>
          <p:cNvSpPr txBox="1"/>
          <p:nvPr/>
        </p:nvSpPr>
        <p:spPr>
          <a:xfrm rot="0" flipH="0" flipV="0">
            <a:off x="800100" y="2419350"/>
            <a:ext cx="1219200" cy="133350"/>
          </a:xfrm>
          <a:prstGeom prst="rect"/>
        </p:spPr>
        <p:txBody>
          <a:bodyPr wrap="none" lIns="0" tIns="0" rIns="0" bIns="0"/>
          <a:p>
            <a:pPr>
              <a:lnSpc>
                <a:spcPct val="100000"/>
              </a:lnSpc>
            </a:pPr>
            <a:r>
              <a:rPr lang="en-US" sz="825">
                <a:solidFill>
                  <a:srgbClr val="8A8F99"/>
                </a:solidFill>
                <a:latin typeface="Microsoft YaHei"/>
                <a:ea typeface="Microsoft YaHei"/>
              </a:rPr>
              <a:t>05-10</a:t>
            </a:r>
            <a:endParaRPr/>
          </a:p>
        </p:txBody>
      </p:sp>
      <p:sp>
        <p:nvSpPr>
          <p:cNvPr id="496" name="" descr="{&quot;isTemplate&quot;:true,&quot;type&quot;:&quot;text&quot;}"/>
          <p:cNvSpPr txBox="1"/>
          <p:nvPr/>
        </p:nvSpPr>
        <p:spPr>
          <a:xfrm rot="0" flipH="0" flipV="0">
            <a:off x="2152650" y="2276475"/>
            <a:ext cx="4324350" cy="219075"/>
          </a:xfrm>
          <a:prstGeom prst="rect"/>
        </p:spPr>
        <p:txBody>
          <a:bodyPr wrap="none" lIns="0" tIns="0" rIns="0" bIns="0"/>
          <a:p>
            <a:pPr>
              <a:lnSpc>
                <a:spcPct val="145000"/>
              </a:lnSpc>
            </a:pPr>
            <a:r>
              <a:rPr lang="zh-CN" sz="975">
                <a:solidFill>
                  <a:srgbClr val="3A4050"/>
                </a:solidFill>
                <a:latin typeface="Microsoft YaHei"/>
                <a:ea typeface="Microsoft YaHei"/>
              </a:rPr>
              <a:t>治理本身：保护与治理之别、八项原则、四类控制、标记、单元格级策略</a:t>
            </a:r>
            <a:endParaRPr/>
          </a:p>
        </p:txBody>
      </p:sp>
      <p:sp>
        <p:nvSpPr>
          <p:cNvPr id="497" name=""/>
          <p:cNvSpPr/>
          <p:nvPr/>
        </p:nvSpPr>
        <p:spPr>
          <a:xfrm rot="0" flipH="0" flipV="0">
            <a:off x="647700" y="2790825"/>
            <a:ext cx="6019800" cy="657225"/>
          </a:xfrm>
          <a:prstGeom prst="roundRect">
            <a:avLst>
              <a:gd name="adj" fmla="val 5797"/>
            </a:avLst>
          </a:prstGeom>
          <a:solidFill>
            <a:srgbClr val="F7F7F8"/>
          </a:solidFill>
          <a:ln/>
        </p:spPr>
        <p:txBody>
          <a:bodyPr/>
          <a:p/>
        </p:txBody>
      </p:sp>
      <p:sp>
        <p:nvSpPr>
          <p:cNvPr id="498" name=""/>
          <p:cNvSpPr/>
          <p:nvPr/>
        </p:nvSpPr>
        <p:spPr>
          <a:xfrm rot="0" flipH="0" flipV="0">
            <a:off x="647700" y="2790825"/>
            <a:ext cx="6019800" cy="657225"/>
          </a:xfrm>
          <a:custGeom>
            <a:pathLst>
              <a:path w="632" h="69">
                <a:moveTo>
                  <a:pt x="4" y="69"/>
                </a:moveTo>
                <a:cubicBezTo>
                  <a:pt x="2" y="69"/>
                  <a:pt x="0" y="67"/>
                  <a:pt x="0" y="65"/>
                </a:cubicBezTo>
                <a:lnTo>
                  <a:pt x="0" y="4"/>
                </a:lnTo>
                <a:cubicBezTo>
                  <a:pt x="0" y="2"/>
                  <a:pt x="2" y="0"/>
                  <a:pt x="4" y="0"/>
                </a:cubicBezTo>
                <a:lnTo>
                  <a:pt x="4" y="69"/>
                </a:lnTo>
                <a:close/>
              </a:path>
            </a:pathLst>
          </a:custGeom>
          <a:solidFill>
            <a:srgbClr val="F87D2F"/>
          </a:solidFill>
          <a:ln/>
        </p:spPr>
        <p:txBody>
          <a:bodyPr/>
          <a:p/>
        </p:txBody>
      </p:sp>
      <p:sp>
        <p:nvSpPr>
          <p:cNvPr id="499" name="" descr="{&quot;isTemplate&quot;:true,&quot;type&quot;:&quot;text&quot;}"/>
          <p:cNvSpPr txBox="1"/>
          <p:nvPr/>
        </p:nvSpPr>
        <p:spPr>
          <a:xfrm rot="0" flipH="0" flipV="0">
            <a:off x="800100" y="2962275"/>
            <a:ext cx="1219200" cy="171450"/>
          </a:xfrm>
          <a:prstGeom prst="rect"/>
        </p:spPr>
        <p:txBody>
          <a:bodyPr wrap="none" lIns="0" tIns="0" rIns="0" bIns="0"/>
          <a:p>
            <a:pPr>
              <a:lnSpc>
                <a:spcPct val="100000"/>
              </a:lnSpc>
            </a:pPr>
            <a:r>
              <a:rPr lang="en-US" sz="1125" b="1">
                <a:solidFill>
                  <a:srgbClr val="F87D2F"/>
                </a:solidFill>
                <a:latin typeface="Microsoft YaHei"/>
                <a:ea typeface="Microsoft YaHei"/>
              </a:rPr>
              <a:t>PART 02</a:t>
            </a:r>
            <a:endParaRPr/>
          </a:p>
        </p:txBody>
      </p:sp>
      <p:sp>
        <p:nvSpPr>
          <p:cNvPr id="500" name="" descr="{&quot;isTemplate&quot;:true,&quot;type&quot;:&quot;text&quot;}"/>
          <p:cNvSpPr txBox="1"/>
          <p:nvPr/>
        </p:nvSpPr>
        <p:spPr>
          <a:xfrm rot="0" flipH="0" flipV="0">
            <a:off x="800100" y="3152775"/>
            <a:ext cx="1219200" cy="133350"/>
          </a:xfrm>
          <a:prstGeom prst="rect"/>
        </p:spPr>
        <p:txBody>
          <a:bodyPr wrap="none" lIns="0" tIns="0" rIns="0" bIns="0"/>
          <a:p>
            <a:pPr>
              <a:lnSpc>
                <a:spcPct val="100000"/>
              </a:lnSpc>
            </a:pPr>
            <a:r>
              <a:rPr lang="en-US" sz="825">
                <a:solidFill>
                  <a:srgbClr val="8A8F99"/>
                </a:solidFill>
                <a:latin typeface="Microsoft YaHei"/>
                <a:ea typeface="Microsoft YaHei"/>
              </a:rPr>
              <a:t>11-16</a:t>
            </a:r>
            <a:endParaRPr/>
          </a:p>
        </p:txBody>
      </p:sp>
      <p:sp>
        <p:nvSpPr>
          <p:cNvPr id="501" name="" descr="{&quot;isTemplate&quot;:true,&quot;type&quot;:&quot;text&quot;}"/>
          <p:cNvSpPr txBox="1"/>
          <p:nvPr/>
        </p:nvSpPr>
        <p:spPr>
          <a:xfrm rot="0" flipH="0" flipV="0">
            <a:off x="2152650" y="3009900"/>
            <a:ext cx="4324350" cy="219075"/>
          </a:xfrm>
          <a:prstGeom prst="rect"/>
        </p:spPr>
        <p:txBody>
          <a:bodyPr wrap="none" lIns="0" tIns="0" rIns="0" bIns="0"/>
          <a:p>
            <a:pPr>
              <a:lnSpc>
                <a:spcPct val="145000"/>
              </a:lnSpc>
            </a:pPr>
            <a:r>
              <a:rPr lang="zh-CN" sz="975">
                <a:solidFill>
                  <a:srgbClr val="3A4050"/>
                </a:solidFill>
                <a:latin typeface="Microsoft YaHei"/>
                <a:ea typeface="Microsoft YaHei"/>
              </a:rPr>
              <a:t>运行机制：血缘与审计、降级与脱敏、元数据、数据目录、健康检查与</a:t>
            </a:r>
            <a:r>
              <a:rPr lang="en-US" sz="975">
                <a:solidFill>
                  <a:srgbClr val="3A4050"/>
                </a:solidFill>
                <a:latin typeface="Microsoft YaHei"/>
                <a:ea typeface="Microsoft YaHei"/>
              </a:rPr>
              <a:t xml:space="preserve"> Linter</a:t>
            </a:r>
            <a:endParaRPr/>
          </a:p>
        </p:txBody>
      </p:sp>
      <p:sp>
        <p:nvSpPr>
          <p:cNvPr id="502" name=""/>
          <p:cNvSpPr/>
          <p:nvPr/>
        </p:nvSpPr>
        <p:spPr>
          <a:xfrm rot="0" flipH="0" flipV="0">
            <a:off x="647700" y="3524250"/>
            <a:ext cx="6019800" cy="657225"/>
          </a:xfrm>
          <a:prstGeom prst="roundRect">
            <a:avLst>
              <a:gd name="adj" fmla="val 5797"/>
            </a:avLst>
          </a:prstGeom>
          <a:solidFill>
            <a:srgbClr val="F7F7F8"/>
          </a:solidFill>
          <a:ln/>
        </p:spPr>
        <p:txBody>
          <a:bodyPr/>
          <a:p/>
        </p:txBody>
      </p:sp>
      <p:sp>
        <p:nvSpPr>
          <p:cNvPr id="503" name=""/>
          <p:cNvSpPr/>
          <p:nvPr/>
        </p:nvSpPr>
        <p:spPr>
          <a:xfrm rot="0" flipH="0" flipV="0">
            <a:off x="647700" y="3524250"/>
            <a:ext cx="6019800" cy="657225"/>
          </a:xfrm>
          <a:custGeom>
            <a:pathLst>
              <a:path w="632" h="69">
                <a:moveTo>
                  <a:pt x="4" y="69"/>
                </a:moveTo>
                <a:cubicBezTo>
                  <a:pt x="2" y="69"/>
                  <a:pt x="0" y="67"/>
                  <a:pt x="0" y="65"/>
                </a:cubicBezTo>
                <a:lnTo>
                  <a:pt x="0" y="4"/>
                </a:lnTo>
                <a:cubicBezTo>
                  <a:pt x="0" y="2"/>
                  <a:pt x="2" y="0"/>
                  <a:pt x="4" y="0"/>
                </a:cubicBezTo>
                <a:lnTo>
                  <a:pt x="4" y="69"/>
                </a:lnTo>
                <a:close/>
              </a:path>
            </a:pathLst>
          </a:custGeom>
          <a:solidFill>
            <a:srgbClr val="E0651A"/>
          </a:solidFill>
          <a:ln/>
        </p:spPr>
        <p:txBody>
          <a:bodyPr/>
          <a:p/>
        </p:txBody>
      </p:sp>
      <p:sp>
        <p:nvSpPr>
          <p:cNvPr id="504" name="" descr="{&quot;isTemplate&quot;:true,&quot;type&quot;:&quot;text&quot;}"/>
          <p:cNvSpPr txBox="1"/>
          <p:nvPr/>
        </p:nvSpPr>
        <p:spPr>
          <a:xfrm rot="0" flipH="0" flipV="0">
            <a:off x="800100" y="3695700"/>
            <a:ext cx="1219200" cy="171450"/>
          </a:xfrm>
          <a:prstGeom prst="rect"/>
        </p:spPr>
        <p:txBody>
          <a:bodyPr wrap="none" lIns="0" tIns="0" rIns="0" bIns="0"/>
          <a:p>
            <a:pPr>
              <a:lnSpc>
                <a:spcPct val="100000"/>
              </a:lnSpc>
            </a:pPr>
            <a:r>
              <a:rPr lang="en-US" sz="1125" b="1">
                <a:solidFill>
                  <a:srgbClr val="E0651A"/>
                </a:solidFill>
                <a:latin typeface="Microsoft YaHei"/>
                <a:ea typeface="Microsoft YaHei"/>
              </a:rPr>
              <a:t>PART 03</a:t>
            </a:r>
            <a:endParaRPr/>
          </a:p>
        </p:txBody>
      </p:sp>
      <p:sp>
        <p:nvSpPr>
          <p:cNvPr id="505" name="" descr="{&quot;isTemplate&quot;:true,&quot;type&quot;:&quot;text&quot;}"/>
          <p:cNvSpPr txBox="1"/>
          <p:nvPr/>
        </p:nvSpPr>
        <p:spPr>
          <a:xfrm rot="0" flipH="0" flipV="0">
            <a:off x="800100" y="3886200"/>
            <a:ext cx="1219200" cy="133350"/>
          </a:xfrm>
          <a:prstGeom prst="rect"/>
        </p:spPr>
        <p:txBody>
          <a:bodyPr wrap="none" lIns="0" tIns="0" rIns="0" bIns="0"/>
          <a:p>
            <a:pPr>
              <a:lnSpc>
                <a:spcPct val="100000"/>
              </a:lnSpc>
            </a:pPr>
            <a:r>
              <a:rPr lang="en-US" sz="825">
                <a:solidFill>
                  <a:srgbClr val="8A8F99"/>
                </a:solidFill>
                <a:latin typeface="Microsoft YaHei"/>
                <a:ea typeface="Microsoft YaHei"/>
              </a:rPr>
              <a:t>17-22</a:t>
            </a:r>
            <a:endParaRPr/>
          </a:p>
        </p:txBody>
      </p:sp>
      <p:sp>
        <p:nvSpPr>
          <p:cNvPr id="506" name="" descr="{&quot;isTemplate&quot;:true,&quot;type&quot;:&quot;text&quot;}"/>
          <p:cNvSpPr txBox="1"/>
          <p:nvPr/>
        </p:nvSpPr>
        <p:spPr>
          <a:xfrm rot="0" flipH="0" flipV="0">
            <a:off x="2152650" y="3743325"/>
            <a:ext cx="4324350" cy="219075"/>
          </a:xfrm>
          <a:prstGeom prst="rect"/>
        </p:spPr>
        <p:txBody>
          <a:bodyPr wrap="none" lIns="0" tIns="0" rIns="0" bIns="0"/>
          <a:p>
            <a:pPr>
              <a:lnSpc>
                <a:spcPct val="145000"/>
              </a:lnSpc>
            </a:pPr>
            <a:r>
              <a:rPr lang="zh-CN" sz="975">
                <a:solidFill>
                  <a:srgbClr val="3A4050"/>
                </a:solidFill>
                <a:latin typeface="Microsoft YaHei"/>
                <a:ea typeface="Microsoft YaHei"/>
              </a:rPr>
              <a:t>治理</a:t>
            </a:r>
            <a:r>
              <a:rPr lang="en-US" sz="975">
                <a:solidFill>
                  <a:srgbClr val="3A4050"/>
                </a:solidFill>
                <a:latin typeface="Microsoft YaHei"/>
                <a:ea typeface="Microsoft YaHei"/>
              </a:rPr>
              <a:t xml:space="preserve"> × </a:t>
            </a:r>
            <a:r>
              <a:rPr lang="zh-CN" sz="975">
                <a:solidFill>
                  <a:srgbClr val="3A4050"/>
                </a:solidFill>
                <a:latin typeface="Microsoft YaHei"/>
                <a:ea typeface="Microsoft YaHei"/>
              </a:rPr>
              <a:t>管道</a:t>
            </a:r>
            <a:r>
              <a:rPr lang="en-US" sz="975">
                <a:solidFill>
                  <a:srgbClr val="3A4050"/>
                </a:solidFill>
                <a:latin typeface="Microsoft YaHei"/>
                <a:ea typeface="Microsoft YaHei"/>
              </a:rPr>
              <a:t xml:space="preserve"> × </a:t>
            </a:r>
            <a:r>
              <a:rPr lang="zh-CN" sz="975">
                <a:solidFill>
                  <a:srgbClr val="3A4050"/>
                </a:solidFill>
                <a:latin typeface="Microsoft YaHei"/>
                <a:ea typeface="Microsoft YaHei"/>
              </a:rPr>
              <a:t>知识库</a:t>
            </a:r>
            <a:r>
              <a:rPr lang="en-US" sz="975">
                <a:solidFill>
                  <a:srgbClr val="3A4050"/>
                </a:solidFill>
                <a:latin typeface="Microsoft YaHei"/>
                <a:ea typeface="Microsoft YaHei"/>
              </a:rPr>
              <a:t xml:space="preserve"> × Agent × Ontology</a:t>
            </a:r>
            <a:r>
              <a:rPr lang="zh-CN" sz="975">
                <a:solidFill>
                  <a:srgbClr val="3A4050"/>
                </a:solidFill>
                <a:latin typeface="Microsoft YaHei"/>
                <a:ea typeface="Microsoft YaHei"/>
              </a:rPr>
              <a:t>，以及四条硬边界</a:t>
            </a:r>
            <a:endParaRPr/>
          </a:p>
        </p:txBody>
      </p:sp>
      <p:sp>
        <p:nvSpPr>
          <p:cNvPr id="507" name=""/>
          <p:cNvSpPr/>
          <p:nvPr/>
        </p:nvSpPr>
        <p:spPr>
          <a:xfrm rot="0" flipH="0" flipV="0">
            <a:off x="647700" y="4257675"/>
            <a:ext cx="6019800" cy="657225"/>
          </a:xfrm>
          <a:prstGeom prst="roundRect">
            <a:avLst>
              <a:gd name="adj" fmla="val 5797"/>
            </a:avLst>
          </a:prstGeom>
          <a:solidFill>
            <a:srgbClr val="F7F7F8"/>
          </a:solidFill>
          <a:ln/>
        </p:spPr>
        <p:txBody>
          <a:bodyPr/>
          <a:p/>
        </p:txBody>
      </p:sp>
      <p:sp>
        <p:nvSpPr>
          <p:cNvPr id="508" name=""/>
          <p:cNvSpPr/>
          <p:nvPr/>
        </p:nvSpPr>
        <p:spPr>
          <a:xfrm rot="0" flipH="0" flipV="0">
            <a:off x="647700" y="4257675"/>
            <a:ext cx="6019800" cy="657225"/>
          </a:xfrm>
          <a:custGeom>
            <a:pathLst>
              <a:path w="632" h="69">
                <a:moveTo>
                  <a:pt x="4" y="69"/>
                </a:moveTo>
                <a:cubicBezTo>
                  <a:pt x="2" y="69"/>
                  <a:pt x="0" y="67"/>
                  <a:pt x="0" y="65"/>
                </a:cubicBezTo>
                <a:lnTo>
                  <a:pt x="0" y="4"/>
                </a:lnTo>
                <a:cubicBezTo>
                  <a:pt x="0" y="2"/>
                  <a:pt x="2" y="0"/>
                  <a:pt x="4" y="0"/>
                </a:cubicBezTo>
                <a:lnTo>
                  <a:pt x="4" y="69"/>
                </a:lnTo>
                <a:close/>
              </a:path>
            </a:pathLst>
          </a:custGeom>
          <a:solidFill>
            <a:srgbClr val="C43A17"/>
          </a:solidFill>
          <a:ln/>
        </p:spPr>
        <p:txBody>
          <a:bodyPr/>
          <a:p/>
        </p:txBody>
      </p:sp>
      <p:sp>
        <p:nvSpPr>
          <p:cNvPr id="509" name="" descr="{&quot;isTemplate&quot;:true,&quot;type&quot;:&quot;text&quot;}"/>
          <p:cNvSpPr txBox="1"/>
          <p:nvPr/>
        </p:nvSpPr>
        <p:spPr>
          <a:xfrm rot="0" flipH="0" flipV="0">
            <a:off x="800100" y="4429125"/>
            <a:ext cx="1219200" cy="171450"/>
          </a:xfrm>
          <a:prstGeom prst="rect"/>
        </p:spPr>
        <p:txBody>
          <a:bodyPr wrap="none" lIns="0" tIns="0" rIns="0" bIns="0"/>
          <a:p>
            <a:pPr>
              <a:lnSpc>
                <a:spcPct val="100000"/>
              </a:lnSpc>
            </a:pPr>
            <a:r>
              <a:rPr lang="en-US" sz="1125" b="1">
                <a:solidFill>
                  <a:srgbClr val="C43A17"/>
                </a:solidFill>
                <a:latin typeface="Microsoft YaHei"/>
                <a:ea typeface="Microsoft YaHei"/>
              </a:rPr>
              <a:t>PART 04</a:t>
            </a:r>
            <a:endParaRPr/>
          </a:p>
        </p:txBody>
      </p:sp>
      <p:sp>
        <p:nvSpPr>
          <p:cNvPr id="510" name="" descr="{&quot;isTemplate&quot;:true,&quot;type&quot;:&quot;text&quot;}"/>
          <p:cNvSpPr txBox="1"/>
          <p:nvPr/>
        </p:nvSpPr>
        <p:spPr>
          <a:xfrm rot="0" flipH="0" flipV="0">
            <a:off x="800100" y="4619625"/>
            <a:ext cx="1219200" cy="133350"/>
          </a:xfrm>
          <a:prstGeom prst="rect"/>
        </p:spPr>
        <p:txBody>
          <a:bodyPr wrap="none" lIns="0" tIns="0" rIns="0" bIns="0"/>
          <a:p>
            <a:pPr>
              <a:lnSpc>
                <a:spcPct val="100000"/>
              </a:lnSpc>
            </a:pPr>
            <a:r>
              <a:rPr lang="en-US" sz="825">
                <a:solidFill>
                  <a:srgbClr val="8A8F99"/>
                </a:solidFill>
                <a:latin typeface="Microsoft YaHei"/>
                <a:ea typeface="Microsoft YaHei"/>
              </a:rPr>
              <a:t>23-30</a:t>
            </a:r>
            <a:endParaRPr/>
          </a:p>
        </p:txBody>
      </p:sp>
      <p:sp>
        <p:nvSpPr>
          <p:cNvPr id="511" name="" descr="{&quot;isTemplate&quot;:true,&quot;type&quot;:&quot;text&quot;}"/>
          <p:cNvSpPr txBox="1"/>
          <p:nvPr/>
        </p:nvSpPr>
        <p:spPr>
          <a:xfrm rot="0" flipH="0" flipV="0">
            <a:off x="2152650" y="4476750"/>
            <a:ext cx="4324350" cy="219075"/>
          </a:xfrm>
          <a:prstGeom prst="rect"/>
        </p:spPr>
        <p:txBody>
          <a:bodyPr wrap="none" lIns="0" tIns="0" rIns="0" bIns="0"/>
          <a:p>
            <a:pPr>
              <a:lnSpc>
                <a:spcPct val="145000"/>
              </a:lnSpc>
            </a:pPr>
            <a:r>
              <a:rPr lang="zh-CN" sz="975">
                <a:solidFill>
                  <a:srgbClr val="3A4050"/>
                </a:solidFill>
                <a:latin typeface="Microsoft YaHei"/>
                <a:ea typeface="Microsoft YaHei"/>
              </a:rPr>
              <a:t>回到</a:t>
            </a:r>
            <a:r>
              <a:rPr lang="en-US" sz="975">
                <a:solidFill>
                  <a:srgbClr val="3A4050"/>
                </a:solidFill>
                <a:latin typeface="Microsoft YaHei"/>
                <a:ea typeface="Microsoft YaHei"/>
              </a:rPr>
              <a:t xml:space="preserve"> 4A</a:t>
            </a:r>
            <a:r>
              <a:rPr lang="zh-CN" sz="975">
                <a:solidFill>
                  <a:srgbClr val="3A4050"/>
                </a:solidFill>
                <a:latin typeface="Microsoft YaHei"/>
                <a:ea typeface="Microsoft YaHei"/>
              </a:rPr>
              <a:t>、成熟度五级、五类失效、十二项评审与结语</a:t>
            </a:r>
            <a:endParaRPr/>
          </a:p>
        </p:txBody>
      </p:sp>
      <p:sp>
        <p:nvSpPr>
          <p:cNvPr id="512" name=""/>
          <p:cNvSpPr/>
          <p:nvPr/>
        </p:nvSpPr>
        <p:spPr>
          <a:xfrm rot="0" flipH="0" flipV="0">
            <a:off x="609600" y="4991100"/>
            <a:ext cx="6019800" cy="628650"/>
          </a:xfrm>
          <a:prstGeom prst="roundRect">
            <a:avLst>
              <a:gd name="adj" fmla="val 6061"/>
            </a:avLst>
          </a:prstGeom>
          <a:solidFill>
            <a:srgbClr val="0F1423"/>
          </a:solidFill>
          <a:ln/>
        </p:spPr>
        <p:txBody>
          <a:bodyPr/>
          <a:p/>
        </p:txBody>
      </p:sp>
      <p:sp>
        <p:nvSpPr>
          <p:cNvPr id="513" name="" descr="{&quot;isTemplate&quot;:true,&quot;type&quot;:&quot;text&quot;}"/>
          <p:cNvSpPr txBox="1"/>
          <p:nvPr/>
        </p:nvSpPr>
        <p:spPr>
          <a:xfrm rot="0" flipH="0" flipV="0">
            <a:off x="762000" y="5229225"/>
            <a:ext cx="1600200" cy="152400"/>
          </a:xfrm>
          <a:prstGeom prst="rect"/>
        </p:spPr>
        <p:txBody>
          <a:bodyPr wrap="none" lIns="0" tIns="0" rIns="0" bIns="0"/>
          <a:p>
            <a:pPr>
              <a:lnSpc>
                <a:spcPct val="100000"/>
              </a:lnSpc>
            </a:pPr>
            <a:r>
              <a:rPr lang="zh-CN" sz="975" b="1">
                <a:solidFill>
                  <a:srgbClr val="FBA15C"/>
                </a:solidFill>
                <a:latin typeface="Microsoft YaHei"/>
                <a:ea typeface="Microsoft YaHei"/>
              </a:rPr>
              <a:t>本册要回答的核心问题</a:t>
            </a:r>
            <a:endParaRPr/>
          </a:p>
        </p:txBody>
      </p:sp>
      <p:sp>
        <p:nvSpPr>
          <p:cNvPr id="514" name="" descr="{&quot;isTemplate&quot;:true,&quot;type&quot;:&quot;text&quot;}"/>
          <p:cNvSpPr txBox="1"/>
          <p:nvPr/>
        </p:nvSpPr>
        <p:spPr>
          <a:xfrm rot="0" flipH="0" flipV="0">
            <a:off x="2495550" y="5086350"/>
            <a:ext cx="3981450" cy="438150"/>
          </a:xfrm>
          <a:prstGeom prst="rect"/>
        </p:spPr>
        <p:txBody>
          <a:bodyPr wrap="square" lIns="0" tIns="0" rIns="0" bIns="0">
            <a:normAutofit/>
          </a:bodyPr>
          <a:p>
            <a:pPr>
              <a:lnSpc>
                <a:spcPct val="145000"/>
              </a:lnSpc>
            </a:pPr>
            <a:r>
              <a:rPr lang="zh-CN" sz="975">
                <a:solidFill>
                  <a:srgbClr val="FFFFFF">
                    <a:alpha val="92000"/>
                  </a:srgbClr>
                </a:solidFill>
                <a:latin typeface="Microsoft YaHei"/>
                <a:ea typeface="Microsoft YaHei"/>
              </a:rPr>
              <a:t>为什么治理的对象从数据变成了策略；标记为什么撤不掉；以及智能体时代多出来的记忆、工具与日志，为什么必须用同一套标记管。</a:t>
            </a:r>
            <a:endParaRPr/>
          </a:p>
        </p:txBody>
      </p:sp>
      <p:sp>
        <p:nvSpPr>
          <p:cNvPr id="515" name=""/>
          <p:cNvSpPr/>
          <p:nvPr/>
        </p:nvSpPr>
        <p:spPr>
          <a:xfrm rot="0" flipH="0" flipV="0">
            <a:off x="6781800" y="1323975"/>
            <a:ext cx="4838700" cy="2038350"/>
          </a:xfrm>
          <a:prstGeom prst="roundRect">
            <a:avLst>
              <a:gd name="adj" fmla="val 1869"/>
            </a:avLst>
          </a:prstGeom>
          <a:solidFill>
            <a:srgbClr val="FFF3EE"/>
          </a:solidFill>
          <a:ln/>
        </p:spPr>
        <p:txBody>
          <a:bodyPr/>
          <a:p/>
        </p:txBody>
      </p:sp>
      <p:sp>
        <p:nvSpPr>
          <p:cNvPr id="516" name=""/>
          <p:cNvSpPr/>
          <p:nvPr/>
        </p:nvSpPr>
        <p:spPr>
          <a:xfrm rot="0" flipH="0" flipV="0">
            <a:off x="6781800" y="1323975"/>
            <a:ext cx="4838700" cy="2038350"/>
          </a:xfrm>
          <a:custGeom>
            <a:pathLst>
              <a:path w="508" h="214">
                <a:moveTo>
                  <a:pt x="4" y="214"/>
                </a:moveTo>
                <a:cubicBezTo>
                  <a:pt x="2" y="214"/>
                  <a:pt x="0" y="212"/>
                  <a:pt x="0" y="210"/>
                </a:cubicBezTo>
                <a:lnTo>
                  <a:pt x="0" y="4"/>
                </a:lnTo>
                <a:cubicBezTo>
                  <a:pt x="0" y="2"/>
                  <a:pt x="2" y="0"/>
                  <a:pt x="4" y="0"/>
                </a:cubicBezTo>
                <a:lnTo>
                  <a:pt x="4" y="214"/>
                </a:lnTo>
                <a:close/>
              </a:path>
            </a:pathLst>
          </a:custGeom>
          <a:solidFill>
            <a:srgbClr val="FA4F24"/>
          </a:solidFill>
          <a:ln/>
        </p:spPr>
        <p:txBody>
          <a:bodyPr/>
          <a:p/>
        </p:txBody>
      </p:sp>
      <p:sp>
        <p:nvSpPr>
          <p:cNvPr id="517" name="" descr="{&quot;isTemplate&quot;:true,&quot;type&quot;:&quot;text&quot;}"/>
          <p:cNvSpPr txBox="1"/>
          <p:nvPr/>
        </p:nvSpPr>
        <p:spPr>
          <a:xfrm rot="0" flipH="0" flipV="0">
            <a:off x="6934200" y="1438275"/>
            <a:ext cx="4495800" cy="171450"/>
          </a:xfrm>
          <a:prstGeom prst="rect"/>
        </p:spPr>
        <p:txBody>
          <a:bodyPr wrap="none" lIns="0" tIns="0" rIns="0" bIns="0"/>
          <a:p>
            <a:pPr>
              <a:lnSpc>
                <a:spcPct val="100000"/>
              </a:lnSpc>
            </a:pPr>
            <a:r>
              <a:rPr lang="zh-CN" sz="1125" b="1">
                <a:solidFill>
                  <a:srgbClr val="C43A17"/>
                </a:solidFill>
                <a:latin typeface="Microsoft YaHei"/>
                <a:ea typeface="Microsoft YaHei"/>
              </a:rPr>
              <a:t>九册的关系：一条链路，不是九本独立册子</a:t>
            </a:r>
            <a:endParaRPr/>
          </a:p>
        </p:txBody>
      </p:sp>
      <p:sp>
        <p:nvSpPr>
          <p:cNvPr id="518" name="" descr="{&quot;isTemplate&quot;:true,&quot;type&quot;:&quot;text&quot;}"/>
          <p:cNvSpPr txBox="1"/>
          <p:nvPr/>
        </p:nvSpPr>
        <p:spPr>
          <a:xfrm rot="0" flipH="0" flipV="0">
            <a:off x="6934200" y="1800225"/>
            <a:ext cx="1600200" cy="152400"/>
          </a:xfrm>
          <a:prstGeom prst="rect"/>
        </p:spPr>
        <p:txBody>
          <a:bodyPr wrap="none" lIns="0" tIns="0" rIns="0" bIns="0"/>
          <a:p>
            <a:pPr>
              <a:lnSpc>
                <a:spcPct val="100000"/>
              </a:lnSpc>
            </a:pPr>
            <a:r>
              <a:rPr lang="en-US" sz="975" b="1">
                <a:solidFill>
                  <a:srgbClr val="8A8F99"/>
                </a:solidFill>
                <a:latin typeface="Microsoft YaHei"/>
                <a:ea typeface="Microsoft YaHei"/>
              </a:rPr>
              <a:t>DA / BA / AA / TA</a:t>
            </a:r>
            <a:endParaRPr/>
          </a:p>
        </p:txBody>
      </p:sp>
      <p:sp>
        <p:nvSpPr>
          <p:cNvPr id="519" name="" descr="{&quot;isTemplate&quot;:true,&quot;type&quot;:&quot;text&quot;}"/>
          <p:cNvSpPr txBox="1"/>
          <p:nvPr/>
        </p:nvSpPr>
        <p:spPr>
          <a:xfrm rot="0" flipH="0" flipV="0">
            <a:off x="8629650" y="1809750"/>
            <a:ext cx="2800350" cy="142875"/>
          </a:xfrm>
          <a:prstGeom prst="rect"/>
        </p:spPr>
        <p:txBody>
          <a:bodyPr wrap="none" lIns="0" tIns="0" rIns="0" bIns="0"/>
          <a:p>
            <a:pPr>
              <a:lnSpc>
                <a:spcPct val="100000"/>
              </a:lnSpc>
            </a:pPr>
            <a:r>
              <a:rPr lang="zh-CN" sz="900">
                <a:solidFill>
                  <a:srgbClr val="5A6072"/>
                </a:solidFill>
                <a:latin typeface="Microsoft YaHei"/>
                <a:ea typeface="Microsoft YaHei"/>
              </a:rPr>
              <a:t>四层架构，方法底座</a:t>
            </a:r>
            <a:endParaRPr/>
          </a:p>
        </p:txBody>
      </p:sp>
      <p:sp>
        <p:nvSpPr>
          <p:cNvPr id="520" name=""/>
          <p:cNvSpPr/>
          <p:nvPr/>
        </p:nvSpPr>
        <p:spPr>
          <a:xfrm rot="0" flipH="0" flipV="0">
            <a:off x="6934200" y="2066925"/>
            <a:ext cx="4495800" cy="409575"/>
          </a:xfrm>
          <a:custGeom>
            <a:pathLst>
              <a:path w="472" h="43">
                <a:moveTo>
                  <a:pt x="0" y="0"/>
                </a:moveTo>
                <a:lnTo>
                  <a:pt x="472" y="0"/>
                </a:lnTo>
                <a:lnTo>
                  <a:pt x="472" y="1"/>
                </a:lnTo>
                <a:lnTo>
                  <a:pt x="0" y="1"/>
                </a:lnTo>
                <a:close/>
              </a:path>
            </a:pathLst>
          </a:custGeom>
          <a:solidFill>
            <a:srgbClr val="FBA15C"/>
          </a:solidFill>
          <a:ln/>
        </p:spPr>
        <p:txBody>
          <a:bodyPr/>
          <a:p/>
        </p:txBody>
      </p:sp>
      <p:sp>
        <p:nvSpPr>
          <p:cNvPr id="521" name="" descr="{&quot;isTemplate&quot;:true,&quot;type&quot;:&quot;text&quot;}"/>
          <p:cNvSpPr txBox="1"/>
          <p:nvPr/>
        </p:nvSpPr>
        <p:spPr>
          <a:xfrm rot="0" flipH="0" flipV="0">
            <a:off x="6934200" y="2200275"/>
            <a:ext cx="1600200" cy="152400"/>
          </a:xfrm>
          <a:prstGeom prst="rect"/>
        </p:spPr>
        <p:txBody>
          <a:bodyPr wrap="none" lIns="0" tIns="0" rIns="0" bIns="0"/>
          <a:p>
            <a:pPr>
              <a:lnSpc>
                <a:spcPct val="100000"/>
              </a:lnSpc>
            </a:pPr>
            <a:r>
              <a:rPr lang="en-US" sz="975" b="1">
                <a:solidFill>
                  <a:srgbClr val="F87D2F"/>
                </a:solidFill>
                <a:latin typeface="Microsoft YaHei"/>
                <a:ea typeface="Microsoft YaHei"/>
              </a:rPr>
              <a:t>Ontology</a:t>
            </a:r>
            <a:endParaRPr/>
          </a:p>
        </p:txBody>
      </p:sp>
      <p:sp>
        <p:nvSpPr>
          <p:cNvPr id="522" name="" descr="{&quot;isTemplate&quot;:true,&quot;type&quot;:&quot;text&quot;}"/>
          <p:cNvSpPr txBox="1"/>
          <p:nvPr/>
        </p:nvSpPr>
        <p:spPr>
          <a:xfrm rot="0" flipH="0" flipV="0">
            <a:off x="8629650" y="2200275"/>
            <a:ext cx="2800350" cy="142875"/>
          </a:xfrm>
          <a:prstGeom prst="rect"/>
        </p:spPr>
        <p:txBody>
          <a:bodyPr wrap="none" lIns="0" tIns="0" rIns="0" bIns="0"/>
          <a:p>
            <a:pPr>
              <a:lnSpc>
                <a:spcPct val="100000"/>
              </a:lnSpc>
            </a:pPr>
            <a:r>
              <a:rPr lang="zh-CN" sz="900">
                <a:solidFill>
                  <a:srgbClr val="5A6072"/>
                </a:solidFill>
                <a:latin typeface="Microsoft YaHei"/>
                <a:ea typeface="Microsoft YaHei"/>
              </a:rPr>
              <a:t>语义与动力学合一，汇流点</a:t>
            </a:r>
            <a:endParaRPr/>
          </a:p>
        </p:txBody>
      </p:sp>
      <p:sp>
        <p:nvSpPr>
          <p:cNvPr id="523" name=""/>
          <p:cNvSpPr/>
          <p:nvPr/>
        </p:nvSpPr>
        <p:spPr>
          <a:xfrm rot="0" flipH="0" flipV="0">
            <a:off x="6934200" y="2466975"/>
            <a:ext cx="4495800" cy="400050"/>
          </a:xfrm>
          <a:custGeom>
            <a:pathLst>
              <a:path w="472" h="42">
                <a:moveTo>
                  <a:pt x="0" y="0"/>
                </a:moveTo>
                <a:lnTo>
                  <a:pt x="472" y="0"/>
                </a:lnTo>
                <a:lnTo>
                  <a:pt x="472" y="1"/>
                </a:lnTo>
                <a:lnTo>
                  <a:pt x="0" y="1"/>
                </a:lnTo>
                <a:close/>
              </a:path>
            </a:pathLst>
          </a:custGeom>
          <a:solidFill>
            <a:srgbClr val="FBA15C"/>
          </a:solidFill>
          <a:ln/>
        </p:spPr>
        <p:txBody>
          <a:bodyPr/>
          <a:p/>
        </p:txBody>
      </p:sp>
      <p:sp>
        <p:nvSpPr>
          <p:cNvPr id="524" name="" descr="{&quot;isTemplate&quot;:true,&quot;type&quot;:&quot;text&quot;}"/>
          <p:cNvSpPr txBox="1"/>
          <p:nvPr/>
        </p:nvSpPr>
        <p:spPr>
          <a:xfrm rot="0" flipH="0" flipV="0">
            <a:off x="6934200" y="2590800"/>
            <a:ext cx="1600200" cy="152400"/>
          </a:xfrm>
          <a:prstGeom prst="rect"/>
        </p:spPr>
        <p:txBody>
          <a:bodyPr wrap="none" lIns="0" tIns="0" rIns="0" bIns="0"/>
          <a:p>
            <a:pPr>
              <a:lnSpc>
                <a:spcPct val="100000"/>
              </a:lnSpc>
            </a:pPr>
            <a:r>
              <a:rPr lang="zh-CN" sz="975" b="1">
                <a:solidFill>
                  <a:srgbClr val="FA4F24"/>
                </a:solidFill>
                <a:latin typeface="Microsoft YaHei"/>
                <a:ea typeface="Microsoft YaHei"/>
              </a:rPr>
              <a:t>管道</a:t>
            </a:r>
            <a:r>
              <a:rPr lang="en-US" sz="975" b="1">
                <a:solidFill>
                  <a:srgbClr val="FA4F24"/>
                </a:solidFill>
                <a:latin typeface="Microsoft YaHei"/>
                <a:ea typeface="Microsoft YaHei"/>
              </a:rPr>
              <a:t xml:space="preserve"> / </a:t>
            </a:r>
            <a:r>
              <a:rPr lang="zh-CN" sz="975" b="1">
                <a:solidFill>
                  <a:srgbClr val="FA4F24"/>
                </a:solidFill>
                <a:latin typeface="Microsoft YaHei"/>
                <a:ea typeface="Microsoft YaHei"/>
              </a:rPr>
              <a:t>知识库</a:t>
            </a:r>
            <a:r>
              <a:rPr lang="en-US" sz="975" b="1">
                <a:solidFill>
                  <a:srgbClr val="FA4F24"/>
                </a:solidFill>
                <a:latin typeface="Microsoft YaHei"/>
                <a:ea typeface="Microsoft YaHei"/>
              </a:rPr>
              <a:t xml:space="preserve"> / Agent</a:t>
            </a:r>
            <a:endParaRPr/>
          </a:p>
        </p:txBody>
      </p:sp>
      <p:sp>
        <p:nvSpPr>
          <p:cNvPr id="525" name="" descr="{&quot;isTemplate&quot;:true,&quot;type&quot;:&quot;text&quot;}"/>
          <p:cNvSpPr txBox="1"/>
          <p:nvPr/>
        </p:nvSpPr>
        <p:spPr>
          <a:xfrm rot="0" flipH="0" flipV="0">
            <a:off x="8629650" y="2600325"/>
            <a:ext cx="2800350" cy="142875"/>
          </a:xfrm>
          <a:prstGeom prst="rect"/>
        </p:spPr>
        <p:txBody>
          <a:bodyPr wrap="none" lIns="0" tIns="0" rIns="0" bIns="0"/>
          <a:p>
            <a:pPr>
              <a:lnSpc>
                <a:spcPct val="100000"/>
              </a:lnSpc>
            </a:pPr>
            <a:r>
              <a:rPr lang="zh-CN" sz="900">
                <a:solidFill>
                  <a:srgbClr val="5A6072"/>
                </a:solidFill>
                <a:latin typeface="Microsoft YaHei"/>
                <a:ea typeface="Microsoft YaHei"/>
              </a:rPr>
              <a:t>进、出、供依据、做判断</a:t>
            </a:r>
            <a:endParaRPr/>
          </a:p>
        </p:txBody>
      </p:sp>
      <p:sp>
        <p:nvSpPr>
          <p:cNvPr id="526" name=""/>
          <p:cNvSpPr/>
          <p:nvPr/>
        </p:nvSpPr>
        <p:spPr>
          <a:xfrm rot="0" flipH="0" flipV="0">
            <a:off x="6934200" y="2857500"/>
            <a:ext cx="4495800" cy="400050"/>
          </a:xfrm>
          <a:custGeom>
            <a:pathLst>
              <a:path w="472" h="42">
                <a:moveTo>
                  <a:pt x="0" y="0"/>
                </a:moveTo>
                <a:lnTo>
                  <a:pt x="472" y="0"/>
                </a:lnTo>
                <a:lnTo>
                  <a:pt x="472" y="1"/>
                </a:lnTo>
                <a:lnTo>
                  <a:pt x="0" y="1"/>
                </a:lnTo>
                <a:close/>
              </a:path>
            </a:pathLst>
          </a:custGeom>
          <a:solidFill>
            <a:srgbClr val="FBA15C"/>
          </a:solidFill>
          <a:ln/>
        </p:spPr>
        <p:txBody>
          <a:bodyPr/>
          <a:p/>
        </p:txBody>
      </p:sp>
      <p:sp>
        <p:nvSpPr>
          <p:cNvPr id="527" name="" descr="{&quot;isTemplate&quot;:true,&quot;type&quot;:&quot;text&quot;}"/>
          <p:cNvSpPr txBox="1"/>
          <p:nvPr/>
        </p:nvSpPr>
        <p:spPr>
          <a:xfrm rot="0" flipH="0" flipV="0">
            <a:off x="6934200" y="2981325"/>
            <a:ext cx="1600200" cy="152400"/>
          </a:xfrm>
          <a:prstGeom prst="rect"/>
        </p:spPr>
        <p:txBody>
          <a:bodyPr wrap="none" lIns="0" tIns="0" rIns="0" bIns="0"/>
          <a:p>
            <a:pPr>
              <a:lnSpc>
                <a:spcPct val="100000"/>
              </a:lnSpc>
            </a:pPr>
            <a:r>
              <a:rPr lang="zh-CN" sz="975" b="1">
                <a:solidFill>
                  <a:srgbClr val="0F1423"/>
                </a:solidFill>
                <a:latin typeface="Microsoft YaHei"/>
                <a:ea typeface="Microsoft YaHei"/>
              </a:rPr>
              <a:t>数据治理</a:t>
            </a:r>
            <a:endParaRPr/>
          </a:p>
        </p:txBody>
      </p:sp>
      <p:sp>
        <p:nvSpPr>
          <p:cNvPr id="528" name="" descr="{&quot;isTemplate&quot;:true,&quot;type&quot;:&quot;text&quot;}"/>
          <p:cNvSpPr txBox="1"/>
          <p:nvPr/>
        </p:nvSpPr>
        <p:spPr>
          <a:xfrm rot="0" flipH="0" flipV="0">
            <a:off x="8629650" y="2990850"/>
            <a:ext cx="2800350" cy="142875"/>
          </a:xfrm>
          <a:prstGeom prst="rect"/>
        </p:spPr>
        <p:txBody>
          <a:bodyPr wrap="none" lIns="0" tIns="0" rIns="0" bIns="0"/>
          <a:p>
            <a:pPr>
              <a:lnSpc>
                <a:spcPct val="100000"/>
              </a:lnSpc>
            </a:pPr>
            <a:r>
              <a:rPr lang="zh-CN" sz="900">
                <a:solidFill>
                  <a:srgbClr val="5A6072"/>
                </a:solidFill>
                <a:latin typeface="Microsoft YaHei"/>
                <a:ea typeface="Microsoft YaHei"/>
              </a:rPr>
              <a:t>给前面所有环节配护栏与审计</a:t>
            </a:r>
            <a:endParaRPr/>
          </a:p>
        </p:txBody>
      </p:sp>
      <p:sp>
        <p:nvSpPr>
          <p:cNvPr id="529" name=""/>
          <p:cNvSpPr/>
          <p:nvPr/>
        </p:nvSpPr>
        <p:spPr>
          <a:xfrm rot="0" flipH="0" flipV="0">
            <a:off x="6743700" y="3438525"/>
            <a:ext cx="4838700" cy="2181225"/>
          </a:xfrm>
          <a:prstGeom prst="roundRect">
            <a:avLst>
              <a:gd name="adj" fmla="val 1747"/>
            </a:avLst>
          </a:prstGeom>
          <a:solidFill>
            <a:srgbClr val="0F1423"/>
          </a:solidFill>
          <a:ln/>
        </p:spPr>
        <p:txBody>
          <a:bodyPr/>
          <a:p/>
        </p:txBody>
      </p:sp>
      <p:sp>
        <p:nvSpPr>
          <p:cNvPr id="530" name="" descr="{&quot;isTemplate&quot;:true,&quot;type&quot;:&quot;text&quot;}"/>
          <p:cNvSpPr txBox="1"/>
          <p:nvPr/>
        </p:nvSpPr>
        <p:spPr>
          <a:xfrm rot="0" flipH="0" flipV="0">
            <a:off x="6896100" y="4171950"/>
            <a:ext cx="4533900" cy="161925"/>
          </a:xfrm>
          <a:prstGeom prst="rect"/>
        </p:spPr>
        <p:txBody>
          <a:bodyPr wrap="none" lIns="0" tIns="0" rIns="0" bIns="0"/>
          <a:p>
            <a:pPr>
              <a:lnSpc>
                <a:spcPct val="100000"/>
              </a:lnSpc>
            </a:pPr>
            <a:r>
              <a:rPr lang="zh-CN" sz="1050" b="1">
                <a:solidFill>
                  <a:srgbClr val="FBA15C"/>
                </a:solidFill>
                <a:latin typeface="Microsoft YaHei"/>
                <a:ea typeface="Microsoft YaHei"/>
              </a:rPr>
              <a:t>与管道册的关系</a:t>
            </a:r>
            <a:endParaRPr/>
          </a:p>
        </p:txBody>
      </p:sp>
      <p:sp>
        <p:nvSpPr>
          <p:cNvPr id="531" name="" descr="{&quot;isTemplate&quot;:true,&quot;type&quot;:&quot;text&quot;}"/>
          <p:cNvSpPr txBox="1"/>
          <p:nvPr/>
        </p:nvSpPr>
        <p:spPr>
          <a:xfrm rot="0" flipH="0" flipV="0">
            <a:off x="6896100" y="4410075"/>
            <a:ext cx="4533900" cy="476250"/>
          </a:xfrm>
          <a:prstGeom prst="rect"/>
        </p:spPr>
        <p:txBody>
          <a:bodyPr wrap="square" lIns="0" tIns="0" rIns="0" bIns="0">
            <a:normAutofit/>
          </a:bodyPr>
          <a:p>
            <a:pPr>
              <a:lnSpc>
                <a:spcPct val="160000"/>
              </a:lnSpc>
            </a:pPr>
            <a:r>
              <a:rPr lang="zh-CN" sz="975">
                <a:solidFill>
                  <a:srgbClr val="FFFFFF">
                    <a:alpha val="90000"/>
                  </a:srgbClr>
                </a:solidFill>
                <a:latin typeface="Microsoft YaHei"/>
                <a:ea typeface="Microsoft YaHei"/>
              </a:rPr>
              <a:t>管道册讲标记怎么随血缘自动传播、传播怎么被中断、降级为什么要双人审批；这一册把整套治理机制从头讲一遍，并把治理与四方关系一起收口。</a:t>
            </a:r>
            <a:endParaRPr/>
          </a:p>
        </p:txBody>
      </p:sp>
      <p:sp>
        <p:nvSpPr>
          <p:cNvPr id="532"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533" name=""/>
          <p:cNvSpPr/>
          <p:nvPr/>
        </p:nvSpPr>
        <p:spPr>
          <a:xfrm rot="0" flipH="0" flipV="0">
            <a:off x="609600" y="5953125"/>
            <a:ext cx="95250" cy="95250"/>
          </a:xfrm>
          <a:prstGeom prst="rect">
            <a:avLst/>
          </a:prstGeom>
          <a:solidFill>
            <a:srgbClr val="FA4F24"/>
          </a:solidFill>
          <a:ln/>
        </p:spPr>
        <p:txBody>
          <a:bodyPr/>
          <a:p/>
        </p:txBody>
      </p:sp>
      <p:sp>
        <p:nvSpPr>
          <p:cNvPr id="534"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535"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02 / 30</a:t>
            </a:r>
            <a:endParaRPr/>
          </a:p>
        </p:txBody>
      </p:sp>
    </p:spTree>
  </p:cSld>
</p:sld>
</file>

<file path=ppt/slides/slide3.xml><?xml version="1.0" encoding="utf-8"?>
<p:sld xmlns:p="http://schemas.openxmlformats.org/presentationml/2006/main" xmlns:a="http://schemas.openxmlformats.org/drawingml/2006/main">
  <p:cSld>
    <p:spTree>
      <p:nvGrpSpPr>
        <p:cNvPr id="1106" name="" descr="&lt;Slide style={{ width: 1280, height: 720, background: '#FFFFFF', padding: '24px 64px 0' }}&gt;&#10;    &lt;Box style={{ height: 96, flexDirection: 'column', justifyContent: 'flex-start' }}&gt;&#10;      &lt;Text style={{ fontSize: 32, fontWeight: 'bold', color: '#0F1423' }}&gt;&#10;        序论：AI 时代&lt;span style={{ color: '#FA4F24' }}&gt;数据治理的新含义&lt;/span&gt;&#10;      &lt;/Text&gt;&#10;      &lt;Text style={{ fontSize: 20, color: '#8A8F99', marginTop: 8 }}&gt;&#10;        过去治理的对象是数据，现在治理的对象是「策略、动作、记忆与日志」——它们同样会泄露、同样需要追责&#10;      &lt;/Text&gt;&#10;    &lt;/Box&gt;&#10;    &lt;Box style={{ height: 1, background: '#E8E8E8' }} /&gt;&#10;&#10;    &lt;Box style={{ paddingTop: 14, paddingBottom: 8, height: 479, flexDirection: 'row', gap: 12 }}&gt;&#10;      &lt;Box style={{ width: 400, background: '#0F1423', borderRadius: 4, padding: '18px 20px', flexDirection: 'column' }}&gt;&#10;        &lt;Text style={{ fontSize: 16, fontWeight: 'bold', color: '#FBA15C' }}&gt;治理对象的三次扩张&lt;/Text&gt;&#10;        &lt;Box style={{ height: 1, background: 'rgba(255,255,255,0.14)', marginTop: 12, marginBottom: 12 }} /&gt;&#10;        {[&#10;          { t: '一、从数据到数据流', d: '早期只管库里的表，现在要管数据在管道里怎么流动、被谁打上什么标记、流出去之后变成什么' },&#10;          { t: '二、从数据到语义', d: '本体里的对象类型、链接、函数与动作，本身也是治理对象——它们决定了数据能变成什么样的现实动作' },&#10;          { t: '三、从数据到智能体', d: '智能体的记忆、工具调用、上下文片段与运行日志，都是数据，也都是泄露通道，传统那套管不到' },&#10;        ].map((it, i) =&gt; (&#10;          &lt;Box key={it.t} style={{ flex: 1, flexDirection: 'column', justifyContent: 'center' }}&gt;&#10;            &lt;Box style={{ flexDirection: 'row', alignItems: 'center', gap: 8 }}&gt;&#10;              &lt;Box style={{ width: 20, height: 20, background: '#FA4F24', alignItems: 'center', justifyContent: 'center' }}&gt;&#10;                &lt;Text style={{ fontSize: 12, fontWeight: 'bold', color: '#FFFFFF' }}&gt;{String(i + 1)}&lt;/Text&gt;&#10;              &lt;/Box&gt;&#10;              &lt;Text style={{ fontSize: 14, fontWeight: 'bold', color: '#FFFFFF' }}&gt;{it.t}&lt;/Text&gt;&#10;            &lt;/Box&gt;&#10;            &lt;Text style={{ fontSize: 12, color: 'rgba(255,255,255,0.72)', marginTop: 6, lineHeight: 1.55 }}&gt;{it.d}&lt;/Text&gt;&#10;          &lt;/Box&gt;&#10;        ))}&#10;      &lt;/Box&gt;&#10;&#10;      &lt;Box style={{ flex: 1, flexDirection: 'column', gap: 8 }}&gt;&#10;        &lt;Box style={{ height: 176, background: '#F7F7F8', borderRadius: 4, padding: '14px 18px', flexDirection: 'column' }}&gt;&#10;          &lt;Text style={{ fontSize: 15, fontWeight: 'bold', color: '#0F1423', marginBottom: 10 }}&gt;四类新对象，各自带一条治理要求&lt;/Text&gt;&#10;          {[&#10;            { b: '策略', t: '权限规则、标记、检查点必须像数据一样有版本、有测试、有回退', c: '#FA4F24' },&#10;            { b: '动作', t: '每一次写回都要留动作日志，记录谁、何时、改了哪个对象的哪个属性', c: '#F87D2F' },&#10;            { b: '记忆', t: '智能体的工作记忆与情节记忆按同样的标记分层，不能只在入口打一次', c: '#E0651A' },&#10;            { b: '日志', t: '日志本身受标记管辖，日志访问权限要能按项目、工作流、智能体分别控制', c: '#C43A17' },&#10;          ].map((it, i) =&gt; (&#10;            &lt;Box key={it.b} style={{ flex: 1, flexDirection: 'row', alignItems: 'center', gap: 12, borderTop: i === 0 ? 'none' : '1px solid #E8E8E8' }}&gt;&#10;              &lt;Box style={{ width: 56, height: 26, background: it.c, alignItems: 'center', justifyContent: 'center' }}&gt;&#10;                &lt;Text style={{ fontSize: 12.5, fontWeight: 'bold', color: '#FFFFFF' }}&gt;{it.b}&lt;/Text&gt;&#10;              &lt;/Box&gt;&#10;              &lt;Text style={{ fontSize: 12, color: '#3A4050', flex: 1, lineHeight: 1.45 }}&gt;{it.t}&lt;/Text&gt;&#10;            &lt;/Box&gt;&#10;          ))}&#10;        &lt;/Box&gt;&#10;&#10;        &lt;Box style={{ height: 138, background: '#FFF3EE', borderRadius: 4, borderLeft: '4px solid #FA4F24', padding: '13px 18px', flexDirection: 'column' }}&gt;&#10;          &lt;Text style={{ fontSize: 15, fontWeight: 'bold', color: '#C43A17' }}&gt;为什么传统那套不管用了&lt;/Text&gt;&#10;          &lt;Text style={{ fontSize: 12.5, color: '#3A4050', marginTop: 8, lineHeight: 1.6 }}&gt;&#10;            传统治理假设「数据被人看」，所以只需管住查询入口。智能体时代的问题是：智能体会把数据读进上下文、拼进提示词、发给出站接口、写进记忆。这四条路径传统权限模型一条都看不见。&#10;          &lt;/Text&gt;&#10;        &lt;/Box&gt;&#10;&#10;        &lt;Box style={{ flex: 1, background: '#0F1423', borderRadius: 4, padding: '13px 18px', flexDirection: 'column', justifyContent: 'center' }}&gt;&#10;          &lt;Text style={{ fontSize: 14, fontWeight: 'bold', color: '#FBA15C' }}&gt;本册的一句话主张&lt;/Text&gt;&#10;          &lt;Text style={{ fontSize: 15, color: '#FFFFFF', marginTop: 8, lineHeight: 1.5 }}&gt;&#10;            治理不是把门锁好，而是让每一次开门都有理由、有记录、有可撤销的版本。&#10;          &lt;/Text&gt;&#10;        &lt;/Box&gt;&#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03 / 30&lt;/Text&gt;&#10;    &lt;/Box&gt;&#10;&lt;/Slide&gt;&#10;"/>
        <p:cNvGrpSpPr/>
        <p:nvPr/>
      </p:nvGrpSpPr>
      <p:grpSpPr>
        <a:xfrm>
          <a:off x="0" y="0"/>
          <a:ext cx="0" cy="0"/>
          <a:chOff x="0" y="0"/>
          <a:chExt cx="0" cy="0"/>
        </a:xfrm>
      </p:grpSpPr>
      <p:sp>
        <p:nvSpPr>
          <p:cNvPr id="1107" name=""/>
          <p:cNvSpPr/>
          <p:nvPr/>
        </p:nvSpPr>
        <p:spPr>
          <a:xfrm rot="0" flipH="0" flipV="0">
            <a:off x="0" y="0"/>
            <a:ext cx="12192000" cy="6858000"/>
          </a:xfrm>
          <a:prstGeom prst="rect">
            <a:avLst/>
          </a:prstGeom>
          <a:solidFill>
            <a:srgbClr val="FFFFFF"/>
          </a:solidFill>
          <a:ln/>
        </p:spPr>
        <p:txBody>
          <a:bodyPr/>
          <a:p/>
        </p:txBody>
      </p:sp>
      <p:sp>
        <p:nvSpPr>
          <p:cNvPr id="1108"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序论：</a:t>
            </a:r>
            <a:r>
              <a:rPr lang="en-US" sz="2400" b="1">
                <a:solidFill>
                  <a:srgbClr val="0F1423"/>
                </a:solidFill>
                <a:latin typeface="Microsoft YaHei"/>
                <a:ea typeface="Microsoft YaHei"/>
              </a:rPr>
              <a:t xml:space="preserve">AI </a:t>
            </a:r>
            <a:r>
              <a:rPr lang="zh-CN" sz="2400" b="1">
                <a:solidFill>
                  <a:srgbClr val="0F1423"/>
                </a:solidFill>
                <a:latin typeface="Microsoft YaHei"/>
                <a:ea typeface="Microsoft YaHei"/>
              </a:rPr>
              <a:t>时代</a:t>
            </a:r>
            <a:r>
              <a:rPr lang="zh-CN" sz="2400" b="1">
                <a:solidFill>
                  <a:srgbClr val="FA4F24"/>
                </a:solidFill>
                <a:latin typeface="Microsoft YaHei"/>
                <a:ea typeface="Microsoft YaHei"/>
              </a:rPr>
              <a:t>数据治理的新含义</a:t>
            </a:r>
            <a:endParaRPr/>
          </a:p>
        </p:txBody>
      </p:sp>
      <p:sp>
        <p:nvSpPr>
          <p:cNvPr id="1109"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过去治理的对象是数据，现在治理的对象是「策略、动作、记忆与日志」——它们同样会泄露、同样需要追责</a:t>
            </a:r>
            <a:endParaRPr/>
          </a:p>
        </p:txBody>
      </p:sp>
      <p:sp>
        <p:nvSpPr>
          <p:cNvPr id="1110" name=""/>
          <p:cNvSpPr/>
          <p:nvPr/>
        </p:nvSpPr>
        <p:spPr>
          <a:xfrm rot="0" flipH="0" flipV="0">
            <a:off x="609600" y="1143000"/>
            <a:ext cx="10972800" cy="9525"/>
          </a:xfrm>
          <a:prstGeom prst="rect">
            <a:avLst/>
          </a:prstGeom>
          <a:solidFill>
            <a:srgbClr val="E8E8E8"/>
          </a:solidFill>
          <a:ln/>
        </p:spPr>
        <p:txBody>
          <a:bodyPr/>
          <a:p/>
        </p:txBody>
      </p:sp>
      <p:sp>
        <p:nvSpPr>
          <p:cNvPr id="1111" name=""/>
          <p:cNvSpPr/>
          <p:nvPr/>
        </p:nvSpPr>
        <p:spPr>
          <a:xfrm rot="0" flipH="0" flipV="0">
            <a:off x="609600" y="1285875"/>
            <a:ext cx="3810000" cy="4352925"/>
          </a:xfrm>
          <a:prstGeom prst="roundRect">
            <a:avLst>
              <a:gd name="adj" fmla="val 1000"/>
            </a:avLst>
          </a:prstGeom>
          <a:solidFill>
            <a:srgbClr val="0F1423"/>
          </a:solidFill>
          <a:ln/>
        </p:spPr>
        <p:txBody>
          <a:bodyPr/>
          <a:p/>
        </p:txBody>
      </p:sp>
      <p:sp>
        <p:nvSpPr>
          <p:cNvPr id="1112" name="" descr="{&quot;isTemplate&quot;:true,&quot;type&quot;:&quot;text&quot;}"/>
          <p:cNvSpPr txBox="1"/>
          <p:nvPr/>
        </p:nvSpPr>
        <p:spPr>
          <a:xfrm rot="0" flipH="0" flipV="0">
            <a:off x="800100" y="1457325"/>
            <a:ext cx="3429000" cy="190500"/>
          </a:xfrm>
          <a:prstGeom prst="rect"/>
        </p:spPr>
        <p:txBody>
          <a:bodyPr wrap="none" lIns="0" tIns="0" rIns="0" bIns="0"/>
          <a:p>
            <a:pPr>
              <a:lnSpc>
                <a:spcPct val="100000"/>
              </a:lnSpc>
            </a:pPr>
            <a:r>
              <a:rPr lang="zh-CN" sz="1200" b="1">
                <a:solidFill>
                  <a:srgbClr val="FBA15C"/>
                </a:solidFill>
                <a:latin typeface="Microsoft YaHei"/>
                <a:ea typeface="Microsoft YaHei"/>
              </a:rPr>
              <a:t>治理对象的三次扩张</a:t>
            </a:r>
            <a:endParaRPr/>
          </a:p>
        </p:txBody>
      </p:sp>
      <p:sp>
        <p:nvSpPr>
          <p:cNvPr id="1113" name=""/>
          <p:cNvSpPr/>
          <p:nvPr/>
        </p:nvSpPr>
        <p:spPr>
          <a:xfrm rot="0" flipH="0" flipV="0">
            <a:off x="800100" y="1762125"/>
            <a:ext cx="3429000" cy="9525"/>
          </a:xfrm>
          <a:prstGeom prst="rect">
            <a:avLst/>
          </a:prstGeom>
          <a:solidFill>
            <a:srgbClr val="FFFFFF">
              <a:alpha val="14000"/>
            </a:srgbClr>
          </a:solidFill>
          <a:ln/>
        </p:spPr>
        <p:txBody>
          <a:bodyPr/>
          <a:p/>
        </p:txBody>
      </p:sp>
      <p:sp>
        <p:nvSpPr>
          <p:cNvPr id="1114" name=""/>
          <p:cNvSpPr/>
          <p:nvPr/>
        </p:nvSpPr>
        <p:spPr>
          <a:xfrm rot="0" flipH="0" flipV="0">
            <a:off x="800100" y="2143125"/>
            <a:ext cx="190500" cy="190500"/>
          </a:xfrm>
          <a:prstGeom prst="rect">
            <a:avLst/>
          </a:prstGeom>
          <a:solidFill>
            <a:srgbClr val="FA4F24"/>
          </a:solidFill>
          <a:ln/>
        </p:spPr>
        <p:txBody>
          <a:bodyPr/>
          <a:p/>
        </p:txBody>
      </p:sp>
      <p:sp>
        <p:nvSpPr>
          <p:cNvPr id="1115" name="" descr="{&quot;isTemplate&quot;:true,&quot;type&quot;:&quot;text&quot;}"/>
          <p:cNvSpPr txBox="1"/>
          <p:nvPr/>
        </p:nvSpPr>
        <p:spPr>
          <a:xfrm rot="0" flipH="0" flipV="0">
            <a:off x="857250" y="2171700"/>
            <a:ext cx="76200" cy="142875"/>
          </a:xfrm>
          <a:prstGeom prst="rect"/>
        </p:spPr>
        <p:txBody>
          <a:bodyPr wrap="none" lIns="0" tIns="0" rIns="0" bIns="0"/>
          <a:p>
            <a:pPr>
              <a:lnSpc>
                <a:spcPct val="100000"/>
              </a:lnSpc>
            </a:pPr>
            <a:r>
              <a:rPr lang="en-US" sz="900" b="1">
                <a:solidFill>
                  <a:srgbClr val="FFFFFF"/>
                </a:solidFill>
                <a:latin typeface="Microsoft YaHei"/>
                <a:ea typeface="Microsoft YaHei"/>
              </a:rPr>
              <a:t>1</a:t>
            </a:r>
            <a:endParaRPr/>
          </a:p>
        </p:txBody>
      </p:sp>
      <p:sp>
        <p:nvSpPr>
          <p:cNvPr id="1116" name="" descr="{&quot;isTemplate&quot;:true,&quot;type&quot;:&quot;text&quot;}"/>
          <p:cNvSpPr txBox="1"/>
          <p:nvPr/>
        </p:nvSpPr>
        <p:spPr>
          <a:xfrm rot="0" flipH="0" flipV="0">
            <a:off x="1066800" y="2162175"/>
            <a:ext cx="1200150" cy="161925"/>
          </a:xfrm>
          <a:prstGeom prst="rect"/>
        </p:spPr>
        <p:txBody>
          <a:bodyPr wrap="none" lIns="0" tIns="0" rIns="0" bIns="0"/>
          <a:p>
            <a:pPr>
              <a:lnSpc>
                <a:spcPct val="100000"/>
              </a:lnSpc>
            </a:pPr>
            <a:r>
              <a:rPr lang="zh-CN" sz="1050" b="1">
                <a:solidFill>
                  <a:srgbClr val="FFFFFF"/>
                </a:solidFill>
                <a:latin typeface="Microsoft YaHei"/>
                <a:ea typeface="Microsoft YaHei"/>
              </a:rPr>
              <a:t>一、从数据到数据流</a:t>
            </a:r>
            <a:endParaRPr/>
          </a:p>
        </p:txBody>
      </p:sp>
      <p:sp>
        <p:nvSpPr>
          <p:cNvPr id="1117" name="" descr="{&quot;isTemplate&quot;:true,&quot;type&quot;:&quot;text&quot;}"/>
          <p:cNvSpPr txBox="1"/>
          <p:nvPr/>
        </p:nvSpPr>
        <p:spPr>
          <a:xfrm rot="0" flipH="0" flipV="0">
            <a:off x="800100" y="2390775"/>
            <a:ext cx="3429000" cy="428625"/>
          </a:xfrm>
          <a:prstGeom prst="rect"/>
        </p:spPr>
        <p:txBody>
          <a:bodyPr wrap="square" lIns="0" tIns="0" rIns="0" bIns="0">
            <a:normAutofit/>
          </a:bodyPr>
          <a:p>
            <a:pPr>
              <a:lnSpc>
                <a:spcPct val="155000"/>
              </a:lnSpc>
            </a:pPr>
            <a:r>
              <a:rPr lang="zh-CN" sz="900">
                <a:solidFill>
                  <a:srgbClr val="FFFFFF">
                    <a:alpha val="72000"/>
                  </a:srgbClr>
                </a:solidFill>
                <a:latin typeface="Microsoft YaHei"/>
                <a:ea typeface="Microsoft YaHei"/>
              </a:rPr>
              <a:t>早期只管库里的表，现在要管数据在管道里怎么流动、被谁打上什么标记、流出去之后变成什么</a:t>
            </a:r>
            <a:endParaRPr/>
          </a:p>
        </p:txBody>
      </p:sp>
      <p:sp>
        <p:nvSpPr>
          <p:cNvPr id="1118" name=""/>
          <p:cNvSpPr/>
          <p:nvPr/>
        </p:nvSpPr>
        <p:spPr>
          <a:xfrm rot="0" flipH="0" flipV="0">
            <a:off x="800100" y="3343275"/>
            <a:ext cx="190500" cy="190500"/>
          </a:xfrm>
          <a:prstGeom prst="rect">
            <a:avLst/>
          </a:prstGeom>
          <a:solidFill>
            <a:srgbClr val="FA4F24"/>
          </a:solidFill>
          <a:ln/>
        </p:spPr>
        <p:txBody>
          <a:bodyPr/>
          <a:p/>
        </p:txBody>
      </p:sp>
      <p:sp>
        <p:nvSpPr>
          <p:cNvPr id="1119" name="" descr="{&quot;isTemplate&quot;:true,&quot;type&quot;:&quot;text&quot;}"/>
          <p:cNvSpPr txBox="1"/>
          <p:nvPr/>
        </p:nvSpPr>
        <p:spPr>
          <a:xfrm rot="0" flipH="0" flipV="0">
            <a:off x="857250" y="3371850"/>
            <a:ext cx="76200" cy="142875"/>
          </a:xfrm>
          <a:prstGeom prst="rect"/>
        </p:spPr>
        <p:txBody>
          <a:bodyPr wrap="none" lIns="0" tIns="0" rIns="0" bIns="0"/>
          <a:p>
            <a:pPr>
              <a:lnSpc>
                <a:spcPct val="100000"/>
              </a:lnSpc>
            </a:pPr>
            <a:r>
              <a:rPr lang="en-US" sz="900" b="1">
                <a:solidFill>
                  <a:srgbClr val="FFFFFF"/>
                </a:solidFill>
                <a:latin typeface="Microsoft YaHei"/>
                <a:ea typeface="Microsoft YaHei"/>
              </a:rPr>
              <a:t>2</a:t>
            </a:r>
            <a:endParaRPr/>
          </a:p>
        </p:txBody>
      </p:sp>
      <p:sp>
        <p:nvSpPr>
          <p:cNvPr id="1120" name="" descr="{&quot;isTemplate&quot;:true,&quot;type&quot;:&quot;text&quot;}"/>
          <p:cNvSpPr txBox="1"/>
          <p:nvPr/>
        </p:nvSpPr>
        <p:spPr>
          <a:xfrm rot="0" flipH="0" flipV="0">
            <a:off x="1066800" y="3362325"/>
            <a:ext cx="1066800" cy="161925"/>
          </a:xfrm>
          <a:prstGeom prst="rect"/>
        </p:spPr>
        <p:txBody>
          <a:bodyPr wrap="none" lIns="0" tIns="0" rIns="0" bIns="0"/>
          <a:p>
            <a:pPr>
              <a:lnSpc>
                <a:spcPct val="100000"/>
              </a:lnSpc>
            </a:pPr>
            <a:r>
              <a:rPr lang="zh-CN" sz="1050" b="1">
                <a:solidFill>
                  <a:srgbClr val="FFFFFF"/>
                </a:solidFill>
                <a:latin typeface="Microsoft YaHei"/>
                <a:ea typeface="Microsoft YaHei"/>
              </a:rPr>
              <a:t>二、从数据到语义</a:t>
            </a:r>
            <a:endParaRPr/>
          </a:p>
        </p:txBody>
      </p:sp>
      <p:sp>
        <p:nvSpPr>
          <p:cNvPr id="1121" name="" descr="{&quot;isTemplate&quot;:true,&quot;type&quot;:&quot;text&quot;}"/>
          <p:cNvSpPr txBox="1"/>
          <p:nvPr/>
        </p:nvSpPr>
        <p:spPr>
          <a:xfrm rot="0" flipH="0" flipV="0">
            <a:off x="800100" y="3590925"/>
            <a:ext cx="3429000" cy="428625"/>
          </a:xfrm>
          <a:prstGeom prst="rect"/>
        </p:spPr>
        <p:txBody>
          <a:bodyPr wrap="square" lIns="0" tIns="0" rIns="0" bIns="0">
            <a:normAutofit/>
          </a:bodyPr>
          <a:p>
            <a:pPr>
              <a:lnSpc>
                <a:spcPct val="155000"/>
              </a:lnSpc>
            </a:pPr>
            <a:r>
              <a:rPr lang="zh-CN" sz="900">
                <a:solidFill>
                  <a:srgbClr val="FFFFFF">
                    <a:alpha val="72000"/>
                  </a:srgbClr>
                </a:solidFill>
                <a:latin typeface="Microsoft YaHei"/>
                <a:ea typeface="Microsoft YaHei"/>
              </a:rPr>
              <a:t>本体里的对象类型、链接、函数与动作，本身也是治理对象——它们决定了数据能变成什么样的现实动作</a:t>
            </a:r>
            <a:endParaRPr/>
          </a:p>
        </p:txBody>
      </p:sp>
      <p:sp>
        <p:nvSpPr>
          <p:cNvPr id="1122" name=""/>
          <p:cNvSpPr/>
          <p:nvPr/>
        </p:nvSpPr>
        <p:spPr>
          <a:xfrm rot="0" flipH="0" flipV="0">
            <a:off x="800100" y="4533900"/>
            <a:ext cx="190500" cy="190500"/>
          </a:xfrm>
          <a:prstGeom prst="rect">
            <a:avLst/>
          </a:prstGeom>
          <a:solidFill>
            <a:srgbClr val="FA4F24"/>
          </a:solidFill>
          <a:ln/>
        </p:spPr>
        <p:txBody>
          <a:bodyPr/>
          <a:p/>
        </p:txBody>
      </p:sp>
      <p:sp>
        <p:nvSpPr>
          <p:cNvPr id="1123" name="" descr="{&quot;isTemplate&quot;:true,&quot;type&quot;:&quot;text&quot;}"/>
          <p:cNvSpPr txBox="1"/>
          <p:nvPr/>
        </p:nvSpPr>
        <p:spPr>
          <a:xfrm rot="0" flipH="0" flipV="0">
            <a:off x="857250" y="4562475"/>
            <a:ext cx="76200" cy="142875"/>
          </a:xfrm>
          <a:prstGeom prst="rect"/>
        </p:spPr>
        <p:txBody>
          <a:bodyPr wrap="none" lIns="0" tIns="0" rIns="0" bIns="0"/>
          <a:p>
            <a:pPr>
              <a:lnSpc>
                <a:spcPct val="100000"/>
              </a:lnSpc>
            </a:pPr>
            <a:r>
              <a:rPr lang="en-US" sz="900" b="1">
                <a:solidFill>
                  <a:srgbClr val="FFFFFF"/>
                </a:solidFill>
                <a:latin typeface="Microsoft YaHei"/>
                <a:ea typeface="Microsoft YaHei"/>
              </a:rPr>
              <a:t>3</a:t>
            </a:r>
            <a:endParaRPr/>
          </a:p>
        </p:txBody>
      </p:sp>
      <p:sp>
        <p:nvSpPr>
          <p:cNvPr id="1124" name="" descr="{&quot;isTemplate&quot;:true,&quot;type&quot;:&quot;text&quot;}"/>
          <p:cNvSpPr txBox="1"/>
          <p:nvPr/>
        </p:nvSpPr>
        <p:spPr>
          <a:xfrm rot="0" flipH="0" flipV="0">
            <a:off x="1066800" y="4552950"/>
            <a:ext cx="1200150" cy="161925"/>
          </a:xfrm>
          <a:prstGeom prst="rect"/>
        </p:spPr>
        <p:txBody>
          <a:bodyPr wrap="none" lIns="0" tIns="0" rIns="0" bIns="0"/>
          <a:p>
            <a:pPr>
              <a:lnSpc>
                <a:spcPct val="100000"/>
              </a:lnSpc>
            </a:pPr>
            <a:r>
              <a:rPr lang="zh-CN" sz="1050" b="1">
                <a:solidFill>
                  <a:srgbClr val="FFFFFF"/>
                </a:solidFill>
                <a:latin typeface="Microsoft YaHei"/>
                <a:ea typeface="Microsoft YaHei"/>
              </a:rPr>
              <a:t>三、从数据到智能体</a:t>
            </a:r>
            <a:endParaRPr/>
          </a:p>
        </p:txBody>
      </p:sp>
      <p:sp>
        <p:nvSpPr>
          <p:cNvPr id="1125" name="" descr="{&quot;isTemplate&quot;:true,&quot;type&quot;:&quot;text&quot;}"/>
          <p:cNvSpPr txBox="1"/>
          <p:nvPr/>
        </p:nvSpPr>
        <p:spPr>
          <a:xfrm rot="0" flipH="0" flipV="0">
            <a:off x="800100" y="4781550"/>
            <a:ext cx="3429000" cy="428625"/>
          </a:xfrm>
          <a:prstGeom prst="rect"/>
        </p:spPr>
        <p:txBody>
          <a:bodyPr wrap="square" lIns="0" tIns="0" rIns="0" bIns="0">
            <a:normAutofit/>
          </a:bodyPr>
          <a:p>
            <a:pPr>
              <a:lnSpc>
                <a:spcPct val="155000"/>
              </a:lnSpc>
            </a:pPr>
            <a:r>
              <a:rPr lang="zh-CN" sz="900">
                <a:solidFill>
                  <a:srgbClr val="FFFFFF">
                    <a:alpha val="72000"/>
                  </a:srgbClr>
                </a:solidFill>
                <a:latin typeface="Microsoft YaHei"/>
                <a:ea typeface="Microsoft YaHei"/>
              </a:rPr>
              <a:t>智能体的记忆、工具调用、上下文片段与运行日志，都是数据，也都是泄露通道，传统那套管不到</a:t>
            </a:r>
            <a:endParaRPr/>
          </a:p>
        </p:txBody>
      </p:sp>
      <p:sp>
        <p:nvSpPr>
          <p:cNvPr id="1126" name=""/>
          <p:cNvSpPr/>
          <p:nvPr/>
        </p:nvSpPr>
        <p:spPr>
          <a:xfrm rot="0" flipH="0" flipV="0">
            <a:off x="4533900" y="1285875"/>
            <a:ext cx="7048500" cy="1676400"/>
          </a:xfrm>
          <a:prstGeom prst="roundRect">
            <a:avLst>
              <a:gd name="adj" fmla="val 2273"/>
            </a:avLst>
          </a:prstGeom>
          <a:solidFill>
            <a:srgbClr val="F7F7F8"/>
          </a:solidFill>
          <a:ln/>
        </p:spPr>
        <p:txBody>
          <a:bodyPr/>
          <a:p/>
        </p:txBody>
      </p:sp>
      <p:sp>
        <p:nvSpPr>
          <p:cNvPr id="1127" name="" descr="{&quot;isTemplate&quot;:true,&quot;type&quot;:&quot;text&quot;}"/>
          <p:cNvSpPr txBox="1"/>
          <p:nvPr/>
        </p:nvSpPr>
        <p:spPr>
          <a:xfrm rot="0" flipH="0" flipV="0">
            <a:off x="4705350" y="1419225"/>
            <a:ext cx="6705600" cy="171450"/>
          </a:xfrm>
          <a:prstGeom prst="rect"/>
        </p:spPr>
        <p:txBody>
          <a:bodyPr wrap="none" lIns="0" tIns="0" rIns="0" bIns="0"/>
          <a:p>
            <a:pPr>
              <a:lnSpc>
                <a:spcPct val="100000"/>
              </a:lnSpc>
            </a:pPr>
            <a:r>
              <a:rPr lang="zh-CN" sz="1125" b="1">
                <a:solidFill>
                  <a:srgbClr val="0F1423"/>
                </a:solidFill>
                <a:latin typeface="Microsoft YaHei"/>
                <a:ea typeface="Microsoft YaHei"/>
              </a:rPr>
              <a:t>四类新对象，各自带一条治理要求</a:t>
            </a:r>
            <a:endParaRPr/>
          </a:p>
        </p:txBody>
      </p:sp>
      <p:sp>
        <p:nvSpPr>
          <p:cNvPr id="1128" name=""/>
          <p:cNvSpPr/>
          <p:nvPr/>
        </p:nvSpPr>
        <p:spPr>
          <a:xfrm rot="0" flipH="0" flipV="0">
            <a:off x="4705350" y="1704975"/>
            <a:ext cx="533400" cy="247650"/>
          </a:xfrm>
          <a:prstGeom prst="rect">
            <a:avLst/>
          </a:prstGeom>
          <a:solidFill>
            <a:srgbClr val="FA4F24"/>
          </a:solidFill>
          <a:ln/>
        </p:spPr>
        <p:txBody>
          <a:bodyPr/>
          <a:p/>
        </p:txBody>
      </p:sp>
      <p:sp>
        <p:nvSpPr>
          <p:cNvPr id="1129" name="" descr="{&quot;isTemplate&quot;:true,&quot;type&quot;:&quot;text&quot;}"/>
          <p:cNvSpPr txBox="1"/>
          <p:nvPr/>
        </p:nvSpPr>
        <p:spPr>
          <a:xfrm rot="0" flipH="0" flipV="0">
            <a:off x="4857750" y="1762125"/>
            <a:ext cx="238125" cy="142875"/>
          </a:xfrm>
          <a:prstGeom prst="rect"/>
        </p:spPr>
        <p:txBody>
          <a:bodyPr wrap="none" lIns="0" tIns="0" rIns="0" bIns="0"/>
          <a:p>
            <a:pPr>
              <a:lnSpc>
                <a:spcPct val="100000"/>
              </a:lnSpc>
            </a:pPr>
            <a:r>
              <a:rPr lang="zh-CN" sz="938" b="1">
                <a:solidFill>
                  <a:srgbClr val="FFFFFF"/>
                </a:solidFill>
                <a:latin typeface="Microsoft YaHei"/>
                <a:ea typeface="Microsoft YaHei"/>
              </a:rPr>
              <a:t>策略</a:t>
            </a:r>
            <a:endParaRPr/>
          </a:p>
        </p:txBody>
      </p:sp>
      <p:sp>
        <p:nvSpPr>
          <p:cNvPr id="1130" name="" descr="{&quot;isTemplate&quot;:true,&quot;type&quot;:&quot;text&quot;}"/>
          <p:cNvSpPr txBox="1"/>
          <p:nvPr/>
        </p:nvSpPr>
        <p:spPr>
          <a:xfrm rot="0" flipH="0" flipV="0">
            <a:off x="5353050" y="1724025"/>
            <a:ext cx="6057900" cy="200025"/>
          </a:xfrm>
          <a:prstGeom prst="rect"/>
        </p:spPr>
        <p:txBody>
          <a:bodyPr wrap="none" lIns="0" tIns="0" rIns="0" bIns="0"/>
          <a:p>
            <a:pPr>
              <a:lnSpc>
                <a:spcPct val="145000"/>
              </a:lnSpc>
            </a:pPr>
            <a:r>
              <a:rPr lang="zh-CN" sz="900">
                <a:solidFill>
                  <a:srgbClr val="3A4050"/>
                </a:solidFill>
                <a:latin typeface="Microsoft YaHei"/>
                <a:ea typeface="Microsoft YaHei"/>
              </a:rPr>
              <a:t>权限规则、标记、检查点必须像数据一样有版本、有测试、有回退</a:t>
            </a:r>
            <a:endParaRPr/>
          </a:p>
        </p:txBody>
      </p:sp>
      <p:sp>
        <p:nvSpPr>
          <p:cNvPr id="1131" name=""/>
          <p:cNvSpPr/>
          <p:nvPr/>
        </p:nvSpPr>
        <p:spPr>
          <a:xfrm rot="0" flipH="0" flipV="0">
            <a:off x="4705350" y="1962150"/>
            <a:ext cx="6705600" cy="304800"/>
          </a:xfrm>
          <a:custGeom>
            <a:pathLst>
              <a:path w="704" h="32">
                <a:moveTo>
                  <a:pt x="0" y="0"/>
                </a:moveTo>
                <a:lnTo>
                  <a:pt x="704" y="0"/>
                </a:lnTo>
                <a:lnTo>
                  <a:pt x="704" y="1"/>
                </a:lnTo>
                <a:lnTo>
                  <a:pt x="0" y="1"/>
                </a:lnTo>
                <a:close/>
              </a:path>
            </a:pathLst>
          </a:custGeom>
          <a:solidFill>
            <a:srgbClr val="E8E8E8"/>
          </a:solidFill>
          <a:ln/>
        </p:spPr>
        <p:txBody>
          <a:bodyPr/>
          <a:p/>
        </p:txBody>
      </p:sp>
      <p:sp>
        <p:nvSpPr>
          <p:cNvPr id="1132" name=""/>
          <p:cNvSpPr/>
          <p:nvPr/>
        </p:nvSpPr>
        <p:spPr>
          <a:xfrm rot="0" flipH="0" flipV="0">
            <a:off x="4705350" y="1990725"/>
            <a:ext cx="533400" cy="247650"/>
          </a:xfrm>
          <a:prstGeom prst="rect">
            <a:avLst/>
          </a:prstGeom>
          <a:solidFill>
            <a:srgbClr val="F87D2F"/>
          </a:solidFill>
          <a:ln/>
        </p:spPr>
        <p:txBody>
          <a:bodyPr/>
          <a:p/>
        </p:txBody>
      </p:sp>
      <p:sp>
        <p:nvSpPr>
          <p:cNvPr id="1133" name="" descr="{&quot;isTemplate&quot;:true,&quot;type&quot;:&quot;text&quot;}"/>
          <p:cNvSpPr txBox="1"/>
          <p:nvPr/>
        </p:nvSpPr>
        <p:spPr>
          <a:xfrm rot="0" flipH="0" flipV="0">
            <a:off x="4857750" y="2047875"/>
            <a:ext cx="238125" cy="142875"/>
          </a:xfrm>
          <a:prstGeom prst="rect"/>
        </p:spPr>
        <p:txBody>
          <a:bodyPr wrap="none" lIns="0" tIns="0" rIns="0" bIns="0"/>
          <a:p>
            <a:pPr>
              <a:lnSpc>
                <a:spcPct val="100000"/>
              </a:lnSpc>
            </a:pPr>
            <a:r>
              <a:rPr lang="zh-CN" sz="938" b="1">
                <a:solidFill>
                  <a:srgbClr val="FFFFFF"/>
                </a:solidFill>
                <a:latin typeface="Microsoft YaHei"/>
                <a:ea typeface="Microsoft YaHei"/>
              </a:rPr>
              <a:t>动作</a:t>
            </a:r>
            <a:endParaRPr/>
          </a:p>
        </p:txBody>
      </p:sp>
      <p:sp>
        <p:nvSpPr>
          <p:cNvPr id="1134" name="" descr="{&quot;isTemplate&quot;:true,&quot;type&quot;:&quot;text&quot;}"/>
          <p:cNvSpPr txBox="1"/>
          <p:nvPr/>
        </p:nvSpPr>
        <p:spPr>
          <a:xfrm rot="0" flipH="0" flipV="0">
            <a:off x="5353050" y="2019300"/>
            <a:ext cx="6057900" cy="200025"/>
          </a:xfrm>
          <a:prstGeom prst="rect"/>
        </p:spPr>
        <p:txBody>
          <a:bodyPr wrap="none" lIns="0" tIns="0" rIns="0" bIns="0"/>
          <a:p>
            <a:pPr>
              <a:lnSpc>
                <a:spcPct val="145000"/>
              </a:lnSpc>
            </a:pPr>
            <a:r>
              <a:rPr lang="zh-CN" sz="900">
                <a:solidFill>
                  <a:srgbClr val="3A4050"/>
                </a:solidFill>
                <a:latin typeface="Microsoft YaHei"/>
                <a:ea typeface="Microsoft YaHei"/>
              </a:rPr>
              <a:t>每一次写回都要留动作日志，记录谁、何时、改了哪个对象的哪个属性</a:t>
            </a:r>
            <a:endParaRPr/>
          </a:p>
        </p:txBody>
      </p:sp>
      <p:sp>
        <p:nvSpPr>
          <p:cNvPr id="1135" name=""/>
          <p:cNvSpPr/>
          <p:nvPr/>
        </p:nvSpPr>
        <p:spPr>
          <a:xfrm rot="0" flipH="0" flipV="0">
            <a:off x="4705350" y="2257425"/>
            <a:ext cx="6705600" cy="295275"/>
          </a:xfrm>
          <a:custGeom>
            <a:pathLst>
              <a:path w="704" h="31">
                <a:moveTo>
                  <a:pt x="0" y="0"/>
                </a:moveTo>
                <a:lnTo>
                  <a:pt x="704" y="0"/>
                </a:lnTo>
                <a:lnTo>
                  <a:pt x="704" y="1"/>
                </a:lnTo>
                <a:lnTo>
                  <a:pt x="0" y="1"/>
                </a:lnTo>
                <a:close/>
              </a:path>
            </a:pathLst>
          </a:custGeom>
          <a:solidFill>
            <a:srgbClr val="E8E8E8"/>
          </a:solidFill>
          <a:ln/>
        </p:spPr>
        <p:txBody>
          <a:bodyPr/>
          <a:p/>
        </p:txBody>
      </p:sp>
      <p:sp>
        <p:nvSpPr>
          <p:cNvPr id="1136" name=""/>
          <p:cNvSpPr/>
          <p:nvPr/>
        </p:nvSpPr>
        <p:spPr>
          <a:xfrm rot="0" flipH="0" flipV="0">
            <a:off x="4705350" y="2286000"/>
            <a:ext cx="533400" cy="247650"/>
          </a:xfrm>
          <a:prstGeom prst="rect">
            <a:avLst/>
          </a:prstGeom>
          <a:solidFill>
            <a:srgbClr val="E0651A"/>
          </a:solidFill>
          <a:ln/>
        </p:spPr>
        <p:txBody>
          <a:bodyPr/>
          <a:p/>
        </p:txBody>
      </p:sp>
      <p:sp>
        <p:nvSpPr>
          <p:cNvPr id="1137" name="" descr="{&quot;isTemplate&quot;:true,&quot;type&quot;:&quot;text&quot;}"/>
          <p:cNvSpPr txBox="1"/>
          <p:nvPr/>
        </p:nvSpPr>
        <p:spPr>
          <a:xfrm rot="0" flipH="0" flipV="0">
            <a:off x="4857750" y="2343150"/>
            <a:ext cx="238125" cy="142875"/>
          </a:xfrm>
          <a:prstGeom prst="rect"/>
        </p:spPr>
        <p:txBody>
          <a:bodyPr wrap="none" lIns="0" tIns="0" rIns="0" bIns="0"/>
          <a:p>
            <a:pPr>
              <a:lnSpc>
                <a:spcPct val="100000"/>
              </a:lnSpc>
            </a:pPr>
            <a:r>
              <a:rPr lang="zh-CN" sz="938" b="1">
                <a:solidFill>
                  <a:srgbClr val="FFFFFF"/>
                </a:solidFill>
                <a:latin typeface="Microsoft YaHei"/>
                <a:ea typeface="Microsoft YaHei"/>
              </a:rPr>
              <a:t>记忆</a:t>
            </a:r>
            <a:endParaRPr/>
          </a:p>
        </p:txBody>
      </p:sp>
      <p:sp>
        <p:nvSpPr>
          <p:cNvPr id="1138" name="" descr="{&quot;isTemplate&quot;:true,&quot;type&quot;:&quot;text&quot;}"/>
          <p:cNvSpPr txBox="1"/>
          <p:nvPr/>
        </p:nvSpPr>
        <p:spPr>
          <a:xfrm rot="0" flipH="0" flipV="0">
            <a:off x="5353050" y="2305050"/>
            <a:ext cx="6057900" cy="200025"/>
          </a:xfrm>
          <a:prstGeom prst="rect"/>
        </p:spPr>
        <p:txBody>
          <a:bodyPr wrap="none" lIns="0" tIns="0" rIns="0" bIns="0"/>
          <a:p>
            <a:pPr>
              <a:lnSpc>
                <a:spcPct val="145000"/>
              </a:lnSpc>
            </a:pPr>
            <a:r>
              <a:rPr lang="zh-CN" sz="900">
                <a:solidFill>
                  <a:srgbClr val="3A4050"/>
                </a:solidFill>
                <a:latin typeface="Microsoft YaHei"/>
                <a:ea typeface="Microsoft YaHei"/>
              </a:rPr>
              <a:t>智能体的工作记忆与情节记忆按同样的标记分层，不能只在入口打一次</a:t>
            </a:r>
            <a:endParaRPr/>
          </a:p>
        </p:txBody>
      </p:sp>
      <p:sp>
        <p:nvSpPr>
          <p:cNvPr id="1139" name=""/>
          <p:cNvSpPr/>
          <p:nvPr/>
        </p:nvSpPr>
        <p:spPr>
          <a:xfrm rot="0" flipH="0" flipV="0">
            <a:off x="4705350" y="2543175"/>
            <a:ext cx="6705600" cy="295275"/>
          </a:xfrm>
          <a:custGeom>
            <a:pathLst>
              <a:path w="704" h="31">
                <a:moveTo>
                  <a:pt x="0" y="0"/>
                </a:moveTo>
                <a:lnTo>
                  <a:pt x="704" y="0"/>
                </a:lnTo>
                <a:lnTo>
                  <a:pt x="704" y="1"/>
                </a:lnTo>
                <a:lnTo>
                  <a:pt x="0" y="1"/>
                </a:lnTo>
                <a:close/>
              </a:path>
            </a:pathLst>
          </a:custGeom>
          <a:solidFill>
            <a:srgbClr val="E8E8E8"/>
          </a:solidFill>
          <a:ln/>
        </p:spPr>
        <p:txBody>
          <a:bodyPr/>
          <a:p/>
        </p:txBody>
      </p:sp>
      <p:sp>
        <p:nvSpPr>
          <p:cNvPr id="1140" name=""/>
          <p:cNvSpPr/>
          <p:nvPr/>
        </p:nvSpPr>
        <p:spPr>
          <a:xfrm rot="0" flipH="0" flipV="0">
            <a:off x="4705350" y="2571750"/>
            <a:ext cx="533400" cy="247650"/>
          </a:xfrm>
          <a:prstGeom prst="rect">
            <a:avLst/>
          </a:prstGeom>
          <a:solidFill>
            <a:srgbClr val="C43A17"/>
          </a:solidFill>
          <a:ln/>
        </p:spPr>
        <p:txBody>
          <a:bodyPr/>
          <a:p/>
        </p:txBody>
      </p:sp>
      <p:sp>
        <p:nvSpPr>
          <p:cNvPr id="1141" name="" descr="{&quot;isTemplate&quot;:true,&quot;type&quot;:&quot;text&quot;}"/>
          <p:cNvSpPr txBox="1"/>
          <p:nvPr/>
        </p:nvSpPr>
        <p:spPr>
          <a:xfrm rot="0" flipH="0" flipV="0">
            <a:off x="4857750" y="2628900"/>
            <a:ext cx="238125" cy="142875"/>
          </a:xfrm>
          <a:prstGeom prst="rect"/>
        </p:spPr>
        <p:txBody>
          <a:bodyPr wrap="none" lIns="0" tIns="0" rIns="0" bIns="0"/>
          <a:p>
            <a:pPr>
              <a:lnSpc>
                <a:spcPct val="100000"/>
              </a:lnSpc>
            </a:pPr>
            <a:r>
              <a:rPr lang="zh-CN" sz="938" b="1">
                <a:solidFill>
                  <a:srgbClr val="FFFFFF"/>
                </a:solidFill>
                <a:latin typeface="Microsoft YaHei"/>
                <a:ea typeface="Microsoft YaHei"/>
              </a:rPr>
              <a:t>日志</a:t>
            </a:r>
            <a:endParaRPr/>
          </a:p>
        </p:txBody>
      </p:sp>
      <p:sp>
        <p:nvSpPr>
          <p:cNvPr id="1142" name="" descr="{&quot;isTemplate&quot;:true,&quot;type&quot;:&quot;text&quot;}"/>
          <p:cNvSpPr txBox="1"/>
          <p:nvPr/>
        </p:nvSpPr>
        <p:spPr>
          <a:xfrm rot="0" flipH="0" flipV="0">
            <a:off x="5353050" y="2590800"/>
            <a:ext cx="6057900" cy="200025"/>
          </a:xfrm>
          <a:prstGeom prst="rect"/>
        </p:spPr>
        <p:txBody>
          <a:bodyPr wrap="none" lIns="0" tIns="0" rIns="0" bIns="0"/>
          <a:p>
            <a:pPr>
              <a:lnSpc>
                <a:spcPct val="145000"/>
              </a:lnSpc>
            </a:pPr>
            <a:r>
              <a:rPr lang="zh-CN" sz="900">
                <a:solidFill>
                  <a:srgbClr val="3A4050"/>
                </a:solidFill>
                <a:latin typeface="Microsoft YaHei"/>
                <a:ea typeface="Microsoft YaHei"/>
              </a:rPr>
              <a:t>日志本身受标记管辖，日志访问权限要能按项目、工作流、智能体分别控制</a:t>
            </a:r>
            <a:endParaRPr/>
          </a:p>
        </p:txBody>
      </p:sp>
      <p:sp>
        <p:nvSpPr>
          <p:cNvPr id="1143" name=""/>
          <p:cNvSpPr/>
          <p:nvPr/>
        </p:nvSpPr>
        <p:spPr>
          <a:xfrm rot="0" flipH="0" flipV="0">
            <a:off x="4572000" y="3038475"/>
            <a:ext cx="7048500" cy="1314450"/>
          </a:xfrm>
          <a:prstGeom prst="roundRect">
            <a:avLst>
              <a:gd name="adj" fmla="val 2899"/>
            </a:avLst>
          </a:prstGeom>
          <a:solidFill>
            <a:srgbClr val="FFF3EE"/>
          </a:solidFill>
          <a:ln/>
        </p:spPr>
        <p:txBody>
          <a:bodyPr/>
          <a:p/>
        </p:txBody>
      </p:sp>
      <p:sp>
        <p:nvSpPr>
          <p:cNvPr id="1144" name=""/>
          <p:cNvSpPr/>
          <p:nvPr/>
        </p:nvSpPr>
        <p:spPr>
          <a:xfrm rot="0" flipH="0" flipV="0">
            <a:off x="4572000" y="3038475"/>
            <a:ext cx="7048500" cy="1314450"/>
          </a:xfrm>
          <a:custGeom>
            <a:pathLst>
              <a:path w="740" h="138">
                <a:moveTo>
                  <a:pt x="4" y="138"/>
                </a:moveTo>
                <a:cubicBezTo>
                  <a:pt x="2" y="138"/>
                  <a:pt x="0" y="136"/>
                  <a:pt x="0" y="134"/>
                </a:cubicBezTo>
                <a:lnTo>
                  <a:pt x="0" y="4"/>
                </a:lnTo>
                <a:cubicBezTo>
                  <a:pt x="0" y="2"/>
                  <a:pt x="2" y="0"/>
                  <a:pt x="4" y="0"/>
                </a:cubicBezTo>
                <a:lnTo>
                  <a:pt x="4" y="138"/>
                </a:lnTo>
                <a:close/>
              </a:path>
            </a:pathLst>
          </a:custGeom>
          <a:solidFill>
            <a:srgbClr val="FA4F24"/>
          </a:solidFill>
          <a:ln/>
        </p:spPr>
        <p:txBody>
          <a:bodyPr/>
          <a:p/>
        </p:txBody>
      </p:sp>
      <p:sp>
        <p:nvSpPr>
          <p:cNvPr id="1145" name="" descr="{&quot;isTemplate&quot;:true,&quot;type&quot;:&quot;text&quot;}"/>
          <p:cNvSpPr txBox="1"/>
          <p:nvPr/>
        </p:nvSpPr>
        <p:spPr>
          <a:xfrm rot="0" flipH="0" flipV="0">
            <a:off x="4743450" y="3162300"/>
            <a:ext cx="6667500" cy="171450"/>
          </a:xfrm>
          <a:prstGeom prst="rect"/>
        </p:spPr>
        <p:txBody>
          <a:bodyPr wrap="none" lIns="0" tIns="0" rIns="0" bIns="0"/>
          <a:p>
            <a:pPr>
              <a:lnSpc>
                <a:spcPct val="100000"/>
              </a:lnSpc>
            </a:pPr>
            <a:r>
              <a:rPr lang="zh-CN" sz="1125" b="1">
                <a:solidFill>
                  <a:srgbClr val="C43A17"/>
                </a:solidFill>
                <a:latin typeface="Microsoft YaHei"/>
                <a:ea typeface="Microsoft YaHei"/>
              </a:rPr>
              <a:t>为什么传统那套不管用了</a:t>
            </a:r>
            <a:endParaRPr/>
          </a:p>
        </p:txBody>
      </p:sp>
      <p:sp>
        <p:nvSpPr>
          <p:cNvPr id="1146" name="" descr="{&quot;isTemplate&quot;:true,&quot;type&quot;:&quot;text&quot;}"/>
          <p:cNvSpPr txBox="1"/>
          <p:nvPr/>
        </p:nvSpPr>
        <p:spPr>
          <a:xfrm rot="0" flipH="0" flipV="0">
            <a:off x="4743450" y="3409950"/>
            <a:ext cx="6667500" cy="457200"/>
          </a:xfrm>
          <a:prstGeom prst="rect"/>
        </p:spPr>
        <p:txBody>
          <a:bodyPr wrap="square" lIns="0" tIns="0" rIns="0" bIns="0">
            <a:normAutofit/>
          </a:bodyPr>
          <a:p>
            <a:pPr>
              <a:lnSpc>
                <a:spcPct val="160000"/>
              </a:lnSpc>
            </a:pPr>
            <a:r>
              <a:rPr lang="zh-CN" sz="938">
                <a:solidFill>
                  <a:srgbClr val="3A4050"/>
                </a:solidFill>
                <a:latin typeface="Microsoft YaHei"/>
                <a:ea typeface="Microsoft YaHei"/>
              </a:rPr>
              <a:t>传统治理假设「数据被人看」，所以只需管住查询入口。智能体时代的问题是：智能体会把数据读进上下文、拼进提示词、发给出站接口、写进记忆。这四条路径传统权限模型一条都看不见。</a:t>
            </a:r>
            <a:endParaRPr/>
          </a:p>
        </p:txBody>
      </p:sp>
      <p:sp>
        <p:nvSpPr>
          <p:cNvPr id="1147" name=""/>
          <p:cNvSpPr/>
          <p:nvPr/>
        </p:nvSpPr>
        <p:spPr>
          <a:xfrm rot="0" flipH="0" flipV="0">
            <a:off x="4533900" y="4429125"/>
            <a:ext cx="7048500" cy="1209675"/>
          </a:xfrm>
          <a:prstGeom prst="roundRect">
            <a:avLst>
              <a:gd name="adj" fmla="val 3150"/>
            </a:avLst>
          </a:prstGeom>
          <a:solidFill>
            <a:srgbClr val="0F1423"/>
          </a:solidFill>
          <a:ln/>
        </p:spPr>
        <p:txBody>
          <a:bodyPr/>
          <a:p/>
        </p:txBody>
      </p:sp>
      <p:sp>
        <p:nvSpPr>
          <p:cNvPr id="1148" name="" descr="{&quot;isTemplate&quot;:true,&quot;type&quot;:&quot;text&quot;}"/>
          <p:cNvSpPr txBox="1"/>
          <p:nvPr/>
        </p:nvSpPr>
        <p:spPr>
          <a:xfrm rot="0" flipH="0" flipV="0">
            <a:off x="4705350" y="4791075"/>
            <a:ext cx="6705600" cy="161925"/>
          </a:xfrm>
          <a:prstGeom prst="rect"/>
        </p:spPr>
        <p:txBody>
          <a:bodyPr wrap="none" lIns="0" tIns="0" rIns="0" bIns="0"/>
          <a:p>
            <a:pPr>
              <a:lnSpc>
                <a:spcPct val="100000"/>
              </a:lnSpc>
            </a:pPr>
            <a:r>
              <a:rPr lang="zh-CN" sz="1050" b="1">
                <a:solidFill>
                  <a:srgbClr val="FBA15C"/>
                </a:solidFill>
                <a:latin typeface="Microsoft YaHei"/>
                <a:ea typeface="Microsoft YaHei"/>
              </a:rPr>
              <a:t>本册的一句话主张</a:t>
            </a:r>
            <a:endParaRPr/>
          </a:p>
        </p:txBody>
      </p:sp>
      <p:sp>
        <p:nvSpPr>
          <p:cNvPr id="1149" name="" descr="{&quot;isTemplate&quot;:true,&quot;type&quot;:&quot;text&quot;}"/>
          <p:cNvSpPr txBox="1"/>
          <p:nvPr/>
        </p:nvSpPr>
        <p:spPr>
          <a:xfrm rot="0" flipH="0" flipV="0">
            <a:off x="4705350" y="5029200"/>
            <a:ext cx="6705600" cy="257175"/>
          </a:xfrm>
          <a:prstGeom prst="rect"/>
        </p:spPr>
        <p:txBody>
          <a:bodyPr wrap="none" lIns="0" tIns="0" rIns="0" bIns="0"/>
          <a:p>
            <a:pPr>
              <a:lnSpc>
                <a:spcPct val="150000"/>
              </a:lnSpc>
            </a:pPr>
            <a:r>
              <a:rPr lang="zh-CN" sz="1125">
                <a:solidFill>
                  <a:srgbClr val="FFFFFF"/>
                </a:solidFill>
                <a:latin typeface="Microsoft YaHei"/>
                <a:ea typeface="Microsoft YaHei"/>
              </a:rPr>
              <a:t>治理不是把门锁好，而是让每一次开门都有理由、有记录、有可撤销的版本。</a:t>
            </a:r>
            <a:endParaRPr/>
          </a:p>
        </p:txBody>
      </p:sp>
      <p:sp>
        <p:nvSpPr>
          <p:cNvPr id="1150"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1151" name=""/>
          <p:cNvSpPr/>
          <p:nvPr/>
        </p:nvSpPr>
        <p:spPr>
          <a:xfrm rot="0" flipH="0" flipV="0">
            <a:off x="609600" y="5953125"/>
            <a:ext cx="95250" cy="95250"/>
          </a:xfrm>
          <a:prstGeom prst="rect">
            <a:avLst/>
          </a:prstGeom>
          <a:solidFill>
            <a:srgbClr val="FA4F24"/>
          </a:solidFill>
          <a:ln/>
        </p:spPr>
        <p:txBody>
          <a:bodyPr/>
          <a:p/>
        </p:txBody>
      </p:sp>
      <p:sp>
        <p:nvSpPr>
          <p:cNvPr id="1152"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1153"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03 / 30</a:t>
            </a:r>
            <a:endParaRPr/>
          </a:p>
        </p:txBody>
      </p:sp>
    </p:spTree>
  </p:cSld>
</p:sld>
</file>

<file path=ppt/slides/slide4.xml><?xml version="1.0" encoding="utf-8"?>
<p:sld xmlns:p="http://schemas.openxmlformats.org/presentationml/2006/main" xmlns:a="http://schemas.openxmlformats.org/drawingml/2006/main">
  <p:cSld>
    <p:spTree>
      <p:nvGrpSpPr>
        <p:cNvPr id="1242" name="" descr="&lt;Slide style={{ width: 1280, height: 720, background: '#FFFFFF', padding: '24px 64px 0' }}&gt;&#10;    &lt;Box style={{ height: 96, flexDirection: 'column', justifyContent: 'flex-start' }}&gt;&#10;      &lt;Text style={{ fontSize: 32, fontWeight: 'bold', color: '#0F1423' }}&gt;&#10;        之路径：&lt;span style={{ color: '#FA4F24' }}&gt;Approach 八阶段&lt;/span&gt;，先做什么后做什么、每步产出什么&#10;      &lt;/Text&gt;&#10;      &lt;Text style={{ fontSize: 20, color: '#8A8F99', marginTop: 8 }}&gt;&#10;        顺序是按「不可逆程度」排的：标记不可删、策略可回退、流程可改——所以标记必须最早定&#10;      &lt;/Text&gt;&#10;    &lt;/Box&gt;&#10;    &lt;Box style={{ height: 1, background: '#E8E8E8' }} /&gt;&#10;&#10;    &lt;Box style={{ paddingTop: 14, paddingBottom: 8, height: 479, flexDirection: 'column', gap: 7 }}&gt;&#10;      &lt;Box style={{ flexDirection: 'row', gap: 7 }}&gt;&#10;        &lt;Box style={{ width: 46, background: '#0F1423', alignItems: 'center', justifyContent: 'center' }}&gt;&lt;Text style={{ fontSize: 11, fontWeight: 'bold', color: '#FFFFFF' }}&gt;阶段&lt;/Text&gt;&lt;/Box&gt;&#10;        &lt;Box style={{ width: 46, background: '#0F1423', alignItems: 'center', justifyContent: 'center' }}&gt;&lt;Text style={{ fontSize: 11, fontWeight: 'bold', color: '#FFFFFF' }}&gt;性质&lt;/Text&gt;&lt;/Box&gt;&#10;        &lt;Box style={{ flex: 1, background: '#0F1423', padding: '0 12px', justifyContent: 'center' }}&gt;&lt;Text style={{ fontSize: 11, fontWeight: 'bold', color: '#FFFFFF' }}&gt;这一步做什么&lt;/Text&gt;&lt;/Box&gt;&#10;        &lt;Box style={{ width: 340, background: '#0F1423', padding: '0 12px', justifyContent: 'center' }}&gt;&lt;Text style={{ fontSize: 11, fontWeight: 'bold', color: '#FFFFFF' }}&gt;产出物&lt;/Text&gt;&lt;/Box&gt;&#10;      &lt;/Box&gt;&#10;&#10;      {[&#10;        { n: '1', k: '治理', t: '盘点治理资产与合规场景，先定「治到哪为止」', o: '治理资产清单 + 场景清单', c: '#FA4F24' },&#10;        { n: '2', k: '治理', t: '定裁定权、审批权、执行权，并签成制度文件', o: '责任矩阵 + 治理制度文件', c: '#FA4F24' },&#10;        { n: '3', k: '设计', t: '设计标记类别与层级，划分敏感度与最小必要', o: '分类分级表 + 标记目录', c: '#F87D2F' },&#10;        { n: '4', k: '设计', t: '组合角色、标记、属性、用途四类控制成策略', o: '权限矩阵 + 策略清单', c: '#F87D2F' },&#10;        { n: '5', k: '设计', t: '设计血缘层级与元数据字段，规定产出方式', o: '血缘矩阵 + 元数据规范', c: '#E0651A' },&#10;        { n: '6', k: '工程', t: '设计五类健康检查、告警与可信度指标', o: '健康检查清单 + 告警矩阵', c: '#E0651A' },&#10;        { n: '7', k: '工程', t: '设计提案、评审、双签与回退流程', o: '提案规范 + 审批流程图', c: '#C43A17' },&#10;        { n: '8', k: '运营', t: '设计审计日志、成熟度评估与演进路线', o: '审计规范 + 演进路线图', c: '#C43A17' },&#10;      ].map((it, i) =&gt; (&#10;        &lt;Box key={it.n} style={{ flex: 1, flexDirection: 'row', gap: 7 }}&gt;&#10;          &lt;Box style={{ width: 46, background: '#F7F7F8', alignItems: 'center', justifyContent: 'center' }}&gt;&#10;            &lt;Text style={{ fontSize: 20, fontWeight: 'bold', color: it.c }}&gt;{it.n}&lt;/Text&gt;&#10;          &lt;/Box&gt;&#10;          &lt;Box style={{ width: 46, background: it.k === '治理' ? '#FFF3EE' : '#F7F7F8', alignItems: 'center', justifyContent: 'center' }}&gt;&#10;            &lt;Text style={{ fontSize: 12, fontWeight: 'bold', color: it.c }}&gt;{it.k}&lt;/Text&gt;&#10;          &lt;/Box&gt;&#10;          &lt;Box style={{ flex: 1, background: '#F7F7F8', padding: '0 12px', justifyContent: 'center' }}&gt;&#10;            &lt;Text style={{ fontSize: 13, color: '#0F1423' }}&gt;{it.t}&lt;/Text&gt;&#10;          &lt;/Box&gt;&#10;          &lt;Box style={{ width: 340, background: '#FFF3EE', padding: '0 12px', justifyContent: 'center', borderLeft: '2px solid #FBA15C' }}&gt;&#10;            &lt;Text style={{ fontSize: 12, fontWeight: 'bold', color: '#C43A17' }}&gt;{it.o}&lt;/Text&gt;&#10;          &lt;/Box&gt;&#10;        &lt;/Box&gt;&#10;      ))}&#10;&#10;      &lt;Box style={{ height: 62, background: '#0F1423', borderRadius: 4, padding: '0 18px', flexDirection: 'row', alignItems: 'center', gap: 12 }}&gt;&#10;        &lt;Text style={{ fontSize: 14, fontWeight: 'bold', color: '#FBA15C', width: 128 }}&gt;三条硬规则&lt;/Text&gt;&#10;        &lt;Box style={{ flex: 1, flexDirection: 'row', gap: 10 }}&gt;&#10;          {[&#10;            { n: '先分标记再给权限', d: '标记撤不掉，权限可以撤' },&#10;            { n: '先只读再开放降级', d: '降级必须有除作者外的第二人审批' },&#10;            { n: '先有日志再扩范围', d: '没有「为什么」，就只剩「谁」和「什么」' },&#10;          ].map((x, i) =&gt; (&#10;            &lt;Box key={x.n} style={{ flex: 1, background: 'rgba(255,255,255,0.07)', borderRadius: 3, padding: '6px 10px' }}&gt;&#10;              &lt;Box style={{ flexDirection: 'row', alignItems: 'center', gap: 7 }}&gt;&#10;                &lt;Text style={{ fontSize: 11, fontWeight: 'bold', color: '#FA4F24' }}&gt;{String(i + 1)}&lt;/Text&gt;&#10;                &lt;Text style={{ fontSize: 13, fontWeight: 'bold', color: '#FFFFFF' }}&gt;{x.n}&lt;/Text&gt;&#10;              &lt;/Box&gt;&#10;              &lt;Text style={{ fontSize: 10, color: 'rgba(255,255,255,0.6)', marginTop: 2 }}&gt;{x.d}&lt;/Text&gt;&#10;            &lt;/Box&gt;&#10;          ))}&#10;        &lt;/Box&gt;&#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04 / 30&lt;/Text&gt;&#10;    &lt;/Box&gt;&#10;&lt;/Slide&gt;&#10;"/>
        <p:cNvGrpSpPr/>
        <p:nvPr/>
      </p:nvGrpSpPr>
      <p:grpSpPr>
        <a:xfrm>
          <a:off x="0" y="0"/>
          <a:ext cx="0" cy="0"/>
          <a:chOff x="0" y="0"/>
          <a:chExt cx="0" cy="0"/>
        </a:xfrm>
      </p:grpSpPr>
      <p:sp>
        <p:nvSpPr>
          <p:cNvPr id="1243" name=""/>
          <p:cNvSpPr/>
          <p:nvPr/>
        </p:nvSpPr>
        <p:spPr>
          <a:xfrm rot="0" flipH="0" flipV="0">
            <a:off x="0" y="0"/>
            <a:ext cx="12192000" cy="6858000"/>
          </a:xfrm>
          <a:prstGeom prst="rect">
            <a:avLst/>
          </a:prstGeom>
          <a:solidFill>
            <a:srgbClr val="FFFFFF"/>
          </a:solidFill>
          <a:ln/>
        </p:spPr>
        <p:txBody>
          <a:bodyPr/>
          <a:p/>
        </p:txBody>
      </p:sp>
      <p:sp>
        <p:nvSpPr>
          <p:cNvPr id="1244"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之路径：</a:t>
            </a:r>
            <a:r>
              <a:rPr lang="en-US" sz="2400" b="1">
                <a:solidFill>
                  <a:srgbClr val="FA4F24"/>
                </a:solidFill>
                <a:latin typeface="Microsoft YaHei"/>
                <a:ea typeface="Microsoft YaHei"/>
              </a:rPr>
              <a:t xml:space="preserve">Approach </a:t>
            </a:r>
            <a:r>
              <a:rPr lang="zh-CN" sz="2400" b="1">
                <a:solidFill>
                  <a:srgbClr val="FA4F24"/>
                </a:solidFill>
                <a:latin typeface="Microsoft YaHei"/>
                <a:ea typeface="Microsoft YaHei"/>
              </a:rPr>
              <a:t>八阶段</a:t>
            </a:r>
            <a:r>
              <a:rPr lang="zh-CN" sz="2400" b="1">
                <a:solidFill>
                  <a:srgbClr val="0F1423"/>
                </a:solidFill>
                <a:latin typeface="Microsoft YaHei"/>
                <a:ea typeface="Microsoft YaHei"/>
              </a:rPr>
              <a:t>，先做什么后做什么、每步产出什么</a:t>
            </a:r>
            <a:endParaRPr/>
          </a:p>
        </p:txBody>
      </p:sp>
      <p:sp>
        <p:nvSpPr>
          <p:cNvPr id="1245"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顺序是按「不可逆程度」排的：标记不可删、策略可回退、流程可改——所以标记必须最早定</a:t>
            </a:r>
            <a:endParaRPr/>
          </a:p>
        </p:txBody>
      </p:sp>
      <p:sp>
        <p:nvSpPr>
          <p:cNvPr id="1246" name=""/>
          <p:cNvSpPr/>
          <p:nvPr/>
        </p:nvSpPr>
        <p:spPr>
          <a:xfrm rot="0" flipH="0" flipV="0">
            <a:off x="609600" y="1143000"/>
            <a:ext cx="10972800" cy="9525"/>
          </a:xfrm>
          <a:prstGeom prst="rect">
            <a:avLst/>
          </a:prstGeom>
          <a:solidFill>
            <a:srgbClr val="E8E8E8"/>
          </a:solidFill>
          <a:ln/>
        </p:spPr>
        <p:txBody>
          <a:bodyPr/>
          <a:p/>
        </p:txBody>
      </p:sp>
      <p:sp>
        <p:nvSpPr>
          <p:cNvPr id="1247" name=""/>
          <p:cNvSpPr/>
          <p:nvPr/>
        </p:nvSpPr>
        <p:spPr>
          <a:xfrm rot="0" flipH="0" flipV="0">
            <a:off x="609600" y="1285875"/>
            <a:ext cx="438150" cy="133350"/>
          </a:xfrm>
          <a:prstGeom prst="rect">
            <a:avLst/>
          </a:prstGeom>
          <a:solidFill>
            <a:srgbClr val="0F1423"/>
          </a:solidFill>
          <a:ln/>
        </p:spPr>
        <p:txBody>
          <a:bodyPr/>
          <a:p/>
        </p:txBody>
      </p:sp>
      <p:sp>
        <p:nvSpPr>
          <p:cNvPr id="1248" name="" descr="{&quot;isTemplate&quot;:true,&quot;type&quot;:&quot;text&quot;}"/>
          <p:cNvSpPr txBox="1"/>
          <p:nvPr/>
        </p:nvSpPr>
        <p:spPr>
          <a:xfrm rot="0" flipH="0" flipV="0">
            <a:off x="723900" y="1285875"/>
            <a:ext cx="209550" cy="133350"/>
          </a:xfrm>
          <a:prstGeom prst="rect"/>
        </p:spPr>
        <p:txBody>
          <a:bodyPr wrap="none" lIns="0" tIns="0" rIns="0" bIns="0"/>
          <a:p>
            <a:pPr>
              <a:lnSpc>
                <a:spcPct val="100000"/>
              </a:lnSpc>
            </a:pPr>
            <a:r>
              <a:rPr lang="zh-CN" sz="825" b="1">
                <a:solidFill>
                  <a:srgbClr val="FFFFFF"/>
                </a:solidFill>
                <a:latin typeface="Microsoft YaHei"/>
                <a:ea typeface="Microsoft YaHei"/>
              </a:rPr>
              <a:t>阶段</a:t>
            </a:r>
            <a:endParaRPr/>
          </a:p>
        </p:txBody>
      </p:sp>
      <p:sp>
        <p:nvSpPr>
          <p:cNvPr id="1249" name=""/>
          <p:cNvSpPr/>
          <p:nvPr/>
        </p:nvSpPr>
        <p:spPr>
          <a:xfrm rot="0" flipH="0" flipV="0">
            <a:off x="1114425" y="1285875"/>
            <a:ext cx="438150" cy="133350"/>
          </a:xfrm>
          <a:prstGeom prst="rect">
            <a:avLst/>
          </a:prstGeom>
          <a:solidFill>
            <a:srgbClr val="0F1423"/>
          </a:solidFill>
          <a:ln/>
        </p:spPr>
        <p:txBody>
          <a:bodyPr/>
          <a:p/>
        </p:txBody>
      </p:sp>
      <p:sp>
        <p:nvSpPr>
          <p:cNvPr id="1250" name="" descr="{&quot;isTemplate&quot;:true,&quot;type&quot;:&quot;text&quot;}"/>
          <p:cNvSpPr txBox="1"/>
          <p:nvPr/>
        </p:nvSpPr>
        <p:spPr>
          <a:xfrm rot="0" flipH="0" flipV="0">
            <a:off x="1228725" y="1285875"/>
            <a:ext cx="209550" cy="133350"/>
          </a:xfrm>
          <a:prstGeom prst="rect"/>
        </p:spPr>
        <p:txBody>
          <a:bodyPr wrap="none" lIns="0" tIns="0" rIns="0" bIns="0"/>
          <a:p>
            <a:pPr>
              <a:lnSpc>
                <a:spcPct val="100000"/>
              </a:lnSpc>
            </a:pPr>
            <a:r>
              <a:rPr lang="zh-CN" sz="825" b="1">
                <a:solidFill>
                  <a:srgbClr val="FFFFFF"/>
                </a:solidFill>
                <a:latin typeface="Microsoft YaHei"/>
                <a:ea typeface="Microsoft YaHei"/>
              </a:rPr>
              <a:t>性质</a:t>
            </a:r>
            <a:endParaRPr/>
          </a:p>
        </p:txBody>
      </p:sp>
      <p:sp>
        <p:nvSpPr>
          <p:cNvPr id="1251" name=""/>
          <p:cNvSpPr/>
          <p:nvPr/>
        </p:nvSpPr>
        <p:spPr>
          <a:xfrm rot="0" flipH="0" flipV="0">
            <a:off x="1619250" y="1285875"/>
            <a:ext cx="6657975" cy="133350"/>
          </a:xfrm>
          <a:prstGeom prst="rect">
            <a:avLst/>
          </a:prstGeom>
          <a:solidFill>
            <a:srgbClr val="0F1423"/>
          </a:solidFill>
          <a:ln/>
        </p:spPr>
        <p:txBody>
          <a:bodyPr/>
          <a:p/>
        </p:txBody>
      </p:sp>
      <p:sp>
        <p:nvSpPr>
          <p:cNvPr id="1252" name="" descr="{&quot;isTemplate&quot;:true,&quot;type&quot;:&quot;text&quot;}"/>
          <p:cNvSpPr txBox="1"/>
          <p:nvPr/>
        </p:nvSpPr>
        <p:spPr>
          <a:xfrm rot="0" flipH="0" flipV="0">
            <a:off x="1733550" y="1285875"/>
            <a:ext cx="6429375" cy="133350"/>
          </a:xfrm>
          <a:prstGeom prst="rect"/>
        </p:spPr>
        <p:txBody>
          <a:bodyPr wrap="none" lIns="0" tIns="0" rIns="0" bIns="0"/>
          <a:p>
            <a:pPr>
              <a:lnSpc>
                <a:spcPct val="100000"/>
              </a:lnSpc>
            </a:pPr>
            <a:r>
              <a:rPr lang="zh-CN" sz="825" b="1">
                <a:solidFill>
                  <a:srgbClr val="FFFFFF"/>
                </a:solidFill>
                <a:latin typeface="Microsoft YaHei"/>
                <a:ea typeface="Microsoft YaHei"/>
              </a:rPr>
              <a:t>这一步做什么</a:t>
            </a:r>
            <a:endParaRPr/>
          </a:p>
        </p:txBody>
      </p:sp>
      <p:sp>
        <p:nvSpPr>
          <p:cNvPr id="1253" name=""/>
          <p:cNvSpPr/>
          <p:nvPr/>
        </p:nvSpPr>
        <p:spPr>
          <a:xfrm rot="0" flipH="0" flipV="0">
            <a:off x="8343900" y="1285875"/>
            <a:ext cx="3238500" cy="133350"/>
          </a:xfrm>
          <a:prstGeom prst="rect">
            <a:avLst/>
          </a:prstGeom>
          <a:solidFill>
            <a:srgbClr val="0F1423"/>
          </a:solidFill>
          <a:ln/>
        </p:spPr>
        <p:txBody>
          <a:bodyPr/>
          <a:p/>
        </p:txBody>
      </p:sp>
      <p:sp>
        <p:nvSpPr>
          <p:cNvPr id="1254" name="" descr="{&quot;isTemplate&quot;:true,&quot;type&quot;:&quot;text&quot;}"/>
          <p:cNvSpPr txBox="1"/>
          <p:nvPr/>
        </p:nvSpPr>
        <p:spPr>
          <a:xfrm rot="0" flipH="0" flipV="0">
            <a:off x="8458200" y="1285875"/>
            <a:ext cx="3009900" cy="133350"/>
          </a:xfrm>
          <a:prstGeom prst="rect"/>
        </p:spPr>
        <p:txBody>
          <a:bodyPr wrap="none" lIns="0" tIns="0" rIns="0" bIns="0"/>
          <a:p>
            <a:pPr>
              <a:lnSpc>
                <a:spcPct val="100000"/>
              </a:lnSpc>
            </a:pPr>
            <a:r>
              <a:rPr lang="zh-CN" sz="825" b="1">
                <a:solidFill>
                  <a:srgbClr val="FFFFFF"/>
                </a:solidFill>
                <a:latin typeface="Microsoft YaHei"/>
                <a:ea typeface="Microsoft YaHei"/>
              </a:rPr>
              <a:t>产出物</a:t>
            </a:r>
            <a:endParaRPr/>
          </a:p>
        </p:txBody>
      </p:sp>
      <p:sp>
        <p:nvSpPr>
          <p:cNvPr id="1255" name=""/>
          <p:cNvSpPr/>
          <p:nvPr/>
        </p:nvSpPr>
        <p:spPr>
          <a:xfrm rot="0" flipH="0" flipV="0">
            <a:off x="609600" y="1485900"/>
            <a:ext cx="438150" cy="381000"/>
          </a:xfrm>
          <a:prstGeom prst="rect">
            <a:avLst/>
          </a:prstGeom>
          <a:solidFill>
            <a:srgbClr val="F7F7F8"/>
          </a:solidFill>
          <a:ln/>
        </p:spPr>
        <p:txBody>
          <a:bodyPr/>
          <a:p/>
        </p:txBody>
      </p:sp>
      <p:sp>
        <p:nvSpPr>
          <p:cNvPr id="1256" name="" descr="{&quot;isTemplate&quot;:true,&quot;type&quot;:&quot;text&quot;}"/>
          <p:cNvSpPr txBox="1"/>
          <p:nvPr/>
        </p:nvSpPr>
        <p:spPr>
          <a:xfrm rot="0" flipH="0" flipV="0">
            <a:off x="771525" y="1562100"/>
            <a:ext cx="123825" cy="228600"/>
          </a:xfrm>
          <a:prstGeom prst="rect"/>
        </p:spPr>
        <p:txBody>
          <a:bodyPr wrap="none" lIns="0" tIns="0" rIns="0" bIns="0"/>
          <a:p>
            <a:pPr>
              <a:lnSpc>
                <a:spcPct val="100000"/>
              </a:lnSpc>
            </a:pPr>
            <a:r>
              <a:rPr lang="en-US" sz="1500" b="1">
                <a:solidFill>
                  <a:srgbClr val="FA4F24"/>
                </a:solidFill>
                <a:latin typeface="Microsoft YaHei"/>
                <a:ea typeface="Microsoft YaHei"/>
              </a:rPr>
              <a:t>1</a:t>
            </a:r>
            <a:endParaRPr/>
          </a:p>
        </p:txBody>
      </p:sp>
      <p:sp>
        <p:nvSpPr>
          <p:cNvPr id="1257" name=""/>
          <p:cNvSpPr/>
          <p:nvPr/>
        </p:nvSpPr>
        <p:spPr>
          <a:xfrm rot="0" flipH="0" flipV="0">
            <a:off x="1114425" y="1485900"/>
            <a:ext cx="438150" cy="381000"/>
          </a:xfrm>
          <a:prstGeom prst="rect">
            <a:avLst/>
          </a:prstGeom>
          <a:solidFill>
            <a:srgbClr val="FFF3EE"/>
          </a:solidFill>
          <a:ln/>
        </p:spPr>
        <p:txBody>
          <a:bodyPr/>
          <a:p/>
        </p:txBody>
      </p:sp>
      <p:sp>
        <p:nvSpPr>
          <p:cNvPr id="1258" name="" descr="{&quot;isTemplate&quot;:true,&quot;type&quot;:&quot;text&quot;}"/>
          <p:cNvSpPr txBox="1"/>
          <p:nvPr/>
        </p:nvSpPr>
        <p:spPr>
          <a:xfrm rot="0" flipH="0" flipV="0">
            <a:off x="1219200" y="1609725"/>
            <a:ext cx="228600" cy="142875"/>
          </a:xfrm>
          <a:prstGeom prst="rect"/>
        </p:spPr>
        <p:txBody>
          <a:bodyPr wrap="none" lIns="0" tIns="0" rIns="0" bIns="0"/>
          <a:p>
            <a:pPr>
              <a:lnSpc>
                <a:spcPct val="100000"/>
              </a:lnSpc>
            </a:pPr>
            <a:r>
              <a:rPr lang="zh-CN" sz="900" b="1">
                <a:solidFill>
                  <a:srgbClr val="FA4F24"/>
                </a:solidFill>
                <a:latin typeface="Microsoft YaHei"/>
                <a:ea typeface="Microsoft YaHei"/>
              </a:rPr>
              <a:t>治理</a:t>
            </a:r>
            <a:endParaRPr/>
          </a:p>
        </p:txBody>
      </p:sp>
      <p:sp>
        <p:nvSpPr>
          <p:cNvPr id="1259" name=""/>
          <p:cNvSpPr/>
          <p:nvPr/>
        </p:nvSpPr>
        <p:spPr>
          <a:xfrm rot="0" flipH="0" flipV="0">
            <a:off x="1619250" y="1485900"/>
            <a:ext cx="6657975" cy="381000"/>
          </a:xfrm>
          <a:prstGeom prst="rect">
            <a:avLst/>
          </a:prstGeom>
          <a:solidFill>
            <a:srgbClr val="F7F7F8"/>
          </a:solidFill>
          <a:ln/>
        </p:spPr>
        <p:txBody>
          <a:bodyPr/>
          <a:p/>
        </p:txBody>
      </p:sp>
      <p:sp>
        <p:nvSpPr>
          <p:cNvPr id="1260" name="" descr="{&quot;isTemplate&quot;:true,&quot;type&quot;:&quot;text&quot;}"/>
          <p:cNvSpPr txBox="1"/>
          <p:nvPr/>
        </p:nvSpPr>
        <p:spPr>
          <a:xfrm rot="0" flipH="0" flipV="0">
            <a:off x="1733550" y="1600200"/>
            <a:ext cx="6429375" cy="152400"/>
          </a:xfrm>
          <a:prstGeom prst="rect"/>
        </p:spPr>
        <p:txBody>
          <a:bodyPr wrap="none" lIns="0" tIns="0" rIns="0" bIns="0"/>
          <a:p>
            <a:pPr>
              <a:lnSpc>
                <a:spcPct val="100000"/>
              </a:lnSpc>
            </a:pPr>
            <a:r>
              <a:rPr lang="zh-CN" sz="975">
                <a:solidFill>
                  <a:srgbClr val="0F1423"/>
                </a:solidFill>
                <a:latin typeface="Microsoft YaHei"/>
                <a:ea typeface="Microsoft YaHei"/>
              </a:rPr>
              <a:t>盘点治理资产与合规场景，先定「治到哪为止」</a:t>
            </a:r>
            <a:endParaRPr/>
          </a:p>
        </p:txBody>
      </p:sp>
      <p:sp>
        <p:nvSpPr>
          <p:cNvPr id="1261" name=""/>
          <p:cNvSpPr/>
          <p:nvPr/>
        </p:nvSpPr>
        <p:spPr>
          <a:xfrm rot="0" flipH="0" flipV="0">
            <a:off x="8362950" y="1485900"/>
            <a:ext cx="3219450" cy="381000"/>
          </a:xfrm>
          <a:prstGeom prst="rect">
            <a:avLst/>
          </a:prstGeom>
          <a:solidFill>
            <a:srgbClr val="FFF3EE"/>
          </a:solidFill>
          <a:ln/>
        </p:spPr>
        <p:txBody>
          <a:bodyPr/>
          <a:p/>
        </p:txBody>
      </p:sp>
      <p:sp>
        <p:nvSpPr>
          <p:cNvPr id="1262" name=""/>
          <p:cNvSpPr/>
          <p:nvPr/>
        </p:nvSpPr>
        <p:spPr>
          <a:xfrm rot="0" flipH="0" flipV="0">
            <a:off x="8343900" y="1485900"/>
            <a:ext cx="3238500" cy="381000"/>
          </a:xfrm>
          <a:custGeom>
            <a:pathLst>
              <a:path w="340" h="40">
                <a:moveTo>
                  <a:pt x="0" y="0"/>
                </a:moveTo>
                <a:lnTo>
                  <a:pt x="2" y="0"/>
                </a:lnTo>
                <a:lnTo>
                  <a:pt x="2" y="40"/>
                </a:lnTo>
                <a:lnTo>
                  <a:pt x="0" y="40"/>
                </a:lnTo>
                <a:close/>
              </a:path>
            </a:pathLst>
          </a:custGeom>
          <a:solidFill>
            <a:srgbClr val="FBA15C"/>
          </a:solidFill>
          <a:ln/>
        </p:spPr>
        <p:txBody>
          <a:bodyPr/>
          <a:p/>
        </p:txBody>
      </p:sp>
      <p:sp>
        <p:nvSpPr>
          <p:cNvPr id="1263" name="" descr="{&quot;isTemplate&quot;:true,&quot;type&quot;:&quot;text&quot;}"/>
          <p:cNvSpPr txBox="1"/>
          <p:nvPr/>
        </p:nvSpPr>
        <p:spPr>
          <a:xfrm rot="0" flipH="0" flipV="0">
            <a:off x="8477250" y="1609725"/>
            <a:ext cx="2990850" cy="142875"/>
          </a:xfrm>
          <a:prstGeom prst="rect"/>
        </p:spPr>
        <p:txBody>
          <a:bodyPr wrap="none" lIns="0" tIns="0" rIns="0" bIns="0"/>
          <a:p>
            <a:pPr>
              <a:lnSpc>
                <a:spcPct val="100000"/>
              </a:lnSpc>
            </a:pPr>
            <a:r>
              <a:rPr lang="zh-CN" sz="900" b="1">
                <a:solidFill>
                  <a:srgbClr val="C43A17"/>
                </a:solidFill>
                <a:latin typeface="Microsoft YaHei"/>
                <a:ea typeface="Microsoft YaHei"/>
              </a:rPr>
              <a:t>治理资产清单</a:t>
            </a:r>
            <a:r>
              <a:rPr lang="en-US" sz="900" b="1">
                <a:solidFill>
                  <a:srgbClr val="C43A17"/>
                </a:solidFill>
                <a:latin typeface="Microsoft YaHei"/>
                <a:ea typeface="Microsoft YaHei"/>
              </a:rPr>
              <a:t xml:space="preserve"> + </a:t>
            </a:r>
            <a:r>
              <a:rPr lang="zh-CN" sz="900" b="1">
                <a:solidFill>
                  <a:srgbClr val="C43A17"/>
                </a:solidFill>
                <a:latin typeface="Microsoft YaHei"/>
                <a:ea typeface="Microsoft YaHei"/>
              </a:rPr>
              <a:t>场景清单</a:t>
            </a:r>
            <a:endParaRPr/>
          </a:p>
        </p:txBody>
      </p:sp>
      <p:sp>
        <p:nvSpPr>
          <p:cNvPr id="1264" name=""/>
          <p:cNvSpPr/>
          <p:nvPr/>
        </p:nvSpPr>
        <p:spPr>
          <a:xfrm rot="0" flipH="0" flipV="0">
            <a:off x="609600" y="1933575"/>
            <a:ext cx="438150" cy="381000"/>
          </a:xfrm>
          <a:prstGeom prst="rect">
            <a:avLst/>
          </a:prstGeom>
          <a:solidFill>
            <a:srgbClr val="F7F7F8"/>
          </a:solidFill>
          <a:ln/>
        </p:spPr>
        <p:txBody>
          <a:bodyPr/>
          <a:p/>
        </p:txBody>
      </p:sp>
      <p:sp>
        <p:nvSpPr>
          <p:cNvPr id="1265" name="" descr="{&quot;isTemplate&quot;:true,&quot;type&quot;:&quot;text&quot;}"/>
          <p:cNvSpPr txBox="1"/>
          <p:nvPr/>
        </p:nvSpPr>
        <p:spPr>
          <a:xfrm rot="0" flipH="0" flipV="0">
            <a:off x="771525" y="2009775"/>
            <a:ext cx="123825" cy="228600"/>
          </a:xfrm>
          <a:prstGeom prst="rect"/>
        </p:spPr>
        <p:txBody>
          <a:bodyPr wrap="none" lIns="0" tIns="0" rIns="0" bIns="0"/>
          <a:p>
            <a:pPr>
              <a:lnSpc>
                <a:spcPct val="100000"/>
              </a:lnSpc>
            </a:pPr>
            <a:r>
              <a:rPr lang="en-US" sz="1500" b="1">
                <a:solidFill>
                  <a:srgbClr val="FA4F24"/>
                </a:solidFill>
                <a:latin typeface="Microsoft YaHei"/>
                <a:ea typeface="Microsoft YaHei"/>
              </a:rPr>
              <a:t>2</a:t>
            </a:r>
            <a:endParaRPr/>
          </a:p>
        </p:txBody>
      </p:sp>
      <p:sp>
        <p:nvSpPr>
          <p:cNvPr id="1266" name=""/>
          <p:cNvSpPr/>
          <p:nvPr/>
        </p:nvSpPr>
        <p:spPr>
          <a:xfrm rot="0" flipH="0" flipV="0">
            <a:off x="1114425" y="1933575"/>
            <a:ext cx="438150" cy="381000"/>
          </a:xfrm>
          <a:prstGeom prst="rect">
            <a:avLst/>
          </a:prstGeom>
          <a:solidFill>
            <a:srgbClr val="FFF3EE"/>
          </a:solidFill>
          <a:ln/>
        </p:spPr>
        <p:txBody>
          <a:bodyPr/>
          <a:p/>
        </p:txBody>
      </p:sp>
      <p:sp>
        <p:nvSpPr>
          <p:cNvPr id="1267" name="" descr="{&quot;isTemplate&quot;:true,&quot;type&quot;:&quot;text&quot;}"/>
          <p:cNvSpPr txBox="1"/>
          <p:nvPr/>
        </p:nvSpPr>
        <p:spPr>
          <a:xfrm rot="0" flipH="0" flipV="0">
            <a:off x="1219200" y="2057400"/>
            <a:ext cx="228600" cy="142875"/>
          </a:xfrm>
          <a:prstGeom prst="rect"/>
        </p:spPr>
        <p:txBody>
          <a:bodyPr wrap="none" lIns="0" tIns="0" rIns="0" bIns="0"/>
          <a:p>
            <a:pPr>
              <a:lnSpc>
                <a:spcPct val="100000"/>
              </a:lnSpc>
            </a:pPr>
            <a:r>
              <a:rPr lang="zh-CN" sz="900" b="1">
                <a:solidFill>
                  <a:srgbClr val="FA4F24"/>
                </a:solidFill>
                <a:latin typeface="Microsoft YaHei"/>
                <a:ea typeface="Microsoft YaHei"/>
              </a:rPr>
              <a:t>治理</a:t>
            </a:r>
            <a:endParaRPr/>
          </a:p>
        </p:txBody>
      </p:sp>
      <p:sp>
        <p:nvSpPr>
          <p:cNvPr id="1268" name=""/>
          <p:cNvSpPr/>
          <p:nvPr/>
        </p:nvSpPr>
        <p:spPr>
          <a:xfrm rot="0" flipH="0" flipV="0">
            <a:off x="1619250" y="1933575"/>
            <a:ext cx="6657975" cy="381000"/>
          </a:xfrm>
          <a:prstGeom prst="rect">
            <a:avLst/>
          </a:prstGeom>
          <a:solidFill>
            <a:srgbClr val="F7F7F8"/>
          </a:solidFill>
          <a:ln/>
        </p:spPr>
        <p:txBody>
          <a:bodyPr/>
          <a:p/>
        </p:txBody>
      </p:sp>
      <p:sp>
        <p:nvSpPr>
          <p:cNvPr id="1269" name="" descr="{&quot;isTemplate&quot;:true,&quot;type&quot;:&quot;text&quot;}"/>
          <p:cNvSpPr txBox="1"/>
          <p:nvPr/>
        </p:nvSpPr>
        <p:spPr>
          <a:xfrm rot="0" flipH="0" flipV="0">
            <a:off x="1733550" y="2047875"/>
            <a:ext cx="6429375" cy="152400"/>
          </a:xfrm>
          <a:prstGeom prst="rect"/>
        </p:spPr>
        <p:txBody>
          <a:bodyPr wrap="none" lIns="0" tIns="0" rIns="0" bIns="0"/>
          <a:p>
            <a:pPr>
              <a:lnSpc>
                <a:spcPct val="100000"/>
              </a:lnSpc>
            </a:pPr>
            <a:r>
              <a:rPr lang="zh-CN" sz="975">
                <a:solidFill>
                  <a:srgbClr val="0F1423"/>
                </a:solidFill>
                <a:latin typeface="Microsoft YaHei"/>
                <a:ea typeface="Microsoft YaHei"/>
              </a:rPr>
              <a:t>定裁定权、审批权、执行权，并签成制度文件</a:t>
            </a:r>
            <a:endParaRPr/>
          </a:p>
        </p:txBody>
      </p:sp>
      <p:sp>
        <p:nvSpPr>
          <p:cNvPr id="1270" name=""/>
          <p:cNvSpPr/>
          <p:nvPr/>
        </p:nvSpPr>
        <p:spPr>
          <a:xfrm rot="0" flipH="0" flipV="0">
            <a:off x="8362950" y="1933575"/>
            <a:ext cx="3219450" cy="381000"/>
          </a:xfrm>
          <a:prstGeom prst="rect">
            <a:avLst/>
          </a:prstGeom>
          <a:solidFill>
            <a:srgbClr val="FFF3EE"/>
          </a:solidFill>
          <a:ln/>
        </p:spPr>
        <p:txBody>
          <a:bodyPr/>
          <a:p/>
        </p:txBody>
      </p:sp>
      <p:sp>
        <p:nvSpPr>
          <p:cNvPr id="1271" name=""/>
          <p:cNvSpPr/>
          <p:nvPr/>
        </p:nvSpPr>
        <p:spPr>
          <a:xfrm rot="0" flipH="0" flipV="0">
            <a:off x="8343900" y="1933575"/>
            <a:ext cx="3238500" cy="381000"/>
          </a:xfrm>
          <a:custGeom>
            <a:pathLst>
              <a:path w="340" h="40">
                <a:moveTo>
                  <a:pt x="0" y="0"/>
                </a:moveTo>
                <a:lnTo>
                  <a:pt x="2" y="0"/>
                </a:lnTo>
                <a:lnTo>
                  <a:pt x="2" y="40"/>
                </a:lnTo>
                <a:lnTo>
                  <a:pt x="0" y="40"/>
                </a:lnTo>
                <a:close/>
              </a:path>
            </a:pathLst>
          </a:custGeom>
          <a:solidFill>
            <a:srgbClr val="FBA15C"/>
          </a:solidFill>
          <a:ln/>
        </p:spPr>
        <p:txBody>
          <a:bodyPr/>
          <a:p/>
        </p:txBody>
      </p:sp>
      <p:sp>
        <p:nvSpPr>
          <p:cNvPr id="1272" name="" descr="{&quot;isTemplate&quot;:true,&quot;type&quot;:&quot;text&quot;}"/>
          <p:cNvSpPr txBox="1"/>
          <p:nvPr/>
        </p:nvSpPr>
        <p:spPr>
          <a:xfrm rot="0" flipH="0" flipV="0">
            <a:off x="8477250" y="2057400"/>
            <a:ext cx="2990850" cy="142875"/>
          </a:xfrm>
          <a:prstGeom prst="rect"/>
        </p:spPr>
        <p:txBody>
          <a:bodyPr wrap="none" lIns="0" tIns="0" rIns="0" bIns="0"/>
          <a:p>
            <a:pPr>
              <a:lnSpc>
                <a:spcPct val="100000"/>
              </a:lnSpc>
            </a:pPr>
            <a:r>
              <a:rPr lang="zh-CN" sz="900" b="1">
                <a:solidFill>
                  <a:srgbClr val="C43A17"/>
                </a:solidFill>
                <a:latin typeface="Microsoft YaHei"/>
                <a:ea typeface="Microsoft YaHei"/>
              </a:rPr>
              <a:t>责任矩阵</a:t>
            </a:r>
            <a:r>
              <a:rPr lang="en-US" sz="900" b="1">
                <a:solidFill>
                  <a:srgbClr val="C43A17"/>
                </a:solidFill>
                <a:latin typeface="Microsoft YaHei"/>
                <a:ea typeface="Microsoft YaHei"/>
              </a:rPr>
              <a:t xml:space="preserve"> + </a:t>
            </a:r>
            <a:r>
              <a:rPr lang="zh-CN" sz="900" b="1">
                <a:solidFill>
                  <a:srgbClr val="C43A17"/>
                </a:solidFill>
                <a:latin typeface="Microsoft YaHei"/>
                <a:ea typeface="Microsoft YaHei"/>
              </a:rPr>
              <a:t>治理制度文件</a:t>
            </a:r>
            <a:endParaRPr/>
          </a:p>
        </p:txBody>
      </p:sp>
      <p:sp>
        <p:nvSpPr>
          <p:cNvPr id="1273" name=""/>
          <p:cNvSpPr/>
          <p:nvPr/>
        </p:nvSpPr>
        <p:spPr>
          <a:xfrm rot="0" flipH="0" flipV="0">
            <a:off x="609600" y="2381250"/>
            <a:ext cx="438150" cy="371475"/>
          </a:xfrm>
          <a:prstGeom prst="rect">
            <a:avLst/>
          </a:prstGeom>
          <a:solidFill>
            <a:srgbClr val="F7F7F8"/>
          </a:solidFill>
          <a:ln/>
        </p:spPr>
        <p:txBody>
          <a:bodyPr/>
          <a:p/>
        </p:txBody>
      </p:sp>
      <p:sp>
        <p:nvSpPr>
          <p:cNvPr id="1274" name="" descr="{&quot;isTemplate&quot;:true,&quot;type&quot;:&quot;text&quot;}"/>
          <p:cNvSpPr txBox="1"/>
          <p:nvPr/>
        </p:nvSpPr>
        <p:spPr>
          <a:xfrm rot="0" flipH="0" flipV="0">
            <a:off x="771525" y="2457450"/>
            <a:ext cx="123825" cy="228600"/>
          </a:xfrm>
          <a:prstGeom prst="rect"/>
        </p:spPr>
        <p:txBody>
          <a:bodyPr wrap="none" lIns="0" tIns="0" rIns="0" bIns="0"/>
          <a:p>
            <a:pPr>
              <a:lnSpc>
                <a:spcPct val="100000"/>
              </a:lnSpc>
            </a:pPr>
            <a:r>
              <a:rPr lang="en-US" sz="1500" b="1">
                <a:solidFill>
                  <a:srgbClr val="F87D2F"/>
                </a:solidFill>
                <a:latin typeface="Microsoft YaHei"/>
                <a:ea typeface="Microsoft YaHei"/>
              </a:rPr>
              <a:t>3</a:t>
            </a:r>
            <a:endParaRPr/>
          </a:p>
        </p:txBody>
      </p:sp>
      <p:sp>
        <p:nvSpPr>
          <p:cNvPr id="1275" name=""/>
          <p:cNvSpPr/>
          <p:nvPr/>
        </p:nvSpPr>
        <p:spPr>
          <a:xfrm rot="0" flipH="0" flipV="0">
            <a:off x="1114425" y="2381250"/>
            <a:ext cx="438150" cy="371475"/>
          </a:xfrm>
          <a:prstGeom prst="rect">
            <a:avLst/>
          </a:prstGeom>
          <a:solidFill>
            <a:srgbClr val="F7F7F8"/>
          </a:solidFill>
          <a:ln/>
        </p:spPr>
        <p:txBody>
          <a:bodyPr/>
          <a:p/>
        </p:txBody>
      </p:sp>
      <p:sp>
        <p:nvSpPr>
          <p:cNvPr id="1276" name="" descr="{&quot;isTemplate&quot;:true,&quot;type&quot;:&quot;text&quot;}"/>
          <p:cNvSpPr txBox="1"/>
          <p:nvPr/>
        </p:nvSpPr>
        <p:spPr>
          <a:xfrm rot="0" flipH="0" flipV="0">
            <a:off x="1219200" y="2495550"/>
            <a:ext cx="228600" cy="142875"/>
          </a:xfrm>
          <a:prstGeom prst="rect"/>
        </p:spPr>
        <p:txBody>
          <a:bodyPr wrap="none" lIns="0" tIns="0" rIns="0" bIns="0"/>
          <a:p>
            <a:pPr>
              <a:lnSpc>
                <a:spcPct val="100000"/>
              </a:lnSpc>
            </a:pPr>
            <a:r>
              <a:rPr lang="zh-CN" sz="900" b="1">
                <a:solidFill>
                  <a:srgbClr val="F87D2F"/>
                </a:solidFill>
                <a:latin typeface="Microsoft YaHei"/>
                <a:ea typeface="Microsoft YaHei"/>
              </a:rPr>
              <a:t>设计</a:t>
            </a:r>
            <a:endParaRPr/>
          </a:p>
        </p:txBody>
      </p:sp>
      <p:sp>
        <p:nvSpPr>
          <p:cNvPr id="1277" name=""/>
          <p:cNvSpPr/>
          <p:nvPr/>
        </p:nvSpPr>
        <p:spPr>
          <a:xfrm rot="0" flipH="0" flipV="0">
            <a:off x="1619250" y="2381250"/>
            <a:ext cx="6657975" cy="371475"/>
          </a:xfrm>
          <a:prstGeom prst="rect">
            <a:avLst/>
          </a:prstGeom>
          <a:solidFill>
            <a:srgbClr val="F7F7F8"/>
          </a:solidFill>
          <a:ln/>
        </p:spPr>
        <p:txBody>
          <a:bodyPr/>
          <a:p/>
        </p:txBody>
      </p:sp>
      <p:sp>
        <p:nvSpPr>
          <p:cNvPr id="1278" name="" descr="{&quot;isTemplate&quot;:true,&quot;type&quot;:&quot;text&quot;}"/>
          <p:cNvSpPr txBox="1"/>
          <p:nvPr/>
        </p:nvSpPr>
        <p:spPr>
          <a:xfrm rot="0" flipH="0" flipV="0">
            <a:off x="1733550" y="2495550"/>
            <a:ext cx="6429375" cy="152400"/>
          </a:xfrm>
          <a:prstGeom prst="rect"/>
        </p:spPr>
        <p:txBody>
          <a:bodyPr wrap="none" lIns="0" tIns="0" rIns="0" bIns="0"/>
          <a:p>
            <a:pPr>
              <a:lnSpc>
                <a:spcPct val="100000"/>
              </a:lnSpc>
            </a:pPr>
            <a:r>
              <a:rPr lang="zh-CN" sz="975">
                <a:solidFill>
                  <a:srgbClr val="0F1423"/>
                </a:solidFill>
                <a:latin typeface="Microsoft YaHei"/>
                <a:ea typeface="Microsoft YaHei"/>
              </a:rPr>
              <a:t>设计标记类别与层级，划分敏感度与最小必要</a:t>
            </a:r>
            <a:endParaRPr/>
          </a:p>
        </p:txBody>
      </p:sp>
      <p:sp>
        <p:nvSpPr>
          <p:cNvPr id="1279" name=""/>
          <p:cNvSpPr/>
          <p:nvPr/>
        </p:nvSpPr>
        <p:spPr>
          <a:xfrm rot="0" flipH="0" flipV="0">
            <a:off x="8362950" y="2381250"/>
            <a:ext cx="3219450" cy="371475"/>
          </a:xfrm>
          <a:prstGeom prst="rect">
            <a:avLst/>
          </a:prstGeom>
          <a:solidFill>
            <a:srgbClr val="FFF3EE"/>
          </a:solidFill>
          <a:ln/>
        </p:spPr>
        <p:txBody>
          <a:bodyPr/>
          <a:p/>
        </p:txBody>
      </p:sp>
      <p:sp>
        <p:nvSpPr>
          <p:cNvPr id="1280" name=""/>
          <p:cNvSpPr/>
          <p:nvPr/>
        </p:nvSpPr>
        <p:spPr>
          <a:xfrm rot="0" flipH="0" flipV="0">
            <a:off x="8343900" y="2381250"/>
            <a:ext cx="3238500" cy="371475"/>
          </a:xfrm>
          <a:custGeom>
            <a:pathLst>
              <a:path w="340" h="39">
                <a:moveTo>
                  <a:pt x="0" y="0"/>
                </a:moveTo>
                <a:lnTo>
                  <a:pt x="2" y="0"/>
                </a:lnTo>
                <a:lnTo>
                  <a:pt x="2" y="39"/>
                </a:lnTo>
                <a:lnTo>
                  <a:pt x="0" y="39"/>
                </a:lnTo>
                <a:close/>
              </a:path>
            </a:pathLst>
          </a:custGeom>
          <a:solidFill>
            <a:srgbClr val="FBA15C"/>
          </a:solidFill>
          <a:ln/>
        </p:spPr>
        <p:txBody>
          <a:bodyPr/>
          <a:p/>
        </p:txBody>
      </p:sp>
      <p:sp>
        <p:nvSpPr>
          <p:cNvPr id="1281" name="" descr="{&quot;isTemplate&quot;:true,&quot;type&quot;:&quot;text&quot;}"/>
          <p:cNvSpPr txBox="1"/>
          <p:nvPr/>
        </p:nvSpPr>
        <p:spPr>
          <a:xfrm rot="0" flipH="0" flipV="0">
            <a:off x="8477250" y="2495550"/>
            <a:ext cx="2990850" cy="142875"/>
          </a:xfrm>
          <a:prstGeom prst="rect"/>
        </p:spPr>
        <p:txBody>
          <a:bodyPr wrap="none" lIns="0" tIns="0" rIns="0" bIns="0"/>
          <a:p>
            <a:pPr>
              <a:lnSpc>
                <a:spcPct val="100000"/>
              </a:lnSpc>
            </a:pPr>
            <a:r>
              <a:rPr lang="zh-CN" sz="900" b="1">
                <a:solidFill>
                  <a:srgbClr val="C43A17"/>
                </a:solidFill>
                <a:latin typeface="Microsoft YaHei"/>
                <a:ea typeface="Microsoft YaHei"/>
              </a:rPr>
              <a:t>分类分级表</a:t>
            </a:r>
            <a:r>
              <a:rPr lang="en-US" sz="900" b="1">
                <a:solidFill>
                  <a:srgbClr val="C43A17"/>
                </a:solidFill>
                <a:latin typeface="Microsoft YaHei"/>
                <a:ea typeface="Microsoft YaHei"/>
              </a:rPr>
              <a:t xml:space="preserve"> + </a:t>
            </a:r>
            <a:r>
              <a:rPr lang="zh-CN" sz="900" b="1">
                <a:solidFill>
                  <a:srgbClr val="C43A17"/>
                </a:solidFill>
                <a:latin typeface="Microsoft YaHei"/>
                <a:ea typeface="Microsoft YaHei"/>
              </a:rPr>
              <a:t>标记目录</a:t>
            </a:r>
            <a:endParaRPr/>
          </a:p>
        </p:txBody>
      </p:sp>
      <p:sp>
        <p:nvSpPr>
          <p:cNvPr id="1282" name=""/>
          <p:cNvSpPr/>
          <p:nvPr/>
        </p:nvSpPr>
        <p:spPr>
          <a:xfrm rot="0" flipH="0" flipV="0">
            <a:off x="609600" y="2819400"/>
            <a:ext cx="438150" cy="381000"/>
          </a:xfrm>
          <a:prstGeom prst="rect">
            <a:avLst/>
          </a:prstGeom>
          <a:solidFill>
            <a:srgbClr val="F7F7F8"/>
          </a:solidFill>
          <a:ln/>
        </p:spPr>
        <p:txBody>
          <a:bodyPr/>
          <a:p/>
        </p:txBody>
      </p:sp>
      <p:sp>
        <p:nvSpPr>
          <p:cNvPr id="1283" name="" descr="{&quot;isTemplate&quot;:true,&quot;type&quot;:&quot;text&quot;}"/>
          <p:cNvSpPr txBox="1"/>
          <p:nvPr/>
        </p:nvSpPr>
        <p:spPr>
          <a:xfrm rot="0" flipH="0" flipV="0">
            <a:off x="771525" y="2895600"/>
            <a:ext cx="123825" cy="228600"/>
          </a:xfrm>
          <a:prstGeom prst="rect"/>
        </p:spPr>
        <p:txBody>
          <a:bodyPr wrap="none" lIns="0" tIns="0" rIns="0" bIns="0"/>
          <a:p>
            <a:pPr>
              <a:lnSpc>
                <a:spcPct val="100000"/>
              </a:lnSpc>
            </a:pPr>
            <a:r>
              <a:rPr lang="en-US" sz="1500" b="1">
                <a:solidFill>
                  <a:srgbClr val="F87D2F"/>
                </a:solidFill>
                <a:latin typeface="Microsoft YaHei"/>
                <a:ea typeface="Microsoft YaHei"/>
              </a:rPr>
              <a:t>4</a:t>
            </a:r>
            <a:endParaRPr/>
          </a:p>
        </p:txBody>
      </p:sp>
      <p:sp>
        <p:nvSpPr>
          <p:cNvPr id="1284" name=""/>
          <p:cNvSpPr/>
          <p:nvPr/>
        </p:nvSpPr>
        <p:spPr>
          <a:xfrm rot="0" flipH="0" flipV="0">
            <a:off x="1114425" y="2819400"/>
            <a:ext cx="438150" cy="381000"/>
          </a:xfrm>
          <a:prstGeom prst="rect">
            <a:avLst/>
          </a:prstGeom>
          <a:solidFill>
            <a:srgbClr val="F7F7F8"/>
          </a:solidFill>
          <a:ln/>
        </p:spPr>
        <p:txBody>
          <a:bodyPr/>
          <a:p/>
        </p:txBody>
      </p:sp>
      <p:sp>
        <p:nvSpPr>
          <p:cNvPr id="1285" name="" descr="{&quot;isTemplate&quot;:true,&quot;type&quot;:&quot;text&quot;}"/>
          <p:cNvSpPr txBox="1"/>
          <p:nvPr/>
        </p:nvSpPr>
        <p:spPr>
          <a:xfrm rot="0" flipH="0" flipV="0">
            <a:off x="1219200" y="2943225"/>
            <a:ext cx="228600" cy="142875"/>
          </a:xfrm>
          <a:prstGeom prst="rect"/>
        </p:spPr>
        <p:txBody>
          <a:bodyPr wrap="none" lIns="0" tIns="0" rIns="0" bIns="0"/>
          <a:p>
            <a:pPr>
              <a:lnSpc>
                <a:spcPct val="100000"/>
              </a:lnSpc>
            </a:pPr>
            <a:r>
              <a:rPr lang="zh-CN" sz="900" b="1">
                <a:solidFill>
                  <a:srgbClr val="F87D2F"/>
                </a:solidFill>
                <a:latin typeface="Microsoft YaHei"/>
                <a:ea typeface="Microsoft YaHei"/>
              </a:rPr>
              <a:t>设计</a:t>
            </a:r>
            <a:endParaRPr/>
          </a:p>
        </p:txBody>
      </p:sp>
      <p:sp>
        <p:nvSpPr>
          <p:cNvPr id="1286" name=""/>
          <p:cNvSpPr/>
          <p:nvPr/>
        </p:nvSpPr>
        <p:spPr>
          <a:xfrm rot="0" flipH="0" flipV="0">
            <a:off x="1619250" y="2819400"/>
            <a:ext cx="6657975" cy="381000"/>
          </a:xfrm>
          <a:prstGeom prst="rect">
            <a:avLst/>
          </a:prstGeom>
          <a:solidFill>
            <a:srgbClr val="F7F7F8"/>
          </a:solidFill>
          <a:ln/>
        </p:spPr>
        <p:txBody>
          <a:bodyPr/>
          <a:p/>
        </p:txBody>
      </p:sp>
      <p:sp>
        <p:nvSpPr>
          <p:cNvPr id="1287" name="" descr="{&quot;isTemplate&quot;:true,&quot;type&quot;:&quot;text&quot;}"/>
          <p:cNvSpPr txBox="1"/>
          <p:nvPr/>
        </p:nvSpPr>
        <p:spPr>
          <a:xfrm rot="0" flipH="0" flipV="0">
            <a:off x="1733550" y="2933700"/>
            <a:ext cx="6429375" cy="152400"/>
          </a:xfrm>
          <a:prstGeom prst="rect"/>
        </p:spPr>
        <p:txBody>
          <a:bodyPr wrap="none" lIns="0" tIns="0" rIns="0" bIns="0"/>
          <a:p>
            <a:pPr>
              <a:lnSpc>
                <a:spcPct val="100000"/>
              </a:lnSpc>
            </a:pPr>
            <a:r>
              <a:rPr lang="zh-CN" sz="975">
                <a:solidFill>
                  <a:srgbClr val="0F1423"/>
                </a:solidFill>
                <a:latin typeface="Microsoft YaHei"/>
                <a:ea typeface="Microsoft YaHei"/>
              </a:rPr>
              <a:t>组合角色、标记、属性、用途四类控制成策略</a:t>
            </a:r>
            <a:endParaRPr/>
          </a:p>
        </p:txBody>
      </p:sp>
      <p:sp>
        <p:nvSpPr>
          <p:cNvPr id="1288" name=""/>
          <p:cNvSpPr/>
          <p:nvPr/>
        </p:nvSpPr>
        <p:spPr>
          <a:xfrm rot="0" flipH="0" flipV="0">
            <a:off x="8362950" y="2819400"/>
            <a:ext cx="3219450" cy="381000"/>
          </a:xfrm>
          <a:prstGeom prst="rect">
            <a:avLst/>
          </a:prstGeom>
          <a:solidFill>
            <a:srgbClr val="FFF3EE"/>
          </a:solidFill>
          <a:ln/>
        </p:spPr>
        <p:txBody>
          <a:bodyPr/>
          <a:p/>
        </p:txBody>
      </p:sp>
      <p:sp>
        <p:nvSpPr>
          <p:cNvPr id="1289" name=""/>
          <p:cNvSpPr/>
          <p:nvPr/>
        </p:nvSpPr>
        <p:spPr>
          <a:xfrm rot="0" flipH="0" flipV="0">
            <a:off x="8343900" y="2819400"/>
            <a:ext cx="3238500" cy="381000"/>
          </a:xfrm>
          <a:custGeom>
            <a:pathLst>
              <a:path w="340" h="40">
                <a:moveTo>
                  <a:pt x="0" y="0"/>
                </a:moveTo>
                <a:lnTo>
                  <a:pt x="2" y="0"/>
                </a:lnTo>
                <a:lnTo>
                  <a:pt x="2" y="40"/>
                </a:lnTo>
                <a:lnTo>
                  <a:pt x="0" y="40"/>
                </a:lnTo>
                <a:close/>
              </a:path>
            </a:pathLst>
          </a:custGeom>
          <a:solidFill>
            <a:srgbClr val="FBA15C"/>
          </a:solidFill>
          <a:ln/>
        </p:spPr>
        <p:txBody>
          <a:bodyPr/>
          <a:p/>
        </p:txBody>
      </p:sp>
      <p:sp>
        <p:nvSpPr>
          <p:cNvPr id="1290" name="" descr="{&quot;isTemplate&quot;:true,&quot;type&quot;:&quot;text&quot;}"/>
          <p:cNvSpPr txBox="1"/>
          <p:nvPr/>
        </p:nvSpPr>
        <p:spPr>
          <a:xfrm rot="0" flipH="0" flipV="0">
            <a:off x="8477250" y="2943225"/>
            <a:ext cx="2990850" cy="142875"/>
          </a:xfrm>
          <a:prstGeom prst="rect"/>
        </p:spPr>
        <p:txBody>
          <a:bodyPr wrap="none" lIns="0" tIns="0" rIns="0" bIns="0"/>
          <a:p>
            <a:pPr>
              <a:lnSpc>
                <a:spcPct val="100000"/>
              </a:lnSpc>
            </a:pPr>
            <a:r>
              <a:rPr lang="zh-CN" sz="900" b="1">
                <a:solidFill>
                  <a:srgbClr val="C43A17"/>
                </a:solidFill>
                <a:latin typeface="Microsoft YaHei"/>
                <a:ea typeface="Microsoft YaHei"/>
              </a:rPr>
              <a:t>权限矩阵</a:t>
            </a:r>
            <a:r>
              <a:rPr lang="en-US" sz="900" b="1">
                <a:solidFill>
                  <a:srgbClr val="C43A17"/>
                </a:solidFill>
                <a:latin typeface="Microsoft YaHei"/>
                <a:ea typeface="Microsoft YaHei"/>
              </a:rPr>
              <a:t xml:space="preserve"> + </a:t>
            </a:r>
            <a:r>
              <a:rPr lang="zh-CN" sz="900" b="1">
                <a:solidFill>
                  <a:srgbClr val="C43A17"/>
                </a:solidFill>
                <a:latin typeface="Microsoft YaHei"/>
                <a:ea typeface="Microsoft YaHei"/>
              </a:rPr>
              <a:t>策略清单</a:t>
            </a:r>
            <a:endParaRPr/>
          </a:p>
        </p:txBody>
      </p:sp>
      <p:sp>
        <p:nvSpPr>
          <p:cNvPr id="1291" name=""/>
          <p:cNvSpPr/>
          <p:nvPr/>
        </p:nvSpPr>
        <p:spPr>
          <a:xfrm rot="0" flipH="0" flipV="0">
            <a:off x="609600" y="3267075"/>
            <a:ext cx="438150" cy="381000"/>
          </a:xfrm>
          <a:prstGeom prst="rect">
            <a:avLst/>
          </a:prstGeom>
          <a:solidFill>
            <a:srgbClr val="F7F7F8"/>
          </a:solidFill>
          <a:ln/>
        </p:spPr>
        <p:txBody>
          <a:bodyPr/>
          <a:p/>
        </p:txBody>
      </p:sp>
      <p:sp>
        <p:nvSpPr>
          <p:cNvPr id="1292" name="" descr="{&quot;isTemplate&quot;:true,&quot;type&quot;:&quot;text&quot;}"/>
          <p:cNvSpPr txBox="1"/>
          <p:nvPr/>
        </p:nvSpPr>
        <p:spPr>
          <a:xfrm rot="0" flipH="0" flipV="0">
            <a:off x="771525" y="3343275"/>
            <a:ext cx="123825" cy="228600"/>
          </a:xfrm>
          <a:prstGeom prst="rect"/>
        </p:spPr>
        <p:txBody>
          <a:bodyPr wrap="none" lIns="0" tIns="0" rIns="0" bIns="0"/>
          <a:p>
            <a:pPr>
              <a:lnSpc>
                <a:spcPct val="100000"/>
              </a:lnSpc>
            </a:pPr>
            <a:r>
              <a:rPr lang="en-US" sz="1500" b="1">
                <a:solidFill>
                  <a:srgbClr val="E0651A"/>
                </a:solidFill>
                <a:latin typeface="Microsoft YaHei"/>
                <a:ea typeface="Microsoft YaHei"/>
              </a:rPr>
              <a:t>5</a:t>
            </a:r>
            <a:endParaRPr/>
          </a:p>
        </p:txBody>
      </p:sp>
      <p:sp>
        <p:nvSpPr>
          <p:cNvPr id="1293" name=""/>
          <p:cNvSpPr/>
          <p:nvPr/>
        </p:nvSpPr>
        <p:spPr>
          <a:xfrm rot="0" flipH="0" flipV="0">
            <a:off x="1114425" y="3267075"/>
            <a:ext cx="438150" cy="381000"/>
          </a:xfrm>
          <a:prstGeom prst="rect">
            <a:avLst/>
          </a:prstGeom>
          <a:solidFill>
            <a:srgbClr val="F7F7F8"/>
          </a:solidFill>
          <a:ln/>
        </p:spPr>
        <p:txBody>
          <a:bodyPr/>
          <a:p/>
        </p:txBody>
      </p:sp>
      <p:sp>
        <p:nvSpPr>
          <p:cNvPr id="1294" name="" descr="{&quot;isTemplate&quot;:true,&quot;type&quot;:&quot;text&quot;}"/>
          <p:cNvSpPr txBox="1"/>
          <p:nvPr/>
        </p:nvSpPr>
        <p:spPr>
          <a:xfrm rot="0" flipH="0" flipV="0">
            <a:off x="1219200" y="3390900"/>
            <a:ext cx="228600" cy="142875"/>
          </a:xfrm>
          <a:prstGeom prst="rect"/>
        </p:spPr>
        <p:txBody>
          <a:bodyPr wrap="none" lIns="0" tIns="0" rIns="0" bIns="0"/>
          <a:p>
            <a:pPr>
              <a:lnSpc>
                <a:spcPct val="100000"/>
              </a:lnSpc>
            </a:pPr>
            <a:r>
              <a:rPr lang="zh-CN" sz="900" b="1">
                <a:solidFill>
                  <a:srgbClr val="E0651A"/>
                </a:solidFill>
                <a:latin typeface="Microsoft YaHei"/>
                <a:ea typeface="Microsoft YaHei"/>
              </a:rPr>
              <a:t>设计</a:t>
            </a:r>
            <a:endParaRPr/>
          </a:p>
        </p:txBody>
      </p:sp>
      <p:sp>
        <p:nvSpPr>
          <p:cNvPr id="1295" name=""/>
          <p:cNvSpPr/>
          <p:nvPr/>
        </p:nvSpPr>
        <p:spPr>
          <a:xfrm rot="0" flipH="0" flipV="0">
            <a:off x="1619250" y="3267075"/>
            <a:ext cx="6657975" cy="381000"/>
          </a:xfrm>
          <a:prstGeom prst="rect">
            <a:avLst/>
          </a:prstGeom>
          <a:solidFill>
            <a:srgbClr val="F7F7F8"/>
          </a:solidFill>
          <a:ln/>
        </p:spPr>
        <p:txBody>
          <a:bodyPr/>
          <a:p/>
        </p:txBody>
      </p:sp>
      <p:sp>
        <p:nvSpPr>
          <p:cNvPr id="1296" name="" descr="{&quot;isTemplate&quot;:true,&quot;type&quot;:&quot;text&quot;}"/>
          <p:cNvSpPr txBox="1"/>
          <p:nvPr/>
        </p:nvSpPr>
        <p:spPr>
          <a:xfrm rot="0" flipH="0" flipV="0">
            <a:off x="1733550" y="3381375"/>
            <a:ext cx="6429375" cy="152400"/>
          </a:xfrm>
          <a:prstGeom prst="rect"/>
        </p:spPr>
        <p:txBody>
          <a:bodyPr wrap="none" lIns="0" tIns="0" rIns="0" bIns="0"/>
          <a:p>
            <a:pPr>
              <a:lnSpc>
                <a:spcPct val="100000"/>
              </a:lnSpc>
            </a:pPr>
            <a:r>
              <a:rPr lang="zh-CN" sz="975">
                <a:solidFill>
                  <a:srgbClr val="0F1423"/>
                </a:solidFill>
                <a:latin typeface="Microsoft YaHei"/>
                <a:ea typeface="Microsoft YaHei"/>
              </a:rPr>
              <a:t>设计血缘层级与元数据字段，规定产出方式</a:t>
            </a:r>
            <a:endParaRPr/>
          </a:p>
        </p:txBody>
      </p:sp>
      <p:sp>
        <p:nvSpPr>
          <p:cNvPr id="1297" name=""/>
          <p:cNvSpPr/>
          <p:nvPr/>
        </p:nvSpPr>
        <p:spPr>
          <a:xfrm rot="0" flipH="0" flipV="0">
            <a:off x="8362950" y="3267075"/>
            <a:ext cx="3219450" cy="381000"/>
          </a:xfrm>
          <a:prstGeom prst="rect">
            <a:avLst/>
          </a:prstGeom>
          <a:solidFill>
            <a:srgbClr val="FFF3EE"/>
          </a:solidFill>
          <a:ln/>
        </p:spPr>
        <p:txBody>
          <a:bodyPr/>
          <a:p/>
        </p:txBody>
      </p:sp>
      <p:sp>
        <p:nvSpPr>
          <p:cNvPr id="1298" name=""/>
          <p:cNvSpPr/>
          <p:nvPr/>
        </p:nvSpPr>
        <p:spPr>
          <a:xfrm rot="0" flipH="0" flipV="0">
            <a:off x="8343900" y="3267075"/>
            <a:ext cx="3238500" cy="381000"/>
          </a:xfrm>
          <a:custGeom>
            <a:pathLst>
              <a:path w="340" h="40">
                <a:moveTo>
                  <a:pt x="0" y="0"/>
                </a:moveTo>
                <a:lnTo>
                  <a:pt x="2" y="0"/>
                </a:lnTo>
                <a:lnTo>
                  <a:pt x="2" y="40"/>
                </a:lnTo>
                <a:lnTo>
                  <a:pt x="0" y="40"/>
                </a:lnTo>
                <a:close/>
              </a:path>
            </a:pathLst>
          </a:custGeom>
          <a:solidFill>
            <a:srgbClr val="FBA15C"/>
          </a:solidFill>
          <a:ln/>
        </p:spPr>
        <p:txBody>
          <a:bodyPr/>
          <a:p/>
        </p:txBody>
      </p:sp>
      <p:sp>
        <p:nvSpPr>
          <p:cNvPr id="1299" name="" descr="{&quot;isTemplate&quot;:true,&quot;type&quot;:&quot;text&quot;}"/>
          <p:cNvSpPr txBox="1"/>
          <p:nvPr/>
        </p:nvSpPr>
        <p:spPr>
          <a:xfrm rot="0" flipH="0" flipV="0">
            <a:off x="8477250" y="3390900"/>
            <a:ext cx="2990850" cy="142875"/>
          </a:xfrm>
          <a:prstGeom prst="rect"/>
        </p:spPr>
        <p:txBody>
          <a:bodyPr wrap="none" lIns="0" tIns="0" rIns="0" bIns="0"/>
          <a:p>
            <a:pPr>
              <a:lnSpc>
                <a:spcPct val="100000"/>
              </a:lnSpc>
            </a:pPr>
            <a:r>
              <a:rPr lang="zh-CN" sz="900" b="1">
                <a:solidFill>
                  <a:srgbClr val="C43A17"/>
                </a:solidFill>
                <a:latin typeface="Microsoft YaHei"/>
                <a:ea typeface="Microsoft YaHei"/>
              </a:rPr>
              <a:t>血缘矩阵</a:t>
            </a:r>
            <a:r>
              <a:rPr lang="en-US" sz="900" b="1">
                <a:solidFill>
                  <a:srgbClr val="C43A17"/>
                </a:solidFill>
                <a:latin typeface="Microsoft YaHei"/>
                <a:ea typeface="Microsoft YaHei"/>
              </a:rPr>
              <a:t xml:space="preserve"> + </a:t>
            </a:r>
            <a:r>
              <a:rPr lang="zh-CN" sz="900" b="1">
                <a:solidFill>
                  <a:srgbClr val="C43A17"/>
                </a:solidFill>
                <a:latin typeface="Microsoft YaHei"/>
                <a:ea typeface="Microsoft YaHei"/>
              </a:rPr>
              <a:t>元数据规范</a:t>
            </a:r>
            <a:endParaRPr/>
          </a:p>
        </p:txBody>
      </p:sp>
      <p:sp>
        <p:nvSpPr>
          <p:cNvPr id="1300" name=""/>
          <p:cNvSpPr/>
          <p:nvPr/>
        </p:nvSpPr>
        <p:spPr>
          <a:xfrm rot="0" flipH="0" flipV="0">
            <a:off x="609600" y="3714750"/>
            <a:ext cx="438150" cy="381000"/>
          </a:xfrm>
          <a:prstGeom prst="rect">
            <a:avLst/>
          </a:prstGeom>
          <a:solidFill>
            <a:srgbClr val="F7F7F8"/>
          </a:solidFill>
          <a:ln/>
        </p:spPr>
        <p:txBody>
          <a:bodyPr/>
          <a:p/>
        </p:txBody>
      </p:sp>
      <p:sp>
        <p:nvSpPr>
          <p:cNvPr id="1301" name="" descr="{&quot;isTemplate&quot;:true,&quot;type&quot;:&quot;text&quot;}"/>
          <p:cNvSpPr txBox="1"/>
          <p:nvPr/>
        </p:nvSpPr>
        <p:spPr>
          <a:xfrm rot="0" flipH="0" flipV="0">
            <a:off x="771525" y="3790950"/>
            <a:ext cx="123825" cy="228600"/>
          </a:xfrm>
          <a:prstGeom prst="rect"/>
        </p:spPr>
        <p:txBody>
          <a:bodyPr wrap="none" lIns="0" tIns="0" rIns="0" bIns="0"/>
          <a:p>
            <a:pPr>
              <a:lnSpc>
                <a:spcPct val="100000"/>
              </a:lnSpc>
            </a:pPr>
            <a:r>
              <a:rPr lang="en-US" sz="1500" b="1">
                <a:solidFill>
                  <a:srgbClr val="E0651A"/>
                </a:solidFill>
                <a:latin typeface="Microsoft YaHei"/>
                <a:ea typeface="Microsoft YaHei"/>
              </a:rPr>
              <a:t>6</a:t>
            </a:r>
            <a:endParaRPr/>
          </a:p>
        </p:txBody>
      </p:sp>
      <p:sp>
        <p:nvSpPr>
          <p:cNvPr id="1302" name=""/>
          <p:cNvSpPr/>
          <p:nvPr/>
        </p:nvSpPr>
        <p:spPr>
          <a:xfrm rot="0" flipH="0" flipV="0">
            <a:off x="1114425" y="3714750"/>
            <a:ext cx="438150" cy="381000"/>
          </a:xfrm>
          <a:prstGeom prst="rect">
            <a:avLst/>
          </a:prstGeom>
          <a:solidFill>
            <a:srgbClr val="F7F7F8"/>
          </a:solidFill>
          <a:ln/>
        </p:spPr>
        <p:txBody>
          <a:bodyPr/>
          <a:p/>
        </p:txBody>
      </p:sp>
      <p:sp>
        <p:nvSpPr>
          <p:cNvPr id="1303" name="" descr="{&quot;isTemplate&quot;:true,&quot;type&quot;:&quot;text&quot;}"/>
          <p:cNvSpPr txBox="1"/>
          <p:nvPr/>
        </p:nvSpPr>
        <p:spPr>
          <a:xfrm rot="0" flipH="0" flipV="0">
            <a:off x="1219200" y="3838575"/>
            <a:ext cx="228600" cy="142875"/>
          </a:xfrm>
          <a:prstGeom prst="rect"/>
        </p:spPr>
        <p:txBody>
          <a:bodyPr wrap="none" lIns="0" tIns="0" rIns="0" bIns="0"/>
          <a:p>
            <a:pPr>
              <a:lnSpc>
                <a:spcPct val="100000"/>
              </a:lnSpc>
            </a:pPr>
            <a:r>
              <a:rPr lang="zh-CN" sz="900" b="1">
                <a:solidFill>
                  <a:srgbClr val="E0651A"/>
                </a:solidFill>
                <a:latin typeface="Microsoft YaHei"/>
                <a:ea typeface="Microsoft YaHei"/>
              </a:rPr>
              <a:t>工程</a:t>
            </a:r>
            <a:endParaRPr/>
          </a:p>
        </p:txBody>
      </p:sp>
      <p:sp>
        <p:nvSpPr>
          <p:cNvPr id="1304" name=""/>
          <p:cNvSpPr/>
          <p:nvPr/>
        </p:nvSpPr>
        <p:spPr>
          <a:xfrm rot="0" flipH="0" flipV="0">
            <a:off x="1619250" y="3714750"/>
            <a:ext cx="6657975" cy="381000"/>
          </a:xfrm>
          <a:prstGeom prst="rect">
            <a:avLst/>
          </a:prstGeom>
          <a:solidFill>
            <a:srgbClr val="F7F7F8"/>
          </a:solidFill>
          <a:ln/>
        </p:spPr>
        <p:txBody>
          <a:bodyPr/>
          <a:p/>
        </p:txBody>
      </p:sp>
      <p:sp>
        <p:nvSpPr>
          <p:cNvPr id="1305" name="" descr="{&quot;isTemplate&quot;:true,&quot;type&quot;:&quot;text&quot;}"/>
          <p:cNvSpPr txBox="1"/>
          <p:nvPr/>
        </p:nvSpPr>
        <p:spPr>
          <a:xfrm rot="0" flipH="0" flipV="0">
            <a:off x="1733550" y="3829050"/>
            <a:ext cx="6429375" cy="152400"/>
          </a:xfrm>
          <a:prstGeom prst="rect"/>
        </p:spPr>
        <p:txBody>
          <a:bodyPr wrap="none" lIns="0" tIns="0" rIns="0" bIns="0"/>
          <a:p>
            <a:pPr>
              <a:lnSpc>
                <a:spcPct val="100000"/>
              </a:lnSpc>
            </a:pPr>
            <a:r>
              <a:rPr lang="zh-CN" sz="975">
                <a:solidFill>
                  <a:srgbClr val="0F1423"/>
                </a:solidFill>
                <a:latin typeface="Microsoft YaHei"/>
                <a:ea typeface="Microsoft YaHei"/>
              </a:rPr>
              <a:t>设计五类健康检查、告警与可信度指标</a:t>
            </a:r>
            <a:endParaRPr/>
          </a:p>
        </p:txBody>
      </p:sp>
      <p:sp>
        <p:nvSpPr>
          <p:cNvPr id="1306" name=""/>
          <p:cNvSpPr/>
          <p:nvPr/>
        </p:nvSpPr>
        <p:spPr>
          <a:xfrm rot="0" flipH="0" flipV="0">
            <a:off x="8362950" y="3714750"/>
            <a:ext cx="3219450" cy="381000"/>
          </a:xfrm>
          <a:prstGeom prst="rect">
            <a:avLst/>
          </a:prstGeom>
          <a:solidFill>
            <a:srgbClr val="FFF3EE"/>
          </a:solidFill>
          <a:ln/>
        </p:spPr>
        <p:txBody>
          <a:bodyPr/>
          <a:p/>
        </p:txBody>
      </p:sp>
      <p:sp>
        <p:nvSpPr>
          <p:cNvPr id="1307" name=""/>
          <p:cNvSpPr/>
          <p:nvPr/>
        </p:nvSpPr>
        <p:spPr>
          <a:xfrm rot="0" flipH="0" flipV="0">
            <a:off x="8343900" y="3714750"/>
            <a:ext cx="3238500" cy="381000"/>
          </a:xfrm>
          <a:custGeom>
            <a:pathLst>
              <a:path w="340" h="40">
                <a:moveTo>
                  <a:pt x="0" y="0"/>
                </a:moveTo>
                <a:lnTo>
                  <a:pt x="2" y="0"/>
                </a:lnTo>
                <a:lnTo>
                  <a:pt x="2" y="40"/>
                </a:lnTo>
                <a:lnTo>
                  <a:pt x="0" y="40"/>
                </a:lnTo>
                <a:close/>
              </a:path>
            </a:pathLst>
          </a:custGeom>
          <a:solidFill>
            <a:srgbClr val="FBA15C"/>
          </a:solidFill>
          <a:ln/>
        </p:spPr>
        <p:txBody>
          <a:bodyPr/>
          <a:p/>
        </p:txBody>
      </p:sp>
      <p:sp>
        <p:nvSpPr>
          <p:cNvPr id="1308" name="" descr="{&quot;isTemplate&quot;:true,&quot;type&quot;:&quot;text&quot;}"/>
          <p:cNvSpPr txBox="1"/>
          <p:nvPr/>
        </p:nvSpPr>
        <p:spPr>
          <a:xfrm rot="0" flipH="0" flipV="0">
            <a:off x="8477250" y="3838575"/>
            <a:ext cx="2990850" cy="142875"/>
          </a:xfrm>
          <a:prstGeom prst="rect"/>
        </p:spPr>
        <p:txBody>
          <a:bodyPr wrap="none" lIns="0" tIns="0" rIns="0" bIns="0"/>
          <a:p>
            <a:pPr>
              <a:lnSpc>
                <a:spcPct val="100000"/>
              </a:lnSpc>
            </a:pPr>
            <a:r>
              <a:rPr lang="zh-CN" sz="900" b="1">
                <a:solidFill>
                  <a:srgbClr val="C43A17"/>
                </a:solidFill>
                <a:latin typeface="Microsoft YaHei"/>
                <a:ea typeface="Microsoft YaHei"/>
              </a:rPr>
              <a:t>健康检查清单</a:t>
            </a:r>
            <a:r>
              <a:rPr lang="en-US" sz="900" b="1">
                <a:solidFill>
                  <a:srgbClr val="C43A17"/>
                </a:solidFill>
                <a:latin typeface="Microsoft YaHei"/>
                <a:ea typeface="Microsoft YaHei"/>
              </a:rPr>
              <a:t xml:space="preserve"> + </a:t>
            </a:r>
            <a:r>
              <a:rPr lang="zh-CN" sz="900" b="1">
                <a:solidFill>
                  <a:srgbClr val="C43A17"/>
                </a:solidFill>
                <a:latin typeface="Microsoft YaHei"/>
                <a:ea typeface="Microsoft YaHei"/>
              </a:rPr>
              <a:t>告警矩阵</a:t>
            </a:r>
            <a:endParaRPr/>
          </a:p>
        </p:txBody>
      </p:sp>
      <p:sp>
        <p:nvSpPr>
          <p:cNvPr id="1309" name=""/>
          <p:cNvSpPr/>
          <p:nvPr/>
        </p:nvSpPr>
        <p:spPr>
          <a:xfrm rot="0" flipH="0" flipV="0">
            <a:off x="609600" y="4162425"/>
            <a:ext cx="438150" cy="371475"/>
          </a:xfrm>
          <a:prstGeom prst="rect">
            <a:avLst/>
          </a:prstGeom>
          <a:solidFill>
            <a:srgbClr val="F7F7F8"/>
          </a:solidFill>
          <a:ln/>
        </p:spPr>
        <p:txBody>
          <a:bodyPr/>
          <a:p/>
        </p:txBody>
      </p:sp>
      <p:sp>
        <p:nvSpPr>
          <p:cNvPr id="1310" name="" descr="{&quot;isTemplate&quot;:true,&quot;type&quot;:&quot;text&quot;}"/>
          <p:cNvSpPr txBox="1"/>
          <p:nvPr/>
        </p:nvSpPr>
        <p:spPr>
          <a:xfrm rot="0" flipH="0" flipV="0">
            <a:off x="771525" y="4238625"/>
            <a:ext cx="123825" cy="228600"/>
          </a:xfrm>
          <a:prstGeom prst="rect"/>
        </p:spPr>
        <p:txBody>
          <a:bodyPr wrap="none" lIns="0" tIns="0" rIns="0" bIns="0"/>
          <a:p>
            <a:pPr>
              <a:lnSpc>
                <a:spcPct val="100000"/>
              </a:lnSpc>
            </a:pPr>
            <a:r>
              <a:rPr lang="en-US" sz="1500" b="1">
                <a:solidFill>
                  <a:srgbClr val="C43A17"/>
                </a:solidFill>
                <a:latin typeface="Microsoft YaHei"/>
                <a:ea typeface="Microsoft YaHei"/>
              </a:rPr>
              <a:t>7</a:t>
            </a:r>
            <a:endParaRPr/>
          </a:p>
        </p:txBody>
      </p:sp>
      <p:sp>
        <p:nvSpPr>
          <p:cNvPr id="1311" name=""/>
          <p:cNvSpPr/>
          <p:nvPr/>
        </p:nvSpPr>
        <p:spPr>
          <a:xfrm rot="0" flipH="0" flipV="0">
            <a:off x="1114425" y="4162425"/>
            <a:ext cx="438150" cy="371475"/>
          </a:xfrm>
          <a:prstGeom prst="rect">
            <a:avLst/>
          </a:prstGeom>
          <a:solidFill>
            <a:srgbClr val="F7F7F8"/>
          </a:solidFill>
          <a:ln/>
        </p:spPr>
        <p:txBody>
          <a:bodyPr/>
          <a:p/>
        </p:txBody>
      </p:sp>
      <p:sp>
        <p:nvSpPr>
          <p:cNvPr id="1312" name="" descr="{&quot;isTemplate&quot;:true,&quot;type&quot;:&quot;text&quot;}"/>
          <p:cNvSpPr txBox="1"/>
          <p:nvPr/>
        </p:nvSpPr>
        <p:spPr>
          <a:xfrm rot="0" flipH="0" flipV="0">
            <a:off x="1219200" y="4276725"/>
            <a:ext cx="228600" cy="142875"/>
          </a:xfrm>
          <a:prstGeom prst="rect"/>
        </p:spPr>
        <p:txBody>
          <a:bodyPr wrap="none" lIns="0" tIns="0" rIns="0" bIns="0"/>
          <a:p>
            <a:pPr>
              <a:lnSpc>
                <a:spcPct val="100000"/>
              </a:lnSpc>
            </a:pPr>
            <a:r>
              <a:rPr lang="zh-CN" sz="900" b="1">
                <a:solidFill>
                  <a:srgbClr val="C43A17"/>
                </a:solidFill>
                <a:latin typeface="Microsoft YaHei"/>
                <a:ea typeface="Microsoft YaHei"/>
              </a:rPr>
              <a:t>工程</a:t>
            </a:r>
            <a:endParaRPr/>
          </a:p>
        </p:txBody>
      </p:sp>
      <p:sp>
        <p:nvSpPr>
          <p:cNvPr id="1313" name=""/>
          <p:cNvSpPr/>
          <p:nvPr/>
        </p:nvSpPr>
        <p:spPr>
          <a:xfrm rot="0" flipH="0" flipV="0">
            <a:off x="1619250" y="4162425"/>
            <a:ext cx="6657975" cy="371475"/>
          </a:xfrm>
          <a:prstGeom prst="rect">
            <a:avLst/>
          </a:prstGeom>
          <a:solidFill>
            <a:srgbClr val="F7F7F8"/>
          </a:solidFill>
          <a:ln/>
        </p:spPr>
        <p:txBody>
          <a:bodyPr/>
          <a:p/>
        </p:txBody>
      </p:sp>
      <p:sp>
        <p:nvSpPr>
          <p:cNvPr id="1314" name="" descr="{&quot;isTemplate&quot;:true,&quot;type&quot;:&quot;text&quot;}"/>
          <p:cNvSpPr txBox="1"/>
          <p:nvPr/>
        </p:nvSpPr>
        <p:spPr>
          <a:xfrm rot="0" flipH="0" flipV="0">
            <a:off x="1733550" y="4276725"/>
            <a:ext cx="6429375" cy="152400"/>
          </a:xfrm>
          <a:prstGeom prst="rect"/>
        </p:spPr>
        <p:txBody>
          <a:bodyPr wrap="none" lIns="0" tIns="0" rIns="0" bIns="0"/>
          <a:p>
            <a:pPr>
              <a:lnSpc>
                <a:spcPct val="100000"/>
              </a:lnSpc>
            </a:pPr>
            <a:r>
              <a:rPr lang="zh-CN" sz="975">
                <a:solidFill>
                  <a:srgbClr val="0F1423"/>
                </a:solidFill>
                <a:latin typeface="Microsoft YaHei"/>
                <a:ea typeface="Microsoft YaHei"/>
              </a:rPr>
              <a:t>设计提案、评审、双签与回退流程</a:t>
            </a:r>
            <a:endParaRPr/>
          </a:p>
        </p:txBody>
      </p:sp>
      <p:sp>
        <p:nvSpPr>
          <p:cNvPr id="1315" name=""/>
          <p:cNvSpPr/>
          <p:nvPr/>
        </p:nvSpPr>
        <p:spPr>
          <a:xfrm rot="0" flipH="0" flipV="0">
            <a:off x="8362950" y="4162425"/>
            <a:ext cx="3219450" cy="371475"/>
          </a:xfrm>
          <a:prstGeom prst="rect">
            <a:avLst/>
          </a:prstGeom>
          <a:solidFill>
            <a:srgbClr val="FFF3EE"/>
          </a:solidFill>
          <a:ln/>
        </p:spPr>
        <p:txBody>
          <a:bodyPr/>
          <a:p/>
        </p:txBody>
      </p:sp>
      <p:sp>
        <p:nvSpPr>
          <p:cNvPr id="1316" name=""/>
          <p:cNvSpPr/>
          <p:nvPr/>
        </p:nvSpPr>
        <p:spPr>
          <a:xfrm rot="0" flipH="0" flipV="0">
            <a:off x="8343900" y="4162425"/>
            <a:ext cx="3238500" cy="371475"/>
          </a:xfrm>
          <a:custGeom>
            <a:pathLst>
              <a:path w="340" h="39">
                <a:moveTo>
                  <a:pt x="0" y="0"/>
                </a:moveTo>
                <a:lnTo>
                  <a:pt x="2" y="0"/>
                </a:lnTo>
                <a:lnTo>
                  <a:pt x="2" y="39"/>
                </a:lnTo>
                <a:lnTo>
                  <a:pt x="0" y="39"/>
                </a:lnTo>
                <a:close/>
              </a:path>
            </a:pathLst>
          </a:custGeom>
          <a:solidFill>
            <a:srgbClr val="FBA15C"/>
          </a:solidFill>
          <a:ln/>
        </p:spPr>
        <p:txBody>
          <a:bodyPr/>
          <a:p/>
        </p:txBody>
      </p:sp>
      <p:sp>
        <p:nvSpPr>
          <p:cNvPr id="1317" name="" descr="{&quot;isTemplate&quot;:true,&quot;type&quot;:&quot;text&quot;}"/>
          <p:cNvSpPr txBox="1"/>
          <p:nvPr/>
        </p:nvSpPr>
        <p:spPr>
          <a:xfrm rot="0" flipH="0" flipV="0">
            <a:off x="8477250" y="4276725"/>
            <a:ext cx="2990850" cy="142875"/>
          </a:xfrm>
          <a:prstGeom prst="rect"/>
        </p:spPr>
        <p:txBody>
          <a:bodyPr wrap="none" lIns="0" tIns="0" rIns="0" bIns="0"/>
          <a:p>
            <a:pPr>
              <a:lnSpc>
                <a:spcPct val="100000"/>
              </a:lnSpc>
            </a:pPr>
            <a:r>
              <a:rPr lang="zh-CN" sz="900" b="1">
                <a:solidFill>
                  <a:srgbClr val="C43A17"/>
                </a:solidFill>
                <a:latin typeface="Microsoft YaHei"/>
                <a:ea typeface="Microsoft YaHei"/>
              </a:rPr>
              <a:t>提案规范</a:t>
            </a:r>
            <a:r>
              <a:rPr lang="en-US" sz="900" b="1">
                <a:solidFill>
                  <a:srgbClr val="C43A17"/>
                </a:solidFill>
                <a:latin typeface="Microsoft YaHei"/>
                <a:ea typeface="Microsoft YaHei"/>
              </a:rPr>
              <a:t xml:space="preserve"> + </a:t>
            </a:r>
            <a:r>
              <a:rPr lang="zh-CN" sz="900" b="1">
                <a:solidFill>
                  <a:srgbClr val="C43A17"/>
                </a:solidFill>
                <a:latin typeface="Microsoft YaHei"/>
                <a:ea typeface="Microsoft YaHei"/>
              </a:rPr>
              <a:t>审批流程图</a:t>
            </a:r>
            <a:endParaRPr/>
          </a:p>
        </p:txBody>
      </p:sp>
      <p:sp>
        <p:nvSpPr>
          <p:cNvPr id="1318" name=""/>
          <p:cNvSpPr/>
          <p:nvPr/>
        </p:nvSpPr>
        <p:spPr>
          <a:xfrm rot="0" flipH="0" flipV="0">
            <a:off x="609600" y="4600575"/>
            <a:ext cx="438150" cy="381000"/>
          </a:xfrm>
          <a:prstGeom prst="rect">
            <a:avLst/>
          </a:prstGeom>
          <a:solidFill>
            <a:srgbClr val="F7F7F8"/>
          </a:solidFill>
          <a:ln/>
        </p:spPr>
        <p:txBody>
          <a:bodyPr/>
          <a:p/>
        </p:txBody>
      </p:sp>
      <p:sp>
        <p:nvSpPr>
          <p:cNvPr id="1319" name="" descr="{&quot;isTemplate&quot;:true,&quot;type&quot;:&quot;text&quot;}"/>
          <p:cNvSpPr txBox="1"/>
          <p:nvPr/>
        </p:nvSpPr>
        <p:spPr>
          <a:xfrm rot="0" flipH="0" flipV="0">
            <a:off x="771525" y="4676775"/>
            <a:ext cx="123825" cy="228600"/>
          </a:xfrm>
          <a:prstGeom prst="rect"/>
        </p:spPr>
        <p:txBody>
          <a:bodyPr wrap="none" lIns="0" tIns="0" rIns="0" bIns="0"/>
          <a:p>
            <a:pPr>
              <a:lnSpc>
                <a:spcPct val="100000"/>
              </a:lnSpc>
            </a:pPr>
            <a:r>
              <a:rPr lang="en-US" sz="1500" b="1">
                <a:solidFill>
                  <a:srgbClr val="C43A17"/>
                </a:solidFill>
                <a:latin typeface="Microsoft YaHei"/>
                <a:ea typeface="Microsoft YaHei"/>
              </a:rPr>
              <a:t>8</a:t>
            </a:r>
            <a:endParaRPr/>
          </a:p>
        </p:txBody>
      </p:sp>
      <p:sp>
        <p:nvSpPr>
          <p:cNvPr id="1320" name=""/>
          <p:cNvSpPr/>
          <p:nvPr/>
        </p:nvSpPr>
        <p:spPr>
          <a:xfrm rot="0" flipH="0" flipV="0">
            <a:off x="1114425" y="4600575"/>
            <a:ext cx="438150" cy="381000"/>
          </a:xfrm>
          <a:prstGeom prst="rect">
            <a:avLst/>
          </a:prstGeom>
          <a:solidFill>
            <a:srgbClr val="F7F7F8"/>
          </a:solidFill>
          <a:ln/>
        </p:spPr>
        <p:txBody>
          <a:bodyPr/>
          <a:p/>
        </p:txBody>
      </p:sp>
      <p:sp>
        <p:nvSpPr>
          <p:cNvPr id="1321" name="" descr="{&quot;isTemplate&quot;:true,&quot;type&quot;:&quot;text&quot;}"/>
          <p:cNvSpPr txBox="1"/>
          <p:nvPr/>
        </p:nvSpPr>
        <p:spPr>
          <a:xfrm rot="0" flipH="0" flipV="0">
            <a:off x="1219200" y="4724400"/>
            <a:ext cx="228600" cy="142875"/>
          </a:xfrm>
          <a:prstGeom prst="rect"/>
        </p:spPr>
        <p:txBody>
          <a:bodyPr wrap="none" lIns="0" tIns="0" rIns="0" bIns="0"/>
          <a:p>
            <a:pPr>
              <a:lnSpc>
                <a:spcPct val="100000"/>
              </a:lnSpc>
            </a:pPr>
            <a:r>
              <a:rPr lang="zh-CN" sz="900" b="1">
                <a:solidFill>
                  <a:srgbClr val="C43A17"/>
                </a:solidFill>
                <a:latin typeface="Microsoft YaHei"/>
                <a:ea typeface="Microsoft YaHei"/>
              </a:rPr>
              <a:t>运营</a:t>
            </a:r>
            <a:endParaRPr/>
          </a:p>
        </p:txBody>
      </p:sp>
      <p:sp>
        <p:nvSpPr>
          <p:cNvPr id="1322" name=""/>
          <p:cNvSpPr/>
          <p:nvPr/>
        </p:nvSpPr>
        <p:spPr>
          <a:xfrm rot="0" flipH="0" flipV="0">
            <a:off x="1619250" y="4600575"/>
            <a:ext cx="6657975" cy="381000"/>
          </a:xfrm>
          <a:prstGeom prst="rect">
            <a:avLst/>
          </a:prstGeom>
          <a:solidFill>
            <a:srgbClr val="F7F7F8"/>
          </a:solidFill>
          <a:ln/>
        </p:spPr>
        <p:txBody>
          <a:bodyPr/>
          <a:p/>
        </p:txBody>
      </p:sp>
      <p:sp>
        <p:nvSpPr>
          <p:cNvPr id="1323" name="" descr="{&quot;isTemplate&quot;:true,&quot;type&quot;:&quot;text&quot;}"/>
          <p:cNvSpPr txBox="1"/>
          <p:nvPr/>
        </p:nvSpPr>
        <p:spPr>
          <a:xfrm rot="0" flipH="0" flipV="0">
            <a:off x="1733550" y="4714875"/>
            <a:ext cx="6429375" cy="152400"/>
          </a:xfrm>
          <a:prstGeom prst="rect"/>
        </p:spPr>
        <p:txBody>
          <a:bodyPr wrap="none" lIns="0" tIns="0" rIns="0" bIns="0"/>
          <a:p>
            <a:pPr>
              <a:lnSpc>
                <a:spcPct val="100000"/>
              </a:lnSpc>
            </a:pPr>
            <a:r>
              <a:rPr lang="zh-CN" sz="975">
                <a:solidFill>
                  <a:srgbClr val="0F1423"/>
                </a:solidFill>
                <a:latin typeface="Microsoft YaHei"/>
                <a:ea typeface="Microsoft YaHei"/>
              </a:rPr>
              <a:t>设计审计日志、成熟度评估与演进路线</a:t>
            </a:r>
            <a:endParaRPr/>
          </a:p>
        </p:txBody>
      </p:sp>
      <p:sp>
        <p:nvSpPr>
          <p:cNvPr id="1324" name=""/>
          <p:cNvSpPr/>
          <p:nvPr/>
        </p:nvSpPr>
        <p:spPr>
          <a:xfrm rot="0" flipH="0" flipV="0">
            <a:off x="8362950" y="4600575"/>
            <a:ext cx="3219450" cy="381000"/>
          </a:xfrm>
          <a:prstGeom prst="rect">
            <a:avLst/>
          </a:prstGeom>
          <a:solidFill>
            <a:srgbClr val="FFF3EE"/>
          </a:solidFill>
          <a:ln/>
        </p:spPr>
        <p:txBody>
          <a:bodyPr/>
          <a:p/>
        </p:txBody>
      </p:sp>
      <p:sp>
        <p:nvSpPr>
          <p:cNvPr id="1325" name=""/>
          <p:cNvSpPr/>
          <p:nvPr/>
        </p:nvSpPr>
        <p:spPr>
          <a:xfrm rot="0" flipH="0" flipV="0">
            <a:off x="8343900" y="4600575"/>
            <a:ext cx="3238500" cy="381000"/>
          </a:xfrm>
          <a:custGeom>
            <a:pathLst>
              <a:path w="340" h="40">
                <a:moveTo>
                  <a:pt x="0" y="0"/>
                </a:moveTo>
                <a:lnTo>
                  <a:pt x="2" y="0"/>
                </a:lnTo>
                <a:lnTo>
                  <a:pt x="2" y="40"/>
                </a:lnTo>
                <a:lnTo>
                  <a:pt x="0" y="40"/>
                </a:lnTo>
                <a:close/>
              </a:path>
            </a:pathLst>
          </a:custGeom>
          <a:solidFill>
            <a:srgbClr val="FBA15C"/>
          </a:solidFill>
          <a:ln/>
        </p:spPr>
        <p:txBody>
          <a:bodyPr/>
          <a:p/>
        </p:txBody>
      </p:sp>
      <p:sp>
        <p:nvSpPr>
          <p:cNvPr id="1326" name="" descr="{&quot;isTemplate&quot;:true,&quot;type&quot;:&quot;text&quot;}"/>
          <p:cNvSpPr txBox="1"/>
          <p:nvPr/>
        </p:nvSpPr>
        <p:spPr>
          <a:xfrm rot="0" flipH="0" flipV="0">
            <a:off x="8477250" y="4724400"/>
            <a:ext cx="2990850" cy="142875"/>
          </a:xfrm>
          <a:prstGeom prst="rect"/>
        </p:spPr>
        <p:txBody>
          <a:bodyPr wrap="none" lIns="0" tIns="0" rIns="0" bIns="0"/>
          <a:p>
            <a:pPr>
              <a:lnSpc>
                <a:spcPct val="100000"/>
              </a:lnSpc>
            </a:pPr>
            <a:r>
              <a:rPr lang="zh-CN" sz="900" b="1">
                <a:solidFill>
                  <a:srgbClr val="C43A17"/>
                </a:solidFill>
                <a:latin typeface="Microsoft YaHei"/>
                <a:ea typeface="Microsoft YaHei"/>
              </a:rPr>
              <a:t>审计规范</a:t>
            </a:r>
            <a:r>
              <a:rPr lang="en-US" sz="900" b="1">
                <a:solidFill>
                  <a:srgbClr val="C43A17"/>
                </a:solidFill>
                <a:latin typeface="Microsoft YaHei"/>
                <a:ea typeface="Microsoft YaHei"/>
              </a:rPr>
              <a:t xml:space="preserve"> + </a:t>
            </a:r>
            <a:r>
              <a:rPr lang="zh-CN" sz="900" b="1">
                <a:solidFill>
                  <a:srgbClr val="C43A17"/>
                </a:solidFill>
                <a:latin typeface="Microsoft YaHei"/>
                <a:ea typeface="Microsoft YaHei"/>
              </a:rPr>
              <a:t>演进路线图</a:t>
            </a:r>
            <a:endParaRPr/>
          </a:p>
        </p:txBody>
      </p:sp>
      <p:sp>
        <p:nvSpPr>
          <p:cNvPr id="1327" name=""/>
          <p:cNvSpPr/>
          <p:nvPr/>
        </p:nvSpPr>
        <p:spPr>
          <a:xfrm rot="0" flipH="0" flipV="0">
            <a:off x="609600" y="5048250"/>
            <a:ext cx="10972800" cy="590550"/>
          </a:xfrm>
          <a:prstGeom prst="roundRect">
            <a:avLst>
              <a:gd name="adj" fmla="val 6452"/>
            </a:avLst>
          </a:prstGeom>
          <a:solidFill>
            <a:srgbClr val="0F1423"/>
          </a:solidFill>
          <a:ln/>
        </p:spPr>
        <p:txBody>
          <a:bodyPr/>
          <a:p/>
        </p:txBody>
      </p:sp>
      <p:sp>
        <p:nvSpPr>
          <p:cNvPr id="1328" name="" descr="{&quot;isTemplate&quot;:true,&quot;type&quot;:&quot;text&quot;}"/>
          <p:cNvSpPr txBox="1"/>
          <p:nvPr/>
        </p:nvSpPr>
        <p:spPr>
          <a:xfrm rot="0" flipH="0" flipV="0">
            <a:off x="781050" y="5267325"/>
            <a:ext cx="1219200" cy="161925"/>
          </a:xfrm>
          <a:prstGeom prst="rect"/>
        </p:spPr>
        <p:txBody>
          <a:bodyPr wrap="none" lIns="0" tIns="0" rIns="0" bIns="0"/>
          <a:p>
            <a:pPr>
              <a:lnSpc>
                <a:spcPct val="100000"/>
              </a:lnSpc>
            </a:pPr>
            <a:r>
              <a:rPr lang="zh-CN" sz="1050" b="1">
                <a:solidFill>
                  <a:srgbClr val="FBA15C"/>
                </a:solidFill>
                <a:latin typeface="Microsoft YaHei"/>
                <a:ea typeface="Microsoft YaHei"/>
              </a:rPr>
              <a:t>三条硬规则</a:t>
            </a:r>
            <a:endParaRPr/>
          </a:p>
        </p:txBody>
      </p:sp>
      <p:sp>
        <p:nvSpPr>
          <p:cNvPr id="1329" name=""/>
          <p:cNvSpPr/>
          <p:nvPr/>
        </p:nvSpPr>
        <p:spPr>
          <a:xfrm rot="0" flipH="0" flipV="0">
            <a:off x="2114550" y="5143500"/>
            <a:ext cx="3038475" cy="400050"/>
          </a:xfrm>
          <a:prstGeom prst="roundRect">
            <a:avLst>
              <a:gd name="adj" fmla="val 7143"/>
            </a:avLst>
          </a:prstGeom>
          <a:solidFill>
            <a:srgbClr val="FFFFFF">
              <a:alpha val="7000"/>
            </a:srgbClr>
          </a:solidFill>
          <a:ln/>
        </p:spPr>
        <p:txBody>
          <a:bodyPr/>
          <a:p/>
        </p:txBody>
      </p:sp>
      <p:sp>
        <p:nvSpPr>
          <p:cNvPr id="1330" name="" descr="{&quot;isTemplate&quot;:true,&quot;type&quot;:&quot;text&quot;}"/>
          <p:cNvSpPr txBox="1"/>
          <p:nvPr/>
        </p:nvSpPr>
        <p:spPr>
          <a:xfrm rot="0" flipH="0" flipV="0">
            <a:off x="2209800" y="5210175"/>
            <a:ext cx="66675" cy="133350"/>
          </a:xfrm>
          <a:prstGeom prst="rect"/>
        </p:spPr>
        <p:txBody>
          <a:bodyPr wrap="none" lIns="0" tIns="0" rIns="0" bIns="0"/>
          <a:p>
            <a:pPr>
              <a:lnSpc>
                <a:spcPct val="100000"/>
              </a:lnSpc>
            </a:pPr>
            <a:r>
              <a:rPr lang="en-US" sz="825" b="1">
                <a:solidFill>
                  <a:srgbClr val="FA4F24"/>
                </a:solidFill>
                <a:latin typeface="Microsoft YaHei"/>
                <a:ea typeface="Microsoft YaHei"/>
              </a:rPr>
              <a:t>1</a:t>
            </a:r>
            <a:endParaRPr/>
          </a:p>
        </p:txBody>
      </p:sp>
      <p:sp>
        <p:nvSpPr>
          <p:cNvPr id="1331" name="" descr="{&quot;isTemplate&quot;:true,&quot;type&quot;:&quot;text&quot;}"/>
          <p:cNvSpPr txBox="1"/>
          <p:nvPr/>
        </p:nvSpPr>
        <p:spPr>
          <a:xfrm rot="0" flipH="0" flipV="0">
            <a:off x="2343150" y="5200650"/>
            <a:ext cx="990600" cy="152400"/>
          </a:xfrm>
          <a:prstGeom prst="rect"/>
        </p:spPr>
        <p:txBody>
          <a:bodyPr wrap="none" lIns="0" tIns="0" rIns="0" bIns="0"/>
          <a:p>
            <a:pPr>
              <a:lnSpc>
                <a:spcPct val="100000"/>
              </a:lnSpc>
            </a:pPr>
            <a:r>
              <a:rPr lang="zh-CN" sz="975" b="1">
                <a:solidFill>
                  <a:srgbClr val="FFFFFF"/>
                </a:solidFill>
                <a:latin typeface="Microsoft YaHei"/>
                <a:ea typeface="Microsoft YaHei"/>
              </a:rPr>
              <a:t>先分标记再给权限</a:t>
            </a:r>
            <a:endParaRPr/>
          </a:p>
        </p:txBody>
      </p:sp>
      <p:sp>
        <p:nvSpPr>
          <p:cNvPr id="1332" name="" descr="{&quot;isTemplate&quot;:true,&quot;type&quot;:&quot;text&quot;}"/>
          <p:cNvSpPr txBox="1"/>
          <p:nvPr/>
        </p:nvSpPr>
        <p:spPr>
          <a:xfrm rot="0" flipH="0" flipV="0">
            <a:off x="2209800" y="5372100"/>
            <a:ext cx="2847975" cy="114300"/>
          </a:xfrm>
          <a:prstGeom prst="rect"/>
        </p:spPr>
        <p:txBody>
          <a:bodyPr wrap="none" lIns="0" tIns="0" rIns="0" bIns="0"/>
          <a:p>
            <a:pPr>
              <a:lnSpc>
                <a:spcPct val="100000"/>
              </a:lnSpc>
            </a:pPr>
            <a:r>
              <a:rPr lang="zh-CN" sz="750">
                <a:solidFill>
                  <a:srgbClr val="FFFFFF">
                    <a:alpha val="60000"/>
                  </a:srgbClr>
                </a:solidFill>
                <a:latin typeface="Microsoft YaHei"/>
                <a:ea typeface="Microsoft YaHei"/>
              </a:rPr>
              <a:t>标记撤不掉，权限可以撤</a:t>
            </a:r>
            <a:endParaRPr/>
          </a:p>
        </p:txBody>
      </p:sp>
      <p:sp>
        <p:nvSpPr>
          <p:cNvPr id="1333" name=""/>
          <p:cNvSpPr/>
          <p:nvPr/>
        </p:nvSpPr>
        <p:spPr>
          <a:xfrm rot="0" flipH="0" flipV="0">
            <a:off x="5248275" y="5143500"/>
            <a:ext cx="3028950" cy="400050"/>
          </a:xfrm>
          <a:prstGeom prst="roundRect">
            <a:avLst>
              <a:gd name="adj" fmla="val 7143"/>
            </a:avLst>
          </a:prstGeom>
          <a:solidFill>
            <a:srgbClr val="FFFFFF">
              <a:alpha val="7000"/>
            </a:srgbClr>
          </a:solidFill>
          <a:ln/>
        </p:spPr>
        <p:txBody>
          <a:bodyPr/>
          <a:p/>
        </p:txBody>
      </p:sp>
      <p:sp>
        <p:nvSpPr>
          <p:cNvPr id="1334" name="" descr="{&quot;isTemplate&quot;:true,&quot;type&quot;:&quot;text&quot;}"/>
          <p:cNvSpPr txBox="1"/>
          <p:nvPr/>
        </p:nvSpPr>
        <p:spPr>
          <a:xfrm rot="0" flipH="0" flipV="0">
            <a:off x="5343525" y="5210175"/>
            <a:ext cx="66675" cy="133350"/>
          </a:xfrm>
          <a:prstGeom prst="rect"/>
        </p:spPr>
        <p:txBody>
          <a:bodyPr wrap="none" lIns="0" tIns="0" rIns="0" bIns="0"/>
          <a:p>
            <a:pPr>
              <a:lnSpc>
                <a:spcPct val="100000"/>
              </a:lnSpc>
            </a:pPr>
            <a:r>
              <a:rPr lang="en-US" sz="825" b="1">
                <a:solidFill>
                  <a:srgbClr val="FA4F24"/>
                </a:solidFill>
                <a:latin typeface="Microsoft YaHei"/>
                <a:ea typeface="Microsoft YaHei"/>
              </a:rPr>
              <a:t>2</a:t>
            </a:r>
            <a:endParaRPr/>
          </a:p>
        </p:txBody>
      </p:sp>
      <p:sp>
        <p:nvSpPr>
          <p:cNvPr id="1335" name="" descr="{&quot;isTemplate&quot;:true,&quot;type&quot;:&quot;text&quot;}"/>
          <p:cNvSpPr txBox="1"/>
          <p:nvPr/>
        </p:nvSpPr>
        <p:spPr>
          <a:xfrm rot="0" flipH="0" flipV="0">
            <a:off x="5476875" y="5200650"/>
            <a:ext cx="990600" cy="152400"/>
          </a:xfrm>
          <a:prstGeom prst="rect"/>
        </p:spPr>
        <p:txBody>
          <a:bodyPr wrap="none" lIns="0" tIns="0" rIns="0" bIns="0"/>
          <a:p>
            <a:pPr>
              <a:lnSpc>
                <a:spcPct val="100000"/>
              </a:lnSpc>
            </a:pPr>
            <a:r>
              <a:rPr lang="zh-CN" sz="975" b="1">
                <a:solidFill>
                  <a:srgbClr val="FFFFFF"/>
                </a:solidFill>
                <a:latin typeface="Microsoft YaHei"/>
                <a:ea typeface="Microsoft YaHei"/>
              </a:rPr>
              <a:t>先只读再开放降级</a:t>
            </a:r>
            <a:endParaRPr/>
          </a:p>
        </p:txBody>
      </p:sp>
      <p:sp>
        <p:nvSpPr>
          <p:cNvPr id="1336" name="" descr="{&quot;isTemplate&quot;:true,&quot;type&quot;:&quot;text&quot;}"/>
          <p:cNvSpPr txBox="1"/>
          <p:nvPr/>
        </p:nvSpPr>
        <p:spPr>
          <a:xfrm rot="0" flipH="0" flipV="0">
            <a:off x="5343525" y="5372100"/>
            <a:ext cx="2838450" cy="114300"/>
          </a:xfrm>
          <a:prstGeom prst="rect"/>
        </p:spPr>
        <p:txBody>
          <a:bodyPr wrap="none" lIns="0" tIns="0" rIns="0" bIns="0"/>
          <a:p>
            <a:pPr>
              <a:lnSpc>
                <a:spcPct val="100000"/>
              </a:lnSpc>
            </a:pPr>
            <a:r>
              <a:rPr lang="zh-CN" sz="750">
                <a:solidFill>
                  <a:srgbClr val="FFFFFF">
                    <a:alpha val="60000"/>
                  </a:srgbClr>
                </a:solidFill>
                <a:latin typeface="Microsoft YaHei"/>
                <a:ea typeface="Microsoft YaHei"/>
              </a:rPr>
              <a:t>降级必须有除作者外的第二人审批</a:t>
            </a:r>
            <a:endParaRPr/>
          </a:p>
        </p:txBody>
      </p:sp>
      <p:sp>
        <p:nvSpPr>
          <p:cNvPr id="1337" name=""/>
          <p:cNvSpPr/>
          <p:nvPr/>
        </p:nvSpPr>
        <p:spPr>
          <a:xfrm rot="0" flipH="0" flipV="0">
            <a:off x="8372475" y="5143500"/>
            <a:ext cx="3038475" cy="400050"/>
          </a:xfrm>
          <a:prstGeom prst="roundRect">
            <a:avLst>
              <a:gd name="adj" fmla="val 7143"/>
            </a:avLst>
          </a:prstGeom>
          <a:solidFill>
            <a:srgbClr val="FFFFFF">
              <a:alpha val="7000"/>
            </a:srgbClr>
          </a:solidFill>
          <a:ln/>
        </p:spPr>
        <p:txBody>
          <a:bodyPr/>
          <a:p/>
        </p:txBody>
      </p:sp>
      <p:sp>
        <p:nvSpPr>
          <p:cNvPr id="1338" name="" descr="{&quot;isTemplate&quot;:true,&quot;type&quot;:&quot;text&quot;}"/>
          <p:cNvSpPr txBox="1"/>
          <p:nvPr/>
        </p:nvSpPr>
        <p:spPr>
          <a:xfrm rot="0" flipH="0" flipV="0">
            <a:off x="8467725" y="5210175"/>
            <a:ext cx="66675" cy="133350"/>
          </a:xfrm>
          <a:prstGeom prst="rect"/>
        </p:spPr>
        <p:txBody>
          <a:bodyPr wrap="none" lIns="0" tIns="0" rIns="0" bIns="0"/>
          <a:p>
            <a:pPr>
              <a:lnSpc>
                <a:spcPct val="100000"/>
              </a:lnSpc>
            </a:pPr>
            <a:r>
              <a:rPr lang="en-US" sz="825" b="1">
                <a:solidFill>
                  <a:srgbClr val="FA4F24"/>
                </a:solidFill>
                <a:latin typeface="Microsoft YaHei"/>
                <a:ea typeface="Microsoft YaHei"/>
              </a:rPr>
              <a:t>3</a:t>
            </a:r>
            <a:endParaRPr/>
          </a:p>
        </p:txBody>
      </p:sp>
      <p:sp>
        <p:nvSpPr>
          <p:cNvPr id="1339" name="" descr="{&quot;isTemplate&quot;:true,&quot;type&quot;:&quot;text&quot;}"/>
          <p:cNvSpPr txBox="1"/>
          <p:nvPr/>
        </p:nvSpPr>
        <p:spPr>
          <a:xfrm rot="0" flipH="0" flipV="0">
            <a:off x="8601075" y="5200650"/>
            <a:ext cx="990600" cy="152400"/>
          </a:xfrm>
          <a:prstGeom prst="rect"/>
        </p:spPr>
        <p:txBody>
          <a:bodyPr wrap="none" lIns="0" tIns="0" rIns="0" bIns="0"/>
          <a:p>
            <a:pPr>
              <a:lnSpc>
                <a:spcPct val="100000"/>
              </a:lnSpc>
            </a:pPr>
            <a:r>
              <a:rPr lang="zh-CN" sz="975" b="1">
                <a:solidFill>
                  <a:srgbClr val="FFFFFF"/>
                </a:solidFill>
                <a:latin typeface="Microsoft YaHei"/>
                <a:ea typeface="Microsoft YaHei"/>
              </a:rPr>
              <a:t>先有日志再扩范围</a:t>
            </a:r>
            <a:endParaRPr/>
          </a:p>
        </p:txBody>
      </p:sp>
      <p:sp>
        <p:nvSpPr>
          <p:cNvPr id="1340" name="" descr="{&quot;isTemplate&quot;:true,&quot;type&quot;:&quot;text&quot;}"/>
          <p:cNvSpPr txBox="1"/>
          <p:nvPr/>
        </p:nvSpPr>
        <p:spPr>
          <a:xfrm rot="0" flipH="0" flipV="0">
            <a:off x="8467725" y="5372100"/>
            <a:ext cx="2847975" cy="114300"/>
          </a:xfrm>
          <a:prstGeom prst="rect"/>
        </p:spPr>
        <p:txBody>
          <a:bodyPr wrap="none" lIns="0" tIns="0" rIns="0" bIns="0"/>
          <a:p>
            <a:pPr>
              <a:lnSpc>
                <a:spcPct val="100000"/>
              </a:lnSpc>
            </a:pPr>
            <a:r>
              <a:rPr lang="zh-CN" sz="750">
                <a:solidFill>
                  <a:srgbClr val="FFFFFF">
                    <a:alpha val="60000"/>
                  </a:srgbClr>
                </a:solidFill>
                <a:latin typeface="Microsoft YaHei"/>
                <a:ea typeface="Microsoft YaHei"/>
              </a:rPr>
              <a:t>没有「为什么」，就只剩「谁」和「什么」</a:t>
            </a:r>
            <a:endParaRPr/>
          </a:p>
        </p:txBody>
      </p:sp>
      <p:sp>
        <p:nvSpPr>
          <p:cNvPr id="1341"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1342" name=""/>
          <p:cNvSpPr/>
          <p:nvPr/>
        </p:nvSpPr>
        <p:spPr>
          <a:xfrm rot="0" flipH="0" flipV="0">
            <a:off x="609600" y="5953125"/>
            <a:ext cx="95250" cy="95250"/>
          </a:xfrm>
          <a:prstGeom prst="rect">
            <a:avLst/>
          </a:prstGeom>
          <a:solidFill>
            <a:srgbClr val="FA4F24"/>
          </a:solidFill>
          <a:ln/>
        </p:spPr>
        <p:txBody>
          <a:bodyPr/>
          <a:p/>
        </p:txBody>
      </p:sp>
      <p:sp>
        <p:nvSpPr>
          <p:cNvPr id="1343"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1344"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04 / 30</a:t>
            </a:r>
            <a:endParaRPr/>
          </a:p>
        </p:txBody>
      </p:sp>
    </p:spTree>
  </p:cSld>
</p:sld>
</file>

<file path=ppt/slides/slide5.xml><?xml version="1.0" encoding="utf-8"?>
<p:sld xmlns:p="http://schemas.openxmlformats.org/presentationml/2006/main" xmlns:a="http://schemas.openxmlformats.org/drawingml/2006/main">
  <p:cSld>
    <p:spTree>
      <p:nvGrpSpPr>
        <p:cNvPr id="1345" name="" descr="&lt;Slide style={{ width: 1280, height: 720, background: '#0F1423' }}&gt;&#13;&#10;  &lt;Box style={{ position: 'absolute', left: 0, top: 0, width: 1280, height: 720, background: 'linear-gradient(135deg, #0F1423 0%, #2A1810 100%)' }} /&gt;&#13;&#10;  &lt;Box style={{ position: 'absolute', right: 0, top: 0, width: 560, height: 720, background: 'linear-gradient(200deg, rgba(250,79,36,0.28) 0%, rgba(250,79,36,0) 70%)' }} /&gt;&#13;&#10;&#13;&#10;  &lt;Box style={{ position: 'absolute', right: 70, top: 110 }}&gt;&#13;&#10;    &lt;Text style={{ fontSize: 300, fontWeight: 'bold', color: 'rgba(255,255,255,0.08)', lineHeight: 1.0 }}&gt;01&lt;/Text&gt;&#13;&#10;  &lt;/Box&gt;&#13;&#10;&#13;&#10;  &lt;Box style={{ position: 'absolute', left: 88, top: 232, width: 700, flexDirection: 'column' }}&gt;&#13;&#10;    &lt;Text style={{ fontSize: 15, color: 'rgba(255,255,255,0.5)', letterSpacing: 3 }}&gt;PART 01&lt;/Text&gt;&#13;&#10;    &lt;Box style={{ width: 72, height: 5, background: '#FA4F24', marginTop: 22 }} /&gt;&#13;&#10;    &lt;Text style={{ fontSize: 52, fontWeight: 'bold', color: '#FFFFFF', marginTop: 28, lineHeight: 1.15 }}&gt;治理本身&lt;/Text&gt;&#13;&#10;    &lt;Text style={{ fontSize: 17, color: 'rgba(255,255,255,0.62)', letterSpacing: 2, marginTop: 20 }}&gt;WHAT GOVERNANCE REALLY IS&lt;/Text&gt;&#13;&#10;    &lt;Text style={{ fontSize: 19, color: 'rgba(255,255,255,0.85)', marginTop: 26, lineHeight: 1.6 }}&gt;治理不是管数据，是管「谁能用、用来干什么、谁担责」&lt;/Text&gt;&#13;&#10;  &lt;/Box&gt;&#13;&#10;&#13;&#10;  &lt;Box style={{ position: 'absolute', right: 88, bottom: 64, flexDirection: 'row', alignItems: 'center', gap: 12 }}&gt;&#13;&#10;    &lt;Box style={{ width: 14, height: 14, background: '#FA4F24' }} /&gt;&#13;&#10;    &lt;Text style={{ fontSize: 14, color: 'rgba(255,255,255,0.5)' }}&gt;硕磐机密 · 数据治理咨询方法论&lt;/Text&gt;&#13;&#10;    &lt;Text style={{ fontSize: 14, color: 'rgba(255,255,255,0.5)', marginLeft: 12 }}&gt;05 / 30&lt;/Text&gt;&#13;&#10;  &lt;/Box&gt;&#13;&#10;&lt;/Slide&gt;&#13;&#10;"/>
        <p:cNvGrpSpPr/>
        <p:nvPr/>
      </p:nvGrpSpPr>
      <p:grpSpPr>
        <a:xfrm>
          <a:off x="0" y="0"/>
          <a:ext cx="0" cy="0"/>
          <a:chOff x="0" y="0"/>
          <a:chExt cx="0" cy="0"/>
        </a:xfrm>
      </p:grpSpPr>
      <p:sp>
        <p:nvSpPr>
          <p:cNvPr id="1346" name=""/>
          <p:cNvSpPr/>
          <p:nvPr/>
        </p:nvSpPr>
        <p:spPr>
          <a:xfrm rot="0" flipH="0" flipV="0">
            <a:off x="0" y="0"/>
            <a:ext cx="12192000" cy="6858000"/>
          </a:xfrm>
          <a:prstGeom prst="rect">
            <a:avLst/>
          </a:prstGeom>
          <a:solidFill>
            <a:srgbClr val="0F1423"/>
          </a:solidFill>
          <a:ln/>
        </p:spPr>
        <p:txBody>
          <a:bodyPr/>
          <a:p/>
        </p:txBody>
      </p:sp>
      <p:sp>
        <p:nvSpPr>
          <p:cNvPr id="1347"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p:txBody>
      </p:sp>
      <p:sp>
        <p:nvSpPr>
          <p:cNvPr id="1348" name=""/>
          <p:cNvSpPr/>
          <p:nvPr/>
        </p:nvSpPr>
        <p:spPr>
          <a:xfrm rot="0" flipH="0" flipV="0">
            <a:off x="6858000" y="0"/>
            <a:ext cx="5334000" cy="6858000"/>
          </a:xfrm>
          <a:prstGeom prst="rect">
            <a:avLst/>
          </a:prstGeom>
          <a:gradFill>
            <a:gsLst>
              <a:gs pos="0">
                <a:srgbClr val="FA4F24">
                  <a:alpha val="28000"/>
                </a:srgbClr>
              </a:gs>
              <a:gs pos="70000">
                <a:srgbClr val="FA4F24">
                  <a:alpha val="0"/>
                </a:srgbClr>
              </a:gs>
            </a:gsLst>
            <a:lin ang="6600000" scaled="1"/>
          </a:gradFill>
          <a:ln/>
        </p:spPr>
        <p:txBody>
          <a:bodyPr/>
          <a:p/>
        </p:txBody>
      </p:sp>
      <p:sp>
        <p:nvSpPr>
          <p:cNvPr id="1349" name="" descr="{&quot;isTemplate&quot;:true,&quot;type&quot;:&quot;text&quot;}"/>
          <p:cNvSpPr txBox="1"/>
          <p:nvPr/>
        </p:nvSpPr>
        <p:spPr>
          <a:xfrm rot="0" flipH="0" flipV="0">
            <a:off x="7991475" y="1047750"/>
            <a:ext cx="3533775" cy="3429000"/>
          </a:xfrm>
          <a:prstGeom prst="rect"/>
        </p:spPr>
        <p:txBody>
          <a:bodyPr wrap="none" lIns="0" tIns="0" rIns="0" bIns="0"/>
          <a:p>
            <a:pPr>
              <a:lnSpc>
                <a:spcPct val="100000"/>
              </a:lnSpc>
            </a:pPr>
            <a:r>
              <a:rPr lang="en-US" sz="22500" b="1">
                <a:solidFill>
                  <a:srgbClr val="FFFFFF">
                    <a:alpha val="8000"/>
                  </a:srgbClr>
                </a:solidFill>
                <a:latin typeface="Microsoft YaHei"/>
                <a:ea typeface="Microsoft YaHei"/>
              </a:rPr>
              <a:t>01</a:t>
            </a:r>
            <a:endParaRPr/>
          </a:p>
        </p:txBody>
      </p:sp>
      <p:sp>
        <p:nvSpPr>
          <p:cNvPr id="1350" name="" descr="{&quot;isTemplate&quot;:true,&quot;type&quot;:&quot;text&quot;}"/>
          <p:cNvSpPr txBox="1"/>
          <p:nvPr/>
        </p:nvSpPr>
        <p:spPr>
          <a:xfrm rot="0" flipH="0" flipV="0">
            <a:off x="838200" y="2209800"/>
            <a:ext cx="666750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PART 01</a:t>
            </a:r>
            <a:endParaRPr/>
          </a:p>
        </p:txBody>
      </p:sp>
      <p:sp>
        <p:nvSpPr>
          <p:cNvPr id="1351" name=""/>
          <p:cNvSpPr/>
          <p:nvPr/>
        </p:nvSpPr>
        <p:spPr>
          <a:xfrm rot="0" flipH="0" flipV="0">
            <a:off x="838200" y="2590800"/>
            <a:ext cx="685800" cy="47625"/>
          </a:xfrm>
          <a:prstGeom prst="rect">
            <a:avLst/>
          </a:prstGeom>
          <a:solidFill>
            <a:srgbClr val="FA4F24"/>
          </a:solidFill>
          <a:ln/>
        </p:spPr>
        <p:txBody>
          <a:bodyPr/>
          <a:p/>
        </p:txBody>
      </p:sp>
      <p:sp>
        <p:nvSpPr>
          <p:cNvPr id="1352" name="" descr="{&quot;isTemplate&quot;:true,&quot;type&quot;:&quot;text&quot;}"/>
          <p:cNvSpPr txBox="1"/>
          <p:nvPr/>
        </p:nvSpPr>
        <p:spPr>
          <a:xfrm rot="0" flipH="0" flipV="0">
            <a:off x="838200" y="2905125"/>
            <a:ext cx="6667500" cy="685800"/>
          </a:xfrm>
          <a:prstGeom prst="rect"/>
        </p:spPr>
        <p:txBody>
          <a:bodyPr wrap="none" lIns="0" tIns="0" rIns="0" bIns="0"/>
          <a:p>
            <a:pPr>
              <a:lnSpc>
                <a:spcPct val="114999"/>
              </a:lnSpc>
            </a:pPr>
            <a:r>
              <a:rPr lang="zh-CN" sz="3900" b="1">
                <a:solidFill>
                  <a:srgbClr val="FFFFFF"/>
                </a:solidFill>
                <a:latin typeface="Microsoft YaHei"/>
                <a:ea typeface="Microsoft YaHei"/>
              </a:rPr>
              <a:t>治理本身</a:t>
            </a:r>
            <a:endParaRPr/>
          </a:p>
        </p:txBody>
      </p:sp>
      <p:sp>
        <p:nvSpPr>
          <p:cNvPr id="1353" name="" descr="{&quot;isTemplate&quot;:true,&quot;type&quot;:&quot;text&quot;}"/>
          <p:cNvSpPr txBox="1"/>
          <p:nvPr/>
        </p:nvSpPr>
        <p:spPr>
          <a:xfrm rot="0" flipH="0" flipV="0">
            <a:off x="838200" y="3781425"/>
            <a:ext cx="6667500" cy="200025"/>
          </a:xfrm>
          <a:prstGeom prst="rect"/>
        </p:spPr>
        <p:txBody>
          <a:bodyPr wrap="none" lIns="0" tIns="0" rIns="0" bIns="0"/>
          <a:p>
            <a:pPr>
              <a:lnSpc>
                <a:spcPct val="100000"/>
              </a:lnSpc>
            </a:pPr>
            <a:r>
              <a:rPr lang="en-US" sz="1275" spc="150">
                <a:solidFill>
                  <a:srgbClr val="FFFFFF">
                    <a:alpha val="62000"/>
                  </a:srgbClr>
                </a:solidFill>
                <a:latin typeface="Microsoft YaHei"/>
                <a:ea typeface="Microsoft YaHei"/>
              </a:rPr>
              <a:t>WHAT GOVERNANCE REALLY IS</a:t>
            </a:r>
            <a:endParaRPr/>
          </a:p>
        </p:txBody>
      </p:sp>
      <p:sp>
        <p:nvSpPr>
          <p:cNvPr id="1354" name="" descr="{&quot;isTemplate&quot;:true,&quot;type&quot;:&quot;text&quot;}"/>
          <p:cNvSpPr txBox="1"/>
          <p:nvPr/>
        </p:nvSpPr>
        <p:spPr>
          <a:xfrm rot="0" flipH="0" flipV="0">
            <a:off x="838200" y="4229100"/>
            <a:ext cx="6667500" cy="352425"/>
          </a:xfrm>
          <a:prstGeom prst="rect"/>
        </p:spPr>
        <p:txBody>
          <a:bodyPr wrap="none" lIns="0" tIns="0" rIns="0" bIns="0"/>
          <a:p>
            <a:pPr>
              <a:lnSpc>
                <a:spcPct val="160000"/>
              </a:lnSpc>
            </a:pPr>
            <a:r>
              <a:rPr lang="zh-CN" sz="1425">
                <a:solidFill>
                  <a:srgbClr val="FFFFFF">
                    <a:alpha val="85000"/>
                  </a:srgbClr>
                </a:solidFill>
                <a:latin typeface="Microsoft YaHei"/>
                <a:ea typeface="Microsoft YaHei"/>
              </a:rPr>
              <a:t>治理不是管数据，是管「谁能用、用来干什么、谁担责」</a:t>
            </a:r>
            <a:endParaRPr/>
          </a:p>
        </p:txBody>
      </p:sp>
      <p:sp>
        <p:nvSpPr>
          <p:cNvPr id="1355" name=""/>
          <p:cNvSpPr/>
          <p:nvPr/>
        </p:nvSpPr>
        <p:spPr>
          <a:xfrm rot="0" flipH="0" flipV="0">
            <a:off x="8572500" y="6105525"/>
            <a:ext cx="133350" cy="133350"/>
          </a:xfrm>
          <a:prstGeom prst="rect">
            <a:avLst/>
          </a:prstGeom>
          <a:solidFill>
            <a:srgbClr val="FA4F24"/>
          </a:solidFill>
          <a:ln/>
        </p:spPr>
        <p:txBody>
          <a:bodyPr/>
          <a:p/>
        </p:txBody>
      </p:sp>
      <p:sp>
        <p:nvSpPr>
          <p:cNvPr id="1356" name="" descr="{&quot;isTemplate&quot;:true,&quot;type&quot;:&quot;text&quot;}"/>
          <p:cNvSpPr txBox="1"/>
          <p:nvPr/>
        </p:nvSpPr>
        <p:spPr>
          <a:xfrm rot="0" flipH="0" flipV="0">
            <a:off x="8820150" y="6086475"/>
            <a:ext cx="184785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a:t>
            </a:r>
            <a:r>
              <a:rPr lang="zh-CN" sz="1050">
                <a:solidFill>
                  <a:srgbClr val="FFFFFF">
                    <a:alpha val="50000"/>
                  </a:srgbClr>
                </a:solidFill>
                <a:latin typeface="Microsoft YaHei"/>
                <a:ea typeface="Microsoft YaHei"/>
              </a:rPr>
              <a:t>数据治理咨询方法论</a:t>
            </a:r>
            <a:endParaRPr/>
          </a:p>
        </p:txBody>
      </p:sp>
      <p:sp>
        <p:nvSpPr>
          <p:cNvPr id="1357" name="" descr="{&quot;isTemplate&quot;:true,&quot;type&quot;:&quot;text&quot;}"/>
          <p:cNvSpPr txBox="1"/>
          <p:nvPr/>
        </p:nvSpPr>
        <p:spPr>
          <a:xfrm rot="0" flipH="0" flipV="0">
            <a:off x="10896600" y="60864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05 / 30</a:t>
            </a:r>
            <a:endParaRPr/>
          </a:p>
        </p:txBody>
      </p:sp>
    </p:spTree>
  </p:cSld>
</p:sld>
</file>

<file path=ppt/slides/slide6.xml><?xml version="1.0" encoding="utf-8"?>
<p:sld xmlns:p="http://schemas.openxmlformats.org/presentationml/2006/main" xmlns:a="http://schemas.openxmlformats.org/drawingml/2006/main">
  <p:cSld>
    <p:spTree>
      <p:nvGrpSpPr>
        <p:cNvPr id="1358" name="" descr="&lt;Slide style={{ width: 1280, height: 720, background: '#FFFFFF', padding: '24px 64px 0' }}&gt;&#10;    &lt;Box style={{ height: 96, flexDirection: 'column', justifyContent: 'flex-start' }}&gt;&#10;      &lt;Text style={{ fontSize: 32, fontWeight: 'bold', color: '#0F1423' }}&gt;&#10;        数据保护 vs 数据治理：&lt;span style={{ color: '#FA4F24' }}&gt;一个管手段，一个管全程&lt;/span&gt;&#10;      &lt;/Text&gt;&#10;      &lt;Text style={{ fontSize: 20, color: '#8A8F99', marginTop: 8 }}&gt;&#10;        官方定义划出的这条线，是很多企业把治理做窄的根源——把治理等同于加密与脱敏&#10;      &lt;/Text&gt;&#10;    &lt;/Box&gt;&#10;    &lt;Box style={{ height: 1, background: '#E8E8E8' }} /&gt;&#10;&#10;    &lt;Box style={{ paddingTop: 14, paddingBottom: 8, height: 479, flexDirection: 'column', gap: 10 }}&gt;&#10;      &lt;Box style={{ height: 122, flexDirection: 'row', gap: 10 }}&gt;&#10;        &lt;Box style={{ flex: 1, background: '#F7F7F8', borderRadius: 4, borderTop: '3px solid #8A8F99', padding: '12px 16px', flexDirection: 'column' }}&gt;&#10;          &lt;Text style={{ fontSize: 17, fontWeight: 'bold', color: '#5A6072' }}&gt;数据保护&lt;/Text&gt;&#10;          &lt;Text style={{ fontSize: 11, color: '#8A8F99', marginTop: 3 }}&gt;DATA PROTECTION&lt;/Text&gt;&#10;          &lt;Text style={{ fontSize: 12, color: '#3A4050', marginTop: 8, lineHeight: 1.55 }}&gt;&#10;            官方定义：确保个人数据的处理「始终限制在达成合法处理结果所必要的范围内，且与之相称」的技术与组织手段。&#10;          &lt;/Text&gt;&#10;        &lt;/Box&gt;&#10;        &lt;Box style={{ flex: 1, background: '#FFF3EE', borderRadius: 4, borderTop: '3px solid #FA4F24', padding: '12px 16px', flexDirection: 'column' }}&gt;&#10;          &lt;Text style={{ fontSize: 17, fontWeight: 'bold', color: '#FA4F24' }}&gt;数据治理&lt;/Text&gt;&#10;          &lt;Text style={{ fontSize: 11, color: '#C43A17', marginTop: 3 }}&gt;DATA GOVERNANCE&lt;/Text&gt;&#10;          &lt;Text style={{ fontSize: 12, color: '#3A4050', marginTop: 8, lineHeight: 1.55 }}&gt;&#10;            官方定义：管理企业数据在加工全生命周期中的行为——从接入到访问，再到删除。范围明显更宽。&#10;          &lt;/Text&gt;&#10;        &lt;/Box&gt;&#10;      &lt;/Box&gt;&#10;&#10;      &lt;Box style={{ flex: 1, background: '#0F1423', borderRadius: 4, padding: '14px 18px', flexDirection: 'column' }}&gt;&#10;        &lt;Text style={{ fontSize: 14, fontWeight: 'bold', color: '#FBA15C' }}&gt;治理对象的完整清单：六段生命周期，每段都有独立的失控方式&lt;/Text&gt;&#10;        &lt;Box style={{ flex: 1, flexDirection: 'row', gap: 7, marginTop: 11 }}&gt;&#10;          {[&#10;            { n: '接入', t: '该不该采', d: '超范围采集、目的外用', c: '#FA4F24' },&#10;            { n: '存储', t: '存多久', d: '留存过久、缺删除机制', c: '#F87D2F' },&#10;            { n: '加工', t: '标记怎么传', d: '清洗过程把密级洗掉了', c: '#E0651A' },&#10;            { n: '访问', t: '谁在用', d: '权限过宽、用途不分', c: '#C43A17' },&#10;            { n: '共享', t: '流出去了吗', d: '外发无标记、无出口策略', c: '#0F1423' },&#10;            { n: '删除', t: '能删干净吗', d: '删了但备份、缓存、副本还在', c: '#8A8F99' },&#10;          ].map((it, i) =&gt; (&#10;            &lt;Box key={it.n} style={{ flex: 1, background: 'rgba(255,255,255,0.07)', borderRadius: 3, borderTop: '3px solid ' + it.c, padding: '9px 10px' }}&gt;&#10;              &lt;Text style={{ fontSize: 13, fontWeight: 'bold', color: it.c }}&gt;{it.n}&lt;/Text&gt;&#10;              &lt;Text style={{ fontSize: 11.5, fontWeight: 'bold', color: '#FFFFFF', marginTop: 5 }}&gt;{it.t}&lt;/Text&gt;&#10;              &lt;Text style={{ fontSize: 10.5, color: 'rgba(255,255,255,0.6)', marginTop: 5, lineHeight: 1.45 }}&gt;{it.d}&lt;/Text&gt;&#10;            &lt;/Box&gt;&#10;          ))}&#10;        &lt;/Box&gt;&#10;        &lt;Text style={{ fontSize: 11.5, color: 'rgba(255,255,255,0.72)', marginTop: 10, lineHeight: 1.5 }}&gt;&#10;          绝大多数企业的治理只做到了「访问」这一段：把权限配好，设个角色，完事。前面三段和后面两段基本靠自觉，于是超范围采集和删不干净的问题永远在。&#10;        &lt;/Text&gt;&#10;      &lt;/Box&gt;&#10;&#10;      &lt;Box style={{ flex: 1, flexDirection: 'row', gap: 10 }}&gt;&#10;        &lt;Box style={{ flex: 1, background: '#FFF3EE', borderRadius: 4, borderLeft: '4px solid #FA4F24', padding: '12px 16px', flexDirection: 'column', justifyContent: 'center' }}&gt;&#10;          &lt;Text style={{ fontSize: 14, fontWeight: 'bold', color: '#C43A17' }}&gt;它为什么算一个业务应用&lt;/Text&gt;&#10;          &lt;Text style={{ fontSize: 12, color: '#3A4050', marginTop: 7, lineHeight: 1.55 }}&gt;&#10;            有明确的业务产出物（分类分级表、权限矩阵、审批规范）、有生命周期（六段，每段有进出条件）、有服务对象（业务合规、数据平台、智能体三类）、有可审计的执行记录。四样齐全，就可以立项、可以验收、可以被监管方检查。&#10;          &lt;/Text&gt;&#10;        &lt;/Box&gt;&#10;        &lt;Box style={{ flex: 1, background: '#F7F7F8', borderRadius: 4, padding: '12px 16px', flexDirection: 'column', justifyContent: 'center' }}&gt;&#10;          &lt;Text style={{ fontSize: 14, fontWeight: 'bold', color: '#0F1423' }}&gt;一句话记法&lt;/Text&gt;&#10;          &lt;Text style={{ fontSize: 13, color: '#0F1423', marginTop: 8, lineHeight: 1.55 }}&gt;&#10;            数据保护回答「怎么把数据包起来」，数据治理回答「这一路上每一次打开包的行为由谁批准、为什么打开、事后怎么查」。&#10;          &lt;/Text&gt;&#10;        &lt;/Box&gt;&#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06 / 30&lt;/Text&gt;&#10;    &lt;/Box&gt;&#10;&lt;/Slide&gt;&#10;"/>
        <p:cNvGrpSpPr/>
        <p:nvPr/>
      </p:nvGrpSpPr>
      <p:grpSpPr>
        <a:xfrm>
          <a:off x="0" y="0"/>
          <a:ext cx="0" cy="0"/>
          <a:chOff x="0" y="0"/>
          <a:chExt cx="0" cy="0"/>
        </a:xfrm>
      </p:grpSpPr>
      <p:sp>
        <p:nvSpPr>
          <p:cNvPr id="1359" name=""/>
          <p:cNvSpPr/>
          <p:nvPr/>
        </p:nvSpPr>
        <p:spPr>
          <a:xfrm rot="0" flipH="0" flipV="0">
            <a:off x="0" y="0"/>
            <a:ext cx="12192000" cy="6858000"/>
          </a:xfrm>
          <a:prstGeom prst="rect">
            <a:avLst/>
          </a:prstGeom>
          <a:solidFill>
            <a:srgbClr val="FFFFFF"/>
          </a:solidFill>
          <a:ln/>
        </p:spPr>
        <p:txBody>
          <a:bodyPr/>
          <a:p/>
        </p:txBody>
      </p:sp>
      <p:sp>
        <p:nvSpPr>
          <p:cNvPr id="1360"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数据保护</a:t>
            </a:r>
            <a:r>
              <a:rPr lang="en-US" sz="2400" b="1">
                <a:solidFill>
                  <a:srgbClr val="0F1423"/>
                </a:solidFill>
                <a:latin typeface="Microsoft YaHei"/>
                <a:ea typeface="Microsoft YaHei"/>
              </a:rPr>
              <a:t xml:space="preserve"> vs </a:t>
            </a:r>
            <a:r>
              <a:rPr lang="zh-CN" sz="2400" b="1">
                <a:solidFill>
                  <a:srgbClr val="0F1423"/>
                </a:solidFill>
                <a:latin typeface="Microsoft YaHei"/>
                <a:ea typeface="Microsoft YaHei"/>
              </a:rPr>
              <a:t>数据治理：</a:t>
            </a:r>
            <a:r>
              <a:rPr lang="zh-CN" sz="2400" b="1">
                <a:solidFill>
                  <a:srgbClr val="FA4F24"/>
                </a:solidFill>
                <a:latin typeface="Microsoft YaHei"/>
                <a:ea typeface="Microsoft YaHei"/>
              </a:rPr>
              <a:t>一个管手段，一个管全程</a:t>
            </a:r>
            <a:endParaRPr/>
          </a:p>
        </p:txBody>
      </p:sp>
      <p:sp>
        <p:nvSpPr>
          <p:cNvPr id="1361"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官方定义划出的这条线，是很多企业把治理做窄的根源——把治理等同于加密与脱敏</a:t>
            </a:r>
            <a:endParaRPr/>
          </a:p>
        </p:txBody>
      </p:sp>
      <p:sp>
        <p:nvSpPr>
          <p:cNvPr id="1362" name=""/>
          <p:cNvSpPr/>
          <p:nvPr/>
        </p:nvSpPr>
        <p:spPr>
          <a:xfrm rot="0" flipH="0" flipV="0">
            <a:off x="609600" y="1143000"/>
            <a:ext cx="10972800" cy="9525"/>
          </a:xfrm>
          <a:prstGeom prst="rect">
            <a:avLst/>
          </a:prstGeom>
          <a:solidFill>
            <a:srgbClr val="E8E8E8"/>
          </a:solidFill>
          <a:ln/>
        </p:spPr>
        <p:txBody>
          <a:bodyPr/>
          <a:p/>
        </p:txBody>
      </p:sp>
      <p:sp>
        <p:nvSpPr>
          <p:cNvPr id="1363" name=""/>
          <p:cNvSpPr/>
          <p:nvPr/>
        </p:nvSpPr>
        <p:spPr>
          <a:xfrm rot="0" flipH="0" flipV="0">
            <a:off x="609600" y="1314450"/>
            <a:ext cx="5438775" cy="1162050"/>
          </a:xfrm>
          <a:prstGeom prst="roundRect">
            <a:avLst>
              <a:gd name="adj" fmla="val 3279"/>
            </a:avLst>
          </a:prstGeom>
          <a:solidFill>
            <a:srgbClr val="F7F7F8"/>
          </a:solidFill>
          <a:ln/>
        </p:spPr>
        <p:txBody>
          <a:bodyPr/>
          <a:p/>
        </p:txBody>
      </p:sp>
      <p:sp>
        <p:nvSpPr>
          <p:cNvPr id="1364" name=""/>
          <p:cNvSpPr/>
          <p:nvPr/>
        </p:nvSpPr>
        <p:spPr>
          <a:xfrm rot="0" flipH="0" flipV="0">
            <a:off x="609600" y="1314450"/>
            <a:ext cx="5438775" cy="1162050"/>
          </a:xfrm>
          <a:custGeom>
            <a:pathLst>
              <a:path w="571" h="122">
                <a:moveTo>
                  <a:pt x="567" y="0"/>
                </a:moveTo>
                <a:cubicBezTo>
                  <a:pt x="569" y="0"/>
                  <a:pt x="571" y="2"/>
                  <a:pt x="571" y="4"/>
                </a:cubicBezTo>
                <a:cubicBezTo>
                  <a:pt x="571" y="3"/>
                  <a:pt x="570" y="3"/>
                  <a:pt x="570" y="3"/>
                </a:cubicBezTo>
                <a:lnTo>
                  <a:pt x="1" y="3"/>
                </a:lnTo>
                <a:cubicBezTo>
                  <a:pt x="1" y="3"/>
                  <a:pt x="0" y="3"/>
                  <a:pt x="0" y="4"/>
                </a:cubicBezTo>
                <a:cubicBezTo>
                  <a:pt x="0" y="2"/>
                  <a:pt x="2" y="0"/>
                  <a:pt x="4" y="0"/>
                </a:cubicBezTo>
                <a:lnTo>
                  <a:pt x="567" y="0"/>
                </a:lnTo>
                <a:close/>
              </a:path>
            </a:pathLst>
          </a:custGeom>
          <a:solidFill>
            <a:srgbClr val="8A8F99"/>
          </a:solidFill>
          <a:ln/>
        </p:spPr>
        <p:txBody>
          <a:bodyPr/>
          <a:p/>
        </p:txBody>
      </p:sp>
      <p:sp>
        <p:nvSpPr>
          <p:cNvPr id="1365" name="" descr="{&quot;isTemplate&quot;:true,&quot;type&quot;:&quot;text&quot;}"/>
          <p:cNvSpPr txBox="1"/>
          <p:nvPr/>
        </p:nvSpPr>
        <p:spPr>
          <a:xfrm rot="0" flipH="0" flipV="0">
            <a:off x="762000" y="1428750"/>
            <a:ext cx="5133975" cy="200025"/>
          </a:xfrm>
          <a:prstGeom prst="rect"/>
        </p:spPr>
        <p:txBody>
          <a:bodyPr wrap="none" lIns="0" tIns="0" rIns="0" bIns="0"/>
          <a:p>
            <a:pPr>
              <a:lnSpc>
                <a:spcPct val="100000"/>
              </a:lnSpc>
            </a:pPr>
            <a:r>
              <a:rPr lang="zh-CN" sz="1275" b="1">
                <a:solidFill>
                  <a:srgbClr val="5A6072"/>
                </a:solidFill>
                <a:latin typeface="Microsoft YaHei"/>
                <a:ea typeface="Microsoft YaHei"/>
              </a:rPr>
              <a:t>数据保护</a:t>
            </a:r>
            <a:endParaRPr/>
          </a:p>
        </p:txBody>
      </p:sp>
      <p:sp>
        <p:nvSpPr>
          <p:cNvPr id="1366" name="" descr="{&quot;isTemplate&quot;:true,&quot;type&quot;:&quot;text&quot;}"/>
          <p:cNvSpPr txBox="1"/>
          <p:nvPr/>
        </p:nvSpPr>
        <p:spPr>
          <a:xfrm rot="0" flipH="0" flipV="0">
            <a:off x="762000" y="1657350"/>
            <a:ext cx="5133975" cy="133350"/>
          </a:xfrm>
          <a:prstGeom prst="rect"/>
        </p:spPr>
        <p:txBody>
          <a:bodyPr wrap="none" lIns="0" tIns="0" rIns="0" bIns="0"/>
          <a:p>
            <a:pPr>
              <a:lnSpc>
                <a:spcPct val="100000"/>
              </a:lnSpc>
            </a:pPr>
            <a:r>
              <a:rPr lang="en-US" sz="825">
                <a:solidFill>
                  <a:srgbClr val="8A8F99"/>
                </a:solidFill>
                <a:latin typeface="Microsoft YaHei"/>
                <a:ea typeface="Microsoft YaHei"/>
              </a:rPr>
              <a:t>DATA PROTECTION</a:t>
            </a:r>
            <a:endParaRPr/>
          </a:p>
        </p:txBody>
      </p:sp>
      <p:sp>
        <p:nvSpPr>
          <p:cNvPr id="1367" name="" descr="{&quot;isTemplate&quot;:true,&quot;type&quot;:&quot;text&quot;}"/>
          <p:cNvSpPr txBox="1"/>
          <p:nvPr/>
        </p:nvSpPr>
        <p:spPr>
          <a:xfrm rot="0" flipH="0" flipV="0">
            <a:off x="762000" y="1866900"/>
            <a:ext cx="5133975" cy="428625"/>
          </a:xfrm>
          <a:prstGeom prst="rect"/>
        </p:spPr>
        <p:txBody>
          <a:bodyPr wrap="square" lIns="0" tIns="0" rIns="0" bIns="0">
            <a:normAutofit/>
          </a:bodyPr>
          <a:p>
            <a:pPr>
              <a:lnSpc>
                <a:spcPct val="155000"/>
              </a:lnSpc>
            </a:pPr>
            <a:r>
              <a:rPr lang="zh-CN" sz="900">
                <a:solidFill>
                  <a:srgbClr val="3A4050"/>
                </a:solidFill>
                <a:latin typeface="Microsoft YaHei"/>
                <a:ea typeface="Microsoft YaHei"/>
              </a:rPr>
              <a:t>官方定义：确保个人数据的处理「始终限制在达成合法处理结果所必要的范围内，且与之相称」的技术与组织手段。</a:t>
            </a:r>
            <a:endParaRPr/>
          </a:p>
        </p:txBody>
      </p:sp>
      <p:sp>
        <p:nvSpPr>
          <p:cNvPr id="1368" name=""/>
          <p:cNvSpPr/>
          <p:nvPr/>
        </p:nvSpPr>
        <p:spPr>
          <a:xfrm rot="0" flipH="0" flipV="0">
            <a:off x="6143625" y="1314450"/>
            <a:ext cx="5438775" cy="1162050"/>
          </a:xfrm>
          <a:prstGeom prst="roundRect">
            <a:avLst>
              <a:gd name="adj" fmla="val 3279"/>
            </a:avLst>
          </a:prstGeom>
          <a:solidFill>
            <a:srgbClr val="FFF3EE"/>
          </a:solidFill>
          <a:ln/>
        </p:spPr>
        <p:txBody>
          <a:bodyPr/>
          <a:p/>
        </p:txBody>
      </p:sp>
      <p:sp>
        <p:nvSpPr>
          <p:cNvPr id="1369" name=""/>
          <p:cNvSpPr/>
          <p:nvPr/>
        </p:nvSpPr>
        <p:spPr>
          <a:xfrm rot="0" flipH="0" flipV="0">
            <a:off x="6143625" y="1314450"/>
            <a:ext cx="5438775" cy="1162050"/>
          </a:xfrm>
          <a:custGeom>
            <a:pathLst>
              <a:path w="571" h="122">
                <a:moveTo>
                  <a:pt x="567" y="0"/>
                </a:moveTo>
                <a:cubicBezTo>
                  <a:pt x="569" y="0"/>
                  <a:pt x="571" y="2"/>
                  <a:pt x="571" y="4"/>
                </a:cubicBezTo>
                <a:cubicBezTo>
                  <a:pt x="571" y="3"/>
                  <a:pt x="570" y="3"/>
                  <a:pt x="570" y="3"/>
                </a:cubicBezTo>
                <a:lnTo>
                  <a:pt x="1" y="3"/>
                </a:lnTo>
                <a:cubicBezTo>
                  <a:pt x="1" y="3"/>
                  <a:pt x="0" y="3"/>
                  <a:pt x="0" y="4"/>
                </a:cubicBezTo>
                <a:cubicBezTo>
                  <a:pt x="0" y="2"/>
                  <a:pt x="2" y="0"/>
                  <a:pt x="4" y="0"/>
                </a:cubicBezTo>
                <a:lnTo>
                  <a:pt x="567" y="0"/>
                </a:lnTo>
                <a:close/>
              </a:path>
            </a:pathLst>
          </a:custGeom>
          <a:solidFill>
            <a:srgbClr val="FA4F24"/>
          </a:solidFill>
          <a:ln/>
        </p:spPr>
        <p:txBody>
          <a:bodyPr/>
          <a:p/>
        </p:txBody>
      </p:sp>
      <p:sp>
        <p:nvSpPr>
          <p:cNvPr id="1370" name="" descr="{&quot;isTemplate&quot;:true,&quot;type&quot;:&quot;text&quot;}"/>
          <p:cNvSpPr txBox="1"/>
          <p:nvPr/>
        </p:nvSpPr>
        <p:spPr>
          <a:xfrm rot="0" flipH="0" flipV="0">
            <a:off x="6296025" y="1428750"/>
            <a:ext cx="5133975" cy="200025"/>
          </a:xfrm>
          <a:prstGeom prst="rect"/>
        </p:spPr>
        <p:txBody>
          <a:bodyPr wrap="none" lIns="0" tIns="0" rIns="0" bIns="0"/>
          <a:p>
            <a:pPr>
              <a:lnSpc>
                <a:spcPct val="100000"/>
              </a:lnSpc>
            </a:pPr>
            <a:r>
              <a:rPr lang="zh-CN" sz="1275" b="1">
                <a:solidFill>
                  <a:srgbClr val="FA4F24"/>
                </a:solidFill>
                <a:latin typeface="Microsoft YaHei"/>
                <a:ea typeface="Microsoft YaHei"/>
              </a:rPr>
              <a:t>数据治理</a:t>
            </a:r>
            <a:endParaRPr/>
          </a:p>
        </p:txBody>
      </p:sp>
      <p:sp>
        <p:nvSpPr>
          <p:cNvPr id="1371" name="" descr="{&quot;isTemplate&quot;:true,&quot;type&quot;:&quot;text&quot;}"/>
          <p:cNvSpPr txBox="1"/>
          <p:nvPr/>
        </p:nvSpPr>
        <p:spPr>
          <a:xfrm rot="0" flipH="0" flipV="0">
            <a:off x="6296025" y="1657350"/>
            <a:ext cx="5133975" cy="133350"/>
          </a:xfrm>
          <a:prstGeom prst="rect"/>
        </p:spPr>
        <p:txBody>
          <a:bodyPr wrap="none" lIns="0" tIns="0" rIns="0" bIns="0"/>
          <a:p>
            <a:pPr>
              <a:lnSpc>
                <a:spcPct val="100000"/>
              </a:lnSpc>
            </a:pPr>
            <a:r>
              <a:rPr lang="en-US" sz="825">
                <a:solidFill>
                  <a:srgbClr val="C43A17"/>
                </a:solidFill>
                <a:latin typeface="Microsoft YaHei"/>
                <a:ea typeface="Microsoft YaHei"/>
              </a:rPr>
              <a:t>DATA GOVERNANCE</a:t>
            </a:r>
            <a:endParaRPr/>
          </a:p>
        </p:txBody>
      </p:sp>
      <p:sp>
        <p:nvSpPr>
          <p:cNvPr id="1372" name="" descr="{&quot;isTemplate&quot;:true,&quot;type&quot;:&quot;text&quot;}"/>
          <p:cNvSpPr txBox="1"/>
          <p:nvPr/>
        </p:nvSpPr>
        <p:spPr>
          <a:xfrm rot="0" flipH="0" flipV="0">
            <a:off x="6296025" y="1866900"/>
            <a:ext cx="5133975" cy="219075"/>
          </a:xfrm>
          <a:prstGeom prst="rect"/>
        </p:spPr>
        <p:txBody>
          <a:bodyPr wrap="none" lIns="0" tIns="0" rIns="0" bIns="0"/>
          <a:p>
            <a:pPr>
              <a:lnSpc>
                <a:spcPct val="155000"/>
              </a:lnSpc>
            </a:pPr>
            <a:r>
              <a:rPr lang="zh-CN" sz="900">
                <a:solidFill>
                  <a:srgbClr val="3A4050"/>
                </a:solidFill>
                <a:latin typeface="Microsoft YaHei"/>
                <a:ea typeface="Microsoft YaHei"/>
              </a:rPr>
              <a:t>官方定义：管理企业数据在加工全生命周期中的行为——从接入到访问，再到删除。范围明显更宽。</a:t>
            </a:r>
            <a:endParaRPr/>
          </a:p>
        </p:txBody>
      </p:sp>
      <p:sp>
        <p:nvSpPr>
          <p:cNvPr id="1373" name=""/>
          <p:cNvSpPr/>
          <p:nvPr/>
        </p:nvSpPr>
        <p:spPr>
          <a:xfrm rot="0" flipH="0" flipV="0">
            <a:off x="609600" y="2543175"/>
            <a:ext cx="10972800" cy="1752600"/>
          </a:xfrm>
          <a:prstGeom prst="roundRect">
            <a:avLst>
              <a:gd name="adj" fmla="val 2174"/>
            </a:avLst>
          </a:prstGeom>
          <a:solidFill>
            <a:srgbClr val="0F1423"/>
          </a:solidFill>
          <a:ln/>
        </p:spPr>
        <p:txBody>
          <a:bodyPr/>
          <a:p/>
        </p:txBody>
      </p:sp>
      <p:sp>
        <p:nvSpPr>
          <p:cNvPr id="1374" name="" descr="{&quot;isTemplate&quot;:true,&quot;type&quot;:&quot;text&quot;}"/>
          <p:cNvSpPr txBox="1"/>
          <p:nvPr/>
        </p:nvSpPr>
        <p:spPr>
          <a:xfrm rot="0" flipH="0" flipV="0">
            <a:off x="781050" y="2676525"/>
            <a:ext cx="10629900" cy="161925"/>
          </a:xfrm>
          <a:prstGeom prst="rect"/>
        </p:spPr>
        <p:txBody>
          <a:bodyPr wrap="none" lIns="0" tIns="0" rIns="0" bIns="0"/>
          <a:p>
            <a:pPr>
              <a:lnSpc>
                <a:spcPct val="100000"/>
              </a:lnSpc>
            </a:pPr>
            <a:r>
              <a:rPr lang="zh-CN" sz="1050" b="1">
                <a:solidFill>
                  <a:srgbClr val="FBA15C"/>
                </a:solidFill>
                <a:latin typeface="Microsoft YaHei"/>
                <a:ea typeface="Microsoft YaHei"/>
              </a:rPr>
              <a:t>治理对象的完整清单：六段生命周期，每段都有独立的失控方式</a:t>
            </a:r>
            <a:endParaRPr/>
          </a:p>
        </p:txBody>
      </p:sp>
      <p:sp>
        <p:nvSpPr>
          <p:cNvPr id="1375" name=""/>
          <p:cNvSpPr/>
          <p:nvPr/>
        </p:nvSpPr>
        <p:spPr>
          <a:xfrm rot="0" flipH="0" flipV="0">
            <a:off x="781050" y="2971800"/>
            <a:ext cx="1714500" cy="923925"/>
          </a:xfrm>
          <a:prstGeom prst="roundRect">
            <a:avLst>
              <a:gd name="adj" fmla="val 3093"/>
            </a:avLst>
          </a:prstGeom>
          <a:solidFill>
            <a:srgbClr val="FFFFFF">
              <a:alpha val="7000"/>
            </a:srgbClr>
          </a:solidFill>
          <a:ln/>
        </p:spPr>
        <p:txBody>
          <a:bodyPr/>
          <a:p/>
        </p:txBody>
      </p:sp>
      <p:sp>
        <p:nvSpPr>
          <p:cNvPr id="1376" name=""/>
          <p:cNvSpPr/>
          <p:nvPr/>
        </p:nvSpPr>
        <p:spPr>
          <a:xfrm rot="0" flipH="0" flipV="0">
            <a:off x="781050" y="2971800"/>
            <a:ext cx="1714500" cy="923925"/>
          </a:xfrm>
          <a:custGeom>
            <a:pathLst>
              <a:path w="180" h="97">
                <a:moveTo>
                  <a:pt x="177" y="0"/>
                </a:moveTo>
                <a:cubicBezTo>
                  <a:pt x="179" y="0"/>
                  <a:pt x="180" y="1"/>
                  <a:pt x="180" y="3"/>
                </a:cubicBezTo>
                <a:lnTo>
                  <a:pt x="0" y="3"/>
                </a:lnTo>
                <a:cubicBezTo>
                  <a:pt x="0" y="1"/>
                  <a:pt x="1" y="0"/>
                  <a:pt x="3" y="0"/>
                </a:cubicBezTo>
                <a:lnTo>
                  <a:pt x="177" y="0"/>
                </a:lnTo>
                <a:close/>
              </a:path>
            </a:pathLst>
          </a:custGeom>
          <a:solidFill>
            <a:srgbClr val="FA4F24"/>
          </a:solidFill>
          <a:ln/>
        </p:spPr>
        <p:txBody>
          <a:bodyPr/>
          <a:p/>
        </p:txBody>
      </p:sp>
      <p:sp>
        <p:nvSpPr>
          <p:cNvPr id="1377" name="" descr="{&quot;isTemplate&quot;:true,&quot;type&quot;:&quot;text&quot;}"/>
          <p:cNvSpPr txBox="1"/>
          <p:nvPr/>
        </p:nvSpPr>
        <p:spPr>
          <a:xfrm rot="0" flipH="0" flipV="0">
            <a:off x="876300" y="3057525"/>
            <a:ext cx="1524000" cy="152400"/>
          </a:xfrm>
          <a:prstGeom prst="rect"/>
        </p:spPr>
        <p:txBody>
          <a:bodyPr wrap="none" lIns="0" tIns="0" rIns="0" bIns="0"/>
          <a:p>
            <a:pPr>
              <a:lnSpc>
                <a:spcPct val="100000"/>
              </a:lnSpc>
            </a:pPr>
            <a:r>
              <a:rPr lang="zh-CN" sz="975" b="1">
                <a:solidFill>
                  <a:srgbClr val="FA4F24"/>
                </a:solidFill>
                <a:latin typeface="Microsoft YaHei"/>
                <a:ea typeface="Microsoft YaHei"/>
              </a:rPr>
              <a:t>接入</a:t>
            </a:r>
            <a:endParaRPr/>
          </a:p>
        </p:txBody>
      </p:sp>
      <p:sp>
        <p:nvSpPr>
          <p:cNvPr id="1378" name="" descr="{&quot;isTemplate&quot;:true,&quot;type&quot;:&quot;text&quot;}"/>
          <p:cNvSpPr txBox="1"/>
          <p:nvPr/>
        </p:nvSpPr>
        <p:spPr>
          <a:xfrm rot="0" flipH="0" flipV="0">
            <a:off x="876300" y="3257550"/>
            <a:ext cx="1524000" cy="133350"/>
          </a:xfrm>
          <a:prstGeom prst="rect"/>
        </p:spPr>
        <p:txBody>
          <a:bodyPr wrap="none" lIns="0" tIns="0" rIns="0" bIns="0"/>
          <a:p>
            <a:pPr>
              <a:lnSpc>
                <a:spcPct val="100000"/>
              </a:lnSpc>
            </a:pPr>
            <a:r>
              <a:rPr lang="zh-CN" sz="863" b="1">
                <a:solidFill>
                  <a:srgbClr val="FFFFFF"/>
                </a:solidFill>
                <a:latin typeface="Microsoft YaHei"/>
                <a:ea typeface="Microsoft YaHei"/>
              </a:rPr>
              <a:t>该不该采</a:t>
            </a:r>
            <a:endParaRPr/>
          </a:p>
        </p:txBody>
      </p:sp>
      <p:sp>
        <p:nvSpPr>
          <p:cNvPr id="1379" name="" descr="{&quot;isTemplate&quot;:true,&quot;type&quot;:&quot;text&quot;}"/>
          <p:cNvSpPr txBox="1"/>
          <p:nvPr/>
        </p:nvSpPr>
        <p:spPr>
          <a:xfrm rot="0" flipH="0" flipV="0">
            <a:off x="876300" y="3438525"/>
            <a:ext cx="1524000" cy="180975"/>
          </a:xfrm>
          <a:prstGeom prst="rect"/>
        </p:spPr>
        <p:txBody>
          <a:bodyPr wrap="none" lIns="0" tIns="0" rIns="0" bIns="0"/>
          <a:p>
            <a:pPr>
              <a:lnSpc>
                <a:spcPct val="145000"/>
              </a:lnSpc>
            </a:pPr>
            <a:r>
              <a:rPr lang="zh-CN" sz="788">
                <a:solidFill>
                  <a:srgbClr val="FFFFFF">
                    <a:alpha val="60000"/>
                  </a:srgbClr>
                </a:solidFill>
                <a:latin typeface="Microsoft YaHei"/>
                <a:ea typeface="Microsoft YaHei"/>
              </a:rPr>
              <a:t>超范围采集、目的外用</a:t>
            </a:r>
            <a:endParaRPr/>
          </a:p>
        </p:txBody>
      </p:sp>
      <p:sp>
        <p:nvSpPr>
          <p:cNvPr id="1380" name=""/>
          <p:cNvSpPr/>
          <p:nvPr/>
        </p:nvSpPr>
        <p:spPr>
          <a:xfrm rot="0" flipH="0" flipV="0">
            <a:off x="2562225" y="2971800"/>
            <a:ext cx="1714500" cy="923925"/>
          </a:xfrm>
          <a:prstGeom prst="roundRect">
            <a:avLst>
              <a:gd name="adj" fmla="val 3093"/>
            </a:avLst>
          </a:prstGeom>
          <a:solidFill>
            <a:srgbClr val="FFFFFF">
              <a:alpha val="7000"/>
            </a:srgbClr>
          </a:solidFill>
          <a:ln/>
        </p:spPr>
        <p:txBody>
          <a:bodyPr/>
          <a:p/>
        </p:txBody>
      </p:sp>
      <p:sp>
        <p:nvSpPr>
          <p:cNvPr id="1381" name=""/>
          <p:cNvSpPr/>
          <p:nvPr/>
        </p:nvSpPr>
        <p:spPr>
          <a:xfrm rot="0" flipH="0" flipV="0">
            <a:off x="2562225" y="2971800"/>
            <a:ext cx="1714500" cy="923925"/>
          </a:xfrm>
          <a:custGeom>
            <a:pathLst>
              <a:path w="180" h="97">
                <a:moveTo>
                  <a:pt x="177" y="0"/>
                </a:moveTo>
                <a:cubicBezTo>
                  <a:pt x="179" y="0"/>
                  <a:pt x="180" y="1"/>
                  <a:pt x="180" y="3"/>
                </a:cubicBezTo>
                <a:lnTo>
                  <a:pt x="0" y="3"/>
                </a:lnTo>
                <a:cubicBezTo>
                  <a:pt x="0" y="1"/>
                  <a:pt x="1" y="0"/>
                  <a:pt x="3" y="0"/>
                </a:cubicBezTo>
                <a:lnTo>
                  <a:pt x="177" y="0"/>
                </a:lnTo>
                <a:close/>
              </a:path>
            </a:pathLst>
          </a:custGeom>
          <a:solidFill>
            <a:srgbClr val="F87D2F"/>
          </a:solidFill>
          <a:ln/>
        </p:spPr>
        <p:txBody>
          <a:bodyPr/>
          <a:p/>
        </p:txBody>
      </p:sp>
      <p:sp>
        <p:nvSpPr>
          <p:cNvPr id="1382" name="" descr="{&quot;isTemplate&quot;:true,&quot;type&quot;:&quot;text&quot;}"/>
          <p:cNvSpPr txBox="1"/>
          <p:nvPr/>
        </p:nvSpPr>
        <p:spPr>
          <a:xfrm rot="0" flipH="0" flipV="0">
            <a:off x="2657475" y="3057525"/>
            <a:ext cx="1524000" cy="152400"/>
          </a:xfrm>
          <a:prstGeom prst="rect"/>
        </p:spPr>
        <p:txBody>
          <a:bodyPr wrap="none" lIns="0" tIns="0" rIns="0" bIns="0"/>
          <a:p>
            <a:pPr>
              <a:lnSpc>
                <a:spcPct val="100000"/>
              </a:lnSpc>
            </a:pPr>
            <a:r>
              <a:rPr lang="zh-CN" sz="975" b="1">
                <a:solidFill>
                  <a:srgbClr val="F87D2F"/>
                </a:solidFill>
                <a:latin typeface="Microsoft YaHei"/>
                <a:ea typeface="Microsoft YaHei"/>
              </a:rPr>
              <a:t>存储</a:t>
            </a:r>
            <a:endParaRPr/>
          </a:p>
        </p:txBody>
      </p:sp>
      <p:sp>
        <p:nvSpPr>
          <p:cNvPr id="1383" name="" descr="{&quot;isTemplate&quot;:true,&quot;type&quot;:&quot;text&quot;}"/>
          <p:cNvSpPr txBox="1"/>
          <p:nvPr/>
        </p:nvSpPr>
        <p:spPr>
          <a:xfrm rot="0" flipH="0" flipV="0">
            <a:off x="2657475" y="3257550"/>
            <a:ext cx="1524000" cy="133350"/>
          </a:xfrm>
          <a:prstGeom prst="rect"/>
        </p:spPr>
        <p:txBody>
          <a:bodyPr wrap="none" lIns="0" tIns="0" rIns="0" bIns="0"/>
          <a:p>
            <a:pPr>
              <a:lnSpc>
                <a:spcPct val="100000"/>
              </a:lnSpc>
            </a:pPr>
            <a:r>
              <a:rPr lang="zh-CN" sz="863" b="1">
                <a:solidFill>
                  <a:srgbClr val="FFFFFF"/>
                </a:solidFill>
                <a:latin typeface="Microsoft YaHei"/>
                <a:ea typeface="Microsoft YaHei"/>
              </a:rPr>
              <a:t>存多久</a:t>
            </a:r>
            <a:endParaRPr/>
          </a:p>
        </p:txBody>
      </p:sp>
      <p:sp>
        <p:nvSpPr>
          <p:cNvPr id="1384" name="" descr="{&quot;isTemplate&quot;:true,&quot;type&quot;:&quot;text&quot;}"/>
          <p:cNvSpPr txBox="1"/>
          <p:nvPr/>
        </p:nvSpPr>
        <p:spPr>
          <a:xfrm rot="0" flipH="0" flipV="0">
            <a:off x="2657475" y="3438525"/>
            <a:ext cx="1524000" cy="180975"/>
          </a:xfrm>
          <a:prstGeom prst="rect"/>
        </p:spPr>
        <p:txBody>
          <a:bodyPr wrap="none" lIns="0" tIns="0" rIns="0" bIns="0"/>
          <a:p>
            <a:pPr>
              <a:lnSpc>
                <a:spcPct val="145000"/>
              </a:lnSpc>
            </a:pPr>
            <a:r>
              <a:rPr lang="zh-CN" sz="788">
                <a:solidFill>
                  <a:srgbClr val="FFFFFF">
                    <a:alpha val="60000"/>
                  </a:srgbClr>
                </a:solidFill>
                <a:latin typeface="Microsoft YaHei"/>
                <a:ea typeface="Microsoft YaHei"/>
              </a:rPr>
              <a:t>留存过久、缺删除机制</a:t>
            </a:r>
            <a:endParaRPr/>
          </a:p>
        </p:txBody>
      </p:sp>
      <p:sp>
        <p:nvSpPr>
          <p:cNvPr id="1385" name=""/>
          <p:cNvSpPr/>
          <p:nvPr/>
        </p:nvSpPr>
        <p:spPr>
          <a:xfrm rot="0" flipH="0" flipV="0">
            <a:off x="4343400" y="2971800"/>
            <a:ext cx="1724025" cy="923925"/>
          </a:xfrm>
          <a:prstGeom prst="roundRect">
            <a:avLst>
              <a:gd name="adj" fmla="val 3093"/>
            </a:avLst>
          </a:prstGeom>
          <a:solidFill>
            <a:srgbClr val="FFFFFF">
              <a:alpha val="7000"/>
            </a:srgbClr>
          </a:solidFill>
          <a:ln/>
        </p:spPr>
        <p:txBody>
          <a:bodyPr/>
          <a:p/>
        </p:txBody>
      </p:sp>
      <p:sp>
        <p:nvSpPr>
          <p:cNvPr id="1386" name=""/>
          <p:cNvSpPr/>
          <p:nvPr/>
        </p:nvSpPr>
        <p:spPr>
          <a:xfrm rot="0" flipH="0" flipV="0">
            <a:off x="4343400" y="2971800"/>
            <a:ext cx="1724025" cy="923925"/>
          </a:xfrm>
          <a:custGeom>
            <a:pathLst>
              <a:path w="181" h="97">
                <a:moveTo>
                  <a:pt x="178" y="0"/>
                </a:moveTo>
                <a:cubicBezTo>
                  <a:pt x="180" y="0"/>
                  <a:pt x="181" y="1"/>
                  <a:pt x="181" y="3"/>
                </a:cubicBezTo>
                <a:lnTo>
                  <a:pt x="0" y="3"/>
                </a:lnTo>
                <a:cubicBezTo>
                  <a:pt x="0" y="1"/>
                  <a:pt x="1" y="0"/>
                  <a:pt x="3" y="0"/>
                </a:cubicBezTo>
                <a:lnTo>
                  <a:pt x="178" y="0"/>
                </a:lnTo>
                <a:close/>
              </a:path>
            </a:pathLst>
          </a:custGeom>
          <a:solidFill>
            <a:srgbClr val="E0651A"/>
          </a:solidFill>
          <a:ln/>
        </p:spPr>
        <p:txBody>
          <a:bodyPr/>
          <a:p/>
        </p:txBody>
      </p:sp>
      <p:sp>
        <p:nvSpPr>
          <p:cNvPr id="1387" name="" descr="{&quot;isTemplate&quot;:true,&quot;type&quot;:&quot;text&quot;}"/>
          <p:cNvSpPr txBox="1"/>
          <p:nvPr/>
        </p:nvSpPr>
        <p:spPr>
          <a:xfrm rot="0" flipH="0" flipV="0">
            <a:off x="4438650" y="3057525"/>
            <a:ext cx="1533525" cy="152400"/>
          </a:xfrm>
          <a:prstGeom prst="rect"/>
        </p:spPr>
        <p:txBody>
          <a:bodyPr wrap="none" lIns="0" tIns="0" rIns="0" bIns="0"/>
          <a:p>
            <a:pPr>
              <a:lnSpc>
                <a:spcPct val="100000"/>
              </a:lnSpc>
            </a:pPr>
            <a:r>
              <a:rPr lang="zh-CN" sz="975" b="1">
                <a:solidFill>
                  <a:srgbClr val="E0651A"/>
                </a:solidFill>
                <a:latin typeface="Microsoft YaHei"/>
                <a:ea typeface="Microsoft YaHei"/>
              </a:rPr>
              <a:t>加工</a:t>
            </a:r>
            <a:endParaRPr/>
          </a:p>
        </p:txBody>
      </p:sp>
      <p:sp>
        <p:nvSpPr>
          <p:cNvPr id="1388" name="" descr="{&quot;isTemplate&quot;:true,&quot;type&quot;:&quot;text&quot;}"/>
          <p:cNvSpPr txBox="1"/>
          <p:nvPr/>
        </p:nvSpPr>
        <p:spPr>
          <a:xfrm rot="0" flipH="0" flipV="0">
            <a:off x="4438650" y="3257550"/>
            <a:ext cx="1533525" cy="133350"/>
          </a:xfrm>
          <a:prstGeom prst="rect"/>
        </p:spPr>
        <p:txBody>
          <a:bodyPr wrap="none" lIns="0" tIns="0" rIns="0" bIns="0"/>
          <a:p>
            <a:pPr>
              <a:lnSpc>
                <a:spcPct val="100000"/>
              </a:lnSpc>
            </a:pPr>
            <a:r>
              <a:rPr lang="zh-CN" sz="863" b="1">
                <a:solidFill>
                  <a:srgbClr val="FFFFFF"/>
                </a:solidFill>
                <a:latin typeface="Microsoft YaHei"/>
                <a:ea typeface="Microsoft YaHei"/>
              </a:rPr>
              <a:t>标记怎么传</a:t>
            </a:r>
            <a:endParaRPr/>
          </a:p>
        </p:txBody>
      </p:sp>
      <p:sp>
        <p:nvSpPr>
          <p:cNvPr id="1389" name="" descr="{&quot;isTemplate&quot;:true,&quot;type&quot;:&quot;text&quot;}"/>
          <p:cNvSpPr txBox="1"/>
          <p:nvPr/>
        </p:nvSpPr>
        <p:spPr>
          <a:xfrm rot="0" flipH="0" flipV="0">
            <a:off x="4438650" y="3438525"/>
            <a:ext cx="1533525" cy="180975"/>
          </a:xfrm>
          <a:prstGeom prst="rect"/>
        </p:spPr>
        <p:txBody>
          <a:bodyPr wrap="none" lIns="0" tIns="0" rIns="0" bIns="0"/>
          <a:p>
            <a:pPr>
              <a:lnSpc>
                <a:spcPct val="145000"/>
              </a:lnSpc>
            </a:pPr>
            <a:r>
              <a:rPr lang="zh-CN" sz="788">
                <a:solidFill>
                  <a:srgbClr val="FFFFFF">
                    <a:alpha val="60000"/>
                  </a:srgbClr>
                </a:solidFill>
                <a:latin typeface="Microsoft YaHei"/>
                <a:ea typeface="Microsoft YaHei"/>
              </a:rPr>
              <a:t>清洗过程把密级洗掉了</a:t>
            </a:r>
            <a:endParaRPr/>
          </a:p>
        </p:txBody>
      </p:sp>
      <p:sp>
        <p:nvSpPr>
          <p:cNvPr id="1390" name=""/>
          <p:cNvSpPr/>
          <p:nvPr/>
        </p:nvSpPr>
        <p:spPr>
          <a:xfrm rot="0" flipH="0" flipV="0">
            <a:off x="6134100" y="2971800"/>
            <a:ext cx="1714500" cy="923925"/>
          </a:xfrm>
          <a:prstGeom prst="roundRect">
            <a:avLst>
              <a:gd name="adj" fmla="val 3093"/>
            </a:avLst>
          </a:prstGeom>
          <a:solidFill>
            <a:srgbClr val="FFFFFF">
              <a:alpha val="7000"/>
            </a:srgbClr>
          </a:solidFill>
          <a:ln/>
        </p:spPr>
        <p:txBody>
          <a:bodyPr/>
          <a:p/>
        </p:txBody>
      </p:sp>
      <p:sp>
        <p:nvSpPr>
          <p:cNvPr id="1391" name=""/>
          <p:cNvSpPr/>
          <p:nvPr/>
        </p:nvSpPr>
        <p:spPr>
          <a:xfrm rot="0" flipH="0" flipV="0">
            <a:off x="6134100" y="2971800"/>
            <a:ext cx="1714500" cy="923925"/>
          </a:xfrm>
          <a:custGeom>
            <a:pathLst>
              <a:path w="180" h="97">
                <a:moveTo>
                  <a:pt x="177" y="0"/>
                </a:moveTo>
                <a:cubicBezTo>
                  <a:pt x="179" y="0"/>
                  <a:pt x="180" y="1"/>
                  <a:pt x="180" y="3"/>
                </a:cubicBezTo>
                <a:lnTo>
                  <a:pt x="0" y="3"/>
                </a:lnTo>
                <a:cubicBezTo>
                  <a:pt x="0" y="1"/>
                  <a:pt x="1" y="0"/>
                  <a:pt x="3" y="0"/>
                </a:cubicBezTo>
                <a:lnTo>
                  <a:pt x="177" y="0"/>
                </a:lnTo>
                <a:close/>
              </a:path>
            </a:pathLst>
          </a:custGeom>
          <a:solidFill>
            <a:srgbClr val="C43A17"/>
          </a:solidFill>
          <a:ln/>
        </p:spPr>
        <p:txBody>
          <a:bodyPr/>
          <a:p/>
        </p:txBody>
      </p:sp>
      <p:sp>
        <p:nvSpPr>
          <p:cNvPr id="1392" name="" descr="{&quot;isTemplate&quot;:true,&quot;type&quot;:&quot;text&quot;}"/>
          <p:cNvSpPr txBox="1"/>
          <p:nvPr/>
        </p:nvSpPr>
        <p:spPr>
          <a:xfrm rot="0" flipH="0" flipV="0">
            <a:off x="6229350" y="3057525"/>
            <a:ext cx="1524000" cy="152400"/>
          </a:xfrm>
          <a:prstGeom prst="rect"/>
        </p:spPr>
        <p:txBody>
          <a:bodyPr wrap="none" lIns="0" tIns="0" rIns="0" bIns="0"/>
          <a:p>
            <a:pPr>
              <a:lnSpc>
                <a:spcPct val="100000"/>
              </a:lnSpc>
            </a:pPr>
            <a:r>
              <a:rPr lang="zh-CN" sz="975" b="1">
                <a:solidFill>
                  <a:srgbClr val="C43A17"/>
                </a:solidFill>
                <a:latin typeface="Microsoft YaHei"/>
                <a:ea typeface="Microsoft YaHei"/>
              </a:rPr>
              <a:t>访问</a:t>
            </a:r>
            <a:endParaRPr/>
          </a:p>
        </p:txBody>
      </p:sp>
      <p:sp>
        <p:nvSpPr>
          <p:cNvPr id="1393" name="" descr="{&quot;isTemplate&quot;:true,&quot;type&quot;:&quot;text&quot;}"/>
          <p:cNvSpPr txBox="1"/>
          <p:nvPr/>
        </p:nvSpPr>
        <p:spPr>
          <a:xfrm rot="0" flipH="0" flipV="0">
            <a:off x="6229350" y="3257550"/>
            <a:ext cx="1524000" cy="133350"/>
          </a:xfrm>
          <a:prstGeom prst="rect"/>
        </p:spPr>
        <p:txBody>
          <a:bodyPr wrap="none" lIns="0" tIns="0" rIns="0" bIns="0"/>
          <a:p>
            <a:pPr>
              <a:lnSpc>
                <a:spcPct val="100000"/>
              </a:lnSpc>
            </a:pPr>
            <a:r>
              <a:rPr lang="zh-CN" sz="863" b="1">
                <a:solidFill>
                  <a:srgbClr val="FFFFFF"/>
                </a:solidFill>
                <a:latin typeface="Microsoft YaHei"/>
                <a:ea typeface="Microsoft YaHei"/>
              </a:rPr>
              <a:t>谁在用</a:t>
            </a:r>
            <a:endParaRPr/>
          </a:p>
        </p:txBody>
      </p:sp>
      <p:sp>
        <p:nvSpPr>
          <p:cNvPr id="1394" name="" descr="{&quot;isTemplate&quot;:true,&quot;type&quot;:&quot;text&quot;}"/>
          <p:cNvSpPr txBox="1"/>
          <p:nvPr/>
        </p:nvSpPr>
        <p:spPr>
          <a:xfrm rot="0" flipH="0" flipV="0">
            <a:off x="6229350" y="3438525"/>
            <a:ext cx="1524000" cy="180975"/>
          </a:xfrm>
          <a:prstGeom prst="rect"/>
        </p:spPr>
        <p:txBody>
          <a:bodyPr wrap="none" lIns="0" tIns="0" rIns="0" bIns="0"/>
          <a:p>
            <a:pPr>
              <a:lnSpc>
                <a:spcPct val="145000"/>
              </a:lnSpc>
            </a:pPr>
            <a:r>
              <a:rPr lang="zh-CN" sz="788">
                <a:solidFill>
                  <a:srgbClr val="FFFFFF">
                    <a:alpha val="60000"/>
                  </a:srgbClr>
                </a:solidFill>
                <a:latin typeface="Microsoft YaHei"/>
                <a:ea typeface="Microsoft YaHei"/>
              </a:rPr>
              <a:t>权限过宽、用途不分</a:t>
            </a:r>
            <a:endParaRPr/>
          </a:p>
        </p:txBody>
      </p:sp>
      <p:sp>
        <p:nvSpPr>
          <p:cNvPr id="1395" name=""/>
          <p:cNvSpPr/>
          <p:nvPr/>
        </p:nvSpPr>
        <p:spPr>
          <a:xfrm rot="0" flipH="0" flipV="0">
            <a:off x="7915275" y="2971800"/>
            <a:ext cx="1714500" cy="923925"/>
          </a:xfrm>
          <a:prstGeom prst="roundRect">
            <a:avLst>
              <a:gd name="adj" fmla="val 3093"/>
            </a:avLst>
          </a:prstGeom>
          <a:solidFill>
            <a:srgbClr val="FFFFFF">
              <a:alpha val="7000"/>
            </a:srgbClr>
          </a:solidFill>
          <a:ln/>
        </p:spPr>
        <p:txBody>
          <a:bodyPr/>
          <a:p/>
        </p:txBody>
      </p:sp>
      <p:sp>
        <p:nvSpPr>
          <p:cNvPr id="1396" name=""/>
          <p:cNvSpPr/>
          <p:nvPr/>
        </p:nvSpPr>
        <p:spPr>
          <a:xfrm rot="0" flipH="0" flipV="0">
            <a:off x="7915275" y="2971800"/>
            <a:ext cx="1714500" cy="923925"/>
          </a:xfrm>
          <a:custGeom>
            <a:pathLst>
              <a:path w="180" h="97">
                <a:moveTo>
                  <a:pt x="177" y="0"/>
                </a:moveTo>
                <a:cubicBezTo>
                  <a:pt x="179" y="0"/>
                  <a:pt x="180" y="1"/>
                  <a:pt x="180" y="3"/>
                </a:cubicBezTo>
                <a:lnTo>
                  <a:pt x="0" y="3"/>
                </a:lnTo>
                <a:cubicBezTo>
                  <a:pt x="0" y="1"/>
                  <a:pt x="1" y="0"/>
                  <a:pt x="3" y="0"/>
                </a:cubicBezTo>
                <a:lnTo>
                  <a:pt x="177" y="0"/>
                </a:lnTo>
                <a:close/>
              </a:path>
            </a:pathLst>
          </a:custGeom>
          <a:solidFill>
            <a:srgbClr val="0F1423"/>
          </a:solidFill>
          <a:ln/>
        </p:spPr>
        <p:txBody>
          <a:bodyPr/>
          <a:p/>
        </p:txBody>
      </p:sp>
      <p:sp>
        <p:nvSpPr>
          <p:cNvPr id="1397" name="" descr="{&quot;isTemplate&quot;:true,&quot;type&quot;:&quot;text&quot;}"/>
          <p:cNvSpPr txBox="1"/>
          <p:nvPr/>
        </p:nvSpPr>
        <p:spPr>
          <a:xfrm rot="0" flipH="0" flipV="0">
            <a:off x="8010525" y="3057525"/>
            <a:ext cx="1524000" cy="152400"/>
          </a:xfrm>
          <a:prstGeom prst="rect"/>
        </p:spPr>
        <p:txBody>
          <a:bodyPr wrap="none" lIns="0" tIns="0" rIns="0" bIns="0"/>
          <a:p>
            <a:pPr>
              <a:lnSpc>
                <a:spcPct val="100000"/>
              </a:lnSpc>
            </a:pPr>
            <a:r>
              <a:rPr lang="zh-CN" sz="975" b="1">
                <a:solidFill>
                  <a:srgbClr val="0F1423"/>
                </a:solidFill>
                <a:latin typeface="Microsoft YaHei"/>
                <a:ea typeface="Microsoft YaHei"/>
              </a:rPr>
              <a:t>共享</a:t>
            </a:r>
            <a:endParaRPr/>
          </a:p>
        </p:txBody>
      </p:sp>
      <p:sp>
        <p:nvSpPr>
          <p:cNvPr id="1398" name="" descr="{&quot;isTemplate&quot;:true,&quot;type&quot;:&quot;text&quot;}"/>
          <p:cNvSpPr txBox="1"/>
          <p:nvPr/>
        </p:nvSpPr>
        <p:spPr>
          <a:xfrm rot="0" flipH="0" flipV="0">
            <a:off x="8010525" y="3257550"/>
            <a:ext cx="1524000" cy="133350"/>
          </a:xfrm>
          <a:prstGeom prst="rect"/>
        </p:spPr>
        <p:txBody>
          <a:bodyPr wrap="none" lIns="0" tIns="0" rIns="0" bIns="0"/>
          <a:p>
            <a:pPr>
              <a:lnSpc>
                <a:spcPct val="100000"/>
              </a:lnSpc>
            </a:pPr>
            <a:r>
              <a:rPr lang="zh-CN" sz="863" b="1">
                <a:solidFill>
                  <a:srgbClr val="FFFFFF"/>
                </a:solidFill>
                <a:latin typeface="Microsoft YaHei"/>
                <a:ea typeface="Microsoft YaHei"/>
              </a:rPr>
              <a:t>流出去了吗</a:t>
            </a:r>
            <a:endParaRPr/>
          </a:p>
        </p:txBody>
      </p:sp>
      <p:sp>
        <p:nvSpPr>
          <p:cNvPr id="1399" name="" descr="{&quot;isTemplate&quot;:true,&quot;type&quot;:&quot;text&quot;}"/>
          <p:cNvSpPr txBox="1"/>
          <p:nvPr/>
        </p:nvSpPr>
        <p:spPr>
          <a:xfrm rot="0" flipH="0" flipV="0">
            <a:off x="8010525" y="3438525"/>
            <a:ext cx="1524000" cy="180975"/>
          </a:xfrm>
          <a:prstGeom prst="rect"/>
        </p:spPr>
        <p:txBody>
          <a:bodyPr wrap="none" lIns="0" tIns="0" rIns="0" bIns="0"/>
          <a:p>
            <a:pPr>
              <a:lnSpc>
                <a:spcPct val="145000"/>
              </a:lnSpc>
            </a:pPr>
            <a:r>
              <a:rPr lang="zh-CN" sz="788">
                <a:solidFill>
                  <a:srgbClr val="FFFFFF">
                    <a:alpha val="60000"/>
                  </a:srgbClr>
                </a:solidFill>
                <a:latin typeface="Microsoft YaHei"/>
                <a:ea typeface="Microsoft YaHei"/>
              </a:rPr>
              <a:t>外发无标记、无出口策略</a:t>
            </a:r>
            <a:endParaRPr/>
          </a:p>
        </p:txBody>
      </p:sp>
      <p:sp>
        <p:nvSpPr>
          <p:cNvPr id="1400" name=""/>
          <p:cNvSpPr/>
          <p:nvPr/>
        </p:nvSpPr>
        <p:spPr>
          <a:xfrm rot="0" flipH="0" flipV="0">
            <a:off x="9696450" y="2971800"/>
            <a:ext cx="1714500" cy="923925"/>
          </a:xfrm>
          <a:prstGeom prst="roundRect">
            <a:avLst>
              <a:gd name="adj" fmla="val 3093"/>
            </a:avLst>
          </a:prstGeom>
          <a:solidFill>
            <a:srgbClr val="FFFFFF">
              <a:alpha val="7000"/>
            </a:srgbClr>
          </a:solidFill>
          <a:ln/>
        </p:spPr>
        <p:txBody>
          <a:bodyPr/>
          <a:p/>
        </p:txBody>
      </p:sp>
      <p:sp>
        <p:nvSpPr>
          <p:cNvPr id="1401" name=""/>
          <p:cNvSpPr/>
          <p:nvPr/>
        </p:nvSpPr>
        <p:spPr>
          <a:xfrm rot="0" flipH="0" flipV="0">
            <a:off x="9696450" y="2971800"/>
            <a:ext cx="1714500" cy="923925"/>
          </a:xfrm>
          <a:custGeom>
            <a:pathLst>
              <a:path w="180" h="97">
                <a:moveTo>
                  <a:pt x="177" y="0"/>
                </a:moveTo>
                <a:cubicBezTo>
                  <a:pt x="179" y="0"/>
                  <a:pt x="180" y="1"/>
                  <a:pt x="180" y="3"/>
                </a:cubicBezTo>
                <a:lnTo>
                  <a:pt x="0" y="3"/>
                </a:lnTo>
                <a:cubicBezTo>
                  <a:pt x="0" y="1"/>
                  <a:pt x="1" y="0"/>
                  <a:pt x="3" y="0"/>
                </a:cubicBezTo>
                <a:lnTo>
                  <a:pt x="177" y="0"/>
                </a:lnTo>
                <a:close/>
              </a:path>
            </a:pathLst>
          </a:custGeom>
          <a:solidFill>
            <a:srgbClr val="8A8F99"/>
          </a:solidFill>
          <a:ln/>
        </p:spPr>
        <p:txBody>
          <a:bodyPr/>
          <a:p/>
        </p:txBody>
      </p:sp>
      <p:sp>
        <p:nvSpPr>
          <p:cNvPr id="1402" name="" descr="{&quot;isTemplate&quot;:true,&quot;type&quot;:&quot;text&quot;}"/>
          <p:cNvSpPr txBox="1"/>
          <p:nvPr/>
        </p:nvSpPr>
        <p:spPr>
          <a:xfrm rot="0" flipH="0" flipV="0">
            <a:off x="9791700" y="3057525"/>
            <a:ext cx="1524000" cy="152400"/>
          </a:xfrm>
          <a:prstGeom prst="rect"/>
        </p:spPr>
        <p:txBody>
          <a:bodyPr wrap="none" lIns="0" tIns="0" rIns="0" bIns="0"/>
          <a:p>
            <a:pPr>
              <a:lnSpc>
                <a:spcPct val="100000"/>
              </a:lnSpc>
            </a:pPr>
            <a:r>
              <a:rPr lang="zh-CN" sz="975" b="1">
                <a:solidFill>
                  <a:srgbClr val="8A8F99"/>
                </a:solidFill>
                <a:latin typeface="Microsoft YaHei"/>
                <a:ea typeface="Microsoft YaHei"/>
              </a:rPr>
              <a:t>删除</a:t>
            </a:r>
            <a:endParaRPr/>
          </a:p>
        </p:txBody>
      </p:sp>
      <p:sp>
        <p:nvSpPr>
          <p:cNvPr id="1403" name="" descr="{&quot;isTemplate&quot;:true,&quot;type&quot;:&quot;text&quot;}"/>
          <p:cNvSpPr txBox="1"/>
          <p:nvPr/>
        </p:nvSpPr>
        <p:spPr>
          <a:xfrm rot="0" flipH="0" flipV="0">
            <a:off x="9791700" y="3257550"/>
            <a:ext cx="1524000" cy="133350"/>
          </a:xfrm>
          <a:prstGeom prst="rect"/>
        </p:spPr>
        <p:txBody>
          <a:bodyPr wrap="none" lIns="0" tIns="0" rIns="0" bIns="0"/>
          <a:p>
            <a:pPr>
              <a:lnSpc>
                <a:spcPct val="100000"/>
              </a:lnSpc>
            </a:pPr>
            <a:r>
              <a:rPr lang="zh-CN" sz="863" b="1">
                <a:solidFill>
                  <a:srgbClr val="FFFFFF"/>
                </a:solidFill>
                <a:latin typeface="Microsoft YaHei"/>
                <a:ea typeface="Microsoft YaHei"/>
              </a:rPr>
              <a:t>能删干净吗</a:t>
            </a:r>
            <a:endParaRPr/>
          </a:p>
        </p:txBody>
      </p:sp>
      <p:sp>
        <p:nvSpPr>
          <p:cNvPr id="1404" name="" descr="{&quot;isTemplate&quot;:true,&quot;type&quot;:&quot;text&quot;}"/>
          <p:cNvSpPr txBox="1"/>
          <p:nvPr/>
        </p:nvSpPr>
        <p:spPr>
          <a:xfrm rot="0" flipH="0" flipV="0">
            <a:off x="9791700" y="3438525"/>
            <a:ext cx="1524000" cy="180975"/>
          </a:xfrm>
          <a:prstGeom prst="rect"/>
        </p:spPr>
        <p:txBody>
          <a:bodyPr wrap="none" lIns="0" tIns="0" rIns="0" bIns="0"/>
          <a:p>
            <a:pPr>
              <a:lnSpc>
                <a:spcPct val="145000"/>
              </a:lnSpc>
            </a:pPr>
            <a:r>
              <a:rPr lang="zh-CN" sz="788">
                <a:solidFill>
                  <a:srgbClr val="FFFFFF">
                    <a:alpha val="60000"/>
                  </a:srgbClr>
                </a:solidFill>
                <a:latin typeface="Microsoft YaHei"/>
                <a:ea typeface="Microsoft YaHei"/>
              </a:rPr>
              <a:t>删了但备份、缓存、副本还在</a:t>
            </a:r>
            <a:endParaRPr/>
          </a:p>
        </p:txBody>
      </p:sp>
      <p:sp>
        <p:nvSpPr>
          <p:cNvPr id="1405" name="" descr="{&quot;isTemplate&quot;:true,&quot;type&quot;:&quot;text&quot;}"/>
          <p:cNvSpPr txBox="1"/>
          <p:nvPr/>
        </p:nvSpPr>
        <p:spPr>
          <a:xfrm rot="0" flipH="0" flipV="0">
            <a:off x="781050" y="3962400"/>
            <a:ext cx="10629900" cy="200025"/>
          </a:xfrm>
          <a:prstGeom prst="rect"/>
        </p:spPr>
        <p:txBody>
          <a:bodyPr wrap="none" lIns="0" tIns="0" rIns="0" bIns="0"/>
          <a:p>
            <a:pPr>
              <a:lnSpc>
                <a:spcPct val="150000"/>
              </a:lnSpc>
            </a:pPr>
            <a:r>
              <a:rPr lang="zh-CN" sz="863">
                <a:solidFill>
                  <a:srgbClr val="FFFFFF">
                    <a:alpha val="72000"/>
                  </a:srgbClr>
                </a:solidFill>
                <a:latin typeface="Microsoft YaHei"/>
                <a:ea typeface="Microsoft YaHei"/>
              </a:rPr>
              <a:t>绝大多数企业的治理只做到了「访问」这一段：把权限配好，设个角色，完事。前面三段和后面两段基本靠自觉，于是超范围采集和删不干净的问题永远在。</a:t>
            </a:r>
            <a:endParaRPr/>
          </a:p>
        </p:txBody>
      </p:sp>
      <p:sp>
        <p:nvSpPr>
          <p:cNvPr id="1406" name=""/>
          <p:cNvSpPr/>
          <p:nvPr/>
        </p:nvSpPr>
        <p:spPr>
          <a:xfrm rot="0" flipH="0" flipV="0">
            <a:off x="647700" y="4391025"/>
            <a:ext cx="5438775" cy="1247775"/>
          </a:xfrm>
          <a:prstGeom prst="roundRect">
            <a:avLst>
              <a:gd name="adj" fmla="val 3053"/>
            </a:avLst>
          </a:prstGeom>
          <a:solidFill>
            <a:srgbClr val="FFF3EE"/>
          </a:solidFill>
          <a:ln/>
        </p:spPr>
        <p:txBody>
          <a:bodyPr/>
          <a:p/>
        </p:txBody>
      </p:sp>
      <p:sp>
        <p:nvSpPr>
          <p:cNvPr id="1407" name=""/>
          <p:cNvSpPr/>
          <p:nvPr/>
        </p:nvSpPr>
        <p:spPr>
          <a:xfrm rot="0" flipH="0" flipV="0">
            <a:off x="647700" y="4391025"/>
            <a:ext cx="5438775" cy="1247775"/>
          </a:xfrm>
          <a:custGeom>
            <a:pathLst>
              <a:path w="571" h="131">
                <a:moveTo>
                  <a:pt x="4" y="131"/>
                </a:moveTo>
                <a:cubicBezTo>
                  <a:pt x="2" y="131"/>
                  <a:pt x="0" y="129"/>
                  <a:pt x="0" y="127"/>
                </a:cubicBezTo>
                <a:lnTo>
                  <a:pt x="0" y="4"/>
                </a:lnTo>
                <a:cubicBezTo>
                  <a:pt x="0" y="2"/>
                  <a:pt x="2" y="0"/>
                  <a:pt x="4" y="0"/>
                </a:cubicBezTo>
                <a:lnTo>
                  <a:pt x="4" y="131"/>
                </a:lnTo>
                <a:close/>
              </a:path>
            </a:pathLst>
          </a:custGeom>
          <a:solidFill>
            <a:srgbClr val="FA4F24"/>
          </a:solidFill>
          <a:ln/>
        </p:spPr>
        <p:txBody>
          <a:bodyPr/>
          <a:p/>
        </p:txBody>
      </p:sp>
      <p:sp>
        <p:nvSpPr>
          <p:cNvPr id="1408" name="" descr="{&quot;isTemplate&quot;:true,&quot;type&quot;:&quot;text&quot;}"/>
          <p:cNvSpPr txBox="1"/>
          <p:nvPr/>
        </p:nvSpPr>
        <p:spPr>
          <a:xfrm rot="0" flipH="0" flipV="0">
            <a:off x="800100" y="4581525"/>
            <a:ext cx="5095875" cy="161925"/>
          </a:xfrm>
          <a:prstGeom prst="rect"/>
        </p:spPr>
        <p:txBody>
          <a:bodyPr wrap="none" lIns="0" tIns="0" rIns="0" bIns="0"/>
          <a:p>
            <a:pPr>
              <a:lnSpc>
                <a:spcPct val="100000"/>
              </a:lnSpc>
            </a:pPr>
            <a:r>
              <a:rPr lang="zh-CN" sz="1050" b="1">
                <a:solidFill>
                  <a:srgbClr val="C43A17"/>
                </a:solidFill>
                <a:latin typeface="Microsoft YaHei"/>
                <a:ea typeface="Microsoft YaHei"/>
              </a:rPr>
              <a:t>它为什么算一个业务应用</a:t>
            </a:r>
            <a:endParaRPr/>
          </a:p>
        </p:txBody>
      </p:sp>
      <p:sp>
        <p:nvSpPr>
          <p:cNvPr id="1409" name="" descr="{&quot;isTemplate&quot;:true,&quot;type&quot;:&quot;text&quot;}"/>
          <p:cNvSpPr txBox="1"/>
          <p:nvPr/>
        </p:nvSpPr>
        <p:spPr>
          <a:xfrm rot="0" flipH="0" flipV="0">
            <a:off x="800100" y="4810125"/>
            <a:ext cx="5095875" cy="638175"/>
          </a:xfrm>
          <a:prstGeom prst="rect"/>
        </p:spPr>
        <p:txBody>
          <a:bodyPr wrap="square" lIns="0" tIns="0" rIns="0" bIns="0">
            <a:normAutofit/>
          </a:bodyPr>
          <a:p>
            <a:pPr>
              <a:lnSpc>
                <a:spcPct val="155000"/>
              </a:lnSpc>
            </a:pPr>
            <a:r>
              <a:rPr lang="zh-CN" sz="900">
                <a:solidFill>
                  <a:srgbClr val="3A4050"/>
                </a:solidFill>
                <a:latin typeface="Microsoft YaHei"/>
                <a:ea typeface="Microsoft YaHei"/>
              </a:rPr>
              <a:t>有明确的业务产出物（分类分级表、权限矩阵、审批规范）、有生命周期（六段，每段有进出条件）、有服务对象（业务合规、数据平台、智能体三类）、有可审计的执行记录。四样齐全，就可以立项、可以验收、可以被监管方检查。</a:t>
            </a:r>
            <a:endParaRPr/>
          </a:p>
        </p:txBody>
      </p:sp>
      <p:sp>
        <p:nvSpPr>
          <p:cNvPr id="1410" name=""/>
          <p:cNvSpPr/>
          <p:nvPr/>
        </p:nvSpPr>
        <p:spPr>
          <a:xfrm rot="0" flipH="0" flipV="0">
            <a:off x="6143625" y="4391025"/>
            <a:ext cx="5438775" cy="1247775"/>
          </a:xfrm>
          <a:prstGeom prst="roundRect">
            <a:avLst>
              <a:gd name="adj" fmla="val 3053"/>
            </a:avLst>
          </a:prstGeom>
          <a:solidFill>
            <a:srgbClr val="F7F7F8"/>
          </a:solidFill>
          <a:ln/>
        </p:spPr>
        <p:txBody>
          <a:bodyPr/>
          <a:p/>
        </p:txBody>
      </p:sp>
      <p:sp>
        <p:nvSpPr>
          <p:cNvPr id="1411" name="" descr="{&quot;isTemplate&quot;:true,&quot;type&quot;:&quot;text&quot;}"/>
          <p:cNvSpPr txBox="1"/>
          <p:nvPr/>
        </p:nvSpPr>
        <p:spPr>
          <a:xfrm rot="0" flipH="0" flipV="0">
            <a:off x="6296025" y="4667250"/>
            <a:ext cx="5133975" cy="161925"/>
          </a:xfrm>
          <a:prstGeom prst="rect"/>
        </p:spPr>
        <p:txBody>
          <a:bodyPr wrap="none" lIns="0" tIns="0" rIns="0" bIns="0"/>
          <a:p>
            <a:pPr>
              <a:lnSpc>
                <a:spcPct val="100000"/>
              </a:lnSpc>
            </a:pPr>
            <a:r>
              <a:rPr lang="zh-CN" sz="1050" b="1">
                <a:solidFill>
                  <a:srgbClr val="0F1423"/>
                </a:solidFill>
                <a:latin typeface="Microsoft YaHei"/>
                <a:ea typeface="Microsoft YaHei"/>
              </a:rPr>
              <a:t>一句话记法</a:t>
            </a:r>
            <a:endParaRPr/>
          </a:p>
        </p:txBody>
      </p:sp>
      <p:sp>
        <p:nvSpPr>
          <p:cNvPr id="1412" name="" descr="{&quot;isTemplate&quot;:true,&quot;type&quot;:&quot;text&quot;}"/>
          <p:cNvSpPr txBox="1"/>
          <p:nvPr/>
        </p:nvSpPr>
        <p:spPr>
          <a:xfrm rot="0" flipH="0" flipV="0">
            <a:off x="6296025" y="4905375"/>
            <a:ext cx="5133975" cy="466725"/>
          </a:xfrm>
          <a:prstGeom prst="rect"/>
        </p:spPr>
        <p:txBody>
          <a:bodyPr wrap="square" lIns="0" tIns="0" rIns="0" bIns="0">
            <a:normAutofit/>
          </a:bodyPr>
          <a:p>
            <a:pPr>
              <a:lnSpc>
                <a:spcPct val="155000"/>
              </a:lnSpc>
            </a:pPr>
            <a:r>
              <a:rPr lang="zh-CN" sz="975">
                <a:solidFill>
                  <a:srgbClr val="0F1423"/>
                </a:solidFill>
                <a:latin typeface="Microsoft YaHei"/>
                <a:ea typeface="Microsoft YaHei"/>
              </a:rPr>
              <a:t>数据保护回答「怎么把数据包起来」，数据治理回答「这一路上每一次打开包的行为由谁批准、为什么打开、事后怎么查」。</a:t>
            </a:r>
            <a:endParaRPr/>
          </a:p>
        </p:txBody>
      </p:sp>
      <p:sp>
        <p:nvSpPr>
          <p:cNvPr id="1413"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1414" name=""/>
          <p:cNvSpPr/>
          <p:nvPr/>
        </p:nvSpPr>
        <p:spPr>
          <a:xfrm rot="0" flipH="0" flipV="0">
            <a:off x="609600" y="5953125"/>
            <a:ext cx="95250" cy="95250"/>
          </a:xfrm>
          <a:prstGeom prst="rect">
            <a:avLst/>
          </a:prstGeom>
          <a:solidFill>
            <a:srgbClr val="FA4F24"/>
          </a:solidFill>
          <a:ln/>
        </p:spPr>
        <p:txBody>
          <a:bodyPr/>
          <a:p/>
        </p:txBody>
      </p:sp>
      <p:sp>
        <p:nvSpPr>
          <p:cNvPr id="1415"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1416"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06 / 30</a:t>
            </a:r>
            <a:endParaRPr/>
          </a:p>
        </p:txBody>
      </p:sp>
    </p:spTree>
  </p:cSld>
</p:sld>
</file>

<file path=ppt/slides/slide7.xml><?xml version="1.0" encoding="utf-8"?>
<p:sld xmlns:p="http://schemas.openxmlformats.org/presentationml/2006/main" xmlns:a="http://schemas.openxmlformats.org/drawingml/2006/main">
  <p:cSld>
    <p:spTree>
      <p:nvGrpSpPr>
        <p:cNvPr id="1417" name="" descr="&lt;Slide style={{ width: 1280, height: 720, background: '#FFFFFF', padding: '24px 64px 0' }}&gt;&#10;    &lt;Box style={{ height: 96, flexDirection: 'column', justifyContent: 'flex-start' }}&gt;&#10;      &lt;Text style={{ fontSize: 32, fontWeight: 'bold', color: '#0F1423' }}&gt;&#10;        八项原则：&lt;span style={{ color: '#FA4F24' }}&gt;FIPPs 给治理的底线&lt;/span&gt;&#10;      &lt;/Text&gt;&#10;      &lt;Text style={{ fontSize: 20, color: '#8A8F99', marginTop: 8 }}&gt;&#10;        基于 OECD 隐私与跨境数据流指南，八条原则不是口号，每一条都对应一个可验证的设计要求&#10;      &lt;/Text&gt;&#10;    &lt;/Box&gt;&#10;    &lt;Box style={{ height: 1, background: '#E8E8E8' }} /&gt;&#10;&#10;    &lt;Box style={{ paddingTop: 14, paddingBottom: 8, height: 479, flexDirection: 'column', gap: 10 }}&gt;&#10;      &lt;Box style={{ height: 240, flexDirection: 'row', flexWrap: 'wrap', gap: 8 }}&gt;&#10;        {[&#10;          { n: '01', t: '采集限制', d: '个人数据的采集应有界限，且须以合法公平手段取得，必要时取得数据主体同意', v: '可验证：采集清单 + 采集依据', c: '#FA4F24' },&#10;          { n: '02', t: '数据质量', d: '个人数据应与使用目的相关，并在必要范围内准确、完整、保持最新', v: '可验证：质量规则 + 时效承诺', c: '#FA4F24' },&#10;          { n: '03', t: '目的规范', d: '收集目的最迟应在收集时即明确，后续使用限于该目的或相容目的', v: '可验证：目的登记 + 变更记录', c: '#F87D2F' },&#10;          { n: '04', t: '使用限制', d: '不得用于指定目的之外的披露、提供或使用，除非主体同意或法律授权', v: '可验证：用途检查点（Checkpoint）', c: '#F87D2F' },&#10;          { n: '05', t: '安全保障', d: '以合理的安全防护应对丢失、未授权访问、破坏、使用、修改或披露风险', v: '可验证：密级 + 加密 + 出口策略', c: '#E0651A' },&#10;          { n: '06', t: '公开性', d: '应有公开透明的政策，说明数据的存在性质、主要用途与责任主体身份和联系方式', v: '可验证：数据地图 + 责任人公示', c: '#E0651A' },&#10;          { n: '07', t: '个人参与', d: '个人有权知悉、获取、更正、补充、删除，并有权对拒绝提出质疑', v: '可验证：响应时限 + 处置留痕', c: '#C43A17' },&#10;          { n: '08', t: '问责', d: '责任主体应对落实上述原则的各项措施负责', v: '可验证：责任矩阵 + 签字栏', c: '#C43A17' },&#10;        ].map((it, i) =&gt; (&#10;          &lt;Box key={it.n} style={{ width: 'calc(25% - 6px)', height: 116, background: '#F7F7F8', borderRadius: 4, borderLeft: '3px solid ' + it.c, padding: '9px 11px', flexDirection: 'column' }}&gt;&#10;            &lt;Box style={{ flexDirection: 'row', alignItems: 'center', gap: 7 }}&gt;&#10;              &lt;Text style={{ fontSize: 13, fontWeight: 'bold', color: it.c }}&gt;{it.n}&lt;/Text&gt;&#10;              &lt;Text style={{ fontSize: 13.5, fontWeight: 'bold', color: '#0F1423' }}&gt;{it.t}&lt;/Text&gt;&#10;            &lt;/Box&gt;&#10;            &lt;Text style={{ fontSize: 11, color: '#3A4050', marginTop: 6, lineHeight: 1.45 }}&gt;{it.d}&lt;/Text&gt;&#10;            &lt;Box style={{ flex: 1, background: '#FFFFFF', borderRadius: 3, padding: '4px 7px', marginTop: 7, justifyContent: 'center' }}&gt;&#10;              &lt;Text style={{ fontSize: 10, color: it.c, lineHeight: 1.35 }}&gt;{it.v}&lt;/Text&gt;&#10;            &lt;/Box&gt;&#10;          &lt;/Box&gt;&#10;        ))}&#10;      &lt;/Box&gt;&#10;&#10;      &lt;Box style={{ flex: 1, flexDirection: 'row', gap: 10 }}&gt;&#10;        &lt;Box style={{ width: 400, background: '#0F1423', borderRadius: 4, padding: '13px 17px', flexDirection: 'column', justifyContent: 'center' }}&gt;&#10;          &lt;Text style={{ fontSize: 14, fontWeight: 'bold', color: '#FBA15C' }}&gt;贯穿八项的核心主题：数据最小化&lt;/Text&gt;&#10;          &lt;Text style={{ fontSize: 12, color: 'rgba(255,255,255,0.86)', marginTop: 8, lineHeight: 1.55 }}&gt;&#10;            采集限制对应「少采」、目的规范对应「按目的采」、使用限制对应「只用在这个目的上」，安全保障对应「采了要护住」。所以最小化不只是采集阶段的事，它在用途限定上要再落一次。&#10;          &lt;/Text&gt;&#10;        &lt;/Box&gt;&#10;        &lt;Box style={{ flex: 1, background: '#FFF3EE', borderRadius: 4, borderLeft: '4px solid #FA4F24', padding: '13px 17px', flexDirection: 'column', justifyContent: 'center' }}&gt;&#10;          &lt;Text style={{ fontSize: 14, fontWeight: 'bold', color: '#C43A17' }}&gt;AI 时代最容易被违反的两条&lt;/Text&gt;&#10;          &lt;Text style={{ fontSize: 12, color: '#3A4050', marginTop: 8, lineHeight: 1.55 }}&gt;&#10;            第 03 条目的规范：模型训练、微调、评测各算不算原目的？绝大多数企业没登记过。第 07 条个人参与：数据被用于生成结论后，如何响应「删除并重新训练」？目前几乎无人能答。这两条是下一阶段治理的主战场。&#10;          &lt;/Text&gt;&#10;        &lt;/Box&gt;&#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07 / 30&lt;/Text&gt;&#10;    &lt;/Box&gt;&#10;&lt;/Slide&gt;&#10;"/>
        <p:cNvGrpSpPr/>
        <p:nvPr/>
      </p:nvGrpSpPr>
      <p:grpSpPr>
        <a:xfrm>
          <a:off x="0" y="0"/>
          <a:ext cx="0" cy="0"/>
          <a:chOff x="0" y="0"/>
          <a:chExt cx="0" cy="0"/>
        </a:xfrm>
      </p:grpSpPr>
      <p:sp>
        <p:nvSpPr>
          <p:cNvPr id="1418" name=""/>
          <p:cNvSpPr/>
          <p:nvPr/>
        </p:nvSpPr>
        <p:spPr>
          <a:xfrm rot="0" flipH="0" flipV="0">
            <a:off x="0" y="0"/>
            <a:ext cx="12192000" cy="6858000"/>
          </a:xfrm>
          <a:prstGeom prst="rect">
            <a:avLst/>
          </a:prstGeom>
          <a:solidFill>
            <a:srgbClr val="FFFFFF"/>
          </a:solidFill>
          <a:ln/>
        </p:spPr>
        <p:txBody>
          <a:bodyPr/>
          <a:p/>
        </p:txBody>
      </p:sp>
      <p:sp>
        <p:nvSpPr>
          <p:cNvPr id="1419"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八项原则：</a:t>
            </a:r>
            <a:r>
              <a:rPr lang="en-US" sz="2400" b="1">
                <a:solidFill>
                  <a:srgbClr val="FA4F24"/>
                </a:solidFill>
                <a:latin typeface="Microsoft YaHei"/>
                <a:ea typeface="Microsoft YaHei"/>
              </a:rPr>
              <a:t xml:space="preserve">FIPPs </a:t>
            </a:r>
            <a:r>
              <a:rPr lang="zh-CN" sz="2400" b="1">
                <a:solidFill>
                  <a:srgbClr val="FA4F24"/>
                </a:solidFill>
                <a:latin typeface="Microsoft YaHei"/>
                <a:ea typeface="Microsoft YaHei"/>
              </a:rPr>
              <a:t>给治理的底线</a:t>
            </a:r>
            <a:endParaRPr/>
          </a:p>
        </p:txBody>
      </p:sp>
      <p:sp>
        <p:nvSpPr>
          <p:cNvPr id="1420"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基于</a:t>
            </a:r>
            <a:r>
              <a:rPr lang="en-US" sz="1500">
                <a:solidFill>
                  <a:srgbClr val="8A8F99"/>
                </a:solidFill>
                <a:latin typeface="Microsoft YaHei"/>
                <a:ea typeface="Microsoft YaHei"/>
              </a:rPr>
              <a:t xml:space="preserve"> OECD </a:t>
            </a:r>
            <a:r>
              <a:rPr lang="zh-CN" sz="1500">
                <a:solidFill>
                  <a:srgbClr val="8A8F99"/>
                </a:solidFill>
                <a:latin typeface="Microsoft YaHei"/>
                <a:ea typeface="Microsoft YaHei"/>
              </a:rPr>
              <a:t>隐私与跨境数据流指南，八条原则不是口号，每一条都对应一个可验证的设计要求</a:t>
            </a:r>
            <a:endParaRPr/>
          </a:p>
        </p:txBody>
      </p:sp>
      <p:sp>
        <p:nvSpPr>
          <p:cNvPr id="1421" name=""/>
          <p:cNvSpPr/>
          <p:nvPr/>
        </p:nvSpPr>
        <p:spPr>
          <a:xfrm rot="0" flipH="0" flipV="0">
            <a:off x="609600" y="1143000"/>
            <a:ext cx="10972800" cy="9525"/>
          </a:xfrm>
          <a:prstGeom prst="rect">
            <a:avLst/>
          </a:prstGeom>
          <a:solidFill>
            <a:srgbClr val="E8E8E8"/>
          </a:solidFill>
          <a:ln/>
        </p:spPr>
        <p:txBody>
          <a:bodyPr/>
          <a:p/>
        </p:txBody>
      </p:sp>
      <p:sp>
        <p:nvSpPr>
          <p:cNvPr id="1422" name=""/>
          <p:cNvSpPr/>
          <p:nvPr/>
        </p:nvSpPr>
        <p:spPr>
          <a:xfrm rot="0" flipH="0" flipV="0">
            <a:off x="638175" y="1285875"/>
            <a:ext cx="2686050" cy="1104900"/>
          </a:xfrm>
          <a:prstGeom prst="roundRect">
            <a:avLst>
              <a:gd name="adj" fmla="val 3448"/>
            </a:avLst>
          </a:prstGeom>
          <a:solidFill>
            <a:srgbClr val="F7F7F8"/>
          </a:solidFill>
          <a:ln/>
        </p:spPr>
        <p:txBody>
          <a:bodyPr/>
          <a:p/>
        </p:txBody>
      </p:sp>
      <p:sp>
        <p:nvSpPr>
          <p:cNvPr id="1423" name=""/>
          <p:cNvSpPr/>
          <p:nvPr/>
        </p:nvSpPr>
        <p:spPr>
          <a:xfrm rot="0" flipH="0" flipV="0">
            <a:off x="638175" y="1285875"/>
            <a:ext cx="2686050" cy="1104900"/>
          </a:xfrm>
          <a:custGeom>
            <a:pathLst>
              <a:path w="282" h="116">
                <a:moveTo>
                  <a:pt x="4" y="0"/>
                </a:moveTo>
                <a:cubicBezTo>
                  <a:pt x="3" y="0"/>
                  <a:pt x="3" y="0"/>
                  <a:pt x="3" y="1"/>
                </a:cubicBezTo>
                <a:lnTo>
                  <a:pt x="3" y="115"/>
                </a:lnTo>
                <a:cubicBezTo>
                  <a:pt x="3" y="115"/>
                  <a:pt x="3" y="116"/>
                  <a:pt x="4" y="116"/>
                </a:cubicBezTo>
                <a:cubicBezTo>
                  <a:pt x="2" y="116"/>
                  <a:pt x="0" y="114"/>
                  <a:pt x="0" y="112"/>
                </a:cubicBezTo>
                <a:lnTo>
                  <a:pt x="0" y="4"/>
                </a:lnTo>
                <a:cubicBezTo>
                  <a:pt x="0" y="2"/>
                  <a:pt x="2" y="0"/>
                  <a:pt x="4" y="0"/>
                </a:cubicBezTo>
                <a:close/>
              </a:path>
            </a:pathLst>
          </a:custGeom>
          <a:solidFill>
            <a:srgbClr val="FA4F24"/>
          </a:solidFill>
          <a:ln/>
        </p:spPr>
        <p:txBody>
          <a:bodyPr/>
          <a:p/>
        </p:txBody>
      </p:sp>
      <p:sp>
        <p:nvSpPr>
          <p:cNvPr id="1424" name="" descr="{&quot;isTemplate&quot;:true,&quot;type&quot;:&quot;text&quot;}"/>
          <p:cNvSpPr txBox="1"/>
          <p:nvPr/>
        </p:nvSpPr>
        <p:spPr>
          <a:xfrm rot="0" flipH="0" flipV="0">
            <a:off x="742950" y="1381125"/>
            <a:ext cx="161925" cy="152400"/>
          </a:xfrm>
          <a:prstGeom prst="rect"/>
        </p:spPr>
        <p:txBody>
          <a:bodyPr wrap="none" lIns="0" tIns="0" rIns="0" bIns="0"/>
          <a:p>
            <a:pPr>
              <a:lnSpc>
                <a:spcPct val="100000"/>
              </a:lnSpc>
            </a:pPr>
            <a:r>
              <a:rPr lang="en-US" sz="975" b="1">
                <a:solidFill>
                  <a:srgbClr val="FA4F24"/>
                </a:solidFill>
                <a:latin typeface="Microsoft YaHei"/>
                <a:ea typeface="Microsoft YaHei"/>
              </a:rPr>
              <a:t>01</a:t>
            </a:r>
            <a:endParaRPr/>
          </a:p>
        </p:txBody>
      </p:sp>
      <p:sp>
        <p:nvSpPr>
          <p:cNvPr id="1425" name="" descr="{&quot;isTemplate&quot;:true,&quot;type&quot;:&quot;text&quot;}"/>
          <p:cNvSpPr txBox="1"/>
          <p:nvPr/>
        </p:nvSpPr>
        <p:spPr>
          <a:xfrm rot="0" flipH="0" flipV="0">
            <a:off x="971550" y="1371600"/>
            <a:ext cx="514350" cy="161925"/>
          </a:xfrm>
          <a:prstGeom prst="rect"/>
        </p:spPr>
        <p:txBody>
          <a:bodyPr wrap="none" lIns="0" tIns="0" rIns="0" bIns="0"/>
          <a:p>
            <a:pPr>
              <a:lnSpc>
                <a:spcPct val="100000"/>
              </a:lnSpc>
            </a:pPr>
            <a:r>
              <a:rPr lang="zh-CN" sz="1013" b="1">
                <a:solidFill>
                  <a:srgbClr val="0F1423"/>
                </a:solidFill>
                <a:latin typeface="Microsoft YaHei"/>
                <a:ea typeface="Microsoft YaHei"/>
              </a:rPr>
              <a:t>采集限制</a:t>
            </a:r>
            <a:endParaRPr/>
          </a:p>
        </p:txBody>
      </p:sp>
      <p:sp>
        <p:nvSpPr>
          <p:cNvPr id="1426" name="" descr="{&quot;isTemplate&quot;:true,&quot;type&quot;:&quot;text&quot;}"/>
          <p:cNvSpPr txBox="1"/>
          <p:nvPr/>
        </p:nvSpPr>
        <p:spPr>
          <a:xfrm rot="0" flipH="0" flipV="0">
            <a:off x="742950" y="1590675"/>
            <a:ext cx="2447925" cy="371475"/>
          </a:xfrm>
          <a:prstGeom prst="rect"/>
        </p:spPr>
        <p:txBody>
          <a:bodyPr wrap="square" lIns="0" tIns="0" rIns="0" bIns="0">
            <a:normAutofit/>
          </a:bodyPr>
          <a:p>
            <a:pPr>
              <a:lnSpc>
                <a:spcPct val="145000"/>
              </a:lnSpc>
            </a:pPr>
            <a:r>
              <a:rPr lang="zh-CN" sz="825">
                <a:solidFill>
                  <a:srgbClr val="3A4050"/>
                </a:solidFill>
                <a:latin typeface="Microsoft YaHei"/>
                <a:ea typeface="Microsoft YaHei"/>
              </a:rPr>
              <a:t>个人数据的采集应有界限，且须以合法公平手段取得，必要时取得数据主体同意</a:t>
            </a:r>
            <a:endParaRPr/>
          </a:p>
        </p:txBody>
      </p:sp>
      <p:sp>
        <p:nvSpPr>
          <p:cNvPr id="1427" name=""/>
          <p:cNvSpPr/>
          <p:nvPr/>
        </p:nvSpPr>
        <p:spPr>
          <a:xfrm rot="0" flipH="0" flipV="0">
            <a:off x="742950" y="2028825"/>
            <a:ext cx="2447925" cy="276225"/>
          </a:xfrm>
          <a:prstGeom prst="roundRect">
            <a:avLst>
              <a:gd name="adj" fmla="val 10345"/>
            </a:avLst>
          </a:prstGeom>
          <a:solidFill>
            <a:srgbClr val="FFFFFF"/>
          </a:solidFill>
          <a:ln/>
        </p:spPr>
        <p:txBody>
          <a:bodyPr/>
          <a:p/>
        </p:txBody>
      </p:sp>
      <p:sp>
        <p:nvSpPr>
          <p:cNvPr id="1428" name="" descr="{&quot;isTemplate&quot;:true,&quot;type&quot;:&quot;text&quot;}"/>
          <p:cNvSpPr txBox="1"/>
          <p:nvPr/>
        </p:nvSpPr>
        <p:spPr>
          <a:xfrm rot="0" flipH="0" flipV="0">
            <a:off x="809625" y="2085975"/>
            <a:ext cx="2314575" cy="161925"/>
          </a:xfrm>
          <a:prstGeom prst="rect"/>
        </p:spPr>
        <p:txBody>
          <a:bodyPr wrap="none" lIns="0" tIns="0" rIns="0" bIns="0"/>
          <a:p>
            <a:pPr>
              <a:lnSpc>
                <a:spcPct val="135000"/>
              </a:lnSpc>
            </a:pPr>
            <a:r>
              <a:rPr lang="zh-CN" sz="750">
                <a:solidFill>
                  <a:srgbClr val="FA4F24"/>
                </a:solidFill>
                <a:latin typeface="Microsoft YaHei"/>
                <a:ea typeface="Microsoft YaHei"/>
              </a:rPr>
              <a:t>可验证：采集清单</a:t>
            </a:r>
            <a:r>
              <a:rPr lang="en-US" sz="750">
                <a:solidFill>
                  <a:srgbClr val="FA4F24"/>
                </a:solidFill>
                <a:latin typeface="Microsoft YaHei"/>
                <a:ea typeface="Microsoft YaHei"/>
              </a:rPr>
              <a:t xml:space="preserve"> + </a:t>
            </a:r>
            <a:r>
              <a:rPr lang="zh-CN" sz="750">
                <a:solidFill>
                  <a:srgbClr val="FA4F24"/>
                </a:solidFill>
                <a:latin typeface="Microsoft YaHei"/>
                <a:ea typeface="Microsoft YaHei"/>
              </a:rPr>
              <a:t>采集依据</a:t>
            </a:r>
            <a:endParaRPr/>
          </a:p>
        </p:txBody>
      </p:sp>
      <p:sp>
        <p:nvSpPr>
          <p:cNvPr id="1429" name=""/>
          <p:cNvSpPr/>
          <p:nvPr/>
        </p:nvSpPr>
        <p:spPr>
          <a:xfrm rot="0" flipH="0" flipV="0">
            <a:off x="3400425" y="1285875"/>
            <a:ext cx="2686050" cy="1104900"/>
          </a:xfrm>
          <a:prstGeom prst="roundRect">
            <a:avLst>
              <a:gd name="adj" fmla="val 3448"/>
            </a:avLst>
          </a:prstGeom>
          <a:solidFill>
            <a:srgbClr val="F7F7F8"/>
          </a:solidFill>
          <a:ln/>
        </p:spPr>
        <p:txBody>
          <a:bodyPr/>
          <a:p/>
        </p:txBody>
      </p:sp>
      <p:sp>
        <p:nvSpPr>
          <p:cNvPr id="1430" name=""/>
          <p:cNvSpPr/>
          <p:nvPr/>
        </p:nvSpPr>
        <p:spPr>
          <a:xfrm rot="0" flipH="0" flipV="0">
            <a:off x="3400425" y="1285875"/>
            <a:ext cx="2686050" cy="1104900"/>
          </a:xfrm>
          <a:custGeom>
            <a:pathLst>
              <a:path w="282" h="116">
                <a:moveTo>
                  <a:pt x="4" y="0"/>
                </a:moveTo>
                <a:cubicBezTo>
                  <a:pt x="3" y="0"/>
                  <a:pt x="3" y="0"/>
                  <a:pt x="3" y="1"/>
                </a:cubicBezTo>
                <a:lnTo>
                  <a:pt x="3" y="115"/>
                </a:lnTo>
                <a:cubicBezTo>
                  <a:pt x="3" y="115"/>
                  <a:pt x="3" y="116"/>
                  <a:pt x="4" y="116"/>
                </a:cubicBezTo>
                <a:cubicBezTo>
                  <a:pt x="2" y="116"/>
                  <a:pt x="0" y="114"/>
                  <a:pt x="0" y="112"/>
                </a:cubicBezTo>
                <a:lnTo>
                  <a:pt x="0" y="4"/>
                </a:lnTo>
                <a:cubicBezTo>
                  <a:pt x="0" y="2"/>
                  <a:pt x="2" y="0"/>
                  <a:pt x="4" y="0"/>
                </a:cubicBezTo>
                <a:close/>
              </a:path>
            </a:pathLst>
          </a:custGeom>
          <a:solidFill>
            <a:srgbClr val="FA4F24"/>
          </a:solidFill>
          <a:ln/>
        </p:spPr>
        <p:txBody>
          <a:bodyPr/>
          <a:p/>
        </p:txBody>
      </p:sp>
      <p:sp>
        <p:nvSpPr>
          <p:cNvPr id="1431" name="" descr="{&quot;isTemplate&quot;:true,&quot;type&quot;:&quot;text&quot;}"/>
          <p:cNvSpPr txBox="1"/>
          <p:nvPr/>
        </p:nvSpPr>
        <p:spPr>
          <a:xfrm rot="0" flipH="0" flipV="0">
            <a:off x="3505200" y="1381125"/>
            <a:ext cx="161925" cy="152400"/>
          </a:xfrm>
          <a:prstGeom prst="rect"/>
        </p:spPr>
        <p:txBody>
          <a:bodyPr wrap="none" lIns="0" tIns="0" rIns="0" bIns="0"/>
          <a:p>
            <a:pPr>
              <a:lnSpc>
                <a:spcPct val="100000"/>
              </a:lnSpc>
            </a:pPr>
            <a:r>
              <a:rPr lang="en-US" sz="975" b="1">
                <a:solidFill>
                  <a:srgbClr val="FA4F24"/>
                </a:solidFill>
                <a:latin typeface="Microsoft YaHei"/>
                <a:ea typeface="Microsoft YaHei"/>
              </a:rPr>
              <a:t>02</a:t>
            </a:r>
            <a:endParaRPr/>
          </a:p>
        </p:txBody>
      </p:sp>
      <p:sp>
        <p:nvSpPr>
          <p:cNvPr id="1432" name="" descr="{&quot;isTemplate&quot;:true,&quot;type&quot;:&quot;text&quot;}"/>
          <p:cNvSpPr txBox="1"/>
          <p:nvPr/>
        </p:nvSpPr>
        <p:spPr>
          <a:xfrm rot="0" flipH="0" flipV="0">
            <a:off x="3733800" y="1371600"/>
            <a:ext cx="514350" cy="161925"/>
          </a:xfrm>
          <a:prstGeom prst="rect"/>
        </p:spPr>
        <p:txBody>
          <a:bodyPr wrap="none" lIns="0" tIns="0" rIns="0" bIns="0"/>
          <a:p>
            <a:pPr>
              <a:lnSpc>
                <a:spcPct val="100000"/>
              </a:lnSpc>
            </a:pPr>
            <a:r>
              <a:rPr lang="zh-CN" sz="1013" b="1">
                <a:solidFill>
                  <a:srgbClr val="0F1423"/>
                </a:solidFill>
                <a:latin typeface="Microsoft YaHei"/>
                <a:ea typeface="Microsoft YaHei"/>
              </a:rPr>
              <a:t>数据质量</a:t>
            </a:r>
            <a:endParaRPr/>
          </a:p>
        </p:txBody>
      </p:sp>
      <p:sp>
        <p:nvSpPr>
          <p:cNvPr id="1433" name="" descr="{&quot;isTemplate&quot;:true,&quot;type&quot;:&quot;text&quot;}"/>
          <p:cNvSpPr txBox="1"/>
          <p:nvPr/>
        </p:nvSpPr>
        <p:spPr>
          <a:xfrm rot="0" flipH="0" flipV="0">
            <a:off x="3505200" y="1590675"/>
            <a:ext cx="2447925" cy="371475"/>
          </a:xfrm>
          <a:prstGeom prst="rect"/>
        </p:spPr>
        <p:txBody>
          <a:bodyPr wrap="square" lIns="0" tIns="0" rIns="0" bIns="0">
            <a:normAutofit/>
          </a:bodyPr>
          <a:p>
            <a:pPr>
              <a:lnSpc>
                <a:spcPct val="145000"/>
              </a:lnSpc>
            </a:pPr>
            <a:r>
              <a:rPr lang="zh-CN" sz="825">
                <a:solidFill>
                  <a:srgbClr val="3A4050"/>
                </a:solidFill>
                <a:latin typeface="Microsoft YaHei"/>
                <a:ea typeface="Microsoft YaHei"/>
              </a:rPr>
              <a:t>个人数据应与使用目的相关，并在必要范围内准确、完整、保持最新</a:t>
            </a:r>
            <a:endParaRPr/>
          </a:p>
        </p:txBody>
      </p:sp>
      <p:sp>
        <p:nvSpPr>
          <p:cNvPr id="1434" name=""/>
          <p:cNvSpPr/>
          <p:nvPr/>
        </p:nvSpPr>
        <p:spPr>
          <a:xfrm rot="0" flipH="0" flipV="0">
            <a:off x="3505200" y="2028825"/>
            <a:ext cx="2447925" cy="276225"/>
          </a:xfrm>
          <a:prstGeom prst="roundRect">
            <a:avLst>
              <a:gd name="adj" fmla="val 10345"/>
            </a:avLst>
          </a:prstGeom>
          <a:solidFill>
            <a:srgbClr val="FFFFFF"/>
          </a:solidFill>
          <a:ln/>
        </p:spPr>
        <p:txBody>
          <a:bodyPr/>
          <a:p/>
        </p:txBody>
      </p:sp>
      <p:sp>
        <p:nvSpPr>
          <p:cNvPr id="1435" name="" descr="{&quot;isTemplate&quot;:true,&quot;type&quot;:&quot;text&quot;}"/>
          <p:cNvSpPr txBox="1"/>
          <p:nvPr/>
        </p:nvSpPr>
        <p:spPr>
          <a:xfrm rot="0" flipH="0" flipV="0">
            <a:off x="3571875" y="2085975"/>
            <a:ext cx="2314575" cy="161925"/>
          </a:xfrm>
          <a:prstGeom prst="rect"/>
        </p:spPr>
        <p:txBody>
          <a:bodyPr wrap="none" lIns="0" tIns="0" rIns="0" bIns="0"/>
          <a:p>
            <a:pPr>
              <a:lnSpc>
                <a:spcPct val="135000"/>
              </a:lnSpc>
            </a:pPr>
            <a:r>
              <a:rPr lang="zh-CN" sz="750">
                <a:solidFill>
                  <a:srgbClr val="FA4F24"/>
                </a:solidFill>
                <a:latin typeface="Microsoft YaHei"/>
                <a:ea typeface="Microsoft YaHei"/>
              </a:rPr>
              <a:t>可验证：质量规则</a:t>
            </a:r>
            <a:r>
              <a:rPr lang="en-US" sz="750">
                <a:solidFill>
                  <a:srgbClr val="FA4F24"/>
                </a:solidFill>
                <a:latin typeface="Microsoft YaHei"/>
                <a:ea typeface="Microsoft YaHei"/>
              </a:rPr>
              <a:t xml:space="preserve"> + </a:t>
            </a:r>
            <a:r>
              <a:rPr lang="zh-CN" sz="750">
                <a:solidFill>
                  <a:srgbClr val="FA4F24"/>
                </a:solidFill>
                <a:latin typeface="Microsoft YaHei"/>
                <a:ea typeface="Microsoft YaHei"/>
              </a:rPr>
              <a:t>时效承诺</a:t>
            </a:r>
            <a:endParaRPr/>
          </a:p>
        </p:txBody>
      </p:sp>
      <p:sp>
        <p:nvSpPr>
          <p:cNvPr id="1436" name=""/>
          <p:cNvSpPr/>
          <p:nvPr/>
        </p:nvSpPr>
        <p:spPr>
          <a:xfrm rot="0" flipH="0" flipV="0">
            <a:off x="6162675" y="1285875"/>
            <a:ext cx="2686050" cy="1104900"/>
          </a:xfrm>
          <a:prstGeom prst="roundRect">
            <a:avLst>
              <a:gd name="adj" fmla="val 3448"/>
            </a:avLst>
          </a:prstGeom>
          <a:solidFill>
            <a:srgbClr val="F7F7F8"/>
          </a:solidFill>
          <a:ln/>
        </p:spPr>
        <p:txBody>
          <a:bodyPr/>
          <a:p/>
        </p:txBody>
      </p:sp>
      <p:sp>
        <p:nvSpPr>
          <p:cNvPr id="1437" name=""/>
          <p:cNvSpPr/>
          <p:nvPr/>
        </p:nvSpPr>
        <p:spPr>
          <a:xfrm rot="0" flipH="0" flipV="0">
            <a:off x="6162675" y="1285875"/>
            <a:ext cx="2686050" cy="1104900"/>
          </a:xfrm>
          <a:custGeom>
            <a:pathLst>
              <a:path w="282" h="116">
                <a:moveTo>
                  <a:pt x="4" y="0"/>
                </a:moveTo>
                <a:cubicBezTo>
                  <a:pt x="3" y="0"/>
                  <a:pt x="3" y="0"/>
                  <a:pt x="3" y="1"/>
                </a:cubicBezTo>
                <a:lnTo>
                  <a:pt x="3" y="115"/>
                </a:lnTo>
                <a:cubicBezTo>
                  <a:pt x="3" y="115"/>
                  <a:pt x="3" y="116"/>
                  <a:pt x="4" y="116"/>
                </a:cubicBezTo>
                <a:cubicBezTo>
                  <a:pt x="2" y="116"/>
                  <a:pt x="0" y="114"/>
                  <a:pt x="0" y="112"/>
                </a:cubicBezTo>
                <a:lnTo>
                  <a:pt x="0" y="4"/>
                </a:lnTo>
                <a:cubicBezTo>
                  <a:pt x="0" y="2"/>
                  <a:pt x="2" y="0"/>
                  <a:pt x="4" y="0"/>
                </a:cubicBezTo>
                <a:close/>
              </a:path>
            </a:pathLst>
          </a:custGeom>
          <a:solidFill>
            <a:srgbClr val="F87D2F"/>
          </a:solidFill>
          <a:ln/>
        </p:spPr>
        <p:txBody>
          <a:bodyPr/>
          <a:p/>
        </p:txBody>
      </p:sp>
      <p:sp>
        <p:nvSpPr>
          <p:cNvPr id="1438" name="" descr="{&quot;isTemplate&quot;:true,&quot;type&quot;:&quot;text&quot;}"/>
          <p:cNvSpPr txBox="1"/>
          <p:nvPr/>
        </p:nvSpPr>
        <p:spPr>
          <a:xfrm rot="0" flipH="0" flipV="0">
            <a:off x="6267450" y="1381125"/>
            <a:ext cx="161925" cy="152400"/>
          </a:xfrm>
          <a:prstGeom prst="rect"/>
        </p:spPr>
        <p:txBody>
          <a:bodyPr wrap="none" lIns="0" tIns="0" rIns="0" bIns="0"/>
          <a:p>
            <a:pPr>
              <a:lnSpc>
                <a:spcPct val="100000"/>
              </a:lnSpc>
            </a:pPr>
            <a:r>
              <a:rPr lang="en-US" sz="975" b="1">
                <a:solidFill>
                  <a:srgbClr val="F87D2F"/>
                </a:solidFill>
                <a:latin typeface="Microsoft YaHei"/>
                <a:ea typeface="Microsoft YaHei"/>
              </a:rPr>
              <a:t>03</a:t>
            </a:r>
            <a:endParaRPr/>
          </a:p>
        </p:txBody>
      </p:sp>
      <p:sp>
        <p:nvSpPr>
          <p:cNvPr id="1439" name="" descr="{&quot;isTemplate&quot;:true,&quot;type&quot;:&quot;text&quot;}"/>
          <p:cNvSpPr txBox="1"/>
          <p:nvPr/>
        </p:nvSpPr>
        <p:spPr>
          <a:xfrm rot="0" flipH="0" flipV="0">
            <a:off x="6496050" y="1371600"/>
            <a:ext cx="514350" cy="161925"/>
          </a:xfrm>
          <a:prstGeom prst="rect"/>
        </p:spPr>
        <p:txBody>
          <a:bodyPr wrap="none" lIns="0" tIns="0" rIns="0" bIns="0"/>
          <a:p>
            <a:pPr>
              <a:lnSpc>
                <a:spcPct val="100000"/>
              </a:lnSpc>
            </a:pPr>
            <a:r>
              <a:rPr lang="zh-CN" sz="1013" b="1">
                <a:solidFill>
                  <a:srgbClr val="0F1423"/>
                </a:solidFill>
                <a:latin typeface="Microsoft YaHei"/>
                <a:ea typeface="Microsoft YaHei"/>
              </a:rPr>
              <a:t>目的规范</a:t>
            </a:r>
            <a:endParaRPr/>
          </a:p>
        </p:txBody>
      </p:sp>
      <p:sp>
        <p:nvSpPr>
          <p:cNvPr id="1440" name="" descr="{&quot;isTemplate&quot;:true,&quot;type&quot;:&quot;text&quot;}"/>
          <p:cNvSpPr txBox="1"/>
          <p:nvPr/>
        </p:nvSpPr>
        <p:spPr>
          <a:xfrm rot="0" flipH="0" flipV="0">
            <a:off x="6267450" y="1590675"/>
            <a:ext cx="2447925" cy="371475"/>
          </a:xfrm>
          <a:prstGeom prst="rect"/>
        </p:spPr>
        <p:txBody>
          <a:bodyPr wrap="square" lIns="0" tIns="0" rIns="0" bIns="0">
            <a:normAutofit/>
          </a:bodyPr>
          <a:p>
            <a:pPr>
              <a:lnSpc>
                <a:spcPct val="145000"/>
              </a:lnSpc>
            </a:pPr>
            <a:r>
              <a:rPr lang="zh-CN" sz="825">
                <a:solidFill>
                  <a:srgbClr val="3A4050"/>
                </a:solidFill>
                <a:latin typeface="Microsoft YaHei"/>
                <a:ea typeface="Microsoft YaHei"/>
              </a:rPr>
              <a:t>收集目的最迟应在收集时即明确，后续使用限于该目的或相容目的</a:t>
            </a:r>
            <a:endParaRPr/>
          </a:p>
        </p:txBody>
      </p:sp>
      <p:sp>
        <p:nvSpPr>
          <p:cNvPr id="1441" name=""/>
          <p:cNvSpPr/>
          <p:nvPr/>
        </p:nvSpPr>
        <p:spPr>
          <a:xfrm rot="0" flipH="0" flipV="0">
            <a:off x="6267450" y="2028825"/>
            <a:ext cx="2447925" cy="276225"/>
          </a:xfrm>
          <a:prstGeom prst="roundRect">
            <a:avLst>
              <a:gd name="adj" fmla="val 10345"/>
            </a:avLst>
          </a:prstGeom>
          <a:solidFill>
            <a:srgbClr val="FFFFFF"/>
          </a:solidFill>
          <a:ln/>
        </p:spPr>
        <p:txBody>
          <a:bodyPr/>
          <a:p/>
        </p:txBody>
      </p:sp>
      <p:sp>
        <p:nvSpPr>
          <p:cNvPr id="1442" name="" descr="{&quot;isTemplate&quot;:true,&quot;type&quot;:&quot;text&quot;}"/>
          <p:cNvSpPr txBox="1"/>
          <p:nvPr/>
        </p:nvSpPr>
        <p:spPr>
          <a:xfrm rot="0" flipH="0" flipV="0">
            <a:off x="6334125" y="2085975"/>
            <a:ext cx="2314575" cy="161925"/>
          </a:xfrm>
          <a:prstGeom prst="rect"/>
        </p:spPr>
        <p:txBody>
          <a:bodyPr wrap="none" lIns="0" tIns="0" rIns="0" bIns="0"/>
          <a:p>
            <a:pPr>
              <a:lnSpc>
                <a:spcPct val="135000"/>
              </a:lnSpc>
            </a:pPr>
            <a:r>
              <a:rPr lang="zh-CN" sz="750">
                <a:solidFill>
                  <a:srgbClr val="F87D2F"/>
                </a:solidFill>
                <a:latin typeface="Microsoft YaHei"/>
                <a:ea typeface="Microsoft YaHei"/>
              </a:rPr>
              <a:t>可验证：目的登记</a:t>
            </a:r>
            <a:r>
              <a:rPr lang="en-US" sz="750">
                <a:solidFill>
                  <a:srgbClr val="F87D2F"/>
                </a:solidFill>
                <a:latin typeface="Microsoft YaHei"/>
                <a:ea typeface="Microsoft YaHei"/>
              </a:rPr>
              <a:t xml:space="preserve"> + </a:t>
            </a:r>
            <a:r>
              <a:rPr lang="zh-CN" sz="750">
                <a:solidFill>
                  <a:srgbClr val="F87D2F"/>
                </a:solidFill>
                <a:latin typeface="Microsoft YaHei"/>
                <a:ea typeface="Microsoft YaHei"/>
              </a:rPr>
              <a:t>变更记录</a:t>
            </a:r>
            <a:endParaRPr/>
          </a:p>
        </p:txBody>
      </p:sp>
      <p:sp>
        <p:nvSpPr>
          <p:cNvPr id="1443" name=""/>
          <p:cNvSpPr/>
          <p:nvPr/>
        </p:nvSpPr>
        <p:spPr>
          <a:xfrm rot="0" flipH="0" flipV="0">
            <a:off x="8924925" y="1285875"/>
            <a:ext cx="2686050" cy="1104900"/>
          </a:xfrm>
          <a:prstGeom prst="roundRect">
            <a:avLst>
              <a:gd name="adj" fmla="val 3448"/>
            </a:avLst>
          </a:prstGeom>
          <a:solidFill>
            <a:srgbClr val="F7F7F8"/>
          </a:solidFill>
          <a:ln/>
        </p:spPr>
        <p:txBody>
          <a:bodyPr/>
          <a:p/>
        </p:txBody>
      </p:sp>
      <p:sp>
        <p:nvSpPr>
          <p:cNvPr id="1444" name=""/>
          <p:cNvSpPr/>
          <p:nvPr/>
        </p:nvSpPr>
        <p:spPr>
          <a:xfrm rot="0" flipH="0" flipV="0">
            <a:off x="8924925" y="1285875"/>
            <a:ext cx="2686050" cy="1104900"/>
          </a:xfrm>
          <a:custGeom>
            <a:pathLst>
              <a:path w="282" h="116">
                <a:moveTo>
                  <a:pt x="4" y="0"/>
                </a:moveTo>
                <a:cubicBezTo>
                  <a:pt x="3" y="0"/>
                  <a:pt x="3" y="0"/>
                  <a:pt x="3" y="1"/>
                </a:cubicBezTo>
                <a:lnTo>
                  <a:pt x="3" y="115"/>
                </a:lnTo>
                <a:cubicBezTo>
                  <a:pt x="3" y="115"/>
                  <a:pt x="3" y="116"/>
                  <a:pt x="4" y="116"/>
                </a:cubicBezTo>
                <a:cubicBezTo>
                  <a:pt x="2" y="116"/>
                  <a:pt x="0" y="114"/>
                  <a:pt x="0" y="112"/>
                </a:cubicBezTo>
                <a:lnTo>
                  <a:pt x="0" y="4"/>
                </a:lnTo>
                <a:cubicBezTo>
                  <a:pt x="0" y="2"/>
                  <a:pt x="2" y="0"/>
                  <a:pt x="4" y="0"/>
                </a:cubicBezTo>
                <a:close/>
              </a:path>
            </a:pathLst>
          </a:custGeom>
          <a:solidFill>
            <a:srgbClr val="F87D2F"/>
          </a:solidFill>
          <a:ln/>
        </p:spPr>
        <p:txBody>
          <a:bodyPr/>
          <a:p/>
        </p:txBody>
      </p:sp>
      <p:sp>
        <p:nvSpPr>
          <p:cNvPr id="1445" name="" descr="{&quot;isTemplate&quot;:true,&quot;type&quot;:&quot;text&quot;}"/>
          <p:cNvSpPr txBox="1"/>
          <p:nvPr/>
        </p:nvSpPr>
        <p:spPr>
          <a:xfrm rot="0" flipH="0" flipV="0">
            <a:off x="9029700" y="1381125"/>
            <a:ext cx="161925" cy="152400"/>
          </a:xfrm>
          <a:prstGeom prst="rect"/>
        </p:spPr>
        <p:txBody>
          <a:bodyPr wrap="none" lIns="0" tIns="0" rIns="0" bIns="0"/>
          <a:p>
            <a:pPr>
              <a:lnSpc>
                <a:spcPct val="100000"/>
              </a:lnSpc>
            </a:pPr>
            <a:r>
              <a:rPr lang="en-US" sz="975" b="1">
                <a:solidFill>
                  <a:srgbClr val="F87D2F"/>
                </a:solidFill>
                <a:latin typeface="Microsoft YaHei"/>
                <a:ea typeface="Microsoft YaHei"/>
              </a:rPr>
              <a:t>04</a:t>
            </a:r>
            <a:endParaRPr/>
          </a:p>
        </p:txBody>
      </p:sp>
      <p:sp>
        <p:nvSpPr>
          <p:cNvPr id="1446" name="" descr="{&quot;isTemplate&quot;:true,&quot;type&quot;:&quot;text&quot;}"/>
          <p:cNvSpPr txBox="1"/>
          <p:nvPr/>
        </p:nvSpPr>
        <p:spPr>
          <a:xfrm rot="0" flipH="0" flipV="0">
            <a:off x="9258300" y="1371600"/>
            <a:ext cx="514350" cy="161925"/>
          </a:xfrm>
          <a:prstGeom prst="rect"/>
        </p:spPr>
        <p:txBody>
          <a:bodyPr wrap="none" lIns="0" tIns="0" rIns="0" bIns="0"/>
          <a:p>
            <a:pPr>
              <a:lnSpc>
                <a:spcPct val="100000"/>
              </a:lnSpc>
            </a:pPr>
            <a:r>
              <a:rPr lang="zh-CN" sz="1013" b="1">
                <a:solidFill>
                  <a:srgbClr val="0F1423"/>
                </a:solidFill>
                <a:latin typeface="Microsoft YaHei"/>
                <a:ea typeface="Microsoft YaHei"/>
              </a:rPr>
              <a:t>使用限制</a:t>
            </a:r>
            <a:endParaRPr/>
          </a:p>
        </p:txBody>
      </p:sp>
      <p:sp>
        <p:nvSpPr>
          <p:cNvPr id="1447" name="" descr="{&quot;isTemplate&quot;:true,&quot;type&quot;:&quot;text&quot;}"/>
          <p:cNvSpPr txBox="1"/>
          <p:nvPr/>
        </p:nvSpPr>
        <p:spPr>
          <a:xfrm rot="0" flipH="0" flipV="0">
            <a:off x="9029700" y="1590675"/>
            <a:ext cx="2447925" cy="371475"/>
          </a:xfrm>
          <a:prstGeom prst="rect"/>
        </p:spPr>
        <p:txBody>
          <a:bodyPr wrap="square" lIns="0" tIns="0" rIns="0" bIns="0">
            <a:normAutofit/>
          </a:bodyPr>
          <a:p>
            <a:pPr>
              <a:lnSpc>
                <a:spcPct val="145000"/>
              </a:lnSpc>
            </a:pPr>
            <a:r>
              <a:rPr lang="zh-CN" sz="825">
                <a:solidFill>
                  <a:srgbClr val="3A4050"/>
                </a:solidFill>
                <a:latin typeface="Microsoft YaHei"/>
                <a:ea typeface="Microsoft YaHei"/>
              </a:rPr>
              <a:t>不得用于指定目的之外的披露、提供或使用，除非主体同意或法律授权</a:t>
            </a:r>
            <a:endParaRPr/>
          </a:p>
        </p:txBody>
      </p:sp>
      <p:sp>
        <p:nvSpPr>
          <p:cNvPr id="1448" name=""/>
          <p:cNvSpPr/>
          <p:nvPr/>
        </p:nvSpPr>
        <p:spPr>
          <a:xfrm rot="0" flipH="0" flipV="0">
            <a:off x="9029700" y="2028825"/>
            <a:ext cx="2447925" cy="276225"/>
          </a:xfrm>
          <a:prstGeom prst="roundRect">
            <a:avLst>
              <a:gd name="adj" fmla="val 10345"/>
            </a:avLst>
          </a:prstGeom>
          <a:solidFill>
            <a:srgbClr val="FFFFFF"/>
          </a:solidFill>
          <a:ln/>
        </p:spPr>
        <p:txBody>
          <a:bodyPr/>
          <a:p/>
        </p:txBody>
      </p:sp>
      <p:sp>
        <p:nvSpPr>
          <p:cNvPr id="1449" name="" descr="{&quot;isTemplate&quot;:true,&quot;type&quot;:&quot;text&quot;}"/>
          <p:cNvSpPr txBox="1"/>
          <p:nvPr/>
        </p:nvSpPr>
        <p:spPr>
          <a:xfrm rot="0" flipH="0" flipV="0">
            <a:off x="9096375" y="2085975"/>
            <a:ext cx="2314575" cy="161925"/>
          </a:xfrm>
          <a:prstGeom prst="rect"/>
        </p:spPr>
        <p:txBody>
          <a:bodyPr wrap="none" lIns="0" tIns="0" rIns="0" bIns="0"/>
          <a:p>
            <a:pPr>
              <a:lnSpc>
                <a:spcPct val="135000"/>
              </a:lnSpc>
            </a:pPr>
            <a:r>
              <a:rPr lang="zh-CN" sz="750">
                <a:solidFill>
                  <a:srgbClr val="F87D2F"/>
                </a:solidFill>
                <a:latin typeface="Microsoft YaHei"/>
                <a:ea typeface="Microsoft YaHei"/>
              </a:rPr>
              <a:t>可验证：用途检查点（</a:t>
            </a:r>
            <a:r>
              <a:rPr lang="en-US" sz="750">
                <a:solidFill>
                  <a:srgbClr val="F87D2F"/>
                </a:solidFill>
                <a:latin typeface="Microsoft YaHei"/>
                <a:ea typeface="Microsoft YaHei"/>
              </a:rPr>
              <a:t>Checkpoint</a:t>
            </a:r>
            <a:r>
              <a:rPr lang="zh-CN" sz="750">
                <a:solidFill>
                  <a:srgbClr val="F87D2F"/>
                </a:solidFill>
                <a:latin typeface="Microsoft YaHei"/>
                <a:ea typeface="Microsoft YaHei"/>
              </a:rPr>
              <a:t>）</a:t>
            </a:r>
            <a:endParaRPr/>
          </a:p>
        </p:txBody>
      </p:sp>
      <p:sp>
        <p:nvSpPr>
          <p:cNvPr id="1450" name=""/>
          <p:cNvSpPr/>
          <p:nvPr/>
        </p:nvSpPr>
        <p:spPr>
          <a:xfrm rot="0" flipH="0" flipV="0">
            <a:off x="638175" y="2466975"/>
            <a:ext cx="2686050" cy="1104900"/>
          </a:xfrm>
          <a:prstGeom prst="roundRect">
            <a:avLst>
              <a:gd name="adj" fmla="val 3448"/>
            </a:avLst>
          </a:prstGeom>
          <a:solidFill>
            <a:srgbClr val="F7F7F8"/>
          </a:solidFill>
          <a:ln/>
        </p:spPr>
        <p:txBody>
          <a:bodyPr/>
          <a:p/>
        </p:txBody>
      </p:sp>
      <p:sp>
        <p:nvSpPr>
          <p:cNvPr id="1451" name=""/>
          <p:cNvSpPr/>
          <p:nvPr/>
        </p:nvSpPr>
        <p:spPr>
          <a:xfrm rot="0" flipH="0" flipV="0">
            <a:off x="638175" y="2466975"/>
            <a:ext cx="2686050" cy="1104900"/>
          </a:xfrm>
          <a:custGeom>
            <a:pathLst>
              <a:path w="282" h="116">
                <a:moveTo>
                  <a:pt x="4" y="0"/>
                </a:moveTo>
                <a:cubicBezTo>
                  <a:pt x="3" y="0"/>
                  <a:pt x="3" y="0"/>
                  <a:pt x="3" y="1"/>
                </a:cubicBezTo>
                <a:lnTo>
                  <a:pt x="3" y="115"/>
                </a:lnTo>
                <a:cubicBezTo>
                  <a:pt x="3" y="115"/>
                  <a:pt x="3" y="116"/>
                  <a:pt x="4" y="116"/>
                </a:cubicBezTo>
                <a:cubicBezTo>
                  <a:pt x="2" y="116"/>
                  <a:pt x="0" y="114"/>
                  <a:pt x="0" y="112"/>
                </a:cubicBezTo>
                <a:lnTo>
                  <a:pt x="0" y="4"/>
                </a:lnTo>
                <a:cubicBezTo>
                  <a:pt x="0" y="2"/>
                  <a:pt x="2" y="0"/>
                  <a:pt x="4" y="0"/>
                </a:cubicBezTo>
                <a:close/>
              </a:path>
            </a:pathLst>
          </a:custGeom>
          <a:solidFill>
            <a:srgbClr val="E0651A"/>
          </a:solidFill>
          <a:ln/>
        </p:spPr>
        <p:txBody>
          <a:bodyPr/>
          <a:p/>
        </p:txBody>
      </p:sp>
      <p:sp>
        <p:nvSpPr>
          <p:cNvPr id="1452" name="" descr="{&quot;isTemplate&quot;:true,&quot;type&quot;:&quot;text&quot;}"/>
          <p:cNvSpPr txBox="1"/>
          <p:nvPr/>
        </p:nvSpPr>
        <p:spPr>
          <a:xfrm rot="0" flipH="0" flipV="0">
            <a:off x="742950" y="2562225"/>
            <a:ext cx="161925" cy="152400"/>
          </a:xfrm>
          <a:prstGeom prst="rect"/>
        </p:spPr>
        <p:txBody>
          <a:bodyPr wrap="none" lIns="0" tIns="0" rIns="0" bIns="0"/>
          <a:p>
            <a:pPr>
              <a:lnSpc>
                <a:spcPct val="100000"/>
              </a:lnSpc>
            </a:pPr>
            <a:r>
              <a:rPr lang="en-US" sz="975" b="1">
                <a:solidFill>
                  <a:srgbClr val="E0651A"/>
                </a:solidFill>
                <a:latin typeface="Microsoft YaHei"/>
                <a:ea typeface="Microsoft YaHei"/>
              </a:rPr>
              <a:t>05</a:t>
            </a:r>
            <a:endParaRPr/>
          </a:p>
        </p:txBody>
      </p:sp>
      <p:sp>
        <p:nvSpPr>
          <p:cNvPr id="1453" name="" descr="{&quot;isTemplate&quot;:true,&quot;type&quot;:&quot;text&quot;}"/>
          <p:cNvSpPr txBox="1"/>
          <p:nvPr/>
        </p:nvSpPr>
        <p:spPr>
          <a:xfrm rot="0" flipH="0" flipV="0">
            <a:off x="971550" y="2552700"/>
            <a:ext cx="514350" cy="161925"/>
          </a:xfrm>
          <a:prstGeom prst="rect"/>
        </p:spPr>
        <p:txBody>
          <a:bodyPr wrap="none" lIns="0" tIns="0" rIns="0" bIns="0"/>
          <a:p>
            <a:pPr>
              <a:lnSpc>
                <a:spcPct val="100000"/>
              </a:lnSpc>
            </a:pPr>
            <a:r>
              <a:rPr lang="zh-CN" sz="1013" b="1">
                <a:solidFill>
                  <a:srgbClr val="0F1423"/>
                </a:solidFill>
                <a:latin typeface="Microsoft YaHei"/>
                <a:ea typeface="Microsoft YaHei"/>
              </a:rPr>
              <a:t>安全保障</a:t>
            </a:r>
            <a:endParaRPr/>
          </a:p>
        </p:txBody>
      </p:sp>
      <p:sp>
        <p:nvSpPr>
          <p:cNvPr id="1454" name="" descr="{&quot;isTemplate&quot;:true,&quot;type&quot;:&quot;text&quot;}"/>
          <p:cNvSpPr txBox="1"/>
          <p:nvPr/>
        </p:nvSpPr>
        <p:spPr>
          <a:xfrm rot="0" flipH="0" flipV="0">
            <a:off x="742950" y="2771775"/>
            <a:ext cx="2447925" cy="371475"/>
          </a:xfrm>
          <a:prstGeom prst="rect"/>
        </p:spPr>
        <p:txBody>
          <a:bodyPr wrap="square" lIns="0" tIns="0" rIns="0" bIns="0">
            <a:normAutofit/>
          </a:bodyPr>
          <a:p>
            <a:pPr>
              <a:lnSpc>
                <a:spcPct val="145000"/>
              </a:lnSpc>
            </a:pPr>
            <a:r>
              <a:rPr lang="zh-CN" sz="825">
                <a:solidFill>
                  <a:srgbClr val="3A4050"/>
                </a:solidFill>
                <a:latin typeface="Microsoft YaHei"/>
                <a:ea typeface="Microsoft YaHei"/>
              </a:rPr>
              <a:t>以合理的安全防护应对丢失、未授权访问、破坏、使用、修改或披露风险</a:t>
            </a:r>
            <a:endParaRPr/>
          </a:p>
        </p:txBody>
      </p:sp>
      <p:sp>
        <p:nvSpPr>
          <p:cNvPr id="1455" name=""/>
          <p:cNvSpPr/>
          <p:nvPr/>
        </p:nvSpPr>
        <p:spPr>
          <a:xfrm rot="0" flipH="0" flipV="0">
            <a:off x="742950" y="3209925"/>
            <a:ext cx="2447925" cy="276225"/>
          </a:xfrm>
          <a:prstGeom prst="roundRect">
            <a:avLst>
              <a:gd name="adj" fmla="val 10345"/>
            </a:avLst>
          </a:prstGeom>
          <a:solidFill>
            <a:srgbClr val="FFFFFF"/>
          </a:solidFill>
          <a:ln/>
        </p:spPr>
        <p:txBody>
          <a:bodyPr/>
          <a:p/>
        </p:txBody>
      </p:sp>
      <p:sp>
        <p:nvSpPr>
          <p:cNvPr id="1456" name="" descr="{&quot;isTemplate&quot;:true,&quot;type&quot;:&quot;text&quot;}"/>
          <p:cNvSpPr txBox="1"/>
          <p:nvPr/>
        </p:nvSpPr>
        <p:spPr>
          <a:xfrm rot="0" flipH="0" flipV="0">
            <a:off x="809625" y="3267075"/>
            <a:ext cx="2314575" cy="161925"/>
          </a:xfrm>
          <a:prstGeom prst="rect"/>
        </p:spPr>
        <p:txBody>
          <a:bodyPr wrap="none" lIns="0" tIns="0" rIns="0" bIns="0"/>
          <a:p>
            <a:pPr>
              <a:lnSpc>
                <a:spcPct val="135000"/>
              </a:lnSpc>
            </a:pPr>
            <a:r>
              <a:rPr lang="zh-CN" sz="750">
                <a:solidFill>
                  <a:srgbClr val="E0651A"/>
                </a:solidFill>
                <a:latin typeface="Microsoft YaHei"/>
                <a:ea typeface="Microsoft YaHei"/>
              </a:rPr>
              <a:t>可验证：密级</a:t>
            </a:r>
            <a:r>
              <a:rPr lang="en-US" sz="750">
                <a:solidFill>
                  <a:srgbClr val="E0651A"/>
                </a:solidFill>
                <a:latin typeface="Microsoft YaHei"/>
                <a:ea typeface="Microsoft YaHei"/>
              </a:rPr>
              <a:t xml:space="preserve"> + </a:t>
            </a:r>
            <a:r>
              <a:rPr lang="zh-CN" sz="750">
                <a:solidFill>
                  <a:srgbClr val="E0651A"/>
                </a:solidFill>
                <a:latin typeface="Microsoft YaHei"/>
                <a:ea typeface="Microsoft YaHei"/>
              </a:rPr>
              <a:t>加密</a:t>
            </a:r>
            <a:r>
              <a:rPr lang="en-US" sz="750">
                <a:solidFill>
                  <a:srgbClr val="E0651A"/>
                </a:solidFill>
                <a:latin typeface="Microsoft YaHei"/>
                <a:ea typeface="Microsoft YaHei"/>
              </a:rPr>
              <a:t xml:space="preserve"> + </a:t>
            </a:r>
            <a:r>
              <a:rPr lang="zh-CN" sz="750">
                <a:solidFill>
                  <a:srgbClr val="E0651A"/>
                </a:solidFill>
                <a:latin typeface="Microsoft YaHei"/>
                <a:ea typeface="Microsoft YaHei"/>
              </a:rPr>
              <a:t>出口策略</a:t>
            </a:r>
            <a:endParaRPr/>
          </a:p>
        </p:txBody>
      </p:sp>
      <p:sp>
        <p:nvSpPr>
          <p:cNvPr id="1457" name=""/>
          <p:cNvSpPr/>
          <p:nvPr/>
        </p:nvSpPr>
        <p:spPr>
          <a:xfrm rot="0" flipH="0" flipV="0">
            <a:off x="3400425" y="2466975"/>
            <a:ext cx="2686050" cy="1104900"/>
          </a:xfrm>
          <a:prstGeom prst="roundRect">
            <a:avLst>
              <a:gd name="adj" fmla="val 3448"/>
            </a:avLst>
          </a:prstGeom>
          <a:solidFill>
            <a:srgbClr val="F7F7F8"/>
          </a:solidFill>
          <a:ln/>
        </p:spPr>
        <p:txBody>
          <a:bodyPr/>
          <a:p/>
        </p:txBody>
      </p:sp>
      <p:sp>
        <p:nvSpPr>
          <p:cNvPr id="1458" name=""/>
          <p:cNvSpPr/>
          <p:nvPr/>
        </p:nvSpPr>
        <p:spPr>
          <a:xfrm rot="0" flipH="0" flipV="0">
            <a:off x="3400425" y="2466975"/>
            <a:ext cx="2686050" cy="1104900"/>
          </a:xfrm>
          <a:custGeom>
            <a:pathLst>
              <a:path w="282" h="116">
                <a:moveTo>
                  <a:pt x="4" y="0"/>
                </a:moveTo>
                <a:cubicBezTo>
                  <a:pt x="3" y="0"/>
                  <a:pt x="3" y="0"/>
                  <a:pt x="3" y="1"/>
                </a:cubicBezTo>
                <a:lnTo>
                  <a:pt x="3" y="115"/>
                </a:lnTo>
                <a:cubicBezTo>
                  <a:pt x="3" y="115"/>
                  <a:pt x="3" y="116"/>
                  <a:pt x="4" y="116"/>
                </a:cubicBezTo>
                <a:cubicBezTo>
                  <a:pt x="2" y="116"/>
                  <a:pt x="0" y="114"/>
                  <a:pt x="0" y="112"/>
                </a:cubicBezTo>
                <a:lnTo>
                  <a:pt x="0" y="4"/>
                </a:lnTo>
                <a:cubicBezTo>
                  <a:pt x="0" y="2"/>
                  <a:pt x="2" y="0"/>
                  <a:pt x="4" y="0"/>
                </a:cubicBezTo>
                <a:close/>
              </a:path>
            </a:pathLst>
          </a:custGeom>
          <a:solidFill>
            <a:srgbClr val="E0651A"/>
          </a:solidFill>
          <a:ln/>
        </p:spPr>
        <p:txBody>
          <a:bodyPr/>
          <a:p/>
        </p:txBody>
      </p:sp>
      <p:sp>
        <p:nvSpPr>
          <p:cNvPr id="1459" name="" descr="{&quot;isTemplate&quot;:true,&quot;type&quot;:&quot;text&quot;}"/>
          <p:cNvSpPr txBox="1"/>
          <p:nvPr/>
        </p:nvSpPr>
        <p:spPr>
          <a:xfrm rot="0" flipH="0" flipV="0">
            <a:off x="3505200" y="2562225"/>
            <a:ext cx="161925" cy="152400"/>
          </a:xfrm>
          <a:prstGeom prst="rect"/>
        </p:spPr>
        <p:txBody>
          <a:bodyPr wrap="none" lIns="0" tIns="0" rIns="0" bIns="0"/>
          <a:p>
            <a:pPr>
              <a:lnSpc>
                <a:spcPct val="100000"/>
              </a:lnSpc>
            </a:pPr>
            <a:r>
              <a:rPr lang="en-US" sz="975" b="1">
                <a:solidFill>
                  <a:srgbClr val="E0651A"/>
                </a:solidFill>
                <a:latin typeface="Microsoft YaHei"/>
                <a:ea typeface="Microsoft YaHei"/>
              </a:rPr>
              <a:t>06</a:t>
            </a:r>
            <a:endParaRPr/>
          </a:p>
        </p:txBody>
      </p:sp>
      <p:sp>
        <p:nvSpPr>
          <p:cNvPr id="1460" name="" descr="{&quot;isTemplate&quot;:true,&quot;type&quot;:&quot;text&quot;}"/>
          <p:cNvSpPr txBox="1"/>
          <p:nvPr/>
        </p:nvSpPr>
        <p:spPr>
          <a:xfrm rot="0" flipH="0" flipV="0">
            <a:off x="3733800" y="2552700"/>
            <a:ext cx="390525" cy="161925"/>
          </a:xfrm>
          <a:prstGeom prst="rect"/>
        </p:spPr>
        <p:txBody>
          <a:bodyPr wrap="none" lIns="0" tIns="0" rIns="0" bIns="0"/>
          <a:p>
            <a:pPr>
              <a:lnSpc>
                <a:spcPct val="100000"/>
              </a:lnSpc>
            </a:pPr>
            <a:r>
              <a:rPr lang="zh-CN" sz="1013" b="1">
                <a:solidFill>
                  <a:srgbClr val="0F1423"/>
                </a:solidFill>
                <a:latin typeface="Microsoft YaHei"/>
                <a:ea typeface="Microsoft YaHei"/>
              </a:rPr>
              <a:t>公开性</a:t>
            </a:r>
            <a:endParaRPr/>
          </a:p>
        </p:txBody>
      </p:sp>
      <p:sp>
        <p:nvSpPr>
          <p:cNvPr id="1461" name="" descr="{&quot;isTemplate&quot;:true,&quot;type&quot;:&quot;text&quot;}"/>
          <p:cNvSpPr txBox="1"/>
          <p:nvPr/>
        </p:nvSpPr>
        <p:spPr>
          <a:xfrm rot="0" flipH="0" flipV="0">
            <a:off x="3505200" y="2771775"/>
            <a:ext cx="2447925" cy="371475"/>
          </a:xfrm>
          <a:prstGeom prst="rect"/>
        </p:spPr>
        <p:txBody>
          <a:bodyPr wrap="square" lIns="0" tIns="0" rIns="0" bIns="0">
            <a:normAutofit/>
          </a:bodyPr>
          <a:p>
            <a:pPr>
              <a:lnSpc>
                <a:spcPct val="145000"/>
              </a:lnSpc>
            </a:pPr>
            <a:r>
              <a:rPr lang="zh-CN" sz="825">
                <a:solidFill>
                  <a:srgbClr val="3A4050"/>
                </a:solidFill>
                <a:latin typeface="Microsoft YaHei"/>
                <a:ea typeface="Microsoft YaHei"/>
              </a:rPr>
              <a:t>应有公开透明的政策，说明数据的存在性质、主要用途与责任主体身份和联系方式</a:t>
            </a:r>
            <a:endParaRPr/>
          </a:p>
        </p:txBody>
      </p:sp>
      <p:sp>
        <p:nvSpPr>
          <p:cNvPr id="1462" name=""/>
          <p:cNvSpPr/>
          <p:nvPr/>
        </p:nvSpPr>
        <p:spPr>
          <a:xfrm rot="0" flipH="0" flipV="0">
            <a:off x="3505200" y="3209925"/>
            <a:ext cx="2447925" cy="276225"/>
          </a:xfrm>
          <a:prstGeom prst="roundRect">
            <a:avLst>
              <a:gd name="adj" fmla="val 10345"/>
            </a:avLst>
          </a:prstGeom>
          <a:solidFill>
            <a:srgbClr val="FFFFFF"/>
          </a:solidFill>
          <a:ln/>
        </p:spPr>
        <p:txBody>
          <a:bodyPr/>
          <a:p/>
        </p:txBody>
      </p:sp>
      <p:sp>
        <p:nvSpPr>
          <p:cNvPr id="1463" name="" descr="{&quot;isTemplate&quot;:true,&quot;type&quot;:&quot;text&quot;}"/>
          <p:cNvSpPr txBox="1"/>
          <p:nvPr/>
        </p:nvSpPr>
        <p:spPr>
          <a:xfrm rot="0" flipH="0" flipV="0">
            <a:off x="3571875" y="3267075"/>
            <a:ext cx="2314575" cy="161925"/>
          </a:xfrm>
          <a:prstGeom prst="rect"/>
        </p:spPr>
        <p:txBody>
          <a:bodyPr wrap="none" lIns="0" tIns="0" rIns="0" bIns="0"/>
          <a:p>
            <a:pPr>
              <a:lnSpc>
                <a:spcPct val="135000"/>
              </a:lnSpc>
            </a:pPr>
            <a:r>
              <a:rPr lang="zh-CN" sz="750">
                <a:solidFill>
                  <a:srgbClr val="E0651A"/>
                </a:solidFill>
                <a:latin typeface="Microsoft YaHei"/>
                <a:ea typeface="Microsoft YaHei"/>
              </a:rPr>
              <a:t>可验证：数据地图</a:t>
            </a:r>
            <a:r>
              <a:rPr lang="en-US" sz="750">
                <a:solidFill>
                  <a:srgbClr val="E0651A"/>
                </a:solidFill>
                <a:latin typeface="Microsoft YaHei"/>
                <a:ea typeface="Microsoft YaHei"/>
              </a:rPr>
              <a:t xml:space="preserve"> + </a:t>
            </a:r>
            <a:r>
              <a:rPr lang="zh-CN" sz="750">
                <a:solidFill>
                  <a:srgbClr val="E0651A"/>
                </a:solidFill>
                <a:latin typeface="Microsoft YaHei"/>
                <a:ea typeface="Microsoft YaHei"/>
              </a:rPr>
              <a:t>责任人公示</a:t>
            </a:r>
            <a:endParaRPr/>
          </a:p>
        </p:txBody>
      </p:sp>
      <p:sp>
        <p:nvSpPr>
          <p:cNvPr id="1464" name=""/>
          <p:cNvSpPr/>
          <p:nvPr/>
        </p:nvSpPr>
        <p:spPr>
          <a:xfrm rot="0" flipH="0" flipV="0">
            <a:off x="6162675" y="2466975"/>
            <a:ext cx="2686050" cy="1104900"/>
          </a:xfrm>
          <a:prstGeom prst="roundRect">
            <a:avLst>
              <a:gd name="adj" fmla="val 3448"/>
            </a:avLst>
          </a:prstGeom>
          <a:solidFill>
            <a:srgbClr val="F7F7F8"/>
          </a:solidFill>
          <a:ln/>
        </p:spPr>
        <p:txBody>
          <a:bodyPr/>
          <a:p/>
        </p:txBody>
      </p:sp>
      <p:sp>
        <p:nvSpPr>
          <p:cNvPr id="1465" name=""/>
          <p:cNvSpPr/>
          <p:nvPr/>
        </p:nvSpPr>
        <p:spPr>
          <a:xfrm rot="0" flipH="0" flipV="0">
            <a:off x="6162675" y="2466975"/>
            <a:ext cx="2686050" cy="1104900"/>
          </a:xfrm>
          <a:custGeom>
            <a:pathLst>
              <a:path w="282" h="116">
                <a:moveTo>
                  <a:pt x="4" y="0"/>
                </a:moveTo>
                <a:cubicBezTo>
                  <a:pt x="3" y="0"/>
                  <a:pt x="3" y="0"/>
                  <a:pt x="3" y="1"/>
                </a:cubicBezTo>
                <a:lnTo>
                  <a:pt x="3" y="115"/>
                </a:lnTo>
                <a:cubicBezTo>
                  <a:pt x="3" y="115"/>
                  <a:pt x="3" y="116"/>
                  <a:pt x="4" y="116"/>
                </a:cubicBezTo>
                <a:cubicBezTo>
                  <a:pt x="2" y="116"/>
                  <a:pt x="0" y="114"/>
                  <a:pt x="0" y="112"/>
                </a:cubicBezTo>
                <a:lnTo>
                  <a:pt x="0" y="4"/>
                </a:lnTo>
                <a:cubicBezTo>
                  <a:pt x="0" y="2"/>
                  <a:pt x="2" y="0"/>
                  <a:pt x="4" y="0"/>
                </a:cubicBezTo>
                <a:close/>
              </a:path>
            </a:pathLst>
          </a:custGeom>
          <a:solidFill>
            <a:srgbClr val="C43A17"/>
          </a:solidFill>
          <a:ln/>
        </p:spPr>
        <p:txBody>
          <a:bodyPr/>
          <a:p/>
        </p:txBody>
      </p:sp>
      <p:sp>
        <p:nvSpPr>
          <p:cNvPr id="1466" name="" descr="{&quot;isTemplate&quot;:true,&quot;type&quot;:&quot;text&quot;}"/>
          <p:cNvSpPr txBox="1"/>
          <p:nvPr/>
        </p:nvSpPr>
        <p:spPr>
          <a:xfrm rot="0" flipH="0" flipV="0">
            <a:off x="6267450" y="2562225"/>
            <a:ext cx="161925" cy="152400"/>
          </a:xfrm>
          <a:prstGeom prst="rect"/>
        </p:spPr>
        <p:txBody>
          <a:bodyPr wrap="none" lIns="0" tIns="0" rIns="0" bIns="0"/>
          <a:p>
            <a:pPr>
              <a:lnSpc>
                <a:spcPct val="100000"/>
              </a:lnSpc>
            </a:pPr>
            <a:r>
              <a:rPr lang="en-US" sz="975" b="1">
                <a:solidFill>
                  <a:srgbClr val="C43A17"/>
                </a:solidFill>
                <a:latin typeface="Microsoft YaHei"/>
                <a:ea typeface="Microsoft YaHei"/>
              </a:rPr>
              <a:t>07</a:t>
            </a:r>
            <a:endParaRPr/>
          </a:p>
        </p:txBody>
      </p:sp>
      <p:sp>
        <p:nvSpPr>
          <p:cNvPr id="1467" name="" descr="{&quot;isTemplate&quot;:true,&quot;type&quot;:&quot;text&quot;}"/>
          <p:cNvSpPr txBox="1"/>
          <p:nvPr/>
        </p:nvSpPr>
        <p:spPr>
          <a:xfrm rot="0" flipH="0" flipV="0">
            <a:off x="6496050" y="2552700"/>
            <a:ext cx="514350" cy="161925"/>
          </a:xfrm>
          <a:prstGeom prst="rect"/>
        </p:spPr>
        <p:txBody>
          <a:bodyPr wrap="none" lIns="0" tIns="0" rIns="0" bIns="0"/>
          <a:p>
            <a:pPr>
              <a:lnSpc>
                <a:spcPct val="100000"/>
              </a:lnSpc>
            </a:pPr>
            <a:r>
              <a:rPr lang="zh-CN" sz="1013" b="1">
                <a:solidFill>
                  <a:srgbClr val="0F1423"/>
                </a:solidFill>
                <a:latin typeface="Microsoft YaHei"/>
                <a:ea typeface="Microsoft YaHei"/>
              </a:rPr>
              <a:t>个人参与</a:t>
            </a:r>
            <a:endParaRPr/>
          </a:p>
        </p:txBody>
      </p:sp>
      <p:sp>
        <p:nvSpPr>
          <p:cNvPr id="1468" name="" descr="{&quot;isTemplate&quot;:true,&quot;type&quot;:&quot;text&quot;}"/>
          <p:cNvSpPr txBox="1"/>
          <p:nvPr/>
        </p:nvSpPr>
        <p:spPr>
          <a:xfrm rot="0" flipH="0" flipV="0">
            <a:off x="6267450" y="2771775"/>
            <a:ext cx="2447925" cy="371475"/>
          </a:xfrm>
          <a:prstGeom prst="rect"/>
        </p:spPr>
        <p:txBody>
          <a:bodyPr wrap="square" lIns="0" tIns="0" rIns="0" bIns="0">
            <a:normAutofit/>
          </a:bodyPr>
          <a:p>
            <a:pPr>
              <a:lnSpc>
                <a:spcPct val="145000"/>
              </a:lnSpc>
            </a:pPr>
            <a:r>
              <a:rPr lang="zh-CN" sz="825">
                <a:solidFill>
                  <a:srgbClr val="3A4050"/>
                </a:solidFill>
                <a:latin typeface="Microsoft YaHei"/>
                <a:ea typeface="Microsoft YaHei"/>
              </a:rPr>
              <a:t>个人有权知悉、获取、更正、补充、删除，并有权对拒绝提出质疑</a:t>
            </a:r>
            <a:endParaRPr/>
          </a:p>
        </p:txBody>
      </p:sp>
      <p:sp>
        <p:nvSpPr>
          <p:cNvPr id="1469" name=""/>
          <p:cNvSpPr/>
          <p:nvPr/>
        </p:nvSpPr>
        <p:spPr>
          <a:xfrm rot="0" flipH="0" flipV="0">
            <a:off x="6267450" y="3209925"/>
            <a:ext cx="2447925" cy="276225"/>
          </a:xfrm>
          <a:prstGeom prst="roundRect">
            <a:avLst>
              <a:gd name="adj" fmla="val 10345"/>
            </a:avLst>
          </a:prstGeom>
          <a:solidFill>
            <a:srgbClr val="FFFFFF"/>
          </a:solidFill>
          <a:ln/>
        </p:spPr>
        <p:txBody>
          <a:bodyPr/>
          <a:p/>
        </p:txBody>
      </p:sp>
      <p:sp>
        <p:nvSpPr>
          <p:cNvPr id="1470" name="" descr="{&quot;isTemplate&quot;:true,&quot;type&quot;:&quot;text&quot;}"/>
          <p:cNvSpPr txBox="1"/>
          <p:nvPr/>
        </p:nvSpPr>
        <p:spPr>
          <a:xfrm rot="0" flipH="0" flipV="0">
            <a:off x="6334125" y="3267075"/>
            <a:ext cx="2314575" cy="161925"/>
          </a:xfrm>
          <a:prstGeom prst="rect"/>
        </p:spPr>
        <p:txBody>
          <a:bodyPr wrap="none" lIns="0" tIns="0" rIns="0" bIns="0"/>
          <a:p>
            <a:pPr>
              <a:lnSpc>
                <a:spcPct val="135000"/>
              </a:lnSpc>
            </a:pPr>
            <a:r>
              <a:rPr lang="zh-CN" sz="750">
                <a:solidFill>
                  <a:srgbClr val="C43A17"/>
                </a:solidFill>
                <a:latin typeface="Microsoft YaHei"/>
                <a:ea typeface="Microsoft YaHei"/>
              </a:rPr>
              <a:t>可验证：响应时限</a:t>
            </a:r>
            <a:r>
              <a:rPr lang="en-US" sz="750">
                <a:solidFill>
                  <a:srgbClr val="C43A17"/>
                </a:solidFill>
                <a:latin typeface="Microsoft YaHei"/>
                <a:ea typeface="Microsoft YaHei"/>
              </a:rPr>
              <a:t xml:space="preserve"> + </a:t>
            </a:r>
            <a:r>
              <a:rPr lang="zh-CN" sz="750">
                <a:solidFill>
                  <a:srgbClr val="C43A17"/>
                </a:solidFill>
                <a:latin typeface="Microsoft YaHei"/>
                <a:ea typeface="Microsoft YaHei"/>
              </a:rPr>
              <a:t>处置留痕</a:t>
            </a:r>
            <a:endParaRPr/>
          </a:p>
        </p:txBody>
      </p:sp>
      <p:sp>
        <p:nvSpPr>
          <p:cNvPr id="1471" name=""/>
          <p:cNvSpPr/>
          <p:nvPr/>
        </p:nvSpPr>
        <p:spPr>
          <a:xfrm rot="0" flipH="0" flipV="0">
            <a:off x="8924925" y="2466975"/>
            <a:ext cx="2686050" cy="1104900"/>
          </a:xfrm>
          <a:prstGeom prst="roundRect">
            <a:avLst>
              <a:gd name="adj" fmla="val 3448"/>
            </a:avLst>
          </a:prstGeom>
          <a:solidFill>
            <a:srgbClr val="F7F7F8"/>
          </a:solidFill>
          <a:ln/>
        </p:spPr>
        <p:txBody>
          <a:bodyPr/>
          <a:p/>
        </p:txBody>
      </p:sp>
      <p:sp>
        <p:nvSpPr>
          <p:cNvPr id="1472" name=""/>
          <p:cNvSpPr/>
          <p:nvPr/>
        </p:nvSpPr>
        <p:spPr>
          <a:xfrm rot="0" flipH="0" flipV="0">
            <a:off x="8924925" y="2466975"/>
            <a:ext cx="2686050" cy="1104900"/>
          </a:xfrm>
          <a:custGeom>
            <a:pathLst>
              <a:path w="282" h="116">
                <a:moveTo>
                  <a:pt x="4" y="0"/>
                </a:moveTo>
                <a:cubicBezTo>
                  <a:pt x="3" y="0"/>
                  <a:pt x="3" y="0"/>
                  <a:pt x="3" y="1"/>
                </a:cubicBezTo>
                <a:lnTo>
                  <a:pt x="3" y="115"/>
                </a:lnTo>
                <a:cubicBezTo>
                  <a:pt x="3" y="115"/>
                  <a:pt x="3" y="116"/>
                  <a:pt x="4" y="116"/>
                </a:cubicBezTo>
                <a:cubicBezTo>
                  <a:pt x="2" y="116"/>
                  <a:pt x="0" y="114"/>
                  <a:pt x="0" y="112"/>
                </a:cubicBezTo>
                <a:lnTo>
                  <a:pt x="0" y="4"/>
                </a:lnTo>
                <a:cubicBezTo>
                  <a:pt x="0" y="2"/>
                  <a:pt x="2" y="0"/>
                  <a:pt x="4" y="0"/>
                </a:cubicBezTo>
                <a:close/>
              </a:path>
            </a:pathLst>
          </a:custGeom>
          <a:solidFill>
            <a:srgbClr val="C43A17"/>
          </a:solidFill>
          <a:ln/>
        </p:spPr>
        <p:txBody>
          <a:bodyPr/>
          <a:p/>
        </p:txBody>
      </p:sp>
      <p:sp>
        <p:nvSpPr>
          <p:cNvPr id="1473" name="" descr="{&quot;isTemplate&quot;:true,&quot;type&quot;:&quot;text&quot;}"/>
          <p:cNvSpPr txBox="1"/>
          <p:nvPr/>
        </p:nvSpPr>
        <p:spPr>
          <a:xfrm rot="0" flipH="0" flipV="0">
            <a:off x="9029700" y="2562225"/>
            <a:ext cx="161925" cy="152400"/>
          </a:xfrm>
          <a:prstGeom prst="rect"/>
        </p:spPr>
        <p:txBody>
          <a:bodyPr wrap="none" lIns="0" tIns="0" rIns="0" bIns="0"/>
          <a:p>
            <a:pPr>
              <a:lnSpc>
                <a:spcPct val="100000"/>
              </a:lnSpc>
            </a:pPr>
            <a:r>
              <a:rPr lang="en-US" sz="975" b="1">
                <a:solidFill>
                  <a:srgbClr val="C43A17"/>
                </a:solidFill>
                <a:latin typeface="Microsoft YaHei"/>
                <a:ea typeface="Microsoft YaHei"/>
              </a:rPr>
              <a:t>08</a:t>
            </a:r>
            <a:endParaRPr/>
          </a:p>
        </p:txBody>
      </p:sp>
      <p:sp>
        <p:nvSpPr>
          <p:cNvPr id="1474" name="" descr="{&quot;isTemplate&quot;:true,&quot;type&quot;:&quot;text&quot;}"/>
          <p:cNvSpPr txBox="1"/>
          <p:nvPr/>
        </p:nvSpPr>
        <p:spPr>
          <a:xfrm rot="0" flipH="0" flipV="0">
            <a:off x="9258300" y="2552700"/>
            <a:ext cx="257175" cy="161925"/>
          </a:xfrm>
          <a:prstGeom prst="rect"/>
        </p:spPr>
        <p:txBody>
          <a:bodyPr wrap="none" lIns="0" tIns="0" rIns="0" bIns="0"/>
          <a:p>
            <a:pPr>
              <a:lnSpc>
                <a:spcPct val="100000"/>
              </a:lnSpc>
            </a:pPr>
            <a:r>
              <a:rPr lang="zh-CN" sz="1013" b="1">
                <a:solidFill>
                  <a:srgbClr val="0F1423"/>
                </a:solidFill>
                <a:latin typeface="Microsoft YaHei"/>
                <a:ea typeface="Microsoft YaHei"/>
              </a:rPr>
              <a:t>问责</a:t>
            </a:r>
            <a:endParaRPr/>
          </a:p>
        </p:txBody>
      </p:sp>
      <p:sp>
        <p:nvSpPr>
          <p:cNvPr id="1475" name="" descr="{&quot;isTemplate&quot;:true,&quot;type&quot;:&quot;text&quot;}"/>
          <p:cNvSpPr txBox="1"/>
          <p:nvPr/>
        </p:nvSpPr>
        <p:spPr>
          <a:xfrm rot="0" flipH="0" flipV="0">
            <a:off x="9029700" y="2771775"/>
            <a:ext cx="2447925" cy="190500"/>
          </a:xfrm>
          <a:prstGeom prst="rect"/>
        </p:spPr>
        <p:txBody>
          <a:bodyPr wrap="none" lIns="0" tIns="0" rIns="0" bIns="0"/>
          <a:p>
            <a:pPr>
              <a:lnSpc>
                <a:spcPct val="145000"/>
              </a:lnSpc>
            </a:pPr>
            <a:r>
              <a:rPr lang="zh-CN" sz="825">
                <a:solidFill>
                  <a:srgbClr val="3A4050"/>
                </a:solidFill>
                <a:latin typeface="Microsoft YaHei"/>
                <a:ea typeface="Microsoft YaHei"/>
              </a:rPr>
              <a:t>责任主体应对落实上述原则的各项措施负责</a:t>
            </a:r>
            <a:endParaRPr/>
          </a:p>
        </p:txBody>
      </p:sp>
      <p:sp>
        <p:nvSpPr>
          <p:cNvPr id="1476" name=""/>
          <p:cNvSpPr/>
          <p:nvPr/>
        </p:nvSpPr>
        <p:spPr>
          <a:xfrm rot="0" flipH="0" flipV="0">
            <a:off x="9029700" y="3028950"/>
            <a:ext cx="2447925" cy="457200"/>
          </a:xfrm>
          <a:prstGeom prst="roundRect">
            <a:avLst>
              <a:gd name="adj" fmla="val 6250"/>
            </a:avLst>
          </a:prstGeom>
          <a:solidFill>
            <a:srgbClr val="FFFFFF"/>
          </a:solidFill>
          <a:ln/>
        </p:spPr>
        <p:txBody>
          <a:bodyPr/>
          <a:p/>
        </p:txBody>
      </p:sp>
      <p:sp>
        <p:nvSpPr>
          <p:cNvPr id="1477" name="" descr="{&quot;isTemplate&quot;:true,&quot;type&quot;:&quot;text&quot;}"/>
          <p:cNvSpPr txBox="1"/>
          <p:nvPr/>
        </p:nvSpPr>
        <p:spPr>
          <a:xfrm rot="0" flipH="0" flipV="0">
            <a:off x="9096375" y="3181350"/>
            <a:ext cx="2314575" cy="161925"/>
          </a:xfrm>
          <a:prstGeom prst="rect"/>
        </p:spPr>
        <p:txBody>
          <a:bodyPr wrap="none" lIns="0" tIns="0" rIns="0" bIns="0"/>
          <a:p>
            <a:pPr>
              <a:lnSpc>
                <a:spcPct val="135000"/>
              </a:lnSpc>
            </a:pPr>
            <a:r>
              <a:rPr lang="zh-CN" sz="750">
                <a:solidFill>
                  <a:srgbClr val="C43A17"/>
                </a:solidFill>
                <a:latin typeface="Microsoft YaHei"/>
                <a:ea typeface="Microsoft YaHei"/>
              </a:rPr>
              <a:t>可验证：责任矩阵</a:t>
            </a:r>
            <a:r>
              <a:rPr lang="en-US" sz="750">
                <a:solidFill>
                  <a:srgbClr val="C43A17"/>
                </a:solidFill>
                <a:latin typeface="Microsoft YaHei"/>
                <a:ea typeface="Microsoft YaHei"/>
              </a:rPr>
              <a:t xml:space="preserve"> + </a:t>
            </a:r>
            <a:r>
              <a:rPr lang="zh-CN" sz="750">
                <a:solidFill>
                  <a:srgbClr val="C43A17"/>
                </a:solidFill>
                <a:latin typeface="Microsoft YaHei"/>
                <a:ea typeface="Microsoft YaHei"/>
              </a:rPr>
              <a:t>签字栏</a:t>
            </a:r>
            <a:endParaRPr/>
          </a:p>
        </p:txBody>
      </p:sp>
      <p:sp>
        <p:nvSpPr>
          <p:cNvPr id="1478" name=""/>
          <p:cNvSpPr/>
          <p:nvPr/>
        </p:nvSpPr>
        <p:spPr>
          <a:xfrm rot="0" flipH="0" flipV="0">
            <a:off x="609600" y="3667125"/>
            <a:ext cx="3810000" cy="1971675"/>
          </a:xfrm>
          <a:prstGeom prst="roundRect">
            <a:avLst>
              <a:gd name="adj" fmla="val 1932"/>
            </a:avLst>
          </a:prstGeom>
          <a:solidFill>
            <a:srgbClr val="0F1423"/>
          </a:solidFill>
          <a:ln/>
        </p:spPr>
        <p:txBody>
          <a:bodyPr/>
          <a:p/>
        </p:txBody>
      </p:sp>
      <p:sp>
        <p:nvSpPr>
          <p:cNvPr id="1479" name="" descr="{&quot;isTemplate&quot;:true,&quot;type&quot;:&quot;text&quot;}"/>
          <p:cNvSpPr txBox="1"/>
          <p:nvPr/>
        </p:nvSpPr>
        <p:spPr>
          <a:xfrm rot="0" flipH="0" flipV="0">
            <a:off x="771525" y="4219575"/>
            <a:ext cx="3486150" cy="161925"/>
          </a:xfrm>
          <a:prstGeom prst="rect"/>
        </p:spPr>
        <p:txBody>
          <a:bodyPr wrap="none" lIns="0" tIns="0" rIns="0" bIns="0"/>
          <a:p>
            <a:pPr>
              <a:lnSpc>
                <a:spcPct val="100000"/>
              </a:lnSpc>
            </a:pPr>
            <a:r>
              <a:rPr lang="zh-CN" sz="1050" b="1">
                <a:solidFill>
                  <a:srgbClr val="FBA15C"/>
                </a:solidFill>
                <a:latin typeface="Microsoft YaHei"/>
                <a:ea typeface="Microsoft YaHei"/>
              </a:rPr>
              <a:t>贯穿八项的核心主题：数据最小化</a:t>
            </a:r>
            <a:endParaRPr/>
          </a:p>
        </p:txBody>
      </p:sp>
      <p:sp>
        <p:nvSpPr>
          <p:cNvPr id="1480" name="" descr="{&quot;isTemplate&quot;:true,&quot;type&quot;:&quot;text&quot;}"/>
          <p:cNvSpPr txBox="1"/>
          <p:nvPr/>
        </p:nvSpPr>
        <p:spPr>
          <a:xfrm rot="0" flipH="0" flipV="0">
            <a:off x="771525" y="4457700"/>
            <a:ext cx="3486150" cy="638175"/>
          </a:xfrm>
          <a:prstGeom prst="rect"/>
        </p:spPr>
        <p:txBody>
          <a:bodyPr wrap="square" lIns="0" tIns="0" rIns="0" bIns="0">
            <a:normAutofit/>
          </a:bodyPr>
          <a:p>
            <a:pPr>
              <a:lnSpc>
                <a:spcPct val="155000"/>
              </a:lnSpc>
            </a:pPr>
            <a:r>
              <a:rPr lang="zh-CN" sz="900">
                <a:solidFill>
                  <a:srgbClr val="FFFFFF">
                    <a:alpha val="86000"/>
                  </a:srgbClr>
                </a:solidFill>
                <a:latin typeface="Microsoft YaHei"/>
                <a:ea typeface="Microsoft YaHei"/>
              </a:rPr>
              <a:t>采集限制对应「少采」、目的规范对应「按目的采」、使用限制对应「只用在这个目的上」，安全保障对应「采了要护住」。所以最小化不只是采集阶段的事，它在用途限定上要再落一次。</a:t>
            </a:r>
            <a:endParaRPr/>
          </a:p>
        </p:txBody>
      </p:sp>
      <p:sp>
        <p:nvSpPr>
          <p:cNvPr id="1481" name=""/>
          <p:cNvSpPr/>
          <p:nvPr/>
        </p:nvSpPr>
        <p:spPr>
          <a:xfrm rot="0" flipH="0" flipV="0">
            <a:off x="4552950" y="3667125"/>
            <a:ext cx="7067550" cy="1971675"/>
          </a:xfrm>
          <a:prstGeom prst="roundRect">
            <a:avLst>
              <a:gd name="adj" fmla="val 1932"/>
            </a:avLst>
          </a:prstGeom>
          <a:solidFill>
            <a:srgbClr val="FFF3EE"/>
          </a:solidFill>
          <a:ln/>
        </p:spPr>
        <p:txBody>
          <a:bodyPr/>
          <a:p/>
        </p:txBody>
      </p:sp>
      <p:sp>
        <p:nvSpPr>
          <p:cNvPr id="1482" name=""/>
          <p:cNvSpPr/>
          <p:nvPr/>
        </p:nvSpPr>
        <p:spPr>
          <a:xfrm rot="0" flipH="0" flipV="0">
            <a:off x="4552950" y="3667125"/>
            <a:ext cx="7067550" cy="1971675"/>
          </a:xfrm>
          <a:custGeom>
            <a:pathLst>
              <a:path w="742" h="207">
                <a:moveTo>
                  <a:pt x="4" y="207"/>
                </a:moveTo>
                <a:cubicBezTo>
                  <a:pt x="2" y="207"/>
                  <a:pt x="0" y="205"/>
                  <a:pt x="0" y="203"/>
                </a:cubicBezTo>
                <a:lnTo>
                  <a:pt x="0" y="4"/>
                </a:lnTo>
                <a:cubicBezTo>
                  <a:pt x="0" y="2"/>
                  <a:pt x="2" y="0"/>
                  <a:pt x="4" y="0"/>
                </a:cubicBezTo>
                <a:lnTo>
                  <a:pt x="4" y="207"/>
                </a:lnTo>
                <a:close/>
              </a:path>
            </a:pathLst>
          </a:custGeom>
          <a:solidFill>
            <a:srgbClr val="FA4F24"/>
          </a:solidFill>
          <a:ln/>
        </p:spPr>
        <p:txBody>
          <a:bodyPr/>
          <a:p/>
        </p:txBody>
      </p:sp>
      <p:sp>
        <p:nvSpPr>
          <p:cNvPr id="1483" name="" descr="{&quot;isTemplate&quot;:true,&quot;type&quot;:&quot;text&quot;}"/>
          <p:cNvSpPr txBox="1"/>
          <p:nvPr/>
        </p:nvSpPr>
        <p:spPr>
          <a:xfrm rot="0" flipH="0" flipV="0">
            <a:off x="4714875" y="4324350"/>
            <a:ext cx="6705600" cy="161925"/>
          </a:xfrm>
          <a:prstGeom prst="rect"/>
        </p:spPr>
        <p:txBody>
          <a:bodyPr wrap="none" lIns="0" tIns="0" rIns="0" bIns="0"/>
          <a:p>
            <a:pPr>
              <a:lnSpc>
                <a:spcPct val="100000"/>
              </a:lnSpc>
            </a:pPr>
            <a:r>
              <a:rPr lang="en-US" sz="1050" b="1">
                <a:solidFill>
                  <a:srgbClr val="C43A17"/>
                </a:solidFill>
                <a:latin typeface="Microsoft YaHei"/>
                <a:ea typeface="Microsoft YaHei"/>
              </a:rPr>
              <a:t xml:space="preserve">AI </a:t>
            </a:r>
            <a:r>
              <a:rPr lang="zh-CN" sz="1050" b="1">
                <a:solidFill>
                  <a:srgbClr val="C43A17"/>
                </a:solidFill>
                <a:latin typeface="Microsoft YaHei"/>
                <a:ea typeface="Microsoft YaHei"/>
              </a:rPr>
              <a:t>时代最容易被违反的两条</a:t>
            </a:r>
            <a:endParaRPr/>
          </a:p>
        </p:txBody>
      </p:sp>
      <p:sp>
        <p:nvSpPr>
          <p:cNvPr id="1484" name="" descr="{&quot;isTemplate&quot;:true,&quot;type&quot;:&quot;text&quot;}"/>
          <p:cNvSpPr txBox="1"/>
          <p:nvPr/>
        </p:nvSpPr>
        <p:spPr>
          <a:xfrm rot="0" flipH="0" flipV="0">
            <a:off x="4714875" y="4562475"/>
            <a:ext cx="6705600" cy="428625"/>
          </a:xfrm>
          <a:prstGeom prst="rect"/>
        </p:spPr>
        <p:txBody>
          <a:bodyPr wrap="square" lIns="0" tIns="0" rIns="0" bIns="0">
            <a:normAutofit/>
          </a:bodyPr>
          <a:p>
            <a:pPr>
              <a:lnSpc>
                <a:spcPct val="155000"/>
              </a:lnSpc>
            </a:pPr>
            <a:r>
              <a:rPr lang="zh-CN" sz="900">
                <a:solidFill>
                  <a:srgbClr val="3A4050"/>
                </a:solidFill>
                <a:latin typeface="Microsoft YaHei"/>
                <a:ea typeface="Microsoft YaHei"/>
              </a:rPr>
              <a:t>第</a:t>
            </a:r>
            <a:r>
              <a:rPr lang="en-US" sz="900">
                <a:solidFill>
                  <a:srgbClr val="3A4050"/>
                </a:solidFill>
                <a:latin typeface="Microsoft YaHei"/>
                <a:ea typeface="Microsoft YaHei"/>
              </a:rPr>
              <a:t xml:space="preserve"> 03 </a:t>
            </a:r>
            <a:r>
              <a:rPr lang="zh-CN" sz="900">
                <a:solidFill>
                  <a:srgbClr val="3A4050"/>
                </a:solidFill>
                <a:latin typeface="Microsoft YaHei"/>
                <a:ea typeface="Microsoft YaHei"/>
              </a:rPr>
              <a:t>条目的规范：模型训练、微调、评测各算不算原目的？绝大多数企业没登记过。第</a:t>
            </a:r>
            <a:r>
              <a:rPr lang="en-US" sz="900">
                <a:solidFill>
                  <a:srgbClr val="3A4050"/>
                </a:solidFill>
                <a:latin typeface="Microsoft YaHei"/>
                <a:ea typeface="Microsoft YaHei"/>
              </a:rPr>
              <a:t xml:space="preserve"> 07 </a:t>
            </a:r>
            <a:r>
              <a:rPr lang="zh-CN" sz="900">
                <a:solidFill>
                  <a:srgbClr val="3A4050"/>
                </a:solidFill>
                <a:latin typeface="Microsoft YaHei"/>
                <a:ea typeface="Microsoft YaHei"/>
              </a:rPr>
              <a:t>条个人参与：数据被用于生成结论后，如何响应「删除并重新训练」？目前几乎无人能答。这两条是下一阶段治理的主战场。</a:t>
            </a:r>
            <a:endParaRPr/>
          </a:p>
        </p:txBody>
      </p:sp>
      <p:sp>
        <p:nvSpPr>
          <p:cNvPr id="1485"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1486" name=""/>
          <p:cNvSpPr/>
          <p:nvPr/>
        </p:nvSpPr>
        <p:spPr>
          <a:xfrm rot="0" flipH="0" flipV="0">
            <a:off x="609600" y="5953125"/>
            <a:ext cx="95250" cy="95250"/>
          </a:xfrm>
          <a:prstGeom prst="rect">
            <a:avLst/>
          </a:prstGeom>
          <a:solidFill>
            <a:srgbClr val="FA4F24"/>
          </a:solidFill>
          <a:ln/>
        </p:spPr>
        <p:txBody>
          <a:bodyPr/>
          <a:p/>
        </p:txBody>
      </p:sp>
      <p:sp>
        <p:nvSpPr>
          <p:cNvPr id="1487"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1488"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07 / 30</a:t>
            </a:r>
            <a:endParaRPr/>
          </a:p>
        </p:txBody>
      </p:sp>
    </p:spTree>
  </p:cSld>
</p:sld>
</file>

<file path=ppt/slides/slide8.xml><?xml version="1.0" encoding="utf-8"?>
<p:sld xmlns:p="http://schemas.openxmlformats.org/presentationml/2006/main" xmlns:a="http://schemas.openxmlformats.org/drawingml/2006/main">
  <p:cSld>
    <p:spTree>
      <p:nvGrpSpPr>
        <p:cNvPr id="1489" name="" descr="&lt;Slide style={{ width: 1280, height: 720, background: '#FFFFFF', padding: '24px 64px 0' }}&gt;&#10;    &lt;Box style={{ height: 96, flexDirection: 'column', justifyContent: 'flex-start' }}&gt;&#10;      &lt;Text style={{ fontSize: 32, fontWeight: 'bold', color: '#0F1423' }}&gt;&#10;        四种访问控制的融合：&lt;span style={{ color: '#FA4F24' }}&gt;角色 / 强制 / 属性 / 用途&lt;/span&gt;&#10;      &lt;/Text&gt;&#10;      &lt;Text style={{ fontSize: 20, color: '#8A8F99', marginTop: 8 }}&gt;&#10;        传统系统只做第一种；真正管住数据，靠的是四种叠加，其中第四种最常缺失&#10;      &lt;/Text&gt;&#10;    &lt;/Box&gt;&#10;    &lt;Box style={{ height: 1, background: '#E8E8E8' }} /&gt;&#10;&#10;    &lt;Box style={{ paddingTop: 14, paddingBottom: 8, height: 479, flexDirection: 'column', gap: 10 }}&gt;&#10;      &lt;Box style={{ height: 254, flexDirection: 'row', gap: 9 }}&gt;&#10;        {[&#10;          { a: 'RBAC', t: '基于角色', c: '#8A8F99', log: '「你属于分析师组，所以能访问情报库」', lim: '角色爆炸：要区分「只看元数据」和「看原始内容」就得建几千个角色', use: '只用于管理功能权限，比如能不能编辑，不能用于数据可见性' },&#10;          { a: 'MAC', t: '基于标记（强制）', c: '#FA4F24', log: '「数据标为机密，用户必须有机密许可」', lim: '传统只处理密级等级，难以处理隐私、行动代号这类横向标签', use: '支持多维标签组合：个人身份信息 + 机密 + 行动受限' },&#10;          { a: 'ABAC', t: '基于属性', c: '#F87D2F', log: '「如果你所属区域等于数据产生区域，则允许访问」', lim: '实施复杂，需要策略引擎实时算，且难以在关系图里直观表达', use: '行级动态判定，受限视图与细粒度策略都用它' },&#10;          { a: 'PBAC', t: '基于用途', c: '#E0651A', log: '「你有权限，但必须声明是为了什么才访问」', lim: '传统系统基本只有资格校验，没有动机校验，内部滥用无从发现', use: '检查点机制，强制捕获操作意图并审计或审批' },&#10;        ].map((it, i) =&gt; (&#10;          &lt;Box key={it.a} style={{ flex: 1, background: '#F7F7F8', borderRadius: 4, flexDirection: 'column', overflow: 'hidden' }}&gt;&#10;            &lt;Box style={{ height: 54, background: it.c, padding: '0 13px', justifyContent: 'center' }}&gt;&#10;              &lt;Text style={{ fontSize: 17, fontWeight: 'bold', color: '#FFFFFF' }}&gt;{it.a}&lt;/Text&gt;&#10;            &lt;/Box&gt;&#10;            &lt;Box style={{ flex: 1, padding: '10px 13px' }}&gt;&#10;              &lt;Text style={{ fontSize: 13.5, fontWeight: 'bold', color: it.c }}&gt;{it.t}&lt;/Text&gt;&#10;              &lt;Box style={{ background: '#FFFFFF', borderRadius: 3, padding: '6px 8px', marginTop: 7 }}&gt;&#10;                &lt;Text style={{ fontSize: 10.5, color: '#0F1423', lineHeight: 1.4 }}&gt;{it.log}&lt;/Text&gt;&#10;              &lt;/Box&gt;&#10;              &lt;Box style={{ flex: 1, flexDirection: 'column', marginTop: 8, justifyContent: 'center' }}&gt;&#10;                &lt;Text style={{ fontSize: 10, color: '#8A8F99' }}&gt;典型局限&lt;/Text&gt;&#10;                &lt;Text style={{ fontSize: 10.5, color: '#5A6072', marginTop: 2, lineHeight: 1.4 }}&gt;{it.lim}&lt;/Text&gt;&#10;              &lt;/Box&gt;&#10;              &lt;Box style={{ background: '#FFF3EE', borderLeft: '2px solid ' + it.c, padding: '6px 8px', marginTop: 6 }}&gt;&#10;                &lt;Text style={{ fontSize: 10, color: it.c }}&gt;在平台里的位置&lt;/Text&gt;&#10;                &lt;Text style={{ fontSize: 10.5, color: '#3A4050', marginTop: 2, lineHeight: 1.4 }}&gt;{it.use}&lt;/Text&gt;&#10;              &lt;/Box&gt;&#10;            &lt;/Box&gt;&#10;          &lt;/Box&gt;&#10;        ))}&#10;      &lt;/Box&gt;&#10;&#10;      &lt;Box style={{ flex: 1, flexDirection: 'row', gap: 10 }}&gt;&#10;        &lt;Box style={{ flex: 1, background: '#0F1423', borderRadius: 4, padding: '13px 17px', flexDirection: 'column', justifyContent: 'center' }}&gt;&#10;          &lt;Text style={{ fontSize: 14, fontWeight: 'bold', color: '#FBA15C' }}&gt;用途控制的两种模式，差别很大&lt;/Text&gt;&#10;          {[&#10;            { t: '被动模式', d: '记录理由后立即放行，事后审计，作用是威慑' },&#10;            { t: '主动模式', d: '操作挂起，请求送交合规官，批准后才给临时令牌' },&#10;          ].map((it, i) =&gt; (&#10;            &lt;Box key={it.t} style={{ flexDirection: 'row', alignItems: 'center', gap: 12, marginTop: i === 0 ? 8 : 6 }}&gt;&#10;              &lt;Box style={{ width: 62, height: 24, background: 'rgba(250,79,36,0.24)', alignItems: 'center', justifyContent: 'center' }}&gt;&#10;                &lt;Text style={{ fontSize: 11.5, fontWeight: 'bold', color: '#FA4F24' }}&gt;{it.t}&lt;/Text&gt;&#10;              &lt;/Box&gt;&#10;              &lt;Text style={{ fontSize: 11.5, color: 'rgba(255,255,255,0.85)', flex: 1, lineHeight: 1.4 }}&gt;{it.d}&lt;/Text&gt;&#10;            &lt;/Box&gt;&#10;          ))}&#10;        &lt;/Box&gt;&#10;        &lt;Box style={{ flex: 1, background: '#FFF3EE', borderRadius: 4, borderLeft: '4px solid #FA4F24', padding: '13px 17px', flexDirection: 'column', justifyContent: 'center' }}&gt;&#10;          &lt;Text style={{ fontSize: 14, fontWeight: 'bold', color: '#C43A17' }}&gt;为什么用途控制最能发现内部滥用&lt;/Text&gt;&#10;          &lt;Text style={{ fontSize: 12, color: '#3A4050', marginTop: 7, lineHeight: 1.55 }}&gt;&#10;            有了理由字段，日志才从「谁访问了什么」变成「谁访问了什么、为什么」。安全团队据此可以跑异常检测：一名分析师凌晨两点访问了 500 条名人护照信息，理由栏填的是无意义字符——这在角色模型里是完全合法的，在用途模型里就是违规。&#10;          &lt;/Text&gt;&#10;        &lt;/Box&gt;&#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08 / 30&lt;/Text&gt;&#10;    &lt;/Box&gt;&#10;&lt;/Slide&gt;&#10;"/>
        <p:cNvGrpSpPr/>
        <p:nvPr/>
      </p:nvGrpSpPr>
      <p:grpSpPr>
        <a:xfrm>
          <a:off x="0" y="0"/>
          <a:ext cx="0" cy="0"/>
          <a:chOff x="0" y="0"/>
          <a:chExt cx="0" cy="0"/>
        </a:xfrm>
      </p:grpSpPr>
      <p:sp>
        <p:nvSpPr>
          <p:cNvPr id="1490" name=""/>
          <p:cNvSpPr/>
          <p:nvPr/>
        </p:nvSpPr>
        <p:spPr>
          <a:xfrm rot="0" flipH="0" flipV="0">
            <a:off x="0" y="0"/>
            <a:ext cx="12192000" cy="6858000"/>
          </a:xfrm>
          <a:prstGeom prst="rect">
            <a:avLst/>
          </a:prstGeom>
          <a:solidFill>
            <a:srgbClr val="FFFFFF"/>
          </a:solidFill>
          <a:ln/>
        </p:spPr>
        <p:txBody>
          <a:bodyPr/>
          <a:p/>
        </p:txBody>
      </p:sp>
      <p:sp>
        <p:nvSpPr>
          <p:cNvPr id="1491"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四种访问控制的融合：</a:t>
            </a:r>
            <a:r>
              <a:rPr lang="zh-CN" sz="2400" b="1">
                <a:solidFill>
                  <a:srgbClr val="FA4F24"/>
                </a:solidFill>
                <a:latin typeface="Microsoft YaHei"/>
                <a:ea typeface="Microsoft YaHei"/>
              </a:rPr>
              <a:t>角色</a:t>
            </a:r>
            <a:r>
              <a:rPr lang="en-US" sz="2400" b="1">
                <a:solidFill>
                  <a:srgbClr val="FA4F24"/>
                </a:solidFill>
                <a:latin typeface="Microsoft YaHei"/>
                <a:ea typeface="Microsoft YaHei"/>
              </a:rPr>
              <a:t xml:space="preserve"> / </a:t>
            </a:r>
            <a:r>
              <a:rPr lang="zh-CN" sz="2400" b="1">
                <a:solidFill>
                  <a:srgbClr val="FA4F24"/>
                </a:solidFill>
                <a:latin typeface="Microsoft YaHei"/>
                <a:ea typeface="Microsoft YaHei"/>
              </a:rPr>
              <a:t>强制</a:t>
            </a:r>
            <a:r>
              <a:rPr lang="en-US" sz="2400" b="1">
                <a:solidFill>
                  <a:srgbClr val="FA4F24"/>
                </a:solidFill>
                <a:latin typeface="Microsoft YaHei"/>
                <a:ea typeface="Microsoft YaHei"/>
              </a:rPr>
              <a:t xml:space="preserve"> / </a:t>
            </a:r>
            <a:r>
              <a:rPr lang="zh-CN" sz="2400" b="1">
                <a:solidFill>
                  <a:srgbClr val="FA4F24"/>
                </a:solidFill>
                <a:latin typeface="Microsoft YaHei"/>
                <a:ea typeface="Microsoft YaHei"/>
              </a:rPr>
              <a:t>属性</a:t>
            </a:r>
            <a:r>
              <a:rPr lang="en-US" sz="2400" b="1">
                <a:solidFill>
                  <a:srgbClr val="FA4F24"/>
                </a:solidFill>
                <a:latin typeface="Microsoft YaHei"/>
                <a:ea typeface="Microsoft YaHei"/>
              </a:rPr>
              <a:t xml:space="preserve"> / </a:t>
            </a:r>
            <a:r>
              <a:rPr lang="zh-CN" sz="2400" b="1">
                <a:solidFill>
                  <a:srgbClr val="FA4F24"/>
                </a:solidFill>
                <a:latin typeface="Microsoft YaHei"/>
                <a:ea typeface="Microsoft YaHei"/>
              </a:rPr>
              <a:t>用途</a:t>
            </a:r>
            <a:endParaRPr/>
          </a:p>
        </p:txBody>
      </p:sp>
      <p:sp>
        <p:nvSpPr>
          <p:cNvPr id="1492"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传统系统只做第一种；真正管住数据，靠的是四种叠加，其中第四种最常缺失</a:t>
            </a:r>
            <a:endParaRPr/>
          </a:p>
        </p:txBody>
      </p:sp>
      <p:sp>
        <p:nvSpPr>
          <p:cNvPr id="1493" name=""/>
          <p:cNvSpPr/>
          <p:nvPr/>
        </p:nvSpPr>
        <p:spPr>
          <a:xfrm rot="0" flipH="0" flipV="0">
            <a:off x="609600" y="1143000"/>
            <a:ext cx="10972800" cy="9525"/>
          </a:xfrm>
          <a:prstGeom prst="rect">
            <a:avLst/>
          </a:prstGeom>
          <a:solidFill>
            <a:srgbClr val="E8E8E8"/>
          </a:solidFill>
          <a:ln/>
        </p:spPr>
        <p:txBody>
          <a:bodyPr/>
          <a:p/>
        </p:txBody>
      </p:sp>
      <p:sp>
        <p:nvSpPr>
          <p:cNvPr id="1494" name=""/>
          <p:cNvSpPr/>
          <p:nvPr/>
        </p:nvSpPr>
        <p:spPr>
          <a:xfrm rot="0" flipH="0" flipV="0">
            <a:off x="609600" y="1285875"/>
            <a:ext cx="2676525" cy="2419350"/>
          </a:xfrm>
          <a:prstGeom prst="roundRect">
            <a:avLst>
              <a:gd name="adj" fmla="val 1575"/>
            </a:avLst>
          </a:prstGeom>
          <a:solidFill>
            <a:srgbClr val="F7F7F8"/>
          </a:solidFill>
          <a:ln/>
        </p:spPr>
        <p:txBody>
          <a:bodyPr/>
          <a:p/>
        </p:txBody>
      </p:sp>
      <p:sp>
        <p:nvSpPr>
          <p:cNvPr id="1495" name=""/>
          <p:cNvSpPr/>
          <p:nvPr/>
        </p:nvSpPr>
        <p:spPr>
          <a:xfrm rot="0" flipH="0" flipV="0">
            <a:off x="609600" y="1285875"/>
            <a:ext cx="2676525" cy="514350"/>
          </a:xfrm>
          <a:prstGeom prst="rect">
            <a:avLst/>
          </a:prstGeom>
          <a:solidFill>
            <a:srgbClr val="8A8F99"/>
          </a:solidFill>
          <a:ln/>
        </p:spPr>
        <p:txBody>
          <a:bodyPr/>
          <a:p/>
        </p:txBody>
      </p:sp>
      <p:sp>
        <p:nvSpPr>
          <p:cNvPr id="1496" name="" descr="{&quot;isTemplate&quot;:true,&quot;type&quot;:&quot;text&quot;}"/>
          <p:cNvSpPr txBox="1"/>
          <p:nvPr/>
        </p:nvSpPr>
        <p:spPr>
          <a:xfrm rot="0" flipH="0" flipV="0">
            <a:off x="733425" y="1447800"/>
            <a:ext cx="2428875" cy="200025"/>
          </a:xfrm>
          <a:prstGeom prst="rect"/>
        </p:spPr>
        <p:txBody>
          <a:bodyPr wrap="none" lIns="0" tIns="0" rIns="0" bIns="0"/>
          <a:p>
            <a:pPr>
              <a:lnSpc>
                <a:spcPct val="100000"/>
              </a:lnSpc>
            </a:pPr>
            <a:r>
              <a:rPr lang="en-US" sz="1275" b="1">
                <a:solidFill>
                  <a:srgbClr val="FFFFFF"/>
                </a:solidFill>
                <a:latin typeface="Microsoft YaHei"/>
                <a:ea typeface="Microsoft YaHei"/>
              </a:rPr>
              <a:t>RBAC</a:t>
            </a:r>
            <a:endParaRPr/>
          </a:p>
        </p:txBody>
      </p:sp>
      <p:sp>
        <p:nvSpPr>
          <p:cNvPr id="1497" name="" descr="{&quot;isTemplate&quot;:true,&quot;type&quot;:&quot;text&quot;}"/>
          <p:cNvSpPr txBox="1"/>
          <p:nvPr/>
        </p:nvSpPr>
        <p:spPr>
          <a:xfrm rot="0" flipH="0" flipV="0">
            <a:off x="733425" y="1895475"/>
            <a:ext cx="2428875" cy="161925"/>
          </a:xfrm>
          <a:prstGeom prst="rect"/>
        </p:spPr>
        <p:txBody>
          <a:bodyPr wrap="none" lIns="0" tIns="0" rIns="0" bIns="0"/>
          <a:p>
            <a:pPr>
              <a:lnSpc>
                <a:spcPct val="100000"/>
              </a:lnSpc>
            </a:pPr>
            <a:r>
              <a:rPr lang="zh-CN" sz="1013" b="1">
                <a:solidFill>
                  <a:srgbClr val="8A8F99"/>
                </a:solidFill>
                <a:latin typeface="Microsoft YaHei"/>
                <a:ea typeface="Microsoft YaHei"/>
              </a:rPr>
              <a:t>基于角色</a:t>
            </a:r>
            <a:endParaRPr/>
          </a:p>
        </p:txBody>
      </p:sp>
      <p:sp>
        <p:nvSpPr>
          <p:cNvPr id="1498" name=""/>
          <p:cNvSpPr/>
          <p:nvPr/>
        </p:nvSpPr>
        <p:spPr>
          <a:xfrm rot="0" flipH="0" flipV="0">
            <a:off x="733425" y="2124075"/>
            <a:ext cx="2428875" cy="285750"/>
          </a:xfrm>
          <a:prstGeom prst="roundRect">
            <a:avLst>
              <a:gd name="adj" fmla="val 10000"/>
            </a:avLst>
          </a:prstGeom>
          <a:solidFill>
            <a:srgbClr val="FFFFFF"/>
          </a:solidFill>
          <a:ln/>
        </p:spPr>
        <p:txBody>
          <a:bodyPr/>
          <a:p/>
        </p:txBody>
      </p:sp>
      <p:sp>
        <p:nvSpPr>
          <p:cNvPr id="1499" name="" descr="{&quot;isTemplate&quot;:true,&quot;type&quot;:&quot;text&quot;}"/>
          <p:cNvSpPr txBox="1"/>
          <p:nvPr/>
        </p:nvSpPr>
        <p:spPr>
          <a:xfrm rot="0" flipH="0" flipV="0">
            <a:off x="809625" y="2181225"/>
            <a:ext cx="2276475" cy="171450"/>
          </a:xfrm>
          <a:prstGeom prst="rect"/>
        </p:spPr>
        <p:txBody>
          <a:bodyPr wrap="none" lIns="0" tIns="0" rIns="0" bIns="0"/>
          <a:p>
            <a:pPr>
              <a:lnSpc>
                <a:spcPct val="140000"/>
              </a:lnSpc>
            </a:pPr>
            <a:r>
              <a:rPr lang="zh-CN" sz="788">
                <a:solidFill>
                  <a:srgbClr val="0F1423"/>
                </a:solidFill>
                <a:latin typeface="Microsoft YaHei"/>
                <a:ea typeface="Microsoft YaHei"/>
              </a:rPr>
              <a:t>「你属于分析师组，所以能访问情报库」</a:t>
            </a:r>
            <a:endParaRPr/>
          </a:p>
        </p:txBody>
      </p:sp>
      <p:sp>
        <p:nvSpPr>
          <p:cNvPr id="1500" name="" descr="{&quot;isTemplate&quot;:true,&quot;type&quot;:&quot;text&quot;}"/>
          <p:cNvSpPr txBox="1"/>
          <p:nvPr/>
        </p:nvSpPr>
        <p:spPr>
          <a:xfrm rot="0" flipH="0" flipV="0">
            <a:off x="733425" y="2486025"/>
            <a:ext cx="2428875" cy="114300"/>
          </a:xfrm>
          <a:prstGeom prst="rect"/>
        </p:spPr>
        <p:txBody>
          <a:bodyPr wrap="none" lIns="0" tIns="0" rIns="0" bIns="0"/>
          <a:p>
            <a:pPr>
              <a:lnSpc>
                <a:spcPct val="100000"/>
              </a:lnSpc>
            </a:pPr>
            <a:r>
              <a:rPr lang="zh-CN" sz="750">
                <a:solidFill>
                  <a:srgbClr val="8A8F99"/>
                </a:solidFill>
                <a:latin typeface="Microsoft YaHei"/>
                <a:ea typeface="Microsoft YaHei"/>
              </a:rPr>
              <a:t>典型局限</a:t>
            </a:r>
            <a:endParaRPr/>
          </a:p>
        </p:txBody>
      </p:sp>
      <p:sp>
        <p:nvSpPr>
          <p:cNvPr id="1501" name="" descr="{&quot;isTemplate&quot;:true,&quot;type&quot;:&quot;text&quot;}"/>
          <p:cNvSpPr txBox="1"/>
          <p:nvPr/>
        </p:nvSpPr>
        <p:spPr>
          <a:xfrm rot="0" flipH="0" flipV="0">
            <a:off x="733425" y="2619375"/>
            <a:ext cx="2428875" cy="342900"/>
          </a:xfrm>
          <a:prstGeom prst="rect"/>
        </p:spPr>
        <p:txBody>
          <a:bodyPr wrap="square" lIns="0" tIns="0" rIns="0" bIns="0">
            <a:normAutofit/>
          </a:bodyPr>
          <a:p>
            <a:pPr>
              <a:lnSpc>
                <a:spcPct val="140000"/>
              </a:lnSpc>
            </a:pPr>
            <a:r>
              <a:rPr lang="zh-CN" sz="788">
                <a:solidFill>
                  <a:srgbClr val="5A6072"/>
                </a:solidFill>
                <a:latin typeface="Microsoft YaHei"/>
                <a:ea typeface="Microsoft YaHei"/>
              </a:rPr>
              <a:t>角色爆炸：要区分「只看元数据」和「看原始内容」就得建几千个角色</a:t>
            </a:r>
            <a:endParaRPr/>
          </a:p>
        </p:txBody>
      </p:sp>
      <p:sp>
        <p:nvSpPr>
          <p:cNvPr id="1502" name=""/>
          <p:cNvSpPr/>
          <p:nvPr/>
        </p:nvSpPr>
        <p:spPr>
          <a:xfrm rot="0" flipH="0" flipV="0">
            <a:off x="752475" y="3019425"/>
            <a:ext cx="2428875" cy="590550"/>
          </a:xfrm>
          <a:prstGeom prst="rect">
            <a:avLst/>
          </a:prstGeom>
          <a:solidFill>
            <a:srgbClr val="FFF3EE"/>
          </a:solidFill>
          <a:ln/>
        </p:spPr>
        <p:txBody>
          <a:bodyPr/>
          <a:p/>
        </p:txBody>
      </p:sp>
      <p:sp>
        <p:nvSpPr>
          <p:cNvPr id="1503" name=""/>
          <p:cNvSpPr/>
          <p:nvPr/>
        </p:nvSpPr>
        <p:spPr>
          <a:xfrm rot="0" flipH="0" flipV="0">
            <a:off x="733425" y="3019425"/>
            <a:ext cx="2447925" cy="590550"/>
          </a:xfrm>
          <a:custGeom>
            <a:pathLst>
              <a:path w="257" h="62">
                <a:moveTo>
                  <a:pt x="0" y="0"/>
                </a:moveTo>
                <a:lnTo>
                  <a:pt x="2" y="0"/>
                </a:lnTo>
                <a:lnTo>
                  <a:pt x="2" y="62"/>
                </a:lnTo>
                <a:lnTo>
                  <a:pt x="0" y="62"/>
                </a:lnTo>
                <a:close/>
              </a:path>
            </a:pathLst>
          </a:custGeom>
          <a:solidFill>
            <a:srgbClr val="8A8F99"/>
          </a:solidFill>
          <a:ln/>
        </p:spPr>
        <p:txBody>
          <a:bodyPr/>
          <a:p/>
        </p:txBody>
      </p:sp>
      <p:sp>
        <p:nvSpPr>
          <p:cNvPr id="1504" name="" descr="{&quot;isTemplate&quot;:true,&quot;type&quot;:&quot;text&quot;}"/>
          <p:cNvSpPr txBox="1"/>
          <p:nvPr/>
        </p:nvSpPr>
        <p:spPr>
          <a:xfrm rot="0" flipH="0" flipV="0">
            <a:off x="828675" y="3076575"/>
            <a:ext cx="2257425" cy="114300"/>
          </a:xfrm>
          <a:prstGeom prst="rect"/>
        </p:spPr>
        <p:txBody>
          <a:bodyPr wrap="none" lIns="0" tIns="0" rIns="0" bIns="0"/>
          <a:p>
            <a:pPr>
              <a:lnSpc>
                <a:spcPct val="100000"/>
              </a:lnSpc>
            </a:pPr>
            <a:r>
              <a:rPr lang="zh-CN" sz="750">
                <a:solidFill>
                  <a:srgbClr val="8A8F99"/>
                </a:solidFill>
                <a:latin typeface="Microsoft YaHei"/>
                <a:ea typeface="Microsoft YaHei"/>
              </a:rPr>
              <a:t>在平台里的位置</a:t>
            </a:r>
            <a:endParaRPr/>
          </a:p>
        </p:txBody>
      </p:sp>
      <p:sp>
        <p:nvSpPr>
          <p:cNvPr id="1505" name="" descr="{&quot;isTemplate&quot;:true,&quot;type&quot;:&quot;text&quot;}"/>
          <p:cNvSpPr txBox="1"/>
          <p:nvPr/>
        </p:nvSpPr>
        <p:spPr>
          <a:xfrm rot="0" flipH="0" flipV="0">
            <a:off x="828675" y="3209925"/>
            <a:ext cx="2257425" cy="342900"/>
          </a:xfrm>
          <a:prstGeom prst="rect"/>
        </p:spPr>
        <p:txBody>
          <a:bodyPr wrap="square" lIns="0" tIns="0" rIns="0" bIns="0">
            <a:normAutofit/>
          </a:bodyPr>
          <a:p>
            <a:pPr>
              <a:lnSpc>
                <a:spcPct val="140000"/>
              </a:lnSpc>
            </a:pPr>
            <a:r>
              <a:rPr lang="zh-CN" sz="788">
                <a:solidFill>
                  <a:srgbClr val="3A4050"/>
                </a:solidFill>
                <a:latin typeface="Microsoft YaHei"/>
                <a:ea typeface="Microsoft YaHei"/>
              </a:rPr>
              <a:t>只用于管理功能权限，比如能不能编辑，不能用于数据可见性</a:t>
            </a:r>
            <a:endParaRPr/>
          </a:p>
        </p:txBody>
      </p:sp>
      <p:sp>
        <p:nvSpPr>
          <p:cNvPr id="1506" name=""/>
          <p:cNvSpPr/>
          <p:nvPr/>
        </p:nvSpPr>
        <p:spPr>
          <a:xfrm rot="0" flipH="0" flipV="0">
            <a:off x="3371850" y="1285875"/>
            <a:ext cx="2686050" cy="2419350"/>
          </a:xfrm>
          <a:prstGeom prst="roundRect">
            <a:avLst>
              <a:gd name="adj" fmla="val 1575"/>
            </a:avLst>
          </a:prstGeom>
          <a:solidFill>
            <a:srgbClr val="F7F7F8"/>
          </a:solidFill>
          <a:ln/>
        </p:spPr>
        <p:txBody>
          <a:bodyPr/>
          <a:p/>
        </p:txBody>
      </p:sp>
      <p:sp>
        <p:nvSpPr>
          <p:cNvPr id="1507" name=""/>
          <p:cNvSpPr/>
          <p:nvPr/>
        </p:nvSpPr>
        <p:spPr>
          <a:xfrm rot="0" flipH="0" flipV="0">
            <a:off x="3371850" y="1285875"/>
            <a:ext cx="2686050" cy="514350"/>
          </a:xfrm>
          <a:prstGeom prst="rect">
            <a:avLst/>
          </a:prstGeom>
          <a:solidFill>
            <a:srgbClr val="FA4F24"/>
          </a:solidFill>
          <a:ln/>
        </p:spPr>
        <p:txBody>
          <a:bodyPr/>
          <a:p/>
        </p:txBody>
      </p:sp>
      <p:sp>
        <p:nvSpPr>
          <p:cNvPr id="1508" name="" descr="{&quot;isTemplate&quot;:true,&quot;type&quot;:&quot;text&quot;}"/>
          <p:cNvSpPr txBox="1"/>
          <p:nvPr/>
        </p:nvSpPr>
        <p:spPr>
          <a:xfrm rot="0" flipH="0" flipV="0">
            <a:off x="3495675" y="1447800"/>
            <a:ext cx="2438400" cy="200025"/>
          </a:xfrm>
          <a:prstGeom prst="rect"/>
        </p:spPr>
        <p:txBody>
          <a:bodyPr wrap="none" lIns="0" tIns="0" rIns="0" bIns="0"/>
          <a:p>
            <a:pPr>
              <a:lnSpc>
                <a:spcPct val="100000"/>
              </a:lnSpc>
            </a:pPr>
            <a:r>
              <a:rPr lang="en-US" sz="1275" b="1">
                <a:solidFill>
                  <a:srgbClr val="FFFFFF"/>
                </a:solidFill>
                <a:latin typeface="Microsoft YaHei"/>
                <a:ea typeface="Microsoft YaHei"/>
              </a:rPr>
              <a:t>MAC</a:t>
            </a:r>
            <a:endParaRPr/>
          </a:p>
        </p:txBody>
      </p:sp>
      <p:sp>
        <p:nvSpPr>
          <p:cNvPr id="1509" name="" descr="{&quot;isTemplate&quot;:true,&quot;type&quot;:&quot;text&quot;}"/>
          <p:cNvSpPr txBox="1"/>
          <p:nvPr/>
        </p:nvSpPr>
        <p:spPr>
          <a:xfrm rot="0" flipH="0" flipV="0">
            <a:off x="3495675" y="1895475"/>
            <a:ext cx="2438400" cy="161925"/>
          </a:xfrm>
          <a:prstGeom prst="rect"/>
        </p:spPr>
        <p:txBody>
          <a:bodyPr wrap="none" lIns="0" tIns="0" rIns="0" bIns="0"/>
          <a:p>
            <a:pPr>
              <a:lnSpc>
                <a:spcPct val="100000"/>
              </a:lnSpc>
            </a:pPr>
            <a:r>
              <a:rPr lang="zh-CN" sz="1013" b="1">
                <a:solidFill>
                  <a:srgbClr val="FA4F24"/>
                </a:solidFill>
                <a:latin typeface="Microsoft YaHei"/>
                <a:ea typeface="Microsoft YaHei"/>
              </a:rPr>
              <a:t>基于标记（强制）</a:t>
            </a:r>
            <a:endParaRPr/>
          </a:p>
        </p:txBody>
      </p:sp>
      <p:sp>
        <p:nvSpPr>
          <p:cNvPr id="1510" name=""/>
          <p:cNvSpPr/>
          <p:nvPr/>
        </p:nvSpPr>
        <p:spPr>
          <a:xfrm rot="0" flipH="0" flipV="0">
            <a:off x="3495675" y="2124075"/>
            <a:ext cx="2438400" cy="285750"/>
          </a:xfrm>
          <a:prstGeom prst="roundRect">
            <a:avLst>
              <a:gd name="adj" fmla="val 10000"/>
            </a:avLst>
          </a:prstGeom>
          <a:solidFill>
            <a:srgbClr val="FFFFFF"/>
          </a:solidFill>
          <a:ln/>
        </p:spPr>
        <p:txBody>
          <a:bodyPr/>
          <a:p/>
        </p:txBody>
      </p:sp>
      <p:sp>
        <p:nvSpPr>
          <p:cNvPr id="1511" name="" descr="{&quot;isTemplate&quot;:true,&quot;type&quot;:&quot;text&quot;}"/>
          <p:cNvSpPr txBox="1"/>
          <p:nvPr/>
        </p:nvSpPr>
        <p:spPr>
          <a:xfrm rot="0" flipH="0" flipV="0">
            <a:off x="3571875" y="2181225"/>
            <a:ext cx="2286000" cy="171450"/>
          </a:xfrm>
          <a:prstGeom prst="rect"/>
        </p:spPr>
        <p:txBody>
          <a:bodyPr wrap="none" lIns="0" tIns="0" rIns="0" bIns="0"/>
          <a:p>
            <a:pPr>
              <a:lnSpc>
                <a:spcPct val="140000"/>
              </a:lnSpc>
            </a:pPr>
            <a:r>
              <a:rPr lang="zh-CN" sz="788">
                <a:solidFill>
                  <a:srgbClr val="0F1423"/>
                </a:solidFill>
                <a:latin typeface="Microsoft YaHei"/>
                <a:ea typeface="Microsoft YaHei"/>
              </a:rPr>
              <a:t>「数据标为机密，用户必须有机密许可」</a:t>
            </a:r>
            <a:endParaRPr/>
          </a:p>
        </p:txBody>
      </p:sp>
      <p:sp>
        <p:nvSpPr>
          <p:cNvPr id="1512" name="" descr="{&quot;isTemplate&quot;:true,&quot;type&quot;:&quot;text&quot;}"/>
          <p:cNvSpPr txBox="1"/>
          <p:nvPr/>
        </p:nvSpPr>
        <p:spPr>
          <a:xfrm rot="0" flipH="0" flipV="0">
            <a:off x="3495675" y="2486025"/>
            <a:ext cx="2438400" cy="114300"/>
          </a:xfrm>
          <a:prstGeom prst="rect"/>
        </p:spPr>
        <p:txBody>
          <a:bodyPr wrap="none" lIns="0" tIns="0" rIns="0" bIns="0"/>
          <a:p>
            <a:pPr>
              <a:lnSpc>
                <a:spcPct val="100000"/>
              </a:lnSpc>
            </a:pPr>
            <a:r>
              <a:rPr lang="zh-CN" sz="750">
                <a:solidFill>
                  <a:srgbClr val="8A8F99"/>
                </a:solidFill>
                <a:latin typeface="Microsoft YaHei"/>
                <a:ea typeface="Microsoft YaHei"/>
              </a:rPr>
              <a:t>典型局限</a:t>
            </a:r>
            <a:endParaRPr/>
          </a:p>
        </p:txBody>
      </p:sp>
      <p:sp>
        <p:nvSpPr>
          <p:cNvPr id="1513" name="" descr="{&quot;isTemplate&quot;:true,&quot;type&quot;:&quot;text&quot;}"/>
          <p:cNvSpPr txBox="1"/>
          <p:nvPr/>
        </p:nvSpPr>
        <p:spPr>
          <a:xfrm rot="0" flipH="0" flipV="0">
            <a:off x="3495675" y="2619375"/>
            <a:ext cx="2438400" cy="342900"/>
          </a:xfrm>
          <a:prstGeom prst="rect"/>
        </p:spPr>
        <p:txBody>
          <a:bodyPr wrap="square" lIns="0" tIns="0" rIns="0" bIns="0">
            <a:normAutofit/>
          </a:bodyPr>
          <a:p>
            <a:pPr>
              <a:lnSpc>
                <a:spcPct val="140000"/>
              </a:lnSpc>
            </a:pPr>
            <a:r>
              <a:rPr lang="zh-CN" sz="788">
                <a:solidFill>
                  <a:srgbClr val="5A6072"/>
                </a:solidFill>
                <a:latin typeface="Microsoft YaHei"/>
                <a:ea typeface="Microsoft YaHei"/>
              </a:rPr>
              <a:t>传统只处理密级等级，难以处理隐私、行动代号这类横向标签</a:t>
            </a:r>
            <a:endParaRPr/>
          </a:p>
        </p:txBody>
      </p:sp>
      <p:sp>
        <p:nvSpPr>
          <p:cNvPr id="1514" name=""/>
          <p:cNvSpPr/>
          <p:nvPr/>
        </p:nvSpPr>
        <p:spPr>
          <a:xfrm rot="0" flipH="0" flipV="0">
            <a:off x="3514725" y="3019425"/>
            <a:ext cx="2438400" cy="590550"/>
          </a:xfrm>
          <a:prstGeom prst="rect">
            <a:avLst/>
          </a:prstGeom>
          <a:solidFill>
            <a:srgbClr val="FFF3EE"/>
          </a:solidFill>
          <a:ln/>
        </p:spPr>
        <p:txBody>
          <a:bodyPr/>
          <a:p/>
        </p:txBody>
      </p:sp>
      <p:sp>
        <p:nvSpPr>
          <p:cNvPr id="1515" name=""/>
          <p:cNvSpPr/>
          <p:nvPr/>
        </p:nvSpPr>
        <p:spPr>
          <a:xfrm rot="0" flipH="0" flipV="0">
            <a:off x="3495675" y="3019425"/>
            <a:ext cx="2457450" cy="590550"/>
          </a:xfrm>
          <a:custGeom>
            <a:pathLst>
              <a:path w="258" h="62">
                <a:moveTo>
                  <a:pt x="0" y="0"/>
                </a:moveTo>
                <a:lnTo>
                  <a:pt x="2" y="0"/>
                </a:lnTo>
                <a:lnTo>
                  <a:pt x="2" y="62"/>
                </a:lnTo>
                <a:lnTo>
                  <a:pt x="0" y="62"/>
                </a:lnTo>
                <a:close/>
              </a:path>
            </a:pathLst>
          </a:custGeom>
          <a:solidFill>
            <a:srgbClr val="FA4F24"/>
          </a:solidFill>
          <a:ln/>
        </p:spPr>
        <p:txBody>
          <a:bodyPr/>
          <a:p/>
        </p:txBody>
      </p:sp>
      <p:sp>
        <p:nvSpPr>
          <p:cNvPr id="1516" name="" descr="{&quot;isTemplate&quot;:true,&quot;type&quot;:&quot;text&quot;}"/>
          <p:cNvSpPr txBox="1"/>
          <p:nvPr/>
        </p:nvSpPr>
        <p:spPr>
          <a:xfrm rot="0" flipH="0" flipV="0">
            <a:off x="3590925" y="3076575"/>
            <a:ext cx="2266950" cy="114300"/>
          </a:xfrm>
          <a:prstGeom prst="rect"/>
        </p:spPr>
        <p:txBody>
          <a:bodyPr wrap="none" lIns="0" tIns="0" rIns="0" bIns="0"/>
          <a:p>
            <a:pPr>
              <a:lnSpc>
                <a:spcPct val="100000"/>
              </a:lnSpc>
            </a:pPr>
            <a:r>
              <a:rPr lang="zh-CN" sz="750">
                <a:solidFill>
                  <a:srgbClr val="FA4F24"/>
                </a:solidFill>
                <a:latin typeface="Microsoft YaHei"/>
                <a:ea typeface="Microsoft YaHei"/>
              </a:rPr>
              <a:t>在平台里的位置</a:t>
            </a:r>
            <a:endParaRPr/>
          </a:p>
        </p:txBody>
      </p:sp>
      <p:sp>
        <p:nvSpPr>
          <p:cNvPr id="1517" name="" descr="{&quot;isTemplate&quot;:true,&quot;type&quot;:&quot;text&quot;}"/>
          <p:cNvSpPr txBox="1"/>
          <p:nvPr/>
        </p:nvSpPr>
        <p:spPr>
          <a:xfrm rot="0" flipH="0" flipV="0">
            <a:off x="3590925" y="3209925"/>
            <a:ext cx="2266950" cy="342900"/>
          </a:xfrm>
          <a:prstGeom prst="rect"/>
        </p:spPr>
        <p:txBody>
          <a:bodyPr wrap="square" lIns="0" tIns="0" rIns="0" bIns="0">
            <a:normAutofit/>
          </a:bodyPr>
          <a:p>
            <a:pPr>
              <a:lnSpc>
                <a:spcPct val="140000"/>
              </a:lnSpc>
            </a:pPr>
            <a:r>
              <a:rPr lang="zh-CN" sz="788">
                <a:solidFill>
                  <a:srgbClr val="3A4050"/>
                </a:solidFill>
                <a:latin typeface="Microsoft YaHei"/>
                <a:ea typeface="Microsoft YaHei"/>
              </a:rPr>
              <a:t>支持多维标签组合：个人身份信息</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机密</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行动受限</a:t>
            </a:r>
            <a:endParaRPr/>
          </a:p>
        </p:txBody>
      </p:sp>
      <p:sp>
        <p:nvSpPr>
          <p:cNvPr id="1518" name=""/>
          <p:cNvSpPr/>
          <p:nvPr/>
        </p:nvSpPr>
        <p:spPr>
          <a:xfrm rot="0" flipH="0" flipV="0">
            <a:off x="6143625" y="1285875"/>
            <a:ext cx="2676525" cy="2419350"/>
          </a:xfrm>
          <a:prstGeom prst="roundRect">
            <a:avLst>
              <a:gd name="adj" fmla="val 1575"/>
            </a:avLst>
          </a:prstGeom>
          <a:solidFill>
            <a:srgbClr val="F7F7F8"/>
          </a:solidFill>
          <a:ln/>
        </p:spPr>
        <p:txBody>
          <a:bodyPr/>
          <a:p/>
        </p:txBody>
      </p:sp>
      <p:sp>
        <p:nvSpPr>
          <p:cNvPr id="1519" name=""/>
          <p:cNvSpPr/>
          <p:nvPr/>
        </p:nvSpPr>
        <p:spPr>
          <a:xfrm rot="0" flipH="0" flipV="0">
            <a:off x="6143625" y="1285875"/>
            <a:ext cx="2676525" cy="514350"/>
          </a:xfrm>
          <a:prstGeom prst="rect">
            <a:avLst/>
          </a:prstGeom>
          <a:solidFill>
            <a:srgbClr val="F87D2F"/>
          </a:solidFill>
          <a:ln/>
        </p:spPr>
        <p:txBody>
          <a:bodyPr/>
          <a:p/>
        </p:txBody>
      </p:sp>
      <p:sp>
        <p:nvSpPr>
          <p:cNvPr id="1520" name="" descr="{&quot;isTemplate&quot;:true,&quot;type&quot;:&quot;text&quot;}"/>
          <p:cNvSpPr txBox="1"/>
          <p:nvPr/>
        </p:nvSpPr>
        <p:spPr>
          <a:xfrm rot="0" flipH="0" flipV="0">
            <a:off x="6267450" y="1447800"/>
            <a:ext cx="2428875" cy="200025"/>
          </a:xfrm>
          <a:prstGeom prst="rect"/>
        </p:spPr>
        <p:txBody>
          <a:bodyPr wrap="none" lIns="0" tIns="0" rIns="0" bIns="0"/>
          <a:p>
            <a:pPr>
              <a:lnSpc>
                <a:spcPct val="100000"/>
              </a:lnSpc>
            </a:pPr>
            <a:r>
              <a:rPr lang="en-US" sz="1275" b="1">
                <a:solidFill>
                  <a:srgbClr val="FFFFFF"/>
                </a:solidFill>
                <a:latin typeface="Microsoft YaHei"/>
                <a:ea typeface="Microsoft YaHei"/>
              </a:rPr>
              <a:t>ABAC</a:t>
            </a:r>
            <a:endParaRPr/>
          </a:p>
        </p:txBody>
      </p:sp>
      <p:sp>
        <p:nvSpPr>
          <p:cNvPr id="1521" name="" descr="{&quot;isTemplate&quot;:true,&quot;type&quot;:&quot;text&quot;}"/>
          <p:cNvSpPr txBox="1"/>
          <p:nvPr/>
        </p:nvSpPr>
        <p:spPr>
          <a:xfrm rot="0" flipH="0" flipV="0">
            <a:off x="6267450" y="1895475"/>
            <a:ext cx="2428875" cy="161925"/>
          </a:xfrm>
          <a:prstGeom prst="rect"/>
        </p:spPr>
        <p:txBody>
          <a:bodyPr wrap="none" lIns="0" tIns="0" rIns="0" bIns="0"/>
          <a:p>
            <a:pPr>
              <a:lnSpc>
                <a:spcPct val="100000"/>
              </a:lnSpc>
            </a:pPr>
            <a:r>
              <a:rPr lang="zh-CN" sz="1013" b="1">
                <a:solidFill>
                  <a:srgbClr val="F87D2F"/>
                </a:solidFill>
                <a:latin typeface="Microsoft YaHei"/>
                <a:ea typeface="Microsoft YaHei"/>
              </a:rPr>
              <a:t>基于属性</a:t>
            </a:r>
            <a:endParaRPr/>
          </a:p>
        </p:txBody>
      </p:sp>
      <p:sp>
        <p:nvSpPr>
          <p:cNvPr id="1522" name=""/>
          <p:cNvSpPr/>
          <p:nvPr/>
        </p:nvSpPr>
        <p:spPr>
          <a:xfrm rot="0" flipH="0" flipV="0">
            <a:off x="6267450" y="2124075"/>
            <a:ext cx="2428875" cy="457200"/>
          </a:xfrm>
          <a:prstGeom prst="roundRect">
            <a:avLst>
              <a:gd name="adj" fmla="val 6250"/>
            </a:avLst>
          </a:prstGeom>
          <a:solidFill>
            <a:srgbClr val="FFFFFF"/>
          </a:solidFill>
          <a:ln/>
        </p:spPr>
        <p:txBody>
          <a:bodyPr/>
          <a:p/>
        </p:txBody>
      </p:sp>
      <p:sp>
        <p:nvSpPr>
          <p:cNvPr id="1523" name="" descr="{&quot;isTemplate&quot;:true,&quot;type&quot;:&quot;text&quot;}"/>
          <p:cNvSpPr txBox="1"/>
          <p:nvPr/>
        </p:nvSpPr>
        <p:spPr>
          <a:xfrm rot="0" flipH="0" flipV="0">
            <a:off x="6343650" y="2181225"/>
            <a:ext cx="2276475" cy="342900"/>
          </a:xfrm>
          <a:prstGeom prst="rect"/>
        </p:spPr>
        <p:txBody>
          <a:bodyPr wrap="square" lIns="0" tIns="0" rIns="0" bIns="0">
            <a:normAutofit/>
          </a:bodyPr>
          <a:p>
            <a:pPr>
              <a:lnSpc>
                <a:spcPct val="140000"/>
              </a:lnSpc>
            </a:pPr>
            <a:r>
              <a:rPr lang="zh-CN" sz="788">
                <a:solidFill>
                  <a:srgbClr val="0F1423"/>
                </a:solidFill>
                <a:latin typeface="Microsoft YaHei"/>
                <a:ea typeface="Microsoft YaHei"/>
              </a:rPr>
              <a:t>「如果你所属区域等于数据产生区域，则允许访问」</a:t>
            </a:r>
            <a:endParaRPr/>
          </a:p>
        </p:txBody>
      </p:sp>
      <p:sp>
        <p:nvSpPr>
          <p:cNvPr id="1524" name="" descr="{&quot;isTemplate&quot;:true,&quot;type&quot;:&quot;text&quot;}"/>
          <p:cNvSpPr txBox="1"/>
          <p:nvPr/>
        </p:nvSpPr>
        <p:spPr>
          <a:xfrm rot="0" flipH="0" flipV="0">
            <a:off x="6267450" y="2657475"/>
            <a:ext cx="2428875" cy="114300"/>
          </a:xfrm>
          <a:prstGeom prst="rect"/>
        </p:spPr>
        <p:txBody>
          <a:bodyPr wrap="none" lIns="0" tIns="0" rIns="0" bIns="0"/>
          <a:p>
            <a:pPr>
              <a:lnSpc>
                <a:spcPct val="100000"/>
              </a:lnSpc>
            </a:pPr>
            <a:r>
              <a:rPr lang="zh-CN" sz="750">
                <a:solidFill>
                  <a:srgbClr val="8A8F99"/>
                </a:solidFill>
                <a:latin typeface="Microsoft YaHei"/>
                <a:ea typeface="Microsoft YaHei"/>
              </a:rPr>
              <a:t>典型局限</a:t>
            </a:r>
            <a:endParaRPr/>
          </a:p>
        </p:txBody>
      </p:sp>
      <p:sp>
        <p:nvSpPr>
          <p:cNvPr id="1525" name="" descr="{&quot;isTemplate&quot;:true,&quot;type&quot;:&quot;text&quot;}"/>
          <p:cNvSpPr txBox="1"/>
          <p:nvPr/>
        </p:nvSpPr>
        <p:spPr>
          <a:xfrm rot="0" flipH="0" flipV="0">
            <a:off x="6267450" y="2790825"/>
            <a:ext cx="2428875" cy="342900"/>
          </a:xfrm>
          <a:prstGeom prst="rect"/>
        </p:spPr>
        <p:txBody>
          <a:bodyPr wrap="square" lIns="0" tIns="0" rIns="0" bIns="0">
            <a:normAutofit/>
          </a:bodyPr>
          <a:p>
            <a:pPr>
              <a:lnSpc>
                <a:spcPct val="140000"/>
              </a:lnSpc>
            </a:pPr>
            <a:r>
              <a:rPr lang="zh-CN" sz="788">
                <a:solidFill>
                  <a:srgbClr val="5A6072"/>
                </a:solidFill>
                <a:latin typeface="Microsoft YaHei"/>
                <a:ea typeface="Microsoft YaHei"/>
              </a:rPr>
              <a:t>实施复杂，需要策略引擎实时算，且难以在关系图里直观表达</a:t>
            </a:r>
            <a:endParaRPr/>
          </a:p>
        </p:txBody>
      </p:sp>
      <p:sp>
        <p:nvSpPr>
          <p:cNvPr id="1526" name=""/>
          <p:cNvSpPr/>
          <p:nvPr/>
        </p:nvSpPr>
        <p:spPr>
          <a:xfrm rot="0" flipH="0" flipV="0">
            <a:off x="6286500" y="3190875"/>
            <a:ext cx="2428875" cy="419100"/>
          </a:xfrm>
          <a:prstGeom prst="rect">
            <a:avLst/>
          </a:prstGeom>
          <a:solidFill>
            <a:srgbClr val="FFF3EE"/>
          </a:solidFill>
          <a:ln/>
        </p:spPr>
        <p:txBody>
          <a:bodyPr/>
          <a:p/>
        </p:txBody>
      </p:sp>
      <p:sp>
        <p:nvSpPr>
          <p:cNvPr id="1527" name=""/>
          <p:cNvSpPr/>
          <p:nvPr/>
        </p:nvSpPr>
        <p:spPr>
          <a:xfrm rot="0" flipH="0" flipV="0">
            <a:off x="6267450" y="3190875"/>
            <a:ext cx="2447925" cy="419100"/>
          </a:xfrm>
          <a:custGeom>
            <a:pathLst>
              <a:path w="257" h="44">
                <a:moveTo>
                  <a:pt x="0" y="0"/>
                </a:moveTo>
                <a:lnTo>
                  <a:pt x="2" y="0"/>
                </a:lnTo>
                <a:lnTo>
                  <a:pt x="2" y="44"/>
                </a:lnTo>
                <a:lnTo>
                  <a:pt x="0" y="44"/>
                </a:lnTo>
                <a:close/>
              </a:path>
            </a:pathLst>
          </a:custGeom>
          <a:solidFill>
            <a:srgbClr val="F87D2F"/>
          </a:solidFill>
          <a:ln/>
        </p:spPr>
        <p:txBody>
          <a:bodyPr/>
          <a:p/>
        </p:txBody>
      </p:sp>
      <p:sp>
        <p:nvSpPr>
          <p:cNvPr id="1528" name="" descr="{&quot;isTemplate&quot;:true,&quot;type&quot;:&quot;text&quot;}"/>
          <p:cNvSpPr txBox="1"/>
          <p:nvPr/>
        </p:nvSpPr>
        <p:spPr>
          <a:xfrm rot="0" flipH="0" flipV="0">
            <a:off x="6362700" y="3248025"/>
            <a:ext cx="2257425" cy="114300"/>
          </a:xfrm>
          <a:prstGeom prst="rect"/>
        </p:spPr>
        <p:txBody>
          <a:bodyPr wrap="none" lIns="0" tIns="0" rIns="0" bIns="0"/>
          <a:p>
            <a:pPr>
              <a:lnSpc>
                <a:spcPct val="100000"/>
              </a:lnSpc>
            </a:pPr>
            <a:r>
              <a:rPr lang="zh-CN" sz="750">
                <a:solidFill>
                  <a:srgbClr val="F87D2F"/>
                </a:solidFill>
                <a:latin typeface="Microsoft YaHei"/>
                <a:ea typeface="Microsoft YaHei"/>
              </a:rPr>
              <a:t>在平台里的位置</a:t>
            </a:r>
            <a:endParaRPr/>
          </a:p>
        </p:txBody>
      </p:sp>
      <p:sp>
        <p:nvSpPr>
          <p:cNvPr id="1529" name="" descr="{&quot;isTemplate&quot;:true,&quot;type&quot;:&quot;text&quot;}"/>
          <p:cNvSpPr txBox="1"/>
          <p:nvPr/>
        </p:nvSpPr>
        <p:spPr>
          <a:xfrm rot="0" flipH="0" flipV="0">
            <a:off x="6362700" y="3381375"/>
            <a:ext cx="2257425" cy="171450"/>
          </a:xfrm>
          <a:prstGeom prst="rect"/>
        </p:spPr>
        <p:txBody>
          <a:bodyPr wrap="none" lIns="0" tIns="0" rIns="0" bIns="0"/>
          <a:p>
            <a:pPr>
              <a:lnSpc>
                <a:spcPct val="140000"/>
              </a:lnSpc>
            </a:pPr>
            <a:r>
              <a:rPr lang="zh-CN" sz="788">
                <a:solidFill>
                  <a:srgbClr val="3A4050"/>
                </a:solidFill>
                <a:latin typeface="Microsoft YaHei"/>
                <a:ea typeface="Microsoft YaHei"/>
              </a:rPr>
              <a:t>行级动态判定，受限视图与细粒度策略都用它</a:t>
            </a:r>
            <a:endParaRPr/>
          </a:p>
        </p:txBody>
      </p:sp>
      <p:sp>
        <p:nvSpPr>
          <p:cNvPr id="1530" name=""/>
          <p:cNvSpPr/>
          <p:nvPr/>
        </p:nvSpPr>
        <p:spPr>
          <a:xfrm rot="0" flipH="0" flipV="0">
            <a:off x="8905875" y="1285875"/>
            <a:ext cx="2676525" cy="2419350"/>
          </a:xfrm>
          <a:prstGeom prst="roundRect">
            <a:avLst>
              <a:gd name="adj" fmla="val 1575"/>
            </a:avLst>
          </a:prstGeom>
          <a:solidFill>
            <a:srgbClr val="F7F7F8"/>
          </a:solidFill>
          <a:ln/>
        </p:spPr>
        <p:txBody>
          <a:bodyPr/>
          <a:p/>
        </p:txBody>
      </p:sp>
      <p:sp>
        <p:nvSpPr>
          <p:cNvPr id="1531" name=""/>
          <p:cNvSpPr/>
          <p:nvPr/>
        </p:nvSpPr>
        <p:spPr>
          <a:xfrm rot="0" flipH="0" flipV="0">
            <a:off x="8905875" y="1285875"/>
            <a:ext cx="2676525" cy="514350"/>
          </a:xfrm>
          <a:prstGeom prst="rect">
            <a:avLst/>
          </a:prstGeom>
          <a:solidFill>
            <a:srgbClr val="E0651A"/>
          </a:solidFill>
          <a:ln/>
        </p:spPr>
        <p:txBody>
          <a:bodyPr/>
          <a:p/>
        </p:txBody>
      </p:sp>
      <p:sp>
        <p:nvSpPr>
          <p:cNvPr id="1532" name="" descr="{&quot;isTemplate&quot;:true,&quot;type&quot;:&quot;text&quot;}"/>
          <p:cNvSpPr txBox="1"/>
          <p:nvPr/>
        </p:nvSpPr>
        <p:spPr>
          <a:xfrm rot="0" flipH="0" flipV="0">
            <a:off x="9029700" y="1447800"/>
            <a:ext cx="2428875" cy="200025"/>
          </a:xfrm>
          <a:prstGeom prst="rect"/>
        </p:spPr>
        <p:txBody>
          <a:bodyPr wrap="none" lIns="0" tIns="0" rIns="0" bIns="0"/>
          <a:p>
            <a:pPr>
              <a:lnSpc>
                <a:spcPct val="100000"/>
              </a:lnSpc>
            </a:pPr>
            <a:r>
              <a:rPr lang="en-US" sz="1275" b="1">
                <a:solidFill>
                  <a:srgbClr val="FFFFFF"/>
                </a:solidFill>
                <a:latin typeface="Microsoft YaHei"/>
                <a:ea typeface="Microsoft YaHei"/>
              </a:rPr>
              <a:t>PBAC</a:t>
            </a:r>
            <a:endParaRPr/>
          </a:p>
        </p:txBody>
      </p:sp>
      <p:sp>
        <p:nvSpPr>
          <p:cNvPr id="1533" name="" descr="{&quot;isTemplate&quot;:true,&quot;type&quot;:&quot;text&quot;}"/>
          <p:cNvSpPr txBox="1"/>
          <p:nvPr/>
        </p:nvSpPr>
        <p:spPr>
          <a:xfrm rot="0" flipH="0" flipV="0">
            <a:off x="9029700" y="1895475"/>
            <a:ext cx="2428875" cy="161925"/>
          </a:xfrm>
          <a:prstGeom prst="rect"/>
        </p:spPr>
        <p:txBody>
          <a:bodyPr wrap="none" lIns="0" tIns="0" rIns="0" bIns="0"/>
          <a:p>
            <a:pPr>
              <a:lnSpc>
                <a:spcPct val="100000"/>
              </a:lnSpc>
            </a:pPr>
            <a:r>
              <a:rPr lang="zh-CN" sz="1013" b="1">
                <a:solidFill>
                  <a:srgbClr val="E0651A"/>
                </a:solidFill>
                <a:latin typeface="Microsoft YaHei"/>
                <a:ea typeface="Microsoft YaHei"/>
              </a:rPr>
              <a:t>基于用途</a:t>
            </a:r>
            <a:endParaRPr/>
          </a:p>
        </p:txBody>
      </p:sp>
      <p:sp>
        <p:nvSpPr>
          <p:cNvPr id="1534" name=""/>
          <p:cNvSpPr/>
          <p:nvPr/>
        </p:nvSpPr>
        <p:spPr>
          <a:xfrm rot="0" flipH="0" flipV="0">
            <a:off x="9029700" y="2124075"/>
            <a:ext cx="2428875" cy="285750"/>
          </a:xfrm>
          <a:prstGeom prst="roundRect">
            <a:avLst>
              <a:gd name="adj" fmla="val 10000"/>
            </a:avLst>
          </a:prstGeom>
          <a:solidFill>
            <a:srgbClr val="FFFFFF"/>
          </a:solidFill>
          <a:ln/>
        </p:spPr>
        <p:txBody>
          <a:bodyPr/>
          <a:p/>
        </p:txBody>
      </p:sp>
      <p:sp>
        <p:nvSpPr>
          <p:cNvPr id="1535" name="" descr="{&quot;isTemplate&quot;:true,&quot;type&quot;:&quot;text&quot;}"/>
          <p:cNvSpPr txBox="1"/>
          <p:nvPr/>
        </p:nvSpPr>
        <p:spPr>
          <a:xfrm rot="0" flipH="0" flipV="0">
            <a:off x="9105900" y="2181225"/>
            <a:ext cx="2276475" cy="171450"/>
          </a:xfrm>
          <a:prstGeom prst="rect"/>
        </p:spPr>
        <p:txBody>
          <a:bodyPr wrap="none" lIns="0" tIns="0" rIns="0" bIns="0"/>
          <a:p>
            <a:pPr>
              <a:lnSpc>
                <a:spcPct val="140000"/>
              </a:lnSpc>
            </a:pPr>
            <a:r>
              <a:rPr lang="zh-CN" sz="788">
                <a:solidFill>
                  <a:srgbClr val="0F1423"/>
                </a:solidFill>
                <a:latin typeface="Microsoft YaHei"/>
                <a:ea typeface="Microsoft YaHei"/>
              </a:rPr>
              <a:t>「你有权限，但必须声明是为了什么才访问」</a:t>
            </a:r>
            <a:endParaRPr/>
          </a:p>
        </p:txBody>
      </p:sp>
      <p:sp>
        <p:nvSpPr>
          <p:cNvPr id="1536" name="" descr="{&quot;isTemplate&quot;:true,&quot;type&quot;:&quot;text&quot;}"/>
          <p:cNvSpPr txBox="1"/>
          <p:nvPr/>
        </p:nvSpPr>
        <p:spPr>
          <a:xfrm rot="0" flipH="0" flipV="0">
            <a:off x="9029700" y="2571750"/>
            <a:ext cx="2428875" cy="114300"/>
          </a:xfrm>
          <a:prstGeom prst="rect"/>
        </p:spPr>
        <p:txBody>
          <a:bodyPr wrap="none" lIns="0" tIns="0" rIns="0" bIns="0"/>
          <a:p>
            <a:pPr>
              <a:lnSpc>
                <a:spcPct val="100000"/>
              </a:lnSpc>
            </a:pPr>
            <a:r>
              <a:rPr lang="zh-CN" sz="750">
                <a:solidFill>
                  <a:srgbClr val="8A8F99"/>
                </a:solidFill>
                <a:latin typeface="Microsoft YaHei"/>
                <a:ea typeface="Microsoft YaHei"/>
              </a:rPr>
              <a:t>典型局限</a:t>
            </a:r>
            <a:endParaRPr/>
          </a:p>
        </p:txBody>
      </p:sp>
      <p:sp>
        <p:nvSpPr>
          <p:cNvPr id="1537" name="" descr="{&quot;isTemplate&quot;:true,&quot;type&quot;:&quot;text&quot;}"/>
          <p:cNvSpPr txBox="1"/>
          <p:nvPr/>
        </p:nvSpPr>
        <p:spPr>
          <a:xfrm rot="0" flipH="0" flipV="0">
            <a:off x="9029700" y="2705100"/>
            <a:ext cx="2428875" cy="342900"/>
          </a:xfrm>
          <a:prstGeom prst="rect"/>
        </p:spPr>
        <p:txBody>
          <a:bodyPr wrap="square" lIns="0" tIns="0" rIns="0" bIns="0">
            <a:normAutofit/>
          </a:bodyPr>
          <a:p>
            <a:pPr>
              <a:lnSpc>
                <a:spcPct val="140000"/>
              </a:lnSpc>
            </a:pPr>
            <a:r>
              <a:rPr lang="zh-CN" sz="788">
                <a:solidFill>
                  <a:srgbClr val="5A6072"/>
                </a:solidFill>
                <a:latin typeface="Microsoft YaHei"/>
                <a:ea typeface="Microsoft YaHei"/>
              </a:rPr>
              <a:t>传统系统基本只有资格校验，没有动机校验，内部滥用无从发现</a:t>
            </a:r>
            <a:endParaRPr/>
          </a:p>
        </p:txBody>
      </p:sp>
      <p:sp>
        <p:nvSpPr>
          <p:cNvPr id="1538" name=""/>
          <p:cNvSpPr/>
          <p:nvPr/>
        </p:nvSpPr>
        <p:spPr>
          <a:xfrm rot="0" flipH="0" flipV="0">
            <a:off x="9048750" y="3190875"/>
            <a:ext cx="2428875" cy="419100"/>
          </a:xfrm>
          <a:prstGeom prst="rect">
            <a:avLst/>
          </a:prstGeom>
          <a:solidFill>
            <a:srgbClr val="FFF3EE"/>
          </a:solidFill>
          <a:ln/>
        </p:spPr>
        <p:txBody>
          <a:bodyPr/>
          <a:p/>
        </p:txBody>
      </p:sp>
      <p:sp>
        <p:nvSpPr>
          <p:cNvPr id="1539" name=""/>
          <p:cNvSpPr/>
          <p:nvPr/>
        </p:nvSpPr>
        <p:spPr>
          <a:xfrm rot="0" flipH="0" flipV="0">
            <a:off x="9029700" y="3190875"/>
            <a:ext cx="2447925" cy="419100"/>
          </a:xfrm>
          <a:custGeom>
            <a:pathLst>
              <a:path w="257" h="44">
                <a:moveTo>
                  <a:pt x="0" y="0"/>
                </a:moveTo>
                <a:lnTo>
                  <a:pt x="2" y="0"/>
                </a:lnTo>
                <a:lnTo>
                  <a:pt x="2" y="44"/>
                </a:lnTo>
                <a:lnTo>
                  <a:pt x="0" y="44"/>
                </a:lnTo>
                <a:close/>
              </a:path>
            </a:pathLst>
          </a:custGeom>
          <a:solidFill>
            <a:srgbClr val="E0651A"/>
          </a:solidFill>
          <a:ln/>
        </p:spPr>
        <p:txBody>
          <a:bodyPr/>
          <a:p/>
        </p:txBody>
      </p:sp>
      <p:sp>
        <p:nvSpPr>
          <p:cNvPr id="1540" name="" descr="{&quot;isTemplate&quot;:true,&quot;type&quot;:&quot;text&quot;}"/>
          <p:cNvSpPr txBox="1"/>
          <p:nvPr/>
        </p:nvSpPr>
        <p:spPr>
          <a:xfrm rot="0" flipH="0" flipV="0">
            <a:off x="9124950" y="3248025"/>
            <a:ext cx="2257425" cy="114300"/>
          </a:xfrm>
          <a:prstGeom prst="rect"/>
        </p:spPr>
        <p:txBody>
          <a:bodyPr wrap="none" lIns="0" tIns="0" rIns="0" bIns="0"/>
          <a:p>
            <a:pPr>
              <a:lnSpc>
                <a:spcPct val="100000"/>
              </a:lnSpc>
            </a:pPr>
            <a:r>
              <a:rPr lang="zh-CN" sz="750">
                <a:solidFill>
                  <a:srgbClr val="E0651A"/>
                </a:solidFill>
                <a:latin typeface="Microsoft YaHei"/>
                <a:ea typeface="Microsoft YaHei"/>
              </a:rPr>
              <a:t>在平台里的位置</a:t>
            </a:r>
            <a:endParaRPr/>
          </a:p>
        </p:txBody>
      </p:sp>
      <p:sp>
        <p:nvSpPr>
          <p:cNvPr id="1541" name="" descr="{&quot;isTemplate&quot;:true,&quot;type&quot;:&quot;text&quot;}"/>
          <p:cNvSpPr txBox="1"/>
          <p:nvPr/>
        </p:nvSpPr>
        <p:spPr>
          <a:xfrm rot="0" flipH="0" flipV="0">
            <a:off x="9124950" y="3381375"/>
            <a:ext cx="2257425" cy="171450"/>
          </a:xfrm>
          <a:prstGeom prst="rect"/>
        </p:spPr>
        <p:txBody>
          <a:bodyPr wrap="none" lIns="0" tIns="0" rIns="0" bIns="0"/>
          <a:p>
            <a:pPr>
              <a:lnSpc>
                <a:spcPct val="140000"/>
              </a:lnSpc>
            </a:pPr>
            <a:r>
              <a:rPr lang="zh-CN" sz="788">
                <a:solidFill>
                  <a:srgbClr val="3A4050"/>
                </a:solidFill>
                <a:latin typeface="Microsoft YaHei"/>
                <a:ea typeface="Microsoft YaHei"/>
              </a:rPr>
              <a:t>检查点机制，强制捕获操作意图并审计或审批</a:t>
            </a:r>
            <a:endParaRPr/>
          </a:p>
        </p:txBody>
      </p:sp>
      <p:sp>
        <p:nvSpPr>
          <p:cNvPr id="1542" name=""/>
          <p:cNvSpPr/>
          <p:nvPr/>
        </p:nvSpPr>
        <p:spPr>
          <a:xfrm rot="0" flipH="0" flipV="0">
            <a:off x="609600" y="3800475"/>
            <a:ext cx="5438775" cy="1838325"/>
          </a:xfrm>
          <a:prstGeom prst="roundRect">
            <a:avLst>
              <a:gd name="adj" fmla="val 2073"/>
            </a:avLst>
          </a:prstGeom>
          <a:solidFill>
            <a:srgbClr val="0F1423"/>
          </a:solidFill>
          <a:ln/>
        </p:spPr>
        <p:txBody>
          <a:bodyPr/>
          <a:p/>
        </p:txBody>
      </p:sp>
      <p:sp>
        <p:nvSpPr>
          <p:cNvPr id="1543" name="" descr="{&quot;isTemplate&quot;:true,&quot;type&quot;:&quot;text&quot;}"/>
          <p:cNvSpPr txBox="1"/>
          <p:nvPr/>
        </p:nvSpPr>
        <p:spPr>
          <a:xfrm rot="0" flipH="0" flipV="0">
            <a:off x="771525" y="4343400"/>
            <a:ext cx="5114925" cy="161925"/>
          </a:xfrm>
          <a:prstGeom prst="rect"/>
        </p:spPr>
        <p:txBody>
          <a:bodyPr wrap="none" lIns="0" tIns="0" rIns="0" bIns="0"/>
          <a:p>
            <a:pPr>
              <a:lnSpc>
                <a:spcPct val="100000"/>
              </a:lnSpc>
            </a:pPr>
            <a:r>
              <a:rPr lang="zh-CN" sz="1050" b="1">
                <a:solidFill>
                  <a:srgbClr val="FBA15C"/>
                </a:solidFill>
                <a:latin typeface="Microsoft YaHei"/>
                <a:ea typeface="Microsoft YaHei"/>
              </a:rPr>
              <a:t>用途控制的两种模式，差别很大</a:t>
            </a:r>
            <a:endParaRPr/>
          </a:p>
        </p:txBody>
      </p:sp>
      <p:sp>
        <p:nvSpPr>
          <p:cNvPr id="1544" name=""/>
          <p:cNvSpPr/>
          <p:nvPr/>
        </p:nvSpPr>
        <p:spPr>
          <a:xfrm rot="0" flipH="0" flipV="0">
            <a:off x="771525" y="4581525"/>
            <a:ext cx="590550" cy="228600"/>
          </a:xfrm>
          <a:prstGeom prst="rect">
            <a:avLst/>
          </a:prstGeom>
          <a:solidFill>
            <a:srgbClr val="FA4F24">
              <a:alpha val="24000"/>
            </a:srgbClr>
          </a:solidFill>
          <a:ln/>
        </p:spPr>
        <p:txBody>
          <a:bodyPr/>
          <a:p/>
        </p:txBody>
      </p:sp>
      <p:sp>
        <p:nvSpPr>
          <p:cNvPr id="1545" name="" descr="{&quot;isTemplate&quot;:true,&quot;type&quot;:&quot;text&quot;}"/>
          <p:cNvSpPr txBox="1"/>
          <p:nvPr/>
        </p:nvSpPr>
        <p:spPr>
          <a:xfrm rot="0" flipH="0" flipV="0">
            <a:off x="847725" y="4629150"/>
            <a:ext cx="438150" cy="133350"/>
          </a:xfrm>
          <a:prstGeom prst="rect"/>
        </p:spPr>
        <p:txBody>
          <a:bodyPr wrap="none" lIns="0" tIns="0" rIns="0" bIns="0"/>
          <a:p>
            <a:pPr>
              <a:lnSpc>
                <a:spcPct val="100000"/>
              </a:lnSpc>
            </a:pPr>
            <a:r>
              <a:rPr lang="zh-CN" sz="863" b="1">
                <a:solidFill>
                  <a:srgbClr val="FA4F24"/>
                </a:solidFill>
                <a:latin typeface="Microsoft YaHei"/>
                <a:ea typeface="Microsoft YaHei"/>
              </a:rPr>
              <a:t>被动模式</a:t>
            </a:r>
            <a:endParaRPr/>
          </a:p>
        </p:txBody>
      </p:sp>
      <p:sp>
        <p:nvSpPr>
          <p:cNvPr id="1546" name="" descr="{&quot;isTemplate&quot;:true,&quot;type&quot;:&quot;text&quot;}"/>
          <p:cNvSpPr txBox="1"/>
          <p:nvPr/>
        </p:nvSpPr>
        <p:spPr>
          <a:xfrm rot="0" flipH="0" flipV="0">
            <a:off x="1476375" y="4600575"/>
            <a:ext cx="4410075" cy="190500"/>
          </a:xfrm>
          <a:prstGeom prst="rect"/>
        </p:spPr>
        <p:txBody>
          <a:bodyPr wrap="none" lIns="0" tIns="0" rIns="0" bIns="0"/>
          <a:p>
            <a:pPr>
              <a:lnSpc>
                <a:spcPct val="140000"/>
              </a:lnSpc>
            </a:pPr>
            <a:r>
              <a:rPr lang="zh-CN" sz="863">
                <a:solidFill>
                  <a:srgbClr val="FFFFFF">
                    <a:alpha val="85000"/>
                  </a:srgbClr>
                </a:solidFill>
                <a:latin typeface="Microsoft YaHei"/>
                <a:ea typeface="Microsoft YaHei"/>
              </a:rPr>
              <a:t>记录理由后立即放行，事后审计，作用是威慑</a:t>
            </a:r>
            <a:endParaRPr/>
          </a:p>
        </p:txBody>
      </p:sp>
      <p:sp>
        <p:nvSpPr>
          <p:cNvPr id="1547" name=""/>
          <p:cNvSpPr/>
          <p:nvPr/>
        </p:nvSpPr>
        <p:spPr>
          <a:xfrm rot="0" flipH="0" flipV="0">
            <a:off x="771525" y="4867275"/>
            <a:ext cx="590550" cy="228600"/>
          </a:xfrm>
          <a:prstGeom prst="rect">
            <a:avLst/>
          </a:prstGeom>
          <a:solidFill>
            <a:srgbClr val="FA4F24">
              <a:alpha val="24000"/>
            </a:srgbClr>
          </a:solidFill>
          <a:ln/>
        </p:spPr>
        <p:txBody>
          <a:bodyPr/>
          <a:p/>
        </p:txBody>
      </p:sp>
      <p:sp>
        <p:nvSpPr>
          <p:cNvPr id="1548" name="" descr="{&quot;isTemplate&quot;:true,&quot;type&quot;:&quot;text&quot;}"/>
          <p:cNvSpPr txBox="1"/>
          <p:nvPr/>
        </p:nvSpPr>
        <p:spPr>
          <a:xfrm rot="0" flipH="0" flipV="0">
            <a:off x="847725" y="4914900"/>
            <a:ext cx="438150" cy="133350"/>
          </a:xfrm>
          <a:prstGeom prst="rect"/>
        </p:spPr>
        <p:txBody>
          <a:bodyPr wrap="none" lIns="0" tIns="0" rIns="0" bIns="0"/>
          <a:p>
            <a:pPr>
              <a:lnSpc>
                <a:spcPct val="100000"/>
              </a:lnSpc>
            </a:pPr>
            <a:r>
              <a:rPr lang="zh-CN" sz="863" b="1">
                <a:solidFill>
                  <a:srgbClr val="FA4F24"/>
                </a:solidFill>
                <a:latin typeface="Microsoft YaHei"/>
                <a:ea typeface="Microsoft YaHei"/>
              </a:rPr>
              <a:t>主动模式</a:t>
            </a:r>
            <a:endParaRPr/>
          </a:p>
        </p:txBody>
      </p:sp>
      <p:sp>
        <p:nvSpPr>
          <p:cNvPr id="1549" name="" descr="{&quot;isTemplate&quot;:true,&quot;type&quot;:&quot;text&quot;}"/>
          <p:cNvSpPr txBox="1"/>
          <p:nvPr/>
        </p:nvSpPr>
        <p:spPr>
          <a:xfrm rot="0" flipH="0" flipV="0">
            <a:off x="1476375" y="4886325"/>
            <a:ext cx="4410075" cy="190500"/>
          </a:xfrm>
          <a:prstGeom prst="rect"/>
        </p:spPr>
        <p:txBody>
          <a:bodyPr wrap="none" lIns="0" tIns="0" rIns="0" bIns="0"/>
          <a:p>
            <a:pPr>
              <a:lnSpc>
                <a:spcPct val="140000"/>
              </a:lnSpc>
            </a:pPr>
            <a:r>
              <a:rPr lang="zh-CN" sz="863">
                <a:solidFill>
                  <a:srgbClr val="FFFFFF">
                    <a:alpha val="85000"/>
                  </a:srgbClr>
                </a:solidFill>
                <a:latin typeface="Microsoft YaHei"/>
                <a:ea typeface="Microsoft YaHei"/>
              </a:rPr>
              <a:t>操作挂起，请求送交合规官，批准后才给临时令牌</a:t>
            </a:r>
            <a:endParaRPr/>
          </a:p>
        </p:txBody>
      </p:sp>
      <p:sp>
        <p:nvSpPr>
          <p:cNvPr id="1550" name=""/>
          <p:cNvSpPr/>
          <p:nvPr/>
        </p:nvSpPr>
        <p:spPr>
          <a:xfrm rot="0" flipH="0" flipV="0">
            <a:off x="6181725" y="3800475"/>
            <a:ext cx="5438775" cy="1838325"/>
          </a:xfrm>
          <a:prstGeom prst="roundRect">
            <a:avLst>
              <a:gd name="adj" fmla="val 2073"/>
            </a:avLst>
          </a:prstGeom>
          <a:solidFill>
            <a:srgbClr val="FFF3EE"/>
          </a:solidFill>
          <a:ln/>
        </p:spPr>
        <p:txBody>
          <a:bodyPr/>
          <a:p/>
        </p:txBody>
      </p:sp>
      <p:sp>
        <p:nvSpPr>
          <p:cNvPr id="1551" name=""/>
          <p:cNvSpPr/>
          <p:nvPr/>
        </p:nvSpPr>
        <p:spPr>
          <a:xfrm rot="0" flipH="0" flipV="0">
            <a:off x="6181725" y="3800475"/>
            <a:ext cx="5438775" cy="1838325"/>
          </a:xfrm>
          <a:custGeom>
            <a:pathLst>
              <a:path w="571" h="193">
                <a:moveTo>
                  <a:pt x="4" y="193"/>
                </a:moveTo>
                <a:cubicBezTo>
                  <a:pt x="2" y="193"/>
                  <a:pt x="0" y="191"/>
                  <a:pt x="0" y="189"/>
                </a:cubicBezTo>
                <a:lnTo>
                  <a:pt x="0" y="4"/>
                </a:lnTo>
                <a:cubicBezTo>
                  <a:pt x="0" y="2"/>
                  <a:pt x="2" y="0"/>
                  <a:pt x="4" y="0"/>
                </a:cubicBezTo>
                <a:lnTo>
                  <a:pt x="4" y="193"/>
                </a:lnTo>
                <a:close/>
              </a:path>
            </a:pathLst>
          </a:custGeom>
          <a:solidFill>
            <a:srgbClr val="FA4F24"/>
          </a:solidFill>
          <a:ln/>
        </p:spPr>
        <p:txBody>
          <a:bodyPr/>
          <a:p/>
        </p:txBody>
      </p:sp>
      <p:sp>
        <p:nvSpPr>
          <p:cNvPr id="1552" name="" descr="{&quot;isTemplate&quot;:true,&quot;type&quot;:&quot;text&quot;}"/>
          <p:cNvSpPr txBox="1"/>
          <p:nvPr/>
        </p:nvSpPr>
        <p:spPr>
          <a:xfrm rot="0" flipH="0" flipV="0">
            <a:off x="6343650" y="4286250"/>
            <a:ext cx="5076825" cy="161925"/>
          </a:xfrm>
          <a:prstGeom prst="rect"/>
        </p:spPr>
        <p:txBody>
          <a:bodyPr wrap="none" lIns="0" tIns="0" rIns="0" bIns="0"/>
          <a:p>
            <a:pPr>
              <a:lnSpc>
                <a:spcPct val="100000"/>
              </a:lnSpc>
            </a:pPr>
            <a:r>
              <a:rPr lang="zh-CN" sz="1050" b="1">
                <a:solidFill>
                  <a:srgbClr val="C43A17"/>
                </a:solidFill>
                <a:latin typeface="Microsoft YaHei"/>
                <a:ea typeface="Microsoft YaHei"/>
              </a:rPr>
              <a:t>为什么用途控制最能发现内部滥用</a:t>
            </a:r>
            <a:endParaRPr/>
          </a:p>
        </p:txBody>
      </p:sp>
      <p:sp>
        <p:nvSpPr>
          <p:cNvPr id="1553" name="" descr="{&quot;isTemplate&quot;:true,&quot;type&quot;:&quot;text&quot;}"/>
          <p:cNvSpPr txBox="1"/>
          <p:nvPr/>
        </p:nvSpPr>
        <p:spPr>
          <a:xfrm rot="0" flipH="0" flipV="0">
            <a:off x="6343650" y="4514850"/>
            <a:ext cx="5076825" cy="638175"/>
          </a:xfrm>
          <a:prstGeom prst="rect"/>
        </p:spPr>
        <p:txBody>
          <a:bodyPr wrap="square" lIns="0" tIns="0" rIns="0" bIns="0">
            <a:normAutofit/>
          </a:bodyPr>
          <a:p>
            <a:pPr>
              <a:lnSpc>
                <a:spcPct val="155000"/>
              </a:lnSpc>
            </a:pPr>
            <a:r>
              <a:rPr lang="zh-CN" sz="900">
                <a:solidFill>
                  <a:srgbClr val="3A4050"/>
                </a:solidFill>
                <a:latin typeface="Microsoft YaHei"/>
                <a:ea typeface="Microsoft YaHei"/>
              </a:rPr>
              <a:t>有了理由字段，日志才从「谁访问了什么」变成「谁访问了什么、为什么」。安全团队据此可以跑异常检测：一名分析师凌晨两点访问了</a:t>
            </a:r>
            <a:r>
              <a:rPr lang="en-US" sz="900">
                <a:solidFill>
                  <a:srgbClr val="3A4050"/>
                </a:solidFill>
                <a:latin typeface="Microsoft YaHei"/>
                <a:ea typeface="Microsoft YaHei"/>
              </a:rPr>
              <a:t xml:space="preserve"> 500 </a:t>
            </a:r>
            <a:r>
              <a:rPr lang="zh-CN" sz="900">
                <a:solidFill>
                  <a:srgbClr val="3A4050"/>
                </a:solidFill>
                <a:latin typeface="Microsoft YaHei"/>
                <a:ea typeface="Microsoft YaHei"/>
              </a:rPr>
              <a:t>条名人护照信息，理由栏填的是无意义字符——这在角色模型里是完全合法的，在用途模型里就是违规。</a:t>
            </a:r>
            <a:endParaRPr/>
          </a:p>
        </p:txBody>
      </p:sp>
      <p:sp>
        <p:nvSpPr>
          <p:cNvPr id="1554"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1555" name=""/>
          <p:cNvSpPr/>
          <p:nvPr/>
        </p:nvSpPr>
        <p:spPr>
          <a:xfrm rot="0" flipH="0" flipV="0">
            <a:off x="609600" y="5953125"/>
            <a:ext cx="95250" cy="95250"/>
          </a:xfrm>
          <a:prstGeom prst="rect">
            <a:avLst/>
          </a:prstGeom>
          <a:solidFill>
            <a:srgbClr val="FA4F24"/>
          </a:solidFill>
          <a:ln/>
        </p:spPr>
        <p:txBody>
          <a:bodyPr/>
          <a:p/>
        </p:txBody>
      </p:sp>
      <p:sp>
        <p:nvSpPr>
          <p:cNvPr id="1556"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1557"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08 / 30</a:t>
            </a:r>
            <a:endParaRPr/>
          </a:p>
        </p:txBody>
      </p:sp>
    </p:spTree>
  </p:cSld>
</p:sld>
</file>

<file path=ppt/slides/slide9.xml><?xml version="1.0" encoding="utf-8"?>
<p:sld xmlns:p="http://schemas.openxmlformats.org/presentationml/2006/main" xmlns:a="http://schemas.openxmlformats.org/drawingml/2006/main">
  <p:cSld>
    <p:spTree>
      <p:nvGrpSpPr>
        <p:cNvPr id="1558" name="" descr="&lt;Slide style={{ width: 1280, height: 720, background: '#FFFFFF', padding: '24px 64px 0' }}&gt;&#10;    &lt;Box style={{ height: 96, flexDirection: 'column', justifyContent: 'flex-start' }}&gt;&#10;      &lt;Text style={{ fontSize: 32, fontWeight: 'bold', color: '#0F1423' }}&gt;&#10;        Marking：&lt;span style={{ color: '#FA4F24' }}&gt;治理的最小可执行单位&lt;/span&gt;&#10;      &lt;/Text&gt;&#10;      &lt;Text style={{ fontSize: 20, color: '#8A8F99', marginTop: 8 }}&gt;&#10;        它有一组反直觉的特性——不可删除、不可改类、权限与成员资格分离，所以必须在第一天设计清楚&#10;      &lt;/Text&gt;&#10;    &lt;/Box&gt;&#10;    &lt;Box style={{ height: 1, background: '#E8E8E8' }} /&gt;&#10;&#10;    &lt;Box style={{ paddingTop: 14, paddingBottom: 8, height: 479, flexDirection: 'row', gap: 12 }}&gt;&#10;      {/* 四种权限 */}&#10;      &lt;Box style={{ width: 430, background: '#F7F7F8', borderRadius: 4, padding: '14px 16px', flexDirection: 'column' }}&gt;&#10;        &lt;Text style={{ fontSize: 15, fontWeight: 'bold', color: '#0F1423' }}&gt;一个标记上的四种权限，彼此独立&lt;/Text&gt;&#10;        &lt;Box style={{ flex: 1, flexDirection: 'column', gap: 7, marginTop: 10 }}&gt;&#10;          {[&#10;            { n: '管理权限', d: '授予权限、管理成员与元数据', c: '#FA4F24' },&#10;            { n: '打标记', d: '能给资源打上此标记，但不含成员资格', c: '#F87D2F' },&#10;            { n: '去标记', d: '移除标记，还必须同时具备打标记能力', c: '#E0651A' },&#10;            { n: '成员', d: '只有成员能看到被此标记保护的资源', c: '#C43A17' },&#10;          ].map((it, i) =&gt; (&#10;            &lt;Box key={it.n} style={{ flex: 1, background: '#FFFFFF', borderRadius: 3, borderLeft: '3px solid ' + it.c, padding: '0 12px', flexDirection: 'row', alignItems: 'center', gap: 12 }}&gt;&#10;              &lt;Text style={{ fontSize: 13, fontWeight: 'bold', color: it.c, width: 72 }}&gt;{it.n}&lt;/Text&gt;&#10;              &lt;Text style={{ fontSize: 11.5, color: '#3A4050', flex: 1, lineHeight: 1.4 }}&gt;{it.d}&lt;/Text&gt;&#10;            &lt;/Box&gt;&#10;          ))}&#10;        &lt;/Box&gt;&#10;        &lt;Box style={{ background: '#FFF3EE', borderRadius: 3, borderLeft: '2px solid #FA4F24', padding: '9px 12px', marginTop: 10 }}&gt;&#10;          &lt;Text style={{ fontSize: 11.5, color: '#C43A17', lineHeight: 1.5 }}&gt;&#10;            官方特别提醒的坑：一个人可以同时有「打标记」和「管理权限」，但不是成员。他能给文件、目录和项目打标记、也能管标记本身，却看不到被标记的数据。做权限设计时经常把「打标记」误当成「能看」。&#10;          &lt;/Text&gt;&#10;        &lt;/Box&gt;&#10;      &lt;/Box&gt;&#10;&#10;      &lt;Box style={{ flex: 1, flexDirection: 'column', gap: 8 }}&gt;&#10;        &lt;Box style={{ height: 196, background: '#0F1423', borderRadius: 4, padding: '14px 18px', flexDirection: 'column' }}&gt;&#10;          &lt;Text style={{ fontSize: 15, fontWeight: 'bold', color: '#FBA15C' }}&gt;三条不可逆与两条可选，是治理设计的全部前提&lt;/Text&gt;&#10;          &lt;Box style={{ flex: 1, flexDirection: 'column', marginTop: 10 }}&gt;&#10;            {[&#10;              { b: '不可删除', t: '标记与标记类别一旦创建就不能删除', c: '#FA4F24' },&#10;              { b: '不可改类', t: '已创建的标记不能移到别的类别，分类体系要一次定对', c: '#FA4F24' },&#10;              { b: '类别决定可见性', t: '可见性按类别分配、不能逐个标记分配；隐藏类别的存在本身即为敏感', c: '#F87D2F' },&#10;              { b: '按组织隔离', t: '一个标记类别可限制到单一组织，绝不向组织外可见', c: '#E0651A' },&#10;              { b: '全局授予', t: '有标记不等于能看全部内容，仍需通过角色获得权限', c: '#C43A17' },&#10;            ].map((it, i) =&gt; (&#10;              &lt;Box key={it.b} style={{ flex: 1, flexDirection: 'row', alignItems: 'center', gap: 12, borderTop: i === 0 ? 'none' : '1px solid rgba(255,255,255,0.1)' }}&gt;&#10;                &lt;Box style={{ width: 82, height: 23, background: it.c, alignItems: 'center', justifyContent: 'center' }}&gt;&#10;                  &lt;Text style={{ fontSize: 11, fontWeight: 'bold', color: '#FFFFFF' }}&gt;{it.b}&lt;/Text&gt;&#10;                &lt;/Box&gt;&#10;                &lt;Text style={{ fontSize: 11.5, color: 'rgba(255,255,255,0.85)', flex: 1, lineHeight: 1.4 }}&gt;{it.t}&lt;/Text&gt;&#10;              &lt;/Box&gt;&#10;            ))}&#10;          &lt;/Box&gt;&#10;        &lt;/Box&gt;&#10;&#10;        &lt;Box style={{ flex: 1, background: '#FFF3EE', borderRadius: 4, borderLeft: '4px solid #FA4F24', padding: '12px 16px', flexDirection: 'column', justifyContent: 'center' }}&gt;&#10;          &lt;Text style={{ fontSize: 14, fontWeight: 'bold', color: '#C43A17' }}&gt;咨询结论：标记体系要在 Approach 第三阶段就冻结&lt;/Text&gt;&#10;          &lt;Text style={{ fontSize: 12, color: '#3A4050', marginTop: 7, lineHeight: 1.55 }}&gt;&#10;            因为它不可删除也不可改类，所以标记类别的划分一旦上线就基本定型。后来发现少了一类，只能新加一个类别去补，或者给所有资源补打新标记——无论哪种，都要重跑一遍历史数据的标记，这比改权限贵十倍。&#10;          &lt;/Text&gt;&#10;        &lt;/Box&gt;&#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09 / 30&lt;/Text&gt;&#10;    &lt;/Box&gt;&#10;&lt;/Slide&gt;&#10;"/>
        <p:cNvGrpSpPr/>
        <p:nvPr/>
      </p:nvGrpSpPr>
      <p:grpSpPr>
        <a:xfrm>
          <a:off x="0" y="0"/>
          <a:ext cx="0" cy="0"/>
          <a:chOff x="0" y="0"/>
          <a:chExt cx="0" cy="0"/>
        </a:xfrm>
      </p:grpSpPr>
      <p:sp>
        <p:nvSpPr>
          <p:cNvPr id="1559" name=""/>
          <p:cNvSpPr/>
          <p:nvPr/>
        </p:nvSpPr>
        <p:spPr>
          <a:xfrm rot="0" flipH="0" flipV="0">
            <a:off x="0" y="0"/>
            <a:ext cx="12192000" cy="6858000"/>
          </a:xfrm>
          <a:prstGeom prst="rect">
            <a:avLst/>
          </a:prstGeom>
          <a:solidFill>
            <a:srgbClr val="FFFFFF"/>
          </a:solidFill>
          <a:ln/>
        </p:spPr>
        <p:txBody>
          <a:bodyPr/>
          <a:p/>
        </p:txBody>
      </p:sp>
      <p:sp>
        <p:nvSpPr>
          <p:cNvPr id="1560"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en-US" sz="2400" b="1">
                <a:solidFill>
                  <a:srgbClr val="0F1423"/>
                </a:solidFill>
                <a:latin typeface="Microsoft YaHei"/>
                <a:ea typeface="Microsoft YaHei"/>
              </a:rPr>
              <a:t>Marking</a:t>
            </a:r>
            <a:r>
              <a:rPr lang="zh-CN" sz="2400" b="1">
                <a:solidFill>
                  <a:srgbClr val="0F1423"/>
                </a:solidFill>
                <a:latin typeface="Microsoft YaHei"/>
                <a:ea typeface="Microsoft YaHei"/>
              </a:rPr>
              <a:t>：</a:t>
            </a:r>
            <a:r>
              <a:rPr lang="zh-CN" sz="2400" b="1">
                <a:solidFill>
                  <a:srgbClr val="FA4F24"/>
                </a:solidFill>
                <a:latin typeface="Microsoft YaHei"/>
                <a:ea typeface="Microsoft YaHei"/>
              </a:rPr>
              <a:t>治理的最小可执行单位</a:t>
            </a:r>
            <a:endParaRPr/>
          </a:p>
        </p:txBody>
      </p:sp>
      <p:sp>
        <p:nvSpPr>
          <p:cNvPr id="1561"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它有一组反直觉的特性——不可删除、不可改类、权限与成员资格分离，所以必须在第一天设计清楚</a:t>
            </a:r>
            <a:endParaRPr/>
          </a:p>
        </p:txBody>
      </p:sp>
      <p:sp>
        <p:nvSpPr>
          <p:cNvPr id="1562" name=""/>
          <p:cNvSpPr/>
          <p:nvPr/>
        </p:nvSpPr>
        <p:spPr>
          <a:xfrm rot="0" flipH="0" flipV="0">
            <a:off x="609600" y="1143000"/>
            <a:ext cx="10972800" cy="9525"/>
          </a:xfrm>
          <a:prstGeom prst="rect">
            <a:avLst/>
          </a:prstGeom>
          <a:solidFill>
            <a:srgbClr val="E8E8E8"/>
          </a:solidFill>
          <a:ln/>
        </p:spPr>
        <p:txBody>
          <a:bodyPr/>
          <a:p/>
        </p:txBody>
      </p:sp>
      <p:sp>
        <p:nvSpPr>
          <p:cNvPr id="1563" name=""/>
          <p:cNvSpPr/>
          <p:nvPr/>
        </p:nvSpPr>
        <p:spPr>
          <a:xfrm rot="0" flipH="0" flipV="0">
            <a:off x="609600" y="1285875"/>
            <a:ext cx="4095750" cy="4352925"/>
          </a:xfrm>
          <a:prstGeom prst="roundRect">
            <a:avLst>
              <a:gd name="adj" fmla="val 930"/>
            </a:avLst>
          </a:prstGeom>
          <a:solidFill>
            <a:srgbClr val="F7F7F8"/>
          </a:solidFill>
          <a:ln/>
        </p:spPr>
        <p:txBody>
          <a:bodyPr/>
          <a:p/>
        </p:txBody>
      </p:sp>
      <p:sp>
        <p:nvSpPr>
          <p:cNvPr id="1564" name="" descr="{&quot;isTemplate&quot;:true,&quot;type&quot;:&quot;text&quot;}"/>
          <p:cNvSpPr txBox="1"/>
          <p:nvPr/>
        </p:nvSpPr>
        <p:spPr>
          <a:xfrm rot="0" flipH="0" flipV="0">
            <a:off x="762000" y="1419225"/>
            <a:ext cx="3790950" cy="171450"/>
          </a:xfrm>
          <a:prstGeom prst="rect"/>
        </p:spPr>
        <p:txBody>
          <a:bodyPr wrap="none" lIns="0" tIns="0" rIns="0" bIns="0"/>
          <a:p>
            <a:pPr>
              <a:lnSpc>
                <a:spcPct val="100000"/>
              </a:lnSpc>
            </a:pPr>
            <a:r>
              <a:rPr lang="zh-CN" sz="1125" b="1">
                <a:solidFill>
                  <a:srgbClr val="0F1423"/>
                </a:solidFill>
                <a:latin typeface="Microsoft YaHei"/>
                <a:ea typeface="Microsoft YaHei"/>
              </a:rPr>
              <a:t>一个标记上的四种权限，彼此独立</a:t>
            </a:r>
            <a:endParaRPr/>
          </a:p>
        </p:txBody>
      </p:sp>
      <p:sp>
        <p:nvSpPr>
          <p:cNvPr id="1565" name=""/>
          <p:cNvSpPr/>
          <p:nvPr/>
        </p:nvSpPr>
        <p:spPr>
          <a:xfrm rot="0" flipH="0" flipV="0">
            <a:off x="790575" y="1685925"/>
            <a:ext cx="3790950" cy="685800"/>
          </a:xfrm>
          <a:prstGeom prst="roundRect">
            <a:avLst>
              <a:gd name="adj" fmla="val 4167"/>
            </a:avLst>
          </a:prstGeom>
          <a:solidFill>
            <a:srgbClr val="FFFFFF"/>
          </a:solidFill>
          <a:ln/>
        </p:spPr>
        <p:txBody>
          <a:bodyPr/>
          <a:p/>
        </p:txBody>
      </p:sp>
      <p:sp>
        <p:nvSpPr>
          <p:cNvPr id="1566" name=""/>
          <p:cNvSpPr/>
          <p:nvPr/>
        </p:nvSpPr>
        <p:spPr>
          <a:xfrm rot="0" flipH="0" flipV="0">
            <a:off x="790575" y="1685925"/>
            <a:ext cx="3790950" cy="685800"/>
          </a:xfrm>
          <a:custGeom>
            <a:pathLst>
              <a:path w="398" h="72">
                <a:moveTo>
                  <a:pt x="3" y="72"/>
                </a:moveTo>
                <a:cubicBezTo>
                  <a:pt x="1" y="72"/>
                  <a:pt x="0" y="71"/>
                  <a:pt x="0" y="69"/>
                </a:cubicBezTo>
                <a:lnTo>
                  <a:pt x="0" y="3"/>
                </a:lnTo>
                <a:cubicBezTo>
                  <a:pt x="0" y="1"/>
                  <a:pt x="1" y="0"/>
                  <a:pt x="3" y="0"/>
                </a:cubicBezTo>
                <a:lnTo>
                  <a:pt x="3" y="72"/>
                </a:lnTo>
                <a:close/>
              </a:path>
            </a:pathLst>
          </a:custGeom>
          <a:solidFill>
            <a:srgbClr val="FA4F24"/>
          </a:solidFill>
          <a:ln/>
        </p:spPr>
        <p:txBody>
          <a:bodyPr/>
          <a:p/>
        </p:txBody>
      </p:sp>
      <p:sp>
        <p:nvSpPr>
          <p:cNvPr id="1567" name="" descr="{&quot;isTemplate&quot;:true,&quot;type&quot;:&quot;text&quot;}"/>
          <p:cNvSpPr txBox="1"/>
          <p:nvPr/>
        </p:nvSpPr>
        <p:spPr>
          <a:xfrm rot="0" flipH="0" flipV="0">
            <a:off x="904875" y="1952625"/>
            <a:ext cx="685800" cy="152400"/>
          </a:xfrm>
          <a:prstGeom prst="rect"/>
        </p:spPr>
        <p:txBody>
          <a:bodyPr wrap="none" lIns="0" tIns="0" rIns="0" bIns="0"/>
          <a:p>
            <a:pPr>
              <a:lnSpc>
                <a:spcPct val="100000"/>
              </a:lnSpc>
            </a:pPr>
            <a:r>
              <a:rPr lang="zh-CN" sz="975" b="1">
                <a:solidFill>
                  <a:srgbClr val="FA4F24"/>
                </a:solidFill>
                <a:latin typeface="Microsoft YaHei"/>
                <a:ea typeface="Microsoft YaHei"/>
              </a:rPr>
              <a:t>管理权限</a:t>
            </a:r>
            <a:endParaRPr/>
          </a:p>
        </p:txBody>
      </p:sp>
      <p:sp>
        <p:nvSpPr>
          <p:cNvPr id="1568" name="" descr="{&quot;isTemplate&quot;:true,&quot;type&quot;:&quot;text&quot;}"/>
          <p:cNvSpPr txBox="1"/>
          <p:nvPr/>
        </p:nvSpPr>
        <p:spPr>
          <a:xfrm rot="0" flipH="0" flipV="0">
            <a:off x="1704975" y="1933575"/>
            <a:ext cx="2733675" cy="190500"/>
          </a:xfrm>
          <a:prstGeom prst="rect"/>
        </p:spPr>
        <p:txBody>
          <a:bodyPr wrap="none" lIns="0" tIns="0" rIns="0" bIns="0"/>
          <a:p>
            <a:pPr>
              <a:lnSpc>
                <a:spcPct val="140000"/>
              </a:lnSpc>
            </a:pPr>
            <a:r>
              <a:rPr lang="zh-CN" sz="863">
                <a:solidFill>
                  <a:srgbClr val="3A4050"/>
                </a:solidFill>
                <a:latin typeface="Microsoft YaHei"/>
                <a:ea typeface="Microsoft YaHei"/>
              </a:rPr>
              <a:t>授予权限、管理成员与元数据</a:t>
            </a:r>
            <a:endParaRPr/>
          </a:p>
        </p:txBody>
      </p:sp>
      <p:sp>
        <p:nvSpPr>
          <p:cNvPr id="1569" name=""/>
          <p:cNvSpPr/>
          <p:nvPr/>
        </p:nvSpPr>
        <p:spPr>
          <a:xfrm rot="0" flipH="0" flipV="0">
            <a:off x="790575" y="2438400"/>
            <a:ext cx="3790950" cy="695325"/>
          </a:xfrm>
          <a:prstGeom prst="roundRect">
            <a:avLst>
              <a:gd name="adj" fmla="val 4110"/>
            </a:avLst>
          </a:prstGeom>
          <a:solidFill>
            <a:srgbClr val="FFFFFF"/>
          </a:solidFill>
          <a:ln/>
        </p:spPr>
        <p:txBody>
          <a:bodyPr/>
          <a:p/>
        </p:txBody>
      </p:sp>
      <p:sp>
        <p:nvSpPr>
          <p:cNvPr id="1570" name=""/>
          <p:cNvSpPr/>
          <p:nvPr/>
        </p:nvSpPr>
        <p:spPr>
          <a:xfrm rot="0" flipH="0" flipV="0">
            <a:off x="790575" y="2438400"/>
            <a:ext cx="3790950" cy="695325"/>
          </a:xfrm>
          <a:custGeom>
            <a:pathLst>
              <a:path w="398" h="73">
                <a:moveTo>
                  <a:pt x="3" y="73"/>
                </a:moveTo>
                <a:cubicBezTo>
                  <a:pt x="1" y="73"/>
                  <a:pt x="0" y="72"/>
                  <a:pt x="0" y="70"/>
                </a:cubicBezTo>
                <a:lnTo>
                  <a:pt x="0" y="3"/>
                </a:lnTo>
                <a:cubicBezTo>
                  <a:pt x="0" y="1"/>
                  <a:pt x="1" y="0"/>
                  <a:pt x="3" y="0"/>
                </a:cubicBezTo>
                <a:lnTo>
                  <a:pt x="3" y="73"/>
                </a:lnTo>
                <a:close/>
              </a:path>
            </a:pathLst>
          </a:custGeom>
          <a:solidFill>
            <a:srgbClr val="F87D2F"/>
          </a:solidFill>
          <a:ln/>
        </p:spPr>
        <p:txBody>
          <a:bodyPr/>
          <a:p/>
        </p:txBody>
      </p:sp>
      <p:sp>
        <p:nvSpPr>
          <p:cNvPr id="1571" name="" descr="{&quot;isTemplate&quot;:true,&quot;type&quot;:&quot;text&quot;}"/>
          <p:cNvSpPr txBox="1"/>
          <p:nvPr/>
        </p:nvSpPr>
        <p:spPr>
          <a:xfrm rot="0" flipH="0" flipV="0">
            <a:off x="904875" y="2714625"/>
            <a:ext cx="685800" cy="152400"/>
          </a:xfrm>
          <a:prstGeom prst="rect"/>
        </p:spPr>
        <p:txBody>
          <a:bodyPr wrap="none" lIns="0" tIns="0" rIns="0" bIns="0"/>
          <a:p>
            <a:pPr>
              <a:lnSpc>
                <a:spcPct val="100000"/>
              </a:lnSpc>
            </a:pPr>
            <a:r>
              <a:rPr lang="zh-CN" sz="975" b="1">
                <a:solidFill>
                  <a:srgbClr val="F87D2F"/>
                </a:solidFill>
                <a:latin typeface="Microsoft YaHei"/>
                <a:ea typeface="Microsoft YaHei"/>
              </a:rPr>
              <a:t>打标记</a:t>
            </a:r>
            <a:endParaRPr/>
          </a:p>
        </p:txBody>
      </p:sp>
      <p:sp>
        <p:nvSpPr>
          <p:cNvPr id="1572" name="" descr="{&quot;isTemplate&quot;:true,&quot;type&quot;:&quot;text&quot;}"/>
          <p:cNvSpPr txBox="1"/>
          <p:nvPr/>
        </p:nvSpPr>
        <p:spPr>
          <a:xfrm rot="0" flipH="0" flipV="0">
            <a:off x="1704975" y="2695575"/>
            <a:ext cx="2733675" cy="190500"/>
          </a:xfrm>
          <a:prstGeom prst="rect"/>
        </p:spPr>
        <p:txBody>
          <a:bodyPr wrap="none" lIns="0" tIns="0" rIns="0" bIns="0"/>
          <a:p>
            <a:pPr>
              <a:lnSpc>
                <a:spcPct val="140000"/>
              </a:lnSpc>
            </a:pPr>
            <a:r>
              <a:rPr lang="zh-CN" sz="863">
                <a:solidFill>
                  <a:srgbClr val="3A4050"/>
                </a:solidFill>
                <a:latin typeface="Microsoft YaHei"/>
                <a:ea typeface="Microsoft YaHei"/>
              </a:rPr>
              <a:t>能给资源打上此标记，但不含成员资格</a:t>
            </a:r>
            <a:endParaRPr/>
          </a:p>
        </p:txBody>
      </p:sp>
      <p:sp>
        <p:nvSpPr>
          <p:cNvPr id="1573" name=""/>
          <p:cNvSpPr/>
          <p:nvPr/>
        </p:nvSpPr>
        <p:spPr>
          <a:xfrm rot="0" flipH="0" flipV="0">
            <a:off x="790575" y="3200400"/>
            <a:ext cx="3790950" cy="685800"/>
          </a:xfrm>
          <a:prstGeom prst="roundRect">
            <a:avLst>
              <a:gd name="adj" fmla="val 4167"/>
            </a:avLst>
          </a:prstGeom>
          <a:solidFill>
            <a:srgbClr val="FFFFFF"/>
          </a:solidFill>
          <a:ln/>
        </p:spPr>
        <p:txBody>
          <a:bodyPr/>
          <a:p/>
        </p:txBody>
      </p:sp>
      <p:sp>
        <p:nvSpPr>
          <p:cNvPr id="1574" name=""/>
          <p:cNvSpPr/>
          <p:nvPr/>
        </p:nvSpPr>
        <p:spPr>
          <a:xfrm rot="0" flipH="0" flipV="0">
            <a:off x="790575" y="3200400"/>
            <a:ext cx="3790950" cy="685800"/>
          </a:xfrm>
          <a:custGeom>
            <a:pathLst>
              <a:path w="398" h="72">
                <a:moveTo>
                  <a:pt x="3" y="72"/>
                </a:moveTo>
                <a:cubicBezTo>
                  <a:pt x="1" y="72"/>
                  <a:pt x="0" y="71"/>
                  <a:pt x="0" y="69"/>
                </a:cubicBezTo>
                <a:lnTo>
                  <a:pt x="0" y="3"/>
                </a:lnTo>
                <a:cubicBezTo>
                  <a:pt x="0" y="1"/>
                  <a:pt x="1" y="0"/>
                  <a:pt x="3" y="0"/>
                </a:cubicBezTo>
                <a:lnTo>
                  <a:pt x="3" y="72"/>
                </a:lnTo>
                <a:close/>
              </a:path>
            </a:pathLst>
          </a:custGeom>
          <a:solidFill>
            <a:srgbClr val="E0651A"/>
          </a:solidFill>
          <a:ln/>
        </p:spPr>
        <p:txBody>
          <a:bodyPr/>
          <a:p/>
        </p:txBody>
      </p:sp>
      <p:sp>
        <p:nvSpPr>
          <p:cNvPr id="1575" name="" descr="{&quot;isTemplate&quot;:true,&quot;type&quot;:&quot;text&quot;}"/>
          <p:cNvSpPr txBox="1"/>
          <p:nvPr/>
        </p:nvSpPr>
        <p:spPr>
          <a:xfrm rot="0" flipH="0" flipV="0">
            <a:off x="904875" y="3467100"/>
            <a:ext cx="685800" cy="152400"/>
          </a:xfrm>
          <a:prstGeom prst="rect"/>
        </p:spPr>
        <p:txBody>
          <a:bodyPr wrap="none" lIns="0" tIns="0" rIns="0" bIns="0"/>
          <a:p>
            <a:pPr>
              <a:lnSpc>
                <a:spcPct val="100000"/>
              </a:lnSpc>
            </a:pPr>
            <a:r>
              <a:rPr lang="zh-CN" sz="975" b="1">
                <a:solidFill>
                  <a:srgbClr val="E0651A"/>
                </a:solidFill>
                <a:latin typeface="Microsoft YaHei"/>
                <a:ea typeface="Microsoft YaHei"/>
              </a:rPr>
              <a:t>去标记</a:t>
            </a:r>
            <a:endParaRPr/>
          </a:p>
        </p:txBody>
      </p:sp>
      <p:sp>
        <p:nvSpPr>
          <p:cNvPr id="1576" name="" descr="{&quot;isTemplate&quot;:true,&quot;type&quot;:&quot;text&quot;}"/>
          <p:cNvSpPr txBox="1"/>
          <p:nvPr/>
        </p:nvSpPr>
        <p:spPr>
          <a:xfrm rot="0" flipH="0" flipV="0">
            <a:off x="1704975" y="3448050"/>
            <a:ext cx="2733675" cy="190500"/>
          </a:xfrm>
          <a:prstGeom prst="rect"/>
        </p:spPr>
        <p:txBody>
          <a:bodyPr wrap="none" lIns="0" tIns="0" rIns="0" bIns="0"/>
          <a:p>
            <a:pPr>
              <a:lnSpc>
                <a:spcPct val="140000"/>
              </a:lnSpc>
            </a:pPr>
            <a:r>
              <a:rPr lang="zh-CN" sz="863">
                <a:solidFill>
                  <a:srgbClr val="3A4050"/>
                </a:solidFill>
                <a:latin typeface="Microsoft YaHei"/>
                <a:ea typeface="Microsoft YaHei"/>
              </a:rPr>
              <a:t>移除标记，还必须同时具备打标记能力</a:t>
            </a:r>
            <a:endParaRPr/>
          </a:p>
        </p:txBody>
      </p:sp>
      <p:sp>
        <p:nvSpPr>
          <p:cNvPr id="1577" name=""/>
          <p:cNvSpPr/>
          <p:nvPr/>
        </p:nvSpPr>
        <p:spPr>
          <a:xfrm rot="0" flipH="0" flipV="0">
            <a:off x="790575" y="3952875"/>
            <a:ext cx="3790950" cy="685800"/>
          </a:xfrm>
          <a:prstGeom prst="roundRect">
            <a:avLst>
              <a:gd name="adj" fmla="val 4167"/>
            </a:avLst>
          </a:prstGeom>
          <a:solidFill>
            <a:srgbClr val="FFFFFF"/>
          </a:solidFill>
          <a:ln/>
        </p:spPr>
        <p:txBody>
          <a:bodyPr/>
          <a:p/>
        </p:txBody>
      </p:sp>
      <p:sp>
        <p:nvSpPr>
          <p:cNvPr id="1578" name=""/>
          <p:cNvSpPr/>
          <p:nvPr/>
        </p:nvSpPr>
        <p:spPr>
          <a:xfrm rot="0" flipH="0" flipV="0">
            <a:off x="790575" y="3952875"/>
            <a:ext cx="3790950" cy="685800"/>
          </a:xfrm>
          <a:custGeom>
            <a:pathLst>
              <a:path w="398" h="72">
                <a:moveTo>
                  <a:pt x="3" y="72"/>
                </a:moveTo>
                <a:cubicBezTo>
                  <a:pt x="1" y="72"/>
                  <a:pt x="0" y="71"/>
                  <a:pt x="0" y="69"/>
                </a:cubicBezTo>
                <a:lnTo>
                  <a:pt x="0" y="3"/>
                </a:lnTo>
                <a:cubicBezTo>
                  <a:pt x="0" y="1"/>
                  <a:pt x="1" y="0"/>
                  <a:pt x="3" y="0"/>
                </a:cubicBezTo>
                <a:lnTo>
                  <a:pt x="3" y="72"/>
                </a:lnTo>
                <a:close/>
              </a:path>
            </a:pathLst>
          </a:custGeom>
          <a:solidFill>
            <a:srgbClr val="C43A17"/>
          </a:solidFill>
          <a:ln/>
        </p:spPr>
        <p:txBody>
          <a:bodyPr/>
          <a:p/>
        </p:txBody>
      </p:sp>
      <p:sp>
        <p:nvSpPr>
          <p:cNvPr id="1579" name="" descr="{&quot;isTemplate&quot;:true,&quot;type&quot;:&quot;text&quot;}"/>
          <p:cNvSpPr txBox="1"/>
          <p:nvPr/>
        </p:nvSpPr>
        <p:spPr>
          <a:xfrm rot="0" flipH="0" flipV="0">
            <a:off x="904875" y="4219575"/>
            <a:ext cx="685800" cy="152400"/>
          </a:xfrm>
          <a:prstGeom prst="rect"/>
        </p:spPr>
        <p:txBody>
          <a:bodyPr wrap="none" lIns="0" tIns="0" rIns="0" bIns="0"/>
          <a:p>
            <a:pPr>
              <a:lnSpc>
                <a:spcPct val="100000"/>
              </a:lnSpc>
            </a:pPr>
            <a:r>
              <a:rPr lang="zh-CN" sz="975" b="1">
                <a:solidFill>
                  <a:srgbClr val="C43A17"/>
                </a:solidFill>
                <a:latin typeface="Microsoft YaHei"/>
                <a:ea typeface="Microsoft YaHei"/>
              </a:rPr>
              <a:t>成员</a:t>
            </a:r>
            <a:endParaRPr/>
          </a:p>
        </p:txBody>
      </p:sp>
      <p:sp>
        <p:nvSpPr>
          <p:cNvPr id="1580" name="" descr="{&quot;isTemplate&quot;:true,&quot;type&quot;:&quot;text&quot;}"/>
          <p:cNvSpPr txBox="1"/>
          <p:nvPr/>
        </p:nvSpPr>
        <p:spPr>
          <a:xfrm rot="0" flipH="0" flipV="0">
            <a:off x="1704975" y="4200525"/>
            <a:ext cx="2733675" cy="190500"/>
          </a:xfrm>
          <a:prstGeom prst="rect"/>
        </p:spPr>
        <p:txBody>
          <a:bodyPr wrap="none" lIns="0" tIns="0" rIns="0" bIns="0"/>
          <a:p>
            <a:pPr>
              <a:lnSpc>
                <a:spcPct val="140000"/>
              </a:lnSpc>
            </a:pPr>
            <a:r>
              <a:rPr lang="zh-CN" sz="863">
                <a:solidFill>
                  <a:srgbClr val="3A4050"/>
                </a:solidFill>
                <a:latin typeface="Microsoft YaHei"/>
                <a:ea typeface="Microsoft YaHei"/>
              </a:rPr>
              <a:t>只有成员能看到被此标记保护的资源</a:t>
            </a:r>
            <a:endParaRPr/>
          </a:p>
        </p:txBody>
      </p:sp>
      <p:sp>
        <p:nvSpPr>
          <p:cNvPr id="1581" name=""/>
          <p:cNvSpPr/>
          <p:nvPr/>
        </p:nvSpPr>
        <p:spPr>
          <a:xfrm rot="0" flipH="0" flipV="0">
            <a:off x="781050" y="4733925"/>
            <a:ext cx="3790950" cy="771525"/>
          </a:xfrm>
          <a:prstGeom prst="roundRect">
            <a:avLst>
              <a:gd name="adj" fmla="val 3704"/>
            </a:avLst>
          </a:prstGeom>
          <a:solidFill>
            <a:srgbClr val="FFF3EE"/>
          </a:solidFill>
          <a:ln/>
        </p:spPr>
        <p:txBody>
          <a:bodyPr/>
          <a:p/>
        </p:txBody>
      </p:sp>
      <p:sp>
        <p:nvSpPr>
          <p:cNvPr id="1582" name=""/>
          <p:cNvSpPr/>
          <p:nvPr/>
        </p:nvSpPr>
        <p:spPr>
          <a:xfrm rot="0" flipH="0" flipV="0">
            <a:off x="781050" y="4733925"/>
            <a:ext cx="3790950" cy="771525"/>
          </a:xfrm>
          <a:custGeom>
            <a:pathLst>
              <a:path w="398" h="81">
                <a:moveTo>
                  <a:pt x="3" y="0"/>
                </a:moveTo>
                <a:cubicBezTo>
                  <a:pt x="2" y="0"/>
                  <a:pt x="2" y="0"/>
                  <a:pt x="2" y="1"/>
                </a:cubicBezTo>
                <a:lnTo>
                  <a:pt x="2" y="80"/>
                </a:lnTo>
                <a:cubicBezTo>
                  <a:pt x="2" y="80"/>
                  <a:pt x="2" y="81"/>
                  <a:pt x="3" y="81"/>
                </a:cubicBezTo>
                <a:cubicBezTo>
                  <a:pt x="1" y="81"/>
                  <a:pt x="0" y="80"/>
                  <a:pt x="0" y="78"/>
                </a:cubicBezTo>
                <a:lnTo>
                  <a:pt x="0" y="3"/>
                </a:lnTo>
                <a:cubicBezTo>
                  <a:pt x="0" y="1"/>
                  <a:pt x="1" y="0"/>
                  <a:pt x="3" y="0"/>
                </a:cubicBezTo>
                <a:close/>
              </a:path>
            </a:pathLst>
          </a:custGeom>
          <a:solidFill>
            <a:srgbClr val="FA4F24"/>
          </a:solidFill>
          <a:ln/>
        </p:spPr>
        <p:txBody>
          <a:bodyPr/>
          <a:p/>
        </p:txBody>
      </p:sp>
      <p:sp>
        <p:nvSpPr>
          <p:cNvPr id="1583" name="" descr="{&quot;isTemplate&quot;:true,&quot;type&quot;:&quot;text&quot;}"/>
          <p:cNvSpPr txBox="1"/>
          <p:nvPr/>
        </p:nvSpPr>
        <p:spPr>
          <a:xfrm rot="0" flipH="0" flipV="0">
            <a:off x="895350" y="4819650"/>
            <a:ext cx="3543300" cy="600075"/>
          </a:xfrm>
          <a:prstGeom prst="rect"/>
        </p:spPr>
        <p:txBody>
          <a:bodyPr wrap="square" lIns="0" tIns="0" rIns="0" bIns="0">
            <a:normAutofit/>
          </a:bodyPr>
          <a:p>
            <a:pPr>
              <a:lnSpc>
                <a:spcPct val="150000"/>
              </a:lnSpc>
            </a:pPr>
            <a:r>
              <a:rPr lang="zh-CN" sz="863">
                <a:solidFill>
                  <a:srgbClr val="C43A17"/>
                </a:solidFill>
                <a:latin typeface="Microsoft YaHei"/>
                <a:ea typeface="Microsoft YaHei"/>
              </a:rPr>
              <a:t>官方特别提醒的坑：一个人可以同时有「打标记」和「管理权限」，但不是成员。他能给文件、目录和项目打标记、也能管标记本身，却看不到被标记的数据。做权限设计时经常把「打标记」误当成「能看」。</a:t>
            </a:r>
            <a:endParaRPr/>
          </a:p>
        </p:txBody>
      </p:sp>
      <p:sp>
        <p:nvSpPr>
          <p:cNvPr id="1584" name=""/>
          <p:cNvSpPr/>
          <p:nvPr/>
        </p:nvSpPr>
        <p:spPr>
          <a:xfrm rot="0" flipH="0" flipV="0">
            <a:off x="4819650" y="1285875"/>
            <a:ext cx="6762750" cy="1866900"/>
          </a:xfrm>
          <a:prstGeom prst="roundRect">
            <a:avLst>
              <a:gd name="adj" fmla="val 2041"/>
            </a:avLst>
          </a:prstGeom>
          <a:solidFill>
            <a:srgbClr val="0F1423"/>
          </a:solidFill>
          <a:ln/>
        </p:spPr>
        <p:txBody>
          <a:bodyPr/>
          <a:p/>
        </p:txBody>
      </p:sp>
      <p:sp>
        <p:nvSpPr>
          <p:cNvPr id="1585" name="" descr="{&quot;isTemplate&quot;:true,&quot;type&quot;:&quot;text&quot;}"/>
          <p:cNvSpPr txBox="1"/>
          <p:nvPr/>
        </p:nvSpPr>
        <p:spPr>
          <a:xfrm rot="0" flipH="0" flipV="0">
            <a:off x="4991100" y="1419225"/>
            <a:ext cx="6419850" cy="171450"/>
          </a:xfrm>
          <a:prstGeom prst="rect"/>
        </p:spPr>
        <p:txBody>
          <a:bodyPr wrap="none" lIns="0" tIns="0" rIns="0" bIns="0"/>
          <a:p>
            <a:pPr>
              <a:lnSpc>
                <a:spcPct val="100000"/>
              </a:lnSpc>
            </a:pPr>
            <a:r>
              <a:rPr lang="zh-CN" sz="1125" b="1">
                <a:solidFill>
                  <a:srgbClr val="FBA15C"/>
                </a:solidFill>
                <a:latin typeface="Microsoft YaHei"/>
                <a:ea typeface="Microsoft YaHei"/>
              </a:rPr>
              <a:t>三条不可逆与两条可选，是治理设计的全部前提</a:t>
            </a:r>
            <a:endParaRPr/>
          </a:p>
        </p:txBody>
      </p:sp>
      <p:sp>
        <p:nvSpPr>
          <p:cNvPr id="1586" name=""/>
          <p:cNvSpPr/>
          <p:nvPr/>
        </p:nvSpPr>
        <p:spPr>
          <a:xfrm rot="0" flipH="0" flipV="0">
            <a:off x="4991100" y="1704975"/>
            <a:ext cx="781050" cy="219075"/>
          </a:xfrm>
          <a:prstGeom prst="rect">
            <a:avLst/>
          </a:prstGeom>
          <a:solidFill>
            <a:srgbClr val="FA4F24"/>
          </a:solidFill>
          <a:ln/>
        </p:spPr>
        <p:txBody>
          <a:bodyPr/>
          <a:p/>
        </p:txBody>
      </p:sp>
      <p:sp>
        <p:nvSpPr>
          <p:cNvPr id="1587" name="" descr="{&quot;isTemplate&quot;:true,&quot;type&quot;:&quot;text&quot;}"/>
          <p:cNvSpPr txBox="1"/>
          <p:nvPr/>
        </p:nvSpPr>
        <p:spPr>
          <a:xfrm rot="0" flipH="0" flipV="0">
            <a:off x="5172075" y="1752600"/>
            <a:ext cx="419100" cy="133350"/>
          </a:xfrm>
          <a:prstGeom prst="rect"/>
        </p:spPr>
        <p:txBody>
          <a:bodyPr wrap="none" lIns="0" tIns="0" rIns="0" bIns="0"/>
          <a:p>
            <a:pPr>
              <a:lnSpc>
                <a:spcPct val="100000"/>
              </a:lnSpc>
            </a:pPr>
            <a:r>
              <a:rPr lang="zh-CN" sz="825" b="1">
                <a:solidFill>
                  <a:srgbClr val="FFFFFF"/>
                </a:solidFill>
                <a:latin typeface="Microsoft YaHei"/>
                <a:ea typeface="Microsoft YaHei"/>
              </a:rPr>
              <a:t>不可删除</a:t>
            </a:r>
            <a:endParaRPr/>
          </a:p>
        </p:txBody>
      </p:sp>
      <p:sp>
        <p:nvSpPr>
          <p:cNvPr id="1588" name="" descr="{&quot;isTemplate&quot;:true,&quot;type&quot;:&quot;text&quot;}"/>
          <p:cNvSpPr txBox="1"/>
          <p:nvPr/>
        </p:nvSpPr>
        <p:spPr>
          <a:xfrm rot="0" flipH="0" flipV="0">
            <a:off x="5886450" y="1724025"/>
            <a:ext cx="5524500" cy="190500"/>
          </a:xfrm>
          <a:prstGeom prst="rect"/>
        </p:spPr>
        <p:txBody>
          <a:bodyPr wrap="none" lIns="0" tIns="0" rIns="0" bIns="0"/>
          <a:p>
            <a:pPr>
              <a:lnSpc>
                <a:spcPct val="140000"/>
              </a:lnSpc>
            </a:pPr>
            <a:r>
              <a:rPr lang="zh-CN" sz="863">
                <a:solidFill>
                  <a:srgbClr val="FFFFFF">
                    <a:alpha val="85000"/>
                  </a:srgbClr>
                </a:solidFill>
                <a:latin typeface="Microsoft YaHei"/>
                <a:ea typeface="Microsoft YaHei"/>
              </a:rPr>
              <a:t>标记与标记类别一旦创建就不能删除</a:t>
            </a:r>
            <a:endParaRPr/>
          </a:p>
        </p:txBody>
      </p:sp>
      <p:sp>
        <p:nvSpPr>
          <p:cNvPr id="1589" name=""/>
          <p:cNvSpPr/>
          <p:nvPr/>
        </p:nvSpPr>
        <p:spPr>
          <a:xfrm rot="0" flipH="0" flipV="0">
            <a:off x="4991100" y="1943100"/>
            <a:ext cx="6419850" cy="276225"/>
          </a:xfrm>
          <a:custGeom>
            <a:pathLst>
              <a:path w="674" h="29">
                <a:moveTo>
                  <a:pt x="0" y="0"/>
                </a:moveTo>
                <a:lnTo>
                  <a:pt x="674" y="0"/>
                </a:lnTo>
                <a:lnTo>
                  <a:pt x="674" y="1"/>
                </a:lnTo>
                <a:lnTo>
                  <a:pt x="0" y="1"/>
                </a:lnTo>
                <a:close/>
              </a:path>
            </a:pathLst>
          </a:custGeom>
          <a:solidFill>
            <a:srgbClr val="FFFFFF">
              <a:alpha val="10000"/>
            </a:srgbClr>
          </a:solidFill>
          <a:ln/>
        </p:spPr>
        <p:txBody>
          <a:bodyPr/>
          <a:p/>
        </p:txBody>
      </p:sp>
      <p:sp>
        <p:nvSpPr>
          <p:cNvPr id="1590" name=""/>
          <p:cNvSpPr/>
          <p:nvPr/>
        </p:nvSpPr>
        <p:spPr>
          <a:xfrm rot="0" flipH="0" flipV="0">
            <a:off x="4991100" y="1971675"/>
            <a:ext cx="781050" cy="219075"/>
          </a:xfrm>
          <a:prstGeom prst="rect">
            <a:avLst/>
          </a:prstGeom>
          <a:solidFill>
            <a:srgbClr val="FA4F24"/>
          </a:solidFill>
          <a:ln/>
        </p:spPr>
        <p:txBody>
          <a:bodyPr/>
          <a:p/>
        </p:txBody>
      </p:sp>
      <p:sp>
        <p:nvSpPr>
          <p:cNvPr id="1591" name="" descr="{&quot;isTemplate&quot;:true,&quot;type&quot;:&quot;text&quot;}"/>
          <p:cNvSpPr txBox="1"/>
          <p:nvPr/>
        </p:nvSpPr>
        <p:spPr>
          <a:xfrm rot="0" flipH="0" flipV="0">
            <a:off x="5172075" y="2019300"/>
            <a:ext cx="419100" cy="133350"/>
          </a:xfrm>
          <a:prstGeom prst="rect"/>
        </p:spPr>
        <p:txBody>
          <a:bodyPr wrap="none" lIns="0" tIns="0" rIns="0" bIns="0"/>
          <a:p>
            <a:pPr>
              <a:lnSpc>
                <a:spcPct val="100000"/>
              </a:lnSpc>
            </a:pPr>
            <a:r>
              <a:rPr lang="zh-CN" sz="825" b="1">
                <a:solidFill>
                  <a:srgbClr val="FFFFFF"/>
                </a:solidFill>
                <a:latin typeface="Microsoft YaHei"/>
                <a:ea typeface="Microsoft YaHei"/>
              </a:rPr>
              <a:t>不可改类</a:t>
            </a:r>
            <a:endParaRPr/>
          </a:p>
        </p:txBody>
      </p:sp>
      <p:sp>
        <p:nvSpPr>
          <p:cNvPr id="1592" name="" descr="{&quot;isTemplate&quot;:true,&quot;type&quot;:&quot;text&quot;}"/>
          <p:cNvSpPr txBox="1"/>
          <p:nvPr/>
        </p:nvSpPr>
        <p:spPr>
          <a:xfrm rot="0" flipH="0" flipV="0">
            <a:off x="5886450" y="1990725"/>
            <a:ext cx="5524500" cy="190500"/>
          </a:xfrm>
          <a:prstGeom prst="rect"/>
        </p:spPr>
        <p:txBody>
          <a:bodyPr wrap="none" lIns="0" tIns="0" rIns="0" bIns="0"/>
          <a:p>
            <a:pPr>
              <a:lnSpc>
                <a:spcPct val="140000"/>
              </a:lnSpc>
            </a:pPr>
            <a:r>
              <a:rPr lang="zh-CN" sz="863">
                <a:solidFill>
                  <a:srgbClr val="FFFFFF">
                    <a:alpha val="85000"/>
                  </a:srgbClr>
                </a:solidFill>
                <a:latin typeface="Microsoft YaHei"/>
                <a:ea typeface="Microsoft YaHei"/>
              </a:rPr>
              <a:t>已创建的标记不能移到别的类别，分类体系要一次定对</a:t>
            </a:r>
            <a:endParaRPr/>
          </a:p>
        </p:txBody>
      </p:sp>
      <p:sp>
        <p:nvSpPr>
          <p:cNvPr id="1593" name=""/>
          <p:cNvSpPr/>
          <p:nvPr/>
        </p:nvSpPr>
        <p:spPr>
          <a:xfrm rot="0" flipH="0" flipV="0">
            <a:off x="4991100" y="2209800"/>
            <a:ext cx="6419850" cy="285750"/>
          </a:xfrm>
          <a:custGeom>
            <a:pathLst>
              <a:path w="674" h="30">
                <a:moveTo>
                  <a:pt x="0" y="0"/>
                </a:moveTo>
                <a:lnTo>
                  <a:pt x="674" y="0"/>
                </a:lnTo>
                <a:lnTo>
                  <a:pt x="674" y="1"/>
                </a:lnTo>
                <a:lnTo>
                  <a:pt x="0" y="1"/>
                </a:lnTo>
                <a:close/>
              </a:path>
            </a:pathLst>
          </a:custGeom>
          <a:solidFill>
            <a:srgbClr val="FFFFFF">
              <a:alpha val="10000"/>
            </a:srgbClr>
          </a:solidFill>
          <a:ln/>
        </p:spPr>
        <p:txBody>
          <a:bodyPr/>
          <a:p/>
        </p:txBody>
      </p:sp>
      <p:sp>
        <p:nvSpPr>
          <p:cNvPr id="1594" name=""/>
          <p:cNvSpPr/>
          <p:nvPr/>
        </p:nvSpPr>
        <p:spPr>
          <a:xfrm rot="0" flipH="0" flipV="0">
            <a:off x="4991100" y="2247900"/>
            <a:ext cx="781050" cy="219075"/>
          </a:xfrm>
          <a:prstGeom prst="rect">
            <a:avLst/>
          </a:prstGeom>
          <a:solidFill>
            <a:srgbClr val="F87D2F"/>
          </a:solidFill>
          <a:ln/>
        </p:spPr>
        <p:txBody>
          <a:bodyPr/>
          <a:p/>
        </p:txBody>
      </p:sp>
      <p:sp>
        <p:nvSpPr>
          <p:cNvPr id="1595" name="" descr="{&quot;isTemplate&quot;:true,&quot;type&quot;:&quot;text&quot;}"/>
          <p:cNvSpPr txBox="1"/>
          <p:nvPr/>
        </p:nvSpPr>
        <p:spPr>
          <a:xfrm rot="0" flipH="0" flipV="0">
            <a:off x="5019675" y="2295525"/>
            <a:ext cx="733425" cy="133350"/>
          </a:xfrm>
          <a:prstGeom prst="rect"/>
        </p:spPr>
        <p:txBody>
          <a:bodyPr wrap="none" lIns="0" tIns="0" rIns="0" bIns="0"/>
          <a:p>
            <a:pPr>
              <a:lnSpc>
                <a:spcPct val="100000"/>
              </a:lnSpc>
            </a:pPr>
            <a:r>
              <a:rPr lang="zh-CN" sz="825" b="1">
                <a:solidFill>
                  <a:srgbClr val="FFFFFF"/>
                </a:solidFill>
                <a:latin typeface="Microsoft YaHei"/>
                <a:ea typeface="Microsoft YaHei"/>
              </a:rPr>
              <a:t>类别决定可见性</a:t>
            </a:r>
            <a:endParaRPr/>
          </a:p>
        </p:txBody>
      </p:sp>
      <p:sp>
        <p:nvSpPr>
          <p:cNvPr id="1596" name="" descr="{&quot;isTemplate&quot;:true,&quot;type&quot;:&quot;text&quot;}"/>
          <p:cNvSpPr txBox="1"/>
          <p:nvPr/>
        </p:nvSpPr>
        <p:spPr>
          <a:xfrm rot="0" flipH="0" flipV="0">
            <a:off x="5886450" y="2257425"/>
            <a:ext cx="5524500" cy="190500"/>
          </a:xfrm>
          <a:prstGeom prst="rect"/>
        </p:spPr>
        <p:txBody>
          <a:bodyPr wrap="none" lIns="0" tIns="0" rIns="0" bIns="0"/>
          <a:p>
            <a:pPr>
              <a:lnSpc>
                <a:spcPct val="140000"/>
              </a:lnSpc>
            </a:pPr>
            <a:r>
              <a:rPr lang="zh-CN" sz="863">
                <a:solidFill>
                  <a:srgbClr val="FFFFFF">
                    <a:alpha val="85000"/>
                  </a:srgbClr>
                </a:solidFill>
                <a:latin typeface="Microsoft YaHei"/>
                <a:ea typeface="Microsoft YaHei"/>
              </a:rPr>
              <a:t>可见性按类别分配、不能逐个标记分配；隐藏类别的存在本身即为敏感</a:t>
            </a:r>
            <a:endParaRPr/>
          </a:p>
        </p:txBody>
      </p:sp>
      <p:sp>
        <p:nvSpPr>
          <p:cNvPr id="1597" name=""/>
          <p:cNvSpPr/>
          <p:nvPr/>
        </p:nvSpPr>
        <p:spPr>
          <a:xfrm rot="0" flipH="0" flipV="0">
            <a:off x="4991100" y="2486025"/>
            <a:ext cx="6419850" cy="276225"/>
          </a:xfrm>
          <a:custGeom>
            <a:pathLst>
              <a:path w="674" h="29">
                <a:moveTo>
                  <a:pt x="0" y="0"/>
                </a:moveTo>
                <a:lnTo>
                  <a:pt x="674" y="0"/>
                </a:lnTo>
                <a:lnTo>
                  <a:pt x="674" y="1"/>
                </a:lnTo>
                <a:lnTo>
                  <a:pt x="0" y="1"/>
                </a:lnTo>
                <a:close/>
              </a:path>
            </a:pathLst>
          </a:custGeom>
          <a:solidFill>
            <a:srgbClr val="FFFFFF">
              <a:alpha val="10000"/>
            </a:srgbClr>
          </a:solidFill>
          <a:ln/>
        </p:spPr>
        <p:txBody>
          <a:bodyPr/>
          <a:p/>
        </p:txBody>
      </p:sp>
      <p:sp>
        <p:nvSpPr>
          <p:cNvPr id="1598" name=""/>
          <p:cNvSpPr/>
          <p:nvPr/>
        </p:nvSpPr>
        <p:spPr>
          <a:xfrm rot="0" flipH="0" flipV="0">
            <a:off x="4991100" y="2514600"/>
            <a:ext cx="781050" cy="219075"/>
          </a:xfrm>
          <a:prstGeom prst="rect">
            <a:avLst/>
          </a:prstGeom>
          <a:solidFill>
            <a:srgbClr val="E0651A"/>
          </a:solidFill>
          <a:ln/>
        </p:spPr>
        <p:txBody>
          <a:bodyPr/>
          <a:p/>
        </p:txBody>
      </p:sp>
      <p:sp>
        <p:nvSpPr>
          <p:cNvPr id="1599" name="" descr="{&quot;isTemplate&quot;:true,&quot;type&quot;:&quot;text&quot;}"/>
          <p:cNvSpPr txBox="1"/>
          <p:nvPr/>
        </p:nvSpPr>
        <p:spPr>
          <a:xfrm rot="0" flipH="0" flipV="0">
            <a:off x="5124450" y="2562225"/>
            <a:ext cx="523875" cy="133350"/>
          </a:xfrm>
          <a:prstGeom prst="rect"/>
        </p:spPr>
        <p:txBody>
          <a:bodyPr wrap="none" lIns="0" tIns="0" rIns="0" bIns="0"/>
          <a:p>
            <a:pPr>
              <a:lnSpc>
                <a:spcPct val="100000"/>
              </a:lnSpc>
            </a:pPr>
            <a:r>
              <a:rPr lang="zh-CN" sz="825" b="1">
                <a:solidFill>
                  <a:srgbClr val="FFFFFF"/>
                </a:solidFill>
                <a:latin typeface="Microsoft YaHei"/>
                <a:ea typeface="Microsoft YaHei"/>
              </a:rPr>
              <a:t>按组织隔离</a:t>
            </a:r>
            <a:endParaRPr/>
          </a:p>
        </p:txBody>
      </p:sp>
      <p:sp>
        <p:nvSpPr>
          <p:cNvPr id="1600" name="" descr="{&quot;isTemplate&quot;:true,&quot;type&quot;:&quot;text&quot;}"/>
          <p:cNvSpPr txBox="1"/>
          <p:nvPr/>
        </p:nvSpPr>
        <p:spPr>
          <a:xfrm rot="0" flipH="0" flipV="0">
            <a:off x="5886450" y="2533650"/>
            <a:ext cx="5524500" cy="190500"/>
          </a:xfrm>
          <a:prstGeom prst="rect"/>
        </p:spPr>
        <p:txBody>
          <a:bodyPr wrap="none" lIns="0" tIns="0" rIns="0" bIns="0"/>
          <a:p>
            <a:pPr>
              <a:lnSpc>
                <a:spcPct val="140000"/>
              </a:lnSpc>
            </a:pPr>
            <a:r>
              <a:rPr lang="zh-CN" sz="863">
                <a:solidFill>
                  <a:srgbClr val="FFFFFF">
                    <a:alpha val="85000"/>
                  </a:srgbClr>
                </a:solidFill>
                <a:latin typeface="Microsoft YaHei"/>
                <a:ea typeface="Microsoft YaHei"/>
              </a:rPr>
              <a:t>一个标记类别可限制到单一组织，绝不向组织外可见</a:t>
            </a:r>
            <a:endParaRPr/>
          </a:p>
        </p:txBody>
      </p:sp>
      <p:sp>
        <p:nvSpPr>
          <p:cNvPr id="1601" name=""/>
          <p:cNvSpPr/>
          <p:nvPr/>
        </p:nvSpPr>
        <p:spPr>
          <a:xfrm rot="0" flipH="0" flipV="0">
            <a:off x="4991100" y="2752725"/>
            <a:ext cx="6419850" cy="276225"/>
          </a:xfrm>
          <a:custGeom>
            <a:pathLst>
              <a:path w="674" h="29">
                <a:moveTo>
                  <a:pt x="0" y="0"/>
                </a:moveTo>
                <a:lnTo>
                  <a:pt x="674" y="0"/>
                </a:lnTo>
                <a:lnTo>
                  <a:pt x="674" y="1"/>
                </a:lnTo>
                <a:lnTo>
                  <a:pt x="0" y="1"/>
                </a:lnTo>
                <a:close/>
              </a:path>
            </a:pathLst>
          </a:custGeom>
          <a:solidFill>
            <a:srgbClr val="FFFFFF">
              <a:alpha val="10000"/>
            </a:srgbClr>
          </a:solidFill>
          <a:ln/>
        </p:spPr>
        <p:txBody>
          <a:bodyPr/>
          <a:p/>
        </p:txBody>
      </p:sp>
      <p:sp>
        <p:nvSpPr>
          <p:cNvPr id="1602" name=""/>
          <p:cNvSpPr/>
          <p:nvPr/>
        </p:nvSpPr>
        <p:spPr>
          <a:xfrm rot="0" flipH="0" flipV="0">
            <a:off x="4991100" y="2781300"/>
            <a:ext cx="781050" cy="219075"/>
          </a:xfrm>
          <a:prstGeom prst="rect">
            <a:avLst/>
          </a:prstGeom>
          <a:solidFill>
            <a:srgbClr val="C43A17"/>
          </a:solidFill>
          <a:ln/>
        </p:spPr>
        <p:txBody>
          <a:bodyPr/>
          <a:p/>
        </p:txBody>
      </p:sp>
      <p:sp>
        <p:nvSpPr>
          <p:cNvPr id="1603" name="" descr="{&quot;isTemplate&quot;:true,&quot;type&quot;:&quot;text&quot;}"/>
          <p:cNvSpPr txBox="1"/>
          <p:nvPr/>
        </p:nvSpPr>
        <p:spPr>
          <a:xfrm rot="0" flipH="0" flipV="0">
            <a:off x="5172075" y="2828925"/>
            <a:ext cx="419100" cy="133350"/>
          </a:xfrm>
          <a:prstGeom prst="rect"/>
        </p:spPr>
        <p:txBody>
          <a:bodyPr wrap="none" lIns="0" tIns="0" rIns="0" bIns="0"/>
          <a:p>
            <a:pPr>
              <a:lnSpc>
                <a:spcPct val="100000"/>
              </a:lnSpc>
            </a:pPr>
            <a:r>
              <a:rPr lang="zh-CN" sz="825" b="1">
                <a:solidFill>
                  <a:srgbClr val="FFFFFF"/>
                </a:solidFill>
                <a:latin typeface="Microsoft YaHei"/>
                <a:ea typeface="Microsoft YaHei"/>
              </a:rPr>
              <a:t>全局授予</a:t>
            </a:r>
            <a:endParaRPr/>
          </a:p>
        </p:txBody>
      </p:sp>
      <p:sp>
        <p:nvSpPr>
          <p:cNvPr id="1604" name="" descr="{&quot;isTemplate&quot;:true,&quot;type&quot;:&quot;text&quot;}"/>
          <p:cNvSpPr txBox="1"/>
          <p:nvPr/>
        </p:nvSpPr>
        <p:spPr>
          <a:xfrm rot="0" flipH="0" flipV="0">
            <a:off x="5886450" y="2800350"/>
            <a:ext cx="5524500" cy="190500"/>
          </a:xfrm>
          <a:prstGeom prst="rect"/>
        </p:spPr>
        <p:txBody>
          <a:bodyPr wrap="none" lIns="0" tIns="0" rIns="0" bIns="0"/>
          <a:p>
            <a:pPr>
              <a:lnSpc>
                <a:spcPct val="140000"/>
              </a:lnSpc>
            </a:pPr>
            <a:r>
              <a:rPr lang="zh-CN" sz="863">
                <a:solidFill>
                  <a:srgbClr val="FFFFFF">
                    <a:alpha val="85000"/>
                  </a:srgbClr>
                </a:solidFill>
                <a:latin typeface="Microsoft YaHei"/>
                <a:ea typeface="Microsoft YaHei"/>
              </a:rPr>
              <a:t>有标记不等于能看全部内容，仍需通过角色获得权限</a:t>
            </a:r>
            <a:endParaRPr/>
          </a:p>
        </p:txBody>
      </p:sp>
      <p:sp>
        <p:nvSpPr>
          <p:cNvPr id="1605" name=""/>
          <p:cNvSpPr/>
          <p:nvPr/>
        </p:nvSpPr>
        <p:spPr>
          <a:xfrm rot="0" flipH="0" flipV="0">
            <a:off x="4857750" y="3228975"/>
            <a:ext cx="6762750" cy="2409825"/>
          </a:xfrm>
          <a:prstGeom prst="roundRect">
            <a:avLst>
              <a:gd name="adj" fmla="val 1581"/>
            </a:avLst>
          </a:prstGeom>
          <a:solidFill>
            <a:srgbClr val="FFF3EE"/>
          </a:solidFill>
          <a:ln/>
        </p:spPr>
        <p:txBody>
          <a:bodyPr/>
          <a:p/>
        </p:txBody>
      </p:sp>
      <p:sp>
        <p:nvSpPr>
          <p:cNvPr id="1606" name=""/>
          <p:cNvSpPr/>
          <p:nvPr/>
        </p:nvSpPr>
        <p:spPr>
          <a:xfrm rot="0" flipH="0" flipV="0">
            <a:off x="4857750" y="3228975"/>
            <a:ext cx="6762750" cy="2409825"/>
          </a:xfrm>
          <a:custGeom>
            <a:pathLst>
              <a:path w="710" h="253">
                <a:moveTo>
                  <a:pt x="4" y="253"/>
                </a:moveTo>
                <a:cubicBezTo>
                  <a:pt x="2" y="253"/>
                  <a:pt x="0" y="251"/>
                  <a:pt x="0" y="249"/>
                </a:cubicBezTo>
                <a:lnTo>
                  <a:pt x="0" y="4"/>
                </a:lnTo>
                <a:cubicBezTo>
                  <a:pt x="0" y="2"/>
                  <a:pt x="2" y="0"/>
                  <a:pt x="4" y="0"/>
                </a:cubicBezTo>
                <a:lnTo>
                  <a:pt x="4" y="253"/>
                </a:lnTo>
                <a:close/>
              </a:path>
            </a:pathLst>
          </a:custGeom>
          <a:solidFill>
            <a:srgbClr val="FA4F24"/>
          </a:solidFill>
          <a:ln/>
        </p:spPr>
        <p:txBody>
          <a:bodyPr/>
          <a:p/>
        </p:txBody>
      </p:sp>
      <p:sp>
        <p:nvSpPr>
          <p:cNvPr id="1607" name="" descr="{&quot;isTemplate&quot;:true,&quot;type&quot;:&quot;text&quot;}"/>
          <p:cNvSpPr txBox="1"/>
          <p:nvPr/>
        </p:nvSpPr>
        <p:spPr>
          <a:xfrm rot="0" flipH="0" flipV="0">
            <a:off x="5010150" y="4105275"/>
            <a:ext cx="6419850" cy="161925"/>
          </a:xfrm>
          <a:prstGeom prst="rect"/>
        </p:spPr>
        <p:txBody>
          <a:bodyPr wrap="none" lIns="0" tIns="0" rIns="0" bIns="0"/>
          <a:p>
            <a:pPr>
              <a:lnSpc>
                <a:spcPct val="100000"/>
              </a:lnSpc>
            </a:pPr>
            <a:r>
              <a:rPr lang="zh-CN" sz="1050" b="1">
                <a:solidFill>
                  <a:srgbClr val="C43A17"/>
                </a:solidFill>
                <a:latin typeface="Microsoft YaHei"/>
                <a:ea typeface="Microsoft YaHei"/>
              </a:rPr>
              <a:t>咨询结论：标记体系要在</a:t>
            </a:r>
            <a:r>
              <a:rPr lang="en-US" sz="1050" b="1">
                <a:solidFill>
                  <a:srgbClr val="C43A17"/>
                </a:solidFill>
                <a:latin typeface="Microsoft YaHei"/>
                <a:ea typeface="Microsoft YaHei"/>
              </a:rPr>
              <a:t xml:space="preserve"> Approach </a:t>
            </a:r>
            <a:r>
              <a:rPr lang="zh-CN" sz="1050" b="1">
                <a:solidFill>
                  <a:srgbClr val="C43A17"/>
                </a:solidFill>
                <a:latin typeface="Microsoft YaHei"/>
                <a:ea typeface="Microsoft YaHei"/>
              </a:rPr>
              <a:t>第三阶段就冻结</a:t>
            </a:r>
            <a:endParaRPr/>
          </a:p>
        </p:txBody>
      </p:sp>
      <p:sp>
        <p:nvSpPr>
          <p:cNvPr id="1608" name="" descr="{&quot;isTemplate&quot;:true,&quot;type&quot;:&quot;text&quot;}"/>
          <p:cNvSpPr txBox="1"/>
          <p:nvPr/>
        </p:nvSpPr>
        <p:spPr>
          <a:xfrm rot="0" flipH="0" flipV="0">
            <a:off x="5010150" y="4333875"/>
            <a:ext cx="6419850" cy="428625"/>
          </a:xfrm>
          <a:prstGeom prst="rect"/>
        </p:spPr>
        <p:txBody>
          <a:bodyPr wrap="square" lIns="0" tIns="0" rIns="0" bIns="0">
            <a:normAutofit/>
          </a:bodyPr>
          <a:p>
            <a:pPr>
              <a:lnSpc>
                <a:spcPct val="155000"/>
              </a:lnSpc>
            </a:pPr>
            <a:r>
              <a:rPr lang="zh-CN" sz="900">
                <a:solidFill>
                  <a:srgbClr val="3A4050"/>
                </a:solidFill>
                <a:latin typeface="Microsoft YaHei"/>
                <a:ea typeface="Microsoft YaHei"/>
              </a:rPr>
              <a:t>因为它不可删除也不可改类，所以标记类别的划分一旦上线就基本定型。后来发现少了一类，只能新加一个类别去补，或者给所有资源补打新标记——无论哪种，都要重跑一遍历史数据的标记，这比改权限贵十倍。</a:t>
            </a:r>
            <a:endParaRPr/>
          </a:p>
        </p:txBody>
      </p:sp>
      <p:sp>
        <p:nvSpPr>
          <p:cNvPr id="1609"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1610" name=""/>
          <p:cNvSpPr/>
          <p:nvPr/>
        </p:nvSpPr>
        <p:spPr>
          <a:xfrm rot="0" flipH="0" flipV="0">
            <a:off x="609600" y="5953125"/>
            <a:ext cx="95250" cy="95250"/>
          </a:xfrm>
          <a:prstGeom prst="rect">
            <a:avLst/>
          </a:prstGeom>
          <a:solidFill>
            <a:srgbClr val="FA4F24"/>
          </a:solidFill>
          <a:ln/>
        </p:spPr>
        <p:txBody>
          <a:bodyPr/>
          <a:p/>
        </p:txBody>
      </p:sp>
      <p:sp>
        <p:nvSpPr>
          <p:cNvPr id="1611"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1612"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09 / 30</a:t>
            </a:r>
            <a:endParaRPr/>
          </a:p>
        </p:txBody>
      </p:sp>
    </p:spTree>
  </p:cSld>
</p:sld>
</file>

<file path=ppt/slides/slide10.xml><?xml version="1.0" encoding="utf-8"?>
<p:sld xmlns:p="http://schemas.openxmlformats.org/presentationml/2006/main" xmlns:a="http://schemas.openxmlformats.org/drawingml/2006/main">
  <p:cSld>
    <p:spTree>
      <p:nvGrpSpPr>
        <p:cNvPr id="38" name="" descr="&lt;Slide style={{ width: 1280, height: 720, background: '#FFFFFF', padding: '24px 64px 0' }}&gt;&#10;    &lt;Box style={{ height: 96, flexDirection: 'column', justifyContent: 'flex-start' }}&gt;&#10;      &lt;Text style={{ fontSize: 32, fontWeight: 'bold', color: '#0F1423' }}&gt;&#10;        对象与属性安全策略：&lt;span style={{ color: '#FA4F24' }}&gt;从行级到单元格级&lt;/span&gt;&#10;      &lt;/Text&gt;&#10;      &lt;Text style={{ fontSize: 20, color: '#8A8F99', marginTop: 8 }}&gt;&#10;        直接在对象类型上配策略，与底层数据源权限解耦——这是本册最需要在架构图上画清楚的一条&#10;      &lt;/Text&gt;&#10;    &lt;/Box&gt;&#10;    &lt;Box style={{ height: 1, background: '#E8E8E8' }} /&gt;&#10;&#10;    &lt;Box style={{ paddingTop: 14, paddingBottom: 8, height: 479, flexDirection: 'column', gap: 10 }}&gt;&#10;      {/* 三级 */}&#10;      &lt;Box style={{ height: 146, flexDirection: 'row', gap: 10 }}&gt;&#10;        {[&#10;          { t: '对象级安全策略', s: '行级', d: '在对象类型上直接配置，决定不同用户能看到哪些对象实例', c: '#FA4F24' },&#10;          { t: '属性级安全策略', s: '列级', d: '在对象策略之上配置，只能选主键以外的属性，且一个非主键属性最多属于一个', c: '#F87D2F' },&#10;          { t: '两者组合', s: '单元格级', d: '对象策略管行、属性策略管列，组合起来就得到单元格级的统一安全', c: '#E0651A' },&#10;        ].map((it, i) =&gt; (&#10;          &lt;Box key={it.t} style={{ flex: 1, background: '#F7F7F8', borderRadius: 4, borderTop: '3px solid ' + it.c, padding: '11px 14px', flexDirection: 'column' }}&gt;&#10;            &lt;Box style={{ flexDirection: 'row', alignItems: 'center', gap: 9 }}&gt;&#10;              &lt;Text style={{ fontSize: 15, fontWeight: 'bold', color: it.c }}&gt;{it.t}&lt;/Text&gt;&#10;              &lt;Box style={{ height: 20, background: it.c, padding: '0 8px', justifyContent: 'center' }}&gt;&#10;                &lt;Text style={{ fontSize: 10.5, color: '#FFFFFF' }}&gt;{it.s}&lt;/Text&gt;&#10;              &lt;/Box&gt;&#10;            &lt;/Box&gt;&#10;            &lt;Text style={{ fontSize: 12, color: '#3A4050', marginTop: 8, lineHeight: 1.5 }}&gt;{it.d}&lt;/Text&gt;&#10;          &lt;/Box&gt;&#10;        ))}&#10;      &lt;/Box&gt;&#10;&#10;      &lt;Box style={{ flex: 1, flexDirection: 'row', gap: 10 }}&gt;&#10;        &lt;Box style={{ width: 424, background: '#0F1423', borderRadius: 4, padding: '14px 18px', flexDirection: 'column' }}&gt;&#10;          &lt;Text style={{ fontSize: 14, fontWeight: 'bold', color: '#FBA15C' }}&gt;四条设计约束，写方案时必须落到纸面&lt;/Text&gt;&#10;          &lt;Box style={{ flex: 1, flexDirection: 'column', marginTop: 10 }}&gt;&#10;            {[&#10;              { n: '1', t: '主键属性不能进属性策略', d: '所以主键的可见性只能由对象策略决定，无法单独隐藏' },&#10;              { n: '2', t: '细粒度比较权重上限一万', d: '对象策略与属性策略合计的权重必须低于该限制，否则策略写不进去' },&#10;              { n: '3', t: '默认继承数据源全部强制控制', d: '标记、组织、分类都会继承下来，可新增也可移除不再需要的' },&#10;              { n: '4', t: '下载权限检查位置取决于对象类型存放位置', d: '存在项目中则检查对象类型；用本体角色或数据源派生权限则检查底层数据源' },&#10;            ].map((it, i) =&gt; (&#10;              &lt;Box key={it.n} style={{ flex: 1, flexDirection: 'row', alignItems: 'center', gap: 11, borderTop: i === 0 ? 'none' : '1px solid rgba(255,255,255,0.1)' }}&gt;&#10;                &lt;Text style={{ fontSize: 13, fontWeight: 'bold', color: '#FA4F24', width: 16 }}&gt;{it.n}&lt;/Text&gt;&#10;                &lt;Box style={{ flex: 1, flexDirection: 'column' }}&gt;&#10;                  &lt;Text style={{ fontSize: 12, color: '#FFFFFF' }}&gt;{it.t}&lt;/Text&gt;&#10;                  &lt;Text style={{ fontSize: 10.5, color: 'rgba(255,255,255,0.58)', marginTop: 2, lineHeight: 1.4 }}&gt;{it.d}&lt;/Text&gt;&#10;                &lt;/Box&gt;&#10;              &lt;/Box&gt;&#10;            ))}&#10;          &lt;/Box&gt;&#10;        &lt;/Box&gt;&#10;&#10;        &lt;Box style={{ flex: 1, background: '#FFF3EE', borderRadius: 4, borderLeft: '4px solid #FA4F24', padding: '13px 17px', flexDirection: 'column' }}&gt;&#10;          &lt;Text style={{ fontSize: 14, fontWeight: 'bold', color: '#C43A17' }}&gt;为什么官方建议从受限视图迁移过来&lt;/Text&gt;&#10;          &lt;Text style={{ fontSize: 12, color: '#3A4050', marginTop: 7, lineHeight: 1.5 }}&gt;&#10;            三个理由：统一了单元格级安全、策略更新近乎即时、支持流式与分支。受限视图是一层带过滤策略的虚拟层，如果它过滤掉某一行，对应的对象在本体图谱里对那个用户就等于不存在——这个效果是对的，但维护成本高，而且改策略要等数据重建。&#10;          &lt;/Text&gt;&#10;          &lt;Box style={{ flex: 1, background: '#FFFFFF', borderRadius: 3, padding: '9px 12px', marginTop: 9 }}&gt;&#10;            &lt;Text style={{ fontSize: 11.5, fontWeight: 'bold', color: '#C43A17' }}&gt;一个容易漏的坑：物化与历史事务&lt;/Text&gt;&#10;            &lt;Text style={{ fontSize: 11.5, color: '#3A4050', marginTop: 5, lineHeight: 1.5 }}&gt;&#10;              对象安全策略也决定物化数据的权限，且取最严格者。但添加或移除标记后，标记只反映在该标记存在期间提交的事务。已经产生的历史事务不会自动被覆盖，必须手工给物化或底层数据集补打标记。&#10;            &lt;/Text&gt;&#10;          &lt;/Box&gt;&#10;        &lt;/Box&gt;&#10;      &lt;/Box&gt;&#10;&#10;      &lt;Box style={{ height: 64, background: '#0F1423', borderRadius: 4, padding: '0 18px', flexDirection: 'row', alignItems: 'center', gap: 12 }}&gt;&#10;        &lt;Text style={{ fontSize: 14, fontWeight: 'bold', color: '#FBA15C', width: 152 }}&gt;2026 年新增能力&lt;/Text&gt;&#10;        &lt;Text style={{ fontSize: 12.5, color: 'rgba(255,255,255,0.92)', flex: 1, lineHeight: 1.5 }}&gt;&#10;          四月策略配置正式可用，六月策略测试能力正式可用——可以选一个具体用户，测他能看到这个对象的哪些属性。限制是不能测试派生属性的可见性，因为它同时依赖用户对派生属性来源对象的可见性。&#10;        &lt;/Text&gt;&#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10 / 30&lt;/Text&gt;&#10;    &lt;/Box&gt;&#10;&lt;/Slide&gt;&#10;"/>
        <p:cNvGrpSpPr/>
        <p:nvPr/>
      </p:nvGrpSpPr>
      <p:grpSpPr>
        <a:xfrm>
          <a:off x="0" y="0"/>
          <a:ext cx="0" cy="0"/>
          <a:chOff x="0" y="0"/>
          <a:chExt cx="0" cy="0"/>
        </a:xfrm>
      </p:grpSpPr>
      <p:sp>
        <p:nvSpPr>
          <p:cNvPr id="39" name=""/>
          <p:cNvSpPr/>
          <p:nvPr/>
        </p:nvSpPr>
        <p:spPr>
          <a:xfrm rot="0" flipH="0" flipV="0">
            <a:off x="0" y="0"/>
            <a:ext cx="12192000" cy="6858000"/>
          </a:xfrm>
          <a:prstGeom prst="rect">
            <a:avLst/>
          </a:prstGeom>
          <a:solidFill>
            <a:srgbClr val="FFFFFF"/>
          </a:solidFill>
          <a:ln/>
        </p:spPr>
        <p:txBody>
          <a:bodyPr/>
          <a:p/>
        </p:txBody>
      </p:sp>
      <p:sp>
        <p:nvSpPr>
          <p:cNvPr id="40"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对象与属性安全策略：</a:t>
            </a:r>
            <a:r>
              <a:rPr lang="zh-CN" sz="2400" b="1">
                <a:solidFill>
                  <a:srgbClr val="FA4F24"/>
                </a:solidFill>
                <a:latin typeface="Microsoft YaHei"/>
                <a:ea typeface="Microsoft YaHei"/>
              </a:rPr>
              <a:t>从行级到单元格级</a:t>
            </a:r>
            <a:endParaRPr/>
          </a:p>
        </p:txBody>
      </p:sp>
      <p:sp>
        <p:nvSpPr>
          <p:cNvPr id="41"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直接在对象类型上配策略，与底层数据源权限解耦——这是本册最需要在架构图上画清楚的一条</a:t>
            </a:r>
            <a:endParaRPr/>
          </a:p>
        </p:txBody>
      </p:sp>
      <p:sp>
        <p:nvSpPr>
          <p:cNvPr id="42" name=""/>
          <p:cNvSpPr/>
          <p:nvPr/>
        </p:nvSpPr>
        <p:spPr>
          <a:xfrm rot="0" flipH="0" flipV="0">
            <a:off x="609600" y="1143000"/>
            <a:ext cx="10972800" cy="9525"/>
          </a:xfrm>
          <a:prstGeom prst="rect">
            <a:avLst/>
          </a:prstGeom>
          <a:solidFill>
            <a:srgbClr val="E8E8E8"/>
          </a:solidFill>
          <a:ln/>
        </p:spPr>
        <p:txBody>
          <a:bodyPr/>
          <a:p/>
        </p:txBody>
      </p:sp>
      <p:sp>
        <p:nvSpPr>
          <p:cNvPr id="43" name=""/>
          <p:cNvSpPr/>
          <p:nvPr/>
        </p:nvSpPr>
        <p:spPr>
          <a:xfrm rot="0" flipH="0" flipV="0">
            <a:off x="609600" y="1314450"/>
            <a:ext cx="3590925" cy="1390650"/>
          </a:xfrm>
          <a:prstGeom prst="roundRect">
            <a:avLst>
              <a:gd name="adj" fmla="val 2740"/>
            </a:avLst>
          </a:prstGeom>
          <a:solidFill>
            <a:srgbClr val="F7F7F8"/>
          </a:solidFill>
          <a:ln/>
        </p:spPr>
        <p:txBody>
          <a:bodyPr/>
          <a:p/>
        </p:txBody>
      </p:sp>
      <p:sp>
        <p:nvSpPr>
          <p:cNvPr id="44" name=""/>
          <p:cNvSpPr/>
          <p:nvPr/>
        </p:nvSpPr>
        <p:spPr>
          <a:xfrm rot="0" flipH="0" flipV="0">
            <a:off x="609600" y="1314450"/>
            <a:ext cx="3590925" cy="1390650"/>
          </a:xfrm>
          <a:custGeom>
            <a:pathLst>
              <a:path w="377" h="146">
                <a:moveTo>
                  <a:pt x="373" y="0"/>
                </a:moveTo>
                <a:cubicBezTo>
                  <a:pt x="375" y="0"/>
                  <a:pt x="377" y="2"/>
                  <a:pt x="377" y="4"/>
                </a:cubicBezTo>
                <a:cubicBezTo>
                  <a:pt x="377" y="3"/>
                  <a:pt x="376" y="3"/>
                  <a:pt x="376" y="3"/>
                </a:cubicBezTo>
                <a:lnTo>
                  <a:pt x="1" y="3"/>
                </a:lnTo>
                <a:cubicBezTo>
                  <a:pt x="1" y="3"/>
                  <a:pt x="0" y="3"/>
                  <a:pt x="0" y="4"/>
                </a:cubicBezTo>
                <a:cubicBezTo>
                  <a:pt x="0" y="2"/>
                  <a:pt x="2" y="0"/>
                  <a:pt x="4" y="0"/>
                </a:cubicBezTo>
                <a:lnTo>
                  <a:pt x="373" y="0"/>
                </a:lnTo>
                <a:close/>
              </a:path>
            </a:pathLst>
          </a:custGeom>
          <a:solidFill>
            <a:srgbClr val="FA4F24"/>
          </a:solidFill>
          <a:ln/>
        </p:spPr>
        <p:txBody>
          <a:bodyPr/>
          <a:p/>
        </p:txBody>
      </p:sp>
      <p:sp>
        <p:nvSpPr>
          <p:cNvPr id="45" name="" descr="{&quot;isTemplate&quot;:true,&quot;type&quot;:&quot;text&quot;}"/>
          <p:cNvSpPr txBox="1"/>
          <p:nvPr/>
        </p:nvSpPr>
        <p:spPr>
          <a:xfrm rot="0" flipH="0" flipV="0">
            <a:off x="742950" y="1428750"/>
            <a:ext cx="1000125" cy="171450"/>
          </a:xfrm>
          <a:prstGeom prst="rect"/>
        </p:spPr>
        <p:txBody>
          <a:bodyPr wrap="none" lIns="0" tIns="0" rIns="0" bIns="0"/>
          <a:p>
            <a:pPr>
              <a:lnSpc>
                <a:spcPct val="100000"/>
              </a:lnSpc>
            </a:pPr>
            <a:r>
              <a:rPr lang="zh-CN" sz="1125" b="1">
                <a:solidFill>
                  <a:srgbClr val="FA4F24"/>
                </a:solidFill>
                <a:latin typeface="Microsoft YaHei"/>
                <a:ea typeface="Microsoft YaHei"/>
              </a:rPr>
              <a:t>对象级安全策略</a:t>
            </a:r>
            <a:endParaRPr/>
          </a:p>
        </p:txBody>
      </p:sp>
      <p:sp>
        <p:nvSpPr>
          <p:cNvPr id="46" name=""/>
          <p:cNvSpPr/>
          <p:nvPr/>
        </p:nvSpPr>
        <p:spPr>
          <a:xfrm rot="0" flipH="0" flipV="0">
            <a:off x="1828800" y="1419225"/>
            <a:ext cx="352425" cy="190500"/>
          </a:xfrm>
          <a:prstGeom prst="rect">
            <a:avLst/>
          </a:prstGeom>
          <a:solidFill>
            <a:srgbClr val="FA4F24"/>
          </a:solidFill>
          <a:ln/>
        </p:spPr>
        <p:txBody>
          <a:bodyPr/>
          <a:p/>
        </p:txBody>
      </p:sp>
      <p:sp>
        <p:nvSpPr>
          <p:cNvPr id="47" name="" descr="{&quot;isTemplate&quot;:true,&quot;type&quot;:&quot;text&quot;}"/>
          <p:cNvSpPr txBox="1"/>
          <p:nvPr/>
        </p:nvSpPr>
        <p:spPr>
          <a:xfrm rot="0" flipH="0" flipV="0">
            <a:off x="1905000" y="1457325"/>
            <a:ext cx="200025" cy="123825"/>
          </a:xfrm>
          <a:prstGeom prst="rect"/>
        </p:spPr>
        <p:txBody>
          <a:bodyPr wrap="none" lIns="0" tIns="0" rIns="0" bIns="0"/>
          <a:p>
            <a:pPr>
              <a:lnSpc>
                <a:spcPct val="100000"/>
              </a:lnSpc>
            </a:pPr>
            <a:r>
              <a:rPr lang="zh-CN" sz="788">
                <a:solidFill>
                  <a:srgbClr val="FFFFFF"/>
                </a:solidFill>
                <a:latin typeface="Microsoft YaHei"/>
                <a:ea typeface="Microsoft YaHei"/>
              </a:rPr>
              <a:t>行级</a:t>
            </a:r>
            <a:endParaRPr/>
          </a:p>
        </p:txBody>
      </p:sp>
      <p:sp>
        <p:nvSpPr>
          <p:cNvPr id="48" name="" descr="{&quot;isTemplate&quot;:true,&quot;type&quot;:&quot;text&quot;}"/>
          <p:cNvSpPr txBox="1"/>
          <p:nvPr/>
        </p:nvSpPr>
        <p:spPr>
          <a:xfrm rot="0" flipH="0" flipV="0">
            <a:off x="742950" y="1685925"/>
            <a:ext cx="3324225" cy="209550"/>
          </a:xfrm>
          <a:prstGeom prst="rect"/>
        </p:spPr>
        <p:txBody>
          <a:bodyPr wrap="none" lIns="0" tIns="0" rIns="0" bIns="0"/>
          <a:p>
            <a:pPr>
              <a:lnSpc>
                <a:spcPct val="150000"/>
              </a:lnSpc>
            </a:pPr>
            <a:r>
              <a:rPr lang="zh-CN" sz="900">
                <a:solidFill>
                  <a:srgbClr val="3A4050"/>
                </a:solidFill>
                <a:latin typeface="Microsoft YaHei"/>
                <a:ea typeface="Microsoft YaHei"/>
              </a:rPr>
              <a:t>在对象类型上直接配置，决定不同用户能看到哪些对象实例</a:t>
            </a:r>
            <a:endParaRPr/>
          </a:p>
        </p:txBody>
      </p:sp>
      <p:sp>
        <p:nvSpPr>
          <p:cNvPr id="49" name=""/>
          <p:cNvSpPr/>
          <p:nvPr/>
        </p:nvSpPr>
        <p:spPr>
          <a:xfrm rot="0" flipH="0" flipV="0">
            <a:off x="4295775" y="1314450"/>
            <a:ext cx="3600450" cy="1390650"/>
          </a:xfrm>
          <a:prstGeom prst="roundRect">
            <a:avLst>
              <a:gd name="adj" fmla="val 2740"/>
            </a:avLst>
          </a:prstGeom>
          <a:solidFill>
            <a:srgbClr val="F7F7F8"/>
          </a:solidFill>
          <a:ln/>
        </p:spPr>
        <p:txBody>
          <a:bodyPr/>
          <a:p/>
        </p:txBody>
      </p:sp>
      <p:sp>
        <p:nvSpPr>
          <p:cNvPr id="50" name=""/>
          <p:cNvSpPr/>
          <p:nvPr/>
        </p:nvSpPr>
        <p:spPr>
          <a:xfrm rot="0" flipH="0" flipV="0">
            <a:off x="4295775" y="1314450"/>
            <a:ext cx="3600450" cy="1390650"/>
          </a:xfrm>
          <a:custGeom>
            <a:pathLst>
              <a:path w="378" h="146">
                <a:moveTo>
                  <a:pt x="374" y="0"/>
                </a:moveTo>
                <a:cubicBezTo>
                  <a:pt x="376" y="0"/>
                  <a:pt x="378" y="2"/>
                  <a:pt x="378" y="4"/>
                </a:cubicBezTo>
                <a:cubicBezTo>
                  <a:pt x="378" y="3"/>
                  <a:pt x="377" y="3"/>
                  <a:pt x="377" y="3"/>
                </a:cubicBezTo>
                <a:lnTo>
                  <a:pt x="1" y="3"/>
                </a:lnTo>
                <a:cubicBezTo>
                  <a:pt x="1" y="3"/>
                  <a:pt x="0" y="3"/>
                  <a:pt x="0" y="4"/>
                </a:cubicBezTo>
                <a:cubicBezTo>
                  <a:pt x="0" y="2"/>
                  <a:pt x="2" y="0"/>
                  <a:pt x="4" y="0"/>
                </a:cubicBezTo>
                <a:lnTo>
                  <a:pt x="374" y="0"/>
                </a:lnTo>
                <a:close/>
              </a:path>
            </a:pathLst>
          </a:custGeom>
          <a:solidFill>
            <a:srgbClr val="F87D2F"/>
          </a:solidFill>
          <a:ln/>
        </p:spPr>
        <p:txBody>
          <a:bodyPr/>
          <a:p/>
        </p:txBody>
      </p:sp>
      <p:sp>
        <p:nvSpPr>
          <p:cNvPr id="51" name="" descr="{&quot;isTemplate&quot;:true,&quot;type&quot;:&quot;text&quot;}"/>
          <p:cNvSpPr txBox="1"/>
          <p:nvPr/>
        </p:nvSpPr>
        <p:spPr>
          <a:xfrm rot="0" flipH="0" flipV="0">
            <a:off x="4429125" y="1428750"/>
            <a:ext cx="1000125" cy="171450"/>
          </a:xfrm>
          <a:prstGeom prst="rect"/>
        </p:spPr>
        <p:txBody>
          <a:bodyPr wrap="none" lIns="0" tIns="0" rIns="0" bIns="0"/>
          <a:p>
            <a:pPr>
              <a:lnSpc>
                <a:spcPct val="100000"/>
              </a:lnSpc>
            </a:pPr>
            <a:r>
              <a:rPr lang="zh-CN" sz="1125" b="1">
                <a:solidFill>
                  <a:srgbClr val="F87D2F"/>
                </a:solidFill>
                <a:latin typeface="Microsoft YaHei"/>
                <a:ea typeface="Microsoft YaHei"/>
              </a:rPr>
              <a:t>属性级安全策略</a:t>
            </a:r>
            <a:endParaRPr/>
          </a:p>
        </p:txBody>
      </p:sp>
      <p:sp>
        <p:nvSpPr>
          <p:cNvPr id="52" name=""/>
          <p:cNvSpPr/>
          <p:nvPr/>
        </p:nvSpPr>
        <p:spPr>
          <a:xfrm rot="0" flipH="0" flipV="0">
            <a:off x="5514975" y="1419225"/>
            <a:ext cx="352425" cy="190500"/>
          </a:xfrm>
          <a:prstGeom prst="rect">
            <a:avLst/>
          </a:prstGeom>
          <a:solidFill>
            <a:srgbClr val="F87D2F"/>
          </a:solidFill>
          <a:ln/>
        </p:spPr>
        <p:txBody>
          <a:bodyPr/>
          <a:p/>
        </p:txBody>
      </p:sp>
      <p:sp>
        <p:nvSpPr>
          <p:cNvPr id="53" name="" descr="{&quot;isTemplate&quot;:true,&quot;type&quot;:&quot;text&quot;}"/>
          <p:cNvSpPr txBox="1"/>
          <p:nvPr/>
        </p:nvSpPr>
        <p:spPr>
          <a:xfrm rot="0" flipH="0" flipV="0">
            <a:off x="5591175" y="1457325"/>
            <a:ext cx="200025" cy="123825"/>
          </a:xfrm>
          <a:prstGeom prst="rect"/>
        </p:spPr>
        <p:txBody>
          <a:bodyPr wrap="none" lIns="0" tIns="0" rIns="0" bIns="0"/>
          <a:p>
            <a:pPr>
              <a:lnSpc>
                <a:spcPct val="100000"/>
              </a:lnSpc>
            </a:pPr>
            <a:r>
              <a:rPr lang="zh-CN" sz="788">
                <a:solidFill>
                  <a:srgbClr val="FFFFFF"/>
                </a:solidFill>
                <a:latin typeface="Microsoft YaHei"/>
                <a:ea typeface="Microsoft YaHei"/>
              </a:rPr>
              <a:t>列级</a:t>
            </a:r>
            <a:endParaRPr/>
          </a:p>
        </p:txBody>
      </p:sp>
      <p:sp>
        <p:nvSpPr>
          <p:cNvPr id="54" name="" descr="{&quot;isTemplate&quot;:true,&quot;type&quot;:&quot;text&quot;}"/>
          <p:cNvSpPr txBox="1"/>
          <p:nvPr/>
        </p:nvSpPr>
        <p:spPr>
          <a:xfrm rot="0" flipH="0" flipV="0">
            <a:off x="4429125" y="1685925"/>
            <a:ext cx="3333750" cy="419100"/>
          </a:xfrm>
          <a:prstGeom prst="rect"/>
        </p:spPr>
        <p:txBody>
          <a:bodyPr wrap="square" lIns="0" tIns="0" rIns="0" bIns="0">
            <a:normAutofit/>
          </a:bodyPr>
          <a:p>
            <a:pPr>
              <a:lnSpc>
                <a:spcPct val="150000"/>
              </a:lnSpc>
            </a:pPr>
            <a:r>
              <a:rPr lang="zh-CN" sz="900">
                <a:solidFill>
                  <a:srgbClr val="3A4050"/>
                </a:solidFill>
                <a:latin typeface="Microsoft YaHei"/>
                <a:ea typeface="Microsoft YaHei"/>
              </a:rPr>
              <a:t>在对象策略之上配置，只能选主键以外的属性，且一个非主键属性最多属于一个</a:t>
            </a:r>
            <a:endParaRPr/>
          </a:p>
        </p:txBody>
      </p:sp>
      <p:sp>
        <p:nvSpPr>
          <p:cNvPr id="55" name=""/>
          <p:cNvSpPr/>
          <p:nvPr/>
        </p:nvSpPr>
        <p:spPr>
          <a:xfrm rot="0" flipH="0" flipV="0">
            <a:off x="7991475" y="1314450"/>
            <a:ext cx="3590925" cy="1390650"/>
          </a:xfrm>
          <a:prstGeom prst="roundRect">
            <a:avLst>
              <a:gd name="adj" fmla="val 2740"/>
            </a:avLst>
          </a:prstGeom>
          <a:solidFill>
            <a:srgbClr val="F7F7F8"/>
          </a:solidFill>
          <a:ln/>
        </p:spPr>
        <p:txBody>
          <a:bodyPr/>
          <a:p/>
        </p:txBody>
      </p:sp>
      <p:sp>
        <p:nvSpPr>
          <p:cNvPr id="56" name=""/>
          <p:cNvSpPr/>
          <p:nvPr/>
        </p:nvSpPr>
        <p:spPr>
          <a:xfrm rot="0" flipH="0" flipV="0">
            <a:off x="7991475" y="1314450"/>
            <a:ext cx="3590925" cy="1390650"/>
          </a:xfrm>
          <a:custGeom>
            <a:pathLst>
              <a:path w="377" h="146">
                <a:moveTo>
                  <a:pt x="373" y="0"/>
                </a:moveTo>
                <a:cubicBezTo>
                  <a:pt x="375" y="0"/>
                  <a:pt x="377" y="2"/>
                  <a:pt x="377" y="4"/>
                </a:cubicBezTo>
                <a:cubicBezTo>
                  <a:pt x="377" y="3"/>
                  <a:pt x="376" y="3"/>
                  <a:pt x="376" y="3"/>
                </a:cubicBezTo>
                <a:lnTo>
                  <a:pt x="1" y="3"/>
                </a:lnTo>
                <a:cubicBezTo>
                  <a:pt x="1" y="3"/>
                  <a:pt x="0" y="3"/>
                  <a:pt x="0" y="4"/>
                </a:cubicBezTo>
                <a:cubicBezTo>
                  <a:pt x="0" y="2"/>
                  <a:pt x="2" y="0"/>
                  <a:pt x="4" y="0"/>
                </a:cubicBezTo>
                <a:lnTo>
                  <a:pt x="373" y="0"/>
                </a:lnTo>
                <a:close/>
              </a:path>
            </a:pathLst>
          </a:custGeom>
          <a:solidFill>
            <a:srgbClr val="E0651A"/>
          </a:solidFill>
          <a:ln/>
        </p:spPr>
        <p:txBody>
          <a:bodyPr/>
          <a:p/>
        </p:txBody>
      </p:sp>
      <p:sp>
        <p:nvSpPr>
          <p:cNvPr id="57" name="" descr="{&quot;isTemplate&quot;:true,&quot;type&quot;:&quot;text&quot;}"/>
          <p:cNvSpPr txBox="1"/>
          <p:nvPr/>
        </p:nvSpPr>
        <p:spPr>
          <a:xfrm rot="0" flipH="0" flipV="0">
            <a:off x="8124825" y="1428750"/>
            <a:ext cx="571500" cy="171450"/>
          </a:xfrm>
          <a:prstGeom prst="rect"/>
        </p:spPr>
        <p:txBody>
          <a:bodyPr wrap="none" lIns="0" tIns="0" rIns="0" bIns="0"/>
          <a:p>
            <a:pPr>
              <a:lnSpc>
                <a:spcPct val="100000"/>
              </a:lnSpc>
            </a:pPr>
            <a:r>
              <a:rPr lang="zh-CN" sz="1125" b="1">
                <a:solidFill>
                  <a:srgbClr val="E0651A"/>
                </a:solidFill>
                <a:latin typeface="Microsoft YaHei"/>
                <a:ea typeface="Microsoft YaHei"/>
              </a:rPr>
              <a:t>两者组合</a:t>
            </a:r>
            <a:endParaRPr/>
          </a:p>
        </p:txBody>
      </p:sp>
      <p:sp>
        <p:nvSpPr>
          <p:cNvPr id="58" name=""/>
          <p:cNvSpPr/>
          <p:nvPr/>
        </p:nvSpPr>
        <p:spPr>
          <a:xfrm rot="0" flipH="0" flipV="0">
            <a:off x="8782050" y="1419225"/>
            <a:ext cx="552450" cy="190500"/>
          </a:xfrm>
          <a:prstGeom prst="rect">
            <a:avLst/>
          </a:prstGeom>
          <a:solidFill>
            <a:srgbClr val="E0651A"/>
          </a:solidFill>
          <a:ln/>
        </p:spPr>
        <p:txBody>
          <a:bodyPr/>
          <a:p/>
        </p:txBody>
      </p:sp>
      <p:sp>
        <p:nvSpPr>
          <p:cNvPr id="59" name="" descr="{&quot;isTemplate&quot;:true,&quot;type&quot;:&quot;text&quot;}"/>
          <p:cNvSpPr txBox="1"/>
          <p:nvPr/>
        </p:nvSpPr>
        <p:spPr>
          <a:xfrm rot="0" flipH="0" flipV="0">
            <a:off x="8858250" y="1457325"/>
            <a:ext cx="400050" cy="123825"/>
          </a:xfrm>
          <a:prstGeom prst="rect"/>
        </p:spPr>
        <p:txBody>
          <a:bodyPr wrap="none" lIns="0" tIns="0" rIns="0" bIns="0"/>
          <a:p>
            <a:pPr>
              <a:lnSpc>
                <a:spcPct val="100000"/>
              </a:lnSpc>
            </a:pPr>
            <a:r>
              <a:rPr lang="zh-CN" sz="788">
                <a:solidFill>
                  <a:srgbClr val="FFFFFF"/>
                </a:solidFill>
                <a:latin typeface="Microsoft YaHei"/>
                <a:ea typeface="Microsoft YaHei"/>
              </a:rPr>
              <a:t>单元格级</a:t>
            </a:r>
            <a:endParaRPr/>
          </a:p>
        </p:txBody>
      </p:sp>
      <p:sp>
        <p:nvSpPr>
          <p:cNvPr id="60" name="" descr="{&quot;isTemplate&quot;:true,&quot;type&quot;:&quot;text&quot;}"/>
          <p:cNvSpPr txBox="1"/>
          <p:nvPr/>
        </p:nvSpPr>
        <p:spPr>
          <a:xfrm rot="0" flipH="0" flipV="0">
            <a:off x="8124825" y="1685925"/>
            <a:ext cx="3324225" cy="419100"/>
          </a:xfrm>
          <a:prstGeom prst="rect"/>
        </p:spPr>
        <p:txBody>
          <a:bodyPr wrap="square" lIns="0" tIns="0" rIns="0" bIns="0">
            <a:normAutofit/>
          </a:bodyPr>
          <a:p>
            <a:pPr>
              <a:lnSpc>
                <a:spcPct val="150000"/>
              </a:lnSpc>
            </a:pPr>
            <a:r>
              <a:rPr lang="zh-CN" sz="900">
                <a:solidFill>
                  <a:srgbClr val="3A4050"/>
                </a:solidFill>
                <a:latin typeface="Microsoft YaHei"/>
                <a:ea typeface="Microsoft YaHei"/>
              </a:rPr>
              <a:t>对象策略管行、属性策略管列，组合起来就得到单元格级的统一安全</a:t>
            </a:r>
            <a:endParaRPr/>
          </a:p>
        </p:txBody>
      </p:sp>
      <p:sp>
        <p:nvSpPr>
          <p:cNvPr id="61" name=""/>
          <p:cNvSpPr/>
          <p:nvPr/>
        </p:nvSpPr>
        <p:spPr>
          <a:xfrm rot="0" flipH="0" flipV="0">
            <a:off x="609600" y="2771775"/>
            <a:ext cx="4038600" cy="2162175"/>
          </a:xfrm>
          <a:prstGeom prst="roundRect">
            <a:avLst>
              <a:gd name="adj" fmla="val 1762"/>
            </a:avLst>
          </a:prstGeom>
          <a:solidFill>
            <a:srgbClr val="0F1423"/>
          </a:solidFill>
          <a:ln/>
        </p:spPr>
        <p:txBody>
          <a:bodyPr/>
          <a:p/>
        </p:txBody>
      </p:sp>
      <p:sp>
        <p:nvSpPr>
          <p:cNvPr id="62" name="" descr="{&quot;isTemplate&quot;:true,&quot;type&quot;:&quot;text&quot;}"/>
          <p:cNvSpPr txBox="1"/>
          <p:nvPr/>
        </p:nvSpPr>
        <p:spPr>
          <a:xfrm rot="0" flipH="0" flipV="0">
            <a:off x="781050" y="2905125"/>
            <a:ext cx="3695700" cy="161925"/>
          </a:xfrm>
          <a:prstGeom prst="rect"/>
        </p:spPr>
        <p:txBody>
          <a:bodyPr wrap="none" lIns="0" tIns="0" rIns="0" bIns="0"/>
          <a:p>
            <a:pPr>
              <a:lnSpc>
                <a:spcPct val="100000"/>
              </a:lnSpc>
            </a:pPr>
            <a:r>
              <a:rPr lang="zh-CN" sz="1050" b="1">
                <a:solidFill>
                  <a:srgbClr val="FBA15C"/>
                </a:solidFill>
                <a:latin typeface="Microsoft YaHei"/>
                <a:ea typeface="Microsoft YaHei"/>
              </a:rPr>
              <a:t>四条设计约束，写方案时必须落到纸面</a:t>
            </a:r>
            <a:endParaRPr/>
          </a:p>
        </p:txBody>
      </p:sp>
      <p:sp>
        <p:nvSpPr>
          <p:cNvPr id="63" name="" descr="{&quot;isTemplate&quot;:true,&quot;type&quot;:&quot;text&quot;}"/>
          <p:cNvSpPr txBox="1"/>
          <p:nvPr/>
        </p:nvSpPr>
        <p:spPr>
          <a:xfrm rot="0" flipH="0" flipV="0">
            <a:off x="781050" y="3286125"/>
            <a:ext cx="152400" cy="152400"/>
          </a:xfrm>
          <a:prstGeom prst="rect"/>
        </p:spPr>
        <p:txBody>
          <a:bodyPr wrap="none" lIns="0" tIns="0" rIns="0" bIns="0"/>
          <a:p>
            <a:pPr>
              <a:lnSpc>
                <a:spcPct val="100000"/>
              </a:lnSpc>
            </a:pPr>
            <a:r>
              <a:rPr lang="en-US" sz="975" b="1">
                <a:solidFill>
                  <a:srgbClr val="FA4F24"/>
                </a:solidFill>
                <a:latin typeface="Microsoft YaHei"/>
                <a:ea typeface="Microsoft YaHei"/>
              </a:rPr>
              <a:t>1</a:t>
            </a:r>
            <a:endParaRPr/>
          </a:p>
        </p:txBody>
      </p:sp>
      <p:sp>
        <p:nvSpPr>
          <p:cNvPr id="64" name="" descr="{&quot;isTemplate&quot;:true,&quot;type&quot;:&quot;text&quot;}"/>
          <p:cNvSpPr txBox="1"/>
          <p:nvPr/>
        </p:nvSpPr>
        <p:spPr>
          <a:xfrm rot="0" flipH="0" flipV="0">
            <a:off x="1038225" y="3200400"/>
            <a:ext cx="3438525" cy="142875"/>
          </a:xfrm>
          <a:prstGeom prst="rect"/>
        </p:spPr>
        <p:txBody>
          <a:bodyPr wrap="none" lIns="0" tIns="0" rIns="0" bIns="0"/>
          <a:p>
            <a:pPr>
              <a:lnSpc>
                <a:spcPct val="100000"/>
              </a:lnSpc>
            </a:pPr>
            <a:r>
              <a:rPr lang="zh-CN" sz="900">
                <a:solidFill>
                  <a:srgbClr val="FFFFFF"/>
                </a:solidFill>
                <a:latin typeface="Microsoft YaHei"/>
                <a:ea typeface="Microsoft YaHei"/>
              </a:rPr>
              <a:t>主键属性不能进属性策略</a:t>
            </a:r>
            <a:endParaRPr/>
          </a:p>
        </p:txBody>
      </p:sp>
      <p:sp>
        <p:nvSpPr>
          <p:cNvPr id="65" name="" descr="{&quot;isTemplate&quot;:true,&quot;type&quot;:&quot;text&quot;}"/>
          <p:cNvSpPr txBox="1"/>
          <p:nvPr/>
        </p:nvSpPr>
        <p:spPr>
          <a:xfrm rot="0" flipH="0" flipV="0">
            <a:off x="1038225" y="3362325"/>
            <a:ext cx="3438525" cy="171450"/>
          </a:xfrm>
          <a:prstGeom prst="rect"/>
        </p:spPr>
        <p:txBody>
          <a:bodyPr wrap="none" lIns="0" tIns="0" rIns="0" bIns="0"/>
          <a:p>
            <a:pPr>
              <a:lnSpc>
                <a:spcPct val="140000"/>
              </a:lnSpc>
            </a:pPr>
            <a:r>
              <a:rPr lang="zh-CN" sz="788">
                <a:solidFill>
                  <a:srgbClr val="FFFFFF">
                    <a:alpha val="58000"/>
                  </a:srgbClr>
                </a:solidFill>
                <a:latin typeface="Microsoft YaHei"/>
                <a:ea typeface="Microsoft YaHei"/>
              </a:rPr>
              <a:t>所以主键的可见性只能由对象策略决定，无法单独隐藏</a:t>
            </a:r>
            <a:endParaRPr/>
          </a:p>
        </p:txBody>
      </p:sp>
      <p:sp>
        <p:nvSpPr>
          <p:cNvPr id="66" name=""/>
          <p:cNvSpPr/>
          <p:nvPr/>
        </p:nvSpPr>
        <p:spPr>
          <a:xfrm rot="0" flipH="0" flipV="0">
            <a:off x="781050" y="3562350"/>
            <a:ext cx="3695700" cy="428625"/>
          </a:xfrm>
          <a:custGeom>
            <a:pathLst>
              <a:path w="388" h="45">
                <a:moveTo>
                  <a:pt x="0" y="0"/>
                </a:moveTo>
                <a:lnTo>
                  <a:pt x="388" y="0"/>
                </a:lnTo>
                <a:lnTo>
                  <a:pt x="388" y="1"/>
                </a:lnTo>
                <a:lnTo>
                  <a:pt x="0" y="1"/>
                </a:lnTo>
                <a:close/>
              </a:path>
            </a:pathLst>
          </a:custGeom>
          <a:solidFill>
            <a:srgbClr val="FFFFFF">
              <a:alpha val="10000"/>
            </a:srgbClr>
          </a:solidFill>
          <a:ln/>
        </p:spPr>
        <p:txBody>
          <a:bodyPr/>
          <a:p/>
        </p:txBody>
      </p:sp>
      <p:sp>
        <p:nvSpPr>
          <p:cNvPr id="67" name="" descr="{&quot;isTemplate&quot;:true,&quot;type&quot;:&quot;text&quot;}"/>
          <p:cNvSpPr txBox="1"/>
          <p:nvPr/>
        </p:nvSpPr>
        <p:spPr>
          <a:xfrm rot="0" flipH="0" flipV="0">
            <a:off x="781050" y="3705225"/>
            <a:ext cx="152400" cy="152400"/>
          </a:xfrm>
          <a:prstGeom prst="rect"/>
        </p:spPr>
        <p:txBody>
          <a:bodyPr wrap="none" lIns="0" tIns="0" rIns="0" bIns="0"/>
          <a:p>
            <a:pPr>
              <a:lnSpc>
                <a:spcPct val="100000"/>
              </a:lnSpc>
            </a:pPr>
            <a:r>
              <a:rPr lang="en-US" sz="975" b="1">
                <a:solidFill>
                  <a:srgbClr val="FA4F24"/>
                </a:solidFill>
                <a:latin typeface="Microsoft YaHei"/>
                <a:ea typeface="Microsoft YaHei"/>
              </a:rPr>
              <a:t>2</a:t>
            </a:r>
            <a:endParaRPr/>
          </a:p>
        </p:txBody>
      </p:sp>
      <p:sp>
        <p:nvSpPr>
          <p:cNvPr id="68" name="" descr="{&quot;isTemplate&quot;:true,&quot;type&quot;:&quot;text&quot;}"/>
          <p:cNvSpPr txBox="1"/>
          <p:nvPr/>
        </p:nvSpPr>
        <p:spPr>
          <a:xfrm rot="0" flipH="0" flipV="0">
            <a:off x="1038225" y="3609975"/>
            <a:ext cx="3438525" cy="142875"/>
          </a:xfrm>
          <a:prstGeom prst="rect"/>
        </p:spPr>
        <p:txBody>
          <a:bodyPr wrap="none" lIns="0" tIns="0" rIns="0" bIns="0"/>
          <a:p>
            <a:pPr>
              <a:lnSpc>
                <a:spcPct val="100000"/>
              </a:lnSpc>
            </a:pPr>
            <a:r>
              <a:rPr lang="zh-CN" sz="900">
                <a:solidFill>
                  <a:srgbClr val="FFFFFF"/>
                </a:solidFill>
                <a:latin typeface="Microsoft YaHei"/>
                <a:ea typeface="Microsoft YaHei"/>
              </a:rPr>
              <a:t>细粒度比较权重上限一万</a:t>
            </a:r>
            <a:endParaRPr/>
          </a:p>
        </p:txBody>
      </p:sp>
      <p:sp>
        <p:nvSpPr>
          <p:cNvPr id="69" name="" descr="{&quot;isTemplate&quot;:true,&quot;type&quot;:&quot;text&quot;}"/>
          <p:cNvSpPr txBox="1"/>
          <p:nvPr/>
        </p:nvSpPr>
        <p:spPr>
          <a:xfrm rot="0" flipH="0" flipV="0">
            <a:off x="1038225" y="3771900"/>
            <a:ext cx="3438525" cy="171450"/>
          </a:xfrm>
          <a:prstGeom prst="rect"/>
        </p:spPr>
        <p:txBody>
          <a:bodyPr wrap="none" lIns="0" tIns="0" rIns="0" bIns="0"/>
          <a:p>
            <a:pPr>
              <a:lnSpc>
                <a:spcPct val="140000"/>
              </a:lnSpc>
            </a:pPr>
            <a:r>
              <a:rPr lang="zh-CN" sz="788">
                <a:solidFill>
                  <a:srgbClr val="FFFFFF">
                    <a:alpha val="58000"/>
                  </a:srgbClr>
                </a:solidFill>
                <a:latin typeface="Microsoft YaHei"/>
                <a:ea typeface="Microsoft YaHei"/>
              </a:rPr>
              <a:t>对象策略与属性策略合计的权重必须低于该限制，否则策略写不进去</a:t>
            </a:r>
            <a:endParaRPr/>
          </a:p>
        </p:txBody>
      </p:sp>
      <p:sp>
        <p:nvSpPr>
          <p:cNvPr id="70" name=""/>
          <p:cNvSpPr/>
          <p:nvPr/>
        </p:nvSpPr>
        <p:spPr>
          <a:xfrm rot="0" flipH="0" flipV="0">
            <a:off x="781050" y="3981450"/>
            <a:ext cx="3695700" cy="419100"/>
          </a:xfrm>
          <a:custGeom>
            <a:pathLst>
              <a:path w="388" h="44">
                <a:moveTo>
                  <a:pt x="0" y="0"/>
                </a:moveTo>
                <a:lnTo>
                  <a:pt x="388" y="0"/>
                </a:lnTo>
                <a:lnTo>
                  <a:pt x="388" y="1"/>
                </a:lnTo>
                <a:lnTo>
                  <a:pt x="0" y="1"/>
                </a:lnTo>
                <a:close/>
              </a:path>
            </a:pathLst>
          </a:custGeom>
          <a:solidFill>
            <a:srgbClr val="FFFFFF">
              <a:alpha val="10000"/>
            </a:srgbClr>
          </a:solidFill>
          <a:ln/>
        </p:spPr>
        <p:txBody>
          <a:bodyPr/>
          <a:p/>
        </p:txBody>
      </p:sp>
      <p:sp>
        <p:nvSpPr>
          <p:cNvPr id="71" name="" descr="{&quot;isTemplate&quot;:true,&quot;type&quot;:&quot;text&quot;}"/>
          <p:cNvSpPr txBox="1"/>
          <p:nvPr/>
        </p:nvSpPr>
        <p:spPr>
          <a:xfrm rot="0" flipH="0" flipV="0">
            <a:off x="781050" y="4114800"/>
            <a:ext cx="152400" cy="152400"/>
          </a:xfrm>
          <a:prstGeom prst="rect"/>
        </p:spPr>
        <p:txBody>
          <a:bodyPr wrap="none" lIns="0" tIns="0" rIns="0" bIns="0"/>
          <a:p>
            <a:pPr>
              <a:lnSpc>
                <a:spcPct val="100000"/>
              </a:lnSpc>
            </a:pPr>
            <a:r>
              <a:rPr lang="en-US" sz="975" b="1">
                <a:solidFill>
                  <a:srgbClr val="FA4F24"/>
                </a:solidFill>
                <a:latin typeface="Microsoft YaHei"/>
                <a:ea typeface="Microsoft YaHei"/>
              </a:rPr>
              <a:t>3</a:t>
            </a:r>
            <a:endParaRPr/>
          </a:p>
        </p:txBody>
      </p:sp>
      <p:sp>
        <p:nvSpPr>
          <p:cNvPr id="72" name="" descr="{&quot;isTemplate&quot;:true,&quot;type&quot;:&quot;text&quot;}"/>
          <p:cNvSpPr txBox="1"/>
          <p:nvPr/>
        </p:nvSpPr>
        <p:spPr>
          <a:xfrm rot="0" flipH="0" flipV="0">
            <a:off x="1038225" y="4029075"/>
            <a:ext cx="3438525" cy="142875"/>
          </a:xfrm>
          <a:prstGeom prst="rect"/>
        </p:spPr>
        <p:txBody>
          <a:bodyPr wrap="none" lIns="0" tIns="0" rIns="0" bIns="0"/>
          <a:p>
            <a:pPr>
              <a:lnSpc>
                <a:spcPct val="100000"/>
              </a:lnSpc>
            </a:pPr>
            <a:r>
              <a:rPr lang="zh-CN" sz="900">
                <a:solidFill>
                  <a:srgbClr val="FFFFFF"/>
                </a:solidFill>
                <a:latin typeface="Microsoft YaHei"/>
                <a:ea typeface="Microsoft YaHei"/>
              </a:rPr>
              <a:t>默认继承数据源全部强制控制</a:t>
            </a:r>
            <a:endParaRPr/>
          </a:p>
        </p:txBody>
      </p:sp>
      <p:sp>
        <p:nvSpPr>
          <p:cNvPr id="73" name="" descr="{&quot;isTemplate&quot;:true,&quot;type&quot;:&quot;text&quot;}"/>
          <p:cNvSpPr txBox="1"/>
          <p:nvPr/>
        </p:nvSpPr>
        <p:spPr>
          <a:xfrm rot="0" flipH="0" flipV="0">
            <a:off x="1038225" y="4191000"/>
            <a:ext cx="3438525" cy="171450"/>
          </a:xfrm>
          <a:prstGeom prst="rect"/>
        </p:spPr>
        <p:txBody>
          <a:bodyPr wrap="none" lIns="0" tIns="0" rIns="0" bIns="0"/>
          <a:p>
            <a:pPr>
              <a:lnSpc>
                <a:spcPct val="140000"/>
              </a:lnSpc>
            </a:pPr>
            <a:r>
              <a:rPr lang="zh-CN" sz="788">
                <a:solidFill>
                  <a:srgbClr val="FFFFFF">
                    <a:alpha val="58000"/>
                  </a:srgbClr>
                </a:solidFill>
                <a:latin typeface="Microsoft YaHei"/>
                <a:ea typeface="Microsoft YaHei"/>
              </a:rPr>
              <a:t>标记、组织、分类都会继承下来，可新增也可移除不再需要的</a:t>
            </a:r>
            <a:endParaRPr/>
          </a:p>
        </p:txBody>
      </p:sp>
      <p:sp>
        <p:nvSpPr>
          <p:cNvPr id="74" name=""/>
          <p:cNvSpPr/>
          <p:nvPr/>
        </p:nvSpPr>
        <p:spPr>
          <a:xfrm rot="0" flipH="0" flipV="0">
            <a:off x="781050" y="4391025"/>
            <a:ext cx="3695700" cy="419100"/>
          </a:xfrm>
          <a:custGeom>
            <a:pathLst>
              <a:path w="388" h="44">
                <a:moveTo>
                  <a:pt x="0" y="0"/>
                </a:moveTo>
                <a:lnTo>
                  <a:pt x="388" y="0"/>
                </a:lnTo>
                <a:lnTo>
                  <a:pt x="388" y="1"/>
                </a:lnTo>
                <a:lnTo>
                  <a:pt x="0" y="1"/>
                </a:lnTo>
                <a:close/>
              </a:path>
            </a:pathLst>
          </a:custGeom>
          <a:solidFill>
            <a:srgbClr val="FFFFFF">
              <a:alpha val="10000"/>
            </a:srgbClr>
          </a:solidFill>
          <a:ln/>
        </p:spPr>
        <p:txBody>
          <a:bodyPr/>
          <a:p/>
        </p:txBody>
      </p:sp>
      <p:sp>
        <p:nvSpPr>
          <p:cNvPr id="75" name="" descr="{&quot;isTemplate&quot;:true,&quot;type&quot;:&quot;text&quot;}"/>
          <p:cNvSpPr txBox="1"/>
          <p:nvPr/>
        </p:nvSpPr>
        <p:spPr>
          <a:xfrm rot="0" flipH="0" flipV="0">
            <a:off x="781050" y="4524375"/>
            <a:ext cx="152400" cy="152400"/>
          </a:xfrm>
          <a:prstGeom prst="rect"/>
        </p:spPr>
        <p:txBody>
          <a:bodyPr wrap="none" lIns="0" tIns="0" rIns="0" bIns="0"/>
          <a:p>
            <a:pPr>
              <a:lnSpc>
                <a:spcPct val="100000"/>
              </a:lnSpc>
            </a:pPr>
            <a:r>
              <a:rPr lang="en-US" sz="975" b="1">
                <a:solidFill>
                  <a:srgbClr val="FA4F24"/>
                </a:solidFill>
                <a:latin typeface="Microsoft YaHei"/>
                <a:ea typeface="Microsoft YaHei"/>
              </a:rPr>
              <a:t>4</a:t>
            </a:r>
            <a:endParaRPr/>
          </a:p>
        </p:txBody>
      </p:sp>
      <p:sp>
        <p:nvSpPr>
          <p:cNvPr id="76" name="" descr="{&quot;isTemplate&quot;:true,&quot;type&quot;:&quot;text&quot;}"/>
          <p:cNvSpPr txBox="1"/>
          <p:nvPr/>
        </p:nvSpPr>
        <p:spPr>
          <a:xfrm rot="0" flipH="0" flipV="0">
            <a:off x="1038225" y="4438650"/>
            <a:ext cx="3438525" cy="142875"/>
          </a:xfrm>
          <a:prstGeom prst="rect"/>
        </p:spPr>
        <p:txBody>
          <a:bodyPr wrap="none" lIns="0" tIns="0" rIns="0" bIns="0"/>
          <a:p>
            <a:pPr>
              <a:lnSpc>
                <a:spcPct val="100000"/>
              </a:lnSpc>
            </a:pPr>
            <a:r>
              <a:rPr lang="zh-CN" sz="900">
                <a:solidFill>
                  <a:srgbClr val="FFFFFF"/>
                </a:solidFill>
                <a:latin typeface="Microsoft YaHei"/>
                <a:ea typeface="Microsoft YaHei"/>
              </a:rPr>
              <a:t>下载权限检查位置取决于对象类型存放位置</a:t>
            </a:r>
            <a:endParaRPr/>
          </a:p>
        </p:txBody>
      </p:sp>
      <p:sp>
        <p:nvSpPr>
          <p:cNvPr id="77" name="" descr="{&quot;isTemplate&quot;:true,&quot;type&quot;:&quot;text&quot;}"/>
          <p:cNvSpPr txBox="1"/>
          <p:nvPr/>
        </p:nvSpPr>
        <p:spPr>
          <a:xfrm rot="0" flipH="0" flipV="0">
            <a:off x="1038225" y="4600575"/>
            <a:ext cx="3438525" cy="171450"/>
          </a:xfrm>
          <a:prstGeom prst="rect"/>
        </p:spPr>
        <p:txBody>
          <a:bodyPr wrap="none" lIns="0" tIns="0" rIns="0" bIns="0"/>
          <a:p>
            <a:pPr>
              <a:lnSpc>
                <a:spcPct val="140000"/>
              </a:lnSpc>
            </a:pPr>
            <a:r>
              <a:rPr lang="zh-CN" sz="788">
                <a:solidFill>
                  <a:srgbClr val="FFFFFF">
                    <a:alpha val="58000"/>
                  </a:srgbClr>
                </a:solidFill>
                <a:latin typeface="Microsoft YaHei"/>
                <a:ea typeface="Microsoft YaHei"/>
              </a:rPr>
              <a:t>存在项目中则检查对象类型；用本体角色或数据源派生权限则检查底层数据源</a:t>
            </a:r>
            <a:endParaRPr/>
          </a:p>
        </p:txBody>
      </p:sp>
      <p:sp>
        <p:nvSpPr>
          <p:cNvPr id="78" name=""/>
          <p:cNvSpPr/>
          <p:nvPr/>
        </p:nvSpPr>
        <p:spPr>
          <a:xfrm rot="0" flipH="0" flipV="0">
            <a:off x="4781550" y="2771775"/>
            <a:ext cx="6838950" cy="2162175"/>
          </a:xfrm>
          <a:prstGeom prst="roundRect">
            <a:avLst>
              <a:gd name="adj" fmla="val 1762"/>
            </a:avLst>
          </a:prstGeom>
          <a:solidFill>
            <a:srgbClr val="FFF3EE"/>
          </a:solidFill>
          <a:ln/>
        </p:spPr>
        <p:txBody>
          <a:bodyPr/>
          <a:p/>
        </p:txBody>
      </p:sp>
      <p:sp>
        <p:nvSpPr>
          <p:cNvPr id="79" name=""/>
          <p:cNvSpPr/>
          <p:nvPr/>
        </p:nvSpPr>
        <p:spPr>
          <a:xfrm rot="0" flipH="0" flipV="0">
            <a:off x="4781550" y="2771775"/>
            <a:ext cx="6838950" cy="2162175"/>
          </a:xfrm>
          <a:custGeom>
            <a:pathLst>
              <a:path w="718" h="227">
                <a:moveTo>
                  <a:pt x="4" y="227"/>
                </a:moveTo>
                <a:cubicBezTo>
                  <a:pt x="2" y="227"/>
                  <a:pt x="0" y="225"/>
                  <a:pt x="0" y="223"/>
                </a:cubicBezTo>
                <a:lnTo>
                  <a:pt x="0" y="4"/>
                </a:lnTo>
                <a:cubicBezTo>
                  <a:pt x="0" y="2"/>
                  <a:pt x="2" y="0"/>
                  <a:pt x="4" y="0"/>
                </a:cubicBezTo>
                <a:lnTo>
                  <a:pt x="4" y="227"/>
                </a:lnTo>
                <a:close/>
              </a:path>
            </a:pathLst>
          </a:custGeom>
          <a:solidFill>
            <a:srgbClr val="FA4F24"/>
          </a:solidFill>
          <a:ln/>
        </p:spPr>
        <p:txBody>
          <a:bodyPr/>
          <a:p/>
        </p:txBody>
      </p:sp>
      <p:sp>
        <p:nvSpPr>
          <p:cNvPr id="80" name="" descr="{&quot;isTemplate&quot;:true,&quot;type&quot;:&quot;text&quot;}"/>
          <p:cNvSpPr txBox="1"/>
          <p:nvPr/>
        </p:nvSpPr>
        <p:spPr>
          <a:xfrm rot="0" flipH="0" flipV="0">
            <a:off x="4943475" y="2895600"/>
            <a:ext cx="6477000" cy="161925"/>
          </a:xfrm>
          <a:prstGeom prst="rect"/>
        </p:spPr>
        <p:txBody>
          <a:bodyPr wrap="none" lIns="0" tIns="0" rIns="0" bIns="0"/>
          <a:p>
            <a:pPr>
              <a:lnSpc>
                <a:spcPct val="100000"/>
              </a:lnSpc>
            </a:pPr>
            <a:r>
              <a:rPr lang="zh-CN" sz="1050" b="1">
                <a:solidFill>
                  <a:srgbClr val="C43A17"/>
                </a:solidFill>
                <a:latin typeface="Microsoft YaHei"/>
                <a:ea typeface="Microsoft YaHei"/>
              </a:rPr>
              <a:t>为什么官方建议从受限视图迁移过来</a:t>
            </a:r>
            <a:endParaRPr/>
          </a:p>
        </p:txBody>
      </p:sp>
      <p:sp>
        <p:nvSpPr>
          <p:cNvPr id="81" name="" descr="{&quot;isTemplate&quot;:true,&quot;type&quot;:&quot;text&quot;}"/>
          <p:cNvSpPr txBox="1"/>
          <p:nvPr/>
        </p:nvSpPr>
        <p:spPr>
          <a:xfrm rot="0" flipH="0" flipV="0">
            <a:off x="4943475" y="3124200"/>
            <a:ext cx="6477000" cy="419100"/>
          </a:xfrm>
          <a:prstGeom prst="rect"/>
        </p:spPr>
        <p:txBody>
          <a:bodyPr wrap="square" lIns="0" tIns="0" rIns="0" bIns="0">
            <a:normAutofit/>
          </a:bodyPr>
          <a:p>
            <a:pPr>
              <a:lnSpc>
                <a:spcPct val="150000"/>
              </a:lnSpc>
            </a:pPr>
            <a:r>
              <a:rPr lang="zh-CN" sz="900">
                <a:solidFill>
                  <a:srgbClr val="3A4050"/>
                </a:solidFill>
                <a:latin typeface="Microsoft YaHei"/>
                <a:ea typeface="Microsoft YaHei"/>
              </a:rPr>
              <a:t>三个理由：统一了单元格级安全、策略更新近乎即时、支持流式与分支。受限视图是一层带过滤策略的虚拟层，如果它过滤掉某一行，对应的对象在本体图谱里对那个用户就等于不存在——这个效果是对的，但维护成本高，而且改策略要等数据重建。</a:t>
            </a:r>
            <a:endParaRPr/>
          </a:p>
        </p:txBody>
      </p:sp>
      <p:sp>
        <p:nvSpPr>
          <p:cNvPr id="82" name=""/>
          <p:cNvSpPr/>
          <p:nvPr/>
        </p:nvSpPr>
        <p:spPr>
          <a:xfrm rot="0" flipH="0" flipV="0">
            <a:off x="4943475" y="3629025"/>
            <a:ext cx="6477000" cy="1181100"/>
          </a:xfrm>
          <a:prstGeom prst="roundRect">
            <a:avLst>
              <a:gd name="adj" fmla="val 2419"/>
            </a:avLst>
          </a:prstGeom>
          <a:solidFill>
            <a:srgbClr val="FFFFFF"/>
          </a:solidFill>
          <a:ln/>
        </p:spPr>
        <p:txBody>
          <a:bodyPr/>
          <a:p/>
        </p:txBody>
      </p:sp>
      <p:sp>
        <p:nvSpPr>
          <p:cNvPr id="83" name="" descr="{&quot;isTemplate&quot;:true,&quot;type&quot;:&quot;text&quot;}"/>
          <p:cNvSpPr txBox="1"/>
          <p:nvPr/>
        </p:nvSpPr>
        <p:spPr>
          <a:xfrm rot="0" flipH="0" flipV="0">
            <a:off x="5057775" y="3714750"/>
            <a:ext cx="6248400" cy="133350"/>
          </a:xfrm>
          <a:prstGeom prst="rect"/>
        </p:spPr>
        <p:txBody>
          <a:bodyPr wrap="none" lIns="0" tIns="0" rIns="0" bIns="0"/>
          <a:p>
            <a:pPr>
              <a:lnSpc>
                <a:spcPct val="100000"/>
              </a:lnSpc>
            </a:pPr>
            <a:r>
              <a:rPr lang="zh-CN" sz="863" b="1">
                <a:solidFill>
                  <a:srgbClr val="C43A17"/>
                </a:solidFill>
                <a:latin typeface="Microsoft YaHei"/>
                <a:ea typeface="Microsoft YaHei"/>
              </a:rPr>
              <a:t>一个容易漏的坑：物化与历史事务</a:t>
            </a:r>
            <a:endParaRPr/>
          </a:p>
        </p:txBody>
      </p:sp>
      <p:sp>
        <p:nvSpPr>
          <p:cNvPr id="84" name="" descr="{&quot;isTemplate&quot;:true,&quot;type&quot;:&quot;text&quot;}"/>
          <p:cNvSpPr txBox="1"/>
          <p:nvPr/>
        </p:nvSpPr>
        <p:spPr>
          <a:xfrm rot="0" flipH="0" flipV="0">
            <a:off x="5057775" y="3895725"/>
            <a:ext cx="6248400" cy="400050"/>
          </a:xfrm>
          <a:prstGeom prst="rect"/>
        </p:spPr>
        <p:txBody>
          <a:bodyPr wrap="square" lIns="0" tIns="0" rIns="0" bIns="0">
            <a:normAutofit/>
          </a:bodyPr>
          <a:p>
            <a:pPr>
              <a:lnSpc>
                <a:spcPct val="150000"/>
              </a:lnSpc>
            </a:pPr>
            <a:r>
              <a:rPr lang="zh-CN" sz="863">
                <a:solidFill>
                  <a:srgbClr val="3A4050"/>
                </a:solidFill>
                <a:latin typeface="Microsoft YaHei"/>
                <a:ea typeface="Microsoft YaHei"/>
              </a:rPr>
              <a:t>对象安全策略也决定物化数据的权限，且取最严格者。但添加或移除标记后，标记只反映在该标记存在期间提交的事务。已经产生的历史事务不会自动被覆盖，必须手工给物化或底层数据集补打标记。</a:t>
            </a:r>
            <a:endParaRPr/>
          </a:p>
        </p:txBody>
      </p:sp>
      <p:sp>
        <p:nvSpPr>
          <p:cNvPr id="85" name=""/>
          <p:cNvSpPr/>
          <p:nvPr/>
        </p:nvSpPr>
        <p:spPr>
          <a:xfrm rot="0" flipH="0" flipV="0">
            <a:off x="609600" y="5029200"/>
            <a:ext cx="10972800" cy="609600"/>
          </a:xfrm>
          <a:prstGeom prst="roundRect">
            <a:avLst>
              <a:gd name="adj" fmla="val 6250"/>
            </a:avLst>
          </a:prstGeom>
          <a:solidFill>
            <a:srgbClr val="0F1423"/>
          </a:solidFill>
          <a:ln/>
        </p:spPr>
        <p:txBody>
          <a:bodyPr/>
          <a:p/>
        </p:txBody>
      </p:sp>
      <p:sp>
        <p:nvSpPr>
          <p:cNvPr id="86" name="" descr="{&quot;isTemplate&quot;:true,&quot;type&quot;:&quot;text&quot;}"/>
          <p:cNvSpPr txBox="1"/>
          <p:nvPr/>
        </p:nvSpPr>
        <p:spPr>
          <a:xfrm rot="0" flipH="0" flipV="0">
            <a:off x="781050" y="5257800"/>
            <a:ext cx="1447800" cy="161925"/>
          </a:xfrm>
          <a:prstGeom prst="rect"/>
        </p:spPr>
        <p:txBody>
          <a:bodyPr wrap="none" lIns="0" tIns="0" rIns="0" bIns="0"/>
          <a:p>
            <a:pPr>
              <a:lnSpc>
                <a:spcPct val="100000"/>
              </a:lnSpc>
            </a:pPr>
            <a:r>
              <a:rPr lang="en-US" sz="1050" b="1">
                <a:solidFill>
                  <a:srgbClr val="FBA15C"/>
                </a:solidFill>
                <a:latin typeface="Microsoft YaHei"/>
                <a:ea typeface="Microsoft YaHei"/>
              </a:rPr>
              <a:t xml:space="preserve">2026 </a:t>
            </a:r>
            <a:r>
              <a:rPr lang="zh-CN" sz="1050" b="1">
                <a:solidFill>
                  <a:srgbClr val="FBA15C"/>
                </a:solidFill>
                <a:latin typeface="Microsoft YaHei"/>
                <a:ea typeface="Microsoft YaHei"/>
              </a:rPr>
              <a:t>年新增能力</a:t>
            </a:r>
            <a:endParaRPr/>
          </a:p>
        </p:txBody>
      </p:sp>
      <p:sp>
        <p:nvSpPr>
          <p:cNvPr id="87" name="" descr="{&quot;isTemplate&quot;:true,&quot;type&quot;:&quot;text&quot;}"/>
          <p:cNvSpPr txBox="1"/>
          <p:nvPr/>
        </p:nvSpPr>
        <p:spPr>
          <a:xfrm rot="0" flipH="0" flipV="0">
            <a:off x="2343150" y="5124450"/>
            <a:ext cx="9067800" cy="428625"/>
          </a:xfrm>
          <a:prstGeom prst="rect"/>
        </p:spPr>
        <p:txBody>
          <a:bodyPr wrap="square" lIns="0" tIns="0" rIns="0" bIns="0">
            <a:normAutofit/>
          </a:bodyPr>
          <a:p>
            <a:pPr>
              <a:lnSpc>
                <a:spcPct val="150000"/>
              </a:lnSpc>
            </a:pPr>
            <a:r>
              <a:rPr lang="zh-CN" sz="938">
                <a:solidFill>
                  <a:srgbClr val="FFFFFF">
                    <a:alpha val="92000"/>
                  </a:srgbClr>
                </a:solidFill>
                <a:latin typeface="Microsoft YaHei"/>
                <a:ea typeface="Microsoft YaHei"/>
              </a:rPr>
              <a:t>四月策略配置正式可用，六月策略测试能力正式可用——可以选一个具体用户，测他能看到这个对象的哪些属性。限制是不能测试派生属性的可见性，因为它同时依赖用户对派生属性来源对象的可见性。</a:t>
            </a:r>
            <a:endParaRPr/>
          </a:p>
        </p:txBody>
      </p:sp>
      <p:sp>
        <p:nvSpPr>
          <p:cNvPr id="88"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89" name=""/>
          <p:cNvSpPr/>
          <p:nvPr/>
        </p:nvSpPr>
        <p:spPr>
          <a:xfrm rot="0" flipH="0" flipV="0">
            <a:off x="609600" y="5953125"/>
            <a:ext cx="95250" cy="95250"/>
          </a:xfrm>
          <a:prstGeom prst="rect">
            <a:avLst/>
          </a:prstGeom>
          <a:solidFill>
            <a:srgbClr val="FA4F24"/>
          </a:solidFill>
          <a:ln/>
        </p:spPr>
        <p:txBody>
          <a:bodyPr/>
          <a:p/>
        </p:txBody>
      </p:sp>
      <p:sp>
        <p:nvSpPr>
          <p:cNvPr id="90"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91"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10 / 30</a:t>
            </a:r>
            <a:endParaRPr/>
          </a:p>
        </p:txBody>
      </p:sp>
    </p:spTree>
  </p:cSld>
</p:sld>
</file>

<file path=ppt/slides/slide11.xml><?xml version="1.0" encoding="utf-8"?>
<p:sld xmlns:p="http://schemas.openxmlformats.org/presentationml/2006/main" xmlns:a="http://schemas.openxmlformats.org/drawingml/2006/main">
  <p:cSld>
    <p:spTree>
      <p:nvGrpSpPr>
        <p:cNvPr id="92" name="" descr="&lt;Slide style={{ width: 1280, height: 720, background: '#0F1423' }}&gt;&#13;&#10;  &lt;Box style={{ position: 'absolute', left: 0, top: 0, width: 1280, height: 720, background: 'linear-gradient(135deg, #0F1423 0%, #2A1810 100%)' }} /&gt;&#13;&#10;  &lt;Box style={{ position: 'absolute', right: 0, top: 0, width: 560, height: 720, background: 'linear-gradient(200deg, rgba(250,79,36,0.28) 0%, rgba(250,79,36,0) 70%)' }} /&gt;&#13;&#10;&#13;&#10;  &lt;Box style={{ position: 'absolute', right: 70, top: 110 }}&gt;&#13;&#10;    &lt;Text style={{ fontSize: 300, fontWeight: 'bold', color: 'rgba(255,255,255,0.08)', lineHeight: 1.0 }}&gt;02&lt;/Text&gt;&#13;&#10;  &lt;/Box&gt;&#13;&#10;&#13;&#10;  &lt;Box style={{ position: 'absolute', left: 88, top: 232, width: 700, flexDirection: 'column' }}&gt;&#13;&#10;    &lt;Text style={{ fontSize: 15, color: 'rgba(255,255,255,0.5)', letterSpacing: 3 }}&gt;PART 02&lt;/Text&gt;&#13;&#10;    &lt;Box style={{ width: 72, height: 5, background: '#FA4F24', marginTop: 22 }} /&gt;&#13;&#10;    &lt;Text style={{ fontSize: 52, fontWeight: 'bold', color: '#FFFFFF', marginTop: 28, lineHeight: 1.15 }}&gt;运行机制&lt;/Text&gt;&#13;&#10;    &lt;Text style={{ fontSize: 17, color: 'rgba(255,255,255,0.62)', letterSpacing: 2, marginTop: 20 }}&gt;HOW GOVERNANCE ACTUALLY RUNS&lt;/Text&gt;&#13;&#10;    &lt;Text style={{ fontSize: 19, color: 'rgba(255,255,255,0.85)', marginTop: 26, lineHeight: 1.6 }}&gt;血缘、审计、降级、元数据、目录与健康检查——治理每天靠什么活着&lt;/Text&gt;&#13;&#10;  &lt;/Box&gt;&#13;&#10;&#13;&#10;  &lt;Box style={{ position: 'absolute', right: 88, bottom: 64, flexDirection: 'row', alignItems: 'center', gap: 12 }}&gt;&#13;&#10;    &lt;Box style={{ width: 14, height: 14, background: '#FA4F24' }} /&gt;&#13;&#10;    &lt;Text style={{ fontSize: 14, color: 'rgba(255,255,255,0.5)' }}&gt;硕磐机密 · 数据治理咨询方法论&lt;/Text&gt;&#13;&#10;    &lt;Text style={{ fontSize: 14, color: 'rgba(255,255,255,0.5)', marginLeft: 12 }}&gt;11 / 30&lt;/Text&gt;&#13;&#10;  &lt;/Box&gt;&#13;&#10;&lt;/Slide&gt;&#13;&#10;"/>
        <p:cNvGrpSpPr/>
        <p:nvPr/>
      </p:nvGrpSpPr>
      <p:grpSpPr>
        <a:xfrm>
          <a:off x="0" y="0"/>
          <a:ext cx="0" cy="0"/>
          <a:chOff x="0" y="0"/>
          <a:chExt cx="0" cy="0"/>
        </a:xfrm>
      </p:grpSpPr>
      <p:sp>
        <p:nvSpPr>
          <p:cNvPr id="93" name=""/>
          <p:cNvSpPr/>
          <p:nvPr/>
        </p:nvSpPr>
        <p:spPr>
          <a:xfrm rot="0" flipH="0" flipV="0">
            <a:off x="0" y="0"/>
            <a:ext cx="12192000" cy="6858000"/>
          </a:xfrm>
          <a:prstGeom prst="rect">
            <a:avLst/>
          </a:prstGeom>
          <a:solidFill>
            <a:srgbClr val="0F1423"/>
          </a:solidFill>
          <a:ln/>
        </p:spPr>
        <p:txBody>
          <a:bodyPr/>
          <a:p/>
        </p:txBody>
      </p:sp>
      <p:sp>
        <p:nvSpPr>
          <p:cNvPr id="94"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p:txBody>
      </p:sp>
      <p:sp>
        <p:nvSpPr>
          <p:cNvPr id="95" name=""/>
          <p:cNvSpPr/>
          <p:nvPr/>
        </p:nvSpPr>
        <p:spPr>
          <a:xfrm rot="0" flipH="0" flipV="0">
            <a:off x="6858000" y="0"/>
            <a:ext cx="5334000" cy="6858000"/>
          </a:xfrm>
          <a:prstGeom prst="rect">
            <a:avLst/>
          </a:prstGeom>
          <a:gradFill>
            <a:gsLst>
              <a:gs pos="0">
                <a:srgbClr val="FA4F24">
                  <a:alpha val="28000"/>
                </a:srgbClr>
              </a:gs>
              <a:gs pos="70000">
                <a:srgbClr val="FA4F24">
                  <a:alpha val="0"/>
                </a:srgbClr>
              </a:gs>
            </a:gsLst>
            <a:lin ang="6600000" scaled="1"/>
          </a:gradFill>
          <a:ln/>
        </p:spPr>
        <p:txBody>
          <a:bodyPr/>
          <a:p/>
        </p:txBody>
      </p:sp>
      <p:sp>
        <p:nvSpPr>
          <p:cNvPr id="96" name="" descr="{&quot;isTemplate&quot;:true,&quot;type&quot;:&quot;text&quot;}"/>
          <p:cNvSpPr txBox="1"/>
          <p:nvPr/>
        </p:nvSpPr>
        <p:spPr>
          <a:xfrm rot="0" flipH="0" flipV="0">
            <a:off x="7991475" y="1047750"/>
            <a:ext cx="3533775" cy="3429000"/>
          </a:xfrm>
          <a:prstGeom prst="rect"/>
        </p:spPr>
        <p:txBody>
          <a:bodyPr wrap="none" lIns="0" tIns="0" rIns="0" bIns="0"/>
          <a:p>
            <a:pPr>
              <a:lnSpc>
                <a:spcPct val="100000"/>
              </a:lnSpc>
            </a:pPr>
            <a:r>
              <a:rPr lang="en-US" sz="22500" b="1">
                <a:solidFill>
                  <a:srgbClr val="FFFFFF">
                    <a:alpha val="8000"/>
                  </a:srgbClr>
                </a:solidFill>
                <a:latin typeface="Microsoft YaHei"/>
                <a:ea typeface="Microsoft YaHei"/>
              </a:rPr>
              <a:t>02</a:t>
            </a:r>
            <a:endParaRPr/>
          </a:p>
        </p:txBody>
      </p:sp>
      <p:sp>
        <p:nvSpPr>
          <p:cNvPr id="97" name="" descr="{&quot;isTemplate&quot;:true,&quot;type&quot;:&quot;text&quot;}"/>
          <p:cNvSpPr txBox="1"/>
          <p:nvPr/>
        </p:nvSpPr>
        <p:spPr>
          <a:xfrm rot="0" flipH="0" flipV="0">
            <a:off x="838200" y="2209800"/>
            <a:ext cx="666750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PART 02</a:t>
            </a:r>
            <a:endParaRPr/>
          </a:p>
        </p:txBody>
      </p:sp>
      <p:sp>
        <p:nvSpPr>
          <p:cNvPr id="98" name=""/>
          <p:cNvSpPr/>
          <p:nvPr/>
        </p:nvSpPr>
        <p:spPr>
          <a:xfrm rot="0" flipH="0" flipV="0">
            <a:off x="838200" y="2590800"/>
            <a:ext cx="685800" cy="47625"/>
          </a:xfrm>
          <a:prstGeom prst="rect">
            <a:avLst/>
          </a:prstGeom>
          <a:solidFill>
            <a:srgbClr val="FA4F24"/>
          </a:solidFill>
          <a:ln/>
        </p:spPr>
        <p:txBody>
          <a:bodyPr/>
          <a:p/>
        </p:txBody>
      </p:sp>
      <p:sp>
        <p:nvSpPr>
          <p:cNvPr id="99" name="" descr="{&quot;isTemplate&quot;:true,&quot;type&quot;:&quot;text&quot;}"/>
          <p:cNvSpPr txBox="1"/>
          <p:nvPr/>
        </p:nvSpPr>
        <p:spPr>
          <a:xfrm rot="0" flipH="0" flipV="0">
            <a:off x="838200" y="2905125"/>
            <a:ext cx="6667500" cy="685800"/>
          </a:xfrm>
          <a:prstGeom prst="rect"/>
        </p:spPr>
        <p:txBody>
          <a:bodyPr wrap="none" lIns="0" tIns="0" rIns="0" bIns="0"/>
          <a:p>
            <a:pPr>
              <a:lnSpc>
                <a:spcPct val="114999"/>
              </a:lnSpc>
            </a:pPr>
            <a:r>
              <a:rPr lang="zh-CN" sz="3900" b="1">
                <a:solidFill>
                  <a:srgbClr val="FFFFFF"/>
                </a:solidFill>
                <a:latin typeface="Microsoft YaHei"/>
                <a:ea typeface="Microsoft YaHei"/>
              </a:rPr>
              <a:t>运行机制</a:t>
            </a:r>
            <a:endParaRPr/>
          </a:p>
        </p:txBody>
      </p:sp>
      <p:sp>
        <p:nvSpPr>
          <p:cNvPr id="100" name="" descr="{&quot;isTemplate&quot;:true,&quot;type&quot;:&quot;text&quot;}"/>
          <p:cNvSpPr txBox="1"/>
          <p:nvPr/>
        </p:nvSpPr>
        <p:spPr>
          <a:xfrm rot="0" flipH="0" flipV="0">
            <a:off x="838200" y="3781425"/>
            <a:ext cx="6667500" cy="200025"/>
          </a:xfrm>
          <a:prstGeom prst="rect"/>
        </p:spPr>
        <p:txBody>
          <a:bodyPr wrap="none" lIns="0" tIns="0" rIns="0" bIns="0"/>
          <a:p>
            <a:pPr>
              <a:lnSpc>
                <a:spcPct val="100000"/>
              </a:lnSpc>
            </a:pPr>
            <a:r>
              <a:rPr lang="en-US" sz="1275" spc="150">
                <a:solidFill>
                  <a:srgbClr val="FFFFFF">
                    <a:alpha val="62000"/>
                  </a:srgbClr>
                </a:solidFill>
                <a:latin typeface="Microsoft YaHei"/>
                <a:ea typeface="Microsoft YaHei"/>
              </a:rPr>
              <a:t>HOW GOVERNANCE ACTUALLY RUNS</a:t>
            </a:r>
            <a:endParaRPr/>
          </a:p>
        </p:txBody>
      </p:sp>
      <p:sp>
        <p:nvSpPr>
          <p:cNvPr id="101" name="" descr="{&quot;isTemplate&quot;:true,&quot;type&quot;:&quot;text&quot;}"/>
          <p:cNvSpPr txBox="1"/>
          <p:nvPr/>
        </p:nvSpPr>
        <p:spPr>
          <a:xfrm rot="0" flipH="0" flipV="0">
            <a:off x="838200" y="4229100"/>
            <a:ext cx="6667500" cy="352425"/>
          </a:xfrm>
          <a:prstGeom prst="rect"/>
        </p:spPr>
        <p:txBody>
          <a:bodyPr wrap="none" lIns="0" tIns="0" rIns="0" bIns="0"/>
          <a:p>
            <a:pPr>
              <a:lnSpc>
                <a:spcPct val="160000"/>
              </a:lnSpc>
            </a:pPr>
            <a:r>
              <a:rPr lang="zh-CN" sz="1425">
                <a:solidFill>
                  <a:srgbClr val="FFFFFF">
                    <a:alpha val="85000"/>
                  </a:srgbClr>
                </a:solidFill>
                <a:latin typeface="Microsoft YaHei"/>
                <a:ea typeface="Microsoft YaHei"/>
              </a:rPr>
              <a:t>血缘、审计、降级、元数据、目录与健康检查——治理每天靠什么活着</a:t>
            </a:r>
            <a:endParaRPr/>
          </a:p>
        </p:txBody>
      </p:sp>
      <p:sp>
        <p:nvSpPr>
          <p:cNvPr id="102" name=""/>
          <p:cNvSpPr/>
          <p:nvPr/>
        </p:nvSpPr>
        <p:spPr>
          <a:xfrm rot="0" flipH="0" flipV="0">
            <a:off x="8572500" y="6105525"/>
            <a:ext cx="133350" cy="133350"/>
          </a:xfrm>
          <a:prstGeom prst="rect">
            <a:avLst/>
          </a:prstGeom>
          <a:solidFill>
            <a:srgbClr val="FA4F24"/>
          </a:solidFill>
          <a:ln/>
        </p:spPr>
        <p:txBody>
          <a:bodyPr/>
          <a:p/>
        </p:txBody>
      </p:sp>
      <p:sp>
        <p:nvSpPr>
          <p:cNvPr id="103" name="" descr="{&quot;isTemplate&quot;:true,&quot;type&quot;:&quot;text&quot;}"/>
          <p:cNvSpPr txBox="1"/>
          <p:nvPr/>
        </p:nvSpPr>
        <p:spPr>
          <a:xfrm rot="0" flipH="0" flipV="0">
            <a:off x="8820150" y="6086475"/>
            <a:ext cx="184785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a:t>
            </a:r>
            <a:r>
              <a:rPr lang="zh-CN" sz="1050">
                <a:solidFill>
                  <a:srgbClr val="FFFFFF">
                    <a:alpha val="50000"/>
                  </a:srgbClr>
                </a:solidFill>
                <a:latin typeface="Microsoft YaHei"/>
                <a:ea typeface="Microsoft YaHei"/>
              </a:rPr>
              <a:t>数据治理咨询方法论</a:t>
            </a:r>
            <a:endParaRPr/>
          </a:p>
        </p:txBody>
      </p:sp>
      <p:sp>
        <p:nvSpPr>
          <p:cNvPr id="104" name="" descr="{&quot;isTemplate&quot;:true,&quot;type&quot;:&quot;text&quot;}"/>
          <p:cNvSpPr txBox="1"/>
          <p:nvPr/>
        </p:nvSpPr>
        <p:spPr>
          <a:xfrm rot="0" flipH="0" flipV="0">
            <a:off x="10896600" y="60864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11 / 30</a:t>
            </a:r>
            <a:endParaRPr/>
          </a:p>
        </p:txBody>
      </p:sp>
    </p:spTree>
  </p:cSld>
</p:sld>
</file>

<file path=ppt/slides/slide12.xml><?xml version="1.0" encoding="utf-8"?>
<p:sld xmlns:p="http://schemas.openxmlformats.org/presentationml/2006/main" xmlns:a="http://schemas.openxmlformats.org/drawingml/2006/main">
  <p:cSld>
    <p:spTree>
      <p:nvGrpSpPr>
        <p:cNvPr id="105" name="" descr="&lt;Slide style={{ width: 1280, height: 720, background: '#FFFFFF', padding: '24px 64px 0' }}&gt;&#10;    &lt;Box style={{ height: 96, flexDirection: 'column', justifyContent: 'flex-start' }}&gt;&#10;      &lt;Text style={{ fontSize: 32, fontWeight: 'bold', color: '#0F1423' }}&gt;&#10;        从血缘到审计：&lt;span style={{ color: '#FA4F24' }}&gt;能回答「谁访问了什么、为什么」&lt;/span&gt;&#10;      &lt;/Text&gt;&#10;      &lt;Text style={{ fontSize: 20, color: '#8A8F99', marginTop: 8 }}&gt;&#10;        血缘解决「数据从哪来」，审计解决「谁做了什么」。两者共用一套引擎，才叫治理而不是两套台账&#10;      &lt;/Text&gt;&#10;    &lt;/Box&gt;&#10;    &lt;Box style={{ height: 1, background: '#E8E8E8' }} /&gt;&#10;&#10;    &lt;Box style={{ paddingTop: 14, paddingBottom: 8, height: 479, flexDirection: 'column', gap: 10 }}&gt;&#10;      {/* 四个问题 */}&#10;      &lt;Box style={{ height: 176, background: '#0F1423', borderRadius: 4, padding: '14px 18px', flexDirection: 'column' }}&gt;&#10;        &lt;Text style={{ fontSize: 14, fontWeight: 'bold', color: '#FBA15C' }}&gt;官方血缘图上能直接回答的四个问题&lt;/Text&gt;&#10;        &lt;Box style={{ flex: 1, flexDirection: 'row', gap: 8, marginTop: 11 }}&gt;&#10;          {[&#10;            { q: '这条数据的祖先是谁？', a: '向上展开，可追溯到源系统', c: '#FA4F24' },&#10;            { q: '它影响了哪些下游？', a: '向下展开，可算影响面', c: '#F87D2F' },&#10;            { q: '最后一次是谁改的？', a: '按选中资源的最近修改人高亮', c: '#E0651A' },&#10;            { q: '哪个数据集正在构建？', a: '构建状态视图，标出未完成事务', c: '#C43A17' },&#10;          ].map((it, i) =&gt; (&#10;            &lt;Box key={it.q} style={{ flex: 1, background: 'rgba(255,255,255,0.07)', borderRadius: 3, borderLeft: '3px solid ' + it.c, padding: '10px 12px', flexDirection: 'column', justifyContent: 'center' }}&gt;&#10;              &lt;Text style={{ fontSize: 13, fontWeight: 'bold', color: '#FFFFFF' }}&gt;{it.q}&lt;/Text&gt;&#10;              &lt;Text style={{ fontSize: 11.5, color: it.c, marginTop: 7 }}&gt;{it.a}&lt;/Text&gt;&#10;            &lt;/Box&gt;&#10;          ))}&#10;        &lt;/Box&gt;&#10;        &lt;Text style={{ fontSize: 11.5, color: 'rgba(255,255,255,0.72)', marginTop: 11, lineHeight: 1.5 }}&gt;&#10;          官方特别强调：血缘是主动元数据，不是理论上的爬虫。每一个数据集的每一个版本，都记录了是哪段代码、哪些父数据集、哪个运行时创建的。&#10;        &lt;/Text&gt;&#10;      &lt;/Box&gt;&#10;&#10;      &lt;Box style={{ flex: 1, flexDirection: 'row', gap: 10 }}&gt;&#10;        &lt;Box style={{ flex: 1, background: '#FFF3EE', borderRadius: 4, borderLeft: '4px solid #FA4F24', padding: '13px 17px', flexDirection: 'column' }}&gt;&#10;          &lt;Text style={{ fontSize: 14, fontWeight: 'bold', color: '#C43A17' }}&gt;审计日志的三层内容，缺一层治理就断一截&lt;/Text&gt;&#10;          &lt;Box style={{ flex: 1, flexDirection: 'column', marginTop: 9 }}&gt;&#10;            {[&#10;              { b: '谁', d: '身份信息，包括沿单点登录链路传递过来的用户组属性', c: '#FA4F24' },&#10;              { b: '什么', d: '访问或改动了哪个对象的哪个属性、哪个动作类型', c: '#F87D2F' },&#10;              { b: '为什么', d: '用途检查点里提交的理由——这是传统系统最缺的一层', c: '#E0651A' },&#10;            ].map((it, i) =&gt; (&#10;              &lt;Box key={it.b} style={{ flex: 1, flexDirection: 'row', alignItems: 'center', gap: 12, borderTop: i === 0 ? 'none' : '1px solid #FBA15C' }}&gt;&#10;                &lt;Box style={{ width: 58, height: 26, background: it.c, alignItems: 'center', justifyContent: 'center' }}&gt;&#10;                  &lt;Text style={{ fontSize: 13, fontWeight: 'bold', color: '#FFFFFF' }}&gt;{it.b}&lt;/Text&gt;&#10;                &lt;/Box&gt;&#10;                &lt;Box style={{ flex: 1, flexDirection: 'column' }}&gt;&#10;                  &lt;Text style={{ fontSize: 12, color: '#0F1423', lineHeight: 1.4 }}&gt;{it.d}&lt;/Text&gt;&#10;                &lt;/Box&gt;&#10;              &lt;/Box&gt;&#10;            ))}&#10;          &lt;/Box&gt;&#10;        &lt;/Box&gt;&#10;&#10;        &lt;Box style={{ flex: 1, background: '#F7F7F8', borderRadius: 4, padding: '13px 17px', flexDirection: 'column', justifyContent: 'center' }}&gt;&#10;          &lt;Text style={{ fontSize: 14, fontWeight: 'bold', color: '#0F1423' }}&gt;动作日志：治理的最后一层&lt;/Text&gt;&#10;          &lt;Text style={{ fontSize: 12, color: '#3A4050', marginTop: 7, lineHeight: 1.55 }}&gt;&#10;            在成熟的设计里，每一次动作提交都会被建模成对象类型本身并永久记录，与动作类型一一对应，自动生成记录谁、何时、改写了哪个对象的日志，并与被编辑的目标对象建立关联。&#10;          &lt;/Text&gt;&#10;          &lt;Box style={{ background: '#FFFFFF', borderRadius: 3, padding: '9px 12px', marginTop: 9 }}&gt;&#10;            &lt;Text style={{ fontSize: 11.5, fontWeight: 'bold', color: '#C43A17' }}&gt;防推断是隐性难点&lt;/Text&gt;&#10;            &lt;Text style={{ fontSize: 11.5, color: '#3A4050', marginTop: 5, lineHeight: 1.5 }}&gt;&#10;              无权看某份机密文件的人，能不能看到它的作者？在现代对象存储架构里，链接的可见性通常依赖两端对象的可见性。这个问题不解决，关系图谱本身就会泄露信息。&#10;            &lt;/Text&gt;&#10;          &lt;/Box&gt;&#10;        &lt;/Box&gt;&#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12 / 30&lt;/Text&gt;&#10;    &lt;/Box&gt;&#10;&lt;/Slide&gt;&#10;"/>
        <p:cNvGrpSpPr/>
        <p:nvPr/>
      </p:nvGrpSpPr>
      <p:grpSpPr>
        <a:xfrm>
          <a:off x="0" y="0"/>
          <a:ext cx="0" cy="0"/>
          <a:chOff x="0" y="0"/>
          <a:chExt cx="0" cy="0"/>
        </a:xfrm>
      </p:grpSpPr>
      <p:sp>
        <p:nvSpPr>
          <p:cNvPr id="106" name=""/>
          <p:cNvSpPr/>
          <p:nvPr/>
        </p:nvSpPr>
        <p:spPr>
          <a:xfrm rot="0" flipH="0" flipV="0">
            <a:off x="0" y="0"/>
            <a:ext cx="12192000" cy="6858000"/>
          </a:xfrm>
          <a:prstGeom prst="rect">
            <a:avLst/>
          </a:prstGeom>
          <a:solidFill>
            <a:srgbClr val="FFFFFF"/>
          </a:solidFill>
          <a:ln/>
        </p:spPr>
        <p:txBody>
          <a:bodyPr/>
          <a:p/>
        </p:txBody>
      </p:sp>
      <p:sp>
        <p:nvSpPr>
          <p:cNvPr id="107"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从血缘到审计：</a:t>
            </a:r>
            <a:r>
              <a:rPr lang="zh-CN" sz="2400" b="1">
                <a:solidFill>
                  <a:srgbClr val="FA4F24"/>
                </a:solidFill>
                <a:latin typeface="Microsoft YaHei"/>
                <a:ea typeface="Microsoft YaHei"/>
              </a:rPr>
              <a:t>能回答「谁访问了什么、为什么」</a:t>
            </a:r>
            <a:endParaRPr/>
          </a:p>
        </p:txBody>
      </p:sp>
      <p:sp>
        <p:nvSpPr>
          <p:cNvPr id="108"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血缘解决「数据从哪来」，审计解决「谁做了什么」。两者共用一套引擎，才叫治理而不是两套台账</a:t>
            </a:r>
            <a:endParaRPr/>
          </a:p>
        </p:txBody>
      </p:sp>
      <p:sp>
        <p:nvSpPr>
          <p:cNvPr id="109" name=""/>
          <p:cNvSpPr/>
          <p:nvPr/>
        </p:nvSpPr>
        <p:spPr>
          <a:xfrm rot="0" flipH="0" flipV="0">
            <a:off x="609600" y="1143000"/>
            <a:ext cx="10972800" cy="9525"/>
          </a:xfrm>
          <a:prstGeom prst="rect">
            <a:avLst/>
          </a:prstGeom>
          <a:solidFill>
            <a:srgbClr val="E8E8E8"/>
          </a:solidFill>
          <a:ln/>
        </p:spPr>
        <p:txBody>
          <a:bodyPr/>
          <a:p/>
        </p:txBody>
      </p:sp>
      <p:sp>
        <p:nvSpPr>
          <p:cNvPr id="110" name=""/>
          <p:cNvSpPr/>
          <p:nvPr/>
        </p:nvSpPr>
        <p:spPr>
          <a:xfrm rot="0" flipH="0" flipV="0">
            <a:off x="609600" y="1285875"/>
            <a:ext cx="10972800" cy="1676400"/>
          </a:xfrm>
          <a:prstGeom prst="roundRect">
            <a:avLst>
              <a:gd name="adj" fmla="val 2273"/>
            </a:avLst>
          </a:prstGeom>
          <a:solidFill>
            <a:srgbClr val="0F1423"/>
          </a:solidFill>
          <a:ln/>
        </p:spPr>
        <p:txBody>
          <a:bodyPr/>
          <a:p/>
        </p:txBody>
      </p:sp>
      <p:sp>
        <p:nvSpPr>
          <p:cNvPr id="111" name="" descr="{&quot;isTemplate&quot;:true,&quot;type&quot;:&quot;text&quot;}"/>
          <p:cNvSpPr txBox="1"/>
          <p:nvPr/>
        </p:nvSpPr>
        <p:spPr>
          <a:xfrm rot="0" flipH="0" flipV="0">
            <a:off x="781050" y="1419225"/>
            <a:ext cx="10629900" cy="161925"/>
          </a:xfrm>
          <a:prstGeom prst="rect"/>
        </p:spPr>
        <p:txBody>
          <a:bodyPr wrap="none" lIns="0" tIns="0" rIns="0" bIns="0"/>
          <a:p>
            <a:pPr>
              <a:lnSpc>
                <a:spcPct val="100000"/>
              </a:lnSpc>
            </a:pPr>
            <a:r>
              <a:rPr lang="zh-CN" sz="1050" b="1">
                <a:solidFill>
                  <a:srgbClr val="FBA15C"/>
                </a:solidFill>
                <a:latin typeface="Microsoft YaHei"/>
                <a:ea typeface="Microsoft YaHei"/>
              </a:rPr>
              <a:t>官方血缘图上能直接回答的四个问题</a:t>
            </a:r>
            <a:endParaRPr/>
          </a:p>
        </p:txBody>
      </p:sp>
      <p:sp>
        <p:nvSpPr>
          <p:cNvPr id="112" name=""/>
          <p:cNvSpPr/>
          <p:nvPr/>
        </p:nvSpPr>
        <p:spPr>
          <a:xfrm rot="0" flipH="0" flipV="0">
            <a:off x="809625" y="1685925"/>
            <a:ext cx="2600325" cy="838200"/>
          </a:xfrm>
          <a:prstGeom prst="roundRect">
            <a:avLst>
              <a:gd name="adj" fmla="val 3409"/>
            </a:avLst>
          </a:prstGeom>
          <a:solidFill>
            <a:srgbClr val="FFFFFF">
              <a:alpha val="7000"/>
            </a:srgbClr>
          </a:solidFill>
          <a:ln/>
        </p:spPr>
        <p:txBody>
          <a:bodyPr/>
          <a:p/>
        </p:txBody>
      </p:sp>
      <p:sp>
        <p:nvSpPr>
          <p:cNvPr id="113" name=""/>
          <p:cNvSpPr/>
          <p:nvPr/>
        </p:nvSpPr>
        <p:spPr>
          <a:xfrm rot="0" flipH="0" flipV="0">
            <a:off x="809625" y="1685925"/>
            <a:ext cx="2600325" cy="838200"/>
          </a:xfrm>
          <a:custGeom>
            <a:pathLst>
              <a:path w="273" h="88">
                <a:moveTo>
                  <a:pt x="3" y="88"/>
                </a:moveTo>
                <a:cubicBezTo>
                  <a:pt x="1" y="88"/>
                  <a:pt x="0" y="87"/>
                  <a:pt x="0" y="85"/>
                </a:cubicBezTo>
                <a:lnTo>
                  <a:pt x="0" y="3"/>
                </a:lnTo>
                <a:cubicBezTo>
                  <a:pt x="0" y="1"/>
                  <a:pt x="1" y="0"/>
                  <a:pt x="3" y="0"/>
                </a:cubicBezTo>
                <a:lnTo>
                  <a:pt x="3" y="88"/>
                </a:lnTo>
                <a:close/>
              </a:path>
            </a:pathLst>
          </a:custGeom>
          <a:solidFill>
            <a:srgbClr val="FA4F24"/>
          </a:solidFill>
          <a:ln/>
        </p:spPr>
        <p:txBody>
          <a:bodyPr/>
          <a:p/>
        </p:txBody>
      </p:sp>
      <p:sp>
        <p:nvSpPr>
          <p:cNvPr id="114" name="" descr="{&quot;isTemplate&quot;:true,&quot;type&quot;:&quot;text&quot;}"/>
          <p:cNvSpPr txBox="1"/>
          <p:nvPr/>
        </p:nvSpPr>
        <p:spPr>
          <a:xfrm rot="0" flipH="0" flipV="0">
            <a:off x="923925" y="1933575"/>
            <a:ext cx="2343150" cy="152400"/>
          </a:xfrm>
          <a:prstGeom prst="rect"/>
        </p:spPr>
        <p:txBody>
          <a:bodyPr wrap="none" lIns="0" tIns="0" rIns="0" bIns="0"/>
          <a:p>
            <a:pPr>
              <a:lnSpc>
                <a:spcPct val="100000"/>
              </a:lnSpc>
            </a:pPr>
            <a:r>
              <a:rPr lang="zh-CN" sz="975" b="1">
                <a:solidFill>
                  <a:srgbClr val="FFFFFF"/>
                </a:solidFill>
                <a:latin typeface="Microsoft YaHei"/>
                <a:ea typeface="Microsoft YaHei"/>
              </a:rPr>
              <a:t>这条数据的祖先是谁？</a:t>
            </a:r>
            <a:endParaRPr/>
          </a:p>
        </p:txBody>
      </p:sp>
      <p:sp>
        <p:nvSpPr>
          <p:cNvPr id="115" name="" descr="{&quot;isTemplate&quot;:true,&quot;type&quot;:&quot;text&quot;}"/>
          <p:cNvSpPr txBox="1"/>
          <p:nvPr/>
        </p:nvSpPr>
        <p:spPr>
          <a:xfrm rot="0" flipH="0" flipV="0">
            <a:off x="923925" y="2152650"/>
            <a:ext cx="2343150" cy="133350"/>
          </a:xfrm>
          <a:prstGeom prst="rect"/>
        </p:spPr>
        <p:txBody>
          <a:bodyPr wrap="none" lIns="0" tIns="0" rIns="0" bIns="0"/>
          <a:p>
            <a:pPr>
              <a:lnSpc>
                <a:spcPct val="100000"/>
              </a:lnSpc>
            </a:pPr>
            <a:r>
              <a:rPr lang="zh-CN" sz="863">
                <a:solidFill>
                  <a:srgbClr val="FA4F24"/>
                </a:solidFill>
                <a:latin typeface="Microsoft YaHei"/>
                <a:ea typeface="Microsoft YaHei"/>
              </a:rPr>
              <a:t>向上展开，可追溯到源系统</a:t>
            </a:r>
            <a:endParaRPr/>
          </a:p>
        </p:txBody>
      </p:sp>
      <p:sp>
        <p:nvSpPr>
          <p:cNvPr id="116" name=""/>
          <p:cNvSpPr/>
          <p:nvPr/>
        </p:nvSpPr>
        <p:spPr>
          <a:xfrm rot="0" flipH="0" flipV="0">
            <a:off x="3486150" y="1685925"/>
            <a:ext cx="2600325" cy="838200"/>
          </a:xfrm>
          <a:prstGeom prst="roundRect">
            <a:avLst>
              <a:gd name="adj" fmla="val 3409"/>
            </a:avLst>
          </a:prstGeom>
          <a:solidFill>
            <a:srgbClr val="FFFFFF">
              <a:alpha val="7000"/>
            </a:srgbClr>
          </a:solidFill>
          <a:ln/>
        </p:spPr>
        <p:txBody>
          <a:bodyPr/>
          <a:p/>
        </p:txBody>
      </p:sp>
      <p:sp>
        <p:nvSpPr>
          <p:cNvPr id="117" name=""/>
          <p:cNvSpPr/>
          <p:nvPr/>
        </p:nvSpPr>
        <p:spPr>
          <a:xfrm rot="0" flipH="0" flipV="0">
            <a:off x="3486150" y="1685925"/>
            <a:ext cx="2600325" cy="838200"/>
          </a:xfrm>
          <a:custGeom>
            <a:pathLst>
              <a:path w="273" h="88">
                <a:moveTo>
                  <a:pt x="3" y="88"/>
                </a:moveTo>
                <a:cubicBezTo>
                  <a:pt x="1" y="88"/>
                  <a:pt x="0" y="87"/>
                  <a:pt x="0" y="85"/>
                </a:cubicBezTo>
                <a:lnTo>
                  <a:pt x="0" y="3"/>
                </a:lnTo>
                <a:cubicBezTo>
                  <a:pt x="0" y="1"/>
                  <a:pt x="1" y="0"/>
                  <a:pt x="3" y="0"/>
                </a:cubicBezTo>
                <a:lnTo>
                  <a:pt x="3" y="88"/>
                </a:lnTo>
                <a:close/>
              </a:path>
            </a:pathLst>
          </a:custGeom>
          <a:solidFill>
            <a:srgbClr val="F87D2F"/>
          </a:solidFill>
          <a:ln/>
        </p:spPr>
        <p:txBody>
          <a:bodyPr/>
          <a:p/>
        </p:txBody>
      </p:sp>
      <p:sp>
        <p:nvSpPr>
          <p:cNvPr id="118" name="" descr="{&quot;isTemplate&quot;:true,&quot;type&quot;:&quot;text&quot;}"/>
          <p:cNvSpPr txBox="1"/>
          <p:nvPr/>
        </p:nvSpPr>
        <p:spPr>
          <a:xfrm rot="0" flipH="0" flipV="0">
            <a:off x="3600450" y="1933575"/>
            <a:ext cx="2343150" cy="152400"/>
          </a:xfrm>
          <a:prstGeom prst="rect"/>
        </p:spPr>
        <p:txBody>
          <a:bodyPr wrap="none" lIns="0" tIns="0" rIns="0" bIns="0"/>
          <a:p>
            <a:pPr>
              <a:lnSpc>
                <a:spcPct val="100000"/>
              </a:lnSpc>
            </a:pPr>
            <a:r>
              <a:rPr lang="zh-CN" sz="975" b="1">
                <a:solidFill>
                  <a:srgbClr val="FFFFFF"/>
                </a:solidFill>
                <a:latin typeface="Microsoft YaHei"/>
                <a:ea typeface="Microsoft YaHei"/>
              </a:rPr>
              <a:t>它影响了哪些下游？</a:t>
            </a:r>
            <a:endParaRPr/>
          </a:p>
        </p:txBody>
      </p:sp>
      <p:sp>
        <p:nvSpPr>
          <p:cNvPr id="119" name="" descr="{&quot;isTemplate&quot;:true,&quot;type&quot;:&quot;text&quot;}"/>
          <p:cNvSpPr txBox="1"/>
          <p:nvPr/>
        </p:nvSpPr>
        <p:spPr>
          <a:xfrm rot="0" flipH="0" flipV="0">
            <a:off x="3600450" y="2152650"/>
            <a:ext cx="2343150" cy="133350"/>
          </a:xfrm>
          <a:prstGeom prst="rect"/>
        </p:spPr>
        <p:txBody>
          <a:bodyPr wrap="none" lIns="0" tIns="0" rIns="0" bIns="0"/>
          <a:p>
            <a:pPr>
              <a:lnSpc>
                <a:spcPct val="100000"/>
              </a:lnSpc>
            </a:pPr>
            <a:r>
              <a:rPr lang="zh-CN" sz="863">
                <a:solidFill>
                  <a:srgbClr val="F87D2F"/>
                </a:solidFill>
                <a:latin typeface="Microsoft YaHei"/>
                <a:ea typeface="Microsoft YaHei"/>
              </a:rPr>
              <a:t>向下展开，可算影响面</a:t>
            </a:r>
            <a:endParaRPr/>
          </a:p>
        </p:txBody>
      </p:sp>
      <p:sp>
        <p:nvSpPr>
          <p:cNvPr id="120" name=""/>
          <p:cNvSpPr/>
          <p:nvPr/>
        </p:nvSpPr>
        <p:spPr>
          <a:xfrm rot="0" flipH="0" flipV="0">
            <a:off x="6162675" y="1685925"/>
            <a:ext cx="2600325" cy="838200"/>
          </a:xfrm>
          <a:prstGeom prst="roundRect">
            <a:avLst>
              <a:gd name="adj" fmla="val 3409"/>
            </a:avLst>
          </a:prstGeom>
          <a:solidFill>
            <a:srgbClr val="FFFFFF">
              <a:alpha val="7000"/>
            </a:srgbClr>
          </a:solidFill>
          <a:ln/>
        </p:spPr>
        <p:txBody>
          <a:bodyPr/>
          <a:p/>
        </p:txBody>
      </p:sp>
      <p:sp>
        <p:nvSpPr>
          <p:cNvPr id="121" name=""/>
          <p:cNvSpPr/>
          <p:nvPr/>
        </p:nvSpPr>
        <p:spPr>
          <a:xfrm rot="0" flipH="0" flipV="0">
            <a:off x="6162675" y="1685925"/>
            <a:ext cx="2600325" cy="838200"/>
          </a:xfrm>
          <a:custGeom>
            <a:pathLst>
              <a:path w="273" h="88">
                <a:moveTo>
                  <a:pt x="3" y="88"/>
                </a:moveTo>
                <a:cubicBezTo>
                  <a:pt x="1" y="88"/>
                  <a:pt x="0" y="87"/>
                  <a:pt x="0" y="85"/>
                </a:cubicBezTo>
                <a:lnTo>
                  <a:pt x="0" y="3"/>
                </a:lnTo>
                <a:cubicBezTo>
                  <a:pt x="0" y="1"/>
                  <a:pt x="1" y="0"/>
                  <a:pt x="3" y="0"/>
                </a:cubicBezTo>
                <a:lnTo>
                  <a:pt x="3" y="88"/>
                </a:lnTo>
                <a:close/>
              </a:path>
            </a:pathLst>
          </a:custGeom>
          <a:solidFill>
            <a:srgbClr val="E0651A"/>
          </a:solidFill>
          <a:ln/>
        </p:spPr>
        <p:txBody>
          <a:bodyPr/>
          <a:p/>
        </p:txBody>
      </p:sp>
      <p:sp>
        <p:nvSpPr>
          <p:cNvPr id="122" name="" descr="{&quot;isTemplate&quot;:true,&quot;type&quot;:&quot;text&quot;}"/>
          <p:cNvSpPr txBox="1"/>
          <p:nvPr/>
        </p:nvSpPr>
        <p:spPr>
          <a:xfrm rot="0" flipH="0" flipV="0">
            <a:off x="6276975" y="1933575"/>
            <a:ext cx="2343150" cy="152400"/>
          </a:xfrm>
          <a:prstGeom prst="rect"/>
        </p:spPr>
        <p:txBody>
          <a:bodyPr wrap="none" lIns="0" tIns="0" rIns="0" bIns="0"/>
          <a:p>
            <a:pPr>
              <a:lnSpc>
                <a:spcPct val="100000"/>
              </a:lnSpc>
            </a:pPr>
            <a:r>
              <a:rPr lang="zh-CN" sz="975" b="1">
                <a:solidFill>
                  <a:srgbClr val="FFFFFF"/>
                </a:solidFill>
                <a:latin typeface="Microsoft YaHei"/>
                <a:ea typeface="Microsoft YaHei"/>
              </a:rPr>
              <a:t>最后一次是谁改的？</a:t>
            </a:r>
            <a:endParaRPr/>
          </a:p>
        </p:txBody>
      </p:sp>
      <p:sp>
        <p:nvSpPr>
          <p:cNvPr id="123" name="" descr="{&quot;isTemplate&quot;:true,&quot;type&quot;:&quot;text&quot;}"/>
          <p:cNvSpPr txBox="1"/>
          <p:nvPr/>
        </p:nvSpPr>
        <p:spPr>
          <a:xfrm rot="0" flipH="0" flipV="0">
            <a:off x="6276975" y="2152650"/>
            <a:ext cx="2343150" cy="133350"/>
          </a:xfrm>
          <a:prstGeom prst="rect"/>
        </p:spPr>
        <p:txBody>
          <a:bodyPr wrap="none" lIns="0" tIns="0" rIns="0" bIns="0"/>
          <a:p>
            <a:pPr>
              <a:lnSpc>
                <a:spcPct val="100000"/>
              </a:lnSpc>
            </a:pPr>
            <a:r>
              <a:rPr lang="zh-CN" sz="863">
                <a:solidFill>
                  <a:srgbClr val="E0651A"/>
                </a:solidFill>
                <a:latin typeface="Microsoft YaHei"/>
                <a:ea typeface="Microsoft YaHei"/>
              </a:rPr>
              <a:t>按选中资源的最近修改人高亮</a:t>
            </a:r>
            <a:endParaRPr/>
          </a:p>
        </p:txBody>
      </p:sp>
      <p:sp>
        <p:nvSpPr>
          <p:cNvPr id="124" name=""/>
          <p:cNvSpPr/>
          <p:nvPr/>
        </p:nvSpPr>
        <p:spPr>
          <a:xfrm rot="0" flipH="0" flipV="0">
            <a:off x="8839200" y="1685925"/>
            <a:ext cx="2600325" cy="838200"/>
          </a:xfrm>
          <a:prstGeom prst="roundRect">
            <a:avLst>
              <a:gd name="adj" fmla="val 3409"/>
            </a:avLst>
          </a:prstGeom>
          <a:solidFill>
            <a:srgbClr val="FFFFFF">
              <a:alpha val="7000"/>
            </a:srgbClr>
          </a:solidFill>
          <a:ln/>
        </p:spPr>
        <p:txBody>
          <a:bodyPr/>
          <a:p/>
        </p:txBody>
      </p:sp>
      <p:sp>
        <p:nvSpPr>
          <p:cNvPr id="125" name=""/>
          <p:cNvSpPr/>
          <p:nvPr/>
        </p:nvSpPr>
        <p:spPr>
          <a:xfrm rot="0" flipH="0" flipV="0">
            <a:off x="8839200" y="1685925"/>
            <a:ext cx="2600325" cy="838200"/>
          </a:xfrm>
          <a:custGeom>
            <a:pathLst>
              <a:path w="273" h="88">
                <a:moveTo>
                  <a:pt x="3" y="88"/>
                </a:moveTo>
                <a:cubicBezTo>
                  <a:pt x="1" y="88"/>
                  <a:pt x="0" y="87"/>
                  <a:pt x="0" y="85"/>
                </a:cubicBezTo>
                <a:lnTo>
                  <a:pt x="0" y="3"/>
                </a:lnTo>
                <a:cubicBezTo>
                  <a:pt x="0" y="1"/>
                  <a:pt x="1" y="0"/>
                  <a:pt x="3" y="0"/>
                </a:cubicBezTo>
                <a:lnTo>
                  <a:pt x="3" y="88"/>
                </a:lnTo>
                <a:close/>
              </a:path>
            </a:pathLst>
          </a:custGeom>
          <a:solidFill>
            <a:srgbClr val="C43A17"/>
          </a:solidFill>
          <a:ln/>
        </p:spPr>
        <p:txBody>
          <a:bodyPr/>
          <a:p/>
        </p:txBody>
      </p:sp>
      <p:sp>
        <p:nvSpPr>
          <p:cNvPr id="126" name="" descr="{&quot;isTemplate&quot;:true,&quot;type&quot;:&quot;text&quot;}"/>
          <p:cNvSpPr txBox="1"/>
          <p:nvPr/>
        </p:nvSpPr>
        <p:spPr>
          <a:xfrm rot="0" flipH="0" flipV="0">
            <a:off x="8953500" y="1933575"/>
            <a:ext cx="2343150" cy="152400"/>
          </a:xfrm>
          <a:prstGeom prst="rect"/>
        </p:spPr>
        <p:txBody>
          <a:bodyPr wrap="none" lIns="0" tIns="0" rIns="0" bIns="0"/>
          <a:p>
            <a:pPr>
              <a:lnSpc>
                <a:spcPct val="100000"/>
              </a:lnSpc>
            </a:pPr>
            <a:r>
              <a:rPr lang="zh-CN" sz="975" b="1">
                <a:solidFill>
                  <a:srgbClr val="FFFFFF"/>
                </a:solidFill>
                <a:latin typeface="Microsoft YaHei"/>
                <a:ea typeface="Microsoft YaHei"/>
              </a:rPr>
              <a:t>哪个数据集正在构建？</a:t>
            </a:r>
            <a:endParaRPr/>
          </a:p>
        </p:txBody>
      </p:sp>
      <p:sp>
        <p:nvSpPr>
          <p:cNvPr id="127" name="" descr="{&quot;isTemplate&quot;:true,&quot;type&quot;:&quot;text&quot;}"/>
          <p:cNvSpPr txBox="1"/>
          <p:nvPr/>
        </p:nvSpPr>
        <p:spPr>
          <a:xfrm rot="0" flipH="0" flipV="0">
            <a:off x="8953500" y="2152650"/>
            <a:ext cx="2343150" cy="133350"/>
          </a:xfrm>
          <a:prstGeom prst="rect"/>
        </p:spPr>
        <p:txBody>
          <a:bodyPr wrap="none" lIns="0" tIns="0" rIns="0" bIns="0"/>
          <a:p>
            <a:pPr>
              <a:lnSpc>
                <a:spcPct val="100000"/>
              </a:lnSpc>
            </a:pPr>
            <a:r>
              <a:rPr lang="zh-CN" sz="863">
                <a:solidFill>
                  <a:srgbClr val="C43A17"/>
                </a:solidFill>
                <a:latin typeface="Microsoft YaHei"/>
                <a:ea typeface="Microsoft YaHei"/>
              </a:rPr>
              <a:t>构建状态视图，标出未完成事务</a:t>
            </a:r>
            <a:endParaRPr/>
          </a:p>
        </p:txBody>
      </p:sp>
      <p:sp>
        <p:nvSpPr>
          <p:cNvPr id="128" name="" descr="{&quot;isTemplate&quot;:true,&quot;type&quot;:&quot;text&quot;}"/>
          <p:cNvSpPr txBox="1"/>
          <p:nvPr/>
        </p:nvSpPr>
        <p:spPr>
          <a:xfrm rot="0" flipH="0" flipV="0">
            <a:off x="781050" y="2628900"/>
            <a:ext cx="10629900" cy="200025"/>
          </a:xfrm>
          <a:prstGeom prst="rect"/>
        </p:spPr>
        <p:txBody>
          <a:bodyPr wrap="none" lIns="0" tIns="0" rIns="0" bIns="0"/>
          <a:p>
            <a:pPr>
              <a:lnSpc>
                <a:spcPct val="150000"/>
              </a:lnSpc>
            </a:pPr>
            <a:r>
              <a:rPr lang="zh-CN" sz="863">
                <a:solidFill>
                  <a:srgbClr val="FFFFFF">
                    <a:alpha val="72000"/>
                  </a:srgbClr>
                </a:solidFill>
                <a:latin typeface="Microsoft YaHei"/>
                <a:ea typeface="Microsoft YaHei"/>
              </a:rPr>
              <a:t>官方特别强调：血缘是主动元数据，不是理论上的爬虫。每一个数据集的每一个版本，都记录了是哪段代码、哪些父数据集、哪个运行时创建的。</a:t>
            </a:r>
            <a:endParaRPr/>
          </a:p>
        </p:txBody>
      </p:sp>
      <p:sp>
        <p:nvSpPr>
          <p:cNvPr id="129" name=""/>
          <p:cNvSpPr/>
          <p:nvPr/>
        </p:nvSpPr>
        <p:spPr>
          <a:xfrm rot="0" flipH="0" flipV="0">
            <a:off x="647700" y="3057525"/>
            <a:ext cx="5438775" cy="2581275"/>
          </a:xfrm>
          <a:prstGeom prst="roundRect">
            <a:avLst>
              <a:gd name="adj" fmla="val 1476"/>
            </a:avLst>
          </a:prstGeom>
          <a:solidFill>
            <a:srgbClr val="FFF3EE"/>
          </a:solidFill>
          <a:ln/>
        </p:spPr>
        <p:txBody>
          <a:bodyPr/>
          <a:p/>
        </p:txBody>
      </p:sp>
      <p:sp>
        <p:nvSpPr>
          <p:cNvPr id="130" name=""/>
          <p:cNvSpPr/>
          <p:nvPr/>
        </p:nvSpPr>
        <p:spPr>
          <a:xfrm rot="0" flipH="0" flipV="0">
            <a:off x="647700" y="3057525"/>
            <a:ext cx="5438775" cy="2581275"/>
          </a:xfrm>
          <a:custGeom>
            <a:pathLst>
              <a:path w="571" h="271">
                <a:moveTo>
                  <a:pt x="4" y="271"/>
                </a:moveTo>
                <a:cubicBezTo>
                  <a:pt x="2" y="271"/>
                  <a:pt x="0" y="269"/>
                  <a:pt x="0" y="267"/>
                </a:cubicBezTo>
                <a:lnTo>
                  <a:pt x="0" y="4"/>
                </a:lnTo>
                <a:cubicBezTo>
                  <a:pt x="0" y="2"/>
                  <a:pt x="2" y="0"/>
                  <a:pt x="4" y="0"/>
                </a:cubicBezTo>
                <a:lnTo>
                  <a:pt x="4" y="271"/>
                </a:lnTo>
                <a:close/>
              </a:path>
            </a:pathLst>
          </a:custGeom>
          <a:solidFill>
            <a:srgbClr val="FA4F24"/>
          </a:solidFill>
          <a:ln/>
        </p:spPr>
        <p:txBody>
          <a:bodyPr/>
          <a:p/>
        </p:txBody>
      </p:sp>
      <p:sp>
        <p:nvSpPr>
          <p:cNvPr id="131" name="" descr="{&quot;isTemplate&quot;:true,&quot;type&quot;:&quot;text&quot;}"/>
          <p:cNvSpPr txBox="1"/>
          <p:nvPr/>
        </p:nvSpPr>
        <p:spPr>
          <a:xfrm rot="0" flipH="0" flipV="0">
            <a:off x="809625" y="3181350"/>
            <a:ext cx="5076825" cy="161925"/>
          </a:xfrm>
          <a:prstGeom prst="rect"/>
        </p:spPr>
        <p:txBody>
          <a:bodyPr wrap="none" lIns="0" tIns="0" rIns="0" bIns="0"/>
          <a:p>
            <a:pPr>
              <a:lnSpc>
                <a:spcPct val="100000"/>
              </a:lnSpc>
            </a:pPr>
            <a:r>
              <a:rPr lang="zh-CN" sz="1050" b="1">
                <a:solidFill>
                  <a:srgbClr val="C43A17"/>
                </a:solidFill>
                <a:latin typeface="Microsoft YaHei"/>
                <a:ea typeface="Microsoft YaHei"/>
              </a:rPr>
              <a:t>审计日志的三层内容，缺一层治理就断一截</a:t>
            </a:r>
            <a:endParaRPr/>
          </a:p>
        </p:txBody>
      </p:sp>
      <p:sp>
        <p:nvSpPr>
          <p:cNvPr id="132" name=""/>
          <p:cNvSpPr/>
          <p:nvPr/>
        </p:nvSpPr>
        <p:spPr>
          <a:xfrm rot="0" flipH="0" flipV="0">
            <a:off x="809625" y="3648075"/>
            <a:ext cx="552450" cy="247650"/>
          </a:xfrm>
          <a:prstGeom prst="rect">
            <a:avLst/>
          </a:prstGeom>
          <a:solidFill>
            <a:srgbClr val="FA4F24"/>
          </a:solidFill>
          <a:ln/>
        </p:spPr>
        <p:txBody>
          <a:bodyPr/>
          <a:p/>
        </p:txBody>
      </p:sp>
      <p:sp>
        <p:nvSpPr>
          <p:cNvPr id="133" name="" descr="{&quot;isTemplate&quot;:true,&quot;type&quot;:&quot;text&quot;}"/>
          <p:cNvSpPr txBox="1"/>
          <p:nvPr/>
        </p:nvSpPr>
        <p:spPr>
          <a:xfrm rot="0" flipH="0" flipV="0">
            <a:off x="1028700" y="3695700"/>
            <a:ext cx="123825" cy="152400"/>
          </a:xfrm>
          <a:prstGeom prst="rect"/>
        </p:spPr>
        <p:txBody>
          <a:bodyPr wrap="none" lIns="0" tIns="0" rIns="0" bIns="0"/>
          <a:p>
            <a:pPr>
              <a:lnSpc>
                <a:spcPct val="100000"/>
              </a:lnSpc>
            </a:pPr>
            <a:r>
              <a:rPr lang="zh-CN" sz="975" b="1">
                <a:solidFill>
                  <a:srgbClr val="FFFFFF"/>
                </a:solidFill>
                <a:latin typeface="Microsoft YaHei"/>
                <a:ea typeface="Microsoft YaHei"/>
              </a:rPr>
              <a:t>谁</a:t>
            </a:r>
            <a:endParaRPr/>
          </a:p>
        </p:txBody>
      </p:sp>
      <p:sp>
        <p:nvSpPr>
          <p:cNvPr id="134" name="" descr="{&quot;isTemplate&quot;:true,&quot;type&quot;:&quot;text&quot;}"/>
          <p:cNvSpPr txBox="1"/>
          <p:nvPr/>
        </p:nvSpPr>
        <p:spPr>
          <a:xfrm rot="0" flipH="0" flipV="0">
            <a:off x="1476375" y="3676650"/>
            <a:ext cx="4410075" cy="200025"/>
          </a:xfrm>
          <a:prstGeom prst="rect"/>
        </p:spPr>
        <p:txBody>
          <a:bodyPr wrap="none" lIns="0" tIns="0" rIns="0" bIns="0"/>
          <a:p>
            <a:pPr>
              <a:lnSpc>
                <a:spcPct val="140000"/>
              </a:lnSpc>
            </a:pPr>
            <a:r>
              <a:rPr lang="zh-CN" sz="900">
                <a:solidFill>
                  <a:srgbClr val="0F1423"/>
                </a:solidFill>
                <a:latin typeface="Microsoft YaHei"/>
                <a:ea typeface="Microsoft YaHei"/>
              </a:rPr>
              <a:t>身份信息，包括沿单点登录链路传递过来的用户组属性</a:t>
            </a:r>
            <a:endParaRPr/>
          </a:p>
        </p:txBody>
      </p:sp>
      <p:sp>
        <p:nvSpPr>
          <p:cNvPr id="135" name=""/>
          <p:cNvSpPr/>
          <p:nvPr/>
        </p:nvSpPr>
        <p:spPr>
          <a:xfrm rot="0" flipH="0" flipV="0">
            <a:off x="809625" y="4114800"/>
            <a:ext cx="5076825" cy="714375"/>
          </a:xfrm>
          <a:custGeom>
            <a:pathLst>
              <a:path w="533" h="75">
                <a:moveTo>
                  <a:pt x="0" y="0"/>
                </a:moveTo>
                <a:lnTo>
                  <a:pt x="533" y="0"/>
                </a:lnTo>
                <a:lnTo>
                  <a:pt x="533" y="1"/>
                </a:lnTo>
                <a:lnTo>
                  <a:pt x="0" y="1"/>
                </a:lnTo>
                <a:close/>
              </a:path>
            </a:pathLst>
          </a:custGeom>
          <a:solidFill>
            <a:srgbClr val="FBA15C"/>
          </a:solidFill>
          <a:ln/>
        </p:spPr>
        <p:txBody>
          <a:bodyPr/>
          <a:p/>
        </p:txBody>
      </p:sp>
      <p:sp>
        <p:nvSpPr>
          <p:cNvPr id="136" name=""/>
          <p:cNvSpPr/>
          <p:nvPr/>
        </p:nvSpPr>
        <p:spPr>
          <a:xfrm rot="0" flipH="0" flipV="0">
            <a:off x="809625" y="4352925"/>
            <a:ext cx="552450" cy="247650"/>
          </a:xfrm>
          <a:prstGeom prst="rect">
            <a:avLst/>
          </a:prstGeom>
          <a:solidFill>
            <a:srgbClr val="F87D2F"/>
          </a:solidFill>
          <a:ln/>
        </p:spPr>
        <p:txBody>
          <a:bodyPr/>
          <a:p/>
        </p:txBody>
      </p:sp>
      <p:sp>
        <p:nvSpPr>
          <p:cNvPr id="137" name="" descr="{&quot;isTemplate&quot;:true,&quot;type&quot;:&quot;text&quot;}"/>
          <p:cNvSpPr txBox="1"/>
          <p:nvPr/>
        </p:nvSpPr>
        <p:spPr>
          <a:xfrm rot="0" flipH="0" flipV="0">
            <a:off x="962025" y="4400550"/>
            <a:ext cx="247650" cy="152400"/>
          </a:xfrm>
          <a:prstGeom prst="rect"/>
        </p:spPr>
        <p:txBody>
          <a:bodyPr wrap="none" lIns="0" tIns="0" rIns="0" bIns="0"/>
          <a:p>
            <a:pPr>
              <a:lnSpc>
                <a:spcPct val="100000"/>
              </a:lnSpc>
            </a:pPr>
            <a:r>
              <a:rPr lang="zh-CN" sz="975" b="1">
                <a:solidFill>
                  <a:srgbClr val="FFFFFF"/>
                </a:solidFill>
                <a:latin typeface="Microsoft YaHei"/>
                <a:ea typeface="Microsoft YaHei"/>
              </a:rPr>
              <a:t>什么</a:t>
            </a:r>
            <a:endParaRPr/>
          </a:p>
        </p:txBody>
      </p:sp>
      <p:sp>
        <p:nvSpPr>
          <p:cNvPr id="138" name="" descr="{&quot;isTemplate&quot;:true,&quot;type&quot;:&quot;text&quot;}"/>
          <p:cNvSpPr txBox="1"/>
          <p:nvPr/>
        </p:nvSpPr>
        <p:spPr>
          <a:xfrm rot="0" flipH="0" flipV="0">
            <a:off x="1476375" y="4371975"/>
            <a:ext cx="4410075" cy="200025"/>
          </a:xfrm>
          <a:prstGeom prst="rect"/>
        </p:spPr>
        <p:txBody>
          <a:bodyPr wrap="none" lIns="0" tIns="0" rIns="0" bIns="0"/>
          <a:p>
            <a:pPr>
              <a:lnSpc>
                <a:spcPct val="140000"/>
              </a:lnSpc>
            </a:pPr>
            <a:r>
              <a:rPr lang="zh-CN" sz="900">
                <a:solidFill>
                  <a:srgbClr val="0F1423"/>
                </a:solidFill>
                <a:latin typeface="Microsoft YaHei"/>
                <a:ea typeface="Microsoft YaHei"/>
              </a:rPr>
              <a:t>访问或改动了哪个对象的哪个属性、哪个动作类型</a:t>
            </a:r>
            <a:endParaRPr/>
          </a:p>
        </p:txBody>
      </p:sp>
      <p:sp>
        <p:nvSpPr>
          <p:cNvPr id="139" name=""/>
          <p:cNvSpPr/>
          <p:nvPr/>
        </p:nvSpPr>
        <p:spPr>
          <a:xfrm rot="0" flipH="0" flipV="0">
            <a:off x="809625" y="4819650"/>
            <a:ext cx="5076825" cy="704850"/>
          </a:xfrm>
          <a:custGeom>
            <a:pathLst>
              <a:path w="533" h="74">
                <a:moveTo>
                  <a:pt x="0" y="0"/>
                </a:moveTo>
                <a:lnTo>
                  <a:pt x="533" y="0"/>
                </a:lnTo>
                <a:lnTo>
                  <a:pt x="533" y="1"/>
                </a:lnTo>
                <a:lnTo>
                  <a:pt x="0" y="1"/>
                </a:lnTo>
                <a:close/>
              </a:path>
            </a:pathLst>
          </a:custGeom>
          <a:solidFill>
            <a:srgbClr val="FBA15C"/>
          </a:solidFill>
          <a:ln/>
        </p:spPr>
        <p:txBody>
          <a:bodyPr/>
          <a:p/>
        </p:txBody>
      </p:sp>
      <p:sp>
        <p:nvSpPr>
          <p:cNvPr id="140" name=""/>
          <p:cNvSpPr/>
          <p:nvPr/>
        </p:nvSpPr>
        <p:spPr>
          <a:xfrm rot="0" flipH="0" flipV="0">
            <a:off x="809625" y="5048250"/>
            <a:ext cx="552450" cy="247650"/>
          </a:xfrm>
          <a:prstGeom prst="rect">
            <a:avLst/>
          </a:prstGeom>
          <a:solidFill>
            <a:srgbClr val="E0651A"/>
          </a:solidFill>
          <a:ln/>
        </p:spPr>
        <p:txBody>
          <a:bodyPr/>
          <a:p/>
        </p:txBody>
      </p:sp>
      <p:sp>
        <p:nvSpPr>
          <p:cNvPr id="141" name="" descr="{&quot;isTemplate&quot;:true,&quot;type&quot;:&quot;text&quot;}"/>
          <p:cNvSpPr txBox="1"/>
          <p:nvPr/>
        </p:nvSpPr>
        <p:spPr>
          <a:xfrm rot="0" flipH="0" flipV="0">
            <a:off x="904875" y="5095875"/>
            <a:ext cx="371475" cy="152400"/>
          </a:xfrm>
          <a:prstGeom prst="rect"/>
        </p:spPr>
        <p:txBody>
          <a:bodyPr wrap="none" lIns="0" tIns="0" rIns="0" bIns="0"/>
          <a:p>
            <a:pPr>
              <a:lnSpc>
                <a:spcPct val="100000"/>
              </a:lnSpc>
            </a:pPr>
            <a:r>
              <a:rPr lang="zh-CN" sz="975" b="1">
                <a:solidFill>
                  <a:srgbClr val="FFFFFF"/>
                </a:solidFill>
                <a:latin typeface="Microsoft YaHei"/>
                <a:ea typeface="Microsoft YaHei"/>
              </a:rPr>
              <a:t>为什么</a:t>
            </a:r>
            <a:endParaRPr/>
          </a:p>
        </p:txBody>
      </p:sp>
      <p:sp>
        <p:nvSpPr>
          <p:cNvPr id="142" name="" descr="{&quot;isTemplate&quot;:true,&quot;type&quot;:&quot;text&quot;}"/>
          <p:cNvSpPr txBox="1"/>
          <p:nvPr/>
        </p:nvSpPr>
        <p:spPr>
          <a:xfrm rot="0" flipH="0" flipV="0">
            <a:off x="1476375" y="5076825"/>
            <a:ext cx="4410075" cy="200025"/>
          </a:xfrm>
          <a:prstGeom prst="rect"/>
        </p:spPr>
        <p:txBody>
          <a:bodyPr wrap="none" lIns="0" tIns="0" rIns="0" bIns="0"/>
          <a:p>
            <a:pPr>
              <a:lnSpc>
                <a:spcPct val="140000"/>
              </a:lnSpc>
            </a:pPr>
            <a:r>
              <a:rPr lang="zh-CN" sz="900">
                <a:solidFill>
                  <a:srgbClr val="0F1423"/>
                </a:solidFill>
                <a:latin typeface="Microsoft YaHei"/>
                <a:ea typeface="Microsoft YaHei"/>
              </a:rPr>
              <a:t>用途检查点里提交的理由——这是传统系统最缺的一层</a:t>
            </a:r>
            <a:endParaRPr/>
          </a:p>
        </p:txBody>
      </p:sp>
      <p:sp>
        <p:nvSpPr>
          <p:cNvPr id="143" name=""/>
          <p:cNvSpPr/>
          <p:nvPr/>
        </p:nvSpPr>
        <p:spPr>
          <a:xfrm rot="0" flipH="0" flipV="0">
            <a:off x="6143625" y="3057525"/>
            <a:ext cx="5438775" cy="2581275"/>
          </a:xfrm>
          <a:prstGeom prst="roundRect">
            <a:avLst>
              <a:gd name="adj" fmla="val 1476"/>
            </a:avLst>
          </a:prstGeom>
          <a:solidFill>
            <a:srgbClr val="F7F7F8"/>
          </a:solidFill>
          <a:ln/>
        </p:spPr>
        <p:txBody>
          <a:bodyPr/>
          <a:p/>
        </p:txBody>
      </p:sp>
      <p:sp>
        <p:nvSpPr>
          <p:cNvPr id="144" name="" descr="{&quot;isTemplate&quot;:true,&quot;type&quot;:&quot;text&quot;}"/>
          <p:cNvSpPr txBox="1"/>
          <p:nvPr/>
        </p:nvSpPr>
        <p:spPr>
          <a:xfrm rot="0" flipH="0" flipV="0">
            <a:off x="6305550" y="3600450"/>
            <a:ext cx="5114925" cy="161925"/>
          </a:xfrm>
          <a:prstGeom prst="rect"/>
        </p:spPr>
        <p:txBody>
          <a:bodyPr wrap="none" lIns="0" tIns="0" rIns="0" bIns="0"/>
          <a:p>
            <a:pPr>
              <a:lnSpc>
                <a:spcPct val="100000"/>
              </a:lnSpc>
            </a:pPr>
            <a:r>
              <a:rPr lang="zh-CN" sz="1050" b="1">
                <a:solidFill>
                  <a:srgbClr val="0F1423"/>
                </a:solidFill>
                <a:latin typeface="Microsoft YaHei"/>
                <a:ea typeface="Microsoft YaHei"/>
              </a:rPr>
              <a:t>动作日志：治理的最后一层</a:t>
            </a:r>
            <a:endParaRPr/>
          </a:p>
        </p:txBody>
      </p:sp>
      <p:sp>
        <p:nvSpPr>
          <p:cNvPr id="145" name="" descr="{&quot;isTemplate&quot;:true,&quot;type&quot;:&quot;text&quot;}"/>
          <p:cNvSpPr txBox="1"/>
          <p:nvPr/>
        </p:nvSpPr>
        <p:spPr>
          <a:xfrm rot="0" flipH="0" flipV="0">
            <a:off x="6305550" y="3829050"/>
            <a:ext cx="5114925" cy="428625"/>
          </a:xfrm>
          <a:prstGeom prst="rect"/>
        </p:spPr>
        <p:txBody>
          <a:bodyPr wrap="square" lIns="0" tIns="0" rIns="0" bIns="0">
            <a:normAutofit/>
          </a:bodyPr>
          <a:p>
            <a:pPr>
              <a:lnSpc>
                <a:spcPct val="155000"/>
              </a:lnSpc>
            </a:pPr>
            <a:r>
              <a:rPr lang="zh-CN" sz="900">
                <a:solidFill>
                  <a:srgbClr val="3A4050"/>
                </a:solidFill>
                <a:latin typeface="Microsoft YaHei"/>
                <a:ea typeface="Microsoft YaHei"/>
              </a:rPr>
              <a:t>在成熟的设计里，每一次动作提交都会被建模成对象类型本身并永久记录，与动作类型一一对应，自动生成记录谁、何时、改写了哪个对象的日志，并与被编辑的目标对象建立关联。</a:t>
            </a:r>
            <a:endParaRPr/>
          </a:p>
        </p:txBody>
      </p:sp>
      <p:sp>
        <p:nvSpPr>
          <p:cNvPr id="146" name=""/>
          <p:cNvSpPr/>
          <p:nvPr/>
        </p:nvSpPr>
        <p:spPr>
          <a:xfrm rot="0" flipH="0" flipV="0">
            <a:off x="6305550" y="4343400"/>
            <a:ext cx="5114925" cy="752475"/>
          </a:xfrm>
          <a:prstGeom prst="roundRect">
            <a:avLst>
              <a:gd name="adj" fmla="val 3797"/>
            </a:avLst>
          </a:prstGeom>
          <a:solidFill>
            <a:srgbClr val="FFFFFF"/>
          </a:solidFill>
          <a:ln/>
        </p:spPr>
        <p:txBody>
          <a:bodyPr/>
          <a:p/>
        </p:txBody>
      </p:sp>
      <p:sp>
        <p:nvSpPr>
          <p:cNvPr id="147" name="" descr="{&quot;isTemplate&quot;:true,&quot;type&quot;:&quot;text&quot;}"/>
          <p:cNvSpPr txBox="1"/>
          <p:nvPr/>
        </p:nvSpPr>
        <p:spPr>
          <a:xfrm rot="0" flipH="0" flipV="0">
            <a:off x="6419850" y="4429125"/>
            <a:ext cx="4886325" cy="133350"/>
          </a:xfrm>
          <a:prstGeom prst="rect"/>
        </p:spPr>
        <p:txBody>
          <a:bodyPr wrap="none" lIns="0" tIns="0" rIns="0" bIns="0"/>
          <a:p>
            <a:pPr>
              <a:lnSpc>
                <a:spcPct val="100000"/>
              </a:lnSpc>
            </a:pPr>
            <a:r>
              <a:rPr lang="zh-CN" sz="863" b="1">
                <a:solidFill>
                  <a:srgbClr val="C43A17"/>
                </a:solidFill>
                <a:latin typeface="Microsoft YaHei"/>
                <a:ea typeface="Microsoft YaHei"/>
              </a:rPr>
              <a:t>防推断是隐性难点</a:t>
            </a:r>
            <a:endParaRPr/>
          </a:p>
        </p:txBody>
      </p:sp>
      <p:sp>
        <p:nvSpPr>
          <p:cNvPr id="148" name="" descr="{&quot;isTemplate&quot;:true,&quot;type&quot;:&quot;text&quot;}"/>
          <p:cNvSpPr txBox="1"/>
          <p:nvPr/>
        </p:nvSpPr>
        <p:spPr>
          <a:xfrm rot="0" flipH="0" flipV="0">
            <a:off x="6419850" y="4610100"/>
            <a:ext cx="4886325" cy="400050"/>
          </a:xfrm>
          <a:prstGeom prst="rect"/>
        </p:spPr>
        <p:txBody>
          <a:bodyPr wrap="square" lIns="0" tIns="0" rIns="0" bIns="0">
            <a:normAutofit/>
          </a:bodyPr>
          <a:p>
            <a:pPr>
              <a:lnSpc>
                <a:spcPct val="150000"/>
              </a:lnSpc>
            </a:pPr>
            <a:r>
              <a:rPr lang="zh-CN" sz="863">
                <a:solidFill>
                  <a:srgbClr val="3A4050"/>
                </a:solidFill>
                <a:latin typeface="Microsoft YaHei"/>
                <a:ea typeface="Microsoft YaHei"/>
              </a:rPr>
              <a:t>无权看某份机密文件的人，能不能看到它的作者？在现代对象存储架构里，链接的可见性通常依赖两端对象的可见性。这个问题不解决，关系图谱本身就会泄露信息。</a:t>
            </a:r>
            <a:endParaRPr/>
          </a:p>
        </p:txBody>
      </p:sp>
      <p:sp>
        <p:nvSpPr>
          <p:cNvPr id="149"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150" name=""/>
          <p:cNvSpPr/>
          <p:nvPr/>
        </p:nvSpPr>
        <p:spPr>
          <a:xfrm rot="0" flipH="0" flipV="0">
            <a:off x="609600" y="5953125"/>
            <a:ext cx="95250" cy="95250"/>
          </a:xfrm>
          <a:prstGeom prst="rect">
            <a:avLst/>
          </a:prstGeom>
          <a:solidFill>
            <a:srgbClr val="FA4F24"/>
          </a:solidFill>
          <a:ln/>
        </p:spPr>
        <p:txBody>
          <a:bodyPr/>
          <a:p/>
        </p:txBody>
      </p:sp>
      <p:sp>
        <p:nvSpPr>
          <p:cNvPr id="151"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152"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12 / 30</a:t>
            </a:r>
            <a:endParaRPr/>
          </a:p>
        </p:txBody>
      </p:sp>
    </p:spTree>
  </p:cSld>
</p:sld>
</file>

<file path=ppt/slides/slide13.xml><?xml version="1.0" encoding="utf-8"?>
<p:sld xmlns:p="http://schemas.openxmlformats.org/presentationml/2006/main" xmlns:a="http://schemas.openxmlformats.org/drawingml/2006/main">
  <p:cSld>
    <p:spTree>
      <p:nvGrpSpPr>
        <p:cNvPr id="153" name="" descr="&lt;Slide style={{ width: 1280, height: 720, background: '#FFFFFF', padding: '24px 64px 0' }}&gt;&#10;    &lt;Box style={{ height: 96, flexDirection: 'column', justifyContent: 'flex-start' }}&gt;&#10;      &lt;Text style={{ fontSize: 32, fontWeight: 'bold', color: '#0F1423' }}&gt;&#10;        降级与脱敏：&lt;span style={{ color: '#FA4F24' }}&gt;数据分得出去的四个条件&lt;/span&gt;&#10;      &lt;/Text&gt;&#10;      &lt;Text style={{ fontSize: 20, color: '#8A8F99', marginTop: 8 }}&gt;&#10;        「数据能共享，但不能全共享」是所有治理场景的真实矛盾，破解它的代价是四个必须同时满足的条件&#10;      &lt;/Text&gt;&#10;    &lt;/Box&gt;&#10;    &lt;Box style={{ height: 1, background: '#E8E8E8' }} /&gt;&#10;&#10;    &lt;Box style={{ paddingTop: 14, paddingBottom: 8, height: 479, flexDirection: 'row', gap: 12 }}&gt;&#10;      {/* 四条件 */}&#10;      &lt;Box style={{ width: 452, flexDirection: 'column', gap: 8 }}&gt;&#10;        {[&#10;          { n: '条件一', t: '有权移除标记', d: '执行降级的人必须拥有「去标记」特权，这个特权通常独立于普通的数据编辑权限', c: '#FA4F24' },&#10;          { n: '条件二', t: '代码分支受保护', d: '含有去标记逻辑的分支必须被设定为受保护状态，防止临时改一行就放出去', c: '#F87D2F' },&#10;          { n: '条件三', t: '除作者外第二人审批', d: '强制要求数据安全官之类角色审查并批准合并，双人控制是硬约束', c: '#E0651A' },&#10;          { n: '条件四', t: '降级结果可回溯', d: '降级产生的新数据集要重新打标记、留版本，并且能被血缘追回去', c: '#C43A17' },&#10;        ].map((it, i) =&gt; (&#10;          &lt;Box key={it.n} style={{ flex: 1, background: '#F7F7F8', borderRadius: 4, borderLeft: '4px solid ' + it.c, padding: '0 14px', flexDirection: 'row', alignItems: 'center', gap: 12 }}&gt;&#10;            &lt;Box style={{ width: 58, height: 40, background: it.c, alignItems: 'center', justifyContent: 'center' }}&gt;&#10;              &lt;Text style={{ fontSize: 12, fontWeight: 'bold', color: '#FFFFFF' }}&gt;{it.n}&lt;/Text&gt;&#10;            &lt;/Box&gt;&#10;            &lt;Box style={{ flex: 1, flexDirection: 'column' }}&gt;&#10;              &lt;Text style={{ fontSize: 13, fontWeight: 'bold', color: '#0F1423' }}&gt;{it.t}&lt;/Text&gt;&#10;              &lt;Text style={{ fontSize: 11.5, color: '#5A6072', marginTop: 3, lineHeight: 1.45 }}&gt;{it.d}&lt;/Text&gt;&#10;            &lt;/Box&gt;&#10;          &lt;/Box&gt;&#10;        ))}&#10;      &lt;/Box&gt;&#10;&#10;      &lt;Box style={{ flex: 1, flexDirection: 'column', gap: 8 }}&gt;&#10;        &lt;Box style={{ height: 208, background: '#0F1423', borderRadius: 4, padding: '14px 18px', flexDirection: 'column' }}&gt;&#10;          &lt;Text style={{ fontSize: 14, fontWeight: 'bold', color: '#FBA15C' }}&gt;功能性加密：让同一行里不同字段有不同密级&lt;/Text&gt;&#10;          &lt;Box style={{ flex: 1, flexDirection: 'column', marginTop: 10 }}&gt;&#10;            {[&#10;              { b: '通道', d: '定义加密算法与密钥生命周期，通常只有极少数管理员可见', c: '#FA4F24' },&#10;              { b: '许可证', d: '可分配的权限对象，有加密许可的只能转成密文不能逆，解密许可的可还原', c: '#F87D2F' },&#10;              { b: '密文值', d: '库里实际存的是带通道标识的格式化字符串，不是明文', c: '#E0651A' },&#10;            ].map((it, i) =&gt; (&#10;              &lt;Box key={it.b} style={{ flex: 1, flexDirection: 'row', alignItems: 'center', gap: 12, borderTop: i === 0 ? 'none' : '1px solid rgba(255,255,255,0.1)' }}&gt;&#10;                &lt;Box style={{ width: 62, height: 26, background: it.c, alignItems: 'center', justifyContent: 'center' }}&gt;&#10;                  &lt;Text style={{ fontSize: 12, fontWeight: 'bold', color: '#FFFFFF' }}&gt;{it.b}&lt;/Text&gt;&#10;                &lt;/Box&gt;&#10;                &lt;Text style={{ fontSize: 11.5, color: 'rgba(255,255,255,0.86)', flex: 1, lineHeight: 1.45 }}&gt;{it.d}&lt;/Text&gt;&#10;              &lt;/Box&gt;&#10;            ))}&#10;          &lt;/Box&gt;&#10;          &lt;Text style={{ fontSize: 11.5, color: 'rgba(255,255,255,0.72)', marginTop: 9, lineHeight: 1.5 }}&gt;&#10;            它甚至支持图像的可逆像素扰乱：原始人脸被打散成噪点存库，界面里能看到背景但看不清人脸，只有持有许可并在浏览器端插入密钥才还原。这样即便截图外泄，敏感信息本身仍然安全。&#10;          &lt;/Text&gt;&#10;        &lt;/Box&gt;&#10;&#10;        &lt;Box style={{ flex: 1, background: '#FFF3EE', borderRadius: 4, borderLeft: '4px solid #FA4F24', padding: '13px 17px', flexDirection: 'column', justifyContent: 'center' }}&gt;&#10;          &lt;Text style={{ fontSize: 14, fontWeight: 'bold', color: '#C43A17' }}&gt;一个具体的例子，说明为什么必须做功能性加密&lt;/Text&gt;&#10;          &lt;Text style={{ fontSize: 12, color: '#3A4050', marginTop: 7, lineHeight: 1.55 }}&gt;&#10;            假设一个对象包含姓名、照片、电话、风险等级四个属性。数据摄入时用「只加密」许可把姓名、照片、电话加密，平台管理员只能看到乱码，但能看到明文的风险等级用于索引和筛选。普通分析师有读取权但无解密许可，界面上只显示「高危」；高级调查员持有「解密」许可，点一下才还原明文。这就是「能共享但不全共享」的标准解法。&#10;          &lt;/Text&gt;&#10;        &lt;/Box&gt;&#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13 / 30&lt;/Text&gt;&#10;    &lt;/Box&gt;&#10;&lt;/Slide&gt;&#10;"/>
        <p:cNvGrpSpPr/>
        <p:nvPr/>
      </p:nvGrpSpPr>
      <p:grpSpPr>
        <a:xfrm>
          <a:off x="0" y="0"/>
          <a:ext cx="0" cy="0"/>
          <a:chOff x="0" y="0"/>
          <a:chExt cx="0" cy="0"/>
        </a:xfrm>
      </p:grpSpPr>
      <p:sp>
        <p:nvSpPr>
          <p:cNvPr id="154" name=""/>
          <p:cNvSpPr/>
          <p:nvPr/>
        </p:nvSpPr>
        <p:spPr>
          <a:xfrm rot="0" flipH="0" flipV="0">
            <a:off x="0" y="0"/>
            <a:ext cx="12192000" cy="6858000"/>
          </a:xfrm>
          <a:prstGeom prst="rect">
            <a:avLst/>
          </a:prstGeom>
          <a:solidFill>
            <a:srgbClr val="FFFFFF"/>
          </a:solidFill>
          <a:ln/>
        </p:spPr>
        <p:txBody>
          <a:bodyPr/>
          <a:p/>
        </p:txBody>
      </p:sp>
      <p:sp>
        <p:nvSpPr>
          <p:cNvPr id="155"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降级与脱敏：</a:t>
            </a:r>
            <a:r>
              <a:rPr lang="zh-CN" sz="2400" b="1">
                <a:solidFill>
                  <a:srgbClr val="FA4F24"/>
                </a:solidFill>
                <a:latin typeface="Microsoft YaHei"/>
                <a:ea typeface="Microsoft YaHei"/>
              </a:rPr>
              <a:t>数据分得出去的四个条件</a:t>
            </a:r>
            <a:endParaRPr/>
          </a:p>
        </p:txBody>
      </p:sp>
      <p:sp>
        <p:nvSpPr>
          <p:cNvPr id="156"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「数据能共享，但不能全共享」是所有治理场景的真实矛盾，破解它的代价是四个必须同时满足的条件</a:t>
            </a:r>
            <a:endParaRPr/>
          </a:p>
        </p:txBody>
      </p:sp>
      <p:sp>
        <p:nvSpPr>
          <p:cNvPr id="157" name=""/>
          <p:cNvSpPr/>
          <p:nvPr/>
        </p:nvSpPr>
        <p:spPr>
          <a:xfrm rot="0" flipH="0" flipV="0">
            <a:off x="609600" y="1143000"/>
            <a:ext cx="10972800" cy="9525"/>
          </a:xfrm>
          <a:prstGeom prst="rect">
            <a:avLst/>
          </a:prstGeom>
          <a:solidFill>
            <a:srgbClr val="E8E8E8"/>
          </a:solidFill>
          <a:ln/>
        </p:spPr>
        <p:txBody>
          <a:bodyPr/>
          <a:p/>
        </p:txBody>
      </p:sp>
      <p:sp>
        <p:nvSpPr>
          <p:cNvPr id="158" name=""/>
          <p:cNvSpPr/>
          <p:nvPr/>
        </p:nvSpPr>
        <p:spPr>
          <a:xfrm rot="0" flipH="0" flipV="0">
            <a:off x="647700" y="1285875"/>
            <a:ext cx="4305300" cy="1123950"/>
          </a:xfrm>
          <a:prstGeom prst="roundRect">
            <a:avLst>
              <a:gd name="adj" fmla="val 3390"/>
            </a:avLst>
          </a:prstGeom>
          <a:solidFill>
            <a:srgbClr val="F7F7F8"/>
          </a:solidFill>
          <a:ln/>
        </p:spPr>
        <p:txBody>
          <a:bodyPr/>
          <a:p/>
        </p:txBody>
      </p:sp>
      <p:sp>
        <p:nvSpPr>
          <p:cNvPr id="159" name=""/>
          <p:cNvSpPr/>
          <p:nvPr/>
        </p:nvSpPr>
        <p:spPr>
          <a:xfrm rot="0" flipH="0" flipV="0">
            <a:off x="647700" y="1285875"/>
            <a:ext cx="4305300" cy="1123950"/>
          </a:xfrm>
          <a:custGeom>
            <a:pathLst>
              <a:path w="452" h="118">
                <a:moveTo>
                  <a:pt x="4" y="118"/>
                </a:moveTo>
                <a:cubicBezTo>
                  <a:pt x="2" y="118"/>
                  <a:pt x="0" y="116"/>
                  <a:pt x="0" y="114"/>
                </a:cubicBezTo>
                <a:lnTo>
                  <a:pt x="0" y="4"/>
                </a:lnTo>
                <a:cubicBezTo>
                  <a:pt x="0" y="2"/>
                  <a:pt x="2" y="0"/>
                  <a:pt x="4" y="0"/>
                </a:cubicBezTo>
                <a:lnTo>
                  <a:pt x="4" y="118"/>
                </a:lnTo>
                <a:close/>
              </a:path>
            </a:pathLst>
          </a:custGeom>
          <a:solidFill>
            <a:srgbClr val="FA4F24"/>
          </a:solidFill>
          <a:ln/>
        </p:spPr>
        <p:txBody>
          <a:bodyPr/>
          <a:p/>
        </p:txBody>
      </p:sp>
      <p:sp>
        <p:nvSpPr>
          <p:cNvPr id="160" name=""/>
          <p:cNvSpPr/>
          <p:nvPr/>
        </p:nvSpPr>
        <p:spPr>
          <a:xfrm rot="0" flipH="0" flipV="0">
            <a:off x="781050" y="1657350"/>
            <a:ext cx="552450" cy="381000"/>
          </a:xfrm>
          <a:prstGeom prst="rect">
            <a:avLst/>
          </a:prstGeom>
          <a:solidFill>
            <a:srgbClr val="FA4F24"/>
          </a:solidFill>
          <a:ln/>
        </p:spPr>
        <p:txBody>
          <a:bodyPr/>
          <a:p/>
        </p:txBody>
      </p:sp>
      <p:sp>
        <p:nvSpPr>
          <p:cNvPr id="161" name="" descr="{&quot;isTemplate&quot;:true,&quot;type&quot;:&quot;text&quot;}"/>
          <p:cNvSpPr txBox="1"/>
          <p:nvPr/>
        </p:nvSpPr>
        <p:spPr>
          <a:xfrm rot="0" flipH="0" flipV="0">
            <a:off x="885825" y="1781175"/>
            <a:ext cx="342900" cy="142875"/>
          </a:xfrm>
          <a:prstGeom prst="rect"/>
        </p:spPr>
        <p:txBody>
          <a:bodyPr wrap="none" lIns="0" tIns="0" rIns="0" bIns="0"/>
          <a:p>
            <a:pPr>
              <a:lnSpc>
                <a:spcPct val="100000"/>
              </a:lnSpc>
            </a:pPr>
            <a:r>
              <a:rPr lang="zh-CN" sz="900" b="1">
                <a:solidFill>
                  <a:srgbClr val="FFFFFF"/>
                </a:solidFill>
                <a:latin typeface="Microsoft YaHei"/>
                <a:ea typeface="Microsoft YaHei"/>
              </a:rPr>
              <a:t>条件一</a:t>
            </a:r>
            <a:endParaRPr/>
          </a:p>
        </p:txBody>
      </p:sp>
      <p:sp>
        <p:nvSpPr>
          <p:cNvPr id="162" name="" descr="{&quot;isTemplate&quot;:true,&quot;type&quot;:&quot;text&quot;}"/>
          <p:cNvSpPr txBox="1"/>
          <p:nvPr/>
        </p:nvSpPr>
        <p:spPr>
          <a:xfrm rot="0" flipH="0" flipV="0">
            <a:off x="1447800" y="1562100"/>
            <a:ext cx="3333750" cy="152400"/>
          </a:xfrm>
          <a:prstGeom prst="rect"/>
        </p:spPr>
        <p:txBody>
          <a:bodyPr wrap="none" lIns="0" tIns="0" rIns="0" bIns="0"/>
          <a:p>
            <a:pPr>
              <a:lnSpc>
                <a:spcPct val="100000"/>
              </a:lnSpc>
            </a:pPr>
            <a:r>
              <a:rPr lang="zh-CN" sz="975" b="1">
                <a:solidFill>
                  <a:srgbClr val="0F1423"/>
                </a:solidFill>
                <a:latin typeface="Microsoft YaHei"/>
                <a:ea typeface="Microsoft YaHei"/>
              </a:rPr>
              <a:t>有权移除标记</a:t>
            </a:r>
            <a:endParaRPr/>
          </a:p>
        </p:txBody>
      </p:sp>
      <p:sp>
        <p:nvSpPr>
          <p:cNvPr id="163" name="" descr="{&quot;isTemplate&quot;:true,&quot;type&quot;:&quot;text&quot;}"/>
          <p:cNvSpPr txBox="1"/>
          <p:nvPr/>
        </p:nvSpPr>
        <p:spPr>
          <a:xfrm rot="0" flipH="0" flipV="0">
            <a:off x="1447800" y="1743075"/>
            <a:ext cx="3333750" cy="390525"/>
          </a:xfrm>
          <a:prstGeom prst="rect"/>
        </p:spPr>
        <p:txBody>
          <a:bodyPr wrap="square" lIns="0" tIns="0" rIns="0" bIns="0">
            <a:normAutofit/>
          </a:bodyPr>
          <a:p>
            <a:pPr>
              <a:lnSpc>
                <a:spcPct val="145000"/>
              </a:lnSpc>
            </a:pPr>
            <a:r>
              <a:rPr lang="zh-CN" sz="863">
                <a:solidFill>
                  <a:srgbClr val="5A6072"/>
                </a:solidFill>
                <a:latin typeface="Microsoft YaHei"/>
                <a:ea typeface="Microsoft YaHei"/>
              </a:rPr>
              <a:t>执行降级的人必须拥有「去标记」特权，这个特权通常独立于普通的数据编辑权限</a:t>
            </a:r>
            <a:endParaRPr/>
          </a:p>
        </p:txBody>
      </p:sp>
      <p:sp>
        <p:nvSpPr>
          <p:cNvPr id="164" name=""/>
          <p:cNvSpPr/>
          <p:nvPr/>
        </p:nvSpPr>
        <p:spPr>
          <a:xfrm rot="0" flipH="0" flipV="0">
            <a:off x="647700" y="2486025"/>
            <a:ext cx="4305300" cy="1133475"/>
          </a:xfrm>
          <a:prstGeom prst="roundRect">
            <a:avLst>
              <a:gd name="adj" fmla="val 3361"/>
            </a:avLst>
          </a:prstGeom>
          <a:solidFill>
            <a:srgbClr val="F7F7F8"/>
          </a:solidFill>
          <a:ln/>
        </p:spPr>
        <p:txBody>
          <a:bodyPr/>
          <a:p/>
        </p:txBody>
      </p:sp>
      <p:sp>
        <p:nvSpPr>
          <p:cNvPr id="165" name=""/>
          <p:cNvSpPr/>
          <p:nvPr/>
        </p:nvSpPr>
        <p:spPr>
          <a:xfrm rot="0" flipH="0" flipV="0">
            <a:off x="647700" y="2486025"/>
            <a:ext cx="4305300" cy="1133475"/>
          </a:xfrm>
          <a:custGeom>
            <a:pathLst>
              <a:path w="452" h="119">
                <a:moveTo>
                  <a:pt x="4" y="119"/>
                </a:moveTo>
                <a:cubicBezTo>
                  <a:pt x="2" y="119"/>
                  <a:pt x="0" y="117"/>
                  <a:pt x="0" y="115"/>
                </a:cubicBezTo>
                <a:lnTo>
                  <a:pt x="0" y="4"/>
                </a:lnTo>
                <a:cubicBezTo>
                  <a:pt x="0" y="2"/>
                  <a:pt x="2" y="0"/>
                  <a:pt x="4" y="0"/>
                </a:cubicBezTo>
                <a:lnTo>
                  <a:pt x="4" y="119"/>
                </a:lnTo>
                <a:close/>
              </a:path>
            </a:pathLst>
          </a:custGeom>
          <a:solidFill>
            <a:srgbClr val="F87D2F"/>
          </a:solidFill>
          <a:ln/>
        </p:spPr>
        <p:txBody>
          <a:bodyPr/>
          <a:p/>
        </p:txBody>
      </p:sp>
      <p:sp>
        <p:nvSpPr>
          <p:cNvPr id="166" name=""/>
          <p:cNvSpPr/>
          <p:nvPr/>
        </p:nvSpPr>
        <p:spPr>
          <a:xfrm rot="0" flipH="0" flipV="0">
            <a:off x="781050" y="2867025"/>
            <a:ext cx="552450" cy="381000"/>
          </a:xfrm>
          <a:prstGeom prst="rect">
            <a:avLst/>
          </a:prstGeom>
          <a:solidFill>
            <a:srgbClr val="F87D2F"/>
          </a:solidFill>
          <a:ln/>
        </p:spPr>
        <p:txBody>
          <a:bodyPr/>
          <a:p/>
        </p:txBody>
      </p:sp>
      <p:sp>
        <p:nvSpPr>
          <p:cNvPr id="167" name="" descr="{&quot;isTemplate&quot;:true,&quot;type&quot;:&quot;text&quot;}"/>
          <p:cNvSpPr txBox="1"/>
          <p:nvPr/>
        </p:nvSpPr>
        <p:spPr>
          <a:xfrm rot="0" flipH="0" flipV="0">
            <a:off x="885825" y="2990850"/>
            <a:ext cx="342900" cy="142875"/>
          </a:xfrm>
          <a:prstGeom prst="rect"/>
        </p:spPr>
        <p:txBody>
          <a:bodyPr wrap="none" lIns="0" tIns="0" rIns="0" bIns="0"/>
          <a:p>
            <a:pPr>
              <a:lnSpc>
                <a:spcPct val="100000"/>
              </a:lnSpc>
            </a:pPr>
            <a:r>
              <a:rPr lang="zh-CN" sz="900" b="1">
                <a:solidFill>
                  <a:srgbClr val="FFFFFF"/>
                </a:solidFill>
                <a:latin typeface="Microsoft YaHei"/>
                <a:ea typeface="Microsoft YaHei"/>
              </a:rPr>
              <a:t>条件二</a:t>
            </a:r>
            <a:endParaRPr/>
          </a:p>
        </p:txBody>
      </p:sp>
      <p:sp>
        <p:nvSpPr>
          <p:cNvPr id="168" name="" descr="{&quot;isTemplate&quot;:true,&quot;type&quot;:&quot;text&quot;}"/>
          <p:cNvSpPr txBox="1"/>
          <p:nvPr/>
        </p:nvSpPr>
        <p:spPr>
          <a:xfrm rot="0" flipH="0" flipV="0">
            <a:off x="1447800" y="2771775"/>
            <a:ext cx="3333750" cy="152400"/>
          </a:xfrm>
          <a:prstGeom prst="rect"/>
        </p:spPr>
        <p:txBody>
          <a:bodyPr wrap="none" lIns="0" tIns="0" rIns="0" bIns="0"/>
          <a:p>
            <a:pPr>
              <a:lnSpc>
                <a:spcPct val="100000"/>
              </a:lnSpc>
            </a:pPr>
            <a:r>
              <a:rPr lang="zh-CN" sz="975" b="1">
                <a:solidFill>
                  <a:srgbClr val="0F1423"/>
                </a:solidFill>
                <a:latin typeface="Microsoft YaHei"/>
                <a:ea typeface="Microsoft YaHei"/>
              </a:rPr>
              <a:t>代码分支受保护</a:t>
            </a:r>
            <a:endParaRPr/>
          </a:p>
        </p:txBody>
      </p:sp>
      <p:sp>
        <p:nvSpPr>
          <p:cNvPr id="169" name="" descr="{&quot;isTemplate&quot;:true,&quot;type&quot;:&quot;text&quot;}"/>
          <p:cNvSpPr txBox="1"/>
          <p:nvPr/>
        </p:nvSpPr>
        <p:spPr>
          <a:xfrm rot="0" flipH="0" flipV="0">
            <a:off x="1447800" y="2952750"/>
            <a:ext cx="3333750" cy="390525"/>
          </a:xfrm>
          <a:prstGeom prst="rect"/>
        </p:spPr>
        <p:txBody>
          <a:bodyPr wrap="square" lIns="0" tIns="0" rIns="0" bIns="0">
            <a:normAutofit/>
          </a:bodyPr>
          <a:p>
            <a:pPr>
              <a:lnSpc>
                <a:spcPct val="145000"/>
              </a:lnSpc>
            </a:pPr>
            <a:r>
              <a:rPr lang="zh-CN" sz="863">
                <a:solidFill>
                  <a:srgbClr val="5A6072"/>
                </a:solidFill>
                <a:latin typeface="Microsoft YaHei"/>
                <a:ea typeface="Microsoft YaHei"/>
              </a:rPr>
              <a:t>含有去标记逻辑的分支必须被设定为受保护状态，防止临时改一行就放出去</a:t>
            </a:r>
            <a:endParaRPr/>
          </a:p>
        </p:txBody>
      </p:sp>
      <p:sp>
        <p:nvSpPr>
          <p:cNvPr id="170" name=""/>
          <p:cNvSpPr/>
          <p:nvPr/>
        </p:nvSpPr>
        <p:spPr>
          <a:xfrm rot="0" flipH="0" flipV="0">
            <a:off x="647700" y="3695700"/>
            <a:ext cx="4305300" cy="933450"/>
          </a:xfrm>
          <a:prstGeom prst="roundRect">
            <a:avLst>
              <a:gd name="adj" fmla="val 4082"/>
            </a:avLst>
          </a:prstGeom>
          <a:solidFill>
            <a:srgbClr val="F7F7F8"/>
          </a:solidFill>
          <a:ln/>
        </p:spPr>
        <p:txBody>
          <a:bodyPr/>
          <a:p/>
        </p:txBody>
      </p:sp>
      <p:sp>
        <p:nvSpPr>
          <p:cNvPr id="171" name=""/>
          <p:cNvSpPr/>
          <p:nvPr/>
        </p:nvSpPr>
        <p:spPr>
          <a:xfrm rot="0" flipH="0" flipV="0">
            <a:off x="647700" y="3695700"/>
            <a:ext cx="4305300" cy="933450"/>
          </a:xfrm>
          <a:custGeom>
            <a:pathLst>
              <a:path w="452" h="98">
                <a:moveTo>
                  <a:pt x="4" y="98"/>
                </a:moveTo>
                <a:cubicBezTo>
                  <a:pt x="2" y="98"/>
                  <a:pt x="0" y="96"/>
                  <a:pt x="0" y="94"/>
                </a:cubicBezTo>
                <a:lnTo>
                  <a:pt x="0" y="4"/>
                </a:lnTo>
                <a:cubicBezTo>
                  <a:pt x="0" y="2"/>
                  <a:pt x="2" y="0"/>
                  <a:pt x="4" y="0"/>
                </a:cubicBezTo>
                <a:lnTo>
                  <a:pt x="4" y="98"/>
                </a:lnTo>
                <a:close/>
              </a:path>
            </a:pathLst>
          </a:custGeom>
          <a:solidFill>
            <a:srgbClr val="E0651A"/>
          </a:solidFill>
          <a:ln/>
        </p:spPr>
        <p:txBody>
          <a:bodyPr/>
          <a:p/>
        </p:txBody>
      </p:sp>
      <p:sp>
        <p:nvSpPr>
          <p:cNvPr id="172" name=""/>
          <p:cNvSpPr/>
          <p:nvPr/>
        </p:nvSpPr>
        <p:spPr>
          <a:xfrm rot="0" flipH="0" flipV="0">
            <a:off x="781050" y="3971925"/>
            <a:ext cx="552450" cy="381000"/>
          </a:xfrm>
          <a:prstGeom prst="rect">
            <a:avLst/>
          </a:prstGeom>
          <a:solidFill>
            <a:srgbClr val="E0651A"/>
          </a:solidFill>
          <a:ln/>
        </p:spPr>
        <p:txBody>
          <a:bodyPr/>
          <a:p/>
        </p:txBody>
      </p:sp>
      <p:sp>
        <p:nvSpPr>
          <p:cNvPr id="173" name="" descr="{&quot;isTemplate&quot;:true,&quot;type&quot;:&quot;text&quot;}"/>
          <p:cNvSpPr txBox="1"/>
          <p:nvPr/>
        </p:nvSpPr>
        <p:spPr>
          <a:xfrm rot="0" flipH="0" flipV="0">
            <a:off x="885825" y="4095750"/>
            <a:ext cx="342900" cy="142875"/>
          </a:xfrm>
          <a:prstGeom prst="rect"/>
        </p:spPr>
        <p:txBody>
          <a:bodyPr wrap="none" lIns="0" tIns="0" rIns="0" bIns="0"/>
          <a:p>
            <a:pPr>
              <a:lnSpc>
                <a:spcPct val="100000"/>
              </a:lnSpc>
            </a:pPr>
            <a:r>
              <a:rPr lang="zh-CN" sz="900" b="1">
                <a:solidFill>
                  <a:srgbClr val="FFFFFF"/>
                </a:solidFill>
                <a:latin typeface="Microsoft YaHei"/>
                <a:ea typeface="Microsoft YaHei"/>
              </a:rPr>
              <a:t>条件三</a:t>
            </a:r>
            <a:endParaRPr/>
          </a:p>
        </p:txBody>
      </p:sp>
      <p:sp>
        <p:nvSpPr>
          <p:cNvPr id="174" name="" descr="{&quot;isTemplate&quot;:true,&quot;type&quot;:&quot;text&quot;}"/>
          <p:cNvSpPr txBox="1"/>
          <p:nvPr/>
        </p:nvSpPr>
        <p:spPr>
          <a:xfrm rot="0" flipH="0" flipV="0">
            <a:off x="1447800" y="3971925"/>
            <a:ext cx="3333750" cy="152400"/>
          </a:xfrm>
          <a:prstGeom prst="rect"/>
        </p:spPr>
        <p:txBody>
          <a:bodyPr wrap="none" lIns="0" tIns="0" rIns="0" bIns="0"/>
          <a:p>
            <a:pPr>
              <a:lnSpc>
                <a:spcPct val="100000"/>
              </a:lnSpc>
            </a:pPr>
            <a:r>
              <a:rPr lang="zh-CN" sz="975" b="1">
                <a:solidFill>
                  <a:srgbClr val="0F1423"/>
                </a:solidFill>
                <a:latin typeface="Microsoft YaHei"/>
                <a:ea typeface="Microsoft YaHei"/>
              </a:rPr>
              <a:t>除作者外第二人审批</a:t>
            </a:r>
            <a:endParaRPr/>
          </a:p>
        </p:txBody>
      </p:sp>
      <p:sp>
        <p:nvSpPr>
          <p:cNvPr id="175" name="" descr="{&quot;isTemplate&quot;:true,&quot;type&quot;:&quot;text&quot;}"/>
          <p:cNvSpPr txBox="1"/>
          <p:nvPr/>
        </p:nvSpPr>
        <p:spPr>
          <a:xfrm rot="0" flipH="0" flipV="0">
            <a:off x="1447800" y="4152900"/>
            <a:ext cx="3333750" cy="200025"/>
          </a:xfrm>
          <a:prstGeom prst="rect"/>
        </p:spPr>
        <p:txBody>
          <a:bodyPr wrap="none" lIns="0" tIns="0" rIns="0" bIns="0"/>
          <a:p>
            <a:pPr>
              <a:lnSpc>
                <a:spcPct val="145000"/>
              </a:lnSpc>
            </a:pPr>
            <a:r>
              <a:rPr lang="zh-CN" sz="863">
                <a:solidFill>
                  <a:srgbClr val="5A6072"/>
                </a:solidFill>
                <a:latin typeface="Microsoft YaHei"/>
                <a:ea typeface="Microsoft YaHei"/>
              </a:rPr>
              <a:t>强制要求数据安全官之类角色审查并批准合并，双人控制是硬约束</a:t>
            </a:r>
            <a:endParaRPr/>
          </a:p>
        </p:txBody>
      </p:sp>
      <p:sp>
        <p:nvSpPr>
          <p:cNvPr id="176" name=""/>
          <p:cNvSpPr/>
          <p:nvPr/>
        </p:nvSpPr>
        <p:spPr>
          <a:xfrm rot="0" flipH="0" flipV="0">
            <a:off x="647700" y="4705350"/>
            <a:ext cx="4305300" cy="933450"/>
          </a:xfrm>
          <a:prstGeom prst="roundRect">
            <a:avLst>
              <a:gd name="adj" fmla="val 4082"/>
            </a:avLst>
          </a:prstGeom>
          <a:solidFill>
            <a:srgbClr val="F7F7F8"/>
          </a:solidFill>
          <a:ln/>
        </p:spPr>
        <p:txBody>
          <a:bodyPr/>
          <a:p/>
        </p:txBody>
      </p:sp>
      <p:sp>
        <p:nvSpPr>
          <p:cNvPr id="177" name=""/>
          <p:cNvSpPr/>
          <p:nvPr/>
        </p:nvSpPr>
        <p:spPr>
          <a:xfrm rot="0" flipH="0" flipV="0">
            <a:off x="647700" y="4705350"/>
            <a:ext cx="4305300" cy="933450"/>
          </a:xfrm>
          <a:custGeom>
            <a:pathLst>
              <a:path w="452" h="98">
                <a:moveTo>
                  <a:pt x="4" y="98"/>
                </a:moveTo>
                <a:cubicBezTo>
                  <a:pt x="2" y="98"/>
                  <a:pt x="0" y="96"/>
                  <a:pt x="0" y="94"/>
                </a:cubicBezTo>
                <a:lnTo>
                  <a:pt x="0" y="4"/>
                </a:lnTo>
                <a:cubicBezTo>
                  <a:pt x="0" y="2"/>
                  <a:pt x="2" y="0"/>
                  <a:pt x="4" y="0"/>
                </a:cubicBezTo>
                <a:lnTo>
                  <a:pt x="4" y="98"/>
                </a:lnTo>
                <a:close/>
              </a:path>
            </a:pathLst>
          </a:custGeom>
          <a:solidFill>
            <a:srgbClr val="C43A17"/>
          </a:solidFill>
          <a:ln/>
        </p:spPr>
        <p:txBody>
          <a:bodyPr/>
          <a:p/>
        </p:txBody>
      </p:sp>
      <p:sp>
        <p:nvSpPr>
          <p:cNvPr id="178" name=""/>
          <p:cNvSpPr/>
          <p:nvPr/>
        </p:nvSpPr>
        <p:spPr>
          <a:xfrm rot="0" flipH="0" flipV="0">
            <a:off x="781050" y="4981575"/>
            <a:ext cx="552450" cy="381000"/>
          </a:xfrm>
          <a:prstGeom prst="rect">
            <a:avLst/>
          </a:prstGeom>
          <a:solidFill>
            <a:srgbClr val="C43A17"/>
          </a:solidFill>
          <a:ln/>
        </p:spPr>
        <p:txBody>
          <a:bodyPr/>
          <a:p/>
        </p:txBody>
      </p:sp>
      <p:sp>
        <p:nvSpPr>
          <p:cNvPr id="179" name="" descr="{&quot;isTemplate&quot;:true,&quot;type&quot;:&quot;text&quot;}"/>
          <p:cNvSpPr txBox="1"/>
          <p:nvPr/>
        </p:nvSpPr>
        <p:spPr>
          <a:xfrm rot="0" flipH="0" flipV="0">
            <a:off x="885825" y="5105400"/>
            <a:ext cx="342900" cy="142875"/>
          </a:xfrm>
          <a:prstGeom prst="rect"/>
        </p:spPr>
        <p:txBody>
          <a:bodyPr wrap="none" lIns="0" tIns="0" rIns="0" bIns="0"/>
          <a:p>
            <a:pPr>
              <a:lnSpc>
                <a:spcPct val="100000"/>
              </a:lnSpc>
            </a:pPr>
            <a:r>
              <a:rPr lang="zh-CN" sz="900" b="1">
                <a:solidFill>
                  <a:srgbClr val="FFFFFF"/>
                </a:solidFill>
                <a:latin typeface="Microsoft YaHei"/>
                <a:ea typeface="Microsoft YaHei"/>
              </a:rPr>
              <a:t>条件四</a:t>
            </a:r>
            <a:endParaRPr/>
          </a:p>
        </p:txBody>
      </p:sp>
      <p:sp>
        <p:nvSpPr>
          <p:cNvPr id="180" name="" descr="{&quot;isTemplate&quot;:true,&quot;type&quot;:&quot;text&quot;}"/>
          <p:cNvSpPr txBox="1"/>
          <p:nvPr/>
        </p:nvSpPr>
        <p:spPr>
          <a:xfrm rot="0" flipH="0" flipV="0">
            <a:off x="1447800" y="4981575"/>
            <a:ext cx="3333750" cy="152400"/>
          </a:xfrm>
          <a:prstGeom prst="rect"/>
        </p:spPr>
        <p:txBody>
          <a:bodyPr wrap="none" lIns="0" tIns="0" rIns="0" bIns="0"/>
          <a:p>
            <a:pPr>
              <a:lnSpc>
                <a:spcPct val="100000"/>
              </a:lnSpc>
            </a:pPr>
            <a:r>
              <a:rPr lang="zh-CN" sz="975" b="1">
                <a:solidFill>
                  <a:srgbClr val="0F1423"/>
                </a:solidFill>
                <a:latin typeface="Microsoft YaHei"/>
                <a:ea typeface="Microsoft YaHei"/>
              </a:rPr>
              <a:t>降级结果可回溯</a:t>
            </a:r>
            <a:endParaRPr/>
          </a:p>
        </p:txBody>
      </p:sp>
      <p:sp>
        <p:nvSpPr>
          <p:cNvPr id="181" name="" descr="{&quot;isTemplate&quot;:true,&quot;type&quot;:&quot;text&quot;}"/>
          <p:cNvSpPr txBox="1"/>
          <p:nvPr/>
        </p:nvSpPr>
        <p:spPr>
          <a:xfrm rot="0" flipH="0" flipV="0">
            <a:off x="1447800" y="5162550"/>
            <a:ext cx="3333750" cy="200025"/>
          </a:xfrm>
          <a:prstGeom prst="rect"/>
        </p:spPr>
        <p:txBody>
          <a:bodyPr wrap="none" lIns="0" tIns="0" rIns="0" bIns="0"/>
          <a:p>
            <a:pPr>
              <a:lnSpc>
                <a:spcPct val="145000"/>
              </a:lnSpc>
            </a:pPr>
            <a:r>
              <a:rPr lang="zh-CN" sz="863">
                <a:solidFill>
                  <a:srgbClr val="5A6072"/>
                </a:solidFill>
                <a:latin typeface="Microsoft YaHei"/>
                <a:ea typeface="Microsoft YaHei"/>
              </a:rPr>
              <a:t>降级产生的新数据集要重新打标记、留版本，并且能被血缘追回去</a:t>
            </a:r>
            <a:endParaRPr/>
          </a:p>
        </p:txBody>
      </p:sp>
      <p:sp>
        <p:nvSpPr>
          <p:cNvPr id="182" name=""/>
          <p:cNvSpPr/>
          <p:nvPr/>
        </p:nvSpPr>
        <p:spPr>
          <a:xfrm rot="0" flipH="0" flipV="0">
            <a:off x="5029200" y="1285875"/>
            <a:ext cx="6553200" cy="1981200"/>
          </a:xfrm>
          <a:prstGeom prst="roundRect">
            <a:avLst>
              <a:gd name="adj" fmla="val 1923"/>
            </a:avLst>
          </a:prstGeom>
          <a:solidFill>
            <a:srgbClr val="0F1423"/>
          </a:solidFill>
          <a:ln/>
        </p:spPr>
        <p:txBody>
          <a:bodyPr/>
          <a:p/>
        </p:txBody>
      </p:sp>
      <p:sp>
        <p:nvSpPr>
          <p:cNvPr id="183" name="" descr="{&quot;isTemplate&quot;:true,&quot;type&quot;:&quot;text&quot;}"/>
          <p:cNvSpPr txBox="1"/>
          <p:nvPr/>
        </p:nvSpPr>
        <p:spPr>
          <a:xfrm rot="0" flipH="0" flipV="0">
            <a:off x="5200650" y="1419225"/>
            <a:ext cx="6210300" cy="161925"/>
          </a:xfrm>
          <a:prstGeom prst="rect"/>
        </p:spPr>
        <p:txBody>
          <a:bodyPr wrap="none" lIns="0" tIns="0" rIns="0" bIns="0"/>
          <a:p>
            <a:pPr>
              <a:lnSpc>
                <a:spcPct val="100000"/>
              </a:lnSpc>
            </a:pPr>
            <a:r>
              <a:rPr lang="zh-CN" sz="1050" b="1">
                <a:solidFill>
                  <a:srgbClr val="FBA15C"/>
                </a:solidFill>
                <a:latin typeface="Microsoft YaHei"/>
                <a:ea typeface="Microsoft YaHei"/>
              </a:rPr>
              <a:t>功能性加密：让同一行里不同字段有不同密级</a:t>
            </a:r>
            <a:endParaRPr/>
          </a:p>
        </p:txBody>
      </p:sp>
      <p:sp>
        <p:nvSpPr>
          <p:cNvPr id="184" name=""/>
          <p:cNvSpPr/>
          <p:nvPr/>
        </p:nvSpPr>
        <p:spPr>
          <a:xfrm rot="0" flipH="0" flipV="0">
            <a:off x="5200650" y="1714500"/>
            <a:ext cx="590550" cy="247650"/>
          </a:xfrm>
          <a:prstGeom prst="rect">
            <a:avLst/>
          </a:prstGeom>
          <a:solidFill>
            <a:srgbClr val="FA4F24"/>
          </a:solidFill>
          <a:ln/>
        </p:spPr>
        <p:txBody>
          <a:bodyPr/>
          <a:p/>
        </p:txBody>
      </p:sp>
      <p:sp>
        <p:nvSpPr>
          <p:cNvPr id="185" name="" descr="{&quot;isTemplate&quot;:true,&quot;type&quot;:&quot;text&quot;}"/>
          <p:cNvSpPr txBox="1"/>
          <p:nvPr/>
        </p:nvSpPr>
        <p:spPr>
          <a:xfrm rot="0" flipH="0" flipV="0">
            <a:off x="5381625" y="1771650"/>
            <a:ext cx="228600" cy="142875"/>
          </a:xfrm>
          <a:prstGeom prst="rect"/>
        </p:spPr>
        <p:txBody>
          <a:bodyPr wrap="none" lIns="0" tIns="0" rIns="0" bIns="0"/>
          <a:p>
            <a:pPr>
              <a:lnSpc>
                <a:spcPct val="100000"/>
              </a:lnSpc>
            </a:pPr>
            <a:r>
              <a:rPr lang="zh-CN" sz="900" b="1">
                <a:solidFill>
                  <a:srgbClr val="FFFFFF"/>
                </a:solidFill>
                <a:latin typeface="Microsoft YaHei"/>
                <a:ea typeface="Microsoft YaHei"/>
              </a:rPr>
              <a:t>通道</a:t>
            </a:r>
            <a:endParaRPr/>
          </a:p>
        </p:txBody>
      </p:sp>
      <p:sp>
        <p:nvSpPr>
          <p:cNvPr id="186" name="" descr="{&quot;isTemplate&quot;:true,&quot;type&quot;:&quot;text&quot;}"/>
          <p:cNvSpPr txBox="1"/>
          <p:nvPr/>
        </p:nvSpPr>
        <p:spPr>
          <a:xfrm rot="0" flipH="0" flipV="0">
            <a:off x="5905500" y="1733550"/>
            <a:ext cx="5505450" cy="200025"/>
          </a:xfrm>
          <a:prstGeom prst="rect"/>
        </p:spPr>
        <p:txBody>
          <a:bodyPr wrap="none" lIns="0" tIns="0" rIns="0" bIns="0"/>
          <a:p>
            <a:pPr>
              <a:lnSpc>
                <a:spcPct val="145000"/>
              </a:lnSpc>
            </a:pPr>
            <a:r>
              <a:rPr lang="zh-CN" sz="863">
                <a:solidFill>
                  <a:srgbClr val="FFFFFF">
                    <a:alpha val="86000"/>
                  </a:srgbClr>
                </a:solidFill>
                <a:latin typeface="Microsoft YaHei"/>
                <a:ea typeface="Microsoft YaHei"/>
              </a:rPr>
              <a:t>定义加密算法与密钥生命周期，通常只有极少数管理员可见</a:t>
            </a:r>
            <a:endParaRPr/>
          </a:p>
        </p:txBody>
      </p:sp>
      <p:sp>
        <p:nvSpPr>
          <p:cNvPr id="187" name=""/>
          <p:cNvSpPr/>
          <p:nvPr/>
        </p:nvSpPr>
        <p:spPr>
          <a:xfrm rot="0" flipH="0" flipV="0">
            <a:off x="5200650" y="1990725"/>
            <a:ext cx="6210300" cy="342900"/>
          </a:xfrm>
          <a:custGeom>
            <a:pathLst>
              <a:path w="652" h="36">
                <a:moveTo>
                  <a:pt x="0" y="0"/>
                </a:moveTo>
                <a:lnTo>
                  <a:pt x="652" y="0"/>
                </a:lnTo>
                <a:lnTo>
                  <a:pt x="652" y="1"/>
                </a:lnTo>
                <a:lnTo>
                  <a:pt x="0" y="1"/>
                </a:lnTo>
                <a:close/>
              </a:path>
            </a:pathLst>
          </a:custGeom>
          <a:solidFill>
            <a:srgbClr val="FFFFFF">
              <a:alpha val="10000"/>
            </a:srgbClr>
          </a:solidFill>
          <a:ln/>
        </p:spPr>
        <p:txBody>
          <a:bodyPr/>
          <a:p/>
        </p:txBody>
      </p:sp>
      <p:sp>
        <p:nvSpPr>
          <p:cNvPr id="188" name=""/>
          <p:cNvSpPr/>
          <p:nvPr/>
        </p:nvSpPr>
        <p:spPr>
          <a:xfrm rot="0" flipH="0" flipV="0">
            <a:off x="5200650" y="2038350"/>
            <a:ext cx="590550" cy="247650"/>
          </a:xfrm>
          <a:prstGeom prst="rect">
            <a:avLst/>
          </a:prstGeom>
          <a:solidFill>
            <a:srgbClr val="F87D2F"/>
          </a:solidFill>
          <a:ln/>
        </p:spPr>
        <p:txBody>
          <a:bodyPr/>
          <a:p/>
        </p:txBody>
      </p:sp>
      <p:sp>
        <p:nvSpPr>
          <p:cNvPr id="189" name="" descr="{&quot;isTemplate&quot;:true,&quot;type&quot;:&quot;text&quot;}"/>
          <p:cNvSpPr txBox="1"/>
          <p:nvPr/>
        </p:nvSpPr>
        <p:spPr>
          <a:xfrm rot="0" flipH="0" flipV="0">
            <a:off x="5324475" y="2095500"/>
            <a:ext cx="342900" cy="142875"/>
          </a:xfrm>
          <a:prstGeom prst="rect"/>
        </p:spPr>
        <p:txBody>
          <a:bodyPr wrap="none" lIns="0" tIns="0" rIns="0" bIns="0"/>
          <a:p>
            <a:pPr>
              <a:lnSpc>
                <a:spcPct val="100000"/>
              </a:lnSpc>
            </a:pPr>
            <a:r>
              <a:rPr lang="zh-CN" sz="900" b="1">
                <a:solidFill>
                  <a:srgbClr val="FFFFFF"/>
                </a:solidFill>
                <a:latin typeface="Microsoft YaHei"/>
                <a:ea typeface="Microsoft YaHei"/>
              </a:rPr>
              <a:t>许可证</a:t>
            </a:r>
            <a:endParaRPr/>
          </a:p>
        </p:txBody>
      </p:sp>
      <p:sp>
        <p:nvSpPr>
          <p:cNvPr id="190" name="" descr="{&quot;isTemplate&quot;:true,&quot;type&quot;:&quot;text&quot;}"/>
          <p:cNvSpPr txBox="1"/>
          <p:nvPr/>
        </p:nvSpPr>
        <p:spPr>
          <a:xfrm rot="0" flipH="0" flipV="0">
            <a:off x="5905500" y="2066925"/>
            <a:ext cx="5505450" cy="200025"/>
          </a:xfrm>
          <a:prstGeom prst="rect"/>
        </p:spPr>
        <p:txBody>
          <a:bodyPr wrap="none" lIns="0" tIns="0" rIns="0" bIns="0"/>
          <a:p>
            <a:pPr>
              <a:lnSpc>
                <a:spcPct val="145000"/>
              </a:lnSpc>
            </a:pPr>
            <a:r>
              <a:rPr lang="zh-CN" sz="863">
                <a:solidFill>
                  <a:srgbClr val="FFFFFF">
                    <a:alpha val="86000"/>
                  </a:srgbClr>
                </a:solidFill>
                <a:latin typeface="Microsoft YaHei"/>
                <a:ea typeface="Microsoft YaHei"/>
              </a:rPr>
              <a:t>可分配的权限对象，有加密许可的只能转成密文不能逆，解密许可的可还原</a:t>
            </a:r>
            <a:endParaRPr/>
          </a:p>
        </p:txBody>
      </p:sp>
      <p:sp>
        <p:nvSpPr>
          <p:cNvPr id="191" name=""/>
          <p:cNvSpPr/>
          <p:nvPr/>
        </p:nvSpPr>
        <p:spPr>
          <a:xfrm rot="0" flipH="0" flipV="0">
            <a:off x="5200650" y="2324100"/>
            <a:ext cx="6210300" cy="333375"/>
          </a:xfrm>
          <a:custGeom>
            <a:pathLst>
              <a:path w="652" h="35">
                <a:moveTo>
                  <a:pt x="0" y="0"/>
                </a:moveTo>
                <a:lnTo>
                  <a:pt x="652" y="0"/>
                </a:lnTo>
                <a:lnTo>
                  <a:pt x="652" y="1"/>
                </a:lnTo>
                <a:lnTo>
                  <a:pt x="0" y="1"/>
                </a:lnTo>
                <a:close/>
              </a:path>
            </a:pathLst>
          </a:custGeom>
          <a:solidFill>
            <a:srgbClr val="FFFFFF">
              <a:alpha val="10000"/>
            </a:srgbClr>
          </a:solidFill>
          <a:ln/>
        </p:spPr>
        <p:txBody>
          <a:bodyPr/>
          <a:p/>
        </p:txBody>
      </p:sp>
      <p:sp>
        <p:nvSpPr>
          <p:cNvPr id="192" name=""/>
          <p:cNvSpPr/>
          <p:nvPr/>
        </p:nvSpPr>
        <p:spPr>
          <a:xfrm rot="0" flipH="0" flipV="0">
            <a:off x="5200650" y="2371725"/>
            <a:ext cx="590550" cy="247650"/>
          </a:xfrm>
          <a:prstGeom prst="rect">
            <a:avLst/>
          </a:prstGeom>
          <a:solidFill>
            <a:srgbClr val="E0651A"/>
          </a:solidFill>
          <a:ln/>
        </p:spPr>
        <p:txBody>
          <a:bodyPr/>
          <a:p/>
        </p:txBody>
      </p:sp>
      <p:sp>
        <p:nvSpPr>
          <p:cNvPr id="193" name="" descr="{&quot;isTemplate&quot;:true,&quot;type&quot;:&quot;text&quot;}"/>
          <p:cNvSpPr txBox="1"/>
          <p:nvPr/>
        </p:nvSpPr>
        <p:spPr>
          <a:xfrm rot="0" flipH="0" flipV="0">
            <a:off x="5324475" y="2428875"/>
            <a:ext cx="342900" cy="142875"/>
          </a:xfrm>
          <a:prstGeom prst="rect"/>
        </p:spPr>
        <p:txBody>
          <a:bodyPr wrap="none" lIns="0" tIns="0" rIns="0" bIns="0"/>
          <a:p>
            <a:pPr>
              <a:lnSpc>
                <a:spcPct val="100000"/>
              </a:lnSpc>
            </a:pPr>
            <a:r>
              <a:rPr lang="zh-CN" sz="900" b="1">
                <a:solidFill>
                  <a:srgbClr val="FFFFFF"/>
                </a:solidFill>
                <a:latin typeface="Microsoft YaHei"/>
                <a:ea typeface="Microsoft YaHei"/>
              </a:rPr>
              <a:t>密文值</a:t>
            </a:r>
            <a:endParaRPr/>
          </a:p>
        </p:txBody>
      </p:sp>
      <p:sp>
        <p:nvSpPr>
          <p:cNvPr id="194" name="" descr="{&quot;isTemplate&quot;:true,&quot;type&quot;:&quot;text&quot;}"/>
          <p:cNvSpPr txBox="1"/>
          <p:nvPr/>
        </p:nvSpPr>
        <p:spPr>
          <a:xfrm rot="0" flipH="0" flipV="0">
            <a:off x="5905500" y="2390775"/>
            <a:ext cx="5505450" cy="200025"/>
          </a:xfrm>
          <a:prstGeom prst="rect"/>
        </p:spPr>
        <p:txBody>
          <a:bodyPr wrap="none" lIns="0" tIns="0" rIns="0" bIns="0"/>
          <a:p>
            <a:pPr>
              <a:lnSpc>
                <a:spcPct val="145000"/>
              </a:lnSpc>
            </a:pPr>
            <a:r>
              <a:rPr lang="zh-CN" sz="863">
                <a:solidFill>
                  <a:srgbClr val="FFFFFF">
                    <a:alpha val="86000"/>
                  </a:srgbClr>
                </a:solidFill>
                <a:latin typeface="Microsoft YaHei"/>
                <a:ea typeface="Microsoft YaHei"/>
              </a:rPr>
              <a:t>库里实际存的是带通道标识的格式化字符串，不是明文</a:t>
            </a:r>
            <a:endParaRPr/>
          </a:p>
        </p:txBody>
      </p:sp>
      <p:sp>
        <p:nvSpPr>
          <p:cNvPr id="195" name="" descr="{&quot;isTemplate&quot;:true,&quot;type&quot;:&quot;text&quot;}"/>
          <p:cNvSpPr txBox="1"/>
          <p:nvPr/>
        </p:nvSpPr>
        <p:spPr>
          <a:xfrm rot="0" flipH="0" flipV="0">
            <a:off x="5200650" y="2733675"/>
            <a:ext cx="6210300" cy="400050"/>
          </a:xfrm>
          <a:prstGeom prst="rect"/>
        </p:spPr>
        <p:txBody>
          <a:bodyPr wrap="square" lIns="0" tIns="0" rIns="0" bIns="0">
            <a:normAutofit/>
          </a:bodyPr>
          <a:p>
            <a:pPr>
              <a:lnSpc>
                <a:spcPct val="150000"/>
              </a:lnSpc>
            </a:pPr>
            <a:r>
              <a:rPr lang="zh-CN" sz="863">
                <a:solidFill>
                  <a:srgbClr val="FFFFFF">
                    <a:alpha val="72000"/>
                  </a:srgbClr>
                </a:solidFill>
                <a:latin typeface="Microsoft YaHei"/>
                <a:ea typeface="Microsoft YaHei"/>
              </a:rPr>
              <a:t>它甚至支持图像的可逆像素扰乱：原始人脸被打散成噪点存库，界面里能看到背景但看不清人脸，只有持有许可并在浏览器端插入密钥才还原。这样即便截图外泄，敏感信息本身仍然安全。</a:t>
            </a:r>
            <a:endParaRPr/>
          </a:p>
        </p:txBody>
      </p:sp>
      <p:sp>
        <p:nvSpPr>
          <p:cNvPr id="196" name=""/>
          <p:cNvSpPr/>
          <p:nvPr/>
        </p:nvSpPr>
        <p:spPr>
          <a:xfrm rot="0" flipH="0" flipV="0">
            <a:off x="5067300" y="3343275"/>
            <a:ext cx="6553200" cy="2295525"/>
          </a:xfrm>
          <a:prstGeom prst="roundRect">
            <a:avLst>
              <a:gd name="adj" fmla="val 1660"/>
            </a:avLst>
          </a:prstGeom>
          <a:solidFill>
            <a:srgbClr val="FFF3EE"/>
          </a:solidFill>
          <a:ln/>
        </p:spPr>
        <p:txBody>
          <a:bodyPr/>
          <a:p/>
        </p:txBody>
      </p:sp>
      <p:sp>
        <p:nvSpPr>
          <p:cNvPr id="197" name=""/>
          <p:cNvSpPr/>
          <p:nvPr/>
        </p:nvSpPr>
        <p:spPr>
          <a:xfrm rot="0" flipH="0" flipV="0">
            <a:off x="5067300" y="3343275"/>
            <a:ext cx="6553200" cy="2295525"/>
          </a:xfrm>
          <a:custGeom>
            <a:pathLst>
              <a:path w="688" h="241">
                <a:moveTo>
                  <a:pt x="4" y="241"/>
                </a:moveTo>
                <a:cubicBezTo>
                  <a:pt x="2" y="241"/>
                  <a:pt x="0" y="239"/>
                  <a:pt x="0" y="237"/>
                </a:cubicBezTo>
                <a:lnTo>
                  <a:pt x="0" y="4"/>
                </a:lnTo>
                <a:cubicBezTo>
                  <a:pt x="0" y="2"/>
                  <a:pt x="2" y="0"/>
                  <a:pt x="4" y="0"/>
                </a:cubicBezTo>
                <a:lnTo>
                  <a:pt x="4" y="241"/>
                </a:lnTo>
                <a:close/>
              </a:path>
            </a:pathLst>
          </a:custGeom>
          <a:solidFill>
            <a:srgbClr val="FA4F24"/>
          </a:solidFill>
          <a:ln/>
        </p:spPr>
        <p:txBody>
          <a:bodyPr/>
          <a:p/>
        </p:txBody>
      </p:sp>
      <p:sp>
        <p:nvSpPr>
          <p:cNvPr id="198" name="" descr="{&quot;isTemplate&quot;:true,&quot;type&quot;:&quot;text&quot;}"/>
          <p:cNvSpPr txBox="1"/>
          <p:nvPr/>
        </p:nvSpPr>
        <p:spPr>
          <a:xfrm rot="0" flipH="0" flipV="0">
            <a:off x="5229225" y="4057650"/>
            <a:ext cx="6191250" cy="161925"/>
          </a:xfrm>
          <a:prstGeom prst="rect"/>
        </p:spPr>
        <p:txBody>
          <a:bodyPr wrap="none" lIns="0" tIns="0" rIns="0" bIns="0"/>
          <a:p>
            <a:pPr>
              <a:lnSpc>
                <a:spcPct val="100000"/>
              </a:lnSpc>
            </a:pPr>
            <a:r>
              <a:rPr lang="zh-CN" sz="1050" b="1">
                <a:solidFill>
                  <a:srgbClr val="C43A17"/>
                </a:solidFill>
                <a:latin typeface="Microsoft YaHei"/>
                <a:ea typeface="Microsoft YaHei"/>
              </a:rPr>
              <a:t>一个具体的例子，说明为什么必须做功能性加密</a:t>
            </a:r>
            <a:endParaRPr/>
          </a:p>
        </p:txBody>
      </p:sp>
      <p:sp>
        <p:nvSpPr>
          <p:cNvPr id="199" name="" descr="{&quot;isTemplate&quot;:true,&quot;type&quot;:&quot;text&quot;}"/>
          <p:cNvSpPr txBox="1"/>
          <p:nvPr/>
        </p:nvSpPr>
        <p:spPr>
          <a:xfrm rot="0" flipH="0" flipV="0">
            <a:off x="5229225" y="4286250"/>
            <a:ext cx="6191250" cy="638175"/>
          </a:xfrm>
          <a:prstGeom prst="rect"/>
        </p:spPr>
        <p:txBody>
          <a:bodyPr wrap="square" lIns="0" tIns="0" rIns="0" bIns="0">
            <a:normAutofit/>
          </a:bodyPr>
          <a:p>
            <a:pPr>
              <a:lnSpc>
                <a:spcPct val="155000"/>
              </a:lnSpc>
            </a:pPr>
            <a:r>
              <a:rPr lang="zh-CN" sz="900">
                <a:solidFill>
                  <a:srgbClr val="3A4050"/>
                </a:solidFill>
                <a:latin typeface="Microsoft YaHei"/>
                <a:ea typeface="Microsoft YaHei"/>
              </a:rPr>
              <a:t>假设一个对象包含姓名、照片、电话、风险等级四个属性。数据摄入时用「只加密」许可把姓名、照片、电话加密，平台管理员只能看到乱码，但能看到明文的风险等级用于索引和筛选。普通分析师有读取权但无解密许可，界面上只显示「高危」；高级调查员持有「解密」许可，点一下才还原明文。这就是「能共享但不全共享」的标准解法。</a:t>
            </a:r>
            <a:endParaRPr/>
          </a:p>
        </p:txBody>
      </p:sp>
      <p:sp>
        <p:nvSpPr>
          <p:cNvPr id="200"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201" name=""/>
          <p:cNvSpPr/>
          <p:nvPr/>
        </p:nvSpPr>
        <p:spPr>
          <a:xfrm rot="0" flipH="0" flipV="0">
            <a:off x="609600" y="5953125"/>
            <a:ext cx="95250" cy="95250"/>
          </a:xfrm>
          <a:prstGeom prst="rect">
            <a:avLst/>
          </a:prstGeom>
          <a:solidFill>
            <a:srgbClr val="FA4F24"/>
          </a:solidFill>
          <a:ln/>
        </p:spPr>
        <p:txBody>
          <a:bodyPr/>
          <a:p/>
        </p:txBody>
      </p:sp>
      <p:sp>
        <p:nvSpPr>
          <p:cNvPr id="202"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203"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13 / 30</a:t>
            </a:r>
            <a:endParaRPr/>
          </a:p>
        </p:txBody>
      </p:sp>
    </p:spTree>
  </p:cSld>
</p:sld>
</file>

<file path=ppt/slides/slide14.xml><?xml version="1.0" encoding="utf-8"?>
<p:sld xmlns:p="http://schemas.openxmlformats.org/presentationml/2006/main" xmlns:a="http://schemas.openxmlformats.org/drawingml/2006/main">
  <p:cSld>
    <p:spTree>
      <p:nvGrpSpPr>
        <p:cNvPr id="204" name="" descr="&lt;Slide style={{ width: 1280, height: 720, background: '#FFFFFF', padding: '24px 64px 0' }}&gt;&#10;    &lt;Box style={{ height: 96, flexDirection: 'column', justifyContent: 'flex-start' }}&gt;&#10;      &lt;Text style={{ fontSize: 32, fontWeight: 'bold', color: '#0F1423' }}&gt;&#10;        元数据：&lt;span style={{ color: '#FA4F24' }}&gt;四类必备与三条硬要求&lt;/span&gt;&#10;      &lt;/Text&gt;&#10;      &lt;Text style={{ fontSize: 20, color: '#8A8F99', marginTop: 8 }}&gt;&#10;        官方对好元数据提了四条要求，其中「可被评审」这一条被绝大多数企业漏掉——采了但没人能看，等于没采&#10;      &lt;/Text&gt;&#10;    &lt;/Box&gt;&#10;    &lt;Box style={{ height: 1, background: '#E8E8E8' }} /&gt;&#10;&#10;    &lt;Box style={{ paddingTop: 14, paddingBottom: 8, height: 479, flexDirection: 'column', gap: 10 }}&gt;&#10;      &lt;Box style={{ height: 208, flexDirection: 'row', gap: 9 }}&gt;&#10;        {[&#10;          { t: '技术元数据', d: '位置、类型、大小、行数、数据源、格式、编码、更新时间', w: '回答「它在哪、什么格式」', c: '#FA4F24' },&#10;          { t: '业务元数据', d: '业务描述、口径定义、责任人、用途、限制条件、使用建议', w: '回答「它是什么、怎么用才对」', c: '#F87D2F' },&#10;          { t: '治理元数据', d: '标记与密级、血缘、处理规则、质量结论、权限策略、留存期', w: '回答「谁能用、能用到哪」', c: '#E0651A' },&#10;          { t: '运维元数据', d: '构建状态、健康检查结论、事务历史、成本占用、失败记录', w: '回答「现在能不能信」', c: '#C43A17' },&#10;        ].map((it, i) =&gt; (&#10;          &lt;Box key={it.t} style={{ flex: 1, background: '#F7F7F8', borderRadius: 4, flexDirection: 'column', overflow: 'hidden' }}&gt;&#10;            &lt;Box style={{ height: 48, background: it.c, padding: '0 13px', justifyContent: 'center' }}&gt;&#10;              &lt;Text style={{ fontSize: 14, fontWeight: 'bold', color: '#FFFFFF' }}&gt;{it.t}&lt;/Text&gt;&#10;            &lt;/Box&gt;&#10;            &lt;Box style={{ flex: 1, padding: '10px 13px' }}&gt;&#10;              &lt;Text style={{ fontSize: 11.5, color: '#3A4050', lineHeight: 1.5 }}&gt;{it.d}&lt;/Text&gt;&#10;              &lt;Box style={{ flex: 1, background: '#FFFFFF', borderRadius: 3, borderLeft: '2px solid ' + it.c, padding: '6px 9px', marginTop: 9, justifyContent: 'center' }}&gt;&#10;                &lt;Text style={{ fontSize: 11, color: it.c, lineHeight: 1.4 }}&gt;{it.w}&lt;/Text&gt;&#10;              &lt;/Box&gt;&#10;            &lt;/Box&gt;&#10;          &lt;/Box&gt;&#10;        ))}&#10;      &lt;/Box&gt;&#10;&#10;      &lt;Box style={{ flex: 1, flexDirection: 'row', gap: 10 }}&gt;&#10;        &lt;Box style={{ flex: 1, background: '#0F1423', borderRadius: 4, padding: '13px 17px', flexDirection: 'column' }}&gt;&#10;          &lt;Text style={{ fontSize: 14, fontWeight: 'bold', color: '#FBA15C' }}&gt;官方四条要求，第三条最常被违反&lt;/Text&gt;&#10;          &lt;Box style={{ flex: 1, flexDirection: 'column', marginTop: 9 }}&gt;&#10;            {[&#10;              { n: '全面采集', t: '每份数据至少带一组默认元数据，让人能看懂它是什么，且记录一致、可检索', c: '#FA4F24' },&#10;              { n: '实时更新', t: '数据变了元数据跟着变，在访问那一刻就把最新结论呈现出来', c: '#F87D2F' },&#10;              { n: '可被评审', t: '必须能被用户检索到，尤其是能批量检索用于授权分析', c: '#E0651A' },&#10;              { n: '动态趋势', t: '跟踪元数据本身的变化趋势，这才能提前发现问题', c: '#C43A17' },&#10;            ].map((it, i) =&gt; (&#10;              &lt;Box key={it.n} style={{ flex: 1, flexDirection: 'row', alignItems: 'center', gap: 11, borderTop: i === 0 ? 'none' : '1px solid rgba(255,255,255,0.1)' }}&gt;&#10;                &lt;Box style={{ width: 74, height: 24, background: it.c, alignItems: 'center', justifyContent: 'center' }}&gt;&#10;                  &lt;Text style={{ fontSize: 11, fontWeight: 'bold', color: '#FFFFFF' }}&gt;{it.n}&lt;/Text&gt;&#10;                &lt;/Box&gt;&#10;                &lt;Text style={{ fontSize: 11.5, color: 'rgba(255,255,255,0.85)', flex: 1, lineHeight: 1.45 }}&gt;{it.t}&lt;/Text&gt;&#10;              &lt;/Box&gt;&#10;            ))}&#10;          &lt;/Box&gt;&#10;        &lt;/Box&gt;&#10;&#10;        &lt;Box style={{ flex: 1, background: '#FFF3EE', borderRadius: 4, borderLeft: '4px solid #FA4F24', padding: '13px 17px', flexDirection: 'column', justifyContent: 'center' }}&gt;&#10;          &lt;Text style={{ fontSize: 14, fontWeight: 'bold', color: '#C43A17' }}&gt;为什么「可被评审」是分水岭&lt;/Text&gt;&#10;          &lt;Text style={{ fontSize: 12, color: '#3A4050', marginTop: 7, lineHeight: 1.55 }}&gt;&#10;            官方原话大意是：很多系统采了元数据，却存在用户进不去的表里或离线文档里，这会大幅降低采集本身的价值——因为很多人根本不知道它在那儿，也不知道自己可以用。咨询里的典型症状是：元数据表格几十万行，但没人能在三十秒内回答「客户主数据谁能改」。&#10;          &lt;/Text&gt;&#10;          &lt;Box style={{ background: '#FFFFFF', borderRadius: 3, padding: '9px 12px', marginTop: 9 }}&gt;&#10;            &lt;Text style={{ fontSize: 11.5, fontWeight: 'bold', color: '#C43A17' }}&gt;一个判断标准&lt;/Text&gt;&#10;            &lt;Text style={{ fontSize: 11.5, color: '#3A4050', marginTop: 5, lineHeight: 1.5 }}&gt;&#10;              随机抽一位业务分析师，给他一个具体指标名，如果他能在两分钟内找到口径定义、责任人和最近健康结论，元数据治理就是及格的；找不到，就是把元数据当成仓库而不是当成产品。&#10;            &lt;/Text&gt;&#10;          &lt;/Box&gt;&#10;        &lt;/Box&gt;&#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14 / 30&lt;/Text&gt;&#10;    &lt;/Box&gt;&#10;&lt;/Slide&gt;&#10;"/>
        <p:cNvGrpSpPr/>
        <p:nvPr/>
      </p:nvGrpSpPr>
      <p:grpSpPr>
        <a:xfrm>
          <a:off x="0" y="0"/>
          <a:ext cx="0" cy="0"/>
          <a:chOff x="0" y="0"/>
          <a:chExt cx="0" cy="0"/>
        </a:xfrm>
      </p:grpSpPr>
      <p:sp>
        <p:nvSpPr>
          <p:cNvPr id="205" name=""/>
          <p:cNvSpPr/>
          <p:nvPr/>
        </p:nvSpPr>
        <p:spPr>
          <a:xfrm rot="0" flipH="0" flipV="0">
            <a:off x="0" y="0"/>
            <a:ext cx="12192000" cy="6858000"/>
          </a:xfrm>
          <a:prstGeom prst="rect">
            <a:avLst/>
          </a:prstGeom>
          <a:solidFill>
            <a:srgbClr val="FFFFFF"/>
          </a:solidFill>
          <a:ln/>
        </p:spPr>
        <p:txBody>
          <a:bodyPr/>
          <a:p/>
        </p:txBody>
      </p:sp>
      <p:sp>
        <p:nvSpPr>
          <p:cNvPr id="206"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元数据：</a:t>
            </a:r>
            <a:r>
              <a:rPr lang="zh-CN" sz="2400" b="1">
                <a:solidFill>
                  <a:srgbClr val="FA4F24"/>
                </a:solidFill>
                <a:latin typeface="Microsoft YaHei"/>
                <a:ea typeface="Microsoft YaHei"/>
              </a:rPr>
              <a:t>四类必备与三条硬要求</a:t>
            </a:r>
            <a:endParaRPr/>
          </a:p>
        </p:txBody>
      </p:sp>
      <p:sp>
        <p:nvSpPr>
          <p:cNvPr id="207"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官方对好元数据提了四条要求，其中「可被评审」这一条被绝大多数企业漏掉——采了但没人能看，等于没采</a:t>
            </a:r>
            <a:endParaRPr/>
          </a:p>
        </p:txBody>
      </p:sp>
      <p:sp>
        <p:nvSpPr>
          <p:cNvPr id="208" name=""/>
          <p:cNvSpPr/>
          <p:nvPr/>
        </p:nvSpPr>
        <p:spPr>
          <a:xfrm rot="0" flipH="0" flipV="0">
            <a:off x="609600" y="1143000"/>
            <a:ext cx="10972800" cy="9525"/>
          </a:xfrm>
          <a:prstGeom prst="rect">
            <a:avLst/>
          </a:prstGeom>
          <a:solidFill>
            <a:srgbClr val="E8E8E8"/>
          </a:solidFill>
          <a:ln/>
        </p:spPr>
        <p:txBody>
          <a:bodyPr/>
          <a:p/>
        </p:txBody>
      </p:sp>
      <p:sp>
        <p:nvSpPr>
          <p:cNvPr id="209" name=""/>
          <p:cNvSpPr/>
          <p:nvPr/>
        </p:nvSpPr>
        <p:spPr>
          <a:xfrm rot="0" flipH="0" flipV="0">
            <a:off x="609600" y="1285875"/>
            <a:ext cx="2676525" cy="1981200"/>
          </a:xfrm>
          <a:prstGeom prst="roundRect">
            <a:avLst>
              <a:gd name="adj" fmla="val 1923"/>
            </a:avLst>
          </a:prstGeom>
          <a:solidFill>
            <a:srgbClr val="F7F7F8"/>
          </a:solidFill>
          <a:ln/>
        </p:spPr>
        <p:txBody>
          <a:bodyPr/>
          <a:p/>
        </p:txBody>
      </p:sp>
      <p:sp>
        <p:nvSpPr>
          <p:cNvPr id="210" name=""/>
          <p:cNvSpPr/>
          <p:nvPr/>
        </p:nvSpPr>
        <p:spPr>
          <a:xfrm rot="0" flipH="0" flipV="0">
            <a:off x="609600" y="1285875"/>
            <a:ext cx="2676525" cy="457200"/>
          </a:xfrm>
          <a:prstGeom prst="rect">
            <a:avLst/>
          </a:prstGeom>
          <a:solidFill>
            <a:srgbClr val="FA4F24"/>
          </a:solidFill>
          <a:ln/>
        </p:spPr>
        <p:txBody>
          <a:bodyPr/>
          <a:p/>
        </p:txBody>
      </p:sp>
      <p:sp>
        <p:nvSpPr>
          <p:cNvPr id="211" name="" descr="{&quot;isTemplate&quot;:true,&quot;type&quot;:&quot;text&quot;}"/>
          <p:cNvSpPr txBox="1"/>
          <p:nvPr/>
        </p:nvSpPr>
        <p:spPr>
          <a:xfrm rot="0" flipH="0" flipV="0">
            <a:off x="733425" y="1438275"/>
            <a:ext cx="2428875" cy="161925"/>
          </a:xfrm>
          <a:prstGeom prst="rect"/>
        </p:spPr>
        <p:txBody>
          <a:bodyPr wrap="none" lIns="0" tIns="0" rIns="0" bIns="0"/>
          <a:p>
            <a:pPr>
              <a:lnSpc>
                <a:spcPct val="100000"/>
              </a:lnSpc>
            </a:pPr>
            <a:r>
              <a:rPr lang="zh-CN" sz="1050" b="1">
                <a:solidFill>
                  <a:srgbClr val="FFFFFF"/>
                </a:solidFill>
                <a:latin typeface="Microsoft YaHei"/>
                <a:ea typeface="Microsoft YaHei"/>
              </a:rPr>
              <a:t>技术元数据</a:t>
            </a:r>
            <a:endParaRPr/>
          </a:p>
        </p:txBody>
      </p:sp>
      <p:sp>
        <p:nvSpPr>
          <p:cNvPr id="212" name="" descr="{&quot;isTemplate&quot;:true,&quot;type&quot;:&quot;text&quot;}"/>
          <p:cNvSpPr txBox="1"/>
          <p:nvPr/>
        </p:nvSpPr>
        <p:spPr>
          <a:xfrm rot="0" flipH="0" flipV="0">
            <a:off x="733425" y="1838325"/>
            <a:ext cx="2428875" cy="400050"/>
          </a:xfrm>
          <a:prstGeom prst="rect"/>
        </p:spPr>
        <p:txBody>
          <a:bodyPr wrap="square" lIns="0" tIns="0" rIns="0" bIns="0">
            <a:normAutofit/>
          </a:bodyPr>
          <a:p>
            <a:pPr>
              <a:lnSpc>
                <a:spcPct val="150000"/>
              </a:lnSpc>
            </a:pPr>
            <a:r>
              <a:rPr lang="zh-CN" sz="863">
                <a:solidFill>
                  <a:srgbClr val="3A4050"/>
                </a:solidFill>
                <a:latin typeface="Microsoft YaHei"/>
                <a:ea typeface="Microsoft YaHei"/>
              </a:rPr>
              <a:t>位置、类型、大小、行数、数据源、格式、编码、更新时间</a:t>
            </a:r>
            <a:endParaRPr/>
          </a:p>
        </p:txBody>
      </p:sp>
      <p:sp>
        <p:nvSpPr>
          <p:cNvPr id="213" name=""/>
          <p:cNvSpPr/>
          <p:nvPr/>
        </p:nvSpPr>
        <p:spPr>
          <a:xfrm rot="0" flipH="0" flipV="0">
            <a:off x="752475" y="2324100"/>
            <a:ext cx="2428875" cy="847725"/>
          </a:xfrm>
          <a:prstGeom prst="roundRect">
            <a:avLst>
              <a:gd name="adj" fmla="val 3371"/>
            </a:avLst>
          </a:prstGeom>
          <a:solidFill>
            <a:srgbClr val="FFFFFF"/>
          </a:solidFill>
          <a:ln/>
        </p:spPr>
        <p:txBody>
          <a:bodyPr/>
          <a:p/>
        </p:txBody>
      </p:sp>
      <p:sp>
        <p:nvSpPr>
          <p:cNvPr id="214" name=""/>
          <p:cNvSpPr/>
          <p:nvPr/>
        </p:nvSpPr>
        <p:spPr>
          <a:xfrm rot="0" flipH="0" flipV="0">
            <a:off x="752475" y="2324100"/>
            <a:ext cx="2428875" cy="847725"/>
          </a:xfrm>
          <a:custGeom>
            <a:pathLst>
              <a:path w="255" h="89">
                <a:moveTo>
                  <a:pt x="3" y="0"/>
                </a:moveTo>
                <a:cubicBezTo>
                  <a:pt x="2" y="0"/>
                  <a:pt x="2" y="0"/>
                  <a:pt x="2" y="1"/>
                </a:cubicBezTo>
                <a:lnTo>
                  <a:pt x="2" y="88"/>
                </a:lnTo>
                <a:cubicBezTo>
                  <a:pt x="2" y="88"/>
                  <a:pt x="2" y="89"/>
                  <a:pt x="3" y="89"/>
                </a:cubicBezTo>
                <a:cubicBezTo>
                  <a:pt x="1" y="89"/>
                  <a:pt x="0" y="88"/>
                  <a:pt x="0" y="86"/>
                </a:cubicBezTo>
                <a:lnTo>
                  <a:pt x="0" y="3"/>
                </a:lnTo>
                <a:cubicBezTo>
                  <a:pt x="0" y="1"/>
                  <a:pt x="1" y="0"/>
                  <a:pt x="3" y="0"/>
                </a:cubicBezTo>
                <a:close/>
              </a:path>
            </a:pathLst>
          </a:custGeom>
          <a:solidFill>
            <a:srgbClr val="FA4F24"/>
          </a:solidFill>
          <a:ln/>
        </p:spPr>
        <p:txBody>
          <a:bodyPr/>
          <a:p/>
        </p:txBody>
      </p:sp>
      <p:sp>
        <p:nvSpPr>
          <p:cNvPr id="215" name="" descr="{&quot;isTemplate&quot;:true,&quot;type&quot;:&quot;text&quot;}"/>
          <p:cNvSpPr txBox="1"/>
          <p:nvPr/>
        </p:nvSpPr>
        <p:spPr>
          <a:xfrm rot="0" flipH="0" flipV="0">
            <a:off x="838200" y="2657475"/>
            <a:ext cx="2238375" cy="180975"/>
          </a:xfrm>
          <a:prstGeom prst="rect"/>
        </p:spPr>
        <p:txBody>
          <a:bodyPr wrap="none" lIns="0" tIns="0" rIns="0" bIns="0"/>
          <a:p>
            <a:pPr>
              <a:lnSpc>
                <a:spcPct val="140000"/>
              </a:lnSpc>
            </a:pPr>
            <a:r>
              <a:rPr lang="zh-CN" sz="825">
                <a:solidFill>
                  <a:srgbClr val="FA4F24"/>
                </a:solidFill>
                <a:latin typeface="Microsoft YaHei"/>
                <a:ea typeface="Microsoft YaHei"/>
              </a:rPr>
              <a:t>回答「它在哪、什么格式」</a:t>
            </a:r>
            <a:endParaRPr/>
          </a:p>
        </p:txBody>
      </p:sp>
      <p:sp>
        <p:nvSpPr>
          <p:cNvPr id="216" name=""/>
          <p:cNvSpPr/>
          <p:nvPr/>
        </p:nvSpPr>
        <p:spPr>
          <a:xfrm rot="0" flipH="0" flipV="0">
            <a:off x="3371850" y="1285875"/>
            <a:ext cx="2686050" cy="1981200"/>
          </a:xfrm>
          <a:prstGeom prst="roundRect">
            <a:avLst>
              <a:gd name="adj" fmla="val 1923"/>
            </a:avLst>
          </a:prstGeom>
          <a:solidFill>
            <a:srgbClr val="F7F7F8"/>
          </a:solidFill>
          <a:ln/>
        </p:spPr>
        <p:txBody>
          <a:bodyPr/>
          <a:p/>
        </p:txBody>
      </p:sp>
      <p:sp>
        <p:nvSpPr>
          <p:cNvPr id="217" name=""/>
          <p:cNvSpPr/>
          <p:nvPr/>
        </p:nvSpPr>
        <p:spPr>
          <a:xfrm rot="0" flipH="0" flipV="0">
            <a:off x="3371850" y="1285875"/>
            <a:ext cx="2686050" cy="457200"/>
          </a:xfrm>
          <a:prstGeom prst="rect">
            <a:avLst/>
          </a:prstGeom>
          <a:solidFill>
            <a:srgbClr val="F87D2F"/>
          </a:solidFill>
          <a:ln/>
        </p:spPr>
        <p:txBody>
          <a:bodyPr/>
          <a:p/>
        </p:txBody>
      </p:sp>
      <p:sp>
        <p:nvSpPr>
          <p:cNvPr id="218" name="" descr="{&quot;isTemplate&quot;:true,&quot;type&quot;:&quot;text&quot;}"/>
          <p:cNvSpPr txBox="1"/>
          <p:nvPr/>
        </p:nvSpPr>
        <p:spPr>
          <a:xfrm rot="0" flipH="0" flipV="0">
            <a:off x="3495675" y="1438275"/>
            <a:ext cx="2438400" cy="161925"/>
          </a:xfrm>
          <a:prstGeom prst="rect"/>
        </p:spPr>
        <p:txBody>
          <a:bodyPr wrap="none" lIns="0" tIns="0" rIns="0" bIns="0"/>
          <a:p>
            <a:pPr>
              <a:lnSpc>
                <a:spcPct val="100000"/>
              </a:lnSpc>
            </a:pPr>
            <a:r>
              <a:rPr lang="zh-CN" sz="1050" b="1">
                <a:solidFill>
                  <a:srgbClr val="FFFFFF"/>
                </a:solidFill>
                <a:latin typeface="Microsoft YaHei"/>
                <a:ea typeface="Microsoft YaHei"/>
              </a:rPr>
              <a:t>业务元数据</a:t>
            </a:r>
            <a:endParaRPr/>
          </a:p>
        </p:txBody>
      </p:sp>
      <p:sp>
        <p:nvSpPr>
          <p:cNvPr id="219" name="" descr="{&quot;isTemplate&quot;:true,&quot;type&quot;:&quot;text&quot;}"/>
          <p:cNvSpPr txBox="1"/>
          <p:nvPr/>
        </p:nvSpPr>
        <p:spPr>
          <a:xfrm rot="0" flipH="0" flipV="0">
            <a:off x="3495675" y="1838325"/>
            <a:ext cx="2438400" cy="400050"/>
          </a:xfrm>
          <a:prstGeom prst="rect"/>
        </p:spPr>
        <p:txBody>
          <a:bodyPr wrap="square" lIns="0" tIns="0" rIns="0" bIns="0">
            <a:normAutofit/>
          </a:bodyPr>
          <a:p>
            <a:pPr>
              <a:lnSpc>
                <a:spcPct val="150000"/>
              </a:lnSpc>
            </a:pPr>
            <a:r>
              <a:rPr lang="zh-CN" sz="863">
                <a:solidFill>
                  <a:srgbClr val="3A4050"/>
                </a:solidFill>
                <a:latin typeface="Microsoft YaHei"/>
                <a:ea typeface="Microsoft YaHei"/>
              </a:rPr>
              <a:t>业务描述、口径定义、责任人、用途、限制条件、使用建议</a:t>
            </a:r>
            <a:endParaRPr/>
          </a:p>
        </p:txBody>
      </p:sp>
      <p:sp>
        <p:nvSpPr>
          <p:cNvPr id="220" name=""/>
          <p:cNvSpPr/>
          <p:nvPr/>
        </p:nvSpPr>
        <p:spPr>
          <a:xfrm rot="0" flipH="0" flipV="0">
            <a:off x="3514725" y="2324100"/>
            <a:ext cx="2438400" cy="847725"/>
          </a:xfrm>
          <a:prstGeom prst="roundRect">
            <a:avLst>
              <a:gd name="adj" fmla="val 3371"/>
            </a:avLst>
          </a:prstGeom>
          <a:solidFill>
            <a:srgbClr val="FFFFFF"/>
          </a:solidFill>
          <a:ln/>
        </p:spPr>
        <p:txBody>
          <a:bodyPr/>
          <a:p/>
        </p:txBody>
      </p:sp>
      <p:sp>
        <p:nvSpPr>
          <p:cNvPr id="221" name=""/>
          <p:cNvSpPr/>
          <p:nvPr/>
        </p:nvSpPr>
        <p:spPr>
          <a:xfrm rot="0" flipH="0" flipV="0">
            <a:off x="3514725" y="2324100"/>
            <a:ext cx="2438400" cy="847725"/>
          </a:xfrm>
          <a:custGeom>
            <a:pathLst>
              <a:path w="256" h="89">
                <a:moveTo>
                  <a:pt x="3" y="0"/>
                </a:moveTo>
                <a:cubicBezTo>
                  <a:pt x="2" y="0"/>
                  <a:pt x="2" y="0"/>
                  <a:pt x="2" y="1"/>
                </a:cubicBezTo>
                <a:lnTo>
                  <a:pt x="2" y="88"/>
                </a:lnTo>
                <a:cubicBezTo>
                  <a:pt x="2" y="88"/>
                  <a:pt x="2" y="89"/>
                  <a:pt x="3" y="89"/>
                </a:cubicBezTo>
                <a:cubicBezTo>
                  <a:pt x="1" y="89"/>
                  <a:pt x="0" y="88"/>
                  <a:pt x="0" y="86"/>
                </a:cubicBezTo>
                <a:lnTo>
                  <a:pt x="0" y="3"/>
                </a:lnTo>
                <a:cubicBezTo>
                  <a:pt x="0" y="1"/>
                  <a:pt x="1" y="0"/>
                  <a:pt x="3" y="0"/>
                </a:cubicBezTo>
                <a:close/>
              </a:path>
            </a:pathLst>
          </a:custGeom>
          <a:solidFill>
            <a:srgbClr val="F87D2F"/>
          </a:solidFill>
          <a:ln/>
        </p:spPr>
        <p:txBody>
          <a:bodyPr/>
          <a:p/>
        </p:txBody>
      </p:sp>
      <p:sp>
        <p:nvSpPr>
          <p:cNvPr id="222" name="" descr="{&quot;isTemplate&quot;:true,&quot;type&quot;:&quot;text&quot;}"/>
          <p:cNvSpPr txBox="1"/>
          <p:nvPr/>
        </p:nvSpPr>
        <p:spPr>
          <a:xfrm rot="0" flipH="0" flipV="0">
            <a:off x="3600450" y="2657475"/>
            <a:ext cx="2247900" cy="180975"/>
          </a:xfrm>
          <a:prstGeom prst="rect"/>
        </p:spPr>
        <p:txBody>
          <a:bodyPr wrap="none" lIns="0" tIns="0" rIns="0" bIns="0"/>
          <a:p>
            <a:pPr>
              <a:lnSpc>
                <a:spcPct val="140000"/>
              </a:lnSpc>
            </a:pPr>
            <a:r>
              <a:rPr lang="zh-CN" sz="825">
                <a:solidFill>
                  <a:srgbClr val="F87D2F"/>
                </a:solidFill>
                <a:latin typeface="Microsoft YaHei"/>
                <a:ea typeface="Microsoft YaHei"/>
              </a:rPr>
              <a:t>回答「它是什么、怎么用才对」</a:t>
            </a:r>
            <a:endParaRPr/>
          </a:p>
        </p:txBody>
      </p:sp>
      <p:sp>
        <p:nvSpPr>
          <p:cNvPr id="223" name=""/>
          <p:cNvSpPr/>
          <p:nvPr/>
        </p:nvSpPr>
        <p:spPr>
          <a:xfrm rot="0" flipH="0" flipV="0">
            <a:off x="6143625" y="1285875"/>
            <a:ext cx="2676525" cy="1981200"/>
          </a:xfrm>
          <a:prstGeom prst="roundRect">
            <a:avLst>
              <a:gd name="adj" fmla="val 1923"/>
            </a:avLst>
          </a:prstGeom>
          <a:solidFill>
            <a:srgbClr val="F7F7F8"/>
          </a:solidFill>
          <a:ln/>
        </p:spPr>
        <p:txBody>
          <a:bodyPr/>
          <a:p/>
        </p:txBody>
      </p:sp>
      <p:sp>
        <p:nvSpPr>
          <p:cNvPr id="224" name=""/>
          <p:cNvSpPr/>
          <p:nvPr/>
        </p:nvSpPr>
        <p:spPr>
          <a:xfrm rot="0" flipH="0" flipV="0">
            <a:off x="6143625" y="1285875"/>
            <a:ext cx="2676525" cy="457200"/>
          </a:xfrm>
          <a:prstGeom prst="rect">
            <a:avLst/>
          </a:prstGeom>
          <a:solidFill>
            <a:srgbClr val="E0651A"/>
          </a:solidFill>
          <a:ln/>
        </p:spPr>
        <p:txBody>
          <a:bodyPr/>
          <a:p/>
        </p:txBody>
      </p:sp>
      <p:sp>
        <p:nvSpPr>
          <p:cNvPr id="225" name="" descr="{&quot;isTemplate&quot;:true,&quot;type&quot;:&quot;text&quot;}"/>
          <p:cNvSpPr txBox="1"/>
          <p:nvPr/>
        </p:nvSpPr>
        <p:spPr>
          <a:xfrm rot="0" flipH="0" flipV="0">
            <a:off x="6267450" y="1438275"/>
            <a:ext cx="2428875" cy="161925"/>
          </a:xfrm>
          <a:prstGeom prst="rect"/>
        </p:spPr>
        <p:txBody>
          <a:bodyPr wrap="none" lIns="0" tIns="0" rIns="0" bIns="0"/>
          <a:p>
            <a:pPr>
              <a:lnSpc>
                <a:spcPct val="100000"/>
              </a:lnSpc>
            </a:pPr>
            <a:r>
              <a:rPr lang="zh-CN" sz="1050" b="1">
                <a:solidFill>
                  <a:srgbClr val="FFFFFF"/>
                </a:solidFill>
                <a:latin typeface="Microsoft YaHei"/>
                <a:ea typeface="Microsoft YaHei"/>
              </a:rPr>
              <a:t>治理元数据</a:t>
            </a:r>
            <a:endParaRPr/>
          </a:p>
        </p:txBody>
      </p:sp>
      <p:sp>
        <p:nvSpPr>
          <p:cNvPr id="226" name="" descr="{&quot;isTemplate&quot;:true,&quot;type&quot;:&quot;text&quot;}"/>
          <p:cNvSpPr txBox="1"/>
          <p:nvPr/>
        </p:nvSpPr>
        <p:spPr>
          <a:xfrm rot="0" flipH="0" flipV="0">
            <a:off x="6267450" y="1838325"/>
            <a:ext cx="2428875" cy="400050"/>
          </a:xfrm>
          <a:prstGeom prst="rect"/>
        </p:spPr>
        <p:txBody>
          <a:bodyPr wrap="square" lIns="0" tIns="0" rIns="0" bIns="0">
            <a:normAutofit/>
          </a:bodyPr>
          <a:p>
            <a:pPr>
              <a:lnSpc>
                <a:spcPct val="150000"/>
              </a:lnSpc>
            </a:pPr>
            <a:r>
              <a:rPr lang="zh-CN" sz="863">
                <a:solidFill>
                  <a:srgbClr val="3A4050"/>
                </a:solidFill>
                <a:latin typeface="Microsoft YaHei"/>
                <a:ea typeface="Microsoft YaHei"/>
              </a:rPr>
              <a:t>标记与密级、血缘、处理规则、质量结论、权限策略、留存期</a:t>
            </a:r>
            <a:endParaRPr/>
          </a:p>
        </p:txBody>
      </p:sp>
      <p:sp>
        <p:nvSpPr>
          <p:cNvPr id="227" name=""/>
          <p:cNvSpPr/>
          <p:nvPr/>
        </p:nvSpPr>
        <p:spPr>
          <a:xfrm rot="0" flipH="0" flipV="0">
            <a:off x="6286500" y="2324100"/>
            <a:ext cx="2428875" cy="847725"/>
          </a:xfrm>
          <a:prstGeom prst="roundRect">
            <a:avLst>
              <a:gd name="adj" fmla="val 3371"/>
            </a:avLst>
          </a:prstGeom>
          <a:solidFill>
            <a:srgbClr val="FFFFFF"/>
          </a:solidFill>
          <a:ln/>
        </p:spPr>
        <p:txBody>
          <a:bodyPr/>
          <a:p/>
        </p:txBody>
      </p:sp>
      <p:sp>
        <p:nvSpPr>
          <p:cNvPr id="228" name=""/>
          <p:cNvSpPr/>
          <p:nvPr/>
        </p:nvSpPr>
        <p:spPr>
          <a:xfrm rot="0" flipH="0" flipV="0">
            <a:off x="6286500" y="2324100"/>
            <a:ext cx="2428875" cy="847725"/>
          </a:xfrm>
          <a:custGeom>
            <a:pathLst>
              <a:path w="255" h="89">
                <a:moveTo>
                  <a:pt x="3" y="0"/>
                </a:moveTo>
                <a:cubicBezTo>
                  <a:pt x="2" y="0"/>
                  <a:pt x="2" y="0"/>
                  <a:pt x="2" y="1"/>
                </a:cubicBezTo>
                <a:lnTo>
                  <a:pt x="2" y="88"/>
                </a:lnTo>
                <a:cubicBezTo>
                  <a:pt x="2" y="88"/>
                  <a:pt x="2" y="89"/>
                  <a:pt x="3" y="89"/>
                </a:cubicBezTo>
                <a:cubicBezTo>
                  <a:pt x="1" y="89"/>
                  <a:pt x="0" y="88"/>
                  <a:pt x="0" y="86"/>
                </a:cubicBezTo>
                <a:lnTo>
                  <a:pt x="0" y="3"/>
                </a:lnTo>
                <a:cubicBezTo>
                  <a:pt x="0" y="1"/>
                  <a:pt x="1" y="0"/>
                  <a:pt x="3" y="0"/>
                </a:cubicBezTo>
                <a:close/>
              </a:path>
            </a:pathLst>
          </a:custGeom>
          <a:solidFill>
            <a:srgbClr val="E0651A"/>
          </a:solidFill>
          <a:ln/>
        </p:spPr>
        <p:txBody>
          <a:bodyPr/>
          <a:p/>
        </p:txBody>
      </p:sp>
      <p:sp>
        <p:nvSpPr>
          <p:cNvPr id="229" name="" descr="{&quot;isTemplate&quot;:true,&quot;type&quot;:&quot;text&quot;}"/>
          <p:cNvSpPr txBox="1"/>
          <p:nvPr/>
        </p:nvSpPr>
        <p:spPr>
          <a:xfrm rot="0" flipH="0" flipV="0">
            <a:off x="6372225" y="2657475"/>
            <a:ext cx="2238375" cy="180975"/>
          </a:xfrm>
          <a:prstGeom prst="rect"/>
        </p:spPr>
        <p:txBody>
          <a:bodyPr wrap="none" lIns="0" tIns="0" rIns="0" bIns="0"/>
          <a:p>
            <a:pPr>
              <a:lnSpc>
                <a:spcPct val="140000"/>
              </a:lnSpc>
            </a:pPr>
            <a:r>
              <a:rPr lang="zh-CN" sz="825">
                <a:solidFill>
                  <a:srgbClr val="E0651A"/>
                </a:solidFill>
                <a:latin typeface="Microsoft YaHei"/>
                <a:ea typeface="Microsoft YaHei"/>
              </a:rPr>
              <a:t>回答「谁能用、能用到哪」</a:t>
            </a:r>
            <a:endParaRPr/>
          </a:p>
        </p:txBody>
      </p:sp>
      <p:sp>
        <p:nvSpPr>
          <p:cNvPr id="230" name=""/>
          <p:cNvSpPr/>
          <p:nvPr/>
        </p:nvSpPr>
        <p:spPr>
          <a:xfrm rot="0" flipH="0" flipV="0">
            <a:off x="8905875" y="1285875"/>
            <a:ext cx="2676525" cy="1981200"/>
          </a:xfrm>
          <a:prstGeom prst="roundRect">
            <a:avLst>
              <a:gd name="adj" fmla="val 1923"/>
            </a:avLst>
          </a:prstGeom>
          <a:solidFill>
            <a:srgbClr val="F7F7F8"/>
          </a:solidFill>
          <a:ln/>
        </p:spPr>
        <p:txBody>
          <a:bodyPr/>
          <a:p/>
        </p:txBody>
      </p:sp>
      <p:sp>
        <p:nvSpPr>
          <p:cNvPr id="231" name=""/>
          <p:cNvSpPr/>
          <p:nvPr/>
        </p:nvSpPr>
        <p:spPr>
          <a:xfrm rot="0" flipH="0" flipV="0">
            <a:off x="8905875" y="1285875"/>
            <a:ext cx="2676525" cy="457200"/>
          </a:xfrm>
          <a:prstGeom prst="rect">
            <a:avLst/>
          </a:prstGeom>
          <a:solidFill>
            <a:srgbClr val="C43A17"/>
          </a:solidFill>
          <a:ln/>
        </p:spPr>
        <p:txBody>
          <a:bodyPr/>
          <a:p/>
        </p:txBody>
      </p:sp>
      <p:sp>
        <p:nvSpPr>
          <p:cNvPr id="232" name="" descr="{&quot;isTemplate&quot;:true,&quot;type&quot;:&quot;text&quot;}"/>
          <p:cNvSpPr txBox="1"/>
          <p:nvPr/>
        </p:nvSpPr>
        <p:spPr>
          <a:xfrm rot="0" flipH="0" flipV="0">
            <a:off x="9029700" y="1438275"/>
            <a:ext cx="2428875" cy="161925"/>
          </a:xfrm>
          <a:prstGeom prst="rect"/>
        </p:spPr>
        <p:txBody>
          <a:bodyPr wrap="none" lIns="0" tIns="0" rIns="0" bIns="0"/>
          <a:p>
            <a:pPr>
              <a:lnSpc>
                <a:spcPct val="100000"/>
              </a:lnSpc>
            </a:pPr>
            <a:r>
              <a:rPr lang="zh-CN" sz="1050" b="1">
                <a:solidFill>
                  <a:srgbClr val="FFFFFF"/>
                </a:solidFill>
                <a:latin typeface="Microsoft YaHei"/>
                <a:ea typeface="Microsoft YaHei"/>
              </a:rPr>
              <a:t>运维元数据</a:t>
            </a:r>
            <a:endParaRPr/>
          </a:p>
        </p:txBody>
      </p:sp>
      <p:sp>
        <p:nvSpPr>
          <p:cNvPr id="233" name="" descr="{&quot;isTemplate&quot;:true,&quot;type&quot;:&quot;text&quot;}"/>
          <p:cNvSpPr txBox="1"/>
          <p:nvPr/>
        </p:nvSpPr>
        <p:spPr>
          <a:xfrm rot="0" flipH="0" flipV="0">
            <a:off x="9029700" y="1838325"/>
            <a:ext cx="2428875" cy="400050"/>
          </a:xfrm>
          <a:prstGeom prst="rect"/>
        </p:spPr>
        <p:txBody>
          <a:bodyPr wrap="square" lIns="0" tIns="0" rIns="0" bIns="0">
            <a:normAutofit/>
          </a:bodyPr>
          <a:p>
            <a:pPr>
              <a:lnSpc>
                <a:spcPct val="150000"/>
              </a:lnSpc>
            </a:pPr>
            <a:r>
              <a:rPr lang="zh-CN" sz="863">
                <a:solidFill>
                  <a:srgbClr val="3A4050"/>
                </a:solidFill>
                <a:latin typeface="Microsoft YaHei"/>
                <a:ea typeface="Microsoft YaHei"/>
              </a:rPr>
              <a:t>构建状态、健康检查结论、事务历史、成本占用、失败记录</a:t>
            </a:r>
            <a:endParaRPr/>
          </a:p>
        </p:txBody>
      </p:sp>
      <p:sp>
        <p:nvSpPr>
          <p:cNvPr id="234" name=""/>
          <p:cNvSpPr/>
          <p:nvPr/>
        </p:nvSpPr>
        <p:spPr>
          <a:xfrm rot="0" flipH="0" flipV="0">
            <a:off x="9048750" y="2324100"/>
            <a:ext cx="2428875" cy="847725"/>
          </a:xfrm>
          <a:prstGeom prst="roundRect">
            <a:avLst>
              <a:gd name="adj" fmla="val 3371"/>
            </a:avLst>
          </a:prstGeom>
          <a:solidFill>
            <a:srgbClr val="FFFFFF"/>
          </a:solidFill>
          <a:ln/>
        </p:spPr>
        <p:txBody>
          <a:bodyPr/>
          <a:p/>
        </p:txBody>
      </p:sp>
      <p:sp>
        <p:nvSpPr>
          <p:cNvPr id="235" name=""/>
          <p:cNvSpPr/>
          <p:nvPr/>
        </p:nvSpPr>
        <p:spPr>
          <a:xfrm rot="0" flipH="0" flipV="0">
            <a:off x="9048750" y="2324100"/>
            <a:ext cx="2428875" cy="847725"/>
          </a:xfrm>
          <a:custGeom>
            <a:pathLst>
              <a:path w="255" h="89">
                <a:moveTo>
                  <a:pt x="3" y="0"/>
                </a:moveTo>
                <a:cubicBezTo>
                  <a:pt x="2" y="0"/>
                  <a:pt x="2" y="0"/>
                  <a:pt x="2" y="1"/>
                </a:cubicBezTo>
                <a:lnTo>
                  <a:pt x="2" y="88"/>
                </a:lnTo>
                <a:cubicBezTo>
                  <a:pt x="2" y="88"/>
                  <a:pt x="2" y="89"/>
                  <a:pt x="3" y="89"/>
                </a:cubicBezTo>
                <a:cubicBezTo>
                  <a:pt x="1" y="89"/>
                  <a:pt x="0" y="88"/>
                  <a:pt x="0" y="86"/>
                </a:cubicBezTo>
                <a:lnTo>
                  <a:pt x="0" y="3"/>
                </a:lnTo>
                <a:cubicBezTo>
                  <a:pt x="0" y="1"/>
                  <a:pt x="1" y="0"/>
                  <a:pt x="3" y="0"/>
                </a:cubicBezTo>
                <a:close/>
              </a:path>
            </a:pathLst>
          </a:custGeom>
          <a:solidFill>
            <a:srgbClr val="C43A17"/>
          </a:solidFill>
          <a:ln/>
        </p:spPr>
        <p:txBody>
          <a:bodyPr/>
          <a:p/>
        </p:txBody>
      </p:sp>
      <p:sp>
        <p:nvSpPr>
          <p:cNvPr id="236" name="" descr="{&quot;isTemplate&quot;:true,&quot;type&quot;:&quot;text&quot;}"/>
          <p:cNvSpPr txBox="1"/>
          <p:nvPr/>
        </p:nvSpPr>
        <p:spPr>
          <a:xfrm rot="0" flipH="0" flipV="0">
            <a:off x="9134475" y="2657475"/>
            <a:ext cx="2238375" cy="180975"/>
          </a:xfrm>
          <a:prstGeom prst="rect"/>
        </p:spPr>
        <p:txBody>
          <a:bodyPr wrap="none" lIns="0" tIns="0" rIns="0" bIns="0"/>
          <a:p>
            <a:pPr>
              <a:lnSpc>
                <a:spcPct val="140000"/>
              </a:lnSpc>
            </a:pPr>
            <a:r>
              <a:rPr lang="zh-CN" sz="825">
                <a:solidFill>
                  <a:srgbClr val="C43A17"/>
                </a:solidFill>
                <a:latin typeface="Microsoft YaHei"/>
                <a:ea typeface="Microsoft YaHei"/>
              </a:rPr>
              <a:t>回答「现在能不能信」</a:t>
            </a:r>
            <a:endParaRPr/>
          </a:p>
        </p:txBody>
      </p:sp>
      <p:sp>
        <p:nvSpPr>
          <p:cNvPr id="237" name=""/>
          <p:cNvSpPr/>
          <p:nvPr/>
        </p:nvSpPr>
        <p:spPr>
          <a:xfrm rot="0" flipH="0" flipV="0">
            <a:off x="609600" y="3362325"/>
            <a:ext cx="5438775" cy="2276475"/>
          </a:xfrm>
          <a:prstGeom prst="roundRect">
            <a:avLst>
              <a:gd name="adj" fmla="val 1674"/>
            </a:avLst>
          </a:prstGeom>
          <a:solidFill>
            <a:srgbClr val="0F1423"/>
          </a:solidFill>
          <a:ln/>
        </p:spPr>
        <p:txBody>
          <a:bodyPr/>
          <a:p/>
        </p:txBody>
      </p:sp>
      <p:sp>
        <p:nvSpPr>
          <p:cNvPr id="238" name="" descr="{&quot;isTemplate&quot;:true,&quot;type&quot;:&quot;text&quot;}"/>
          <p:cNvSpPr txBox="1"/>
          <p:nvPr/>
        </p:nvSpPr>
        <p:spPr>
          <a:xfrm rot="0" flipH="0" flipV="0">
            <a:off x="771525" y="3486150"/>
            <a:ext cx="5114925" cy="161925"/>
          </a:xfrm>
          <a:prstGeom prst="rect"/>
        </p:spPr>
        <p:txBody>
          <a:bodyPr wrap="none" lIns="0" tIns="0" rIns="0" bIns="0"/>
          <a:p>
            <a:pPr>
              <a:lnSpc>
                <a:spcPct val="100000"/>
              </a:lnSpc>
            </a:pPr>
            <a:r>
              <a:rPr lang="zh-CN" sz="1050" b="1">
                <a:solidFill>
                  <a:srgbClr val="FBA15C"/>
                </a:solidFill>
                <a:latin typeface="Microsoft YaHei"/>
                <a:ea typeface="Microsoft YaHei"/>
              </a:rPr>
              <a:t>官方四条要求，第三条最常被违反</a:t>
            </a:r>
            <a:endParaRPr/>
          </a:p>
        </p:txBody>
      </p:sp>
      <p:sp>
        <p:nvSpPr>
          <p:cNvPr id="239" name=""/>
          <p:cNvSpPr/>
          <p:nvPr/>
        </p:nvSpPr>
        <p:spPr>
          <a:xfrm rot="0" flipH="0" flipV="0">
            <a:off x="771525" y="3838575"/>
            <a:ext cx="704850" cy="228600"/>
          </a:xfrm>
          <a:prstGeom prst="rect">
            <a:avLst/>
          </a:prstGeom>
          <a:solidFill>
            <a:srgbClr val="FA4F24"/>
          </a:solidFill>
          <a:ln/>
        </p:spPr>
        <p:txBody>
          <a:bodyPr/>
          <a:p/>
        </p:txBody>
      </p:sp>
      <p:sp>
        <p:nvSpPr>
          <p:cNvPr id="240" name="" descr="{&quot;isTemplate&quot;:true,&quot;type&quot;:&quot;text&quot;}"/>
          <p:cNvSpPr txBox="1"/>
          <p:nvPr/>
        </p:nvSpPr>
        <p:spPr>
          <a:xfrm rot="0" flipH="0" flipV="0">
            <a:off x="914400" y="3886200"/>
            <a:ext cx="419100" cy="133350"/>
          </a:xfrm>
          <a:prstGeom prst="rect"/>
        </p:spPr>
        <p:txBody>
          <a:bodyPr wrap="none" lIns="0" tIns="0" rIns="0" bIns="0"/>
          <a:p>
            <a:pPr>
              <a:lnSpc>
                <a:spcPct val="100000"/>
              </a:lnSpc>
            </a:pPr>
            <a:r>
              <a:rPr lang="zh-CN" sz="825" b="1">
                <a:solidFill>
                  <a:srgbClr val="FFFFFF"/>
                </a:solidFill>
                <a:latin typeface="Microsoft YaHei"/>
                <a:ea typeface="Microsoft YaHei"/>
              </a:rPr>
              <a:t>全面采集</a:t>
            </a:r>
            <a:endParaRPr/>
          </a:p>
        </p:txBody>
      </p:sp>
      <p:sp>
        <p:nvSpPr>
          <p:cNvPr id="241" name="" descr="{&quot;isTemplate&quot;:true,&quot;type&quot;:&quot;text&quot;}"/>
          <p:cNvSpPr txBox="1"/>
          <p:nvPr/>
        </p:nvSpPr>
        <p:spPr>
          <a:xfrm rot="0" flipH="0" flipV="0">
            <a:off x="1581150" y="3857625"/>
            <a:ext cx="4305300" cy="200025"/>
          </a:xfrm>
          <a:prstGeom prst="rect"/>
        </p:spPr>
        <p:txBody>
          <a:bodyPr wrap="none" lIns="0" tIns="0" rIns="0" bIns="0"/>
          <a:p>
            <a:pPr>
              <a:lnSpc>
                <a:spcPct val="145000"/>
              </a:lnSpc>
            </a:pPr>
            <a:r>
              <a:rPr lang="zh-CN" sz="863">
                <a:solidFill>
                  <a:srgbClr val="FFFFFF">
                    <a:alpha val="85000"/>
                  </a:srgbClr>
                </a:solidFill>
                <a:latin typeface="Microsoft YaHei"/>
                <a:ea typeface="Microsoft YaHei"/>
              </a:rPr>
              <a:t>每份数据至少带一组默认元数据，让人能看懂它是什么，且记录一致、可检索</a:t>
            </a:r>
            <a:endParaRPr/>
          </a:p>
        </p:txBody>
      </p:sp>
      <p:sp>
        <p:nvSpPr>
          <p:cNvPr id="242" name=""/>
          <p:cNvSpPr/>
          <p:nvPr/>
        </p:nvSpPr>
        <p:spPr>
          <a:xfrm rot="0" flipH="0" flipV="0">
            <a:off x="771525" y="4171950"/>
            <a:ext cx="5114925" cy="457200"/>
          </a:xfrm>
          <a:custGeom>
            <a:pathLst>
              <a:path w="537" h="48">
                <a:moveTo>
                  <a:pt x="0" y="0"/>
                </a:moveTo>
                <a:lnTo>
                  <a:pt x="537" y="0"/>
                </a:lnTo>
                <a:lnTo>
                  <a:pt x="537" y="1"/>
                </a:lnTo>
                <a:lnTo>
                  <a:pt x="0" y="1"/>
                </a:lnTo>
                <a:close/>
              </a:path>
            </a:pathLst>
          </a:custGeom>
          <a:solidFill>
            <a:srgbClr val="FFFFFF">
              <a:alpha val="10000"/>
            </a:srgbClr>
          </a:solidFill>
          <a:ln/>
        </p:spPr>
        <p:txBody>
          <a:bodyPr/>
          <a:p/>
        </p:txBody>
      </p:sp>
      <p:sp>
        <p:nvSpPr>
          <p:cNvPr id="243" name=""/>
          <p:cNvSpPr/>
          <p:nvPr/>
        </p:nvSpPr>
        <p:spPr>
          <a:xfrm rot="0" flipH="0" flipV="0">
            <a:off x="771525" y="4286250"/>
            <a:ext cx="704850" cy="228600"/>
          </a:xfrm>
          <a:prstGeom prst="rect">
            <a:avLst/>
          </a:prstGeom>
          <a:solidFill>
            <a:srgbClr val="F87D2F"/>
          </a:solidFill>
          <a:ln/>
        </p:spPr>
        <p:txBody>
          <a:bodyPr/>
          <a:p/>
        </p:txBody>
      </p:sp>
      <p:sp>
        <p:nvSpPr>
          <p:cNvPr id="244" name="" descr="{&quot;isTemplate&quot;:true,&quot;type&quot;:&quot;text&quot;}"/>
          <p:cNvSpPr txBox="1"/>
          <p:nvPr/>
        </p:nvSpPr>
        <p:spPr>
          <a:xfrm rot="0" flipH="0" flipV="0">
            <a:off x="914400" y="4333875"/>
            <a:ext cx="419100" cy="133350"/>
          </a:xfrm>
          <a:prstGeom prst="rect"/>
        </p:spPr>
        <p:txBody>
          <a:bodyPr wrap="none" lIns="0" tIns="0" rIns="0" bIns="0"/>
          <a:p>
            <a:pPr>
              <a:lnSpc>
                <a:spcPct val="100000"/>
              </a:lnSpc>
            </a:pPr>
            <a:r>
              <a:rPr lang="zh-CN" sz="825" b="1">
                <a:solidFill>
                  <a:srgbClr val="FFFFFF"/>
                </a:solidFill>
                <a:latin typeface="Microsoft YaHei"/>
                <a:ea typeface="Microsoft YaHei"/>
              </a:rPr>
              <a:t>实时更新</a:t>
            </a:r>
            <a:endParaRPr/>
          </a:p>
        </p:txBody>
      </p:sp>
      <p:sp>
        <p:nvSpPr>
          <p:cNvPr id="245" name="" descr="{&quot;isTemplate&quot;:true,&quot;type&quot;:&quot;text&quot;}"/>
          <p:cNvSpPr txBox="1"/>
          <p:nvPr/>
        </p:nvSpPr>
        <p:spPr>
          <a:xfrm rot="0" flipH="0" flipV="0">
            <a:off x="1581150" y="4305300"/>
            <a:ext cx="4305300" cy="200025"/>
          </a:xfrm>
          <a:prstGeom prst="rect"/>
        </p:spPr>
        <p:txBody>
          <a:bodyPr wrap="none" lIns="0" tIns="0" rIns="0" bIns="0"/>
          <a:p>
            <a:pPr>
              <a:lnSpc>
                <a:spcPct val="145000"/>
              </a:lnSpc>
            </a:pPr>
            <a:r>
              <a:rPr lang="zh-CN" sz="863">
                <a:solidFill>
                  <a:srgbClr val="FFFFFF">
                    <a:alpha val="85000"/>
                  </a:srgbClr>
                </a:solidFill>
                <a:latin typeface="Microsoft YaHei"/>
                <a:ea typeface="Microsoft YaHei"/>
              </a:rPr>
              <a:t>数据变了元数据跟着变，在访问那一刻就把最新结论呈现出来</a:t>
            </a:r>
            <a:endParaRPr/>
          </a:p>
        </p:txBody>
      </p:sp>
      <p:sp>
        <p:nvSpPr>
          <p:cNvPr id="246" name=""/>
          <p:cNvSpPr/>
          <p:nvPr/>
        </p:nvSpPr>
        <p:spPr>
          <a:xfrm rot="0" flipH="0" flipV="0">
            <a:off x="771525" y="4619625"/>
            <a:ext cx="5114925" cy="457200"/>
          </a:xfrm>
          <a:custGeom>
            <a:pathLst>
              <a:path w="537" h="48">
                <a:moveTo>
                  <a:pt x="0" y="0"/>
                </a:moveTo>
                <a:lnTo>
                  <a:pt x="537" y="0"/>
                </a:lnTo>
                <a:lnTo>
                  <a:pt x="537" y="1"/>
                </a:lnTo>
                <a:lnTo>
                  <a:pt x="0" y="1"/>
                </a:lnTo>
                <a:close/>
              </a:path>
            </a:pathLst>
          </a:custGeom>
          <a:solidFill>
            <a:srgbClr val="FFFFFF">
              <a:alpha val="10000"/>
            </a:srgbClr>
          </a:solidFill>
          <a:ln/>
        </p:spPr>
        <p:txBody>
          <a:bodyPr/>
          <a:p/>
        </p:txBody>
      </p:sp>
      <p:sp>
        <p:nvSpPr>
          <p:cNvPr id="247" name=""/>
          <p:cNvSpPr/>
          <p:nvPr/>
        </p:nvSpPr>
        <p:spPr>
          <a:xfrm rot="0" flipH="0" flipV="0">
            <a:off x="771525" y="4733925"/>
            <a:ext cx="704850" cy="228600"/>
          </a:xfrm>
          <a:prstGeom prst="rect">
            <a:avLst/>
          </a:prstGeom>
          <a:solidFill>
            <a:srgbClr val="E0651A"/>
          </a:solidFill>
          <a:ln/>
        </p:spPr>
        <p:txBody>
          <a:bodyPr/>
          <a:p/>
        </p:txBody>
      </p:sp>
      <p:sp>
        <p:nvSpPr>
          <p:cNvPr id="248" name="" descr="{&quot;isTemplate&quot;:true,&quot;type&quot;:&quot;text&quot;}"/>
          <p:cNvSpPr txBox="1"/>
          <p:nvPr/>
        </p:nvSpPr>
        <p:spPr>
          <a:xfrm rot="0" flipH="0" flipV="0">
            <a:off x="914400" y="4781550"/>
            <a:ext cx="419100" cy="133350"/>
          </a:xfrm>
          <a:prstGeom prst="rect"/>
        </p:spPr>
        <p:txBody>
          <a:bodyPr wrap="none" lIns="0" tIns="0" rIns="0" bIns="0"/>
          <a:p>
            <a:pPr>
              <a:lnSpc>
                <a:spcPct val="100000"/>
              </a:lnSpc>
            </a:pPr>
            <a:r>
              <a:rPr lang="zh-CN" sz="825" b="1">
                <a:solidFill>
                  <a:srgbClr val="FFFFFF"/>
                </a:solidFill>
                <a:latin typeface="Microsoft YaHei"/>
                <a:ea typeface="Microsoft YaHei"/>
              </a:rPr>
              <a:t>可被评审</a:t>
            </a:r>
            <a:endParaRPr/>
          </a:p>
        </p:txBody>
      </p:sp>
      <p:sp>
        <p:nvSpPr>
          <p:cNvPr id="249" name="" descr="{&quot;isTemplate&quot;:true,&quot;type&quot;:&quot;text&quot;}"/>
          <p:cNvSpPr txBox="1"/>
          <p:nvPr/>
        </p:nvSpPr>
        <p:spPr>
          <a:xfrm rot="0" flipH="0" flipV="0">
            <a:off x="1581150" y="4752975"/>
            <a:ext cx="4305300" cy="200025"/>
          </a:xfrm>
          <a:prstGeom prst="rect"/>
        </p:spPr>
        <p:txBody>
          <a:bodyPr wrap="none" lIns="0" tIns="0" rIns="0" bIns="0"/>
          <a:p>
            <a:pPr>
              <a:lnSpc>
                <a:spcPct val="145000"/>
              </a:lnSpc>
            </a:pPr>
            <a:r>
              <a:rPr lang="zh-CN" sz="863">
                <a:solidFill>
                  <a:srgbClr val="FFFFFF">
                    <a:alpha val="85000"/>
                  </a:srgbClr>
                </a:solidFill>
                <a:latin typeface="Microsoft YaHei"/>
                <a:ea typeface="Microsoft YaHei"/>
              </a:rPr>
              <a:t>必须能被用户检索到，尤其是能批量检索用于授权分析</a:t>
            </a:r>
            <a:endParaRPr/>
          </a:p>
        </p:txBody>
      </p:sp>
      <p:sp>
        <p:nvSpPr>
          <p:cNvPr id="250" name=""/>
          <p:cNvSpPr/>
          <p:nvPr/>
        </p:nvSpPr>
        <p:spPr>
          <a:xfrm rot="0" flipH="0" flipV="0">
            <a:off x="771525" y="5067300"/>
            <a:ext cx="5114925" cy="457200"/>
          </a:xfrm>
          <a:custGeom>
            <a:pathLst>
              <a:path w="537" h="48">
                <a:moveTo>
                  <a:pt x="0" y="0"/>
                </a:moveTo>
                <a:lnTo>
                  <a:pt x="537" y="0"/>
                </a:lnTo>
                <a:lnTo>
                  <a:pt x="537" y="1"/>
                </a:lnTo>
                <a:lnTo>
                  <a:pt x="0" y="1"/>
                </a:lnTo>
                <a:close/>
              </a:path>
            </a:pathLst>
          </a:custGeom>
          <a:solidFill>
            <a:srgbClr val="FFFFFF">
              <a:alpha val="10000"/>
            </a:srgbClr>
          </a:solidFill>
          <a:ln/>
        </p:spPr>
        <p:txBody>
          <a:bodyPr/>
          <a:p/>
        </p:txBody>
      </p:sp>
      <p:sp>
        <p:nvSpPr>
          <p:cNvPr id="251" name=""/>
          <p:cNvSpPr/>
          <p:nvPr/>
        </p:nvSpPr>
        <p:spPr>
          <a:xfrm rot="0" flipH="0" flipV="0">
            <a:off x="771525" y="5181600"/>
            <a:ext cx="704850" cy="228600"/>
          </a:xfrm>
          <a:prstGeom prst="rect">
            <a:avLst/>
          </a:prstGeom>
          <a:solidFill>
            <a:srgbClr val="C43A17"/>
          </a:solidFill>
          <a:ln/>
        </p:spPr>
        <p:txBody>
          <a:bodyPr/>
          <a:p/>
        </p:txBody>
      </p:sp>
      <p:sp>
        <p:nvSpPr>
          <p:cNvPr id="252" name="" descr="{&quot;isTemplate&quot;:true,&quot;type&quot;:&quot;text&quot;}"/>
          <p:cNvSpPr txBox="1"/>
          <p:nvPr/>
        </p:nvSpPr>
        <p:spPr>
          <a:xfrm rot="0" flipH="0" flipV="0">
            <a:off x="914400" y="5229225"/>
            <a:ext cx="419100" cy="133350"/>
          </a:xfrm>
          <a:prstGeom prst="rect"/>
        </p:spPr>
        <p:txBody>
          <a:bodyPr wrap="none" lIns="0" tIns="0" rIns="0" bIns="0"/>
          <a:p>
            <a:pPr>
              <a:lnSpc>
                <a:spcPct val="100000"/>
              </a:lnSpc>
            </a:pPr>
            <a:r>
              <a:rPr lang="zh-CN" sz="825" b="1">
                <a:solidFill>
                  <a:srgbClr val="FFFFFF"/>
                </a:solidFill>
                <a:latin typeface="Microsoft YaHei"/>
                <a:ea typeface="Microsoft YaHei"/>
              </a:rPr>
              <a:t>动态趋势</a:t>
            </a:r>
            <a:endParaRPr/>
          </a:p>
        </p:txBody>
      </p:sp>
      <p:sp>
        <p:nvSpPr>
          <p:cNvPr id="253" name="" descr="{&quot;isTemplate&quot;:true,&quot;type&quot;:&quot;text&quot;}"/>
          <p:cNvSpPr txBox="1"/>
          <p:nvPr/>
        </p:nvSpPr>
        <p:spPr>
          <a:xfrm rot="0" flipH="0" flipV="0">
            <a:off x="1581150" y="5200650"/>
            <a:ext cx="4305300" cy="200025"/>
          </a:xfrm>
          <a:prstGeom prst="rect"/>
        </p:spPr>
        <p:txBody>
          <a:bodyPr wrap="none" lIns="0" tIns="0" rIns="0" bIns="0"/>
          <a:p>
            <a:pPr>
              <a:lnSpc>
                <a:spcPct val="145000"/>
              </a:lnSpc>
            </a:pPr>
            <a:r>
              <a:rPr lang="zh-CN" sz="863">
                <a:solidFill>
                  <a:srgbClr val="FFFFFF">
                    <a:alpha val="85000"/>
                  </a:srgbClr>
                </a:solidFill>
                <a:latin typeface="Microsoft YaHei"/>
                <a:ea typeface="Microsoft YaHei"/>
              </a:rPr>
              <a:t>跟踪元数据本身的变化趋势，这才能提前发现问题</a:t>
            </a:r>
            <a:endParaRPr/>
          </a:p>
        </p:txBody>
      </p:sp>
      <p:sp>
        <p:nvSpPr>
          <p:cNvPr id="254" name=""/>
          <p:cNvSpPr/>
          <p:nvPr/>
        </p:nvSpPr>
        <p:spPr>
          <a:xfrm rot="0" flipH="0" flipV="0">
            <a:off x="6181725" y="3362325"/>
            <a:ext cx="5438775" cy="2276475"/>
          </a:xfrm>
          <a:prstGeom prst="roundRect">
            <a:avLst>
              <a:gd name="adj" fmla="val 1674"/>
            </a:avLst>
          </a:prstGeom>
          <a:solidFill>
            <a:srgbClr val="FFF3EE"/>
          </a:solidFill>
          <a:ln/>
        </p:spPr>
        <p:txBody>
          <a:bodyPr/>
          <a:p/>
        </p:txBody>
      </p:sp>
      <p:sp>
        <p:nvSpPr>
          <p:cNvPr id="255" name=""/>
          <p:cNvSpPr/>
          <p:nvPr/>
        </p:nvSpPr>
        <p:spPr>
          <a:xfrm rot="0" flipH="0" flipV="0">
            <a:off x="6181725" y="3362325"/>
            <a:ext cx="5438775" cy="2276475"/>
          </a:xfrm>
          <a:custGeom>
            <a:pathLst>
              <a:path w="571" h="239">
                <a:moveTo>
                  <a:pt x="4" y="239"/>
                </a:moveTo>
                <a:cubicBezTo>
                  <a:pt x="2" y="239"/>
                  <a:pt x="0" y="237"/>
                  <a:pt x="0" y="235"/>
                </a:cubicBezTo>
                <a:lnTo>
                  <a:pt x="0" y="4"/>
                </a:lnTo>
                <a:cubicBezTo>
                  <a:pt x="0" y="2"/>
                  <a:pt x="2" y="0"/>
                  <a:pt x="4" y="0"/>
                </a:cubicBezTo>
                <a:lnTo>
                  <a:pt x="4" y="239"/>
                </a:lnTo>
                <a:close/>
              </a:path>
            </a:pathLst>
          </a:custGeom>
          <a:solidFill>
            <a:srgbClr val="FA4F24"/>
          </a:solidFill>
          <a:ln/>
        </p:spPr>
        <p:txBody>
          <a:bodyPr/>
          <a:p/>
        </p:txBody>
      </p:sp>
      <p:sp>
        <p:nvSpPr>
          <p:cNvPr id="256" name="" descr="{&quot;isTemplate&quot;:true,&quot;type&quot;:&quot;text&quot;}"/>
          <p:cNvSpPr txBox="1"/>
          <p:nvPr/>
        </p:nvSpPr>
        <p:spPr>
          <a:xfrm rot="0" flipH="0" flipV="0">
            <a:off x="6343650" y="3648075"/>
            <a:ext cx="5076825" cy="161925"/>
          </a:xfrm>
          <a:prstGeom prst="rect"/>
        </p:spPr>
        <p:txBody>
          <a:bodyPr wrap="none" lIns="0" tIns="0" rIns="0" bIns="0"/>
          <a:p>
            <a:pPr>
              <a:lnSpc>
                <a:spcPct val="100000"/>
              </a:lnSpc>
            </a:pPr>
            <a:r>
              <a:rPr lang="zh-CN" sz="1050" b="1">
                <a:solidFill>
                  <a:srgbClr val="C43A17"/>
                </a:solidFill>
                <a:latin typeface="Microsoft YaHei"/>
                <a:ea typeface="Microsoft YaHei"/>
              </a:rPr>
              <a:t>为什么「可被评审」是分水岭</a:t>
            </a:r>
            <a:endParaRPr/>
          </a:p>
        </p:txBody>
      </p:sp>
      <p:sp>
        <p:nvSpPr>
          <p:cNvPr id="257" name="" descr="{&quot;isTemplate&quot;:true,&quot;type&quot;:&quot;text&quot;}"/>
          <p:cNvSpPr txBox="1"/>
          <p:nvPr/>
        </p:nvSpPr>
        <p:spPr>
          <a:xfrm rot="0" flipH="0" flipV="0">
            <a:off x="6343650" y="3876675"/>
            <a:ext cx="5076825" cy="638175"/>
          </a:xfrm>
          <a:prstGeom prst="rect"/>
        </p:spPr>
        <p:txBody>
          <a:bodyPr wrap="square" lIns="0" tIns="0" rIns="0" bIns="0">
            <a:normAutofit/>
          </a:bodyPr>
          <a:p>
            <a:pPr>
              <a:lnSpc>
                <a:spcPct val="155000"/>
              </a:lnSpc>
            </a:pPr>
            <a:r>
              <a:rPr lang="zh-CN" sz="900">
                <a:solidFill>
                  <a:srgbClr val="3A4050"/>
                </a:solidFill>
                <a:latin typeface="Microsoft YaHei"/>
                <a:ea typeface="Microsoft YaHei"/>
              </a:rPr>
              <a:t>官方原话大意是：很多系统采了元数据，却存在用户进不去的表里或离线文档里，这会大幅降低采集本身的价值——因为很多人根本不知道它在那儿，也不知道自己可以用。咨询里的典型症状是：元数据表格几十万行，但没人能在三十秒内回答「客户主数据谁能改」。</a:t>
            </a:r>
            <a:endParaRPr/>
          </a:p>
        </p:txBody>
      </p:sp>
      <p:sp>
        <p:nvSpPr>
          <p:cNvPr id="258" name=""/>
          <p:cNvSpPr/>
          <p:nvPr/>
        </p:nvSpPr>
        <p:spPr>
          <a:xfrm rot="0" flipH="0" flipV="0">
            <a:off x="6343650" y="4600575"/>
            <a:ext cx="5076825" cy="752475"/>
          </a:xfrm>
          <a:prstGeom prst="roundRect">
            <a:avLst>
              <a:gd name="adj" fmla="val 3797"/>
            </a:avLst>
          </a:prstGeom>
          <a:solidFill>
            <a:srgbClr val="FFFFFF"/>
          </a:solidFill>
          <a:ln/>
        </p:spPr>
        <p:txBody>
          <a:bodyPr/>
          <a:p/>
        </p:txBody>
      </p:sp>
      <p:sp>
        <p:nvSpPr>
          <p:cNvPr id="259" name="" descr="{&quot;isTemplate&quot;:true,&quot;type&quot;:&quot;text&quot;}"/>
          <p:cNvSpPr txBox="1"/>
          <p:nvPr/>
        </p:nvSpPr>
        <p:spPr>
          <a:xfrm rot="0" flipH="0" flipV="0">
            <a:off x="6457950" y="4686300"/>
            <a:ext cx="4848225" cy="133350"/>
          </a:xfrm>
          <a:prstGeom prst="rect"/>
        </p:spPr>
        <p:txBody>
          <a:bodyPr wrap="none" lIns="0" tIns="0" rIns="0" bIns="0"/>
          <a:p>
            <a:pPr>
              <a:lnSpc>
                <a:spcPct val="100000"/>
              </a:lnSpc>
            </a:pPr>
            <a:r>
              <a:rPr lang="zh-CN" sz="863" b="1">
                <a:solidFill>
                  <a:srgbClr val="C43A17"/>
                </a:solidFill>
                <a:latin typeface="Microsoft YaHei"/>
                <a:ea typeface="Microsoft YaHei"/>
              </a:rPr>
              <a:t>一个判断标准</a:t>
            </a:r>
            <a:endParaRPr/>
          </a:p>
        </p:txBody>
      </p:sp>
      <p:sp>
        <p:nvSpPr>
          <p:cNvPr id="260" name="" descr="{&quot;isTemplate&quot;:true,&quot;type&quot;:&quot;text&quot;}"/>
          <p:cNvSpPr txBox="1"/>
          <p:nvPr/>
        </p:nvSpPr>
        <p:spPr>
          <a:xfrm rot="0" flipH="0" flipV="0">
            <a:off x="6457950" y="4867275"/>
            <a:ext cx="4848225" cy="400050"/>
          </a:xfrm>
          <a:prstGeom prst="rect"/>
        </p:spPr>
        <p:txBody>
          <a:bodyPr wrap="square" lIns="0" tIns="0" rIns="0" bIns="0">
            <a:normAutofit/>
          </a:bodyPr>
          <a:p>
            <a:pPr>
              <a:lnSpc>
                <a:spcPct val="150000"/>
              </a:lnSpc>
            </a:pPr>
            <a:r>
              <a:rPr lang="zh-CN" sz="863">
                <a:solidFill>
                  <a:srgbClr val="3A4050"/>
                </a:solidFill>
                <a:latin typeface="Microsoft YaHei"/>
                <a:ea typeface="Microsoft YaHei"/>
              </a:rPr>
              <a:t>随机抽一位业务分析师，给他一个具体指标名，如果他能在两分钟内找到口径定义、责任人和最近健康结论，元数据治理就是及格的；找不到，就是把元数据当成仓库而不是当成产品。</a:t>
            </a:r>
            <a:endParaRPr/>
          </a:p>
        </p:txBody>
      </p:sp>
      <p:sp>
        <p:nvSpPr>
          <p:cNvPr id="261"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262" name=""/>
          <p:cNvSpPr/>
          <p:nvPr/>
        </p:nvSpPr>
        <p:spPr>
          <a:xfrm rot="0" flipH="0" flipV="0">
            <a:off x="609600" y="5953125"/>
            <a:ext cx="95250" cy="95250"/>
          </a:xfrm>
          <a:prstGeom prst="rect">
            <a:avLst/>
          </a:prstGeom>
          <a:solidFill>
            <a:srgbClr val="FA4F24"/>
          </a:solidFill>
          <a:ln/>
        </p:spPr>
        <p:txBody>
          <a:bodyPr/>
          <a:p/>
        </p:txBody>
      </p:sp>
      <p:sp>
        <p:nvSpPr>
          <p:cNvPr id="263"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264"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14 / 30</a:t>
            </a:r>
            <a:endParaRPr/>
          </a:p>
        </p:txBody>
      </p:sp>
    </p:spTree>
  </p:cSld>
</p:sld>
</file>

<file path=ppt/slides/slide15.xml><?xml version="1.0" encoding="utf-8"?>
<p:sld xmlns:p="http://schemas.openxmlformats.org/presentationml/2006/main" xmlns:a="http://schemas.openxmlformats.org/drawingml/2006/main">
  <p:cSld>
    <p:spTree>
      <p:nvGrpSpPr>
        <p:cNvPr id="265" name="" descr="&lt;Slide style={{ width: 1280, height: 720, background: '#FFFFFF', padding: '24px 64px 0' }}&gt;&#10;    &lt;Box style={{ height: 96, flexDirection: 'column', justifyContent: 'flex-start' }}&gt;&#10;      &lt;Text style={{ fontSize: 32, fontWeight: 'bold', color: '#0F1423' }}&gt;&#10;        数据目录与数据健康：&lt;span style={{ color: '#FA4F24' }}&gt;让治理的成果被人看见、天天被用&lt;/span&gt;&#10;      &lt;/Text&gt;&#10;      &lt;Text style={{ fontSize: 20, color: '#8A8F99', marginTop: 8 }}&gt;&#10;        目录解决「知道有什么」，健康检查解决「现在敢不敢用」——这两个是治理体系里唯二有日常使用频率的东西&#10;      &lt;/Text&gt;&#10;    &lt;/Box&gt;&#10;    &lt;Box style={{ height: 1, background: '#E8E8E8' }} /&gt;&#10;&#10;    &lt;Box style={{ paddingTop: 14, paddingBottom: 8, height: 479, flexDirection: 'column', gap: 10 }}&gt;&#10;      &lt;Box style={{ height: 214, flexDirection: 'row', gap: 10 }}&gt;&#10;        {/* 目录 */}&#10;        &lt;Box style={{ flex: 1, background: '#F7F7F8', borderRadius: 4, padding: '13px 16px', flexDirection: 'column' }}&gt;&#10;          &lt;Text style={{ fontSize: 14, fontWeight: 'bold', color: '#0F1423' }}&gt;数据目录：精选视图与全量搜索&lt;/Text&gt;&#10;          {[&#10;            { t: '集合是治理的抓手', d: '按主题、受众或用途组织；任何人可看集合及其描述，但只能访问共享给他的精选文件' },&#10;            { t: '全量搜索是兜底', d: '平台级搜索能遍历所有资源的全部元数据，包括表格、代码工作簿等' },&#10;            { t: '徽章即状态', d: '整个平台用紫色对勾徽章标识「这一份已编目」，是编目工作量的可见度量' },&#10;            { t: '对外可集成', d: '数据、元数据与分析结果都能通过读写接口访问，可与企业既有系统深度集成' },&#10;          ].map((it, i) =&gt; (&#10;            &lt;Box key={it.t} style={{ flex: 1, flexDirection: 'column', justifyContent: 'center', borderTop: i === 0 ? 'none' : '1px solid #E8E8E8' }}&gt;&#10;              &lt;Text style={{ fontSize: 12.5, fontWeight: 'bold', color: '#FA4F24' }}&gt;{it.t}&lt;/Text&gt;&#10;              &lt;Text style={{ fontSize: 11.5, color: '#3A4050', marginTop: 3, lineHeight: 1.45 }}&gt;{it.d}&lt;/Text&gt;&#10;            &lt;/Box&gt;&#10;          ))}&#10;        &lt;/Box&gt;&#10;&#10;        {/* 健康 */}&#10;        &lt;Box style={{ flex: 1, background: '#0F1423', borderRadius: 4, padding: '13px 16px', flexDirection: 'column' }}&gt;&#10;          &lt;Text style={{ fontSize: 14, fontWeight: 'bold', color: '#FBA15C' }}&gt;数据健康：两个功能区，别混用&lt;/Text&gt;&#10;          &lt;Box style={{ flex: 1, flexDirection: 'column', marginTop: 9 }}&gt;&#10;            {[&#10;              { b: '监控视图', d: '范围型监控规则，适合按项目、目录或单个资源统一盯一批对象；资源增加时覆盖面自动扩展', c: '#FA4F24' },&#10;              { b: '健康检查', d: '单资源精细校验，可对数据集做内容与模式校验，适合某个具体资源的深度体检', c: '#F87D2F' },&#10;            ].map((it, i) =&gt; (&#10;              &lt;Box key={it.b} style={{ flex: 1, background: 'rgba(255,255,255,0.07)', borderRadius: 3, borderLeft: '3px solid ' + it.c, padding: '0 12px', flexDirection: 'row', alignItems: 'center', gap: 12 }}&gt;&#10;                &lt;Text style={{ fontSize: 12.5, fontWeight: 'bold', color: it.c, width: 76 }}&gt;{it.b}&lt;/Text&gt;&#10;                &lt;Text style={{ fontSize: 11.5, color: 'rgba(255,255,255,0.85)', flex: 1, lineHeight: 1.45 }}&gt;{it.d}&lt;/Text&gt;&#10;              &lt;/Box&gt;&#10;            ))}&#10;          &lt;/Box&gt;&#10;          &lt;Box style={{ height: 1, background: 'rgba(255,255,255,0.14)', marginTop: 8, marginBottom: 8 }} /&gt;&#10;          &lt;Text style={{ fontSize: 12, fontWeight: 'bold', color: '#FFFFFF' }}&gt;三条告警路径，缺一条就等于没告警&lt;/Text&gt;&#10;          &lt;Box style={{ flexDirection: 'row', gap: 7, marginTop: 7 }}&gt;&#10;            {['平台内通知', '邮件摘要', '外部系统对接'].map((t, i) =&gt; (&#10;              &lt;Box key={t} style={{ flex: 1, height: 26, background: 'rgba(250,79,36,0.22)', alignItems: 'center', justifyContent: 'center' }}&gt;&#10;                &lt;Text style={{ fontSize: 11, color: '#FA4F24' }}&gt;{t}&lt;/Text&gt;&#10;              &lt;/Box&gt;&#10;            ))}&#10;          &lt;/Box&gt;&#10;          &lt;Text style={{ fontSize: 10.5, color: 'rgba(255,255,255,0.55)', marginTop: 6 }}&gt;&#10;            外部系统那条要能推到值班工具上，否则告警进了平台但没人看&#10;          &lt;/Text&gt;&#10;        &lt;/Box&gt;&#10;      &lt;/Box&gt;&#10;&#10;      &lt;Box style={{ flex: 1, flexDirection: 'row', gap: 10 }}&gt;&#10;        &lt;Box style={{ flex: 1, background: '#FFF3EE', borderRadius: 4, borderLeft: '4px solid #FA4F24', padding: '13px 17px', flexDirection: 'column', justifyContent: 'center' }}&gt;&#10;          &lt;Text style={{ fontSize: 14, fontWeight: 'bold', color: '#C43A17' }}&gt;Linter：把治理的反模式主动报出来&lt;/Text&gt;&#10;          &lt;Text style={{ fontSize: 12, color: '#3A4050', marginTop: 7, lineHeight: 1.55 }}&gt;&#10;            官方提供的诊断工具会分析当前登记状态、识别反模式、给出优化建议，可以把最高影响的建议分配给具体用户去处理，并支持引导式或自动化的修复流程，还能定期复核影响。&#10;          &lt;/Text&gt;&#10;        &lt;/Box&gt;&#10;        &lt;Box style={{ flex: 1, background: '#F7F7F8', borderRadius: 4, padding: '13px 17px', flexDirection: 'column', justifyContent: 'center' }}&gt;&#10;          &lt;Text style={{ fontSize: 14, fontWeight: 'bold', color: '#0F1423' }}&gt;治理闭环：从被发现到被处理&lt;/Text&gt;&#10;          &lt;Text style={{ fontSize: 12, color: '#3A4050', marginTop: 7, lineHeight: 1.55 }}&gt;&#10;            用户报的问题、目录里看到的提示、健康检查发出的告警，都应该汇到同一个待办池，按严重级别排序，明确责任人和处理时限。处理完的结论要回写到元数据上，让下次访问同一份数据的人能看到「这个问题已确认、结论是什么」。&#10;          &lt;/Text&gt;&#10;        &lt;/Box&gt;&#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15 / 30&lt;/Text&gt;&#10;    &lt;/Box&gt;&#10;&lt;/Slide&gt;&#10;"/>
        <p:cNvGrpSpPr/>
        <p:nvPr/>
      </p:nvGrpSpPr>
      <p:grpSpPr>
        <a:xfrm>
          <a:off x="0" y="0"/>
          <a:ext cx="0" cy="0"/>
          <a:chOff x="0" y="0"/>
          <a:chExt cx="0" cy="0"/>
        </a:xfrm>
      </p:grpSpPr>
      <p:sp>
        <p:nvSpPr>
          <p:cNvPr id="266" name=""/>
          <p:cNvSpPr/>
          <p:nvPr/>
        </p:nvSpPr>
        <p:spPr>
          <a:xfrm rot="0" flipH="0" flipV="0">
            <a:off x="0" y="0"/>
            <a:ext cx="12192000" cy="6858000"/>
          </a:xfrm>
          <a:prstGeom prst="rect">
            <a:avLst/>
          </a:prstGeom>
          <a:solidFill>
            <a:srgbClr val="FFFFFF"/>
          </a:solidFill>
          <a:ln/>
        </p:spPr>
        <p:txBody>
          <a:bodyPr/>
          <a:p/>
        </p:txBody>
      </p:sp>
      <p:sp>
        <p:nvSpPr>
          <p:cNvPr id="267"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数据目录与数据健康：</a:t>
            </a:r>
            <a:r>
              <a:rPr lang="zh-CN" sz="2400" b="1">
                <a:solidFill>
                  <a:srgbClr val="FA4F24"/>
                </a:solidFill>
                <a:latin typeface="Microsoft YaHei"/>
                <a:ea typeface="Microsoft YaHei"/>
              </a:rPr>
              <a:t>让治理的成果被人看见、天天被用</a:t>
            </a:r>
            <a:endParaRPr/>
          </a:p>
        </p:txBody>
      </p:sp>
      <p:sp>
        <p:nvSpPr>
          <p:cNvPr id="268"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目录解决「知道有什么」，健康检查解决「现在敢不敢用」——这两个是治理体系里唯二有日常使用频率的东西</a:t>
            </a:r>
            <a:endParaRPr/>
          </a:p>
        </p:txBody>
      </p:sp>
      <p:sp>
        <p:nvSpPr>
          <p:cNvPr id="269" name=""/>
          <p:cNvSpPr/>
          <p:nvPr/>
        </p:nvSpPr>
        <p:spPr>
          <a:xfrm rot="0" flipH="0" flipV="0">
            <a:off x="609600" y="1143000"/>
            <a:ext cx="10972800" cy="9525"/>
          </a:xfrm>
          <a:prstGeom prst="rect">
            <a:avLst/>
          </a:prstGeom>
          <a:solidFill>
            <a:srgbClr val="E8E8E8"/>
          </a:solidFill>
          <a:ln/>
        </p:spPr>
        <p:txBody>
          <a:bodyPr/>
          <a:p/>
        </p:txBody>
      </p:sp>
      <p:sp>
        <p:nvSpPr>
          <p:cNvPr id="270" name=""/>
          <p:cNvSpPr/>
          <p:nvPr/>
        </p:nvSpPr>
        <p:spPr>
          <a:xfrm rot="0" flipH="0" flipV="0">
            <a:off x="609600" y="1285875"/>
            <a:ext cx="5438775" cy="2038350"/>
          </a:xfrm>
          <a:prstGeom prst="roundRect">
            <a:avLst>
              <a:gd name="adj" fmla="val 1869"/>
            </a:avLst>
          </a:prstGeom>
          <a:solidFill>
            <a:srgbClr val="F7F7F8"/>
          </a:solidFill>
          <a:ln/>
        </p:spPr>
        <p:txBody>
          <a:bodyPr/>
          <a:p/>
        </p:txBody>
      </p:sp>
      <p:sp>
        <p:nvSpPr>
          <p:cNvPr id="271" name="" descr="{&quot;isTemplate&quot;:true,&quot;type&quot;:&quot;text&quot;}"/>
          <p:cNvSpPr txBox="1"/>
          <p:nvPr/>
        </p:nvSpPr>
        <p:spPr>
          <a:xfrm rot="0" flipH="0" flipV="0">
            <a:off x="762000" y="1409700"/>
            <a:ext cx="5133975" cy="161925"/>
          </a:xfrm>
          <a:prstGeom prst="rect"/>
        </p:spPr>
        <p:txBody>
          <a:bodyPr wrap="none" lIns="0" tIns="0" rIns="0" bIns="0"/>
          <a:p>
            <a:pPr>
              <a:lnSpc>
                <a:spcPct val="100000"/>
              </a:lnSpc>
            </a:pPr>
            <a:r>
              <a:rPr lang="zh-CN" sz="1050" b="1">
                <a:solidFill>
                  <a:srgbClr val="0F1423"/>
                </a:solidFill>
                <a:latin typeface="Microsoft YaHei"/>
                <a:ea typeface="Microsoft YaHei"/>
              </a:rPr>
              <a:t>数据目录：精选视图与全量搜索</a:t>
            </a:r>
            <a:endParaRPr/>
          </a:p>
        </p:txBody>
      </p:sp>
      <p:sp>
        <p:nvSpPr>
          <p:cNvPr id="272" name="" descr="{&quot;isTemplate&quot;:true,&quot;type&quot;:&quot;text&quot;}"/>
          <p:cNvSpPr txBox="1"/>
          <p:nvPr/>
        </p:nvSpPr>
        <p:spPr>
          <a:xfrm rot="0" flipH="0" flipV="0">
            <a:off x="762000" y="1590675"/>
            <a:ext cx="5133975" cy="142875"/>
          </a:xfrm>
          <a:prstGeom prst="rect"/>
        </p:spPr>
        <p:txBody>
          <a:bodyPr wrap="none" lIns="0" tIns="0" rIns="0" bIns="0"/>
          <a:p>
            <a:pPr>
              <a:lnSpc>
                <a:spcPct val="100000"/>
              </a:lnSpc>
            </a:pPr>
            <a:r>
              <a:rPr lang="zh-CN" sz="938" b="1">
                <a:solidFill>
                  <a:srgbClr val="FA4F24"/>
                </a:solidFill>
                <a:latin typeface="Microsoft YaHei"/>
                <a:ea typeface="Microsoft YaHei"/>
              </a:rPr>
              <a:t>集合是治理的抓手</a:t>
            </a:r>
            <a:endParaRPr/>
          </a:p>
        </p:txBody>
      </p:sp>
      <p:sp>
        <p:nvSpPr>
          <p:cNvPr id="273" name="" descr="{&quot;isTemplate&quot;:true,&quot;type&quot;:&quot;text&quot;}"/>
          <p:cNvSpPr txBox="1"/>
          <p:nvPr/>
        </p:nvSpPr>
        <p:spPr>
          <a:xfrm rot="0" flipH="0" flipV="0">
            <a:off x="762000" y="1762125"/>
            <a:ext cx="5133975" cy="200025"/>
          </a:xfrm>
          <a:prstGeom prst="rect"/>
        </p:spPr>
        <p:txBody>
          <a:bodyPr wrap="none" lIns="0" tIns="0" rIns="0" bIns="0"/>
          <a:p>
            <a:pPr>
              <a:lnSpc>
                <a:spcPct val="145000"/>
              </a:lnSpc>
            </a:pPr>
            <a:r>
              <a:rPr lang="zh-CN" sz="863">
                <a:solidFill>
                  <a:srgbClr val="3A4050"/>
                </a:solidFill>
                <a:latin typeface="Microsoft YaHei"/>
                <a:ea typeface="Microsoft YaHei"/>
              </a:rPr>
              <a:t>按主题、受众或用途组织；任何人可看集合及其描述，但只能访问共享给他的精选文件</a:t>
            </a:r>
            <a:endParaRPr/>
          </a:p>
        </p:txBody>
      </p:sp>
      <p:sp>
        <p:nvSpPr>
          <p:cNvPr id="274" name=""/>
          <p:cNvSpPr/>
          <p:nvPr/>
        </p:nvSpPr>
        <p:spPr>
          <a:xfrm rot="0" flipH="0" flipV="0">
            <a:off x="762000" y="1971675"/>
            <a:ext cx="5133975" cy="419100"/>
          </a:xfrm>
          <a:custGeom>
            <a:pathLst>
              <a:path w="539" h="44">
                <a:moveTo>
                  <a:pt x="0" y="0"/>
                </a:moveTo>
                <a:lnTo>
                  <a:pt x="539" y="0"/>
                </a:lnTo>
                <a:lnTo>
                  <a:pt x="539" y="1"/>
                </a:lnTo>
                <a:lnTo>
                  <a:pt x="0" y="1"/>
                </a:lnTo>
                <a:close/>
              </a:path>
            </a:pathLst>
          </a:custGeom>
          <a:solidFill>
            <a:srgbClr val="E8E8E8"/>
          </a:solidFill>
          <a:ln/>
        </p:spPr>
        <p:txBody>
          <a:bodyPr/>
          <a:p/>
        </p:txBody>
      </p:sp>
      <p:sp>
        <p:nvSpPr>
          <p:cNvPr id="275" name="" descr="{&quot;isTemplate&quot;:true,&quot;type&quot;:&quot;text&quot;}"/>
          <p:cNvSpPr txBox="1"/>
          <p:nvPr/>
        </p:nvSpPr>
        <p:spPr>
          <a:xfrm rot="0" flipH="0" flipV="0">
            <a:off x="762000" y="2000250"/>
            <a:ext cx="5133975" cy="142875"/>
          </a:xfrm>
          <a:prstGeom prst="rect"/>
        </p:spPr>
        <p:txBody>
          <a:bodyPr wrap="none" lIns="0" tIns="0" rIns="0" bIns="0"/>
          <a:p>
            <a:pPr>
              <a:lnSpc>
                <a:spcPct val="100000"/>
              </a:lnSpc>
            </a:pPr>
            <a:r>
              <a:rPr lang="zh-CN" sz="938" b="1">
                <a:solidFill>
                  <a:srgbClr val="FA4F24"/>
                </a:solidFill>
                <a:latin typeface="Microsoft YaHei"/>
                <a:ea typeface="Microsoft YaHei"/>
              </a:rPr>
              <a:t>全量搜索是兜底</a:t>
            </a:r>
            <a:endParaRPr/>
          </a:p>
        </p:txBody>
      </p:sp>
      <p:sp>
        <p:nvSpPr>
          <p:cNvPr id="276" name="" descr="{&quot;isTemplate&quot;:true,&quot;type&quot;:&quot;text&quot;}"/>
          <p:cNvSpPr txBox="1"/>
          <p:nvPr/>
        </p:nvSpPr>
        <p:spPr>
          <a:xfrm rot="0" flipH="0" flipV="0">
            <a:off x="762000" y="2171700"/>
            <a:ext cx="5133975" cy="200025"/>
          </a:xfrm>
          <a:prstGeom prst="rect"/>
        </p:spPr>
        <p:txBody>
          <a:bodyPr wrap="none" lIns="0" tIns="0" rIns="0" bIns="0"/>
          <a:p>
            <a:pPr>
              <a:lnSpc>
                <a:spcPct val="145000"/>
              </a:lnSpc>
            </a:pPr>
            <a:r>
              <a:rPr lang="zh-CN" sz="863">
                <a:solidFill>
                  <a:srgbClr val="3A4050"/>
                </a:solidFill>
                <a:latin typeface="Microsoft YaHei"/>
                <a:ea typeface="Microsoft YaHei"/>
              </a:rPr>
              <a:t>平台级搜索能遍历所有资源的全部元数据，包括表格、代码工作簿等</a:t>
            </a:r>
            <a:endParaRPr/>
          </a:p>
        </p:txBody>
      </p:sp>
      <p:sp>
        <p:nvSpPr>
          <p:cNvPr id="277" name=""/>
          <p:cNvSpPr/>
          <p:nvPr/>
        </p:nvSpPr>
        <p:spPr>
          <a:xfrm rot="0" flipH="0" flipV="0">
            <a:off x="762000" y="2381250"/>
            <a:ext cx="5133975" cy="419100"/>
          </a:xfrm>
          <a:custGeom>
            <a:pathLst>
              <a:path w="539" h="44">
                <a:moveTo>
                  <a:pt x="0" y="0"/>
                </a:moveTo>
                <a:lnTo>
                  <a:pt x="539" y="0"/>
                </a:lnTo>
                <a:lnTo>
                  <a:pt x="539" y="1"/>
                </a:lnTo>
                <a:lnTo>
                  <a:pt x="0" y="1"/>
                </a:lnTo>
                <a:close/>
              </a:path>
            </a:pathLst>
          </a:custGeom>
          <a:solidFill>
            <a:srgbClr val="E8E8E8"/>
          </a:solidFill>
          <a:ln/>
        </p:spPr>
        <p:txBody>
          <a:bodyPr/>
          <a:p/>
        </p:txBody>
      </p:sp>
      <p:sp>
        <p:nvSpPr>
          <p:cNvPr id="278" name="" descr="{&quot;isTemplate&quot;:true,&quot;type&quot;:&quot;text&quot;}"/>
          <p:cNvSpPr txBox="1"/>
          <p:nvPr/>
        </p:nvSpPr>
        <p:spPr>
          <a:xfrm rot="0" flipH="0" flipV="0">
            <a:off x="762000" y="2409825"/>
            <a:ext cx="5133975" cy="142875"/>
          </a:xfrm>
          <a:prstGeom prst="rect"/>
        </p:spPr>
        <p:txBody>
          <a:bodyPr wrap="none" lIns="0" tIns="0" rIns="0" bIns="0"/>
          <a:p>
            <a:pPr>
              <a:lnSpc>
                <a:spcPct val="100000"/>
              </a:lnSpc>
            </a:pPr>
            <a:r>
              <a:rPr lang="zh-CN" sz="938" b="1">
                <a:solidFill>
                  <a:srgbClr val="FA4F24"/>
                </a:solidFill>
                <a:latin typeface="Microsoft YaHei"/>
                <a:ea typeface="Microsoft YaHei"/>
              </a:rPr>
              <a:t>徽章即状态</a:t>
            </a:r>
            <a:endParaRPr/>
          </a:p>
        </p:txBody>
      </p:sp>
      <p:sp>
        <p:nvSpPr>
          <p:cNvPr id="279" name="" descr="{&quot;isTemplate&quot;:true,&quot;type&quot;:&quot;text&quot;}"/>
          <p:cNvSpPr txBox="1"/>
          <p:nvPr/>
        </p:nvSpPr>
        <p:spPr>
          <a:xfrm rot="0" flipH="0" flipV="0">
            <a:off x="762000" y="2581275"/>
            <a:ext cx="5133975" cy="200025"/>
          </a:xfrm>
          <a:prstGeom prst="rect"/>
        </p:spPr>
        <p:txBody>
          <a:bodyPr wrap="none" lIns="0" tIns="0" rIns="0" bIns="0"/>
          <a:p>
            <a:pPr>
              <a:lnSpc>
                <a:spcPct val="145000"/>
              </a:lnSpc>
            </a:pPr>
            <a:r>
              <a:rPr lang="zh-CN" sz="863">
                <a:solidFill>
                  <a:srgbClr val="3A4050"/>
                </a:solidFill>
                <a:latin typeface="Microsoft YaHei"/>
                <a:ea typeface="Microsoft YaHei"/>
              </a:rPr>
              <a:t>整个平台用紫色对勾徽章标识「这一份已编目」，是编目工作量的可见度量</a:t>
            </a:r>
            <a:endParaRPr/>
          </a:p>
        </p:txBody>
      </p:sp>
      <p:sp>
        <p:nvSpPr>
          <p:cNvPr id="280" name=""/>
          <p:cNvSpPr/>
          <p:nvPr/>
        </p:nvSpPr>
        <p:spPr>
          <a:xfrm rot="0" flipH="0" flipV="0">
            <a:off x="762000" y="2790825"/>
            <a:ext cx="5133975" cy="419100"/>
          </a:xfrm>
          <a:custGeom>
            <a:pathLst>
              <a:path w="539" h="44">
                <a:moveTo>
                  <a:pt x="0" y="0"/>
                </a:moveTo>
                <a:lnTo>
                  <a:pt x="539" y="0"/>
                </a:lnTo>
                <a:lnTo>
                  <a:pt x="539" y="1"/>
                </a:lnTo>
                <a:lnTo>
                  <a:pt x="0" y="1"/>
                </a:lnTo>
                <a:close/>
              </a:path>
            </a:pathLst>
          </a:custGeom>
          <a:solidFill>
            <a:srgbClr val="E8E8E8"/>
          </a:solidFill>
          <a:ln/>
        </p:spPr>
        <p:txBody>
          <a:bodyPr/>
          <a:p/>
        </p:txBody>
      </p:sp>
      <p:sp>
        <p:nvSpPr>
          <p:cNvPr id="281" name="" descr="{&quot;isTemplate&quot;:true,&quot;type&quot;:&quot;text&quot;}"/>
          <p:cNvSpPr txBox="1"/>
          <p:nvPr/>
        </p:nvSpPr>
        <p:spPr>
          <a:xfrm rot="0" flipH="0" flipV="0">
            <a:off x="762000" y="2819400"/>
            <a:ext cx="5133975" cy="142875"/>
          </a:xfrm>
          <a:prstGeom prst="rect"/>
        </p:spPr>
        <p:txBody>
          <a:bodyPr wrap="none" lIns="0" tIns="0" rIns="0" bIns="0"/>
          <a:p>
            <a:pPr>
              <a:lnSpc>
                <a:spcPct val="100000"/>
              </a:lnSpc>
            </a:pPr>
            <a:r>
              <a:rPr lang="zh-CN" sz="938" b="1">
                <a:solidFill>
                  <a:srgbClr val="FA4F24"/>
                </a:solidFill>
                <a:latin typeface="Microsoft YaHei"/>
                <a:ea typeface="Microsoft YaHei"/>
              </a:rPr>
              <a:t>对外可集成</a:t>
            </a:r>
            <a:endParaRPr/>
          </a:p>
        </p:txBody>
      </p:sp>
      <p:sp>
        <p:nvSpPr>
          <p:cNvPr id="282" name="" descr="{&quot;isTemplate&quot;:true,&quot;type&quot;:&quot;text&quot;}"/>
          <p:cNvSpPr txBox="1"/>
          <p:nvPr/>
        </p:nvSpPr>
        <p:spPr>
          <a:xfrm rot="0" flipH="0" flipV="0">
            <a:off x="762000" y="2990850"/>
            <a:ext cx="5133975" cy="200025"/>
          </a:xfrm>
          <a:prstGeom prst="rect"/>
        </p:spPr>
        <p:txBody>
          <a:bodyPr wrap="none" lIns="0" tIns="0" rIns="0" bIns="0"/>
          <a:p>
            <a:pPr>
              <a:lnSpc>
                <a:spcPct val="145000"/>
              </a:lnSpc>
            </a:pPr>
            <a:r>
              <a:rPr lang="zh-CN" sz="863">
                <a:solidFill>
                  <a:srgbClr val="3A4050"/>
                </a:solidFill>
                <a:latin typeface="Microsoft YaHei"/>
                <a:ea typeface="Microsoft YaHei"/>
              </a:rPr>
              <a:t>数据、元数据与分析结果都能通过读写接口访问，可与企业既有系统深度集成</a:t>
            </a:r>
            <a:endParaRPr/>
          </a:p>
        </p:txBody>
      </p:sp>
      <p:sp>
        <p:nvSpPr>
          <p:cNvPr id="283" name=""/>
          <p:cNvSpPr/>
          <p:nvPr/>
        </p:nvSpPr>
        <p:spPr>
          <a:xfrm rot="0" flipH="0" flipV="0">
            <a:off x="6143625" y="1285875"/>
            <a:ext cx="5438775" cy="2038350"/>
          </a:xfrm>
          <a:prstGeom prst="roundRect">
            <a:avLst>
              <a:gd name="adj" fmla="val 1869"/>
            </a:avLst>
          </a:prstGeom>
          <a:solidFill>
            <a:srgbClr val="0F1423"/>
          </a:solidFill>
          <a:ln/>
        </p:spPr>
        <p:txBody>
          <a:bodyPr/>
          <a:p/>
        </p:txBody>
      </p:sp>
      <p:sp>
        <p:nvSpPr>
          <p:cNvPr id="284" name="" descr="{&quot;isTemplate&quot;:true,&quot;type&quot;:&quot;text&quot;}"/>
          <p:cNvSpPr txBox="1"/>
          <p:nvPr/>
        </p:nvSpPr>
        <p:spPr>
          <a:xfrm rot="0" flipH="0" flipV="0">
            <a:off x="6296025" y="1409700"/>
            <a:ext cx="5133975" cy="161925"/>
          </a:xfrm>
          <a:prstGeom prst="rect"/>
        </p:spPr>
        <p:txBody>
          <a:bodyPr wrap="none" lIns="0" tIns="0" rIns="0" bIns="0"/>
          <a:p>
            <a:pPr>
              <a:lnSpc>
                <a:spcPct val="100000"/>
              </a:lnSpc>
            </a:pPr>
            <a:r>
              <a:rPr lang="zh-CN" sz="1050" b="1">
                <a:solidFill>
                  <a:srgbClr val="FBA15C"/>
                </a:solidFill>
                <a:latin typeface="Microsoft YaHei"/>
                <a:ea typeface="Microsoft YaHei"/>
              </a:rPr>
              <a:t>数据健康：两个功能区，别混用</a:t>
            </a:r>
            <a:endParaRPr/>
          </a:p>
        </p:txBody>
      </p:sp>
      <p:sp>
        <p:nvSpPr>
          <p:cNvPr id="285" name=""/>
          <p:cNvSpPr/>
          <p:nvPr/>
        </p:nvSpPr>
        <p:spPr>
          <a:xfrm rot="0" flipH="0" flipV="0">
            <a:off x="6324600" y="1657350"/>
            <a:ext cx="5133975" cy="466725"/>
          </a:xfrm>
          <a:prstGeom prst="roundRect">
            <a:avLst>
              <a:gd name="adj" fmla="val 6122"/>
            </a:avLst>
          </a:prstGeom>
          <a:solidFill>
            <a:srgbClr val="FFFFFF">
              <a:alpha val="7000"/>
            </a:srgbClr>
          </a:solidFill>
          <a:ln/>
        </p:spPr>
        <p:txBody>
          <a:bodyPr/>
          <a:p/>
        </p:txBody>
      </p:sp>
      <p:sp>
        <p:nvSpPr>
          <p:cNvPr id="286" name=""/>
          <p:cNvSpPr/>
          <p:nvPr/>
        </p:nvSpPr>
        <p:spPr>
          <a:xfrm rot="0" flipH="0" flipV="0">
            <a:off x="6324600" y="1657350"/>
            <a:ext cx="5133975" cy="466725"/>
          </a:xfrm>
          <a:custGeom>
            <a:pathLst>
              <a:path w="539" h="49">
                <a:moveTo>
                  <a:pt x="3" y="49"/>
                </a:moveTo>
                <a:cubicBezTo>
                  <a:pt x="1" y="49"/>
                  <a:pt x="0" y="48"/>
                  <a:pt x="0" y="46"/>
                </a:cubicBezTo>
                <a:lnTo>
                  <a:pt x="0" y="3"/>
                </a:lnTo>
                <a:cubicBezTo>
                  <a:pt x="0" y="1"/>
                  <a:pt x="1" y="0"/>
                  <a:pt x="3" y="0"/>
                </a:cubicBezTo>
                <a:lnTo>
                  <a:pt x="3" y="49"/>
                </a:lnTo>
                <a:close/>
              </a:path>
            </a:pathLst>
          </a:custGeom>
          <a:solidFill>
            <a:srgbClr val="FA4F24"/>
          </a:solidFill>
          <a:ln/>
        </p:spPr>
        <p:txBody>
          <a:bodyPr/>
          <a:p/>
        </p:txBody>
      </p:sp>
      <p:sp>
        <p:nvSpPr>
          <p:cNvPr id="287" name="" descr="{&quot;isTemplate&quot;:true,&quot;type&quot;:&quot;text&quot;}"/>
          <p:cNvSpPr txBox="1"/>
          <p:nvPr/>
        </p:nvSpPr>
        <p:spPr>
          <a:xfrm rot="0" flipH="0" flipV="0">
            <a:off x="6438900" y="1819275"/>
            <a:ext cx="723900" cy="142875"/>
          </a:xfrm>
          <a:prstGeom prst="rect"/>
        </p:spPr>
        <p:txBody>
          <a:bodyPr wrap="none" lIns="0" tIns="0" rIns="0" bIns="0"/>
          <a:p>
            <a:pPr>
              <a:lnSpc>
                <a:spcPct val="100000"/>
              </a:lnSpc>
            </a:pPr>
            <a:r>
              <a:rPr lang="zh-CN" sz="938" b="1">
                <a:solidFill>
                  <a:srgbClr val="FA4F24"/>
                </a:solidFill>
                <a:latin typeface="Microsoft YaHei"/>
                <a:ea typeface="Microsoft YaHei"/>
              </a:rPr>
              <a:t>监控视图</a:t>
            </a:r>
            <a:endParaRPr/>
          </a:p>
        </p:txBody>
      </p:sp>
      <p:sp>
        <p:nvSpPr>
          <p:cNvPr id="288" name="" descr="{&quot;isTemplate&quot;:true,&quot;type&quot;:&quot;text&quot;}"/>
          <p:cNvSpPr txBox="1"/>
          <p:nvPr/>
        </p:nvSpPr>
        <p:spPr>
          <a:xfrm rot="0" flipH="0" flipV="0">
            <a:off x="7277100" y="1695450"/>
            <a:ext cx="4038600" cy="390525"/>
          </a:xfrm>
          <a:prstGeom prst="rect"/>
        </p:spPr>
        <p:txBody>
          <a:bodyPr wrap="square" lIns="0" tIns="0" rIns="0" bIns="0">
            <a:normAutofit/>
          </a:bodyPr>
          <a:p>
            <a:pPr>
              <a:lnSpc>
                <a:spcPct val="145000"/>
              </a:lnSpc>
            </a:pPr>
            <a:r>
              <a:rPr lang="zh-CN" sz="863">
                <a:solidFill>
                  <a:srgbClr val="FFFFFF">
                    <a:alpha val="85000"/>
                  </a:srgbClr>
                </a:solidFill>
                <a:latin typeface="Microsoft YaHei"/>
                <a:ea typeface="Microsoft YaHei"/>
              </a:rPr>
              <a:t>范围型监控规则，适合按项目、目录或单个资源统一盯一批对象；资源增加时覆盖面自动扩展</a:t>
            </a:r>
            <a:endParaRPr/>
          </a:p>
        </p:txBody>
      </p:sp>
      <p:sp>
        <p:nvSpPr>
          <p:cNvPr id="289" name=""/>
          <p:cNvSpPr/>
          <p:nvPr/>
        </p:nvSpPr>
        <p:spPr>
          <a:xfrm rot="0" flipH="0" flipV="0">
            <a:off x="6324600" y="2124075"/>
            <a:ext cx="5133975" cy="276225"/>
          </a:xfrm>
          <a:prstGeom prst="roundRect">
            <a:avLst>
              <a:gd name="adj" fmla="val 10345"/>
            </a:avLst>
          </a:prstGeom>
          <a:solidFill>
            <a:srgbClr val="FFFFFF">
              <a:alpha val="7000"/>
            </a:srgbClr>
          </a:solidFill>
          <a:ln/>
        </p:spPr>
        <p:txBody>
          <a:bodyPr/>
          <a:p/>
        </p:txBody>
      </p:sp>
      <p:sp>
        <p:nvSpPr>
          <p:cNvPr id="290" name=""/>
          <p:cNvSpPr/>
          <p:nvPr/>
        </p:nvSpPr>
        <p:spPr>
          <a:xfrm rot="0" flipH="0" flipV="0">
            <a:off x="6324600" y="2124075"/>
            <a:ext cx="5133975" cy="276225"/>
          </a:xfrm>
          <a:custGeom>
            <a:pathLst>
              <a:path w="539" h="29">
                <a:moveTo>
                  <a:pt x="3" y="29"/>
                </a:moveTo>
                <a:cubicBezTo>
                  <a:pt x="1" y="29"/>
                  <a:pt x="0" y="28"/>
                  <a:pt x="0" y="26"/>
                </a:cubicBezTo>
                <a:lnTo>
                  <a:pt x="0" y="3"/>
                </a:lnTo>
                <a:cubicBezTo>
                  <a:pt x="0" y="1"/>
                  <a:pt x="1" y="0"/>
                  <a:pt x="3" y="0"/>
                </a:cubicBezTo>
                <a:lnTo>
                  <a:pt x="3" y="29"/>
                </a:lnTo>
                <a:close/>
              </a:path>
            </a:pathLst>
          </a:custGeom>
          <a:solidFill>
            <a:srgbClr val="F87D2F"/>
          </a:solidFill>
          <a:ln/>
        </p:spPr>
        <p:txBody>
          <a:bodyPr/>
          <a:p/>
        </p:txBody>
      </p:sp>
      <p:sp>
        <p:nvSpPr>
          <p:cNvPr id="291" name="" descr="{&quot;isTemplate&quot;:true,&quot;type&quot;:&quot;text&quot;}"/>
          <p:cNvSpPr txBox="1"/>
          <p:nvPr/>
        </p:nvSpPr>
        <p:spPr>
          <a:xfrm rot="0" flipH="0" flipV="0">
            <a:off x="6438900" y="2190750"/>
            <a:ext cx="723900" cy="142875"/>
          </a:xfrm>
          <a:prstGeom prst="rect"/>
        </p:spPr>
        <p:txBody>
          <a:bodyPr wrap="none" lIns="0" tIns="0" rIns="0" bIns="0"/>
          <a:p>
            <a:pPr>
              <a:lnSpc>
                <a:spcPct val="100000"/>
              </a:lnSpc>
            </a:pPr>
            <a:r>
              <a:rPr lang="zh-CN" sz="938" b="1">
                <a:solidFill>
                  <a:srgbClr val="F87D2F"/>
                </a:solidFill>
                <a:latin typeface="Microsoft YaHei"/>
                <a:ea typeface="Microsoft YaHei"/>
              </a:rPr>
              <a:t>健康检查</a:t>
            </a:r>
            <a:endParaRPr/>
          </a:p>
        </p:txBody>
      </p:sp>
      <p:sp>
        <p:nvSpPr>
          <p:cNvPr id="292" name="" descr="{&quot;isTemplate&quot;:true,&quot;type&quot;:&quot;text&quot;}"/>
          <p:cNvSpPr txBox="1"/>
          <p:nvPr/>
        </p:nvSpPr>
        <p:spPr>
          <a:xfrm rot="0" flipH="0" flipV="0">
            <a:off x="7277100" y="2162175"/>
            <a:ext cx="4038600" cy="200025"/>
          </a:xfrm>
          <a:prstGeom prst="rect"/>
        </p:spPr>
        <p:txBody>
          <a:bodyPr wrap="none" lIns="0" tIns="0" rIns="0" bIns="0"/>
          <a:p>
            <a:pPr>
              <a:lnSpc>
                <a:spcPct val="145000"/>
              </a:lnSpc>
            </a:pPr>
            <a:r>
              <a:rPr lang="zh-CN" sz="863">
                <a:solidFill>
                  <a:srgbClr val="FFFFFF">
                    <a:alpha val="85000"/>
                  </a:srgbClr>
                </a:solidFill>
                <a:latin typeface="Microsoft YaHei"/>
                <a:ea typeface="Microsoft YaHei"/>
              </a:rPr>
              <a:t>单资源精细校验，可对数据集做内容与模式校验，适合某个具体资源的深度体检</a:t>
            </a:r>
            <a:endParaRPr/>
          </a:p>
        </p:txBody>
      </p:sp>
      <p:sp>
        <p:nvSpPr>
          <p:cNvPr id="293" name=""/>
          <p:cNvSpPr/>
          <p:nvPr/>
        </p:nvSpPr>
        <p:spPr>
          <a:xfrm rot="0" flipH="0" flipV="0">
            <a:off x="6296025" y="2476500"/>
            <a:ext cx="5133975" cy="9525"/>
          </a:xfrm>
          <a:prstGeom prst="rect">
            <a:avLst/>
          </a:prstGeom>
          <a:solidFill>
            <a:srgbClr val="FFFFFF">
              <a:alpha val="14000"/>
            </a:srgbClr>
          </a:solidFill>
          <a:ln/>
        </p:spPr>
        <p:txBody>
          <a:bodyPr/>
          <a:p/>
        </p:txBody>
      </p:sp>
      <p:sp>
        <p:nvSpPr>
          <p:cNvPr id="294" name="" descr="{&quot;isTemplate&quot;:true,&quot;type&quot;:&quot;text&quot;}"/>
          <p:cNvSpPr txBox="1"/>
          <p:nvPr/>
        </p:nvSpPr>
        <p:spPr>
          <a:xfrm rot="0" flipH="0" flipV="0">
            <a:off x="6296025" y="2562225"/>
            <a:ext cx="5133975" cy="142875"/>
          </a:xfrm>
          <a:prstGeom prst="rect"/>
        </p:spPr>
        <p:txBody>
          <a:bodyPr wrap="none" lIns="0" tIns="0" rIns="0" bIns="0"/>
          <a:p>
            <a:pPr>
              <a:lnSpc>
                <a:spcPct val="100000"/>
              </a:lnSpc>
            </a:pPr>
            <a:r>
              <a:rPr lang="zh-CN" sz="900" b="1">
                <a:solidFill>
                  <a:srgbClr val="FFFFFF"/>
                </a:solidFill>
                <a:latin typeface="Microsoft YaHei"/>
                <a:ea typeface="Microsoft YaHei"/>
              </a:rPr>
              <a:t>三条告警路径，缺一条就等于没告警</a:t>
            </a:r>
            <a:endParaRPr/>
          </a:p>
        </p:txBody>
      </p:sp>
      <p:sp>
        <p:nvSpPr>
          <p:cNvPr id="295" name=""/>
          <p:cNvSpPr/>
          <p:nvPr/>
        </p:nvSpPr>
        <p:spPr>
          <a:xfrm rot="0" flipH="0" flipV="0">
            <a:off x="6296025" y="2771775"/>
            <a:ext cx="1666875" cy="247650"/>
          </a:xfrm>
          <a:prstGeom prst="rect">
            <a:avLst/>
          </a:prstGeom>
          <a:solidFill>
            <a:srgbClr val="FA4F24">
              <a:alpha val="22000"/>
            </a:srgbClr>
          </a:solidFill>
          <a:ln/>
        </p:spPr>
        <p:txBody>
          <a:bodyPr/>
          <a:p/>
        </p:txBody>
      </p:sp>
      <p:sp>
        <p:nvSpPr>
          <p:cNvPr id="296" name="" descr="{&quot;isTemplate&quot;:true,&quot;type&quot;:&quot;text&quot;}"/>
          <p:cNvSpPr txBox="1"/>
          <p:nvPr/>
        </p:nvSpPr>
        <p:spPr>
          <a:xfrm rot="0" flipH="0" flipV="0">
            <a:off x="6867525" y="2828925"/>
            <a:ext cx="523875" cy="133350"/>
          </a:xfrm>
          <a:prstGeom prst="rect"/>
        </p:spPr>
        <p:txBody>
          <a:bodyPr wrap="none" lIns="0" tIns="0" rIns="0" bIns="0"/>
          <a:p>
            <a:pPr>
              <a:lnSpc>
                <a:spcPct val="100000"/>
              </a:lnSpc>
            </a:pPr>
            <a:r>
              <a:rPr lang="zh-CN" sz="825">
                <a:solidFill>
                  <a:srgbClr val="FA4F24"/>
                </a:solidFill>
                <a:latin typeface="Microsoft YaHei"/>
                <a:ea typeface="Microsoft YaHei"/>
              </a:rPr>
              <a:t>平台内通知</a:t>
            </a:r>
            <a:endParaRPr/>
          </a:p>
        </p:txBody>
      </p:sp>
      <p:sp>
        <p:nvSpPr>
          <p:cNvPr id="297" name=""/>
          <p:cNvSpPr/>
          <p:nvPr/>
        </p:nvSpPr>
        <p:spPr>
          <a:xfrm rot="0" flipH="0" flipV="0">
            <a:off x="8029575" y="2771775"/>
            <a:ext cx="1666875" cy="247650"/>
          </a:xfrm>
          <a:prstGeom prst="rect">
            <a:avLst/>
          </a:prstGeom>
          <a:solidFill>
            <a:srgbClr val="FA4F24">
              <a:alpha val="22000"/>
            </a:srgbClr>
          </a:solidFill>
          <a:ln/>
        </p:spPr>
        <p:txBody>
          <a:bodyPr/>
          <a:p/>
        </p:txBody>
      </p:sp>
      <p:sp>
        <p:nvSpPr>
          <p:cNvPr id="298" name="" descr="{&quot;isTemplate&quot;:true,&quot;type&quot;:&quot;text&quot;}"/>
          <p:cNvSpPr txBox="1"/>
          <p:nvPr/>
        </p:nvSpPr>
        <p:spPr>
          <a:xfrm rot="0" flipH="0" flipV="0">
            <a:off x="8658225" y="2828925"/>
            <a:ext cx="419100" cy="133350"/>
          </a:xfrm>
          <a:prstGeom prst="rect"/>
        </p:spPr>
        <p:txBody>
          <a:bodyPr wrap="none" lIns="0" tIns="0" rIns="0" bIns="0"/>
          <a:p>
            <a:pPr>
              <a:lnSpc>
                <a:spcPct val="100000"/>
              </a:lnSpc>
            </a:pPr>
            <a:r>
              <a:rPr lang="zh-CN" sz="825">
                <a:solidFill>
                  <a:srgbClr val="FA4F24"/>
                </a:solidFill>
                <a:latin typeface="Microsoft YaHei"/>
                <a:ea typeface="Microsoft YaHei"/>
              </a:rPr>
              <a:t>邮件摘要</a:t>
            </a:r>
            <a:endParaRPr/>
          </a:p>
        </p:txBody>
      </p:sp>
      <p:sp>
        <p:nvSpPr>
          <p:cNvPr id="299" name=""/>
          <p:cNvSpPr/>
          <p:nvPr/>
        </p:nvSpPr>
        <p:spPr>
          <a:xfrm rot="0" flipH="0" flipV="0">
            <a:off x="9763125" y="2771775"/>
            <a:ext cx="1666875" cy="247650"/>
          </a:xfrm>
          <a:prstGeom prst="rect">
            <a:avLst/>
          </a:prstGeom>
          <a:solidFill>
            <a:srgbClr val="FA4F24">
              <a:alpha val="22000"/>
            </a:srgbClr>
          </a:solidFill>
          <a:ln/>
        </p:spPr>
        <p:txBody>
          <a:bodyPr/>
          <a:p/>
        </p:txBody>
      </p:sp>
      <p:sp>
        <p:nvSpPr>
          <p:cNvPr id="300" name="" descr="{&quot;isTemplate&quot;:true,&quot;type&quot;:&quot;text&quot;}"/>
          <p:cNvSpPr txBox="1"/>
          <p:nvPr/>
        </p:nvSpPr>
        <p:spPr>
          <a:xfrm rot="0" flipH="0" flipV="0">
            <a:off x="10287000" y="2828925"/>
            <a:ext cx="628650" cy="133350"/>
          </a:xfrm>
          <a:prstGeom prst="rect"/>
        </p:spPr>
        <p:txBody>
          <a:bodyPr wrap="none" lIns="0" tIns="0" rIns="0" bIns="0"/>
          <a:p>
            <a:pPr>
              <a:lnSpc>
                <a:spcPct val="100000"/>
              </a:lnSpc>
            </a:pPr>
            <a:r>
              <a:rPr lang="zh-CN" sz="825">
                <a:solidFill>
                  <a:srgbClr val="FA4F24"/>
                </a:solidFill>
                <a:latin typeface="Microsoft YaHei"/>
                <a:ea typeface="Microsoft YaHei"/>
              </a:rPr>
              <a:t>外部系统对接</a:t>
            </a:r>
            <a:endParaRPr/>
          </a:p>
        </p:txBody>
      </p:sp>
      <p:sp>
        <p:nvSpPr>
          <p:cNvPr id="301" name="" descr="{&quot;isTemplate&quot;:true,&quot;type&quot;:&quot;text&quot;}"/>
          <p:cNvSpPr txBox="1"/>
          <p:nvPr/>
        </p:nvSpPr>
        <p:spPr>
          <a:xfrm rot="0" flipH="0" flipV="0">
            <a:off x="6296025" y="3076575"/>
            <a:ext cx="5133975" cy="123825"/>
          </a:xfrm>
          <a:prstGeom prst="rect"/>
        </p:spPr>
        <p:txBody>
          <a:bodyPr wrap="none" lIns="0" tIns="0" rIns="0" bIns="0"/>
          <a:p>
            <a:pPr>
              <a:lnSpc>
                <a:spcPct val="100000"/>
              </a:lnSpc>
            </a:pPr>
            <a:r>
              <a:rPr lang="zh-CN" sz="788">
                <a:solidFill>
                  <a:srgbClr val="FFFFFF">
                    <a:alpha val="55000"/>
                  </a:srgbClr>
                </a:solidFill>
                <a:latin typeface="Microsoft YaHei"/>
                <a:ea typeface="Microsoft YaHei"/>
              </a:rPr>
              <a:t>外部系统那条要能推到值班工具上，否则告警进了平台但没人看</a:t>
            </a:r>
            <a:endParaRPr/>
          </a:p>
        </p:txBody>
      </p:sp>
      <p:sp>
        <p:nvSpPr>
          <p:cNvPr id="302" name=""/>
          <p:cNvSpPr/>
          <p:nvPr/>
        </p:nvSpPr>
        <p:spPr>
          <a:xfrm rot="0" flipH="0" flipV="0">
            <a:off x="647700" y="3419475"/>
            <a:ext cx="5438775" cy="2219325"/>
          </a:xfrm>
          <a:prstGeom prst="roundRect">
            <a:avLst>
              <a:gd name="adj" fmla="val 1717"/>
            </a:avLst>
          </a:prstGeom>
          <a:solidFill>
            <a:srgbClr val="FFF3EE"/>
          </a:solidFill>
          <a:ln/>
        </p:spPr>
        <p:txBody>
          <a:bodyPr/>
          <a:p/>
        </p:txBody>
      </p:sp>
      <p:sp>
        <p:nvSpPr>
          <p:cNvPr id="303" name=""/>
          <p:cNvSpPr/>
          <p:nvPr/>
        </p:nvSpPr>
        <p:spPr>
          <a:xfrm rot="0" flipH="0" flipV="0">
            <a:off x="647700" y="3419475"/>
            <a:ext cx="5438775" cy="2219325"/>
          </a:xfrm>
          <a:custGeom>
            <a:pathLst>
              <a:path w="571" h="233">
                <a:moveTo>
                  <a:pt x="4" y="233"/>
                </a:moveTo>
                <a:cubicBezTo>
                  <a:pt x="2" y="233"/>
                  <a:pt x="0" y="231"/>
                  <a:pt x="0" y="229"/>
                </a:cubicBezTo>
                <a:lnTo>
                  <a:pt x="0" y="4"/>
                </a:lnTo>
                <a:cubicBezTo>
                  <a:pt x="0" y="2"/>
                  <a:pt x="2" y="0"/>
                  <a:pt x="4" y="0"/>
                </a:cubicBezTo>
                <a:lnTo>
                  <a:pt x="4" y="233"/>
                </a:lnTo>
                <a:close/>
              </a:path>
            </a:pathLst>
          </a:custGeom>
          <a:solidFill>
            <a:srgbClr val="FA4F24"/>
          </a:solidFill>
          <a:ln/>
        </p:spPr>
        <p:txBody>
          <a:bodyPr/>
          <a:p/>
        </p:txBody>
      </p:sp>
      <p:sp>
        <p:nvSpPr>
          <p:cNvPr id="304" name="" descr="{&quot;isTemplate&quot;:true,&quot;type&quot;:&quot;text&quot;}"/>
          <p:cNvSpPr txBox="1"/>
          <p:nvPr/>
        </p:nvSpPr>
        <p:spPr>
          <a:xfrm rot="0" flipH="0" flipV="0">
            <a:off x="809625" y="4200525"/>
            <a:ext cx="5076825" cy="161925"/>
          </a:xfrm>
          <a:prstGeom prst="rect"/>
        </p:spPr>
        <p:txBody>
          <a:bodyPr wrap="none" lIns="0" tIns="0" rIns="0" bIns="0"/>
          <a:p>
            <a:pPr>
              <a:lnSpc>
                <a:spcPct val="100000"/>
              </a:lnSpc>
            </a:pPr>
            <a:r>
              <a:rPr lang="en-US" sz="1050" b="1">
                <a:solidFill>
                  <a:srgbClr val="C43A17"/>
                </a:solidFill>
                <a:latin typeface="Microsoft YaHei"/>
                <a:ea typeface="Microsoft YaHei"/>
              </a:rPr>
              <a:t>Linter</a:t>
            </a:r>
            <a:r>
              <a:rPr lang="zh-CN" sz="1050" b="1">
                <a:solidFill>
                  <a:srgbClr val="C43A17"/>
                </a:solidFill>
                <a:latin typeface="Microsoft YaHei"/>
                <a:ea typeface="Microsoft YaHei"/>
              </a:rPr>
              <a:t>：把治理的反模式主动报出来</a:t>
            </a:r>
            <a:endParaRPr/>
          </a:p>
        </p:txBody>
      </p:sp>
      <p:sp>
        <p:nvSpPr>
          <p:cNvPr id="305" name="" descr="{&quot;isTemplate&quot;:true,&quot;type&quot;:&quot;text&quot;}"/>
          <p:cNvSpPr txBox="1"/>
          <p:nvPr/>
        </p:nvSpPr>
        <p:spPr>
          <a:xfrm rot="0" flipH="0" flipV="0">
            <a:off x="809625" y="4429125"/>
            <a:ext cx="5076825" cy="428625"/>
          </a:xfrm>
          <a:prstGeom prst="rect"/>
        </p:spPr>
        <p:txBody>
          <a:bodyPr wrap="square" lIns="0" tIns="0" rIns="0" bIns="0">
            <a:normAutofit/>
          </a:bodyPr>
          <a:p>
            <a:pPr>
              <a:lnSpc>
                <a:spcPct val="155000"/>
              </a:lnSpc>
            </a:pPr>
            <a:r>
              <a:rPr lang="zh-CN" sz="900">
                <a:solidFill>
                  <a:srgbClr val="3A4050"/>
                </a:solidFill>
                <a:latin typeface="Microsoft YaHei"/>
                <a:ea typeface="Microsoft YaHei"/>
              </a:rPr>
              <a:t>官方提供的诊断工具会分析当前登记状态、识别反模式、给出优化建议，可以把最高影响的建议分配给具体用户去处理，并支持引导式或自动化的修复流程，还能定期复核影响。</a:t>
            </a:r>
            <a:endParaRPr/>
          </a:p>
        </p:txBody>
      </p:sp>
      <p:sp>
        <p:nvSpPr>
          <p:cNvPr id="306" name=""/>
          <p:cNvSpPr/>
          <p:nvPr/>
        </p:nvSpPr>
        <p:spPr>
          <a:xfrm rot="0" flipH="0" flipV="0">
            <a:off x="6143625" y="3419475"/>
            <a:ext cx="5438775" cy="2219325"/>
          </a:xfrm>
          <a:prstGeom prst="roundRect">
            <a:avLst>
              <a:gd name="adj" fmla="val 1717"/>
            </a:avLst>
          </a:prstGeom>
          <a:solidFill>
            <a:srgbClr val="F7F7F8"/>
          </a:solidFill>
          <a:ln/>
        </p:spPr>
        <p:txBody>
          <a:bodyPr/>
          <a:p/>
        </p:txBody>
      </p:sp>
      <p:sp>
        <p:nvSpPr>
          <p:cNvPr id="307" name="" descr="{&quot;isTemplate&quot;:true,&quot;type&quot;:&quot;text&quot;}"/>
          <p:cNvSpPr txBox="1"/>
          <p:nvPr/>
        </p:nvSpPr>
        <p:spPr>
          <a:xfrm rot="0" flipH="0" flipV="0">
            <a:off x="6305550" y="4095750"/>
            <a:ext cx="5114925" cy="161925"/>
          </a:xfrm>
          <a:prstGeom prst="rect"/>
        </p:spPr>
        <p:txBody>
          <a:bodyPr wrap="none" lIns="0" tIns="0" rIns="0" bIns="0"/>
          <a:p>
            <a:pPr>
              <a:lnSpc>
                <a:spcPct val="100000"/>
              </a:lnSpc>
            </a:pPr>
            <a:r>
              <a:rPr lang="zh-CN" sz="1050" b="1">
                <a:solidFill>
                  <a:srgbClr val="0F1423"/>
                </a:solidFill>
                <a:latin typeface="Microsoft YaHei"/>
                <a:ea typeface="Microsoft YaHei"/>
              </a:rPr>
              <a:t>治理闭环：从被发现到被处理</a:t>
            </a:r>
            <a:endParaRPr/>
          </a:p>
        </p:txBody>
      </p:sp>
      <p:sp>
        <p:nvSpPr>
          <p:cNvPr id="308" name="" descr="{&quot;isTemplate&quot;:true,&quot;type&quot;:&quot;text&quot;}"/>
          <p:cNvSpPr txBox="1"/>
          <p:nvPr/>
        </p:nvSpPr>
        <p:spPr>
          <a:xfrm rot="0" flipH="0" flipV="0">
            <a:off x="6305550" y="4324350"/>
            <a:ext cx="5114925" cy="638175"/>
          </a:xfrm>
          <a:prstGeom prst="rect"/>
        </p:spPr>
        <p:txBody>
          <a:bodyPr wrap="square" lIns="0" tIns="0" rIns="0" bIns="0">
            <a:normAutofit/>
          </a:bodyPr>
          <a:p>
            <a:pPr>
              <a:lnSpc>
                <a:spcPct val="155000"/>
              </a:lnSpc>
            </a:pPr>
            <a:r>
              <a:rPr lang="zh-CN" sz="900">
                <a:solidFill>
                  <a:srgbClr val="3A4050"/>
                </a:solidFill>
                <a:latin typeface="Microsoft YaHei"/>
                <a:ea typeface="Microsoft YaHei"/>
              </a:rPr>
              <a:t>用户报的问题、目录里看到的提示、健康检查发出的告警，都应该汇到同一个待办池，按严重级别排序，明确责任人和处理时限。处理完的结论要回写到元数据上，让下次访问同一份数据的人能看到「这个问题已确认、结论是什么」。</a:t>
            </a:r>
            <a:endParaRPr/>
          </a:p>
        </p:txBody>
      </p:sp>
      <p:sp>
        <p:nvSpPr>
          <p:cNvPr id="309"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310" name=""/>
          <p:cNvSpPr/>
          <p:nvPr/>
        </p:nvSpPr>
        <p:spPr>
          <a:xfrm rot="0" flipH="0" flipV="0">
            <a:off x="609600" y="5953125"/>
            <a:ext cx="95250" cy="95250"/>
          </a:xfrm>
          <a:prstGeom prst="rect">
            <a:avLst/>
          </a:prstGeom>
          <a:solidFill>
            <a:srgbClr val="FA4F24"/>
          </a:solidFill>
          <a:ln/>
        </p:spPr>
        <p:txBody>
          <a:bodyPr/>
          <a:p/>
        </p:txBody>
      </p:sp>
      <p:sp>
        <p:nvSpPr>
          <p:cNvPr id="311"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312"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15 / 30</a:t>
            </a:r>
            <a:endParaRPr/>
          </a:p>
        </p:txBody>
      </p:sp>
    </p:spTree>
  </p:cSld>
</p:sld>
</file>

<file path=ppt/slides/slide16.xml><?xml version="1.0" encoding="utf-8"?>
<p:sld xmlns:p="http://schemas.openxmlformats.org/presentationml/2006/main" xmlns:a="http://schemas.openxmlformats.org/drawingml/2006/main">
  <p:cSld>
    <p:spTree>
      <p:nvGrpSpPr>
        <p:cNvPr id="313" name="" descr="&lt;Slide style={{ width: 1280, height: 720, background: '#FFFFFF', padding: '24px 64px 0' }}&gt;&#10;    &lt;Box style={{ height: 96, flexDirection: 'column', justifyContent: 'flex-start' }}&gt;&#10;      &lt;Text style={{ fontSize: 32, fontWeight: 'bold', color: '#0F1423' }}&gt;&#10;        提案与审批：&lt;span style={{ color: '#FA4F24' }}&gt;把评审从「靠自觉」变成「走流程」&lt;/span&gt;&#10;      &lt;/Text&gt;&#10;      &lt;Text style={{ fontSize: 20, color: '#8A8F99', marginTop: 8 }}&gt;&#10;        策略本身是最危险的可配置项——放宽一次权限就可能无法收回，所以策略的变更必须像代码一样被评审&#10;      &lt;/Text&gt;&#10;    &lt;/Box&gt;&#10;    &lt;Box style={{ height: 1, background: '#E8E8E8' }} /&gt;&#10;&#10;    &lt;Box style={{ paddingTop: 14, paddingBottom: 8, height: 479, flexDirection: 'column', gap: 10 }}&gt;&#10;      &lt;Box style={{ height: 168, background: '#0F1423', borderRadius: 4, padding: '14px 18px', flexDirection: 'column' }}&gt;&#10;        &lt;Text style={{ fontSize: 14, fontWeight: 'bold', color: '#FBA15C' }}&gt;策略变更的六个步骤&lt;/Text&gt;&#10;        &lt;Box style={{ flex: 1, flexDirection: 'row', gap: 7, marginTop: 11 }}&gt;&#10;          {[&#10;            { n: '1', t: '开分支', d: '从主干派生一个工作分支', c: '#8A8F99' },&#10;            { n: '2', t: '改策略', d: '在分支上调整对象或属性策略', c: '#F87D2F' },&#10;            { n: '3', t: '测试', d: '选一个真实用户测他能看到什么', c: '#E0651A' },&#10;            { n: '4', t: '提提案', d: '提交进入审批流', c: '#FA4F24' },&#10;            { n: '5', t: '评审', d: '合规、数据owner、平台三方签', c: '#C43A17' },&#10;            { n: '6', t: '合并', d: '合回主干并即时生效', c: '#0F1423' },&#10;          ].map((it, i) =&gt; (&#10;            &lt;Box key={it.n} style={{ flex: 1, background: 'rgba(255,255,255,0.07)', borderRadius: 3, padding: '9px 11px', borderTop: '3px solid ' + it.c }}&gt;&#10;              &lt;Box style={{ width: 20, height: 20, background: it.c, alignItems: 'center', justifyContent: 'center' }}&gt;&#10;                &lt;Text style={{ fontSize: 11, fontWeight: 'bold', color: '#FFFFFF' }}&gt;{it.n}&lt;/Text&gt;&#10;              &lt;/Box&gt;&#10;              &lt;Text style={{ fontSize: 12.5, fontWeight: 'bold', color: '#FFFFFF', marginTop: 7 }}&gt;{it.t}&lt;/Text&gt;&#10;              &lt;Text style={{ fontSize: 10.5, color: 'rgba(255,255,255,0.6)', marginTop: 4, lineHeight: 1.4 }}&gt;{it.d}&lt;/Text&gt;&#10;            &lt;/Box&gt;&#10;          ))}&#10;        &lt;/Box&gt;&#10;        &lt;Text style={{ fontSize: 11.5, color: 'rgba(255,255,255,0.72)', marginTop: 11, lineHeight: 1.5 }}&gt;&#10;          关键在于平台层面的强制：提案的创建、评审、合并这一整条生命周期由平台管，不依赖某个人记得要走流程。这样影子 IT 和未经授权的变更在结构上就不可能发生。&#10;        &lt;/Text&gt;&#10;      &lt;/Box&gt;&#10;&#10;      &lt;Box style={{ flex: 1, flexDirection: 'row', gap: 10 }}&gt;&#10;        &lt;Box style={{ flex: 1, background: '#FFF3EE', borderRadius: 4, borderLeft: '4px solid #FA4F24', padding: '13px 17px', flexDirection: 'column' }}&gt;&#10;          &lt;Text style={{ fontSize: 14, fontWeight: 'bold', color: '#C43A17' }}&gt;策略评审要看的四件事&lt;/Text&gt;&#10;          &lt;Box style={{ flex: 1, flexDirection: 'column', marginTop: 9 }}&gt;&#10;            {[&#10;              { b: '放宽了谁', d: '这次变更让哪些原本看不到的人或组能看到哪些属性' },&#10;              { b: '收紧了谁', d: '有没有人在这次变更中突然失去了原有的访问权' },&#10;              { b: '影响哪些对象', d: '这个对象类型被哪些应用、动作、接口使用，影响面有多大' },&#10;              { b: '能不能退', d: '合并后如何回退，回退需要多久，生效需要多久' },&#10;            ].map((it, i) =&gt; (&#10;              &lt;Box key={it.b} style={{ flex: 1, flexDirection: 'row', alignItems: 'center', gap: 12, borderTop: i === 0 ? 'none' : '1px solid #FBA15C' }}&gt;&#10;                &lt;Box style={{ width: 78, height: 24, background: '#FA4F24', alignItems: 'center', justifyContent: 'center' }}&gt;&#10;                  &lt;Text style={{ fontSize: 11, fontWeight: 'bold', color: '#FFFFFF' }}&gt;{it.b}&lt;/Text&gt;&#10;                &lt;/Box&gt;&#10;                &lt;Text style={{ fontSize: 11.5, color: '#3A4050', flex: 1, lineHeight: 1.45 }}&gt;{it.d}&lt;/Text&gt;&#10;              &lt;/Box&gt;&#10;            ))}&#10;          &lt;/Box&gt;&#10;        &lt;/Box&gt;&#10;&#10;        &lt;Box style={{ flex: 1, background: '#F7F7F8', borderRadius: 4, padding: '13px 17px', flexDirection: 'column', justifyContent: 'center' }}&gt;&#10;          &lt;Text style={{ fontSize: 14, fontWeight: 'bold', color: '#0F1423' }}&gt;策略测试：2026 年六月才有的能力&lt;/Text&gt;&#10;          &lt;Text style={{ fontSize: 12, color: '#3A4050', marginTop: 7, lineHeight: 1.55 }}&gt;&#10;            在本体管理器里可以对对象与属性安全策略做测试：选一个用户，测他能看到这个对象的哪些属性。这解决了策略设计最难的环节——策略写对了不等于效果对，必须用真实身份验一遍。&#10;          &lt;/Text&gt;&#10;          &lt;Box style={{ background: '#FFFFFF', borderRadius: 3, padding: '9px 12px', marginTop: 9 }}&gt;&#10;            &lt;Text style={{ fontSize: 11.5, fontWeight: 'bold', color: '#E0651A' }}&gt;两个已知限制&lt;/Text&gt;&#10;            &lt;Text style={{ fontSize: 11.5, color: '#3A4050', marginTop: 5, lineHeight: 1.5 }}&gt;&#10;              一、派生属性的可见性测不了，因为它同时依赖用户对派生属性来源对象的可见性。二、测试者若既不是被引用组织的成员也不是管理员，访客成员与次级组织不会计入，平台会用提示明确列出你没有权限的组织。&#10;            &lt;/Text&gt;&#10;          &lt;/Box&gt;&#10;        &lt;/Box&gt;&#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16 / 30&lt;/Text&gt;&#10;    &lt;/Box&gt;&#10;&lt;/Slide&gt;&#10;"/>
        <p:cNvGrpSpPr/>
        <p:nvPr/>
      </p:nvGrpSpPr>
      <p:grpSpPr>
        <a:xfrm>
          <a:off x="0" y="0"/>
          <a:ext cx="0" cy="0"/>
          <a:chOff x="0" y="0"/>
          <a:chExt cx="0" cy="0"/>
        </a:xfrm>
      </p:grpSpPr>
      <p:sp>
        <p:nvSpPr>
          <p:cNvPr id="314" name=""/>
          <p:cNvSpPr/>
          <p:nvPr/>
        </p:nvSpPr>
        <p:spPr>
          <a:xfrm rot="0" flipH="0" flipV="0">
            <a:off x="0" y="0"/>
            <a:ext cx="12192000" cy="6858000"/>
          </a:xfrm>
          <a:prstGeom prst="rect">
            <a:avLst/>
          </a:prstGeom>
          <a:solidFill>
            <a:srgbClr val="FFFFFF"/>
          </a:solidFill>
          <a:ln/>
        </p:spPr>
        <p:txBody>
          <a:bodyPr/>
          <a:p/>
        </p:txBody>
      </p:sp>
      <p:sp>
        <p:nvSpPr>
          <p:cNvPr id="315"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提案与审批：</a:t>
            </a:r>
            <a:r>
              <a:rPr lang="zh-CN" sz="2400" b="1">
                <a:solidFill>
                  <a:srgbClr val="FA4F24"/>
                </a:solidFill>
                <a:latin typeface="Microsoft YaHei"/>
                <a:ea typeface="Microsoft YaHei"/>
              </a:rPr>
              <a:t>把评审从「靠自觉」变成「走流程」</a:t>
            </a:r>
            <a:endParaRPr/>
          </a:p>
        </p:txBody>
      </p:sp>
      <p:sp>
        <p:nvSpPr>
          <p:cNvPr id="316"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策略本身是最危险的可配置项——放宽一次权限就可能无法收回，所以策略的变更必须像代码一样被评审</a:t>
            </a:r>
            <a:endParaRPr/>
          </a:p>
        </p:txBody>
      </p:sp>
      <p:sp>
        <p:nvSpPr>
          <p:cNvPr id="317" name=""/>
          <p:cNvSpPr/>
          <p:nvPr/>
        </p:nvSpPr>
        <p:spPr>
          <a:xfrm rot="0" flipH="0" flipV="0">
            <a:off x="609600" y="1143000"/>
            <a:ext cx="10972800" cy="9525"/>
          </a:xfrm>
          <a:prstGeom prst="rect">
            <a:avLst/>
          </a:prstGeom>
          <a:solidFill>
            <a:srgbClr val="E8E8E8"/>
          </a:solidFill>
          <a:ln/>
        </p:spPr>
        <p:txBody>
          <a:bodyPr/>
          <a:p/>
        </p:txBody>
      </p:sp>
      <p:sp>
        <p:nvSpPr>
          <p:cNvPr id="318" name=""/>
          <p:cNvSpPr/>
          <p:nvPr/>
        </p:nvSpPr>
        <p:spPr>
          <a:xfrm rot="0" flipH="0" flipV="0">
            <a:off x="609600" y="1285875"/>
            <a:ext cx="10972800" cy="1600200"/>
          </a:xfrm>
          <a:prstGeom prst="roundRect">
            <a:avLst>
              <a:gd name="adj" fmla="val 2381"/>
            </a:avLst>
          </a:prstGeom>
          <a:solidFill>
            <a:srgbClr val="0F1423"/>
          </a:solidFill>
          <a:ln/>
        </p:spPr>
        <p:txBody>
          <a:bodyPr/>
          <a:p/>
        </p:txBody>
      </p:sp>
      <p:sp>
        <p:nvSpPr>
          <p:cNvPr id="319" name="" descr="{&quot;isTemplate&quot;:true,&quot;type&quot;:&quot;text&quot;}"/>
          <p:cNvSpPr txBox="1"/>
          <p:nvPr/>
        </p:nvSpPr>
        <p:spPr>
          <a:xfrm rot="0" flipH="0" flipV="0">
            <a:off x="781050" y="1419225"/>
            <a:ext cx="10629900" cy="161925"/>
          </a:xfrm>
          <a:prstGeom prst="rect"/>
        </p:spPr>
        <p:txBody>
          <a:bodyPr wrap="none" lIns="0" tIns="0" rIns="0" bIns="0"/>
          <a:p>
            <a:pPr>
              <a:lnSpc>
                <a:spcPct val="100000"/>
              </a:lnSpc>
            </a:pPr>
            <a:r>
              <a:rPr lang="zh-CN" sz="1050" b="1">
                <a:solidFill>
                  <a:srgbClr val="FBA15C"/>
                </a:solidFill>
                <a:latin typeface="Microsoft YaHei"/>
                <a:ea typeface="Microsoft YaHei"/>
              </a:rPr>
              <a:t>策略变更的六个步骤</a:t>
            </a:r>
            <a:endParaRPr/>
          </a:p>
        </p:txBody>
      </p:sp>
      <p:sp>
        <p:nvSpPr>
          <p:cNvPr id="320" name=""/>
          <p:cNvSpPr/>
          <p:nvPr/>
        </p:nvSpPr>
        <p:spPr>
          <a:xfrm rot="0" flipH="0" flipV="0">
            <a:off x="781050" y="1714500"/>
            <a:ext cx="1714500" cy="809625"/>
          </a:xfrm>
          <a:prstGeom prst="roundRect">
            <a:avLst>
              <a:gd name="adj" fmla="val 3529"/>
            </a:avLst>
          </a:prstGeom>
          <a:solidFill>
            <a:srgbClr val="FFFFFF">
              <a:alpha val="7000"/>
            </a:srgbClr>
          </a:solidFill>
          <a:ln/>
        </p:spPr>
        <p:txBody>
          <a:bodyPr/>
          <a:p/>
        </p:txBody>
      </p:sp>
      <p:sp>
        <p:nvSpPr>
          <p:cNvPr id="321" name=""/>
          <p:cNvSpPr/>
          <p:nvPr/>
        </p:nvSpPr>
        <p:spPr>
          <a:xfrm rot="0" flipH="0" flipV="0">
            <a:off x="781050" y="1714500"/>
            <a:ext cx="1714500" cy="809625"/>
          </a:xfrm>
          <a:custGeom>
            <a:pathLst>
              <a:path w="180" h="85">
                <a:moveTo>
                  <a:pt x="177" y="0"/>
                </a:moveTo>
                <a:cubicBezTo>
                  <a:pt x="179" y="0"/>
                  <a:pt x="180" y="1"/>
                  <a:pt x="180" y="3"/>
                </a:cubicBezTo>
                <a:lnTo>
                  <a:pt x="0" y="3"/>
                </a:lnTo>
                <a:cubicBezTo>
                  <a:pt x="0" y="1"/>
                  <a:pt x="1" y="0"/>
                  <a:pt x="3" y="0"/>
                </a:cubicBezTo>
                <a:lnTo>
                  <a:pt x="177" y="0"/>
                </a:lnTo>
                <a:close/>
              </a:path>
            </a:pathLst>
          </a:custGeom>
          <a:solidFill>
            <a:srgbClr val="8A8F99"/>
          </a:solidFill>
          <a:ln/>
        </p:spPr>
        <p:txBody>
          <a:bodyPr/>
          <a:p/>
        </p:txBody>
      </p:sp>
      <p:sp>
        <p:nvSpPr>
          <p:cNvPr id="322" name=""/>
          <p:cNvSpPr/>
          <p:nvPr/>
        </p:nvSpPr>
        <p:spPr>
          <a:xfrm rot="0" flipH="0" flipV="0">
            <a:off x="885825" y="1800225"/>
            <a:ext cx="190500" cy="190500"/>
          </a:xfrm>
          <a:prstGeom prst="rect">
            <a:avLst/>
          </a:prstGeom>
          <a:solidFill>
            <a:srgbClr val="8A8F99"/>
          </a:solidFill>
          <a:ln/>
        </p:spPr>
        <p:txBody>
          <a:bodyPr/>
          <a:p/>
        </p:txBody>
      </p:sp>
      <p:sp>
        <p:nvSpPr>
          <p:cNvPr id="323" name="" descr="{&quot;isTemplate&quot;:true,&quot;type&quot;:&quot;text&quot;}"/>
          <p:cNvSpPr txBox="1"/>
          <p:nvPr/>
        </p:nvSpPr>
        <p:spPr>
          <a:xfrm rot="0" flipH="0" flipV="0">
            <a:off x="952500" y="1828800"/>
            <a:ext cx="66675" cy="133350"/>
          </a:xfrm>
          <a:prstGeom prst="rect"/>
        </p:spPr>
        <p:txBody>
          <a:bodyPr wrap="none" lIns="0" tIns="0" rIns="0" bIns="0"/>
          <a:p>
            <a:pPr>
              <a:lnSpc>
                <a:spcPct val="100000"/>
              </a:lnSpc>
            </a:pPr>
            <a:r>
              <a:rPr lang="en-US" sz="825" b="1">
                <a:solidFill>
                  <a:srgbClr val="FFFFFF"/>
                </a:solidFill>
                <a:latin typeface="Microsoft YaHei"/>
                <a:ea typeface="Microsoft YaHei"/>
              </a:rPr>
              <a:t>1</a:t>
            </a:r>
            <a:endParaRPr/>
          </a:p>
        </p:txBody>
      </p:sp>
      <p:sp>
        <p:nvSpPr>
          <p:cNvPr id="324" name="" descr="{&quot;isTemplate&quot;:true,&quot;type&quot;:&quot;text&quot;}"/>
          <p:cNvSpPr txBox="1"/>
          <p:nvPr/>
        </p:nvSpPr>
        <p:spPr>
          <a:xfrm rot="0" flipH="0" flipV="0">
            <a:off x="885825" y="2057400"/>
            <a:ext cx="1504950" cy="142875"/>
          </a:xfrm>
          <a:prstGeom prst="rect"/>
        </p:spPr>
        <p:txBody>
          <a:bodyPr wrap="none" lIns="0" tIns="0" rIns="0" bIns="0"/>
          <a:p>
            <a:pPr>
              <a:lnSpc>
                <a:spcPct val="100000"/>
              </a:lnSpc>
            </a:pPr>
            <a:r>
              <a:rPr lang="zh-CN" sz="938" b="1">
                <a:solidFill>
                  <a:srgbClr val="FFFFFF"/>
                </a:solidFill>
                <a:latin typeface="Microsoft YaHei"/>
                <a:ea typeface="Microsoft YaHei"/>
              </a:rPr>
              <a:t>开分支</a:t>
            </a:r>
            <a:endParaRPr/>
          </a:p>
        </p:txBody>
      </p:sp>
      <p:sp>
        <p:nvSpPr>
          <p:cNvPr id="325" name="" descr="{&quot;isTemplate&quot;:true,&quot;type&quot;:&quot;text&quot;}"/>
          <p:cNvSpPr txBox="1"/>
          <p:nvPr/>
        </p:nvSpPr>
        <p:spPr>
          <a:xfrm rot="0" flipH="0" flipV="0">
            <a:off x="885825" y="2238375"/>
            <a:ext cx="1504950" cy="171450"/>
          </a:xfrm>
          <a:prstGeom prst="rect"/>
        </p:spPr>
        <p:txBody>
          <a:bodyPr wrap="none" lIns="0" tIns="0" rIns="0" bIns="0"/>
          <a:p>
            <a:pPr>
              <a:lnSpc>
                <a:spcPct val="140000"/>
              </a:lnSpc>
            </a:pPr>
            <a:r>
              <a:rPr lang="zh-CN" sz="788">
                <a:solidFill>
                  <a:srgbClr val="FFFFFF">
                    <a:alpha val="60000"/>
                  </a:srgbClr>
                </a:solidFill>
                <a:latin typeface="Microsoft YaHei"/>
                <a:ea typeface="Microsoft YaHei"/>
              </a:rPr>
              <a:t>从主干派生一个工作分支</a:t>
            </a:r>
            <a:endParaRPr/>
          </a:p>
        </p:txBody>
      </p:sp>
      <p:sp>
        <p:nvSpPr>
          <p:cNvPr id="326" name=""/>
          <p:cNvSpPr/>
          <p:nvPr/>
        </p:nvSpPr>
        <p:spPr>
          <a:xfrm rot="0" flipH="0" flipV="0">
            <a:off x="2562225" y="1714500"/>
            <a:ext cx="1714500" cy="809625"/>
          </a:xfrm>
          <a:prstGeom prst="roundRect">
            <a:avLst>
              <a:gd name="adj" fmla="val 3529"/>
            </a:avLst>
          </a:prstGeom>
          <a:solidFill>
            <a:srgbClr val="FFFFFF">
              <a:alpha val="7000"/>
            </a:srgbClr>
          </a:solidFill>
          <a:ln/>
        </p:spPr>
        <p:txBody>
          <a:bodyPr/>
          <a:p/>
        </p:txBody>
      </p:sp>
      <p:sp>
        <p:nvSpPr>
          <p:cNvPr id="327" name=""/>
          <p:cNvSpPr/>
          <p:nvPr/>
        </p:nvSpPr>
        <p:spPr>
          <a:xfrm rot="0" flipH="0" flipV="0">
            <a:off x="2562225" y="1714500"/>
            <a:ext cx="1714500" cy="809625"/>
          </a:xfrm>
          <a:custGeom>
            <a:pathLst>
              <a:path w="180" h="85">
                <a:moveTo>
                  <a:pt x="177" y="0"/>
                </a:moveTo>
                <a:cubicBezTo>
                  <a:pt x="179" y="0"/>
                  <a:pt x="180" y="1"/>
                  <a:pt x="180" y="3"/>
                </a:cubicBezTo>
                <a:lnTo>
                  <a:pt x="0" y="3"/>
                </a:lnTo>
                <a:cubicBezTo>
                  <a:pt x="0" y="1"/>
                  <a:pt x="1" y="0"/>
                  <a:pt x="3" y="0"/>
                </a:cubicBezTo>
                <a:lnTo>
                  <a:pt x="177" y="0"/>
                </a:lnTo>
                <a:close/>
              </a:path>
            </a:pathLst>
          </a:custGeom>
          <a:solidFill>
            <a:srgbClr val="F87D2F"/>
          </a:solidFill>
          <a:ln/>
        </p:spPr>
        <p:txBody>
          <a:bodyPr/>
          <a:p/>
        </p:txBody>
      </p:sp>
      <p:sp>
        <p:nvSpPr>
          <p:cNvPr id="328" name=""/>
          <p:cNvSpPr/>
          <p:nvPr/>
        </p:nvSpPr>
        <p:spPr>
          <a:xfrm rot="0" flipH="0" flipV="0">
            <a:off x="2667000" y="1800225"/>
            <a:ext cx="190500" cy="190500"/>
          </a:xfrm>
          <a:prstGeom prst="rect">
            <a:avLst/>
          </a:prstGeom>
          <a:solidFill>
            <a:srgbClr val="F87D2F"/>
          </a:solidFill>
          <a:ln/>
        </p:spPr>
        <p:txBody>
          <a:bodyPr/>
          <a:p/>
        </p:txBody>
      </p:sp>
      <p:sp>
        <p:nvSpPr>
          <p:cNvPr id="329" name="" descr="{&quot;isTemplate&quot;:true,&quot;type&quot;:&quot;text&quot;}"/>
          <p:cNvSpPr txBox="1"/>
          <p:nvPr/>
        </p:nvSpPr>
        <p:spPr>
          <a:xfrm rot="0" flipH="0" flipV="0">
            <a:off x="2733675" y="1828800"/>
            <a:ext cx="66675" cy="133350"/>
          </a:xfrm>
          <a:prstGeom prst="rect"/>
        </p:spPr>
        <p:txBody>
          <a:bodyPr wrap="none" lIns="0" tIns="0" rIns="0" bIns="0"/>
          <a:p>
            <a:pPr>
              <a:lnSpc>
                <a:spcPct val="100000"/>
              </a:lnSpc>
            </a:pPr>
            <a:r>
              <a:rPr lang="en-US" sz="825" b="1">
                <a:solidFill>
                  <a:srgbClr val="FFFFFF"/>
                </a:solidFill>
                <a:latin typeface="Microsoft YaHei"/>
                <a:ea typeface="Microsoft YaHei"/>
              </a:rPr>
              <a:t>2</a:t>
            </a:r>
            <a:endParaRPr/>
          </a:p>
        </p:txBody>
      </p:sp>
      <p:sp>
        <p:nvSpPr>
          <p:cNvPr id="330" name="" descr="{&quot;isTemplate&quot;:true,&quot;type&quot;:&quot;text&quot;}"/>
          <p:cNvSpPr txBox="1"/>
          <p:nvPr/>
        </p:nvSpPr>
        <p:spPr>
          <a:xfrm rot="0" flipH="0" flipV="0">
            <a:off x="2667000" y="2057400"/>
            <a:ext cx="1504950" cy="142875"/>
          </a:xfrm>
          <a:prstGeom prst="rect"/>
        </p:spPr>
        <p:txBody>
          <a:bodyPr wrap="none" lIns="0" tIns="0" rIns="0" bIns="0"/>
          <a:p>
            <a:pPr>
              <a:lnSpc>
                <a:spcPct val="100000"/>
              </a:lnSpc>
            </a:pPr>
            <a:r>
              <a:rPr lang="zh-CN" sz="938" b="1">
                <a:solidFill>
                  <a:srgbClr val="FFFFFF"/>
                </a:solidFill>
                <a:latin typeface="Microsoft YaHei"/>
                <a:ea typeface="Microsoft YaHei"/>
              </a:rPr>
              <a:t>改策略</a:t>
            </a:r>
            <a:endParaRPr/>
          </a:p>
        </p:txBody>
      </p:sp>
      <p:sp>
        <p:nvSpPr>
          <p:cNvPr id="331" name="" descr="{&quot;isTemplate&quot;:true,&quot;type&quot;:&quot;text&quot;}"/>
          <p:cNvSpPr txBox="1"/>
          <p:nvPr/>
        </p:nvSpPr>
        <p:spPr>
          <a:xfrm rot="0" flipH="0" flipV="0">
            <a:off x="2667000" y="2238375"/>
            <a:ext cx="1504950" cy="171450"/>
          </a:xfrm>
          <a:prstGeom prst="rect"/>
        </p:spPr>
        <p:txBody>
          <a:bodyPr wrap="none" lIns="0" tIns="0" rIns="0" bIns="0"/>
          <a:p>
            <a:pPr>
              <a:lnSpc>
                <a:spcPct val="140000"/>
              </a:lnSpc>
            </a:pPr>
            <a:r>
              <a:rPr lang="zh-CN" sz="788">
                <a:solidFill>
                  <a:srgbClr val="FFFFFF">
                    <a:alpha val="60000"/>
                  </a:srgbClr>
                </a:solidFill>
                <a:latin typeface="Microsoft YaHei"/>
                <a:ea typeface="Microsoft YaHei"/>
              </a:rPr>
              <a:t>在分支上调整对象或属性策略</a:t>
            </a:r>
            <a:endParaRPr/>
          </a:p>
        </p:txBody>
      </p:sp>
      <p:sp>
        <p:nvSpPr>
          <p:cNvPr id="332" name=""/>
          <p:cNvSpPr/>
          <p:nvPr/>
        </p:nvSpPr>
        <p:spPr>
          <a:xfrm rot="0" flipH="0" flipV="0">
            <a:off x="4343400" y="1714500"/>
            <a:ext cx="1724025" cy="809625"/>
          </a:xfrm>
          <a:prstGeom prst="roundRect">
            <a:avLst>
              <a:gd name="adj" fmla="val 3529"/>
            </a:avLst>
          </a:prstGeom>
          <a:solidFill>
            <a:srgbClr val="FFFFFF">
              <a:alpha val="7000"/>
            </a:srgbClr>
          </a:solidFill>
          <a:ln/>
        </p:spPr>
        <p:txBody>
          <a:bodyPr/>
          <a:p/>
        </p:txBody>
      </p:sp>
      <p:sp>
        <p:nvSpPr>
          <p:cNvPr id="333" name=""/>
          <p:cNvSpPr/>
          <p:nvPr/>
        </p:nvSpPr>
        <p:spPr>
          <a:xfrm rot="0" flipH="0" flipV="0">
            <a:off x="4343400" y="1714500"/>
            <a:ext cx="1724025" cy="809625"/>
          </a:xfrm>
          <a:custGeom>
            <a:pathLst>
              <a:path w="181" h="85">
                <a:moveTo>
                  <a:pt x="178" y="0"/>
                </a:moveTo>
                <a:cubicBezTo>
                  <a:pt x="180" y="0"/>
                  <a:pt x="181" y="1"/>
                  <a:pt x="181" y="3"/>
                </a:cubicBezTo>
                <a:lnTo>
                  <a:pt x="0" y="3"/>
                </a:lnTo>
                <a:cubicBezTo>
                  <a:pt x="0" y="1"/>
                  <a:pt x="1" y="0"/>
                  <a:pt x="3" y="0"/>
                </a:cubicBezTo>
                <a:lnTo>
                  <a:pt x="178" y="0"/>
                </a:lnTo>
                <a:close/>
              </a:path>
            </a:pathLst>
          </a:custGeom>
          <a:solidFill>
            <a:srgbClr val="E0651A"/>
          </a:solidFill>
          <a:ln/>
        </p:spPr>
        <p:txBody>
          <a:bodyPr/>
          <a:p/>
        </p:txBody>
      </p:sp>
      <p:sp>
        <p:nvSpPr>
          <p:cNvPr id="334" name=""/>
          <p:cNvSpPr/>
          <p:nvPr/>
        </p:nvSpPr>
        <p:spPr>
          <a:xfrm rot="0" flipH="0" flipV="0">
            <a:off x="4448175" y="1800225"/>
            <a:ext cx="190500" cy="190500"/>
          </a:xfrm>
          <a:prstGeom prst="rect">
            <a:avLst/>
          </a:prstGeom>
          <a:solidFill>
            <a:srgbClr val="E0651A"/>
          </a:solidFill>
          <a:ln/>
        </p:spPr>
        <p:txBody>
          <a:bodyPr/>
          <a:p/>
        </p:txBody>
      </p:sp>
      <p:sp>
        <p:nvSpPr>
          <p:cNvPr id="335" name="" descr="{&quot;isTemplate&quot;:true,&quot;type&quot;:&quot;text&quot;}"/>
          <p:cNvSpPr txBox="1"/>
          <p:nvPr/>
        </p:nvSpPr>
        <p:spPr>
          <a:xfrm rot="0" flipH="0" flipV="0">
            <a:off x="4514850" y="1828800"/>
            <a:ext cx="66675" cy="133350"/>
          </a:xfrm>
          <a:prstGeom prst="rect"/>
        </p:spPr>
        <p:txBody>
          <a:bodyPr wrap="none" lIns="0" tIns="0" rIns="0" bIns="0"/>
          <a:p>
            <a:pPr>
              <a:lnSpc>
                <a:spcPct val="100000"/>
              </a:lnSpc>
            </a:pPr>
            <a:r>
              <a:rPr lang="en-US" sz="825" b="1">
                <a:solidFill>
                  <a:srgbClr val="FFFFFF"/>
                </a:solidFill>
                <a:latin typeface="Microsoft YaHei"/>
                <a:ea typeface="Microsoft YaHei"/>
              </a:rPr>
              <a:t>3</a:t>
            </a:r>
            <a:endParaRPr/>
          </a:p>
        </p:txBody>
      </p:sp>
      <p:sp>
        <p:nvSpPr>
          <p:cNvPr id="336" name="" descr="{&quot;isTemplate&quot;:true,&quot;type&quot;:&quot;text&quot;}"/>
          <p:cNvSpPr txBox="1"/>
          <p:nvPr/>
        </p:nvSpPr>
        <p:spPr>
          <a:xfrm rot="0" flipH="0" flipV="0">
            <a:off x="4448175" y="2057400"/>
            <a:ext cx="1514475" cy="142875"/>
          </a:xfrm>
          <a:prstGeom prst="rect"/>
        </p:spPr>
        <p:txBody>
          <a:bodyPr wrap="none" lIns="0" tIns="0" rIns="0" bIns="0"/>
          <a:p>
            <a:pPr>
              <a:lnSpc>
                <a:spcPct val="100000"/>
              </a:lnSpc>
            </a:pPr>
            <a:r>
              <a:rPr lang="zh-CN" sz="938" b="1">
                <a:solidFill>
                  <a:srgbClr val="FFFFFF"/>
                </a:solidFill>
                <a:latin typeface="Microsoft YaHei"/>
                <a:ea typeface="Microsoft YaHei"/>
              </a:rPr>
              <a:t>测试</a:t>
            </a:r>
            <a:endParaRPr/>
          </a:p>
        </p:txBody>
      </p:sp>
      <p:sp>
        <p:nvSpPr>
          <p:cNvPr id="337" name="" descr="{&quot;isTemplate&quot;:true,&quot;type&quot;:&quot;text&quot;}"/>
          <p:cNvSpPr txBox="1"/>
          <p:nvPr/>
        </p:nvSpPr>
        <p:spPr>
          <a:xfrm rot="0" flipH="0" flipV="0">
            <a:off x="4448175" y="2238375"/>
            <a:ext cx="1514475" cy="171450"/>
          </a:xfrm>
          <a:prstGeom prst="rect"/>
        </p:spPr>
        <p:txBody>
          <a:bodyPr wrap="none" lIns="0" tIns="0" rIns="0" bIns="0"/>
          <a:p>
            <a:pPr>
              <a:lnSpc>
                <a:spcPct val="140000"/>
              </a:lnSpc>
            </a:pPr>
            <a:r>
              <a:rPr lang="zh-CN" sz="788">
                <a:solidFill>
                  <a:srgbClr val="FFFFFF">
                    <a:alpha val="60000"/>
                  </a:srgbClr>
                </a:solidFill>
                <a:latin typeface="Microsoft YaHei"/>
                <a:ea typeface="Microsoft YaHei"/>
              </a:rPr>
              <a:t>选一个真实用户测他能看到什么</a:t>
            </a:r>
            <a:endParaRPr/>
          </a:p>
        </p:txBody>
      </p:sp>
      <p:sp>
        <p:nvSpPr>
          <p:cNvPr id="338" name=""/>
          <p:cNvSpPr/>
          <p:nvPr/>
        </p:nvSpPr>
        <p:spPr>
          <a:xfrm rot="0" flipH="0" flipV="0">
            <a:off x="6134100" y="1714500"/>
            <a:ext cx="1714500" cy="809625"/>
          </a:xfrm>
          <a:prstGeom prst="roundRect">
            <a:avLst>
              <a:gd name="adj" fmla="val 3529"/>
            </a:avLst>
          </a:prstGeom>
          <a:solidFill>
            <a:srgbClr val="FFFFFF">
              <a:alpha val="7000"/>
            </a:srgbClr>
          </a:solidFill>
          <a:ln/>
        </p:spPr>
        <p:txBody>
          <a:bodyPr/>
          <a:p/>
        </p:txBody>
      </p:sp>
      <p:sp>
        <p:nvSpPr>
          <p:cNvPr id="339" name=""/>
          <p:cNvSpPr/>
          <p:nvPr/>
        </p:nvSpPr>
        <p:spPr>
          <a:xfrm rot="0" flipH="0" flipV="0">
            <a:off x="6134100" y="1714500"/>
            <a:ext cx="1714500" cy="809625"/>
          </a:xfrm>
          <a:custGeom>
            <a:pathLst>
              <a:path w="180" h="85">
                <a:moveTo>
                  <a:pt x="177" y="0"/>
                </a:moveTo>
                <a:cubicBezTo>
                  <a:pt x="179" y="0"/>
                  <a:pt x="180" y="1"/>
                  <a:pt x="180" y="3"/>
                </a:cubicBezTo>
                <a:lnTo>
                  <a:pt x="0" y="3"/>
                </a:lnTo>
                <a:cubicBezTo>
                  <a:pt x="0" y="1"/>
                  <a:pt x="1" y="0"/>
                  <a:pt x="3" y="0"/>
                </a:cubicBezTo>
                <a:lnTo>
                  <a:pt x="177" y="0"/>
                </a:lnTo>
                <a:close/>
              </a:path>
            </a:pathLst>
          </a:custGeom>
          <a:solidFill>
            <a:srgbClr val="FA4F24"/>
          </a:solidFill>
          <a:ln/>
        </p:spPr>
        <p:txBody>
          <a:bodyPr/>
          <a:p/>
        </p:txBody>
      </p:sp>
      <p:sp>
        <p:nvSpPr>
          <p:cNvPr id="340" name=""/>
          <p:cNvSpPr/>
          <p:nvPr/>
        </p:nvSpPr>
        <p:spPr>
          <a:xfrm rot="0" flipH="0" flipV="0">
            <a:off x="6238875" y="1800225"/>
            <a:ext cx="190500" cy="190500"/>
          </a:xfrm>
          <a:prstGeom prst="rect">
            <a:avLst/>
          </a:prstGeom>
          <a:solidFill>
            <a:srgbClr val="FA4F24"/>
          </a:solidFill>
          <a:ln/>
        </p:spPr>
        <p:txBody>
          <a:bodyPr/>
          <a:p/>
        </p:txBody>
      </p:sp>
      <p:sp>
        <p:nvSpPr>
          <p:cNvPr id="341" name="" descr="{&quot;isTemplate&quot;:true,&quot;type&quot;:&quot;text&quot;}"/>
          <p:cNvSpPr txBox="1"/>
          <p:nvPr/>
        </p:nvSpPr>
        <p:spPr>
          <a:xfrm rot="0" flipH="0" flipV="0">
            <a:off x="6305550" y="1828800"/>
            <a:ext cx="66675" cy="133350"/>
          </a:xfrm>
          <a:prstGeom prst="rect"/>
        </p:spPr>
        <p:txBody>
          <a:bodyPr wrap="none" lIns="0" tIns="0" rIns="0" bIns="0"/>
          <a:p>
            <a:pPr>
              <a:lnSpc>
                <a:spcPct val="100000"/>
              </a:lnSpc>
            </a:pPr>
            <a:r>
              <a:rPr lang="en-US" sz="825" b="1">
                <a:solidFill>
                  <a:srgbClr val="FFFFFF"/>
                </a:solidFill>
                <a:latin typeface="Microsoft YaHei"/>
                <a:ea typeface="Microsoft YaHei"/>
              </a:rPr>
              <a:t>4</a:t>
            </a:r>
            <a:endParaRPr/>
          </a:p>
        </p:txBody>
      </p:sp>
      <p:sp>
        <p:nvSpPr>
          <p:cNvPr id="342" name="" descr="{&quot;isTemplate&quot;:true,&quot;type&quot;:&quot;text&quot;}"/>
          <p:cNvSpPr txBox="1"/>
          <p:nvPr/>
        </p:nvSpPr>
        <p:spPr>
          <a:xfrm rot="0" flipH="0" flipV="0">
            <a:off x="6238875" y="2057400"/>
            <a:ext cx="1504950" cy="142875"/>
          </a:xfrm>
          <a:prstGeom prst="rect"/>
        </p:spPr>
        <p:txBody>
          <a:bodyPr wrap="none" lIns="0" tIns="0" rIns="0" bIns="0"/>
          <a:p>
            <a:pPr>
              <a:lnSpc>
                <a:spcPct val="100000"/>
              </a:lnSpc>
            </a:pPr>
            <a:r>
              <a:rPr lang="zh-CN" sz="938" b="1">
                <a:solidFill>
                  <a:srgbClr val="FFFFFF"/>
                </a:solidFill>
                <a:latin typeface="Microsoft YaHei"/>
                <a:ea typeface="Microsoft YaHei"/>
              </a:rPr>
              <a:t>提提案</a:t>
            </a:r>
            <a:endParaRPr/>
          </a:p>
        </p:txBody>
      </p:sp>
      <p:sp>
        <p:nvSpPr>
          <p:cNvPr id="343" name="" descr="{&quot;isTemplate&quot;:true,&quot;type&quot;:&quot;text&quot;}"/>
          <p:cNvSpPr txBox="1"/>
          <p:nvPr/>
        </p:nvSpPr>
        <p:spPr>
          <a:xfrm rot="0" flipH="0" flipV="0">
            <a:off x="6238875" y="2238375"/>
            <a:ext cx="1504950" cy="171450"/>
          </a:xfrm>
          <a:prstGeom prst="rect"/>
        </p:spPr>
        <p:txBody>
          <a:bodyPr wrap="none" lIns="0" tIns="0" rIns="0" bIns="0"/>
          <a:p>
            <a:pPr>
              <a:lnSpc>
                <a:spcPct val="140000"/>
              </a:lnSpc>
            </a:pPr>
            <a:r>
              <a:rPr lang="zh-CN" sz="788">
                <a:solidFill>
                  <a:srgbClr val="FFFFFF">
                    <a:alpha val="60000"/>
                  </a:srgbClr>
                </a:solidFill>
                <a:latin typeface="Microsoft YaHei"/>
                <a:ea typeface="Microsoft YaHei"/>
              </a:rPr>
              <a:t>提交进入审批流</a:t>
            </a:r>
            <a:endParaRPr/>
          </a:p>
        </p:txBody>
      </p:sp>
      <p:sp>
        <p:nvSpPr>
          <p:cNvPr id="344" name=""/>
          <p:cNvSpPr/>
          <p:nvPr/>
        </p:nvSpPr>
        <p:spPr>
          <a:xfrm rot="0" flipH="0" flipV="0">
            <a:off x="7915275" y="1714500"/>
            <a:ext cx="1714500" cy="809625"/>
          </a:xfrm>
          <a:prstGeom prst="roundRect">
            <a:avLst>
              <a:gd name="adj" fmla="val 3529"/>
            </a:avLst>
          </a:prstGeom>
          <a:solidFill>
            <a:srgbClr val="FFFFFF">
              <a:alpha val="7000"/>
            </a:srgbClr>
          </a:solidFill>
          <a:ln/>
        </p:spPr>
        <p:txBody>
          <a:bodyPr/>
          <a:p/>
        </p:txBody>
      </p:sp>
      <p:sp>
        <p:nvSpPr>
          <p:cNvPr id="345" name=""/>
          <p:cNvSpPr/>
          <p:nvPr/>
        </p:nvSpPr>
        <p:spPr>
          <a:xfrm rot="0" flipH="0" flipV="0">
            <a:off x="7915275" y="1714500"/>
            <a:ext cx="1714500" cy="809625"/>
          </a:xfrm>
          <a:custGeom>
            <a:pathLst>
              <a:path w="180" h="85">
                <a:moveTo>
                  <a:pt x="177" y="0"/>
                </a:moveTo>
                <a:cubicBezTo>
                  <a:pt x="179" y="0"/>
                  <a:pt x="180" y="1"/>
                  <a:pt x="180" y="3"/>
                </a:cubicBezTo>
                <a:lnTo>
                  <a:pt x="0" y="3"/>
                </a:lnTo>
                <a:cubicBezTo>
                  <a:pt x="0" y="1"/>
                  <a:pt x="1" y="0"/>
                  <a:pt x="3" y="0"/>
                </a:cubicBezTo>
                <a:lnTo>
                  <a:pt x="177" y="0"/>
                </a:lnTo>
                <a:close/>
              </a:path>
            </a:pathLst>
          </a:custGeom>
          <a:solidFill>
            <a:srgbClr val="C43A17"/>
          </a:solidFill>
          <a:ln/>
        </p:spPr>
        <p:txBody>
          <a:bodyPr/>
          <a:p/>
        </p:txBody>
      </p:sp>
      <p:sp>
        <p:nvSpPr>
          <p:cNvPr id="346" name=""/>
          <p:cNvSpPr/>
          <p:nvPr/>
        </p:nvSpPr>
        <p:spPr>
          <a:xfrm rot="0" flipH="0" flipV="0">
            <a:off x="8020050" y="1800225"/>
            <a:ext cx="190500" cy="190500"/>
          </a:xfrm>
          <a:prstGeom prst="rect">
            <a:avLst/>
          </a:prstGeom>
          <a:solidFill>
            <a:srgbClr val="C43A17"/>
          </a:solidFill>
          <a:ln/>
        </p:spPr>
        <p:txBody>
          <a:bodyPr/>
          <a:p/>
        </p:txBody>
      </p:sp>
      <p:sp>
        <p:nvSpPr>
          <p:cNvPr id="347" name="" descr="{&quot;isTemplate&quot;:true,&quot;type&quot;:&quot;text&quot;}"/>
          <p:cNvSpPr txBox="1"/>
          <p:nvPr/>
        </p:nvSpPr>
        <p:spPr>
          <a:xfrm rot="0" flipH="0" flipV="0">
            <a:off x="8086725" y="1828800"/>
            <a:ext cx="66675" cy="133350"/>
          </a:xfrm>
          <a:prstGeom prst="rect"/>
        </p:spPr>
        <p:txBody>
          <a:bodyPr wrap="none" lIns="0" tIns="0" rIns="0" bIns="0"/>
          <a:p>
            <a:pPr>
              <a:lnSpc>
                <a:spcPct val="100000"/>
              </a:lnSpc>
            </a:pPr>
            <a:r>
              <a:rPr lang="en-US" sz="825" b="1">
                <a:solidFill>
                  <a:srgbClr val="FFFFFF"/>
                </a:solidFill>
                <a:latin typeface="Microsoft YaHei"/>
                <a:ea typeface="Microsoft YaHei"/>
              </a:rPr>
              <a:t>5</a:t>
            </a:r>
            <a:endParaRPr/>
          </a:p>
        </p:txBody>
      </p:sp>
      <p:sp>
        <p:nvSpPr>
          <p:cNvPr id="348" name="" descr="{&quot;isTemplate&quot;:true,&quot;type&quot;:&quot;text&quot;}"/>
          <p:cNvSpPr txBox="1"/>
          <p:nvPr/>
        </p:nvSpPr>
        <p:spPr>
          <a:xfrm rot="0" flipH="0" flipV="0">
            <a:off x="8020050" y="2057400"/>
            <a:ext cx="1504950" cy="142875"/>
          </a:xfrm>
          <a:prstGeom prst="rect"/>
        </p:spPr>
        <p:txBody>
          <a:bodyPr wrap="none" lIns="0" tIns="0" rIns="0" bIns="0"/>
          <a:p>
            <a:pPr>
              <a:lnSpc>
                <a:spcPct val="100000"/>
              </a:lnSpc>
            </a:pPr>
            <a:r>
              <a:rPr lang="zh-CN" sz="938" b="1">
                <a:solidFill>
                  <a:srgbClr val="FFFFFF"/>
                </a:solidFill>
                <a:latin typeface="Microsoft YaHei"/>
                <a:ea typeface="Microsoft YaHei"/>
              </a:rPr>
              <a:t>评审</a:t>
            </a:r>
            <a:endParaRPr/>
          </a:p>
        </p:txBody>
      </p:sp>
      <p:sp>
        <p:nvSpPr>
          <p:cNvPr id="349" name="" descr="{&quot;isTemplate&quot;:true,&quot;type&quot;:&quot;text&quot;}"/>
          <p:cNvSpPr txBox="1"/>
          <p:nvPr/>
        </p:nvSpPr>
        <p:spPr>
          <a:xfrm rot="0" flipH="0" flipV="0">
            <a:off x="8020050" y="2238375"/>
            <a:ext cx="1504950" cy="171450"/>
          </a:xfrm>
          <a:prstGeom prst="rect"/>
        </p:spPr>
        <p:txBody>
          <a:bodyPr wrap="none" lIns="0" tIns="0" rIns="0" bIns="0"/>
          <a:p>
            <a:pPr>
              <a:lnSpc>
                <a:spcPct val="140000"/>
              </a:lnSpc>
            </a:pPr>
            <a:r>
              <a:rPr lang="zh-CN" sz="788">
                <a:solidFill>
                  <a:srgbClr val="FFFFFF">
                    <a:alpha val="60000"/>
                  </a:srgbClr>
                </a:solidFill>
                <a:latin typeface="Microsoft YaHei"/>
                <a:ea typeface="Microsoft YaHei"/>
              </a:rPr>
              <a:t>合规、数据</a:t>
            </a:r>
            <a:r>
              <a:rPr lang="en-US" sz="788">
                <a:solidFill>
                  <a:srgbClr val="FFFFFF">
                    <a:alpha val="60000"/>
                  </a:srgbClr>
                </a:solidFill>
                <a:latin typeface="Microsoft YaHei"/>
                <a:ea typeface="Microsoft YaHei"/>
              </a:rPr>
              <a:t>owner</a:t>
            </a:r>
            <a:r>
              <a:rPr lang="zh-CN" sz="788">
                <a:solidFill>
                  <a:srgbClr val="FFFFFF">
                    <a:alpha val="60000"/>
                  </a:srgbClr>
                </a:solidFill>
                <a:latin typeface="Microsoft YaHei"/>
                <a:ea typeface="Microsoft YaHei"/>
              </a:rPr>
              <a:t>、平台三方签</a:t>
            </a:r>
            <a:endParaRPr/>
          </a:p>
        </p:txBody>
      </p:sp>
      <p:sp>
        <p:nvSpPr>
          <p:cNvPr id="350" name=""/>
          <p:cNvSpPr/>
          <p:nvPr/>
        </p:nvSpPr>
        <p:spPr>
          <a:xfrm rot="0" flipH="0" flipV="0">
            <a:off x="9696450" y="1714500"/>
            <a:ext cx="1714500" cy="809625"/>
          </a:xfrm>
          <a:prstGeom prst="roundRect">
            <a:avLst>
              <a:gd name="adj" fmla="val 3529"/>
            </a:avLst>
          </a:prstGeom>
          <a:solidFill>
            <a:srgbClr val="FFFFFF">
              <a:alpha val="7000"/>
            </a:srgbClr>
          </a:solidFill>
          <a:ln/>
        </p:spPr>
        <p:txBody>
          <a:bodyPr/>
          <a:p/>
        </p:txBody>
      </p:sp>
      <p:sp>
        <p:nvSpPr>
          <p:cNvPr id="351" name=""/>
          <p:cNvSpPr/>
          <p:nvPr/>
        </p:nvSpPr>
        <p:spPr>
          <a:xfrm rot="0" flipH="0" flipV="0">
            <a:off x="9696450" y="1714500"/>
            <a:ext cx="1714500" cy="809625"/>
          </a:xfrm>
          <a:custGeom>
            <a:pathLst>
              <a:path w="180" h="85">
                <a:moveTo>
                  <a:pt x="177" y="0"/>
                </a:moveTo>
                <a:cubicBezTo>
                  <a:pt x="179" y="0"/>
                  <a:pt x="180" y="1"/>
                  <a:pt x="180" y="3"/>
                </a:cubicBezTo>
                <a:lnTo>
                  <a:pt x="0" y="3"/>
                </a:lnTo>
                <a:cubicBezTo>
                  <a:pt x="0" y="1"/>
                  <a:pt x="1" y="0"/>
                  <a:pt x="3" y="0"/>
                </a:cubicBezTo>
                <a:lnTo>
                  <a:pt x="177" y="0"/>
                </a:lnTo>
                <a:close/>
              </a:path>
            </a:pathLst>
          </a:custGeom>
          <a:solidFill>
            <a:srgbClr val="0F1423"/>
          </a:solidFill>
          <a:ln/>
        </p:spPr>
        <p:txBody>
          <a:bodyPr/>
          <a:p/>
        </p:txBody>
      </p:sp>
      <p:sp>
        <p:nvSpPr>
          <p:cNvPr id="352" name=""/>
          <p:cNvSpPr/>
          <p:nvPr/>
        </p:nvSpPr>
        <p:spPr>
          <a:xfrm rot="0" flipH="0" flipV="0">
            <a:off x="9801225" y="1800225"/>
            <a:ext cx="190500" cy="190500"/>
          </a:xfrm>
          <a:prstGeom prst="rect">
            <a:avLst/>
          </a:prstGeom>
          <a:solidFill>
            <a:srgbClr val="0F1423"/>
          </a:solidFill>
          <a:ln/>
        </p:spPr>
        <p:txBody>
          <a:bodyPr/>
          <a:p/>
        </p:txBody>
      </p:sp>
      <p:sp>
        <p:nvSpPr>
          <p:cNvPr id="353" name="" descr="{&quot;isTemplate&quot;:true,&quot;type&quot;:&quot;text&quot;}"/>
          <p:cNvSpPr txBox="1"/>
          <p:nvPr/>
        </p:nvSpPr>
        <p:spPr>
          <a:xfrm rot="0" flipH="0" flipV="0">
            <a:off x="9867900" y="1828800"/>
            <a:ext cx="66675" cy="133350"/>
          </a:xfrm>
          <a:prstGeom prst="rect"/>
        </p:spPr>
        <p:txBody>
          <a:bodyPr wrap="none" lIns="0" tIns="0" rIns="0" bIns="0"/>
          <a:p>
            <a:pPr>
              <a:lnSpc>
                <a:spcPct val="100000"/>
              </a:lnSpc>
            </a:pPr>
            <a:r>
              <a:rPr lang="en-US" sz="825" b="1">
                <a:solidFill>
                  <a:srgbClr val="FFFFFF"/>
                </a:solidFill>
                <a:latin typeface="Microsoft YaHei"/>
                <a:ea typeface="Microsoft YaHei"/>
              </a:rPr>
              <a:t>6</a:t>
            </a:r>
            <a:endParaRPr/>
          </a:p>
        </p:txBody>
      </p:sp>
      <p:sp>
        <p:nvSpPr>
          <p:cNvPr id="354" name="" descr="{&quot;isTemplate&quot;:true,&quot;type&quot;:&quot;text&quot;}"/>
          <p:cNvSpPr txBox="1"/>
          <p:nvPr/>
        </p:nvSpPr>
        <p:spPr>
          <a:xfrm rot="0" flipH="0" flipV="0">
            <a:off x="9801225" y="2057400"/>
            <a:ext cx="1504950" cy="142875"/>
          </a:xfrm>
          <a:prstGeom prst="rect"/>
        </p:spPr>
        <p:txBody>
          <a:bodyPr wrap="none" lIns="0" tIns="0" rIns="0" bIns="0"/>
          <a:p>
            <a:pPr>
              <a:lnSpc>
                <a:spcPct val="100000"/>
              </a:lnSpc>
            </a:pPr>
            <a:r>
              <a:rPr lang="zh-CN" sz="938" b="1">
                <a:solidFill>
                  <a:srgbClr val="FFFFFF"/>
                </a:solidFill>
                <a:latin typeface="Microsoft YaHei"/>
                <a:ea typeface="Microsoft YaHei"/>
              </a:rPr>
              <a:t>合并</a:t>
            </a:r>
            <a:endParaRPr/>
          </a:p>
        </p:txBody>
      </p:sp>
      <p:sp>
        <p:nvSpPr>
          <p:cNvPr id="355" name="" descr="{&quot;isTemplate&quot;:true,&quot;type&quot;:&quot;text&quot;}"/>
          <p:cNvSpPr txBox="1"/>
          <p:nvPr/>
        </p:nvSpPr>
        <p:spPr>
          <a:xfrm rot="0" flipH="0" flipV="0">
            <a:off x="9801225" y="2238375"/>
            <a:ext cx="1504950" cy="171450"/>
          </a:xfrm>
          <a:prstGeom prst="rect"/>
        </p:spPr>
        <p:txBody>
          <a:bodyPr wrap="none" lIns="0" tIns="0" rIns="0" bIns="0"/>
          <a:p>
            <a:pPr>
              <a:lnSpc>
                <a:spcPct val="140000"/>
              </a:lnSpc>
            </a:pPr>
            <a:r>
              <a:rPr lang="zh-CN" sz="788">
                <a:solidFill>
                  <a:srgbClr val="FFFFFF">
                    <a:alpha val="60000"/>
                  </a:srgbClr>
                </a:solidFill>
                <a:latin typeface="Microsoft YaHei"/>
                <a:ea typeface="Microsoft YaHei"/>
              </a:rPr>
              <a:t>合回主干并即时生效</a:t>
            </a:r>
            <a:endParaRPr/>
          </a:p>
        </p:txBody>
      </p:sp>
      <p:sp>
        <p:nvSpPr>
          <p:cNvPr id="356" name="" descr="{&quot;isTemplate&quot;:true,&quot;type&quot;:&quot;text&quot;}"/>
          <p:cNvSpPr txBox="1"/>
          <p:nvPr/>
        </p:nvSpPr>
        <p:spPr>
          <a:xfrm rot="0" flipH="0" flipV="0">
            <a:off x="781050" y="2600325"/>
            <a:ext cx="10629900" cy="200025"/>
          </a:xfrm>
          <a:prstGeom prst="rect"/>
        </p:spPr>
        <p:txBody>
          <a:bodyPr wrap="none" lIns="0" tIns="0" rIns="0" bIns="0"/>
          <a:p>
            <a:pPr>
              <a:lnSpc>
                <a:spcPct val="150000"/>
              </a:lnSpc>
            </a:pPr>
            <a:r>
              <a:rPr lang="zh-CN" sz="863">
                <a:solidFill>
                  <a:srgbClr val="FFFFFF">
                    <a:alpha val="72000"/>
                  </a:srgbClr>
                </a:solidFill>
                <a:latin typeface="Microsoft YaHei"/>
                <a:ea typeface="Microsoft YaHei"/>
              </a:rPr>
              <a:t>关键在于平台层面的强制：提案的创建、评审、合并这一整条生命周期由平台管，不依赖某个人记得要走流程。这样影子</a:t>
            </a:r>
            <a:r>
              <a:rPr lang="en-US" sz="863">
                <a:solidFill>
                  <a:srgbClr val="FFFFFF">
                    <a:alpha val="72000"/>
                  </a:srgbClr>
                </a:solidFill>
                <a:latin typeface="Microsoft YaHei"/>
                <a:ea typeface="Microsoft YaHei"/>
              </a:rPr>
              <a:t xml:space="preserve"> IT </a:t>
            </a:r>
            <a:r>
              <a:rPr lang="zh-CN" sz="863">
                <a:solidFill>
                  <a:srgbClr val="FFFFFF">
                    <a:alpha val="72000"/>
                  </a:srgbClr>
                </a:solidFill>
                <a:latin typeface="Microsoft YaHei"/>
                <a:ea typeface="Microsoft YaHei"/>
              </a:rPr>
              <a:t>和未经授权的变更在结构上就不可能发生。</a:t>
            </a:r>
            <a:endParaRPr/>
          </a:p>
        </p:txBody>
      </p:sp>
      <p:sp>
        <p:nvSpPr>
          <p:cNvPr id="357" name=""/>
          <p:cNvSpPr/>
          <p:nvPr/>
        </p:nvSpPr>
        <p:spPr>
          <a:xfrm rot="0" flipH="0" flipV="0">
            <a:off x="647700" y="2981325"/>
            <a:ext cx="5438775" cy="2657475"/>
          </a:xfrm>
          <a:prstGeom prst="roundRect">
            <a:avLst>
              <a:gd name="adj" fmla="val 1434"/>
            </a:avLst>
          </a:prstGeom>
          <a:solidFill>
            <a:srgbClr val="FFF3EE"/>
          </a:solidFill>
          <a:ln/>
        </p:spPr>
        <p:txBody>
          <a:bodyPr/>
          <a:p/>
        </p:txBody>
      </p:sp>
      <p:sp>
        <p:nvSpPr>
          <p:cNvPr id="358" name=""/>
          <p:cNvSpPr/>
          <p:nvPr/>
        </p:nvSpPr>
        <p:spPr>
          <a:xfrm rot="0" flipH="0" flipV="0">
            <a:off x="647700" y="2981325"/>
            <a:ext cx="5438775" cy="2657475"/>
          </a:xfrm>
          <a:custGeom>
            <a:pathLst>
              <a:path w="571" h="279">
                <a:moveTo>
                  <a:pt x="4" y="279"/>
                </a:moveTo>
                <a:cubicBezTo>
                  <a:pt x="2" y="279"/>
                  <a:pt x="0" y="277"/>
                  <a:pt x="0" y="275"/>
                </a:cubicBezTo>
                <a:lnTo>
                  <a:pt x="0" y="4"/>
                </a:lnTo>
                <a:cubicBezTo>
                  <a:pt x="0" y="2"/>
                  <a:pt x="2" y="0"/>
                  <a:pt x="4" y="0"/>
                </a:cubicBezTo>
                <a:lnTo>
                  <a:pt x="4" y="279"/>
                </a:lnTo>
                <a:close/>
              </a:path>
            </a:pathLst>
          </a:custGeom>
          <a:solidFill>
            <a:srgbClr val="FA4F24"/>
          </a:solidFill>
          <a:ln/>
        </p:spPr>
        <p:txBody>
          <a:bodyPr/>
          <a:p/>
        </p:txBody>
      </p:sp>
      <p:sp>
        <p:nvSpPr>
          <p:cNvPr id="359" name="" descr="{&quot;isTemplate&quot;:true,&quot;type&quot;:&quot;text&quot;}"/>
          <p:cNvSpPr txBox="1"/>
          <p:nvPr/>
        </p:nvSpPr>
        <p:spPr>
          <a:xfrm rot="0" flipH="0" flipV="0">
            <a:off x="809625" y="3105150"/>
            <a:ext cx="5076825" cy="161925"/>
          </a:xfrm>
          <a:prstGeom prst="rect"/>
        </p:spPr>
        <p:txBody>
          <a:bodyPr wrap="none" lIns="0" tIns="0" rIns="0" bIns="0"/>
          <a:p>
            <a:pPr>
              <a:lnSpc>
                <a:spcPct val="100000"/>
              </a:lnSpc>
            </a:pPr>
            <a:r>
              <a:rPr lang="zh-CN" sz="1050" b="1">
                <a:solidFill>
                  <a:srgbClr val="C43A17"/>
                </a:solidFill>
                <a:latin typeface="Microsoft YaHei"/>
                <a:ea typeface="Microsoft YaHei"/>
              </a:rPr>
              <a:t>策略评审要看的四件事</a:t>
            </a:r>
            <a:endParaRPr/>
          </a:p>
        </p:txBody>
      </p:sp>
      <p:sp>
        <p:nvSpPr>
          <p:cNvPr id="360" name=""/>
          <p:cNvSpPr/>
          <p:nvPr/>
        </p:nvSpPr>
        <p:spPr>
          <a:xfrm rot="0" flipH="0" flipV="0">
            <a:off x="809625" y="3505200"/>
            <a:ext cx="742950" cy="228600"/>
          </a:xfrm>
          <a:prstGeom prst="rect">
            <a:avLst/>
          </a:prstGeom>
          <a:solidFill>
            <a:srgbClr val="FA4F24"/>
          </a:solidFill>
          <a:ln/>
        </p:spPr>
        <p:txBody>
          <a:bodyPr/>
          <a:p/>
        </p:txBody>
      </p:sp>
      <p:sp>
        <p:nvSpPr>
          <p:cNvPr id="361" name="" descr="{&quot;isTemplate&quot;:true,&quot;type&quot;:&quot;text&quot;}"/>
          <p:cNvSpPr txBox="1"/>
          <p:nvPr/>
        </p:nvSpPr>
        <p:spPr>
          <a:xfrm rot="0" flipH="0" flipV="0">
            <a:off x="971550" y="3552825"/>
            <a:ext cx="419100" cy="133350"/>
          </a:xfrm>
          <a:prstGeom prst="rect"/>
        </p:spPr>
        <p:txBody>
          <a:bodyPr wrap="none" lIns="0" tIns="0" rIns="0" bIns="0"/>
          <a:p>
            <a:pPr>
              <a:lnSpc>
                <a:spcPct val="100000"/>
              </a:lnSpc>
            </a:pPr>
            <a:r>
              <a:rPr lang="zh-CN" sz="825" b="1">
                <a:solidFill>
                  <a:srgbClr val="FFFFFF"/>
                </a:solidFill>
                <a:latin typeface="Microsoft YaHei"/>
                <a:ea typeface="Microsoft YaHei"/>
              </a:rPr>
              <a:t>放宽了谁</a:t>
            </a:r>
            <a:endParaRPr/>
          </a:p>
        </p:txBody>
      </p:sp>
      <p:sp>
        <p:nvSpPr>
          <p:cNvPr id="362" name="" descr="{&quot;isTemplate&quot;:true,&quot;type&quot;:&quot;text&quot;}"/>
          <p:cNvSpPr txBox="1"/>
          <p:nvPr/>
        </p:nvSpPr>
        <p:spPr>
          <a:xfrm rot="0" flipH="0" flipV="0">
            <a:off x="1666875" y="3524250"/>
            <a:ext cx="4219575" cy="200025"/>
          </a:xfrm>
          <a:prstGeom prst="rect"/>
        </p:spPr>
        <p:txBody>
          <a:bodyPr wrap="none" lIns="0" tIns="0" rIns="0" bIns="0"/>
          <a:p>
            <a:pPr>
              <a:lnSpc>
                <a:spcPct val="145000"/>
              </a:lnSpc>
            </a:pPr>
            <a:r>
              <a:rPr lang="zh-CN" sz="863">
                <a:solidFill>
                  <a:srgbClr val="3A4050"/>
                </a:solidFill>
                <a:latin typeface="Microsoft YaHei"/>
                <a:ea typeface="Microsoft YaHei"/>
              </a:rPr>
              <a:t>这次变更让哪些原本看不到的人或组能看到哪些属性</a:t>
            </a:r>
            <a:endParaRPr/>
          </a:p>
        </p:txBody>
      </p:sp>
      <p:sp>
        <p:nvSpPr>
          <p:cNvPr id="363" name=""/>
          <p:cNvSpPr/>
          <p:nvPr/>
        </p:nvSpPr>
        <p:spPr>
          <a:xfrm rot="0" flipH="0" flipV="0">
            <a:off x="809625" y="3886200"/>
            <a:ext cx="5076825" cy="552450"/>
          </a:xfrm>
          <a:custGeom>
            <a:pathLst>
              <a:path w="533" h="58">
                <a:moveTo>
                  <a:pt x="0" y="0"/>
                </a:moveTo>
                <a:lnTo>
                  <a:pt x="533" y="0"/>
                </a:lnTo>
                <a:lnTo>
                  <a:pt x="533" y="1"/>
                </a:lnTo>
                <a:lnTo>
                  <a:pt x="0" y="1"/>
                </a:lnTo>
                <a:close/>
              </a:path>
            </a:pathLst>
          </a:custGeom>
          <a:solidFill>
            <a:srgbClr val="FBA15C"/>
          </a:solidFill>
          <a:ln/>
        </p:spPr>
        <p:txBody>
          <a:bodyPr/>
          <a:p/>
        </p:txBody>
      </p:sp>
      <p:sp>
        <p:nvSpPr>
          <p:cNvPr id="364" name=""/>
          <p:cNvSpPr/>
          <p:nvPr/>
        </p:nvSpPr>
        <p:spPr>
          <a:xfrm rot="0" flipH="0" flipV="0">
            <a:off x="809625" y="4048125"/>
            <a:ext cx="742950" cy="228600"/>
          </a:xfrm>
          <a:prstGeom prst="rect">
            <a:avLst/>
          </a:prstGeom>
          <a:solidFill>
            <a:srgbClr val="FA4F24"/>
          </a:solidFill>
          <a:ln/>
        </p:spPr>
        <p:txBody>
          <a:bodyPr/>
          <a:p/>
        </p:txBody>
      </p:sp>
      <p:sp>
        <p:nvSpPr>
          <p:cNvPr id="365" name="" descr="{&quot;isTemplate&quot;:true,&quot;type&quot;:&quot;text&quot;}"/>
          <p:cNvSpPr txBox="1"/>
          <p:nvPr/>
        </p:nvSpPr>
        <p:spPr>
          <a:xfrm rot="0" flipH="0" flipV="0">
            <a:off x="971550" y="4095750"/>
            <a:ext cx="419100" cy="133350"/>
          </a:xfrm>
          <a:prstGeom prst="rect"/>
        </p:spPr>
        <p:txBody>
          <a:bodyPr wrap="none" lIns="0" tIns="0" rIns="0" bIns="0"/>
          <a:p>
            <a:pPr>
              <a:lnSpc>
                <a:spcPct val="100000"/>
              </a:lnSpc>
            </a:pPr>
            <a:r>
              <a:rPr lang="zh-CN" sz="825" b="1">
                <a:solidFill>
                  <a:srgbClr val="FFFFFF"/>
                </a:solidFill>
                <a:latin typeface="Microsoft YaHei"/>
                <a:ea typeface="Microsoft YaHei"/>
              </a:rPr>
              <a:t>收紧了谁</a:t>
            </a:r>
            <a:endParaRPr/>
          </a:p>
        </p:txBody>
      </p:sp>
      <p:sp>
        <p:nvSpPr>
          <p:cNvPr id="366" name="" descr="{&quot;isTemplate&quot;:true,&quot;type&quot;:&quot;text&quot;}"/>
          <p:cNvSpPr txBox="1"/>
          <p:nvPr/>
        </p:nvSpPr>
        <p:spPr>
          <a:xfrm rot="0" flipH="0" flipV="0">
            <a:off x="1666875" y="4067175"/>
            <a:ext cx="4219575" cy="200025"/>
          </a:xfrm>
          <a:prstGeom prst="rect"/>
        </p:spPr>
        <p:txBody>
          <a:bodyPr wrap="none" lIns="0" tIns="0" rIns="0" bIns="0"/>
          <a:p>
            <a:pPr>
              <a:lnSpc>
                <a:spcPct val="145000"/>
              </a:lnSpc>
            </a:pPr>
            <a:r>
              <a:rPr lang="zh-CN" sz="863">
                <a:solidFill>
                  <a:srgbClr val="3A4050"/>
                </a:solidFill>
                <a:latin typeface="Microsoft YaHei"/>
                <a:ea typeface="Microsoft YaHei"/>
              </a:rPr>
              <a:t>有没有人在这次变更中突然失去了原有的访问权</a:t>
            </a:r>
            <a:endParaRPr/>
          </a:p>
        </p:txBody>
      </p:sp>
      <p:sp>
        <p:nvSpPr>
          <p:cNvPr id="367" name=""/>
          <p:cNvSpPr/>
          <p:nvPr/>
        </p:nvSpPr>
        <p:spPr>
          <a:xfrm rot="0" flipH="0" flipV="0">
            <a:off x="809625" y="4429125"/>
            <a:ext cx="5076825" cy="552450"/>
          </a:xfrm>
          <a:custGeom>
            <a:pathLst>
              <a:path w="533" h="58">
                <a:moveTo>
                  <a:pt x="0" y="0"/>
                </a:moveTo>
                <a:lnTo>
                  <a:pt x="533" y="0"/>
                </a:lnTo>
                <a:lnTo>
                  <a:pt x="533" y="1"/>
                </a:lnTo>
                <a:lnTo>
                  <a:pt x="0" y="1"/>
                </a:lnTo>
                <a:close/>
              </a:path>
            </a:pathLst>
          </a:custGeom>
          <a:solidFill>
            <a:srgbClr val="FBA15C"/>
          </a:solidFill>
          <a:ln/>
        </p:spPr>
        <p:txBody>
          <a:bodyPr/>
          <a:p/>
        </p:txBody>
      </p:sp>
      <p:sp>
        <p:nvSpPr>
          <p:cNvPr id="368" name=""/>
          <p:cNvSpPr/>
          <p:nvPr/>
        </p:nvSpPr>
        <p:spPr>
          <a:xfrm rot="0" flipH="0" flipV="0">
            <a:off x="809625" y="4591050"/>
            <a:ext cx="742950" cy="228600"/>
          </a:xfrm>
          <a:prstGeom prst="rect">
            <a:avLst/>
          </a:prstGeom>
          <a:solidFill>
            <a:srgbClr val="FA4F24"/>
          </a:solidFill>
          <a:ln/>
        </p:spPr>
        <p:txBody>
          <a:bodyPr/>
          <a:p/>
        </p:txBody>
      </p:sp>
      <p:sp>
        <p:nvSpPr>
          <p:cNvPr id="369" name="" descr="{&quot;isTemplate&quot;:true,&quot;type&quot;:&quot;text&quot;}"/>
          <p:cNvSpPr txBox="1"/>
          <p:nvPr/>
        </p:nvSpPr>
        <p:spPr>
          <a:xfrm rot="0" flipH="0" flipV="0">
            <a:off x="866775" y="4638675"/>
            <a:ext cx="628650" cy="133350"/>
          </a:xfrm>
          <a:prstGeom prst="rect"/>
        </p:spPr>
        <p:txBody>
          <a:bodyPr wrap="none" lIns="0" tIns="0" rIns="0" bIns="0"/>
          <a:p>
            <a:pPr>
              <a:lnSpc>
                <a:spcPct val="100000"/>
              </a:lnSpc>
            </a:pPr>
            <a:r>
              <a:rPr lang="zh-CN" sz="825" b="1">
                <a:solidFill>
                  <a:srgbClr val="FFFFFF"/>
                </a:solidFill>
                <a:latin typeface="Microsoft YaHei"/>
                <a:ea typeface="Microsoft YaHei"/>
              </a:rPr>
              <a:t>影响哪些对象</a:t>
            </a:r>
            <a:endParaRPr/>
          </a:p>
        </p:txBody>
      </p:sp>
      <p:sp>
        <p:nvSpPr>
          <p:cNvPr id="370" name="" descr="{&quot;isTemplate&quot;:true,&quot;type&quot;:&quot;text&quot;}"/>
          <p:cNvSpPr txBox="1"/>
          <p:nvPr/>
        </p:nvSpPr>
        <p:spPr>
          <a:xfrm rot="0" flipH="0" flipV="0">
            <a:off x="1666875" y="4610100"/>
            <a:ext cx="4219575" cy="200025"/>
          </a:xfrm>
          <a:prstGeom prst="rect"/>
        </p:spPr>
        <p:txBody>
          <a:bodyPr wrap="none" lIns="0" tIns="0" rIns="0" bIns="0"/>
          <a:p>
            <a:pPr>
              <a:lnSpc>
                <a:spcPct val="145000"/>
              </a:lnSpc>
            </a:pPr>
            <a:r>
              <a:rPr lang="zh-CN" sz="863">
                <a:solidFill>
                  <a:srgbClr val="3A4050"/>
                </a:solidFill>
                <a:latin typeface="Microsoft YaHei"/>
                <a:ea typeface="Microsoft YaHei"/>
              </a:rPr>
              <a:t>这个对象类型被哪些应用、动作、接口使用，影响面有多大</a:t>
            </a:r>
            <a:endParaRPr/>
          </a:p>
        </p:txBody>
      </p:sp>
      <p:sp>
        <p:nvSpPr>
          <p:cNvPr id="371" name=""/>
          <p:cNvSpPr/>
          <p:nvPr/>
        </p:nvSpPr>
        <p:spPr>
          <a:xfrm rot="0" flipH="0" flipV="0">
            <a:off x="809625" y="4972050"/>
            <a:ext cx="5076825" cy="552450"/>
          </a:xfrm>
          <a:custGeom>
            <a:pathLst>
              <a:path w="533" h="58">
                <a:moveTo>
                  <a:pt x="0" y="0"/>
                </a:moveTo>
                <a:lnTo>
                  <a:pt x="533" y="0"/>
                </a:lnTo>
                <a:lnTo>
                  <a:pt x="533" y="1"/>
                </a:lnTo>
                <a:lnTo>
                  <a:pt x="0" y="1"/>
                </a:lnTo>
                <a:close/>
              </a:path>
            </a:pathLst>
          </a:custGeom>
          <a:solidFill>
            <a:srgbClr val="FBA15C"/>
          </a:solidFill>
          <a:ln/>
        </p:spPr>
        <p:txBody>
          <a:bodyPr/>
          <a:p/>
        </p:txBody>
      </p:sp>
      <p:sp>
        <p:nvSpPr>
          <p:cNvPr id="372" name=""/>
          <p:cNvSpPr/>
          <p:nvPr/>
        </p:nvSpPr>
        <p:spPr>
          <a:xfrm rot="0" flipH="0" flipV="0">
            <a:off x="809625" y="5133975"/>
            <a:ext cx="742950" cy="228600"/>
          </a:xfrm>
          <a:prstGeom prst="rect">
            <a:avLst/>
          </a:prstGeom>
          <a:solidFill>
            <a:srgbClr val="FA4F24"/>
          </a:solidFill>
          <a:ln/>
        </p:spPr>
        <p:txBody>
          <a:bodyPr/>
          <a:p/>
        </p:txBody>
      </p:sp>
      <p:sp>
        <p:nvSpPr>
          <p:cNvPr id="373" name="" descr="{&quot;isTemplate&quot;:true,&quot;type&quot;:&quot;text&quot;}"/>
          <p:cNvSpPr txBox="1"/>
          <p:nvPr/>
        </p:nvSpPr>
        <p:spPr>
          <a:xfrm rot="0" flipH="0" flipV="0">
            <a:off x="971550" y="5181600"/>
            <a:ext cx="419100" cy="133350"/>
          </a:xfrm>
          <a:prstGeom prst="rect"/>
        </p:spPr>
        <p:txBody>
          <a:bodyPr wrap="none" lIns="0" tIns="0" rIns="0" bIns="0"/>
          <a:p>
            <a:pPr>
              <a:lnSpc>
                <a:spcPct val="100000"/>
              </a:lnSpc>
            </a:pPr>
            <a:r>
              <a:rPr lang="zh-CN" sz="825" b="1">
                <a:solidFill>
                  <a:srgbClr val="FFFFFF"/>
                </a:solidFill>
                <a:latin typeface="Microsoft YaHei"/>
                <a:ea typeface="Microsoft YaHei"/>
              </a:rPr>
              <a:t>能不能退</a:t>
            </a:r>
            <a:endParaRPr/>
          </a:p>
        </p:txBody>
      </p:sp>
      <p:sp>
        <p:nvSpPr>
          <p:cNvPr id="374" name="" descr="{&quot;isTemplate&quot;:true,&quot;type&quot;:&quot;text&quot;}"/>
          <p:cNvSpPr txBox="1"/>
          <p:nvPr/>
        </p:nvSpPr>
        <p:spPr>
          <a:xfrm rot="0" flipH="0" flipV="0">
            <a:off x="1666875" y="5153025"/>
            <a:ext cx="4219575" cy="200025"/>
          </a:xfrm>
          <a:prstGeom prst="rect"/>
        </p:spPr>
        <p:txBody>
          <a:bodyPr wrap="none" lIns="0" tIns="0" rIns="0" bIns="0"/>
          <a:p>
            <a:pPr>
              <a:lnSpc>
                <a:spcPct val="145000"/>
              </a:lnSpc>
            </a:pPr>
            <a:r>
              <a:rPr lang="zh-CN" sz="863">
                <a:solidFill>
                  <a:srgbClr val="3A4050"/>
                </a:solidFill>
                <a:latin typeface="Microsoft YaHei"/>
                <a:ea typeface="Microsoft YaHei"/>
              </a:rPr>
              <a:t>合并后如何回退，回退需要多久，生效需要多久</a:t>
            </a:r>
            <a:endParaRPr/>
          </a:p>
        </p:txBody>
      </p:sp>
      <p:sp>
        <p:nvSpPr>
          <p:cNvPr id="375" name=""/>
          <p:cNvSpPr/>
          <p:nvPr/>
        </p:nvSpPr>
        <p:spPr>
          <a:xfrm rot="0" flipH="0" flipV="0">
            <a:off x="6143625" y="2981325"/>
            <a:ext cx="5438775" cy="2657475"/>
          </a:xfrm>
          <a:prstGeom prst="roundRect">
            <a:avLst>
              <a:gd name="adj" fmla="val 1434"/>
            </a:avLst>
          </a:prstGeom>
          <a:solidFill>
            <a:srgbClr val="F7F7F8"/>
          </a:solidFill>
          <a:ln/>
        </p:spPr>
        <p:txBody>
          <a:bodyPr/>
          <a:p/>
        </p:txBody>
      </p:sp>
      <p:sp>
        <p:nvSpPr>
          <p:cNvPr id="376" name="" descr="{&quot;isTemplate&quot;:true,&quot;type&quot;:&quot;text&quot;}"/>
          <p:cNvSpPr txBox="1"/>
          <p:nvPr/>
        </p:nvSpPr>
        <p:spPr>
          <a:xfrm rot="0" flipH="0" flipV="0">
            <a:off x="6305550" y="3467100"/>
            <a:ext cx="5114925" cy="161925"/>
          </a:xfrm>
          <a:prstGeom prst="rect"/>
        </p:spPr>
        <p:txBody>
          <a:bodyPr wrap="none" lIns="0" tIns="0" rIns="0" bIns="0"/>
          <a:p>
            <a:pPr>
              <a:lnSpc>
                <a:spcPct val="100000"/>
              </a:lnSpc>
            </a:pPr>
            <a:r>
              <a:rPr lang="zh-CN" sz="1050" b="1">
                <a:solidFill>
                  <a:srgbClr val="0F1423"/>
                </a:solidFill>
                <a:latin typeface="Microsoft YaHei"/>
                <a:ea typeface="Microsoft YaHei"/>
              </a:rPr>
              <a:t>策略测试：</a:t>
            </a:r>
            <a:r>
              <a:rPr lang="en-US" sz="1050" b="1">
                <a:solidFill>
                  <a:srgbClr val="0F1423"/>
                </a:solidFill>
                <a:latin typeface="Microsoft YaHei"/>
                <a:ea typeface="Microsoft YaHei"/>
              </a:rPr>
              <a:t xml:space="preserve">2026 </a:t>
            </a:r>
            <a:r>
              <a:rPr lang="zh-CN" sz="1050" b="1">
                <a:solidFill>
                  <a:srgbClr val="0F1423"/>
                </a:solidFill>
                <a:latin typeface="Microsoft YaHei"/>
                <a:ea typeface="Microsoft YaHei"/>
              </a:rPr>
              <a:t>年六月才有的能力</a:t>
            </a:r>
            <a:endParaRPr/>
          </a:p>
        </p:txBody>
      </p:sp>
      <p:sp>
        <p:nvSpPr>
          <p:cNvPr id="377" name="" descr="{&quot;isTemplate&quot;:true,&quot;type&quot;:&quot;text&quot;}"/>
          <p:cNvSpPr txBox="1"/>
          <p:nvPr/>
        </p:nvSpPr>
        <p:spPr>
          <a:xfrm rot="0" flipH="0" flipV="0">
            <a:off x="6305550" y="3695700"/>
            <a:ext cx="5114925" cy="428625"/>
          </a:xfrm>
          <a:prstGeom prst="rect"/>
        </p:spPr>
        <p:txBody>
          <a:bodyPr wrap="square" lIns="0" tIns="0" rIns="0" bIns="0">
            <a:normAutofit/>
          </a:bodyPr>
          <a:p>
            <a:pPr>
              <a:lnSpc>
                <a:spcPct val="155000"/>
              </a:lnSpc>
            </a:pPr>
            <a:r>
              <a:rPr lang="zh-CN" sz="900">
                <a:solidFill>
                  <a:srgbClr val="3A4050"/>
                </a:solidFill>
                <a:latin typeface="Microsoft YaHei"/>
                <a:ea typeface="Microsoft YaHei"/>
              </a:rPr>
              <a:t>在本体管理器里可以对对象与属性安全策略做测试：选一个用户，测他能看到这个对象的哪些属性。这解决了策略设计最难的环节——策略写对了不等于效果对，必须用真实身份验一遍。</a:t>
            </a:r>
            <a:endParaRPr/>
          </a:p>
        </p:txBody>
      </p:sp>
      <p:sp>
        <p:nvSpPr>
          <p:cNvPr id="378" name=""/>
          <p:cNvSpPr/>
          <p:nvPr/>
        </p:nvSpPr>
        <p:spPr>
          <a:xfrm rot="0" flipH="0" flipV="0">
            <a:off x="6305550" y="4210050"/>
            <a:ext cx="5114925" cy="952500"/>
          </a:xfrm>
          <a:prstGeom prst="roundRect">
            <a:avLst>
              <a:gd name="adj" fmla="val 3000"/>
            </a:avLst>
          </a:prstGeom>
          <a:solidFill>
            <a:srgbClr val="FFFFFF"/>
          </a:solidFill>
          <a:ln/>
        </p:spPr>
        <p:txBody>
          <a:bodyPr/>
          <a:p/>
        </p:txBody>
      </p:sp>
      <p:sp>
        <p:nvSpPr>
          <p:cNvPr id="379" name="" descr="{&quot;isTemplate&quot;:true,&quot;type&quot;:&quot;text&quot;}"/>
          <p:cNvSpPr txBox="1"/>
          <p:nvPr/>
        </p:nvSpPr>
        <p:spPr>
          <a:xfrm rot="0" flipH="0" flipV="0">
            <a:off x="6419850" y="4295775"/>
            <a:ext cx="4886325" cy="133350"/>
          </a:xfrm>
          <a:prstGeom prst="rect"/>
        </p:spPr>
        <p:txBody>
          <a:bodyPr wrap="none" lIns="0" tIns="0" rIns="0" bIns="0"/>
          <a:p>
            <a:pPr>
              <a:lnSpc>
                <a:spcPct val="100000"/>
              </a:lnSpc>
            </a:pPr>
            <a:r>
              <a:rPr lang="zh-CN" sz="863" b="1">
                <a:solidFill>
                  <a:srgbClr val="E0651A"/>
                </a:solidFill>
                <a:latin typeface="Microsoft YaHei"/>
                <a:ea typeface="Microsoft YaHei"/>
              </a:rPr>
              <a:t>两个已知限制</a:t>
            </a:r>
            <a:endParaRPr/>
          </a:p>
        </p:txBody>
      </p:sp>
      <p:sp>
        <p:nvSpPr>
          <p:cNvPr id="380" name="" descr="{&quot;isTemplate&quot;:true,&quot;type&quot;:&quot;text&quot;}"/>
          <p:cNvSpPr txBox="1"/>
          <p:nvPr/>
        </p:nvSpPr>
        <p:spPr>
          <a:xfrm rot="0" flipH="0" flipV="0">
            <a:off x="6419850" y="4476750"/>
            <a:ext cx="4886325" cy="600075"/>
          </a:xfrm>
          <a:prstGeom prst="rect"/>
        </p:spPr>
        <p:txBody>
          <a:bodyPr wrap="square" lIns="0" tIns="0" rIns="0" bIns="0">
            <a:normAutofit/>
          </a:bodyPr>
          <a:p>
            <a:pPr>
              <a:lnSpc>
                <a:spcPct val="150000"/>
              </a:lnSpc>
            </a:pPr>
            <a:r>
              <a:rPr lang="zh-CN" sz="863">
                <a:solidFill>
                  <a:srgbClr val="3A4050"/>
                </a:solidFill>
                <a:latin typeface="Microsoft YaHei"/>
                <a:ea typeface="Microsoft YaHei"/>
              </a:rPr>
              <a:t>一、派生属性的可见性测不了，因为它同时依赖用户对派生属性来源对象的可见性。二、测试者若既不是被引用组织的成员也不是管理员，访客成员与次级组织不会计入，平台会用提示明确列出你没有权限的组织。</a:t>
            </a:r>
            <a:endParaRPr/>
          </a:p>
        </p:txBody>
      </p:sp>
      <p:sp>
        <p:nvSpPr>
          <p:cNvPr id="381"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382" name=""/>
          <p:cNvSpPr/>
          <p:nvPr/>
        </p:nvSpPr>
        <p:spPr>
          <a:xfrm rot="0" flipH="0" flipV="0">
            <a:off x="609600" y="5953125"/>
            <a:ext cx="95250" cy="95250"/>
          </a:xfrm>
          <a:prstGeom prst="rect">
            <a:avLst/>
          </a:prstGeom>
          <a:solidFill>
            <a:srgbClr val="FA4F24"/>
          </a:solidFill>
          <a:ln/>
        </p:spPr>
        <p:txBody>
          <a:bodyPr/>
          <a:p/>
        </p:txBody>
      </p:sp>
      <p:sp>
        <p:nvSpPr>
          <p:cNvPr id="383"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384"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16 / 30</a:t>
            </a:r>
            <a:endParaRPr/>
          </a:p>
        </p:txBody>
      </p:sp>
    </p:spTree>
  </p:cSld>
</p:sld>
</file>

<file path=ppt/slides/slide17.xml><?xml version="1.0" encoding="utf-8"?>
<p:sld xmlns:p="http://schemas.openxmlformats.org/presentationml/2006/main" xmlns:a="http://schemas.openxmlformats.org/drawingml/2006/main">
  <p:cSld>
    <p:spTree>
      <p:nvGrpSpPr>
        <p:cNvPr id="385" name="" descr="&lt;Slide style={{ width: 1280, height: 720, background: '#0F1423' }}&gt;&#13;&#10;  &lt;Box style={{ position: 'absolute', left: 0, top: 0, width: 1280, height: 720, background: 'linear-gradient(135deg, #0F1423 0%, #2A1810 100%)' }} /&gt;&#13;&#10;  &lt;Box style={{ position: 'absolute', right: 0, top: 0, width: 560, height: 720, background: 'linear-gradient(200deg, rgba(250,79,36,0.28) 0%, rgba(250,79,36,0) 70%)' }} /&gt;&#13;&#10;&#13;&#10;  &lt;Box style={{ position: 'absolute', right: 70, top: 110 }}&gt;&#13;&#10;    &lt;Text style={{ fontSize: 300, fontWeight: 'bold', color: 'rgba(255,255,255,0.08)', lineHeight: 1.0 }}&gt;03&lt;/Text&gt;&#13;&#10;  &lt;/Box&gt;&#13;&#10;&#13;&#10;  &lt;Box style={{ position: 'absolute', left: 88, top: 232, width: 700, flexDirection: 'column' }}&gt;&#13;&#10;    &lt;Text style={{ fontSize: 15, color: 'rgba(255,255,255,0.5)', letterSpacing: 3 }}&gt;PART 03&lt;/Text&gt;&#13;&#10;    &lt;Box style={{ width: 72, height: 5, background: '#FA4F24', marginTop: 22 }} /&gt;&#13;&#10;    &lt;Text style={{ fontSize: 52, fontWeight: 'bold', color: '#FFFFFF', marginTop: 28, lineHeight: 1.15 }}&gt;治理与四方关系&lt;/Text&gt;&#13;&#10;    &lt;Text style={{ fontSize: 17, color: 'rgba(255,255,255,0.62)', letterSpacing: 2, marginTop: 20 }}&gt;GOVERNANCE ACROSS THE STACK&lt;/Text&gt;&#13;&#10;    &lt;Text style={{ fontSize: 19, color: 'rgba(255,255,255,0.85)', marginTop: 26, lineHeight: 1.6 }}&gt;标记怎么随管道传播、怎么随切片走、怎么管住智能体的记忆与日志&lt;/Text&gt;&#13;&#10;  &lt;/Box&gt;&#13;&#10;&#13;&#10;  &lt;Box style={{ position: 'absolute', right: 88, bottom: 64, flexDirection: 'row', alignItems: 'center', gap: 12 }}&gt;&#13;&#10;    &lt;Box style={{ width: 14, height: 14, background: '#FA4F24' }} /&gt;&#13;&#10;    &lt;Text style={{ fontSize: 14, color: 'rgba(255,255,255,0.5)' }}&gt;硕磐机密 · 数据治理咨询方法论&lt;/Text&gt;&#13;&#10;    &lt;Text style={{ fontSize: 14, color: 'rgba(255,255,255,0.5)', marginLeft: 12 }}&gt;17 / 30&lt;/Text&gt;&#13;&#10;  &lt;/Box&gt;&#13;&#10;&lt;/Slide&gt;&#13;&#10;"/>
        <p:cNvGrpSpPr/>
        <p:nvPr/>
      </p:nvGrpSpPr>
      <p:grpSpPr>
        <a:xfrm>
          <a:off x="0" y="0"/>
          <a:ext cx="0" cy="0"/>
          <a:chOff x="0" y="0"/>
          <a:chExt cx="0" cy="0"/>
        </a:xfrm>
      </p:grpSpPr>
      <p:sp>
        <p:nvSpPr>
          <p:cNvPr id="386" name=""/>
          <p:cNvSpPr/>
          <p:nvPr/>
        </p:nvSpPr>
        <p:spPr>
          <a:xfrm rot="0" flipH="0" flipV="0">
            <a:off x="0" y="0"/>
            <a:ext cx="12192000" cy="6858000"/>
          </a:xfrm>
          <a:prstGeom prst="rect">
            <a:avLst/>
          </a:prstGeom>
          <a:solidFill>
            <a:srgbClr val="0F1423"/>
          </a:solidFill>
          <a:ln/>
        </p:spPr>
        <p:txBody>
          <a:bodyPr/>
          <a:p/>
        </p:txBody>
      </p:sp>
      <p:sp>
        <p:nvSpPr>
          <p:cNvPr id="387"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p:txBody>
      </p:sp>
      <p:sp>
        <p:nvSpPr>
          <p:cNvPr id="388" name=""/>
          <p:cNvSpPr/>
          <p:nvPr/>
        </p:nvSpPr>
        <p:spPr>
          <a:xfrm rot="0" flipH="0" flipV="0">
            <a:off x="6858000" y="0"/>
            <a:ext cx="5334000" cy="6858000"/>
          </a:xfrm>
          <a:prstGeom prst="rect">
            <a:avLst/>
          </a:prstGeom>
          <a:gradFill>
            <a:gsLst>
              <a:gs pos="0">
                <a:srgbClr val="FA4F24">
                  <a:alpha val="28000"/>
                </a:srgbClr>
              </a:gs>
              <a:gs pos="70000">
                <a:srgbClr val="FA4F24">
                  <a:alpha val="0"/>
                </a:srgbClr>
              </a:gs>
            </a:gsLst>
            <a:lin ang="6600000" scaled="1"/>
          </a:gradFill>
          <a:ln/>
        </p:spPr>
        <p:txBody>
          <a:bodyPr/>
          <a:p/>
        </p:txBody>
      </p:sp>
      <p:sp>
        <p:nvSpPr>
          <p:cNvPr id="389" name="" descr="{&quot;isTemplate&quot;:true,&quot;type&quot;:&quot;text&quot;}"/>
          <p:cNvSpPr txBox="1"/>
          <p:nvPr/>
        </p:nvSpPr>
        <p:spPr>
          <a:xfrm rot="0" flipH="0" flipV="0">
            <a:off x="7991475" y="1047750"/>
            <a:ext cx="3533775" cy="3429000"/>
          </a:xfrm>
          <a:prstGeom prst="rect"/>
        </p:spPr>
        <p:txBody>
          <a:bodyPr wrap="none" lIns="0" tIns="0" rIns="0" bIns="0"/>
          <a:p>
            <a:pPr>
              <a:lnSpc>
                <a:spcPct val="100000"/>
              </a:lnSpc>
            </a:pPr>
            <a:r>
              <a:rPr lang="en-US" sz="22500" b="1">
                <a:solidFill>
                  <a:srgbClr val="FFFFFF">
                    <a:alpha val="8000"/>
                  </a:srgbClr>
                </a:solidFill>
                <a:latin typeface="Microsoft YaHei"/>
                <a:ea typeface="Microsoft YaHei"/>
              </a:rPr>
              <a:t>03</a:t>
            </a:r>
            <a:endParaRPr/>
          </a:p>
        </p:txBody>
      </p:sp>
      <p:sp>
        <p:nvSpPr>
          <p:cNvPr id="390" name="" descr="{&quot;isTemplate&quot;:true,&quot;type&quot;:&quot;text&quot;}"/>
          <p:cNvSpPr txBox="1"/>
          <p:nvPr/>
        </p:nvSpPr>
        <p:spPr>
          <a:xfrm rot="0" flipH="0" flipV="0">
            <a:off x="838200" y="2209800"/>
            <a:ext cx="666750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PART 03</a:t>
            </a:r>
            <a:endParaRPr/>
          </a:p>
        </p:txBody>
      </p:sp>
      <p:sp>
        <p:nvSpPr>
          <p:cNvPr id="391" name=""/>
          <p:cNvSpPr/>
          <p:nvPr/>
        </p:nvSpPr>
        <p:spPr>
          <a:xfrm rot="0" flipH="0" flipV="0">
            <a:off x="838200" y="2590800"/>
            <a:ext cx="685800" cy="47625"/>
          </a:xfrm>
          <a:prstGeom prst="rect">
            <a:avLst/>
          </a:prstGeom>
          <a:solidFill>
            <a:srgbClr val="FA4F24"/>
          </a:solidFill>
          <a:ln/>
        </p:spPr>
        <p:txBody>
          <a:bodyPr/>
          <a:p/>
        </p:txBody>
      </p:sp>
      <p:sp>
        <p:nvSpPr>
          <p:cNvPr id="392" name="" descr="{&quot;isTemplate&quot;:true,&quot;type&quot;:&quot;text&quot;}"/>
          <p:cNvSpPr txBox="1"/>
          <p:nvPr/>
        </p:nvSpPr>
        <p:spPr>
          <a:xfrm rot="0" flipH="0" flipV="0">
            <a:off x="838200" y="2905125"/>
            <a:ext cx="6667500" cy="685800"/>
          </a:xfrm>
          <a:prstGeom prst="rect"/>
        </p:spPr>
        <p:txBody>
          <a:bodyPr wrap="none" lIns="0" tIns="0" rIns="0" bIns="0"/>
          <a:p>
            <a:pPr>
              <a:lnSpc>
                <a:spcPct val="114999"/>
              </a:lnSpc>
            </a:pPr>
            <a:r>
              <a:rPr lang="zh-CN" sz="3900" b="1">
                <a:solidFill>
                  <a:srgbClr val="FFFFFF"/>
                </a:solidFill>
                <a:latin typeface="Microsoft YaHei"/>
                <a:ea typeface="Microsoft YaHei"/>
              </a:rPr>
              <a:t>治理与四方关系</a:t>
            </a:r>
            <a:endParaRPr/>
          </a:p>
        </p:txBody>
      </p:sp>
      <p:sp>
        <p:nvSpPr>
          <p:cNvPr id="393" name="" descr="{&quot;isTemplate&quot;:true,&quot;type&quot;:&quot;text&quot;}"/>
          <p:cNvSpPr txBox="1"/>
          <p:nvPr/>
        </p:nvSpPr>
        <p:spPr>
          <a:xfrm rot="0" flipH="0" flipV="0">
            <a:off x="838200" y="3781425"/>
            <a:ext cx="6667500" cy="200025"/>
          </a:xfrm>
          <a:prstGeom prst="rect"/>
        </p:spPr>
        <p:txBody>
          <a:bodyPr wrap="none" lIns="0" tIns="0" rIns="0" bIns="0"/>
          <a:p>
            <a:pPr>
              <a:lnSpc>
                <a:spcPct val="100000"/>
              </a:lnSpc>
            </a:pPr>
            <a:r>
              <a:rPr lang="en-US" sz="1275" spc="150">
                <a:solidFill>
                  <a:srgbClr val="FFFFFF">
                    <a:alpha val="62000"/>
                  </a:srgbClr>
                </a:solidFill>
                <a:latin typeface="Microsoft YaHei"/>
                <a:ea typeface="Microsoft YaHei"/>
              </a:rPr>
              <a:t>GOVERNANCE ACROSS THE STACK</a:t>
            </a:r>
            <a:endParaRPr/>
          </a:p>
        </p:txBody>
      </p:sp>
      <p:sp>
        <p:nvSpPr>
          <p:cNvPr id="394" name="" descr="{&quot;isTemplate&quot;:true,&quot;type&quot;:&quot;text&quot;}"/>
          <p:cNvSpPr txBox="1"/>
          <p:nvPr/>
        </p:nvSpPr>
        <p:spPr>
          <a:xfrm rot="0" flipH="0" flipV="0">
            <a:off x="838200" y="4229100"/>
            <a:ext cx="6667500" cy="352425"/>
          </a:xfrm>
          <a:prstGeom prst="rect"/>
        </p:spPr>
        <p:txBody>
          <a:bodyPr wrap="none" lIns="0" tIns="0" rIns="0" bIns="0"/>
          <a:p>
            <a:pPr>
              <a:lnSpc>
                <a:spcPct val="160000"/>
              </a:lnSpc>
            </a:pPr>
            <a:r>
              <a:rPr lang="zh-CN" sz="1425">
                <a:solidFill>
                  <a:srgbClr val="FFFFFF">
                    <a:alpha val="85000"/>
                  </a:srgbClr>
                </a:solidFill>
                <a:latin typeface="Microsoft YaHei"/>
                <a:ea typeface="Microsoft YaHei"/>
              </a:rPr>
              <a:t>标记怎么随管道传播、怎么随切片走、怎么管住智能体的记忆与日志</a:t>
            </a:r>
            <a:endParaRPr/>
          </a:p>
        </p:txBody>
      </p:sp>
      <p:sp>
        <p:nvSpPr>
          <p:cNvPr id="395" name=""/>
          <p:cNvSpPr/>
          <p:nvPr/>
        </p:nvSpPr>
        <p:spPr>
          <a:xfrm rot="0" flipH="0" flipV="0">
            <a:off x="8572500" y="6105525"/>
            <a:ext cx="133350" cy="133350"/>
          </a:xfrm>
          <a:prstGeom prst="rect">
            <a:avLst/>
          </a:prstGeom>
          <a:solidFill>
            <a:srgbClr val="FA4F24"/>
          </a:solidFill>
          <a:ln/>
        </p:spPr>
        <p:txBody>
          <a:bodyPr/>
          <a:p/>
        </p:txBody>
      </p:sp>
      <p:sp>
        <p:nvSpPr>
          <p:cNvPr id="396" name="" descr="{&quot;isTemplate&quot;:true,&quot;type&quot;:&quot;text&quot;}"/>
          <p:cNvSpPr txBox="1"/>
          <p:nvPr/>
        </p:nvSpPr>
        <p:spPr>
          <a:xfrm rot="0" flipH="0" flipV="0">
            <a:off x="8820150" y="6086475"/>
            <a:ext cx="184785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a:t>
            </a:r>
            <a:r>
              <a:rPr lang="zh-CN" sz="1050">
                <a:solidFill>
                  <a:srgbClr val="FFFFFF">
                    <a:alpha val="50000"/>
                  </a:srgbClr>
                </a:solidFill>
                <a:latin typeface="Microsoft YaHei"/>
                <a:ea typeface="Microsoft YaHei"/>
              </a:rPr>
              <a:t>数据治理咨询方法论</a:t>
            </a:r>
            <a:endParaRPr/>
          </a:p>
        </p:txBody>
      </p:sp>
      <p:sp>
        <p:nvSpPr>
          <p:cNvPr id="397" name="" descr="{&quot;isTemplate&quot;:true,&quot;type&quot;:&quot;text&quot;}"/>
          <p:cNvSpPr txBox="1"/>
          <p:nvPr/>
        </p:nvSpPr>
        <p:spPr>
          <a:xfrm rot="0" flipH="0" flipV="0">
            <a:off x="10896600" y="60864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17 / 30</a:t>
            </a:r>
            <a:endParaRPr/>
          </a:p>
        </p:txBody>
      </p:sp>
    </p:spTree>
  </p:cSld>
</p:sld>
</file>

<file path=ppt/slides/slide18.xml><?xml version="1.0" encoding="utf-8"?>
<p:sld xmlns:p="http://schemas.openxmlformats.org/presentationml/2006/main" xmlns:a="http://schemas.openxmlformats.org/drawingml/2006/main">
  <p:cSld>
    <p:spTree>
      <p:nvGrpSpPr>
        <p:cNvPr id="398" name="" descr="&lt;Slide style={{ width: 1280, height: 720, background: '#FFFFFF', padding: '24px 64px 0' }}&gt;&#10;    &lt;Box style={{ height: 96, flexDirection: 'column', justifyContent: 'flex-start' }}&gt;&#10;      &lt;Text style={{ fontSize: 32, fontWeight: 'bold', color: '#0F1423' }}&gt;&#10;        治理 &lt;span style={{ color: '#FA4F24' }}&gt;×&lt;/span&gt; 管道：标记沿血缘自动传播&#10;      &lt;/Text&gt;&#10;      &lt;Text style={{ fontSize: 20, color: '#8A8F99', marginTop: 8 }}&gt;&#10;        管道是治理最大的放大器——它既能让标记正确传递，也能在一次清洗里把标记洗掉&#10;      &lt;/Text&gt;&#10;    &lt;/Box&gt;&#10;    &lt;Box style={{ height: 1, background: '#E8E8E8' }} /&gt;&#10;&#10;    &lt;Box style={{ paddingTop: 14, paddingBottom: 8, height: 479, flexDirection: 'column', gap: 10 }}&gt;&#10;      &lt;Box style={{ height: 202, background: '#0F1423', borderRadius: 4, padding: '14px 18px', flexDirection: 'column' }}&gt;&#10;        &lt;Text style={{ fontSize: 14, fontWeight: 'bold', color: '#FBA15C' }}&gt;标记传播的两种机制与一次中断&lt;/Text&gt;&#10;        &lt;Box style={{ flex: 1, flexDirection: 'row', gap: 10, marginTop: 11 }}&gt;&#10;          &lt;Box style={{ flex: 1, background: 'rgba(255,255,255,0.07)', borderRadius: 3, borderLeft: '3px solid #FA4F24', padding: '10px 12px', flexDirection: 'column' }}&gt;&#10;            &lt;Text style={{ fontSize: 13, fontWeight: 'bold', color: '#FFFFFF' }}&gt;容器继承&lt;/Text&gt;&#10;            &lt;Text style={{ fontSize: 11.5, color: 'rgba(255,255,255,0.78)', marginTop: 6, lineHeight: 1.5 }}&gt;&#10;              存在带标记的项目或文件夹里的资源，自动继承该容器的标记。这一条靠组织纪律就能守住。&#10;            &lt;/Text&gt;&#10;          &lt;/Box&gt;&#10;          &lt;Box style={{ flex: 1.2, background: 'rgba(250,79,36,0.16)', borderRadius: 3, borderLeft: '3px solid #FA4F24', padding: '10px 12px', flexDirection: 'column' }}&gt;&#10;            &lt;Text style={{ fontSize: 13, fontWeight: 'bold', color: '#FA4F24' }}&gt;血缘传播（最关键）&lt;/Text&gt;&#10;            &lt;Text style={{ fontSize: 11.5, color: 'rgba(255,255,255,0.85)', marginTop: 6, lineHeight: 1.5 }}&gt;&#10;              用带标记的数据集经过清洗、聚合、富化生成新数据集时，构建系统会自动分析血缘，把标记强制施加到下游产物上。无论经过多少次变换，只要源头带敏感标记，所有衍生物都自动携带。开发者无法在代码里简单地把标记去掉。&#10;            &lt;/Text&gt;&#10;          &lt;/Box&gt;&#10;          &lt;Box style={{ flex: 1, background: 'rgba(255,255,255,0.07)', borderRadius: 3, borderLeft: '3px solid #C43A17', padding: '10px 12px', flexDirection: 'column' }}&gt;&#10;            &lt;Text style={{ fontSize: 13, fontWeight: 'bold', color: '#C43A17' }}&gt;传播中断&lt;/Text&gt;&#10;            &lt;Text style={{ fontSize: 11.5, color: 'rgba(255,255,255,0.78)', marginTop: 6, lineHeight: 1.5 }}&gt;&#10;              语法上可以主动打断遗传，但这是敏感操作：需要「去标记」特权、分支受保护、除作者外第二人审批，三条缺一不可。&#10;            &lt;/Text&gt;&#10;          &lt;/Box&gt;&#10;        &lt;/Box&gt;&#10;        &lt;Text style={{ fontSize: 11.5, color: 'rgba(255,255,255,0.72)', marginTop: 10, lineHeight: 1.5 }}&gt;&#10;          逻辑是严格的「与」：一个数据对象同时带有若干标记，用户必须同时拥有全部标记才能访问。这样才能同时满足「通过式授权」和「知情权」的双重要求。&#10;        &lt;/Text&gt;&#10;      &lt;/Box&gt;&#10;&#10;      &lt;Box style={{ flex: 1, flexDirection: 'row', gap: 10 }}&gt;&#10;        &lt;Box style={{ flex: 1, background: '#FFF3EE', borderRadius: 4, borderLeft: '4px solid #FA4F24', padding: '13px 17px', flexDirection: 'column', justifyContent: 'center' }}&gt;&#10;          &lt;Text style={{ fontSize: 14, fontWeight: 'bold', color: '#C43A17' }}&gt;治理在管道上要落的三个动作&lt;/Text&gt;&#10;          &lt;Text style={{ fontSize: 12, color: '#3A4050', marginTop: 7, lineHeight: 1.55 }}&gt;&#10;            一、在同步任务的粒度上打标记，而不是只在文件粒度——官方支持同步集合甚至单个同步按角色或分类级做控制；二、在管道分支沙箱里就能验标记是否正确传播，别等上线才发现洗掉了；三、把「是否发生过降级」写进元数据，让下游知道这份数据已经不是原始密级了。&#10;          &lt;/Text&gt;&#10;        &lt;/Box&gt;&#10;        &lt;Box style={{ flex: 1, background: '#F7F7F8', borderRadius: 4, padding: '13px 17px', flexDirection: 'column', justifyContent: 'center' }}&gt;&#10;          &lt;Text style={{ fontSize: 14, fontWeight: 'bold', color: '#0F1423' }}&gt;管道治理的反面案例&lt;/Text&gt;&#10;          &lt;Text style={{ fontSize: 12, color: '#3A4050', marginTop: 7, lineHeight: 1.55 }}&gt;&#10;            最常见的翻车方式不是忘记打标记，而是显式去标记后忘了补回来——数据流出去时是对的，回来就变成裸的了。症状是下游反复出现「这个字段怎么突然不见了」，或者反过来「这个字段怎么突然出现了」。处方是把降级事件建成一等公民元数据，而不是当成一次性操作。&#10;          &lt;/Text&gt;&#10;        &lt;/Box&gt;&#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18 / 30&lt;/Text&gt;&#10;    &lt;/Box&gt;&#10;&lt;/Slide&gt;&#10;"/>
        <p:cNvGrpSpPr/>
        <p:nvPr/>
      </p:nvGrpSpPr>
      <p:grpSpPr>
        <a:xfrm>
          <a:off x="0" y="0"/>
          <a:ext cx="0" cy="0"/>
          <a:chOff x="0" y="0"/>
          <a:chExt cx="0" cy="0"/>
        </a:xfrm>
      </p:grpSpPr>
      <p:sp>
        <p:nvSpPr>
          <p:cNvPr id="399" name=""/>
          <p:cNvSpPr/>
          <p:nvPr/>
        </p:nvSpPr>
        <p:spPr>
          <a:xfrm rot="0" flipH="0" flipV="0">
            <a:off x="0" y="0"/>
            <a:ext cx="12192000" cy="6858000"/>
          </a:xfrm>
          <a:prstGeom prst="rect">
            <a:avLst/>
          </a:prstGeom>
          <a:solidFill>
            <a:srgbClr val="FFFFFF"/>
          </a:solidFill>
          <a:ln/>
        </p:spPr>
        <p:txBody>
          <a:bodyPr/>
          <a:p/>
        </p:txBody>
      </p:sp>
      <p:sp>
        <p:nvSpPr>
          <p:cNvPr id="400"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治理</a:t>
            </a:r>
            <a:r>
              <a:rPr lang="en-US" sz="2400" b="1">
                <a:solidFill>
                  <a:srgbClr val="0F1423"/>
                </a:solidFill>
                <a:latin typeface="Microsoft YaHei"/>
                <a:ea typeface="Microsoft YaHei"/>
              </a:rPr>
              <a:t xml:space="preserve"> </a:t>
            </a:r>
            <a:r>
              <a:rPr sz="2400" b="1">
                <a:solidFill>
                  <a:srgbClr val="FA4F24"/>
                </a:solidFill>
                <a:latin typeface="Microsoft YaHei"/>
                <a:ea typeface="Microsoft YaHei"/>
              </a:rPr>
              <a:t>×</a:t>
            </a:r>
            <a:r>
              <a:rPr lang="en-US" sz="2400" b="1">
                <a:solidFill>
                  <a:srgbClr val="0F1423"/>
                </a:solidFill>
                <a:latin typeface="Microsoft YaHei"/>
                <a:ea typeface="Microsoft YaHei"/>
              </a:rPr>
              <a:t xml:space="preserve"> </a:t>
            </a:r>
            <a:r>
              <a:rPr lang="zh-CN" sz="2400" b="1">
                <a:solidFill>
                  <a:srgbClr val="0F1423"/>
                </a:solidFill>
                <a:latin typeface="Microsoft YaHei"/>
                <a:ea typeface="Microsoft YaHei"/>
              </a:rPr>
              <a:t>管道：标记沿血缘自动传播</a:t>
            </a:r>
            <a:endParaRPr/>
          </a:p>
        </p:txBody>
      </p:sp>
      <p:sp>
        <p:nvSpPr>
          <p:cNvPr id="401"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管道是治理最大的放大器——它既能让标记正确传递，也能在一次清洗里把标记洗掉</a:t>
            </a:r>
            <a:endParaRPr/>
          </a:p>
        </p:txBody>
      </p:sp>
      <p:sp>
        <p:nvSpPr>
          <p:cNvPr id="402" name=""/>
          <p:cNvSpPr/>
          <p:nvPr/>
        </p:nvSpPr>
        <p:spPr>
          <a:xfrm rot="0" flipH="0" flipV="0">
            <a:off x="609600" y="1143000"/>
            <a:ext cx="10972800" cy="9525"/>
          </a:xfrm>
          <a:prstGeom prst="rect">
            <a:avLst/>
          </a:prstGeom>
          <a:solidFill>
            <a:srgbClr val="E8E8E8"/>
          </a:solidFill>
          <a:ln/>
        </p:spPr>
        <p:txBody>
          <a:bodyPr/>
          <a:p/>
        </p:txBody>
      </p:sp>
      <p:sp>
        <p:nvSpPr>
          <p:cNvPr id="403" name=""/>
          <p:cNvSpPr/>
          <p:nvPr/>
        </p:nvSpPr>
        <p:spPr>
          <a:xfrm rot="0" flipH="0" flipV="0">
            <a:off x="609600" y="1285875"/>
            <a:ext cx="10972800" cy="1924050"/>
          </a:xfrm>
          <a:prstGeom prst="roundRect">
            <a:avLst>
              <a:gd name="adj" fmla="val 1980"/>
            </a:avLst>
          </a:prstGeom>
          <a:solidFill>
            <a:srgbClr val="0F1423"/>
          </a:solidFill>
          <a:ln/>
        </p:spPr>
        <p:txBody>
          <a:bodyPr/>
          <a:p/>
        </p:txBody>
      </p:sp>
      <p:sp>
        <p:nvSpPr>
          <p:cNvPr id="404" name="" descr="{&quot;isTemplate&quot;:true,&quot;type&quot;:&quot;text&quot;}"/>
          <p:cNvSpPr txBox="1"/>
          <p:nvPr/>
        </p:nvSpPr>
        <p:spPr>
          <a:xfrm rot="0" flipH="0" flipV="0">
            <a:off x="781050" y="1419225"/>
            <a:ext cx="10629900" cy="161925"/>
          </a:xfrm>
          <a:prstGeom prst="rect"/>
        </p:spPr>
        <p:txBody>
          <a:bodyPr wrap="none" lIns="0" tIns="0" rIns="0" bIns="0"/>
          <a:p>
            <a:pPr>
              <a:lnSpc>
                <a:spcPct val="100000"/>
              </a:lnSpc>
            </a:pPr>
            <a:r>
              <a:rPr lang="zh-CN" sz="1050" b="1">
                <a:solidFill>
                  <a:srgbClr val="FBA15C"/>
                </a:solidFill>
                <a:latin typeface="Microsoft YaHei"/>
                <a:ea typeface="Microsoft YaHei"/>
              </a:rPr>
              <a:t>标记传播的两种机制与一次中断</a:t>
            </a:r>
            <a:endParaRPr/>
          </a:p>
        </p:txBody>
      </p:sp>
      <p:sp>
        <p:nvSpPr>
          <p:cNvPr id="405" name=""/>
          <p:cNvSpPr/>
          <p:nvPr/>
        </p:nvSpPr>
        <p:spPr>
          <a:xfrm rot="0" flipH="0" flipV="0">
            <a:off x="809625" y="1685925"/>
            <a:ext cx="3267075" cy="1190625"/>
          </a:xfrm>
          <a:prstGeom prst="roundRect">
            <a:avLst>
              <a:gd name="adj" fmla="val 2400"/>
            </a:avLst>
          </a:prstGeom>
          <a:solidFill>
            <a:srgbClr val="FFFFFF">
              <a:alpha val="7000"/>
            </a:srgbClr>
          </a:solidFill>
          <a:ln/>
        </p:spPr>
        <p:txBody>
          <a:bodyPr/>
          <a:p/>
        </p:txBody>
      </p:sp>
      <p:sp>
        <p:nvSpPr>
          <p:cNvPr id="406" name=""/>
          <p:cNvSpPr/>
          <p:nvPr/>
        </p:nvSpPr>
        <p:spPr>
          <a:xfrm rot="0" flipH="0" flipV="0">
            <a:off x="809625" y="1685925"/>
            <a:ext cx="3267075" cy="1190625"/>
          </a:xfrm>
          <a:custGeom>
            <a:pathLst>
              <a:path w="343" h="125">
                <a:moveTo>
                  <a:pt x="3" y="125"/>
                </a:moveTo>
                <a:cubicBezTo>
                  <a:pt x="1" y="125"/>
                  <a:pt x="0" y="124"/>
                  <a:pt x="0" y="122"/>
                </a:cubicBezTo>
                <a:lnTo>
                  <a:pt x="0" y="3"/>
                </a:lnTo>
                <a:cubicBezTo>
                  <a:pt x="0" y="1"/>
                  <a:pt x="1" y="0"/>
                  <a:pt x="3" y="0"/>
                </a:cubicBezTo>
                <a:lnTo>
                  <a:pt x="3" y="125"/>
                </a:lnTo>
                <a:close/>
              </a:path>
            </a:pathLst>
          </a:custGeom>
          <a:solidFill>
            <a:srgbClr val="FA4F24"/>
          </a:solidFill>
          <a:ln/>
        </p:spPr>
        <p:txBody>
          <a:bodyPr/>
          <a:p/>
        </p:txBody>
      </p:sp>
      <p:sp>
        <p:nvSpPr>
          <p:cNvPr id="407" name="" descr="{&quot;isTemplate&quot;:true,&quot;type&quot;:&quot;text&quot;}"/>
          <p:cNvSpPr txBox="1"/>
          <p:nvPr/>
        </p:nvSpPr>
        <p:spPr>
          <a:xfrm rot="0" flipH="0" flipV="0">
            <a:off x="923925" y="1781175"/>
            <a:ext cx="3009900" cy="152400"/>
          </a:xfrm>
          <a:prstGeom prst="rect"/>
        </p:spPr>
        <p:txBody>
          <a:bodyPr wrap="none" lIns="0" tIns="0" rIns="0" bIns="0"/>
          <a:p>
            <a:pPr>
              <a:lnSpc>
                <a:spcPct val="100000"/>
              </a:lnSpc>
            </a:pPr>
            <a:r>
              <a:rPr lang="zh-CN" sz="975" b="1">
                <a:solidFill>
                  <a:srgbClr val="FFFFFF"/>
                </a:solidFill>
                <a:latin typeface="Microsoft YaHei"/>
                <a:ea typeface="Microsoft YaHei"/>
              </a:rPr>
              <a:t>容器继承</a:t>
            </a:r>
            <a:endParaRPr/>
          </a:p>
        </p:txBody>
      </p:sp>
      <p:sp>
        <p:nvSpPr>
          <p:cNvPr id="408" name="" descr="{&quot;isTemplate&quot;:true,&quot;type&quot;:&quot;text&quot;}"/>
          <p:cNvSpPr txBox="1"/>
          <p:nvPr/>
        </p:nvSpPr>
        <p:spPr>
          <a:xfrm rot="0" flipH="0" flipV="0">
            <a:off x="923925" y="1990725"/>
            <a:ext cx="3009900" cy="400050"/>
          </a:xfrm>
          <a:prstGeom prst="rect"/>
        </p:spPr>
        <p:txBody>
          <a:bodyPr wrap="square" lIns="0" tIns="0" rIns="0" bIns="0">
            <a:normAutofit/>
          </a:bodyPr>
          <a:p>
            <a:pPr>
              <a:lnSpc>
                <a:spcPct val="150000"/>
              </a:lnSpc>
            </a:pPr>
            <a:r>
              <a:rPr lang="zh-CN" sz="863">
                <a:solidFill>
                  <a:srgbClr val="FFFFFF">
                    <a:alpha val="78000"/>
                  </a:srgbClr>
                </a:solidFill>
                <a:latin typeface="Microsoft YaHei"/>
                <a:ea typeface="Microsoft YaHei"/>
              </a:rPr>
              <a:t>存在带标记的项目或文件夹里的资源，自动继承该容器的标记。这一条靠组织纪律就能守住。</a:t>
            </a:r>
            <a:endParaRPr/>
          </a:p>
        </p:txBody>
      </p:sp>
      <p:sp>
        <p:nvSpPr>
          <p:cNvPr id="409" name=""/>
          <p:cNvSpPr/>
          <p:nvPr/>
        </p:nvSpPr>
        <p:spPr>
          <a:xfrm rot="0" flipH="0" flipV="0">
            <a:off x="4171950" y="1685925"/>
            <a:ext cx="3914775" cy="1190625"/>
          </a:xfrm>
          <a:prstGeom prst="roundRect">
            <a:avLst>
              <a:gd name="adj" fmla="val 2400"/>
            </a:avLst>
          </a:prstGeom>
          <a:solidFill>
            <a:srgbClr val="FA4F24">
              <a:alpha val="16000"/>
            </a:srgbClr>
          </a:solidFill>
          <a:ln/>
        </p:spPr>
        <p:txBody>
          <a:bodyPr/>
          <a:p/>
        </p:txBody>
      </p:sp>
      <p:sp>
        <p:nvSpPr>
          <p:cNvPr id="410" name=""/>
          <p:cNvSpPr/>
          <p:nvPr/>
        </p:nvSpPr>
        <p:spPr>
          <a:xfrm rot="0" flipH="0" flipV="0">
            <a:off x="4171950" y="1685925"/>
            <a:ext cx="3914775" cy="1190625"/>
          </a:xfrm>
          <a:custGeom>
            <a:pathLst>
              <a:path w="411" h="125">
                <a:moveTo>
                  <a:pt x="3" y="125"/>
                </a:moveTo>
                <a:cubicBezTo>
                  <a:pt x="1" y="125"/>
                  <a:pt x="0" y="124"/>
                  <a:pt x="0" y="122"/>
                </a:cubicBezTo>
                <a:lnTo>
                  <a:pt x="0" y="3"/>
                </a:lnTo>
                <a:cubicBezTo>
                  <a:pt x="0" y="1"/>
                  <a:pt x="1" y="0"/>
                  <a:pt x="3" y="0"/>
                </a:cubicBezTo>
                <a:lnTo>
                  <a:pt x="3" y="125"/>
                </a:lnTo>
                <a:close/>
              </a:path>
            </a:pathLst>
          </a:custGeom>
          <a:solidFill>
            <a:srgbClr val="FA4F24"/>
          </a:solidFill>
          <a:ln/>
        </p:spPr>
        <p:txBody>
          <a:bodyPr/>
          <a:p/>
        </p:txBody>
      </p:sp>
      <p:sp>
        <p:nvSpPr>
          <p:cNvPr id="411" name="" descr="{&quot;isTemplate&quot;:true,&quot;type&quot;:&quot;text&quot;}"/>
          <p:cNvSpPr txBox="1"/>
          <p:nvPr/>
        </p:nvSpPr>
        <p:spPr>
          <a:xfrm rot="0" flipH="0" flipV="0">
            <a:off x="4286250" y="1781175"/>
            <a:ext cx="3657600" cy="152400"/>
          </a:xfrm>
          <a:prstGeom prst="rect"/>
        </p:spPr>
        <p:txBody>
          <a:bodyPr wrap="none" lIns="0" tIns="0" rIns="0" bIns="0"/>
          <a:p>
            <a:pPr>
              <a:lnSpc>
                <a:spcPct val="100000"/>
              </a:lnSpc>
            </a:pPr>
            <a:r>
              <a:rPr lang="zh-CN" sz="975" b="1">
                <a:solidFill>
                  <a:srgbClr val="FA4F24"/>
                </a:solidFill>
                <a:latin typeface="Microsoft YaHei"/>
                <a:ea typeface="Microsoft YaHei"/>
              </a:rPr>
              <a:t>血缘传播（最关键）</a:t>
            </a:r>
            <a:endParaRPr/>
          </a:p>
        </p:txBody>
      </p:sp>
      <p:sp>
        <p:nvSpPr>
          <p:cNvPr id="412" name="" descr="{&quot;isTemplate&quot;:true,&quot;type&quot;:&quot;text&quot;}"/>
          <p:cNvSpPr txBox="1"/>
          <p:nvPr/>
        </p:nvSpPr>
        <p:spPr>
          <a:xfrm rot="0" flipH="0" flipV="0">
            <a:off x="4286250" y="1990725"/>
            <a:ext cx="3657600" cy="790575"/>
          </a:xfrm>
          <a:prstGeom prst="rect"/>
        </p:spPr>
        <p:txBody>
          <a:bodyPr wrap="square" lIns="0" tIns="0" rIns="0" bIns="0">
            <a:normAutofit/>
          </a:bodyPr>
          <a:p>
            <a:pPr>
              <a:lnSpc>
                <a:spcPct val="150000"/>
              </a:lnSpc>
            </a:pPr>
            <a:r>
              <a:rPr lang="zh-CN" sz="863">
                <a:solidFill>
                  <a:srgbClr val="FFFFFF">
                    <a:alpha val="85000"/>
                  </a:srgbClr>
                </a:solidFill>
                <a:latin typeface="Microsoft YaHei"/>
                <a:ea typeface="Microsoft YaHei"/>
              </a:rPr>
              <a:t>用带标记的数据集经过清洗、聚合、富化生成新数据集时，构建系统会自动分析血缘，把标记强制施加到下游产物上。无论经过多少次变换，只要源头带敏感标记，所有衍生物都自动携带。开发者无法在代码里简单地把标记去掉。</a:t>
            </a:r>
            <a:endParaRPr/>
          </a:p>
        </p:txBody>
      </p:sp>
      <p:sp>
        <p:nvSpPr>
          <p:cNvPr id="413" name=""/>
          <p:cNvSpPr/>
          <p:nvPr/>
        </p:nvSpPr>
        <p:spPr>
          <a:xfrm rot="0" flipH="0" flipV="0">
            <a:off x="8181975" y="1685925"/>
            <a:ext cx="3257550" cy="1190625"/>
          </a:xfrm>
          <a:prstGeom prst="roundRect">
            <a:avLst>
              <a:gd name="adj" fmla="val 2400"/>
            </a:avLst>
          </a:prstGeom>
          <a:solidFill>
            <a:srgbClr val="FFFFFF">
              <a:alpha val="7000"/>
            </a:srgbClr>
          </a:solidFill>
          <a:ln/>
        </p:spPr>
        <p:txBody>
          <a:bodyPr/>
          <a:p/>
        </p:txBody>
      </p:sp>
      <p:sp>
        <p:nvSpPr>
          <p:cNvPr id="414" name=""/>
          <p:cNvSpPr/>
          <p:nvPr/>
        </p:nvSpPr>
        <p:spPr>
          <a:xfrm rot="0" flipH="0" flipV="0">
            <a:off x="8181975" y="1685925"/>
            <a:ext cx="3257550" cy="1190625"/>
          </a:xfrm>
          <a:custGeom>
            <a:pathLst>
              <a:path w="342" h="125">
                <a:moveTo>
                  <a:pt x="3" y="125"/>
                </a:moveTo>
                <a:cubicBezTo>
                  <a:pt x="1" y="125"/>
                  <a:pt x="0" y="124"/>
                  <a:pt x="0" y="122"/>
                </a:cubicBezTo>
                <a:lnTo>
                  <a:pt x="0" y="3"/>
                </a:lnTo>
                <a:cubicBezTo>
                  <a:pt x="0" y="1"/>
                  <a:pt x="1" y="0"/>
                  <a:pt x="3" y="0"/>
                </a:cubicBezTo>
                <a:lnTo>
                  <a:pt x="3" y="125"/>
                </a:lnTo>
                <a:close/>
              </a:path>
            </a:pathLst>
          </a:custGeom>
          <a:solidFill>
            <a:srgbClr val="C43A17"/>
          </a:solidFill>
          <a:ln/>
        </p:spPr>
        <p:txBody>
          <a:bodyPr/>
          <a:p/>
        </p:txBody>
      </p:sp>
      <p:sp>
        <p:nvSpPr>
          <p:cNvPr id="415" name="" descr="{&quot;isTemplate&quot;:true,&quot;type&quot;:&quot;text&quot;}"/>
          <p:cNvSpPr txBox="1"/>
          <p:nvPr/>
        </p:nvSpPr>
        <p:spPr>
          <a:xfrm rot="0" flipH="0" flipV="0">
            <a:off x="8296275" y="1781175"/>
            <a:ext cx="3000375" cy="152400"/>
          </a:xfrm>
          <a:prstGeom prst="rect"/>
        </p:spPr>
        <p:txBody>
          <a:bodyPr wrap="none" lIns="0" tIns="0" rIns="0" bIns="0"/>
          <a:p>
            <a:pPr>
              <a:lnSpc>
                <a:spcPct val="100000"/>
              </a:lnSpc>
            </a:pPr>
            <a:r>
              <a:rPr lang="zh-CN" sz="975" b="1">
                <a:solidFill>
                  <a:srgbClr val="C43A17"/>
                </a:solidFill>
                <a:latin typeface="Microsoft YaHei"/>
                <a:ea typeface="Microsoft YaHei"/>
              </a:rPr>
              <a:t>传播中断</a:t>
            </a:r>
            <a:endParaRPr/>
          </a:p>
        </p:txBody>
      </p:sp>
      <p:sp>
        <p:nvSpPr>
          <p:cNvPr id="416" name="" descr="{&quot;isTemplate&quot;:true,&quot;type&quot;:&quot;text&quot;}"/>
          <p:cNvSpPr txBox="1"/>
          <p:nvPr/>
        </p:nvSpPr>
        <p:spPr>
          <a:xfrm rot="0" flipH="0" flipV="0">
            <a:off x="8296275" y="1990725"/>
            <a:ext cx="3000375" cy="400050"/>
          </a:xfrm>
          <a:prstGeom prst="rect"/>
        </p:spPr>
        <p:txBody>
          <a:bodyPr wrap="square" lIns="0" tIns="0" rIns="0" bIns="0">
            <a:normAutofit/>
          </a:bodyPr>
          <a:p>
            <a:pPr>
              <a:lnSpc>
                <a:spcPct val="150000"/>
              </a:lnSpc>
            </a:pPr>
            <a:r>
              <a:rPr lang="zh-CN" sz="863">
                <a:solidFill>
                  <a:srgbClr val="FFFFFF">
                    <a:alpha val="78000"/>
                  </a:srgbClr>
                </a:solidFill>
                <a:latin typeface="Microsoft YaHei"/>
                <a:ea typeface="Microsoft YaHei"/>
              </a:rPr>
              <a:t>语法上可以主动打断遗传，但这是敏感操作：需要「去标记」特权、分支受保护、除作者外第二人审批，三条缺一不可。</a:t>
            </a:r>
            <a:endParaRPr/>
          </a:p>
        </p:txBody>
      </p:sp>
      <p:sp>
        <p:nvSpPr>
          <p:cNvPr id="417" name="" descr="{&quot;isTemplate&quot;:true,&quot;type&quot;:&quot;text&quot;}"/>
          <p:cNvSpPr txBox="1"/>
          <p:nvPr/>
        </p:nvSpPr>
        <p:spPr>
          <a:xfrm rot="0" flipH="0" flipV="0">
            <a:off x="781050" y="2971800"/>
            <a:ext cx="10629900" cy="200025"/>
          </a:xfrm>
          <a:prstGeom prst="rect"/>
        </p:spPr>
        <p:txBody>
          <a:bodyPr wrap="none" lIns="0" tIns="0" rIns="0" bIns="0"/>
          <a:p>
            <a:pPr>
              <a:lnSpc>
                <a:spcPct val="150000"/>
              </a:lnSpc>
            </a:pPr>
            <a:r>
              <a:rPr lang="zh-CN" sz="863">
                <a:solidFill>
                  <a:srgbClr val="FFFFFF">
                    <a:alpha val="72000"/>
                  </a:srgbClr>
                </a:solidFill>
                <a:latin typeface="Microsoft YaHei"/>
                <a:ea typeface="Microsoft YaHei"/>
              </a:rPr>
              <a:t>逻辑是严格的「与」：一个数据对象同时带有若干标记，用户必须同时拥有全部标记才能访问。这样才能同时满足「通过式授权」和「知情权」的双重要求。</a:t>
            </a:r>
            <a:endParaRPr/>
          </a:p>
        </p:txBody>
      </p:sp>
      <p:sp>
        <p:nvSpPr>
          <p:cNvPr id="418" name=""/>
          <p:cNvSpPr/>
          <p:nvPr/>
        </p:nvSpPr>
        <p:spPr>
          <a:xfrm rot="0" flipH="0" flipV="0">
            <a:off x="647700" y="3305175"/>
            <a:ext cx="5438775" cy="2333625"/>
          </a:xfrm>
          <a:prstGeom prst="roundRect">
            <a:avLst>
              <a:gd name="adj" fmla="val 1633"/>
            </a:avLst>
          </a:prstGeom>
          <a:solidFill>
            <a:srgbClr val="FFF3EE"/>
          </a:solidFill>
          <a:ln/>
        </p:spPr>
        <p:txBody>
          <a:bodyPr/>
          <a:p/>
        </p:txBody>
      </p:sp>
      <p:sp>
        <p:nvSpPr>
          <p:cNvPr id="419" name=""/>
          <p:cNvSpPr/>
          <p:nvPr/>
        </p:nvSpPr>
        <p:spPr>
          <a:xfrm rot="0" flipH="0" flipV="0">
            <a:off x="647700" y="3305175"/>
            <a:ext cx="5438775" cy="2333625"/>
          </a:xfrm>
          <a:custGeom>
            <a:pathLst>
              <a:path w="571" h="245">
                <a:moveTo>
                  <a:pt x="4" y="245"/>
                </a:moveTo>
                <a:cubicBezTo>
                  <a:pt x="2" y="245"/>
                  <a:pt x="0" y="243"/>
                  <a:pt x="0" y="241"/>
                </a:cubicBezTo>
                <a:lnTo>
                  <a:pt x="0" y="4"/>
                </a:lnTo>
                <a:cubicBezTo>
                  <a:pt x="0" y="2"/>
                  <a:pt x="2" y="0"/>
                  <a:pt x="4" y="0"/>
                </a:cubicBezTo>
                <a:lnTo>
                  <a:pt x="4" y="245"/>
                </a:lnTo>
                <a:close/>
              </a:path>
            </a:pathLst>
          </a:custGeom>
          <a:solidFill>
            <a:srgbClr val="FA4F24"/>
          </a:solidFill>
          <a:ln/>
        </p:spPr>
        <p:txBody>
          <a:bodyPr/>
          <a:p/>
        </p:txBody>
      </p:sp>
      <p:sp>
        <p:nvSpPr>
          <p:cNvPr id="420" name="" descr="{&quot;isTemplate&quot;:true,&quot;type&quot;:&quot;text&quot;}"/>
          <p:cNvSpPr txBox="1"/>
          <p:nvPr/>
        </p:nvSpPr>
        <p:spPr>
          <a:xfrm rot="0" flipH="0" flipV="0">
            <a:off x="809625" y="4038600"/>
            <a:ext cx="5076825" cy="161925"/>
          </a:xfrm>
          <a:prstGeom prst="rect"/>
        </p:spPr>
        <p:txBody>
          <a:bodyPr wrap="none" lIns="0" tIns="0" rIns="0" bIns="0"/>
          <a:p>
            <a:pPr>
              <a:lnSpc>
                <a:spcPct val="100000"/>
              </a:lnSpc>
            </a:pPr>
            <a:r>
              <a:rPr lang="zh-CN" sz="1050" b="1">
                <a:solidFill>
                  <a:srgbClr val="C43A17"/>
                </a:solidFill>
                <a:latin typeface="Microsoft YaHei"/>
                <a:ea typeface="Microsoft YaHei"/>
              </a:rPr>
              <a:t>治理在管道上要落的三个动作</a:t>
            </a:r>
            <a:endParaRPr/>
          </a:p>
        </p:txBody>
      </p:sp>
      <p:sp>
        <p:nvSpPr>
          <p:cNvPr id="421" name="" descr="{&quot;isTemplate&quot;:true,&quot;type&quot;:&quot;text&quot;}"/>
          <p:cNvSpPr txBox="1"/>
          <p:nvPr/>
        </p:nvSpPr>
        <p:spPr>
          <a:xfrm rot="0" flipH="0" flipV="0">
            <a:off x="809625" y="4267200"/>
            <a:ext cx="5076825" cy="638175"/>
          </a:xfrm>
          <a:prstGeom prst="rect"/>
        </p:spPr>
        <p:txBody>
          <a:bodyPr wrap="square" lIns="0" tIns="0" rIns="0" bIns="0">
            <a:normAutofit/>
          </a:bodyPr>
          <a:p>
            <a:pPr>
              <a:lnSpc>
                <a:spcPct val="155000"/>
              </a:lnSpc>
            </a:pPr>
            <a:r>
              <a:rPr lang="zh-CN" sz="900">
                <a:solidFill>
                  <a:srgbClr val="3A4050"/>
                </a:solidFill>
                <a:latin typeface="Microsoft YaHei"/>
                <a:ea typeface="Microsoft YaHei"/>
              </a:rPr>
              <a:t>一、在同步任务的粒度上打标记，而不是只在文件粒度——官方支持同步集合甚至单个同步按角色或分类级做控制；二、在管道分支沙箱里就能验标记是否正确传播，别等上线才发现洗掉了；三、把「是否发生过降级」写进元数据，让下游知道这份数据已经不是原始密级了。</a:t>
            </a:r>
            <a:endParaRPr/>
          </a:p>
        </p:txBody>
      </p:sp>
      <p:sp>
        <p:nvSpPr>
          <p:cNvPr id="422" name=""/>
          <p:cNvSpPr/>
          <p:nvPr/>
        </p:nvSpPr>
        <p:spPr>
          <a:xfrm rot="0" flipH="0" flipV="0">
            <a:off x="6143625" y="3305175"/>
            <a:ext cx="5438775" cy="2333625"/>
          </a:xfrm>
          <a:prstGeom prst="roundRect">
            <a:avLst>
              <a:gd name="adj" fmla="val 1633"/>
            </a:avLst>
          </a:prstGeom>
          <a:solidFill>
            <a:srgbClr val="F7F7F8"/>
          </a:solidFill>
          <a:ln/>
        </p:spPr>
        <p:txBody>
          <a:bodyPr/>
          <a:p/>
        </p:txBody>
      </p:sp>
      <p:sp>
        <p:nvSpPr>
          <p:cNvPr id="423" name="" descr="{&quot;isTemplate&quot;:true,&quot;type&quot;:&quot;text&quot;}"/>
          <p:cNvSpPr txBox="1"/>
          <p:nvPr/>
        </p:nvSpPr>
        <p:spPr>
          <a:xfrm rot="0" flipH="0" flipV="0">
            <a:off x="6305550" y="4038600"/>
            <a:ext cx="5114925" cy="161925"/>
          </a:xfrm>
          <a:prstGeom prst="rect"/>
        </p:spPr>
        <p:txBody>
          <a:bodyPr wrap="none" lIns="0" tIns="0" rIns="0" bIns="0"/>
          <a:p>
            <a:pPr>
              <a:lnSpc>
                <a:spcPct val="100000"/>
              </a:lnSpc>
            </a:pPr>
            <a:r>
              <a:rPr lang="zh-CN" sz="1050" b="1">
                <a:solidFill>
                  <a:srgbClr val="0F1423"/>
                </a:solidFill>
                <a:latin typeface="Microsoft YaHei"/>
                <a:ea typeface="Microsoft YaHei"/>
              </a:rPr>
              <a:t>管道治理的反面案例</a:t>
            </a:r>
            <a:endParaRPr/>
          </a:p>
        </p:txBody>
      </p:sp>
      <p:sp>
        <p:nvSpPr>
          <p:cNvPr id="424" name="" descr="{&quot;isTemplate&quot;:true,&quot;type&quot;:&quot;text&quot;}"/>
          <p:cNvSpPr txBox="1"/>
          <p:nvPr/>
        </p:nvSpPr>
        <p:spPr>
          <a:xfrm rot="0" flipH="0" flipV="0">
            <a:off x="6305550" y="4267200"/>
            <a:ext cx="5114925" cy="638175"/>
          </a:xfrm>
          <a:prstGeom prst="rect"/>
        </p:spPr>
        <p:txBody>
          <a:bodyPr wrap="square" lIns="0" tIns="0" rIns="0" bIns="0">
            <a:normAutofit/>
          </a:bodyPr>
          <a:p>
            <a:pPr>
              <a:lnSpc>
                <a:spcPct val="155000"/>
              </a:lnSpc>
            </a:pPr>
            <a:r>
              <a:rPr lang="zh-CN" sz="900">
                <a:solidFill>
                  <a:srgbClr val="3A4050"/>
                </a:solidFill>
                <a:latin typeface="Microsoft YaHei"/>
                <a:ea typeface="Microsoft YaHei"/>
              </a:rPr>
              <a:t>最常见的翻车方式不是忘记打标记，而是显式去标记后忘了补回来——数据流出去时是对的，回来就变成裸的了。症状是下游反复出现「这个字段怎么突然不见了」，或者反过来「这个字段怎么突然出现了」。处方是把降级事件建成一等公民元数据，而不是当成一次性操作。</a:t>
            </a:r>
            <a:endParaRPr/>
          </a:p>
        </p:txBody>
      </p:sp>
      <p:sp>
        <p:nvSpPr>
          <p:cNvPr id="425"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426" name=""/>
          <p:cNvSpPr/>
          <p:nvPr/>
        </p:nvSpPr>
        <p:spPr>
          <a:xfrm rot="0" flipH="0" flipV="0">
            <a:off x="609600" y="5953125"/>
            <a:ext cx="95250" cy="95250"/>
          </a:xfrm>
          <a:prstGeom prst="rect">
            <a:avLst/>
          </a:prstGeom>
          <a:solidFill>
            <a:srgbClr val="FA4F24"/>
          </a:solidFill>
          <a:ln/>
        </p:spPr>
        <p:txBody>
          <a:bodyPr/>
          <a:p/>
        </p:txBody>
      </p:sp>
      <p:sp>
        <p:nvSpPr>
          <p:cNvPr id="427"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428"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18 / 30</a:t>
            </a:r>
            <a:endParaRPr/>
          </a:p>
        </p:txBody>
      </p:sp>
    </p:spTree>
  </p:cSld>
</p:sld>
</file>

<file path=ppt/slides/slide19.xml><?xml version="1.0" encoding="utf-8"?>
<p:sld xmlns:p="http://schemas.openxmlformats.org/presentationml/2006/main" xmlns:a="http://schemas.openxmlformats.org/drawingml/2006/main">
  <p:cSld>
    <p:spTree>
      <p:nvGrpSpPr>
        <p:cNvPr id="429" name="" descr="&lt;Slide style={{ width: 1280, height: 720, background: '#FFFFFF', padding: '24px 64px 0' }}&gt;&#10;  &lt;Box style={{ height: 96, flexDirection: 'column', justifyContent: 'flex-start' }}&gt;&#10;    &lt;Text style={{ fontSize: 32, fontWeight: 'bold', color: '#0F1423' }}&gt;&#10;      治理 &lt;span style={{ color: '#FA4F24' }}&gt;×&lt;/span&gt; 知识库：密级随切片走，检索时才做判定&#10;    &lt;/Text&gt;&#10;    &lt;Text style={{ fontSize: 20, color: '#8A8F99', marginTop: 8 }}&gt;&#10;      知识库把「一份数据」变成「一万个片段」，也让一次授权变成一万次判定&#10;    &lt;/Text&gt;&#10;  &lt;/Box&gt;&#10;  &lt;Box style={{ height: 1, background: '#E8E8E8' }} /&gt;&#10;&#10;  &lt;Box style={{ paddingTop: 14, paddingBottom: 8, height: 479, flexDirection: 'column', gap: 10 }}&gt;&#10;    &lt;Box style={{ height: 205, flexDirection: 'row', gap: 10 }}&gt;&#10;      &lt;Box style={{ flex: 1, background: '#F7F7F8', borderRadius: 4, padding: '13px 16px', flexDirection: 'column' }}&gt;&#10;        &lt;Text style={{ fontSize: 14, fontWeight: 'bold', color: '#0F1423' }}&gt;切片是新的治理单元&lt;/Text&gt;&#10;        &lt;Text style={{ fontSize: 11.5, color: '#3A4050', marginTop: 7, lineHeight: 1.55 }}&gt;&#10;          原文只有一份标记，切片之后每个片段都必须自带密级标记。切分动作本身就是一个「复制」动作——它在物理上把一段受控内容变成了 N 段可被独立检索的内容，每一段都必须继承原文标记。&#10;        &lt;/Text&gt;&#10;        &lt;Box style={{ flex: 1, marginTop: 9, background: '#FFFFFF', borderRadius: 3, borderLeft: '3px solid #FA4F24', padding: '8px 10px' }}&gt;&#10;          &lt;Text style={{ fontSize: 11, color: '#3A4050', lineHeight: 1.5 }}&gt;&#10;            切片继承规则：一律取&lt;tspan style={{ fontWeight: 'bold', color: '#C43A17' }}&gt;最高密级&lt;/tspan&gt;，不做降级推断。宁可密级高一点，也不允许低判。&#10;          &lt;/Text&gt;&#10;        &lt;/Box&gt;&#10;      &lt;/Box&gt;&#10;      &lt;Box style={{ flex: 1, background: '#FFF3EE', borderRadius: 4, padding: '13px 16px', flexDirection: 'column' }}&gt;&#10;        &lt;Text style={{ fontSize: 14, fontWeight: 'bold', color: '#C43A17' }}&gt;授权发生在检索层，不是入库层&lt;/Text&gt;&#10;        &lt;Text style={{ fontSize: 11.5, color: '#3A4050', marginTop: 7, lineHeight: 1.55 }}&gt;&#10;          入库时统一按最高密级存，检索时再按用户身份逐条过滤。好处是权限变更即时生效——撤权后不需要重建索引，下一次查询就不见了。这与「先在库里存全量、靠查询收口」是同一思路。&#10;        &lt;/Text&gt;&#10;        &lt;Box style={{ flex: 1, marginTop: 9, background: '#FFFFFF', borderRadius: 3, borderLeft: '3px solid #FBA15C', padding: '8px 10px' }}&gt;&#10;          &lt;Text style={{ fontSize: 11, color: '#3A4050', lineHeight: 1.5 }}&gt;&#10;            但仍有&lt;tspan style={{ fontWeight: 'bold', color: '#C43A17' }}&gt;生成式出口&lt;/tspan&gt;风险：检索层过滤了输入，不一定过滤了大模型的最终回答。回答本身要再做一次密级与来源标注。&#10;          &lt;/Text&gt;&#10;        &lt;/Box&gt;&#10;      &lt;/Box&gt;&#10;      &lt;Box style={{ flex: 1, background: '#0F1423', borderRadius: 4, padding: '13px 16px', flexDirection: 'column' }}&gt;&#10;        &lt;Text style={{ fontSize: 14, fontWeight: 'bold', color: '#FBA15C' }}&gt;三条知识库特有的失效&lt;/Text&gt;&#10;        &lt;Text style={{ fontSize: 11.5, color: 'rgba(255,255,255,0.82)', marginTop: 7, lineHeight: 1.75 }}&gt;&#10;          一、&lt;tspan style={{ color: '#FFFFFF' }}&gt;推断泄漏&lt;/tspan&gt;：模型从低密级片段里推出高密级结论，检索层管不住；二、&lt;tspan style={{ color: '#FFFFFF' }}&gt;缓存泄漏&lt;/tspan&gt;：向量缓存跨会话复用，撤权后旧答案仍在；三、&lt;tspan style={{ color: '#FFFFFF' }}&gt;引用缺失&lt;/tspan&gt;：回答没有回指原始切片，审计时无法定位来源。&#10;        &lt;/Text&gt;&#10;        &lt;Box style={{ flex: 1, marginTop: 9, background: 'rgba(250,79,36,0.18)', borderRadius: 3, padding: '8px 10px' }}&gt;&#10;          &lt;Text style={{ fontSize: 11, color: 'rgba(255,255,255,0.9)', lineHeight: 1.5 }}&gt;&#10;            处方：回答必须携带切片 ID 列表，且切片 ID 必须与授权记录可对账。&#10;          &lt;/Text&gt;&#10;        &lt;/Box&gt;&#10;      &lt;/Box&gt;&#10;    &lt;/Box&gt;&#10;&#10;    &lt;Box style={{ flex: 1, background: '#FFFFFF', border: '1px solid #E8E8E8', borderRadius: 4, padding: '12px 18px', flexDirection: 'column' }}&gt;&#10;      &lt;Text style={{ fontSize: 14, fontWeight: 'bold', color: '#0F1423' }}&gt;知识库治理落地五步&lt;/Text&gt;&#10;      &lt;Box style={{ flex: 1, flexDirection: 'row', gap: 8, marginTop: 10 }}&gt;&#10;        {[&#10;          { n: '01', t: '建密级词典', d: '把本域的敏感类型映射到已有标记类别，不新造密级。' },&#10;          { n: '02', t: '切片时打标', d: '用原文标记驱动切片标记，继承取最高。' },&#10;          { n: '03', t: '过滤在检索', d: '按用户标记集合过滤召回结果，撤权即时生效。' },&#10;          { n: '04', t: '回答带引用', d: '输出切片 ID 与来源，回答本身再做密级判定。' },&#10;          { n: '05', t: '缓存随权失效', d: '缓存键包含用户标记集合，权限一变缓存即失效。' },&#10;        ].map((x) =&gt; (&#10;          &lt;Box key={x.n} style={{ flex: 1, background: '#F7F7F8', borderRadius: 3, borderTop: '3px solid #FA4F24', padding: '9px 11px', flexDirection: 'column' }}&gt;&#10;            &lt;Text style={{ fontSize: 17, fontWeight: 'bold', color: '#FA4F24' }}&gt;{x.n}&lt;/Text&gt;&#10;            &lt;Text style={{ fontSize: 12.5, fontWeight: 'bold', color: '#0F1423', marginTop: 4 }}&gt;{x.t}&lt;/Text&gt;&#10;            &lt;Text style={{ fontSize: 11, color: '#3A4050', marginTop: 5, lineHeight: 1.5 }}&gt;{x.d}&lt;/Text&gt;&#10;          &lt;/Box&gt;&#10;        ))}&#10;      &lt;/Box&gt;&#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19 / 30&lt;/Text&gt;&#10;  &lt;/Box&gt;&#10;&lt;/Slide&gt;"/>
        <p:cNvGrpSpPr/>
        <p:nvPr/>
      </p:nvGrpSpPr>
      <p:grpSpPr>
        <a:xfrm>
          <a:off x="0" y="0"/>
          <a:ext cx="0" cy="0"/>
          <a:chOff x="0" y="0"/>
          <a:chExt cx="0" cy="0"/>
        </a:xfrm>
      </p:grpSpPr>
      <p:sp>
        <p:nvSpPr>
          <p:cNvPr id="430" name=""/>
          <p:cNvSpPr/>
          <p:nvPr/>
        </p:nvSpPr>
        <p:spPr>
          <a:xfrm rot="0" flipH="0" flipV="0">
            <a:off x="0" y="0"/>
            <a:ext cx="12192000" cy="6858000"/>
          </a:xfrm>
          <a:prstGeom prst="rect">
            <a:avLst/>
          </a:prstGeom>
          <a:solidFill>
            <a:srgbClr val="FFFFFF"/>
          </a:solidFill>
          <a:ln/>
        </p:spPr>
        <p:txBody>
          <a:bodyPr/>
          <a:p/>
        </p:txBody>
      </p:sp>
      <p:sp>
        <p:nvSpPr>
          <p:cNvPr id="431"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治理</a:t>
            </a:r>
            <a:r>
              <a:rPr lang="en-US" sz="2400" b="1">
                <a:solidFill>
                  <a:srgbClr val="0F1423"/>
                </a:solidFill>
                <a:latin typeface="Microsoft YaHei"/>
                <a:ea typeface="Microsoft YaHei"/>
              </a:rPr>
              <a:t xml:space="preserve"> </a:t>
            </a:r>
            <a:r>
              <a:rPr sz="2400" b="1">
                <a:solidFill>
                  <a:srgbClr val="FA4F24"/>
                </a:solidFill>
                <a:latin typeface="Microsoft YaHei"/>
                <a:ea typeface="Microsoft YaHei"/>
              </a:rPr>
              <a:t>×</a:t>
            </a:r>
            <a:r>
              <a:rPr lang="en-US" sz="2400" b="1">
                <a:solidFill>
                  <a:srgbClr val="0F1423"/>
                </a:solidFill>
                <a:latin typeface="Microsoft YaHei"/>
                <a:ea typeface="Microsoft YaHei"/>
              </a:rPr>
              <a:t xml:space="preserve"> </a:t>
            </a:r>
            <a:r>
              <a:rPr lang="zh-CN" sz="2400" b="1">
                <a:solidFill>
                  <a:srgbClr val="0F1423"/>
                </a:solidFill>
                <a:latin typeface="Microsoft YaHei"/>
                <a:ea typeface="Microsoft YaHei"/>
              </a:rPr>
              <a:t>知识库：密级随切片走，检索时才做判定</a:t>
            </a:r>
            <a:endParaRPr/>
          </a:p>
        </p:txBody>
      </p:sp>
      <p:sp>
        <p:nvSpPr>
          <p:cNvPr id="432"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知识库把「一份数据」变成「一万个片段」，也让一次授权变成一万次判定</a:t>
            </a:r>
            <a:endParaRPr/>
          </a:p>
        </p:txBody>
      </p:sp>
      <p:sp>
        <p:nvSpPr>
          <p:cNvPr id="433" name=""/>
          <p:cNvSpPr/>
          <p:nvPr/>
        </p:nvSpPr>
        <p:spPr>
          <a:xfrm rot="0" flipH="0" flipV="0">
            <a:off x="609600" y="1143000"/>
            <a:ext cx="10972800" cy="9525"/>
          </a:xfrm>
          <a:prstGeom prst="rect">
            <a:avLst/>
          </a:prstGeom>
          <a:solidFill>
            <a:srgbClr val="E8E8E8"/>
          </a:solidFill>
          <a:ln/>
        </p:spPr>
        <p:txBody>
          <a:bodyPr/>
          <a:p/>
        </p:txBody>
      </p:sp>
      <p:sp>
        <p:nvSpPr>
          <p:cNvPr id="434" name=""/>
          <p:cNvSpPr/>
          <p:nvPr/>
        </p:nvSpPr>
        <p:spPr>
          <a:xfrm rot="0" flipH="0" flipV="0">
            <a:off x="609600" y="1285875"/>
            <a:ext cx="3590925" cy="1952625"/>
          </a:xfrm>
          <a:prstGeom prst="roundRect">
            <a:avLst>
              <a:gd name="adj" fmla="val 1951"/>
            </a:avLst>
          </a:prstGeom>
          <a:solidFill>
            <a:srgbClr val="F7F7F8"/>
          </a:solidFill>
          <a:ln/>
        </p:spPr>
        <p:txBody>
          <a:bodyPr/>
          <a:p/>
        </p:txBody>
      </p:sp>
      <p:sp>
        <p:nvSpPr>
          <p:cNvPr id="435" name="" descr="{&quot;isTemplate&quot;:true,&quot;type&quot;:&quot;text&quot;}"/>
          <p:cNvSpPr txBox="1"/>
          <p:nvPr/>
        </p:nvSpPr>
        <p:spPr>
          <a:xfrm rot="0" flipH="0" flipV="0">
            <a:off x="762000" y="1409700"/>
            <a:ext cx="3286125" cy="161925"/>
          </a:xfrm>
          <a:prstGeom prst="rect"/>
        </p:spPr>
        <p:txBody>
          <a:bodyPr wrap="none" lIns="0" tIns="0" rIns="0" bIns="0"/>
          <a:p>
            <a:pPr>
              <a:lnSpc>
                <a:spcPct val="100000"/>
              </a:lnSpc>
            </a:pPr>
            <a:r>
              <a:rPr lang="zh-CN" sz="1050" b="1">
                <a:solidFill>
                  <a:srgbClr val="0F1423"/>
                </a:solidFill>
                <a:latin typeface="Microsoft YaHei"/>
                <a:ea typeface="Microsoft YaHei"/>
              </a:rPr>
              <a:t>切片是新的治理单元</a:t>
            </a:r>
            <a:endParaRPr/>
          </a:p>
        </p:txBody>
      </p:sp>
      <p:sp>
        <p:nvSpPr>
          <p:cNvPr id="436" name="" descr="{&quot;isTemplate&quot;:true,&quot;type&quot;:&quot;text&quot;}"/>
          <p:cNvSpPr txBox="1"/>
          <p:nvPr/>
        </p:nvSpPr>
        <p:spPr>
          <a:xfrm rot="0" flipH="0" flipV="0">
            <a:off x="762000" y="1638300"/>
            <a:ext cx="3286125" cy="619125"/>
          </a:xfrm>
          <a:prstGeom prst="rect"/>
        </p:spPr>
        <p:txBody>
          <a:bodyPr wrap="square" lIns="0" tIns="0" rIns="0" bIns="0">
            <a:normAutofit/>
          </a:bodyPr>
          <a:p>
            <a:pPr>
              <a:lnSpc>
                <a:spcPct val="155000"/>
              </a:lnSpc>
            </a:pPr>
            <a:r>
              <a:rPr lang="zh-CN" sz="863">
                <a:solidFill>
                  <a:srgbClr val="3A4050"/>
                </a:solidFill>
                <a:latin typeface="Microsoft YaHei"/>
                <a:ea typeface="Microsoft YaHei"/>
              </a:rPr>
              <a:t>原文只有一份标记，切片之后每个片段都必须自带密级标记。切分动作本身就是一个「复制」动作——它在物理上把一段受控内容变成了</a:t>
            </a:r>
            <a:r>
              <a:rPr lang="en-US" sz="863">
                <a:solidFill>
                  <a:srgbClr val="3A4050"/>
                </a:solidFill>
                <a:latin typeface="Microsoft YaHei"/>
                <a:ea typeface="Microsoft YaHei"/>
              </a:rPr>
              <a:t xml:space="preserve"> N </a:t>
            </a:r>
            <a:r>
              <a:rPr lang="zh-CN" sz="863">
                <a:solidFill>
                  <a:srgbClr val="3A4050"/>
                </a:solidFill>
                <a:latin typeface="Microsoft YaHei"/>
                <a:ea typeface="Microsoft YaHei"/>
              </a:rPr>
              <a:t>段可被独立检索的内容，每一段都必须继承原文标记。</a:t>
            </a:r>
            <a:endParaRPr/>
          </a:p>
        </p:txBody>
      </p:sp>
      <p:sp>
        <p:nvSpPr>
          <p:cNvPr id="437" name=""/>
          <p:cNvSpPr/>
          <p:nvPr/>
        </p:nvSpPr>
        <p:spPr>
          <a:xfrm rot="0" flipH="0" flipV="0">
            <a:off x="790575" y="2343150"/>
            <a:ext cx="3286125" cy="771525"/>
          </a:xfrm>
          <a:prstGeom prst="roundRect">
            <a:avLst>
              <a:gd name="adj" fmla="val 3704"/>
            </a:avLst>
          </a:prstGeom>
          <a:solidFill>
            <a:srgbClr val="FFFFFF"/>
          </a:solidFill>
          <a:ln/>
        </p:spPr>
        <p:txBody>
          <a:bodyPr/>
          <a:p/>
        </p:txBody>
      </p:sp>
      <p:sp>
        <p:nvSpPr>
          <p:cNvPr id="438" name=""/>
          <p:cNvSpPr/>
          <p:nvPr/>
        </p:nvSpPr>
        <p:spPr>
          <a:xfrm rot="0" flipH="0" flipV="0">
            <a:off x="790575" y="2343150"/>
            <a:ext cx="3286125" cy="771525"/>
          </a:xfrm>
          <a:custGeom>
            <a:pathLst>
              <a:path w="345" h="81">
                <a:moveTo>
                  <a:pt x="3" y="81"/>
                </a:moveTo>
                <a:cubicBezTo>
                  <a:pt x="1" y="81"/>
                  <a:pt x="0" y="80"/>
                  <a:pt x="0" y="78"/>
                </a:cubicBezTo>
                <a:lnTo>
                  <a:pt x="0" y="3"/>
                </a:lnTo>
                <a:cubicBezTo>
                  <a:pt x="0" y="1"/>
                  <a:pt x="1" y="0"/>
                  <a:pt x="3" y="0"/>
                </a:cubicBezTo>
                <a:lnTo>
                  <a:pt x="3" y="81"/>
                </a:lnTo>
                <a:close/>
              </a:path>
            </a:pathLst>
          </a:custGeom>
          <a:solidFill>
            <a:srgbClr val="FA4F24"/>
          </a:solidFill>
          <a:ln/>
        </p:spPr>
        <p:txBody>
          <a:bodyPr/>
          <a:p/>
        </p:txBody>
      </p:sp>
      <p:sp>
        <p:nvSpPr>
          <p:cNvPr id="439" name="" descr="{&quot;isTemplate&quot;:true,&quot;type&quot;:&quot;text&quot;}"/>
          <p:cNvSpPr txBox="1"/>
          <p:nvPr/>
        </p:nvSpPr>
        <p:spPr>
          <a:xfrm rot="0" flipH="0" flipV="0">
            <a:off x="885825" y="2419350"/>
            <a:ext cx="3067050" cy="381000"/>
          </a:xfrm>
          <a:prstGeom prst="rect"/>
        </p:spPr>
        <p:txBody>
          <a:bodyPr wrap="square" lIns="0" tIns="0" rIns="0" bIns="0">
            <a:normAutofit/>
          </a:bodyPr>
          <a:p>
            <a:pPr>
              <a:lnSpc>
                <a:spcPct val="150000"/>
              </a:lnSpc>
            </a:pPr>
            <a:r>
              <a:rPr lang="zh-CN" sz="825">
                <a:solidFill>
                  <a:srgbClr val="3A4050"/>
                </a:solidFill>
                <a:latin typeface="Microsoft YaHei"/>
                <a:ea typeface="Microsoft YaHei"/>
              </a:rPr>
              <a:t>切片继承规则：一律取</a:t>
            </a:r>
            <a:r>
              <a:rPr lang="zh-CN" sz="825">
                <a:solidFill>
                  <a:srgbClr val="3A4050"/>
                </a:solidFill>
                <a:latin typeface="Microsoft YaHei"/>
                <a:ea typeface="Microsoft YaHei"/>
              </a:rPr>
              <a:t>最高密级</a:t>
            </a:r>
            <a:r>
              <a:rPr lang="zh-CN" sz="825">
                <a:solidFill>
                  <a:srgbClr val="3A4050"/>
                </a:solidFill>
                <a:latin typeface="Microsoft YaHei"/>
                <a:ea typeface="Microsoft YaHei"/>
              </a:rPr>
              <a:t>，不做降级推断。宁可密级高一点，也不允许低判。</a:t>
            </a:r>
            <a:endParaRPr/>
          </a:p>
        </p:txBody>
      </p:sp>
      <p:sp>
        <p:nvSpPr>
          <p:cNvPr id="440" name=""/>
          <p:cNvSpPr/>
          <p:nvPr/>
        </p:nvSpPr>
        <p:spPr>
          <a:xfrm rot="0" flipH="0" flipV="0">
            <a:off x="4295775" y="1285875"/>
            <a:ext cx="3600450" cy="1952625"/>
          </a:xfrm>
          <a:prstGeom prst="roundRect">
            <a:avLst>
              <a:gd name="adj" fmla="val 1951"/>
            </a:avLst>
          </a:prstGeom>
          <a:solidFill>
            <a:srgbClr val="FFF3EE"/>
          </a:solidFill>
          <a:ln/>
        </p:spPr>
        <p:txBody>
          <a:bodyPr/>
          <a:p/>
        </p:txBody>
      </p:sp>
      <p:sp>
        <p:nvSpPr>
          <p:cNvPr id="441" name="" descr="{&quot;isTemplate&quot;:true,&quot;type&quot;:&quot;text&quot;}"/>
          <p:cNvSpPr txBox="1"/>
          <p:nvPr/>
        </p:nvSpPr>
        <p:spPr>
          <a:xfrm rot="0" flipH="0" flipV="0">
            <a:off x="4448175" y="1409700"/>
            <a:ext cx="3295650" cy="161925"/>
          </a:xfrm>
          <a:prstGeom prst="rect"/>
        </p:spPr>
        <p:txBody>
          <a:bodyPr wrap="none" lIns="0" tIns="0" rIns="0" bIns="0"/>
          <a:p>
            <a:pPr>
              <a:lnSpc>
                <a:spcPct val="100000"/>
              </a:lnSpc>
            </a:pPr>
            <a:r>
              <a:rPr lang="zh-CN" sz="1050" b="1">
                <a:solidFill>
                  <a:srgbClr val="C43A17"/>
                </a:solidFill>
                <a:latin typeface="Microsoft YaHei"/>
                <a:ea typeface="Microsoft YaHei"/>
              </a:rPr>
              <a:t>授权发生在检索层，不是入库层</a:t>
            </a:r>
            <a:endParaRPr/>
          </a:p>
        </p:txBody>
      </p:sp>
      <p:sp>
        <p:nvSpPr>
          <p:cNvPr id="442" name="" descr="{&quot;isTemplate&quot;:true,&quot;type&quot;:&quot;text&quot;}"/>
          <p:cNvSpPr txBox="1"/>
          <p:nvPr/>
        </p:nvSpPr>
        <p:spPr>
          <a:xfrm rot="0" flipH="0" flipV="0">
            <a:off x="4448175" y="1638300"/>
            <a:ext cx="3295650" cy="619125"/>
          </a:xfrm>
          <a:prstGeom prst="rect"/>
        </p:spPr>
        <p:txBody>
          <a:bodyPr wrap="square" lIns="0" tIns="0" rIns="0" bIns="0">
            <a:normAutofit/>
          </a:bodyPr>
          <a:p>
            <a:pPr>
              <a:lnSpc>
                <a:spcPct val="155000"/>
              </a:lnSpc>
            </a:pPr>
            <a:r>
              <a:rPr lang="zh-CN" sz="863">
                <a:solidFill>
                  <a:srgbClr val="3A4050"/>
                </a:solidFill>
                <a:latin typeface="Microsoft YaHei"/>
                <a:ea typeface="Microsoft YaHei"/>
              </a:rPr>
              <a:t>入库时统一按最高密级存，检索时再按用户身份逐条过滤。好处是权限变更即时生效——撤权后不需要重建索引，下一次查询就不见了。这与「先在库里存全量、靠查询收口」是同一思路。</a:t>
            </a:r>
            <a:endParaRPr/>
          </a:p>
        </p:txBody>
      </p:sp>
      <p:sp>
        <p:nvSpPr>
          <p:cNvPr id="443" name=""/>
          <p:cNvSpPr/>
          <p:nvPr/>
        </p:nvSpPr>
        <p:spPr>
          <a:xfrm rot="0" flipH="0" flipV="0">
            <a:off x="4476750" y="2343150"/>
            <a:ext cx="3295650" cy="771525"/>
          </a:xfrm>
          <a:prstGeom prst="roundRect">
            <a:avLst>
              <a:gd name="adj" fmla="val 3704"/>
            </a:avLst>
          </a:prstGeom>
          <a:solidFill>
            <a:srgbClr val="FFFFFF"/>
          </a:solidFill>
          <a:ln/>
        </p:spPr>
        <p:txBody>
          <a:bodyPr/>
          <a:p/>
        </p:txBody>
      </p:sp>
      <p:sp>
        <p:nvSpPr>
          <p:cNvPr id="444" name=""/>
          <p:cNvSpPr/>
          <p:nvPr/>
        </p:nvSpPr>
        <p:spPr>
          <a:xfrm rot="0" flipH="0" flipV="0">
            <a:off x="4476750" y="2343150"/>
            <a:ext cx="3295650" cy="771525"/>
          </a:xfrm>
          <a:custGeom>
            <a:pathLst>
              <a:path w="346" h="81">
                <a:moveTo>
                  <a:pt x="3" y="81"/>
                </a:moveTo>
                <a:cubicBezTo>
                  <a:pt x="1" y="81"/>
                  <a:pt x="0" y="80"/>
                  <a:pt x="0" y="78"/>
                </a:cubicBezTo>
                <a:lnTo>
                  <a:pt x="0" y="3"/>
                </a:lnTo>
                <a:cubicBezTo>
                  <a:pt x="0" y="1"/>
                  <a:pt x="1" y="0"/>
                  <a:pt x="3" y="0"/>
                </a:cubicBezTo>
                <a:lnTo>
                  <a:pt x="3" y="81"/>
                </a:lnTo>
                <a:close/>
              </a:path>
            </a:pathLst>
          </a:custGeom>
          <a:solidFill>
            <a:srgbClr val="FBA15C"/>
          </a:solidFill>
          <a:ln/>
        </p:spPr>
        <p:txBody>
          <a:bodyPr/>
          <a:p/>
        </p:txBody>
      </p:sp>
      <p:sp>
        <p:nvSpPr>
          <p:cNvPr id="445" name="" descr="{&quot;isTemplate&quot;:true,&quot;type&quot;:&quot;text&quot;}"/>
          <p:cNvSpPr txBox="1"/>
          <p:nvPr/>
        </p:nvSpPr>
        <p:spPr>
          <a:xfrm rot="0" flipH="0" flipV="0">
            <a:off x="4572000" y="2419350"/>
            <a:ext cx="3076575" cy="381000"/>
          </a:xfrm>
          <a:prstGeom prst="rect"/>
        </p:spPr>
        <p:txBody>
          <a:bodyPr wrap="square" lIns="0" tIns="0" rIns="0" bIns="0">
            <a:normAutofit/>
          </a:bodyPr>
          <a:p>
            <a:pPr>
              <a:lnSpc>
                <a:spcPct val="150000"/>
              </a:lnSpc>
            </a:pPr>
            <a:r>
              <a:rPr lang="zh-CN" sz="825">
                <a:solidFill>
                  <a:srgbClr val="3A4050"/>
                </a:solidFill>
                <a:latin typeface="Microsoft YaHei"/>
                <a:ea typeface="Microsoft YaHei"/>
              </a:rPr>
              <a:t>但仍有</a:t>
            </a:r>
            <a:r>
              <a:rPr lang="zh-CN" sz="825">
                <a:solidFill>
                  <a:srgbClr val="3A4050"/>
                </a:solidFill>
                <a:latin typeface="Microsoft YaHei"/>
                <a:ea typeface="Microsoft YaHei"/>
              </a:rPr>
              <a:t>生成式出口</a:t>
            </a:r>
            <a:r>
              <a:rPr lang="zh-CN" sz="825">
                <a:solidFill>
                  <a:srgbClr val="3A4050"/>
                </a:solidFill>
                <a:latin typeface="Microsoft YaHei"/>
                <a:ea typeface="Microsoft YaHei"/>
              </a:rPr>
              <a:t>风险：检索层过滤了输入，不一定过滤了大模型的最终回答。回答本身要再做一次密级与来源标注。</a:t>
            </a:r>
            <a:endParaRPr/>
          </a:p>
        </p:txBody>
      </p:sp>
      <p:sp>
        <p:nvSpPr>
          <p:cNvPr id="446" name=""/>
          <p:cNvSpPr/>
          <p:nvPr/>
        </p:nvSpPr>
        <p:spPr>
          <a:xfrm rot="0" flipH="0" flipV="0">
            <a:off x="7991475" y="1285875"/>
            <a:ext cx="3590925" cy="1952625"/>
          </a:xfrm>
          <a:prstGeom prst="roundRect">
            <a:avLst>
              <a:gd name="adj" fmla="val 1951"/>
            </a:avLst>
          </a:prstGeom>
          <a:solidFill>
            <a:srgbClr val="0F1423"/>
          </a:solidFill>
          <a:ln/>
        </p:spPr>
        <p:txBody>
          <a:bodyPr/>
          <a:p/>
        </p:txBody>
      </p:sp>
      <p:sp>
        <p:nvSpPr>
          <p:cNvPr id="447" name="" descr="{&quot;isTemplate&quot;:true,&quot;type&quot;:&quot;text&quot;}"/>
          <p:cNvSpPr txBox="1"/>
          <p:nvPr/>
        </p:nvSpPr>
        <p:spPr>
          <a:xfrm rot="0" flipH="0" flipV="0">
            <a:off x="8143875" y="1409700"/>
            <a:ext cx="3286125" cy="161925"/>
          </a:xfrm>
          <a:prstGeom prst="rect"/>
        </p:spPr>
        <p:txBody>
          <a:bodyPr wrap="none" lIns="0" tIns="0" rIns="0" bIns="0"/>
          <a:p>
            <a:pPr>
              <a:lnSpc>
                <a:spcPct val="100000"/>
              </a:lnSpc>
            </a:pPr>
            <a:r>
              <a:rPr lang="zh-CN" sz="1050" b="1">
                <a:solidFill>
                  <a:srgbClr val="FBA15C"/>
                </a:solidFill>
                <a:latin typeface="Microsoft YaHei"/>
                <a:ea typeface="Microsoft YaHei"/>
              </a:rPr>
              <a:t>三条知识库特有的失效</a:t>
            </a:r>
            <a:endParaRPr/>
          </a:p>
        </p:txBody>
      </p:sp>
      <p:sp>
        <p:nvSpPr>
          <p:cNvPr id="448" name="" descr="{&quot;isTemplate&quot;:true,&quot;type&quot;:&quot;text&quot;}"/>
          <p:cNvSpPr txBox="1"/>
          <p:nvPr/>
        </p:nvSpPr>
        <p:spPr>
          <a:xfrm rot="0" flipH="0" flipV="0">
            <a:off x="8143875" y="1638300"/>
            <a:ext cx="3286125" cy="695325"/>
          </a:xfrm>
          <a:prstGeom prst="rect"/>
        </p:spPr>
        <p:txBody>
          <a:bodyPr wrap="square" lIns="0" tIns="0" rIns="0" bIns="0">
            <a:normAutofit/>
          </a:bodyPr>
          <a:p>
            <a:pPr>
              <a:lnSpc>
                <a:spcPct val="175000"/>
              </a:lnSpc>
            </a:pPr>
            <a:r>
              <a:rPr lang="zh-CN" sz="863">
                <a:solidFill>
                  <a:srgbClr val="FFFFFF">
                    <a:alpha val="82000"/>
                  </a:srgbClr>
                </a:solidFill>
                <a:latin typeface="Microsoft YaHei"/>
                <a:ea typeface="Microsoft YaHei"/>
              </a:rPr>
              <a:t>一、</a:t>
            </a:r>
            <a:r>
              <a:rPr lang="zh-CN" sz="863">
                <a:solidFill>
                  <a:srgbClr val="FFFFFF">
                    <a:alpha val="82000"/>
                  </a:srgbClr>
                </a:solidFill>
                <a:latin typeface="Microsoft YaHei"/>
                <a:ea typeface="Microsoft YaHei"/>
              </a:rPr>
              <a:t>推断泄漏</a:t>
            </a:r>
            <a:r>
              <a:rPr lang="zh-CN" sz="863">
                <a:solidFill>
                  <a:srgbClr val="FFFFFF">
                    <a:alpha val="82000"/>
                  </a:srgbClr>
                </a:solidFill>
                <a:latin typeface="Microsoft YaHei"/>
                <a:ea typeface="Microsoft YaHei"/>
              </a:rPr>
              <a:t>：模型从低密级片段里推出高密级结论，检索层管不住；二、</a:t>
            </a:r>
            <a:r>
              <a:rPr lang="zh-CN" sz="863">
                <a:solidFill>
                  <a:srgbClr val="FFFFFF">
                    <a:alpha val="82000"/>
                  </a:srgbClr>
                </a:solidFill>
                <a:latin typeface="Microsoft YaHei"/>
                <a:ea typeface="Microsoft YaHei"/>
              </a:rPr>
              <a:t>缓存泄漏</a:t>
            </a:r>
            <a:r>
              <a:rPr lang="zh-CN" sz="863">
                <a:solidFill>
                  <a:srgbClr val="FFFFFF">
                    <a:alpha val="82000"/>
                  </a:srgbClr>
                </a:solidFill>
                <a:latin typeface="Microsoft YaHei"/>
                <a:ea typeface="Microsoft YaHei"/>
              </a:rPr>
              <a:t>：向量缓存跨会话复用，撤权后旧答案仍在；三、</a:t>
            </a:r>
            <a:r>
              <a:rPr lang="zh-CN" sz="863">
                <a:solidFill>
                  <a:srgbClr val="FFFFFF">
                    <a:alpha val="82000"/>
                  </a:srgbClr>
                </a:solidFill>
                <a:latin typeface="Microsoft YaHei"/>
                <a:ea typeface="Microsoft YaHei"/>
              </a:rPr>
              <a:t>引用缺失</a:t>
            </a:r>
            <a:r>
              <a:rPr lang="zh-CN" sz="863">
                <a:solidFill>
                  <a:srgbClr val="FFFFFF">
                    <a:alpha val="82000"/>
                  </a:srgbClr>
                </a:solidFill>
                <a:latin typeface="Microsoft YaHei"/>
                <a:ea typeface="Microsoft YaHei"/>
              </a:rPr>
              <a:t>：回答没有回指原始切片，审计时无法定位来源。</a:t>
            </a:r>
            <a:endParaRPr/>
          </a:p>
        </p:txBody>
      </p:sp>
      <p:sp>
        <p:nvSpPr>
          <p:cNvPr id="449" name=""/>
          <p:cNvSpPr/>
          <p:nvPr/>
        </p:nvSpPr>
        <p:spPr>
          <a:xfrm rot="0" flipH="0" flipV="0">
            <a:off x="8143875" y="2419350"/>
            <a:ext cx="3286125" cy="695325"/>
          </a:xfrm>
          <a:prstGeom prst="roundRect">
            <a:avLst>
              <a:gd name="adj" fmla="val 4110"/>
            </a:avLst>
          </a:prstGeom>
          <a:solidFill>
            <a:srgbClr val="FA4F24">
              <a:alpha val="18000"/>
            </a:srgbClr>
          </a:solidFill>
          <a:ln/>
        </p:spPr>
        <p:txBody>
          <a:bodyPr/>
          <a:p/>
        </p:txBody>
      </p:sp>
      <p:sp>
        <p:nvSpPr>
          <p:cNvPr id="450" name="" descr="{&quot;isTemplate&quot;:true,&quot;type&quot;:&quot;text&quot;}"/>
          <p:cNvSpPr txBox="1"/>
          <p:nvPr/>
        </p:nvSpPr>
        <p:spPr>
          <a:xfrm rot="0" flipH="0" flipV="0">
            <a:off x="8239125" y="2495550"/>
            <a:ext cx="3095625" cy="381000"/>
          </a:xfrm>
          <a:prstGeom prst="rect"/>
        </p:spPr>
        <p:txBody>
          <a:bodyPr wrap="square" lIns="0" tIns="0" rIns="0" bIns="0">
            <a:normAutofit/>
          </a:bodyPr>
          <a:p>
            <a:pPr>
              <a:lnSpc>
                <a:spcPct val="150000"/>
              </a:lnSpc>
            </a:pPr>
            <a:r>
              <a:rPr lang="zh-CN" sz="825">
                <a:solidFill>
                  <a:srgbClr val="FFFFFF">
                    <a:alpha val="90000"/>
                  </a:srgbClr>
                </a:solidFill>
                <a:latin typeface="Microsoft YaHei"/>
                <a:ea typeface="Microsoft YaHei"/>
              </a:rPr>
              <a:t>处方：回答必须携带切片</a:t>
            </a:r>
            <a:r>
              <a:rPr lang="en-US" sz="825">
                <a:solidFill>
                  <a:srgbClr val="FFFFFF">
                    <a:alpha val="90000"/>
                  </a:srgbClr>
                </a:solidFill>
                <a:latin typeface="Microsoft YaHei"/>
                <a:ea typeface="Microsoft YaHei"/>
              </a:rPr>
              <a:t xml:space="preserve"> ID </a:t>
            </a:r>
            <a:r>
              <a:rPr lang="zh-CN" sz="825">
                <a:solidFill>
                  <a:srgbClr val="FFFFFF">
                    <a:alpha val="90000"/>
                  </a:srgbClr>
                </a:solidFill>
                <a:latin typeface="Microsoft YaHei"/>
                <a:ea typeface="Microsoft YaHei"/>
              </a:rPr>
              <a:t>列表，且切片</a:t>
            </a:r>
            <a:r>
              <a:rPr lang="en-US" sz="825">
                <a:solidFill>
                  <a:srgbClr val="FFFFFF">
                    <a:alpha val="90000"/>
                  </a:srgbClr>
                </a:solidFill>
                <a:latin typeface="Microsoft YaHei"/>
                <a:ea typeface="Microsoft YaHei"/>
              </a:rPr>
              <a:t xml:space="preserve"> ID </a:t>
            </a:r>
            <a:r>
              <a:rPr lang="zh-CN" sz="825">
                <a:solidFill>
                  <a:srgbClr val="FFFFFF">
                    <a:alpha val="90000"/>
                  </a:srgbClr>
                </a:solidFill>
                <a:latin typeface="Microsoft YaHei"/>
                <a:ea typeface="Microsoft YaHei"/>
              </a:rPr>
              <a:t>必须与授权记录可对账。</a:t>
            </a:r>
            <a:endParaRPr/>
          </a:p>
        </p:txBody>
      </p:sp>
      <p:sp>
        <p:nvSpPr>
          <p:cNvPr id="451" name=""/>
          <p:cNvSpPr/>
          <p:nvPr/>
        </p:nvSpPr>
        <p:spPr>
          <a:xfrm rot="0" flipH="0" flipV="0">
            <a:off x="609600" y="3333750"/>
            <a:ext cx="10972800" cy="2305050"/>
          </a:xfrm>
          <a:prstGeom prst="roundRect">
            <a:avLst>
              <a:gd name="adj" fmla="val 1653"/>
            </a:avLst>
          </a:prstGeom>
          <a:solidFill>
            <a:srgbClr val="FFFFFF"/>
          </a:solidFill>
          <a:ln w="12700">
            <a:solidFill>
              <a:srgbClr val="E8E8E8"/>
            </a:solidFill>
            <a:prstDash val="solid"/>
          </a:ln>
        </p:spPr>
        <p:txBody>
          <a:bodyPr/>
          <a:p/>
        </p:txBody>
      </p:sp>
      <p:sp>
        <p:nvSpPr>
          <p:cNvPr id="452" name="" descr="{&quot;isTemplate&quot;:true,&quot;type&quot;:&quot;text&quot;}"/>
          <p:cNvSpPr txBox="1"/>
          <p:nvPr/>
        </p:nvSpPr>
        <p:spPr>
          <a:xfrm rot="0" flipH="0" flipV="0">
            <a:off x="781050" y="3448050"/>
            <a:ext cx="10629900" cy="161925"/>
          </a:xfrm>
          <a:prstGeom prst="rect"/>
        </p:spPr>
        <p:txBody>
          <a:bodyPr wrap="none" lIns="0" tIns="0" rIns="0" bIns="0"/>
          <a:p>
            <a:pPr>
              <a:lnSpc>
                <a:spcPct val="100000"/>
              </a:lnSpc>
            </a:pPr>
            <a:r>
              <a:rPr lang="zh-CN" sz="1050" b="1">
                <a:solidFill>
                  <a:srgbClr val="0F1423"/>
                </a:solidFill>
                <a:latin typeface="Microsoft YaHei"/>
                <a:ea typeface="Microsoft YaHei"/>
              </a:rPr>
              <a:t>知识库治理落地五步</a:t>
            </a:r>
            <a:endParaRPr/>
          </a:p>
        </p:txBody>
      </p:sp>
      <p:sp>
        <p:nvSpPr>
          <p:cNvPr id="453" name=""/>
          <p:cNvSpPr/>
          <p:nvPr/>
        </p:nvSpPr>
        <p:spPr>
          <a:xfrm rot="0" flipH="0" flipV="0">
            <a:off x="781050" y="3733800"/>
            <a:ext cx="2066925" cy="1819275"/>
          </a:xfrm>
          <a:prstGeom prst="roundRect">
            <a:avLst>
              <a:gd name="adj" fmla="val 1571"/>
            </a:avLst>
          </a:prstGeom>
          <a:solidFill>
            <a:srgbClr val="F7F7F8"/>
          </a:solidFill>
          <a:ln/>
        </p:spPr>
        <p:txBody>
          <a:bodyPr/>
          <a:p/>
        </p:txBody>
      </p:sp>
      <p:sp>
        <p:nvSpPr>
          <p:cNvPr id="454" name=""/>
          <p:cNvSpPr/>
          <p:nvPr/>
        </p:nvSpPr>
        <p:spPr>
          <a:xfrm rot="0" flipH="0" flipV="0">
            <a:off x="781050" y="3733800"/>
            <a:ext cx="2066925" cy="1819275"/>
          </a:xfrm>
          <a:custGeom>
            <a:pathLst>
              <a:path w="217" h="191">
                <a:moveTo>
                  <a:pt x="214" y="0"/>
                </a:moveTo>
                <a:cubicBezTo>
                  <a:pt x="216" y="0"/>
                  <a:pt x="217" y="1"/>
                  <a:pt x="217" y="3"/>
                </a:cubicBezTo>
                <a:lnTo>
                  <a:pt x="0" y="3"/>
                </a:lnTo>
                <a:cubicBezTo>
                  <a:pt x="0" y="1"/>
                  <a:pt x="1" y="0"/>
                  <a:pt x="3" y="0"/>
                </a:cubicBezTo>
                <a:lnTo>
                  <a:pt x="214" y="0"/>
                </a:lnTo>
                <a:close/>
              </a:path>
            </a:pathLst>
          </a:custGeom>
          <a:solidFill>
            <a:srgbClr val="FA4F24"/>
          </a:solidFill>
          <a:ln/>
        </p:spPr>
        <p:txBody>
          <a:bodyPr/>
          <a:p/>
        </p:txBody>
      </p:sp>
      <p:sp>
        <p:nvSpPr>
          <p:cNvPr id="455" name="" descr="{&quot;isTemplate&quot;:true,&quot;type&quot;:&quot;text&quot;}"/>
          <p:cNvSpPr txBox="1"/>
          <p:nvPr/>
        </p:nvSpPr>
        <p:spPr>
          <a:xfrm rot="0" flipH="0" flipV="0">
            <a:off x="885825" y="3819525"/>
            <a:ext cx="1857375" cy="200025"/>
          </a:xfrm>
          <a:prstGeom prst="rect"/>
        </p:spPr>
        <p:txBody>
          <a:bodyPr wrap="none" lIns="0" tIns="0" rIns="0" bIns="0"/>
          <a:p>
            <a:pPr>
              <a:lnSpc>
                <a:spcPct val="100000"/>
              </a:lnSpc>
            </a:pPr>
            <a:r>
              <a:rPr lang="en-US" sz="1275" b="1">
                <a:solidFill>
                  <a:srgbClr val="FA4F24"/>
                </a:solidFill>
                <a:latin typeface="Microsoft YaHei"/>
                <a:ea typeface="Microsoft YaHei"/>
              </a:rPr>
              <a:t>01</a:t>
            </a:r>
            <a:endParaRPr/>
          </a:p>
        </p:txBody>
      </p:sp>
      <p:sp>
        <p:nvSpPr>
          <p:cNvPr id="456" name="" descr="{&quot;isTemplate&quot;:true,&quot;type&quot;:&quot;text&quot;}"/>
          <p:cNvSpPr txBox="1"/>
          <p:nvPr/>
        </p:nvSpPr>
        <p:spPr>
          <a:xfrm rot="0" flipH="0" flipV="0">
            <a:off x="885825" y="4057650"/>
            <a:ext cx="1857375" cy="142875"/>
          </a:xfrm>
          <a:prstGeom prst="rect"/>
        </p:spPr>
        <p:txBody>
          <a:bodyPr wrap="none" lIns="0" tIns="0" rIns="0" bIns="0"/>
          <a:p>
            <a:pPr>
              <a:lnSpc>
                <a:spcPct val="100000"/>
              </a:lnSpc>
            </a:pPr>
            <a:r>
              <a:rPr lang="zh-CN" sz="938" b="1">
                <a:solidFill>
                  <a:srgbClr val="0F1423"/>
                </a:solidFill>
                <a:latin typeface="Microsoft YaHei"/>
                <a:ea typeface="Microsoft YaHei"/>
              </a:rPr>
              <a:t>建密级词典</a:t>
            </a:r>
            <a:endParaRPr/>
          </a:p>
        </p:txBody>
      </p:sp>
      <p:sp>
        <p:nvSpPr>
          <p:cNvPr id="457" name="" descr="{&quot;isTemplate&quot;:true,&quot;type&quot;:&quot;text&quot;}"/>
          <p:cNvSpPr txBox="1"/>
          <p:nvPr/>
        </p:nvSpPr>
        <p:spPr>
          <a:xfrm rot="0" flipH="0" flipV="0">
            <a:off x="885825" y="4248150"/>
            <a:ext cx="1857375" cy="381000"/>
          </a:xfrm>
          <a:prstGeom prst="rect"/>
        </p:spPr>
        <p:txBody>
          <a:bodyPr wrap="square" lIns="0" tIns="0" rIns="0" bIns="0">
            <a:normAutofit/>
          </a:bodyPr>
          <a:p>
            <a:pPr>
              <a:lnSpc>
                <a:spcPct val="150000"/>
              </a:lnSpc>
            </a:pPr>
            <a:r>
              <a:rPr lang="zh-CN" sz="825">
                <a:solidFill>
                  <a:srgbClr val="3A4050"/>
                </a:solidFill>
                <a:latin typeface="Microsoft YaHei"/>
                <a:ea typeface="Microsoft YaHei"/>
              </a:rPr>
              <a:t>把本域的敏感类型映射到已有标记类别，不新造密级。</a:t>
            </a:r>
            <a:endParaRPr/>
          </a:p>
        </p:txBody>
      </p:sp>
      <p:sp>
        <p:nvSpPr>
          <p:cNvPr id="458" name=""/>
          <p:cNvSpPr/>
          <p:nvPr/>
        </p:nvSpPr>
        <p:spPr>
          <a:xfrm rot="0" flipH="0" flipV="0">
            <a:off x="2924175" y="3733800"/>
            <a:ext cx="2066925" cy="1819275"/>
          </a:xfrm>
          <a:prstGeom prst="roundRect">
            <a:avLst>
              <a:gd name="adj" fmla="val 1571"/>
            </a:avLst>
          </a:prstGeom>
          <a:solidFill>
            <a:srgbClr val="F7F7F8"/>
          </a:solidFill>
          <a:ln/>
        </p:spPr>
        <p:txBody>
          <a:bodyPr/>
          <a:p/>
        </p:txBody>
      </p:sp>
      <p:sp>
        <p:nvSpPr>
          <p:cNvPr id="459" name=""/>
          <p:cNvSpPr/>
          <p:nvPr/>
        </p:nvSpPr>
        <p:spPr>
          <a:xfrm rot="0" flipH="0" flipV="0">
            <a:off x="2924175" y="3733800"/>
            <a:ext cx="2066925" cy="1819275"/>
          </a:xfrm>
          <a:custGeom>
            <a:pathLst>
              <a:path w="217" h="191">
                <a:moveTo>
                  <a:pt x="214" y="0"/>
                </a:moveTo>
                <a:cubicBezTo>
                  <a:pt x="216" y="0"/>
                  <a:pt x="217" y="1"/>
                  <a:pt x="217" y="3"/>
                </a:cubicBezTo>
                <a:lnTo>
                  <a:pt x="0" y="3"/>
                </a:lnTo>
                <a:cubicBezTo>
                  <a:pt x="0" y="1"/>
                  <a:pt x="1" y="0"/>
                  <a:pt x="3" y="0"/>
                </a:cubicBezTo>
                <a:lnTo>
                  <a:pt x="214" y="0"/>
                </a:lnTo>
                <a:close/>
              </a:path>
            </a:pathLst>
          </a:custGeom>
          <a:solidFill>
            <a:srgbClr val="FA4F24"/>
          </a:solidFill>
          <a:ln/>
        </p:spPr>
        <p:txBody>
          <a:bodyPr/>
          <a:p/>
        </p:txBody>
      </p:sp>
      <p:sp>
        <p:nvSpPr>
          <p:cNvPr id="460" name="" descr="{&quot;isTemplate&quot;:true,&quot;type&quot;:&quot;text&quot;}"/>
          <p:cNvSpPr txBox="1"/>
          <p:nvPr/>
        </p:nvSpPr>
        <p:spPr>
          <a:xfrm rot="0" flipH="0" flipV="0">
            <a:off x="3028950" y="3819525"/>
            <a:ext cx="1857375" cy="200025"/>
          </a:xfrm>
          <a:prstGeom prst="rect"/>
        </p:spPr>
        <p:txBody>
          <a:bodyPr wrap="none" lIns="0" tIns="0" rIns="0" bIns="0"/>
          <a:p>
            <a:pPr>
              <a:lnSpc>
                <a:spcPct val="100000"/>
              </a:lnSpc>
            </a:pPr>
            <a:r>
              <a:rPr lang="en-US" sz="1275" b="1">
                <a:solidFill>
                  <a:srgbClr val="FA4F24"/>
                </a:solidFill>
                <a:latin typeface="Microsoft YaHei"/>
                <a:ea typeface="Microsoft YaHei"/>
              </a:rPr>
              <a:t>02</a:t>
            </a:r>
            <a:endParaRPr/>
          </a:p>
        </p:txBody>
      </p:sp>
      <p:sp>
        <p:nvSpPr>
          <p:cNvPr id="461" name="" descr="{&quot;isTemplate&quot;:true,&quot;type&quot;:&quot;text&quot;}"/>
          <p:cNvSpPr txBox="1"/>
          <p:nvPr/>
        </p:nvSpPr>
        <p:spPr>
          <a:xfrm rot="0" flipH="0" flipV="0">
            <a:off x="3028950" y="4057650"/>
            <a:ext cx="1857375" cy="142875"/>
          </a:xfrm>
          <a:prstGeom prst="rect"/>
        </p:spPr>
        <p:txBody>
          <a:bodyPr wrap="none" lIns="0" tIns="0" rIns="0" bIns="0"/>
          <a:p>
            <a:pPr>
              <a:lnSpc>
                <a:spcPct val="100000"/>
              </a:lnSpc>
            </a:pPr>
            <a:r>
              <a:rPr lang="zh-CN" sz="938" b="1">
                <a:solidFill>
                  <a:srgbClr val="0F1423"/>
                </a:solidFill>
                <a:latin typeface="Microsoft YaHei"/>
                <a:ea typeface="Microsoft YaHei"/>
              </a:rPr>
              <a:t>切片时打标</a:t>
            </a:r>
            <a:endParaRPr/>
          </a:p>
        </p:txBody>
      </p:sp>
      <p:sp>
        <p:nvSpPr>
          <p:cNvPr id="462" name="" descr="{&quot;isTemplate&quot;:true,&quot;type&quot;:&quot;text&quot;}"/>
          <p:cNvSpPr txBox="1"/>
          <p:nvPr/>
        </p:nvSpPr>
        <p:spPr>
          <a:xfrm rot="0" flipH="0" flipV="0">
            <a:off x="3028950" y="4248150"/>
            <a:ext cx="1857375" cy="381000"/>
          </a:xfrm>
          <a:prstGeom prst="rect"/>
        </p:spPr>
        <p:txBody>
          <a:bodyPr wrap="square" lIns="0" tIns="0" rIns="0" bIns="0">
            <a:normAutofit/>
          </a:bodyPr>
          <a:p>
            <a:pPr>
              <a:lnSpc>
                <a:spcPct val="150000"/>
              </a:lnSpc>
            </a:pPr>
            <a:r>
              <a:rPr lang="zh-CN" sz="825">
                <a:solidFill>
                  <a:srgbClr val="3A4050"/>
                </a:solidFill>
                <a:latin typeface="Microsoft YaHei"/>
                <a:ea typeface="Microsoft YaHei"/>
              </a:rPr>
              <a:t>用原文标记驱动切片标记，继承取最高。</a:t>
            </a:r>
            <a:endParaRPr/>
          </a:p>
        </p:txBody>
      </p:sp>
      <p:sp>
        <p:nvSpPr>
          <p:cNvPr id="463" name=""/>
          <p:cNvSpPr/>
          <p:nvPr/>
        </p:nvSpPr>
        <p:spPr>
          <a:xfrm rot="0" flipH="0" flipV="0">
            <a:off x="5067300" y="3733800"/>
            <a:ext cx="2057400" cy="1819275"/>
          </a:xfrm>
          <a:prstGeom prst="roundRect">
            <a:avLst>
              <a:gd name="adj" fmla="val 1571"/>
            </a:avLst>
          </a:prstGeom>
          <a:solidFill>
            <a:srgbClr val="F7F7F8"/>
          </a:solidFill>
          <a:ln/>
        </p:spPr>
        <p:txBody>
          <a:bodyPr/>
          <a:p/>
        </p:txBody>
      </p:sp>
      <p:sp>
        <p:nvSpPr>
          <p:cNvPr id="464" name=""/>
          <p:cNvSpPr/>
          <p:nvPr/>
        </p:nvSpPr>
        <p:spPr>
          <a:xfrm rot="0" flipH="0" flipV="0">
            <a:off x="5067300" y="3733800"/>
            <a:ext cx="2057400" cy="1819275"/>
          </a:xfrm>
          <a:custGeom>
            <a:pathLst>
              <a:path w="216" h="191">
                <a:moveTo>
                  <a:pt x="213" y="0"/>
                </a:moveTo>
                <a:cubicBezTo>
                  <a:pt x="215" y="0"/>
                  <a:pt x="216" y="1"/>
                  <a:pt x="216" y="3"/>
                </a:cubicBezTo>
                <a:lnTo>
                  <a:pt x="0" y="3"/>
                </a:lnTo>
                <a:cubicBezTo>
                  <a:pt x="0" y="1"/>
                  <a:pt x="1" y="0"/>
                  <a:pt x="3" y="0"/>
                </a:cubicBezTo>
                <a:lnTo>
                  <a:pt x="213" y="0"/>
                </a:lnTo>
                <a:close/>
              </a:path>
            </a:pathLst>
          </a:custGeom>
          <a:solidFill>
            <a:srgbClr val="FA4F24"/>
          </a:solidFill>
          <a:ln/>
        </p:spPr>
        <p:txBody>
          <a:bodyPr/>
          <a:p/>
        </p:txBody>
      </p:sp>
      <p:sp>
        <p:nvSpPr>
          <p:cNvPr id="465" name="" descr="{&quot;isTemplate&quot;:true,&quot;type&quot;:&quot;text&quot;}"/>
          <p:cNvSpPr txBox="1"/>
          <p:nvPr/>
        </p:nvSpPr>
        <p:spPr>
          <a:xfrm rot="0" flipH="0" flipV="0">
            <a:off x="5172075" y="3819525"/>
            <a:ext cx="1847850" cy="200025"/>
          </a:xfrm>
          <a:prstGeom prst="rect"/>
        </p:spPr>
        <p:txBody>
          <a:bodyPr wrap="none" lIns="0" tIns="0" rIns="0" bIns="0"/>
          <a:p>
            <a:pPr>
              <a:lnSpc>
                <a:spcPct val="100000"/>
              </a:lnSpc>
            </a:pPr>
            <a:r>
              <a:rPr lang="en-US" sz="1275" b="1">
                <a:solidFill>
                  <a:srgbClr val="FA4F24"/>
                </a:solidFill>
                <a:latin typeface="Microsoft YaHei"/>
                <a:ea typeface="Microsoft YaHei"/>
              </a:rPr>
              <a:t>03</a:t>
            </a:r>
            <a:endParaRPr/>
          </a:p>
        </p:txBody>
      </p:sp>
      <p:sp>
        <p:nvSpPr>
          <p:cNvPr id="466" name="" descr="{&quot;isTemplate&quot;:true,&quot;type&quot;:&quot;text&quot;}"/>
          <p:cNvSpPr txBox="1"/>
          <p:nvPr/>
        </p:nvSpPr>
        <p:spPr>
          <a:xfrm rot="0" flipH="0" flipV="0">
            <a:off x="5172075" y="4057650"/>
            <a:ext cx="1847850" cy="142875"/>
          </a:xfrm>
          <a:prstGeom prst="rect"/>
        </p:spPr>
        <p:txBody>
          <a:bodyPr wrap="none" lIns="0" tIns="0" rIns="0" bIns="0"/>
          <a:p>
            <a:pPr>
              <a:lnSpc>
                <a:spcPct val="100000"/>
              </a:lnSpc>
            </a:pPr>
            <a:r>
              <a:rPr lang="zh-CN" sz="938" b="1">
                <a:solidFill>
                  <a:srgbClr val="0F1423"/>
                </a:solidFill>
                <a:latin typeface="Microsoft YaHei"/>
                <a:ea typeface="Microsoft YaHei"/>
              </a:rPr>
              <a:t>过滤在检索</a:t>
            </a:r>
            <a:endParaRPr/>
          </a:p>
        </p:txBody>
      </p:sp>
      <p:sp>
        <p:nvSpPr>
          <p:cNvPr id="467" name="" descr="{&quot;isTemplate&quot;:true,&quot;type&quot;:&quot;text&quot;}"/>
          <p:cNvSpPr txBox="1"/>
          <p:nvPr/>
        </p:nvSpPr>
        <p:spPr>
          <a:xfrm rot="0" flipH="0" flipV="0">
            <a:off x="5172075" y="4248150"/>
            <a:ext cx="1847850" cy="381000"/>
          </a:xfrm>
          <a:prstGeom prst="rect"/>
        </p:spPr>
        <p:txBody>
          <a:bodyPr wrap="square" lIns="0" tIns="0" rIns="0" bIns="0">
            <a:normAutofit/>
          </a:bodyPr>
          <a:p>
            <a:pPr>
              <a:lnSpc>
                <a:spcPct val="150000"/>
              </a:lnSpc>
            </a:pPr>
            <a:r>
              <a:rPr lang="zh-CN" sz="825">
                <a:solidFill>
                  <a:srgbClr val="3A4050"/>
                </a:solidFill>
                <a:latin typeface="Microsoft YaHei"/>
                <a:ea typeface="Microsoft YaHei"/>
              </a:rPr>
              <a:t>按用户标记集合过滤召回结果，撤权即时生效。</a:t>
            </a:r>
            <a:endParaRPr/>
          </a:p>
        </p:txBody>
      </p:sp>
      <p:sp>
        <p:nvSpPr>
          <p:cNvPr id="468" name=""/>
          <p:cNvSpPr/>
          <p:nvPr/>
        </p:nvSpPr>
        <p:spPr>
          <a:xfrm rot="0" flipH="0" flipV="0">
            <a:off x="7200900" y="3733800"/>
            <a:ext cx="2066925" cy="1819275"/>
          </a:xfrm>
          <a:prstGeom prst="roundRect">
            <a:avLst>
              <a:gd name="adj" fmla="val 1571"/>
            </a:avLst>
          </a:prstGeom>
          <a:solidFill>
            <a:srgbClr val="F7F7F8"/>
          </a:solidFill>
          <a:ln/>
        </p:spPr>
        <p:txBody>
          <a:bodyPr/>
          <a:p/>
        </p:txBody>
      </p:sp>
      <p:sp>
        <p:nvSpPr>
          <p:cNvPr id="469" name=""/>
          <p:cNvSpPr/>
          <p:nvPr/>
        </p:nvSpPr>
        <p:spPr>
          <a:xfrm rot="0" flipH="0" flipV="0">
            <a:off x="7200900" y="3733800"/>
            <a:ext cx="2066925" cy="1819275"/>
          </a:xfrm>
          <a:custGeom>
            <a:pathLst>
              <a:path w="217" h="191">
                <a:moveTo>
                  <a:pt x="214" y="0"/>
                </a:moveTo>
                <a:cubicBezTo>
                  <a:pt x="216" y="0"/>
                  <a:pt x="217" y="1"/>
                  <a:pt x="217" y="3"/>
                </a:cubicBezTo>
                <a:lnTo>
                  <a:pt x="0" y="3"/>
                </a:lnTo>
                <a:cubicBezTo>
                  <a:pt x="0" y="1"/>
                  <a:pt x="1" y="0"/>
                  <a:pt x="3" y="0"/>
                </a:cubicBezTo>
                <a:lnTo>
                  <a:pt x="214" y="0"/>
                </a:lnTo>
                <a:close/>
              </a:path>
            </a:pathLst>
          </a:custGeom>
          <a:solidFill>
            <a:srgbClr val="FA4F24"/>
          </a:solidFill>
          <a:ln/>
        </p:spPr>
        <p:txBody>
          <a:bodyPr/>
          <a:p/>
        </p:txBody>
      </p:sp>
      <p:sp>
        <p:nvSpPr>
          <p:cNvPr id="470" name="" descr="{&quot;isTemplate&quot;:true,&quot;type&quot;:&quot;text&quot;}"/>
          <p:cNvSpPr txBox="1"/>
          <p:nvPr/>
        </p:nvSpPr>
        <p:spPr>
          <a:xfrm rot="0" flipH="0" flipV="0">
            <a:off x="7305675" y="3819525"/>
            <a:ext cx="1857375" cy="200025"/>
          </a:xfrm>
          <a:prstGeom prst="rect"/>
        </p:spPr>
        <p:txBody>
          <a:bodyPr wrap="none" lIns="0" tIns="0" rIns="0" bIns="0"/>
          <a:p>
            <a:pPr>
              <a:lnSpc>
                <a:spcPct val="100000"/>
              </a:lnSpc>
            </a:pPr>
            <a:r>
              <a:rPr lang="en-US" sz="1275" b="1">
                <a:solidFill>
                  <a:srgbClr val="FA4F24"/>
                </a:solidFill>
                <a:latin typeface="Microsoft YaHei"/>
                <a:ea typeface="Microsoft YaHei"/>
              </a:rPr>
              <a:t>04</a:t>
            </a:r>
            <a:endParaRPr/>
          </a:p>
        </p:txBody>
      </p:sp>
      <p:sp>
        <p:nvSpPr>
          <p:cNvPr id="471" name="" descr="{&quot;isTemplate&quot;:true,&quot;type&quot;:&quot;text&quot;}"/>
          <p:cNvSpPr txBox="1"/>
          <p:nvPr/>
        </p:nvSpPr>
        <p:spPr>
          <a:xfrm rot="0" flipH="0" flipV="0">
            <a:off x="7305675" y="4057650"/>
            <a:ext cx="1857375" cy="142875"/>
          </a:xfrm>
          <a:prstGeom prst="rect"/>
        </p:spPr>
        <p:txBody>
          <a:bodyPr wrap="none" lIns="0" tIns="0" rIns="0" bIns="0"/>
          <a:p>
            <a:pPr>
              <a:lnSpc>
                <a:spcPct val="100000"/>
              </a:lnSpc>
            </a:pPr>
            <a:r>
              <a:rPr lang="zh-CN" sz="938" b="1">
                <a:solidFill>
                  <a:srgbClr val="0F1423"/>
                </a:solidFill>
                <a:latin typeface="Microsoft YaHei"/>
                <a:ea typeface="Microsoft YaHei"/>
              </a:rPr>
              <a:t>回答带引用</a:t>
            </a:r>
            <a:endParaRPr/>
          </a:p>
        </p:txBody>
      </p:sp>
      <p:sp>
        <p:nvSpPr>
          <p:cNvPr id="472" name="" descr="{&quot;isTemplate&quot;:true,&quot;type&quot;:&quot;text&quot;}"/>
          <p:cNvSpPr txBox="1"/>
          <p:nvPr/>
        </p:nvSpPr>
        <p:spPr>
          <a:xfrm rot="0" flipH="0" flipV="0">
            <a:off x="7305675" y="4248150"/>
            <a:ext cx="1857375" cy="381000"/>
          </a:xfrm>
          <a:prstGeom prst="rect"/>
        </p:spPr>
        <p:txBody>
          <a:bodyPr wrap="square" lIns="0" tIns="0" rIns="0" bIns="0">
            <a:normAutofit/>
          </a:bodyPr>
          <a:p>
            <a:pPr>
              <a:lnSpc>
                <a:spcPct val="150000"/>
              </a:lnSpc>
            </a:pPr>
            <a:r>
              <a:rPr lang="zh-CN" sz="825">
                <a:solidFill>
                  <a:srgbClr val="3A4050"/>
                </a:solidFill>
                <a:latin typeface="Microsoft YaHei"/>
                <a:ea typeface="Microsoft YaHei"/>
              </a:rPr>
              <a:t>输出切片</a:t>
            </a:r>
            <a:r>
              <a:rPr lang="en-US" sz="825">
                <a:solidFill>
                  <a:srgbClr val="3A4050"/>
                </a:solidFill>
                <a:latin typeface="Microsoft YaHei"/>
                <a:ea typeface="Microsoft YaHei"/>
              </a:rPr>
              <a:t xml:space="preserve"> ID </a:t>
            </a:r>
            <a:r>
              <a:rPr lang="zh-CN" sz="825">
                <a:solidFill>
                  <a:srgbClr val="3A4050"/>
                </a:solidFill>
                <a:latin typeface="Microsoft YaHei"/>
                <a:ea typeface="Microsoft YaHei"/>
              </a:rPr>
              <a:t>与来源，回答本身再做密级判定。</a:t>
            </a:r>
            <a:endParaRPr/>
          </a:p>
        </p:txBody>
      </p:sp>
      <p:sp>
        <p:nvSpPr>
          <p:cNvPr id="473" name=""/>
          <p:cNvSpPr/>
          <p:nvPr/>
        </p:nvSpPr>
        <p:spPr>
          <a:xfrm rot="0" flipH="0" flipV="0">
            <a:off x="9344025" y="3733800"/>
            <a:ext cx="2066925" cy="1819275"/>
          </a:xfrm>
          <a:prstGeom prst="roundRect">
            <a:avLst>
              <a:gd name="adj" fmla="val 1571"/>
            </a:avLst>
          </a:prstGeom>
          <a:solidFill>
            <a:srgbClr val="F7F7F8"/>
          </a:solidFill>
          <a:ln/>
        </p:spPr>
        <p:txBody>
          <a:bodyPr/>
          <a:p/>
        </p:txBody>
      </p:sp>
      <p:sp>
        <p:nvSpPr>
          <p:cNvPr id="474" name=""/>
          <p:cNvSpPr/>
          <p:nvPr/>
        </p:nvSpPr>
        <p:spPr>
          <a:xfrm rot="0" flipH="0" flipV="0">
            <a:off x="9344025" y="3733800"/>
            <a:ext cx="2066925" cy="1819275"/>
          </a:xfrm>
          <a:custGeom>
            <a:pathLst>
              <a:path w="217" h="191">
                <a:moveTo>
                  <a:pt x="214" y="0"/>
                </a:moveTo>
                <a:cubicBezTo>
                  <a:pt x="216" y="0"/>
                  <a:pt x="217" y="1"/>
                  <a:pt x="217" y="3"/>
                </a:cubicBezTo>
                <a:lnTo>
                  <a:pt x="0" y="3"/>
                </a:lnTo>
                <a:cubicBezTo>
                  <a:pt x="0" y="1"/>
                  <a:pt x="1" y="0"/>
                  <a:pt x="3" y="0"/>
                </a:cubicBezTo>
                <a:lnTo>
                  <a:pt x="214" y="0"/>
                </a:lnTo>
                <a:close/>
              </a:path>
            </a:pathLst>
          </a:custGeom>
          <a:solidFill>
            <a:srgbClr val="FA4F24"/>
          </a:solidFill>
          <a:ln/>
        </p:spPr>
        <p:txBody>
          <a:bodyPr/>
          <a:p/>
        </p:txBody>
      </p:sp>
      <p:sp>
        <p:nvSpPr>
          <p:cNvPr id="475" name="" descr="{&quot;isTemplate&quot;:true,&quot;type&quot;:&quot;text&quot;}"/>
          <p:cNvSpPr txBox="1"/>
          <p:nvPr/>
        </p:nvSpPr>
        <p:spPr>
          <a:xfrm rot="0" flipH="0" flipV="0">
            <a:off x="9448800" y="3819525"/>
            <a:ext cx="1857375" cy="200025"/>
          </a:xfrm>
          <a:prstGeom prst="rect"/>
        </p:spPr>
        <p:txBody>
          <a:bodyPr wrap="none" lIns="0" tIns="0" rIns="0" bIns="0"/>
          <a:p>
            <a:pPr>
              <a:lnSpc>
                <a:spcPct val="100000"/>
              </a:lnSpc>
            </a:pPr>
            <a:r>
              <a:rPr lang="en-US" sz="1275" b="1">
                <a:solidFill>
                  <a:srgbClr val="FA4F24"/>
                </a:solidFill>
                <a:latin typeface="Microsoft YaHei"/>
                <a:ea typeface="Microsoft YaHei"/>
              </a:rPr>
              <a:t>05</a:t>
            </a:r>
            <a:endParaRPr/>
          </a:p>
        </p:txBody>
      </p:sp>
      <p:sp>
        <p:nvSpPr>
          <p:cNvPr id="476" name="" descr="{&quot;isTemplate&quot;:true,&quot;type&quot;:&quot;text&quot;}"/>
          <p:cNvSpPr txBox="1"/>
          <p:nvPr/>
        </p:nvSpPr>
        <p:spPr>
          <a:xfrm rot="0" flipH="0" flipV="0">
            <a:off x="9448800" y="4057650"/>
            <a:ext cx="1857375" cy="142875"/>
          </a:xfrm>
          <a:prstGeom prst="rect"/>
        </p:spPr>
        <p:txBody>
          <a:bodyPr wrap="none" lIns="0" tIns="0" rIns="0" bIns="0"/>
          <a:p>
            <a:pPr>
              <a:lnSpc>
                <a:spcPct val="100000"/>
              </a:lnSpc>
            </a:pPr>
            <a:r>
              <a:rPr lang="zh-CN" sz="938" b="1">
                <a:solidFill>
                  <a:srgbClr val="0F1423"/>
                </a:solidFill>
                <a:latin typeface="Microsoft YaHei"/>
                <a:ea typeface="Microsoft YaHei"/>
              </a:rPr>
              <a:t>缓存随权失效</a:t>
            </a:r>
            <a:endParaRPr/>
          </a:p>
        </p:txBody>
      </p:sp>
      <p:sp>
        <p:nvSpPr>
          <p:cNvPr id="477" name="" descr="{&quot;isTemplate&quot;:true,&quot;type&quot;:&quot;text&quot;}"/>
          <p:cNvSpPr txBox="1"/>
          <p:nvPr/>
        </p:nvSpPr>
        <p:spPr>
          <a:xfrm rot="0" flipH="0" flipV="0">
            <a:off x="9448800" y="4248150"/>
            <a:ext cx="1857375" cy="381000"/>
          </a:xfrm>
          <a:prstGeom prst="rect"/>
        </p:spPr>
        <p:txBody>
          <a:bodyPr wrap="square" lIns="0" tIns="0" rIns="0" bIns="0">
            <a:normAutofit/>
          </a:bodyPr>
          <a:p>
            <a:pPr>
              <a:lnSpc>
                <a:spcPct val="150000"/>
              </a:lnSpc>
            </a:pPr>
            <a:r>
              <a:rPr lang="zh-CN" sz="825">
                <a:solidFill>
                  <a:srgbClr val="3A4050"/>
                </a:solidFill>
                <a:latin typeface="Microsoft YaHei"/>
                <a:ea typeface="Microsoft YaHei"/>
              </a:rPr>
              <a:t>缓存键包含用户标记集合，权限一变缓存即失效。</a:t>
            </a:r>
            <a:endParaRPr/>
          </a:p>
        </p:txBody>
      </p:sp>
      <p:sp>
        <p:nvSpPr>
          <p:cNvPr id="478"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479" name=""/>
          <p:cNvSpPr/>
          <p:nvPr/>
        </p:nvSpPr>
        <p:spPr>
          <a:xfrm rot="0" flipH="0" flipV="0">
            <a:off x="609600" y="5953125"/>
            <a:ext cx="95250" cy="95250"/>
          </a:xfrm>
          <a:prstGeom prst="rect">
            <a:avLst/>
          </a:prstGeom>
          <a:solidFill>
            <a:srgbClr val="FA4F24"/>
          </a:solidFill>
          <a:ln/>
        </p:spPr>
        <p:txBody>
          <a:bodyPr/>
          <a:p/>
        </p:txBody>
      </p:sp>
      <p:sp>
        <p:nvSpPr>
          <p:cNvPr id="480"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481"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19 / 30</a:t>
            </a:r>
            <a:endParaRPr/>
          </a:p>
        </p:txBody>
      </p:sp>
    </p:spTree>
  </p:cSld>
</p:sld>
</file>

<file path=ppt/slides/slide20.xml><?xml version="1.0" encoding="utf-8"?>
<p:sld xmlns:p="http://schemas.openxmlformats.org/presentationml/2006/main" xmlns:a="http://schemas.openxmlformats.org/drawingml/2006/main">
  <p:cSld>
    <p:spTree>
      <p:nvGrpSpPr>
        <p:cNvPr id="536" name="" descr="&lt;Slide style={{ width: 1280, height: 720, background: '#FFFFFF', padding: '24px 64px 0' }}&gt;&#10;  &lt;Box style={{ height: 96, flexDirection: 'column', justifyContent: 'flex-start' }}&gt;&#10;    &lt;Text style={{ fontSize: 32, fontWeight: 'bold', color: '#0F1423' }}&gt;&#10;      治理 &lt;span style={{ color: '#FA4F24' }}&gt;×&lt;/span&gt; Agent：工具、记忆与日志都要受同一套管&#10;    &lt;/Text&gt;&#10;    &lt;Text style={{ fontSize: 20, color: '#8A8F99', marginTop: 8 }}&gt;&#10;      Agent 会自己找数据、自己留记忆、自己发结论——治理必须覆盖它做的每一件事&#10;    &lt;/Text&gt;&#10;  &lt;/Box&gt;&#10;  &lt;Box style={{ height: 1, background: '#E8E8E8' }} /&gt;&#10;&#10;  &lt;Box style={{ paddingTop: 14, paddingBottom: 8, height: 479, flexDirection: 'column', gap: 10 }}&gt;&#10;    &lt;Box style={{ height: 196, background: '#0F1423', borderRadius: 4, padding: '14px 18px', flexDirection: 'column' }}&gt;&#10;      &lt;Text style={{ fontSize: 14, fontWeight: 'bold', color: '#FBA15C' }}&gt;Agent 的四个新增治理面&lt;/Text&gt;&#10;      &lt;Box style={{ flex: 1, flexDirection: 'row', gap: 10, marginTop: 11 }}&gt;&#10;        {[&#10;          { t: '记忆（Memory）', d: '长期记忆会跨会话保留历史结论，等于把数据复制到一个没有数据血缘的存储里。记忆必须与工具使用同一套安全架构，打上标记、纳入撤回范围。' },&#10;          { t: '工具（Tool）', d: '出口策略决定这个 Agent 能把数据发到哪里。没有出口策略的工具调用，等于给了它一张无限额度的信用卡。' },&#10;          { t: '日志（Telemetry）', d: '智能体自己的运行日志本身也受标记管辖——记录了「谁问了什么、检索到了什么」的日志，敏感度不低于原始数据。' },&#10;          { t: '提交条件', d: '粒度化的提交标准：不是「这个任务能不能做」，而是「这个任务做出来的结果能不能落到目标数据集」。' },&#10;        ].map((x) =&gt; (&#10;          &lt;Box key={x.t} style={{ flex: 1, background: 'rgba(255,255,255,0.07)', borderRadius: 3, borderLeft: '3px solid #FA4F24', padding: '10px 12px', flexDirection: 'column' }}&gt;&#10;            &lt;Text style={{ fontSize: 13, fontWeight: 'bold', color: '#FFFFFF' }}&gt;{x.t}&lt;/Text&gt;&#10;            &lt;Text style={{ fontSize: 11.5, color: 'rgba(255,255,255,0.78)', marginTop: 6, lineHeight: 1.5 }}&gt;{x.d}&lt;/Text&gt;&#10;          &lt;/Box&gt;&#10;        ))}&#10;      &lt;/Box&gt;&#10;      &lt;Text style={{ fontSize: 11.5, color: 'rgba(255,255,255,0.72)', marginTop: 10, lineHeight: 1.5 }}&gt;&#10;        核心判断：Agent 没有引入新的治理对象，只是把「同一个动作可能被执行成千上万次」这件事放大了——所以策略必须可被机器执行，而不是靠人记住。&#10;      &lt;/Text&gt;&#10;    &lt;/Box&gt;&#10;&#10;    &lt;Box style={{ flex: 1, flexDirection: 'row', gap: 10 }}&gt;&#10;      &lt;Box style={{ flex: 1.1, background: '#FFF3EE', borderRadius: 4, borderLeft: '4px solid #FA4F24', padding: '13px 17px', flexDirection: 'column', justifyContent: 'center' }}&gt;&#10;        &lt;Text style={{ fontSize: 14, fontWeight: 'bold', color: '#C43A17' }}&gt;Agent 治理与数据治理的三个差别&lt;/Text&gt;&#10;        &lt;Text style={{ fontSize: 12, color: '#3A4050', marginTop: 7, lineHeight: 1.6 }}&gt;&#10;          一、&lt;tspan style={{ fontWeight: 'bold' }}&gt;时机不同&lt;/tspan&gt;：数据治理管的是静态存量，Agent 治理必须在动作发生前拦截；二、&lt;tspan style={{ fontWeight: 'bold' }}&gt;判定者不同&lt;/tspan&gt;：模型自己判断该调什么工具，判定逻辑本身要纳入可审计范围；三、&lt;tspan style={{ fontWeight: 'bold' }}&gt;责任不同&lt;/tspan&gt;：传统数据治理里执行者是人，Agent 里执行者是系统，责任必须显式落到流程审批节点上。&#10;        &lt;/Text&gt;&#10;      &lt;/Box&gt;&#10;      &lt;Box style={{ flex: 0.9, background: '#F7F7F8', borderRadius: 4, padding: '13px 17px', flexDirection: 'column', justifyContent: 'center' }}&gt;&#10;        &lt;Text style={{ fontSize: 14, fontWeight: 'bold', color: '#0F1423' }}&gt;落地顺序：先禁出口，再开记忆&lt;/Text&gt;&#10;        &lt;Text style={{ fontSize: 12, color: '#3A4050', marginTop: 7, lineHeight: 1.6 }}&gt;&#10;          很多团队顺序做反了：先把记忆打开方便提效，半年后才发现 Agent 记的东西没法撤回。建议顺序是——先给所有工具配默认拒绝的出口策略，再按白名单逐个放开；长期记忆先只做会话级，等标记与撤回机制跑通再升到跨会话。&#10;        &lt;/Text&gt;&#10;      &lt;/Box&gt;&#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20 / 30&lt;/Text&gt;&#10;  &lt;/Box&gt;&#10;&lt;/Slide&gt;"/>
        <p:cNvGrpSpPr/>
        <p:nvPr/>
      </p:nvGrpSpPr>
      <p:grpSpPr>
        <a:xfrm>
          <a:off x="0" y="0"/>
          <a:ext cx="0" cy="0"/>
          <a:chOff x="0" y="0"/>
          <a:chExt cx="0" cy="0"/>
        </a:xfrm>
      </p:grpSpPr>
      <p:sp>
        <p:nvSpPr>
          <p:cNvPr id="537" name=""/>
          <p:cNvSpPr/>
          <p:nvPr/>
        </p:nvSpPr>
        <p:spPr>
          <a:xfrm rot="0" flipH="0" flipV="0">
            <a:off x="0" y="0"/>
            <a:ext cx="12192000" cy="6858000"/>
          </a:xfrm>
          <a:prstGeom prst="rect">
            <a:avLst/>
          </a:prstGeom>
          <a:solidFill>
            <a:srgbClr val="FFFFFF"/>
          </a:solidFill>
          <a:ln/>
        </p:spPr>
        <p:txBody>
          <a:bodyPr/>
          <a:p/>
        </p:txBody>
      </p:sp>
      <p:sp>
        <p:nvSpPr>
          <p:cNvPr id="538"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治理</a:t>
            </a:r>
            <a:r>
              <a:rPr lang="en-US" sz="2400" b="1">
                <a:solidFill>
                  <a:srgbClr val="0F1423"/>
                </a:solidFill>
                <a:latin typeface="Microsoft YaHei"/>
                <a:ea typeface="Microsoft YaHei"/>
              </a:rPr>
              <a:t xml:space="preserve"> </a:t>
            </a:r>
            <a:r>
              <a:rPr sz="2400" b="1">
                <a:solidFill>
                  <a:srgbClr val="FA4F24"/>
                </a:solidFill>
                <a:latin typeface="Microsoft YaHei"/>
                <a:ea typeface="Microsoft YaHei"/>
              </a:rPr>
              <a:t>×</a:t>
            </a:r>
            <a:r>
              <a:rPr lang="en-US" sz="2400" b="1">
                <a:solidFill>
                  <a:srgbClr val="0F1423"/>
                </a:solidFill>
                <a:latin typeface="Microsoft YaHei"/>
                <a:ea typeface="Microsoft YaHei"/>
              </a:rPr>
              <a:t xml:space="preserve"> Agent</a:t>
            </a:r>
            <a:r>
              <a:rPr lang="zh-CN" sz="2400" b="1">
                <a:solidFill>
                  <a:srgbClr val="0F1423"/>
                </a:solidFill>
                <a:latin typeface="Microsoft YaHei"/>
                <a:ea typeface="Microsoft YaHei"/>
              </a:rPr>
              <a:t>：工具、记忆与日志都要受同一套管</a:t>
            </a:r>
            <a:endParaRPr/>
          </a:p>
        </p:txBody>
      </p:sp>
      <p:sp>
        <p:nvSpPr>
          <p:cNvPr id="539"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en-US" sz="1500">
                <a:solidFill>
                  <a:srgbClr val="8A8F99"/>
                </a:solidFill>
                <a:latin typeface="Microsoft YaHei"/>
                <a:ea typeface="Microsoft YaHei"/>
              </a:rPr>
              <a:t xml:space="preserve">Agent </a:t>
            </a:r>
            <a:r>
              <a:rPr lang="zh-CN" sz="1500">
                <a:solidFill>
                  <a:srgbClr val="8A8F99"/>
                </a:solidFill>
                <a:latin typeface="Microsoft YaHei"/>
                <a:ea typeface="Microsoft YaHei"/>
              </a:rPr>
              <a:t>会自己找数据、自己留记忆、自己发结论——治理必须覆盖它做的每一件事</a:t>
            </a:r>
            <a:endParaRPr/>
          </a:p>
        </p:txBody>
      </p:sp>
      <p:sp>
        <p:nvSpPr>
          <p:cNvPr id="540" name=""/>
          <p:cNvSpPr/>
          <p:nvPr/>
        </p:nvSpPr>
        <p:spPr>
          <a:xfrm rot="0" flipH="0" flipV="0">
            <a:off x="609600" y="1143000"/>
            <a:ext cx="10972800" cy="9525"/>
          </a:xfrm>
          <a:prstGeom prst="rect">
            <a:avLst/>
          </a:prstGeom>
          <a:solidFill>
            <a:srgbClr val="E8E8E8"/>
          </a:solidFill>
          <a:ln/>
        </p:spPr>
        <p:txBody>
          <a:bodyPr/>
          <a:p/>
        </p:txBody>
      </p:sp>
      <p:sp>
        <p:nvSpPr>
          <p:cNvPr id="541" name=""/>
          <p:cNvSpPr/>
          <p:nvPr/>
        </p:nvSpPr>
        <p:spPr>
          <a:xfrm rot="0" flipH="0" flipV="0">
            <a:off x="609600" y="1285875"/>
            <a:ext cx="10972800" cy="1866900"/>
          </a:xfrm>
          <a:prstGeom prst="roundRect">
            <a:avLst>
              <a:gd name="adj" fmla="val 2041"/>
            </a:avLst>
          </a:prstGeom>
          <a:solidFill>
            <a:srgbClr val="0F1423"/>
          </a:solidFill>
          <a:ln/>
        </p:spPr>
        <p:txBody>
          <a:bodyPr/>
          <a:p/>
        </p:txBody>
      </p:sp>
      <p:sp>
        <p:nvSpPr>
          <p:cNvPr id="542" name="" descr="{&quot;isTemplate&quot;:true,&quot;type&quot;:&quot;text&quot;}"/>
          <p:cNvSpPr txBox="1"/>
          <p:nvPr/>
        </p:nvSpPr>
        <p:spPr>
          <a:xfrm rot="0" flipH="0" flipV="0">
            <a:off x="781050" y="1419225"/>
            <a:ext cx="10629900" cy="161925"/>
          </a:xfrm>
          <a:prstGeom prst="rect"/>
        </p:spPr>
        <p:txBody>
          <a:bodyPr wrap="none" lIns="0" tIns="0" rIns="0" bIns="0"/>
          <a:p>
            <a:pPr>
              <a:lnSpc>
                <a:spcPct val="100000"/>
              </a:lnSpc>
            </a:pPr>
            <a:r>
              <a:rPr lang="en-US" sz="1050" b="1">
                <a:solidFill>
                  <a:srgbClr val="FBA15C"/>
                </a:solidFill>
                <a:latin typeface="Microsoft YaHei"/>
                <a:ea typeface="Microsoft YaHei"/>
              </a:rPr>
              <a:t xml:space="preserve">Agent </a:t>
            </a:r>
            <a:r>
              <a:rPr lang="zh-CN" sz="1050" b="1">
                <a:solidFill>
                  <a:srgbClr val="FBA15C"/>
                </a:solidFill>
                <a:latin typeface="Microsoft YaHei"/>
                <a:ea typeface="Microsoft YaHei"/>
              </a:rPr>
              <a:t>的四个新增治理面</a:t>
            </a:r>
            <a:endParaRPr/>
          </a:p>
        </p:txBody>
      </p:sp>
      <p:sp>
        <p:nvSpPr>
          <p:cNvPr id="543" name=""/>
          <p:cNvSpPr/>
          <p:nvPr/>
        </p:nvSpPr>
        <p:spPr>
          <a:xfrm rot="0" flipH="0" flipV="0">
            <a:off x="809625" y="1685925"/>
            <a:ext cx="2590800" cy="1190625"/>
          </a:xfrm>
          <a:prstGeom prst="roundRect">
            <a:avLst>
              <a:gd name="adj" fmla="val 2400"/>
            </a:avLst>
          </a:prstGeom>
          <a:solidFill>
            <a:srgbClr val="FFFFFF">
              <a:alpha val="7000"/>
            </a:srgbClr>
          </a:solidFill>
          <a:ln/>
        </p:spPr>
        <p:txBody>
          <a:bodyPr/>
          <a:p/>
        </p:txBody>
      </p:sp>
      <p:sp>
        <p:nvSpPr>
          <p:cNvPr id="544" name=""/>
          <p:cNvSpPr/>
          <p:nvPr/>
        </p:nvSpPr>
        <p:spPr>
          <a:xfrm rot="0" flipH="0" flipV="0">
            <a:off x="809625" y="1685925"/>
            <a:ext cx="2590800" cy="1190625"/>
          </a:xfrm>
          <a:custGeom>
            <a:pathLst>
              <a:path w="272" h="125">
                <a:moveTo>
                  <a:pt x="3" y="125"/>
                </a:moveTo>
                <a:cubicBezTo>
                  <a:pt x="1" y="125"/>
                  <a:pt x="0" y="124"/>
                  <a:pt x="0" y="122"/>
                </a:cubicBezTo>
                <a:lnTo>
                  <a:pt x="0" y="3"/>
                </a:lnTo>
                <a:cubicBezTo>
                  <a:pt x="0" y="1"/>
                  <a:pt x="1" y="0"/>
                  <a:pt x="3" y="0"/>
                </a:cubicBezTo>
                <a:lnTo>
                  <a:pt x="3" y="125"/>
                </a:lnTo>
                <a:close/>
              </a:path>
            </a:pathLst>
          </a:custGeom>
          <a:solidFill>
            <a:srgbClr val="FA4F24"/>
          </a:solidFill>
          <a:ln/>
        </p:spPr>
        <p:txBody>
          <a:bodyPr/>
          <a:p/>
        </p:txBody>
      </p:sp>
      <p:sp>
        <p:nvSpPr>
          <p:cNvPr id="545" name="" descr="{&quot;isTemplate&quot;:true,&quot;type&quot;:&quot;text&quot;}"/>
          <p:cNvSpPr txBox="1"/>
          <p:nvPr/>
        </p:nvSpPr>
        <p:spPr>
          <a:xfrm rot="0" flipH="0" flipV="0">
            <a:off x="923925" y="1781175"/>
            <a:ext cx="2333625" cy="152400"/>
          </a:xfrm>
          <a:prstGeom prst="rect"/>
        </p:spPr>
        <p:txBody>
          <a:bodyPr wrap="none" lIns="0" tIns="0" rIns="0" bIns="0"/>
          <a:p>
            <a:pPr>
              <a:lnSpc>
                <a:spcPct val="100000"/>
              </a:lnSpc>
            </a:pPr>
            <a:r>
              <a:rPr lang="zh-CN" sz="975" b="1">
                <a:solidFill>
                  <a:srgbClr val="FFFFFF"/>
                </a:solidFill>
                <a:latin typeface="Microsoft YaHei"/>
                <a:ea typeface="Microsoft YaHei"/>
              </a:rPr>
              <a:t>记忆（</a:t>
            </a:r>
            <a:r>
              <a:rPr lang="en-US" sz="975" b="1">
                <a:solidFill>
                  <a:srgbClr val="FFFFFF"/>
                </a:solidFill>
                <a:latin typeface="Microsoft YaHei"/>
                <a:ea typeface="Microsoft YaHei"/>
              </a:rPr>
              <a:t>Memory</a:t>
            </a:r>
            <a:r>
              <a:rPr lang="zh-CN" sz="975" b="1">
                <a:solidFill>
                  <a:srgbClr val="FFFFFF"/>
                </a:solidFill>
                <a:latin typeface="Microsoft YaHei"/>
                <a:ea typeface="Microsoft YaHei"/>
              </a:rPr>
              <a:t>）</a:t>
            </a:r>
            <a:endParaRPr/>
          </a:p>
        </p:txBody>
      </p:sp>
      <p:sp>
        <p:nvSpPr>
          <p:cNvPr id="546" name="" descr="{&quot;isTemplate&quot;:true,&quot;type&quot;:&quot;text&quot;}"/>
          <p:cNvSpPr txBox="1"/>
          <p:nvPr/>
        </p:nvSpPr>
        <p:spPr>
          <a:xfrm rot="0" flipH="0" flipV="0">
            <a:off x="923925" y="1990725"/>
            <a:ext cx="2333625" cy="790575"/>
          </a:xfrm>
          <a:prstGeom prst="rect"/>
        </p:spPr>
        <p:txBody>
          <a:bodyPr wrap="square" lIns="0" tIns="0" rIns="0" bIns="0">
            <a:normAutofit/>
          </a:bodyPr>
          <a:p>
            <a:pPr>
              <a:lnSpc>
                <a:spcPct val="150000"/>
              </a:lnSpc>
            </a:pPr>
            <a:r>
              <a:rPr lang="zh-CN" sz="863">
                <a:solidFill>
                  <a:srgbClr val="FFFFFF">
                    <a:alpha val="78000"/>
                  </a:srgbClr>
                </a:solidFill>
                <a:latin typeface="Microsoft YaHei"/>
                <a:ea typeface="Microsoft YaHei"/>
              </a:rPr>
              <a:t>长期记忆会跨会话保留历史结论，等于把数据复制到一个没有数据血缘的存储里。记忆必须与工具使用同一套安全架构，打上标记、纳入撤回范围。</a:t>
            </a:r>
            <a:endParaRPr/>
          </a:p>
        </p:txBody>
      </p:sp>
      <p:sp>
        <p:nvSpPr>
          <p:cNvPr id="547" name=""/>
          <p:cNvSpPr/>
          <p:nvPr/>
        </p:nvSpPr>
        <p:spPr>
          <a:xfrm rot="0" flipH="0" flipV="0">
            <a:off x="3495675" y="1685925"/>
            <a:ext cx="2581275" cy="1190625"/>
          </a:xfrm>
          <a:prstGeom prst="roundRect">
            <a:avLst>
              <a:gd name="adj" fmla="val 2400"/>
            </a:avLst>
          </a:prstGeom>
          <a:solidFill>
            <a:srgbClr val="FFFFFF">
              <a:alpha val="7000"/>
            </a:srgbClr>
          </a:solidFill>
          <a:ln/>
        </p:spPr>
        <p:txBody>
          <a:bodyPr/>
          <a:p/>
        </p:txBody>
      </p:sp>
      <p:sp>
        <p:nvSpPr>
          <p:cNvPr id="548" name=""/>
          <p:cNvSpPr/>
          <p:nvPr/>
        </p:nvSpPr>
        <p:spPr>
          <a:xfrm rot="0" flipH="0" flipV="0">
            <a:off x="3495675" y="1685925"/>
            <a:ext cx="2581275" cy="1190625"/>
          </a:xfrm>
          <a:custGeom>
            <a:pathLst>
              <a:path w="271" h="125">
                <a:moveTo>
                  <a:pt x="3" y="125"/>
                </a:moveTo>
                <a:cubicBezTo>
                  <a:pt x="1" y="125"/>
                  <a:pt x="0" y="124"/>
                  <a:pt x="0" y="122"/>
                </a:cubicBezTo>
                <a:lnTo>
                  <a:pt x="0" y="3"/>
                </a:lnTo>
                <a:cubicBezTo>
                  <a:pt x="0" y="1"/>
                  <a:pt x="1" y="0"/>
                  <a:pt x="3" y="0"/>
                </a:cubicBezTo>
                <a:lnTo>
                  <a:pt x="3" y="125"/>
                </a:lnTo>
                <a:close/>
              </a:path>
            </a:pathLst>
          </a:custGeom>
          <a:solidFill>
            <a:srgbClr val="FA4F24"/>
          </a:solidFill>
          <a:ln/>
        </p:spPr>
        <p:txBody>
          <a:bodyPr/>
          <a:p/>
        </p:txBody>
      </p:sp>
      <p:sp>
        <p:nvSpPr>
          <p:cNvPr id="549" name="" descr="{&quot;isTemplate&quot;:true,&quot;type&quot;:&quot;text&quot;}"/>
          <p:cNvSpPr txBox="1"/>
          <p:nvPr/>
        </p:nvSpPr>
        <p:spPr>
          <a:xfrm rot="0" flipH="0" flipV="0">
            <a:off x="3609975" y="1781175"/>
            <a:ext cx="2324100" cy="152400"/>
          </a:xfrm>
          <a:prstGeom prst="rect"/>
        </p:spPr>
        <p:txBody>
          <a:bodyPr wrap="none" lIns="0" tIns="0" rIns="0" bIns="0"/>
          <a:p>
            <a:pPr>
              <a:lnSpc>
                <a:spcPct val="100000"/>
              </a:lnSpc>
            </a:pPr>
            <a:r>
              <a:rPr lang="zh-CN" sz="975" b="1">
                <a:solidFill>
                  <a:srgbClr val="FFFFFF"/>
                </a:solidFill>
                <a:latin typeface="Microsoft YaHei"/>
                <a:ea typeface="Microsoft YaHei"/>
              </a:rPr>
              <a:t>工具（</a:t>
            </a:r>
            <a:r>
              <a:rPr lang="en-US" sz="975" b="1">
                <a:solidFill>
                  <a:srgbClr val="FFFFFF"/>
                </a:solidFill>
                <a:latin typeface="Microsoft YaHei"/>
                <a:ea typeface="Microsoft YaHei"/>
              </a:rPr>
              <a:t>Tool</a:t>
            </a:r>
            <a:r>
              <a:rPr lang="zh-CN" sz="975" b="1">
                <a:solidFill>
                  <a:srgbClr val="FFFFFF"/>
                </a:solidFill>
                <a:latin typeface="Microsoft YaHei"/>
                <a:ea typeface="Microsoft YaHei"/>
              </a:rPr>
              <a:t>）</a:t>
            </a:r>
            <a:endParaRPr/>
          </a:p>
        </p:txBody>
      </p:sp>
      <p:sp>
        <p:nvSpPr>
          <p:cNvPr id="550" name="" descr="{&quot;isTemplate&quot;:true,&quot;type&quot;:&quot;text&quot;}"/>
          <p:cNvSpPr txBox="1"/>
          <p:nvPr/>
        </p:nvSpPr>
        <p:spPr>
          <a:xfrm rot="0" flipH="0" flipV="0">
            <a:off x="3609975" y="1990725"/>
            <a:ext cx="2324100" cy="600075"/>
          </a:xfrm>
          <a:prstGeom prst="rect"/>
        </p:spPr>
        <p:txBody>
          <a:bodyPr wrap="square" lIns="0" tIns="0" rIns="0" bIns="0">
            <a:normAutofit/>
          </a:bodyPr>
          <a:p>
            <a:pPr>
              <a:lnSpc>
                <a:spcPct val="150000"/>
              </a:lnSpc>
            </a:pPr>
            <a:r>
              <a:rPr lang="zh-CN" sz="863">
                <a:solidFill>
                  <a:srgbClr val="FFFFFF">
                    <a:alpha val="78000"/>
                  </a:srgbClr>
                </a:solidFill>
                <a:latin typeface="Microsoft YaHei"/>
                <a:ea typeface="Microsoft YaHei"/>
              </a:rPr>
              <a:t>出口策略决定这个</a:t>
            </a:r>
            <a:r>
              <a:rPr lang="en-US" sz="863">
                <a:solidFill>
                  <a:srgbClr val="FFFFFF">
                    <a:alpha val="78000"/>
                  </a:srgbClr>
                </a:solidFill>
                <a:latin typeface="Microsoft YaHei"/>
                <a:ea typeface="Microsoft YaHei"/>
              </a:rPr>
              <a:t xml:space="preserve"> Agent </a:t>
            </a:r>
            <a:r>
              <a:rPr lang="zh-CN" sz="863">
                <a:solidFill>
                  <a:srgbClr val="FFFFFF">
                    <a:alpha val="78000"/>
                  </a:srgbClr>
                </a:solidFill>
                <a:latin typeface="Microsoft YaHei"/>
                <a:ea typeface="Microsoft YaHei"/>
              </a:rPr>
              <a:t>能把数据发到哪里。没有出口策略的工具调用，等于给了它一张无限额度的信用卡。</a:t>
            </a:r>
            <a:endParaRPr/>
          </a:p>
        </p:txBody>
      </p:sp>
      <p:sp>
        <p:nvSpPr>
          <p:cNvPr id="551" name=""/>
          <p:cNvSpPr/>
          <p:nvPr/>
        </p:nvSpPr>
        <p:spPr>
          <a:xfrm rot="0" flipH="0" flipV="0">
            <a:off x="6172200" y="1685925"/>
            <a:ext cx="2590800" cy="1190625"/>
          </a:xfrm>
          <a:prstGeom prst="roundRect">
            <a:avLst>
              <a:gd name="adj" fmla="val 2400"/>
            </a:avLst>
          </a:prstGeom>
          <a:solidFill>
            <a:srgbClr val="FFFFFF">
              <a:alpha val="7000"/>
            </a:srgbClr>
          </a:solidFill>
          <a:ln/>
        </p:spPr>
        <p:txBody>
          <a:bodyPr/>
          <a:p/>
        </p:txBody>
      </p:sp>
      <p:sp>
        <p:nvSpPr>
          <p:cNvPr id="552" name=""/>
          <p:cNvSpPr/>
          <p:nvPr/>
        </p:nvSpPr>
        <p:spPr>
          <a:xfrm rot="0" flipH="0" flipV="0">
            <a:off x="6172200" y="1685925"/>
            <a:ext cx="2590800" cy="1190625"/>
          </a:xfrm>
          <a:custGeom>
            <a:pathLst>
              <a:path w="272" h="125">
                <a:moveTo>
                  <a:pt x="3" y="125"/>
                </a:moveTo>
                <a:cubicBezTo>
                  <a:pt x="1" y="125"/>
                  <a:pt x="0" y="124"/>
                  <a:pt x="0" y="122"/>
                </a:cubicBezTo>
                <a:lnTo>
                  <a:pt x="0" y="3"/>
                </a:lnTo>
                <a:cubicBezTo>
                  <a:pt x="0" y="1"/>
                  <a:pt x="1" y="0"/>
                  <a:pt x="3" y="0"/>
                </a:cubicBezTo>
                <a:lnTo>
                  <a:pt x="3" y="125"/>
                </a:lnTo>
                <a:close/>
              </a:path>
            </a:pathLst>
          </a:custGeom>
          <a:solidFill>
            <a:srgbClr val="FA4F24"/>
          </a:solidFill>
          <a:ln/>
        </p:spPr>
        <p:txBody>
          <a:bodyPr/>
          <a:p/>
        </p:txBody>
      </p:sp>
      <p:sp>
        <p:nvSpPr>
          <p:cNvPr id="553" name="" descr="{&quot;isTemplate&quot;:true,&quot;type&quot;:&quot;text&quot;}"/>
          <p:cNvSpPr txBox="1"/>
          <p:nvPr/>
        </p:nvSpPr>
        <p:spPr>
          <a:xfrm rot="0" flipH="0" flipV="0">
            <a:off x="6286500" y="1781175"/>
            <a:ext cx="2333625" cy="152400"/>
          </a:xfrm>
          <a:prstGeom prst="rect"/>
        </p:spPr>
        <p:txBody>
          <a:bodyPr wrap="none" lIns="0" tIns="0" rIns="0" bIns="0"/>
          <a:p>
            <a:pPr>
              <a:lnSpc>
                <a:spcPct val="100000"/>
              </a:lnSpc>
            </a:pPr>
            <a:r>
              <a:rPr lang="zh-CN" sz="975" b="1">
                <a:solidFill>
                  <a:srgbClr val="FFFFFF"/>
                </a:solidFill>
                <a:latin typeface="Microsoft YaHei"/>
                <a:ea typeface="Microsoft YaHei"/>
              </a:rPr>
              <a:t>日志（</a:t>
            </a:r>
            <a:r>
              <a:rPr lang="en-US" sz="975" b="1">
                <a:solidFill>
                  <a:srgbClr val="FFFFFF"/>
                </a:solidFill>
                <a:latin typeface="Microsoft YaHei"/>
                <a:ea typeface="Microsoft YaHei"/>
              </a:rPr>
              <a:t>Telemetry</a:t>
            </a:r>
            <a:r>
              <a:rPr lang="zh-CN" sz="975" b="1">
                <a:solidFill>
                  <a:srgbClr val="FFFFFF"/>
                </a:solidFill>
                <a:latin typeface="Microsoft YaHei"/>
                <a:ea typeface="Microsoft YaHei"/>
              </a:rPr>
              <a:t>）</a:t>
            </a:r>
            <a:endParaRPr/>
          </a:p>
        </p:txBody>
      </p:sp>
      <p:sp>
        <p:nvSpPr>
          <p:cNvPr id="554" name="" descr="{&quot;isTemplate&quot;:true,&quot;type&quot;:&quot;text&quot;}"/>
          <p:cNvSpPr txBox="1"/>
          <p:nvPr/>
        </p:nvSpPr>
        <p:spPr>
          <a:xfrm rot="0" flipH="0" flipV="0">
            <a:off x="6286500" y="1990725"/>
            <a:ext cx="2333625" cy="600075"/>
          </a:xfrm>
          <a:prstGeom prst="rect"/>
        </p:spPr>
        <p:txBody>
          <a:bodyPr wrap="square" lIns="0" tIns="0" rIns="0" bIns="0">
            <a:normAutofit/>
          </a:bodyPr>
          <a:p>
            <a:pPr>
              <a:lnSpc>
                <a:spcPct val="150000"/>
              </a:lnSpc>
            </a:pPr>
            <a:r>
              <a:rPr lang="zh-CN" sz="863">
                <a:solidFill>
                  <a:srgbClr val="FFFFFF">
                    <a:alpha val="78000"/>
                  </a:srgbClr>
                </a:solidFill>
                <a:latin typeface="Microsoft YaHei"/>
                <a:ea typeface="Microsoft YaHei"/>
              </a:rPr>
              <a:t>智能体自己的运行日志本身也受标记管辖——记录了「谁问了什么、检索到了什么」的日志，敏感度不低于原始数据。</a:t>
            </a:r>
            <a:endParaRPr/>
          </a:p>
        </p:txBody>
      </p:sp>
      <p:sp>
        <p:nvSpPr>
          <p:cNvPr id="555" name=""/>
          <p:cNvSpPr/>
          <p:nvPr/>
        </p:nvSpPr>
        <p:spPr>
          <a:xfrm rot="0" flipH="0" flipV="0">
            <a:off x="8858250" y="1685925"/>
            <a:ext cx="2581275" cy="1190625"/>
          </a:xfrm>
          <a:prstGeom prst="roundRect">
            <a:avLst>
              <a:gd name="adj" fmla="val 2400"/>
            </a:avLst>
          </a:prstGeom>
          <a:solidFill>
            <a:srgbClr val="FFFFFF">
              <a:alpha val="7000"/>
            </a:srgbClr>
          </a:solidFill>
          <a:ln/>
        </p:spPr>
        <p:txBody>
          <a:bodyPr/>
          <a:p/>
        </p:txBody>
      </p:sp>
      <p:sp>
        <p:nvSpPr>
          <p:cNvPr id="556" name=""/>
          <p:cNvSpPr/>
          <p:nvPr/>
        </p:nvSpPr>
        <p:spPr>
          <a:xfrm rot="0" flipH="0" flipV="0">
            <a:off x="8858250" y="1685925"/>
            <a:ext cx="2581275" cy="1190625"/>
          </a:xfrm>
          <a:custGeom>
            <a:pathLst>
              <a:path w="271" h="125">
                <a:moveTo>
                  <a:pt x="3" y="125"/>
                </a:moveTo>
                <a:cubicBezTo>
                  <a:pt x="1" y="125"/>
                  <a:pt x="0" y="124"/>
                  <a:pt x="0" y="122"/>
                </a:cubicBezTo>
                <a:lnTo>
                  <a:pt x="0" y="3"/>
                </a:lnTo>
                <a:cubicBezTo>
                  <a:pt x="0" y="1"/>
                  <a:pt x="1" y="0"/>
                  <a:pt x="3" y="0"/>
                </a:cubicBezTo>
                <a:lnTo>
                  <a:pt x="3" y="125"/>
                </a:lnTo>
                <a:close/>
              </a:path>
            </a:pathLst>
          </a:custGeom>
          <a:solidFill>
            <a:srgbClr val="FA4F24"/>
          </a:solidFill>
          <a:ln/>
        </p:spPr>
        <p:txBody>
          <a:bodyPr/>
          <a:p/>
        </p:txBody>
      </p:sp>
      <p:sp>
        <p:nvSpPr>
          <p:cNvPr id="557" name="" descr="{&quot;isTemplate&quot;:true,&quot;type&quot;:&quot;text&quot;}"/>
          <p:cNvSpPr txBox="1"/>
          <p:nvPr/>
        </p:nvSpPr>
        <p:spPr>
          <a:xfrm rot="0" flipH="0" flipV="0">
            <a:off x="8972550" y="1781175"/>
            <a:ext cx="2324100" cy="152400"/>
          </a:xfrm>
          <a:prstGeom prst="rect"/>
        </p:spPr>
        <p:txBody>
          <a:bodyPr wrap="none" lIns="0" tIns="0" rIns="0" bIns="0"/>
          <a:p>
            <a:pPr>
              <a:lnSpc>
                <a:spcPct val="100000"/>
              </a:lnSpc>
            </a:pPr>
            <a:r>
              <a:rPr lang="zh-CN" sz="975" b="1">
                <a:solidFill>
                  <a:srgbClr val="FFFFFF"/>
                </a:solidFill>
                <a:latin typeface="Microsoft YaHei"/>
                <a:ea typeface="Microsoft YaHei"/>
              </a:rPr>
              <a:t>提交条件</a:t>
            </a:r>
            <a:endParaRPr/>
          </a:p>
        </p:txBody>
      </p:sp>
      <p:sp>
        <p:nvSpPr>
          <p:cNvPr id="558" name="" descr="{&quot;isTemplate&quot;:true,&quot;type&quot;:&quot;text&quot;}"/>
          <p:cNvSpPr txBox="1"/>
          <p:nvPr/>
        </p:nvSpPr>
        <p:spPr>
          <a:xfrm rot="0" flipH="0" flipV="0">
            <a:off x="8972550" y="1990725"/>
            <a:ext cx="2324100" cy="600075"/>
          </a:xfrm>
          <a:prstGeom prst="rect"/>
        </p:spPr>
        <p:txBody>
          <a:bodyPr wrap="square" lIns="0" tIns="0" rIns="0" bIns="0">
            <a:normAutofit/>
          </a:bodyPr>
          <a:p>
            <a:pPr>
              <a:lnSpc>
                <a:spcPct val="150000"/>
              </a:lnSpc>
            </a:pPr>
            <a:r>
              <a:rPr lang="zh-CN" sz="863">
                <a:solidFill>
                  <a:srgbClr val="FFFFFF">
                    <a:alpha val="78000"/>
                  </a:srgbClr>
                </a:solidFill>
                <a:latin typeface="Microsoft YaHei"/>
                <a:ea typeface="Microsoft YaHei"/>
              </a:rPr>
              <a:t>粒度化的提交标准：不是「这个任务能不能做」，而是「这个任务做出来的结果能不能落到目标数据集」。</a:t>
            </a:r>
            <a:endParaRPr/>
          </a:p>
        </p:txBody>
      </p:sp>
      <p:sp>
        <p:nvSpPr>
          <p:cNvPr id="559" name="" descr="{&quot;isTemplate&quot;:true,&quot;type&quot;:&quot;text&quot;}"/>
          <p:cNvSpPr txBox="1"/>
          <p:nvPr/>
        </p:nvSpPr>
        <p:spPr>
          <a:xfrm rot="0" flipH="0" flipV="0">
            <a:off x="781050" y="2971800"/>
            <a:ext cx="10629900" cy="200025"/>
          </a:xfrm>
          <a:prstGeom prst="rect"/>
        </p:spPr>
        <p:txBody>
          <a:bodyPr wrap="none" lIns="0" tIns="0" rIns="0" bIns="0"/>
          <a:p>
            <a:pPr>
              <a:lnSpc>
                <a:spcPct val="150000"/>
              </a:lnSpc>
            </a:pPr>
            <a:r>
              <a:rPr lang="zh-CN" sz="863">
                <a:solidFill>
                  <a:srgbClr val="FFFFFF">
                    <a:alpha val="72000"/>
                  </a:srgbClr>
                </a:solidFill>
                <a:latin typeface="Microsoft YaHei"/>
                <a:ea typeface="Microsoft YaHei"/>
              </a:rPr>
              <a:t>核心判断：</a:t>
            </a:r>
            <a:r>
              <a:rPr lang="en-US" sz="863">
                <a:solidFill>
                  <a:srgbClr val="FFFFFF">
                    <a:alpha val="72000"/>
                  </a:srgbClr>
                </a:solidFill>
                <a:latin typeface="Microsoft YaHei"/>
                <a:ea typeface="Microsoft YaHei"/>
              </a:rPr>
              <a:t xml:space="preserve">Agent </a:t>
            </a:r>
            <a:r>
              <a:rPr lang="zh-CN" sz="863">
                <a:solidFill>
                  <a:srgbClr val="FFFFFF">
                    <a:alpha val="72000"/>
                  </a:srgbClr>
                </a:solidFill>
                <a:latin typeface="Microsoft YaHei"/>
                <a:ea typeface="Microsoft YaHei"/>
              </a:rPr>
              <a:t>没有引入新的治理对象，只是把「同一个动作可能被执行成千上万次」这件事放大了——所以策略必须可被机器执行，而不是靠人记住。</a:t>
            </a:r>
            <a:endParaRPr/>
          </a:p>
        </p:txBody>
      </p:sp>
      <p:sp>
        <p:nvSpPr>
          <p:cNvPr id="560" name=""/>
          <p:cNvSpPr/>
          <p:nvPr/>
        </p:nvSpPr>
        <p:spPr>
          <a:xfrm rot="0" flipH="0" flipV="0">
            <a:off x="647700" y="3248025"/>
            <a:ext cx="5981700" cy="2390775"/>
          </a:xfrm>
          <a:prstGeom prst="roundRect">
            <a:avLst>
              <a:gd name="adj" fmla="val 1594"/>
            </a:avLst>
          </a:prstGeom>
          <a:solidFill>
            <a:srgbClr val="FFF3EE"/>
          </a:solidFill>
          <a:ln/>
        </p:spPr>
        <p:txBody>
          <a:bodyPr/>
          <a:p/>
        </p:txBody>
      </p:sp>
      <p:sp>
        <p:nvSpPr>
          <p:cNvPr id="561" name=""/>
          <p:cNvSpPr/>
          <p:nvPr/>
        </p:nvSpPr>
        <p:spPr>
          <a:xfrm rot="0" flipH="0" flipV="0">
            <a:off x="647700" y="3248025"/>
            <a:ext cx="5981700" cy="2390775"/>
          </a:xfrm>
          <a:custGeom>
            <a:pathLst>
              <a:path w="628" h="251">
                <a:moveTo>
                  <a:pt x="4" y="251"/>
                </a:moveTo>
                <a:cubicBezTo>
                  <a:pt x="2" y="251"/>
                  <a:pt x="0" y="249"/>
                  <a:pt x="0" y="247"/>
                </a:cubicBezTo>
                <a:lnTo>
                  <a:pt x="0" y="4"/>
                </a:lnTo>
                <a:cubicBezTo>
                  <a:pt x="0" y="2"/>
                  <a:pt x="2" y="0"/>
                  <a:pt x="4" y="0"/>
                </a:cubicBezTo>
                <a:lnTo>
                  <a:pt x="4" y="251"/>
                </a:lnTo>
                <a:close/>
              </a:path>
            </a:pathLst>
          </a:custGeom>
          <a:solidFill>
            <a:srgbClr val="FA4F24"/>
          </a:solidFill>
          <a:ln/>
        </p:spPr>
        <p:txBody>
          <a:bodyPr/>
          <a:p/>
        </p:txBody>
      </p:sp>
      <p:sp>
        <p:nvSpPr>
          <p:cNvPr id="562" name="" descr="{&quot;isTemplate&quot;:true,&quot;type&quot;:&quot;text&quot;}"/>
          <p:cNvSpPr txBox="1"/>
          <p:nvPr/>
        </p:nvSpPr>
        <p:spPr>
          <a:xfrm rot="0" flipH="0" flipV="0">
            <a:off x="809625" y="4000500"/>
            <a:ext cx="5619750" cy="161925"/>
          </a:xfrm>
          <a:prstGeom prst="rect"/>
        </p:spPr>
        <p:txBody>
          <a:bodyPr wrap="none" lIns="0" tIns="0" rIns="0" bIns="0"/>
          <a:p>
            <a:pPr>
              <a:lnSpc>
                <a:spcPct val="100000"/>
              </a:lnSpc>
            </a:pPr>
            <a:r>
              <a:rPr lang="en-US" sz="1050" b="1">
                <a:solidFill>
                  <a:srgbClr val="C43A17"/>
                </a:solidFill>
                <a:latin typeface="Microsoft YaHei"/>
                <a:ea typeface="Microsoft YaHei"/>
              </a:rPr>
              <a:t xml:space="preserve">Agent </a:t>
            </a:r>
            <a:r>
              <a:rPr lang="zh-CN" sz="1050" b="1">
                <a:solidFill>
                  <a:srgbClr val="C43A17"/>
                </a:solidFill>
                <a:latin typeface="Microsoft YaHei"/>
                <a:ea typeface="Microsoft YaHei"/>
              </a:rPr>
              <a:t>治理与数据治理的三个差别</a:t>
            </a:r>
            <a:endParaRPr/>
          </a:p>
        </p:txBody>
      </p:sp>
      <p:sp>
        <p:nvSpPr>
          <p:cNvPr id="563" name="" descr="{&quot;isTemplate&quot;:true,&quot;type&quot;:&quot;text&quot;}"/>
          <p:cNvSpPr txBox="1"/>
          <p:nvPr/>
        </p:nvSpPr>
        <p:spPr>
          <a:xfrm rot="0" flipH="0" flipV="0">
            <a:off x="809625" y="4229100"/>
            <a:ext cx="5619750" cy="666750"/>
          </a:xfrm>
          <a:prstGeom prst="rect"/>
        </p:spPr>
        <p:txBody>
          <a:bodyPr wrap="square" lIns="0" tIns="0" rIns="0" bIns="0">
            <a:normAutofit/>
          </a:bodyPr>
          <a:p>
            <a:pPr>
              <a:lnSpc>
                <a:spcPct val="160000"/>
              </a:lnSpc>
            </a:pPr>
            <a:r>
              <a:rPr lang="zh-CN" sz="900">
                <a:solidFill>
                  <a:srgbClr val="3A4050"/>
                </a:solidFill>
                <a:latin typeface="Microsoft YaHei"/>
                <a:ea typeface="Microsoft YaHei"/>
              </a:rPr>
              <a:t>一、</a:t>
            </a:r>
            <a:r>
              <a:rPr lang="zh-CN" sz="900">
                <a:solidFill>
                  <a:srgbClr val="3A4050"/>
                </a:solidFill>
                <a:latin typeface="Microsoft YaHei"/>
                <a:ea typeface="Microsoft YaHei"/>
              </a:rPr>
              <a:t>时机不同</a:t>
            </a:r>
            <a:r>
              <a:rPr lang="zh-CN" sz="900">
                <a:solidFill>
                  <a:srgbClr val="3A4050"/>
                </a:solidFill>
                <a:latin typeface="Microsoft YaHei"/>
                <a:ea typeface="Microsoft YaHei"/>
              </a:rPr>
              <a:t>：数据治理管的是静态存量，</a:t>
            </a:r>
            <a:r>
              <a:rPr lang="en-US" sz="900">
                <a:solidFill>
                  <a:srgbClr val="3A4050"/>
                </a:solidFill>
                <a:latin typeface="Microsoft YaHei"/>
                <a:ea typeface="Microsoft YaHei"/>
              </a:rPr>
              <a:t xml:space="preserve">Agent </a:t>
            </a:r>
            <a:r>
              <a:rPr lang="zh-CN" sz="900">
                <a:solidFill>
                  <a:srgbClr val="3A4050"/>
                </a:solidFill>
                <a:latin typeface="Microsoft YaHei"/>
                <a:ea typeface="Microsoft YaHei"/>
              </a:rPr>
              <a:t>治理必须在动作发生前拦截；二、</a:t>
            </a:r>
            <a:r>
              <a:rPr lang="zh-CN" sz="900">
                <a:solidFill>
                  <a:srgbClr val="3A4050"/>
                </a:solidFill>
                <a:latin typeface="Microsoft YaHei"/>
                <a:ea typeface="Microsoft YaHei"/>
              </a:rPr>
              <a:t>判定者不同</a:t>
            </a:r>
            <a:r>
              <a:rPr lang="zh-CN" sz="900">
                <a:solidFill>
                  <a:srgbClr val="3A4050"/>
                </a:solidFill>
                <a:latin typeface="Microsoft YaHei"/>
                <a:ea typeface="Microsoft YaHei"/>
              </a:rPr>
              <a:t>：模型自己判断该调什么工具，判定逻辑本身要纳入可审计范围；三、</a:t>
            </a:r>
            <a:r>
              <a:rPr lang="zh-CN" sz="900">
                <a:solidFill>
                  <a:srgbClr val="3A4050"/>
                </a:solidFill>
                <a:latin typeface="Microsoft YaHei"/>
                <a:ea typeface="Microsoft YaHei"/>
              </a:rPr>
              <a:t>责任不同</a:t>
            </a:r>
            <a:r>
              <a:rPr lang="zh-CN" sz="900">
                <a:solidFill>
                  <a:srgbClr val="3A4050"/>
                </a:solidFill>
                <a:latin typeface="Microsoft YaHei"/>
                <a:ea typeface="Microsoft YaHei"/>
              </a:rPr>
              <a:t>：传统数据治理里执行者是人，</a:t>
            </a:r>
            <a:r>
              <a:rPr lang="en-US" sz="900">
                <a:solidFill>
                  <a:srgbClr val="3A4050"/>
                </a:solidFill>
                <a:latin typeface="Microsoft YaHei"/>
                <a:ea typeface="Microsoft YaHei"/>
              </a:rPr>
              <a:t xml:space="preserve">Agent </a:t>
            </a:r>
            <a:r>
              <a:rPr lang="zh-CN" sz="900">
                <a:solidFill>
                  <a:srgbClr val="3A4050"/>
                </a:solidFill>
                <a:latin typeface="Microsoft YaHei"/>
                <a:ea typeface="Microsoft YaHei"/>
              </a:rPr>
              <a:t>里执行者是系统，责任必须显式落到流程审批节点上。</a:t>
            </a:r>
            <a:endParaRPr/>
          </a:p>
        </p:txBody>
      </p:sp>
      <p:sp>
        <p:nvSpPr>
          <p:cNvPr id="564" name=""/>
          <p:cNvSpPr/>
          <p:nvPr/>
        </p:nvSpPr>
        <p:spPr>
          <a:xfrm rot="0" flipH="0" flipV="0">
            <a:off x="6686550" y="3248025"/>
            <a:ext cx="4895850" cy="2390775"/>
          </a:xfrm>
          <a:prstGeom prst="roundRect">
            <a:avLst>
              <a:gd name="adj" fmla="val 1594"/>
            </a:avLst>
          </a:prstGeom>
          <a:solidFill>
            <a:srgbClr val="F7F7F8"/>
          </a:solidFill>
          <a:ln/>
        </p:spPr>
        <p:txBody>
          <a:bodyPr/>
          <a:p/>
        </p:txBody>
      </p:sp>
      <p:sp>
        <p:nvSpPr>
          <p:cNvPr id="565" name="" descr="{&quot;isTemplate&quot;:true,&quot;type&quot;:&quot;text&quot;}"/>
          <p:cNvSpPr txBox="1"/>
          <p:nvPr/>
        </p:nvSpPr>
        <p:spPr>
          <a:xfrm rot="0" flipH="0" flipV="0">
            <a:off x="6848475" y="4000500"/>
            <a:ext cx="4572000" cy="161925"/>
          </a:xfrm>
          <a:prstGeom prst="rect"/>
        </p:spPr>
        <p:txBody>
          <a:bodyPr wrap="none" lIns="0" tIns="0" rIns="0" bIns="0"/>
          <a:p>
            <a:pPr>
              <a:lnSpc>
                <a:spcPct val="100000"/>
              </a:lnSpc>
            </a:pPr>
            <a:r>
              <a:rPr lang="zh-CN" sz="1050" b="1">
                <a:solidFill>
                  <a:srgbClr val="0F1423"/>
                </a:solidFill>
                <a:latin typeface="Microsoft YaHei"/>
                <a:ea typeface="Microsoft YaHei"/>
              </a:rPr>
              <a:t>落地顺序：先禁出口，再开记忆</a:t>
            </a:r>
            <a:endParaRPr/>
          </a:p>
        </p:txBody>
      </p:sp>
      <p:sp>
        <p:nvSpPr>
          <p:cNvPr id="566" name="" descr="{&quot;isTemplate&quot;:true,&quot;type&quot;:&quot;text&quot;}"/>
          <p:cNvSpPr txBox="1"/>
          <p:nvPr/>
        </p:nvSpPr>
        <p:spPr>
          <a:xfrm rot="0" flipH="0" flipV="0">
            <a:off x="6848475" y="4229100"/>
            <a:ext cx="4572000" cy="666750"/>
          </a:xfrm>
          <a:prstGeom prst="rect"/>
        </p:spPr>
        <p:txBody>
          <a:bodyPr wrap="square" lIns="0" tIns="0" rIns="0" bIns="0">
            <a:normAutofit/>
          </a:bodyPr>
          <a:p>
            <a:pPr>
              <a:lnSpc>
                <a:spcPct val="160000"/>
              </a:lnSpc>
            </a:pPr>
            <a:r>
              <a:rPr lang="zh-CN" sz="900">
                <a:solidFill>
                  <a:srgbClr val="3A4050"/>
                </a:solidFill>
                <a:latin typeface="Microsoft YaHei"/>
                <a:ea typeface="Microsoft YaHei"/>
              </a:rPr>
              <a:t>很多团队顺序做反了：先把记忆打开方便提效，半年后才发现</a:t>
            </a:r>
            <a:r>
              <a:rPr lang="en-US" sz="900">
                <a:solidFill>
                  <a:srgbClr val="3A4050"/>
                </a:solidFill>
                <a:latin typeface="Microsoft YaHei"/>
                <a:ea typeface="Microsoft YaHei"/>
              </a:rPr>
              <a:t xml:space="preserve"> Agent </a:t>
            </a:r>
            <a:r>
              <a:rPr lang="zh-CN" sz="900">
                <a:solidFill>
                  <a:srgbClr val="3A4050"/>
                </a:solidFill>
                <a:latin typeface="Microsoft YaHei"/>
                <a:ea typeface="Microsoft YaHei"/>
              </a:rPr>
              <a:t>记的东西没法撤回。建议顺序是——先给所有工具配默认拒绝的出口策略，再按白名单逐个放开；长期记忆先只做会话级，等标记与撤回机制跑通再升到跨会话。</a:t>
            </a:r>
            <a:endParaRPr/>
          </a:p>
        </p:txBody>
      </p:sp>
      <p:sp>
        <p:nvSpPr>
          <p:cNvPr id="567"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568" name=""/>
          <p:cNvSpPr/>
          <p:nvPr/>
        </p:nvSpPr>
        <p:spPr>
          <a:xfrm rot="0" flipH="0" flipV="0">
            <a:off x="609600" y="5953125"/>
            <a:ext cx="95250" cy="95250"/>
          </a:xfrm>
          <a:prstGeom prst="rect">
            <a:avLst/>
          </a:prstGeom>
          <a:solidFill>
            <a:srgbClr val="FA4F24"/>
          </a:solidFill>
          <a:ln/>
        </p:spPr>
        <p:txBody>
          <a:bodyPr/>
          <a:p/>
        </p:txBody>
      </p:sp>
      <p:sp>
        <p:nvSpPr>
          <p:cNvPr id="569"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570"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20 / 30</a:t>
            </a:r>
            <a:endParaRPr/>
          </a:p>
        </p:txBody>
      </p:sp>
    </p:spTree>
  </p:cSld>
</p:sld>
</file>

<file path=ppt/slides/slide21.xml><?xml version="1.0" encoding="utf-8"?>
<p:sld xmlns:p="http://schemas.openxmlformats.org/presentationml/2006/main" xmlns:a="http://schemas.openxmlformats.org/drawingml/2006/main">
  <p:cSld>
    <p:spTree>
      <p:nvGrpSpPr>
        <p:cNvPr id="571" name="" descr="&lt;Slide style={{ width: 1280, height: 720, background: '#FFFFFF', padding: '24px 64px 0' }}&gt;&#10;  &lt;Box style={{ height: 96, flexDirection: 'column', justifyContent: 'flex-start' }}&gt;&#10;    &lt;Text style={{ fontSize: 32, fontWeight: 'bold', color: '#0F1423' }}&gt;&#10;      治理 &lt;span style={{ color: '#FA4F24' }}&gt;×&lt;/span&gt; Ontology：策略是本体的一部分，不是外挂&#10;    &lt;/Text&gt;&#10;    &lt;Text style={{ fontSize: 20, color: '#8A8F99', marginTop: 8 }}&gt;&#10;      没有策略的对象类型，就是一个还没有定义清楚的对象&#10;    &lt;/Text&gt;&#10;  &lt;/Box&gt;&#10;  &lt;Box style={{ height: 1, background: '#E8E8E8' }} /&gt;&#10;&#10;  &lt;Box style={{ paddingTop: 14, paddingBottom: 8, height: 479, flexDirection: 'column', gap: 10 }}&gt;&#10;    &lt;Box style={{ height: 262, flexDirection: 'row', gap: 10 }}&gt;&#10;      &lt;Box style={{ flex: 1.15, background: '#F7F7F8', borderRadius: 4, padding: '13px 17px', flexDirection: 'column' }}&gt;&#10;        &lt;Text style={{ fontSize: 14, fontWeight: 'bold', color: '#0F1423' }}&gt;本体层要新增的四类对象&lt;/Text&gt;&#10;        &lt;Text style={{ fontSize: 11.5, color: '#3A4050', marginTop: 7, lineHeight: 1.55 }}&gt;&#10;          在业务对象、属性、关系、动作为主的本体里，必须补上治理自身的四类对象，否则策略无处安放。&#10;        &lt;/Text&gt;&#10;        &lt;Box style={{ flex: 1, marginTop: 9, flexDirection: 'column', gap: 6 }}&gt;&#10;          {[&#10;            { t: '标记类别对象', d: '密级的定义域，本身带可见性（可见/隐藏）与成员管理' },&#10;            { t: '策略对象', d: '对象级、属性级、用途级策略，作为可版本化的资源存在' },&#10;            { t: '理由对象', d: 'PBAC 主动模式下申请人提交的理由，永久留痕' },&#10;            { t: '审批对象', d: '提案、复核、降级申请与其状态机，等价于治理的工作流' },&#10;          ].map((x) =&gt; (&#10;            &lt;Box key={x.t} style={{ flexDirection: 'row', gap: 8, alignItems: 'flex-start' }}&gt;&#10;              &lt;Box style={{ width: 5, height: 5, background: '#FA4F24', marginTop: 6 }} /&gt;&#10;              &lt;Text style={{ fontSize: 11.5, color: '#3A4050', lineHeight: 1.45, flex: 1 }}&gt;&#10;                &lt;tspan style={{ fontWeight: 'bold', color: '#0F1423' }}&gt;{x.t}&lt;/tspan&gt;：{x.d}&#10;              &lt;/Text&gt;&#10;            &lt;/Box&gt;&#10;          ))}&#10;        &lt;/Box&gt;&#10;      &lt;/Box&gt;&#10;&#10;      &lt;Box style={{ flex: 1, background: '#0F1423', borderRadius: 4, padding: '13px 17px', flexDirection: 'column' }}&gt;&#10;        &lt;Text style={{ fontSize: 14, fontWeight: 'bold', color: '#FBA15C' }}&gt;为什么不能外挂&lt;/Text&gt;&#10;        &lt;Text style={{ fontSize: 11.5, color: 'rgba(255,255,255,0.82)', marginTop: 8, lineHeight: 1.6 }}&gt;&#10;          策略外挂的典型症状是：本体里能看到&lt;tspan style={{ color: '#FFFFFF' }}&gt;「客户」这个对象和它的 30 个属性&lt;/tspan&gt;，但没人能回答「这个属性能不能给外部合作方看」。&#10;        &lt;/Text&gt;&#10;        &lt;Box style={{ marginTop: 10, background: 'rgba(250,79,36,0.18)', borderRadius: 3, padding: '9px 11px' }}&gt;&#10;          &lt;Text style={{ fontSize: 11.5, color: 'rgba(255,255,255,0.92)', lineHeight: 1.55 }}&gt;&#10;            根因：属性安全策略&lt;tspan style={{ fontWeight: 'bold', color: '#FBA15C' }}&gt;只能作用在非主键属性上&lt;/tspan&gt;。没把属性建模清楚，就没法建策略——这不是治理没做，是本体没做。&#10;          &lt;/Text&gt;&#10;        &lt;/Box&gt;&#10;        &lt;Box style={{ flex: 1, marginTop: 10, background: 'rgba(255,255,255,0.07)', borderRadius: 3, padding: '9px 11px' }}&gt;&#10;          &lt;Text style={{ fontSize: 11.5, color: 'rgba(255,255,255,0.85)', lineHeight: 1.55 }}&gt;&#10;            结论：本体设计阶段就要同时回答两个问题——这个属性是什么、这个属性给谁看。缺第二个问题，本体就还差一半。&#10;          &lt;/Text&gt;&#10;        &lt;/Box&gt;&#10;      &lt;/Box&gt;&#10;&#10;      &lt;Box style={{ flex: 1, background: '#FFF3EE', borderRadius: 4, borderLeft: '4px solid #FA4F24', padding: '13px 17px', flexDirection: 'column', justifyContent: 'center' }}&gt;&#10;        &lt;Text style={{ fontSize: 14, fontWeight: 'bold', color: '#C43A17' }}&gt;两条不可越界的规则&lt;/Text&gt;&#10;        &lt;Text style={{ fontSize: 12, color: '#3A4050', marginTop: 7, lineHeight: 1.65 }}&gt;&#10;          一、&lt;tspan style={{ fontWeight: 'bold' }}&gt;标记类别一旦创建不可删除，也不可改类别&lt;/tspan&gt;——这是为了让历史审计记录永远可解释；二、&lt;tspan style={{ fontWeight: 'bold' }}&gt;默认继承数据源全部强制控制&lt;/tspan&gt;——新建对象不会因为「忘了配策略」而裸奔。&#10;        &lt;/Text&gt;&#10;        &lt;Box style={{ marginTop: 10, background: '#FFFFFF', borderRadius: 3, padding: '9px 11px' }}&gt;&#10;          &lt;Text style={{ fontSize: 11.5, color: '#3A4050', lineHeight: 1.5 }}&gt;&#10;            还有一条常被忽略：有「打标记」和「管理权限」但不是「类别成员」的用户，能打标记却看不到数据。权限模型不是一维的，是四维的。&#10;          &lt;/Text&gt;&#10;        &lt;/Box&gt;&#10;      &lt;/Box&gt;&#10;    &lt;/Box&gt;&#10;&#10;    &lt;Box style={{ flex: 1, background: '#FFFFFF', border: '1px solid #E8E8E8', borderRadius: 4, padding: '12px 18px', flexDirection: 'column' }}&gt;&#10;      &lt;Text style={{ fontSize: 14, fontWeight: 'bold', color: '#0F1423' }}&gt;本体设计评审时必须回答的十个治理问题&lt;/Text&gt;&#10;      &lt;Box style={{ flex: 1, flexDirection: 'row', gap: 6, marginTop: 9, flexWrap: 'wrap', alignContent: 'flex-start' }}&gt;&#10;        {[&#10;          '每个对象类型的归属组织是哪个？',&#10;          '每个属性归哪个密级类别？',&#10;          '哪些属性可对单个对象做行级管控？',&#10;          '哪些属性属于属性安全策略，且互相不重叠？',&#10;          '哪些动作必须挂审批节点？',&#10;          '哪些动作只允许只读提交？',&#10;          '哪些对象允许去标记，审批人是谁？',&#10;          '哪些对象允许进入 Agent 的工具清单？',&#10;          '本体的版本变更，谁批准？',&#10;          '策略变更后，历史数据怎么回溯？',&#10;        ].map((q, i) =&gt; (&#10;          &lt;Box key={q} style={{ width: '19.4%', background: '#F7F7F8', borderRadius: 3, padding: '7px 9px' }}&gt;&#10;            &lt;Text style={{ fontSize: 11, color: '#3A4050', lineHeight: 1.4 }}&gt;&#10;              &lt;tspan style={{ fontWeight: 'bold', color: '#FA4F24' }}&gt;{i + 1}. &lt;/tspan&gt;{q}&#10;            &lt;/Text&gt;&#10;          &lt;/Box&gt;&#10;        ))}&#10;      &lt;/Box&gt;&#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21 / 30&lt;/Text&gt;&#10;  &lt;/Box&gt;&#10;&lt;/Slide&gt;"/>
        <p:cNvGrpSpPr/>
        <p:nvPr/>
      </p:nvGrpSpPr>
      <p:grpSpPr>
        <a:xfrm>
          <a:off x="0" y="0"/>
          <a:ext cx="0" cy="0"/>
          <a:chOff x="0" y="0"/>
          <a:chExt cx="0" cy="0"/>
        </a:xfrm>
      </p:grpSpPr>
      <p:sp>
        <p:nvSpPr>
          <p:cNvPr id="572" name=""/>
          <p:cNvSpPr/>
          <p:nvPr/>
        </p:nvSpPr>
        <p:spPr>
          <a:xfrm rot="0" flipH="0" flipV="0">
            <a:off x="0" y="0"/>
            <a:ext cx="12192000" cy="6858000"/>
          </a:xfrm>
          <a:prstGeom prst="rect">
            <a:avLst/>
          </a:prstGeom>
          <a:solidFill>
            <a:srgbClr val="FFFFFF"/>
          </a:solidFill>
          <a:ln/>
        </p:spPr>
        <p:txBody>
          <a:bodyPr/>
          <a:p/>
        </p:txBody>
      </p:sp>
      <p:sp>
        <p:nvSpPr>
          <p:cNvPr id="573"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治理</a:t>
            </a:r>
            <a:r>
              <a:rPr lang="en-US" sz="2400" b="1">
                <a:solidFill>
                  <a:srgbClr val="0F1423"/>
                </a:solidFill>
                <a:latin typeface="Microsoft YaHei"/>
                <a:ea typeface="Microsoft YaHei"/>
              </a:rPr>
              <a:t xml:space="preserve"> </a:t>
            </a:r>
            <a:r>
              <a:rPr sz="2400" b="1">
                <a:solidFill>
                  <a:srgbClr val="FA4F24"/>
                </a:solidFill>
                <a:latin typeface="Microsoft YaHei"/>
                <a:ea typeface="Microsoft YaHei"/>
              </a:rPr>
              <a:t>×</a:t>
            </a:r>
            <a:r>
              <a:rPr lang="en-US" sz="2400" b="1">
                <a:solidFill>
                  <a:srgbClr val="0F1423"/>
                </a:solidFill>
                <a:latin typeface="Microsoft YaHei"/>
                <a:ea typeface="Microsoft YaHei"/>
              </a:rPr>
              <a:t xml:space="preserve"> Ontology</a:t>
            </a:r>
            <a:r>
              <a:rPr lang="zh-CN" sz="2400" b="1">
                <a:solidFill>
                  <a:srgbClr val="0F1423"/>
                </a:solidFill>
                <a:latin typeface="Microsoft YaHei"/>
                <a:ea typeface="Microsoft YaHei"/>
              </a:rPr>
              <a:t>：策略是本体的一部分，不是外挂</a:t>
            </a:r>
            <a:endParaRPr/>
          </a:p>
        </p:txBody>
      </p:sp>
      <p:sp>
        <p:nvSpPr>
          <p:cNvPr id="574"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没有策略的对象类型，就是一个还没有定义清楚的对象</a:t>
            </a:r>
            <a:endParaRPr/>
          </a:p>
        </p:txBody>
      </p:sp>
      <p:sp>
        <p:nvSpPr>
          <p:cNvPr id="575" name=""/>
          <p:cNvSpPr/>
          <p:nvPr/>
        </p:nvSpPr>
        <p:spPr>
          <a:xfrm rot="0" flipH="0" flipV="0">
            <a:off x="609600" y="1143000"/>
            <a:ext cx="10972800" cy="9525"/>
          </a:xfrm>
          <a:prstGeom prst="rect">
            <a:avLst/>
          </a:prstGeom>
          <a:solidFill>
            <a:srgbClr val="E8E8E8"/>
          </a:solidFill>
          <a:ln/>
        </p:spPr>
        <p:txBody>
          <a:bodyPr/>
          <a:p/>
        </p:txBody>
      </p:sp>
      <p:sp>
        <p:nvSpPr>
          <p:cNvPr id="576" name=""/>
          <p:cNvSpPr/>
          <p:nvPr/>
        </p:nvSpPr>
        <p:spPr>
          <a:xfrm rot="0" flipH="0" flipV="0">
            <a:off x="609600" y="1285875"/>
            <a:ext cx="3933825" cy="2495550"/>
          </a:xfrm>
          <a:prstGeom prst="roundRect">
            <a:avLst>
              <a:gd name="adj" fmla="val 1527"/>
            </a:avLst>
          </a:prstGeom>
          <a:solidFill>
            <a:srgbClr val="F7F7F8"/>
          </a:solidFill>
          <a:ln/>
        </p:spPr>
        <p:txBody>
          <a:bodyPr/>
          <a:p/>
        </p:txBody>
      </p:sp>
      <p:sp>
        <p:nvSpPr>
          <p:cNvPr id="577" name="" descr="{&quot;isTemplate&quot;:true,&quot;type&quot;:&quot;text&quot;}"/>
          <p:cNvSpPr txBox="1"/>
          <p:nvPr/>
        </p:nvSpPr>
        <p:spPr>
          <a:xfrm rot="0" flipH="0" flipV="0">
            <a:off x="771525" y="1409700"/>
            <a:ext cx="3609975" cy="161925"/>
          </a:xfrm>
          <a:prstGeom prst="rect"/>
        </p:spPr>
        <p:txBody>
          <a:bodyPr wrap="none" lIns="0" tIns="0" rIns="0" bIns="0"/>
          <a:p>
            <a:pPr>
              <a:lnSpc>
                <a:spcPct val="100000"/>
              </a:lnSpc>
            </a:pPr>
            <a:r>
              <a:rPr lang="zh-CN" sz="1050" b="1">
                <a:solidFill>
                  <a:srgbClr val="0F1423"/>
                </a:solidFill>
                <a:latin typeface="Microsoft YaHei"/>
                <a:ea typeface="Microsoft YaHei"/>
              </a:rPr>
              <a:t>本体层要新增的四类对象</a:t>
            </a:r>
            <a:endParaRPr/>
          </a:p>
        </p:txBody>
      </p:sp>
      <p:sp>
        <p:nvSpPr>
          <p:cNvPr id="578" name="" descr="{&quot;isTemplate&quot;:true,&quot;type&quot;:&quot;text&quot;}"/>
          <p:cNvSpPr txBox="1"/>
          <p:nvPr/>
        </p:nvSpPr>
        <p:spPr>
          <a:xfrm rot="0" flipH="0" flipV="0">
            <a:off x="771525" y="1638300"/>
            <a:ext cx="3609975" cy="409575"/>
          </a:xfrm>
          <a:prstGeom prst="rect"/>
        </p:spPr>
        <p:txBody>
          <a:bodyPr wrap="square" lIns="0" tIns="0" rIns="0" bIns="0">
            <a:normAutofit/>
          </a:bodyPr>
          <a:p>
            <a:pPr>
              <a:lnSpc>
                <a:spcPct val="155000"/>
              </a:lnSpc>
            </a:pPr>
            <a:r>
              <a:rPr lang="zh-CN" sz="863">
                <a:solidFill>
                  <a:srgbClr val="3A4050"/>
                </a:solidFill>
                <a:latin typeface="Microsoft YaHei"/>
                <a:ea typeface="Microsoft YaHei"/>
              </a:rPr>
              <a:t>在业务对象、属性、关系、动作为主的本体里，必须补上治理自身的四类对象，否则策略无处安放。</a:t>
            </a:r>
            <a:endParaRPr/>
          </a:p>
        </p:txBody>
      </p:sp>
      <p:sp>
        <p:nvSpPr>
          <p:cNvPr id="579" name=""/>
          <p:cNvSpPr/>
          <p:nvPr/>
        </p:nvSpPr>
        <p:spPr>
          <a:xfrm rot="0" flipH="0" flipV="0">
            <a:off x="771525" y="2190750"/>
            <a:ext cx="47625" cy="47625"/>
          </a:xfrm>
          <a:prstGeom prst="rect">
            <a:avLst/>
          </a:prstGeom>
          <a:solidFill>
            <a:srgbClr val="FA4F24"/>
          </a:solidFill>
          <a:ln/>
        </p:spPr>
        <p:txBody>
          <a:bodyPr/>
          <a:p/>
        </p:txBody>
      </p:sp>
      <p:sp>
        <p:nvSpPr>
          <p:cNvPr id="580" name="" descr="{&quot;isTemplate&quot;:true,&quot;type&quot;:&quot;text&quot;}"/>
          <p:cNvSpPr txBox="1"/>
          <p:nvPr/>
        </p:nvSpPr>
        <p:spPr>
          <a:xfrm rot="0" flipH="0" flipV="0">
            <a:off x="895350" y="2133600"/>
            <a:ext cx="3486150" cy="200025"/>
          </a:xfrm>
          <a:prstGeom prst="rect"/>
        </p:spPr>
        <p:txBody>
          <a:bodyPr wrap="none" lIns="0" tIns="0" rIns="0" bIns="0"/>
          <a:p>
            <a:pPr>
              <a:lnSpc>
                <a:spcPct val="145000"/>
              </a:lnSpc>
            </a:pPr>
            <a:r>
              <a:rPr lang="zh-CN" sz="863">
                <a:solidFill>
                  <a:srgbClr val="3A4050"/>
                </a:solidFill>
                <a:latin typeface="Microsoft YaHei"/>
                <a:ea typeface="Microsoft YaHei"/>
              </a:rPr>
              <a:t>标记类别对象</a:t>
            </a:r>
            <a:r>
              <a:rPr lang="zh-CN" sz="863">
                <a:solidFill>
                  <a:srgbClr val="3A4050"/>
                </a:solidFill>
                <a:latin typeface="Microsoft YaHei"/>
                <a:ea typeface="Microsoft YaHei"/>
              </a:rPr>
              <a:t>：</a:t>
            </a:r>
            <a:r>
              <a:rPr lang="zh-CN" sz="863">
                <a:solidFill>
                  <a:srgbClr val="3A4050"/>
                </a:solidFill>
                <a:latin typeface="Microsoft YaHei"/>
                <a:ea typeface="Microsoft YaHei"/>
              </a:rPr>
              <a:t>密级的定义域，本身带可见性（可见</a:t>
            </a:r>
            <a:r>
              <a:rPr lang="en-US" sz="863">
                <a:solidFill>
                  <a:srgbClr val="3A4050"/>
                </a:solidFill>
                <a:latin typeface="Microsoft YaHei"/>
                <a:ea typeface="Microsoft YaHei"/>
              </a:rPr>
              <a:t>/</a:t>
            </a:r>
            <a:r>
              <a:rPr lang="zh-CN" sz="863">
                <a:solidFill>
                  <a:srgbClr val="3A4050"/>
                </a:solidFill>
                <a:latin typeface="Microsoft YaHei"/>
                <a:ea typeface="Microsoft YaHei"/>
              </a:rPr>
              <a:t>隐藏）与成员管理</a:t>
            </a:r>
            <a:endParaRPr/>
          </a:p>
        </p:txBody>
      </p:sp>
      <p:sp>
        <p:nvSpPr>
          <p:cNvPr id="581" name=""/>
          <p:cNvSpPr/>
          <p:nvPr/>
        </p:nvSpPr>
        <p:spPr>
          <a:xfrm rot="0" flipH="0" flipV="0">
            <a:off x="771525" y="2447925"/>
            <a:ext cx="47625" cy="47625"/>
          </a:xfrm>
          <a:prstGeom prst="rect">
            <a:avLst/>
          </a:prstGeom>
          <a:solidFill>
            <a:srgbClr val="FA4F24"/>
          </a:solidFill>
          <a:ln/>
        </p:spPr>
        <p:txBody>
          <a:bodyPr/>
          <a:p/>
        </p:txBody>
      </p:sp>
      <p:sp>
        <p:nvSpPr>
          <p:cNvPr id="582" name="" descr="{&quot;isTemplate&quot;:true,&quot;type&quot;:&quot;text&quot;}"/>
          <p:cNvSpPr txBox="1"/>
          <p:nvPr/>
        </p:nvSpPr>
        <p:spPr>
          <a:xfrm rot="0" flipH="0" flipV="0">
            <a:off x="895350" y="2390775"/>
            <a:ext cx="3486150" cy="200025"/>
          </a:xfrm>
          <a:prstGeom prst="rect"/>
        </p:spPr>
        <p:txBody>
          <a:bodyPr wrap="none" lIns="0" tIns="0" rIns="0" bIns="0"/>
          <a:p>
            <a:pPr>
              <a:lnSpc>
                <a:spcPct val="145000"/>
              </a:lnSpc>
            </a:pPr>
            <a:r>
              <a:rPr lang="zh-CN" sz="863">
                <a:solidFill>
                  <a:srgbClr val="3A4050"/>
                </a:solidFill>
                <a:latin typeface="Microsoft YaHei"/>
                <a:ea typeface="Microsoft YaHei"/>
              </a:rPr>
              <a:t>策略对象</a:t>
            </a:r>
            <a:r>
              <a:rPr lang="zh-CN" sz="863">
                <a:solidFill>
                  <a:srgbClr val="3A4050"/>
                </a:solidFill>
                <a:latin typeface="Microsoft YaHei"/>
                <a:ea typeface="Microsoft YaHei"/>
              </a:rPr>
              <a:t>：</a:t>
            </a:r>
            <a:r>
              <a:rPr lang="zh-CN" sz="863">
                <a:solidFill>
                  <a:srgbClr val="3A4050"/>
                </a:solidFill>
                <a:latin typeface="Microsoft YaHei"/>
                <a:ea typeface="Microsoft YaHei"/>
              </a:rPr>
              <a:t>对象级、属性级、用途级策略，作为可版本化的资源存在</a:t>
            </a:r>
            <a:endParaRPr/>
          </a:p>
        </p:txBody>
      </p:sp>
      <p:sp>
        <p:nvSpPr>
          <p:cNvPr id="583" name=""/>
          <p:cNvSpPr/>
          <p:nvPr/>
        </p:nvSpPr>
        <p:spPr>
          <a:xfrm rot="0" flipH="0" flipV="0">
            <a:off x="771525" y="2705100"/>
            <a:ext cx="47625" cy="47625"/>
          </a:xfrm>
          <a:prstGeom prst="rect">
            <a:avLst/>
          </a:prstGeom>
          <a:solidFill>
            <a:srgbClr val="FA4F24"/>
          </a:solidFill>
          <a:ln/>
        </p:spPr>
        <p:txBody>
          <a:bodyPr/>
          <a:p/>
        </p:txBody>
      </p:sp>
      <p:sp>
        <p:nvSpPr>
          <p:cNvPr id="584" name="" descr="{&quot;isTemplate&quot;:true,&quot;type&quot;:&quot;text&quot;}"/>
          <p:cNvSpPr txBox="1"/>
          <p:nvPr/>
        </p:nvSpPr>
        <p:spPr>
          <a:xfrm rot="0" flipH="0" flipV="0">
            <a:off x="895350" y="2647950"/>
            <a:ext cx="3486150" cy="200025"/>
          </a:xfrm>
          <a:prstGeom prst="rect"/>
        </p:spPr>
        <p:txBody>
          <a:bodyPr wrap="none" lIns="0" tIns="0" rIns="0" bIns="0"/>
          <a:p>
            <a:pPr>
              <a:lnSpc>
                <a:spcPct val="145000"/>
              </a:lnSpc>
            </a:pPr>
            <a:r>
              <a:rPr lang="zh-CN" sz="863">
                <a:solidFill>
                  <a:srgbClr val="3A4050"/>
                </a:solidFill>
                <a:latin typeface="Microsoft YaHei"/>
                <a:ea typeface="Microsoft YaHei"/>
              </a:rPr>
              <a:t>理由对象</a:t>
            </a:r>
            <a:r>
              <a:rPr lang="zh-CN" sz="863">
                <a:solidFill>
                  <a:srgbClr val="3A4050"/>
                </a:solidFill>
                <a:latin typeface="Microsoft YaHei"/>
                <a:ea typeface="Microsoft YaHei"/>
              </a:rPr>
              <a:t>：</a:t>
            </a:r>
            <a:r>
              <a:rPr lang="en-US" sz="863">
                <a:solidFill>
                  <a:srgbClr val="3A4050"/>
                </a:solidFill>
                <a:latin typeface="Microsoft YaHei"/>
                <a:ea typeface="Microsoft YaHei"/>
              </a:rPr>
              <a:t xml:space="preserve">PBAC </a:t>
            </a:r>
            <a:r>
              <a:rPr lang="zh-CN" sz="863">
                <a:solidFill>
                  <a:srgbClr val="3A4050"/>
                </a:solidFill>
                <a:latin typeface="Microsoft YaHei"/>
                <a:ea typeface="Microsoft YaHei"/>
              </a:rPr>
              <a:t>主动模式下申请人提交的理由，永久留痕</a:t>
            </a:r>
            <a:endParaRPr/>
          </a:p>
        </p:txBody>
      </p:sp>
      <p:sp>
        <p:nvSpPr>
          <p:cNvPr id="585" name=""/>
          <p:cNvSpPr/>
          <p:nvPr/>
        </p:nvSpPr>
        <p:spPr>
          <a:xfrm rot="0" flipH="0" flipV="0">
            <a:off x="771525" y="2962275"/>
            <a:ext cx="47625" cy="47625"/>
          </a:xfrm>
          <a:prstGeom prst="rect">
            <a:avLst/>
          </a:prstGeom>
          <a:solidFill>
            <a:srgbClr val="FA4F24"/>
          </a:solidFill>
          <a:ln/>
        </p:spPr>
        <p:txBody>
          <a:bodyPr/>
          <a:p/>
        </p:txBody>
      </p:sp>
      <p:sp>
        <p:nvSpPr>
          <p:cNvPr id="586" name="" descr="{&quot;isTemplate&quot;:true,&quot;type&quot;:&quot;text&quot;}"/>
          <p:cNvSpPr txBox="1"/>
          <p:nvPr/>
        </p:nvSpPr>
        <p:spPr>
          <a:xfrm rot="0" flipH="0" flipV="0">
            <a:off x="895350" y="2905125"/>
            <a:ext cx="3486150" cy="200025"/>
          </a:xfrm>
          <a:prstGeom prst="rect"/>
        </p:spPr>
        <p:txBody>
          <a:bodyPr wrap="none" lIns="0" tIns="0" rIns="0" bIns="0"/>
          <a:p>
            <a:pPr>
              <a:lnSpc>
                <a:spcPct val="145000"/>
              </a:lnSpc>
            </a:pPr>
            <a:r>
              <a:rPr lang="zh-CN" sz="863">
                <a:solidFill>
                  <a:srgbClr val="3A4050"/>
                </a:solidFill>
                <a:latin typeface="Microsoft YaHei"/>
                <a:ea typeface="Microsoft YaHei"/>
              </a:rPr>
              <a:t>审批对象</a:t>
            </a:r>
            <a:r>
              <a:rPr lang="zh-CN" sz="863">
                <a:solidFill>
                  <a:srgbClr val="3A4050"/>
                </a:solidFill>
                <a:latin typeface="Microsoft YaHei"/>
                <a:ea typeface="Microsoft YaHei"/>
              </a:rPr>
              <a:t>：</a:t>
            </a:r>
            <a:r>
              <a:rPr lang="zh-CN" sz="863">
                <a:solidFill>
                  <a:srgbClr val="3A4050"/>
                </a:solidFill>
                <a:latin typeface="Microsoft YaHei"/>
                <a:ea typeface="Microsoft YaHei"/>
              </a:rPr>
              <a:t>提案、复核、降级申请与其状态机，等价于治理的工作流</a:t>
            </a:r>
            <a:endParaRPr/>
          </a:p>
        </p:txBody>
      </p:sp>
      <p:sp>
        <p:nvSpPr>
          <p:cNvPr id="587" name=""/>
          <p:cNvSpPr/>
          <p:nvPr/>
        </p:nvSpPr>
        <p:spPr>
          <a:xfrm rot="0" flipH="0" flipV="0">
            <a:off x="4638675" y="1285875"/>
            <a:ext cx="3429000" cy="2495550"/>
          </a:xfrm>
          <a:prstGeom prst="roundRect">
            <a:avLst>
              <a:gd name="adj" fmla="val 1527"/>
            </a:avLst>
          </a:prstGeom>
          <a:solidFill>
            <a:srgbClr val="0F1423"/>
          </a:solidFill>
          <a:ln/>
        </p:spPr>
        <p:txBody>
          <a:bodyPr/>
          <a:p/>
        </p:txBody>
      </p:sp>
      <p:sp>
        <p:nvSpPr>
          <p:cNvPr id="588" name="" descr="{&quot;isTemplate&quot;:true,&quot;type&quot;:&quot;text&quot;}"/>
          <p:cNvSpPr txBox="1"/>
          <p:nvPr/>
        </p:nvSpPr>
        <p:spPr>
          <a:xfrm rot="0" flipH="0" flipV="0">
            <a:off x="4800600" y="1409700"/>
            <a:ext cx="3105150" cy="161925"/>
          </a:xfrm>
          <a:prstGeom prst="rect"/>
        </p:spPr>
        <p:txBody>
          <a:bodyPr wrap="none" lIns="0" tIns="0" rIns="0" bIns="0"/>
          <a:p>
            <a:pPr>
              <a:lnSpc>
                <a:spcPct val="100000"/>
              </a:lnSpc>
            </a:pPr>
            <a:r>
              <a:rPr lang="zh-CN" sz="1050" b="1">
                <a:solidFill>
                  <a:srgbClr val="FBA15C"/>
                </a:solidFill>
                <a:latin typeface="Microsoft YaHei"/>
                <a:ea typeface="Microsoft YaHei"/>
              </a:rPr>
              <a:t>为什么不能外挂</a:t>
            </a:r>
            <a:endParaRPr/>
          </a:p>
        </p:txBody>
      </p:sp>
      <p:sp>
        <p:nvSpPr>
          <p:cNvPr id="589" name="" descr="{&quot;isTemplate&quot;:true,&quot;type&quot;:&quot;text&quot;}"/>
          <p:cNvSpPr txBox="1"/>
          <p:nvPr/>
        </p:nvSpPr>
        <p:spPr>
          <a:xfrm rot="0" flipH="0" flipV="0">
            <a:off x="4800600" y="1647825"/>
            <a:ext cx="3105150" cy="638175"/>
          </a:xfrm>
          <a:prstGeom prst="rect"/>
        </p:spPr>
        <p:txBody>
          <a:bodyPr wrap="square" lIns="0" tIns="0" rIns="0" bIns="0">
            <a:normAutofit/>
          </a:bodyPr>
          <a:p>
            <a:pPr>
              <a:lnSpc>
                <a:spcPct val="160000"/>
              </a:lnSpc>
            </a:pPr>
            <a:r>
              <a:rPr lang="zh-CN" sz="863">
                <a:solidFill>
                  <a:srgbClr val="FFFFFF">
                    <a:alpha val="82000"/>
                  </a:srgbClr>
                </a:solidFill>
                <a:latin typeface="Microsoft YaHei"/>
                <a:ea typeface="Microsoft YaHei"/>
              </a:rPr>
              <a:t>策略外挂的典型症状是：本体里能看到</a:t>
            </a:r>
            <a:r>
              <a:rPr lang="zh-CN" sz="863">
                <a:solidFill>
                  <a:srgbClr val="FFFFFF">
                    <a:alpha val="82000"/>
                  </a:srgbClr>
                </a:solidFill>
                <a:latin typeface="Microsoft YaHei"/>
                <a:ea typeface="Microsoft YaHei"/>
              </a:rPr>
              <a:t>「客户」这个对象和它的</a:t>
            </a:r>
            <a:r>
              <a:rPr lang="en-US" sz="863">
                <a:solidFill>
                  <a:srgbClr val="FFFFFF">
                    <a:alpha val="82000"/>
                  </a:srgbClr>
                </a:solidFill>
                <a:latin typeface="Microsoft YaHei"/>
                <a:ea typeface="Microsoft YaHei"/>
              </a:rPr>
              <a:t xml:space="preserve"> 30 </a:t>
            </a:r>
            <a:r>
              <a:rPr lang="zh-CN" sz="863">
                <a:solidFill>
                  <a:srgbClr val="FFFFFF">
                    <a:alpha val="82000"/>
                  </a:srgbClr>
                </a:solidFill>
                <a:latin typeface="Microsoft YaHei"/>
                <a:ea typeface="Microsoft YaHei"/>
              </a:rPr>
              <a:t>个属性</a:t>
            </a:r>
            <a:r>
              <a:rPr lang="zh-CN" sz="863">
                <a:solidFill>
                  <a:srgbClr val="FFFFFF">
                    <a:alpha val="82000"/>
                  </a:srgbClr>
                </a:solidFill>
                <a:latin typeface="Microsoft YaHei"/>
                <a:ea typeface="Microsoft YaHei"/>
              </a:rPr>
              <a:t>，但没人能回答「这个属性能不能给外部合作方看」。</a:t>
            </a:r>
            <a:endParaRPr/>
          </a:p>
        </p:txBody>
      </p:sp>
      <p:sp>
        <p:nvSpPr>
          <p:cNvPr id="590" name=""/>
          <p:cNvSpPr/>
          <p:nvPr/>
        </p:nvSpPr>
        <p:spPr>
          <a:xfrm rot="0" flipH="0" flipV="0">
            <a:off x="4800600" y="2381250"/>
            <a:ext cx="3105150" cy="581025"/>
          </a:xfrm>
          <a:prstGeom prst="roundRect">
            <a:avLst>
              <a:gd name="adj" fmla="val 4918"/>
            </a:avLst>
          </a:prstGeom>
          <a:solidFill>
            <a:srgbClr val="FA4F24">
              <a:alpha val="18000"/>
            </a:srgbClr>
          </a:solidFill>
          <a:ln/>
        </p:spPr>
        <p:txBody>
          <a:bodyPr/>
          <a:p/>
        </p:txBody>
      </p:sp>
      <p:sp>
        <p:nvSpPr>
          <p:cNvPr id="591" name="" descr="{&quot;isTemplate&quot;:true,&quot;type&quot;:&quot;text&quot;}"/>
          <p:cNvSpPr txBox="1"/>
          <p:nvPr/>
        </p:nvSpPr>
        <p:spPr>
          <a:xfrm rot="0" flipH="0" flipV="0">
            <a:off x="4905375" y="2466975"/>
            <a:ext cx="2895600" cy="409575"/>
          </a:xfrm>
          <a:prstGeom prst="rect"/>
        </p:spPr>
        <p:txBody>
          <a:bodyPr wrap="square" lIns="0" tIns="0" rIns="0" bIns="0">
            <a:normAutofit/>
          </a:bodyPr>
          <a:p>
            <a:pPr>
              <a:lnSpc>
                <a:spcPct val="155000"/>
              </a:lnSpc>
            </a:pPr>
            <a:r>
              <a:rPr lang="zh-CN" sz="863">
                <a:solidFill>
                  <a:srgbClr val="FFFFFF">
                    <a:alpha val="92000"/>
                  </a:srgbClr>
                </a:solidFill>
                <a:latin typeface="Microsoft YaHei"/>
                <a:ea typeface="Microsoft YaHei"/>
              </a:rPr>
              <a:t>根因：属性安全策略</a:t>
            </a:r>
            <a:r>
              <a:rPr lang="zh-CN" sz="863">
                <a:solidFill>
                  <a:srgbClr val="FFFFFF">
                    <a:alpha val="92000"/>
                  </a:srgbClr>
                </a:solidFill>
                <a:latin typeface="Microsoft YaHei"/>
                <a:ea typeface="Microsoft YaHei"/>
              </a:rPr>
              <a:t>只能作用在非主键属性上</a:t>
            </a:r>
            <a:r>
              <a:rPr lang="zh-CN" sz="863">
                <a:solidFill>
                  <a:srgbClr val="FFFFFF">
                    <a:alpha val="92000"/>
                  </a:srgbClr>
                </a:solidFill>
                <a:latin typeface="Microsoft YaHei"/>
                <a:ea typeface="Microsoft YaHei"/>
              </a:rPr>
              <a:t>。没把属性建模清楚，就没法建策略——这不是治理没做，是本体没做。</a:t>
            </a:r>
            <a:endParaRPr/>
          </a:p>
        </p:txBody>
      </p:sp>
      <p:sp>
        <p:nvSpPr>
          <p:cNvPr id="592" name=""/>
          <p:cNvSpPr/>
          <p:nvPr/>
        </p:nvSpPr>
        <p:spPr>
          <a:xfrm rot="0" flipH="0" flipV="0">
            <a:off x="4800600" y="3057525"/>
            <a:ext cx="3105150" cy="600075"/>
          </a:xfrm>
          <a:prstGeom prst="roundRect">
            <a:avLst>
              <a:gd name="adj" fmla="val 4762"/>
            </a:avLst>
          </a:prstGeom>
          <a:solidFill>
            <a:srgbClr val="FFFFFF">
              <a:alpha val="7000"/>
            </a:srgbClr>
          </a:solidFill>
          <a:ln/>
        </p:spPr>
        <p:txBody>
          <a:bodyPr/>
          <a:p/>
        </p:txBody>
      </p:sp>
      <p:sp>
        <p:nvSpPr>
          <p:cNvPr id="593" name="" descr="{&quot;isTemplate&quot;:true,&quot;type&quot;:&quot;text&quot;}"/>
          <p:cNvSpPr txBox="1"/>
          <p:nvPr/>
        </p:nvSpPr>
        <p:spPr>
          <a:xfrm rot="0" flipH="0" flipV="0">
            <a:off x="4905375" y="3143250"/>
            <a:ext cx="2895600" cy="409575"/>
          </a:xfrm>
          <a:prstGeom prst="rect"/>
        </p:spPr>
        <p:txBody>
          <a:bodyPr wrap="square" lIns="0" tIns="0" rIns="0" bIns="0">
            <a:normAutofit/>
          </a:bodyPr>
          <a:p>
            <a:pPr>
              <a:lnSpc>
                <a:spcPct val="155000"/>
              </a:lnSpc>
            </a:pPr>
            <a:r>
              <a:rPr lang="zh-CN" sz="863">
                <a:solidFill>
                  <a:srgbClr val="FFFFFF">
                    <a:alpha val="85000"/>
                  </a:srgbClr>
                </a:solidFill>
                <a:latin typeface="Microsoft YaHei"/>
                <a:ea typeface="Microsoft YaHei"/>
              </a:rPr>
              <a:t>结论：本体设计阶段就要同时回答两个问题——这个属性是什么、这个属性给谁看。缺第二个问题，本体就还差一半。</a:t>
            </a:r>
            <a:endParaRPr/>
          </a:p>
        </p:txBody>
      </p:sp>
      <p:sp>
        <p:nvSpPr>
          <p:cNvPr id="594" name=""/>
          <p:cNvSpPr/>
          <p:nvPr/>
        </p:nvSpPr>
        <p:spPr>
          <a:xfrm rot="0" flipH="0" flipV="0">
            <a:off x="8201025" y="1285875"/>
            <a:ext cx="3419475" cy="2495550"/>
          </a:xfrm>
          <a:prstGeom prst="roundRect">
            <a:avLst>
              <a:gd name="adj" fmla="val 1527"/>
            </a:avLst>
          </a:prstGeom>
          <a:solidFill>
            <a:srgbClr val="FFF3EE"/>
          </a:solidFill>
          <a:ln/>
        </p:spPr>
        <p:txBody>
          <a:bodyPr/>
          <a:p/>
        </p:txBody>
      </p:sp>
      <p:sp>
        <p:nvSpPr>
          <p:cNvPr id="595" name=""/>
          <p:cNvSpPr/>
          <p:nvPr/>
        </p:nvSpPr>
        <p:spPr>
          <a:xfrm rot="0" flipH="0" flipV="0">
            <a:off x="8201025" y="1285875"/>
            <a:ext cx="3419475" cy="2495550"/>
          </a:xfrm>
          <a:custGeom>
            <a:pathLst>
              <a:path w="359" h="262">
                <a:moveTo>
                  <a:pt x="4" y="262"/>
                </a:moveTo>
                <a:cubicBezTo>
                  <a:pt x="2" y="262"/>
                  <a:pt x="0" y="260"/>
                  <a:pt x="0" y="258"/>
                </a:cubicBezTo>
                <a:lnTo>
                  <a:pt x="0" y="4"/>
                </a:lnTo>
                <a:cubicBezTo>
                  <a:pt x="0" y="2"/>
                  <a:pt x="2" y="0"/>
                  <a:pt x="4" y="0"/>
                </a:cubicBezTo>
                <a:lnTo>
                  <a:pt x="4" y="262"/>
                </a:lnTo>
                <a:close/>
              </a:path>
            </a:pathLst>
          </a:custGeom>
          <a:solidFill>
            <a:srgbClr val="FA4F24"/>
          </a:solidFill>
          <a:ln/>
        </p:spPr>
        <p:txBody>
          <a:bodyPr/>
          <a:p/>
        </p:txBody>
      </p:sp>
      <p:sp>
        <p:nvSpPr>
          <p:cNvPr id="596" name="" descr="{&quot;isTemplate&quot;:true,&quot;type&quot;:&quot;text&quot;}"/>
          <p:cNvSpPr txBox="1"/>
          <p:nvPr/>
        </p:nvSpPr>
        <p:spPr>
          <a:xfrm rot="0" flipH="0" flipV="0">
            <a:off x="8362950" y="1647825"/>
            <a:ext cx="3057525" cy="161925"/>
          </a:xfrm>
          <a:prstGeom prst="rect"/>
        </p:spPr>
        <p:txBody>
          <a:bodyPr wrap="none" lIns="0" tIns="0" rIns="0" bIns="0"/>
          <a:p>
            <a:pPr>
              <a:lnSpc>
                <a:spcPct val="100000"/>
              </a:lnSpc>
            </a:pPr>
            <a:r>
              <a:rPr lang="zh-CN" sz="1050" b="1">
                <a:solidFill>
                  <a:srgbClr val="C43A17"/>
                </a:solidFill>
                <a:latin typeface="Microsoft YaHei"/>
                <a:ea typeface="Microsoft YaHei"/>
              </a:rPr>
              <a:t>两条不可越界的规则</a:t>
            </a:r>
            <a:endParaRPr/>
          </a:p>
        </p:txBody>
      </p:sp>
      <p:sp>
        <p:nvSpPr>
          <p:cNvPr id="597" name="" descr="{&quot;isTemplate&quot;:true,&quot;type&quot;:&quot;text&quot;}"/>
          <p:cNvSpPr txBox="1"/>
          <p:nvPr/>
        </p:nvSpPr>
        <p:spPr>
          <a:xfrm rot="0" flipH="0" flipV="0">
            <a:off x="8362950" y="1876425"/>
            <a:ext cx="3057525" cy="685800"/>
          </a:xfrm>
          <a:prstGeom prst="rect"/>
        </p:spPr>
        <p:txBody>
          <a:bodyPr wrap="square" lIns="0" tIns="0" rIns="0" bIns="0">
            <a:normAutofit/>
          </a:bodyPr>
          <a:p>
            <a:pPr>
              <a:lnSpc>
                <a:spcPct val="165000"/>
              </a:lnSpc>
            </a:pPr>
            <a:r>
              <a:rPr lang="zh-CN" sz="900">
                <a:solidFill>
                  <a:srgbClr val="3A4050"/>
                </a:solidFill>
                <a:latin typeface="Microsoft YaHei"/>
                <a:ea typeface="Microsoft YaHei"/>
              </a:rPr>
              <a:t>一、</a:t>
            </a:r>
            <a:r>
              <a:rPr lang="zh-CN" sz="900">
                <a:solidFill>
                  <a:srgbClr val="3A4050"/>
                </a:solidFill>
                <a:latin typeface="Microsoft YaHei"/>
                <a:ea typeface="Microsoft YaHei"/>
              </a:rPr>
              <a:t>标记类别一旦创建不可删除，也不可改类别</a:t>
            </a:r>
            <a:r>
              <a:rPr lang="zh-CN" sz="900">
                <a:solidFill>
                  <a:srgbClr val="3A4050"/>
                </a:solidFill>
                <a:latin typeface="Microsoft YaHei"/>
                <a:ea typeface="Microsoft YaHei"/>
              </a:rPr>
              <a:t>——这是为了让历史审计记录永远可解释；二、</a:t>
            </a:r>
            <a:r>
              <a:rPr lang="zh-CN" sz="900">
                <a:solidFill>
                  <a:srgbClr val="3A4050"/>
                </a:solidFill>
                <a:latin typeface="Microsoft YaHei"/>
                <a:ea typeface="Microsoft YaHei"/>
              </a:rPr>
              <a:t>默认继承数据源全部强制控制</a:t>
            </a:r>
            <a:r>
              <a:rPr lang="zh-CN" sz="900">
                <a:solidFill>
                  <a:srgbClr val="3A4050"/>
                </a:solidFill>
                <a:latin typeface="Microsoft YaHei"/>
                <a:ea typeface="Microsoft YaHei"/>
              </a:rPr>
              <a:t>——新建对象不会因为「忘了配策略」而裸奔。</a:t>
            </a:r>
            <a:endParaRPr/>
          </a:p>
        </p:txBody>
      </p:sp>
      <p:sp>
        <p:nvSpPr>
          <p:cNvPr id="598" name=""/>
          <p:cNvSpPr/>
          <p:nvPr/>
        </p:nvSpPr>
        <p:spPr>
          <a:xfrm rot="0" flipH="0" flipV="0">
            <a:off x="8362950" y="2657475"/>
            <a:ext cx="3057525" cy="771525"/>
          </a:xfrm>
          <a:prstGeom prst="roundRect">
            <a:avLst>
              <a:gd name="adj" fmla="val 3704"/>
            </a:avLst>
          </a:prstGeom>
          <a:solidFill>
            <a:srgbClr val="FFFFFF"/>
          </a:solidFill>
          <a:ln/>
        </p:spPr>
        <p:txBody>
          <a:bodyPr/>
          <a:p/>
        </p:txBody>
      </p:sp>
      <p:sp>
        <p:nvSpPr>
          <p:cNvPr id="599" name="" descr="{&quot;isTemplate&quot;:true,&quot;type&quot;:&quot;text&quot;}"/>
          <p:cNvSpPr txBox="1"/>
          <p:nvPr/>
        </p:nvSpPr>
        <p:spPr>
          <a:xfrm rot="0" flipH="0" flipV="0">
            <a:off x="8467725" y="2743200"/>
            <a:ext cx="2847975" cy="600075"/>
          </a:xfrm>
          <a:prstGeom prst="rect"/>
        </p:spPr>
        <p:txBody>
          <a:bodyPr wrap="square" lIns="0" tIns="0" rIns="0" bIns="0">
            <a:normAutofit/>
          </a:bodyPr>
          <a:p>
            <a:pPr>
              <a:lnSpc>
                <a:spcPct val="150000"/>
              </a:lnSpc>
            </a:pPr>
            <a:r>
              <a:rPr lang="zh-CN" sz="863">
                <a:solidFill>
                  <a:srgbClr val="3A4050"/>
                </a:solidFill>
                <a:latin typeface="Microsoft YaHei"/>
                <a:ea typeface="Microsoft YaHei"/>
              </a:rPr>
              <a:t>还有一条常被忽略：有「打标记」和「管理权限」但不是「类别成员」的用户，能打标记却看不到数据。权限模型不是一维的，是四维的。</a:t>
            </a:r>
            <a:endParaRPr/>
          </a:p>
        </p:txBody>
      </p:sp>
      <p:sp>
        <p:nvSpPr>
          <p:cNvPr id="600" name=""/>
          <p:cNvSpPr/>
          <p:nvPr/>
        </p:nvSpPr>
        <p:spPr>
          <a:xfrm rot="0" flipH="0" flipV="0">
            <a:off x="609600" y="3876675"/>
            <a:ext cx="10972800" cy="1762125"/>
          </a:xfrm>
          <a:prstGeom prst="roundRect">
            <a:avLst>
              <a:gd name="adj" fmla="val 2162"/>
            </a:avLst>
          </a:prstGeom>
          <a:solidFill>
            <a:srgbClr val="FFFFFF"/>
          </a:solidFill>
          <a:ln w="12700">
            <a:solidFill>
              <a:srgbClr val="E8E8E8"/>
            </a:solidFill>
            <a:prstDash val="solid"/>
          </a:ln>
        </p:spPr>
        <p:txBody>
          <a:bodyPr/>
          <a:p/>
        </p:txBody>
      </p:sp>
      <p:sp>
        <p:nvSpPr>
          <p:cNvPr id="601" name="" descr="{&quot;isTemplate&quot;:true,&quot;type&quot;:&quot;text&quot;}"/>
          <p:cNvSpPr txBox="1"/>
          <p:nvPr/>
        </p:nvSpPr>
        <p:spPr>
          <a:xfrm rot="0" flipH="0" flipV="0">
            <a:off x="781050" y="3990975"/>
            <a:ext cx="10629900" cy="161925"/>
          </a:xfrm>
          <a:prstGeom prst="rect"/>
        </p:spPr>
        <p:txBody>
          <a:bodyPr wrap="none" lIns="0" tIns="0" rIns="0" bIns="0"/>
          <a:p>
            <a:pPr>
              <a:lnSpc>
                <a:spcPct val="100000"/>
              </a:lnSpc>
            </a:pPr>
            <a:r>
              <a:rPr lang="zh-CN" sz="1050" b="1">
                <a:solidFill>
                  <a:srgbClr val="0F1423"/>
                </a:solidFill>
                <a:latin typeface="Microsoft YaHei"/>
                <a:ea typeface="Microsoft YaHei"/>
              </a:rPr>
              <a:t>本体设计评审时必须回答的十个治理问题</a:t>
            </a:r>
            <a:endParaRPr/>
          </a:p>
        </p:txBody>
      </p:sp>
      <p:sp>
        <p:nvSpPr>
          <p:cNvPr id="602" name=""/>
          <p:cNvSpPr/>
          <p:nvPr/>
        </p:nvSpPr>
        <p:spPr>
          <a:xfrm rot="0" flipH="0" flipV="0">
            <a:off x="781050" y="4238625"/>
            <a:ext cx="2066925" cy="619125"/>
          </a:xfrm>
          <a:prstGeom prst="roundRect">
            <a:avLst>
              <a:gd name="adj" fmla="val 4615"/>
            </a:avLst>
          </a:prstGeom>
          <a:solidFill>
            <a:srgbClr val="F7F7F8"/>
          </a:solidFill>
          <a:ln/>
        </p:spPr>
        <p:txBody>
          <a:bodyPr/>
          <a:p/>
        </p:txBody>
      </p:sp>
      <p:sp>
        <p:nvSpPr>
          <p:cNvPr id="603" name="" descr="{&quot;isTemplate&quot;:true,&quot;type&quot;:&quot;text&quot;}"/>
          <p:cNvSpPr txBox="1"/>
          <p:nvPr/>
        </p:nvSpPr>
        <p:spPr>
          <a:xfrm rot="0" flipH="0" flipV="0">
            <a:off x="866775" y="4305300"/>
            <a:ext cx="1895475" cy="180975"/>
          </a:xfrm>
          <a:prstGeom prst="rect"/>
        </p:spPr>
        <p:txBody>
          <a:bodyPr wrap="none" lIns="0" tIns="0" rIns="0" bIns="0"/>
          <a:p>
            <a:pPr>
              <a:lnSpc>
                <a:spcPct val="140000"/>
              </a:lnSpc>
            </a:pPr>
            <a:r>
              <a:rPr lang="en-US" sz="825">
                <a:solidFill>
                  <a:srgbClr val="3A4050"/>
                </a:solidFill>
                <a:latin typeface="Microsoft YaHei"/>
                <a:ea typeface="Microsoft YaHei"/>
              </a:rPr>
              <a:t>1</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每个对象类型的归属组织是哪个？</a:t>
            </a:r>
            <a:endParaRPr/>
          </a:p>
        </p:txBody>
      </p:sp>
      <p:sp>
        <p:nvSpPr>
          <p:cNvPr id="604" name=""/>
          <p:cNvSpPr/>
          <p:nvPr/>
        </p:nvSpPr>
        <p:spPr>
          <a:xfrm rot="0" flipH="0" flipV="0">
            <a:off x="2905125" y="4238625"/>
            <a:ext cx="2057400" cy="619125"/>
          </a:xfrm>
          <a:prstGeom prst="roundRect">
            <a:avLst>
              <a:gd name="adj" fmla="val 4615"/>
            </a:avLst>
          </a:prstGeom>
          <a:solidFill>
            <a:srgbClr val="F7F7F8"/>
          </a:solidFill>
          <a:ln/>
        </p:spPr>
        <p:txBody>
          <a:bodyPr/>
          <a:p/>
        </p:txBody>
      </p:sp>
      <p:sp>
        <p:nvSpPr>
          <p:cNvPr id="605" name="" descr="{&quot;isTemplate&quot;:true,&quot;type&quot;:&quot;text&quot;}"/>
          <p:cNvSpPr txBox="1"/>
          <p:nvPr/>
        </p:nvSpPr>
        <p:spPr>
          <a:xfrm rot="0" flipH="0" flipV="0">
            <a:off x="2990850" y="4305300"/>
            <a:ext cx="1885950" cy="180975"/>
          </a:xfrm>
          <a:prstGeom prst="rect"/>
        </p:spPr>
        <p:txBody>
          <a:bodyPr wrap="none" lIns="0" tIns="0" rIns="0" bIns="0"/>
          <a:p>
            <a:pPr>
              <a:lnSpc>
                <a:spcPct val="140000"/>
              </a:lnSpc>
            </a:pPr>
            <a:r>
              <a:rPr lang="en-US" sz="825">
                <a:solidFill>
                  <a:srgbClr val="3A4050"/>
                </a:solidFill>
                <a:latin typeface="Microsoft YaHei"/>
                <a:ea typeface="Microsoft YaHei"/>
              </a:rPr>
              <a:t>2</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每个属性归哪个密级类别？</a:t>
            </a:r>
            <a:endParaRPr/>
          </a:p>
        </p:txBody>
      </p:sp>
      <p:sp>
        <p:nvSpPr>
          <p:cNvPr id="606" name=""/>
          <p:cNvSpPr/>
          <p:nvPr/>
        </p:nvSpPr>
        <p:spPr>
          <a:xfrm rot="0" flipH="0" flipV="0">
            <a:off x="5019675" y="4238625"/>
            <a:ext cx="2066925" cy="619125"/>
          </a:xfrm>
          <a:prstGeom prst="roundRect">
            <a:avLst>
              <a:gd name="adj" fmla="val 4615"/>
            </a:avLst>
          </a:prstGeom>
          <a:solidFill>
            <a:srgbClr val="F7F7F8"/>
          </a:solidFill>
          <a:ln/>
        </p:spPr>
        <p:txBody>
          <a:bodyPr/>
          <a:p/>
        </p:txBody>
      </p:sp>
      <p:sp>
        <p:nvSpPr>
          <p:cNvPr id="607" name="" descr="{&quot;isTemplate&quot;:true,&quot;type&quot;:&quot;text&quot;}"/>
          <p:cNvSpPr txBox="1"/>
          <p:nvPr/>
        </p:nvSpPr>
        <p:spPr>
          <a:xfrm rot="0" flipH="0" flipV="0">
            <a:off x="5105400" y="4305300"/>
            <a:ext cx="1895475" cy="180975"/>
          </a:xfrm>
          <a:prstGeom prst="rect"/>
        </p:spPr>
        <p:txBody>
          <a:bodyPr wrap="none" lIns="0" tIns="0" rIns="0" bIns="0"/>
          <a:p>
            <a:pPr>
              <a:lnSpc>
                <a:spcPct val="140000"/>
              </a:lnSpc>
            </a:pPr>
            <a:r>
              <a:rPr lang="en-US" sz="825">
                <a:solidFill>
                  <a:srgbClr val="3A4050"/>
                </a:solidFill>
                <a:latin typeface="Microsoft YaHei"/>
                <a:ea typeface="Microsoft YaHei"/>
              </a:rPr>
              <a:t>3</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哪些属性可对单个对象做行级管控？</a:t>
            </a:r>
            <a:endParaRPr/>
          </a:p>
        </p:txBody>
      </p:sp>
      <p:sp>
        <p:nvSpPr>
          <p:cNvPr id="608" name=""/>
          <p:cNvSpPr/>
          <p:nvPr/>
        </p:nvSpPr>
        <p:spPr>
          <a:xfrm rot="0" flipH="0" flipV="0">
            <a:off x="7143750" y="4238625"/>
            <a:ext cx="2057400" cy="619125"/>
          </a:xfrm>
          <a:prstGeom prst="roundRect">
            <a:avLst>
              <a:gd name="adj" fmla="val 4615"/>
            </a:avLst>
          </a:prstGeom>
          <a:solidFill>
            <a:srgbClr val="F7F7F8"/>
          </a:solidFill>
          <a:ln/>
        </p:spPr>
        <p:txBody>
          <a:bodyPr/>
          <a:p/>
        </p:txBody>
      </p:sp>
      <p:sp>
        <p:nvSpPr>
          <p:cNvPr id="609" name="" descr="{&quot;isTemplate&quot;:true,&quot;type&quot;:&quot;text&quot;}"/>
          <p:cNvSpPr txBox="1"/>
          <p:nvPr/>
        </p:nvSpPr>
        <p:spPr>
          <a:xfrm rot="0" flipH="0" flipV="0">
            <a:off x="7229475" y="4305300"/>
            <a:ext cx="1885950" cy="352425"/>
          </a:xfrm>
          <a:prstGeom prst="rect"/>
        </p:spPr>
        <p:txBody>
          <a:bodyPr wrap="square" lIns="0" tIns="0" rIns="0" bIns="0">
            <a:normAutofit/>
          </a:bodyPr>
          <a:p>
            <a:pPr>
              <a:lnSpc>
                <a:spcPct val="140000"/>
              </a:lnSpc>
            </a:pPr>
            <a:r>
              <a:rPr lang="en-US" sz="825">
                <a:solidFill>
                  <a:srgbClr val="3A4050"/>
                </a:solidFill>
                <a:latin typeface="Microsoft YaHei"/>
                <a:ea typeface="Microsoft YaHei"/>
              </a:rPr>
              <a:t>4</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哪些属性属于属性安全策略，且互相不重叠？</a:t>
            </a:r>
            <a:endParaRPr/>
          </a:p>
        </p:txBody>
      </p:sp>
      <p:sp>
        <p:nvSpPr>
          <p:cNvPr id="610" name=""/>
          <p:cNvSpPr/>
          <p:nvPr/>
        </p:nvSpPr>
        <p:spPr>
          <a:xfrm rot="0" flipH="0" flipV="0">
            <a:off x="9258300" y="4238625"/>
            <a:ext cx="2066925" cy="619125"/>
          </a:xfrm>
          <a:prstGeom prst="roundRect">
            <a:avLst>
              <a:gd name="adj" fmla="val 4615"/>
            </a:avLst>
          </a:prstGeom>
          <a:solidFill>
            <a:srgbClr val="F7F7F8"/>
          </a:solidFill>
          <a:ln/>
        </p:spPr>
        <p:txBody>
          <a:bodyPr/>
          <a:p/>
        </p:txBody>
      </p:sp>
      <p:sp>
        <p:nvSpPr>
          <p:cNvPr id="611" name="" descr="{&quot;isTemplate&quot;:true,&quot;type&quot;:&quot;text&quot;}"/>
          <p:cNvSpPr txBox="1"/>
          <p:nvPr/>
        </p:nvSpPr>
        <p:spPr>
          <a:xfrm rot="0" flipH="0" flipV="0">
            <a:off x="9344025" y="4305300"/>
            <a:ext cx="1895475" cy="180975"/>
          </a:xfrm>
          <a:prstGeom prst="rect"/>
        </p:spPr>
        <p:txBody>
          <a:bodyPr wrap="none" lIns="0" tIns="0" rIns="0" bIns="0"/>
          <a:p>
            <a:pPr>
              <a:lnSpc>
                <a:spcPct val="140000"/>
              </a:lnSpc>
            </a:pPr>
            <a:r>
              <a:rPr lang="en-US" sz="825">
                <a:solidFill>
                  <a:srgbClr val="3A4050"/>
                </a:solidFill>
                <a:latin typeface="Microsoft YaHei"/>
                <a:ea typeface="Microsoft YaHei"/>
              </a:rPr>
              <a:t>5</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哪些动作必须挂审批节点？</a:t>
            </a:r>
            <a:endParaRPr/>
          </a:p>
        </p:txBody>
      </p:sp>
      <p:sp>
        <p:nvSpPr>
          <p:cNvPr id="612" name=""/>
          <p:cNvSpPr/>
          <p:nvPr/>
        </p:nvSpPr>
        <p:spPr>
          <a:xfrm rot="0" flipH="0" flipV="0">
            <a:off x="781050" y="4914900"/>
            <a:ext cx="2066925" cy="609600"/>
          </a:xfrm>
          <a:prstGeom prst="roundRect">
            <a:avLst>
              <a:gd name="adj" fmla="val 4688"/>
            </a:avLst>
          </a:prstGeom>
          <a:solidFill>
            <a:srgbClr val="F7F7F8"/>
          </a:solidFill>
          <a:ln/>
        </p:spPr>
        <p:txBody>
          <a:bodyPr/>
          <a:p/>
        </p:txBody>
      </p:sp>
      <p:sp>
        <p:nvSpPr>
          <p:cNvPr id="613" name="" descr="{&quot;isTemplate&quot;:true,&quot;type&quot;:&quot;text&quot;}"/>
          <p:cNvSpPr txBox="1"/>
          <p:nvPr/>
        </p:nvSpPr>
        <p:spPr>
          <a:xfrm rot="0" flipH="0" flipV="0">
            <a:off x="866775" y="4981575"/>
            <a:ext cx="1895475" cy="180975"/>
          </a:xfrm>
          <a:prstGeom prst="rect"/>
        </p:spPr>
        <p:txBody>
          <a:bodyPr wrap="none" lIns="0" tIns="0" rIns="0" bIns="0"/>
          <a:p>
            <a:pPr>
              <a:lnSpc>
                <a:spcPct val="140000"/>
              </a:lnSpc>
            </a:pPr>
            <a:r>
              <a:rPr lang="en-US" sz="825">
                <a:solidFill>
                  <a:srgbClr val="3A4050"/>
                </a:solidFill>
                <a:latin typeface="Microsoft YaHei"/>
                <a:ea typeface="Microsoft YaHei"/>
              </a:rPr>
              <a:t>6</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哪些动作只允许只读提交？</a:t>
            </a:r>
            <a:endParaRPr/>
          </a:p>
        </p:txBody>
      </p:sp>
      <p:sp>
        <p:nvSpPr>
          <p:cNvPr id="614" name=""/>
          <p:cNvSpPr/>
          <p:nvPr/>
        </p:nvSpPr>
        <p:spPr>
          <a:xfrm rot="0" flipH="0" flipV="0">
            <a:off x="2905125" y="4914900"/>
            <a:ext cx="2057400" cy="609600"/>
          </a:xfrm>
          <a:prstGeom prst="roundRect">
            <a:avLst>
              <a:gd name="adj" fmla="val 4688"/>
            </a:avLst>
          </a:prstGeom>
          <a:solidFill>
            <a:srgbClr val="F7F7F8"/>
          </a:solidFill>
          <a:ln/>
        </p:spPr>
        <p:txBody>
          <a:bodyPr/>
          <a:p/>
        </p:txBody>
      </p:sp>
      <p:sp>
        <p:nvSpPr>
          <p:cNvPr id="615" name="" descr="{&quot;isTemplate&quot;:true,&quot;type&quot;:&quot;text&quot;}"/>
          <p:cNvSpPr txBox="1"/>
          <p:nvPr/>
        </p:nvSpPr>
        <p:spPr>
          <a:xfrm rot="0" flipH="0" flipV="0">
            <a:off x="2990850" y="4981575"/>
            <a:ext cx="1885950" cy="180975"/>
          </a:xfrm>
          <a:prstGeom prst="rect"/>
        </p:spPr>
        <p:txBody>
          <a:bodyPr wrap="none" lIns="0" tIns="0" rIns="0" bIns="0"/>
          <a:p>
            <a:pPr>
              <a:lnSpc>
                <a:spcPct val="140000"/>
              </a:lnSpc>
            </a:pPr>
            <a:r>
              <a:rPr lang="en-US" sz="825">
                <a:solidFill>
                  <a:srgbClr val="3A4050"/>
                </a:solidFill>
                <a:latin typeface="Microsoft YaHei"/>
                <a:ea typeface="Microsoft YaHei"/>
              </a:rPr>
              <a:t>7</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哪些对象允许去标记，审批人是谁？</a:t>
            </a:r>
            <a:endParaRPr/>
          </a:p>
        </p:txBody>
      </p:sp>
      <p:sp>
        <p:nvSpPr>
          <p:cNvPr id="616" name=""/>
          <p:cNvSpPr/>
          <p:nvPr/>
        </p:nvSpPr>
        <p:spPr>
          <a:xfrm rot="0" flipH="0" flipV="0">
            <a:off x="5019675" y="4914900"/>
            <a:ext cx="2066925" cy="609600"/>
          </a:xfrm>
          <a:prstGeom prst="roundRect">
            <a:avLst>
              <a:gd name="adj" fmla="val 4688"/>
            </a:avLst>
          </a:prstGeom>
          <a:solidFill>
            <a:srgbClr val="F7F7F8"/>
          </a:solidFill>
          <a:ln/>
        </p:spPr>
        <p:txBody>
          <a:bodyPr/>
          <a:p/>
        </p:txBody>
      </p:sp>
      <p:sp>
        <p:nvSpPr>
          <p:cNvPr id="617" name="" descr="{&quot;isTemplate&quot;:true,&quot;type&quot;:&quot;text&quot;}"/>
          <p:cNvSpPr txBox="1"/>
          <p:nvPr/>
        </p:nvSpPr>
        <p:spPr>
          <a:xfrm rot="0" flipH="0" flipV="0">
            <a:off x="5105400" y="4981575"/>
            <a:ext cx="1895475" cy="352425"/>
          </a:xfrm>
          <a:prstGeom prst="rect"/>
        </p:spPr>
        <p:txBody>
          <a:bodyPr wrap="square" lIns="0" tIns="0" rIns="0" bIns="0">
            <a:normAutofit/>
          </a:bodyPr>
          <a:p>
            <a:pPr>
              <a:lnSpc>
                <a:spcPct val="140000"/>
              </a:lnSpc>
            </a:pPr>
            <a:r>
              <a:rPr lang="en-US" sz="825">
                <a:solidFill>
                  <a:srgbClr val="3A4050"/>
                </a:solidFill>
                <a:latin typeface="Microsoft YaHei"/>
                <a:ea typeface="Microsoft YaHei"/>
              </a:rPr>
              <a:t>8</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哪些对象允许进入</a:t>
            </a:r>
            <a:r>
              <a:rPr lang="en-US" sz="825">
                <a:solidFill>
                  <a:srgbClr val="3A4050"/>
                </a:solidFill>
                <a:latin typeface="Microsoft YaHei"/>
                <a:ea typeface="Microsoft YaHei"/>
              </a:rPr>
              <a:t xml:space="preserve"> Agent </a:t>
            </a:r>
            <a:r>
              <a:rPr lang="zh-CN" sz="825">
                <a:solidFill>
                  <a:srgbClr val="3A4050"/>
                </a:solidFill>
                <a:latin typeface="Microsoft YaHei"/>
                <a:ea typeface="Microsoft YaHei"/>
              </a:rPr>
              <a:t>的工具清单？</a:t>
            </a:r>
            <a:endParaRPr/>
          </a:p>
        </p:txBody>
      </p:sp>
      <p:sp>
        <p:nvSpPr>
          <p:cNvPr id="618" name=""/>
          <p:cNvSpPr/>
          <p:nvPr/>
        </p:nvSpPr>
        <p:spPr>
          <a:xfrm rot="0" flipH="0" flipV="0">
            <a:off x="7143750" y="4914900"/>
            <a:ext cx="2057400" cy="609600"/>
          </a:xfrm>
          <a:prstGeom prst="roundRect">
            <a:avLst>
              <a:gd name="adj" fmla="val 4688"/>
            </a:avLst>
          </a:prstGeom>
          <a:solidFill>
            <a:srgbClr val="F7F7F8"/>
          </a:solidFill>
          <a:ln/>
        </p:spPr>
        <p:txBody>
          <a:bodyPr/>
          <a:p/>
        </p:txBody>
      </p:sp>
      <p:sp>
        <p:nvSpPr>
          <p:cNvPr id="619" name="" descr="{&quot;isTemplate&quot;:true,&quot;type&quot;:&quot;text&quot;}"/>
          <p:cNvSpPr txBox="1"/>
          <p:nvPr/>
        </p:nvSpPr>
        <p:spPr>
          <a:xfrm rot="0" flipH="0" flipV="0">
            <a:off x="7229475" y="4981575"/>
            <a:ext cx="1885950" cy="180975"/>
          </a:xfrm>
          <a:prstGeom prst="rect"/>
        </p:spPr>
        <p:txBody>
          <a:bodyPr wrap="none" lIns="0" tIns="0" rIns="0" bIns="0"/>
          <a:p>
            <a:pPr>
              <a:lnSpc>
                <a:spcPct val="140000"/>
              </a:lnSpc>
            </a:pPr>
            <a:r>
              <a:rPr lang="en-US" sz="825">
                <a:solidFill>
                  <a:srgbClr val="3A4050"/>
                </a:solidFill>
                <a:latin typeface="Microsoft YaHei"/>
                <a:ea typeface="Microsoft YaHei"/>
              </a:rPr>
              <a:t>9</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本体的版本变更，谁批准？</a:t>
            </a:r>
            <a:endParaRPr/>
          </a:p>
        </p:txBody>
      </p:sp>
      <p:sp>
        <p:nvSpPr>
          <p:cNvPr id="620" name=""/>
          <p:cNvSpPr/>
          <p:nvPr/>
        </p:nvSpPr>
        <p:spPr>
          <a:xfrm rot="0" flipH="0" flipV="0">
            <a:off x="9258300" y="4914900"/>
            <a:ext cx="2066925" cy="609600"/>
          </a:xfrm>
          <a:prstGeom prst="roundRect">
            <a:avLst>
              <a:gd name="adj" fmla="val 4688"/>
            </a:avLst>
          </a:prstGeom>
          <a:solidFill>
            <a:srgbClr val="F7F7F8"/>
          </a:solidFill>
          <a:ln/>
        </p:spPr>
        <p:txBody>
          <a:bodyPr/>
          <a:p/>
        </p:txBody>
      </p:sp>
      <p:sp>
        <p:nvSpPr>
          <p:cNvPr id="621" name="" descr="{&quot;isTemplate&quot;:true,&quot;type&quot;:&quot;text&quot;}"/>
          <p:cNvSpPr txBox="1"/>
          <p:nvPr/>
        </p:nvSpPr>
        <p:spPr>
          <a:xfrm rot="0" flipH="0" flipV="0">
            <a:off x="9344025" y="4981575"/>
            <a:ext cx="1895475" cy="180975"/>
          </a:xfrm>
          <a:prstGeom prst="rect"/>
        </p:spPr>
        <p:txBody>
          <a:bodyPr wrap="none" lIns="0" tIns="0" rIns="0" bIns="0"/>
          <a:p>
            <a:pPr>
              <a:lnSpc>
                <a:spcPct val="140000"/>
              </a:lnSpc>
            </a:pPr>
            <a:r>
              <a:rPr lang="en-US" sz="825">
                <a:solidFill>
                  <a:srgbClr val="3A4050"/>
                </a:solidFill>
                <a:latin typeface="Microsoft YaHei"/>
                <a:ea typeface="Microsoft YaHei"/>
              </a:rPr>
              <a:t>10</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策略变更后，历史数据怎么回溯？</a:t>
            </a:r>
            <a:endParaRPr/>
          </a:p>
        </p:txBody>
      </p:sp>
      <p:sp>
        <p:nvSpPr>
          <p:cNvPr id="622"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623" name=""/>
          <p:cNvSpPr/>
          <p:nvPr/>
        </p:nvSpPr>
        <p:spPr>
          <a:xfrm rot="0" flipH="0" flipV="0">
            <a:off x="609600" y="5953125"/>
            <a:ext cx="95250" cy="95250"/>
          </a:xfrm>
          <a:prstGeom prst="rect">
            <a:avLst/>
          </a:prstGeom>
          <a:solidFill>
            <a:srgbClr val="FA4F24"/>
          </a:solidFill>
          <a:ln/>
        </p:spPr>
        <p:txBody>
          <a:bodyPr/>
          <a:p/>
        </p:txBody>
      </p:sp>
      <p:sp>
        <p:nvSpPr>
          <p:cNvPr id="624"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625"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21 / 30</a:t>
            </a:r>
            <a:endParaRPr/>
          </a:p>
        </p:txBody>
      </p:sp>
    </p:spTree>
  </p:cSld>
</p:sld>
</file>

<file path=ppt/slides/slide22.xml><?xml version="1.0" encoding="utf-8"?>
<p:sld xmlns:p="http://schemas.openxmlformats.org/presentationml/2006/main" xmlns:a="http://schemas.openxmlformats.org/drawingml/2006/main">
  <p:cSld>
    <p:spTree>
      <p:nvGrpSpPr>
        <p:cNvPr id="626" name="" descr="&lt;Slide style={{ width: 1280, height: 720, background: '#FFFFFF', padding: '24px 64px 0' }}&gt;&#10;  &lt;Box style={{ height: 96, flexDirection: 'column', justifyContent: 'flex-start' }}&gt;&#10;    &lt;Text style={{ fontSize: 32, fontWeight: 'bold', color: '#0F1423' }}&gt;&#10;      四方关系总览：治理是怎么贯穿管道、知识库、Agent 与本体的&#10;    &lt;/Text&gt;&#10;    &lt;Text style={{ fontSize: 20, color: '#8A8F99', marginTop: 8 }}&gt;&#10;      四个方向不是四套方案——标记只定义一次，沿四个方向分别有各自的落法&#10;    &lt;/Text&gt;&#10;  &lt;/Box&gt;&#10;  &lt;Box style={{ height: 1, background: '#E8E8E8' }} /&gt;&#10;&#10;  &lt;Box style={{ paddingTop: 14, paddingBottom: 8, height: 479, flexDirection: 'column', gap: 10 }}&gt;&#10;    &lt;Box style={{ height: 226, background: '#0F1423', borderRadius: 4, padding: '14px 20px', flexDirection: 'column' }}&gt;&#10;      &lt;Text style={{ fontSize: 14, fontWeight: 'bold', color: '#FBA15C' }}&gt;一标记、四落法：同一条治理主线在四个方向的落点&lt;/Text&gt;&#10;      &lt;Box style={{ flex: 1, flexDirection: 'row', gap: 8, marginTop: 12, alignItems: 'stretch' }}&gt;&#10;        &lt;Box style={{ width: 150, background: 'rgba(250,79,36,0.22)', borderRadius: 3, border: '1px solid #FA4F24', padding: '11px 12px', flexDirection: 'column', justifyContent: 'center' }}&gt;&#10;          &lt;Text style={{ fontSize: 13, fontWeight: 'bold', color: '#FFFFFF' }}&gt;标记体系&lt;/Text&gt;&#10;          &lt;Text style={{ fontSize: 11, color: 'rgba(255,255,255,0.82)', marginTop: 5, lineHeight: 1.45 }}&gt;&#10;            唯一事实源：密级类别 + 可见性 + 四种权限&#10;          &lt;/Text&gt;&#10;          &lt;Text style={{ fontSize: 11, color: 'rgba(255,255,255,0.6)', marginTop: 7, lineHeight: 1.4 }}&gt;&#10;            只定义一次，四处复用&#10;          &lt;/Text&gt;&#10;        &lt;/Box&gt;&#10;        {[&#10;          { dir: '→ 管道', obj: '数据集 / 同步任务 / 分支', act: '容器继承 + 血缘传播', risk: '一次清洗把标记洗掉', ctrl: '降级事件建成一等公民元数据' },&#10;          { dir: '→ 知识库', obj: '切片 / 索引 / 检索结果', act: '切片继承最高密级 + 检索层过滤', risk: '缓存跨会话泄漏', ctrl: '缓存键包含用户标记集合' },&#10;          { dir: '→ Agent', obj: '工具 / 记忆 / 遥测日志', act: '出口策略 + 记忆打标 + 日志受管', risk: '动作被复制上万次', ctrl: '默认拒绝出口，白名单逐个放开' },&#10;          { dir: '→ 本体', obj: '对象类型 / 属性 / 动作', act: '策略对象内建为本体资源', risk: '策略外挂导致属性没人管', ctrl: '本体评审必答十个治理问题' },&#10;        ].map((x) =&gt; (&#10;          &lt;Box key={x.dir} style={{ flex: 1, background: 'rgba(255,255,255,0.07)', borderRadius: 3, borderTop: '3px solid #FBA15C', padding: '10px 12px', flexDirection: 'column' }}&gt;&#10;            &lt;Text style={{ fontSize: 13.5, fontWeight: 'bold', color: '#FBA15C' }}&gt;{x.dir}&lt;/Text&gt;&#10;            &lt;Text style={{ fontSize: 11, color: '#FFFFFF', marginTop: 6, lineHeight: 1.4 }}&gt;{x.obj}&lt;/Text&gt;&#10;            &lt;Text style={{ fontSize: 11, color: 'rgba(255,255,255,0.78)', marginTop: 5, lineHeight: 1.4 }}&gt;{x.act}&lt;/Text&gt;&#10;            &lt;Text style={{ fontSize: 10.5, color: '#FBA15C', marginTop: 5, lineHeight: 1.4 }}&gt;风险：{x.risk}&lt;/Text&gt;&#10;            &lt;Text style={{ fontSize: 10.5, color: 'rgba(255,255,255,0.72)', marginTop: 3, lineHeight: 1.4 }}&gt;对策：{x.ctrl}&lt;/Text&gt;&#10;          &lt;/Box&gt;&#10;        ))}&#10;      &lt;/Box&gt;&#10;    &lt;/Box&gt;&#10;&#10;    &lt;Box style={{ flex: 1, flexDirection: 'row', gap: 10 }}&gt;&#10;      &lt;Box style={{ flex: 1.2, background: '#FFF3EE', borderRadius: 4, borderLeft: '4px solid #FA4F24', padding: '12px 17px', flexDirection: 'column', justifyContent: 'center' }}&gt;&#10;        &lt;Text style={{ fontSize: 14, fontWeight: 'bold', color: '#C43A17' }}&gt;治理的四条硬边界（不可协商）&lt;/Text&gt;&#10;        &lt;Box style={{ flexDirection: 'column', gap: 5, marginTop: 7 }}&gt;&#10;          {[&#10;            '一、最小必要：个人数据的处理范围，不得超过达成合法结果所必需的界限，且必须与之相称。',&#10;            '二、目的限定：只能用于收集时声明的目的，变更目的需要重新授权。',&#10;            '三、只读优先：能只读提交就不要给写权限，能不落盘就不要落盘。',&#10;            '四、全程留痕：谁、什么、为什么——审计必须能回答这三个问题，缺一不可。',&#10;          ].map((t) =&gt; (&#10;            &lt;Text key={t} style={{ fontSize: 11.5, color: '#3A4050', lineHeight: 1.5 }}&gt;{t}&lt;/Text&gt;&#10;          ))}&#10;        &lt;/Box&gt;&#10;      &lt;/Box&gt;&#10;      &lt;Box style={{ flex: 1, background: '#F7F7F8', borderRadius: 4, padding: '12px 17px', flexDirection: 'column', justifyContent: 'center' }}&gt;&#10;        &lt;Text style={{ fontSize: 14, fontWeight: 'bold', color: '#0F1423' }}&gt;推论：治理的对象是「动作」，不是「文件」&lt;/Text&gt;&#10;        &lt;Text style={{ fontSize: 11.5, color: '#3A4050', marginTop: 7, lineHeight: 1.55 }}&gt;&#10;          一旦把治理对象从「文件」改成「动作」，全部设计都要重写：权限从按文件夹授权变成按用途审批，审计从「谁下载了这个文件」变成「谁以什么理由让系统做了这个动作」，标记从「贴标签」变成「随血缘与调用链传播」。&#10;        &lt;/Text&gt;&#10;        &lt;Text style={{ fontSize: 11.5, color: '#3A4050', marginTop: 7, lineHeight: 1.55 }}&gt;&#10;          这也是为什么数据治理不能只交给安全团队——它变成了业务流程的一部分，必须由业务、数据、安全三方共同定义。&#10;        &lt;/Text&gt;&#10;      &lt;/Box&gt;&#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22 / 30&lt;/Text&gt;&#10;  &lt;/Box&gt;&#10;&lt;/Slide&gt;"/>
        <p:cNvGrpSpPr/>
        <p:nvPr/>
      </p:nvGrpSpPr>
      <p:grpSpPr>
        <a:xfrm>
          <a:off x="0" y="0"/>
          <a:ext cx="0" cy="0"/>
          <a:chOff x="0" y="0"/>
          <a:chExt cx="0" cy="0"/>
        </a:xfrm>
      </p:grpSpPr>
      <p:sp>
        <p:nvSpPr>
          <p:cNvPr id="627" name=""/>
          <p:cNvSpPr/>
          <p:nvPr/>
        </p:nvSpPr>
        <p:spPr>
          <a:xfrm rot="0" flipH="0" flipV="0">
            <a:off x="0" y="0"/>
            <a:ext cx="12192000" cy="6858000"/>
          </a:xfrm>
          <a:prstGeom prst="rect">
            <a:avLst/>
          </a:prstGeom>
          <a:solidFill>
            <a:srgbClr val="FFFFFF"/>
          </a:solidFill>
          <a:ln/>
        </p:spPr>
        <p:txBody>
          <a:bodyPr/>
          <a:p/>
        </p:txBody>
      </p:sp>
      <p:sp>
        <p:nvSpPr>
          <p:cNvPr id="628"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四方关系总览：治理是怎么贯穿管道、知识库、</a:t>
            </a:r>
            <a:r>
              <a:rPr lang="en-US" sz="2400" b="1">
                <a:solidFill>
                  <a:srgbClr val="0F1423"/>
                </a:solidFill>
                <a:latin typeface="Microsoft YaHei"/>
                <a:ea typeface="Microsoft YaHei"/>
              </a:rPr>
              <a:t xml:space="preserve">Agent </a:t>
            </a:r>
            <a:r>
              <a:rPr lang="zh-CN" sz="2400" b="1">
                <a:solidFill>
                  <a:srgbClr val="0F1423"/>
                </a:solidFill>
                <a:latin typeface="Microsoft YaHei"/>
                <a:ea typeface="Microsoft YaHei"/>
              </a:rPr>
              <a:t>与本体的</a:t>
            </a:r>
            <a:endParaRPr/>
          </a:p>
        </p:txBody>
      </p:sp>
      <p:sp>
        <p:nvSpPr>
          <p:cNvPr id="629"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四个方向不是四套方案——标记只定义一次，沿四个方向分别有各自的落法</a:t>
            </a:r>
            <a:endParaRPr/>
          </a:p>
        </p:txBody>
      </p:sp>
      <p:sp>
        <p:nvSpPr>
          <p:cNvPr id="630" name=""/>
          <p:cNvSpPr/>
          <p:nvPr/>
        </p:nvSpPr>
        <p:spPr>
          <a:xfrm rot="0" flipH="0" flipV="0">
            <a:off x="609600" y="1143000"/>
            <a:ext cx="10972800" cy="9525"/>
          </a:xfrm>
          <a:prstGeom prst="rect">
            <a:avLst/>
          </a:prstGeom>
          <a:solidFill>
            <a:srgbClr val="E8E8E8"/>
          </a:solidFill>
          <a:ln/>
        </p:spPr>
        <p:txBody>
          <a:bodyPr/>
          <a:p/>
        </p:txBody>
      </p:sp>
      <p:sp>
        <p:nvSpPr>
          <p:cNvPr id="631" name=""/>
          <p:cNvSpPr/>
          <p:nvPr/>
        </p:nvSpPr>
        <p:spPr>
          <a:xfrm rot="0" flipH="0" flipV="0">
            <a:off x="609600" y="1285875"/>
            <a:ext cx="10972800" cy="2152650"/>
          </a:xfrm>
          <a:prstGeom prst="roundRect">
            <a:avLst>
              <a:gd name="adj" fmla="val 1770"/>
            </a:avLst>
          </a:prstGeom>
          <a:solidFill>
            <a:srgbClr val="0F1423"/>
          </a:solidFill>
          <a:ln/>
        </p:spPr>
        <p:txBody>
          <a:bodyPr/>
          <a:p/>
        </p:txBody>
      </p:sp>
      <p:sp>
        <p:nvSpPr>
          <p:cNvPr id="632" name="" descr="{&quot;isTemplate&quot;:true,&quot;type&quot;:&quot;text&quot;}"/>
          <p:cNvSpPr txBox="1"/>
          <p:nvPr/>
        </p:nvSpPr>
        <p:spPr>
          <a:xfrm rot="0" flipH="0" flipV="0">
            <a:off x="800100" y="1419225"/>
            <a:ext cx="10591800" cy="161925"/>
          </a:xfrm>
          <a:prstGeom prst="rect"/>
        </p:spPr>
        <p:txBody>
          <a:bodyPr wrap="none" lIns="0" tIns="0" rIns="0" bIns="0"/>
          <a:p>
            <a:pPr>
              <a:lnSpc>
                <a:spcPct val="100000"/>
              </a:lnSpc>
            </a:pPr>
            <a:r>
              <a:rPr lang="zh-CN" sz="1050" b="1">
                <a:solidFill>
                  <a:srgbClr val="FBA15C"/>
                </a:solidFill>
                <a:latin typeface="Microsoft YaHei"/>
                <a:ea typeface="Microsoft YaHei"/>
              </a:rPr>
              <a:t>一标记、四落法：同一条治理主线在四个方向的落点</a:t>
            </a:r>
            <a:endParaRPr/>
          </a:p>
        </p:txBody>
      </p:sp>
      <p:sp>
        <p:nvSpPr>
          <p:cNvPr id="633" name=""/>
          <p:cNvSpPr/>
          <p:nvPr/>
        </p:nvSpPr>
        <p:spPr>
          <a:xfrm rot="0" flipH="0" flipV="0">
            <a:off x="800100" y="1695450"/>
            <a:ext cx="1428750" cy="1609725"/>
          </a:xfrm>
          <a:prstGeom prst="roundRect">
            <a:avLst>
              <a:gd name="adj" fmla="val 2000"/>
            </a:avLst>
          </a:prstGeom>
          <a:solidFill>
            <a:srgbClr val="FA4F24">
              <a:alpha val="22000"/>
            </a:srgbClr>
          </a:solidFill>
          <a:ln w="12700">
            <a:solidFill>
              <a:srgbClr val="FA4F24"/>
            </a:solidFill>
            <a:prstDash val="solid"/>
          </a:ln>
        </p:spPr>
        <p:txBody>
          <a:bodyPr/>
          <a:p/>
        </p:txBody>
      </p:sp>
      <p:sp>
        <p:nvSpPr>
          <p:cNvPr id="634" name="" descr="{&quot;isTemplate&quot;:true,&quot;type&quot;:&quot;text&quot;}"/>
          <p:cNvSpPr txBox="1"/>
          <p:nvPr/>
        </p:nvSpPr>
        <p:spPr>
          <a:xfrm rot="0" flipH="0" flipV="0">
            <a:off x="914400" y="2095500"/>
            <a:ext cx="1200150" cy="152400"/>
          </a:xfrm>
          <a:prstGeom prst="rect"/>
        </p:spPr>
        <p:txBody>
          <a:bodyPr wrap="none" lIns="0" tIns="0" rIns="0" bIns="0"/>
          <a:p>
            <a:pPr>
              <a:lnSpc>
                <a:spcPct val="100000"/>
              </a:lnSpc>
            </a:pPr>
            <a:r>
              <a:rPr lang="zh-CN" sz="975" b="1">
                <a:solidFill>
                  <a:srgbClr val="FFFFFF"/>
                </a:solidFill>
                <a:latin typeface="Microsoft YaHei"/>
                <a:ea typeface="Microsoft YaHei"/>
              </a:rPr>
              <a:t>标记体系</a:t>
            </a:r>
            <a:endParaRPr/>
          </a:p>
        </p:txBody>
      </p:sp>
      <p:sp>
        <p:nvSpPr>
          <p:cNvPr id="635" name="" descr="{&quot;isTemplate&quot;:true,&quot;type&quot;:&quot;text&quot;}"/>
          <p:cNvSpPr txBox="1"/>
          <p:nvPr/>
        </p:nvSpPr>
        <p:spPr>
          <a:xfrm rot="0" flipH="0" flipV="0">
            <a:off x="914400" y="2295525"/>
            <a:ext cx="1200150" cy="371475"/>
          </a:xfrm>
          <a:prstGeom prst="rect"/>
        </p:spPr>
        <p:txBody>
          <a:bodyPr wrap="square" lIns="0" tIns="0" rIns="0" bIns="0">
            <a:normAutofit/>
          </a:bodyPr>
          <a:p>
            <a:pPr>
              <a:lnSpc>
                <a:spcPct val="145000"/>
              </a:lnSpc>
            </a:pPr>
            <a:r>
              <a:rPr lang="zh-CN" sz="825">
                <a:solidFill>
                  <a:srgbClr val="FFFFFF">
                    <a:alpha val="82000"/>
                  </a:srgbClr>
                </a:solidFill>
                <a:latin typeface="Microsoft YaHei"/>
                <a:ea typeface="Microsoft YaHei"/>
              </a:rPr>
              <a:t>唯一事实源：密级类别</a:t>
            </a:r>
            <a:r>
              <a:rPr lang="en-US" sz="825">
                <a:solidFill>
                  <a:srgbClr val="FFFFFF">
                    <a:alpha val="82000"/>
                  </a:srgbClr>
                </a:solidFill>
                <a:latin typeface="Microsoft YaHei"/>
                <a:ea typeface="Microsoft YaHei"/>
              </a:rPr>
              <a:t xml:space="preserve"> + </a:t>
            </a:r>
            <a:r>
              <a:rPr lang="zh-CN" sz="825">
                <a:solidFill>
                  <a:srgbClr val="FFFFFF">
                    <a:alpha val="82000"/>
                  </a:srgbClr>
                </a:solidFill>
                <a:latin typeface="Microsoft YaHei"/>
                <a:ea typeface="Microsoft YaHei"/>
              </a:rPr>
              <a:t>可见性</a:t>
            </a:r>
            <a:r>
              <a:rPr lang="en-US" sz="825">
                <a:solidFill>
                  <a:srgbClr val="FFFFFF">
                    <a:alpha val="82000"/>
                  </a:srgbClr>
                </a:solidFill>
                <a:latin typeface="Microsoft YaHei"/>
                <a:ea typeface="Microsoft YaHei"/>
              </a:rPr>
              <a:t xml:space="preserve"> + </a:t>
            </a:r>
            <a:r>
              <a:rPr lang="zh-CN" sz="825">
                <a:solidFill>
                  <a:srgbClr val="FFFFFF">
                    <a:alpha val="82000"/>
                  </a:srgbClr>
                </a:solidFill>
                <a:latin typeface="Microsoft YaHei"/>
                <a:ea typeface="Microsoft YaHei"/>
              </a:rPr>
              <a:t>四种权限</a:t>
            </a:r>
            <a:endParaRPr/>
          </a:p>
        </p:txBody>
      </p:sp>
      <p:sp>
        <p:nvSpPr>
          <p:cNvPr id="636" name="" descr="{&quot;isTemplate&quot;:true,&quot;type&quot;:&quot;text&quot;}"/>
          <p:cNvSpPr txBox="1"/>
          <p:nvPr/>
        </p:nvSpPr>
        <p:spPr>
          <a:xfrm rot="0" flipH="0" flipV="0">
            <a:off x="914400" y="2733675"/>
            <a:ext cx="1200150" cy="180975"/>
          </a:xfrm>
          <a:prstGeom prst="rect"/>
        </p:spPr>
        <p:txBody>
          <a:bodyPr wrap="none" lIns="0" tIns="0" rIns="0" bIns="0"/>
          <a:p>
            <a:pPr>
              <a:lnSpc>
                <a:spcPct val="140000"/>
              </a:lnSpc>
            </a:pPr>
            <a:r>
              <a:rPr lang="zh-CN" sz="825">
                <a:solidFill>
                  <a:srgbClr val="FFFFFF">
                    <a:alpha val="60000"/>
                  </a:srgbClr>
                </a:solidFill>
                <a:latin typeface="Microsoft YaHei"/>
                <a:ea typeface="Microsoft YaHei"/>
              </a:rPr>
              <a:t>只定义一次，四处复用</a:t>
            </a:r>
            <a:endParaRPr/>
          </a:p>
        </p:txBody>
      </p:sp>
      <p:sp>
        <p:nvSpPr>
          <p:cNvPr id="637" name=""/>
          <p:cNvSpPr/>
          <p:nvPr/>
        </p:nvSpPr>
        <p:spPr>
          <a:xfrm rot="0" flipH="0" flipV="0">
            <a:off x="2305050" y="1724025"/>
            <a:ext cx="2219325" cy="1609725"/>
          </a:xfrm>
          <a:prstGeom prst="roundRect">
            <a:avLst>
              <a:gd name="adj" fmla="val 1775"/>
            </a:avLst>
          </a:prstGeom>
          <a:solidFill>
            <a:srgbClr val="FFFFFF">
              <a:alpha val="7000"/>
            </a:srgbClr>
          </a:solidFill>
          <a:ln/>
        </p:spPr>
        <p:txBody>
          <a:bodyPr/>
          <a:p/>
        </p:txBody>
      </p:sp>
      <p:sp>
        <p:nvSpPr>
          <p:cNvPr id="638" name=""/>
          <p:cNvSpPr/>
          <p:nvPr/>
        </p:nvSpPr>
        <p:spPr>
          <a:xfrm rot="0" flipH="0" flipV="0">
            <a:off x="2305050" y="1724025"/>
            <a:ext cx="2219325" cy="1609725"/>
          </a:xfrm>
          <a:custGeom>
            <a:pathLst>
              <a:path w="233" h="169">
                <a:moveTo>
                  <a:pt x="230" y="0"/>
                </a:moveTo>
                <a:cubicBezTo>
                  <a:pt x="232" y="0"/>
                  <a:pt x="233" y="1"/>
                  <a:pt x="233" y="3"/>
                </a:cubicBezTo>
                <a:lnTo>
                  <a:pt x="0" y="3"/>
                </a:lnTo>
                <a:cubicBezTo>
                  <a:pt x="0" y="1"/>
                  <a:pt x="1" y="0"/>
                  <a:pt x="3" y="0"/>
                </a:cubicBezTo>
                <a:lnTo>
                  <a:pt x="230" y="0"/>
                </a:lnTo>
                <a:close/>
              </a:path>
            </a:pathLst>
          </a:custGeom>
          <a:solidFill>
            <a:srgbClr val="FBA15C"/>
          </a:solidFill>
          <a:ln/>
        </p:spPr>
        <p:txBody>
          <a:bodyPr/>
          <a:p/>
        </p:txBody>
      </p:sp>
      <p:sp>
        <p:nvSpPr>
          <p:cNvPr id="639" name="" descr="{&quot;isTemplate&quot;:true,&quot;type&quot;:&quot;text&quot;}"/>
          <p:cNvSpPr txBox="1"/>
          <p:nvPr/>
        </p:nvSpPr>
        <p:spPr>
          <a:xfrm rot="0" flipH="0" flipV="0">
            <a:off x="2419350" y="1819275"/>
            <a:ext cx="1990725" cy="161925"/>
          </a:xfrm>
          <a:prstGeom prst="rect"/>
        </p:spPr>
        <p:txBody>
          <a:bodyPr wrap="none" lIns="0" tIns="0" rIns="0" bIns="0"/>
          <a:p>
            <a:pPr>
              <a:lnSpc>
                <a:spcPct val="100000"/>
              </a:lnSpc>
            </a:pPr>
            <a:r>
              <a:rPr lang="en-US" sz="1013" b="1">
                <a:solidFill>
                  <a:srgbClr val="FBA15C"/>
                </a:solidFill>
                <a:latin typeface="Microsoft YaHei"/>
                <a:ea typeface="Microsoft YaHei"/>
              </a:rPr>
              <a:t xml:space="preserve">→ </a:t>
            </a:r>
            <a:r>
              <a:rPr lang="zh-CN" sz="1013" b="1">
                <a:solidFill>
                  <a:srgbClr val="FBA15C"/>
                </a:solidFill>
                <a:latin typeface="Microsoft YaHei"/>
                <a:ea typeface="Microsoft YaHei"/>
              </a:rPr>
              <a:t>管道</a:t>
            </a:r>
            <a:endParaRPr/>
          </a:p>
        </p:txBody>
      </p:sp>
      <p:sp>
        <p:nvSpPr>
          <p:cNvPr id="640" name="" descr="{&quot;isTemplate&quot;:true,&quot;type&quot;:&quot;text&quot;}"/>
          <p:cNvSpPr txBox="1"/>
          <p:nvPr/>
        </p:nvSpPr>
        <p:spPr>
          <a:xfrm rot="0" flipH="0" flipV="0">
            <a:off x="2419350" y="2038350"/>
            <a:ext cx="1990725" cy="180975"/>
          </a:xfrm>
          <a:prstGeom prst="rect"/>
        </p:spPr>
        <p:txBody>
          <a:bodyPr wrap="none" lIns="0" tIns="0" rIns="0" bIns="0"/>
          <a:p>
            <a:pPr>
              <a:lnSpc>
                <a:spcPct val="140000"/>
              </a:lnSpc>
            </a:pPr>
            <a:r>
              <a:rPr lang="zh-CN" sz="825">
                <a:solidFill>
                  <a:srgbClr val="FFFFFF"/>
                </a:solidFill>
                <a:latin typeface="Microsoft YaHei"/>
                <a:ea typeface="Microsoft YaHei"/>
              </a:rPr>
              <a:t>数据集</a:t>
            </a:r>
            <a:r>
              <a:rPr lang="en-US" sz="825">
                <a:solidFill>
                  <a:srgbClr val="FFFFFF"/>
                </a:solidFill>
                <a:latin typeface="Microsoft YaHei"/>
                <a:ea typeface="Microsoft YaHei"/>
              </a:rPr>
              <a:t xml:space="preserve"> / </a:t>
            </a:r>
            <a:r>
              <a:rPr lang="zh-CN" sz="825">
                <a:solidFill>
                  <a:srgbClr val="FFFFFF"/>
                </a:solidFill>
                <a:latin typeface="Microsoft YaHei"/>
                <a:ea typeface="Microsoft YaHei"/>
              </a:rPr>
              <a:t>同步任务</a:t>
            </a:r>
            <a:r>
              <a:rPr lang="en-US" sz="825">
                <a:solidFill>
                  <a:srgbClr val="FFFFFF"/>
                </a:solidFill>
                <a:latin typeface="Microsoft YaHei"/>
                <a:ea typeface="Microsoft YaHei"/>
              </a:rPr>
              <a:t xml:space="preserve"> / </a:t>
            </a:r>
            <a:r>
              <a:rPr lang="zh-CN" sz="825">
                <a:solidFill>
                  <a:srgbClr val="FFFFFF"/>
                </a:solidFill>
                <a:latin typeface="Microsoft YaHei"/>
                <a:ea typeface="Microsoft YaHei"/>
              </a:rPr>
              <a:t>分支</a:t>
            </a:r>
            <a:endParaRPr/>
          </a:p>
        </p:txBody>
      </p:sp>
      <p:sp>
        <p:nvSpPr>
          <p:cNvPr id="641" name="" descr="{&quot;isTemplate&quot;:true,&quot;type&quot;:&quot;text&quot;}"/>
          <p:cNvSpPr txBox="1"/>
          <p:nvPr/>
        </p:nvSpPr>
        <p:spPr>
          <a:xfrm rot="0" flipH="0" flipV="0">
            <a:off x="2419350" y="2266950"/>
            <a:ext cx="1990725" cy="180975"/>
          </a:xfrm>
          <a:prstGeom prst="rect"/>
        </p:spPr>
        <p:txBody>
          <a:bodyPr wrap="none" lIns="0" tIns="0" rIns="0" bIns="0"/>
          <a:p>
            <a:pPr>
              <a:lnSpc>
                <a:spcPct val="140000"/>
              </a:lnSpc>
            </a:pPr>
            <a:r>
              <a:rPr lang="zh-CN" sz="825">
                <a:solidFill>
                  <a:srgbClr val="FFFFFF">
                    <a:alpha val="78000"/>
                  </a:srgbClr>
                </a:solidFill>
                <a:latin typeface="Microsoft YaHei"/>
                <a:ea typeface="Microsoft YaHei"/>
              </a:rPr>
              <a:t>容器继承</a:t>
            </a:r>
            <a:r>
              <a:rPr lang="en-US" sz="825">
                <a:solidFill>
                  <a:srgbClr val="FFFFFF">
                    <a:alpha val="78000"/>
                  </a:srgbClr>
                </a:solidFill>
                <a:latin typeface="Microsoft YaHei"/>
                <a:ea typeface="Microsoft YaHei"/>
              </a:rPr>
              <a:t xml:space="preserve"> + </a:t>
            </a:r>
            <a:r>
              <a:rPr lang="zh-CN" sz="825">
                <a:solidFill>
                  <a:srgbClr val="FFFFFF">
                    <a:alpha val="78000"/>
                  </a:srgbClr>
                </a:solidFill>
                <a:latin typeface="Microsoft YaHei"/>
                <a:ea typeface="Microsoft YaHei"/>
              </a:rPr>
              <a:t>血缘传播</a:t>
            </a:r>
            <a:endParaRPr/>
          </a:p>
        </p:txBody>
      </p:sp>
      <p:sp>
        <p:nvSpPr>
          <p:cNvPr id="642" name="" descr="{&quot;isTemplate&quot;:true,&quot;type&quot;:&quot;text&quot;}"/>
          <p:cNvSpPr txBox="1"/>
          <p:nvPr/>
        </p:nvSpPr>
        <p:spPr>
          <a:xfrm rot="0" flipH="0" flipV="0">
            <a:off x="2419350" y="2495550"/>
            <a:ext cx="1990725" cy="171450"/>
          </a:xfrm>
          <a:prstGeom prst="rect"/>
        </p:spPr>
        <p:txBody>
          <a:bodyPr wrap="none" lIns="0" tIns="0" rIns="0" bIns="0"/>
          <a:p>
            <a:pPr>
              <a:lnSpc>
                <a:spcPct val="140000"/>
              </a:lnSpc>
            </a:pPr>
            <a:r>
              <a:rPr lang="zh-CN" sz="788">
                <a:solidFill>
                  <a:srgbClr val="FBA15C"/>
                </a:solidFill>
                <a:latin typeface="Microsoft YaHei"/>
                <a:ea typeface="Microsoft YaHei"/>
              </a:rPr>
              <a:t>风险：</a:t>
            </a:r>
            <a:r>
              <a:rPr lang="zh-CN" sz="788">
                <a:solidFill>
                  <a:srgbClr val="FBA15C"/>
                </a:solidFill>
                <a:latin typeface="Microsoft YaHei"/>
                <a:ea typeface="Microsoft YaHei"/>
              </a:rPr>
              <a:t>一次清洗把标记洗掉</a:t>
            </a:r>
            <a:endParaRPr/>
          </a:p>
        </p:txBody>
      </p:sp>
      <p:sp>
        <p:nvSpPr>
          <p:cNvPr id="643" name="" descr="{&quot;isTemplate&quot;:true,&quot;type&quot;:&quot;text&quot;}"/>
          <p:cNvSpPr txBox="1"/>
          <p:nvPr/>
        </p:nvSpPr>
        <p:spPr>
          <a:xfrm rot="0" flipH="0" flipV="0">
            <a:off x="2419350" y="2695575"/>
            <a:ext cx="1990725" cy="171450"/>
          </a:xfrm>
          <a:prstGeom prst="rect"/>
        </p:spPr>
        <p:txBody>
          <a:bodyPr wrap="none" lIns="0" tIns="0" rIns="0" bIns="0"/>
          <a:p>
            <a:pPr>
              <a:lnSpc>
                <a:spcPct val="140000"/>
              </a:lnSpc>
            </a:pPr>
            <a:r>
              <a:rPr lang="zh-CN" sz="788">
                <a:solidFill>
                  <a:srgbClr val="FFFFFF">
                    <a:alpha val="72000"/>
                  </a:srgbClr>
                </a:solidFill>
                <a:latin typeface="Microsoft YaHei"/>
                <a:ea typeface="Microsoft YaHei"/>
              </a:rPr>
              <a:t>对策：</a:t>
            </a:r>
            <a:r>
              <a:rPr lang="zh-CN" sz="788">
                <a:solidFill>
                  <a:srgbClr val="FFFFFF">
                    <a:alpha val="72000"/>
                  </a:srgbClr>
                </a:solidFill>
                <a:latin typeface="Microsoft YaHei"/>
                <a:ea typeface="Microsoft YaHei"/>
              </a:rPr>
              <a:t>降级事件建成一等公民元数据</a:t>
            </a:r>
            <a:endParaRPr/>
          </a:p>
        </p:txBody>
      </p:sp>
      <p:sp>
        <p:nvSpPr>
          <p:cNvPr id="644" name=""/>
          <p:cNvSpPr/>
          <p:nvPr/>
        </p:nvSpPr>
        <p:spPr>
          <a:xfrm rot="0" flipH="0" flipV="0">
            <a:off x="4600575" y="1724025"/>
            <a:ext cx="2209800" cy="1609725"/>
          </a:xfrm>
          <a:prstGeom prst="roundRect">
            <a:avLst>
              <a:gd name="adj" fmla="val 1775"/>
            </a:avLst>
          </a:prstGeom>
          <a:solidFill>
            <a:srgbClr val="FFFFFF">
              <a:alpha val="7000"/>
            </a:srgbClr>
          </a:solidFill>
          <a:ln/>
        </p:spPr>
        <p:txBody>
          <a:bodyPr/>
          <a:p/>
        </p:txBody>
      </p:sp>
      <p:sp>
        <p:nvSpPr>
          <p:cNvPr id="645" name=""/>
          <p:cNvSpPr/>
          <p:nvPr/>
        </p:nvSpPr>
        <p:spPr>
          <a:xfrm rot="0" flipH="0" flipV="0">
            <a:off x="4600575" y="1724025"/>
            <a:ext cx="2209800" cy="1609725"/>
          </a:xfrm>
          <a:custGeom>
            <a:pathLst>
              <a:path w="232" h="169">
                <a:moveTo>
                  <a:pt x="229" y="0"/>
                </a:moveTo>
                <a:cubicBezTo>
                  <a:pt x="231" y="0"/>
                  <a:pt x="232" y="1"/>
                  <a:pt x="232" y="3"/>
                </a:cubicBezTo>
                <a:lnTo>
                  <a:pt x="0" y="3"/>
                </a:lnTo>
                <a:cubicBezTo>
                  <a:pt x="0" y="1"/>
                  <a:pt x="1" y="0"/>
                  <a:pt x="3" y="0"/>
                </a:cubicBezTo>
                <a:lnTo>
                  <a:pt x="229" y="0"/>
                </a:lnTo>
                <a:close/>
              </a:path>
            </a:pathLst>
          </a:custGeom>
          <a:solidFill>
            <a:srgbClr val="FBA15C"/>
          </a:solidFill>
          <a:ln/>
        </p:spPr>
        <p:txBody>
          <a:bodyPr/>
          <a:p/>
        </p:txBody>
      </p:sp>
      <p:sp>
        <p:nvSpPr>
          <p:cNvPr id="646" name="" descr="{&quot;isTemplate&quot;:true,&quot;type&quot;:&quot;text&quot;}"/>
          <p:cNvSpPr txBox="1"/>
          <p:nvPr/>
        </p:nvSpPr>
        <p:spPr>
          <a:xfrm rot="0" flipH="0" flipV="0">
            <a:off x="4714875" y="1819275"/>
            <a:ext cx="1981200" cy="161925"/>
          </a:xfrm>
          <a:prstGeom prst="rect"/>
        </p:spPr>
        <p:txBody>
          <a:bodyPr wrap="none" lIns="0" tIns="0" rIns="0" bIns="0"/>
          <a:p>
            <a:pPr>
              <a:lnSpc>
                <a:spcPct val="100000"/>
              </a:lnSpc>
            </a:pPr>
            <a:r>
              <a:rPr lang="en-US" sz="1013" b="1">
                <a:solidFill>
                  <a:srgbClr val="FBA15C"/>
                </a:solidFill>
                <a:latin typeface="Microsoft YaHei"/>
                <a:ea typeface="Microsoft YaHei"/>
              </a:rPr>
              <a:t xml:space="preserve">→ </a:t>
            </a:r>
            <a:r>
              <a:rPr lang="zh-CN" sz="1013" b="1">
                <a:solidFill>
                  <a:srgbClr val="FBA15C"/>
                </a:solidFill>
                <a:latin typeface="Microsoft YaHei"/>
                <a:ea typeface="Microsoft YaHei"/>
              </a:rPr>
              <a:t>知识库</a:t>
            </a:r>
            <a:endParaRPr/>
          </a:p>
        </p:txBody>
      </p:sp>
      <p:sp>
        <p:nvSpPr>
          <p:cNvPr id="647" name="" descr="{&quot;isTemplate&quot;:true,&quot;type&quot;:&quot;text&quot;}"/>
          <p:cNvSpPr txBox="1"/>
          <p:nvPr/>
        </p:nvSpPr>
        <p:spPr>
          <a:xfrm rot="0" flipH="0" flipV="0">
            <a:off x="4714875" y="2038350"/>
            <a:ext cx="1981200" cy="180975"/>
          </a:xfrm>
          <a:prstGeom prst="rect"/>
        </p:spPr>
        <p:txBody>
          <a:bodyPr wrap="none" lIns="0" tIns="0" rIns="0" bIns="0"/>
          <a:p>
            <a:pPr>
              <a:lnSpc>
                <a:spcPct val="140000"/>
              </a:lnSpc>
            </a:pPr>
            <a:r>
              <a:rPr lang="zh-CN" sz="825">
                <a:solidFill>
                  <a:srgbClr val="FFFFFF"/>
                </a:solidFill>
                <a:latin typeface="Microsoft YaHei"/>
                <a:ea typeface="Microsoft YaHei"/>
              </a:rPr>
              <a:t>切片</a:t>
            </a:r>
            <a:r>
              <a:rPr lang="en-US" sz="825">
                <a:solidFill>
                  <a:srgbClr val="FFFFFF"/>
                </a:solidFill>
                <a:latin typeface="Microsoft YaHei"/>
                <a:ea typeface="Microsoft YaHei"/>
              </a:rPr>
              <a:t xml:space="preserve"> / </a:t>
            </a:r>
            <a:r>
              <a:rPr lang="zh-CN" sz="825">
                <a:solidFill>
                  <a:srgbClr val="FFFFFF"/>
                </a:solidFill>
                <a:latin typeface="Microsoft YaHei"/>
                <a:ea typeface="Microsoft YaHei"/>
              </a:rPr>
              <a:t>索引</a:t>
            </a:r>
            <a:r>
              <a:rPr lang="en-US" sz="825">
                <a:solidFill>
                  <a:srgbClr val="FFFFFF"/>
                </a:solidFill>
                <a:latin typeface="Microsoft YaHei"/>
                <a:ea typeface="Microsoft YaHei"/>
              </a:rPr>
              <a:t xml:space="preserve"> / </a:t>
            </a:r>
            <a:r>
              <a:rPr lang="zh-CN" sz="825">
                <a:solidFill>
                  <a:srgbClr val="FFFFFF"/>
                </a:solidFill>
                <a:latin typeface="Microsoft YaHei"/>
                <a:ea typeface="Microsoft YaHei"/>
              </a:rPr>
              <a:t>检索结果</a:t>
            </a:r>
            <a:endParaRPr/>
          </a:p>
        </p:txBody>
      </p:sp>
      <p:sp>
        <p:nvSpPr>
          <p:cNvPr id="648" name="" descr="{&quot;isTemplate&quot;:true,&quot;type&quot;:&quot;text&quot;}"/>
          <p:cNvSpPr txBox="1"/>
          <p:nvPr/>
        </p:nvSpPr>
        <p:spPr>
          <a:xfrm rot="0" flipH="0" flipV="0">
            <a:off x="4714875" y="2266950"/>
            <a:ext cx="1981200" cy="180975"/>
          </a:xfrm>
          <a:prstGeom prst="rect"/>
        </p:spPr>
        <p:txBody>
          <a:bodyPr wrap="none" lIns="0" tIns="0" rIns="0" bIns="0"/>
          <a:p>
            <a:pPr>
              <a:lnSpc>
                <a:spcPct val="140000"/>
              </a:lnSpc>
            </a:pPr>
            <a:r>
              <a:rPr lang="zh-CN" sz="825">
                <a:solidFill>
                  <a:srgbClr val="FFFFFF">
                    <a:alpha val="78000"/>
                  </a:srgbClr>
                </a:solidFill>
                <a:latin typeface="Microsoft YaHei"/>
                <a:ea typeface="Microsoft YaHei"/>
              </a:rPr>
              <a:t>切片继承最高密级</a:t>
            </a:r>
            <a:r>
              <a:rPr lang="en-US" sz="825">
                <a:solidFill>
                  <a:srgbClr val="FFFFFF">
                    <a:alpha val="78000"/>
                  </a:srgbClr>
                </a:solidFill>
                <a:latin typeface="Microsoft YaHei"/>
                <a:ea typeface="Microsoft YaHei"/>
              </a:rPr>
              <a:t xml:space="preserve"> + </a:t>
            </a:r>
            <a:r>
              <a:rPr lang="zh-CN" sz="825">
                <a:solidFill>
                  <a:srgbClr val="FFFFFF">
                    <a:alpha val="78000"/>
                  </a:srgbClr>
                </a:solidFill>
                <a:latin typeface="Microsoft YaHei"/>
                <a:ea typeface="Microsoft YaHei"/>
              </a:rPr>
              <a:t>检索层过滤</a:t>
            </a:r>
            <a:endParaRPr/>
          </a:p>
        </p:txBody>
      </p:sp>
      <p:sp>
        <p:nvSpPr>
          <p:cNvPr id="649" name="" descr="{&quot;isTemplate&quot;:true,&quot;type&quot;:&quot;text&quot;}"/>
          <p:cNvSpPr txBox="1"/>
          <p:nvPr/>
        </p:nvSpPr>
        <p:spPr>
          <a:xfrm rot="0" flipH="0" flipV="0">
            <a:off x="4714875" y="2495550"/>
            <a:ext cx="1981200" cy="171450"/>
          </a:xfrm>
          <a:prstGeom prst="rect"/>
        </p:spPr>
        <p:txBody>
          <a:bodyPr wrap="none" lIns="0" tIns="0" rIns="0" bIns="0"/>
          <a:p>
            <a:pPr>
              <a:lnSpc>
                <a:spcPct val="140000"/>
              </a:lnSpc>
            </a:pPr>
            <a:r>
              <a:rPr lang="zh-CN" sz="788">
                <a:solidFill>
                  <a:srgbClr val="FBA15C"/>
                </a:solidFill>
                <a:latin typeface="Microsoft YaHei"/>
                <a:ea typeface="Microsoft YaHei"/>
              </a:rPr>
              <a:t>风险：</a:t>
            </a:r>
            <a:r>
              <a:rPr lang="zh-CN" sz="788">
                <a:solidFill>
                  <a:srgbClr val="FBA15C"/>
                </a:solidFill>
                <a:latin typeface="Microsoft YaHei"/>
                <a:ea typeface="Microsoft YaHei"/>
              </a:rPr>
              <a:t>缓存跨会话泄漏</a:t>
            </a:r>
            <a:endParaRPr/>
          </a:p>
        </p:txBody>
      </p:sp>
      <p:sp>
        <p:nvSpPr>
          <p:cNvPr id="650" name="" descr="{&quot;isTemplate&quot;:true,&quot;type&quot;:&quot;text&quot;}"/>
          <p:cNvSpPr txBox="1"/>
          <p:nvPr/>
        </p:nvSpPr>
        <p:spPr>
          <a:xfrm rot="0" flipH="0" flipV="0">
            <a:off x="4714875" y="2695575"/>
            <a:ext cx="1981200" cy="171450"/>
          </a:xfrm>
          <a:prstGeom prst="rect"/>
        </p:spPr>
        <p:txBody>
          <a:bodyPr wrap="none" lIns="0" tIns="0" rIns="0" bIns="0"/>
          <a:p>
            <a:pPr>
              <a:lnSpc>
                <a:spcPct val="140000"/>
              </a:lnSpc>
            </a:pPr>
            <a:r>
              <a:rPr lang="zh-CN" sz="788">
                <a:solidFill>
                  <a:srgbClr val="FFFFFF">
                    <a:alpha val="72000"/>
                  </a:srgbClr>
                </a:solidFill>
                <a:latin typeface="Microsoft YaHei"/>
                <a:ea typeface="Microsoft YaHei"/>
              </a:rPr>
              <a:t>对策：</a:t>
            </a:r>
            <a:r>
              <a:rPr lang="zh-CN" sz="788">
                <a:solidFill>
                  <a:srgbClr val="FFFFFF">
                    <a:alpha val="72000"/>
                  </a:srgbClr>
                </a:solidFill>
                <a:latin typeface="Microsoft YaHei"/>
                <a:ea typeface="Microsoft YaHei"/>
              </a:rPr>
              <a:t>缓存键包含用户标记集合</a:t>
            </a:r>
            <a:endParaRPr/>
          </a:p>
        </p:txBody>
      </p:sp>
      <p:sp>
        <p:nvSpPr>
          <p:cNvPr id="651" name=""/>
          <p:cNvSpPr/>
          <p:nvPr/>
        </p:nvSpPr>
        <p:spPr>
          <a:xfrm rot="0" flipH="0" flipV="0">
            <a:off x="6886575" y="1724025"/>
            <a:ext cx="2219325" cy="1609725"/>
          </a:xfrm>
          <a:prstGeom prst="roundRect">
            <a:avLst>
              <a:gd name="adj" fmla="val 1775"/>
            </a:avLst>
          </a:prstGeom>
          <a:solidFill>
            <a:srgbClr val="FFFFFF">
              <a:alpha val="7000"/>
            </a:srgbClr>
          </a:solidFill>
          <a:ln/>
        </p:spPr>
        <p:txBody>
          <a:bodyPr/>
          <a:p/>
        </p:txBody>
      </p:sp>
      <p:sp>
        <p:nvSpPr>
          <p:cNvPr id="652" name=""/>
          <p:cNvSpPr/>
          <p:nvPr/>
        </p:nvSpPr>
        <p:spPr>
          <a:xfrm rot="0" flipH="0" flipV="0">
            <a:off x="6886575" y="1724025"/>
            <a:ext cx="2219325" cy="1609725"/>
          </a:xfrm>
          <a:custGeom>
            <a:pathLst>
              <a:path w="233" h="169">
                <a:moveTo>
                  <a:pt x="230" y="0"/>
                </a:moveTo>
                <a:cubicBezTo>
                  <a:pt x="232" y="0"/>
                  <a:pt x="233" y="1"/>
                  <a:pt x="233" y="3"/>
                </a:cubicBezTo>
                <a:lnTo>
                  <a:pt x="0" y="3"/>
                </a:lnTo>
                <a:cubicBezTo>
                  <a:pt x="0" y="1"/>
                  <a:pt x="1" y="0"/>
                  <a:pt x="3" y="0"/>
                </a:cubicBezTo>
                <a:lnTo>
                  <a:pt x="230" y="0"/>
                </a:lnTo>
                <a:close/>
              </a:path>
            </a:pathLst>
          </a:custGeom>
          <a:solidFill>
            <a:srgbClr val="FBA15C"/>
          </a:solidFill>
          <a:ln/>
        </p:spPr>
        <p:txBody>
          <a:bodyPr/>
          <a:p/>
        </p:txBody>
      </p:sp>
      <p:sp>
        <p:nvSpPr>
          <p:cNvPr id="653" name="" descr="{&quot;isTemplate&quot;:true,&quot;type&quot;:&quot;text&quot;}"/>
          <p:cNvSpPr txBox="1"/>
          <p:nvPr/>
        </p:nvSpPr>
        <p:spPr>
          <a:xfrm rot="0" flipH="0" flipV="0">
            <a:off x="7000875" y="1819275"/>
            <a:ext cx="1990725" cy="161925"/>
          </a:xfrm>
          <a:prstGeom prst="rect"/>
        </p:spPr>
        <p:txBody>
          <a:bodyPr wrap="none" lIns="0" tIns="0" rIns="0" bIns="0"/>
          <a:p>
            <a:pPr>
              <a:lnSpc>
                <a:spcPct val="100000"/>
              </a:lnSpc>
            </a:pPr>
            <a:r>
              <a:rPr lang="en-US" sz="1013" b="1">
                <a:solidFill>
                  <a:srgbClr val="FBA15C"/>
                </a:solidFill>
                <a:latin typeface="Microsoft YaHei"/>
                <a:ea typeface="Microsoft YaHei"/>
              </a:rPr>
              <a:t>→ Agent</a:t>
            </a:r>
            <a:endParaRPr/>
          </a:p>
        </p:txBody>
      </p:sp>
      <p:sp>
        <p:nvSpPr>
          <p:cNvPr id="654" name="" descr="{&quot;isTemplate&quot;:true,&quot;type&quot;:&quot;text&quot;}"/>
          <p:cNvSpPr txBox="1"/>
          <p:nvPr/>
        </p:nvSpPr>
        <p:spPr>
          <a:xfrm rot="0" flipH="0" flipV="0">
            <a:off x="7000875" y="2038350"/>
            <a:ext cx="1990725" cy="180975"/>
          </a:xfrm>
          <a:prstGeom prst="rect"/>
        </p:spPr>
        <p:txBody>
          <a:bodyPr wrap="none" lIns="0" tIns="0" rIns="0" bIns="0"/>
          <a:p>
            <a:pPr>
              <a:lnSpc>
                <a:spcPct val="140000"/>
              </a:lnSpc>
            </a:pPr>
            <a:r>
              <a:rPr lang="zh-CN" sz="825">
                <a:solidFill>
                  <a:srgbClr val="FFFFFF"/>
                </a:solidFill>
                <a:latin typeface="Microsoft YaHei"/>
                <a:ea typeface="Microsoft YaHei"/>
              </a:rPr>
              <a:t>工具</a:t>
            </a:r>
            <a:r>
              <a:rPr lang="en-US" sz="825">
                <a:solidFill>
                  <a:srgbClr val="FFFFFF"/>
                </a:solidFill>
                <a:latin typeface="Microsoft YaHei"/>
                <a:ea typeface="Microsoft YaHei"/>
              </a:rPr>
              <a:t xml:space="preserve"> / </a:t>
            </a:r>
            <a:r>
              <a:rPr lang="zh-CN" sz="825">
                <a:solidFill>
                  <a:srgbClr val="FFFFFF"/>
                </a:solidFill>
                <a:latin typeface="Microsoft YaHei"/>
                <a:ea typeface="Microsoft YaHei"/>
              </a:rPr>
              <a:t>记忆</a:t>
            </a:r>
            <a:r>
              <a:rPr lang="en-US" sz="825">
                <a:solidFill>
                  <a:srgbClr val="FFFFFF"/>
                </a:solidFill>
                <a:latin typeface="Microsoft YaHei"/>
                <a:ea typeface="Microsoft YaHei"/>
              </a:rPr>
              <a:t xml:space="preserve"> / </a:t>
            </a:r>
            <a:r>
              <a:rPr lang="zh-CN" sz="825">
                <a:solidFill>
                  <a:srgbClr val="FFFFFF"/>
                </a:solidFill>
                <a:latin typeface="Microsoft YaHei"/>
                <a:ea typeface="Microsoft YaHei"/>
              </a:rPr>
              <a:t>遥测日志</a:t>
            </a:r>
            <a:endParaRPr/>
          </a:p>
        </p:txBody>
      </p:sp>
      <p:sp>
        <p:nvSpPr>
          <p:cNvPr id="655" name="" descr="{&quot;isTemplate&quot;:true,&quot;type&quot;:&quot;text&quot;}"/>
          <p:cNvSpPr txBox="1"/>
          <p:nvPr/>
        </p:nvSpPr>
        <p:spPr>
          <a:xfrm rot="0" flipH="0" flipV="0">
            <a:off x="7000875" y="2266950"/>
            <a:ext cx="1990725" cy="180975"/>
          </a:xfrm>
          <a:prstGeom prst="rect"/>
        </p:spPr>
        <p:txBody>
          <a:bodyPr wrap="none" lIns="0" tIns="0" rIns="0" bIns="0"/>
          <a:p>
            <a:pPr>
              <a:lnSpc>
                <a:spcPct val="140000"/>
              </a:lnSpc>
            </a:pPr>
            <a:r>
              <a:rPr lang="zh-CN" sz="825">
                <a:solidFill>
                  <a:srgbClr val="FFFFFF">
                    <a:alpha val="78000"/>
                  </a:srgbClr>
                </a:solidFill>
                <a:latin typeface="Microsoft YaHei"/>
                <a:ea typeface="Microsoft YaHei"/>
              </a:rPr>
              <a:t>出口策略</a:t>
            </a:r>
            <a:r>
              <a:rPr lang="en-US" sz="825">
                <a:solidFill>
                  <a:srgbClr val="FFFFFF">
                    <a:alpha val="78000"/>
                  </a:srgbClr>
                </a:solidFill>
                <a:latin typeface="Microsoft YaHei"/>
                <a:ea typeface="Microsoft YaHei"/>
              </a:rPr>
              <a:t xml:space="preserve"> + </a:t>
            </a:r>
            <a:r>
              <a:rPr lang="zh-CN" sz="825">
                <a:solidFill>
                  <a:srgbClr val="FFFFFF">
                    <a:alpha val="78000"/>
                  </a:srgbClr>
                </a:solidFill>
                <a:latin typeface="Microsoft YaHei"/>
                <a:ea typeface="Microsoft YaHei"/>
              </a:rPr>
              <a:t>记忆打标</a:t>
            </a:r>
            <a:r>
              <a:rPr lang="en-US" sz="825">
                <a:solidFill>
                  <a:srgbClr val="FFFFFF">
                    <a:alpha val="78000"/>
                  </a:srgbClr>
                </a:solidFill>
                <a:latin typeface="Microsoft YaHei"/>
                <a:ea typeface="Microsoft YaHei"/>
              </a:rPr>
              <a:t xml:space="preserve"> + </a:t>
            </a:r>
            <a:r>
              <a:rPr lang="zh-CN" sz="825">
                <a:solidFill>
                  <a:srgbClr val="FFFFFF">
                    <a:alpha val="78000"/>
                  </a:srgbClr>
                </a:solidFill>
                <a:latin typeface="Microsoft YaHei"/>
                <a:ea typeface="Microsoft YaHei"/>
              </a:rPr>
              <a:t>日志受管</a:t>
            </a:r>
            <a:endParaRPr/>
          </a:p>
        </p:txBody>
      </p:sp>
      <p:sp>
        <p:nvSpPr>
          <p:cNvPr id="656" name="" descr="{&quot;isTemplate&quot;:true,&quot;type&quot;:&quot;text&quot;}"/>
          <p:cNvSpPr txBox="1"/>
          <p:nvPr/>
        </p:nvSpPr>
        <p:spPr>
          <a:xfrm rot="0" flipH="0" flipV="0">
            <a:off x="7000875" y="2495550"/>
            <a:ext cx="1990725" cy="171450"/>
          </a:xfrm>
          <a:prstGeom prst="rect"/>
        </p:spPr>
        <p:txBody>
          <a:bodyPr wrap="none" lIns="0" tIns="0" rIns="0" bIns="0"/>
          <a:p>
            <a:pPr>
              <a:lnSpc>
                <a:spcPct val="140000"/>
              </a:lnSpc>
            </a:pPr>
            <a:r>
              <a:rPr lang="zh-CN" sz="788">
                <a:solidFill>
                  <a:srgbClr val="FBA15C"/>
                </a:solidFill>
                <a:latin typeface="Microsoft YaHei"/>
                <a:ea typeface="Microsoft YaHei"/>
              </a:rPr>
              <a:t>风险：</a:t>
            </a:r>
            <a:r>
              <a:rPr lang="zh-CN" sz="788">
                <a:solidFill>
                  <a:srgbClr val="FBA15C"/>
                </a:solidFill>
                <a:latin typeface="Microsoft YaHei"/>
                <a:ea typeface="Microsoft YaHei"/>
              </a:rPr>
              <a:t>动作被复制上万次</a:t>
            </a:r>
            <a:endParaRPr/>
          </a:p>
        </p:txBody>
      </p:sp>
      <p:sp>
        <p:nvSpPr>
          <p:cNvPr id="657" name="" descr="{&quot;isTemplate&quot;:true,&quot;type&quot;:&quot;text&quot;}"/>
          <p:cNvSpPr txBox="1"/>
          <p:nvPr/>
        </p:nvSpPr>
        <p:spPr>
          <a:xfrm rot="0" flipH="0" flipV="0">
            <a:off x="7000875" y="2695575"/>
            <a:ext cx="1990725" cy="171450"/>
          </a:xfrm>
          <a:prstGeom prst="rect"/>
        </p:spPr>
        <p:txBody>
          <a:bodyPr wrap="none" lIns="0" tIns="0" rIns="0" bIns="0"/>
          <a:p>
            <a:pPr>
              <a:lnSpc>
                <a:spcPct val="140000"/>
              </a:lnSpc>
            </a:pPr>
            <a:r>
              <a:rPr lang="zh-CN" sz="788">
                <a:solidFill>
                  <a:srgbClr val="FFFFFF">
                    <a:alpha val="72000"/>
                  </a:srgbClr>
                </a:solidFill>
                <a:latin typeface="Microsoft YaHei"/>
                <a:ea typeface="Microsoft YaHei"/>
              </a:rPr>
              <a:t>对策：</a:t>
            </a:r>
            <a:r>
              <a:rPr lang="zh-CN" sz="788">
                <a:solidFill>
                  <a:srgbClr val="FFFFFF">
                    <a:alpha val="72000"/>
                  </a:srgbClr>
                </a:solidFill>
                <a:latin typeface="Microsoft YaHei"/>
                <a:ea typeface="Microsoft YaHei"/>
              </a:rPr>
              <a:t>默认拒绝出口，白名单逐个放开</a:t>
            </a:r>
            <a:endParaRPr/>
          </a:p>
        </p:txBody>
      </p:sp>
      <p:sp>
        <p:nvSpPr>
          <p:cNvPr id="658" name=""/>
          <p:cNvSpPr/>
          <p:nvPr/>
        </p:nvSpPr>
        <p:spPr>
          <a:xfrm rot="0" flipH="0" flipV="0">
            <a:off x="9182100" y="1724025"/>
            <a:ext cx="2209800" cy="1609725"/>
          </a:xfrm>
          <a:prstGeom prst="roundRect">
            <a:avLst>
              <a:gd name="adj" fmla="val 1775"/>
            </a:avLst>
          </a:prstGeom>
          <a:solidFill>
            <a:srgbClr val="FFFFFF">
              <a:alpha val="7000"/>
            </a:srgbClr>
          </a:solidFill>
          <a:ln/>
        </p:spPr>
        <p:txBody>
          <a:bodyPr/>
          <a:p/>
        </p:txBody>
      </p:sp>
      <p:sp>
        <p:nvSpPr>
          <p:cNvPr id="659" name=""/>
          <p:cNvSpPr/>
          <p:nvPr/>
        </p:nvSpPr>
        <p:spPr>
          <a:xfrm rot="0" flipH="0" flipV="0">
            <a:off x="9182100" y="1724025"/>
            <a:ext cx="2209800" cy="1609725"/>
          </a:xfrm>
          <a:custGeom>
            <a:pathLst>
              <a:path w="232" h="169">
                <a:moveTo>
                  <a:pt x="229" y="0"/>
                </a:moveTo>
                <a:cubicBezTo>
                  <a:pt x="231" y="0"/>
                  <a:pt x="232" y="1"/>
                  <a:pt x="232" y="3"/>
                </a:cubicBezTo>
                <a:lnTo>
                  <a:pt x="0" y="3"/>
                </a:lnTo>
                <a:cubicBezTo>
                  <a:pt x="0" y="1"/>
                  <a:pt x="1" y="0"/>
                  <a:pt x="3" y="0"/>
                </a:cubicBezTo>
                <a:lnTo>
                  <a:pt x="229" y="0"/>
                </a:lnTo>
                <a:close/>
              </a:path>
            </a:pathLst>
          </a:custGeom>
          <a:solidFill>
            <a:srgbClr val="FBA15C"/>
          </a:solidFill>
          <a:ln/>
        </p:spPr>
        <p:txBody>
          <a:bodyPr/>
          <a:p/>
        </p:txBody>
      </p:sp>
      <p:sp>
        <p:nvSpPr>
          <p:cNvPr id="660" name="" descr="{&quot;isTemplate&quot;:true,&quot;type&quot;:&quot;text&quot;}"/>
          <p:cNvSpPr txBox="1"/>
          <p:nvPr/>
        </p:nvSpPr>
        <p:spPr>
          <a:xfrm rot="0" flipH="0" flipV="0">
            <a:off x="9296400" y="1819275"/>
            <a:ext cx="1981200" cy="161925"/>
          </a:xfrm>
          <a:prstGeom prst="rect"/>
        </p:spPr>
        <p:txBody>
          <a:bodyPr wrap="none" lIns="0" tIns="0" rIns="0" bIns="0"/>
          <a:p>
            <a:pPr>
              <a:lnSpc>
                <a:spcPct val="100000"/>
              </a:lnSpc>
            </a:pPr>
            <a:r>
              <a:rPr lang="en-US" sz="1013" b="1">
                <a:solidFill>
                  <a:srgbClr val="FBA15C"/>
                </a:solidFill>
                <a:latin typeface="Microsoft YaHei"/>
                <a:ea typeface="Microsoft YaHei"/>
              </a:rPr>
              <a:t xml:space="preserve">→ </a:t>
            </a:r>
            <a:r>
              <a:rPr lang="zh-CN" sz="1013" b="1">
                <a:solidFill>
                  <a:srgbClr val="FBA15C"/>
                </a:solidFill>
                <a:latin typeface="Microsoft YaHei"/>
                <a:ea typeface="Microsoft YaHei"/>
              </a:rPr>
              <a:t>本体</a:t>
            </a:r>
            <a:endParaRPr/>
          </a:p>
        </p:txBody>
      </p:sp>
      <p:sp>
        <p:nvSpPr>
          <p:cNvPr id="661" name="" descr="{&quot;isTemplate&quot;:true,&quot;type&quot;:&quot;text&quot;}"/>
          <p:cNvSpPr txBox="1"/>
          <p:nvPr/>
        </p:nvSpPr>
        <p:spPr>
          <a:xfrm rot="0" flipH="0" flipV="0">
            <a:off x="9296400" y="2038350"/>
            <a:ext cx="1981200" cy="180975"/>
          </a:xfrm>
          <a:prstGeom prst="rect"/>
        </p:spPr>
        <p:txBody>
          <a:bodyPr wrap="none" lIns="0" tIns="0" rIns="0" bIns="0"/>
          <a:p>
            <a:pPr>
              <a:lnSpc>
                <a:spcPct val="140000"/>
              </a:lnSpc>
            </a:pPr>
            <a:r>
              <a:rPr lang="zh-CN" sz="825">
                <a:solidFill>
                  <a:srgbClr val="FFFFFF"/>
                </a:solidFill>
                <a:latin typeface="Microsoft YaHei"/>
                <a:ea typeface="Microsoft YaHei"/>
              </a:rPr>
              <a:t>对象类型</a:t>
            </a:r>
            <a:r>
              <a:rPr lang="en-US" sz="825">
                <a:solidFill>
                  <a:srgbClr val="FFFFFF"/>
                </a:solidFill>
                <a:latin typeface="Microsoft YaHei"/>
                <a:ea typeface="Microsoft YaHei"/>
              </a:rPr>
              <a:t xml:space="preserve"> / </a:t>
            </a:r>
            <a:r>
              <a:rPr lang="zh-CN" sz="825">
                <a:solidFill>
                  <a:srgbClr val="FFFFFF"/>
                </a:solidFill>
                <a:latin typeface="Microsoft YaHei"/>
                <a:ea typeface="Microsoft YaHei"/>
              </a:rPr>
              <a:t>属性</a:t>
            </a:r>
            <a:r>
              <a:rPr lang="en-US" sz="825">
                <a:solidFill>
                  <a:srgbClr val="FFFFFF"/>
                </a:solidFill>
                <a:latin typeface="Microsoft YaHei"/>
                <a:ea typeface="Microsoft YaHei"/>
              </a:rPr>
              <a:t xml:space="preserve"> / </a:t>
            </a:r>
            <a:r>
              <a:rPr lang="zh-CN" sz="825">
                <a:solidFill>
                  <a:srgbClr val="FFFFFF"/>
                </a:solidFill>
                <a:latin typeface="Microsoft YaHei"/>
                <a:ea typeface="Microsoft YaHei"/>
              </a:rPr>
              <a:t>动作</a:t>
            </a:r>
            <a:endParaRPr/>
          </a:p>
        </p:txBody>
      </p:sp>
      <p:sp>
        <p:nvSpPr>
          <p:cNvPr id="662" name="" descr="{&quot;isTemplate&quot;:true,&quot;type&quot;:&quot;text&quot;}"/>
          <p:cNvSpPr txBox="1"/>
          <p:nvPr/>
        </p:nvSpPr>
        <p:spPr>
          <a:xfrm rot="0" flipH="0" flipV="0">
            <a:off x="9296400" y="2266950"/>
            <a:ext cx="1981200" cy="180975"/>
          </a:xfrm>
          <a:prstGeom prst="rect"/>
        </p:spPr>
        <p:txBody>
          <a:bodyPr wrap="none" lIns="0" tIns="0" rIns="0" bIns="0"/>
          <a:p>
            <a:pPr>
              <a:lnSpc>
                <a:spcPct val="140000"/>
              </a:lnSpc>
            </a:pPr>
            <a:r>
              <a:rPr lang="zh-CN" sz="825">
                <a:solidFill>
                  <a:srgbClr val="FFFFFF">
                    <a:alpha val="78000"/>
                  </a:srgbClr>
                </a:solidFill>
                <a:latin typeface="Microsoft YaHei"/>
                <a:ea typeface="Microsoft YaHei"/>
              </a:rPr>
              <a:t>策略对象内建为本体资源</a:t>
            </a:r>
            <a:endParaRPr/>
          </a:p>
        </p:txBody>
      </p:sp>
      <p:sp>
        <p:nvSpPr>
          <p:cNvPr id="663" name="" descr="{&quot;isTemplate&quot;:true,&quot;type&quot;:&quot;text&quot;}"/>
          <p:cNvSpPr txBox="1"/>
          <p:nvPr/>
        </p:nvSpPr>
        <p:spPr>
          <a:xfrm rot="0" flipH="0" flipV="0">
            <a:off x="9296400" y="2495550"/>
            <a:ext cx="1981200" cy="171450"/>
          </a:xfrm>
          <a:prstGeom prst="rect"/>
        </p:spPr>
        <p:txBody>
          <a:bodyPr wrap="none" lIns="0" tIns="0" rIns="0" bIns="0"/>
          <a:p>
            <a:pPr>
              <a:lnSpc>
                <a:spcPct val="140000"/>
              </a:lnSpc>
            </a:pPr>
            <a:r>
              <a:rPr lang="zh-CN" sz="788">
                <a:solidFill>
                  <a:srgbClr val="FBA15C"/>
                </a:solidFill>
                <a:latin typeface="Microsoft YaHei"/>
                <a:ea typeface="Microsoft YaHei"/>
              </a:rPr>
              <a:t>风险：</a:t>
            </a:r>
            <a:r>
              <a:rPr lang="zh-CN" sz="788">
                <a:solidFill>
                  <a:srgbClr val="FBA15C"/>
                </a:solidFill>
                <a:latin typeface="Microsoft YaHei"/>
                <a:ea typeface="Microsoft YaHei"/>
              </a:rPr>
              <a:t>策略外挂导致属性没人管</a:t>
            </a:r>
            <a:endParaRPr/>
          </a:p>
        </p:txBody>
      </p:sp>
      <p:sp>
        <p:nvSpPr>
          <p:cNvPr id="664" name="" descr="{&quot;isTemplate&quot;:true,&quot;type&quot;:&quot;text&quot;}"/>
          <p:cNvSpPr txBox="1"/>
          <p:nvPr/>
        </p:nvSpPr>
        <p:spPr>
          <a:xfrm rot="0" flipH="0" flipV="0">
            <a:off x="9296400" y="2695575"/>
            <a:ext cx="1981200" cy="171450"/>
          </a:xfrm>
          <a:prstGeom prst="rect"/>
        </p:spPr>
        <p:txBody>
          <a:bodyPr wrap="none" lIns="0" tIns="0" rIns="0" bIns="0"/>
          <a:p>
            <a:pPr>
              <a:lnSpc>
                <a:spcPct val="140000"/>
              </a:lnSpc>
            </a:pPr>
            <a:r>
              <a:rPr lang="zh-CN" sz="788">
                <a:solidFill>
                  <a:srgbClr val="FFFFFF">
                    <a:alpha val="72000"/>
                  </a:srgbClr>
                </a:solidFill>
                <a:latin typeface="Microsoft YaHei"/>
                <a:ea typeface="Microsoft YaHei"/>
              </a:rPr>
              <a:t>对策：</a:t>
            </a:r>
            <a:r>
              <a:rPr lang="zh-CN" sz="788">
                <a:solidFill>
                  <a:srgbClr val="FFFFFF">
                    <a:alpha val="72000"/>
                  </a:srgbClr>
                </a:solidFill>
                <a:latin typeface="Microsoft YaHei"/>
                <a:ea typeface="Microsoft YaHei"/>
              </a:rPr>
              <a:t>本体评审必答十个治理问题</a:t>
            </a:r>
            <a:endParaRPr/>
          </a:p>
        </p:txBody>
      </p:sp>
      <p:sp>
        <p:nvSpPr>
          <p:cNvPr id="665" name=""/>
          <p:cNvSpPr/>
          <p:nvPr/>
        </p:nvSpPr>
        <p:spPr>
          <a:xfrm rot="0" flipH="0" flipV="0">
            <a:off x="647700" y="3533775"/>
            <a:ext cx="5934075" cy="2105025"/>
          </a:xfrm>
          <a:prstGeom prst="roundRect">
            <a:avLst>
              <a:gd name="adj" fmla="val 1810"/>
            </a:avLst>
          </a:prstGeom>
          <a:solidFill>
            <a:srgbClr val="FFF3EE"/>
          </a:solidFill>
          <a:ln/>
        </p:spPr>
        <p:txBody>
          <a:bodyPr/>
          <a:p/>
        </p:txBody>
      </p:sp>
      <p:sp>
        <p:nvSpPr>
          <p:cNvPr id="666" name=""/>
          <p:cNvSpPr/>
          <p:nvPr/>
        </p:nvSpPr>
        <p:spPr>
          <a:xfrm rot="0" flipH="0" flipV="0">
            <a:off x="647700" y="3533775"/>
            <a:ext cx="5934075" cy="2105025"/>
          </a:xfrm>
          <a:custGeom>
            <a:pathLst>
              <a:path w="623" h="221">
                <a:moveTo>
                  <a:pt x="4" y="221"/>
                </a:moveTo>
                <a:cubicBezTo>
                  <a:pt x="2" y="221"/>
                  <a:pt x="0" y="219"/>
                  <a:pt x="0" y="217"/>
                </a:cubicBezTo>
                <a:lnTo>
                  <a:pt x="0" y="4"/>
                </a:lnTo>
                <a:cubicBezTo>
                  <a:pt x="0" y="2"/>
                  <a:pt x="2" y="0"/>
                  <a:pt x="4" y="0"/>
                </a:cubicBezTo>
                <a:lnTo>
                  <a:pt x="4" y="221"/>
                </a:lnTo>
                <a:close/>
              </a:path>
            </a:pathLst>
          </a:custGeom>
          <a:solidFill>
            <a:srgbClr val="FA4F24"/>
          </a:solidFill>
          <a:ln/>
        </p:spPr>
        <p:txBody>
          <a:bodyPr/>
          <a:p/>
        </p:txBody>
      </p:sp>
      <p:sp>
        <p:nvSpPr>
          <p:cNvPr id="667" name="" descr="{&quot;isTemplate&quot;:true,&quot;type&quot;:&quot;text&quot;}"/>
          <p:cNvSpPr txBox="1"/>
          <p:nvPr/>
        </p:nvSpPr>
        <p:spPr>
          <a:xfrm rot="0" flipH="0" flipV="0">
            <a:off x="809625" y="4000500"/>
            <a:ext cx="5572125" cy="161925"/>
          </a:xfrm>
          <a:prstGeom prst="rect"/>
        </p:spPr>
        <p:txBody>
          <a:bodyPr wrap="none" lIns="0" tIns="0" rIns="0" bIns="0"/>
          <a:p>
            <a:pPr>
              <a:lnSpc>
                <a:spcPct val="100000"/>
              </a:lnSpc>
            </a:pPr>
            <a:r>
              <a:rPr lang="zh-CN" sz="1050" b="1">
                <a:solidFill>
                  <a:srgbClr val="C43A17"/>
                </a:solidFill>
                <a:latin typeface="Microsoft YaHei"/>
                <a:ea typeface="Microsoft YaHei"/>
              </a:rPr>
              <a:t>治理的四条硬边界（不可协商）</a:t>
            </a:r>
            <a:endParaRPr/>
          </a:p>
        </p:txBody>
      </p:sp>
      <p:sp>
        <p:nvSpPr>
          <p:cNvPr id="668" name="" descr="{&quot;isTemplate&quot;:true,&quot;type&quot;:&quot;text&quot;}"/>
          <p:cNvSpPr txBox="1"/>
          <p:nvPr/>
        </p:nvSpPr>
        <p:spPr>
          <a:xfrm rot="0" flipH="0" flipV="0">
            <a:off x="809625" y="4229100"/>
            <a:ext cx="5572125" cy="200025"/>
          </a:xfrm>
          <a:prstGeom prst="rect"/>
        </p:spPr>
        <p:txBody>
          <a:bodyPr wrap="none" lIns="0" tIns="0" rIns="0" bIns="0"/>
          <a:p>
            <a:pPr>
              <a:lnSpc>
                <a:spcPct val="150000"/>
              </a:lnSpc>
            </a:pPr>
            <a:r>
              <a:rPr lang="zh-CN" sz="863">
                <a:solidFill>
                  <a:srgbClr val="3A4050"/>
                </a:solidFill>
                <a:latin typeface="Microsoft YaHei"/>
                <a:ea typeface="Microsoft YaHei"/>
              </a:rPr>
              <a:t>一、最小必要：个人数据的处理范围，不得超过达成合法结果所必需的界限，且必须与之相称。</a:t>
            </a:r>
            <a:endParaRPr/>
          </a:p>
        </p:txBody>
      </p:sp>
      <p:sp>
        <p:nvSpPr>
          <p:cNvPr id="669" name="" descr="{&quot;isTemplate&quot;:true,&quot;type&quot;:&quot;text&quot;}"/>
          <p:cNvSpPr txBox="1"/>
          <p:nvPr/>
        </p:nvSpPr>
        <p:spPr>
          <a:xfrm rot="0" flipH="0" flipV="0">
            <a:off x="809625" y="4476750"/>
            <a:ext cx="5572125" cy="200025"/>
          </a:xfrm>
          <a:prstGeom prst="rect"/>
        </p:spPr>
        <p:txBody>
          <a:bodyPr wrap="none" lIns="0" tIns="0" rIns="0" bIns="0"/>
          <a:p>
            <a:pPr>
              <a:lnSpc>
                <a:spcPct val="150000"/>
              </a:lnSpc>
            </a:pPr>
            <a:r>
              <a:rPr lang="zh-CN" sz="863">
                <a:solidFill>
                  <a:srgbClr val="3A4050"/>
                </a:solidFill>
                <a:latin typeface="Microsoft YaHei"/>
                <a:ea typeface="Microsoft YaHei"/>
              </a:rPr>
              <a:t>二、目的限定：只能用于收集时声明的目的，变更目的需要重新授权。</a:t>
            </a:r>
            <a:endParaRPr/>
          </a:p>
        </p:txBody>
      </p:sp>
      <p:sp>
        <p:nvSpPr>
          <p:cNvPr id="670" name="" descr="{&quot;isTemplate&quot;:true,&quot;type&quot;:&quot;text&quot;}"/>
          <p:cNvSpPr txBox="1"/>
          <p:nvPr/>
        </p:nvSpPr>
        <p:spPr>
          <a:xfrm rot="0" flipH="0" flipV="0">
            <a:off x="809625" y="4724400"/>
            <a:ext cx="5572125" cy="200025"/>
          </a:xfrm>
          <a:prstGeom prst="rect"/>
        </p:spPr>
        <p:txBody>
          <a:bodyPr wrap="none" lIns="0" tIns="0" rIns="0" bIns="0"/>
          <a:p>
            <a:pPr>
              <a:lnSpc>
                <a:spcPct val="150000"/>
              </a:lnSpc>
            </a:pPr>
            <a:r>
              <a:rPr lang="zh-CN" sz="863">
                <a:solidFill>
                  <a:srgbClr val="3A4050"/>
                </a:solidFill>
                <a:latin typeface="Microsoft YaHei"/>
                <a:ea typeface="Microsoft YaHei"/>
              </a:rPr>
              <a:t>三、只读优先：能只读提交就不要给写权限，能不落盘就不要落盘。</a:t>
            </a:r>
            <a:endParaRPr/>
          </a:p>
        </p:txBody>
      </p:sp>
      <p:sp>
        <p:nvSpPr>
          <p:cNvPr id="671" name="" descr="{&quot;isTemplate&quot;:true,&quot;type&quot;:&quot;text&quot;}"/>
          <p:cNvSpPr txBox="1"/>
          <p:nvPr/>
        </p:nvSpPr>
        <p:spPr>
          <a:xfrm rot="0" flipH="0" flipV="0">
            <a:off x="809625" y="4972050"/>
            <a:ext cx="5572125" cy="200025"/>
          </a:xfrm>
          <a:prstGeom prst="rect"/>
        </p:spPr>
        <p:txBody>
          <a:bodyPr wrap="none" lIns="0" tIns="0" rIns="0" bIns="0"/>
          <a:p>
            <a:pPr>
              <a:lnSpc>
                <a:spcPct val="150000"/>
              </a:lnSpc>
            </a:pPr>
            <a:r>
              <a:rPr lang="zh-CN" sz="863">
                <a:solidFill>
                  <a:srgbClr val="3A4050"/>
                </a:solidFill>
                <a:latin typeface="Microsoft YaHei"/>
                <a:ea typeface="Microsoft YaHei"/>
              </a:rPr>
              <a:t>四、全程留痕：谁、什么、为什么——审计必须能回答这三个问题，缺一不可。</a:t>
            </a:r>
            <a:endParaRPr/>
          </a:p>
        </p:txBody>
      </p:sp>
      <p:sp>
        <p:nvSpPr>
          <p:cNvPr id="672" name=""/>
          <p:cNvSpPr/>
          <p:nvPr/>
        </p:nvSpPr>
        <p:spPr>
          <a:xfrm rot="0" flipH="0" flipV="0">
            <a:off x="6638925" y="3533775"/>
            <a:ext cx="4943475" cy="2105025"/>
          </a:xfrm>
          <a:prstGeom prst="roundRect">
            <a:avLst>
              <a:gd name="adj" fmla="val 1810"/>
            </a:avLst>
          </a:prstGeom>
          <a:solidFill>
            <a:srgbClr val="F7F7F8"/>
          </a:solidFill>
          <a:ln/>
        </p:spPr>
        <p:txBody>
          <a:bodyPr/>
          <a:p/>
        </p:txBody>
      </p:sp>
      <p:sp>
        <p:nvSpPr>
          <p:cNvPr id="673" name="" descr="{&quot;isTemplate&quot;:true,&quot;type&quot;:&quot;text&quot;}"/>
          <p:cNvSpPr txBox="1"/>
          <p:nvPr/>
        </p:nvSpPr>
        <p:spPr>
          <a:xfrm rot="0" flipH="0" flipV="0">
            <a:off x="6800850" y="3924300"/>
            <a:ext cx="4619625" cy="161925"/>
          </a:xfrm>
          <a:prstGeom prst="rect"/>
        </p:spPr>
        <p:txBody>
          <a:bodyPr wrap="none" lIns="0" tIns="0" rIns="0" bIns="0"/>
          <a:p>
            <a:pPr>
              <a:lnSpc>
                <a:spcPct val="100000"/>
              </a:lnSpc>
            </a:pPr>
            <a:r>
              <a:rPr lang="zh-CN" sz="1050" b="1">
                <a:solidFill>
                  <a:srgbClr val="0F1423"/>
                </a:solidFill>
                <a:latin typeface="Microsoft YaHei"/>
                <a:ea typeface="Microsoft YaHei"/>
              </a:rPr>
              <a:t>推论：治理的对象是「动作」，不是「文件」</a:t>
            </a:r>
            <a:endParaRPr/>
          </a:p>
        </p:txBody>
      </p:sp>
      <p:sp>
        <p:nvSpPr>
          <p:cNvPr id="674" name="" descr="{&quot;isTemplate&quot;:true,&quot;type&quot;:&quot;text&quot;}"/>
          <p:cNvSpPr txBox="1"/>
          <p:nvPr/>
        </p:nvSpPr>
        <p:spPr>
          <a:xfrm rot="0" flipH="0" flipV="0">
            <a:off x="6800850" y="4152900"/>
            <a:ext cx="4619625" cy="619125"/>
          </a:xfrm>
          <a:prstGeom prst="rect"/>
        </p:spPr>
        <p:txBody>
          <a:bodyPr wrap="square" lIns="0" tIns="0" rIns="0" bIns="0">
            <a:normAutofit/>
          </a:bodyPr>
          <a:p>
            <a:pPr>
              <a:lnSpc>
                <a:spcPct val="155000"/>
              </a:lnSpc>
            </a:pPr>
            <a:r>
              <a:rPr lang="zh-CN" sz="863">
                <a:solidFill>
                  <a:srgbClr val="3A4050"/>
                </a:solidFill>
                <a:latin typeface="Microsoft YaHei"/>
                <a:ea typeface="Microsoft YaHei"/>
              </a:rPr>
              <a:t>一旦把治理对象从「文件」改成「动作」，全部设计都要重写：权限从按文件夹授权变成按用途审批，审计从「谁下载了这个文件」变成「谁以什么理由让系统做了这个动作」，标记从「贴标签」变成「随血缘与调用链传播」。</a:t>
            </a:r>
            <a:endParaRPr/>
          </a:p>
        </p:txBody>
      </p:sp>
      <p:sp>
        <p:nvSpPr>
          <p:cNvPr id="675" name="" descr="{&quot;isTemplate&quot;:true,&quot;type&quot;:&quot;text&quot;}"/>
          <p:cNvSpPr txBox="1"/>
          <p:nvPr/>
        </p:nvSpPr>
        <p:spPr>
          <a:xfrm rot="0" flipH="0" flipV="0">
            <a:off x="6800850" y="4838700"/>
            <a:ext cx="4619625" cy="409575"/>
          </a:xfrm>
          <a:prstGeom prst="rect"/>
        </p:spPr>
        <p:txBody>
          <a:bodyPr wrap="square" lIns="0" tIns="0" rIns="0" bIns="0">
            <a:normAutofit/>
          </a:bodyPr>
          <a:p>
            <a:pPr>
              <a:lnSpc>
                <a:spcPct val="155000"/>
              </a:lnSpc>
            </a:pPr>
            <a:r>
              <a:rPr lang="zh-CN" sz="863">
                <a:solidFill>
                  <a:srgbClr val="3A4050"/>
                </a:solidFill>
                <a:latin typeface="Microsoft YaHei"/>
                <a:ea typeface="Microsoft YaHei"/>
              </a:rPr>
              <a:t>这也是为什么数据治理不能只交给安全团队——它变成了业务流程的一部分，必须由业务、数据、安全三方共同定义。</a:t>
            </a:r>
            <a:endParaRPr/>
          </a:p>
        </p:txBody>
      </p:sp>
      <p:sp>
        <p:nvSpPr>
          <p:cNvPr id="676"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677" name=""/>
          <p:cNvSpPr/>
          <p:nvPr/>
        </p:nvSpPr>
        <p:spPr>
          <a:xfrm rot="0" flipH="0" flipV="0">
            <a:off x="609600" y="5953125"/>
            <a:ext cx="95250" cy="95250"/>
          </a:xfrm>
          <a:prstGeom prst="rect">
            <a:avLst/>
          </a:prstGeom>
          <a:solidFill>
            <a:srgbClr val="FA4F24"/>
          </a:solidFill>
          <a:ln/>
        </p:spPr>
        <p:txBody>
          <a:bodyPr/>
          <a:p/>
        </p:txBody>
      </p:sp>
      <p:sp>
        <p:nvSpPr>
          <p:cNvPr id="678"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679"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22 / 30</a:t>
            </a:r>
            <a:endParaRPr/>
          </a:p>
        </p:txBody>
      </p:sp>
    </p:spTree>
  </p:cSld>
</p:sld>
</file>

<file path=ppt/slides/slide23.xml><?xml version="1.0" encoding="utf-8"?>
<p:sld xmlns:p="http://schemas.openxmlformats.org/presentationml/2006/main" xmlns:a="http://schemas.openxmlformats.org/drawingml/2006/main">
  <p:cSld>
    <p:spTree>
      <p:nvGrpSpPr>
        <p:cNvPr id="680" name="" descr="&lt;Slide style={{ width: 1280, height: 720, background: '#0F1423' }}&gt;&#13;&#10;  &lt;Box style={{ position: 'absolute', left: 0, top: 0, width: 1280, height: 720, background: 'linear-gradient(135deg, #0F1423 0%, #2A1810 100%)' }} /&gt;&#13;&#10;  &lt;Box style={{ position: 'absolute', right: 0, top: 0, width: 560, height: 720, background: 'linear-gradient(200deg, rgba(250,79,36,0.28) 0%, rgba(250,79,36,0) 70%)' }} /&gt;&#13;&#10;&#13;&#10;  &lt;Box style={{ position: 'absolute', right: 70, top: 110 }}&gt;&#13;&#10;    &lt;Text style={{ fontSize: 300, fontWeight: 'bold', color: 'rgba(255,255,255,0.08)', lineHeight: 1.0 }}&gt;04&lt;/Text&gt;&#13;&#10;  &lt;/Box&gt;&#13;&#10;&#13;&#10;  &lt;Box style={{ position: 'absolute', left: 88, top: 232, width: 700, flexDirection: 'column' }}&gt;&#13;&#10;    &lt;Text style={{ fontSize: 15, color: 'rgba(255,255,255,0.5)', letterSpacing: 3 }}&gt;PART 04&lt;/Text&gt;&#13;&#10;    &lt;Box style={{ width: 72, height: 5, background: '#FA4F24', marginTop: 22 }} /&gt;&#13;&#10;    &lt;Text style={{ fontSize: 52, fontWeight: 'bold', color: '#FFFFFF', marginTop: 28, lineHeight: 1.15 }}&gt;回到 4A&lt;/Text&gt;&#13;&#10;    &lt;Text style={{ fontSize: 17, color: 'rgba(255,255,255,0.62)', letterSpacing: 2, marginTop: 20 }}&gt;GOVERNANCE AS A BUSINESS APPLICATION&lt;/Text&gt;&#13;&#10;    &lt;Text style={{ fontSize: 19, color: 'rgba(255,255,255,0.85)', marginTop: 26, lineHeight: 1.6 }}&gt;治理也有自己的 BA / DA / AA / TA，也有成熟度、失效与评审&lt;/Text&gt;&#13;&#10;  &lt;/Box&gt;&#13;&#10;&#13;&#10;  &lt;Box style={{ position: 'absolute', right: 88, bottom: 64, flexDirection: 'row', alignItems: 'center', gap: 12 }}&gt;&#13;&#10;    &lt;Box style={{ width: 14, height: 14, background: '#FA4F24' }} /&gt;&#13;&#10;    &lt;Text style={{ fontSize: 14, color: 'rgba(255,255,255,0.5)' }}&gt;硕磐机密 · 数据治理咨询方法论&lt;/Text&gt;&#13;&#10;    &lt;Text style={{ fontSize: 14, color: 'rgba(255,255,255,0.5)', marginLeft: 12 }}&gt;23 / 30&lt;/Text&gt;&#13;&#10;  &lt;/Box&gt;&#13;&#10;&lt;/Slide&gt;&#13;&#10;"/>
        <p:cNvGrpSpPr/>
        <p:nvPr/>
      </p:nvGrpSpPr>
      <p:grpSpPr>
        <a:xfrm>
          <a:off x="0" y="0"/>
          <a:ext cx="0" cy="0"/>
          <a:chOff x="0" y="0"/>
          <a:chExt cx="0" cy="0"/>
        </a:xfrm>
      </p:grpSpPr>
      <p:sp>
        <p:nvSpPr>
          <p:cNvPr id="681" name=""/>
          <p:cNvSpPr/>
          <p:nvPr/>
        </p:nvSpPr>
        <p:spPr>
          <a:xfrm rot="0" flipH="0" flipV="0">
            <a:off x="0" y="0"/>
            <a:ext cx="12192000" cy="6858000"/>
          </a:xfrm>
          <a:prstGeom prst="rect">
            <a:avLst/>
          </a:prstGeom>
          <a:solidFill>
            <a:srgbClr val="0F1423"/>
          </a:solidFill>
          <a:ln/>
        </p:spPr>
        <p:txBody>
          <a:bodyPr/>
          <a:p/>
        </p:txBody>
      </p:sp>
      <p:sp>
        <p:nvSpPr>
          <p:cNvPr id="682"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p:txBody>
      </p:sp>
      <p:sp>
        <p:nvSpPr>
          <p:cNvPr id="683" name=""/>
          <p:cNvSpPr/>
          <p:nvPr/>
        </p:nvSpPr>
        <p:spPr>
          <a:xfrm rot="0" flipH="0" flipV="0">
            <a:off x="6858000" y="0"/>
            <a:ext cx="5334000" cy="6858000"/>
          </a:xfrm>
          <a:prstGeom prst="rect">
            <a:avLst/>
          </a:prstGeom>
          <a:gradFill>
            <a:gsLst>
              <a:gs pos="0">
                <a:srgbClr val="FA4F24">
                  <a:alpha val="28000"/>
                </a:srgbClr>
              </a:gs>
              <a:gs pos="70000">
                <a:srgbClr val="FA4F24">
                  <a:alpha val="0"/>
                </a:srgbClr>
              </a:gs>
            </a:gsLst>
            <a:lin ang="6600000" scaled="1"/>
          </a:gradFill>
          <a:ln/>
        </p:spPr>
        <p:txBody>
          <a:bodyPr/>
          <a:p/>
        </p:txBody>
      </p:sp>
      <p:sp>
        <p:nvSpPr>
          <p:cNvPr id="684" name="" descr="{&quot;isTemplate&quot;:true,&quot;type&quot;:&quot;text&quot;}"/>
          <p:cNvSpPr txBox="1"/>
          <p:nvPr/>
        </p:nvSpPr>
        <p:spPr>
          <a:xfrm rot="0" flipH="0" flipV="0">
            <a:off x="7991475" y="1047750"/>
            <a:ext cx="3533775" cy="3429000"/>
          </a:xfrm>
          <a:prstGeom prst="rect"/>
        </p:spPr>
        <p:txBody>
          <a:bodyPr wrap="none" lIns="0" tIns="0" rIns="0" bIns="0"/>
          <a:p>
            <a:pPr>
              <a:lnSpc>
                <a:spcPct val="100000"/>
              </a:lnSpc>
            </a:pPr>
            <a:r>
              <a:rPr lang="en-US" sz="22500" b="1">
                <a:solidFill>
                  <a:srgbClr val="FFFFFF">
                    <a:alpha val="8000"/>
                  </a:srgbClr>
                </a:solidFill>
                <a:latin typeface="Microsoft YaHei"/>
                <a:ea typeface="Microsoft YaHei"/>
              </a:rPr>
              <a:t>04</a:t>
            </a:r>
            <a:endParaRPr/>
          </a:p>
        </p:txBody>
      </p:sp>
      <p:sp>
        <p:nvSpPr>
          <p:cNvPr id="685" name="" descr="{&quot;isTemplate&quot;:true,&quot;type&quot;:&quot;text&quot;}"/>
          <p:cNvSpPr txBox="1"/>
          <p:nvPr/>
        </p:nvSpPr>
        <p:spPr>
          <a:xfrm rot="0" flipH="0" flipV="0">
            <a:off x="838200" y="2209800"/>
            <a:ext cx="666750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PART 04</a:t>
            </a:r>
            <a:endParaRPr/>
          </a:p>
        </p:txBody>
      </p:sp>
      <p:sp>
        <p:nvSpPr>
          <p:cNvPr id="686" name=""/>
          <p:cNvSpPr/>
          <p:nvPr/>
        </p:nvSpPr>
        <p:spPr>
          <a:xfrm rot="0" flipH="0" flipV="0">
            <a:off x="838200" y="2590800"/>
            <a:ext cx="685800" cy="47625"/>
          </a:xfrm>
          <a:prstGeom prst="rect">
            <a:avLst/>
          </a:prstGeom>
          <a:solidFill>
            <a:srgbClr val="FA4F24"/>
          </a:solidFill>
          <a:ln/>
        </p:spPr>
        <p:txBody>
          <a:bodyPr/>
          <a:p/>
        </p:txBody>
      </p:sp>
      <p:sp>
        <p:nvSpPr>
          <p:cNvPr id="687" name="" descr="{&quot;isTemplate&quot;:true,&quot;type&quot;:&quot;text&quot;}"/>
          <p:cNvSpPr txBox="1"/>
          <p:nvPr/>
        </p:nvSpPr>
        <p:spPr>
          <a:xfrm rot="0" flipH="0" flipV="0">
            <a:off x="838200" y="2905125"/>
            <a:ext cx="6667500" cy="685800"/>
          </a:xfrm>
          <a:prstGeom prst="rect"/>
        </p:spPr>
        <p:txBody>
          <a:bodyPr wrap="none" lIns="0" tIns="0" rIns="0" bIns="0"/>
          <a:p>
            <a:pPr>
              <a:lnSpc>
                <a:spcPct val="114999"/>
              </a:lnSpc>
            </a:pPr>
            <a:r>
              <a:rPr lang="zh-CN" sz="3900" b="1">
                <a:solidFill>
                  <a:srgbClr val="FFFFFF"/>
                </a:solidFill>
                <a:latin typeface="Microsoft YaHei"/>
                <a:ea typeface="Microsoft YaHei"/>
              </a:rPr>
              <a:t>回到</a:t>
            </a:r>
            <a:r>
              <a:rPr lang="en-US" sz="3900" b="1">
                <a:solidFill>
                  <a:srgbClr val="FFFFFF"/>
                </a:solidFill>
                <a:latin typeface="Microsoft YaHei"/>
                <a:ea typeface="Microsoft YaHei"/>
              </a:rPr>
              <a:t xml:space="preserve"> 4A</a:t>
            </a:r>
            <a:endParaRPr/>
          </a:p>
        </p:txBody>
      </p:sp>
      <p:sp>
        <p:nvSpPr>
          <p:cNvPr id="688" name="" descr="{&quot;isTemplate&quot;:true,&quot;type&quot;:&quot;text&quot;}"/>
          <p:cNvSpPr txBox="1"/>
          <p:nvPr/>
        </p:nvSpPr>
        <p:spPr>
          <a:xfrm rot="0" flipH="0" flipV="0">
            <a:off x="838200" y="3781425"/>
            <a:ext cx="6667500" cy="200025"/>
          </a:xfrm>
          <a:prstGeom prst="rect"/>
        </p:spPr>
        <p:txBody>
          <a:bodyPr wrap="none" lIns="0" tIns="0" rIns="0" bIns="0"/>
          <a:p>
            <a:pPr>
              <a:lnSpc>
                <a:spcPct val="100000"/>
              </a:lnSpc>
            </a:pPr>
            <a:r>
              <a:rPr lang="en-US" sz="1275" spc="150">
                <a:solidFill>
                  <a:srgbClr val="FFFFFF">
                    <a:alpha val="62000"/>
                  </a:srgbClr>
                </a:solidFill>
                <a:latin typeface="Microsoft YaHei"/>
                <a:ea typeface="Microsoft YaHei"/>
              </a:rPr>
              <a:t>GOVERNANCE AS A BUSINESS APPLICATION</a:t>
            </a:r>
            <a:endParaRPr/>
          </a:p>
        </p:txBody>
      </p:sp>
      <p:sp>
        <p:nvSpPr>
          <p:cNvPr id="689" name="" descr="{&quot;isTemplate&quot;:true,&quot;type&quot;:&quot;text&quot;}"/>
          <p:cNvSpPr txBox="1"/>
          <p:nvPr/>
        </p:nvSpPr>
        <p:spPr>
          <a:xfrm rot="0" flipH="0" flipV="0">
            <a:off x="838200" y="4229100"/>
            <a:ext cx="6667500" cy="352425"/>
          </a:xfrm>
          <a:prstGeom prst="rect"/>
        </p:spPr>
        <p:txBody>
          <a:bodyPr wrap="none" lIns="0" tIns="0" rIns="0" bIns="0"/>
          <a:p>
            <a:pPr>
              <a:lnSpc>
                <a:spcPct val="160000"/>
              </a:lnSpc>
            </a:pPr>
            <a:r>
              <a:rPr lang="zh-CN" sz="1425">
                <a:solidFill>
                  <a:srgbClr val="FFFFFF">
                    <a:alpha val="85000"/>
                  </a:srgbClr>
                </a:solidFill>
                <a:latin typeface="Microsoft YaHei"/>
                <a:ea typeface="Microsoft YaHei"/>
              </a:rPr>
              <a:t>治理也有自己的</a:t>
            </a:r>
            <a:r>
              <a:rPr lang="en-US" sz="1425">
                <a:solidFill>
                  <a:srgbClr val="FFFFFF">
                    <a:alpha val="85000"/>
                  </a:srgbClr>
                </a:solidFill>
                <a:latin typeface="Microsoft YaHei"/>
                <a:ea typeface="Microsoft YaHei"/>
              </a:rPr>
              <a:t xml:space="preserve"> BA / DA / AA / TA</a:t>
            </a:r>
            <a:r>
              <a:rPr lang="zh-CN" sz="1425">
                <a:solidFill>
                  <a:srgbClr val="FFFFFF">
                    <a:alpha val="85000"/>
                  </a:srgbClr>
                </a:solidFill>
                <a:latin typeface="Microsoft YaHei"/>
                <a:ea typeface="Microsoft YaHei"/>
              </a:rPr>
              <a:t>，也有成熟度、失效与评审</a:t>
            </a:r>
            <a:endParaRPr/>
          </a:p>
        </p:txBody>
      </p:sp>
      <p:sp>
        <p:nvSpPr>
          <p:cNvPr id="690" name=""/>
          <p:cNvSpPr/>
          <p:nvPr/>
        </p:nvSpPr>
        <p:spPr>
          <a:xfrm rot="0" flipH="0" flipV="0">
            <a:off x="8572500" y="6105525"/>
            <a:ext cx="133350" cy="133350"/>
          </a:xfrm>
          <a:prstGeom prst="rect">
            <a:avLst/>
          </a:prstGeom>
          <a:solidFill>
            <a:srgbClr val="FA4F24"/>
          </a:solidFill>
          <a:ln/>
        </p:spPr>
        <p:txBody>
          <a:bodyPr/>
          <a:p/>
        </p:txBody>
      </p:sp>
      <p:sp>
        <p:nvSpPr>
          <p:cNvPr id="691" name="" descr="{&quot;isTemplate&quot;:true,&quot;type&quot;:&quot;text&quot;}"/>
          <p:cNvSpPr txBox="1"/>
          <p:nvPr/>
        </p:nvSpPr>
        <p:spPr>
          <a:xfrm rot="0" flipH="0" flipV="0">
            <a:off x="8820150" y="6086475"/>
            <a:ext cx="184785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a:t>
            </a:r>
            <a:r>
              <a:rPr lang="zh-CN" sz="1050">
                <a:solidFill>
                  <a:srgbClr val="FFFFFF">
                    <a:alpha val="50000"/>
                  </a:srgbClr>
                </a:solidFill>
                <a:latin typeface="Microsoft YaHei"/>
                <a:ea typeface="Microsoft YaHei"/>
              </a:rPr>
              <a:t>数据治理咨询方法论</a:t>
            </a:r>
            <a:endParaRPr/>
          </a:p>
        </p:txBody>
      </p:sp>
      <p:sp>
        <p:nvSpPr>
          <p:cNvPr id="692" name="" descr="{&quot;isTemplate&quot;:true,&quot;type&quot;:&quot;text&quot;}"/>
          <p:cNvSpPr txBox="1"/>
          <p:nvPr/>
        </p:nvSpPr>
        <p:spPr>
          <a:xfrm rot="0" flipH="0" flipV="0">
            <a:off x="10896600" y="60864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23 / 30</a:t>
            </a:r>
            <a:endParaRPr/>
          </a:p>
        </p:txBody>
      </p:sp>
    </p:spTree>
  </p:cSld>
</p:sld>
</file>

<file path=ppt/slides/slide24.xml><?xml version="1.0" encoding="utf-8"?>
<p:sld xmlns:p="http://schemas.openxmlformats.org/presentationml/2006/main" xmlns:a="http://schemas.openxmlformats.org/drawingml/2006/main">
  <p:cSld>
    <p:spTree>
      <p:nvGrpSpPr>
        <p:cNvPr id="693" name="" descr="&lt;Slide style={{ width: 1280, height: 720, background: '#FFFFFF', padding: '24px 64px 0' }}&gt;&#10;  &lt;Box style={{ height: 96, flexDirection: 'column', justifyContent: 'flex-start' }}&gt;&#10;    &lt;Text style={{ fontSize: 32, fontWeight: 'bold', color: '#0F1423' }}&gt;&#10;      数据治理的 4A 映射总览：把治理当成一个业务应用来设计&#10;    &lt;/Text&gt;&#10;    &lt;Text style={{ fontSize: 20, color: '#8A8F99', marginTop: 8 }}&gt;&#10;      它同样有业务对象、有组织、有应用、有技术底座，只是每一层都被治理这件事重新洗了一遍&#10;    &lt;/Text&gt;&#10;  &lt;/Box&gt;&#10;  &lt;Box style={{ height: 1, background: '#E8E8E8' }} /&gt;&#10;&#10;  &lt;Box style={{ paddingTop: 14, paddingBottom: 8, height: 479, flexDirection: 'column', gap: 10 }}&gt;&#10;    &lt;Box style={{ flex: 1, flexDirection: 'row', gap: 10 }}&gt;&#10;      &lt;Box style={{ flex: 1, background: '#F7F7F8', borderRadius: 4, padding: '13px 15px', flexDirection: 'column', borderTop: '4px solid #FA4F24' }}&gt;&#10;        &lt;Text style={{ fontSize: 15, fontWeight: 'bold', color: '#0F1423' }}&gt;BA 业务架构&lt;/Text&gt;&#10;        &lt;Text style={{ fontSize: 11, color: '#FA4F24', marginTop: 3 }}&gt;谁裁定 · 谁审批 · 谁担责&lt;/Text&gt;&#10;        &lt;Box style={{ flex: 1, marginTop: 9, flexDirection: 'column', gap: 5 }}&gt;&#10;          {[&#10;            '数据所有者：定义密级与用途',&#10;            '数据管理员：日常维护与打标',&#10;            '合规官：审批降级与放行',&#10;            '审批人：提案的第二人复核',&#10;            '使用人：只在授权范围内消费',&#10;          ].map((t) =&gt; (&#10;            &lt;Text key={t} style={{ fontSize: 11.5, color: '#3A4050', lineHeight: 1.45 }}&gt;· {t}&lt;/Text&gt;&#10;          ))}&#10;        &lt;/Box&gt;&#10;        &lt;Box style={{ marginTop: 8, background: '#FFFFFF', borderRadius: 3, padding: '7px 9px' }}&gt;&#10;          &lt;Text style={{ fontSize: 10.5, color: '#3A4050', lineHeight: 1.4 }}&gt;&#10;            特殊之处：治理是&lt;tspan style={{ fontWeight: 'bold', color: '#C43A17' }}&gt;唯一必须四方齐备&lt;/tspan&gt;的4A 实践点——少了担责方，策略就只是配置。&#10;          &lt;/Text&gt;&#10;        &lt;/Box&gt;&#10;      &lt;/Box&gt;&#10;&#10;      &lt;Box style={{ flex: 1, background: '#F7F7F8', borderRadius: 4, padding: '13px 15px', flexDirection: 'column', borderTop: '4px solid #FA4F24' }}&gt;&#10;        &lt;Text style={{ fontSize: 15, fontWeight: 'bold', color: '#0F1423' }}&gt;DA 数据架构&lt;/Text&gt;&#10;        &lt;Text style={{ fontSize: 11, color: '#FA4F24', marginTop: 3 }}&gt;治理元数据模型&lt;/Text&gt;&#10;        &lt;Box style={{ flex: 1, marginTop: 9, flexDirection: 'column', gap: 5 }}&gt;&#10;          {[&#10;            '标记类别表（不可删、不可改类）',&#10;            '属性安全策略表（行级+列级）',&#10;            '血缘与版本表（主动采集）',&#10;            '动作日志表（谁、什么、为什么）',&#10;            '提案与审批状态表',&#10;            '降级与撤回事件表',&#10;          ].map((t) =&gt; (&#10;            &lt;Text key={t} style={{ fontSize: 11.5, color: '#3A4050', lineHeight: 1.45 }}&gt;· {t}&lt;/Text&gt;&#10;          ))}&#10;        &lt;/Box&gt;&#10;        &lt;Box style={{ marginTop: 8, background: '#FFFFFF', borderRadius: 3, padding: '7px 9px' }}&gt;&#10;          &lt;Text style={{ fontSize: 10.5, color: '#3A4050', lineHeight: 1.4 }}&gt;&#10;            特殊之处：血缘必须是&lt;tspan style={{ fontWeight: 'bold', color: '#C43A17' }}&gt;主动元数据&lt;/tspan&gt;，靠爬虫补的血缘永远滞后于现实。&#10;          &lt;/Text&gt;&#10;        &lt;/Box&gt;&#10;      &lt;/Box&gt;&#10;&#10;      &lt;Box style={{ flex: 1, background: '#F7F7F8', borderRadius: 4, padding: '13px 15px', flexDirection: 'column', borderTop: '4px solid #FA4F24' }}&gt;&#10;        &lt;Text style={{ fontSize: 15, fontWeight: 'bold', color: '#0F1423' }}&gt;AA 应用架构&lt;/Text&gt;&#10;        &lt;Text style={{ fontSize: 11, color: '#FA4F24', marginTop: 3 }}&gt;策略即应用 · 编排含审批&lt;/Text&gt;&#10;        &lt;Box style={{ flex: 1, marginTop: 9, flexDirection: 'column', gap: 5 }}&gt;&#10;          {[&#10;            '数据目录：治理成果的可见面',&#10;            '健康检查：范围型监控 + 告警',&#10;            'Linter：反模式识别与责任人分派',&#10;            '提案与审批工作流',&#10;            '检查点（Checkpoints）：用途控制',&#10;            'Agent 出口策略控制台',&#10;          ].map((t) =&gt; (&#10;            &lt;Text key={t} style={{ fontSize: 11.5, color: '#3A4050', lineHeight: 1.45 }}&gt;· {t}&lt;/Text&gt;&#10;          ))}&#10;        &lt;/Box&gt;&#10;        &lt;Box style={{ marginTop: 8, background: '#FFFFFF', borderRadius: 3, padding: '7px 9px' }}&gt;&#10;          &lt;Text style={{ fontSize: 10.5, color: '#3A4050', lineHeight: 1.4 }}&gt;&#10;            特殊之处：审批是&lt;tspan style={{ fontWeight: 'bold', color: '#C43A17' }}&gt;应用节点&lt;/tspan&gt;，不是邮件。PBAC 主动模式会挂起任务等人批。&#10;          &lt;/Text&gt;&#10;        &lt;/Box&gt;&#10;      &lt;/Box&gt;&#10;&#10;      &lt;Box style={{ flex: 1, background: '#0F1423', borderRadius: 4, padding: '13px 15px', flexDirection: 'column', borderTop: '4px solid #FBA15C' }}&gt;&#10;        &lt;Text style={{ fontSize: 15, fontWeight: 'bold', color: '#FFFFFF' }}&gt;TA 技术架构&lt;/Text&gt;&#10;        &lt;Text style={{ fontSize: 11, color: '#FBA15C', marginTop: 3 }}&gt;策略即代码 · 审计不可篡改&lt;/Text&gt;&#10;        &lt;Box style={{ flex: 1, marginTop: 9, flexDirection: 'column', gap: 5 }}&gt;&#10;          {[&#10;            '策略执行引擎（四种控制融合）',&#10;            '功能性加密服务（Cipher）',&#10;            '不可篡改审计存储（Action Log）',&#10;            '策略即代码仓库与版本化',&#10;            '精确策略比较引擎（上限 10,000）',&#10;            '密级计算与降级网关',&#10;          ].map((t) =&gt; (&#10;            &lt;Text key={t} style={{ fontSize: 11.5, color: 'rgba(255,255,255,0.82)', lineHeight: 1.45 }}&gt;· {t}&lt;/Text&gt;&#10;          ))}&#10;        &lt;/Box&gt;&#10;        &lt;Box style={{ marginTop: 8, background: 'rgba(250,79,36,0.18)', borderRadius: 3, padding: '7px 9px' }}&gt;&#10;          &lt;Text style={{ fontSize: 10.5, color: 'rgba(255,255,255,0.9)', lineHeight: 1.4 }}&gt;&#10;            特殊之处：策略引擎是热路径，必须&lt;tspan style={{ fontWeight: 'bold', color: '#FBA15C' }}&gt;可解释、可回放、可回滚&lt;/tspan&gt;。&#10;          &lt;/Text&gt;&#10;        &lt;/Box&gt;&#10;      &lt;/Box&gt;&#10;    &lt;/Box&gt;&#10;&#10;    &lt;Box style={{ height: 142, background: '#FFF3EE', borderRadius: 4, borderLeft: '4px solid #FA4F24', padding: '12px 18px', flexDirection: 'row', alignItems: 'center', gap: 14 }}&gt;&#10;      &lt;Text style={{ fontSize: 14, fontWeight: 'bold', color: '#C43A17' }}&gt;数据治理的四个「特有之处」&lt;/Text&gt;&#10;      &lt;Box style={{ width: 1, height: 62, background: '#FBA15C' }} /&gt;&#10;      {[&#10;        { t: '治理对象是策略本身', d: '管的是谁能用、干什么、谁担责' },&#10;        { t: '失败是静默的', d: '越权不报错，审计是唯一检出手段' },&#10;        { t: '必须可退', d: '密级只能升不能降是假治理' },&#10;        { t: 'AI 多了一层对象', d: '工具、记忆、遥测日志都受管' },&#10;      ].map((x) =&gt; (&#10;        &lt;Box key={x.t} style={{ flex: 1, background: '#FFFFFF', borderRadius: 3, padding: '9px 11px' }}&gt;&#10;          &lt;Text style={{ fontSize: 12, fontWeight: 'bold', color: '#0F1423' }}&gt;{x.t}&lt;/Text&gt;&#10;          &lt;Text style={{ fontSize: 10.5, color: '#3A4050', marginTop: 4, lineHeight: 1.4 }}&gt;{x.d}&lt;/Text&gt;&#10;        &lt;/Box&gt;&#10;      ))}&#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24 / 30&lt;/Text&gt;&#10;  &lt;/Box&gt;&#10;&lt;/Slide&gt;"/>
        <p:cNvGrpSpPr/>
        <p:nvPr/>
      </p:nvGrpSpPr>
      <p:grpSpPr>
        <a:xfrm>
          <a:off x="0" y="0"/>
          <a:ext cx="0" cy="0"/>
          <a:chOff x="0" y="0"/>
          <a:chExt cx="0" cy="0"/>
        </a:xfrm>
      </p:grpSpPr>
      <p:sp>
        <p:nvSpPr>
          <p:cNvPr id="694" name=""/>
          <p:cNvSpPr/>
          <p:nvPr/>
        </p:nvSpPr>
        <p:spPr>
          <a:xfrm rot="0" flipH="0" flipV="0">
            <a:off x="0" y="0"/>
            <a:ext cx="12192000" cy="6858000"/>
          </a:xfrm>
          <a:prstGeom prst="rect">
            <a:avLst/>
          </a:prstGeom>
          <a:solidFill>
            <a:srgbClr val="FFFFFF"/>
          </a:solidFill>
          <a:ln/>
        </p:spPr>
        <p:txBody>
          <a:bodyPr/>
          <a:p/>
        </p:txBody>
      </p:sp>
      <p:sp>
        <p:nvSpPr>
          <p:cNvPr id="695"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数据治理的</a:t>
            </a:r>
            <a:r>
              <a:rPr lang="en-US" sz="2400" b="1">
                <a:solidFill>
                  <a:srgbClr val="0F1423"/>
                </a:solidFill>
                <a:latin typeface="Microsoft YaHei"/>
                <a:ea typeface="Microsoft YaHei"/>
              </a:rPr>
              <a:t xml:space="preserve"> 4A </a:t>
            </a:r>
            <a:r>
              <a:rPr lang="zh-CN" sz="2400" b="1">
                <a:solidFill>
                  <a:srgbClr val="0F1423"/>
                </a:solidFill>
                <a:latin typeface="Microsoft YaHei"/>
                <a:ea typeface="Microsoft YaHei"/>
              </a:rPr>
              <a:t>映射总览：把治理当成一个业务应用来设计</a:t>
            </a:r>
            <a:endParaRPr/>
          </a:p>
        </p:txBody>
      </p:sp>
      <p:sp>
        <p:nvSpPr>
          <p:cNvPr id="696"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它同样有业务对象、有组织、有应用、有技术底座，只是每一层都被治理这件事重新洗了一遍</a:t>
            </a:r>
            <a:endParaRPr/>
          </a:p>
        </p:txBody>
      </p:sp>
      <p:sp>
        <p:nvSpPr>
          <p:cNvPr id="697" name=""/>
          <p:cNvSpPr/>
          <p:nvPr/>
        </p:nvSpPr>
        <p:spPr>
          <a:xfrm rot="0" flipH="0" flipV="0">
            <a:off x="609600" y="1143000"/>
            <a:ext cx="10972800" cy="9525"/>
          </a:xfrm>
          <a:prstGeom prst="rect">
            <a:avLst/>
          </a:prstGeom>
          <a:solidFill>
            <a:srgbClr val="E8E8E8"/>
          </a:solidFill>
          <a:ln/>
        </p:spPr>
        <p:txBody>
          <a:bodyPr/>
          <a:p/>
        </p:txBody>
      </p:sp>
      <p:sp>
        <p:nvSpPr>
          <p:cNvPr id="698" name=""/>
          <p:cNvSpPr/>
          <p:nvPr/>
        </p:nvSpPr>
        <p:spPr>
          <a:xfrm rot="0" flipH="0" flipV="0">
            <a:off x="609600" y="1323975"/>
            <a:ext cx="2676525" cy="2905125"/>
          </a:xfrm>
          <a:prstGeom prst="roundRect">
            <a:avLst>
              <a:gd name="adj" fmla="val 1423"/>
            </a:avLst>
          </a:prstGeom>
          <a:solidFill>
            <a:srgbClr val="F7F7F8"/>
          </a:solidFill>
          <a:ln/>
        </p:spPr>
        <p:txBody>
          <a:bodyPr/>
          <a:p/>
        </p:txBody>
      </p:sp>
      <p:sp>
        <p:nvSpPr>
          <p:cNvPr id="699" name=""/>
          <p:cNvSpPr/>
          <p:nvPr/>
        </p:nvSpPr>
        <p:spPr>
          <a:xfrm rot="0" flipH="0" flipV="0">
            <a:off x="609600" y="1323975"/>
            <a:ext cx="2676525" cy="2905125"/>
          </a:xfrm>
          <a:custGeom>
            <a:pathLst>
              <a:path w="281" h="305">
                <a:moveTo>
                  <a:pt x="277" y="0"/>
                </a:moveTo>
                <a:cubicBezTo>
                  <a:pt x="279" y="0"/>
                  <a:pt x="281" y="2"/>
                  <a:pt x="281" y="4"/>
                </a:cubicBezTo>
                <a:lnTo>
                  <a:pt x="0" y="4"/>
                </a:lnTo>
                <a:cubicBezTo>
                  <a:pt x="0" y="2"/>
                  <a:pt x="2" y="0"/>
                  <a:pt x="4" y="0"/>
                </a:cubicBezTo>
                <a:lnTo>
                  <a:pt x="277" y="0"/>
                </a:lnTo>
                <a:close/>
              </a:path>
            </a:pathLst>
          </a:custGeom>
          <a:solidFill>
            <a:srgbClr val="FA4F24"/>
          </a:solidFill>
          <a:ln/>
        </p:spPr>
        <p:txBody>
          <a:bodyPr/>
          <a:p/>
        </p:txBody>
      </p:sp>
      <p:sp>
        <p:nvSpPr>
          <p:cNvPr id="700" name="" descr="{&quot;isTemplate&quot;:true,&quot;type&quot;:&quot;text&quot;}"/>
          <p:cNvSpPr txBox="1"/>
          <p:nvPr/>
        </p:nvSpPr>
        <p:spPr>
          <a:xfrm rot="0" flipH="0" flipV="0">
            <a:off x="752475" y="1447800"/>
            <a:ext cx="2390775" cy="171450"/>
          </a:xfrm>
          <a:prstGeom prst="rect"/>
        </p:spPr>
        <p:txBody>
          <a:bodyPr wrap="none" lIns="0" tIns="0" rIns="0" bIns="0"/>
          <a:p>
            <a:pPr>
              <a:lnSpc>
                <a:spcPct val="100000"/>
              </a:lnSpc>
            </a:pPr>
            <a:r>
              <a:rPr lang="en-US" sz="1125" b="1">
                <a:solidFill>
                  <a:srgbClr val="0F1423"/>
                </a:solidFill>
                <a:latin typeface="Microsoft YaHei"/>
                <a:ea typeface="Microsoft YaHei"/>
              </a:rPr>
              <a:t xml:space="preserve">BA </a:t>
            </a:r>
            <a:r>
              <a:rPr lang="zh-CN" sz="1125" b="1">
                <a:solidFill>
                  <a:srgbClr val="0F1423"/>
                </a:solidFill>
                <a:latin typeface="Microsoft YaHei"/>
                <a:ea typeface="Microsoft YaHei"/>
              </a:rPr>
              <a:t>业务架构</a:t>
            </a:r>
            <a:endParaRPr/>
          </a:p>
        </p:txBody>
      </p:sp>
      <p:sp>
        <p:nvSpPr>
          <p:cNvPr id="701" name="" descr="{&quot;isTemplate&quot;:true,&quot;type&quot;:&quot;text&quot;}"/>
          <p:cNvSpPr txBox="1"/>
          <p:nvPr/>
        </p:nvSpPr>
        <p:spPr>
          <a:xfrm rot="0" flipH="0" flipV="0">
            <a:off x="752475" y="1647825"/>
            <a:ext cx="2390775" cy="133350"/>
          </a:xfrm>
          <a:prstGeom prst="rect"/>
        </p:spPr>
        <p:txBody>
          <a:bodyPr wrap="none" lIns="0" tIns="0" rIns="0" bIns="0"/>
          <a:p>
            <a:pPr>
              <a:lnSpc>
                <a:spcPct val="100000"/>
              </a:lnSpc>
            </a:pPr>
            <a:r>
              <a:rPr lang="zh-CN" sz="825">
                <a:solidFill>
                  <a:srgbClr val="FA4F24"/>
                </a:solidFill>
                <a:latin typeface="Microsoft YaHei"/>
                <a:ea typeface="Microsoft YaHei"/>
              </a:rPr>
              <a:t>谁裁定</a:t>
            </a:r>
            <a:r>
              <a:rPr lang="en-US" sz="825">
                <a:solidFill>
                  <a:srgbClr val="FA4F24"/>
                </a:solidFill>
                <a:latin typeface="Microsoft YaHei"/>
                <a:ea typeface="Microsoft YaHei"/>
              </a:rPr>
              <a:t xml:space="preserve"> · </a:t>
            </a:r>
            <a:r>
              <a:rPr lang="zh-CN" sz="825">
                <a:solidFill>
                  <a:srgbClr val="FA4F24"/>
                </a:solidFill>
                <a:latin typeface="Microsoft YaHei"/>
                <a:ea typeface="Microsoft YaHei"/>
              </a:rPr>
              <a:t>谁审批</a:t>
            </a:r>
            <a:r>
              <a:rPr lang="en-US" sz="825">
                <a:solidFill>
                  <a:srgbClr val="FA4F24"/>
                </a:solidFill>
                <a:latin typeface="Microsoft YaHei"/>
                <a:ea typeface="Microsoft YaHei"/>
              </a:rPr>
              <a:t xml:space="preserve"> · </a:t>
            </a:r>
            <a:r>
              <a:rPr lang="zh-CN" sz="825">
                <a:solidFill>
                  <a:srgbClr val="FA4F24"/>
                </a:solidFill>
                <a:latin typeface="Microsoft YaHei"/>
                <a:ea typeface="Microsoft YaHei"/>
              </a:rPr>
              <a:t>谁担责</a:t>
            </a:r>
            <a:endParaRPr/>
          </a:p>
        </p:txBody>
      </p:sp>
      <p:sp>
        <p:nvSpPr>
          <p:cNvPr id="702" name="" descr="{&quot;isTemplate&quot;:true,&quot;type&quot;:&quot;text&quot;}"/>
          <p:cNvSpPr txBox="1"/>
          <p:nvPr/>
        </p:nvSpPr>
        <p:spPr>
          <a:xfrm rot="0" flipH="0" flipV="0">
            <a:off x="752475" y="1866900"/>
            <a:ext cx="2390775" cy="200025"/>
          </a:xfrm>
          <a:prstGeom prst="rect"/>
        </p:spPr>
        <p:txBody>
          <a:bodyPr wrap="none" lIns="0" tIns="0" rIns="0" bIns="0"/>
          <a:p>
            <a:pPr>
              <a:lnSpc>
                <a:spcPct val="145000"/>
              </a:lnSpc>
            </a:pP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数据所有者：定义密级与用途</a:t>
            </a:r>
            <a:endParaRPr/>
          </a:p>
        </p:txBody>
      </p:sp>
      <p:sp>
        <p:nvSpPr>
          <p:cNvPr id="703" name="" descr="{&quot;isTemplate&quot;:true,&quot;type&quot;:&quot;text&quot;}"/>
          <p:cNvSpPr txBox="1"/>
          <p:nvPr/>
        </p:nvSpPr>
        <p:spPr>
          <a:xfrm rot="0" flipH="0" flipV="0">
            <a:off x="752475" y="2114550"/>
            <a:ext cx="2390775" cy="200025"/>
          </a:xfrm>
          <a:prstGeom prst="rect"/>
        </p:spPr>
        <p:txBody>
          <a:bodyPr wrap="none" lIns="0" tIns="0" rIns="0" bIns="0"/>
          <a:p>
            <a:pPr>
              <a:lnSpc>
                <a:spcPct val="145000"/>
              </a:lnSpc>
            </a:pP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数据管理员：日常维护与打标</a:t>
            </a:r>
            <a:endParaRPr/>
          </a:p>
        </p:txBody>
      </p:sp>
      <p:sp>
        <p:nvSpPr>
          <p:cNvPr id="704" name="" descr="{&quot;isTemplate&quot;:true,&quot;type&quot;:&quot;text&quot;}"/>
          <p:cNvSpPr txBox="1"/>
          <p:nvPr/>
        </p:nvSpPr>
        <p:spPr>
          <a:xfrm rot="0" flipH="0" flipV="0">
            <a:off x="752475" y="2362200"/>
            <a:ext cx="2390775" cy="200025"/>
          </a:xfrm>
          <a:prstGeom prst="rect"/>
        </p:spPr>
        <p:txBody>
          <a:bodyPr wrap="none" lIns="0" tIns="0" rIns="0" bIns="0"/>
          <a:p>
            <a:pPr>
              <a:lnSpc>
                <a:spcPct val="145000"/>
              </a:lnSpc>
            </a:pP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合规官：审批降级与放行</a:t>
            </a:r>
            <a:endParaRPr/>
          </a:p>
        </p:txBody>
      </p:sp>
      <p:sp>
        <p:nvSpPr>
          <p:cNvPr id="705" name="" descr="{&quot;isTemplate&quot;:true,&quot;type&quot;:&quot;text&quot;}"/>
          <p:cNvSpPr txBox="1"/>
          <p:nvPr/>
        </p:nvSpPr>
        <p:spPr>
          <a:xfrm rot="0" flipH="0" flipV="0">
            <a:off x="752475" y="2609850"/>
            <a:ext cx="2390775" cy="200025"/>
          </a:xfrm>
          <a:prstGeom prst="rect"/>
        </p:spPr>
        <p:txBody>
          <a:bodyPr wrap="none" lIns="0" tIns="0" rIns="0" bIns="0"/>
          <a:p>
            <a:pPr>
              <a:lnSpc>
                <a:spcPct val="145000"/>
              </a:lnSpc>
            </a:pP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审批人：提案的第二人复核</a:t>
            </a:r>
            <a:endParaRPr/>
          </a:p>
        </p:txBody>
      </p:sp>
      <p:sp>
        <p:nvSpPr>
          <p:cNvPr id="706" name="" descr="{&quot;isTemplate&quot;:true,&quot;type&quot;:&quot;text&quot;}"/>
          <p:cNvSpPr txBox="1"/>
          <p:nvPr/>
        </p:nvSpPr>
        <p:spPr>
          <a:xfrm rot="0" flipH="0" flipV="0">
            <a:off x="752475" y="2857500"/>
            <a:ext cx="2390775" cy="200025"/>
          </a:xfrm>
          <a:prstGeom prst="rect"/>
        </p:spPr>
        <p:txBody>
          <a:bodyPr wrap="none" lIns="0" tIns="0" rIns="0" bIns="0"/>
          <a:p>
            <a:pPr>
              <a:lnSpc>
                <a:spcPct val="145000"/>
              </a:lnSpc>
            </a:pP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使用人：只在授权范围内消费</a:t>
            </a:r>
            <a:endParaRPr/>
          </a:p>
        </p:txBody>
      </p:sp>
      <p:sp>
        <p:nvSpPr>
          <p:cNvPr id="707" name=""/>
          <p:cNvSpPr/>
          <p:nvPr/>
        </p:nvSpPr>
        <p:spPr>
          <a:xfrm rot="0" flipH="0" flipV="0">
            <a:off x="752475" y="3590925"/>
            <a:ext cx="2390775" cy="476250"/>
          </a:xfrm>
          <a:prstGeom prst="roundRect">
            <a:avLst>
              <a:gd name="adj" fmla="val 6000"/>
            </a:avLst>
          </a:prstGeom>
          <a:solidFill>
            <a:srgbClr val="FFFFFF"/>
          </a:solidFill>
          <a:ln/>
        </p:spPr>
        <p:txBody>
          <a:bodyPr/>
          <a:p/>
        </p:txBody>
      </p:sp>
      <p:sp>
        <p:nvSpPr>
          <p:cNvPr id="708" name="" descr="{&quot;isTemplate&quot;:true,&quot;type&quot;:&quot;text&quot;}"/>
          <p:cNvSpPr txBox="1"/>
          <p:nvPr/>
        </p:nvSpPr>
        <p:spPr>
          <a:xfrm rot="0" flipH="0" flipV="0">
            <a:off x="838200" y="3657600"/>
            <a:ext cx="2219325" cy="342900"/>
          </a:xfrm>
          <a:prstGeom prst="rect"/>
        </p:spPr>
        <p:txBody>
          <a:bodyPr wrap="square" lIns="0" tIns="0" rIns="0" bIns="0">
            <a:normAutofit/>
          </a:bodyPr>
          <a:p>
            <a:pPr>
              <a:lnSpc>
                <a:spcPct val="140000"/>
              </a:lnSpc>
            </a:pPr>
            <a:r>
              <a:rPr lang="zh-CN" sz="788">
                <a:solidFill>
                  <a:srgbClr val="3A4050"/>
                </a:solidFill>
                <a:latin typeface="Microsoft YaHei"/>
                <a:ea typeface="Microsoft YaHei"/>
              </a:rPr>
              <a:t>特殊之处：治理是</a:t>
            </a:r>
            <a:r>
              <a:rPr lang="zh-CN" sz="788">
                <a:solidFill>
                  <a:srgbClr val="3A4050"/>
                </a:solidFill>
                <a:latin typeface="Microsoft YaHei"/>
                <a:ea typeface="Microsoft YaHei"/>
              </a:rPr>
              <a:t>唯一必须四方齐备</a:t>
            </a:r>
            <a:r>
              <a:rPr lang="zh-CN" sz="788">
                <a:solidFill>
                  <a:srgbClr val="3A4050"/>
                </a:solidFill>
                <a:latin typeface="Microsoft YaHei"/>
                <a:ea typeface="Microsoft YaHei"/>
              </a:rPr>
              <a:t>的</a:t>
            </a:r>
            <a:r>
              <a:rPr lang="en-US" sz="788">
                <a:solidFill>
                  <a:srgbClr val="3A4050"/>
                </a:solidFill>
                <a:latin typeface="Microsoft YaHei"/>
                <a:ea typeface="Microsoft YaHei"/>
              </a:rPr>
              <a:t xml:space="preserve">4A </a:t>
            </a:r>
            <a:r>
              <a:rPr lang="zh-CN" sz="788">
                <a:solidFill>
                  <a:srgbClr val="3A4050"/>
                </a:solidFill>
                <a:latin typeface="Microsoft YaHei"/>
                <a:ea typeface="Microsoft YaHei"/>
              </a:rPr>
              <a:t>实践点——少了担责方，策略就只是配置。</a:t>
            </a:r>
            <a:endParaRPr/>
          </a:p>
        </p:txBody>
      </p:sp>
      <p:sp>
        <p:nvSpPr>
          <p:cNvPr id="709" name=""/>
          <p:cNvSpPr/>
          <p:nvPr/>
        </p:nvSpPr>
        <p:spPr>
          <a:xfrm rot="0" flipH="0" flipV="0">
            <a:off x="3381375" y="1323975"/>
            <a:ext cx="2667000" cy="2905125"/>
          </a:xfrm>
          <a:prstGeom prst="roundRect">
            <a:avLst>
              <a:gd name="adj" fmla="val 1429"/>
            </a:avLst>
          </a:prstGeom>
          <a:solidFill>
            <a:srgbClr val="F7F7F8"/>
          </a:solidFill>
          <a:ln/>
        </p:spPr>
        <p:txBody>
          <a:bodyPr/>
          <a:p/>
        </p:txBody>
      </p:sp>
      <p:sp>
        <p:nvSpPr>
          <p:cNvPr id="710" name=""/>
          <p:cNvSpPr/>
          <p:nvPr/>
        </p:nvSpPr>
        <p:spPr>
          <a:xfrm rot="0" flipH="0" flipV="0">
            <a:off x="3381375" y="1323975"/>
            <a:ext cx="2667000" cy="2905125"/>
          </a:xfrm>
          <a:custGeom>
            <a:pathLst>
              <a:path w="280" h="305">
                <a:moveTo>
                  <a:pt x="276" y="0"/>
                </a:moveTo>
                <a:cubicBezTo>
                  <a:pt x="278" y="0"/>
                  <a:pt x="280" y="2"/>
                  <a:pt x="280" y="4"/>
                </a:cubicBezTo>
                <a:lnTo>
                  <a:pt x="0" y="4"/>
                </a:lnTo>
                <a:cubicBezTo>
                  <a:pt x="0" y="2"/>
                  <a:pt x="2" y="0"/>
                  <a:pt x="4" y="0"/>
                </a:cubicBezTo>
                <a:lnTo>
                  <a:pt x="276" y="0"/>
                </a:lnTo>
                <a:close/>
              </a:path>
            </a:pathLst>
          </a:custGeom>
          <a:solidFill>
            <a:srgbClr val="FA4F24"/>
          </a:solidFill>
          <a:ln/>
        </p:spPr>
        <p:txBody>
          <a:bodyPr/>
          <a:p/>
        </p:txBody>
      </p:sp>
      <p:sp>
        <p:nvSpPr>
          <p:cNvPr id="711" name="" descr="{&quot;isTemplate&quot;:true,&quot;type&quot;:&quot;text&quot;}"/>
          <p:cNvSpPr txBox="1"/>
          <p:nvPr/>
        </p:nvSpPr>
        <p:spPr>
          <a:xfrm rot="0" flipH="0" flipV="0">
            <a:off x="3524250" y="1447800"/>
            <a:ext cx="2381250" cy="171450"/>
          </a:xfrm>
          <a:prstGeom prst="rect"/>
        </p:spPr>
        <p:txBody>
          <a:bodyPr wrap="none" lIns="0" tIns="0" rIns="0" bIns="0"/>
          <a:p>
            <a:pPr>
              <a:lnSpc>
                <a:spcPct val="100000"/>
              </a:lnSpc>
            </a:pPr>
            <a:r>
              <a:rPr lang="en-US" sz="1125" b="1">
                <a:solidFill>
                  <a:srgbClr val="0F1423"/>
                </a:solidFill>
                <a:latin typeface="Microsoft YaHei"/>
                <a:ea typeface="Microsoft YaHei"/>
              </a:rPr>
              <a:t xml:space="preserve">DA </a:t>
            </a:r>
            <a:r>
              <a:rPr lang="zh-CN" sz="1125" b="1">
                <a:solidFill>
                  <a:srgbClr val="0F1423"/>
                </a:solidFill>
                <a:latin typeface="Microsoft YaHei"/>
                <a:ea typeface="Microsoft YaHei"/>
              </a:rPr>
              <a:t>数据架构</a:t>
            </a:r>
            <a:endParaRPr/>
          </a:p>
        </p:txBody>
      </p:sp>
      <p:sp>
        <p:nvSpPr>
          <p:cNvPr id="712" name="" descr="{&quot;isTemplate&quot;:true,&quot;type&quot;:&quot;text&quot;}"/>
          <p:cNvSpPr txBox="1"/>
          <p:nvPr/>
        </p:nvSpPr>
        <p:spPr>
          <a:xfrm rot="0" flipH="0" flipV="0">
            <a:off x="3524250" y="1647825"/>
            <a:ext cx="2381250" cy="133350"/>
          </a:xfrm>
          <a:prstGeom prst="rect"/>
        </p:spPr>
        <p:txBody>
          <a:bodyPr wrap="none" lIns="0" tIns="0" rIns="0" bIns="0"/>
          <a:p>
            <a:pPr>
              <a:lnSpc>
                <a:spcPct val="100000"/>
              </a:lnSpc>
            </a:pPr>
            <a:r>
              <a:rPr lang="zh-CN" sz="825">
                <a:solidFill>
                  <a:srgbClr val="FA4F24"/>
                </a:solidFill>
                <a:latin typeface="Microsoft YaHei"/>
                <a:ea typeface="Microsoft YaHei"/>
              </a:rPr>
              <a:t>治理元数据模型</a:t>
            </a:r>
            <a:endParaRPr/>
          </a:p>
        </p:txBody>
      </p:sp>
      <p:sp>
        <p:nvSpPr>
          <p:cNvPr id="713" name="" descr="{&quot;isTemplate&quot;:true,&quot;type&quot;:&quot;text&quot;}"/>
          <p:cNvSpPr txBox="1"/>
          <p:nvPr/>
        </p:nvSpPr>
        <p:spPr>
          <a:xfrm rot="0" flipH="0" flipV="0">
            <a:off x="3524250" y="1866900"/>
            <a:ext cx="2381250" cy="200025"/>
          </a:xfrm>
          <a:prstGeom prst="rect"/>
        </p:spPr>
        <p:txBody>
          <a:bodyPr wrap="none" lIns="0" tIns="0" rIns="0" bIns="0"/>
          <a:p>
            <a:pPr>
              <a:lnSpc>
                <a:spcPct val="145000"/>
              </a:lnSpc>
            </a:pP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标记类别表（不可删、不可改类）</a:t>
            </a:r>
            <a:endParaRPr/>
          </a:p>
        </p:txBody>
      </p:sp>
      <p:sp>
        <p:nvSpPr>
          <p:cNvPr id="714" name="" descr="{&quot;isTemplate&quot;:true,&quot;type&quot;:&quot;text&quot;}"/>
          <p:cNvSpPr txBox="1"/>
          <p:nvPr/>
        </p:nvSpPr>
        <p:spPr>
          <a:xfrm rot="0" flipH="0" flipV="0">
            <a:off x="3524250" y="2114550"/>
            <a:ext cx="2381250" cy="200025"/>
          </a:xfrm>
          <a:prstGeom prst="rect"/>
        </p:spPr>
        <p:txBody>
          <a:bodyPr wrap="none" lIns="0" tIns="0" rIns="0" bIns="0"/>
          <a:p>
            <a:pPr>
              <a:lnSpc>
                <a:spcPct val="145000"/>
              </a:lnSpc>
            </a:pP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属性安全策略表（行级</a:t>
            </a:r>
            <a:r>
              <a:rPr lang="en-US" sz="863">
                <a:solidFill>
                  <a:srgbClr val="3A4050"/>
                </a:solidFill>
                <a:latin typeface="Microsoft YaHei"/>
                <a:ea typeface="Microsoft YaHei"/>
              </a:rPr>
              <a:t>+</a:t>
            </a:r>
            <a:r>
              <a:rPr lang="zh-CN" sz="863">
                <a:solidFill>
                  <a:srgbClr val="3A4050"/>
                </a:solidFill>
                <a:latin typeface="Microsoft YaHei"/>
                <a:ea typeface="Microsoft YaHei"/>
              </a:rPr>
              <a:t>列级）</a:t>
            </a:r>
            <a:endParaRPr/>
          </a:p>
        </p:txBody>
      </p:sp>
      <p:sp>
        <p:nvSpPr>
          <p:cNvPr id="715" name="" descr="{&quot;isTemplate&quot;:true,&quot;type&quot;:&quot;text&quot;}"/>
          <p:cNvSpPr txBox="1"/>
          <p:nvPr/>
        </p:nvSpPr>
        <p:spPr>
          <a:xfrm rot="0" flipH="0" flipV="0">
            <a:off x="3524250" y="2362200"/>
            <a:ext cx="2381250" cy="200025"/>
          </a:xfrm>
          <a:prstGeom prst="rect"/>
        </p:spPr>
        <p:txBody>
          <a:bodyPr wrap="none" lIns="0" tIns="0" rIns="0" bIns="0"/>
          <a:p>
            <a:pPr>
              <a:lnSpc>
                <a:spcPct val="145000"/>
              </a:lnSpc>
            </a:pP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血缘与版本表（主动采集）</a:t>
            </a:r>
            <a:endParaRPr/>
          </a:p>
        </p:txBody>
      </p:sp>
      <p:sp>
        <p:nvSpPr>
          <p:cNvPr id="716" name="" descr="{&quot;isTemplate&quot;:true,&quot;type&quot;:&quot;text&quot;}"/>
          <p:cNvSpPr txBox="1"/>
          <p:nvPr/>
        </p:nvSpPr>
        <p:spPr>
          <a:xfrm rot="0" flipH="0" flipV="0">
            <a:off x="3524250" y="2609850"/>
            <a:ext cx="2381250" cy="200025"/>
          </a:xfrm>
          <a:prstGeom prst="rect"/>
        </p:spPr>
        <p:txBody>
          <a:bodyPr wrap="none" lIns="0" tIns="0" rIns="0" bIns="0"/>
          <a:p>
            <a:pPr>
              <a:lnSpc>
                <a:spcPct val="145000"/>
              </a:lnSpc>
            </a:pP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动作日志表（谁、什么、为什么）</a:t>
            </a:r>
            <a:endParaRPr/>
          </a:p>
        </p:txBody>
      </p:sp>
      <p:sp>
        <p:nvSpPr>
          <p:cNvPr id="717" name="" descr="{&quot;isTemplate&quot;:true,&quot;type&quot;:&quot;text&quot;}"/>
          <p:cNvSpPr txBox="1"/>
          <p:nvPr/>
        </p:nvSpPr>
        <p:spPr>
          <a:xfrm rot="0" flipH="0" flipV="0">
            <a:off x="3524250" y="2857500"/>
            <a:ext cx="2381250" cy="200025"/>
          </a:xfrm>
          <a:prstGeom prst="rect"/>
        </p:spPr>
        <p:txBody>
          <a:bodyPr wrap="none" lIns="0" tIns="0" rIns="0" bIns="0"/>
          <a:p>
            <a:pPr>
              <a:lnSpc>
                <a:spcPct val="145000"/>
              </a:lnSpc>
            </a:pP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提案与审批状态表</a:t>
            </a:r>
            <a:endParaRPr/>
          </a:p>
        </p:txBody>
      </p:sp>
      <p:sp>
        <p:nvSpPr>
          <p:cNvPr id="718" name="" descr="{&quot;isTemplate&quot;:true,&quot;type&quot;:&quot;text&quot;}"/>
          <p:cNvSpPr txBox="1"/>
          <p:nvPr/>
        </p:nvSpPr>
        <p:spPr>
          <a:xfrm rot="0" flipH="0" flipV="0">
            <a:off x="3524250" y="3105150"/>
            <a:ext cx="2381250" cy="200025"/>
          </a:xfrm>
          <a:prstGeom prst="rect"/>
        </p:spPr>
        <p:txBody>
          <a:bodyPr wrap="none" lIns="0" tIns="0" rIns="0" bIns="0"/>
          <a:p>
            <a:pPr>
              <a:lnSpc>
                <a:spcPct val="145000"/>
              </a:lnSpc>
            </a:pP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降级与撤回事件表</a:t>
            </a:r>
            <a:endParaRPr/>
          </a:p>
        </p:txBody>
      </p:sp>
      <p:sp>
        <p:nvSpPr>
          <p:cNvPr id="719" name=""/>
          <p:cNvSpPr/>
          <p:nvPr/>
        </p:nvSpPr>
        <p:spPr>
          <a:xfrm rot="0" flipH="0" flipV="0">
            <a:off x="3524250" y="3590925"/>
            <a:ext cx="2381250" cy="476250"/>
          </a:xfrm>
          <a:prstGeom prst="roundRect">
            <a:avLst>
              <a:gd name="adj" fmla="val 6000"/>
            </a:avLst>
          </a:prstGeom>
          <a:solidFill>
            <a:srgbClr val="FFFFFF"/>
          </a:solidFill>
          <a:ln/>
        </p:spPr>
        <p:txBody>
          <a:bodyPr/>
          <a:p/>
        </p:txBody>
      </p:sp>
      <p:sp>
        <p:nvSpPr>
          <p:cNvPr id="720" name="" descr="{&quot;isTemplate&quot;:true,&quot;type&quot;:&quot;text&quot;}"/>
          <p:cNvSpPr txBox="1"/>
          <p:nvPr/>
        </p:nvSpPr>
        <p:spPr>
          <a:xfrm rot="0" flipH="0" flipV="0">
            <a:off x="3609975" y="3657600"/>
            <a:ext cx="2209800" cy="342900"/>
          </a:xfrm>
          <a:prstGeom prst="rect"/>
        </p:spPr>
        <p:txBody>
          <a:bodyPr wrap="square" lIns="0" tIns="0" rIns="0" bIns="0">
            <a:normAutofit/>
          </a:bodyPr>
          <a:p>
            <a:pPr>
              <a:lnSpc>
                <a:spcPct val="140000"/>
              </a:lnSpc>
            </a:pPr>
            <a:r>
              <a:rPr lang="zh-CN" sz="788">
                <a:solidFill>
                  <a:srgbClr val="3A4050"/>
                </a:solidFill>
                <a:latin typeface="Microsoft YaHei"/>
                <a:ea typeface="Microsoft YaHei"/>
              </a:rPr>
              <a:t>特殊之处：血缘必须是</a:t>
            </a:r>
            <a:r>
              <a:rPr lang="zh-CN" sz="788">
                <a:solidFill>
                  <a:srgbClr val="3A4050"/>
                </a:solidFill>
                <a:latin typeface="Microsoft YaHei"/>
                <a:ea typeface="Microsoft YaHei"/>
              </a:rPr>
              <a:t>主动元数据</a:t>
            </a:r>
            <a:r>
              <a:rPr lang="zh-CN" sz="788">
                <a:solidFill>
                  <a:srgbClr val="3A4050"/>
                </a:solidFill>
                <a:latin typeface="Microsoft YaHei"/>
                <a:ea typeface="Microsoft YaHei"/>
              </a:rPr>
              <a:t>，靠爬虫补的血缘永远滞后于现实。</a:t>
            </a:r>
            <a:endParaRPr/>
          </a:p>
        </p:txBody>
      </p:sp>
      <p:sp>
        <p:nvSpPr>
          <p:cNvPr id="721" name=""/>
          <p:cNvSpPr/>
          <p:nvPr/>
        </p:nvSpPr>
        <p:spPr>
          <a:xfrm rot="0" flipH="0" flipV="0">
            <a:off x="6143625" y="1323975"/>
            <a:ext cx="2676525" cy="2905125"/>
          </a:xfrm>
          <a:prstGeom prst="roundRect">
            <a:avLst>
              <a:gd name="adj" fmla="val 1423"/>
            </a:avLst>
          </a:prstGeom>
          <a:solidFill>
            <a:srgbClr val="F7F7F8"/>
          </a:solidFill>
          <a:ln/>
        </p:spPr>
        <p:txBody>
          <a:bodyPr/>
          <a:p/>
        </p:txBody>
      </p:sp>
      <p:sp>
        <p:nvSpPr>
          <p:cNvPr id="722" name=""/>
          <p:cNvSpPr/>
          <p:nvPr/>
        </p:nvSpPr>
        <p:spPr>
          <a:xfrm rot="0" flipH="0" flipV="0">
            <a:off x="6143625" y="1323975"/>
            <a:ext cx="2676525" cy="2905125"/>
          </a:xfrm>
          <a:custGeom>
            <a:pathLst>
              <a:path w="281" h="305">
                <a:moveTo>
                  <a:pt x="277" y="0"/>
                </a:moveTo>
                <a:cubicBezTo>
                  <a:pt x="279" y="0"/>
                  <a:pt x="281" y="2"/>
                  <a:pt x="281" y="4"/>
                </a:cubicBezTo>
                <a:lnTo>
                  <a:pt x="0" y="4"/>
                </a:lnTo>
                <a:cubicBezTo>
                  <a:pt x="0" y="2"/>
                  <a:pt x="2" y="0"/>
                  <a:pt x="4" y="0"/>
                </a:cubicBezTo>
                <a:lnTo>
                  <a:pt x="277" y="0"/>
                </a:lnTo>
                <a:close/>
              </a:path>
            </a:pathLst>
          </a:custGeom>
          <a:solidFill>
            <a:srgbClr val="FA4F24"/>
          </a:solidFill>
          <a:ln/>
        </p:spPr>
        <p:txBody>
          <a:bodyPr/>
          <a:p/>
        </p:txBody>
      </p:sp>
      <p:sp>
        <p:nvSpPr>
          <p:cNvPr id="723" name="" descr="{&quot;isTemplate&quot;:true,&quot;type&quot;:&quot;text&quot;}"/>
          <p:cNvSpPr txBox="1"/>
          <p:nvPr/>
        </p:nvSpPr>
        <p:spPr>
          <a:xfrm rot="0" flipH="0" flipV="0">
            <a:off x="6286500" y="1447800"/>
            <a:ext cx="2390775" cy="171450"/>
          </a:xfrm>
          <a:prstGeom prst="rect"/>
        </p:spPr>
        <p:txBody>
          <a:bodyPr wrap="none" lIns="0" tIns="0" rIns="0" bIns="0"/>
          <a:p>
            <a:pPr>
              <a:lnSpc>
                <a:spcPct val="100000"/>
              </a:lnSpc>
            </a:pPr>
            <a:r>
              <a:rPr lang="en-US" sz="1125" b="1">
                <a:solidFill>
                  <a:srgbClr val="0F1423"/>
                </a:solidFill>
                <a:latin typeface="Microsoft YaHei"/>
                <a:ea typeface="Microsoft YaHei"/>
              </a:rPr>
              <a:t xml:space="preserve">AA </a:t>
            </a:r>
            <a:r>
              <a:rPr lang="zh-CN" sz="1125" b="1">
                <a:solidFill>
                  <a:srgbClr val="0F1423"/>
                </a:solidFill>
                <a:latin typeface="Microsoft YaHei"/>
                <a:ea typeface="Microsoft YaHei"/>
              </a:rPr>
              <a:t>应用架构</a:t>
            </a:r>
            <a:endParaRPr/>
          </a:p>
        </p:txBody>
      </p:sp>
      <p:sp>
        <p:nvSpPr>
          <p:cNvPr id="724" name="" descr="{&quot;isTemplate&quot;:true,&quot;type&quot;:&quot;text&quot;}"/>
          <p:cNvSpPr txBox="1"/>
          <p:nvPr/>
        </p:nvSpPr>
        <p:spPr>
          <a:xfrm rot="0" flipH="0" flipV="0">
            <a:off x="6286500" y="1647825"/>
            <a:ext cx="2390775" cy="133350"/>
          </a:xfrm>
          <a:prstGeom prst="rect"/>
        </p:spPr>
        <p:txBody>
          <a:bodyPr wrap="none" lIns="0" tIns="0" rIns="0" bIns="0"/>
          <a:p>
            <a:pPr>
              <a:lnSpc>
                <a:spcPct val="100000"/>
              </a:lnSpc>
            </a:pPr>
            <a:r>
              <a:rPr lang="zh-CN" sz="825">
                <a:solidFill>
                  <a:srgbClr val="FA4F24"/>
                </a:solidFill>
                <a:latin typeface="Microsoft YaHei"/>
                <a:ea typeface="Microsoft YaHei"/>
              </a:rPr>
              <a:t>策略即应用</a:t>
            </a:r>
            <a:r>
              <a:rPr lang="en-US" sz="825">
                <a:solidFill>
                  <a:srgbClr val="FA4F24"/>
                </a:solidFill>
                <a:latin typeface="Microsoft YaHei"/>
                <a:ea typeface="Microsoft YaHei"/>
              </a:rPr>
              <a:t xml:space="preserve"> · </a:t>
            </a:r>
            <a:r>
              <a:rPr lang="zh-CN" sz="825">
                <a:solidFill>
                  <a:srgbClr val="FA4F24"/>
                </a:solidFill>
                <a:latin typeface="Microsoft YaHei"/>
                <a:ea typeface="Microsoft YaHei"/>
              </a:rPr>
              <a:t>编排含审批</a:t>
            </a:r>
            <a:endParaRPr/>
          </a:p>
        </p:txBody>
      </p:sp>
      <p:sp>
        <p:nvSpPr>
          <p:cNvPr id="725" name="" descr="{&quot;isTemplate&quot;:true,&quot;type&quot;:&quot;text&quot;}"/>
          <p:cNvSpPr txBox="1"/>
          <p:nvPr/>
        </p:nvSpPr>
        <p:spPr>
          <a:xfrm rot="0" flipH="0" flipV="0">
            <a:off x="6286500" y="1866900"/>
            <a:ext cx="2390775" cy="200025"/>
          </a:xfrm>
          <a:prstGeom prst="rect"/>
        </p:spPr>
        <p:txBody>
          <a:bodyPr wrap="none" lIns="0" tIns="0" rIns="0" bIns="0"/>
          <a:p>
            <a:pPr>
              <a:lnSpc>
                <a:spcPct val="145000"/>
              </a:lnSpc>
            </a:pP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数据目录：治理成果的可见面</a:t>
            </a:r>
            <a:endParaRPr/>
          </a:p>
        </p:txBody>
      </p:sp>
      <p:sp>
        <p:nvSpPr>
          <p:cNvPr id="726" name="" descr="{&quot;isTemplate&quot;:true,&quot;type&quot;:&quot;text&quot;}"/>
          <p:cNvSpPr txBox="1"/>
          <p:nvPr/>
        </p:nvSpPr>
        <p:spPr>
          <a:xfrm rot="0" flipH="0" flipV="0">
            <a:off x="6286500" y="2114550"/>
            <a:ext cx="2390775" cy="200025"/>
          </a:xfrm>
          <a:prstGeom prst="rect"/>
        </p:spPr>
        <p:txBody>
          <a:bodyPr wrap="none" lIns="0" tIns="0" rIns="0" bIns="0"/>
          <a:p>
            <a:pPr>
              <a:lnSpc>
                <a:spcPct val="145000"/>
              </a:lnSpc>
            </a:pP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健康检查：范围型监控</a:t>
            </a:r>
            <a:r>
              <a:rPr lang="en-US" sz="863">
                <a:solidFill>
                  <a:srgbClr val="3A4050"/>
                </a:solidFill>
                <a:latin typeface="Microsoft YaHei"/>
                <a:ea typeface="Microsoft YaHei"/>
              </a:rPr>
              <a:t xml:space="preserve"> + </a:t>
            </a:r>
            <a:r>
              <a:rPr lang="zh-CN" sz="863">
                <a:solidFill>
                  <a:srgbClr val="3A4050"/>
                </a:solidFill>
                <a:latin typeface="Microsoft YaHei"/>
                <a:ea typeface="Microsoft YaHei"/>
              </a:rPr>
              <a:t>告警</a:t>
            </a:r>
            <a:endParaRPr/>
          </a:p>
        </p:txBody>
      </p:sp>
      <p:sp>
        <p:nvSpPr>
          <p:cNvPr id="727" name="" descr="{&quot;isTemplate&quot;:true,&quot;type&quot;:&quot;text&quot;}"/>
          <p:cNvSpPr txBox="1"/>
          <p:nvPr/>
        </p:nvSpPr>
        <p:spPr>
          <a:xfrm rot="0" flipH="0" flipV="0">
            <a:off x="6286500" y="2362200"/>
            <a:ext cx="2390775" cy="200025"/>
          </a:xfrm>
          <a:prstGeom prst="rect"/>
        </p:spPr>
        <p:txBody>
          <a:bodyPr wrap="none" lIns="0" tIns="0" rIns="0" bIns="0"/>
          <a:p>
            <a:pPr>
              <a:lnSpc>
                <a:spcPct val="145000"/>
              </a:lnSpc>
            </a:pPr>
            <a:r>
              <a:rPr lang="en-US" sz="863">
                <a:solidFill>
                  <a:srgbClr val="3A4050"/>
                </a:solidFill>
                <a:latin typeface="Microsoft YaHei"/>
                <a:ea typeface="Microsoft YaHei"/>
              </a:rPr>
              <a:t xml:space="preserve">· </a:t>
            </a:r>
            <a:r>
              <a:rPr lang="en-US" sz="863">
                <a:solidFill>
                  <a:srgbClr val="3A4050"/>
                </a:solidFill>
                <a:latin typeface="Microsoft YaHei"/>
                <a:ea typeface="Microsoft YaHei"/>
              </a:rPr>
              <a:t>Linter</a:t>
            </a:r>
            <a:r>
              <a:rPr lang="zh-CN" sz="863">
                <a:solidFill>
                  <a:srgbClr val="3A4050"/>
                </a:solidFill>
                <a:latin typeface="Microsoft YaHei"/>
                <a:ea typeface="Microsoft YaHei"/>
              </a:rPr>
              <a:t>：反模式识别与责任人分派</a:t>
            </a:r>
            <a:endParaRPr/>
          </a:p>
        </p:txBody>
      </p:sp>
      <p:sp>
        <p:nvSpPr>
          <p:cNvPr id="728" name="" descr="{&quot;isTemplate&quot;:true,&quot;type&quot;:&quot;text&quot;}"/>
          <p:cNvSpPr txBox="1"/>
          <p:nvPr/>
        </p:nvSpPr>
        <p:spPr>
          <a:xfrm rot="0" flipH="0" flipV="0">
            <a:off x="6286500" y="2609850"/>
            <a:ext cx="2390775" cy="200025"/>
          </a:xfrm>
          <a:prstGeom prst="rect"/>
        </p:spPr>
        <p:txBody>
          <a:bodyPr wrap="none" lIns="0" tIns="0" rIns="0" bIns="0"/>
          <a:p>
            <a:pPr>
              <a:lnSpc>
                <a:spcPct val="145000"/>
              </a:lnSpc>
            </a:pP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提案与审批工作流</a:t>
            </a:r>
            <a:endParaRPr/>
          </a:p>
        </p:txBody>
      </p:sp>
      <p:sp>
        <p:nvSpPr>
          <p:cNvPr id="729" name="" descr="{&quot;isTemplate&quot;:true,&quot;type&quot;:&quot;text&quot;}"/>
          <p:cNvSpPr txBox="1"/>
          <p:nvPr/>
        </p:nvSpPr>
        <p:spPr>
          <a:xfrm rot="0" flipH="0" flipV="0">
            <a:off x="6286500" y="2857500"/>
            <a:ext cx="2390775" cy="200025"/>
          </a:xfrm>
          <a:prstGeom prst="rect"/>
        </p:spPr>
        <p:txBody>
          <a:bodyPr wrap="none" lIns="0" tIns="0" rIns="0" bIns="0"/>
          <a:p>
            <a:pPr>
              <a:lnSpc>
                <a:spcPct val="145000"/>
              </a:lnSpc>
            </a:pP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检查点（</a:t>
            </a:r>
            <a:r>
              <a:rPr lang="en-US" sz="863">
                <a:solidFill>
                  <a:srgbClr val="3A4050"/>
                </a:solidFill>
                <a:latin typeface="Microsoft YaHei"/>
                <a:ea typeface="Microsoft YaHei"/>
              </a:rPr>
              <a:t>Checkpoints</a:t>
            </a:r>
            <a:r>
              <a:rPr lang="zh-CN" sz="863">
                <a:solidFill>
                  <a:srgbClr val="3A4050"/>
                </a:solidFill>
                <a:latin typeface="Microsoft YaHei"/>
                <a:ea typeface="Microsoft YaHei"/>
              </a:rPr>
              <a:t>）：用途控制</a:t>
            </a:r>
            <a:endParaRPr/>
          </a:p>
        </p:txBody>
      </p:sp>
      <p:sp>
        <p:nvSpPr>
          <p:cNvPr id="730" name="" descr="{&quot;isTemplate&quot;:true,&quot;type&quot;:&quot;text&quot;}"/>
          <p:cNvSpPr txBox="1"/>
          <p:nvPr/>
        </p:nvSpPr>
        <p:spPr>
          <a:xfrm rot="0" flipH="0" flipV="0">
            <a:off x="6286500" y="3105150"/>
            <a:ext cx="2390775" cy="200025"/>
          </a:xfrm>
          <a:prstGeom prst="rect"/>
        </p:spPr>
        <p:txBody>
          <a:bodyPr wrap="none" lIns="0" tIns="0" rIns="0" bIns="0"/>
          <a:p>
            <a:pPr>
              <a:lnSpc>
                <a:spcPct val="145000"/>
              </a:lnSpc>
            </a:pPr>
            <a:r>
              <a:rPr lang="en-US" sz="863">
                <a:solidFill>
                  <a:srgbClr val="3A4050"/>
                </a:solidFill>
                <a:latin typeface="Microsoft YaHei"/>
                <a:ea typeface="Microsoft YaHei"/>
              </a:rPr>
              <a:t xml:space="preserve">· </a:t>
            </a:r>
            <a:r>
              <a:rPr lang="en-US" sz="863">
                <a:solidFill>
                  <a:srgbClr val="3A4050"/>
                </a:solidFill>
                <a:latin typeface="Microsoft YaHei"/>
                <a:ea typeface="Microsoft YaHei"/>
              </a:rPr>
              <a:t xml:space="preserve">Agent </a:t>
            </a:r>
            <a:r>
              <a:rPr lang="zh-CN" sz="863">
                <a:solidFill>
                  <a:srgbClr val="3A4050"/>
                </a:solidFill>
                <a:latin typeface="Microsoft YaHei"/>
                <a:ea typeface="Microsoft YaHei"/>
              </a:rPr>
              <a:t>出口策略控制台</a:t>
            </a:r>
            <a:endParaRPr/>
          </a:p>
        </p:txBody>
      </p:sp>
      <p:sp>
        <p:nvSpPr>
          <p:cNvPr id="731" name=""/>
          <p:cNvSpPr/>
          <p:nvPr/>
        </p:nvSpPr>
        <p:spPr>
          <a:xfrm rot="0" flipH="0" flipV="0">
            <a:off x="6286500" y="3590925"/>
            <a:ext cx="2390775" cy="476250"/>
          </a:xfrm>
          <a:prstGeom prst="roundRect">
            <a:avLst>
              <a:gd name="adj" fmla="val 6000"/>
            </a:avLst>
          </a:prstGeom>
          <a:solidFill>
            <a:srgbClr val="FFFFFF"/>
          </a:solidFill>
          <a:ln/>
        </p:spPr>
        <p:txBody>
          <a:bodyPr/>
          <a:p/>
        </p:txBody>
      </p:sp>
      <p:sp>
        <p:nvSpPr>
          <p:cNvPr id="732" name="" descr="{&quot;isTemplate&quot;:true,&quot;type&quot;:&quot;text&quot;}"/>
          <p:cNvSpPr txBox="1"/>
          <p:nvPr/>
        </p:nvSpPr>
        <p:spPr>
          <a:xfrm rot="0" flipH="0" flipV="0">
            <a:off x="6372225" y="3657600"/>
            <a:ext cx="2219325" cy="342900"/>
          </a:xfrm>
          <a:prstGeom prst="rect"/>
        </p:spPr>
        <p:txBody>
          <a:bodyPr wrap="square" lIns="0" tIns="0" rIns="0" bIns="0">
            <a:normAutofit/>
          </a:bodyPr>
          <a:p>
            <a:pPr>
              <a:lnSpc>
                <a:spcPct val="140000"/>
              </a:lnSpc>
            </a:pPr>
            <a:r>
              <a:rPr lang="zh-CN" sz="788">
                <a:solidFill>
                  <a:srgbClr val="3A4050"/>
                </a:solidFill>
                <a:latin typeface="Microsoft YaHei"/>
                <a:ea typeface="Microsoft YaHei"/>
              </a:rPr>
              <a:t>特殊之处：审批是</a:t>
            </a:r>
            <a:r>
              <a:rPr lang="zh-CN" sz="788">
                <a:solidFill>
                  <a:srgbClr val="3A4050"/>
                </a:solidFill>
                <a:latin typeface="Microsoft YaHei"/>
                <a:ea typeface="Microsoft YaHei"/>
              </a:rPr>
              <a:t>应用节点</a:t>
            </a:r>
            <a:r>
              <a:rPr lang="zh-CN" sz="788">
                <a:solidFill>
                  <a:srgbClr val="3A4050"/>
                </a:solidFill>
                <a:latin typeface="Microsoft YaHei"/>
                <a:ea typeface="Microsoft YaHei"/>
              </a:rPr>
              <a:t>，不是邮件。</a:t>
            </a:r>
            <a:r>
              <a:rPr lang="en-US" sz="788">
                <a:solidFill>
                  <a:srgbClr val="3A4050"/>
                </a:solidFill>
                <a:latin typeface="Microsoft YaHei"/>
                <a:ea typeface="Microsoft YaHei"/>
              </a:rPr>
              <a:t xml:space="preserve">PBAC </a:t>
            </a:r>
            <a:r>
              <a:rPr lang="zh-CN" sz="788">
                <a:solidFill>
                  <a:srgbClr val="3A4050"/>
                </a:solidFill>
                <a:latin typeface="Microsoft YaHei"/>
                <a:ea typeface="Microsoft YaHei"/>
              </a:rPr>
              <a:t>主动模式会挂起任务等人批。</a:t>
            </a:r>
            <a:endParaRPr/>
          </a:p>
        </p:txBody>
      </p:sp>
      <p:sp>
        <p:nvSpPr>
          <p:cNvPr id="733" name=""/>
          <p:cNvSpPr/>
          <p:nvPr/>
        </p:nvSpPr>
        <p:spPr>
          <a:xfrm rot="0" flipH="0" flipV="0">
            <a:off x="8915400" y="1323975"/>
            <a:ext cx="2667000" cy="2905125"/>
          </a:xfrm>
          <a:prstGeom prst="roundRect">
            <a:avLst>
              <a:gd name="adj" fmla="val 1429"/>
            </a:avLst>
          </a:prstGeom>
          <a:solidFill>
            <a:srgbClr val="0F1423"/>
          </a:solidFill>
          <a:ln/>
        </p:spPr>
        <p:txBody>
          <a:bodyPr/>
          <a:p/>
        </p:txBody>
      </p:sp>
      <p:sp>
        <p:nvSpPr>
          <p:cNvPr id="734" name=""/>
          <p:cNvSpPr/>
          <p:nvPr/>
        </p:nvSpPr>
        <p:spPr>
          <a:xfrm rot="0" flipH="0" flipV="0">
            <a:off x="8915400" y="1323975"/>
            <a:ext cx="2667000" cy="2905125"/>
          </a:xfrm>
          <a:custGeom>
            <a:pathLst>
              <a:path w="280" h="305">
                <a:moveTo>
                  <a:pt x="276" y="0"/>
                </a:moveTo>
                <a:cubicBezTo>
                  <a:pt x="278" y="0"/>
                  <a:pt x="280" y="2"/>
                  <a:pt x="280" y="4"/>
                </a:cubicBezTo>
                <a:lnTo>
                  <a:pt x="0" y="4"/>
                </a:lnTo>
                <a:cubicBezTo>
                  <a:pt x="0" y="2"/>
                  <a:pt x="2" y="0"/>
                  <a:pt x="4" y="0"/>
                </a:cubicBezTo>
                <a:lnTo>
                  <a:pt x="276" y="0"/>
                </a:lnTo>
                <a:close/>
              </a:path>
            </a:pathLst>
          </a:custGeom>
          <a:solidFill>
            <a:srgbClr val="FBA15C"/>
          </a:solidFill>
          <a:ln/>
        </p:spPr>
        <p:txBody>
          <a:bodyPr/>
          <a:p/>
        </p:txBody>
      </p:sp>
      <p:sp>
        <p:nvSpPr>
          <p:cNvPr id="735" name="" descr="{&quot;isTemplate&quot;:true,&quot;type&quot;:&quot;text&quot;}"/>
          <p:cNvSpPr txBox="1"/>
          <p:nvPr/>
        </p:nvSpPr>
        <p:spPr>
          <a:xfrm rot="0" flipH="0" flipV="0">
            <a:off x="9058275" y="1447800"/>
            <a:ext cx="2381250" cy="171450"/>
          </a:xfrm>
          <a:prstGeom prst="rect"/>
        </p:spPr>
        <p:txBody>
          <a:bodyPr wrap="none" lIns="0" tIns="0" rIns="0" bIns="0"/>
          <a:p>
            <a:pPr>
              <a:lnSpc>
                <a:spcPct val="100000"/>
              </a:lnSpc>
            </a:pPr>
            <a:r>
              <a:rPr lang="en-US" sz="1125" b="1">
                <a:solidFill>
                  <a:srgbClr val="FFFFFF"/>
                </a:solidFill>
                <a:latin typeface="Microsoft YaHei"/>
                <a:ea typeface="Microsoft YaHei"/>
              </a:rPr>
              <a:t xml:space="preserve">TA </a:t>
            </a:r>
            <a:r>
              <a:rPr lang="zh-CN" sz="1125" b="1">
                <a:solidFill>
                  <a:srgbClr val="FFFFFF"/>
                </a:solidFill>
                <a:latin typeface="Microsoft YaHei"/>
                <a:ea typeface="Microsoft YaHei"/>
              </a:rPr>
              <a:t>技术架构</a:t>
            </a:r>
            <a:endParaRPr/>
          </a:p>
        </p:txBody>
      </p:sp>
      <p:sp>
        <p:nvSpPr>
          <p:cNvPr id="736" name="" descr="{&quot;isTemplate&quot;:true,&quot;type&quot;:&quot;text&quot;}"/>
          <p:cNvSpPr txBox="1"/>
          <p:nvPr/>
        </p:nvSpPr>
        <p:spPr>
          <a:xfrm rot="0" flipH="0" flipV="0">
            <a:off x="9058275" y="1647825"/>
            <a:ext cx="2381250" cy="133350"/>
          </a:xfrm>
          <a:prstGeom prst="rect"/>
        </p:spPr>
        <p:txBody>
          <a:bodyPr wrap="none" lIns="0" tIns="0" rIns="0" bIns="0"/>
          <a:p>
            <a:pPr>
              <a:lnSpc>
                <a:spcPct val="100000"/>
              </a:lnSpc>
            </a:pPr>
            <a:r>
              <a:rPr lang="zh-CN" sz="825">
                <a:solidFill>
                  <a:srgbClr val="FBA15C"/>
                </a:solidFill>
                <a:latin typeface="Microsoft YaHei"/>
                <a:ea typeface="Microsoft YaHei"/>
              </a:rPr>
              <a:t>策略即代码</a:t>
            </a:r>
            <a:r>
              <a:rPr lang="en-US" sz="825">
                <a:solidFill>
                  <a:srgbClr val="FBA15C"/>
                </a:solidFill>
                <a:latin typeface="Microsoft YaHei"/>
                <a:ea typeface="Microsoft YaHei"/>
              </a:rPr>
              <a:t xml:space="preserve"> · </a:t>
            </a:r>
            <a:r>
              <a:rPr lang="zh-CN" sz="825">
                <a:solidFill>
                  <a:srgbClr val="FBA15C"/>
                </a:solidFill>
                <a:latin typeface="Microsoft YaHei"/>
                <a:ea typeface="Microsoft YaHei"/>
              </a:rPr>
              <a:t>审计不可篡改</a:t>
            </a:r>
            <a:endParaRPr/>
          </a:p>
        </p:txBody>
      </p:sp>
      <p:sp>
        <p:nvSpPr>
          <p:cNvPr id="737" name="" descr="{&quot;isTemplate&quot;:true,&quot;type&quot;:&quot;text&quot;}"/>
          <p:cNvSpPr txBox="1"/>
          <p:nvPr/>
        </p:nvSpPr>
        <p:spPr>
          <a:xfrm rot="0" flipH="0" flipV="0">
            <a:off x="9058275" y="1866900"/>
            <a:ext cx="2381250" cy="200025"/>
          </a:xfrm>
          <a:prstGeom prst="rect"/>
        </p:spPr>
        <p:txBody>
          <a:bodyPr wrap="none" lIns="0" tIns="0" rIns="0" bIns="0"/>
          <a:p>
            <a:pPr>
              <a:lnSpc>
                <a:spcPct val="145000"/>
              </a:lnSpc>
            </a:pPr>
            <a:r>
              <a:rPr lang="en-US" sz="863">
                <a:solidFill>
                  <a:srgbClr val="FFFFFF">
                    <a:alpha val="82000"/>
                  </a:srgbClr>
                </a:solidFill>
                <a:latin typeface="Microsoft YaHei"/>
                <a:ea typeface="Microsoft YaHei"/>
              </a:rPr>
              <a:t xml:space="preserve">· </a:t>
            </a:r>
            <a:r>
              <a:rPr lang="zh-CN" sz="863">
                <a:solidFill>
                  <a:srgbClr val="FFFFFF">
                    <a:alpha val="82000"/>
                  </a:srgbClr>
                </a:solidFill>
                <a:latin typeface="Microsoft YaHei"/>
                <a:ea typeface="Microsoft YaHei"/>
              </a:rPr>
              <a:t>策略执行引擎（四种控制融合）</a:t>
            </a:r>
            <a:endParaRPr/>
          </a:p>
        </p:txBody>
      </p:sp>
      <p:sp>
        <p:nvSpPr>
          <p:cNvPr id="738" name="" descr="{&quot;isTemplate&quot;:true,&quot;type&quot;:&quot;text&quot;}"/>
          <p:cNvSpPr txBox="1"/>
          <p:nvPr/>
        </p:nvSpPr>
        <p:spPr>
          <a:xfrm rot="0" flipH="0" flipV="0">
            <a:off x="9058275" y="2114550"/>
            <a:ext cx="2381250" cy="200025"/>
          </a:xfrm>
          <a:prstGeom prst="rect"/>
        </p:spPr>
        <p:txBody>
          <a:bodyPr wrap="none" lIns="0" tIns="0" rIns="0" bIns="0"/>
          <a:p>
            <a:pPr>
              <a:lnSpc>
                <a:spcPct val="145000"/>
              </a:lnSpc>
            </a:pPr>
            <a:r>
              <a:rPr lang="en-US" sz="863">
                <a:solidFill>
                  <a:srgbClr val="FFFFFF">
                    <a:alpha val="82000"/>
                  </a:srgbClr>
                </a:solidFill>
                <a:latin typeface="Microsoft YaHei"/>
                <a:ea typeface="Microsoft YaHei"/>
              </a:rPr>
              <a:t xml:space="preserve">· </a:t>
            </a:r>
            <a:r>
              <a:rPr lang="zh-CN" sz="863">
                <a:solidFill>
                  <a:srgbClr val="FFFFFF">
                    <a:alpha val="82000"/>
                  </a:srgbClr>
                </a:solidFill>
                <a:latin typeface="Microsoft YaHei"/>
                <a:ea typeface="Microsoft YaHei"/>
              </a:rPr>
              <a:t>功能性加密服务（</a:t>
            </a:r>
            <a:r>
              <a:rPr lang="en-US" sz="863">
                <a:solidFill>
                  <a:srgbClr val="FFFFFF">
                    <a:alpha val="82000"/>
                  </a:srgbClr>
                </a:solidFill>
                <a:latin typeface="Microsoft YaHei"/>
                <a:ea typeface="Microsoft YaHei"/>
              </a:rPr>
              <a:t>Cipher</a:t>
            </a:r>
            <a:r>
              <a:rPr lang="zh-CN" sz="863">
                <a:solidFill>
                  <a:srgbClr val="FFFFFF">
                    <a:alpha val="82000"/>
                  </a:srgbClr>
                </a:solidFill>
                <a:latin typeface="Microsoft YaHei"/>
                <a:ea typeface="Microsoft YaHei"/>
              </a:rPr>
              <a:t>）</a:t>
            </a:r>
            <a:endParaRPr/>
          </a:p>
        </p:txBody>
      </p:sp>
      <p:sp>
        <p:nvSpPr>
          <p:cNvPr id="739" name="" descr="{&quot;isTemplate&quot;:true,&quot;type&quot;:&quot;text&quot;}"/>
          <p:cNvSpPr txBox="1"/>
          <p:nvPr/>
        </p:nvSpPr>
        <p:spPr>
          <a:xfrm rot="0" flipH="0" flipV="0">
            <a:off x="9058275" y="2362200"/>
            <a:ext cx="2381250" cy="200025"/>
          </a:xfrm>
          <a:prstGeom prst="rect"/>
        </p:spPr>
        <p:txBody>
          <a:bodyPr wrap="none" lIns="0" tIns="0" rIns="0" bIns="0"/>
          <a:p>
            <a:pPr>
              <a:lnSpc>
                <a:spcPct val="145000"/>
              </a:lnSpc>
            </a:pPr>
            <a:r>
              <a:rPr lang="en-US" sz="863">
                <a:solidFill>
                  <a:srgbClr val="FFFFFF">
                    <a:alpha val="82000"/>
                  </a:srgbClr>
                </a:solidFill>
                <a:latin typeface="Microsoft YaHei"/>
                <a:ea typeface="Microsoft YaHei"/>
              </a:rPr>
              <a:t xml:space="preserve">· </a:t>
            </a:r>
            <a:r>
              <a:rPr lang="zh-CN" sz="863">
                <a:solidFill>
                  <a:srgbClr val="FFFFFF">
                    <a:alpha val="82000"/>
                  </a:srgbClr>
                </a:solidFill>
                <a:latin typeface="Microsoft YaHei"/>
                <a:ea typeface="Microsoft YaHei"/>
              </a:rPr>
              <a:t>不可篡改审计存储（</a:t>
            </a:r>
            <a:r>
              <a:rPr lang="en-US" sz="863">
                <a:solidFill>
                  <a:srgbClr val="FFFFFF">
                    <a:alpha val="82000"/>
                  </a:srgbClr>
                </a:solidFill>
                <a:latin typeface="Microsoft YaHei"/>
                <a:ea typeface="Microsoft YaHei"/>
              </a:rPr>
              <a:t>Action Log</a:t>
            </a:r>
            <a:r>
              <a:rPr lang="zh-CN" sz="863">
                <a:solidFill>
                  <a:srgbClr val="FFFFFF">
                    <a:alpha val="82000"/>
                  </a:srgbClr>
                </a:solidFill>
                <a:latin typeface="Microsoft YaHei"/>
                <a:ea typeface="Microsoft YaHei"/>
              </a:rPr>
              <a:t>）</a:t>
            </a:r>
            <a:endParaRPr/>
          </a:p>
        </p:txBody>
      </p:sp>
      <p:sp>
        <p:nvSpPr>
          <p:cNvPr id="740" name="" descr="{&quot;isTemplate&quot;:true,&quot;type&quot;:&quot;text&quot;}"/>
          <p:cNvSpPr txBox="1"/>
          <p:nvPr/>
        </p:nvSpPr>
        <p:spPr>
          <a:xfrm rot="0" flipH="0" flipV="0">
            <a:off x="9058275" y="2609850"/>
            <a:ext cx="2381250" cy="200025"/>
          </a:xfrm>
          <a:prstGeom prst="rect"/>
        </p:spPr>
        <p:txBody>
          <a:bodyPr wrap="none" lIns="0" tIns="0" rIns="0" bIns="0"/>
          <a:p>
            <a:pPr>
              <a:lnSpc>
                <a:spcPct val="145000"/>
              </a:lnSpc>
            </a:pPr>
            <a:r>
              <a:rPr lang="en-US" sz="863">
                <a:solidFill>
                  <a:srgbClr val="FFFFFF">
                    <a:alpha val="82000"/>
                  </a:srgbClr>
                </a:solidFill>
                <a:latin typeface="Microsoft YaHei"/>
                <a:ea typeface="Microsoft YaHei"/>
              </a:rPr>
              <a:t xml:space="preserve">· </a:t>
            </a:r>
            <a:r>
              <a:rPr lang="zh-CN" sz="863">
                <a:solidFill>
                  <a:srgbClr val="FFFFFF">
                    <a:alpha val="82000"/>
                  </a:srgbClr>
                </a:solidFill>
                <a:latin typeface="Microsoft YaHei"/>
                <a:ea typeface="Microsoft YaHei"/>
              </a:rPr>
              <a:t>策略即代码仓库与版本化</a:t>
            </a:r>
            <a:endParaRPr/>
          </a:p>
        </p:txBody>
      </p:sp>
      <p:sp>
        <p:nvSpPr>
          <p:cNvPr id="741" name="" descr="{&quot;isTemplate&quot;:true,&quot;type&quot;:&quot;text&quot;}"/>
          <p:cNvSpPr txBox="1"/>
          <p:nvPr/>
        </p:nvSpPr>
        <p:spPr>
          <a:xfrm rot="0" flipH="0" flipV="0">
            <a:off x="9058275" y="2857500"/>
            <a:ext cx="2381250" cy="200025"/>
          </a:xfrm>
          <a:prstGeom prst="rect"/>
        </p:spPr>
        <p:txBody>
          <a:bodyPr wrap="none" lIns="0" tIns="0" rIns="0" bIns="0"/>
          <a:p>
            <a:pPr>
              <a:lnSpc>
                <a:spcPct val="145000"/>
              </a:lnSpc>
            </a:pPr>
            <a:r>
              <a:rPr lang="en-US" sz="863">
                <a:solidFill>
                  <a:srgbClr val="FFFFFF">
                    <a:alpha val="82000"/>
                  </a:srgbClr>
                </a:solidFill>
                <a:latin typeface="Microsoft YaHei"/>
                <a:ea typeface="Microsoft YaHei"/>
              </a:rPr>
              <a:t xml:space="preserve">· </a:t>
            </a:r>
            <a:r>
              <a:rPr lang="zh-CN" sz="863">
                <a:solidFill>
                  <a:srgbClr val="FFFFFF">
                    <a:alpha val="82000"/>
                  </a:srgbClr>
                </a:solidFill>
                <a:latin typeface="Microsoft YaHei"/>
                <a:ea typeface="Microsoft YaHei"/>
              </a:rPr>
              <a:t>精确策略比较引擎（上限</a:t>
            </a:r>
            <a:r>
              <a:rPr lang="en-US" sz="863">
                <a:solidFill>
                  <a:srgbClr val="FFFFFF">
                    <a:alpha val="82000"/>
                  </a:srgbClr>
                </a:solidFill>
                <a:latin typeface="Microsoft YaHei"/>
                <a:ea typeface="Microsoft YaHei"/>
              </a:rPr>
              <a:t xml:space="preserve"> 10,000</a:t>
            </a:r>
            <a:r>
              <a:rPr lang="zh-CN" sz="863">
                <a:solidFill>
                  <a:srgbClr val="FFFFFF">
                    <a:alpha val="82000"/>
                  </a:srgbClr>
                </a:solidFill>
                <a:latin typeface="Microsoft YaHei"/>
                <a:ea typeface="Microsoft YaHei"/>
              </a:rPr>
              <a:t>）</a:t>
            </a:r>
            <a:endParaRPr/>
          </a:p>
        </p:txBody>
      </p:sp>
      <p:sp>
        <p:nvSpPr>
          <p:cNvPr id="742" name="" descr="{&quot;isTemplate&quot;:true,&quot;type&quot;:&quot;text&quot;}"/>
          <p:cNvSpPr txBox="1"/>
          <p:nvPr/>
        </p:nvSpPr>
        <p:spPr>
          <a:xfrm rot="0" flipH="0" flipV="0">
            <a:off x="9058275" y="3105150"/>
            <a:ext cx="2381250" cy="200025"/>
          </a:xfrm>
          <a:prstGeom prst="rect"/>
        </p:spPr>
        <p:txBody>
          <a:bodyPr wrap="none" lIns="0" tIns="0" rIns="0" bIns="0"/>
          <a:p>
            <a:pPr>
              <a:lnSpc>
                <a:spcPct val="145000"/>
              </a:lnSpc>
            </a:pPr>
            <a:r>
              <a:rPr lang="en-US" sz="863">
                <a:solidFill>
                  <a:srgbClr val="FFFFFF">
                    <a:alpha val="82000"/>
                  </a:srgbClr>
                </a:solidFill>
                <a:latin typeface="Microsoft YaHei"/>
                <a:ea typeface="Microsoft YaHei"/>
              </a:rPr>
              <a:t xml:space="preserve">· </a:t>
            </a:r>
            <a:r>
              <a:rPr lang="zh-CN" sz="863">
                <a:solidFill>
                  <a:srgbClr val="FFFFFF">
                    <a:alpha val="82000"/>
                  </a:srgbClr>
                </a:solidFill>
                <a:latin typeface="Microsoft YaHei"/>
                <a:ea typeface="Microsoft YaHei"/>
              </a:rPr>
              <a:t>密级计算与降级网关</a:t>
            </a:r>
            <a:endParaRPr/>
          </a:p>
        </p:txBody>
      </p:sp>
      <p:sp>
        <p:nvSpPr>
          <p:cNvPr id="743" name=""/>
          <p:cNvSpPr/>
          <p:nvPr/>
        </p:nvSpPr>
        <p:spPr>
          <a:xfrm rot="0" flipH="0" flipV="0">
            <a:off x="9058275" y="3590925"/>
            <a:ext cx="2381250" cy="476250"/>
          </a:xfrm>
          <a:prstGeom prst="roundRect">
            <a:avLst>
              <a:gd name="adj" fmla="val 6000"/>
            </a:avLst>
          </a:prstGeom>
          <a:solidFill>
            <a:srgbClr val="FA4F24">
              <a:alpha val="18000"/>
            </a:srgbClr>
          </a:solidFill>
          <a:ln/>
        </p:spPr>
        <p:txBody>
          <a:bodyPr/>
          <a:p/>
        </p:txBody>
      </p:sp>
      <p:sp>
        <p:nvSpPr>
          <p:cNvPr id="744" name="" descr="{&quot;isTemplate&quot;:true,&quot;type&quot;:&quot;text&quot;}"/>
          <p:cNvSpPr txBox="1"/>
          <p:nvPr/>
        </p:nvSpPr>
        <p:spPr>
          <a:xfrm rot="0" flipH="0" flipV="0">
            <a:off x="9144000" y="3657600"/>
            <a:ext cx="2209800" cy="342900"/>
          </a:xfrm>
          <a:prstGeom prst="rect"/>
        </p:spPr>
        <p:txBody>
          <a:bodyPr wrap="square" lIns="0" tIns="0" rIns="0" bIns="0">
            <a:normAutofit/>
          </a:bodyPr>
          <a:p>
            <a:pPr>
              <a:lnSpc>
                <a:spcPct val="140000"/>
              </a:lnSpc>
            </a:pPr>
            <a:r>
              <a:rPr lang="zh-CN" sz="788">
                <a:solidFill>
                  <a:srgbClr val="FFFFFF">
                    <a:alpha val="90000"/>
                  </a:srgbClr>
                </a:solidFill>
                <a:latin typeface="Microsoft YaHei"/>
                <a:ea typeface="Microsoft YaHei"/>
              </a:rPr>
              <a:t>特殊之处：策略引擎是热路径，必须</a:t>
            </a:r>
            <a:r>
              <a:rPr lang="zh-CN" sz="788">
                <a:solidFill>
                  <a:srgbClr val="FFFFFF">
                    <a:alpha val="90000"/>
                  </a:srgbClr>
                </a:solidFill>
                <a:latin typeface="Microsoft YaHei"/>
                <a:ea typeface="Microsoft YaHei"/>
              </a:rPr>
              <a:t>可解释、可回放、可回滚</a:t>
            </a:r>
            <a:r>
              <a:rPr lang="zh-CN" sz="788">
                <a:solidFill>
                  <a:srgbClr val="FFFFFF">
                    <a:alpha val="90000"/>
                  </a:srgbClr>
                </a:solidFill>
                <a:latin typeface="Microsoft YaHei"/>
                <a:ea typeface="Microsoft YaHei"/>
              </a:rPr>
              <a:t>。</a:t>
            </a:r>
            <a:endParaRPr/>
          </a:p>
        </p:txBody>
      </p:sp>
      <p:sp>
        <p:nvSpPr>
          <p:cNvPr id="745" name=""/>
          <p:cNvSpPr/>
          <p:nvPr/>
        </p:nvSpPr>
        <p:spPr>
          <a:xfrm rot="0" flipH="0" flipV="0">
            <a:off x="647700" y="4286250"/>
            <a:ext cx="10972800" cy="1352550"/>
          </a:xfrm>
          <a:prstGeom prst="roundRect">
            <a:avLst>
              <a:gd name="adj" fmla="val 2817"/>
            </a:avLst>
          </a:prstGeom>
          <a:solidFill>
            <a:srgbClr val="FFF3EE"/>
          </a:solidFill>
          <a:ln/>
        </p:spPr>
        <p:txBody>
          <a:bodyPr/>
          <a:p/>
        </p:txBody>
      </p:sp>
      <p:sp>
        <p:nvSpPr>
          <p:cNvPr id="746" name=""/>
          <p:cNvSpPr/>
          <p:nvPr/>
        </p:nvSpPr>
        <p:spPr>
          <a:xfrm rot="0" flipH="0" flipV="0">
            <a:off x="647700" y="4286250"/>
            <a:ext cx="10972800" cy="1352550"/>
          </a:xfrm>
          <a:custGeom>
            <a:pathLst>
              <a:path w="1152" h="142">
                <a:moveTo>
                  <a:pt x="4" y="142"/>
                </a:moveTo>
                <a:cubicBezTo>
                  <a:pt x="2" y="142"/>
                  <a:pt x="0" y="140"/>
                  <a:pt x="0" y="138"/>
                </a:cubicBezTo>
                <a:lnTo>
                  <a:pt x="0" y="4"/>
                </a:lnTo>
                <a:cubicBezTo>
                  <a:pt x="0" y="2"/>
                  <a:pt x="2" y="0"/>
                  <a:pt x="4" y="0"/>
                </a:cubicBezTo>
                <a:lnTo>
                  <a:pt x="4" y="142"/>
                </a:lnTo>
                <a:close/>
              </a:path>
            </a:pathLst>
          </a:custGeom>
          <a:solidFill>
            <a:srgbClr val="FA4F24"/>
          </a:solidFill>
          <a:ln/>
        </p:spPr>
        <p:txBody>
          <a:bodyPr/>
          <a:p/>
        </p:txBody>
      </p:sp>
      <p:sp>
        <p:nvSpPr>
          <p:cNvPr id="747" name="" descr="{&quot;isTemplate&quot;:true,&quot;type&quot;:&quot;text&quot;}"/>
          <p:cNvSpPr txBox="1"/>
          <p:nvPr/>
        </p:nvSpPr>
        <p:spPr>
          <a:xfrm rot="0" flipH="0" flipV="0">
            <a:off x="819150" y="4886325"/>
            <a:ext cx="1733550" cy="161925"/>
          </a:xfrm>
          <a:prstGeom prst="rect"/>
        </p:spPr>
        <p:txBody>
          <a:bodyPr wrap="none" lIns="0" tIns="0" rIns="0" bIns="0"/>
          <a:p>
            <a:pPr>
              <a:lnSpc>
                <a:spcPct val="100000"/>
              </a:lnSpc>
            </a:pPr>
            <a:r>
              <a:rPr lang="zh-CN" sz="1050" b="1">
                <a:solidFill>
                  <a:srgbClr val="C43A17"/>
                </a:solidFill>
                <a:latin typeface="Microsoft YaHei"/>
                <a:ea typeface="Microsoft YaHei"/>
              </a:rPr>
              <a:t>数据治理的四个「特有之处」</a:t>
            </a:r>
            <a:endParaRPr/>
          </a:p>
        </p:txBody>
      </p:sp>
      <p:sp>
        <p:nvSpPr>
          <p:cNvPr id="748" name=""/>
          <p:cNvSpPr/>
          <p:nvPr/>
        </p:nvSpPr>
        <p:spPr>
          <a:xfrm rot="0" flipH="0" flipV="0">
            <a:off x="2686050" y="4667250"/>
            <a:ext cx="9525" cy="590550"/>
          </a:xfrm>
          <a:prstGeom prst="rect">
            <a:avLst/>
          </a:prstGeom>
          <a:solidFill>
            <a:srgbClr val="FBA15C"/>
          </a:solidFill>
          <a:ln/>
        </p:spPr>
        <p:txBody>
          <a:bodyPr/>
          <a:p/>
        </p:txBody>
      </p:sp>
      <p:sp>
        <p:nvSpPr>
          <p:cNvPr id="749" name=""/>
          <p:cNvSpPr/>
          <p:nvPr/>
        </p:nvSpPr>
        <p:spPr>
          <a:xfrm rot="0" flipH="0" flipV="0">
            <a:off x="2828925" y="4705350"/>
            <a:ext cx="2047875" cy="523875"/>
          </a:xfrm>
          <a:prstGeom prst="roundRect">
            <a:avLst>
              <a:gd name="adj" fmla="val 5455"/>
            </a:avLst>
          </a:prstGeom>
          <a:solidFill>
            <a:srgbClr val="FFFFFF"/>
          </a:solidFill>
          <a:ln/>
        </p:spPr>
        <p:txBody>
          <a:bodyPr/>
          <a:p/>
        </p:txBody>
      </p:sp>
      <p:sp>
        <p:nvSpPr>
          <p:cNvPr id="750" name="" descr="{&quot;isTemplate&quot;:true,&quot;type&quot;:&quot;text&quot;}"/>
          <p:cNvSpPr txBox="1"/>
          <p:nvPr/>
        </p:nvSpPr>
        <p:spPr>
          <a:xfrm rot="0" flipH="0" flipV="0">
            <a:off x="2933700" y="4791075"/>
            <a:ext cx="1838325" cy="142875"/>
          </a:xfrm>
          <a:prstGeom prst="rect"/>
        </p:spPr>
        <p:txBody>
          <a:bodyPr wrap="none" lIns="0" tIns="0" rIns="0" bIns="0"/>
          <a:p>
            <a:pPr>
              <a:lnSpc>
                <a:spcPct val="100000"/>
              </a:lnSpc>
            </a:pPr>
            <a:r>
              <a:rPr lang="zh-CN" sz="900" b="1">
                <a:solidFill>
                  <a:srgbClr val="0F1423"/>
                </a:solidFill>
                <a:latin typeface="Microsoft YaHei"/>
                <a:ea typeface="Microsoft YaHei"/>
              </a:rPr>
              <a:t>治理对象是策略本身</a:t>
            </a:r>
            <a:endParaRPr/>
          </a:p>
        </p:txBody>
      </p:sp>
      <p:sp>
        <p:nvSpPr>
          <p:cNvPr id="751" name="" descr="{&quot;isTemplate&quot;:true,&quot;type&quot;:&quot;text&quot;}"/>
          <p:cNvSpPr txBox="1"/>
          <p:nvPr/>
        </p:nvSpPr>
        <p:spPr>
          <a:xfrm rot="0" flipH="0" flipV="0">
            <a:off x="2933700" y="4972050"/>
            <a:ext cx="1838325" cy="171450"/>
          </a:xfrm>
          <a:prstGeom prst="rect"/>
        </p:spPr>
        <p:txBody>
          <a:bodyPr wrap="none" lIns="0" tIns="0" rIns="0" bIns="0"/>
          <a:p>
            <a:pPr>
              <a:lnSpc>
                <a:spcPct val="140000"/>
              </a:lnSpc>
            </a:pPr>
            <a:r>
              <a:rPr lang="zh-CN" sz="788">
                <a:solidFill>
                  <a:srgbClr val="3A4050"/>
                </a:solidFill>
                <a:latin typeface="Microsoft YaHei"/>
                <a:ea typeface="Microsoft YaHei"/>
              </a:rPr>
              <a:t>管的是谁能用、干什么、谁担责</a:t>
            </a:r>
            <a:endParaRPr/>
          </a:p>
        </p:txBody>
      </p:sp>
      <p:sp>
        <p:nvSpPr>
          <p:cNvPr id="752" name=""/>
          <p:cNvSpPr/>
          <p:nvPr/>
        </p:nvSpPr>
        <p:spPr>
          <a:xfrm rot="0" flipH="0" flipV="0">
            <a:off x="5010150" y="4705350"/>
            <a:ext cx="2047875" cy="523875"/>
          </a:xfrm>
          <a:prstGeom prst="roundRect">
            <a:avLst>
              <a:gd name="adj" fmla="val 5455"/>
            </a:avLst>
          </a:prstGeom>
          <a:solidFill>
            <a:srgbClr val="FFFFFF"/>
          </a:solidFill>
          <a:ln/>
        </p:spPr>
        <p:txBody>
          <a:bodyPr/>
          <a:p/>
        </p:txBody>
      </p:sp>
      <p:sp>
        <p:nvSpPr>
          <p:cNvPr id="753" name="" descr="{&quot;isTemplate&quot;:true,&quot;type&quot;:&quot;text&quot;}"/>
          <p:cNvSpPr txBox="1"/>
          <p:nvPr/>
        </p:nvSpPr>
        <p:spPr>
          <a:xfrm rot="0" flipH="0" flipV="0">
            <a:off x="5114925" y="4791075"/>
            <a:ext cx="1838325" cy="142875"/>
          </a:xfrm>
          <a:prstGeom prst="rect"/>
        </p:spPr>
        <p:txBody>
          <a:bodyPr wrap="none" lIns="0" tIns="0" rIns="0" bIns="0"/>
          <a:p>
            <a:pPr>
              <a:lnSpc>
                <a:spcPct val="100000"/>
              </a:lnSpc>
            </a:pPr>
            <a:r>
              <a:rPr lang="zh-CN" sz="900" b="1">
                <a:solidFill>
                  <a:srgbClr val="0F1423"/>
                </a:solidFill>
                <a:latin typeface="Microsoft YaHei"/>
                <a:ea typeface="Microsoft YaHei"/>
              </a:rPr>
              <a:t>失败是静默的</a:t>
            </a:r>
            <a:endParaRPr/>
          </a:p>
        </p:txBody>
      </p:sp>
      <p:sp>
        <p:nvSpPr>
          <p:cNvPr id="754" name="" descr="{&quot;isTemplate&quot;:true,&quot;type&quot;:&quot;text&quot;}"/>
          <p:cNvSpPr txBox="1"/>
          <p:nvPr/>
        </p:nvSpPr>
        <p:spPr>
          <a:xfrm rot="0" flipH="0" flipV="0">
            <a:off x="5114925" y="4972050"/>
            <a:ext cx="1838325" cy="171450"/>
          </a:xfrm>
          <a:prstGeom prst="rect"/>
        </p:spPr>
        <p:txBody>
          <a:bodyPr wrap="none" lIns="0" tIns="0" rIns="0" bIns="0"/>
          <a:p>
            <a:pPr>
              <a:lnSpc>
                <a:spcPct val="140000"/>
              </a:lnSpc>
            </a:pPr>
            <a:r>
              <a:rPr lang="zh-CN" sz="788">
                <a:solidFill>
                  <a:srgbClr val="3A4050"/>
                </a:solidFill>
                <a:latin typeface="Microsoft YaHei"/>
                <a:ea typeface="Microsoft YaHei"/>
              </a:rPr>
              <a:t>越权不报错，审计是唯一检出手段</a:t>
            </a:r>
            <a:endParaRPr/>
          </a:p>
        </p:txBody>
      </p:sp>
      <p:sp>
        <p:nvSpPr>
          <p:cNvPr id="755" name=""/>
          <p:cNvSpPr/>
          <p:nvPr/>
        </p:nvSpPr>
        <p:spPr>
          <a:xfrm rot="0" flipH="0" flipV="0">
            <a:off x="7191375" y="4705350"/>
            <a:ext cx="2038350" cy="523875"/>
          </a:xfrm>
          <a:prstGeom prst="roundRect">
            <a:avLst>
              <a:gd name="adj" fmla="val 5455"/>
            </a:avLst>
          </a:prstGeom>
          <a:solidFill>
            <a:srgbClr val="FFFFFF"/>
          </a:solidFill>
          <a:ln/>
        </p:spPr>
        <p:txBody>
          <a:bodyPr/>
          <a:p/>
        </p:txBody>
      </p:sp>
      <p:sp>
        <p:nvSpPr>
          <p:cNvPr id="756" name="" descr="{&quot;isTemplate&quot;:true,&quot;type&quot;:&quot;text&quot;}"/>
          <p:cNvSpPr txBox="1"/>
          <p:nvPr/>
        </p:nvSpPr>
        <p:spPr>
          <a:xfrm rot="0" flipH="0" flipV="0">
            <a:off x="7296150" y="4791075"/>
            <a:ext cx="1828800" cy="142875"/>
          </a:xfrm>
          <a:prstGeom prst="rect"/>
        </p:spPr>
        <p:txBody>
          <a:bodyPr wrap="none" lIns="0" tIns="0" rIns="0" bIns="0"/>
          <a:p>
            <a:pPr>
              <a:lnSpc>
                <a:spcPct val="100000"/>
              </a:lnSpc>
            </a:pPr>
            <a:r>
              <a:rPr lang="zh-CN" sz="900" b="1">
                <a:solidFill>
                  <a:srgbClr val="0F1423"/>
                </a:solidFill>
                <a:latin typeface="Microsoft YaHei"/>
                <a:ea typeface="Microsoft YaHei"/>
              </a:rPr>
              <a:t>必须可退</a:t>
            </a:r>
            <a:endParaRPr/>
          </a:p>
        </p:txBody>
      </p:sp>
      <p:sp>
        <p:nvSpPr>
          <p:cNvPr id="757" name="" descr="{&quot;isTemplate&quot;:true,&quot;type&quot;:&quot;text&quot;}"/>
          <p:cNvSpPr txBox="1"/>
          <p:nvPr/>
        </p:nvSpPr>
        <p:spPr>
          <a:xfrm rot="0" flipH="0" flipV="0">
            <a:off x="7296150" y="4972050"/>
            <a:ext cx="1828800" cy="171450"/>
          </a:xfrm>
          <a:prstGeom prst="rect"/>
        </p:spPr>
        <p:txBody>
          <a:bodyPr wrap="none" lIns="0" tIns="0" rIns="0" bIns="0"/>
          <a:p>
            <a:pPr>
              <a:lnSpc>
                <a:spcPct val="140000"/>
              </a:lnSpc>
            </a:pPr>
            <a:r>
              <a:rPr lang="zh-CN" sz="788">
                <a:solidFill>
                  <a:srgbClr val="3A4050"/>
                </a:solidFill>
                <a:latin typeface="Microsoft YaHei"/>
                <a:ea typeface="Microsoft YaHei"/>
              </a:rPr>
              <a:t>密级只能升不能降是假治理</a:t>
            </a:r>
            <a:endParaRPr/>
          </a:p>
        </p:txBody>
      </p:sp>
      <p:sp>
        <p:nvSpPr>
          <p:cNvPr id="758" name=""/>
          <p:cNvSpPr/>
          <p:nvPr/>
        </p:nvSpPr>
        <p:spPr>
          <a:xfrm rot="0" flipH="0" flipV="0">
            <a:off x="9363075" y="4705350"/>
            <a:ext cx="2047875" cy="523875"/>
          </a:xfrm>
          <a:prstGeom prst="roundRect">
            <a:avLst>
              <a:gd name="adj" fmla="val 5455"/>
            </a:avLst>
          </a:prstGeom>
          <a:solidFill>
            <a:srgbClr val="FFFFFF"/>
          </a:solidFill>
          <a:ln/>
        </p:spPr>
        <p:txBody>
          <a:bodyPr/>
          <a:p/>
        </p:txBody>
      </p:sp>
      <p:sp>
        <p:nvSpPr>
          <p:cNvPr id="759" name="" descr="{&quot;isTemplate&quot;:true,&quot;type&quot;:&quot;text&quot;}"/>
          <p:cNvSpPr txBox="1"/>
          <p:nvPr/>
        </p:nvSpPr>
        <p:spPr>
          <a:xfrm rot="0" flipH="0" flipV="0">
            <a:off x="9467850" y="4791075"/>
            <a:ext cx="1838325" cy="142875"/>
          </a:xfrm>
          <a:prstGeom prst="rect"/>
        </p:spPr>
        <p:txBody>
          <a:bodyPr wrap="none" lIns="0" tIns="0" rIns="0" bIns="0"/>
          <a:p>
            <a:pPr>
              <a:lnSpc>
                <a:spcPct val="100000"/>
              </a:lnSpc>
            </a:pPr>
            <a:r>
              <a:rPr lang="en-US" sz="900" b="1">
                <a:solidFill>
                  <a:srgbClr val="0F1423"/>
                </a:solidFill>
                <a:latin typeface="Microsoft YaHei"/>
                <a:ea typeface="Microsoft YaHei"/>
              </a:rPr>
              <a:t xml:space="preserve">AI </a:t>
            </a:r>
            <a:r>
              <a:rPr lang="zh-CN" sz="900" b="1">
                <a:solidFill>
                  <a:srgbClr val="0F1423"/>
                </a:solidFill>
                <a:latin typeface="Microsoft YaHei"/>
                <a:ea typeface="Microsoft YaHei"/>
              </a:rPr>
              <a:t>多了一层对象</a:t>
            </a:r>
            <a:endParaRPr/>
          </a:p>
        </p:txBody>
      </p:sp>
      <p:sp>
        <p:nvSpPr>
          <p:cNvPr id="760" name="" descr="{&quot;isTemplate&quot;:true,&quot;type&quot;:&quot;text&quot;}"/>
          <p:cNvSpPr txBox="1"/>
          <p:nvPr/>
        </p:nvSpPr>
        <p:spPr>
          <a:xfrm rot="0" flipH="0" flipV="0">
            <a:off x="9467850" y="4972050"/>
            <a:ext cx="1838325" cy="171450"/>
          </a:xfrm>
          <a:prstGeom prst="rect"/>
        </p:spPr>
        <p:txBody>
          <a:bodyPr wrap="none" lIns="0" tIns="0" rIns="0" bIns="0"/>
          <a:p>
            <a:pPr>
              <a:lnSpc>
                <a:spcPct val="140000"/>
              </a:lnSpc>
            </a:pPr>
            <a:r>
              <a:rPr lang="zh-CN" sz="788">
                <a:solidFill>
                  <a:srgbClr val="3A4050"/>
                </a:solidFill>
                <a:latin typeface="Microsoft YaHei"/>
                <a:ea typeface="Microsoft YaHei"/>
              </a:rPr>
              <a:t>工具、记忆、遥测日志都受管</a:t>
            </a:r>
            <a:endParaRPr/>
          </a:p>
        </p:txBody>
      </p:sp>
      <p:sp>
        <p:nvSpPr>
          <p:cNvPr id="761"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762" name=""/>
          <p:cNvSpPr/>
          <p:nvPr/>
        </p:nvSpPr>
        <p:spPr>
          <a:xfrm rot="0" flipH="0" flipV="0">
            <a:off x="609600" y="5953125"/>
            <a:ext cx="95250" cy="95250"/>
          </a:xfrm>
          <a:prstGeom prst="rect">
            <a:avLst/>
          </a:prstGeom>
          <a:solidFill>
            <a:srgbClr val="FA4F24"/>
          </a:solidFill>
          <a:ln/>
        </p:spPr>
        <p:txBody>
          <a:bodyPr/>
          <a:p/>
        </p:txBody>
      </p:sp>
      <p:sp>
        <p:nvSpPr>
          <p:cNvPr id="763"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764"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24 / 30</a:t>
            </a:r>
            <a:endParaRPr/>
          </a:p>
        </p:txBody>
      </p:sp>
    </p:spTree>
  </p:cSld>
</p:sld>
</file>

<file path=ppt/slides/slide25.xml><?xml version="1.0" encoding="utf-8"?>
<p:sld xmlns:p="http://schemas.openxmlformats.org/presentationml/2006/main" xmlns:a="http://schemas.openxmlformats.org/drawingml/2006/main">
  <p:cSld>
    <p:spTree>
      <p:nvGrpSpPr>
        <p:cNvPr id="765" name="" descr="&lt;Slide style={{ width: 1280, height: 720, background: '#FFFFFF', padding: '24px 64px 0' }}&gt;&#10;  &lt;Box style={{ height: 96, flexDirection: 'column', justifyContent: 'flex-start' }}&gt;&#10;    &lt;Text style={{ fontSize: 32, fontWeight: 'bold', color: '#0F1423' }}&gt;&#10;      BA 层：治理是一次&lt;span style={{ color: '#FA4F24' }}&gt;责任分配&lt;/span&gt;，不是一次技术选型&#10;    &lt;/Text&gt;&#10;    &lt;Text style={{ fontSize: 20, color: '#8A8F99', marginTop: 8 }}&gt;&#10;      技术能把权限卡死，但卡不住「这件事该不该做」——那必须由人来裁定&#10;    &lt;/Text&gt;&#10;  &lt;/Box&gt;&#10;  &lt;Box style={{ height: 1, background: '#E8E8E8' }} /&gt;&#10;&#10;  &lt;Box style={{ paddingTop: 14, paddingBottom: 8, height: 479, flexDirection: 'column', gap: 10 }}&gt;&#10;    &lt;Box style={{ flex: 1, flexDirection: 'row', gap: 10 }}&gt;&#10;      &lt;Box style={{ flex: 1.25, background: '#FFFFFF', border: '1px solid #E8E8E8', borderRadius: 4, padding: '13px 17px', flexDirection: 'column' }}&gt;&#10;        &lt;Text style={{ fontSize: 14, fontWeight: 'bold', color: '#0F1423' }}&gt;五类角色与他们的裁决权&lt;/Text&gt;&#10;        &lt;Box style={{ flex: 1, marginTop: 10, flexDirection: 'column', gap: 7 }}&gt;&#10;          {[&#10;            { r: '数据所有者', p: '定义密级类别与用途范围', c: '#FA4F24', n: '业务侧' },&#10;            { r: '数据管理员', p: '执行打标、分类分级与日常维护', c: '#F87D2F', n: '数据侧' },&#10;            { r: '合规官', p: '审批降级、去标记与用途放行', c: '#C43A17', n: '合规侧' },&#10;            { r: '审批人', p: '除作者外的第二人复核（强制）', c: '#0F1423', n: '管理层' },&#10;            { r: '使用人', p: '在授权范围内消费，不得转授', c: '#8A8F99', n: '消费侧' },&#10;          ].map((x) =&gt; (&#10;            &lt;Box key={x.r} style={{ flexDirection: 'row', gap: 9, alignItems: 'center' }}&gt;&#10;              &lt;Box style={{ width: 92, background: '#F7F7F8', borderRadius: 3, borderLeft: '3px solid ' + x.c, padding: '6px 8px' }}&gt;&#10;                &lt;Text style={{ fontSize: 11.5, fontWeight: 'bold', color: '#0F1423' }}&gt;{x.r}&lt;/Text&gt;&#10;              &lt;/Box&gt;&#10;              &lt;Text style={{ fontSize: 11.5, color: '#3A4050', flex: 1, lineHeight: 1.45 }}&gt;{x.p}&lt;/Text&gt;&#10;              &lt;Text style={{ fontSize: 10.5, color: x.c, fontWeight: 'bold' }}&gt;{x.n}&lt;/Text&gt;&#10;            &lt;/Box&gt;&#10;          ))}&#10;        &lt;/Box&gt;&#10;        &lt;Box style={{ marginTop: 9, background: '#FFF3EE', borderRadius: 3, padding: '8px 11px' }}&gt;&#10;          &lt;Text style={{ fontSize: 11.5, color: '#3A4050', lineHeight: 1.5 }}&gt;&#10;            常见失败：把五类角色压成两类——「安全部门管规则，业务部门随便用」。结果是规则没人落地、业务没人敢用。&#10;          &lt;/Text&gt;&#10;        &lt;/Box&gt;&#10;      &lt;/Box&gt;&#10;&#10;      &lt;Box style={{ flex: 1, background: '#0F1423', borderRadius: 4, padding: '13px 17px', flexDirection: 'column' }}&gt;&#10;        &lt;Text style={{ fontSize: 14, fontWeight: 'bold', color: '#FBA15C' }}&gt;责任矩阵 RACI 的治理版本&lt;/Text&gt;&#10;        &lt;Box style={{ flex: 1, marginTop: 10, flexDirection: 'column', gap: 5 }}&gt;&#10;          {[&#10;            { t: 'R 执行', d: '数据管理员负责执行打标与策略落地' },&#10;            { t: 'A 批准', d: '合规官对降级与用途放行负最终责任' },&#10;            { t: 'C 咨询', d: '安全部门提供八项原则与基线要求' },&#10;            { t: 'I 知会', d: '使用方需知晓自己的授权边界与记录方式' },&#10;          ].map((x) =&gt; (&#10;            &lt;Box key={x.t} style={{ background: 'rgba(255,255,255,0.07)', borderRadius: 3, borderLeft: '3px solid #FBA15C', padding: '7px 10px' }}&gt;&#10;              &lt;Text style={{ fontSize: 11.5, fontWeight: 'bold', color: '#FFFFFF' }}&gt;{x.t}&lt;/Text&gt;&#10;              &lt;Text style={{ fontSize: 11, color: 'rgba(255,255,255,0.78)', marginTop: 3, lineHeight: 1.45 }}&gt;{x.d}&lt;/Text&gt;&#10;            &lt;/Box&gt;&#10;          ))}&#10;        &lt;/Box&gt;&#10;        &lt;Box style={{ marginTop: 9, background: 'rgba(250,79,36,0.18)', borderRadius: 3, padding: '8px 11px' }}&gt;&#10;          &lt;Text style={{ fontSize: 11.5, color: 'rgba(255,255,255,0.9)', lineHeight: 1.5 }}&gt;&#10;            每一条策略都必须能指出它的 A（批准人）。指不出来的策略，就是没审批的策略，等于没有策略。&#10;          &lt;/Text&gt;&#10;        &lt;/Box&gt;&#10;      &lt;/Box&gt;&#10;&#10;      &lt;Box style={{ flex: 1, background: '#FFF3EE', borderRadius: 4, borderLeft: '4px solid #FA4F24', padding: '13px 17px', flexDirection: 'column', justifyContent: 'center' }}&gt;&#10;        &lt;Text style={{ fontSize: 14, fontWeight: 'bold', color: '#C43A17' }}&gt;BA 层三个必答问题&lt;/Text&gt;&#10;        &lt;Box style={{ flexDirection: 'column', gap: 8, marginTop: 9 }}&gt;&#10;          {[&#10;            { q: '这个对象的密级由谁定？', a: '定不了就说明业务侧没参与，治理会退化成IT 自娱自乐。' },&#10;            { q: '出了泄露事故，向谁通报？', a: '必须有唯一接收人，且这个人的名字要写进策略里。' },&#10;            { q: '降级申请的审批人是谁？', a: '不能是申请人的直属上级——层级越近越容易放水。' },&#10;          ].map((x) =&gt; (&#10;            &lt;Box key={x.q}&gt;&#10;              &lt;Text style={{ fontSize: 12.5, fontWeight: 'bold', color: '#0F1423' }}&gt;{x.q}&lt;/Text&gt;&#10;              &lt;Text style={{ fontSize: 11.5, color: '#3A4050', marginTop: 3, lineHeight: 1.45 }}&gt;{x.a}&lt;/Text&gt;&#10;            &lt;/Box&gt;&#10;          ))}&#10;        &lt;/Box&gt;&#10;      &lt;/Box&gt;&#10;    &lt;/Box&gt;&#10;&#10;    &lt;Box style={{ height: 92, background: '#F7F7F8', borderRadius: 4, padding: '11px 18px', flexDirection: 'column' }}&gt;&#10;      &lt;Text style={{ fontSize: 13.5, fontWeight: 'bold', color: '#0F1423' }}&gt;BA 层的产出物清单&lt;/Text&gt;&#10;      &lt;Box style={{ flexDirection: 'row', gap: 8, marginTop: 8 }}&gt;&#10;        {[&#10;          '数据治理责任矩阵（RACI）',&#10;          '密级与用途定义说明书',&#10;          '降级与撤回审批流程（含二审人）',&#10;          '争议裁决与例外登记簿',&#10;          '违规处理与问责规则',&#10;        ].map((t) =&gt; (&#10;          &lt;Box key={t} style={{ flex: 1, background: '#FFFFFF', borderRadius: 3, borderTop: '3px solid #FA4F24', padding: '8px 10px' }}&gt;&#10;            &lt;Text style={{ fontSize: 11.5, color: '#3A4050', lineHeight: 1.45 }}&gt;{t}&lt;/Text&gt;&#10;          &lt;/Box&gt;&#10;        ))}&#10;      &lt;/Box&gt;&#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25 / 30&lt;/Text&gt;&#10;  &lt;/Box&gt;&#10;&lt;/Slide&gt;"/>
        <p:cNvGrpSpPr/>
        <p:nvPr/>
      </p:nvGrpSpPr>
      <p:grpSpPr>
        <a:xfrm>
          <a:off x="0" y="0"/>
          <a:ext cx="0" cy="0"/>
          <a:chOff x="0" y="0"/>
          <a:chExt cx="0" cy="0"/>
        </a:xfrm>
      </p:grpSpPr>
      <p:sp>
        <p:nvSpPr>
          <p:cNvPr id="766" name=""/>
          <p:cNvSpPr/>
          <p:nvPr/>
        </p:nvSpPr>
        <p:spPr>
          <a:xfrm rot="0" flipH="0" flipV="0">
            <a:off x="0" y="0"/>
            <a:ext cx="12192000" cy="6858000"/>
          </a:xfrm>
          <a:prstGeom prst="rect">
            <a:avLst/>
          </a:prstGeom>
          <a:solidFill>
            <a:srgbClr val="FFFFFF"/>
          </a:solidFill>
          <a:ln/>
        </p:spPr>
        <p:txBody>
          <a:bodyPr/>
          <a:p/>
        </p:txBody>
      </p:sp>
      <p:sp>
        <p:nvSpPr>
          <p:cNvPr id="767"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en-US" sz="2400" b="1">
                <a:solidFill>
                  <a:srgbClr val="0F1423"/>
                </a:solidFill>
                <a:latin typeface="Microsoft YaHei"/>
                <a:ea typeface="Microsoft YaHei"/>
              </a:rPr>
              <a:t xml:space="preserve">BA </a:t>
            </a:r>
            <a:r>
              <a:rPr lang="zh-CN" sz="2400" b="1">
                <a:solidFill>
                  <a:srgbClr val="0F1423"/>
                </a:solidFill>
                <a:latin typeface="Microsoft YaHei"/>
                <a:ea typeface="Microsoft YaHei"/>
              </a:rPr>
              <a:t>层：治理是一次</a:t>
            </a:r>
            <a:r>
              <a:rPr lang="zh-CN" sz="2400" b="1">
                <a:solidFill>
                  <a:srgbClr val="FA4F24"/>
                </a:solidFill>
                <a:latin typeface="Microsoft YaHei"/>
                <a:ea typeface="Microsoft YaHei"/>
              </a:rPr>
              <a:t>责任分配</a:t>
            </a:r>
            <a:r>
              <a:rPr lang="zh-CN" sz="2400" b="1">
                <a:solidFill>
                  <a:srgbClr val="0F1423"/>
                </a:solidFill>
                <a:latin typeface="Microsoft YaHei"/>
                <a:ea typeface="Microsoft YaHei"/>
              </a:rPr>
              <a:t>，不是一次技术选型</a:t>
            </a:r>
            <a:endParaRPr/>
          </a:p>
        </p:txBody>
      </p:sp>
      <p:sp>
        <p:nvSpPr>
          <p:cNvPr id="768"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技术能把权限卡死，但卡不住「这件事该不该做」——那必须由人来裁定</a:t>
            </a:r>
            <a:endParaRPr/>
          </a:p>
        </p:txBody>
      </p:sp>
      <p:sp>
        <p:nvSpPr>
          <p:cNvPr id="769" name=""/>
          <p:cNvSpPr/>
          <p:nvPr/>
        </p:nvSpPr>
        <p:spPr>
          <a:xfrm rot="0" flipH="0" flipV="0">
            <a:off x="609600" y="1143000"/>
            <a:ext cx="10972800" cy="9525"/>
          </a:xfrm>
          <a:prstGeom prst="rect">
            <a:avLst/>
          </a:prstGeom>
          <a:solidFill>
            <a:srgbClr val="E8E8E8"/>
          </a:solidFill>
          <a:ln/>
        </p:spPr>
        <p:txBody>
          <a:bodyPr/>
          <a:p/>
        </p:txBody>
      </p:sp>
      <p:sp>
        <p:nvSpPr>
          <p:cNvPr id="770" name=""/>
          <p:cNvSpPr/>
          <p:nvPr/>
        </p:nvSpPr>
        <p:spPr>
          <a:xfrm rot="0" flipH="0" flipV="0">
            <a:off x="609600" y="1285875"/>
            <a:ext cx="4143375" cy="3381375"/>
          </a:xfrm>
          <a:prstGeom prst="roundRect">
            <a:avLst>
              <a:gd name="adj" fmla="val 1127"/>
            </a:avLst>
          </a:prstGeom>
          <a:solidFill>
            <a:srgbClr val="FFFFFF"/>
          </a:solidFill>
          <a:ln w="12700">
            <a:solidFill>
              <a:srgbClr val="E8E8E8"/>
            </a:solidFill>
            <a:prstDash val="solid"/>
          </a:ln>
        </p:spPr>
        <p:txBody>
          <a:bodyPr/>
          <a:p/>
        </p:txBody>
      </p:sp>
      <p:sp>
        <p:nvSpPr>
          <p:cNvPr id="771" name="" descr="{&quot;isTemplate&quot;:true,&quot;type&quot;:&quot;text&quot;}"/>
          <p:cNvSpPr txBox="1"/>
          <p:nvPr/>
        </p:nvSpPr>
        <p:spPr>
          <a:xfrm rot="0" flipH="0" flipV="0">
            <a:off x="771525" y="1409700"/>
            <a:ext cx="3819525" cy="161925"/>
          </a:xfrm>
          <a:prstGeom prst="rect"/>
        </p:spPr>
        <p:txBody>
          <a:bodyPr wrap="none" lIns="0" tIns="0" rIns="0" bIns="0"/>
          <a:p>
            <a:pPr>
              <a:lnSpc>
                <a:spcPct val="100000"/>
              </a:lnSpc>
            </a:pPr>
            <a:r>
              <a:rPr lang="zh-CN" sz="1050" b="1">
                <a:solidFill>
                  <a:srgbClr val="0F1423"/>
                </a:solidFill>
                <a:latin typeface="Microsoft YaHei"/>
                <a:ea typeface="Microsoft YaHei"/>
              </a:rPr>
              <a:t>五类角色与他们的裁决权</a:t>
            </a:r>
            <a:endParaRPr/>
          </a:p>
        </p:txBody>
      </p:sp>
      <p:sp>
        <p:nvSpPr>
          <p:cNvPr id="772" name=""/>
          <p:cNvSpPr/>
          <p:nvPr/>
        </p:nvSpPr>
        <p:spPr>
          <a:xfrm rot="0" flipH="0" flipV="0">
            <a:off x="800100" y="1666875"/>
            <a:ext cx="847725" cy="247650"/>
          </a:xfrm>
          <a:prstGeom prst="roundRect">
            <a:avLst>
              <a:gd name="adj" fmla="val 11538"/>
            </a:avLst>
          </a:prstGeom>
          <a:solidFill>
            <a:srgbClr val="F7F7F8"/>
          </a:solidFill>
          <a:ln/>
        </p:spPr>
        <p:txBody>
          <a:bodyPr/>
          <a:p/>
        </p:txBody>
      </p:sp>
      <p:sp>
        <p:nvSpPr>
          <p:cNvPr id="773" name=""/>
          <p:cNvSpPr/>
          <p:nvPr/>
        </p:nvSpPr>
        <p:spPr>
          <a:xfrm rot="0" flipH="0" flipV="0">
            <a:off x="800100" y="1666875"/>
            <a:ext cx="847725" cy="247650"/>
          </a:xfrm>
          <a:custGeom>
            <a:pathLst>
              <a:path w="89" h="26">
                <a:moveTo>
                  <a:pt x="3" y="26"/>
                </a:moveTo>
                <a:cubicBezTo>
                  <a:pt x="1" y="26"/>
                  <a:pt x="0" y="25"/>
                  <a:pt x="0" y="23"/>
                </a:cubicBezTo>
                <a:lnTo>
                  <a:pt x="0" y="3"/>
                </a:lnTo>
                <a:cubicBezTo>
                  <a:pt x="0" y="1"/>
                  <a:pt x="1" y="0"/>
                  <a:pt x="3" y="0"/>
                </a:cubicBezTo>
                <a:lnTo>
                  <a:pt x="3" y="26"/>
                </a:lnTo>
                <a:close/>
              </a:path>
            </a:pathLst>
          </a:custGeom>
          <a:solidFill>
            <a:srgbClr val="FA4F24"/>
          </a:solidFill>
          <a:ln/>
        </p:spPr>
        <p:txBody>
          <a:bodyPr/>
          <a:p/>
        </p:txBody>
      </p:sp>
      <p:sp>
        <p:nvSpPr>
          <p:cNvPr id="774" name="" descr="{&quot;isTemplate&quot;:true,&quot;type&quot;:&quot;text&quot;}"/>
          <p:cNvSpPr txBox="1"/>
          <p:nvPr/>
        </p:nvSpPr>
        <p:spPr>
          <a:xfrm rot="0" flipH="0" flipV="0">
            <a:off x="876300" y="1724025"/>
            <a:ext cx="695325" cy="133350"/>
          </a:xfrm>
          <a:prstGeom prst="rect"/>
        </p:spPr>
        <p:txBody>
          <a:bodyPr wrap="none" lIns="0" tIns="0" rIns="0" bIns="0"/>
          <a:p>
            <a:pPr>
              <a:lnSpc>
                <a:spcPct val="100000"/>
              </a:lnSpc>
            </a:pPr>
            <a:r>
              <a:rPr lang="zh-CN" sz="863" b="1">
                <a:solidFill>
                  <a:srgbClr val="0F1423"/>
                </a:solidFill>
                <a:latin typeface="Microsoft YaHei"/>
                <a:ea typeface="Microsoft YaHei"/>
              </a:rPr>
              <a:t>数据所有者</a:t>
            </a:r>
            <a:endParaRPr/>
          </a:p>
        </p:txBody>
      </p:sp>
      <p:sp>
        <p:nvSpPr>
          <p:cNvPr id="775" name="" descr="{&quot;isTemplate&quot;:true,&quot;type&quot;:&quot;text&quot;}"/>
          <p:cNvSpPr txBox="1"/>
          <p:nvPr/>
        </p:nvSpPr>
        <p:spPr>
          <a:xfrm rot="0" flipH="0" flipV="0">
            <a:off x="1733550" y="1695450"/>
            <a:ext cx="2466975" cy="200025"/>
          </a:xfrm>
          <a:prstGeom prst="rect"/>
        </p:spPr>
        <p:txBody>
          <a:bodyPr wrap="none" lIns="0" tIns="0" rIns="0" bIns="0"/>
          <a:p>
            <a:pPr>
              <a:lnSpc>
                <a:spcPct val="145000"/>
              </a:lnSpc>
            </a:pPr>
            <a:r>
              <a:rPr lang="zh-CN" sz="863">
                <a:solidFill>
                  <a:srgbClr val="3A4050"/>
                </a:solidFill>
                <a:latin typeface="Microsoft YaHei"/>
                <a:ea typeface="Microsoft YaHei"/>
              </a:rPr>
              <a:t>定义密级类别与用途范围</a:t>
            </a:r>
            <a:endParaRPr/>
          </a:p>
        </p:txBody>
      </p:sp>
      <p:sp>
        <p:nvSpPr>
          <p:cNvPr id="776" name="" descr="{&quot;isTemplate&quot;:true,&quot;type&quot;:&quot;text&quot;}"/>
          <p:cNvSpPr txBox="1"/>
          <p:nvPr/>
        </p:nvSpPr>
        <p:spPr>
          <a:xfrm rot="0" flipH="0" flipV="0">
            <a:off x="4286250" y="1733550"/>
            <a:ext cx="304800" cy="123825"/>
          </a:xfrm>
          <a:prstGeom prst="rect"/>
        </p:spPr>
        <p:txBody>
          <a:bodyPr wrap="none" lIns="0" tIns="0" rIns="0" bIns="0"/>
          <a:p>
            <a:pPr>
              <a:lnSpc>
                <a:spcPct val="100000"/>
              </a:lnSpc>
            </a:pPr>
            <a:r>
              <a:rPr lang="zh-CN" sz="788" b="1">
                <a:solidFill>
                  <a:srgbClr val="FA4F24"/>
                </a:solidFill>
                <a:latin typeface="Microsoft YaHei"/>
                <a:ea typeface="Microsoft YaHei"/>
              </a:rPr>
              <a:t>业务侧</a:t>
            </a:r>
            <a:endParaRPr/>
          </a:p>
        </p:txBody>
      </p:sp>
      <p:sp>
        <p:nvSpPr>
          <p:cNvPr id="777" name=""/>
          <p:cNvSpPr/>
          <p:nvPr/>
        </p:nvSpPr>
        <p:spPr>
          <a:xfrm rot="0" flipH="0" flipV="0">
            <a:off x="800100" y="1981200"/>
            <a:ext cx="847725" cy="247650"/>
          </a:xfrm>
          <a:prstGeom prst="roundRect">
            <a:avLst>
              <a:gd name="adj" fmla="val 11538"/>
            </a:avLst>
          </a:prstGeom>
          <a:solidFill>
            <a:srgbClr val="F7F7F8"/>
          </a:solidFill>
          <a:ln/>
        </p:spPr>
        <p:txBody>
          <a:bodyPr/>
          <a:p/>
        </p:txBody>
      </p:sp>
      <p:sp>
        <p:nvSpPr>
          <p:cNvPr id="778" name=""/>
          <p:cNvSpPr/>
          <p:nvPr/>
        </p:nvSpPr>
        <p:spPr>
          <a:xfrm rot="0" flipH="0" flipV="0">
            <a:off x="800100" y="1981200"/>
            <a:ext cx="847725" cy="247650"/>
          </a:xfrm>
          <a:custGeom>
            <a:pathLst>
              <a:path w="89" h="26">
                <a:moveTo>
                  <a:pt x="3" y="26"/>
                </a:moveTo>
                <a:cubicBezTo>
                  <a:pt x="1" y="26"/>
                  <a:pt x="0" y="25"/>
                  <a:pt x="0" y="23"/>
                </a:cubicBezTo>
                <a:lnTo>
                  <a:pt x="0" y="3"/>
                </a:lnTo>
                <a:cubicBezTo>
                  <a:pt x="0" y="1"/>
                  <a:pt x="1" y="0"/>
                  <a:pt x="3" y="0"/>
                </a:cubicBezTo>
                <a:lnTo>
                  <a:pt x="3" y="26"/>
                </a:lnTo>
                <a:close/>
              </a:path>
            </a:pathLst>
          </a:custGeom>
          <a:solidFill>
            <a:srgbClr val="F87D2F"/>
          </a:solidFill>
          <a:ln/>
        </p:spPr>
        <p:txBody>
          <a:bodyPr/>
          <a:p/>
        </p:txBody>
      </p:sp>
      <p:sp>
        <p:nvSpPr>
          <p:cNvPr id="779" name="" descr="{&quot;isTemplate&quot;:true,&quot;type&quot;:&quot;text&quot;}"/>
          <p:cNvSpPr txBox="1"/>
          <p:nvPr/>
        </p:nvSpPr>
        <p:spPr>
          <a:xfrm rot="0" flipH="0" flipV="0">
            <a:off x="876300" y="2038350"/>
            <a:ext cx="695325" cy="133350"/>
          </a:xfrm>
          <a:prstGeom prst="rect"/>
        </p:spPr>
        <p:txBody>
          <a:bodyPr wrap="none" lIns="0" tIns="0" rIns="0" bIns="0"/>
          <a:p>
            <a:pPr>
              <a:lnSpc>
                <a:spcPct val="100000"/>
              </a:lnSpc>
            </a:pPr>
            <a:r>
              <a:rPr lang="zh-CN" sz="863" b="1">
                <a:solidFill>
                  <a:srgbClr val="0F1423"/>
                </a:solidFill>
                <a:latin typeface="Microsoft YaHei"/>
                <a:ea typeface="Microsoft YaHei"/>
              </a:rPr>
              <a:t>数据管理员</a:t>
            </a:r>
            <a:endParaRPr/>
          </a:p>
        </p:txBody>
      </p:sp>
      <p:sp>
        <p:nvSpPr>
          <p:cNvPr id="780" name="" descr="{&quot;isTemplate&quot;:true,&quot;type&quot;:&quot;text&quot;}"/>
          <p:cNvSpPr txBox="1"/>
          <p:nvPr/>
        </p:nvSpPr>
        <p:spPr>
          <a:xfrm rot="0" flipH="0" flipV="0">
            <a:off x="1733550" y="2009775"/>
            <a:ext cx="2466975" cy="200025"/>
          </a:xfrm>
          <a:prstGeom prst="rect"/>
        </p:spPr>
        <p:txBody>
          <a:bodyPr wrap="none" lIns="0" tIns="0" rIns="0" bIns="0"/>
          <a:p>
            <a:pPr>
              <a:lnSpc>
                <a:spcPct val="145000"/>
              </a:lnSpc>
            </a:pPr>
            <a:r>
              <a:rPr lang="zh-CN" sz="863">
                <a:solidFill>
                  <a:srgbClr val="3A4050"/>
                </a:solidFill>
                <a:latin typeface="Microsoft YaHei"/>
                <a:ea typeface="Microsoft YaHei"/>
              </a:rPr>
              <a:t>执行打标、分类分级与日常维护</a:t>
            </a:r>
            <a:endParaRPr/>
          </a:p>
        </p:txBody>
      </p:sp>
      <p:sp>
        <p:nvSpPr>
          <p:cNvPr id="781" name="" descr="{&quot;isTemplate&quot;:true,&quot;type&quot;:&quot;text&quot;}"/>
          <p:cNvSpPr txBox="1"/>
          <p:nvPr/>
        </p:nvSpPr>
        <p:spPr>
          <a:xfrm rot="0" flipH="0" flipV="0">
            <a:off x="4286250" y="2047875"/>
            <a:ext cx="304800" cy="123825"/>
          </a:xfrm>
          <a:prstGeom prst="rect"/>
        </p:spPr>
        <p:txBody>
          <a:bodyPr wrap="none" lIns="0" tIns="0" rIns="0" bIns="0"/>
          <a:p>
            <a:pPr>
              <a:lnSpc>
                <a:spcPct val="100000"/>
              </a:lnSpc>
            </a:pPr>
            <a:r>
              <a:rPr lang="zh-CN" sz="788" b="1">
                <a:solidFill>
                  <a:srgbClr val="F87D2F"/>
                </a:solidFill>
                <a:latin typeface="Microsoft YaHei"/>
                <a:ea typeface="Microsoft YaHei"/>
              </a:rPr>
              <a:t>数据侧</a:t>
            </a:r>
            <a:endParaRPr/>
          </a:p>
        </p:txBody>
      </p:sp>
      <p:sp>
        <p:nvSpPr>
          <p:cNvPr id="782" name=""/>
          <p:cNvSpPr/>
          <p:nvPr/>
        </p:nvSpPr>
        <p:spPr>
          <a:xfrm rot="0" flipH="0" flipV="0">
            <a:off x="800100" y="2295525"/>
            <a:ext cx="847725" cy="247650"/>
          </a:xfrm>
          <a:prstGeom prst="roundRect">
            <a:avLst>
              <a:gd name="adj" fmla="val 11538"/>
            </a:avLst>
          </a:prstGeom>
          <a:solidFill>
            <a:srgbClr val="F7F7F8"/>
          </a:solidFill>
          <a:ln/>
        </p:spPr>
        <p:txBody>
          <a:bodyPr/>
          <a:p/>
        </p:txBody>
      </p:sp>
      <p:sp>
        <p:nvSpPr>
          <p:cNvPr id="783" name=""/>
          <p:cNvSpPr/>
          <p:nvPr/>
        </p:nvSpPr>
        <p:spPr>
          <a:xfrm rot="0" flipH="0" flipV="0">
            <a:off x="800100" y="2295525"/>
            <a:ext cx="847725" cy="247650"/>
          </a:xfrm>
          <a:custGeom>
            <a:pathLst>
              <a:path w="89" h="26">
                <a:moveTo>
                  <a:pt x="3" y="26"/>
                </a:moveTo>
                <a:cubicBezTo>
                  <a:pt x="1" y="26"/>
                  <a:pt x="0" y="25"/>
                  <a:pt x="0" y="23"/>
                </a:cubicBezTo>
                <a:lnTo>
                  <a:pt x="0" y="3"/>
                </a:lnTo>
                <a:cubicBezTo>
                  <a:pt x="0" y="1"/>
                  <a:pt x="1" y="0"/>
                  <a:pt x="3" y="0"/>
                </a:cubicBezTo>
                <a:lnTo>
                  <a:pt x="3" y="26"/>
                </a:lnTo>
                <a:close/>
              </a:path>
            </a:pathLst>
          </a:custGeom>
          <a:solidFill>
            <a:srgbClr val="C43A17"/>
          </a:solidFill>
          <a:ln/>
        </p:spPr>
        <p:txBody>
          <a:bodyPr/>
          <a:p/>
        </p:txBody>
      </p:sp>
      <p:sp>
        <p:nvSpPr>
          <p:cNvPr id="784" name="" descr="{&quot;isTemplate&quot;:true,&quot;type&quot;:&quot;text&quot;}"/>
          <p:cNvSpPr txBox="1"/>
          <p:nvPr/>
        </p:nvSpPr>
        <p:spPr>
          <a:xfrm rot="0" flipH="0" flipV="0">
            <a:off x="876300" y="2352675"/>
            <a:ext cx="695325" cy="133350"/>
          </a:xfrm>
          <a:prstGeom prst="rect"/>
        </p:spPr>
        <p:txBody>
          <a:bodyPr wrap="none" lIns="0" tIns="0" rIns="0" bIns="0"/>
          <a:p>
            <a:pPr>
              <a:lnSpc>
                <a:spcPct val="100000"/>
              </a:lnSpc>
            </a:pPr>
            <a:r>
              <a:rPr lang="zh-CN" sz="863" b="1">
                <a:solidFill>
                  <a:srgbClr val="0F1423"/>
                </a:solidFill>
                <a:latin typeface="Microsoft YaHei"/>
                <a:ea typeface="Microsoft YaHei"/>
              </a:rPr>
              <a:t>合规官</a:t>
            </a:r>
            <a:endParaRPr/>
          </a:p>
        </p:txBody>
      </p:sp>
      <p:sp>
        <p:nvSpPr>
          <p:cNvPr id="785" name="" descr="{&quot;isTemplate&quot;:true,&quot;type&quot;:&quot;text&quot;}"/>
          <p:cNvSpPr txBox="1"/>
          <p:nvPr/>
        </p:nvSpPr>
        <p:spPr>
          <a:xfrm rot="0" flipH="0" flipV="0">
            <a:off x="1733550" y="2324100"/>
            <a:ext cx="2466975" cy="200025"/>
          </a:xfrm>
          <a:prstGeom prst="rect"/>
        </p:spPr>
        <p:txBody>
          <a:bodyPr wrap="none" lIns="0" tIns="0" rIns="0" bIns="0"/>
          <a:p>
            <a:pPr>
              <a:lnSpc>
                <a:spcPct val="145000"/>
              </a:lnSpc>
            </a:pPr>
            <a:r>
              <a:rPr lang="zh-CN" sz="863">
                <a:solidFill>
                  <a:srgbClr val="3A4050"/>
                </a:solidFill>
                <a:latin typeface="Microsoft YaHei"/>
                <a:ea typeface="Microsoft YaHei"/>
              </a:rPr>
              <a:t>审批降级、去标记与用途放行</a:t>
            </a:r>
            <a:endParaRPr/>
          </a:p>
        </p:txBody>
      </p:sp>
      <p:sp>
        <p:nvSpPr>
          <p:cNvPr id="786" name="" descr="{&quot;isTemplate&quot;:true,&quot;type&quot;:&quot;text&quot;}"/>
          <p:cNvSpPr txBox="1"/>
          <p:nvPr/>
        </p:nvSpPr>
        <p:spPr>
          <a:xfrm rot="0" flipH="0" flipV="0">
            <a:off x="4286250" y="2362200"/>
            <a:ext cx="304800" cy="123825"/>
          </a:xfrm>
          <a:prstGeom prst="rect"/>
        </p:spPr>
        <p:txBody>
          <a:bodyPr wrap="none" lIns="0" tIns="0" rIns="0" bIns="0"/>
          <a:p>
            <a:pPr>
              <a:lnSpc>
                <a:spcPct val="100000"/>
              </a:lnSpc>
            </a:pPr>
            <a:r>
              <a:rPr lang="zh-CN" sz="788" b="1">
                <a:solidFill>
                  <a:srgbClr val="C43A17"/>
                </a:solidFill>
                <a:latin typeface="Microsoft YaHei"/>
                <a:ea typeface="Microsoft YaHei"/>
              </a:rPr>
              <a:t>合规侧</a:t>
            </a:r>
            <a:endParaRPr/>
          </a:p>
        </p:txBody>
      </p:sp>
      <p:sp>
        <p:nvSpPr>
          <p:cNvPr id="787" name=""/>
          <p:cNvSpPr/>
          <p:nvPr/>
        </p:nvSpPr>
        <p:spPr>
          <a:xfrm rot="0" flipH="0" flipV="0">
            <a:off x="800100" y="2609850"/>
            <a:ext cx="847725" cy="247650"/>
          </a:xfrm>
          <a:prstGeom prst="roundRect">
            <a:avLst>
              <a:gd name="adj" fmla="val 11538"/>
            </a:avLst>
          </a:prstGeom>
          <a:solidFill>
            <a:srgbClr val="F7F7F8"/>
          </a:solidFill>
          <a:ln/>
        </p:spPr>
        <p:txBody>
          <a:bodyPr/>
          <a:p/>
        </p:txBody>
      </p:sp>
      <p:sp>
        <p:nvSpPr>
          <p:cNvPr id="788" name=""/>
          <p:cNvSpPr/>
          <p:nvPr/>
        </p:nvSpPr>
        <p:spPr>
          <a:xfrm rot="0" flipH="0" flipV="0">
            <a:off x="800100" y="2609850"/>
            <a:ext cx="847725" cy="247650"/>
          </a:xfrm>
          <a:custGeom>
            <a:pathLst>
              <a:path w="89" h="26">
                <a:moveTo>
                  <a:pt x="3" y="26"/>
                </a:moveTo>
                <a:cubicBezTo>
                  <a:pt x="1" y="26"/>
                  <a:pt x="0" y="25"/>
                  <a:pt x="0" y="23"/>
                </a:cubicBezTo>
                <a:lnTo>
                  <a:pt x="0" y="3"/>
                </a:lnTo>
                <a:cubicBezTo>
                  <a:pt x="0" y="1"/>
                  <a:pt x="1" y="0"/>
                  <a:pt x="3" y="0"/>
                </a:cubicBezTo>
                <a:lnTo>
                  <a:pt x="3" y="26"/>
                </a:lnTo>
                <a:close/>
              </a:path>
            </a:pathLst>
          </a:custGeom>
          <a:solidFill>
            <a:srgbClr val="0F1423"/>
          </a:solidFill>
          <a:ln/>
        </p:spPr>
        <p:txBody>
          <a:bodyPr/>
          <a:p/>
        </p:txBody>
      </p:sp>
      <p:sp>
        <p:nvSpPr>
          <p:cNvPr id="789" name="" descr="{&quot;isTemplate&quot;:true,&quot;type&quot;:&quot;text&quot;}"/>
          <p:cNvSpPr txBox="1"/>
          <p:nvPr/>
        </p:nvSpPr>
        <p:spPr>
          <a:xfrm rot="0" flipH="0" flipV="0">
            <a:off x="876300" y="2667000"/>
            <a:ext cx="695325" cy="133350"/>
          </a:xfrm>
          <a:prstGeom prst="rect"/>
        </p:spPr>
        <p:txBody>
          <a:bodyPr wrap="none" lIns="0" tIns="0" rIns="0" bIns="0"/>
          <a:p>
            <a:pPr>
              <a:lnSpc>
                <a:spcPct val="100000"/>
              </a:lnSpc>
            </a:pPr>
            <a:r>
              <a:rPr lang="zh-CN" sz="863" b="1">
                <a:solidFill>
                  <a:srgbClr val="0F1423"/>
                </a:solidFill>
                <a:latin typeface="Microsoft YaHei"/>
                <a:ea typeface="Microsoft YaHei"/>
              </a:rPr>
              <a:t>审批人</a:t>
            </a:r>
            <a:endParaRPr/>
          </a:p>
        </p:txBody>
      </p:sp>
      <p:sp>
        <p:nvSpPr>
          <p:cNvPr id="790" name="" descr="{&quot;isTemplate&quot;:true,&quot;type&quot;:&quot;text&quot;}"/>
          <p:cNvSpPr txBox="1"/>
          <p:nvPr/>
        </p:nvSpPr>
        <p:spPr>
          <a:xfrm rot="0" flipH="0" flipV="0">
            <a:off x="1733550" y="2638425"/>
            <a:ext cx="2466975" cy="200025"/>
          </a:xfrm>
          <a:prstGeom prst="rect"/>
        </p:spPr>
        <p:txBody>
          <a:bodyPr wrap="none" lIns="0" tIns="0" rIns="0" bIns="0"/>
          <a:p>
            <a:pPr>
              <a:lnSpc>
                <a:spcPct val="145000"/>
              </a:lnSpc>
            </a:pPr>
            <a:r>
              <a:rPr lang="zh-CN" sz="863">
                <a:solidFill>
                  <a:srgbClr val="3A4050"/>
                </a:solidFill>
                <a:latin typeface="Microsoft YaHei"/>
                <a:ea typeface="Microsoft YaHei"/>
              </a:rPr>
              <a:t>除作者外的第二人复核（强制）</a:t>
            </a:r>
            <a:endParaRPr/>
          </a:p>
        </p:txBody>
      </p:sp>
      <p:sp>
        <p:nvSpPr>
          <p:cNvPr id="791" name="" descr="{&quot;isTemplate&quot;:true,&quot;type&quot;:&quot;text&quot;}"/>
          <p:cNvSpPr txBox="1"/>
          <p:nvPr/>
        </p:nvSpPr>
        <p:spPr>
          <a:xfrm rot="0" flipH="0" flipV="0">
            <a:off x="4286250" y="2676525"/>
            <a:ext cx="304800" cy="123825"/>
          </a:xfrm>
          <a:prstGeom prst="rect"/>
        </p:spPr>
        <p:txBody>
          <a:bodyPr wrap="none" lIns="0" tIns="0" rIns="0" bIns="0"/>
          <a:p>
            <a:pPr>
              <a:lnSpc>
                <a:spcPct val="100000"/>
              </a:lnSpc>
            </a:pPr>
            <a:r>
              <a:rPr lang="zh-CN" sz="788" b="1">
                <a:solidFill>
                  <a:srgbClr val="0F1423"/>
                </a:solidFill>
                <a:latin typeface="Microsoft YaHei"/>
                <a:ea typeface="Microsoft YaHei"/>
              </a:rPr>
              <a:t>管理层</a:t>
            </a:r>
            <a:endParaRPr/>
          </a:p>
        </p:txBody>
      </p:sp>
      <p:sp>
        <p:nvSpPr>
          <p:cNvPr id="792" name=""/>
          <p:cNvSpPr/>
          <p:nvPr/>
        </p:nvSpPr>
        <p:spPr>
          <a:xfrm rot="0" flipH="0" flipV="0">
            <a:off x="800100" y="2924175"/>
            <a:ext cx="847725" cy="247650"/>
          </a:xfrm>
          <a:prstGeom prst="roundRect">
            <a:avLst>
              <a:gd name="adj" fmla="val 11538"/>
            </a:avLst>
          </a:prstGeom>
          <a:solidFill>
            <a:srgbClr val="F7F7F8"/>
          </a:solidFill>
          <a:ln/>
        </p:spPr>
        <p:txBody>
          <a:bodyPr/>
          <a:p/>
        </p:txBody>
      </p:sp>
      <p:sp>
        <p:nvSpPr>
          <p:cNvPr id="793" name=""/>
          <p:cNvSpPr/>
          <p:nvPr/>
        </p:nvSpPr>
        <p:spPr>
          <a:xfrm rot="0" flipH="0" flipV="0">
            <a:off x="800100" y="2924175"/>
            <a:ext cx="847725" cy="247650"/>
          </a:xfrm>
          <a:custGeom>
            <a:pathLst>
              <a:path w="89" h="26">
                <a:moveTo>
                  <a:pt x="3" y="26"/>
                </a:moveTo>
                <a:cubicBezTo>
                  <a:pt x="1" y="26"/>
                  <a:pt x="0" y="25"/>
                  <a:pt x="0" y="23"/>
                </a:cubicBezTo>
                <a:lnTo>
                  <a:pt x="0" y="3"/>
                </a:lnTo>
                <a:cubicBezTo>
                  <a:pt x="0" y="1"/>
                  <a:pt x="1" y="0"/>
                  <a:pt x="3" y="0"/>
                </a:cubicBezTo>
                <a:lnTo>
                  <a:pt x="3" y="26"/>
                </a:lnTo>
                <a:close/>
              </a:path>
            </a:pathLst>
          </a:custGeom>
          <a:solidFill>
            <a:srgbClr val="8A8F99"/>
          </a:solidFill>
          <a:ln/>
        </p:spPr>
        <p:txBody>
          <a:bodyPr/>
          <a:p/>
        </p:txBody>
      </p:sp>
      <p:sp>
        <p:nvSpPr>
          <p:cNvPr id="794" name="" descr="{&quot;isTemplate&quot;:true,&quot;type&quot;:&quot;text&quot;}"/>
          <p:cNvSpPr txBox="1"/>
          <p:nvPr/>
        </p:nvSpPr>
        <p:spPr>
          <a:xfrm rot="0" flipH="0" flipV="0">
            <a:off x="876300" y="2981325"/>
            <a:ext cx="695325" cy="133350"/>
          </a:xfrm>
          <a:prstGeom prst="rect"/>
        </p:spPr>
        <p:txBody>
          <a:bodyPr wrap="none" lIns="0" tIns="0" rIns="0" bIns="0"/>
          <a:p>
            <a:pPr>
              <a:lnSpc>
                <a:spcPct val="100000"/>
              </a:lnSpc>
            </a:pPr>
            <a:r>
              <a:rPr lang="zh-CN" sz="863" b="1">
                <a:solidFill>
                  <a:srgbClr val="0F1423"/>
                </a:solidFill>
                <a:latin typeface="Microsoft YaHei"/>
                <a:ea typeface="Microsoft YaHei"/>
              </a:rPr>
              <a:t>使用人</a:t>
            </a:r>
            <a:endParaRPr/>
          </a:p>
        </p:txBody>
      </p:sp>
      <p:sp>
        <p:nvSpPr>
          <p:cNvPr id="795" name="" descr="{&quot;isTemplate&quot;:true,&quot;type&quot;:&quot;text&quot;}"/>
          <p:cNvSpPr txBox="1"/>
          <p:nvPr/>
        </p:nvSpPr>
        <p:spPr>
          <a:xfrm rot="0" flipH="0" flipV="0">
            <a:off x="1733550" y="2952750"/>
            <a:ext cx="2466975" cy="200025"/>
          </a:xfrm>
          <a:prstGeom prst="rect"/>
        </p:spPr>
        <p:txBody>
          <a:bodyPr wrap="none" lIns="0" tIns="0" rIns="0" bIns="0"/>
          <a:p>
            <a:pPr>
              <a:lnSpc>
                <a:spcPct val="145000"/>
              </a:lnSpc>
            </a:pPr>
            <a:r>
              <a:rPr lang="zh-CN" sz="863">
                <a:solidFill>
                  <a:srgbClr val="3A4050"/>
                </a:solidFill>
                <a:latin typeface="Microsoft YaHei"/>
                <a:ea typeface="Microsoft YaHei"/>
              </a:rPr>
              <a:t>在授权范围内消费，不得转授</a:t>
            </a:r>
            <a:endParaRPr/>
          </a:p>
        </p:txBody>
      </p:sp>
      <p:sp>
        <p:nvSpPr>
          <p:cNvPr id="796" name="" descr="{&quot;isTemplate&quot;:true,&quot;type&quot;:&quot;text&quot;}"/>
          <p:cNvSpPr txBox="1"/>
          <p:nvPr/>
        </p:nvSpPr>
        <p:spPr>
          <a:xfrm rot="0" flipH="0" flipV="0">
            <a:off x="4286250" y="2990850"/>
            <a:ext cx="304800" cy="123825"/>
          </a:xfrm>
          <a:prstGeom prst="rect"/>
        </p:spPr>
        <p:txBody>
          <a:bodyPr wrap="none" lIns="0" tIns="0" rIns="0" bIns="0"/>
          <a:p>
            <a:pPr>
              <a:lnSpc>
                <a:spcPct val="100000"/>
              </a:lnSpc>
            </a:pPr>
            <a:r>
              <a:rPr lang="zh-CN" sz="788" b="1">
                <a:solidFill>
                  <a:srgbClr val="8A8F99"/>
                </a:solidFill>
                <a:latin typeface="Microsoft YaHei"/>
                <a:ea typeface="Microsoft YaHei"/>
              </a:rPr>
              <a:t>消费侧</a:t>
            </a:r>
            <a:endParaRPr/>
          </a:p>
        </p:txBody>
      </p:sp>
      <p:sp>
        <p:nvSpPr>
          <p:cNvPr id="797" name=""/>
          <p:cNvSpPr/>
          <p:nvPr/>
        </p:nvSpPr>
        <p:spPr>
          <a:xfrm rot="0" flipH="0" flipV="0">
            <a:off x="771525" y="3990975"/>
            <a:ext cx="3819525" cy="552450"/>
          </a:xfrm>
          <a:prstGeom prst="roundRect">
            <a:avLst>
              <a:gd name="adj" fmla="val 5172"/>
            </a:avLst>
          </a:prstGeom>
          <a:solidFill>
            <a:srgbClr val="FFF3EE"/>
          </a:solidFill>
          <a:ln/>
        </p:spPr>
        <p:txBody>
          <a:bodyPr/>
          <a:p/>
        </p:txBody>
      </p:sp>
      <p:sp>
        <p:nvSpPr>
          <p:cNvPr id="798" name="" descr="{&quot;isTemplate&quot;:true,&quot;type&quot;:&quot;text&quot;}"/>
          <p:cNvSpPr txBox="1"/>
          <p:nvPr/>
        </p:nvSpPr>
        <p:spPr>
          <a:xfrm rot="0" flipH="0" flipV="0">
            <a:off x="876300" y="4067175"/>
            <a:ext cx="3609975" cy="400050"/>
          </a:xfrm>
          <a:prstGeom prst="rect"/>
        </p:spPr>
        <p:txBody>
          <a:bodyPr wrap="square" lIns="0" tIns="0" rIns="0" bIns="0">
            <a:normAutofit/>
          </a:bodyPr>
          <a:p>
            <a:pPr>
              <a:lnSpc>
                <a:spcPct val="150000"/>
              </a:lnSpc>
            </a:pPr>
            <a:r>
              <a:rPr lang="zh-CN" sz="863">
                <a:solidFill>
                  <a:srgbClr val="3A4050"/>
                </a:solidFill>
                <a:latin typeface="Microsoft YaHei"/>
                <a:ea typeface="Microsoft YaHei"/>
              </a:rPr>
              <a:t>常见失败：把五类角色压成两类——「安全部门管规则，业务部门随便用」。结果是规则没人落地、业务没人敢用。</a:t>
            </a:r>
            <a:endParaRPr/>
          </a:p>
        </p:txBody>
      </p:sp>
      <p:sp>
        <p:nvSpPr>
          <p:cNvPr id="799" name=""/>
          <p:cNvSpPr/>
          <p:nvPr/>
        </p:nvSpPr>
        <p:spPr>
          <a:xfrm rot="0" flipH="0" flipV="0">
            <a:off x="4848225" y="1285875"/>
            <a:ext cx="3324225" cy="3381375"/>
          </a:xfrm>
          <a:prstGeom prst="roundRect">
            <a:avLst>
              <a:gd name="adj" fmla="val 1146"/>
            </a:avLst>
          </a:prstGeom>
          <a:solidFill>
            <a:srgbClr val="0F1423"/>
          </a:solidFill>
          <a:ln/>
        </p:spPr>
        <p:txBody>
          <a:bodyPr/>
          <a:p/>
        </p:txBody>
      </p:sp>
      <p:sp>
        <p:nvSpPr>
          <p:cNvPr id="800" name="" descr="{&quot;isTemplate&quot;:true,&quot;type&quot;:&quot;text&quot;}"/>
          <p:cNvSpPr txBox="1"/>
          <p:nvPr/>
        </p:nvSpPr>
        <p:spPr>
          <a:xfrm rot="0" flipH="0" flipV="0">
            <a:off x="5010150" y="1409700"/>
            <a:ext cx="3000375" cy="161925"/>
          </a:xfrm>
          <a:prstGeom prst="rect"/>
        </p:spPr>
        <p:txBody>
          <a:bodyPr wrap="none" lIns="0" tIns="0" rIns="0" bIns="0"/>
          <a:p>
            <a:pPr>
              <a:lnSpc>
                <a:spcPct val="100000"/>
              </a:lnSpc>
            </a:pPr>
            <a:r>
              <a:rPr lang="zh-CN" sz="1050" b="1">
                <a:solidFill>
                  <a:srgbClr val="FBA15C"/>
                </a:solidFill>
                <a:latin typeface="Microsoft YaHei"/>
                <a:ea typeface="Microsoft YaHei"/>
              </a:rPr>
              <a:t>责任矩阵</a:t>
            </a:r>
            <a:r>
              <a:rPr lang="en-US" sz="1050" b="1">
                <a:solidFill>
                  <a:srgbClr val="FBA15C"/>
                </a:solidFill>
                <a:latin typeface="Microsoft YaHei"/>
                <a:ea typeface="Microsoft YaHei"/>
              </a:rPr>
              <a:t xml:space="preserve"> RACI </a:t>
            </a:r>
            <a:r>
              <a:rPr lang="zh-CN" sz="1050" b="1">
                <a:solidFill>
                  <a:srgbClr val="FBA15C"/>
                </a:solidFill>
                <a:latin typeface="Microsoft YaHei"/>
                <a:ea typeface="Microsoft YaHei"/>
              </a:rPr>
              <a:t>的治理版本</a:t>
            </a:r>
            <a:endParaRPr/>
          </a:p>
        </p:txBody>
      </p:sp>
      <p:sp>
        <p:nvSpPr>
          <p:cNvPr id="801" name=""/>
          <p:cNvSpPr/>
          <p:nvPr/>
        </p:nvSpPr>
        <p:spPr>
          <a:xfrm rot="0" flipH="0" flipV="0">
            <a:off x="5038725" y="1666875"/>
            <a:ext cx="3000375" cy="485775"/>
          </a:xfrm>
          <a:prstGeom prst="roundRect">
            <a:avLst>
              <a:gd name="adj" fmla="val 5882"/>
            </a:avLst>
          </a:prstGeom>
          <a:solidFill>
            <a:srgbClr val="FFFFFF">
              <a:alpha val="7000"/>
            </a:srgbClr>
          </a:solidFill>
          <a:ln/>
        </p:spPr>
        <p:txBody>
          <a:bodyPr/>
          <a:p/>
        </p:txBody>
      </p:sp>
      <p:sp>
        <p:nvSpPr>
          <p:cNvPr id="802" name=""/>
          <p:cNvSpPr/>
          <p:nvPr/>
        </p:nvSpPr>
        <p:spPr>
          <a:xfrm rot="0" flipH="0" flipV="0">
            <a:off x="5038725" y="1666875"/>
            <a:ext cx="3000375" cy="485775"/>
          </a:xfrm>
          <a:custGeom>
            <a:pathLst>
              <a:path w="315" h="51">
                <a:moveTo>
                  <a:pt x="3" y="51"/>
                </a:moveTo>
                <a:cubicBezTo>
                  <a:pt x="1" y="51"/>
                  <a:pt x="0" y="50"/>
                  <a:pt x="0" y="48"/>
                </a:cubicBezTo>
                <a:lnTo>
                  <a:pt x="0" y="3"/>
                </a:lnTo>
                <a:cubicBezTo>
                  <a:pt x="0" y="1"/>
                  <a:pt x="1" y="0"/>
                  <a:pt x="3" y="0"/>
                </a:cubicBezTo>
                <a:lnTo>
                  <a:pt x="3" y="51"/>
                </a:lnTo>
                <a:close/>
              </a:path>
            </a:pathLst>
          </a:custGeom>
          <a:solidFill>
            <a:srgbClr val="FBA15C"/>
          </a:solidFill>
          <a:ln/>
        </p:spPr>
        <p:txBody>
          <a:bodyPr/>
          <a:p/>
        </p:txBody>
      </p:sp>
      <p:sp>
        <p:nvSpPr>
          <p:cNvPr id="803" name="" descr="{&quot;isTemplate&quot;:true,&quot;type&quot;:&quot;text&quot;}"/>
          <p:cNvSpPr txBox="1"/>
          <p:nvPr/>
        </p:nvSpPr>
        <p:spPr>
          <a:xfrm rot="0" flipH="0" flipV="0">
            <a:off x="5133975" y="1733550"/>
            <a:ext cx="2781300" cy="133350"/>
          </a:xfrm>
          <a:prstGeom prst="rect"/>
        </p:spPr>
        <p:txBody>
          <a:bodyPr wrap="none" lIns="0" tIns="0" rIns="0" bIns="0"/>
          <a:p>
            <a:pPr>
              <a:lnSpc>
                <a:spcPct val="100000"/>
              </a:lnSpc>
            </a:pPr>
            <a:r>
              <a:rPr lang="en-US" sz="863" b="1">
                <a:solidFill>
                  <a:srgbClr val="FFFFFF"/>
                </a:solidFill>
                <a:latin typeface="Microsoft YaHei"/>
                <a:ea typeface="Microsoft YaHei"/>
              </a:rPr>
              <a:t xml:space="preserve">R </a:t>
            </a:r>
            <a:r>
              <a:rPr lang="zh-CN" sz="863" b="1">
                <a:solidFill>
                  <a:srgbClr val="FFFFFF"/>
                </a:solidFill>
                <a:latin typeface="Microsoft YaHei"/>
                <a:ea typeface="Microsoft YaHei"/>
              </a:rPr>
              <a:t>执行</a:t>
            </a:r>
            <a:endParaRPr/>
          </a:p>
        </p:txBody>
      </p:sp>
      <p:sp>
        <p:nvSpPr>
          <p:cNvPr id="804" name="" descr="{&quot;isTemplate&quot;:true,&quot;type&quot;:&quot;text&quot;}"/>
          <p:cNvSpPr txBox="1"/>
          <p:nvPr/>
        </p:nvSpPr>
        <p:spPr>
          <a:xfrm rot="0" flipH="0" flipV="0">
            <a:off x="5133975" y="1895475"/>
            <a:ext cx="2781300" cy="190500"/>
          </a:xfrm>
          <a:prstGeom prst="rect"/>
        </p:spPr>
        <p:txBody>
          <a:bodyPr wrap="none" lIns="0" tIns="0" rIns="0" bIns="0"/>
          <a:p>
            <a:pPr>
              <a:lnSpc>
                <a:spcPct val="145000"/>
              </a:lnSpc>
            </a:pPr>
            <a:r>
              <a:rPr lang="zh-CN" sz="825">
                <a:solidFill>
                  <a:srgbClr val="FFFFFF">
                    <a:alpha val="78000"/>
                  </a:srgbClr>
                </a:solidFill>
                <a:latin typeface="Microsoft YaHei"/>
                <a:ea typeface="Microsoft YaHei"/>
              </a:rPr>
              <a:t>数据管理员负责执行打标与策略落地</a:t>
            </a:r>
            <a:endParaRPr/>
          </a:p>
        </p:txBody>
      </p:sp>
      <p:sp>
        <p:nvSpPr>
          <p:cNvPr id="805" name=""/>
          <p:cNvSpPr/>
          <p:nvPr/>
        </p:nvSpPr>
        <p:spPr>
          <a:xfrm rot="0" flipH="0" flipV="0">
            <a:off x="5038725" y="2200275"/>
            <a:ext cx="3000375" cy="485775"/>
          </a:xfrm>
          <a:prstGeom prst="roundRect">
            <a:avLst>
              <a:gd name="adj" fmla="val 5882"/>
            </a:avLst>
          </a:prstGeom>
          <a:solidFill>
            <a:srgbClr val="FFFFFF">
              <a:alpha val="7000"/>
            </a:srgbClr>
          </a:solidFill>
          <a:ln/>
        </p:spPr>
        <p:txBody>
          <a:bodyPr/>
          <a:p/>
        </p:txBody>
      </p:sp>
      <p:sp>
        <p:nvSpPr>
          <p:cNvPr id="806" name=""/>
          <p:cNvSpPr/>
          <p:nvPr/>
        </p:nvSpPr>
        <p:spPr>
          <a:xfrm rot="0" flipH="0" flipV="0">
            <a:off x="5038725" y="2200275"/>
            <a:ext cx="3000375" cy="485775"/>
          </a:xfrm>
          <a:custGeom>
            <a:pathLst>
              <a:path w="315" h="51">
                <a:moveTo>
                  <a:pt x="3" y="51"/>
                </a:moveTo>
                <a:cubicBezTo>
                  <a:pt x="1" y="51"/>
                  <a:pt x="0" y="50"/>
                  <a:pt x="0" y="48"/>
                </a:cubicBezTo>
                <a:lnTo>
                  <a:pt x="0" y="3"/>
                </a:lnTo>
                <a:cubicBezTo>
                  <a:pt x="0" y="1"/>
                  <a:pt x="1" y="0"/>
                  <a:pt x="3" y="0"/>
                </a:cubicBezTo>
                <a:lnTo>
                  <a:pt x="3" y="51"/>
                </a:lnTo>
                <a:close/>
              </a:path>
            </a:pathLst>
          </a:custGeom>
          <a:solidFill>
            <a:srgbClr val="FBA15C"/>
          </a:solidFill>
          <a:ln/>
        </p:spPr>
        <p:txBody>
          <a:bodyPr/>
          <a:p/>
        </p:txBody>
      </p:sp>
      <p:sp>
        <p:nvSpPr>
          <p:cNvPr id="807" name="" descr="{&quot;isTemplate&quot;:true,&quot;type&quot;:&quot;text&quot;}"/>
          <p:cNvSpPr txBox="1"/>
          <p:nvPr/>
        </p:nvSpPr>
        <p:spPr>
          <a:xfrm rot="0" flipH="0" flipV="0">
            <a:off x="5133975" y="2266950"/>
            <a:ext cx="2781300" cy="133350"/>
          </a:xfrm>
          <a:prstGeom prst="rect"/>
        </p:spPr>
        <p:txBody>
          <a:bodyPr wrap="none" lIns="0" tIns="0" rIns="0" bIns="0"/>
          <a:p>
            <a:pPr>
              <a:lnSpc>
                <a:spcPct val="100000"/>
              </a:lnSpc>
            </a:pPr>
            <a:r>
              <a:rPr lang="en-US" sz="863" b="1">
                <a:solidFill>
                  <a:srgbClr val="FFFFFF"/>
                </a:solidFill>
                <a:latin typeface="Microsoft YaHei"/>
                <a:ea typeface="Microsoft YaHei"/>
              </a:rPr>
              <a:t xml:space="preserve">A </a:t>
            </a:r>
            <a:r>
              <a:rPr lang="zh-CN" sz="863" b="1">
                <a:solidFill>
                  <a:srgbClr val="FFFFFF"/>
                </a:solidFill>
                <a:latin typeface="Microsoft YaHei"/>
                <a:ea typeface="Microsoft YaHei"/>
              </a:rPr>
              <a:t>批准</a:t>
            </a:r>
            <a:endParaRPr/>
          </a:p>
        </p:txBody>
      </p:sp>
      <p:sp>
        <p:nvSpPr>
          <p:cNvPr id="808" name="" descr="{&quot;isTemplate&quot;:true,&quot;type&quot;:&quot;text&quot;}"/>
          <p:cNvSpPr txBox="1"/>
          <p:nvPr/>
        </p:nvSpPr>
        <p:spPr>
          <a:xfrm rot="0" flipH="0" flipV="0">
            <a:off x="5133975" y="2428875"/>
            <a:ext cx="2781300" cy="190500"/>
          </a:xfrm>
          <a:prstGeom prst="rect"/>
        </p:spPr>
        <p:txBody>
          <a:bodyPr wrap="none" lIns="0" tIns="0" rIns="0" bIns="0"/>
          <a:p>
            <a:pPr>
              <a:lnSpc>
                <a:spcPct val="145000"/>
              </a:lnSpc>
            </a:pPr>
            <a:r>
              <a:rPr lang="zh-CN" sz="825">
                <a:solidFill>
                  <a:srgbClr val="FFFFFF">
                    <a:alpha val="78000"/>
                  </a:srgbClr>
                </a:solidFill>
                <a:latin typeface="Microsoft YaHei"/>
                <a:ea typeface="Microsoft YaHei"/>
              </a:rPr>
              <a:t>合规官对降级与用途放行负最终责任</a:t>
            </a:r>
            <a:endParaRPr/>
          </a:p>
        </p:txBody>
      </p:sp>
      <p:sp>
        <p:nvSpPr>
          <p:cNvPr id="809" name=""/>
          <p:cNvSpPr/>
          <p:nvPr/>
        </p:nvSpPr>
        <p:spPr>
          <a:xfrm rot="0" flipH="0" flipV="0">
            <a:off x="5038725" y="2733675"/>
            <a:ext cx="3000375" cy="485775"/>
          </a:xfrm>
          <a:prstGeom prst="roundRect">
            <a:avLst>
              <a:gd name="adj" fmla="val 5882"/>
            </a:avLst>
          </a:prstGeom>
          <a:solidFill>
            <a:srgbClr val="FFFFFF">
              <a:alpha val="7000"/>
            </a:srgbClr>
          </a:solidFill>
          <a:ln/>
        </p:spPr>
        <p:txBody>
          <a:bodyPr/>
          <a:p/>
        </p:txBody>
      </p:sp>
      <p:sp>
        <p:nvSpPr>
          <p:cNvPr id="810" name=""/>
          <p:cNvSpPr/>
          <p:nvPr/>
        </p:nvSpPr>
        <p:spPr>
          <a:xfrm rot="0" flipH="0" flipV="0">
            <a:off x="5038725" y="2733675"/>
            <a:ext cx="3000375" cy="485775"/>
          </a:xfrm>
          <a:custGeom>
            <a:pathLst>
              <a:path w="315" h="51">
                <a:moveTo>
                  <a:pt x="3" y="51"/>
                </a:moveTo>
                <a:cubicBezTo>
                  <a:pt x="1" y="51"/>
                  <a:pt x="0" y="50"/>
                  <a:pt x="0" y="48"/>
                </a:cubicBezTo>
                <a:lnTo>
                  <a:pt x="0" y="3"/>
                </a:lnTo>
                <a:cubicBezTo>
                  <a:pt x="0" y="1"/>
                  <a:pt x="1" y="0"/>
                  <a:pt x="3" y="0"/>
                </a:cubicBezTo>
                <a:lnTo>
                  <a:pt x="3" y="51"/>
                </a:lnTo>
                <a:close/>
              </a:path>
            </a:pathLst>
          </a:custGeom>
          <a:solidFill>
            <a:srgbClr val="FBA15C"/>
          </a:solidFill>
          <a:ln/>
        </p:spPr>
        <p:txBody>
          <a:bodyPr/>
          <a:p/>
        </p:txBody>
      </p:sp>
      <p:sp>
        <p:nvSpPr>
          <p:cNvPr id="811" name="" descr="{&quot;isTemplate&quot;:true,&quot;type&quot;:&quot;text&quot;}"/>
          <p:cNvSpPr txBox="1"/>
          <p:nvPr/>
        </p:nvSpPr>
        <p:spPr>
          <a:xfrm rot="0" flipH="0" flipV="0">
            <a:off x="5133975" y="2800350"/>
            <a:ext cx="2781300" cy="133350"/>
          </a:xfrm>
          <a:prstGeom prst="rect"/>
        </p:spPr>
        <p:txBody>
          <a:bodyPr wrap="none" lIns="0" tIns="0" rIns="0" bIns="0"/>
          <a:p>
            <a:pPr>
              <a:lnSpc>
                <a:spcPct val="100000"/>
              </a:lnSpc>
            </a:pPr>
            <a:r>
              <a:rPr lang="en-US" sz="863" b="1">
                <a:solidFill>
                  <a:srgbClr val="FFFFFF"/>
                </a:solidFill>
                <a:latin typeface="Microsoft YaHei"/>
                <a:ea typeface="Microsoft YaHei"/>
              </a:rPr>
              <a:t xml:space="preserve">C </a:t>
            </a:r>
            <a:r>
              <a:rPr lang="zh-CN" sz="863" b="1">
                <a:solidFill>
                  <a:srgbClr val="FFFFFF"/>
                </a:solidFill>
                <a:latin typeface="Microsoft YaHei"/>
                <a:ea typeface="Microsoft YaHei"/>
              </a:rPr>
              <a:t>咨询</a:t>
            </a:r>
            <a:endParaRPr/>
          </a:p>
        </p:txBody>
      </p:sp>
      <p:sp>
        <p:nvSpPr>
          <p:cNvPr id="812" name="" descr="{&quot;isTemplate&quot;:true,&quot;type&quot;:&quot;text&quot;}"/>
          <p:cNvSpPr txBox="1"/>
          <p:nvPr/>
        </p:nvSpPr>
        <p:spPr>
          <a:xfrm rot="0" flipH="0" flipV="0">
            <a:off x="5133975" y="2962275"/>
            <a:ext cx="2781300" cy="190500"/>
          </a:xfrm>
          <a:prstGeom prst="rect"/>
        </p:spPr>
        <p:txBody>
          <a:bodyPr wrap="none" lIns="0" tIns="0" rIns="0" bIns="0"/>
          <a:p>
            <a:pPr>
              <a:lnSpc>
                <a:spcPct val="145000"/>
              </a:lnSpc>
            </a:pPr>
            <a:r>
              <a:rPr lang="zh-CN" sz="825">
                <a:solidFill>
                  <a:srgbClr val="FFFFFF">
                    <a:alpha val="78000"/>
                  </a:srgbClr>
                </a:solidFill>
                <a:latin typeface="Microsoft YaHei"/>
                <a:ea typeface="Microsoft YaHei"/>
              </a:rPr>
              <a:t>安全部门提供八项原则与基线要求</a:t>
            </a:r>
            <a:endParaRPr/>
          </a:p>
        </p:txBody>
      </p:sp>
      <p:sp>
        <p:nvSpPr>
          <p:cNvPr id="813" name=""/>
          <p:cNvSpPr/>
          <p:nvPr/>
        </p:nvSpPr>
        <p:spPr>
          <a:xfrm rot="0" flipH="0" flipV="0">
            <a:off x="5038725" y="3267075"/>
            <a:ext cx="3000375" cy="485775"/>
          </a:xfrm>
          <a:prstGeom prst="roundRect">
            <a:avLst>
              <a:gd name="adj" fmla="val 5882"/>
            </a:avLst>
          </a:prstGeom>
          <a:solidFill>
            <a:srgbClr val="FFFFFF">
              <a:alpha val="7000"/>
            </a:srgbClr>
          </a:solidFill>
          <a:ln/>
        </p:spPr>
        <p:txBody>
          <a:bodyPr/>
          <a:p/>
        </p:txBody>
      </p:sp>
      <p:sp>
        <p:nvSpPr>
          <p:cNvPr id="814" name=""/>
          <p:cNvSpPr/>
          <p:nvPr/>
        </p:nvSpPr>
        <p:spPr>
          <a:xfrm rot="0" flipH="0" flipV="0">
            <a:off x="5038725" y="3267075"/>
            <a:ext cx="3000375" cy="485775"/>
          </a:xfrm>
          <a:custGeom>
            <a:pathLst>
              <a:path w="315" h="51">
                <a:moveTo>
                  <a:pt x="3" y="51"/>
                </a:moveTo>
                <a:cubicBezTo>
                  <a:pt x="1" y="51"/>
                  <a:pt x="0" y="50"/>
                  <a:pt x="0" y="48"/>
                </a:cubicBezTo>
                <a:lnTo>
                  <a:pt x="0" y="3"/>
                </a:lnTo>
                <a:cubicBezTo>
                  <a:pt x="0" y="1"/>
                  <a:pt x="1" y="0"/>
                  <a:pt x="3" y="0"/>
                </a:cubicBezTo>
                <a:lnTo>
                  <a:pt x="3" y="51"/>
                </a:lnTo>
                <a:close/>
              </a:path>
            </a:pathLst>
          </a:custGeom>
          <a:solidFill>
            <a:srgbClr val="FBA15C"/>
          </a:solidFill>
          <a:ln/>
        </p:spPr>
        <p:txBody>
          <a:bodyPr/>
          <a:p/>
        </p:txBody>
      </p:sp>
      <p:sp>
        <p:nvSpPr>
          <p:cNvPr id="815" name="" descr="{&quot;isTemplate&quot;:true,&quot;type&quot;:&quot;text&quot;}"/>
          <p:cNvSpPr txBox="1"/>
          <p:nvPr/>
        </p:nvSpPr>
        <p:spPr>
          <a:xfrm rot="0" flipH="0" flipV="0">
            <a:off x="5133975" y="3333750"/>
            <a:ext cx="2781300" cy="133350"/>
          </a:xfrm>
          <a:prstGeom prst="rect"/>
        </p:spPr>
        <p:txBody>
          <a:bodyPr wrap="none" lIns="0" tIns="0" rIns="0" bIns="0"/>
          <a:p>
            <a:pPr>
              <a:lnSpc>
                <a:spcPct val="100000"/>
              </a:lnSpc>
            </a:pPr>
            <a:r>
              <a:rPr lang="en-US" sz="863" b="1">
                <a:solidFill>
                  <a:srgbClr val="FFFFFF"/>
                </a:solidFill>
                <a:latin typeface="Microsoft YaHei"/>
                <a:ea typeface="Microsoft YaHei"/>
              </a:rPr>
              <a:t xml:space="preserve">I </a:t>
            </a:r>
            <a:r>
              <a:rPr lang="zh-CN" sz="863" b="1">
                <a:solidFill>
                  <a:srgbClr val="FFFFFF"/>
                </a:solidFill>
                <a:latin typeface="Microsoft YaHei"/>
                <a:ea typeface="Microsoft YaHei"/>
              </a:rPr>
              <a:t>知会</a:t>
            </a:r>
            <a:endParaRPr/>
          </a:p>
        </p:txBody>
      </p:sp>
      <p:sp>
        <p:nvSpPr>
          <p:cNvPr id="816" name="" descr="{&quot;isTemplate&quot;:true,&quot;type&quot;:&quot;text&quot;}"/>
          <p:cNvSpPr txBox="1"/>
          <p:nvPr/>
        </p:nvSpPr>
        <p:spPr>
          <a:xfrm rot="0" flipH="0" flipV="0">
            <a:off x="5133975" y="3495675"/>
            <a:ext cx="2781300" cy="190500"/>
          </a:xfrm>
          <a:prstGeom prst="rect"/>
        </p:spPr>
        <p:txBody>
          <a:bodyPr wrap="none" lIns="0" tIns="0" rIns="0" bIns="0"/>
          <a:p>
            <a:pPr>
              <a:lnSpc>
                <a:spcPct val="145000"/>
              </a:lnSpc>
            </a:pPr>
            <a:r>
              <a:rPr lang="zh-CN" sz="825">
                <a:solidFill>
                  <a:srgbClr val="FFFFFF">
                    <a:alpha val="78000"/>
                  </a:srgbClr>
                </a:solidFill>
                <a:latin typeface="Microsoft YaHei"/>
                <a:ea typeface="Microsoft YaHei"/>
              </a:rPr>
              <a:t>使用方需知晓自己的授权边界与记录方式</a:t>
            </a:r>
            <a:endParaRPr/>
          </a:p>
        </p:txBody>
      </p:sp>
      <p:sp>
        <p:nvSpPr>
          <p:cNvPr id="817" name=""/>
          <p:cNvSpPr/>
          <p:nvPr/>
        </p:nvSpPr>
        <p:spPr>
          <a:xfrm rot="0" flipH="0" flipV="0">
            <a:off x="5010150" y="3990975"/>
            <a:ext cx="3000375" cy="552450"/>
          </a:xfrm>
          <a:prstGeom prst="roundRect">
            <a:avLst>
              <a:gd name="adj" fmla="val 5172"/>
            </a:avLst>
          </a:prstGeom>
          <a:solidFill>
            <a:srgbClr val="FA4F24">
              <a:alpha val="18000"/>
            </a:srgbClr>
          </a:solidFill>
          <a:ln/>
        </p:spPr>
        <p:txBody>
          <a:bodyPr/>
          <a:p/>
        </p:txBody>
      </p:sp>
      <p:sp>
        <p:nvSpPr>
          <p:cNvPr id="818" name="" descr="{&quot;isTemplate&quot;:true,&quot;type&quot;:&quot;text&quot;}"/>
          <p:cNvSpPr txBox="1"/>
          <p:nvPr/>
        </p:nvSpPr>
        <p:spPr>
          <a:xfrm rot="0" flipH="0" flipV="0">
            <a:off x="5114925" y="4067175"/>
            <a:ext cx="2790825" cy="400050"/>
          </a:xfrm>
          <a:prstGeom prst="rect"/>
        </p:spPr>
        <p:txBody>
          <a:bodyPr wrap="square" lIns="0" tIns="0" rIns="0" bIns="0">
            <a:normAutofit/>
          </a:bodyPr>
          <a:p>
            <a:pPr>
              <a:lnSpc>
                <a:spcPct val="150000"/>
              </a:lnSpc>
            </a:pPr>
            <a:r>
              <a:rPr lang="zh-CN" sz="863">
                <a:solidFill>
                  <a:srgbClr val="FFFFFF">
                    <a:alpha val="90000"/>
                  </a:srgbClr>
                </a:solidFill>
                <a:latin typeface="Microsoft YaHei"/>
                <a:ea typeface="Microsoft YaHei"/>
              </a:rPr>
              <a:t>每一条策略都必须能指出它的</a:t>
            </a:r>
            <a:r>
              <a:rPr lang="en-US" sz="863">
                <a:solidFill>
                  <a:srgbClr val="FFFFFF">
                    <a:alpha val="90000"/>
                  </a:srgbClr>
                </a:solidFill>
                <a:latin typeface="Microsoft YaHei"/>
                <a:ea typeface="Microsoft YaHei"/>
              </a:rPr>
              <a:t xml:space="preserve"> A</a:t>
            </a:r>
            <a:r>
              <a:rPr lang="zh-CN" sz="863">
                <a:solidFill>
                  <a:srgbClr val="FFFFFF">
                    <a:alpha val="90000"/>
                  </a:srgbClr>
                </a:solidFill>
                <a:latin typeface="Microsoft YaHei"/>
                <a:ea typeface="Microsoft YaHei"/>
              </a:rPr>
              <a:t>（批准人）。指不出来的策略，就是没审批的策略，等于没有策略。</a:t>
            </a:r>
            <a:endParaRPr/>
          </a:p>
        </p:txBody>
      </p:sp>
      <p:sp>
        <p:nvSpPr>
          <p:cNvPr id="819" name=""/>
          <p:cNvSpPr/>
          <p:nvPr/>
        </p:nvSpPr>
        <p:spPr>
          <a:xfrm rot="0" flipH="0" flipV="0">
            <a:off x="8305800" y="1285875"/>
            <a:ext cx="3314700" cy="3381375"/>
          </a:xfrm>
          <a:prstGeom prst="roundRect">
            <a:avLst>
              <a:gd name="adj" fmla="val 1149"/>
            </a:avLst>
          </a:prstGeom>
          <a:solidFill>
            <a:srgbClr val="FFF3EE"/>
          </a:solidFill>
          <a:ln/>
        </p:spPr>
        <p:txBody>
          <a:bodyPr/>
          <a:p/>
        </p:txBody>
      </p:sp>
      <p:sp>
        <p:nvSpPr>
          <p:cNvPr id="820" name=""/>
          <p:cNvSpPr/>
          <p:nvPr/>
        </p:nvSpPr>
        <p:spPr>
          <a:xfrm rot="0" flipH="0" flipV="0">
            <a:off x="8305800" y="1285875"/>
            <a:ext cx="3314700" cy="3381375"/>
          </a:xfrm>
          <a:custGeom>
            <a:pathLst>
              <a:path w="348" h="355">
                <a:moveTo>
                  <a:pt x="4" y="355"/>
                </a:moveTo>
                <a:cubicBezTo>
                  <a:pt x="2" y="355"/>
                  <a:pt x="0" y="353"/>
                  <a:pt x="0" y="351"/>
                </a:cubicBezTo>
                <a:lnTo>
                  <a:pt x="0" y="4"/>
                </a:lnTo>
                <a:cubicBezTo>
                  <a:pt x="0" y="2"/>
                  <a:pt x="2" y="0"/>
                  <a:pt x="4" y="0"/>
                </a:cubicBezTo>
                <a:lnTo>
                  <a:pt x="4" y="355"/>
                </a:lnTo>
                <a:close/>
              </a:path>
            </a:pathLst>
          </a:custGeom>
          <a:solidFill>
            <a:srgbClr val="FA4F24"/>
          </a:solidFill>
          <a:ln/>
        </p:spPr>
        <p:txBody>
          <a:bodyPr/>
          <a:p/>
        </p:txBody>
      </p:sp>
      <p:sp>
        <p:nvSpPr>
          <p:cNvPr id="821" name="" descr="{&quot;isTemplate&quot;:true,&quot;type&quot;:&quot;text&quot;}"/>
          <p:cNvSpPr txBox="1"/>
          <p:nvPr/>
        </p:nvSpPr>
        <p:spPr>
          <a:xfrm rot="0" flipH="0" flipV="0">
            <a:off x="8467725" y="2219325"/>
            <a:ext cx="2952750" cy="161925"/>
          </a:xfrm>
          <a:prstGeom prst="rect"/>
        </p:spPr>
        <p:txBody>
          <a:bodyPr wrap="none" lIns="0" tIns="0" rIns="0" bIns="0"/>
          <a:p>
            <a:pPr>
              <a:lnSpc>
                <a:spcPct val="100000"/>
              </a:lnSpc>
            </a:pPr>
            <a:r>
              <a:rPr lang="en-US" sz="1050" b="1">
                <a:solidFill>
                  <a:srgbClr val="C43A17"/>
                </a:solidFill>
                <a:latin typeface="Microsoft YaHei"/>
                <a:ea typeface="Microsoft YaHei"/>
              </a:rPr>
              <a:t xml:space="preserve">BA </a:t>
            </a:r>
            <a:r>
              <a:rPr lang="zh-CN" sz="1050" b="1">
                <a:solidFill>
                  <a:srgbClr val="C43A17"/>
                </a:solidFill>
                <a:latin typeface="Microsoft YaHei"/>
                <a:ea typeface="Microsoft YaHei"/>
              </a:rPr>
              <a:t>层三个必答问题</a:t>
            </a:r>
            <a:endParaRPr/>
          </a:p>
        </p:txBody>
      </p:sp>
      <p:sp>
        <p:nvSpPr>
          <p:cNvPr id="822" name="" descr="{&quot;isTemplate&quot;:true,&quot;type&quot;:&quot;text&quot;}"/>
          <p:cNvSpPr txBox="1"/>
          <p:nvPr/>
        </p:nvSpPr>
        <p:spPr>
          <a:xfrm rot="0" flipH="0" flipV="0">
            <a:off x="8467725" y="2466975"/>
            <a:ext cx="2952750" cy="142875"/>
          </a:xfrm>
          <a:prstGeom prst="rect"/>
        </p:spPr>
        <p:txBody>
          <a:bodyPr wrap="none" lIns="0" tIns="0" rIns="0" bIns="0"/>
          <a:p>
            <a:pPr>
              <a:lnSpc>
                <a:spcPct val="100000"/>
              </a:lnSpc>
            </a:pPr>
            <a:r>
              <a:rPr lang="zh-CN" sz="938" b="1">
                <a:solidFill>
                  <a:srgbClr val="0F1423"/>
                </a:solidFill>
                <a:latin typeface="Microsoft YaHei"/>
                <a:ea typeface="Microsoft YaHei"/>
              </a:rPr>
              <a:t>这个对象的密级由谁定？</a:t>
            </a:r>
            <a:endParaRPr/>
          </a:p>
        </p:txBody>
      </p:sp>
      <p:sp>
        <p:nvSpPr>
          <p:cNvPr id="823" name="" descr="{&quot;isTemplate&quot;:true,&quot;type&quot;:&quot;text&quot;}"/>
          <p:cNvSpPr txBox="1"/>
          <p:nvPr/>
        </p:nvSpPr>
        <p:spPr>
          <a:xfrm rot="0" flipH="0" flipV="0">
            <a:off x="8467725" y="2638425"/>
            <a:ext cx="2952750" cy="200025"/>
          </a:xfrm>
          <a:prstGeom prst="rect"/>
        </p:spPr>
        <p:txBody>
          <a:bodyPr wrap="none" lIns="0" tIns="0" rIns="0" bIns="0"/>
          <a:p>
            <a:pPr>
              <a:lnSpc>
                <a:spcPct val="145000"/>
              </a:lnSpc>
            </a:pPr>
            <a:r>
              <a:rPr lang="zh-CN" sz="863">
                <a:solidFill>
                  <a:srgbClr val="3A4050"/>
                </a:solidFill>
                <a:latin typeface="Microsoft YaHei"/>
                <a:ea typeface="Microsoft YaHei"/>
              </a:rPr>
              <a:t>定不了就说明业务侧没参与，治理会退化成</a:t>
            </a:r>
            <a:r>
              <a:rPr lang="en-US" sz="863">
                <a:solidFill>
                  <a:srgbClr val="3A4050"/>
                </a:solidFill>
                <a:latin typeface="Microsoft YaHei"/>
                <a:ea typeface="Microsoft YaHei"/>
              </a:rPr>
              <a:t xml:space="preserve">IT </a:t>
            </a:r>
            <a:r>
              <a:rPr lang="zh-CN" sz="863">
                <a:solidFill>
                  <a:srgbClr val="3A4050"/>
                </a:solidFill>
                <a:latin typeface="Microsoft YaHei"/>
                <a:ea typeface="Microsoft YaHei"/>
              </a:rPr>
              <a:t>自娱自乐。</a:t>
            </a:r>
            <a:endParaRPr/>
          </a:p>
        </p:txBody>
      </p:sp>
      <p:sp>
        <p:nvSpPr>
          <p:cNvPr id="824" name="" descr="{&quot;isTemplate&quot;:true,&quot;type&quot;:&quot;text&quot;}"/>
          <p:cNvSpPr txBox="1"/>
          <p:nvPr/>
        </p:nvSpPr>
        <p:spPr>
          <a:xfrm rot="0" flipH="0" flipV="0">
            <a:off x="8467725" y="2914650"/>
            <a:ext cx="2952750" cy="142875"/>
          </a:xfrm>
          <a:prstGeom prst="rect"/>
        </p:spPr>
        <p:txBody>
          <a:bodyPr wrap="none" lIns="0" tIns="0" rIns="0" bIns="0"/>
          <a:p>
            <a:pPr>
              <a:lnSpc>
                <a:spcPct val="100000"/>
              </a:lnSpc>
            </a:pPr>
            <a:r>
              <a:rPr lang="zh-CN" sz="938" b="1">
                <a:solidFill>
                  <a:srgbClr val="0F1423"/>
                </a:solidFill>
                <a:latin typeface="Microsoft YaHei"/>
                <a:ea typeface="Microsoft YaHei"/>
              </a:rPr>
              <a:t>出了泄露事故，向谁通报？</a:t>
            </a:r>
            <a:endParaRPr/>
          </a:p>
        </p:txBody>
      </p:sp>
      <p:sp>
        <p:nvSpPr>
          <p:cNvPr id="825" name="" descr="{&quot;isTemplate&quot;:true,&quot;type&quot;:&quot;text&quot;}"/>
          <p:cNvSpPr txBox="1"/>
          <p:nvPr/>
        </p:nvSpPr>
        <p:spPr>
          <a:xfrm rot="0" flipH="0" flipV="0">
            <a:off x="8467725" y="3086100"/>
            <a:ext cx="2952750" cy="200025"/>
          </a:xfrm>
          <a:prstGeom prst="rect"/>
        </p:spPr>
        <p:txBody>
          <a:bodyPr wrap="none" lIns="0" tIns="0" rIns="0" bIns="0"/>
          <a:p>
            <a:pPr>
              <a:lnSpc>
                <a:spcPct val="145000"/>
              </a:lnSpc>
            </a:pPr>
            <a:r>
              <a:rPr lang="zh-CN" sz="863">
                <a:solidFill>
                  <a:srgbClr val="3A4050"/>
                </a:solidFill>
                <a:latin typeface="Microsoft YaHei"/>
                <a:ea typeface="Microsoft YaHei"/>
              </a:rPr>
              <a:t>必须有唯一接收人，且这个人的名字要写进策略里。</a:t>
            </a:r>
            <a:endParaRPr/>
          </a:p>
        </p:txBody>
      </p:sp>
      <p:sp>
        <p:nvSpPr>
          <p:cNvPr id="826" name="" descr="{&quot;isTemplate&quot;:true,&quot;type&quot;:&quot;text&quot;}"/>
          <p:cNvSpPr txBox="1"/>
          <p:nvPr/>
        </p:nvSpPr>
        <p:spPr>
          <a:xfrm rot="0" flipH="0" flipV="0">
            <a:off x="8467725" y="3362325"/>
            <a:ext cx="2952750" cy="142875"/>
          </a:xfrm>
          <a:prstGeom prst="rect"/>
        </p:spPr>
        <p:txBody>
          <a:bodyPr wrap="none" lIns="0" tIns="0" rIns="0" bIns="0"/>
          <a:p>
            <a:pPr>
              <a:lnSpc>
                <a:spcPct val="100000"/>
              </a:lnSpc>
            </a:pPr>
            <a:r>
              <a:rPr lang="zh-CN" sz="938" b="1">
                <a:solidFill>
                  <a:srgbClr val="0F1423"/>
                </a:solidFill>
                <a:latin typeface="Microsoft YaHei"/>
                <a:ea typeface="Microsoft YaHei"/>
              </a:rPr>
              <a:t>降级申请的审批人是谁？</a:t>
            </a:r>
            <a:endParaRPr/>
          </a:p>
        </p:txBody>
      </p:sp>
      <p:sp>
        <p:nvSpPr>
          <p:cNvPr id="827" name="" descr="{&quot;isTemplate&quot;:true,&quot;type&quot;:&quot;text&quot;}"/>
          <p:cNvSpPr txBox="1"/>
          <p:nvPr/>
        </p:nvSpPr>
        <p:spPr>
          <a:xfrm rot="0" flipH="0" flipV="0">
            <a:off x="8467725" y="3533775"/>
            <a:ext cx="2952750" cy="200025"/>
          </a:xfrm>
          <a:prstGeom prst="rect"/>
        </p:spPr>
        <p:txBody>
          <a:bodyPr wrap="none" lIns="0" tIns="0" rIns="0" bIns="0"/>
          <a:p>
            <a:pPr>
              <a:lnSpc>
                <a:spcPct val="145000"/>
              </a:lnSpc>
            </a:pPr>
            <a:r>
              <a:rPr lang="zh-CN" sz="863">
                <a:solidFill>
                  <a:srgbClr val="3A4050"/>
                </a:solidFill>
                <a:latin typeface="Microsoft YaHei"/>
                <a:ea typeface="Microsoft YaHei"/>
              </a:rPr>
              <a:t>不能是申请人的直属上级——层级越近越容易放水。</a:t>
            </a:r>
            <a:endParaRPr/>
          </a:p>
        </p:txBody>
      </p:sp>
      <p:sp>
        <p:nvSpPr>
          <p:cNvPr id="828" name=""/>
          <p:cNvSpPr/>
          <p:nvPr/>
        </p:nvSpPr>
        <p:spPr>
          <a:xfrm rot="0" flipH="0" flipV="0">
            <a:off x="609600" y="4762500"/>
            <a:ext cx="10972800" cy="876300"/>
          </a:xfrm>
          <a:prstGeom prst="roundRect">
            <a:avLst>
              <a:gd name="adj" fmla="val 4348"/>
            </a:avLst>
          </a:prstGeom>
          <a:solidFill>
            <a:srgbClr val="F7F7F8"/>
          </a:solidFill>
          <a:ln/>
        </p:spPr>
        <p:txBody>
          <a:bodyPr/>
          <a:p/>
        </p:txBody>
      </p:sp>
      <p:sp>
        <p:nvSpPr>
          <p:cNvPr id="829" name="" descr="{&quot;isTemplate&quot;:true,&quot;type&quot;:&quot;text&quot;}"/>
          <p:cNvSpPr txBox="1"/>
          <p:nvPr/>
        </p:nvSpPr>
        <p:spPr>
          <a:xfrm rot="0" flipH="0" flipV="0">
            <a:off x="781050" y="4867275"/>
            <a:ext cx="10629900" cy="161925"/>
          </a:xfrm>
          <a:prstGeom prst="rect"/>
        </p:spPr>
        <p:txBody>
          <a:bodyPr wrap="none" lIns="0" tIns="0" rIns="0" bIns="0"/>
          <a:p>
            <a:pPr>
              <a:lnSpc>
                <a:spcPct val="100000"/>
              </a:lnSpc>
            </a:pPr>
            <a:r>
              <a:rPr lang="en-US" sz="1013" b="1">
                <a:solidFill>
                  <a:srgbClr val="0F1423"/>
                </a:solidFill>
                <a:latin typeface="Microsoft YaHei"/>
                <a:ea typeface="Microsoft YaHei"/>
              </a:rPr>
              <a:t xml:space="preserve">BA </a:t>
            </a:r>
            <a:r>
              <a:rPr lang="zh-CN" sz="1013" b="1">
                <a:solidFill>
                  <a:srgbClr val="0F1423"/>
                </a:solidFill>
                <a:latin typeface="Microsoft YaHei"/>
                <a:ea typeface="Microsoft YaHei"/>
              </a:rPr>
              <a:t>层的产出物清单</a:t>
            </a:r>
            <a:endParaRPr/>
          </a:p>
        </p:txBody>
      </p:sp>
      <p:sp>
        <p:nvSpPr>
          <p:cNvPr id="830" name=""/>
          <p:cNvSpPr/>
          <p:nvPr/>
        </p:nvSpPr>
        <p:spPr>
          <a:xfrm rot="0" flipH="0" flipV="0">
            <a:off x="781050" y="5133975"/>
            <a:ext cx="2066925" cy="381000"/>
          </a:xfrm>
          <a:prstGeom prst="roundRect">
            <a:avLst>
              <a:gd name="adj" fmla="val 7500"/>
            </a:avLst>
          </a:prstGeom>
          <a:solidFill>
            <a:srgbClr val="FFFFFF"/>
          </a:solidFill>
          <a:ln/>
        </p:spPr>
        <p:txBody>
          <a:bodyPr/>
          <a:p/>
        </p:txBody>
      </p:sp>
      <p:sp>
        <p:nvSpPr>
          <p:cNvPr id="831" name=""/>
          <p:cNvSpPr/>
          <p:nvPr/>
        </p:nvSpPr>
        <p:spPr>
          <a:xfrm rot="0" flipH="0" flipV="0">
            <a:off x="781050" y="5133975"/>
            <a:ext cx="2066925" cy="381000"/>
          </a:xfrm>
          <a:custGeom>
            <a:pathLst>
              <a:path w="217" h="40">
                <a:moveTo>
                  <a:pt x="214" y="0"/>
                </a:moveTo>
                <a:cubicBezTo>
                  <a:pt x="216" y="0"/>
                  <a:pt x="217" y="1"/>
                  <a:pt x="217" y="3"/>
                </a:cubicBezTo>
                <a:lnTo>
                  <a:pt x="0" y="3"/>
                </a:lnTo>
                <a:cubicBezTo>
                  <a:pt x="0" y="1"/>
                  <a:pt x="1" y="0"/>
                  <a:pt x="3" y="0"/>
                </a:cubicBezTo>
                <a:lnTo>
                  <a:pt x="214" y="0"/>
                </a:lnTo>
                <a:close/>
              </a:path>
            </a:pathLst>
          </a:custGeom>
          <a:solidFill>
            <a:srgbClr val="FA4F24"/>
          </a:solidFill>
          <a:ln/>
        </p:spPr>
        <p:txBody>
          <a:bodyPr/>
          <a:p/>
        </p:txBody>
      </p:sp>
      <p:sp>
        <p:nvSpPr>
          <p:cNvPr id="832" name="" descr="{&quot;isTemplate&quot;:true,&quot;type&quot;:&quot;text&quot;}"/>
          <p:cNvSpPr txBox="1"/>
          <p:nvPr/>
        </p:nvSpPr>
        <p:spPr>
          <a:xfrm rot="0" flipH="0" flipV="0">
            <a:off x="876300" y="5210175"/>
            <a:ext cx="1876425" cy="200025"/>
          </a:xfrm>
          <a:prstGeom prst="rect"/>
        </p:spPr>
        <p:txBody>
          <a:bodyPr wrap="none" lIns="0" tIns="0" rIns="0" bIns="0"/>
          <a:p>
            <a:pPr>
              <a:lnSpc>
                <a:spcPct val="145000"/>
              </a:lnSpc>
            </a:pPr>
            <a:r>
              <a:rPr lang="zh-CN" sz="863">
                <a:solidFill>
                  <a:srgbClr val="3A4050"/>
                </a:solidFill>
                <a:latin typeface="Microsoft YaHei"/>
                <a:ea typeface="Microsoft YaHei"/>
              </a:rPr>
              <a:t>数据治理责任矩阵（</a:t>
            </a:r>
            <a:r>
              <a:rPr lang="en-US" sz="863">
                <a:solidFill>
                  <a:srgbClr val="3A4050"/>
                </a:solidFill>
                <a:latin typeface="Microsoft YaHei"/>
                <a:ea typeface="Microsoft YaHei"/>
              </a:rPr>
              <a:t>RACI</a:t>
            </a:r>
            <a:r>
              <a:rPr lang="zh-CN" sz="863">
                <a:solidFill>
                  <a:srgbClr val="3A4050"/>
                </a:solidFill>
                <a:latin typeface="Microsoft YaHei"/>
                <a:ea typeface="Microsoft YaHei"/>
              </a:rPr>
              <a:t>）</a:t>
            </a:r>
            <a:endParaRPr/>
          </a:p>
        </p:txBody>
      </p:sp>
      <p:sp>
        <p:nvSpPr>
          <p:cNvPr id="833" name=""/>
          <p:cNvSpPr/>
          <p:nvPr/>
        </p:nvSpPr>
        <p:spPr>
          <a:xfrm rot="0" flipH="0" flipV="0">
            <a:off x="2924175" y="5133975"/>
            <a:ext cx="2066925" cy="381000"/>
          </a:xfrm>
          <a:prstGeom prst="roundRect">
            <a:avLst>
              <a:gd name="adj" fmla="val 7500"/>
            </a:avLst>
          </a:prstGeom>
          <a:solidFill>
            <a:srgbClr val="FFFFFF"/>
          </a:solidFill>
          <a:ln/>
        </p:spPr>
        <p:txBody>
          <a:bodyPr/>
          <a:p/>
        </p:txBody>
      </p:sp>
      <p:sp>
        <p:nvSpPr>
          <p:cNvPr id="834" name=""/>
          <p:cNvSpPr/>
          <p:nvPr/>
        </p:nvSpPr>
        <p:spPr>
          <a:xfrm rot="0" flipH="0" flipV="0">
            <a:off x="2924175" y="5133975"/>
            <a:ext cx="2066925" cy="381000"/>
          </a:xfrm>
          <a:custGeom>
            <a:pathLst>
              <a:path w="217" h="40">
                <a:moveTo>
                  <a:pt x="214" y="0"/>
                </a:moveTo>
                <a:cubicBezTo>
                  <a:pt x="216" y="0"/>
                  <a:pt x="217" y="1"/>
                  <a:pt x="217" y="3"/>
                </a:cubicBezTo>
                <a:lnTo>
                  <a:pt x="0" y="3"/>
                </a:lnTo>
                <a:cubicBezTo>
                  <a:pt x="0" y="1"/>
                  <a:pt x="1" y="0"/>
                  <a:pt x="3" y="0"/>
                </a:cubicBezTo>
                <a:lnTo>
                  <a:pt x="214" y="0"/>
                </a:lnTo>
                <a:close/>
              </a:path>
            </a:pathLst>
          </a:custGeom>
          <a:solidFill>
            <a:srgbClr val="FA4F24"/>
          </a:solidFill>
          <a:ln/>
        </p:spPr>
        <p:txBody>
          <a:bodyPr/>
          <a:p/>
        </p:txBody>
      </p:sp>
      <p:sp>
        <p:nvSpPr>
          <p:cNvPr id="835" name="" descr="{&quot;isTemplate&quot;:true,&quot;type&quot;:&quot;text&quot;}"/>
          <p:cNvSpPr txBox="1"/>
          <p:nvPr/>
        </p:nvSpPr>
        <p:spPr>
          <a:xfrm rot="0" flipH="0" flipV="0">
            <a:off x="3019425" y="5210175"/>
            <a:ext cx="1876425" cy="200025"/>
          </a:xfrm>
          <a:prstGeom prst="rect"/>
        </p:spPr>
        <p:txBody>
          <a:bodyPr wrap="none" lIns="0" tIns="0" rIns="0" bIns="0"/>
          <a:p>
            <a:pPr>
              <a:lnSpc>
                <a:spcPct val="145000"/>
              </a:lnSpc>
            </a:pPr>
            <a:r>
              <a:rPr lang="zh-CN" sz="863">
                <a:solidFill>
                  <a:srgbClr val="3A4050"/>
                </a:solidFill>
                <a:latin typeface="Microsoft YaHei"/>
                <a:ea typeface="Microsoft YaHei"/>
              </a:rPr>
              <a:t>密级与用途定义说明书</a:t>
            </a:r>
            <a:endParaRPr/>
          </a:p>
        </p:txBody>
      </p:sp>
      <p:sp>
        <p:nvSpPr>
          <p:cNvPr id="836" name=""/>
          <p:cNvSpPr/>
          <p:nvPr/>
        </p:nvSpPr>
        <p:spPr>
          <a:xfrm rot="0" flipH="0" flipV="0">
            <a:off x="5067300" y="5133975"/>
            <a:ext cx="2057400" cy="381000"/>
          </a:xfrm>
          <a:prstGeom prst="roundRect">
            <a:avLst>
              <a:gd name="adj" fmla="val 7500"/>
            </a:avLst>
          </a:prstGeom>
          <a:solidFill>
            <a:srgbClr val="FFFFFF"/>
          </a:solidFill>
          <a:ln/>
        </p:spPr>
        <p:txBody>
          <a:bodyPr/>
          <a:p/>
        </p:txBody>
      </p:sp>
      <p:sp>
        <p:nvSpPr>
          <p:cNvPr id="837" name=""/>
          <p:cNvSpPr/>
          <p:nvPr/>
        </p:nvSpPr>
        <p:spPr>
          <a:xfrm rot="0" flipH="0" flipV="0">
            <a:off x="5067300" y="5133975"/>
            <a:ext cx="2057400" cy="381000"/>
          </a:xfrm>
          <a:custGeom>
            <a:pathLst>
              <a:path w="216" h="40">
                <a:moveTo>
                  <a:pt x="213" y="0"/>
                </a:moveTo>
                <a:cubicBezTo>
                  <a:pt x="215" y="0"/>
                  <a:pt x="216" y="1"/>
                  <a:pt x="216" y="3"/>
                </a:cubicBezTo>
                <a:lnTo>
                  <a:pt x="0" y="3"/>
                </a:lnTo>
                <a:cubicBezTo>
                  <a:pt x="0" y="1"/>
                  <a:pt x="1" y="0"/>
                  <a:pt x="3" y="0"/>
                </a:cubicBezTo>
                <a:lnTo>
                  <a:pt x="213" y="0"/>
                </a:lnTo>
                <a:close/>
              </a:path>
            </a:pathLst>
          </a:custGeom>
          <a:solidFill>
            <a:srgbClr val="FA4F24"/>
          </a:solidFill>
          <a:ln/>
        </p:spPr>
        <p:txBody>
          <a:bodyPr/>
          <a:p/>
        </p:txBody>
      </p:sp>
      <p:sp>
        <p:nvSpPr>
          <p:cNvPr id="838" name="" descr="{&quot;isTemplate&quot;:true,&quot;type&quot;:&quot;text&quot;}"/>
          <p:cNvSpPr txBox="1"/>
          <p:nvPr/>
        </p:nvSpPr>
        <p:spPr>
          <a:xfrm rot="0" flipH="0" flipV="0">
            <a:off x="5162550" y="5210175"/>
            <a:ext cx="1866900" cy="200025"/>
          </a:xfrm>
          <a:prstGeom prst="rect"/>
        </p:spPr>
        <p:txBody>
          <a:bodyPr wrap="none" lIns="0" tIns="0" rIns="0" bIns="0"/>
          <a:p>
            <a:pPr>
              <a:lnSpc>
                <a:spcPct val="145000"/>
              </a:lnSpc>
            </a:pPr>
            <a:r>
              <a:rPr lang="zh-CN" sz="863">
                <a:solidFill>
                  <a:srgbClr val="3A4050"/>
                </a:solidFill>
                <a:latin typeface="Microsoft YaHei"/>
                <a:ea typeface="Microsoft YaHei"/>
              </a:rPr>
              <a:t>降级与撤回审批流程（含二审人）</a:t>
            </a:r>
            <a:endParaRPr/>
          </a:p>
        </p:txBody>
      </p:sp>
      <p:sp>
        <p:nvSpPr>
          <p:cNvPr id="839" name=""/>
          <p:cNvSpPr/>
          <p:nvPr/>
        </p:nvSpPr>
        <p:spPr>
          <a:xfrm rot="0" flipH="0" flipV="0">
            <a:off x="7200900" y="5133975"/>
            <a:ext cx="2066925" cy="381000"/>
          </a:xfrm>
          <a:prstGeom prst="roundRect">
            <a:avLst>
              <a:gd name="adj" fmla="val 7500"/>
            </a:avLst>
          </a:prstGeom>
          <a:solidFill>
            <a:srgbClr val="FFFFFF"/>
          </a:solidFill>
          <a:ln/>
        </p:spPr>
        <p:txBody>
          <a:bodyPr/>
          <a:p/>
        </p:txBody>
      </p:sp>
      <p:sp>
        <p:nvSpPr>
          <p:cNvPr id="840" name=""/>
          <p:cNvSpPr/>
          <p:nvPr/>
        </p:nvSpPr>
        <p:spPr>
          <a:xfrm rot="0" flipH="0" flipV="0">
            <a:off x="7200900" y="5133975"/>
            <a:ext cx="2066925" cy="381000"/>
          </a:xfrm>
          <a:custGeom>
            <a:pathLst>
              <a:path w="217" h="40">
                <a:moveTo>
                  <a:pt x="214" y="0"/>
                </a:moveTo>
                <a:cubicBezTo>
                  <a:pt x="216" y="0"/>
                  <a:pt x="217" y="1"/>
                  <a:pt x="217" y="3"/>
                </a:cubicBezTo>
                <a:lnTo>
                  <a:pt x="0" y="3"/>
                </a:lnTo>
                <a:cubicBezTo>
                  <a:pt x="0" y="1"/>
                  <a:pt x="1" y="0"/>
                  <a:pt x="3" y="0"/>
                </a:cubicBezTo>
                <a:lnTo>
                  <a:pt x="214" y="0"/>
                </a:lnTo>
                <a:close/>
              </a:path>
            </a:pathLst>
          </a:custGeom>
          <a:solidFill>
            <a:srgbClr val="FA4F24"/>
          </a:solidFill>
          <a:ln/>
        </p:spPr>
        <p:txBody>
          <a:bodyPr/>
          <a:p/>
        </p:txBody>
      </p:sp>
      <p:sp>
        <p:nvSpPr>
          <p:cNvPr id="841" name="" descr="{&quot;isTemplate&quot;:true,&quot;type&quot;:&quot;text&quot;}"/>
          <p:cNvSpPr txBox="1"/>
          <p:nvPr/>
        </p:nvSpPr>
        <p:spPr>
          <a:xfrm rot="0" flipH="0" flipV="0">
            <a:off x="7296150" y="5210175"/>
            <a:ext cx="1876425" cy="200025"/>
          </a:xfrm>
          <a:prstGeom prst="rect"/>
        </p:spPr>
        <p:txBody>
          <a:bodyPr wrap="none" lIns="0" tIns="0" rIns="0" bIns="0"/>
          <a:p>
            <a:pPr>
              <a:lnSpc>
                <a:spcPct val="145000"/>
              </a:lnSpc>
            </a:pPr>
            <a:r>
              <a:rPr lang="zh-CN" sz="863">
                <a:solidFill>
                  <a:srgbClr val="3A4050"/>
                </a:solidFill>
                <a:latin typeface="Microsoft YaHei"/>
                <a:ea typeface="Microsoft YaHei"/>
              </a:rPr>
              <a:t>争议裁决与例外登记簿</a:t>
            </a:r>
            <a:endParaRPr/>
          </a:p>
        </p:txBody>
      </p:sp>
      <p:sp>
        <p:nvSpPr>
          <p:cNvPr id="842" name=""/>
          <p:cNvSpPr/>
          <p:nvPr/>
        </p:nvSpPr>
        <p:spPr>
          <a:xfrm rot="0" flipH="0" flipV="0">
            <a:off x="9344025" y="5133975"/>
            <a:ext cx="2066925" cy="381000"/>
          </a:xfrm>
          <a:prstGeom prst="roundRect">
            <a:avLst>
              <a:gd name="adj" fmla="val 7500"/>
            </a:avLst>
          </a:prstGeom>
          <a:solidFill>
            <a:srgbClr val="FFFFFF"/>
          </a:solidFill>
          <a:ln/>
        </p:spPr>
        <p:txBody>
          <a:bodyPr/>
          <a:p/>
        </p:txBody>
      </p:sp>
      <p:sp>
        <p:nvSpPr>
          <p:cNvPr id="843" name=""/>
          <p:cNvSpPr/>
          <p:nvPr/>
        </p:nvSpPr>
        <p:spPr>
          <a:xfrm rot="0" flipH="0" flipV="0">
            <a:off x="9344025" y="5133975"/>
            <a:ext cx="2066925" cy="381000"/>
          </a:xfrm>
          <a:custGeom>
            <a:pathLst>
              <a:path w="217" h="40">
                <a:moveTo>
                  <a:pt x="214" y="0"/>
                </a:moveTo>
                <a:cubicBezTo>
                  <a:pt x="216" y="0"/>
                  <a:pt x="217" y="1"/>
                  <a:pt x="217" y="3"/>
                </a:cubicBezTo>
                <a:lnTo>
                  <a:pt x="0" y="3"/>
                </a:lnTo>
                <a:cubicBezTo>
                  <a:pt x="0" y="1"/>
                  <a:pt x="1" y="0"/>
                  <a:pt x="3" y="0"/>
                </a:cubicBezTo>
                <a:lnTo>
                  <a:pt x="214" y="0"/>
                </a:lnTo>
                <a:close/>
              </a:path>
            </a:pathLst>
          </a:custGeom>
          <a:solidFill>
            <a:srgbClr val="FA4F24"/>
          </a:solidFill>
          <a:ln/>
        </p:spPr>
        <p:txBody>
          <a:bodyPr/>
          <a:p/>
        </p:txBody>
      </p:sp>
      <p:sp>
        <p:nvSpPr>
          <p:cNvPr id="844" name="" descr="{&quot;isTemplate&quot;:true,&quot;type&quot;:&quot;text&quot;}"/>
          <p:cNvSpPr txBox="1"/>
          <p:nvPr/>
        </p:nvSpPr>
        <p:spPr>
          <a:xfrm rot="0" flipH="0" flipV="0">
            <a:off x="9439275" y="5210175"/>
            <a:ext cx="1876425" cy="200025"/>
          </a:xfrm>
          <a:prstGeom prst="rect"/>
        </p:spPr>
        <p:txBody>
          <a:bodyPr wrap="none" lIns="0" tIns="0" rIns="0" bIns="0"/>
          <a:p>
            <a:pPr>
              <a:lnSpc>
                <a:spcPct val="145000"/>
              </a:lnSpc>
            </a:pPr>
            <a:r>
              <a:rPr lang="zh-CN" sz="863">
                <a:solidFill>
                  <a:srgbClr val="3A4050"/>
                </a:solidFill>
                <a:latin typeface="Microsoft YaHei"/>
                <a:ea typeface="Microsoft YaHei"/>
              </a:rPr>
              <a:t>违规处理与问责规则</a:t>
            </a:r>
            <a:endParaRPr/>
          </a:p>
        </p:txBody>
      </p:sp>
      <p:sp>
        <p:nvSpPr>
          <p:cNvPr id="845"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846" name=""/>
          <p:cNvSpPr/>
          <p:nvPr/>
        </p:nvSpPr>
        <p:spPr>
          <a:xfrm rot="0" flipH="0" flipV="0">
            <a:off x="609600" y="5953125"/>
            <a:ext cx="95250" cy="95250"/>
          </a:xfrm>
          <a:prstGeom prst="rect">
            <a:avLst/>
          </a:prstGeom>
          <a:solidFill>
            <a:srgbClr val="FA4F24"/>
          </a:solidFill>
          <a:ln/>
        </p:spPr>
        <p:txBody>
          <a:bodyPr/>
          <a:p/>
        </p:txBody>
      </p:sp>
      <p:sp>
        <p:nvSpPr>
          <p:cNvPr id="847"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848"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25 / 30</a:t>
            </a:r>
            <a:endParaRPr/>
          </a:p>
        </p:txBody>
      </p:sp>
    </p:spTree>
  </p:cSld>
</p:sld>
</file>

<file path=ppt/slides/slide26.xml><?xml version="1.0" encoding="utf-8"?>
<p:sld xmlns:p="http://schemas.openxmlformats.org/presentationml/2006/main" xmlns:a="http://schemas.openxmlformats.org/drawingml/2006/main">
  <p:cSld>
    <p:spTree>
      <p:nvGrpSpPr>
        <p:cNvPr id="849" name="" descr="&lt;Slide style={{ width: 1280, height: 720, background: '#FFFFFF', padding: '24px 64px 0' }}&gt;&#10;  &lt;Box style={{ height: 96, flexDirection: 'column', justifyContent: 'flex-start' }}&gt;&#10;    &lt;Text style={{ fontSize: 32, fontWeight: 'bold', color: '#0F1423' }}&gt;&#10;      DA 层：治理元数据模型与&lt;span style={{ color: '#FA4F24' }}&gt;十四项必建模&lt;/span&gt;&#10;    &lt;/Text&gt;&#10;    &lt;Text style={{ fontSize: 20, color: '#8A8F99', marginTop: 8 }}&gt;&#10;      治理的元数据比业务元数据更严格——它决定的是「能不能看见」，不是「怎么理解」&#10;    &lt;/Text&gt;&#10;  &lt;/Box&gt;&#10;  &lt;Box style={{ height: 1, background: '#E8E8E8' }} /&gt;&#10;&#10;  &lt;Box style={{ paddingTop: 14, paddingBottom: 8, height: 479, flexDirection: 'column', gap: 10 }}&gt;&#10;    &lt;Box style={{ height: 208, background: '#0F1423', borderRadius: 4, padding: '14px 18px', flexDirection: 'column' }}&gt;&#10;      &lt;Text style={{ fontSize: 14, fontWeight: 'bold', color: '#FBA15C' }}&gt;十四项必建模治理元数据（按四组分）&lt;/Text&gt;&#10;      &lt;Box style={{ flex: 1, flexDirection: 'row', gap: 10, marginTop: 11 }}&gt;&#10;        {[&#10;          { g: '密级组', items: ['标记类别（不可删不可改类）', '类别可见性（可见/隐藏）', '四维权限（管理/应用/移除/成员）'] },&#10;          { g: '策略组', items: ['对象安全策略（行级）', '属性安全策略（列级）', '检查点与用途策略（PBAC）'] },&#10;          { g: '血缘组', items: ['数据集版本与来源代码', '父数据集与构建运行时', '影响面与祖先链'] },&#10;          { g: '审计组', items: ['动作日志（谁/什么/为什么）', '提案与审批状态', '降级与撤回事件'] },&#10;        ].map((x) =&gt; (&#10;          &lt;Box key={x.g} style={{ flex: 1, background: 'rgba(255,255,255,0.07)', borderRadius: 3, borderLeft: '3px solid #FA4F24', padding: '10px 12px', flexDirection: 'column' }}&gt;&#10;            &lt;Text style={{ fontSize: 13.5, fontWeight: 'bold', color: '#FBA15C' }}&gt;{x.g}&lt;/Text&gt;&#10;            &lt;Box style={{ flex: 1, marginTop: 8, flexDirection: 'column', gap: 6 }}&gt;&#10;              {x.items.map((it) =&gt; (&#10;                &lt;Text key={it} style={{ fontSize: 11.5, color: 'rgba(255,255,255,0.85)', lineHeight: 1.45 }}&gt;· {it}&lt;/Text&gt;&#10;              ))}&#10;            &lt;/Box&gt;&#10;          &lt;/Box&gt;&#10;        ))}&#10;      &lt;/Box&gt;&#10;      &lt;Text style={{ fontSize: 11.5, color: 'rgba(255,255,255,0.72)', marginTop: 10, lineHeight: 1.5 }}&gt;&#10;        建模顺序有依赖：先有标记类别，才谈得上属性安全策略；先有血缘，才谈得上传播与影响面。倒过来做，一定返工。&#10;      &lt;/Text&gt;&#10;    &lt;/Box&gt;&#10;&#10;    &lt;Box style={{ flex: 1, flexDirection: 'row', gap: 10 }}&gt;&#10;      &lt;Box style={{ flex: 1, background: '#FFF3EE', borderRadius: 4, borderLeft: '4px solid #FA4F24', padding: '12px 16px', flexDirection: 'column' }}&gt;&#10;        &lt;Text style={{ fontSize: 13.5, fontWeight: 'bold', color: '#C43A17' }}&gt;三条建模硬约束&lt;/Text&gt;&#10;        &lt;Box style={{ flexDirection: 'column', gap: 6, marginTop: 8 }}&gt;&#10;          {[&#10;            '主键属性不得进入属性安全策略——保证行仍可定位；非主键属性最多归属一个属性安全策略，避免叠加冲突。',&#10;            '标记类别不能删除、不能改类别——历史审计记录必须永久可解释。',&#10;            '新对象默认继承数据源全部强制控制——不许出现「因为忘配所以裸奔」。',&#10;          ].map((t) =&gt; (&#10;            &lt;Text key={t} style={{ fontSize: 11.5, color: '#3A4050', lineHeight: 1.5 }}&gt;{t}&lt;/Text&gt;&#10;          ))}&#10;        &lt;/Box&gt;&#10;      &lt;/Box&gt;&#10;      &lt;Box style={{ flex: 1, background: '#F7F7F8', borderRadius: 4, padding: '12px 16px', flexDirection: 'column' }}&gt;&#10;        &lt;Text style={{ fontSize: 13.5, fontWeight: 'bold', color: '#0F1423' }}&gt;元数据采集的四项硬要求&lt;/Text&gt;&#10;        &lt;Box style={{ flexDirection: 'column', gap: 6, marginTop: 8 }}&gt;&#10;          {[&#10;            '全面捕获：血缘、版本、策略、访问，一处不落。',&#10;            '实时更新：动作提交即落库，不做 T+1 汇总。',&#10;            '可审阅：合规官能自己查到，不需要工程师代查。',&#10;            '可做动态趋势分析：支持密级随时间的漂移分析。',&#10;          ].map((t) =&gt; (&#10;            &lt;Text key={t} style={{ fontSize: 11.5, color: '#3A4050', lineHeight: 1.5 }}&gt;{t}&lt;/Text&gt;&#10;          ))}&#10;        &lt;/Box&gt;&#10;      &lt;/Box&gt;&#10;      &lt;Box style={{ flex: 1, background: '#FFFFFF', border: '1px solid #E8E8E8', borderRadius: 4, padding: '12px 16px', flexDirection: 'column', justifyContent: 'center' }}&gt;&#10;        &lt;Text style={{ fontSize: 13.5, fontWeight: 'bold', color: '#0F1423' }}&gt;最容易漏掉的三项&lt;/Text&gt;&#10;        &lt;Text style={{ fontSize: 11.5, color: '#3A4050', marginTop: 8, lineHeight: 1.6 }}&gt;&#10;          一、&lt;tspan style={{ fontWeight: 'bold' }}&gt;理由对象&lt;/tspan&gt;：PBAC 主动模式下申请人写的理由，不建模就等于没有审计证据；二、&lt;tspan style={{ fontWeight: 'bold' }}&gt;降级事件&lt;/tspan&gt;：标记只影响标记存在期间提交的事务，历史事务要额外手工补标；三、&lt;tspan style={{ fontWeight: 'bold' }}&gt;Agent 遥测日志&lt;/tspan&gt;：它本身受标记管辖，漏了就等于把审计对象漏在体系外。&#10;        &lt;/Text&gt;&#10;      &lt;/Box&gt;&#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26 / 30&lt;/Text&gt;&#10;  &lt;/Box&gt;&#10;&lt;/Slide&gt;"/>
        <p:cNvGrpSpPr/>
        <p:nvPr/>
      </p:nvGrpSpPr>
      <p:grpSpPr>
        <a:xfrm>
          <a:off x="0" y="0"/>
          <a:ext cx="0" cy="0"/>
          <a:chOff x="0" y="0"/>
          <a:chExt cx="0" cy="0"/>
        </a:xfrm>
      </p:grpSpPr>
      <p:sp>
        <p:nvSpPr>
          <p:cNvPr id="850" name=""/>
          <p:cNvSpPr/>
          <p:nvPr/>
        </p:nvSpPr>
        <p:spPr>
          <a:xfrm rot="0" flipH="0" flipV="0">
            <a:off x="0" y="0"/>
            <a:ext cx="12192000" cy="6858000"/>
          </a:xfrm>
          <a:prstGeom prst="rect">
            <a:avLst/>
          </a:prstGeom>
          <a:solidFill>
            <a:srgbClr val="FFFFFF"/>
          </a:solidFill>
          <a:ln/>
        </p:spPr>
        <p:txBody>
          <a:bodyPr/>
          <a:p/>
        </p:txBody>
      </p:sp>
      <p:sp>
        <p:nvSpPr>
          <p:cNvPr id="851"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en-US" sz="2400" b="1">
                <a:solidFill>
                  <a:srgbClr val="0F1423"/>
                </a:solidFill>
                <a:latin typeface="Microsoft YaHei"/>
                <a:ea typeface="Microsoft YaHei"/>
              </a:rPr>
              <a:t xml:space="preserve">DA </a:t>
            </a:r>
            <a:r>
              <a:rPr lang="zh-CN" sz="2400" b="1">
                <a:solidFill>
                  <a:srgbClr val="0F1423"/>
                </a:solidFill>
                <a:latin typeface="Microsoft YaHei"/>
                <a:ea typeface="Microsoft YaHei"/>
              </a:rPr>
              <a:t>层：治理元数据模型与</a:t>
            </a:r>
            <a:r>
              <a:rPr lang="zh-CN" sz="2400" b="1">
                <a:solidFill>
                  <a:srgbClr val="FA4F24"/>
                </a:solidFill>
                <a:latin typeface="Microsoft YaHei"/>
                <a:ea typeface="Microsoft YaHei"/>
              </a:rPr>
              <a:t>十四项必建模</a:t>
            </a:r>
            <a:endParaRPr/>
          </a:p>
        </p:txBody>
      </p:sp>
      <p:sp>
        <p:nvSpPr>
          <p:cNvPr id="852"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治理的元数据比业务元数据更严格——它决定的是「能不能看见」，不是「怎么理解」</a:t>
            </a:r>
            <a:endParaRPr/>
          </a:p>
        </p:txBody>
      </p:sp>
      <p:sp>
        <p:nvSpPr>
          <p:cNvPr id="853" name=""/>
          <p:cNvSpPr/>
          <p:nvPr/>
        </p:nvSpPr>
        <p:spPr>
          <a:xfrm rot="0" flipH="0" flipV="0">
            <a:off x="609600" y="1143000"/>
            <a:ext cx="10972800" cy="9525"/>
          </a:xfrm>
          <a:prstGeom prst="rect">
            <a:avLst/>
          </a:prstGeom>
          <a:solidFill>
            <a:srgbClr val="E8E8E8"/>
          </a:solidFill>
          <a:ln/>
        </p:spPr>
        <p:txBody>
          <a:bodyPr/>
          <a:p/>
        </p:txBody>
      </p:sp>
      <p:sp>
        <p:nvSpPr>
          <p:cNvPr id="854" name=""/>
          <p:cNvSpPr/>
          <p:nvPr/>
        </p:nvSpPr>
        <p:spPr>
          <a:xfrm rot="0" flipH="0" flipV="0">
            <a:off x="609600" y="1285875"/>
            <a:ext cx="10972800" cy="1981200"/>
          </a:xfrm>
          <a:prstGeom prst="roundRect">
            <a:avLst>
              <a:gd name="adj" fmla="val 1923"/>
            </a:avLst>
          </a:prstGeom>
          <a:solidFill>
            <a:srgbClr val="0F1423"/>
          </a:solidFill>
          <a:ln/>
        </p:spPr>
        <p:txBody>
          <a:bodyPr/>
          <a:p/>
        </p:txBody>
      </p:sp>
      <p:sp>
        <p:nvSpPr>
          <p:cNvPr id="855" name="" descr="{&quot;isTemplate&quot;:true,&quot;type&quot;:&quot;text&quot;}"/>
          <p:cNvSpPr txBox="1"/>
          <p:nvPr/>
        </p:nvSpPr>
        <p:spPr>
          <a:xfrm rot="0" flipH="0" flipV="0">
            <a:off x="781050" y="1419225"/>
            <a:ext cx="10629900" cy="161925"/>
          </a:xfrm>
          <a:prstGeom prst="rect"/>
        </p:spPr>
        <p:txBody>
          <a:bodyPr wrap="none" lIns="0" tIns="0" rIns="0" bIns="0"/>
          <a:p>
            <a:pPr>
              <a:lnSpc>
                <a:spcPct val="100000"/>
              </a:lnSpc>
            </a:pPr>
            <a:r>
              <a:rPr lang="zh-CN" sz="1050" b="1">
                <a:solidFill>
                  <a:srgbClr val="FBA15C"/>
                </a:solidFill>
                <a:latin typeface="Microsoft YaHei"/>
                <a:ea typeface="Microsoft YaHei"/>
              </a:rPr>
              <a:t>十四项必建模治理元数据（按四组分）</a:t>
            </a:r>
            <a:endParaRPr/>
          </a:p>
        </p:txBody>
      </p:sp>
      <p:sp>
        <p:nvSpPr>
          <p:cNvPr id="856" name=""/>
          <p:cNvSpPr/>
          <p:nvPr/>
        </p:nvSpPr>
        <p:spPr>
          <a:xfrm rot="0" flipH="0" flipV="0">
            <a:off x="809625" y="1685925"/>
            <a:ext cx="2590800" cy="1152525"/>
          </a:xfrm>
          <a:prstGeom prst="roundRect">
            <a:avLst>
              <a:gd name="adj" fmla="val 2479"/>
            </a:avLst>
          </a:prstGeom>
          <a:solidFill>
            <a:srgbClr val="FFFFFF">
              <a:alpha val="7000"/>
            </a:srgbClr>
          </a:solidFill>
          <a:ln/>
        </p:spPr>
        <p:txBody>
          <a:bodyPr/>
          <a:p/>
        </p:txBody>
      </p:sp>
      <p:sp>
        <p:nvSpPr>
          <p:cNvPr id="857" name=""/>
          <p:cNvSpPr/>
          <p:nvPr/>
        </p:nvSpPr>
        <p:spPr>
          <a:xfrm rot="0" flipH="0" flipV="0">
            <a:off x="809625" y="1685925"/>
            <a:ext cx="2590800" cy="1152525"/>
          </a:xfrm>
          <a:custGeom>
            <a:pathLst>
              <a:path w="272" h="121">
                <a:moveTo>
                  <a:pt x="3" y="121"/>
                </a:moveTo>
                <a:cubicBezTo>
                  <a:pt x="1" y="121"/>
                  <a:pt x="0" y="120"/>
                  <a:pt x="0" y="118"/>
                </a:cubicBezTo>
                <a:lnTo>
                  <a:pt x="0" y="3"/>
                </a:lnTo>
                <a:cubicBezTo>
                  <a:pt x="0" y="1"/>
                  <a:pt x="1" y="0"/>
                  <a:pt x="3" y="0"/>
                </a:cubicBezTo>
                <a:lnTo>
                  <a:pt x="3" y="121"/>
                </a:lnTo>
                <a:close/>
              </a:path>
            </a:pathLst>
          </a:custGeom>
          <a:solidFill>
            <a:srgbClr val="FA4F24"/>
          </a:solidFill>
          <a:ln/>
        </p:spPr>
        <p:txBody>
          <a:bodyPr/>
          <a:p/>
        </p:txBody>
      </p:sp>
      <p:sp>
        <p:nvSpPr>
          <p:cNvPr id="858" name="" descr="{&quot;isTemplate&quot;:true,&quot;type&quot;:&quot;text&quot;}"/>
          <p:cNvSpPr txBox="1"/>
          <p:nvPr/>
        </p:nvSpPr>
        <p:spPr>
          <a:xfrm rot="0" flipH="0" flipV="0">
            <a:off x="923925" y="1781175"/>
            <a:ext cx="2333625" cy="161925"/>
          </a:xfrm>
          <a:prstGeom prst="rect"/>
        </p:spPr>
        <p:txBody>
          <a:bodyPr wrap="none" lIns="0" tIns="0" rIns="0" bIns="0"/>
          <a:p>
            <a:pPr>
              <a:lnSpc>
                <a:spcPct val="100000"/>
              </a:lnSpc>
            </a:pPr>
            <a:r>
              <a:rPr lang="zh-CN" sz="1013" b="1">
                <a:solidFill>
                  <a:srgbClr val="FBA15C"/>
                </a:solidFill>
                <a:latin typeface="Microsoft YaHei"/>
                <a:ea typeface="Microsoft YaHei"/>
              </a:rPr>
              <a:t>密级组</a:t>
            </a:r>
            <a:endParaRPr/>
          </a:p>
        </p:txBody>
      </p:sp>
      <p:sp>
        <p:nvSpPr>
          <p:cNvPr id="859" name="" descr="{&quot;isTemplate&quot;:true,&quot;type&quot;:&quot;text&quot;}"/>
          <p:cNvSpPr txBox="1"/>
          <p:nvPr/>
        </p:nvSpPr>
        <p:spPr>
          <a:xfrm rot="0" flipH="0" flipV="0">
            <a:off x="923925" y="2019300"/>
            <a:ext cx="2333625" cy="200025"/>
          </a:xfrm>
          <a:prstGeom prst="rect"/>
        </p:spPr>
        <p:txBody>
          <a:bodyPr wrap="none" lIns="0" tIns="0" rIns="0" bIns="0"/>
          <a:p>
            <a:pPr>
              <a:lnSpc>
                <a:spcPct val="145000"/>
              </a:lnSpc>
            </a:pPr>
            <a:r>
              <a:rPr lang="en-US" sz="863">
                <a:solidFill>
                  <a:srgbClr val="FFFFFF">
                    <a:alpha val="85000"/>
                  </a:srgbClr>
                </a:solidFill>
                <a:latin typeface="Microsoft YaHei"/>
                <a:ea typeface="Microsoft YaHei"/>
              </a:rPr>
              <a:t xml:space="preserve">· </a:t>
            </a:r>
            <a:r>
              <a:rPr lang="zh-CN" sz="863">
                <a:solidFill>
                  <a:srgbClr val="FFFFFF">
                    <a:alpha val="85000"/>
                  </a:srgbClr>
                </a:solidFill>
                <a:latin typeface="Microsoft YaHei"/>
                <a:ea typeface="Microsoft YaHei"/>
              </a:rPr>
              <a:t>标记类别（不可删不可改类）</a:t>
            </a:r>
            <a:endParaRPr/>
          </a:p>
        </p:txBody>
      </p:sp>
      <p:sp>
        <p:nvSpPr>
          <p:cNvPr id="860" name="" descr="{&quot;isTemplate&quot;:true,&quot;type&quot;:&quot;text&quot;}"/>
          <p:cNvSpPr txBox="1"/>
          <p:nvPr/>
        </p:nvSpPr>
        <p:spPr>
          <a:xfrm rot="0" flipH="0" flipV="0">
            <a:off x="923925" y="2276475"/>
            <a:ext cx="2333625" cy="200025"/>
          </a:xfrm>
          <a:prstGeom prst="rect"/>
        </p:spPr>
        <p:txBody>
          <a:bodyPr wrap="none" lIns="0" tIns="0" rIns="0" bIns="0"/>
          <a:p>
            <a:pPr>
              <a:lnSpc>
                <a:spcPct val="145000"/>
              </a:lnSpc>
            </a:pPr>
            <a:r>
              <a:rPr lang="en-US" sz="863">
                <a:solidFill>
                  <a:srgbClr val="FFFFFF">
                    <a:alpha val="85000"/>
                  </a:srgbClr>
                </a:solidFill>
                <a:latin typeface="Microsoft YaHei"/>
                <a:ea typeface="Microsoft YaHei"/>
              </a:rPr>
              <a:t xml:space="preserve">· </a:t>
            </a:r>
            <a:r>
              <a:rPr lang="zh-CN" sz="863">
                <a:solidFill>
                  <a:srgbClr val="FFFFFF">
                    <a:alpha val="85000"/>
                  </a:srgbClr>
                </a:solidFill>
                <a:latin typeface="Microsoft YaHei"/>
                <a:ea typeface="Microsoft YaHei"/>
              </a:rPr>
              <a:t>类别可见性（可见</a:t>
            </a:r>
            <a:r>
              <a:rPr lang="en-US" sz="863">
                <a:solidFill>
                  <a:srgbClr val="FFFFFF">
                    <a:alpha val="85000"/>
                  </a:srgbClr>
                </a:solidFill>
                <a:latin typeface="Microsoft YaHei"/>
                <a:ea typeface="Microsoft YaHei"/>
              </a:rPr>
              <a:t>/</a:t>
            </a:r>
            <a:r>
              <a:rPr lang="zh-CN" sz="863">
                <a:solidFill>
                  <a:srgbClr val="FFFFFF">
                    <a:alpha val="85000"/>
                  </a:srgbClr>
                </a:solidFill>
                <a:latin typeface="Microsoft YaHei"/>
                <a:ea typeface="Microsoft YaHei"/>
              </a:rPr>
              <a:t>隐藏）</a:t>
            </a:r>
            <a:endParaRPr/>
          </a:p>
        </p:txBody>
      </p:sp>
      <p:sp>
        <p:nvSpPr>
          <p:cNvPr id="861" name="" descr="{&quot;isTemplate&quot;:true,&quot;type&quot;:&quot;text&quot;}"/>
          <p:cNvSpPr txBox="1"/>
          <p:nvPr/>
        </p:nvSpPr>
        <p:spPr>
          <a:xfrm rot="0" flipH="0" flipV="0">
            <a:off x="923925" y="2533650"/>
            <a:ext cx="2333625" cy="200025"/>
          </a:xfrm>
          <a:prstGeom prst="rect"/>
        </p:spPr>
        <p:txBody>
          <a:bodyPr wrap="none" lIns="0" tIns="0" rIns="0" bIns="0"/>
          <a:p>
            <a:pPr>
              <a:lnSpc>
                <a:spcPct val="145000"/>
              </a:lnSpc>
            </a:pPr>
            <a:r>
              <a:rPr lang="en-US" sz="863">
                <a:solidFill>
                  <a:srgbClr val="FFFFFF">
                    <a:alpha val="85000"/>
                  </a:srgbClr>
                </a:solidFill>
                <a:latin typeface="Microsoft YaHei"/>
                <a:ea typeface="Microsoft YaHei"/>
              </a:rPr>
              <a:t xml:space="preserve">· </a:t>
            </a:r>
            <a:r>
              <a:rPr lang="zh-CN" sz="863">
                <a:solidFill>
                  <a:srgbClr val="FFFFFF">
                    <a:alpha val="85000"/>
                  </a:srgbClr>
                </a:solidFill>
                <a:latin typeface="Microsoft YaHei"/>
                <a:ea typeface="Microsoft YaHei"/>
              </a:rPr>
              <a:t>四维权限（管理</a:t>
            </a:r>
            <a:r>
              <a:rPr lang="en-US" sz="863">
                <a:solidFill>
                  <a:srgbClr val="FFFFFF">
                    <a:alpha val="85000"/>
                  </a:srgbClr>
                </a:solidFill>
                <a:latin typeface="Microsoft YaHei"/>
                <a:ea typeface="Microsoft YaHei"/>
              </a:rPr>
              <a:t>/</a:t>
            </a:r>
            <a:r>
              <a:rPr lang="zh-CN" sz="863">
                <a:solidFill>
                  <a:srgbClr val="FFFFFF">
                    <a:alpha val="85000"/>
                  </a:srgbClr>
                </a:solidFill>
                <a:latin typeface="Microsoft YaHei"/>
                <a:ea typeface="Microsoft YaHei"/>
              </a:rPr>
              <a:t>应用</a:t>
            </a:r>
            <a:r>
              <a:rPr lang="en-US" sz="863">
                <a:solidFill>
                  <a:srgbClr val="FFFFFF">
                    <a:alpha val="85000"/>
                  </a:srgbClr>
                </a:solidFill>
                <a:latin typeface="Microsoft YaHei"/>
                <a:ea typeface="Microsoft YaHei"/>
              </a:rPr>
              <a:t>/</a:t>
            </a:r>
            <a:r>
              <a:rPr lang="zh-CN" sz="863">
                <a:solidFill>
                  <a:srgbClr val="FFFFFF">
                    <a:alpha val="85000"/>
                  </a:srgbClr>
                </a:solidFill>
                <a:latin typeface="Microsoft YaHei"/>
                <a:ea typeface="Microsoft YaHei"/>
              </a:rPr>
              <a:t>移除</a:t>
            </a:r>
            <a:r>
              <a:rPr lang="en-US" sz="863">
                <a:solidFill>
                  <a:srgbClr val="FFFFFF">
                    <a:alpha val="85000"/>
                  </a:srgbClr>
                </a:solidFill>
                <a:latin typeface="Microsoft YaHei"/>
                <a:ea typeface="Microsoft YaHei"/>
              </a:rPr>
              <a:t>/</a:t>
            </a:r>
            <a:r>
              <a:rPr lang="zh-CN" sz="863">
                <a:solidFill>
                  <a:srgbClr val="FFFFFF">
                    <a:alpha val="85000"/>
                  </a:srgbClr>
                </a:solidFill>
                <a:latin typeface="Microsoft YaHei"/>
                <a:ea typeface="Microsoft YaHei"/>
              </a:rPr>
              <a:t>成员）</a:t>
            </a:r>
            <a:endParaRPr/>
          </a:p>
        </p:txBody>
      </p:sp>
      <p:sp>
        <p:nvSpPr>
          <p:cNvPr id="862" name=""/>
          <p:cNvSpPr/>
          <p:nvPr/>
        </p:nvSpPr>
        <p:spPr>
          <a:xfrm rot="0" flipH="0" flipV="0">
            <a:off x="3495675" y="1685925"/>
            <a:ext cx="2581275" cy="1152525"/>
          </a:xfrm>
          <a:prstGeom prst="roundRect">
            <a:avLst>
              <a:gd name="adj" fmla="val 2479"/>
            </a:avLst>
          </a:prstGeom>
          <a:solidFill>
            <a:srgbClr val="FFFFFF">
              <a:alpha val="7000"/>
            </a:srgbClr>
          </a:solidFill>
          <a:ln/>
        </p:spPr>
        <p:txBody>
          <a:bodyPr/>
          <a:p/>
        </p:txBody>
      </p:sp>
      <p:sp>
        <p:nvSpPr>
          <p:cNvPr id="863" name=""/>
          <p:cNvSpPr/>
          <p:nvPr/>
        </p:nvSpPr>
        <p:spPr>
          <a:xfrm rot="0" flipH="0" flipV="0">
            <a:off x="3495675" y="1685925"/>
            <a:ext cx="2581275" cy="1152525"/>
          </a:xfrm>
          <a:custGeom>
            <a:pathLst>
              <a:path w="271" h="121">
                <a:moveTo>
                  <a:pt x="3" y="121"/>
                </a:moveTo>
                <a:cubicBezTo>
                  <a:pt x="1" y="121"/>
                  <a:pt x="0" y="120"/>
                  <a:pt x="0" y="118"/>
                </a:cubicBezTo>
                <a:lnTo>
                  <a:pt x="0" y="3"/>
                </a:lnTo>
                <a:cubicBezTo>
                  <a:pt x="0" y="1"/>
                  <a:pt x="1" y="0"/>
                  <a:pt x="3" y="0"/>
                </a:cubicBezTo>
                <a:lnTo>
                  <a:pt x="3" y="121"/>
                </a:lnTo>
                <a:close/>
              </a:path>
            </a:pathLst>
          </a:custGeom>
          <a:solidFill>
            <a:srgbClr val="FA4F24"/>
          </a:solidFill>
          <a:ln/>
        </p:spPr>
        <p:txBody>
          <a:bodyPr/>
          <a:p/>
        </p:txBody>
      </p:sp>
      <p:sp>
        <p:nvSpPr>
          <p:cNvPr id="864" name="" descr="{&quot;isTemplate&quot;:true,&quot;type&quot;:&quot;text&quot;}"/>
          <p:cNvSpPr txBox="1"/>
          <p:nvPr/>
        </p:nvSpPr>
        <p:spPr>
          <a:xfrm rot="0" flipH="0" flipV="0">
            <a:off x="3609975" y="1781175"/>
            <a:ext cx="2324100" cy="161925"/>
          </a:xfrm>
          <a:prstGeom prst="rect"/>
        </p:spPr>
        <p:txBody>
          <a:bodyPr wrap="none" lIns="0" tIns="0" rIns="0" bIns="0"/>
          <a:p>
            <a:pPr>
              <a:lnSpc>
                <a:spcPct val="100000"/>
              </a:lnSpc>
            </a:pPr>
            <a:r>
              <a:rPr lang="zh-CN" sz="1013" b="1">
                <a:solidFill>
                  <a:srgbClr val="FBA15C"/>
                </a:solidFill>
                <a:latin typeface="Microsoft YaHei"/>
                <a:ea typeface="Microsoft YaHei"/>
              </a:rPr>
              <a:t>策略组</a:t>
            </a:r>
            <a:endParaRPr/>
          </a:p>
        </p:txBody>
      </p:sp>
      <p:sp>
        <p:nvSpPr>
          <p:cNvPr id="865" name="" descr="{&quot;isTemplate&quot;:true,&quot;type&quot;:&quot;text&quot;}"/>
          <p:cNvSpPr txBox="1"/>
          <p:nvPr/>
        </p:nvSpPr>
        <p:spPr>
          <a:xfrm rot="0" flipH="0" flipV="0">
            <a:off x="3609975" y="2019300"/>
            <a:ext cx="2324100" cy="200025"/>
          </a:xfrm>
          <a:prstGeom prst="rect"/>
        </p:spPr>
        <p:txBody>
          <a:bodyPr wrap="none" lIns="0" tIns="0" rIns="0" bIns="0"/>
          <a:p>
            <a:pPr>
              <a:lnSpc>
                <a:spcPct val="145000"/>
              </a:lnSpc>
            </a:pPr>
            <a:r>
              <a:rPr lang="en-US" sz="863">
                <a:solidFill>
                  <a:srgbClr val="FFFFFF">
                    <a:alpha val="85000"/>
                  </a:srgbClr>
                </a:solidFill>
                <a:latin typeface="Microsoft YaHei"/>
                <a:ea typeface="Microsoft YaHei"/>
              </a:rPr>
              <a:t xml:space="preserve">· </a:t>
            </a:r>
            <a:r>
              <a:rPr lang="zh-CN" sz="863">
                <a:solidFill>
                  <a:srgbClr val="FFFFFF">
                    <a:alpha val="85000"/>
                  </a:srgbClr>
                </a:solidFill>
                <a:latin typeface="Microsoft YaHei"/>
                <a:ea typeface="Microsoft YaHei"/>
              </a:rPr>
              <a:t>对象安全策略（行级）</a:t>
            </a:r>
            <a:endParaRPr/>
          </a:p>
        </p:txBody>
      </p:sp>
      <p:sp>
        <p:nvSpPr>
          <p:cNvPr id="866" name="" descr="{&quot;isTemplate&quot;:true,&quot;type&quot;:&quot;text&quot;}"/>
          <p:cNvSpPr txBox="1"/>
          <p:nvPr/>
        </p:nvSpPr>
        <p:spPr>
          <a:xfrm rot="0" flipH="0" flipV="0">
            <a:off x="3609975" y="2276475"/>
            <a:ext cx="2324100" cy="200025"/>
          </a:xfrm>
          <a:prstGeom prst="rect"/>
        </p:spPr>
        <p:txBody>
          <a:bodyPr wrap="none" lIns="0" tIns="0" rIns="0" bIns="0"/>
          <a:p>
            <a:pPr>
              <a:lnSpc>
                <a:spcPct val="145000"/>
              </a:lnSpc>
            </a:pPr>
            <a:r>
              <a:rPr lang="en-US" sz="863">
                <a:solidFill>
                  <a:srgbClr val="FFFFFF">
                    <a:alpha val="85000"/>
                  </a:srgbClr>
                </a:solidFill>
                <a:latin typeface="Microsoft YaHei"/>
                <a:ea typeface="Microsoft YaHei"/>
              </a:rPr>
              <a:t xml:space="preserve">· </a:t>
            </a:r>
            <a:r>
              <a:rPr lang="zh-CN" sz="863">
                <a:solidFill>
                  <a:srgbClr val="FFFFFF">
                    <a:alpha val="85000"/>
                  </a:srgbClr>
                </a:solidFill>
                <a:latin typeface="Microsoft YaHei"/>
                <a:ea typeface="Microsoft YaHei"/>
              </a:rPr>
              <a:t>属性安全策略（列级）</a:t>
            </a:r>
            <a:endParaRPr/>
          </a:p>
        </p:txBody>
      </p:sp>
      <p:sp>
        <p:nvSpPr>
          <p:cNvPr id="867" name="" descr="{&quot;isTemplate&quot;:true,&quot;type&quot;:&quot;text&quot;}"/>
          <p:cNvSpPr txBox="1"/>
          <p:nvPr/>
        </p:nvSpPr>
        <p:spPr>
          <a:xfrm rot="0" flipH="0" flipV="0">
            <a:off x="3609975" y="2533650"/>
            <a:ext cx="2324100" cy="200025"/>
          </a:xfrm>
          <a:prstGeom prst="rect"/>
        </p:spPr>
        <p:txBody>
          <a:bodyPr wrap="none" lIns="0" tIns="0" rIns="0" bIns="0"/>
          <a:p>
            <a:pPr>
              <a:lnSpc>
                <a:spcPct val="145000"/>
              </a:lnSpc>
            </a:pPr>
            <a:r>
              <a:rPr lang="en-US" sz="863">
                <a:solidFill>
                  <a:srgbClr val="FFFFFF">
                    <a:alpha val="85000"/>
                  </a:srgbClr>
                </a:solidFill>
                <a:latin typeface="Microsoft YaHei"/>
                <a:ea typeface="Microsoft YaHei"/>
              </a:rPr>
              <a:t xml:space="preserve">· </a:t>
            </a:r>
            <a:r>
              <a:rPr lang="zh-CN" sz="863">
                <a:solidFill>
                  <a:srgbClr val="FFFFFF">
                    <a:alpha val="85000"/>
                  </a:srgbClr>
                </a:solidFill>
                <a:latin typeface="Microsoft YaHei"/>
                <a:ea typeface="Microsoft YaHei"/>
              </a:rPr>
              <a:t>检查点与用途策略（</a:t>
            </a:r>
            <a:r>
              <a:rPr lang="en-US" sz="863">
                <a:solidFill>
                  <a:srgbClr val="FFFFFF">
                    <a:alpha val="85000"/>
                  </a:srgbClr>
                </a:solidFill>
                <a:latin typeface="Microsoft YaHei"/>
                <a:ea typeface="Microsoft YaHei"/>
              </a:rPr>
              <a:t>PBAC</a:t>
            </a:r>
            <a:r>
              <a:rPr lang="zh-CN" sz="863">
                <a:solidFill>
                  <a:srgbClr val="FFFFFF">
                    <a:alpha val="85000"/>
                  </a:srgbClr>
                </a:solidFill>
                <a:latin typeface="Microsoft YaHei"/>
                <a:ea typeface="Microsoft YaHei"/>
              </a:rPr>
              <a:t>）</a:t>
            </a:r>
            <a:endParaRPr/>
          </a:p>
        </p:txBody>
      </p:sp>
      <p:sp>
        <p:nvSpPr>
          <p:cNvPr id="868" name=""/>
          <p:cNvSpPr/>
          <p:nvPr/>
        </p:nvSpPr>
        <p:spPr>
          <a:xfrm rot="0" flipH="0" flipV="0">
            <a:off x="6172200" y="1685925"/>
            <a:ext cx="2590800" cy="1152525"/>
          </a:xfrm>
          <a:prstGeom prst="roundRect">
            <a:avLst>
              <a:gd name="adj" fmla="val 2479"/>
            </a:avLst>
          </a:prstGeom>
          <a:solidFill>
            <a:srgbClr val="FFFFFF">
              <a:alpha val="7000"/>
            </a:srgbClr>
          </a:solidFill>
          <a:ln/>
        </p:spPr>
        <p:txBody>
          <a:bodyPr/>
          <a:p/>
        </p:txBody>
      </p:sp>
      <p:sp>
        <p:nvSpPr>
          <p:cNvPr id="869" name=""/>
          <p:cNvSpPr/>
          <p:nvPr/>
        </p:nvSpPr>
        <p:spPr>
          <a:xfrm rot="0" flipH="0" flipV="0">
            <a:off x="6172200" y="1685925"/>
            <a:ext cx="2590800" cy="1152525"/>
          </a:xfrm>
          <a:custGeom>
            <a:pathLst>
              <a:path w="272" h="121">
                <a:moveTo>
                  <a:pt x="3" y="121"/>
                </a:moveTo>
                <a:cubicBezTo>
                  <a:pt x="1" y="121"/>
                  <a:pt x="0" y="120"/>
                  <a:pt x="0" y="118"/>
                </a:cubicBezTo>
                <a:lnTo>
                  <a:pt x="0" y="3"/>
                </a:lnTo>
                <a:cubicBezTo>
                  <a:pt x="0" y="1"/>
                  <a:pt x="1" y="0"/>
                  <a:pt x="3" y="0"/>
                </a:cubicBezTo>
                <a:lnTo>
                  <a:pt x="3" y="121"/>
                </a:lnTo>
                <a:close/>
              </a:path>
            </a:pathLst>
          </a:custGeom>
          <a:solidFill>
            <a:srgbClr val="FA4F24"/>
          </a:solidFill>
          <a:ln/>
        </p:spPr>
        <p:txBody>
          <a:bodyPr/>
          <a:p/>
        </p:txBody>
      </p:sp>
      <p:sp>
        <p:nvSpPr>
          <p:cNvPr id="870" name="" descr="{&quot;isTemplate&quot;:true,&quot;type&quot;:&quot;text&quot;}"/>
          <p:cNvSpPr txBox="1"/>
          <p:nvPr/>
        </p:nvSpPr>
        <p:spPr>
          <a:xfrm rot="0" flipH="0" flipV="0">
            <a:off x="6286500" y="1781175"/>
            <a:ext cx="2333625" cy="161925"/>
          </a:xfrm>
          <a:prstGeom prst="rect"/>
        </p:spPr>
        <p:txBody>
          <a:bodyPr wrap="none" lIns="0" tIns="0" rIns="0" bIns="0"/>
          <a:p>
            <a:pPr>
              <a:lnSpc>
                <a:spcPct val="100000"/>
              </a:lnSpc>
            </a:pPr>
            <a:r>
              <a:rPr lang="zh-CN" sz="1013" b="1">
                <a:solidFill>
                  <a:srgbClr val="FBA15C"/>
                </a:solidFill>
                <a:latin typeface="Microsoft YaHei"/>
                <a:ea typeface="Microsoft YaHei"/>
              </a:rPr>
              <a:t>血缘组</a:t>
            </a:r>
            <a:endParaRPr/>
          </a:p>
        </p:txBody>
      </p:sp>
      <p:sp>
        <p:nvSpPr>
          <p:cNvPr id="871" name="" descr="{&quot;isTemplate&quot;:true,&quot;type&quot;:&quot;text&quot;}"/>
          <p:cNvSpPr txBox="1"/>
          <p:nvPr/>
        </p:nvSpPr>
        <p:spPr>
          <a:xfrm rot="0" flipH="0" flipV="0">
            <a:off x="6286500" y="2019300"/>
            <a:ext cx="2333625" cy="200025"/>
          </a:xfrm>
          <a:prstGeom prst="rect"/>
        </p:spPr>
        <p:txBody>
          <a:bodyPr wrap="none" lIns="0" tIns="0" rIns="0" bIns="0"/>
          <a:p>
            <a:pPr>
              <a:lnSpc>
                <a:spcPct val="145000"/>
              </a:lnSpc>
            </a:pPr>
            <a:r>
              <a:rPr lang="en-US" sz="863">
                <a:solidFill>
                  <a:srgbClr val="FFFFFF">
                    <a:alpha val="85000"/>
                  </a:srgbClr>
                </a:solidFill>
                <a:latin typeface="Microsoft YaHei"/>
                <a:ea typeface="Microsoft YaHei"/>
              </a:rPr>
              <a:t xml:space="preserve">· </a:t>
            </a:r>
            <a:r>
              <a:rPr lang="zh-CN" sz="863">
                <a:solidFill>
                  <a:srgbClr val="FFFFFF">
                    <a:alpha val="85000"/>
                  </a:srgbClr>
                </a:solidFill>
                <a:latin typeface="Microsoft YaHei"/>
                <a:ea typeface="Microsoft YaHei"/>
              </a:rPr>
              <a:t>数据集版本与来源代码</a:t>
            </a:r>
            <a:endParaRPr/>
          </a:p>
        </p:txBody>
      </p:sp>
      <p:sp>
        <p:nvSpPr>
          <p:cNvPr id="872" name="" descr="{&quot;isTemplate&quot;:true,&quot;type&quot;:&quot;text&quot;}"/>
          <p:cNvSpPr txBox="1"/>
          <p:nvPr/>
        </p:nvSpPr>
        <p:spPr>
          <a:xfrm rot="0" flipH="0" flipV="0">
            <a:off x="6286500" y="2276475"/>
            <a:ext cx="2333625" cy="200025"/>
          </a:xfrm>
          <a:prstGeom prst="rect"/>
        </p:spPr>
        <p:txBody>
          <a:bodyPr wrap="none" lIns="0" tIns="0" rIns="0" bIns="0"/>
          <a:p>
            <a:pPr>
              <a:lnSpc>
                <a:spcPct val="145000"/>
              </a:lnSpc>
            </a:pPr>
            <a:r>
              <a:rPr lang="en-US" sz="863">
                <a:solidFill>
                  <a:srgbClr val="FFFFFF">
                    <a:alpha val="85000"/>
                  </a:srgbClr>
                </a:solidFill>
                <a:latin typeface="Microsoft YaHei"/>
                <a:ea typeface="Microsoft YaHei"/>
              </a:rPr>
              <a:t xml:space="preserve">· </a:t>
            </a:r>
            <a:r>
              <a:rPr lang="zh-CN" sz="863">
                <a:solidFill>
                  <a:srgbClr val="FFFFFF">
                    <a:alpha val="85000"/>
                  </a:srgbClr>
                </a:solidFill>
                <a:latin typeface="Microsoft YaHei"/>
                <a:ea typeface="Microsoft YaHei"/>
              </a:rPr>
              <a:t>父数据集与构建运行时</a:t>
            </a:r>
            <a:endParaRPr/>
          </a:p>
        </p:txBody>
      </p:sp>
      <p:sp>
        <p:nvSpPr>
          <p:cNvPr id="873" name="" descr="{&quot;isTemplate&quot;:true,&quot;type&quot;:&quot;text&quot;}"/>
          <p:cNvSpPr txBox="1"/>
          <p:nvPr/>
        </p:nvSpPr>
        <p:spPr>
          <a:xfrm rot="0" flipH="0" flipV="0">
            <a:off x="6286500" y="2533650"/>
            <a:ext cx="2333625" cy="200025"/>
          </a:xfrm>
          <a:prstGeom prst="rect"/>
        </p:spPr>
        <p:txBody>
          <a:bodyPr wrap="none" lIns="0" tIns="0" rIns="0" bIns="0"/>
          <a:p>
            <a:pPr>
              <a:lnSpc>
                <a:spcPct val="145000"/>
              </a:lnSpc>
            </a:pPr>
            <a:r>
              <a:rPr lang="en-US" sz="863">
                <a:solidFill>
                  <a:srgbClr val="FFFFFF">
                    <a:alpha val="85000"/>
                  </a:srgbClr>
                </a:solidFill>
                <a:latin typeface="Microsoft YaHei"/>
                <a:ea typeface="Microsoft YaHei"/>
              </a:rPr>
              <a:t xml:space="preserve">· </a:t>
            </a:r>
            <a:r>
              <a:rPr lang="zh-CN" sz="863">
                <a:solidFill>
                  <a:srgbClr val="FFFFFF">
                    <a:alpha val="85000"/>
                  </a:srgbClr>
                </a:solidFill>
                <a:latin typeface="Microsoft YaHei"/>
                <a:ea typeface="Microsoft YaHei"/>
              </a:rPr>
              <a:t>影响面与祖先链</a:t>
            </a:r>
            <a:endParaRPr/>
          </a:p>
        </p:txBody>
      </p:sp>
      <p:sp>
        <p:nvSpPr>
          <p:cNvPr id="874" name=""/>
          <p:cNvSpPr/>
          <p:nvPr/>
        </p:nvSpPr>
        <p:spPr>
          <a:xfrm rot="0" flipH="0" flipV="0">
            <a:off x="8858250" y="1685925"/>
            <a:ext cx="2581275" cy="1152525"/>
          </a:xfrm>
          <a:prstGeom prst="roundRect">
            <a:avLst>
              <a:gd name="adj" fmla="val 2479"/>
            </a:avLst>
          </a:prstGeom>
          <a:solidFill>
            <a:srgbClr val="FFFFFF">
              <a:alpha val="7000"/>
            </a:srgbClr>
          </a:solidFill>
          <a:ln/>
        </p:spPr>
        <p:txBody>
          <a:bodyPr/>
          <a:p/>
        </p:txBody>
      </p:sp>
      <p:sp>
        <p:nvSpPr>
          <p:cNvPr id="875" name=""/>
          <p:cNvSpPr/>
          <p:nvPr/>
        </p:nvSpPr>
        <p:spPr>
          <a:xfrm rot="0" flipH="0" flipV="0">
            <a:off x="8858250" y="1685925"/>
            <a:ext cx="2581275" cy="1152525"/>
          </a:xfrm>
          <a:custGeom>
            <a:pathLst>
              <a:path w="271" h="121">
                <a:moveTo>
                  <a:pt x="3" y="121"/>
                </a:moveTo>
                <a:cubicBezTo>
                  <a:pt x="1" y="121"/>
                  <a:pt x="0" y="120"/>
                  <a:pt x="0" y="118"/>
                </a:cubicBezTo>
                <a:lnTo>
                  <a:pt x="0" y="3"/>
                </a:lnTo>
                <a:cubicBezTo>
                  <a:pt x="0" y="1"/>
                  <a:pt x="1" y="0"/>
                  <a:pt x="3" y="0"/>
                </a:cubicBezTo>
                <a:lnTo>
                  <a:pt x="3" y="121"/>
                </a:lnTo>
                <a:close/>
              </a:path>
            </a:pathLst>
          </a:custGeom>
          <a:solidFill>
            <a:srgbClr val="FA4F24"/>
          </a:solidFill>
          <a:ln/>
        </p:spPr>
        <p:txBody>
          <a:bodyPr/>
          <a:p/>
        </p:txBody>
      </p:sp>
      <p:sp>
        <p:nvSpPr>
          <p:cNvPr id="876" name="" descr="{&quot;isTemplate&quot;:true,&quot;type&quot;:&quot;text&quot;}"/>
          <p:cNvSpPr txBox="1"/>
          <p:nvPr/>
        </p:nvSpPr>
        <p:spPr>
          <a:xfrm rot="0" flipH="0" flipV="0">
            <a:off x="8972550" y="1781175"/>
            <a:ext cx="2324100" cy="161925"/>
          </a:xfrm>
          <a:prstGeom prst="rect"/>
        </p:spPr>
        <p:txBody>
          <a:bodyPr wrap="none" lIns="0" tIns="0" rIns="0" bIns="0"/>
          <a:p>
            <a:pPr>
              <a:lnSpc>
                <a:spcPct val="100000"/>
              </a:lnSpc>
            </a:pPr>
            <a:r>
              <a:rPr lang="zh-CN" sz="1013" b="1">
                <a:solidFill>
                  <a:srgbClr val="FBA15C"/>
                </a:solidFill>
                <a:latin typeface="Microsoft YaHei"/>
                <a:ea typeface="Microsoft YaHei"/>
              </a:rPr>
              <a:t>审计组</a:t>
            </a:r>
            <a:endParaRPr/>
          </a:p>
        </p:txBody>
      </p:sp>
      <p:sp>
        <p:nvSpPr>
          <p:cNvPr id="877" name="" descr="{&quot;isTemplate&quot;:true,&quot;type&quot;:&quot;text&quot;}"/>
          <p:cNvSpPr txBox="1"/>
          <p:nvPr/>
        </p:nvSpPr>
        <p:spPr>
          <a:xfrm rot="0" flipH="0" flipV="0">
            <a:off x="8972550" y="2019300"/>
            <a:ext cx="2324100" cy="200025"/>
          </a:xfrm>
          <a:prstGeom prst="rect"/>
        </p:spPr>
        <p:txBody>
          <a:bodyPr wrap="none" lIns="0" tIns="0" rIns="0" bIns="0"/>
          <a:p>
            <a:pPr>
              <a:lnSpc>
                <a:spcPct val="145000"/>
              </a:lnSpc>
            </a:pPr>
            <a:r>
              <a:rPr lang="en-US" sz="863">
                <a:solidFill>
                  <a:srgbClr val="FFFFFF">
                    <a:alpha val="85000"/>
                  </a:srgbClr>
                </a:solidFill>
                <a:latin typeface="Microsoft YaHei"/>
                <a:ea typeface="Microsoft YaHei"/>
              </a:rPr>
              <a:t xml:space="preserve">· </a:t>
            </a:r>
            <a:r>
              <a:rPr lang="zh-CN" sz="863">
                <a:solidFill>
                  <a:srgbClr val="FFFFFF">
                    <a:alpha val="85000"/>
                  </a:srgbClr>
                </a:solidFill>
                <a:latin typeface="Microsoft YaHei"/>
                <a:ea typeface="Microsoft YaHei"/>
              </a:rPr>
              <a:t>动作日志（谁</a:t>
            </a:r>
            <a:r>
              <a:rPr lang="en-US" sz="863">
                <a:solidFill>
                  <a:srgbClr val="FFFFFF">
                    <a:alpha val="85000"/>
                  </a:srgbClr>
                </a:solidFill>
                <a:latin typeface="Microsoft YaHei"/>
                <a:ea typeface="Microsoft YaHei"/>
              </a:rPr>
              <a:t>/</a:t>
            </a:r>
            <a:r>
              <a:rPr lang="zh-CN" sz="863">
                <a:solidFill>
                  <a:srgbClr val="FFFFFF">
                    <a:alpha val="85000"/>
                  </a:srgbClr>
                </a:solidFill>
                <a:latin typeface="Microsoft YaHei"/>
                <a:ea typeface="Microsoft YaHei"/>
              </a:rPr>
              <a:t>什么</a:t>
            </a:r>
            <a:r>
              <a:rPr lang="en-US" sz="863">
                <a:solidFill>
                  <a:srgbClr val="FFFFFF">
                    <a:alpha val="85000"/>
                  </a:srgbClr>
                </a:solidFill>
                <a:latin typeface="Microsoft YaHei"/>
                <a:ea typeface="Microsoft YaHei"/>
              </a:rPr>
              <a:t>/</a:t>
            </a:r>
            <a:r>
              <a:rPr lang="zh-CN" sz="863">
                <a:solidFill>
                  <a:srgbClr val="FFFFFF">
                    <a:alpha val="85000"/>
                  </a:srgbClr>
                </a:solidFill>
                <a:latin typeface="Microsoft YaHei"/>
                <a:ea typeface="Microsoft YaHei"/>
              </a:rPr>
              <a:t>为什么）</a:t>
            </a:r>
            <a:endParaRPr/>
          </a:p>
        </p:txBody>
      </p:sp>
      <p:sp>
        <p:nvSpPr>
          <p:cNvPr id="878" name="" descr="{&quot;isTemplate&quot;:true,&quot;type&quot;:&quot;text&quot;}"/>
          <p:cNvSpPr txBox="1"/>
          <p:nvPr/>
        </p:nvSpPr>
        <p:spPr>
          <a:xfrm rot="0" flipH="0" flipV="0">
            <a:off x="8972550" y="2276475"/>
            <a:ext cx="2324100" cy="200025"/>
          </a:xfrm>
          <a:prstGeom prst="rect"/>
        </p:spPr>
        <p:txBody>
          <a:bodyPr wrap="none" lIns="0" tIns="0" rIns="0" bIns="0"/>
          <a:p>
            <a:pPr>
              <a:lnSpc>
                <a:spcPct val="145000"/>
              </a:lnSpc>
            </a:pPr>
            <a:r>
              <a:rPr lang="en-US" sz="863">
                <a:solidFill>
                  <a:srgbClr val="FFFFFF">
                    <a:alpha val="85000"/>
                  </a:srgbClr>
                </a:solidFill>
                <a:latin typeface="Microsoft YaHei"/>
                <a:ea typeface="Microsoft YaHei"/>
              </a:rPr>
              <a:t xml:space="preserve">· </a:t>
            </a:r>
            <a:r>
              <a:rPr lang="zh-CN" sz="863">
                <a:solidFill>
                  <a:srgbClr val="FFFFFF">
                    <a:alpha val="85000"/>
                  </a:srgbClr>
                </a:solidFill>
                <a:latin typeface="Microsoft YaHei"/>
                <a:ea typeface="Microsoft YaHei"/>
              </a:rPr>
              <a:t>提案与审批状态</a:t>
            </a:r>
            <a:endParaRPr/>
          </a:p>
        </p:txBody>
      </p:sp>
      <p:sp>
        <p:nvSpPr>
          <p:cNvPr id="879" name="" descr="{&quot;isTemplate&quot;:true,&quot;type&quot;:&quot;text&quot;}"/>
          <p:cNvSpPr txBox="1"/>
          <p:nvPr/>
        </p:nvSpPr>
        <p:spPr>
          <a:xfrm rot="0" flipH="0" flipV="0">
            <a:off x="8972550" y="2533650"/>
            <a:ext cx="2324100" cy="200025"/>
          </a:xfrm>
          <a:prstGeom prst="rect"/>
        </p:spPr>
        <p:txBody>
          <a:bodyPr wrap="none" lIns="0" tIns="0" rIns="0" bIns="0"/>
          <a:p>
            <a:pPr>
              <a:lnSpc>
                <a:spcPct val="145000"/>
              </a:lnSpc>
            </a:pPr>
            <a:r>
              <a:rPr lang="en-US" sz="863">
                <a:solidFill>
                  <a:srgbClr val="FFFFFF">
                    <a:alpha val="85000"/>
                  </a:srgbClr>
                </a:solidFill>
                <a:latin typeface="Microsoft YaHei"/>
                <a:ea typeface="Microsoft YaHei"/>
              </a:rPr>
              <a:t xml:space="preserve">· </a:t>
            </a:r>
            <a:r>
              <a:rPr lang="zh-CN" sz="863">
                <a:solidFill>
                  <a:srgbClr val="FFFFFF">
                    <a:alpha val="85000"/>
                  </a:srgbClr>
                </a:solidFill>
                <a:latin typeface="Microsoft YaHei"/>
                <a:ea typeface="Microsoft YaHei"/>
              </a:rPr>
              <a:t>降级与撤回事件</a:t>
            </a:r>
            <a:endParaRPr/>
          </a:p>
        </p:txBody>
      </p:sp>
      <p:sp>
        <p:nvSpPr>
          <p:cNvPr id="880" name="" descr="{&quot;isTemplate&quot;:true,&quot;type&quot;:&quot;text&quot;}"/>
          <p:cNvSpPr txBox="1"/>
          <p:nvPr/>
        </p:nvSpPr>
        <p:spPr>
          <a:xfrm rot="0" flipH="0" flipV="0">
            <a:off x="781050" y="2933700"/>
            <a:ext cx="10629900" cy="200025"/>
          </a:xfrm>
          <a:prstGeom prst="rect"/>
        </p:spPr>
        <p:txBody>
          <a:bodyPr wrap="none" lIns="0" tIns="0" rIns="0" bIns="0"/>
          <a:p>
            <a:pPr>
              <a:lnSpc>
                <a:spcPct val="150000"/>
              </a:lnSpc>
            </a:pPr>
            <a:r>
              <a:rPr lang="zh-CN" sz="863">
                <a:solidFill>
                  <a:srgbClr val="FFFFFF">
                    <a:alpha val="72000"/>
                  </a:srgbClr>
                </a:solidFill>
                <a:latin typeface="Microsoft YaHei"/>
                <a:ea typeface="Microsoft YaHei"/>
              </a:rPr>
              <a:t>建模顺序有依赖：先有标记类别，才谈得上属性安全策略；先有血缘，才谈得上传播与影响面。倒过来做，一定返工。</a:t>
            </a:r>
            <a:endParaRPr/>
          </a:p>
        </p:txBody>
      </p:sp>
      <p:sp>
        <p:nvSpPr>
          <p:cNvPr id="881" name=""/>
          <p:cNvSpPr/>
          <p:nvPr/>
        </p:nvSpPr>
        <p:spPr>
          <a:xfrm rot="0" flipH="0" flipV="0">
            <a:off x="647700" y="3362325"/>
            <a:ext cx="3590925" cy="2276475"/>
          </a:xfrm>
          <a:prstGeom prst="roundRect">
            <a:avLst>
              <a:gd name="adj" fmla="val 1674"/>
            </a:avLst>
          </a:prstGeom>
          <a:solidFill>
            <a:srgbClr val="FFF3EE"/>
          </a:solidFill>
          <a:ln/>
        </p:spPr>
        <p:txBody>
          <a:bodyPr/>
          <a:p/>
        </p:txBody>
      </p:sp>
      <p:sp>
        <p:nvSpPr>
          <p:cNvPr id="882" name=""/>
          <p:cNvSpPr/>
          <p:nvPr/>
        </p:nvSpPr>
        <p:spPr>
          <a:xfrm rot="0" flipH="0" flipV="0">
            <a:off x="647700" y="3362325"/>
            <a:ext cx="3590925" cy="2276475"/>
          </a:xfrm>
          <a:custGeom>
            <a:pathLst>
              <a:path w="377" h="239">
                <a:moveTo>
                  <a:pt x="4" y="239"/>
                </a:moveTo>
                <a:cubicBezTo>
                  <a:pt x="2" y="239"/>
                  <a:pt x="0" y="237"/>
                  <a:pt x="0" y="235"/>
                </a:cubicBezTo>
                <a:lnTo>
                  <a:pt x="0" y="4"/>
                </a:lnTo>
                <a:cubicBezTo>
                  <a:pt x="0" y="2"/>
                  <a:pt x="2" y="0"/>
                  <a:pt x="4" y="0"/>
                </a:cubicBezTo>
                <a:lnTo>
                  <a:pt x="4" y="239"/>
                </a:lnTo>
                <a:close/>
              </a:path>
            </a:pathLst>
          </a:custGeom>
          <a:solidFill>
            <a:srgbClr val="FA4F24"/>
          </a:solidFill>
          <a:ln/>
        </p:spPr>
        <p:txBody>
          <a:bodyPr/>
          <a:p/>
        </p:txBody>
      </p:sp>
      <p:sp>
        <p:nvSpPr>
          <p:cNvPr id="883" name="" descr="{&quot;isTemplate&quot;:true,&quot;type&quot;:&quot;text&quot;}"/>
          <p:cNvSpPr txBox="1"/>
          <p:nvPr/>
        </p:nvSpPr>
        <p:spPr>
          <a:xfrm rot="0" flipH="0" flipV="0">
            <a:off x="800100" y="3476625"/>
            <a:ext cx="3248025" cy="161925"/>
          </a:xfrm>
          <a:prstGeom prst="rect"/>
        </p:spPr>
        <p:txBody>
          <a:bodyPr wrap="none" lIns="0" tIns="0" rIns="0" bIns="0"/>
          <a:p>
            <a:pPr>
              <a:lnSpc>
                <a:spcPct val="100000"/>
              </a:lnSpc>
            </a:pPr>
            <a:r>
              <a:rPr lang="zh-CN" sz="1013" b="1">
                <a:solidFill>
                  <a:srgbClr val="C43A17"/>
                </a:solidFill>
                <a:latin typeface="Microsoft YaHei"/>
                <a:ea typeface="Microsoft YaHei"/>
              </a:rPr>
              <a:t>三条建模硬约束</a:t>
            </a:r>
            <a:endParaRPr/>
          </a:p>
        </p:txBody>
      </p:sp>
      <p:sp>
        <p:nvSpPr>
          <p:cNvPr id="884" name="" descr="{&quot;isTemplate&quot;:true,&quot;type&quot;:&quot;text&quot;}"/>
          <p:cNvSpPr txBox="1"/>
          <p:nvPr/>
        </p:nvSpPr>
        <p:spPr>
          <a:xfrm rot="0" flipH="0" flipV="0">
            <a:off x="800100" y="3714750"/>
            <a:ext cx="3248025" cy="400050"/>
          </a:xfrm>
          <a:prstGeom prst="rect"/>
        </p:spPr>
        <p:txBody>
          <a:bodyPr wrap="square" lIns="0" tIns="0" rIns="0" bIns="0">
            <a:normAutofit/>
          </a:bodyPr>
          <a:p>
            <a:pPr>
              <a:lnSpc>
                <a:spcPct val="150000"/>
              </a:lnSpc>
            </a:pPr>
            <a:r>
              <a:rPr lang="zh-CN" sz="863">
                <a:solidFill>
                  <a:srgbClr val="3A4050"/>
                </a:solidFill>
                <a:latin typeface="Microsoft YaHei"/>
                <a:ea typeface="Microsoft YaHei"/>
              </a:rPr>
              <a:t>主键属性不得进入属性安全策略——保证行仍可定位；非主键属性最多归属一个属性安全策略，避免叠加冲突。</a:t>
            </a:r>
            <a:endParaRPr/>
          </a:p>
        </p:txBody>
      </p:sp>
      <p:sp>
        <p:nvSpPr>
          <p:cNvPr id="885" name="" descr="{&quot;isTemplate&quot;:true,&quot;type&quot;:&quot;text&quot;}"/>
          <p:cNvSpPr txBox="1"/>
          <p:nvPr/>
        </p:nvSpPr>
        <p:spPr>
          <a:xfrm rot="0" flipH="0" flipV="0">
            <a:off x="800100" y="4171950"/>
            <a:ext cx="3248025" cy="400050"/>
          </a:xfrm>
          <a:prstGeom prst="rect"/>
        </p:spPr>
        <p:txBody>
          <a:bodyPr wrap="square" lIns="0" tIns="0" rIns="0" bIns="0">
            <a:normAutofit/>
          </a:bodyPr>
          <a:p>
            <a:pPr>
              <a:lnSpc>
                <a:spcPct val="150000"/>
              </a:lnSpc>
            </a:pPr>
            <a:r>
              <a:rPr lang="zh-CN" sz="863">
                <a:solidFill>
                  <a:srgbClr val="3A4050"/>
                </a:solidFill>
                <a:latin typeface="Microsoft YaHei"/>
                <a:ea typeface="Microsoft YaHei"/>
              </a:rPr>
              <a:t>标记类别不能删除、不能改类别——历史审计记录必须永久可解释。</a:t>
            </a:r>
            <a:endParaRPr/>
          </a:p>
        </p:txBody>
      </p:sp>
      <p:sp>
        <p:nvSpPr>
          <p:cNvPr id="886" name="" descr="{&quot;isTemplate&quot;:true,&quot;type&quot;:&quot;text&quot;}"/>
          <p:cNvSpPr txBox="1"/>
          <p:nvPr/>
        </p:nvSpPr>
        <p:spPr>
          <a:xfrm rot="0" flipH="0" flipV="0">
            <a:off x="800100" y="4629150"/>
            <a:ext cx="3248025" cy="400050"/>
          </a:xfrm>
          <a:prstGeom prst="rect"/>
        </p:spPr>
        <p:txBody>
          <a:bodyPr wrap="square" lIns="0" tIns="0" rIns="0" bIns="0">
            <a:normAutofit/>
          </a:bodyPr>
          <a:p>
            <a:pPr>
              <a:lnSpc>
                <a:spcPct val="150000"/>
              </a:lnSpc>
            </a:pPr>
            <a:r>
              <a:rPr lang="zh-CN" sz="863">
                <a:solidFill>
                  <a:srgbClr val="3A4050"/>
                </a:solidFill>
                <a:latin typeface="Microsoft YaHei"/>
                <a:ea typeface="Microsoft YaHei"/>
              </a:rPr>
              <a:t>新对象默认继承数据源全部强制控制——不许出现「因为忘配所以裸奔」。</a:t>
            </a:r>
            <a:endParaRPr/>
          </a:p>
        </p:txBody>
      </p:sp>
      <p:sp>
        <p:nvSpPr>
          <p:cNvPr id="887" name=""/>
          <p:cNvSpPr/>
          <p:nvPr/>
        </p:nvSpPr>
        <p:spPr>
          <a:xfrm rot="0" flipH="0" flipV="0">
            <a:off x="4295775" y="3362325"/>
            <a:ext cx="3600450" cy="2276475"/>
          </a:xfrm>
          <a:prstGeom prst="roundRect">
            <a:avLst>
              <a:gd name="adj" fmla="val 1674"/>
            </a:avLst>
          </a:prstGeom>
          <a:solidFill>
            <a:srgbClr val="F7F7F8"/>
          </a:solidFill>
          <a:ln/>
        </p:spPr>
        <p:txBody>
          <a:bodyPr/>
          <a:p/>
        </p:txBody>
      </p:sp>
      <p:sp>
        <p:nvSpPr>
          <p:cNvPr id="888" name="" descr="{&quot;isTemplate&quot;:true,&quot;type&quot;:&quot;text&quot;}"/>
          <p:cNvSpPr txBox="1"/>
          <p:nvPr/>
        </p:nvSpPr>
        <p:spPr>
          <a:xfrm rot="0" flipH="0" flipV="0">
            <a:off x="4448175" y="3476625"/>
            <a:ext cx="3295650" cy="161925"/>
          </a:xfrm>
          <a:prstGeom prst="rect"/>
        </p:spPr>
        <p:txBody>
          <a:bodyPr wrap="none" lIns="0" tIns="0" rIns="0" bIns="0"/>
          <a:p>
            <a:pPr>
              <a:lnSpc>
                <a:spcPct val="100000"/>
              </a:lnSpc>
            </a:pPr>
            <a:r>
              <a:rPr lang="zh-CN" sz="1013" b="1">
                <a:solidFill>
                  <a:srgbClr val="0F1423"/>
                </a:solidFill>
                <a:latin typeface="Microsoft YaHei"/>
                <a:ea typeface="Microsoft YaHei"/>
              </a:rPr>
              <a:t>元数据采集的四项硬要求</a:t>
            </a:r>
            <a:endParaRPr/>
          </a:p>
        </p:txBody>
      </p:sp>
      <p:sp>
        <p:nvSpPr>
          <p:cNvPr id="889" name="" descr="{&quot;isTemplate&quot;:true,&quot;type&quot;:&quot;text&quot;}"/>
          <p:cNvSpPr txBox="1"/>
          <p:nvPr/>
        </p:nvSpPr>
        <p:spPr>
          <a:xfrm rot="0" flipH="0" flipV="0">
            <a:off x="4448175" y="3714750"/>
            <a:ext cx="3295650" cy="200025"/>
          </a:xfrm>
          <a:prstGeom prst="rect"/>
        </p:spPr>
        <p:txBody>
          <a:bodyPr wrap="none" lIns="0" tIns="0" rIns="0" bIns="0"/>
          <a:p>
            <a:pPr>
              <a:lnSpc>
                <a:spcPct val="150000"/>
              </a:lnSpc>
            </a:pPr>
            <a:r>
              <a:rPr lang="zh-CN" sz="863">
                <a:solidFill>
                  <a:srgbClr val="3A4050"/>
                </a:solidFill>
                <a:latin typeface="Microsoft YaHei"/>
                <a:ea typeface="Microsoft YaHei"/>
              </a:rPr>
              <a:t>全面捕获：血缘、版本、策略、访问，一处不落。</a:t>
            </a:r>
            <a:endParaRPr/>
          </a:p>
        </p:txBody>
      </p:sp>
      <p:sp>
        <p:nvSpPr>
          <p:cNvPr id="890" name="" descr="{&quot;isTemplate&quot;:true,&quot;type&quot;:&quot;text&quot;}"/>
          <p:cNvSpPr txBox="1"/>
          <p:nvPr/>
        </p:nvSpPr>
        <p:spPr>
          <a:xfrm rot="0" flipH="0" flipV="0">
            <a:off x="4448175" y="3971925"/>
            <a:ext cx="3295650" cy="200025"/>
          </a:xfrm>
          <a:prstGeom prst="rect"/>
        </p:spPr>
        <p:txBody>
          <a:bodyPr wrap="none" lIns="0" tIns="0" rIns="0" bIns="0"/>
          <a:p>
            <a:pPr>
              <a:lnSpc>
                <a:spcPct val="150000"/>
              </a:lnSpc>
            </a:pPr>
            <a:r>
              <a:rPr lang="zh-CN" sz="863">
                <a:solidFill>
                  <a:srgbClr val="3A4050"/>
                </a:solidFill>
                <a:latin typeface="Microsoft YaHei"/>
                <a:ea typeface="Microsoft YaHei"/>
              </a:rPr>
              <a:t>实时更新：动作提交即落库，不做</a:t>
            </a:r>
            <a:r>
              <a:rPr lang="en-US" sz="863">
                <a:solidFill>
                  <a:srgbClr val="3A4050"/>
                </a:solidFill>
                <a:latin typeface="Microsoft YaHei"/>
                <a:ea typeface="Microsoft YaHei"/>
              </a:rPr>
              <a:t xml:space="preserve"> T+1 </a:t>
            </a:r>
            <a:r>
              <a:rPr lang="zh-CN" sz="863">
                <a:solidFill>
                  <a:srgbClr val="3A4050"/>
                </a:solidFill>
                <a:latin typeface="Microsoft YaHei"/>
                <a:ea typeface="Microsoft YaHei"/>
              </a:rPr>
              <a:t>汇总。</a:t>
            </a:r>
            <a:endParaRPr/>
          </a:p>
        </p:txBody>
      </p:sp>
      <p:sp>
        <p:nvSpPr>
          <p:cNvPr id="891" name="" descr="{&quot;isTemplate&quot;:true,&quot;type&quot;:&quot;text&quot;}"/>
          <p:cNvSpPr txBox="1"/>
          <p:nvPr/>
        </p:nvSpPr>
        <p:spPr>
          <a:xfrm rot="0" flipH="0" flipV="0">
            <a:off x="4448175" y="4229100"/>
            <a:ext cx="3295650" cy="200025"/>
          </a:xfrm>
          <a:prstGeom prst="rect"/>
        </p:spPr>
        <p:txBody>
          <a:bodyPr wrap="none" lIns="0" tIns="0" rIns="0" bIns="0"/>
          <a:p>
            <a:pPr>
              <a:lnSpc>
                <a:spcPct val="150000"/>
              </a:lnSpc>
            </a:pPr>
            <a:r>
              <a:rPr lang="zh-CN" sz="863">
                <a:solidFill>
                  <a:srgbClr val="3A4050"/>
                </a:solidFill>
                <a:latin typeface="Microsoft YaHei"/>
                <a:ea typeface="Microsoft YaHei"/>
              </a:rPr>
              <a:t>可审阅：合规官能自己查到，不需要工程师代查。</a:t>
            </a:r>
            <a:endParaRPr/>
          </a:p>
        </p:txBody>
      </p:sp>
      <p:sp>
        <p:nvSpPr>
          <p:cNvPr id="892" name="" descr="{&quot;isTemplate&quot;:true,&quot;type&quot;:&quot;text&quot;}"/>
          <p:cNvSpPr txBox="1"/>
          <p:nvPr/>
        </p:nvSpPr>
        <p:spPr>
          <a:xfrm rot="0" flipH="0" flipV="0">
            <a:off x="4448175" y="4486275"/>
            <a:ext cx="3295650" cy="200025"/>
          </a:xfrm>
          <a:prstGeom prst="rect"/>
        </p:spPr>
        <p:txBody>
          <a:bodyPr wrap="none" lIns="0" tIns="0" rIns="0" bIns="0"/>
          <a:p>
            <a:pPr>
              <a:lnSpc>
                <a:spcPct val="150000"/>
              </a:lnSpc>
            </a:pPr>
            <a:r>
              <a:rPr lang="zh-CN" sz="863">
                <a:solidFill>
                  <a:srgbClr val="3A4050"/>
                </a:solidFill>
                <a:latin typeface="Microsoft YaHei"/>
                <a:ea typeface="Microsoft YaHei"/>
              </a:rPr>
              <a:t>可做动态趋势分析：支持密级随时间的漂移分析。</a:t>
            </a:r>
            <a:endParaRPr/>
          </a:p>
        </p:txBody>
      </p:sp>
      <p:sp>
        <p:nvSpPr>
          <p:cNvPr id="893" name=""/>
          <p:cNvSpPr/>
          <p:nvPr/>
        </p:nvSpPr>
        <p:spPr>
          <a:xfrm rot="0" flipH="0" flipV="0">
            <a:off x="7991475" y="3362325"/>
            <a:ext cx="3590925" cy="2276475"/>
          </a:xfrm>
          <a:prstGeom prst="roundRect">
            <a:avLst>
              <a:gd name="adj" fmla="val 1674"/>
            </a:avLst>
          </a:prstGeom>
          <a:solidFill>
            <a:srgbClr val="FFFFFF"/>
          </a:solidFill>
          <a:ln w="12700">
            <a:solidFill>
              <a:srgbClr val="E8E8E8"/>
            </a:solidFill>
            <a:prstDash val="solid"/>
          </a:ln>
        </p:spPr>
        <p:txBody>
          <a:bodyPr/>
          <a:p/>
        </p:txBody>
      </p:sp>
      <p:sp>
        <p:nvSpPr>
          <p:cNvPr id="894" name="" descr="{&quot;isTemplate&quot;:true,&quot;type&quot;:&quot;text&quot;}"/>
          <p:cNvSpPr txBox="1"/>
          <p:nvPr/>
        </p:nvSpPr>
        <p:spPr>
          <a:xfrm rot="0" flipH="0" flipV="0">
            <a:off x="8143875" y="3962400"/>
            <a:ext cx="3286125" cy="161925"/>
          </a:xfrm>
          <a:prstGeom prst="rect"/>
        </p:spPr>
        <p:txBody>
          <a:bodyPr wrap="none" lIns="0" tIns="0" rIns="0" bIns="0"/>
          <a:p>
            <a:pPr>
              <a:lnSpc>
                <a:spcPct val="100000"/>
              </a:lnSpc>
            </a:pPr>
            <a:r>
              <a:rPr lang="zh-CN" sz="1013" b="1">
                <a:solidFill>
                  <a:srgbClr val="0F1423"/>
                </a:solidFill>
                <a:latin typeface="Microsoft YaHei"/>
                <a:ea typeface="Microsoft YaHei"/>
              </a:rPr>
              <a:t>最容易漏掉的三项</a:t>
            </a:r>
            <a:endParaRPr/>
          </a:p>
        </p:txBody>
      </p:sp>
      <p:sp>
        <p:nvSpPr>
          <p:cNvPr id="895" name="" descr="{&quot;isTemplate&quot;:true,&quot;type&quot;:&quot;text&quot;}"/>
          <p:cNvSpPr txBox="1"/>
          <p:nvPr/>
        </p:nvSpPr>
        <p:spPr>
          <a:xfrm rot="0" flipH="0" flipV="0">
            <a:off x="8143875" y="4200525"/>
            <a:ext cx="3286125" cy="847725"/>
          </a:xfrm>
          <a:prstGeom prst="rect"/>
        </p:spPr>
        <p:txBody>
          <a:bodyPr wrap="square" lIns="0" tIns="0" rIns="0" bIns="0">
            <a:normAutofit/>
          </a:bodyPr>
          <a:p>
            <a:pPr>
              <a:lnSpc>
                <a:spcPct val="160000"/>
              </a:lnSpc>
            </a:pPr>
            <a:r>
              <a:rPr lang="zh-CN" sz="863">
                <a:solidFill>
                  <a:srgbClr val="3A4050"/>
                </a:solidFill>
                <a:latin typeface="Microsoft YaHei"/>
                <a:ea typeface="Microsoft YaHei"/>
              </a:rPr>
              <a:t>一、</a:t>
            </a:r>
            <a:r>
              <a:rPr lang="zh-CN" sz="863">
                <a:solidFill>
                  <a:srgbClr val="3A4050"/>
                </a:solidFill>
                <a:latin typeface="Microsoft YaHei"/>
                <a:ea typeface="Microsoft YaHei"/>
              </a:rPr>
              <a:t>理由对象</a:t>
            </a:r>
            <a:r>
              <a:rPr lang="zh-CN" sz="863">
                <a:solidFill>
                  <a:srgbClr val="3A4050"/>
                </a:solidFill>
                <a:latin typeface="Microsoft YaHei"/>
                <a:ea typeface="Microsoft YaHei"/>
              </a:rPr>
              <a:t>：</a:t>
            </a:r>
            <a:r>
              <a:rPr lang="en-US" sz="863">
                <a:solidFill>
                  <a:srgbClr val="3A4050"/>
                </a:solidFill>
                <a:latin typeface="Microsoft YaHei"/>
                <a:ea typeface="Microsoft YaHei"/>
              </a:rPr>
              <a:t xml:space="preserve">PBAC </a:t>
            </a:r>
            <a:r>
              <a:rPr lang="zh-CN" sz="863">
                <a:solidFill>
                  <a:srgbClr val="3A4050"/>
                </a:solidFill>
                <a:latin typeface="Microsoft YaHei"/>
                <a:ea typeface="Microsoft YaHei"/>
              </a:rPr>
              <a:t>主动模式下申请人写的理由，不建模就等于没有审计证据；二、</a:t>
            </a:r>
            <a:r>
              <a:rPr lang="zh-CN" sz="863">
                <a:solidFill>
                  <a:srgbClr val="3A4050"/>
                </a:solidFill>
                <a:latin typeface="Microsoft YaHei"/>
                <a:ea typeface="Microsoft YaHei"/>
              </a:rPr>
              <a:t>降级事件</a:t>
            </a:r>
            <a:r>
              <a:rPr lang="zh-CN" sz="863">
                <a:solidFill>
                  <a:srgbClr val="3A4050"/>
                </a:solidFill>
                <a:latin typeface="Microsoft YaHei"/>
                <a:ea typeface="Microsoft YaHei"/>
              </a:rPr>
              <a:t>：标记只影响标记存在期间提交的事务，历史事务要额外手工补标；三、</a:t>
            </a:r>
            <a:r>
              <a:rPr lang="en-US" sz="863">
                <a:solidFill>
                  <a:srgbClr val="3A4050"/>
                </a:solidFill>
                <a:latin typeface="Microsoft YaHei"/>
                <a:ea typeface="Microsoft YaHei"/>
              </a:rPr>
              <a:t xml:space="preserve">Agent </a:t>
            </a:r>
            <a:r>
              <a:rPr lang="zh-CN" sz="863">
                <a:solidFill>
                  <a:srgbClr val="3A4050"/>
                </a:solidFill>
                <a:latin typeface="Microsoft YaHei"/>
                <a:ea typeface="Microsoft YaHei"/>
              </a:rPr>
              <a:t>遥测日志</a:t>
            </a:r>
            <a:r>
              <a:rPr lang="zh-CN" sz="863">
                <a:solidFill>
                  <a:srgbClr val="3A4050"/>
                </a:solidFill>
                <a:latin typeface="Microsoft YaHei"/>
                <a:ea typeface="Microsoft YaHei"/>
              </a:rPr>
              <a:t>：它本身受标记管辖，漏了就等于把审计对象漏在体系外。</a:t>
            </a:r>
            <a:endParaRPr/>
          </a:p>
        </p:txBody>
      </p:sp>
      <p:sp>
        <p:nvSpPr>
          <p:cNvPr id="896"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897" name=""/>
          <p:cNvSpPr/>
          <p:nvPr/>
        </p:nvSpPr>
        <p:spPr>
          <a:xfrm rot="0" flipH="0" flipV="0">
            <a:off x="609600" y="5953125"/>
            <a:ext cx="95250" cy="95250"/>
          </a:xfrm>
          <a:prstGeom prst="rect">
            <a:avLst/>
          </a:prstGeom>
          <a:solidFill>
            <a:srgbClr val="FA4F24"/>
          </a:solidFill>
          <a:ln/>
        </p:spPr>
        <p:txBody>
          <a:bodyPr/>
          <a:p/>
        </p:txBody>
      </p:sp>
      <p:sp>
        <p:nvSpPr>
          <p:cNvPr id="898"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899"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26 / 30</a:t>
            </a:r>
            <a:endParaRPr/>
          </a:p>
        </p:txBody>
      </p:sp>
    </p:spTree>
  </p:cSld>
</p:sld>
</file>

<file path=ppt/slides/slide27.xml><?xml version="1.0" encoding="utf-8"?>
<p:sld xmlns:p="http://schemas.openxmlformats.org/presentationml/2006/main" xmlns:a="http://schemas.openxmlformats.org/drawingml/2006/main">
  <p:cSld>
    <p:spTree>
      <p:nvGrpSpPr>
        <p:cNvPr id="900" name="" descr="&lt;Slide style={{ width: 1280, height: 720, background: '#FFFFFF', padding: '24px 64px 0' }}&gt;&#10;  &lt;Box style={{ height: 96, flexDirection: 'column', justifyContent: 'flex-start' }}&gt;&#10;    &lt;Text style={{ fontSize: 32, fontWeight: 'bold', color: '#0F1423' }}&gt;&#10;      AA 层：策略即应用——审批必须是编排里的一个&lt;span style={{ color: '#FA4F24' }}&gt;节点&lt;/span&gt;&#10;    &lt;/Text&gt;&#10;    &lt;Text style={{ fontSize: 20, color: '#8A8F99', marginTop: 8 }}&gt;&#10;      治理不是一个「后台配置页」，它是一组要部署、要监控、要有人维护的业务应用&#10;    &lt;/Text&gt;&#10;  &lt;/Box&gt;&#10;  &lt;Box style={{ height: 1, background: '#E8E8E8' }} /&gt;&#10;&#10;  &lt;Box style={{ paddingTop: 14, paddingBottom: 8, height: 479, flexDirection: 'column', gap: 10 }}&gt;&#10;    &lt;Box style={{ height: 210, background: '#0F1423', borderRadius: 4, padding: '14px 18px', flexDirection: 'column' }}&gt;&#10;      &lt;Text style={{ fontSize: 14, fontWeight: 'bold', color: '#FBA15C' }}&gt;治理应用清单：六个必须独立交付的应用&lt;/Text&gt;&#10;      &lt;Box style={{ flex: 1, flexDirection: 'row', gap: 9, marginTop: 11 }}&gt;&#10;        {[&#10;          { n: 'G1', t: '数据目录', d: '集合公开、文件授权；紫色对勾标识已编目；全量搜索遍历全部元数据。治理成果的可见面。' },&#10;          { n: 'G2', t: '健康监控', d: '监控视图看范围、健康检查看单资源；告警走平台内通知、邮件摘要、外部系统三条路。' },&#10;          { n: 'G3', t: 'Linter', d: '识别反模式、给优化建议、分配责任人、定期复核。是唯一能自动发现「治理退化」的应用。' },&#10;          { n: 'G4', t: '提案审批', d: '提案、复核、驳回、补件全流程留痕；PBAC 主动模式挂起任务等批准。' },&#10;          { n: 'G5', t: '策略控制台', d: '行级/列级策略的可视化编排，带比较器验证效果；导出策略即代码。' },&#10;          { n: 'G6', t: 'Agent 出口', d: '工具白名单、记忆密级、遥测日志管辖。默认拒绝，逐个放开。' },&#10;        ].map((x) =&gt; (&#10;          &lt;Box key={x.n} style={{ flex: 1, background: 'rgba(255,255,255,0.07)', borderRadius: 3, borderTop: '3px solid #FBA15C', padding: '10px 11px', flexDirection: 'column' }}&gt;&#10;            &lt;Text style={{ fontSize: 13, fontWeight: 'bold', color: '#FBA15C' }}&gt;{x.n} · {x.t}&lt;/Text&gt;&#10;            &lt;Text style={{ fontSize: 11, color: 'rgba(255,255,255,0.78)', marginTop: 6, lineHeight: 1.5 }}&gt;{x.d}&lt;/Text&gt;&#10;          &lt;/Box&gt;&#10;        ))}&#10;      &lt;/Box&gt;&#10;      &lt;Text style={{ fontSize: 11.5, color: 'rgba(255,255,255,0.72)', marginTop: 10, lineHeight: 1.5 }}&gt;&#10;        交付顺序建议：G4 → G1 → G2 → G3 → G5 → G6。先把审批流跑起来（有流程才有人用），再让它可见（目录），再让它会报警（健康），最后才是精细化。&#10;      &lt;/Text&gt;&#10;    &lt;/Box&gt;&#10;&#10;    &lt;Box style={{ flex: 1, flexDirection: 'row', gap: 10 }}&gt;&#10;      &lt;Box style={{ flex: 1.2, background: '#FFF3EE', borderRadius: 4, borderLeft: '4px solid #FA4F24', padding: '12px 17px', flexDirection: 'column', justifyContent: 'center' }}&gt;&#10;        &lt;Text style={{ fontSize: 14, fontWeight: 'bold', color: '#C43A17' }}&gt;治理在编排上与别的应用最大的不同&lt;/Text&gt;&#10;        &lt;Text style={{ fontSize: 12, color: '#3A4050', marginTop: 7, lineHeight: 1.6 }}&gt;&#10;          普通应用编排是「把事做完」，治理编排是「按规矩做事，而且要留证」。因此每个动作后面都要挂一个审计记录动作；涉及敏感数据的动作前面还要挂一个策略判定动作；涉及降级的动作中间必须挂一个人工审批动作。&#10;        &lt;/Text&gt;&#10;        &lt;Text style={{ fontSize: 12, color: '#3A4050', marginTop: 7, lineHeight: 1.6 }}&gt;&#10;          落到实现上就是一条约束：&lt;tspan style={{ fontWeight: 'bold', color: '#C43A17' }}&gt;任何绕过策略引擎直接读写数据的路径，都属于架构缺陷，不属于「灵活配置」&lt;/tspan&gt;。&#10;        &lt;/Text&gt;&#10;      &lt;/Box&gt;&#10;      &lt;Box style={{ flex: 1, background: '#F7F7F8', borderRadius: 4, padding: '12px 17px', flexDirection: 'column', justifyContent: 'center' }}&gt;&#10;        &lt;Text style={{ fontSize: 14, fontWeight: 'bold', color: '#0F1423' }}&gt;两条用法模式要分清&lt;/Text&gt;&#10;        &lt;Box style={{ flexDirection: 'column', gap: 7, marginTop: 8 }}&gt;&#10;          &lt;Box style={{ background: '#FFFFFF', borderRadius: 3, borderLeft: '3px solid #FA4F24', padding: '8px 10px' }}&gt;&#10;            &lt;Text style={{ fontSize: 12, fontWeight: 'bold', color: '#0F1423' }}&gt;被动模式：记录理由后放行&lt;/Text&gt;&#10;            &lt;Text style={{ fontSize: 11, color: '#3A4050', marginTop: 3, lineHeight: 1.45 }}&gt;适合常规使用，事后可审计，不阻塞业务。&lt;/Text&gt;&#10;          &lt;/Box&gt;&#10;          &lt;Box style={{ background: '#FFFFFF', borderRadius: 3, borderLeft: '3px solid #C43A17', padding: '8px 10px' }}&gt;&#10;            &lt;Text style={{ fontSize: 12, fontWeight: 'bold', color: '#0F1423' }}&gt;主动模式：挂起并由合规官批准&lt;/Text&gt;&#10;            &lt;Text style={{ fontSize: 11, color: '#3A4050', marginTop: 3, lineHeight: 1.45 }}&gt;适合高敏感数据，会阻塞——要有 SLA，否则业务会绕道。&lt;/Text&gt;&#10;          &lt;/Box&gt;&#10;        &lt;/Box&gt;&#10;      &lt;/Box&gt;&#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27 / 30&lt;/Text&gt;&#10;  &lt;/Box&gt;&#10;&lt;/Slide&gt;"/>
        <p:cNvGrpSpPr/>
        <p:nvPr/>
      </p:nvGrpSpPr>
      <p:grpSpPr>
        <a:xfrm>
          <a:off x="0" y="0"/>
          <a:ext cx="0" cy="0"/>
          <a:chOff x="0" y="0"/>
          <a:chExt cx="0" cy="0"/>
        </a:xfrm>
      </p:grpSpPr>
      <p:sp>
        <p:nvSpPr>
          <p:cNvPr id="901" name=""/>
          <p:cNvSpPr/>
          <p:nvPr/>
        </p:nvSpPr>
        <p:spPr>
          <a:xfrm rot="0" flipH="0" flipV="0">
            <a:off x="0" y="0"/>
            <a:ext cx="12192000" cy="6858000"/>
          </a:xfrm>
          <a:prstGeom prst="rect">
            <a:avLst/>
          </a:prstGeom>
          <a:solidFill>
            <a:srgbClr val="FFFFFF"/>
          </a:solidFill>
          <a:ln/>
        </p:spPr>
        <p:txBody>
          <a:bodyPr/>
          <a:p/>
        </p:txBody>
      </p:sp>
      <p:sp>
        <p:nvSpPr>
          <p:cNvPr id="902"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en-US" sz="2400" b="1">
                <a:solidFill>
                  <a:srgbClr val="0F1423"/>
                </a:solidFill>
                <a:latin typeface="Microsoft YaHei"/>
                <a:ea typeface="Microsoft YaHei"/>
              </a:rPr>
              <a:t xml:space="preserve">AA </a:t>
            </a:r>
            <a:r>
              <a:rPr lang="zh-CN" sz="2400" b="1">
                <a:solidFill>
                  <a:srgbClr val="0F1423"/>
                </a:solidFill>
                <a:latin typeface="Microsoft YaHei"/>
                <a:ea typeface="Microsoft YaHei"/>
              </a:rPr>
              <a:t>层：策略即应用——审批必须是编排里的一个</a:t>
            </a:r>
            <a:r>
              <a:rPr lang="zh-CN" sz="2400" b="1">
                <a:solidFill>
                  <a:srgbClr val="FA4F24"/>
                </a:solidFill>
                <a:latin typeface="Microsoft YaHei"/>
                <a:ea typeface="Microsoft YaHei"/>
              </a:rPr>
              <a:t>节点</a:t>
            </a:r>
            <a:endParaRPr/>
          </a:p>
        </p:txBody>
      </p:sp>
      <p:sp>
        <p:nvSpPr>
          <p:cNvPr id="903"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治理不是一个「后台配置页」，它是一组要部署、要监控、要有人维护的业务应用</a:t>
            </a:r>
            <a:endParaRPr/>
          </a:p>
        </p:txBody>
      </p:sp>
      <p:sp>
        <p:nvSpPr>
          <p:cNvPr id="904" name=""/>
          <p:cNvSpPr/>
          <p:nvPr/>
        </p:nvSpPr>
        <p:spPr>
          <a:xfrm rot="0" flipH="0" flipV="0">
            <a:off x="609600" y="1143000"/>
            <a:ext cx="10972800" cy="9525"/>
          </a:xfrm>
          <a:prstGeom prst="rect">
            <a:avLst/>
          </a:prstGeom>
          <a:solidFill>
            <a:srgbClr val="E8E8E8"/>
          </a:solidFill>
          <a:ln/>
        </p:spPr>
        <p:txBody>
          <a:bodyPr/>
          <a:p/>
        </p:txBody>
      </p:sp>
      <p:sp>
        <p:nvSpPr>
          <p:cNvPr id="905" name=""/>
          <p:cNvSpPr/>
          <p:nvPr/>
        </p:nvSpPr>
        <p:spPr>
          <a:xfrm rot="0" flipH="0" flipV="0">
            <a:off x="609600" y="1285875"/>
            <a:ext cx="10972800" cy="2000250"/>
          </a:xfrm>
          <a:prstGeom prst="roundRect">
            <a:avLst>
              <a:gd name="adj" fmla="val 1905"/>
            </a:avLst>
          </a:prstGeom>
          <a:solidFill>
            <a:srgbClr val="0F1423"/>
          </a:solidFill>
          <a:ln/>
        </p:spPr>
        <p:txBody>
          <a:bodyPr/>
          <a:p/>
        </p:txBody>
      </p:sp>
      <p:sp>
        <p:nvSpPr>
          <p:cNvPr id="906" name="" descr="{&quot;isTemplate&quot;:true,&quot;type&quot;:&quot;text&quot;}"/>
          <p:cNvSpPr txBox="1"/>
          <p:nvPr/>
        </p:nvSpPr>
        <p:spPr>
          <a:xfrm rot="0" flipH="0" flipV="0">
            <a:off x="781050" y="1419225"/>
            <a:ext cx="10629900" cy="161925"/>
          </a:xfrm>
          <a:prstGeom prst="rect"/>
        </p:spPr>
        <p:txBody>
          <a:bodyPr wrap="none" lIns="0" tIns="0" rIns="0" bIns="0"/>
          <a:p>
            <a:pPr>
              <a:lnSpc>
                <a:spcPct val="100000"/>
              </a:lnSpc>
            </a:pPr>
            <a:r>
              <a:rPr lang="zh-CN" sz="1050" b="1">
                <a:solidFill>
                  <a:srgbClr val="FBA15C"/>
                </a:solidFill>
                <a:latin typeface="Microsoft YaHei"/>
                <a:ea typeface="Microsoft YaHei"/>
              </a:rPr>
              <a:t>治理应用清单：六个必须独立交付的应用</a:t>
            </a:r>
            <a:endParaRPr/>
          </a:p>
        </p:txBody>
      </p:sp>
      <p:sp>
        <p:nvSpPr>
          <p:cNvPr id="907" name=""/>
          <p:cNvSpPr/>
          <p:nvPr/>
        </p:nvSpPr>
        <p:spPr>
          <a:xfrm rot="0" flipH="0" flipV="0">
            <a:off x="781050" y="1714500"/>
            <a:ext cx="1704975" cy="1171575"/>
          </a:xfrm>
          <a:prstGeom prst="roundRect">
            <a:avLst>
              <a:gd name="adj" fmla="val 2439"/>
            </a:avLst>
          </a:prstGeom>
          <a:solidFill>
            <a:srgbClr val="FFFFFF">
              <a:alpha val="7000"/>
            </a:srgbClr>
          </a:solidFill>
          <a:ln/>
        </p:spPr>
        <p:txBody>
          <a:bodyPr/>
          <a:p/>
        </p:txBody>
      </p:sp>
      <p:sp>
        <p:nvSpPr>
          <p:cNvPr id="908" name=""/>
          <p:cNvSpPr/>
          <p:nvPr/>
        </p:nvSpPr>
        <p:spPr>
          <a:xfrm rot="0" flipH="0" flipV="0">
            <a:off x="781050" y="1714500"/>
            <a:ext cx="1704975" cy="1171575"/>
          </a:xfrm>
          <a:custGeom>
            <a:pathLst>
              <a:path w="179" h="123">
                <a:moveTo>
                  <a:pt x="176" y="0"/>
                </a:moveTo>
                <a:cubicBezTo>
                  <a:pt x="178" y="0"/>
                  <a:pt x="179" y="1"/>
                  <a:pt x="179" y="3"/>
                </a:cubicBezTo>
                <a:lnTo>
                  <a:pt x="0" y="3"/>
                </a:lnTo>
                <a:cubicBezTo>
                  <a:pt x="0" y="1"/>
                  <a:pt x="1" y="0"/>
                  <a:pt x="3" y="0"/>
                </a:cubicBezTo>
                <a:lnTo>
                  <a:pt x="176" y="0"/>
                </a:lnTo>
                <a:close/>
              </a:path>
            </a:pathLst>
          </a:custGeom>
          <a:solidFill>
            <a:srgbClr val="FBA15C"/>
          </a:solidFill>
          <a:ln/>
        </p:spPr>
        <p:txBody>
          <a:bodyPr/>
          <a:p/>
        </p:txBody>
      </p:sp>
      <p:sp>
        <p:nvSpPr>
          <p:cNvPr id="909" name="" descr="{&quot;isTemplate&quot;:true,&quot;type&quot;:&quot;text&quot;}"/>
          <p:cNvSpPr txBox="1"/>
          <p:nvPr/>
        </p:nvSpPr>
        <p:spPr>
          <a:xfrm rot="0" flipH="0" flipV="0">
            <a:off x="885825" y="1809750"/>
            <a:ext cx="1495425" cy="152400"/>
          </a:xfrm>
          <a:prstGeom prst="rect"/>
        </p:spPr>
        <p:txBody>
          <a:bodyPr wrap="none" lIns="0" tIns="0" rIns="0" bIns="0"/>
          <a:p>
            <a:pPr>
              <a:lnSpc>
                <a:spcPct val="100000"/>
              </a:lnSpc>
            </a:pPr>
            <a:r>
              <a:rPr lang="en-US" sz="975" b="1">
                <a:solidFill>
                  <a:srgbClr val="FBA15C"/>
                </a:solidFill>
                <a:latin typeface="Microsoft YaHei"/>
                <a:ea typeface="Microsoft YaHei"/>
              </a:rPr>
              <a:t>G1</a:t>
            </a:r>
            <a:r>
              <a:rPr lang="en-US" sz="975" b="1">
                <a:solidFill>
                  <a:srgbClr val="FBA15C"/>
                </a:solidFill>
                <a:latin typeface="Microsoft YaHei"/>
                <a:ea typeface="Microsoft YaHei"/>
              </a:rPr>
              <a:t xml:space="preserve"> · </a:t>
            </a:r>
            <a:r>
              <a:rPr lang="zh-CN" sz="975" b="1">
                <a:solidFill>
                  <a:srgbClr val="FBA15C"/>
                </a:solidFill>
                <a:latin typeface="Microsoft YaHei"/>
                <a:ea typeface="Microsoft YaHei"/>
              </a:rPr>
              <a:t>数据目录</a:t>
            </a:r>
            <a:endParaRPr/>
          </a:p>
        </p:txBody>
      </p:sp>
      <p:sp>
        <p:nvSpPr>
          <p:cNvPr id="910" name="" descr="{&quot;isTemplate&quot;:true,&quot;type&quot;:&quot;text&quot;}"/>
          <p:cNvSpPr txBox="1"/>
          <p:nvPr/>
        </p:nvSpPr>
        <p:spPr>
          <a:xfrm rot="0" flipH="0" flipV="0">
            <a:off x="885825" y="2019300"/>
            <a:ext cx="1495425" cy="571500"/>
          </a:xfrm>
          <a:prstGeom prst="rect"/>
        </p:spPr>
        <p:txBody>
          <a:bodyPr wrap="square" lIns="0" tIns="0" rIns="0" bIns="0">
            <a:normAutofit/>
          </a:bodyPr>
          <a:p>
            <a:pPr>
              <a:lnSpc>
                <a:spcPct val="150000"/>
              </a:lnSpc>
            </a:pPr>
            <a:r>
              <a:rPr lang="zh-CN" sz="825">
                <a:solidFill>
                  <a:srgbClr val="FFFFFF">
                    <a:alpha val="78000"/>
                  </a:srgbClr>
                </a:solidFill>
                <a:latin typeface="Microsoft YaHei"/>
                <a:ea typeface="Microsoft YaHei"/>
              </a:rPr>
              <a:t>集合公开、文件授权；紫色对勾标识已编目；全量搜索遍历全部元数据。治理成果的可见面。</a:t>
            </a:r>
            <a:endParaRPr/>
          </a:p>
        </p:txBody>
      </p:sp>
      <p:sp>
        <p:nvSpPr>
          <p:cNvPr id="911" name=""/>
          <p:cNvSpPr/>
          <p:nvPr/>
        </p:nvSpPr>
        <p:spPr>
          <a:xfrm rot="0" flipH="0" flipV="0">
            <a:off x="2571750" y="1714500"/>
            <a:ext cx="1695450" cy="1171575"/>
          </a:xfrm>
          <a:prstGeom prst="roundRect">
            <a:avLst>
              <a:gd name="adj" fmla="val 2439"/>
            </a:avLst>
          </a:prstGeom>
          <a:solidFill>
            <a:srgbClr val="FFFFFF">
              <a:alpha val="7000"/>
            </a:srgbClr>
          </a:solidFill>
          <a:ln/>
        </p:spPr>
        <p:txBody>
          <a:bodyPr/>
          <a:p/>
        </p:txBody>
      </p:sp>
      <p:sp>
        <p:nvSpPr>
          <p:cNvPr id="912" name=""/>
          <p:cNvSpPr/>
          <p:nvPr/>
        </p:nvSpPr>
        <p:spPr>
          <a:xfrm rot="0" flipH="0" flipV="0">
            <a:off x="2571750" y="1714500"/>
            <a:ext cx="1695450" cy="1171575"/>
          </a:xfrm>
          <a:custGeom>
            <a:pathLst>
              <a:path w="178" h="123">
                <a:moveTo>
                  <a:pt x="175" y="0"/>
                </a:moveTo>
                <a:cubicBezTo>
                  <a:pt x="177" y="0"/>
                  <a:pt x="178" y="1"/>
                  <a:pt x="178" y="3"/>
                </a:cubicBezTo>
                <a:lnTo>
                  <a:pt x="0" y="3"/>
                </a:lnTo>
                <a:cubicBezTo>
                  <a:pt x="0" y="1"/>
                  <a:pt x="1" y="0"/>
                  <a:pt x="3" y="0"/>
                </a:cubicBezTo>
                <a:lnTo>
                  <a:pt x="175" y="0"/>
                </a:lnTo>
                <a:close/>
              </a:path>
            </a:pathLst>
          </a:custGeom>
          <a:solidFill>
            <a:srgbClr val="FBA15C"/>
          </a:solidFill>
          <a:ln/>
        </p:spPr>
        <p:txBody>
          <a:bodyPr/>
          <a:p/>
        </p:txBody>
      </p:sp>
      <p:sp>
        <p:nvSpPr>
          <p:cNvPr id="913" name="" descr="{&quot;isTemplate&quot;:true,&quot;type&quot;:&quot;text&quot;}"/>
          <p:cNvSpPr txBox="1"/>
          <p:nvPr/>
        </p:nvSpPr>
        <p:spPr>
          <a:xfrm rot="0" flipH="0" flipV="0">
            <a:off x="2676525" y="1809750"/>
            <a:ext cx="1485900" cy="152400"/>
          </a:xfrm>
          <a:prstGeom prst="rect"/>
        </p:spPr>
        <p:txBody>
          <a:bodyPr wrap="none" lIns="0" tIns="0" rIns="0" bIns="0"/>
          <a:p>
            <a:pPr>
              <a:lnSpc>
                <a:spcPct val="100000"/>
              </a:lnSpc>
            </a:pPr>
            <a:r>
              <a:rPr lang="en-US" sz="975" b="1">
                <a:solidFill>
                  <a:srgbClr val="FBA15C"/>
                </a:solidFill>
                <a:latin typeface="Microsoft YaHei"/>
                <a:ea typeface="Microsoft YaHei"/>
              </a:rPr>
              <a:t>G2</a:t>
            </a:r>
            <a:r>
              <a:rPr lang="en-US" sz="975" b="1">
                <a:solidFill>
                  <a:srgbClr val="FBA15C"/>
                </a:solidFill>
                <a:latin typeface="Microsoft YaHei"/>
                <a:ea typeface="Microsoft YaHei"/>
              </a:rPr>
              <a:t xml:space="preserve"> · </a:t>
            </a:r>
            <a:r>
              <a:rPr lang="zh-CN" sz="975" b="1">
                <a:solidFill>
                  <a:srgbClr val="FBA15C"/>
                </a:solidFill>
                <a:latin typeface="Microsoft YaHei"/>
                <a:ea typeface="Microsoft YaHei"/>
              </a:rPr>
              <a:t>健康监控</a:t>
            </a:r>
            <a:endParaRPr/>
          </a:p>
        </p:txBody>
      </p:sp>
      <p:sp>
        <p:nvSpPr>
          <p:cNvPr id="914" name="" descr="{&quot;isTemplate&quot;:true,&quot;type&quot;:&quot;text&quot;}"/>
          <p:cNvSpPr txBox="1"/>
          <p:nvPr/>
        </p:nvSpPr>
        <p:spPr>
          <a:xfrm rot="0" flipH="0" flipV="0">
            <a:off x="2676525" y="2019300"/>
            <a:ext cx="1485900" cy="571500"/>
          </a:xfrm>
          <a:prstGeom prst="rect"/>
        </p:spPr>
        <p:txBody>
          <a:bodyPr wrap="square" lIns="0" tIns="0" rIns="0" bIns="0">
            <a:normAutofit/>
          </a:bodyPr>
          <a:p>
            <a:pPr>
              <a:lnSpc>
                <a:spcPct val="150000"/>
              </a:lnSpc>
            </a:pPr>
            <a:r>
              <a:rPr lang="zh-CN" sz="825">
                <a:solidFill>
                  <a:srgbClr val="FFFFFF">
                    <a:alpha val="78000"/>
                  </a:srgbClr>
                </a:solidFill>
                <a:latin typeface="Microsoft YaHei"/>
                <a:ea typeface="Microsoft YaHei"/>
              </a:rPr>
              <a:t>监控视图看范围、健康检查看单资源；告警走平台内通知、邮件摘要、外部系统三条路。</a:t>
            </a:r>
            <a:endParaRPr/>
          </a:p>
        </p:txBody>
      </p:sp>
      <p:sp>
        <p:nvSpPr>
          <p:cNvPr id="915" name=""/>
          <p:cNvSpPr/>
          <p:nvPr/>
        </p:nvSpPr>
        <p:spPr>
          <a:xfrm rot="0" flipH="0" flipV="0">
            <a:off x="4352925" y="1714500"/>
            <a:ext cx="1704975" cy="1171575"/>
          </a:xfrm>
          <a:prstGeom prst="roundRect">
            <a:avLst>
              <a:gd name="adj" fmla="val 2439"/>
            </a:avLst>
          </a:prstGeom>
          <a:solidFill>
            <a:srgbClr val="FFFFFF">
              <a:alpha val="7000"/>
            </a:srgbClr>
          </a:solidFill>
          <a:ln/>
        </p:spPr>
        <p:txBody>
          <a:bodyPr/>
          <a:p/>
        </p:txBody>
      </p:sp>
      <p:sp>
        <p:nvSpPr>
          <p:cNvPr id="916" name=""/>
          <p:cNvSpPr/>
          <p:nvPr/>
        </p:nvSpPr>
        <p:spPr>
          <a:xfrm rot="0" flipH="0" flipV="0">
            <a:off x="4352925" y="1714500"/>
            <a:ext cx="1704975" cy="1171575"/>
          </a:xfrm>
          <a:custGeom>
            <a:pathLst>
              <a:path w="179" h="123">
                <a:moveTo>
                  <a:pt x="176" y="0"/>
                </a:moveTo>
                <a:cubicBezTo>
                  <a:pt x="178" y="0"/>
                  <a:pt x="179" y="1"/>
                  <a:pt x="179" y="3"/>
                </a:cubicBezTo>
                <a:lnTo>
                  <a:pt x="0" y="3"/>
                </a:lnTo>
                <a:cubicBezTo>
                  <a:pt x="0" y="1"/>
                  <a:pt x="1" y="0"/>
                  <a:pt x="3" y="0"/>
                </a:cubicBezTo>
                <a:lnTo>
                  <a:pt x="176" y="0"/>
                </a:lnTo>
                <a:close/>
              </a:path>
            </a:pathLst>
          </a:custGeom>
          <a:solidFill>
            <a:srgbClr val="FBA15C"/>
          </a:solidFill>
          <a:ln/>
        </p:spPr>
        <p:txBody>
          <a:bodyPr/>
          <a:p/>
        </p:txBody>
      </p:sp>
      <p:sp>
        <p:nvSpPr>
          <p:cNvPr id="917" name="" descr="{&quot;isTemplate&quot;:true,&quot;type&quot;:&quot;text&quot;}"/>
          <p:cNvSpPr txBox="1"/>
          <p:nvPr/>
        </p:nvSpPr>
        <p:spPr>
          <a:xfrm rot="0" flipH="0" flipV="0">
            <a:off x="4457700" y="1809750"/>
            <a:ext cx="1495425" cy="152400"/>
          </a:xfrm>
          <a:prstGeom prst="rect"/>
        </p:spPr>
        <p:txBody>
          <a:bodyPr wrap="none" lIns="0" tIns="0" rIns="0" bIns="0"/>
          <a:p>
            <a:pPr>
              <a:lnSpc>
                <a:spcPct val="100000"/>
              </a:lnSpc>
            </a:pPr>
            <a:r>
              <a:rPr lang="en-US" sz="975" b="1">
                <a:solidFill>
                  <a:srgbClr val="FBA15C"/>
                </a:solidFill>
                <a:latin typeface="Microsoft YaHei"/>
                <a:ea typeface="Microsoft YaHei"/>
              </a:rPr>
              <a:t>G3</a:t>
            </a:r>
            <a:r>
              <a:rPr lang="en-US" sz="975" b="1">
                <a:solidFill>
                  <a:srgbClr val="FBA15C"/>
                </a:solidFill>
                <a:latin typeface="Microsoft YaHei"/>
                <a:ea typeface="Microsoft YaHei"/>
              </a:rPr>
              <a:t xml:space="preserve"> · </a:t>
            </a:r>
            <a:r>
              <a:rPr lang="en-US" sz="975" b="1">
                <a:solidFill>
                  <a:srgbClr val="FBA15C"/>
                </a:solidFill>
                <a:latin typeface="Microsoft YaHei"/>
                <a:ea typeface="Microsoft YaHei"/>
              </a:rPr>
              <a:t>Linter</a:t>
            </a:r>
            <a:endParaRPr/>
          </a:p>
        </p:txBody>
      </p:sp>
      <p:sp>
        <p:nvSpPr>
          <p:cNvPr id="918" name="" descr="{&quot;isTemplate&quot;:true,&quot;type&quot;:&quot;text&quot;}"/>
          <p:cNvSpPr txBox="1"/>
          <p:nvPr/>
        </p:nvSpPr>
        <p:spPr>
          <a:xfrm rot="0" flipH="0" flipV="0">
            <a:off x="4457700" y="2019300"/>
            <a:ext cx="1495425" cy="571500"/>
          </a:xfrm>
          <a:prstGeom prst="rect"/>
        </p:spPr>
        <p:txBody>
          <a:bodyPr wrap="square" lIns="0" tIns="0" rIns="0" bIns="0">
            <a:normAutofit/>
          </a:bodyPr>
          <a:p>
            <a:pPr>
              <a:lnSpc>
                <a:spcPct val="150000"/>
              </a:lnSpc>
            </a:pPr>
            <a:r>
              <a:rPr lang="zh-CN" sz="825">
                <a:solidFill>
                  <a:srgbClr val="FFFFFF">
                    <a:alpha val="78000"/>
                  </a:srgbClr>
                </a:solidFill>
                <a:latin typeface="Microsoft YaHei"/>
                <a:ea typeface="Microsoft YaHei"/>
              </a:rPr>
              <a:t>识别反模式、给优化建议、分配责任人、定期复核。是唯一能自动发现「治理退化」的应用。</a:t>
            </a:r>
            <a:endParaRPr/>
          </a:p>
        </p:txBody>
      </p:sp>
      <p:sp>
        <p:nvSpPr>
          <p:cNvPr id="919" name=""/>
          <p:cNvSpPr/>
          <p:nvPr/>
        </p:nvSpPr>
        <p:spPr>
          <a:xfrm rot="0" flipH="0" flipV="0">
            <a:off x="6143625" y="1714500"/>
            <a:ext cx="1695450" cy="1171575"/>
          </a:xfrm>
          <a:prstGeom prst="roundRect">
            <a:avLst>
              <a:gd name="adj" fmla="val 2439"/>
            </a:avLst>
          </a:prstGeom>
          <a:solidFill>
            <a:srgbClr val="FFFFFF">
              <a:alpha val="7000"/>
            </a:srgbClr>
          </a:solidFill>
          <a:ln/>
        </p:spPr>
        <p:txBody>
          <a:bodyPr/>
          <a:p/>
        </p:txBody>
      </p:sp>
      <p:sp>
        <p:nvSpPr>
          <p:cNvPr id="920" name=""/>
          <p:cNvSpPr/>
          <p:nvPr/>
        </p:nvSpPr>
        <p:spPr>
          <a:xfrm rot="0" flipH="0" flipV="0">
            <a:off x="6143625" y="1714500"/>
            <a:ext cx="1695450" cy="1171575"/>
          </a:xfrm>
          <a:custGeom>
            <a:pathLst>
              <a:path w="178" h="123">
                <a:moveTo>
                  <a:pt x="175" y="0"/>
                </a:moveTo>
                <a:cubicBezTo>
                  <a:pt x="177" y="0"/>
                  <a:pt x="178" y="1"/>
                  <a:pt x="178" y="3"/>
                </a:cubicBezTo>
                <a:lnTo>
                  <a:pt x="0" y="3"/>
                </a:lnTo>
                <a:cubicBezTo>
                  <a:pt x="0" y="1"/>
                  <a:pt x="1" y="0"/>
                  <a:pt x="3" y="0"/>
                </a:cubicBezTo>
                <a:lnTo>
                  <a:pt x="175" y="0"/>
                </a:lnTo>
                <a:close/>
              </a:path>
            </a:pathLst>
          </a:custGeom>
          <a:solidFill>
            <a:srgbClr val="FBA15C"/>
          </a:solidFill>
          <a:ln/>
        </p:spPr>
        <p:txBody>
          <a:bodyPr/>
          <a:p/>
        </p:txBody>
      </p:sp>
      <p:sp>
        <p:nvSpPr>
          <p:cNvPr id="921" name="" descr="{&quot;isTemplate&quot;:true,&quot;type&quot;:&quot;text&quot;}"/>
          <p:cNvSpPr txBox="1"/>
          <p:nvPr/>
        </p:nvSpPr>
        <p:spPr>
          <a:xfrm rot="0" flipH="0" flipV="0">
            <a:off x="6248400" y="1809750"/>
            <a:ext cx="1485900" cy="152400"/>
          </a:xfrm>
          <a:prstGeom prst="rect"/>
        </p:spPr>
        <p:txBody>
          <a:bodyPr wrap="none" lIns="0" tIns="0" rIns="0" bIns="0"/>
          <a:p>
            <a:pPr>
              <a:lnSpc>
                <a:spcPct val="100000"/>
              </a:lnSpc>
            </a:pPr>
            <a:r>
              <a:rPr lang="en-US" sz="975" b="1">
                <a:solidFill>
                  <a:srgbClr val="FBA15C"/>
                </a:solidFill>
                <a:latin typeface="Microsoft YaHei"/>
                <a:ea typeface="Microsoft YaHei"/>
              </a:rPr>
              <a:t>G4</a:t>
            </a:r>
            <a:r>
              <a:rPr lang="en-US" sz="975" b="1">
                <a:solidFill>
                  <a:srgbClr val="FBA15C"/>
                </a:solidFill>
                <a:latin typeface="Microsoft YaHei"/>
                <a:ea typeface="Microsoft YaHei"/>
              </a:rPr>
              <a:t xml:space="preserve"> · </a:t>
            </a:r>
            <a:r>
              <a:rPr lang="zh-CN" sz="975" b="1">
                <a:solidFill>
                  <a:srgbClr val="FBA15C"/>
                </a:solidFill>
                <a:latin typeface="Microsoft YaHei"/>
                <a:ea typeface="Microsoft YaHei"/>
              </a:rPr>
              <a:t>提案审批</a:t>
            </a:r>
            <a:endParaRPr/>
          </a:p>
        </p:txBody>
      </p:sp>
      <p:sp>
        <p:nvSpPr>
          <p:cNvPr id="922" name="" descr="{&quot;isTemplate&quot;:true,&quot;type&quot;:&quot;text&quot;}"/>
          <p:cNvSpPr txBox="1"/>
          <p:nvPr/>
        </p:nvSpPr>
        <p:spPr>
          <a:xfrm rot="0" flipH="0" flipV="0">
            <a:off x="6248400" y="2019300"/>
            <a:ext cx="1485900" cy="571500"/>
          </a:xfrm>
          <a:prstGeom prst="rect"/>
        </p:spPr>
        <p:txBody>
          <a:bodyPr wrap="square" lIns="0" tIns="0" rIns="0" bIns="0">
            <a:normAutofit/>
          </a:bodyPr>
          <a:p>
            <a:pPr>
              <a:lnSpc>
                <a:spcPct val="150000"/>
              </a:lnSpc>
            </a:pPr>
            <a:r>
              <a:rPr lang="zh-CN" sz="825">
                <a:solidFill>
                  <a:srgbClr val="FFFFFF">
                    <a:alpha val="78000"/>
                  </a:srgbClr>
                </a:solidFill>
                <a:latin typeface="Microsoft YaHei"/>
                <a:ea typeface="Microsoft YaHei"/>
              </a:rPr>
              <a:t>提案、复核、驳回、补件全流程留痕；</a:t>
            </a:r>
            <a:r>
              <a:rPr lang="en-US" sz="825">
                <a:solidFill>
                  <a:srgbClr val="FFFFFF">
                    <a:alpha val="78000"/>
                  </a:srgbClr>
                </a:solidFill>
                <a:latin typeface="Microsoft YaHei"/>
                <a:ea typeface="Microsoft YaHei"/>
              </a:rPr>
              <a:t xml:space="preserve">PBAC </a:t>
            </a:r>
            <a:r>
              <a:rPr lang="zh-CN" sz="825">
                <a:solidFill>
                  <a:srgbClr val="FFFFFF">
                    <a:alpha val="78000"/>
                  </a:srgbClr>
                </a:solidFill>
                <a:latin typeface="Microsoft YaHei"/>
                <a:ea typeface="Microsoft YaHei"/>
              </a:rPr>
              <a:t>主动模式挂起任务等批准。</a:t>
            </a:r>
            <a:endParaRPr/>
          </a:p>
        </p:txBody>
      </p:sp>
      <p:sp>
        <p:nvSpPr>
          <p:cNvPr id="923" name=""/>
          <p:cNvSpPr/>
          <p:nvPr/>
        </p:nvSpPr>
        <p:spPr>
          <a:xfrm rot="0" flipH="0" flipV="0">
            <a:off x="7924800" y="1714500"/>
            <a:ext cx="1704975" cy="1171575"/>
          </a:xfrm>
          <a:prstGeom prst="roundRect">
            <a:avLst>
              <a:gd name="adj" fmla="val 2439"/>
            </a:avLst>
          </a:prstGeom>
          <a:solidFill>
            <a:srgbClr val="FFFFFF">
              <a:alpha val="7000"/>
            </a:srgbClr>
          </a:solidFill>
          <a:ln/>
        </p:spPr>
        <p:txBody>
          <a:bodyPr/>
          <a:p/>
        </p:txBody>
      </p:sp>
      <p:sp>
        <p:nvSpPr>
          <p:cNvPr id="924" name=""/>
          <p:cNvSpPr/>
          <p:nvPr/>
        </p:nvSpPr>
        <p:spPr>
          <a:xfrm rot="0" flipH="0" flipV="0">
            <a:off x="7924800" y="1714500"/>
            <a:ext cx="1704975" cy="1171575"/>
          </a:xfrm>
          <a:custGeom>
            <a:pathLst>
              <a:path w="179" h="123">
                <a:moveTo>
                  <a:pt x="176" y="0"/>
                </a:moveTo>
                <a:cubicBezTo>
                  <a:pt x="178" y="0"/>
                  <a:pt x="179" y="1"/>
                  <a:pt x="179" y="3"/>
                </a:cubicBezTo>
                <a:lnTo>
                  <a:pt x="0" y="3"/>
                </a:lnTo>
                <a:cubicBezTo>
                  <a:pt x="0" y="1"/>
                  <a:pt x="1" y="0"/>
                  <a:pt x="3" y="0"/>
                </a:cubicBezTo>
                <a:lnTo>
                  <a:pt x="176" y="0"/>
                </a:lnTo>
                <a:close/>
              </a:path>
            </a:pathLst>
          </a:custGeom>
          <a:solidFill>
            <a:srgbClr val="FBA15C"/>
          </a:solidFill>
          <a:ln/>
        </p:spPr>
        <p:txBody>
          <a:bodyPr/>
          <a:p/>
        </p:txBody>
      </p:sp>
      <p:sp>
        <p:nvSpPr>
          <p:cNvPr id="925" name="" descr="{&quot;isTemplate&quot;:true,&quot;type&quot;:&quot;text&quot;}"/>
          <p:cNvSpPr txBox="1"/>
          <p:nvPr/>
        </p:nvSpPr>
        <p:spPr>
          <a:xfrm rot="0" flipH="0" flipV="0">
            <a:off x="8029575" y="1809750"/>
            <a:ext cx="1495425" cy="152400"/>
          </a:xfrm>
          <a:prstGeom prst="rect"/>
        </p:spPr>
        <p:txBody>
          <a:bodyPr wrap="none" lIns="0" tIns="0" rIns="0" bIns="0"/>
          <a:p>
            <a:pPr>
              <a:lnSpc>
                <a:spcPct val="100000"/>
              </a:lnSpc>
            </a:pPr>
            <a:r>
              <a:rPr lang="en-US" sz="975" b="1">
                <a:solidFill>
                  <a:srgbClr val="FBA15C"/>
                </a:solidFill>
                <a:latin typeface="Microsoft YaHei"/>
                <a:ea typeface="Microsoft YaHei"/>
              </a:rPr>
              <a:t>G5</a:t>
            </a:r>
            <a:r>
              <a:rPr lang="en-US" sz="975" b="1">
                <a:solidFill>
                  <a:srgbClr val="FBA15C"/>
                </a:solidFill>
                <a:latin typeface="Microsoft YaHei"/>
                <a:ea typeface="Microsoft YaHei"/>
              </a:rPr>
              <a:t xml:space="preserve"> · </a:t>
            </a:r>
            <a:r>
              <a:rPr lang="zh-CN" sz="975" b="1">
                <a:solidFill>
                  <a:srgbClr val="FBA15C"/>
                </a:solidFill>
                <a:latin typeface="Microsoft YaHei"/>
                <a:ea typeface="Microsoft YaHei"/>
              </a:rPr>
              <a:t>策略控制台</a:t>
            </a:r>
            <a:endParaRPr/>
          </a:p>
        </p:txBody>
      </p:sp>
      <p:sp>
        <p:nvSpPr>
          <p:cNvPr id="926" name="" descr="{&quot;isTemplate&quot;:true,&quot;type&quot;:&quot;text&quot;}"/>
          <p:cNvSpPr txBox="1"/>
          <p:nvPr/>
        </p:nvSpPr>
        <p:spPr>
          <a:xfrm rot="0" flipH="0" flipV="0">
            <a:off x="8029575" y="2019300"/>
            <a:ext cx="1495425" cy="571500"/>
          </a:xfrm>
          <a:prstGeom prst="rect"/>
        </p:spPr>
        <p:txBody>
          <a:bodyPr wrap="square" lIns="0" tIns="0" rIns="0" bIns="0">
            <a:normAutofit/>
          </a:bodyPr>
          <a:p>
            <a:pPr>
              <a:lnSpc>
                <a:spcPct val="150000"/>
              </a:lnSpc>
            </a:pPr>
            <a:r>
              <a:rPr lang="zh-CN" sz="825">
                <a:solidFill>
                  <a:srgbClr val="FFFFFF">
                    <a:alpha val="78000"/>
                  </a:srgbClr>
                </a:solidFill>
                <a:latin typeface="Microsoft YaHei"/>
                <a:ea typeface="Microsoft YaHei"/>
              </a:rPr>
              <a:t>行级</a:t>
            </a:r>
            <a:r>
              <a:rPr lang="en-US" sz="825">
                <a:solidFill>
                  <a:srgbClr val="FFFFFF">
                    <a:alpha val="78000"/>
                  </a:srgbClr>
                </a:solidFill>
                <a:latin typeface="Microsoft YaHei"/>
                <a:ea typeface="Microsoft YaHei"/>
              </a:rPr>
              <a:t>/</a:t>
            </a:r>
            <a:r>
              <a:rPr lang="zh-CN" sz="825">
                <a:solidFill>
                  <a:srgbClr val="FFFFFF">
                    <a:alpha val="78000"/>
                  </a:srgbClr>
                </a:solidFill>
                <a:latin typeface="Microsoft YaHei"/>
                <a:ea typeface="Microsoft YaHei"/>
              </a:rPr>
              <a:t>列级策略的可视化编排，带比较器验证效果；导出策略即代码。</a:t>
            </a:r>
            <a:endParaRPr/>
          </a:p>
        </p:txBody>
      </p:sp>
      <p:sp>
        <p:nvSpPr>
          <p:cNvPr id="927" name=""/>
          <p:cNvSpPr/>
          <p:nvPr/>
        </p:nvSpPr>
        <p:spPr>
          <a:xfrm rot="0" flipH="0" flipV="0">
            <a:off x="9715500" y="1714500"/>
            <a:ext cx="1695450" cy="1171575"/>
          </a:xfrm>
          <a:prstGeom prst="roundRect">
            <a:avLst>
              <a:gd name="adj" fmla="val 2439"/>
            </a:avLst>
          </a:prstGeom>
          <a:solidFill>
            <a:srgbClr val="FFFFFF">
              <a:alpha val="7000"/>
            </a:srgbClr>
          </a:solidFill>
          <a:ln/>
        </p:spPr>
        <p:txBody>
          <a:bodyPr/>
          <a:p/>
        </p:txBody>
      </p:sp>
      <p:sp>
        <p:nvSpPr>
          <p:cNvPr id="928" name=""/>
          <p:cNvSpPr/>
          <p:nvPr/>
        </p:nvSpPr>
        <p:spPr>
          <a:xfrm rot="0" flipH="0" flipV="0">
            <a:off x="9715500" y="1714500"/>
            <a:ext cx="1695450" cy="1171575"/>
          </a:xfrm>
          <a:custGeom>
            <a:pathLst>
              <a:path w="178" h="123">
                <a:moveTo>
                  <a:pt x="175" y="0"/>
                </a:moveTo>
                <a:cubicBezTo>
                  <a:pt x="177" y="0"/>
                  <a:pt x="178" y="1"/>
                  <a:pt x="178" y="3"/>
                </a:cubicBezTo>
                <a:lnTo>
                  <a:pt x="0" y="3"/>
                </a:lnTo>
                <a:cubicBezTo>
                  <a:pt x="0" y="1"/>
                  <a:pt x="1" y="0"/>
                  <a:pt x="3" y="0"/>
                </a:cubicBezTo>
                <a:lnTo>
                  <a:pt x="175" y="0"/>
                </a:lnTo>
                <a:close/>
              </a:path>
            </a:pathLst>
          </a:custGeom>
          <a:solidFill>
            <a:srgbClr val="FBA15C"/>
          </a:solidFill>
          <a:ln/>
        </p:spPr>
        <p:txBody>
          <a:bodyPr/>
          <a:p/>
        </p:txBody>
      </p:sp>
      <p:sp>
        <p:nvSpPr>
          <p:cNvPr id="929" name="" descr="{&quot;isTemplate&quot;:true,&quot;type&quot;:&quot;text&quot;}"/>
          <p:cNvSpPr txBox="1"/>
          <p:nvPr/>
        </p:nvSpPr>
        <p:spPr>
          <a:xfrm rot="0" flipH="0" flipV="0">
            <a:off x="9820275" y="1809750"/>
            <a:ext cx="1485900" cy="152400"/>
          </a:xfrm>
          <a:prstGeom prst="rect"/>
        </p:spPr>
        <p:txBody>
          <a:bodyPr wrap="none" lIns="0" tIns="0" rIns="0" bIns="0"/>
          <a:p>
            <a:pPr>
              <a:lnSpc>
                <a:spcPct val="100000"/>
              </a:lnSpc>
            </a:pPr>
            <a:r>
              <a:rPr lang="en-US" sz="975" b="1">
                <a:solidFill>
                  <a:srgbClr val="FBA15C"/>
                </a:solidFill>
                <a:latin typeface="Microsoft YaHei"/>
                <a:ea typeface="Microsoft YaHei"/>
              </a:rPr>
              <a:t>G6</a:t>
            </a:r>
            <a:r>
              <a:rPr lang="en-US" sz="975" b="1">
                <a:solidFill>
                  <a:srgbClr val="FBA15C"/>
                </a:solidFill>
                <a:latin typeface="Microsoft YaHei"/>
                <a:ea typeface="Microsoft YaHei"/>
              </a:rPr>
              <a:t xml:space="preserve"> · </a:t>
            </a:r>
            <a:r>
              <a:rPr lang="en-US" sz="975" b="1">
                <a:solidFill>
                  <a:srgbClr val="FBA15C"/>
                </a:solidFill>
                <a:latin typeface="Microsoft YaHei"/>
                <a:ea typeface="Microsoft YaHei"/>
              </a:rPr>
              <a:t xml:space="preserve">Agent </a:t>
            </a:r>
            <a:r>
              <a:rPr lang="zh-CN" sz="975" b="1">
                <a:solidFill>
                  <a:srgbClr val="FBA15C"/>
                </a:solidFill>
                <a:latin typeface="Microsoft YaHei"/>
                <a:ea typeface="Microsoft YaHei"/>
              </a:rPr>
              <a:t>出口</a:t>
            </a:r>
            <a:endParaRPr/>
          </a:p>
        </p:txBody>
      </p:sp>
      <p:sp>
        <p:nvSpPr>
          <p:cNvPr id="930" name="" descr="{&quot;isTemplate&quot;:true,&quot;type&quot;:&quot;text&quot;}"/>
          <p:cNvSpPr txBox="1"/>
          <p:nvPr/>
        </p:nvSpPr>
        <p:spPr>
          <a:xfrm rot="0" flipH="0" flipV="0">
            <a:off x="9820275" y="2019300"/>
            <a:ext cx="1485900" cy="381000"/>
          </a:xfrm>
          <a:prstGeom prst="rect"/>
        </p:spPr>
        <p:txBody>
          <a:bodyPr wrap="square" lIns="0" tIns="0" rIns="0" bIns="0">
            <a:normAutofit/>
          </a:bodyPr>
          <a:p>
            <a:pPr>
              <a:lnSpc>
                <a:spcPct val="150000"/>
              </a:lnSpc>
            </a:pPr>
            <a:r>
              <a:rPr lang="zh-CN" sz="825">
                <a:solidFill>
                  <a:srgbClr val="FFFFFF">
                    <a:alpha val="78000"/>
                  </a:srgbClr>
                </a:solidFill>
                <a:latin typeface="Microsoft YaHei"/>
                <a:ea typeface="Microsoft YaHei"/>
              </a:rPr>
              <a:t>工具白名单、记忆密级、遥测日志管辖。默认拒绝，逐个放开。</a:t>
            </a:r>
            <a:endParaRPr/>
          </a:p>
        </p:txBody>
      </p:sp>
      <p:sp>
        <p:nvSpPr>
          <p:cNvPr id="931" name="" descr="{&quot;isTemplate&quot;:true,&quot;type&quot;:&quot;text&quot;}"/>
          <p:cNvSpPr txBox="1"/>
          <p:nvPr/>
        </p:nvSpPr>
        <p:spPr>
          <a:xfrm rot="0" flipH="0" flipV="0">
            <a:off x="781050" y="2952750"/>
            <a:ext cx="10629900" cy="200025"/>
          </a:xfrm>
          <a:prstGeom prst="rect"/>
        </p:spPr>
        <p:txBody>
          <a:bodyPr wrap="none" lIns="0" tIns="0" rIns="0" bIns="0"/>
          <a:p>
            <a:pPr>
              <a:lnSpc>
                <a:spcPct val="150000"/>
              </a:lnSpc>
            </a:pPr>
            <a:r>
              <a:rPr lang="zh-CN" sz="863">
                <a:solidFill>
                  <a:srgbClr val="FFFFFF">
                    <a:alpha val="72000"/>
                  </a:srgbClr>
                </a:solidFill>
                <a:latin typeface="Microsoft YaHei"/>
                <a:ea typeface="Microsoft YaHei"/>
              </a:rPr>
              <a:t>交付顺序建议：</a:t>
            </a:r>
            <a:r>
              <a:rPr lang="en-US" sz="863">
                <a:solidFill>
                  <a:srgbClr val="FFFFFF">
                    <a:alpha val="72000"/>
                  </a:srgbClr>
                </a:solidFill>
                <a:latin typeface="Microsoft YaHei"/>
                <a:ea typeface="Microsoft YaHei"/>
              </a:rPr>
              <a:t>G4 → G1 → G2 → G3 → G5 → G6</a:t>
            </a:r>
            <a:r>
              <a:rPr lang="zh-CN" sz="863">
                <a:solidFill>
                  <a:srgbClr val="FFFFFF">
                    <a:alpha val="72000"/>
                  </a:srgbClr>
                </a:solidFill>
                <a:latin typeface="Microsoft YaHei"/>
                <a:ea typeface="Microsoft YaHei"/>
              </a:rPr>
              <a:t>。先把审批流跑起来（有流程才有人用），再让它可见（目录），再让它会报警（健康），最后才是精细化。</a:t>
            </a:r>
            <a:endParaRPr/>
          </a:p>
        </p:txBody>
      </p:sp>
      <p:sp>
        <p:nvSpPr>
          <p:cNvPr id="932" name=""/>
          <p:cNvSpPr/>
          <p:nvPr/>
        </p:nvSpPr>
        <p:spPr>
          <a:xfrm rot="0" flipH="0" flipV="0">
            <a:off x="647700" y="3381375"/>
            <a:ext cx="5934075" cy="2257425"/>
          </a:xfrm>
          <a:prstGeom prst="roundRect">
            <a:avLst>
              <a:gd name="adj" fmla="val 1688"/>
            </a:avLst>
          </a:prstGeom>
          <a:solidFill>
            <a:srgbClr val="FFF3EE"/>
          </a:solidFill>
          <a:ln/>
        </p:spPr>
        <p:txBody>
          <a:bodyPr/>
          <a:p/>
        </p:txBody>
      </p:sp>
      <p:sp>
        <p:nvSpPr>
          <p:cNvPr id="933" name=""/>
          <p:cNvSpPr/>
          <p:nvPr/>
        </p:nvSpPr>
        <p:spPr>
          <a:xfrm rot="0" flipH="0" flipV="0">
            <a:off x="647700" y="3381375"/>
            <a:ext cx="5934075" cy="2257425"/>
          </a:xfrm>
          <a:custGeom>
            <a:pathLst>
              <a:path w="623" h="237">
                <a:moveTo>
                  <a:pt x="4" y="237"/>
                </a:moveTo>
                <a:cubicBezTo>
                  <a:pt x="2" y="237"/>
                  <a:pt x="0" y="235"/>
                  <a:pt x="0" y="233"/>
                </a:cubicBezTo>
                <a:lnTo>
                  <a:pt x="0" y="4"/>
                </a:lnTo>
                <a:cubicBezTo>
                  <a:pt x="0" y="2"/>
                  <a:pt x="2" y="0"/>
                  <a:pt x="4" y="0"/>
                </a:cubicBezTo>
                <a:lnTo>
                  <a:pt x="4" y="237"/>
                </a:lnTo>
                <a:close/>
              </a:path>
            </a:pathLst>
          </a:custGeom>
          <a:solidFill>
            <a:srgbClr val="FA4F24"/>
          </a:solidFill>
          <a:ln/>
        </p:spPr>
        <p:txBody>
          <a:bodyPr/>
          <a:p/>
        </p:txBody>
      </p:sp>
      <p:sp>
        <p:nvSpPr>
          <p:cNvPr id="934" name="" descr="{&quot;isTemplate&quot;:true,&quot;type&quot;:&quot;text&quot;}"/>
          <p:cNvSpPr txBox="1"/>
          <p:nvPr/>
        </p:nvSpPr>
        <p:spPr>
          <a:xfrm rot="0" flipH="0" flipV="0">
            <a:off x="809625" y="3914775"/>
            <a:ext cx="5572125" cy="161925"/>
          </a:xfrm>
          <a:prstGeom prst="rect"/>
        </p:spPr>
        <p:txBody>
          <a:bodyPr wrap="none" lIns="0" tIns="0" rIns="0" bIns="0"/>
          <a:p>
            <a:pPr>
              <a:lnSpc>
                <a:spcPct val="100000"/>
              </a:lnSpc>
            </a:pPr>
            <a:r>
              <a:rPr lang="zh-CN" sz="1050" b="1">
                <a:solidFill>
                  <a:srgbClr val="C43A17"/>
                </a:solidFill>
                <a:latin typeface="Microsoft YaHei"/>
                <a:ea typeface="Microsoft YaHei"/>
              </a:rPr>
              <a:t>治理在编排上与别的应用最大的不同</a:t>
            </a:r>
            <a:endParaRPr/>
          </a:p>
        </p:txBody>
      </p:sp>
      <p:sp>
        <p:nvSpPr>
          <p:cNvPr id="935" name="" descr="{&quot;isTemplate&quot;:true,&quot;type&quot;:&quot;text&quot;}"/>
          <p:cNvSpPr txBox="1"/>
          <p:nvPr/>
        </p:nvSpPr>
        <p:spPr>
          <a:xfrm rot="0" flipH="0" flipV="0">
            <a:off x="809625" y="4143375"/>
            <a:ext cx="5572125" cy="666750"/>
          </a:xfrm>
          <a:prstGeom prst="rect"/>
        </p:spPr>
        <p:txBody>
          <a:bodyPr wrap="square" lIns="0" tIns="0" rIns="0" bIns="0">
            <a:normAutofit/>
          </a:bodyPr>
          <a:p>
            <a:pPr>
              <a:lnSpc>
                <a:spcPct val="160000"/>
              </a:lnSpc>
            </a:pPr>
            <a:r>
              <a:rPr lang="zh-CN" sz="900">
                <a:solidFill>
                  <a:srgbClr val="3A4050"/>
                </a:solidFill>
                <a:latin typeface="Microsoft YaHei"/>
                <a:ea typeface="Microsoft YaHei"/>
              </a:rPr>
              <a:t>普通应用编排是「把事做完」，治理编排是「按规矩做事，而且要留证」。因此每个动作后面都要挂一个审计记录动作；涉及敏感数据的动作前面还要挂一个策略判定动作；涉及降级的动作中间必须挂一个人工审批动作。</a:t>
            </a:r>
            <a:endParaRPr/>
          </a:p>
        </p:txBody>
      </p:sp>
      <p:sp>
        <p:nvSpPr>
          <p:cNvPr id="936" name="" descr="{&quot;isTemplate&quot;:true,&quot;type&quot;:&quot;text&quot;}"/>
          <p:cNvSpPr txBox="1"/>
          <p:nvPr/>
        </p:nvSpPr>
        <p:spPr>
          <a:xfrm rot="0" flipH="0" flipV="0">
            <a:off x="809625" y="4876800"/>
            <a:ext cx="5572125" cy="228600"/>
          </a:xfrm>
          <a:prstGeom prst="rect"/>
        </p:spPr>
        <p:txBody>
          <a:bodyPr wrap="none" lIns="0" tIns="0" rIns="0" bIns="0"/>
          <a:p>
            <a:pPr>
              <a:lnSpc>
                <a:spcPct val="160000"/>
              </a:lnSpc>
            </a:pPr>
            <a:r>
              <a:rPr lang="zh-CN" sz="900">
                <a:solidFill>
                  <a:srgbClr val="3A4050"/>
                </a:solidFill>
                <a:latin typeface="Microsoft YaHei"/>
                <a:ea typeface="Microsoft YaHei"/>
              </a:rPr>
              <a:t>落到实现上就是一条约束：</a:t>
            </a:r>
            <a:r>
              <a:rPr lang="zh-CN" sz="900">
                <a:solidFill>
                  <a:srgbClr val="3A4050"/>
                </a:solidFill>
                <a:latin typeface="Microsoft YaHei"/>
                <a:ea typeface="Microsoft YaHei"/>
              </a:rPr>
              <a:t>任何绕过策略引擎直接读写数据的路径，都属于架构缺陷，不属于「灵活配置」</a:t>
            </a:r>
            <a:r>
              <a:rPr lang="zh-CN" sz="900">
                <a:solidFill>
                  <a:srgbClr val="3A4050"/>
                </a:solidFill>
                <a:latin typeface="Microsoft YaHei"/>
                <a:ea typeface="Microsoft YaHei"/>
              </a:rPr>
              <a:t>。</a:t>
            </a:r>
            <a:endParaRPr/>
          </a:p>
        </p:txBody>
      </p:sp>
      <p:sp>
        <p:nvSpPr>
          <p:cNvPr id="937" name=""/>
          <p:cNvSpPr/>
          <p:nvPr/>
        </p:nvSpPr>
        <p:spPr>
          <a:xfrm rot="0" flipH="0" flipV="0">
            <a:off x="6638925" y="3381375"/>
            <a:ext cx="4943475" cy="2257425"/>
          </a:xfrm>
          <a:prstGeom prst="roundRect">
            <a:avLst>
              <a:gd name="adj" fmla="val 1688"/>
            </a:avLst>
          </a:prstGeom>
          <a:solidFill>
            <a:srgbClr val="F7F7F8"/>
          </a:solidFill>
          <a:ln/>
        </p:spPr>
        <p:txBody>
          <a:bodyPr/>
          <a:p/>
        </p:txBody>
      </p:sp>
      <p:sp>
        <p:nvSpPr>
          <p:cNvPr id="938" name="" descr="{&quot;isTemplate&quot;:true,&quot;type&quot;:&quot;text&quot;}"/>
          <p:cNvSpPr txBox="1"/>
          <p:nvPr/>
        </p:nvSpPr>
        <p:spPr>
          <a:xfrm rot="0" flipH="0" flipV="0">
            <a:off x="6800850" y="3848100"/>
            <a:ext cx="4619625" cy="161925"/>
          </a:xfrm>
          <a:prstGeom prst="rect"/>
        </p:spPr>
        <p:txBody>
          <a:bodyPr wrap="none" lIns="0" tIns="0" rIns="0" bIns="0"/>
          <a:p>
            <a:pPr>
              <a:lnSpc>
                <a:spcPct val="100000"/>
              </a:lnSpc>
            </a:pPr>
            <a:r>
              <a:rPr lang="zh-CN" sz="1050" b="1">
                <a:solidFill>
                  <a:srgbClr val="0F1423"/>
                </a:solidFill>
                <a:latin typeface="Microsoft YaHei"/>
                <a:ea typeface="Microsoft YaHei"/>
              </a:rPr>
              <a:t>两条用法模式要分清</a:t>
            </a:r>
            <a:endParaRPr/>
          </a:p>
        </p:txBody>
      </p:sp>
      <p:sp>
        <p:nvSpPr>
          <p:cNvPr id="939" name=""/>
          <p:cNvSpPr/>
          <p:nvPr/>
        </p:nvSpPr>
        <p:spPr>
          <a:xfrm rot="0" flipH="0" flipV="0">
            <a:off x="6829425" y="4086225"/>
            <a:ext cx="4619625" cy="514350"/>
          </a:xfrm>
          <a:prstGeom prst="roundRect">
            <a:avLst>
              <a:gd name="adj" fmla="val 5556"/>
            </a:avLst>
          </a:prstGeom>
          <a:solidFill>
            <a:srgbClr val="FFFFFF"/>
          </a:solidFill>
          <a:ln/>
        </p:spPr>
        <p:txBody>
          <a:bodyPr/>
          <a:p/>
        </p:txBody>
      </p:sp>
      <p:sp>
        <p:nvSpPr>
          <p:cNvPr id="940" name=""/>
          <p:cNvSpPr/>
          <p:nvPr/>
        </p:nvSpPr>
        <p:spPr>
          <a:xfrm rot="0" flipH="0" flipV="0">
            <a:off x="6829425" y="4086225"/>
            <a:ext cx="4619625" cy="514350"/>
          </a:xfrm>
          <a:custGeom>
            <a:pathLst>
              <a:path w="485" h="54">
                <a:moveTo>
                  <a:pt x="3" y="54"/>
                </a:moveTo>
                <a:cubicBezTo>
                  <a:pt x="1" y="54"/>
                  <a:pt x="0" y="53"/>
                  <a:pt x="0" y="51"/>
                </a:cubicBezTo>
                <a:lnTo>
                  <a:pt x="0" y="3"/>
                </a:lnTo>
                <a:cubicBezTo>
                  <a:pt x="0" y="1"/>
                  <a:pt x="1" y="0"/>
                  <a:pt x="3" y="0"/>
                </a:cubicBezTo>
                <a:lnTo>
                  <a:pt x="3" y="54"/>
                </a:lnTo>
                <a:close/>
              </a:path>
            </a:pathLst>
          </a:custGeom>
          <a:solidFill>
            <a:srgbClr val="FA4F24"/>
          </a:solidFill>
          <a:ln/>
        </p:spPr>
        <p:txBody>
          <a:bodyPr/>
          <a:p/>
        </p:txBody>
      </p:sp>
      <p:sp>
        <p:nvSpPr>
          <p:cNvPr id="941" name="" descr="{&quot;isTemplate&quot;:true,&quot;type&quot;:&quot;text&quot;}"/>
          <p:cNvSpPr txBox="1"/>
          <p:nvPr/>
        </p:nvSpPr>
        <p:spPr>
          <a:xfrm rot="0" flipH="0" flipV="0">
            <a:off x="6924675" y="4162425"/>
            <a:ext cx="4400550" cy="142875"/>
          </a:xfrm>
          <a:prstGeom prst="rect"/>
        </p:spPr>
        <p:txBody>
          <a:bodyPr wrap="none" lIns="0" tIns="0" rIns="0" bIns="0"/>
          <a:p>
            <a:pPr>
              <a:lnSpc>
                <a:spcPct val="100000"/>
              </a:lnSpc>
            </a:pPr>
            <a:r>
              <a:rPr lang="zh-CN" sz="900" b="1">
                <a:solidFill>
                  <a:srgbClr val="0F1423"/>
                </a:solidFill>
                <a:latin typeface="Microsoft YaHei"/>
                <a:ea typeface="Microsoft YaHei"/>
              </a:rPr>
              <a:t>被动模式：记录理由后放行</a:t>
            </a:r>
            <a:endParaRPr/>
          </a:p>
        </p:txBody>
      </p:sp>
      <p:sp>
        <p:nvSpPr>
          <p:cNvPr id="942" name="" descr="{&quot;isTemplate&quot;:true,&quot;type&quot;:&quot;text&quot;}"/>
          <p:cNvSpPr txBox="1"/>
          <p:nvPr/>
        </p:nvSpPr>
        <p:spPr>
          <a:xfrm rot="0" flipH="0" flipV="0">
            <a:off x="6924675" y="4333875"/>
            <a:ext cx="4400550" cy="190500"/>
          </a:xfrm>
          <a:prstGeom prst="rect"/>
        </p:spPr>
        <p:txBody>
          <a:bodyPr wrap="none" lIns="0" tIns="0" rIns="0" bIns="0"/>
          <a:p>
            <a:pPr>
              <a:lnSpc>
                <a:spcPct val="145000"/>
              </a:lnSpc>
            </a:pPr>
            <a:r>
              <a:rPr lang="zh-CN" sz="825">
                <a:solidFill>
                  <a:srgbClr val="3A4050"/>
                </a:solidFill>
                <a:latin typeface="Microsoft YaHei"/>
                <a:ea typeface="Microsoft YaHei"/>
              </a:rPr>
              <a:t>适合常规使用，事后可审计，不阻塞业务。</a:t>
            </a:r>
            <a:endParaRPr/>
          </a:p>
        </p:txBody>
      </p:sp>
      <p:sp>
        <p:nvSpPr>
          <p:cNvPr id="943" name=""/>
          <p:cNvSpPr/>
          <p:nvPr/>
        </p:nvSpPr>
        <p:spPr>
          <a:xfrm rot="0" flipH="0" flipV="0">
            <a:off x="6829425" y="4667250"/>
            <a:ext cx="4619625" cy="514350"/>
          </a:xfrm>
          <a:prstGeom prst="roundRect">
            <a:avLst>
              <a:gd name="adj" fmla="val 5556"/>
            </a:avLst>
          </a:prstGeom>
          <a:solidFill>
            <a:srgbClr val="FFFFFF"/>
          </a:solidFill>
          <a:ln/>
        </p:spPr>
        <p:txBody>
          <a:bodyPr/>
          <a:p/>
        </p:txBody>
      </p:sp>
      <p:sp>
        <p:nvSpPr>
          <p:cNvPr id="944" name=""/>
          <p:cNvSpPr/>
          <p:nvPr/>
        </p:nvSpPr>
        <p:spPr>
          <a:xfrm rot="0" flipH="0" flipV="0">
            <a:off x="6829425" y="4667250"/>
            <a:ext cx="4619625" cy="514350"/>
          </a:xfrm>
          <a:custGeom>
            <a:pathLst>
              <a:path w="485" h="54">
                <a:moveTo>
                  <a:pt x="3" y="54"/>
                </a:moveTo>
                <a:cubicBezTo>
                  <a:pt x="1" y="54"/>
                  <a:pt x="0" y="53"/>
                  <a:pt x="0" y="51"/>
                </a:cubicBezTo>
                <a:lnTo>
                  <a:pt x="0" y="3"/>
                </a:lnTo>
                <a:cubicBezTo>
                  <a:pt x="0" y="1"/>
                  <a:pt x="1" y="0"/>
                  <a:pt x="3" y="0"/>
                </a:cubicBezTo>
                <a:lnTo>
                  <a:pt x="3" y="54"/>
                </a:lnTo>
                <a:close/>
              </a:path>
            </a:pathLst>
          </a:custGeom>
          <a:solidFill>
            <a:srgbClr val="C43A17"/>
          </a:solidFill>
          <a:ln/>
        </p:spPr>
        <p:txBody>
          <a:bodyPr/>
          <a:p/>
        </p:txBody>
      </p:sp>
      <p:sp>
        <p:nvSpPr>
          <p:cNvPr id="945" name="" descr="{&quot;isTemplate&quot;:true,&quot;type&quot;:&quot;text&quot;}"/>
          <p:cNvSpPr txBox="1"/>
          <p:nvPr/>
        </p:nvSpPr>
        <p:spPr>
          <a:xfrm rot="0" flipH="0" flipV="0">
            <a:off x="6924675" y="4743450"/>
            <a:ext cx="4400550" cy="142875"/>
          </a:xfrm>
          <a:prstGeom prst="rect"/>
        </p:spPr>
        <p:txBody>
          <a:bodyPr wrap="none" lIns="0" tIns="0" rIns="0" bIns="0"/>
          <a:p>
            <a:pPr>
              <a:lnSpc>
                <a:spcPct val="100000"/>
              </a:lnSpc>
            </a:pPr>
            <a:r>
              <a:rPr lang="zh-CN" sz="900" b="1">
                <a:solidFill>
                  <a:srgbClr val="0F1423"/>
                </a:solidFill>
                <a:latin typeface="Microsoft YaHei"/>
                <a:ea typeface="Microsoft YaHei"/>
              </a:rPr>
              <a:t>主动模式：挂起并由合规官批准</a:t>
            </a:r>
            <a:endParaRPr/>
          </a:p>
        </p:txBody>
      </p:sp>
      <p:sp>
        <p:nvSpPr>
          <p:cNvPr id="946" name="" descr="{&quot;isTemplate&quot;:true,&quot;type&quot;:&quot;text&quot;}"/>
          <p:cNvSpPr txBox="1"/>
          <p:nvPr/>
        </p:nvSpPr>
        <p:spPr>
          <a:xfrm rot="0" flipH="0" flipV="0">
            <a:off x="6924675" y="4914900"/>
            <a:ext cx="4400550" cy="190500"/>
          </a:xfrm>
          <a:prstGeom prst="rect"/>
        </p:spPr>
        <p:txBody>
          <a:bodyPr wrap="none" lIns="0" tIns="0" rIns="0" bIns="0"/>
          <a:p>
            <a:pPr>
              <a:lnSpc>
                <a:spcPct val="145000"/>
              </a:lnSpc>
            </a:pPr>
            <a:r>
              <a:rPr lang="zh-CN" sz="825">
                <a:solidFill>
                  <a:srgbClr val="3A4050"/>
                </a:solidFill>
                <a:latin typeface="Microsoft YaHei"/>
                <a:ea typeface="Microsoft YaHei"/>
              </a:rPr>
              <a:t>适合高敏感数据，会阻塞——要有</a:t>
            </a:r>
            <a:r>
              <a:rPr lang="en-US" sz="825">
                <a:solidFill>
                  <a:srgbClr val="3A4050"/>
                </a:solidFill>
                <a:latin typeface="Microsoft YaHei"/>
                <a:ea typeface="Microsoft YaHei"/>
              </a:rPr>
              <a:t xml:space="preserve"> SLA</a:t>
            </a:r>
            <a:r>
              <a:rPr lang="zh-CN" sz="825">
                <a:solidFill>
                  <a:srgbClr val="3A4050"/>
                </a:solidFill>
                <a:latin typeface="Microsoft YaHei"/>
                <a:ea typeface="Microsoft YaHei"/>
              </a:rPr>
              <a:t>，否则业务会绕道。</a:t>
            </a:r>
            <a:endParaRPr/>
          </a:p>
        </p:txBody>
      </p:sp>
      <p:sp>
        <p:nvSpPr>
          <p:cNvPr id="947"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948" name=""/>
          <p:cNvSpPr/>
          <p:nvPr/>
        </p:nvSpPr>
        <p:spPr>
          <a:xfrm rot="0" flipH="0" flipV="0">
            <a:off x="609600" y="5953125"/>
            <a:ext cx="95250" cy="95250"/>
          </a:xfrm>
          <a:prstGeom prst="rect">
            <a:avLst/>
          </a:prstGeom>
          <a:solidFill>
            <a:srgbClr val="FA4F24"/>
          </a:solidFill>
          <a:ln/>
        </p:spPr>
        <p:txBody>
          <a:bodyPr/>
          <a:p/>
        </p:txBody>
      </p:sp>
      <p:sp>
        <p:nvSpPr>
          <p:cNvPr id="949"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950"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27 / 30</a:t>
            </a:r>
            <a:endParaRPr/>
          </a:p>
        </p:txBody>
      </p:sp>
    </p:spTree>
  </p:cSld>
</p:sld>
</file>

<file path=ppt/slides/slide28.xml><?xml version="1.0" encoding="utf-8"?>
<p:sld xmlns:p="http://schemas.openxmlformats.org/presentationml/2006/main" xmlns:a="http://schemas.openxmlformats.org/drawingml/2006/main">
  <p:cSld>
    <p:spTree>
      <p:nvGrpSpPr>
        <p:cNvPr id="951" name="" descr="&lt;Slide style={{ width: 1280, height: 720, background: '#FFFFFF', padding: '24px 64px 0' }}&gt;&#10;  &lt;Box style={{ height: 96, flexDirection: 'column', justifyContent: 'flex-start' }}&gt;&#10;    &lt;Text style={{ fontSize: 32, fontWeight: 'bold', color: '#0F1423' }}&gt;&#10;      TA 层：策略引擎、审计存储与&lt;span style={{ color: '#FA4F24' }}&gt;策略即代码&lt;/span&gt;&#10;    &lt;/Text&gt;&#10;    &lt;Text style={{ fontSize: 20, color: '#8A8F99', marginTop: 8 }}&gt;&#10;      治理引擎跑在热路径上：它每一次判定都必须可解释、可回放、可回滚&#10;    &lt;/Text&gt;&#10;  &lt;/Box&gt;&#10;  &lt;Box style={{ height: 1, background: '#E8E8E8' }} /&gt;&#10;&#10;  &lt;Box style={{ paddingTop: 14, paddingBottom: 8, height: 479, flexDirection: 'column', gap: 10 }}&gt;&#10;    &lt;Box style={{ height: 285, flexDirection: 'row', gap: 10 }}&gt;&#10;      &lt;Box style={{ flex: 1.1, background: '#0F1423', borderRadius: 4, padding: '13px 16px', flexDirection: 'column' }}&gt;&#10;        &lt;Text style={{ fontSize: 14, fontWeight: 'bold', color: '#FBA15C' }}&gt;四种控制的融合：各管一段，不可互相替代&lt;/Text&gt;&#10;        &lt;Box style={{ flex: 1, marginTop: 10, flexDirection: 'column', gap: 6 }}&gt;&#10;          {[&#10;            { k: 'RBAC', v: '只适合功能权限（能不能点这个按钮），不适合数据可见性。' },&#10;            { k: 'MAC', v: '标记强制控制，数据自带密级，与用户无关——这一层最容易被误当成 RBAC。' },&#10;            { k: 'ABAC', v: '受限视图与精确策略，按行按列动态判定；精确策略比较权重上限 10,000。' },&#10;            { k: 'PBAC', v: '检查点做用途控制；被动记录理由放行，主动挂起等批准。' },&#10;          ].map((x) =&gt; (&#10;            &lt;Box key={x.k} style={{ flexDirection: 'row', gap: 8, alignItems: 'flex-start' }}&gt;&#10;              &lt;Box style={{ width: 44, background: 'rgba(250,79,36,0.22)', borderRadius: 3, padding: '4px 0', alignItems: 'center' }}&gt;&#10;                &lt;Text style={{ fontSize: 11, fontWeight: 'bold', color: '#FBA15C' }}&gt;{x.k}&lt;/Text&gt;&#10;              &lt;/Box&gt;&#10;              &lt;Text style={{ fontSize: 11.5, color: 'rgba(255,255,255,0.82)', flex: 1, lineHeight: 1.5, marginTop: 2 }}&gt;{x.v}&lt;/Text&gt;&#10;            &lt;/Box&gt;&#10;          ))}&#10;        &lt;/Box&gt;&#10;        &lt;Box style={{ marginTop: 9, background: 'rgba(250,79,36,0.18)', borderRadius: 3, padding: '8px 11px' }}&gt;&#10;          &lt;Text style={{ fontSize: 11, color: 'rgba(255,255,255,0.9)', lineHeight: 1.45 }}&gt;&#10;            物化权限取最严格者：四种控制同时命中时，不做加法，做&lt;tspan style={{ fontWeight: 'bold', color: '#FBA15C' }}&gt;取严&lt;/tspan&gt;。&#10;          &lt;/Text&gt;&#10;        &lt;/Box&gt;&#10;      &lt;/Box&gt;&#10;&#10;      &lt;Box style={{ flex: 1, background: '#FFF3EE', borderRadius: 4, padding: '13px 16px', flexDirection: 'column' }}&gt;&#10;        &lt;Text style={{ fontSize: 14, fontWeight: 'bold', color: '#C43A17' }}&gt;功能性加密：Cipher 三层&lt;/Text&gt;&#10;        &lt;Box style={{ flexDirection: 'column', gap: 6, marginTop: 9 }}&gt;&#10;          {[&#10;            { k: 'Cipher Channel', v: '把某个业务对象整体放进密级通道，访问需授权。' },&#10;            { k: 'Cipher License', v: '访问凭证，明确这次访问是为什么、被谁授予的。' },&#10;            { k: 'Cipher Value', v: '值级加密，支持同一行的不同字段处于不同密级。' },&#10;          ].map((x) =&gt; (&#10;            &lt;Box key={x.k} style={{ background: '#FFFFFF', borderRadius: 3, borderLeft: '3px solid #FBA15C', padding: '8px 10px' }}&gt;&#10;              &lt;Text style={{ fontSize: 12, fontWeight: 'bold', color: '#0F1423' }}&gt;{x.k}&lt;/Text&gt;&#10;              &lt;Text style={{ fontSize: 11, color: '#3A4050', marginTop: 3, lineHeight: 1.45 }}&gt;{x.v}&lt;/Text&gt;&#10;            &lt;/Box&gt;&#10;          ))}&#10;        &lt;/Box&gt;&#10;        &lt;Text style={{ fontSize: 11, color: '#3A4050', marginTop: 9, lineHeight: 1.45 }}&gt;&#10;          图像也能保护——用可逆像素扰乱，脱敏不是「打码」，打码不可逆。&#10;        &lt;/Text&gt;&#10;      &lt;/Box&gt;&#10;&#10;      &lt;Box style={{ flex: 1, background: '#FFFFFF', border: '1px solid #E8E8E8', borderRadius: 4, padding: '13px 16px', flexDirection: 'column', justifyContent: 'center' }}&gt;&#10;        &lt;Text style={{ fontSize: 14, fontWeight: 'bold', color: '#0F1423' }}&gt;策略即代码的四条要求&lt;/Text&gt;&#10;        &lt;Box style={{ flexDirection: 'column', gap: 7, marginTop: 9 }}&gt;&#10;          {[&#10;            '策略可版本化：谁在什么时候改了哪条策略，可比对、可回滚。',&#10;            '策略可测试：先在测试策略环境验证，再推生产——测试策略本身已GA。',&#10;            '策略可回放：拿一条历史事务，能重放出当时的判定结果。',&#10;            '策略可导出：控制台配的策略要能导出成代码进仓库，避免只在数据库里。',&#10;          ].map((t) =&gt; (&#10;            &lt;Text key={t} style={{ fontSize: 11.5, color: '#3A4050', lineHeight: 1.5 }}&gt;· {t}&lt;/Text&gt;&#10;          ))}&#10;        &lt;/Box&gt;&#10;        &lt;Box style={{ marginTop: 9, background: '#F7F7F8', borderRadius: 3, padding: '8px 10px' }}&gt;&#10;          &lt;Text style={{ fontSize: 11, color: '#3A4050', lineHeight: 1.45 }}&gt;&#10;            已知限制要交代清楚：派生属性的可见性无法测试。从受限视图迁移到精确策略时，要留观察期。&#10;          &lt;/Text&gt;&#10;        &lt;/Box&gt;&#10;      &lt;/Box&gt;&#10;    &lt;/Box&gt;&#10;&#10;    &lt;Box style={{ flex: 1, background: '#F7F7F8', borderRadius: 4, padding: '12px 18px', flexDirection: 'row', alignItems: 'center', gap: 14 }}&gt;&#10;      &lt;Text style={{ fontSize: 14, fontWeight: 'bold', color: '#0F1423' }}&gt;TA 层的三条非功能底线&lt;/Text&gt;&#10;      {[&#10;        { t: '审计存储不可篡改', d: '动作日志只允许追加，不允许改与删' },&#10;        { t: '引擎不成为单点', d: '策略判定失败时的默认行为是拒绝，不是放行' },&#10;        { t: '敏感信息不落日志', d: '审计记「谁访问了哪类数据」，不记具体内容' },&#10;      ].map((x) =&gt; (&#10;        &lt;Box key={x.t} style={{ flex: 1, background: '#FFFFFF', borderRadius: 3, borderLeft: '3px solid #FA4F24', padding: '10px 12px' }}&gt;&#10;          &lt;Text style={{ fontSize: 12.5, fontWeight: 'bold', color: '#0F1423' }}&gt;{x.t}&lt;/Text&gt;&#10;          &lt;Text style={{ fontSize: 11, color: '#3A4050', marginTop: 4, lineHeight: 1.45 }}&gt;{x.d}&lt;/Text&gt;&#10;        &lt;/Box&gt;&#10;      ))}&#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28 / 30&lt;/Text&gt;&#10;  &lt;/Box&gt;&#10;&lt;/Slide&gt;"/>
        <p:cNvGrpSpPr/>
        <p:nvPr/>
      </p:nvGrpSpPr>
      <p:grpSpPr>
        <a:xfrm>
          <a:off x="0" y="0"/>
          <a:ext cx="0" cy="0"/>
          <a:chOff x="0" y="0"/>
          <a:chExt cx="0" cy="0"/>
        </a:xfrm>
      </p:grpSpPr>
      <p:sp>
        <p:nvSpPr>
          <p:cNvPr id="952" name=""/>
          <p:cNvSpPr/>
          <p:nvPr/>
        </p:nvSpPr>
        <p:spPr>
          <a:xfrm rot="0" flipH="0" flipV="0">
            <a:off x="0" y="0"/>
            <a:ext cx="12192000" cy="6858000"/>
          </a:xfrm>
          <a:prstGeom prst="rect">
            <a:avLst/>
          </a:prstGeom>
          <a:solidFill>
            <a:srgbClr val="FFFFFF"/>
          </a:solidFill>
          <a:ln/>
        </p:spPr>
        <p:txBody>
          <a:bodyPr/>
          <a:p/>
        </p:txBody>
      </p:sp>
      <p:sp>
        <p:nvSpPr>
          <p:cNvPr id="953"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en-US" sz="2400" b="1">
                <a:solidFill>
                  <a:srgbClr val="0F1423"/>
                </a:solidFill>
                <a:latin typeface="Microsoft YaHei"/>
                <a:ea typeface="Microsoft YaHei"/>
              </a:rPr>
              <a:t xml:space="preserve">TA </a:t>
            </a:r>
            <a:r>
              <a:rPr lang="zh-CN" sz="2400" b="1">
                <a:solidFill>
                  <a:srgbClr val="0F1423"/>
                </a:solidFill>
                <a:latin typeface="Microsoft YaHei"/>
                <a:ea typeface="Microsoft YaHei"/>
              </a:rPr>
              <a:t>层：策略引擎、审计存储与</a:t>
            </a:r>
            <a:r>
              <a:rPr lang="zh-CN" sz="2400" b="1">
                <a:solidFill>
                  <a:srgbClr val="FA4F24"/>
                </a:solidFill>
                <a:latin typeface="Microsoft YaHei"/>
                <a:ea typeface="Microsoft YaHei"/>
              </a:rPr>
              <a:t>策略即代码</a:t>
            </a:r>
            <a:endParaRPr/>
          </a:p>
        </p:txBody>
      </p:sp>
      <p:sp>
        <p:nvSpPr>
          <p:cNvPr id="954"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治理引擎跑在热路径上：它每一次判定都必须可解释、可回放、可回滚</a:t>
            </a:r>
            <a:endParaRPr/>
          </a:p>
        </p:txBody>
      </p:sp>
      <p:sp>
        <p:nvSpPr>
          <p:cNvPr id="955" name=""/>
          <p:cNvSpPr/>
          <p:nvPr/>
        </p:nvSpPr>
        <p:spPr>
          <a:xfrm rot="0" flipH="0" flipV="0">
            <a:off x="609600" y="1143000"/>
            <a:ext cx="10972800" cy="9525"/>
          </a:xfrm>
          <a:prstGeom prst="rect">
            <a:avLst/>
          </a:prstGeom>
          <a:solidFill>
            <a:srgbClr val="E8E8E8"/>
          </a:solidFill>
          <a:ln/>
        </p:spPr>
        <p:txBody>
          <a:bodyPr/>
          <a:p/>
        </p:txBody>
      </p:sp>
      <p:sp>
        <p:nvSpPr>
          <p:cNvPr id="956" name=""/>
          <p:cNvSpPr/>
          <p:nvPr/>
        </p:nvSpPr>
        <p:spPr>
          <a:xfrm rot="0" flipH="0" flipV="0">
            <a:off x="609600" y="1285875"/>
            <a:ext cx="3829050" cy="2714625"/>
          </a:xfrm>
          <a:prstGeom prst="roundRect">
            <a:avLst>
              <a:gd name="adj" fmla="val 1404"/>
            </a:avLst>
          </a:prstGeom>
          <a:solidFill>
            <a:srgbClr val="0F1423"/>
          </a:solidFill>
          <a:ln/>
        </p:spPr>
        <p:txBody>
          <a:bodyPr/>
          <a:p/>
        </p:txBody>
      </p:sp>
      <p:sp>
        <p:nvSpPr>
          <p:cNvPr id="957" name="" descr="{&quot;isTemplate&quot;:true,&quot;type&quot;:&quot;text&quot;}"/>
          <p:cNvSpPr txBox="1"/>
          <p:nvPr/>
        </p:nvSpPr>
        <p:spPr>
          <a:xfrm rot="0" flipH="0" flipV="0">
            <a:off x="762000" y="1409700"/>
            <a:ext cx="3524250" cy="161925"/>
          </a:xfrm>
          <a:prstGeom prst="rect"/>
        </p:spPr>
        <p:txBody>
          <a:bodyPr wrap="none" lIns="0" tIns="0" rIns="0" bIns="0"/>
          <a:p>
            <a:pPr>
              <a:lnSpc>
                <a:spcPct val="100000"/>
              </a:lnSpc>
            </a:pPr>
            <a:r>
              <a:rPr lang="zh-CN" sz="1050" b="1">
                <a:solidFill>
                  <a:srgbClr val="FBA15C"/>
                </a:solidFill>
                <a:latin typeface="Microsoft YaHei"/>
                <a:ea typeface="Microsoft YaHei"/>
              </a:rPr>
              <a:t>四种控制的融合：各管一段，不可互相替代</a:t>
            </a:r>
            <a:endParaRPr/>
          </a:p>
        </p:txBody>
      </p:sp>
      <p:sp>
        <p:nvSpPr>
          <p:cNvPr id="958" name=""/>
          <p:cNvSpPr/>
          <p:nvPr/>
        </p:nvSpPr>
        <p:spPr>
          <a:xfrm rot="0" flipH="0" flipV="0">
            <a:off x="762000" y="1666875"/>
            <a:ext cx="419100" cy="209550"/>
          </a:xfrm>
          <a:prstGeom prst="roundRect">
            <a:avLst>
              <a:gd name="adj" fmla="val 13636"/>
            </a:avLst>
          </a:prstGeom>
          <a:solidFill>
            <a:srgbClr val="FA4F24">
              <a:alpha val="22000"/>
            </a:srgbClr>
          </a:solidFill>
          <a:ln/>
        </p:spPr>
        <p:txBody>
          <a:bodyPr/>
          <a:p/>
        </p:txBody>
      </p:sp>
      <p:sp>
        <p:nvSpPr>
          <p:cNvPr id="959" name="" descr="{&quot;isTemplate&quot;:true,&quot;type&quot;:&quot;text&quot;}"/>
          <p:cNvSpPr txBox="1"/>
          <p:nvPr/>
        </p:nvSpPr>
        <p:spPr>
          <a:xfrm rot="0" flipH="0" flipV="0">
            <a:off x="828675" y="1704975"/>
            <a:ext cx="295275" cy="133350"/>
          </a:xfrm>
          <a:prstGeom prst="rect"/>
        </p:spPr>
        <p:txBody>
          <a:bodyPr wrap="none" lIns="0" tIns="0" rIns="0" bIns="0"/>
          <a:p>
            <a:pPr>
              <a:lnSpc>
                <a:spcPct val="100000"/>
              </a:lnSpc>
            </a:pPr>
            <a:r>
              <a:rPr lang="en-US" sz="825" b="1">
                <a:solidFill>
                  <a:srgbClr val="FBA15C"/>
                </a:solidFill>
                <a:latin typeface="Microsoft YaHei"/>
                <a:ea typeface="Microsoft YaHei"/>
              </a:rPr>
              <a:t>RBAC</a:t>
            </a:r>
            <a:endParaRPr/>
          </a:p>
        </p:txBody>
      </p:sp>
      <p:sp>
        <p:nvSpPr>
          <p:cNvPr id="960" name="" descr="{&quot;isTemplate&quot;:true,&quot;type&quot;:&quot;text&quot;}"/>
          <p:cNvSpPr txBox="1"/>
          <p:nvPr/>
        </p:nvSpPr>
        <p:spPr>
          <a:xfrm rot="0" flipH="0" flipV="0">
            <a:off x="1257300" y="1685925"/>
            <a:ext cx="3028950" cy="200025"/>
          </a:xfrm>
          <a:prstGeom prst="rect"/>
        </p:spPr>
        <p:txBody>
          <a:bodyPr wrap="none" lIns="0" tIns="0" rIns="0" bIns="0"/>
          <a:p>
            <a:pPr>
              <a:lnSpc>
                <a:spcPct val="150000"/>
              </a:lnSpc>
            </a:pPr>
            <a:r>
              <a:rPr lang="zh-CN" sz="863">
                <a:solidFill>
                  <a:srgbClr val="FFFFFF">
                    <a:alpha val="82000"/>
                  </a:srgbClr>
                </a:solidFill>
                <a:latin typeface="Microsoft YaHei"/>
                <a:ea typeface="Microsoft YaHei"/>
              </a:rPr>
              <a:t>只适合功能权限（能不能点这个按钮），不适合数据可见性。</a:t>
            </a:r>
            <a:endParaRPr/>
          </a:p>
        </p:txBody>
      </p:sp>
      <p:sp>
        <p:nvSpPr>
          <p:cNvPr id="961" name=""/>
          <p:cNvSpPr/>
          <p:nvPr/>
        </p:nvSpPr>
        <p:spPr>
          <a:xfrm rot="0" flipH="0" flipV="0">
            <a:off x="762000" y="1943100"/>
            <a:ext cx="419100" cy="209550"/>
          </a:xfrm>
          <a:prstGeom prst="roundRect">
            <a:avLst>
              <a:gd name="adj" fmla="val 13636"/>
            </a:avLst>
          </a:prstGeom>
          <a:solidFill>
            <a:srgbClr val="FA4F24">
              <a:alpha val="22000"/>
            </a:srgbClr>
          </a:solidFill>
          <a:ln/>
        </p:spPr>
        <p:txBody>
          <a:bodyPr/>
          <a:p/>
        </p:txBody>
      </p:sp>
      <p:sp>
        <p:nvSpPr>
          <p:cNvPr id="962" name="" descr="{&quot;isTemplate&quot;:true,&quot;type&quot;:&quot;text&quot;}"/>
          <p:cNvSpPr txBox="1"/>
          <p:nvPr/>
        </p:nvSpPr>
        <p:spPr>
          <a:xfrm rot="0" flipH="0" flipV="0">
            <a:off x="847725" y="1981200"/>
            <a:ext cx="257175" cy="133350"/>
          </a:xfrm>
          <a:prstGeom prst="rect"/>
        </p:spPr>
        <p:txBody>
          <a:bodyPr wrap="none" lIns="0" tIns="0" rIns="0" bIns="0"/>
          <a:p>
            <a:pPr>
              <a:lnSpc>
                <a:spcPct val="100000"/>
              </a:lnSpc>
            </a:pPr>
            <a:r>
              <a:rPr lang="en-US" sz="825" b="1">
                <a:solidFill>
                  <a:srgbClr val="FBA15C"/>
                </a:solidFill>
                <a:latin typeface="Microsoft YaHei"/>
                <a:ea typeface="Microsoft YaHei"/>
              </a:rPr>
              <a:t>MAC</a:t>
            </a:r>
            <a:endParaRPr/>
          </a:p>
        </p:txBody>
      </p:sp>
      <p:sp>
        <p:nvSpPr>
          <p:cNvPr id="963" name="" descr="{&quot;isTemplate&quot;:true,&quot;type&quot;:&quot;text&quot;}"/>
          <p:cNvSpPr txBox="1"/>
          <p:nvPr/>
        </p:nvSpPr>
        <p:spPr>
          <a:xfrm rot="0" flipH="0" flipV="0">
            <a:off x="1257300" y="1962150"/>
            <a:ext cx="3028950" cy="400050"/>
          </a:xfrm>
          <a:prstGeom prst="rect"/>
        </p:spPr>
        <p:txBody>
          <a:bodyPr wrap="square" lIns="0" tIns="0" rIns="0" bIns="0">
            <a:normAutofit/>
          </a:bodyPr>
          <a:p>
            <a:pPr>
              <a:lnSpc>
                <a:spcPct val="150000"/>
              </a:lnSpc>
            </a:pPr>
            <a:r>
              <a:rPr lang="zh-CN" sz="863">
                <a:solidFill>
                  <a:srgbClr val="FFFFFF">
                    <a:alpha val="82000"/>
                  </a:srgbClr>
                </a:solidFill>
                <a:latin typeface="Microsoft YaHei"/>
                <a:ea typeface="Microsoft YaHei"/>
              </a:rPr>
              <a:t>标记强制控制，数据自带密级，与用户无关——这一层最容易被误当成</a:t>
            </a:r>
            <a:r>
              <a:rPr lang="en-US" sz="863">
                <a:solidFill>
                  <a:srgbClr val="FFFFFF">
                    <a:alpha val="82000"/>
                  </a:srgbClr>
                </a:solidFill>
                <a:latin typeface="Microsoft YaHei"/>
                <a:ea typeface="Microsoft YaHei"/>
              </a:rPr>
              <a:t xml:space="preserve"> RBAC</a:t>
            </a:r>
            <a:r>
              <a:rPr lang="zh-CN" sz="863">
                <a:solidFill>
                  <a:srgbClr val="FFFFFF">
                    <a:alpha val="82000"/>
                  </a:srgbClr>
                </a:solidFill>
                <a:latin typeface="Microsoft YaHei"/>
                <a:ea typeface="Microsoft YaHei"/>
              </a:rPr>
              <a:t>。</a:t>
            </a:r>
            <a:endParaRPr/>
          </a:p>
        </p:txBody>
      </p:sp>
      <p:sp>
        <p:nvSpPr>
          <p:cNvPr id="964" name=""/>
          <p:cNvSpPr/>
          <p:nvPr/>
        </p:nvSpPr>
        <p:spPr>
          <a:xfrm rot="0" flipH="0" flipV="0">
            <a:off x="762000" y="2419350"/>
            <a:ext cx="419100" cy="209550"/>
          </a:xfrm>
          <a:prstGeom prst="roundRect">
            <a:avLst>
              <a:gd name="adj" fmla="val 13636"/>
            </a:avLst>
          </a:prstGeom>
          <a:solidFill>
            <a:srgbClr val="FA4F24">
              <a:alpha val="22000"/>
            </a:srgbClr>
          </a:solidFill>
          <a:ln/>
        </p:spPr>
        <p:txBody>
          <a:bodyPr/>
          <a:p/>
        </p:txBody>
      </p:sp>
      <p:sp>
        <p:nvSpPr>
          <p:cNvPr id="965" name="" descr="{&quot;isTemplate&quot;:true,&quot;type&quot;:&quot;text&quot;}"/>
          <p:cNvSpPr txBox="1"/>
          <p:nvPr/>
        </p:nvSpPr>
        <p:spPr>
          <a:xfrm rot="0" flipH="0" flipV="0">
            <a:off x="819150" y="2457450"/>
            <a:ext cx="304800" cy="133350"/>
          </a:xfrm>
          <a:prstGeom prst="rect"/>
        </p:spPr>
        <p:txBody>
          <a:bodyPr wrap="none" lIns="0" tIns="0" rIns="0" bIns="0"/>
          <a:p>
            <a:pPr>
              <a:lnSpc>
                <a:spcPct val="100000"/>
              </a:lnSpc>
            </a:pPr>
            <a:r>
              <a:rPr lang="en-US" sz="825" b="1">
                <a:solidFill>
                  <a:srgbClr val="FBA15C"/>
                </a:solidFill>
                <a:latin typeface="Microsoft YaHei"/>
                <a:ea typeface="Microsoft YaHei"/>
              </a:rPr>
              <a:t>ABAC</a:t>
            </a:r>
            <a:endParaRPr/>
          </a:p>
        </p:txBody>
      </p:sp>
      <p:sp>
        <p:nvSpPr>
          <p:cNvPr id="966" name="" descr="{&quot;isTemplate&quot;:true,&quot;type&quot;:&quot;text&quot;}"/>
          <p:cNvSpPr txBox="1"/>
          <p:nvPr/>
        </p:nvSpPr>
        <p:spPr>
          <a:xfrm rot="0" flipH="0" flipV="0">
            <a:off x="1257300" y="2438400"/>
            <a:ext cx="3028950" cy="400050"/>
          </a:xfrm>
          <a:prstGeom prst="rect"/>
        </p:spPr>
        <p:txBody>
          <a:bodyPr wrap="square" lIns="0" tIns="0" rIns="0" bIns="0">
            <a:normAutofit/>
          </a:bodyPr>
          <a:p>
            <a:pPr>
              <a:lnSpc>
                <a:spcPct val="150000"/>
              </a:lnSpc>
            </a:pPr>
            <a:r>
              <a:rPr lang="zh-CN" sz="863">
                <a:solidFill>
                  <a:srgbClr val="FFFFFF">
                    <a:alpha val="82000"/>
                  </a:srgbClr>
                </a:solidFill>
                <a:latin typeface="Microsoft YaHei"/>
                <a:ea typeface="Microsoft YaHei"/>
              </a:rPr>
              <a:t>受限视图与精确策略，按行按列动态判定；精确策略比较权重上限</a:t>
            </a:r>
            <a:r>
              <a:rPr lang="en-US" sz="863">
                <a:solidFill>
                  <a:srgbClr val="FFFFFF">
                    <a:alpha val="82000"/>
                  </a:srgbClr>
                </a:solidFill>
                <a:latin typeface="Microsoft YaHei"/>
                <a:ea typeface="Microsoft YaHei"/>
              </a:rPr>
              <a:t xml:space="preserve"> 10,000</a:t>
            </a:r>
            <a:r>
              <a:rPr lang="zh-CN" sz="863">
                <a:solidFill>
                  <a:srgbClr val="FFFFFF">
                    <a:alpha val="82000"/>
                  </a:srgbClr>
                </a:solidFill>
                <a:latin typeface="Microsoft YaHei"/>
                <a:ea typeface="Microsoft YaHei"/>
              </a:rPr>
              <a:t>。</a:t>
            </a:r>
            <a:endParaRPr/>
          </a:p>
        </p:txBody>
      </p:sp>
      <p:sp>
        <p:nvSpPr>
          <p:cNvPr id="967" name=""/>
          <p:cNvSpPr/>
          <p:nvPr/>
        </p:nvSpPr>
        <p:spPr>
          <a:xfrm rot="0" flipH="0" flipV="0">
            <a:off x="762000" y="2895600"/>
            <a:ext cx="419100" cy="209550"/>
          </a:xfrm>
          <a:prstGeom prst="roundRect">
            <a:avLst>
              <a:gd name="adj" fmla="val 13636"/>
            </a:avLst>
          </a:prstGeom>
          <a:solidFill>
            <a:srgbClr val="FA4F24">
              <a:alpha val="22000"/>
            </a:srgbClr>
          </a:solidFill>
          <a:ln/>
        </p:spPr>
        <p:txBody>
          <a:bodyPr/>
          <a:p/>
        </p:txBody>
      </p:sp>
      <p:sp>
        <p:nvSpPr>
          <p:cNvPr id="968" name="" descr="{&quot;isTemplate&quot;:true,&quot;type&quot;:&quot;text&quot;}"/>
          <p:cNvSpPr txBox="1"/>
          <p:nvPr/>
        </p:nvSpPr>
        <p:spPr>
          <a:xfrm rot="0" flipH="0" flipV="0">
            <a:off x="828675" y="2933700"/>
            <a:ext cx="295275" cy="133350"/>
          </a:xfrm>
          <a:prstGeom prst="rect"/>
        </p:spPr>
        <p:txBody>
          <a:bodyPr wrap="none" lIns="0" tIns="0" rIns="0" bIns="0"/>
          <a:p>
            <a:pPr>
              <a:lnSpc>
                <a:spcPct val="100000"/>
              </a:lnSpc>
            </a:pPr>
            <a:r>
              <a:rPr lang="en-US" sz="825" b="1">
                <a:solidFill>
                  <a:srgbClr val="FBA15C"/>
                </a:solidFill>
                <a:latin typeface="Microsoft YaHei"/>
                <a:ea typeface="Microsoft YaHei"/>
              </a:rPr>
              <a:t>PBAC</a:t>
            </a:r>
            <a:endParaRPr/>
          </a:p>
        </p:txBody>
      </p:sp>
      <p:sp>
        <p:nvSpPr>
          <p:cNvPr id="969" name="" descr="{&quot;isTemplate&quot;:true,&quot;type&quot;:&quot;text&quot;}"/>
          <p:cNvSpPr txBox="1"/>
          <p:nvPr/>
        </p:nvSpPr>
        <p:spPr>
          <a:xfrm rot="0" flipH="0" flipV="0">
            <a:off x="1257300" y="2914650"/>
            <a:ext cx="3028950" cy="200025"/>
          </a:xfrm>
          <a:prstGeom prst="rect"/>
        </p:spPr>
        <p:txBody>
          <a:bodyPr wrap="none" lIns="0" tIns="0" rIns="0" bIns="0"/>
          <a:p>
            <a:pPr>
              <a:lnSpc>
                <a:spcPct val="150000"/>
              </a:lnSpc>
            </a:pPr>
            <a:r>
              <a:rPr lang="zh-CN" sz="863">
                <a:solidFill>
                  <a:srgbClr val="FFFFFF">
                    <a:alpha val="82000"/>
                  </a:srgbClr>
                </a:solidFill>
                <a:latin typeface="Microsoft YaHei"/>
                <a:ea typeface="Microsoft YaHei"/>
              </a:rPr>
              <a:t>检查点做用途控制；被动记录理由放行，主动挂起等批准。</a:t>
            </a:r>
            <a:endParaRPr/>
          </a:p>
        </p:txBody>
      </p:sp>
      <p:sp>
        <p:nvSpPr>
          <p:cNvPr id="970" name=""/>
          <p:cNvSpPr/>
          <p:nvPr/>
        </p:nvSpPr>
        <p:spPr>
          <a:xfrm rot="0" flipH="0" flipV="0">
            <a:off x="762000" y="3533775"/>
            <a:ext cx="3524250" cy="342900"/>
          </a:xfrm>
          <a:prstGeom prst="roundRect">
            <a:avLst>
              <a:gd name="adj" fmla="val 8333"/>
            </a:avLst>
          </a:prstGeom>
          <a:solidFill>
            <a:srgbClr val="FA4F24">
              <a:alpha val="18000"/>
            </a:srgbClr>
          </a:solidFill>
          <a:ln/>
        </p:spPr>
        <p:txBody>
          <a:bodyPr/>
          <a:p/>
        </p:txBody>
      </p:sp>
      <p:sp>
        <p:nvSpPr>
          <p:cNvPr id="971" name="" descr="{&quot;isTemplate&quot;:true,&quot;type&quot;:&quot;text&quot;}"/>
          <p:cNvSpPr txBox="1"/>
          <p:nvPr/>
        </p:nvSpPr>
        <p:spPr>
          <a:xfrm rot="0" flipH="0" flipV="0">
            <a:off x="866775" y="3609975"/>
            <a:ext cx="3314700" cy="190500"/>
          </a:xfrm>
          <a:prstGeom prst="rect"/>
        </p:spPr>
        <p:txBody>
          <a:bodyPr wrap="none" lIns="0" tIns="0" rIns="0" bIns="0"/>
          <a:p>
            <a:pPr>
              <a:lnSpc>
                <a:spcPct val="145000"/>
              </a:lnSpc>
            </a:pPr>
            <a:r>
              <a:rPr lang="zh-CN" sz="825">
                <a:solidFill>
                  <a:srgbClr val="FFFFFF">
                    <a:alpha val="90000"/>
                  </a:srgbClr>
                </a:solidFill>
                <a:latin typeface="Microsoft YaHei"/>
                <a:ea typeface="Microsoft YaHei"/>
              </a:rPr>
              <a:t>物化权限取最严格者：四种控制同时命中时，不做加法，做</a:t>
            </a:r>
            <a:r>
              <a:rPr lang="zh-CN" sz="825">
                <a:solidFill>
                  <a:srgbClr val="FFFFFF">
                    <a:alpha val="90000"/>
                  </a:srgbClr>
                </a:solidFill>
                <a:latin typeface="Microsoft YaHei"/>
                <a:ea typeface="Microsoft YaHei"/>
              </a:rPr>
              <a:t>取严</a:t>
            </a:r>
            <a:r>
              <a:rPr lang="zh-CN" sz="825">
                <a:solidFill>
                  <a:srgbClr val="FFFFFF">
                    <a:alpha val="90000"/>
                  </a:srgbClr>
                </a:solidFill>
                <a:latin typeface="Microsoft YaHei"/>
                <a:ea typeface="Microsoft YaHei"/>
              </a:rPr>
              <a:t>。</a:t>
            </a:r>
            <a:endParaRPr/>
          </a:p>
        </p:txBody>
      </p:sp>
      <p:sp>
        <p:nvSpPr>
          <p:cNvPr id="972" name=""/>
          <p:cNvSpPr/>
          <p:nvPr/>
        </p:nvSpPr>
        <p:spPr>
          <a:xfrm rot="0" flipH="0" flipV="0">
            <a:off x="4533900" y="1285875"/>
            <a:ext cx="3476625" cy="2714625"/>
          </a:xfrm>
          <a:prstGeom prst="roundRect">
            <a:avLst>
              <a:gd name="adj" fmla="val 1404"/>
            </a:avLst>
          </a:prstGeom>
          <a:solidFill>
            <a:srgbClr val="FFF3EE"/>
          </a:solidFill>
          <a:ln/>
        </p:spPr>
        <p:txBody>
          <a:bodyPr/>
          <a:p/>
        </p:txBody>
      </p:sp>
      <p:sp>
        <p:nvSpPr>
          <p:cNvPr id="973" name="" descr="{&quot;isTemplate&quot;:true,&quot;type&quot;:&quot;text&quot;}"/>
          <p:cNvSpPr txBox="1"/>
          <p:nvPr/>
        </p:nvSpPr>
        <p:spPr>
          <a:xfrm rot="0" flipH="0" flipV="0">
            <a:off x="4686300" y="1409700"/>
            <a:ext cx="3171825" cy="161925"/>
          </a:xfrm>
          <a:prstGeom prst="rect"/>
        </p:spPr>
        <p:txBody>
          <a:bodyPr wrap="none" lIns="0" tIns="0" rIns="0" bIns="0"/>
          <a:p>
            <a:pPr>
              <a:lnSpc>
                <a:spcPct val="100000"/>
              </a:lnSpc>
            </a:pPr>
            <a:r>
              <a:rPr lang="zh-CN" sz="1050" b="1">
                <a:solidFill>
                  <a:srgbClr val="C43A17"/>
                </a:solidFill>
                <a:latin typeface="Microsoft YaHei"/>
                <a:ea typeface="Microsoft YaHei"/>
              </a:rPr>
              <a:t>功能性加密：</a:t>
            </a:r>
            <a:r>
              <a:rPr lang="en-US" sz="1050" b="1">
                <a:solidFill>
                  <a:srgbClr val="C43A17"/>
                </a:solidFill>
                <a:latin typeface="Microsoft YaHei"/>
                <a:ea typeface="Microsoft YaHei"/>
              </a:rPr>
              <a:t xml:space="preserve">Cipher </a:t>
            </a:r>
            <a:r>
              <a:rPr lang="zh-CN" sz="1050" b="1">
                <a:solidFill>
                  <a:srgbClr val="C43A17"/>
                </a:solidFill>
                <a:latin typeface="Microsoft YaHei"/>
                <a:ea typeface="Microsoft YaHei"/>
              </a:rPr>
              <a:t>三层</a:t>
            </a:r>
            <a:endParaRPr/>
          </a:p>
        </p:txBody>
      </p:sp>
      <p:sp>
        <p:nvSpPr>
          <p:cNvPr id="974" name=""/>
          <p:cNvSpPr/>
          <p:nvPr/>
        </p:nvSpPr>
        <p:spPr>
          <a:xfrm rot="0" flipH="0" flipV="0">
            <a:off x="4714875" y="1657350"/>
            <a:ext cx="3171825" cy="514350"/>
          </a:xfrm>
          <a:prstGeom prst="roundRect">
            <a:avLst>
              <a:gd name="adj" fmla="val 5556"/>
            </a:avLst>
          </a:prstGeom>
          <a:solidFill>
            <a:srgbClr val="FFFFFF"/>
          </a:solidFill>
          <a:ln/>
        </p:spPr>
        <p:txBody>
          <a:bodyPr/>
          <a:p/>
        </p:txBody>
      </p:sp>
      <p:sp>
        <p:nvSpPr>
          <p:cNvPr id="975" name=""/>
          <p:cNvSpPr/>
          <p:nvPr/>
        </p:nvSpPr>
        <p:spPr>
          <a:xfrm rot="0" flipH="0" flipV="0">
            <a:off x="4714875" y="1657350"/>
            <a:ext cx="3171825" cy="514350"/>
          </a:xfrm>
          <a:custGeom>
            <a:pathLst>
              <a:path w="333" h="54">
                <a:moveTo>
                  <a:pt x="3" y="54"/>
                </a:moveTo>
                <a:cubicBezTo>
                  <a:pt x="1" y="54"/>
                  <a:pt x="0" y="53"/>
                  <a:pt x="0" y="51"/>
                </a:cubicBezTo>
                <a:lnTo>
                  <a:pt x="0" y="3"/>
                </a:lnTo>
                <a:cubicBezTo>
                  <a:pt x="0" y="1"/>
                  <a:pt x="1" y="0"/>
                  <a:pt x="3" y="0"/>
                </a:cubicBezTo>
                <a:lnTo>
                  <a:pt x="3" y="54"/>
                </a:lnTo>
                <a:close/>
              </a:path>
            </a:pathLst>
          </a:custGeom>
          <a:solidFill>
            <a:srgbClr val="FBA15C"/>
          </a:solidFill>
          <a:ln/>
        </p:spPr>
        <p:txBody>
          <a:bodyPr/>
          <a:p/>
        </p:txBody>
      </p:sp>
      <p:sp>
        <p:nvSpPr>
          <p:cNvPr id="976" name="" descr="{&quot;isTemplate&quot;:true,&quot;type&quot;:&quot;text&quot;}"/>
          <p:cNvSpPr txBox="1"/>
          <p:nvPr/>
        </p:nvSpPr>
        <p:spPr>
          <a:xfrm rot="0" flipH="0" flipV="0">
            <a:off x="4810125" y="1733550"/>
            <a:ext cx="2952750" cy="142875"/>
          </a:xfrm>
          <a:prstGeom prst="rect"/>
        </p:spPr>
        <p:txBody>
          <a:bodyPr wrap="none" lIns="0" tIns="0" rIns="0" bIns="0"/>
          <a:p>
            <a:pPr>
              <a:lnSpc>
                <a:spcPct val="100000"/>
              </a:lnSpc>
            </a:pPr>
            <a:r>
              <a:rPr lang="en-US" sz="900" b="1">
                <a:solidFill>
                  <a:srgbClr val="0F1423"/>
                </a:solidFill>
                <a:latin typeface="Microsoft YaHei"/>
                <a:ea typeface="Microsoft YaHei"/>
              </a:rPr>
              <a:t>Cipher Channel</a:t>
            </a:r>
            <a:endParaRPr/>
          </a:p>
        </p:txBody>
      </p:sp>
      <p:sp>
        <p:nvSpPr>
          <p:cNvPr id="977" name="" descr="{&quot;isTemplate&quot;:true,&quot;type&quot;:&quot;text&quot;}"/>
          <p:cNvSpPr txBox="1"/>
          <p:nvPr/>
        </p:nvSpPr>
        <p:spPr>
          <a:xfrm rot="0" flipH="0" flipV="0">
            <a:off x="4810125" y="1905000"/>
            <a:ext cx="2952750" cy="190500"/>
          </a:xfrm>
          <a:prstGeom prst="rect"/>
        </p:spPr>
        <p:txBody>
          <a:bodyPr wrap="none" lIns="0" tIns="0" rIns="0" bIns="0"/>
          <a:p>
            <a:pPr>
              <a:lnSpc>
                <a:spcPct val="145000"/>
              </a:lnSpc>
            </a:pPr>
            <a:r>
              <a:rPr lang="zh-CN" sz="825">
                <a:solidFill>
                  <a:srgbClr val="3A4050"/>
                </a:solidFill>
                <a:latin typeface="Microsoft YaHei"/>
                <a:ea typeface="Microsoft YaHei"/>
              </a:rPr>
              <a:t>把某个业务对象整体放进密级通道，访问需授权。</a:t>
            </a:r>
            <a:endParaRPr/>
          </a:p>
        </p:txBody>
      </p:sp>
      <p:sp>
        <p:nvSpPr>
          <p:cNvPr id="978" name=""/>
          <p:cNvSpPr/>
          <p:nvPr/>
        </p:nvSpPr>
        <p:spPr>
          <a:xfrm rot="0" flipH="0" flipV="0">
            <a:off x="4714875" y="2228850"/>
            <a:ext cx="3171825" cy="514350"/>
          </a:xfrm>
          <a:prstGeom prst="roundRect">
            <a:avLst>
              <a:gd name="adj" fmla="val 5556"/>
            </a:avLst>
          </a:prstGeom>
          <a:solidFill>
            <a:srgbClr val="FFFFFF"/>
          </a:solidFill>
          <a:ln/>
        </p:spPr>
        <p:txBody>
          <a:bodyPr/>
          <a:p/>
        </p:txBody>
      </p:sp>
      <p:sp>
        <p:nvSpPr>
          <p:cNvPr id="979" name=""/>
          <p:cNvSpPr/>
          <p:nvPr/>
        </p:nvSpPr>
        <p:spPr>
          <a:xfrm rot="0" flipH="0" flipV="0">
            <a:off x="4714875" y="2228850"/>
            <a:ext cx="3171825" cy="514350"/>
          </a:xfrm>
          <a:custGeom>
            <a:pathLst>
              <a:path w="333" h="54">
                <a:moveTo>
                  <a:pt x="3" y="54"/>
                </a:moveTo>
                <a:cubicBezTo>
                  <a:pt x="1" y="54"/>
                  <a:pt x="0" y="53"/>
                  <a:pt x="0" y="51"/>
                </a:cubicBezTo>
                <a:lnTo>
                  <a:pt x="0" y="3"/>
                </a:lnTo>
                <a:cubicBezTo>
                  <a:pt x="0" y="1"/>
                  <a:pt x="1" y="0"/>
                  <a:pt x="3" y="0"/>
                </a:cubicBezTo>
                <a:lnTo>
                  <a:pt x="3" y="54"/>
                </a:lnTo>
                <a:close/>
              </a:path>
            </a:pathLst>
          </a:custGeom>
          <a:solidFill>
            <a:srgbClr val="FBA15C"/>
          </a:solidFill>
          <a:ln/>
        </p:spPr>
        <p:txBody>
          <a:bodyPr/>
          <a:p/>
        </p:txBody>
      </p:sp>
      <p:sp>
        <p:nvSpPr>
          <p:cNvPr id="980" name="" descr="{&quot;isTemplate&quot;:true,&quot;type&quot;:&quot;text&quot;}"/>
          <p:cNvSpPr txBox="1"/>
          <p:nvPr/>
        </p:nvSpPr>
        <p:spPr>
          <a:xfrm rot="0" flipH="0" flipV="0">
            <a:off x="4810125" y="2305050"/>
            <a:ext cx="2952750" cy="142875"/>
          </a:xfrm>
          <a:prstGeom prst="rect"/>
        </p:spPr>
        <p:txBody>
          <a:bodyPr wrap="none" lIns="0" tIns="0" rIns="0" bIns="0"/>
          <a:p>
            <a:pPr>
              <a:lnSpc>
                <a:spcPct val="100000"/>
              </a:lnSpc>
            </a:pPr>
            <a:r>
              <a:rPr lang="en-US" sz="900" b="1">
                <a:solidFill>
                  <a:srgbClr val="0F1423"/>
                </a:solidFill>
                <a:latin typeface="Microsoft YaHei"/>
                <a:ea typeface="Microsoft YaHei"/>
              </a:rPr>
              <a:t>Cipher License</a:t>
            </a:r>
            <a:endParaRPr/>
          </a:p>
        </p:txBody>
      </p:sp>
      <p:sp>
        <p:nvSpPr>
          <p:cNvPr id="981" name="" descr="{&quot;isTemplate&quot;:true,&quot;type&quot;:&quot;text&quot;}"/>
          <p:cNvSpPr txBox="1"/>
          <p:nvPr/>
        </p:nvSpPr>
        <p:spPr>
          <a:xfrm rot="0" flipH="0" flipV="0">
            <a:off x="4810125" y="2476500"/>
            <a:ext cx="2952750" cy="190500"/>
          </a:xfrm>
          <a:prstGeom prst="rect"/>
        </p:spPr>
        <p:txBody>
          <a:bodyPr wrap="none" lIns="0" tIns="0" rIns="0" bIns="0"/>
          <a:p>
            <a:pPr>
              <a:lnSpc>
                <a:spcPct val="145000"/>
              </a:lnSpc>
            </a:pPr>
            <a:r>
              <a:rPr lang="zh-CN" sz="825">
                <a:solidFill>
                  <a:srgbClr val="3A4050"/>
                </a:solidFill>
                <a:latin typeface="Microsoft YaHei"/>
                <a:ea typeface="Microsoft YaHei"/>
              </a:rPr>
              <a:t>访问凭证，明确这次访问是为什么、被谁授予的。</a:t>
            </a:r>
            <a:endParaRPr/>
          </a:p>
        </p:txBody>
      </p:sp>
      <p:sp>
        <p:nvSpPr>
          <p:cNvPr id="982" name=""/>
          <p:cNvSpPr/>
          <p:nvPr/>
        </p:nvSpPr>
        <p:spPr>
          <a:xfrm rot="0" flipH="0" flipV="0">
            <a:off x="4714875" y="2800350"/>
            <a:ext cx="3171825" cy="514350"/>
          </a:xfrm>
          <a:prstGeom prst="roundRect">
            <a:avLst>
              <a:gd name="adj" fmla="val 5556"/>
            </a:avLst>
          </a:prstGeom>
          <a:solidFill>
            <a:srgbClr val="FFFFFF"/>
          </a:solidFill>
          <a:ln/>
        </p:spPr>
        <p:txBody>
          <a:bodyPr/>
          <a:p/>
        </p:txBody>
      </p:sp>
      <p:sp>
        <p:nvSpPr>
          <p:cNvPr id="983" name=""/>
          <p:cNvSpPr/>
          <p:nvPr/>
        </p:nvSpPr>
        <p:spPr>
          <a:xfrm rot="0" flipH="0" flipV="0">
            <a:off x="4714875" y="2800350"/>
            <a:ext cx="3171825" cy="514350"/>
          </a:xfrm>
          <a:custGeom>
            <a:pathLst>
              <a:path w="333" h="54">
                <a:moveTo>
                  <a:pt x="3" y="54"/>
                </a:moveTo>
                <a:cubicBezTo>
                  <a:pt x="1" y="54"/>
                  <a:pt x="0" y="53"/>
                  <a:pt x="0" y="51"/>
                </a:cubicBezTo>
                <a:lnTo>
                  <a:pt x="0" y="3"/>
                </a:lnTo>
                <a:cubicBezTo>
                  <a:pt x="0" y="1"/>
                  <a:pt x="1" y="0"/>
                  <a:pt x="3" y="0"/>
                </a:cubicBezTo>
                <a:lnTo>
                  <a:pt x="3" y="54"/>
                </a:lnTo>
                <a:close/>
              </a:path>
            </a:pathLst>
          </a:custGeom>
          <a:solidFill>
            <a:srgbClr val="FBA15C"/>
          </a:solidFill>
          <a:ln/>
        </p:spPr>
        <p:txBody>
          <a:bodyPr/>
          <a:p/>
        </p:txBody>
      </p:sp>
      <p:sp>
        <p:nvSpPr>
          <p:cNvPr id="984" name="" descr="{&quot;isTemplate&quot;:true,&quot;type&quot;:&quot;text&quot;}"/>
          <p:cNvSpPr txBox="1"/>
          <p:nvPr/>
        </p:nvSpPr>
        <p:spPr>
          <a:xfrm rot="0" flipH="0" flipV="0">
            <a:off x="4810125" y="2876550"/>
            <a:ext cx="2952750" cy="142875"/>
          </a:xfrm>
          <a:prstGeom prst="rect"/>
        </p:spPr>
        <p:txBody>
          <a:bodyPr wrap="none" lIns="0" tIns="0" rIns="0" bIns="0"/>
          <a:p>
            <a:pPr>
              <a:lnSpc>
                <a:spcPct val="100000"/>
              </a:lnSpc>
            </a:pPr>
            <a:r>
              <a:rPr lang="en-US" sz="900" b="1">
                <a:solidFill>
                  <a:srgbClr val="0F1423"/>
                </a:solidFill>
                <a:latin typeface="Microsoft YaHei"/>
                <a:ea typeface="Microsoft YaHei"/>
              </a:rPr>
              <a:t>Cipher Value</a:t>
            </a:r>
            <a:endParaRPr/>
          </a:p>
        </p:txBody>
      </p:sp>
      <p:sp>
        <p:nvSpPr>
          <p:cNvPr id="985" name="" descr="{&quot;isTemplate&quot;:true,&quot;type&quot;:&quot;text&quot;}"/>
          <p:cNvSpPr txBox="1"/>
          <p:nvPr/>
        </p:nvSpPr>
        <p:spPr>
          <a:xfrm rot="0" flipH="0" flipV="0">
            <a:off x="4810125" y="3048000"/>
            <a:ext cx="2952750" cy="190500"/>
          </a:xfrm>
          <a:prstGeom prst="rect"/>
        </p:spPr>
        <p:txBody>
          <a:bodyPr wrap="none" lIns="0" tIns="0" rIns="0" bIns="0"/>
          <a:p>
            <a:pPr>
              <a:lnSpc>
                <a:spcPct val="145000"/>
              </a:lnSpc>
            </a:pPr>
            <a:r>
              <a:rPr lang="zh-CN" sz="825">
                <a:solidFill>
                  <a:srgbClr val="3A4050"/>
                </a:solidFill>
                <a:latin typeface="Microsoft YaHei"/>
                <a:ea typeface="Microsoft YaHei"/>
              </a:rPr>
              <a:t>值级加密，支持同一行的不同字段处于不同密级。</a:t>
            </a:r>
            <a:endParaRPr/>
          </a:p>
        </p:txBody>
      </p:sp>
      <p:sp>
        <p:nvSpPr>
          <p:cNvPr id="986" name="" descr="{&quot;isTemplate&quot;:true,&quot;type&quot;:&quot;text&quot;}"/>
          <p:cNvSpPr txBox="1"/>
          <p:nvPr/>
        </p:nvSpPr>
        <p:spPr>
          <a:xfrm rot="0" flipH="0" flipV="0">
            <a:off x="4686300" y="3400425"/>
            <a:ext cx="3171825" cy="371475"/>
          </a:xfrm>
          <a:prstGeom prst="rect"/>
        </p:spPr>
        <p:txBody>
          <a:bodyPr wrap="square" lIns="0" tIns="0" rIns="0" bIns="0">
            <a:normAutofit/>
          </a:bodyPr>
          <a:p>
            <a:pPr>
              <a:lnSpc>
                <a:spcPct val="145000"/>
              </a:lnSpc>
            </a:pPr>
            <a:r>
              <a:rPr lang="zh-CN" sz="825">
                <a:solidFill>
                  <a:srgbClr val="3A4050"/>
                </a:solidFill>
                <a:latin typeface="Microsoft YaHei"/>
                <a:ea typeface="Microsoft YaHei"/>
              </a:rPr>
              <a:t>图像也能保护——用可逆像素扰乱，脱敏不是「打码」，打码不可逆。</a:t>
            </a:r>
            <a:endParaRPr/>
          </a:p>
        </p:txBody>
      </p:sp>
      <p:sp>
        <p:nvSpPr>
          <p:cNvPr id="987" name=""/>
          <p:cNvSpPr/>
          <p:nvPr/>
        </p:nvSpPr>
        <p:spPr>
          <a:xfrm rot="0" flipH="0" flipV="0">
            <a:off x="8105775" y="1285875"/>
            <a:ext cx="3476625" cy="2714625"/>
          </a:xfrm>
          <a:prstGeom prst="roundRect">
            <a:avLst>
              <a:gd name="adj" fmla="val 1404"/>
            </a:avLst>
          </a:prstGeom>
          <a:solidFill>
            <a:srgbClr val="FFFFFF"/>
          </a:solidFill>
          <a:ln w="12700">
            <a:solidFill>
              <a:srgbClr val="E8E8E8"/>
            </a:solidFill>
            <a:prstDash val="solid"/>
          </a:ln>
        </p:spPr>
        <p:txBody>
          <a:bodyPr/>
          <a:p/>
        </p:txBody>
      </p:sp>
      <p:sp>
        <p:nvSpPr>
          <p:cNvPr id="988" name="" descr="{&quot;isTemplate&quot;:true,&quot;type&quot;:&quot;text&quot;}"/>
          <p:cNvSpPr txBox="1"/>
          <p:nvPr/>
        </p:nvSpPr>
        <p:spPr>
          <a:xfrm rot="0" flipH="0" flipV="0">
            <a:off x="8258175" y="1514475"/>
            <a:ext cx="3171825" cy="161925"/>
          </a:xfrm>
          <a:prstGeom prst="rect"/>
        </p:spPr>
        <p:txBody>
          <a:bodyPr wrap="none" lIns="0" tIns="0" rIns="0" bIns="0"/>
          <a:p>
            <a:pPr>
              <a:lnSpc>
                <a:spcPct val="100000"/>
              </a:lnSpc>
            </a:pPr>
            <a:r>
              <a:rPr lang="zh-CN" sz="1050" b="1">
                <a:solidFill>
                  <a:srgbClr val="0F1423"/>
                </a:solidFill>
                <a:latin typeface="Microsoft YaHei"/>
                <a:ea typeface="Microsoft YaHei"/>
              </a:rPr>
              <a:t>策略即代码的四条要求</a:t>
            </a:r>
            <a:endParaRPr/>
          </a:p>
        </p:txBody>
      </p:sp>
      <p:sp>
        <p:nvSpPr>
          <p:cNvPr id="989" name="" descr="{&quot;isTemplate&quot;:true,&quot;type&quot;:&quot;text&quot;}"/>
          <p:cNvSpPr txBox="1"/>
          <p:nvPr/>
        </p:nvSpPr>
        <p:spPr>
          <a:xfrm rot="0" flipH="0" flipV="0">
            <a:off x="8258175" y="1762125"/>
            <a:ext cx="3171825" cy="200025"/>
          </a:xfrm>
          <a:prstGeom prst="rect"/>
        </p:spPr>
        <p:txBody>
          <a:bodyPr wrap="none" lIns="0" tIns="0" rIns="0" bIns="0"/>
          <a:p>
            <a:pPr>
              <a:lnSpc>
                <a:spcPct val="150000"/>
              </a:lnSpc>
            </a:pP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策略可版本化：谁在什么时候改了哪条策略，可比对、可回滚。</a:t>
            </a:r>
            <a:endParaRPr/>
          </a:p>
        </p:txBody>
      </p:sp>
      <p:sp>
        <p:nvSpPr>
          <p:cNvPr id="990" name="" descr="{&quot;isTemplate&quot;:true,&quot;type&quot;:&quot;text&quot;}"/>
          <p:cNvSpPr txBox="1"/>
          <p:nvPr/>
        </p:nvSpPr>
        <p:spPr>
          <a:xfrm rot="0" flipH="0" flipV="0">
            <a:off x="8258175" y="2028825"/>
            <a:ext cx="3171825" cy="400050"/>
          </a:xfrm>
          <a:prstGeom prst="rect"/>
        </p:spPr>
        <p:txBody>
          <a:bodyPr wrap="square" lIns="0" tIns="0" rIns="0" bIns="0">
            <a:normAutofit/>
          </a:bodyPr>
          <a:p>
            <a:pPr>
              <a:lnSpc>
                <a:spcPct val="150000"/>
              </a:lnSpc>
            </a:pP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策略可测试：先在测试策略环境验证，再推生产——测试策略本身已</a:t>
            </a:r>
            <a:r>
              <a:rPr lang="en-US" sz="863">
                <a:solidFill>
                  <a:srgbClr val="3A4050"/>
                </a:solidFill>
                <a:latin typeface="Microsoft YaHei"/>
                <a:ea typeface="Microsoft YaHei"/>
              </a:rPr>
              <a:t>GA</a:t>
            </a:r>
            <a:r>
              <a:rPr lang="zh-CN" sz="863">
                <a:solidFill>
                  <a:srgbClr val="3A4050"/>
                </a:solidFill>
                <a:latin typeface="Microsoft YaHei"/>
                <a:ea typeface="Microsoft YaHei"/>
              </a:rPr>
              <a:t>。</a:t>
            </a:r>
            <a:endParaRPr/>
          </a:p>
        </p:txBody>
      </p:sp>
      <p:sp>
        <p:nvSpPr>
          <p:cNvPr id="991" name="" descr="{&quot;isTemplate&quot;:true,&quot;type&quot;:&quot;text&quot;}"/>
          <p:cNvSpPr txBox="1"/>
          <p:nvPr/>
        </p:nvSpPr>
        <p:spPr>
          <a:xfrm rot="0" flipH="0" flipV="0">
            <a:off x="8258175" y="2495550"/>
            <a:ext cx="3171825" cy="200025"/>
          </a:xfrm>
          <a:prstGeom prst="rect"/>
        </p:spPr>
        <p:txBody>
          <a:bodyPr wrap="none" lIns="0" tIns="0" rIns="0" bIns="0"/>
          <a:p>
            <a:pPr>
              <a:lnSpc>
                <a:spcPct val="150000"/>
              </a:lnSpc>
            </a:pP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策略可回放：拿一条历史事务，能重放出当时的判定结果。</a:t>
            </a:r>
            <a:endParaRPr/>
          </a:p>
        </p:txBody>
      </p:sp>
      <p:sp>
        <p:nvSpPr>
          <p:cNvPr id="992" name="" descr="{&quot;isTemplate&quot;:true,&quot;type&quot;:&quot;text&quot;}"/>
          <p:cNvSpPr txBox="1"/>
          <p:nvPr/>
        </p:nvSpPr>
        <p:spPr>
          <a:xfrm rot="0" flipH="0" flipV="0">
            <a:off x="8258175" y="2762250"/>
            <a:ext cx="3171825" cy="400050"/>
          </a:xfrm>
          <a:prstGeom prst="rect"/>
        </p:spPr>
        <p:txBody>
          <a:bodyPr wrap="square" lIns="0" tIns="0" rIns="0" bIns="0">
            <a:normAutofit/>
          </a:bodyPr>
          <a:p>
            <a:pPr>
              <a:lnSpc>
                <a:spcPct val="150000"/>
              </a:lnSpc>
            </a:pP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策略可导出：控制台配的策略要能导出成代码进仓库，避免只在数据库里。</a:t>
            </a:r>
            <a:endParaRPr/>
          </a:p>
        </p:txBody>
      </p:sp>
      <p:sp>
        <p:nvSpPr>
          <p:cNvPr id="993" name=""/>
          <p:cNvSpPr/>
          <p:nvPr/>
        </p:nvSpPr>
        <p:spPr>
          <a:xfrm rot="0" flipH="0" flipV="0">
            <a:off x="8258175" y="3248025"/>
            <a:ext cx="3171825" cy="523875"/>
          </a:xfrm>
          <a:prstGeom prst="roundRect">
            <a:avLst>
              <a:gd name="adj" fmla="val 5455"/>
            </a:avLst>
          </a:prstGeom>
          <a:solidFill>
            <a:srgbClr val="F7F7F8"/>
          </a:solidFill>
          <a:ln/>
        </p:spPr>
        <p:txBody>
          <a:bodyPr/>
          <a:p/>
        </p:txBody>
      </p:sp>
      <p:sp>
        <p:nvSpPr>
          <p:cNvPr id="994" name="" descr="{&quot;isTemplate&quot;:true,&quot;type&quot;:&quot;text&quot;}"/>
          <p:cNvSpPr txBox="1"/>
          <p:nvPr/>
        </p:nvSpPr>
        <p:spPr>
          <a:xfrm rot="0" flipH="0" flipV="0">
            <a:off x="8353425" y="3324225"/>
            <a:ext cx="2981325" cy="371475"/>
          </a:xfrm>
          <a:prstGeom prst="rect"/>
        </p:spPr>
        <p:txBody>
          <a:bodyPr wrap="square" lIns="0" tIns="0" rIns="0" bIns="0">
            <a:normAutofit/>
          </a:bodyPr>
          <a:p>
            <a:pPr>
              <a:lnSpc>
                <a:spcPct val="145000"/>
              </a:lnSpc>
            </a:pPr>
            <a:r>
              <a:rPr lang="zh-CN" sz="825">
                <a:solidFill>
                  <a:srgbClr val="3A4050"/>
                </a:solidFill>
                <a:latin typeface="Microsoft YaHei"/>
                <a:ea typeface="Microsoft YaHei"/>
              </a:rPr>
              <a:t>已知限制要交代清楚：派生属性的可见性无法测试。从受限视图迁移到精确策略时，要留观察期。</a:t>
            </a:r>
            <a:endParaRPr/>
          </a:p>
        </p:txBody>
      </p:sp>
      <p:sp>
        <p:nvSpPr>
          <p:cNvPr id="995" name=""/>
          <p:cNvSpPr/>
          <p:nvPr/>
        </p:nvSpPr>
        <p:spPr>
          <a:xfrm rot="0" flipH="0" flipV="0">
            <a:off x="609600" y="4095750"/>
            <a:ext cx="10972800" cy="1543050"/>
          </a:xfrm>
          <a:prstGeom prst="roundRect">
            <a:avLst>
              <a:gd name="adj" fmla="val 2469"/>
            </a:avLst>
          </a:prstGeom>
          <a:solidFill>
            <a:srgbClr val="F7F7F8"/>
          </a:solidFill>
          <a:ln/>
        </p:spPr>
        <p:txBody>
          <a:bodyPr/>
          <a:p/>
        </p:txBody>
      </p:sp>
      <p:sp>
        <p:nvSpPr>
          <p:cNvPr id="996" name="" descr="{&quot;isTemplate&quot;:true,&quot;type&quot;:&quot;text&quot;}"/>
          <p:cNvSpPr txBox="1"/>
          <p:nvPr/>
        </p:nvSpPr>
        <p:spPr>
          <a:xfrm rot="0" flipH="0" flipV="0">
            <a:off x="781050" y="4791075"/>
            <a:ext cx="1419225" cy="161925"/>
          </a:xfrm>
          <a:prstGeom prst="rect"/>
        </p:spPr>
        <p:txBody>
          <a:bodyPr wrap="none" lIns="0" tIns="0" rIns="0" bIns="0"/>
          <a:p>
            <a:pPr>
              <a:lnSpc>
                <a:spcPct val="100000"/>
              </a:lnSpc>
            </a:pPr>
            <a:r>
              <a:rPr lang="en-US" sz="1050" b="1">
                <a:solidFill>
                  <a:srgbClr val="0F1423"/>
                </a:solidFill>
                <a:latin typeface="Microsoft YaHei"/>
                <a:ea typeface="Microsoft YaHei"/>
              </a:rPr>
              <a:t xml:space="preserve">TA </a:t>
            </a:r>
            <a:r>
              <a:rPr lang="zh-CN" sz="1050" b="1">
                <a:solidFill>
                  <a:srgbClr val="0F1423"/>
                </a:solidFill>
                <a:latin typeface="Microsoft YaHei"/>
                <a:ea typeface="Microsoft YaHei"/>
              </a:rPr>
              <a:t>层的三条非功能底线</a:t>
            </a:r>
            <a:endParaRPr/>
          </a:p>
        </p:txBody>
      </p:sp>
      <p:sp>
        <p:nvSpPr>
          <p:cNvPr id="997" name=""/>
          <p:cNvSpPr/>
          <p:nvPr/>
        </p:nvSpPr>
        <p:spPr>
          <a:xfrm rot="0" flipH="0" flipV="0">
            <a:off x="2362200" y="4591050"/>
            <a:ext cx="2933700" cy="561975"/>
          </a:xfrm>
          <a:prstGeom prst="roundRect">
            <a:avLst>
              <a:gd name="adj" fmla="val 5085"/>
            </a:avLst>
          </a:prstGeom>
          <a:solidFill>
            <a:srgbClr val="FFFFFF"/>
          </a:solidFill>
          <a:ln/>
        </p:spPr>
        <p:txBody>
          <a:bodyPr/>
          <a:p/>
        </p:txBody>
      </p:sp>
      <p:sp>
        <p:nvSpPr>
          <p:cNvPr id="998" name=""/>
          <p:cNvSpPr/>
          <p:nvPr/>
        </p:nvSpPr>
        <p:spPr>
          <a:xfrm rot="0" flipH="0" flipV="0">
            <a:off x="2362200" y="4591050"/>
            <a:ext cx="2933700" cy="561975"/>
          </a:xfrm>
          <a:custGeom>
            <a:pathLst>
              <a:path w="308" h="59">
                <a:moveTo>
                  <a:pt x="3" y="59"/>
                </a:moveTo>
                <a:cubicBezTo>
                  <a:pt x="1" y="59"/>
                  <a:pt x="0" y="58"/>
                  <a:pt x="0" y="56"/>
                </a:cubicBezTo>
                <a:lnTo>
                  <a:pt x="0" y="3"/>
                </a:lnTo>
                <a:cubicBezTo>
                  <a:pt x="0" y="1"/>
                  <a:pt x="1" y="0"/>
                  <a:pt x="3" y="0"/>
                </a:cubicBezTo>
                <a:lnTo>
                  <a:pt x="3" y="59"/>
                </a:lnTo>
                <a:close/>
              </a:path>
            </a:pathLst>
          </a:custGeom>
          <a:solidFill>
            <a:srgbClr val="FA4F24"/>
          </a:solidFill>
          <a:ln/>
        </p:spPr>
        <p:txBody>
          <a:bodyPr/>
          <a:p/>
        </p:txBody>
      </p:sp>
      <p:sp>
        <p:nvSpPr>
          <p:cNvPr id="999" name="" descr="{&quot;isTemplate&quot;:true,&quot;type&quot;:&quot;text&quot;}"/>
          <p:cNvSpPr txBox="1"/>
          <p:nvPr/>
        </p:nvSpPr>
        <p:spPr>
          <a:xfrm rot="0" flipH="0" flipV="0">
            <a:off x="2476500" y="4686300"/>
            <a:ext cx="2676525" cy="142875"/>
          </a:xfrm>
          <a:prstGeom prst="rect"/>
        </p:spPr>
        <p:txBody>
          <a:bodyPr wrap="none" lIns="0" tIns="0" rIns="0" bIns="0"/>
          <a:p>
            <a:pPr>
              <a:lnSpc>
                <a:spcPct val="100000"/>
              </a:lnSpc>
            </a:pPr>
            <a:r>
              <a:rPr lang="zh-CN" sz="938" b="1">
                <a:solidFill>
                  <a:srgbClr val="0F1423"/>
                </a:solidFill>
                <a:latin typeface="Microsoft YaHei"/>
                <a:ea typeface="Microsoft YaHei"/>
              </a:rPr>
              <a:t>审计存储不可篡改</a:t>
            </a:r>
            <a:endParaRPr/>
          </a:p>
        </p:txBody>
      </p:sp>
      <p:sp>
        <p:nvSpPr>
          <p:cNvPr id="1000" name="" descr="{&quot;isTemplate&quot;:true,&quot;type&quot;:&quot;text&quot;}"/>
          <p:cNvSpPr txBox="1"/>
          <p:nvPr/>
        </p:nvSpPr>
        <p:spPr>
          <a:xfrm rot="0" flipH="0" flipV="0">
            <a:off x="2476500" y="4867275"/>
            <a:ext cx="2676525" cy="190500"/>
          </a:xfrm>
          <a:prstGeom prst="rect"/>
        </p:spPr>
        <p:txBody>
          <a:bodyPr wrap="none" lIns="0" tIns="0" rIns="0" bIns="0"/>
          <a:p>
            <a:pPr>
              <a:lnSpc>
                <a:spcPct val="145000"/>
              </a:lnSpc>
            </a:pPr>
            <a:r>
              <a:rPr lang="zh-CN" sz="825">
                <a:solidFill>
                  <a:srgbClr val="3A4050"/>
                </a:solidFill>
                <a:latin typeface="Microsoft YaHei"/>
                <a:ea typeface="Microsoft YaHei"/>
              </a:rPr>
              <a:t>动作日志只允许追加，不允许改与删</a:t>
            </a:r>
            <a:endParaRPr/>
          </a:p>
        </p:txBody>
      </p:sp>
      <p:sp>
        <p:nvSpPr>
          <p:cNvPr id="1001" name=""/>
          <p:cNvSpPr/>
          <p:nvPr/>
        </p:nvSpPr>
        <p:spPr>
          <a:xfrm rot="0" flipH="0" flipV="0">
            <a:off x="5429250" y="4591050"/>
            <a:ext cx="2943225" cy="561975"/>
          </a:xfrm>
          <a:prstGeom prst="roundRect">
            <a:avLst>
              <a:gd name="adj" fmla="val 5085"/>
            </a:avLst>
          </a:prstGeom>
          <a:solidFill>
            <a:srgbClr val="FFFFFF"/>
          </a:solidFill>
          <a:ln/>
        </p:spPr>
        <p:txBody>
          <a:bodyPr/>
          <a:p/>
        </p:txBody>
      </p:sp>
      <p:sp>
        <p:nvSpPr>
          <p:cNvPr id="1002" name=""/>
          <p:cNvSpPr/>
          <p:nvPr/>
        </p:nvSpPr>
        <p:spPr>
          <a:xfrm rot="0" flipH="0" flipV="0">
            <a:off x="5429250" y="4591050"/>
            <a:ext cx="2943225" cy="561975"/>
          </a:xfrm>
          <a:custGeom>
            <a:pathLst>
              <a:path w="309" h="59">
                <a:moveTo>
                  <a:pt x="3" y="59"/>
                </a:moveTo>
                <a:cubicBezTo>
                  <a:pt x="1" y="59"/>
                  <a:pt x="0" y="58"/>
                  <a:pt x="0" y="56"/>
                </a:cubicBezTo>
                <a:lnTo>
                  <a:pt x="0" y="3"/>
                </a:lnTo>
                <a:cubicBezTo>
                  <a:pt x="0" y="1"/>
                  <a:pt x="1" y="0"/>
                  <a:pt x="3" y="0"/>
                </a:cubicBezTo>
                <a:lnTo>
                  <a:pt x="3" y="59"/>
                </a:lnTo>
                <a:close/>
              </a:path>
            </a:pathLst>
          </a:custGeom>
          <a:solidFill>
            <a:srgbClr val="FA4F24"/>
          </a:solidFill>
          <a:ln/>
        </p:spPr>
        <p:txBody>
          <a:bodyPr/>
          <a:p/>
        </p:txBody>
      </p:sp>
      <p:sp>
        <p:nvSpPr>
          <p:cNvPr id="1003" name="" descr="{&quot;isTemplate&quot;:true,&quot;type&quot;:&quot;text&quot;}"/>
          <p:cNvSpPr txBox="1"/>
          <p:nvPr/>
        </p:nvSpPr>
        <p:spPr>
          <a:xfrm rot="0" flipH="0" flipV="0">
            <a:off x="5543550" y="4686300"/>
            <a:ext cx="2686050" cy="142875"/>
          </a:xfrm>
          <a:prstGeom prst="rect"/>
        </p:spPr>
        <p:txBody>
          <a:bodyPr wrap="none" lIns="0" tIns="0" rIns="0" bIns="0"/>
          <a:p>
            <a:pPr>
              <a:lnSpc>
                <a:spcPct val="100000"/>
              </a:lnSpc>
            </a:pPr>
            <a:r>
              <a:rPr lang="zh-CN" sz="938" b="1">
                <a:solidFill>
                  <a:srgbClr val="0F1423"/>
                </a:solidFill>
                <a:latin typeface="Microsoft YaHei"/>
                <a:ea typeface="Microsoft YaHei"/>
              </a:rPr>
              <a:t>引擎不成为单点</a:t>
            </a:r>
            <a:endParaRPr/>
          </a:p>
        </p:txBody>
      </p:sp>
      <p:sp>
        <p:nvSpPr>
          <p:cNvPr id="1004" name="" descr="{&quot;isTemplate&quot;:true,&quot;type&quot;:&quot;text&quot;}"/>
          <p:cNvSpPr txBox="1"/>
          <p:nvPr/>
        </p:nvSpPr>
        <p:spPr>
          <a:xfrm rot="0" flipH="0" flipV="0">
            <a:off x="5543550" y="4867275"/>
            <a:ext cx="2686050" cy="190500"/>
          </a:xfrm>
          <a:prstGeom prst="rect"/>
        </p:spPr>
        <p:txBody>
          <a:bodyPr wrap="none" lIns="0" tIns="0" rIns="0" bIns="0"/>
          <a:p>
            <a:pPr>
              <a:lnSpc>
                <a:spcPct val="145000"/>
              </a:lnSpc>
            </a:pPr>
            <a:r>
              <a:rPr lang="zh-CN" sz="825">
                <a:solidFill>
                  <a:srgbClr val="3A4050"/>
                </a:solidFill>
                <a:latin typeface="Microsoft YaHei"/>
                <a:ea typeface="Microsoft YaHei"/>
              </a:rPr>
              <a:t>策略判定失败时的默认行为是拒绝，不是放行</a:t>
            </a:r>
            <a:endParaRPr/>
          </a:p>
        </p:txBody>
      </p:sp>
      <p:sp>
        <p:nvSpPr>
          <p:cNvPr id="1005" name=""/>
          <p:cNvSpPr/>
          <p:nvPr/>
        </p:nvSpPr>
        <p:spPr>
          <a:xfrm rot="0" flipH="0" flipV="0">
            <a:off x="8505825" y="4591050"/>
            <a:ext cx="2933700" cy="561975"/>
          </a:xfrm>
          <a:prstGeom prst="roundRect">
            <a:avLst>
              <a:gd name="adj" fmla="val 5085"/>
            </a:avLst>
          </a:prstGeom>
          <a:solidFill>
            <a:srgbClr val="FFFFFF"/>
          </a:solidFill>
          <a:ln/>
        </p:spPr>
        <p:txBody>
          <a:bodyPr/>
          <a:p/>
        </p:txBody>
      </p:sp>
      <p:sp>
        <p:nvSpPr>
          <p:cNvPr id="1006" name=""/>
          <p:cNvSpPr/>
          <p:nvPr/>
        </p:nvSpPr>
        <p:spPr>
          <a:xfrm rot="0" flipH="0" flipV="0">
            <a:off x="8505825" y="4591050"/>
            <a:ext cx="2933700" cy="561975"/>
          </a:xfrm>
          <a:custGeom>
            <a:pathLst>
              <a:path w="308" h="59">
                <a:moveTo>
                  <a:pt x="3" y="59"/>
                </a:moveTo>
                <a:cubicBezTo>
                  <a:pt x="1" y="59"/>
                  <a:pt x="0" y="58"/>
                  <a:pt x="0" y="56"/>
                </a:cubicBezTo>
                <a:lnTo>
                  <a:pt x="0" y="3"/>
                </a:lnTo>
                <a:cubicBezTo>
                  <a:pt x="0" y="1"/>
                  <a:pt x="1" y="0"/>
                  <a:pt x="3" y="0"/>
                </a:cubicBezTo>
                <a:lnTo>
                  <a:pt x="3" y="59"/>
                </a:lnTo>
                <a:close/>
              </a:path>
            </a:pathLst>
          </a:custGeom>
          <a:solidFill>
            <a:srgbClr val="FA4F24"/>
          </a:solidFill>
          <a:ln/>
        </p:spPr>
        <p:txBody>
          <a:bodyPr/>
          <a:p/>
        </p:txBody>
      </p:sp>
      <p:sp>
        <p:nvSpPr>
          <p:cNvPr id="1007" name="" descr="{&quot;isTemplate&quot;:true,&quot;type&quot;:&quot;text&quot;}"/>
          <p:cNvSpPr txBox="1"/>
          <p:nvPr/>
        </p:nvSpPr>
        <p:spPr>
          <a:xfrm rot="0" flipH="0" flipV="0">
            <a:off x="8620125" y="4686300"/>
            <a:ext cx="2676525" cy="142875"/>
          </a:xfrm>
          <a:prstGeom prst="rect"/>
        </p:spPr>
        <p:txBody>
          <a:bodyPr wrap="none" lIns="0" tIns="0" rIns="0" bIns="0"/>
          <a:p>
            <a:pPr>
              <a:lnSpc>
                <a:spcPct val="100000"/>
              </a:lnSpc>
            </a:pPr>
            <a:r>
              <a:rPr lang="zh-CN" sz="938" b="1">
                <a:solidFill>
                  <a:srgbClr val="0F1423"/>
                </a:solidFill>
                <a:latin typeface="Microsoft YaHei"/>
                <a:ea typeface="Microsoft YaHei"/>
              </a:rPr>
              <a:t>敏感信息不落日志</a:t>
            </a:r>
            <a:endParaRPr/>
          </a:p>
        </p:txBody>
      </p:sp>
      <p:sp>
        <p:nvSpPr>
          <p:cNvPr id="1008" name="" descr="{&quot;isTemplate&quot;:true,&quot;type&quot;:&quot;text&quot;}"/>
          <p:cNvSpPr txBox="1"/>
          <p:nvPr/>
        </p:nvSpPr>
        <p:spPr>
          <a:xfrm rot="0" flipH="0" flipV="0">
            <a:off x="8620125" y="4867275"/>
            <a:ext cx="2676525" cy="190500"/>
          </a:xfrm>
          <a:prstGeom prst="rect"/>
        </p:spPr>
        <p:txBody>
          <a:bodyPr wrap="none" lIns="0" tIns="0" rIns="0" bIns="0"/>
          <a:p>
            <a:pPr>
              <a:lnSpc>
                <a:spcPct val="145000"/>
              </a:lnSpc>
            </a:pPr>
            <a:r>
              <a:rPr lang="zh-CN" sz="825">
                <a:solidFill>
                  <a:srgbClr val="3A4050"/>
                </a:solidFill>
                <a:latin typeface="Microsoft YaHei"/>
                <a:ea typeface="Microsoft YaHei"/>
              </a:rPr>
              <a:t>审计记「谁访问了哪类数据」，不记具体内容</a:t>
            </a:r>
            <a:endParaRPr/>
          </a:p>
        </p:txBody>
      </p:sp>
      <p:sp>
        <p:nvSpPr>
          <p:cNvPr id="1009"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1010" name=""/>
          <p:cNvSpPr/>
          <p:nvPr/>
        </p:nvSpPr>
        <p:spPr>
          <a:xfrm rot="0" flipH="0" flipV="0">
            <a:off x="609600" y="5953125"/>
            <a:ext cx="95250" cy="95250"/>
          </a:xfrm>
          <a:prstGeom prst="rect">
            <a:avLst/>
          </a:prstGeom>
          <a:solidFill>
            <a:srgbClr val="FA4F24"/>
          </a:solidFill>
          <a:ln/>
        </p:spPr>
        <p:txBody>
          <a:bodyPr/>
          <a:p/>
        </p:txBody>
      </p:sp>
      <p:sp>
        <p:nvSpPr>
          <p:cNvPr id="1011"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1012"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28 / 30</a:t>
            </a:r>
            <a:endParaRPr/>
          </a:p>
        </p:txBody>
      </p:sp>
    </p:spTree>
  </p:cSld>
</p:sld>
</file>

<file path=ppt/slides/slide29.xml><?xml version="1.0" encoding="utf-8"?>
<p:sld xmlns:p="http://schemas.openxmlformats.org/presentationml/2006/main" xmlns:a="http://schemas.openxmlformats.org/drawingml/2006/main">
  <p:cSld>
    <p:spTree>
      <p:nvGrpSpPr>
        <p:cNvPr id="1013" name="" descr="&lt;Slide style={{ width: 1280, height: 720, background: '#FFFFFF', padding: '24px 64px 0' }}&gt;&#10;  &lt;Box style={{ height: 96, flexDirection: 'column', justifyContent: 'flex-start' }}&gt;&#10;    &lt;Text style={{ fontSize: 32, fontWeight: 'bold', color: '#0F1423' }}&gt;&#10;      成熟度五级 · 五类失效 · 十二项评审&#10;    &lt;/Text&gt;&#10;    &lt;Text style={{ fontSize: 20, color: '#8A8F99', marginTop: 8 }}&gt;&#10;      治理水平不看上了多少工具，只看三件事：能不能答、能不能拦、能不能退&#10;    &lt;/Text&gt;&#10;  &lt;/Box&gt;&#10;  &lt;Box style={{ height: 1, background: '#E8E8E8' }} /&gt;&#10;&#10;  &lt;Box style={{ paddingTop: 14, paddingBottom: 8, height: 479, flexDirection: 'column', gap: 10 }}&gt;&#10;    &lt;Box style={{ height: 128, flexDirection: 'row', gap: 9 }}&gt;&#10;      {[&#10;        { l: 'L1 无意识', d: '有制度无系统，密级写在文档里，执行靠人记。', c: '#8A8F99' },&#10;        { l: 'L2 有目录', d: '数据能被找到、能被申请，但策略与权限仍分离。', c: '#FBA15C' },&#10;        { l: 'L3 有标记', d: '密级体系落地，行级列级策略上线，血缘能追溯。', c: '#F87D2F' },&#10;        { l: 'L4 有闭环', d: '审批进流程，审计可回放，降级可撤回。', c: '#FA4F24' },&#10;        { l: 'L5 有内生', d: '新数据默认继承强制控制，违规能被自动检出。', c: '#C43A17' },&#10;      ].map((x, i) =&gt; (&#10;        &lt;Box key={x.l} style={{ flex: 1, background: '#F7F7F8', borderRadius: 4, borderTop: '4px solid ' + x.c, padding: '11px 13px', flexDirection: 'column' }}&gt;&#10;          &lt;Text style={{ fontSize: 20, fontWeight: 'bold', color: x.c }}&gt;L{i + 1}&lt;/Text&gt;&#10;          &lt;Text style={{ fontSize: 14, fontWeight: 'bold', color: '#0F1423', marginTop: 3 }}&gt;{x.l}&lt;/Text&gt;&#10;          &lt;Text style={{ fontSize: 11.5, color: '#3A4050', marginTop: 7, lineHeight: 1.5, flex: 1 }}&gt;{x.d}&lt;/Text&gt;&#10;        &lt;/Box&gt;&#10;      ))}&#10;    &lt;/Box&gt;&#10;&#10;    &lt;Box style={{ flex: 1, flexDirection: 'row', gap: 10 }}&gt;&#10;      &lt;Box style={{ flex: 1, background: '#0F1423', borderRadius: 4, padding: '13px 17px', flexDirection: 'column' }}&gt;&#10;        &lt;Text style={{ fontSize: 14, fontWeight: 'bold', color: '#FBA15C' }}&gt;五类失效：治理出问题都在这五种形态里&lt;/Text&gt;&#10;        &lt;Box style={{ flex: 1, marginTop: 10, flexDirection: 'column', gap: 6 }}&gt;&#10;          {[&#10;            { t: '静默越权', d: '越权不报错，日志里也看不出来——因为只记了成功不记了拒绝。' },&#10;            { t: '标记洗白', d: '数据流经管道或切片后标记消失，回来就成了裸数据。' },&#10;            { t: '策略外挂', d: '策略在文档里，系统里没有对应实现，两边不一致。' },&#10;            { t: '推断泄漏', d: '低密级数据被聚合、推理出高密级结论，检索层管不住。' },&#10;            { t: '审计断链', d: '有日志但缺「为什么」，出事时无法定位决策过程。' },&#10;          ].map((x) =&gt; (&#10;            &lt;Box key={x.t} style={{ background: 'rgba(255,255,255,0.07)', borderRadius: 3, borderLeft: '3px solid #C43A17', padding: '7px 10px' }}&gt;&#10;              &lt;Text style={{ fontSize: 11.5, fontWeight: 'bold', color: '#FFFFFF' }}&gt;{x.t}&lt;/Text&gt;&#10;              &lt;Text style={{ fontSize: 11, color: 'rgba(255,255,255,0.78)', marginTop: 3, lineHeight: 1.4 }}&gt;{x.d}&lt;/Text&gt;&#10;            &lt;/Box&gt;&#10;          ))}&#10;        &lt;/Box&gt;&#10;      &lt;/Box&gt;&#10;&#10;      &lt;Box style={{ flex: 1.15, background: '#FFFFFF', border: '1px solid #E8E8E8', borderRadius: 4, padding: '13px 17px', flexDirection: 'column' }}&gt;&#10;        &lt;Text style={{ fontSize: 14, fontWeight: 'bold', color: '#0F1423' }}&gt;十二项评审：给治理体系做体检的清单&lt;/Text&gt;&#10;        &lt;Box style={{ flex: 1, marginTop: 10, flexDirection: 'row', flexWrap: 'wrap', gap: 6, alignContent: 'flex-start' }}&gt;&#10;          {[&#10;            '标记类别是否有删除入口？',&#10;            '是否有属性在多个列级策略中重叠？',&#10;            '拒绝事件是否入库？',&#10;            '血缘是主动采集还是事后爬取？',&#10;            'Agent 工具清单是否有默认拒绝？',&#10;            '记忆是否跨会话保留？',&#10;            '回答是否携带可对账的切片 ID？',&#10;            '降级事件是否为一级元数据？',&#10;            '策略变更是否有版本与回滚？',&#10;            '引擎失败时是拒绝还是放行？',&#10;            '审计是否记录了「为什么」？',&#10;            '策略是否有可指认的批准人？',&#10;          ].map((q, i) =&gt; (&#10;            &lt;Box key={q} style={{ width: '48.6%', background: '#F7F7F8', borderRadius: 3, padding: '6px 9px' }}&gt;&#10;              &lt;Text style={{ fontSize: 11, color: '#3A4050', lineHeight: 1.4 }}&gt;&#10;                &lt;tspan style={{ fontWeight: 'bold', color: '#FA4F24' }}&gt;{i + 1}. &lt;/tspan&gt;{q}&#10;              &lt;/Text&gt;&#10;            &lt;/Box&gt;&#10;          ))}&#10;        &lt;/Box&gt;&#10;      &lt;/Box&gt;&#10;&#10;      &lt;Box style={{ flex: 0.75, background: '#FFF3EE', borderRadius: 4, borderLeft: '4px solid #FA4F24', padding: '13px 15px', flexDirection: 'column', justifyContent: 'center' }}&gt;&#10;        &lt;Text style={{ fontSize: 14, fontWeight: 'bold', color: '#C43A17' }}&gt;三问自检&lt;/Text&gt;&#10;        &lt;Box style={{ flexDirection: 'column', gap: 9, marginTop: 9 }}&gt;&#10;          {[&#10;            { q: '能答吗？', a: '随便指一个敏感对象，能不能三十秒内说出谁能看、为什么。' },&#10;            { q: '能拦吗？', a: '模拟一次越权尝试，系统是拒绝并留下记录，还是默默放行。' },&#10;            { q: '能退吗？', a: '今天把某份数据降级，明天能不能完整撤回并追溯影响面。' },&#10;          ].map((x) =&gt; (&#10;            &lt;Box key={x.q}&gt;&#10;              &lt;Text style={{ fontSize: 12.5, fontWeight: 'bold', color: '#0F1423' }}&gt;{x.q}&lt;/Text&gt;&#10;              &lt;Text style={{ fontSize: 11, color: '#3A4050', marginTop: 3, lineHeight: 1.45 }}&gt;{x.a}&lt;/Text&gt;&#10;            &lt;/Box&gt;&#10;          ))}&#10;        &lt;/Box&gt;&#10;        &lt;Box style={{ marginTop: 10, background: '#FFFFFF', borderRadius: 3, padding: '8px 10px' }}&gt;&#10;          &lt;Text style={{ fontSize: 11, color: '#3A4050', lineHeight: 1.45 }}&gt;&#10;            三问有一问答不上来，就不要急着扩治理范围——先补短板。&#10;          &lt;/Text&gt;&#10;        &lt;/Box&gt;&#10;      &lt;/Box&gt;&#10;    &lt;/Box&gt;&#10;  &lt;/Box&gt;&#10;&#10;  &lt;Box style={{ height: 58, flexDirection: 'row', alignItems: 'center', borderTop: '1px solid #E8E8E8' }}&gt;&#10;    &lt;Box style={{ width: 10, height: 10, background: '#FA4F24' }} /&gt;&#10;    &lt;Text style={{ fontSize: 13, color: '#8A8F99', marginLeft: 12 }}&gt;硕磐机密 · 数据治理咨询方法论&lt;/Text&gt;&#10;    &lt;Text style={{ fontSize: 13, color: '#8A8F99', marginLeft: 'auto' }}&gt;29 / 30&lt;/Text&gt;&#10;  &lt;/Box&gt;&#10;&lt;/Slide&gt;"/>
        <p:cNvGrpSpPr/>
        <p:nvPr/>
      </p:nvGrpSpPr>
      <p:grpSpPr>
        <a:xfrm>
          <a:off x="0" y="0"/>
          <a:ext cx="0" cy="0"/>
          <a:chOff x="0" y="0"/>
          <a:chExt cx="0" cy="0"/>
        </a:xfrm>
      </p:grpSpPr>
      <p:sp>
        <p:nvSpPr>
          <p:cNvPr id="1014" name=""/>
          <p:cNvSpPr/>
          <p:nvPr/>
        </p:nvSpPr>
        <p:spPr>
          <a:xfrm rot="0" flipH="0" flipV="0">
            <a:off x="0" y="0"/>
            <a:ext cx="12192000" cy="6858000"/>
          </a:xfrm>
          <a:prstGeom prst="rect">
            <a:avLst/>
          </a:prstGeom>
          <a:solidFill>
            <a:srgbClr val="FFFFFF"/>
          </a:solidFill>
          <a:ln/>
        </p:spPr>
        <p:txBody>
          <a:bodyPr/>
          <a:p/>
        </p:txBody>
      </p:sp>
      <p:sp>
        <p:nvSpPr>
          <p:cNvPr id="1015"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成熟度五级</a:t>
            </a:r>
            <a:r>
              <a:rPr lang="en-US" sz="2400" b="1">
                <a:solidFill>
                  <a:srgbClr val="0F1423"/>
                </a:solidFill>
                <a:latin typeface="Microsoft YaHei"/>
                <a:ea typeface="Microsoft YaHei"/>
              </a:rPr>
              <a:t xml:space="preserve"> · </a:t>
            </a:r>
            <a:r>
              <a:rPr lang="zh-CN" sz="2400" b="1">
                <a:solidFill>
                  <a:srgbClr val="0F1423"/>
                </a:solidFill>
                <a:latin typeface="Microsoft YaHei"/>
                <a:ea typeface="Microsoft YaHei"/>
              </a:rPr>
              <a:t>五类失效</a:t>
            </a:r>
            <a:r>
              <a:rPr lang="en-US" sz="2400" b="1">
                <a:solidFill>
                  <a:srgbClr val="0F1423"/>
                </a:solidFill>
                <a:latin typeface="Microsoft YaHei"/>
                <a:ea typeface="Microsoft YaHei"/>
              </a:rPr>
              <a:t xml:space="preserve"> · </a:t>
            </a:r>
            <a:r>
              <a:rPr lang="zh-CN" sz="2400" b="1">
                <a:solidFill>
                  <a:srgbClr val="0F1423"/>
                </a:solidFill>
                <a:latin typeface="Microsoft YaHei"/>
                <a:ea typeface="Microsoft YaHei"/>
              </a:rPr>
              <a:t>十二项评审</a:t>
            </a:r>
            <a:endParaRPr/>
          </a:p>
        </p:txBody>
      </p:sp>
      <p:sp>
        <p:nvSpPr>
          <p:cNvPr id="1016"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治理水平不看上了多少工具，只看三件事：能不能答、能不能拦、能不能退</a:t>
            </a:r>
            <a:endParaRPr/>
          </a:p>
        </p:txBody>
      </p:sp>
      <p:sp>
        <p:nvSpPr>
          <p:cNvPr id="1017" name=""/>
          <p:cNvSpPr/>
          <p:nvPr/>
        </p:nvSpPr>
        <p:spPr>
          <a:xfrm rot="0" flipH="0" flipV="0">
            <a:off x="609600" y="1143000"/>
            <a:ext cx="10972800" cy="9525"/>
          </a:xfrm>
          <a:prstGeom prst="rect">
            <a:avLst/>
          </a:prstGeom>
          <a:solidFill>
            <a:srgbClr val="E8E8E8"/>
          </a:solidFill>
          <a:ln/>
        </p:spPr>
        <p:txBody>
          <a:bodyPr/>
          <a:p/>
        </p:txBody>
      </p:sp>
      <p:sp>
        <p:nvSpPr>
          <p:cNvPr id="1018" name=""/>
          <p:cNvSpPr/>
          <p:nvPr/>
        </p:nvSpPr>
        <p:spPr>
          <a:xfrm rot="0" flipH="0" flipV="0">
            <a:off x="609600" y="1323975"/>
            <a:ext cx="2124075" cy="1219200"/>
          </a:xfrm>
          <a:prstGeom prst="roundRect">
            <a:avLst>
              <a:gd name="adj" fmla="val 3125"/>
            </a:avLst>
          </a:prstGeom>
          <a:solidFill>
            <a:srgbClr val="F7F7F8"/>
          </a:solidFill>
          <a:ln/>
        </p:spPr>
        <p:txBody>
          <a:bodyPr/>
          <a:p/>
        </p:txBody>
      </p:sp>
      <p:sp>
        <p:nvSpPr>
          <p:cNvPr id="1019" name=""/>
          <p:cNvSpPr/>
          <p:nvPr/>
        </p:nvSpPr>
        <p:spPr>
          <a:xfrm rot="0" flipH="0" flipV="0">
            <a:off x="609600" y="1323975"/>
            <a:ext cx="2124075" cy="1219200"/>
          </a:xfrm>
          <a:custGeom>
            <a:pathLst>
              <a:path w="223" h="128">
                <a:moveTo>
                  <a:pt x="219" y="0"/>
                </a:moveTo>
                <a:cubicBezTo>
                  <a:pt x="221" y="0"/>
                  <a:pt x="223" y="2"/>
                  <a:pt x="223" y="4"/>
                </a:cubicBezTo>
                <a:lnTo>
                  <a:pt x="0" y="4"/>
                </a:lnTo>
                <a:cubicBezTo>
                  <a:pt x="0" y="2"/>
                  <a:pt x="2" y="0"/>
                  <a:pt x="4" y="0"/>
                </a:cubicBezTo>
                <a:lnTo>
                  <a:pt x="219" y="0"/>
                </a:lnTo>
                <a:close/>
              </a:path>
            </a:pathLst>
          </a:custGeom>
          <a:solidFill>
            <a:srgbClr val="8A8F99"/>
          </a:solidFill>
          <a:ln/>
        </p:spPr>
        <p:txBody>
          <a:bodyPr/>
          <a:p/>
        </p:txBody>
      </p:sp>
      <p:sp>
        <p:nvSpPr>
          <p:cNvPr id="1020" name="" descr="{&quot;isTemplate&quot;:true,&quot;type&quot;:&quot;text&quot;}"/>
          <p:cNvSpPr txBox="1"/>
          <p:nvPr/>
        </p:nvSpPr>
        <p:spPr>
          <a:xfrm rot="0" flipH="0" flipV="0">
            <a:off x="733425" y="1428750"/>
            <a:ext cx="1876425" cy="228600"/>
          </a:xfrm>
          <a:prstGeom prst="rect"/>
        </p:spPr>
        <p:txBody>
          <a:bodyPr wrap="none" lIns="0" tIns="0" rIns="0" bIns="0"/>
          <a:p>
            <a:pPr>
              <a:lnSpc>
                <a:spcPct val="100000"/>
              </a:lnSpc>
            </a:pPr>
            <a:r>
              <a:rPr lang="en-US" sz="1500" b="1">
                <a:solidFill>
                  <a:srgbClr val="8A8F99"/>
                </a:solidFill>
                <a:latin typeface="Microsoft YaHei"/>
                <a:ea typeface="Microsoft YaHei"/>
              </a:rPr>
              <a:t>L</a:t>
            </a:r>
            <a:r>
              <a:rPr lang="en-US" sz="1500" b="1">
                <a:solidFill>
                  <a:srgbClr val="8A8F99"/>
                </a:solidFill>
                <a:latin typeface="Microsoft YaHei"/>
                <a:ea typeface="Microsoft YaHei"/>
              </a:rPr>
              <a:t>1</a:t>
            </a:r>
            <a:endParaRPr/>
          </a:p>
        </p:txBody>
      </p:sp>
      <p:sp>
        <p:nvSpPr>
          <p:cNvPr id="1021" name="" descr="{&quot;isTemplate&quot;:true,&quot;type&quot;:&quot;text&quot;}"/>
          <p:cNvSpPr txBox="1"/>
          <p:nvPr/>
        </p:nvSpPr>
        <p:spPr>
          <a:xfrm rot="0" flipH="0" flipV="0">
            <a:off x="733425" y="1685925"/>
            <a:ext cx="1876425" cy="161925"/>
          </a:xfrm>
          <a:prstGeom prst="rect"/>
        </p:spPr>
        <p:txBody>
          <a:bodyPr wrap="none" lIns="0" tIns="0" rIns="0" bIns="0"/>
          <a:p>
            <a:pPr>
              <a:lnSpc>
                <a:spcPct val="100000"/>
              </a:lnSpc>
            </a:pPr>
            <a:r>
              <a:rPr lang="en-US" sz="1050" b="1">
                <a:solidFill>
                  <a:srgbClr val="0F1423"/>
                </a:solidFill>
                <a:latin typeface="Microsoft YaHei"/>
                <a:ea typeface="Microsoft YaHei"/>
              </a:rPr>
              <a:t xml:space="preserve">L1 </a:t>
            </a:r>
            <a:r>
              <a:rPr lang="zh-CN" sz="1050" b="1">
                <a:solidFill>
                  <a:srgbClr val="0F1423"/>
                </a:solidFill>
                <a:latin typeface="Microsoft YaHei"/>
                <a:ea typeface="Microsoft YaHei"/>
              </a:rPr>
              <a:t>无意识</a:t>
            </a:r>
            <a:endParaRPr/>
          </a:p>
        </p:txBody>
      </p:sp>
      <p:sp>
        <p:nvSpPr>
          <p:cNvPr id="1022" name="" descr="{&quot;isTemplate&quot;:true,&quot;type&quot;:&quot;text&quot;}"/>
          <p:cNvSpPr txBox="1"/>
          <p:nvPr/>
        </p:nvSpPr>
        <p:spPr>
          <a:xfrm rot="0" flipH="0" flipV="0">
            <a:off x="733425" y="1914525"/>
            <a:ext cx="1876425" cy="485775"/>
          </a:xfrm>
          <a:prstGeom prst="rect"/>
        </p:spPr>
        <p:txBody>
          <a:bodyPr wrap="square" lIns="0" tIns="0" rIns="0" bIns="0">
            <a:normAutofit/>
          </a:bodyPr>
          <a:p>
            <a:pPr>
              <a:lnSpc>
                <a:spcPct val="150000"/>
              </a:lnSpc>
            </a:pPr>
            <a:r>
              <a:rPr lang="zh-CN" sz="863">
                <a:solidFill>
                  <a:srgbClr val="3A4050"/>
                </a:solidFill>
                <a:latin typeface="Microsoft YaHei"/>
                <a:ea typeface="Microsoft YaHei"/>
              </a:rPr>
              <a:t>有制度无系统，密级写在文档里，执行靠人记。</a:t>
            </a:r>
            <a:endParaRPr/>
          </a:p>
        </p:txBody>
      </p:sp>
      <p:sp>
        <p:nvSpPr>
          <p:cNvPr id="1023" name=""/>
          <p:cNvSpPr/>
          <p:nvPr/>
        </p:nvSpPr>
        <p:spPr>
          <a:xfrm rot="0" flipH="0" flipV="0">
            <a:off x="2819400" y="1323975"/>
            <a:ext cx="2124075" cy="1219200"/>
          </a:xfrm>
          <a:prstGeom prst="roundRect">
            <a:avLst>
              <a:gd name="adj" fmla="val 3125"/>
            </a:avLst>
          </a:prstGeom>
          <a:solidFill>
            <a:srgbClr val="F7F7F8"/>
          </a:solidFill>
          <a:ln/>
        </p:spPr>
        <p:txBody>
          <a:bodyPr/>
          <a:p/>
        </p:txBody>
      </p:sp>
      <p:sp>
        <p:nvSpPr>
          <p:cNvPr id="1024" name=""/>
          <p:cNvSpPr/>
          <p:nvPr/>
        </p:nvSpPr>
        <p:spPr>
          <a:xfrm rot="0" flipH="0" flipV="0">
            <a:off x="2819400" y="1323975"/>
            <a:ext cx="2124075" cy="1219200"/>
          </a:xfrm>
          <a:custGeom>
            <a:pathLst>
              <a:path w="223" h="128">
                <a:moveTo>
                  <a:pt x="219" y="0"/>
                </a:moveTo>
                <a:cubicBezTo>
                  <a:pt x="221" y="0"/>
                  <a:pt x="223" y="2"/>
                  <a:pt x="223" y="4"/>
                </a:cubicBezTo>
                <a:lnTo>
                  <a:pt x="0" y="4"/>
                </a:lnTo>
                <a:cubicBezTo>
                  <a:pt x="0" y="2"/>
                  <a:pt x="2" y="0"/>
                  <a:pt x="4" y="0"/>
                </a:cubicBezTo>
                <a:lnTo>
                  <a:pt x="219" y="0"/>
                </a:lnTo>
                <a:close/>
              </a:path>
            </a:pathLst>
          </a:custGeom>
          <a:solidFill>
            <a:srgbClr val="FBA15C"/>
          </a:solidFill>
          <a:ln/>
        </p:spPr>
        <p:txBody>
          <a:bodyPr/>
          <a:p/>
        </p:txBody>
      </p:sp>
      <p:sp>
        <p:nvSpPr>
          <p:cNvPr id="1025" name="" descr="{&quot;isTemplate&quot;:true,&quot;type&quot;:&quot;text&quot;}"/>
          <p:cNvSpPr txBox="1"/>
          <p:nvPr/>
        </p:nvSpPr>
        <p:spPr>
          <a:xfrm rot="0" flipH="0" flipV="0">
            <a:off x="2943225" y="1428750"/>
            <a:ext cx="1876425" cy="228600"/>
          </a:xfrm>
          <a:prstGeom prst="rect"/>
        </p:spPr>
        <p:txBody>
          <a:bodyPr wrap="none" lIns="0" tIns="0" rIns="0" bIns="0"/>
          <a:p>
            <a:pPr>
              <a:lnSpc>
                <a:spcPct val="100000"/>
              </a:lnSpc>
            </a:pPr>
            <a:r>
              <a:rPr lang="en-US" sz="1500" b="1">
                <a:solidFill>
                  <a:srgbClr val="FBA15C"/>
                </a:solidFill>
                <a:latin typeface="Microsoft YaHei"/>
                <a:ea typeface="Microsoft YaHei"/>
              </a:rPr>
              <a:t>L</a:t>
            </a:r>
            <a:r>
              <a:rPr lang="en-US" sz="1500" b="1">
                <a:solidFill>
                  <a:srgbClr val="FBA15C"/>
                </a:solidFill>
                <a:latin typeface="Microsoft YaHei"/>
                <a:ea typeface="Microsoft YaHei"/>
              </a:rPr>
              <a:t>2</a:t>
            </a:r>
            <a:endParaRPr/>
          </a:p>
        </p:txBody>
      </p:sp>
      <p:sp>
        <p:nvSpPr>
          <p:cNvPr id="1026" name="" descr="{&quot;isTemplate&quot;:true,&quot;type&quot;:&quot;text&quot;}"/>
          <p:cNvSpPr txBox="1"/>
          <p:nvPr/>
        </p:nvSpPr>
        <p:spPr>
          <a:xfrm rot="0" flipH="0" flipV="0">
            <a:off x="2943225" y="1685925"/>
            <a:ext cx="1876425" cy="161925"/>
          </a:xfrm>
          <a:prstGeom prst="rect"/>
        </p:spPr>
        <p:txBody>
          <a:bodyPr wrap="none" lIns="0" tIns="0" rIns="0" bIns="0"/>
          <a:p>
            <a:pPr>
              <a:lnSpc>
                <a:spcPct val="100000"/>
              </a:lnSpc>
            </a:pPr>
            <a:r>
              <a:rPr lang="en-US" sz="1050" b="1">
                <a:solidFill>
                  <a:srgbClr val="0F1423"/>
                </a:solidFill>
                <a:latin typeface="Microsoft YaHei"/>
                <a:ea typeface="Microsoft YaHei"/>
              </a:rPr>
              <a:t xml:space="preserve">L2 </a:t>
            </a:r>
            <a:r>
              <a:rPr lang="zh-CN" sz="1050" b="1">
                <a:solidFill>
                  <a:srgbClr val="0F1423"/>
                </a:solidFill>
                <a:latin typeface="Microsoft YaHei"/>
                <a:ea typeface="Microsoft YaHei"/>
              </a:rPr>
              <a:t>有目录</a:t>
            </a:r>
            <a:endParaRPr/>
          </a:p>
        </p:txBody>
      </p:sp>
      <p:sp>
        <p:nvSpPr>
          <p:cNvPr id="1027" name="" descr="{&quot;isTemplate&quot;:true,&quot;type&quot;:&quot;text&quot;}"/>
          <p:cNvSpPr txBox="1"/>
          <p:nvPr/>
        </p:nvSpPr>
        <p:spPr>
          <a:xfrm rot="0" flipH="0" flipV="0">
            <a:off x="2943225" y="1914525"/>
            <a:ext cx="1876425" cy="485775"/>
          </a:xfrm>
          <a:prstGeom prst="rect"/>
        </p:spPr>
        <p:txBody>
          <a:bodyPr wrap="square" lIns="0" tIns="0" rIns="0" bIns="0">
            <a:normAutofit/>
          </a:bodyPr>
          <a:p>
            <a:pPr>
              <a:lnSpc>
                <a:spcPct val="150000"/>
              </a:lnSpc>
            </a:pPr>
            <a:r>
              <a:rPr lang="zh-CN" sz="863">
                <a:solidFill>
                  <a:srgbClr val="3A4050"/>
                </a:solidFill>
                <a:latin typeface="Microsoft YaHei"/>
                <a:ea typeface="Microsoft YaHei"/>
              </a:rPr>
              <a:t>数据能被找到、能被申请，但策略与权限仍分离。</a:t>
            </a:r>
            <a:endParaRPr/>
          </a:p>
        </p:txBody>
      </p:sp>
      <p:sp>
        <p:nvSpPr>
          <p:cNvPr id="1028" name=""/>
          <p:cNvSpPr/>
          <p:nvPr/>
        </p:nvSpPr>
        <p:spPr>
          <a:xfrm rot="0" flipH="0" flipV="0">
            <a:off x="5029200" y="1323975"/>
            <a:ext cx="2133600" cy="1219200"/>
          </a:xfrm>
          <a:prstGeom prst="roundRect">
            <a:avLst>
              <a:gd name="adj" fmla="val 3125"/>
            </a:avLst>
          </a:prstGeom>
          <a:solidFill>
            <a:srgbClr val="F7F7F8"/>
          </a:solidFill>
          <a:ln/>
        </p:spPr>
        <p:txBody>
          <a:bodyPr/>
          <a:p/>
        </p:txBody>
      </p:sp>
      <p:sp>
        <p:nvSpPr>
          <p:cNvPr id="1029" name=""/>
          <p:cNvSpPr/>
          <p:nvPr/>
        </p:nvSpPr>
        <p:spPr>
          <a:xfrm rot="0" flipH="0" flipV="0">
            <a:off x="5029200" y="1323975"/>
            <a:ext cx="2133600" cy="1219200"/>
          </a:xfrm>
          <a:custGeom>
            <a:pathLst>
              <a:path w="224" h="128">
                <a:moveTo>
                  <a:pt x="220" y="0"/>
                </a:moveTo>
                <a:cubicBezTo>
                  <a:pt x="222" y="0"/>
                  <a:pt x="224" y="2"/>
                  <a:pt x="224" y="4"/>
                </a:cubicBezTo>
                <a:lnTo>
                  <a:pt x="0" y="4"/>
                </a:lnTo>
                <a:cubicBezTo>
                  <a:pt x="0" y="2"/>
                  <a:pt x="2" y="0"/>
                  <a:pt x="4" y="0"/>
                </a:cubicBezTo>
                <a:lnTo>
                  <a:pt x="220" y="0"/>
                </a:lnTo>
                <a:close/>
              </a:path>
            </a:pathLst>
          </a:custGeom>
          <a:solidFill>
            <a:srgbClr val="F87D2F"/>
          </a:solidFill>
          <a:ln/>
        </p:spPr>
        <p:txBody>
          <a:bodyPr/>
          <a:p/>
        </p:txBody>
      </p:sp>
      <p:sp>
        <p:nvSpPr>
          <p:cNvPr id="1030" name="" descr="{&quot;isTemplate&quot;:true,&quot;type&quot;:&quot;text&quot;}"/>
          <p:cNvSpPr txBox="1"/>
          <p:nvPr/>
        </p:nvSpPr>
        <p:spPr>
          <a:xfrm rot="0" flipH="0" flipV="0">
            <a:off x="5153025" y="1428750"/>
            <a:ext cx="1885950" cy="228600"/>
          </a:xfrm>
          <a:prstGeom prst="rect"/>
        </p:spPr>
        <p:txBody>
          <a:bodyPr wrap="none" lIns="0" tIns="0" rIns="0" bIns="0"/>
          <a:p>
            <a:pPr>
              <a:lnSpc>
                <a:spcPct val="100000"/>
              </a:lnSpc>
            </a:pPr>
            <a:r>
              <a:rPr lang="en-US" sz="1500" b="1">
                <a:solidFill>
                  <a:srgbClr val="F87D2F"/>
                </a:solidFill>
                <a:latin typeface="Microsoft YaHei"/>
                <a:ea typeface="Microsoft YaHei"/>
              </a:rPr>
              <a:t>L</a:t>
            </a:r>
            <a:r>
              <a:rPr lang="en-US" sz="1500" b="1">
                <a:solidFill>
                  <a:srgbClr val="F87D2F"/>
                </a:solidFill>
                <a:latin typeface="Microsoft YaHei"/>
                <a:ea typeface="Microsoft YaHei"/>
              </a:rPr>
              <a:t>3</a:t>
            </a:r>
            <a:endParaRPr/>
          </a:p>
        </p:txBody>
      </p:sp>
      <p:sp>
        <p:nvSpPr>
          <p:cNvPr id="1031" name="" descr="{&quot;isTemplate&quot;:true,&quot;type&quot;:&quot;text&quot;}"/>
          <p:cNvSpPr txBox="1"/>
          <p:nvPr/>
        </p:nvSpPr>
        <p:spPr>
          <a:xfrm rot="0" flipH="0" flipV="0">
            <a:off x="5153025" y="1685925"/>
            <a:ext cx="1885950" cy="161925"/>
          </a:xfrm>
          <a:prstGeom prst="rect"/>
        </p:spPr>
        <p:txBody>
          <a:bodyPr wrap="none" lIns="0" tIns="0" rIns="0" bIns="0"/>
          <a:p>
            <a:pPr>
              <a:lnSpc>
                <a:spcPct val="100000"/>
              </a:lnSpc>
            </a:pPr>
            <a:r>
              <a:rPr lang="en-US" sz="1050" b="1">
                <a:solidFill>
                  <a:srgbClr val="0F1423"/>
                </a:solidFill>
                <a:latin typeface="Microsoft YaHei"/>
                <a:ea typeface="Microsoft YaHei"/>
              </a:rPr>
              <a:t xml:space="preserve">L3 </a:t>
            </a:r>
            <a:r>
              <a:rPr lang="zh-CN" sz="1050" b="1">
                <a:solidFill>
                  <a:srgbClr val="0F1423"/>
                </a:solidFill>
                <a:latin typeface="Microsoft YaHei"/>
                <a:ea typeface="Microsoft YaHei"/>
              </a:rPr>
              <a:t>有标记</a:t>
            </a:r>
            <a:endParaRPr/>
          </a:p>
        </p:txBody>
      </p:sp>
      <p:sp>
        <p:nvSpPr>
          <p:cNvPr id="1032" name="" descr="{&quot;isTemplate&quot;:true,&quot;type&quot;:&quot;text&quot;}"/>
          <p:cNvSpPr txBox="1"/>
          <p:nvPr/>
        </p:nvSpPr>
        <p:spPr>
          <a:xfrm rot="0" flipH="0" flipV="0">
            <a:off x="5153025" y="1914525"/>
            <a:ext cx="1885950" cy="485775"/>
          </a:xfrm>
          <a:prstGeom prst="rect"/>
        </p:spPr>
        <p:txBody>
          <a:bodyPr wrap="square" lIns="0" tIns="0" rIns="0" bIns="0">
            <a:normAutofit/>
          </a:bodyPr>
          <a:p>
            <a:pPr>
              <a:lnSpc>
                <a:spcPct val="150000"/>
              </a:lnSpc>
            </a:pPr>
            <a:r>
              <a:rPr lang="zh-CN" sz="863">
                <a:solidFill>
                  <a:srgbClr val="3A4050"/>
                </a:solidFill>
                <a:latin typeface="Microsoft YaHei"/>
                <a:ea typeface="Microsoft YaHei"/>
              </a:rPr>
              <a:t>密级体系落地，行级列级策略上线，血缘能追溯。</a:t>
            </a:r>
            <a:endParaRPr/>
          </a:p>
        </p:txBody>
      </p:sp>
      <p:sp>
        <p:nvSpPr>
          <p:cNvPr id="1033" name=""/>
          <p:cNvSpPr/>
          <p:nvPr/>
        </p:nvSpPr>
        <p:spPr>
          <a:xfrm rot="0" flipH="0" flipV="0">
            <a:off x="7248525" y="1323975"/>
            <a:ext cx="2124075" cy="1219200"/>
          </a:xfrm>
          <a:prstGeom prst="roundRect">
            <a:avLst>
              <a:gd name="adj" fmla="val 3125"/>
            </a:avLst>
          </a:prstGeom>
          <a:solidFill>
            <a:srgbClr val="F7F7F8"/>
          </a:solidFill>
          <a:ln/>
        </p:spPr>
        <p:txBody>
          <a:bodyPr/>
          <a:p/>
        </p:txBody>
      </p:sp>
      <p:sp>
        <p:nvSpPr>
          <p:cNvPr id="1034" name=""/>
          <p:cNvSpPr/>
          <p:nvPr/>
        </p:nvSpPr>
        <p:spPr>
          <a:xfrm rot="0" flipH="0" flipV="0">
            <a:off x="7248525" y="1323975"/>
            <a:ext cx="2124075" cy="1219200"/>
          </a:xfrm>
          <a:custGeom>
            <a:pathLst>
              <a:path w="223" h="128">
                <a:moveTo>
                  <a:pt x="219" y="0"/>
                </a:moveTo>
                <a:cubicBezTo>
                  <a:pt x="221" y="0"/>
                  <a:pt x="223" y="2"/>
                  <a:pt x="223" y="4"/>
                </a:cubicBezTo>
                <a:lnTo>
                  <a:pt x="0" y="4"/>
                </a:lnTo>
                <a:cubicBezTo>
                  <a:pt x="0" y="2"/>
                  <a:pt x="2" y="0"/>
                  <a:pt x="4" y="0"/>
                </a:cubicBezTo>
                <a:lnTo>
                  <a:pt x="219" y="0"/>
                </a:lnTo>
                <a:close/>
              </a:path>
            </a:pathLst>
          </a:custGeom>
          <a:solidFill>
            <a:srgbClr val="FA4F24"/>
          </a:solidFill>
          <a:ln/>
        </p:spPr>
        <p:txBody>
          <a:bodyPr/>
          <a:p/>
        </p:txBody>
      </p:sp>
      <p:sp>
        <p:nvSpPr>
          <p:cNvPr id="1035" name="" descr="{&quot;isTemplate&quot;:true,&quot;type&quot;:&quot;text&quot;}"/>
          <p:cNvSpPr txBox="1"/>
          <p:nvPr/>
        </p:nvSpPr>
        <p:spPr>
          <a:xfrm rot="0" flipH="0" flipV="0">
            <a:off x="7372350" y="1428750"/>
            <a:ext cx="1876425" cy="228600"/>
          </a:xfrm>
          <a:prstGeom prst="rect"/>
        </p:spPr>
        <p:txBody>
          <a:bodyPr wrap="none" lIns="0" tIns="0" rIns="0" bIns="0"/>
          <a:p>
            <a:pPr>
              <a:lnSpc>
                <a:spcPct val="100000"/>
              </a:lnSpc>
            </a:pPr>
            <a:r>
              <a:rPr lang="en-US" sz="1500" b="1">
                <a:solidFill>
                  <a:srgbClr val="FA4F24"/>
                </a:solidFill>
                <a:latin typeface="Microsoft YaHei"/>
                <a:ea typeface="Microsoft YaHei"/>
              </a:rPr>
              <a:t>L</a:t>
            </a:r>
            <a:r>
              <a:rPr lang="en-US" sz="1500" b="1">
                <a:solidFill>
                  <a:srgbClr val="FA4F24"/>
                </a:solidFill>
                <a:latin typeface="Microsoft YaHei"/>
                <a:ea typeface="Microsoft YaHei"/>
              </a:rPr>
              <a:t>4</a:t>
            </a:r>
            <a:endParaRPr/>
          </a:p>
        </p:txBody>
      </p:sp>
      <p:sp>
        <p:nvSpPr>
          <p:cNvPr id="1036" name="" descr="{&quot;isTemplate&quot;:true,&quot;type&quot;:&quot;text&quot;}"/>
          <p:cNvSpPr txBox="1"/>
          <p:nvPr/>
        </p:nvSpPr>
        <p:spPr>
          <a:xfrm rot="0" flipH="0" flipV="0">
            <a:off x="7372350" y="1685925"/>
            <a:ext cx="1876425" cy="161925"/>
          </a:xfrm>
          <a:prstGeom prst="rect"/>
        </p:spPr>
        <p:txBody>
          <a:bodyPr wrap="none" lIns="0" tIns="0" rIns="0" bIns="0"/>
          <a:p>
            <a:pPr>
              <a:lnSpc>
                <a:spcPct val="100000"/>
              </a:lnSpc>
            </a:pPr>
            <a:r>
              <a:rPr lang="en-US" sz="1050" b="1">
                <a:solidFill>
                  <a:srgbClr val="0F1423"/>
                </a:solidFill>
                <a:latin typeface="Microsoft YaHei"/>
                <a:ea typeface="Microsoft YaHei"/>
              </a:rPr>
              <a:t xml:space="preserve">L4 </a:t>
            </a:r>
            <a:r>
              <a:rPr lang="zh-CN" sz="1050" b="1">
                <a:solidFill>
                  <a:srgbClr val="0F1423"/>
                </a:solidFill>
                <a:latin typeface="Microsoft YaHei"/>
                <a:ea typeface="Microsoft YaHei"/>
              </a:rPr>
              <a:t>有闭环</a:t>
            </a:r>
            <a:endParaRPr/>
          </a:p>
        </p:txBody>
      </p:sp>
      <p:sp>
        <p:nvSpPr>
          <p:cNvPr id="1037" name="" descr="{&quot;isTemplate&quot;:true,&quot;type&quot;:&quot;text&quot;}"/>
          <p:cNvSpPr txBox="1"/>
          <p:nvPr/>
        </p:nvSpPr>
        <p:spPr>
          <a:xfrm rot="0" flipH="0" flipV="0">
            <a:off x="7372350" y="1914525"/>
            <a:ext cx="1876425" cy="485775"/>
          </a:xfrm>
          <a:prstGeom prst="rect"/>
        </p:spPr>
        <p:txBody>
          <a:bodyPr wrap="square" lIns="0" tIns="0" rIns="0" bIns="0">
            <a:normAutofit/>
          </a:bodyPr>
          <a:p>
            <a:pPr>
              <a:lnSpc>
                <a:spcPct val="150000"/>
              </a:lnSpc>
            </a:pPr>
            <a:r>
              <a:rPr lang="zh-CN" sz="863">
                <a:solidFill>
                  <a:srgbClr val="3A4050"/>
                </a:solidFill>
                <a:latin typeface="Microsoft YaHei"/>
                <a:ea typeface="Microsoft YaHei"/>
              </a:rPr>
              <a:t>审批进流程，审计可回放，降级可撤回。</a:t>
            </a:r>
            <a:endParaRPr/>
          </a:p>
        </p:txBody>
      </p:sp>
      <p:sp>
        <p:nvSpPr>
          <p:cNvPr id="1038" name=""/>
          <p:cNvSpPr/>
          <p:nvPr/>
        </p:nvSpPr>
        <p:spPr>
          <a:xfrm rot="0" flipH="0" flipV="0">
            <a:off x="9458325" y="1323975"/>
            <a:ext cx="2124075" cy="1219200"/>
          </a:xfrm>
          <a:prstGeom prst="roundRect">
            <a:avLst>
              <a:gd name="adj" fmla="val 3125"/>
            </a:avLst>
          </a:prstGeom>
          <a:solidFill>
            <a:srgbClr val="F7F7F8"/>
          </a:solidFill>
          <a:ln/>
        </p:spPr>
        <p:txBody>
          <a:bodyPr/>
          <a:p/>
        </p:txBody>
      </p:sp>
      <p:sp>
        <p:nvSpPr>
          <p:cNvPr id="1039" name=""/>
          <p:cNvSpPr/>
          <p:nvPr/>
        </p:nvSpPr>
        <p:spPr>
          <a:xfrm rot="0" flipH="0" flipV="0">
            <a:off x="9458325" y="1323975"/>
            <a:ext cx="2124075" cy="1219200"/>
          </a:xfrm>
          <a:custGeom>
            <a:pathLst>
              <a:path w="223" h="128">
                <a:moveTo>
                  <a:pt x="219" y="0"/>
                </a:moveTo>
                <a:cubicBezTo>
                  <a:pt x="221" y="0"/>
                  <a:pt x="223" y="2"/>
                  <a:pt x="223" y="4"/>
                </a:cubicBezTo>
                <a:lnTo>
                  <a:pt x="0" y="4"/>
                </a:lnTo>
                <a:cubicBezTo>
                  <a:pt x="0" y="2"/>
                  <a:pt x="2" y="0"/>
                  <a:pt x="4" y="0"/>
                </a:cubicBezTo>
                <a:lnTo>
                  <a:pt x="219" y="0"/>
                </a:lnTo>
                <a:close/>
              </a:path>
            </a:pathLst>
          </a:custGeom>
          <a:solidFill>
            <a:srgbClr val="C43A17"/>
          </a:solidFill>
          <a:ln/>
        </p:spPr>
        <p:txBody>
          <a:bodyPr/>
          <a:p/>
        </p:txBody>
      </p:sp>
      <p:sp>
        <p:nvSpPr>
          <p:cNvPr id="1040" name="" descr="{&quot;isTemplate&quot;:true,&quot;type&quot;:&quot;text&quot;}"/>
          <p:cNvSpPr txBox="1"/>
          <p:nvPr/>
        </p:nvSpPr>
        <p:spPr>
          <a:xfrm rot="0" flipH="0" flipV="0">
            <a:off x="9582150" y="1428750"/>
            <a:ext cx="1876425" cy="228600"/>
          </a:xfrm>
          <a:prstGeom prst="rect"/>
        </p:spPr>
        <p:txBody>
          <a:bodyPr wrap="none" lIns="0" tIns="0" rIns="0" bIns="0"/>
          <a:p>
            <a:pPr>
              <a:lnSpc>
                <a:spcPct val="100000"/>
              </a:lnSpc>
            </a:pPr>
            <a:r>
              <a:rPr lang="en-US" sz="1500" b="1">
                <a:solidFill>
                  <a:srgbClr val="C43A17"/>
                </a:solidFill>
                <a:latin typeface="Microsoft YaHei"/>
                <a:ea typeface="Microsoft YaHei"/>
              </a:rPr>
              <a:t>L</a:t>
            </a:r>
            <a:r>
              <a:rPr lang="en-US" sz="1500" b="1">
                <a:solidFill>
                  <a:srgbClr val="C43A17"/>
                </a:solidFill>
                <a:latin typeface="Microsoft YaHei"/>
                <a:ea typeface="Microsoft YaHei"/>
              </a:rPr>
              <a:t>5</a:t>
            </a:r>
            <a:endParaRPr/>
          </a:p>
        </p:txBody>
      </p:sp>
      <p:sp>
        <p:nvSpPr>
          <p:cNvPr id="1041" name="" descr="{&quot;isTemplate&quot;:true,&quot;type&quot;:&quot;text&quot;}"/>
          <p:cNvSpPr txBox="1"/>
          <p:nvPr/>
        </p:nvSpPr>
        <p:spPr>
          <a:xfrm rot="0" flipH="0" flipV="0">
            <a:off x="9582150" y="1685925"/>
            <a:ext cx="1876425" cy="161925"/>
          </a:xfrm>
          <a:prstGeom prst="rect"/>
        </p:spPr>
        <p:txBody>
          <a:bodyPr wrap="none" lIns="0" tIns="0" rIns="0" bIns="0"/>
          <a:p>
            <a:pPr>
              <a:lnSpc>
                <a:spcPct val="100000"/>
              </a:lnSpc>
            </a:pPr>
            <a:r>
              <a:rPr lang="en-US" sz="1050" b="1">
                <a:solidFill>
                  <a:srgbClr val="0F1423"/>
                </a:solidFill>
                <a:latin typeface="Microsoft YaHei"/>
                <a:ea typeface="Microsoft YaHei"/>
              </a:rPr>
              <a:t xml:space="preserve">L5 </a:t>
            </a:r>
            <a:r>
              <a:rPr lang="zh-CN" sz="1050" b="1">
                <a:solidFill>
                  <a:srgbClr val="0F1423"/>
                </a:solidFill>
                <a:latin typeface="Microsoft YaHei"/>
                <a:ea typeface="Microsoft YaHei"/>
              </a:rPr>
              <a:t>有内生</a:t>
            </a:r>
            <a:endParaRPr/>
          </a:p>
        </p:txBody>
      </p:sp>
      <p:sp>
        <p:nvSpPr>
          <p:cNvPr id="1042" name="" descr="{&quot;isTemplate&quot;:true,&quot;type&quot;:&quot;text&quot;}"/>
          <p:cNvSpPr txBox="1"/>
          <p:nvPr/>
        </p:nvSpPr>
        <p:spPr>
          <a:xfrm rot="0" flipH="0" flipV="0">
            <a:off x="9582150" y="1914525"/>
            <a:ext cx="1876425" cy="485775"/>
          </a:xfrm>
          <a:prstGeom prst="rect"/>
        </p:spPr>
        <p:txBody>
          <a:bodyPr wrap="square" lIns="0" tIns="0" rIns="0" bIns="0">
            <a:normAutofit/>
          </a:bodyPr>
          <a:p>
            <a:pPr>
              <a:lnSpc>
                <a:spcPct val="150000"/>
              </a:lnSpc>
            </a:pPr>
            <a:r>
              <a:rPr lang="zh-CN" sz="863">
                <a:solidFill>
                  <a:srgbClr val="3A4050"/>
                </a:solidFill>
                <a:latin typeface="Microsoft YaHei"/>
                <a:ea typeface="Microsoft YaHei"/>
              </a:rPr>
              <a:t>新数据默认继承强制控制，违规能被自动检出。</a:t>
            </a:r>
            <a:endParaRPr/>
          </a:p>
        </p:txBody>
      </p:sp>
      <p:sp>
        <p:nvSpPr>
          <p:cNvPr id="1043" name=""/>
          <p:cNvSpPr/>
          <p:nvPr/>
        </p:nvSpPr>
        <p:spPr>
          <a:xfrm rot="0" flipH="0" flipV="0">
            <a:off x="609600" y="2600325"/>
            <a:ext cx="3714750" cy="3114675"/>
          </a:xfrm>
          <a:prstGeom prst="roundRect">
            <a:avLst>
              <a:gd name="adj" fmla="val 1223"/>
            </a:avLst>
          </a:prstGeom>
          <a:solidFill>
            <a:srgbClr val="0F1423"/>
          </a:solidFill>
          <a:ln/>
        </p:spPr>
        <p:txBody>
          <a:bodyPr/>
          <a:p/>
        </p:txBody>
      </p:sp>
      <p:sp>
        <p:nvSpPr>
          <p:cNvPr id="1044" name="" descr="{&quot;isTemplate&quot;:true,&quot;type&quot;:&quot;text&quot;}"/>
          <p:cNvSpPr txBox="1"/>
          <p:nvPr/>
        </p:nvSpPr>
        <p:spPr>
          <a:xfrm rot="0" flipH="0" flipV="0">
            <a:off x="771525" y="2724150"/>
            <a:ext cx="3390900" cy="161925"/>
          </a:xfrm>
          <a:prstGeom prst="rect"/>
        </p:spPr>
        <p:txBody>
          <a:bodyPr wrap="none" lIns="0" tIns="0" rIns="0" bIns="0"/>
          <a:p>
            <a:pPr>
              <a:lnSpc>
                <a:spcPct val="100000"/>
              </a:lnSpc>
            </a:pPr>
            <a:r>
              <a:rPr lang="zh-CN" sz="1050" b="1">
                <a:solidFill>
                  <a:srgbClr val="FBA15C"/>
                </a:solidFill>
                <a:latin typeface="Microsoft YaHei"/>
                <a:ea typeface="Microsoft YaHei"/>
              </a:rPr>
              <a:t>五类失效：治理出问题都在这五种形态里</a:t>
            </a:r>
            <a:endParaRPr/>
          </a:p>
        </p:txBody>
      </p:sp>
      <p:sp>
        <p:nvSpPr>
          <p:cNvPr id="1045" name=""/>
          <p:cNvSpPr/>
          <p:nvPr/>
        </p:nvSpPr>
        <p:spPr>
          <a:xfrm rot="0" flipH="0" flipV="0">
            <a:off x="800100" y="2981325"/>
            <a:ext cx="3390900" cy="476250"/>
          </a:xfrm>
          <a:prstGeom prst="roundRect">
            <a:avLst>
              <a:gd name="adj" fmla="val 6000"/>
            </a:avLst>
          </a:prstGeom>
          <a:solidFill>
            <a:srgbClr val="FFFFFF">
              <a:alpha val="7000"/>
            </a:srgbClr>
          </a:solidFill>
          <a:ln/>
        </p:spPr>
        <p:txBody>
          <a:bodyPr/>
          <a:p/>
        </p:txBody>
      </p:sp>
      <p:sp>
        <p:nvSpPr>
          <p:cNvPr id="1046" name=""/>
          <p:cNvSpPr/>
          <p:nvPr/>
        </p:nvSpPr>
        <p:spPr>
          <a:xfrm rot="0" flipH="0" flipV="0">
            <a:off x="800100" y="2981325"/>
            <a:ext cx="3390900" cy="476250"/>
          </a:xfrm>
          <a:custGeom>
            <a:pathLst>
              <a:path w="356" h="50">
                <a:moveTo>
                  <a:pt x="3" y="50"/>
                </a:moveTo>
                <a:cubicBezTo>
                  <a:pt x="1" y="50"/>
                  <a:pt x="0" y="49"/>
                  <a:pt x="0" y="47"/>
                </a:cubicBezTo>
                <a:lnTo>
                  <a:pt x="0" y="3"/>
                </a:lnTo>
                <a:cubicBezTo>
                  <a:pt x="0" y="1"/>
                  <a:pt x="1" y="0"/>
                  <a:pt x="3" y="0"/>
                </a:cubicBezTo>
                <a:lnTo>
                  <a:pt x="3" y="50"/>
                </a:lnTo>
                <a:close/>
              </a:path>
            </a:pathLst>
          </a:custGeom>
          <a:solidFill>
            <a:srgbClr val="C43A17"/>
          </a:solidFill>
          <a:ln/>
        </p:spPr>
        <p:txBody>
          <a:bodyPr/>
          <a:p/>
        </p:txBody>
      </p:sp>
      <p:sp>
        <p:nvSpPr>
          <p:cNvPr id="1047" name="" descr="{&quot;isTemplate&quot;:true,&quot;type&quot;:&quot;text&quot;}"/>
          <p:cNvSpPr txBox="1"/>
          <p:nvPr/>
        </p:nvSpPr>
        <p:spPr>
          <a:xfrm rot="0" flipH="0" flipV="0">
            <a:off x="895350" y="3048000"/>
            <a:ext cx="3171825" cy="133350"/>
          </a:xfrm>
          <a:prstGeom prst="rect"/>
        </p:spPr>
        <p:txBody>
          <a:bodyPr wrap="none" lIns="0" tIns="0" rIns="0" bIns="0"/>
          <a:p>
            <a:pPr>
              <a:lnSpc>
                <a:spcPct val="100000"/>
              </a:lnSpc>
            </a:pPr>
            <a:r>
              <a:rPr lang="zh-CN" sz="863" b="1">
                <a:solidFill>
                  <a:srgbClr val="FFFFFF"/>
                </a:solidFill>
                <a:latin typeface="Microsoft YaHei"/>
                <a:ea typeface="Microsoft YaHei"/>
              </a:rPr>
              <a:t>静默越权</a:t>
            </a:r>
            <a:endParaRPr/>
          </a:p>
        </p:txBody>
      </p:sp>
      <p:sp>
        <p:nvSpPr>
          <p:cNvPr id="1048" name="" descr="{&quot;isTemplate&quot;:true,&quot;type&quot;:&quot;text&quot;}"/>
          <p:cNvSpPr txBox="1"/>
          <p:nvPr/>
        </p:nvSpPr>
        <p:spPr>
          <a:xfrm rot="0" flipH="0" flipV="0">
            <a:off x="895350" y="3209925"/>
            <a:ext cx="3171825" cy="180975"/>
          </a:xfrm>
          <a:prstGeom prst="rect"/>
        </p:spPr>
        <p:txBody>
          <a:bodyPr wrap="none" lIns="0" tIns="0" rIns="0" bIns="0"/>
          <a:p>
            <a:pPr>
              <a:lnSpc>
                <a:spcPct val="140000"/>
              </a:lnSpc>
            </a:pPr>
            <a:r>
              <a:rPr lang="zh-CN" sz="825">
                <a:solidFill>
                  <a:srgbClr val="FFFFFF">
                    <a:alpha val="78000"/>
                  </a:srgbClr>
                </a:solidFill>
                <a:latin typeface="Microsoft YaHei"/>
                <a:ea typeface="Microsoft YaHei"/>
              </a:rPr>
              <a:t>越权不报错，日志里也看不出来——因为只记了成功不记了拒绝。</a:t>
            </a:r>
            <a:endParaRPr/>
          </a:p>
        </p:txBody>
      </p:sp>
      <p:sp>
        <p:nvSpPr>
          <p:cNvPr id="1049" name=""/>
          <p:cNvSpPr/>
          <p:nvPr/>
        </p:nvSpPr>
        <p:spPr>
          <a:xfrm rot="0" flipH="0" flipV="0">
            <a:off x="800100" y="3514725"/>
            <a:ext cx="3390900" cy="476250"/>
          </a:xfrm>
          <a:prstGeom prst="roundRect">
            <a:avLst>
              <a:gd name="adj" fmla="val 6000"/>
            </a:avLst>
          </a:prstGeom>
          <a:solidFill>
            <a:srgbClr val="FFFFFF">
              <a:alpha val="7000"/>
            </a:srgbClr>
          </a:solidFill>
          <a:ln/>
        </p:spPr>
        <p:txBody>
          <a:bodyPr/>
          <a:p/>
        </p:txBody>
      </p:sp>
      <p:sp>
        <p:nvSpPr>
          <p:cNvPr id="1050" name=""/>
          <p:cNvSpPr/>
          <p:nvPr/>
        </p:nvSpPr>
        <p:spPr>
          <a:xfrm rot="0" flipH="0" flipV="0">
            <a:off x="800100" y="3514725"/>
            <a:ext cx="3390900" cy="476250"/>
          </a:xfrm>
          <a:custGeom>
            <a:pathLst>
              <a:path w="356" h="50">
                <a:moveTo>
                  <a:pt x="3" y="50"/>
                </a:moveTo>
                <a:cubicBezTo>
                  <a:pt x="1" y="50"/>
                  <a:pt x="0" y="49"/>
                  <a:pt x="0" y="47"/>
                </a:cubicBezTo>
                <a:lnTo>
                  <a:pt x="0" y="3"/>
                </a:lnTo>
                <a:cubicBezTo>
                  <a:pt x="0" y="1"/>
                  <a:pt x="1" y="0"/>
                  <a:pt x="3" y="0"/>
                </a:cubicBezTo>
                <a:lnTo>
                  <a:pt x="3" y="50"/>
                </a:lnTo>
                <a:close/>
              </a:path>
            </a:pathLst>
          </a:custGeom>
          <a:solidFill>
            <a:srgbClr val="C43A17"/>
          </a:solidFill>
          <a:ln/>
        </p:spPr>
        <p:txBody>
          <a:bodyPr/>
          <a:p/>
        </p:txBody>
      </p:sp>
      <p:sp>
        <p:nvSpPr>
          <p:cNvPr id="1051" name="" descr="{&quot;isTemplate&quot;:true,&quot;type&quot;:&quot;text&quot;}"/>
          <p:cNvSpPr txBox="1"/>
          <p:nvPr/>
        </p:nvSpPr>
        <p:spPr>
          <a:xfrm rot="0" flipH="0" flipV="0">
            <a:off x="895350" y="3581400"/>
            <a:ext cx="3171825" cy="133350"/>
          </a:xfrm>
          <a:prstGeom prst="rect"/>
        </p:spPr>
        <p:txBody>
          <a:bodyPr wrap="none" lIns="0" tIns="0" rIns="0" bIns="0"/>
          <a:p>
            <a:pPr>
              <a:lnSpc>
                <a:spcPct val="100000"/>
              </a:lnSpc>
            </a:pPr>
            <a:r>
              <a:rPr lang="zh-CN" sz="863" b="1">
                <a:solidFill>
                  <a:srgbClr val="FFFFFF"/>
                </a:solidFill>
                <a:latin typeface="Microsoft YaHei"/>
                <a:ea typeface="Microsoft YaHei"/>
              </a:rPr>
              <a:t>标记洗白</a:t>
            </a:r>
            <a:endParaRPr/>
          </a:p>
        </p:txBody>
      </p:sp>
      <p:sp>
        <p:nvSpPr>
          <p:cNvPr id="1052" name="" descr="{&quot;isTemplate&quot;:true,&quot;type&quot;:&quot;text&quot;}"/>
          <p:cNvSpPr txBox="1"/>
          <p:nvPr/>
        </p:nvSpPr>
        <p:spPr>
          <a:xfrm rot="0" flipH="0" flipV="0">
            <a:off x="895350" y="3743325"/>
            <a:ext cx="3171825" cy="180975"/>
          </a:xfrm>
          <a:prstGeom prst="rect"/>
        </p:spPr>
        <p:txBody>
          <a:bodyPr wrap="none" lIns="0" tIns="0" rIns="0" bIns="0"/>
          <a:p>
            <a:pPr>
              <a:lnSpc>
                <a:spcPct val="140000"/>
              </a:lnSpc>
            </a:pPr>
            <a:r>
              <a:rPr lang="zh-CN" sz="825">
                <a:solidFill>
                  <a:srgbClr val="FFFFFF">
                    <a:alpha val="78000"/>
                  </a:srgbClr>
                </a:solidFill>
                <a:latin typeface="Microsoft YaHei"/>
                <a:ea typeface="Microsoft YaHei"/>
              </a:rPr>
              <a:t>数据流经管道或切片后标记消失，回来就成了裸数据。</a:t>
            </a:r>
            <a:endParaRPr/>
          </a:p>
        </p:txBody>
      </p:sp>
      <p:sp>
        <p:nvSpPr>
          <p:cNvPr id="1053" name=""/>
          <p:cNvSpPr/>
          <p:nvPr/>
        </p:nvSpPr>
        <p:spPr>
          <a:xfrm rot="0" flipH="0" flipV="0">
            <a:off x="800100" y="4048125"/>
            <a:ext cx="3390900" cy="476250"/>
          </a:xfrm>
          <a:prstGeom prst="roundRect">
            <a:avLst>
              <a:gd name="adj" fmla="val 6000"/>
            </a:avLst>
          </a:prstGeom>
          <a:solidFill>
            <a:srgbClr val="FFFFFF">
              <a:alpha val="7000"/>
            </a:srgbClr>
          </a:solidFill>
          <a:ln/>
        </p:spPr>
        <p:txBody>
          <a:bodyPr/>
          <a:p/>
        </p:txBody>
      </p:sp>
      <p:sp>
        <p:nvSpPr>
          <p:cNvPr id="1054" name=""/>
          <p:cNvSpPr/>
          <p:nvPr/>
        </p:nvSpPr>
        <p:spPr>
          <a:xfrm rot="0" flipH="0" flipV="0">
            <a:off x="800100" y="4048125"/>
            <a:ext cx="3390900" cy="476250"/>
          </a:xfrm>
          <a:custGeom>
            <a:pathLst>
              <a:path w="356" h="50">
                <a:moveTo>
                  <a:pt x="3" y="50"/>
                </a:moveTo>
                <a:cubicBezTo>
                  <a:pt x="1" y="50"/>
                  <a:pt x="0" y="49"/>
                  <a:pt x="0" y="47"/>
                </a:cubicBezTo>
                <a:lnTo>
                  <a:pt x="0" y="3"/>
                </a:lnTo>
                <a:cubicBezTo>
                  <a:pt x="0" y="1"/>
                  <a:pt x="1" y="0"/>
                  <a:pt x="3" y="0"/>
                </a:cubicBezTo>
                <a:lnTo>
                  <a:pt x="3" y="50"/>
                </a:lnTo>
                <a:close/>
              </a:path>
            </a:pathLst>
          </a:custGeom>
          <a:solidFill>
            <a:srgbClr val="C43A17"/>
          </a:solidFill>
          <a:ln/>
        </p:spPr>
        <p:txBody>
          <a:bodyPr/>
          <a:p/>
        </p:txBody>
      </p:sp>
      <p:sp>
        <p:nvSpPr>
          <p:cNvPr id="1055" name="" descr="{&quot;isTemplate&quot;:true,&quot;type&quot;:&quot;text&quot;}"/>
          <p:cNvSpPr txBox="1"/>
          <p:nvPr/>
        </p:nvSpPr>
        <p:spPr>
          <a:xfrm rot="0" flipH="0" flipV="0">
            <a:off x="895350" y="4114800"/>
            <a:ext cx="3171825" cy="133350"/>
          </a:xfrm>
          <a:prstGeom prst="rect"/>
        </p:spPr>
        <p:txBody>
          <a:bodyPr wrap="none" lIns="0" tIns="0" rIns="0" bIns="0"/>
          <a:p>
            <a:pPr>
              <a:lnSpc>
                <a:spcPct val="100000"/>
              </a:lnSpc>
            </a:pPr>
            <a:r>
              <a:rPr lang="zh-CN" sz="863" b="1">
                <a:solidFill>
                  <a:srgbClr val="FFFFFF"/>
                </a:solidFill>
                <a:latin typeface="Microsoft YaHei"/>
                <a:ea typeface="Microsoft YaHei"/>
              </a:rPr>
              <a:t>策略外挂</a:t>
            </a:r>
            <a:endParaRPr/>
          </a:p>
        </p:txBody>
      </p:sp>
      <p:sp>
        <p:nvSpPr>
          <p:cNvPr id="1056" name="" descr="{&quot;isTemplate&quot;:true,&quot;type&quot;:&quot;text&quot;}"/>
          <p:cNvSpPr txBox="1"/>
          <p:nvPr/>
        </p:nvSpPr>
        <p:spPr>
          <a:xfrm rot="0" flipH="0" flipV="0">
            <a:off x="895350" y="4276725"/>
            <a:ext cx="3171825" cy="180975"/>
          </a:xfrm>
          <a:prstGeom prst="rect"/>
        </p:spPr>
        <p:txBody>
          <a:bodyPr wrap="none" lIns="0" tIns="0" rIns="0" bIns="0"/>
          <a:p>
            <a:pPr>
              <a:lnSpc>
                <a:spcPct val="140000"/>
              </a:lnSpc>
            </a:pPr>
            <a:r>
              <a:rPr lang="zh-CN" sz="825">
                <a:solidFill>
                  <a:srgbClr val="FFFFFF">
                    <a:alpha val="78000"/>
                  </a:srgbClr>
                </a:solidFill>
                <a:latin typeface="Microsoft YaHei"/>
                <a:ea typeface="Microsoft YaHei"/>
              </a:rPr>
              <a:t>策略在文档里，系统里没有对应实现，两边不一致。</a:t>
            </a:r>
            <a:endParaRPr/>
          </a:p>
        </p:txBody>
      </p:sp>
      <p:sp>
        <p:nvSpPr>
          <p:cNvPr id="1057" name=""/>
          <p:cNvSpPr/>
          <p:nvPr/>
        </p:nvSpPr>
        <p:spPr>
          <a:xfrm rot="0" flipH="0" flipV="0">
            <a:off x="800100" y="4581525"/>
            <a:ext cx="3390900" cy="476250"/>
          </a:xfrm>
          <a:prstGeom prst="roundRect">
            <a:avLst>
              <a:gd name="adj" fmla="val 6000"/>
            </a:avLst>
          </a:prstGeom>
          <a:solidFill>
            <a:srgbClr val="FFFFFF">
              <a:alpha val="7000"/>
            </a:srgbClr>
          </a:solidFill>
          <a:ln/>
        </p:spPr>
        <p:txBody>
          <a:bodyPr/>
          <a:p/>
        </p:txBody>
      </p:sp>
      <p:sp>
        <p:nvSpPr>
          <p:cNvPr id="1058" name=""/>
          <p:cNvSpPr/>
          <p:nvPr/>
        </p:nvSpPr>
        <p:spPr>
          <a:xfrm rot="0" flipH="0" flipV="0">
            <a:off x="800100" y="4581525"/>
            <a:ext cx="3390900" cy="476250"/>
          </a:xfrm>
          <a:custGeom>
            <a:pathLst>
              <a:path w="356" h="50">
                <a:moveTo>
                  <a:pt x="3" y="50"/>
                </a:moveTo>
                <a:cubicBezTo>
                  <a:pt x="1" y="50"/>
                  <a:pt x="0" y="49"/>
                  <a:pt x="0" y="47"/>
                </a:cubicBezTo>
                <a:lnTo>
                  <a:pt x="0" y="3"/>
                </a:lnTo>
                <a:cubicBezTo>
                  <a:pt x="0" y="1"/>
                  <a:pt x="1" y="0"/>
                  <a:pt x="3" y="0"/>
                </a:cubicBezTo>
                <a:lnTo>
                  <a:pt x="3" y="50"/>
                </a:lnTo>
                <a:close/>
              </a:path>
            </a:pathLst>
          </a:custGeom>
          <a:solidFill>
            <a:srgbClr val="C43A17"/>
          </a:solidFill>
          <a:ln/>
        </p:spPr>
        <p:txBody>
          <a:bodyPr/>
          <a:p/>
        </p:txBody>
      </p:sp>
      <p:sp>
        <p:nvSpPr>
          <p:cNvPr id="1059" name="" descr="{&quot;isTemplate&quot;:true,&quot;type&quot;:&quot;text&quot;}"/>
          <p:cNvSpPr txBox="1"/>
          <p:nvPr/>
        </p:nvSpPr>
        <p:spPr>
          <a:xfrm rot="0" flipH="0" flipV="0">
            <a:off x="895350" y="4648200"/>
            <a:ext cx="3171825" cy="133350"/>
          </a:xfrm>
          <a:prstGeom prst="rect"/>
        </p:spPr>
        <p:txBody>
          <a:bodyPr wrap="none" lIns="0" tIns="0" rIns="0" bIns="0"/>
          <a:p>
            <a:pPr>
              <a:lnSpc>
                <a:spcPct val="100000"/>
              </a:lnSpc>
            </a:pPr>
            <a:r>
              <a:rPr lang="zh-CN" sz="863" b="1">
                <a:solidFill>
                  <a:srgbClr val="FFFFFF"/>
                </a:solidFill>
                <a:latin typeface="Microsoft YaHei"/>
                <a:ea typeface="Microsoft YaHei"/>
              </a:rPr>
              <a:t>推断泄漏</a:t>
            </a:r>
            <a:endParaRPr/>
          </a:p>
        </p:txBody>
      </p:sp>
      <p:sp>
        <p:nvSpPr>
          <p:cNvPr id="1060" name="" descr="{&quot;isTemplate&quot;:true,&quot;type&quot;:&quot;text&quot;}"/>
          <p:cNvSpPr txBox="1"/>
          <p:nvPr/>
        </p:nvSpPr>
        <p:spPr>
          <a:xfrm rot="0" flipH="0" flipV="0">
            <a:off x="895350" y="4810125"/>
            <a:ext cx="3171825" cy="180975"/>
          </a:xfrm>
          <a:prstGeom prst="rect"/>
        </p:spPr>
        <p:txBody>
          <a:bodyPr wrap="none" lIns="0" tIns="0" rIns="0" bIns="0"/>
          <a:p>
            <a:pPr>
              <a:lnSpc>
                <a:spcPct val="140000"/>
              </a:lnSpc>
            </a:pPr>
            <a:r>
              <a:rPr lang="zh-CN" sz="825">
                <a:solidFill>
                  <a:srgbClr val="FFFFFF">
                    <a:alpha val="78000"/>
                  </a:srgbClr>
                </a:solidFill>
                <a:latin typeface="Microsoft YaHei"/>
                <a:ea typeface="Microsoft YaHei"/>
              </a:rPr>
              <a:t>低密级数据被聚合、推理出高密级结论，检索层管不住。</a:t>
            </a:r>
            <a:endParaRPr/>
          </a:p>
        </p:txBody>
      </p:sp>
      <p:sp>
        <p:nvSpPr>
          <p:cNvPr id="1061" name=""/>
          <p:cNvSpPr/>
          <p:nvPr/>
        </p:nvSpPr>
        <p:spPr>
          <a:xfrm rot="0" flipH="0" flipV="0">
            <a:off x="800100" y="5114925"/>
            <a:ext cx="3390900" cy="476250"/>
          </a:xfrm>
          <a:prstGeom prst="roundRect">
            <a:avLst>
              <a:gd name="adj" fmla="val 6000"/>
            </a:avLst>
          </a:prstGeom>
          <a:solidFill>
            <a:srgbClr val="FFFFFF">
              <a:alpha val="7000"/>
            </a:srgbClr>
          </a:solidFill>
          <a:ln/>
        </p:spPr>
        <p:txBody>
          <a:bodyPr/>
          <a:p/>
        </p:txBody>
      </p:sp>
      <p:sp>
        <p:nvSpPr>
          <p:cNvPr id="1062" name=""/>
          <p:cNvSpPr/>
          <p:nvPr/>
        </p:nvSpPr>
        <p:spPr>
          <a:xfrm rot="0" flipH="0" flipV="0">
            <a:off x="800100" y="5114925"/>
            <a:ext cx="3390900" cy="476250"/>
          </a:xfrm>
          <a:custGeom>
            <a:pathLst>
              <a:path w="356" h="50">
                <a:moveTo>
                  <a:pt x="3" y="50"/>
                </a:moveTo>
                <a:cubicBezTo>
                  <a:pt x="1" y="50"/>
                  <a:pt x="0" y="49"/>
                  <a:pt x="0" y="47"/>
                </a:cubicBezTo>
                <a:lnTo>
                  <a:pt x="0" y="3"/>
                </a:lnTo>
                <a:cubicBezTo>
                  <a:pt x="0" y="1"/>
                  <a:pt x="1" y="0"/>
                  <a:pt x="3" y="0"/>
                </a:cubicBezTo>
                <a:lnTo>
                  <a:pt x="3" y="50"/>
                </a:lnTo>
                <a:close/>
              </a:path>
            </a:pathLst>
          </a:custGeom>
          <a:solidFill>
            <a:srgbClr val="C43A17"/>
          </a:solidFill>
          <a:ln/>
        </p:spPr>
        <p:txBody>
          <a:bodyPr/>
          <a:p/>
        </p:txBody>
      </p:sp>
      <p:sp>
        <p:nvSpPr>
          <p:cNvPr id="1063" name="" descr="{&quot;isTemplate&quot;:true,&quot;type&quot;:&quot;text&quot;}"/>
          <p:cNvSpPr txBox="1"/>
          <p:nvPr/>
        </p:nvSpPr>
        <p:spPr>
          <a:xfrm rot="0" flipH="0" flipV="0">
            <a:off x="895350" y="5181600"/>
            <a:ext cx="3171825" cy="133350"/>
          </a:xfrm>
          <a:prstGeom prst="rect"/>
        </p:spPr>
        <p:txBody>
          <a:bodyPr wrap="none" lIns="0" tIns="0" rIns="0" bIns="0"/>
          <a:p>
            <a:pPr>
              <a:lnSpc>
                <a:spcPct val="100000"/>
              </a:lnSpc>
            </a:pPr>
            <a:r>
              <a:rPr lang="zh-CN" sz="863" b="1">
                <a:solidFill>
                  <a:srgbClr val="FFFFFF"/>
                </a:solidFill>
                <a:latin typeface="Microsoft YaHei"/>
                <a:ea typeface="Microsoft YaHei"/>
              </a:rPr>
              <a:t>审计断链</a:t>
            </a:r>
            <a:endParaRPr/>
          </a:p>
        </p:txBody>
      </p:sp>
      <p:sp>
        <p:nvSpPr>
          <p:cNvPr id="1064" name="" descr="{&quot;isTemplate&quot;:true,&quot;type&quot;:&quot;text&quot;}"/>
          <p:cNvSpPr txBox="1"/>
          <p:nvPr/>
        </p:nvSpPr>
        <p:spPr>
          <a:xfrm rot="0" flipH="0" flipV="0">
            <a:off x="895350" y="5343525"/>
            <a:ext cx="3171825" cy="180975"/>
          </a:xfrm>
          <a:prstGeom prst="rect"/>
        </p:spPr>
        <p:txBody>
          <a:bodyPr wrap="none" lIns="0" tIns="0" rIns="0" bIns="0"/>
          <a:p>
            <a:pPr>
              <a:lnSpc>
                <a:spcPct val="140000"/>
              </a:lnSpc>
            </a:pPr>
            <a:r>
              <a:rPr lang="zh-CN" sz="825">
                <a:solidFill>
                  <a:srgbClr val="FFFFFF">
                    <a:alpha val="78000"/>
                  </a:srgbClr>
                </a:solidFill>
                <a:latin typeface="Microsoft YaHei"/>
                <a:ea typeface="Microsoft YaHei"/>
              </a:rPr>
              <a:t>有日志但缺「为什么」，出事时无法定位决策过程。</a:t>
            </a:r>
            <a:endParaRPr/>
          </a:p>
        </p:txBody>
      </p:sp>
      <p:sp>
        <p:nvSpPr>
          <p:cNvPr id="1065" name=""/>
          <p:cNvSpPr/>
          <p:nvPr/>
        </p:nvSpPr>
        <p:spPr>
          <a:xfrm rot="0" flipH="0" flipV="0">
            <a:off x="4419600" y="2600325"/>
            <a:ext cx="4276725" cy="3114675"/>
          </a:xfrm>
          <a:prstGeom prst="roundRect">
            <a:avLst>
              <a:gd name="adj" fmla="val 1223"/>
            </a:avLst>
          </a:prstGeom>
          <a:solidFill>
            <a:srgbClr val="FFFFFF"/>
          </a:solidFill>
          <a:ln w="12700">
            <a:solidFill>
              <a:srgbClr val="E8E8E8"/>
            </a:solidFill>
            <a:prstDash val="solid"/>
          </a:ln>
        </p:spPr>
        <p:txBody>
          <a:bodyPr/>
          <a:p/>
        </p:txBody>
      </p:sp>
      <p:sp>
        <p:nvSpPr>
          <p:cNvPr id="1066" name="" descr="{&quot;isTemplate&quot;:true,&quot;type&quot;:&quot;text&quot;}"/>
          <p:cNvSpPr txBox="1"/>
          <p:nvPr/>
        </p:nvSpPr>
        <p:spPr>
          <a:xfrm rot="0" flipH="0" flipV="0">
            <a:off x="4581525" y="2724150"/>
            <a:ext cx="3952875" cy="161925"/>
          </a:xfrm>
          <a:prstGeom prst="rect"/>
        </p:spPr>
        <p:txBody>
          <a:bodyPr wrap="none" lIns="0" tIns="0" rIns="0" bIns="0"/>
          <a:p>
            <a:pPr>
              <a:lnSpc>
                <a:spcPct val="100000"/>
              </a:lnSpc>
            </a:pPr>
            <a:r>
              <a:rPr lang="zh-CN" sz="1050" b="1">
                <a:solidFill>
                  <a:srgbClr val="0F1423"/>
                </a:solidFill>
                <a:latin typeface="Microsoft YaHei"/>
                <a:ea typeface="Microsoft YaHei"/>
              </a:rPr>
              <a:t>十二项评审：给治理体系做体检的清单</a:t>
            </a:r>
            <a:endParaRPr/>
          </a:p>
        </p:txBody>
      </p:sp>
      <p:sp>
        <p:nvSpPr>
          <p:cNvPr id="1067" name=""/>
          <p:cNvSpPr/>
          <p:nvPr/>
        </p:nvSpPr>
        <p:spPr>
          <a:xfrm rot="0" flipH="0" flipV="0">
            <a:off x="4581525" y="2981325"/>
            <a:ext cx="1924050" cy="533400"/>
          </a:xfrm>
          <a:prstGeom prst="roundRect">
            <a:avLst>
              <a:gd name="adj" fmla="val 5357"/>
            </a:avLst>
          </a:prstGeom>
          <a:solidFill>
            <a:srgbClr val="F7F7F8"/>
          </a:solidFill>
          <a:ln/>
        </p:spPr>
        <p:txBody>
          <a:bodyPr/>
          <a:p/>
        </p:txBody>
      </p:sp>
      <p:sp>
        <p:nvSpPr>
          <p:cNvPr id="1068" name="" descr="{&quot;isTemplate&quot;:true,&quot;type&quot;:&quot;text&quot;}"/>
          <p:cNvSpPr txBox="1"/>
          <p:nvPr/>
        </p:nvSpPr>
        <p:spPr>
          <a:xfrm rot="0" flipH="0" flipV="0">
            <a:off x="4667250" y="3038475"/>
            <a:ext cx="1752600" cy="180975"/>
          </a:xfrm>
          <a:prstGeom prst="rect"/>
        </p:spPr>
        <p:txBody>
          <a:bodyPr wrap="none" lIns="0" tIns="0" rIns="0" bIns="0"/>
          <a:p>
            <a:pPr>
              <a:lnSpc>
                <a:spcPct val="140000"/>
              </a:lnSpc>
            </a:pPr>
            <a:r>
              <a:rPr lang="en-US" sz="825">
                <a:solidFill>
                  <a:srgbClr val="3A4050"/>
                </a:solidFill>
                <a:latin typeface="Microsoft YaHei"/>
                <a:ea typeface="Microsoft YaHei"/>
              </a:rPr>
              <a:t>1</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标记类别是否有删除入口？</a:t>
            </a:r>
            <a:endParaRPr/>
          </a:p>
        </p:txBody>
      </p:sp>
      <p:sp>
        <p:nvSpPr>
          <p:cNvPr id="1069" name=""/>
          <p:cNvSpPr/>
          <p:nvPr/>
        </p:nvSpPr>
        <p:spPr>
          <a:xfrm rot="0" flipH="0" flipV="0">
            <a:off x="6562725" y="2981325"/>
            <a:ext cx="1914525" cy="533400"/>
          </a:xfrm>
          <a:prstGeom prst="roundRect">
            <a:avLst>
              <a:gd name="adj" fmla="val 5357"/>
            </a:avLst>
          </a:prstGeom>
          <a:solidFill>
            <a:srgbClr val="F7F7F8"/>
          </a:solidFill>
          <a:ln/>
        </p:spPr>
        <p:txBody>
          <a:bodyPr/>
          <a:p/>
        </p:txBody>
      </p:sp>
      <p:sp>
        <p:nvSpPr>
          <p:cNvPr id="1070" name="" descr="{&quot;isTemplate&quot;:true,&quot;type&quot;:&quot;text&quot;}"/>
          <p:cNvSpPr txBox="1"/>
          <p:nvPr/>
        </p:nvSpPr>
        <p:spPr>
          <a:xfrm rot="0" flipH="0" flipV="0">
            <a:off x="6648450" y="3038475"/>
            <a:ext cx="1743075" cy="352425"/>
          </a:xfrm>
          <a:prstGeom prst="rect"/>
        </p:spPr>
        <p:txBody>
          <a:bodyPr wrap="square" lIns="0" tIns="0" rIns="0" bIns="0">
            <a:normAutofit/>
          </a:bodyPr>
          <a:p>
            <a:pPr>
              <a:lnSpc>
                <a:spcPct val="140000"/>
              </a:lnSpc>
            </a:pPr>
            <a:r>
              <a:rPr lang="en-US" sz="825">
                <a:solidFill>
                  <a:srgbClr val="3A4050"/>
                </a:solidFill>
                <a:latin typeface="Microsoft YaHei"/>
                <a:ea typeface="Microsoft YaHei"/>
              </a:rPr>
              <a:t>2</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是否有属性在多个列级策略中重叠？</a:t>
            </a:r>
            <a:endParaRPr/>
          </a:p>
        </p:txBody>
      </p:sp>
      <p:sp>
        <p:nvSpPr>
          <p:cNvPr id="1071" name=""/>
          <p:cNvSpPr/>
          <p:nvPr/>
        </p:nvSpPr>
        <p:spPr>
          <a:xfrm rot="0" flipH="0" flipV="0">
            <a:off x="4581525" y="3571875"/>
            <a:ext cx="1924050" cy="352425"/>
          </a:xfrm>
          <a:prstGeom prst="roundRect">
            <a:avLst>
              <a:gd name="adj" fmla="val 8108"/>
            </a:avLst>
          </a:prstGeom>
          <a:solidFill>
            <a:srgbClr val="F7F7F8"/>
          </a:solidFill>
          <a:ln/>
        </p:spPr>
        <p:txBody>
          <a:bodyPr/>
          <a:p/>
        </p:txBody>
      </p:sp>
      <p:sp>
        <p:nvSpPr>
          <p:cNvPr id="1072" name="" descr="{&quot;isTemplate&quot;:true,&quot;type&quot;:&quot;text&quot;}"/>
          <p:cNvSpPr txBox="1"/>
          <p:nvPr/>
        </p:nvSpPr>
        <p:spPr>
          <a:xfrm rot="0" flipH="0" flipV="0">
            <a:off x="4667250" y="3629025"/>
            <a:ext cx="1752600" cy="180975"/>
          </a:xfrm>
          <a:prstGeom prst="rect"/>
        </p:spPr>
        <p:txBody>
          <a:bodyPr wrap="none" lIns="0" tIns="0" rIns="0" bIns="0"/>
          <a:p>
            <a:pPr>
              <a:lnSpc>
                <a:spcPct val="140000"/>
              </a:lnSpc>
            </a:pPr>
            <a:r>
              <a:rPr lang="en-US" sz="825">
                <a:solidFill>
                  <a:srgbClr val="3A4050"/>
                </a:solidFill>
                <a:latin typeface="Microsoft YaHei"/>
                <a:ea typeface="Microsoft YaHei"/>
              </a:rPr>
              <a:t>3</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拒绝事件是否入库？</a:t>
            </a:r>
            <a:endParaRPr/>
          </a:p>
        </p:txBody>
      </p:sp>
      <p:sp>
        <p:nvSpPr>
          <p:cNvPr id="1073" name=""/>
          <p:cNvSpPr/>
          <p:nvPr/>
        </p:nvSpPr>
        <p:spPr>
          <a:xfrm rot="0" flipH="0" flipV="0">
            <a:off x="6562725" y="3571875"/>
            <a:ext cx="1914525" cy="352425"/>
          </a:xfrm>
          <a:prstGeom prst="roundRect">
            <a:avLst>
              <a:gd name="adj" fmla="val 8108"/>
            </a:avLst>
          </a:prstGeom>
          <a:solidFill>
            <a:srgbClr val="F7F7F8"/>
          </a:solidFill>
          <a:ln/>
        </p:spPr>
        <p:txBody>
          <a:bodyPr/>
          <a:p/>
        </p:txBody>
      </p:sp>
      <p:sp>
        <p:nvSpPr>
          <p:cNvPr id="1074" name="" descr="{&quot;isTemplate&quot;:true,&quot;type&quot;:&quot;text&quot;}"/>
          <p:cNvSpPr txBox="1"/>
          <p:nvPr/>
        </p:nvSpPr>
        <p:spPr>
          <a:xfrm rot="0" flipH="0" flipV="0">
            <a:off x="6648450" y="3629025"/>
            <a:ext cx="1743075" cy="180975"/>
          </a:xfrm>
          <a:prstGeom prst="rect"/>
        </p:spPr>
        <p:txBody>
          <a:bodyPr wrap="none" lIns="0" tIns="0" rIns="0" bIns="0"/>
          <a:p>
            <a:pPr>
              <a:lnSpc>
                <a:spcPct val="140000"/>
              </a:lnSpc>
            </a:pPr>
            <a:r>
              <a:rPr lang="en-US" sz="825">
                <a:solidFill>
                  <a:srgbClr val="3A4050"/>
                </a:solidFill>
                <a:latin typeface="Microsoft YaHei"/>
                <a:ea typeface="Microsoft YaHei"/>
              </a:rPr>
              <a:t>4</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血缘是主动采集还是事后爬取？</a:t>
            </a:r>
            <a:endParaRPr/>
          </a:p>
        </p:txBody>
      </p:sp>
      <p:sp>
        <p:nvSpPr>
          <p:cNvPr id="1075" name=""/>
          <p:cNvSpPr/>
          <p:nvPr/>
        </p:nvSpPr>
        <p:spPr>
          <a:xfrm rot="0" flipH="0" flipV="0">
            <a:off x="4581525" y="3981450"/>
            <a:ext cx="1924050" cy="361950"/>
          </a:xfrm>
          <a:prstGeom prst="roundRect">
            <a:avLst>
              <a:gd name="adj" fmla="val 7895"/>
            </a:avLst>
          </a:prstGeom>
          <a:solidFill>
            <a:srgbClr val="F7F7F8"/>
          </a:solidFill>
          <a:ln/>
        </p:spPr>
        <p:txBody>
          <a:bodyPr/>
          <a:p/>
        </p:txBody>
      </p:sp>
      <p:sp>
        <p:nvSpPr>
          <p:cNvPr id="1076" name="" descr="{&quot;isTemplate&quot;:true,&quot;type&quot;:&quot;text&quot;}"/>
          <p:cNvSpPr txBox="1"/>
          <p:nvPr/>
        </p:nvSpPr>
        <p:spPr>
          <a:xfrm rot="0" flipH="0" flipV="0">
            <a:off x="4667250" y="4038600"/>
            <a:ext cx="1752600" cy="180975"/>
          </a:xfrm>
          <a:prstGeom prst="rect"/>
        </p:spPr>
        <p:txBody>
          <a:bodyPr wrap="none" lIns="0" tIns="0" rIns="0" bIns="0"/>
          <a:p>
            <a:pPr>
              <a:lnSpc>
                <a:spcPct val="140000"/>
              </a:lnSpc>
            </a:pPr>
            <a:r>
              <a:rPr lang="en-US" sz="825">
                <a:solidFill>
                  <a:srgbClr val="3A4050"/>
                </a:solidFill>
                <a:latin typeface="Microsoft YaHei"/>
                <a:ea typeface="Microsoft YaHei"/>
              </a:rPr>
              <a:t>5</a:t>
            </a:r>
            <a:r>
              <a:rPr lang="en-US" sz="825">
                <a:solidFill>
                  <a:srgbClr val="3A4050"/>
                </a:solidFill>
                <a:latin typeface="Microsoft YaHei"/>
                <a:ea typeface="Microsoft YaHei"/>
              </a:rPr>
              <a:t xml:space="preserve">. </a:t>
            </a:r>
            <a:r>
              <a:rPr lang="en-US" sz="825">
                <a:solidFill>
                  <a:srgbClr val="3A4050"/>
                </a:solidFill>
                <a:latin typeface="Microsoft YaHei"/>
                <a:ea typeface="Microsoft YaHei"/>
              </a:rPr>
              <a:t xml:space="preserve">Agent </a:t>
            </a:r>
            <a:r>
              <a:rPr lang="zh-CN" sz="825">
                <a:solidFill>
                  <a:srgbClr val="3A4050"/>
                </a:solidFill>
                <a:latin typeface="Microsoft YaHei"/>
                <a:ea typeface="Microsoft YaHei"/>
              </a:rPr>
              <a:t>工具清单是否有默认拒绝？</a:t>
            </a:r>
            <a:endParaRPr/>
          </a:p>
        </p:txBody>
      </p:sp>
      <p:sp>
        <p:nvSpPr>
          <p:cNvPr id="1077" name=""/>
          <p:cNvSpPr/>
          <p:nvPr/>
        </p:nvSpPr>
        <p:spPr>
          <a:xfrm rot="0" flipH="0" flipV="0">
            <a:off x="6562725" y="3981450"/>
            <a:ext cx="1914525" cy="361950"/>
          </a:xfrm>
          <a:prstGeom prst="roundRect">
            <a:avLst>
              <a:gd name="adj" fmla="val 7895"/>
            </a:avLst>
          </a:prstGeom>
          <a:solidFill>
            <a:srgbClr val="F7F7F8"/>
          </a:solidFill>
          <a:ln/>
        </p:spPr>
        <p:txBody>
          <a:bodyPr/>
          <a:p/>
        </p:txBody>
      </p:sp>
      <p:sp>
        <p:nvSpPr>
          <p:cNvPr id="1078" name="" descr="{&quot;isTemplate&quot;:true,&quot;type&quot;:&quot;text&quot;}"/>
          <p:cNvSpPr txBox="1"/>
          <p:nvPr/>
        </p:nvSpPr>
        <p:spPr>
          <a:xfrm rot="0" flipH="0" flipV="0">
            <a:off x="6648450" y="4038600"/>
            <a:ext cx="1743075" cy="180975"/>
          </a:xfrm>
          <a:prstGeom prst="rect"/>
        </p:spPr>
        <p:txBody>
          <a:bodyPr wrap="none" lIns="0" tIns="0" rIns="0" bIns="0"/>
          <a:p>
            <a:pPr>
              <a:lnSpc>
                <a:spcPct val="140000"/>
              </a:lnSpc>
            </a:pPr>
            <a:r>
              <a:rPr lang="en-US" sz="825">
                <a:solidFill>
                  <a:srgbClr val="3A4050"/>
                </a:solidFill>
                <a:latin typeface="Microsoft YaHei"/>
                <a:ea typeface="Microsoft YaHei"/>
              </a:rPr>
              <a:t>6</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记忆是否跨会话保留？</a:t>
            </a:r>
            <a:endParaRPr/>
          </a:p>
        </p:txBody>
      </p:sp>
      <p:sp>
        <p:nvSpPr>
          <p:cNvPr id="1079" name=""/>
          <p:cNvSpPr/>
          <p:nvPr/>
        </p:nvSpPr>
        <p:spPr>
          <a:xfrm rot="0" flipH="0" flipV="0">
            <a:off x="4581525" y="4400550"/>
            <a:ext cx="1924050" cy="361950"/>
          </a:xfrm>
          <a:prstGeom prst="roundRect">
            <a:avLst>
              <a:gd name="adj" fmla="val 7895"/>
            </a:avLst>
          </a:prstGeom>
          <a:solidFill>
            <a:srgbClr val="F7F7F8"/>
          </a:solidFill>
          <a:ln/>
        </p:spPr>
        <p:txBody>
          <a:bodyPr/>
          <a:p/>
        </p:txBody>
      </p:sp>
      <p:sp>
        <p:nvSpPr>
          <p:cNvPr id="1080" name="" descr="{&quot;isTemplate&quot;:true,&quot;type&quot;:&quot;text&quot;}"/>
          <p:cNvSpPr txBox="1"/>
          <p:nvPr/>
        </p:nvSpPr>
        <p:spPr>
          <a:xfrm rot="0" flipH="0" flipV="0">
            <a:off x="4667250" y="4457700"/>
            <a:ext cx="1752600" cy="180975"/>
          </a:xfrm>
          <a:prstGeom prst="rect"/>
        </p:spPr>
        <p:txBody>
          <a:bodyPr wrap="none" lIns="0" tIns="0" rIns="0" bIns="0"/>
          <a:p>
            <a:pPr>
              <a:lnSpc>
                <a:spcPct val="140000"/>
              </a:lnSpc>
            </a:pPr>
            <a:r>
              <a:rPr lang="en-US" sz="825">
                <a:solidFill>
                  <a:srgbClr val="3A4050"/>
                </a:solidFill>
                <a:latin typeface="Microsoft YaHei"/>
                <a:ea typeface="Microsoft YaHei"/>
              </a:rPr>
              <a:t>7</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回答是否携带可对账的切片</a:t>
            </a:r>
            <a:r>
              <a:rPr lang="en-US" sz="825">
                <a:solidFill>
                  <a:srgbClr val="3A4050"/>
                </a:solidFill>
                <a:latin typeface="Microsoft YaHei"/>
                <a:ea typeface="Microsoft YaHei"/>
              </a:rPr>
              <a:t xml:space="preserve"> ID</a:t>
            </a:r>
            <a:r>
              <a:rPr lang="zh-CN" sz="825">
                <a:solidFill>
                  <a:srgbClr val="3A4050"/>
                </a:solidFill>
                <a:latin typeface="Microsoft YaHei"/>
                <a:ea typeface="Microsoft YaHei"/>
              </a:rPr>
              <a:t>？</a:t>
            </a:r>
            <a:endParaRPr/>
          </a:p>
        </p:txBody>
      </p:sp>
      <p:sp>
        <p:nvSpPr>
          <p:cNvPr id="1081" name=""/>
          <p:cNvSpPr/>
          <p:nvPr/>
        </p:nvSpPr>
        <p:spPr>
          <a:xfrm rot="0" flipH="0" flipV="0">
            <a:off x="6562725" y="4400550"/>
            <a:ext cx="1914525" cy="361950"/>
          </a:xfrm>
          <a:prstGeom prst="roundRect">
            <a:avLst>
              <a:gd name="adj" fmla="val 7895"/>
            </a:avLst>
          </a:prstGeom>
          <a:solidFill>
            <a:srgbClr val="F7F7F8"/>
          </a:solidFill>
          <a:ln/>
        </p:spPr>
        <p:txBody>
          <a:bodyPr/>
          <a:p/>
        </p:txBody>
      </p:sp>
      <p:sp>
        <p:nvSpPr>
          <p:cNvPr id="1082" name="" descr="{&quot;isTemplate&quot;:true,&quot;type&quot;:&quot;text&quot;}"/>
          <p:cNvSpPr txBox="1"/>
          <p:nvPr/>
        </p:nvSpPr>
        <p:spPr>
          <a:xfrm rot="0" flipH="0" flipV="0">
            <a:off x="6648450" y="4457700"/>
            <a:ext cx="1743075" cy="180975"/>
          </a:xfrm>
          <a:prstGeom prst="rect"/>
        </p:spPr>
        <p:txBody>
          <a:bodyPr wrap="none" lIns="0" tIns="0" rIns="0" bIns="0"/>
          <a:p>
            <a:pPr>
              <a:lnSpc>
                <a:spcPct val="140000"/>
              </a:lnSpc>
            </a:pPr>
            <a:r>
              <a:rPr lang="en-US" sz="825">
                <a:solidFill>
                  <a:srgbClr val="3A4050"/>
                </a:solidFill>
                <a:latin typeface="Microsoft YaHei"/>
                <a:ea typeface="Microsoft YaHei"/>
              </a:rPr>
              <a:t>8</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降级事件是否为一级元数据？</a:t>
            </a:r>
            <a:endParaRPr/>
          </a:p>
        </p:txBody>
      </p:sp>
      <p:sp>
        <p:nvSpPr>
          <p:cNvPr id="1083" name=""/>
          <p:cNvSpPr/>
          <p:nvPr/>
        </p:nvSpPr>
        <p:spPr>
          <a:xfrm rot="0" flipH="0" flipV="0">
            <a:off x="4581525" y="4819650"/>
            <a:ext cx="1924050" cy="352425"/>
          </a:xfrm>
          <a:prstGeom prst="roundRect">
            <a:avLst>
              <a:gd name="adj" fmla="val 8108"/>
            </a:avLst>
          </a:prstGeom>
          <a:solidFill>
            <a:srgbClr val="F7F7F8"/>
          </a:solidFill>
          <a:ln/>
        </p:spPr>
        <p:txBody>
          <a:bodyPr/>
          <a:p/>
        </p:txBody>
      </p:sp>
      <p:sp>
        <p:nvSpPr>
          <p:cNvPr id="1084" name="" descr="{&quot;isTemplate&quot;:true,&quot;type&quot;:&quot;text&quot;}"/>
          <p:cNvSpPr txBox="1"/>
          <p:nvPr/>
        </p:nvSpPr>
        <p:spPr>
          <a:xfrm rot="0" flipH="0" flipV="0">
            <a:off x="4667250" y="4876800"/>
            <a:ext cx="1752600" cy="180975"/>
          </a:xfrm>
          <a:prstGeom prst="rect"/>
        </p:spPr>
        <p:txBody>
          <a:bodyPr wrap="none" lIns="0" tIns="0" rIns="0" bIns="0"/>
          <a:p>
            <a:pPr>
              <a:lnSpc>
                <a:spcPct val="140000"/>
              </a:lnSpc>
            </a:pPr>
            <a:r>
              <a:rPr lang="en-US" sz="825">
                <a:solidFill>
                  <a:srgbClr val="3A4050"/>
                </a:solidFill>
                <a:latin typeface="Microsoft YaHei"/>
                <a:ea typeface="Microsoft YaHei"/>
              </a:rPr>
              <a:t>9</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策略变更是否有版本与回滚？</a:t>
            </a:r>
            <a:endParaRPr/>
          </a:p>
        </p:txBody>
      </p:sp>
      <p:sp>
        <p:nvSpPr>
          <p:cNvPr id="1085" name=""/>
          <p:cNvSpPr/>
          <p:nvPr/>
        </p:nvSpPr>
        <p:spPr>
          <a:xfrm rot="0" flipH="0" flipV="0">
            <a:off x="6562725" y="4819650"/>
            <a:ext cx="1914525" cy="352425"/>
          </a:xfrm>
          <a:prstGeom prst="roundRect">
            <a:avLst>
              <a:gd name="adj" fmla="val 8108"/>
            </a:avLst>
          </a:prstGeom>
          <a:solidFill>
            <a:srgbClr val="F7F7F8"/>
          </a:solidFill>
          <a:ln/>
        </p:spPr>
        <p:txBody>
          <a:bodyPr/>
          <a:p/>
        </p:txBody>
      </p:sp>
      <p:sp>
        <p:nvSpPr>
          <p:cNvPr id="1086" name="" descr="{&quot;isTemplate&quot;:true,&quot;type&quot;:&quot;text&quot;}"/>
          <p:cNvSpPr txBox="1"/>
          <p:nvPr/>
        </p:nvSpPr>
        <p:spPr>
          <a:xfrm rot="0" flipH="0" flipV="0">
            <a:off x="6648450" y="4876800"/>
            <a:ext cx="1743075" cy="180975"/>
          </a:xfrm>
          <a:prstGeom prst="rect"/>
        </p:spPr>
        <p:txBody>
          <a:bodyPr wrap="none" lIns="0" tIns="0" rIns="0" bIns="0"/>
          <a:p>
            <a:pPr>
              <a:lnSpc>
                <a:spcPct val="140000"/>
              </a:lnSpc>
            </a:pPr>
            <a:r>
              <a:rPr lang="en-US" sz="825">
                <a:solidFill>
                  <a:srgbClr val="3A4050"/>
                </a:solidFill>
                <a:latin typeface="Microsoft YaHei"/>
                <a:ea typeface="Microsoft YaHei"/>
              </a:rPr>
              <a:t>10</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引擎失败时是拒绝还是放行？</a:t>
            </a:r>
            <a:endParaRPr/>
          </a:p>
        </p:txBody>
      </p:sp>
      <p:sp>
        <p:nvSpPr>
          <p:cNvPr id="1087" name=""/>
          <p:cNvSpPr/>
          <p:nvPr/>
        </p:nvSpPr>
        <p:spPr>
          <a:xfrm rot="0" flipH="0" flipV="0">
            <a:off x="4581525" y="5229225"/>
            <a:ext cx="1924050" cy="361950"/>
          </a:xfrm>
          <a:prstGeom prst="roundRect">
            <a:avLst>
              <a:gd name="adj" fmla="val 7895"/>
            </a:avLst>
          </a:prstGeom>
          <a:solidFill>
            <a:srgbClr val="F7F7F8"/>
          </a:solidFill>
          <a:ln/>
        </p:spPr>
        <p:txBody>
          <a:bodyPr/>
          <a:p/>
        </p:txBody>
      </p:sp>
      <p:sp>
        <p:nvSpPr>
          <p:cNvPr id="1088" name="" descr="{&quot;isTemplate&quot;:true,&quot;type&quot;:&quot;text&quot;}"/>
          <p:cNvSpPr txBox="1"/>
          <p:nvPr/>
        </p:nvSpPr>
        <p:spPr>
          <a:xfrm rot="0" flipH="0" flipV="0">
            <a:off x="4667250" y="5286375"/>
            <a:ext cx="1752600" cy="180975"/>
          </a:xfrm>
          <a:prstGeom prst="rect"/>
        </p:spPr>
        <p:txBody>
          <a:bodyPr wrap="none" lIns="0" tIns="0" rIns="0" bIns="0"/>
          <a:p>
            <a:pPr>
              <a:lnSpc>
                <a:spcPct val="140000"/>
              </a:lnSpc>
            </a:pPr>
            <a:r>
              <a:rPr lang="en-US" sz="825">
                <a:solidFill>
                  <a:srgbClr val="3A4050"/>
                </a:solidFill>
                <a:latin typeface="Microsoft YaHei"/>
                <a:ea typeface="Microsoft YaHei"/>
              </a:rPr>
              <a:t>11</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审计是否记录了「为什么」？</a:t>
            </a:r>
            <a:endParaRPr/>
          </a:p>
        </p:txBody>
      </p:sp>
      <p:sp>
        <p:nvSpPr>
          <p:cNvPr id="1089" name=""/>
          <p:cNvSpPr/>
          <p:nvPr/>
        </p:nvSpPr>
        <p:spPr>
          <a:xfrm rot="0" flipH="0" flipV="0">
            <a:off x="6562725" y="5229225"/>
            <a:ext cx="1914525" cy="361950"/>
          </a:xfrm>
          <a:prstGeom prst="roundRect">
            <a:avLst>
              <a:gd name="adj" fmla="val 7895"/>
            </a:avLst>
          </a:prstGeom>
          <a:solidFill>
            <a:srgbClr val="F7F7F8"/>
          </a:solidFill>
          <a:ln/>
        </p:spPr>
        <p:txBody>
          <a:bodyPr/>
          <a:p/>
        </p:txBody>
      </p:sp>
      <p:sp>
        <p:nvSpPr>
          <p:cNvPr id="1090" name="" descr="{&quot;isTemplate&quot;:true,&quot;type&quot;:&quot;text&quot;}"/>
          <p:cNvSpPr txBox="1"/>
          <p:nvPr/>
        </p:nvSpPr>
        <p:spPr>
          <a:xfrm rot="0" flipH="0" flipV="0">
            <a:off x="6648450" y="5286375"/>
            <a:ext cx="1743075" cy="180975"/>
          </a:xfrm>
          <a:prstGeom prst="rect"/>
        </p:spPr>
        <p:txBody>
          <a:bodyPr wrap="none" lIns="0" tIns="0" rIns="0" bIns="0"/>
          <a:p>
            <a:pPr>
              <a:lnSpc>
                <a:spcPct val="140000"/>
              </a:lnSpc>
            </a:pPr>
            <a:r>
              <a:rPr lang="en-US" sz="825">
                <a:solidFill>
                  <a:srgbClr val="3A4050"/>
                </a:solidFill>
                <a:latin typeface="Microsoft YaHei"/>
                <a:ea typeface="Microsoft YaHei"/>
              </a:rPr>
              <a:t>12</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策略是否有可指认的批准人？</a:t>
            </a:r>
            <a:endParaRPr/>
          </a:p>
        </p:txBody>
      </p:sp>
      <p:sp>
        <p:nvSpPr>
          <p:cNvPr id="1091" name=""/>
          <p:cNvSpPr/>
          <p:nvPr/>
        </p:nvSpPr>
        <p:spPr>
          <a:xfrm rot="0" flipH="0" flipV="0">
            <a:off x="8829675" y="2600325"/>
            <a:ext cx="2790825" cy="3114675"/>
          </a:xfrm>
          <a:prstGeom prst="roundRect">
            <a:avLst>
              <a:gd name="adj" fmla="val 1365"/>
            </a:avLst>
          </a:prstGeom>
          <a:solidFill>
            <a:srgbClr val="FFF3EE"/>
          </a:solidFill>
          <a:ln/>
        </p:spPr>
        <p:txBody>
          <a:bodyPr/>
          <a:p/>
        </p:txBody>
      </p:sp>
      <p:sp>
        <p:nvSpPr>
          <p:cNvPr id="1092" name=""/>
          <p:cNvSpPr/>
          <p:nvPr/>
        </p:nvSpPr>
        <p:spPr>
          <a:xfrm rot="0" flipH="0" flipV="0">
            <a:off x="8829675" y="2600325"/>
            <a:ext cx="2790825" cy="3114675"/>
          </a:xfrm>
          <a:custGeom>
            <a:pathLst>
              <a:path w="293" h="327">
                <a:moveTo>
                  <a:pt x="4" y="327"/>
                </a:moveTo>
                <a:cubicBezTo>
                  <a:pt x="2" y="327"/>
                  <a:pt x="0" y="325"/>
                  <a:pt x="0" y="323"/>
                </a:cubicBezTo>
                <a:lnTo>
                  <a:pt x="0" y="4"/>
                </a:lnTo>
                <a:cubicBezTo>
                  <a:pt x="0" y="2"/>
                  <a:pt x="2" y="0"/>
                  <a:pt x="4" y="0"/>
                </a:cubicBezTo>
                <a:lnTo>
                  <a:pt x="4" y="327"/>
                </a:lnTo>
                <a:close/>
              </a:path>
            </a:pathLst>
          </a:custGeom>
          <a:solidFill>
            <a:srgbClr val="FA4F24"/>
          </a:solidFill>
          <a:ln/>
        </p:spPr>
        <p:txBody>
          <a:bodyPr/>
          <a:p/>
        </p:txBody>
      </p:sp>
      <p:sp>
        <p:nvSpPr>
          <p:cNvPr id="1093" name="" descr="{&quot;isTemplate&quot;:true,&quot;type&quot;:&quot;text&quot;}"/>
          <p:cNvSpPr txBox="1"/>
          <p:nvPr/>
        </p:nvSpPr>
        <p:spPr>
          <a:xfrm rot="0" flipH="0" flipV="0">
            <a:off x="8972550" y="2828925"/>
            <a:ext cx="2466975" cy="161925"/>
          </a:xfrm>
          <a:prstGeom prst="rect"/>
        </p:spPr>
        <p:txBody>
          <a:bodyPr wrap="none" lIns="0" tIns="0" rIns="0" bIns="0"/>
          <a:p>
            <a:pPr>
              <a:lnSpc>
                <a:spcPct val="100000"/>
              </a:lnSpc>
            </a:pPr>
            <a:r>
              <a:rPr lang="zh-CN" sz="1050" b="1">
                <a:solidFill>
                  <a:srgbClr val="C43A17"/>
                </a:solidFill>
                <a:latin typeface="Microsoft YaHei"/>
                <a:ea typeface="Microsoft YaHei"/>
              </a:rPr>
              <a:t>三问自检</a:t>
            </a:r>
            <a:endParaRPr/>
          </a:p>
        </p:txBody>
      </p:sp>
      <p:sp>
        <p:nvSpPr>
          <p:cNvPr id="1094" name="" descr="{&quot;isTemplate&quot;:true,&quot;type&quot;:&quot;text&quot;}"/>
          <p:cNvSpPr txBox="1"/>
          <p:nvPr/>
        </p:nvSpPr>
        <p:spPr>
          <a:xfrm rot="0" flipH="0" flipV="0">
            <a:off x="8972550" y="3076575"/>
            <a:ext cx="2466975" cy="142875"/>
          </a:xfrm>
          <a:prstGeom prst="rect"/>
        </p:spPr>
        <p:txBody>
          <a:bodyPr wrap="none" lIns="0" tIns="0" rIns="0" bIns="0"/>
          <a:p>
            <a:pPr>
              <a:lnSpc>
                <a:spcPct val="100000"/>
              </a:lnSpc>
            </a:pPr>
            <a:r>
              <a:rPr lang="zh-CN" sz="938" b="1">
                <a:solidFill>
                  <a:srgbClr val="0F1423"/>
                </a:solidFill>
                <a:latin typeface="Microsoft YaHei"/>
                <a:ea typeface="Microsoft YaHei"/>
              </a:rPr>
              <a:t>能答吗？</a:t>
            </a:r>
            <a:endParaRPr/>
          </a:p>
        </p:txBody>
      </p:sp>
      <p:sp>
        <p:nvSpPr>
          <p:cNvPr id="1095" name="" descr="{&quot;isTemplate&quot;:true,&quot;type&quot;:&quot;text&quot;}"/>
          <p:cNvSpPr txBox="1"/>
          <p:nvPr/>
        </p:nvSpPr>
        <p:spPr>
          <a:xfrm rot="0" flipH="0" flipV="0">
            <a:off x="8972550" y="3248025"/>
            <a:ext cx="2466975" cy="371475"/>
          </a:xfrm>
          <a:prstGeom prst="rect"/>
        </p:spPr>
        <p:txBody>
          <a:bodyPr wrap="square" lIns="0" tIns="0" rIns="0" bIns="0">
            <a:normAutofit/>
          </a:bodyPr>
          <a:p>
            <a:pPr>
              <a:lnSpc>
                <a:spcPct val="145000"/>
              </a:lnSpc>
            </a:pPr>
            <a:r>
              <a:rPr lang="zh-CN" sz="825">
                <a:solidFill>
                  <a:srgbClr val="3A4050"/>
                </a:solidFill>
                <a:latin typeface="Microsoft YaHei"/>
                <a:ea typeface="Microsoft YaHei"/>
              </a:rPr>
              <a:t>随便指一个敏感对象，能不能三十秒内说出谁能看、为什么。</a:t>
            </a:r>
            <a:endParaRPr/>
          </a:p>
        </p:txBody>
      </p:sp>
      <p:sp>
        <p:nvSpPr>
          <p:cNvPr id="1096" name="" descr="{&quot;isTemplate&quot;:true,&quot;type&quot;:&quot;text&quot;}"/>
          <p:cNvSpPr txBox="1"/>
          <p:nvPr/>
        </p:nvSpPr>
        <p:spPr>
          <a:xfrm rot="0" flipH="0" flipV="0">
            <a:off x="8972550" y="3705225"/>
            <a:ext cx="2466975" cy="142875"/>
          </a:xfrm>
          <a:prstGeom prst="rect"/>
        </p:spPr>
        <p:txBody>
          <a:bodyPr wrap="none" lIns="0" tIns="0" rIns="0" bIns="0"/>
          <a:p>
            <a:pPr>
              <a:lnSpc>
                <a:spcPct val="100000"/>
              </a:lnSpc>
            </a:pPr>
            <a:r>
              <a:rPr lang="zh-CN" sz="938" b="1">
                <a:solidFill>
                  <a:srgbClr val="0F1423"/>
                </a:solidFill>
                <a:latin typeface="Microsoft YaHei"/>
                <a:ea typeface="Microsoft YaHei"/>
              </a:rPr>
              <a:t>能拦吗？</a:t>
            </a:r>
            <a:endParaRPr/>
          </a:p>
        </p:txBody>
      </p:sp>
      <p:sp>
        <p:nvSpPr>
          <p:cNvPr id="1097" name="" descr="{&quot;isTemplate&quot;:true,&quot;type&quot;:&quot;text&quot;}"/>
          <p:cNvSpPr txBox="1"/>
          <p:nvPr/>
        </p:nvSpPr>
        <p:spPr>
          <a:xfrm rot="0" flipH="0" flipV="0">
            <a:off x="8972550" y="3876675"/>
            <a:ext cx="2466975" cy="371475"/>
          </a:xfrm>
          <a:prstGeom prst="rect"/>
        </p:spPr>
        <p:txBody>
          <a:bodyPr wrap="square" lIns="0" tIns="0" rIns="0" bIns="0">
            <a:normAutofit/>
          </a:bodyPr>
          <a:p>
            <a:pPr>
              <a:lnSpc>
                <a:spcPct val="145000"/>
              </a:lnSpc>
            </a:pPr>
            <a:r>
              <a:rPr lang="zh-CN" sz="825">
                <a:solidFill>
                  <a:srgbClr val="3A4050"/>
                </a:solidFill>
                <a:latin typeface="Microsoft YaHei"/>
                <a:ea typeface="Microsoft YaHei"/>
              </a:rPr>
              <a:t>模拟一次越权尝试，系统是拒绝并留下记录，还是默默放行。</a:t>
            </a:r>
            <a:endParaRPr/>
          </a:p>
        </p:txBody>
      </p:sp>
      <p:sp>
        <p:nvSpPr>
          <p:cNvPr id="1098" name="" descr="{&quot;isTemplate&quot;:true,&quot;type&quot;:&quot;text&quot;}"/>
          <p:cNvSpPr txBox="1"/>
          <p:nvPr/>
        </p:nvSpPr>
        <p:spPr>
          <a:xfrm rot="0" flipH="0" flipV="0">
            <a:off x="8972550" y="4333875"/>
            <a:ext cx="2466975" cy="142875"/>
          </a:xfrm>
          <a:prstGeom prst="rect"/>
        </p:spPr>
        <p:txBody>
          <a:bodyPr wrap="none" lIns="0" tIns="0" rIns="0" bIns="0"/>
          <a:p>
            <a:pPr>
              <a:lnSpc>
                <a:spcPct val="100000"/>
              </a:lnSpc>
            </a:pPr>
            <a:r>
              <a:rPr lang="zh-CN" sz="938" b="1">
                <a:solidFill>
                  <a:srgbClr val="0F1423"/>
                </a:solidFill>
                <a:latin typeface="Microsoft YaHei"/>
                <a:ea typeface="Microsoft YaHei"/>
              </a:rPr>
              <a:t>能退吗？</a:t>
            </a:r>
            <a:endParaRPr/>
          </a:p>
        </p:txBody>
      </p:sp>
      <p:sp>
        <p:nvSpPr>
          <p:cNvPr id="1099" name="" descr="{&quot;isTemplate&quot;:true,&quot;type&quot;:&quot;text&quot;}"/>
          <p:cNvSpPr txBox="1"/>
          <p:nvPr/>
        </p:nvSpPr>
        <p:spPr>
          <a:xfrm rot="0" flipH="0" flipV="0">
            <a:off x="8972550" y="4505325"/>
            <a:ext cx="2466975" cy="371475"/>
          </a:xfrm>
          <a:prstGeom prst="rect"/>
        </p:spPr>
        <p:txBody>
          <a:bodyPr wrap="square" lIns="0" tIns="0" rIns="0" bIns="0">
            <a:normAutofit/>
          </a:bodyPr>
          <a:p>
            <a:pPr>
              <a:lnSpc>
                <a:spcPct val="145000"/>
              </a:lnSpc>
            </a:pPr>
            <a:r>
              <a:rPr lang="zh-CN" sz="825">
                <a:solidFill>
                  <a:srgbClr val="3A4050"/>
                </a:solidFill>
                <a:latin typeface="Microsoft YaHei"/>
                <a:ea typeface="Microsoft YaHei"/>
              </a:rPr>
              <a:t>今天把某份数据降级，明天能不能完整撤回并追溯影响面。</a:t>
            </a:r>
            <a:endParaRPr/>
          </a:p>
        </p:txBody>
      </p:sp>
      <p:sp>
        <p:nvSpPr>
          <p:cNvPr id="1100" name=""/>
          <p:cNvSpPr/>
          <p:nvPr/>
        </p:nvSpPr>
        <p:spPr>
          <a:xfrm rot="0" flipH="0" flipV="0">
            <a:off x="8972550" y="4972050"/>
            <a:ext cx="2466975" cy="523875"/>
          </a:xfrm>
          <a:prstGeom prst="roundRect">
            <a:avLst>
              <a:gd name="adj" fmla="val 5455"/>
            </a:avLst>
          </a:prstGeom>
          <a:solidFill>
            <a:srgbClr val="FFFFFF"/>
          </a:solidFill>
          <a:ln/>
        </p:spPr>
        <p:txBody>
          <a:bodyPr/>
          <a:p/>
        </p:txBody>
      </p:sp>
      <p:sp>
        <p:nvSpPr>
          <p:cNvPr id="1101" name="" descr="{&quot;isTemplate&quot;:true,&quot;type&quot;:&quot;text&quot;}"/>
          <p:cNvSpPr txBox="1"/>
          <p:nvPr/>
        </p:nvSpPr>
        <p:spPr>
          <a:xfrm rot="0" flipH="0" flipV="0">
            <a:off x="9067800" y="5048250"/>
            <a:ext cx="2276475" cy="371475"/>
          </a:xfrm>
          <a:prstGeom prst="rect"/>
        </p:spPr>
        <p:txBody>
          <a:bodyPr wrap="square" lIns="0" tIns="0" rIns="0" bIns="0">
            <a:normAutofit/>
          </a:bodyPr>
          <a:p>
            <a:pPr>
              <a:lnSpc>
                <a:spcPct val="145000"/>
              </a:lnSpc>
            </a:pPr>
            <a:r>
              <a:rPr lang="zh-CN" sz="825">
                <a:solidFill>
                  <a:srgbClr val="3A4050"/>
                </a:solidFill>
                <a:latin typeface="Microsoft YaHei"/>
                <a:ea typeface="Microsoft YaHei"/>
              </a:rPr>
              <a:t>三问有一问答不上来，就不要急着扩治理范围——先补短板。</a:t>
            </a:r>
            <a:endParaRPr/>
          </a:p>
        </p:txBody>
      </p:sp>
      <p:sp>
        <p:nvSpPr>
          <p:cNvPr id="1102"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1103" name=""/>
          <p:cNvSpPr/>
          <p:nvPr/>
        </p:nvSpPr>
        <p:spPr>
          <a:xfrm rot="0" flipH="0" flipV="0">
            <a:off x="609600" y="5953125"/>
            <a:ext cx="95250" cy="95250"/>
          </a:xfrm>
          <a:prstGeom prst="rect">
            <a:avLst/>
          </a:prstGeom>
          <a:solidFill>
            <a:srgbClr val="FA4F24"/>
          </a:solidFill>
          <a:ln/>
        </p:spPr>
        <p:txBody>
          <a:bodyPr/>
          <a:p/>
        </p:txBody>
      </p:sp>
      <p:sp>
        <p:nvSpPr>
          <p:cNvPr id="1104" name="" descr="{&quot;isTemplate&quot;:true,&quot;type&quot;:&quot;text&quot;}"/>
          <p:cNvSpPr txBox="1"/>
          <p:nvPr/>
        </p:nvSpPr>
        <p:spPr>
          <a:xfrm rot="0" flipH="0" flipV="0">
            <a:off x="819150" y="5924550"/>
            <a:ext cx="1714500"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endParaRPr/>
          </a:p>
        </p:txBody>
      </p:sp>
      <p:sp>
        <p:nvSpPr>
          <p:cNvPr id="1105"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29 / 30</a:t>
            </a:r>
            <a:endParaRPr/>
          </a:p>
        </p:txBody>
      </p:sp>
    </p:spTree>
  </p:cSld>
</p:sld>
</file>

<file path=ppt/slides/slide30.xml><?xml version="1.0" encoding="utf-8"?>
<p:sld xmlns:p="http://schemas.openxmlformats.org/presentationml/2006/main" xmlns:a="http://schemas.openxmlformats.org/drawingml/2006/main">
  <p:cSld>
    <p:spTree>
      <p:nvGrpSpPr>
        <p:cNvPr id="1154" name="" descr="&lt;Slide style={{ width: 1280, height: 720, background: '#FFFFFF', padding: '24px 64px 0' }}&gt;&#10;  &lt;Box style={{ height: 96, flexDirection: 'column', justifyContent: 'flex-start' }}&gt;&#10;    &lt;Text style={{ fontSize: 32, fontWeight: 'bold', color: '#0F1423' }}&gt;&#10;      结语：治理不是把门锁上，是让每一步都&lt;span style={{ color: '#FA4F24' }}&gt;可被解释&lt;/span&gt;&#10;    &lt;/Text&gt;&#10;    &lt;Text style={{ fontSize: 20, color: '#8A8F99', marginTop: 8 }}&gt;&#10;      九册走完一条线：先有治，才有存；有存才有语义；有语义才有智能；有智能才谈得上可信&#10;    &lt;/Text&gt;&#10;  &lt;/Box&gt;&#10;  &lt;Box style={{ height: 1, background: '#E8E8E8' }} /&gt;&#10;&#10;  &lt;Box style={{ paddingTop: 14, paddingBottom: 8, height: 479, flexDirection: 'column', gap: 10 }}&gt;&#10;    &lt;Box style={{ height: 216, background: '#0F1423', borderRadius: 4, padding: '14px 20px', flexDirection: 'column' }}&gt;&#10;      &lt;Text style={{ fontSize: 14, fontWeight: 'bold', color: '#FBA15C' }}&gt;九册主线回顾：从治理到智能&lt;/Text&gt;&#10;      &lt;Box style={{ flex: 1, flexDirection: 'row', gap: 8, marginTop: 12 }}&gt;&#10;        {[&#10;          { n: 'DA', t: '数据架构', c: '数据架构是枢纽', d: '先有治，才有存' },&#10;          { n: 'BA', t: '业务架构', c: '业务架构是基础', d: '能力与组织解耦' },&#10;          { n: 'AA', t: '应用架构', c: '应用架构是载体', d: '应用多了带来技术债' },&#10;          { n: 'TA', t: '技术架构', c: '技术架构是底座', d: '不押注单点技术' },&#10;          { n: 'Ontology', t: '本体', c: '4A 的汇流点', d: '语义与动力学合一' },&#10;          { n: 'Agent', t: '智能体', c: '4A 的新实践点', d: '明确谁来判断、停在哪' },&#10;          { n: '知识库', t: '知识库', c: '4A 的新实践点', d: '知识要被治理，不只是存' },&#10;          { n: '管道', t: '管道处理', c: '4A 的新实践点', d: '进出本体要可管可追可退' },&#10;          { n: '治理', t: '数据治理', c: '4A 的新实践点', d: '管的是动作，不是文件' },&#10;        ].map((x, i) =&gt; (&#10;          &lt;Box key={x.n} style={{ flex: 1, background: i === 8 ? 'rgba(250,79,36,0.26)' : 'rgba(255,255,255,0.07)', borderRadius: 3, borderTop: '3px solid ' + (i === 8 ? '#FA4F24' : '#FBA15C'), padding: '9px 8px', flexDirection: 'column' }}&gt;&#10;            &lt;Text style={{ fontSize: 11, fontWeight: 'bold', color: i === 8 ? '#FA4F24' : '#FBA15C' }}&gt;{x.n}&lt;/Text&gt;&#10;            &lt;Text style={{ fontSize: 11.5, fontWeight: 'bold', color: '#FFFFFF', marginTop: 4 }}&gt;{x.t}&lt;/Text&gt;&#10;            &lt;Text style={{ fontSize: 10, color: 'rgba(255,255,255,0.68)', marginTop: 5, lineHeight: 1.4, flex: 1 }}&gt;{x.c}&lt;/Text&gt;&#10;            &lt;Text style={{ fontSize: 10, color: 'rgba(255,255,255,0.85)', lineHeight: 1.4 }}&gt;{x.d}&lt;/Text&gt;&#10;          &lt;/Box&gt;&#10;        ))}&#10;      &lt;/Box&gt;&#10;    &lt;/Box&gt;&#10;&#10;    &lt;Box style={{ flex: 1, flexDirection: 'row', gap: 10 }}&gt;&#10;      &lt;Box style={{ flex: 1.15, background: '#FFF3EE', borderRadius: 4, borderLeft: '4px solid #FA4F24', padding: '12px 17px', flexDirection: 'column', justifyContent: 'center' }}&gt;&#10;        &lt;Text style={{ fontSize: 14, fontWeight: 'bold', color: '#C43A17' }}&gt;数据治理留下的六条主张&lt;/Text&gt;&#10;        &lt;Box style={{ flexDirection: 'column', gap: 5, marginTop: 8 }}&gt;&#10;          {[&#10;            '治理不是管数据，是管「谁能用、用来干什么、出了事谁担责」。',&#10;            '标记是治理的最小可执行单位；标记只定义一次，四个方向复用。',&#10;            '策略必须是数据，不是配置——它要能版本化、测试、回放、回滚。',&#10;            '治理的失败是静默的，所以审计日志是唯一的检出手段。',&#10;            'AI 时代治理对象多了一层：工具、记忆、遥测日志都受管。',&#10;            '治理必须可退：密级只能升不能降，是假治理。',&#10;          ].map((t, i) =&gt; (&#10;            &lt;Text key={i} style={{ fontSize: 11.5, color: '#3A4050', lineHeight: 1.5 }}&gt;&#10;              &lt;tspan style={{ fontWeight: 'bold', color: '#FA4F24' }}&gt;{i + 1}. &lt;/tspan&gt;{t}&#10;            &lt;/Text&gt;&#10;          ))}&#10;        &lt;/Box&gt;&#10;      &lt;/Box&gt;&#10;      &lt;Box style={{ flex: 1, background: '#F7F7F8', borderRadius: 4, padding: '12px 17px', flexDirection: 'column', justifyContent: 'center' }}&gt;&#10;        &lt;Text style={{ fontSize: 14, fontWeight: 'bold', color: '#0F1423' }}&gt;三条起步动作（本周就能做）&lt;/Text&gt;&#10;        &lt;Box style={{ flexDirection: 'column', gap: 9, marginTop: 9 }}&gt;&#10;          {[&#10;            { t: '先分标记，再给权限', d: '没有标记体系的权限系统，等于按文件夹发钥匙。' },&#10;            { t: '先只读标记，再开放降级', d: '降级能力必须最后开，且必须带二审人。' },&#10;            { t: '先有审计日志，再扩治理范围', d: '没有日志就先别扩——扩了就查不出来了。' },&#10;          ].map((x) =&gt; (&#10;            &lt;Box key={x.t} style={{ background: '#FFFFFF', borderRadius: 3, borderLeft: '3px solid #FA4F24', padding: '8px 10px' }}&gt;&#10;              &lt;Text style={{ fontSize: 12.5, fontWeight: 'bold', color: '#0F1423' }}&gt;{x.t}&lt;/Text&gt;&#10;              &lt;Text style={{ fontSize: 11, color: '#3A4050', marginTop: 3, lineHeight: 1.45 }}&gt;{x.d}&lt;/Text&gt;&#10;            &lt;/Box&gt;&#10;          ))}&#10;        &lt;/Box&gt;&#10;      &lt;/Box&gt;&#10;    &lt;/Box&gt;&#10;  &lt;/Box&gt;&#10;&#10;  &lt;Box style={{ height: 58, flexDirection: 'row', alignItems: 'center', borderTop: '1px solid #E8E8E8' }}&gt;&#10;    &lt;Box style={{ width: 10, height: 10, background: '#FA4F24' }} /&gt;&#10;    &lt;Text style={{ fontSize: 13, color: '#8A8F99', marginLeft: 12 }}&gt;硕磐机密 · 数据治理咨询方法论 · 第九册完&lt;/Text&gt;&#10;    &lt;Text style={{ fontSize: 13, color: '#8A8F99', marginLeft: 'auto' }}&gt;30 / 30&lt;/Text&gt;&#10;  &lt;/Box&gt;&#10;&lt;/Slide&gt;"/>
        <p:cNvGrpSpPr/>
        <p:nvPr/>
      </p:nvGrpSpPr>
      <p:grpSpPr>
        <a:xfrm>
          <a:off x="0" y="0"/>
          <a:ext cx="0" cy="0"/>
          <a:chOff x="0" y="0"/>
          <a:chExt cx="0" cy="0"/>
        </a:xfrm>
      </p:grpSpPr>
      <p:sp>
        <p:nvSpPr>
          <p:cNvPr id="1155" name=""/>
          <p:cNvSpPr/>
          <p:nvPr/>
        </p:nvSpPr>
        <p:spPr>
          <a:xfrm rot="0" flipH="0" flipV="0">
            <a:off x="0" y="0"/>
            <a:ext cx="12192000" cy="6858000"/>
          </a:xfrm>
          <a:prstGeom prst="rect">
            <a:avLst/>
          </a:prstGeom>
          <a:solidFill>
            <a:srgbClr val="FFFFFF"/>
          </a:solidFill>
          <a:ln/>
        </p:spPr>
        <p:txBody>
          <a:bodyPr/>
          <a:p/>
        </p:txBody>
      </p:sp>
      <p:sp>
        <p:nvSpPr>
          <p:cNvPr id="1156"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结语：治理不是把门锁上，是让每一步都</a:t>
            </a:r>
            <a:r>
              <a:rPr lang="zh-CN" sz="2400" b="1">
                <a:solidFill>
                  <a:srgbClr val="FA4F24"/>
                </a:solidFill>
                <a:latin typeface="Microsoft YaHei"/>
                <a:ea typeface="Microsoft YaHei"/>
              </a:rPr>
              <a:t>可被解释</a:t>
            </a:r>
            <a:endParaRPr/>
          </a:p>
        </p:txBody>
      </p:sp>
      <p:sp>
        <p:nvSpPr>
          <p:cNvPr id="1157" name="" descr="{&quot;isTemplate&quot;:true,&quot;type&quot;:&quot;text&quot;}"/>
          <p:cNvSpPr txBox="1"/>
          <p:nvPr/>
        </p:nvSpPr>
        <p:spPr>
          <a:xfrm rot="0" flipH="0" flipV="0">
            <a:off x="609600" y="676275"/>
            <a:ext cx="10972800" cy="228600"/>
          </a:xfrm>
          <a:prstGeom prst="rect"/>
        </p:spPr>
        <p:txBody>
          <a:bodyPr wrap="none" lIns="0" tIns="0" rIns="0" bIns="0"/>
          <a:p>
            <a:pPr>
              <a:lnSpc>
                <a:spcPct val="100000"/>
              </a:lnSpc>
            </a:pPr>
            <a:r>
              <a:rPr lang="zh-CN" sz="1500">
                <a:solidFill>
                  <a:srgbClr val="8A8F99"/>
                </a:solidFill>
                <a:latin typeface="Microsoft YaHei"/>
                <a:ea typeface="Microsoft YaHei"/>
              </a:rPr>
              <a:t>九册走完一条线：先有治，才有存；有存才有语义；有语义才有智能；有智能才谈得上可信</a:t>
            </a:r>
            <a:endParaRPr/>
          </a:p>
        </p:txBody>
      </p:sp>
      <p:sp>
        <p:nvSpPr>
          <p:cNvPr id="1158" name=""/>
          <p:cNvSpPr/>
          <p:nvPr/>
        </p:nvSpPr>
        <p:spPr>
          <a:xfrm rot="0" flipH="0" flipV="0">
            <a:off x="609600" y="1143000"/>
            <a:ext cx="10972800" cy="9525"/>
          </a:xfrm>
          <a:prstGeom prst="rect">
            <a:avLst/>
          </a:prstGeom>
          <a:solidFill>
            <a:srgbClr val="E8E8E8"/>
          </a:solidFill>
          <a:ln/>
        </p:spPr>
        <p:txBody>
          <a:bodyPr/>
          <a:p/>
        </p:txBody>
      </p:sp>
      <p:sp>
        <p:nvSpPr>
          <p:cNvPr id="1159" name=""/>
          <p:cNvSpPr/>
          <p:nvPr/>
        </p:nvSpPr>
        <p:spPr>
          <a:xfrm rot="0" flipH="0" flipV="0">
            <a:off x="609600" y="1285875"/>
            <a:ext cx="10972800" cy="2057400"/>
          </a:xfrm>
          <a:prstGeom prst="roundRect">
            <a:avLst>
              <a:gd name="adj" fmla="val 1852"/>
            </a:avLst>
          </a:prstGeom>
          <a:solidFill>
            <a:srgbClr val="0F1423"/>
          </a:solidFill>
          <a:ln/>
        </p:spPr>
        <p:txBody>
          <a:bodyPr/>
          <a:p/>
        </p:txBody>
      </p:sp>
      <p:sp>
        <p:nvSpPr>
          <p:cNvPr id="1160" name="" descr="{&quot;isTemplate&quot;:true,&quot;type&quot;:&quot;text&quot;}"/>
          <p:cNvSpPr txBox="1"/>
          <p:nvPr/>
        </p:nvSpPr>
        <p:spPr>
          <a:xfrm rot="0" flipH="0" flipV="0">
            <a:off x="800100" y="1419225"/>
            <a:ext cx="10591800" cy="161925"/>
          </a:xfrm>
          <a:prstGeom prst="rect"/>
        </p:spPr>
        <p:txBody>
          <a:bodyPr wrap="none" lIns="0" tIns="0" rIns="0" bIns="0"/>
          <a:p>
            <a:pPr>
              <a:lnSpc>
                <a:spcPct val="100000"/>
              </a:lnSpc>
            </a:pPr>
            <a:r>
              <a:rPr lang="zh-CN" sz="1050" b="1">
                <a:solidFill>
                  <a:srgbClr val="FBA15C"/>
                </a:solidFill>
                <a:latin typeface="Microsoft YaHei"/>
                <a:ea typeface="Microsoft YaHei"/>
              </a:rPr>
              <a:t>九册主线回顾：从治理到智能</a:t>
            </a:r>
            <a:endParaRPr/>
          </a:p>
        </p:txBody>
      </p:sp>
      <p:sp>
        <p:nvSpPr>
          <p:cNvPr id="1161" name=""/>
          <p:cNvSpPr/>
          <p:nvPr/>
        </p:nvSpPr>
        <p:spPr>
          <a:xfrm rot="0" flipH="0" flipV="0">
            <a:off x="800100" y="1724025"/>
            <a:ext cx="1104900" cy="1514475"/>
          </a:xfrm>
          <a:prstGeom prst="roundRect">
            <a:avLst>
              <a:gd name="adj" fmla="val 2586"/>
            </a:avLst>
          </a:prstGeom>
          <a:solidFill>
            <a:srgbClr val="FFFFFF">
              <a:alpha val="7000"/>
            </a:srgbClr>
          </a:solidFill>
          <a:ln/>
        </p:spPr>
        <p:txBody>
          <a:bodyPr/>
          <a:p/>
        </p:txBody>
      </p:sp>
      <p:sp>
        <p:nvSpPr>
          <p:cNvPr id="1162" name=""/>
          <p:cNvSpPr/>
          <p:nvPr/>
        </p:nvSpPr>
        <p:spPr>
          <a:xfrm rot="0" flipH="0" flipV="0">
            <a:off x="800100" y="1724025"/>
            <a:ext cx="1104900" cy="1514475"/>
          </a:xfrm>
          <a:custGeom>
            <a:pathLst>
              <a:path w="116" h="159">
                <a:moveTo>
                  <a:pt x="113" y="0"/>
                </a:moveTo>
                <a:cubicBezTo>
                  <a:pt x="115" y="0"/>
                  <a:pt x="116" y="1"/>
                  <a:pt x="116" y="3"/>
                </a:cubicBezTo>
                <a:lnTo>
                  <a:pt x="0" y="3"/>
                </a:lnTo>
                <a:cubicBezTo>
                  <a:pt x="0" y="1"/>
                  <a:pt x="1" y="0"/>
                  <a:pt x="3" y="0"/>
                </a:cubicBezTo>
                <a:lnTo>
                  <a:pt x="113" y="0"/>
                </a:lnTo>
                <a:close/>
              </a:path>
            </a:pathLst>
          </a:custGeom>
          <a:solidFill>
            <a:srgbClr val="FBA15C"/>
          </a:solidFill>
          <a:ln/>
        </p:spPr>
        <p:txBody>
          <a:bodyPr/>
          <a:p/>
        </p:txBody>
      </p:sp>
      <p:sp>
        <p:nvSpPr>
          <p:cNvPr id="1163" name="" descr="{&quot;isTemplate&quot;:true,&quot;type&quot;:&quot;text&quot;}"/>
          <p:cNvSpPr txBox="1"/>
          <p:nvPr/>
        </p:nvSpPr>
        <p:spPr>
          <a:xfrm rot="0" flipH="0" flipV="0">
            <a:off x="876300" y="1809750"/>
            <a:ext cx="952500" cy="133350"/>
          </a:xfrm>
          <a:prstGeom prst="rect"/>
        </p:spPr>
        <p:txBody>
          <a:bodyPr wrap="none" lIns="0" tIns="0" rIns="0" bIns="0"/>
          <a:p>
            <a:pPr>
              <a:lnSpc>
                <a:spcPct val="100000"/>
              </a:lnSpc>
            </a:pPr>
            <a:r>
              <a:rPr lang="en-US" sz="825" b="1">
                <a:solidFill>
                  <a:srgbClr val="FBA15C"/>
                </a:solidFill>
                <a:latin typeface="Microsoft YaHei"/>
                <a:ea typeface="Microsoft YaHei"/>
              </a:rPr>
              <a:t>DA</a:t>
            </a:r>
            <a:endParaRPr/>
          </a:p>
        </p:txBody>
      </p:sp>
      <p:sp>
        <p:nvSpPr>
          <p:cNvPr id="1164" name="" descr="{&quot;isTemplate&quot;:true,&quot;type&quot;:&quot;text&quot;}"/>
          <p:cNvSpPr txBox="1"/>
          <p:nvPr/>
        </p:nvSpPr>
        <p:spPr>
          <a:xfrm rot="0" flipH="0" flipV="0">
            <a:off x="876300" y="1981200"/>
            <a:ext cx="952500" cy="133350"/>
          </a:xfrm>
          <a:prstGeom prst="rect"/>
        </p:spPr>
        <p:txBody>
          <a:bodyPr wrap="none" lIns="0" tIns="0" rIns="0" bIns="0"/>
          <a:p>
            <a:pPr>
              <a:lnSpc>
                <a:spcPct val="100000"/>
              </a:lnSpc>
            </a:pPr>
            <a:r>
              <a:rPr lang="zh-CN" sz="863" b="1">
                <a:solidFill>
                  <a:srgbClr val="FFFFFF"/>
                </a:solidFill>
                <a:latin typeface="Microsoft YaHei"/>
                <a:ea typeface="Microsoft YaHei"/>
              </a:rPr>
              <a:t>数据架构</a:t>
            </a:r>
            <a:endParaRPr/>
          </a:p>
        </p:txBody>
      </p:sp>
      <p:sp>
        <p:nvSpPr>
          <p:cNvPr id="1165" name="" descr="{&quot;isTemplate&quot;:true,&quot;type&quot;:&quot;text&quot;}"/>
          <p:cNvSpPr txBox="1"/>
          <p:nvPr/>
        </p:nvSpPr>
        <p:spPr>
          <a:xfrm rot="0" flipH="0" flipV="0">
            <a:off x="876300" y="2162175"/>
            <a:ext cx="952500" cy="800100"/>
          </a:xfrm>
          <a:prstGeom prst="rect"/>
        </p:spPr>
        <p:txBody>
          <a:bodyPr wrap="none" lIns="0" tIns="0" rIns="0" bIns="0"/>
          <a:p>
            <a:pPr>
              <a:lnSpc>
                <a:spcPct val="140000"/>
              </a:lnSpc>
            </a:pPr>
            <a:r>
              <a:rPr lang="zh-CN" sz="750">
                <a:solidFill>
                  <a:srgbClr val="FFFFFF">
                    <a:alpha val="68000"/>
                  </a:srgbClr>
                </a:solidFill>
                <a:latin typeface="Microsoft YaHei"/>
                <a:ea typeface="Microsoft YaHei"/>
              </a:rPr>
              <a:t>数据架构是枢纽</a:t>
            </a:r>
            <a:endParaRPr/>
          </a:p>
        </p:txBody>
      </p:sp>
      <p:sp>
        <p:nvSpPr>
          <p:cNvPr id="1166" name="" descr="{&quot;isTemplate&quot;:true,&quot;type&quot;:&quot;text&quot;}"/>
          <p:cNvSpPr txBox="1"/>
          <p:nvPr/>
        </p:nvSpPr>
        <p:spPr>
          <a:xfrm rot="0" flipH="0" flipV="0">
            <a:off x="876300" y="2962275"/>
            <a:ext cx="952500" cy="161925"/>
          </a:xfrm>
          <a:prstGeom prst="rect"/>
        </p:spPr>
        <p:txBody>
          <a:bodyPr wrap="none" lIns="0" tIns="0" rIns="0" bIns="0"/>
          <a:p>
            <a:pPr>
              <a:lnSpc>
                <a:spcPct val="140000"/>
              </a:lnSpc>
            </a:pPr>
            <a:r>
              <a:rPr lang="zh-CN" sz="750">
                <a:solidFill>
                  <a:srgbClr val="FFFFFF">
                    <a:alpha val="85000"/>
                  </a:srgbClr>
                </a:solidFill>
                <a:latin typeface="Microsoft YaHei"/>
                <a:ea typeface="Microsoft YaHei"/>
              </a:rPr>
              <a:t>先有治，才有存</a:t>
            </a:r>
            <a:endParaRPr/>
          </a:p>
        </p:txBody>
      </p:sp>
      <p:sp>
        <p:nvSpPr>
          <p:cNvPr id="1167" name=""/>
          <p:cNvSpPr/>
          <p:nvPr/>
        </p:nvSpPr>
        <p:spPr>
          <a:xfrm rot="0" flipH="0" flipV="0">
            <a:off x="1981200" y="1724025"/>
            <a:ext cx="1114425" cy="1514475"/>
          </a:xfrm>
          <a:prstGeom prst="roundRect">
            <a:avLst>
              <a:gd name="adj" fmla="val 2564"/>
            </a:avLst>
          </a:prstGeom>
          <a:solidFill>
            <a:srgbClr val="FFFFFF">
              <a:alpha val="7000"/>
            </a:srgbClr>
          </a:solidFill>
          <a:ln/>
        </p:spPr>
        <p:txBody>
          <a:bodyPr/>
          <a:p/>
        </p:txBody>
      </p:sp>
      <p:sp>
        <p:nvSpPr>
          <p:cNvPr id="1168" name=""/>
          <p:cNvSpPr/>
          <p:nvPr/>
        </p:nvSpPr>
        <p:spPr>
          <a:xfrm rot="0" flipH="0" flipV="0">
            <a:off x="1981200" y="1724025"/>
            <a:ext cx="1114425" cy="1514475"/>
          </a:xfrm>
          <a:custGeom>
            <a:pathLst>
              <a:path w="117" h="159">
                <a:moveTo>
                  <a:pt x="114" y="0"/>
                </a:moveTo>
                <a:cubicBezTo>
                  <a:pt x="116" y="0"/>
                  <a:pt x="117" y="1"/>
                  <a:pt x="117" y="3"/>
                </a:cubicBezTo>
                <a:lnTo>
                  <a:pt x="0" y="3"/>
                </a:lnTo>
                <a:cubicBezTo>
                  <a:pt x="0" y="1"/>
                  <a:pt x="1" y="0"/>
                  <a:pt x="3" y="0"/>
                </a:cubicBezTo>
                <a:lnTo>
                  <a:pt x="114" y="0"/>
                </a:lnTo>
                <a:close/>
              </a:path>
            </a:pathLst>
          </a:custGeom>
          <a:solidFill>
            <a:srgbClr val="FBA15C"/>
          </a:solidFill>
          <a:ln/>
        </p:spPr>
        <p:txBody>
          <a:bodyPr/>
          <a:p/>
        </p:txBody>
      </p:sp>
      <p:sp>
        <p:nvSpPr>
          <p:cNvPr id="1169" name="" descr="{&quot;isTemplate&quot;:true,&quot;type&quot;:&quot;text&quot;}"/>
          <p:cNvSpPr txBox="1"/>
          <p:nvPr/>
        </p:nvSpPr>
        <p:spPr>
          <a:xfrm rot="0" flipH="0" flipV="0">
            <a:off x="2057400" y="1809750"/>
            <a:ext cx="962025" cy="133350"/>
          </a:xfrm>
          <a:prstGeom prst="rect"/>
        </p:spPr>
        <p:txBody>
          <a:bodyPr wrap="none" lIns="0" tIns="0" rIns="0" bIns="0"/>
          <a:p>
            <a:pPr>
              <a:lnSpc>
                <a:spcPct val="100000"/>
              </a:lnSpc>
            </a:pPr>
            <a:r>
              <a:rPr lang="en-US" sz="825" b="1">
                <a:solidFill>
                  <a:srgbClr val="FBA15C"/>
                </a:solidFill>
                <a:latin typeface="Microsoft YaHei"/>
                <a:ea typeface="Microsoft YaHei"/>
              </a:rPr>
              <a:t>BA</a:t>
            </a:r>
            <a:endParaRPr/>
          </a:p>
        </p:txBody>
      </p:sp>
      <p:sp>
        <p:nvSpPr>
          <p:cNvPr id="1170" name="" descr="{&quot;isTemplate&quot;:true,&quot;type&quot;:&quot;text&quot;}"/>
          <p:cNvSpPr txBox="1"/>
          <p:nvPr/>
        </p:nvSpPr>
        <p:spPr>
          <a:xfrm rot="0" flipH="0" flipV="0">
            <a:off x="2057400" y="1981200"/>
            <a:ext cx="962025" cy="133350"/>
          </a:xfrm>
          <a:prstGeom prst="rect"/>
        </p:spPr>
        <p:txBody>
          <a:bodyPr wrap="none" lIns="0" tIns="0" rIns="0" bIns="0"/>
          <a:p>
            <a:pPr>
              <a:lnSpc>
                <a:spcPct val="100000"/>
              </a:lnSpc>
            </a:pPr>
            <a:r>
              <a:rPr lang="zh-CN" sz="863" b="1">
                <a:solidFill>
                  <a:srgbClr val="FFFFFF"/>
                </a:solidFill>
                <a:latin typeface="Microsoft YaHei"/>
                <a:ea typeface="Microsoft YaHei"/>
              </a:rPr>
              <a:t>业务架构</a:t>
            </a:r>
            <a:endParaRPr/>
          </a:p>
        </p:txBody>
      </p:sp>
      <p:sp>
        <p:nvSpPr>
          <p:cNvPr id="1171" name="" descr="{&quot;isTemplate&quot;:true,&quot;type&quot;:&quot;text&quot;}"/>
          <p:cNvSpPr txBox="1"/>
          <p:nvPr/>
        </p:nvSpPr>
        <p:spPr>
          <a:xfrm rot="0" flipH="0" flipV="0">
            <a:off x="2057400" y="2162175"/>
            <a:ext cx="962025" cy="800100"/>
          </a:xfrm>
          <a:prstGeom prst="rect"/>
        </p:spPr>
        <p:txBody>
          <a:bodyPr wrap="none" lIns="0" tIns="0" rIns="0" bIns="0"/>
          <a:p>
            <a:pPr>
              <a:lnSpc>
                <a:spcPct val="140000"/>
              </a:lnSpc>
            </a:pPr>
            <a:r>
              <a:rPr lang="zh-CN" sz="750">
                <a:solidFill>
                  <a:srgbClr val="FFFFFF">
                    <a:alpha val="68000"/>
                  </a:srgbClr>
                </a:solidFill>
                <a:latin typeface="Microsoft YaHei"/>
                <a:ea typeface="Microsoft YaHei"/>
              </a:rPr>
              <a:t>业务架构是基础</a:t>
            </a:r>
            <a:endParaRPr/>
          </a:p>
        </p:txBody>
      </p:sp>
      <p:sp>
        <p:nvSpPr>
          <p:cNvPr id="1172" name="" descr="{&quot;isTemplate&quot;:true,&quot;type&quot;:&quot;text&quot;}"/>
          <p:cNvSpPr txBox="1"/>
          <p:nvPr/>
        </p:nvSpPr>
        <p:spPr>
          <a:xfrm rot="0" flipH="0" flipV="0">
            <a:off x="2057400" y="2962275"/>
            <a:ext cx="962025" cy="161925"/>
          </a:xfrm>
          <a:prstGeom prst="rect"/>
        </p:spPr>
        <p:txBody>
          <a:bodyPr wrap="none" lIns="0" tIns="0" rIns="0" bIns="0"/>
          <a:p>
            <a:pPr>
              <a:lnSpc>
                <a:spcPct val="140000"/>
              </a:lnSpc>
            </a:pPr>
            <a:r>
              <a:rPr lang="zh-CN" sz="750">
                <a:solidFill>
                  <a:srgbClr val="FFFFFF">
                    <a:alpha val="85000"/>
                  </a:srgbClr>
                </a:solidFill>
                <a:latin typeface="Microsoft YaHei"/>
                <a:ea typeface="Microsoft YaHei"/>
              </a:rPr>
              <a:t>能力与组织解耦</a:t>
            </a:r>
            <a:endParaRPr/>
          </a:p>
        </p:txBody>
      </p:sp>
      <p:sp>
        <p:nvSpPr>
          <p:cNvPr id="1173" name=""/>
          <p:cNvSpPr/>
          <p:nvPr/>
        </p:nvSpPr>
        <p:spPr>
          <a:xfrm rot="0" flipH="0" flipV="0">
            <a:off x="3171825" y="1724025"/>
            <a:ext cx="1104900" cy="1514475"/>
          </a:xfrm>
          <a:prstGeom prst="roundRect">
            <a:avLst>
              <a:gd name="adj" fmla="val 2586"/>
            </a:avLst>
          </a:prstGeom>
          <a:solidFill>
            <a:srgbClr val="FFFFFF">
              <a:alpha val="7000"/>
            </a:srgbClr>
          </a:solidFill>
          <a:ln/>
        </p:spPr>
        <p:txBody>
          <a:bodyPr/>
          <a:p/>
        </p:txBody>
      </p:sp>
      <p:sp>
        <p:nvSpPr>
          <p:cNvPr id="1174" name=""/>
          <p:cNvSpPr/>
          <p:nvPr/>
        </p:nvSpPr>
        <p:spPr>
          <a:xfrm rot="0" flipH="0" flipV="0">
            <a:off x="3171825" y="1724025"/>
            <a:ext cx="1104900" cy="1514475"/>
          </a:xfrm>
          <a:custGeom>
            <a:pathLst>
              <a:path w="116" h="159">
                <a:moveTo>
                  <a:pt x="113" y="0"/>
                </a:moveTo>
                <a:cubicBezTo>
                  <a:pt x="115" y="0"/>
                  <a:pt x="116" y="1"/>
                  <a:pt x="116" y="3"/>
                </a:cubicBezTo>
                <a:lnTo>
                  <a:pt x="0" y="3"/>
                </a:lnTo>
                <a:cubicBezTo>
                  <a:pt x="0" y="1"/>
                  <a:pt x="1" y="0"/>
                  <a:pt x="3" y="0"/>
                </a:cubicBezTo>
                <a:lnTo>
                  <a:pt x="113" y="0"/>
                </a:lnTo>
                <a:close/>
              </a:path>
            </a:pathLst>
          </a:custGeom>
          <a:solidFill>
            <a:srgbClr val="FBA15C"/>
          </a:solidFill>
          <a:ln/>
        </p:spPr>
        <p:txBody>
          <a:bodyPr/>
          <a:p/>
        </p:txBody>
      </p:sp>
      <p:sp>
        <p:nvSpPr>
          <p:cNvPr id="1175" name="" descr="{&quot;isTemplate&quot;:true,&quot;type&quot;:&quot;text&quot;}"/>
          <p:cNvSpPr txBox="1"/>
          <p:nvPr/>
        </p:nvSpPr>
        <p:spPr>
          <a:xfrm rot="0" flipH="0" flipV="0">
            <a:off x="3248025" y="1809750"/>
            <a:ext cx="952500" cy="133350"/>
          </a:xfrm>
          <a:prstGeom prst="rect"/>
        </p:spPr>
        <p:txBody>
          <a:bodyPr wrap="none" lIns="0" tIns="0" rIns="0" bIns="0"/>
          <a:p>
            <a:pPr>
              <a:lnSpc>
                <a:spcPct val="100000"/>
              </a:lnSpc>
            </a:pPr>
            <a:r>
              <a:rPr lang="en-US" sz="825" b="1">
                <a:solidFill>
                  <a:srgbClr val="FBA15C"/>
                </a:solidFill>
                <a:latin typeface="Microsoft YaHei"/>
                <a:ea typeface="Microsoft YaHei"/>
              </a:rPr>
              <a:t>AA</a:t>
            </a:r>
            <a:endParaRPr/>
          </a:p>
        </p:txBody>
      </p:sp>
      <p:sp>
        <p:nvSpPr>
          <p:cNvPr id="1176" name="" descr="{&quot;isTemplate&quot;:true,&quot;type&quot;:&quot;text&quot;}"/>
          <p:cNvSpPr txBox="1"/>
          <p:nvPr/>
        </p:nvSpPr>
        <p:spPr>
          <a:xfrm rot="0" flipH="0" flipV="0">
            <a:off x="3248025" y="1981200"/>
            <a:ext cx="952500" cy="133350"/>
          </a:xfrm>
          <a:prstGeom prst="rect"/>
        </p:spPr>
        <p:txBody>
          <a:bodyPr wrap="none" lIns="0" tIns="0" rIns="0" bIns="0"/>
          <a:p>
            <a:pPr>
              <a:lnSpc>
                <a:spcPct val="100000"/>
              </a:lnSpc>
            </a:pPr>
            <a:r>
              <a:rPr lang="zh-CN" sz="863" b="1">
                <a:solidFill>
                  <a:srgbClr val="FFFFFF"/>
                </a:solidFill>
                <a:latin typeface="Microsoft YaHei"/>
                <a:ea typeface="Microsoft YaHei"/>
              </a:rPr>
              <a:t>应用架构</a:t>
            </a:r>
            <a:endParaRPr/>
          </a:p>
        </p:txBody>
      </p:sp>
      <p:sp>
        <p:nvSpPr>
          <p:cNvPr id="1177" name="" descr="{&quot;isTemplate&quot;:true,&quot;type&quot;:&quot;text&quot;}"/>
          <p:cNvSpPr txBox="1"/>
          <p:nvPr/>
        </p:nvSpPr>
        <p:spPr>
          <a:xfrm rot="0" flipH="0" flipV="0">
            <a:off x="3248025" y="2162175"/>
            <a:ext cx="952500" cy="800100"/>
          </a:xfrm>
          <a:prstGeom prst="rect"/>
        </p:spPr>
        <p:txBody>
          <a:bodyPr wrap="none" lIns="0" tIns="0" rIns="0" bIns="0"/>
          <a:p>
            <a:pPr>
              <a:lnSpc>
                <a:spcPct val="140000"/>
              </a:lnSpc>
            </a:pPr>
            <a:r>
              <a:rPr lang="zh-CN" sz="750">
                <a:solidFill>
                  <a:srgbClr val="FFFFFF">
                    <a:alpha val="68000"/>
                  </a:srgbClr>
                </a:solidFill>
                <a:latin typeface="Microsoft YaHei"/>
                <a:ea typeface="Microsoft YaHei"/>
              </a:rPr>
              <a:t>应用架构是载体</a:t>
            </a:r>
            <a:endParaRPr/>
          </a:p>
        </p:txBody>
      </p:sp>
      <p:sp>
        <p:nvSpPr>
          <p:cNvPr id="1178" name="" descr="{&quot;isTemplate&quot;:true,&quot;type&quot;:&quot;text&quot;}"/>
          <p:cNvSpPr txBox="1"/>
          <p:nvPr/>
        </p:nvSpPr>
        <p:spPr>
          <a:xfrm rot="0" flipH="0" flipV="0">
            <a:off x="3248025" y="2962275"/>
            <a:ext cx="952500" cy="161925"/>
          </a:xfrm>
          <a:prstGeom prst="rect"/>
        </p:spPr>
        <p:txBody>
          <a:bodyPr wrap="none" lIns="0" tIns="0" rIns="0" bIns="0"/>
          <a:p>
            <a:pPr>
              <a:lnSpc>
                <a:spcPct val="140000"/>
              </a:lnSpc>
            </a:pPr>
            <a:r>
              <a:rPr lang="zh-CN" sz="750">
                <a:solidFill>
                  <a:srgbClr val="FFFFFF">
                    <a:alpha val="85000"/>
                  </a:srgbClr>
                </a:solidFill>
                <a:latin typeface="Microsoft YaHei"/>
                <a:ea typeface="Microsoft YaHei"/>
              </a:rPr>
              <a:t>应用多了带来技术债</a:t>
            </a:r>
            <a:endParaRPr/>
          </a:p>
        </p:txBody>
      </p:sp>
      <p:sp>
        <p:nvSpPr>
          <p:cNvPr id="1179" name=""/>
          <p:cNvSpPr/>
          <p:nvPr/>
        </p:nvSpPr>
        <p:spPr>
          <a:xfrm rot="0" flipH="0" flipV="0">
            <a:off x="4352925" y="1724025"/>
            <a:ext cx="1114425" cy="1514475"/>
          </a:xfrm>
          <a:prstGeom prst="roundRect">
            <a:avLst>
              <a:gd name="adj" fmla="val 2564"/>
            </a:avLst>
          </a:prstGeom>
          <a:solidFill>
            <a:srgbClr val="FFFFFF">
              <a:alpha val="7000"/>
            </a:srgbClr>
          </a:solidFill>
          <a:ln/>
        </p:spPr>
        <p:txBody>
          <a:bodyPr/>
          <a:p/>
        </p:txBody>
      </p:sp>
      <p:sp>
        <p:nvSpPr>
          <p:cNvPr id="1180" name=""/>
          <p:cNvSpPr/>
          <p:nvPr/>
        </p:nvSpPr>
        <p:spPr>
          <a:xfrm rot="0" flipH="0" flipV="0">
            <a:off x="4352925" y="1724025"/>
            <a:ext cx="1114425" cy="1514475"/>
          </a:xfrm>
          <a:custGeom>
            <a:pathLst>
              <a:path w="117" h="159">
                <a:moveTo>
                  <a:pt x="114" y="0"/>
                </a:moveTo>
                <a:cubicBezTo>
                  <a:pt x="116" y="0"/>
                  <a:pt x="117" y="1"/>
                  <a:pt x="117" y="3"/>
                </a:cubicBezTo>
                <a:lnTo>
                  <a:pt x="0" y="3"/>
                </a:lnTo>
                <a:cubicBezTo>
                  <a:pt x="0" y="1"/>
                  <a:pt x="1" y="0"/>
                  <a:pt x="3" y="0"/>
                </a:cubicBezTo>
                <a:lnTo>
                  <a:pt x="114" y="0"/>
                </a:lnTo>
                <a:close/>
              </a:path>
            </a:pathLst>
          </a:custGeom>
          <a:solidFill>
            <a:srgbClr val="FBA15C"/>
          </a:solidFill>
          <a:ln/>
        </p:spPr>
        <p:txBody>
          <a:bodyPr/>
          <a:p/>
        </p:txBody>
      </p:sp>
      <p:sp>
        <p:nvSpPr>
          <p:cNvPr id="1181" name="" descr="{&quot;isTemplate&quot;:true,&quot;type&quot;:&quot;text&quot;}"/>
          <p:cNvSpPr txBox="1"/>
          <p:nvPr/>
        </p:nvSpPr>
        <p:spPr>
          <a:xfrm rot="0" flipH="0" flipV="0">
            <a:off x="4429125" y="1809750"/>
            <a:ext cx="962025" cy="133350"/>
          </a:xfrm>
          <a:prstGeom prst="rect"/>
        </p:spPr>
        <p:txBody>
          <a:bodyPr wrap="none" lIns="0" tIns="0" rIns="0" bIns="0"/>
          <a:p>
            <a:pPr>
              <a:lnSpc>
                <a:spcPct val="100000"/>
              </a:lnSpc>
            </a:pPr>
            <a:r>
              <a:rPr lang="en-US" sz="825" b="1">
                <a:solidFill>
                  <a:srgbClr val="FBA15C"/>
                </a:solidFill>
                <a:latin typeface="Microsoft YaHei"/>
                <a:ea typeface="Microsoft YaHei"/>
              </a:rPr>
              <a:t>TA</a:t>
            </a:r>
            <a:endParaRPr/>
          </a:p>
        </p:txBody>
      </p:sp>
      <p:sp>
        <p:nvSpPr>
          <p:cNvPr id="1182" name="" descr="{&quot;isTemplate&quot;:true,&quot;type&quot;:&quot;text&quot;}"/>
          <p:cNvSpPr txBox="1"/>
          <p:nvPr/>
        </p:nvSpPr>
        <p:spPr>
          <a:xfrm rot="0" flipH="0" flipV="0">
            <a:off x="4429125" y="1981200"/>
            <a:ext cx="962025" cy="133350"/>
          </a:xfrm>
          <a:prstGeom prst="rect"/>
        </p:spPr>
        <p:txBody>
          <a:bodyPr wrap="none" lIns="0" tIns="0" rIns="0" bIns="0"/>
          <a:p>
            <a:pPr>
              <a:lnSpc>
                <a:spcPct val="100000"/>
              </a:lnSpc>
            </a:pPr>
            <a:r>
              <a:rPr lang="zh-CN" sz="863" b="1">
                <a:solidFill>
                  <a:srgbClr val="FFFFFF"/>
                </a:solidFill>
                <a:latin typeface="Microsoft YaHei"/>
                <a:ea typeface="Microsoft YaHei"/>
              </a:rPr>
              <a:t>技术架构</a:t>
            </a:r>
            <a:endParaRPr/>
          </a:p>
        </p:txBody>
      </p:sp>
      <p:sp>
        <p:nvSpPr>
          <p:cNvPr id="1183" name="" descr="{&quot;isTemplate&quot;:true,&quot;type&quot;:&quot;text&quot;}"/>
          <p:cNvSpPr txBox="1"/>
          <p:nvPr/>
        </p:nvSpPr>
        <p:spPr>
          <a:xfrm rot="0" flipH="0" flipV="0">
            <a:off x="4429125" y="2162175"/>
            <a:ext cx="962025" cy="800100"/>
          </a:xfrm>
          <a:prstGeom prst="rect"/>
        </p:spPr>
        <p:txBody>
          <a:bodyPr wrap="none" lIns="0" tIns="0" rIns="0" bIns="0"/>
          <a:p>
            <a:pPr>
              <a:lnSpc>
                <a:spcPct val="140000"/>
              </a:lnSpc>
            </a:pPr>
            <a:r>
              <a:rPr lang="zh-CN" sz="750">
                <a:solidFill>
                  <a:srgbClr val="FFFFFF">
                    <a:alpha val="68000"/>
                  </a:srgbClr>
                </a:solidFill>
                <a:latin typeface="Microsoft YaHei"/>
                <a:ea typeface="Microsoft YaHei"/>
              </a:rPr>
              <a:t>技术架构是底座</a:t>
            </a:r>
            <a:endParaRPr/>
          </a:p>
        </p:txBody>
      </p:sp>
      <p:sp>
        <p:nvSpPr>
          <p:cNvPr id="1184" name="" descr="{&quot;isTemplate&quot;:true,&quot;type&quot;:&quot;text&quot;}"/>
          <p:cNvSpPr txBox="1"/>
          <p:nvPr/>
        </p:nvSpPr>
        <p:spPr>
          <a:xfrm rot="0" flipH="0" flipV="0">
            <a:off x="4429125" y="2962275"/>
            <a:ext cx="962025" cy="161925"/>
          </a:xfrm>
          <a:prstGeom prst="rect"/>
        </p:spPr>
        <p:txBody>
          <a:bodyPr wrap="none" lIns="0" tIns="0" rIns="0" bIns="0"/>
          <a:p>
            <a:pPr>
              <a:lnSpc>
                <a:spcPct val="140000"/>
              </a:lnSpc>
            </a:pPr>
            <a:r>
              <a:rPr lang="zh-CN" sz="750">
                <a:solidFill>
                  <a:srgbClr val="FFFFFF">
                    <a:alpha val="85000"/>
                  </a:srgbClr>
                </a:solidFill>
                <a:latin typeface="Microsoft YaHei"/>
                <a:ea typeface="Microsoft YaHei"/>
              </a:rPr>
              <a:t>不押注单点技术</a:t>
            </a:r>
            <a:endParaRPr/>
          </a:p>
        </p:txBody>
      </p:sp>
      <p:sp>
        <p:nvSpPr>
          <p:cNvPr id="1185" name=""/>
          <p:cNvSpPr/>
          <p:nvPr/>
        </p:nvSpPr>
        <p:spPr>
          <a:xfrm rot="0" flipH="0" flipV="0">
            <a:off x="5543550" y="1724025"/>
            <a:ext cx="1104900" cy="1514475"/>
          </a:xfrm>
          <a:prstGeom prst="roundRect">
            <a:avLst>
              <a:gd name="adj" fmla="val 2586"/>
            </a:avLst>
          </a:prstGeom>
          <a:solidFill>
            <a:srgbClr val="FFFFFF">
              <a:alpha val="7000"/>
            </a:srgbClr>
          </a:solidFill>
          <a:ln/>
        </p:spPr>
        <p:txBody>
          <a:bodyPr/>
          <a:p/>
        </p:txBody>
      </p:sp>
      <p:sp>
        <p:nvSpPr>
          <p:cNvPr id="1186" name=""/>
          <p:cNvSpPr/>
          <p:nvPr/>
        </p:nvSpPr>
        <p:spPr>
          <a:xfrm rot="0" flipH="0" flipV="0">
            <a:off x="5543550" y="1724025"/>
            <a:ext cx="1104900" cy="1514475"/>
          </a:xfrm>
          <a:custGeom>
            <a:pathLst>
              <a:path w="116" h="159">
                <a:moveTo>
                  <a:pt x="113" y="0"/>
                </a:moveTo>
                <a:cubicBezTo>
                  <a:pt x="115" y="0"/>
                  <a:pt x="116" y="1"/>
                  <a:pt x="116" y="3"/>
                </a:cubicBezTo>
                <a:lnTo>
                  <a:pt x="0" y="3"/>
                </a:lnTo>
                <a:cubicBezTo>
                  <a:pt x="0" y="1"/>
                  <a:pt x="1" y="0"/>
                  <a:pt x="3" y="0"/>
                </a:cubicBezTo>
                <a:lnTo>
                  <a:pt x="113" y="0"/>
                </a:lnTo>
                <a:close/>
              </a:path>
            </a:pathLst>
          </a:custGeom>
          <a:solidFill>
            <a:srgbClr val="FBA15C"/>
          </a:solidFill>
          <a:ln/>
        </p:spPr>
        <p:txBody>
          <a:bodyPr/>
          <a:p/>
        </p:txBody>
      </p:sp>
      <p:sp>
        <p:nvSpPr>
          <p:cNvPr id="1187" name="" descr="{&quot;isTemplate&quot;:true,&quot;type&quot;:&quot;text&quot;}"/>
          <p:cNvSpPr txBox="1"/>
          <p:nvPr/>
        </p:nvSpPr>
        <p:spPr>
          <a:xfrm rot="0" flipH="0" flipV="0">
            <a:off x="5619750" y="1809750"/>
            <a:ext cx="952500" cy="133350"/>
          </a:xfrm>
          <a:prstGeom prst="rect"/>
        </p:spPr>
        <p:txBody>
          <a:bodyPr wrap="none" lIns="0" tIns="0" rIns="0" bIns="0"/>
          <a:p>
            <a:pPr>
              <a:lnSpc>
                <a:spcPct val="100000"/>
              </a:lnSpc>
            </a:pPr>
            <a:r>
              <a:rPr lang="en-US" sz="825" b="1">
                <a:solidFill>
                  <a:srgbClr val="FBA15C"/>
                </a:solidFill>
                <a:latin typeface="Microsoft YaHei"/>
                <a:ea typeface="Microsoft YaHei"/>
              </a:rPr>
              <a:t>Ontology</a:t>
            </a:r>
            <a:endParaRPr/>
          </a:p>
        </p:txBody>
      </p:sp>
      <p:sp>
        <p:nvSpPr>
          <p:cNvPr id="1188" name="" descr="{&quot;isTemplate&quot;:true,&quot;type&quot;:&quot;text&quot;}"/>
          <p:cNvSpPr txBox="1"/>
          <p:nvPr/>
        </p:nvSpPr>
        <p:spPr>
          <a:xfrm rot="0" flipH="0" flipV="0">
            <a:off x="5619750" y="1981200"/>
            <a:ext cx="952500" cy="133350"/>
          </a:xfrm>
          <a:prstGeom prst="rect"/>
        </p:spPr>
        <p:txBody>
          <a:bodyPr wrap="none" lIns="0" tIns="0" rIns="0" bIns="0"/>
          <a:p>
            <a:pPr>
              <a:lnSpc>
                <a:spcPct val="100000"/>
              </a:lnSpc>
            </a:pPr>
            <a:r>
              <a:rPr lang="zh-CN" sz="863" b="1">
                <a:solidFill>
                  <a:srgbClr val="FFFFFF"/>
                </a:solidFill>
                <a:latin typeface="Microsoft YaHei"/>
                <a:ea typeface="Microsoft YaHei"/>
              </a:rPr>
              <a:t>本体</a:t>
            </a:r>
            <a:endParaRPr/>
          </a:p>
        </p:txBody>
      </p:sp>
      <p:sp>
        <p:nvSpPr>
          <p:cNvPr id="1189" name="" descr="{&quot;isTemplate&quot;:true,&quot;type&quot;:&quot;text&quot;}"/>
          <p:cNvSpPr txBox="1"/>
          <p:nvPr/>
        </p:nvSpPr>
        <p:spPr>
          <a:xfrm rot="0" flipH="0" flipV="0">
            <a:off x="5619750" y="2162175"/>
            <a:ext cx="952500" cy="800100"/>
          </a:xfrm>
          <a:prstGeom prst="rect"/>
        </p:spPr>
        <p:txBody>
          <a:bodyPr wrap="none" lIns="0" tIns="0" rIns="0" bIns="0"/>
          <a:p>
            <a:pPr>
              <a:lnSpc>
                <a:spcPct val="140000"/>
              </a:lnSpc>
            </a:pPr>
            <a:r>
              <a:rPr lang="en-US" sz="750">
                <a:solidFill>
                  <a:srgbClr val="FFFFFF">
                    <a:alpha val="68000"/>
                  </a:srgbClr>
                </a:solidFill>
                <a:latin typeface="Microsoft YaHei"/>
                <a:ea typeface="Microsoft YaHei"/>
              </a:rPr>
              <a:t xml:space="preserve">4A </a:t>
            </a:r>
            <a:r>
              <a:rPr lang="zh-CN" sz="750">
                <a:solidFill>
                  <a:srgbClr val="FFFFFF">
                    <a:alpha val="68000"/>
                  </a:srgbClr>
                </a:solidFill>
                <a:latin typeface="Microsoft YaHei"/>
                <a:ea typeface="Microsoft YaHei"/>
              </a:rPr>
              <a:t>的汇流点</a:t>
            </a:r>
            <a:endParaRPr/>
          </a:p>
        </p:txBody>
      </p:sp>
      <p:sp>
        <p:nvSpPr>
          <p:cNvPr id="1190" name="" descr="{&quot;isTemplate&quot;:true,&quot;type&quot;:&quot;text&quot;}"/>
          <p:cNvSpPr txBox="1"/>
          <p:nvPr/>
        </p:nvSpPr>
        <p:spPr>
          <a:xfrm rot="0" flipH="0" flipV="0">
            <a:off x="5619750" y="2962275"/>
            <a:ext cx="952500" cy="161925"/>
          </a:xfrm>
          <a:prstGeom prst="rect"/>
        </p:spPr>
        <p:txBody>
          <a:bodyPr wrap="none" lIns="0" tIns="0" rIns="0" bIns="0"/>
          <a:p>
            <a:pPr>
              <a:lnSpc>
                <a:spcPct val="140000"/>
              </a:lnSpc>
            </a:pPr>
            <a:r>
              <a:rPr lang="zh-CN" sz="750">
                <a:solidFill>
                  <a:srgbClr val="FFFFFF">
                    <a:alpha val="85000"/>
                  </a:srgbClr>
                </a:solidFill>
                <a:latin typeface="Microsoft YaHei"/>
                <a:ea typeface="Microsoft YaHei"/>
              </a:rPr>
              <a:t>语义与动力学合一</a:t>
            </a:r>
            <a:endParaRPr/>
          </a:p>
        </p:txBody>
      </p:sp>
      <p:sp>
        <p:nvSpPr>
          <p:cNvPr id="1191" name=""/>
          <p:cNvSpPr/>
          <p:nvPr/>
        </p:nvSpPr>
        <p:spPr>
          <a:xfrm rot="0" flipH="0" flipV="0">
            <a:off x="6724650" y="1724025"/>
            <a:ext cx="1114425" cy="1514475"/>
          </a:xfrm>
          <a:prstGeom prst="roundRect">
            <a:avLst>
              <a:gd name="adj" fmla="val 2564"/>
            </a:avLst>
          </a:prstGeom>
          <a:solidFill>
            <a:srgbClr val="FFFFFF">
              <a:alpha val="7000"/>
            </a:srgbClr>
          </a:solidFill>
          <a:ln/>
        </p:spPr>
        <p:txBody>
          <a:bodyPr/>
          <a:p/>
        </p:txBody>
      </p:sp>
      <p:sp>
        <p:nvSpPr>
          <p:cNvPr id="1192" name=""/>
          <p:cNvSpPr/>
          <p:nvPr/>
        </p:nvSpPr>
        <p:spPr>
          <a:xfrm rot="0" flipH="0" flipV="0">
            <a:off x="6724650" y="1724025"/>
            <a:ext cx="1114425" cy="1514475"/>
          </a:xfrm>
          <a:custGeom>
            <a:pathLst>
              <a:path w="117" h="159">
                <a:moveTo>
                  <a:pt x="114" y="0"/>
                </a:moveTo>
                <a:cubicBezTo>
                  <a:pt x="116" y="0"/>
                  <a:pt x="117" y="1"/>
                  <a:pt x="117" y="3"/>
                </a:cubicBezTo>
                <a:lnTo>
                  <a:pt x="0" y="3"/>
                </a:lnTo>
                <a:cubicBezTo>
                  <a:pt x="0" y="1"/>
                  <a:pt x="1" y="0"/>
                  <a:pt x="3" y="0"/>
                </a:cubicBezTo>
                <a:lnTo>
                  <a:pt x="114" y="0"/>
                </a:lnTo>
                <a:close/>
              </a:path>
            </a:pathLst>
          </a:custGeom>
          <a:solidFill>
            <a:srgbClr val="FBA15C"/>
          </a:solidFill>
          <a:ln/>
        </p:spPr>
        <p:txBody>
          <a:bodyPr/>
          <a:p/>
        </p:txBody>
      </p:sp>
      <p:sp>
        <p:nvSpPr>
          <p:cNvPr id="1193" name="" descr="{&quot;isTemplate&quot;:true,&quot;type&quot;:&quot;text&quot;}"/>
          <p:cNvSpPr txBox="1"/>
          <p:nvPr/>
        </p:nvSpPr>
        <p:spPr>
          <a:xfrm rot="0" flipH="0" flipV="0">
            <a:off x="6800850" y="1809750"/>
            <a:ext cx="962025" cy="133350"/>
          </a:xfrm>
          <a:prstGeom prst="rect"/>
        </p:spPr>
        <p:txBody>
          <a:bodyPr wrap="none" lIns="0" tIns="0" rIns="0" bIns="0"/>
          <a:p>
            <a:pPr>
              <a:lnSpc>
                <a:spcPct val="100000"/>
              </a:lnSpc>
            </a:pPr>
            <a:r>
              <a:rPr lang="en-US" sz="825" b="1">
                <a:solidFill>
                  <a:srgbClr val="FBA15C"/>
                </a:solidFill>
                <a:latin typeface="Microsoft YaHei"/>
                <a:ea typeface="Microsoft YaHei"/>
              </a:rPr>
              <a:t>Agent</a:t>
            </a:r>
            <a:endParaRPr/>
          </a:p>
        </p:txBody>
      </p:sp>
      <p:sp>
        <p:nvSpPr>
          <p:cNvPr id="1194" name="" descr="{&quot;isTemplate&quot;:true,&quot;type&quot;:&quot;text&quot;}"/>
          <p:cNvSpPr txBox="1"/>
          <p:nvPr/>
        </p:nvSpPr>
        <p:spPr>
          <a:xfrm rot="0" flipH="0" flipV="0">
            <a:off x="6800850" y="1981200"/>
            <a:ext cx="962025" cy="133350"/>
          </a:xfrm>
          <a:prstGeom prst="rect"/>
        </p:spPr>
        <p:txBody>
          <a:bodyPr wrap="none" lIns="0" tIns="0" rIns="0" bIns="0"/>
          <a:p>
            <a:pPr>
              <a:lnSpc>
                <a:spcPct val="100000"/>
              </a:lnSpc>
            </a:pPr>
            <a:r>
              <a:rPr lang="zh-CN" sz="863" b="1">
                <a:solidFill>
                  <a:srgbClr val="FFFFFF"/>
                </a:solidFill>
                <a:latin typeface="Microsoft YaHei"/>
                <a:ea typeface="Microsoft YaHei"/>
              </a:rPr>
              <a:t>智能体</a:t>
            </a:r>
            <a:endParaRPr/>
          </a:p>
        </p:txBody>
      </p:sp>
      <p:sp>
        <p:nvSpPr>
          <p:cNvPr id="1195" name="" descr="{&quot;isTemplate&quot;:true,&quot;type&quot;:&quot;text&quot;}"/>
          <p:cNvSpPr txBox="1"/>
          <p:nvPr/>
        </p:nvSpPr>
        <p:spPr>
          <a:xfrm rot="0" flipH="0" flipV="0">
            <a:off x="6800850" y="2162175"/>
            <a:ext cx="962025" cy="800100"/>
          </a:xfrm>
          <a:prstGeom prst="rect"/>
        </p:spPr>
        <p:txBody>
          <a:bodyPr wrap="none" lIns="0" tIns="0" rIns="0" bIns="0"/>
          <a:p>
            <a:pPr>
              <a:lnSpc>
                <a:spcPct val="140000"/>
              </a:lnSpc>
            </a:pPr>
            <a:r>
              <a:rPr lang="en-US" sz="750">
                <a:solidFill>
                  <a:srgbClr val="FFFFFF">
                    <a:alpha val="68000"/>
                  </a:srgbClr>
                </a:solidFill>
                <a:latin typeface="Microsoft YaHei"/>
                <a:ea typeface="Microsoft YaHei"/>
              </a:rPr>
              <a:t xml:space="preserve">4A </a:t>
            </a:r>
            <a:r>
              <a:rPr lang="zh-CN" sz="750">
                <a:solidFill>
                  <a:srgbClr val="FFFFFF">
                    <a:alpha val="68000"/>
                  </a:srgbClr>
                </a:solidFill>
                <a:latin typeface="Microsoft YaHei"/>
                <a:ea typeface="Microsoft YaHei"/>
              </a:rPr>
              <a:t>的新实践点</a:t>
            </a:r>
            <a:endParaRPr/>
          </a:p>
        </p:txBody>
      </p:sp>
      <p:sp>
        <p:nvSpPr>
          <p:cNvPr id="1196" name="" descr="{&quot;isTemplate&quot;:true,&quot;type&quot;:&quot;text&quot;}"/>
          <p:cNvSpPr txBox="1"/>
          <p:nvPr/>
        </p:nvSpPr>
        <p:spPr>
          <a:xfrm rot="0" flipH="0" flipV="0">
            <a:off x="6800850" y="2962275"/>
            <a:ext cx="962025" cy="161925"/>
          </a:xfrm>
          <a:prstGeom prst="rect"/>
        </p:spPr>
        <p:txBody>
          <a:bodyPr wrap="none" lIns="0" tIns="0" rIns="0" bIns="0"/>
          <a:p>
            <a:pPr>
              <a:lnSpc>
                <a:spcPct val="140000"/>
              </a:lnSpc>
            </a:pPr>
            <a:r>
              <a:rPr lang="zh-CN" sz="750">
                <a:solidFill>
                  <a:srgbClr val="FFFFFF">
                    <a:alpha val="85000"/>
                  </a:srgbClr>
                </a:solidFill>
                <a:latin typeface="Microsoft YaHei"/>
                <a:ea typeface="Microsoft YaHei"/>
              </a:rPr>
              <a:t>明确谁来判断、停在哪</a:t>
            </a:r>
            <a:endParaRPr/>
          </a:p>
        </p:txBody>
      </p:sp>
      <p:sp>
        <p:nvSpPr>
          <p:cNvPr id="1197" name=""/>
          <p:cNvSpPr/>
          <p:nvPr/>
        </p:nvSpPr>
        <p:spPr>
          <a:xfrm rot="0" flipH="0" flipV="0">
            <a:off x="7915275" y="1724025"/>
            <a:ext cx="1104900" cy="1514475"/>
          </a:xfrm>
          <a:prstGeom prst="roundRect">
            <a:avLst>
              <a:gd name="adj" fmla="val 2586"/>
            </a:avLst>
          </a:prstGeom>
          <a:solidFill>
            <a:srgbClr val="FFFFFF">
              <a:alpha val="7000"/>
            </a:srgbClr>
          </a:solidFill>
          <a:ln/>
        </p:spPr>
        <p:txBody>
          <a:bodyPr/>
          <a:p/>
        </p:txBody>
      </p:sp>
      <p:sp>
        <p:nvSpPr>
          <p:cNvPr id="1198" name=""/>
          <p:cNvSpPr/>
          <p:nvPr/>
        </p:nvSpPr>
        <p:spPr>
          <a:xfrm rot="0" flipH="0" flipV="0">
            <a:off x="7915275" y="1724025"/>
            <a:ext cx="1104900" cy="1514475"/>
          </a:xfrm>
          <a:custGeom>
            <a:pathLst>
              <a:path w="116" h="159">
                <a:moveTo>
                  <a:pt x="113" y="0"/>
                </a:moveTo>
                <a:cubicBezTo>
                  <a:pt x="115" y="0"/>
                  <a:pt x="116" y="1"/>
                  <a:pt x="116" y="3"/>
                </a:cubicBezTo>
                <a:lnTo>
                  <a:pt x="0" y="3"/>
                </a:lnTo>
                <a:cubicBezTo>
                  <a:pt x="0" y="1"/>
                  <a:pt x="1" y="0"/>
                  <a:pt x="3" y="0"/>
                </a:cubicBezTo>
                <a:lnTo>
                  <a:pt x="113" y="0"/>
                </a:lnTo>
                <a:close/>
              </a:path>
            </a:pathLst>
          </a:custGeom>
          <a:solidFill>
            <a:srgbClr val="FBA15C"/>
          </a:solidFill>
          <a:ln/>
        </p:spPr>
        <p:txBody>
          <a:bodyPr/>
          <a:p/>
        </p:txBody>
      </p:sp>
      <p:sp>
        <p:nvSpPr>
          <p:cNvPr id="1199" name="" descr="{&quot;isTemplate&quot;:true,&quot;type&quot;:&quot;text&quot;}"/>
          <p:cNvSpPr txBox="1"/>
          <p:nvPr/>
        </p:nvSpPr>
        <p:spPr>
          <a:xfrm rot="0" flipH="0" flipV="0">
            <a:off x="7991475" y="1809750"/>
            <a:ext cx="952500" cy="133350"/>
          </a:xfrm>
          <a:prstGeom prst="rect"/>
        </p:spPr>
        <p:txBody>
          <a:bodyPr wrap="none" lIns="0" tIns="0" rIns="0" bIns="0"/>
          <a:p>
            <a:pPr>
              <a:lnSpc>
                <a:spcPct val="100000"/>
              </a:lnSpc>
            </a:pPr>
            <a:r>
              <a:rPr lang="zh-CN" sz="825" b="1">
                <a:solidFill>
                  <a:srgbClr val="FBA15C"/>
                </a:solidFill>
                <a:latin typeface="Microsoft YaHei"/>
                <a:ea typeface="Microsoft YaHei"/>
              </a:rPr>
              <a:t>知识库</a:t>
            </a:r>
            <a:endParaRPr/>
          </a:p>
        </p:txBody>
      </p:sp>
      <p:sp>
        <p:nvSpPr>
          <p:cNvPr id="1200" name="" descr="{&quot;isTemplate&quot;:true,&quot;type&quot;:&quot;text&quot;}"/>
          <p:cNvSpPr txBox="1"/>
          <p:nvPr/>
        </p:nvSpPr>
        <p:spPr>
          <a:xfrm rot="0" flipH="0" flipV="0">
            <a:off x="7991475" y="1981200"/>
            <a:ext cx="952500" cy="133350"/>
          </a:xfrm>
          <a:prstGeom prst="rect"/>
        </p:spPr>
        <p:txBody>
          <a:bodyPr wrap="none" lIns="0" tIns="0" rIns="0" bIns="0"/>
          <a:p>
            <a:pPr>
              <a:lnSpc>
                <a:spcPct val="100000"/>
              </a:lnSpc>
            </a:pPr>
            <a:r>
              <a:rPr lang="zh-CN" sz="863" b="1">
                <a:solidFill>
                  <a:srgbClr val="FFFFFF"/>
                </a:solidFill>
                <a:latin typeface="Microsoft YaHei"/>
                <a:ea typeface="Microsoft YaHei"/>
              </a:rPr>
              <a:t>知识库</a:t>
            </a:r>
            <a:endParaRPr/>
          </a:p>
        </p:txBody>
      </p:sp>
      <p:sp>
        <p:nvSpPr>
          <p:cNvPr id="1201" name="" descr="{&quot;isTemplate&quot;:true,&quot;type&quot;:&quot;text&quot;}"/>
          <p:cNvSpPr txBox="1"/>
          <p:nvPr/>
        </p:nvSpPr>
        <p:spPr>
          <a:xfrm rot="0" flipH="0" flipV="0">
            <a:off x="7991475" y="2162175"/>
            <a:ext cx="952500" cy="638175"/>
          </a:xfrm>
          <a:prstGeom prst="rect"/>
        </p:spPr>
        <p:txBody>
          <a:bodyPr wrap="none" lIns="0" tIns="0" rIns="0" bIns="0"/>
          <a:p>
            <a:pPr>
              <a:lnSpc>
                <a:spcPct val="140000"/>
              </a:lnSpc>
            </a:pPr>
            <a:r>
              <a:rPr lang="en-US" sz="750">
                <a:solidFill>
                  <a:srgbClr val="FFFFFF">
                    <a:alpha val="68000"/>
                  </a:srgbClr>
                </a:solidFill>
                <a:latin typeface="Microsoft YaHei"/>
                <a:ea typeface="Microsoft YaHei"/>
              </a:rPr>
              <a:t xml:space="preserve">4A </a:t>
            </a:r>
            <a:r>
              <a:rPr lang="zh-CN" sz="750">
                <a:solidFill>
                  <a:srgbClr val="FFFFFF">
                    <a:alpha val="68000"/>
                  </a:srgbClr>
                </a:solidFill>
                <a:latin typeface="Microsoft YaHei"/>
                <a:ea typeface="Microsoft YaHei"/>
              </a:rPr>
              <a:t>的新实践点</a:t>
            </a:r>
            <a:endParaRPr/>
          </a:p>
        </p:txBody>
      </p:sp>
      <p:sp>
        <p:nvSpPr>
          <p:cNvPr id="1202" name="" descr="{&quot;isTemplate&quot;:true,&quot;type&quot;:&quot;text&quot;}"/>
          <p:cNvSpPr txBox="1"/>
          <p:nvPr/>
        </p:nvSpPr>
        <p:spPr>
          <a:xfrm rot="0" flipH="0" flipV="0">
            <a:off x="7991475" y="2800350"/>
            <a:ext cx="952500" cy="323850"/>
          </a:xfrm>
          <a:prstGeom prst="rect"/>
        </p:spPr>
        <p:txBody>
          <a:bodyPr wrap="square" lIns="0" tIns="0" rIns="0" bIns="0">
            <a:normAutofit/>
          </a:bodyPr>
          <a:p>
            <a:pPr>
              <a:lnSpc>
                <a:spcPct val="140000"/>
              </a:lnSpc>
            </a:pPr>
            <a:r>
              <a:rPr lang="zh-CN" sz="750">
                <a:solidFill>
                  <a:srgbClr val="FFFFFF">
                    <a:alpha val="85000"/>
                  </a:srgbClr>
                </a:solidFill>
                <a:latin typeface="Microsoft YaHei"/>
                <a:ea typeface="Microsoft YaHei"/>
              </a:rPr>
              <a:t>知识要被治理，不只是存</a:t>
            </a:r>
            <a:endParaRPr/>
          </a:p>
        </p:txBody>
      </p:sp>
      <p:sp>
        <p:nvSpPr>
          <p:cNvPr id="1203" name=""/>
          <p:cNvSpPr/>
          <p:nvPr/>
        </p:nvSpPr>
        <p:spPr>
          <a:xfrm rot="0" flipH="0" flipV="0">
            <a:off x="9096375" y="1724025"/>
            <a:ext cx="1114425" cy="1514475"/>
          </a:xfrm>
          <a:prstGeom prst="roundRect">
            <a:avLst>
              <a:gd name="adj" fmla="val 2564"/>
            </a:avLst>
          </a:prstGeom>
          <a:solidFill>
            <a:srgbClr val="FFFFFF">
              <a:alpha val="7000"/>
            </a:srgbClr>
          </a:solidFill>
          <a:ln/>
        </p:spPr>
        <p:txBody>
          <a:bodyPr/>
          <a:p/>
        </p:txBody>
      </p:sp>
      <p:sp>
        <p:nvSpPr>
          <p:cNvPr id="1204" name=""/>
          <p:cNvSpPr/>
          <p:nvPr/>
        </p:nvSpPr>
        <p:spPr>
          <a:xfrm rot="0" flipH="0" flipV="0">
            <a:off x="9096375" y="1724025"/>
            <a:ext cx="1114425" cy="1514475"/>
          </a:xfrm>
          <a:custGeom>
            <a:pathLst>
              <a:path w="117" h="159">
                <a:moveTo>
                  <a:pt x="114" y="0"/>
                </a:moveTo>
                <a:cubicBezTo>
                  <a:pt x="116" y="0"/>
                  <a:pt x="117" y="1"/>
                  <a:pt x="117" y="3"/>
                </a:cubicBezTo>
                <a:lnTo>
                  <a:pt x="0" y="3"/>
                </a:lnTo>
                <a:cubicBezTo>
                  <a:pt x="0" y="1"/>
                  <a:pt x="1" y="0"/>
                  <a:pt x="3" y="0"/>
                </a:cubicBezTo>
                <a:lnTo>
                  <a:pt x="114" y="0"/>
                </a:lnTo>
                <a:close/>
              </a:path>
            </a:pathLst>
          </a:custGeom>
          <a:solidFill>
            <a:srgbClr val="FBA15C"/>
          </a:solidFill>
          <a:ln/>
        </p:spPr>
        <p:txBody>
          <a:bodyPr/>
          <a:p/>
        </p:txBody>
      </p:sp>
      <p:sp>
        <p:nvSpPr>
          <p:cNvPr id="1205" name="" descr="{&quot;isTemplate&quot;:true,&quot;type&quot;:&quot;text&quot;}"/>
          <p:cNvSpPr txBox="1"/>
          <p:nvPr/>
        </p:nvSpPr>
        <p:spPr>
          <a:xfrm rot="0" flipH="0" flipV="0">
            <a:off x="9172575" y="1809750"/>
            <a:ext cx="962025" cy="133350"/>
          </a:xfrm>
          <a:prstGeom prst="rect"/>
        </p:spPr>
        <p:txBody>
          <a:bodyPr wrap="none" lIns="0" tIns="0" rIns="0" bIns="0"/>
          <a:p>
            <a:pPr>
              <a:lnSpc>
                <a:spcPct val="100000"/>
              </a:lnSpc>
            </a:pPr>
            <a:r>
              <a:rPr lang="zh-CN" sz="825" b="1">
                <a:solidFill>
                  <a:srgbClr val="FBA15C"/>
                </a:solidFill>
                <a:latin typeface="Microsoft YaHei"/>
                <a:ea typeface="Microsoft YaHei"/>
              </a:rPr>
              <a:t>管道</a:t>
            </a:r>
            <a:endParaRPr/>
          </a:p>
        </p:txBody>
      </p:sp>
      <p:sp>
        <p:nvSpPr>
          <p:cNvPr id="1206" name="" descr="{&quot;isTemplate&quot;:true,&quot;type&quot;:&quot;text&quot;}"/>
          <p:cNvSpPr txBox="1"/>
          <p:nvPr/>
        </p:nvSpPr>
        <p:spPr>
          <a:xfrm rot="0" flipH="0" flipV="0">
            <a:off x="9172575" y="1981200"/>
            <a:ext cx="962025" cy="133350"/>
          </a:xfrm>
          <a:prstGeom prst="rect"/>
        </p:spPr>
        <p:txBody>
          <a:bodyPr wrap="none" lIns="0" tIns="0" rIns="0" bIns="0"/>
          <a:p>
            <a:pPr>
              <a:lnSpc>
                <a:spcPct val="100000"/>
              </a:lnSpc>
            </a:pPr>
            <a:r>
              <a:rPr lang="zh-CN" sz="863" b="1">
                <a:solidFill>
                  <a:srgbClr val="FFFFFF"/>
                </a:solidFill>
                <a:latin typeface="Microsoft YaHei"/>
                <a:ea typeface="Microsoft YaHei"/>
              </a:rPr>
              <a:t>管道处理</a:t>
            </a:r>
            <a:endParaRPr/>
          </a:p>
        </p:txBody>
      </p:sp>
      <p:sp>
        <p:nvSpPr>
          <p:cNvPr id="1207" name="" descr="{&quot;isTemplate&quot;:true,&quot;type&quot;:&quot;text&quot;}"/>
          <p:cNvSpPr txBox="1"/>
          <p:nvPr/>
        </p:nvSpPr>
        <p:spPr>
          <a:xfrm rot="0" flipH="0" flipV="0">
            <a:off x="9172575" y="2162175"/>
            <a:ext cx="962025" cy="638175"/>
          </a:xfrm>
          <a:prstGeom prst="rect"/>
        </p:spPr>
        <p:txBody>
          <a:bodyPr wrap="none" lIns="0" tIns="0" rIns="0" bIns="0"/>
          <a:p>
            <a:pPr>
              <a:lnSpc>
                <a:spcPct val="140000"/>
              </a:lnSpc>
            </a:pPr>
            <a:r>
              <a:rPr lang="en-US" sz="750">
                <a:solidFill>
                  <a:srgbClr val="FFFFFF">
                    <a:alpha val="68000"/>
                  </a:srgbClr>
                </a:solidFill>
                <a:latin typeface="Microsoft YaHei"/>
                <a:ea typeface="Microsoft YaHei"/>
              </a:rPr>
              <a:t xml:space="preserve">4A </a:t>
            </a:r>
            <a:r>
              <a:rPr lang="zh-CN" sz="750">
                <a:solidFill>
                  <a:srgbClr val="FFFFFF">
                    <a:alpha val="68000"/>
                  </a:srgbClr>
                </a:solidFill>
                <a:latin typeface="Microsoft YaHei"/>
                <a:ea typeface="Microsoft YaHei"/>
              </a:rPr>
              <a:t>的新实践点</a:t>
            </a:r>
            <a:endParaRPr/>
          </a:p>
        </p:txBody>
      </p:sp>
      <p:sp>
        <p:nvSpPr>
          <p:cNvPr id="1208" name="" descr="{&quot;isTemplate&quot;:true,&quot;type&quot;:&quot;text&quot;}"/>
          <p:cNvSpPr txBox="1"/>
          <p:nvPr/>
        </p:nvSpPr>
        <p:spPr>
          <a:xfrm rot="0" flipH="0" flipV="0">
            <a:off x="9172575" y="2800350"/>
            <a:ext cx="962025" cy="323850"/>
          </a:xfrm>
          <a:prstGeom prst="rect"/>
        </p:spPr>
        <p:txBody>
          <a:bodyPr wrap="square" lIns="0" tIns="0" rIns="0" bIns="0">
            <a:normAutofit/>
          </a:bodyPr>
          <a:p>
            <a:pPr>
              <a:lnSpc>
                <a:spcPct val="140000"/>
              </a:lnSpc>
            </a:pPr>
            <a:r>
              <a:rPr lang="zh-CN" sz="750">
                <a:solidFill>
                  <a:srgbClr val="FFFFFF">
                    <a:alpha val="85000"/>
                  </a:srgbClr>
                </a:solidFill>
                <a:latin typeface="Microsoft YaHei"/>
                <a:ea typeface="Microsoft YaHei"/>
              </a:rPr>
              <a:t>进出本体要可管可追可退</a:t>
            </a:r>
            <a:endParaRPr/>
          </a:p>
        </p:txBody>
      </p:sp>
      <p:sp>
        <p:nvSpPr>
          <p:cNvPr id="1209" name=""/>
          <p:cNvSpPr/>
          <p:nvPr/>
        </p:nvSpPr>
        <p:spPr>
          <a:xfrm rot="0" flipH="0" flipV="0">
            <a:off x="10287000" y="1724025"/>
            <a:ext cx="1104900" cy="1514475"/>
          </a:xfrm>
          <a:prstGeom prst="roundRect">
            <a:avLst>
              <a:gd name="adj" fmla="val 2586"/>
            </a:avLst>
          </a:prstGeom>
          <a:solidFill>
            <a:srgbClr val="FA4F24">
              <a:alpha val="26000"/>
            </a:srgbClr>
          </a:solidFill>
          <a:ln/>
        </p:spPr>
        <p:txBody>
          <a:bodyPr/>
          <a:p/>
        </p:txBody>
      </p:sp>
      <p:sp>
        <p:nvSpPr>
          <p:cNvPr id="1210" name=""/>
          <p:cNvSpPr/>
          <p:nvPr/>
        </p:nvSpPr>
        <p:spPr>
          <a:xfrm rot="0" flipH="0" flipV="0">
            <a:off x="10287000" y="1724025"/>
            <a:ext cx="1104900" cy="1514475"/>
          </a:xfrm>
          <a:custGeom>
            <a:pathLst>
              <a:path w="116" h="159">
                <a:moveTo>
                  <a:pt x="113" y="0"/>
                </a:moveTo>
                <a:cubicBezTo>
                  <a:pt x="115" y="0"/>
                  <a:pt x="116" y="1"/>
                  <a:pt x="116" y="3"/>
                </a:cubicBezTo>
                <a:lnTo>
                  <a:pt x="0" y="3"/>
                </a:lnTo>
                <a:cubicBezTo>
                  <a:pt x="0" y="1"/>
                  <a:pt x="1" y="0"/>
                  <a:pt x="3" y="0"/>
                </a:cubicBezTo>
                <a:lnTo>
                  <a:pt x="113" y="0"/>
                </a:lnTo>
                <a:close/>
              </a:path>
            </a:pathLst>
          </a:custGeom>
          <a:solidFill>
            <a:srgbClr val="FA4F24"/>
          </a:solidFill>
          <a:ln/>
        </p:spPr>
        <p:txBody>
          <a:bodyPr/>
          <a:p/>
        </p:txBody>
      </p:sp>
      <p:sp>
        <p:nvSpPr>
          <p:cNvPr id="1211" name="" descr="{&quot;isTemplate&quot;:true,&quot;type&quot;:&quot;text&quot;}"/>
          <p:cNvSpPr txBox="1"/>
          <p:nvPr/>
        </p:nvSpPr>
        <p:spPr>
          <a:xfrm rot="0" flipH="0" flipV="0">
            <a:off x="10363200" y="1809750"/>
            <a:ext cx="952500" cy="133350"/>
          </a:xfrm>
          <a:prstGeom prst="rect"/>
        </p:spPr>
        <p:txBody>
          <a:bodyPr wrap="none" lIns="0" tIns="0" rIns="0" bIns="0"/>
          <a:p>
            <a:pPr>
              <a:lnSpc>
                <a:spcPct val="100000"/>
              </a:lnSpc>
            </a:pPr>
            <a:r>
              <a:rPr lang="zh-CN" sz="825" b="1">
                <a:solidFill>
                  <a:srgbClr val="FA4F24"/>
                </a:solidFill>
                <a:latin typeface="Microsoft YaHei"/>
                <a:ea typeface="Microsoft YaHei"/>
              </a:rPr>
              <a:t>治理</a:t>
            </a:r>
            <a:endParaRPr/>
          </a:p>
        </p:txBody>
      </p:sp>
      <p:sp>
        <p:nvSpPr>
          <p:cNvPr id="1212" name="" descr="{&quot;isTemplate&quot;:true,&quot;type&quot;:&quot;text&quot;}"/>
          <p:cNvSpPr txBox="1"/>
          <p:nvPr/>
        </p:nvSpPr>
        <p:spPr>
          <a:xfrm rot="0" flipH="0" flipV="0">
            <a:off x="10363200" y="1981200"/>
            <a:ext cx="952500" cy="133350"/>
          </a:xfrm>
          <a:prstGeom prst="rect"/>
        </p:spPr>
        <p:txBody>
          <a:bodyPr wrap="none" lIns="0" tIns="0" rIns="0" bIns="0"/>
          <a:p>
            <a:pPr>
              <a:lnSpc>
                <a:spcPct val="100000"/>
              </a:lnSpc>
            </a:pPr>
            <a:r>
              <a:rPr lang="zh-CN" sz="863" b="1">
                <a:solidFill>
                  <a:srgbClr val="FFFFFF"/>
                </a:solidFill>
                <a:latin typeface="Microsoft YaHei"/>
                <a:ea typeface="Microsoft YaHei"/>
              </a:rPr>
              <a:t>数据治理</a:t>
            </a:r>
            <a:endParaRPr/>
          </a:p>
        </p:txBody>
      </p:sp>
      <p:sp>
        <p:nvSpPr>
          <p:cNvPr id="1213" name="" descr="{&quot;isTemplate&quot;:true,&quot;type&quot;:&quot;text&quot;}"/>
          <p:cNvSpPr txBox="1"/>
          <p:nvPr/>
        </p:nvSpPr>
        <p:spPr>
          <a:xfrm rot="0" flipH="0" flipV="0">
            <a:off x="10363200" y="2162175"/>
            <a:ext cx="952500" cy="800100"/>
          </a:xfrm>
          <a:prstGeom prst="rect"/>
        </p:spPr>
        <p:txBody>
          <a:bodyPr wrap="none" lIns="0" tIns="0" rIns="0" bIns="0"/>
          <a:p>
            <a:pPr>
              <a:lnSpc>
                <a:spcPct val="140000"/>
              </a:lnSpc>
            </a:pPr>
            <a:r>
              <a:rPr lang="en-US" sz="750">
                <a:solidFill>
                  <a:srgbClr val="FFFFFF">
                    <a:alpha val="68000"/>
                  </a:srgbClr>
                </a:solidFill>
                <a:latin typeface="Microsoft YaHei"/>
                <a:ea typeface="Microsoft YaHei"/>
              </a:rPr>
              <a:t xml:space="preserve">4A </a:t>
            </a:r>
            <a:r>
              <a:rPr lang="zh-CN" sz="750">
                <a:solidFill>
                  <a:srgbClr val="FFFFFF">
                    <a:alpha val="68000"/>
                  </a:srgbClr>
                </a:solidFill>
                <a:latin typeface="Microsoft YaHei"/>
                <a:ea typeface="Microsoft YaHei"/>
              </a:rPr>
              <a:t>的新实践点</a:t>
            </a:r>
            <a:endParaRPr/>
          </a:p>
        </p:txBody>
      </p:sp>
      <p:sp>
        <p:nvSpPr>
          <p:cNvPr id="1214" name="" descr="{&quot;isTemplate&quot;:true,&quot;type&quot;:&quot;text&quot;}"/>
          <p:cNvSpPr txBox="1"/>
          <p:nvPr/>
        </p:nvSpPr>
        <p:spPr>
          <a:xfrm rot="0" flipH="0" flipV="0">
            <a:off x="10363200" y="2962275"/>
            <a:ext cx="952500" cy="161925"/>
          </a:xfrm>
          <a:prstGeom prst="rect"/>
        </p:spPr>
        <p:txBody>
          <a:bodyPr wrap="none" lIns="0" tIns="0" rIns="0" bIns="0"/>
          <a:p>
            <a:pPr>
              <a:lnSpc>
                <a:spcPct val="140000"/>
              </a:lnSpc>
            </a:pPr>
            <a:r>
              <a:rPr lang="zh-CN" sz="750">
                <a:solidFill>
                  <a:srgbClr val="FFFFFF">
                    <a:alpha val="85000"/>
                  </a:srgbClr>
                </a:solidFill>
                <a:latin typeface="Microsoft YaHei"/>
                <a:ea typeface="Microsoft YaHei"/>
              </a:rPr>
              <a:t>管的是动作，不是文件</a:t>
            </a:r>
            <a:endParaRPr/>
          </a:p>
        </p:txBody>
      </p:sp>
      <p:sp>
        <p:nvSpPr>
          <p:cNvPr id="1215" name=""/>
          <p:cNvSpPr/>
          <p:nvPr/>
        </p:nvSpPr>
        <p:spPr>
          <a:xfrm rot="0" flipH="0" flipV="0">
            <a:off x="647700" y="3438525"/>
            <a:ext cx="5819775" cy="2200275"/>
          </a:xfrm>
          <a:prstGeom prst="roundRect">
            <a:avLst>
              <a:gd name="adj" fmla="val 1732"/>
            </a:avLst>
          </a:prstGeom>
          <a:solidFill>
            <a:srgbClr val="FFF3EE"/>
          </a:solidFill>
          <a:ln/>
        </p:spPr>
        <p:txBody>
          <a:bodyPr/>
          <a:p/>
        </p:txBody>
      </p:sp>
      <p:sp>
        <p:nvSpPr>
          <p:cNvPr id="1216" name=""/>
          <p:cNvSpPr/>
          <p:nvPr/>
        </p:nvSpPr>
        <p:spPr>
          <a:xfrm rot="0" flipH="0" flipV="0">
            <a:off x="647700" y="3438525"/>
            <a:ext cx="5819775" cy="2200275"/>
          </a:xfrm>
          <a:custGeom>
            <a:pathLst>
              <a:path w="611" h="231">
                <a:moveTo>
                  <a:pt x="4" y="231"/>
                </a:moveTo>
                <a:cubicBezTo>
                  <a:pt x="2" y="231"/>
                  <a:pt x="0" y="229"/>
                  <a:pt x="0" y="227"/>
                </a:cubicBezTo>
                <a:lnTo>
                  <a:pt x="0" y="4"/>
                </a:lnTo>
                <a:cubicBezTo>
                  <a:pt x="0" y="2"/>
                  <a:pt x="2" y="0"/>
                  <a:pt x="4" y="0"/>
                </a:cubicBezTo>
                <a:lnTo>
                  <a:pt x="4" y="231"/>
                </a:lnTo>
                <a:close/>
              </a:path>
            </a:pathLst>
          </a:custGeom>
          <a:solidFill>
            <a:srgbClr val="FA4F24"/>
          </a:solidFill>
          <a:ln/>
        </p:spPr>
        <p:txBody>
          <a:bodyPr/>
          <a:p/>
        </p:txBody>
      </p:sp>
      <p:sp>
        <p:nvSpPr>
          <p:cNvPr id="1217" name="" descr="{&quot;isTemplate&quot;:true,&quot;type&quot;:&quot;text&quot;}"/>
          <p:cNvSpPr txBox="1"/>
          <p:nvPr/>
        </p:nvSpPr>
        <p:spPr>
          <a:xfrm rot="0" flipH="0" flipV="0">
            <a:off x="809625" y="3705225"/>
            <a:ext cx="5457825" cy="161925"/>
          </a:xfrm>
          <a:prstGeom prst="rect"/>
        </p:spPr>
        <p:txBody>
          <a:bodyPr wrap="none" lIns="0" tIns="0" rIns="0" bIns="0"/>
          <a:p>
            <a:pPr>
              <a:lnSpc>
                <a:spcPct val="100000"/>
              </a:lnSpc>
            </a:pPr>
            <a:r>
              <a:rPr lang="zh-CN" sz="1050" b="1">
                <a:solidFill>
                  <a:srgbClr val="C43A17"/>
                </a:solidFill>
                <a:latin typeface="Microsoft YaHei"/>
                <a:ea typeface="Microsoft YaHei"/>
              </a:rPr>
              <a:t>数据治理留下的六条主张</a:t>
            </a:r>
            <a:endParaRPr/>
          </a:p>
        </p:txBody>
      </p:sp>
      <p:sp>
        <p:nvSpPr>
          <p:cNvPr id="1218" name="" descr="{&quot;isTemplate&quot;:true,&quot;type&quot;:&quot;text&quot;}"/>
          <p:cNvSpPr txBox="1"/>
          <p:nvPr/>
        </p:nvSpPr>
        <p:spPr>
          <a:xfrm rot="0" flipH="0" flipV="0">
            <a:off x="809625" y="3943350"/>
            <a:ext cx="5457825" cy="200025"/>
          </a:xfrm>
          <a:prstGeom prst="rect"/>
        </p:spPr>
        <p:txBody>
          <a:bodyPr wrap="none" lIns="0" tIns="0" rIns="0" bIns="0"/>
          <a:p>
            <a:pPr>
              <a:lnSpc>
                <a:spcPct val="150000"/>
              </a:lnSpc>
            </a:pPr>
            <a:r>
              <a:rPr lang="en-US" sz="863">
                <a:solidFill>
                  <a:srgbClr val="3A4050"/>
                </a:solidFill>
                <a:latin typeface="Microsoft YaHei"/>
                <a:ea typeface="Microsoft YaHei"/>
              </a:rPr>
              <a:t>1</a:t>
            </a: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治理不是管数据，是管「谁能用、用来干什么、出了事谁担责」。</a:t>
            </a:r>
            <a:endParaRPr/>
          </a:p>
        </p:txBody>
      </p:sp>
      <p:sp>
        <p:nvSpPr>
          <p:cNvPr id="1219" name="" descr="{&quot;isTemplate&quot;:true,&quot;type&quot;:&quot;text&quot;}"/>
          <p:cNvSpPr txBox="1"/>
          <p:nvPr/>
        </p:nvSpPr>
        <p:spPr>
          <a:xfrm rot="0" flipH="0" flipV="0">
            <a:off x="809625" y="4191000"/>
            <a:ext cx="5457825" cy="200025"/>
          </a:xfrm>
          <a:prstGeom prst="rect"/>
        </p:spPr>
        <p:txBody>
          <a:bodyPr wrap="none" lIns="0" tIns="0" rIns="0" bIns="0"/>
          <a:p>
            <a:pPr>
              <a:lnSpc>
                <a:spcPct val="150000"/>
              </a:lnSpc>
            </a:pPr>
            <a:r>
              <a:rPr lang="en-US" sz="863">
                <a:solidFill>
                  <a:srgbClr val="3A4050"/>
                </a:solidFill>
                <a:latin typeface="Microsoft YaHei"/>
                <a:ea typeface="Microsoft YaHei"/>
              </a:rPr>
              <a:t>2</a:t>
            </a: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标记是治理的最小可执行单位；标记只定义一次，四个方向复用。</a:t>
            </a:r>
            <a:endParaRPr/>
          </a:p>
        </p:txBody>
      </p:sp>
      <p:sp>
        <p:nvSpPr>
          <p:cNvPr id="1220" name="" descr="{&quot;isTemplate&quot;:true,&quot;type&quot;:&quot;text&quot;}"/>
          <p:cNvSpPr txBox="1"/>
          <p:nvPr/>
        </p:nvSpPr>
        <p:spPr>
          <a:xfrm rot="0" flipH="0" flipV="0">
            <a:off x="809625" y="4438650"/>
            <a:ext cx="5457825" cy="200025"/>
          </a:xfrm>
          <a:prstGeom prst="rect"/>
        </p:spPr>
        <p:txBody>
          <a:bodyPr wrap="none" lIns="0" tIns="0" rIns="0" bIns="0"/>
          <a:p>
            <a:pPr>
              <a:lnSpc>
                <a:spcPct val="150000"/>
              </a:lnSpc>
            </a:pPr>
            <a:r>
              <a:rPr lang="en-US" sz="863">
                <a:solidFill>
                  <a:srgbClr val="3A4050"/>
                </a:solidFill>
                <a:latin typeface="Microsoft YaHei"/>
                <a:ea typeface="Microsoft YaHei"/>
              </a:rPr>
              <a:t>3</a:t>
            </a: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策略必须是数据，不是配置——它要能版本化、测试、回放、回滚。</a:t>
            </a:r>
            <a:endParaRPr/>
          </a:p>
        </p:txBody>
      </p:sp>
      <p:sp>
        <p:nvSpPr>
          <p:cNvPr id="1221" name="" descr="{&quot;isTemplate&quot;:true,&quot;type&quot;:&quot;text&quot;}"/>
          <p:cNvSpPr txBox="1"/>
          <p:nvPr/>
        </p:nvSpPr>
        <p:spPr>
          <a:xfrm rot="0" flipH="0" flipV="0">
            <a:off x="809625" y="4686300"/>
            <a:ext cx="5457825" cy="200025"/>
          </a:xfrm>
          <a:prstGeom prst="rect"/>
        </p:spPr>
        <p:txBody>
          <a:bodyPr wrap="none" lIns="0" tIns="0" rIns="0" bIns="0"/>
          <a:p>
            <a:pPr>
              <a:lnSpc>
                <a:spcPct val="150000"/>
              </a:lnSpc>
            </a:pPr>
            <a:r>
              <a:rPr lang="en-US" sz="863">
                <a:solidFill>
                  <a:srgbClr val="3A4050"/>
                </a:solidFill>
                <a:latin typeface="Microsoft YaHei"/>
                <a:ea typeface="Microsoft YaHei"/>
              </a:rPr>
              <a:t>4</a:t>
            </a: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治理的失败是静默的，所以审计日志是唯一的检出手段。</a:t>
            </a:r>
            <a:endParaRPr/>
          </a:p>
        </p:txBody>
      </p:sp>
      <p:sp>
        <p:nvSpPr>
          <p:cNvPr id="1222" name="" descr="{&quot;isTemplate&quot;:true,&quot;type&quot;:&quot;text&quot;}"/>
          <p:cNvSpPr txBox="1"/>
          <p:nvPr/>
        </p:nvSpPr>
        <p:spPr>
          <a:xfrm rot="0" flipH="0" flipV="0">
            <a:off x="809625" y="4933950"/>
            <a:ext cx="5457825" cy="200025"/>
          </a:xfrm>
          <a:prstGeom prst="rect"/>
        </p:spPr>
        <p:txBody>
          <a:bodyPr wrap="none" lIns="0" tIns="0" rIns="0" bIns="0"/>
          <a:p>
            <a:pPr>
              <a:lnSpc>
                <a:spcPct val="150000"/>
              </a:lnSpc>
            </a:pPr>
            <a:r>
              <a:rPr lang="en-US" sz="863">
                <a:solidFill>
                  <a:srgbClr val="3A4050"/>
                </a:solidFill>
                <a:latin typeface="Microsoft YaHei"/>
                <a:ea typeface="Microsoft YaHei"/>
              </a:rPr>
              <a:t>5</a:t>
            </a:r>
            <a:r>
              <a:rPr lang="en-US" sz="863">
                <a:solidFill>
                  <a:srgbClr val="3A4050"/>
                </a:solidFill>
                <a:latin typeface="Microsoft YaHei"/>
                <a:ea typeface="Microsoft YaHei"/>
              </a:rPr>
              <a:t xml:space="preserve">. </a:t>
            </a:r>
            <a:r>
              <a:rPr lang="en-US" sz="863">
                <a:solidFill>
                  <a:srgbClr val="3A4050"/>
                </a:solidFill>
                <a:latin typeface="Microsoft YaHei"/>
                <a:ea typeface="Microsoft YaHei"/>
              </a:rPr>
              <a:t xml:space="preserve">AI </a:t>
            </a:r>
            <a:r>
              <a:rPr lang="zh-CN" sz="863">
                <a:solidFill>
                  <a:srgbClr val="3A4050"/>
                </a:solidFill>
                <a:latin typeface="Microsoft YaHei"/>
                <a:ea typeface="Microsoft YaHei"/>
              </a:rPr>
              <a:t>时代治理对象多了一层：工具、记忆、遥测日志都受管。</a:t>
            </a:r>
            <a:endParaRPr/>
          </a:p>
        </p:txBody>
      </p:sp>
      <p:sp>
        <p:nvSpPr>
          <p:cNvPr id="1223" name="" descr="{&quot;isTemplate&quot;:true,&quot;type&quot;:&quot;text&quot;}"/>
          <p:cNvSpPr txBox="1"/>
          <p:nvPr/>
        </p:nvSpPr>
        <p:spPr>
          <a:xfrm rot="0" flipH="0" flipV="0">
            <a:off x="809625" y="5181600"/>
            <a:ext cx="5457825" cy="200025"/>
          </a:xfrm>
          <a:prstGeom prst="rect"/>
        </p:spPr>
        <p:txBody>
          <a:bodyPr wrap="none" lIns="0" tIns="0" rIns="0" bIns="0"/>
          <a:p>
            <a:pPr>
              <a:lnSpc>
                <a:spcPct val="150000"/>
              </a:lnSpc>
            </a:pPr>
            <a:r>
              <a:rPr lang="en-US" sz="863">
                <a:solidFill>
                  <a:srgbClr val="3A4050"/>
                </a:solidFill>
                <a:latin typeface="Microsoft YaHei"/>
                <a:ea typeface="Microsoft YaHei"/>
              </a:rPr>
              <a:t>6</a:t>
            </a:r>
            <a:r>
              <a:rPr lang="en-US" sz="863">
                <a:solidFill>
                  <a:srgbClr val="3A4050"/>
                </a:solidFill>
                <a:latin typeface="Microsoft YaHei"/>
                <a:ea typeface="Microsoft YaHei"/>
              </a:rPr>
              <a:t xml:space="preserve">. </a:t>
            </a:r>
            <a:r>
              <a:rPr lang="zh-CN" sz="863">
                <a:solidFill>
                  <a:srgbClr val="3A4050"/>
                </a:solidFill>
                <a:latin typeface="Microsoft YaHei"/>
                <a:ea typeface="Microsoft YaHei"/>
              </a:rPr>
              <a:t>治理必须可退：密级只能升不能降，是假治理。</a:t>
            </a:r>
            <a:endParaRPr/>
          </a:p>
        </p:txBody>
      </p:sp>
      <p:sp>
        <p:nvSpPr>
          <p:cNvPr id="1224" name=""/>
          <p:cNvSpPr/>
          <p:nvPr/>
        </p:nvSpPr>
        <p:spPr>
          <a:xfrm rot="0" flipH="0" flipV="0">
            <a:off x="6524625" y="3438525"/>
            <a:ext cx="5057775" cy="2200275"/>
          </a:xfrm>
          <a:prstGeom prst="roundRect">
            <a:avLst>
              <a:gd name="adj" fmla="val 1732"/>
            </a:avLst>
          </a:prstGeom>
          <a:solidFill>
            <a:srgbClr val="F7F7F8"/>
          </a:solidFill>
          <a:ln/>
        </p:spPr>
        <p:txBody>
          <a:bodyPr/>
          <a:p/>
        </p:txBody>
      </p:sp>
      <p:sp>
        <p:nvSpPr>
          <p:cNvPr id="1225" name="" descr="{&quot;isTemplate&quot;:true,&quot;type&quot;:&quot;text&quot;}"/>
          <p:cNvSpPr txBox="1"/>
          <p:nvPr/>
        </p:nvSpPr>
        <p:spPr>
          <a:xfrm rot="0" flipH="0" flipV="0">
            <a:off x="6686550" y="3562350"/>
            <a:ext cx="4733925" cy="161925"/>
          </a:xfrm>
          <a:prstGeom prst="rect"/>
        </p:spPr>
        <p:txBody>
          <a:bodyPr wrap="none" lIns="0" tIns="0" rIns="0" bIns="0"/>
          <a:p>
            <a:pPr>
              <a:lnSpc>
                <a:spcPct val="100000"/>
              </a:lnSpc>
            </a:pPr>
            <a:r>
              <a:rPr lang="zh-CN" sz="1050" b="1">
                <a:solidFill>
                  <a:srgbClr val="0F1423"/>
                </a:solidFill>
                <a:latin typeface="Microsoft YaHei"/>
                <a:ea typeface="Microsoft YaHei"/>
              </a:rPr>
              <a:t>三条起步动作（本周就能做）</a:t>
            </a:r>
            <a:endParaRPr/>
          </a:p>
        </p:txBody>
      </p:sp>
      <p:sp>
        <p:nvSpPr>
          <p:cNvPr id="1226" name=""/>
          <p:cNvSpPr/>
          <p:nvPr/>
        </p:nvSpPr>
        <p:spPr>
          <a:xfrm rot="0" flipH="0" flipV="0">
            <a:off x="6715125" y="3810000"/>
            <a:ext cx="4733925" cy="514350"/>
          </a:xfrm>
          <a:prstGeom prst="roundRect">
            <a:avLst>
              <a:gd name="adj" fmla="val 5556"/>
            </a:avLst>
          </a:prstGeom>
          <a:solidFill>
            <a:srgbClr val="FFFFFF"/>
          </a:solidFill>
          <a:ln/>
        </p:spPr>
        <p:txBody>
          <a:bodyPr/>
          <a:p/>
        </p:txBody>
      </p:sp>
      <p:sp>
        <p:nvSpPr>
          <p:cNvPr id="1227" name=""/>
          <p:cNvSpPr/>
          <p:nvPr/>
        </p:nvSpPr>
        <p:spPr>
          <a:xfrm rot="0" flipH="0" flipV="0">
            <a:off x="6715125" y="3810000"/>
            <a:ext cx="4733925" cy="514350"/>
          </a:xfrm>
          <a:custGeom>
            <a:pathLst>
              <a:path w="497" h="54">
                <a:moveTo>
                  <a:pt x="3" y="54"/>
                </a:moveTo>
                <a:cubicBezTo>
                  <a:pt x="1" y="54"/>
                  <a:pt x="0" y="53"/>
                  <a:pt x="0" y="51"/>
                </a:cubicBezTo>
                <a:lnTo>
                  <a:pt x="0" y="3"/>
                </a:lnTo>
                <a:cubicBezTo>
                  <a:pt x="0" y="1"/>
                  <a:pt x="1" y="0"/>
                  <a:pt x="3" y="0"/>
                </a:cubicBezTo>
                <a:lnTo>
                  <a:pt x="3" y="54"/>
                </a:lnTo>
                <a:close/>
              </a:path>
            </a:pathLst>
          </a:custGeom>
          <a:solidFill>
            <a:srgbClr val="FA4F24"/>
          </a:solidFill>
          <a:ln/>
        </p:spPr>
        <p:txBody>
          <a:bodyPr/>
          <a:p/>
        </p:txBody>
      </p:sp>
      <p:sp>
        <p:nvSpPr>
          <p:cNvPr id="1228" name="" descr="{&quot;isTemplate&quot;:true,&quot;type&quot;:&quot;text&quot;}"/>
          <p:cNvSpPr txBox="1"/>
          <p:nvPr/>
        </p:nvSpPr>
        <p:spPr>
          <a:xfrm rot="0" flipH="0" flipV="0">
            <a:off x="6810375" y="3886200"/>
            <a:ext cx="4514850" cy="142875"/>
          </a:xfrm>
          <a:prstGeom prst="rect"/>
        </p:spPr>
        <p:txBody>
          <a:bodyPr wrap="none" lIns="0" tIns="0" rIns="0" bIns="0"/>
          <a:p>
            <a:pPr>
              <a:lnSpc>
                <a:spcPct val="100000"/>
              </a:lnSpc>
            </a:pPr>
            <a:r>
              <a:rPr lang="zh-CN" sz="938" b="1">
                <a:solidFill>
                  <a:srgbClr val="0F1423"/>
                </a:solidFill>
                <a:latin typeface="Microsoft YaHei"/>
                <a:ea typeface="Microsoft YaHei"/>
              </a:rPr>
              <a:t>先分标记，再给权限</a:t>
            </a:r>
            <a:endParaRPr/>
          </a:p>
        </p:txBody>
      </p:sp>
      <p:sp>
        <p:nvSpPr>
          <p:cNvPr id="1229" name="" descr="{&quot;isTemplate&quot;:true,&quot;type&quot;:&quot;text&quot;}"/>
          <p:cNvSpPr txBox="1"/>
          <p:nvPr/>
        </p:nvSpPr>
        <p:spPr>
          <a:xfrm rot="0" flipH="0" flipV="0">
            <a:off x="6810375" y="4057650"/>
            <a:ext cx="4514850" cy="190500"/>
          </a:xfrm>
          <a:prstGeom prst="rect"/>
        </p:spPr>
        <p:txBody>
          <a:bodyPr wrap="none" lIns="0" tIns="0" rIns="0" bIns="0"/>
          <a:p>
            <a:pPr>
              <a:lnSpc>
                <a:spcPct val="145000"/>
              </a:lnSpc>
            </a:pPr>
            <a:r>
              <a:rPr lang="zh-CN" sz="825">
                <a:solidFill>
                  <a:srgbClr val="3A4050"/>
                </a:solidFill>
                <a:latin typeface="Microsoft YaHei"/>
                <a:ea typeface="Microsoft YaHei"/>
              </a:rPr>
              <a:t>没有标记体系的权限系统，等于按文件夹发钥匙。</a:t>
            </a:r>
            <a:endParaRPr/>
          </a:p>
        </p:txBody>
      </p:sp>
      <p:sp>
        <p:nvSpPr>
          <p:cNvPr id="1230" name=""/>
          <p:cNvSpPr/>
          <p:nvPr/>
        </p:nvSpPr>
        <p:spPr>
          <a:xfrm rot="0" flipH="0" flipV="0">
            <a:off x="6715125" y="4410075"/>
            <a:ext cx="4733925" cy="514350"/>
          </a:xfrm>
          <a:prstGeom prst="roundRect">
            <a:avLst>
              <a:gd name="adj" fmla="val 5556"/>
            </a:avLst>
          </a:prstGeom>
          <a:solidFill>
            <a:srgbClr val="FFFFFF"/>
          </a:solidFill>
          <a:ln/>
        </p:spPr>
        <p:txBody>
          <a:bodyPr/>
          <a:p/>
        </p:txBody>
      </p:sp>
      <p:sp>
        <p:nvSpPr>
          <p:cNvPr id="1231" name=""/>
          <p:cNvSpPr/>
          <p:nvPr/>
        </p:nvSpPr>
        <p:spPr>
          <a:xfrm rot="0" flipH="0" flipV="0">
            <a:off x="6715125" y="4410075"/>
            <a:ext cx="4733925" cy="514350"/>
          </a:xfrm>
          <a:custGeom>
            <a:pathLst>
              <a:path w="497" h="54">
                <a:moveTo>
                  <a:pt x="3" y="54"/>
                </a:moveTo>
                <a:cubicBezTo>
                  <a:pt x="1" y="54"/>
                  <a:pt x="0" y="53"/>
                  <a:pt x="0" y="51"/>
                </a:cubicBezTo>
                <a:lnTo>
                  <a:pt x="0" y="3"/>
                </a:lnTo>
                <a:cubicBezTo>
                  <a:pt x="0" y="1"/>
                  <a:pt x="1" y="0"/>
                  <a:pt x="3" y="0"/>
                </a:cubicBezTo>
                <a:lnTo>
                  <a:pt x="3" y="54"/>
                </a:lnTo>
                <a:close/>
              </a:path>
            </a:pathLst>
          </a:custGeom>
          <a:solidFill>
            <a:srgbClr val="FA4F24"/>
          </a:solidFill>
          <a:ln/>
        </p:spPr>
        <p:txBody>
          <a:bodyPr/>
          <a:p/>
        </p:txBody>
      </p:sp>
      <p:sp>
        <p:nvSpPr>
          <p:cNvPr id="1232" name="" descr="{&quot;isTemplate&quot;:true,&quot;type&quot;:&quot;text&quot;}"/>
          <p:cNvSpPr txBox="1"/>
          <p:nvPr/>
        </p:nvSpPr>
        <p:spPr>
          <a:xfrm rot="0" flipH="0" flipV="0">
            <a:off x="6810375" y="4486275"/>
            <a:ext cx="4514850" cy="142875"/>
          </a:xfrm>
          <a:prstGeom prst="rect"/>
        </p:spPr>
        <p:txBody>
          <a:bodyPr wrap="none" lIns="0" tIns="0" rIns="0" bIns="0"/>
          <a:p>
            <a:pPr>
              <a:lnSpc>
                <a:spcPct val="100000"/>
              </a:lnSpc>
            </a:pPr>
            <a:r>
              <a:rPr lang="zh-CN" sz="938" b="1">
                <a:solidFill>
                  <a:srgbClr val="0F1423"/>
                </a:solidFill>
                <a:latin typeface="Microsoft YaHei"/>
                <a:ea typeface="Microsoft YaHei"/>
              </a:rPr>
              <a:t>先只读标记，再开放降级</a:t>
            </a:r>
            <a:endParaRPr/>
          </a:p>
        </p:txBody>
      </p:sp>
      <p:sp>
        <p:nvSpPr>
          <p:cNvPr id="1233" name="" descr="{&quot;isTemplate&quot;:true,&quot;type&quot;:&quot;text&quot;}"/>
          <p:cNvSpPr txBox="1"/>
          <p:nvPr/>
        </p:nvSpPr>
        <p:spPr>
          <a:xfrm rot="0" flipH="0" flipV="0">
            <a:off x="6810375" y="4657725"/>
            <a:ext cx="4514850" cy="190500"/>
          </a:xfrm>
          <a:prstGeom prst="rect"/>
        </p:spPr>
        <p:txBody>
          <a:bodyPr wrap="none" lIns="0" tIns="0" rIns="0" bIns="0"/>
          <a:p>
            <a:pPr>
              <a:lnSpc>
                <a:spcPct val="145000"/>
              </a:lnSpc>
            </a:pPr>
            <a:r>
              <a:rPr lang="zh-CN" sz="825">
                <a:solidFill>
                  <a:srgbClr val="3A4050"/>
                </a:solidFill>
                <a:latin typeface="Microsoft YaHei"/>
                <a:ea typeface="Microsoft YaHei"/>
              </a:rPr>
              <a:t>降级能力必须最后开，且必须带二审人。</a:t>
            </a:r>
            <a:endParaRPr/>
          </a:p>
        </p:txBody>
      </p:sp>
      <p:sp>
        <p:nvSpPr>
          <p:cNvPr id="1234" name=""/>
          <p:cNvSpPr/>
          <p:nvPr/>
        </p:nvSpPr>
        <p:spPr>
          <a:xfrm rot="0" flipH="0" flipV="0">
            <a:off x="6715125" y="5010150"/>
            <a:ext cx="4733925" cy="514350"/>
          </a:xfrm>
          <a:prstGeom prst="roundRect">
            <a:avLst>
              <a:gd name="adj" fmla="val 5556"/>
            </a:avLst>
          </a:prstGeom>
          <a:solidFill>
            <a:srgbClr val="FFFFFF"/>
          </a:solidFill>
          <a:ln/>
        </p:spPr>
        <p:txBody>
          <a:bodyPr/>
          <a:p/>
        </p:txBody>
      </p:sp>
      <p:sp>
        <p:nvSpPr>
          <p:cNvPr id="1235" name=""/>
          <p:cNvSpPr/>
          <p:nvPr/>
        </p:nvSpPr>
        <p:spPr>
          <a:xfrm rot="0" flipH="0" flipV="0">
            <a:off x="6715125" y="5010150"/>
            <a:ext cx="4733925" cy="514350"/>
          </a:xfrm>
          <a:custGeom>
            <a:pathLst>
              <a:path w="497" h="54">
                <a:moveTo>
                  <a:pt x="3" y="54"/>
                </a:moveTo>
                <a:cubicBezTo>
                  <a:pt x="1" y="54"/>
                  <a:pt x="0" y="53"/>
                  <a:pt x="0" y="51"/>
                </a:cubicBezTo>
                <a:lnTo>
                  <a:pt x="0" y="3"/>
                </a:lnTo>
                <a:cubicBezTo>
                  <a:pt x="0" y="1"/>
                  <a:pt x="1" y="0"/>
                  <a:pt x="3" y="0"/>
                </a:cubicBezTo>
                <a:lnTo>
                  <a:pt x="3" y="54"/>
                </a:lnTo>
                <a:close/>
              </a:path>
            </a:pathLst>
          </a:custGeom>
          <a:solidFill>
            <a:srgbClr val="FA4F24"/>
          </a:solidFill>
          <a:ln/>
        </p:spPr>
        <p:txBody>
          <a:bodyPr/>
          <a:p/>
        </p:txBody>
      </p:sp>
      <p:sp>
        <p:nvSpPr>
          <p:cNvPr id="1236" name="" descr="{&quot;isTemplate&quot;:true,&quot;type&quot;:&quot;text&quot;}"/>
          <p:cNvSpPr txBox="1"/>
          <p:nvPr/>
        </p:nvSpPr>
        <p:spPr>
          <a:xfrm rot="0" flipH="0" flipV="0">
            <a:off x="6810375" y="5086350"/>
            <a:ext cx="4514850" cy="142875"/>
          </a:xfrm>
          <a:prstGeom prst="rect"/>
        </p:spPr>
        <p:txBody>
          <a:bodyPr wrap="none" lIns="0" tIns="0" rIns="0" bIns="0"/>
          <a:p>
            <a:pPr>
              <a:lnSpc>
                <a:spcPct val="100000"/>
              </a:lnSpc>
            </a:pPr>
            <a:r>
              <a:rPr lang="zh-CN" sz="938" b="1">
                <a:solidFill>
                  <a:srgbClr val="0F1423"/>
                </a:solidFill>
                <a:latin typeface="Microsoft YaHei"/>
                <a:ea typeface="Microsoft YaHei"/>
              </a:rPr>
              <a:t>先有审计日志，再扩治理范围</a:t>
            </a:r>
            <a:endParaRPr/>
          </a:p>
        </p:txBody>
      </p:sp>
      <p:sp>
        <p:nvSpPr>
          <p:cNvPr id="1237" name="" descr="{&quot;isTemplate&quot;:true,&quot;type&quot;:&quot;text&quot;}"/>
          <p:cNvSpPr txBox="1"/>
          <p:nvPr/>
        </p:nvSpPr>
        <p:spPr>
          <a:xfrm rot="0" flipH="0" flipV="0">
            <a:off x="6810375" y="5257800"/>
            <a:ext cx="4514850" cy="190500"/>
          </a:xfrm>
          <a:prstGeom prst="rect"/>
        </p:spPr>
        <p:txBody>
          <a:bodyPr wrap="none" lIns="0" tIns="0" rIns="0" bIns="0"/>
          <a:p>
            <a:pPr>
              <a:lnSpc>
                <a:spcPct val="145000"/>
              </a:lnSpc>
            </a:pPr>
            <a:r>
              <a:rPr lang="zh-CN" sz="825">
                <a:solidFill>
                  <a:srgbClr val="3A4050"/>
                </a:solidFill>
                <a:latin typeface="Microsoft YaHei"/>
                <a:ea typeface="Microsoft YaHei"/>
              </a:rPr>
              <a:t>没有日志就先别扩——扩了就查不出来了。</a:t>
            </a:r>
            <a:endParaRPr/>
          </a:p>
        </p:txBody>
      </p:sp>
      <p:sp>
        <p:nvSpPr>
          <p:cNvPr id="1238" name=""/>
          <p:cNvSpPr/>
          <p:nvPr/>
        </p:nvSpPr>
        <p:spPr>
          <a:xfrm rot="0" flipH="0" flipV="0">
            <a:off x="609600" y="5715000"/>
            <a:ext cx="10972800" cy="552450"/>
          </a:xfrm>
          <a:custGeom>
            <a:pathLst>
              <a:path w="1152" h="58">
                <a:moveTo>
                  <a:pt x="0" y="0"/>
                </a:moveTo>
                <a:lnTo>
                  <a:pt x="1152" y="0"/>
                </a:lnTo>
                <a:lnTo>
                  <a:pt x="1152" y="1"/>
                </a:lnTo>
                <a:lnTo>
                  <a:pt x="0" y="1"/>
                </a:lnTo>
                <a:close/>
              </a:path>
            </a:pathLst>
          </a:custGeom>
          <a:solidFill>
            <a:srgbClr val="E8E8E8"/>
          </a:solidFill>
          <a:ln/>
        </p:spPr>
        <p:txBody>
          <a:bodyPr/>
          <a:p/>
        </p:txBody>
      </p:sp>
      <p:sp>
        <p:nvSpPr>
          <p:cNvPr id="1239" name=""/>
          <p:cNvSpPr/>
          <p:nvPr/>
        </p:nvSpPr>
        <p:spPr>
          <a:xfrm rot="0" flipH="0" flipV="0">
            <a:off x="609600" y="5953125"/>
            <a:ext cx="95250" cy="95250"/>
          </a:xfrm>
          <a:prstGeom prst="rect">
            <a:avLst/>
          </a:prstGeom>
          <a:solidFill>
            <a:srgbClr val="FA4F24"/>
          </a:solidFill>
          <a:ln/>
        </p:spPr>
        <p:txBody>
          <a:bodyPr/>
          <a:p/>
        </p:txBody>
      </p:sp>
      <p:sp>
        <p:nvSpPr>
          <p:cNvPr id="1240" name="" descr="{&quot;isTemplate&quot;:true,&quot;type&quot;:&quot;text&quot;}"/>
          <p:cNvSpPr txBox="1"/>
          <p:nvPr/>
        </p:nvSpPr>
        <p:spPr>
          <a:xfrm rot="0" flipH="0" flipV="0">
            <a:off x="819150" y="5924550"/>
            <a:ext cx="2314575" cy="152400"/>
          </a:xfrm>
          <a:prstGeom prst="rect"/>
        </p:spPr>
        <p:txBody>
          <a:bodyPr wrap="none" lIns="0" tIns="0" rIns="0" bIns="0"/>
          <a:p>
            <a:pPr>
              <a:lnSpc>
                <a:spcPct val="100000"/>
              </a:lnSpc>
            </a:pPr>
            <a:r>
              <a:rPr lang="zh-CN" sz="975">
                <a:solidFill>
                  <a:srgbClr val="8A8F99"/>
                </a:solidFill>
                <a:latin typeface="Microsoft YaHei"/>
                <a:ea typeface="Microsoft YaHei"/>
              </a:rPr>
              <a:t>硕磐机密</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数据治理咨询方法论</a:t>
            </a:r>
            <a:r>
              <a:rPr lang="en-US" sz="975">
                <a:solidFill>
                  <a:srgbClr val="8A8F99"/>
                </a:solidFill>
                <a:latin typeface="Microsoft YaHei"/>
                <a:ea typeface="Microsoft YaHei"/>
              </a:rPr>
              <a:t xml:space="preserve"> · </a:t>
            </a:r>
            <a:r>
              <a:rPr lang="zh-CN" sz="975">
                <a:solidFill>
                  <a:srgbClr val="8A8F99"/>
                </a:solidFill>
                <a:latin typeface="Microsoft YaHei"/>
                <a:ea typeface="Microsoft YaHei"/>
              </a:rPr>
              <a:t>第九册完</a:t>
            </a:r>
            <a:endParaRPr/>
          </a:p>
        </p:txBody>
      </p:sp>
      <p:sp>
        <p:nvSpPr>
          <p:cNvPr id="1241" name="" descr="{&quot;isTemplate&quot;:true,&quot;type&quot;:&quot;text&quot;}"/>
          <p:cNvSpPr txBox="1"/>
          <p:nvPr/>
        </p:nvSpPr>
        <p:spPr>
          <a:xfrm rot="0" flipH="0" flipV="0">
            <a:off x="11163300" y="5924550"/>
            <a:ext cx="419100" cy="152400"/>
          </a:xfrm>
          <a:prstGeom prst="rect"/>
        </p:spPr>
        <p:txBody>
          <a:bodyPr wrap="none" lIns="0" tIns="0" rIns="0" bIns="0"/>
          <a:p>
            <a:pPr>
              <a:lnSpc>
                <a:spcPct val="100000"/>
              </a:lnSpc>
            </a:pPr>
            <a:r>
              <a:rPr lang="en-US" sz="975">
                <a:solidFill>
                  <a:srgbClr val="8A8F99"/>
                </a:solidFill>
                <a:latin typeface="Microsoft YaHei"/>
                <a:ea typeface="Microsoft YaHei"/>
              </a:rPr>
              <a:t>30 / 30</a:t>
            </a:r>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2026-10-12T08:20:17Z</dcterms:created>
  <dcterms:modified xsi:type="dcterms:W3CDTF">2026-10-12T08:20:17Z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{"AIGC":{"Label":"1","ContentProducer":"00119111010856365494821B355","ProduceID":"01a12d694e717506a637b7c1e33a3f6b","ReservedCode1":"","ContentPropagator":"00119111010856365494821B355","PropagateID":"01a12d694e717506a637b7c1e33a3f6b","ReservedCode2":""}}</vt:lpwstr>
  </property>
</Properties>
</file>