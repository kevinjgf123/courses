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各位好。这一册是四层架构里的最后一层，技术架构。</a:t>
            </a:r>
          </a:p>
          <a:p>
            <a:endParaRPr lang="zh-CN"/>
          </a:p>
          <a:p>
            <a:r>
              <a:rPr lang="zh-CN"/>
              <a:t>前面三册分别回答了做什么业务、数据怎么管、用什么系统承载。这一册回答的是最后一问：这一切跑在什么之上。</a:t>
            </a:r>
          </a:p>
          <a:p>
            <a:endParaRPr lang="zh-CN"/>
          </a:p>
          <a:p>
            <a:r>
              <a:rPr lang="zh-CN"/>
              <a:t>我先说一个很多人对技术架构的误解。多数人一听技术架构，脑子里想的是服务器、机房、网络设备。这其实是资源管理，是技术架构里最不重要的那一层。</a:t>
            </a:r>
          </a:p>
          <a:p>
            <a:endParaRPr lang="zh-CN"/>
          </a:p>
          <a:p>
            <a:r>
              <a:rPr lang="zh-CN"/>
              <a:t>真正重要的技术架构回答一个问题：怎么让技术换代的时候，不推翻业务。</a:t>
            </a:r>
          </a:p>
          <a:p>
            <a:endParaRPr lang="zh-CN"/>
          </a:p>
          <a:p>
            <a:r>
              <a:rPr lang="zh-CN"/>
              <a:t>这句话是这一册的全部主线。数据库三年一换，消息队列两年一换，云厂商一年一换，业务系统如果直接绑在这些组件上，每一次换代就是一次业务侧的返工。技术架构要做的，就是把易变的部分藏在稳定的接口后面。</a:t>
            </a:r>
          </a:p>
          <a:p>
            <a:endParaRPr lang="zh-CN"/>
          </a:p>
          <a:p>
            <a:r>
              <a:rPr lang="zh-CN"/>
              <a:t>接下来三十页，我们把这件事讲透。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这一册七个部分，顺序不是随便排的，它是一条从认识现状到推动落地的完整链条。</a:t>
            </a:r>
          </a:p>
          <a:p>
            <a:endParaRPr lang="zh-CN"/>
          </a:p>
          <a:p>
            <a:r>
              <a:rPr lang="zh-CN"/>
              <a:t>前面三页是总论、目录和定位。</a:t>
            </a:r>
          </a:p>
          <a:p>
            <a:endParaRPr lang="zh-CN"/>
          </a:p>
          <a:p>
            <a:r>
              <a:rPr lang="zh-CN"/>
              <a:t>中间四个部分是实操。技术组件与技术栈解决「现在到底用了什么」；部署架构与环境解决「跑在哪里、怎么隔离」；非功能需求与容量解决「能不能扛住、值不值」；技术标准与演进解决「以后怎么建、怎么换」。</a:t>
            </a:r>
          </a:p>
          <a:p>
            <a:endParaRPr lang="zh-CN"/>
          </a:p>
          <a:p>
            <a:r>
              <a:rPr lang="zh-CN"/>
              <a:t>最后两个部分是保障。技术治理与风险解决「谁把关、什么时候必须换」，还有确定性的收口和避坑。</a:t>
            </a:r>
          </a:p>
          <a:p>
            <a:endParaRPr lang="zh-CN"/>
          </a:p>
          <a:p>
            <a:r>
              <a:rPr lang="zh-CN"/>
              <a:t>如果你时间有限，我建议至少听完第一部分和第五部分。第一部分讲清分层，第五部分讲清标准，这两段是技术架构真正的骨架。其余部分都是这两段的落地细则。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在进方法之前，先把三个认知钉死。</a:t>
            </a:r>
          </a:p>
          <a:p>
            <a:endParaRPr lang="zh-CN"/>
          </a:p>
          <a:p>
            <a:r>
              <a:rPr lang="zh-CN"/>
              <a:t>第一，四层架构是传导关系，不是并列关系。业务架构定义要做什么能力，数据架构定义数据怎么管，应用架构定义用什么系统承载，技术架构承接前面所有诉求，回答跑在什么之上。反过来说，如果技术架构说不清楚要扛多少并发、能不能撑住三年，前面三层做得再漂亮也落不了地。</a:t>
            </a:r>
          </a:p>
          <a:p>
            <a:endParaRPr lang="zh-CN"/>
          </a:p>
          <a:p>
            <a:r>
              <a:rPr lang="zh-CN"/>
              <a:t>第二，技术架构的价值是「架构确定性」。什么叫确定性？我给的判断标准有三条：换一个组件，业务代码改动量可控；有标准可依，新人不用重新学一遍；出问题能定位到层，而不是全栈排查。这三条都能做到，技术换代就是换个零件，不是重做一遍。</a:t>
            </a:r>
          </a:p>
          <a:p>
            <a:endParaRPr lang="zh-CN"/>
          </a:p>
          <a:p>
            <a:r>
              <a:rPr lang="zh-CN"/>
              <a:t>第三，最常见的误解是把技术架构等同于服务器选型和机房建设。那只是资源管理。TA 更核心的一句话是：别的架构决定做什么，TA 决定这件事要做多少次才划算。不算这笔账，成本上就站不住。</a:t>
            </a:r>
          </a:p>
          <a:p>
            <a:endParaRPr lang="zh-CN"/>
          </a:p>
          <a:p>
            <a:r>
              <a:rPr lang="zh-CN"/>
              <a:t>另外要提醒一句：今天讲的这套方法，底层逻辑是华为那套打法——不在单点技术上押注，而是把力气花在数据和技术标准的统一上。技术是拿来用的，不是拿来炫的。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第一部分，技术架构总论，只有四页，但它决定了后面所有动作有没有落点。</a:t>
            </a:r>
          </a:p>
          <a:p>
            <a:endParaRPr lang="zh-CN"/>
          </a:p>
          <a:p>
            <a:r>
              <a:rPr lang="zh-CN"/>
              <a:t>很多组织做技术架构，做出来的东西是一堆设备参数表，没有分层、没有标准、没有演进理由。这样的报告，写得再详细也没法指导任何一个具体的项目。</a:t>
            </a:r>
          </a:p>
          <a:p>
            <a:endParaRPr lang="zh-CN"/>
          </a:p>
          <a:p>
            <a:r>
              <a:rPr lang="zh-CN"/>
              <a:t>我先说这一部分要解决什么：技术架构的层次结构是什么，一份技术架构要画几个视图，以及我怎么判断一个技术选择值不值得押注。</a:t>
            </a:r>
          </a:p>
          <a:p>
            <a:endParaRPr lang="zh-CN"/>
          </a:p>
          <a:p>
            <a:r>
              <a:rPr lang="zh-CN"/>
              <a:t>这三个问题答不清，后面的组件盘点、部署设计、容量测算都会散掉。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这一页是技术架构的五层骨架，从下往上：基础设施层、资源平台层、中间件层、技术服务层、应用运行环境层。</a:t>
            </a:r>
          </a:p>
          <a:p>
            <a:endParaRPr lang="zh-CN"/>
          </a:p>
          <a:p>
            <a:r>
              <a:rPr lang="zh-CN"/>
              <a:t>划层的意义只有一句话：层与层之间只能通过约定好的接口交互。一旦某层内部的组件换了，上面各层不受影响。这就是确定性的物理基础。</a:t>
            </a:r>
          </a:p>
          <a:p>
            <a:endParaRPr lang="zh-CN"/>
          </a:p>
          <a:p>
            <a:r>
              <a:rPr lang="zh-CN"/>
              <a:t>我给了一个划层三问，很实用。第一问，这层会不会自己变？变得快的放上面，变得慢的放下面。第二问，上层需不需要知道它的实现？需要，说明接口漏了，层没划好。第三问，出问题能定位到层吗？不能，说明层边界是虚的，只是画了个框。</a:t>
            </a:r>
          </a:p>
          <a:p>
            <a:endParaRPr lang="zh-CN"/>
          </a:p>
          <a:p>
            <a:r>
              <a:rPr lang="zh-CN"/>
              <a:t>右边两个反例值得记一下。把中间件拆进应用层，最后每个应用自带一套数据库组件，没人说得清用的哪个版本；把平台层做成一张网，没有服务化接口，扩容只能整块加机器。这两种情况在传统IT架构里非常普遍，因为它们都是"能跑就行"的产物。</a:t>
            </a:r>
          </a:p>
          <a:p>
            <a:endParaRPr lang="zh-CN"/>
          </a:p>
          <a:p>
            <a:r>
              <a:rPr lang="zh-CN"/>
              <a:t>这里插一句：分层的另一个好处是责任好划分。故障出在哪一层，谁来修，是清楚的。没有分层，出了问题就是运维的责任，而运维其实修不了应用的错。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这一页讲一份技术架构要画四个视图：组件视图、部署视图、数据视图、运维视图。</a:t>
            </a:r>
          </a:p>
          <a:p>
            <a:endParaRPr lang="zh-CN"/>
          </a:p>
          <a:p>
            <a:r>
              <a:rPr lang="zh-CN"/>
              <a:t>四个视图各回答一个不能互相替代的问题。组件视图回答用什么，产出技术组件清单和依赖矩阵。部署视图回答放哪里，产出环境拓扑和资源基线。数据视图回答技术层的数据怎么存怎么流，要和 DA 的资产目录对齐。运维视图回答怎么管，产出可观测性方案。</a:t>
            </a:r>
          </a:p>
          <a:p>
            <a:endParaRPr lang="zh-CN"/>
          </a:p>
          <a:p>
            <a:r>
              <a:rPr lang="zh-CN"/>
              <a:t>这四个视图不是四份文档，它们共用同一份组件清单。任何一层视图里出现的组件，都必须在清单里有登记；清单里有的组件，也必须在至少一张视图里出现。</a:t>
            </a:r>
          </a:p>
          <a:p>
            <a:endParaRPr lang="zh-CN"/>
          </a:p>
          <a:p>
            <a:r>
              <a:rPr lang="zh-CN"/>
              <a:t>对不上，说明架构和现实已经脱节了。这一条看起来是废话，但它是最有效的自查方法——很多客户第一次做这个对账，就能发现一半的系统从来没进过任何架构图。</a:t>
            </a:r>
          </a:p>
          <a:p>
            <a:endParaRPr lang="zh-CN"/>
          </a:p>
          <a:p>
            <a:r>
              <a:rPr lang="zh-CN"/>
              <a:t>讲一下数据视图为什么重要。非功能需求里的存储、备份、冷热分层，最终都在这一层落地。DA 那边定了数据怎么管，但分层策略、备份周期、恢复演练这些事，只有在部署视图里才写得清楚。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这一页是我认为技术架构里最有价值的一个模型：技术生命周期四象限，横轴成熟度、纵轴替代难度。</a:t>
            </a:r>
          </a:p>
          <a:p>
            <a:endParaRPr lang="zh-CN"/>
          </a:p>
          <a:p>
            <a:r>
              <a:rPr lang="zh-CN"/>
              <a:t>替代难度由外部生态决定，不由团队意愿决定。判断它有四个信号：厂商社区是否还在维护、有没有第二家可替换来源、迁移要不要改业务代码、这个组件掌握在几家公司手里。</a:t>
            </a:r>
          </a:p>
          <a:p>
            <a:endParaRPr lang="zh-CN"/>
          </a:p>
          <a:p>
            <a:r>
              <a:rPr lang="zh-CN"/>
              <a:t>成熟度也有四个信号：文档是否完整、故障案例是否有公开积累、团队里有几个人真正用过、出问题时能否自查定位。</a:t>
            </a:r>
          </a:p>
          <a:p>
            <a:endParaRPr lang="zh-CN"/>
          </a:p>
          <a:p>
            <a:r>
              <a:rPr lang="zh-CN"/>
              <a:t>四个象限对应四种管法。守成是成熟且难替代，加固运维别折腾。押注是成熟且易替代，走标准化即可，别自研。试点是新且难替代，小范围试点验证后铺开。观察是新且易替代，不自研，等生态成熟。</a:t>
            </a:r>
          </a:p>
          <a:p>
            <a:endParaRPr lang="zh-CN"/>
          </a:p>
          <a:p>
            <a:r>
              <a:rPr lang="zh-CN"/>
              <a:t>这里要防一个错：用「团队觉得这个技术很先进」当成熟度依据。新技术往往不成熟，但团队意愿极高，结果就是把最不成熟的组件放在最核心的交易链路上。</a:t>
            </a:r>
          </a:p>
          <a:p>
            <a:endParaRPr lang="zh-CN"/>
          </a:p>
          <a:p>
            <a:r>
              <a:rPr lang="zh-CN"/>
              <a:t>判断顺序我建议先定替代难度，因为这个维度是外部的、客观的。难度高的只能在守成和试点之间选。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第二部分，技术组件与技术栈。这一部分解决「到底用了什么」。</a:t>
            </a:r>
          </a:p>
          <a:p>
            <a:endParaRPr lang="zh-CN"/>
          </a:p>
          <a:p>
            <a:r>
              <a:rPr lang="zh-CN"/>
              <a:t>很多人做技术架构，第一步是让各团队报自己用了什么技术。这个做法的问题在于：报出来的是知识，不是资产。团队会报「我们用 Redis」，但不会主动说我们有三个版本的 Redis 同时在跑。</a:t>
            </a:r>
          </a:p>
          <a:p>
            <a:endParaRPr lang="zh-CN"/>
          </a:p>
          <a:p>
            <a:r>
              <a:rPr lang="zh-CN"/>
              <a:t>所以正确的做法是从制品库和依赖清单反扫。反扫出来的数据难看，但那是真数。拿到真数才有得治——这是我这一页最想传达的一点。</a:t>
            </a:r>
          </a:p>
          <a:p>
            <a:endParaRPr lang="zh-CN"/>
          </a:p>
          <a:p>
            <a:r>
              <a:rPr lang="zh-CN"/>
              <a:t>这一部分三页：五问法怎么盘、盘出来怎么分类、组件卡片怎么写。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这一页是技术组件盘点五问法，逐条讲。</a:t>
            </a:r>
          </a:p>
          <a:p>
            <a:endParaRPr lang="zh-CN"/>
          </a:p>
          <a:p>
            <a:r>
              <a:rPr lang="zh-CN"/>
              <a:t>第一问，谁在用？能说出具体应用名和调用场景的才算组件。只在技术文档里出现过一次的，是知识不是资产。</a:t>
            </a:r>
          </a:p>
          <a:p>
            <a:endParaRPr lang="zh-CN"/>
          </a:p>
          <a:p>
            <a:r>
              <a:rPr lang="zh-CN"/>
              <a:t>第二问，哪个版本？同一个组件三个版本，等于三份技术债。版本必须精确到小版本，不能写「最新版」。</a:t>
            </a:r>
          </a:p>
          <a:p>
            <a:endParaRPr lang="zh-CN"/>
          </a:p>
          <a:p>
            <a:r>
              <a:rPr lang="zh-CN"/>
              <a:t>第三问，谁提供、谁维护？自研组件必须有团队和 Owner；开源组件必须写清社区和许可证类型。这一条经常被跳过，出了事才发现没人说得清。</a:t>
            </a:r>
          </a:p>
          <a:p>
            <a:endParaRPr lang="zh-CN"/>
          </a:p>
          <a:p>
            <a:r>
              <a:rPr lang="zh-CN"/>
              <a:t>第四问，换掉有多难？不做这个评估，就会在换代那天才发现代价。</a:t>
            </a:r>
          </a:p>
          <a:p>
            <a:endParaRPr lang="zh-CN"/>
          </a:p>
          <a:p>
            <a:r>
              <a:rPr lang="zh-CN"/>
              <a:t>第五问，出故障谁扛？关键组件要有兜底方案，没有兜底的组件不进核心链路。</a:t>
            </a:r>
          </a:p>
          <a:p>
            <a:endParaRPr lang="zh-CN"/>
          </a:p>
          <a:p>
            <a:r>
              <a:rPr lang="zh-CN"/>
              <a:t>这五问里，第五问最少被问，但它最能改变决策质量。因为它把「这个组件好不好」的技术问题，变成了「这个组件出事我们能不能承受」的业务问题。</a:t>
            </a:r>
          </a:p>
          <a:p>
            <a:endParaRPr lang="zh-CN"/>
          </a:p>
          <a:p>
            <a:r>
              <a:rPr lang="zh-CN"/>
              <a:t>数据来源上再强调一句：从制品库反扫，不要让团队填报。填报的数据会自我美化，这是必然的，不是道德问题。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这一页是技术组件全景清单的分类方式，按层归类成六类：基础设施、资源平台、中间件、技术服务、应用运行环境，还有最后一行自研公共件。</a:t>
            </a:r>
          </a:p>
          <a:p>
            <a:endParaRPr lang="zh-CN"/>
          </a:p>
          <a:p>
            <a:r>
              <a:rPr lang="zh-CN"/>
              <a:t>按层归类只是形式，真正有用的是右边那张锁定风险分级表。</a:t>
            </a:r>
          </a:p>
          <a:p>
            <a:endParaRPr lang="zh-CN"/>
          </a:p>
          <a:p>
            <a:r>
              <a:rPr lang="zh-CN"/>
              <a:t>高风险判据是：单一厂商、无替代、且被深度改造过。处置方式是列入替换计划。中风险是单一厂商但有标准接口，处置是保持合同可控。低风险是标准件接口通用，正常运维就行。</a:t>
            </a:r>
          </a:p>
          <a:p>
            <a:endParaRPr lang="zh-CN"/>
          </a:p>
          <a:p>
            <a:r>
              <a:rPr lang="zh-CN"/>
              <a:t>我在示例里加了一条红线：高风险组件不得新增强依赖，已有依赖必须同时保留一条替代验证路径，否则不允许进核心交易链路。</a:t>
            </a:r>
          </a:p>
          <a:p>
            <a:endParaRPr lang="zh-CN"/>
          </a:p>
          <a:p>
            <a:r>
              <a:rPr lang="zh-CN"/>
              <a:t>这一条听起来强硬，但它是在保护核心链路。等你已经深度绑定一个组件的时候，成本已经发生了，那时候再谈风险已经晚了。</a:t>
            </a:r>
          </a:p>
          <a:p>
            <a:endParaRPr lang="zh-CN"/>
          </a:p>
          <a:p>
            <a:r>
              <a:rPr lang="zh-CN"/>
              <a:t>左边最后一行「自研公共件」，我见过的组织里这一项数量往往最多、重复也最多。示例里是二十三项，其中可能有一半功能是重复的。合并这些的收益，往往比新建一个大系统还多。</a:t>
            </a:r>
          </a:p>
          <a:p>
            <a:endParaRPr lang="zh-CN"/>
          </a:p>
          <a:p>
            <a:r>
              <a:rPr lang="zh-CN"/>
              <a:t>关于锁定风险的判断，我提醒一句：别只写「历史遗留」。写不出具体原因，就没法评估这个组件是真锁定还是假锁定——而假锁定的组件，是最费钱的那一类。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这一页是技术组件卡片。字段看着多，但真正必填的只有四列，我用红色标出来了。</a:t>
            </a:r>
          </a:p>
          <a:p>
            <a:endParaRPr lang="zh-CN"/>
          </a:p>
          <a:p>
            <a:r>
              <a:rPr lang="zh-CN"/>
              <a:t>第一列锁定原因：为什么换不掉。这是高风险组件存在的唯一理由。</a:t>
            </a:r>
          </a:p>
          <a:p>
            <a:endParaRPr lang="zh-CN"/>
          </a:p>
          <a:p>
            <a:r>
              <a:rPr lang="zh-CN"/>
              <a:t>第二列替代方案：换不掉也要说得出换成什么。答不出这一栏，说明这个组件从来没被真正评估过。</a:t>
            </a:r>
          </a:p>
          <a:p>
            <a:endParaRPr lang="zh-CN"/>
          </a:p>
          <a:p>
            <a:r>
              <a:rPr lang="zh-CN"/>
              <a:t>第三列退出时间：合同到期的日子。技术决策必须被商业合同倒逼，否则永远是「以后再说」。</a:t>
            </a:r>
          </a:p>
          <a:p>
            <a:endParaRPr lang="zh-CN"/>
          </a:p>
          <a:p>
            <a:r>
              <a:rPr lang="zh-CN"/>
              <a:t>第四列使用方：具体到应用名。没有使用方的组件，就不用维护这张卡。</a:t>
            </a:r>
          </a:p>
          <a:p>
            <a:endParaRPr lang="zh-CN"/>
          </a:p>
          <a:p>
            <a:r>
              <a:rPr lang="zh-CN"/>
              <a:t>举一个真实感的例子：某个关系型数据库，八个实例，生产环境有四个大版本并存；被深度绑定的原因是用了它的存储过程语法，换库要改业务代码；替代方案是开源库，但要六个月改造加双写验证；合同 2027 年六月到期，要提前六个月启动评估。</a:t>
            </a:r>
          </a:p>
          <a:p>
            <a:endParaRPr lang="zh-CN"/>
          </a:p>
          <a:p>
            <a:r>
              <a:rPr lang="zh-CN"/>
              <a:t>这张卡最有价值的地方在于，它把「什么时候必须动手」这件事从抽象风险变成了一个具体的日期。</a:t>
            </a:r>
          </a:p>
          <a:p>
            <a:endParaRPr lang="zh-CN"/>
          </a:p>
          <a:p>
            <a:r>
              <a:rPr lang="zh-CN"/>
              <a:t>怎么用这张卡？评审时看三张就够了：核心组件的锁定原因、自研公共件的重复情况、合同即将到期组件的退出时间。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第三部分，部署架构与环境。这一部分解决「跑在哪里」。</a:t>
            </a:r>
          </a:p>
          <a:p>
            <a:endParaRPr lang="zh-CN"/>
          </a:p>
          <a:p>
            <a:r>
              <a:rPr lang="zh-CN"/>
              <a:t>这一部分的核心观点是：部署视图不是画给客户看的漂亮图，它是故障切换时唯一能用的依据。</a:t>
            </a:r>
          </a:p>
          <a:p>
            <a:endParaRPr lang="zh-CN"/>
          </a:p>
          <a:p>
            <a:r>
              <a:rPr lang="zh-CN"/>
              <a:t>所以部署视图必须画到可用区粒度为止。画不到可用区，就回答不了「一个区挂了怎么办」这个问题。</a:t>
            </a:r>
          </a:p>
          <a:p>
            <a:endParaRPr lang="zh-CN"/>
          </a:p>
          <a:p>
            <a:r>
              <a:rPr lang="zh-CN"/>
              <a:t>这一部分三页：环境怎么分、部署视图有几个粒度、上线前检查什么。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这一页是环境四分区：开发、测试、预发、生产。旁边配了四条隔离红线：凭据隔离、数据隔离、网络隔离、账号隔离。</a:t>
            </a:r>
          </a:p>
          <a:p>
            <a:endParaRPr lang="zh-CN"/>
          </a:p>
          <a:p>
            <a:r>
              <a:rPr lang="zh-CN"/>
              <a:t>四条红线的共同点是——都必须是技术强制的，不是流程要求的。如果开发可以用生产库的只读账号，那凭据隔离就等于没有。</a:t>
            </a:r>
          </a:p>
          <a:p>
            <a:endParaRPr lang="zh-CN"/>
          </a:p>
          <a:p>
            <a:r>
              <a:rPr lang="zh-CN"/>
              <a:t>我重点说预发。预发最容易被砍掉，理由通常是「省资源」。但预发是最后一次在生产之外发现问题的机会。省下来的那点资源，远不够赔一次生产事故的停机损失。</a:t>
            </a:r>
          </a:p>
          <a:p>
            <a:endParaRPr lang="zh-CN"/>
          </a:p>
          <a:p>
            <a:r>
              <a:rPr lang="zh-CN"/>
              <a:t>预发的关键要求是「同构」：同版本、同中间件、同配置结构。不同构的预发几乎没有价值，因为问题往往在结构差异上暴露不出来。</a:t>
            </a:r>
          </a:p>
          <a:p>
            <a:endParaRPr lang="zh-CN"/>
          </a:p>
          <a:p>
            <a:r>
              <a:rPr lang="zh-CN"/>
              <a:t>另外提一个观察：很多生产事故的最后一步，都是开发连上了生产的库。这条数据本身就是隔离没做好的证据，不是哪个开发不小心。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这一页讲部署视图的三个粒度。</a:t>
            </a:r>
          </a:p>
          <a:p>
            <a:endParaRPr lang="zh-CN"/>
          </a:p>
          <a:p>
            <a:r>
              <a:rPr lang="zh-CN"/>
              <a:t>全局视图回答有几个机房、几个可用区、各自承载什么，给管理层看，决定投入。可用区视图回答同一业务的节点分布、跨区是否真的跨，给运维看，决定容灾。节点视图回答单节点上的进程、中间件实例、副本数，给开发看，决定容量。</a:t>
            </a:r>
          </a:p>
          <a:p>
            <a:endParaRPr lang="zh-CN"/>
          </a:p>
          <a:p>
            <a:r>
              <a:rPr lang="zh-CN"/>
              <a:t>右边是资源基线表，按业务定而不是按人定。最后一列「可承载」最值钱——前四列都是配置，最后一列是容量。有了这一列，才能算「这个业务现在用了多少、还有多少余量」，扩容决策就从拍脑袋变成算术题。</a:t>
            </a:r>
          </a:p>
          <a:p>
            <a:endParaRPr lang="zh-CN"/>
          </a:p>
          <a:p>
            <a:r>
              <a:rPr lang="zh-CN"/>
              <a:t>这一页我想重点讲左边那个橙色框：假双活。</a:t>
            </a:r>
          </a:p>
          <a:p>
            <a:endParaRPr lang="zh-CN"/>
          </a:p>
          <a:p>
            <a:r>
              <a:rPr lang="zh-CN"/>
              <a:t>架构图上标着双活，但两个可用区共用同一个数据库，或者共用同一套文件存储。这样的双活，在一个节点挂掉的时候会同时失效。</a:t>
            </a:r>
          </a:p>
          <a:p>
            <a:endParaRPr lang="zh-CN"/>
          </a:p>
          <a:p>
            <a:r>
              <a:rPr lang="zh-CN"/>
              <a:t>判断方法只有一个：关掉 A 区，看 B 区还能不能独立接住全部流量。我建议在验收环节真做一次这个演练，比看十遍架构图都管用。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这一页是部署就绪检查表，十二项，分四组：容量与性能、可用性、可观测性、可回滚。</a:t>
            </a:r>
          </a:p>
          <a:p>
            <a:endParaRPr lang="zh-CN"/>
          </a:p>
          <a:p>
            <a:r>
              <a:rPr lang="zh-CN"/>
              <a:t>这一页是上线前最后一道关。我要说明为什么这一道不做例外。</a:t>
            </a:r>
          </a:p>
          <a:p>
            <a:endParaRPr lang="zh-CN"/>
          </a:p>
          <a:p>
            <a:r>
              <a:rPr lang="zh-CN"/>
              <a:t>前面三道门——选型门、引入门，都是可以补的：选错了还能换组件，引入错了还能调整。但上线这道门是唯一一道事后无法补救的关口。压测可以补，切换可以演练，但一个没有回滚方案就上线的版本，一旦出问题只能靠现场救火。</a:t>
            </a:r>
          </a:p>
          <a:p>
            <a:endParaRPr lang="zh-CN"/>
          </a:p>
          <a:p>
            <a:r>
              <a:rPr lang="zh-CN"/>
              <a:t>所以我的建议是：十二项全过才允许进生产，任一项不过就地退回。</a:t>
            </a:r>
          </a:p>
          <a:p>
            <a:endParaRPr lang="zh-CN"/>
          </a:p>
          <a:p>
            <a:r>
              <a:rPr lang="zh-CN"/>
              <a:t>我要专门提一下可回滚这一组里的三项：有回滚方案且已演练、数据变更可逆或已备好补偿、回滚时间在可接受范围内。</a:t>
            </a:r>
          </a:p>
          <a:p>
            <a:endParaRPr lang="zh-CN"/>
          </a:p>
          <a:p>
            <a:r>
              <a:rPr lang="zh-CN"/>
              <a:t>第三项最容易被忽略。「有回滚方案」和「回滚只要五分钟」是两件完全不同的事。有些系统的回滚需要重建索引，实际执行要两小时，那这个方案在故障时是没有意义的。</a:t>
            </a:r>
          </a:p>
          <a:p>
            <a:endParaRPr lang="zh-CN"/>
          </a:p>
          <a:p>
            <a:r>
              <a:rPr lang="zh-CN"/>
              <a:t>可观测性那一组里，「四信号齐备」是个硬要求：日志、指标、链路追踪、事件。缺一个，故障时的定位就会瞎。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第四部分，非功能需求与容量。这一部分解决「能不能扛住、值不值」。</a:t>
            </a:r>
          </a:p>
          <a:p>
            <a:endParaRPr lang="zh-CN"/>
          </a:p>
          <a:p>
            <a:r>
              <a:rPr lang="zh-CN"/>
              <a:t>很多技术架构报告里，非功能需求那部分是最虚的。写的是「系统具有良好的可用性和扩展能力」。这句话没有错，但它什么也没说。</a:t>
            </a:r>
          </a:p>
          <a:p>
            <a:endParaRPr lang="zh-CN"/>
          </a:p>
          <a:p>
            <a:r>
              <a:rPr lang="zh-CN"/>
              <a:t>所以这一部分我的主张很直接：不允许出现「较高」「较快」「良好」这种词。要么写数字，要么别写。</a:t>
            </a:r>
          </a:p>
          <a:p>
            <a:endParaRPr lang="zh-CN"/>
          </a:p>
          <a:p>
            <a:r>
              <a:rPr lang="zh-CN"/>
              <a:t>这一部分三页：六维怎么量化、容量怎么算、模板怎么出。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这一页是非功能需求六维量化法，每一条我都给了示例。</a:t>
            </a:r>
          </a:p>
          <a:p>
            <a:endParaRPr lang="zh-CN"/>
          </a:p>
          <a:p>
            <a:r>
              <a:rPr lang="zh-CN"/>
              <a:t>性能：P99 响应时间小于等于 300 毫秒。可以用性：核心系统 99.95%，年停机不超过 4.4 小时。容量：峰值 3000 TPS，余量不低于 30%。可扩展：十分钟内扩容到两倍。可恢复：RTO 不超过 30 分钟，RPO 不超过 5 分钟。可维护：一次变更两小时内发布完成。</a:t>
            </a:r>
          </a:p>
          <a:p>
            <a:endParaRPr lang="zh-CN"/>
          </a:p>
          <a:p>
            <a:r>
              <a:rPr lang="zh-CN"/>
              <a:t>这里要讲清楚 RTO 和 RPO 的区别，这是最常被搞混的一对。RTO 是多久能起来，RPO 是最多能丢多少数据。两个数可以同时很小，也可以差很远——关键看业务能接受丢多少。</a:t>
            </a:r>
          </a:p>
          <a:p>
            <a:endParaRPr lang="zh-CN"/>
          </a:p>
          <a:p>
            <a:r>
              <a:rPr lang="zh-CN"/>
              <a:t>比如一个内部报表系统，RPO 可以放到一天，因为它算错了第二天重算就行。但一个支付系统，RPO 只能是零或者几秒。</a:t>
            </a:r>
          </a:p>
          <a:p>
            <a:endParaRPr lang="zh-CN"/>
          </a:p>
          <a:p>
            <a:r>
              <a:rPr lang="zh-CN"/>
              <a:t>为什么必须量化？「系统要快」无法验收，「P99 不超过 300 毫秒」可以。模糊的非功能需求等于没有——出事的时候，你没有任何依据去判断这是设计问题还是使用问题。</a:t>
            </a:r>
          </a:p>
          <a:p>
            <a:endParaRPr lang="zh-CN"/>
          </a:p>
          <a:p>
            <a:r>
              <a:rPr lang="zh-CN"/>
              <a:t>量化还有一个副作用：它会逼着团队承认有些目标定不了那么高。定不了就写低一点，比写一个做不到的数字然后大家一起装作能做到要好。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这一页讲容量怎么定：三个数。</a:t>
            </a:r>
          </a:p>
          <a:p>
            <a:endParaRPr lang="zh-CN"/>
          </a:p>
          <a:p>
            <a:r>
              <a:rPr lang="zh-CN"/>
              <a:t>当前档，按最近十二个月实际峰值。规划档，按三年业务预测加上新系统上线。峰谷比，峰值是均值的多少倍，决定要不要弹性。</a:t>
            </a:r>
          </a:p>
          <a:p>
            <a:endParaRPr lang="zh-CN"/>
          </a:p>
          <a:p>
            <a:r>
              <a:rPr lang="zh-CN"/>
              <a:t>峰谷比是选型的分水岭。低于 2 倍，按峰值固定配置最省。高于 4 倍，必须做弹性伸缩——按峰值买全年，成本会翻倍；不做弹性，成本全压在峰谷差上。</a:t>
            </a:r>
          </a:p>
          <a:p>
            <a:endParaRPr lang="zh-CN"/>
          </a:p>
          <a:p>
            <a:r>
              <a:rPr lang="zh-CN"/>
              <a:t>右边这三笔成本账，我特别想讲第三笔。</a:t>
            </a:r>
          </a:p>
          <a:p>
            <a:endParaRPr lang="zh-CN"/>
          </a:p>
          <a:p>
            <a:r>
              <a:rPr lang="zh-CN"/>
              <a:t>第一笔是一次性投入：机房、硬件、平台建设、迁移人力。第二笔是三年运行：扩容、许可、运维人力、能耗。第三笔是不做的代价：业务增长被卡住的损失、返工成本。</a:t>
            </a:r>
          </a:p>
          <a:p>
            <a:endParaRPr lang="zh-CN"/>
          </a:p>
          <a:p>
            <a:r>
              <a:rPr lang="zh-CN"/>
              <a:t>大多数组织只算前两笔。示例里，前两笔是八百万加三千六百万，而第三笔是一点一亿。</a:t>
            </a:r>
          </a:p>
          <a:p>
            <a:endParaRPr lang="zh-CN"/>
          </a:p>
          <a:p>
            <a:r>
              <a:rPr lang="zh-CN"/>
              <a:t>只算前两笔的话，技术架构的投资回报怎么算都不划算，批不下来。但如果把第三笔认真写进去，结论通常会反过来。</a:t>
            </a:r>
          </a:p>
          <a:p>
            <a:endParaRPr lang="zh-CN"/>
          </a:p>
          <a:p>
            <a:r>
              <a:rPr lang="zh-CN"/>
              <a:t>技术架构的投入之所以难批，一大半原因就是这份账从来没被认真做过。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这一页是两张可以直接用的表。</a:t>
            </a:r>
          </a:p>
          <a:p>
            <a:endParaRPr lang="zh-CN"/>
          </a:p>
          <a:p>
            <a:r>
              <a:rPr lang="zh-CN"/>
              <a:t>左边容量测算表，五列：业务、日均量、峰值系数、目标峰值、测算节点。</a:t>
            </a:r>
          </a:p>
          <a:p>
            <a:endParaRPr lang="zh-CN"/>
          </a:p>
          <a:p>
            <a:r>
              <a:rPr lang="zh-CN"/>
              <a:t>我重点讲峰值系数这一列：它应该取最近十二个月实际值的 P99 除以均值，不要拍脑袋。实测的峰值系数通常比直觉高，因为月末、季末、年度结算这些尖峰是真实存在且可预测的。</a:t>
            </a:r>
          </a:p>
          <a:p>
            <a:endParaRPr lang="zh-CN"/>
          </a:p>
          <a:p>
            <a:r>
              <a:rPr lang="zh-CN"/>
              <a:t>顺带说个提醒：日均量用自然日算，会低估。要按业务周期算——如果你的业务有明显淡旺季，用全年除以 365 天会把旺季拉平，最后按这个数配的容量，在旺季一定不够。</a:t>
            </a:r>
          </a:p>
          <a:p>
            <a:endParaRPr lang="zh-CN"/>
          </a:p>
          <a:p>
            <a:r>
              <a:rPr lang="zh-CN"/>
              <a:t>右边压测验收卡，五条判据。压到目标值的 1.3 倍，持续三十分钟。这是第一条。</a:t>
            </a:r>
          </a:p>
          <a:p>
            <a:endParaRPr lang="zh-CN"/>
          </a:p>
          <a:p>
            <a:r>
              <a:rPr lang="zh-CN"/>
              <a:t>为什么要留三成？因为刚好压到目标值，等于没有余量。余量是留给故障的——正常情况下流量平稳，异常情况下流量会翻倍，而异常时刻恰恰是最需要系统撑住的时刻。</a:t>
            </a:r>
          </a:p>
          <a:p>
            <a:endParaRPr lang="zh-CN"/>
          </a:p>
          <a:p>
            <a:r>
              <a:rPr lang="zh-CN"/>
              <a:t>第二条 CPU 不超过 60%，这个数字我建议写进标准。原因是 CPU 到 80% 以后请求开始堆积，表现为响应时间非线性上涨。压测时看着没崩，线上流量抖动一样会崩。</a:t>
            </a:r>
          </a:p>
          <a:p>
            <a:endParaRPr lang="zh-CN"/>
          </a:p>
          <a:p>
            <a:r>
              <a:rPr lang="zh-CN"/>
              <a:t>最后这一条我想专门说：压测报告最容易造假的地方，是用开发环境的短时数据冒充生产等效压测。判断方法只有一个——看报告里有没有数据依赖比例、连接池上限、缓存命中率这几项。有，才算真压过。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第五部分，技术标准与演进。这一部分解决「以后怎么建、怎么换」。</a:t>
            </a:r>
          </a:p>
          <a:p>
            <a:endParaRPr lang="zh-CN"/>
          </a:p>
          <a:p>
            <a:r>
              <a:rPr lang="zh-CN"/>
              <a:t>这一部分是我的偏好所在。前面四部分讲的是现状和当下，这一部分讲的是三年后。</a:t>
            </a:r>
          </a:p>
          <a:p>
            <a:endParaRPr lang="zh-CN"/>
          </a:p>
          <a:p>
            <a:r>
              <a:rPr lang="zh-CN"/>
              <a:t>前面说过一句话：不在单点技术上押注，而在分层结构与接口标准上投资。这一部分就是把这句话落地。</a:t>
            </a:r>
          </a:p>
          <a:p>
            <a:endParaRPr lang="zh-CN"/>
          </a:p>
          <a:p>
            <a:r>
              <a:rPr lang="zh-CN"/>
              <a:t>三页：四条技术标准、演进路线怎么走、标准手册怎么写。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这一页是技术标准的四条：接口标准、编码与交付标准、部署与环境标准、可观测性标准。</a:t>
            </a:r>
          </a:p>
          <a:p>
            <a:endParaRPr lang="zh-CN"/>
          </a:p>
          <a:p>
            <a:r>
              <a:rPr lang="zh-CN"/>
              <a:t>这四条的共同点是，它们和技术选型无关。无论你用 MySQL 还是 PostgreSQL，无论你部署在云上还是自建，这四条都得有。所以它们是稳定资产。</a:t>
            </a:r>
          </a:p>
          <a:p>
            <a:endParaRPr lang="zh-CN"/>
          </a:p>
          <a:p>
            <a:r>
              <a:rPr lang="zh-CN"/>
              <a:t>我用一条标准来检验标准有没有效：不看文档写了多少条，看新人第一次交付要问几个人。问超过三个人，说明标准没落到工具上，只是文档而已。</a:t>
            </a:r>
          </a:p>
          <a:p>
            <a:endParaRPr lang="zh-CN"/>
          </a:p>
          <a:p>
            <a:r>
              <a:rPr lang="zh-CN"/>
              <a:t>这个检验方法很朴素，但非常准。因为标准的本质是消除个体差异，让新人不用靠问人来获取知识。</a:t>
            </a:r>
          </a:p>
          <a:p>
            <a:endParaRPr lang="zh-CN"/>
          </a:p>
          <a:p>
            <a:r>
              <a:rPr lang="zh-CN"/>
              <a:t>具体展开说接口标准。统一样式包含五项：协议、鉴权、错误码、超时、重试。我要强调重试这一项——没有幂等设计的重试，会造成重复扣款这类事故。所以重试策略必须和技术服务的幂等设计一起定。</a:t>
            </a:r>
          </a:p>
          <a:p>
            <a:endParaRPr lang="zh-CN"/>
          </a:p>
          <a:p>
            <a:r>
              <a:rPr lang="zh-CN"/>
              <a:t>部署与环境标准的判据是：所有服务无差别部署，不靠本地特权。有的系统需要登录特定跳板机才能发布，这就是特权部署，迟早会出事故。</a:t>
            </a:r>
          </a:p>
          <a:p>
            <a:endParaRPr lang="zh-CN"/>
          </a:p>
          <a:p>
            <a:r>
              <a:rPr lang="zh-CN"/>
              <a:t>可观测性标准的判据是：故障时一次查询能看到全部相关服务。三个团队三套日志格式，故障时你要先花一个小时找日志——这一小时里，业务正在受损。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这一页左边是技术演进三阶段，右边是技术决策记录 ADR。</a:t>
            </a:r>
          </a:p>
          <a:p>
            <a:endParaRPr lang="zh-CN"/>
          </a:p>
          <a:p>
            <a:r>
              <a:rPr lang="zh-CN"/>
              <a:t>三阶段分别是：夯实基础、平台整合、智能与弹性。</a:t>
            </a:r>
          </a:p>
          <a:p>
            <a:endParaRPr lang="zh-CN"/>
          </a:p>
          <a:p>
            <a:r>
              <a:rPr lang="zh-CN"/>
              <a:t>每一阶段都有明确的里程碑。夯实基础是环境四分区达标、配置外置、四条标准接入流水线、核心组件版本收敛。平台整合是资源池化、服务化部署、容器化率到 60%、可观测平台接入率到 90%。智能与弹性是全链路弹性、容量自动调整、高风险组件替换完成一半。</a:t>
            </a:r>
          </a:p>
          <a:p>
            <a:endParaRPr lang="zh-CN"/>
          </a:p>
          <a:p>
            <a:r>
              <a:rPr lang="zh-CN"/>
              <a:t>每个阶段我都在右边配了一个「退坡信号」。夯实基础的退坡信号是标准执行率低于 50%；平台整合的退坡信号是容器化改造后稳定性下降；智能与弹性的退坡信号是弹性成本高于节省的 60%。</a:t>
            </a:r>
          </a:p>
          <a:p>
            <a:endParaRPr lang="zh-CN"/>
          </a:p>
          <a:p>
            <a:r>
              <a:rPr lang="zh-CN"/>
              <a:t>退坡信号是路线图的底线。没有退坡信号的路线图就是一厢情愿的愿望——写不出退坡条件，说明这条路还没被认真想过。</a:t>
            </a:r>
          </a:p>
          <a:p>
            <a:endParaRPr lang="zh-CN"/>
          </a:p>
          <a:p>
            <a:r>
              <a:rPr lang="zh-CN"/>
              <a:t>右边这个 ADR 模板，我重点讲「后果」这一栏。多数架构文档只记选了什么，不记代价是什么。</a:t>
            </a:r>
          </a:p>
          <a:p>
            <a:endParaRPr lang="zh-CN"/>
          </a:p>
          <a:p>
            <a:r>
              <a:rPr lang="zh-CN"/>
              <a:t>后果这一栏为什么最有价值？因为三年后没人敢动这个组件，通常不是因为它不好，而是因为当初的代价被漏记了。不知道要改多少行代码、不知道要双跑多久、不知道要多少人月，那当然不敢动。</a:t>
            </a:r>
          </a:p>
          <a:p>
            <a:endParaRPr lang="zh-CN"/>
          </a:p>
          <a:p>
            <a:r>
              <a:rPr lang="zh-CN"/>
              <a:t>ADR 不是复盘文档，是给三年后的人看的。所以它必须写「后果」，而不是写「总结」。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这一页左边是技术标准手册的建议目录，右边是标准卡的示例。</a:t>
            </a:r>
          </a:p>
          <a:p>
            <a:endParaRPr lang="zh-CN"/>
          </a:p>
          <a:p>
            <a:r>
              <a:rPr lang="zh-CN"/>
              <a:t>目录有八章。注意第一叫「适用范围与例外规则」——先写清楚谁必须遵守、谁可以豁免。</a:t>
            </a:r>
          </a:p>
          <a:p>
            <a:endParaRPr lang="zh-CN"/>
          </a:p>
          <a:p>
            <a:r>
              <a:rPr lang="zh-CN"/>
              <a:t>为什么把例外规则放在第一章？因为没有例外条款的标准，会因为第一个绕不过去的人而被整体放弃。</a:t>
            </a:r>
          </a:p>
          <a:p>
            <a:endParaRPr lang="zh-CN"/>
          </a:p>
          <a:p>
            <a:r>
              <a:rPr lang="zh-CN"/>
              <a:t>我见过一个典型案例：一个组织推代码规范，推了三个月就没人遵守了。复盘原因发现，有个团队有个特殊情况过不去，团队长直接不走评审流程——一次两次之后，评审就变成了走形式。正确做法是在手册第一章写清楚「这个情况可以豁免，但要在例外台账登记」。</a:t>
            </a:r>
          </a:p>
          <a:p>
            <a:endParaRPr lang="zh-CN"/>
          </a:p>
          <a:p>
            <a:r>
              <a:rPr lang="zh-CN"/>
              <a:t>右边标准卡我用错误码规范举例。注意两点。域码必须是固定枚举，允许自造域码，等于让错误码变成无法统计的乱码。以及 traceId 必须返回——它是跨服务排查的钥匙，没有它就只能靠时间戳猜。</a:t>
            </a:r>
          </a:p>
          <a:p>
            <a:endParaRPr lang="zh-CN"/>
          </a:p>
          <a:p>
            <a:r>
              <a:rPr lang="zh-CN"/>
              <a:t>最后这一条我想强调：标准要落到工具里。</a:t>
            </a:r>
          </a:p>
          <a:p>
            <a:endParaRPr lang="zh-CN"/>
          </a:p>
          <a:p>
            <a:r>
              <a:rPr lang="zh-CN"/>
              <a:t>写进文档的错误码规范，要同时有一条流水线校验；写进文档的日志格式，要有采集端强制解析。文档靠自觉，工具靠强制。一条只能靠自觉执行的标准，寿命大概是三个月。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第六部分，技术治理与风险。这一部分保证前面五部分不塌。</a:t>
            </a:r>
          </a:p>
          <a:p>
            <a:endParaRPr lang="zh-CN"/>
          </a:p>
          <a:p>
            <a:r>
              <a:rPr lang="zh-CN"/>
              <a:t>前面五部分做的是设计和规划，这一部分做的是让规划能持续被执行下去。</a:t>
            </a:r>
          </a:p>
          <a:p>
            <a:endParaRPr lang="zh-CN"/>
          </a:p>
          <a:p>
            <a:r>
              <a:rPr lang="zh-CN"/>
              <a:t>三页：三道技术门、风险台账、组件退役。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第六部分，技术治理与风险，只有三页，但它决定前面五部分能不能撑过一年。</a:t>
            </a:r>
          </a:p>
          <a:p>
            <a:endParaRPr lang="zh-CN"/>
          </a:p>
          <a:p>
            <a:r>
              <a:rPr lang="zh-CN"/>
              <a:t>前面五部分做的是设计和规划，这三页解决的是「靠什么保证它不变成一堆没人执行的文档」。</a:t>
            </a:r>
          </a:p>
          <a:p>
            <a:endParaRPr lang="zh-CN"/>
          </a:p>
          <a:p>
            <a:r>
              <a:rPr lang="zh-CN"/>
              <a:t>技术风险的特点是：平时看不出问题，问题出现时已经来不及了。等到某个组件真的停止维护、真的出了安全漏洞、真的没人会用了，你已经没有选择空间了。</a:t>
            </a:r>
          </a:p>
          <a:p>
            <a:endParaRPr lang="zh-CN"/>
          </a:p>
          <a:p>
            <a:r>
              <a:rPr lang="zh-CN"/>
              <a:t>所以这一部分的核心是「提前两年看到」。三页内容：技术选型怎么把关、风险台账怎么记、组件怎么退役。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这一页是技术治理的三道门：选型门、引入门、上线门。</a:t>
            </a:r>
          </a:p>
          <a:p>
            <a:endParaRPr lang="zh-CN"/>
          </a:p>
          <a:p>
            <a:r>
              <a:rPr lang="zh-CN"/>
              <a:t>选型门问的是「为什么不复用现有组件」。这一条卡的是重复建设——每个团队都觉得自己需要一个更顺手的工具，最后公司里有五套缓存方案。</a:t>
            </a:r>
          </a:p>
          <a:p>
            <a:endParaRPr lang="zh-CN"/>
          </a:p>
          <a:p>
            <a:r>
              <a:rPr lang="zh-CN"/>
              <a:t>引入门问的是「这个组件谁维护、退出时间是什么」。这一条卡的是引入了就没人管的技术债。</a:t>
            </a:r>
          </a:p>
          <a:p>
            <a:endParaRPr lang="zh-CN"/>
          </a:p>
          <a:p>
            <a:r>
              <a:rPr lang="zh-CN"/>
              <a:t>上线门问的是十二项部署就绪检查是否全过。这一条上一页已经讲过。</a:t>
            </a:r>
          </a:p>
          <a:p>
            <a:endParaRPr lang="zh-CN"/>
          </a:p>
          <a:p>
            <a:r>
              <a:rPr lang="zh-CN"/>
              <a:t>我在这里要强调的是：门要有否决权，也要有登记。</a:t>
            </a:r>
          </a:p>
          <a:p>
            <a:endParaRPr lang="zh-CN"/>
          </a:p>
          <a:p>
            <a:r>
              <a:rPr lang="zh-CN"/>
              <a:t>门由架构委员会把守，并且可以否决。同时必须留一个例外台账。我右边这个台账示例是三个真实场景：海外支付网关绕过选型门，因为监管要求本地化；实时风控引擎绕过引入门，因为自研确实无可替代；老报表系统迁移绕过上线门，因为压测暂时没通过。</a:t>
            </a:r>
          </a:p>
          <a:p>
            <a:endParaRPr lang="zh-CN"/>
          </a:p>
          <a:p>
            <a:r>
              <a:rPr lang="zh-CN"/>
              <a:t>这三条例外都有登记、都有到期日。</a:t>
            </a:r>
          </a:p>
          <a:p>
            <a:endParaRPr lang="zh-CN"/>
          </a:p>
          <a:p>
            <a:r>
              <a:rPr lang="zh-CN"/>
              <a:t>这个台账真正的价值，不是记录违规，而是三个月后回看：哪道门被绕过最多，哪道门的标准就该改。</a:t>
            </a:r>
          </a:p>
          <a:p>
            <a:endParaRPr lang="zh-CN"/>
          </a:p>
          <a:p>
            <a:r>
              <a:rPr lang="zh-CN"/>
              <a:t>例外不是违规记录，是标准进化的输入。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这一页讲技术风险的三类来源，以及风险台账长什么样。</a:t>
            </a:r>
          </a:p>
          <a:p>
            <a:endParaRPr lang="zh-CN"/>
          </a:p>
          <a:p>
            <a:r>
              <a:rPr lang="zh-CN"/>
              <a:t>三类来源：外部供应风险——组件停止维护、厂商涨价或退出、许可变更；版本老化风险——过了 EOL 且无安全补丁；技能流失风险——只有一个人懂这套技术，他一走就无人接管。</a:t>
            </a:r>
          </a:p>
          <a:p>
            <a:endParaRPr lang="zh-CN"/>
          </a:p>
          <a:p>
            <a:r>
              <a:rPr lang="zh-CN"/>
              <a:t>我要特别说第三类。</a:t>
            </a:r>
          </a:p>
          <a:p>
            <a:endParaRPr lang="zh-CN"/>
          </a:p>
          <a:p>
            <a:r>
              <a:rPr lang="zh-CN"/>
              <a:t>R1 和 R2 都能通过合同和备选方案缓解，但 R3 只能通过轮岗和文档沉淀解决。而且 R3 最容易被当成「团队内部的事」，不进技术台账。</a:t>
            </a:r>
          </a:p>
          <a:p>
            <a:endParaRPr lang="zh-CN"/>
          </a:p>
          <a:p>
            <a:r>
              <a:rPr lang="zh-CN"/>
              <a:t>等到这个人离职的时候，你会同时失去三样东西：这套系统的知识、修复它的能力，以及关于它为什么这么设计的记忆。这三样东西没法补。</a:t>
            </a:r>
          </a:p>
          <a:p>
            <a:endParaRPr lang="zh-CN"/>
          </a:p>
          <a:p>
            <a:r>
              <a:rPr lang="zh-CN"/>
              <a:t>右边台账示例里，我特意加了一列「剩余月数」。</a:t>
            </a:r>
          </a:p>
          <a:p>
            <a:endParaRPr lang="zh-CN"/>
          </a:p>
          <a:p>
            <a:r>
              <a:rPr lang="zh-CN"/>
              <a:t>这是这张表最关键的一列。EOL 时间其实都是公开的，只是没人把它换算成「还剩几个月」。换成月份之后，它才变成一个可决策的信息——你才能在预算和排期里给它留位置。</a:t>
            </a:r>
          </a:p>
          <a:p>
            <a:endParaRPr lang="zh-CN"/>
          </a:p>
          <a:p>
            <a:r>
              <a:rPr lang="zh-CN"/>
              <a:t>示例里四个风险：商业数据库还有十四个月到期，启动替换评估；消息队列许可变更还有九个月；旧版容器平台还有六个月；核心中间件只有一个人能维护，属于常态风险，用轮岗加补齐文档来对冲。</a:t>
            </a:r>
          </a:p>
          <a:p>
            <a:endParaRPr lang="zh-CN"/>
          </a:p>
          <a:p>
            <a:r>
              <a:rPr lang="zh-CN"/>
              <a:t>另外提醒一句：这份台账必须定期更新，不能是项目结束时写的一次性文档。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这一页是组件退役三步法：评估、双跑、切换。</a:t>
            </a:r>
          </a:p>
          <a:p>
            <a:endParaRPr lang="zh-CN"/>
          </a:p>
          <a:p>
            <a:r>
              <a:rPr lang="zh-CN"/>
              <a:t>为什么组件退役比组件选型难？因为替换项目没有新功能那样的可见度，也不写在业务部门的 KPI 里。</a:t>
            </a:r>
          </a:p>
          <a:p>
            <a:endParaRPr lang="zh-CN"/>
          </a:p>
          <a:p>
            <a:r>
              <a:rPr lang="zh-CN"/>
              <a:t>所以第一步评估，最费时间的往往不是公开接口的改造，而是隐性依赖：动态 SQL、存储过程、定时任务、硬编码的表名。这些常常在盘点时统计不到。我的建议是先在测试环境跑一遍全量回归，别在生产试错。</a:t>
            </a:r>
          </a:p>
          <a:p>
            <a:endParaRPr lang="zh-CN"/>
          </a:p>
          <a:p>
            <a:r>
              <a:rPr lang="zh-CN"/>
              <a:t>第二步双跑，新旧并行、数据双向比对、差异归零再切。双跑期至少覆盖一个完整业务周期，必须包含月末和季末，因为很多异常只在结算日才暴露。比对的时候不只看数据，还要比性能和资源占用——有些替代方案数据对了但慢了三倍，那也是不可用。</a:t>
            </a:r>
          </a:p>
          <a:p>
            <a:endParaRPr lang="zh-CN"/>
          </a:p>
          <a:p>
            <a:r>
              <a:rPr lang="zh-CN"/>
              <a:t>第三步切换，切流量、观察期保回滚、旧组件下线。观察期至少一个月，旧环境不要立刻销毁。下线时一定要回收许可和账号，不然成本上根本没省下来，只是把技术债留在账上。</a:t>
            </a:r>
          </a:p>
          <a:p>
            <a:endParaRPr lang="zh-CN"/>
          </a:p>
          <a:p>
            <a:r>
              <a:rPr lang="zh-CN"/>
              <a:t>最后这一条是这一页真正的重点：替换项目必须作为独立的、有预算有里程碑的项目立项。</a:t>
            </a:r>
          </a:p>
          <a:p>
            <a:endParaRPr lang="zh-CN"/>
          </a:p>
          <a:p>
            <a:r>
              <a:rPr lang="zh-CN"/>
              <a:t>不立项，它永远排不上队。因为在排序里，一个「不出故障的旧组件」，永远排不到一个「看起来很重要但没做过的替换」前面。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收口部分，我给六个判断。这六条半年之后还成立，技术架构就是落地的。</a:t>
            </a:r>
          </a:p>
          <a:p>
            <a:endParaRPr lang="zh-CN"/>
          </a:p>
          <a:p>
            <a:r>
              <a:rPr lang="zh-CN"/>
              <a:t>一，分层是清的：每一层只依赖下一层，没有跨层调用。二，组件是登记的：所有在用的组件都在清单里，版本精确、锁定风险已标级。三，环境是隔离的：四分区达标、配置外置、凭据不同源，预发真的和生产同构。四，需求是量化的：性能、可用性、容量、恢复这四类数字都有验收判据，报告里再也没有「较快」这种词。五，标准是落地的：四条标准接进了流水线，不只是文档，新人第一次交付问不到三个人。六，风险是有倒计时的：高风险组件还剩几个月到期，写在台账上，而且已经进了预算。</a:t>
            </a:r>
          </a:p>
          <a:p>
            <a:endParaRPr lang="zh-CN"/>
          </a:p>
          <a:p>
            <a:r>
              <a:rPr lang="zh-CN"/>
              <a:t>然后是我认为最重要的一问。</a:t>
            </a:r>
          </a:p>
          <a:p>
            <a:endParaRPr lang="zh-CN"/>
          </a:p>
          <a:p>
            <a:r>
              <a:rPr lang="zh-CN"/>
              <a:t>交付那天问客户三个问题：半年后谁来更新组件清单和版本？谁盯例外台账到期？谁判断一个组件该开始替换？</a:t>
            </a:r>
          </a:p>
          <a:p>
            <a:endParaRPr lang="zh-CN"/>
          </a:p>
          <a:p>
            <a:r>
              <a:rPr lang="zh-CN"/>
              <a:t>这三问有两个答不上来，技术架构就还停在文档里。</a:t>
            </a:r>
          </a:p>
          <a:p>
            <a:endParaRPr lang="zh-CN"/>
          </a:p>
          <a:p>
            <a:r>
              <a:rPr lang="zh-CN"/>
              <a:t>我见过一个客户，架构报告做得很漂亮，问到这三个问题，答案是「我们有个委员会」，但具体到人名和会议时间，都答不上来。</a:t>
            </a:r>
          </a:p>
          <a:p>
            <a:endParaRPr lang="zh-CN"/>
          </a:p>
          <a:p>
            <a:r>
              <a:rPr lang="zh-CN"/>
              <a:t>真正的落地标志是什么？不是评审通过，是有人开始因为「EOL 还有九个月」而主动去要预算。</a:t>
            </a:r>
          </a:p>
          <a:p>
            <a:endParaRPr lang="zh-CN"/>
          </a:p>
          <a:p>
            <a:r>
              <a:rPr lang="zh-CN"/>
              <a:t>那才叫确定性。这一页讲五个把技术架构做砸的坑，每一个都是真实项目里反复出现的。</a:t>
            </a:r>
          </a:p>
          <a:p>
            <a:endParaRPr lang="zh-CN"/>
          </a:p>
          <a:p>
            <a:r>
              <a:rPr lang="zh-CN"/>
              <a:t>第一个坑，把技术架构等同于机房建设。画了机房图和服务器清单，没有分层也没有标准。后果是技术换代时无从下手。</a:t>
            </a:r>
          </a:p>
          <a:p>
            <a:endParaRPr lang="zh-CN"/>
          </a:p>
          <a:p>
            <a:r>
              <a:rPr lang="zh-CN"/>
              <a:t>第二个坑，只盘组件，不定标准。清单列得很全，但没有版本策略，也没有替换计划。后果是清单变成一张谁也用不上的技术名词表。</a:t>
            </a:r>
          </a:p>
          <a:p>
            <a:endParaRPr lang="zh-CN"/>
          </a:p>
          <a:p>
            <a:r>
              <a:rPr lang="zh-CN"/>
              <a:t>第三个坑，非功能需求全是形容词。高可用、高性能、灵活扩展，没有一个数字。后果是验收无据，事故时责任无法界定。</a:t>
            </a:r>
          </a:p>
          <a:p>
            <a:endParaRPr lang="zh-CN"/>
          </a:p>
          <a:p>
            <a:r>
              <a:rPr lang="zh-CN"/>
              <a:t>第四个坑，标准只写文档不接工具。规范写得很好，但流水线不校验、代码不扫描。后果是三个月后无人遵守。</a:t>
            </a:r>
          </a:p>
          <a:p>
            <a:endParaRPr lang="zh-CN"/>
          </a:p>
          <a:p>
            <a:r>
              <a:rPr lang="zh-CN"/>
              <a:t>第五个坑，技术路线永远在起跑线。每年都在做数字化转型，容器化率一直卡在个位数。后果是欠账越积越厚，架构只存在于汇报材料里。</a:t>
            </a:r>
          </a:p>
          <a:p>
            <a:endParaRPr lang="zh-CN"/>
          </a:p>
          <a:p>
            <a:r>
              <a:rPr lang="zh-CN"/>
              <a:t>这五个坑的共同根因在下面这句话里：把技术架构当成「今年要买什么」，而不是「未来三年怎么不被换掉」。</a:t>
            </a:r>
          </a:p>
          <a:p>
            <a:endParaRPr lang="zh-CN"/>
          </a:p>
          <a:p>
            <a:r>
              <a:rPr lang="zh-CN"/>
              <a:t>买什么是一次性投入，怎么不被换掉才是长期资产。</a:t>
            </a:r>
          </a:p>
          <a:p>
            <a:endParaRPr lang="zh-CN"/>
          </a:p>
          <a:p>
            <a:r>
              <a:rPr lang="zh-CN"/>
              <a:t>我再多说一句第五个坑。数字化转型这个词被用得太滥了，它已经变成了「每年立项一个项目」的代名词。判断一个转型是真转型还是假转型，有一个很简单的标准：去年说的那件事，今年做完了吗？连续两年没做完，一定不是能力问题，是它没有被当成项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/>
              <a:t>最后一部分，三句话收尾。</a:t>
            </a:r>
          </a:p>
          <a:p>
            <a:endParaRPr lang="zh-CN"/>
          </a:p>
          <a:p>
            <a:r>
              <a:rPr lang="zh-CN"/>
              <a:t>第一句：技术会换代，只有确定性能留下。组件会下线、版本会过期、云会搬家。真正可复用的资产是分层结构和那四条标准，把它们守住，下一次换代才不用从零开始。</a:t>
            </a:r>
          </a:p>
          <a:p>
            <a:endParaRPr lang="zh-CN"/>
          </a:p>
          <a:p>
            <a:r>
              <a:rPr lang="zh-CN"/>
              <a:t>第二句：这套方法能成立，靠的是十六个字——分层稳定、标准统一、组件可替、演进有路。这十六个字如果落不下去，做多少页PPT都没用。</a:t>
            </a:r>
          </a:p>
          <a:p>
            <a:endParaRPr lang="zh-CN"/>
          </a:p>
          <a:p>
            <a:r>
              <a:rPr lang="zh-CN"/>
              <a:t>第三句，也是我希望各位带走的一句话：技术架构不是决定「买什么」，而是决定「三年后不用重买一遍」。</a:t>
            </a:r>
          </a:p>
          <a:p>
            <a:endParaRPr lang="zh-CN"/>
          </a:p>
          <a:p>
            <a:r>
              <a:rPr lang="zh-CN"/>
              <a:t>如果只记住一件事，就记住这一句：把「这个组件为什么换不掉」这个问题，每个核心组件都能用一句话回答清楚，那么你们的技术架构就是健康的。</a:t>
            </a:r>
          </a:p>
          <a:p>
            <a:endParaRPr lang="zh-CN"/>
          </a:p>
          <a:p>
            <a:r>
              <a:rPr lang="zh-CN"/>
              <a:t>四层架构讲到这里就完整了。业务架构定要做什么，数据架构定数据怎么管，应用架构定用什么系统承载，技术架构定跑在什么之上。四层各司其职，任何一层塌了，上面三层都落不了地。</a:t>
            </a:r>
          </a:p>
          <a:p>
            <a:endParaRPr lang="zh-CN"/>
          </a:p>
          <a:p>
            <a:r>
              <a:rPr lang="zh-CN"/>
              <a:t>谢谢大家。接下来是提问时间。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 }}&gt;&#10;    {/* 左侧橙红几何带 */}&#10;    &lt;Box style={{ position: 'absolute', left: 0, top: 0, width: 460, height: 720, background: 'linear-gradient(160deg, #FA4F24 0%, #F87D2F 100%)' }} /&gt;&#10;    &lt;Box style={{ position: 'absolute', left: 400, top: 0, width: 120, height: 720, background: 'linear-gradient(160deg, rgba(250,79,36,0.35) 0%, rgba(248,125,47,0) 100%)' }} /&gt;&#10;&#10;    {/* 左侧品牌文字 */}&#10;    &lt;Box style={{ position: 'absolute', left: 64, top: 64, flexDirection: 'column' }}&gt;&#10;      &lt;Text style={{ fontSize: 16, color: 'rgba(255,255,255,0.85)', letterSpacing: 3 }}&gt;BOULDERAI&lt;/Text&gt;&#10;      &lt;Text style={{ fontSize: 13, color: 'rgba(255,255,255,0.65)', letterSpacing: 2, marginTop: 4 }}&gt;TECHNOLOGIES · SOLUTION&lt;/Text&gt;&#10;    &lt;/Box&gt;&#10;    &lt;Box style={{ position: 'absolute', left: 64, bottom: 72, flexDirection: 'column' }}&gt;&#10;      &lt;Box style={{ width: 56, height: 4, background: 'rgba(255,255,255,0.8)' }} /&gt;&#10;  &lt;Text style={{ fontSize: 20, color: '#FFFFFF', fontWeight: 'bold', marginTop: 18 }}&gt;硕磐智能&lt;/Text&gt;&#10;      &lt;Text style={{ fontSize: 14, color: 'rgba(255,255,255,0.8)', marginTop: 6 }}&gt;咨询交付版 · TECHNOLOGY ARCHITECTURE&lt;/Text&gt;&#10;    &lt;/Box&gt;&#10;&#10;    {/* 右侧主标题 */}&#10;    &lt;Box style={{ position: 'absolute', left: 540, top: 150, width: 660, flexDirection: 'column' }}&gt;&#10;      &lt;Text style={{ fontSize: 88, fontWeight: 'bold', color: '#FA4F24', lineHeight: 1.0 }}&gt;TA&lt;/Text&gt;&#10;        &lt;Text style={{ fontSize: 44, fontWeight: 'bold', color: '#0F1423', marginTop: 18, lineHeight: 1.2 }}&gt;技术架构咨询方法论&lt;/Text&gt;&#10;        &lt;Box style={{ width: 88, height: 5, background: '#FA4F24', marginTop: 26 }} /&gt;&#10;  &lt;Text style={{ fontSize: 21, color: '#3A4050', marginTop: 26, lineHeight: 1.6 }}&gt;&#10;   用架构的确定性对冲技术的不确定性，让技术换代不推翻业务&#10;      &lt;/Text&gt;&#10;    &lt;/Box&gt;&#10;&#10;    {/* 底部四个标签 */}&#10;    &lt;Box style={{ position: 'absolute', left: 540, top: 560, flexDirection: 'row', gap: 12 }}&gt;&#10;  {['分层骨架', '组件标准', '部署视图', '演进路线'].map((t, i) =&gt; (&#10;            &lt;Box key={i} style={{ background: 'rgba(250,79,36,0.08)', borderRadius: 3, padding: '8px 18px' }}&gt;&#10;     &lt;Text style={{ fontSize: 16, color: '#C43A17', fontWeight: 'bold' }}&gt;{t}&lt;/Text&gt;&#10;   &lt;/Box&gt;&#10;        ))}&#10;    &lt;/Box&gt;&#10;&#10;    {/* 依据说明 */}&#10;    &lt;Box style={{ position: 'absolute', left: 540, bottom: 78, flexDirection: 'row', alignItems: 'center', gap: 10 }}&gt;&#10;        &lt;Box style={{ width: 4, height: 18, background: '#F87D2F' }} /&gt;&#10;        &lt;Text style={{ fontSize: 14, color: '#8A8F99' }}&gt;方法论依据：《华为数据之道》（华为公司数据管理部 著）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3810000" y="0"/>
            <a:ext cx="1143000" cy="6858000"/>
          </a:xfrm>
          <a:prstGeom prst="rect">
            <a:avLst/>
          </a:prstGeom>
          <a:gradFill>
            <a:gsLst>
              <a:gs pos="0">
                <a:srgbClr val="FA4F24">
                  <a:alpha val="35000"/>
                </a:srgbClr>
              </a:gs>
              <a:gs pos="100000">
                <a:srgbClr val="F87D2F">
                  <a:alpha val="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838200"/>
            <a:ext cx="2133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5514975"/>
            <a:ext cx="533400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2714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硕磐智能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010275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TECHNOLOGY ARCHITECTURE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143500" y="1428750"/>
            <a:ext cx="6286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A4F24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143500" y="2609850"/>
            <a:ext cx="62865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0F1423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143500" y="3467100"/>
            <a:ext cx="8382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3762375"/>
            <a:ext cx="62865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3A4050"/>
                </a:solidFill>
                <a:latin typeface="Microsoft YaHei"/>
                <a:ea typeface="Microsoft YaHei"/>
              </a:rPr>
              <a:t>用架构的确定性对冲技术的不确定性，让技术换代不推翻业务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1435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149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分层骨架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103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3817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组件标准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2771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485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部署视图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343900" y="5334000"/>
            <a:ext cx="9525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15350" y="5410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演进路线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143500" y="5943600"/>
            <a:ext cx="38100" cy="1714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276850" y="5953125"/>
            <a:ext cx="3514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方法论依据：《华为数据之道》（华为公司数据管理部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著）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95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  本册覆盖&lt;span style={{ color: '#FA4F24' }}&gt;七个部分&lt;/span&gt;，把技术架构从分层骨架到演进路线逐一拆到可交付&#10;      &lt;/Text&gt;&#10;        &lt;Text style={{ fontSize: 20, color: '#8A8F99', marginTop: 8 }}&gt;&#10;     从总论到组件、部署、非功能、标准、治理，每部分均含「方法 · 内容 · 模板」三段式作业&#10;    &lt;/Text&gt;&#10;    &lt;/Box&gt;&#10;    &lt;Box style={{ height: 1, background: '#E8E8E8' }} /&gt;&#10;&#10;    {/* B 区 */}&#10;    &lt;Box style={{ paddingTop: 26, paddingBottom: 14, height: 479, flexDirection: 'row', gap: 20 }}&gt;&#10;        {/* 左 60% 五条 */}&#10;        &lt;Box style={{ width: 680, flexDirection: 'column', gap: 13 }}&gt;&#10;  {[&#10;        { n: '01', t: '技术架构总论', d: '分层骨架、架构确定性与技术生命周期', tag: 'P04–07' },&#10;     { n: '02', t: '技术组件与技术栈', d: '组件清单、版本策略与技术锁定风险', tag: 'P08–11' },&#10;        { n: '03', t: '部署架构与环境', d: '环境分区、部署视图与资源基线', tag: 'P12–15' },&#10;        { n: '04', t: '非功能需求与容量', d: '性能、可用性、可扩展与成本的量化', tag: 'P16–19' },&#10;        { n: '05', t: '技术标准与演进', d: '标准规范、架构决策记录与演进路线', tag: 'P20–23' },&#10;      ].map((it, i) =&gt; (&#10;        &lt;Box key={i} style={{ flex: 1, flexDirection: 'row', alignItems: 'center', background: '#F7F7F8', borderRadius: 4, padding: '0 20px', gap: 16 }}&gt;&#10;   &lt;Text style={{ fontSize: 28, fontWeight: 'bold', color: '#FA4F24', width: 48 }}&gt;{it.n}&lt;/Text&gt;&#10;            &lt;Box style={{ width: 208 }}&gt;&#10;            &lt;Text style={{ fontSize: 19, fontWeight: 'bold', color: '#0F1423' }}&gt;{it.t}&lt;/Text&gt;&#10; &lt;/Box&gt;&#10;     &lt;Text style={{ fontSize: 15, color: '#3A4050', lineHeight: 1.4, flex: 1 }}&gt;{it.d}&lt;/Text&gt;&#10;     &lt;Text style={{ fontSize: 13, color: '#C43A17', width: 64, textAlign: 'right' }}&gt;{it.tag}&lt;/Text&gt;&#10;  &lt;/Box&gt;&#10;      ))}&#10;        &lt;/Box&gt;&#10;&#10;        {/* 右 40% 两条 + 收口 */}&#10;        &lt;Box style={{ flex: 1, flexDirection: 'column', gap: 13 }}&gt;&#10;      {[&#10;        { n: '06', t: '技术治理与风险', d: '三道技术门、风险台账与退役机制', tag: 'P24–27' },&#10;     { n: '07', t: '确定性与避坑', d: '把技术不确定性关进笼子，五个常见误区', tag: 'P28–29' },&#10;    ].map((it, i) =&gt; (&#10;     &lt;Box key={i} style={{ flex: 1, flexDirection: 'column', justifyContent: 'center', background: '#F7F7F8', borderRadius: 4, padding: '0 20px' }}&gt;&#10;     &lt;Box style={{ flexDirection: 'row', alignItems: 'baseline', gap: 14 }}&gt;&#10;              &lt;Text style={{ fontSize: 28, fontWeight: 'bold', color: '#FA4F24' }}&gt;{it.n}&lt;/Text&gt;&#10;      &lt;Text style={{ fontSize: 19, fontWeight: 'bold', color: '#0F1423' }}&gt;{it.t}&lt;/Text&gt;&#10;  &lt;/Box&gt;&#10;      &lt;Text style={{ fontSize: 15, color: '#3A4050', lineHeight: 1.45, marginTop: 8 }}&gt;{it.d}&lt;/Text&gt;&#10;      &lt;Text style={{ fontSize: 13, color: '#C43A17', marginTop: 6 }}&gt;{it.tag}&lt;/Text&gt;&#10;     &lt;/Box&gt;&#10;   ))}&#10;            &lt;Box style={{ flex: 1, background: 'linear-gradient(160deg, #FA4F24 0%, #F87D2F 100%)', borderRadius: 4, padding: '18px 20px', flexDirection: 'column', justifyContent: 'center' }}&gt;&#10; &lt;Text style={{ fontSize: 17, fontWeight: 'bold', color: '#FFFFFF' }}&gt;全册一条主线&lt;/Text&gt;&#10;     &lt;Text style={{ fontSize: 15, color: 'rgba(255,255,255,0.92)', lineHeight: 1.5, marginTop: 8 }}&gt;&#10;    不在单点技术上押注，而在分层结构与接口标准上投资 —— 让技术换代不推翻业务&#10;           &lt;/Text&gt;&#10;          &lt;/Box&gt;&#10;        &lt;/Box&gt;&#10;    &lt;/Box&gt;&#10;&#10;    {/* C 区 */}&#10;    &lt;Box style={{ height: 60, flexDirection: 'row', alignItems: 'center', justifyContent: 'space-between' }}&gt;&#10;  &lt;Box style={{ flexDirection: 'row', alignItems: 'center', gap: 10 }}&gt;&#10;       &lt;Box style={{ width: 14, height: 14, background: '#FA4F24' }} /&gt;&#10;     &lt;Text style={{ fontSize: 14, color: '#8A8F99' }}&gt;硕磐机密 · TA技术架构咨询方法论&lt;/Text&gt;&#10;        &lt;/Box&gt;&#10;   &lt;Text style={{ fontSize: 14, color: '#8A8F99' }}&gt;0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七个部分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，把技术架构从分层骨架到演进路线逐一拆到可交付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从总论到组件、部署、非功能、标准、治理，每部分均含「方法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模板」三段式作业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609600" y="1400175"/>
            <a:ext cx="64770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800100" y="160972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409700" y="165735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技术架构总论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543300" y="1647825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分层骨架、架构确定性与技术生命周期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286500" y="169545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P04–07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2257425"/>
            <a:ext cx="64770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00100" y="24669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409700" y="252412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技术组件与技术栈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3543300" y="2505075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组件清单、版本策略与技术锁定风险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286500" y="255270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P08–11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3124200"/>
            <a:ext cx="64770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00100" y="333375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409700" y="338137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部署架构与环境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3543300" y="337185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环境分区、部署视图与资源基线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286500" y="341947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P12–15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09600" y="3981450"/>
            <a:ext cx="64770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00100" y="41910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409700" y="424815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非功能需求与容量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3543300" y="422910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性能、可用性、可扩展与成本的量化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286500" y="427672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P16–19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09600" y="4848225"/>
            <a:ext cx="6477000" cy="733425"/>
          </a:xfrm>
          <a:prstGeom prst="roundRect">
            <a:avLst>
              <a:gd name="adj" fmla="val 51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00100" y="50577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409700" y="510540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技术标准与演进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3543300" y="5095875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标准规范、架构决策记录与演进路线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286500" y="514350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P20–23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7277100" y="1400175"/>
            <a:ext cx="430530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467600" y="15811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934325" y="1581150"/>
            <a:ext cx="1266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技术治理与风险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467600" y="19812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三道技术门、风险台账与退役机制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467600" y="2295525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P24–27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7277100" y="2743200"/>
            <a:ext cx="4305300" cy="1228725"/>
          </a:xfrm>
          <a:prstGeom prst="roundRect">
            <a:avLst>
              <a:gd name="adj" fmla="val 31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467600" y="29241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934325" y="2924175"/>
            <a:ext cx="1085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确定性与避坑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467600" y="332422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把技术不确定性关进笼子，五个常见误区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467600" y="3638550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P28–29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7277100" y="4095750"/>
            <a:ext cx="4305300" cy="1485900"/>
          </a:xfrm>
          <a:prstGeom prst="roundRect">
            <a:avLst>
              <a:gd name="adj" fmla="val 256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467600" y="44481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全册一条主线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7467600" y="4724400"/>
            <a:ext cx="3924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不在单点技术上押注，而在分层结构与接口标准上投资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让技术换代不推翻业务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2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技术架构回答&lt;span style={{ color: '#FA4F24' }}&gt;「用什么支撑」&lt;/span&gt;，是四层架构的底座&#10;      &lt;/Text&gt;&#10;        &lt;Text style={{ fontSize: 20, color: '#8A8F99', marginTop: 8 }}&gt;&#10;     BA 定要做什么，DA 定数据怎么管，AA 定用什么系统承载，TA 定跑在什么之上&#10;  &lt;/Text&gt;&#10;    &lt;/Box&gt;&#10;    &lt;Box style={{ height: 1, background: '#E8E8E8' }} /&gt;&#10;&#10;    {/* B 区 */}&#10; &lt;Box style={{ paddingTop: 22, paddingBottom: 12, height: 479, flexDirection: 'row', gap: 20 }}&gt;&#10;        {/* 左 四层传导链 */}&#10;        &lt;Box style={{ width: 400, flexDirection: 'column', gap: 8 }}&gt;&#10;     &lt;Text style={{ fontSize: 20, fontWeight: 'bold', color: '#0F1423' }}&gt;四层架构的传导链&lt;/Text&gt;&#10;{[&#10;        { n: 'BA', t: '业务架构', d: '要做什么', c: '#0F1423', tc: '#FFFFFF' },&#10;      { n: 'DA', t: '数据架构', d: '数据怎么管', c: '#3A4050', tc: '#FFFFFF' },&#10;   { n: 'AA', t: '应用架构', d: '用什么系统承载', c: '#F8622F', tc: '#FFFFFF' },&#10;      { n: 'TA', t: '技术架构', d: '跑在什么之上', c: '#FA4F24', tc: '#FFFFFF' },&#10;      ].map((it, i) =&gt; (&#10;         &lt;Box key={i} style={{ flex: 1, background: it.c, borderRadius: 4, flexDirection: 'row', alignItems: 'center', padding: '0 16px', gap: 14 }}&gt;&#10;     &lt;Text style={{ fontSize: 20, fontWeight: 'bold', color: it.tc, width: 46 }}&gt;{it.n}&lt;/Text&gt;&#10;  &lt;Box style={{ flex: 1, flexDirection: 'column' }}&gt;&#10;   &lt;Text style={{ fontSize: 16, fontWeight: 'bold', color: it.tc }}&gt;{it.t}&lt;/Text&gt;&#10;          &lt;/Box&gt;&#10;        &lt;Text style={{ fontSize: 14, color: it.tc, opacity: 0.9 }}&gt;{it.d}&lt;/Text&gt;&#10;       &lt;/Box&gt;&#10;       ))}&#10;            &lt;Text style={{ fontSize: 13, color: '#3A4050', lineHeight: 1.55, marginTop: 4 }}&gt;&#10;            TA 承接 AA 的所有运行诉求。应用架构不管的事——跑在哪台机器、多大流量、&#10;        能不能撑住未来三年——都掉到 TA 这里。TA 说不清楚，AA 的组合就落不了地。&#10;   &lt;/Text&gt;&#10;        &lt;/Box&gt;&#10;&#10;     {/* 中 核心命题 */}&#10;        &lt;Box style={{ width: 380, flexDirection: 'column', gap: 8 }}&gt;&#10;   &lt;Text style={{ fontSize: 20, fontWeight: 'bold', color: '#0F1423' }}&gt;核心命题：架构确定性&lt;/Text&gt;&#10;        &lt;Box style={{ flex: 1, background: '#F7F7F8', borderRadius: 4, padding: '14px 16px', flexDirection: 'column', justifyContent: 'center' }}&gt;&#10;            &lt;Text style={{ fontSize: 15, fontWeight: 'bold', color: '#C43A17' }}&gt;技术会过时，架构可以长期稳定&lt;/Text&gt;&#10;         &lt;Text style={{ fontSize: 13, color: '#3A4050', lineHeight: 1.6, marginTop: 6 }}&gt;&#10;  数据库三年一换、消息队列两年一换、云厂商一年一换。如果应用直接绑在这些组件上，&#10;   每一次换代就是一次业务侧的返工。解法是加一层：把易变的组件藏在稳定的接口后面，&#10;     业务只依赖分层结构与接口标准，不依赖具体产品。&#10;       &lt;/Text&gt;&#10;         &lt;/Box&gt;&#10;      &lt;Box style={{ flex: 1, background: '#0F1423', borderRadius: 4, padding: '14px 16px', flexDirection: 'column', justifyContent: 'center' }}&gt;&#10;  &lt;Text style={{ fontSize: 15, fontWeight: 'bold', color: '#FBA15C' }}&gt;什么算「确定性」&lt;/Text&gt;&#10;      &lt;Text style={{ fontSize: 13, color: 'rgba(255,255,255,0.88)', lineHeight: 1.6, marginTop: 6 }}&gt;&#10;  换成另一个组件，业务代码改动量可控；有标准可依，新人不需要重新学一遍；&#10;      出了问题能定位到层，而不是全栈排查。&#10;        &lt;/Text&gt;&#10;      &lt;/Box&gt;&#10;    &lt;Box style={{ flex: 1, background: 'linear-gradient(160deg, #FA4F24 0%, #F87D2F 100%)', borderRadius: 4, padding: '0 16px', flexDirection: 'column', justifyContent: 'center' }}&gt;&#10;   &lt;Text style={{ fontSize: 14, fontWeight: 'bold', color: '#FFFFFF' }}&gt;一句话说清 TA 的价值&lt;/Text&gt;&#10;     &lt;Text style={{ fontSize: 12, color: 'rgba(255,255,255,0.95)', lineHeight: 1.45, marginTop: 4 }}&gt;&#10;   别的架构决定「做什么」，TA 决定「这件事要做多少次才划算」。&#10;     &lt;/Text&gt;&#10;   &lt;/Box&gt;&#10;        &lt;/Box&gt;&#10;&#10;      {/* 右 三条原则 */}&#10;     &lt;Box style={{ flex: 1, flexDirection: 'column', gap: 8 }}&gt;&#10;  &lt;Text style={{ fontSize: 20, fontWeight: 'bold', color: '#0F1423' }}&gt;三条原则&lt;/Text&gt;&#10;     {[&#10;      { n: '01', t: '分层优先于选型', d: '先把层划清楚，再决定每层用什么。层没划清就选产品，返工概率极高' },&#10;     { n: '02', t: '标准优先于实现', d: '接口、编码、部署、监控四条标准，是资产；具体产品是耗材' },&#10;   { n: '03', t: '可替换性是硬指标', d: '关键组件必须有两家可替换来源，否则它就不是供应商，是绑架' },&#10;        ].map((it, i) =&gt; (&#10;     &lt;Box key={i} style={{ flex: 1, background: '#F7F7F8', borderRadius: 4, padding: '0 16px', flexDirection: 'row', alignItems: 'center', gap: 14, borderLeft: '4px solid #FA4F24' }}&gt;&#10;     &lt;Text style={{ fontSize: 20, fontWeight: 'bold', color: '#FA4F24', width: 32 }}&gt;{it.n}&lt;/Text&gt;&#10;      &lt;Box style={{ flex: 1, flexDirection: 'column' }}&gt;&#10;        &lt;Text style={{ fontSize: 17, fontWeight: 'bold', color: '#0F1423' }}&gt;{it.t}&lt;/Text&gt;&#10;   &lt;Text style={{ fontSize: 13, color: '#3A4050', lineHeight: 1.45, marginTop: 2 }}&gt;{it.d}&lt;/Text&gt;&#10; &lt;/Box&gt;&#10;    &lt;/Box&gt;&#10;     ))}&#10;   &lt;Box style={{ height: 66, background: '#FFF3EE', borderRadius: 4, padding: '0 16px', flexDirection: 'row', alignItems: 'center', gap: 12 }}&gt;&#10;   &lt;Text style={{ fontSize: 14, fontWeight: 'bold', color: '#C43A17', width: 84 }}&gt;★ 常见误解&lt;/Text&gt;&#10;    &lt;Text style={{ fontSize: 13, color: '#3A2000', flex: 1, lineHeight: 1.45 }}&gt;&#10;   把技术架构等同于「服务器选型与机房建设」。那只是资源管理，恰恰是 TA 里最不重要的部分。&#10;        &lt;/Text&gt;&#10;    &lt;/Box&gt;&#10;     &lt;/Box&gt;&#10;    &lt;/Box&gt;&#10;&#10;    {/* C 区 */}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TA技术架构咨询方法论&lt;/Text&gt;&#10;      &lt;Text style={{ fontSize: 13, color: '#8A8F99', marginLeft: 'auto' }}&gt;0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技术架构回答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「用什么支撑」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，是四层架构的底座</a:t>
            </a:r>
            <a:endParaRPr/>
          </a:p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定要做什么，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定数据怎么管，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定用什么系统承载，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定跑在什么之上</a:t>
            </a:r>
            <a:endParaRPr/>
          </a:p>
        </p:txBody>
      </p:sp>
      <p:sp>
        <p:nvSpPr>
          <p:cNvPr id="112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四层架构的传导链</a:t>
            </a:r>
            <a:endParaRPr/>
          </a:p>
        </p:txBody>
      </p:sp>
      <p:sp>
        <p:nvSpPr>
          <p:cNvPr id="1127" name=""/>
          <p:cNvSpPr/>
          <p:nvPr/>
        </p:nvSpPr>
        <p:spPr>
          <a:xfrm rot="0" flipH="0" flipV="0">
            <a:off x="609600" y="1666875"/>
            <a:ext cx="3810000" cy="723900"/>
          </a:xfrm>
          <a:prstGeom prst="roundRect">
            <a:avLst>
              <a:gd name="adj" fmla="val 52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762000" y="19145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1333500" y="1933575"/>
            <a:ext cx="2266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1130" name=""/>
          <p:cNvSpPr/>
          <p:nvPr/>
        </p:nvSpPr>
        <p:spPr>
          <a:xfrm rot="0" flipH="0" flipV="0">
            <a:off x="609600" y="2466975"/>
            <a:ext cx="3810000" cy="723900"/>
          </a:xfrm>
          <a:prstGeom prst="roundRect">
            <a:avLst>
              <a:gd name="adj" fmla="val 5263"/>
            </a:avLst>
          </a:prstGeom>
          <a:solidFill>
            <a:srgbClr val="3A4050"/>
          </a:solidFill>
          <a:ln/>
        </p:spPr>
        <p:txBody>
          <a:bodyPr/>
          <a:p/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762000" y="27146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1333500" y="27336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609600" y="3267075"/>
            <a:ext cx="3810000" cy="723900"/>
          </a:xfrm>
          <a:prstGeom prst="roundRect">
            <a:avLst>
              <a:gd name="adj" fmla="val 5263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762000" y="35147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1333500" y="3533775"/>
            <a:ext cx="186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136" name=""/>
          <p:cNvSpPr/>
          <p:nvPr/>
        </p:nvSpPr>
        <p:spPr>
          <a:xfrm rot="0" flipH="0" flipV="0">
            <a:off x="609600" y="4067175"/>
            <a:ext cx="3810000" cy="723900"/>
          </a:xfrm>
          <a:prstGeom prst="roundRect">
            <a:avLst>
              <a:gd name="adj" fmla="val 526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762000" y="43148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1333500" y="43338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609600" y="4905375"/>
            <a:ext cx="3810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承接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的所有运行诉求。应用架构不管的事——跑在哪台机器、多大流量、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能不能撑住未来三年——都掉到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TA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这里。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说不清楚，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的组合就落不了地。</a:t>
            </a:r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4610100" y="136207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核心命题：架构确定性</a:t>
            </a:r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4610100" y="1666875"/>
            <a:ext cx="3619500" cy="1619250"/>
          </a:xfrm>
          <a:prstGeom prst="roundRect">
            <a:avLst>
              <a:gd name="adj" fmla="val 235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4762500" y="188595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技术会过时，架构可以长期稳定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4762500" y="2114550"/>
            <a:ext cx="33147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数据库三年一换、消息队列两年一换、云厂商一年一换。如果应用直接绑在这些组件上，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每一次换代就是一次业务侧的返工。解法是加一层：把易变的组件藏在稳定的接口后面，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业务只依赖分层结构与接口标准，不依赖具体产品。</a:t>
            </a:r>
            <a:endParaRPr/>
          </a:p>
        </p:txBody>
      </p:sp>
      <p:sp>
        <p:nvSpPr>
          <p:cNvPr id="1144" name=""/>
          <p:cNvSpPr/>
          <p:nvPr/>
        </p:nvSpPr>
        <p:spPr>
          <a:xfrm rot="0" flipH="0" flipV="0">
            <a:off x="4610100" y="3362325"/>
            <a:ext cx="3619500" cy="1390650"/>
          </a:xfrm>
          <a:prstGeom prst="roundRect">
            <a:avLst>
              <a:gd name="adj" fmla="val 274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4762500" y="359092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什么算「确定性」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4762500" y="3819525"/>
            <a:ext cx="33147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换成另一个组件，业务代码改动量可控；有标准可依，新人不需要重新学一遍；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出了问题能定位到层，而不是全栈排查。</a:t>
            </a:r>
            <a:endParaRPr/>
          </a:p>
        </p:txBody>
      </p:sp>
      <p:sp>
        <p:nvSpPr>
          <p:cNvPr id="1147" name=""/>
          <p:cNvSpPr/>
          <p:nvPr/>
        </p:nvSpPr>
        <p:spPr>
          <a:xfrm rot="0" flipH="0" flipV="0">
            <a:off x="4610100" y="4829175"/>
            <a:ext cx="3619500" cy="771525"/>
          </a:xfrm>
          <a:prstGeom prst="roundRect">
            <a:avLst>
              <a:gd name="adj" fmla="val 4938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4762500" y="4914900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一句话说清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TA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的价值</a:t>
            </a:r>
            <a:endParaRPr/>
          </a:p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4762500" y="5114925"/>
            <a:ext cx="3314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别的架构决定「做什么」，</a:t>
            </a:r>
            <a:r>
              <a:rPr lang="en-US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决定「这件事要做多少次才划算」。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8420100" y="1362075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三条原则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8458200" y="1666875"/>
            <a:ext cx="3162300" cy="1028700"/>
          </a:xfrm>
          <a:prstGeom prst="roundRect">
            <a:avLst>
              <a:gd name="adj" fmla="val 370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52" name=""/>
          <p:cNvSpPr/>
          <p:nvPr/>
        </p:nvSpPr>
        <p:spPr>
          <a:xfrm rot="0" flipH="0" flipV="0">
            <a:off x="8458200" y="1666875"/>
            <a:ext cx="3162300" cy="1028700"/>
          </a:xfrm>
          <a:custGeom>
            <a:pathLst>
              <a:path w="332" h="108">
                <a:moveTo>
                  <a:pt x="4" y="108"/>
                </a:moveTo>
                <a:cubicBezTo>
                  <a:pt x="2" y="108"/>
                  <a:pt x="0" y="106"/>
                  <a:pt x="0" y="10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8610600" y="206692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9048750" y="18573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分层优先于选型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9048750" y="2076450"/>
            <a:ext cx="238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先把层划清楚，再决定每层用什么。层没划清就选产品，返工概率极高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8458200" y="2771775"/>
            <a:ext cx="3162300" cy="1019175"/>
          </a:xfrm>
          <a:prstGeom prst="roundRect">
            <a:avLst>
              <a:gd name="adj" fmla="val 37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57" name=""/>
          <p:cNvSpPr/>
          <p:nvPr/>
        </p:nvSpPr>
        <p:spPr>
          <a:xfrm rot="0" flipH="0" flipV="0">
            <a:off x="8458200" y="2771775"/>
            <a:ext cx="3162300" cy="1019175"/>
          </a:xfrm>
          <a:custGeom>
            <a:pathLst>
              <a:path w="332" h="107">
                <a:moveTo>
                  <a:pt x="4" y="107"/>
                </a:moveTo>
                <a:cubicBezTo>
                  <a:pt x="2" y="107"/>
                  <a:pt x="0" y="105"/>
                  <a:pt x="0" y="10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8610600" y="317182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9048750" y="295275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标准优先于实现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9048750" y="3171825"/>
            <a:ext cx="238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接口、编码、部署、监控四条标准，是资产；具体产品是耗材</a:t>
            </a:r>
            <a:endParaRPr/>
          </a:p>
        </p:txBody>
      </p:sp>
      <p:sp>
        <p:nvSpPr>
          <p:cNvPr id="1161" name=""/>
          <p:cNvSpPr/>
          <p:nvPr/>
        </p:nvSpPr>
        <p:spPr>
          <a:xfrm rot="0" flipH="0" flipV="0">
            <a:off x="8458200" y="3867150"/>
            <a:ext cx="3162300" cy="1028700"/>
          </a:xfrm>
          <a:prstGeom prst="roundRect">
            <a:avLst>
              <a:gd name="adj" fmla="val 370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2" name=""/>
          <p:cNvSpPr/>
          <p:nvPr/>
        </p:nvSpPr>
        <p:spPr>
          <a:xfrm rot="0" flipH="0" flipV="0">
            <a:off x="8458200" y="3867150"/>
            <a:ext cx="3162300" cy="1028700"/>
          </a:xfrm>
          <a:custGeom>
            <a:pathLst>
              <a:path w="332" h="108">
                <a:moveTo>
                  <a:pt x="4" y="108"/>
                </a:moveTo>
                <a:cubicBezTo>
                  <a:pt x="2" y="108"/>
                  <a:pt x="0" y="106"/>
                  <a:pt x="0" y="10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8610600" y="426720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9048750" y="4057650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可替换性是硬指标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9048750" y="4276725"/>
            <a:ext cx="238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关键组件必须有两家可替换来源，否则它就不是供应商，是绑架</a:t>
            </a:r>
            <a:endParaRPr/>
          </a:p>
        </p:txBody>
      </p:sp>
      <p:sp>
        <p:nvSpPr>
          <p:cNvPr id="1166" name=""/>
          <p:cNvSpPr/>
          <p:nvPr/>
        </p:nvSpPr>
        <p:spPr>
          <a:xfrm rot="0" flipH="0" flipV="0">
            <a:off x="8420100" y="4972050"/>
            <a:ext cx="3162300" cy="628650"/>
          </a:xfrm>
          <a:prstGeom prst="roundRect">
            <a:avLst>
              <a:gd name="adj" fmla="val 606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8572500" y="52101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常见误解</a:t>
            </a:r>
            <a:endParaRPr/>
          </a:p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9486900" y="4962525"/>
            <a:ext cx="19431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把技术架构等同于「服务器选型与机房建设」。那只是资源管理，恰恰是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TA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里最不重要的部分。</a:t>
            </a:r>
            <a:endParaRPr/>
          </a:p>
        </p:txBody>
      </p:sp>
      <p:sp>
        <p:nvSpPr>
          <p:cNvPr id="116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7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3733800" y="19526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要做什么</a:t>
            </a:r>
            <a:endParaRPr/>
          </a:p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3600450" y="27527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数据怎么管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3333750" y="35528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用什么系统承载</a:t>
            </a:r>
            <a:endParaRPr/>
          </a:p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3467100" y="43529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跑在什么之上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196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&lt;Text style={{ fontSize: 300, fontWeight: 'bold', color: 'rgba(255,255,255,0.08)', lineHeight: 1.0 }}&gt;01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1&lt;/Text&gt;&#13;&#10;  &lt;Box style={{ width: 72, height: 5, background: '#FA4F24', marginTop: 22 }} /&gt;&#13;&#10;        &lt;Text style={{ fontSize: 58, fontWeight: 'bold', color: '#FFFFFF', marginTop: 28, lineHeight: 1.15 }}&gt;技术架构总论&lt;/Text&gt;&#13;&#10;    &lt;Text style={{ fontSize: 17, color: 'rgba(255,255,255,0.62)', letterSpacing: 2, marginTop: 20 }}&gt;TECHNOLOGY ARCHITECTURE OVERVIEW&lt;/Text&gt;&#13;&#10;        &lt;Text style={{ fontSize: 19, color: 'rgba(255,255,255,0.85)', marginTop: 26, lineHeight: 1.6 }}&gt;分层骨架、架构确定性与技术生命周期&lt;/Text&gt;&#13;&#10;    &lt;/Box&gt;&#13;&#10;&#13;&#10;    {/* 右下页码 */}&#13;&#10;    &lt;Box style={{ position: 'absolute', right: 88, bottom: 64, flexDirection: 'row', alignItems: 'center', gap: 12 }}&gt;&#13;&#10;        &lt;Box style={{ width: 14, height: 14, background: '#FA4F24' }} /&gt;&#13;&#10;        &lt;Text style={{ fontSize: 14, color: 'rgba(255,255,255,0.5)' }}&gt;硕磐机密 · TA技术架构咨询方法论&lt;/Text&gt;&#13;&#10;        &lt;Text style={{ fontSize: 14, color: 'rgba(255,255,255,0.5)', marginLeft: 12 }}&gt;04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99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202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技术架构总论</a:t>
            </a:r>
            <a:endParaRPr/>
          </a:p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TECHNOLOGY ARCHITECTURE OVERVIEW</a:t>
            </a:r>
            <a:endParaRPr/>
          </a:p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分层骨架、架构确定性与技术生命周期</a:t>
            </a:r>
            <a:endParaRPr/>
          </a:p>
        </p:txBody>
      </p:sp>
      <p:sp>
        <p:nvSpPr>
          <p:cNvPr id="1206" name=""/>
          <p:cNvSpPr/>
          <p:nvPr/>
        </p:nvSpPr>
        <p:spPr>
          <a:xfrm rot="0" flipH="0" flipV="0">
            <a:off x="841057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8658225" y="6086475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09" name="" descr="&lt;Slide style={{ width: 1280, height: 720, background: '#FFFFFF', padding: '24px 64px 0' }}&gt;&#10;    {/* A 区 */}&#10;    &lt;Box style={{ height: 96, flexDirection: 'column', justifyContent: 'flex-start' }}&gt;&#10;     &lt;Text style={{ fontSize: 32, fontWeight: 'bold', color: '#0F1423' }}&gt;&#10; 之方法：&lt;span style={{ color: '#FA4F24' }}&gt;技术架构五层骨架&lt;/span&gt;，先把层划清再谈选型&#10;      &lt;/Text&gt;&#10;        &lt;Text style={{ fontSize: 20, color: '#8A8F99', marginTop: 8 }}&gt;&#10;   自下而上：基础设施 → 资源平台 → 中间件 → 技术服务 → 应用运行环境&#10;        &lt;/Text&gt;&#10;    &lt;/Box&gt;&#10;    &lt;Box style={{ height: 1, background: '#E8E8E8' }} /&gt;&#10;&#10;    {/* B 区 */}&#10;    &lt;Box style={{ paddingTop: 22, paddingBottom: 12, height: 479, flexDirection: 'row', gap: 20 }}&gt;&#10;        {/* 左 五层 */}&#10;   &lt;Box style={{ width: 560, flexDirection: 'column', gap: 7 }}&gt;&#10;    &lt;Text style={{ fontSize: 20, fontWeight: 'bold', color: '#0F1423' }}&gt;五层骨架与各层关注点&lt;/Text&gt;&#10; {[&#10;    { n: 'L5', t: '应用运行环境', d: '应用跑在哪：容器 / 虚机 / 混合。关注隔离与弹性', c: '#0F1423', tc: '#FFFFFF' },&#10;    { n: 'L4', t: '技术服务层', d: '对应用提供统一能力：网关、消息、缓存、任务调度', c: '#2A2F3D', tc: '#FFFFFF' },&#10;    { n: 'L3', t: '中间件层', d: '数据库、注册中心、配置中心、搜索。选型风险最高的一层', c: '#5A6072', tc: '#FFFFFF' },&#10;      { n: 'L2', t: '资源平台层', d: '计算、存储、网络以资源池形式供给，取代按台采购', c: '#8A8F99', tc: '#FFFFFF' },&#10;     { n: 'L1', t: '基础设施层', d: '机房、网络、电力、硬件。生命周期最长，变更最慢', c: '#C9CCD4', tc: '#3A4050' },&#10;    ].map((it, i) =&gt; (&#10;      &lt;Box key={i} style={{ flex: 1, background: it.c, borderRadius: 4, flexDirection: 'row', alignItems: 'center', padding: '0 16px', gap: 14 }}&gt;&#10;      &lt;Text style={{ fontSize: 17, fontWeight: 'bold', color: it.tc, width: 34 }}&gt;{it.n}&lt;/Text&gt;&#10;     &lt;Text style={{ fontSize: 16, fontWeight: 'bold', color: it.tc, width: 138 }}&gt;{it.t}&lt;/Text&gt;&#10;  &lt;Text style={{ fontSize: 13, color: it.tc, opacity: 0.92, flex: 1, lineHeight: 1.4 }}&gt;{it.d}&lt;/Text&gt;&#10;   {i &lt; 4 &amp;&amp; &lt;Text style={{ fontSize: 14, color: it.tc, opacity: 0.6 }}&gt;↓&lt;/Text&gt;}&#10;     &lt;/Box&gt;&#10;   ))}&#10;      &lt;Box style={{ height: 56, background: '#F7F7F8', borderRadius: 4, padding: '0 16px', flexDirection: 'row', alignItems: 'center', gap: 12, borderLeft: '4px solid #FA4F24' }}&gt;&#10;   &lt;Text style={{ fontSize: 13, fontWeight: 'bold', color: '#C43A17', width: 96 }}&gt;★ 分层的意义&lt;/Text&gt;&#10;     &lt;Text style={{ fontSize: 13, color: '#3A4050', flex: 1, lineHeight: 1.45 }}&gt;&#10; 层与层之间只能通过约定好的接口交互。一旦某层内部的组件换了，上面各层不受影响——这就是确定性的物理基础。&#10;  &lt;/Text&gt;&#10;     &lt;/Box&gt;&#10;        &lt;/Box&gt;&#10;&#10;  {/* 右 划层三问 + 反例 */}&#10;        &lt;Box style={{ flex: 1, flexDirection: 'column', gap: 8 }}&gt;&#10;            &lt;Text style={{ fontSize: 20, fontWeight: 'bold', color: '#0F1423' }}&gt;划层三问&lt;/Text&gt;&#10;       {[&#10;    { q: '这层会不会自己变？', d: '会变得快 → 放上面（L5/L4）；变得慢 → 放下面（L1/L2）' },&#10;    { q: '上层需不需要知道它的实现？', d: '需要 → 说明没划好，接口漏了' },&#10;     { q: '出问题能定位到层吗？', d: '不能 → 层边界是虚的，只是画了个框' },&#10;      ].map((it, i) =&gt; (&#10;      &lt;Box key={i} style={{ flex: 1, background: '#F7F7F8', borderRadius: 4, padding: '0 16px', flexDirection: 'column', justifyContent: 'center', borderLeft: '4px solid #FA4F24' }}&gt;&#10;      &lt;Text style={{ fontSize: 16, fontWeight: 'bold', color: '#0F1423' }}&gt;{it.q}&lt;/Text&gt;&#10;     &lt;Text style={{ fontSize: 13, color: '#3A4050', lineHeight: 1.45, marginTop: 3 }}&gt;{it.d}&lt;/Text&gt;&#10;     &lt;/Box&gt;&#10;       ))}&#10;            &lt;Text style={{ fontSize: 20, fontWeight: 'bold', color: '#0F1423', marginTop: 6 }}&gt;两个真实反例&lt;/Text&gt;&#10;       {[&#10;      { t: '把中间件拆进应用层', d: '每个应用自带数据库组件，最后没人说得清用的是哪个版本' },&#10;     { t: '把平台层做成一张网', d: '网络自成体系、没有服务化接口，扩容只能整块加机器' },&#10;      ].map((it, i) =&gt; (&#10;      &lt;Box key={i} style={{ flex: 1, background: '#FFF3EE', borderRadius: 4, padding: '0 16px', flexDirection: 'column', justifyContent: 'center', borderLeft: '4px solid #FBA15C' }}&gt;&#10;     &lt;Text style={{ fontSize: 15, fontWeight: 'bold', color: '#C43A17' }}&gt;{it.t}&lt;/Text&gt;&#10;     &lt;Text style={{ fontSize: 13, color: '#3A2000', lineHeight: 1.45, marginTop: 3 }}&gt;{it.d}&lt;/Text&gt;&#10;      &lt;/Box&gt;&#10;   ))}&#10;    &lt;/Box&gt;&#10;    &lt;/Box&gt;&#10;&#10;    {/* C 区 */}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TA技术架构咨询方法论&lt;/Text&gt;&#10;   &lt;Text style={{ fontSize: 13, color: '#8A8F99', marginLeft: 'auto' }}&gt;0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技术架构五层骨架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，先把层划清再谈选型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自下而上：基础设施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资源平台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中间件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技术服务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应用运行环境</a:t>
            </a:r>
            <a:endParaRPr/>
          </a:p>
        </p:txBody>
      </p:sp>
      <p:sp>
        <p:nvSpPr>
          <p:cNvPr id="121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五层骨架与各层关注点</a:t>
            </a:r>
            <a:endParaRPr/>
          </a:p>
        </p:txBody>
      </p:sp>
      <p:sp>
        <p:nvSpPr>
          <p:cNvPr id="1215" name=""/>
          <p:cNvSpPr/>
          <p:nvPr/>
        </p:nvSpPr>
        <p:spPr>
          <a:xfrm rot="0" flipH="0" flipV="0">
            <a:off x="609600" y="1657350"/>
            <a:ext cx="5334000" cy="57150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762000" y="18478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1219200" y="1847850"/>
            <a:ext cx="131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应用运行环境</a:t>
            </a:r>
            <a:endParaRPr/>
          </a:p>
        </p:txBody>
      </p:sp>
      <p:sp>
        <p:nvSpPr>
          <p:cNvPr id="1218" name=""/>
          <p:cNvSpPr/>
          <p:nvPr/>
        </p:nvSpPr>
        <p:spPr>
          <a:xfrm rot="0" flipH="0" flipV="0">
            <a:off x="609600" y="2295525"/>
            <a:ext cx="5334000" cy="571500"/>
          </a:xfrm>
          <a:prstGeom prst="roundRect">
            <a:avLst>
              <a:gd name="adj" fmla="val 6667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762000" y="24860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1219200" y="2486025"/>
            <a:ext cx="131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技术服务层</a:t>
            </a:r>
            <a:endParaRPr/>
          </a:p>
        </p:txBody>
      </p:sp>
      <p:sp>
        <p:nvSpPr>
          <p:cNvPr id="1221" name=""/>
          <p:cNvSpPr/>
          <p:nvPr/>
        </p:nvSpPr>
        <p:spPr>
          <a:xfrm rot="0" flipH="0" flipV="0">
            <a:off x="609600" y="2933700"/>
            <a:ext cx="5334000" cy="790575"/>
          </a:xfrm>
          <a:prstGeom prst="roundRect">
            <a:avLst>
              <a:gd name="adj" fmla="val 4819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762000" y="32289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1219200" y="3238500"/>
            <a:ext cx="131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中间件层</a:t>
            </a:r>
            <a:endParaRPr/>
          </a:p>
        </p:txBody>
      </p:sp>
      <p:sp>
        <p:nvSpPr>
          <p:cNvPr id="1224" name=""/>
          <p:cNvSpPr/>
          <p:nvPr/>
        </p:nvSpPr>
        <p:spPr>
          <a:xfrm rot="0" flipH="0" flipV="0">
            <a:off x="609600" y="3790950"/>
            <a:ext cx="5334000" cy="571500"/>
          </a:xfrm>
          <a:prstGeom prst="roundRect">
            <a:avLst>
              <a:gd name="adj" fmla="val 6667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762000" y="39814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1219200" y="3981450"/>
            <a:ext cx="131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资源平台层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609600" y="4429125"/>
            <a:ext cx="5334000" cy="571500"/>
          </a:xfrm>
          <a:prstGeom prst="roundRect">
            <a:avLst>
              <a:gd name="adj" fmla="val 6667"/>
            </a:avLst>
          </a:prstGeom>
          <a:solidFill>
            <a:srgbClr val="C9CCD4"/>
          </a:solidFill>
          <a:ln/>
        </p:spPr>
        <p:txBody>
          <a:bodyPr/>
          <a:p/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762000" y="46196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4050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1219200" y="4619625"/>
            <a:ext cx="131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A4050"/>
                </a:solidFill>
                <a:latin typeface="Microsoft YaHei"/>
                <a:ea typeface="Microsoft YaHei"/>
              </a:rPr>
              <a:t>基础设施层</a:t>
            </a:r>
            <a:endParaRPr/>
          </a:p>
        </p:txBody>
      </p:sp>
      <p:sp>
        <p:nvSpPr>
          <p:cNvPr id="1230" name=""/>
          <p:cNvSpPr/>
          <p:nvPr/>
        </p:nvSpPr>
        <p:spPr>
          <a:xfrm rot="0" flipH="0" flipV="0">
            <a:off x="647700" y="5067300"/>
            <a:ext cx="533400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1" name=""/>
          <p:cNvSpPr/>
          <p:nvPr/>
        </p:nvSpPr>
        <p:spPr>
          <a:xfrm rot="0" flipH="0" flipV="0">
            <a:off x="647700" y="5067300"/>
            <a:ext cx="5334000" cy="533400"/>
          </a:xfrm>
          <a:custGeom>
            <a:pathLst>
              <a:path w="560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800100" y="52578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分层的意义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1828800" y="5114925"/>
            <a:ext cx="39624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层与层之间只能通过约定好的接口交互。一旦某层内部的组件换了，上面各层不受影响——这就是确定性的物理基础。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6134100" y="13620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划层三问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6172200" y="1666875"/>
            <a:ext cx="54483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6" name=""/>
          <p:cNvSpPr/>
          <p:nvPr/>
        </p:nvSpPr>
        <p:spPr>
          <a:xfrm rot="0" flipH="0" flipV="0">
            <a:off x="6172200" y="1666875"/>
            <a:ext cx="5448300" cy="657225"/>
          </a:xfrm>
          <a:custGeom>
            <a:pathLst>
              <a:path w="572" h="69">
                <a:moveTo>
                  <a:pt x="4" y="69"/>
                </a:moveTo>
                <a:cubicBezTo>
                  <a:pt x="2" y="69"/>
                  <a:pt x="0" y="67"/>
                  <a:pt x="0" y="6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6324600" y="1781175"/>
            <a:ext cx="510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这层会不会自己变？</a:t>
            </a:r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6324600" y="2000250"/>
            <a:ext cx="5105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会变得快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放上面（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L5/L4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）；变得慢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放下面（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L1/L2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39" name=""/>
          <p:cNvSpPr/>
          <p:nvPr/>
        </p:nvSpPr>
        <p:spPr>
          <a:xfrm rot="0" flipH="0" flipV="0">
            <a:off x="6172200" y="2400300"/>
            <a:ext cx="5448300" cy="66675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0" name=""/>
          <p:cNvSpPr/>
          <p:nvPr/>
        </p:nvSpPr>
        <p:spPr>
          <a:xfrm rot="0" flipH="0" flipV="0">
            <a:off x="6172200" y="2400300"/>
            <a:ext cx="5448300" cy="666750"/>
          </a:xfrm>
          <a:custGeom>
            <a:pathLst>
              <a:path w="572" h="70">
                <a:moveTo>
                  <a:pt x="4" y="70"/>
                </a:move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6324600" y="2514600"/>
            <a:ext cx="510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上层需不需要知道它的实现？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6324600" y="2733675"/>
            <a:ext cx="5105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需要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说明没划好，接口漏了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6172200" y="3143250"/>
            <a:ext cx="54483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4" name=""/>
          <p:cNvSpPr/>
          <p:nvPr/>
        </p:nvSpPr>
        <p:spPr>
          <a:xfrm rot="0" flipH="0" flipV="0">
            <a:off x="6172200" y="3143250"/>
            <a:ext cx="5448300" cy="657225"/>
          </a:xfrm>
          <a:custGeom>
            <a:pathLst>
              <a:path w="572" h="69">
                <a:moveTo>
                  <a:pt x="4" y="69"/>
                </a:moveTo>
                <a:cubicBezTo>
                  <a:pt x="2" y="69"/>
                  <a:pt x="0" y="67"/>
                  <a:pt x="0" y="6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6324600" y="3257550"/>
            <a:ext cx="510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出问题能定位到层吗？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6324600" y="3476625"/>
            <a:ext cx="5105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不能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层边界是虚的，只是画了个框</a:t>
            </a:r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6134100" y="393382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两个真实反例</a:t>
            </a:r>
            <a:endParaRPr/>
          </a:p>
        </p:txBody>
      </p:sp>
      <p:sp>
        <p:nvSpPr>
          <p:cNvPr id="1248" name=""/>
          <p:cNvSpPr/>
          <p:nvPr/>
        </p:nvSpPr>
        <p:spPr>
          <a:xfrm rot="0" flipH="0" flipV="0">
            <a:off x="6172200" y="4238625"/>
            <a:ext cx="5448300" cy="647700"/>
          </a:xfrm>
          <a:prstGeom prst="roundRect">
            <a:avLst>
              <a:gd name="adj" fmla="val 58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49" name=""/>
          <p:cNvSpPr/>
          <p:nvPr/>
        </p:nvSpPr>
        <p:spPr>
          <a:xfrm rot="0" flipH="0" flipV="0">
            <a:off x="6172200" y="4238625"/>
            <a:ext cx="5448300" cy="647700"/>
          </a:xfrm>
          <a:custGeom>
            <a:pathLst>
              <a:path w="572" h="68">
                <a:moveTo>
                  <a:pt x="4" y="68"/>
                </a:move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6324600" y="4352925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把中间件拆进应用层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6324600" y="4552950"/>
            <a:ext cx="5105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每个应用自带数据库组件，最后没人说得清用的是哪个版本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6172200" y="4962525"/>
            <a:ext cx="5448300" cy="638175"/>
          </a:xfrm>
          <a:prstGeom prst="roundRect">
            <a:avLst>
              <a:gd name="adj" fmla="val 597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53" name=""/>
          <p:cNvSpPr/>
          <p:nvPr/>
        </p:nvSpPr>
        <p:spPr>
          <a:xfrm rot="0" flipH="0" flipV="0">
            <a:off x="6172200" y="4962525"/>
            <a:ext cx="5448300" cy="638175"/>
          </a:xfrm>
          <a:custGeom>
            <a:pathLst>
              <a:path w="572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6324600" y="5076825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把平台层做成一张网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6324600" y="5276850"/>
            <a:ext cx="5105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网络自成体系、没有服务化接口，扩容只能整块加机器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2667000" y="1838325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应用跑在哪：容器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虚机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混合。关注隔离与弹性</a:t>
            </a:r>
            <a:endParaRPr/>
          </a:p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5724525" y="186690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2667000" y="2476500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对应用提供统一能力：网关、消息、缓存、任务调度</a:t>
            </a:r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5724525" y="250507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2667000" y="3124200"/>
            <a:ext cx="29241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数据库、注册中心、配置中心、搜索。选型风险最高的一层</a:t>
            </a:r>
            <a:endParaRPr/>
          </a:p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5724525" y="32480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2667000" y="3971925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计算、存储、网络以资源池形式供给，取代按台采购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5724525" y="400050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2667000" y="461010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>
                    <a:alpha val="92000"/>
                  </a:srgbClr>
                </a:solidFill>
                <a:latin typeface="Microsoft YaHei"/>
                <a:ea typeface="Microsoft YaHei"/>
              </a:rPr>
              <a:t>机房、网络、电力、硬件。生命周期最长，变更最慢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269" name="" descr="&lt;Slide style={{ width: 1280, height: 720, background: '#FFFFFF', padding: '24px 64px 0' }}&gt;&#10;    {/* A 区 */}&#10;    &lt;Box style={{ height: 96, flexDirection: 'column', justifyContent: 'flex-start' }}&gt;&#10;   &lt;Text style={{ fontSize: 32, fontWeight: 'bold', color: '#0F1423' }}&gt;&#10;   之内容：&lt;span style={{ color: '#FA4F24' }}&gt;四个视图的架构表达体系&lt;/span&gt;，一份技术架构画四遍&#10;    &lt;/Text&gt;&#10;    &lt;Text style={{ fontSize: 20, color: '#8A8F99', marginTop: 8 }}&gt;&#10;      组件视图 · 部署视图 · 数据视图 · 运维视图，各回答一个不能互相替代的问题&#10;    &lt;/Text&gt;&#10;    &lt;/Box&gt;&#10;    &lt;Box style={{ height: 1, background: '#E8E8E8' }} /&gt;&#10;&#10;    {/* B 区 */}&#10;    &lt;Box style={{ paddingTop: 24, paddingBottom: 14, height: 479, flexDirection: 'column', gap: 10 }}&gt;&#10;      {[&#10;    { v: '①', t: '组件视图', q: '有哪些技术组件，谁提供、谁依赖',&#10;         d: '回答「用什么」。产出技术组件清单与依赖矩阵，是整个 TA 的地基',&#10;         pts: ['组件要标版本、标来源、标锁定风险', '公共组件必须列全，否则各团队会各自造一套'], c: '#0F1423' },&#10;      { v: '②', t: '部署视图', q: '跑在哪里，怎么分环境、怎么跨可用区',&#10;     d: '回答「放哪」。产出环境拓扑与资源基线，是故障切换的依据',&#10;         pts: ['区分环境：开发 / 测试 / 预发 / 生产，配置必须隔离', '生产至少双可用区，重要系统同城双活'], c: '#FA4F24' },&#10;        { v: '③', t: '数据视图', q: '技术层的数据流向与存储分布',&#10;       d: '回答「怎么存、怎么流」。与 DA 的资产目录对齐，产出存储分层与备份策略',&#10;         pts: ['冷热分层要在这一层定，落地才有人执行', '备份不是「拷了一份」，要有恢复演练时间'], c: '#F8622F' },&#10;        { v: '④', t: '运维视图', q: '怎么监控、怎么告警、怎么定位',&#10;         d: '回答「怎么管」。产出可观测性方案，是可用性的真实保障',&#10;    pts: ['四个信号：日志、指标、链路、事件，缺一个定位就会瞎', '告警要能对应到责任人，否则只是噪声'], c: '#FBA15C' },&#10;      ].map((it, i) =&gt; (&#10;        &lt;Box key={i} style={{ flex: 1, flexDirection: 'row', alignItems: 'stretch', gap: 14 }}&gt;&#10;  &lt;Box style={{ width: 52, background: it.c, borderRadius: 4, alignItems: 'center', justifyContent: 'center' }}&gt;&#10;            &lt;Text style={{ fontSize: 22, fontWeight: 'bold', color: '#FFFFFF' }}&gt;{it.v}&lt;/Text&gt;&#10;     &lt;/Box&gt;&#10;  &lt;Box style={{ flex: 1, background: '#F7F7F8', borderRadius: 4, padding: '0 18px', flexDirection: 'column', justifyContent: 'center' }}&gt;&#10;        &lt;Box style={{ flexDirection: 'row', alignItems: 'baseline', gap: 16 }}&gt;&#10;   &lt;Text style={{ fontSize: 19, fontWeight: 'bold', color: '#0F1423', width: 96 }}&gt;{it.t}&lt;/Text&gt;&#10;   &lt;Text style={{ fontSize: 14, fontWeight: 'bold', color: it.c, width: 250 }}&gt;{it.q}&lt;/Text&gt;&#10;    &lt;Text style={{ fontSize: 13, color: '#3A4050', flex: 1, lineHeight: 1.4 }}&gt;{it.d}&lt;/Text&gt;&#10;         &lt;/Box&gt;&#10; &lt;Box style={{ flexDirection: 'row', gap: 20, marginTop: 5 }}&gt;&#10; {it.pts.map((p, j) =&gt; (&#10;   &lt;Text key={j} style={{ fontSize: 12, color: '#5A6072', flex: 1, lineHeight: 1.35 }}&gt;· {p}&lt;/Text&gt;&#10;          ))}&#10;   &lt;/Box&gt;&#10;     &lt;/Box&gt;&#10; &lt;/Box&gt;&#10;      ))}&#10;   &lt;Box style={{ height: 66, background: 'linear-gradient(90deg, #FA4F24 0%, #F87D2F 100%)', borderRadius: 4, padding: '0 18px', flexDirection: 'row', alignItems: 'center' }}&gt;&#10;    &lt;Text style={{ fontSize: 16, fontWeight: 'bold', color: '#FFFFFF', width: 200 }}&gt;★ 四个视图不是四份文档&lt;/Text&gt;&#10;        &lt;Text style={{ fontSize: 14, color: 'rgba(255,255,255,0.95)', flex: 1, lineHeight: 1.45 }}&gt;&#10;        它们共用同一份组件清单。任何一层视图里出现的组件，都必须在清单里有登记；&#10;    清单里有的组件，也必须在至少一张视图里出现。对不上，说明架构和现实已经脱节。&#10;        &lt;/Text&gt;&#10;    &lt;/Box&gt;&#10;    &lt;/Box&gt;&#10;&#10;    {/* C 区 */}&#10;    &lt;Box style={{ height: 58, flexDirection: 'row', alignItems: 'center', borderTop: '1px solid #E8E8E8' }}&gt;&#10;        &lt;Box style={{ width: 10, height: 10, background: '#FA4F24' }} /&gt;&#10;    &lt;Text style={{ fontSize: 13, color: '#8A8F99', marginLeft: 12 }}&gt;硕磐机密 · TA技术架构咨询方法论&lt;/Text&gt;&#10;     &lt;Text style={{ fontSize: 13, color: '#8A8F99', marginLeft: 'auto' }}&gt;0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四个视图的架构表达体系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，一份技术架构画四遍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组件视图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部署视图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数据视图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运维视图，各回答一个不能互相替代的问题</a:t>
            </a:r>
            <a:endParaRPr/>
          </a:p>
        </p:txBody>
      </p:sp>
      <p:sp>
        <p:nvSpPr>
          <p:cNvPr id="127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74" name=""/>
          <p:cNvSpPr/>
          <p:nvPr/>
        </p:nvSpPr>
        <p:spPr>
          <a:xfrm rot="0" flipH="0" flipV="0">
            <a:off x="609600" y="1381125"/>
            <a:ext cx="495300" cy="800100"/>
          </a:xfrm>
          <a:prstGeom prst="roundRect">
            <a:avLst>
              <a:gd name="adj" fmla="val 769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752475" y="16573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276" name=""/>
          <p:cNvSpPr/>
          <p:nvPr/>
        </p:nvSpPr>
        <p:spPr>
          <a:xfrm rot="0" flipH="0" flipV="0">
            <a:off x="1238250" y="1381125"/>
            <a:ext cx="1034415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1409700" y="1552575"/>
            <a:ext cx="914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组件视图</a:t>
            </a:r>
            <a:endParaRPr/>
          </a:p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2476500" y="155257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有哪些技术组件，谁提供、谁依赖</a:t>
            </a:r>
            <a:endParaRPr/>
          </a:p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5010150" y="1552575"/>
            <a:ext cx="64008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回答「用什么」。产出技术组件清单与依赖矩阵，是整个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TA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的地基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1409700" y="1819275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组件要标版本、标来源、标锁定风险</a:t>
            </a:r>
            <a:endParaRPr/>
          </a:p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6505575" y="1819275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公共组件必须列全，否则各团队会各自造一套</a:t>
            </a:r>
            <a:endParaRPr/>
          </a:p>
        </p:txBody>
      </p:sp>
      <p:sp>
        <p:nvSpPr>
          <p:cNvPr id="1282" name=""/>
          <p:cNvSpPr/>
          <p:nvPr/>
        </p:nvSpPr>
        <p:spPr>
          <a:xfrm rot="0" flipH="0" flipV="0">
            <a:off x="609600" y="2276475"/>
            <a:ext cx="495300" cy="800100"/>
          </a:xfrm>
          <a:prstGeom prst="roundRect">
            <a:avLst>
              <a:gd name="adj" fmla="val 769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752475" y="25527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284" name=""/>
          <p:cNvSpPr/>
          <p:nvPr/>
        </p:nvSpPr>
        <p:spPr>
          <a:xfrm rot="0" flipH="0" flipV="0">
            <a:off x="1238250" y="2276475"/>
            <a:ext cx="1034415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1409700" y="2447925"/>
            <a:ext cx="914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部署视图</a:t>
            </a:r>
            <a:endParaRPr/>
          </a:p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2476500" y="244792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跑在哪里，怎么分环境、怎么跨可用区</a:t>
            </a:r>
            <a:endParaRPr/>
          </a:p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5010150" y="2447925"/>
            <a:ext cx="64008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回答「放哪」。产出环境拓扑与资源基线，是故障切换的依据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1409700" y="2714625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区分环境：开发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测试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预发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生产，配置必须隔离</a:t>
            </a:r>
            <a:endParaRPr/>
          </a:p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6505575" y="2714625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生产至少双可用区，重要系统同城双活</a:t>
            </a:r>
            <a:endParaRPr/>
          </a:p>
        </p:txBody>
      </p:sp>
      <p:sp>
        <p:nvSpPr>
          <p:cNvPr id="1290" name=""/>
          <p:cNvSpPr/>
          <p:nvPr/>
        </p:nvSpPr>
        <p:spPr>
          <a:xfrm rot="0" flipH="0" flipV="0">
            <a:off x="609600" y="3171825"/>
            <a:ext cx="495300" cy="790575"/>
          </a:xfrm>
          <a:prstGeom prst="roundRect">
            <a:avLst>
              <a:gd name="adj" fmla="val 7692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752475" y="34385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292" name=""/>
          <p:cNvSpPr/>
          <p:nvPr/>
        </p:nvSpPr>
        <p:spPr>
          <a:xfrm rot="0" flipH="0" flipV="0">
            <a:off x="1238250" y="3171825"/>
            <a:ext cx="10344150" cy="790575"/>
          </a:xfrm>
          <a:prstGeom prst="roundRect">
            <a:avLst>
              <a:gd name="adj" fmla="val 48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1409700" y="3343275"/>
            <a:ext cx="914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数据视图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2476500" y="334327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622F"/>
                </a:solidFill>
                <a:latin typeface="Microsoft YaHei"/>
                <a:ea typeface="Microsoft YaHei"/>
              </a:rPr>
              <a:t>技术层的数据流向与存储分布</a:t>
            </a:r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5010150" y="3343275"/>
            <a:ext cx="64008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回答「怎么存、怎么流」。与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的资产目录对齐，产出存储分层与备份策略</a:t>
            </a:r>
            <a:endParaRPr/>
          </a:p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1409700" y="3609975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冷热分层要在这一层定，落地才有人执行</a:t>
            </a:r>
            <a:endParaRPr/>
          </a:p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6505575" y="3609975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备份不是「拷了一份」，要有恢复演练时间</a:t>
            </a:r>
            <a:endParaRPr/>
          </a:p>
        </p:txBody>
      </p:sp>
      <p:sp>
        <p:nvSpPr>
          <p:cNvPr id="1298" name=""/>
          <p:cNvSpPr/>
          <p:nvPr/>
        </p:nvSpPr>
        <p:spPr>
          <a:xfrm rot="0" flipH="0" flipV="0">
            <a:off x="609600" y="4057650"/>
            <a:ext cx="495300" cy="800100"/>
          </a:xfrm>
          <a:prstGeom prst="roundRect">
            <a:avLst>
              <a:gd name="adj" fmla="val 7692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752475" y="43338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300" name=""/>
          <p:cNvSpPr/>
          <p:nvPr/>
        </p:nvSpPr>
        <p:spPr>
          <a:xfrm rot="0" flipH="0" flipV="0">
            <a:off x="1238250" y="4057650"/>
            <a:ext cx="1034415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1409700" y="4229100"/>
            <a:ext cx="914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运维视图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2476500" y="4229100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怎么监控、怎么告警、怎么定位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5010150" y="4229100"/>
            <a:ext cx="640080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回答「怎么管」。产出可观测性方案，是可用性的真实保障</a:t>
            </a:r>
            <a:endParaRPr/>
          </a:p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1409700" y="4495800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四个信号：日志、指标、链路、事件，缺一个定位就会瞎</a:t>
            </a:r>
            <a:endParaRPr/>
          </a:p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6505575" y="4495800"/>
            <a:ext cx="49053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告警要能对应到责任人，否则只是噪声</a:t>
            </a:r>
            <a:endParaRPr/>
          </a:p>
        </p:txBody>
      </p:sp>
      <p:sp>
        <p:nvSpPr>
          <p:cNvPr id="1306" name=""/>
          <p:cNvSpPr/>
          <p:nvPr/>
        </p:nvSpPr>
        <p:spPr>
          <a:xfrm rot="0" flipH="0" flipV="0">
            <a:off x="609600" y="4953000"/>
            <a:ext cx="10972800" cy="628650"/>
          </a:xfrm>
          <a:prstGeom prst="roundRect">
            <a:avLst>
              <a:gd name="adj" fmla="val 606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四个视图不是四份文档</a:t>
            </a:r>
            <a:endParaRPr/>
          </a:p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2686050" y="5038725"/>
            <a:ext cx="87249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它们共用同一份组件清单。任何一层视图里出现的组件，都必须在清单里有登记；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清单里有的组件，也必须在至少一张视图里出现。对不上，说明架构和现实已经脱节。</a:t>
            </a:r>
            <a:endParaRPr/>
          </a:p>
        </p:txBody>
      </p:sp>
      <p:sp>
        <p:nvSpPr>
          <p:cNvPr id="130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1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313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   之方法：&lt;span style={{ color: '#FA4F24' }}&gt;技术生命周期四象限&lt;/span&gt;，决定投多少力气&#10;      &lt;/Text&gt;&#10;        &lt;Text style={{ fontSize: 20, color: '#8A8F99', marginTop: 8 }}&gt;&#10;     组合成熟度 × 替代难度，把组件分四类，每类管法不同&#10;        &lt;/Text&gt;&#10;    &lt;/Box&gt;&#10;  &lt;Box style={{ height: 1, background: '#E8E8E8' }} /&gt;&#10;&#10;    {/* B 区 */}&#10;    &lt;Box style={{ paddingTop: 24, paddingBottom: 14, height: 479, flexDirection: 'row', gap: 22 }}&gt;&#10;        {/* 左 二维象限 */}&#10;     &lt;Box style={{ width: 520, flexDirection: 'column', gap: 8 }}&gt;&#10;       &lt;Text style={{ fontSize: 20, fontWeight: 'bold', color: '#0F1423' }}&gt;成熟度 × 替代难度&lt;/Text&gt;&#10;    &lt;Box style={{ flex: 1, flexDirection: 'row', gap: 4 }}&gt;&#10;      {/* Y 轴标签 */}&#10;            &lt;Box style={{ width: 26, flexDirection: 'column', justifyContent: 'space-between', paddingBottom: 26 }}&gt;&#10;         &lt;Text style={{ fontSize: 11, color: '#8A8F99' }}&gt;成熟&lt;/Text&gt;&#10;     &lt;Text style={{ fontSize: 11, color: '#8A8F99' }}&gt;新&lt;/Text&gt;&#10;     &lt;/Box&gt;&#10;          &lt;Box style={{ flex: 1, flexDirection: 'column', gap: 4 }}&gt;&#10;       &lt;Box style={{ flex: 1, flexDirection: 'row', gap: 4 }}&gt;&#10;                &lt;Box style={{ flex: 1, background: '#0F1423', borderRadius: 4, padding: '10px 12px', flexDirection: 'column', justifyContent: 'center' }}&gt;&#10;      &lt;Text style={{ fontSize: 15, fontWeight: 'bold', color: '#FFFFFF' }}&gt;守成&lt;/Text&gt;&#10;     &lt;Text style={{ fontSize: 12, color: 'rgba(255,255,255,0.85)', marginTop: 3, lineHeight: 1.35 }}&gt;成熟且难替代 → 加固运维，别折腾&lt;/Text&gt;&#10;          &lt;/Box&gt;&#10;  &lt;Box style={{ flex: 1, background: '#FA4F24', borderRadius: 4, padding: '10px 12px', flexDirection: 'column', justifyContent: 'center' }}&gt;&#10;   &lt;Text style={{ fontSize: 15, fontWeight: 'bold', color: '#FFFFFF' }}&gt;押注&lt;/Text&gt;&#10;   &lt;Text style={{ fontSize: 12, color: 'rgba(255,255,255,0.9)', marginTop: 3, lineHeight: 1.35 }}&gt;成熟且易替代 → 标准化即可，别自研&lt;/Text&gt;&#10;         &lt;/Box&gt;&#10;      &lt;/Box&gt;&#10;    &lt;Box style={{ flex: 1, flexDirection: 'row', gap: 4 }}&gt;&#10;          &lt;Box style={{ flex: 1, background: '#FDC69A', borderRadius: 4, padding: '10px 12px', flexDirection: 'column', justifyContent: 'center' }}&gt;&#10;     &lt;Text style={{ fontSize: 15, fontWeight: 'bold', color: '#3A2000' }}&gt;试点&lt;/Text&gt;&#10;   &lt;Text style={{ fontSize: 12, color: '#3A2000', marginTop: 3, lineHeight: 1.35, opacity: 0.85 }}&gt;新且难替代 → 小范围试点，验证后铺开&lt;/Text&gt;&#10;     &lt;/Box&gt;&#10;     &lt;Box style={{ flex: 1, background: '#5A6072', borderRadius: 4, padding: '10px 12px', flexDirection: 'column', justifyContent: 'center' }}&gt;&#10;          &lt;Text style={{ fontSize: 15, fontWeight: 'bold', color: '#FFFFFF' }}&gt;观察&lt;/Text&gt;&#10;        &lt;Text style={{ fontSize: 12, color: 'rgba(255,255,255,0.85)', marginTop: 3, lineHeight: 1.35 }}&gt;新且易替代 → 不自研，等生态成熟&lt;/Text&gt;&#10;    &lt;/Box&gt;&#10;         &lt;/Box&gt;&#10;   &lt;Box style={{ height: 22, flexDirection: 'row', justifyContent: 'space-around', paddingLeft: 30 }}&gt;&#10;   &lt;Text style={{ fontSize: 12, color: '#5A6072' }}&gt;替代难度高&lt;/Text&gt;&#10;         &lt;Text style={{ fontSize: 12, color: '#5A6072' }}&gt;替代难度低&lt;/Text&gt;&#10;      &lt;/Box&gt;&#10;       &lt;/Box&gt;&#10;      &lt;/Box&gt;&#10;   &lt;Box style={{ height: 56, background: '#F7F7F8', borderRadius: 4, padding: '0 14px', flexDirection: 'row', alignItems: 'center', gap: 12, borderLeft: '4px solid #FA4F24' }}&gt;&#10;    &lt;Text style={{ fontSize: 13, fontWeight: 'bold', color: '#C43A17', width: 92 }}&gt;★ 判断顺序&lt;/Text&gt;&#10;  &lt;Text style={{ fontSize: 13, color: '#3A4050', flex: 1, lineHeight: 1.45 }}&gt;&#10;  先定「替代难度」——它由外部生态决定，不由团队意愿决定。难度高的只能在「守成」和「试点」之间选。&#10;     &lt;/Text&gt;&#10;      &lt;/Box&gt;&#10;        &lt;/Box&gt;&#10;&#10;    {/* 右 判定依据 */}&#10;        &lt;Box style={{ flex: 1, flexDirection: 'column', gap: 8 }}&gt;&#10;   &lt;Text style={{ fontSize: 20, fontWeight: 'bold', color: '#0F1423' }}&gt;两个维度怎么判&lt;/Text&gt;&#10;     &lt;Box style={{ flex: 1, background: '#F7F7F8', borderRadius: 4, padding: '0 16px', flexDirection: 'column', justifyContent: 'center' }}&gt;&#10;   &lt;Text style={{ fontSize: 16, fontWeight: 'bold', color: '#0F1423' }}&gt;替代难度 · 四个信号&lt;/Text&gt;&#10;  {[&#10;     '社区/厂商是否还在持续维护',&#10;   '是否有第二家可替换来源',&#10;    '迁移是否需要改业务代码',&#10;    '这个组件掌握在几家公司手里',&#10;       ].map((t, i) =&gt; (&#10;              &lt;Text key={i} style={{ fontSize: 13, color: '#3A4050', lineHeight: 1.65 }}&gt;· {t}&lt;/Text&gt;&#10;       ))}&#10; &lt;/Box&gt;&#10;      &lt;Box style={{ flex: 1, background: '#F7F7F8', borderRadius: 4, padding: '0 16px', flexDirection: 'column', justifyContent: 'center' }}&gt;&#10;    &lt;Text style={{ fontSize: 16, fontWeight: 'bold', color: '#0F1423' }}&gt;成熟度 · 四个信号&lt;/Text&gt;&#10;        {[&#10;       '文档是否完整、社区问答是否够用',&#10;  '故障案例是否有公开积累',&#10;            '团队里有几个人真正用过',&#10;            '出问题时能否自查定位',&#10;   ].map((t, i) =&gt; (&#10;        &lt;Text key={i} style={{ fontSize: 13, color: '#3A4050', lineHeight: 1.65 }}&gt;· {t}&lt;/Text&gt;&#10;            ))}&#10;   &lt;/Box&gt;&#10;        &lt;Box style={{ flex: 1, background: 'linear-gradient(160deg, #FA4F24 0%, #F87D2F 100%)', borderRadius: 4, padding: '14px 16px', flexDirection: 'column', justifyContent: 'center' }}&gt;&#10;       &lt;Text style={{ fontSize: 15, fontWeight: 'bold', color: '#FFFFFF' }}&gt;这一页要防的错&lt;/Text&gt;&#10;     &lt;Text style={{ fontSize: 13, color: 'rgba(255,255,255,0.95)', lineHeight: 1.55, marginTop: 5 }}&gt;&#10;      用「团队觉得这个技术很先进」当成熟度依据。新技术往往不成熟，但团队意愿极高，&#10;     结果是把最不成熟的组件放在最核心的交易链路上。&#10;         &lt;/Text&gt;&#10;      &lt;/Box&gt;&#10;        &lt;/Box&gt;&#10; &lt;/Box&gt;&#10;&#10;    {/* C 区 */}&#10;    &lt;Box style={{ height: 58, flexDirection: 'row', alignItems: 'center', borderTop: '1px solid #E8E8E8' }}&gt;&#10;        &lt;Box style={{ width: 10, height: 10, background: '#FA4F24' }} /&gt;&#10;  &lt;Text style={{ fontSize: 13, color: '#8A8F99', marginLeft: 12 }}&gt;硕磐机密 · TA技术架构咨询方法论&lt;/Text&gt;&#10;        &lt;Text style={{ fontSize: 13, color: '#8A8F99', marginLeft: 'auto' }}&gt;0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技术生命周期四象限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，决定投多少力气</a:t>
            </a:r>
            <a:endParaRPr/>
          </a:p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组合成熟度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替代难度，把组件分四类，每类管法不同</a:t>
            </a:r>
            <a:endParaRPr/>
          </a:p>
        </p:txBody>
      </p:sp>
      <p:sp>
        <p:nvSpPr>
          <p:cNvPr id="131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成熟度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替代难度</a:t>
            </a:r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609600" y="168592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成熟</a:t>
            </a:r>
            <a:endParaRPr/>
          </a:p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609600" y="4591050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新</a:t>
            </a:r>
            <a:endParaRPr/>
          </a:p>
        </p:txBody>
      </p:sp>
      <p:sp>
        <p:nvSpPr>
          <p:cNvPr id="1321" name=""/>
          <p:cNvSpPr/>
          <p:nvPr/>
        </p:nvSpPr>
        <p:spPr>
          <a:xfrm rot="0" flipH="0" flipV="0">
            <a:off x="895350" y="1685925"/>
            <a:ext cx="2314575" cy="1504950"/>
          </a:xfrm>
          <a:prstGeom prst="roundRect">
            <a:avLst>
              <a:gd name="adj" fmla="val 25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1009650" y="2247900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守成</a:t>
            </a:r>
            <a:endParaRPr/>
          </a:p>
        </p:txBody>
      </p:sp>
      <p:sp>
        <p:nvSpPr>
          <p:cNvPr id="1323" name="" descr="{&quot;isTemplate&quot;:true,&quot;type&quot;:&quot;text&quot;}"/>
          <p:cNvSpPr txBox="1"/>
          <p:nvPr/>
        </p:nvSpPr>
        <p:spPr>
          <a:xfrm rot="0" flipH="0" flipV="0">
            <a:off x="1009650" y="2447925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成熟且难替代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加固运维，别折腾</a:t>
            </a:r>
            <a:endParaRPr/>
          </a:p>
        </p:txBody>
      </p:sp>
      <p:sp>
        <p:nvSpPr>
          <p:cNvPr id="1324" name=""/>
          <p:cNvSpPr/>
          <p:nvPr/>
        </p:nvSpPr>
        <p:spPr>
          <a:xfrm rot="0" flipH="0" flipV="0">
            <a:off x="3248025" y="1685925"/>
            <a:ext cx="2314575" cy="1504950"/>
          </a:xfrm>
          <a:prstGeom prst="roundRect">
            <a:avLst>
              <a:gd name="adj" fmla="val 253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3362325" y="2247900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押注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3362325" y="2447925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成熟且易替代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标准化即可，别自研</a:t>
            </a:r>
            <a:endParaRPr/>
          </a:p>
        </p:txBody>
      </p:sp>
      <p:sp>
        <p:nvSpPr>
          <p:cNvPr id="1327" name=""/>
          <p:cNvSpPr/>
          <p:nvPr/>
        </p:nvSpPr>
        <p:spPr>
          <a:xfrm rot="0" flipH="0" flipV="0">
            <a:off x="895350" y="3228975"/>
            <a:ext cx="2314575" cy="1495425"/>
          </a:xfrm>
          <a:prstGeom prst="roundRect">
            <a:avLst>
              <a:gd name="adj" fmla="val 2548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1009650" y="3781425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2000"/>
                </a:solidFill>
                <a:latin typeface="Microsoft YaHei"/>
                <a:ea typeface="Microsoft YaHei"/>
              </a:rPr>
              <a:t>试点</a:t>
            </a:r>
            <a:endParaRPr/>
          </a:p>
        </p:txBody>
      </p:sp>
      <p:sp>
        <p:nvSpPr>
          <p:cNvPr id="1329" name=""/>
          <p:cNvSpPr/>
          <p:nvPr/>
        </p:nvSpPr>
        <p:spPr>
          <a:xfrm rot="0" flipH="0" flipV="0">
            <a:off x="3248025" y="3228975"/>
            <a:ext cx="2314575" cy="1495425"/>
          </a:xfrm>
          <a:prstGeom prst="roundRect">
            <a:avLst>
              <a:gd name="adj" fmla="val 2548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3362325" y="3781425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观察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3362325" y="3981450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新且易替代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不自研，等生态成熟</a:t>
            </a:r>
            <a:endParaRPr/>
          </a:p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1990725" y="4762500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替代难度高</a:t>
            </a:r>
            <a:endParaRPr/>
          </a:p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4181475" y="4762500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替代难度低</a:t>
            </a:r>
            <a:endParaRPr/>
          </a:p>
        </p:txBody>
      </p:sp>
      <p:sp>
        <p:nvSpPr>
          <p:cNvPr id="1334" name=""/>
          <p:cNvSpPr/>
          <p:nvPr/>
        </p:nvSpPr>
        <p:spPr>
          <a:xfrm rot="0" flipH="0" flipV="0">
            <a:off x="647700" y="5048250"/>
            <a:ext cx="495300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35" name=""/>
          <p:cNvSpPr/>
          <p:nvPr/>
        </p:nvSpPr>
        <p:spPr>
          <a:xfrm rot="0" flipH="0" flipV="0">
            <a:off x="647700" y="5048250"/>
            <a:ext cx="4953000" cy="533400"/>
          </a:xfrm>
          <a:custGeom>
            <a:pathLst>
              <a:path w="520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781050" y="523875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判断顺序</a:t>
            </a:r>
            <a:endParaRPr/>
          </a:p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1771650" y="5095875"/>
            <a:ext cx="36576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先定「替代难度」——它由外部生态决定，不由团队意愿决定。难度高的只能在「守成」和「试点」之间选。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5772150" y="1381125"/>
            <a:ext cx="581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两个维度怎么判</a:t>
            </a:r>
            <a:endParaRPr/>
          </a:p>
        </p:txBody>
      </p:sp>
      <p:sp>
        <p:nvSpPr>
          <p:cNvPr id="1339" name=""/>
          <p:cNvSpPr/>
          <p:nvPr/>
        </p:nvSpPr>
        <p:spPr>
          <a:xfrm rot="0" flipH="0" flipV="0">
            <a:off x="5772150" y="1685925"/>
            <a:ext cx="5810250" cy="1323975"/>
          </a:xfrm>
          <a:prstGeom prst="roundRect">
            <a:avLst>
              <a:gd name="adj" fmla="val 287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5924550" y="1762125"/>
            <a:ext cx="5505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替代难度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四个信号</a:t>
            </a:r>
            <a:endParaRPr/>
          </a:p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5924550" y="1952625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社区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厂商是否还在持续维护</a:t>
            </a:r>
            <a:endParaRPr/>
          </a:p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5924550" y="2200275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是否有第二家可替换来源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5924550" y="2447925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迁移是否需要改业务代码</a:t>
            </a:r>
            <a:endParaRPr/>
          </a:p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5924550" y="2695575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这个组件掌握在几家公司手里</a:t>
            </a:r>
            <a:endParaRPr/>
          </a:p>
        </p:txBody>
      </p:sp>
      <p:sp>
        <p:nvSpPr>
          <p:cNvPr id="1345" name=""/>
          <p:cNvSpPr/>
          <p:nvPr/>
        </p:nvSpPr>
        <p:spPr>
          <a:xfrm rot="0" flipH="0" flipV="0">
            <a:off x="5772150" y="3086100"/>
            <a:ext cx="5810250" cy="1323975"/>
          </a:xfrm>
          <a:prstGeom prst="roundRect">
            <a:avLst>
              <a:gd name="adj" fmla="val 287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5924550" y="3162300"/>
            <a:ext cx="5505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成熟度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四个信号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5924550" y="3352800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文档是否完整、社区问答是否够用</a:t>
            </a:r>
            <a:endParaRPr/>
          </a:p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5924550" y="3600450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故障案例是否有公开积累</a:t>
            </a:r>
            <a:endParaRPr/>
          </a:p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5924550" y="3848100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团队里有几个人真正用过</a:t>
            </a:r>
            <a:endParaRPr/>
          </a:p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5924550" y="4095750"/>
            <a:ext cx="550545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出问题时能否自查定位</a:t>
            </a:r>
            <a:endParaRPr/>
          </a:p>
        </p:txBody>
      </p:sp>
      <p:sp>
        <p:nvSpPr>
          <p:cNvPr id="1351" name=""/>
          <p:cNvSpPr/>
          <p:nvPr/>
        </p:nvSpPr>
        <p:spPr>
          <a:xfrm rot="0" flipH="0" flipV="0">
            <a:off x="5772150" y="4486275"/>
            <a:ext cx="5810250" cy="1095375"/>
          </a:xfrm>
          <a:prstGeom prst="roundRect">
            <a:avLst>
              <a:gd name="adj" fmla="val 3478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352" name="" descr="{&quot;isTemplate&quot;:true,&quot;type&quot;:&quot;text&quot;}"/>
          <p:cNvSpPr txBox="1"/>
          <p:nvPr/>
        </p:nvSpPr>
        <p:spPr>
          <a:xfrm rot="0" flipH="0" flipV="0">
            <a:off x="5924550" y="4695825"/>
            <a:ext cx="550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这一页要防的错</a:t>
            </a:r>
            <a:endParaRPr/>
          </a:p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5924550" y="4914900"/>
            <a:ext cx="55054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用「团队觉得这个技术很先进」当成熟度依据。新技术往往不成熟，但团队意愿极高，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结果是把最不成熟的组件放在最核心的交易链路上。</a:t>
            </a:r>
            <a:endParaRPr/>
          </a:p>
        </p:txBody>
      </p:sp>
      <p:sp>
        <p:nvSpPr>
          <p:cNvPr id="135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5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1009650" y="3981450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新且难替代</a:t>
            </a:r>
            <a:r>
              <a:rPr lang="en-US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3A2000">
                    <a:alpha val="85000"/>
                  </a:srgbClr>
                </a:solidFill>
                <a:latin typeface="Microsoft YaHei"/>
                <a:ea typeface="Microsoft YaHei"/>
              </a:rPr>
              <a:t>小范围试点，验证后铺开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359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&lt;Text style={{ fontSize: 300, fontWeight: 'bold', color: 'rgba(255,255,255,0.08)', lineHeight: 1.0 }}&gt;02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2&lt;/Text&gt;&#13;&#10;  &lt;Box style={{ width: 72, height: 5, background: '#FA4F24', marginTop: 22 }} /&gt;&#13;&#10;        &lt;Text style={{ fontSize: 58, fontWeight: 'bold', color: '#FFFFFF', marginTop: 28, lineHeight: 1.15 }}&gt;技术组件与技术栈&lt;/Text&gt;&#13;&#10;    &lt;Text style={{ fontSize: 17, color: 'rgba(255,255,255,0.62)', letterSpacing: 2, marginTop: 20 }}&gt;COMPONENT &amp; STACK&lt;/Text&gt;&#13;&#10;        &lt;Text style={{ fontSize: 19, color: 'rgba(255,255,255,0.85)', marginTop: 26, lineHeight: 1.6 }}&gt;组件清单、版本策略与技术锁定风险&lt;/Text&gt;&#13;&#10;    &lt;/Box&gt;&#13;&#10;&#13;&#10;    {/* 右下页码 */}&#13;&#10;    &lt;Box style={{ position: 'absolute', right: 88, bottom: 64, flexDirection: 'row', alignItems: 'center', gap: 12 }}&gt;&#13;&#10;        &lt;Box style={{ width: 14, height: 14, background: '#FA4F24' }} /&gt;&#13;&#10;        &lt;Text style={{ fontSize: 14, color: 'rgba(255,255,255,0.5)' }}&gt;硕磐机密 · TA技术架构咨询方法论&lt;/Text&gt;&#13;&#10;        &lt;Text style={{ fontSize: 14, color: 'rgba(255,255,255,0.5)', marginLeft: 12 }}&gt;08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6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1365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技术组件与技术栈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COMPONENT &amp; STACK</a:t>
            </a:r>
            <a:endParaRPr/>
          </a:p>
        </p:txBody>
      </p:sp>
      <p:sp>
        <p:nvSpPr>
          <p:cNvPr id="1368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组件清单、版本策略与技术锁定风险</a:t>
            </a:r>
            <a:endParaRPr/>
          </a:p>
        </p:txBody>
      </p:sp>
      <p:sp>
        <p:nvSpPr>
          <p:cNvPr id="1369" name=""/>
          <p:cNvSpPr/>
          <p:nvPr/>
        </p:nvSpPr>
        <p:spPr>
          <a:xfrm rot="0" flipH="0" flipV="0">
            <a:off x="841057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8658225" y="6086475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372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之方法：&lt;span style={{ color: '#FA4F24' }}&gt;技术组件盘点五问法&lt;/span&gt;，别让清单变成技术名词大全&#10;      &lt;/Text&gt;&#10;    &lt;Text style={{ fontSize: 20, color: '#8A8F99', marginTop: 8 }}&gt;&#10;       盘点的对象是「被实际依赖的组件」，不是「公司知道的技术」&#10;    &lt;/Text&gt;&#10;  &lt;/Box&gt;&#10;  &lt;Box style={{ height: 1, background: '#E8E8E8' }} /&gt;&#10;&#10;    {/* B 区 */}&#10;    &lt;Box style={{ paddingTop: 24, paddingBottom: 14, height: 479, flexDirection: 'column', gap: 12 }}&gt;&#10;      {[&#10;    { n: 'Q1', t: '谁在用？', d: '能说出具体应用名和调用场景的才算组件。只在技术文档里出现的，是知识不是资产。', c: '#0F1423' },&#10;        { n: 'Q2', t: '哪个版本？', d: '同一个组件三个版本，等于三份技术债。版本必须精确到小版本，不能写「最新版」。', c: '#3A4050' },&#10;      { n: 'Q3', t: '谁提供、谁维护？', d: '自研组件必须有团队和 Owner。开源组件必须写清社区与许可证类型。', c: '#FA4F24' },&#10;        { n: 'Q4', t: '换掉有多难？', d: '评估迁移成本，不评估的时候会在换代那天才发现代价。', c: '#F8622F' },&#10;        { n: 'Q5', t: '出故障谁扛？', d: '关键组件要有兜底方案，没有兜底的组件不进核心链路。', c: '#FBA15C' },&#10;      ].map((it, i) =&gt; (&#10;      &lt;Box key={i} style={{ flex: 1, flexDirection: 'row', alignItems: 'center', background: '#F7F7F8', borderRadius: 4, padding: '0 18px', gap: 16, borderLeft: `5px solid ${it.c}` }}&gt;&#10;          &lt;Text style={{ fontSize: 22, fontWeight: 'bold', color: it.c, width: 44 }}&gt;{it.n}&lt;/Text&gt;&#10;      &lt;Text style={{ fontSize: 19, fontWeight: 'bold', color: '#0F1423', width: 168 }}&gt;{it.t}&lt;/Text&gt;&#10; &lt;Text style={{ fontSize: 14, color: '#3A4050', flex: 1, lineHeight: 1.45 }}&gt;{it.d}&lt;/Text&gt;&#10;   &lt;/Box&gt;&#10;   ))}&#10;    &lt;Box style={{ height: 76, background: '#0F1423', borderRadius: 4, padding: '12px 20px', flexDirection: 'row', alignItems: 'center', gap: 20 }}&gt;&#10;    &lt;Text style={{ fontSize: 16, fontWeight: 'bold', color: '#FBA15C', width: 200 }}&gt;★ 数据从哪来&lt;/Text&gt;&#10;     &lt;Text style={{ fontSize: 14, color: 'rgba(255,255,255,0.88)', flex: 1, lineHeight: 1.5 }}&gt;&#10;   从制品库和依赖清单反扫，而不是让各团队填报。填报的数据会自我美化——没人会主动交代自己引入了几个老版本。&#10;    反扫出来的数据难看，但那是真数。拿到真数之后才有得治。&#10;      &lt;/Text&gt;&#10; &lt;/Box&gt;&#10;    &lt;/Box&gt;&#10;&#10;    {/* C 区 */}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TA技术架构咨询方法论&lt;/Text&gt;&#10;        &lt;Text style={{ fontSize: 13, color: '#8A8F99', marginLeft: 'auto' }}&gt;09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技术组件盘点五问法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，别让清单变成技术名词大全</a:t>
            </a:r>
            <a:endParaRPr/>
          </a:p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盘点的对象是「被实际依赖的组件」，不是「公司知道的技术」</a:t>
            </a:r>
            <a:endParaRPr/>
          </a:p>
        </p:txBody>
      </p:sp>
      <p:sp>
        <p:nvSpPr>
          <p:cNvPr id="13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77" name=""/>
          <p:cNvSpPr/>
          <p:nvPr/>
        </p:nvSpPr>
        <p:spPr>
          <a:xfrm rot="0" flipH="0" flipV="0">
            <a:off x="657225" y="138112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78" name=""/>
          <p:cNvSpPr/>
          <p:nvPr/>
        </p:nvSpPr>
        <p:spPr>
          <a:xfrm rot="0" flipH="0" flipV="0">
            <a:off x="657225" y="1381125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828675" y="15430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423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1400175" y="156210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谁在用？</a:t>
            </a:r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3152775" y="1552575"/>
            <a:ext cx="82581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能说出具体应用名和调用场景的才算组件。只在技术文档里出现的，是知识不是资产。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657225" y="2076450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3" name=""/>
          <p:cNvSpPr/>
          <p:nvPr/>
        </p:nvSpPr>
        <p:spPr>
          <a:xfrm rot="0" flipH="0" flipV="0">
            <a:off x="657225" y="2076450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828675" y="2238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4050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1400175" y="2257425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哪个版本？</a:t>
            </a:r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3152775" y="2247900"/>
            <a:ext cx="82581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同一个组件三个版本，等于三份技术债。版本必须精确到小版本，不能写「最新版」。</a:t>
            </a:r>
            <a:endParaRPr/>
          </a:p>
        </p:txBody>
      </p:sp>
      <p:sp>
        <p:nvSpPr>
          <p:cNvPr id="1387" name=""/>
          <p:cNvSpPr/>
          <p:nvPr/>
        </p:nvSpPr>
        <p:spPr>
          <a:xfrm rot="0" flipH="0" flipV="0">
            <a:off x="657225" y="277177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8" name=""/>
          <p:cNvSpPr/>
          <p:nvPr/>
        </p:nvSpPr>
        <p:spPr>
          <a:xfrm rot="0" flipH="0" flipV="0">
            <a:off x="657225" y="2771775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828675" y="29337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Q3</a:t>
            </a:r>
            <a:endParaRPr/>
          </a:p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1400175" y="295275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谁提供、谁维护？</a:t>
            </a:r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3152775" y="2943225"/>
            <a:ext cx="82581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自研组件必须有团队和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。开源组件必须写清社区与许可证类型。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657225" y="3467100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3" name=""/>
          <p:cNvSpPr/>
          <p:nvPr/>
        </p:nvSpPr>
        <p:spPr>
          <a:xfrm rot="0" flipH="0" flipV="0">
            <a:off x="657225" y="3467100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828675" y="36290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622F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1400175" y="3648075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换掉有多难？</a:t>
            </a:r>
            <a:endParaRPr/>
          </a:p>
        </p:txBody>
      </p:sp>
      <p:sp>
        <p:nvSpPr>
          <p:cNvPr id="1396" name="" descr="{&quot;isTemplate&quot;:true,&quot;type&quot;:&quot;text&quot;}"/>
          <p:cNvSpPr txBox="1"/>
          <p:nvPr/>
        </p:nvSpPr>
        <p:spPr>
          <a:xfrm rot="0" flipH="0" flipV="0">
            <a:off x="3152775" y="3638550"/>
            <a:ext cx="82581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评估迁移成本，不评估的时候会在换代那天才发现代价。</a:t>
            </a:r>
            <a:endParaRPr/>
          </a:p>
        </p:txBody>
      </p:sp>
      <p:sp>
        <p:nvSpPr>
          <p:cNvPr id="1397" name=""/>
          <p:cNvSpPr/>
          <p:nvPr/>
        </p:nvSpPr>
        <p:spPr>
          <a:xfrm rot="0" flipH="0" flipV="0">
            <a:off x="657225" y="4162425"/>
            <a:ext cx="109728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8" name=""/>
          <p:cNvSpPr/>
          <p:nvPr/>
        </p:nvSpPr>
        <p:spPr>
          <a:xfrm rot="0" flipH="0" flipV="0">
            <a:off x="657225" y="4162425"/>
            <a:ext cx="10972800" cy="581025"/>
          </a:xfrm>
          <a:custGeom>
            <a:pathLst>
              <a:path w="1152" h="61">
                <a:moveTo>
                  <a:pt x="5" y="61"/>
                </a:moveTo>
                <a:cubicBezTo>
                  <a:pt x="4" y="61"/>
                  <a:pt x="3" y="61"/>
                  <a:pt x="2" y="60"/>
                </a:cubicBezTo>
                <a:cubicBezTo>
                  <a:pt x="1" y="60"/>
                  <a:pt x="0" y="59"/>
                  <a:pt x="0" y="57"/>
                </a:cubicBezTo>
                <a:lnTo>
                  <a:pt x="0" y="57"/>
                </a:lnTo>
                <a:lnTo>
                  <a:pt x="0" y="5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828675" y="43243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BA15C"/>
                </a:solidFill>
                <a:latin typeface="Microsoft YaHei"/>
                <a:ea typeface="Microsoft YaHei"/>
              </a:rPr>
              <a:t>Q5</a:t>
            </a:r>
            <a:endParaRPr/>
          </a:p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1400175" y="434340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出故障谁扛？</a:t>
            </a:r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3152775" y="4333875"/>
            <a:ext cx="82581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关键组件要有兜底方案，没有兜底的组件不进核心链路。</a:t>
            </a:r>
            <a:endParaRPr/>
          </a:p>
        </p:txBody>
      </p:sp>
      <p:sp>
        <p:nvSpPr>
          <p:cNvPr id="1402" name=""/>
          <p:cNvSpPr/>
          <p:nvPr/>
        </p:nvSpPr>
        <p:spPr>
          <a:xfrm rot="0" flipH="0" flipV="0">
            <a:off x="609600" y="4857750"/>
            <a:ext cx="10972800" cy="723900"/>
          </a:xfrm>
          <a:prstGeom prst="roundRect">
            <a:avLst>
              <a:gd name="adj" fmla="val 52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800100" y="51244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FBA15C"/>
                </a:solidFill>
                <a:latin typeface="Microsoft YaHei"/>
                <a:ea typeface="Microsoft YaHei"/>
              </a:rPr>
              <a:t>数据从哪来</a:t>
            </a:r>
            <a:endParaRPr/>
          </a:p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2895600" y="4981575"/>
            <a:ext cx="84963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从制品库和依赖清单反扫，而不是让各团队填报。填报的数据会自我美化——没人会主动交代自己引入了几个老版本。</a:t>
            </a:r>
            <a:r>
              <a:rPr lang="en-US" sz="10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反扫出来的数据难看，但那是真数。拿到真数之后才有得治。</a:t>
            </a:r>
            <a:endParaRPr/>
          </a:p>
        </p:txBody>
      </p:sp>
      <p:sp>
        <p:nvSpPr>
          <p:cNvPr id="140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0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之内容：&lt;span style={{ color: '#FA4F24' }}&gt;技术组件全景清单与六类资产&lt;/span&gt;&#10;      &lt;/Text&gt;&#10;        &lt;Text style={{ fontSize: 20, color: '#8A8F99', marginTop: 8 }}&gt;&#10;     按层归类只是形式，按「锁定风险」标记才是重点&#10;  &lt;/Text&gt;&#10;    &lt;/Box&gt;&#10;    &lt;Box style={{ height: 1, background: '#E8E8E8' }} /&gt;&#10;&#10;    {/* B 区 */}&#10;    &lt;Box style={{ paddingTop: 22, paddingBottom: 12, height: 479, flexDirection: 'row', gap: 20 }}&gt;&#10;        {/* 左 六类资产 */}&#10;        &lt;Box style={{ width: 470, flexDirection: 'column', gap: 7 }}&gt;&#10;       &lt;Text style={{ fontSize: 20, fontWeight: 'bold', color: '#0F1423' }}&gt;按层归类的六类资产&lt;/Text&gt;&#10;    {[&#10;  { l: 'L1', t: '基础设施', d: '机房、网络、硬件', n: '12 项', c: '#C9CCD4', tc: '#3A4050' },&#10;   { l: 'L2', t: '资源平台', d: '计算存储网络资源池', n: '6 项', c: '#8A8F99', tc: '#FFFFFF' },&#10;     { l: 'L3', t: '中间件', d: '数据库 / 注册 / 配置 / 搜索', n: '19 项', c: '#5A6072', tc: '#FFFFFF' },&#10;    { l: 'L4', t: '技术服务', d: '网关 / 消息 / 缓存 / 调度', n: '14 项', c: '#2A2F3D', tc: '#FFFFFF' },&#10;      { l: 'L5', t: '运行环境', d: '容器 / 虚机 / 边缘', n: '4 项', c: '#0F1423', tc: '#FFFFFF' },&#10;        { l: '—', t: '自研公共件', d: '各团队自建的可复用件', n: '23 项', c: '#FA4F24', tc: '#FFFFFF' },&#10;    ].map((it, i) =&gt; (&#10;     &lt;Box key={i} style={{ flex: 1, background: it.c, borderRadius: 4, flexDirection: 'row', alignItems: 'center', padding: '0 14px', gap: 12 }}&gt;&#10;     &lt;Text style={{ fontSize: 15, fontWeight: 'bold', color: it.tc, width: 30 }}&gt;{it.l}&lt;/Text&gt;&#10;      &lt;Text style={{ fontSize: 16, fontWeight: 'bold', color: it.tc, width: 96 }}&gt;{it.t}&lt;/Text&gt;&#10;       &lt;Text style={{ fontSize: 12, color: it.tc, opacity: 0.88, flex: 1, lineHeight: 1.35 }}&gt;{it.d}&lt;/Text&gt;&#10;        &lt;Text style={{ fontSize: 13, fontWeight: 'bold', color: it.tc, width: 48, textAlign: 'right' }}&gt;{it.n}&lt;/Text&gt;&#10;      &lt;/Box&gt;&#10;   ))}&#10;            &lt;Text style={{ fontSize: 13, color: '#3A4050', lineHeight: 1.5, marginTop: 3 }}&gt;&#10;     最后一行「自研公共件」是最容易失控的一类。23 项里可能有一半功能重复，&#10;    合并收益往往比新建一个大还多。&#10;   &lt;/Text&gt;&#10;     &lt;/Box&gt;&#10;&#10;        {/* 右 锁定风险分级 */}&#10;        &lt;Box style={{ flex: 1, flexDirection: 'column', gap: 7 }}&gt;&#10;    &lt;Text style={{ fontSize: 20, fontWeight: 'bold', color: '#0F1423' }}&gt;按锁定风险分级（这才是重点）&lt;/Text&gt;&#10;     &lt;Box style={{ flexDirection: 'row', gap: 4 }}&gt;&#10;       {['风险等级', '判据', '处置'].map((t, i) =&gt; (&#10;     &lt;Box key={i} style={{ flex: i === 1 ? 2.4 : 1, background: '#0F1423', padding: '7px 4px', alignItems: 'center', borderRadius: 2 }}&gt;&#10;                &lt;Text style={{ fontSize: 13, fontWeight: 'bold', color: '#FFFFFF' }}&gt;{t}&lt;/Text&gt;&#10;        &lt;/Box&gt;&#10;        ))}&#10;      &lt;/Box&gt;&#10;   {[&#10;   { r: '高', j: '单一厂商 + 无替代 + 深度改造过', a: '列入替换计划', c: '#FA4F24', tc: '#FFFFFF' },&#10;    { r: '中', j: '单一厂商但有标准接口', a: '保持合同可控', c: '#FBA15C', tc: '#3A2000' },&#10;     { r: '低', j: '标准件，接口通用', a: '正常运维', c: '#FDC69A', tc: '#3A2000' },&#10; ].map((it, i) =&gt; (&#10;       &lt;Box key={i} style={{ flex: 1, flexDirection: 'row', gap: 4, alignItems: 'stretch' }}&gt;&#10;       &lt;Box style={{ flex: 1, background: it.c, borderRadius: 2, alignItems: 'center', justifyContent: 'center' }}&gt;&#10;        &lt;Text style={{ fontSize: 17, fontWeight: 'bold', color: it.tc }}&gt;{it.r}&lt;/Text&gt;&#10;   &lt;/Box&gt;&#10;         &lt;Box style={{ flex: 2.4, background: '#F7F7F8', borderRadius: 2, padding: '0 12px', justifyContent: 'center', flexDirection: 'column' }}&gt;&#10;       &lt;Text style={{ fontSize: 12, color: '#3A4050', lineHeight: 1.4 }}&gt;{it.j}&lt;/Text&gt;&#10;     &lt;/Box&gt;&#10;      &lt;Box style={{ flex: 1, background: '#F7F7F8', borderRadius: 2, padding: '0 8px', justifyContent: 'center', flexDirection: 'column' }}&gt;&#10;      &lt;Text style={{ fontSize: 12, color: '#0F1423', fontWeight: 'bold', lineHeight: 1.4 }}&gt;{it.a}&lt;/Text&gt;&#10;   &lt;/Box&gt;&#10;         &lt;/Box&gt;&#10;      ))}&#10;    &lt;Box style={{ height: 56, background: '#F7F7F8', borderRadius: 4, padding: '0 14px', flexDirection: 'row', alignItems: 'center', gap: 12, borderLeft: '4px solid #FA4F24' }}&gt;&#10;   &lt;Text style={{ fontSize: 13, fontWeight: 'bold', color: '#C43A17', width: 92 }}&gt;★ 高风险红线&lt;/Text&gt;&#10;    &lt;Text style={{ fontSize: 13, color: '#3A4050', flex: 1, lineHeight: 1.45 }}&gt;&#10;      高风险组件不得新增强依赖。已有依赖必须同时保留一条替代验证路径，否则不允许进核心交易链路。&#10;     &lt;/Text&gt;&#10;    &lt;/Box&gt;&#10;        &lt;/Box&gt;&#10;    &lt;/Box&gt;&#10;&#10;    {/* C 区 */}&#10;    &lt;Box style={{ height: 58, flexDirection: 'row', alignItems: 'center', borderTop: '1px solid #E8E8E8' }}&gt;&#10;        &lt;Box style={{ width: 10, height: 10, background: '#FA4F24' }} /&gt;&#10;    &lt;Text style={{ fontSize: 13, color: '#8A8F99', marginLeft: 12 }}&gt;硕磐机密 · TA技术架构咨询方法论&lt;/Text&gt;&#10;        &lt;Text style={{ fontSize: 13, color: '#8A8F99', marginLeft: 'auto' }}&gt;1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技术组件全景清单与六类资产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按层归类只是形式，按「锁定风险」标记才是重点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按层归类的六类资产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657350"/>
            <a:ext cx="4476750" cy="514350"/>
          </a:xfrm>
          <a:prstGeom prst="roundRect">
            <a:avLst>
              <a:gd name="adj" fmla="val 7407"/>
            </a:avLst>
          </a:prstGeom>
          <a:solidFill>
            <a:srgbClr val="C9CCD4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42950" y="18288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A4050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43000" y="18192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A4050"/>
                </a:solidFill>
                <a:latin typeface="Microsoft YaHei"/>
                <a:ea typeface="Microsoft YaHei"/>
              </a:rPr>
              <a:t>基础设施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495800" y="1838325"/>
            <a:ext cx="4572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b="1">
                <a:solidFill>
                  <a:srgbClr val="3A4050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975" b="1">
                <a:solidFill>
                  <a:srgbClr val="3A4050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2238375"/>
            <a:ext cx="4476750" cy="504825"/>
          </a:xfrm>
          <a:prstGeom prst="roundRect">
            <a:avLst>
              <a:gd name="adj" fmla="val 7547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2950" y="24098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43000" y="24003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资源平台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495800" y="2419350"/>
            <a:ext cx="4572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2809875"/>
            <a:ext cx="4476750" cy="514350"/>
          </a:xfrm>
          <a:prstGeom prst="roundRect">
            <a:avLst>
              <a:gd name="adj" fmla="val 7407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42950" y="29813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43000" y="29718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中间件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495800" y="2990850"/>
            <a:ext cx="4572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19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3390900"/>
            <a:ext cx="4476750" cy="514350"/>
          </a:xfrm>
          <a:prstGeom prst="roundRect">
            <a:avLst>
              <a:gd name="adj" fmla="val 7407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42950" y="3562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43000" y="35528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技术服务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495800" y="3571875"/>
            <a:ext cx="4572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14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3971925"/>
            <a:ext cx="4476750" cy="504825"/>
          </a:xfrm>
          <a:prstGeom prst="roundRect">
            <a:avLst>
              <a:gd name="adj" fmla="val 75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42950" y="4143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43000" y="41338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运行环境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495800" y="4152900"/>
            <a:ext cx="4572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4543425"/>
            <a:ext cx="4476750" cy="514350"/>
          </a:xfrm>
          <a:prstGeom prst="roundRect">
            <a:avLst>
              <a:gd name="adj" fmla="val 740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42950" y="47148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43000" y="47053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自研公共件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495800" y="4724400"/>
            <a:ext cx="4572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23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5153025"/>
            <a:ext cx="44767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最后一行「自研公共件」是最容易失控的一类。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23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项里可能有一半功能重复，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合并收益往往比新建一个大还多。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276850" y="1362075"/>
            <a:ext cx="6305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按锁定风险分级（这才是重点）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5276850" y="1657350"/>
            <a:ext cx="1419225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43575" y="17240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风险等级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734175" y="1657350"/>
            <a:ext cx="3390900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305800" y="17240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10163175" y="1657350"/>
            <a:ext cx="1419225" cy="285750"/>
          </a:xfrm>
          <a:prstGeom prst="roundRect">
            <a:avLst>
              <a:gd name="adj" fmla="val 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753725" y="17240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处置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276850" y="2009775"/>
            <a:ext cx="1419225" cy="952500"/>
          </a:xfrm>
          <a:prstGeom prst="roundRect">
            <a:avLst>
              <a:gd name="adj" fmla="val 2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905500" y="23907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734175" y="2009775"/>
            <a:ext cx="3390900" cy="95250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48475" y="23907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单一厂商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无替代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深度改造过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10163175" y="2009775"/>
            <a:ext cx="1419225" cy="95250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239375" y="2390775"/>
            <a:ext cx="12668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列入替换计划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276850" y="3028950"/>
            <a:ext cx="1419225" cy="952500"/>
          </a:xfrm>
          <a:prstGeom prst="roundRect">
            <a:avLst>
              <a:gd name="adj" fmla="val 2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905500" y="340995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734175" y="3028950"/>
            <a:ext cx="3390900" cy="95250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48475" y="34099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单一厂商但有标准接口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10163175" y="3028950"/>
            <a:ext cx="1419225" cy="95250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239375" y="3409950"/>
            <a:ext cx="12668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保持合同可控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276850" y="4048125"/>
            <a:ext cx="1419225" cy="952500"/>
          </a:xfrm>
          <a:prstGeom prst="roundRect">
            <a:avLst>
              <a:gd name="adj" fmla="val 2000"/>
            </a:avLst>
          </a:prstGeom>
          <a:solidFill>
            <a:srgbClr val="FDC69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905500" y="442912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2000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734175" y="4048125"/>
            <a:ext cx="3390900" cy="95250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848475" y="442912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标准件，接口通用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10163175" y="4048125"/>
            <a:ext cx="1419225" cy="952500"/>
          </a:xfrm>
          <a:prstGeom prst="roundRect">
            <a:avLst>
              <a:gd name="adj" fmla="val 2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0239375" y="4429125"/>
            <a:ext cx="12668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正常运维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314950" y="5067300"/>
            <a:ext cx="630555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5314950" y="5067300"/>
            <a:ext cx="6305550" cy="533400"/>
          </a:xfrm>
          <a:custGeom>
            <a:pathLst>
              <a:path w="662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448300" y="52578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高风险红线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438900" y="5114925"/>
            <a:ext cx="50101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高风险组件不得新增强依赖。已有依赖必须同时保留一条替代验证路径，否则不允许进核心交易链路。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2171700" y="1819275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>
                    <a:alpha val="88000"/>
                  </a:srgbClr>
                </a:solidFill>
                <a:latin typeface="Microsoft YaHei"/>
                <a:ea typeface="Microsoft YaHei"/>
              </a:rPr>
              <a:t>机房、网络、硬件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171700" y="240030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计算存储网络资源池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171700" y="297180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数据库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注册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配置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搜索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2171700" y="3552825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网关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消息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缓存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调度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171700" y="41338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容器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虚机</a:t>
            </a:r>
            <a:r>
              <a:rPr lang="en-US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边缘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171700" y="4705350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各团队自建的可复用件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之模板：&lt;span style={{ color: '#FA4F24' }}&gt;技术组件卡片&lt;/span&gt;，一张卡说清一个组件的全部判断&#10;      &lt;/Text&gt;&#10;   &lt;Text style={{ fontSize: 20, color: '#8A8F99', marginTop: 8 }}&gt;&#10;    字段填不出来，说明这个组件还没被真正评估过&#10;      &lt;/Text&gt;&#10;    &lt;/Box&gt;&#10;    &lt;Box style={{ height: 1, background: '#E8E8E8' }} /&gt;&#10;&#10;    {/* B 区 */}&#10;    &lt;Box style={{ paddingTop: 22, paddingBottom: 12, height: 479, flexDirection: 'row', gap: 20 }}&gt;&#10;        {/* 左 卡片 */}&#10;        &lt;Box style={{ width: 590, flexDirection: 'column', gap: 8 }}&gt;&#10;            &lt;Text style={{ fontSize: 20, fontWeight: 'bold', color: '#0F1423' }}&gt;组件卡片 · 示例：关系型数据库&lt;/Text&gt;&#10;            &lt;Box style={{ background: '#0F1423', borderRadius: 4, padding: '10px 16px', flexDirection: 'row', alignItems: 'center' }}&gt;&#10; &lt;Text style={{ fontSize: 17, fontWeight: 'bold', color: '#FFFFFF', flex: 1 }}&gt;TECHNOLOGY COMPONENT CARD&lt;/Text&gt;&#10;   &lt;Text style={{ fontSize: 13, color: '#FBA15C' }}&gt;TC-003 · 高风险&lt;/Text&gt;&#10;            &lt;/Box&gt;&#10;  {[&#10;      { k: '所属层', v: 'L3 中间件' },&#10;   { k: '当前版本', v: '集中 8 个；生产 4 个大版本并存' },&#10;      { k: '使用方', v: '订单 / 结算 / 主数据（12 个应用）' },&#10;   { k: '维护方', v: '平台组 + 供应商双轨' },&#10;   { k: '许可证', v: '企业版，年度订阅' },&#10;   { k: '锁定原因', v: '深度依赖其存储过程语法，换库需改业务代码' },&#10;    { k: '替代方案', v: '开源库可选，但需 6 个月改造 + 双写验证' },&#10;      { k: '退出时间', v: '合同 2027-06，需提前 6 个月启动替换评估' },&#10;     ].map((it, i) =&gt; (&#10;      &lt;Box key={i} style={{ flex: 1, flexDirection: 'row', alignItems: 'center', background: i % 2 === 0 ? '#F7F7F8' : '#FFFFFF', borderRadius: 2, padding: '0 12px' }}&gt;&#10;                &lt;Text style={{ fontSize: 12, color: '#8A8F99', width: 82 }}&gt;{it.k}&lt;/Text&gt;&#10;        &lt;Text style={{ fontSize: 13, color: '#0F1423', flex: 1, fontWeight: 'bold' }}&gt;{it.v}&lt;/Text&gt;&#10;        &lt;/Box&gt;&#10;      ))}&#10;        &lt;/Box&gt;&#10;&#10;     {/* 右 必填四列 + 用法 */}&#10; &lt;Box style={{ flex: 1, flexDirection: 'column', gap: 8 }}&gt;&#10;   &lt;Text style={{ fontSize: 20, fontWeight: 'bold', color: '#0F1423' }}&gt;必填四列&lt;/Text&gt;&#10;  {[&#10;    { n: '1', t: '锁定原因', d: '为什么换不掉。这是高风险组件存在的唯一理由' },&#10;    { n: '2', t: '替代方案', d: '换不掉也要说得出换成什么。答不出就说明还没评估过' },&#10;      { n: '3', t: '退出时间', d: '合同到期的日子。技术决策必须被商业合同倒逼' },&#10;        { n: '4', t: '使用方', d: '具体到应用名，没有使用方就不用维护这张卡' },&#10;      ].map((it, i) =&gt; (&#10;   &lt;Box key={i} style={{ flex: 1, background: '#F7F7F8', borderRadius: 4, padding: '0 14px', flexDirection: 'row', alignItems: 'center', gap: 12, borderLeft: '4px solid #FA4F24' }}&gt;&#10;      &lt;Text style={{ fontSize: 17, fontWeight: 'bold', color: '#FA4F24', width: 20 }}&gt;{it.n}&lt;/Text&gt;&#10; &lt;Box style={{ flex: 1, flexDirection: 'column' }}&gt;&#10;     &lt;Text style={{ fontSize: 15, fontWeight: 'bold', color: '#0F1423' }}&gt;{it.t}&lt;/Text&gt;&#10;            &lt;Text style={{ fontSize: 12, color: '#3A4050', lineHeight: 1.4, marginTop: 2 }}&gt;{it.d}&lt;/Text&gt;&#10;     &lt;/Box&gt;&#10;   &lt;/Box&gt;&#10;       ))}&#10;            &lt;Text style={{ fontSize: 20, fontWeight: 'bold', color: '#0F1423', marginTop: 4 }}&gt;怎么用这张卡&lt;/Text&gt;&#10;            &lt;Text style={{ fontSize: 13, color: '#3A4050', lineHeight: 1.6 }}&gt;&#10;     卡片不是资料库，是决策依据。评审时看三张卡就够了：核心组件的锁定原因、&#10;   自研公共件的重复情况、合同即将到期组件的退出时间。&#10;     &lt;/Text&gt;&#10;            &lt;Box style={{ flex: 1, background: 'linear-gradient(160deg, #FA4F24 0%, #F87D2F 100%)', borderRadius: 4, padding: '12px 16px', flexDirection: 'column', justifyContent: 'center' }}&gt;&#10;   &lt;Text style={{ fontSize: 15, fontWeight: 'bold', color: '#FFFFFF' }}&gt;最容易被跳过的一栏&lt;/Text&gt;&#10;     &lt;Text style={{ fontSize: 13, color: 'rgba(255,255,255,0.95)', lineHeight: 1.5, marginTop: 5 }}&gt;&#10;      「锁定原因」。大多数组织只会写「历史遗留」。写不出具体原因，&#10;      就没法评估这个组件到底是真锁定还是假锁定——而假锁定的组件最费钱。&#10;      &lt;/Text&gt;&#10;   &lt;/Box&gt;&#10;        &lt;/Box&gt;&#10;    &lt;/Box&gt;&#10;&#10;    {/* C 区 */}&#10;    &lt;Box style={{ height: 58, flexDirection: 'row', alignItems: 'center', borderTop: '1px solid #E8E8E8' }}&gt;&#10;        &lt;Box style={{ width: 10, height: 10, background: '#FA4F24' }} /&gt;&#10;    &lt;Text style={{ fontSize: 13, color: '#8A8F99', marginLeft: 12 }}&gt;硕磐机密 · TA技术架构咨询方法论&lt;/Text&gt;&#10;      &lt;Text style={{ fontSize: 13, color: '#8A8F99', marginLeft: 'auto' }}&gt;11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技术组件卡片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，一张卡说清一个组件的全部判断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字段填不出来，说明这个组件还没被真正评估过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619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组件卡片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示例：关系型数据库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1666875"/>
            <a:ext cx="5619750" cy="390525"/>
          </a:xfrm>
          <a:prstGeom prst="roundRect">
            <a:avLst>
              <a:gd name="adj" fmla="val 975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62000" y="176212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TECHNOLOGY COMPONENT CARD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181600" y="1790700"/>
            <a:ext cx="89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BA15C"/>
                </a:solidFill>
                <a:latin typeface="Microsoft YaHei"/>
                <a:ea typeface="Microsoft YaHei"/>
              </a:rPr>
              <a:t xml:space="preserve">TC-003 · </a:t>
            </a:r>
            <a:r>
              <a:rPr lang="zh-CN" sz="975">
                <a:solidFill>
                  <a:srgbClr val="FBA15C"/>
                </a:solidFill>
                <a:latin typeface="Microsoft YaHei"/>
                <a:ea typeface="Microsoft YaHei"/>
              </a:rPr>
              <a:t>高风险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2133600"/>
            <a:ext cx="5619750" cy="371475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23900" y="2247900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所属层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504950" y="2247900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L3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中间件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2581275"/>
            <a:ext cx="5619750" cy="3619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23900" y="269557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当前版本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504950" y="2686050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集中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个；生产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个大版本并存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3019425"/>
            <a:ext cx="5619750" cy="371475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23900" y="313372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使用方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504950" y="313372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订单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结算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主数据（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个应用）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3467100"/>
            <a:ext cx="5619750" cy="3619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23900" y="3581400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维护方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504950" y="357187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平台组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供应商双轨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3905250"/>
            <a:ext cx="5619750" cy="371475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23900" y="4019550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许可证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504950" y="4019550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企业版，年度订阅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4352925"/>
            <a:ext cx="5619750" cy="3619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23900" y="446722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锁定原因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504950" y="4457700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深度依赖其存储过程语法，换库需改业务代码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4791075"/>
            <a:ext cx="5619750" cy="371475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23900" y="490537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替代方案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504950" y="490537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开源库可选，但需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个月改造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双写验证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5238750"/>
            <a:ext cx="5619750" cy="3619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23900" y="5353050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退出时间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504950" y="534352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合同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2027-06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，需提前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个月启动替换评估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19850" y="1362075"/>
            <a:ext cx="5162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必填四列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457950" y="1666875"/>
            <a:ext cx="5162550" cy="447675"/>
          </a:xfrm>
          <a:prstGeom prst="roundRect">
            <a:avLst>
              <a:gd name="adj" fmla="val 851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6457950" y="1666875"/>
            <a:ext cx="5162550" cy="447675"/>
          </a:xfrm>
          <a:custGeom>
            <a:pathLst>
              <a:path w="542" h="47">
                <a:moveTo>
                  <a:pt x="4" y="47"/>
                </a:moveTo>
                <a:cubicBezTo>
                  <a:pt x="2" y="47"/>
                  <a:pt x="0" y="45"/>
                  <a:pt x="0" y="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591300" y="179070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96100" y="16954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锁定原因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896100" y="1885950"/>
            <a:ext cx="4552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为什么换不掉。这是高风险组件存在的唯一理由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457950" y="2190750"/>
            <a:ext cx="5162550" cy="447675"/>
          </a:xfrm>
          <a:prstGeom prst="roundRect">
            <a:avLst>
              <a:gd name="adj" fmla="val 851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457950" y="2190750"/>
            <a:ext cx="5162550" cy="447675"/>
          </a:xfrm>
          <a:custGeom>
            <a:pathLst>
              <a:path w="542" h="47">
                <a:moveTo>
                  <a:pt x="4" y="47"/>
                </a:moveTo>
                <a:cubicBezTo>
                  <a:pt x="2" y="47"/>
                  <a:pt x="0" y="45"/>
                  <a:pt x="0" y="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591300" y="2314575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96100" y="2219325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替代方案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896100" y="2409825"/>
            <a:ext cx="4552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换不掉也要说得出换成什么。答不出就说明还没评估过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457950" y="2714625"/>
            <a:ext cx="5162550" cy="438150"/>
          </a:xfrm>
          <a:prstGeom prst="roundRect">
            <a:avLst>
              <a:gd name="adj" fmla="val 86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457950" y="2714625"/>
            <a:ext cx="5162550" cy="438150"/>
          </a:xfrm>
          <a:custGeom>
            <a:pathLst>
              <a:path w="542" h="46">
                <a:moveTo>
                  <a:pt x="4" y="46"/>
                </a:moveTo>
                <a:cubicBezTo>
                  <a:pt x="2" y="46"/>
                  <a:pt x="0" y="44"/>
                  <a:pt x="0" y="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591300" y="28384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896100" y="274320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退出时间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96100" y="2933700"/>
            <a:ext cx="4552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合同到期的日子。技术决策必须被商业合同倒逼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457950" y="3228975"/>
            <a:ext cx="5162550" cy="447675"/>
          </a:xfrm>
          <a:prstGeom prst="roundRect">
            <a:avLst>
              <a:gd name="adj" fmla="val 851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457950" y="3228975"/>
            <a:ext cx="5162550" cy="447675"/>
          </a:xfrm>
          <a:custGeom>
            <a:pathLst>
              <a:path w="542" h="47">
                <a:moveTo>
                  <a:pt x="4" y="47"/>
                </a:moveTo>
                <a:cubicBezTo>
                  <a:pt x="2" y="47"/>
                  <a:pt x="0" y="45"/>
                  <a:pt x="0" y="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591300" y="335280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896100" y="3257550"/>
            <a:ext cx="455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使用方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96100" y="3448050"/>
            <a:ext cx="4552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具体到应用名，没有使用方就不用维护这张卡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419850" y="3790950"/>
            <a:ext cx="5162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怎么用这张卡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419850" y="4095750"/>
            <a:ext cx="51625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卡片不是资料库，是决策依据。评审时看三张卡就够了：核心组件的锁定原因、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自研公共件的重复情况、合同即将到期组件的退出时间。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419850" y="4648200"/>
            <a:ext cx="5162550" cy="9525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572250" y="47910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最容易被跳过的一栏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572250" y="5010150"/>
            <a:ext cx="48577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「锁定原因」。大多数组织只会写「历史遗留」。写不出具体原因，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就没法评估这个组件到底是真锁定还是假锁定——而假锁定的组件最费钱。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&lt;Text style={{ fontSize: 300, fontWeight: 'bold', color: 'rgba(255,255,255,0.08)', lineHeight: 1.0 }}&gt;03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3&lt;/Text&gt;&#13;&#10;  &lt;Box style={{ width: 72, height: 5, background: '#FA4F24', marginTop: 22 }} /&gt;&#13;&#10;        &lt;Text style={{ fontSize: 58, fontWeight: 'bold', color: '#FFFFFF', marginTop: 28, lineHeight: 1.15 }}&gt;部署架构与环境&lt;/Text&gt;&#13;&#10;    &lt;Text style={{ fontSize: 17, color: 'rgba(255,255,255,0.62)', letterSpacing: 2, marginTop: 20 }}&gt;DEPLOYMENT ARCHITECTURE&lt;/Text&gt;&#13;&#10;        &lt;Text style={{ fontSize: 19, color: 'rgba(255,255,255,0.85)', marginTop: 26, lineHeight: 1.6 }}&gt;环境分区、部署视图与资源基线&lt;/Text&gt;&#13;&#10;    &lt;/Box&gt;&#13;&#10;&#13;&#10;    {/* 右下页码 */}&#13;&#10;    &lt;Box style={{ position: 'absolute', right: 88, bottom: 64, flexDirection: 'row', alignItems: 'center', gap: 12 }}&gt;&#13;&#10;        &lt;Box style={{ width: 14, height: 14, background: '#FA4F24' }} /&gt;&#13;&#10;        &lt;Text style={{ fontSize: 14, color: 'rgba(255,255,255,0.5)' }}&gt;硕磐机密 · TA技术架构咨询方法论&lt;/Text&gt;&#13;&#10;        &lt;Text style={{ fontSize: 14, color: 'rgba(255,255,255,0.5)', marginLeft: 12 }}&gt;12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部署架构与环境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DEPLOYMENT ARCHITECTURE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环境分区、部署视图与资源基线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41057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658225" y="6086475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之方法：&lt;span style={{ color: '#FA4F24' }}&gt;环境四分区与配置隔离红线&lt;/span&gt;&#10;    &lt;/Text&gt;&#10;        &lt;Text style={{ fontSize: 20, color: '#8A8F99', marginTop: 8 }}&gt;&#10;     大多数生产事故的最后一步，都是开发连上了生产的库&#10;      &lt;/Text&gt;&#10;  &lt;/Box&gt;&#10;    &lt;Box style={{ height: 1, background: '#E8E8E8' }} /&gt;&#10;&#10;    {/* B 区 */}&#10;    &lt;Box style={{ paddingTop: 24, paddingBottom: 14, height: 479, flexDirection: 'column', gap: 11 }}&gt;&#10;      {[&#10;      { n: '01', t: '开发 DEV', d: '代码与配置频繁变更，允许脏数据', c: '#5A6072', tc: '#FFFFFF' },&#10;        { n: '02', t: '测试 SIT / UAT', d: '数据脱敏，贴近生产结构但不必同规模', c: '#8A8F99', tc: '#FFFFFF' },&#10;        { n: '03', t: '预发 PRE', d: '与生产同构：同版本、同中间件、同配置结构。不做预发的发布必出事', c: '#FA4F24', tc: '#FFFFFF' },&#10;        { n: '04', t: '生产 PRD', d: '变更需审批、双人操作、可回滚', c: '#0F1423', tc: '#FFFFFF' },&#10;      ].map((it, i) =&gt; (&#10; &lt;Box key={i} style={{ flex: 1, flexDirection: 'row', alignItems: 'center', background: it.c, borderRadius: 4, padding: '0 18px', gap: 18 }}&gt;&#10;    &lt;Text style={{ fontSize: 20, fontWeight: 'bold', color: it.tc, width: 42 }}&gt;{it.n}&lt;/Text&gt;&#10;   &lt;Text style={{ fontSize: 19, fontWeight: 'bold', color: it.tc, width: 160 }}&gt;{it.t}&lt;/Text&gt;&#10;       &lt;Text style={{ fontSize: 14, color: it.tc, opacity: 0.92, flex: 1, lineHeight: 1.45 }}&gt;{it.d}&lt;/Text&gt;&#10;   {i &lt; 3 &amp;&amp; &lt;Text style={{ fontSize: 15, color: it.tc, opacity: 0.6 }}&gt;→&lt;/Text&gt;}&#10;     &lt;/Box&gt;&#10;   ))}&#10;  &lt;Box style={{ flexDirection: 'row', gap: 14, flex: 1 }}&gt;&#10;        &lt;Box style={{ flex: 1, background: '#F7F7F8', borderRadius: 4, padding: '12px 16px', flexDirection: 'column', justifyContent: 'center', borderLeft: '4px solid #FA4F24' }}&gt;&#10;        &lt;Text style={{ fontSize: 16, fontWeight: 'bold', color: '#0F1423' }}&gt;四条隔离红线&lt;/Text&gt;&#10;  {[&#10;      '凭据隔离：各环境密钥不同源，禁止共用',&#10;      '数据隔离：生产数据不入测试，须脱敏',&#10;       '网络隔离：生产不对开发开反向通道',&#10;  '账号隔离：运维账号按环境申请，到期收回',&#10;    ].map((t, i) =&gt; (&#10;          &lt;Text key={i} style={{ fontSize: 13, color: '#3A4050', lineHeight: 1.6 }}&gt;· {t}&lt;/Text&gt;&#10;       ))}&#10;      &lt;/Box&gt;&#10;        &lt;Box style={{ width: 336, background: '#0F1423', borderRadius: 4, padding: '12px 16px', flexDirection: 'column', justifyContent: 'center' }}&gt;&#10;          &lt;Text style={{ fontSize: 15, fontWeight: 'bold', color: '#FBA15C' }}&gt;★ 预发最容易被砍掉&lt;/Text&gt;&#10;     &lt;Text style={{ fontSize: 13, color: 'rgba(255,255,255,0.88)', lineHeight: 1.6, marginTop: 5 }}&gt;&#10; 预发是「最后一次在生产之外发现问题」的机会。为了省资源砍掉预发，&#10;      等于把发现问题的时机推到用户面前。而且省下的那点资源，&#10;      远不够赔一次生产事故的停机损失。&#10;      &lt;/Text&gt;&#10;        &lt;/Box&gt;&#10;      &lt;/Box&gt;&#10;    &lt;/Box&gt;&#10;&#10;    {/* C 区 */}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TA技术架构咨询方法论&lt;/Text&gt;&#10;        &lt;Text style={{ fontSize: 13, color: '#8A8F99', marginLeft: 'auto' }}&gt;1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环境四分区与配置隔离红线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大多数生产事故的最后一步，都是开发连上了生产的库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09600" y="1381125"/>
            <a:ext cx="10972800" cy="523875"/>
          </a:xfrm>
          <a:prstGeom prst="roundRect">
            <a:avLst>
              <a:gd name="adj" fmla="val 7273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81050" y="1533525"/>
            <a:ext cx="400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352550" y="153352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开发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DEV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2009775"/>
            <a:ext cx="10972800" cy="523875"/>
          </a:xfrm>
          <a:prstGeom prst="roundRect">
            <a:avLst>
              <a:gd name="adj" fmla="val 7273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81050" y="2162175"/>
            <a:ext cx="400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352550" y="216217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测试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SIT / UAT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2638425"/>
            <a:ext cx="10972800" cy="523875"/>
          </a:xfrm>
          <a:prstGeom prst="roundRect">
            <a:avLst>
              <a:gd name="adj" fmla="val 727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81050" y="2790825"/>
            <a:ext cx="400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352550" y="279082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预发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PRE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3267075"/>
            <a:ext cx="10972800" cy="523875"/>
          </a:xfrm>
          <a:prstGeom prst="roundRect">
            <a:avLst>
              <a:gd name="adj" fmla="val 727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81050" y="3419475"/>
            <a:ext cx="400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352550" y="341947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生产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PRD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47700" y="3895725"/>
            <a:ext cx="7639050" cy="1685925"/>
          </a:xfrm>
          <a:prstGeom prst="roundRect">
            <a:avLst>
              <a:gd name="adj" fmla="val 22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647700" y="3895725"/>
            <a:ext cx="7639050" cy="1685925"/>
          </a:xfrm>
          <a:custGeom>
            <a:pathLst>
              <a:path w="802" h="177">
                <a:moveTo>
                  <a:pt x="4" y="177"/>
                </a:moveTo>
                <a:cubicBezTo>
                  <a:pt x="2" y="177"/>
                  <a:pt x="0" y="175"/>
                  <a:pt x="0" y="17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7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00100" y="4171950"/>
            <a:ext cx="7296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四条隔离红线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00100" y="4362450"/>
            <a:ext cx="72961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凭据隔离：各环境密钥不同源，禁止共用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72961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数据隔离：生产数据不入测试，须脱敏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0100" y="4838700"/>
            <a:ext cx="72961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网络隔离：生产不对开发开反向通道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00100" y="5076825"/>
            <a:ext cx="72961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账号隔离：运维账号按环境申请，到期收回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8382000" y="3895725"/>
            <a:ext cx="3200400" cy="1685925"/>
          </a:xfrm>
          <a:prstGeom prst="roundRect">
            <a:avLst>
              <a:gd name="adj" fmla="val 226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534400" y="415290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预发最容易被砍掉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534400" y="4371975"/>
            <a:ext cx="28956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预发是「最后一次在生产之外发现问题」的机会。为了省资源砍掉预发，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等于把发现问题的时机推到用户面前。而且省下的那点资源，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远不够赔一次生产事故的停机损失。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048000" y="1524000"/>
            <a:ext cx="80486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代码与配置频繁变更，允许脏数据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268075" y="15621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048000" y="2152650"/>
            <a:ext cx="80486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数据脱敏，贴近生产结构但不必同规模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268075" y="21907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048000" y="2781300"/>
            <a:ext cx="80486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与生产同构：同版本、同中间件、同配置结构。不做预发的发布必出事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268075" y="28194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048000" y="3409950"/>
            <a:ext cx="8362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变更需审批、双人操作、可回滚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 style={{ width: 1280, height: 720, background: '#FFFFFF', padding: '24px 64px 0' }}&gt;&#10;    {/* A 区 */}&#10;    &lt;Box style={{ height: 96, flexDirection: 'column', justifyContent: 'flex-start' }}&gt;&#10; &lt;Text style={{ fontSize: 32, fontWeight: 'bold', color: '#0F1423' }}&gt;&#10; 之内容：&lt;span style={{ color: '#FA4F24' }}&gt;部署视图与资源基线&lt;/span&gt;，画到可用区粒度为止&#10;      &lt;/Text&gt;&#10;  &lt;Text style={{ fontSize: 20, color: '#8A8F99', marginTop: 8 }}&gt;&#10;     部署视图回答「挂了怎么办」，所以必须画到故障切换的最小单位&#10;      &lt;/Text&gt;&#10;    &lt;/Box&gt;&#10;  &lt;Box style={{ height: 1, background: '#E8E8E8' }} /&gt;&#10;&#10;    {/* B 区 */}&#10;    &lt;Box style={{ paddingTop: 22, paddingBottom: 12, height: 479, flexDirection: 'row', gap: 20 }}&gt;&#10;        {/* 左 三级部署粒度 */}&#10;        &lt;Box style={{ width: 500, flexDirection: 'column', gap: 8 }}&gt;&#10;       &lt;Text style={{ fontSize: 20, fontWeight: 'bold', color: '#0F1423' }}&gt;部署视图的三个粒度&lt;/Text&gt;&#10;     {[&#10;      { n: '①', t: '全局视图', d: '几个机房 / 几个可用区，各自承载什么', p: '给管理层看，决定投入', c: '#0F1423' },&#10;   { n: '②', t: '可用区视图', d: '同一业务的节点分布，跨区是否真的跨', p: '给运维看，决定容灾', c: '#FA4F24' },&#10;   { n: '③', t: '节点视图', d: '单节点上的进程、中间件实例、副本数', p: '给开发看，决定容量', c: '#F8622F' },&#10;     ].map((it, i) =&gt; (&#10;      &lt;Box key={i} style={{ flex: 1, background: '#F7F7F8', borderRadius: 4, padding: '0 16px', flexDirection: 'row', alignItems: 'center', gap: 14, borderLeft: `5px solid ${it.c}` }}&gt;&#10;    &lt;Text style={{ fontSize: 20, fontWeight: 'bold', color: it.c, width: 26 }}&gt;{it.n}&lt;/Text&gt;&#10;     &lt;Box style={{ flex: 1, flexDirection: 'column' }}&gt;&#10;     &lt;Text style={{ fontSize: 17, fontWeight: 'bold', color: '#0F1423' }}&gt;{it.t}&lt;/Text&gt;&#10;     &lt;Text style={{ fontSize: 12, color: '#3A4050', lineHeight: 1.4, marginTop: 2 }}&gt;{it.d}&lt;/Text&gt;&#10;     &lt;/Box&gt;&#10;     &lt;Text style={{ fontSize: 12, color: it.c, width: 132, textAlign: 'right', lineHeight: 1.4 }}&gt;{it.p}&lt;/Text&gt;&#10;        &lt;/Box&gt;&#10;     ))}&#10;       &lt;Box style={{ flex: 1, background: 'linear-gradient(160deg, #FA4F24 0%, #F87D2F 100%)', borderRadius: 4, padding: '0 16px', flexDirection: 'column', justifyContent: 'center' }}&gt;&#10;      &lt;Text style={{ fontSize: 14, fontWeight: 'bold', color: '#FFFFFF' }}&gt;★ 常见的自欺：假双活&lt;/Text&gt;&#10;     &lt;Text style={{ fontSize: 12, color: 'rgba(255,255,255,0.95)', lineHeight: 1.45, marginTop: 4 }}&gt;&#10; 架构图上标着「双活」，但两个可用区共用同一个数据库或同一套文件存储。&#10;   判断方法只有一个：关掉 A 区，看 B 区还能不能独立接住全部流量。&#10;      &lt;/Text&gt;&#10;      &lt;/Box&gt;&#10;   &lt;/Box&gt;&#10;&#10;        {/* 右 资源基线表 */}&#10;        &lt;Box style={{ flex: 1, flexDirection: 'column', gap: 8 }}&gt;&#10;   &lt;Text style={{ fontSize: 20, fontWeight: 'bold', color: '#0F1423' }}&gt;资源基线表（按业务定，不按人定）&lt;/Text&gt;&#10;        &lt;Box style={{ flexDirection: 'row', gap: 4 }}&gt;&#10;          {['业务', '节点', '规格', '副本', '可承载'].map((t, i) =&gt; (&#10;      &lt;Box key={i} style={{ flex: i === 0 ? 1.6 : 1, background: '#0F1423', padding: '7px 4px', alignItems: 'center', borderRadius: 2 }}&gt;&#10;            &lt;Text style={{ fontSize: 12, fontWeight: 'bold', color: '#FFFFFF' }}&gt;{t}&lt;/Text&gt;&#10;       &lt;/Box&gt;&#10;        ))}&#10;      &lt;/Box&gt;&#10;    {[&#10;   { b: '订单中心', n: '12', s: '8C16G', r: '6+6', v: '2400 TPS' },&#10;    { b: '结算批处理', n: '8', s: '16C32G', r: '4+4', v: '1.2万笔/时' },&#10;      { b: '客户查询', n: '20', s: '4C8G', r: '10+10', v: '8000 QPS' },&#10;      { b: '报表平台', n: '10', s: '8C16G', r: '5+5', v: '600 并发' },&#10;  { b: '消息网关', n: '6', s: '4C8G', r: '3+3', v: '5万条/秒' },&#10;        ].map((it, i) =&gt; (&#10;     &lt;Box key={i} style={{ flex: 1, flexDirection: 'row', gap: 4, alignItems: 'center' }}&gt;&#10;          {[{ v: it.b, f: 1.6 }, { v: it.n, f: 1 }, { v: it.s, f: 1 }, { v: it.r, f: 1 }, { v: it.v, f: 1 }].map((c, j) =&gt; (&#10;       &lt;Box key={j} style={{ flex: c.f, background: i % 2 === 0 ? '#F7F7F8' : '#FFFFFF', borderRadius: 2, padding: '0 4px', alignItems: 'center', borderBottom: j === 0 ? `2px solid #FA4F24` : '1px solid #E8E8E8' }}&gt;&#10;        &lt;Text style={{ fontSize: 12, color: j === 0 ? '#0F1423' : '#3A4050', fontWeight: j === 0 ? 'bold' : 'normal' }}&gt;{c.v}&lt;/Text&gt;&#10;     &lt;/Box&gt;&#10;   ))}&#10;      &lt;/Box&gt;&#10;     ))}&#10;            &lt;Box style={{ flex: 1, background: '#F7F7F8', borderRadius: 4, padding: '10px 14px', flexDirection: 'column', justifyContent: 'center', borderLeft: '4px solid #FA4F24' }}&gt;&#10;      &lt;Text style={{ fontSize: 14, fontWeight: 'bold', color: '#C43A17' }}&gt;「可承载」这一列最值钱&lt;/Text&gt;&#10;     &lt;Text style={{ fontSize: 12, color: '#3A4050', lineHeight: 1.5, marginTop: 3 }}&gt;&#10;     前四列是配置，最后一列是容量。有了容量列，才能算「这个业务当前用了多少、还有多少余量」——&#10;     扩容决策从拍脑袋变成算术题。&#10;     &lt;/Text&gt;&#10;       &lt;/Box&gt;&#10;        &lt;/Box&gt;&#10;    &lt;/Box&gt;&#10;&#10;    {/* C 区 */}&#10;    &lt;Box style={{ height: 58, flexDirection: 'row', alignItems: 'center', borderTop: '1px solid #E8E8E8' }}&gt;&#10;    &lt;Box style={{ width: 10, height: 10, background: '#FA4F24' }} /&gt;&#10;  &lt;Text style={{ fontSize: 13, color: '#8A8F99', marginLeft: 12 }}&gt;硕磐机密 · TA技术架构咨询方法论&lt;/Text&gt;&#10;    &lt;Text style={{ fontSize: 13, color: '#8A8F99', marginLeft: 'auto' }}&gt;14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部署视图与资源基线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，画到可用区粒度为止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部署视图回答「挂了怎么办」，所以必须画到故障切换的最小单位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部署视图的三个粒度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57225" y="1666875"/>
            <a:ext cx="4762500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57225" y="1666875"/>
            <a:ext cx="4762500" cy="885825"/>
          </a:xfrm>
          <a:custGeom>
            <a:pathLst>
              <a:path w="500" h="93">
                <a:moveTo>
                  <a:pt x="5" y="93"/>
                </a:moveTo>
                <a:cubicBezTo>
                  <a:pt x="4" y="93"/>
                  <a:pt x="3" y="93"/>
                  <a:pt x="2" y="92"/>
                </a:cubicBezTo>
                <a:cubicBezTo>
                  <a:pt x="1" y="92"/>
                  <a:pt x="0" y="91"/>
                  <a:pt x="0" y="89"/>
                </a:cubicBezTo>
                <a:lnTo>
                  <a:pt x="0" y="89"/>
                </a:lnTo>
                <a:lnTo>
                  <a:pt x="0" y="8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09625" y="20002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F1423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90625" y="1905000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全局视图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190625" y="2124075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几个机房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几个可用区，各自承载什么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962400" y="2009775"/>
            <a:ext cx="1257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给管理层看，决定投入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57225" y="2628900"/>
            <a:ext cx="47625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657225" y="2628900"/>
            <a:ext cx="4762500" cy="876300"/>
          </a:xfrm>
          <a:custGeom>
            <a:pathLst>
              <a:path w="500" h="92">
                <a:moveTo>
                  <a:pt x="5" y="92"/>
                </a:moveTo>
                <a:cubicBezTo>
                  <a:pt x="4" y="92"/>
                  <a:pt x="3" y="92"/>
                  <a:pt x="2" y="91"/>
                </a:cubicBezTo>
                <a:cubicBezTo>
                  <a:pt x="1" y="91"/>
                  <a:pt x="0" y="90"/>
                  <a:pt x="0" y="88"/>
                </a:cubicBezTo>
                <a:lnTo>
                  <a:pt x="0" y="88"/>
                </a:lnTo>
                <a:lnTo>
                  <a:pt x="0" y="8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09625" y="295275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90625" y="2857500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可用区视图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90625" y="3076575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同一业务的节点分布，跨区是否真的跨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962400" y="2971800"/>
            <a:ext cx="1257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900">
                <a:solidFill>
                  <a:srgbClr val="FA4F24"/>
                </a:solidFill>
                <a:latin typeface="Microsoft YaHei"/>
                <a:ea typeface="Microsoft YaHei"/>
              </a:rPr>
              <a:t>给运维看，决定容灾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57225" y="3581400"/>
            <a:ext cx="4762500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657225" y="3581400"/>
            <a:ext cx="4762500" cy="885825"/>
          </a:xfrm>
          <a:custGeom>
            <a:pathLst>
              <a:path w="500" h="93">
                <a:moveTo>
                  <a:pt x="5" y="93"/>
                </a:moveTo>
                <a:cubicBezTo>
                  <a:pt x="4" y="93"/>
                  <a:pt x="3" y="93"/>
                  <a:pt x="2" y="92"/>
                </a:cubicBezTo>
                <a:cubicBezTo>
                  <a:pt x="1" y="92"/>
                  <a:pt x="0" y="91"/>
                  <a:pt x="0" y="89"/>
                </a:cubicBezTo>
                <a:lnTo>
                  <a:pt x="0" y="89"/>
                </a:lnTo>
                <a:lnTo>
                  <a:pt x="0" y="8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09625" y="3914775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8622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90625" y="3819525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节点视图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90625" y="4038600"/>
            <a:ext cx="26384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单节点上的进程、中间件实例、副本数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962400" y="3924300"/>
            <a:ext cx="1257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900">
                <a:solidFill>
                  <a:srgbClr val="F8622F"/>
                </a:solidFill>
                <a:latin typeface="Microsoft YaHei"/>
                <a:ea typeface="Microsoft YaHei"/>
              </a:rPr>
              <a:t>给开发看，决定容量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4543425"/>
            <a:ext cx="4762500" cy="1057275"/>
          </a:xfrm>
          <a:prstGeom prst="roundRect">
            <a:avLst>
              <a:gd name="adj" fmla="val 360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62000" y="4772025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常见的自欺：假双活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62000" y="4972050"/>
            <a:ext cx="4457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架构图上标着「双活」，但两个可用区共用同一个数据库或同一套文件存储。</a:t>
            </a:r>
            <a:r>
              <a:rPr lang="en-US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判断方法只有一个：关掉</a:t>
            </a:r>
            <a:r>
              <a:rPr lang="en-US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区，看</a:t>
            </a:r>
            <a:r>
              <a:rPr lang="en-US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90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区还能不能独立接住全部流量。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562600" y="136207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资源基线表（按业务定，不按人定）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562600" y="1666875"/>
            <a:ext cx="167640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286500" y="1733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业务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277100" y="1666875"/>
            <a:ext cx="104775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686675" y="1733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节点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8362950" y="1666875"/>
            <a:ext cx="104775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772525" y="1733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规格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9448800" y="1666875"/>
            <a:ext cx="104775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858375" y="1733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副本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10534650" y="1666875"/>
            <a:ext cx="104775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0887075" y="17335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可承载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562600" y="2152650"/>
            <a:ext cx="1676400" cy="161925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5562600" y="2152650"/>
            <a:ext cx="1676400" cy="161925"/>
          </a:xfrm>
          <a:custGeom>
            <a:pathLst>
              <a:path w="176" h="17">
                <a:moveTo>
                  <a:pt x="176" y="15"/>
                </a:moveTo>
                <a:cubicBezTo>
                  <a:pt x="176" y="16"/>
                  <a:pt x="175" y="17"/>
                  <a:pt x="174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76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172200" y="2152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277100" y="216217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7277100" y="216217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734300" y="2162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362950" y="216217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362950" y="216217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705850" y="21621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8C16G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9448800" y="216217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9448800" y="216217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867900" y="216217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6+6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10534650" y="216217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10534650" y="216217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810875" y="2162175"/>
            <a:ext cx="504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2400 TPS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5562600" y="2657475"/>
            <a:ext cx="16764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5562600" y="2657475"/>
            <a:ext cx="1676400" cy="161925"/>
          </a:xfrm>
          <a:custGeom>
            <a:pathLst>
              <a:path w="176" h="17">
                <a:moveTo>
                  <a:pt x="176" y="15"/>
                </a:moveTo>
                <a:cubicBezTo>
                  <a:pt x="176" y="16"/>
                  <a:pt x="175" y="17"/>
                  <a:pt x="174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76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115050" y="26574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结算批处理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77100" y="266700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277100" y="266700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762875" y="26670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8362950" y="266700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8362950" y="266700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667750" y="2667000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16C32G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9448800" y="266700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9448800" y="266700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867900" y="266700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4+4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10534650" y="266700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10534650" y="266700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0782300" y="2667000"/>
            <a:ext cx="561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1.2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万笔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时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562600" y="3162300"/>
            <a:ext cx="1676400" cy="161925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5562600" y="3162300"/>
            <a:ext cx="1676400" cy="161925"/>
          </a:xfrm>
          <a:custGeom>
            <a:pathLst>
              <a:path w="176" h="17">
                <a:moveTo>
                  <a:pt x="176" y="15"/>
                </a:moveTo>
                <a:cubicBezTo>
                  <a:pt x="176" y="16"/>
                  <a:pt x="175" y="17"/>
                  <a:pt x="174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76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172200" y="31623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客户查询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277100" y="31718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7277100" y="31718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734300" y="31718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8362950" y="31718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8362950" y="31718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734425" y="3171825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4C8G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9448800" y="31718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9448800" y="31718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791700" y="31718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10+10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10534650" y="31718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10534650" y="31718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791825" y="317182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8000 QPS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5562600" y="3667125"/>
            <a:ext cx="16764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5562600" y="3667125"/>
            <a:ext cx="1676400" cy="161925"/>
          </a:xfrm>
          <a:custGeom>
            <a:pathLst>
              <a:path w="176" h="17">
                <a:moveTo>
                  <a:pt x="176" y="15"/>
                </a:moveTo>
                <a:cubicBezTo>
                  <a:pt x="176" y="16"/>
                  <a:pt x="175" y="17"/>
                  <a:pt x="174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76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172200" y="36671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报表平台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277100" y="36671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7277100" y="36671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734300" y="36671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362950" y="36671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8362950" y="36671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705850" y="36671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8C16G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9448800" y="36671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9448800" y="36671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867900" y="366712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5+5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0534650" y="3667125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10534650" y="3667125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829925" y="366712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600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并发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562600" y="4162425"/>
            <a:ext cx="1676400" cy="161925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5562600" y="4162425"/>
            <a:ext cx="1676400" cy="161925"/>
          </a:xfrm>
          <a:custGeom>
            <a:pathLst>
              <a:path w="176" h="17">
                <a:moveTo>
                  <a:pt x="176" y="15"/>
                </a:moveTo>
                <a:cubicBezTo>
                  <a:pt x="176" y="16"/>
                  <a:pt x="175" y="17"/>
                  <a:pt x="174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76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172200" y="41624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消息网关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7277100" y="417195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7277100" y="417195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762875" y="41719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8362950" y="417195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8362950" y="417195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734425" y="4171950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4C8G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448800" y="417195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9448800" y="417195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867900" y="417195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3+3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10534650" y="4171950"/>
            <a:ext cx="104775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10534650" y="4171950"/>
            <a:ext cx="1047750" cy="152400"/>
          </a:xfrm>
          <a:custGeom>
            <a:pathLst>
              <a:path w="11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9" y="15"/>
                </a:lnTo>
                <a:cubicBezTo>
                  <a:pt x="109" y="15"/>
                  <a:pt x="110" y="15"/>
                  <a:pt x="110" y="14"/>
                </a:cubicBezTo>
                <a:cubicBezTo>
                  <a:pt x="110" y="15"/>
                  <a:pt x="109" y="16"/>
                  <a:pt x="10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0829925" y="4171950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5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万条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5600700" y="4533900"/>
            <a:ext cx="6019800" cy="1066800"/>
          </a:xfrm>
          <a:prstGeom prst="roundRect">
            <a:avLst>
              <a:gd name="adj" fmla="val 357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5600700" y="4533900"/>
            <a:ext cx="6019800" cy="1066800"/>
          </a:xfrm>
          <a:custGeom>
            <a:pathLst>
              <a:path w="632" h="112">
                <a:moveTo>
                  <a:pt x="4" y="112"/>
                </a:moveTo>
                <a:cubicBezTo>
                  <a:pt x="2" y="112"/>
                  <a:pt x="0" y="110"/>
                  <a:pt x="0" y="1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734050" y="476250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「可承载」这一列最值钱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734050" y="4953000"/>
            <a:ext cx="57150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前四列是配置，最后一列是容量。有了容量列，才能算「这个业务当前用了多少、还有多少余量」——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扩容决策从拍脑袋变成算术题。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329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之模板：&lt;span style={{ color: '#FA4F24' }}&gt;部署就绪检查表&lt;/span&gt;，上线前的最后一关&#10;      &lt;/Text&gt;&#10;        &lt;Text style={{ fontSize: 20, color: '#8A8F99', marginTop: 8 }}&gt;&#10;      十二项全过才允许进生产，任一项不过就地退回，不做例外&#10;      &lt;/Text&gt;&#10;    &lt;/Box&gt;&#10;    &lt;Box style={{ height: 1, background: '#E8E8E8' }} /&gt;&#10;&#10;    {/* B 区 */}&#10;    &lt;Box style={{ paddingTop: 22, paddingBottom: 12, height: 479, flexDirection: 'column', gap: 8 }}&gt;&#10;      &lt;Box style={{ flexDirection: 'row', gap: 12, flex: 1 }}&gt;&#10;    {[&#10;   { g: '容量与性能', c: '#0F1423', items: ['已压测并记录峰值 QPS/TPS', '预留余量不低于 30%', '单点瓶颈已定位并处理'] },&#10;        { g: '可用性', c: '#FA4F24', items: ['关键节点跨区部署', '已演练主备切换', '依赖组件有兜底方案'] },&#10;   ].map((it, i) =&gt; (&#10;          &lt;Box key={i} style={{ flex: 1, background: '#F7F7F8', borderRadius: 4, flexDirection: 'column', borderTop: `5px solid ${it.c}` }}&gt;&#10; &lt;Box style={{ height: 34, justifyContent: 'center', padding: '0 16px' }}&gt;&#10;      &lt;Text style={{ fontSize: 17, fontWeight: 'bold', color: it.c }}&gt;{it.g}&lt;/Text&gt;&#10;   &lt;/Box&gt;&#10;     {it.items.map((t, j) =&gt; (&#10;    &lt;Box key={j} style={{ flex: 1, flexDirection: 'row', alignItems: 'center', padding: '0 16px', gap: 10 }}&gt;&#10;  &lt;Box style={{ width: 16, height: 16, border: '1.5px solid #FA4F24', borderRadius: 2, alignItems: 'center', justifyContent: 'center' }}&gt;&#10;     &lt;Text style={{ fontSize: 10, color: '#FA4F24' }}&gt;✓&lt;/Text&gt;&#10;     &lt;/Box&gt;&#10;   &lt;Text style={{ fontSize: 13, color: '#3A4050', flex: 1, lineHeight: 1.4 }}&gt;{t}&lt;/Text&gt;&#10;    &lt;/Box&gt;&#10;    ))}&#10;     &lt;/Box&gt;&#10;   ))}&#10;      &lt;/Box&gt;&#10;      &lt;Box style={{ flexDirection: 'row', gap: 12, flex: 1 }}&gt;&#10;        {[&#10;      { g: '可观测性', c: '#F8622F', items: ['四信号齐备：日志 / 指标 / 链路 / 事件', '告警已配且能触达责任人', '关键路径有链路追踪'] },&#10;    { g: '可回滚', c: '#FBA15C', items: ['有回滚方案且已演练', '数据变更可逆或已备好补偿', '回滚时间在可接受范围内'] },&#10;        ].map((it, i) =&gt; (&#10;          &lt;Box key={i} style={{ flex: 1, background: '#F7F7F8', borderRadius: 4, flexDirection: 'column', borderTop: `5px solid ${it.c}` }}&gt;&#10;   &lt;Box style={{ height: 34, justifyContent: 'center', padding: '0 16px' }}&gt;&#10;            &lt;Text style={{ fontSize: 17, fontWeight: 'bold', color: it.c }}&gt;{it.g}&lt;/Text&gt;&#10;            &lt;/Box&gt;&#10;    {it.items.map((t, j) =&gt; (&#10;      &lt;Box key={j} style={{ flex: 1, flexDirection: 'row', alignItems: 'center', padding: '0 16px', gap: 10 }}&gt;&#10;            &lt;Box style={{ width: 16, height: 16, border: '1.5px solid #FA4F24', borderRadius: 2, alignItems: 'center', justifyContent: 'center' }}&gt;&#10;              &lt;Text style={{ fontSize: 10, color: '#FA4F24' }}&gt;✓&lt;/Text&gt;&#10;   &lt;/Box&gt;&#10;     &lt;Text style={{ fontSize: 13, color: '#3A4050', flex: 1, lineHeight: 1.4 }}&gt;{t}&lt;/Text&gt;&#10;       &lt;/Box&gt;&#10;     ))}&#10;       &lt;/Box&gt;&#10;    ))}&#10;      &lt;/Box&gt;&#10;        &lt;Box style={{ height: 66, background: 'linear-gradient(90deg, #FA4F24 0%, #F87D2F 100%)', borderRadius: 4, padding: '0 18px', flexDirection: 'row', alignItems: 'center', gap: 20 }}&gt;&#10;    &lt;Text style={{ fontSize: 16, fontWeight: 'bold', color: '#FFFFFF', width: 220 }}&gt;★ 为什么不做「例外」&lt;/Text&gt;&#10; &lt;Text style={{ fontSize: 14, color: 'rgba(255,255,255,0.95)', flex: 1, lineHeight: 1.45 }}&gt;&#10;    上线检查是唯一一道「事后无法补救」的关口。压测可以补，切换可以补，&#10;   但没回滚方案就上线的版本，一旦出问题只能靠现场救火。&#10;      &lt;/Text&gt;&#10;      &lt;/Box&gt;&#10;    &lt;/Box&gt;&#10;&#10;    {/* C 区 */}&#10;    &lt;Box style={{ height: 58, flexDirection: 'row', alignItems: 'center', borderTop: '1px solid #E8E8E8' }}&gt;&#10;      &lt;Box style={{ width: 10, height: 10, background: '#FA4F24' }} /&gt;&#10;    &lt;Text style={{ fontSize: 13, color: '#8A8F99', marginLeft: 12 }}&gt;硕磐机密 · TA技术架构咨询方法论&lt;/Text&gt;&#10;      &lt;Text style={{ fontSize: 13, color: '#8A8F99', marginLeft: 'auto' }}&gt;1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部署就绪检查表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，上线前的最后一关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十二项全过才允许进生产，任一项不过就地退回，不做例外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609600" y="1409700"/>
            <a:ext cx="5429250" cy="1733550"/>
          </a:xfrm>
          <a:prstGeom prst="roundRect">
            <a:avLst>
              <a:gd name="adj" fmla="val 219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609600" y="1409700"/>
            <a:ext cx="5429250" cy="1733550"/>
          </a:xfrm>
          <a:custGeom>
            <a:pathLst>
              <a:path w="570" h="182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lnTo>
                  <a:pt x="570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566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62000" y="1476375"/>
            <a:ext cx="5124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容量与性能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762000" y="1885950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90575" y="19050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09650" y="185737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已压测并记录峰值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QPS/TPS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762000" y="2343150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90575" y="2362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009650" y="231457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预留余量不低于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30%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62000" y="2790825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90575" y="28098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009650" y="27622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单点瓶颈已定位并处理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153150" y="1409700"/>
            <a:ext cx="5429250" cy="1733550"/>
          </a:xfrm>
          <a:prstGeom prst="roundRect">
            <a:avLst>
              <a:gd name="adj" fmla="val 219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6153150" y="1409700"/>
            <a:ext cx="5429250" cy="1733550"/>
          </a:xfrm>
          <a:custGeom>
            <a:pathLst>
              <a:path w="570" h="182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lnTo>
                  <a:pt x="570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56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305550" y="1476375"/>
            <a:ext cx="5124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可用性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305550" y="1885950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334125" y="19050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553200" y="185737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关键节点跨区部署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305550" y="2343150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334125" y="2362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553200" y="231457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已演练主备切换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305550" y="2790825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334125" y="28098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553200" y="27622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依赖组件有兜底方案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09600" y="3219450"/>
            <a:ext cx="5429250" cy="1724025"/>
          </a:xfrm>
          <a:prstGeom prst="roundRect">
            <a:avLst>
              <a:gd name="adj" fmla="val 22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609600" y="3219450"/>
            <a:ext cx="5429250" cy="1724025"/>
          </a:xfrm>
          <a:custGeom>
            <a:pathLst>
              <a:path w="570" h="181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lnTo>
                  <a:pt x="570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566" y="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62000" y="3286125"/>
            <a:ext cx="5124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622F"/>
                </a:solidFill>
                <a:latin typeface="Microsoft YaHei"/>
                <a:ea typeface="Microsoft YaHei"/>
              </a:rPr>
              <a:t>可观测性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762000" y="3695700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790575" y="37147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009650" y="366712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四信号齐备：日志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指标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链路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事件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762000" y="4143375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90575" y="41624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09650" y="41148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告警已配且能触达责任人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762000" y="4600575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90575" y="4619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009650" y="4572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关键路径有链路追踪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153150" y="3219450"/>
            <a:ext cx="5429250" cy="1724025"/>
          </a:xfrm>
          <a:prstGeom prst="roundRect">
            <a:avLst>
              <a:gd name="adj" fmla="val 22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153150" y="3219450"/>
            <a:ext cx="5429250" cy="1724025"/>
          </a:xfrm>
          <a:custGeom>
            <a:pathLst>
              <a:path w="570" h="181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lnTo>
                  <a:pt x="570" y="5"/>
                </a:lnTo>
                <a:lnTo>
                  <a:pt x="0" y="5"/>
                </a:lnTo>
                <a:cubicBezTo>
                  <a:pt x="0" y="4"/>
                  <a:pt x="0" y="3"/>
                  <a:pt x="1" y="2"/>
                </a:cubicBezTo>
                <a:cubicBezTo>
                  <a:pt x="1" y="1"/>
                  <a:pt x="2" y="0"/>
                  <a:pt x="4" y="0"/>
                </a:cubicBezTo>
                <a:lnTo>
                  <a:pt x="4" y="0"/>
                </a:lnTo>
                <a:lnTo>
                  <a:pt x="4" y="0"/>
                </a:lnTo>
                <a:lnTo>
                  <a:pt x="566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305550" y="3286125"/>
            <a:ext cx="5124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BA15C"/>
                </a:solidFill>
                <a:latin typeface="Microsoft YaHei"/>
                <a:ea typeface="Microsoft YaHei"/>
              </a:rPr>
              <a:t>可回滚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305550" y="3695700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334125" y="37147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553200" y="366712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有回滚方案且已演练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305550" y="4143375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334125" y="41624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553200" y="41148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数据变更可逆或已备好补偿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305550" y="4600575"/>
            <a:ext cx="152400" cy="152400"/>
          </a:xfrm>
          <a:prstGeom prst="roundRect">
            <a:avLst>
              <a:gd name="adj" fmla="val 12500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334125" y="4619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5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553200" y="457200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回滚时间在可接受范围内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4972050"/>
            <a:ext cx="10972800" cy="628650"/>
          </a:xfrm>
          <a:prstGeom prst="roundRect">
            <a:avLst>
              <a:gd name="adj" fmla="val 606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81050" y="5191125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为什么不做「例外」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067050" y="5172075"/>
            <a:ext cx="83439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上线检查是唯一一道「事后无法补救」的关口。压测可以补，切换可以补，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但没回滚方案就上线的版本，一旦出问题只能靠现场救火。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&lt;Text style={{ fontSize: 300, fontWeight: 'bold', color: 'rgba(255,255,255,0.08)', lineHeight: 1.0 }}&gt;04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4&lt;/Text&gt;&#13;&#10;  &lt;Box style={{ width: 72, height: 5, background: '#FA4F24', marginTop: 22 }} /&gt;&#13;&#10;        &lt;Text style={{ fontSize: 58, fontWeight: 'bold', color: '#FFFFFF', marginTop: 28, lineHeight: 1.15 }}&gt;非功能需求与容量&lt;/Text&gt;&#13;&#10;    &lt;Text style={{ fontSize: 17, color: 'rgba(255,255,255,0.62)', letterSpacing: 2, marginTop: 20 }}&gt;NFR &amp; CAPACITY&lt;/Text&gt;&#13;&#10;        &lt;Text style={{ fontSize: 19, color: 'rgba(255,255,255,0.85)', marginTop: 26, lineHeight: 1.6 }}&gt;性能、可用性、可扩展与成本的量化&lt;/Text&gt;&#13;&#10;    &lt;/Box&gt;&#13;&#10;&#13;&#10;    {/* 右下页码 */}&#13;&#10;    &lt;Box style={{ position: 'absolute', right: 88, bottom: 64, flexDirection: 'row', alignItems: 'center', gap: 12 }}&gt;&#13;&#10;        &lt;Box style={{ width: 14, height: 14, background: '#FA4F24' }} /&gt;&#13;&#10;        &lt;Text style={{ fontSize: 14, color: 'rgba(255,255,255,0.5)' }}&gt;硕磐机密 · TA技术架构咨询方法论&lt;/Text&gt;&#13;&#10;        &lt;Text style={{ fontSize: 14, color: 'rgba(255,255,255,0.5)', marginLeft: 12 }}&gt;16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非功能需求与容量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NFR &amp; CAPACITY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性能、可用性、可扩展与成本的量化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841057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658225" y="6086475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之方法：&lt;span style={{ color: '#FA4F24' }}&gt;非功能需求六维量化法&lt;/span&gt;，不允许出现「较高」「较快」&#10;  &lt;/Text&gt;&#10;    &lt;Text style={{ fontSize: 20, color: '#8A8F99', marginTop: 8 }}&gt;&#10;     每一条非功能需求都必须能用一个数验收，否则不写进架构&#10;      &lt;/Text&gt;&#10;    &lt;/Box&gt;&#10;  &lt;Box style={{ height: 1, background: '#E8E8E8' }} /&gt;&#10;&#10;    {/* B 区 */}&#10;    &lt;Box style={{ paddingTop: 24, paddingBottom: 14, height: 479, flexDirection: 'column', gap: 10 }}&gt;&#10;      {[&#10;        { n: '性能', q: '多少请求内响应完', d: 'P99 响应时间 ≤ 300ms（订单提交）', c: '#0F1423' },&#10;        { n: '可用性', q: '一年允许停多久', d: '核心系统 99.95%，年停机 ≤ 4.4 小时', c: '#3A4050' },&#10;   { n: '容量', q: '能扛多大并发', d: '峰值 3000 TPS，余量不低于 30%', c: '#5A6072' },&#10;  { n: '可扩展', q: '多久能顶上去', d: '10 分钟内扩容到 2 倍，横向加节点', c: '#FA4F24' },&#10;      { n: '可恢复', q: '多久能恢复现场', d: 'RTO ≤ 30 分钟，RPO ≤ 5 分钟', c: '#F8622F' },&#10;      { n: '可维护', q: '谁改、多久能改完', d: '一次变更 ≤ 2 小时发布，1 人日完成', c: '#FBA15C' },&#10;      ].map((it, i) =&gt; (&#10;   &lt;Box key={i} style={{ flex: 1, flexDirection: 'row', alignItems: 'center', background: '#F7F7F8', borderRadius: 4, padding: '0 18px', gap: 16, borderLeft: `5px solid ${it.c}` }}&gt;&#10;       &lt;Text style={{ fontSize: 19, fontWeight: 'bold', color: it.c, width: 84 }}&gt;{it.n}&lt;/Text&gt;&#10;          &lt;Text style={{ fontSize: 14, color: '#5A6072', width: 152 }}&gt;{it.q}&lt;/Text&gt;&#10;      &lt;Text style={{ fontSize: 14, color: '#0F1423', fontWeight: 'bold', flex: 1, lineHeight: 1.4 }}&gt;{it.d}&lt;/Text&gt;&#10;     &lt;/Box&gt;&#10;      ))}&#10;      &lt;Box style={{ flexDirection: 'row', gap: 14, flex: 1 }}&gt;&#10;        &lt;Box style={{ flex: 1, background: '#FFF3EE', borderRadius: 4, padding: '10px 16px', flexDirection: 'column', justifyContent: 'center', borderLeft: '4px solid #FA4F24' }}&gt;&#10;        &lt;Text style={{ fontSize: 15, fontWeight: 'bold', color: '#C43A17' }}&gt;为什么必须量化&lt;/Text&gt;&#10;          &lt;Text style={{ fontSize: 13, color: '#3A2000', lineHeight: 1.55, marginTop: 3 }}&gt;&#10;  「系统要快」无法验收，「P99 ≤ 300ms」可以。模糊的非功能需求等于没有，&#10;      出事时没有任何依据判断是谁的责任。&#10;    &lt;/Text&gt;&#10;   &lt;/Box&gt;&#10;   &lt;Box style={{ width: 400, background: '#0F1423', borderRadius: 4, padding: '10px 16px', flexDirection: 'column', justifyContent: 'center' }}&gt;&#10;      &lt;Text style={{ fontSize: 15, fontWeight: 'bold', color: '#FBA15C' }}&gt;RTO 与 RPO 怎么记&lt;/Text&gt;&#10;  &lt;Text style={{ fontSize: 13, color: 'rgba(255,255,255,0.88)', lineHeight: 1.55, marginTop: 3 }}&gt;&#10;   RTO 是「多久能起来」，RPO 是「最多丢多少数据」。两个数可以同时很小，也可以差很远——&#10;   关键看业务能接受丢多少。&#10;  &lt;/Text&gt;&#10;        &lt;/Box&gt;&#10;      &lt;/Box&gt;&#10;    &lt;/Box&gt;&#10;&#10;    {/* C 区 */}&#10;    &lt;Box style={{ height: 58, flexDirection: 'row', alignItems: 'center', borderTop: '1px solid #E8E8E8' }}&gt;&#10;        &lt;Box style={{ width: 10, height: 10, background: '#FA4F24' }} /&gt;&#10;    &lt;Text style={{ fontSize: 13, color: '#8A8F99', marginLeft: 12 }}&gt;硕磐机密 · TA技术架构咨询方法论&lt;/Text&gt;&#10;        &lt;Text style={{ fontSize: 13, color: '#8A8F99', marginLeft: 'auto' }}&gt;1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非功能需求六维量化法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，不允许出现「较高」「较快」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每一条非功能需求都必须能用一个数验收，否则不写进架构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657225" y="1381125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08" name=""/>
          <p:cNvSpPr/>
          <p:nvPr/>
        </p:nvSpPr>
        <p:spPr>
          <a:xfrm rot="0" flipH="0" flipV="0">
            <a:off x="657225" y="1381125"/>
            <a:ext cx="10972800" cy="428625"/>
          </a:xfrm>
          <a:custGeom>
            <a:pathLst>
              <a:path w="1152" h="45">
                <a:moveTo>
                  <a:pt x="5" y="45"/>
                </a:moveTo>
                <a:cubicBezTo>
                  <a:pt x="4" y="45"/>
                  <a:pt x="3" y="45"/>
                  <a:pt x="2" y="44"/>
                </a:cubicBezTo>
                <a:cubicBezTo>
                  <a:pt x="1" y="44"/>
                  <a:pt x="0" y="43"/>
                  <a:pt x="0" y="41"/>
                </a:cubicBezTo>
                <a:lnTo>
                  <a:pt x="0" y="41"/>
                </a:lnTo>
                <a:lnTo>
                  <a:pt x="0" y="41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28675" y="1485900"/>
            <a:ext cx="800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性能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781175" y="15144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072"/>
                </a:solidFill>
                <a:latin typeface="Microsoft YaHei"/>
                <a:ea typeface="Microsoft YaHei"/>
              </a:rPr>
              <a:t>多少请求内响应完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3381375" y="1485900"/>
            <a:ext cx="80295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P99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响应时间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≤ 300ms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（订单提交）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57225" y="1905000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657225" y="1905000"/>
            <a:ext cx="10972800" cy="428625"/>
          </a:xfrm>
          <a:custGeom>
            <a:pathLst>
              <a:path w="1152" h="45">
                <a:moveTo>
                  <a:pt x="5" y="45"/>
                </a:moveTo>
                <a:cubicBezTo>
                  <a:pt x="4" y="45"/>
                  <a:pt x="3" y="45"/>
                  <a:pt x="2" y="44"/>
                </a:cubicBezTo>
                <a:cubicBezTo>
                  <a:pt x="1" y="44"/>
                  <a:pt x="0" y="43"/>
                  <a:pt x="0" y="41"/>
                </a:cubicBezTo>
                <a:lnTo>
                  <a:pt x="0" y="41"/>
                </a:lnTo>
                <a:lnTo>
                  <a:pt x="0" y="41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28675" y="2009775"/>
            <a:ext cx="800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A4050"/>
                </a:solidFill>
                <a:latin typeface="Microsoft YaHei"/>
                <a:ea typeface="Microsoft YaHei"/>
              </a:rPr>
              <a:t>可用性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781175" y="20383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072"/>
                </a:solidFill>
                <a:latin typeface="Microsoft YaHei"/>
                <a:ea typeface="Microsoft YaHei"/>
              </a:rPr>
              <a:t>一年允许停多久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381375" y="2009775"/>
            <a:ext cx="80295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核心系统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99.95%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，年停机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≤ 4.4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57225" y="2428875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57225" y="2428875"/>
            <a:ext cx="10972800" cy="428625"/>
          </a:xfrm>
          <a:custGeom>
            <a:pathLst>
              <a:path w="1152" h="45">
                <a:moveTo>
                  <a:pt x="5" y="45"/>
                </a:moveTo>
                <a:cubicBezTo>
                  <a:pt x="4" y="45"/>
                  <a:pt x="3" y="45"/>
                  <a:pt x="2" y="44"/>
                </a:cubicBezTo>
                <a:cubicBezTo>
                  <a:pt x="1" y="44"/>
                  <a:pt x="0" y="43"/>
                  <a:pt x="0" y="41"/>
                </a:cubicBezTo>
                <a:lnTo>
                  <a:pt x="0" y="41"/>
                </a:lnTo>
                <a:lnTo>
                  <a:pt x="0" y="41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28675" y="2533650"/>
            <a:ext cx="800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5A6072"/>
                </a:solidFill>
                <a:latin typeface="Microsoft YaHei"/>
                <a:ea typeface="Microsoft YaHei"/>
              </a:rPr>
              <a:t>容量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781175" y="25622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072"/>
                </a:solidFill>
                <a:latin typeface="Microsoft YaHei"/>
                <a:ea typeface="Microsoft YaHei"/>
              </a:rPr>
              <a:t>能扛多大并发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381375" y="2533650"/>
            <a:ext cx="80295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峰值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3000 TPS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，余量不低于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30%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57225" y="2952750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657225" y="2952750"/>
            <a:ext cx="10972800" cy="428625"/>
          </a:xfrm>
          <a:custGeom>
            <a:pathLst>
              <a:path w="1152" h="45">
                <a:moveTo>
                  <a:pt x="5" y="45"/>
                </a:moveTo>
                <a:cubicBezTo>
                  <a:pt x="4" y="45"/>
                  <a:pt x="3" y="45"/>
                  <a:pt x="2" y="44"/>
                </a:cubicBezTo>
                <a:cubicBezTo>
                  <a:pt x="1" y="44"/>
                  <a:pt x="0" y="43"/>
                  <a:pt x="0" y="41"/>
                </a:cubicBezTo>
                <a:lnTo>
                  <a:pt x="0" y="41"/>
                </a:lnTo>
                <a:lnTo>
                  <a:pt x="0" y="41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28675" y="3057525"/>
            <a:ext cx="800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可扩展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781175" y="30861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072"/>
                </a:solidFill>
                <a:latin typeface="Microsoft YaHei"/>
                <a:ea typeface="Microsoft YaHei"/>
              </a:rPr>
              <a:t>多久能顶上去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381375" y="3057525"/>
            <a:ext cx="80295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分钟内扩容到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倍，横向加节点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57225" y="3476625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657225" y="3476625"/>
            <a:ext cx="10972800" cy="428625"/>
          </a:xfrm>
          <a:custGeom>
            <a:pathLst>
              <a:path w="1152" h="45">
                <a:moveTo>
                  <a:pt x="5" y="45"/>
                </a:moveTo>
                <a:cubicBezTo>
                  <a:pt x="4" y="45"/>
                  <a:pt x="3" y="45"/>
                  <a:pt x="2" y="44"/>
                </a:cubicBezTo>
                <a:cubicBezTo>
                  <a:pt x="1" y="44"/>
                  <a:pt x="0" y="43"/>
                  <a:pt x="0" y="41"/>
                </a:cubicBezTo>
                <a:lnTo>
                  <a:pt x="0" y="41"/>
                </a:lnTo>
                <a:lnTo>
                  <a:pt x="0" y="41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28675" y="3581400"/>
            <a:ext cx="800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8622F"/>
                </a:solidFill>
                <a:latin typeface="Microsoft YaHei"/>
                <a:ea typeface="Microsoft YaHei"/>
              </a:rPr>
              <a:t>可恢复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781175" y="36099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072"/>
                </a:solidFill>
                <a:latin typeface="Microsoft YaHei"/>
                <a:ea typeface="Microsoft YaHei"/>
              </a:rPr>
              <a:t>多久能恢复现场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3381375" y="3581400"/>
            <a:ext cx="80295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RTO ≤ 30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分钟，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RPO ≤ 5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57225" y="4000500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657225" y="4000500"/>
            <a:ext cx="10972800" cy="428625"/>
          </a:xfrm>
          <a:custGeom>
            <a:pathLst>
              <a:path w="1152" h="45">
                <a:moveTo>
                  <a:pt x="5" y="45"/>
                </a:moveTo>
                <a:cubicBezTo>
                  <a:pt x="4" y="45"/>
                  <a:pt x="3" y="45"/>
                  <a:pt x="2" y="44"/>
                </a:cubicBezTo>
                <a:cubicBezTo>
                  <a:pt x="1" y="44"/>
                  <a:pt x="0" y="43"/>
                  <a:pt x="0" y="41"/>
                </a:cubicBezTo>
                <a:lnTo>
                  <a:pt x="0" y="41"/>
                </a:lnTo>
                <a:lnTo>
                  <a:pt x="0" y="41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28675" y="4105275"/>
            <a:ext cx="800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BA15C"/>
                </a:solidFill>
                <a:latin typeface="Microsoft YaHei"/>
                <a:ea typeface="Microsoft YaHei"/>
              </a:rPr>
              <a:t>可维护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781175" y="41338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072"/>
                </a:solidFill>
                <a:latin typeface="Microsoft YaHei"/>
                <a:ea typeface="Microsoft YaHei"/>
              </a:rPr>
              <a:t>谁改、多久能改完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381375" y="4105275"/>
            <a:ext cx="80295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一次变更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≤ 2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小时发布，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人日完成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47700" y="4524375"/>
            <a:ext cx="7029450" cy="1057275"/>
          </a:xfrm>
          <a:prstGeom prst="roundRect">
            <a:avLst>
              <a:gd name="adj" fmla="val 360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647700" y="4524375"/>
            <a:ext cx="7029450" cy="1057275"/>
          </a:xfrm>
          <a:custGeom>
            <a:pathLst>
              <a:path w="738" h="111">
                <a:moveTo>
                  <a:pt x="4" y="111"/>
                </a:moveTo>
                <a:cubicBezTo>
                  <a:pt x="2" y="111"/>
                  <a:pt x="0" y="109"/>
                  <a:pt x="0" y="10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00100" y="4838700"/>
            <a:ext cx="6686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为什么必须量化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00100" y="5038725"/>
            <a:ext cx="66865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「系统要快」无法验收，「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>P99 ≤ 300ms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」可以。模糊的非功能需求等于没有，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出事时没有任何依据判断是谁的责任。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7772400" y="4524375"/>
            <a:ext cx="3810000" cy="1057275"/>
          </a:xfrm>
          <a:prstGeom prst="roundRect">
            <a:avLst>
              <a:gd name="adj" fmla="val 36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924800" y="4724400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RTO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与</a:t>
            </a: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RPO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怎么记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924800" y="4924425"/>
            <a:ext cx="3505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RTO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是「多久能起来」，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RPO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是「最多丢多少数据」。两个数可以同时很小，也可以差很远——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关键看业务能接受丢多少。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4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之内容：&lt;span style={{ color: '#FA4F24' }}&gt;容量三档与成本账&lt;/span&gt;，把「要多少」算出来&#10;      &lt;/Text&gt;&#10;     &lt;Text style={{ fontSize: 20, color: '#8A8F99', marginTop: 8 }}&gt;&#10;      当前量 / 三年预测量 / 峰谷比 —— 三个数决定这一层投多少&#10;        &lt;/Text&gt;&#10;    &lt;/Box&gt;&#10;    &lt;Box style={{ height: 1, background: '#E8E8E8' }} /&gt;&#10;&#10;    {/* B 区 */}&#10;    &lt;Box style={{ paddingTop: 22, paddingBottom: 12, height: 479, flexDirection: 'row', gap: 20 }}&gt;&#10;        {/* 左 三档 */}&#10;     &lt;Box style={{ width: 470, flexDirection: 'column', gap: 8 }}&gt;&#10;            &lt;Text style={{ fontSize: 20, fontWeight: 'bold', color: '#0F1423' }}&gt;三档容量怎么定&lt;/Text&gt;&#10;     {[&#10;     { n: '当前档', v: '按最近 12 个月实际峰值', u: '订单中心 1200 TPS', c: '#0F1423', tc: '#FFFFFF' },&#10;       { n: '规划档', v: '按三年业务预测 + 新系统上线', u: '订单中心 3000 TPS', c: '#FA4F24', tc: '#FFFFFF' },&#10;     { n: '峰谷比', v: '峰值是否为均值的倍数，决定要不要弹性', u: '峰值 4.2×均值 → 必须弹性', c: '#FBA15C', tc: '#3A2000' },&#10;      ].map((it, i) =&gt; (&#10;     &lt;Box key={i} style={{ flex: 1, background: it.c, borderRadius: 4, padding: '0 16px', flexDirection: 'row', alignItems: 'center', gap: 14 }}&gt;&#10;       &lt;Text style={{ fontSize: 18, fontWeight: 'bold', color: it.tc, width: 74 }}&gt;{it.n}&lt;/Text&gt;&#10; &lt;Box style={{ flex: 1, flexDirection: 'column' }}&gt;&#10;       &lt;Text style={{ fontSize: 12, color: it.tc, opacity: 0.9 }}&gt;{it.v}&lt;/Text&gt;&#10;          &lt;Text style={{ fontSize: 15, fontWeight: 'bold', color: it.tc, marginTop: 3 }}&gt;{it.u}&lt;/Text&gt;&#10;  &lt;/Box&gt;&#10; &lt;/Box&gt;&#10;       ))}&#10;    &lt;Box style={{ flex: 1, background: '#F7F7F8', borderRadius: 4, padding: '12px 16px', flexDirection: 'column', justifyContent: 'center', borderLeft: '4px solid #FA4F24' }}&gt;&#10;     &lt;Text style={{ fontSize: 15, fontWeight: 'bold', color: '#C43A17' }}&gt;峰谷比是选型的分水岭&lt;/Text&gt;&#10;   &lt;Text style={{ fontSize: 13, color: '#3A4050', lineHeight: 1.55, marginTop: 3 }}&gt;&#10;   峰谷比低于 2，按峰值固定配置最省。高于 4，就必须做弹性伸缩——&#10;   按峰值买全年，成本会翻倍；不弹性，成本全压在峰谷差上。&#10;     &lt;/Text&gt;&#10;        &lt;/Box&gt;&#10;      &lt;/Box&gt;&#10;&#10;   {/* 右 成本账 */}&#10;        &lt;Box style={{ flex: 1, flexDirection: 'column', gap: 8 }}&gt;&#10;     &lt;Text style={{ fontSize: 20, fontWeight: 'bold', color: '#0F1423' }}&gt;成本账要算三笔&lt;/Text&gt;&#10;       {[&#10;        { t: '① 一次性投入', d: '机房 / 硬件 / 平台建设 / 迁移人力', v: '约 800 万', c: '#0F1423' },&#10;    { t: '② 三年运行', d: '含扩容、许可、运维人力、能耗', v: '约 3600 万', c: '#FA4F24' },&#10;      { t: '③ 不做的代价', d: '业务增长被卡住的损失、返工成本', v: '约 1.1 亿', c: '#FBA15C' },&#10;       ].map((it, i) =&gt; (&#10;        &lt;Box key={i} style={{ flex: 1, background: '#F7F7F8', borderRadius: 4, padding: '0 16px', flexDirection: 'row', alignItems: 'center', gap: 14, borderLeft: `5px solid ${it.c}` }}&gt;&#10; &lt;Text style={{ fontSize: 15, fontWeight: 'bold', color: it.c, width: 108 }}&gt;{it.t}&lt;/Text&gt;&#10;     &lt;Text style={{ fontSize: 12, color: '#3A4050', flex: 1, lineHeight: 1.4 }}&gt;{it.d}&lt;/Text&gt;&#10;     &lt;Text style={{ fontSize: 16, fontWeight: 'bold', color: it.c, width: 84, textAlign: 'right' }}&gt;{it.v}&lt;/Text&gt;&#10;    &lt;/Box&gt;&#10;       ))}&#10;     &lt;Box style={{ flex: 1.3, background: 'linear-gradient(160deg, #FA4F24 0%, #F87D2F 100%)', borderRadius: 4, padding: '14px 16px', flexDirection: 'column', justifyContent: 'center' }}&gt;&#10;     &lt;Text style={{ fontSize: 16, fontWeight: 'bold', color: '#FFFFFF' }}&gt;第三笔最容易被忽略&lt;/Text&gt;&#10;     &lt;Text style={{ fontSize: 13, color: 'rgba(255,255,255,0.95)', lineHeight: 1.6, marginTop: 5 }}&gt;&#10;     只算前两笔的投资回报，怎么算都不划算。但如果把「不做的代价」写进去，&#10; 结论通常会反过来。技术架构的投入之所以难批，&#10;   一大半原因是这份账从来没被认真做过。&#10;     &lt;/Text&gt;&#10;   &lt;/Box&gt;&#10;   &lt;/Box&gt;&#10;    &lt;/Box&gt;&#10;&#10;    {/* C 区 */}&#10;    &lt;Box style={{ height: 58, flexDirection: 'row', alignItems: 'center', borderTop: '1px solid #E8E8E8' }}&gt;&#10;        &lt;Box style={{ width: 10, height: 10, background: '#FA4F24' }} /&gt;&#10;      &lt;Text style={{ fontSize: 13, color: '#8A8F99', marginLeft: 12 }}&gt;硕磐机密 · TA技术架构咨询方法论&lt;/Text&gt;&#10;      &lt;Text style={{ fontSize: 13, color: '#8A8F99', marginLeft: 'auto' }}&gt;1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容量三档与成本账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，把「要多少」算出来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当前量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三年预测量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峰谷比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三个数决定这一层投多少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三档容量怎么定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1666875"/>
            <a:ext cx="4476750" cy="790575"/>
          </a:xfrm>
          <a:prstGeom prst="roundRect">
            <a:avLst>
              <a:gd name="adj" fmla="val 481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62000" y="1962150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当前档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600200" y="206692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订单中心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1200 TPS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2533650"/>
            <a:ext cx="4476750" cy="790575"/>
          </a:xfrm>
          <a:prstGeom prst="roundRect">
            <a:avLst>
              <a:gd name="adj" fmla="val 4819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762000" y="2828925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规划档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600200" y="2933700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订单中心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3000 TPS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9600" y="3400425"/>
            <a:ext cx="4476750" cy="781050"/>
          </a:xfrm>
          <a:prstGeom prst="roundRect">
            <a:avLst>
              <a:gd name="adj" fmla="val 4878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762000" y="3686175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峰谷比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600200" y="3790950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2000"/>
                </a:solidFill>
                <a:latin typeface="Microsoft YaHei"/>
                <a:ea typeface="Microsoft YaHei"/>
              </a:rPr>
              <a:t>峰值</a:t>
            </a:r>
            <a:r>
              <a:rPr lang="en-US" sz="1125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4.2×</a:t>
            </a:r>
            <a:r>
              <a:rPr lang="zh-CN" sz="1125" b="1">
                <a:solidFill>
                  <a:srgbClr val="3A2000"/>
                </a:solidFill>
                <a:latin typeface="Microsoft YaHei"/>
                <a:ea typeface="Microsoft YaHei"/>
              </a:rPr>
              <a:t>均值</a:t>
            </a:r>
            <a:r>
              <a:rPr lang="en-US" sz="1125" b="1">
                <a:solidFill>
                  <a:srgbClr val="3A200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 b="1">
                <a:solidFill>
                  <a:srgbClr val="3A2000"/>
                </a:solidFill>
                <a:latin typeface="Microsoft YaHei"/>
                <a:ea typeface="Microsoft YaHei"/>
              </a:rPr>
              <a:t>必须弹性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47700" y="4257675"/>
            <a:ext cx="4476750" cy="1343025"/>
          </a:xfrm>
          <a:prstGeom prst="roundRect">
            <a:avLst>
              <a:gd name="adj" fmla="val 283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647700" y="4257675"/>
            <a:ext cx="4476750" cy="1343025"/>
          </a:xfrm>
          <a:custGeom>
            <a:pathLst>
              <a:path w="470" h="141">
                <a:moveTo>
                  <a:pt x="4" y="141"/>
                </a:moveTo>
                <a:cubicBezTo>
                  <a:pt x="2" y="141"/>
                  <a:pt x="0" y="139"/>
                  <a:pt x="0" y="13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峰谷比是选型的分水岭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00100" y="4800600"/>
            <a:ext cx="41338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峰谷比低于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，按峰值固定配置最省。高于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4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，就必须做弹性伸缩——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按峰值买全年，成本会翻倍；不弹性，成本全压在峰谷差上。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276850" y="1362075"/>
            <a:ext cx="6305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成本账要算三笔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5324475" y="1666875"/>
            <a:ext cx="630555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5324475" y="1666875"/>
            <a:ext cx="6305550" cy="695325"/>
          </a:xfrm>
          <a:custGeom>
            <a:pathLst>
              <a:path w="662" h="73">
                <a:moveTo>
                  <a:pt x="5" y="73"/>
                </a:moveTo>
                <a:cubicBezTo>
                  <a:pt x="4" y="73"/>
                  <a:pt x="3" y="73"/>
                  <a:pt x="2" y="72"/>
                </a:cubicBezTo>
                <a:cubicBezTo>
                  <a:pt x="1" y="72"/>
                  <a:pt x="0" y="71"/>
                  <a:pt x="0" y="69"/>
                </a:cubicBezTo>
                <a:lnTo>
                  <a:pt x="0" y="69"/>
                </a:lnTo>
                <a:lnTo>
                  <a:pt x="0" y="6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476875" y="193357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一次性投入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638925" y="1914525"/>
            <a:ext cx="38576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机房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硬件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平台建设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迁移人力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0629900" y="1924050"/>
            <a:ext cx="80010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约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800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324475" y="2438400"/>
            <a:ext cx="630555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5324475" y="2438400"/>
            <a:ext cx="6305550" cy="695325"/>
          </a:xfrm>
          <a:custGeom>
            <a:pathLst>
              <a:path w="662" h="73">
                <a:moveTo>
                  <a:pt x="5" y="73"/>
                </a:moveTo>
                <a:cubicBezTo>
                  <a:pt x="4" y="73"/>
                  <a:pt x="3" y="73"/>
                  <a:pt x="2" y="72"/>
                </a:cubicBezTo>
                <a:cubicBezTo>
                  <a:pt x="1" y="72"/>
                  <a:pt x="0" y="71"/>
                  <a:pt x="0" y="69"/>
                </a:cubicBezTo>
                <a:lnTo>
                  <a:pt x="0" y="69"/>
                </a:lnTo>
                <a:lnTo>
                  <a:pt x="0" y="6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476875" y="270510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三年运行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638925" y="2686050"/>
            <a:ext cx="38576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含扩容、许可、运维人力、能耗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0629900" y="2695575"/>
            <a:ext cx="80010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约</a:t>
            </a: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3600 </a:t>
            </a: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5324475" y="3209925"/>
            <a:ext cx="630555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5324475" y="3209925"/>
            <a:ext cx="6305550" cy="695325"/>
          </a:xfrm>
          <a:custGeom>
            <a:pathLst>
              <a:path w="662" h="73">
                <a:moveTo>
                  <a:pt x="5" y="73"/>
                </a:moveTo>
                <a:cubicBezTo>
                  <a:pt x="4" y="73"/>
                  <a:pt x="3" y="73"/>
                  <a:pt x="2" y="72"/>
                </a:cubicBezTo>
                <a:cubicBezTo>
                  <a:pt x="1" y="72"/>
                  <a:pt x="0" y="71"/>
                  <a:pt x="0" y="69"/>
                </a:cubicBezTo>
                <a:lnTo>
                  <a:pt x="0" y="69"/>
                </a:lnTo>
                <a:lnTo>
                  <a:pt x="0" y="6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476875" y="347662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不做的代价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638925" y="3457575"/>
            <a:ext cx="38576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业务增长被卡住的损失、返工成本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0629900" y="3467100"/>
            <a:ext cx="800100" cy="1905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00" b="1">
                <a:solidFill>
                  <a:srgbClr val="FBA15C"/>
                </a:solidFill>
                <a:latin typeface="Microsoft YaHei"/>
                <a:ea typeface="Microsoft YaHei"/>
              </a:rPr>
              <a:t>约</a:t>
            </a:r>
            <a:r>
              <a:rPr lang="en-US" sz="12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1.1 </a:t>
            </a:r>
            <a:r>
              <a:rPr lang="zh-CN" sz="1200" b="1">
                <a:solidFill>
                  <a:srgbClr val="FBA15C"/>
                </a:solidFill>
                <a:latin typeface="Microsoft YaHei"/>
                <a:ea typeface="Microsoft YaHei"/>
              </a:rPr>
              <a:t>亿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5276850" y="3981450"/>
            <a:ext cx="6305550" cy="1619250"/>
          </a:xfrm>
          <a:prstGeom prst="roundRect">
            <a:avLst>
              <a:gd name="adj" fmla="val 2353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429250" y="4438650"/>
            <a:ext cx="600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第三笔最容易被忽略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429250" y="4676775"/>
            <a:ext cx="60007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只算前两笔的投资回报，怎么算都不划算。但如果把「不做的代价」写进去，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结论通常会反过来。技术架构的投入之所以难批，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一大半原因是这份账从来没被认真做过。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8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600200" y="1895475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按最近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个月实际峰值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600200" y="2762250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按三年业务预测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新系统上线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600200" y="3619500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2000">
                    <a:alpha val="90000"/>
                  </a:srgbClr>
                </a:solidFill>
                <a:latin typeface="Microsoft YaHei"/>
                <a:ea typeface="Microsoft YaHei"/>
              </a:rPr>
              <a:t>峰值是否为均值的倍数，决定要不要弹性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93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之模板：&lt;span style={{ color: '#FA4F24' }}&gt;容量测算表与压测验收卡&lt;/span&gt;，两个数才敢签字&#10;      &lt;/Text&gt;&#10;  &lt;Text style={{ fontSize: 20, color: '#8A8F99', marginTop: 8 }}&gt;&#10;        算出来的产能，和实测出来的产能，差着 30% 是常态&#10;      &lt;/Text&gt;&#10;    &lt;/Box&gt;&#10;    &lt;Box style={{ height: 1, background: '#E8E8E8' }} /&gt;&#10;&#10;    {/* B 区 */}&#10;    &lt;Box style={{ paddingTop: 22, paddingBottom: 12, height: 479, flexDirection: 'row', gap: 20 }}&gt;&#10;        {/* 左 容量测算表 */}&#10;        &lt;Box style={{ width: 610, flexDirection: 'column', gap: 8 }}&gt;&#10;     &lt;Text style={{ fontSize: 20, fontWeight: 'bold', color: '#0F1423' }}&gt;模板一 · 容量测算表&lt;/Text&gt;&#10;       &lt;Box style={{ flexDirection: 'row', gap: 4 }}&gt;&#10;         {['业务', '日均量', '峰值系数', '目标峰值', '测算节点'].map((t, i) =&gt; (&#10;  &lt;Box key={i} style={{ flex: i === 4 ? 1.5 : 1, background: '#0F1423', padding: '7px 3px', alignItems: 'center', borderRadius: 2 }}&gt;&#10;         &lt;Text style={{ fontSize: 12, fontWeight: 'bold', color: '#FFFFFF' }}&gt;{t}&lt;/Text&gt;&#10;       &lt;/Box&gt;&#10;      ))}&#10;      &lt;/Box&gt;&#10;            {[&#10;      { b: '订单中心', d: '1800万', k: '6.0×', t: '3000 TPS', n: '24（12+12）' },&#10;            { b: '客户查询', d: '5200万', k: '12.0×', t: '8000 QPS', n: '20（10+10）' },&#10;          { b: '结算批处理', d: '420万', k: '8.0×', t: '1.2万/时', n: '8（4+4）' },&#10;       { b: '消息网关', d: '9000万', k: '5.0×', t: '5万条/秒', n: '6（3+3）' },&#10;     ].map((it, i) =&gt; (&#10;    &lt;Box key={i} style={{ flex: 1, flexDirection: 'row', gap: 4, alignItems: 'center' }}&gt;&#10;  {[{ v: it.b, f: 1.4 }, { v: it.d, f: 1 }, { v: it.k, f: 1 }, { v: it.t, f: 1 }, { v: it.n, f: 1.5 }].map((c, j) =&gt; (&#10;       &lt;Box key={j} style={{ flex: c.f, background: i % 2 === 0 ? '#F7F7F8' : '#FFFFFF', borderRadius: 2, padding: '0 3px', alignItems: 'center', borderBottom: j === 0 ? '2px solid #FA4F24' : '1px solid #E8E8E8' }}&gt;&#10;                &lt;Text style={{ fontSize: 12, color: j === 0 ? '#0F1423' : '#3A4050', fontWeight: j === 0 ? 'bold' : 'normal' }}&gt;{c.v}&lt;/Text&gt;&#10;      &lt;/Box&gt;&#10;       ))}&#10;      &lt;/Box&gt;&#10;      ))}&#10;       &lt;Box style={{ flex: 1, background: '#F7F7F8', borderRadius: 4, padding: '10px 14px', flexDirection: 'column', justifyContent: 'center', borderLeft: '4px solid #FA4F24' }}&gt;&#10;     &lt;Text style={{ fontSize: 14, fontWeight: 'bold', color: '#C43A17' }}&gt;峰值系数从哪来&lt;/Text&gt;&#10;      &lt;Text style={{ fontSize: 12, color: '#3A4050', lineHeight: 1.5, marginTop: 3 }}&gt;&#10;  取最近 12 个月实际值的 P99 除以均值，不要拍脑袋。实测峰值系数通常比直觉高，&#10;  因为月末、季末、年度结算这些尖峰是可预测的。&#10;     &lt;/Text&gt;&#10;      &lt;/Box&gt;&#10;        &lt;/Box&gt;&#10;&#10;        {/* 右 压测验收卡 */}&#10;        &lt;Box style={{ flex: 1, flexDirection: 'column', gap: 8 }}&gt;&#10;            &lt;Text style={{ fontSize: 20, fontWeight: 'bold', color: '#0F1423' }}&gt;模板二 · 压测验收卡&lt;/Text&gt;&#10;            &lt;Box style={{ background: '#0F1423', borderRadius: 4, padding: '12px 16px', flexDirection: 'column' }}&gt;&#10;       {[&#10;            '目标：目标峰值 × 1.3，持续 30 分钟',&#10;     '判据①：P99 ≤ 300ms',&#10;            '判据②：业务零错误码',&#10;       '判据③：CPU ≤ 60%，内存无持续增长',&#10;          '判据④：扩容演练在 10 分钟内完成',&#10;     ].map((t, i) =&gt; (&#10;   &lt;Text key={i} style={{ fontSize: 13, color: i === 0 ? '#FBA15C' : 'rgba(255,255,255,0.88)', fontFamily: 'monospace', lineHeight: 1.75 }}&gt;{t}&lt;/Text&gt;&#10;   ))}&#10;       &lt;/Box&gt;&#10;   {[&#10;     { t: '为什么要 ×1.3', d: '刚好压到目标值，等于没有余量。留三成是给自己和给故障留的' },&#10;     { t: 'CPU ≤ 60% 的意义', d: '到 80% 就开始抖。压测时看着没崩，线上流量抖动一样会崩' },&#10;       ].map((it, i) =&gt; (&#10;      &lt;Box key={i} style={{ flex: 1, background: '#F7F7F8', borderRadius: 4, padding: '0 14px', flexDirection: 'row', alignItems: 'center', gap: 12, borderLeft: '4px solid #FA4F24' }}&gt;&#10;    &lt;Text style={{ fontSize: 13, fontWeight: 'bold', color: '#FA4F24', width: 118 }}&gt;{it.t}&lt;/Text&gt;&#10;     &lt;Text style={{ fontSize: 12, color: '#3A4050', flex: 1, lineHeight: 1.45 }}&gt;{it.d}&lt;/Text&gt;&#10;  &lt;/Box&gt;&#10;    ))}&#10;            &lt;Box style={{ flex: 1, background: 'linear-gradient(160deg, #FA4F24 0%, #F87D2F 100%)', borderRadius: 4, padding: '12px 16px', flexDirection: 'column', justifyContent: 'center' }}&gt;&#10;     &lt;Text style={{ fontSize: 15, fontWeight: 'bold', color: '#FFFFFF' }}&gt;压测报告最容易造假的地方&lt;/Text&gt;&#10;     &lt;Text style={{ fontSize: 13, color: 'rgba(255,255,255,0.95)', lineHeight: 1.55, marginTop: 5 }}&gt;&#10;  用开发环境的短时数据冒充生产等效压测。判断方法只有一个：看报告里有没有&#10;         数据依赖比例、连接池上限、缓存命中率这几项。有，才算真压过。&#10;    &lt;/Text&gt;&#10;       &lt;/Box&gt;&#10;   &lt;/Box&gt;&#10;    &lt;/Box&gt;&#10;&#10;    {/* C 区 */}&#10;    &lt;Box style={{ height: 58, flexDirection: 'row', alignItems: 'center', borderTop: '1px solid #E8E8E8' }}&gt;&#10;    &lt;Box style={{ width: 10, height: 10, background: '#FA4F24' }} /&gt;&#10;   &lt;Text style={{ fontSize: 13, color: '#8A8F99', marginLeft: 12 }}&gt;硕磐机密 · TA技术架构咨询方法论&lt;/Text&gt;&#10;   &lt;Text style={{ fontSize: 13, color: '#8A8F99', marginLeft: 'auto' }}&gt;19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容量测算表与压测验收卡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，两个数才敢签字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算出来的产能，和实测出来的产能，差着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30%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是常态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81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模板一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容量测算表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1666875"/>
            <a:ext cx="102870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009650" y="1733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业务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1676400" y="1666875"/>
            <a:ext cx="102870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2019300" y="17335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日均量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2743200" y="1666875"/>
            <a:ext cx="102870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028950" y="1733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峰值系数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3810000" y="1666875"/>
            <a:ext cx="102870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095750" y="1733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目标峰值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4876800" y="1666875"/>
            <a:ext cx="154305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419725" y="1733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测算节点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2200275"/>
            <a:ext cx="1343025" cy="161925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609600" y="2200275"/>
            <a:ext cx="1343025" cy="161925"/>
          </a:xfrm>
          <a:custGeom>
            <a:pathLst>
              <a:path w="141" h="17">
                <a:moveTo>
                  <a:pt x="141" y="15"/>
                </a:moveTo>
                <a:cubicBezTo>
                  <a:pt x="141" y="16"/>
                  <a:pt x="140" y="17"/>
                  <a:pt x="139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41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057275" y="22002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1990725" y="2209800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1990725" y="2209800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2276475" y="22098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1800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2990850" y="2209800"/>
            <a:ext cx="95250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2990850" y="2209800"/>
            <a:ext cx="952500" cy="152400"/>
          </a:xfrm>
          <a:custGeom>
            <a:pathLst>
              <a:path w="10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99" y="15"/>
                </a:lnTo>
                <a:cubicBezTo>
                  <a:pt x="99" y="15"/>
                  <a:pt x="100" y="15"/>
                  <a:pt x="100" y="14"/>
                </a:cubicBezTo>
                <a:cubicBezTo>
                  <a:pt x="100" y="15"/>
                  <a:pt x="99" y="16"/>
                  <a:pt x="9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343275" y="22098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6.0×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3981450" y="2209800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3981450" y="2209800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210050" y="2209800"/>
            <a:ext cx="504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3000 TPS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981575" y="2209800"/>
            <a:ext cx="1438275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4981575" y="2209800"/>
            <a:ext cx="1438275" cy="152400"/>
          </a:xfrm>
          <a:custGeom>
            <a:pathLst>
              <a:path w="15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50" y="15"/>
                </a:lnTo>
                <a:cubicBezTo>
                  <a:pt x="150" y="15"/>
                  <a:pt x="151" y="15"/>
                  <a:pt x="151" y="14"/>
                </a:cubicBezTo>
                <a:cubicBezTo>
                  <a:pt x="151" y="15"/>
                  <a:pt x="150" y="16"/>
                  <a:pt x="14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343525" y="2209800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24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12+12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09600" y="2809875"/>
            <a:ext cx="1343025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609600" y="2809875"/>
            <a:ext cx="1343025" cy="161925"/>
          </a:xfrm>
          <a:custGeom>
            <a:pathLst>
              <a:path w="141" h="17">
                <a:moveTo>
                  <a:pt x="141" y="15"/>
                </a:moveTo>
                <a:cubicBezTo>
                  <a:pt x="141" y="16"/>
                  <a:pt x="140" y="17"/>
                  <a:pt x="139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41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057275" y="28098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客户查询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1990725" y="2809875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1990725" y="2809875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2276475" y="28098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5200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2990850" y="2809875"/>
            <a:ext cx="95250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2990850" y="2809875"/>
            <a:ext cx="952500" cy="152400"/>
          </a:xfrm>
          <a:custGeom>
            <a:pathLst>
              <a:path w="10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99" y="15"/>
                </a:lnTo>
                <a:cubicBezTo>
                  <a:pt x="99" y="15"/>
                  <a:pt x="100" y="15"/>
                  <a:pt x="100" y="14"/>
                </a:cubicBezTo>
                <a:cubicBezTo>
                  <a:pt x="100" y="15"/>
                  <a:pt x="99" y="16"/>
                  <a:pt x="9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314700" y="2809875"/>
            <a:ext cx="314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12.0×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3981450" y="2809875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3981450" y="2809875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4200525" y="280987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8000 QPS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4981575" y="2809875"/>
            <a:ext cx="1438275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4981575" y="2809875"/>
            <a:ext cx="1438275" cy="152400"/>
          </a:xfrm>
          <a:custGeom>
            <a:pathLst>
              <a:path w="15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50" y="15"/>
                </a:lnTo>
                <a:cubicBezTo>
                  <a:pt x="150" y="15"/>
                  <a:pt x="151" y="15"/>
                  <a:pt x="151" y="14"/>
                </a:cubicBezTo>
                <a:cubicBezTo>
                  <a:pt x="151" y="15"/>
                  <a:pt x="150" y="16"/>
                  <a:pt x="14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5343525" y="28098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20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10+10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3409950"/>
            <a:ext cx="1343025" cy="161925"/>
          </a:xfrm>
          <a:prstGeom prst="roundRect">
            <a:avLst>
              <a:gd name="adj" fmla="val 1176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609600" y="3409950"/>
            <a:ext cx="1343025" cy="161925"/>
          </a:xfrm>
          <a:custGeom>
            <a:pathLst>
              <a:path w="141" h="17">
                <a:moveTo>
                  <a:pt x="141" y="15"/>
                </a:moveTo>
                <a:cubicBezTo>
                  <a:pt x="141" y="16"/>
                  <a:pt x="140" y="17"/>
                  <a:pt x="139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41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000125" y="34099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结算批处理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1990725" y="3419475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1990725" y="3419475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2314575" y="3419475"/>
            <a:ext cx="323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420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2990850" y="3419475"/>
            <a:ext cx="952500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2990850" y="3419475"/>
            <a:ext cx="952500" cy="152400"/>
          </a:xfrm>
          <a:custGeom>
            <a:pathLst>
              <a:path w="10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99" y="15"/>
                </a:lnTo>
                <a:cubicBezTo>
                  <a:pt x="99" y="15"/>
                  <a:pt x="100" y="15"/>
                  <a:pt x="100" y="14"/>
                </a:cubicBezTo>
                <a:cubicBezTo>
                  <a:pt x="100" y="15"/>
                  <a:pt x="99" y="16"/>
                  <a:pt x="9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3343275" y="34194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8.0×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3981450" y="3419475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3981450" y="3419475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238625" y="34194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1.2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时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4981575" y="3419475"/>
            <a:ext cx="1438275" cy="152400"/>
          </a:xfrm>
          <a:prstGeom prst="roundRect">
            <a:avLst>
              <a:gd name="adj" fmla="val 1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4981575" y="3419475"/>
            <a:ext cx="1438275" cy="152400"/>
          </a:xfrm>
          <a:custGeom>
            <a:pathLst>
              <a:path w="15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50" y="15"/>
                </a:lnTo>
                <a:cubicBezTo>
                  <a:pt x="150" y="15"/>
                  <a:pt x="151" y="15"/>
                  <a:pt x="151" y="14"/>
                </a:cubicBezTo>
                <a:cubicBezTo>
                  <a:pt x="151" y="15"/>
                  <a:pt x="150" y="16"/>
                  <a:pt x="14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438775" y="3419475"/>
            <a:ext cx="523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8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4+4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4019550"/>
            <a:ext cx="1343025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609600" y="4019550"/>
            <a:ext cx="1343025" cy="161925"/>
          </a:xfrm>
          <a:custGeom>
            <a:pathLst>
              <a:path w="141" h="17">
                <a:moveTo>
                  <a:pt x="141" y="15"/>
                </a:moveTo>
                <a:cubicBezTo>
                  <a:pt x="141" y="16"/>
                  <a:pt x="140" y="17"/>
                  <a:pt x="139" y="17"/>
                </a:cubicBezTo>
                <a:lnTo>
                  <a:pt x="2" y="17"/>
                </a:lnTo>
                <a:cubicBezTo>
                  <a:pt x="1" y="17"/>
                  <a:pt x="0" y="16"/>
                  <a:pt x="0" y="15"/>
                </a:cubicBezTo>
                <a:lnTo>
                  <a:pt x="141" y="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057275" y="4019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消息网关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1990725" y="4019550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1990725" y="4019550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2276475" y="40195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9000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2990850" y="4019550"/>
            <a:ext cx="95250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1" name=""/>
          <p:cNvSpPr/>
          <p:nvPr/>
        </p:nvSpPr>
        <p:spPr>
          <a:xfrm rot="0" flipH="0" flipV="0">
            <a:off x="2990850" y="4019550"/>
            <a:ext cx="952500" cy="152400"/>
          </a:xfrm>
          <a:custGeom>
            <a:pathLst>
              <a:path w="100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99" y="15"/>
                </a:lnTo>
                <a:cubicBezTo>
                  <a:pt x="99" y="15"/>
                  <a:pt x="100" y="15"/>
                  <a:pt x="100" y="14"/>
                </a:cubicBezTo>
                <a:cubicBezTo>
                  <a:pt x="100" y="15"/>
                  <a:pt x="99" y="16"/>
                  <a:pt x="98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3343275" y="40195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5.0×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3981450" y="4019550"/>
            <a:ext cx="962025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3981450" y="4019550"/>
            <a:ext cx="962025" cy="152400"/>
          </a:xfrm>
          <a:custGeom>
            <a:pathLst>
              <a:path w="10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00" y="15"/>
                </a:lnTo>
                <a:cubicBezTo>
                  <a:pt x="100" y="15"/>
                  <a:pt x="101" y="15"/>
                  <a:pt x="101" y="14"/>
                </a:cubicBezTo>
                <a:cubicBezTo>
                  <a:pt x="101" y="15"/>
                  <a:pt x="100" y="16"/>
                  <a:pt x="9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4229100" y="4019550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5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万条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4981575" y="4019550"/>
            <a:ext cx="1438275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4981575" y="4019550"/>
            <a:ext cx="1438275" cy="152400"/>
          </a:xfrm>
          <a:custGeom>
            <a:pathLst>
              <a:path w="151" h="16">
                <a:moveTo>
                  <a:pt x="0" y="14"/>
                </a:moveTo>
                <a:cubicBezTo>
                  <a:pt x="0" y="15"/>
                  <a:pt x="0" y="15"/>
                  <a:pt x="1" y="15"/>
                </a:cubicBezTo>
                <a:lnTo>
                  <a:pt x="150" y="15"/>
                </a:lnTo>
                <a:cubicBezTo>
                  <a:pt x="150" y="15"/>
                  <a:pt x="151" y="15"/>
                  <a:pt x="151" y="14"/>
                </a:cubicBezTo>
                <a:cubicBezTo>
                  <a:pt x="151" y="15"/>
                  <a:pt x="150" y="16"/>
                  <a:pt x="149" y="16"/>
                </a:cubicBezTo>
                <a:lnTo>
                  <a:pt x="2" y="16"/>
                </a:lnTo>
                <a:cubicBezTo>
                  <a:pt x="1" y="16"/>
                  <a:pt x="0" y="15"/>
                  <a:pt x="0" y="14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438775" y="4019550"/>
            <a:ext cx="523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6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3+3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47700" y="4438650"/>
            <a:ext cx="5810250" cy="1162050"/>
          </a:xfrm>
          <a:prstGeom prst="roundRect">
            <a:avLst>
              <a:gd name="adj" fmla="val 32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647700" y="4438650"/>
            <a:ext cx="5810250" cy="1162050"/>
          </a:xfrm>
          <a:custGeom>
            <a:pathLst>
              <a:path w="610" h="122">
                <a:moveTo>
                  <a:pt x="4" y="122"/>
                </a:moveTo>
                <a:cubicBezTo>
                  <a:pt x="2" y="122"/>
                  <a:pt x="0" y="120"/>
                  <a:pt x="0" y="11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81050" y="47148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峰值系数从哪来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81050" y="4905375"/>
            <a:ext cx="55054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取最近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个月实际值的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P99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除以均值，不要拍脑袋。实测峰值系数通常比直觉高，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因为月末、季末、年度结算这些尖峰是可预测的。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610350" y="13620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模板二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压测验收卡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6610350" y="1666875"/>
            <a:ext cx="4972050" cy="1562100"/>
          </a:xfrm>
          <a:prstGeom prst="roundRect">
            <a:avLst>
              <a:gd name="adj" fmla="val 243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762750" y="178117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目标：目标峰值</a:t>
            </a:r>
            <a:r>
              <a:rPr lang="en-US" sz="975">
                <a:solidFill>
                  <a:srgbClr val="FBA15C"/>
                </a:solidFill>
                <a:latin typeface="monospace"/>
                <a:ea typeface="monospace"/>
              </a:rPr>
              <a:t xml:space="preserve"> × 1.3</a:t>
            </a: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，持续</a:t>
            </a:r>
            <a:r>
              <a:rPr lang="en-US" sz="975">
                <a:solidFill>
                  <a:srgbClr val="FBA15C"/>
                </a:solidFill>
                <a:latin typeface="monospace"/>
                <a:ea typeface="monospace"/>
              </a:rPr>
              <a:t xml:space="preserve"> 30 </a:t>
            </a: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分钟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762750" y="204787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判据①：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P99 ≤ 300ms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762750" y="231457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判据②：业务零错误码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762750" y="258127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判据③：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CPU ≤ 60%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，内存无持续增长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762750" y="2847975"/>
            <a:ext cx="4667250" cy="266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判据④：扩容演练在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 xml:space="preserve"> 10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分钟内完成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648450" y="3305175"/>
            <a:ext cx="4972050" cy="47625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6648450" y="3305175"/>
            <a:ext cx="4972050" cy="476250"/>
          </a:xfrm>
          <a:custGeom>
            <a:pathLst>
              <a:path w="522" h="50">
                <a:moveTo>
                  <a:pt x="4" y="50"/>
                </a:moveTo>
                <a:cubicBezTo>
                  <a:pt x="2" y="50"/>
                  <a:pt x="0" y="48"/>
                  <a:pt x="0" y="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781800" y="34671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为什么要</a:t>
            </a: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×1.3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020050" y="344805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刚好压到目标值，等于没有余量。留三成是给自己和给故障留的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648450" y="3857625"/>
            <a:ext cx="4972050" cy="47625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6648450" y="3857625"/>
            <a:ext cx="4972050" cy="476250"/>
          </a:xfrm>
          <a:custGeom>
            <a:pathLst>
              <a:path w="522" h="50">
                <a:moveTo>
                  <a:pt x="4" y="50"/>
                </a:moveTo>
                <a:cubicBezTo>
                  <a:pt x="2" y="50"/>
                  <a:pt x="0" y="48"/>
                  <a:pt x="0" y="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781800" y="401955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CPU ≤ 60% </a:t>
            </a: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的意义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020050" y="400050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到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就开始抖。压测时看着没崩，线上流量抖动一样会崩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610350" y="4410075"/>
            <a:ext cx="4972050" cy="1190625"/>
          </a:xfrm>
          <a:prstGeom prst="roundRect">
            <a:avLst>
              <a:gd name="adj" fmla="val 320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762750" y="466725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压测报告最容易造假的地方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762750" y="4886325"/>
            <a:ext cx="4667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用开发环境的短时数据冒充生产等效压测。判断方法只有一个：看报告里有没有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数据依赖比例、连接池上限、缓存命中率这几项。有，才算真压过。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641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&lt;Text style={{ fontSize: 300, fontWeight: 'bold', color: 'rgba(255,255,255,0.08)', lineHeight: 1.0 }}&gt;05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5&lt;/Text&gt;&#13;&#10;  &lt;Box style={{ width: 72, height: 5, background: '#FA4F24', marginTop: 22 }} /&gt;&#13;&#10;        &lt;Text style={{ fontSize: 58, fontWeight: 'bold', color: '#FFFFFF', marginTop: 28, lineHeight: 1.15 }}&gt;技术标准与演进&lt;/Text&gt;&#13;&#10;    &lt;Text style={{ fontSize: 17, color: 'rgba(255,255,255,0.62)', letterSpacing: 2, marginTop: 20 }}&gt;STANDARDS &amp; EVOLUTION&lt;/Text&gt;&#13;&#10;        &lt;Text style={{ fontSize: 19, color: 'rgba(255,255,255,0.85)', marginTop: 26, lineHeight: 1.6 }}&gt;标准规范、ADR 与技术演进路线&lt;/Text&gt;&#13;&#10;    &lt;/Box&gt;&#13;&#10;&#13;&#10;    {/* 右下页码 */}&#13;&#10;    &lt;Box style={{ position: 'absolute', right: 88, bottom: 64, flexDirection: 'row', alignItems: 'center', gap: 12 }}&gt;&#13;&#10;        &lt;Box style={{ width: 14, height: 14, background: '#FA4F24' }} /&gt;&#13;&#10;        &lt;Text style={{ fontSize: 14, color: 'rgba(255,255,255,0.5)' }}&gt;硕磐机密 · TA技术架构咨询方法论&lt;/Text&gt;&#13;&#10;        &lt;Text style={{ fontSize: 14, color: 'rgba(255,255,255,0.5)', marginLeft: 12 }}&gt;20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05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技术标准与演进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STANDARDS &amp; EVOLUTION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标准规范、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ADR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与技术演进路线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841057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658225" y="6086475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65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之方法：&lt;span style={{ color: '#FA4F24' }}&gt;技术标准四条&lt;/span&gt;，标准是资产，产品是耗材&#10;  &lt;/Text&gt;&#10;        &lt;Text style={{ fontSize: 20, color: '#8A8F99', marginTop: 8 }}&gt;&#10;     不用管选了什么技术，只管这四件事有没有统一口径&#10;    &lt;/Text&gt;&#10;    &lt;/Box&gt;&#10;    &lt;Box style={{ height: 1, background: '#E8E8E8' }} /&gt;&#10;&#10;    {/* B 区 */}&#10;    &lt;Box style={{ paddingTop: 24, paddingBottom: 14, height: 479, flexDirection: 'column', gap: 11 }}&gt;&#10; {[&#10;     { n: '01', t: '接口标准', c: '#0F1423', tc: '#FFFFFF',&#10;    d: '跨团队调用必须走统一样式：协议、鉴权、错误码、超时、重试',&#10;        pts: ['要求：新人照着文档就能接入，不需要问人', '反例：每个团队一套返回结构，异常时没人知道该看哪个字段'] },&#10;        { n: '02', t: '编码与交付标准', c: '#FA4F24', tc: '#FFFFFF',&#10;     d: '目录结构、命名、日志、提交、构建、发布流程全公司一致',&#10;      pts: ['要求：任何仓库 clone 下来都能一条命令构建', '反例：构建脚本依赖某人的本地环境，新人第一天就卡住'] },&#10;        { n: '03', t: '部署与环境标准', c: '#F8622F', tc: '#FFFFFF',&#10;     d: '镜像规范、资源配置、环境变量、密钥管理方式统一',&#10;    pts: ['要求：所有服务无差别部署，不靠本地特权', '反例：某个系统必须登录特定跳板机才能发布'] },&#10;   { n: '04', t: '可观测性标准', c: '#FBA15C', tc: '#FFFFFF',&#10;        d: '日志格式、指标命名、链路追踪、告警规则统一',&#10;        pts: ['要求：故障时一次查询能看到全部相关服务', '反例：三个团队三套日志格式，故障时先花一小时找日志'] },&#10;      ].map((it, i) =&gt; (&#10;      &lt;Box key={i} style={{ flex: 1, flexDirection: 'row', alignItems: 'stretch', gap: 14 }}&gt;&#10;    &lt;Box style={{ width: 118, background: it.c, borderRadius: 4, alignItems: 'center', justifyContent: 'center', flexDirection: 'column' }}&gt;&#10;    &lt;Text style={{ fontSize: 13, fontWeight: 'bold', color: it.tc, letterSpacing: 1 }}&gt;{it.n}&lt;/Text&gt;&#10;   &lt;Text style={{ fontSize: 18, fontWeight: 'bold', color: it.tc, marginTop: 3 }}&gt;{it.t}&lt;/Text&gt;&#10;   &lt;/Box&gt;&#10;  &lt;Box style={{ flex: 1, background: '#F7F7F8', borderRadius: 4, padding: '0 18px', flexDirection: 'column', justifyContent: 'center' }}&gt;&#10;    &lt;Text style={{ fontSize: 15, color: '#0F1423', lineHeight: 1.4 }}&gt;{it.d}&lt;/Text&gt;&#10;        &lt;Text style={{ fontSize: 13, color: '#5A6072', lineHeight: 1.4, marginTop: 4 }}&gt;{it.pts[0]}&lt;/Text&gt;&#10;      &lt;Text style={{ fontSize: 13, color: '#C43A17', lineHeight: 1.4, marginTop: 2 }}&gt;{it.pts[1]}&lt;/Text&gt;&#10;   &lt;/Box&gt;&#10;    {i &lt; 3 &amp;&amp; (&#10;     &lt;Box style={{ width: 24, alignItems: 'center', justifyContent: 'center' }}&gt;&#10;    &lt;Text style={{ fontSize: 16, color: '#FA4F24', fontWeight: 'bold' }}&gt;›&lt;/Text&gt;&#10;     &lt;/Box&gt;&#10;   )}&#10;      &lt;/Box&gt;&#10;   ))}&#10;        &lt;Box style={{ height: 58, background: '#0F1423', borderRadius: 4, padding: '0 18px', flexDirection: 'row', alignItems: 'center', gap: 18 }}&gt;&#10;     &lt;Text style={{ fontSize: 15, fontWeight: 'bold', color: '#FBA15C', width: 180 }}&gt;★ 判断标准有没有效&lt;/Text&gt;&#10;   &lt;Text style={{ fontSize: 14, color: 'rgba(255,255,255,0.9)', flex: 1, lineHeight: 1.45 }}&gt;&#10;      不看文档写了多少条，看新人第一次交付要问几个人。问超过三个人，说明标准没落到工具上，&#10;      只是文档而已。标准必须能被人和工具同时执行，才叫标准。&#10;        &lt;/Text&gt;&#10;     &lt;/Box&gt;&#10;    &lt;/Box&gt;&#10;&#10;    {/* C 区 */}&#10;    &lt;Box style={{ height: 58, flexDirection: 'row', alignItems: 'center', borderTop: '1px solid #E8E8E8' }}&gt;&#10;        &lt;Box style={{ width: 10, height: 10, background: '#FA4F24' }} /&gt;&#10;   &lt;Text style={{ fontSize: 13, color: '#8A8F99', marginLeft: 12 }}&gt;硕磐机密 · TA技术架构咨询方法论&lt;/Text&gt;&#10;        &lt;Text style={{ fontSize: 13, color: '#8A8F99', marginLeft: 'auto' }}&gt;21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技术标准四条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，标准是资产，产品是耗材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不用管选了什么技术，只管这四件事有没有统一口径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609600" y="1381125"/>
            <a:ext cx="1123950" cy="809625"/>
          </a:xfrm>
          <a:prstGeom prst="roundRect">
            <a:avLst>
              <a:gd name="adj" fmla="val 470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085850" y="1590675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28675" y="17716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接口标准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1866900" y="1381125"/>
            <a:ext cx="9353550" cy="809625"/>
          </a:xfrm>
          <a:prstGeom prst="roundRect">
            <a:avLst>
              <a:gd name="adj" fmla="val 47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2038350" y="1428750"/>
            <a:ext cx="90106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跨团队调用必须走统一样式：协议、鉴权、错误码、超时、重试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2038350" y="1714500"/>
            <a:ext cx="9010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要求：新人照着文档就能接入，不需要问人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2038350" y="1943100"/>
            <a:ext cx="9010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反例：每个团队一套返回结构，异常时没人知道该看哪个字段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1439525" y="1695450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2295525"/>
            <a:ext cx="1123950" cy="809625"/>
          </a:xfrm>
          <a:prstGeom prst="roundRect">
            <a:avLst>
              <a:gd name="adj" fmla="val 470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1085850" y="2400300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编码与交付标准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1866900" y="2295525"/>
            <a:ext cx="9353550" cy="809625"/>
          </a:xfrm>
          <a:prstGeom prst="roundRect">
            <a:avLst>
              <a:gd name="adj" fmla="val 47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2038350" y="2343150"/>
            <a:ext cx="90106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目录结构、命名、日志、提交、构建、发布流程全公司一致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2038350" y="2628900"/>
            <a:ext cx="9010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要求：任何仓库</a:t>
            </a: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 clone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下来都能一条命令构建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2038350" y="2857500"/>
            <a:ext cx="9010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反例：构建脚本依赖某人的本地环境，新人第一天就卡住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439525" y="2609850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609600" y="3209925"/>
            <a:ext cx="1123950" cy="800100"/>
          </a:xfrm>
          <a:prstGeom prst="roundRect">
            <a:avLst>
              <a:gd name="adj" fmla="val 4762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1085850" y="3314700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09600" y="3495675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部署与环境标准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1866900" y="3209925"/>
            <a:ext cx="935355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2038350" y="3248025"/>
            <a:ext cx="90106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镜像规范、资源配置、环境变量、密钥管理方式统一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2038350" y="3533775"/>
            <a:ext cx="9010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要求：所有服务无差别部署，不靠本地特权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2038350" y="3762375"/>
            <a:ext cx="9010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反例：某个系统必须登录特定跳板机才能发布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1439525" y="351472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09600" y="4114800"/>
            <a:ext cx="1123950" cy="809625"/>
          </a:xfrm>
          <a:prstGeom prst="roundRect">
            <a:avLst>
              <a:gd name="adj" fmla="val 4706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085850" y="4324350"/>
            <a:ext cx="180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57225" y="45053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可观测性标准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1866900" y="4114800"/>
            <a:ext cx="9715500" cy="809625"/>
          </a:xfrm>
          <a:prstGeom prst="roundRect">
            <a:avLst>
              <a:gd name="adj" fmla="val 47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2038350" y="4162425"/>
            <a:ext cx="93726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日志格式、指标命名、链路追踪、告警规则统一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2038350" y="4448175"/>
            <a:ext cx="9372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要求：故障时一次查询能看到全部相关服务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2038350" y="4676775"/>
            <a:ext cx="9372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反例：三个团队三套日志格式，故障时先花一小时找日志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609600" y="5029200"/>
            <a:ext cx="10972800" cy="552450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781050" y="52197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判断标准有没有效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2667000" y="5076825"/>
            <a:ext cx="87439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不看文档写了多少条，看新人第一次交付要问几个人。问超过三个人，说明标准没落到工具上，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只是文档而已。标准必须能被人和工具同时执行，才叫标准。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9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697" name="" descr="&lt;Slide style={{ width: 1280, height: 720, background: '#FFFFFF', padding: '24px 64px 0' }}&gt;&#10;    {/* A 区 */}&#10;    &lt;Box style={{ height: 96, flexDirection: 'column', justifyContent: 'flex-start' }}&gt;&#10;      &lt;Text style={{ fontSize: 32, fontWeight: 'bold', color: '#0F1423' }}&gt;&#10; 之内容：&lt;span style={{ color: '#FA4F24' }}&gt;演进三阶段与技术决策记录&lt;/span&gt;，路线要能退坡&#10;      &lt;/Text&gt;&#10;        &lt;Text style={{ fontSize: 20, color: '#8A8F99', marginTop: 8 }}&gt;&#10;     每阶段都要有明确的里程碑、技术前提和「做不到就停」的信号&#10;        &lt;/Text&gt;&#10;    &lt;/Box&gt;&#10;    &lt;Box style={{ height: 1, background: '#E8E8E8' }} /&gt;&#10;&#10;    {/* B 区 */}&#10;    &lt;Box style={{ paddingTop: 22, paddingBottom: 12, height: 479, flexDirection: 'row', gap: 20 }}&gt;&#10;        {/* 左 三阶段 */}&#10;     &lt;Box style={{ width: 700, flexDirection: 'column', gap: 8 }}&gt;&#10;    &lt;Text style={{ fontSize: 20, fontWeight: 'bold', color: '#0F1423' }}&gt;技术演进三阶段&lt;/Text&gt;&#10;      {[&#10;    { p: 'S1', t: '夯实基础', c: '#0F1423', tc: '#FFFFFF',&#10;     ms: ['环境四分区达标，配置全部外置', '四条技术标准发布并接入流水线', '核心组件完成版本收敛'],&#10;       risk: '退坡信号：标准执行率低于 50%' },&#10;  { p: 'S2', t: '平台整合', c: '#FA4F24', tc: '#FFFFFF',&#10;        ms: ['资源池化，取代按台采购', '服务化部署，核心应用容器化率 60%', '统一可观测平台接入率 90%'],&#10;      risk: '退坡信号：容器化改造后稳定性下降' },&#10;        { p: 'S3', t: '智能与弹性', c: '#FBA15C', tc: '#3A2000',&#10;        ms: ['全链路弹性伸缩落地', '容量按预测自动调整', '高风险组件替换计划完成一半'],&#10;       risk: '退坡信号：弹性成本高于节省的 60%' },&#10;   ].map((it, i) =&gt; (&#10;      &lt;Box key={i} style={{ flex: 1, flexDirection: 'row', alignItems: 'stretch', gap: 12 }}&gt;&#10;      &lt;Box style={{ width: 96, background: it.c, borderRadius: 4, alignItems: 'center', justifyContent: 'center' }}&gt;&#10;        &lt;Text style={{ fontSize: 13, fontWeight: 'bold', color: it.tc }}&gt;{it.p}&lt;/Text&gt;&#10;    &lt;Text style={{ fontSize: 18, fontWeight: 'bold', color: it.tc, marginTop: 2 }}&gt;{it.t}&lt;/Text&gt;&#10;        &lt;/Box&gt;&#10;        &lt;Box style={{ flex: 1, flexDirection: 'row', gap: 10, alignItems: 'center' }}&gt;&#10;{it.ms.map((m, j) =&gt; (&#10;     &lt;Box key={j} style={{ flex: 1, height: '100%', background: '#F7F7F8', borderRadius: 4, padding: '8px 10px', justifyContent: 'center' }}&gt;&#10;    &lt;Text style={{ fontSize: 12, color: '#3A4050', lineHeight: 1.45 }}&gt;· {m}&lt;/Text&gt;&#10;     &lt;/Box&gt;&#10;         ))}&#10;    &lt;Box style={{ width: 178, background: '#FFF3EE', borderRadius: 4, padding: '8px 10px', justifyContent: 'center' }}&gt;&#10;     &lt;Text style={{ fontSize: 11, color: '#C43A17', lineHeight: 1.45 }}&gt;{it.risk}&lt;/Text&gt;&#10;      &lt;/Box&gt;&#10;   &lt;/Box&gt;&#10;    {i &lt; 2 &amp;&amp; (&#10;      &lt;Box style={{ position: 'absolute', left: 372, width: 16, height: 12, alignItems: 'center' }}&gt;&#10;     &lt;/Box&gt;&#10;    )}&#10;   &lt;/Box&gt;&#10;       ))}&#10;     &lt;Box style={{ height: 60, background: '#F7F7F8', borderRadius: 4, padding: '0 16px', flexDirection: 'row', alignItems: 'center', gap: 14, borderLeft: '4px solid #FA4F24' }}&gt;&#10;     &lt;Text style={{ fontSize: 14, fontWeight: 'bold', color: '#C43A17', width: 152 }}&gt;★ 退坡信号是路线图的底线&lt;/Text&gt;&#10;    &lt;Text style={{ fontSize: 13, color: '#3A4050', flex: 1, lineHeight: 1.45 }}&gt;&#10;    没有退坡信号的路线图，就是一厢情愿的愿望。写不出退坡条件，说明这条路还没被认真想过。&#10;        &lt;/Text&gt;&#10;      &lt;/Box&gt;&#10;        &lt;/Box&gt;&#10;&#10;        {/* 右 ADR */}&#10;   &lt;Box style={{ flex: 1, flexDirection: 'column', gap: 8 }}&gt;&#10;            &lt;Text style={{ fontSize: 20, fontWeight: 'bold', color: '#0F1423' }}&gt;技术决策记录 ADR&lt;/Text&gt;&#10;            &lt;Text style={{ fontSize: 13, color: '#3A4050', lineHeight: 1.55 }}&gt;&#10;   每一次重要技术选择都要留一条记录。它不是复盘，是给三年后的人看的。&#10;        &lt;/Text&gt;&#10;            &lt;Box style={{ background: '#0F1423', borderRadius: 4, padding: '12px 16px', flexDirection: 'column', flex: 1, justifyContent: 'center' }}&gt;&#10;     {[&#10;       'ADR-007 · 选型：容器数据库',&#10;  '背景：三个系统共用实例互相影响',&#10;      '决策：改用独立实例 + 容器化交付',&#10;        '备选：独立物理机（成本高、交付慢）',&#10;        '后果：隔离达成，故障域缩小',&#10; '复评时间：12 个月后看运维成本',&#10;   ].map((t, i) =&gt; (&#10;  &lt;Text key={i} style={{ fontSize: 12, color: i === 0 ? '#FBA15C' : 'rgba(255,255,255,0.86)', fontFamily: 'monospace', lineHeight: 1.75 }}&gt;{t}&lt;/Text&gt;&#10;   ))}&#10;      &lt;/Box&gt;&#10;   &lt;Box style={{ flex: 1, background: 'linear-gradient(160deg, #FA4F24 0%, #F87D2F 100%)', borderRadius: 4, padding: '12px 16px', flexDirection: 'column', justifyContent: 'center' }}&gt;&#10;     &lt;Text style={{ fontSize: 15, fontWeight: 'bold', color: '#FFFFFF' }}&gt;「后果」这一栏最有价值&lt;/Text&gt;&#10;     &lt;Text style={{ fontSize: 13, color: 'rgba(255,255,255,0.95)', lineHeight: 1.55, marginTop: 5 }}&gt;&#10;     多数架构文档只记「选了什么」，不记「代价是什么」。三年后没人敢动这个组件，&#10;        就是因为当初的代价被漏记了。&#10;   &lt;/Text&gt;&#10;       &lt;/Box&gt;&#10;        &lt;/Box&gt;&#10;    &lt;/Box&gt;&#10;&#10;    {/* C 区 */}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TA技术架构咨询方法论&lt;/Text&gt;&#10;        &lt;Text style={{ fontSize: 13, color: '#8A8F99', marginLeft: 'auto' }}&gt;2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演进三阶段与技术决策记录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，路线要能退坡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每阶段都要有明确的里程碑、技术前提和「做不到就停」的信号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66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技术演进三阶段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609600" y="1666875"/>
            <a:ext cx="914400" cy="1047750"/>
          </a:xfrm>
          <a:prstGeom prst="roundRect">
            <a:avLst>
              <a:gd name="adj" fmla="val 41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990600" y="20002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S1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23900" y="2171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夯实基础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1638300" y="1666875"/>
            <a:ext cx="1219200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1733550" y="1990725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环境四分区达标，配置全部外置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2952750" y="1666875"/>
            <a:ext cx="1219200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3048000" y="1990725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四条技术标准发布并接入流水线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4267200" y="1666875"/>
            <a:ext cx="1219200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4362450" y="1990725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核心组件完成版本收敛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5581650" y="2019300"/>
            <a:ext cx="1695450" cy="342900"/>
          </a:xfrm>
          <a:prstGeom prst="roundRect">
            <a:avLst>
              <a:gd name="adj" fmla="val 1111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5676900" y="2095500"/>
            <a:ext cx="150495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退坡信号：标准执行率低于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2790825"/>
            <a:ext cx="914400" cy="1038225"/>
          </a:xfrm>
          <a:prstGeom prst="roundRect">
            <a:avLst>
              <a:gd name="adj" fmla="val 416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990600" y="312420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S2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723900" y="32956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平台整合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1638300" y="2790825"/>
            <a:ext cx="1219200" cy="1038225"/>
          </a:xfrm>
          <a:prstGeom prst="roundRect">
            <a:avLst>
              <a:gd name="adj" fmla="val 36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733550" y="3114675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资源池化，取代按台采购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2952750" y="2790825"/>
            <a:ext cx="1219200" cy="1038225"/>
          </a:xfrm>
          <a:prstGeom prst="roundRect">
            <a:avLst>
              <a:gd name="adj" fmla="val 36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3048000" y="3114675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服务化部署，核心应用容器化率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60%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4267200" y="2790825"/>
            <a:ext cx="1219200" cy="1038225"/>
          </a:xfrm>
          <a:prstGeom prst="roundRect">
            <a:avLst>
              <a:gd name="adj" fmla="val 36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362450" y="3114675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统一可观测平台接入率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90%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5581650" y="3048000"/>
            <a:ext cx="1695450" cy="523875"/>
          </a:xfrm>
          <a:prstGeom prst="roundRect">
            <a:avLst>
              <a:gd name="adj" fmla="val 727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5676900" y="3124200"/>
            <a:ext cx="15049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退坡信号：容器化改造后稳定性下降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09600" y="3905250"/>
            <a:ext cx="914400" cy="1047750"/>
          </a:xfrm>
          <a:prstGeom prst="roundRect">
            <a:avLst>
              <a:gd name="adj" fmla="val 4167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990600" y="42386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A2000"/>
                </a:solidFill>
                <a:latin typeface="Microsoft YaHei"/>
                <a:ea typeface="Microsoft YaHei"/>
              </a:rPr>
              <a:t>S3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38175" y="44100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智能与弹性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1638300" y="3905250"/>
            <a:ext cx="1219200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733550" y="4229100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全链路弹性伸缩落地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2952750" y="3905250"/>
            <a:ext cx="1219200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3048000" y="4229100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容量按预测自动调整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4267200" y="3905250"/>
            <a:ext cx="1219200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4362450" y="4229100"/>
            <a:ext cx="10287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高风险组件替换计划完成一半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5581650" y="4171950"/>
            <a:ext cx="1695450" cy="523875"/>
          </a:xfrm>
          <a:prstGeom prst="roundRect">
            <a:avLst>
              <a:gd name="adj" fmla="val 727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5676900" y="4248150"/>
            <a:ext cx="15049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退坡信号：弹性成本高于节省的</a:t>
            </a: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 xml:space="preserve"> 60%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647700" y="5029200"/>
            <a:ext cx="6667500" cy="5715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7" name=""/>
          <p:cNvSpPr/>
          <p:nvPr/>
        </p:nvSpPr>
        <p:spPr>
          <a:xfrm rot="0" flipH="0" flipV="0">
            <a:off x="647700" y="5029200"/>
            <a:ext cx="6667500" cy="571500"/>
          </a:xfrm>
          <a:custGeom>
            <a:pathLst>
              <a:path w="700" h="60">
                <a:moveTo>
                  <a:pt x="4" y="60"/>
                </a:moveTo>
                <a:cubicBezTo>
                  <a:pt x="2" y="60"/>
                  <a:pt x="0" y="58"/>
                  <a:pt x="0" y="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800100" y="5153025"/>
            <a:ext cx="14478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退坡信号是路线图的底线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2381250" y="5095875"/>
            <a:ext cx="4743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没有退坡信号的路线图，就是一厢情愿的愿望。写不出退坡条件，说明这条路还没被认真想过。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467600" y="1362075"/>
            <a:ext cx="411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技术决策记录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ADR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467600" y="1666875"/>
            <a:ext cx="41148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每一次重要技术选择都要留一条记录。它不是复盘，是给三年后的人看的。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7467600" y="1981200"/>
            <a:ext cx="4114800" cy="2171700"/>
          </a:xfrm>
          <a:prstGeom prst="roundRect">
            <a:avLst>
              <a:gd name="adj" fmla="val 175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7620000" y="232410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00">
                <a:solidFill>
                  <a:srgbClr val="FBA15C"/>
                </a:solidFill>
                <a:latin typeface="monospace"/>
                <a:ea typeface="monospace"/>
              </a:rPr>
              <a:t xml:space="preserve">ADR-007 · </a:t>
            </a:r>
            <a:r>
              <a:rPr lang="zh-CN" sz="900">
                <a:solidFill>
                  <a:srgbClr val="FBA15C"/>
                </a:solidFill>
                <a:latin typeface="monospace"/>
                <a:ea typeface="monospace"/>
              </a:rPr>
              <a:t>选型：容器数据库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7620000" y="257175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背景：三个系统共用实例互相影响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620000" y="281940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决策：改用独立实例</a:t>
            </a:r>
            <a:r>
              <a:rPr lang="en-US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 xml:space="preserve"> + </a:t>
            </a:r>
            <a:r>
              <a:rPr lang="zh-CN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容器化交付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620000" y="306705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备选：独立物理机（成本高、交付慢）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620000" y="331470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后果：隔离达成，故障域缩小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620000" y="356235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复评时间：</a:t>
            </a:r>
            <a:r>
              <a:rPr lang="en-US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 xml:space="preserve">12 </a:t>
            </a:r>
            <a:r>
              <a:rPr lang="zh-CN" sz="900">
                <a:solidFill>
                  <a:srgbClr val="FFFFFF">
                    <a:alpha val="86000"/>
                  </a:srgbClr>
                </a:solidFill>
                <a:latin typeface="monospace"/>
                <a:ea typeface="monospace"/>
              </a:rPr>
              <a:t>个月后看运维成本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7467600" y="4229100"/>
            <a:ext cx="4114800" cy="1371600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620000" y="45720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「后果」这一栏最有价值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620000" y="4791075"/>
            <a:ext cx="38100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多数架构文档只记「选了什么」，不记「代价是什么」。三年后没人敢动这个组件，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就是因为当初的代价被漏记了。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5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756" name="" descr="&lt;Slide style={{ width: 1280, height: 720, background: '#FFFFFF', padding: '24px 64px 0' }}&gt;&#10;    {/* A 区 */}&#10;    &lt;Box style={{ height: 96, flexDirection: 'column', justifyContent: 'flex-start' }}&gt;&#10;      &lt;Text style={{ fontSize: 32, fontWeight: 'bold', color: '#0F1423' }}&gt;&#10;   之模板：&lt;span style={{ color: '#FA4F24' }}&gt;技术标准手册目录 + 标准卡&lt;/span&gt;&#10;    &lt;/Text&gt;&#10;      &lt;Text style={{ fontSize: 20, color: '#8A8F99', marginTop: 8 }}&gt;&#10;  标准手册不是给人读的文档，是给人照着抄的模板&#10;      &lt;/Text&gt;&#10;    &lt;/Box&gt;&#10;    &lt;Box style={{ height: 1, background: '#E8E8E8' }} /&gt;&#10;&#10;    {/* B 区 */}&#10;    &lt;Box style={{ paddingTop: 22, paddingBottom: 12, height: 479, flexDirection: 'row', gap: 20 }}&gt;&#10;        {/* 左 手册目录 */}&#10;        &lt;Box style={{ width: 430, flexDirection: 'column', gap: 6 }}&gt;&#10;  &lt;Text style={{ fontSize: 20, fontWeight: 'bold', color: '#0F1423' }}&gt;手册目录（建议即强制）&lt;/Text&gt;&#10;{[&#10;    { n: '1', t: '适用范围与例外规则', d: '谁必须遵守，谁可豁免' },&#10;      { n: '2', t: '接口设计规范', d: '协议 / 鉴权 / 错误码 / 超时' },&#10;      { n: '3', t: '编码与仓库规范', d: '结构 / 命名 / 提交 / 分支' },&#10;   { n: '4', t: '构建与发布规范', d: '流水线 / 制品 / 灰度 / 回滚' },&#10;       { n: '5', t: '配置与密钥管理', d: '外置 / 分级 / 轮换' },&#10;        { n: '6', t: '日志与监控规范', d: '格式 / 指标 / 告警分级' },&#10;      { n: '7', t: '容量与性能规范', d: '压测 / 余量 / 准入门槛' },&#10;     { n: '8', t: '例外登记与撤销', d: '台账 / 到期日 / 复核' },&#10;     ].map((it, i) =&gt; (&#10;      &lt;Box key={i} style={{ flex: 1, flexDirection: 'row', alignItems: 'center', background: '#F7F7F8', borderRadius: 4, padding: '0 14px', gap: 12 }}&gt;&#10;      &lt;Text style={{ fontSize: 16, fontWeight: 'bold', color: '#FA4F24', width: 18 }}&gt;{it.n}&lt;/Text&gt;&#10;      &lt;Box style={{ flex: 1, flexDirection: 'column' }}&gt;&#10;          &lt;Text style={{ fontSize: 15, fontWeight: 'bold', color: '#0F1423' }}&gt;{it.t}&lt;/Text&gt;&#10;        &lt;Text style={{ fontSize: 11, color: '#5A6072', marginTop: 1 }}&gt;{it.d}&lt;/Text&gt;&#10;      &lt;/Box&gt;&#10;      &lt;/Box&gt;&#10;      ))}&#10;   &lt;Box style={{ height: 62, background: '#FFF3EE', borderRadius: 4, padding: '0 14px', flexDirection: 'row', alignItems: 'center', gap: 12, borderLeft: '4px solid #FA4F24' }}&gt;&#10;      &lt;Text style={{ fontSize: 13, fontWeight: 'bold', color: '#C43A17', width: 76 }}&gt;★ 第 1 章&lt;/Text&gt;&#10;      &lt;Text style={{ fontSize: 12, color: '#3A2000', flex: 1, lineHeight: 1.45 }}&gt;&#10;      先写清楚谁可以例外。没有例外条款的标准，会因为第一个绕不过去的人而被整体放弃。&#10;         &lt;/Text&gt;&#10;      &lt;/Box&gt;&#10;        &lt;/Box&gt;&#10;&#10;     {/* 右 标准卡 */}&#10;        &lt;Box style={{ flex: 1, flexDirection: 'column', gap: 8 }}&gt;&#10;   &lt;Text style={{ fontSize: 20, fontWeight: 'bold', color: '#0F1423' }}&gt;标准卡 · 示例：错误码规范&lt;/Text&gt;&#10;            &lt;Box style={{ flex: 1, background: '#0F1423', borderRadius: 4, padding: '14px 18px', flexDirection: 'column', justifyContent: 'center' }}&gt;&#10;    {[&#10;      '格式：{业务域}-{错误类型}-{序号}',&#10;      '示例：PAY-40102 表示支付域参数错误',&#10;      '域码：固定枚举，新增须登记，不得自造',&#10;      '语义：4xxxx 业务、5xxxx 系统、9xxxx 上游',&#10;      '返回：统一 {code, message, traceId}',&#10;      '禁止：返回堆栈、SQL、内部主机名',&#10;    ].map((t, i) =&gt; (&#10; &lt;Text key={i} style={{ fontSize: 13, color: i === 0 ? '#FBA15C' : 'rgba(255,255,255,0.88)', fontFamily: 'monospace', lineHeight: 1.8 }}&gt;{t}&lt;/Text&gt;&#10;      ))}&#10;   &lt;/Box&gt;&#10;     {[&#10;   { t: '域码必须固定枚举', d: '允许自造域码，等于让错误码变成无法统计的乱码' },&#10;   { t: 'traceId 是排查的钥匙', d: '没有它，跨服务问题只能靠时间戳猜' },&#10;      ].map((it, i) =&gt; (&#10;  &lt;Box key={i} style={{ height: 52, background: '#F7F7F8', borderRadius: 4, padding: '0 14px', flexDirection: 'row', alignItems: 'center', gap: 12, borderLeft: '4px solid #FA4F24' }}&gt;&#10;        &lt;Text style={{ fontSize: 13, fontWeight: 'bold', color: '#FA4F24', width: 118 }}&gt;{it.t}&lt;/Text&gt;&#10;     &lt;Text style={{ fontSize: 12, color: '#3A4050', flex: 1, lineHeight: 1.45 }}&gt;{it.d}&lt;/Text&gt;&#10;   &lt;/Box&gt;&#10;     ))}&#10;            &lt;Box style={{ flex: 1, background: 'linear-gradient(160deg, #FA4F24 0%, #F87D2F 100%)', borderRadius: 4, padding: '12px 16px', flexDirection: 'column', justifyContent: 'center' }}&gt;&#10;   &lt;Text style={{ fontSize: 15, fontWeight: 'bold', color: '#FFFFFF' }}&gt;标准要落到工具里&lt;/Text&gt;&#10;    &lt;Text style={{ fontSize: 13, color: 'rgba(255,255,255,0.95)', lineHeight: 1.55, marginTop: 5 }}&gt;&#10;      写进文档的错误码规范，要同时有一条流水线校验；写进文档的日志格式，&#10;      要有采集端强制解析。文档靠自觉，工具靠强制。&#10;      &lt;/Text&gt;&#10;    &lt;/Box&gt;&#10;        &lt;/Box&gt;&#10;    &lt;/Box&gt;&#10;&#10;    {/* C 区 */}&#10;    &lt;Box style={{ height: 58, flexDirection: 'row', alignItems: 'center', borderTop: '1px solid #E8E8E8' }}&gt;&#10;      &lt;Box style={{ width: 10, height: 10, background: '#FA4F24' }} /&gt;&#10;        &lt;Text style={{ fontSize: 13, color: '#8A8F99', marginLeft: 12 }}&gt;硕磐机密 · TA技术架构咨询方法论&lt;/Text&gt;&#10;      &lt;Text style={{ fontSize: 13, color: '#8A8F99', marginLeft: 'auto' }}&gt;2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技术标准手册目录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标准卡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标准手册不是给人读的文档，是给人照着抄的模板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手册目录（建议即强制）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609600" y="1647825"/>
            <a:ext cx="409575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742950" y="173355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1028700" y="1676400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适用范围与例外规则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028700" y="1857375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谁必须遵守，谁可豁免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609600" y="2066925"/>
            <a:ext cx="409575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742950" y="215265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028700" y="2095500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接口设计规范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1028700" y="2276475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协议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鉴权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错误码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609600" y="2486025"/>
            <a:ext cx="409575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742950" y="257175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1028700" y="2514600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编码与仓库规范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1028700" y="2695575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结构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命名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提交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分支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609600" y="2905125"/>
            <a:ext cx="4095750" cy="371475"/>
          </a:xfrm>
          <a:prstGeom prst="roundRect">
            <a:avLst>
              <a:gd name="adj" fmla="val 102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742950" y="3000375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028700" y="2933700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构建与发布规范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1028700" y="3114675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流水线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制品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灰度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回滚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609600" y="3333750"/>
            <a:ext cx="409575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42950" y="3419475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1028700" y="336232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配置与密钥管理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1028700" y="3543300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外置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分级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轮换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09600" y="3752850"/>
            <a:ext cx="409575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42950" y="3838575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1028700" y="378142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日志与监控规范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1028700" y="3962400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格式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指标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告警分级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609600" y="4171950"/>
            <a:ext cx="409575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42950" y="4257675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1028700" y="420052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容量与性能规范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1028700" y="4381500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压测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余量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准入门槛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609600" y="4591050"/>
            <a:ext cx="409575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742950" y="4676775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1028700" y="461962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例外登记与撤销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028700" y="4800600"/>
            <a:ext cx="3543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台账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到期日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复核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647700" y="5010150"/>
            <a:ext cx="4095750" cy="59055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95" name=""/>
          <p:cNvSpPr/>
          <p:nvPr/>
        </p:nvSpPr>
        <p:spPr>
          <a:xfrm rot="0" flipH="0" flipV="0">
            <a:off x="647700" y="5010150"/>
            <a:ext cx="4095750" cy="590550"/>
          </a:xfrm>
          <a:custGeom>
            <a:pathLst>
              <a:path w="430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781050" y="522922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第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1619250" y="5105400"/>
            <a:ext cx="29527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先写清楚谁可以例外。没有例外条款的标准，会因为第一个绕不过去的人而被整体放弃。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4895850" y="1362075"/>
            <a:ext cx="6686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标准卡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示例：错误码规范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4895850" y="1666875"/>
            <a:ext cx="6686550" cy="1924050"/>
          </a:xfrm>
          <a:prstGeom prst="roundRect">
            <a:avLst>
              <a:gd name="adj" fmla="val 198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5067300" y="1800225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格式：</a:t>
            </a:r>
            <a:r>
              <a:rPr lang="en-US" sz="975">
                <a:solidFill>
                  <a:srgbClr val="FBA15C"/>
                </a:solidFill>
                <a:latin typeface="monospace"/>
                <a:ea typeface="monospace"/>
              </a:rPr>
              <a:t>{</a:t>
            </a: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业务域</a:t>
            </a:r>
            <a:r>
              <a:rPr lang="en-US" sz="975">
                <a:solidFill>
                  <a:srgbClr val="FBA15C"/>
                </a:solidFill>
                <a:latin typeface="monospace"/>
                <a:ea typeface="monospace"/>
              </a:rPr>
              <a:t>}-{</a:t>
            </a: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错误类型</a:t>
            </a:r>
            <a:r>
              <a:rPr lang="en-US" sz="975">
                <a:solidFill>
                  <a:srgbClr val="FBA15C"/>
                </a:solidFill>
                <a:latin typeface="monospace"/>
                <a:ea typeface="monospace"/>
              </a:rPr>
              <a:t>}-{</a:t>
            </a:r>
            <a:r>
              <a:rPr lang="zh-CN" sz="975">
                <a:solidFill>
                  <a:srgbClr val="FBA15C"/>
                </a:solidFill>
                <a:latin typeface="monospace"/>
                <a:ea typeface="monospace"/>
              </a:rPr>
              <a:t>序号</a:t>
            </a:r>
            <a:r>
              <a:rPr lang="en-US" sz="975">
                <a:solidFill>
                  <a:srgbClr val="FBA15C"/>
                </a:solidFill>
                <a:latin typeface="monospace"/>
                <a:ea typeface="monospace"/>
              </a:rPr>
              <a:t>}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5067300" y="2076450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示例：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 xml:space="preserve">PAY-40102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表示支付域参数错误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5067300" y="2352675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域码：固定枚举，新增须登记，不得自造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5067300" y="2628900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语义：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 xml:space="preserve">4xxxx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业务、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 xml:space="preserve">5xxxx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系统、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 xml:space="preserve">9xxxx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上游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5067300" y="2905125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返回：统一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 xml:space="preserve"> {code, message, traceId}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5067300" y="3181350"/>
            <a:ext cx="6343650" cy="2762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禁止：返回堆栈、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SQL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onospace"/>
                <a:ea typeface="monospace"/>
              </a:rPr>
              <a:t>、内部主机名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4933950" y="3667125"/>
            <a:ext cx="6686550" cy="49530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07" name=""/>
          <p:cNvSpPr/>
          <p:nvPr/>
        </p:nvSpPr>
        <p:spPr>
          <a:xfrm rot="0" flipH="0" flipV="0">
            <a:off x="4933950" y="3667125"/>
            <a:ext cx="6686550" cy="495300"/>
          </a:xfrm>
          <a:custGeom>
            <a:pathLst>
              <a:path w="702" h="52">
                <a:moveTo>
                  <a:pt x="4" y="52"/>
                </a:moveTo>
                <a:cubicBezTo>
                  <a:pt x="2" y="52"/>
                  <a:pt x="0" y="50"/>
                  <a:pt x="0" y="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067300" y="38385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域码必须固定枚举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6305550" y="3819525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允许自造域码，等于让错误码变成无法统计的乱码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4933950" y="4238625"/>
            <a:ext cx="6686550" cy="495300"/>
          </a:xfrm>
          <a:prstGeom prst="roundRect">
            <a:avLst>
              <a:gd name="adj" fmla="val 769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11" name=""/>
          <p:cNvSpPr/>
          <p:nvPr/>
        </p:nvSpPr>
        <p:spPr>
          <a:xfrm rot="0" flipH="0" flipV="0">
            <a:off x="4933950" y="4238625"/>
            <a:ext cx="6686550" cy="495300"/>
          </a:xfrm>
          <a:custGeom>
            <a:pathLst>
              <a:path w="702" h="52">
                <a:moveTo>
                  <a:pt x="4" y="52"/>
                </a:moveTo>
                <a:cubicBezTo>
                  <a:pt x="2" y="52"/>
                  <a:pt x="0" y="50"/>
                  <a:pt x="0" y="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5067300" y="4333875"/>
            <a:ext cx="11239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traceId </a:t>
            </a: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是排查的钥匙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6305550" y="4391025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没有它，跨服务问题只能靠时间戳猜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4895850" y="4810125"/>
            <a:ext cx="6686550" cy="91440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5048250" y="4924425"/>
            <a:ext cx="6381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标准要落到工具里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5048250" y="5143500"/>
            <a:ext cx="6381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写进文档的错误码规范，要同时有一条流水线校验；写进文档的日志格式，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要有采集端强制解析。文档靠自觉，工具靠强制。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821" name="" descr="&lt;Slide style={{ width: 1280, height: 720, background: '#0F1423' }}&gt;&#13;&#10;    {/* 深色底 + 橙红渐晕 */}&#13;&#10;    &lt;Box style={{ position: 'absolute', left: 0, top: 0, width: 1280, height: 720, background: 'linear-gradient(135deg, #0F1423 0%, #2A1810 100%)' }} /&gt;&#13;&#10;    &lt;Box style={{ position: 'absolute', right: 0, top: 0, width: 560, height: 720, background: 'linear-gradient(200deg, rgba(250,79,36,0.28) 0%, rgba(250,79,36,0) 70%)' }} /&gt;&#13;&#10;&#13;&#10;    {/* 巨字编号 */}&#13;&#10;    &lt;Box style={{ position: 'absolute', right: 70, top: 110 }}&gt;&#13;&#10;  &lt;Text style={{ fontSize: 300, fontWeight: 'bold', color: 'rgba(255,255,255,0.08)', lineHeight: 1.0 }}&gt;06&lt;/Text&gt;&#13;&#10;    &lt;/Box&gt;&#13;&#10;&#13;&#10;    {/* 左侧文字 */}&#13;&#10;    &lt;Box style={{ position: 'absolute', left: 88, top: 232, width: 660, flexDirection: 'column' }}&gt;&#13;&#10;        &lt;Text style={{ fontSize: 15, color: 'rgba(255,255,255,0.5)', letterSpacing: 3 }}&gt;PART 06&lt;/Text&gt;&#13;&#10;  &lt;Box style={{ width: 72, height: 5, background: '#FA4F24', marginTop: 22 }} /&gt;&#13;&#10;        &lt;Text style={{ fontSize: 58, fontWeight: 'bold', color: '#FFFFFF', marginTop: 28, lineHeight: 1.15 }}&gt;技术治理与风险&lt;/Text&gt;&#13;&#10;    &lt;Text style={{ fontSize: 17, color: 'rgba(255,255,255,0.62)', letterSpacing: 2, marginTop: 20 }}&gt;GOVERNANCE &amp; RISK&lt;/Text&gt;&#13;&#10;        &lt;Text style={{ fontSize: 19, color: 'rgba(255,255,255,0.85)', marginTop: 26, lineHeight: 1.6 }}&gt;三道技术门、风险台账与退役机制&lt;/Text&gt;&#13;&#10;    &lt;/Box&gt;&#13;&#10;&#13;&#10;    {/* 右下页码 */}&#13;&#10;    &lt;Box style={{ position: 'absolute', right: 88, bottom: 64, flexDirection: 'row', alignItems: 'center', gap: 12 }}&gt;&#13;&#10;        &lt;Box style={{ width: 14, height: 14, background: '#FA4F24' }} /&gt;&#13;&#10;        &lt;Text style={{ fontSize: 14, color: 'rgba(255,255,255,0.5)' }}&gt;硕磐机密 · TA技术架构咨询方法论&lt;/Text&gt;&#13;&#10;        &lt;Text style={{ fontSize: 14, color: 'rgba(255,255,255,0.5)', marginLeft: 12 }}&gt;24 / 3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2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06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技术治理与风险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GOVERNANCE &amp; RISK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三道技术门、风险台账与退役机制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841057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8658225" y="6086475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834" name="" descr="&lt;Slide style={{ width: 1280, height: 720, background: '#FFFFFF', padding: '24px 64px 0' }}&gt;&#10;    {/* A 区 */}&#10;    &lt;Box style={{ height: 96, flexDirection: 'column', justifyContent: 'flex-start' }}&gt;&#10;     &lt;Text style={{ fontSize: 32, fontWeight: 'bold', color: '#0F1423' }}&gt;&#10; 之方法：&lt;span style={{ color: '#FA4F24' }}&gt;技术治理三道门&lt;/span&gt;，卡住选型也卡住引入&#10;      &lt;/Text&gt;&#10;        &lt;Text style={{ fontSize: 20, color: '#8A8F99', marginTop: 8 }}&gt;&#10;     技术风险不是审出来的，是提前拦下来的&#10;    &lt;/Text&gt;&#10;    &lt;/Box&gt;&#10; &lt;Box style={{ height: 1, background: '#E8E8E8' }} /&gt;&#10;&#10;    {/* B 区 */}&#10;  &lt;Box style={{ paddingTop: 24, paddingBottom: 14, height: 479, flexDirection: 'row', gap: 20 }}&gt;&#10;        {/* 左 三道门 */}&#10;        &lt;Box style={{ width: 500, flexDirection: 'column', gap: 9 }}&gt;&#10;            &lt;Text style={{ fontSize: 20, fontWeight: 'bold', color: '#0F1423' }}&gt;三道门，各管一件事&lt;/Text&gt;&#10;{[&#10;   { g: 'T1 选型门', q: '为什么不复用现有组件', c: '#0F1423', tc: '#FFFFFF' },&#10;     { g: 'T2 引入门', q: '这个组件谁维护、退出时间是什么', c: '#FA4F24', tc: '#FFFFFF' },&#10;        { g: 'T3 上线门', q: '十二项部署就绪检查是否全过', c: '#F8622F', tc: '#FFFFFF' },&#10;      ].map((it, i) =&gt; (&#10;   &lt;Box key={i} style={{ flex: 1, background: it.c, borderRadius: 4, flexDirection: 'row', alignItems: 'center', padding: '0 18px', gap: 16 }}&gt;&#10;       &lt;Text style={{ fontSize: 19, fontWeight: 'bold', color: it.tc, width: 110 }}&gt;{it.g}&lt;/Text&gt;&#10; &lt;Text style={{ fontSize: 15, color: it.tc, opacity: 0.92, flex: 1, lineHeight: 1.4 }}&gt;{it.q}&lt;/Text&gt;&#10;        {i &lt; 2 &amp;&amp; &lt;Text style={{ fontSize: 16, color: it.tc, opacity: 0.6 }}&gt;↓&lt;/Text&gt;}&#10;      &lt;/Box&gt;&#10;    ))}&#10;      &lt;Box style={{ flex: 1, background: '#F7F7F8', borderRadius: 4, padding: '12px 16px', flexDirection: 'column', justifyContent: 'center', borderLeft: '4px solid #FA4F24' }}&gt;&#10; &lt;Text style={{ fontSize: 15, fontWeight: 'bold', color: '#C43A17' }}&gt;门要有否决权，也要有登记&lt;/Text&gt;&#10;  &lt;Text style={{ fontSize: 13, color: '#3A4050', lineHeight: 1.55, marginTop: 3 }}&gt;&#10;   三道门都由架构委员会把守，且都可以否决。同时必须留一个「例外台账」：&#10;    绕过门的申请登记，带到期日。否则门会被绕过，或者被当成洪水猛兽。&#10;       &lt;/Text&gt;&#10;      &lt;/Box&gt;&#10;        &lt;/Box&gt;&#10;&#10;        {/* 右 例外台账 + 门后站谁 */}&#10;        &lt;Box style={{ flex: 1, flexDirection: 'column', gap: 9 }}&gt;&#10;        &lt;Text style={{ fontSize: 20, fontWeight: 'bold', color: '#0F1423' }}&gt;例外台账（示例）&lt;/Text&gt;&#10;   &lt;Box style={{ flexDirection: 'row', gap: 4 }}&gt;&#10;   {['项目', '绕过了哪道门', '理由', '到期'].map((t, i) =&gt; (&#10;     &lt;Box key={i} style={{ flex: i === 1 ? 1.6 : 1, background: '#0F1423', padding: '7px 4px', alignItems: 'center', borderRadius: 2 }}&gt;&#10;        &lt;Text style={{ fontSize: 12, fontWeight: 'bold', color: '#FFFFFF' }}&gt;{t}&lt;/Text&gt;&#10;   &lt;/Box&gt;&#10;     ))}&#10;      &lt;/Box&gt;&#10;   {[&#10;    { p: '海外支付网关', g: 'T1 选型门', r: '监管要求本地化', d: '2027-03' },&#10;    { p: '实时风控引擎', g: 'T2 引入门', r: '自研无可替代', d: '2027-09' },&#10;      { p: '老报表系统迁移', g: 'T3 上线门', r: '压测暂未通过', d: '2026-12' },&#10;    ].map((it, i) =&gt; (&#10;       &lt;Box key={i} style={{ flex: 1, flexDirection: 'row', gap: 4, alignItems: 'center' }}&gt;&#10;      {[{ v: it.p, f: 1.4 }, { v: it.g, f: 1.6 }, { v: it.r, f: 1.2 }, { v: it.d, f: 1 }].map((c, j) =&gt; (&#10;     &lt;Box key={j} style={{ flex: c.f, background: i === 2 ? '#FFF3EE' : (i % 2 === 0 ? '#F7F7F8' : '#FFFFFF'), borderRadius: 2, padding: '0 4px', alignItems: 'center', borderBottom: '1px solid #E8E8E8' }}&gt;&#10;          &lt;Text style={{ fontSize: 11, color: j === 3 ? '#C43A17' : '#3A4050', fontWeight: j === 0 ? 'bold' : 'normal' }}&gt;{c.v}&lt;/Text&gt;&#10;       &lt;/Box&gt;&#10;       ))}&#10;    &lt;/Box&gt;&#10;      ))}&#10;      &lt;Box style={{ flex: 1.2, background: '#0F1423', borderRadius: 4, padding: '12px 16px', flexDirection: 'column', justifyContent: 'center' }}&gt;&#10;      &lt;Text style={{ fontSize: 15, fontWeight: 'bold', color: '#FBA15C' }}&gt;台账真正的价值&lt;/Text&gt;&#10;   &lt;Text style={{ fontSize: 13, color: 'rgba(255,255,255,0.88)', lineHeight: 1.6, marginTop: 4 }}&gt;&#10;   三个月后回看：哪道门被绕过最多，哪道门的标准就该改。&#10;     例外不是违规记录，是标准进化的输入。&#10;        &lt;/Text&gt;&#10;      &lt;/Box&gt;&#10;    &lt;/Box&gt;&#10;    &lt;/Box&gt;&#10;&#10;    {/* C 区 */}&#10;    &lt;Box style={{ height: 58, flexDirection: 'row', alignItems: 'center', borderTop: '1px solid #E8E8E8' }}&gt;&#10;  &lt;Box style={{ width: 10, height: 10, background: '#FA4F24' }} /&gt;&#10;      &lt;Text style={{ fontSize: 13, color: '#8A8F99', marginLeft: 12 }}&gt;硕磐机密 · TA技术架构咨询方法论&lt;/Text&gt;&#10;        &lt;Text style={{ fontSize: 13, color: '#8A8F99', marginLeft: 'auto' }}&gt;2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技术治理三道门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，卡住选型也卡住引入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技术风险不是审出来的，是提前拦下来的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609600" y="138112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三道门，各管一件事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609600" y="1695450"/>
            <a:ext cx="4762500" cy="742950"/>
          </a:xfrm>
          <a:prstGeom prst="roundRect">
            <a:avLst>
              <a:gd name="adj" fmla="val 512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781050" y="1962150"/>
            <a:ext cx="104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T1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选型门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609600" y="2524125"/>
            <a:ext cx="4762500" cy="752475"/>
          </a:xfrm>
          <a:prstGeom prst="roundRect">
            <a:avLst>
              <a:gd name="adj" fmla="val 506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781050" y="2790825"/>
            <a:ext cx="104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T2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引入门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09600" y="3362325"/>
            <a:ext cx="4762500" cy="742950"/>
          </a:xfrm>
          <a:prstGeom prst="roundRect">
            <a:avLst>
              <a:gd name="adj" fmla="val 5128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781050" y="3629025"/>
            <a:ext cx="104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T3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上线门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647700" y="4191000"/>
            <a:ext cx="4762500" cy="1390650"/>
          </a:xfrm>
          <a:prstGeom prst="roundRect">
            <a:avLst>
              <a:gd name="adj" fmla="val 274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47" name=""/>
          <p:cNvSpPr/>
          <p:nvPr/>
        </p:nvSpPr>
        <p:spPr>
          <a:xfrm rot="0" flipH="0" flipV="0">
            <a:off x="647700" y="4191000"/>
            <a:ext cx="4762500" cy="1390650"/>
          </a:xfrm>
          <a:custGeom>
            <a:pathLst>
              <a:path w="500" h="146">
                <a:moveTo>
                  <a:pt x="4" y="146"/>
                </a:moveTo>
                <a:cubicBezTo>
                  <a:pt x="2" y="146"/>
                  <a:pt x="0" y="144"/>
                  <a:pt x="0" y="14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800100" y="4552950"/>
            <a:ext cx="441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门要有否决权，也要有登记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800100" y="4752975"/>
            <a:ext cx="44196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三道门都由架构委员会把守，且都可以否决。同时必须留一个「例外台账」：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绕过门的申请登记，带到期日。否则门会被绕过，或者被当成洪水猛兽。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5562600" y="138112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例外台账（示例）</a:t>
            </a:r>
            <a:endParaRPr/>
          </a:p>
        </p:txBody>
      </p:sp>
      <p:sp>
        <p:nvSpPr>
          <p:cNvPr id="851" name=""/>
          <p:cNvSpPr/>
          <p:nvPr/>
        </p:nvSpPr>
        <p:spPr>
          <a:xfrm rot="0" flipH="0" flipV="0">
            <a:off x="5562600" y="1695450"/>
            <a:ext cx="12858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6096000" y="17621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6886575" y="1695450"/>
            <a:ext cx="20478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7572375" y="17621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绕过了哪道门</a:t>
            </a:r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8972550" y="1695450"/>
            <a:ext cx="12858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9505950" y="17621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理由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10296525" y="1695450"/>
            <a:ext cx="128587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10829925" y="17621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到期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5562600" y="2314575"/>
            <a:ext cx="159067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0" name=""/>
          <p:cNvSpPr/>
          <p:nvPr/>
        </p:nvSpPr>
        <p:spPr>
          <a:xfrm rot="0" flipH="0" flipV="0">
            <a:off x="5562600" y="2314575"/>
            <a:ext cx="1590675" cy="142875"/>
          </a:xfrm>
          <a:custGeom>
            <a:pathLst>
              <a:path w="167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66" y="14"/>
                </a:lnTo>
                <a:cubicBezTo>
                  <a:pt x="166" y="14"/>
                  <a:pt x="167" y="14"/>
                  <a:pt x="167" y="13"/>
                </a:cubicBezTo>
                <a:cubicBezTo>
                  <a:pt x="167" y="14"/>
                  <a:pt x="166" y="15"/>
                  <a:pt x="165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6048375" y="23145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海外支付网关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7191375" y="2314575"/>
            <a:ext cx="181927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3" name=""/>
          <p:cNvSpPr/>
          <p:nvPr/>
        </p:nvSpPr>
        <p:spPr>
          <a:xfrm rot="0" flipH="0" flipV="0">
            <a:off x="7191375" y="2314575"/>
            <a:ext cx="1819275" cy="142875"/>
          </a:xfrm>
          <a:custGeom>
            <a:pathLst>
              <a:path w="191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90" y="14"/>
                </a:lnTo>
                <a:cubicBezTo>
                  <a:pt x="190" y="14"/>
                  <a:pt x="191" y="14"/>
                  <a:pt x="191" y="13"/>
                </a:cubicBezTo>
                <a:cubicBezTo>
                  <a:pt x="191" y="14"/>
                  <a:pt x="190" y="15"/>
                  <a:pt x="189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7867650" y="2314575"/>
            <a:ext cx="476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T1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选型门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9048750" y="2314575"/>
            <a:ext cx="136207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6" name=""/>
          <p:cNvSpPr/>
          <p:nvPr/>
        </p:nvSpPr>
        <p:spPr>
          <a:xfrm rot="0" flipH="0" flipV="0">
            <a:off x="9048750" y="2314575"/>
            <a:ext cx="1362075" cy="142875"/>
          </a:xfrm>
          <a:custGeom>
            <a:pathLst>
              <a:path w="143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42" y="14"/>
                </a:lnTo>
                <a:cubicBezTo>
                  <a:pt x="142" y="14"/>
                  <a:pt x="143" y="14"/>
                  <a:pt x="143" y="13"/>
                </a:cubicBezTo>
                <a:cubicBezTo>
                  <a:pt x="143" y="14"/>
                  <a:pt x="142" y="15"/>
                  <a:pt x="141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9363075" y="2314575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监管要求本地化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10448925" y="2314575"/>
            <a:ext cx="113347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9" name=""/>
          <p:cNvSpPr/>
          <p:nvPr/>
        </p:nvSpPr>
        <p:spPr>
          <a:xfrm rot="0" flipH="0" flipV="0">
            <a:off x="10448925" y="2314575"/>
            <a:ext cx="1133475" cy="142875"/>
          </a:xfrm>
          <a:custGeom>
            <a:pathLst>
              <a:path w="119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18" y="14"/>
                </a:lnTo>
                <a:cubicBezTo>
                  <a:pt x="118" y="14"/>
                  <a:pt x="119" y="14"/>
                  <a:pt x="119" y="13"/>
                </a:cubicBezTo>
                <a:cubicBezTo>
                  <a:pt x="119" y="14"/>
                  <a:pt x="118" y="15"/>
                  <a:pt x="117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10810875" y="23145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2027-03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5562600" y="3057525"/>
            <a:ext cx="1590675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2" name=""/>
          <p:cNvSpPr/>
          <p:nvPr/>
        </p:nvSpPr>
        <p:spPr>
          <a:xfrm rot="0" flipH="0" flipV="0">
            <a:off x="5562600" y="3057525"/>
            <a:ext cx="1590675" cy="142875"/>
          </a:xfrm>
          <a:custGeom>
            <a:pathLst>
              <a:path w="167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66" y="14"/>
                </a:lnTo>
                <a:cubicBezTo>
                  <a:pt x="166" y="14"/>
                  <a:pt x="167" y="14"/>
                  <a:pt x="167" y="13"/>
                </a:cubicBezTo>
                <a:cubicBezTo>
                  <a:pt x="167" y="14"/>
                  <a:pt x="166" y="15"/>
                  <a:pt x="165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6048375" y="305752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实时风控引擎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7191375" y="3057525"/>
            <a:ext cx="1819275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5" name=""/>
          <p:cNvSpPr/>
          <p:nvPr/>
        </p:nvSpPr>
        <p:spPr>
          <a:xfrm rot="0" flipH="0" flipV="0">
            <a:off x="7191375" y="3057525"/>
            <a:ext cx="1819275" cy="142875"/>
          </a:xfrm>
          <a:custGeom>
            <a:pathLst>
              <a:path w="191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90" y="14"/>
                </a:lnTo>
                <a:cubicBezTo>
                  <a:pt x="190" y="14"/>
                  <a:pt x="191" y="14"/>
                  <a:pt x="191" y="13"/>
                </a:cubicBezTo>
                <a:cubicBezTo>
                  <a:pt x="191" y="14"/>
                  <a:pt x="190" y="15"/>
                  <a:pt x="189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7867650" y="3057525"/>
            <a:ext cx="476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T2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引入门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9048750" y="3057525"/>
            <a:ext cx="1362075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8" name=""/>
          <p:cNvSpPr/>
          <p:nvPr/>
        </p:nvSpPr>
        <p:spPr>
          <a:xfrm rot="0" flipH="0" flipV="0">
            <a:off x="9048750" y="3057525"/>
            <a:ext cx="1362075" cy="142875"/>
          </a:xfrm>
          <a:custGeom>
            <a:pathLst>
              <a:path w="143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42" y="14"/>
                </a:lnTo>
                <a:cubicBezTo>
                  <a:pt x="142" y="14"/>
                  <a:pt x="143" y="14"/>
                  <a:pt x="143" y="13"/>
                </a:cubicBezTo>
                <a:cubicBezTo>
                  <a:pt x="143" y="14"/>
                  <a:pt x="142" y="15"/>
                  <a:pt x="141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9420225" y="305752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自研无可替代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10448925" y="3057525"/>
            <a:ext cx="1133475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1" name=""/>
          <p:cNvSpPr/>
          <p:nvPr/>
        </p:nvSpPr>
        <p:spPr>
          <a:xfrm rot="0" flipH="0" flipV="0">
            <a:off x="10448925" y="3057525"/>
            <a:ext cx="1133475" cy="142875"/>
          </a:xfrm>
          <a:custGeom>
            <a:pathLst>
              <a:path w="119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18" y="14"/>
                </a:lnTo>
                <a:cubicBezTo>
                  <a:pt x="118" y="14"/>
                  <a:pt x="119" y="14"/>
                  <a:pt x="119" y="13"/>
                </a:cubicBezTo>
                <a:cubicBezTo>
                  <a:pt x="119" y="14"/>
                  <a:pt x="118" y="15"/>
                  <a:pt x="117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10810875" y="305752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2027-09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5562600" y="3800475"/>
            <a:ext cx="1590675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84" name=""/>
          <p:cNvSpPr/>
          <p:nvPr/>
        </p:nvSpPr>
        <p:spPr>
          <a:xfrm rot="0" flipH="0" flipV="0">
            <a:off x="5562600" y="3800475"/>
            <a:ext cx="1590675" cy="142875"/>
          </a:xfrm>
          <a:custGeom>
            <a:pathLst>
              <a:path w="167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66" y="14"/>
                </a:lnTo>
                <a:cubicBezTo>
                  <a:pt x="166" y="14"/>
                  <a:pt x="167" y="14"/>
                  <a:pt x="167" y="13"/>
                </a:cubicBezTo>
                <a:cubicBezTo>
                  <a:pt x="167" y="14"/>
                  <a:pt x="166" y="15"/>
                  <a:pt x="165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5991225" y="3800475"/>
            <a:ext cx="733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老报表系统迁移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7191375" y="3800475"/>
            <a:ext cx="1819275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87" name=""/>
          <p:cNvSpPr/>
          <p:nvPr/>
        </p:nvSpPr>
        <p:spPr>
          <a:xfrm rot="0" flipH="0" flipV="0">
            <a:off x="7191375" y="3800475"/>
            <a:ext cx="1819275" cy="142875"/>
          </a:xfrm>
          <a:custGeom>
            <a:pathLst>
              <a:path w="191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90" y="14"/>
                </a:lnTo>
                <a:cubicBezTo>
                  <a:pt x="190" y="14"/>
                  <a:pt x="191" y="14"/>
                  <a:pt x="191" y="13"/>
                </a:cubicBezTo>
                <a:cubicBezTo>
                  <a:pt x="191" y="14"/>
                  <a:pt x="190" y="15"/>
                  <a:pt x="189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7867650" y="3800475"/>
            <a:ext cx="476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T3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上线门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9048750" y="3800475"/>
            <a:ext cx="1362075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90" name=""/>
          <p:cNvSpPr/>
          <p:nvPr/>
        </p:nvSpPr>
        <p:spPr>
          <a:xfrm rot="0" flipH="0" flipV="0">
            <a:off x="9048750" y="3800475"/>
            <a:ext cx="1362075" cy="142875"/>
          </a:xfrm>
          <a:custGeom>
            <a:pathLst>
              <a:path w="143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42" y="14"/>
                </a:lnTo>
                <a:cubicBezTo>
                  <a:pt x="142" y="14"/>
                  <a:pt x="143" y="14"/>
                  <a:pt x="143" y="13"/>
                </a:cubicBezTo>
                <a:cubicBezTo>
                  <a:pt x="143" y="14"/>
                  <a:pt x="142" y="15"/>
                  <a:pt x="141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9420225" y="38004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压测暂未通过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10448925" y="3800475"/>
            <a:ext cx="1133475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93" name=""/>
          <p:cNvSpPr/>
          <p:nvPr/>
        </p:nvSpPr>
        <p:spPr>
          <a:xfrm rot="0" flipH="0" flipV="0">
            <a:off x="10448925" y="3800475"/>
            <a:ext cx="1133475" cy="142875"/>
          </a:xfrm>
          <a:custGeom>
            <a:pathLst>
              <a:path w="119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18" y="14"/>
                </a:lnTo>
                <a:cubicBezTo>
                  <a:pt x="118" y="14"/>
                  <a:pt x="119" y="14"/>
                  <a:pt x="119" y="13"/>
                </a:cubicBezTo>
                <a:cubicBezTo>
                  <a:pt x="119" y="14"/>
                  <a:pt x="118" y="15"/>
                  <a:pt x="117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10810875" y="38004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2026-12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5562600" y="4286250"/>
            <a:ext cx="6019800" cy="1295400"/>
          </a:xfrm>
          <a:prstGeom prst="roundRect">
            <a:avLst>
              <a:gd name="adj" fmla="val 294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5715000" y="4714875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台账真正的价值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5715000" y="4924425"/>
            <a:ext cx="57150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三个月后回看：哪道门被绕过最多，哪道门的标准就该改。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例外不是违规记录，是标准进化的输入。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1981200" y="1943100"/>
            <a:ext cx="29908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为什么不复用现有组件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5124450" y="19716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1981200" y="2781300"/>
            <a:ext cx="29908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这个组件谁维护、退出时间是什么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5124450" y="28098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981200" y="3609975"/>
            <a:ext cx="32194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十二项部署就绪检查是否全过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90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之内容：&lt;span style={{ color: '#FA4F24' }}&gt;技术风险台账与三类风险源&lt;/span&gt;&#10;      &lt;/Text&gt;&#10;        &lt;Text style={{ fontSize: 20, color: '#8A8F99', marginTop: 8 }}&gt;&#10;   技术风险要能提前两年看到，才来得及做替换而不是救火&#10;        &lt;/Text&gt;&#10;    &lt;/Box&gt;&#10; &lt;Box style={{ height: 1, background: '#E8E8E8' }} /&gt;&#10;&#10;    {/* B 区 */}&#10;    &lt;Box style={{ paddingTop: 22, paddingBottom: 12, height: 479, flexDirection: 'row', gap: 20 }}&gt;&#10;        {/* 左 三类风险源 */}&#10;        &lt;Box style={{ width: 470, flexDirection: 'column', gap: 8 }}&gt;&#10;     &lt;Text style={{ fontSize: 20, fontWeight: 'bold', color: '#0F1423' }}&gt;技术风险只有三个来源&lt;/Text&gt;&#10;   {[&#10;   { n: 'R1', t: '外部供应风险', d: '组件停止维护、厂商涨价或退出、许可变更', c: '#0F1423' },&#10;     { n: 'R2', t: '版本老化风险', d: '组件过 EOL 且无安全补丁，继续用等于裸奔', c: '#FA4F24' },&#10;        { n: 'R3', t: '技能流失风险', d: '只有一个人懂这套技术，他一走就无人接管', c: '#FBA15C' },&#10;      ].map((it, i) =&gt; (&#10;    &lt;Box key={i} style={{ flex: 1, background: it.c, borderRadius: 4, padding: '0 16px', flexDirection: 'row', alignItems: 'center', gap: 14 }}&gt;&#10;   &lt;Text style={{ fontSize: 19, fontWeight: 'bold', color: '#FFFFFF', width: 36 }}&gt;{it.n}&lt;/Text&gt;&#10;     &lt;Box style={{ flex: 1, flexDirection: 'column' }}&gt;&#10;   &lt;Text style={{ fontSize: 16, fontWeight: 'bold', color: '#FFFFFF' }}&gt;{it.t}&lt;/Text&gt;&#10;        &lt;Text style={{ fontSize: 12, color: 'rgba(255,255,255,0.85)', marginTop: 3, lineHeight: 1.4 }}&gt;{it.d}&lt;/Text&gt;&#10;      &lt;/Box&gt;&#10;     &lt;/Box&gt;&#10;    ))}&#10;    &lt;Box style={{ flex: 1, background: '#F7F7F8', borderRadius: 4, padding: '12px 16px', flexDirection: 'column', justifyContent: 'center', borderLeft: '4px solid #FA4F24' }}&gt;&#10;    &lt;Text style={{ fontSize: 15, fontWeight: 'bold', color: '#C43A17' }}&gt;R3 最被低估&lt;/Text&gt;&#10;      &lt;Text style={{ fontSize: 13, color: '#3A4050', lineHeight: 1.55, marginTop: 3 }}&gt;&#10;    外部供应风险能通过合同和备选方案缓解；技能流失风险只能通过轮岗和文档沉淀解决，&#10;   而它恰恰最容易被当成「团队的事」，不进技术台账。&#10;    &lt;/Text&gt;&#10;      &lt;/Box&gt;&#10;        &lt;/Box&gt;&#10;&#10;      {/* 右 风险台账 */}&#10;        &lt;Box style={{ flex: 1, flexDirection: 'column', gap: 8 }}&gt;&#10;            &lt;Text style={{ fontSize: 20, fontWeight: 'bold', color: '#0F1423' }}&gt;风险台账（示例）&lt;/Text&gt;&#10;  &lt;Box style={{ flexDirection: 'row', gap: 4 }}&gt;&#10;          {['风险', '源', '剩余月数', '影响应用', '对策'].map((t, i) =&gt; (&#10;            &lt;Box key={i} style={{ flex: i === 3 ? 1.5 : 1, background: '#0F1423', padding: '7px 4px', alignItems: 'center', borderRadius: 2 }}&gt;&#10;            &lt;Text style={{ fontSize: 12, fontWeight: 'bold', color: '#FFFFFF' }}&gt;{t}&lt;/Text&gt;&#10;        &lt;/Box&gt;&#10;     ))}&#10;      &lt;/Box&gt;&#10;    {[&#10;     { r: '商业数据库过 EOL', s: 'R1', m: '14', a: '12', c: '启动替换，Q2 完成评估' },&#10;      { r: '消息队列许可变更', s: 'R1', m: '9', a: '8', c: '切换开源版本，双跑验证' },&#10;      { r: '旧版容器平台无补丁', s: 'R2', m: '6', a: '15', c: '升平台版本，暂停新接入' },&#10;  { r: '核心中间件仅1人可维护', s: 'R3', m: '常态', a: '6', c: '轮岗2人 + 补齐运维文档' },&#10;    ].map((it, i) =&gt; (&#10;     &lt;Box key={i} style={{ flex: 1, flexDirection: 'row', gap: 4, alignItems: 'center' }}&gt;&#10;      {[{ v: it.r, f: 1.9 }, { v: it.s, f: 0.7 }, { v: it.m, f: 0.9 }, { v: it.a, f: 0.8 }, { v: it.c, f: 2 }].map((c, j) =&gt; (&#10;          &lt;Box key={j} style={{ flex: c.f, background: i === 3 ? '#FFF3EE' : (i % 2 === 0 ? '#F7F7F8' : '#FFFFFF'), borderRadius: 2, padding: '0 4px', alignItems: 'center', borderBottom: '1px solid #E8E8E8' }}&gt;&#10;     &lt;Text style={{ fontSize: 11, color: j === 1 ? '#FA4F24' : (j === 2 ? '#C43A17' : '#3A4050'), fontWeight: j === 0 ? 'bold' : 'normal' }}&gt;{c.v}&lt;/Text&gt;&#10;       &lt;/Box&gt;&#10;       ))}&#10;   &lt;/Box&gt;&#10;      ))}&#10;   &lt;Box style={{ flex: 1, background: 'linear-gradient(160deg, #FA4F24 0%, #F87D2F 100%)', borderRadius: 4, padding: '12px 16px', flexDirection: 'column', justifyContent: 'center' }}&gt;&#10;   &lt;Text style={{ fontSize: 15, fontWeight: 'bold', color: '#FFFFFF' }}&gt;「剩余月数」是这张表的关键列&lt;/Text&gt;&#10;   &lt;Text style={{ fontSize: 13, color: 'rgba(255,255,255,0.95)', lineHeight: 1.55, marginTop: 5 }}&gt;&#10;   有了倒计时，替换才能被排进预算。EOL 时间其实都是公开的，&#10;  只是没人把它换算成「还剩几个月」。换成月份之后，它才变成一个可决策的信息。&#10;        &lt;/Text&gt;&#10;      &lt;/Box&gt;&#10;        &lt;/Box&gt;&#10;    &lt;/Box&gt;&#10;&#10;    {/* C 区 */}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TA技术架构咨询方法论&lt;/Text&gt;&#10;        &lt;Text style={{ fontSize: 13, color: '#8A8F99', marginLeft: 'auto' }}&gt;2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技术风险台账与三类风险源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技术风险要能提前两年看到，才来得及做替换而不是救火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476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技术风险只有三个来源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609600" y="1666875"/>
            <a:ext cx="4476750" cy="809625"/>
          </a:xfrm>
          <a:prstGeom prst="roundRect">
            <a:avLst>
              <a:gd name="adj" fmla="val 470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62000" y="1962150"/>
            <a:ext cx="34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R1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1238250" y="1866900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外部供应风险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1238250" y="2085975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组件停止维护、厂商涨价或退出、许可变更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609600" y="2552700"/>
            <a:ext cx="4476750" cy="809625"/>
          </a:xfrm>
          <a:prstGeom prst="roundRect">
            <a:avLst>
              <a:gd name="adj" fmla="val 470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762000" y="2847975"/>
            <a:ext cx="34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R2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1238250" y="2752725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版本老化风险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1238250" y="297180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组件过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EOL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且无安全补丁，继续用等于裸奔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609600" y="3438525"/>
            <a:ext cx="4476750" cy="800100"/>
          </a:xfrm>
          <a:prstGeom prst="roundRect">
            <a:avLst>
              <a:gd name="adj" fmla="val 4762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762000" y="3733800"/>
            <a:ext cx="34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R3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1238250" y="3629025"/>
            <a:ext cx="3695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技能流失风险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238250" y="384810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只有一个人懂这套技术，他一走就无人接管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647700" y="4314825"/>
            <a:ext cx="4476750" cy="1285875"/>
          </a:xfrm>
          <a:prstGeom prst="roundRect">
            <a:avLst>
              <a:gd name="adj" fmla="val 29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6" name=""/>
          <p:cNvSpPr/>
          <p:nvPr/>
        </p:nvSpPr>
        <p:spPr>
          <a:xfrm rot="0" flipH="0" flipV="0">
            <a:off x="647700" y="4314825"/>
            <a:ext cx="4476750" cy="1285875"/>
          </a:xfrm>
          <a:custGeom>
            <a:pathLst>
              <a:path w="470" h="135">
                <a:moveTo>
                  <a:pt x="4" y="135"/>
                </a:moveTo>
                <a:cubicBezTo>
                  <a:pt x="2" y="135"/>
                  <a:pt x="0" y="133"/>
                  <a:pt x="0" y="13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800100" y="4629150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R3 </a:t>
            </a: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最被低估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800100" y="4829175"/>
            <a:ext cx="41338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外部供应风险能通过合同和备选方案缓解；技能流失风险只能通过轮岗和文档沉淀解决，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而它恰恰最容易被当成「团队的事」，不进技术台账。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5276850" y="1362075"/>
            <a:ext cx="6305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风险台账（示例）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5276850" y="1666875"/>
            <a:ext cx="111442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5724525" y="1733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风险</a:t>
            </a:r>
            <a:endParaRPr/>
          </a:p>
        </p:txBody>
      </p:sp>
      <p:sp>
        <p:nvSpPr>
          <p:cNvPr id="932" name=""/>
          <p:cNvSpPr/>
          <p:nvPr/>
        </p:nvSpPr>
        <p:spPr>
          <a:xfrm rot="0" flipH="0" flipV="0">
            <a:off x="6429375" y="1666875"/>
            <a:ext cx="1123950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6934200" y="17335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7591425" y="1666875"/>
            <a:ext cx="111442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7924800" y="1733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剩余月数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8743950" y="1666875"/>
            <a:ext cx="168592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9363075" y="17335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影响应用</a:t>
            </a:r>
            <a:endParaRPr/>
          </a:p>
        </p:txBody>
      </p:sp>
      <p:sp>
        <p:nvSpPr>
          <p:cNvPr id="938" name=""/>
          <p:cNvSpPr/>
          <p:nvPr/>
        </p:nvSpPr>
        <p:spPr>
          <a:xfrm rot="0" flipH="0" flipV="0">
            <a:off x="10467975" y="1666875"/>
            <a:ext cx="1114425" cy="276225"/>
          </a:xfrm>
          <a:prstGeom prst="roundRect">
            <a:avLst>
              <a:gd name="adj" fmla="val 68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10915650" y="1733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5276850" y="2200275"/>
            <a:ext cx="185737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1" name=""/>
          <p:cNvSpPr/>
          <p:nvPr/>
        </p:nvSpPr>
        <p:spPr>
          <a:xfrm rot="0" flipH="0" flipV="0">
            <a:off x="5276850" y="2200275"/>
            <a:ext cx="1857375" cy="142875"/>
          </a:xfrm>
          <a:custGeom>
            <a:pathLst>
              <a:path w="19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94" y="14"/>
                </a:lnTo>
                <a:cubicBezTo>
                  <a:pt x="194" y="14"/>
                  <a:pt x="195" y="14"/>
                  <a:pt x="195" y="13"/>
                </a:cubicBezTo>
                <a:cubicBezTo>
                  <a:pt x="195" y="14"/>
                  <a:pt x="194" y="15"/>
                  <a:pt x="19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5772150" y="2200275"/>
            <a:ext cx="866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商业数据库过</a:t>
            </a:r>
            <a:r>
              <a:rPr lang="en-US" sz="825" b="1">
                <a:solidFill>
                  <a:srgbClr val="3A4050"/>
                </a:solidFill>
                <a:latin typeface="Microsoft YaHei"/>
                <a:ea typeface="Microsoft YaHei"/>
              </a:rPr>
              <a:t xml:space="preserve"> EOL</a:t>
            </a:r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7172325" y="2200275"/>
            <a:ext cx="685800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4" name=""/>
          <p:cNvSpPr/>
          <p:nvPr/>
        </p:nvSpPr>
        <p:spPr>
          <a:xfrm rot="0" flipH="0" flipV="0">
            <a:off x="7172325" y="2200275"/>
            <a:ext cx="685800" cy="142875"/>
          </a:xfrm>
          <a:custGeom>
            <a:pathLst>
              <a:path w="7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71" y="14"/>
                </a:lnTo>
                <a:cubicBezTo>
                  <a:pt x="71" y="14"/>
                  <a:pt x="72" y="14"/>
                  <a:pt x="72" y="13"/>
                </a:cubicBezTo>
                <a:cubicBezTo>
                  <a:pt x="72" y="14"/>
                  <a:pt x="71" y="15"/>
                  <a:pt x="7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7448550" y="22002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R1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7896225" y="2200275"/>
            <a:ext cx="876300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7" name=""/>
          <p:cNvSpPr/>
          <p:nvPr/>
        </p:nvSpPr>
        <p:spPr>
          <a:xfrm rot="0" flipH="0" flipV="0">
            <a:off x="7896225" y="2200275"/>
            <a:ext cx="876300" cy="142875"/>
          </a:xfrm>
          <a:custGeom>
            <a:pathLst>
              <a:path w="9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91" y="14"/>
                </a:lnTo>
                <a:cubicBezTo>
                  <a:pt x="91" y="14"/>
                  <a:pt x="92" y="14"/>
                  <a:pt x="92" y="13"/>
                </a:cubicBezTo>
                <a:cubicBezTo>
                  <a:pt x="92" y="14"/>
                  <a:pt x="91" y="15"/>
                  <a:pt x="9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8277225" y="2200275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8810625" y="2200275"/>
            <a:ext cx="781050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0" name=""/>
          <p:cNvSpPr/>
          <p:nvPr/>
        </p:nvSpPr>
        <p:spPr>
          <a:xfrm rot="0" flipH="0" flipV="0">
            <a:off x="8810625" y="2200275"/>
            <a:ext cx="781050" cy="142875"/>
          </a:xfrm>
          <a:custGeom>
            <a:pathLst>
              <a:path w="8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81" y="14"/>
                </a:lnTo>
                <a:cubicBezTo>
                  <a:pt x="81" y="14"/>
                  <a:pt x="82" y="14"/>
                  <a:pt x="82" y="13"/>
                </a:cubicBezTo>
                <a:cubicBezTo>
                  <a:pt x="82" y="14"/>
                  <a:pt x="81" y="15"/>
                  <a:pt x="8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9144000" y="2200275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9629775" y="2200275"/>
            <a:ext cx="195262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3" name=""/>
          <p:cNvSpPr/>
          <p:nvPr/>
        </p:nvSpPr>
        <p:spPr>
          <a:xfrm rot="0" flipH="0" flipV="0">
            <a:off x="9629775" y="2200275"/>
            <a:ext cx="1952625" cy="142875"/>
          </a:xfrm>
          <a:custGeom>
            <a:pathLst>
              <a:path w="20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204" y="14"/>
                </a:lnTo>
                <a:cubicBezTo>
                  <a:pt x="204" y="14"/>
                  <a:pt x="205" y="14"/>
                  <a:pt x="205" y="13"/>
                </a:cubicBezTo>
                <a:cubicBezTo>
                  <a:pt x="205" y="14"/>
                  <a:pt x="204" y="15"/>
                  <a:pt x="20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10048875" y="2200275"/>
            <a:ext cx="1123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启动替换，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Q2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完成评估</a:t>
            </a:r>
            <a:endParaRPr/>
          </a:p>
        </p:txBody>
      </p:sp>
      <p:sp>
        <p:nvSpPr>
          <p:cNvPr id="955" name=""/>
          <p:cNvSpPr/>
          <p:nvPr/>
        </p:nvSpPr>
        <p:spPr>
          <a:xfrm rot="0" flipH="0" flipV="0">
            <a:off x="5276850" y="2781300"/>
            <a:ext cx="1857375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6" name=""/>
          <p:cNvSpPr/>
          <p:nvPr/>
        </p:nvSpPr>
        <p:spPr>
          <a:xfrm rot="0" flipH="0" flipV="0">
            <a:off x="5276850" y="2781300"/>
            <a:ext cx="1857375" cy="142875"/>
          </a:xfrm>
          <a:custGeom>
            <a:pathLst>
              <a:path w="19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94" y="14"/>
                </a:lnTo>
                <a:cubicBezTo>
                  <a:pt x="194" y="14"/>
                  <a:pt x="195" y="14"/>
                  <a:pt x="195" y="13"/>
                </a:cubicBezTo>
                <a:cubicBezTo>
                  <a:pt x="195" y="14"/>
                  <a:pt x="194" y="15"/>
                  <a:pt x="19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5791200" y="2781300"/>
            <a:ext cx="838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消息队列许可变更</a:t>
            </a:r>
            <a:endParaRPr/>
          </a:p>
        </p:txBody>
      </p:sp>
      <p:sp>
        <p:nvSpPr>
          <p:cNvPr id="958" name=""/>
          <p:cNvSpPr/>
          <p:nvPr/>
        </p:nvSpPr>
        <p:spPr>
          <a:xfrm rot="0" flipH="0" flipV="0">
            <a:off x="7172325" y="2781300"/>
            <a:ext cx="685800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9" name=""/>
          <p:cNvSpPr/>
          <p:nvPr/>
        </p:nvSpPr>
        <p:spPr>
          <a:xfrm rot="0" flipH="0" flipV="0">
            <a:off x="7172325" y="2781300"/>
            <a:ext cx="685800" cy="142875"/>
          </a:xfrm>
          <a:custGeom>
            <a:pathLst>
              <a:path w="7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71" y="14"/>
                </a:lnTo>
                <a:cubicBezTo>
                  <a:pt x="71" y="14"/>
                  <a:pt x="72" y="14"/>
                  <a:pt x="72" y="13"/>
                </a:cubicBezTo>
                <a:cubicBezTo>
                  <a:pt x="72" y="14"/>
                  <a:pt x="71" y="15"/>
                  <a:pt x="7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7448550" y="27813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R1</a:t>
            </a:r>
            <a:endParaRPr/>
          </a:p>
        </p:txBody>
      </p:sp>
      <p:sp>
        <p:nvSpPr>
          <p:cNvPr id="961" name=""/>
          <p:cNvSpPr/>
          <p:nvPr/>
        </p:nvSpPr>
        <p:spPr>
          <a:xfrm rot="0" flipH="0" flipV="0">
            <a:off x="7896225" y="2781300"/>
            <a:ext cx="876300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2" name=""/>
          <p:cNvSpPr/>
          <p:nvPr/>
        </p:nvSpPr>
        <p:spPr>
          <a:xfrm rot="0" flipH="0" flipV="0">
            <a:off x="7896225" y="2781300"/>
            <a:ext cx="876300" cy="142875"/>
          </a:xfrm>
          <a:custGeom>
            <a:pathLst>
              <a:path w="9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91" y="14"/>
                </a:lnTo>
                <a:cubicBezTo>
                  <a:pt x="91" y="14"/>
                  <a:pt x="92" y="14"/>
                  <a:pt x="92" y="13"/>
                </a:cubicBezTo>
                <a:cubicBezTo>
                  <a:pt x="92" y="14"/>
                  <a:pt x="91" y="15"/>
                  <a:pt x="9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8305800" y="27813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8810625" y="2781300"/>
            <a:ext cx="781050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5" name=""/>
          <p:cNvSpPr/>
          <p:nvPr/>
        </p:nvSpPr>
        <p:spPr>
          <a:xfrm rot="0" flipH="0" flipV="0">
            <a:off x="8810625" y="2781300"/>
            <a:ext cx="781050" cy="142875"/>
          </a:xfrm>
          <a:custGeom>
            <a:pathLst>
              <a:path w="8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81" y="14"/>
                </a:lnTo>
                <a:cubicBezTo>
                  <a:pt x="81" y="14"/>
                  <a:pt x="82" y="14"/>
                  <a:pt x="82" y="13"/>
                </a:cubicBezTo>
                <a:cubicBezTo>
                  <a:pt x="82" y="14"/>
                  <a:pt x="81" y="15"/>
                  <a:pt x="8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9172575" y="27813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9629775" y="2781300"/>
            <a:ext cx="1952625" cy="1428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8" name=""/>
          <p:cNvSpPr/>
          <p:nvPr/>
        </p:nvSpPr>
        <p:spPr>
          <a:xfrm rot="0" flipH="0" flipV="0">
            <a:off x="9629775" y="2781300"/>
            <a:ext cx="1952625" cy="142875"/>
          </a:xfrm>
          <a:custGeom>
            <a:pathLst>
              <a:path w="20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204" y="14"/>
                </a:lnTo>
                <a:cubicBezTo>
                  <a:pt x="204" y="14"/>
                  <a:pt x="205" y="14"/>
                  <a:pt x="205" y="13"/>
                </a:cubicBezTo>
                <a:cubicBezTo>
                  <a:pt x="205" y="14"/>
                  <a:pt x="204" y="15"/>
                  <a:pt x="20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10029825" y="278130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切换开源版本，双跑验证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5276850" y="3352800"/>
            <a:ext cx="185737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1" name=""/>
          <p:cNvSpPr/>
          <p:nvPr/>
        </p:nvSpPr>
        <p:spPr>
          <a:xfrm rot="0" flipH="0" flipV="0">
            <a:off x="5276850" y="3352800"/>
            <a:ext cx="1857375" cy="142875"/>
          </a:xfrm>
          <a:custGeom>
            <a:pathLst>
              <a:path w="19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94" y="14"/>
                </a:lnTo>
                <a:cubicBezTo>
                  <a:pt x="194" y="14"/>
                  <a:pt x="195" y="14"/>
                  <a:pt x="195" y="13"/>
                </a:cubicBezTo>
                <a:cubicBezTo>
                  <a:pt x="195" y="14"/>
                  <a:pt x="194" y="15"/>
                  <a:pt x="19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5734050" y="3352800"/>
            <a:ext cx="942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旧版容器平台无补丁</a:t>
            </a:r>
            <a:endParaRPr/>
          </a:p>
        </p:txBody>
      </p:sp>
      <p:sp>
        <p:nvSpPr>
          <p:cNvPr id="973" name=""/>
          <p:cNvSpPr/>
          <p:nvPr/>
        </p:nvSpPr>
        <p:spPr>
          <a:xfrm rot="0" flipH="0" flipV="0">
            <a:off x="7172325" y="3352800"/>
            <a:ext cx="685800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4" name=""/>
          <p:cNvSpPr/>
          <p:nvPr/>
        </p:nvSpPr>
        <p:spPr>
          <a:xfrm rot="0" flipH="0" flipV="0">
            <a:off x="7172325" y="3352800"/>
            <a:ext cx="685800" cy="142875"/>
          </a:xfrm>
          <a:custGeom>
            <a:pathLst>
              <a:path w="7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71" y="14"/>
                </a:lnTo>
                <a:cubicBezTo>
                  <a:pt x="71" y="14"/>
                  <a:pt x="72" y="14"/>
                  <a:pt x="72" y="13"/>
                </a:cubicBezTo>
                <a:cubicBezTo>
                  <a:pt x="72" y="14"/>
                  <a:pt x="71" y="15"/>
                  <a:pt x="7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7448550" y="33528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R2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7896225" y="3352800"/>
            <a:ext cx="876300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7" name=""/>
          <p:cNvSpPr/>
          <p:nvPr/>
        </p:nvSpPr>
        <p:spPr>
          <a:xfrm rot="0" flipH="0" flipV="0">
            <a:off x="7896225" y="3352800"/>
            <a:ext cx="876300" cy="142875"/>
          </a:xfrm>
          <a:custGeom>
            <a:pathLst>
              <a:path w="9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91" y="14"/>
                </a:lnTo>
                <a:cubicBezTo>
                  <a:pt x="91" y="14"/>
                  <a:pt x="92" y="14"/>
                  <a:pt x="92" y="13"/>
                </a:cubicBezTo>
                <a:cubicBezTo>
                  <a:pt x="92" y="14"/>
                  <a:pt x="91" y="15"/>
                  <a:pt x="9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8305800" y="33528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8810625" y="3352800"/>
            <a:ext cx="781050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0" name=""/>
          <p:cNvSpPr/>
          <p:nvPr/>
        </p:nvSpPr>
        <p:spPr>
          <a:xfrm rot="0" flipH="0" flipV="0">
            <a:off x="8810625" y="3352800"/>
            <a:ext cx="781050" cy="142875"/>
          </a:xfrm>
          <a:custGeom>
            <a:pathLst>
              <a:path w="8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81" y="14"/>
                </a:lnTo>
                <a:cubicBezTo>
                  <a:pt x="81" y="14"/>
                  <a:pt x="82" y="14"/>
                  <a:pt x="82" y="13"/>
                </a:cubicBezTo>
                <a:cubicBezTo>
                  <a:pt x="82" y="14"/>
                  <a:pt x="81" y="15"/>
                  <a:pt x="8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9144000" y="335280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9629775" y="3352800"/>
            <a:ext cx="1952625" cy="142875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3" name=""/>
          <p:cNvSpPr/>
          <p:nvPr/>
        </p:nvSpPr>
        <p:spPr>
          <a:xfrm rot="0" flipH="0" flipV="0">
            <a:off x="9629775" y="3352800"/>
            <a:ext cx="1952625" cy="142875"/>
          </a:xfrm>
          <a:custGeom>
            <a:pathLst>
              <a:path w="20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204" y="14"/>
                </a:lnTo>
                <a:cubicBezTo>
                  <a:pt x="204" y="14"/>
                  <a:pt x="205" y="14"/>
                  <a:pt x="205" y="13"/>
                </a:cubicBezTo>
                <a:cubicBezTo>
                  <a:pt x="205" y="14"/>
                  <a:pt x="204" y="15"/>
                  <a:pt x="20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10029825" y="335280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升平台版本，暂停新接入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5276850" y="3933825"/>
            <a:ext cx="1857375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86" name=""/>
          <p:cNvSpPr/>
          <p:nvPr/>
        </p:nvSpPr>
        <p:spPr>
          <a:xfrm rot="0" flipH="0" flipV="0">
            <a:off x="5276850" y="3933825"/>
            <a:ext cx="1857375" cy="142875"/>
          </a:xfrm>
          <a:custGeom>
            <a:pathLst>
              <a:path w="19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194" y="14"/>
                </a:lnTo>
                <a:cubicBezTo>
                  <a:pt x="194" y="14"/>
                  <a:pt x="195" y="14"/>
                  <a:pt x="195" y="13"/>
                </a:cubicBezTo>
                <a:cubicBezTo>
                  <a:pt x="195" y="14"/>
                  <a:pt x="194" y="15"/>
                  <a:pt x="19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5648325" y="3933825"/>
            <a:ext cx="1114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核心中间件仅</a:t>
            </a:r>
            <a:r>
              <a:rPr lang="en-US" sz="825" b="1">
                <a:solidFill>
                  <a:srgbClr val="3A4050"/>
                </a:solidFill>
                <a:latin typeface="Microsoft YaHei"/>
                <a:ea typeface="Microsoft YaHei"/>
              </a:rPr>
              <a:t>1</a:t>
            </a:r>
            <a:r>
              <a:rPr lang="zh-CN" sz="825" b="1">
                <a:solidFill>
                  <a:srgbClr val="3A4050"/>
                </a:solidFill>
                <a:latin typeface="Microsoft YaHei"/>
                <a:ea typeface="Microsoft YaHei"/>
              </a:rPr>
              <a:t>人可维护</a:t>
            </a:r>
            <a:endParaRPr/>
          </a:p>
        </p:txBody>
      </p:sp>
      <p:sp>
        <p:nvSpPr>
          <p:cNvPr id="988" name=""/>
          <p:cNvSpPr/>
          <p:nvPr/>
        </p:nvSpPr>
        <p:spPr>
          <a:xfrm rot="0" flipH="0" flipV="0">
            <a:off x="7172325" y="3933825"/>
            <a:ext cx="685800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89" name=""/>
          <p:cNvSpPr/>
          <p:nvPr/>
        </p:nvSpPr>
        <p:spPr>
          <a:xfrm rot="0" flipH="0" flipV="0">
            <a:off x="7172325" y="3933825"/>
            <a:ext cx="685800" cy="142875"/>
          </a:xfrm>
          <a:custGeom>
            <a:pathLst>
              <a:path w="7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71" y="14"/>
                </a:lnTo>
                <a:cubicBezTo>
                  <a:pt x="71" y="14"/>
                  <a:pt x="72" y="14"/>
                  <a:pt x="72" y="13"/>
                </a:cubicBezTo>
                <a:cubicBezTo>
                  <a:pt x="72" y="14"/>
                  <a:pt x="71" y="15"/>
                  <a:pt x="7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7448550" y="393382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R3</a:t>
            </a:r>
            <a:endParaRPr/>
          </a:p>
        </p:txBody>
      </p:sp>
      <p:sp>
        <p:nvSpPr>
          <p:cNvPr id="991" name=""/>
          <p:cNvSpPr/>
          <p:nvPr/>
        </p:nvSpPr>
        <p:spPr>
          <a:xfrm rot="0" flipH="0" flipV="0">
            <a:off x="7896225" y="3933825"/>
            <a:ext cx="876300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2" name=""/>
          <p:cNvSpPr/>
          <p:nvPr/>
        </p:nvSpPr>
        <p:spPr>
          <a:xfrm rot="0" flipH="0" flipV="0">
            <a:off x="7896225" y="3933825"/>
            <a:ext cx="876300" cy="142875"/>
          </a:xfrm>
          <a:custGeom>
            <a:pathLst>
              <a:path w="9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91" y="14"/>
                </a:lnTo>
                <a:cubicBezTo>
                  <a:pt x="91" y="14"/>
                  <a:pt x="92" y="14"/>
                  <a:pt x="92" y="13"/>
                </a:cubicBezTo>
                <a:cubicBezTo>
                  <a:pt x="92" y="14"/>
                  <a:pt x="91" y="15"/>
                  <a:pt x="9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8229600" y="393382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常态</a:t>
            </a:r>
            <a:endParaRPr/>
          </a:p>
        </p:txBody>
      </p:sp>
      <p:sp>
        <p:nvSpPr>
          <p:cNvPr id="994" name=""/>
          <p:cNvSpPr/>
          <p:nvPr/>
        </p:nvSpPr>
        <p:spPr>
          <a:xfrm rot="0" flipH="0" flipV="0">
            <a:off x="8810625" y="3933825"/>
            <a:ext cx="781050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5" name=""/>
          <p:cNvSpPr/>
          <p:nvPr/>
        </p:nvSpPr>
        <p:spPr>
          <a:xfrm rot="0" flipH="0" flipV="0">
            <a:off x="8810625" y="3933825"/>
            <a:ext cx="781050" cy="142875"/>
          </a:xfrm>
          <a:custGeom>
            <a:pathLst>
              <a:path w="82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81" y="14"/>
                </a:lnTo>
                <a:cubicBezTo>
                  <a:pt x="81" y="14"/>
                  <a:pt x="82" y="14"/>
                  <a:pt x="82" y="13"/>
                </a:cubicBezTo>
                <a:cubicBezTo>
                  <a:pt x="82" y="14"/>
                  <a:pt x="81" y="15"/>
                  <a:pt x="80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9172575" y="39338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9629775" y="3933825"/>
            <a:ext cx="1952625" cy="142875"/>
          </a:xfrm>
          <a:prstGeom prst="roundRect">
            <a:avLst>
              <a:gd name="adj" fmla="val 1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8" name=""/>
          <p:cNvSpPr/>
          <p:nvPr/>
        </p:nvSpPr>
        <p:spPr>
          <a:xfrm rot="0" flipH="0" flipV="0">
            <a:off x="9629775" y="3933825"/>
            <a:ext cx="1952625" cy="142875"/>
          </a:xfrm>
          <a:custGeom>
            <a:pathLst>
              <a:path w="205" h="15">
                <a:moveTo>
                  <a:pt x="0" y="13"/>
                </a:moveTo>
                <a:cubicBezTo>
                  <a:pt x="0" y="14"/>
                  <a:pt x="0" y="14"/>
                  <a:pt x="1" y="14"/>
                </a:cubicBezTo>
                <a:lnTo>
                  <a:pt x="204" y="14"/>
                </a:lnTo>
                <a:cubicBezTo>
                  <a:pt x="204" y="14"/>
                  <a:pt x="205" y="14"/>
                  <a:pt x="205" y="13"/>
                </a:cubicBezTo>
                <a:cubicBezTo>
                  <a:pt x="205" y="14"/>
                  <a:pt x="204" y="15"/>
                  <a:pt x="203" y="15"/>
                </a:cubicBezTo>
                <a:lnTo>
                  <a:pt x="2" y="15"/>
                </a:lnTo>
                <a:cubicBezTo>
                  <a:pt x="1" y="15"/>
                  <a:pt x="0" y="14"/>
                  <a:pt x="0" y="13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10029825" y="3933825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轮岗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2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人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补齐运维文档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5276850" y="4324350"/>
            <a:ext cx="6305550" cy="1276350"/>
          </a:xfrm>
          <a:prstGeom prst="roundRect">
            <a:avLst>
              <a:gd name="adj" fmla="val 2985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5429250" y="46196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「剩余月数」是这张表的关键列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5429250" y="4838700"/>
            <a:ext cx="6000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有了倒计时，替换才能被排进预算。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EOL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时间其实都是公开的，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只是没人把它换算成「还剩几个月」。换成月份之后，它才变成一个可决策的信息。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0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007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     之方法：&lt;span style={{ color: '#FA4F24' }}&gt;组件退役三步法&lt;/span&gt;，技术人比业务人更恋旧&#10;      &lt;/Text&gt;&#10;      &lt;Text style={{ fontSize: 20, color: '#8A8F99', marginTop: 8 }}&gt;&#10;       换掉一个用了十年的中间件，难的不是技术，是「万一出事谁负责」&#10;      &lt;/Text&gt;&#10;    &lt;/Box&gt;&#10;    &lt;Box style={{ height: 1, background: '#E8E8E8' }} /&gt;&#10;&#10;{/* B 区 */}&#10;    &lt;Box style={{ paddingTop: 24, paddingBottom: 14, height: 479, flexDirection: 'column', gap: 12 }}&gt;&#10; {[&#10;      { n: 'STEP 1', t: '评估', c: '#0F1423', tc: '#FFFFFF',&#10;    d: '迁移改造工作量、性能影响、隐性依赖',&#10;    pts: ['隐性依赖最费时：动态 SQL、存储过程、定时任务常常漏统计', '先在测试环境跑一遍全量回归，别在生产试错'] },&#10;      { n: 'STEP 2', t: '双跑', c: '#FA4F24', tc: '#FFFFFF',&#10;   d: '新旧并行，数据双向比对，差异归零再切',&#10;      pts: ['双跑期至少覆盖一个完整业务周期，含月末与季末', '比对不只看数据，还要比性能与资源占用'] },&#10;        { n: 'STEP 3', t: '切换', c: '#FBA15C', tc: '#3A2000',&#10;       d: '切流量、观察期保回滚、旧组件下线',&#10;      pts: ['观察期至少一个月，旧环境不立刻销毁', '下线要回收许可与账号，成本才算真省下来'] },&#10;      ].map((it, i) =&gt; (&#10;     &lt;Box key={i} style={{ flex: 1, flexDirection: 'row', alignItems: 'stretch', gap: 14 }}&gt;&#10;    &lt;Box style={{ width: 126, background: it.c, borderRadius: 4, alignItems: 'center', justifyContent: 'center', flexDirection: 'column' }}&gt;&#10;     &lt;Text style={{ fontSize: 12, fontWeight: 'bold', color: it.tc, letterSpacing: 1 }}&gt;{it.n}&lt;/Text&gt;&#10;  &lt;Text style={{ fontSize: 24, fontWeight: 'bold', color: it.tc, marginTop: 3 }}&gt;{it.t}&lt;/Text&gt;&#10;       &lt;/Box&gt;&#10; &lt;Box style={{ flex: 1, background: '#F7F7F8', borderRadius: 4, padding: '0 18px', flexDirection: 'column', justifyContent: 'center' }}&gt;&#10;     &lt;Text style={{ fontSize: 16, color: '#0F1423', lineHeight: 1.4 }}&gt;{it.d}&lt;/Text&gt;&#10;     {it.pts.map((p, j) =&gt; (&#10;            &lt;Text key={j} style={{ fontSize: 13, color: j === 0 ? '#C43A17' : '#5A6072', lineHeight: 1.45, marginTop: 3 }}&gt;· {p}&lt;/Text&gt;&#10;       ))}&#10;   &lt;/Box&gt;&#10;   {i &lt; 2 &amp;&amp; (&#10;     &lt;Box style={{ width: 24, alignItems: 'center', justifyContent: 'center' }}&gt;&#10;    &lt;Text style={{ fontSize: 16, color: '#FA4F24', fontWeight: 'bold' }}&gt;↓&lt;/Text&gt;&#10;   &lt;/Box&gt;&#10;   )}&#10;  &lt;/Box&gt;&#10;   ))}&#10;        &lt;Box style={{ height: 66, background: 'linear-gradient(90deg, #FA4F24 0%, #F87D2F 100%)', borderRadius: 4, padding: '0 18px', flexDirection: 'row', alignItems: 'center', gap: 18 }}&gt;&#10;     &lt;Text style={{ fontSize: 16, fontWeight: 'bold', color: '#FFFFFF', width: 210 }}&gt;★ 为什么组件退役总在最后&lt;/Text&gt;&#10;   &lt;Text style={{ fontSize: 14, color: 'rgba(255,255,255,0.95)', flex: 1, lineHeight: 1.45 }}&gt;&#10;     替换项目没有新功能那样的可见度，也不写在业务部门的 KPI 里。&#10;     所以它必须被当作一个独立的、有预算有里程碑的项目立项，否则永远排不上队。&#10;      &lt;/Text&gt;&#10;      &lt;/Box&gt;&#10;    &lt;/Box&gt;&#10;&#10;    {/* C 区 */}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TA技术架构咨询方法论&lt;/Text&gt;&#10;   &lt;Text style={{ fontSize: 13, color: '#8A8F99', marginLeft: 'auto' }}&gt;2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组件退役三步法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，技术人比业务人更恋旧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换掉一个用了十年的中间件，难的不是技术，是「万一出事谁负责」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12" name=""/>
          <p:cNvSpPr/>
          <p:nvPr/>
        </p:nvSpPr>
        <p:spPr>
          <a:xfrm rot="0" flipH="0" flipV="0">
            <a:off x="609600" y="1381125"/>
            <a:ext cx="1200150" cy="1076325"/>
          </a:xfrm>
          <a:prstGeom prst="roundRect">
            <a:avLst>
              <a:gd name="adj" fmla="val 354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990600" y="1695450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FFFFF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981075" y="18669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评估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1943100" y="1381125"/>
            <a:ext cx="9277350" cy="1076325"/>
          </a:xfrm>
          <a:prstGeom prst="roundRect">
            <a:avLst>
              <a:gd name="adj" fmla="val 354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2114550" y="1543050"/>
            <a:ext cx="8934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迁移改造工作量、性能影响、隐性依赖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2114550" y="1828800"/>
            <a:ext cx="8934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隐性依赖最费时：动态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SQL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、存储过程、定时任务常常漏统计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2114550" y="2076450"/>
            <a:ext cx="8934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先在测试环境跑一遍全量回归，别在生产试错</a:t>
            </a:r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11430000" y="18288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609600" y="2571750"/>
            <a:ext cx="1200150" cy="1076325"/>
          </a:xfrm>
          <a:prstGeom prst="roundRect">
            <a:avLst>
              <a:gd name="adj" fmla="val 354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990600" y="2886075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FFFFF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981075" y="305752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双跑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1943100" y="2571750"/>
            <a:ext cx="9277350" cy="1076325"/>
          </a:xfrm>
          <a:prstGeom prst="roundRect">
            <a:avLst>
              <a:gd name="adj" fmla="val 354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2114550" y="2733675"/>
            <a:ext cx="8934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新旧并行，数据双向比对，差异归零再切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2114550" y="3019425"/>
            <a:ext cx="8934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双跑期至少覆盖一个完整业务周期，含月末与季末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2114550" y="3267075"/>
            <a:ext cx="89344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比对不只看数据，还要比性能与资源占用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11430000" y="30194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28" name=""/>
          <p:cNvSpPr/>
          <p:nvPr/>
        </p:nvSpPr>
        <p:spPr>
          <a:xfrm rot="0" flipH="0" flipV="0">
            <a:off x="609600" y="3762375"/>
            <a:ext cx="1200150" cy="1076325"/>
          </a:xfrm>
          <a:prstGeom prst="roundRect">
            <a:avLst>
              <a:gd name="adj" fmla="val 354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990600" y="4076700"/>
            <a:ext cx="447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3A2000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981075" y="42481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A2000"/>
                </a:solidFill>
                <a:latin typeface="Microsoft YaHei"/>
                <a:ea typeface="Microsoft YaHei"/>
              </a:rPr>
              <a:t>切换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1943100" y="3762375"/>
            <a:ext cx="9639300" cy="1076325"/>
          </a:xfrm>
          <a:prstGeom prst="roundRect">
            <a:avLst>
              <a:gd name="adj" fmla="val 354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2114550" y="3924300"/>
            <a:ext cx="92964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切流量、观察期保回滚、旧组件下线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2114550" y="4210050"/>
            <a:ext cx="9296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观察期至少一个月，旧环境不立刻销毁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2114550" y="4457700"/>
            <a:ext cx="9296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下线要回收许可与账号，成本才算真省下来</a:t>
            </a:r>
            <a:endParaRPr/>
          </a:p>
        </p:txBody>
      </p:sp>
      <p:sp>
        <p:nvSpPr>
          <p:cNvPr id="1035" name=""/>
          <p:cNvSpPr/>
          <p:nvPr/>
        </p:nvSpPr>
        <p:spPr>
          <a:xfrm rot="0" flipH="0" flipV="0">
            <a:off x="609600" y="4953000"/>
            <a:ext cx="10972800" cy="628650"/>
          </a:xfrm>
          <a:prstGeom prst="roundRect">
            <a:avLst>
              <a:gd name="adj" fmla="val 606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为什么组件退役总在最后</a:t>
            </a:r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2952750" y="5038725"/>
            <a:ext cx="8458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替换项目没有新功能那样的可见度，也不写在业务部门的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里。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所以它必须被当作一个独立的、有预算有里程碑的项目立项，否则永远排不上队。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3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042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     收口：&lt;span style={{ color: '#FA4F24' }}&gt;架构确定性&lt;/span&gt;，六个半年后还成立的判断&#10;        &lt;/Text&gt;&#10;    &lt;Text style={{ fontSize: 20, color: '#8A8F99', marginTop: 8 }}&gt;&#10;     咨询的终点不是那份架构文档，而是这六件事有没有真的在运转&#10;        &lt;/Text&gt;&#10;    &lt;/Box&gt;&#10;    &lt;Box style={{ height: 1, background: '#E8E8E8' }} /&gt;&#10;&#10;    {/* B 区 */}&#10;    &lt;Box style={{ paddingTop: 24, paddingBottom: 14, height: 479, flexDirection: 'column', gap: 13 }}&gt;&#10; {[&#10;     { n: '01', t: '分层是清的', d: '每一层只依赖下一层，没有跨层调用。层边界可以用接口文档说清楚', c: '#0F1423', tc: '#FFFFFF' },&#10;   { n: '02', t: '组件是登记的', d: '所有在用的组件都在清单里，版本精确、锁定风险已标级', c: '#3A4050', tc: '#FFFFFF' },&#10;  { n: '03', t: '环境是隔离的', d: '四分区达标、配置外置、凭据不同源，预发真的和生产同构', c: '#5A6072', tc: '#FFFFFF' },&#10;      { n: '04', t: '需求是量化的', d: '性能 / 可用性 / 容量 / 恢复，四类数字都有验收判据，没有「较快」这种词', c: '#F8622F', tc: '#FFFFFF' },&#10;   { n: '05', t: '标准是落地的', d: '四条标准接进了流水线，不只是文档；新人第一次交付问不到三个人', c: '#FA4F24', tc: '#FFFFFF' },&#10;    { n: '06', t: '风险是有倒计时的', d: '高风险组件还剩几个月到期，写在台账上，且已进入预算', c: '#FBA15C', tc: '#3A2000' },&#10;      ].map((it, i) =&gt; (&#10;    &lt;Box key={i} style={{ flex: 1, flexDirection: 'row', alignItems: 'center', background: it.c, borderRadius: 4, padding: '0 18px', gap: 16 }}&gt;&#10;      &lt;Text style={{ fontSize: 20, fontWeight: 'bold', color: it.tc, width: 36 }}&gt;{it.n}&lt;/Text&gt;&#10; &lt;Text style={{ fontSize: 18, fontWeight: 'bold', color: it.tc, width: 190 }}&gt;{it.t}&lt;/Text&gt;&#10;      &lt;Text style={{ fontSize: 14, color: it.tc, opacity: 0.93, flex: 1, lineHeight: 1.45 }}&gt;{it.d}&lt;/Text&gt;&#10;  &lt;/Box&gt;&#10;   ))}&#10;        &lt;Box style={{ height: 94, background: '#F7F7F8', borderRadius: 4, borderLeft: '5px solid #FA4F24', padding: '12px 20px', flexDirection: 'row', alignItems: 'center', gap: 20 }}&gt;&#10; &lt;Text style={{ fontSize: 16, fontWeight: 'bold', color: '#C43A17', width: 186, lineHeight: 1.4 }}&gt;&#10;    交付那天问客户&#10;     &lt;/Text&gt;&#10;  &lt;Text style={{ fontSize: 15, color: '#3A4050', flex: 1, lineHeight: 1.55 }}&gt;&#10;      半年后谁来更新组件清单和版本？谁盯例外台账到期？谁判断一个组件该开始替换？&#10;   这三问有两个答不上来，技术架构就还停在文档里。真正的落地标志不是评审通过，&#10;       而是有人开始因为「EOL 还有九个月」而主动排预算——那才叫确定性。&#10;    &lt;/Text&gt;&#10;        &lt;/Box&gt;&#10;    &lt;/Box&gt;&#10;&#10;    {/* C 区 */}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TA技术架构咨询方法论&lt;/Text&gt;&#10;        &lt;Text style={{ fontSize: 13, color: '#8A8F99', marginLeft: 'auto' }}&gt;2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收口：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架构确定性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，六个半年后还成立的判断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咨询的终点不是那份架构文档，而是这六件事有没有真的在运转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47" name=""/>
          <p:cNvSpPr/>
          <p:nvPr/>
        </p:nvSpPr>
        <p:spPr>
          <a:xfrm rot="0" flipH="0" flipV="0">
            <a:off x="609600" y="1381125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781050" y="1485900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1276350" y="149542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分层是清的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609600" y="1933575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3A4050"/>
          </a:solidFill>
          <a:ln/>
        </p:spPr>
        <p:txBody>
          <a:bodyPr/>
          <a:p/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781050" y="2038350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1276350" y="204787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组件是登记的</a:t>
            </a:r>
            <a:endParaRPr/>
          </a:p>
        </p:txBody>
      </p:sp>
      <p:sp>
        <p:nvSpPr>
          <p:cNvPr id="1053" name=""/>
          <p:cNvSpPr/>
          <p:nvPr/>
        </p:nvSpPr>
        <p:spPr>
          <a:xfrm rot="0" flipH="0" flipV="0">
            <a:off x="609600" y="2486025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781050" y="2590800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1276350" y="260032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环境是隔离的</a:t>
            </a:r>
            <a:endParaRPr/>
          </a:p>
        </p:txBody>
      </p:sp>
      <p:sp>
        <p:nvSpPr>
          <p:cNvPr id="1056" name=""/>
          <p:cNvSpPr/>
          <p:nvPr/>
        </p:nvSpPr>
        <p:spPr>
          <a:xfrm rot="0" flipH="0" flipV="0">
            <a:off x="609600" y="3038475"/>
            <a:ext cx="10972800" cy="419100"/>
          </a:xfrm>
          <a:prstGeom prst="roundRect">
            <a:avLst>
              <a:gd name="adj" fmla="val 9091"/>
            </a:avLst>
          </a:prstGeom>
          <a:solidFill>
            <a:srgbClr val="F8622F"/>
          </a:solidFill>
          <a:ln/>
        </p:spPr>
        <p:txBody>
          <a:bodyPr/>
          <a:p/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781050" y="3133725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1276350" y="314325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需求是量化的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609600" y="3581400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781050" y="3686175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1276350" y="369570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标准是落地的</a:t>
            </a:r>
            <a:endParaRPr/>
          </a:p>
        </p:txBody>
      </p:sp>
      <p:sp>
        <p:nvSpPr>
          <p:cNvPr id="1062" name=""/>
          <p:cNvSpPr/>
          <p:nvPr/>
        </p:nvSpPr>
        <p:spPr>
          <a:xfrm rot="0" flipH="0" flipV="0">
            <a:off x="609600" y="4133850"/>
            <a:ext cx="10972800" cy="428625"/>
          </a:xfrm>
          <a:prstGeom prst="roundRect">
            <a:avLst>
              <a:gd name="adj" fmla="val 8889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781050" y="4238625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A2000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1276350" y="4248150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2000"/>
                </a:solidFill>
                <a:latin typeface="Microsoft YaHei"/>
                <a:ea typeface="Microsoft YaHei"/>
              </a:rPr>
              <a:t>风险是有倒计时的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657225" y="4686300"/>
            <a:ext cx="10972800" cy="895350"/>
          </a:xfrm>
          <a:prstGeom prst="roundRect">
            <a:avLst>
              <a:gd name="adj" fmla="val 425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6" name=""/>
          <p:cNvSpPr/>
          <p:nvPr/>
        </p:nvSpPr>
        <p:spPr>
          <a:xfrm rot="0" flipH="0" flipV="0">
            <a:off x="657225" y="4686300"/>
            <a:ext cx="10972800" cy="895350"/>
          </a:xfrm>
          <a:custGeom>
            <a:pathLst>
              <a:path w="1152" h="94">
                <a:moveTo>
                  <a:pt x="5" y="94"/>
                </a:moveTo>
                <a:cubicBezTo>
                  <a:pt x="4" y="94"/>
                  <a:pt x="3" y="94"/>
                  <a:pt x="2" y="93"/>
                </a:cubicBezTo>
                <a:cubicBezTo>
                  <a:pt x="1" y="93"/>
                  <a:pt x="0" y="92"/>
                  <a:pt x="0" y="90"/>
                </a:cubicBezTo>
                <a:lnTo>
                  <a:pt x="0" y="90"/>
                </a:lnTo>
                <a:lnTo>
                  <a:pt x="0" y="90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847725" y="5010150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交付那天问客户</a:t>
            </a:r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2809875" y="4867275"/>
            <a:ext cx="85820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半年后谁来更新组件清单和版本？谁盯例外台账到期？谁判断一个组件该开始替换？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这三问有两个答不上来，技术架构就还停在文档里。真正的落地标志不是评审通过，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而是有人开始因为「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EOL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还有九个月」而主动排预算——那才叫确定性。</a:t>
            </a:r>
            <a:endParaRPr/>
          </a:p>
        </p:txBody>
      </p:sp>
      <p:sp>
        <p:nvSpPr>
          <p:cNvPr id="106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7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3238500" y="1476375"/>
            <a:ext cx="8172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每一层只依赖下一层，没有跨层调用。层边界可以用接口文档说清楚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3238500" y="2028825"/>
            <a:ext cx="8172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所有在用的组件都在清单里，版本精确、锁定风险已标级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3238500" y="2581275"/>
            <a:ext cx="8172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四分区达标、配置外置、凭据不同源，预发真的和生产同构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3238500" y="3133725"/>
            <a:ext cx="8172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性能</a:t>
            </a:r>
            <a:r>
              <a:rPr lang="en-US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可用性</a:t>
            </a:r>
            <a:r>
              <a:rPr lang="en-US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容量</a:t>
            </a:r>
            <a:r>
              <a:rPr lang="en-US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恢复，四类数字都有验收判据，没有「较快」这种词</a:t>
            </a:r>
            <a:endParaRPr/>
          </a:p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3238500" y="3676650"/>
            <a:ext cx="8172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3000"/>
                  </a:srgbClr>
                </a:solidFill>
                <a:latin typeface="Microsoft YaHei"/>
                <a:ea typeface="Microsoft YaHei"/>
              </a:rPr>
              <a:t>四条标准接进了流水线，不只是文档；新人第一次交付问不到三个人</a:t>
            </a:r>
            <a:endParaRPr/>
          </a:p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3238500" y="4229100"/>
            <a:ext cx="81724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2000">
                    <a:alpha val="93000"/>
                  </a:srgbClr>
                </a:solidFill>
                <a:latin typeface="Microsoft YaHei"/>
                <a:ea typeface="Microsoft YaHei"/>
              </a:rPr>
              <a:t>高风险组件还剩几个月到期，写在台账上，且已进入预算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079" name="" descr="&lt;Slide style={{ width: 1280, height: 720, background: '#FFFFFF', padding: '24px 64px 0' }}&gt;&#10;    {/* A 区 */}&#10;    &lt;Box style={{ height: 96, flexDirection: 'column', justifyContent: 'flex-start' }}&gt;&#10;   &lt;Text style={{ fontSize: 32, fontWeight: 'bold', color: '#0F1423' }}&gt;&#10;   五个把技术架构&lt;span style={{ color: '#FA4F24' }}&gt;做砸&lt;/span&gt;的坑&#10;      &lt;/Text&gt;&#10;        &lt;Text style={{ fontSize: 20, color: '#8A8F99', marginTop: 8 }}&gt;&#10;     每一个的代价，都是在换代那天一次性结账&#10;      &lt;/Text&gt;&#10;    &lt;/Box&gt;&#10;    &lt;Box style={{ height: 1, background: '#E8E8E8' }} /&gt;&#10;&#10;    {/* B 区 */}&#10;    &lt;Box style={{ paddingTop: 22, paddingBottom: 12, height: 479, flexDirection: 'column', gap: 8 }}&gt;&#10;  {[&#10;  { n: '01', t: '把技术架构等同于机房建设', d: '画了机房图和服务器清单，没有分层也没有标准', w: '后果：技术换代时无从下手，业务直接受冲击', c: '#0F1423' },&#10;        { n: '02', t: '只盘组件，不定标准', d: '清单列得很全，但没有版本策略，也没有替换计划', w: '后果：清单变成一张谁也用不上的技术名词表', c: '#3A4050' },&#10;        { n: '03', t: '非功能需求全是形容词', d: '高可用、高性能、灵活扩展，没有一个数字', w: '后果：验收无据，事故时责任无法界定', c: '#5A6072' },&#10;        { n: '04', t: '标准只写文档不接工具', d: '规范写得很好，但流水线不校验、代码不扫描', w: '后果：三个月后无人遵守，标准形同虚设', c: '#FA4F24' },&#10; { n: '05', t: '技术路线永远在起跑线', d: '每年都在做数字化转型，容器化率一直卡在个位数', w: '后果：欠账越积越厚，架构只存在于汇报材料里', c: '#F8622F' },&#10;    ].map((it, i) =&gt; (&#10;      &lt;Box key={i} style={{ flex: 1, flexDirection: 'row', alignItems: 'center', background: '#F7F7F8', borderRadius: 4, padding: '0 18px', gap: 16, borderLeft: `5px solid ${it.c}` }}&gt;&#10;      &lt;Text style={{ fontSize: 20, fontWeight: 'bold', color: it.c, width: 34 }}&gt;{it.n}&lt;/Text&gt;&#10;    &lt;Box style={{ flex: 1, flexDirection: 'column' }}&gt;&#10;  &lt;Text style={{ fontSize: 17, fontWeight: 'bold', color: '#0F1423' }}&gt;{it.t}&lt;/Text&gt;&#10;     &lt;Text style={{ fontSize: 13, color: '#3A4050', marginTop: 2, lineHeight: 1.4 }}&gt;{it.d}&lt;/Text&gt;&#10;        &lt;/Box&gt;&#10;        &lt;Text style={{ fontSize: 13, color: '#C43A17', width: 320, lineHeight: 1.45 }}&gt;{it.w}&lt;/Text&gt;&#10;        &lt;/Box&gt;&#10;  ))}&#10;  &lt;Box style={{ height: 62, background: 'linear-gradient(90deg, #FA4F24 0%, #F87D2F 100%)', borderRadius: 4, padding: '0 18px', flexDirection: 'row', alignItems: 'center' }}&gt;&#10;   &lt;Text style={{ fontSize: 16, fontWeight: 'bold', color: '#FFFFFF', width: 190 }}&gt;五个坑的共同根因&lt;/Text&gt;&#10;     &lt;Text style={{ fontSize: 14, color: 'rgba(255,255,255,0.95)', flex: 1, lineHeight: 1.45 }}&gt;&#10;  把技术架构当成「今年要买什么」，而不是「未来三年怎么不被换掉」。&#10;     买什么是一次性投入，怎么不被换掉才是长期资产。&#10;    &lt;/Text&gt;&#10;      &lt;/Box&gt;&#10;    &lt;/Box&gt;&#10;&#10;    {/* C 区 */}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TA技术架构咨询方法论&lt;/Text&gt;&#10;    &lt;Text style={{ fontSize: 13, color: '#8A8F99', marginLeft: 'auto' }}&gt;29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五个把技术架构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做砸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的坑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每一个的代价，都是在换代那天一次性结账</a:t>
            </a:r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84" name=""/>
          <p:cNvSpPr/>
          <p:nvPr/>
        </p:nvSpPr>
        <p:spPr>
          <a:xfrm rot="0" flipH="0" flipV="0">
            <a:off x="657225" y="1362075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5" name=""/>
          <p:cNvSpPr/>
          <p:nvPr/>
        </p:nvSpPr>
        <p:spPr>
          <a:xfrm rot="0" flipH="0" flipV="0">
            <a:off x="657225" y="1362075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828675" y="158115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304925" y="1476375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把技术架构等同于机房建设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1304925" y="1695450"/>
            <a:ext cx="6905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画了机房图和服务器清单，没有分层也没有标准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8362950" y="15811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后果：技术换代时无从下手，业务直接受冲击</a:t>
            </a:r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657225" y="2095500"/>
            <a:ext cx="109728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1" name=""/>
          <p:cNvSpPr/>
          <p:nvPr/>
        </p:nvSpPr>
        <p:spPr>
          <a:xfrm rot="0" flipH="0" flipV="0">
            <a:off x="657225" y="2095500"/>
            <a:ext cx="10972800" cy="647700"/>
          </a:xfrm>
          <a:custGeom>
            <a:pathLst>
              <a:path w="1152" h="68">
                <a:moveTo>
                  <a:pt x="5" y="68"/>
                </a:moveTo>
                <a:cubicBezTo>
                  <a:pt x="4" y="68"/>
                  <a:pt x="3" y="68"/>
                  <a:pt x="2" y="67"/>
                </a:cubicBezTo>
                <a:cubicBezTo>
                  <a:pt x="1" y="67"/>
                  <a:pt x="0" y="66"/>
                  <a:pt x="0" y="64"/>
                </a:cubicBezTo>
                <a:lnTo>
                  <a:pt x="0" y="64"/>
                </a:lnTo>
                <a:lnTo>
                  <a:pt x="0" y="6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3A4050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828675" y="230505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A405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304925" y="2209800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只盘组件，不定标准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1304925" y="2428875"/>
            <a:ext cx="6905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清单列得很全，但没有版本策略，也没有替换计划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8362950" y="2314575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后果：清单变成一张谁也用不上的技术名词表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657225" y="2819400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7" name=""/>
          <p:cNvSpPr/>
          <p:nvPr/>
        </p:nvSpPr>
        <p:spPr>
          <a:xfrm rot="0" flipH="0" flipV="0">
            <a:off x="657225" y="2819400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828675" y="303847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5A6072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1304925" y="2933700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非功能需求全是形容词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1304925" y="3152775"/>
            <a:ext cx="6905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高可用、高性能、灵活扩展，没有一个数字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8362950" y="3038475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后果：验收无据，事故时责任无法界定</a:t>
            </a:r>
            <a:endParaRPr/>
          </a:p>
        </p:txBody>
      </p:sp>
      <p:sp>
        <p:nvSpPr>
          <p:cNvPr id="1102" name=""/>
          <p:cNvSpPr/>
          <p:nvPr/>
        </p:nvSpPr>
        <p:spPr>
          <a:xfrm rot="0" flipH="0" flipV="0">
            <a:off x="657225" y="3552825"/>
            <a:ext cx="109728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3" name=""/>
          <p:cNvSpPr/>
          <p:nvPr/>
        </p:nvSpPr>
        <p:spPr>
          <a:xfrm rot="0" flipH="0" flipV="0">
            <a:off x="657225" y="3552825"/>
            <a:ext cx="10972800" cy="647700"/>
          </a:xfrm>
          <a:custGeom>
            <a:pathLst>
              <a:path w="1152" h="68">
                <a:moveTo>
                  <a:pt x="5" y="68"/>
                </a:moveTo>
                <a:cubicBezTo>
                  <a:pt x="4" y="68"/>
                  <a:pt x="3" y="68"/>
                  <a:pt x="2" y="67"/>
                </a:cubicBezTo>
                <a:cubicBezTo>
                  <a:pt x="1" y="67"/>
                  <a:pt x="0" y="66"/>
                  <a:pt x="0" y="64"/>
                </a:cubicBezTo>
                <a:lnTo>
                  <a:pt x="0" y="64"/>
                </a:lnTo>
                <a:lnTo>
                  <a:pt x="0" y="6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828675" y="376237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1304925" y="3667125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标准只写文档不接工具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1304925" y="3886200"/>
            <a:ext cx="6905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规范写得很好，但流水线不校验、代码不扫描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8362950" y="37719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后果：三个月后无人遵守，标准形同虚设</a:t>
            </a:r>
            <a:endParaRPr/>
          </a:p>
        </p:txBody>
      </p:sp>
      <p:sp>
        <p:nvSpPr>
          <p:cNvPr id="1108" name=""/>
          <p:cNvSpPr/>
          <p:nvPr/>
        </p:nvSpPr>
        <p:spPr>
          <a:xfrm rot="0" flipH="0" flipV="0">
            <a:off x="657225" y="4276725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9" name=""/>
          <p:cNvSpPr/>
          <p:nvPr/>
        </p:nvSpPr>
        <p:spPr>
          <a:xfrm rot="0" flipH="0" flipV="0">
            <a:off x="657225" y="4276725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622F"/>
          </a:solidFill>
          <a:ln/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8622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1304925" y="4391025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技术路线永远在起跑线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1304925" y="4610100"/>
            <a:ext cx="6905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每年都在做数字化转型，容器化率一直卡在个位数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8362950" y="44958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后果：欠账越积越厚，架构只存在于汇报材料里</a:t>
            </a:r>
            <a:endParaRPr/>
          </a:p>
        </p:txBody>
      </p:sp>
      <p:sp>
        <p:nvSpPr>
          <p:cNvPr id="1114" name=""/>
          <p:cNvSpPr/>
          <p:nvPr/>
        </p:nvSpPr>
        <p:spPr>
          <a:xfrm rot="0" flipH="0" flipV="0">
            <a:off x="609600" y="5010150"/>
            <a:ext cx="10972800" cy="59055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781050" y="521017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五个坑的共同根因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2590800" y="5191125"/>
            <a:ext cx="88201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把技术架构当成「今年要买什么」，而不是「未来三年怎么不被换掉」。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买什么是一次性投入，怎么不被换掉才是长期资产。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1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177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left: 0, bottom: 0, width: 720, height: 720, background: 'linear-gradient(160deg, rgba(250,79,36,0.26) 0%, rgba(250,79,36,0) 68%)' }} /&gt;&#10;&#10;    &lt;Box style={{ position: 'absolute', left: 92, top: 128, width: 800, flexDirection: 'column' }}&gt;&#10;        &lt;Text style={{ fontSize: 15, color: 'rgba(255,255,255,0.5)', letterSpacing: 4 }}&gt;EPILOGUE&lt;/Text&gt;&#10;  &lt;Box style={{ width: 72, height: 5, background: '#FA4F24', marginTop: 20 }} /&gt;&#10;   &lt;Text style={{ fontSize: 52, fontWeight: 'bold', color: '#FFFFFF', marginTop: 28, lineHeight: 1.2 }}&gt;&#10;    技术会换代，&lt;br /&gt;只有&lt;span style={{ color: '#FA4F24' }}&gt;确定性&lt;/span&gt;能留下&#10;        &lt;/Text&gt;&#10;  &lt;Text style={{ fontSize: 19, color: 'rgba(255,255,255,0.8)', marginTop: 26, lineHeight: 1.75 }}&gt;&#10;   组件会下线、版本会过期、云会搬家。&lt;br /&gt;&#10;        真正可复用的资产，是分层结构与那四条标准。&lt;br /&gt;&#10;        把它们守住，下一次换代才不用从零开始。&#10;    &lt;/Text&gt;&#10;        &lt;Box style={{ flexDirection: 'row', gap: 14, marginTop: 34 }}&gt;&#10;{['分层稳定', '标准统一', '组件可替', '演进有路'].map((t, i) =&gt; (&#10;         &lt;Box key={i} style={{ border: '1px solid rgba(250,79,36,0.6)', borderRadius: 4, padding: '8px 18px' }}&gt;&#10;         &lt;Text style={{ fontSize: 16, color: '#FBA15C' }}&gt;{t}&lt;/Text&gt;&#10;       &lt;/Box&gt;&#10;      ))}&#10;  &lt;/Box&gt;&#10;    &lt;/Box&gt;&#10;&#10;    &lt;Box style={{ position: 'absolute', right: 88, bottom: 64, flexDirection: 'row', alignItems: 'center', gap: 12 }}&gt;&#10;        &lt;Box style={{ width: 14, height: 14, background: '#FA4F24' }} /&gt;&#10;    &lt;Text style={{ fontSize: 14, color: 'rgba(255,255,255,0.5)' }}&gt;硕磐机密 · TA技术架构咨询方法论&lt;/Text&gt;&#10;        &lt;Text style={{ fontSize: 14, color: 'rgba(255,255,255,0.5)', marginLeft: 12 }}&gt;3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80" name=""/>
          <p:cNvSpPr/>
          <p:nvPr/>
        </p:nvSpPr>
        <p:spPr>
          <a:xfrm rot="0" flipH="0" flipV="0">
            <a:off x="0" y="0"/>
            <a:ext cx="68580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68000">
                <a:srgbClr val="FA4F24">
                  <a:alpha val="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876300" y="1219200"/>
            <a:ext cx="762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EPILOGUE</a:t>
            </a:r>
            <a:endParaRPr/>
          </a:p>
        </p:txBody>
      </p:sp>
      <p:sp>
        <p:nvSpPr>
          <p:cNvPr id="1182" name=""/>
          <p:cNvSpPr/>
          <p:nvPr/>
        </p:nvSpPr>
        <p:spPr>
          <a:xfrm rot="0" flipH="0" flipV="0">
            <a:off x="876300" y="158115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876300" y="1895475"/>
            <a:ext cx="7620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技术会换代，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只有</a:t>
            </a:r>
            <a:r>
              <a:rPr lang="zh-CN" sz="3900" b="1">
                <a:solidFill>
                  <a:srgbClr val="FA4F24"/>
                </a:solidFill>
                <a:latin typeface="Microsoft YaHei"/>
                <a:ea typeface="Microsoft YaHei"/>
              </a:rPr>
              <a:t>确定性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能留下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876300" y="3571875"/>
            <a:ext cx="7620000" cy="11430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组件会下线、版本会过期、云会搬家。</a:t>
            </a:r>
            <a:endParaRPr/>
          </a:p>
          <a:p>
            <a:pPr>
              <a:lnSpc>
                <a:spcPct val="17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真正可复用的资产，是分层结构与那四条标准。</a:t>
            </a:r>
            <a:endParaRPr/>
          </a:p>
          <a:p>
            <a:pPr>
              <a:lnSpc>
                <a:spcPct val="17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把它们守住，下一次换代才不用从零开始。</a:t>
            </a:r>
            <a:endParaRPr/>
          </a:p>
        </p:txBody>
      </p:sp>
      <p:sp>
        <p:nvSpPr>
          <p:cNvPr id="1185" name=""/>
          <p:cNvSpPr/>
          <p:nvPr/>
        </p:nvSpPr>
        <p:spPr>
          <a:xfrm rot="0" flipH="0" flipV="0">
            <a:off x="876300" y="5038725"/>
            <a:ext cx="9525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104775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分层稳定</a:t>
            </a:r>
            <a:endParaRPr/>
          </a:p>
        </p:txBody>
      </p:sp>
      <p:sp>
        <p:nvSpPr>
          <p:cNvPr id="1187" name=""/>
          <p:cNvSpPr/>
          <p:nvPr/>
        </p:nvSpPr>
        <p:spPr>
          <a:xfrm rot="0" flipH="0" flipV="0">
            <a:off x="1962150" y="5038725"/>
            <a:ext cx="9525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213360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标准统一</a:t>
            </a:r>
            <a:endParaRPr/>
          </a:p>
        </p:txBody>
      </p:sp>
      <p:sp>
        <p:nvSpPr>
          <p:cNvPr id="1189" name=""/>
          <p:cNvSpPr/>
          <p:nvPr/>
        </p:nvSpPr>
        <p:spPr>
          <a:xfrm rot="0" flipH="0" flipV="0">
            <a:off x="3048000" y="5038725"/>
            <a:ext cx="9525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321945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组件可替</a:t>
            </a:r>
            <a:endParaRPr/>
          </a:p>
        </p:txBody>
      </p:sp>
      <p:sp>
        <p:nvSpPr>
          <p:cNvPr id="1191" name=""/>
          <p:cNvSpPr/>
          <p:nvPr/>
        </p:nvSpPr>
        <p:spPr>
          <a:xfrm rot="0" flipH="0" flipV="0">
            <a:off x="4133850" y="5038725"/>
            <a:ext cx="952500" cy="342900"/>
          </a:xfrm>
          <a:prstGeom prst="roundRect">
            <a:avLst>
              <a:gd name="adj" fmla="val 11111"/>
            </a:avLst>
          </a:prstGeom>
          <a:ln w="12700">
            <a:solidFill>
              <a:srgbClr val="FA4F24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4305300" y="51149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BA15C"/>
                </a:solidFill>
                <a:latin typeface="Microsoft YaHei"/>
                <a:ea typeface="Microsoft YaHei"/>
              </a:rPr>
              <a:t>演进有路</a:t>
            </a:r>
            <a:endParaRPr/>
          </a:p>
        </p:txBody>
      </p:sp>
      <p:sp>
        <p:nvSpPr>
          <p:cNvPr id="1193" name=""/>
          <p:cNvSpPr/>
          <p:nvPr/>
        </p:nvSpPr>
        <p:spPr>
          <a:xfrm rot="0" flipH="0" flipV="0">
            <a:off x="841057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8658225" y="6086475"/>
            <a:ext cx="2009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TA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技术架构咨询方法论</a:t>
            </a:r>
            <a:endParaRPr/>
          </a:p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2026-10-12T04:59:05Z</dcterms:created>
  <dcterms:modified xsi:type="dcterms:W3CDTF">2026-10-12T04:59:05Z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{"AIGC":{"Label":"1","ContentProducer":"00119111010856365494821B355","ProduceID":"01a12cb7e5d47c70bfd3e8fe5f38e34d","ReservedCode1":"","ContentPropagator":"00119111010856365494821B355","PropagateID":"01a12cb7e5d47c70bfd3e8fe5f38e34d","ReservedCode2":""}}</vt:lpwstr>
  </property>
</Properties>
</file>