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3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tableStyles" Target="tableStyles.xml"/><Relationship Id="rId34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各位好，这是《EA 企业架构咨询方法论》的第十册。前九册我们讲过四A、本体、智能体、知识库、管道处理和数据治理，今天补上主数据。我先给一个判断：主数据在AI 时代变重要的原因，不是它变复杂了，而是它的下游消费者换了——过去是月度报表，现在是一个每秒读上千次的模型。所以同一份数据的陈旧度、重复度，都会被成倍放大。这一册我会先讲一个反常识的事实：翻遍 Palantir 官方文档，找不到任何叫 MDM 的模块。这不是产品缺项，是设计选择。后面我会解释为什么。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整册分四部分。第一部分讲主数据本体论：为什么找不到 MDM、黄金记录的三个层次、实体解析怎么做、合并为什么必须可撤销、仲裁规则怎么定。第二部分讲落地机制：对象类型即模型、一个对象多套权限、链接即层级、动作即写入机制、五个阶段怎么被 AI 改造。第三部分是本册重点，讲主数据在数据治理、管道处理、知识库、Agent、Ontology 五个方向上各自要做什么。第四部分回到 4A，把主数据当成一个业务应用来映射一遍。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先讲一个最小的例子。模型看到 J. Smith、SMITH JOHN、john.smith 邮箱这三条记录，会当成三个不同的客户，然后推荐错产品、预测错流失、分层错客户，而且每一处都很自信。过去人可能一眼就看出这是同一个人；现在没人看了，模型每秒钟看一遍。这就是主数据在 AI 时代的处境：它从「影响报表对不对」变成「影响模型对不对」。第二件事是角色变了——过去的关键词是单一可信版本，现在要的是实体上下文。第三件事是可解释性：监管问为什么这么判，答案必须能回溯到一个有血缘的实体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执行顺序，八个阶段，每个阶段都有产出物。第一步做实体域盘点与优先级排序，产出清单和矩阵，注意别一上来铺全域；第二步做实体定义与主键策略，产出定义书和主键策略；第三步做匹配规则与解析阈值，产出规则集和阈值实验报告；第四步做仲裁与生存规则；第五步做层级与关系模型；第六步做质量与匹配监控；第七步做变更审批流程；第八步做分发与消费治理。中间三条硬规则：先定主键再谈匹配，先只读投影再开放写入，先有撤销能力再谈规模化合并。顺序错了代价很大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第一部分讲主数据本体论。这一部分回答四个问题：为什么官方文档里找不到 MDM 这个模块；黄金记录往上还能走哪两层，也就是记录、可信档案和情境系统的区别；实体解析具体怎么做，包含匹配信号、阈值实验和人工判定出口；以及合并为什么必须可撤销。第四个问题是我认为这一册最重要的判断——能不能撤销，决定了合并这件事是不是可运营的。后面我会用整整一页讲解析元数据的三件套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官方对本体有个明确定位：它是组织的运营层，坐在数据集、虚拟表、模型之上，把它们连到真实世界的对应物——设备产品这类物理资产，也包括订单交易这类概念。然后是这一页的关键：对象类型就是现实世界实体或事件的 schema 定义。官方给了个类比，对象类型约等于数据集，对象约等于数据集里的一行，对象集约等于过滤后的一组行。理解了这一层，主数据建模就不再抽象。推论也就清楚了：主数据域天然就是一组对象类型加一组链接类型加一组动作类型，它不需要独立模块，因为它就是本体的原生组成。但话说回来，不需要独立模块不等于不需要专业投入，合并质量、仲裁规则、层级模型、匹配阈值，这四件事照样最容易做砸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主数据有三个层次。第一层是黄金记录，解决身份问题：这个客户是谁、账号是哪个、地址是哪。第二层是可信档案，在黄金记录上补齐属性、交互、行为与关系。第三层是情境系统，把实体之间的连接做成机器可解释的。右边这两个查询的差别就是这三层的差别：「有多少客户超过五十岁」是数据问题，过滤出生日期就够了；「未来十五年会退休的客户有多少，各自该配什么退休方案」是推理问题，要同时理解年龄、地域、家庭结构、就业状态、税法、退休政策、风险偏好、账户历史和产品资格。数据都在，但没有上下文，AI 无法可靠推理。建设顺序建议：一级做到干净，二级补齐属性，三级优先做有业务痛点的那个关系，不要一上来做全域图谱。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官方对对象解析的定义是「把两个或多个对象合并」，目的是防止同一实体被重复创建，它发生在对象映射之前。匹配有五种信号，由弱到强：分块配对先缩小候选范围，字符串相似度处理拼写错误，语音相似度处理发音相近但拼写不同，上下文特征从报告邮件这类非结构化文本里抽信息，最后由模型综合所有特征给出概率打分，并且可以用平台上的标注数据持续训练。三个实践陷阱：阈值不能拍脑袋，要用样本跑准召曲线，因为漏合并和错合并代价完全不同；长尾永远补不完，规则只能覆盖见过的变体，所以要留人工判定出口；AI 匹配要能被否决，模型推荐、规则执行、人做最终裁决。为什么它最被低估——因为它不产出看得见的界面，也不产出报表，所有人只看到「客户主数据建好了」，而匹配质量藏在准召率里。所以那三个指标必须在第三阶段就出报告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讲解析元数据的三件套，都是官方字段名。规范主键是合并后对象的规范主键；胜出主键是内部生成的，合并后所有新的属性写入都挂在它上面；其他主键列表是被合并进来的其他主键，递归合并时所有成分的对象主键会被扁平化进这个列表。三者合起来表达的是：合并不是覆盖，是带血缘的聚合。官方明确写了两条撤销保障：各对象的独立历史被保留，解析出问题时可以 unresolve 回原状；直接写在合并对象上的属性，在撤销时可按成分拆回对应原对象，不会因为合并期间的编辑而丢数据。对咨询的三条硬要求是：合并记录要能查，拆分要有 SLA，撤销权限本身要受管——拆开一个实体等于让下游全部失配，这本身就是一次高风险治理动作。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多个源说同一件事不一样时，不要入库时覆盖。一个真实场景：SCADA 说当前温度85，EAM 说90，到底哪个是当前可信值？做法不是让 EAM 覆盖 SCADA，而是两个都留着，查询时按仲裁策略算出来。仲裁有四类：来源优先级，适用于有公认主数据系统的场景；时间戳优先，需要最新状态时；业务规则，字段语义特殊时；人工仲裁，影响重大且自动判定不可靠时，比如判断两个客户是否属于同一主体。两条关键原则：所有被覆盖掉的值不能丢，它们依然是历史事实，随时可以翻出来做审计、纠偏或重新仲裁；仲裁逻辑本身要版本化，因为业务规则会变。这一条设计带来三个收益：规则变了不用重采数据，只需要重放投影；算法团队还能拿到原始粒度做特征工程；从对象属性一路往回查能看到来自哪张源表、哪条管道、哪版规则——这才是数据谱系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第二部分讲落地机制。上一部分讲的是原理，讲清楚为什么这么设计；这一部分讲怎么实现，一共五页。多数据源对象怎么给同一个对象配多套权限；链接类型怎么把层级做成一等公民；动作类型怎么让主数据的维护自带校验、权限和留痕；写入机制怎么让黄金记录成为投影而不是覆盖；最后是五个阶段被 AI 逐段改造之后的持续管治问题。这五页都能直接对应到工程实现。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对象类型是现实世界实体或事件的 schema 定义，对象是它的一个实例，对象集是一组这样的实例。官方给了类比：对象类型约等于数据集，对象约等于一行，对象集约等于过滤后的一组行。落到主数据建模上是三步：先定对象类型，问清楚这个实体在现实里的边界是什么；再定主键，业务键、自然键、内部 ID 各有各的适用面；最后建对象集，因为对象集是权限与分发的基本单位。主键选择有个现实困难：B2B 与 B2C 的双重身份很难用一个主键覆盖。一个客户既是法人实体又是一组联系人，一个产品既是 SKU 又是套装。强行用一套扁平模型，结果就是哪条都不合适的黄金记录。建模必须容纳层级与上下文，而不是假装每个实体都是一行。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多数据源对象的官方定义是：把多个输入数据源映射到同一个对象类型的不同属性上，从而对同一个对象类型施加多套访问控制。它仅在 Object Storage v2 可用，输入源可以是数据集或受限视图的任意组合。官方举的例子很典型：就诊事件对象的主键是患者 ID，一个数据源 patient_info 带 PHI 标记，无该标记者看不到姓名地址电话年龄；另一个数据源 care_event_info 无标记，不需要任何标记就能访问。结果是同一个对象实例上有的属性能看有的看不到。受限视图提供行级访问控制，且只能建在数据集上。对主数据的含义是三句话：主数据必须支持一个对象多套权限，因为客户对象的姓名和信用评级敏感度不同；权限配在数据源上而不是对象上，所以主数据的权限模型要跟着源系统设计一起走；行级加列级叠加就是单元格级，这和第九册的数据治理完全咬合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链接类型是两个对象类型之间关系的 schema 定义，链接是某一次具体的关系实例。官方类比是链接类型约等于数据集之间的 JOIN，链接约等于 JOIN 后的一行。三条关键设计：天然双向，一个链接类型永远有两侧，每侧独立遍历、独立显示名与 API 名，建一个 Flight 到 Aircraft 就够了，不需要再反向建一个；同类型之间也可以连，比如员工与经理；跨本体不支持链接，这是设计取向不是技术限制，跨域要么合并本体要么走接口。基数决定存储方式：多对多需要给链接类型自己的数据源，关系单独落库；一对一和多对一则存在对象的外键属性上。两个类型之间可以有多个不同的链接类型，但每侧都要有唯一 API 名。对主数据的意义在于，层级必须是主数据的一部分——集团型企业的子公司层级不完整，供应商风险算不出来、合并报表口径对不上、关联交易识别不了。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动作类型是主数据被写出来的方式。能力清单很长：创建对象、创建或修改对象、删除对象、创建链接、删除链接、运行函数、Webhook 调外部系统、通知相关人、触发构建、合并场景编辑，还有对实现了接口的任意对象类型生效的接口规则。官方提醒规则按声明式映射写，但规则不够用时要挂一个函数，比如要改所选对象关联的每一个对象。举个例子，给员工换角色这个动作：参数定义让用户用标准表单输入新角色而不是直接改字段；自动建关系把该员工与新经理之间创建一条链接；副作用通知原经理和新经理；权限校验只有人力资源部门的授权员工可以执行；提交条件校验输入是否合法，比如三位机场码的正则。维护动作因此可以授权、可以审计、可以跨所有应用复用同一套口径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写入机制是最容易被忽略的一点：用户的编辑写入 writeback 数据集，而不是写入对象类型背后的源数据集。这样原始数据与编辑后的数据在分析里都能用。还有一套两套权限、两种可见性的设计：只有源数据权限的人能看到对象但看不到任何编辑；另有 writeback 权限的人能同时看到编辑和对象当前形态。这是一个很容易被漏掉的权限设计点——看见不等于看见改动，必须提前和业务对齐，否则会出现「我看到的和财务看到的不一样」。这一页对照了主数据的经典反模式：很多项目做成唯一真相源之后就把原始数据删了，只留清洗结果，后果是仲裁规则一变就得重新采集，算法团队也拿不到原始粒度。正确姿势是原始层与本体层并存，视图是可重算的投影，底片不能丢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传统主数据的五个阶段今天每一段都能被模型接管一部分。标准化：识别出 Ltd、Limited、LTD 是同一种法人形式，国家码暗示地址格式，自由文本字段里藏着实体名。匹配：概率打分加学到的相似度。合并与仲裁：规则按结果排序持续调整，逐属性选最优值，不盲信某一个系统。发布：从批量文件变成 API 加事件流。监控：从抽样人工复核变成异常检测，盯新增重复、漂移、断流。上线之后有三件事必须持续盯：黄金记录要持续核对，否则上线半年后它自己就不诚实了；源系统漂移模型会继承，持续管治不是管道细节；欧盟 AI 法案的高风险义务从 2026 年 8 月起适用，数据准确性从最佳实践变成合规要求。分工变了但纪律没变：机器做打分，人守例外队列，而且例外要能反向训练模型。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第三部分是这一册最关键的部分。前九册里治理、管道、知识库、Agent、本体都是各自独立的实践点。主数据这一册要做的是把身份这根线穿过去：同一套规范主键和解析元数据，在五个方向上分别有各自的落法。这六页是本册区别于前面所有专册的地方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主数据是治理的对象，但有些治理动作只有主数据才有。第一是合并提案：谁提的、依据什么规则、置信度多少、影响哪些下游。第二是拆分提案，风险比合并更高，因为拆开一个实体让所有下游引用瞬间失配，审批要更严。第三是实体归属，注意这不是数据归属，是「实体定义权归谁」。合并与拆分的审批应当不对称：合并按置信度分流，高置信自动执行、中置信人工复核、低置信进例外队列；拆分一律人工审批加影响面清单加回滚预案，禁止批量拆分。公网上有句很实在的判断：主数据跨部门，归属不明确时，黄金记录会变成政治产物而不是运营资产——大家一致同意需要唯一版本，但没人同意用谁的版本。后果很直接：治理设计没定就上工具，工具只会把分歧自动化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先看一个真实的场景。同一批车辆分散在三张表里，ERP 表的主键是 VIN，IoT 表是传感器 ID，维保表是车牌号，属性互补又部分重叠。挑战是两重的。官方给的两条路有明确分工：算法实体解析是前置的，管道里跑，配置匹配规则、跑作业算相似度、把同一实体的记录聚成类、生成全局唯一规范 ID、产出含该 ID 的黄金记录，这是脏数据去重与链接的首选也是几乎唯一的路径；映射层在后置，解析完成后才映射成对象类型。关键限制是深层嵌套的多源属性拼接只能靠映射层手工建模，没有自动办法。上游变脏了怎么办？不能靠下游救，对象类型一旦建好下游引用的是规范 ID。要有重解析入口，也要能两速并存——夜间批量对账加事件驱动增量，但两条路不能产生分析视图与运营视图的新分歧。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客户主数据错了，检索层救不回来——检索只会把错误答案找得更齐。公网上有个说法很准确：主数据的消费方已经不只是报表，而是 RAG 管线与模型。向量索引里出现重复客户，就会产生重复且相互矛盾的上下文，这正是 AI 答错的机制。举个具体的：同一个客户在三份合同里出现三次，没带实体 ID 的切片就会被检索成三条互不相干的证据，模型据此得出「三方客户关系」这种错误结论。所以知识库侧要做四件事：切片继承实体身份、切片继承密级、建实体到切片的反向索引、实体变更触发重建。这里要特别提醒：智能体做数据管治类任务时，判断依据就是实体身份本身，实体身份不可靠时这些自动化任务不是效率低，而是在批量制造错误。所以主数据没到位之前，治理类 Agent 应该只给建议、不给动作。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黄金记录只能告诉 Agent「这个客户存在、住哪、账号是多少」，这不够做判断。Agent 拿到之后还要问：这个客户属于哪个家庭？他持有哪些产品？哪些合同在约束这层关系？有没有未结的服务工单？适用哪些同意权限？他够不够资格做忠诚度升级？有没有监管限制要挡住下一步动作？数据都在，但没有连接与上下文，AI 无法可靠推理。这就是记录与上下文的分界。所以主数据要补的是关系网：客户连着家庭、产品、地址、供应商、合同与同意记录。这些关系在页面上就是链接类型，必须在主数据阶段就建好，不能等 Agent 上线时再补，那时没人说得清该补哪几条。给 Agent 用主数据还有三个条件：能按自然语言问、返回带置信度与时效、可以作为动作入参而不是只能当只读字典。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这一页解释了为什么官方文档里找不到 MDM 模块。对应关系是这样的：主数据域等于一组对象类型加一组链接类型；实体定义是对象类型的属性与主键策略；黄金记录是解析后的对象实例集合；层级关系是链接类型；合并与拆分是动作类型加解析元数据；维护权限是提交条件加粒度授权。接口层解决了抽象问题：它描述一个对象类型的形状与能力，提供多态。比如定义一个「设备」接口，泵、风机、压缩机都是它的实现。主数据天然需要抽象层，没有接口就只能靠类型名硬判断。还有一条动作规则叫接口规则，可以对实现了同一接口的任意对象类型生效。最后是一条现实的边界：官方明确不同本体之间不支持链接。这不是缺陷是取向，但它意味着主数据域切得越碎，跨域实体关系就越建不起来，这是一个必须提前做的架构决策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把五方关系收在一起。规范主键和解析元数据只定义一次，然后往五个方向走。治理方向：合并按置信度分流，拆分一律人工审批，风险是拆分让下游引用全部失配，对策是强制附影响面清单。管道方向：解析在映射之前，重解析要幂等，风险是上游变脏下游救不回来。知识库方向：切片继承实体 ID 与密级，风险是重复实体产生矛盾上下文。Agent 方向：动作类型可引用实体对象，风险是无上下文时靠猜做判断。本体方向：主数据就是本体的原生组成，风险是本体切太碎跨域连不起来。底下是四条硬边界：主键先于匹配、原始层不删、合并可撤销、归属先于工具。最后这句推论我想强调：每个模型、每个 Agent、每个对话回答都继承它读到的实体记录的质量，实体层做错了 AI 就在批量放大错误，做对了就在复利放大价值。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第四部分回到 4A。前面三部分讲的是主数据自己的机制——本体论、落地机制、五个方向的落法。这一部分换一个视角：把主数据放回企业架构的坐标系，看它作为一个业务应用在四个层面上的样子。它在业务架构上要定实体定义权，在数据架构上要建十二项元数据，在应用架构上要交付六个运营型应用，在技术架构上要有解析引擎和两速同步。看完这四页你会发现，主数据和其他实践点最大的区别是：它是唯一一个「谁拥有这个实体」本身就是治理对象的实践点。下一页是这一部分的骨架图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全册的骨架。业务架构上要回答谁拥有这个实体，特殊之处是实体定义权是主数据独有的治理对象。数据架构上要建十二项元数据，特殊之处是解析元数据要可逆，否则合并变单向。应用架构上主数据的应用是运营型的，不是报表型的。技术架构上要建解析引擎与两速同步，特殊之处是解析必须幂等，重跑不能产生第二组合并。最下面这一排是主数据自己的四个特有之处：定义权是治理对象、合并不是覆盖而是聚合、真相运行时算出来、错误被下游放大。主键策略有三种选择：内部 ID 最稳但源系统拿不到，业务键跨系统可比但源系统改了它就崩，实践中最常见的是双主——内部 ID 为主、业务键做备选与匹配用。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主数据在业务架构层的核心命题是：谁拥有这个实体，比谁有这张表难得多。五类角色：实体所有者定义实体边界与主键策略，实体管理员执行合并拆分与层级维护，领域 steward 签核中低置信合并，仲裁人对影响重大的合并一锤定音，消费方按对象集订阅而不直连源表。三场最难谈的边界争议：法人和联系人到底怎么分；SKU 和套装怎么建模；集团内交易对手算不算同一个实体——这个判断只有业务能拍，技术给不出答案。四个必答问题：这个实体归谁，要具体到部门和一个人名，不能是「业务部」；边界争议谁裁，必须有一个唯一的仲裁人且不在被争议部门内；拆分谁批准，层级应比合并更高；消费方怎么退出，要能取消订阅，否则改口径时没人配合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数据架构层要给主数据建十二项元数据，分四组。定义组是对象类型与属性、主键策略与备选键、链接类型与基数决策、接口抽象与实现。解析组是匹配规则与阈值配置、解析元数据三件套、黄金记录版本。仲裁组是仲裁规则表、生存规则与字段例外、多源值留存策略。运营组是合并与拆分事件记录、质量与匹配率指标、消费方订阅契约。建模顺序有硬依赖：先有主键策略才谈得上匹配，先有解析元数据才谈得上撤销，反过来说就是缺了解析元数据合并就是单向的。三条建模硬约束在这里不重复。最容易漏掉的四项：仲裁规则版本、拆分事件、例外队列痕迹、订阅契约。特别是拆分事件——只记合并不记拆分，等于只记进攻不记撤退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应用架构层要交付六个主数据应用：实体查询与对象浏览器、合并复核工作台、拆分审批与影响面评估、例外队列、主数据订阅与分发、质量与匹配率看板。上线顺序建议是先做合并复核与拆分审批，有流程才有人信；再做查询让人看见；最后做例外队列与看板做持续管治。技术架构层最大的难点是两速同步：批量对账慢但一致，适合结算报表合规口径；事件增量快但要收敛，适合运营视图与 Agent 实时读取。真正的坑是两速并存如果收敛不好，就会产生分析视图与运营视图的新分歧——同一个客户在两个系统里是两个 ID，这比只有一个错误更糟。处方是解析必须幂等、每次重解析留批次号、每个 ID 都能查出来自哪一批。最后底部这三个问题可以当成验收标准：业务打开系统第一个动作是查实体而不是查表，说明主数据成了入口。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收个尾。这一页左边是成熟度五级，中间是五类失效和十二项评审清单，可以直接拿去用。右边把十册主线串了一遍：数据架构先有治才有存，业务架构能力与组织解耦，应用架构应用多了带来技术债，技术架构不押注单点技术，本体语义与动力学合一，智能体明确谁来判断何时停手，知识库知识要被治理不只是存，管道进出本体要可管可追可退，数据治理管的是动作不是文件，主数据实体身份是全部智能的前置。最后这句话是我今天最想留给大家的：实体层做错了，AI 在批量放大错误；做对了，AI 在复利放大价值。所以从今天起，先定主键。谢谢各位。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background: '#0F1423' }}&gt;&#10;  &lt;Box style={{ position: 'absolute', left: 0, top: 0, width: 1280, height: 720, background: 'linear-gradient(135deg, #0F1423 0%, #2A1810 100%)' }} /&gt;&#10;  &lt;Box style={{ position: 'absolute', right: 0, top: 0, width: 620, height: 720, background: 'linear-gradient(200deg, rgba(250,79,36,0.26) 0%, rgba(250,79,36,0) 70%)' }} /&gt;&#10;&#10;  &lt;Box style={{ position: 'absolute', left: 88, top: 92, width: 1104 }}&gt;&#10;    &lt;Box style={{ flexDirection: 'row', alignItems: 'center', gap: 14 }}&gt;&#10;      &lt;Box style={{ width: 14, height: 14, background: '#FA4F24' }} /&gt;&#10;      &lt;Text style={{ fontSize: 15, color: 'rgba(255,255,255,0.5)', letterSpacing: 3 }}&gt;EA 企业架构咨询方法论 · 第十册&lt;/Text&gt;&#10;    &lt;/Box&gt;&#10;    &lt;Text style={{ fontSize: 58, fontWeight: 'bold', color: '#FFFFFF', marginTop: 26, lineHeight: 1.15 }}&gt;&#10;      主数据&lt;span style={{ color: '#FA4F24' }}&gt;咨询方法论&lt;/span&gt;&#10;    &lt;/Text&gt;&#10;    &lt;Text style={{ fontSize: 19, color: 'rgba(255,255,255,0.72)', marginTop: 22, lineHeight: 1.6, width: 830 }}&gt;&#10;      实体身份是所有智能的前置条件——AI 时代的模型、Agent、对话分析，只有在背后那个实体是对的时才可信&#10;    &lt;/Text&gt;&#10;    &lt;Box style={{ width: 72, height: 5, background: '#FA4F24', marginTop: 30 }} /&gt;&#10;&#10;    &lt;Box style={{ flexDirection: 'row', gap: 10, marginTop: 34 }}&gt;&#10;      {['30 页', '四个部分', '含 Approach 八阶段', '含主数据 × 治理 × 管道 × 知识库 × Agent × Ontology 关系'].map((t, i) =&gt; (&#10;        &lt;Box key={t} style={{ height: 32, borderRadius: 16, border: '1px solid rgba(255,255,255,0.22)', padding: '0 15px', flexDirection: 'row', alignItems: 'center' }}&gt;&#10;          &lt;Text style={{ fontSize: 13, color: 'rgba(255,255,255,0.78)' }}&gt;{t}&lt;/Text&gt;&#10;        &lt;/Box&gt;&#10;      ))}&#10;    &lt;/Box&gt;&#10;  &lt;/Box&gt;&#10;&#10;  &lt;Box style={{ position: 'absolute', left: 88, top: 566, flexDirection: 'row', gap: 30 }}&gt;&#10;    {[&#10;      { b: 'DA', t: '数据架构' },&#10;      { b: 'BA', t: '业务架构' },&#10;      { b: 'AA', t: '应用架构' },&#10;      { b: 'TA', t: '技术架构' },&#10;      { b: 'ONT', t: 'Ontology' },&#10;      { b: 'AGT', t: 'Agent' },&#10;      { b: 'KB', t: '知识库' },&#10;      { b: 'PIPE', t: '管道处理' },&#10;      { b: 'GOV', t: '数据治理' },&#10;      { b: 'MDM', t: '主数据', c: '#FA4F24' },&#10;    ].map((x, i) =&gt; (&#10;      &lt;Box key={x.b} style={{ opacity: i === 9 ? 1 : 0.4 }}&gt;&#10;        &lt;Text style={{ fontSize: 15, fontWeight: 'bold', color: x.c || '#FFFFFF' }}&gt;{x.b}&lt;/Text&gt;&#10;        &lt;Text style={{ fontSize: 11.5, color: 'rgba(255,255,255,0.7)', marginTop: 3 }}&gt;{x.t}&lt;/Text&gt;&#10;      &lt;/Box&gt;&#10;    ))}&#10;  &lt;/Box&gt;&#10;&#10;  &lt;Box style={{ position: 'absolute', right: 88, bottom: 46, flexDirection: 'row', alignItems: 'center', gap: 12 }}&gt;&#10;    &lt;Text style={{ fontSize: 14, color: 'rgba(255,255,255,0.5)' }}&gt;硕磐机密 · 主数据咨询方法论&lt;/Text&gt;&#10;    &lt;Text style={{ fontSize: 14, color: 'rgba(255,255,255,0.5)', marginLeft: 12 }}&gt;01 / 3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6286500" y="0"/>
            <a:ext cx="5905500" cy="6858000"/>
          </a:xfrm>
          <a:prstGeom prst="rect">
            <a:avLst/>
          </a:prstGeom>
          <a:gradFill>
            <a:gsLst>
              <a:gs pos="0">
                <a:srgbClr val="FA4F24">
                  <a:alpha val="26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838200" y="89535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1104900" y="876300"/>
            <a:ext cx="2571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EA </a:t>
            </a:r>
            <a:r>
              <a:rPr lang="zh-CN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企业架构咨询方法论</a:t>
            </a: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第十册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838200" y="1295400"/>
            <a:ext cx="10515600" cy="7715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主数据</a:t>
            </a:r>
            <a:r>
              <a:rPr lang="zh-CN" sz="4350" b="1">
                <a:solidFill>
                  <a:srgbClr val="FA4F24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838200" y="2276475"/>
            <a:ext cx="790575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实体身份是所有智能的前置条件——</a:t>
            </a:r>
            <a:r>
              <a:rPr lang="en-US" sz="1425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425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时代的模型、</a:t>
            </a:r>
            <a:r>
              <a:rPr lang="en-US" sz="1425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Agent</a:t>
            </a:r>
            <a:r>
              <a:rPr lang="zh-CN" sz="1425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、对话分析，只有在背后那个实体是对的时才可信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838200" y="325755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" name=""/>
          <p:cNvSpPr/>
          <p:nvPr/>
        </p:nvSpPr>
        <p:spPr>
          <a:xfrm rot="0" flipH="0" flipV="0">
            <a:off x="838200" y="3629025"/>
            <a:ext cx="600075" cy="304800"/>
          </a:xfrm>
          <a:prstGeom prst="roundRect">
            <a:avLst>
              <a:gd name="adj" fmla="val 50000"/>
            </a:avLst>
          </a:prstGeom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981075" y="3705225"/>
            <a:ext cx="314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 xml:space="preserve">30 </a:t>
            </a: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1533525" y="3629025"/>
            <a:ext cx="781050" cy="304800"/>
          </a:xfrm>
          <a:prstGeom prst="roundRect">
            <a:avLst>
              <a:gd name="adj" fmla="val 50000"/>
            </a:avLst>
          </a:prstGeom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1676400" y="370522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四个部分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2409825" y="3629025"/>
            <a:ext cx="1438275" cy="304800"/>
          </a:xfrm>
          <a:prstGeom prst="roundRect">
            <a:avLst>
              <a:gd name="adj" fmla="val 50000"/>
            </a:avLst>
          </a:prstGeom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2552700" y="3705225"/>
            <a:ext cx="1152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含</a:t>
            </a:r>
            <a:r>
              <a:rPr lang="en-US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 xml:space="preserve"> Approach </a:t>
            </a: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八阶段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3943350" y="3629025"/>
            <a:ext cx="3676650" cy="304800"/>
          </a:xfrm>
          <a:prstGeom prst="roundRect">
            <a:avLst>
              <a:gd name="adj" fmla="val 50000"/>
            </a:avLst>
          </a:prstGeom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4086225" y="3705225"/>
            <a:ext cx="3390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含主数据</a:t>
            </a:r>
            <a:r>
              <a:rPr lang="en-US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治理</a:t>
            </a:r>
            <a:r>
              <a:rPr lang="en-US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管道</a:t>
            </a:r>
            <a:r>
              <a:rPr lang="en-US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知识库</a:t>
            </a:r>
            <a:r>
              <a:rPr lang="en-US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 xml:space="preserve"> × Agent × Ontology </a:t>
            </a: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关系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191375" y="5391150"/>
            <a:ext cx="409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MDM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7191375" y="5591175"/>
            <a:ext cx="409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主数据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838200" y="539115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DA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38200" y="5591175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数据架构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562100" y="539115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BA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562100" y="5591175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业务架构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2286000" y="539115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AA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2286000" y="5591175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应用架构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3009900" y="539115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TA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3009900" y="5591175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技术架构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3733800" y="5391150"/>
            <a:ext cx="49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ONT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3733800" y="5591175"/>
            <a:ext cx="495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Ontology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4514850" y="5391150"/>
            <a:ext cx="323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AGT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4514850" y="5591175"/>
            <a:ext cx="323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Agent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5124450" y="5391150"/>
            <a:ext cx="333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KB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5124450" y="5591175"/>
            <a:ext cx="333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知识库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5743575" y="539115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PIPE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5743575" y="5591175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管道处理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467475" y="539115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GOV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467475" y="5591175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数据治理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8953500" y="625792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主数据咨询方法论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0896600" y="62579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01 / 30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518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目录&lt;/Text&gt;&#10;    &lt;Text style={{ fontSize: 20, color: '#8A8F99', marginTop: 8 }}&gt;四个部分，从「主数据是什么」一路走到「主数据怎么落到 4A 上」&lt;/Text&gt;&#10;  &lt;/Box&gt;&#10;  &lt;Box style={{ height: 1, background: '#E8E8E8' }} /&gt;&#10;&#10;  &lt;Box style={{ paddingTop: 16, paddingBottom: 8, height: 479, flexDirection: 'row', gap: 14 }}&gt;&#10;    &lt;Box style={{ flex: 1, flexDirection: 'column', gap: 10 }}&gt;&#10;      {[&#10;        { p: 'PART 01', t: '主数据本体论', d: '为什么找不到 MDM / 三个层次 / 实体解析 / 可撤销的合并 / 仲裁规则', pg: 'P06 — P10', c: '#FA4F24' },&#10;        { p: 'PART 02', t: '主数据的实现机制', d: '对象类型即模型 / 一个对象多套权限 / 链接即层级 / 动作即写入 / 五阶段 AI 化', pg: 'P12 — P17', c: '#F87D2F' },&#10;      ].map((x) =&gt; (&#10;        &lt;Box key={x.p} style={{ flex: 1, background: '#F7F7F8', borderRadius: 4, borderLeft: '4px solid ' + x.c, padding: '13px 16px', flexDirection: 'column', justifyContent: 'center' }}&gt;&#10;          &lt;Text style={{ fontSize: 11, color: x.c, fontWeight: 'bold', letterSpacing: 2 }}&gt;{x.p}&lt;/Text&gt;&#10;          &lt;Text style={{ fontSize: 19, fontWeight: 'bold', color: '#0F1423', marginTop: 6 }}&gt;{x.t}&lt;/Text&gt;&#10;          &lt;Text style={{ fontSize: 11.5, color: '#3A4050', marginTop: 7, lineHeight: 1.5 }}&gt;{x.d}&lt;/Text&gt;&#10;          &lt;Text style={{ fontSize: 11, color: '#8A8F99', marginTop: 7 }}&gt;{x.pg}&lt;/Text&gt;&#10;        &lt;/Box&gt;&#10;      ))}&#10;    &lt;/Box&gt;&#10;&#10;    &lt;Box style={{ flex: 1, flexDirection: 'column', gap: 10 }}&gt;&#10;      {[&#10;        { p: 'PART 03', t: '主数据 × 五个方向', d: '治理 / 管道 / 知识库 / Agent / Ontology，以及一条主线串五方', pg: 'P19 — P24', c: '#C43A17' },&#10;        { p: 'PART 04', t: '回到 4A', d: 'BA 谁拥有 / DA 十二项建模 / AA+TA 落地 / 成熟度与评审', pg: 'P26 — P30', c: '#0F1423' },&#10;      ].map((x) =&gt; (&#10;        &lt;Box key={x.p} style={{ flex: 1, background: x.c === '#0F1423' ? '#0F1423' : '#FFF3EE', borderRadius: 4, borderLeft: '4px solid ' + x.c, padding: '13px 16px', flexDirection: 'column', justifyContent: 'center' }}&gt;&#10;          &lt;Text style={{ fontSize: 11, color: x.c === '#0F1423' ? '#FBA15C' : x.c, fontWeight: 'bold', letterSpacing: 2 }}&gt;{x.p}&lt;/Text&gt;&#10;          &lt;Text style={{ fontSize: 19, fontWeight: 'bold', color: x.c === '#0F1423' ? '#FFFFFF' : '#0F1423', marginTop: 6 }}&gt;{x.t}&lt;/Text&gt;&#10;          &lt;Text style={{ fontSize: 11.5, color: x.c === '#0F1423' ? 'rgba(255,255,255,0.78)' : '#3A4050', marginTop: 7, lineHeight: 1.5 }}&gt;{x.d}&lt;/Text&gt;&#10;          &lt;Text style={{ fontSize: 11, color: x.c === '#0F1423' ? 'rgba(255,255,255,0.5)' : '#8A8F99', marginTop: 7 }}&gt;{x.pg}&lt;/Text&gt;&#10;        &lt;/Box&gt;&#10;      ))}&#10;    &lt;/Box&gt;&#10;&#10;    &lt;Box style={{ width: 300, flexDirection: 'column', gap: 10 }}&gt;&#10;      &lt;Box style={{ height: 138, background: '#0F1423', borderRadius: 4, padding: '13px 16px', flexDirection: 'column' }}&gt;&#10;        &lt;Text style={{ fontSize: 14, fontWeight: 'bold', color: '#FBA15C' }}&gt;本册三个判断&lt;/Text&gt;&#10;        &lt;Text style={{ fontSize: 11.5, color: 'rgba(255,255,255,0.82)', marginTop: 8, lineHeight: 1.6 }}&gt;&#10;          一、主数据不是一个模块，是一种建模方式；二、黄金记录是起点不是终点；三、合并必须可撤销。&#10;        &lt;/Text&gt;&#10;      &lt;/Box&gt;&#10;      &lt;Box style={{ flex: 1, background: '#FFF3EE', borderRadius: 4, borderLeft: '4px solid #FA4F24', padding: '13px 16px', flexDirection: 'column' }}&gt;&#10;        &lt;Text style={{ fontSize: 14, fontWeight: 'bold', color: '#C43A17' }}&gt;Approach 三条硬规则&lt;/Text&gt;&#10;        &lt;Box style={{ flexDirection: 'column', gap: 8, marginTop: 9 }}&gt;&#10;          {[&#10;            '先定主键，再谈匹配',&#10;            '先只读投影，再开放写入',&#10;            '先有撤销能力，再谈规模化合并',&#10;          ].map((t, i) =&gt; (&#10;            &lt;Box key={t} style={{ background: '#FFFFFF', borderRadius: 3, padding: '8px 10px' }}&gt;&#10;              &lt;Text style={{ fontSize: 12, color: '#3A4050', lineHeight: 1.45 }}&gt;&#10;                &lt;tspan style={{ fontWeight: 'bold', color: '#FA4F24' }}&gt;{i + 1}. &lt;/tspan&gt;{t}&#10;              &lt;/Text&gt;&#10;            &lt;/Box&gt;&#10;          ))}&#10;        &lt;/Box&gt;&#10;      &lt;/Box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主数据咨询方法论&lt;/Text&gt;&#10;    &lt;Text style={{ fontSize: 13, color: '#8A8F99', marginLeft: 'auto' }}&gt;02 / 3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四个部分，从「主数据是什么」一路走到「主数据怎么落到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4A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上」</a:t>
            </a:r>
            <a:endParaRPr/>
          </a:p>
        </p:txBody>
      </p:sp>
      <p:sp>
        <p:nvSpPr>
          <p:cNvPr id="522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523" name=""/>
          <p:cNvSpPr/>
          <p:nvPr/>
        </p:nvSpPr>
        <p:spPr>
          <a:xfrm rot="0" flipH="0" flipV="0">
            <a:off x="647700" y="1304925"/>
            <a:ext cx="3924300" cy="2019300"/>
          </a:xfrm>
          <a:prstGeom prst="roundRect">
            <a:avLst>
              <a:gd name="adj" fmla="val 188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24" name=""/>
          <p:cNvSpPr/>
          <p:nvPr/>
        </p:nvSpPr>
        <p:spPr>
          <a:xfrm rot="0" flipH="0" flipV="0">
            <a:off x="647700" y="1304925"/>
            <a:ext cx="3924300" cy="2019300"/>
          </a:xfrm>
          <a:custGeom>
            <a:pathLst>
              <a:path w="412" h="212">
                <a:moveTo>
                  <a:pt x="4" y="212"/>
                </a:moveTo>
                <a:cubicBezTo>
                  <a:pt x="2" y="212"/>
                  <a:pt x="0" y="210"/>
                  <a:pt x="0" y="20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1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800100" y="1876425"/>
            <a:ext cx="3581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150">
                <a:solidFill>
                  <a:srgbClr val="FA4F24"/>
                </a:solidFill>
                <a:latin typeface="Microsoft YaHei"/>
                <a:ea typeface="Microsoft YaHei"/>
              </a:rPr>
              <a:t>PART 01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800100" y="2066925"/>
            <a:ext cx="3581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主数据本体论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800100" y="2352675"/>
            <a:ext cx="35814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为什么找不到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MDM /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三个层次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实体解析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可撤销的合并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仲裁规则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800100" y="2619375"/>
            <a:ext cx="3581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P06 — P10</a:t>
            </a:r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647700" y="3419475"/>
            <a:ext cx="3924300" cy="2219325"/>
          </a:xfrm>
          <a:prstGeom prst="roundRect">
            <a:avLst>
              <a:gd name="adj" fmla="val 171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30" name=""/>
          <p:cNvSpPr/>
          <p:nvPr/>
        </p:nvSpPr>
        <p:spPr>
          <a:xfrm rot="0" flipH="0" flipV="0">
            <a:off x="647700" y="3419475"/>
            <a:ext cx="3924300" cy="2219325"/>
          </a:xfrm>
          <a:custGeom>
            <a:pathLst>
              <a:path w="412" h="233">
                <a:moveTo>
                  <a:pt x="4" y="233"/>
                </a:moveTo>
                <a:cubicBezTo>
                  <a:pt x="2" y="233"/>
                  <a:pt x="0" y="231"/>
                  <a:pt x="0" y="22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33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800100" y="3990975"/>
            <a:ext cx="3581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150">
                <a:solidFill>
                  <a:srgbClr val="F87D2F"/>
                </a:solidFill>
                <a:latin typeface="Microsoft YaHei"/>
                <a:ea typeface="Microsoft YaHei"/>
              </a:rPr>
              <a:t>PART 02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800100" y="4181475"/>
            <a:ext cx="3581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主数据的实现机制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800100" y="4467225"/>
            <a:ext cx="35814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对象类型即模型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一个对象多套权限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链接即层级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动作即写入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五阶段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化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800100" y="4933950"/>
            <a:ext cx="3581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P12 — P17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4705350" y="1304925"/>
            <a:ext cx="3924300" cy="2124075"/>
          </a:xfrm>
          <a:prstGeom prst="roundRect">
            <a:avLst>
              <a:gd name="adj" fmla="val 1794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536" name=""/>
          <p:cNvSpPr/>
          <p:nvPr/>
        </p:nvSpPr>
        <p:spPr>
          <a:xfrm rot="0" flipH="0" flipV="0">
            <a:off x="4705350" y="1304925"/>
            <a:ext cx="3924300" cy="2124075"/>
          </a:xfrm>
          <a:custGeom>
            <a:pathLst>
              <a:path w="412" h="223">
                <a:moveTo>
                  <a:pt x="4" y="223"/>
                </a:moveTo>
                <a:cubicBezTo>
                  <a:pt x="2" y="223"/>
                  <a:pt x="0" y="221"/>
                  <a:pt x="0" y="21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23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4857750" y="1933575"/>
            <a:ext cx="3581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150">
                <a:solidFill>
                  <a:srgbClr val="C43A17"/>
                </a:solidFill>
                <a:latin typeface="Microsoft YaHei"/>
                <a:ea typeface="Microsoft YaHei"/>
              </a:rPr>
              <a:t>PART 03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4857750" y="2124075"/>
            <a:ext cx="3581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主数据</a:t>
            </a: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五个方向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4857750" y="2409825"/>
            <a:ext cx="35814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治理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管道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知识库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/ Agent / Ontology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，以及一条主线串五方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4857750" y="2676525"/>
            <a:ext cx="3581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P19 — P24</a:t>
            </a:r>
            <a:endParaRPr/>
          </a:p>
        </p:txBody>
      </p:sp>
      <p:sp>
        <p:nvSpPr>
          <p:cNvPr id="541" name=""/>
          <p:cNvSpPr/>
          <p:nvPr/>
        </p:nvSpPr>
        <p:spPr>
          <a:xfrm rot="0" flipH="0" flipV="0">
            <a:off x="4705350" y="3524250"/>
            <a:ext cx="3924300" cy="2114550"/>
          </a:xfrm>
          <a:prstGeom prst="roundRect">
            <a:avLst>
              <a:gd name="adj" fmla="val 180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542" name=""/>
          <p:cNvSpPr/>
          <p:nvPr/>
        </p:nvSpPr>
        <p:spPr>
          <a:xfrm rot="0" flipH="0" flipV="0">
            <a:off x="4705350" y="3524250"/>
            <a:ext cx="3924300" cy="2114550"/>
          </a:xfrm>
          <a:custGeom>
            <a:pathLst>
              <a:path w="412" h="222">
                <a:moveTo>
                  <a:pt x="4" y="222"/>
                </a:moveTo>
                <a:cubicBezTo>
                  <a:pt x="2" y="222"/>
                  <a:pt x="0" y="220"/>
                  <a:pt x="0" y="21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22"/>
                </a:ln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/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4857750" y="4143375"/>
            <a:ext cx="3581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150">
                <a:solidFill>
                  <a:srgbClr val="FBA15C"/>
                </a:solidFill>
                <a:latin typeface="Microsoft YaHei"/>
                <a:ea typeface="Microsoft YaHei"/>
              </a:rPr>
              <a:t>PART 04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4857750" y="4333875"/>
            <a:ext cx="3581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回到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4A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4857750" y="4619625"/>
            <a:ext cx="35814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3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 xml:space="preserve">BA </a:t>
            </a:r>
            <a:r>
              <a:rPr lang="zh-CN" sz="863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谁拥有</a:t>
            </a:r>
            <a:r>
              <a:rPr lang="en-US" sz="863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 xml:space="preserve"> / DA </a:t>
            </a:r>
            <a:r>
              <a:rPr lang="zh-CN" sz="863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十二项建模</a:t>
            </a:r>
            <a:r>
              <a:rPr lang="en-US" sz="863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 xml:space="preserve"> / AA+TA </a:t>
            </a:r>
            <a:r>
              <a:rPr lang="zh-CN" sz="863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落地</a:t>
            </a:r>
            <a:r>
              <a:rPr lang="en-US" sz="863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成熟度与评审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4857750" y="4886325"/>
            <a:ext cx="3581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P26 — P30</a:t>
            </a:r>
            <a:endParaRPr/>
          </a:p>
        </p:txBody>
      </p:sp>
      <p:sp>
        <p:nvSpPr>
          <p:cNvPr id="547" name=""/>
          <p:cNvSpPr/>
          <p:nvPr/>
        </p:nvSpPr>
        <p:spPr>
          <a:xfrm rot="0" flipH="0" flipV="0">
            <a:off x="8724900" y="1304925"/>
            <a:ext cx="2857500" cy="1314450"/>
          </a:xfrm>
          <a:prstGeom prst="roundRect">
            <a:avLst>
              <a:gd name="adj" fmla="val 2899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8877300" y="1428750"/>
            <a:ext cx="2552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本册三个判断</a:t>
            </a:r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8877300" y="1666875"/>
            <a:ext cx="255270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一、主数据不是一个模块，是一种建模方式；二、黄金记录是起点不是终点；三、合并必须可撤销。</a:t>
            </a:r>
            <a:endParaRPr/>
          </a:p>
        </p:txBody>
      </p:sp>
      <p:sp>
        <p:nvSpPr>
          <p:cNvPr id="550" name=""/>
          <p:cNvSpPr/>
          <p:nvPr/>
        </p:nvSpPr>
        <p:spPr>
          <a:xfrm rot="0" flipH="0" flipV="0">
            <a:off x="8763000" y="2714625"/>
            <a:ext cx="2857500" cy="2924175"/>
          </a:xfrm>
          <a:prstGeom prst="roundRect">
            <a:avLst>
              <a:gd name="adj" fmla="val 133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551" name=""/>
          <p:cNvSpPr/>
          <p:nvPr/>
        </p:nvSpPr>
        <p:spPr>
          <a:xfrm rot="0" flipH="0" flipV="0">
            <a:off x="8763000" y="2714625"/>
            <a:ext cx="2857500" cy="2924175"/>
          </a:xfrm>
          <a:custGeom>
            <a:pathLst>
              <a:path w="300" h="307">
                <a:moveTo>
                  <a:pt x="4" y="307"/>
                </a:moveTo>
                <a:cubicBezTo>
                  <a:pt x="2" y="307"/>
                  <a:pt x="0" y="305"/>
                  <a:pt x="0" y="30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307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8915400" y="2838450"/>
            <a:ext cx="2514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Approach </a:t>
            </a: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三条硬规则</a:t>
            </a:r>
            <a:endParaRPr/>
          </a:p>
        </p:txBody>
      </p:sp>
      <p:sp>
        <p:nvSpPr>
          <p:cNvPr id="553" name=""/>
          <p:cNvSpPr/>
          <p:nvPr/>
        </p:nvSpPr>
        <p:spPr>
          <a:xfrm rot="0" flipH="0" flipV="0">
            <a:off x="8915400" y="3086100"/>
            <a:ext cx="2514600" cy="352425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9010650" y="3162300"/>
            <a:ext cx="232410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1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.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先定主键，再谈匹配</a:t>
            </a:r>
            <a:endParaRPr/>
          </a:p>
        </p:txBody>
      </p:sp>
      <p:sp>
        <p:nvSpPr>
          <p:cNvPr id="555" name=""/>
          <p:cNvSpPr/>
          <p:nvPr/>
        </p:nvSpPr>
        <p:spPr>
          <a:xfrm rot="0" flipH="0" flipV="0">
            <a:off x="8915400" y="3514725"/>
            <a:ext cx="2514600" cy="352425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9010650" y="3590925"/>
            <a:ext cx="232410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2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.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先只读投影，再开放写入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8915400" y="3943350"/>
            <a:ext cx="2514600" cy="352425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9010650" y="4019550"/>
            <a:ext cx="232410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3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.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先有撤销能力，再谈规模化合并</a:t>
            </a:r>
            <a:endParaRPr/>
          </a:p>
        </p:txBody>
      </p:sp>
      <p:sp>
        <p:nvSpPr>
          <p:cNvPr id="559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560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主数据咨询方法论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02 / 30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184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序论：AI 时代的主数据为什么突然变重了&#10;    &lt;/Text&gt;&#10;    &lt;Text style={{ fontSize: 20, color: '#8A8F99', marginTop: 8 }}&gt;&#10;      不是因为主数据变复杂了，是因为它下游的消费者从「月度报表」换成了「每秒读上千次的模型」&#10;    &lt;/Text&gt;&#10;  &lt;/Box&gt;&#10;  &lt;Box style={{ height: 1, background: '#E8E8E8' }} /&gt;&#10;&#10;  &lt;Box style={{ paddingTop: 14, paddingBottom: 8, height: 479, flexDirection: 'column', gap: 10 }}&gt;&#10;    &lt;Box style={{ height: 258, flexDirection: 'row', gap: 10 }}&gt;&#10;      &lt;Box style={{ flex: 1.25, background: '#0F1423', borderRadius: 4, padding: '14px 18px', flexDirection: 'column' }}&gt;&#10;        &lt;Text style={{ fontSize: 14, fontWeight: 'bold', color: '#FBA15C' }}&gt;一个最小的例子&lt;/Text&gt;&#10;        &lt;Text style={{ fontSize: 12, color: 'rgba(255,255,255,0.85)', marginTop: 9, lineHeight: 1.6 }}&gt;&#10;          模型看到 &lt;tspan style={{ color: '#FBA15C' }}&gt;J. Smith&lt;/tspan&gt;、&lt;tspan style={{ color: '#FBA15C' }}&gt;SMITH JOHN&lt;/tspan&gt;、&lt;tspan style={{ color: '#FBA15C' }}&gt;john.smith@email.com&lt;/tspan&gt; 这三条记录，会当成三个不同的客户。&#10;        &lt;/Text&gt;&#10;        &lt;Text style={{ fontSize: 12, color: 'rgba(255,255,255,0.85)', marginTop: 9, lineHeight: 1.6 }}&gt;&#10;          然后它会：推荐错产品、预测错流失、分层错客户——&lt;tspan style={{ fontWeight: 'bold', color: '#FFFFFF' }}&gt;而且每一处都很自信&lt;/tspan&gt;。&#10;        &lt;/Text&gt;&#10;        &lt;Box style={{ flex: 1, marginTop: 11, background: 'rgba(250,79,36,0.18)', borderRadius: 3, padding: '9px 12px' }}&gt;&#10;          &lt;Text style={{ fontSize: 11.5, color: 'rgba(255,255,255,0.92)', lineHeight: 1.55 }}&gt;&#10;            过去人可能一眼就看出这是同一个人；现在没人看了，模型每秒钟看一遍。&#10;          &lt;/Text&gt;&#10;        &lt;/Box&gt;&#10;      &lt;/Box&gt;&#10;&#10;      &lt;Box style={{ flex: 1, background: '#F7F7F8', borderRadius: 4, padding: '14px 18px', flexDirection: 'column' }}&gt;&#10;        &lt;Text style={{ fontSize: 14, fontWeight: 'bold', color: '#0F1423' }}&gt;AI 把三件事放大了&lt;/Text&gt;&#10;        &lt;Box style={{ flex: 1, marginTop: 10, flexDirection: 'column', gap: 8 }}&gt;&#10;          {[&#10;            { t: '陈旧度被放大', d: '消费方从月度报表变成实时模型，月级刷新等于失效。' },&#10;            { t: '错误被批量放大', d: '一个重复客户不再是例外，而是成千上万次决策的输入。' },&#10;            { t: '必须可解释', d: '监管问「为什么这么判」，答案必须能回溯到一个有血缘的实体。' },&#10;          ].map((x) =&gt; (&#10;            &lt;Box key={x.t} style={{ background: '#FFFFFF', borderRadius: 3, borderLeft: '3px solid #FA4F24', padding: '9px 11px' }}&gt;&#10;              &lt;Text style={{ fontSize: 12.5, fontWeight: 'bold', color: '#0F1423' }}&gt;{x.t}&lt;/Text&gt;&#10;              &lt;Text style={{ fontSize: 11, color: '#3A4050', marginTop: 3, lineHeight: 1.45 }}&gt;{x.d}&lt;/Text&gt;&#10;            &lt;/Box&gt;&#10;          ))}&#10;        &lt;/Box&gt;&#10;      &lt;/Box&gt;&#10;&#10;      &lt;Box style={{ flex: 1, background: '#FFF3EE', borderRadius: 4, borderLeft: '4px solid #FA4F24', padding: '14px 18px', flexDirection: 'column', justifyContent: 'center' }}&gt;&#10;        &lt;Text style={{ fontSize: 14, fontWeight: 'bold', color: '#C43A17' }}&gt;主数据的角色也变了&lt;/Text&gt;&#10;        &lt;Text style={{ fontSize: 12, color: '#3A4050', marginTop: 8, lineHeight: 1.65 }}&gt;&#10;          过去的关键词是&lt;tspan style={{ fontWeight: 'bold' }}&gt;「单一可信版本」&lt;/tspan&gt;——把散落的记录合成一条干净的记录。&#10;        &lt;/Text&gt;&#10;        &lt;Text style={{ fontSize: 12, color: '#3A4050', marginTop: 8, lineHeight: 1.65 }}&gt;&#10;          现在的关键词是&lt;tspan style={{ fontWeight: 'bold' }}&gt;「实体上下文」&lt;/tspan&gt;——实体连着家庭、账户、合同、产品、工单、同意记录、位置，机器能推理。&#10;        &lt;/Text&gt;&#10;        &lt;Box style={{ marginTop: 11, background: '#FFFFFF', borderRadius: 3, padding: '9px 11px' }}&gt;&#10;          &lt;Text style={{ fontSize: 11.5, color: '#3A4050', lineHeight: 1.5 }}&gt;&#10;            上一轮竞争的是谁的数据最好，这一轮比的是谁的上下文最厚。&#10;          &lt;/Text&gt;&#10;        &lt;/Box&gt;&#10;      &lt;/Box&gt;&#10;    &lt;/Box&gt;&#10;&#10;    &lt;Box style={{ flex: 1, background: '#FFFFFF', border: '1px solid #E8E8E8', borderRadius: 4, padding: '12px 18px', flexDirection: 'column' }}&gt;&#10;      &lt;Text style={{ fontSize: 14, fontWeight: 'bold', color: '#0F1423' }}&gt;这一册要回答的六个问题&lt;/Text&gt;&#10;      &lt;Box style={{ flex: 1, flexDirection: 'row', gap: 8, marginTop: 11 }}&gt;&#10;        {[&#10;          { n: 'Q1', t: '为什么找不到 MDM', d: 'Palantir 文档里没有 MDM 模块，为什么这不是缺陷？' },&#10;          { n: 'Q2', t: '三层是哪三层', d: '记录、可信档案、情境系统各解决什么？' },&#10;          { n: 'Q3', t: '匹配怎么做', d: '实体解析为什么是整个主数据项目最被低估的一环？' },&#10;          { n: 'Q4', t: '合并能撤吗', d: 'unresolve 这个能力为什么比合并本身更重要？' },&#10;          { n: 'Q5', t: '怎么落到 4A', d: '主数据作为业务应用，它的 BA/DA/AA/TA 分别长什么样？' },&#10;          { n: 'Q6', t: '和五方什么关系', d: '治理、管道、知识库、Agent、本体，主数据在每个方向上做什么？' },&#10;        ].map((x) =&gt; (&#10;          &lt;Box key={x.n} style={{ flex: 1, background: '#F7F7F8', borderRadius: 3, borderTop: '3px solid #FA4F24', padding: '10px 11px', flexDirection: 'column' }}&gt;&#10;            &lt;Text style={{ fontSize: 15, fontWeight: 'bold', color: '#FA4F24' }}&gt;{x.n}&lt;/Text&gt;&#10;            &lt;Text style={{ fontSize: 12.5, fontWeight: 'bold', color: '#0F1423', marginTop: 5 }}&gt;{x.t}&lt;/Text&gt;&#10;            &lt;Text style={{ fontSize: 11, color: '#3A4050', marginTop: 6, lineHeight: 1.5, flex: 1 }}&gt;{x.d}&lt;/Text&gt;&#10;          &lt;/Box&gt;&#10;        ))}&#10;      &lt;/Box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主数据咨询方法论&lt;/Text&gt;&#10;    &lt;Text style={{ fontSize: 13, color: '#8A8F99', marginLeft: 'auto' }}&gt;03 / 3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8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序论：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时代的主数据为什么突然变重了</a:t>
            </a:r>
            <a:endParaRPr/>
          </a:p>
        </p:txBody>
      </p:sp>
      <p:sp>
        <p:nvSpPr>
          <p:cNvPr id="118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不是因为主数据变复杂了，是因为它下游的消费者从「月度报表」换成了「每秒读上千次的模型」</a:t>
            </a:r>
            <a:endParaRPr/>
          </a:p>
        </p:txBody>
      </p:sp>
      <p:sp>
        <p:nvSpPr>
          <p:cNvPr id="118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189" name=""/>
          <p:cNvSpPr/>
          <p:nvPr/>
        </p:nvSpPr>
        <p:spPr>
          <a:xfrm rot="0" flipH="0" flipV="0">
            <a:off x="609600" y="1285875"/>
            <a:ext cx="4143375" cy="2457450"/>
          </a:xfrm>
          <a:prstGeom prst="roundRect">
            <a:avLst>
              <a:gd name="adj" fmla="val 155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190" name="" descr="{&quot;isTemplate&quot;:true,&quot;type&quot;:&quot;text&quot;}"/>
          <p:cNvSpPr txBox="1"/>
          <p:nvPr/>
        </p:nvSpPr>
        <p:spPr>
          <a:xfrm rot="0" flipH="0" flipV="0">
            <a:off x="781050" y="1419225"/>
            <a:ext cx="3800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一个最小的例子</a:t>
            </a:r>
            <a:endParaRPr/>
          </a:p>
        </p:txBody>
      </p:sp>
      <p:sp>
        <p:nvSpPr>
          <p:cNvPr id="1191" name="" descr="{&quot;isTemplate&quot;:true,&quot;type&quot;:&quot;text&quot;}"/>
          <p:cNvSpPr txBox="1"/>
          <p:nvPr/>
        </p:nvSpPr>
        <p:spPr>
          <a:xfrm rot="0" flipH="0" flipV="0">
            <a:off x="781050" y="1666875"/>
            <a:ext cx="38004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模型看到</a:t>
            </a:r>
            <a:r>
              <a:rPr lang="en-US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J. Smith</a:t>
            </a: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、</a:t>
            </a:r>
            <a:r>
              <a:rPr lang="en-US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SMITH JOHN</a:t>
            </a: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、</a:t>
            </a:r>
            <a:r>
              <a:rPr lang="en-US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john.smith@email.com</a:t>
            </a:r>
            <a:r>
              <a:rPr lang="en-US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这三条记录，会当成三个不同的客户。</a:t>
            </a:r>
            <a:endParaRPr/>
          </a:p>
        </p:txBody>
      </p:sp>
      <p:sp>
        <p:nvSpPr>
          <p:cNvPr id="1192" name="" descr="{&quot;isTemplate&quot;:true,&quot;type&quot;:&quot;text&quot;}"/>
          <p:cNvSpPr txBox="1"/>
          <p:nvPr/>
        </p:nvSpPr>
        <p:spPr>
          <a:xfrm rot="0" flipH="0" flipV="0">
            <a:off x="781050" y="2200275"/>
            <a:ext cx="38004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然后它会：推荐错产品、预测错流失、分层错客户——</a:t>
            </a: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而且每一处都很自信</a:t>
            </a: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193" name=""/>
          <p:cNvSpPr/>
          <p:nvPr/>
        </p:nvSpPr>
        <p:spPr>
          <a:xfrm rot="0" flipH="0" flipV="0">
            <a:off x="781050" y="2752725"/>
            <a:ext cx="3800475" cy="857250"/>
          </a:xfrm>
          <a:prstGeom prst="roundRect">
            <a:avLst>
              <a:gd name="adj" fmla="val 3333"/>
            </a:avLst>
          </a:prstGeom>
          <a:solidFill>
            <a:srgbClr val="FA4F24">
              <a:alpha val="18000"/>
            </a:srgbClr>
          </a:solidFill>
          <a:ln/>
        </p:spPr>
        <p:txBody>
          <a:bodyPr/>
          <a:p/>
        </p:txBody>
      </p:sp>
      <p:sp>
        <p:nvSpPr>
          <p:cNvPr id="1194" name="" descr="{&quot;isTemplate&quot;:true,&quot;type&quot;:&quot;text&quot;}"/>
          <p:cNvSpPr txBox="1"/>
          <p:nvPr/>
        </p:nvSpPr>
        <p:spPr>
          <a:xfrm rot="0" flipH="0" flipV="0">
            <a:off x="895350" y="2838450"/>
            <a:ext cx="3571875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过去人可能一眼就看出这是同一个人；现在没人看了，模型每秒钟看一遍。</a:t>
            </a:r>
            <a:endParaRPr/>
          </a:p>
        </p:txBody>
      </p:sp>
      <p:sp>
        <p:nvSpPr>
          <p:cNvPr id="1195" name=""/>
          <p:cNvSpPr/>
          <p:nvPr/>
        </p:nvSpPr>
        <p:spPr>
          <a:xfrm rot="0" flipH="0" flipV="0">
            <a:off x="4848225" y="1285875"/>
            <a:ext cx="3324225" cy="2457450"/>
          </a:xfrm>
          <a:prstGeom prst="roundRect">
            <a:avLst>
              <a:gd name="adj" fmla="val 155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96" name="" descr="{&quot;isTemplate&quot;:true,&quot;type&quot;:&quot;text&quot;}"/>
          <p:cNvSpPr txBox="1"/>
          <p:nvPr/>
        </p:nvSpPr>
        <p:spPr>
          <a:xfrm rot="0" flipH="0" flipV="0">
            <a:off x="5019675" y="1419225"/>
            <a:ext cx="2981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把三件事放大了</a:t>
            </a:r>
            <a:endParaRPr/>
          </a:p>
        </p:txBody>
      </p:sp>
      <p:sp>
        <p:nvSpPr>
          <p:cNvPr id="1197" name=""/>
          <p:cNvSpPr/>
          <p:nvPr/>
        </p:nvSpPr>
        <p:spPr>
          <a:xfrm rot="0" flipH="0" flipV="0">
            <a:off x="5048250" y="1676400"/>
            <a:ext cx="2981325" cy="5334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98" name=""/>
          <p:cNvSpPr/>
          <p:nvPr/>
        </p:nvSpPr>
        <p:spPr>
          <a:xfrm rot="0" flipH="0" flipV="0">
            <a:off x="5048250" y="1676400"/>
            <a:ext cx="2981325" cy="533400"/>
          </a:xfrm>
          <a:custGeom>
            <a:pathLst>
              <a:path w="313" h="56">
                <a:moveTo>
                  <a:pt x="3" y="56"/>
                </a:moveTo>
                <a:cubicBezTo>
                  <a:pt x="1" y="56"/>
                  <a:pt x="0" y="55"/>
                  <a:pt x="0" y="5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99" name="" descr="{&quot;isTemplate&quot;:true,&quot;type&quot;:&quot;text&quot;}"/>
          <p:cNvSpPr txBox="1"/>
          <p:nvPr/>
        </p:nvSpPr>
        <p:spPr>
          <a:xfrm rot="0" flipH="0" flipV="0">
            <a:off x="5153025" y="1762125"/>
            <a:ext cx="2743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陈旧度被放大</a:t>
            </a:r>
            <a:endParaRPr/>
          </a:p>
        </p:txBody>
      </p:sp>
      <p:sp>
        <p:nvSpPr>
          <p:cNvPr id="1200" name="" descr="{&quot;isTemplate&quot;:true,&quot;type&quot;:&quot;text&quot;}"/>
          <p:cNvSpPr txBox="1"/>
          <p:nvPr/>
        </p:nvSpPr>
        <p:spPr>
          <a:xfrm rot="0" flipH="0" flipV="0">
            <a:off x="5153025" y="1933575"/>
            <a:ext cx="27432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消费方从月度报表变成实时模型，月级刷新等于失效。</a:t>
            </a:r>
            <a:endParaRPr/>
          </a:p>
        </p:txBody>
      </p:sp>
      <p:sp>
        <p:nvSpPr>
          <p:cNvPr id="1201" name=""/>
          <p:cNvSpPr/>
          <p:nvPr/>
        </p:nvSpPr>
        <p:spPr>
          <a:xfrm rot="0" flipH="0" flipV="0">
            <a:off x="5048250" y="2286000"/>
            <a:ext cx="2981325" cy="5334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02" name=""/>
          <p:cNvSpPr/>
          <p:nvPr/>
        </p:nvSpPr>
        <p:spPr>
          <a:xfrm rot="0" flipH="0" flipV="0">
            <a:off x="5048250" y="2286000"/>
            <a:ext cx="2981325" cy="533400"/>
          </a:xfrm>
          <a:custGeom>
            <a:pathLst>
              <a:path w="313" h="56">
                <a:moveTo>
                  <a:pt x="3" y="56"/>
                </a:moveTo>
                <a:cubicBezTo>
                  <a:pt x="1" y="56"/>
                  <a:pt x="0" y="55"/>
                  <a:pt x="0" y="5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03" name="" descr="{&quot;isTemplate&quot;:true,&quot;type&quot;:&quot;text&quot;}"/>
          <p:cNvSpPr txBox="1"/>
          <p:nvPr/>
        </p:nvSpPr>
        <p:spPr>
          <a:xfrm rot="0" flipH="0" flipV="0">
            <a:off x="5153025" y="2371725"/>
            <a:ext cx="2743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错误被批量放大</a:t>
            </a:r>
            <a:endParaRPr/>
          </a:p>
        </p:txBody>
      </p:sp>
      <p:sp>
        <p:nvSpPr>
          <p:cNvPr id="1204" name="" descr="{&quot;isTemplate&quot;:true,&quot;type&quot;:&quot;text&quot;}"/>
          <p:cNvSpPr txBox="1"/>
          <p:nvPr/>
        </p:nvSpPr>
        <p:spPr>
          <a:xfrm rot="0" flipH="0" flipV="0">
            <a:off x="5153025" y="2543175"/>
            <a:ext cx="27432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一个重复客户不再是例外，而是成千上万次决策的输入。</a:t>
            </a:r>
            <a:endParaRPr/>
          </a:p>
        </p:txBody>
      </p:sp>
      <p:sp>
        <p:nvSpPr>
          <p:cNvPr id="1205" name=""/>
          <p:cNvSpPr/>
          <p:nvPr/>
        </p:nvSpPr>
        <p:spPr>
          <a:xfrm rot="0" flipH="0" flipV="0">
            <a:off x="5048250" y="2895600"/>
            <a:ext cx="2981325" cy="7143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06" name=""/>
          <p:cNvSpPr/>
          <p:nvPr/>
        </p:nvSpPr>
        <p:spPr>
          <a:xfrm rot="0" flipH="0" flipV="0">
            <a:off x="5048250" y="2895600"/>
            <a:ext cx="2981325" cy="714375"/>
          </a:xfrm>
          <a:custGeom>
            <a:pathLst>
              <a:path w="313" h="75">
                <a:moveTo>
                  <a:pt x="3" y="75"/>
                </a:moveTo>
                <a:cubicBezTo>
                  <a:pt x="1" y="75"/>
                  <a:pt x="0" y="74"/>
                  <a:pt x="0" y="7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07" name="" descr="{&quot;isTemplate&quot;:true,&quot;type&quot;:&quot;text&quot;}"/>
          <p:cNvSpPr txBox="1"/>
          <p:nvPr/>
        </p:nvSpPr>
        <p:spPr>
          <a:xfrm rot="0" flipH="0" flipV="0">
            <a:off x="5153025" y="2981325"/>
            <a:ext cx="2743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必须可解释</a:t>
            </a:r>
            <a:endParaRPr/>
          </a:p>
        </p:txBody>
      </p:sp>
      <p:sp>
        <p:nvSpPr>
          <p:cNvPr id="1208" name="" descr="{&quot;isTemplate&quot;:true,&quot;type&quot;:&quot;text&quot;}"/>
          <p:cNvSpPr txBox="1"/>
          <p:nvPr/>
        </p:nvSpPr>
        <p:spPr>
          <a:xfrm rot="0" flipH="0" flipV="0">
            <a:off x="5153025" y="3152775"/>
            <a:ext cx="2743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监管问「为什么这么判」，答案必须能回溯到一个有血缘的实体。</a:t>
            </a:r>
            <a:endParaRPr/>
          </a:p>
        </p:txBody>
      </p:sp>
      <p:sp>
        <p:nvSpPr>
          <p:cNvPr id="1209" name=""/>
          <p:cNvSpPr/>
          <p:nvPr/>
        </p:nvSpPr>
        <p:spPr>
          <a:xfrm rot="0" flipH="0" flipV="0">
            <a:off x="8305800" y="1285875"/>
            <a:ext cx="3314700" cy="2457450"/>
          </a:xfrm>
          <a:prstGeom prst="roundRect">
            <a:avLst>
              <a:gd name="adj" fmla="val 155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210" name=""/>
          <p:cNvSpPr/>
          <p:nvPr/>
        </p:nvSpPr>
        <p:spPr>
          <a:xfrm rot="0" flipH="0" flipV="0">
            <a:off x="8305800" y="1285875"/>
            <a:ext cx="3314700" cy="2457450"/>
          </a:xfrm>
          <a:custGeom>
            <a:pathLst>
              <a:path w="348" h="258">
                <a:moveTo>
                  <a:pt x="4" y="258"/>
                </a:moveTo>
                <a:cubicBezTo>
                  <a:pt x="2" y="258"/>
                  <a:pt x="0" y="256"/>
                  <a:pt x="0" y="25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5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11" name="" descr="{&quot;isTemplate&quot;:true,&quot;type&quot;:&quot;text&quot;}"/>
          <p:cNvSpPr txBox="1"/>
          <p:nvPr/>
        </p:nvSpPr>
        <p:spPr>
          <a:xfrm rot="0" flipH="0" flipV="0">
            <a:off x="8477250" y="1562100"/>
            <a:ext cx="293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主数据的角色也变了</a:t>
            </a:r>
            <a:endParaRPr/>
          </a:p>
        </p:txBody>
      </p:sp>
      <p:sp>
        <p:nvSpPr>
          <p:cNvPr id="1212" name="" descr="{&quot;isTemplate&quot;:true,&quot;type&quot;:&quot;text&quot;}"/>
          <p:cNvSpPr txBox="1"/>
          <p:nvPr/>
        </p:nvSpPr>
        <p:spPr>
          <a:xfrm rot="0" flipH="0" flipV="0">
            <a:off x="8477250" y="1800225"/>
            <a:ext cx="293370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过去的关键词是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「单一可信版本」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——把散落的记录合成一条干净的记录。</a:t>
            </a:r>
            <a:endParaRPr/>
          </a:p>
        </p:txBody>
      </p:sp>
      <p:sp>
        <p:nvSpPr>
          <p:cNvPr id="1213" name="" descr="{&quot;isTemplate&quot;:true,&quot;type&quot;:&quot;text&quot;}"/>
          <p:cNvSpPr txBox="1"/>
          <p:nvPr/>
        </p:nvSpPr>
        <p:spPr>
          <a:xfrm rot="0" flipH="0" flipV="0">
            <a:off x="8477250" y="2333625"/>
            <a:ext cx="293370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现在的关键词是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「实体上下文」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——实体连着家庭、账户、合同、产品、工单、同意记录、位置，机器能推理。</a:t>
            </a:r>
            <a:endParaRPr/>
          </a:p>
        </p:txBody>
      </p:sp>
      <p:sp>
        <p:nvSpPr>
          <p:cNvPr id="1214" name=""/>
          <p:cNvSpPr/>
          <p:nvPr/>
        </p:nvSpPr>
        <p:spPr>
          <a:xfrm rot="0" flipH="0" flipV="0">
            <a:off x="8477250" y="2895600"/>
            <a:ext cx="2933700" cy="571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15" name="" descr="{&quot;isTemplate&quot;:true,&quot;type&quot;:&quot;text&quot;}"/>
          <p:cNvSpPr txBox="1"/>
          <p:nvPr/>
        </p:nvSpPr>
        <p:spPr>
          <a:xfrm rot="0" flipH="0" flipV="0">
            <a:off x="8582025" y="2981325"/>
            <a:ext cx="272415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上一轮竞争的是谁的数据最好，这一轮比的是谁的上下文最厚。</a:t>
            </a:r>
            <a:endParaRPr/>
          </a:p>
        </p:txBody>
      </p:sp>
      <p:sp>
        <p:nvSpPr>
          <p:cNvPr id="1216" name=""/>
          <p:cNvSpPr/>
          <p:nvPr/>
        </p:nvSpPr>
        <p:spPr>
          <a:xfrm rot="0" flipH="0" flipV="0">
            <a:off x="609600" y="3838575"/>
            <a:ext cx="10972800" cy="1800225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217" name="" descr="{&quot;isTemplate&quot;:true,&quot;type&quot;:&quot;text&quot;}"/>
          <p:cNvSpPr txBox="1"/>
          <p:nvPr/>
        </p:nvSpPr>
        <p:spPr>
          <a:xfrm rot="0" flipH="0" flipV="0">
            <a:off x="781050" y="3952875"/>
            <a:ext cx="10629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这一册要回答的六个问题</a:t>
            </a:r>
            <a:endParaRPr/>
          </a:p>
        </p:txBody>
      </p:sp>
      <p:sp>
        <p:nvSpPr>
          <p:cNvPr id="1218" name=""/>
          <p:cNvSpPr/>
          <p:nvPr/>
        </p:nvSpPr>
        <p:spPr>
          <a:xfrm rot="0" flipH="0" flipV="0">
            <a:off x="781050" y="4248150"/>
            <a:ext cx="1704975" cy="1304925"/>
          </a:xfrm>
          <a:prstGeom prst="roundRect">
            <a:avLst>
              <a:gd name="adj" fmla="val 219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19" name=""/>
          <p:cNvSpPr/>
          <p:nvPr/>
        </p:nvSpPr>
        <p:spPr>
          <a:xfrm rot="0" flipH="0" flipV="0">
            <a:off x="781050" y="4248150"/>
            <a:ext cx="1704975" cy="1304925"/>
          </a:xfrm>
          <a:custGeom>
            <a:pathLst>
              <a:path w="179" h="137">
                <a:moveTo>
                  <a:pt x="176" y="0"/>
                </a:moveTo>
                <a:cubicBezTo>
                  <a:pt x="178" y="0"/>
                  <a:pt x="179" y="1"/>
                  <a:pt x="179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76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20" name="" descr="{&quot;isTemplate&quot;:true,&quot;type&quot;:&quot;text&quot;}"/>
          <p:cNvSpPr txBox="1"/>
          <p:nvPr/>
        </p:nvSpPr>
        <p:spPr>
          <a:xfrm rot="0" flipH="0" flipV="0">
            <a:off x="885825" y="4343400"/>
            <a:ext cx="1495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Q1</a:t>
            </a:r>
            <a:endParaRPr/>
          </a:p>
        </p:txBody>
      </p:sp>
      <p:sp>
        <p:nvSpPr>
          <p:cNvPr id="1221" name="" descr="{&quot;isTemplate&quot;:true,&quot;type&quot;:&quot;text&quot;}"/>
          <p:cNvSpPr txBox="1"/>
          <p:nvPr/>
        </p:nvSpPr>
        <p:spPr>
          <a:xfrm rot="0" flipH="0" flipV="0">
            <a:off x="885825" y="4562475"/>
            <a:ext cx="1495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为什么找不到</a:t>
            </a: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MDM</a:t>
            </a:r>
            <a:endParaRPr/>
          </a:p>
        </p:txBody>
      </p:sp>
      <p:sp>
        <p:nvSpPr>
          <p:cNvPr id="1222" name="" descr="{&quot;isTemplate&quot;:true,&quot;type&quot;:&quot;text&quot;}"/>
          <p:cNvSpPr txBox="1"/>
          <p:nvPr/>
        </p:nvSpPr>
        <p:spPr>
          <a:xfrm rot="0" flipH="0" flipV="0">
            <a:off x="885825" y="4762500"/>
            <a:ext cx="149542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Palantir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文档里没有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MDM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模块，为什么这不是缺陷？</a:t>
            </a:r>
            <a:endParaRPr/>
          </a:p>
        </p:txBody>
      </p:sp>
      <p:sp>
        <p:nvSpPr>
          <p:cNvPr id="1223" name=""/>
          <p:cNvSpPr/>
          <p:nvPr/>
        </p:nvSpPr>
        <p:spPr>
          <a:xfrm rot="0" flipH="0" flipV="0">
            <a:off x="2562225" y="4248150"/>
            <a:ext cx="1714500" cy="1304925"/>
          </a:xfrm>
          <a:prstGeom prst="roundRect">
            <a:avLst>
              <a:gd name="adj" fmla="val 219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24" name=""/>
          <p:cNvSpPr/>
          <p:nvPr/>
        </p:nvSpPr>
        <p:spPr>
          <a:xfrm rot="0" flipH="0" flipV="0">
            <a:off x="2562225" y="4248150"/>
            <a:ext cx="1714500" cy="1304925"/>
          </a:xfrm>
          <a:custGeom>
            <a:pathLst>
              <a:path w="180" h="137">
                <a:moveTo>
                  <a:pt x="177" y="0"/>
                </a:moveTo>
                <a:cubicBezTo>
                  <a:pt x="179" y="0"/>
                  <a:pt x="180" y="1"/>
                  <a:pt x="180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77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25" name="" descr="{&quot;isTemplate&quot;:true,&quot;type&quot;:&quot;text&quot;}"/>
          <p:cNvSpPr txBox="1"/>
          <p:nvPr/>
        </p:nvSpPr>
        <p:spPr>
          <a:xfrm rot="0" flipH="0" flipV="0">
            <a:off x="2667000" y="4343400"/>
            <a:ext cx="1504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Q2</a:t>
            </a:r>
            <a:endParaRPr/>
          </a:p>
        </p:txBody>
      </p:sp>
      <p:sp>
        <p:nvSpPr>
          <p:cNvPr id="1226" name="" descr="{&quot;isTemplate&quot;:true,&quot;type&quot;:&quot;text&quot;}"/>
          <p:cNvSpPr txBox="1"/>
          <p:nvPr/>
        </p:nvSpPr>
        <p:spPr>
          <a:xfrm rot="0" flipH="0" flipV="0">
            <a:off x="2667000" y="4562475"/>
            <a:ext cx="1504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三层是哪三层</a:t>
            </a:r>
            <a:endParaRPr/>
          </a:p>
        </p:txBody>
      </p:sp>
      <p:sp>
        <p:nvSpPr>
          <p:cNvPr id="1227" name="" descr="{&quot;isTemplate&quot;:true,&quot;type&quot;:&quot;text&quot;}"/>
          <p:cNvSpPr txBox="1"/>
          <p:nvPr/>
        </p:nvSpPr>
        <p:spPr>
          <a:xfrm rot="0" flipH="0" flipV="0">
            <a:off x="2667000" y="4762500"/>
            <a:ext cx="15049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记录、可信档案、情境系统各解决什么？</a:t>
            </a:r>
            <a:endParaRPr/>
          </a:p>
        </p:txBody>
      </p:sp>
      <p:sp>
        <p:nvSpPr>
          <p:cNvPr id="1228" name=""/>
          <p:cNvSpPr/>
          <p:nvPr/>
        </p:nvSpPr>
        <p:spPr>
          <a:xfrm rot="0" flipH="0" flipV="0">
            <a:off x="4352925" y="4248150"/>
            <a:ext cx="1704975" cy="1304925"/>
          </a:xfrm>
          <a:prstGeom prst="roundRect">
            <a:avLst>
              <a:gd name="adj" fmla="val 219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29" name=""/>
          <p:cNvSpPr/>
          <p:nvPr/>
        </p:nvSpPr>
        <p:spPr>
          <a:xfrm rot="0" flipH="0" flipV="0">
            <a:off x="4352925" y="4248150"/>
            <a:ext cx="1704975" cy="1304925"/>
          </a:xfrm>
          <a:custGeom>
            <a:pathLst>
              <a:path w="179" h="137">
                <a:moveTo>
                  <a:pt x="176" y="0"/>
                </a:moveTo>
                <a:cubicBezTo>
                  <a:pt x="178" y="0"/>
                  <a:pt x="179" y="1"/>
                  <a:pt x="179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76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30" name="" descr="{&quot;isTemplate&quot;:true,&quot;type&quot;:&quot;text&quot;}"/>
          <p:cNvSpPr txBox="1"/>
          <p:nvPr/>
        </p:nvSpPr>
        <p:spPr>
          <a:xfrm rot="0" flipH="0" flipV="0">
            <a:off x="4457700" y="4343400"/>
            <a:ext cx="1495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Q3</a:t>
            </a:r>
            <a:endParaRPr/>
          </a:p>
        </p:txBody>
      </p:sp>
      <p:sp>
        <p:nvSpPr>
          <p:cNvPr id="1231" name="" descr="{&quot;isTemplate&quot;:true,&quot;type&quot;:&quot;text&quot;}"/>
          <p:cNvSpPr txBox="1"/>
          <p:nvPr/>
        </p:nvSpPr>
        <p:spPr>
          <a:xfrm rot="0" flipH="0" flipV="0">
            <a:off x="4457700" y="4562475"/>
            <a:ext cx="1495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匹配怎么做</a:t>
            </a:r>
            <a:endParaRPr/>
          </a:p>
        </p:txBody>
      </p:sp>
      <p:sp>
        <p:nvSpPr>
          <p:cNvPr id="1232" name="" descr="{&quot;isTemplate&quot;:true,&quot;type&quot;:&quot;text&quot;}"/>
          <p:cNvSpPr txBox="1"/>
          <p:nvPr/>
        </p:nvSpPr>
        <p:spPr>
          <a:xfrm rot="0" flipH="0" flipV="0">
            <a:off x="4457700" y="4762500"/>
            <a:ext cx="149542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实体解析为什么是整个主数据项目最被低估的一环？</a:t>
            </a:r>
            <a:endParaRPr/>
          </a:p>
        </p:txBody>
      </p:sp>
      <p:sp>
        <p:nvSpPr>
          <p:cNvPr id="1233" name=""/>
          <p:cNvSpPr/>
          <p:nvPr/>
        </p:nvSpPr>
        <p:spPr>
          <a:xfrm rot="0" flipH="0" flipV="0">
            <a:off x="6134100" y="4248150"/>
            <a:ext cx="1704975" cy="1304925"/>
          </a:xfrm>
          <a:prstGeom prst="roundRect">
            <a:avLst>
              <a:gd name="adj" fmla="val 219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34" name=""/>
          <p:cNvSpPr/>
          <p:nvPr/>
        </p:nvSpPr>
        <p:spPr>
          <a:xfrm rot="0" flipH="0" flipV="0">
            <a:off x="6134100" y="4248150"/>
            <a:ext cx="1704975" cy="1304925"/>
          </a:xfrm>
          <a:custGeom>
            <a:pathLst>
              <a:path w="179" h="137">
                <a:moveTo>
                  <a:pt x="176" y="0"/>
                </a:moveTo>
                <a:cubicBezTo>
                  <a:pt x="178" y="0"/>
                  <a:pt x="179" y="1"/>
                  <a:pt x="179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76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35" name="" descr="{&quot;isTemplate&quot;:true,&quot;type&quot;:&quot;text&quot;}"/>
          <p:cNvSpPr txBox="1"/>
          <p:nvPr/>
        </p:nvSpPr>
        <p:spPr>
          <a:xfrm rot="0" flipH="0" flipV="0">
            <a:off x="6238875" y="4343400"/>
            <a:ext cx="1495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Q4</a:t>
            </a:r>
            <a:endParaRPr/>
          </a:p>
        </p:txBody>
      </p:sp>
      <p:sp>
        <p:nvSpPr>
          <p:cNvPr id="1236" name="" descr="{&quot;isTemplate&quot;:true,&quot;type&quot;:&quot;text&quot;}"/>
          <p:cNvSpPr txBox="1"/>
          <p:nvPr/>
        </p:nvSpPr>
        <p:spPr>
          <a:xfrm rot="0" flipH="0" flipV="0">
            <a:off x="6238875" y="4562475"/>
            <a:ext cx="1495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合并能撤吗</a:t>
            </a:r>
            <a:endParaRPr/>
          </a:p>
        </p:txBody>
      </p:sp>
      <p:sp>
        <p:nvSpPr>
          <p:cNvPr id="1237" name="" descr="{&quot;isTemplate&quot;:true,&quot;type&quot;:&quot;text&quot;}"/>
          <p:cNvSpPr txBox="1"/>
          <p:nvPr/>
        </p:nvSpPr>
        <p:spPr>
          <a:xfrm rot="0" flipH="0" flipV="0">
            <a:off x="6238875" y="4762500"/>
            <a:ext cx="149542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unresolve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这个能力为什么比合并本身更重要？</a:t>
            </a:r>
            <a:endParaRPr/>
          </a:p>
        </p:txBody>
      </p:sp>
      <p:sp>
        <p:nvSpPr>
          <p:cNvPr id="1238" name=""/>
          <p:cNvSpPr/>
          <p:nvPr/>
        </p:nvSpPr>
        <p:spPr>
          <a:xfrm rot="0" flipH="0" flipV="0">
            <a:off x="7915275" y="4248150"/>
            <a:ext cx="1714500" cy="1304925"/>
          </a:xfrm>
          <a:prstGeom prst="roundRect">
            <a:avLst>
              <a:gd name="adj" fmla="val 219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39" name=""/>
          <p:cNvSpPr/>
          <p:nvPr/>
        </p:nvSpPr>
        <p:spPr>
          <a:xfrm rot="0" flipH="0" flipV="0">
            <a:off x="7915275" y="4248150"/>
            <a:ext cx="1714500" cy="1304925"/>
          </a:xfrm>
          <a:custGeom>
            <a:pathLst>
              <a:path w="180" h="137">
                <a:moveTo>
                  <a:pt x="177" y="0"/>
                </a:moveTo>
                <a:cubicBezTo>
                  <a:pt x="179" y="0"/>
                  <a:pt x="180" y="1"/>
                  <a:pt x="180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77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40" name="" descr="{&quot;isTemplate&quot;:true,&quot;type&quot;:&quot;text&quot;}"/>
          <p:cNvSpPr txBox="1"/>
          <p:nvPr/>
        </p:nvSpPr>
        <p:spPr>
          <a:xfrm rot="0" flipH="0" flipV="0">
            <a:off x="8020050" y="4343400"/>
            <a:ext cx="1504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Q5</a:t>
            </a:r>
            <a:endParaRPr/>
          </a:p>
        </p:txBody>
      </p:sp>
      <p:sp>
        <p:nvSpPr>
          <p:cNvPr id="1241" name="" descr="{&quot;isTemplate&quot;:true,&quot;type&quot;:&quot;text&quot;}"/>
          <p:cNvSpPr txBox="1"/>
          <p:nvPr/>
        </p:nvSpPr>
        <p:spPr>
          <a:xfrm rot="0" flipH="0" flipV="0">
            <a:off x="8020050" y="4562475"/>
            <a:ext cx="1504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怎么落到</a:t>
            </a: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4A</a:t>
            </a:r>
            <a:endParaRPr/>
          </a:p>
        </p:txBody>
      </p:sp>
      <p:sp>
        <p:nvSpPr>
          <p:cNvPr id="1242" name="" descr="{&quot;isTemplate&quot;:true,&quot;type&quot;:&quot;text&quot;}"/>
          <p:cNvSpPr txBox="1"/>
          <p:nvPr/>
        </p:nvSpPr>
        <p:spPr>
          <a:xfrm rot="0" flipH="0" flipV="0">
            <a:off x="8020050" y="4762500"/>
            <a:ext cx="15049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主数据作为业务应用，它的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BA/DA/AA/TA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分别长什么样？</a:t>
            </a:r>
            <a:endParaRPr/>
          </a:p>
        </p:txBody>
      </p:sp>
      <p:sp>
        <p:nvSpPr>
          <p:cNvPr id="1243" name=""/>
          <p:cNvSpPr/>
          <p:nvPr/>
        </p:nvSpPr>
        <p:spPr>
          <a:xfrm rot="0" flipH="0" flipV="0">
            <a:off x="9705975" y="4248150"/>
            <a:ext cx="1704975" cy="1304925"/>
          </a:xfrm>
          <a:prstGeom prst="roundRect">
            <a:avLst>
              <a:gd name="adj" fmla="val 219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44" name=""/>
          <p:cNvSpPr/>
          <p:nvPr/>
        </p:nvSpPr>
        <p:spPr>
          <a:xfrm rot="0" flipH="0" flipV="0">
            <a:off x="9705975" y="4248150"/>
            <a:ext cx="1704975" cy="1304925"/>
          </a:xfrm>
          <a:custGeom>
            <a:pathLst>
              <a:path w="179" h="137">
                <a:moveTo>
                  <a:pt x="176" y="0"/>
                </a:moveTo>
                <a:cubicBezTo>
                  <a:pt x="178" y="0"/>
                  <a:pt x="179" y="1"/>
                  <a:pt x="179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76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45" name="" descr="{&quot;isTemplate&quot;:true,&quot;type&quot;:&quot;text&quot;}"/>
          <p:cNvSpPr txBox="1"/>
          <p:nvPr/>
        </p:nvSpPr>
        <p:spPr>
          <a:xfrm rot="0" flipH="0" flipV="0">
            <a:off x="9810750" y="4343400"/>
            <a:ext cx="1495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Q6</a:t>
            </a:r>
            <a:endParaRPr/>
          </a:p>
        </p:txBody>
      </p:sp>
      <p:sp>
        <p:nvSpPr>
          <p:cNvPr id="1246" name="" descr="{&quot;isTemplate&quot;:true,&quot;type&quot;:&quot;text&quot;}"/>
          <p:cNvSpPr txBox="1"/>
          <p:nvPr/>
        </p:nvSpPr>
        <p:spPr>
          <a:xfrm rot="0" flipH="0" flipV="0">
            <a:off x="9810750" y="4562475"/>
            <a:ext cx="1495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和五方什么关系</a:t>
            </a:r>
            <a:endParaRPr/>
          </a:p>
        </p:txBody>
      </p:sp>
      <p:sp>
        <p:nvSpPr>
          <p:cNvPr id="1247" name="" descr="{&quot;isTemplate&quot;:true,&quot;type&quot;:&quot;text&quot;}"/>
          <p:cNvSpPr txBox="1"/>
          <p:nvPr/>
        </p:nvSpPr>
        <p:spPr>
          <a:xfrm rot="0" flipH="0" flipV="0">
            <a:off x="9810750" y="4762500"/>
            <a:ext cx="149542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治理、管道、知识库、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Agent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、本体，主数据在每个方向上做什么？</a:t>
            </a:r>
            <a:endParaRPr/>
          </a:p>
        </p:txBody>
      </p:sp>
      <p:sp>
        <p:nvSpPr>
          <p:cNvPr id="1248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49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50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主数据咨询方法论</a:t>
            </a:r>
            <a:endParaRPr/>
          </a:p>
        </p:txBody>
      </p:sp>
      <p:sp>
        <p:nvSpPr>
          <p:cNvPr id="1251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03 / 30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344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Approach：八个阶段，每一步的产出物是什么&#10;    &lt;/Text&gt;&#10;    &lt;Text style={{ fontSize: 20, color: '#8A8F99', marginTop: 8 }}&gt;先做什么、后做什么、按什么顺序推进——每一步都必须有可交付物，否则就是空转&lt;/Text&gt;&#10;  &lt;/Box&gt;&#10;  &lt;Box style={{ height: 1, background: '#E8E8E8' }} /&gt;&#10;&#10;  &lt;Box style={{ paddingTop: 14, paddingBottom: 8, height: 479, flexDirection: 'column', gap: 10 }}&gt;&#10;    &lt;Box style={{ flex: 1, flexDirection: 'row', gap: 8 }}&gt;&#10;      {[&#10;        { n: '1', t: '实体域盘点与优先级排序', o: '实体域清单 · 优先级矩阵', d: '客户/供应商/产品/位置/员工，按痛点排序，不要一上来铺全域' },&#10;        { n: '2', t: '实体定义与主键策略设计', o: '实体定义书 · 主键策略', d: '先定主键再谈匹配，主键错了后面全错' },&#10;        { n: '3', t: '匹配规则与解析阈值设计', o: '匹配规则集 · 阈值实验报告', d: '用样本跑准召曲线，不靠拍脑袋定阈值' },&#10;        { n: '4', t: '仲裁与生存规则设计', o: '仲裁规则表 · 版本化策略', d: '逐属性定可信来源，规则本身要版本化' },&#10;      ].map((x) =&gt; (&#10;        &lt;Box key={x.n} style={{ flex: 1, background: '#F7F7F8', borderRadius: 4, borderTop: '4px solid #FA4F24', padding: '12px 13px', flexDirection: 'column' }}&gt;&#10;          &lt;Box style={{ flexDirection: 'row', alignItems: 'center', gap: 8 }}&gt;&#10;            &lt;Box style={{ width: 24, height: 24, borderRadius: 12, background: '#FA4F24', alignItems: 'center', justifyContent: 'center' }}&gt;&#10;              &lt;Text style={{ fontSize: 13, fontWeight: 'bold', color: '#FFFFFF' }}&gt;{x.n}&lt;/Text&gt;&#10;            &lt;/Box&gt;&#10;            &lt;Text style={{ fontSize: 14, fontWeight: 'bold', color: '#0F1423', flex: 1 }}&gt;{x.t}&lt;/Text&gt;&#10;          &lt;/Box&gt;&#10;          &lt;Box style={{ marginTop: 10, background: '#FFFFFF', borderRadius: 3, borderLeft: '3px solid #C43A17', padding: '7px 9px' }}&gt;&#10;            &lt;Text style={{ fontSize: 11, color: '#3A4050', lineHeight: 1.45 }}&gt;产出：{x.o}&lt;/Text&gt;&#10;          &lt;/Box&gt;&#10;          &lt;Text style={{ fontSize: 11, color: '#5A6070', marginTop: 9, lineHeight: 1.5, flex: 1 }}&gt;{x.d}&lt;/Text&gt;&#10;        &lt;/Box&gt;&#10;      ))}&#10;    &lt;/Box&gt;&#10;&#10;    &lt;Box style={{ flex: 1, flexDirection: 'row', gap: 8 }}&gt;&#10;      {[&#10;        { n: '5', t: '层级与关系模型设计', o: '层级结构图 · 链接类型清单', d: '集团-子公司、产品-SKU这类层级是一等公民，不是 JOIN 的副产品' },&#10;        { n: '6', t: '数据质量与匹配监控设计', o: '质量规则集 · 匹配率看板', d: '上线才是开始：新增重复、漂移、断流要持续盯' },&#10;        { n: '7', t: '变更与审批流程设计', o: '提案规范 · 审批流程图', d: '合并必须有提案与复核，且必须有人工判定出口' },&#10;        { n: '8', t: '分发与消费治理', o: '分发清单 · 消费方契约', d: '黄金记录要按API与事件流对外，消费方也要被约束' },&#10;      ].map((x) =&gt; (&#10;        &lt;Box key={x.n} style={{ flex: 1, background: '#F7F7F8', borderRadius: 4, borderTop: '4px solid #F87D2F', padding: '12px 13px', flexDirection: 'column' }}&gt;&#10;          &lt;Box style={{ flexDirection: 'row', alignItems: 'center', gap: 8 }}&gt;&#10;            &lt;Box style={{ width: 24, height: 24, borderRadius: 12, background: '#F87D2F', alignItems: 'center', justifyContent: 'center' }}&gt;&#10;              &lt;Text style={{ fontSize: 13, fontWeight: 'bold', color: '#FFFFFF' }}&gt;{x.n}&lt;/Text&gt;&#10;            &lt;/Box&gt;&#10;            &lt;Text style={{ fontSize: 14, fontWeight: 'bold', color: '#0F1423', flex: 1 }}&gt;{x.t}&lt;/Text&gt;&#10;          &lt;/Box&gt;&#10;          &lt;Box style={{ marginTop: 10, background: '#FFFFFF', borderRadius: 3, borderLeft: '3px solid #C43A17', padding: '7px 9px' }}&gt;&#10;            &lt;Text style={{ fontSize: 11, color: '#3A4050', lineHeight: 1.45 }}&gt;产出：{x.o}&lt;/Text&gt;&#10;          &lt;/Box&gt;&#10;          &lt;Text style={{ fontSize: 11, color: '#5A6070', marginTop: 9, lineHeight: 1.5, flex: 1 }}&gt;{x.d}&lt;/Text&gt;&#10;        &lt;/Box&gt;&#10;      ))}&#10;    &lt;/Box&gt;&#10;&#10;    &lt;Box style={{ height: 92, background: '#0F1423', borderRadius: 4, padding: '11px 18px', flexDirection: 'column' }}&gt;&#10;      &lt;Text style={{ fontSize: 13.5, fontWeight: 'bold', color: '#FBA15C' }}&gt;三条硬规则：顺序错了代价很大&lt;/Text&gt;&#10;      &lt;Box style={{ flexDirection: 'row', gap: 10, marginTop: 10 }}&gt;&#10;        {[&#10;          { n: '一', t: '先定主键，再谈匹配', d: '主键策略没定就调匹配规则，等于在错误的空间里做优化' },&#10;          { n: '二', t: '先只读投影，再开放写入', d: '先让业务看清合并结果，再让人改；反序就是历史数据被污染' },&#10;          { n: '三', t: '先有撤销能力，再谈规模化合并', d: '没有 unresolve 的合并系统，规模化就是规模化制造错误' },&#10;        ].map((x) =&gt; (&#10;          &lt;Box key={x.n} style={{ flex: 1, background: 'rgba(250,79,36,0.16)', borderRadius: 3, padding: '9px 12px' }}&gt;&#10;            &lt;Text style={{ fontSize: 12, fontWeight: 'bold', color: '#FFFFFF' }}&gt;{x.n} · {x.t}&lt;/Text&gt;&#10;            &lt;Text style={{ fontSize: 11, color: 'rgba(255,255,255,0.78)', marginTop: 4, lineHeight: 1.4 }}&gt;{x.d}&lt;/Text&gt;&#10;          &lt;/Box&gt;&#10;        ))}&#10;      &lt;/Box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主数据咨询方法论&lt;/Text&gt;&#10;    &lt;Text style={{ fontSize: 13, color: '#8A8F99', marginLeft: 'auto' }}&gt;04 / 3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4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>Approach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：八个阶段，每一步的产出物是什么</a:t>
            </a:r>
            <a:endParaRPr/>
          </a:p>
        </p:txBody>
      </p:sp>
      <p:sp>
        <p:nvSpPr>
          <p:cNvPr id="134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先做什么、后做什么、按什么顺序推进——每一步都必须有可交付物，否则就是空转</a:t>
            </a:r>
            <a:endParaRPr/>
          </a:p>
        </p:txBody>
      </p:sp>
      <p:sp>
        <p:nvSpPr>
          <p:cNvPr id="134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349" name=""/>
          <p:cNvSpPr/>
          <p:nvPr/>
        </p:nvSpPr>
        <p:spPr>
          <a:xfrm rot="0" flipH="0" flipV="0">
            <a:off x="609600" y="1323975"/>
            <a:ext cx="2686050" cy="1647825"/>
          </a:xfrm>
          <a:prstGeom prst="roundRect">
            <a:avLst>
              <a:gd name="adj" fmla="val 231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50" name=""/>
          <p:cNvSpPr/>
          <p:nvPr/>
        </p:nvSpPr>
        <p:spPr>
          <a:xfrm rot="0" flipH="0" flipV="0">
            <a:off x="609600" y="1323975"/>
            <a:ext cx="2686050" cy="1647825"/>
          </a:xfrm>
          <a:custGeom>
            <a:pathLst>
              <a:path w="282" h="173">
                <a:moveTo>
                  <a:pt x="278" y="0"/>
                </a:moveTo>
                <a:cubicBezTo>
                  <a:pt x="280" y="0"/>
                  <a:pt x="282" y="2"/>
                  <a:pt x="282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78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51" name=""/>
          <p:cNvSpPr/>
          <p:nvPr/>
        </p:nvSpPr>
        <p:spPr>
          <a:xfrm rot="0" flipH="0" flipV="0">
            <a:off x="733425" y="14382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52" name="" descr="{&quot;isTemplate&quot;:true,&quot;type&quot;:&quot;text&quot;}"/>
          <p:cNvSpPr txBox="1"/>
          <p:nvPr/>
        </p:nvSpPr>
        <p:spPr>
          <a:xfrm rot="0" flipH="0" flipV="0">
            <a:off x="809625" y="1476375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353" name="" descr="{&quot;isTemplate&quot;:true,&quot;type&quot;:&quot;text&quot;}"/>
          <p:cNvSpPr txBox="1"/>
          <p:nvPr/>
        </p:nvSpPr>
        <p:spPr>
          <a:xfrm rot="0" flipH="0" flipV="0">
            <a:off x="1038225" y="1476375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实体域盘点与优先级排序</a:t>
            </a:r>
            <a:endParaRPr/>
          </a:p>
        </p:txBody>
      </p:sp>
      <p:sp>
        <p:nvSpPr>
          <p:cNvPr id="1354" name=""/>
          <p:cNvSpPr/>
          <p:nvPr/>
        </p:nvSpPr>
        <p:spPr>
          <a:xfrm rot="0" flipH="0" flipV="0">
            <a:off x="762000" y="1762125"/>
            <a:ext cx="2438400" cy="32385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55" name=""/>
          <p:cNvSpPr/>
          <p:nvPr/>
        </p:nvSpPr>
        <p:spPr>
          <a:xfrm rot="0" flipH="0" flipV="0">
            <a:off x="762000" y="1762125"/>
            <a:ext cx="2438400" cy="323850"/>
          </a:xfrm>
          <a:custGeom>
            <a:pathLst>
              <a:path w="256" h="34">
                <a:moveTo>
                  <a:pt x="3" y="34"/>
                </a:moveTo>
                <a:cubicBezTo>
                  <a:pt x="1" y="34"/>
                  <a:pt x="0" y="33"/>
                  <a:pt x="0" y="3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4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356" name="" descr="{&quot;isTemplate&quot;:true,&quot;type&quot;:&quot;text&quot;}"/>
          <p:cNvSpPr txBox="1"/>
          <p:nvPr/>
        </p:nvSpPr>
        <p:spPr>
          <a:xfrm rot="0" flipH="0" flipV="0">
            <a:off x="847725" y="1828800"/>
            <a:ext cx="22383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产出：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实体域清单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优先级矩阵</a:t>
            </a:r>
            <a:endParaRPr/>
          </a:p>
        </p:txBody>
      </p:sp>
      <p:sp>
        <p:nvSpPr>
          <p:cNvPr id="1357" name="" descr="{&quot;isTemplate&quot;:true,&quot;type&quot;:&quot;text&quot;}"/>
          <p:cNvSpPr txBox="1"/>
          <p:nvPr/>
        </p:nvSpPr>
        <p:spPr>
          <a:xfrm rot="0" flipH="0" flipV="0">
            <a:off x="733425" y="2171700"/>
            <a:ext cx="24384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客户</a:t>
            </a:r>
            <a:r>
              <a:rPr lang="en-US" sz="825">
                <a:solidFill>
                  <a:srgbClr val="5A6070"/>
                </a:solidFill>
                <a:latin typeface="Microsoft YaHei"/>
                <a:ea typeface="Microsoft YaHei"/>
              </a:rPr>
              <a:t>/</a:t>
            </a: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供应商</a:t>
            </a:r>
            <a:r>
              <a:rPr lang="en-US" sz="825">
                <a:solidFill>
                  <a:srgbClr val="5A6070"/>
                </a:solidFill>
                <a:latin typeface="Microsoft YaHei"/>
                <a:ea typeface="Microsoft YaHei"/>
              </a:rPr>
              <a:t>/</a:t>
            </a: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产品</a:t>
            </a:r>
            <a:r>
              <a:rPr lang="en-US" sz="825">
                <a:solidFill>
                  <a:srgbClr val="5A6070"/>
                </a:solidFill>
                <a:latin typeface="Microsoft YaHei"/>
                <a:ea typeface="Microsoft YaHei"/>
              </a:rPr>
              <a:t>/</a:t>
            </a: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位置</a:t>
            </a:r>
            <a:r>
              <a:rPr lang="en-US" sz="825">
                <a:solidFill>
                  <a:srgbClr val="5A6070"/>
                </a:solidFill>
                <a:latin typeface="Microsoft YaHei"/>
                <a:ea typeface="Microsoft YaHei"/>
              </a:rPr>
              <a:t>/</a:t>
            </a: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员工，按痛点排序，不要一上来铺全域</a:t>
            </a:r>
            <a:endParaRPr/>
          </a:p>
        </p:txBody>
      </p:sp>
      <p:sp>
        <p:nvSpPr>
          <p:cNvPr id="1358" name=""/>
          <p:cNvSpPr/>
          <p:nvPr/>
        </p:nvSpPr>
        <p:spPr>
          <a:xfrm rot="0" flipH="0" flipV="0">
            <a:off x="3371850" y="1323975"/>
            <a:ext cx="2686050" cy="1647825"/>
          </a:xfrm>
          <a:prstGeom prst="roundRect">
            <a:avLst>
              <a:gd name="adj" fmla="val 231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59" name=""/>
          <p:cNvSpPr/>
          <p:nvPr/>
        </p:nvSpPr>
        <p:spPr>
          <a:xfrm rot="0" flipH="0" flipV="0">
            <a:off x="3371850" y="1323975"/>
            <a:ext cx="2686050" cy="1647825"/>
          </a:xfrm>
          <a:custGeom>
            <a:pathLst>
              <a:path w="282" h="173">
                <a:moveTo>
                  <a:pt x="278" y="0"/>
                </a:moveTo>
                <a:cubicBezTo>
                  <a:pt x="280" y="0"/>
                  <a:pt x="282" y="2"/>
                  <a:pt x="282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78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60" name=""/>
          <p:cNvSpPr/>
          <p:nvPr/>
        </p:nvSpPr>
        <p:spPr>
          <a:xfrm rot="0" flipH="0" flipV="0">
            <a:off x="3495675" y="14382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61" name="" descr="{&quot;isTemplate&quot;:true,&quot;type&quot;:&quot;text&quot;}"/>
          <p:cNvSpPr txBox="1"/>
          <p:nvPr/>
        </p:nvSpPr>
        <p:spPr>
          <a:xfrm rot="0" flipH="0" flipV="0">
            <a:off x="3571875" y="1476375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362" name="" descr="{&quot;isTemplate&quot;:true,&quot;type&quot;:&quot;text&quot;}"/>
          <p:cNvSpPr txBox="1"/>
          <p:nvPr/>
        </p:nvSpPr>
        <p:spPr>
          <a:xfrm rot="0" flipH="0" flipV="0">
            <a:off x="3800475" y="1476375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实体定义与主键策略设计</a:t>
            </a:r>
            <a:endParaRPr/>
          </a:p>
        </p:txBody>
      </p:sp>
      <p:sp>
        <p:nvSpPr>
          <p:cNvPr id="1363" name=""/>
          <p:cNvSpPr/>
          <p:nvPr/>
        </p:nvSpPr>
        <p:spPr>
          <a:xfrm rot="0" flipH="0" flipV="0">
            <a:off x="3524250" y="1762125"/>
            <a:ext cx="2438400" cy="32385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64" name=""/>
          <p:cNvSpPr/>
          <p:nvPr/>
        </p:nvSpPr>
        <p:spPr>
          <a:xfrm rot="0" flipH="0" flipV="0">
            <a:off x="3524250" y="1762125"/>
            <a:ext cx="2438400" cy="323850"/>
          </a:xfrm>
          <a:custGeom>
            <a:pathLst>
              <a:path w="256" h="34">
                <a:moveTo>
                  <a:pt x="3" y="34"/>
                </a:moveTo>
                <a:cubicBezTo>
                  <a:pt x="1" y="34"/>
                  <a:pt x="0" y="33"/>
                  <a:pt x="0" y="3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4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365" name="" descr="{&quot;isTemplate&quot;:true,&quot;type&quot;:&quot;text&quot;}"/>
          <p:cNvSpPr txBox="1"/>
          <p:nvPr/>
        </p:nvSpPr>
        <p:spPr>
          <a:xfrm rot="0" flipH="0" flipV="0">
            <a:off x="3609975" y="1828800"/>
            <a:ext cx="22383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产出：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实体定义书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主键策略</a:t>
            </a:r>
            <a:endParaRPr/>
          </a:p>
        </p:txBody>
      </p:sp>
      <p:sp>
        <p:nvSpPr>
          <p:cNvPr id="1366" name="" descr="{&quot;isTemplate&quot;:true,&quot;type&quot;:&quot;text&quot;}"/>
          <p:cNvSpPr txBox="1"/>
          <p:nvPr/>
        </p:nvSpPr>
        <p:spPr>
          <a:xfrm rot="0" flipH="0" flipV="0">
            <a:off x="3495675" y="2171700"/>
            <a:ext cx="2438400" cy="6477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先定主键再谈匹配，主键错了后面全错</a:t>
            </a:r>
            <a:endParaRPr/>
          </a:p>
        </p:txBody>
      </p:sp>
      <p:sp>
        <p:nvSpPr>
          <p:cNvPr id="1367" name=""/>
          <p:cNvSpPr/>
          <p:nvPr/>
        </p:nvSpPr>
        <p:spPr>
          <a:xfrm rot="0" flipH="0" flipV="0">
            <a:off x="6134100" y="1323975"/>
            <a:ext cx="2686050" cy="1647825"/>
          </a:xfrm>
          <a:prstGeom prst="roundRect">
            <a:avLst>
              <a:gd name="adj" fmla="val 231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68" name=""/>
          <p:cNvSpPr/>
          <p:nvPr/>
        </p:nvSpPr>
        <p:spPr>
          <a:xfrm rot="0" flipH="0" flipV="0">
            <a:off x="6134100" y="1323975"/>
            <a:ext cx="2686050" cy="1647825"/>
          </a:xfrm>
          <a:custGeom>
            <a:pathLst>
              <a:path w="282" h="173">
                <a:moveTo>
                  <a:pt x="278" y="0"/>
                </a:moveTo>
                <a:cubicBezTo>
                  <a:pt x="280" y="0"/>
                  <a:pt x="282" y="2"/>
                  <a:pt x="282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78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69" name=""/>
          <p:cNvSpPr/>
          <p:nvPr/>
        </p:nvSpPr>
        <p:spPr>
          <a:xfrm rot="0" flipH="0" flipV="0">
            <a:off x="6257925" y="14382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70" name="" descr="{&quot;isTemplate&quot;:true,&quot;type&quot;:&quot;text&quot;}"/>
          <p:cNvSpPr txBox="1"/>
          <p:nvPr/>
        </p:nvSpPr>
        <p:spPr>
          <a:xfrm rot="0" flipH="0" flipV="0">
            <a:off x="6334125" y="1476375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371" name="" descr="{&quot;isTemplate&quot;:true,&quot;type&quot;:&quot;text&quot;}"/>
          <p:cNvSpPr txBox="1"/>
          <p:nvPr/>
        </p:nvSpPr>
        <p:spPr>
          <a:xfrm rot="0" flipH="0" flipV="0">
            <a:off x="6562725" y="1476375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匹配规则与解析阈值设计</a:t>
            </a:r>
            <a:endParaRPr/>
          </a:p>
        </p:txBody>
      </p:sp>
      <p:sp>
        <p:nvSpPr>
          <p:cNvPr id="1372" name=""/>
          <p:cNvSpPr/>
          <p:nvPr/>
        </p:nvSpPr>
        <p:spPr>
          <a:xfrm rot="0" flipH="0" flipV="0">
            <a:off x="6286500" y="1762125"/>
            <a:ext cx="2438400" cy="32385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73" name=""/>
          <p:cNvSpPr/>
          <p:nvPr/>
        </p:nvSpPr>
        <p:spPr>
          <a:xfrm rot="0" flipH="0" flipV="0">
            <a:off x="6286500" y="1762125"/>
            <a:ext cx="2438400" cy="323850"/>
          </a:xfrm>
          <a:custGeom>
            <a:pathLst>
              <a:path w="256" h="34">
                <a:moveTo>
                  <a:pt x="3" y="34"/>
                </a:moveTo>
                <a:cubicBezTo>
                  <a:pt x="1" y="34"/>
                  <a:pt x="0" y="33"/>
                  <a:pt x="0" y="3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4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374" name="" descr="{&quot;isTemplate&quot;:true,&quot;type&quot;:&quot;text&quot;}"/>
          <p:cNvSpPr txBox="1"/>
          <p:nvPr/>
        </p:nvSpPr>
        <p:spPr>
          <a:xfrm rot="0" flipH="0" flipV="0">
            <a:off x="6372225" y="1828800"/>
            <a:ext cx="22383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产出：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匹配规则集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阈值实验报告</a:t>
            </a:r>
            <a:endParaRPr/>
          </a:p>
        </p:txBody>
      </p:sp>
      <p:sp>
        <p:nvSpPr>
          <p:cNvPr id="1375" name="" descr="{&quot;isTemplate&quot;:true,&quot;type&quot;:&quot;text&quot;}"/>
          <p:cNvSpPr txBox="1"/>
          <p:nvPr/>
        </p:nvSpPr>
        <p:spPr>
          <a:xfrm rot="0" flipH="0" flipV="0">
            <a:off x="6257925" y="2171700"/>
            <a:ext cx="2438400" cy="6477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用样本跑准召曲线，不靠拍脑袋定阈值</a:t>
            </a:r>
            <a:endParaRPr/>
          </a:p>
        </p:txBody>
      </p:sp>
      <p:sp>
        <p:nvSpPr>
          <p:cNvPr id="1376" name=""/>
          <p:cNvSpPr/>
          <p:nvPr/>
        </p:nvSpPr>
        <p:spPr>
          <a:xfrm rot="0" flipH="0" flipV="0">
            <a:off x="8896350" y="1323975"/>
            <a:ext cx="2686050" cy="1647825"/>
          </a:xfrm>
          <a:prstGeom prst="roundRect">
            <a:avLst>
              <a:gd name="adj" fmla="val 231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77" name=""/>
          <p:cNvSpPr/>
          <p:nvPr/>
        </p:nvSpPr>
        <p:spPr>
          <a:xfrm rot="0" flipH="0" flipV="0">
            <a:off x="8896350" y="1323975"/>
            <a:ext cx="2686050" cy="1647825"/>
          </a:xfrm>
          <a:custGeom>
            <a:pathLst>
              <a:path w="282" h="173">
                <a:moveTo>
                  <a:pt x="278" y="0"/>
                </a:moveTo>
                <a:cubicBezTo>
                  <a:pt x="280" y="0"/>
                  <a:pt x="282" y="2"/>
                  <a:pt x="282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78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78" name=""/>
          <p:cNvSpPr/>
          <p:nvPr/>
        </p:nvSpPr>
        <p:spPr>
          <a:xfrm rot="0" flipH="0" flipV="0">
            <a:off x="9020175" y="14382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79" name="" descr="{&quot;isTemplate&quot;:true,&quot;type&quot;:&quot;text&quot;}"/>
          <p:cNvSpPr txBox="1"/>
          <p:nvPr/>
        </p:nvSpPr>
        <p:spPr>
          <a:xfrm rot="0" flipH="0" flipV="0">
            <a:off x="9096375" y="1476375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380" name="" descr="{&quot;isTemplate&quot;:true,&quot;type&quot;:&quot;text&quot;}"/>
          <p:cNvSpPr txBox="1"/>
          <p:nvPr/>
        </p:nvSpPr>
        <p:spPr>
          <a:xfrm rot="0" flipH="0" flipV="0">
            <a:off x="9324975" y="1476375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仲裁与生存规则设计</a:t>
            </a:r>
            <a:endParaRPr/>
          </a:p>
        </p:txBody>
      </p:sp>
      <p:sp>
        <p:nvSpPr>
          <p:cNvPr id="1381" name=""/>
          <p:cNvSpPr/>
          <p:nvPr/>
        </p:nvSpPr>
        <p:spPr>
          <a:xfrm rot="0" flipH="0" flipV="0">
            <a:off x="9048750" y="1762125"/>
            <a:ext cx="2438400" cy="32385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82" name=""/>
          <p:cNvSpPr/>
          <p:nvPr/>
        </p:nvSpPr>
        <p:spPr>
          <a:xfrm rot="0" flipH="0" flipV="0">
            <a:off x="9048750" y="1762125"/>
            <a:ext cx="2438400" cy="323850"/>
          </a:xfrm>
          <a:custGeom>
            <a:pathLst>
              <a:path w="256" h="34">
                <a:moveTo>
                  <a:pt x="3" y="34"/>
                </a:moveTo>
                <a:cubicBezTo>
                  <a:pt x="1" y="34"/>
                  <a:pt x="0" y="33"/>
                  <a:pt x="0" y="3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4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383" name="" descr="{&quot;isTemplate&quot;:true,&quot;type&quot;:&quot;text&quot;}"/>
          <p:cNvSpPr txBox="1"/>
          <p:nvPr/>
        </p:nvSpPr>
        <p:spPr>
          <a:xfrm rot="0" flipH="0" flipV="0">
            <a:off x="9134475" y="1828800"/>
            <a:ext cx="22383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产出：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仲裁规则表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版本化策略</a:t>
            </a:r>
            <a:endParaRPr/>
          </a:p>
        </p:txBody>
      </p:sp>
      <p:sp>
        <p:nvSpPr>
          <p:cNvPr id="1384" name="" descr="{&quot;isTemplate&quot;:true,&quot;type&quot;:&quot;text&quot;}"/>
          <p:cNvSpPr txBox="1"/>
          <p:nvPr/>
        </p:nvSpPr>
        <p:spPr>
          <a:xfrm rot="0" flipH="0" flipV="0">
            <a:off x="9020175" y="2171700"/>
            <a:ext cx="2438400" cy="6477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逐属性定可信来源，规则本身要版本化</a:t>
            </a:r>
            <a:endParaRPr/>
          </a:p>
        </p:txBody>
      </p:sp>
      <p:sp>
        <p:nvSpPr>
          <p:cNvPr id="1385" name=""/>
          <p:cNvSpPr/>
          <p:nvPr/>
        </p:nvSpPr>
        <p:spPr>
          <a:xfrm rot="0" flipH="0" flipV="0">
            <a:off x="609600" y="3067050"/>
            <a:ext cx="2686050" cy="1638300"/>
          </a:xfrm>
          <a:prstGeom prst="roundRect">
            <a:avLst>
              <a:gd name="adj" fmla="val 232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86" name=""/>
          <p:cNvSpPr/>
          <p:nvPr/>
        </p:nvSpPr>
        <p:spPr>
          <a:xfrm rot="0" flipH="0" flipV="0">
            <a:off x="609600" y="3067050"/>
            <a:ext cx="2686050" cy="1638300"/>
          </a:xfrm>
          <a:custGeom>
            <a:pathLst>
              <a:path w="282" h="172">
                <a:moveTo>
                  <a:pt x="278" y="0"/>
                </a:moveTo>
                <a:cubicBezTo>
                  <a:pt x="280" y="0"/>
                  <a:pt x="282" y="2"/>
                  <a:pt x="282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78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387" name=""/>
          <p:cNvSpPr/>
          <p:nvPr/>
        </p:nvSpPr>
        <p:spPr>
          <a:xfrm rot="0" flipH="0" flipV="0">
            <a:off x="733425" y="31813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87D2F"/>
          </a:solidFill>
          <a:ln/>
        </p:spPr>
        <p:txBody>
          <a:bodyPr/>
          <a:p/>
        </p:txBody>
      </p:sp>
      <p:sp>
        <p:nvSpPr>
          <p:cNvPr id="1388" name="" descr="{&quot;isTemplate&quot;:true,&quot;type&quot;:&quot;text&quot;}"/>
          <p:cNvSpPr txBox="1"/>
          <p:nvPr/>
        </p:nvSpPr>
        <p:spPr>
          <a:xfrm rot="0" flipH="0" flipV="0">
            <a:off x="809625" y="3219450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1389" name="" descr="{&quot;isTemplate&quot;:true,&quot;type&quot;:&quot;text&quot;}"/>
          <p:cNvSpPr txBox="1"/>
          <p:nvPr/>
        </p:nvSpPr>
        <p:spPr>
          <a:xfrm rot="0" flipH="0" flipV="0">
            <a:off x="1038225" y="3219450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层级与关系模型设计</a:t>
            </a:r>
            <a:endParaRPr/>
          </a:p>
        </p:txBody>
      </p:sp>
      <p:sp>
        <p:nvSpPr>
          <p:cNvPr id="1390" name=""/>
          <p:cNvSpPr/>
          <p:nvPr/>
        </p:nvSpPr>
        <p:spPr>
          <a:xfrm rot="0" flipH="0" flipV="0">
            <a:off x="762000" y="3505200"/>
            <a:ext cx="2438400" cy="32385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91" name=""/>
          <p:cNvSpPr/>
          <p:nvPr/>
        </p:nvSpPr>
        <p:spPr>
          <a:xfrm rot="0" flipH="0" flipV="0">
            <a:off x="762000" y="3505200"/>
            <a:ext cx="2438400" cy="323850"/>
          </a:xfrm>
          <a:custGeom>
            <a:pathLst>
              <a:path w="256" h="34">
                <a:moveTo>
                  <a:pt x="3" y="34"/>
                </a:moveTo>
                <a:cubicBezTo>
                  <a:pt x="1" y="34"/>
                  <a:pt x="0" y="33"/>
                  <a:pt x="0" y="3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4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392" name="" descr="{&quot;isTemplate&quot;:true,&quot;type&quot;:&quot;text&quot;}"/>
          <p:cNvSpPr txBox="1"/>
          <p:nvPr/>
        </p:nvSpPr>
        <p:spPr>
          <a:xfrm rot="0" flipH="0" flipV="0">
            <a:off x="847725" y="3571875"/>
            <a:ext cx="22383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产出：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层级结构图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链接类型清单</a:t>
            </a:r>
            <a:endParaRPr/>
          </a:p>
        </p:txBody>
      </p:sp>
      <p:sp>
        <p:nvSpPr>
          <p:cNvPr id="1393" name="" descr="{&quot;isTemplate&quot;:true,&quot;type&quot;:&quot;text&quot;}"/>
          <p:cNvSpPr txBox="1"/>
          <p:nvPr/>
        </p:nvSpPr>
        <p:spPr>
          <a:xfrm rot="0" flipH="0" flipV="0">
            <a:off x="733425" y="3914775"/>
            <a:ext cx="24384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集团</a:t>
            </a:r>
            <a:r>
              <a:rPr lang="en-US" sz="825">
                <a:solidFill>
                  <a:srgbClr val="5A6070"/>
                </a:solidFill>
                <a:latin typeface="Microsoft YaHei"/>
                <a:ea typeface="Microsoft YaHei"/>
              </a:rPr>
              <a:t>-</a:t>
            </a: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子公司、产品</a:t>
            </a:r>
            <a:r>
              <a:rPr lang="en-US" sz="825">
                <a:solidFill>
                  <a:srgbClr val="5A6070"/>
                </a:solidFill>
                <a:latin typeface="Microsoft YaHei"/>
                <a:ea typeface="Microsoft YaHei"/>
              </a:rPr>
              <a:t>-SKU</a:t>
            </a: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这类层级是一等公民，不是</a:t>
            </a:r>
            <a:r>
              <a:rPr lang="en-US" sz="825">
                <a:solidFill>
                  <a:srgbClr val="5A6070"/>
                </a:solidFill>
                <a:latin typeface="Microsoft YaHei"/>
                <a:ea typeface="Microsoft YaHei"/>
              </a:rPr>
              <a:t xml:space="preserve"> JOIN </a:t>
            </a: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的副产品</a:t>
            </a:r>
            <a:endParaRPr/>
          </a:p>
        </p:txBody>
      </p:sp>
      <p:sp>
        <p:nvSpPr>
          <p:cNvPr id="1394" name=""/>
          <p:cNvSpPr/>
          <p:nvPr/>
        </p:nvSpPr>
        <p:spPr>
          <a:xfrm rot="0" flipH="0" flipV="0">
            <a:off x="3371850" y="3067050"/>
            <a:ext cx="2686050" cy="1638300"/>
          </a:xfrm>
          <a:prstGeom prst="roundRect">
            <a:avLst>
              <a:gd name="adj" fmla="val 232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95" name=""/>
          <p:cNvSpPr/>
          <p:nvPr/>
        </p:nvSpPr>
        <p:spPr>
          <a:xfrm rot="0" flipH="0" flipV="0">
            <a:off x="3371850" y="3067050"/>
            <a:ext cx="2686050" cy="1638300"/>
          </a:xfrm>
          <a:custGeom>
            <a:pathLst>
              <a:path w="282" h="172">
                <a:moveTo>
                  <a:pt x="278" y="0"/>
                </a:moveTo>
                <a:cubicBezTo>
                  <a:pt x="280" y="0"/>
                  <a:pt x="282" y="2"/>
                  <a:pt x="282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78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396" name=""/>
          <p:cNvSpPr/>
          <p:nvPr/>
        </p:nvSpPr>
        <p:spPr>
          <a:xfrm rot="0" flipH="0" flipV="0">
            <a:off x="3495675" y="31813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87D2F"/>
          </a:solidFill>
          <a:ln/>
        </p:spPr>
        <p:txBody>
          <a:bodyPr/>
          <a:p/>
        </p:txBody>
      </p:sp>
      <p:sp>
        <p:nvSpPr>
          <p:cNvPr id="1397" name="" descr="{&quot;isTemplate&quot;:true,&quot;type&quot;:&quot;text&quot;}"/>
          <p:cNvSpPr txBox="1"/>
          <p:nvPr/>
        </p:nvSpPr>
        <p:spPr>
          <a:xfrm rot="0" flipH="0" flipV="0">
            <a:off x="3571875" y="3219450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1398" name="" descr="{&quot;isTemplate&quot;:true,&quot;type&quot;:&quot;text&quot;}"/>
          <p:cNvSpPr txBox="1"/>
          <p:nvPr/>
        </p:nvSpPr>
        <p:spPr>
          <a:xfrm rot="0" flipH="0" flipV="0">
            <a:off x="3800475" y="3219450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数据质量与匹配监控设计</a:t>
            </a:r>
            <a:endParaRPr/>
          </a:p>
        </p:txBody>
      </p:sp>
      <p:sp>
        <p:nvSpPr>
          <p:cNvPr id="1399" name=""/>
          <p:cNvSpPr/>
          <p:nvPr/>
        </p:nvSpPr>
        <p:spPr>
          <a:xfrm rot="0" flipH="0" flipV="0">
            <a:off x="3524250" y="3505200"/>
            <a:ext cx="2438400" cy="32385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00" name=""/>
          <p:cNvSpPr/>
          <p:nvPr/>
        </p:nvSpPr>
        <p:spPr>
          <a:xfrm rot="0" flipH="0" flipV="0">
            <a:off x="3524250" y="3505200"/>
            <a:ext cx="2438400" cy="323850"/>
          </a:xfrm>
          <a:custGeom>
            <a:pathLst>
              <a:path w="256" h="34">
                <a:moveTo>
                  <a:pt x="3" y="34"/>
                </a:moveTo>
                <a:cubicBezTo>
                  <a:pt x="1" y="34"/>
                  <a:pt x="0" y="33"/>
                  <a:pt x="0" y="3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4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401" name="" descr="{&quot;isTemplate&quot;:true,&quot;type&quot;:&quot;text&quot;}"/>
          <p:cNvSpPr txBox="1"/>
          <p:nvPr/>
        </p:nvSpPr>
        <p:spPr>
          <a:xfrm rot="0" flipH="0" flipV="0">
            <a:off x="3609975" y="3571875"/>
            <a:ext cx="22383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产出：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质量规则集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匹配率看板</a:t>
            </a:r>
            <a:endParaRPr/>
          </a:p>
        </p:txBody>
      </p:sp>
      <p:sp>
        <p:nvSpPr>
          <p:cNvPr id="1402" name="" descr="{&quot;isTemplate&quot;:true,&quot;type&quot;:&quot;text&quot;}"/>
          <p:cNvSpPr txBox="1"/>
          <p:nvPr/>
        </p:nvSpPr>
        <p:spPr>
          <a:xfrm rot="0" flipH="0" flipV="0">
            <a:off x="3495675" y="3914775"/>
            <a:ext cx="2438400" cy="638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上线才是开始：新增重复、漂移、断流要持续盯</a:t>
            </a:r>
            <a:endParaRPr/>
          </a:p>
        </p:txBody>
      </p:sp>
      <p:sp>
        <p:nvSpPr>
          <p:cNvPr id="1403" name=""/>
          <p:cNvSpPr/>
          <p:nvPr/>
        </p:nvSpPr>
        <p:spPr>
          <a:xfrm rot="0" flipH="0" flipV="0">
            <a:off x="6134100" y="3067050"/>
            <a:ext cx="2686050" cy="1638300"/>
          </a:xfrm>
          <a:prstGeom prst="roundRect">
            <a:avLst>
              <a:gd name="adj" fmla="val 232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04" name=""/>
          <p:cNvSpPr/>
          <p:nvPr/>
        </p:nvSpPr>
        <p:spPr>
          <a:xfrm rot="0" flipH="0" flipV="0">
            <a:off x="6134100" y="3067050"/>
            <a:ext cx="2686050" cy="1638300"/>
          </a:xfrm>
          <a:custGeom>
            <a:pathLst>
              <a:path w="282" h="172">
                <a:moveTo>
                  <a:pt x="278" y="0"/>
                </a:moveTo>
                <a:cubicBezTo>
                  <a:pt x="280" y="0"/>
                  <a:pt x="282" y="2"/>
                  <a:pt x="282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78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405" name=""/>
          <p:cNvSpPr/>
          <p:nvPr/>
        </p:nvSpPr>
        <p:spPr>
          <a:xfrm rot="0" flipH="0" flipV="0">
            <a:off x="6257925" y="31813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87D2F"/>
          </a:solidFill>
          <a:ln/>
        </p:spPr>
        <p:txBody>
          <a:bodyPr/>
          <a:p/>
        </p:txBody>
      </p:sp>
      <p:sp>
        <p:nvSpPr>
          <p:cNvPr id="1406" name="" descr="{&quot;isTemplate&quot;:true,&quot;type&quot;:&quot;text&quot;}"/>
          <p:cNvSpPr txBox="1"/>
          <p:nvPr/>
        </p:nvSpPr>
        <p:spPr>
          <a:xfrm rot="0" flipH="0" flipV="0">
            <a:off x="6334125" y="3219450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1407" name="" descr="{&quot;isTemplate&quot;:true,&quot;type&quot;:&quot;text&quot;}"/>
          <p:cNvSpPr txBox="1"/>
          <p:nvPr/>
        </p:nvSpPr>
        <p:spPr>
          <a:xfrm rot="0" flipH="0" flipV="0">
            <a:off x="6562725" y="3219450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变更与审批流程设计</a:t>
            </a:r>
            <a:endParaRPr/>
          </a:p>
        </p:txBody>
      </p:sp>
      <p:sp>
        <p:nvSpPr>
          <p:cNvPr id="1408" name=""/>
          <p:cNvSpPr/>
          <p:nvPr/>
        </p:nvSpPr>
        <p:spPr>
          <a:xfrm rot="0" flipH="0" flipV="0">
            <a:off x="6286500" y="3505200"/>
            <a:ext cx="2438400" cy="32385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09" name=""/>
          <p:cNvSpPr/>
          <p:nvPr/>
        </p:nvSpPr>
        <p:spPr>
          <a:xfrm rot="0" flipH="0" flipV="0">
            <a:off x="6286500" y="3505200"/>
            <a:ext cx="2438400" cy="323850"/>
          </a:xfrm>
          <a:custGeom>
            <a:pathLst>
              <a:path w="256" h="34">
                <a:moveTo>
                  <a:pt x="3" y="34"/>
                </a:moveTo>
                <a:cubicBezTo>
                  <a:pt x="1" y="34"/>
                  <a:pt x="0" y="33"/>
                  <a:pt x="0" y="3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4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410" name="" descr="{&quot;isTemplate&quot;:true,&quot;type&quot;:&quot;text&quot;}"/>
          <p:cNvSpPr txBox="1"/>
          <p:nvPr/>
        </p:nvSpPr>
        <p:spPr>
          <a:xfrm rot="0" flipH="0" flipV="0">
            <a:off x="6372225" y="3571875"/>
            <a:ext cx="22383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产出：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提案规范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审批流程图</a:t>
            </a:r>
            <a:endParaRPr/>
          </a:p>
        </p:txBody>
      </p:sp>
      <p:sp>
        <p:nvSpPr>
          <p:cNvPr id="1411" name="" descr="{&quot;isTemplate&quot;:true,&quot;type&quot;:&quot;text&quot;}"/>
          <p:cNvSpPr txBox="1"/>
          <p:nvPr/>
        </p:nvSpPr>
        <p:spPr>
          <a:xfrm rot="0" flipH="0" flipV="0">
            <a:off x="6257925" y="3914775"/>
            <a:ext cx="2438400" cy="638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合并必须有提案与复核，且必须有人工判定出口</a:t>
            </a:r>
            <a:endParaRPr/>
          </a:p>
        </p:txBody>
      </p:sp>
      <p:sp>
        <p:nvSpPr>
          <p:cNvPr id="1412" name=""/>
          <p:cNvSpPr/>
          <p:nvPr/>
        </p:nvSpPr>
        <p:spPr>
          <a:xfrm rot="0" flipH="0" flipV="0">
            <a:off x="8896350" y="3067050"/>
            <a:ext cx="2686050" cy="1638300"/>
          </a:xfrm>
          <a:prstGeom prst="roundRect">
            <a:avLst>
              <a:gd name="adj" fmla="val 232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13" name=""/>
          <p:cNvSpPr/>
          <p:nvPr/>
        </p:nvSpPr>
        <p:spPr>
          <a:xfrm rot="0" flipH="0" flipV="0">
            <a:off x="8896350" y="3067050"/>
            <a:ext cx="2686050" cy="1638300"/>
          </a:xfrm>
          <a:custGeom>
            <a:pathLst>
              <a:path w="282" h="172">
                <a:moveTo>
                  <a:pt x="278" y="0"/>
                </a:moveTo>
                <a:cubicBezTo>
                  <a:pt x="280" y="0"/>
                  <a:pt x="282" y="2"/>
                  <a:pt x="282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78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414" name=""/>
          <p:cNvSpPr/>
          <p:nvPr/>
        </p:nvSpPr>
        <p:spPr>
          <a:xfrm rot="0" flipH="0" flipV="0">
            <a:off x="9020175" y="31813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87D2F"/>
          </a:solidFill>
          <a:ln/>
        </p:spPr>
        <p:txBody>
          <a:bodyPr/>
          <a:p/>
        </p:txBody>
      </p:sp>
      <p:sp>
        <p:nvSpPr>
          <p:cNvPr id="1415" name="" descr="{&quot;isTemplate&quot;:true,&quot;type&quot;:&quot;text&quot;}"/>
          <p:cNvSpPr txBox="1"/>
          <p:nvPr/>
        </p:nvSpPr>
        <p:spPr>
          <a:xfrm rot="0" flipH="0" flipV="0">
            <a:off x="9096375" y="3219450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8</a:t>
            </a:r>
            <a:endParaRPr/>
          </a:p>
        </p:txBody>
      </p:sp>
      <p:sp>
        <p:nvSpPr>
          <p:cNvPr id="1416" name="" descr="{&quot;isTemplate&quot;:true,&quot;type&quot;:&quot;text&quot;}"/>
          <p:cNvSpPr txBox="1"/>
          <p:nvPr/>
        </p:nvSpPr>
        <p:spPr>
          <a:xfrm rot="0" flipH="0" flipV="0">
            <a:off x="9324975" y="3219450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分发与消费治理</a:t>
            </a:r>
            <a:endParaRPr/>
          </a:p>
        </p:txBody>
      </p:sp>
      <p:sp>
        <p:nvSpPr>
          <p:cNvPr id="1417" name=""/>
          <p:cNvSpPr/>
          <p:nvPr/>
        </p:nvSpPr>
        <p:spPr>
          <a:xfrm rot="0" flipH="0" flipV="0">
            <a:off x="9048750" y="3505200"/>
            <a:ext cx="2438400" cy="32385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18" name=""/>
          <p:cNvSpPr/>
          <p:nvPr/>
        </p:nvSpPr>
        <p:spPr>
          <a:xfrm rot="0" flipH="0" flipV="0">
            <a:off x="9048750" y="3505200"/>
            <a:ext cx="2438400" cy="323850"/>
          </a:xfrm>
          <a:custGeom>
            <a:pathLst>
              <a:path w="256" h="34">
                <a:moveTo>
                  <a:pt x="3" y="34"/>
                </a:moveTo>
                <a:cubicBezTo>
                  <a:pt x="1" y="34"/>
                  <a:pt x="0" y="33"/>
                  <a:pt x="0" y="3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4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419" name="" descr="{&quot;isTemplate&quot;:true,&quot;type&quot;:&quot;text&quot;}"/>
          <p:cNvSpPr txBox="1"/>
          <p:nvPr/>
        </p:nvSpPr>
        <p:spPr>
          <a:xfrm rot="0" flipH="0" flipV="0">
            <a:off x="9134475" y="3571875"/>
            <a:ext cx="22383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产出：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分发清单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消费方契约</a:t>
            </a:r>
            <a:endParaRPr/>
          </a:p>
        </p:txBody>
      </p:sp>
      <p:sp>
        <p:nvSpPr>
          <p:cNvPr id="1420" name="" descr="{&quot;isTemplate&quot;:true,&quot;type&quot;:&quot;text&quot;}"/>
          <p:cNvSpPr txBox="1"/>
          <p:nvPr/>
        </p:nvSpPr>
        <p:spPr>
          <a:xfrm rot="0" flipH="0" flipV="0">
            <a:off x="9020175" y="3914775"/>
            <a:ext cx="2438400" cy="638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黄金记录要按</a:t>
            </a:r>
            <a:r>
              <a:rPr lang="en-US" sz="825">
                <a:solidFill>
                  <a:srgbClr val="5A6070"/>
                </a:solidFill>
                <a:latin typeface="Microsoft YaHei"/>
                <a:ea typeface="Microsoft YaHei"/>
              </a:rPr>
              <a:t>API</a:t>
            </a: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与事件流对外，消费方也要被约束</a:t>
            </a:r>
            <a:endParaRPr/>
          </a:p>
        </p:txBody>
      </p:sp>
      <p:sp>
        <p:nvSpPr>
          <p:cNvPr id="1421" name=""/>
          <p:cNvSpPr/>
          <p:nvPr/>
        </p:nvSpPr>
        <p:spPr>
          <a:xfrm rot="0" flipH="0" flipV="0">
            <a:off x="609600" y="4762500"/>
            <a:ext cx="10972800" cy="876300"/>
          </a:xfrm>
          <a:prstGeom prst="roundRect">
            <a:avLst>
              <a:gd name="adj" fmla="val 4348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422" name="" descr="{&quot;isTemplate&quot;:true,&quot;type&quot;:&quot;text&quot;}"/>
          <p:cNvSpPr txBox="1"/>
          <p:nvPr/>
        </p:nvSpPr>
        <p:spPr>
          <a:xfrm rot="0" flipH="0" flipV="0">
            <a:off x="781050" y="4867275"/>
            <a:ext cx="10629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三条硬规则：顺序错了代价很大</a:t>
            </a:r>
            <a:endParaRPr/>
          </a:p>
        </p:txBody>
      </p:sp>
      <p:sp>
        <p:nvSpPr>
          <p:cNvPr id="1423" name=""/>
          <p:cNvSpPr/>
          <p:nvPr/>
        </p:nvSpPr>
        <p:spPr>
          <a:xfrm rot="0" flipH="0" flipV="0">
            <a:off x="781050" y="5124450"/>
            <a:ext cx="3476625" cy="533400"/>
          </a:xfrm>
          <a:prstGeom prst="roundRect">
            <a:avLst>
              <a:gd name="adj" fmla="val 5357"/>
            </a:avLst>
          </a:prstGeom>
          <a:solidFill>
            <a:srgbClr val="FA4F24">
              <a:alpha val="16000"/>
            </a:srgbClr>
          </a:solidFill>
          <a:ln/>
        </p:spPr>
        <p:txBody>
          <a:bodyPr/>
          <a:p/>
        </p:txBody>
      </p:sp>
      <p:sp>
        <p:nvSpPr>
          <p:cNvPr id="1424" name="" descr="{&quot;isTemplate&quot;:true,&quot;type&quot;:&quot;text&quot;}"/>
          <p:cNvSpPr txBox="1"/>
          <p:nvPr/>
        </p:nvSpPr>
        <p:spPr>
          <a:xfrm rot="0" flipH="0" flipV="0">
            <a:off x="895350" y="5210175"/>
            <a:ext cx="3248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一</a:t>
            </a: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先定主键，再谈匹配</a:t>
            </a:r>
            <a:endParaRPr/>
          </a:p>
        </p:txBody>
      </p:sp>
      <p:sp>
        <p:nvSpPr>
          <p:cNvPr id="1425" name="" descr="{&quot;isTemplate&quot;:true,&quot;type&quot;:&quot;text&quot;}"/>
          <p:cNvSpPr txBox="1"/>
          <p:nvPr/>
        </p:nvSpPr>
        <p:spPr>
          <a:xfrm rot="0" flipH="0" flipV="0">
            <a:off x="895350" y="5391150"/>
            <a:ext cx="324802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主键策略没定就调匹配规则，等于在错误的空间里做优化</a:t>
            </a:r>
            <a:endParaRPr/>
          </a:p>
        </p:txBody>
      </p:sp>
      <p:sp>
        <p:nvSpPr>
          <p:cNvPr id="1426" name=""/>
          <p:cNvSpPr/>
          <p:nvPr/>
        </p:nvSpPr>
        <p:spPr>
          <a:xfrm rot="0" flipH="0" flipV="0">
            <a:off x="4352925" y="5124450"/>
            <a:ext cx="3486150" cy="533400"/>
          </a:xfrm>
          <a:prstGeom prst="roundRect">
            <a:avLst>
              <a:gd name="adj" fmla="val 5357"/>
            </a:avLst>
          </a:prstGeom>
          <a:solidFill>
            <a:srgbClr val="FA4F24">
              <a:alpha val="16000"/>
            </a:srgbClr>
          </a:solidFill>
          <a:ln/>
        </p:spPr>
        <p:txBody>
          <a:bodyPr/>
          <a:p/>
        </p:txBody>
      </p:sp>
      <p:sp>
        <p:nvSpPr>
          <p:cNvPr id="1427" name="" descr="{&quot;isTemplate&quot;:true,&quot;type&quot;:&quot;text&quot;}"/>
          <p:cNvSpPr txBox="1"/>
          <p:nvPr/>
        </p:nvSpPr>
        <p:spPr>
          <a:xfrm rot="0" flipH="0" flipV="0">
            <a:off x="4467225" y="5210175"/>
            <a:ext cx="3257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二</a:t>
            </a: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先只读投影，再开放写入</a:t>
            </a:r>
            <a:endParaRPr/>
          </a:p>
        </p:txBody>
      </p:sp>
      <p:sp>
        <p:nvSpPr>
          <p:cNvPr id="1428" name="" descr="{&quot;isTemplate&quot;:true,&quot;type&quot;:&quot;text&quot;}"/>
          <p:cNvSpPr txBox="1"/>
          <p:nvPr/>
        </p:nvSpPr>
        <p:spPr>
          <a:xfrm rot="0" flipH="0" flipV="0">
            <a:off x="4467225" y="5391150"/>
            <a:ext cx="32575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先让业务看清合并结果，再让人改；反序就是历史数据被污染</a:t>
            </a:r>
            <a:endParaRPr/>
          </a:p>
        </p:txBody>
      </p:sp>
      <p:sp>
        <p:nvSpPr>
          <p:cNvPr id="1429" name=""/>
          <p:cNvSpPr/>
          <p:nvPr/>
        </p:nvSpPr>
        <p:spPr>
          <a:xfrm rot="0" flipH="0" flipV="0">
            <a:off x="7934325" y="5124450"/>
            <a:ext cx="3476625" cy="533400"/>
          </a:xfrm>
          <a:prstGeom prst="roundRect">
            <a:avLst>
              <a:gd name="adj" fmla="val 5357"/>
            </a:avLst>
          </a:prstGeom>
          <a:solidFill>
            <a:srgbClr val="FA4F24">
              <a:alpha val="16000"/>
            </a:srgbClr>
          </a:solidFill>
          <a:ln/>
        </p:spPr>
        <p:txBody>
          <a:bodyPr/>
          <a:p/>
        </p:txBody>
      </p:sp>
      <p:sp>
        <p:nvSpPr>
          <p:cNvPr id="1430" name="" descr="{&quot;isTemplate&quot;:true,&quot;type&quot;:&quot;text&quot;}"/>
          <p:cNvSpPr txBox="1"/>
          <p:nvPr/>
        </p:nvSpPr>
        <p:spPr>
          <a:xfrm rot="0" flipH="0" flipV="0">
            <a:off x="8048625" y="5210175"/>
            <a:ext cx="3248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三</a:t>
            </a: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先有撤销能力，再谈规模化合并</a:t>
            </a:r>
            <a:endParaRPr/>
          </a:p>
        </p:txBody>
      </p:sp>
      <p:sp>
        <p:nvSpPr>
          <p:cNvPr id="1431" name="" descr="{&quot;isTemplate&quot;:true,&quot;type&quot;:&quot;text&quot;}"/>
          <p:cNvSpPr txBox="1"/>
          <p:nvPr/>
        </p:nvSpPr>
        <p:spPr>
          <a:xfrm rot="0" flipH="0" flipV="0">
            <a:off x="8048625" y="5391150"/>
            <a:ext cx="324802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没有</a:t>
            </a:r>
            <a:r>
              <a:rPr lang="en-US" sz="82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 xml:space="preserve"> unresolve </a:t>
            </a:r>
            <a:r>
              <a:rPr lang="zh-CN" sz="82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的合并系统，规模化就是规模化制造错误</a:t>
            </a:r>
            <a:endParaRPr/>
          </a:p>
        </p:txBody>
      </p:sp>
      <p:sp>
        <p:nvSpPr>
          <p:cNvPr id="1432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433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34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主数据咨询方法论</a:t>
            </a:r>
            <a:endParaRPr/>
          </a:p>
        </p:txBody>
      </p:sp>
      <p:sp>
        <p:nvSpPr>
          <p:cNvPr id="1435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04 / 30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436" name="" descr="&lt;Slide style={{ width: 1280, height: 720, background: '#0F1423' }}&gt;&#13;&#10;  &lt;Box style={{ position: 'absolute', left: 0, top: 0, width: 1280, height: 720, background: 'linear-gradient(135deg, #0F1423 0%, #2A1810 100%)' }} /&gt;&#13;&#10;  &lt;Box style={{ position: 'absolute', right: 0, top: 0, width: 560, height: 720, background: 'linear-gradient(200deg, rgba(250,79,36,0.28) 0%, rgba(250,79,36,0) 70%)' }} /&gt;&#13;&#10;&#13;&#10;  &lt;Box style={{ position: 'absolute', right: 70, top: 110 }}&gt;&#13;&#10;    &lt;Text style={{ fontSize: 300, fontWeight: 'bold', color: 'rgba(255,255,255,0.08)', lineHeight: 1.0 }}&gt;01&lt;/Text&gt;&#13;&#10;  &lt;/Box&gt;&#13;&#10;&#13;&#10;  &lt;Box style={{ position: 'absolute', left: 88, top: 232, width: 760, flexDirection: 'column' }}&gt;&#13;&#10;    &lt;Text style={{ fontSize: 15, color: 'rgba(255,255,255,0.5)', letterSpacing: 3 }}&gt;PART 01&lt;/Text&gt;&#13;&#10;    &lt;Box style={{ width: 72, height: 5, background: '#FA4F24', marginTop: 22 }} /&gt;&#13;&#10;    &lt;Text style={{ fontSize: 52, fontWeight: 'bold', color: '#FFFFFF', marginTop: 28, lineHeight: 1.15 }}&gt;主数据本体论&lt;/Text&gt;&#13;&#10;    &lt;Text style={{ fontSize: 17, color: 'rgba(255,255,255,0.62)', letterSpacing: 2, marginTop: 20 }}&gt;WHAT MASTER DATA REALLY IS&lt;/Text&gt;&#13;&#10;    &lt;Text style={{ fontSize: 19, color: 'rgba(255,255,255,0.85)', marginTop: 26, lineHeight: 1.6 }}&gt;主数据不是一个模块，是一种建模方式&lt;/Text&gt;&#13;&#10;    &lt;Text style={{ fontSize: 14.5, color: 'rgba(255,255,255,0.55)', marginTop: 16, lineHeight: 1.55, width: 720 }}&gt;这一部分回答：为什么Palantir 官方文档里找不到 MDM；黄金记录的三个层次；实体解析怎么做；合并为什么必须可撤销。&lt;/Text&gt;&#13;&#10;  &lt;/Box&gt;&#13;&#10;&#13;&#10;  &lt;Box style={{ position: 'absolute', right: 88, bottom: 64, flexDirection: 'row', alignItems: 'center', gap: 12 }}&gt;&#13;&#10;    &lt;Box style={{ width: 14, height: 14, background: '#FA4F24' }} /&gt;&#13;&#10;    &lt;Text style={{ fontSize: 14, color: 'rgba(255,255,255,0.5)' }}&gt;硕磐机密 · 主数据咨询方法论&lt;/Text&gt;&#13;&#10;    &lt;Text style={{ fontSize: 14, color: 'rgba(255,255,255,0.5)', marginLeft: 12 }}&gt;@@PAGE@@ / 30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4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439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1440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441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723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01</a:t>
            </a:r>
            <a:endParaRPr/>
          </a:p>
        </p:txBody>
      </p:sp>
      <p:sp>
        <p:nvSpPr>
          <p:cNvPr id="1442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43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7239000" cy="6858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主数据本体论</a:t>
            </a:r>
            <a:endParaRPr/>
          </a:p>
        </p:txBody>
      </p:sp>
      <p:sp>
        <p:nvSpPr>
          <p:cNvPr id="1444" name="" descr="{&quot;isTemplate&quot;:true,&quot;type&quot;:&quot;text&quot;}"/>
          <p:cNvSpPr txBox="1"/>
          <p:nvPr/>
        </p:nvSpPr>
        <p:spPr>
          <a:xfrm rot="0" flipH="0" flipV="0">
            <a:off x="838200" y="3781425"/>
            <a:ext cx="723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WHAT MASTER DATA REALLY IS</a:t>
            </a:r>
            <a:endParaRPr/>
          </a:p>
        </p:txBody>
      </p:sp>
      <p:sp>
        <p:nvSpPr>
          <p:cNvPr id="1445" name="" descr="{&quot;isTemplate&quot;:true,&quot;type&quot;:&quot;text&quot;}"/>
          <p:cNvSpPr txBox="1"/>
          <p:nvPr/>
        </p:nvSpPr>
        <p:spPr>
          <a:xfrm rot="0" flipH="0" flipV="0">
            <a:off x="838200" y="4229100"/>
            <a:ext cx="72390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主数据不是一个模块，是一种建模方式</a:t>
            </a:r>
            <a:endParaRPr/>
          </a:p>
        </p:txBody>
      </p:sp>
      <p:sp>
        <p:nvSpPr>
          <p:cNvPr id="1446" name="" descr="{&quot;isTemplate&quot;:true,&quot;type&quot;:&quot;text&quot;}"/>
          <p:cNvSpPr txBox="1"/>
          <p:nvPr/>
        </p:nvSpPr>
        <p:spPr>
          <a:xfrm rot="0" flipH="0" flipV="0">
            <a:off x="838200" y="4733925"/>
            <a:ext cx="6858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88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这一部分回答：为什么</a:t>
            </a:r>
            <a:r>
              <a:rPr lang="en-US" sz="1088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 xml:space="preserve">Palantir </a:t>
            </a:r>
            <a:r>
              <a:rPr lang="zh-CN" sz="1088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官方文档里找不到</a:t>
            </a:r>
            <a:r>
              <a:rPr lang="en-US" sz="1088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 xml:space="preserve"> MDM</a:t>
            </a:r>
            <a:r>
              <a:rPr lang="zh-CN" sz="1088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；黄金记录的三个层次；实体解析怎么做；合并为什么必须可撤销。</a:t>
            </a:r>
            <a:endParaRPr/>
          </a:p>
        </p:txBody>
      </p:sp>
      <p:sp>
        <p:nvSpPr>
          <p:cNvPr id="1447" name=""/>
          <p:cNvSpPr/>
          <p:nvPr/>
        </p:nvSpPr>
        <p:spPr>
          <a:xfrm rot="0" flipH="0" flipV="0">
            <a:off x="7981950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48" name="" descr="{&quot;isTemplate&quot;:true,&quot;type&quot;:&quot;text&quot;}"/>
          <p:cNvSpPr txBox="1"/>
          <p:nvPr/>
        </p:nvSpPr>
        <p:spPr>
          <a:xfrm rot="0" flipH="0" flipV="0">
            <a:off x="8229600" y="608647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主数据咨询方法论</a:t>
            </a:r>
            <a:endParaRPr/>
          </a:p>
        </p:txBody>
      </p:sp>
      <p:sp>
        <p:nvSpPr>
          <p:cNvPr id="1449" name="" descr="{&quot;isTemplate&quot;:true,&quot;type&quot;:&quot;text&quot;}"/>
          <p:cNvSpPr txBox="1"/>
          <p:nvPr/>
        </p:nvSpPr>
        <p:spPr>
          <a:xfrm rot="0" flipH="0" flipV="0">
            <a:off x="10172700" y="6086475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@@PAGE@@ / 30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450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为什么 Palantir 官方文档里找不到 MDM&#10;    &lt;/Text&gt;&#10;    &lt;Text style={{ fontSize: 20, color: '#8A8F99', marginTop: 8 }}&gt;&#10;      翻遍 Data Integration 与 Ontology 两章，没有一个叫「主数据」的模块——这不是产品缺项，是设计选择&#10;    &lt;/Text&gt;&#10;  &lt;/Box&gt;&#10;  &lt;Box style={{ height: 1, background: '#E8E8E8' }} /&gt;&#10;&#10;  &lt;Box style={{ paddingTop: 14, paddingBottom: 8, height: 479, flexDirection: 'column', gap: 10 }}&gt;&#10;    &lt;Box style={{ height: 196, background: '#0F1423', borderRadius: 4, padding: '14px 18px', flexDirection: 'column' }}&gt;&#10;      &lt;Text style={{ fontSize: 14, fontWeight: 'bold', color: '#FBA15C' }}&gt;官方原话与它的含义&lt;/Text&gt;&#10;      &lt;Box style={{ flex: 1, marginTop: 11, flexDirection: 'row', gap: 10 }}&gt;&#10;        &lt;Box style={{ flex: 1.2, background: 'rgba(250,79,36,0.18)', borderRadius: 3, borderLeft: '3px solid #FA4F24', padding: '11px 13px', flexDirection: 'column' }}&gt;&#10;          &lt;Text style={{ fontSize: 13, fontWeight: 'bold', color: '#FA4F24' }}&gt;本体是「运营层」&lt;/Text&gt;&#10;          &lt;Text style={{ fontSize: 11.5, color: 'rgba(255,255,255,0.85)', marginTop: 6, lineHeight: 1.55 }}&gt;&#10;            本体坐在数据集、虚拟表、模型之上，把它们连到真实世界的对应物——设备、产品这类物理资产，也包括客户订单、财务交易这类概念。很多场景下它是组织的数字孪生。&#10;          &lt;/Text&gt;&#10;        &lt;/Box&gt;&#10;        &lt;Box style={{ flex: 1, background: 'rgba(255,255,255,0.07)', borderRadius: 3, borderLeft: '3px solid #FBA15C', padding: '11px 13px', flexDirection: 'column' }}&gt;&#10;          &lt;Text style={{ fontSize: 13, fontWeight: 'bold', color: '#FFFFFF' }}&gt;「对象类型」就是主数据的 schema&lt;/Text&gt;&#10;          &lt;Text style={{ fontSize: 11.5, color: 'rgba(255,255,255,0.82)', marginTop: 6, lineHeight: 1.55 }}&gt;&#10;            官方类比：对象类型 ≈ 数据集，对象 ≈ 数据集里的一行，对象集 ≈ 过滤后的一组行。主数据不是一个新概念，它就是对象类型加对象实例。&#10;          &lt;/Text&gt;&#10;        &lt;/Box&gt;&#10;        &lt;Box style={{ flex: 1, background: 'rgba(255,255,255,0.07)', borderRadius: 3, borderLeft: '3px solid #FBA15C', padding: '11px 13px', flexDirection: 'column' }}&gt;&#10;          &lt;Text style={{ fontSize: 13, fontWeight: 'bold', color: '#FFFFFF' }}&gt;对象有两种产生方式&lt;/Text&gt;&#10;          &lt;Text style={{ fontSize: 11.5, color: 'rgba(255,255,255,0.82)', marginTop: 6, lineHeight: 1.55 }}&gt;&#10;            加一个 backing datasource，或者配置一个会创建对象的 action。如果所有对象都靠动作创建，可以直接建没有 datasource 的对象类型。&#10;          &lt;/Text&gt;&#10;        &lt;/Box&gt;&#10;      &lt;/Box&gt;&#10;      &lt;Text style={{ fontSize: 11.5, color: 'rgba(255,255,255,0.72)', marginTop: 10, lineHeight: 1.5 }}&gt;&#10;        推论：在这一套设计里，「主数据域」天然就是一组对象类型 + 一组链接类型 + 一组动作类型。它不需要单独的模块，因为它就是本体的原生组成。&#10;      &lt;/Text&gt;&#10;    &lt;/Box&gt;&#10;&#10;    &lt;Box style={{ flex: 1, flexDirection: 'row', gap: 10 }}&gt;&#10;      &lt;Box style={{ flex: 1, background: '#FFF3EE', borderRadius: 4, borderLeft: '4px solid #FA4F24', padding: '13px 17px', flexDirection: 'column', justifyContent: 'center' }}&gt;&#10;        &lt;Text style={{ fontSize: 14, fontWeight: 'bold', color: '#C43A17' }}&gt;这对咨询意味着什么&lt;/Text&gt;&#10;        &lt;Text style={{ fontSize: 12, color: '#3A4050', marginTop: 7, lineHeight: 1.6 }}&gt;&#10;          传统 MDM 项目的第一句话通常是「我们先上一个 MDM 套件」。这套思路在本体式的架构里是错的——&lt;tspan style={{ fontWeight: 'bold' }}&gt;先建对象类型，再把数据接进来&lt;/tspan&gt;，主数据是建模的自然结果。&#10;        &lt;/Text&gt;&#10;        &lt;Text style={{ fontSize: 12, color: '#3A4050', marginTop: 8, lineHeight: 1.6 }}&gt;&#10;          差别在于：传统 MDM 是「数据进系统」，本体是「现实映射到类型」。后者更难，但它是让主数据能直接驱动业务动作的前提。&#10;        &lt;/Text&gt;&#10;      &lt;/Box&gt;&#10;      &lt;Box style={{ flex: 1, background: '#F7F7F8', borderRadius: 4, padding: '13px 17px', flexDirection: 'column', justifyContent: 'center' }}&gt;&#10;        &lt;Text style={{ fontSize: 14, fontWeight: 'bold', color: '#0F1423' }}&gt;也要说清楚另一半&lt;/Text&gt;&#10;        &lt;Text style={{ fontSize: 12, color: '#3A4050', marginTop: 7, lineHeight: 1.6 }}&gt;&#10;          不需要独立模块，不等于不需要专门的投入。合并质量、仲裁规则、层级模型、匹配阈值——这四件事仍然是专业活，仍然是最容易被低估、最容易做砸的部分。&#10;        &lt;/Text&gt;&#10;        &lt;Box style={{ marginTop: 10, background: '#FFFFFF', borderRadius: 3, padding: '9px 11px' }}&gt;&#10;          &lt;Text style={{ fontSize: 11.5, color: '#3A4050', lineHeight: 1.5 }}&gt;&#10;            判断标准：主数据做得好不好，不看有没有模块，看业务问「这个客户到底是谁」，你能不能三秒内给出一个带来源、带置信度、带历史合并记录的答案。&#10;          &lt;/Text&gt;&#10;        &lt;/Box&gt;&#10;      &lt;/Box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主数据咨询方法论&lt;/Text&gt;&#10;    &lt;Text style={{ fontSize: 13, color: '#8A8F99', marginLeft: 'auto' }}&gt;06 / 3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52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为什么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Palantir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官方文档里找不到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MDM</a:t>
            </a:r>
            <a:endParaRPr/>
          </a:p>
        </p:txBody>
      </p:sp>
      <p:sp>
        <p:nvSpPr>
          <p:cNvPr id="1453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翻遍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Data Integration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与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Ontology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两章，没有一个叫「主数据」的模块——这不是产品缺项，是设计选择</a:t>
            </a:r>
            <a:endParaRPr/>
          </a:p>
        </p:txBody>
      </p:sp>
      <p:sp>
        <p:nvSpPr>
          <p:cNvPr id="1454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455" name=""/>
          <p:cNvSpPr/>
          <p:nvPr/>
        </p:nvSpPr>
        <p:spPr>
          <a:xfrm rot="0" flipH="0" flipV="0">
            <a:off x="609600" y="1285875"/>
            <a:ext cx="10972800" cy="1866900"/>
          </a:xfrm>
          <a:prstGeom prst="roundRect">
            <a:avLst>
              <a:gd name="adj" fmla="val 204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456" name="" descr="{&quot;isTemplate&quot;:true,&quot;type&quot;:&quot;text&quot;}"/>
          <p:cNvSpPr txBox="1"/>
          <p:nvPr/>
        </p:nvSpPr>
        <p:spPr>
          <a:xfrm rot="0" flipH="0" flipV="0">
            <a:off x="781050" y="1419225"/>
            <a:ext cx="10629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官方原话与它的含义</a:t>
            </a:r>
            <a:endParaRPr/>
          </a:p>
        </p:txBody>
      </p:sp>
      <p:sp>
        <p:nvSpPr>
          <p:cNvPr id="1457" name=""/>
          <p:cNvSpPr/>
          <p:nvPr/>
        </p:nvSpPr>
        <p:spPr>
          <a:xfrm rot="0" flipH="0" flipV="0">
            <a:off x="809625" y="1685925"/>
            <a:ext cx="3914775" cy="1038225"/>
          </a:xfrm>
          <a:prstGeom prst="roundRect">
            <a:avLst>
              <a:gd name="adj" fmla="val 2752"/>
            </a:avLst>
          </a:prstGeom>
          <a:solidFill>
            <a:srgbClr val="FA4F24">
              <a:alpha val="18000"/>
            </a:srgbClr>
          </a:solidFill>
          <a:ln/>
        </p:spPr>
        <p:txBody>
          <a:bodyPr/>
          <a:p/>
        </p:txBody>
      </p:sp>
      <p:sp>
        <p:nvSpPr>
          <p:cNvPr id="1458" name=""/>
          <p:cNvSpPr/>
          <p:nvPr/>
        </p:nvSpPr>
        <p:spPr>
          <a:xfrm rot="0" flipH="0" flipV="0">
            <a:off x="809625" y="1685925"/>
            <a:ext cx="3914775" cy="1038225"/>
          </a:xfrm>
          <a:custGeom>
            <a:pathLst>
              <a:path w="411" h="109">
                <a:moveTo>
                  <a:pt x="3" y="109"/>
                </a:moveTo>
                <a:cubicBezTo>
                  <a:pt x="1" y="109"/>
                  <a:pt x="0" y="108"/>
                  <a:pt x="0" y="106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09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59" name="" descr="{&quot;isTemplate&quot;:true,&quot;type&quot;:&quot;text&quot;}"/>
          <p:cNvSpPr txBox="1"/>
          <p:nvPr/>
        </p:nvSpPr>
        <p:spPr>
          <a:xfrm rot="0" flipH="0" flipV="0">
            <a:off x="933450" y="1790700"/>
            <a:ext cx="3638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A4F24"/>
                </a:solidFill>
                <a:latin typeface="Microsoft YaHei"/>
                <a:ea typeface="Microsoft YaHei"/>
              </a:rPr>
              <a:t>本体是「运营层」</a:t>
            </a:r>
            <a:endParaRPr/>
          </a:p>
        </p:txBody>
      </p:sp>
      <p:sp>
        <p:nvSpPr>
          <p:cNvPr id="1460" name="" descr="{&quot;isTemplate&quot;:true,&quot;type&quot;:&quot;text&quot;}"/>
          <p:cNvSpPr txBox="1"/>
          <p:nvPr/>
        </p:nvSpPr>
        <p:spPr>
          <a:xfrm rot="0" flipH="0" flipV="0">
            <a:off x="933450" y="2000250"/>
            <a:ext cx="36385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本体坐在数据集、虚拟表、模型之上，把它们连到真实世界的对应物——设备、产品这类物理资产，也包括客户订单、财务交易这类概念。很多场景下它是组织的数字孪生。</a:t>
            </a:r>
            <a:endParaRPr/>
          </a:p>
        </p:txBody>
      </p:sp>
      <p:sp>
        <p:nvSpPr>
          <p:cNvPr id="1461" name=""/>
          <p:cNvSpPr/>
          <p:nvPr/>
        </p:nvSpPr>
        <p:spPr>
          <a:xfrm rot="0" flipH="0" flipV="0">
            <a:off x="4819650" y="1685925"/>
            <a:ext cx="3267075" cy="1038225"/>
          </a:xfrm>
          <a:prstGeom prst="roundRect">
            <a:avLst>
              <a:gd name="adj" fmla="val 2752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462" name=""/>
          <p:cNvSpPr/>
          <p:nvPr/>
        </p:nvSpPr>
        <p:spPr>
          <a:xfrm rot="0" flipH="0" flipV="0">
            <a:off x="4819650" y="1685925"/>
            <a:ext cx="3267075" cy="1038225"/>
          </a:xfrm>
          <a:custGeom>
            <a:pathLst>
              <a:path w="343" h="109">
                <a:moveTo>
                  <a:pt x="3" y="109"/>
                </a:moveTo>
                <a:cubicBezTo>
                  <a:pt x="1" y="109"/>
                  <a:pt x="0" y="108"/>
                  <a:pt x="0" y="106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09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463" name="" descr="{&quot;isTemplate&quot;:true,&quot;type&quot;:&quot;text&quot;}"/>
          <p:cNvSpPr txBox="1"/>
          <p:nvPr/>
        </p:nvSpPr>
        <p:spPr>
          <a:xfrm rot="0" flipH="0" flipV="0">
            <a:off x="4943475" y="1790700"/>
            <a:ext cx="2990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「对象类型」就是主数据的</a:t>
            </a: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schema</a:t>
            </a:r>
            <a:endParaRPr/>
          </a:p>
        </p:txBody>
      </p:sp>
      <p:sp>
        <p:nvSpPr>
          <p:cNvPr id="1464" name="" descr="{&quot;isTemplate&quot;:true,&quot;type&quot;:&quot;text&quot;}"/>
          <p:cNvSpPr txBox="1"/>
          <p:nvPr/>
        </p:nvSpPr>
        <p:spPr>
          <a:xfrm rot="0" flipH="0" flipV="0">
            <a:off x="4943475" y="2000250"/>
            <a:ext cx="29908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官方类比：对象类型</a:t>
            </a:r>
            <a:r>
              <a:rPr lang="en-US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≈ </a:t>
            </a: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数据集，对象</a:t>
            </a:r>
            <a:r>
              <a:rPr lang="en-US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≈ </a:t>
            </a: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数据集里的一行，对象集</a:t>
            </a:r>
            <a:r>
              <a:rPr lang="en-US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≈ </a:t>
            </a: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过滤后的一组行。主数据不是一个新概念，它就是对象类型加对象实例。</a:t>
            </a:r>
            <a:endParaRPr/>
          </a:p>
        </p:txBody>
      </p:sp>
      <p:sp>
        <p:nvSpPr>
          <p:cNvPr id="1465" name=""/>
          <p:cNvSpPr/>
          <p:nvPr/>
        </p:nvSpPr>
        <p:spPr>
          <a:xfrm rot="0" flipH="0" flipV="0">
            <a:off x="8181975" y="1685925"/>
            <a:ext cx="3257550" cy="1038225"/>
          </a:xfrm>
          <a:prstGeom prst="roundRect">
            <a:avLst>
              <a:gd name="adj" fmla="val 2752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466" name=""/>
          <p:cNvSpPr/>
          <p:nvPr/>
        </p:nvSpPr>
        <p:spPr>
          <a:xfrm rot="0" flipH="0" flipV="0">
            <a:off x="8181975" y="1685925"/>
            <a:ext cx="3257550" cy="1038225"/>
          </a:xfrm>
          <a:custGeom>
            <a:pathLst>
              <a:path w="342" h="109">
                <a:moveTo>
                  <a:pt x="3" y="109"/>
                </a:moveTo>
                <a:cubicBezTo>
                  <a:pt x="1" y="109"/>
                  <a:pt x="0" y="108"/>
                  <a:pt x="0" y="106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09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467" name="" descr="{&quot;isTemplate&quot;:true,&quot;type&quot;:&quot;text&quot;}"/>
          <p:cNvSpPr txBox="1"/>
          <p:nvPr/>
        </p:nvSpPr>
        <p:spPr>
          <a:xfrm rot="0" flipH="0" flipV="0">
            <a:off x="8305800" y="1790700"/>
            <a:ext cx="2981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对象有两种产生方式</a:t>
            </a:r>
            <a:endParaRPr/>
          </a:p>
        </p:txBody>
      </p:sp>
      <p:sp>
        <p:nvSpPr>
          <p:cNvPr id="1468" name="" descr="{&quot;isTemplate&quot;:true,&quot;type&quot;:&quot;text&quot;}"/>
          <p:cNvSpPr txBox="1"/>
          <p:nvPr/>
        </p:nvSpPr>
        <p:spPr>
          <a:xfrm rot="0" flipH="0" flipV="0">
            <a:off x="8305800" y="2000250"/>
            <a:ext cx="29813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加一个</a:t>
            </a:r>
            <a:r>
              <a:rPr lang="en-US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backing datasource</a:t>
            </a: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，或者配置一个会创建对象的</a:t>
            </a:r>
            <a:r>
              <a:rPr lang="en-US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action</a:t>
            </a: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。如果所有对象都靠动作创建，可以直接建没有</a:t>
            </a:r>
            <a:r>
              <a:rPr lang="en-US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datasource </a:t>
            </a: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的对象类型。</a:t>
            </a:r>
            <a:endParaRPr/>
          </a:p>
        </p:txBody>
      </p:sp>
      <p:sp>
        <p:nvSpPr>
          <p:cNvPr id="1469" name="" descr="{&quot;isTemplate&quot;:true,&quot;type&quot;:&quot;text&quot;}"/>
          <p:cNvSpPr txBox="1"/>
          <p:nvPr/>
        </p:nvSpPr>
        <p:spPr>
          <a:xfrm rot="0" flipH="0" flipV="0">
            <a:off x="781050" y="2819400"/>
            <a:ext cx="106299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推论：在这一套设计里，「主数据域」天然就是一组对象类型</a:t>
            </a:r>
            <a:r>
              <a:rPr lang="en-US" sz="863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863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一组链接类型</a:t>
            </a:r>
            <a:r>
              <a:rPr lang="en-US" sz="863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863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一组动作类型。它不需要单独的模块，因为它就是本体的原生组成。</a:t>
            </a:r>
            <a:endParaRPr/>
          </a:p>
        </p:txBody>
      </p:sp>
      <p:sp>
        <p:nvSpPr>
          <p:cNvPr id="1470" name=""/>
          <p:cNvSpPr/>
          <p:nvPr/>
        </p:nvSpPr>
        <p:spPr>
          <a:xfrm rot="0" flipH="0" flipV="0">
            <a:off x="647700" y="3248025"/>
            <a:ext cx="5438775" cy="2390775"/>
          </a:xfrm>
          <a:prstGeom prst="roundRect">
            <a:avLst>
              <a:gd name="adj" fmla="val 1594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471" name=""/>
          <p:cNvSpPr/>
          <p:nvPr/>
        </p:nvSpPr>
        <p:spPr>
          <a:xfrm rot="0" flipH="0" flipV="0">
            <a:off x="647700" y="3248025"/>
            <a:ext cx="5438775" cy="2390775"/>
          </a:xfrm>
          <a:custGeom>
            <a:pathLst>
              <a:path w="571" h="251">
                <a:moveTo>
                  <a:pt x="4" y="251"/>
                </a:moveTo>
                <a:cubicBezTo>
                  <a:pt x="2" y="251"/>
                  <a:pt x="0" y="249"/>
                  <a:pt x="0" y="24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5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72" name="" descr="{&quot;isTemplate&quot;:true,&quot;type&quot;:&quot;text&quot;}"/>
          <p:cNvSpPr txBox="1"/>
          <p:nvPr/>
        </p:nvSpPr>
        <p:spPr>
          <a:xfrm rot="0" flipH="0" flipV="0">
            <a:off x="809625" y="3848100"/>
            <a:ext cx="5076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这对咨询意味着什么</a:t>
            </a:r>
            <a:endParaRPr/>
          </a:p>
        </p:txBody>
      </p:sp>
      <p:sp>
        <p:nvSpPr>
          <p:cNvPr id="1473" name="" descr="{&quot;isTemplate&quot;:true,&quot;type&quot;:&quot;text&quot;}"/>
          <p:cNvSpPr txBox="1"/>
          <p:nvPr/>
        </p:nvSpPr>
        <p:spPr>
          <a:xfrm rot="0" flipH="0" flipV="0">
            <a:off x="809625" y="4076700"/>
            <a:ext cx="507682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传统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MDM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项目的第一句话通常是「我们先上一个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MDM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套件」。这套思路在本体式的架构里是错的——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先建对象类型，再把数据接进来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，主数据是建模的自然结果。</a:t>
            </a:r>
            <a:endParaRPr/>
          </a:p>
        </p:txBody>
      </p:sp>
      <p:sp>
        <p:nvSpPr>
          <p:cNvPr id="1474" name="" descr="{&quot;isTemplate&quot;:true,&quot;type&quot;:&quot;text&quot;}"/>
          <p:cNvSpPr txBox="1"/>
          <p:nvPr/>
        </p:nvSpPr>
        <p:spPr>
          <a:xfrm rot="0" flipH="0" flipV="0">
            <a:off x="809625" y="4600575"/>
            <a:ext cx="507682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差别在于：传统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MDM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是「数据进系统」，本体是「现实映射到类型」。后者更难，但它是让主数据能直接驱动业务动作的前提。</a:t>
            </a:r>
            <a:endParaRPr/>
          </a:p>
        </p:txBody>
      </p:sp>
      <p:sp>
        <p:nvSpPr>
          <p:cNvPr id="1475" name=""/>
          <p:cNvSpPr/>
          <p:nvPr/>
        </p:nvSpPr>
        <p:spPr>
          <a:xfrm rot="0" flipH="0" flipV="0">
            <a:off x="6143625" y="3248025"/>
            <a:ext cx="5438775" cy="2390775"/>
          </a:xfrm>
          <a:prstGeom prst="roundRect">
            <a:avLst>
              <a:gd name="adj" fmla="val 159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76" name="" descr="{&quot;isTemplate&quot;:true,&quot;type&quot;:&quot;text&quot;}"/>
          <p:cNvSpPr txBox="1"/>
          <p:nvPr/>
        </p:nvSpPr>
        <p:spPr>
          <a:xfrm rot="0" flipH="0" flipV="0">
            <a:off x="6305550" y="3771900"/>
            <a:ext cx="5114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也要说清楚另一半</a:t>
            </a:r>
            <a:endParaRPr/>
          </a:p>
        </p:txBody>
      </p:sp>
      <p:sp>
        <p:nvSpPr>
          <p:cNvPr id="1477" name="" descr="{&quot;isTemplate&quot;:true,&quot;type&quot;:&quot;text&quot;}"/>
          <p:cNvSpPr txBox="1"/>
          <p:nvPr/>
        </p:nvSpPr>
        <p:spPr>
          <a:xfrm rot="0" flipH="0" flipV="0">
            <a:off x="6305550" y="4000500"/>
            <a:ext cx="511492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不需要独立模块，不等于不需要专门的投入。合并质量、仲裁规则、层级模型、匹配阈值——这四件事仍然是专业活，仍然是最容易被低估、最容易做砸的部分。</a:t>
            </a:r>
            <a:endParaRPr/>
          </a:p>
        </p:txBody>
      </p:sp>
      <p:sp>
        <p:nvSpPr>
          <p:cNvPr id="1478" name=""/>
          <p:cNvSpPr/>
          <p:nvPr/>
        </p:nvSpPr>
        <p:spPr>
          <a:xfrm rot="0" flipH="0" flipV="0">
            <a:off x="6305550" y="4543425"/>
            <a:ext cx="5114925" cy="571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79" name="" descr="{&quot;isTemplate&quot;:true,&quot;type&quot;:&quot;text&quot;}"/>
          <p:cNvSpPr txBox="1"/>
          <p:nvPr/>
        </p:nvSpPr>
        <p:spPr>
          <a:xfrm rot="0" flipH="0" flipV="0">
            <a:off x="6410325" y="4629150"/>
            <a:ext cx="4905375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判断标准：主数据做得好不好，不看有没有模块，看业务问「这个客户到底是谁」，你能不能三秒内给出一个带来源、带置信度、带历史合并记录的答案。</a:t>
            </a:r>
            <a:endParaRPr/>
          </a:p>
        </p:txBody>
      </p:sp>
      <p:sp>
        <p:nvSpPr>
          <p:cNvPr id="1480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481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82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主数据咨询方法论</a:t>
            </a:r>
            <a:endParaRPr/>
          </a:p>
        </p:txBody>
      </p:sp>
      <p:sp>
        <p:nvSpPr>
          <p:cNvPr id="1483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06 / 30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484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主数据的三个层次：记录 → 可信档案 → 情境系统&#10;    &lt;/Text&gt;&#10;    &lt;Text style={{ fontSize: 20, color: '#8A8F99', marginTop: 8 }}&gt;&#10;      黄金记录解决「这是不是同一个人」，情境系统解决「这个人现在该被怎么对待」&#10;    &lt;/Text&gt;&#10;  &lt;/Box&gt;&#10;  &lt;Box style={{ height: 1, background: '#E8E8E8' }} /&gt;&#10;&#10;  &lt;Box style={{ paddingTop: 14, paddingBottom: 8, height: 479, flexDirection: 'column', gap: 10 }}&gt;&#10;    &lt;Box style={{ height: 210, flexDirection: 'row', gap: 10 }}&gt;&#10;      &lt;Box style={{ flex: 1, background: '#F7F7F8', borderRadius: 4, padding: '13px 16px', flexDirection: 'column', borderTop: '4px solid #8A8F99' }}&gt;&#10;        &lt;Text style={{ fontSize: 11, color: '#8A8F99', fontWeight: 'bold', letterSpacing: 1 }}&gt;LEVEL 1&lt;/Text&gt;&#10;        &lt;Text style={{ fontSize: 18, fontWeight: 'bold', color: '#0F1423', marginTop: 5 }}&gt;黄金记录&lt;/Text&gt;&#10;        &lt;Text style={{ fontSize: 11.5, color: '#3A4050', marginTop: 8, lineHeight: 1.55, flex: 1 }}&gt;&#10;          把散落的记录合成一条干净的记录。解决的是身份问题：这个客户是谁、账号是哪个、地址是哪。&#10;        &lt;/Text&gt;&#10;        &lt;Box style={{ background: '#FFFFFF', borderRadius: 3, padding: '8px 10px' }}&gt;&#10;          &lt;Text style={{ fontSize: 11, color: '#3A4050', lineHeight: 1.45 }}&gt;&#10;            &lt;tspan style={{ fontWeight: 'bold', color: '#8A8F99' }}&gt;够了：&lt;/tspan&gt;报表一致、监管可查。&#10;          &lt;/Text&gt;&#10;        &lt;/Box&gt;&#10;      &lt;/Box&gt;&#10;&#10;      &lt;Box style={{ flex: 1, background: '#FFF3EE', borderRadius: 4, padding: '13px 16px', flexDirection: 'column', borderTop: '4px solid #F87D2F' }}&gt;&#10;        &lt;Text style={{ fontSize: 11, color: '#C43A17', fontWeight: 'bold', letterSpacing: 1 }}&gt;LEVEL 2&lt;/Text&gt;&#10;        &lt;Text style={{ fontSize: 18, fontWeight: 'bold', color: '#0F1423', marginTop: 5 }}&gt;可信档案&lt;/Text&gt;&#10;        &lt;Text style={{ fontSize: 11.5, color: '#3A4050', marginTop: 8, lineHeight: 1.55, flex: 1 }}&gt;&#10;          在黄金记录上补齐属性、交互、行为、关系与治理信息。解决的是完整度问题：这个客户持有什么、有哪些工单、同意状态如何。&#10;        &lt;/Text&gt;&#10;        &lt;Box style={{ background: '#FFFFFF', borderRadius: 3, padding: '8px 10px' }}&gt;&#10;          &lt;Text style={{ fontSize: 11, color: '#3A4050', lineHeight: 1.45 }}&gt;&#10;            &lt;tspan style={{ fontWeight: 'bold', color: '#C43A17' }}&gt;还不够：&lt;/tspan&gt;个性化与流失预测开始用它了，但推理链条仍要现拼。&#10;          &lt;/Text&gt;&#10;        &lt;/Box&gt;&#10;      &lt;/Box&gt;&#10;&#10;      &lt;Box style={{ flex: 1, background: '#0F1423', borderRadius: 4, padding: '13px 16px', flexDirection: 'column', borderTop: '4px solid #FA4F24' }}&gt;&#10;        &lt;Text style={{ fontSize: 11, color: '#FBA15C', fontWeight: 'bold', letterSpacing: 1 }}&gt;LEVEL 3&lt;/Text&gt;&#10;        &lt;Text style={{ fontSize: 18, fontWeight: 'bold', color: '#FFFFFF', marginTop: 5 }}&gt;情境系统&lt;/Text&gt;&#10;        &lt;Text style={{ fontSize: 11.5, color: 'rgba(255,255,255,0.85)', marginTop: 8, lineHeight: 1.55, flex: 1 }}&gt;&#10;          把实体之间的连接做成机器可解释。业务现实不是扁平的表，是网络：客户连着家庭、账户、交易、产品、服务历史、同意记录、位置、员工。&#10;        &lt;/Text&gt;&#10;        &lt;Box style={{ background: 'rgba(250,79,36,0.2)', borderRadius: 3, padding: '8px 10px' }}&gt;&#10;          &lt;Text style={{ fontSize: 11, color: 'rgba(255,255,255,0.92)', lineHeight: 1.45 }}&gt;&#10;            &lt;tspan style={{ fontWeight: 'bold', color: '#FBA15C' }}&gt;这一层：&lt;/tspan&gt;Agent 才敢回答「未来 15 年内退休的客户该配什么方案」这种跨域问题。&#10;          &lt;/Text&gt;&#10;        &lt;/Box&gt;&#10;      &lt;/Box&gt;&#10;    &lt;/Box&gt;&#10;&#10;    &lt;Box style={{ flex: 1, flexDirection: 'row', gap: 10 }}&gt;&#10;      &lt;Box style={{ flex: 1.15, background: '#FFFFFF', border: '1px solid #E8E8E8', borderRadius: 4, padding: '12px 17px', flexDirection: 'column' }}&gt;&#10;        &lt;Text style={{ fontSize: 14, fontWeight: 'bold', color: '#0F1423' }}&gt;两个查询的差别，就是这三层的差别&lt;/Text&gt;&#10;        &lt;Box style={{ flex: 1, marginTop: 10, flexDirection: 'column', gap: 9 }}&gt;&#10;          &lt;Box style={{ background: '#F7F7F8', borderRadius: 3, borderLeft: '3px solid #8A8F99', padding: '9px 12px' }}&gt;&#10;            &lt;Text style={{ fontSize: 12.5, fontWeight: 'bold', color: '#0F1423' }}&gt;「有多少客户超过 50 岁？」&lt;/Text&gt;&#10;            &lt;Text style={{ fontSize: 11, color: '#3A4050', marginTop: 4, lineHeight: 1.45 }}&gt;&#10;              这是一个数据问题——过滤一个出生日期字段就够了。黄金记录就能答。&#10;            &lt;/Text&gt;&#10;          &lt;/Box&gt;&#10;          &lt;Box style={{ background: '#FFF3EE', borderRadius: 3, borderLeft: '3px solid #FA4F24', padding: '9px 12px' }}&gt;&#10;            &lt;Text style={{ fontSize: 12.5, fontWeight: 'bold', color: '#0F1423' }}&gt;「未来 15 年内会退休的客户有多少，各自该配什么退休方案？」&lt;/Text&gt;&#10;            &lt;Text style={{ fontSize: 11, color: '#3A4050', marginTop: 4, lineHeight: 1.45 }}&gt;&#10;              这是一个推理问题——要同时理解年龄、地域、家庭结构、就业状态、税法、退休政策、风险偏好、账户历史与产品资格。&lt;tspan style={{ fontWeight: 'bold', color: '#C43A17' }}&gt;数据都在，但没有上下文，AI 无法可靠推理。&lt;/tspan&gt;&#10;            &lt;/Text&gt;&#10;          &lt;/Box&gt;&#10;        &lt;/Box&gt;&#10;      &lt;/Box&gt;&#10;      &lt;Box style={{ flex: 0.85, background: '#F7F7F8', borderRadius: 4, padding: '12px 17px', flexDirection: 'column', justifyContent: 'center' }}&gt;&#10;        &lt;Text style={{ fontSize: 14, fontWeight: 'bold', color: '#0F1423' }}&gt;对咨询的含义&lt;/Text&gt;&#10;        &lt;Text style={{ fontSize: 12, color: '#3A4050', marginTop: 8, lineHeight: 1.6 }}&gt;&#10;          很多企业卡在一级半：做了去重和统一，但没建关系与层级，于是 AI 项目只能用自然语言硬拼上下文，效果不稳定。&#10;        &lt;/Text&gt;&#10;        &lt;Text style={{ fontSize: 12, color: '#3A4050', marginTop: 8, lineHeight: 1.6 }}&gt;&#10;          建设顺序建议：一级做到干净，二级补齐属性，&lt;tspan style={{ fontWeight: 'bold', color: '#C43A17' }}&gt;三级优先做「有业务痛点的那个关系」&lt;/tspan&gt;，不要一上来做全域图谱。&#10;        &lt;/Text&gt;&#10;      &lt;/Box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主数据咨询方法论&lt;/Text&gt;&#10;    &lt;Text style={{ fontSize: 13, color: '#8A8F99', marginLeft: 'auto' }}&gt;07 / 3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8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主数据的三个层次：记录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可信档案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情境系统</a:t>
            </a:r>
            <a:endParaRPr/>
          </a:p>
        </p:txBody>
      </p:sp>
      <p:sp>
        <p:nvSpPr>
          <p:cNvPr id="148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黄金记录解决「这是不是同一个人」，情境系统解决「这个人现在该被怎么对待」</a:t>
            </a:r>
            <a:endParaRPr/>
          </a:p>
        </p:txBody>
      </p:sp>
      <p:sp>
        <p:nvSpPr>
          <p:cNvPr id="148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489" name=""/>
          <p:cNvSpPr/>
          <p:nvPr/>
        </p:nvSpPr>
        <p:spPr>
          <a:xfrm rot="0" flipH="0" flipV="0">
            <a:off x="609600" y="1323975"/>
            <a:ext cx="3590925" cy="2000250"/>
          </a:xfrm>
          <a:prstGeom prst="roundRect">
            <a:avLst>
              <a:gd name="adj" fmla="val 190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90" name=""/>
          <p:cNvSpPr/>
          <p:nvPr/>
        </p:nvSpPr>
        <p:spPr>
          <a:xfrm rot="0" flipH="0" flipV="0">
            <a:off x="609600" y="1323975"/>
            <a:ext cx="3590925" cy="2000250"/>
          </a:xfrm>
          <a:custGeom>
            <a:pathLst>
              <a:path w="377" h="210">
                <a:moveTo>
                  <a:pt x="373" y="0"/>
                </a:moveTo>
                <a:cubicBezTo>
                  <a:pt x="375" y="0"/>
                  <a:pt x="377" y="2"/>
                  <a:pt x="377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373" y="0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1491" name="" descr="{&quot;isTemplate&quot;:true,&quot;type&quot;:&quot;text&quot;}"/>
          <p:cNvSpPr txBox="1"/>
          <p:nvPr/>
        </p:nvSpPr>
        <p:spPr>
          <a:xfrm rot="0" flipH="0" flipV="0">
            <a:off x="762000" y="1447800"/>
            <a:ext cx="3286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75">
                <a:solidFill>
                  <a:srgbClr val="8A8F99"/>
                </a:solidFill>
                <a:latin typeface="Microsoft YaHei"/>
                <a:ea typeface="Microsoft YaHei"/>
              </a:rPr>
              <a:t>LEVEL 1</a:t>
            </a:r>
            <a:endParaRPr/>
          </a:p>
        </p:txBody>
      </p:sp>
      <p:sp>
        <p:nvSpPr>
          <p:cNvPr id="1492" name="" descr="{&quot;isTemplate&quot;:true,&quot;type&quot;:&quot;text&quot;}"/>
          <p:cNvSpPr txBox="1"/>
          <p:nvPr/>
        </p:nvSpPr>
        <p:spPr>
          <a:xfrm rot="0" flipH="0" flipV="0">
            <a:off x="762000" y="1628775"/>
            <a:ext cx="3286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黄金记录</a:t>
            </a:r>
            <a:endParaRPr/>
          </a:p>
        </p:txBody>
      </p:sp>
      <p:sp>
        <p:nvSpPr>
          <p:cNvPr id="1493" name="" descr="{&quot;isTemplate&quot;:true,&quot;type&quot;:&quot;text&quot;}"/>
          <p:cNvSpPr txBox="1"/>
          <p:nvPr/>
        </p:nvSpPr>
        <p:spPr>
          <a:xfrm rot="0" flipH="0" flipV="0">
            <a:off x="762000" y="1914525"/>
            <a:ext cx="3286125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把散落的记录合成一条干净的记录。解决的是身份问题：这个客户是谁、账号是哪个、地址是哪。</a:t>
            </a:r>
            <a:endParaRPr/>
          </a:p>
        </p:txBody>
      </p:sp>
      <p:sp>
        <p:nvSpPr>
          <p:cNvPr id="1494" name=""/>
          <p:cNvSpPr/>
          <p:nvPr/>
        </p:nvSpPr>
        <p:spPr>
          <a:xfrm rot="0" flipH="0" flipV="0">
            <a:off x="762000" y="2819400"/>
            <a:ext cx="3286125" cy="3429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95" name="" descr="{&quot;isTemplate&quot;:true,&quot;type&quot;:&quot;text&quot;}"/>
          <p:cNvSpPr txBox="1"/>
          <p:nvPr/>
        </p:nvSpPr>
        <p:spPr>
          <a:xfrm rot="0" flipH="0" flipV="0">
            <a:off x="857250" y="2895600"/>
            <a:ext cx="309562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够了：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报表一致、监管可查。</a:t>
            </a:r>
            <a:endParaRPr/>
          </a:p>
        </p:txBody>
      </p:sp>
      <p:sp>
        <p:nvSpPr>
          <p:cNvPr id="1496" name=""/>
          <p:cNvSpPr/>
          <p:nvPr/>
        </p:nvSpPr>
        <p:spPr>
          <a:xfrm rot="0" flipH="0" flipV="0">
            <a:off x="4295775" y="1323975"/>
            <a:ext cx="3600450" cy="2000250"/>
          </a:xfrm>
          <a:prstGeom prst="roundRect">
            <a:avLst>
              <a:gd name="adj" fmla="val 1905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497" name=""/>
          <p:cNvSpPr/>
          <p:nvPr/>
        </p:nvSpPr>
        <p:spPr>
          <a:xfrm rot="0" flipH="0" flipV="0">
            <a:off x="4295775" y="1323975"/>
            <a:ext cx="3600450" cy="2000250"/>
          </a:xfrm>
          <a:custGeom>
            <a:pathLst>
              <a:path w="378" h="210">
                <a:moveTo>
                  <a:pt x="374" y="0"/>
                </a:moveTo>
                <a:cubicBezTo>
                  <a:pt x="376" y="0"/>
                  <a:pt x="378" y="2"/>
                  <a:pt x="378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374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498" name="" descr="{&quot;isTemplate&quot;:true,&quot;type&quot;:&quot;text&quot;}"/>
          <p:cNvSpPr txBox="1"/>
          <p:nvPr/>
        </p:nvSpPr>
        <p:spPr>
          <a:xfrm rot="0" flipH="0" flipV="0">
            <a:off x="4448175" y="1447800"/>
            <a:ext cx="3295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75">
                <a:solidFill>
                  <a:srgbClr val="C43A17"/>
                </a:solidFill>
                <a:latin typeface="Microsoft YaHei"/>
                <a:ea typeface="Microsoft YaHei"/>
              </a:rPr>
              <a:t>LEVEL 2</a:t>
            </a:r>
            <a:endParaRPr/>
          </a:p>
        </p:txBody>
      </p:sp>
      <p:sp>
        <p:nvSpPr>
          <p:cNvPr id="1499" name="" descr="{&quot;isTemplate&quot;:true,&quot;type&quot;:&quot;text&quot;}"/>
          <p:cNvSpPr txBox="1"/>
          <p:nvPr/>
        </p:nvSpPr>
        <p:spPr>
          <a:xfrm rot="0" flipH="0" flipV="0">
            <a:off x="4448175" y="1628775"/>
            <a:ext cx="3295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可信档案</a:t>
            </a:r>
            <a:endParaRPr/>
          </a:p>
        </p:txBody>
      </p:sp>
      <p:sp>
        <p:nvSpPr>
          <p:cNvPr id="1500" name="" descr="{&quot;isTemplate&quot;:true,&quot;type&quot;:&quot;text&quot;}"/>
          <p:cNvSpPr txBox="1"/>
          <p:nvPr/>
        </p:nvSpPr>
        <p:spPr>
          <a:xfrm rot="0" flipH="0" flipV="0">
            <a:off x="4448175" y="1914525"/>
            <a:ext cx="329565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在黄金记录上补齐属性、交互、行为、关系与治理信息。解决的是完整度问题：这个客户持有什么、有哪些工单、同意状态如何。</a:t>
            </a:r>
            <a:endParaRPr/>
          </a:p>
        </p:txBody>
      </p:sp>
      <p:sp>
        <p:nvSpPr>
          <p:cNvPr id="1501" name=""/>
          <p:cNvSpPr/>
          <p:nvPr/>
        </p:nvSpPr>
        <p:spPr>
          <a:xfrm rot="0" flipH="0" flipV="0">
            <a:off x="4448175" y="2819400"/>
            <a:ext cx="3295650" cy="3429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02" name="" descr="{&quot;isTemplate&quot;:true,&quot;type&quot;:&quot;text&quot;}"/>
          <p:cNvSpPr txBox="1"/>
          <p:nvPr/>
        </p:nvSpPr>
        <p:spPr>
          <a:xfrm rot="0" flipH="0" flipV="0">
            <a:off x="4543425" y="2895600"/>
            <a:ext cx="310515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还不够：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个性化与流失预测开始用它了，但推理链条仍要现拼。</a:t>
            </a:r>
            <a:endParaRPr/>
          </a:p>
        </p:txBody>
      </p:sp>
      <p:sp>
        <p:nvSpPr>
          <p:cNvPr id="1503" name=""/>
          <p:cNvSpPr/>
          <p:nvPr/>
        </p:nvSpPr>
        <p:spPr>
          <a:xfrm rot="0" flipH="0" flipV="0">
            <a:off x="7991475" y="1323975"/>
            <a:ext cx="3590925" cy="2000250"/>
          </a:xfrm>
          <a:prstGeom prst="roundRect">
            <a:avLst>
              <a:gd name="adj" fmla="val 1905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504" name=""/>
          <p:cNvSpPr/>
          <p:nvPr/>
        </p:nvSpPr>
        <p:spPr>
          <a:xfrm rot="0" flipH="0" flipV="0">
            <a:off x="7991475" y="1323975"/>
            <a:ext cx="3590925" cy="2000250"/>
          </a:xfrm>
          <a:custGeom>
            <a:pathLst>
              <a:path w="377" h="210">
                <a:moveTo>
                  <a:pt x="373" y="0"/>
                </a:moveTo>
                <a:cubicBezTo>
                  <a:pt x="375" y="0"/>
                  <a:pt x="377" y="2"/>
                  <a:pt x="377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373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05" name="" descr="{&quot;isTemplate&quot;:true,&quot;type&quot;:&quot;text&quot;}"/>
          <p:cNvSpPr txBox="1"/>
          <p:nvPr/>
        </p:nvSpPr>
        <p:spPr>
          <a:xfrm rot="0" flipH="0" flipV="0">
            <a:off x="8143875" y="1447800"/>
            <a:ext cx="3286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 spc="75">
                <a:solidFill>
                  <a:srgbClr val="FBA15C"/>
                </a:solidFill>
                <a:latin typeface="Microsoft YaHei"/>
                <a:ea typeface="Microsoft YaHei"/>
              </a:rPr>
              <a:t>LEVEL 3</a:t>
            </a:r>
            <a:endParaRPr/>
          </a:p>
        </p:txBody>
      </p:sp>
      <p:sp>
        <p:nvSpPr>
          <p:cNvPr id="1506" name="" descr="{&quot;isTemplate&quot;:true,&quot;type&quot;:&quot;text&quot;}"/>
          <p:cNvSpPr txBox="1"/>
          <p:nvPr/>
        </p:nvSpPr>
        <p:spPr>
          <a:xfrm rot="0" flipH="0" flipV="0">
            <a:off x="8143875" y="1628775"/>
            <a:ext cx="3286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情境系统</a:t>
            </a:r>
            <a:endParaRPr/>
          </a:p>
        </p:txBody>
      </p:sp>
      <p:sp>
        <p:nvSpPr>
          <p:cNvPr id="1507" name="" descr="{&quot;isTemplate&quot;:true,&quot;type&quot;:&quot;text&quot;}"/>
          <p:cNvSpPr txBox="1"/>
          <p:nvPr/>
        </p:nvSpPr>
        <p:spPr>
          <a:xfrm rot="0" flipH="0" flipV="0">
            <a:off x="8143875" y="1914525"/>
            <a:ext cx="3286125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把实体之间的连接做成机器可解释。业务现实不是扁平的表，是网络：客户连着家庭、账户、交易、产品、服务历史、同意记录、位置、员工。</a:t>
            </a:r>
            <a:endParaRPr/>
          </a:p>
        </p:txBody>
      </p:sp>
      <p:sp>
        <p:nvSpPr>
          <p:cNvPr id="1508" name=""/>
          <p:cNvSpPr/>
          <p:nvPr/>
        </p:nvSpPr>
        <p:spPr>
          <a:xfrm rot="0" flipH="0" flipV="0">
            <a:off x="8143875" y="2638425"/>
            <a:ext cx="3286125" cy="523875"/>
          </a:xfrm>
          <a:prstGeom prst="roundRect">
            <a:avLst>
              <a:gd name="adj" fmla="val 5455"/>
            </a:avLst>
          </a:prstGeom>
          <a:solidFill>
            <a:srgbClr val="FA4F24">
              <a:alpha val="20000"/>
            </a:srgbClr>
          </a:solidFill>
          <a:ln/>
        </p:spPr>
        <p:txBody>
          <a:bodyPr/>
          <a:p/>
        </p:txBody>
      </p:sp>
      <p:sp>
        <p:nvSpPr>
          <p:cNvPr id="1509" name="" descr="{&quot;isTemplate&quot;:true,&quot;type&quot;:&quot;text&quot;}"/>
          <p:cNvSpPr txBox="1"/>
          <p:nvPr/>
        </p:nvSpPr>
        <p:spPr>
          <a:xfrm rot="0" flipH="0" flipV="0">
            <a:off x="8239125" y="2714625"/>
            <a:ext cx="3095625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这一层：</a:t>
            </a:r>
            <a:r>
              <a:rPr lang="en-US" sz="8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8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才敢回答「未来</a:t>
            </a:r>
            <a:r>
              <a:rPr lang="en-US" sz="8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15 </a:t>
            </a:r>
            <a:r>
              <a:rPr lang="zh-CN" sz="8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年内退休的客户该配什么方案」这种跨域问题。</a:t>
            </a:r>
            <a:endParaRPr/>
          </a:p>
        </p:txBody>
      </p:sp>
      <p:sp>
        <p:nvSpPr>
          <p:cNvPr id="1510" name=""/>
          <p:cNvSpPr/>
          <p:nvPr/>
        </p:nvSpPr>
        <p:spPr>
          <a:xfrm rot="0" flipH="0" flipV="0">
            <a:off x="609600" y="3381375"/>
            <a:ext cx="6257925" cy="2257425"/>
          </a:xfrm>
          <a:prstGeom prst="roundRect">
            <a:avLst>
              <a:gd name="adj" fmla="val 168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511" name="" descr="{&quot;isTemplate&quot;:true,&quot;type&quot;:&quot;text&quot;}"/>
          <p:cNvSpPr txBox="1"/>
          <p:nvPr/>
        </p:nvSpPr>
        <p:spPr>
          <a:xfrm rot="0" flipH="0" flipV="0">
            <a:off x="771525" y="3495675"/>
            <a:ext cx="5934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两个查询的差别，就是这三层的差别</a:t>
            </a:r>
            <a:endParaRPr/>
          </a:p>
        </p:txBody>
      </p:sp>
      <p:sp>
        <p:nvSpPr>
          <p:cNvPr id="1512" name=""/>
          <p:cNvSpPr/>
          <p:nvPr/>
        </p:nvSpPr>
        <p:spPr>
          <a:xfrm rot="0" flipH="0" flipV="0">
            <a:off x="800100" y="3752850"/>
            <a:ext cx="5934075" cy="542925"/>
          </a:xfrm>
          <a:prstGeom prst="roundRect">
            <a:avLst>
              <a:gd name="adj" fmla="val 526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13" name=""/>
          <p:cNvSpPr/>
          <p:nvPr/>
        </p:nvSpPr>
        <p:spPr>
          <a:xfrm rot="0" flipH="0" flipV="0">
            <a:off x="800100" y="3752850"/>
            <a:ext cx="5934075" cy="542925"/>
          </a:xfrm>
          <a:custGeom>
            <a:pathLst>
              <a:path w="623" h="57">
                <a:moveTo>
                  <a:pt x="3" y="57"/>
                </a:moveTo>
                <a:cubicBezTo>
                  <a:pt x="1" y="57"/>
                  <a:pt x="0" y="56"/>
                  <a:pt x="0" y="54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7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1514" name="" descr="{&quot;isTemplate&quot;:true,&quot;type&quot;:&quot;text&quot;}"/>
          <p:cNvSpPr txBox="1"/>
          <p:nvPr/>
        </p:nvSpPr>
        <p:spPr>
          <a:xfrm rot="0" flipH="0" flipV="0">
            <a:off x="914400" y="3838575"/>
            <a:ext cx="567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「有多少客户超过</a:t>
            </a: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50 </a:t>
            </a: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岁？」</a:t>
            </a:r>
            <a:endParaRPr/>
          </a:p>
        </p:txBody>
      </p:sp>
      <p:sp>
        <p:nvSpPr>
          <p:cNvPr id="1515" name="" descr="{&quot;isTemplate&quot;:true,&quot;type&quot;:&quot;text&quot;}"/>
          <p:cNvSpPr txBox="1"/>
          <p:nvPr/>
        </p:nvSpPr>
        <p:spPr>
          <a:xfrm rot="0" flipH="0" flipV="0">
            <a:off x="914400" y="4019550"/>
            <a:ext cx="56769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这是一个数据问题——过滤一个出生日期字段就够了。黄金记录就能答。</a:t>
            </a:r>
            <a:endParaRPr/>
          </a:p>
        </p:txBody>
      </p:sp>
      <p:sp>
        <p:nvSpPr>
          <p:cNvPr id="1516" name=""/>
          <p:cNvSpPr/>
          <p:nvPr/>
        </p:nvSpPr>
        <p:spPr>
          <a:xfrm rot="0" flipH="0" flipV="0">
            <a:off x="800100" y="4381500"/>
            <a:ext cx="5934075" cy="723900"/>
          </a:xfrm>
          <a:prstGeom prst="roundRect">
            <a:avLst>
              <a:gd name="adj" fmla="val 394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517" name=""/>
          <p:cNvSpPr/>
          <p:nvPr/>
        </p:nvSpPr>
        <p:spPr>
          <a:xfrm rot="0" flipH="0" flipV="0">
            <a:off x="800100" y="4381500"/>
            <a:ext cx="5934075" cy="723900"/>
          </a:xfrm>
          <a:custGeom>
            <a:pathLst>
              <a:path w="623" h="76">
                <a:moveTo>
                  <a:pt x="3" y="76"/>
                </a:moveTo>
                <a:cubicBezTo>
                  <a:pt x="1" y="76"/>
                  <a:pt x="0" y="75"/>
                  <a:pt x="0" y="7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18" name="" descr="{&quot;isTemplate&quot;:true,&quot;type&quot;:&quot;text&quot;}"/>
          <p:cNvSpPr txBox="1"/>
          <p:nvPr/>
        </p:nvSpPr>
        <p:spPr>
          <a:xfrm rot="0" flipH="0" flipV="0">
            <a:off x="914400" y="4467225"/>
            <a:ext cx="567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「未来</a:t>
            </a: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15 </a:t>
            </a: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年内会退休的客户有多少，各自该配什么退休方案？」</a:t>
            </a:r>
            <a:endParaRPr/>
          </a:p>
        </p:txBody>
      </p:sp>
      <p:sp>
        <p:nvSpPr>
          <p:cNvPr id="1519" name="" descr="{&quot;isTemplate&quot;:true,&quot;type&quot;:&quot;text&quot;}"/>
          <p:cNvSpPr txBox="1"/>
          <p:nvPr/>
        </p:nvSpPr>
        <p:spPr>
          <a:xfrm rot="0" flipH="0" flipV="0">
            <a:off x="914400" y="4648200"/>
            <a:ext cx="56769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这是一个推理问题——要同时理解年龄、地域、家庭结构、就业状态、税法、退休政策、风险偏好、账户历史与产品资格。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数据都在，但没有上下文，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无法可靠推理。</a:t>
            </a:r>
            <a:endParaRPr/>
          </a:p>
        </p:txBody>
      </p:sp>
      <p:sp>
        <p:nvSpPr>
          <p:cNvPr id="1520" name=""/>
          <p:cNvSpPr/>
          <p:nvPr/>
        </p:nvSpPr>
        <p:spPr>
          <a:xfrm rot="0" flipH="0" flipV="0">
            <a:off x="6962775" y="3381375"/>
            <a:ext cx="4619625" cy="2257425"/>
          </a:xfrm>
          <a:prstGeom prst="roundRect">
            <a:avLst>
              <a:gd name="adj" fmla="val 168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21" name="" descr="{&quot;isTemplate&quot;:true,&quot;type&quot;:&quot;text&quot;}"/>
          <p:cNvSpPr txBox="1"/>
          <p:nvPr/>
        </p:nvSpPr>
        <p:spPr>
          <a:xfrm rot="0" flipH="0" flipV="0">
            <a:off x="7124700" y="3905250"/>
            <a:ext cx="4295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对咨询的含义</a:t>
            </a:r>
            <a:endParaRPr/>
          </a:p>
        </p:txBody>
      </p:sp>
      <p:sp>
        <p:nvSpPr>
          <p:cNvPr id="1522" name="" descr="{&quot;isTemplate&quot;:true,&quot;type&quot;:&quot;text&quot;}"/>
          <p:cNvSpPr txBox="1"/>
          <p:nvPr/>
        </p:nvSpPr>
        <p:spPr>
          <a:xfrm rot="0" flipH="0" flipV="0">
            <a:off x="7124700" y="4143375"/>
            <a:ext cx="42957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很多企业卡在一级半：做了去重和统一，但没建关系与层级，于是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项目只能用自然语言硬拼上下文，效果不稳定。</a:t>
            </a:r>
            <a:endParaRPr/>
          </a:p>
        </p:txBody>
      </p:sp>
      <p:sp>
        <p:nvSpPr>
          <p:cNvPr id="1523" name="" descr="{&quot;isTemplate&quot;:true,&quot;type&quot;:&quot;text&quot;}"/>
          <p:cNvSpPr txBox="1"/>
          <p:nvPr/>
        </p:nvSpPr>
        <p:spPr>
          <a:xfrm rot="0" flipH="0" flipV="0">
            <a:off x="7124700" y="4667250"/>
            <a:ext cx="42957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建设顺序建议：一级做到干净，二级补齐属性，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三级优先做「有业务痛点的那个关系」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，不要一上来做全域图谱。</a:t>
            </a:r>
            <a:endParaRPr/>
          </a:p>
        </p:txBody>
      </p:sp>
      <p:sp>
        <p:nvSpPr>
          <p:cNvPr id="1524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525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26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主数据咨询方法论</a:t>
            </a:r>
            <a:endParaRPr/>
          </a:p>
        </p:txBody>
      </p:sp>
      <p:sp>
        <p:nvSpPr>
          <p:cNvPr id="1527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07 / 30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528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实体解析：整个主数据项目里最被低估的一环&#10;    &lt;/Text&gt;&#10;    &lt;Text style={{ fontSize: 20, color: '#8A8F99', marginTop: 8 }}&gt;&#10;      匹配质量决定下游一切——去重错了，黄金记录、报表、模型、Agent 全部一起错&#10;    &lt;/Text&gt;&#10;  &lt;/Box&gt;&#10;  &lt;Box style={{ height: 1, background: '#E8E8E8' }} /&gt;&#10;&#10;  &lt;Box style={{ paddingTop: 14, paddingBottom: 8, height: 479, flexDirection: 'column', gap: 10 }}&gt;&#10;    &lt;Box style={{ height: 297, background: '#0F1423', borderRadius: 4, padding: '14px 18px', flexDirection: 'column' }}&gt;&#10;      &lt;Text style={{ fontSize: 14, fontWeight: 'bold', color: '#FBA15C' }}&gt;官方定义与两步走法&lt;/Text&gt;&#10;      &lt;Box style={{ flex: 1, marginTop: 11, flexDirection: 'row', gap: 10 }}&gt;&#10;        &lt;Box style={{ flex: 1, background: 'rgba(250,79,36,0.18)', borderRadius: 3, borderLeft: '3px solid #FA4F24', padding: '11px 13px', flexDirection: 'column' }}&gt;&#10;          &lt;Text style={{ fontSize: 13.5, fontWeight: 'bold', color: '#FA4F24' }}&gt;对象解析（Object Resolution）&lt;/Text&gt;&#10;          &lt;Text style={{ fontSize: 11.5, color: 'rgba(255,255,255,0.86)', marginTop: 7, lineHeight: 1.55 }}&gt;&#10;            官方定义是「把两个或多个对象合并」。典型用途是把来自两个不同源系统、指向同一个真实实体的对象解析到一起，&lt;tspan style={{ fontWeight: 'bold', color: '#FFFFFF' }}&gt;目的是防止同一实体被重复创建&lt;/tspan&gt;。&#10;          &lt;/Text&gt;&#10;          &lt;Box style={{ flex: 1, marginTop: 10, background: 'rgba(255,255,255,0.07)', borderRadius: 3, padding: '8px 10px' }}&gt;&#10;            &lt;Text style={{ fontSize: 11, color: 'rgba(255,255,255,0.85)', lineHeight: 1.5 }}&gt;&#10;              它发生在对象映射之前，是前置处理。合并完成后生成一个全局唯一的规范主键，以及一条包含规范主键的黄金记录数据集。&#10;            &lt;/Text&gt;&#10;          &lt;/Box&gt;&#10;        &lt;/Box&gt;&#10;        &lt;Box style={{ flex: 1.05, background: 'rgba(255,255,255,0.07)', borderRadius: 3, borderLeft: '3px solid #FBA15C', padding: '11px 13px', flexDirection: 'column' }}&gt;&#10;          &lt;Text style={{ fontSize: 13.5, fontWeight: 'bold', color: '#FFFFFF' }}&gt;五种匹配信号（由弱到强）&lt;/Text&gt;&#10;          &lt;Box style={{ flex: 1, marginTop: 8, flexDirection: 'column', gap: 5 }}&gt;&#10;            {[&#10;              { k: '分块 / 配对', v: '先缩小候选对范围：只比姓氏或名称首字母相同的，或用哈希找相似项' },&#10;              { k: '字符串相似度', v: '模糊匹配、编辑距离，处理拼写错误与名称变体' },&#10;              { k: '语音相似度', v: '发音相近但拼写不同的名字' },&#10;              { k: '上下文特征', v: '从报告、邮件等非结构化文本里抽出的关系与活动，作为额外特征' },&#10;              { k: '概率打分', v: '机器学习模型综合全部特征给出匹配概率，可用平台标注数据持续训练' },&#10;            ].map((x, i) =&gt; (&#10;              &lt;Box key={x.k} style={{ flexDirection: 'row', gap: 8, alignItems: 'flex-start' }}&gt;&#10;                &lt;Text style={{ fontSize: 11, color: '#FBA15C', fontWeight: 'bold', width: 16 }}&gt;{i + 1}&lt;/Text&gt;&#10;                &lt;Text style={{ fontSize: 11, color: 'rgba(255,255,255,0.82)', lineHeight: 1.45, flex: 1 }}&gt;&#10;                  &lt;tspan style={{ fontWeight: 'bold', color: '#FFFFFF' }}&gt;{x.k}&lt;/tspan&gt;：{x.v}&#10;                &lt;/Text&gt;&#10;              &lt;/Box&gt;&#10;            ))}&#10;          &lt;/Box&gt;&#10;        &lt;/Box&gt;&#10;        &lt;Box style={{ flex: 0.9, background: 'rgba(255,255,255,0.07)', borderRadius: 3, borderLeft: '3px solid #C43A17', padding: '11px 13px', flexDirection: 'column' }}&gt;&#10;          &lt;Text style={{ fontSize: 13.5, fontWeight: 'bold', color: '#C43A17' }}&gt;三个实践陷阱&lt;/Text&gt;&#10;          &lt;Box style={{ flex: 1, marginTop: 8, flexDirection: 'column', gap: 8 }}&gt;&#10;            &lt;Text style={{ fontSize: 11, color: 'rgba(255,255,255,0.82)', lineHeight: 1.5 }}&gt;&#10;              &lt;tspan style={{ fontWeight: 'bold', color: '#FFFFFF' }}&gt;阈值不能拍脑袋&lt;/tspan&gt;——要用样本跑准召曲线，漏合并和错合并的代价完全不同。&#10;            &lt;/Text&gt;&#10;            &lt;Text style={{ fontSize: 11, color: 'rgba(255,255,255,0.82)', lineHeight: 1.5 }}&gt;&#10;              &lt;tspan style={{ fontWeight: 'bold', color: '#FFFFFF' }}&gt;长尾永远补不完&lt;/tspan&gt;——规则写法永远只能覆盖已见过的变体，所以要留人工判定出口。&#10;            &lt;/Text&gt;&#10;            &lt;Text style={{ fontSize: 11, color: 'rgba(255,255,255,0.82)', lineHeight: 1.5 }}&gt;&#10;              &lt;tspan style={{ fontWeight: 'bold', color: '#FFFFFF' }}&gt;AI 匹配要能被否决&lt;/tspan&gt;——用模型推荐、用规则执行、留人做最终裁决。&#10;            &lt;/Text&gt;&#10;          &lt;/Box&gt;&#10;        &lt;/Box&gt;&#10;      &lt;/Box&gt;&#10;      &lt;Text style={{ fontSize: 11.5, color: 'rgba(255,255,255,0.72)', marginTop: 10, lineHeight: 1.5 }}&gt;&#10;        AI 改造后的分工是：模型做标准化与概率打分，人只处理真正需要判断的例外——而不是反过来，人去复核所有机器结果。&#10;      &lt;/Text&gt;&#10;    &lt;/Box&gt;&#10;&#10;    &lt;Box style={{ flex: 1, flexDirection: 'row', gap: 10 }}&gt;&#10;      &lt;Box style={{ flex: 1.2, background: '#FFF3EE', borderRadius: 4, borderLeft: '4px solid #FA4F24', padding: '12px 17px', flexDirection: 'column', justifyContent: 'center' }}&gt;&#10;        &lt;Text style={{ fontSize: 14, fontWeight: 'bold', color: '#C43A17' }}&gt;为什么它最被低估&lt;/Text&gt;&#10;        &lt;Text style={{ fontSize: 12, color: '#3A4050', marginTop: 7, lineHeight: 1.6 }}&gt;&#10;          因为它不产出看得见的界面，也不产出报表。系统上线那天，所有人看到的是「客户主数据建好了」，而匹配质量这件事藏在准召率里，等到下游发现客户被重复计数时，已经过去半年了。&#10;        &lt;/Text&gt;&#10;      &lt;/Box&gt;&#10;      &lt;Box style={{ flex: 0.8, background: '#F7F7F8', borderRadius: 4, padding: '12px 17px', flexDirection: 'column', justifyContent: 'center' }}&gt;&#10;        &lt;Text style={{ fontSize: 14, fontWeight: 'bold', color: '#0F1423' }}&gt;验收指标要前置&lt;/Text&gt;&#10;        &lt;Text style={{ fontSize: 12, color: '#3A4050', marginTop: 7, lineHeight: 1.6 }}&gt;&#10;          匹配率、误合并率、漏合并率三个指标必须在&lt;tspan style={{ fontWeight: 'bold' }}&gt;第三阶段就出报告&lt;/tspan&gt;，而不是上线后补。阈值实验报告就是为此存在的产出物。&#10;        &lt;/Text&gt;&#10;      &lt;/Box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主数据咨询方法论&lt;/Text&gt;&#10;    &lt;Text style={{ fontSize: 13, color: '#8A8F99', marginLeft: 'auto' }}&gt;08 / 3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30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实体解析：整个主数据项目里最被低估的一环</a:t>
            </a:r>
            <a:endParaRPr/>
          </a:p>
        </p:txBody>
      </p:sp>
      <p:sp>
        <p:nvSpPr>
          <p:cNvPr id="153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匹配质量决定下游一切——去重错了，黄金记录、报表、模型、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全部一起错</a:t>
            </a:r>
            <a:endParaRPr/>
          </a:p>
        </p:txBody>
      </p:sp>
      <p:sp>
        <p:nvSpPr>
          <p:cNvPr id="1532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533" name=""/>
          <p:cNvSpPr/>
          <p:nvPr/>
        </p:nvSpPr>
        <p:spPr>
          <a:xfrm rot="0" flipH="0" flipV="0">
            <a:off x="609600" y="1285875"/>
            <a:ext cx="10972800" cy="2828925"/>
          </a:xfrm>
          <a:prstGeom prst="roundRect">
            <a:avLst>
              <a:gd name="adj" fmla="val 134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534" name="" descr="{&quot;isTemplate&quot;:true,&quot;type&quot;:&quot;text&quot;}"/>
          <p:cNvSpPr txBox="1"/>
          <p:nvPr/>
        </p:nvSpPr>
        <p:spPr>
          <a:xfrm rot="0" flipH="0" flipV="0">
            <a:off x="781050" y="1419225"/>
            <a:ext cx="10629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官方定义与两步走法</a:t>
            </a:r>
            <a:endParaRPr/>
          </a:p>
        </p:txBody>
      </p:sp>
      <p:sp>
        <p:nvSpPr>
          <p:cNvPr id="1535" name=""/>
          <p:cNvSpPr/>
          <p:nvPr/>
        </p:nvSpPr>
        <p:spPr>
          <a:xfrm rot="0" flipH="0" flipV="0">
            <a:off x="809625" y="1685925"/>
            <a:ext cx="3543300" cy="2133600"/>
          </a:xfrm>
          <a:prstGeom prst="roundRect">
            <a:avLst>
              <a:gd name="adj" fmla="val 1339"/>
            </a:avLst>
          </a:prstGeom>
          <a:solidFill>
            <a:srgbClr val="FA4F24">
              <a:alpha val="18000"/>
            </a:srgbClr>
          </a:solidFill>
          <a:ln/>
        </p:spPr>
        <p:txBody>
          <a:bodyPr/>
          <a:p/>
        </p:txBody>
      </p:sp>
      <p:sp>
        <p:nvSpPr>
          <p:cNvPr id="1536" name=""/>
          <p:cNvSpPr/>
          <p:nvPr/>
        </p:nvSpPr>
        <p:spPr>
          <a:xfrm rot="0" flipH="0" flipV="0">
            <a:off x="809625" y="1685925"/>
            <a:ext cx="3543300" cy="2133600"/>
          </a:xfrm>
          <a:custGeom>
            <a:pathLst>
              <a:path w="372" h="224">
                <a:moveTo>
                  <a:pt x="3" y="224"/>
                </a:moveTo>
                <a:cubicBezTo>
                  <a:pt x="1" y="224"/>
                  <a:pt x="0" y="223"/>
                  <a:pt x="0" y="22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22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37" name="" descr="{&quot;isTemplate&quot;:true,&quot;type&quot;:&quot;text&quot;}"/>
          <p:cNvSpPr txBox="1"/>
          <p:nvPr/>
        </p:nvSpPr>
        <p:spPr>
          <a:xfrm rot="0" flipH="0" flipV="0">
            <a:off x="933450" y="1790700"/>
            <a:ext cx="3267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A4F24"/>
                </a:solidFill>
                <a:latin typeface="Microsoft YaHei"/>
                <a:ea typeface="Microsoft YaHei"/>
              </a:rPr>
              <a:t>对象解析（</a:t>
            </a:r>
            <a:r>
              <a:rPr lang="en-US" sz="1013" b="1">
                <a:solidFill>
                  <a:srgbClr val="FA4F24"/>
                </a:solidFill>
                <a:latin typeface="Microsoft YaHei"/>
                <a:ea typeface="Microsoft YaHei"/>
              </a:rPr>
              <a:t>Object Resolution</a:t>
            </a:r>
            <a:r>
              <a:rPr lang="zh-CN" sz="1013" b="1">
                <a:solidFill>
                  <a:srgbClr val="FA4F24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538" name="" descr="{&quot;isTemplate&quot;:true,&quot;type&quot;:&quot;text&quot;}"/>
          <p:cNvSpPr txBox="1"/>
          <p:nvPr/>
        </p:nvSpPr>
        <p:spPr>
          <a:xfrm rot="0" flipH="0" flipV="0">
            <a:off x="933450" y="2019300"/>
            <a:ext cx="326707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官方定义是「把两个或多个对象合并」。典型用途是把来自两个不同源系统、指向同一个真实实体的对象解析到一起，</a:t>
            </a:r>
            <a:r>
              <a:rPr lang="zh-CN" sz="863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目的是防止同一实体被重复创建</a:t>
            </a:r>
            <a:r>
              <a:rPr lang="zh-CN" sz="863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539" name=""/>
          <p:cNvSpPr/>
          <p:nvPr/>
        </p:nvSpPr>
        <p:spPr>
          <a:xfrm rot="0" flipH="0" flipV="0">
            <a:off x="933450" y="2733675"/>
            <a:ext cx="3267075" cy="981075"/>
          </a:xfrm>
          <a:prstGeom prst="roundRect">
            <a:avLst>
              <a:gd name="adj" fmla="val 2913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540" name="" descr="{&quot;isTemplate&quot;:true,&quot;type&quot;:&quot;text&quot;}"/>
          <p:cNvSpPr txBox="1"/>
          <p:nvPr/>
        </p:nvSpPr>
        <p:spPr>
          <a:xfrm rot="0" flipH="0" flipV="0">
            <a:off x="1028700" y="2809875"/>
            <a:ext cx="3076575" cy="381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它发生在对象映射之前，是前置处理。合并完成后生成一个全局唯一的规范主键，以及一条包含规范主键的黄金记录数据集。</a:t>
            </a:r>
            <a:endParaRPr/>
          </a:p>
        </p:txBody>
      </p:sp>
      <p:sp>
        <p:nvSpPr>
          <p:cNvPr id="1541" name=""/>
          <p:cNvSpPr/>
          <p:nvPr/>
        </p:nvSpPr>
        <p:spPr>
          <a:xfrm rot="0" flipH="0" flipV="0">
            <a:off x="4448175" y="1685925"/>
            <a:ext cx="3714750" cy="2133600"/>
          </a:xfrm>
          <a:prstGeom prst="roundRect">
            <a:avLst>
              <a:gd name="adj" fmla="val 1339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542" name=""/>
          <p:cNvSpPr/>
          <p:nvPr/>
        </p:nvSpPr>
        <p:spPr>
          <a:xfrm rot="0" flipH="0" flipV="0">
            <a:off x="4448175" y="1685925"/>
            <a:ext cx="3714750" cy="2133600"/>
          </a:xfrm>
          <a:custGeom>
            <a:pathLst>
              <a:path w="390" h="224">
                <a:moveTo>
                  <a:pt x="3" y="224"/>
                </a:moveTo>
                <a:cubicBezTo>
                  <a:pt x="1" y="224"/>
                  <a:pt x="0" y="223"/>
                  <a:pt x="0" y="22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224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543" name="" descr="{&quot;isTemplate&quot;:true,&quot;type&quot;:&quot;text&quot;}"/>
          <p:cNvSpPr txBox="1"/>
          <p:nvPr/>
        </p:nvSpPr>
        <p:spPr>
          <a:xfrm rot="0" flipH="0" flipV="0">
            <a:off x="4572000" y="1790700"/>
            <a:ext cx="3438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FFFFF"/>
                </a:solidFill>
                <a:latin typeface="Microsoft YaHei"/>
                <a:ea typeface="Microsoft YaHei"/>
              </a:rPr>
              <a:t>五种匹配信号（由弱到强）</a:t>
            </a:r>
            <a:endParaRPr/>
          </a:p>
        </p:txBody>
      </p:sp>
      <p:sp>
        <p:nvSpPr>
          <p:cNvPr id="1544" name="" descr="{&quot;isTemplate&quot;:true,&quot;type&quot;:&quot;text&quot;}"/>
          <p:cNvSpPr txBox="1"/>
          <p:nvPr/>
        </p:nvSpPr>
        <p:spPr>
          <a:xfrm rot="0" flipH="0" flipV="0">
            <a:off x="4572000" y="2028825"/>
            <a:ext cx="152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BA15C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545" name="" descr="{&quot;isTemplate&quot;:true,&quot;type&quot;:&quot;text&quot;}"/>
          <p:cNvSpPr txBox="1"/>
          <p:nvPr/>
        </p:nvSpPr>
        <p:spPr>
          <a:xfrm rot="0" flipH="0" flipV="0">
            <a:off x="4800600" y="2028825"/>
            <a:ext cx="3209925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分块</a:t>
            </a:r>
            <a:r>
              <a:rPr lang="en-US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配对</a:t>
            </a: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：</a:t>
            </a: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先缩小候选对范围：只比姓氏或名称首字母相同的，或用哈希找相似项</a:t>
            </a:r>
            <a:endParaRPr/>
          </a:p>
        </p:txBody>
      </p:sp>
      <p:sp>
        <p:nvSpPr>
          <p:cNvPr id="1546" name="" descr="{&quot;isTemplate&quot;:true,&quot;type&quot;:&quot;text&quot;}"/>
          <p:cNvSpPr txBox="1"/>
          <p:nvPr/>
        </p:nvSpPr>
        <p:spPr>
          <a:xfrm rot="0" flipH="0" flipV="0">
            <a:off x="4572000" y="2447925"/>
            <a:ext cx="152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BA15C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547" name="" descr="{&quot;isTemplate&quot;:true,&quot;type&quot;:&quot;text&quot;}"/>
          <p:cNvSpPr txBox="1"/>
          <p:nvPr/>
        </p:nvSpPr>
        <p:spPr>
          <a:xfrm rot="0" flipH="0" flipV="0">
            <a:off x="4800600" y="2447925"/>
            <a:ext cx="320992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字符串相似度</a:t>
            </a: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：</a:t>
            </a: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模糊匹配、编辑距离，处理拼写错误与名称变体</a:t>
            </a:r>
            <a:endParaRPr/>
          </a:p>
        </p:txBody>
      </p:sp>
      <p:sp>
        <p:nvSpPr>
          <p:cNvPr id="1548" name="" descr="{&quot;isTemplate&quot;:true,&quot;type&quot;:&quot;text&quot;}"/>
          <p:cNvSpPr txBox="1"/>
          <p:nvPr/>
        </p:nvSpPr>
        <p:spPr>
          <a:xfrm rot="0" flipH="0" flipV="0">
            <a:off x="4572000" y="2686050"/>
            <a:ext cx="152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BA15C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549" name="" descr="{&quot;isTemplate&quot;:true,&quot;type&quot;:&quot;text&quot;}"/>
          <p:cNvSpPr txBox="1"/>
          <p:nvPr/>
        </p:nvSpPr>
        <p:spPr>
          <a:xfrm rot="0" flipH="0" flipV="0">
            <a:off x="4800600" y="2686050"/>
            <a:ext cx="320992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语音相似度</a:t>
            </a: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：</a:t>
            </a: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发音相近但拼写不同的名字</a:t>
            </a:r>
            <a:endParaRPr/>
          </a:p>
        </p:txBody>
      </p:sp>
      <p:sp>
        <p:nvSpPr>
          <p:cNvPr id="1550" name="" descr="{&quot;isTemplate&quot;:true,&quot;type&quot;:&quot;text&quot;}"/>
          <p:cNvSpPr txBox="1"/>
          <p:nvPr/>
        </p:nvSpPr>
        <p:spPr>
          <a:xfrm rot="0" flipH="0" flipV="0">
            <a:off x="4572000" y="2924175"/>
            <a:ext cx="152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BA15C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551" name="" descr="{&quot;isTemplate&quot;:true,&quot;type&quot;:&quot;text&quot;}"/>
          <p:cNvSpPr txBox="1"/>
          <p:nvPr/>
        </p:nvSpPr>
        <p:spPr>
          <a:xfrm rot="0" flipH="0" flipV="0">
            <a:off x="4800600" y="2924175"/>
            <a:ext cx="3209925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上下文特征</a:t>
            </a: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：</a:t>
            </a: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从报告、邮件等非结构化文本里抽出的关系与活动，作为额外特征</a:t>
            </a:r>
            <a:endParaRPr/>
          </a:p>
        </p:txBody>
      </p:sp>
      <p:sp>
        <p:nvSpPr>
          <p:cNvPr id="1552" name="" descr="{&quot;isTemplate&quot;:true,&quot;type&quot;:&quot;text&quot;}"/>
          <p:cNvSpPr txBox="1"/>
          <p:nvPr/>
        </p:nvSpPr>
        <p:spPr>
          <a:xfrm rot="0" flipH="0" flipV="0">
            <a:off x="4572000" y="3343275"/>
            <a:ext cx="152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BA15C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1553" name="" descr="{&quot;isTemplate&quot;:true,&quot;type&quot;:&quot;text&quot;}"/>
          <p:cNvSpPr txBox="1"/>
          <p:nvPr/>
        </p:nvSpPr>
        <p:spPr>
          <a:xfrm rot="0" flipH="0" flipV="0">
            <a:off x="4800600" y="3343275"/>
            <a:ext cx="3209925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概率打分</a:t>
            </a: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：</a:t>
            </a: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机器学习模型综合全部特征给出匹配概率，可用平台标注数据持续训练</a:t>
            </a:r>
            <a:endParaRPr/>
          </a:p>
        </p:txBody>
      </p:sp>
      <p:sp>
        <p:nvSpPr>
          <p:cNvPr id="1554" name=""/>
          <p:cNvSpPr/>
          <p:nvPr/>
        </p:nvSpPr>
        <p:spPr>
          <a:xfrm rot="0" flipH="0" flipV="0">
            <a:off x="8258175" y="1685925"/>
            <a:ext cx="3181350" cy="2133600"/>
          </a:xfrm>
          <a:prstGeom prst="roundRect">
            <a:avLst>
              <a:gd name="adj" fmla="val 1339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555" name=""/>
          <p:cNvSpPr/>
          <p:nvPr/>
        </p:nvSpPr>
        <p:spPr>
          <a:xfrm rot="0" flipH="0" flipV="0">
            <a:off x="8258175" y="1685925"/>
            <a:ext cx="3181350" cy="2133600"/>
          </a:xfrm>
          <a:custGeom>
            <a:pathLst>
              <a:path w="334" h="224">
                <a:moveTo>
                  <a:pt x="3" y="224"/>
                </a:moveTo>
                <a:cubicBezTo>
                  <a:pt x="1" y="224"/>
                  <a:pt x="0" y="223"/>
                  <a:pt x="0" y="22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224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556" name="" descr="{&quot;isTemplate&quot;:true,&quot;type&quot;:&quot;text&quot;}"/>
          <p:cNvSpPr txBox="1"/>
          <p:nvPr/>
        </p:nvSpPr>
        <p:spPr>
          <a:xfrm rot="0" flipH="0" flipV="0">
            <a:off x="8382000" y="17907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C43A17"/>
                </a:solidFill>
                <a:latin typeface="Microsoft YaHei"/>
                <a:ea typeface="Microsoft YaHei"/>
              </a:rPr>
              <a:t>三个实践陷阱</a:t>
            </a:r>
            <a:endParaRPr/>
          </a:p>
        </p:txBody>
      </p:sp>
      <p:sp>
        <p:nvSpPr>
          <p:cNvPr id="1557" name="" descr="{&quot;isTemplate&quot;:true,&quot;type&quot;:&quot;text&quot;}"/>
          <p:cNvSpPr txBox="1"/>
          <p:nvPr/>
        </p:nvSpPr>
        <p:spPr>
          <a:xfrm rot="0" flipH="0" flipV="0">
            <a:off x="8382000" y="2028825"/>
            <a:ext cx="2905125" cy="381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阈值不能拍脑袋</a:t>
            </a: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——要用样本跑准召曲线，漏合并和错合并的代价完全不同。</a:t>
            </a:r>
            <a:endParaRPr/>
          </a:p>
        </p:txBody>
      </p:sp>
      <p:sp>
        <p:nvSpPr>
          <p:cNvPr id="1558" name="" descr="{&quot;isTemplate&quot;:true,&quot;type&quot;:&quot;text&quot;}"/>
          <p:cNvSpPr txBox="1"/>
          <p:nvPr/>
        </p:nvSpPr>
        <p:spPr>
          <a:xfrm rot="0" flipH="0" flipV="0">
            <a:off x="8382000" y="2486025"/>
            <a:ext cx="2905125" cy="381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长尾永远补不完</a:t>
            </a: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——规则写法永远只能覆盖已见过的变体，所以要留人工判定出口。</a:t>
            </a:r>
            <a:endParaRPr/>
          </a:p>
        </p:txBody>
      </p:sp>
      <p:sp>
        <p:nvSpPr>
          <p:cNvPr id="1559" name="" descr="{&quot;isTemplate&quot;:true,&quot;type&quot;:&quot;text&quot;}"/>
          <p:cNvSpPr txBox="1"/>
          <p:nvPr/>
        </p:nvSpPr>
        <p:spPr>
          <a:xfrm rot="0" flipH="0" flipV="0">
            <a:off x="8382000" y="2943225"/>
            <a:ext cx="2905125" cy="381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匹配要能被否决</a:t>
            </a: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——用模型推荐、用规则执行、留人做最终裁决。</a:t>
            </a:r>
            <a:endParaRPr/>
          </a:p>
        </p:txBody>
      </p:sp>
      <p:sp>
        <p:nvSpPr>
          <p:cNvPr id="1560" name="" descr="{&quot;isTemplate&quot;:true,&quot;type&quot;:&quot;text&quot;}"/>
          <p:cNvSpPr txBox="1"/>
          <p:nvPr/>
        </p:nvSpPr>
        <p:spPr>
          <a:xfrm rot="0" flipH="0" flipV="0">
            <a:off x="781050" y="3914775"/>
            <a:ext cx="106299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3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863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改造后的分工是：模型做标准化与概率打分，人只处理真正需要判断的例外——而不是反过来，人去复核所有机器结果。</a:t>
            </a:r>
            <a:endParaRPr/>
          </a:p>
        </p:txBody>
      </p:sp>
      <p:sp>
        <p:nvSpPr>
          <p:cNvPr id="1561" name=""/>
          <p:cNvSpPr/>
          <p:nvPr/>
        </p:nvSpPr>
        <p:spPr>
          <a:xfrm rot="0" flipH="0" flipV="0">
            <a:off x="647700" y="4210050"/>
            <a:ext cx="6524625" cy="1428750"/>
          </a:xfrm>
          <a:prstGeom prst="roundRect">
            <a:avLst>
              <a:gd name="adj" fmla="val 266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562" name=""/>
          <p:cNvSpPr/>
          <p:nvPr/>
        </p:nvSpPr>
        <p:spPr>
          <a:xfrm rot="0" flipH="0" flipV="0">
            <a:off x="647700" y="4210050"/>
            <a:ext cx="6524625" cy="1428750"/>
          </a:xfrm>
          <a:custGeom>
            <a:pathLst>
              <a:path w="685" h="150">
                <a:moveTo>
                  <a:pt x="4" y="150"/>
                </a:moveTo>
                <a:cubicBezTo>
                  <a:pt x="2" y="150"/>
                  <a:pt x="0" y="148"/>
                  <a:pt x="0" y="14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5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63" name="" descr="{&quot;isTemplate&quot;:true,&quot;type&quot;:&quot;text&quot;}"/>
          <p:cNvSpPr txBox="1"/>
          <p:nvPr/>
        </p:nvSpPr>
        <p:spPr>
          <a:xfrm rot="0" flipH="0" flipV="0">
            <a:off x="809625" y="4591050"/>
            <a:ext cx="6162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为什么它最被低估</a:t>
            </a:r>
            <a:endParaRPr/>
          </a:p>
        </p:txBody>
      </p:sp>
      <p:sp>
        <p:nvSpPr>
          <p:cNvPr id="1564" name="" descr="{&quot;isTemplate&quot;:true,&quot;type&quot;:&quot;text&quot;}"/>
          <p:cNvSpPr txBox="1"/>
          <p:nvPr/>
        </p:nvSpPr>
        <p:spPr>
          <a:xfrm rot="0" flipH="0" flipV="0">
            <a:off x="809625" y="4819650"/>
            <a:ext cx="61626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因为它不产出看得见的界面，也不产出报表。系统上线那天，所有人看到的是「客户主数据建好了」，而匹配质量这件事藏在准召率里，等到下游发现客户被重复计数时，已经过去半年了。</a:t>
            </a:r>
            <a:endParaRPr/>
          </a:p>
        </p:txBody>
      </p:sp>
      <p:sp>
        <p:nvSpPr>
          <p:cNvPr id="1565" name=""/>
          <p:cNvSpPr/>
          <p:nvPr/>
        </p:nvSpPr>
        <p:spPr>
          <a:xfrm rot="0" flipH="0" flipV="0">
            <a:off x="7229475" y="4210050"/>
            <a:ext cx="4352925" cy="1428750"/>
          </a:xfrm>
          <a:prstGeom prst="roundRect">
            <a:avLst>
              <a:gd name="adj" fmla="val 266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66" name="" descr="{&quot;isTemplate&quot;:true,&quot;type&quot;:&quot;text&quot;}"/>
          <p:cNvSpPr txBox="1"/>
          <p:nvPr/>
        </p:nvSpPr>
        <p:spPr>
          <a:xfrm rot="0" flipH="0" flipV="0">
            <a:off x="7391400" y="4591050"/>
            <a:ext cx="4029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验收指标要前置</a:t>
            </a:r>
            <a:endParaRPr/>
          </a:p>
        </p:txBody>
      </p:sp>
      <p:sp>
        <p:nvSpPr>
          <p:cNvPr id="1567" name="" descr="{&quot;isTemplate&quot;:true,&quot;type&quot;:&quot;text&quot;}"/>
          <p:cNvSpPr txBox="1"/>
          <p:nvPr/>
        </p:nvSpPr>
        <p:spPr>
          <a:xfrm rot="0" flipH="0" flipV="0">
            <a:off x="7391400" y="4819650"/>
            <a:ext cx="40290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匹配率、误合并率、漏合并率三个指标必须在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第三阶段就出报告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，而不是上线后补。阈值实验报告就是为此存在的产出物。</a:t>
            </a:r>
            <a:endParaRPr/>
          </a:p>
        </p:txBody>
      </p:sp>
      <p:sp>
        <p:nvSpPr>
          <p:cNvPr id="1568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569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70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主数据咨询方法论</a:t>
            </a:r>
            <a:endParaRPr/>
          </a:p>
        </p:txBody>
      </p:sp>
      <p:sp>
        <p:nvSpPr>
          <p:cNvPr id="1571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08 / 30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572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可撤销的合并：&lt;span style={{ color: '#FA4F24' }}&gt;unresolve&lt;/span&gt; 比合并本身更重要&#10;    &lt;/Text&gt;&#10;    &lt;Text style={{ fontSize: 20, color: '#8A8F99', marginTop: 8 }}&gt;&#10;      官方在解析元数据里保留了三样东西，其中两样存在的唯一理由就是「将来可能要拆回去」&#10;    &lt;/Text&gt;&#10;  &lt;/Box&gt;&#10;  &lt;Box style={{ height: 1, background: '#E8E8E8' }} /&gt;&#10;&#10;  &lt;Box style={{ paddingTop: 14, paddingBottom: 8, height: 479, flexDirection: 'column', gap: 10 }}&gt;&#10;    &lt;Box style={{ height: 202, background: '#0F1423', borderRadius: 4, padding: '14px 18px', flexDirection: 'column' }}&gt;&#10;      &lt;Text style={{ fontSize: 14, fontWeight: 'bold', color: '#FBA15C' }}&gt;解析元数据的三件套（官方字段名）&lt;/Text&gt;&#10;      &lt;Box style={{ flex: 1, flexDirection: 'row', gap: 10, marginTop: 11 }}&gt;&#10;        {[&#10;          { k: 'canonicalObjectPrimaryKey', t: '规范主键', d: '合并后对象的规范主键。递归合并时，原成员里成为规范主键的那个会被提升。' },&#10;          { k: 'winnerObjectPrimaryKey', t: '胜出主键', d: '内部生成。合并后所有新的属性写入都挂在它上面——这样拆回去时才能干净地分开。' },&#10;          { k: 'otherObjectPrimaryKeys', t: '其他主键列表', d: '被合并进来的其他主键。递归合并时，所有成分的对象主键会被扁平化进这个列表。' },&#10;        ].map((x, i) =&gt; (&#10;          &lt;Box key={x.k} style={{ flex: 1, background: i === 1 ? 'rgba(250,79,36,0.2)' : 'rgba(255,255,255,0.07)', borderRadius: 3, borderLeft: '3px solid ' + (i === 1 ? '#FA4F24' : '#FBA15C'), padding: '10px 12px', flexDirection: 'column' }}&gt;&#10;            &lt;Text style={{ fontSize: 11, color: i === 1 ? '#FA4F24' : '#FBA15C', lineHeight: 1.3 }}&gt;{x.k}&lt;/Text&gt;&#10;            &lt;Text style={{ fontSize: 13.5, fontWeight: 'bold', color: '#FFFFFF', marginTop: 5 }}&gt;{x.t}&lt;/Text&gt;&#10;            &lt;Text style={{ fontSize: 11.5, color: 'rgba(255,255,255,0.82)', marginTop: 6, lineHeight: 1.5, flex: 1 }}&gt;{x.d}&lt;/Text&gt;&#10;          &lt;/Box&gt;&#10;        ))}&#10;      &lt;/Box&gt;&#10;      &lt;Text style={{ fontSize: 11.5, color: 'rgba(255,255,255,0.72)', marginTop: 10, lineHeight: 1.5 }}&gt;&#10;        三者合起来表达的是：合并不是覆盖，是「带血缘的聚合」。历史保留了，才谈得上回退。&#10;      &lt;/Text&gt;&#10;    &lt;/Box&gt;&#10;&#10;    &lt;Box style={{ flex: 1, flexDirection: 'row', gap: 10 }}&gt;&#10;      &lt;Box style={{ flex: 1.1, background: '#FFF3EE', borderRadius: 4, borderLeft: '4px solid #FA4F24', padding: '12px 17px', flexDirection: 'column', justifyContent: 'center' }}&gt;&#10;        &lt;Text style={{ fontSize: 14, fontWeight: 'bold', color: '#C43A17' }}&gt;官方明确写下来的两条撤销保障&lt;/Text&gt;&#10;        &lt;Text style={{ fontSize: 12, color: '#3A4050', marginTop: 8, lineHeight: 1.65 }}&gt;&#10;          一、&lt;tspan style={{ fontWeight: 'bold' }}&gt;各对象的独立历史被保留&lt;/tspan&gt;，解析出问题时可以 unresolve 回原状；二、&lt;tspan style={{ fontWeight: 'bold' }}&gt;直接写在合并对象上的属性，在撤销时可按成分拆回&lt;/tspan&gt;到对应原对象——不会因为合并期间的编辑而丢数据。&#10;        &lt;/Text&gt;&#10;        &lt;Box style={{ marginTop: 10, background: '#FFFFFF', borderRadius: 3, padding: '9px 11px' }}&gt;&#10;          &lt;Text style={{ fontSize: 11.5, color: '#3A4050', lineHeight: 1.5 }}&gt;&#10;            官方那句原话是：如果解析出错了，将来对象需要能被 un-resolve。这就是主数据与普通数据清洗最本质的区别。&#10;          &lt;/Text&gt;&#10;        &lt;/Box&gt;&#10;      &lt;/Box&gt;&#10;&#10;      &lt;Box style={{ flex: 1, background: '#F7F7F8', borderRadius: 4, padding: '12px 17px', flexDirection: 'column' }}&gt;&#10;        &lt;Text style={{ fontSize: 14, fontWeight: 'bold', color: '#0F1423' }}&gt;对咨询的三条硬要求&lt;/Text&gt;&#10;        &lt;Box style={{ flex: 1, marginTop: 9, flexDirection: 'column', gap: 7 }}&gt;&#10;          {[&#10;            { n: '一', t: '合并记录要能查', d: '业务问「这两个为什么被合并了」，必须能答出规则、置信度、时间、操作人。' },&#10;            { n: '二', t: '撤销要有 SLA', d: '发现误合并后多久能拆完？说不出来就说明没真正设计过撤销。' },&#10;            { n: '三', t: '撤销权限要受管', d: '拆开一个实体等于让下游全部失配，这本身就是一次高风险治理动作（对应第九册）。' },&#10;          ].map((x) =&gt; (&#10;            &lt;Box key={x.n} style={{ background: '#FFFFFF', borderRadius: 3, borderLeft: '3px solid #FA4F24', padding: '8px 10px' }}&gt;&#10;              &lt;Text style={{ fontSize: 12, fontWeight: 'bold', color: '#0F1423' }}&gt;{x.n} · {x.t}&lt;/Text&gt;&#10;              &lt;Text style={{ fontSize: 11, color: '#3A4050', marginTop: 3, lineHeight: 1.45 }}&gt;{x.d}&lt;/Text&gt;&#10;            &lt;/Box&gt;&#10;          ))}&#10;        &lt;/Box&gt;&#10;      &lt;/Box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主数据咨询方法论&lt;/Text&gt;&#10;    &lt;Text style={{ fontSize: 13, color: '#8A8F99', marginLeft: 'auto' }}&gt;09 / 3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7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可撤销的合并：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>unresolve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比合并本身更重要</a:t>
            </a:r>
            <a:endParaRPr/>
          </a:p>
        </p:txBody>
      </p:sp>
      <p:sp>
        <p:nvSpPr>
          <p:cNvPr id="157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官方在解析元数据里保留了三样东西，其中两样存在的唯一理由就是「将来可能要拆回去」</a:t>
            </a:r>
            <a:endParaRPr/>
          </a:p>
        </p:txBody>
      </p:sp>
      <p:sp>
        <p:nvSpPr>
          <p:cNvPr id="157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577" name=""/>
          <p:cNvSpPr/>
          <p:nvPr/>
        </p:nvSpPr>
        <p:spPr>
          <a:xfrm rot="0" flipH="0" flipV="0">
            <a:off x="609600" y="1285875"/>
            <a:ext cx="10972800" cy="1924050"/>
          </a:xfrm>
          <a:prstGeom prst="roundRect">
            <a:avLst>
              <a:gd name="adj" fmla="val 198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578" name="" descr="{&quot;isTemplate&quot;:true,&quot;type&quot;:&quot;text&quot;}"/>
          <p:cNvSpPr txBox="1"/>
          <p:nvPr/>
        </p:nvSpPr>
        <p:spPr>
          <a:xfrm rot="0" flipH="0" flipV="0">
            <a:off x="781050" y="1419225"/>
            <a:ext cx="10629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解析元数据的三件套（官方字段名）</a:t>
            </a:r>
            <a:endParaRPr/>
          </a:p>
        </p:txBody>
      </p:sp>
      <p:sp>
        <p:nvSpPr>
          <p:cNvPr id="1579" name=""/>
          <p:cNvSpPr/>
          <p:nvPr/>
        </p:nvSpPr>
        <p:spPr>
          <a:xfrm rot="0" flipH="0" flipV="0">
            <a:off x="809625" y="1685925"/>
            <a:ext cx="3476625" cy="1095375"/>
          </a:xfrm>
          <a:prstGeom prst="roundRect">
            <a:avLst>
              <a:gd name="adj" fmla="val 2609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580" name=""/>
          <p:cNvSpPr/>
          <p:nvPr/>
        </p:nvSpPr>
        <p:spPr>
          <a:xfrm rot="0" flipH="0" flipV="0">
            <a:off x="809625" y="1685925"/>
            <a:ext cx="3476625" cy="1095375"/>
          </a:xfrm>
          <a:custGeom>
            <a:pathLst>
              <a:path w="365" h="115">
                <a:moveTo>
                  <a:pt x="3" y="115"/>
                </a:moveTo>
                <a:cubicBezTo>
                  <a:pt x="1" y="115"/>
                  <a:pt x="0" y="114"/>
                  <a:pt x="0" y="11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15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581" name="" descr="{&quot;isTemplate&quot;:true,&quot;type&quot;:&quot;text&quot;}"/>
          <p:cNvSpPr txBox="1"/>
          <p:nvPr/>
        </p:nvSpPr>
        <p:spPr>
          <a:xfrm rot="0" flipH="0" flipV="0">
            <a:off x="923925" y="1781175"/>
            <a:ext cx="3219450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825">
                <a:solidFill>
                  <a:srgbClr val="FBA15C"/>
                </a:solidFill>
                <a:latin typeface="Microsoft YaHei"/>
                <a:ea typeface="Microsoft YaHei"/>
              </a:rPr>
              <a:t>canonicalObjectPrimaryKey</a:t>
            </a:r>
            <a:endParaRPr/>
          </a:p>
        </p:txBody>
      </p:sp>
      <p:sp>
        <p:nvSpPr>
          <p:cNvPr id="1582" name="" descr="{&quot;isTemplate&quot;:true,&quot;type&quot;:&quot;text&quot;}"/>
          <p:cNvSpPr txBox="1"/>
          <p:nvPr/>
        </p:nvSpPr>
        <p:spPr>
          <a:xfrm rot="0" flipH="0" flipV="0">
            <a:off x="923925" y="2000250"/>
            <a:ext cx="3219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FFFFF"/>
                </a:solidFill>
                <a:latin typeface="Microsoft YaHei"/>
                <a:ea typeface="Microsoft YaHei"/>
              </a:rPr>
              <a:t>规范主键</a:t>
            </a:r>
            <a:endParaRPr/>
          </a:p>
        </p:txBody>
      </p:sp>
      <p:sp>
        <p:nvSpPr>
          <p:cNvPr id="1583" name="" descr="{&quot;isTemplate&quot;:true,&quot;type&quot;:&quot;text&quot;}"/>
          <p:cNvSpPr txBox="1"/>
          <p:nvPr/>
        </p:nvSpPr>
        <p:spPr>
          <a:xfrm rot="0" flipH="0" flipV="0">
            <a:off x="923925" y="2219325"/>
            <a:ext cx="32194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合并后对象的规范主键。递归合并时，原成员里成为规范主键的那个会被提升。</a:t>
            </a:r>
            <a:endParaRPr/>
          </a:p>
        </p:txBody>
      </p:sp>
      <p:sp>
        <p:nvSpPr>
          <p:cNvPr id="1584" name=""/>
          <p:cNvSpPr/>
          <p:nvPr/>
        </p:nvSpPr>
        <p:spPr>
          <a:xfrm rot="0" flipH="0" flipV="0">
            <a:off x="4381500" y="1685925"/>
            <a:ext cx="3486150" cy="1095375"/>
          </a:xfrm>
          <a:prstGeom prst="roundRect">
            <a:avLst>
              <a:gd name="adj" fmla="val 2609"/>
            </a:avLst>
          </a:prstGeom>
          <a:solidFill>
            <a:srgbClr val="FA4F24">
              <a:alpha val="20000"/>
            </a:srgbClr>
          </a:solidFill>
          <a:ln/>
        </p:spPr>
        <p:txBody>
          <a:bodyPr/>
          <a:p/>
        </p:txBody>
      </p:sp>
      <p:sp>
        <p:nvSpPr>
          <p:cNvPr id="1585" name=""/>
          <p:cNvSpPr/>
          <p:nvPr/>
        </p:nvSpPr>
        <p:spPr>
          <a:xfrm rot="0" flipH="0" flipV="0">
            <a:off x="4381500" y="1685925"/>
            <a:ext cx="3486150" cy="1095375"/>
          </a:xfrm>
          <a:custGeom>
            <a:pathLst>
              <a:path w="366" h="115">
                <a:moveTo>
                  <a:pt x="3" y="115"/>
                </a:moveTo>
                <a:cubicBezTo>
                  <a:pt x="1" y="115"/>
                  <a:pt x="0" y="114"/>
                  <a:pt x="0" y="11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1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86" name="" descr="{&quot;isTemplate&quot;:true,&quot;type&quot;:&quot;text&quot;}"/>
          <p:cNvSpPr txBox="1"/>
          <p:nvPr/>
        </p:nvSpPr>
        <p:spPr>
          <a:xfrm rot="0" flipH="0" flipV="0">
            <a:off x="4495800" y="1781175"/>
            <a:ext cx="3228975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825">
                <a:solidFill>
                  <a:srgbClr val="FA4F24"/>
                </a:solidFill>
                <a:latin typeface="Microsoft YaHei"/>
                <a:ea typeface="Microsoft YaHei"/>
              </a:rPr>
              <a:t>winnerObjectPrimaryKey</a:t>
            </a:r>
            <a:endParaRPr/>
          </a:p>
        </p:txBody>
      </p:sp>
      <p:sp>
        <p:nvSpPr>
          <p:cNvPr id="1587" name="" descr="{&quot;isTemplate&quot;:true,&quot;type&quot;:&quot;text&quot;}"/>
          <p:cNvSpPr txBox="1"/>
          <p:nvPr/>
        </p:nvSpPr>
        <p:spPr>
          <a:xfrm rot="0" flipH="0" flipV="0">
            <a:off x="4495800" y="2000250"/>
            <a:ext cx="3228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FFFFF"/>
                </a:solidFill>
                <a:latin typeface="Microsoft YaHei"/>
                <a:ea typeface="Microsoft YaHei"/>
              </a:rPr>
              <a:t>胜出主键</a:t>
            </a:r>
            <a:endParaRPr/>
          </a:p>
        </p:txBody>
      </p:sp>
      <p:sp>
        <p:nvSpPr>
          <p:cNvPr id="1588" name="" descr="{&quot;isTemplate&quot;:true,&quot;type&quot;:&quot;text&quot;}"/>
          <p:cNvSpPr txBox="1"/>
          <p:nvPr/>
        </p:nvSpPr>
        <p:spPr>
          <a:xfrm rot="0" flipH="0" flipV="0">
            <a:off x="4495800" y="2219325"/>
            <a:ext cx="322897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内部生成。合并后所有新的属性写入都挂在它上面——这样拆回去时才能干净地分开。</a:t>
            </a:r>
            <a:endParaRPr/>
          </a:p>
        </p:txBody>
      </p:sp>
      <p:sp>
        <p:nvSpPr>
          <p:cNvPr id="1589" name=""/>
          <p:cNvSpPr/>
          <p:nvPr/>
        </p:nvSpPr>
        <p:spPr>
          <a:xfrm rot="0" flipH="0" flipV="0">
            <a:off x="7962900" y="1685925"/>
            <a:ext cx="3476625" cy="1095375"/>
          </a:xfrm>
          <a:prstGeom prst="roundRect">
            <a:avLst>
              <a:gd name="adj" fmla="val 2609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590" name=""/>
          <p:cNvSpPr/>
          <p:nvPr/>
        </p:nvSpPr>
        <p:spPr>
          <a:xfrm rot="0" flipH="0" flipV="0">
            <a:off x="7962900" y="1685925"/>
            <a:ext cx="3476625" cy="1095375"/>
          </a:xfrm>
          <a:custGeom>
            <a:pathLst>
              <a:path w="365" h="115">
                <a:moveTo>
                  <a:pt x="3" y="115"/>
                </a:moveTo>
                <a:cubicBezTo>
                  <a:pt x="1" y="115"/>
                  <a:pt x="0" y="114"/>
                  <a:pt x="0" y="11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15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591" name="" descr="{&quot;isTemplate&quot;:true,&quot;type&quot;:&quot;text&quot;}"/>
          <p:cNvSpPr txBox="1"/>
          <p:nvPr/>
        </p:nvSpPr>
        <p:spPr>
          <a:xfrm rot="0" flipH="0" flipV="0">
            <a:off x="8077200" y="1781175"/>
            <a:ext cx="3219450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825">
                <a:solidFill>
                  <a:srgbClr val="FBA15C"/>
                </a:solidFill>
                <a:latin typeface="Microsoft YaHei"/>
                <a:ea typeface="Microsoft YaHei"/>
              </a:rPr>
              <a:t>otherObjectPrimaryKeys</a:t>
            </a:r>
            <a:endParaRPr/>
          </a:p>
        </p:txBody>
      </p:sp>
      <p:sp>
        <p:nvSpPr>
          <p:cNvPr id="1592" name="" descr="{&quot;isTemplate&quot;:true,&quot;type&quot;:&quot;text&quot;}"/>
          <p:cNvSpPr txBox="1"/>
          <p:nvPr/>
        </p:nvSpPr>
        <p:spPr>
          <a:xfrm rot="0" flipH="0" flipV="0">
            <a:off x="8077200" y="2000250"/>
            <a:ext cx="3219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FFFFF"/>
                </a:solidFill>
                <a:latin typeface="Microsoft YaHei"/>
                <a:ea typeface="Microsoft YaHei"/>
              </a:rPr>
              <a:t>其他主键列表</a:t>
            </a:r>
            <a:endParaRPr/>
          </a:p>
        </p:txBody>
      </p:sp>
      <p:sp>
        <p:nvSpPr>
          <p:cNvPr id="1593" name="" descr="{&quot;isTemplate&quot;:true,&quot;type&quot;:&quot;text&quot;}"/>
          <p:cNvSpPr txBox="1"/>
          <p:nvPr/>
        </p:nvSpPr>
        <p:spPr>
          <a:xfrm rot="0" flipH="0" flipV="0">
            <a:off x="8077200" y="2219325"/>
            <a:ext cx="32194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被合并进来的其他主键。递归合并时，所有成分的对象主键会被扁平化进这个列表。</a:t>
            </a:r>
            <a:endParaRPr/>
          </a:p>
        </p:txBody>
      </p:sp>
      <p:sp>
        <p:nvSpPr>
          <p:cNvPr id="1594" name="" descr="{&quot;isTemplate&quot;:true,&quot;type&quot;:&quot;text&quot;}"/>
          <p:cNvSpPr txBox="1"/>
          <p:nvPr/>
        </p:nvSpPr>
        <p:spPr>
          <a:xfrm rot="0" flipH="0" flipV="0">
            <a:off x="781050" y="2876550"/>
            <a:ext cx="106299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三者合起来表达的是：合并不是覆盖，是「带血缘的聚合」。历史保留了，才谈得上回退。</a:t>
            </a:r>
            <a:endParaRPr/>
          </a:p>
        </p:txBody>
      </p:sp>
      <p:sp>
        <p:nvSpPr>
          <p:cNvPr id="1595" name=""/>
          <p:cNvSpPr/>
          <p:nvPr/>
        </p:nvSpPr>
        <p:spPr>
          <a:xfrm rot="0" flipH="0" flipV="0">
            <a:off x="647700" y="3305175"/>
            <a:ext cx="5695950" cy="2333625"/>
          </a:xfrm>
          <a:prstGeom prst="roundRect">
            <a:avLst>
              <a:gd name="adj" fmla="val 163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596" name=""/>
          <p:cNvSpPr/>
          <p:nvPr/>
        </p:nvSpPr>
        <p:spPr>
          <a:xfrm rot="0" flipH="0" flipV="0">
            <a:off x="647700" y="3305175"/>
            <a:ext cx="5695950" cy="2333625"/>
          </a:xfrm>
          <a:custGeom>
            <a:pathLst>
              <a:path w="598" h="245">
                <a:moveTo>
                  <a:pt x="4" y="245"/>
                </a:moveTo>
                <a:cubicBezTo>
                  <a:pt x="2" y="245"/>
                  <a:pt x="0" y="243"/>
                  <a:pt x="0" y="24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4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97" name="" descr="{&quot;isTemplate&quot;:true,&quot;type&quot;:&quot;text&quot;}"/>
          <p:cNvSpPr txBox="1"/>
          <p:nvPr/>
        </p:nvSpPr>
        <p:spPr>
          <a:xfrm rot="0" flipH="0" flipV="0">
            <a:off x="809625" y="3790950"/>
            <a:ext cx="533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官方明确写下来的两条撤销保障</a:t>
            </a:r>
            <a:endParaRPr/>
          </a:p>
        </p:txBody>
      </p:sp>
      <p:sp>
        <p:nvSpPr>
          <p:cNvPr id="1598" name="" descr="{&quot;isTemplate&quot;:true,&quot;type&quot;:&quot;text&quot;}"/>
          <p:cNvSpPr txBox="1"/>
          <p:nvPr/>
        </p:nvSpPr>
        <p:spPr>
          <a:xfrm rot="0" flipH="0" flipV="0">
            <a:off x="809625" y="4029075"/>
            <a:ext cx="533400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一、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各对象的独立历史被保留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，解析出问题时可以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unresolve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回原状；二、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直接写在合并对象上的属性，在撤销时可按成分拆回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到对应原对象——不会因为合并期间的编辑而丢数据。</a:t>
            </a:r>
            <a:endParaRPr/>
          </a:p>
        </p:txBody>
      </p:sp>
      <p:sp>
        <p:nvSpPr>
          <p:cNvPr id="1599" name=""/>
          <p:cNvSpPr/>
          <p:nvPr/>
        </p:nvSpPr>
        <p:spPr>
          <a:xfrm rot="0" flipH="0" flipV="0">
            <a:off x="809625" y="4581525"/>
            <a:ext cx="5334000" cy="571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00" name="" descr="{&quot;isTemplate&quot;:true,&quot;type&quot;:&quot;text&quot;}"/>
          <p:cNvSpPr txBox="1"/>
          <p:nvPr/>
        </p:nvSpPr>
        <p:spPr>
          <a:xfrm rot="0" flipH="0" flipV="0">
            <a:off x="914400" y="4667250"/>
            <a:ext cx="512445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官方那句原话是：如果解析出错了，将来对象需要能被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un-resolve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。这就是主数据与普通数据清洗最本质的区别。</a:t>
            </a:r>
            <a:endParaRPr/>
          </a:p>
        </p:txBody>
      </p:sp>
      <p:sp>
        <p:nvSpPr>
          <p:cNvPr id="1601" name=""/>
          <p:cNvSpPr/>
          <p:nvPr/>
        </p:nvSpPr>
        <p:spPr>
          <a:xfrm rot="0" flipH="0" flipV="0">
            <a:off x="6400800" y="3305175"/>
            <a:ext cx="5181600" cy="2333625"/>
          </a:xfrm>
          <a:prstGeom prst="roundRect">
            <a:avLst>
              <a:gd name="adj" fmla="val 163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02" name="" descr="{&quot;isTemplate&quot;:true,&quot;type&quot;:&quot;text&quot;}"/>
          <p:cNvSpPr txBox="1"/>
          <p:nvPr/>
        </p:nvSpPr>
        <p:spPr>
          <a:xfrm rot="0" flipH="0" flipV="0">
            <a:off x="6562725" y="3419475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对咨询的三条硬要求</a:t>
            </a:r>
            <a:endParaRPr/>
          </a:p>
        </p:txBody>
      </p:sp>
      <p:sp>
        <p:nvSpPr>
          <p:cNvPr id="1603" name=""/>
          <p:cNvSpPr/>
          <p:nvPr/>
        </p:nvSpPr>
        <p:spPr>
          <a:xfrm rot="0" flipH="0" flipV="0">
            <a:off x="6591300" y="3667125"/>
            <a:ext cx="4857750" cy="51435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04" name=""/>
          <p:cNvSpPr/>
          <p:nvPr/>
        </p:nvSpPr>
        <p:spPr>
          <a:xfrm rot="0" flipH="0" flipV="0">
            <a:off x="6591300" y="3667125"/>
            <a:ext cx="4857750" cy="514350"/>
          </a:xfrm>
          <a:custGeom>
            <a:pathLst>
              <a:path w="510" h="54">
                <a:moveTo>
                  <a:pt x="3" y="54"/>
                </a:moveTo>
                <a:cubicBezTo>
                  <a:pt x="1" y="54"/>
                  <a:pt x="0" y="53"/>
                  <a:pt x="0" y="5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05" name="" descr="{&quot;isTemplate&quot;:true,&quot;type&quot;:&quot;text&quot;}"/>
          <p:cNvSpPr txBox="1"/>
          <p:nvPr/>
        </p:nvSpPr>
        <p:spPr>
          <a:xfrm rot="0" flipH="0" flipV="0">
            <a:off x="6686550" y="3743325"/>
            <a:ext cx="4638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一</a:t>
            </a:r>
            <a:r>
              <a:rPr lang="en-US" sz="9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合并记录要能查</a:t>
            </a:r>
            <a:endParaRPr/>
          </a:p>
        </p:txBody>
      </p:sp>
      <p:sp>
        <p:nvSpPr>
          <p:cNvPr id="1606" name="" descr="{&quot;isTemplate&quot;:true,&quot;type&quot;:&quot;text&quot;}"/>
          <p:cNvSpPr txBox="1"/>
          <p:nvPr/>
        </p:nvSpPr>
        <p:spPr>
          <a:xfrm rot="0" flipH="0" flipV="0">
            <a:off x="6686550" y="3914775"/>
            <a:ext cx="46386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业务问「这两个为什么被合并了」，必须能答出规则、置信度、时间、操作人。</a:t>
            </a:r>
            <a:endParaRPr/>
          </a:p>
        </p:txBody>
      </p:sp>
      <p:sp>
        <p:nvSpPr>
          <p:cNvPr id="1607" name=""/>
          <p:cNvSpPr/>
          <p:nvPr/>
        </p:nvSpPr>
        <p:spPr>
          <a:xfrm rot="0" flipH="0" flipV="0">
            <a:off x="6591300" y="4248150"/>
            <a:ext cx="4857750" cy="51435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08" name=""/>
          <p:cNvSpPr/>
          <p:nvPr/>
        </p:nvSpPr>
        <p:spPr>
          <a:xfrm rot="0" flipH="0" flipV="0">
            <a:off x="6591300" y="4248150"/>
            <a:ext cx="4857750" cy="514350"/>
          </a:xfrm>
          <a:custGeom>
            <a:pathLst>
              <a:path w="510" h="54">
                <a:moveTo>
                  <a:pt x="3" y="54"/>
                </a:moveTo>
                <a:cubicBezTo>
                  <a:pt x="1" y="54"/>
                  <a:pt x="0" y="53"/>
                  <a:pt x="0" y="5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09" name="" descr="{&quot;isTemplate&quot;:true,&quot;type&quot;:&quot;text&quot;}"/>
          <p:cNvSpPr txBox="1"/>
          <p:nvPr/>
        </p:nvSpPr>
        <p:spPr>
          <a:xfrm rot="0" flipH="0" flipV="0">
            <a:off x="6686550" y="4324350"/>
            <a:ext cx="4638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二</a:t>
            </a:r>
            <a:r>
              <a:rPr lang="en-US" sz="9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撤销要有</a:t>
            </a:r>
            <a:r>
              <a:rPr lang="en-US" sz="9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SLA</a:t>
            </a:r>
            <a:endParaRPr/>
          </a:p>
        </p:txBody>
      </p:sp>
      <p:sp>
        <p:nvSpPr>
          <p:cNvPr id="1610" name="" descr="{&quot;isTemplate&quot;:true,&quot;type&quot;:&quot;text&quot;}"/>
          <p:cNvSpPr txBox="1"/>
          <p:nvPr/>
        </p:nvSpPr>
        <p:spPr>
          <a:xfrm rot="0" flipH="0" flipV="0">
            <a:off x="6686550" y="4495800"/>
            <a:ext cx="46386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发现误合并后多久能拆完？说不出来就说明没真正设计过撤销。</a:t>
            </a:r>
            <a:endParaRPr/>
          </a:p>
        </p:txBody>
      </p:sp>
      <p:sp>
        <p:nvSpPr>
          <p:cNvPr id="1611" name=""/>
          <p:cNvSpPr/>
          <p:nvPr/>
        </p:nvSpPr>
        <p:spPr>
          <a:xfrm rot="0" flipH="0" flipV="0">
            <a:off x="6591300" y="4829175"/>
            <a:ext cx="4857750" cy="51435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12" name=""/>
          <p:cNvSpPr/>
          <p:nvPr/>
        </p:nvSpPr>
        <p:spPr>
          <a:xfrm rot="0" flipH="0" flipV="0">
            <a:off x="6591300" y="4829175"/>
            <a:ext cx="4857750" cy="514350"/>
          </a:xfrm>
          <a:custGeom>
            <a:pathLst>
              <a:path w="510" h="54">
                <a:moveTo>
                  <a:pt x="3" y="54"/>
                </a:moveTo>
                <a:cubicBezTo>
                  <a:pt x="1" y="54"/>
                  <a:pt x="0" y="53"/>
                  <a:pt x="0" y="5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13" name="" descr="{&quot;isTemplate&quot;:true,&quot;type&quot;:&quot;text&quot;}"/>
          <p:cNvSpPr txBox="1"/>
          <p:nvPr/>
        </p:nvSpPr>
        <p:spPr>
          <a:xfrm rot="0" flipH="0" flipV="0">
            <a:off x="6686550" y="4905375"/>
            <a:ext cx="4638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三</a:t>
            </a:r>
            <a:r>
              <a:rPr lang="en-US" sz="9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撤销权限要受管</a:t>
            </a:r>
            <a:endParaRPr/>
          </a:p>
        </p:txBody>
      </p:sp>
      <p:sp>
        <p:nvSpPr>
          <p:cNvPr id="1614" name="" descr="{&quot;isTemplate&quot;:true,&quot;type&quot;:&quot;text&quot;}"/>
          <p:cNvSpPr txBox="1"/>
          <p:nvPr/>
        </p:nvSpPr>
        <p:spPr>
          <a:xfrm rot="0" flipH="0" flipV="0">
            <a:off x="6686550" y="5076825"/>
            <a:ext cx="46386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拆开一个实体等于让下游全部失配，这本身就是一次高风险治理动作（对应第九册）。</a:t>
            </a:r>
            <a:endParaRPr/>
          </a:p>
        </p:txBody>
      </p:sp>
      <p:sp>
        <p:nvSpPr>
          <p:cNvPr id="1615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616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17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主数据咨询方法论</a:t>
            </a:r>
            <a:endParaRPr/>
          </a:p>
        </p:txBody>
      </p:sp>
      <p:sp>
        <p:nvSpPr>
          <p:cNvPr id="1618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09 / 30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40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仲裁与生存规则：&lt;span style={{ color: '#FA4F24' }}&gt;真相是运行时算出来的&lt;/span&gt;&#10;    &lt;/Text&gt;&#10;    &lt;Text style={{ fontSize: 20, color: '#8A8F99', marginTop: 8 }}&gt;&#10;      多个源说同一件事不一样时，不要入库时覆盖——保留多源值，查询时按策略算出当前可信值&#10;    &lt;/Text&gt;&#10;  &lt;/Box&gt;&#10;  &lt;Box style={{ height: 1, background: '#E8E8E8' }} /&gt;&#10;&#10;  &lt;Box style={{ paddingTop: 14, paddingBottom: 8, height: 479, flexDirection: 'column', gap: 10 }}&gt;&#10;    &lt;Box style={{ height: 278, flexDirection: 'row', gap: 10 }}&gt;&#10;      &lt;Box style={{ flex: 1.15, background: '#FFFFFF', border: '1px solid #E8E8E8', borderRadius: 4, padding: '13px 16px', flexDirection: 'column' }}&gt;&#10;        &lt;Text style={{ fontSize: 14, fontWeight: 'bold', color: '#0F1423' }}&gt;一个真实的冲突场景&lt;/Text&gt;&#10;        &lt;Box style={{ flex: 1, marginTop: 10, flexDirection: 'column', gap: 7 }}&gt;&#10;          &lt;Box style={{ background: '#F7F7F8', borderRadius: 3, borderLeft: '3px solid #FA4F24', padding: '8px 11px' }}&gt;&#10;            &lt;Text style={{ fontSize: 12, fontWeight: 'bold', color: '#0F1423' }}&gt;SCADA 系统：当前温度 85&lt;/Text&gt;&#10;          &lt;/Box&gt;&#10;          &lt;Box style={{ background: '#F7F7F8', borderRadius: 3, borderLeft: '3px solid #C43A17', padding: '8px 11px' }}&gt;&#10;            &lt;Text style={{ fontSize: 12, fontWeight: 'bold', color: '#0F1423' }}&gt;EAM 系统：当前温度 90&lt;/Text&gt;&#10;          &lt;/Box&gt;&#10;        &lt;/Box&gt;&#10;        &lt;Box style={{ marginTop: 10, background: '#0F1423', borderRadius: 3, padding: '9px 11px' }}&gt;&#10;          &lt;Text style={{ fontSize: 11.5, color: 'rgba(255,255,255,0.9)', lineHeight: 1.5 }}&gt;&#10;            做法不是让 EAM 覆盖 SCADA，而是&lt;tspan style={{ fontWeight: 'bold', color: '#FBA15C' }}&gt;两个都留着，查询时按仲裁策略算出当前可信值&lt;/tspan&gt;。&#10;          &lt;/Text&gt;&#10;        &lt;/Box&gt;&#10;      &lt;/Box&gt;&#10;&#10;      &lt;Box style={{ flex: 1.25, background: '#F7F7F8', borderRadius: 4, padding: '13px 16px', flexDirection: 'column' }}&gt;&#10;        &lt;Text style={{ fontSize: 14, fontWeight: 'bold', color: '#0F1423' }}&gt;四类仲裁策略与适用场景&lt;/Text&gt;&#10;        &lt;Box style={{ flex: 1, marginTop: 9, flexDirection: 'column', gap: 6 }}&gt;&#10;          {[&#10;            { k: '来源优先级', v: '有公认主数据系统时用它', e: '财务以 ERP 为准' },&#10;            { k: '时间戳优先', v: '需要最新状态时', e: '温度取最新上报' },&#10;            { k: '业务规则', v: '字段语义特殊', e: '合同以审批终态为准' },&#10;            { k: '人工仲裁', v: '影响重大且自动不可靠', e: '是否同一主体' },&#10;          ].map((x, i) =&gt; (&#10;            &lt;Box key={x.k} style={{ background: '#FFFFFF', borderRadius: 3, borderLeft: '3px solid ' + (i === 3 ? '#C43A17' : '#FA4F24'), padding: '6px 10px' }}&gt;&#10;              &lt;Text style={{ fontSize: 11.5, fontWeight: 'bold', color: '#0F1423' }}&gt;{x.k}&lt;/Text&gt;&#10;              &lt;Text style={{ fontSize: 10.5, color: '#3A4050', marginTop: 2, lineHeight: 1.4 }}&gt;{x.v}　&lt;tspan style={{ color: '#8A8F99' }}&gt;{x.e}&lt;/tspan&gt;&lt;/Text&gt;&#10;            &lt;/Box&gt;&#10;          ))}&#10;          &lt;Text style={{ fontSize: 10.5, color: '#5A6070', lineHeight: 1.4 }}&gt;还可以组合使用：时间窗口内取最高可信来源。&lt;/Text&gt;&#10;        &lt;/Box&gt;&#10;      &lt;/Box&gt;&#10;&#10;      &lt;Box style={{ flex: 0.85, background: '#FFF3EE', borderRadius: 4, borderLeft: '4px solid #FA4F24', padding: '13px 16px', flexDirection: 'column', justifyContent: 'center' }}&gt;&#10;        &lt;Text style={{ fontSize: 14, fontWeight: 'bold', color: '#C43A17' }}&gt;两条关键原则&lt;/Text&gt;&#10;        &lt;Text style={{ fontSize: 12, color: '#3A4050', marginTop: 8, lineHeight: 1.6 }}&gt;&#10;          &lt;tspan style={{ fontWeight: 'bold' }}&gt;一、所有被「覆盖」掉的值不能丢。&lt;/tspan&gt;它们依然是历史事实，随时可以被翻出来做审计、纠偏或重新仲裁。&#10;        &lt;/Text&gt;&#10;        &lt;Text style={{ fontSize: 12, color: '#3A4050', marginTop: 8, lineHeight: 1.6 }}&gt;&#10;          &lt;tspan style={{ fontWeight: 'bold' }}&gt;二、仲裁逻辑本身要版本化。&lt;/tspan&gt;业务规则会变，规则变了之后要能回答「上周那个结论是按哪版规则算的」。&#10;        &lt;/Text&gt;&#10;      &lt;/Box&gt;&#10;    &lt;/Box&gt;&#10;&#10;    &lt;Box style={{ flex: 1, background: '#0F1423', borderRadius: 4, padding: '12px 18px', flexDirection: 'column' }}&gt;&#10;      &lt;Text style={{ fontSize: 14, fontWeight: 'bold', color: '#FBA15C' }}&gt;这一条设计带来的三个收益&lt;/Text&gt;&#10;      &lt;Box style={{ flex: 1, flexDirection: 'row', gap: 10, marginTop: 10 }}&gt;&#10;        {[&#10;          { n: '收益一', t: '规则变了不用重采数据', d: '只需要重放投影——原始层不动，这是与「直接覆盖源数据」最本质的区别。' },&#10;          { n: '收益二', t: '算法团队还能拿到原始粒度', d: '只给清洗后的汇总数据，等于把特征工程的可能性堵死；原始层保留就都还有。' },&#10;          { n: '收益三', t: '这才是数据谱系', d: '从对象属性一路往回查，能看到它来自哪张源表、经过哪条管道、用了哪版规则。' },&#10;        ].map((x) =&gt; (&#10;          &lt;Box key={x.n} style={{ flex: 1, background: 'rgba(255,255,255,0.07)', borderRadius: 3, borderTop: '3px solid #FBA15C', padding: '8px 11px', flexDirection: 'column' }}&gt;&#10;            &lt;Text style={{ fontSize: 10.5, color: '#FBA15C', fontWeight: 'bold' }}&gt;{x.n}&lt;/Text&gt;&#10;            &lt;Text style={{ fontSize: 12.5, fontWeight: 'bold', color: '#FFFFFF', marginTop: 4 }}&gt;{x.t}&lt;/Text&gt;&#10;            &lt;Text style={{ fontSize: 10.5, color: 'rgba(255,255,255,0.8)', marginTop: 4, lineHeight: 1.45, flex: 1 }}&gt;{x.d}&lt;/Text&gt;&#10;          &lt;/Box&gt;&#10;        ))}&#10;      &lt;/Box&gt;&#10;      &lt;Text style={{ fontSize: 11.5, color: 'rgba(255,255,255,0.72)', marginTop: 9, lineHeight: 1.45 }}&gt;&#10;        落到实施上：仲裁规则表（阶段四产出物）必须逐属性写明「谁说了算、在什么条件下说了算、谁有权推翻」。&#10;      &lt;/Text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主数据咨询方法论&lt;/Text&gt;&#10;    &lt;Text style={{ fontSize: 13, color: '#8A8F99', marginLeft: 'auto' }}&gt;10 / 3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仲裁与生存规则：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真相是运行时算出来的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多个源说同一件事不一样时，不要入库时覆盖——保留多源值，查询时按策略算出当前可信值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45" name=""/>
          <p:cNvSpPr/>
          <p:nvPr/>
        </p:nvSpPr>
        <p:spPr>
          <a:xfrm rot="0" flipH="0" flipV="0">
            <a:off x="609600" y="1285875"/>
            <a:ext cx="3819525" cy="264795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62000" y="1409700"/>
            <a:ext cx="3514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一个真实的冲突场景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790575" y="1666875"/>
            <a:ext cx="3514725" cy="295275"/>
          </a:xfrm>
          <a:prstGeom prst="roundRect">
            <a:avLst>
              <a:gd name="adj" fmla="val 967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8" name=""/>
          <p:cNvSpPr/>
          <p:nvPr/>
        </p:nvSpPr>
        <p:spPr>
          <a:xfrm rot="0" flipH="0" flipV="0">
            <a:off x="790575" y="1666875"/>
            <a:ext cx="3514725" cy="295275"/>
          </a:xfrm>
          <a:custGeom>
            <a:pathLst>
              <a:path w="369" h="31">
                <a:moveTo>
                  <a:pt x="3" y="31"/>
                </a:moveTo>
                <a:cubicBezTo>
                  <a:pt x="1" y="31"/>
                  <a:pt x="0" y="30"/>
                  <a:pt x="0" y="2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95350" y="1743075"/>
            <a:ext cx="3276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SCADA </a:t>
            </a: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系统：当前温度</a:t>
            </a:r>
            <a:r>
              <a:rPr lang="en-US" sz="9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85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790575" y="2028825"/>
            <a:ext cx="3514725" cy="295275"/>
          </a:xfrm>
          <a:prstGeom prst="roundRect">
            <a:avLst>
              <a:gd name="adj" fmla="val 967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790575" y="2028825"/>
            <a:ext cx="3514725" cy="295275"/>
          </a:xfrm>
          <a:custGeom>
            <a:pathLst>
              <a:path w="369" h="31">
                <a:moveTo>
                  <a:pt x="3" y="31"/>
                </a:moveTo>
                <a:cubicBezTo>
                  <a:pt x="1" y="31"/>
                  <a:pt x="0" y="30"/>
                  <a:pt x="0" y="2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1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895350" y="2105025"/>
            <a:ext cx="3276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EAM </a:t>
            </a: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系统：当前温度</a:t>
            </a:r>
            <a:r>
              <a:rPr lang="en-US" sz="9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90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762000" y="3238500"/>
            <a:ext cx="3514725" cy="571500"/>
          </a:xfrm>
          <a:prstGeom prst="roundRect">
            <a:avLst>
              <a:gd name="adj" fmla="val 5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866775" y="3324225"/>
            <a:ext cx="3305175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做法不是让</a:t>
            </a:r>
            <a:r>
              <a:rPr lang="en-US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EAM </a:t>
            </a:r>
            <a:r>
              <a:rPr lang="zh-CN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覆盖</a:t>
            </a:r>
            <a:r>
              <a:rPr lang="en-US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SCADA</a:t>
            </a:r>
            <a:r>
              <a:rPr lang="zh-CN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，而是</a:t>
            </a:r>
            <a:r>
              <a:rPr lang="zh-CN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两个都留着，查询时按仲裁策略算出当前可信值</a:t>
            </a:r>
            <a:r>
              <a:rPr lang="zh-CN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4524375" y="1285875"/>
            <a:ext cx="4143375" cy="2647950"/>
          </a:xfrm>
          <a:prstGeom prst="roundRect">
            <a:avLst>
              <a:gd name="adj" fmla="val 143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4676775" y="1409700"/>
            <a:ext cx="3838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四类仲裁策略与适用场景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4705350" y="1657350"/>
            <a:ext cx="3838575" cy="43815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" name=""/>
          <p:cNvSpPr/>
          <p:nvPr/>
        </p:nvSpPr>
        <p:spPr>
          <a:xfrm rot="0" flipH="0" flipV="0">
            <a:off x="4705350" y="1657350"/>
            <a:ext cx="3838575" cy="438150"/>
          </a:xfrm>
          <a:custGeom>
            <a:pathLst>
              <a:path w="403" h="46">
                <a:moveTo>
                  <a:pt x="3" y="46"/>
                </a:moveTo>
                <a:cubicBezTo>
                  <a:pt x="1" y="46"/>
                  <a:pt x="0" y="45"/>
                  <a:pt x="0" y="4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4800600" y="1714500"/>
            <a:ext cx="3619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来源优先级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4800600" y="1866900"/>
            <a:ext cx="36195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有公认主数据系统时用它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　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财务以</a:t>
            </a: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 ERP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为准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4705350" y="2152650"/>
            <a:ext cx="3838575" cy="43815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" name=""/>
          <p:cNvSpPr/>
          <p:nvPr/>
        </p:nvSpPr>
        <p:spPr>
          <a:xfrm rot="0" flipH="0" flipV="0">
            <a:off x="4705350" y="2152650"/>
            <a:ext cx="3838575" cy="438150"/>
          </a:xfrm>
          <a:custGeom>
            <a:pathLst>
              <a:path w="403" h="46">
                <a:moveTo>
                  <a:pt x="3" y="46"/>
                </a:moveTo>
                <a:cubicBezTo>
                  <a:pt x="1" y="46"/>
                  <a:pt x="0" y="45"/>
                  <a:pt x="0" y="4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4800600" y="2209800"/>
            <a:ext cx="3619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时间戳优先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4800600" y="2362200"/>
            <a:ext cx="36195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需要最新状态时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　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温度取最新上报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4705350" y="2647950"/>
            <a:ext cx="3838575" cy="43815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4705350" y="2647950"/>
            <a:ext cx="3838575" cy="438150"/>
          </a:xfrm>
          <a:custGeom>
            <a:pathLst>
              <a:path w="403" h="46">
                <a:moveTo>
                  <a:pt x="3" y="46"/>
                </a:moveTo>
                <a:cubicBezTo>
                  <a:pt x="1" y="46"/>
                  <a:pt x="0" y="45"/>
                  <a:pt x="0" y="4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4800600" y="2705100"/>
            <a:ext cx="3619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业务规则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4800600" y="2857500"/>
            <a:ext cx="36195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字段语义特殊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　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合同以审批终态为准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4705350" y="3143250"/>
            <a:ext cx="3838575" cy="43815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4705350" y="3143250"/>
            <a:ext cx="3838575" cy="438150"/>
          </a:xfrm>
          <a:custGeom>
            <a:pathLst>
              <a:path w="403" h="46">
                <a:moveTo>
                  <a:pt x="3" y="46"/>
                </a:moveTo>
                <a:cubicBezTo>
                  <a:pt x="1" y="46"/>
                  <a:pt x="0" y="45"/>
                  <a:pt x="0" y="4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6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4800600" y="3200400"/>
            <a:ext cx="3619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人工仲裁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4800600" y="3352800"/>
            <a:ext cx="36195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影响重大且自动不可靠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　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是否同一主体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4676775" y="3638550"/>
            <a:ext cx="383857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还可以组合使用：时间窗口内取最高可信来源。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8801100" y="1285875"/>
            <a:ext cx="2819400" cy="2647950"/>
          </a:xfrm>
          <a:prstGeom prst="roundRect">
            <a:avLst>
              <a:gd name="adj" fmla="val 1439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75" name=""/>
          <p:cNvSpPr/>
          <p:nvPr/>
        </p:nvSpPr>
        <p:spPr>
          <a:xfrm rot="0" flipH="0" flipV="0">
            <a:off x="8801100" y="1285875"/>
            <a:ext cx="2819400" cy="2647950"/>
          </a:xfrm>
          <a:custGeom>
            <a:pathLst>
              <a:path w="296" h="278">
                <a:moveTo>
                  <a:pt x="4" y="278"/>
                </a:moveTo>
                <a:cubicBezTo>
                  <a:pt x="2" y="278"/>
                  <a:pt x="0" y="276"/>
                  <a:pt x="0" y="27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7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8953500" y="1790700"/>
            <a:ext cx="2476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两条关键原则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953500" y="2028825"/>
            <a:ext cx="24765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一、所有被「覆盖」掉的值不能丢。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它们依然是历史事实，随时可以被翻出来做审计、纠偏或重新仲裁。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8953500" y="2771775"/>
            <a:ext cx="24765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二、仲裁逻辑本身要版本化。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业务规则会变，规则变了之后要能回答「上周那个结论是按哪版规则算的」。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609600" y="4029075"/>
            <a:ext cx="10972800" cy="1647825"/>
          </a:xfrm>
          <a:prstGeom prst="roundRect">
            <a:avLst>
              <a:gd name="adj" fmla="val 231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781050" y="4143375"/>
            <a:ext cx="10629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这一条设计带来的三个收益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781050" y="4429125"/>
            <a:ext cx="3476625" cy="876300"/>
          </a:xfrm>
          <a:prstGeom prst="roundRect">
            <a:avLst>
              <a:gd name="adj" fmla="val 3261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82" name=""/>
          <p:cNvSpPr/>
          <p:nvPr/>
        </p:nvSpPr>
        <p:spPr>
          <a:xfrm rot="0" flipH="0" flipV="0">
            <a:off x="781050" y="4429125"/>
            <a:ext cx="3476625" cy="876300"/>
          </a:xfrm>
          <a:custGeom>
            <a:pathLst>
              <a:path w="365" h="92">
                <a:moveTo>
                  <a:pt x="362" y="0"/>
                </a:moveTo>
                <a:cubicBezTo>
                  <a:pt x="364" y="0"/>
                  <a:pt x="365" y="1"/>
                  <a:pt x="365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62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885825" y="4505325"/>
            <a:ext cx="32670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FBA15C"/>
                </a:solidFill>
                <a:latin typeface="Microsoft YaHei"/>
                <a:ea typeface="Microsoft YaHei"/>
              </a:rPr>
              <a:t>收益一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885825" y="4667250"/>
            <a:ext cx="3267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规则变了不用重采数据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885825" y="4848225"/>
            <a:ext cx="3267075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只需要重放投影——原始层不动，这是与「直接覆盖源数据」最本质的区别。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4352925" y="4429125"/>
            <a:ext cx="3486150" cy="876300"/>
          </a:xfrm>
          <a:prstGeom prst="roundRect">
            <a:avLst>
              <a:gd name="adj" fmla="val 3261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87" name=""/>
          <p:cNvSpPr/>
          <p:nvPr/>
        </p:nvSpPr>
        <p:spPr>
          <a:xfrm rot="0" flipH="0" flipV="0">
            <a:off x="4352925" y="4429125"/>
            <a:ext cx="3486150" cy="876300"/>
          </a:xfrm>
          <a:custGeom>
            <a:pathLst>
              <a:path w="366" h="92">
                <a:moveTo>
                  <a:pt x="363" y="0"/>
                </a:moveTo>
                <a:cubicBezTo>
                  <a:pt x="365" y="0"/>
                  <a:pt x="366" y="1"/>
                  <a:pt x="366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63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4457700" y="4505325"/>
            <a:ext cx="32766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FBA15C"/>
                </a:solidFill>
                <a:latin typeface="Microsoft YaHei"/>
                <a:ea typeface="Microsoft YaHei"/>
              </a:rPr>
              <a:t>收益二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4457700" y="4667250"/>
            <a:ext cx="3276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算法团队还能拿到原始粒度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4457700" y="4848225"/>
            <a:ext cx="3276600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只给清洗后的汇总数据，等于把特征工程的可能性堵死；原始层保留就都还有。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7934325" y="4429125"/>
            <a:ext cx="3476625" cy="876300"/>
          </a:xfrm>
          <a:prstGeom prst="roundRect">
            <a:avLst>
              <a:gd name="adj" fmla="val 3261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92" name=""/>
          <p:cNvSpPr/>
          <p:nvPr/>
        </p:nvSpPr>
        <p:spPr>
          <a:xfrm rot="0" flipH="0" flipV="0">
            <a:off x="7934325" y="4429125"/>
            <a:ext cx="3476625" cy="876300"/>
          </a:xfrm>
          <a:custGeom>
            <a:pathLst>
              <a:path w="365" h="92">
                <a:moveTo>
                  <a:pt x="362" y="0"/>
                </a:moveTo>
                <a:cubicBezTo>
                  <a:pt x="364" y="0"/>
                  <a:pt x="365" y="1"/>
                  <a:pt x="365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62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8039100" y="4505325"/>
            <a:ext cx="32670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FBA15C"/>
                </a:solidFill>
                <a:latin typeface="Microsoft YaHei"/>
                <a:ea typeface="Microsoft YaHei"/>
              </a:rPr>
              <a:t>收益三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8039100" y="4667250"/>
            <a:ext cx="3267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这才是数据谱系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8039100" y="4848225"/>
            <a:ext cx="3267075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从对象属性一路往回查，能看到它来自哪张源表、经过哪条管道、用了哪版规则。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781050" y="5362575"/>
            <a:ext cx="1062990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落到实施上：仲裁规则表（阶段四产出物）必须逐属性写明「谁说了算、在什么条件下说了算、谁有权推翻」。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8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主数据咨询方法论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10 / 30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01" name="" descr="&lt;Slide style={{ width: 1280, height: 720, background: '#0F1423' }}&gt;&#13;&#10;  &lt;Box style={{ position: 'absolute', left: 0, top: 0, width: 1280, height: 720, background: 'linear-gradient(135deg, #0F1423 0%, #2A1810 100%)' }} /&gt;&#13;&#10;  &lt;Box style={{ position: 'absolute', right: 0, top: 0, width: 560, height: 720, background: 'linear-gradient(200deg, rgba(250,79,36,0.28) 0%, rgba(250,79,36,0) 70%)' }} /&gt;&#13;&#10;&#13;&#10;  &lt;Box style={{ position: 'absolute', right: 70, top: 110 }}&gt;&#13;&#10;    &lt;Text style={{ fontSize: 300, fontWeight: 'bold', color: 'rgba(255,255,255,0.08)', lineHeight: 1.0 }}&gt;02&lt;/Text&gt;&#13;&#10;  &lt;/Box&gt;&#13;&#10;&#13;&#10;  &lt;Box style={{ position: 'absolute', left: 88, top: 232, width: 760, flexDirection: 'column' }}&gt;&#13;&#10;    &lt;Text style={{ fontSize: 15, color: 'rgba(255,255,255,0.5)', letterSpacing: 3 }}&gt;PART 02&lt;/Text&gt;&#13;&#10;    &lt;Box style={{ width: 72, height: 5, background: '#FA4F24', marginTop: 22 }} /&gt;&#13;&#10;    &lt;Text style={{ fontSize: 52, fontWeight: 'bold', color: '#FFFFFF', marginTop: 28, lineHeight: 1.15 }}&gt;主数据如何落地&lt;/Text&gt;&#13;&#10;    &lt;Text style={{ fontSize: 17, color: 'rgba(255,255,255,0.62)', letterSpacing: 2, marginTop: 20 }}&gt;HOW MASTER DATA IS BUILT&lt;/Text&gt;&#13;&#10;    &lt;Text style={{ fontSize: 19, color: 'rgba(255,255,255,0.85)', marginTop: 26, lineHeight: 1.6 }}&gt;对象类型即模型，链接即层级，动作即写入&lt;/Text&gt;&#13;&#10;    &lt;Text style={{ fontSize: 14.5, color: 'rgba(255,255,255,0.55)', marginTop: 16, lineHeight: 1.55, width: 720 }}&gt;这一部分把上一部分的原理落到具体机制上：多数据源对象怎么给一个对象配多套权限；黄金记录怎么生成而不破坏原始层；上线之后怎么持续管治。&lt;/Text&gt;&#13;&#10;  &lt;/Box&gt;&#13;&#10;&#13;&#10;  &lt;Box style={{ position: 'absolute', right: 88, bottom: 64, flexDirection: 'row', alignItems: 'center', gap: 12 }}&gt;&#13;&#10;    &lt;Box style={{ width: 14, height: 14, background: '#FA4F24' }} /&gt;&#13;&#10;    &lt;Text style={{ fontSize: 14, color: 'rgba(255,255,255,0.5)' }}&gt;硕磐机密 · 主数据咨询方法论&lt;/Text&gt;&#13;&#10;    &lt;Text style={{ fontSize: 14, color: 'rgba(255,255,255,0.5)', marginLeft: 12 }}&gt;@@PAGE@@ / 30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04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723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02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7239000" cy="6858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主数据如何落地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838200" y="3781425"/>
            <a:ext cx="723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HOW MASTER DATA IS BUILT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838200" y="4229100"/>
            <a:ext cx="72390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对象类型即模型，链接即层级，动作即写入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838200" y="4733925"/>
            <a:ext cx="6858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88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这一部分把上一部分的原理落到具体机制上：多数据源对象怎么给一个对象配多套权限；黄金记录怎么生成而不破坏原始层；上线之后怎么持续管治。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7981950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8229600" y="608647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主数据咨询方法论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0172700" y="6086475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@@PAGE@@ / 30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15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对象类型即主数据模型：类型、主键、对象集&#10;    &lt;/Text&gt;&#10;    &lt;Text style={{ fontSize: 20, color: '#8A8F99', marginTop: 8 }}&gt;&#10;      官方给的三层类比，让「建模」这件事不再抽象&#10;    &lt;/Text&gt;&#10;  &lt;/Box&gt;&#10;  &lt;Box style={{ height: 1, background: '#E8E8E8' }} /&gt;&#10;&#10;  &lt;Box style={{ paddingTop: 14, paddingBottom: 8, height: 479, flexDirection: 'column', gap: 10 }}&gt;&#10;    &lt;Box style={{ height: 200, background: '#0F1423', borderRadius: 4, padding: '14px 18px', flexDirection: 'column' }}&gt;&#10;      &lt;Text style={{ fontSize: 14, fontWeight: 'bold', color: '#FBA15C' }}&gt;官方定义与官方类比&lt;/Text&gt;&#10;      &lt;Box style={{ flex: 1, flexDirection: 'row', gap: 10, marginTop: 11 }}&gt;&#10;        {[&#10;          { k: '对象类型 object type', d: '现实世界实体或事件的 schema 定义。比如 Employee 类型定义「所有员工」的特征。' },&#10;          { k: '对象 object', d: '对象类型的一个实例。比如某个具名员工。同理 Flight 类型的一个实例是某天的某趟航班。' },&#10;          { k: '对象集 object set', d: '多个对象的集合，代表一组现实实体。比如「所有十年以上工龄的员工」就是一个对象集。' },&#10;        ].map((x, i) =&gt; (&#10;          &lt;Box key={x.k} style={{ flex: 1, background: i === 1 ? 'rgba(250,79,36,0.2)' : 'rgba(255,255,255,0.07)', borderRadius: 3, borderLeft: '3px solid ' + (i === 1 ? '#FA4F24' : '#FBA15C'), padding: '11px 13px', flexDirection: 'column' }}&gt;&#10;            &lt;Text style={{ fontSize: 12.5, fontWeight: 'bold', color: i === 1 ? '#FA4F24' : '#FBA15C' }}&gt;{x.k}&lt;/Text&gt;&#10;            &lt;Text style={{ fontSize: 11.5, color: 'rgba(255,255,255,0.85)', marginTop: 7, lineHeight: 1.55, flex: 1 }}&gt;{x.d}&lt;/Text&gt;&#10;          &lt;/Box&gt;&#10;        ))}&#10;      &lt;/Box&gt;&#10;      &lt;Box style={{ marginTop: 10, background: 'rgba(255,255,255,0.07)', borderRadius: 3, padding: '9px 12px' }}&gt;&#10;        &lt;Text style={{ fontSize: 11.5, color: 'rgba(255,255,255,0.88)', lineHeight: 1.5 }}&gt;&#10;          类比关系：&lt;tspan style={{ fontWeight: 'bold', color: '#FBA15C' }}&gt;对象类型 ≈ 数据集，对象 ≈ 数据集里的一行，对象集 ≈ 过滤后的一组行&lt;/tspan&gt;。理解了这一层，主数据建模就不再是抽象概念。&#10;        &lt;/Text&gt;&#10;      &lt;/Box&gt;&#10;    &lt;/Box&gt;&#10;&#10;    &lt;Box style={{ flex: 1, flexDirection: 'row', gap: 10 }}&gt;&#10;      &lt;Box style={{ flex: 1.15, background: '#FFF3EE', borderRadius: 4, borderLeft: '4px solid #FA4F24', padding: '12px 17px', flexDirection: 'column' }}&gt;&#10;        &lt;Text style={{ fontSize: 14, fontWeight: 'bold', color: '#C43A17' }}&gt;落到主数据建模上&lt;/Text&gt;&#10;        &lt;Box style={{ flex: 1, marginTop: 9, flexDirection: 'column', gap: 7 }}&gt;&#10;          {[&#10;            { t: '先定对象类型', d: '客户、供应商、产品、位置、组织——每一个都要问：这个实体在现实里的边界是什么。' },&#10;            { t: '再定主键', d: '主键选错，后面所有匹配都白做。业务键、自然键、内部 ID，各有各的适用面。' },&#10;            { t: '最后建对象集', d: '对象集是权限与分发的基本单位，也是运营视图的基础——谁能看哪个对象集，要在这一步就想清楚。' },&#10;          ].map((x, i) =&gt; (&#10;            &lt;Box key={x.t} style={{ background: '#FFFFFF', borderRadius: 3, borderLeft: '3px solid ' + (i === 1 ? '#C43A17' : '#FA4F24'), padding: '9px 11px' }}&gt;&#10;              &lt;Text style={{ fontSize: 12.5, fontWeight: 'bold', color: '#0F1423' }}&gt;{i + 1}. {x.t}&lt;/Text&gt;&#10;              &lt;Text style={{ fontSize: 11, color: '#3A4050', marginTop: 3, lineHeight: 1.45 }}&gt;{x.d}&lt;/Text&gt;&#10;            &lt;/Box&gt;&#10;          ))}&#10;        &lt;/Box&gt;&#10;      &lt;/Box&gt;&#10;      &lt;Box style={{ flex: 0.85, background: '#F7F7F8', borderRadius: 4, padding: '12px 17px', flexDirection: 'column', justifyContent: 'center' }}&gt;&#10;        &lt;Text style={{ fontSize: 14, fontWeight: 'bold', color: '#0F1423' }}&gt;主键选择的现实困难&lt;/Text&gt;&#10;        &lt;Text style={{ fontSize: 12, color: '#3A4050', marginTop: 7, lineHeight: 1.6 }}&gt;&#10;          B2B 与 B2C 的双重身份很难用一个主键覆盖：一个客户既是法人实体又是一组联系人；一个产品既是 SKU 又是套装。&#10;        &lt;/Text&gt;&#10;        &lt;Text style={{ fontSize: 12, color: '#3A4050', marginTop: 8, lineHeight: 1.6 }}&gt;&#10;          强行用一套扁平模型，结果就是&lt;tspan style={{ fontWeight: 'bold', color: '#C43A17' }}&gt;「哪条都不合适的黄金记录」&lt;/tspan&gt;。建模必须容纳层级与上下文，而不是假装每个实体都是一行。&#10;        &lt;/Text&gt;&#10;      &lt;/Box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主数据咨询方法论&lt;/Text&gt;&#10;    &lt;Text style={{ fontSize: 13, color: '#8A8F99', marginLeft: 'auto' }}&gt;12 / 3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对象类型即主数据模型：类型、主键、对象集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官方给的三层类比，让「建模」这件事不再抽象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0" name=""/>
          <p:cNvSpPr/>
          <p:nvPr/>
        </p:nvSpPr>
        <p:spPr>
          <a:xfrm rot="0" flipH="0" flipV="0">
            <a:off x="609600" y="1285875"/>
            <a:ext cx="10972800" cy="1905000"/>
          </a:xfrm>
          <a:prstGeom prst="roundRect">
            <a:avLst>
              <a:gd name="adj" fmla="val 2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781050" y="1419225"/>
            <a:ext cx="10629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官方定义与官方类比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809625" y="1685925"/>
            <a:ext cx="3476625" cy="904875"/>
          </a:xfrm>
          <a:prstGeom prst="roundRect">
            <a:avLst>
              <a:gd name="adj" fmla="val 315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23" name=""/>
          <p:cNvSpPr/>
          <p:nvPr/>
        </p:nvSpPr>
        <p:spPr>
          <a:xfrm rot="0" flipH="0" flipV="0">
            <a:off x="809625" y="1685925"/>
            <a:ext cx="3476625" cy="904875"/>
          </a:xfrm>
          <a:custGeom>
            <a:pathLst>
              <a:path w="365" h="95">
                <a:moveTo>
                  <a:pt x="3" y="95"/>
                </a:moveTo>
                <a:cubicBezTo>
                  <a:pt x="1" y="95"/>
                  <a:pt x="0" y="94"/>
                  <a:pt x="0" y="9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5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933450" y="1790700"/>
            <a:ext cx="3200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BA15C"/>
                </a:solidFill>
                <a:latin typeface="Microsoft YaHei"/>
                <a:ea typeface="Microsoft YaHei"/>
              </a:rPr>
              <a:t>对象类型</a:t>
            </a:r>
            <a:r>
              <a:rPr lang="en-US" sz="938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 object type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933450" y="2000250"/>
            <a:ext cx="32004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现实世界实体或事件的</a:t>
            </a:r>
            <a:r>
              <a:rPr lang="en-US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schema 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定义。比如</a:t>
            </a:r>
            <a:r>
              <a:rPr lang="en-US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Employee 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类型定义「所有员工」的特征。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4381500" y="1685925"/>
            <a:ext cx="3486150" cy="904875"/>
          </a:xfrm>
          <a:prstGeom prst="roundRect">
            <a:avLst>
              <a:gd name="adj" fmla="val 3158"/>
            </a:avLst>
          </a:prstGeom>
          <a:solidFill>
            <a:srgbClr val="FA4F24">
              <a:alpha val="20000"/>
            </a:srgbClr>
          </a:solidFill>
          <a:ln/>
        </p:spPr>
        <p:txBody>
          <a:bodyPr/>
          <a:p/>
        </p:txBody>
      </p:sp>
      <p:sp>
        <p:nvSpPr>
          <p:cNvPr id="127" name=""/>
          <p:cNvSpPr/>
          <p:nvPr/>
        </p:nvSpPr>
        <p:spPr>
          <a:xfrm rot="0" flipH="0" flipV="0">
            <a:off x="4381500" y="1685925"/>
            <a:ext cx="3486150" cy="904875"/>
          </a:xfrm>
          <a:custGeom>
            <a:pathLst>
              <a:path w="366" h="95">
                <a:moveTo>
                  <a:pt x="3" y="95"/>
                </a:moveTo>
                <a:cubicBezTo>
                  <a:pt x="1" y="95"/>
                  <a:pt x="0" y="94"/>
                  <a:pt x="0" y="9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4505325" y="1790700"/>
            <a:ext cx="3209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A4F24"/>
                </a:solidFill>
                <a:latin typeface="Microsoft YaHei"/>
                <a:ea typeface="Microsoft YaHei"/>
              </a:rPr>
              <a:t>对象</a:t>
            </a:r>
            <a:r>
              <a:rPr lang="en-US" sz="938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object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4505325" y="2000250"/>
            <a:ext cx="32099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对象类型的一个实例。比如某个具名员工。同理</a:t>
            </a:r>
            <a:r>
              <a:rPr lang="en-US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Flight 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类型的一个实例是某天的某趟航班。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7962900" y="1685925"/>
            <a:ext cx="3476625" cy="904875"/>
          </a:xfrm>
          <a:prstGeom prst="roundRect">
            <a:avLst>
              <a:gd name="adj" fmla="val 315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31" name=""/>
          <p:cNvSpPr/>
          <p:nvPr/>
        </p:nvSpPr>
        <p:spPr>
          <a:xfrm rot="0" flipH="0" flipV="0">
            <a:off x="7962900" y="1685925"/>
            <a:ext cx="3476625" cy="904875"/>
          </a:xfrm>
          <a:custGeom>
            <a:pathLst>
              <a:path w="365" h="95">
                <a:moveTo>
                  <a:pt x="3" y="95"/>
                </a:moveTo>
                <a:cubicBezTo>
                  <a:pt x="1" y="95"/>
                  <a:pt x="0" y="94"/>
                  <a:pt x="0" y="9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5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8086725" y="1790700"/>
            <a:ext cx="3200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BA15C"/>
                </a:solidFill>
                <a:latin typeface="Microsoft YaHei"/>
                <a:ea typeface="Microsoft YaHei"/>
              </a:rPr>
              <a:t>对象集</a:t>
            </a:r>
            <a:r>
              <a:rPr lang="en-US" sz="938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 object set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8086725" y="2000250"/>
            <a:ext cx="32004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多个对象的集合，代表一组现实实体。比如「所有十年以上工龄的员工」就是一个对象集。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781050" y="2686050"/>
            <a:ext cx="10629900" cy="371475"/>
          </a:xfrm>
          <a:prstGeom prst="roundRect">
            <a:avLst>
              <a:gd name="adj" fmla="val 7692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895350" y="2771775"/>
            <a:ext cx="104013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类比关系：</a:t>
            </a: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对象类型</a:t>
            </a:r>
            <a:r>
              <a:rPr lang="en-US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≈ </a:t>
            </a: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数据集，对象</a:t>
            </a:r>
            <a:r>
              <a:rPr lang="en-US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≈ </a:t>
            </a: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数据集里的一行，对象集</a:t>
            </a:r>
            <a:r>
              <a:rPr lang="en-US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≈ </a:t>
            </a: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过滤后的一组行</a:t>
            </a: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。理解了这一层，主数据建模就不再是抽象概念。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647700" y="3286125"/>
            <a:ext cx="6257925" cy="2352675"/>
          </a:xfrm>
          <a:prstGeom prst="roundRect">
            <a:avLst>
              <a:gd name="adj" fmla="val 1619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37" name=""/>
          <p:cNvSpPr/>
          <p:nvPr/>
        </p:nvSpPr>
        <p:spPr>
          <a:xfrm rot="0" flipH="0" flipV="0">
            <a:off x="647700" y="3286125"/>
            <a:ext cx="6257925" cy="2352675"/>
          </a:xfrm>
          <a:custGeom>
            <a:pathLst>
              <a:path w="657" h="247">
                <a:moveTo>
                  <a:pt x="4" y="247"/>
                </a:moveTo>
                <a:cubicBezTo>
                  <a:pt x="2" y="247"/>
                  <a:pt x="0" y="245"/>
                  <a:pt x="0" y="24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47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809625" y="3400425"/>
            <a:ext cx="5895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落到主数据建模上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838200" y="3648075"/>
            <a:ext cx="5895975" cy="5334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838200" y="3648075"/>
            <a:ext cx="5895975" cy="533400"/>
          </a:xfrm>
          <a:custGeom>
            <a:pathLst>
              <a:path w="619" h="56">
                <a:moveTo>
                  <a:pt x="3" y="56"/>
                </a:moveTo>
                <a:cubicBezTo>
                  <a:pt x="1" y="56"/>
                  <a:pt x="0" y="55"/>
                  <a:pt x="0" y="5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942975" y="3733800"/>
            <a:ext cx="5657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>1</a:t>
            </a: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. </a:t>
            </a: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先定对象类型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942975" y="3905250"/>
            <a:ext cx="565785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客户、供应商、产品、位置、组织——每一个都要问：这个实体在现实里的边界是什么。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838200" y="4248150"/>
            <a:ext cx="5895975" cy="5334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4" name=""/>
          <p:cNvSpPr/>
          <p:nvPr/>
        </p:nvSpPr>
        <p:spPr>
          <a:xfrm rot="0" flipH="0" flipV="0">
            <a:off x="838200" y="4248150"/>
            <a:ext cx="5895975" cy="533400"/>
          </a:xfrm>
          <a:custGeom>
            <a:pathLst>
              <a:path w="619" h="56">
                <a:moveTo>
                  <a:pt x="3" y="56"/>
                </a:moveTo>
                <a:cubicBezTo>
                  <a:pt x="1" y="56"/>
                  <a:pt x="0" y="55"/>
                  <a:pt x="0" y="5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6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942975" y="4333875"/>
            <a:ext cx="5657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>2</a:t>
            </a: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. </a:t>
            </a: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再定主键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942975" y="4505325"/>
            <a:ext cx="565785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主键选错，后面所有匹配都白做。业务键、自然键、内部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ID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，各有各的适用面。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838200" y="4848225"/>
            <a:ext cx="5895975" cy="5334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8" name=""/>
          <p:cNvSpPr/>
          <p:nvPr/>
        </p:nvSpPr>
        <p:spPr>
          <a:xfrm rot="0" flipH="0" flipV="0">
            <a:off x="838200" y="4848225"/>
            <a:ext cx="5895975" cy="533400"/>
          </a:xfrm>
          <a:custGeom>
            <a:pathLst>
              <a:path w="619" h="56">
                <a:moveTo>
                  <a:pt x="3" y="56"/>
                </a:moveTo>
                <a:cubicBezTo>
                  <a:pt x="1" y="56"/>
                  <a:pt x="0" y="55"/>
                  <a:pt x="0" y="5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942975" y="4933950"/>
            <a:ext cx="5657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>3</a:t>
            </a: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. </a:t>
            </a: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最后建对象集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942975" y="5105400"/>
            <a:ext cx="565785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对象集是权限与分发的基本单位，也是运营视图的基础——谁能看哪个对象集，要在这一步就想清楚。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6962775" y="3286125"/>
            <a:ext cx="4619625" cy="2352675"/>
          </a:xfrm>
          <a:prstGeom prst="roundRect">
            <a:avLst>
              <a:gd name="adj" fmla="val 161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7124700" y="3867150"/>
            <a:ext cx="4295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主键选择的现实困难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7124700" y="4095750"/>
            <a:ext cx="42957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B2B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与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B2C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的双重身份很难用一个主键覆盖：一个客户既是法人实体又是一组联系人；一个产品既是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SKU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又是套装。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7124700" y="4619625"/>
            <a:ext cx="42957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强行用一套扁平模型，结果就是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「哪条都不合适的黄金记录」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。建模必须容纳层级与上下文，而不是假装每个实体都是一行。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56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主数据咨询方法论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12 / 30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59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一个对象，两套权限：多数据源对象与列级治理&#10;    &lt;/Text&gt;&#10;    &lt;Text style={{ fontSize: 20, color: '#8A8F99', marginTop: 8 }}&gt;&#10;      主数据的属性天然来自不同源、敏感度不同——「一个人身上既有 PHI 也有非 PHI」是常态&#10;    &lt;/Text&gt;&#10;  &lt;/Box&gt;&#10;  &lt;Box style={{ height: 1, background: '#E8E8E8' }} /&gt;&#10;&#10;  &lt;Box style={{ paddingTop: 14, paddingBottom: 8, height: 479, flexDirection: 'column', gap: 10 }}&gt;&#10;    &lt;Box style={{ height: 240, flexDirection: 'row', gap: 10 }}&gt;&#10;      &lt;Box style={{ flex: 1, background: '#0F1423', borderRadius: 4, padding: '13px 16px', flexDirection: 'column' }}&gt;&#10;        &lt;Text style={{ fontSize: 14, fontWeight: 'bold', color: '#FBA15C' }}&gt;MDO 的官方定义&lt;/Text&gt;&#10;        &lt;Text style={{ fontSize: 11.5, color: 'rgba(255,255,255,0.85)', marginTop: 8, lineHeight: 1.55, flex: 1 }}&gt;&#10;          多数据源对象类型：把&lt;tspan style={{ fontWeight: 'bold', color: '#FFFFFF' }}&gt;多个输入数据源映射到同一个对象类型的不同属性上&lt;/tspan&gt;，从而对同一个对象类型施加多套访问控制。&#10;        &lt;/Text&gt;&#10;        &lt;Box style={{ flexDirection: 'column', gap: 6, marginTop: 9 }}&gt;&#10;          {[&#10;            '仅在 Object Storage v2 可用',&#10;            '输入源可以是数据集或受限视图的任意组合',&#10;            '两套权限会分别作用在同一个对象实例上',&#10;          ].map((t) =&gt; (&#10;            &lt;Text key={t} style={{ fontSize: 11, color: 'rgba(255,255,255,0.8)', lineHeight: 1.4 }}&gt;· {t}&lt;/Text&gt;&#10;          ))}&#10;        &lt;/Box&gt;&#10;      &lt;/Box&gt;&#10;&#10;      &lt;Box style={{ flex: 1.3, background: '#FFFFFF', border: '1px solid #E8E8E8', borderRadius: 4, padding: '13px 16px', flexDirection: 'column' }}&gt;&#10;        &lt;Text style={{ fontSize: 14, fontWeight: 'bold', color: '#0F1423' }}&gt;官方举例：一个就诊事件对象，两个数据源&lt;/Text&gt;&#10;        &lt;Text style={{ fontSize: 11.5, color: '#3A4050', marginTop: 8, lineHeight: 1.5 }}&gt;&#10;          主键是患者 ID，数据源一个是&lt;tspan style={{ fontWeight: 'bold' }}&gt; patient_info&lt;/tspan&gt;，另一个是 &lt;tspan style={{ fontWeight: 'bold' }}&gt;care_event_info&lt;/tspan&gt;。&#10;        &lt;/Text&gt;&#10;        &lt;Box style={{ flex: 1, marginTop: 10, flexDirection: 'row', gap: 9 }}&gt;&#10;          &lt;Box style={{ flex: 1, background: '#FFF3EE', borderRadius: 3, borderLeft: '3px solid #C43A17', padding: '9px 11px', flexDirection: 'column' }}&gt;&#10;            &lt;Text style={{ fontSize: 12, fontWeight: 'bold', color: '#C43A17' }}&gt;patient_info&lt;/Text&gt;&#10;            &lt;Text style={{ fontSize: 10.5, color: '#3A4050', marginTop: 4, lineHeight: 1.4 }}&gt;姓名、地址、电话、年龄&lt;/Text&gt;&#10;            &lt;Box style={{ flex: 1, marginTop: 7, background: '#FFFFFF', borderRadius: 3, padding: '6px 8px' }}&gt;&#10;              &lt;Text style={{ fontSize: 10.5, color: '#3A4050', lineHeight: 1.4 }}&gt;带 PHI 标记 → 无该标记者看不到这些属性值&lt;/Text&gt;&#10;            &lt;/Box&gt;&#10;          &lt;/Box&gt;&#10;          &lt;Box style={{ flex: 1, background: '#F7F7F8', borderRadius: 3, borderLeft: '3px solid #8A8F99', padding: '9px 11px', flexDirection: 'column' }}&gt;&#10;            &lt;Text style={{ fontSize: 12, fontWeight: 'bold', color: '#0F1423' }}&gt;care_event_info&lt;/Text&gt;&#10;            &lt;Text style={{ fontSize: 10.5, color: '#3A4050', marginTop: 4, lineHeight: 1.4 }}&gt;医生 ID、就诊中心&lt;/Text&gt;&#10;            &lt;Box style={{ flex: 1, marginTop: 7, background: '#FFFFFF', borderRadius: 3, padding: '6px 8px' }}&gt;&#10;              &lt;Text style={{ fontSize: 10.5, color: '#3A4050', lineHeight: 1.4 }}&gt;无标记 → 不需要任何标记即可访问&lt;/Text&gt;&#10;            &lt;/Box&gt;&#10;          &lt;/Box&gt;&#10;        &lt;/Box&gt;&#10;        &lt;Text style={{ fontSize: 11, color: '#3A4050', marginTop: 9, lineHeight: 1.45 }}&gt;&#10;          结果：同一个对象实例上，有的属性能看，有的看不到。&lt;tspan style={{ fontWeight: 'bold', color: '#0F1423' }}&gt;用户没有 PHI 标记时看不到姓名地址电话年龄，但能看到他自己中心的就诊记录。&lt;/tspan&gt;&#10;        &lt;/Text&gt;&#10;      &lt;/Box&gt;&#10;&#10;      &lt;Box style={{ flex: 0.8, background: '#FFF3EE', borderRadius: 4, borderLeft: '4px solid #FA4F24', padding: '13px 16px', flexDirection: 'column', justifyContent: 'center' }}&gt;&#10;        &lt;Text style={{ fontSize: 14, fontWeight: 'bold', color: '#C43A17' }}&gt;受限视图的角色&lt;/Text&gt;&#10;        &lt;Text style={{ fontSize: 11.5, color: '#3A4050', marginTop: 7, lineHeight: 1.55 }}&gt;&#10;          受限视图提供&lt;tspan style={{ fontWeight: 'bold' }}&gt;行级&lt;/tspan&gt;访问控制，且只能建在数据集上，不能建在流或其他源类型上。&#10;        &lt;/Text&gt;&#10;        &lt;Box style={{ marginTop: 9, background: '#FFFFFF', borderRadius: 3, padding: '8px 10px' }}&gt;&#10;          &lt;Text style={{ fontSize: 10.5, color: '#3A4050', lineHeight: 1.45 }}&gt;&#10;            例：政策写成「用户的 care_center 等于数据行的 care_center」，就只能看到自己中心的患者数据——同一张表、同一个对象类型。&#10;          &lt;/Text&gt;&#10;        &lt;/Box&gt;&#10;      &lt;/Box&gt;&#10;    &lt;/Box&gt;&#10;&#10;    &lt;Box style={{ flex: 1, background: '#0F1423', borderRadius: 4, padding: '12px 18px', flexDirection: 'row', alignItems: 'center', gap: 14 }}&gt;&#10;      &lt;Box style={{ width: 118 }}&gt;&#10;        &lt;Text style={{ fontSize: 14, fontWeight: 'bold', color: '#FBA15C' }}&gt;对主数据的含义&lt;/Text&gt;&#10;        &lt;Text style={{ fontSize: 10.5, color: 'rgba(255,255,255,0.6)', marginTop: 4 }}&gt;三句话&lt;/Text&gt;&#10;      &lt;/Box&gt;&#10;      {[&#10;        { t: '主数据必须支持「一个对象多套权限」', d: '客户对象的姓名与信用评级敏感度不同，不能一个标记管到底。' },&#10;        { t: '权限配在数据源上，不是配在对象上', d: '这意味着主数据的权限模型要跟着源系统设计一起走。' },&#10;        { t: '行级 + 列级叠加 = 单元格级', d: '这与第九册的数据治理完全咬合，是同一套机制在主数据上的应用。' },&#10;      ].map((x) =&gt; (&#10;        &lt;Box key={x.t} style={{ flex: 1, background: 'rgba(255,255,255,0.07)', borderRadius: 3, borderLeft: '3px solid #FA4F24', padding: '10px 12px' }}&gt;&#10;          &lt;Text style={{ fontSize: 12.5, fontWeight: 'bold', color: '#FFFFFF' }}&gt;{x.t}&lt;/Text&gt;&#10;          &lt;Text style={{ fontSize: 11, color: 'rgba(255,255,255,0.8)', marginTop: 4, lineHeight: 1.45 }}&gt;{x.d}&lt;/Text&gt;&#10;        &lt;/Box&gt;&#10;      ))}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主数据咨询方法论&lt;/Text&gt;&#10;    &lt;Text style={{ fontSize: 13, color: '#8A8F99', marginLeft: 'auto' }}&gt;13 / 3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一个对象，两套权限：多数据源对象与列级治理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主数据的属性天然来自不同源、敏感度不同——「一个人身上既有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PHI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也有非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PHI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」是常态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64" name=""/>
          <p:cNvSpPr/>
          <p:nvPr/>
        </p:nvSpPr>
        <p:spPr>
          <a:xfrm rot="0" flipH="0" flipV="0">
            <a:off x="609600" y="1285875"/>
            <a:ext cx="3476625" cy="2286000"/>
          </a:xfrm>
          <a:prstGeom prst="roundRect">
            <a:avLst>
              <a:gd name="adj" fmla="val 166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762000" y="1409700"/>
            <a:ext cx="3171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MDO </a:t>
            </a: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的官方定义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762000" y="1647825"/>
            <a:ext cx="3171825" cy="1057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多数据源对象类型：把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多个输入数据源映射到同一个对象类型的不同属性上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，从而对同一个对象类型施加多套访问控制。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762000" y="2790825"/>
            <a:ext cx="317182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仅在</a:t>
            </a:r>
            <a:r>
              <a:rPr lang="en-US" sz="8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 Object Storage v2 </a:t>
            </a:r>
            <a:r>
              <a:rPr lang="zh-CN" sz="8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可用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762000" y="3028950"/>
            <a:ext cx="317182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输入源可以是数据集或受限视图的任意组合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762000" y="3267075"/>
            <a:ext cx="317182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两套权限会分别作用在同一个对象实例上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4181475" y="1285875"/>
            <a:ext cx="4524375" cy="22860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4333875" y="1409700"/>
            <a:ext cx="421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官方举例：一个就诊事件对象，两个数据源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4333875" y="1647825"/>
            <a:ext cx="4219575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主键是患者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ID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，数据源一个是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patient_info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，另一个是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>care_event_info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4362450" y="1943100"/>
            <a:ext cx="2066925" cy="1047750"/>
          </a:xfrm>
          <a:prstGeom prst="roundRect">
            <a:avLst>
              <a:gd name="adj" fmla="val 272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74" name=""/>
          <p:cNvSpPr/>
          <p:nvPr/>
        </p:nvSpPr>
        <p:spPr>
          <a:xfrm rot="0" flipH="0" flipV="0">
            <a:off x="4362450" y="1943100"/>
            <a:ext cx="2066925" cy="1047750"/>
          </a:xfrm>
          <a:custGeom>
            <a:pathLst>
              <a:path w="217" h="110">
                <a:moveTo>
                  <a:pt x="3" y="110"/>
                </a:moveTo>
                <a:cubicBezTo>
                  <a:pt x="1" y="110"/>
                  <a:pt x="0" y="109"/>
                  <a:pt x="0" y="10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1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4467225" y="2028825"/>
            <a:ext cx="1828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>patient_info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4467225" y="2209800"/>
            <a:ext cx="18288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姓名、地址、电话、年龄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4467225" y="2447925"/>
            <a:ext cx="1828800" cy="457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4543425" y="2505075"/>
            <a:ext cx="167640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带</a:t>
            </a: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 PHI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标记</a:t>
            </a: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无该标记者看不到这些属性值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6515100" y="1943100"/>
            <a:ext cx="2066925" cy="1047750"/>
          </a:xfrm>
          <a:prstGeom prst="roundRect">
            <a:avLst>
              <a:gd name="adj" fmla="val 272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0" name=""/>
          <p:cNvSpPr/>
          <p:nvPr/>
        </p:nvSpPr>
        <p:spPr>
          <a:xfrm rot="0" flipH="0" flipV="0">
            <a:off x="6515100" y="1943100"/>
            <a:ext cx="2066925" cy="1047750"/>
          </a:xfrm>
          <a:custGeom>
            <a:pathLst>
              <a:path w="217" h="110">
                <a:moveTo>
                  <a:pt x="3" y="110"/>
                </a:moveTo>
                <a:cubicBezTo>
                  <a:pt x="1" y="110"/>
                  <a:pt x="0" y="109"/>
                  <a:pt x="0" y="10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10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6619875" y="2028825"/>
            <a:ext cx="1828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F1423"/>
                </a:solidFill>
                <a:latin typeface="Microsoft YaHei"/>
                <a:ea typeface="Microsoft YaHei"/>
              </a:rPr>
              <a:t>care_event_info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619875" y="2209800"/>
            <a:ext cx="18288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医生</a:t>
            </a: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 ID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、就诊中心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6619875" y="2447925"/>
            <a:ext cx="1828800" cy="457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6696075" y="2505075"/>
            <a:ext cx="16764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无标记</a:t>
            </a: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不需要任何标记即可访问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4333875" y="3076575"/>
            <a:ext cx="4219575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结果：同一个对象实例上，有的属性能看，有的看不到。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用户没有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PHI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标记时看不到姓名地址电话年龄，但能看到他自己中心的就诊记录。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8839200" y="1285875"/>
            <a:ext cx="2781300" cy="2286000"/>
          </a:xfrm>
          <a:prstGeom prst="roundRect">
            <a:avLst>
              <a:gd name="adj" fmla="val 166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87" name=""/>
          <p:cNvSpPr/>
          <p:nvPr/>
        </p:nvSpPr>
        <p:spPr>
          <a:xfrm rot="0" flipH="0" flipV="0">
            <a:off x="8839200" y="1285875"/>
            <a:ext cx="2781300" cy="2286000"/>
          </a:xfrm>
          <a:custGeom>
            <a:pathLst>
              <a:path w="292" h="240">
                <a:moveTo>
                  <a:pt x="4" y="240"/>
                </a:moveTo>
                <a:cubicBezTo>
                  <a:pt x="2" y="240"/>
                  <a:pt x="0" y="238"/>
                  <a:pt x="0" y="23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4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8991600" y="1733550"/>
            <a:ext cx="243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受限视图的角色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8991600" y="1962150"/>
            <a:ext cx="2438400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受限视图提供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行级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访问控制，且只能建在数据集上，不能建在流或其他源类型上。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8991600" y="2457450"/>
            <a:ext cx="2438400" cy="676275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9086850" y="2533650"/>
            <a:ext cx="2247900" cy="523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例：政策写成「用户的</a:t>
            </a: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 care_center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等于数据行的</a:t>
            </a: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 care_center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」，就只能看到自己中心的患者数据——同一张表、同一个对象类型。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609600" y="3667125"/>
            <a:ext cx="10972800" cy="1971675"/>
          </a:xfrm>
          <a:prstGeom prst="roundRect">
            <a:avLst>
              <a:gd name="adj" fmla="val 193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781050" y="4495800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对主数据的含义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781050" y="4695825"/>
            <a:ext cx="1123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三句话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2066925" y="4286250"/>
            <a:ext cx="3038475" cy="742950"/>
          </a:xfrm>
          <a:prstGeom prst="roundRect">
            <a:avLst>
              <a:gd name="adj" fmla="val 384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96" name=""/>
          <p:cNvSpPr/>
          <p:nvPr/>
        </p:nvSpPr>
        <p:spPr>
          <a:xfrm rot="0" flipH="0" flipV="0">
            <a:off x="2066925" y="4286250"/>
            <a:ext cx="3038475" cy="742950"/>
          </a:xfrm>
          <a:custGeom>
            <a:pathLst>
              <a:path w="319" h="78">
                <a:moveTo>
                  <a:pt x="3" y="78"/>
                </a:moveTo>
                <a:cubicBezTo>
                  <a:pt x="1" y="78"/>
                  <a:pt x="0" y="77"/>
                  <a:pt x="0" y="7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2181225" y="4381500"/>
            <a:ext cx="2781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主数据必须支持「一个对象多套权限」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2181225" y="4562475"/>
            <a:ext cx="27813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客户对象的姓名与信用评级敏感度不同，不能一个标记管到底。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5238750" y="4371975"/>
            <a:ext cx="3028950" cy="561975"/>
          </a:xfrm>
          <a:prstGeom prst="roundRect">
            <a:avLst>
              <a:gd name="adj" fmla="val 5085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200" name=""/>
          <p:cNvSpPr/>
          <p:nvPr/>
        </p:nvSpPr>
        <p:spPr>
          <a:xfrm rot="0" flipH="0" flipV="0">
            <a:off x="5238750" y="4371975"/>
            <a:ext cx="3028950" cy="561975"/>
          </a:xfrm>
          <a:custGeom>
            <a:pathLst>
              <a:path w="318" h="59">
                <a:moveTo>
                  <a:pt x="3" y="59"/>
                </a:moveTo>
                <a:cubicBezTo>
                  <a:pt x="1" y="59"/>
                  <a:pt x="0" y="58"/>
                  <a:pt x="0" y="56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9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5353050" y="4467225"/>
            <a:ext cx="2771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权限配在数据源上，不是配在对象上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5353050" y="4648200"/>
            <a:ext cx="27717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这意味着主数据的权限模型要跟着源系统设计一起走。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8401050" y="4286250"/>
            <a:ext cx="3038475" cy="742950"/>
          </a:xfrm>
          <a:prstGeom prst="roundRect">
            <a:avLst>
              <a:gd name="adj" fmla="val 384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204" name=""/>
          <p:cNvSpPr/>
          <p:nvPr/>
        </p:nvSpPr>
        <p:spPr>
          <a:xfrm rot="0" flipH="0" flipV="0">
            <a:off x="8401050" y="4286250"/>
            <a:ext cx="3038475" cy="742950"/>
          </a:xfrm>
          <a:custGeom>
            <a:pathLst>
              <a:path w="319" h="78">
                <a:moveTo>
                  <a:pt x="3" y="78"/>
                </a:moveTo>
                <a:cubicBezTo>
                  <a:pt x="1" y="78"/>
                  <a:pt x="0" y="77"/>
                  <a:pt x="0" y="7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8515350" y="4381500"/>
            <a:ext cx="2781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行级</a:t>
            </a:r>
            <a:r>
              <a:rPr lang="en-US" sz="938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列级叠加</a:t>
            </a:r>
            <a:r>
              <a:rPr lang="en-US" sz="938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单元格级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8515350" y="4562475"/>
            <a:ext cx="27813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这与第九册的数据治理完全咬合，是同一套机制在主数据上的应用。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208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主数据咨询方法论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13 / 30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211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链接即层级：把关系做成一等公民&#10;    &lt;/Text&gt;&#10;    &lt;Text style={{ fontSize: 20, color: '#8A8F99', marginTop: 8 }}&gt;&#10;      集团与子公司、产品与 SKU、员工与经理——这些不是 JOIN 的副产品，是主数据的骨架&#10;    &lt;/Text&gt;&#10;  &lt;/Box&gt;&#10;  &lt;Box style={{ height: 1, background: '#E8E8E8' }} /&gt;&#10;&#10;  &lt;Box style={{ paddingTop: 14, paddingBottom: 8, height: 479, flexDirection: 'column', gap: 10 }}&gt;&#10;    &lt;Box style={{ height: 216, background: '#0F1423', borderRadius: 4, padding: '14px 18px', flexDirection: 'column' }}&gt;&#10;      &lt;Text style={{ fontSize: 14, fontWeight: 'bold', color: '#FBA15C' }}&gt;链接类型的官方定义与三条关键设计&lt;/Text&gt;&#10;      &lt;Box style={{ flex: 1, flexDirection: 'row', gap: 10, marginTop: 11 }}&gt;&#10;        &lt;Box style={{ flex: 1.1, background: 'rgba(250,79,36,0.18)', borderRadius: 3, borderLeft: '3px solid #FA4F24', padding: '11px 13px', flexDirection: 'column' }}&gt;&#10;          &lt;Text style={{ fontSize: 13.5, fontWeight: 'bold', color: '#FA4F24' }}&gt;定义&lt;/Text&gt;&#10;          &lt;Text style={{ fontSize: 11.5, color: 'rgba(255,255,255,0.88)', marginTop: 6, lineHeight: 1.55, flex: 1 }}&gt;&#10;            链接类型是两个对象类型之间关系的 schema 定义；链接是两个对象之间某一次具体的关系实例。比如 Flight 与 Aircraft 之间的「已指派」关系。&#10;          &lt;/Text&gt;&#10;          &lt;Box style={{ marginTop: 9, background: 'rgba(255,255,255,0.07)', borderRadius: 3, padding: '8px 10px' }}&gt;&#10;            &lt;Text style={{ fontSize: 11, color: 'rgba(255,255,255,0.85)', lineHeight: 1.45 }}&gt;&#10;              类比：链接类型 ≈ 数据集之间的 JOIN，链接 ≈ JOIN 后的一行。&#10;            &lt;/Text&gt;&#10;          &lt;/Box&gt;&#10;        &lt;/Box&gt;&#10;        {[&#10;          { t: '天然双向', d: '一个链接类型永远有两侧，每侧独立遍历、独立显示名与 API 名。建一个 Flight ↔ Aircraft 就够了，不需要再反向建一个。' },&#10;          { t: '同类型之间也可以连', d: '比如员工与经理的「直接汇报」关系，定义在 Employee 类型与它自己之间。' },&#10;          { t: '跨本体不支持', d: '跨 Ontology 的对象之间不能建链接。跨域需求要么合并本体，要么走接口——这是架构决策，不是技术限制。' },&#10;        ].map((x, i) =&gt; (&#10;          &lt;Box key={x.t} style={{ flex: 1, background: 'rgba(255,255,255,0.07)', borderRadius: 3, borderLeft: '3px solid #FBA15C', padding: '11px 13px', flexDirection: 'column' }}&gt;&#10;            &lt;Text style={{ fontSize: 13.5, fontWeight: 'bold', color: '#FFFFFF' }}&gt;{x.t}&lt;/Text&gt;&#10;            &lt;Text style={{ fontSize: 11.5, color: 'rgba(255,255,255,0.82)', marginTop: 6, lineHeight: 1.55, flex: 1 }}&gt;{x.d}&lt;/Text&gt;&#10;          &lt;/Box&gt;&#10;        ))}&#10;      &lt;/Box&gt;&#10;    &lt;/Box&gt;&#10;&#10;    &lt;Box style={{ flex: 1, flexDirection: 'row', gap: 10 }}&gt;&#10;      &lt;Box style={{ flex: 1.1, background: '#FFF3EE', borderRadius: 4, borderLeft: '4px solid #FA4F24', padding: '12px 17px', flexDirection: 'column' }}&gt;&#10;        &lt;Text style={{ fontSize: 14, fontWeight: 'bold', color: '#C43A17' }}&gt;基数决定存储方式（建模时必须先定）&lt;/Text&gt;&#10;        &lt;Box style={{ flex: 1, marginTop: 9, flexDirection: 'column', gap: 7 }}&gt;&#10;          {[&#10;            { k: '多对多', v: `需要给&lt;tspan style={{ fontWeight: 'bold' }}&gt;链接类型自己的 datasource&lt;/tspan&gt;，关系单独落库。典型：客户与产品。` },&#10;            { k: '一对一 / 一对多', v: `关系存在对象的一个&lt;tspan style={{ fontWeight: 'bold' }}&gt;外键属性&lt;/tspan&gt;上，不需要单独数据源。典型：部门与员工。` },&#10;          ].map((x) =&gt; (&#10;            &lt;Box key={x.k} style={{ background: '#FFFFFF', borderRadius: 3, borderLeft: '3px solid #FA4F24', padding: '9px 11px' }}&gt;&#10;              &lt;Text style={{ fontSize: 12.5, fontWeight: 'bold', color: '#0F1423' }}&gt;{x.k}&lt;/Text&gt;&#10;              &lt;Text style={{ fontSize: 11, color: '#3A4050', marginTop: 3, lineHeight: 1.45 }}&gt;{x.v}&lt;/Text&gt;&#10;            &lt;/Box&gt;&#10;          ))}&#10;          &lt;Box style={{ background: '#FFFFFF', borderRadius: 3, padding: '9px 11px' }}&gt;&#10;            &lt;Text style={{ fontSize: 11, color: '#3A4050', lineHeight: 1.45 }}&gt;&#10;              两个对象类型之间可以有&lt;tspan style={{ fontWeight: 'bold' }}&gt;多个不同的链接类型&lt;/tspan&gt;——比如 Flight ↔ Aircraft 既可以是「已指派」，也可以是「排定维修」，但每侧都要有唯一 API 名让应用能区分。&#10;            &lt;/Text&gt;&#10;          &lt;/Box&gt;&#10;        &lt;/Box&gt;&#10;      &lt;/Box&gt;&#10;&#10;      &lt;Box style={{ flex: 0.9, background: '#F7F7F8', borderRadius: 4, padding: '12px 17px', flexDirection: 'column', justifyContent: 'center' }}&gt;&#10;        &lt;Text style={{ fontSize: 14, fontWeight: 'bold', color: '#0F1423' }}&gt;为什么层级必须是主数据的一部分&lt;/Text&gt;&#10;        &lt;Text style={{ fontSize: 12, color: '#3A4050', marginTop: 7, lineHeight: 1.6 }}&gt;&#10;          集团型企业的最大失败模式之一，就是子公司层级不完整——供应商风险算不出来、合并报表口径对不上、关联交易识别不了。&#10;        &lt;/Text&gt;&#10;        &lt;Text style={{ fontSize: 12, color: '#3A4050', marginTop: 8, lineHeight: 1.6 }}&gt;&#10;          公网上有句很实在的话：主数据跨部门，没有明确 owner 时，黄金记录会变成&lt;tspan style={{ fontWeight: 'bold', color: '#C43A17' }}&gt;政治产物而不是运营资产&lt;/tspan&gt;。层级尤其是这样——它跨部门最厉害。&#10;        &lt;/Text&gt;&#10;      &lt;/Box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主数据咨询方法论&lt;/Text&gt;&#10;    &lt;Text style={{ fontSize: 13, color: '#8A8F99', marginLeft: 'auto' }}&gt;14 / 3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链接即层级：把关系做成一等公民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集团与子公司、产品与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SKU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、员工与经理——这些不是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JOIN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的副产品，是主数据的骨架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16" name=""/>
          <p:cNvSpPr/>
          <p:nvPr/>
        </p:nvSpPr>
        <p:spPr>
          <a:xfrm rot="0" flipH="0" flipV="0">
            <a:off x="609600" y="1285875"/>
            <a:ext cx="10972800" cy="2057400"/>
          </a:xfrm>
          <a:prstGeom prst="roundRect">
            <a:avLst>
              <a:gd name="adj" fmla="val 185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781050" y="1419225"/>
            <a:ext cx="10629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链接类型的官方定义与三条关键设计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809625" y="1685925"/>
            <a:ext cx="2771775" cy="1657350"/>
          </a:xfrm>
          <a:prstGeom prst="roundRect">
            <a:avLst>
              <a:gd name="adj" fmla="val 1724"/>
            </a:avLst>
          </a:prstGeom>
          <a:solidFill>
            <a:srgbClr val="FA4F24">
              <a:alpha val="18000"/>
            </a:srgbClr>
          </a:solidFill>
          <a:ln/>
        </p:spPr>
        <p:txBody>
          <a:bodyPr/>
          <a:p/>
        </p:txBody>
      </p:sp>
      <p:sp>
        <p:nvSpPr>
          <p:cNvPr id="219" name=""/>
          <p:cNvSpPr/>
          <p:nvPr/>
        </p:nvSpPr>
        <p:spPr>
          <a:xfrm rot="0" flipH="0" flipV="0">
            <a:off x="809625" y="1685925"/>
            <a:ext cx="2771775" cy="1657350"/>
          </a:xfrm>
          <a:custGeom>
            <a:pathLst>
              <a:path w="291" h="174">
                <a:moveTo>
                  <a:pt x="3" y="174"/>
                </a:moveTo>
                <a:cubicBezTo>
                  <a:pt x="1" y="174"/>
                  <a:pt x="0" y="173"/>
                  <a:pt x="0" y="17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7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933450" y="17907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A4F24"/>
                </a:solidFill>
                <a:latin typeface="Microsoft YaHei"/>
                <a:ea typeface="Microsoft YaHei"/>
              </a:rPr>
              <a:t>定义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933450" y="2009775"/>
            <a:ext cx="24955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链接类型是两个对象类型之间关系的</a:t>
            </a:r>
            <a:r>
              <a:rPr lang="en-US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schema </a:t>
            </a: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定义；链接是两个对象之间某一次具体的关系实例。比如</a:t>
            </a:r>
            <a:r>
              <a:rPr lang="en-US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Flight </a:t>
            </a: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与</a:t>
            </a:r>
            <a:r>
              <a:rPr lang="en-US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Aircraft </a:t>
            </a: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之间的「已指派」关系。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933450" y="2714625"/>
            <a:ext cx="2495550" cy="523875"/>
          </a:xfrm>
          <a:prstGeom prst="roundRect">
            <a:avLst>
              <a:gd name="adj" fmla="val 5455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028700" y="2790825"/>
            <a:ext cx="230505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类比：链接类型</a:t>
            </a:r>
            <a:r>
              <a:rPr lang="en-US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≈ </a:t>
            </a:r>
            <a:r>
              <a:rPr lang="zh-CN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数据集之间的</a:t>
            </a:r>
            <a:r>
              <a:rPr lang="en-US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JOIN</a:t>
            </a:r>
            <a:r>
              <a:rPr lang="zh-CN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，链接</a:t>
            </a:r>
            <a:r>
              <a:rPr lang="en-US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≈ JOIN </a:t>
            </a:r>
            <a:r>
              <a:rPr lang="zh-CN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后的一行。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3676650" y="1685925"/>
            <a:ext cx="2524125" cy="1657350"/>
          </a:xfrm>
          <a:prstGeom prst="roundRect">
            <a:avLst>
              <a:gd name="adj" fmla="val 1724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225" name=""/>
          <p:cNvSpPr/>
          <p:nvPr/>
        </p:nvSpPr>
        <p:spPr>
          <a:xfrm rot="0" flipH="0" flipV="0">
            <a:off x="3676650" y="1685925"/>
            <a:ext cx="2524125" cy="1657350"/>
          </a:xfrm>
          <a:custGeom>
            <a:pathLst>
              <a:path w="265" h="174">
                <a:moveTo>
                  <a:pt x="3" y="174"/>
                </a:moveTo>
                <a:cubicBezTo>
                  <a:pt x="1" y="174"/>
                  <a:pt x="0" y="173"/>
                  <a:pt x="0" y="17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74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3800475" y="1790700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FFFFF"/>
                </a:solidFill>
                <a:latin typeface="Microsoft YaHei"/>
                <a:ea typeface="Microsoft YaHei"/>
              </a:rPr>
              <a:t>天然双向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3800475" y="2009775"/>
            <a:ext cx="2247900" cy="1228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一个链接类型永远有两侧，每侧独立遍历、独立显示名与</a:t>
            </a:r>
            <a:r>
              <a:rPr lang="en-US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名。建一个</a:t>
            </a:r>
            <a:r>
              <a:rPr lang="en-US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Flight ↔ Aircraft </a:t>
            </a: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就够了，不需要再反向建一个。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6296025" y="1685925"/>
            <a:ext cx="2524125" cy="1657350"/>
          </a:xfrm>
          <a:prstGeom prst="roundRect">
            <a:avLst>
              <a:gd name="adj" fmla="val 1724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229" name=""/>
          <p:cNvSpPr/>
          <p:nvPr/>
        </p:nvSpPr>
        <p:spPr>
          <a:xfrm rot="0" flipH="0" flipV="0">
            <a:off x="6296025" y="1685925"/>
            <a:ext cx="2524125" cy="1657350"/>
          </a:xfrm>
          <a:custGeom>
            <a:pathLst>
              <a:path w="265" h="174">
                <a:moveTo>
                  <a:pt x="3" y="174"/>
                </a:moveTo>
                <a:cubicBezTo>
                  <a:pt x="1" y="174"/>
                  <a:pt x="0" y="173"/>
                  <a:pt x="0" y="17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74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6419850" y="1790700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FFFFF"/>
                </a:solidFill>
                <a:latin typeface="Microsoft YaHei"/>
                <a:ea typeface="Microsoft YaHei"/>
              </a:rPr>
              <a:t>同类型之间也可以连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6419850" y="2009775"/>
            <a:ext cx="2247900" cy="1228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比如员工与经理的「直接汇报」关系，定义在</a:t>
            </a:r>
            <a:r>
              <a:rPr lang="en-US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Employee </a:t>
            </a: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类型与它自己之间。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8915400" y="1685925"/>
            <a:ext cx="2524125" cy="1657350"/>
          </a:xfrm>
          <a:prstGeom prst="roundRect">
            <a:avLst>
              <a:gd name="adj" fmla="val 1724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233" name=""/>
          <p:cNvSpPr/>
          <p:nvPr/>
        </p:nvSpPr>
        <p:spPr>
          <a:xfrm rot="0" flipH="0" flipV="0">
            <a:off x="8915400" y="1685925"/>
            <a:ext cx="2524125" cy="1657350"/>
          </a:xfrm>
          <a:custGeom>
            <a:pathLst>
              <a:path w="265" h="174">
                <a:moveTo>
                  <a:pt x="3" y="174"/>
                </a:moveTo>
                <a:cubicBezTo>
                  <a:pt x="1" y="174"/>
                  <a:pt x="0" y="173"/>
                  <a:pt x="0" y="17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74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9039225" y="1790700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FFFFF"/>
                </a:solidFill>
                <a:latin typeface="Microsoft YaHei"/>
                <a:ea typeface="Microsoft YaHei"/>
              </a:rPr>
              <a:t>跨本体不支持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9039225" y="2009775"/>
            <a:ext cx="2247900" cy="1228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跨</a:t>
            </a:r>
            <a:r>
              <a:rPr lang="en-US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Ontology </a:t>
            </a: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的对象之间不能建链接。跨域需求要么合并本体，要么走接口——这是架构决策，不是技术限制。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647700" y="3438525"/>
            <a:ext cx="5981700" cy="2219325"/>
          </a:xfrm>
          <a:prstGeom prst="roundRect">
            <a:avLst>
              <a:gd name="adj" fmla="val 171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37" name=""/>
          <p:cNvSpPr/>
          <p:nvPr/>
        </p:nvSpPr>
        <p:spPr>
          <a:xfrm rot="0" flipH="0" flipV="0">
            <a:off x="647700" y="3438525"/>
            <a:ext cx="5981700" cy="2219325"/>
          </a:xfrm>
          <a:custGeom>
            <a:pathLst>
              <a:path w="628" h="233">
                <a:moveTo>
                  <a:pt x="4" y="233"/>
                </a:moveTo>
                <a:cubicBezTo>
                  <a:pt x="2" y="233"/>
                  <a:pt x="0" y="231"/>
                  <a:pt x="0" y="22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3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809625" y="3552825"/>
            <a:ext cx="561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基数决定存储方式（建模时必须先定）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838200" y="3800475"/>
            <a:ext cx="5619750" cy="5334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0" name=""/>
          <p:cNvSpPr/>
          <p:nvPr/>
        </p:nvSpPr>
        <p:spPr>
          <a:xfrm rot="0" flipH="0" flipV="0">
            <a:off x="838200" y="3800475"/>
            <a:ext cx="5619750" cy="533400"/>
          </a:xfrm>
          <a:custGeom>
            <a:pathLst>
              <a:path w="590" h="56">
                <a:moveTo>
                  <a:pt x="3" y="56"/>
                </a:moveTo>
                <a:cubicBezTo>
                  <a:pt x="1" y="56"/>
                  <a:pt x="0" y="55"/>
                  <a:pt x="0" y="5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942975" y="3886200"/>
            <a:ext cx="5381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多对多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942975" y="4057650"/>
            <a:ext cx="538162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需要给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链接类型自己的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datasource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，关系单独落库。典型：客户与产品。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838200" y="4400550"/>
            <a:ext cx="5619750" cy="5334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4" name=""/>
          <p:cNvSpPr/>
          <p:nvPr/>
        </p:nvSpPr>
        <p:spPr>
          <a:xfrm rot="0" flipH="0" flipV="0">
            <a:off x="838200" y="4400550"/>
            <a:ext cx="5619750" cy="533400"/>
          </a:xfrm>
          <a:custGeom>
            <a:pathLst>
              <a:path w="590" h="56">
                <a:moveTo>
                  <a:pt x="3" y="56"/>
                </a:moveTo>
                <a:cubicBezTo>
                  <a:pt x="1" y="56"/>
                  <a:pt x="0" y="55"/>
                  <a:pt x="0" y="5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942975" y="4486275"/>
            <a:ext cx="5381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一对一</a:t>
            </a: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一对多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942975" y="4657725"/>
            <a:ext cx="538162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关系存在对象的一个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外键属性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上，不需要单独数据源。典型：部门与员工。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809625" y="5000625"/>
            <a:ext cx="5619750" cy="542925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914400" y="5086350"/>
            <a:ext cx="5410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两个对象类型之间可以有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多个不同的链接类型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——比如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Flight ↔ Aircraft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既可以是「已指派」，也可以是「排定维修」，但每侧都要有唯一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名让应用能区分。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6686550" y="3438525"/>
            <a:ext cx="4895850" cy="2219325"/>
          </a:xfrm>
          <a:prstGeom prst="roundRect">
            <a:avLst>
              <a:gd name="adj" fmla="val 171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6848475" y="3952875"/>
            <a:ext cx="457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为什么层级必须是主数据的一部分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848475" y="4181475"/>
            <a:ext cx="45720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集团型企业的最大失败模式之一，就是子公司层级不完整——供应商风险算不出来、合并报表口径对不上、关联交易识别不了。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6848475" y="4705350"/>
            <a:ext cx="45720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公网上有句很实在的话：主数据跨部门，没有明确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owner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时，黄金记录会变成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政治产物而不是运营资产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。层级尤其是这样——它跨部门最厉害。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254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主数据咨询方法论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14 / 30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257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动作类型：主数据是被&lt;span style={{ color: '#FA4F24' }}&gt;动作&lt;/span&gt;写出来的&#10;    &lt;/Text&gt;&#10;    &lt;Text style={{ fontSize: 20, color: '#8A8F99', marginTop: 8 }}&gt;&#10;      不是被脚本改出来的——差别在于：动作自带校验、自带权限、自带副作用、自带留痕&#10;    &lt;/Text&gt;&#10;  &lt;/Box&gt;&#10;  &lt;Box style={{ height: 1, background: '#E8E8E8' }} /&gt;&#10;&#10;  &lt;Box style={{ paddingTop: 14, paddingBottom: 8, height: 479, flexDirection: 'column', gap: 10 }}&gt;&#10;    &lt;Box style={{ height: 200, background: '#0F1423', borderRadius: 4, padding: '14px 18px', flexDirection: 'column' }}&gt;&#10;      &lt;Text style={{ fontSize: 14, fontWeight: 'bold', color: '#FBA15C' }}&gt;动作类型的能力清单（官方规则类型）&lt;/Text&gt;&#10;      &lt;Box style={{ flex: 1, flexDirection: 'row', gap: 9, marginTop: 11 }}&gt;&#10;        {[&#10;          { g: '对象增删改', items: ['创建对象（仅当用户未提供主键时）', '创建或修改对象', '删除对象'] },&#10;          { g: '关系维护', items: ['创建链接', '删除链接', '一对多用改外键属性'] },&#10;          { g: '逻辑与外部', items: ['运行函数（唯一不可与其他规则组合）', 'Webhook 调外部系统', 'Webhook 在任何编辑前先调'] },&#10;          { g: '通知与调度', items: ['通知相关人', '触发构建', '合并场景编辑'] },&#10;          { g: '接口规则', items: ['对实现了接口的任意对象类型生效', '这是抽象层能落地的原因'] },&#10;        ].map((x) =&gt; (&#10;          &lt;Box key={x.g} style={{ flex: 1, background: 'rgba(255,255,255,0.07)', borderRadius: 3, borderTop: '3px solid #FBA15C', padding: '10px 11px', flexDirection: 'column' }}&gt;&#10;            &lt;Text style={{ fontSize: 12.5, fontWeight: 'bold', color: '#FFFFFF' }}&gt;{x.g}&lt;/Text&gt;&#10;            &lt;Box style={{ flex: 1, marginTop: 8, flexDirection: 'column', gap: 5 }}&gt;&#10;              {x.items.map((it) =&gt; (&#10;                &lt;Text key={it} style={{ fontSize: 10.5, color: 'rgba(255,255,255,0.8)', lineHeight: 1.4 }}&gt;· {it}&lt;/Text&gt;&#10;              ))}&#10;            &lt;/Box&gt;&#10;          &lt;/Box&gt;&#10;        ))}&#10;      &lt;/Box&gt;&#10;      &lt;Text style={{ fontSize: 11.5, color: 'rgba(255,255,255,0.72)', marginTop: 10, lineHeight: 1.5 }}&gt;&#10;        官方提醒：规则按声明式映射写，但规则不够用时要挂一个函数——比如要改所选对象关联的每一个对象，或要跨多个对象算一个值。&#10;      &lt;/Text&gt;&#10;    &lt;/Box&gt;&#10;&#10;    &lt;Box style={{ flex: 1, flexDirection: 'row', gap: 10 }}&gt;&#10;      &lt;Box style={{ flex: 1.15, background: '#FFF3EE', borderRadius: 4, borderLeft: '4px solid #FA4F24', padding: '12px 17px', flexDirection: 'column' }}&gt;&#10;        &lt;Text style={{ fontSize: 14, fontWeight: 'bold', color: '#C43A17' }}&gt;一个动作长什么样：给员工换角色&lt;/Text&gt;&#10;        &lt;Box style={{ flex: 1, marginTop: 9, flexDirection: 'column', gap: 6 }}&gt;&#10;          {[&#10;            '参数定义：让用户用标准表单输入新角色，而不是直接改字段',&#10;            '自动建关系：把该员工与新经理对象之间创建一条链接',&#10;            '副作用：通知原经理与新经理这次变更',&#10;            '权限校验：只有人力资源部门的授权员工可以执行',&#10;            '提交条件：校验输入是否合法，比如三位机场码的正则 ^[A-Z]{3}$，并配上错误提示',&#10;          ].map((t) =&gt; (&#10;            &lt;Text key={t} style={{ fontSize: 11.5, color: '#3A4050', lineHeight: 1.5 }}&gt;· {t}&lt;/Text&gt;&#10;          ))}&#10;        &lt;/Box&gt;&#10;        &lt;Box style={{ marginTop: 9, background: '#FFFFFF', borderRadius: 3, padding: '8px 10px' }}&gt;&#10;          &lt;Text style={{ fontSize: 11, color: '#3A4050', lineHeight: 1.45 }}&gt;&#10;            同一个动作逻辑可以跨所有前端应用复用，保证所有应用对主数据的编辑口径一致。&#10;          &lt;/Text&gt;&#10;        &lt;/Box&gt;&#10;      &lt;/Box&gt;&#10;      &lt;Box style={{ flex: 0.85, background: '#F7F7F8', borderRadius: 4, padding: '12px 17px', flexDirection: 'column', justifyContent: 'center' }}&gt;&#10;        &lt;Text style={{ fontSize: 14, fontWeight: 'bold', color: '#0F1423' }}&gt;对主数据的三个改变&lt;/Text&gt;&#10;        &lt;Box style={{ flexDirection: 'column', gap: 8, marginTop: 9 }}&gt;&#10;          {[&#10;            { t: '维护动作可被授权', d: '粒度到「谁能改客户地址」而不是「谁能进 CRM」。' },&#10;            { t: '维护动作可被审计', d: '谁、在什么时候、依据什么规则、把哪个实体的哪个属性改成了什么。' },&#10;            { t: '维护动作可被复用', d: '组织架构调整一次定义，所有应用里都是同一套口径。' },&#10;          ].map((x) =&gt; (&#10;            &lt;Box key={x.t} style={{ background: '#FFFFFF', borderRadius: 3, borderLeft: '3px solid #FA4F24', padding: '8px 10px' }}&gt;&#10;              &lt;Text style={{ fontSize: 12, fontWeight: 'bold', color: '#0F1423' }}&gt;{x.t}&lt;/Text&gt;&#10;              &lt;Text style={{ fontSize: 11, color: '#3A4050', marginTop: 3, lineHeight: 1.4 }}&gt;{x.d}&lt;/Text&gt;&#10;            &lt;/Box&gt;&#10;          ))}&#10;        &lt;/Box&gt;&#10;      &lt;/Box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主数据咨询方法论&lt;/Text&gt;&#10;    &lt;Text style={{ fontSize: 13, color: '#8A8F99', marginLeft: 'auto' }}&gt;15 / 3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动作类型：主数据是被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动作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写出来的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不是被脚本改出来的——差别在于：动作自带校验、自带权限、自带副作用、自带留痕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62" name=""/>
          <p:cNvSpPr/>
          <p:nvPr/>
        </p:nvSpPr>
        <p:spPr>
          <a:xfrm rot="0" flipH="0" flipV="0">
            <a:off x="609600" y="1285875"/>
            <a:ext cx="10972800" cy="1905000"/>
          </a:xfrm>
          <a:prstGeom prst="roundRect">
            <a:avLst>
              <a:gd name="adj" fmla="val 2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781050" y="1419225"/>
            <a:ext cx="10629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动作类型的能力清单（官方规则类型）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781050" y="1714500"/>
            <a:ext cx="2057400" cy="1076325"/>
          </a:xfrm>
          <a:prstGeom prst="roundRect">
            <a:avLst>
              <a:gd name="adj" fmla="val 2655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265" name=""/>
          <p:cNvSpPr/>
          <p:nvPr/>
        </p:nvSpPr>
        <p:spPr>
          <a:xfrm rot="0" flipH="0" flipV="0">
            <a:off x="781050" y="1714500"/>
            <a:ext cx="2057400" cy="1076325"/>
          </a:xfrm>
          <a:custGeom>
            <a:pathLst>
              <a:path w="216" h="113">
                <a:moveTo>
                  <a:pt x="213" y="0"/>
                </a:moveTo>
                <a:cubicBezTo>
                  <a:pt x="215" y="0"/>
                  <a:pt x="216" y="1"/>
                  <a:pt x="216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13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885825" y="1809750"/>
            <a:ext cx="1847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对象增删改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885825" y="2028825"/>
            <a:ext cx="18478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创建对象（仅当用户未提供主键时）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885825" y="2247900"/>
            <a:ext cx="18478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创建或修改对象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885825" y="2466975"/>
            <a:ext cx="18478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删除对象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2924175" y="1714500"/>
            <a:ext cx="2057400" cy="1076325"/>
          </a:xfrm>
          <a:prstGeom prst="roundRect">
            <a:avLst>
              <a:gd name="adj" fmla="val 2655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271" name=""/>
          <p:cNvSpPr/>
          <p:nvPr/>
        </p:nvSpPr>
        <p:spPr>
          <a:xfrm rot="0" flipH="0" flipV="0">
            <a:off x="2924175" y="1714500"/>
            <a:ext cx="2057400" cy="1076325"/>
          </a:xfrm>
          <a:custGeom>
            <a:pathLst>
              <a:path w="216" h="113">
                <a:moveTo>
                  <a:pt x="213" y="0"/>
                </a:moveTo>
                <a:cubicBezTo>
                  <a:pt x="215" y="0"/>
                  <a:pt x="216" y="1"/>
                  <a:pt x="216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13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3028950" y="1809750"/>
            <a:ext cx="1847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关系维护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3028950" y="2028825"/>
            <a:ext cx="18478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创建链接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3028950" y="2247900"/>
            <a:ext cx="18478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删除链接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3028950" y="2466975"/>
            <a:ext cx="18478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一对多用改外键属性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5067300" y="1714500"/>
            <a:ext cx="2057400" cy="1076325"/>
          </a:xfrm>
          <a:prstGeom prst="roundRect">
            <a:avLst>
              <a:gd name="adj" fmla="val 2655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277" name=""/>
          <p:cNvSpPr/>
          <p:nvPr/>
        </p:nvSpPr>
        <p:spPr>
          <a:xfrm rot="0" flipH="0" flipV="0">
            <a:off x="5067300" y="1714500"/>
            <a:ext cx="2057400" cy="1076325"/>
          </a:xfrm>
          <a:custGeom>
            <a:pathLst>
              <a:path w="216" h="113">
                <a:moveTo>
                  <a:pt x="213" y="0"/>
                </a:moveTo>
                <a:cubicBezTo>
                  <a:pt x="215" y="0"/>
                  <a:pt x="216" y="1"/>
                  <a:pt x="216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13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5172075" y="1809750"/>
            <a:ext cx="1847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逻辑与外部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5172075" y="2028825"/>
            <a:ext cx="18478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运行函数（唯一不可与其他规则组合）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5172075" y="2247900"/>
            <a:ext cx="18478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en-US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Webhook </a:t>
            </a: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调外部系统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5172075" y="2466975"/>
            <a:ext cx="18478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en-US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Webhook </a:t>
            </a: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在任何编辑前先调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7210425" y="1714500"/>
            <a:ext cx="2057400" cy="1076325"/>
          </a:xfrm>
          <a:prstGeom prst="roundRect">
            <a:avLst>
              <a:gd name="adj" fmla="val 2655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283" name=""/>
          <p:cNvSpPr/>
          <p:nvPr/>
        </p:nvSpPr>
        <p:spPr>
          <a:xfrm rot="0" flipH="0" flipV="0">
            <a:off x="7210425" y="1714500"/>
            <a:ext cx="2057400" cy="1076325"/>
          </a:xfrm>
          <a:custGeom>
            <a:pathLst>
              <a:path w="216" h="113">
                <a:moveTo>
                  <a:pt x="213" y="0"/>
                </a:moveTo>
                <a:cubicBezTo>
                  <a:pt x="215" y="0"/>
                  <a:pt x="216" y="1"/>
                  <a:pt x="216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13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7315200" y="1809750"/>
            <a:ext cx="1847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通知与调度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7315200" y="2028825"/>
            <a:ext cx="18478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通知相关人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7315200" y="2247900"/>
            <a:ext cx="18478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触发构建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7315200" y="2466975"/>
            <a:ext cx="18478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合并场景编辑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9353550" y="1714500"/>
            <a:ext cx="2057400" cy="1076325"/>
          </a:xfrm>
          <a:prstGeom prst="roundRect">
            <a:avLst>
              <a:gd name="adj" fmla="val 2655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289" name=""/>
          <p:cNvSpPr/>
          <p:nvPr/>
        </p:nvSpPr>
        <p:spPr>
          <a:xfrm rot="0" flipH="0" flipV="0">
            <a:off x="9353550" y="1714500"/>
            <a:ext cx="2057400" cy="1076325"/>
          </a:xfrm>
          <a:custGeom>
            <a:pathLst>
              <a:path w="216" h="113">
                <a:moveTo>
                  <a:pt x="213" y="0"/>
                </a:moveTo>
                <a:cubicBezTo>
                  <a:pt x="215" y="0"/>
                  <a:pt x="216" y="1"/>
                  <a:pt x="216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13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9458325" y="1809750"/>
            <a:ext cx="1847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接口规则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9458325" y="2028825"/>
            <a:ext cx="18478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对实现了接口的任意对象类型生效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9458325" y="2247900"/>
            <a:ext cx="18478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这是抽象层能落地的原因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781050" y="2857500"/>
            <a:ext cx="106299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官方提醒：规则按声明式映射写，但规则不够用时要挂一个函数——比如要改所选对象关联的每一个对象，或要跨多个对象算一个值。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647700" y="3286125"/>
            <a:ext cx="6257925" cy="2352675"/>
          </a:xfrm>
          <a:prstGeom prst="roundRect">
            <a:avLst>
              <a:gd name="adj" fmla="val 1619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95" name=""/>
          <p:cNvSpPr/>
          <p:nvPr/>
        </p:nvSpPr>
        <p:spPr>
          <a:xfrm rot="0" flipH="0" flipV="0">
            <a:off x="647700" y="3286125"/>
            <a:ext cx="6257925" cy="2352675"/>
          </a:xfrm>
          <a:custGeom>
            <a:pathLst>
              <a:path w="657" h="247">
                <a:moveTo>
                  <a:pt x="4" y="247"/>
                </a:moveTo>
                <a:cubicBezTo>
                  <a:pt x="2" y="247"/>
                  <a:pt x="0" y="245"/>
                  <a:pt x="0" y="24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47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809625" y="3400425"/>
            <a:ext cx="5895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一个动作长什么样：给员工换角色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809625" y="3648075"/>
            <a:ext cx="5895975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参数定义：让用户用标准表单输入新角色，而不是直接改字段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809625" y="3905250"/>
            <a:ext cx="5895975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自动建关系：把该员工与新经理对象之间创建一条链接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809625" y="4162425"/>
            <a:ext cx="5895975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副作用：通知原经理与新经理这次变更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809625" y="4419600"/>
            <a:ext cx="5895975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权限校验：只有人力资源部门的授权员工可以执行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809625" y="4676775"/>
            <a:ext cx="5895975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提交条件：校验输入是否合法，比如三位机场码的正则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^[A-Z]{3}$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，并配上错误提示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809625" y="5181600"/>
            <a:ext cx="5895975" cy="3429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904875" y="5257800"/>
            <a:ext cx="57054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同一个动作逻辑可以跨所有前端应用复用，保证所有应用对主数据的编辑口径一致。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6962775" y="3286125"/>
            <a:ext cx="4619625" cy="2352675"/>
          </a:xfrm>
          <a:prstGeom prst="roundRect">
            <a:avLst>
              <a:gd name="adj" fmla="val 161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7124700" y="3505200"/>
            <a:ext cx="4295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对主数据的三个改变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7153275" y="3752850"/>
            <a:ext cx="4295775" cy="504825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7" name=""/>
          <p:cNvSpPr/>
          <p:nvPr/>
        </p:nvSpPr>
        <p:spPr>
          <a:xfrm rot="0" flipH="0" flipV="0">
            <a:off x="7153275" y="3752850"/>
            <a:ext cx="4295775" cy="504825"/>
          </a:xfrm>
          <a:custGeom>
            <a:pathLst>
              <a:path w="451" h="53">
                <a:moveTo>
                  <a:pt x="3" y="53"/>
                </a:moveTo>
                <a:cubicBezTo>
                  <a:pt x="1" y="53"/>
                  <a:pt x="0" y="52"/>
                  <a:pt x="0" y="50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7248525" y="3829050"/>
            <a:ext cx="4076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维护动作可被授权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7248525" y="4000500"/>
            <a:ext cx="40767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粒度到「谁能改客户地址」而不是「谁能进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CRM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」。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7153275" y="4333875"/>
            <a:ext cx="4295775" cy="504825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1" name=""/>
          <p:cNvSpPr/>
          <p:nvPr/>
        </p:nvSpPr>
        <p:spPr>
          <a:xfrm rot="0" flipH="0" flipV="0">
            <a:off x="7153275" y="4333875"/>
            <a:ext cx="4295775" cy="504825"/>
          </a:xfrm>
          <a:custGeom>
            <a:pathLst>
              <a:path w="451" h="53">
                <a:moveTo>
                  <a:pt x="3" y="53"/>
                </a:moveTo>
                <a:cubicBezTo>
                  <a:pt x="1" y="53"/>
                  <a:pt x="0" y="52"/>
                  <a:pt x="0" y="50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7248525" y="4410075"/>
            <a:ext cx="4076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维护动作可被审计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7248525" y="4581525"/>
            <a:ext cx="40767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谁、在什么时候、依据什么规则、把哪个实体的哪个属性改成了什么。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7153275" y="4914900"/>
            <a:ext cx="4295775" cy="504825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5" name=""/>
          <p:cNvSpPr/>
          <p:nvPr/>
        </p:nvSpPr>
        <p:spPr>
          <a:xfrm rot="0" flipH="0" flipV="0">
            <a:off x="7153275" y="4914900"/>
            <a:ext cx="4295775" cy="504825"/>
          </a:xfrm>
          <a:custGeom>
            <a:pathLst>
              <a:path w="451" h="53">
                <a:moveTo>
                  <a:pt x="3" y="53"/>
                </a:moveTo>
                <a:cubicBezTo>
                  <a:pt x="1" y="53"/>
                  <a:pt x="0" y="52"/>
                  <a:pt x="0" y="50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7248525" y="4991100"/>
            <a:ext cx="4076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维护动作可被复用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7248525" y="5162550"/>
            <a:ext cx="40767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组织架构调整一次定义，所有应用里都是同一套口径。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19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主数据咨询方法论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15 / 30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322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写入机制：黄金记录是&lt;span style={{ color: '#FA4F24' }}&gt;投影&lt;/span&gt;，原始层必须保留&#10;    &lt;/Text&gt;&#10;    &lt;Text style={{ fontSize: 20, color: '#8A8F99', marginTop: 8 }}&gt;&#10;      编辑不写回源数据，写进一个单独的 writeback 数据集——原始数据与编辑数据并存&#10;    &lt;/Text&gt;&#10;  &lt;/Box&gt;&#10;  &lt;Box style={{ height: 1, background: '#E8E8E8' }} /&gt;&#10;&#10;  &lt;Box style={{ paddingTop: 14, paddingBottom: 8, height: 479, flexDirection: 'column', gap: 10 }}&gt;&#10;    &lt;Box style={{ height: 225, flexDirection: 'row', gap: 10 }}&gt;&#10;      &lt;Box style={{ flex: 1, background: '#0F1423', borderRadius: 4, padding: '13px 16px', flexDirection: 'column' }}&gt;&#10;        &lt;Text style={{ fontSize: 14, fontWeight: 'bold', color: '#FBA15C' }}&gt;官方机制&lt;/Text&gt;&#10;        &lt;Text style={{ fontSize: 11.5, color: 'rgba(255,255,255,0.86)', marginTop: 8, lineHeight: 1.55, flex: 1 }}&gt;&#10;          用户的编辑写入 &lt;tspan style={{ color: '#FBA15C' }}&gt;writeback 数据集&lt;/tspan&gt;，而不是写入对象类型或链接类型背后的源数据集。这样一来，&lt;tspan style={{ fontWeight: 'bold', color: '#FFFFFF' }}&gt;原始数据与编辑后的数据在分析里都能用&lt;/tspan&gt;。&#10;        &lt;/Text&gt;&#10;        &lt;Box style={{ marginTop: 10, background: 'rgba(250,79,36,0.18)', borderRadius: 3, padding: '9px 11px' }}&gt;&#10;          &lt;Text style={{ fontSize: 11, color: 'rgba(255,255,255,0.92)', lineHeight: 1.5 }}&gt;&#10;            对象类型当前状态的最新版本，包含用户的编辑，会体现在 writeback 数据集里。&#10;          &lt;/Text&gt;&#10;        &lt;/Box&gt;&#10;      &lt;/Box&gt;&#10;&#10;      &lt;Box style={{ flex: 1.3, background: '#FFFFFF', border: '1px solid #E8E8E8', borderRadius: 4, padding: '13px 16px', flexDirection: 'column' }}&gt;&#10;        &lt;Text style={{ fontSize: 14, fontWeight: 'bold', color: '#0F1423' }}&gt;两套权限，两种可见性&lt;/Text&gt;&#10;        &lt;Box style={{ flex: 1, marginTop: 10, flexDirection: 'row', gap: 9 }}&gt;&#10;          &lt;Box style={{ flex: 1, background: '#F7F7F8', borderRadius: 3, borderTop: '3px solid #8A8F99', padding: '10px 11px', flexDirection: 'column' }}&gt;&#10;            &lt;Text style={{ fontSize: 12.5, fontWeight: 'bold', color: '#0F1423' }}&gt;只有源数据权限&lt;/Text&gt;&#10;            &lt;Text style={{ fontSize: 11, color: '#3A4050', marginTop: 6, lineHeight: 1.5, flex: 1 }}&gt;&#10;              能看到这个对象，但&lt;tspan style={{ fontWeight: 'bold' }}&gt;看不到任何编辑&lt;/tspan&gt;——他看到的是没有应用编辑的原始形态。&#10;            &lt;/Text&gt;&#10;          &lt;/Box&gt;&#10;          &lt;Box style={{ flex: 1, background: '#FFF3EE', borderRadius: 3, borderTop: '3px solid #FA4F24', padding: '10px 11px', flexDirection: 'column' }}&gt;&#10;            &lt;Text style={{ fontSize: 12.5, fontWeight: 'bold', color: '#C43A17' }}&gt;另有 writeback 权限&lt;/Text&gt;&#10;            &lt;Text style={{ fontSize: 11, color: '#3A4050', marginTop: 6, lineHeight: 1.5, flex: 1 }}&gt;&#10;              同时能&lt;tspan style={{ fontWeight: 'bold' }}&gt;看到编辑和对象当前形态&lt;/tspan&gt;——也就是大家共用的那个「现在是什么样」。&#10;            &lt;/Text&gt;&#10;          &lt;/Box&gt;&#10;        &lt;/Box&gt;&#10;        &lt;Box style={{ marginTop: 10, background: '#F7F7F8', borderRadius: 3, padding: '9px 11px' }}&gt;&#10;          &lt;Text style={{ fontSize: 11, color: '#3A4050', lineHeight: 1.5 }}&gt;&#10;            这是一个很容易被漏掉的权限设计点：&lt;tspan style={{ fontWeight: 'bold' }}&gt;看见 ≠ 看见改动&lt;/tspan&gt;。主数据项目里必须提前和业务对齐，否则会出现「我看到的和财务看到的不一样」。&#10;          &lt;/Text&gt;&#10;        &lt;/Box&gt;&#10;      &lt;/Box&gt;&#10;&#10;      &lt;Box style={{ flex: 0.8, background: '#FFF3EE', borderRadius: 4, borderLeft: '4px solid #FA4F24', padding: '13px 16px', flexDirection: 'column', justifyContent: 'center' }}&gt;&#10;        &lt;Text style={{ fontSize: 14, fontWeight: 'bold', color: '#C43A17' }}&gt;一个补充机制&lt;/Text&gt;&#10;        &lt;Text style={{ fontSize: 11.5, color: '#3A4050', marginTop: 7, lineHeight: 1.55 }}&gt;&#10;          如果对象类型已经有源数据集，但你想通过动作填某一个属性，可以用 &lt;tspan style={{ fontWeight: 'bold' }}&gt;edit-only 属性&lt;/tspan&gt;。&#10;        &lt;/Text&gt;&#10;        &lt;Text style={{ fontSize: 11.5, color: '#3A4050', marginTop: 8, lineHeight: 1.55 }}&gt;&#10;          如果全部属性都靠动作填，那就可以直接建&lt;tspan style={{ fontWeight: 'bold' }}&gt;没有源数据集的对象类型&lt;/tspan&gt;。&#10;        &lt;/Text&gt;&#10;      &lt;/Box&gt;&#10;    &lt;/Box&gt;&#10;&#10;    &lt;Box style={{ flex: 1, background: '#F7F7F8', borderRadius: 4, padding: '12px 18px', flexDirection: 'column' }}&gt;&#10;      &lt;Text style={{ fontSize: 14, fontWeight: 'bold', color: '#0F1423' }}&gt;这一页对照主数据的经典反模式&lt;/Text&gt;&#10;      &lt;Box style={{ flex: 1, flexDirection: 'row', gap: 10, marginTop: 10 }}&gt;&#10;        {[&#10;          { t: '反模式：唯一真相源删掉原始数据', d: '很多项目做成「唯一真相源」之后就把原始数据删了，只留清洗结果。后果是仲裁规则一变就得重新采集，算法团队也拿不到原始粒度。', c: '#C43A17' },&#10;          { t: '正确姿势：原始层与本体层并存', d: '原始层保存全量历史，包括管道日志、原始字段、原始事件；本体层保存整合后的对象视图。视图是可重算的投影，底片不能丢。', c: '#FA4F24' },&#10;          { t: '架构风险：只接管道不做本体', d: '第一阶段疯狂接数据源，接了几百张表，业务还是不知道看什么。管道建了一堆，主数据一个对象类型没定。', c: '#C43A17' },&#10;        ].map((x) =&gt; (&#10;          &lt;Box key={x.t} style={{ flex: 1, background: '#FFFFFF', borderRadius: 3, borderLeft: '3px solid ' + x.c, padding: '10px 12px', flexDirection: 'column' }}&gt;&#10;            &lt;Text style={{ fontSize: 12.5, fontWeight: 'bold', color: '#0F1423' }}&gt;{x.t}&lt;/Text&gt;&#10;            &lt;Text style={{ fontSize: 11, color: '#3A4050', marginTop: 6, lineHeight: 1.5, flex: 1 }}&gt;{x.d}&lt;/Text&gt;&#10;          &lt;/Box&gt;&#10;        ))}&#10;      &lt;/Box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主数据咨询方法论&lt;/Text&gt;&#10;    &lt;Text style={{ fontSize: 13, color: '#8A8F99', marginLeft: 'auto' }}&gt;16 / 3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写入机制：黄金记录是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投影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，原始层必须保留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编辑不写回源数据，写进一个单独的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writeback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数据集——原始数据与编辑数据并存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327" name=""/>
          <p:cNvSpPr/>
          <p:nvPr/>
        </p:nvSpPr>
        <p:spPr>
          <a:xfrm rot="0" flipH="0" flipV="0">
            <a:off x="609600" y="1285875"/>
            <a:ext cx="3476625" cy="2143125"/>
          </a:xfrm>
          <a:prstGeom prst="roundRect">
            <a:avLst>
              <a:gd name="adj" fmla="val 1778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762000" y="1409700"/>
            <a:ext cx="3171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官方机制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762000" y="1647825"/>
            <a:ext cx="3171825" cy="1009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用户的编辑写入</a:t>
            </a:r>
            <a:r>
              <a:rPr lang="en-US" sz="863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863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 xml:space="preserve">writeback </a:t>
            </a:r>
            <a:r>
              <a:rPr lang="zh-CN" sz="863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数据集</a:t>
            </a:r>
            <a:r>
              <a:rPr lang="zh-CN" sz="863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，而不是写入对象类型或链接类型背后的源数据集。这样一来，</a:t>
            </a:r>
            <a:r>
              <a:rPr lang="zh-CN" sz="863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原始数据与编辑后的数据在分析里都能用</a:t>
            </a:r>
            <a:r>
              <a:rPr lang="zh-CN" sz="863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762000" y="2752725"/>
            <a:ext cx="3171825" cy="552450"/>
          </a:xfrm>
          <a:prstGeom prst="roundRect">
            <a:avLst>
              <a:gd name="adj" fmla="val 5172"/>
            </a:avLst>
          </a:prstGeom>
          <a:solidFill>
            <a:srgbClr val="FA4F24">
              <a:alpha val="18000"/>
            </a:srgbClr>
          </a:solidFill>
          <a:ln/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866775" y="2838450"/>
            <a:ext cx="2962275" cy="381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对象类型当前状态的最新版本，包含用户的编辑，会体现在</a:t>
            </a:r>
            <a:r>
              <a:rPr lang="en-US" sz="8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writeback </a:t>
            </a:r>
            <a:r>
              <a:rPr lang="zh-CN" sz="8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数据集里。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4181475" y="1285875"/>
            <a:ext cx="4524375" cy="2143125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4333875" y="1409700"/>
            <a:ext cx="421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两套权限，两种可见性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4333875" y="1695450"/>
            <a:ext cx="2066925" cy="990600"/>
          </a:xfrm>
          <a:prstGeom prst="roundRect">
            <a:avLst>
              <a:gd name="adj" fmla="val 288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35" name=""/>
          <p:cNvSpPr/>
          <p:nvPr/>
        </p:nvSpPr>
        <p:spPr>
          <a:xfrm rot="0" flipH="0" flipV="0">
            <a:off x="4333875" y="1695450"/>
            <a:ext cx="2066925" cy="990600"/>
          </a:xfrm>
          <a:custGeom>
            <a:pathLst>
              <a:path w="217" h="104">
                <a:moveTo>
                  <a:pt x="214" y="0"/>
                </a:moveTo>
                <a:cubicBezTo>
                  <a:pt x="216" y="0"/>
                  <a:pt x="217" y="1"/>
                  <a:pt x="217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14" y="0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4438650" y="1790700"/>
            <a:ext cx="1857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只有源数据权限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4438650" y="1990725"/>
            <a:ext cx="185737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能看到这个对象，但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看不到任何编辑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——他看到的是没有应用编辑的原始形态。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6486525" y="1695450"/>
            <a:ext cx="2066925" cy="990600"/>
          </a:xfrm>
          <a:prstGeom prst="roundRect">
            <a:avLst>
              <a:gd name="adj" fmla="val 2885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339" name=""/>
          <p:cNvSpPr/>
          <p:nvPr/>
        </p:nvSpPr>
        <p:spPr>
          <a:xfrm rot="0" flipH="0" flipV="0">
            <a:off x="6486525" y="1695450"/>
            <a:ext cx="2066925" cy="990600"/>
          </a:xfrm>
          <a:custGeom>
            <a:pathLst>
              <a:path w="217" h="104">
                <a:moveTo>
                  <a:pt x="214" y="0"/>
                </a:moveTo>
                <a:cubicBezTo>
                  <a:pt x="216" y="0"/>
                  <a:pt x="217" y="1"/>
                  <a:pt x="217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1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6591300" y="1790700"/>
            <a:ext cx="1857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另有</a:t>
            </a:r>
            <a:r>
              <a:rPr lang="en-US" sz="938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writeback </a:t>
            </a: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权限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6591300" y="1990725"/>
            <a:ext cx="185737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同时能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看到编辑和对象当前形态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——也就是大家共用的那个「现在是什么样」。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4333875" y="2752725"/>
            <a:ext cx="4219575" cy="552450"/>
          </a:xfrm>
          <a:prstGeom prst="roundRect">
            <a:avLst>
              <a:gd name="adj" fmla="val 517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4438650" y="2838450"/>
            <a:ext cx="4010025" cy="381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这是一个很容易被漏掉的权限设计点：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看见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看见改动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。主数据项目里必须提前和业务对齐，否则会出现「我看到的和财务看到的不一样」。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8839200" y="1285875"/>
            <a:ext cx="2781300" cy="2143125"/>
          </a:xfrm>
          <a:prstGeom prst="roundRect">
            <a:avLst>
              <a:gd name="adj" fmla="val 1778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345" name=""/>
          <p:cNvSpPr/>
          <p:nvPr/>
        </p:nvSpPr>
        <p:spPr>
          <a:xfrm rot="0" flipH="0" flipV="0">
            <a:off x="8839200" y="1285875"/>
            <a:ext cx="2781300" cy="2143125"/>
          </a:xfrm>
          <a:custGeom>
            <a:pathLst>
              <a:path w="292" h="225">
                <a:moveTo>
                  <a:pt x="4" y="225"/>
                </a:moveTo>
                <a:cubicBezTo>
                  <a:pt x="2" y="225"/>
                  <a:pt x="0" y="223"/>
                  <a:pt x="0" y="22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2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8991600" y="1800225"/>
            <a:ext cx="243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一个补充机制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8991600" y="2028825"/>
            <a:ext cx="2438400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如果对象类型已经有源数据集，但你想通过动作填某一个属性，可以用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edit-only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属性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8991600" y="2514600"/>
            <a:ext cx="2438400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如果全部属性都靠动作填，那就可以直接建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没有源数据集的对象类型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609600" y="3524250"/>
            <a:ext cx="10972800" cy="2114550"/>
          </a:xfrm>
          <a:prstGeom prst="roundRect">
            <a:avLst>
              <a:gd name="adj" fmla="val 180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781050" y="3638550"/>
            <a:ext cx="10629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这一页对照主数据的经典反模式</a:t>
            </a:r>
            <a:endParaRPr/>
          </a:p>
        </p:txBody>
      </p:sp>
      <p:sp>
        <p:nvSpPr>
          <p:cNvPr id="351" name=""/>
          <p:cNvSpPr/>
          <p:nvPr/>
        </p:nvSpPr>
        <p:spPr>
          <a:xfrm rot="0" flipH="0" flipV="0">
            <a:off x="809625" y="3895725"/>
            <a:ext cx="3476625" cy="1628775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2" name=""/>
          <p:cNvSpPr/>
          <p:nvPr/>
        </p:nvSpPr>
        <p:spPr>
          <a:xfrm rot="0" flipH="0" flipV="0">
            <a:off x="809625" y="3895725"/>
            <a:ext cx="3476625" cy="1628775"/>
          </a:xfrm>
          <a:custGeom>
            <a:pathLst>
              <a:path w="365" h="171">
                <a:moveTo>
                  <a:pt x="3" y="171"/>
                </a:moveTo>
                <a:cubicBezTo>
                  <a:pt x="1" y="171"/>
                  <a:pt x="0" y="170"/>
                  <a:pt x="0" y="16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71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923925" y="3990975"/>
            <a:ext cx="3219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反模式：唯一真相源删掉原始数据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923925" y="4191000"/>
            <a:ext cx="3219450" cy="1238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很多项目做成「唯一真相源」之后就把原始数据删了，只留清洗结果。后果是仲裁规则一变就得重新采集，算法团队也拿不到原始粒度。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4381500" y="3895725"/>
            <a:ext cx="3486150" cy="1628775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6" name=""/>
          <p:cNvSpPr/>
          <p:nvPr/>
        </p:nvSpPr>
        <p:spPr>
          <a:xfrm rot="0" flipH="0" flipV="0">
            <a:off x="4381500" y="3895725"/>
            <a:ext cx="3486150" cy="1628775"/>
          </a:xfrm>
          <a:custGeom>
            <a:pathLst>
              <a:path w="366" h="171">
                <a:moveTo>
                  <a:pt x="3" y="171"/>
                </a:moveTo>
                <a:cubicBezTo>
                  <a:pt x="1" y="171"/>
                  <a:pt x="0" y="170"/>
                  <a:pt x="0" y="16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7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4495800" y="3990975"/>
            <a:ext cx="3228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正确姿势：原始层与本体层并存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4495800" y="4191000"/>
            <a:ext cx="3228975" cy="1238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原始层保存全量历史，包括管道日志、原始字段、原始事件；本体层保存整合后的对象视图。视图是可重算的投影，底片不能丢。</a:t>
            </a:r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7962900" y="3895725"/>
            <a:ext cx="3476625" cy="1628775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0" name=""/>
          <p:cNvSpPr/>
          <p:nvPr/>
        </p:nvSpPr>
        <p:spPr>
          <a:xfrm rot="0" flipH="0" flipV="0">
            <a:off x="7962900" y="3895725"/>
            <a:ext cx="3476625" cy="1628775"/>
          </a:xfrm>
          <a:custGeom>
            <a:pathLst>
              <a:path w="365" h="171">
                <a:moveTo>
                  <a:pt x="3" y="171"/>
                </a:moveTo>
                <a:cubicBezTo>
                  <a:pt x="1" y="171"/>
                  <a:pt x="0" y="170"/>
                  <a:pt x="0" y="16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71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8077200" y="3990975"/>
            <a:ext cx="3219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架构风险：只接管道不做本体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8077200" y="4191000"/>
            <a:ext cx="3219450" cy="1238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第一阶段疯狂接数据源，接了几百张表，业务还是不知道看什么。管道建了一堆，主数据一个对象类型没定。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64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主数据咨询方法论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16 / 30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367" name="" descr="&lt;Slide style={{ width: 1280, height: 720, background: '#FFFFFF', padding: '24px 64px 0' }}&gt;&#13;&#10;  &lt;Box style={{ height: 96, flexDirection: 'column', justifyContent: 'flex-start' }}&gt;&#13;&#10;    &lt;Text style={{ fontSize: 32, fontWeight: 'bold', color: '#0F1423' }}&gt;&#13;&#10;      黄金记录上线之后：五个阶段被 AI 逐段改造&#13;&#10;    &lt;/Text&gt;&#13;&#10;    &lt;Text style={{ fontSize: 20, color: '#8A8F99', marginTop: 8 }}&gt;&#13;&#10;      传统 MDM 的管道是「接入—标准化—匹配—合并—发布」，今天每一段都能被模型接管一部分&#13;&#10;    &lt;/Text&gt;&#13;&#10;  &lt;/Box&gt;&#13;&#10;  &lt;Box style={{ height: 1, background: '#E8E8E8' }} /&gt;&#13;&#10;&#13;&#10;  &lt;Box style={{ paddingTop: 14, paddingBottom: 8, height: 479, flexDirection: 'column', gap: 10 }}&gt;&#13;&#10;    &lt;Box style={{ height: 220, flexDirection: 'row', gap: 9 }}&gt;&#13;&#10;      {[&#13;&#10;        { n: '01', t: '标准化', old: '查表 + 正则', now: '模式识别：Ltd./Limited/LTD 是同一法人形式；国家码暗示地址格式；自由文本字段里藏着实体名', k: '少一批错匹配进入匹配阶段' },&#13;&#10;        { n: '02', t: '匹配', old: '精确匹配规则', now: '概率打分 + 学到的相似度，所有特征交给模型综合判断', k: '长尾变体不再靠补规则' },&#13;&#10;        { n: '03', t: '合并与仲裁', old: '固定「来源永远赢」', now: '规则按结果排序、持续调整，逐属性选最优值，不盲信某系统', k: '仲裁逻辑本身可学习' },&#13;&#10;        { n: '04', t: '发布', old: '批量文件', now: 'API + 事件流，消费方按需取当前值', k: '两速问题的技术解' },&#13;&#10;        { n: '05', t: '监控', old: '抽样人工复核', now: '异常检测：盯新增重复、漂移、断流', k: '黄金记录上线后还能保持诚实' },&#13;&#10;      ].map((x, i) =&gt; (&#13;&#10;        &lt;Box key={x.n} style={{ flex: 1, background: i % 2 === 0 ? '#F7F7F8' : '#FFFFFF', border: i % 2 === 0 ? 'none' : '1px solid #E8E8E8', borderRadius: 4, borderTop: '4px solid #FA4F24', padding: '11px 12px', flexDirection: 'column' }}&gt;&#13;&#10;          &lt;Text style={{ fontSize: 17, fontWeight: 'bold', color: '#FA4F24' }}&gt;{x.n}&lt;/Text&gt;&#13;&#10;          &lt;Text style={{ fontSize: 16, fontWeight: 'bold', color: '#0F1423', marginTop: 4 }}&gt;{x.t}&lt;/Text&gt;&#13;&#10;          &lt;Box style={{ marginTop: 9, background: '#FFFFFF', borderRadius: 3, padding: '6px 8px' }}&gt;&#13;&#10;            &lt;Text style={{ fontSize: 10.5, color: '#8A8F99', lineHeight: 1.4 }}&gt;原来：{x.old}&lt;/Text&gt;&#13;&#10;          &lt;/Box&gt;&#13;&#10;          &lt;Text style={{ fontSize: 11, color: '#3A4050', marginTop: 8, lineHeight: 1.5, flex: 1 }}&gt;{x.now}&lt;/Text&gt;&#13;&#10;          &lt;Box style={{ background: '#FFF3EE', borderRadius: 3, padding: '6px 8px' }}&gt;&#13;&#10;            &lt;Text style={{ fontSize: 10.5, color: '#C43A17', lineHeight: 1.4 }}&gt;{x.k}&lt;/Text&gt;&#13;&#10;          &lt;/Box&gt;&#13;&#10;        &lt;/Box&gt;&#13;&#10;      ))}&#13;&#10;    &lt;/Box&gt;&#13;&#10;&#13;&#10;    &lt;Box style={{ flex: 1, flexDirection: 'row', gap: 10 }}&gt;&#13;&#10;      &lt;Box style={{ flex: 1.15, background: '#0F1423', borderRadius: 4, padding: '13px 17px', flexDirection: 'column' }}&gt;&#13;&#10;        &lt;Text style={{ fontSize: 14, fontWeight: 'bold', color: '#FBA15C' }}&gt;上线只是开始：三个必须持续盯的事&lt;/Text&gt;&#13;&#10;        &lt;Box style={{ flex: 1, marginTop: 10, flexDirection: 'column', gap: 7 }}&gt;&#13;&#10;          {[&#13;&#10;            { t: '黄金记录要持续核对', d: '异常检测要在新增重复、漂移、断流上持续报警，否则上线半年后它自己就不诚实了。' },&#13;&#10;            { t: '源系统漂移，模型会继承', d: '黄金记录稳定但源系统持续发散 → 模型慢慢脱离运营现实。持续管治不是管道细节，是模型可信度的前提。' },&#13;&#10;            { t: '监管已经把数据准确性变成硬要求', d: '欧盟 AI 法案高风险义务自 2026 年 8 月起适用，而实体层正是这些要求真正被执行或被打破的地方。' },&#13;&#10;          ].map((x, i) =&gt; (&#13;&#10;            &lt;Box key={x.t} style={{ background: 'rgba(255,255,255,0.07)', borderRadius: 3, borderLeft: '3px solid ' + (i === 2 ? '#C43A17' : '#FA4F24'), padding: '9px 11px' }}&gt;&#13;&#10;              &lt;Text style={{ fontSize: 12.5, fontWeight: 'bold', color: '#FFFFFF' }}&gt;{x.t}&lt;/Text&gt;&#13;&#10;              &lt;Text style={{ fontSize: 11, color: 'rgba(255,255,255,0.8)', marginTop: 3, lineHeight: 1.5 }}&gt;{x.d}&lt;/Text&gt;&#13;&#10;            &lt;/Box&gt;&#13;&#10;          ))}&#13;&#10;        &lt;/Box&gt;&#13;&#10;      &lt;/Box&gt;&#13;&#10;&#13;&#10;      &lt;Box style={{ flex: 0.85, background: '#FFF3EE', borderRadius: 4, borderLeft: '4px solid #FA4F24', padding: '13px 17px', flexDirection: 'column', justifyContent: 'center' }}&gt;&#13;&#10;        &lt;Text style={{ fontSize: 14, fontWeight: 'bold', color: '#C43A17' }}&gt;AI 化之后人的位置&lt;/Text&gt;&#13;&#10;        &lt;Text style={{ fontSize: 12, color: '#3A4050', marginTop: 7, lineHeight: 1.6 }}&gt;&#13;&#10;          变的是分工：机器做标准化与概率打分，人只处理真正需要判断的例外；并且这些例外要能反向训练模型。&#13;&#10;        &lt;/Text&gt;&#13;&#10;        &lt;Text style={{ fontSize: 12, color: '#3A4050', marginTop: 8, lineHeight: 1.6 }}&gt;&#13;&#10;          不变的是纪律：&lt;tspan style={{ fontWeight: 'bold', color: '#C43A17' }}&gt;接受评审的例外队列&lt;/tspan&gt;必须有人守着，否则模型会在没人看的地方自己漂走。&#13;&#10;        &lt;/Text&gt;&#13;&#10;      &lt;/Box&gt;&#13;&#10;    &lt;/Box&gt;&#13;&#10;  &lt;/Box&gt;&#13;&#10;&#13;&#10;  &lt;Box style={{ height: 58, flexDirection: 'row', alignItems: 'center', borderTop: '1px solid #E8E8E8' }}&gt;&#13;&#10;    &lt;Box style={{ width: 10, height: 10, background: '#FA4F24' }} /&gt;&#13;&#10;    &lt;Text style={{ fontSize: 13, color: '#8A8F99', marginLeft: 12 }}&gt;硕磐机密 · 主数据咨询方法论&lt;/Text&gt;&#13;&#10;    &lt;Text style={{ fontSize: 13, color: '#8A8F99', marginLeft: 'auto' }}&gt;17 / 30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黄金记录上线之后：五个阶段被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逐段改造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传统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MDM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的管道是「接入—标准化—匹配—合并—发布」，今天每一段都能被模型接管一部分</a:t>
            </a:r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372" name=""/>
          <p:cNvSpPr/>
          <p:nvPr/>
        </p:nvSpPr>
        <p:spPr>
          <a:xfrm rot="0" flipH="0" flipV="0">
            <a:off x="609600" y="1323975"/>
            <a:ext cx="2124075" cy="2095500"/>
          </a:xfrm>
          <a:prstGeom prst="roundRect">
            <a:avLst>
              <a:gd name="adj" fmla="val 181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73" name=""/>
          <p:cNvSpPr/>
          <p:nvPr/>
        </p:nvSpPr>
        <p:spPr>
          <a:xfrm rot="0" flipH="0" flipV="0">
            <a:off x="609600" y="1323975"/>
            <a:ext cx="2124075" cy="2095500"/>
          </a:xfrm>
          <a:custGeom>
            <a:pathLst>
              <a:path w="223" h="220">
                <a:moveTo>
                  <a:pt x="219" y="0"/>
                </a:moveTo>
                <a:cubicBezTo>
                  <a:pt x="221" y="0"/>
                  <a:pt x="223" y="2"/>
                  <a:pt x="223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19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723900" y="1428750"/>
            <a:ext cx="1895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723900" y="1666875"/>
            <a:ext cx="1895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标准化</a:t>
            </a:r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723900" y="1943100"/>
            <a:ext cx="1895475" cy="2857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800100" y="2000250"/>
            <a:ext cx="174307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原来：</a:t>
            </a: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查表</a:t>
            </a: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正则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723900" y="2305050"/>
            <a:ext cx="1895475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模式识别：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Ltd./Limited/LTD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是同一法人形式；国家码暗示地址格式；自由文本字段里藏着实体名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723900" y="2990850"/>
            <a:ext cx="1895475" cy="285750"/>
          </a:xfrm>
          <a:prstGeom prst="roundRect">
            <a:avLst>
              <a:gd name="adj" fmla="val 1000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800100" y="3048000"/>
            <a:ext cx="174307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C43A17"/>
                </a:solidFill>
                <a:latin typeface="Microsoft YaHei"/>
                <a:ea typeface="Microsoft YaHei"/>
              </a:rPr>
              <a:t>少一批错匹配进入匹配阶段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2819400" y="1323975"/>
            <a:ext cx="2124075" cy="20955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2" name=""/>
          <p:cNvSpPr/>
          <p:nvPr/>
        </p:nvSpPr>
        <p:spPr>
          <a:xfrm rot="0" flipH="0" flipV="0">
            <a:off x="2819400" y="1323975"/>
            <a:ext cx="2124075" cy="2095500"/>
          </a:xfrm>
          <a:custGeom>
            <a:pathLst>
              <a:path w="223" h="220">
                <a:moveTo>
                  <a:pt x="219" y="0"/>
                </a:moveTo>
                <a:cubicBezTo>
                  <a:pt x="221" y="0"/>
                  <a:pt x="223" y="2"/>
                  <a:pt x="223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19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2933700" y="1428750"/>
            <a:ext cx="1895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2933700" y="1666875"/>
            <a:ext cx="1895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匹配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2933700" y="1943100"/>
            <a:ext cx="1895475" cy="2857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3009900" y="2000250"/>
            <a:ext cx="174307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原来：</a:t>
            </a: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精确匹配规则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2933700" y="2305050"/>
            <a:ext cx="1895475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概率打分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学到的相似度，所有特征交给模型综合判断</a:t>
            </a:r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2933700" y="2990850"/>
            <a:ext cx="1895475" cy="285750"/>
          </a:xfrm>
          <a:prstGeom prst="roundRect">
            <a:avLst>
              <a:gd name="adj" fmla="val 1000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3009900" y="3048000"/>
            <a:ext cx="174307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C43A17"/>
                </a:solidFill>
                <a:latin typeface="Microsoft YaHei"/>
                <a:ea typeface="Microsoft YaHei"/>
              </a:rPr>
              <a:t>长尾变体不再靠补规则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5029200" y="1323975"/>
            <a:ext cx="2133600" cy="2095500"/>
          </a:xfrm>
          <a:prstGeom prst="roundRect">
            <a:avLst>
              <a:gd name="adj" fmla="val 181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91" name=""/>
          <p:cNvSpPr/>
          <p:nvPr/>
        </p:nvSpPr>
        <p:spPr>
          <a:xfrm rot="0" flipH="0" flipV="0">
            <a:off x="5029200" y="1323975"/>
            <a:ext cx="2133600" cy="2095500"/>
          </a:xfrm>
          <a:custGeom>
            <a:pathLst>
              <a:path w="224" h="220">
                <a:moveTo>
                  <a:pt x="220" y="0"/>
                </a:moveTo>
                <a:cubicBezTo>
                  <a:pt x="222" y="0"/>
                  <a:pt x="224" y="2"/>
                  <a:pt x="224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20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5143500" y="1428750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5143500" y="1666875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合并与仲裁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5143500" y="1943100"/>
            <a:ext cx="1905000" cy="2857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5219700" y="2000250"/>
            <a:ext cx="17526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原来：</a:t>
            </a: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固定「来源永远赢」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5143500" y="2305050"/>
            <a:ext cx="19050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规则按结果排序、持续调整，逐属性选最优值，不盲信某系统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5143500" y="2990850"/>
            <a:ext cx="1905000" cy="285750"/>
          </a:xfrm>
          <a:prstGeom prst="roundRect">
            <a:avLst>
              <a:gd name="adj" fmla="val 1000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5219700" y="3048000"/>
            <a:ext cx="17526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C43A17"/>
                </a:solidFill>
                <a:latin typeface="Microsoft YaHei"/>
                <a:ea typeface="Microsoft YaHei"/>
              </a:rPr>
              <a:t>仲裁逻辑本身可学习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7248525" y="1323975"/>
            <a:ext cx="2124075" cy="20955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0" name=""/>
          <p:cNvSpPr/>
          <p:nvPr/>
        </p:nvSpPr>
        <p:spPr>
          <a:xfrm rot="0" flipH="0" flipV="0">
            <a:off x="7248525" y="1323975"/>
            <a:ext cx="2124075" cy="2095500"/>
          </a:xfrm>
          <a:custGeom>
            <a:pathLst>
              <a:path w="223" h="220">
                <a:moveTo>
                  <a:pt x="219" y="0"/>
                </a:moveTo>
                <a:cubicBezTo>
                  <a:pt x="221" y="0"/>
                  <a:pt x="223" y="2"/>
                  <a:pt x="223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19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7362825" y="1428750"/>
            <a:ext cx="1895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7362825" y="1666875"/>
            <a:ext cx="1895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发布</a:t>
            </a:r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7362825" y="1943100"/>
            <a:ext cx="1895475" cy="2857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7439025" y="2000250"/>
            <a:ext cx="174307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原来：</a:t>
            </a: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批量文件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7362825" y="2305050"/>
            <a:ext cx="1895475" cy="6858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API +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事件流，消费方按需取当前值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7362825" y="2990850"/>
            <a:ext cx="1895475" cy="285750"/>
          </a:xfrm>
          <a:prstGeom prst="roundRect">
            <a:avLst>
              <a:gd name="adj" fmla="val 1000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7439025" y="3048000"/>
            <a:ext cx="174307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C43A17"/>
                </a:solidFill>
                <a:latin typeface="Microsoft YaHei"/>
                <a:ea typeface="Microsoft YaHei"/>
              </a:rPr>
              <a:t>两速问题的技术解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9458325" y="1323975"/>
            <a:ext cx="2124075" cy="2095500"/>
          </a:xfrm>
          <a:prstGeom prst="roundRect">
            <a:avLst>
              <a:gd name="adj" fmla="val 181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09" name=""/>
          <p:cNvSpPr/>
          <p:nvPr/>
        </p:nvSpPr>
        <p:spPr>
          <a:xfrm rot="0" flipH="0" flipV="0">
            <a:off x="9458325" y="1323975"/>
            <a:ext cx="2124075" cy="2095500"/>
          </a:xfrm>
          <a:custGeom>
            <a:pathLst>
              <a:path w="223" h="220">
                <a:moveTo>
                  <a:pt x="219" y="0"/>
                </a:moveTo>
                <a:cubicBezTo>
                  <a:pt x="221" y="0"/>
                  <a:pt x="223" y="2"/>
                  <a:pt x="223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19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9572625" y="1428750"/>
            <a:ext cx="1895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4F24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9572625" y="1666875"/>
            <a:ext cx="1895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监控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9572625" y="1943100"/>
            <a:ext cx="1895475" cy="2857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9648825" y="2000250"/>
            <a:ext cx="174307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原来：</a:t>
            </a: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抽样人工复核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9572625" y="2305050"/>
            <a:ext cx="1895475" cy="6858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异常检测：盯新增重复、漂移、断流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9572625" y="2990850"/>
            <a:ext cx="1895475" cy="285750"/>
          </a:xfrm>
          <a:prstGeom prst="roundRect">
            <a:avLst>
              <a:gd name="adj" fmla="val 1000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9648825" y="3048000"/>
            <a:ext cx="174307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C43A17"/>
                </a:solidFill>
                <a:latin typeface="Microsoft YaHei"/>
                <a:ea typeface="Microsoft YaHei"/>
              </a:rPr>
              <a:t>黄金记录上线后还能保持诚实</a:t>
            </a:r>
            <a:endParaRPr/>
          </a:p>
        </p:txBody>
      </p:sp>
      <p:sp>
        <p:nvSpPr>
          <p:cNvPr id="417" name=""/>
          <p:cNvSpPr/>
          <p:nvPr/>
        </p:nvSpPr>
        <p:spPr>
          <a:xfrm rot="0" flipH="0" flipV="0">
            <a:off x="609600" y="3476625"/>
            <a:ext cx="6257925" cy="2238375"/>
          </a:xfrm>
          <a:prstGeom prst="roundRect">
            <a:avLst>
              <a:gd name="adj" fmla="val 170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771525" y="3600450"/>
            <a:ext cx="5934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上线只是开始：三个必须持续盯的事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800100" y="3857625"/>
            <a:ext cx="5934075" cy="533400"/>
          </a:xfrm>
          <a:prstGeom prst="roundRect">
            <a:avLst>
              <a:gd name="adj" fmla="val 5357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420" name=""/>
          <p:cNvSpPr/>
          <p:nvPr/>
        </p:nvSpPr>
        <p:spPr>
          <a:xfrm rot="0" flipH="0" flipV="0">
            <a:off x="800100" y="3857625"/>
            <a:ext cx="5934075" cy="533400"/>
          </a:xfrm>
          <a:custGeom>
            <a:pathLst>
              <a:path w="623" h="56">
                <a:moveTo>
                  <a:pt x="3" y="56"/>
                </a:moveTo>
                <a:cubicBezTo>
                  <a:pt x="1" y="56"/>
                  <a:pt x="0" y="55"/>
                  <a:pt x="0" y="5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904875" y="3943350"/>
            <a:ext cx="5695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黄金记录要持续核对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904875" y="4114800"/>
            <a:ext cx="5695950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异常检测要在新增重复、漂移、断流上持续报警，否则上线半年后它自己就不诚实了。</a:t>
            </a:r>
            <a:endParaRPr/>
          </a:p>
        </p:txBody>
      </p:sp>
      <p:sp>
        <p:nvSpPr>
          <p:cNvPr id="423" name=""/>
          <p:cNvSpPr/>
          <p:nvPr/>
        </p:nvSpPr>
        <p:spPr>
          <a:xfrm rot="0" flipH="0" flipV="0">
            <a:off x="800100" y="4457700"/>
            <a:ext cx="5934075" cy="533400"/>
          </a:xfrm>
          <a:prstGeom prst="roundRect">
            <a:avLst>
              <a:gd name="adj" fmla="val 5357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424" name=""/>
          <p:cNvSpPr/>
          <p:nvPr/>
        </p:nvSpPr>
        <p:spPr>
          <a:xfrm rot="0" flipH="0" flipV="0">
            <a:off x="800100" y="4457700"/>
            <a:ext cx="5934075" cy="533400"/>
          </a:xfrm>
          <a:custGeom>
            <a:pathLst>
              <a:path w="623" h="56">
                <a:moveTo>
                  <a:pt x="3" y="56"/>
                </a:moveTo>
                <a:cubicBezTo>
                  <a:pt x="1" y="56"/>
                  <a:pt x="0" y="55"/>
                  <a:pt x="0" y="5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904875" y="4543425"/>
            <a:ext cx="5695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源系统漂移，模型会继承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904875" y="4714875"/>
            <a:ext cx="5695950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黄金记录稳定但源系统持续发散</a:t>
            </a:r>
            <a:r>
              <a:rPr lang="en-US" sz="8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8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模型慢慢脱离运营现实。持续管治不是管道细节，是模型可信度的前提。</a:t>
            </a:r>
            <a:endParaRPr/>
          </a:p>
        </p:txBody>
      </p:sp>
      <p:sp>
        <p:nvSpPr>
          <p:cNvPr id="427" name=""/>
          <p:cNvSpPr/>
          <p:nvPr/>
        </p:nvSpPr>
        <p:spPr>
          <a:xfrm rot="0" flipH="0" flipV="0">
            <a:off x="800100" y="5057775"/>
            <a:ext cx="5934075" cy="533400"/>
          </a:xfrm>
          <a:prstGeom prst="roundRect">
            <a:avLst>
              <a:gd name="adj" fmla="val 5357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428" name=""/>
          <p:cNvSpPr/>
          <p:nvPr/>
        </p:nvSpPr>
        <p:spPr>
          <a:xfrm rot="0" flipH="0" flipV="0">
            <a:off x="800100" y="5057775"/>
            <a:ext cx="5934075" cy="533400"/>
          </a:xfrm>
          <a:custGeom>
            <a:pathLst>
              <a:path w="623" h="56">
                <a:moveTo>
                  <a:pt x="3" y="56"/>
                </a:moveTo>
                <a:cubicBezTo>
                  <a:pt x="1" y="56"/>
                  <a:pt x="0" y="55"/>
                  <a:pt x="0" y="5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6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904875" y="5143500"/>
            <a:ext cx="5695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监管已经把数据准确性变成硬要求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904875" y="5314950"/>
            <a:ext cx="5695950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欧盟</a:t>
            </a:r>
            <a:r>
              <a:rPr lang="en-US" sz="8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8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法案高风险义务自</a:t>
            </a:r>
            <a:r>
              <a:rPr lang="en-US" sz="8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 2026 </a:t>
            </a:r>
            <a:r>
              <a:rPr lang="zh-CN" sz="8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年</a:t>
            </a:r>
            <a:r>
              <a:rPr lang="en-US" sz="8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8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月起适用，而实体层正是这些要求真正被执行或被打破的地方。</a:t>
            </a:r>
            <a:endParaRPr/>
          </a:p>
        </p:txBody>
      </p:sp>
      <p:sp>
        <p:nvSpPr>
          <p:cNvPr id="431" name=""/>
          <p:cNvSpPr/>
          <p:nvPr/>
        </p:nvSpPr>
        <p:spPr>
          <a:xfrm rot="0" flipH="0" flipV="0">
            <a:off x="7000875" y="3476625"/>
            <a:ext cx="4619625" cy="2238375"/>
          </a:xfrm>
          <a:prstGeom prst="roundRect">
            <a:avLst>
              <a:gd name="adj" fmla="val 170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432" name=""/>
          <p:cNvSpPr/>
          <p:nvPr/>
        </p:nvSpPr>
        <p:spPr>
          <a:xfrm rot="0" flipH="0" flipV="0">
            <a:off x="7000875" y="3476625"/>
            <a:ext cx="4619625" cy="2238375"/>
          </a:xfrm>
          <a:custGeom>
            <a:pathLst>
              <a:path w="485" h="235">
                <a:moveTo>
                  <a:pt x="4" y="235"/>
                </a:moveTo>
                <a:cubicBezTo>
                  <a:pt x="2" y="235"/>
                  <a:pt x="0" y="233"/>
                  <a:pt x="0" y="23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3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7162800" y="4000500"/>
            <a:ext cx="4257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化之后人的位置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7162800" y="4229100"/>
            <a:ext cx="42576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变的是分工：机器做标准化与概率打分，人只处理真正需要判断的例外；并且这些例外要能反向训练模型。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7162800" y="4752975"/>
            <a:ext cx="42576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不变的是纪律：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接受评审的例外队列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必须有人守着，否则模型会在没人看的地方自己漂走。</a:t>
            </a:r>
            <a:endParaRPr/>
          </a:p>
        </p:txBody>
      </p:sp>
      <p:sp>
        <p:nvSpPr>
          <p:cNvPr id="436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437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主数据咨询方法论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17 / 30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440" name="" descr="&lt;Slide style={{ width: 1280, height: 720, background: '#0F1423' }}&gt;&#13;&#10;  &lt;Box style={{ position: 'absolute', left: 0, top: 0, width: 1280, height: 720, background: 'linear-gradient(135deg, #0F1423 0%, #2A1810 100%)' }} /&gt;&#13;&#10;  &lt;Box style={{ position: 'absolute', right: 0, top: 0, width: 560, height: 720, background: 'linear-gradient(200deg, rgba(250,79,36,0.28) 0%, rgba(250,79,36,0) 70%)' }} /&gt;&#13;&#10;&#13;&#10;  &lt;Box style={{ position: 'absolute', right: 70, top: 110 }}&gt;&#13;&#10;    &lt;Text style={{ fontSize: 300, fontWeight: 'bold', color: 'rgba(255,255,255,0.08)', lineHeight: 1.0 }}&gt;03&lt;/Text&gt;&#13;&#10;  &lt;/Box&gt;&#13;&#10;&#13;&#10;  &lt;Box style={{ position: 'absolute', left: 88, top: 232, width: 760, flexDirection: 'column' }}&gt;&#13;&#10;    &lt;Text style={{ fontSize: 15, color: 'rgba(255,255,255,0.5)', letterSpacing: 3 }}&gt;PART 03&lt;/Text&gt;&#13;&#10;    &lt;Box style={{ width: 72, height: 5, background: '#FA4F24', marginTop: 22 }} /&gt;&#13;&#10;    &lt;Text style={{ fontSize: 52, fontWeight: 'bold', color: '#FFFFFF', marginTop: 28, lineHeight: 1.15 }}&gt;主数据 × 五个方向&lt;/Text&gt;&#13;&#10;    &lt;Text style={{ fontSize: 17, color: 'rgba(255,255,255,0.62)', letterSpacing: 2, marginTop: 20 }}&gt;MASTER DATA ACROSS FIVE DIRECTIONS&lt;/Text&gt;&#13;&#10;    &lt;Text style={{ fontSize: 19, color: 'rgba(255,255,255,0.85)', marginTop: 26, lineHeight: 1.6 }}&gt;同一套实体身份，在五个方向上各有各的落法&lt;/Text&gt;&#13;&#10;    &lt;Text style={{ fontSize: 14.5, color: 'rgba(255,255,255,0.55)', marginTop: 16, lineHeight: 1.55, width: 720 }}&gt;这是本册区别于前面所有专册的部分：主数据不是孤立的一层，它在数据治理、管道处理、知识库、Agent、Ontology 五个方向上都有必须单独处理的动作。&lt;/Text&gt;&#13;&#10;  &lt;/Box&gt;&#13;&#10;&#13;&#10;  &lt;Box style={{ position: 'absolute', right: 88, bottom: 64, flexDirection: 'row', alignItems: 'center', gap: 12 }}&gt;&#13;&#10;    &lt;Box style={{ width: 14, height: 14, background: '#FA4F24' }} /&gt;&#13;&#10;    &lt;Text style={{ fontSize: 14, color: 'rgba(255,255,255,0.5)' }}&gt;硕磐机密 · 主数据咨询方法论&lt;/Text&gt;&#13;&#10;    &lt;Text style={{ fontSize: 14, color: 'rgba(255,255,255,0.5)', marginLeft: 12 }}&gt;@@PAGE@@ / 30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4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43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723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03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7239000" cy="6858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主数据</a:t>
            </a:r>
            <a:r>
              <a:rPr lang="en-US" sz="39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五个方向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838200" y="3781425"/>
            <a:ext cx="723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MASTER DATA ACROSS FIVE DIRECTIONS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838200" y="4229100"/>
            <a:ext cx="72390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同一套实体身份，在五个方向上各有各的落法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838200" y="4733925"/>
            <a:ext cx="6858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88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这是本册区别于前面所有专册的部分：主数据不是孤立的一层，它在数据治理、管道处理、知识库、</a:t>
            </a:r>
            <a:r>
              <a:rPr lang="en-US" sz="1088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Agent</a:t>
            </a:r>
            <a:r>
              <a:rPr lang="zh-CN" sz="1088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、</a:t>
            </a:r>
            <a:r>
              <a:rPr lang="en-US" sz="1088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 xml:space="preserve">Ontology </a:t>
            </a:r>
            <a:r>
              <a:rPr lang="zh-CN" sz="1088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五个方向上都有必须单独处理的动作。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7981950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8229600" y="608647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主数据咨询方法论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10172700" y="6086475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@@PAGE@@ / 30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454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主数据 &lt;span style={{ color: '#FA4F24' }}&gt;×&lt;/span&gt; 数据治理：谁定义实体、谁批准合并&#10;    &lt;/Text&gt;&#10;    &lt;Text style={{ fontSize: 20, color: '#8A8F99', marginTop: 8 }}&gt;&#10;      主数据是治理的对象，但有些治理动作只有主数据才有——合并与拆分&#10;    &lt;/Text&gt;&#10;  &lt;/Box&gt;&#10;  &lt;Box style={{ height: 1, background: '#E8E8E8' }} /&gt;&#10;&#10;  &lt;Box style={{ paddingTop: 14, paddingBottom: 8, height: 479, flexDirection: 'column', gap: 10 }}&gt;&#10;    &lt;Box style={{ height: 296, flexDirection: 'row', gap: 10 }}&gt;&#10;      &lt;Box style={{ flex: 1.15, background: '#0F1423', borderRadius: 4, padding: '13px 17px', flexDirection: 'column' }}&gt;&#10;        &lt;Text style={{ fontSize: 14, fontWeight: 'bold', color: '#FBA15C' }}&gt;主数据带来的三个新治理对象&lt;/Text&gt;&#10;        &lt;Box style={{ flex: 1, marginTop: 10, flexDirection: 'column', gap: 7 }}&gt;&#10;          {[&#10;            { t: '合并提案', d: '谁提的、依据什么规则、置信度多少、影响哪些下游。' },&#10;            { t: '拆分提案（unresolve）', d: '拆开一个实体让下游引用瞬间失配，风险更高，审批更严。' },&#10;            { t: '实体归属', d: '不是数据归属，是「实体定义权归谁」。' },&#10;          ].map((x, i) =&gt; (&#10;            &lt;Box key={x.t} style={{ background: 'rgba(255,255,255,0.07)', borderRadius: 3, borderLeft: '3px solid ' + (i === 1 ? '#C43A17' : '#FA4F24'), padding: '9px 11px' }}&gt;&#10;              &lt;Text style={{ fontSize: 12.5, fontWeight: 'bold', color: '#FFFFFF' }}&gt;{x.t}&lt;/Text&gt;&#10;              &lt;Text style={{ fontSize: 11, color: 'rgba(255,255,255,0.8)', marginTop: 3, lineHeight: 1.5 }}&gt;{x.d}&lt;/Text&gt;&#10;            &lt;/Box&gt;&#10;          ))}&#10;        &lt;/Box&gt;&#10;        &lt;Box style={{ marginTop: 9, background: 'rgba(250,79,36,0.18)', borderRadius: 3, padding: '8px 11px' }}&gt;&#10;          &lt;Text style={{ fontSize: 10.5, color: 'rgba(255,255,255,0.9)', lineHeight: 1.4 }}&gt;&#10;            对应第九册：治理对象从「数据」扩展到「动作」，合并就是最典型的那个动作。&#10;          &lt;/Text&gt;&#10;        &lt;/Box&gt;&#10;      &lt;/Box&gt;&#10;&#10;      &lt;Box style={{ flex: 1, background: '#FFF3EE', borderRadius: 4, padding: '13px 17px', flexDirection: 'column' }}&gt;&#10;        &lt;Text style={{ fontSize: 14, fontWeight: 'bold', color: '#C43A17' }}&gt;合并与拆分的审批不对称&lt;/Text&gt;&#10;        &lt;Text style={{ fontSize: 11, color: '#3A4050', marginTop: 7, lineHeight: 1.5 }}&gt;&#10;          合并错了，下游拿到错误实体，影响面广但通常可修；&lt;tspan style={{ fontWeight: 'bold' }}&gt;拆分错了，所有引用过这个实体 ID 的报表、口径、历史快照全部要重算&lt;/tspan&gt;。&#10;        &lt;/Text&gt;&#10;        &lt;Box style={{ flex: 1, marginTop: 9, flexDirection: 'column', gap: 6 }}&gt;&#10;          {[&#10;            { t: '合并', v: '高置信自动、中置信复核、低置信进例外队列。' },&#10;            { t: '拆分', v: '人工审批 + 影响面清单 + 回滚预案，禁止批量拆分。' },&#10;            { t: '批量操作', v: '超过阈值数量一律走提案，不许脚本直连。' },&#10;          ].map((x) =&gt; (&#10;            &lt;Box key={x.t} style={{ background: '#FFFFFF', borderRadius: 3, padding: '8px 10px' }}&gt;&#10;              &lt;Text style={{ fontSize: 12, fontWeight: 'bold', color: '#0F1423' }}&gt;{x.t}&lt;/Text&gt;&#10;              &lt;Text style={{ fontSize: 11, color: '#3A4050', marginTop: 2, lineHeight: 1.45 }}&gt;{x.v}&lt;/Text&gt;&#10;            &lt;/Box&gt;&#10;          ))}&#10;        &lt;/Box&gt;&#10;      &lt;/Box&gt;&#10;&#10;      &lt;Box style={{ flex: 0.85, background: '#F7F7F8', borderRadius: 4, padding: '13px 17px', flexDirection: 'column', justifyContent: 'center' }}&gt;&#10;        &lt;Text style={{ fontSize: 14, fontWeight: 'bold', color: '#0F1423' }}&gt;治理设计必须先于工具&lt;/Text&gt;&#10;        &lt;Text style={{ fontSize: 11.5, color: '#3A4050', marginTop: 7, lineHeight: 1.55 }}&gt;&#10;          主数据跨部门，归属不明确时，黄金记录会变成&lt;tspan style={{ fontWeight: 'bold', color: '#C43A17' }}&gt;政治产物而不是运营资产&lt;/tspan&gt;——大家一致同意需要唯一版本，但没人同意用谁的版本。&#10;        &lt;/Text&gt;&#10;        &lt;Box style={{ marginTop: 10, background: '#FFFFFF', borderRadius: 3, padding: '9px 11px' }}&gt;&#10;          &lt;Text style={{ fontSize: 10.5, color: '#3A4050', lineHeight: 1.45 }}&gt;&#10;            后果很直接：治理设计没定就上工具，工具只会&lt;tspan style={{ fontWeight: 'bold' }}&gt;把分歧自动化&lt;/tspan&gt;。&#10;          &lt;/Text&gt;&#10;        &lt;/Box&gt;&#10;      &lt;/Box&gt;&#10;    &lt;/Box&gt;&#10;&#10;    &lt;Box style={{ flex: 1, background: '#FFFFFF', border: '1px solid #E8E8E8', borderRadius: 4, padding: '12px 18px', flexDirection: 'column' }}&gt;&#10;      &lt;Text style={{ fontSize: 14, fontWeight: 'bold', color: '#0F1423' }}&gt;主数据 × 治理要落的四个动作&lt;/Text&gt;&#10;      &lt;Box style={{ flex: 1, flexDirection: 'row', gap: 8, marginTop: 10 }}&gt;&#10;        {[&#10;          { n: '01', t: '实体定义权落到人', d: '写清谁能定义该域的字段边界与主键策略。' },&#10;          { n: '02', t: '合并走置信度分流', d: '三条路都要有，并定期回看阈值准召。' },&#10;          { n: '03', t: '拆分默认人工审批', d: '强制附影响面清单：谁引用过这个 ID。' },&#10;          { n: '04', t: '合并记录进审计', d: '全部进第九册说的动作日志。' },&#10;        ].map((x) =&gt; (&#10;          &lt;Box key={x.n} style={{ flex: 1, background: '#F7F7F8', borderRadius: 3, borderTop: '3px solid #FA4F24', padding: '10px 12px', flexDirection: 'column' }}&gt;&#10;            &lt;Text style={{ fontSize: 16, fontWeight: 'bold', color: '#FA4F24' }}&gt;{x.n}&lt;/Text&gt;&#10;            &lt;Text style={{ fontSize: 12.5, fontWeight: 'bold', color: '#0F1423', marginTop: 5 }}&gt;{x.t}&lt;/Text&gt;&#10;            &lt;Text style={{ fontSize: 11, color: '#3A4050', marginTop: 6, lineHeight: 1.5, flex: 1 }}&gt;{x.d}&lt;/Text&gt;&#10;          &lt;/Box&gt;&#10;        ))}&#10;      &lt;/Box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主数据咨询方法论&lt;/Text&gt;&#10;    &lt;Text style={{ fontSize: 13, color: '#8A8F99', marginLeft: 'auto' }}&gt;19 / 3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主数据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</a:t>
            </a:r>
            <a:r>
              <a:rPr sz="2400" b="1">
                <a:solidFill>
                  <a:srgbClr val="FA4F24"/>
                </a:solidFill>
                <a:latin typeface="Microsoft YaHei"/>
                <a:ea typeface="Microsoft YaHei"/>
              </a:rPr>
              <a:t>×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数据治理：谁定义实体、谁批准合并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主数据是治理的对象，但有些治理动作只有主数据才有——合并与拆分</a:t>
            </a:r>
            <a:endParaRPr/>
          </a:p>
        </p:txBody>
      </p:sp>
      <p:sp>
        <p:nvSpPr>
          <p:cNvPr id="45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459" name=""/>
          <p:cNvSpPr/>
          <p:nvPr/>
        </p:nvSpPr>
        <p:spPr>
          <a:xfrm rot="0" flipH="0" flipV="0">
            <a:off x="609600" y="1285875"/>
            <a:ext cx="4133850" cy="2819400"/>
          </a:xfrm>
          <a:prstGeom prst="roundRect">
            <a:avLst>
              <a:gd name="adj" fmla="val 135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771525" y="1409700"/>
            <a:ext cx="3810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主数据带来的三个新治理对象</a:t>
            </a:r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800100" y="1666875"/>
            <a:ext cx="3810000" cy="533400"/>
          </a:xfrm>
          <a:prstGeom prst="roundRect">
            <a:avLst>
              <a:gd name="adj" fmla="val 5357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462" name=""/>
          <p:cNvSpPr/>
          <p:nvPr/>
        </p:nvSpPr>
        <p:spPr>
          <a:xfrm rot="0" flipH="0" flipV="0">
            <a:off x="800100" y="1666875"/>
            <a:ext cx="3810000" cy="533400"/>
          </a:xfrm>
          <a:custGeom>
            <a:pathLst>
              <a:path w="400" h="56">
                <a:moveTo>
                  <a:pt x="3" y="56"/>
                </a:moveTo>
                <a:cubicBezTo>
                  <a:pt x="1" y="56"/>
                  <a:pt x="0" y="55"/>
                  <a:pt x="0" y="5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904875" y="1752600"/>
            <a:ext cx="3571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合并提案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904875" y="1924050"/>
            <a:ext cx="3571875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谁提的、依据什么规则、置信度多少、影响哪些下游。</a:t>
            </a:r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800100" y="2266950"/>
            <a:ext cx="3810000" cy="533400"/>
          </a:xfrm>
          <a:prstGeom prst="roundRect">
            <a:avLst>
              <a:gd name="adj" fmla="val 5357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466" name=""/>
          <p:cNvSpPr/>
          <p:nvPr/>
        </p:nvSpPr>
        <p:spPr>
          <a:xfrm rot="0" flipH="0" flipV="0">
            <a:off x="800100" y="2266950"/>
            <a:ext cx="3810000" cy="533400"/>
          </a:xfrm>
          <a:custGeom>
            <a:pathLst>
              <a:path w="400" h="56">
                <a:moveTo>
                  <a:pt x="3" y="56"/>
                </a:moveTo>
                <a:cubicBezTo>
                  <a:pt x="1" y="56"/>
                  <a:pt x="0" y="55"/>
                  <a:pt x="0" y="5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6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904875" y="2352675"/>
            <a:ext cx="3571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拆分提案（</a:t>
            </a:r>
            <a:r>
              <a:rPr lang="en-US" sz="938" b="1">
                <a:solidFill>
                  <a:srgbClr val="FFFFFF"/>
                </a:solidFill>
                <a:latin typeface="Microsoft YaHei"/>
                <a:ea typeface="Microsoft YaHei"/>
              </a:rPr>
              <a:t>unresolve</a:t>
            </a: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904875" y="2524125"/>
            <a:ext cx="3571875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拆开一个实体让下游引用瞬间失配，风险更高，审批更严。</a:t>
            </a:r>
            <a:endParaRPr/>
          </a:p>
        </p:txBody>
      </p:sp>
      <p:sp>
        <p:nvSpPr>
          <p:cNvPr id="469" name=""/>
          <p:cNvSpPr/>
          <p:nvPr/>
        </p:nvSpPr>
        <p:spPr>
          <a:xfrm rot="0" flipH="0" flipV="0">
            <a:off x="800100" y="2867025"/>
            <a:ext cx="3810000" cy="533400"/>
          </a:xfrm>
          <a:prstGeom prst="roundRect">
            <a:avLst>
              <a:gd name="adj" fmla="val 5357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470" name=""/>
          <p:cNvSpPr/>
          <p:nvPr/>
        </p:nvSpPr>
        <p:spPr>
          <a:xfrm rot="0" flipH="0" flipV="0">
            <a:off x="800100" y="2867025"/>
            <a:ext cx="3810000" cy="533400"/>
          </a:xfrm>
          <a:custGeom>
            <a:pathLst>
              <a:path w="400" h="56">
                <a:moveTo>
                  <a:pt x="3" y="56"/>
                </a:moveTo>
                <a:cubicBezTo>
                  <a:pt x="1" y="56"/>
                  <a:pt x="0" y="55"/>
                  <a:pt x="0" y="5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904875" y="2952750"/>
            <a:ext cx="3571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实体归属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904875" y="3124200"/>
            <a:ext cx="3571875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不是数据归属，是「实体定义权归谁」。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771525" y="3657600"/>
            <a:ext cx="3810000" cy="323850"/>
          </a:xfrm>
          <a:prstGeom prst="roundRect">
            <a:avLst>
              <a:gd name="adj" fmla="val 8824"/>
            </a:avLst>
          </a:prstGeom>
          <a:solidFill>
            <a:srgbClr val="FA4F24">
              <a:alpha val="18000"/>
            </a:srgbClr>
          </a:solidFill>
          <a:ln/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876300" y="3733800"/>
            <a:ext cx="36004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对应第九册：治理对象从「数据」扩展到「动作」，合并就是最典型的那个动作。</a:t>
            </a:r>
            <a:endParaRPr/>
          </a:p>
        </p:txBody>
      </p:sp>
      <p:sp>
        <p:nvSpPr>
          <p:cNvPr id="475" name=""/>
          <p:cNvSpPr/>
          <p:nvPr/>
        </p:nvSpPr>
        <p:spPr>
          <a:xfrm rot="0" flipH="0" flipV="0">
            <a:off x="4838700" y="1285875"/>
            <a:ext cx="3590925" cy="2819400"/>
          </a:xfrm>
          <a:prstGeom prst="roundRect">
            <a:avLst>
              <a:gd name="adj" fmla="val 135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5000625" y="1409700"/>
            <a:ext cx="3267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合并与拆分的审批不对称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5000625" y="1638300"/>
            <a:ext cx="3267075" cy="381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合并错了，下游拿到错误实体，影响面广但通常可修；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拆分错了，所有引用过这个实体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的报表、口径、历史快照全部要重算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78" name=""/>
          <p:cNvSpPr/>
          <p:nvPr/>
        </p:nvSpPr>
        <p:spPr>
          <a:xfrm rot="0" flipH="0" flipV="0">
            <a:off x="5000625" y="2105025"/>
            <a:ext cx="3267075" cy="504825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5095875" y="2181225"/>
            <a:ext cx="3076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合并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5095875" y="2343150"/>
            <a:ext cx="30765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高置信自动、中置信复核、低置信进例外队列。</a:t>
            </a:r>
            <a:endParaRPr/>
          </a:p>
        </p:txBody>
      </p:sp>
      <p:sp>
        <p:nvSpPr>
          <p:cNvPr id="481" name=""/>
          <p:cNvSpPr/>
          <p:nvPr/>
        </p:nvSpPr>
        <p:spPr>
          <a:xfrm rot="0" flipH="0" flipV="0">
            <a:off x="5000625" y="2667000"/>
            <a:ext cx="3267075" cy="504825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5095875" y="2743200"/>
            <a:ext cx="3076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拆分</a:t>
            </a:r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5095875" y="2905125"/>
            <a:ext cx="30765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人工审批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影响面清单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回滚预案，禁止批量拆分。</a:t>
            </a:r>
            <a:endParaRPr/>
          </a:p>
        </p:txBody>
      </p:sp>
      <p:sp>
        <p:nvSpPr>
          <p:cNvPr id="484" name=""/>
          <p:cNvSpPr/>
          <p:nvPr/>
        </p:nvSpPr>
        <p:spPr>
          <a:xfrm rot="0" flipH="0" flipV="0">
            <a:off x="5000625" y="3228975"/>
            <a:ext cx="3267075" cy="504825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5095875" y="3305175"/>
            <a:ext cx="3076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批量操作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5095875" y="3467100"/>
            <a:ext cx="30765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超过阈值数量一律走提案，不许脚本直连。</a:t>
            </a:r>
            <a:endParaRPr/>
          </a:p>
        </p:txBody>
      </p:sp>
      <p:sp>
        <p:nvSpPr>
          <p:cNvPr id="487" name=""/>
          <p:cNvSpPr/>
          <p:nvPr/>
        </p:nvSpPr>
        <p:spPr>
          <a:xfrm rot="0" flipH="0" flipV="0">
            <a:off x="8524875" y="1285875"/>
            <a:ext cx="3057525" cy="2819400"/>
          </a:xfrm>
          <a:prstGeom prst="roundRect">
            <a:avLst>
              <a:gd name="adj" fmla="val 135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8686800" y="1962150"/>
            <a:ext cx="2733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治理设计必须先于工具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8686800" y="2190750"/>
            <a:ext cx="273367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主数据跨部门，归属不明确时，黄金记录会变成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政治产物而不是运营资产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——大家一致同意需要唯一版本，但没人同意用谁的版本。</a:t>
            </a:r>
            <a:endParaRPr/>
          </a:p>
        </p:txBody>
      </p:sp>
      <p:sp>
        <p:nvSpPr>
          <p:cNvPr id="490" name=""/>
          <p:cNvSpPr/>
          <p:nvPr/>
        </p:nvSpPr>
        <p:spPr>
          <a:xfrm rot="0" flipH="0" flipV="0">
            <a:off x="8686800" y="2905125"/>
            <a:ext cx="2733675" cy="523875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8791575" y="2990850"/>
            <a:ext cx="2524125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后果很直接：治理设计没定就上工具，工具只会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把分歧自动化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92" name=""/>
          <p:cNvSpPr/>
          <p:nvPr/>
        </p:nvSpPr>
        <p:spPr>
          <a:xfrm rot="0" flipH="0" flipV="0">
            <a:off x="609600" y="4200525"/>
            <a:ext cx="10972800" cy="1438275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781050" y="4314825"/>
            <a:ext cx="10629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主数据</a:t>
            </a: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治理要落的四个动作</a:t>
            </a:r>
            <a:endParaRPr/>
          </a:p>
        </p:txBody>
      </p:sp>
      <p:sp>
        <p:nvSpPr>
          <p:cNvPr id="494" name=""/>
          <p:cNvSpPr/>
          <p:nvPr/>
        </p:nvSpPr>
        <p:spPr>
          <a:xfrm rot="0" flipH="0" flipV="0">
            <a:off x="781050" y="4600575"/>
            <a:ext cx="2600325" cy="952500"/>
          </a:xfrm>
          <a:prstGeom prst="roundRect">
            <a:avLst>
              <a:gd name="adj" fmla="val 3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95" name=""/>
          <p:cNvSpPr/>
          <p:nvPr/>
        </p:nvSpPr>
        <p:spPr>
          <a:xfrm rot="0" flipH="0" flipV="0">
            <a:off x="781050" y="4600575"/>
            <a:ext cx="2600325" cy="952500"/>
          </a:xfrm>
          <a:custGeom>
            <a:pathLst>
              <a:path w="273" h="100">
                <a:moveTo>
                  <a:pt x="270" y="0"/>
                </a:moveTo>
                <a:cubicBezTo>
                  <a:pt x="272" y="0"/>
                  <a:pt x="273" y="1"/>
                  <a:pt x="273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70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895350" y="4695825"/>
            <a:ext cx="2371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895350" y="4933950"/>
            <a:ext cx="2371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实体定义权落到人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895350" y="5133975"/>
            <a:ext cx="23717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写清谁能定义该域的字段边界与主键策略。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3457575" y="4600575"/>
            <a:ext cx="2600325" cy="952500"/>
          </a:xfrm>
          <a:prstGeom prst="roundRect">
            <a:avLst>
              <a:gd name="adj" fmla="val 3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00" name=""/>
          <p:cNvSpPr/>
          <p:nvPr/>
        </p:nvSpPr>
        <p:spPr>
          <a:xfrm rot="0" flipH="0" flipV="0">
            <a:off x="3457575" y="4600575"/>
            <a:ext cx="2600325" cy="952500"/>
          </a:xfrm>
          <a:custGeom>
            <a:pathLst>
              <a:path w="273" h="100">
                <a:moveTo>
                  <a:pt x="270" y="0"/>
                </a:moveTo>
                <a:cubicBezTo>
                  <a:pt x="272" y="0"/>
                  <a:pt x="273" y="1"/>
                  <a:pt x="273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70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3571875" y="4695825"/>
            <a:ext cx="2371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3571875" y="4933950"/>
            <a:ext cx="2371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合并走置信度分流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3571875" y="5133975"/>
            <a:ext cx="23717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三条路都要有，并定期回看阈值准召。</a:t>
            </a:r>
            <a:endParaRPr/>
          </a:p>
        </p:txBody>
      </p:sp>
      <p:sp>
        <p:nvSpPr>
          <p:cNvPr id="504" name=""/>
          <p:cNvSpPr/>
          <p:nvPr/>
        </p:nvSpPr>
        <p:spPr>
          <a:xfrm rot="0" flipH="0" flipV="0">
            <a:off x="6134100" y="4600575"/>
            <a:ext cx="2600325" cy="952500"/>
          </a:xfrm>
          <a:prstGeom prst="roundRect">
            <a:avLst>
              <a:gd name="adj" fmla="val 3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05" name=""/>
          <p:cNvSpPr/>
          <p:nvPr/>
        </p:nvSpPr>
        <p:spPr>
          <a:xfrm rot="0" flipH="0" flipV="0">
            <a:off x="6134100" y="4600575"/>
            <a:ext cx="2600325" cy="952500"/>
          </a:xfrm>
          <a:custGeom>
            <a:pathLst>
              <a:path w="273" h="100">
                <a:moveTo>
                  <a:pt x="270" y="0"/>
                </a:moveTo>
                <a:cubicBezTo>
                  <a:pt x="272" y="0"/>
                  <a:pt x="273" y="1"/>
                  <a:pt x="273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70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6248400" y="4695825"/>
            <a:ext cx="2371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6248400" y="4933950"/>
            <a:ext cx="2371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拆分默认人工审批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6248400" y="5133975"/>
            <a:ext cx="23717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强制附影响面清单：谁引用过这个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ID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09" name=""/>
          <p:cNvSpPr/>
          <p:nvPr/>
        </p:nvSpPr>
        <p:spPr>
          <a:xfrm rot="0" flipH="0" flipV="0">
            <a:off x="8810625" y="4600575"/>
            <a:ext cx="2600325" cy="952500"/>
          </a:xfrm>
          <a:prstGeom prst="roundRect">
            <a:avLst>
              <a:gd name="adj" fmla="val 3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10" name=""/>
          <p:cNvSpPr/>
          <p:nvPr/>
        </p:nvSpPr>
        <p:spPr>
          <a:xfrm rot="0" flipH="0" flipV="0">
            <a:off x="8810625" y="4600575"/>
            <a:ext cx="2600325" cy="952500"/>
          </a:xfrm>
          <a:custGeom>
            <a:pathLst>
              <a:path w="273" h="100">
                <a:moveTo>
                  <a:pt x="270" y="0"/>
                </a:moveTo>
                <a:cubicBezTo>
                  <a:pt x="272" y="0"/>
                  <a:pt x="273" y="1"/>
                  <a:pt x="273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70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8924925" y="4695825"/>
            <a:ext cx="2371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8924925" y="4933950"/>
            <a:ext cx="2371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合并记录进审计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8924925" y="5133975"/>
            <a:ext cx="23717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全部进第九册说的动作日志。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515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主数据咨询方法论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19 / 30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563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主数据 &lt;span style={{ color: '#FA4F24' }}&gt;×&lt;/span&gt; 管道：合并放在哪、上游变脏了怎么办&#10;    &lt;/Text&gt;&#10;    &lt;Text style={{ fontSize: 20, color: '#8A8F99', marginTop: 8 }}&gt;&#10;      解析通常发生在对象映射之前——那意味着管道里跑的是脏数据，主数据必须能扛住上游反复变&#10;    &lt;/Text&gt;&#10;  &lt;/Box&gt;&#10;  &lt;Box style={{ height: 1, background: '#E8E8E8' }} /&gt;&#10;&#10;  &lt;Box style={{ paddingTop: 14, paddingBottom: 8, height: 479, flexDirection: 'column', gap: 10 }}&gt;&#10;    &lt;Box style={{ height: 281, flexDirection: 'row', gap: 10 }}&gt;&#10;      &lt;Box style={{ flex: 1, background: '#FFFFFF', border: '1px solid #E8E8E8', borderRadius: 4, padding: '13px 16px', flexDirection: 'column' }}&gt;&#10;        &lt;Text style={{ fontSize: 14, fontWeight: 'bold', color: '#0F1423' }}&gt;一个真实的三表合一场景&lt;/Text&gt;&#10;        &lt;Text style={{ fontSize: 11.5, color: '#3A4050', marginTop: 8, lineHeight: 1.5 }}&gt;&#10;          同一批车辆分散在三张表里，主键各不相同：&#10;        &lt;/Text&gt;&#10;        &lt;Box style={{ flex: 1, marginTop: 9, flexDirection: 'column', gap: 6 }}&gt;&#10;          {[&#10;            { s: 'ERP 表', f: 'VIN、购入日期、成本', c: '#FA4F24' },&#10;            { s: 'IoT 表', f: '传感器 ID、当前温度、经纬度', c: '#F87D2F' },&#10;            { s: '维保表', f: '车牌号、上次维修时间', c: '#C43A17' },&#10;          ].map((x) =&gt; (&#10;            &lt;Box key={x.s} style={{ flexDirection: 'row', gap: 8, alignItems: 'center', background: '#F7F7F8', borderRadius: 3, borderLeft: '3px solid ' + x.c, padding: '7px 10px' }}&gt;&#10;              &lt;Text style={{ fontSize: 11.5, fontWeight: 'bold', color: '#0F1423', width: 62 }}&gt;{x.s}&lt;/Text&gt;&#10;              &lt;Text style={{ fontSize: 11, color: '#3A4050' }}&gt;{x.f}&lt;/Text&gt;&#10;            &lt;/Box&gt;&#10;          ))}&#10;        &lt;/Box&gt;&#10;        &lt;Box style={{ marginTop: 9, background: '#0F1423', borderRadius: 3, padding: '9px 11px' }}&gt;&#10;          &lt;Text style={{ fontSize: 11, color: 'rgba(255,255,255,0.9)', lineHeight: 1.45 }}&gt;&#10;            挑战是两重的：&lt;tspan style={{ fontWeight: 'bold', color: '#FBA15C' }}&gt;主键不同&lt;/tspan&gt;（VIN / 传感器 ID / 车牌号）+ &lt;tspan style={{ fontWeight: 'bold', color: '#FBA15C' }}&gt;属性互补或部分重叠&lt;/tspan&gt;。&#10;          &lt;/Text&gt;&#10;        &lt;/Box&gt;&#10;      &lt;/Box&gt;&#10;&#10;      &lt;Box style={{ flex: 1.2, background: '#0F1423', borderRadius: 4, padding: '13px 17px', flexDirection: 'column' }}&gt;&#10;        &lt;Text style={{ fontSize: 14, fontWeight: 'bold', color: '#FBA15C' }}&gt;两条路的分工（官方口径）&lt;/Text&gt;&#10;        &lt;Box style={{ flex: 1, marginTop: 10, flexDirection: 'column', gap: 9 }}&gt;&#10;          &lt;Box style={{ background: 'rgba(250,79,36,0.18)', borderRadius: 3, borderLeft: '3px solid #FA4F24', padding: '10px 12px' }}&gt;&#10;            &lt;Text style={{ fontSize: 12.5, fontWeight: 'bold', color: '#FA4F24' }}&gt;算法实体解析（前置）&lt;/Text&gt;&#10;            &lt;Text style={{ fontSize: 11, color: 'rgba(255,255,255,0.85)', marginTop: 4, lineHeight: 1.5 }}&gt;&#10;              管道里跑：配置匹配规则（VIN 模糊匹配、车牌与 VIN 规则关联）→ 跑分布式作业算相似度 → 把属于同一现实实体的记录聚成类 → 生成全局唯一规范 ID → 产出含该 ID 的黄金记录数据集。这是脏数据去重与链接的&lt;tspan style={{ fontWeight: 'bold', color: '#FFFFFF' }}&gt;首选也是几乎唯一&lt;/tspan&gt;的路径。&#10;            &lt;/Text&gt;&#10;          &lt;/Box&gt;&#10;          &lt;Box style={{ background: 'rgba(255,255,255,0.07)', borderRadius: 3, borderLeft: '3px solid #FBA15C', padding: '10px 12px' }}&gt;&#10;            &lt;Text style={{ fontSize: 12.5, fontWeight: 'bold', color: '#FFFFFF' }}&gt;映射层（后置）&lt;/Text&gt;&#10;            &lt;Text style={{ fontSize: 11, color: 'rgba(255,255,255,0.85)', marginTop: 4, lineHeight: 1.5 }}&gt;&#10;              解析完成后才把黄金记录映射成对象类型、生成对象实例。注意官方那句关键限制：&lt;tspan style={{ fontWeight: 'bold', color: '#FBA15C' }}&gt;深层嵌套的多源属性拼接，只能靠映射层手工建模&lt;/tspan&gt;，没有自动办法。&#10;            &lt;/Text&gt;&#10;          &lt;/Box&gt;&#10;        &lt;/Box&gt;&#10;      &lt;/Box&gt;&#10;&#10;      &lt;Box style={{ flex: 0.9, background: '#FFF3EE', borderRadius: 4, borderLeft: '4px solid #FA4F24', padding: '13px 16px', flexDirection: 'column', justifyContent: 'center' }}&gt;&#10;        &lt;Text style={{ fontSize: 14, fontWeight: 'bold', color: '#C43A17' }}&gt;上游变脏了怎么办&lt;/Text&gt;&#10;        &lt;Box style={{ flexDirection: 'column', gap: 7, marginTop: 8 }}&gt;&#10;          {[&#10;            { t: '不能靠下游救', d: '对象类型一旦建好，下游引用的是规范 ID，不是源记录。上游新来一条脏数据，只能在管道里重新解析。' },&#10;            { t: '要有重解析入口', d: '定期或按需重跑解析，并把「新增合并」走一遍同样的审批。' },&#10;            { t: '两速要能并存', d: '夜间批量对账 + 事件驱动增量，两条路都要有，且不能产生分析视图与运营视图的新分歧。' },&#10;          ].map((x) =&gt; (&#10;            &lt;Box key={x.t} style={{ background: '#FFFFFF', borderRadius: 3, padding: '8px 10px' }}&gt;&#10;              &lt;Text style={{ fontSize: 12, fontWeight: 'bold', color: '#0F1423' }}&gt;{x.t}&lt;/Text&gt;&#10;              &lt;Text style={{ fontSize: 11, color: '#3A4050', marginTop: 2, lineHeight: 1.45 }}&gt;{x.d}&lt;/Text&gt;&#10;            &lt;/Box&gt;&#10;          ))}&#10;        &lt;/Box&gt;&#10;      &lt;/Box&gt;&#10;    &lt;/Box&gt;&#10;&#10;    &lt;Box style={{ flex: 1, background: '#F7F7F8', borderRadius: 4, padding: '12px 18px', flexDirection: 'row', alignItems: 'center', gap: 14 }}&gt;&#10;      &lt;Box style={{ width: 128 }}&gt;&#10;        &lt;Text style={{ fontSize: 14, fontWeight: 'bold', color: '#0F1423' }}&gt;管道上的四个卡点&lt;/Text&gt;&#10;      &lt;/Box&gt;&#10;      {[&#10;        { t: '类型强约束', d: '把「N/A」塞进 Double 字段应该直接报错，而不是隐式转换——脏数据要在管道层拦住。' },&#10;        { t: '合并幂等', d: '同一批数据重跑不能产生第二组合并，否则解析元数据会越滚越乱。' },&#10;        { t: '解析可回溯', d: '每次重解析要留下批次号，黄金记录上的每个 ID 都能查出来自哪一批。' },&#10;        { t: '断流要报警', d: '源表不更新是最隐蔽的失败——黄金记录看起来正常，实际已经过期。' },&#10;      ].map((x) =&gt; (&#10;        &lt;Box key={x.t} style={{ flex: 1, background: '#FFFFFF', borderRadius: 3, borderLeft: '3px solid #FA4F24', padding: '9px 11px' }}&gt;&#10;          &lt;Text style={{ fontSize: 12, fontWeight: 'bold', color: '#0F1423' }}&gt;{x.t}&lt;/Text&gt;&#10;          &lt;Text style={{ fontSize: 11, color: '#3A4050', marginTop: 3, lineHeight: 1.45 }}&gt;{x.d}&lt;/Text&gt;&#10;        &lt;/Box&gt;&#10;      ))}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主数据咨询方法论&lt;/Text&gt;&#10;    &lt;Text style={{ fontSize: 13, color: '#8A8F99', marginLeft: 'auto' }}&gt;20 / 3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主数据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</a:t>
            </a:r>
            <a:r>
              <a:rPr sz="2400" b="1">
                <a:solidFill>
                  <a:srgbClr val="FA4F24"/>
                </a:solidFill>
                <a:latin typeface="Microsoft YaHei"/>
                <a:ea typeface="Microsoft YaHei"/>
              </a:rPr>
              <a:t>×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管道：合并放在哪、上游变脏了怎么办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解析通常发生在对象映射之前——那意味着管道里跑的是脏数据，主数据必须能扛住上游反复变</a:t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568" name=""/>
          <p:cNvSpPr/>
          <p:nvPr/>
        </p:nvSpPr>
        <p:spPr>
          <a:xfrm rot="0" flipH="0" flipV="0">
            <a:off x="609600" y="1285875"/>
            <a:ext cx="3476625" cy="2676525"/>
          </a:xfrm>
          <a:prstGeom prst="roundRect">
            <a:avLst>
              <a:gd name="adj" fmla="val 142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762000" y="1409700"/>
            <a:ext cx="3171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一个真实的三表合一场景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762000" y="1647825"/>
            <a:ext cx="3171825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同一批车辆分散在三张表里，主键各不相同：</a:t>
            </a:r>
            <a:endParaRPr/>
          </a:p>
        </p:txBody>
      </p:sp>
      <p:sp>
        <p:nvSpPr>
          <p:cNvPr id="571" name=""/>
          <p:cNvSpPr/>
          <p:nvPr/>
        </p:nvSpPr>
        <p:spPr>
          <a:xfrm rot="0" flipH="0" flipV="0">
            <a:off x="790575" y="1933575"/>
            <a:ext cx="3171825" cy="266700"/>
          </a:xfrm>
          <a:prstGeom prst="roundRect">
            <a:avLst>
              <a:gd name="adj" fmla="val 1071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72" name=""/>
          <p:cNvSpPr/>
          <p:nvPr/>
        </p:nvSpPr>
        <p:spPr>
          <a:xfrm rot="0" flipH="0" flipV="0">
            <a:off x="790575" y="1933575"/>
            <a:ext cx="3171825" cy="266700"/>
          </a:xfrm>
          <a:custGeom>
            <a:pathLst>
              <a:path w="333" h="28">
                <a:moveTo>
                  <a:pt x="3" y="28"/>
                </a:moveTo>
                <a:cubicBezTo>
                  <a:pt x="1" y="28"/>
                  <a:pt x="0" y="27"/>
                  <a:pt x="0" y="2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2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885825" y="2000250"/>
            <a:ext cx="590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ERP </a:t>
            </a: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表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1552575" y="2000250"/>
            <a:ext cx="1028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VIN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、购入日期、成本</a:t>
            </a:r>
            <a:endParaRPr/>
          </a:p>
        </p:txBody>
      </p:sp>
      <p:sp>
        <p:nvSpPr>
          <p:cNvPr id="575" name=""/>
          <p:cNvSpPr/>
          <p:nvPr/>
        </p:nvSpPr>
        <p:spPr>
          <a:xfrm rot="0" flipH="0" flipV="0">
            <a:off x="790575" y="2257425"/>
            <a:ext cx="3171825" cy="266700"/>
          </a:xfrm>
          <a:prstGeom prst="roundRect">
            <a:avLst>
              <a:gd name="adj" fmla="val 1071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76" name=""/>
          <p:cNvSpPr/>
          <p:nvPr/>
        </p:nvSpPr>
        <p:spPr>
          <a:xfrm rot="0" flipH="0" flipV="0">
            <a:off x="790575" y="2257425"/>
            <a:ext cx="3171825" cy="266700"/>
          </a:xfrm>
          <a:custGeom>
            <a:pathLst>
              <a:path w="333" h="28">
                <a:moveTo>
                  <a:pt x="3" y="28"/>
                </a:moveTo>
                <a:cubicBezTo>
                  <a:pt x="1" y="28"/>
                  <a:pt x="0" y="27"/>
                  <a:pt x="0" y="2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28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885825" y="2324100"/>
            <a:ext cx="590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IoT </a:t>
            </a: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表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1552575" y="2324100"/>
            <a:ext cx="14001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传感器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ID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、当前温度、经纬度</a:t>
            </a:r>
            <a:endParaRPr/>
          </a:p>
        </p:txBody>
      </p:sp>
      <p:sp>
        <p:nvSpPr>
          <p:cNvPr id="579" name=""/>
          <p:cNvSpPr/>
          <p:nvPr/>
        </p:nvSpPr>
        <p:spPr>
          <a:xfrm rot="0" flipH="0" flipV="0">
            <a:off x="790575" y="2581275"/>
            <a:ext cx="3171825" cy="266700"/>
          </a:xfrm>
          <a:prstGeom prst="roundRect">
            <a:avLst>
              <a:gd name="adj" fmla="val 1071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80" name=""/>
          <p:cNvSpPr/>
          <p:nvPr/>
        </p:nvSpPr>
        <p:spPr>
          <a:xfrm rot="0" flipH="0" flipV="0">
            <a:off x="790575" y="2581275"/>
            <a:ext cx="3171825" cy="266700"/>
          </a:xfrm>
          <a:custGeom>
            <a:pathLst>
              <a:path w="333" h="28">
                <a:moveTo>
                  <a:pt x="3" y="28"/>
                </a:moveTo>
                <a:cubicBezTo>
                  <a:pt x="1" y="28"/>
                  <a:pt x="0" y="27"/>
                  <a:pt x="0" y="2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28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885825" y="2647950"/>
            <a:ext cx="590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维保表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1552575" y="2647950"/>
            <a:ext cx="1047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车牌号、上次维修时间</a:t>
            </a:r>
            <a:endParaRPr/>
          </a:p>
        </p:txBody>
      </p:sp>
      <p:sp>
        <p:nvSpPr>
          <p:cNvPr id="583" name=""/>
          <p:cNvSpPr/>
          <p:nvPr/>
        </p:nvSpPr>
        <p:spPr>
          <a:xfrm rot="0" flipH="0" flipV="0">
            <a:off x="762000" y="3295650"/>
            <a:ext cx="3171825" cy="542925"/>
          </a:xfrm>
          <a:prstGeom prst="roundRect">
            <a:avLst>
              <a:gd name="adj" fmla="val 5263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866775" y="3381375"/>
            <a:ext cx="2962275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挑战是两重的：</a:t>
            </a:r>
            <a:r>
              <a:rPr lang="zh-CN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主键不同</a:t>
            </a:r>
            <a:r>
              <a:rPr lang="zh-CN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（</a:t>
            </a:r>
            <a:r>
              <a:rPr lang="en-US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VIN / </a:t>
            </a:r>
            <a:r>
              <a:rPr lang="zh-CN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传感器</a:t>
            </a:r>
            <a:r>
              <a:rPr lang="en-US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ID / </a:t>
            </a:r>
            <a:r>
              <a:rPr lang="zh-CN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车牌号）</a:t>
            </a:r>
            <a:r>
              <a:rPr lang="en-US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+ </a:t>
            </a:r>
            <a:r>
              <a:rPr lang="zh-CN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属性互补或部分重叠</a:t>
            </a:r>
            <a:r>
              <a:rPr lang="zh-CN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85" name=""/>
          <p:cNvSpPr/>
          <p:nvPr/>
        </p:nvSpPr>
        <p:spPr>
          <a:xfrm rot="0" flipH="0" flipV="0">
            <a:off x="4181475" y="1285875"/>
            <a:ext cx="4171950" cy="2676525"/>
          </a:xfrm>
          <a:prstGeom prst="roundRect">
            <a:avLst>
              <a:gd name="adj" fmla="val 1423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4343400" y="1409700"/>
            <a:ext cx="3848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两条路的分工（官方口径）</a:t>
            </a:r>
            <a:endParaRPr/>
          </a:p>
        </p:txBody>
      </p:sp>
      <p:sp>
        <p:nvSpPr>
          <p:cNvPr id="587" name=""/>
          <p:cNvSpPr/>
          <p:nvPr/>
        </p:nvSpPr>
        <p:spPr>
          <a:xfrm rot="0" flipH="0" flipV="0">
            <a:off x="4371975" y="1666875"/>
            <a:ext cx="3848100" cy="1133475"/>
          </a:xfrm>
          <a:prstGeom prst="roundRect">
            <a:avLst>
              <a:gd name="adj" fmla="val 2521"/>
            </a:avLst>
          </a:prstGeom>
          <a:solidFill>
            <a:srgbClr val="FA4F24">
              <a:alpha val="18000"/>
            </a:srgbClr>
          </a:solidFill>
          <a:ln/>
        </p:spPr>
        <p:txBody>
          <a:bodyPr/>
          <a:p/>
        </p:txBody>
      </p:sp>
      <p:sp>
        <p:nvSpPr>
          <p:cNvPr id="588" name=""/>
          <p:cNvSpPr/>
          <p:nvPr/>
        </p:nvSpPr>
        <p:spPr>
          <a:xfrm rot="0" flipH="0" flipV="0">
            <a:off x="4371975" y="1666875"/>
            <a:ext cx="3848100" cy="1133475"/>
          </a:xfrm>
          <a:custGeom>
            <a:pathLst>
              <a:path w="404" h="119">
                <a:moveTo>
                  <a:pt x="3" y="119"/>
                </a:moveTo>
                <a:cubicBezTo>
                  <a:pt x="1" y="119"/>
                  <a:pt x="0" y="118"/>
                  <a:pt x="0" y="116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19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4486275" y="1762125"/>
            <a:ext cx="3590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A4F24"/>
                </a:solidFill>
                <a:latin typeface="Microsoft YaHei"/>
                <a:ea typeface="Microsoft YaHei"/>
              </a:rPr>
              <a:t>算法实体解析（前置）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4486275" y="1943100"/>
            <a:ext cx="3590925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管道里跑：配置匹配规则（</a:t>
            </a:r>
            <a:r>
              <a:rPr lang="en-US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VIN </a:t>
            </a:r>
            <a:r>
              <a:rPr lang="zh-CN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模糊匹配、车牌与</a:t>
            </a:r>
            <a:r>
              <a:rPr lang="en-US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VIN </a:t>
            </a:r>
            <a:r>
              <a:rPr lang="zh-CN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规则关联）→</a:t>
            </a:r>
            <a:r>
              <a:rPr lang="en-US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跑分布式作业算相似度</a:t>
            </a:r>
            <a:r>
              <a:rPr lang="en-US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把属于同一现实实体的记录聚成类</a:t>
            </a:r>
            <a:r>
              <a:rPr lang="en-US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生成全局唯一规范</a:t>
            </a:r>
            <a:r>
              <a:rPr lang="en-US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ID → </a:t>
            </a:r>
            <a:r>
              <a:rPr lang="zh-CN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产出含该</a:t>
            </a:r>
            <a:r>
              <a:rPr lang="en-US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的黄金记录数据集。这是脏数据去重与链接的</a:t>
            </a:r>
            <a:r>
              <a:rPr lang="zh-CN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首选也是几乎唯一</a:t>
            </a:r>
            <a:r>
              <a:rPr lang="zh-CN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的路径。</a:t>
            </a:r>
            <a:endParaRPr/>
          </a:p>
        </p:txBody>
      </p:sp>
      <p:sp>
        <p:nvSpPr>
          <p:cNvPr id="591" name=""/>
          <p:cNvSpPr/>
          <p:nvPr/>
        </p:nvSpPr>
        <p:spPr>
          <a:xfrm rot="0" flipH="0" flipV="0">
            <a:off x="4371975" y="2886075"/>
            <a:ext cx="3848100" cy="752475"/>
          </a:xfrm>
          <a:prstGeom prst="roundRect">
            <a:avLst>
              <a:gd name="adj" fmla="val 3797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592" name=""/>
          <p:cNvSpPr/>
          <p:nvPr/>
        </p:nvSpPr>
        <p:spPr>
          <a:xfrm rot="0" flipH="0" flipV="0">
            <a:off x="4371975" y="2886075"/>
            <a:ext cx="3848100" cy="752475"/>
          </a:xfrm>
          <a:custGeom>
            <a:pathLst>
              <a:path w="404" h="79">
                <a:moveTo>
                  <a:pt x="3" y="79"/>
                </a:moveTo>
                <a:cubicBezTo>
                  <a:pt x="1" y="79"/>
                  <a:pt x="0" y="78"/>
                  <a:pt x="0" y="76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9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4486275" y="2981325"/>
            <a:ext cx="3590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映射层（后置）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4486275" y="3162300"/>
            <a:ext cx="3590925" cy="381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解析完成后才把黄金记录映射成对象类型、生成对象实例。注意官方那句关键限制：</a:t>
            </a:r>
            <a:r>
              <a:rPr lang="zh-CN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深层嵌套的多源属性拼接，只能靠映射层手工建模</a:t>
            </a:r>
            <a:r>
              <a:rPr lang="zh-CN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，没有自动办法。</a:t>
            </a:r>
            <a:endParaRPr/>
          </a:p>
        </p:txBody>
      </p:sp>
      <p:sp>
        <p:nvSpPr>
          <p:cNvPr id="595" name=""/>
          <p:cNvSpPr/>
          <p:nvPr/>
        </p:nvSpPr>
        <p:spPr>
          <a:xfrm rot="0" flipH="0" flipV="0">
            <a:off x="8486775" y="1285875"/>
            <a:ext cx="3133725" cy="2676525"/>
          </a:xfrm>
          <a:prstGeom prst="roundRect">
            <a:avLst>
              <a:gd name="adj" fmla="val 142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596" name=""/>
          <p:cNvSpPr/>
          <p:nvPr/>
        </p:nvSpPr>
        <p:spPr>
          <a:xfrm rot="0" flipH="0" flipV="0">
            <a:off x="8486775" y="1285875"/>
            <a:ext cx="3133725" cy="2676525"/>
          </a:xfrm>
          <a:custGeom>
            <a:pathLst>
              <a:path w="329" h="281">
                <a:moveTo>
                  <a:pt x="4" y="281"/>
                </a:moveTo>
                <a:cubicBezTo>
                  <a:pt x="2" y="281"/>
                  <a:pt x="0" y="279"/>
                  <a:pt x="0" y="27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8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8639175" y="1409700"/>
            <a:ext cx="2790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上游变脏了怎么办</a:t>
            </a:r>
            <a:endParaRPr/>
          </a:p>
        </p:txBody>
      </p:sp>
      <p:sp>
        <p:nvSpPr>
          <p:cNvPr id="598" name=""/>
          <p:cNvSpPr/>
          <p:nvPr/>
        </p:nvSpPr>
        <p:spPr>
          <a:xfrm rot="0" flipH="0" flipV="0">
            <a:off x="8639175" y="1647825"/>
            <a:ext cx="2790825" cy="6858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8734425" y="1724025"/>
            <a:ext cx="2600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不能靠下游救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8734425" y="1885950"/>
            <a:ext cx="2600325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对象类型一旦建好，下游引用的是规范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ID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，不是源记录。上游新来一条脏数据，只能在管道里重新解析。</a:t>
            </a:r>
            <a:endParaRPr/>
          </a:p>
        </p:txBody>
      </p:sp>
      <p:sp>
        <p:nvSpPr>
          <p:cNvPr id="601" name=""/>
          <p:cNvSpPr/>
          <p:nvPr/>
        </p:nvSpPr>
        <p:spPr>
          <a:xfrm rot="0" flipH="0" flipV="0">
            <a:off x="8639175" y="2400300"/>
            <a:ext cx="2790825" cy="6858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8734425" y="2476500"/>
            <a:ext cx="2600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要有重解析入口</a:t>
            </a:r>
            <a:endParaRPr/>
          </a:p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8734425" y="2638425"/>
            <a:ext cx="2600325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定期或按需重跑解析，并把「新增合并」走一遍同样的审批。</a:t>
            </a:r>
            <a:endParaRPr/>
          </a:p>
        </p:txBody>
      </p:sp>
      <p:sp>
        <p:nvSpPr>
          <p:cNvPr id="604" name=""/>
          <p:cNvSpPr/>
          <p:nvPr/>
        </p:nvSpPr>
        <p:spPr>
          <a:xfrm rot="0" flipH="0" flipV="0">
            <a:off x="8639175" y="3152775"/>
            <a:ext cx="2790825" cy="6858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8734425" y="3228975"/>
            <a:ext cx="2600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两速要能并存</a:t>
            </a:r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8734425" y="3390900"/>
            <a:ext cx="2600325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夜间批量对账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事件驱动增量，两条路都要有，且不能产生分析视图与运营视图的新分歧。</a:t>
            </a:r>
            <a:endParaRPr/>
          </a:p>
        </p:txBody>
      </p:sp>
      <p:sp>
        <p:nvSpPr>
          <p:cNvPr id="607" name=""/>
          <p:cNvSpPr/>
          <p:nvPr/>
        </p:nvSpPr>
        <p:spPr>
          <a:xfrm rot="0" flipH="0" flipV="0">
            <a:off x="609600" y="4057650"/>
            <a:ext cx="10972800" cy="1581150"/>
          </a:xfrm>
          <a:prstGeom prst="roundRect">
            <a:avLst>
              <a:gd name="adj" fmla="val 241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781050" y="4772025"/>
            <a:ext cx="1219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管道上的四个卡点</a:t>
            </a:r>
            <a:endParaRPr/>
          </a:p>
        </p:txBody>
      </p:sp>
      <p:sp>
        <p:nvSpPr>
          <p:cNvPr id="609" name=""/>
          <p:cNvSpPr/>
          <p:nvPr/>
        </p:nvSpPr>
        <p:spPr>
          <a:xfrm rot="0" flipH="0" flipV="0">
            <a:off x="2162175" y="4400550"/>
            <a:ext cx="2219325" cy="89535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0" name=""/>
          <p:cNvSpPr/>
          <p:nvPr/>
        </p:nvSpPr>
        <p:spPr>
          <a:xfrm rot="0" flipH="0" flipV="0">
            <a:off x="2162175" y="4400550"/>
            <a:ext cx="2219325" cy="895350"/>
          </a:xfrm>
          <a:custGeom>
            <a:pathLst>
              <a:path w="233" h="94">
                <a:moveTo>
                  <a:pt x="3" y="94"/>
                </a:moveTo>
                <a:cubicBezTo>
                  <a:pt x="1" y="94"/>
                  <a:pt x="0" y="93"/>
                  <a:pt x="0" y="9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2266950" y="4486275"/>
            <a:ext cx="1981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类型强约束</a:t>
            </a:r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2266950" y="4657725"/>
            <a:ext cx="1981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把「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N/A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」塞进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Double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字段应该直接报错，而不是隐式转换——脏数据要在管道层拦住。</a:t>
            </a:r>
            <a:endParaRPr/>
          </a:p>
        </p:txBody>
      </p:sp>
      <p:sp>
        <p:nvSpPr>
          <p:cNvPr id="613" name=""/>
          <p:cNvSpPr/>
          <p:nvPr/>
        </p:nvSpPr>
        <p:spPr>
          <a:xfrm rot="0" flipH="0" flipV="0">
            <a:off x="4514850" y="4495800"/>
            <a:ext cx="2219325" cy="7143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4" name=""/>
          <p:cNvSpPr/>
          <p:nvPr/>
        </p:nvSpPr>
        <p:spPr>
          <a:xfrm rot="0" flipH="0" flipV="0">
            <a:off x="4514850" y="4495800"/>
            <a:ext cx="2219325" cy="714375"/>
          </a:xfrm>
          <a:custGeom>
            <a:pathLst>
              <a:path w="233" h="75">
                <a:moveTo>
                  <a:pt x="3" y="75"/>
                </a:moveTo>
                <a:cubicBezTo>
                  <a:pt x="1" y="75"/>
                  <a:pt x="0" y="74"/>
                  <a:pt x="0" y="7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4619625" y="4581525"/>
            <a:ext cx="1981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合并幂等</a:t>
            </a:r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4619625" y="4752975"/>
            <a:ext cx="1981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同一批数据重跑不能产生第二组合并，否则解析元数据会越滚越乱。</a:t>
            </a:r>
            <a:endParaRPr/>
          </a:p>
        </p:txBody>
      </p:sp>
      <p:sp>
        <p:nvSpPr>
          <p:cNvPr id="617" name=""/>
          <p:cNvSpPr/>
          <p:nvPr/>
        </p:nvSpPr>
        <p:spPr>
          <a:xfrm rot="0" flipH="0" flipV="0">
            <a:off x="6867525" y="4495800"/>
            <a:ext cx="2219325" cy="7143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8" name=""/>
          <p:cNvSpPr/>
          <p:nvPr/>
        </p:nvSpPr>
        <p:spPr>
          <a:xfrm rot="0" flipH="0" flipV="0">
            <a:off x="6867525" y="4495800"/>
            <a:ext cx="2219325" cy="714375"/>
          </a:xfrm>
          <a:custGeom>
            <a:pathLst>
              <a:path w="233" h="75">
                <a:moveTo>
                  <a:pt x="3" y="75"/>
                </a:moveTo>
                <a:cubicBezTo>
                  <a:pt x="1" y="75"/>
                  <a:pt x="0" y="74"/>
                  <a:pt x="0" y="7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6972300" y="4581525"/>
            <a:ext cx="1981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解析可回溯</a:t>
            </a:r>
            <a:endParaRPr/>
          </a:p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6972300" y="4752975"/>
            <a:ext cx="1981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每次重解析要留下批次号，黄金记录上的每个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都能查出来自哪一批。</a:t>
            </a:r>
            <a:endParaRPr/>
          </a:p>
        </p:txBody>
      </p:sp>
      <p:sp>
        <p:nvSpPr>
          <p:cNvPr id="621" name=""/>
          <p:cNvSpPr/>
          <p:nvPr/>
        </p:nvSpPr>
        <p:spPr>
          <a:xfrm rot="0" flipH="0" flipV="0">
            <a:off x="9220200" y="4495800"/>
            <a:ext cx="2219325" cy="7143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2" name=""/>
          <p:cNvSpPr/>
          <p:nvPr/>
        </p:nvSpPr>
        <p:spPr>
          <a:xfrm rot="0" flipH="0" flipV="0">
            <a:off x="9220200" y="4495800"/>
            <a:ext cx="2219325" cy="714375"/>
          </a:xfrm>
          <a:custGeom>
            <a:pathLst>
              <a:path w="233" h="75">
                <a:moveTo>
                  <a:pt x="3" y="75"/>
                </a:moveTo>
                <a:cubicBezTo>
                  <a:pt x="1" y="75"/>
                  <a:pt x="0" y="74"/>
                  <a:pt x="0" y="7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9324975" y="4581525"/>
            <a:ext cx="1981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断流要报警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9324975" y="4752975"/>
            <a:ext cx="1981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源表不更新是最隐蔽的失败——黄金记录看起来正常，实际已经过期。</a:t>
            </a:r>
            <a:endParaRPr/>
          </a:p>
        </p:txBody>
      </p:sp>
      <p:sp>
        <p:nvSpPr>
          <p:cNvPr id="625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626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主数据咨询方法论</a:t>
            </a:r>
            <a:endParaRPr/>
          </a:p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20 / 30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629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主数据 &lt;span style={{ color: '#FA4F24' }}&gt;×&lt;/span&gt; 知识库：切片必须带实体身份&#10;    &lt;/Text&gt;&#10;    &lt;Text style={{ fontSize: 20, color: '#8A8F99', marginTop: 8 }}&gt;&#10;      客户主数据错了，检索层救不回来——检索只会把错误答案找得更齐&#10;    &lt;/Text&gt;&#10;  &lt;/Box&gt;&#10;  &lt;Box style={{ height: 1, background: '#E8E8E8' }} /&gt;&#10;&#10;  &lt;Box style={{ paddingTop: 14, paddingBottom: 8, height: 479, flexDirection: 'column', gap: 10 }}&gt;&#10;    &lt;Box style={{ height: 292, flexDirection: 'row', gap: 10 }}&gt;&#10;      &lt;Box style={{ flex: 1.15, background: '#0F1423', borderRadius: 4, padding: '13px 17px', flexDirection: 'column' }}&gt;&#10;        &lt;Text style={{ fontSize: 14, fontWeight: 'bold', color: '#FBA15C' }}&gt;为什么实体身份在检索里是生死线&lt;/Text&gt;&#10;        &lt;Text style={{ fontSize: 11, color: 'rgba(255,255,255,0.85)', marginTop: 7, lineHeight: 1.5, flex: 1 }}&gt;&#10;          公网上有个说法很准确：主数据的消费方不再只是报表，而是 RAG 管线与模型。&lt;tspan style={{ color: '#FBA15C' }}&gt;向量索引里出现重复客户，就会产生重复且相互矛盾的上下文&lt;/tspan&gt;——这正是 AI 答错的机制。&#10;        &lt;/Text&gt;&#10;        &lt;Box style={{ flex: 1, marginTop: 9, background: 'rgba(250,79,36,0.18)', borderRadius: 3, padding: '9px 12px' }}&gt;&#10;          &lt;Text style={{ fontSize: 11, color: 'rgba(255,255,255,0.92)', lineHeight: 1.5 }}&gt;&#10;            同样的客户在三份合同里出现三次，没带实体 ID 的切片就会被检索成三条互不相干的证据，模型据此得出「三方客户关系」这种错误结论。&#10;          &lt;/Text&gt;&#10;        &lt;/Box&gt;&#10;      &lt;/Box&gt;&#10;&#10;      &lt;Box style={{ flex: 1, background: '#FFF3EE', borderRadius: 4, padding: '13px 17px', flexDirection: 'column' }}&gt;&#10;        &lt;Text style={{ fontSize: 14, fontWeight: 'bold', color: '#C43A17' }}&gt;知识库侧要做的四件事&lt;/Text&gt;&#10;        &lt;Box style={{ flex: 1, marginTop: 9, flexDirection: 'column', gap: 7 }}&gt;&#10;          {[&#10;            { n: '一', t: '切片继承实体身份', d: '每片段带规范主键 ID，不只带文件名。' },&#10;            { n: '二', t: '切片继承密级', d: '照第九册知识库规则做，同一套机制。' },&#10;            { n: '三', t: '建实体索引', d: '另建「实体→切片」映射，支持按实体聚合。' },&#10;            { n: '四', t: '实体变更触发重建', d: '合并或拆分后定位并重算，靠主数据血缘。' },&#10;          ].map((x) =&gt; (&#10;            &lt;Box key={x.n} style={{ background: '#FFFFFF', borderRadius: 3, borderLeft: '3px solid #FA4F24', padding: '8px 11px' }}&gt;&#10;              &lt;Text style={{ fontSize: 12, fontWeight: 'bold', color: '#0F1423' }}&gt;{x.n} · {x.t}&lt;/Text&gt;&#10;              &lt;Text style={{ fontSize: 11, color: '#3A4050', marginTop: 2, lineHeight: 1.45 }}&gt;{x.d}&lt;/Text&gt;&#10;            &lt;/Box&gt;&#10;          ))}&#10;        &lt;/Box&gt;&#10;      &lt;/Box&gt;&#10;&#10;      &lt;Box style={{ flex: 0.9, background: '#F7F7F8', borderRadius: 4, padding: '13px 17px', flexDirection: 'column', justifyContent: 'center' }}&gt;&#10;        &lt;Text style={{ fontSize: 14, fontWeight: 'bold', color: '#0F1423' }}&gt;Agent 侧的额外风险&lt;/Text&gt;&#10;        &lt;Text style={{ fontSize: 12, color: '#3A4050', marginTop: 7, lineHeight: 1.6 }}&gt;&#10;          智能体做数据管治类任务时（识别重复、自动归并、异常检测），&lt;tspan style={{ fontWeight: 'bold' }}&gt;它的判断依据就是实体身份本身&lt;/tspan&gt;。&#10;        &lt;/Text&gt;&#10;        &lt;Box style={{ marginTop: 10, background: '#FFFFFF', borderRadius: 3, padding: '9px 11px' }}&gt;&#10;          &lt;Text style={{ fontSize: 11, color: '#3A4050', lineHeight: 1.5 }}&gt;&#10;            实体身份不可靠时，这些自动化任务不是「效率低」，而是&lt;tspan style={{ fontWeight: 'bold', color: '#C43A17' }}&gt;在批量制造错误&lt;/tspan&gt;。所以主数据没到位之前，治理类 Agent 应该只给建议、不给动作。&#10;          &lt;/Text&gt;&#10;        &lt;/Box&gt;&#10;      &lt;/Box&gt;&#10;    &lt;/Box&gt;&#10;&#10;    &lt;Box style={{ flex: 1, background: '#FFFFFF', border: '1px solid #E8E8E8', borderRadius: 4, padding: '12px 18px', flexDirection: 'column' }}&gt;&#10;      &lt;Text style={{ fontSize: 14, fontWeight: 'bold', color: '#0F1423' }}&gt;一条完整的链路：实体变更如何流到知识库&lt;/Text&gt;&#10;      &lt;Box style={{ flex: 1, flexDirection: 'row', gap: 8, marginTop: 11, alignItems: 'stretch' }}&gt;&#10;        {[&#10;          { n: '①', t: '管道重解析', d: '源数据变了触发重跑' },&#10;          { n: '②', t: '合并审批', d: '按置信度分流，复核才生效' },&#10;          { n: '③', t: '血缘定位', d: '凭血缘找出相关切片' },&#10;          { n: '④', t: '切片重算', d: '重建切片，重打 ID 与标记' },&#10;          { n: '⑤', t: '缓存失效', d: '缓存键含 ID，一变即失效' },&#10;        ].map((x, i) =&gt; (&#10;          &lt;Box key={x.n} style={{ flex: 1, background: i === 1 ? '#FFF3EE' : '#F7F7F8', borderRadius: 3, borderTop: '3px solid ' + (i === 1 ? '#C43A17' : '#FA4F24'), padding: '10px 12px', flexDirection: 'column' }}&gt;&#10;            &lt;Text style={{ fontSize: 15, fontWeight: 'bold', color: i === 1 ? '#C43A17' : '#FA4F24' }}&gt;{x.n}&lt;/Text&gt;&#10;            &lt;Text style={{ fontSize: 12, fontWeight: 'bold', color: '#0F1423', marginTop: 4 }}&gt;{x.t}&lt;/Text&gt;&#10;            &lt;Text style={{ fontSize: 10.5, color: '#3A4050', marginTop: 5, lineHeight: 1.45, flex: 1 }}&gt;{x.d}&lt;/Text&gt;&#10;          &lt;/Box&gt;&#10;        ))}&#10;      &lt;/Box&gt;&#10;      &lt;Text style={{ fontSize: 11, color: '#8A8F99', marginTop: 8, lineHeight: 1.4 }}&gt;&#10;        第③步能成立，靠的是主数据的主动血缘。没有血缘，这条链就断了。&#10;      &lt;/Text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主数据咨询方法论&lt;/Text&gt;&#10;    &lt;Text style={{ fontSize: 13, color: '#8A8F99', marginLeft: 'auto' }}&gt;21 / 3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主数据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</a:t>
            </a:r>
            <a:r>
              <a:rPr sz="2400" b="1">
                <a:solidFill>
                  <a:srgbClr val="FA4F24"/>
                </a:solidFill>
                <a:latin typeface="Microsoft YaHei"/>
                <a:ea typeface="Microsoft YaHei"/>
              </a:rPr>
              <a:t>×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知识库：切片必须带实体身份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客户主数据错了，检索层救不回来——检索只会把错误答案找得更齐</a:t>
            </a:r>
            <a:endParaRPr/>
          </a:p>
        </p:txBody>
      </p:sp>
      <p:sp>
        <p:nvSpPr>
          <p:cNvPr id="633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634" name=""/>
          <p:cNvSpPr/>
          <p:nvPr/>
        </p:nvSpPr>
        <p:spPr>
          <a:xfrm rot="0" flipH="0" flipV="0">
            <a:off x="609600" y="1285875"/>
            <a:ext cx="4067175" cy="2781300"/>
          </a:xfrm>
          <a:prstGeom prst="roundRect">
            <a:avLst>
              <a:gd name="adj" fmla="val 137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771525" y="1409700"/>
            <a:ext cx="3743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为什么实体身份在检索里是生死线</a:t>
            </a:r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771525" y="1638300"/>
            <a:ext cx="3743325" cy="1123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公网上有个说法很准确：主数据的消费方不再只是报表，而是</a:t>
            </a:r>
            <a:r>
              <a:rPr lang="en-US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RAG </a:t>
            </a:r>
            <a:r>
              <a:rPr lang="zh-CN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管线与模型。</a:t>
            </a:r>
            <a:r>
              <a:rPr lang="zh-CN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向量索引里出现重复客户，就会产生重复且相互矛盾的上下文</a:t>
            </a:r>
            <a:r>
              <a:rPr lang="zh-CN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——这正是</a:t>
            </a:r>
            <a:r>
              <a:rPr lang="en-US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答错的机制。</a:t>
            </a:r>
            <a:endParaRPr/>
          </a:p>
        </p:txBody>
      </p:sp>
      <p:sp>
        <p:nvSpPr>
          <p:cNvPr id="637" name=""/>
          <p:cNvSpPr/>
          <p:nvPr/>
        </p:nvSpPr>
        <p:spPr>
          <a:xfrm rot="0" flipH="0" flipV="0">
            <a:off x="771525" y="2847975"/>
            <a:ext cx="3743325" cy="1095375"/>
          </a:xfrm>
          <a:prstGeom prst="roundRect">
            <a:avLst>
              <a:gd name="adj" fmla="val 2609"/>
            </a:avLst>
          </a:prstGeom>
          <a:solidFill>
            <a:srgbClr val="FA4F24">
              <a:alpha val="18000"/>
            </a:srgbClr>
          </a:solidFill>
          <a:ln/>
        </p:spPr>
        <p:txBody>
          <a:bodyPr/>
          <a:p/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885825" y="2933700"/>
            <a:ext cx="3514725" cy="381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同样的客户在三份合同里出现三次，没带实体</a:t>
            </a:r>
            <a:r>
              <a:rPr lang="en-US" sz="8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8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的切片就会被检索成三条互不相干的证据，模型据此得出「三方客户关系」这种错误结论。</a:t>
            </a:r>
            <a:endParaRPr/>
          </a:p>
        </p:txBody>
      </p:sp>
      <p:sp>
        <p:nvSpPr>
          <p:cNvPr id="639" name=""/>
          <p:cNvSpPr/>
          <p:nvPr/>
        </p:nvSpPr>
        <p:spPr>
          <a:xfrm rot="0" flipH="0" flipV="0">
            <a:off x="4772025" y="1285875"/>
            <a:ext cx="3533775" cy="2781300"/>
          </a:xfrm>
          <a:prstGeom prst="roundRect">
            <a:avLst>
              <a:gd name="adj" fmla="val 137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4933950" y="1409700"/>
            <a:ext cx="3209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知识库侧要做的四件事</a:t>
            </a:r>
            <a:endParaRPr/>
          </a:p>
        </p:txBody>
      </p:sp>
      <p:sp>
        <p:nvSpPr>
          <p:cNvPr id="641" name=""/>
          <p:cNvSpPr/>
          <p:nvPr/>
        </p:nvSpPr>
        <p:spPr>
          <a:xfrm rot="0" flipH="0" flipV="0">
            <a:off x="4962525" y="1657350"/>
            <a:ext cx="3209925" cy="504825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2" name=""/>
          <p:cNvSpPr/>
          <p:nvPr/>
        </p:nvSpPr>
        <p:spPr>
          <a:xfrm rot="0" flipH="0" flipV="0">
            <a:off x="4962525" y="1657350"/>
            <a:ext cx="3209925" cy="504825"/>
          </a:xfrm>
          <a:custGeom>
            <a:pathLst>
              <a:path w="337" h="53">
                <a:moveTo>
                  <a:pt x="3" y="53"/>
                </a:moveTo>
                <a:cubicBezTo>
                  <a:pt x="1" y="53"/>
                  <a:pt x="0" y="52"/>
                  <a:pt x="0" y="50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5067300" y="1733550"/>
            <a:ext cx="2971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一</a:t>
            </a:r>
            <a:r>
              <a:rPr lang="en-US" sz="9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切片继承实体身份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5067300" y="1895475"/>
            <a:ext cx="29718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每片段带规范主键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ID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，不只带文件名。</a:t>
            </a:r>
            <a:endParaRPr/>
          </a:p>
        </p:txBody>
      </p:sp>
      <p:sp>
        <p:nvSpPr>
          <p:cNvPr id="645" name=""/>
          <p:cNvSpPr/>
          <p:nvPr/>
        </p:nvSpPr>
        <p:spPr>
          <a:xfrm rot="0" flipH="0" flipV="0">
            <a:off x="4962525" y="2228850"/>
            <a:ext cx="3209925" cy="504825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6" name=""/>
          <p:cNvSpPr/>
          <p:nvPr/>
        </p:nvSpPr>
        <p:spPr>
          <a:xfrm rot="0" flipH="0" flipV="0">
            <a:off x="4962525" y="2228850"/>
            <a:ext cx="3209925" cy="504825"/>
          </a:xfrm>
          <a:custGeom>
            <a:pathLst>
              <a:path w="337" h="53">
                <a:moveTo>
                  <a:pt x="3" y="53"/>
                </a:moveTo>
                <a:cubicBezTo>
                  <a:pt x="1" y="53"/>
                  <a:pt x="0" y="52"/>
                  <a:pt x="0" y="50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5067300" y="2305050"/>
            <a:ext cx="2971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二</a:t>
            </a:r>
            <a:r>
              <a:rPr lang="en-US" sz="9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切片继承密级</a:t>
            </a:r>
            <a:endParaRPr/>
          </a:p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5067300" y="2466975"/>
            <a:ext cx="29718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照第九册知识库规则做，同一套机制。</a:t>
            </a:r>
            <a:endParaRPr/>
          </a:p>
        </p:txBody>
      </p:sp>
      <p:sp>
        <p:nvSpPr>
          <p:cNvPr id="649" name=""/>
          <p:cNvSpPr/>
          <p:nvPr/>
        </p:nvSpPr>
        <p:spPr>
          <a:xfrm rot="0" flipH="0" flipV="0">
            <a:off x="4962525" y="2800350"/>
            <a:ext cx="3209925" cy="504825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0" name=""/>
          <p:cNvSpPr/>
          <p:nvPr/>
        </p:nvSpPr>
        <p:spPr>
          <a:xfrm rot="0" flipH="0" flipV="0">
            <a:off x="4962525" y="2800350"/>
            <a:ext cx="3209925" cy="504825"/>
          </a:xfrm>
          <a:custGeom>
            <a:pathLst>
              <a:path w="337" h="53">
                <a:moveTo>
                  <a:pt x="3" y="53"/>
                </a:moveTo>
                <a:cubicBezTo>
                  <a:pt x="1" y="53"/>
                  <a:pt x="0" y="52"/>
                  <a:pt x="0" y="50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5067300" y="2876550"/>
            <a:ext cx="2971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三</a:t>
            </a:r>
            <a:r>
              <a:rPr lang="en-US" sz="9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建实体索引</a:t>
            </a:r>
            <a:endParaRPr/>
          </a:p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5067300" y="3038475"/>
            <a:ext cx="29718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另建「实体→切片」映射，支持按实体聚合。</a:t>
            </a:r>
            <a:endParaRPr/>
          </a:p>
        </p:txBody>
      </p:sp>
      <p:sp>
        <p:nvSpPr>
          <p:cNvPr id="653" name=""/>
          <p:cNvSpPr/>
          <p:nvPr/>
        </p:nvSpPr>
        <p:spPr>
          <a:xfrm rot="0" flipH="0" flipV="0">
            <a:off x="4962525" y="3371850"/>
            <a:ext cx="3209925" cy="504825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4" name=""/>
          <p:cNvSpPr/>
          <p:nvPr/>
        </p:nvSpPr>
        <p:spPr>
          <a:xfrm rot="0" flipH="0" flipV="0">
            <a:off x="4962525" y="3371850"/>
            <a:ext cx="3209925" cy="504825"/>
          </a:xfrm>
          <a:custGeom>
            <a:pathLst>
              <a:path w="337" h="53">
                <a:moveTo>
                  <a:pt x="3" y="53"/>
                </a:moveTo>
                <a:cubicBezTo>
                  <a:pt x="1" y="53"/>
                  <a:pt x="0" y="52"/>
                  <a:pt x="0" y="50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5067300" y="3448050"/>
            <a:ext cx="2971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四</a:t>
            </a:r>
            <a:r>
              <a:rPr lang="en-US" sz="9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实体变更触发重建</a:t>
            </a:r>
            <a:endParaRPr/>
          </a:p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5067300" y="3609975"/>
            <a:ext cx="29718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合并或拆分后定位并重算，靠主数据血缘。</a:t>
            </a:r>
            <a:endParaRPr/>
          </a:p>
        </p:txBody>
      </p:sp>
      <p:sp>
        <p:nvSpPr>
          <p:cNvPr id="657" name=""/>
          <p:cNvSpPr/>
          <p:nvPr/>
        </p:nvSpPr>
        <p:spPr>
          <a:xfrm rot="0" flipH="0" flipV="0">
            <a:off x="8401050" y="1285875"/>
            <a:ext cx="3181350" cy="2781300"/>
          </a:xfrm>
          <a:prstGeom prst="roundRect">
            <a:avLst>
              <a:gd name="adj" fmla="val 137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8562975" y="1924050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侧的额外风险</a:t>
            </a:r>
            <a:endParaRPr/>
          </a:p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8562975" y="2152650"/>
            <a:ext cx="28575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智能体做数据管治类任务时（识别重复、自动归并、异常检测），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它的判断依据就是实体身份本身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60" name=""/>
          <p:cNvSpPr/>
          <p:nvPr/>
        </p:nvSpPr>
        <p:spPr>
          <a:xfrm rot="0" flipH="0" flipV="0">
            <a:off x="8562975" y="2695575"/>
            <a:ext cx="2857500" cy="7429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8667750" y="2781300"/>
            <a:ext cx="26479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实体身份不可靠时，这些自动化任务不是「效率低」，而是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在批量制造错误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。所以主数据没到位之前，治理类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应该只给建议、不给动作。</a:t>
            </a:r>
            <a:endParaRPr/>
          </a:p>
        </p:txBody>
      </p:sp>
      <p:sp>
        <p:nvSpPr>
          <p:cNvPr id="662" name=""/>
          <p:cNvSpPr/>
          <p:nvPr/>
        </p:nvSpPr>
        <p:spPr>
          <a:xfrm rot="0" flipH="0" flipV="0">
            <a:off x="609600" y="4162425"/>
            <a:ext cx="10972800" cy="1552575"/>
          </a:xfrm>
          <a:prstGeom prst="roundRect">
            <a:avLst>
              <a:gd name="adj" fmla="val 2454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781050" y="4276725"/>
            <a:ext cx="10629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一条完整的链路：实体变更如何流到知识库</a:t>
            </a:r>
            <a:endParaRPr/>
          </a:p>
        </p:txBody>
      </p:sp>
      <p:sp>
        <p:nvSpPr>
          <p:cNvPr id="664" name=""/>
          <p:cNvSpPr/>
          <p:nvPr/>
        </p:nvSpPr>
        <p:spPr>
          <a:xfrm rot="0" flipH="0" flipV="0">
            <a:off x="781050" y="4572000"/>
            <a:ext cx="2066925" cy="800100"/>
          </a:xfrm>
          <a:prstGeom prst="roundRect">
            <a:avLst>
              <a:gd name="adj" fmla="val 357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65" name=""/>
          <p:cNvSpPr/>
          <p:nvPr/>
        </p:nvSpPr>
        <p:spPr>
          <a:xfrm rot="0" flipH="0" flipV="0">
            <a:off x="781050" y="4572000"/>
            <a:ext cx="2066925" cy="800100"/>
          </a:xfrm>
          <a:custGeom>
            <a:pathLst>
              <a:path w="217" h="84">
                <a:moveTo>
                  <a:pt x="214" y="0"/>
                </a:moveTo>
                <a:cubicBezTo>
                  <a:pt x="216" y="0"/>
                  <a:pt x="217" y="1"/>
                  <a:pt x="217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1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895350" y="4667250"/>
            <a:ext cx="1838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FA4F24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895350" y="4876800"/>
            <a:ext cx="1838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管道重解析</a:t>
            </a:r>
            <a:endParaRPr/>
          </a:p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895350" y="5067300"/>
            <a:ext cx="1838325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源数据变了触发重跑</a:t>
            </a:r>
            <a:endParaRPr/>
          </a:p>
        </p:txBody>
      </p:sp>
      <p:sp>
        <p:nvSpPr>
          <p:cNvPr id="669" name=""/>
          <p:cNvSpPr/>
          <p:nvPr/>
        </p:nvSpPr>
        <p:spPr>
          <a:xfrm rot="0" flipH="0" flipV="0">
            <a:off x="2924175" y="4572000"/>
            <a:ext cx="2066925" cy="800100"/>
          </a:xfrm>
          <a:prstGeom prst="roundRect">
            <a:avLst>
              <a:gd name="adj" fmla="val 357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670" name=""/>
          <p:cNvSpPr/>
          <p:nvPr/>
        </p:nvSpPr>
        <p:spPr>
          <a:xfrm rot="0" flipH="0" flipV="0">
            <a:off x="2924175" y="4572000"/>
            <a:ext cx="2066925" cy="800100"/>
          </a:xfrm>
          <a:custGeom>
            <a:pathLst>
              <a:path w="217" h="84">
                <a:moveTo>
                  <a:pt x="214" y="0"/>
                </a:moveTo>
                <a:cubicBezTo>
                  <a:pt x="216" y="0"/>
                  <a:pt x="217" y="1"/>
                  <a:pt x="217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14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3038475" y="4667250"/>
            <a:ext cx="1838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C43A17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3038475" y="4876800"/>
            <a:ext cx="1838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合并审批</a:t>
            </a:r>
            <a:endParaRPr/>
          </a:p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3038475" y="5067300"/>
            <a:ext cx="1838325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按置信度分流，复核才生效</a:t>
            </a:r>
            <a:endParaRPr/>
          </a:p>
        </p:txBody>
      </p:sp>
      <p:sp>
        <p:nvSpPr>
          <p:cNvPr id="674" name=""/>
          <p:cNvSpPr/>
          <p:nvPr/>
        </p:nvSpPr>
        <p:spPr>
          <a:xfrm rot="0" flipH="0" flipV="0">
            <a:off x="5067300" y="4572000"/>
            <a:ext cx="2057400" cy="800100"/>
          </a:xfrm>
          <a:prstGeom prst="roundRect">
            <a:avLst>
              <a:gd name="adj" fmla="val 357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75" name=""/>
          <p:cNvSpPr/>
          <p:nvPr/>
        </p:nvSpPr>
        <p:spPr>
          <a:xfrm rot="0" flipH="0" flipV="0">
            <a:off x="5067300" y="4572000"/>
            <a:ext cx="2057400" cy="800100"/>
          </a:xfrm>
          <a:custGeom>
            <a:pathLst>
              <a:path w="216" h="84">
                <a:moveTo>
                  <a:pt x="213" y="0"/>
                </a:moveTo>
                <a:cubicBezTo>
                  <a:pt x="215" y="0"/>
                  <a:pt x="216" y="1"/>
                  <a:pt x="216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13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5181600" y="4667250"/>
            <a:ext cx="1828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FA4F24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5181600" y="4876800"/>
            <a:ext cx="1828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血缘定位</a:t>
            </a:r>
            <a:endParaRPr/>
          </a:p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5181600" y="5067300"/>
            <a:ext cx="182880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凭血缘找出相关切片</a:t>
            </a:r>
            <a:endParaRPr/>
          </a:p>
        </p:txBody>
      </p:sp>
      <p:sp>
        <p:nvSpPr>
          <p:cNvPr id="679" name=""/>
          <p:cNvSpPr/>
          <p:nvPr/>
        </p:nvSpPr>
        <p:spPr>
          <a:xfrm rot="0" flipH="0" flipV="0">
            <a:off x="7200900" y="4572000"/>
            <a:ext cx="2066925" cy="800100"/>
          </a:xfrm>
          <a:prstGeom prst="roundRect">
            <a:avLst>
              <a:gd name="adj" fmla="val 357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80" name=""/>
          <p:cNvSpPr/>
          <p:nvPr/>
        </p:nvSpPr>
        <p:spPr>
          <a:xfrm rot="0" flipH="0" flipV="0">
            <a:off x="7200900" y="4572000"/>
            <a:ext cx="2066925" cy="800100"/>
          </a:xfrm>
          <a:custGeom>
            <a:pathLst>
              <a:path w="217" h="84">
                <a:moveTo>
                  <a:pt x="214" y="0"/>
                </a:moveTo>
                <a:cubicBezTo>
                  <a:pt x="216" y="0"/>
                  <a:pt x="217" y="1"/>
                  <a:pt x="217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1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7315200" y="4667250"/>
            <a:ext cx="1838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FA4F24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7315200" y="4876800"/>
            <a:ext cx="1838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切片重算</a:t>
            </a:r>
            <a:endParaRPr/>
          </a:p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7315200" y="5067300"/>
            <a:ext cx="1838325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重建切片，重打</a:t>
            </a: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与标记</a:t>
            </a:r>
            <a:endParaRPr/>
          </a:p>
        </p:txBody>
      </p:sp>
      <p:sp>
        <p:nvSpPr>
          <p:cNvPr id="684" name=""/>
          <p:cNvSpPr/>
          <p:nvPr/>
        </p:nvSpPr>
        <p:spPr>
          <a:xfrm rot="0" flipH="0" flipV="0">
            <a:off x="9344025" y="4572000"/>
            <a:ext cx="2066925" cy="800100"/>
          </a:xfrm>
          <a:prstGeom prst="roundRect">
            <a:avLst>
              <a:gd name="adj" fmla="val 357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85" name=""/>
          <p:cNvSpPr/>
          <p:nvPr/>
        </p:nvSpPr>
        <p:spPr>
          <a:xfrm rot="0" flipH="0" flipV="0">
            <a:off x="9344025" y="4572000"/>
            <a:ext cx="2066925" cy="800100"/>
          </a:xfrm>
          <a:custGeom>
            <a:pathLst>
              <a:path w="217" h="84">
                <a:moveTo>
                  <a:pt x="214" y="0"/>
                </a:moveTo>
                <a:cubicBezTo>
                  <a:pt x="216" y="0"/>
                  <a:pt x="217" y="1"/>
                  <a:pt x="217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1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9458325" y="4667250"/>
            <a:ext cx="1838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FA4F24"/>
                </a:solidFill>
                <a:latin typeface="Microsoft YaHei"/>
                <a:ea typeface="Microsoft YaHei"/>
              </a:rPr>
              <a:t>⑤</a:t>
            </a:r>
            <a:endParaRPr/>
          </a:p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9458325" y="4876800"/>
            <a:ext cx="1838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缓存失效</a:t>
            </a:r>
            <a:endParaRPr/>
          </a:p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9458325" y="5067300"/>
            <a:ext cx="1838325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缓存键含</a:t>
            </a: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 ID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，一变即失效</a:t>
            </a:r>
            <a:endParaRPr/>
          </a:p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781050" y="5419725"/>
            <a:ext cx="106299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第③步能成立，靠的是主数据的主动血缘。没有血缘，这条链就断了。</a:t>
            </a:r>
            <a:endParaRPr/>
          </a:p>
        </p:txBody>
      </p:sp>
      <p:sp>
        <p:nvSpPr>
          <p:cNvPr id="690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691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主数据咨询方法论</a:t>
            </a:r>
            <a:endParaRPr/>
          </a:p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21 / 30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694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主数据 &lt;span style={{ color: '#FA4F24' }}&gt;×&lt;/span&gt; Agent：要上下文，不要记录&#10;    &lt;/Text&gt;&#10;    &lt;Text style={{ fontSize: 20, color: '#8A8F99', marginTop: 8 }}&gt;&#10;      黄金记录只能告诉 Agent「这个客户存在、住哪、账号是多少」——这不够做判断&#10;    &lt;/Text&gt;&#10;  &lt;/Box&gt;&#10;  &lt;Box style={{ height: 1, background: '#E8E8E8' }} /&gt;&#10;&#10;  &lt;Box style={{ paddingTop: 14, paddingBottom: 8, height: 479, flexDirection: 'column', gap: 10 }}&gt;&#10;    &lt;Box style={{ height: 305, flexDirection: 'row', gap: 10 }}&gt;&#10;      &lt;Box style={{ flex: 1.15, background: '#0F1423', borderRadius: 4, padding: '13px 17px', flexDirection: 'column' }}&gt;&#10;        &lt;Text style={{ fontSize: 14, fontWeight: 'bold', color: '#FBA15C' }}&gt;Agent 拿到黄金记录之后还要问什么&lt;/Text&gt;&#10;        &lt;Box style={{ flex: 1, marginTop: 10, flexDirection: 'column', gap: 6 }}&gt;&#10;          {[&#10;            '这个客户属于哪个家庭？',&#10;            '他持有哪些产品？',&#10;            '哪些合同在约束这层关系？',&#10;            '有没有未结的服务工单？',&#10;            '适用哪些同意（consent）权限？',&#10;            '他够不够资格做忠诚度升级？',&#10;            '有没有监管限制要挡住下一步动作？',&#10;          ].map((t) =&gt; (&#10;            &lt;Text key={t} style={{ fontSize: 11.5, color: 'rgba(255,255,255,0.85)', lineHeight: 1.45 }}&gt;· {t}&lt;/Text&gt;&#10;          ))}&#10;        &lt;/Box&gt;&#10;        &lt;Box style={{ marginTop: 9, background: 'rgba(250,79,36,0.18)', borderRadius: 3, padding: '9px 11px' }}&gt;&#10;          &lt;Text style={{ fontSize: 11.5, color: 'rgba(255,255,255,0.92)', lineHeight: 1.5 }}&gt;&#10;            &lt;tspan style={{ fontWeight: 'bold', color: '#FBA15C' }}&gt;数据都在&lt;/tspan&gt;——但没有连接与上下文，AI 无法可靠推理。这就是「记录」与「上下文」的分界。&#10;          &lt;/Text&gt;&#10;        &lt;/Box&gt;&#10;      &lt;/Box&gt;&#10;&#10;      &lt;Box style={{ flex: 1, background: '#FFFFFF', border: '1px solid #E8E8E8', borderRadius: 4, padding: '13px 17px', flexDirection: 'column' }}&gt;&#10;        &lt;Text style={{ fontSize: 14, fontWeight: 'bold', color: '#0F1423' }}&gt;所以主数据要补的是「关系网」&lt;/Text&gt;&#10;        &lt;Box style={{ flex: 1, marginTop: 10, background: '#F7F7F8', borderRadius: 3, padding: '11px 13px' }}&gt;&#10;          &lt;Text style={{ fontSize: 12, color: '#3A4050', lineHeight: 1.8 }}&gt;&#10;            客户&lt;span style={{ color: '#FA4F24' }}&gt; ─拥有→ &lt;/span&gt;产品&lt;br /&gt;&#10;            客户&lt;span style={{ color: '#FA4F24' }}&gt; ─就职于→ &lt;/span&gt;公司&lt;br /&gt;&#10;            客户&lt;span style={{ color: '#FA4F24' }}&gt; ─位于→ &lt;/span&gt;地址&lt;br /&gt;&#10;            客户&lt;span style={{ color: '#FA4F24' }}&gt; ─关联→ &lt;/span&gt;供应商&lt;br /&gt;&#10;            客户&lt;span style={{ color: '#FA4F24' }}&gt; ─受约束于→ &lt;/span&gt;合同与同意记录&#10;          &lt;/Text&gt;&#10;        &lt;/Box&gt;&#10;        &lt;Text style={{ fontSize: 11, color: '#3A4050', marginTop: 10, lineHeight: 1.5 }}&gt;&#10;          这些关系在页面上就是链接类型；它们必须在主数据阶段就建好，&lt;tspan style={{ fontWeight: 'bold', color: '#C43A17' }}&gt;不能等 Agent 上线时再补&lt;/tspan&gt;——那时没人说得清该补哪几条。&#10;        &lt;/Text&gt;&#10;      &lt;/Box&gt;&#10;&#10;      &lt;Box style={{ flex: 0.9, background: '#FFF3EE', borderRadius: 4, borderLeft: '4px solid #FA4F24', padding: '13px 17px', flexDirection: 'column', justifyContent: 'center' }}&gt;&#10;        &lt;Text style={{ fontSize: 14, fontWeight: 'bold', color: '#C43A17' }}&gt;给 Agent 用主数据的三个条件&lt;/Text&gt;&#10;        &lt;Box style={{ flexDirection: 'column', gap: 8, marginTop: 9 }}&gt;&#10;          {[&#10;            { t: '能按自然语言问', d: 'Agent 要用自然语言调工具，实体查询必须能按业务语言表达，而不是只能拼 ID。' },&#10;            { t: '带置信度与时效', d: '返回结果要带「这个值来自哪、什么时候的、有多可信」，否则 Agent 无法判断该不该采信。' },&#10;            { t: '可作为动作入参', d: 'Agent 的动作类型要能直接引用实体对象，否则它只能把主数据当只读字典。' },&#10;          ].map((x) =&gt; (&#10;            &lt;Box key={x.t} style={{ background: '#FFFFFF', borderRadius: 3, padding: '8px 10px' }}&gt;&#10;              &lt;Text style={{ fontSize: 12, fontWeight: 'bold', color: '#0F1423' }}&gt;{x.t}&lt;/Text&gt;&#10;              &lt;Text style={{ fontSize: 11, color: '#3A4050', marginTop: 2, lineHeight: 1.45 }}&gt;{x.d}&lt;/Text&gt;&#10;            &lt;/Box&gt;&#10;          ))}&#10;        &lt;/Box&gt;&#10;      &lt;/Box&gt;&#10;    &lt;/Box&gt;&#10;&#10;    &lt;Box style={{ flex: 1, background: '#F7F7F8', borderRadius: 4, padding: '12px 18px', flexDirection: 'column' }}&gt;&#10;      &lt;Text style={{ fontSize: 14, fontWeight: 'bold', color: '#0F1423' }}&gt;一个对比：Agent 拿到「记录」和「上下文」时的差别&lt;/Text&gt;&#10;      &lt;Box style={{ flex: 1, flexDirection: 'row', gap: 10, marginTop: 10 }}&gt;&#10;        &lt;Box style={{ flex: 1, background: '#FFFFFF', borderRadius: 3, borderLeft: '3px solid #8A8F99', padding: '10px 12px' }}&gt;&#10;          &lt;Text style={{ fontSize: 12.5, fontWeight: 'bold', color: '#0F1423' }}&gt;只有黄金记录&lt;/Text&gt;&#10;          &lt;Text style={{ fontSize: 11, color: '#3A4050', marginTop: 5, lineHeight: 1.5 }}&gt;&#10;            Agent 能回答「这个客户叫什么、住哪、账号是多少」——这是数据问题。&#10;          &lt;/Text&gt;&#10;          &lt;Text style={{ fontSize: 11, color: '#8A8F99', marginTop: 6, lineHeight: 1.45 }}&gt;&#10;            遇到「他能不能升级」这类跨域问题，只能靠猜，或者退回人工。&#10;          &lt;/Text&gt;&#10;        &lt;/Box&gt;&#10;        &lt;Box style={{ flex: 1, background: '#FFF3EE', borderRadius: 3, borderLeft: '3px solid #FA4F24', padding: '10px 12px' }}&gt;&#10;          &lt;Text style={{ fontSize: 12.5, fontWeight: 'bold', color: '#C43A17' }}&gt;黄金记录 + 关系与层级&lt;/Text&gt;&#10;          &lt;Text style={{ fontSize: 11, color: '#3A4050', marginTop: 5, lineHeight: 1.5 }}&gt;&#10;            Agent 能沿链接遍历到家庭、产品、合同、工单、同意记录与监管限制，逐条检查后给出&lt;tspan style={{ fontWeight: 'bold' }}&gt;有依据的建议&lt;/tspan&gt;。&#10;          &lt;/Text&gt;&#10;          &lt;Text style={{ fontSize: 11, color: '#C43A17', marginTop: 6, lineHeight: 1.45 }}&gt;&#10;            这才从「查数据的机器人」变成「能推理的助手」。&#10;          &lt;/Text&gt;&#10;        &lt;/Box&gt;&#10;      &lt;/Box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主数据咨询方法论&lt;/Text&gt;&#10;    &lt;Text style={{ fontSize: 13, color: '#8A8F99', marginLeft: 'auto' }}&gt;22 / 3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主数据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</a:t>
            </a:r>
            <a:r>
              <a:rPr sz="2400" b="1">
                <a:solidFill>
                  <a:srgbClr val="FA4F24"/>
                </a:solidFill>
                <a:latin typeface="Microsoft YaHei"/>
                <a:ea typeface="Microsoft YaHei"/>
              </a:rPr>
              <a:t>×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：要上下文，不要记录</a:t>
            </a:r>
            <a:endParaRPr/>
          </a:p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黄金记录只能告诉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「这个客户存在、住哪、账号是多少」——这不够做判断</a:t>
            </a:r>
            <a:endParaRPr/>
          </a:p>
        </p:txBody>
      </p:sp>
      <p:sp>
        <p:nvSpPr>
          <p:cNvPr id="69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699" name=""/>
          <p:cNvSpPr/>
          <p:nvPr/>
        </p:nvSpPr>
        <p:spPr>
          <a:xfrm rot="0" flipH="0" flipV="0">
            <a:off x="609600" y="1285875"/>
            <a:ext cx="4067175" cy="2905125"/>
          </a:xfrm>
          <a:prstGeom prst="roundRect">
            <a:avLst>
              <a:gd name="adj" fmla="val 131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771525" y="1409700"/>
            <a:ext cx="3743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拿到黄金记录之后还要问什么</a:t>
            </a:r>
            <a:endParaRPr/>
          </a:p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771525" y="1666875"/>
            <a:ext cx="374332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这个客户属于哪个家庭？</a:t>
            </a:r>
            <a:endParaRPr/>
          </a:p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771525" y="1924050"/>
            <a:ext cx="374332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他持有哪些产品？</a:t>
            </a:r>
            <a:endParaRPr/>
          </a:p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771525" y="2181225"/>
            <a:ext cx="374332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哪些合同在约束这层关系？</a:t>
            </a:r>
            <a:endParaRPr/>
          </a:p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771525" y="2438400"/>
            <a:ext cx="374332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有没有未结的服务工单？</a:t>
            </a:r>
            <a:endParaRPr/>
          </a:p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771525" y="2695575"/>
            <a:ext cx="374332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适用哪些同意（</a:t>
            </a:r>
            <a:r>
              <a:rPr lang="en-US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consent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）权限？</a:t>
            </a:r>
            <a:endParaRPr/>
          </a:p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771525" y="2952750"/>
            <a:ext cx="374332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他够不够资格做忠诚度升级？</a:t>
            </a:r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771525" y="3209925"/>
            <a:ext cx="374332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有没有监管限制要挡住下一步动作？</a:t>
            </a:r>
            <a:endParaRPr/>
          </a:p>
        </p:txBody>
      </p:sp>
      <p:sp>
        <p:nvSpPr>
          <p:cNvPr id="708" name=""/>
          <p:cNvSpPr/>
          <p:nvPr/>
        </p:nvSpPr>
        <p:spPr>
          <a:xfrm rot="0" flipH="0" flipV="0">
            <a:off x="771525" y="3495675"/>
            <a:ext cx="3743325" cy="571500"/>
          </a:xfrm>
          <a:prstGeom prst="roundRect">
            <a:avLst>
              <a:gd name="adj" fmla="val 5000"/>
            </a:avLst>
          </a:prstGeom>
          <a:solidFill>
            <a:srgbClr val="FA4F24">
              <a:alpha val="18000"/>
            </a:srgbClr>
          </a:solidFill>
          <a:ln/>
        </p:spPr>
        <p:txBody>
          <a:bodyPr/>
          <a:p/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876300" y="3581400"/>
            <a:ext cx="3533775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数据都在</a:t>
            </a:r>
            <a:r>
              <a:rPr lang="zh-CN" sz="863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——但没有连接与上下文，</a:t>
            </a:r>
            <a:r>
              <a:rPr lang="en-US" sz="863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863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无法可靠推理。这就是「记录」与「上下文」的分界。</a:t>
            </a:r>
            <a:endParaRPr/>
          </a:p>
        </p:txBody>
      </p:sp>
      <p:sp>
        <p:nvSpPr>
          <p:cNvPr id="710" name=""/>
          <p:cNvSpPr/>
          <p:nvPr/>
        </p:nvSpPr>
        <p:spPr>
          <a:xfrm rot="0" flipH="0" flipV="0">
            <a:off x="4772025" y="1285875"/>
            <a:ext cx="3533775" cy="2905125"/>
          </a:xfrm>
          <a:prstGeom prst="roundRect">
            <a:avLst>
              <a:gd name="adj" fmla="val 1311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4933950" y="1409700"/>
            <a:ext cx="3209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所以主数据要补的是「关系网」</a:t>
            </a:r>
            <a:endParaRPr/>
          </a:p>
        </p:txBody>
      </p:sp>
      <p:sp>
        <p:nvSpPr>
          <p:cNvPr id="712" name=""/>
          <p:cNvSpPr/>
          <p:nvPr/>
        </p:nvSpPr>
        <p:spPr>
          <a:xfrm rot="0" flipH="0" flipV="0">
            <a:off x="4933950" y="1666875"/>
            <a:ext cx="3209925" cy="1924050"/>
          </a:xfrm>
          <a:prstGeom prst="roundRect">
            <a:avLst>
              <a:gd name="adj" fmla="val 148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5057775" y="1771650"/>
            <a:ext cx="2962275" cy="12382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客户</a:t>
            </a:r>
            <a:r>
              <a:rPr lang="en-US" sz="900">
                <a:solidFill>
                  <a:srgbClr val="FA4F24"/>
                </a:solidFill>
                <a:latin typeface="Microsoft YaHei"/>
                <a:ea typeface="Microsoft YaHei"/>
              </a:rPr>
              <a:t xml:space="preserve"> ─</a:t>
            </a:r>
            <a:r>
              <a:rPr lang="zh-CN" sz="900">
                <a:solidFill>
                  <a:srgbClr val="FA4F24"/>
                </a:solidFill>
                <a:latin typeface="Microsoft YaHei"/>
                <a:ea typeface="Microsoft YaHei"/>
              </a:rPr>
              <a:t>拥有→</a:t>
            </a:r>
            <a:r>
              <a:rPr lang="en-US" sz="900">
                <a:solidFill>
                  <a:srgbClr val="FA4F24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产品</a:t>
            </a:r>
            <a:endParaRPr/>
          </a:p>
          <a:p>
            <a:pPr>
              <a:lnSpc>
                <a:spcPct val="18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客户</a:t>
            </a:r>
            <a:r>
              <a:rPr lang="en-US" sz="900">
                <a:solidFill>
                  <a:srgbClr val="FA4F24"/>
                </a:solidFill>
                <a:latin typeface="Microsoft YaHei"/>
                <a:ea typeface="Microsoft YaHei"/>
              </a:rPr>
              <a:t xml:space="preserve"> ─</a:t>
            </a:r>
            <a:r>
              <a:rPr lang="zh-CN" sz="900">
                <a:solidFill>
                  <a:srgbClr val="FA4F24"/>
                </a:solidFill>
                <a:latin typeface="Microsoft YaHei"/>
                <a:ea typeface="Microsoft YaHei"/>
              </a:rPr>
              <a:t>就职于→</a:t>
            </a:r>
            <a:r>
              <a:rPr lang="en-US" sz="900">
                <a:solidFill>
                  <a:srgbClr val="FA4F24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公司</a:t>
            </a:r>
            <a:endParaRPr/>
          </a:p>
          <a:p>
            <a:pPr>
              <a:lnSpc>
                <a:spcPct val="18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客户</a:t>
            </a:r>
            <a:r>
              <a:rPr lang="en-US" sz="900">
                <a:solidFill>
                  <a:srgbClr val="FA4F24"/>
                </a:solidFill>
                <a:latin typeface="Microsoft YaHei"/>
                <a:ea typeface="Microsoft YaHei"/>
              </a:rPr>
              <a:t xml:space="preserve"> ─</a:t>
            </a:r>
            <a:r>
              <a:rPr lang="zh-CN" sz="900">
                <a:solidFill>
                  <a:srgbClr val="FA4F24"/>
                </a:solidFill>
                <a:latin typeface="Microsoft YaHei"/>
                <a:ea typeface="Microsoft YaHei"/>
              </a:rPr>
              <a:t>位于→</a:t>
            </a:r>
            <a:r>
              <a:rPr lang="en-US" sz="900">
                <a:solidFill>
                  <a:srgbClr val="FA4F24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地址</a:t>
            </a:r>
            <a:endParaRPr/>
          </a:p>
          <a:p>
            <a:pPr>
              <a:lnSpc>
                <a:spcPct val="18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客户</a:t>
            </a:r>
            <a:r>
              <a:rPr lang="en-US" sz="900">
                <a:solidFill>
                  <a:srgbClr val="FA4F24"/>
                </a:solidFill>
                <a:latin typeface="Microsoft YaHei"/>
                <a:ea typeface="Microsoft YaHei"/>
              </a:rPr>
              <a:t xml:space="preserve"> ─</a:t>
            </a:r>
            <a:r>
              <a:rPr lang="zh-CN" sz="900">
                <a:solidFill>
                  <a:srgbClr val="FA4F24"/>
                </a:solidFill>
                <a:latin typeface="Microsoft YaHei"/>
                <a:ea typeface="Microsoft YaHei"/>
              </a:rPr>
              <a:t>关联→</a:t>
            </a:r>
            <a:r>
              <a:rPr lang="en-US" sz="900">
                <a:solidFill>
                  <a:srgbClr val="FA4F24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供应商</a:t>
            </a:r>
            <a:endParaRPr/>
          </a:p>
          <a:p>
            <a:pPr>
              <a:lnSpc>
                <a:spcPct val="18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客户</a:t>
            </a:r>
            <a:r>
              <a:rPr lang="en-US" sz="900">
                <a:solidFill>
                  <a:srgbClr val="FA4F24"/>
                </a:solidFill>
                <a:latin typeface="Microsoft YaHei"/>
                <a:ea typeface="Microsoft YaHei"/>
              </a:rPr>
              <a:t xml:space="preserve"> ─</a:t>
            </a:r>
            <a:r>
              <a:rPr lang="zh-CN" sz="900">
                <a:solidFill>
                  <a:srgbClr val="FA4F24"/>
                </a:solidFill>
                <a:latin typeface="Microsoft YaHei"/>
                <a:ea typeface="Microsoft YaHei"/>
              </a:rPr>
              <a:t>受约束于→</a:t>
            </a:r>
            <a:r>
              <a:rPr lang="en-US" sz="900">
                <a:solidFill>
                  <a:srgbClr val="FA4F24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合同与同意记录</a:t>
            </a:r>
            <a:endParaRPr/>
          </a:p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4933950" y="3686175"/>
            <a:ext cx="3209925" cy="381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这些关系在页面上就是链接类型；它们必须在主数据阶段就建好，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不能等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上线时再补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——那时没人说得清该补哪几条。</a:t>
            </a:r>
            <a:endParaRPr/>
          </a:p>
        </p:txBody>
      </p:sp>
      <p:sp>
        <p:nvSpPr>
          <p:cNvPr id="715" name=""/>
          <p:cNvSpPr/>
          <p:nvPr/>
        </p:nvSpPr>
        <p:spPr>
          <a:xfrm rot="0" flipH="0" flipV="0">
            <a:off x="8439150" y="1285875"/>
            <a:ext cx="3181350" cy="2905125"/>
          </a:xfrm>
          <a:prstGeom prst="roundRect">
            <a:avLst>
              <a:gd name="adj" fmla="val 131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716" name=""/>
          <p:cNvSpPr/>
          <p:nvPr/>
        </p:nvSpPr>
        <p:spPr>
          <a:xfrm rot="0" flipH="0" flipV="0">
            <a:off x="8439150" y="1285875"/>
            <a:ext cx="3181350" cy="2905125"/>
          </a:xfrm>
          <a:custGeom>
            <a:pathLst>
              <a:path w="334" h="305">
                <a:moveTo>
                  <a:pt x="4" y="305"/>
                </a:moveTo>
                <a:cubicBezTo>
                  <a:pt x="2" y="305"/>
                  <a:pt x="0" y="303"/>
                  <a:pt x="0" y="30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30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8601075" y="1514475"/>
            <a:ext cx="2819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给</a:t>
            </a:r>
            <a:r>
              <a:rPr lang="en-US" sz="105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用主数据的三个条件</a:t>
            </a:r>
            <a:endParaRPr/>
          </a:p>
        </p:txBody>
      </p:sp>
      <p:sp>
        <p:nvSpPr>
          <p:cNvPr id="718" name=""/>
          <p:cNvSpPr/>
          <p:nvPr/>
        </p:nvSpPr>
        <p:spPr>
          <a:xfrm rot="0" flipH="0" flipV="0">
            <a:off x="8601075" y="1762125"/>
            <a:ext cx="2819400" cy="6858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8696325" y="1838325"/>
            <a:ext cx="2628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能按自然语言问</a:t>
            </a:r>
            <a:endParaRPr/>
          </a:p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8696325" y="2000250"/>
            <a:ext cx="26289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要用自然语言调工具，实体查询必须能按业务语言表达，而不是只能拼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ID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721" name=""/>
          <p:cNvSpPr/>
          <p:nvPr/>
        </p:nvSpPr>
        <p:spPr>
          <a:xfrm rot="0" flipH="0" flipV="0">
            <a:off x="8601075" y="2524125"/>
            <a:ext cx="2819400" cy="6858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8696325" y="2600325"/>
            <a:ext cx="2628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带置信度与时效</a:t>
            </a:r>
            <a:endParaRPr/>
          </a:p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8696325" y="2762250"/>
            <a:ext cx="26289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返回结果要带「这个值来自哪、什么时候的、有多可信」，否则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无法判断该不该采信。</a:t>
            </a:r>
            <a:endParaRPr/>
          </a:p>
        </p:txBody>
      </p:sp>
      <p:sp>
        <p:nvSpPr>
          <p:cNvPr id="724" name=""/>
          <p:cNvSpPr/>
          <p:nvPr/>
        </p:nvSpPr>
        <p:spPr>
          <a:xfrm rot="0" flipH="0" flipV="0">
            <a:off x="8601075" y="3286125"/>
            <a:ext cx="2819400" cy="6858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8696325" y="3362325"/>
            <a:ext cx="2628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可作为动作入参</a:t>
            </a:r>
            <a:endParaRPr/>
          </a:p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8696325" y="3524250"/>
            <a:ext cx="26289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的动作类型要能直接引用实体对象，否则它只能把主数据当只读字典。</a:t>
            </a:r>
            <a:endParaRPr/>
          </a:p>
        </p:txBody>
      </p:sp>
      <p:sp>
        <p:nvSpPr>
          <p:cNvPr id="727" name=""/>
          <p:cNvSpPr/>
          <p:nvPr/>
        </p:nvSpPr>
        <p:spPr>
          <a:xfrm rot="0" flipH="0" flipV="0">
            <a:off x="609600" y="4286250"/>
            <a:ext cx="10972800" cy="1352550"/>
          </a:xfrm>
          <a:prstGeom prst="roundRect">
            <a:avLst>
              <a:gd name="adj" fmla="val 281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28" name="" descr="{&quot;isTemplate&quot;:true,&quot;type&quot;:&quot;text&quot;}"/>
          <p:cNvSpPr txBox="1"/>
          <p:nvPr/>
        </p:nvSpPr>
        <p:spPr>
          <a:xfrm rot="0" flipH="0" flipV="0">
            <a:off x="781050" y="4400550"/>
            <a:ext cx="10629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一个对比：</a:t>
            </a: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拿到「记录」和「上下文」时的差别</a:t>
            </a:r>
            <a:endParaRPr/>
          </a:p>
        </p:txBody>
      </p:sp>
      <p:sp>
        <p:nvSpPr>
          <p:cNvPr id="729" name=""/>
          <p:cNvSpPr/>
          <p:nvPr/>
        </p:nvSpPr>
        <p:spPr>
          <a:xfrm rot="0" flipH="0" flipV="0">
            <a:off x="809625" y="4657725"/>
            <a:ext cx="5267325" cy="866775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30" name=""/>
          <p:cNvSpPr/>
          <p:nvPr/>
        </p:nvSpPr>
        <p:spPr>
          <a:xfrm rot="0" flipH="0" flipV="0">
            <a:off x="809625" y="4657725"/>
            <a:ext cx="5267325" cy="866775"/>
          </a:xfrm>
          <a:custGeom>
            <a:pathLst>
              <a:path w="553" h="91">
                <a:moveTo>
                  <a:pt x="3" y="91"/>
                </a:moveTo>
                <a:cubicBezTo>
                  <a:pt x="1" y="91"/>
                  <a:pt x="0" y="90"/>
                  <a:pt x="0" y="8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1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923925" y="4752975"/>
            <a:ext cx="5010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只有黄金记录</a:t>
            </a:r>
            <a:endParaRPr/>
          </a:p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923925" y="4943475"/>
            <a:ext cx="5010150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能回答「这个客户叫什么、住哪、账号是多少」——这是数据问题。</a:t>
            </a:r>
            <a:endParaRPr/>
          </a:p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923925" y="5191125"/>
            <a:ext cx="501015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遇到「他能不能升级」这类跨域问题，只能靠猜，或者退回人工。</a:t>
            </a:r>
            <a:endParaRPr/>
          </a:p>
        </p:txBody>
      </p:sp>
      <p:sp>
        <p:nvSpPr>
          <p:cNvPr id="734" name=""/>
          <p:cNvSpPr/>
          <p:nvPr/>
        </p:nvSpPr>
        <p:spPr>
          <a:xfrm rot="0" flipH="0" flipV="0">
            <a:off x="6172200" y="4657725"/>
            <a:ext cx="5267325" cy="866775"/>
          </a:xfrm>
          <a:prstGeom prst="roundRect">
            <a:avLst>
              <a:gd name="adj" fmla="val 329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735" name=""/>
          <p:cNvSpPr/>
          <p:nvPr/>
        </p:nvSpPr>
        <p:spPr>
          <a:xfrm rot="0" flipH="0" flipV="0">
            <a:off x="6172200" y="4657725"/>
            <a:ext cx="5267325" cy="866775"/>
          </a:xfrm>
          <a:custGeom>
            <a:pathLst>
              <a:path w="553" h="91">
                <a:moveTo>
                  <a:pt x="3" y="91"/>
                </a:moveTo>
                <a:cubicBezTo>
                  <a:pt x="1" y="91"/>
                  <a:pt x="0" y="90"/>
                  <a:pt x="0" y="8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6286500" y="4752975"/>
            <a:ext cx="5010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黄金记录</a:t>
            </a:r>
            <a:r>
              <a:rPr lang="en-US" sz="938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关系与层级</a:t>
            </a:r>
            <a:endParaRPr/>
          </a:p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6286500" y="4943475"/>
            <a:ext cx="5010150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能沿链接遍历到家庭、产品、合同、工单、同意记录与监管限制，逐条检查后给出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有依据的建议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6286500" y="5191125"/>
            <a:ext cx="501015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这才从「查数据的机器人」变成「能推理的助手」。</a:t>
            </a:r>
            <a:endParaRPr/>
          </a:p>
        </p:txBody>
      </p:sp>
      <p:sp>
        <p:nvSpPr>
          <p:cNvPr id="739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740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主数据咨询方法论</a:t>
            </a:r>
            <a:endParaRPr/>
          </a:p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22 / 30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743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主数据 &lt;span style={{ color: '#FA4F24' }}&gt;×&lt;/span&gt; Ontology：主数据是本体的原生组成&#10;    &lt;/Text&gt;&#10;    &lt;Text style={{ fontSize: 20, color: '#8A8F99', marginTop: 8 }}&gt;&#10;      这一页解释了为什么在官方文档里找不到 MDM 模块——不是没有主数据，是它长成了对象类型&#10;    &lt;/Text&gt;&#10;  &lt;/Box&gt;&#10;  &lt;Box style={{ height: 1, background: '#E8E8E8' }} /&gt;&#10;&#10;  &lt;Box style={{ paddingTop: 14, paddingBottom: 8, height: 479, flexDirection: 'column', gap: 10 }}&gt;&#10;    &lt;Box style={{ height: 252, flexDirection: 'row', gap: 10 }}&gt;&#10;      &lt;Box style={{ flex: 1.2, background: '#0F1423', borderRadius: 4, padding: '13px 17px', flexDirection: 'column' }}&gt;&#10;        &lt;Text style={{ fontSize: 14, fontWeight: 'bold', color: '#FBA15C' }}&gt;对应关系表&lt;/Text&gt;&#10;        &lt;Box style={{ flex: 1, marginTop: 10, flexDirection: 'column', gap: 7 }}&gt;&#10;          {[&#10;            { a: '主数据域', b: '一组对象类型 + 一组链接类型' },&#10;            { a: '实体定义', b: '对象类型的属性与主键策略' },&#10;            { a: '黄金记录', b: '解析后的对象实例集合，带唯一规范主键' },&#10;            { a: '层级关系', b: '链接类型（多对多需自带数据源）' },&#10;            { a: '合并 / 拆分', b: '动作类型 + 解析元数据（可 unresolve）' },&#10;            { a: '维护权限', b: '提交条件 + 粒度授权' },&#10;          ].map((x, i) =&gt; (&#10;            &lt;Box key={x.a} style={{ flexDirection: 'row', gap: 9, alignItems: 'center' }}&gt;&#10;              &lt;Box style={{ width: 108, background: i === 4 ? 'rgba(250,79,36,0.24)' : 'rgba(255,255,255,0.07)', borderRadius: 3, padding: '6px 9px', borderLeft: '3px solid ' + (i === 4 ? '#FA4F24' : '#FBA15C') }}&gt;&#10;                &lt;Text style={{ fontSize: 11.5, fontWeight: 'bold', color: '#FFFFFF' }}&gt;{x.a}&lt;/Text&gt;&#10;              &lt;/Box&gt;&#10;              &lt;Text style={{ fontSize: 11.5, color: 'rgba(255,255,255,0.82)', flex: 1, lineHeight: 1.4 }}&gt;{x.b}&lt;/Text&gt;&#10;            &lt;/Box&gt;&#10;          ))}&#10;        &lt;/Box&gt;&#10;      &lt;/Box&gt;&#10;&#10;      &lt;Box style={{ flex: 1, background: '#FFF3EE', borderRadius: 4, padding: '13px 17px', flexDirection: 'column' }}&gt;&#10;        &lt;Text style={{ fontSize: 14, fontWeight: 'bold', color: '#C43A17' }}&gt;接口层解决了什么&lt;/Text&gt;&#10;        &lt;Text style={{ fontSize: 11.5, color: '#3A4050', marginTop: 7, lineHeight: 1.55, flex: 1 }}&gt;&#10;          接口描述一个对象类型的&lt;tspan style={{ fontWeight: 'bold' }}&gt;形状与能力&lt;/tspan&gt;，提供多态。可以定义一个「设备」接口，泵、风机、压缩机都是它的实现，共享通用属性。&#10;        &lt;/Text&gt;&#10;        &lt;Box style={{ flex: 1, marginTop: 9, background: '#FFFFFF', borderRadius: 3, padding: '9px 11px' }}&gt;&#10;          &lt;Text style={{ fontSize: 11.5, color: '#3A4050', lineHeight: 1.5 }}&gt;&#10;            &lt;tspan style={{ fontWeight: 'bold', color: '#C43A17' }}&gt;主数据天然需要抽象层。&lt;/tspan&gt;设备、资产、合同、客户——总有几个对象类型共享同一组属性与同一批可用动作。没有接口，就只能靠类型名硬判断。&#10;          &lt;/Text&gt;&#10;        &lt;/Box&gt;&#10;        &lt;Box style={{ marginTop: 9, background: '#FFFFFF', borderRadius: 3, padding: '9px 11px' }}&gt;&#10;          &lt;Text style={{ fontSize: 11.5, color: '#3A4050', lineHeight: 1.5 }}&gt;&#10;            官方还有一条动作规则叫&lt;tspan style={{ fontWeight: 'bold' }}&gt;接口规则&lt;/tspan&gt;：可以对实现了同一接口的任意对象类型生效——这是主数据规则能跨类型复用的关键。&#10;          &lt;/Text&gt;&#10;        &lt;/Box&gt;&#10;      &lt;/Box&gt;&#10;&#10;      &lt;Box style={{ flex: 0.85, background: '#FFFFFF', border: '1px solid #E8E8E8', borderRadius: 4, padding: '13px 17px', flexDirection: 'column', justifyContent: 'center' }}&gt;&#10;        &lt;Text style={{ fontSize: 14, fontWeight: 'bold', color: '#0F1423' }}&gt;一条现实的边界&lt;/Text&gt;&#10;        &lt;Text style={{ fontSize: 12, color: '#3A4050', marginTop: 7, lineHeight: 1.6 }}&gt;&#10;          官方明确：&lt;tspan style={{ fontWeight: 'bold', color: '#C43A17' }}&gt;不同本体之间的对象类型之间不支持链接&lt;/tspan&gt;。&#10;        &lt;/Text&gt;&#10;        &lt;Text style={{ fontSize: 12, color: '#3A4050', marginTop: 8, lineHeight: 1.6 }}&gt;&#10;          这不是技术缺陷，是设计取向——跨域需求要么合并本体，要么走接口。&lt;tspan style={{ fontWeight: 'bold' }}&gt;主数据域切得越碎，跨域实体关系就越建不起来&lt;/tspan&gt;，这是一个必须提前做的架构决策。&#10;        &lt;/Text&gt;&#10;      &lt;/Box&gt;&#10;    &lt;/Box&gt;&#10;&#10;    &lt;Box style={{ flex: 1, background: '#F7F7F8', borderRadius: 4, padding: '12px 18px', flexDirection: 'column' }}&gt;&#10;      &lt;Text style={{ fontSize: 14, fontWeight: 'bold', color: '#0F1423' }}&gt;因此在本体里，主数据域要交付的五样东西&lt;/Text&gt;&#10;      &lt;Box style={{ flex: 1, flexDirection: 'row', gap: 8, marginTop: 10 }}&gt;&#10;        {[&#10;          { n: '01', t: '对象类型定义', d: '属性、主键策略、必填与校验规则' },&#10;          { n: '02', t: '链接类型定义', d: '层级与业务关系，含基数决策' },&#10;          { n: '03', t: '接口抽象', d: '共享形状的对象类型用接口统一' },&#10;          { n: '04', t: '动作类型', d: '创建、改属性、合并、拆分，含提交条件' },&#10;          { n: '05', t: '回写与权限', d: 'writeback 数据集 + 源数据的权限分离' },&#10;        ].map((x) =&gt; (&#10;          &lt;Box key={x.n} style={{ flex: 1, background: '#FFFFFF', borderRadius: 3, borderTop: '3px solid #FA4F24', padding: '10px 12px', flexDirection: 'column' }}&gt;&#10;            &lt;Text style={{ fontSize: 16, fontWeight: 'bold', color: '#FA4F24' }}&gt;{x.n}&lt;/Text&gt;&#10;            &lt;Text style={{ fontSize: 12.5, fontWeight: 'bold', color: '#0F1423', marginTop: 5 }}&gt;{x.t}&lt;/Text&gt;&#10;            &lt;Text style={{ fontSize: 11, color: '#3A4050', marginTop: 6, lineHeight: 1.5, flex: 1 }}&gt;{x.d}&lt;/Text&gt;&#10;          &lt;/Box&gt;&#10;        ))}&#10;      &lt;/Box&gt;&#10;      &lt;Text style={{ fontSize: 11, color: '#8A8F99', marginTop: 8, lineHeight: 1.4 }}&gt;&#10;        顺序建议：先 01 与 02（类型与关系），再 05（权限与回写），最后 03 与 04（抽象与动作）。反过来做，动作会散落在各应用里。&#10;      &lt;/Text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主数据咨询方法论&lt;/Text&gt;&#10;    &lt;Text style={{ fontSize: 13, color: '#8A8F99', marginLeft: 'auto' }}&gt;23 / 3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45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主数据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</a:t>
            </a:r>
            <a:r>
              <a:rPr sz="2400" b="1">
                <a:solidFill>
                  <a:srgbClr val="FA4F24"/>
                </a:solidFill>
                <a:latin typeface="Microsoft YaHei"/>
                <a:ea typeface="Microsoft YaHei"/>
              </a:rPr>
              <a:t>×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Ontology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：主数据是本体的原生组成</a:t>
            </a:r>
            <a:endParaRPr/>
          </a:p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这一页解释了为什么在官方文档里找不到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MDM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模块——不是没有主数据，是它长成了对象类型</a:t>
            </a:r>
            <a:endParaRPr/>
          </a:p>
        </p:txBody>
      </p:sp>
      <p:sp>
        <p:nvSpPr>
          <p:cNvPr id="747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748" name=""/>
          <p:cNvSpPr/>
          <p:nvPr/>
        </p:nvSpPr>
        <p:spPr>
          <a:xfrm rot="0" flipH="0" flipV="0">
            <a:off x="609600" y="1285875"/>
            <a:ext cx="4238625" cy="2400300"/>
          </a:xfrm>
          <a:prstGeom prst="roundRect">
            <a:avLst>
              <a:gd name="adj" fmla="val 158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749" name="" descr="{&quot;isTemplate&quot;:true,&quot;type&quot;:&quot;text&quot;}"/>
          <p:cNvSpPr txBox="1"/>
          <p:nvPr/>
        </p:nvSpPr>
        <p:spPr>
          <a:xfrm rot="0" flipH="0" flipV="0">
            <a:off x="771525" y="1409700"/>
            <a:ext cx="3914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对应关系表</a:t>
            </a:r>
            <a:endParaRPr/>
          </a:p>
        </p:txBody>
      </p:sp>
      <p:sp>
        <p:nvSpPr>
          <p:cNvPr id="750" name=""/>
          <p:cNvSpPr/>
          <p:nvPr/>
        </p:nvSpPr>
        <p:spPr>
          <a:xfrm rot="0" flipH="0" flipV="0">
            <a:off x="800100" y="1666875"/>
            <a:ext cx="1000125" cy="247650"/>
          </a:xfrm>
          <a:prstGeom prst="roundRect">
            <a:avLst>
              <a:gd name="adj" fmla="val 1153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751" name=""/>
          <p:cNvSpPr/>
          <p:nvPr/>
        </p:nvSpPr>
        <p:spPr>
          <a:xfrm rot="0" flipH="0" flipV="0">
            <a:off x="800100" y="1666875"/>
            <a:ext cx="1000125" cy="247650"/>
          </a:xfrm>
          <a:custGeom>
            <a:pathLst>
              <a:path w="105" h="26">
                <a:moveTo>
                  <a:pt x="3" y="26"/>
                </a:moveTo>
                <a:cubicBezTo>
                  <a:pt x="1" y="26"/>
                  <a:pt x="0" y="25"/>
                  <a:pt x="0" y="2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26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885825" y="1724025"/>
            <a:ext cx="828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FFFFF"/>
                </a:solidFill>
                <a:latin typeface="Microsoft YaHei"/>
                <a:ea typeface="Microsoft YaHei"/>
              </a:rPr>
              <a:t>主数据域</a:t>
            </a:r>
            <a:endParaRPr/>
          </a:p>
        </p:txBody>
      </p:sp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1885950" y="1695450"/>
            <a:ext cx="28003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一组对象类型</a:t>
            </a:r>
            <a:r>
              <a:rPr lang="en-US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一组链接类型</a:t>
            </a:r>
            <a:endParaRPr/>
          </a:p>
        </p:txBody>
      </p:sp>
      <p:sp>
        <p:nvSpPr>
          <p:cNvPr id="754" name=""/>
          <p:cNvSpPr/>
          <p:nvPr/>
        </p:nvSpPr>
        <p:spPr>
          <a:xfrm rot="0" flipH="0" flipV="0">
            <a:off x="800100" y="1981200"/>
            <a:ext cx="1000125" cy="247650"/>
          </a:xfrm>
          <a:prstGeom prst="roundRect">
            <a:avLst>
              <a:gd name="adj" fmla="val 1153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755" name=""/>
          <p:cNvSpPr/>
          <p:nvPr/>
        </p:nvSpPr>
        <p:spPr>
          <a:xfrm rot="0" flipH="0" flipV="0">
            <a:off x="800100" y="1981200"/>
            <a:ext cx="1000125" cy="247650"/>
          </a:xfrm>
          <a:custGeom>
            <a:pathLst>
              <a:path w="105" h="26">
                <a:moveTo>
                  <a:pt x="3" y="26"/>
                </a:moveTo>
                <a:cubicBezTo>
                  <a:pt x="1" y="26"/>
                  <a:pt x="0" y="25"/>
                  <a:pt x="0" y="2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26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756" name="" descr="{&quot;isTemplate&quot;:true,&quot;type&quot;:&quot;text&quot;}"/>
          <p:cNvSpPr txBox="1"/>
          <p:nvPr/>
        </p:nvSpPr>
        <p:spPr>
          <a:xfrm rot="0" flipH="0" flipV="0">
            <a:off x="885825" y="2038350"/>
            <a:ext cx="828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FFFFF"/>
                </a:solidFill>
                <a:latin typeface="Microsoft YaHei"/>
                <a:ea typeface="Microsoft YaHei"/>
              </a:rPr>
              <a:t>实体定义</a:t>
            </a:r>
            <a:endParaRPr/>
          </a:p>
        </p:txBody>
      </p:sp>
      <p:sp>
        <p:nvSpPr>
          <p:cNvPr id="757" name="" descr="{&quot;isTemplate&quot;:true,&quot;type&quot;:&quot;text&quot;}"/>
          <p:cNvSpPr txBox="1"/>
          <p:nvPr/>
        </p:nvSpPr>
        <p:spPr>
          <a:xfrm rot="0" flipH="0" flipV="0">
            <a:off x="1885950" y="2009775"/>
            <a:ext cx="28003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对象类型的属性与主键策略</a:t>
            </a:r>
            <a:endParaRPr/>
          </a:p>
        </p:txBody>
      </p:sp>
      <p:sp>
        <p:nvSpPr>
          <p:cNvPr id="758" name=""/>
          <p:cNvSpPr/>
          <p:nvPr/>
        </p:nvSpPr>
        <p:spPr>
          <a:xfrm rot="0" flipH="0" flipV="0">
            <a:off x="800100" y="2295525"/>
            <a:ext cx="1000125" cy="247650"/>
          </a:xfrm>
          <a:prstGeom prst="roundRect">
            <a:avLst>
              <a:gd name="adj" fmla="val 1153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759" name=""/>
          <p:cNvSpPr/>
          <p:nvPr/>
        </p:nvSpPr>
        <p:spPr>
          <a:xfrm rot="0" flipH="0" flipV="0">
            <a:off x="800100" y="2295525"/>
            <a:ext cx="1000125" cy="247650"/>
          </a:xfrm>
          <a:custGeom>
            <a:pathLst>
              <a:path w="105" h="26">
                <a:moveTo>
                  <a:pt x="3" y="26"/>
                </a:moveTo>
                <a:cubicBezTo>
                  <a:pt x="1" y="26"/>
                  <a:pt x="0" y="25"/>
                  <a:pt x="0" y="2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26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760" name="" descr="{&quot;isTemplate&quot;:true,&quot;type&quot;:&quot;text&quot;}"/>
          <p:cNvSpPr txBox="1"/>
          <p:nvPr/>
        </p:nvSpPr>
        <p:spPr>
          <a:xfrm rot="0" flipH="0" flipV="0">
            <a:off x="885825" y="2352675"/>
            <a:ext cx="828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FFFFF"/>
                </a:solidFill>
                <a:latin typeface="Microsoft YaHei"/>
                <a:ea typeface="Microsoft YaHei"/>
              </a:rPr>
              <a:t>黄金记录</a:t>
            </a:r>
            <a:endParaRPr/>
          </a:p>
        </p:txBody>
      </p:sp>
      <p:sp>
        <p:nvSpPr>
          <p:cNvPr id="761" name="" descr="{&quot;isTemplate&quot;:true,&quot;type&quot;:&quot;text&quot;}"/>
          <p:cNvSpPr txBox="1"/>
          <p:nvPr/>
        </p:nvSpPr>
        <p:spPr>
          <a:xfrm rot="0" flipH="0" flipV="0">
            <a:off x="1885950" y="2324100"/>
            <a:ext cx="28003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解析后的对象实例集合，带唯一规范主键</a:t>
            </a:r>
            <a:endParaRPr/>
          </a:p>
        </p:txBody>
      </p:sp>
      <p:sp>
        <p:nvSpPr>
          <p:cNvPr id="762" name=""/>
          <p:cNvSpPr/>
          <p:nvPr/>
        </p:nvSpPr>
        <p:spPr>
          <a:xfrm rot="0" flipH="0" flipV="0">
            <a:off x="800100" y="2609850"/>
            <a:ext cx="1000125" cy="247650"/>
          </a:xfrm>
          <a:prstGeom prst="roundRect">
            <a:avLst>
              <a:gd name="adj" fmla="val 1153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763" name=""/>
          <p:cNvSpPr/>
          <p:nvPr/>
        </p:nvSpPr>
        <p:spPr>
          <a:xfrm rot="0" flipH="0" flipV="0">
            <a:off x="800100" y="2609850"/>
            <a:ext cx="1000125" cy="247650"/>
          </a:xfrm>
          <a:custGeom>
            <a:pathLst>
              <a:path w="105" h="26">
                <a:moveTo>
                  <a:pt x="3" y="26"/>
                </a:moveTo>
                <a:cubicBezTo>
                  <a:pt x="1" y="26"/>
                  <a:pt x="0" y="25"/>
                  <a:pt x="0" y="2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26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764" name="" descr="{&quot;isTemplate&quot;:true,&quot;type&quot;:&quot;text&quot;}"/>
          <p:cNvSpPr txBox="1"/>
          <p:nvPr/>
        </p:nvSpPr>
        <p:spPr>
          <a:xfrm rot="0" flipH="0" flipV="0">
            <a:off x="885825" y="2667000"/>
            <a:ext cx="828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FFFFF"/>
                </a:solidFill>
                <a:latin typeface="Microsoft YaHei"/>
                <a:ea typeface="Microsoft YaHei"/>
              </a:rPr>
              <a:t>层级关系</a:t>
            </a:r>
            <a:endParaRPr/>
          </a:p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1885950" y="2638425"/>
            <a:ext cx="28003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链接类型（多对多需自带数据源）</a:t>
            </a:r>
            <a:endParaRPr/>
          </a:p>
        </p:txBody>
      </p:sp>
      <p:sp>
        <p:nvSpPr>
          <p:cNvPr id="766" name=""/>
          <p:cNvSpPr/>
          <p:nvPr/>
        </p:nvSpPr>
        <p:spPr>
          <a:xfrm rot="0" flipH="0" flipV="0">
            <a:off x="800100" y="2924175"/>
            <a:ext cx="1000125" cy="247650"/>
          </a:xfrm>
          <a:prstGeom prst="roundRect">
            <a:avLst>
              <a:gd name="adj" fmla="val 11538"/>
            </a:avLst>
          </a:prstGeom>
          <a:solidFill>
            <a:srgbClr val="FA4F24">
              <a:alpha val="24000"/>
            </a:srgbClr>
          </a:solidFill>
          <a:ln/>
        </p:spPr>
        <p:txBody>
          <a:bodyPr/>
          <a:p/>
        </p:txBody>
      </p:sp>
      <p:sp>
        <p:nvSpPr>
          <p:cNvPr id="767" name=""/>
          <p:cNvSpPr/>
          <p:nvPr/>
        </p:nvSpPr>
        <p:spPr>
          <a:xfrm rot="0" flipH="0" flipV="0">
            <a:off x="800100" y="2924175"/>
            <a:ext cx="1000125" cy="247650"/>
          </a:xfrm>
          <a:custGeom>
            <a:pathLst>
              <a:path w="105" h="26">
                <a:moveTo>
                  <a:pt x="3" y="26"/>
                </a:moveTo>
                <a:cubicBezTo>
                  <a:pt x="1" y="26"/>
                  <a:pt x="0" y="25"/>
                  <a:pt x="0" y="2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2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68" name="" descr="{&quot;isTemplate&quot;:true,&quot;type&quot;:&quot;text&quot;}"/>
          <p:cNvSpPr txBox="1"/>
          <p:nvPr/>
        </p:nvSpPr>
        <p:spPr>
          <a:xfrm rot="0" flipH="0" flipV="0">
            <a:off x="885825" y="2981325"/>
            <a:ext cx="828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FFFFF"/>
                </a:solidFill>
                <a:latin typeface="Microsoft YaHei"/>
                <a:ea typeface="Microsoft YaHei"/>
              </a:rPr>
              <a:t>合并</a:t>
            </a:r>
            <a:r>
              <a:rPr lang="en-US" sz="863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 b="1">
                <a:solidFill>
                  <a:srgbClr val="FFFFFF"/>
                </a:solidFill>
                <a:latin typeface="Microsoft YaHei"/>
                <a:ea typeface="Microsoft YaHei"/>
              </a:rPr>
              <a:t>拆分</a:t>
            </a:r>
            <a:endParaRPr/>
          </a:p>
        </p:txBody>
      </p:sp>
      <p:sp>
        <p:nvSpPr>
          <p:cNvPr id="769" name="" descr="{&quot;isTemplate&quot;:true,&quot;type&quot;:&quot;text&quot;}"/>
          <p:cNvSpPr txBox="1"/>
          <p:nvPr/>
        </p:nvSpPr>
        <p:spPr>
          <a:xfrm rot="0" flipH="0" flipV="0">
            <a:off x="1885950" y="2952750"/>
            <a:ext cx="28003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动作类型</a:t>
            </a:r>
            <a:r>
              <a:rPr lang="en-US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解析元数据（可</a:t>
            </a:r>
            <a:r>
              <a:rPr lang="en-US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unresolve</a:t>
            </a: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770" name=""/>
          <p:cNvSpPr/>
          <p:nvPr/>
        </p:nvSpPr>
        <p:spPr>
          <a:xfrm rot="0" flipH="0" flipV="0">
            <a:off x="800100" y="3238500"/>
            <a:ext cx="1000125" cy="247650"/>
          </a:xfrm>
          <a:prstGeom prst="roundRect">
            <a:avLst>
              <a:gd name="adj" fmla="val 1153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771" name=""/>
          <p:cNvSpPr/>
          <p:nvPr/>
        </p:nvSpPr>
        <p:spPr>
          <a:xfrm rot="0" flipH="0" flipV="0">
            <a:off x="800100" y="3238500"/>
            <a:ext cx="1000125" cy="247650"/>
          </a:xfrm>
          <a:custGeom>
            <a:pathLst>
              <a:path w="105" h="26">
                <a:moveTo>
                  <a:pt x="3" y="26"/>
                </a:moveTo>
                <a:cubicBezTo>
                  <a:pt x="1" y="26"/>
                  <a:pt x="0" y="25"/>
                  <a:pt x="0" y="2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26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772" name="" descr="{&quot;isTemplate&quot;:true,&quot;type&quot;:&quot;text&quot;}"/>
          <p:cNvSpPr txBox="1"/>
          <p:nvPr/>
        </p:nvSpPr>
        <p:spPr>
          <a:xfrm rot="0" flipH="0" flipV="0">
            <a:off x="885825" y="3295650"/>
            <a:ext cx="828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FFFFF"/>
                </a:solidFill>
                <a:latin typeface="Microsoft YaHei"/>
                <a:ea typeface="Microsoft YaHei"/>
              </a:rPr>
              <a:t>维护权限</a:t>
            </a:r>
            <a:endParaRPr/>
          </a:p>
        </p:txBody>
      </p:sp>
      <p:sp>
        <p:nvSpPr>
          <p:cNvPr id="773" name="" descr="{&quot;isTemplate&quot;:true,&quot;type&quot;:&quot;text&quot;}"/>
          <p:cNvSpPr txBox="1"/>
          <p:nvPr/>
        </p:nvSpPr>
        <p:spPr>
          <a:xfrm rot="0" flipH="0" flipV="0">
            <a:off x="1885950" y="3267075"/>
            <a:ext cx="28003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提交条件</a:t>
            </a:r>
            <a:r>
              <a:rPr lang="en-US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粒度授权</a:t>
            </a:r>
            <a:endParaRPr/>
          </a:p>
        </p:txBody>
      </p:sp>
      <p:sp>
        <p:nvSpPr>
          <p:cNvPr id="774" name=""/>
          <p:cNvSpPr/>
          <p:nvPr/>
        </p:nvSpPr>
        <p:spPr>
          <a:xfrm rot="0" flipH="0" flipV="0">
            <a:off x="4943475" y="1285875"/>
            <a:ext cx="3543300" cy="2400300"/>
          </a:xfrm>
          <a:prstGeom prst="roundRect">
            <a:avLst>
              <a:gd name="adj" fmla="val 158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775" name="" descr="{&quot;isTemplate&quot;:true,&quot;type&quot;:&quot;text&quot;}"/>
          <p:cNvSpPr txBox="1"/>
          <p:nvPr/>
        </p:nvSpPr>
        <p:spPr>
          <a:xfrm rot="0" flipH="0" flipV="0">
            <a:off x="5105400" y="1409700"/>
            <a:ext cx="3219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接口层解决了什么</a:t>
            </a:r>
            <a:endParaRPr/>
          </a:p>
        </p:txBody>
      </p:sp>
      <p:sp>
        <p:nvSpPr>
          <p:cNvPr id="776" name="" descr="{&quot;isTemplate&quot;:true,&quot;type&quot;:&quot;text&quot;}"/>
          <p:cNvSpPr txBox="1"/>
          <p:nvPr/>
        </p:nvSpPr>
        <p:spPr>
          <a:xfrm rot="0" flipH="0" flipV="0">
            <a:off x="5105400" y="1638300"/>
            <a:ext cx="3219450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接口描述一个对象类型的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形状与能力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，提供多态。可以定义一个「设备」接口，泵、风机、压缩机都是它的实现，共享通用属性。</a:t>
            </a:r>
            <a:endParaRPr/>
          </a:p>
        </p:txBody>
      </p:sp>
      <p:sp>
        <p:nvSpPr>
          <p:cNvPr id="777" name=""/>
          <p:cNvSpPr/>
          <p:nvPr/>
        </p:nvSpPr>
        <p:spPr>
          <a:xfrm rot="0" flipH="0" flipV="0">
            <a:off x="5105400" y="2133600"/>
            <a:ext cx="3219450" cy="771525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78" name="" descr="{&quot;isTemplate&quot;:true,&quot;type&quot;:&quot;text&quot;}"/>
          <p:cNvSpPr txBox="1"/>
          <p:nvPr/>
        </p:nvSpPr>
        <p:spPr>
          <a:xfrm rot="0" flipH="0" flipV="0">
            <a:off x="5210175" y="2219325"/>
            <a:ext cx="30099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主数据天然需要抽象层。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设备、资产、合同、客户——总有几个对象类型共享同一组属性与同一批可用动作。没有接口，就只能靠类型名硬判断。</a:t>
            </a:r>
            <a:endParaRPr/>
          </a:p>
        </p:txBody>
      </p:sp>
      <p:sp>
        <p:nvSpPr>
          <p:cNvPr id="779" name=""/>
          <p:cNvSpPr/>
          <p:nvPr/>
        </p:nvSpPr>
        <p:spPr>
          <a:xfrm rot="0" flipH="0" flipV="0">
            <a:off x="5105400" y="2990850"/>
            <a:ext cx="3219450" cy="571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80" name="" descr="{&quot;isTemplate&quot;:true,&quot;type&quot;:&quot;text&quot;}"/>
          <p:cNvSpPr txBox="1"/>
          <p:nvPr/>
        </p:nvSpPr>
        <p:spPr>
          <a:xfrm rot="0" flipH="0" flipV="0">
            <a:off x="5210175" y="3076575"/>
            <a:ext cx="30099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官方还有一条动作规则叫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接口规则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：可以对实现了同一接口的任意对象类型生效——这是主数据规则能跨类型复用的关键。</a:t>
            </a:r>
            <a:endParaRPr/>
          </a:p>
        </p:txBody>
      </p:sp>
      <p:sp>
        <p:nvSpPr>
          <p:cNvPr id="781" name=""/>
          <p:cNvSpPr/>
          <p:nvPr/>
        </p:nvSpPr>
        <p:spPr>
          <a:xfrm rot="0" flipH="0" flipV="0">
            <a:off x="8582025" y="1285875"/>
            <a:ext cx="3000375" cy="240030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782" name="" descr="{&quot;isTemplate&quot;:true,&quot;type&quot;:&quot;text&quot;}"/>
          <p:cNvSpPr txBox="1"/>
          <p:nvPr/>
        </p:nvSpPr>
        <p:spPr>
          <a:xfrm rot="0" flipH="0" flipV="0">
            <a:off x="8743950" y="1781175"/>
            <a:ext cx="2676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一条现实的边界</a:t>
            </a:r>
            <a:endParaRPr/>
          </a:p>
        </p:txBody>
      </p:sp>
      <p:sp>
        <p:nvSpPr>
          <p:cNvPr id="783" name="" descr="{&quot;isTemplate&quot;:true,&quot;type&quot;:&quot;text&quot;}"/>
          <p:cNvSpPr txBox="1"/>
          <p:nvPr/>
        </p:nvSpPr>
        <p:spPr>
          <a:xfrm rot="0" flipH="0" flipV="0">
            <a:off x="8743950" y="2009775"/>
            <a:ext cx="267652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官方明确：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不同本体之间的对象类型之间不支持链接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784" name="" descr="{&quot;isTemplate&quot;:true,&quot;type&quot;:&quot;text&quot;}"/>
          <p:cNvSpPr txBox="1"/>
          <p:nvPr/>
        </p:nvSpPr>
        <p:spPr>
          <a:xfrm rot="0" flipH="0" flipV="0">
            <a:off x="8743950" y="2533650"/>
            <a:ext cx="267652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这不是技术缺陷，是设计取向——跨域需求要么合并本体，要么走接口。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主数据域切得越碎，跨域实体关系就越建不起来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，这是一个必须提前做的架构决策。</a:t>
            </a:r>
            <a:endParaRPr/>
          </a:p>
        </p:txBody>
      </p:sp>
      <p:sp>
        <p:nvSpPr>
          <p:cNvPr id="785" name=""/>
          <p:cNvSpPr/>
          <p:nvPr/>
        </p:nvSpPr>
        <p:spPr>
          <a:xfrm rot="0" flipH="0" flipV="0">
            <a:off x="609600" y="3781425"/>
            <a:ext cx="10972800" cy="1857375"/>
          </a:xfrm>
          <a:prstGeom prst="roundRect">
            <a:avLst>
              <a:gd name="adj" fmla="val 205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781050" y="3895725"/>
            <a:ext cx="10629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因此在本体里，主数据域要交付的五样东西</a:t>
            </a:r>
            <a:endParaRPr/>
          </a:p>
        </p:txBody>
      </p:sp>
      <p:sp>
        <p:nvSpPr>
          <p:cNvPr id="787" name=""/>
          <p:cNvSpPr/>
          <p:nvPr/>
        </p:nvSpPr>
        <p:spPr>
          <a:xfrm rot="0" flipH="0" flipV="0">
            <a:off x="781050" y="4181475"/>
            <a:ext cx="2066925" cy="1114425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88" name=""/>
          <p:cNvSpPr/>
          <p:nvPr/>
        </p:nvSpPr>
        <p:spPr>
          <a:xfrm rot="0" flipH="0" flipV="0">
            <a:off x="781050" y="4181475"/>
            <a:ext cx="2066925" cy="1114425"/>
          </a:xfrm>
          <a:custGeom>
            <a:pathLst>
              <a:path w="217" h="117">
                <a:moveTo>
                  <a:pt x="214" y="0"/>
                </a:moveTo>
                <a:cubicBezTo>
                  <a:pt x="216" y="0"/>
                  <a:pt x="217" y="1"/>
                  <a:pt x="217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1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895350" y="4276725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790" name="" descr="{&quot;isTemplate&quot;:true,&quot;type&quot;:&quot;text&quot;}"/>
          <p:cNvSpPr txBox="1"/>
          <p:nvPr/>
        </p:nvSpPr>
        <p:spPr>
          <a:xfrm rot="0" flipH="0" flipV="0">
            <a:off x="895350" y="4514850"/>
            <a:ext cx="1838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对象类型定义</a:t>
            </a:r>
            <a:endParaRPr/>
          </a:p>
        </p:txBody>
      </p:sp>
      <p:sp>
        <p:nvSpPr>
          <p:cNvPr id="791" name="" descr="{&quot;isTemplate&quot;:true,&quot;type&quot;:&quot;text&quot;}"/>
          <p:cNvSpPr txBox="1"/>
          <p:nvPr/>
        </p:nvSpPr>
        <p:spPr>
          <a:xfrm rot="0" flipH="0" flipV="0">
            <a:off x="895350" y="4714875"/>
            <a:ext cx="1838325" cy="4572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属性、主键策略、必填与校验规则</a:t>
            </a:r>
            <a:endParaRPr/>
          </a:p>
        </p:txBody>
      </p:sp>
      <p:sp>
        <p:nvSpPr>
          <p:cNvPr id="792" name=""/>
          <p:cNvSpPr/>
          <p:nvPr/>
        </p:nvSpPr>
        <p:spPr>
          <a:xfrm rot="0" flipH="0" flipV="0">
            <a:off x="2924175" y="4181475"/>
            <a:ext cx="2066925" cy="1114425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93" name=""/>
          <p:cNvSpPr/>
          <p:nvPr/>
        </p:nvSpPr>
        <p:spPr>
          <a:xfrm rot="0" flipH="0" flipV="0">
            <a:off x="2924175" y="4181475"/>
            <a:ext cx="2066925" cy="1114425"/>
          </a:xfrm>
          <a:custGeom>
            <a:pathLst>
              <a:path w="217" h="117">
                <a:moveTo>
                  <a:pt x="214" y="0"/>
                </a:moveTo>
                <a:cubicBezTo>
                  <a:pt x="216" y="0"/>
                  <a:pt x="217" y="1"/>
                  <a:pt x="217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1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94" name="" descr="{&quot;isTemplate&quot;:true,&quot;type&quot;:&quot;text&quot;}"/>
          <p:cNvSpPr txBox="1"/>
          <p:nvPr/>
        </p:nvSpPr>
        <p:spPr>
          <a:xfrm rot="0" flipH="0" flipV="0">
            <a:off x="3038475" y="4276725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3038475" y="4514850"/>
            <a:ext cx="1838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链接类型定义</a:t>
            </a:r>
            <a:endParaRPr/>
          </a:p>
        </p:txBody>
      </p:sp>
      <p:sp>
        <p:nvSpPr>
          <p:cNvPr id="796" name="" descr="{&quot;isTemplate&quot;:true,&quot;type&quot;:&quot;text&quot;}"/>
          <p:cNvSpPr txBox="1"/>
          <p:nvPr/>
        </p:nvSpPr>
        <p:spPr>
          <a:xfrm rot="0" flipH="0" flipV="0">
            <a:off x="3038475" y="4714875"/>
            <a:ext cx="1838325" cy="4572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层级与业务关系，含基数决策</a:t>
            </a:r>
            <a:endParaRPr/>
          </a:p>
        </p:txBody>
      </p:sp>
      <p:sp>
        <p:nvSpPr>
          <p:cNvPr id="797" name=""/>
          <p:cNvSpPr/>
          <p:nvPr/>
        </p:nvSpPr>
        <p:spPr>
          <a:xfrm rot="0" flipH="0" flipV="0">
            <a:off x="5067300" y="4181475"/>
            <a:ext cx="2057400" cy="1114425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98" name=""/>
          <p:cNvSpPr/>
          <p:nvPr/>
        </p:nvSpPr>
        <p:spPr>
          <a:xfrm rot="0" flipH="0" flipV="0">
            <a:off x="5067300" y="4181475"/>
            <a:ext cx="2057400" cy="1114425"/>
          </a:xfrm>
          <a:custGeom>
            <a:pathLst>
              <a:path w="216" h="117">
                <a:moveTo>
                  <a:pt x="213" y="0"/>
                </a:moveTo>
                <a:cubicBezTo>
                  <a:pt x="215" y="0"/>
                  <a:pt x="216" y="1"/>
                  <a:pt x="216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13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99" name="" descr="{&quot;isTemplate&quot;:true,&quot;type&quot;:&quot;text&quot;}"/>
          <p:cNvSpPr txBox="1"/>
          <p:nvPr/>
        </p:nvSpPr>
        <p:spPr>
          <a:xfrm rot="0" flipH="0" flipV="0">
            <a:off x="5181600" y="4276725"/>
            <a:ext cx="1828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800" name="" descr="{&quot;isTemplate&quot;:true,&quot;type&quot;:&quot;text&quot;}"/>
          <p:cNvSpPr txBox="1"/>
          <p:nvPr/>
        </p:nvSpPr>
        <p:spPr>
          <a:xfrm rot="0" flipH="0" flipV="0">
            <a:off x="5181600" y="4514850"/>
            <a:ext cx="1828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接口抽象</a:t>
            </a:r>
            <a:endParaRPr/>
          </a:p>
        </p:txBody>
      </p:sp>
      <p:sp>
        <p:nvSpPr>
          <p:cNvPr id="801" name="" descr="{&quot;isTemplate&quot;:true,&quot;type&quot;:&quot;text&quot;}"/>
          <p:cNvSpPr txBox="1"/>
          <p:nvPr/>
        </p:nvSpPr>
        <p:spPr>
          <a:xfrm rot="0" flipH="0" flipV="0">
            <a:off x="5181600" y="4714875"/>
            <a:ext cx="1828800" cy="4572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共享形状的对象类型用接口统一</a:t>
            </a:r>
            <a:endParaRPr/>
          </a:p>
        </p:txBody>
      </p:sp>
      <p:sp>
        <p:nvSpPr>
          <p:cNvPr id="802" name=""/>
          <p:cNvSpPr/>
          <p:nvPr/>
        </p:nvSpPr>
        <p:spPr>
          <a:xfrm rot="0" flipH="0" flipV="0">
            <a:off x="7200900" y="4181475"/>
            <a:ext cx="2066925" cy="1114425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3" name=""/>
          <p:cNvSpPr/>
          <p:nvPr/>
        </p:nvSpPr>
        <p:spPr>
          <a:xfrm rot="0" flipH="0" flipV="0">
            <a:off x="7200900" y="4181475"/>
            <a:ext cx="2066925" cy="1114425"/>
          </a:xfrm>
          <a:custGeom>
            <a:pathLst>
              <a:path w="217" h="117">
                <a:moveTo>
                  <a:pt x="214" y="0"/>
                </a:moveTo>
                <a:cubicBezTo>
                  <a:pt x="216" y="0"/>
                  <a:pt x="217" y="1"/>
                  <a:pt x="217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1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804" name="" descr="{&quot;isTemplate&quot;:true,&quot;type&quot;:&quot;text&quot;}"/>
          <p:cNvSpPr txBox="1"/>
          <p:nvPr/>
        </p:nvSpPr>
        <p:spPr>
          <a:xfrm rot="0" flipH="0" flipV="0">
            <a:off x="7315200" y="4276725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805" name="" descr="{&quot;isTemplate&quot;:true,&quot;type&quot;:&quot;text&quot;}"/>
          <p:cNvSpPr txBox="1"/>
          <p:nvPr/>
        </p:nvSpPr>
        <p:spPr>
          <a:xfrm rot="0" flipH="0" flipV="0">
            <a:off x="7315200" y="4514850"/>
            <a:ext cx="1838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动作类型</a:t>
            </a:r>
            <a:endParaRPr/>
          </a:p>
        </p:txBody>
      </p:sp>
      <p:sp>
        <p:nvSpPr>
          <p:cNvPr id="806" name="" descr="{&quot;isTemplate&quot;:true,&quot;type&quot;:&quot;text&quot;}"/>
          <p:cNvSpPr txBox="1"/>
          <p:nvPr/>
        </p:nvSpPr>
        <p:spPr>
          <a:xfrm rot="0" flipH="0" flipV="0">
            <a:off x="7315200" y="4714875"/>
            <a:ext cx="1838325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创建、改属性、合并、拆分，含提交条件</a:t>
            </a:r>
            <a:endParaRPr/>
          </a:p>
        </p:txBody>
      </p:sp>
      <p:sp>
        <p:nvSpPr>
          <p:cNvPr id="807" name=""/>
          <p:cNvSpPr/>
          <p:nvPr/>
        </p:nvSpPr>
        <p:spPr>
          <a:xfrm rot="0" flipH="0" flipV="0">
            <a:off x="9344025" y="4181475"/>
            <a:ext cx="2066925" cy="1114425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8" name=""/>
          <p:cNvSpPr/>
          <p:nvPr/>
        </p:nvSpPr>
        <p:spPr>
          <a:xfrm rot="0" flipH="0" flipV="0">
            <a:off x="9344025" y="4181475"/>
            <a:ext cx="2066925" cy="1114425"/>
          </a:xfrm>
          <a:custGeom>
            <a:pathLst>
              <a:path w="217" h="117">
                <a:moveTo>
                  <a:pt x="214" y="0"/>
                </a:moveTo>
                <a:cubicBezTo>
                  <a:pt x="216" y="0"/>
                  <a:pt x="217" y="1"/>
                  <a:pt x="217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1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809" name="" descr="{&quot;isTemplate&quot;:true,&quot;type&quot;:&quot;text&quot;}"/>
          <p:cNvSpPr txBox="1"/>
          <p:nvPr/>
        </p:nvSpPr>
        <p:spPr>
          <a:xfrm rot="0" flipH="0" flipV="0">
            <a:off x="9458325" y="4276725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810" name="" descr="{&quot;isTemplate&quot;:true,&quot;type&quot;:&quot;text&quot;}"/>
          <p:cNvSpPr txBox="1"/>
          <p:nvPr/>
        </p:nvSpPr>
        <p:spPr>
          <a:xfrm rot="0" flipH="0" flipV="0">
            <a:off x="9458325" y="4514850"/>
            <a:ext cx="1838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回写与权限</a:t>
            </a:r>
            <a:endParaRPr/>
          </a:p>
        </p:txBody>
      </p:sp>
      <p:sp>
        <p:nvSpPr>
          <p:cNvPr id="811" name="" descr="{&quot;isTemplate&quot;:true,&quot;type&quot;:&quot;text&quot;}"/>
          <p:cNvSpPr txBox="1"/>
          <p:nvPr/>
        </p:nvSpPr>
        <p:spPr>
          <a:xfrm rot="0" flipH="0" flipV="0">
            <a:off x="9458325" y="4714875"/>
            <a:ext cx="1838325" cy="4572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writeback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数据集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源数据的权限分离</a:t>
            </a:r>
            <a:endParaRPr/>
          </a:p>
        </p:txBody>
      </p:sp>
      <p:sp>
        <p:nvSpPr>
          <p:cNvPr id="812" name="" descr="{&quot;isTemplate&quot;:true,&quot;type&quot;:&quot;text&quot;}"/>
          <p:cNvSpPr txBox="1"/>
          <p:nvPr/>
        </p:nvSpPr>
        <p:spPr>
          <a:xfrm rot="0" flipH="0" flipV="0">
            <a:off x="781050" y="5343525"/>
            <a:ext cx="106299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顺序建议：先</a:t>
            </a: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 01 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与</a:t>
            </a: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 02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（类型与关系），再</a:t>
            </a: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 05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（权限与回写），最后</a:t>
            </a: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 03 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与</a:t>
            </a: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 04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（抽象与动作）。反过来做，动作会散落在各应用里。</a:t>
            </a:r>
            <a:endParaRPr/>
          </a:p>
        </p:txBody>
      </p:sp>
      <p:sp>
        <p:nvSpPr>
          <p:cNvPr id="813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14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15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主数据咨询方法论</a:t>
            </a:r>
            <a:endParaRPr/>
          </a:p>
        </p:txBody>
      </p:sp>
      <p:sp>
        <p:nvSpPr>
          <p:cNvPr id="816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23 / 30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817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一套身份、五个落法：主数据的四条硬边界&#10;    &lt;/Text&gt;&#10;    &lt;Text style={{ fontSize: 20, color: '#8A8F99', marginTop: 8 }}&gt;&#10;      主键只定义一次，但它必须在五个方向上分别有处理，否则任何一个方向都会把身份做坏&#10;    &lt;/Text&gt;&#10;  &lt;/Box&gt;&#10;  &lt;Box style={{ height: 1, background: '#E8E8E8' }} /&gt;&#10;&#10;  &lt;Box style={{ paddingTop: 14, paddingBottom: 8, height: 479, flexDirection: 'column', gap: 10 }}&gt;&#10;    &lt;Box style={{ height: 224, background: '#0F1423', borderRadius: 4, padding: '14px 20px', flexDirection: 'column' }}&gt;&#10;      &lt;Text style={{ fontSize: 14, fontWeight: 'bold', color: '#FBA15C' }}&gt;同一个规范 ID，五个方向各自的处理&lt;/Text&gt;&#10;      &lt;Box style={{ flex: 1, flexDirection: 'row', gap: 8, marginTop: 12, alignItems: 'stretch' }}&gt;&#10;        &lt;Box style={{ width: 152, background: 'rgba(250,79,36,0.22)', borderRadius: 3, border: '1px solid #FA4F24', padding: '11px 12px', flexDirection: 'column', justifyContent: 'center' }}&gt;&#10;          &lt;Text style={{ fontSize: 13, fontWeight: 'bold', color: '#FFFFFF' }}&gt;规范主键 + 解析元数据&lt;/Text&gt;&#10;          &lt;Text style={{ fontSize: 11, color: 'rgba(255,255,255,0.82)', marginTop: 6, lineHeight: 1.45 }}&gt;&#10;            规范主键、胜出主键、其他主键列表&#10;          &lt;/Text&gt;&#10;          &lt;Text style={{ fontSize: 11, color: 'rgba(255,255,255,0.6)', marginTop: 7, lineHeight: 1.4 }}&gt;&#10;            只定义一次，五处复用&#10;          &lt;/Text&gt;&#10;        &lt;/Box&gt;&#10;        {[&#10;          { dir: '→ 治理', obj: '合并提案 / 拆分提案', act: '按置信度分流，拆分一律人工审批', risk: '拆分让下游引用全部失配', ctrl: '拆分强制附影响面清单' },&#10;          { dir: '→ 管道', obj: '源数据集 / 解析作业', act: '解析在映射之前，重解析要幂等', risk: '上游变脏，下游救不回来', ctrl: '脏数据在管道层就拦住' },&#10;          { dir: '→ 知识库', obj: '切片 / 向量索引', act: '切片继承实体 ID 与密级', risk: '重复实体产生矛盾上下文', ctrl: '建实体到切片的反向索引' },&#10;          { dir: '→ Agent', obj: '工具入参 / 记忆', act: '动作类型可引用实体对象', risk: '无上下文时靠猜做判断', ctrl: '返回必须带来源与置信度' },&#10;          { dir: '→ 本体', obj: '对象类型 / 链接类型', act: '主数据即本体的原生组成', risk: '本体切太碎，跨域连不起来', ctrl: '接口抽象 + 慎划本体边界' },&#10;        ].map((x) =&gt; (&#10;          &lt;Box key={x.dir} style={{ flex: 1, background: 'rgba(255,255,255,0.07)', borderRadius: 3, borderTop: '3px solid #FBA15C', padding: '10px 12px', flexDirection: 'column' }}&gt;&#10;            &lt;Text style={{ fontSize: 13.5, fontWeight: 'bold', color: '#FBA15C' }}&gt;{x.dir}&lt;/Text&gt;&#10;            &lt;Text style={{ fontSize: 11, color: '#FFFFFF', marginTop: 6, lineHeight: 1.4 }}&gt;{x.obj}&lt;/Text&gt;&#10;            &lt;Text style={{ fontSize: 11, color: 'rgba(255,255,255,0.78)', marginTop: 5, lineHeight: 1.4 }}&gt;{x.act}&lt;/Text&gt;&#10;            &lt;Text style={{ fontSize: 10.5, color: '#FBA15C', marginTop: 5, lineHeight: 1.4 }}&gt;风险：{x.risk}&lt;/Text&gt;&#10;            &lt;Text style={{ fontSize: 10.5, color: 'rgba(255,255,255,0.72)', marginTop: 3, lineHeight: 1.4 }}&gt;对策：{x.ctrl}&lt;/Text&gt;&#10;          &lt;/Box&gt;&#10;        ))}&#10;      &lt;/Box&gt;&#10;    &lt;/Box&gt;&#10;&#10;    &lt;Box style={{ flex: 1, flexDirection: 'row', gap: 10 }}&gt;&#10;      &lt;Box style={{ flex: 1.2, background: '#FFF3EE', borderRadius: 4, borderLeft: '4px solid #FA4F24', padding: '12px 17px', flexDirection: 'column', justifyContent: 'center' }}&gt;&#10;        &lt;Text style={{ fontSize: 14, fontWeight: 'bold', color: '#C43A17' }}&gt;主数据的四条硬边界（不可协商）&lt;/Text&gt;&#10;        &lt;Box style={{ flexDirection: 'column', gap: 5, marginTop: 8 }}&gt;&#10;          {[&#10;            '一、主键先于匹配：主键策略没定就调匹配规则，等于在错误的空间里做优化。',&#10;            '二、原始层不删：黄金记录是可重算的投影，底片必须留着，否则规则一变就得重采。',&#10;            '三、合并可撤销：没有 unresolve 的合并系统，规模化等于规模化制造错误。',&#10;            '四、归属先于工具：主数据跨部门，定义权不定就上工具，工具只会把分歧自动化。',&#10;          ].map((t) =&gt; (&#10;            &lt;Text key={t} style={{ fontSize: 11.5, color: '#3A4050', lineHeight: 1.5 }}&gt;{t}&lt;/Text&gt;&#10;          ))}&#10;        &lt;/Box&gt;&#10;      &lt;/Box&gt;&#10;      &lt;Box style={{ flex: 1, background: '#F7F7F8', borderRadius: 4, padding: '12px 17px', flexDirection: 'column', justifyContent: 'center' }}&gt;&#10;        &lt;Text style={{ fontSize: 14, fontWeight: 'bold', color: '#0F1423' }}&gt;推论：主数据是全部智能的前置条件&lt;/Text&gt;&#10;        &lt;Text style={{ fontSize: 11.5, color: '#3A4050', marginTop: 7, lineHeight: 1.55 }}&gt;&#10;          每个模型、每个 Agent、每个对话回答，都继承它读到的实体记录的质量。&lt;tspan style={{ fontWeight: 'bold', color: '#C43A17' }}&gt;实体层做错了，AI 就在批量放大错误；实体层做对了，AI 就在复利放大价值。&lt;/tspan&gt;&#10;        &lt;/Text&gt;&#10;        &lt;Text style={{ fontSize: 11.5, color: '#3A4050', marginTop: 8, lineHeight: 1.55 }}&gt;&#10;          这也是为什么建议从&lt;tspan style={{ fontWeight: 'bold' }}&gt;一个域、一个人可量的痛点&lt;/tspan&gt;切入——比如重复账号导致的收入漏损、或层级不全导致的供应商风险。把域切窄不叫保守，叫能落地。&#10;        &lt;/Text&gt;&#10;      &lt;/Box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主数据咨询方法论&lt;/Text&gt;&#10;    &lt;Text style={{ fontSize: 13, color: '#8A8F99', marginLeft: 'auto' }}&gt;24 / 3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1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一套身份、五个落法：主数据的四条硬边界</a:t>
            </a:r>
            <a:endParaRPr/>
          </a:p>
        </p:txBody>
      </p:sp>
      <p:sp>
        <p:nvSpPr>
          <p:cNvPr id="82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主键只定义一次，但它必须在五个方向上分别有处理，否则任何一个方向都会把身份做坏</a:t>
            </a:r>
            <a:endParaRPr/>
          </a:p>
        </p:txBody>
      </p:sp>
      <p:sp>
        <p:nvSpPr>
          <p:cNvPr id="82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822" name=""/>
          <p:cNvSpPr/>
          <p:nvPr/>
        </p:nvSpPr>
        <p:spPr>
          <a:xfrm rot="0" flipH="0" flipV="0">
            <a:off x="609600" y="1285875"/>
            <a:ext cx="10972800" cy="2133600"/>
          </a:xfrm>
          <a:prstGeom prst="roundRect">
            <a:avLst>
              <a:gd name="adj" fmla="val 1786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823" name="" descr="{&quot;isTemplate&quot;:true,&quot;type&quot;:&quot;text&quot;}"/>
          <p:cNvSpPr txBox="1"/>
          <p:nvPr/>
        </p:nvSpPr>
        <p:spPr>
          <a:xfrm rot="0" flipH="0" flipV="0">
            <a:off x="800100" y="1419225"/>
            <a:ext cx="10591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同一个规范</a:t>
            </a:r>
            <a:r>
              <a:rPr lang="en-US" sz="1050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 ID</a:t>
            </a: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，五个方向各自的处理</a:t>
            </a:r>
            <a:endParaRPr/>
          </a:p>
        </p:txBody>
      </p:sp>
      <p:sp>
        <p:nvSpPr>
          <p:cNvPr id="824" name=""/>
          <p:cNvSpPr/>
          <p:nvPr/>
        </p:nvSpPr>
        <p:spPr>
          <a:xfrm rot="0" flipH="0" flipV="0">
            <a:off x="800100" y="1695450"/>
            <a:ext cx="1447800" cy="1590675"/>
          </a:xfrm>
          <a:prstGeom prst="roundRect">
            <a:avLst>
              <a:gd name="adj" fmla="val 1974"/>
            </a:avLst>
          </a:prstGeom>
          <a:solidFill>
            <a:srgbClr val="FA4F24">
              <a:alpha val="22000"/>
            </a:srgbClr>
          </a:solidFill>
          <a:ln w="12700">
            <a:solidFill>
              <a:srgbClr val="FA4F24"/>
            </a:solidFill>
            <a:prstDash val="solid"/>
          </a:ln>
        </p:spPr>
        <p:txBody>
          <a:bodyPr/>
          <a:p/>
        </p:txBody>
      </p:sp>
      <p:sp>
        <p:nvSpPr>
          <p:cNvPr id="825" name="" descr="{&quot;isTemplate&quot;:true,&quot;type&quot;:&quot;text&quot;}"/>
          <p:cNvSpPr txBox="1"/>
          <p:nvPr/>
        </p:nvSpPr>
        <p:spPr>
          <a:xfrm rot="0" flipH="0" flipV="0">
            <a:off x="914400" y="2000250"/>
            <a:ext cx="1219200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规范主键</a:t>
            </a: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解析元数据</a:t>
            </a:r>
            <a:endParaRPr/>
          </a:p>
        </p:txBody>
      </p:sp>
      <p:sp>
        <p:nvSpPr>
          <p:cNvPr id="826" name="" descr="{&quot;isTemplate&quot;:true,&quot;type&quot;:&quot;text&quot;}"/>
          <p:cNvSpPr txBox="1"/>
          <p:nvPr/>
        </p:nvSpPr>
        <p:spPr>
          <a:xfrm rot="0" flipH="0" flipV="0">
            <a:off x="914400" y="2362200"/>
            <a:ext cx="121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规范主键、胜出主键、其他主键列表</a:t>
            </a:r>
            <a:endParaRPr/>
          </a:p>
        </p:txBody>
      </p:sp>
      <p:sp>
        <p:nvSpPr>
          <p:cNvPr id="827" name="" descr="{&quot;isTemplate&quot;:true,&quot;type&quot;:&quot;text&quot;}"/>
          <p:cNvSpPr txBox="1"/>
          <p:nvPr/>
        </p:nvSpPr>
        <p:spPr>
          <a:xfrm rot="0" flipH="0" flipV="0">
            <a:off x="914400" y="2800350"/>
            <a:ext cx="12192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只定义一次，五处复用</a:t>
            </a:r>
            <a:endParaRPr/>
          </a:p>
        </p:txBody>
      </p:sp>
      <p:sp>
        <p:nvSpPr>
          <p:cNvPr id="828" name=""/>
          <p:cNvSpPr/>
          <p:nvPr/>
        </p:nvSpPr>
        <p:spPr>
          <a:xfrm rot="0" flipH="0" flipV="0">
            <a:off x="2324100" y="1724025"/>
            <a:ext cx="1752600" cy="1590675"/>
          </a:xfrm>
          <a:prstGeom prst="roundRect">
            <a:avLst>
              <a:gd name="adj" fmla="val 179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829" name=""/>
          <p:cNvSpPr/>
          <p:nvPr/>
        </p:nvSpPr>
        <p:spPr>
          <a:xfrm rot="0" flipH="0" flipV="0">
            <a:off x="2324100" y="1724025"/>
            <a:ext cx="1752600" cy="1590675"/>
          </a:xfrm>
          <a:custGeom>
            <a:pathLst>
              <a:path w="184" h="167">
                <a:moveTo>
                  <a:pt x="181" y="0"/>
                </a:moveTo>
                <a:cubicBezTo>
                  <a:pt x="183" y="0"/>
                  <a:pt x="184" y="1"/>
                  <a:pt x="184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81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830" name="" descr="{&quot;isTemplate&quot;:true,&quot;type&quot;:&quot;text&quot;}"/>
          <p:cNvSpPr txBox="1"/>
          <p:nvPr/>
        </p:nvSpPr>
        <p:spPr>
          <a:xfrm rot="0" flipH="0" flipV="0">
            <a:off x="2438400" y="181927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治理</a:t>
            </a:r>
            <a:endParaRPr/>
          </a:p>
        </p:txBody>
      </p:sp>
      <p:sp>
        <p:nvSpPr>
          <p:cNvPr id="831" name="" descr="{&quot;isTemplate&quot;:true,&quot;type&quot;:&quot;text&quot;}"/>
          <p:cNvSpPr txBox="1"/>
          <p:nvPr/>
        </p:nvSpPr>
        <p:spPr>
          <a:xfrm rot="0" flipH="0" flipV="0">
            <a:off x="2438400" y="2038350"/>
            <a:ext cx="15240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FFFFFF"/>
                </a:solidFill>
                <a:latin typeface="Microsoft YaHei"/>
                <a:ea typeface="Microsoft YaHei"/>
              </a:rPr>
              <a:t>合并提案</a:t>
            </a:r>
            <a:r>
              <a:rPr lang="en-US" sz="825">
                <a:solidFill>
                  <a:srgbClr val="FFFF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FFFFFF"/>
                </a:solidFill>
                <a:latin typeface="Microsoft YaHei"/>
                <a:ea typeface="Microsoft YaHei"/>
              </a:rPr>
              <a:t>拆分提案</a:t>
            </a:r>
            <a:endParaRPr/>
          </a:p>
        </p:txBody>
      </p:sp>
      <p:sp>
        <p:nvSpPr>
          <p:cNvPr id="832" name="" descr="{&quot;isTemplate&quot;:true,&quot;type&quot;:&quot;text&quot;}"/>
          <p:cNvSpPr txBox="1"/>
          <p:nvPr/>
        </p:nvSpPr>
        <p:spPr>
          <a:xfrm rot="0" flipH="0" flipV="0">
            <a:off x="2438400" y="2266950"/>
            <a:ext cx="1524000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82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按置信度分流，拆分一律人工审批</a:t>
            </a:r>
            <a:endParaRPr/>
          </a:p>
        </p:txBody>
      </p:sp>
      <p:sp>
        <p:nvSpPr>
          <p:cNvPr id="833" name="" descr="{&quot;isTemplate&quot;:true,&quot;type&quot;:&quot;text&quot;}"/>
          <p:cNvSpPr txBox="1"/>
          <p:nvPr/>
        </p:nvSpPr>
        <p:spPr>
          <a:xfrm rot="0" flipH="0" flipV="0">
            <a:off x="2438400" y="2667000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BA15C"/>
                </a:solidFill>
                <a:latin typeface="Microsoft YaHei"/>
                <a:ea typeface="Microsoft YaHei"/>
              </a:rPr>
              <a:t>风险：</a:t>
            </a:r>
            <a:r>
              <a:rPr lang="zh-CN" sz="788">
                <a:solidFill>
                  <a:srgbClr val="FBA15C"/>
                </a:solidFill>
                <a:latin typeface="Microsoft YaHei"/>
                <a:ea typeface="Microsoft YaHei"/>
              </a:rPr>
              <a:t>拆分让下游引用全部失配</a:t>
            </a:r>
            <a:endParaRPr/>
          </a:p>
        </p:txBody>
      </p:sp>
      <p:sp>
        <p:nvSpPr>
          <p:cNvPr id="834" name="" descr="{&quot;isTemplate&quot;:true,&quot;type&quot;:&quot;text&quot;}"/>
          <p:cNvSpPr txBox="1"/>
          <p:nvPr/>
        </p:nvSpPr>
        <p:spPr>
          <a:xfrm rot="0" flipH="0" flipV="0">
            <a:off x="2438400" y="2867025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对策：</a:t>
            </a:r>
            <a:r>
              <a:rPr lang="zh-CN" sz="788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拆分强制附影响面清单</a:t>
            </a:r>
            <a:endParaRPr/>
          </a:p>
        </p:txBody>
      </p:sp>
      <p:sp>
        <p:nvSpPr>
          <p:cNvPr id="835" name=""/>
          <p:cNvSpPr/>
          <p:nvPr/>
        </p:nvSpPr>
        <p:spPr>
          <a:xfrm rot="0" flipH="0" flipV="0">
            <a:off x="4152900" y="1724025"/>
            <a:ext cx="1752600" cy="1590675"/>
          </a:xfrm>
          <a:prstGeom prst="roundRect">
            <a:avLst>
              <a:gd name="adj" fmla="val 179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836" name=""/>
          <p:cNvSpPr/>
          <p:nvPr/>
        </p:nvSpPr>
        <p:spPr>
          <a:xfrm rot="0" flipH="0" flipV="0">
            <a:off x="4152900" y="1724025"/>
            <a:ext cx="1752600" cy="1590675"/>
          </a:xfrm>
          <a:custGeom>
            <a:pathLst>
              <a:path w="184" h="167">
                <a:moveTo>
                  <a:pt x="181" y="0"/>
                </a:moveTo>
                <a:cubicBezTo>
                  <a:pt x="183" y="0"/>
                  <a:pt x="184" y="1"/>
                  <a:pt x="184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81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837" name="" descr="{&quot;isTemplate&quot;:true,&quot;type&quot;:&quot;text&quot;}"/>
          <p:cNvSpPr txBox="1"/>
          <p:nvPr/>
        </p:nvSpPr>
        <p:spPr>
          <a:xfrm rot="0" flipH="0" flipV="0">
            <a:off x="4267200" y="181927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管道</a:t>
            </a:r>
            <a:endParaRPr/>
          </a:p>
        </p:txBody>
      </p:sp>
      <p:sp>
        <p:nvSpPr>
          <p:cNvPr id="838" name="" descr="{&quot;isTemplate&quot;:true,&quot;type&quot;:&quot;text&quot;}"/>
          <p:cNvSpPr txBox="1"/>
          <p:nvPr/>
        </p:nvSpPr>
        <p:spPr>
          <a:xfrm rot="0" flipH="0" flipV="0">
            <a:off x="4267200" y="2038350"/>
            <a:ext cx="15240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FFFFFF"/>
                </a:solidFill>
                <a:latin typeface="Microsoft YaHei"/>
                <a:ea typeface="Microsoft YaHei"/>
              </a:rPr>
              <a:t>源数据集</a:t>
            </a:r>
            <a:r>
              <a:rPr lang="en-US" sz="825">
                <a:solidFill>
                  <a:srgbClr val="FFFF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FFFFFF"/>
                </a:solidFill>
                <a:latin typeface="Microsoft YaHei"/>
                <a:ea typeface="Microsoft YaHei"/>
              </a:rPr>
              <a:t>解析作业</a:t>
            </a:r>
            <a:endParaRPr/>
          </a:p>
        </p:txBody>
      </p:sp>
      <p:sp>
        <p:nvSpPr>
          <p:cNvPr id="839" name="" descr="{&quot;isTemplate&quot;:true,&quot;type&quot;:&quot;text&quot;}"/>
          <p:cNvSpPr txBox="1"/>
          <p:nvPr/>
        </p:nvSpPr>
        <p:spPr>
          <a:xfrm rot="0" flipH="0" flipV="0">
            <a:off x="4267200" y="2266950"/>
            <a:ext cx="15240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解析在映射之前，重解析要幂等</a:t>
            </a:r>
            <a:endParaRPr/>
          </a:p>
        </p:txBody>
      </p:sp>
      <p:sp>
        <p:nvSpPr>
          <p:cNvPr id="840" name="" descr="{&quot;isTemplate&quot;:true,&quot;type&quot;:&quot;text&quot;}"/>
          <p:cNvSpPr txBox="1"/>
          <p:nvPr/>
        </p:nvSpPr>
        <p:spPr>
          <a:xfrm rot="0" flipH="0" flipV="0">
            <a:off x="4267200" y="2495550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BA15C"/>
                </a:solidFill>
                <a:latin typeface="Microsoft YaHei"/>
                <a:ea typeface="Microsoft YaHei"/>
              </a:rPr>
              <a:t>风险：</a:t>
            </a:r>
            <a:r>
              <a:rPr lang="zh-CN" sz="788">
                <a:solidFill>
                  <a:srgbClr val="FBA15C"/>
                </a:solidFill>
                <a:latin typeface="Microsoft YaHei"/>
                <a:ea typeface="Microsoft YaHei"/>
              </a:rPr>
              <a:t>上游变脏，下游救不回来</a:t>
            </a:r>
            <a:endParaRPr/>
          </a:p>
        </p:txBody>
      </p:sp>
      <p:sp>
        <p:nvSpPr>
          <p:cNvPr id="841" name="" descr="{&quot;isTemplate&quot;:true,&quot;type&quot;:&quot;text&quot;}"/>
          <p:cNvSpPr txBox="1"/>
          <p:nvPr/>
        </p:nvSpPr>
        <p:spPr>
          <a:xfrm rot="0" flipH="0" flipV="0">
            <a:off x="4267200" y="2695575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对策：</a:t>
            </a:r>
            <a:r>
              <a:rPr lang="zh-CN" sz="788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脏数据在管道层就拦住</a:t>
            </a:r>
            <a:endParaRPr/>
          </a:p>
        </p:txBody>
      </p:sp>
      <p:sp>
        <p:nvSpPr>
          <p:cNvPr id="842" name=""/>
          <p:cNvSpPr/>
          <p:nvPr/>
        </p:nvSpPr>
        <p:spPr>
          <a:xfrm rot="0" flipH="0" flipV="0">
            <a:off x="5981700" y="1724025"/>
            <a:ext cx="1752600" cy="1590675"/>
          </a:xfrm>
          <a:prstGeom prst="roundRect">
            <a:avLst>
              <a:gd name="adj" fmla="val 179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843" name=""/>
          <p:cNvSpPr/>
          <p:nvPr/>
        </p:nvSpPr>
        <p:spPr>
          <a:xfrm rot="0" flipH="0" flipV="0">
            <a:off x="5981700" y="1724025"/>
            <a:ext cx="1752600" cy="1590675"/>
          </a:xfrm>
          <a:custGeom>
            <a:pathLst>
              <a:path w="184" h="167">
                <a:moveTo>
                  <a:pt x="181" y="0"/>
                </a:moveTo>
                <a:cubicBezTo>
                  <a:pt x="183" y="0"/>
                  <a:pt x="184" y="1"/>
                  <a:pt x="184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81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844" name="" descr="{&quot;isTemplate&quot;:true,&quot;type&quot;:&quot;text&quot;}"/>
          <p:cNvSpPr txBox="1"/>
          <p:nvPr/>
        </p:nvSpPr>
        <p:spPr>
          <a:xfrm rot="0" flipH="0" flipV="0">
            <a:off x="6096000" y="181927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知识库</a:t>
            </a:r>
            <a:endParaRPr/>
          </a:p>
        </p:txBody>
      </p:sp>
      <p:sp>
        <p:nvSpPr>
          <p:cNvPr id="845" name="" descr="{&quot;isTemplate&quot;:true,&quot;type&quot;:&quot;text&quot;}"/>
          <p:cNvSpPr txBox="1"/>
          <p:nvPr/>
        </p:nvSpPr>
        <p:spPr>
          <a:xfrm rot="0" flipH="0" flipV="0">
            <a:off x="6096000" y="2038350"/>
            <a:ext cx="15240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FFFFFF"/>
                </a:solidFill>
                <a:latin typeface="Microsoft YaHei"/>
                <a:ea typeface="Microsoft YaHei"/>
              </a:rPr>
              <a:t>切片</a:t>
            </a:r>
            <a:r>
              <a:rPr lang="en-US" sz="825">
                <a:solidFill>
                  <a:srgbClr val="FFFF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FFFFFF"/>
                </a:solidFill>
                <a:latin typeface="Microsoft YaHei"/>
                <a:ea typeface="Microsoft YaHei"/>
              </a:rPr>
              <a:t>向量索引</a:t>
            </a:r>
            <a:endParaRPr/>
          </a:p>
        </p:txBody>
      </p:sp>
      <p:sp>
        <p:nvSpPr>
          <p:cNvPr id="846" name="" descr="{&quot;isTemplate&quot;:true,&quot;type&quot;:&quot;text&quot;}"/>
          <p:cNvSpPr txBox="1"/>
          <p:nvPr/>
        </p:nvSpPr>
        <p:spPr>
          <a:xfrm rot="0" flipH="0" flipV="0">
            <a:off x="6096000" y="2266950"/>
            <a:ext cx="15240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切片继承实体</a:t>
            </a:r>
            <a:r>
              <a:rPr lang="en-US" sz="82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82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与密级</a:t>
            </a:r>
            <a:endParaRPr/>
          </a:p>
        </p:txBody>
      </p:sp>
      <p:sp>
        <p:nvSpPr>
          <p:cNvPr id="847" name="" descr="{&quot;isTemplate&quot;:true,&quot;type&quot;:&quot;text&quot;}"/>
          <p:cNvSpPr txBox="1"/>
          <p:nvPr/>
        </p:nvSpPr>
        <p:spPr>
          <a:xfrm rot="0" flipH="0" flipV="0">
            <a:off x="6096000" y="2495550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BA15C"/>
                </a:solidFill>
                <a:latin typeface="Microsoft YaHei"/>
                <a:ea typeface="Microsoft YaHei"/>
              </a:rPr>
              <a:t>风险：</a:t>
            </a:r>
            <a:r>
              <a:rPr lang="zh-CN" sz="788">
                <a:solidFill>
                  <a:srgbClr val="FBA15C"/>
                </a:solidFill>
                <a:latin typeface="Microsoft YaHei"/>
                <a:ea typeface="Microsoft YaHei"/>
              </a:rPr>
              <a:t>重复实体产生矛盾上下文</a:t>
            </a:r>
            <a:endParaRPr/>
          </a:p>
        </p:txBody>
      </p:sp>
      <p:sp>
        <p:nvSpPr>
          <p:cNvPr id="848" name="" descr="{&quot;isTemplate&quot;:true,&quot;type&quot;:&quot;text&quot;}"/>
          <p:cNvSpPr txBox="1"/>
          <p:nvPr/>
        </p:nvSpPr>
        <p:spPr>
          <a:xfrm rot="0" flipH="0" flipV="0">
            <a:off x="6096000" y="2695575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对策：</a:t>
            </a:r>
            <a:r>
              <a:rPr lang="zh-CN" sz="788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建实体到切片的反向索引</a:t>
            </a:r>
            <a:endParaRPr/>
          </a:p>
        </p:txBody>
      </p:sp>
      <p:sp>
        <p:nvSpPr>
          <p:cNvPr id="849" name=""/>
          <p:cNvSpPr/>
          <p:nvPr/>
        </p:nvSpPr>
        <p:spPr>
          <a:xfrm rot="0" flipH="0" flipV="0">
            <a:off x="7810500" y="1724025"/>
            <a:ext cx="1752600" cy="1590675"/>
          </a:xfrm>
          <a:prstGeom prst="roundRect">
            <a:avLst>
              <a:gd name="adj" fmla="val 179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850" name=""/>
          <p:cNvSpPr/>
          <p:nvPr/>
        </p:nvSpPr>
        <p:spPr>
          <a:xfrm rot="0" flipH="0" flipV="0">
            <a:off x="7810500" y="1724025"/>
            <a:ext cx="1752600" cy="1590675"/>
          </a:xfrm>
          <a:custGeom>
            <a:pathLst>
              <a:path w="184" h="167">
                <a:moveTo>
                  <a:pt x="181" y="0"/>
                </a:moveTo>
                <a:cubicBezTo>
                  <a:pt x="183" y="0"/>
                  <a:pt x="184" y="1"/>
                  <a:pt x="184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81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851" name="" descr="{&quot;isTemplate&quot;:true,&quot;type&quot;:&quot;text&quot;}"/>
          <p:cNvSpPr txBox="1"/>
          <p:nvPr/>
        </p:nvSpPr>
        <p:spPr>
          <a:xfrm rot="0" flipH="0" flipV="0">
            <a:off x="7924800" y="181927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FBA15C"/>
                </a:solidFill>
                <a:latin typeface="Microsoft YaHei"/>
                <a:ea typeface="Microsoft YaHei"/>
              </a:rPr>
              <a:t>→ Agent</a:t>
            </a:r>
            <a:endParaRPr/>
          </a:p>
        </p:txBody>
      </p:sp>
      <p:sp>
        <p:nvSpPr>
          <p:cNvPr id="852" name="" descr="{&quot;isTemplate&quot;:true,&quot;type&quot;:&quot;text&quot;}"/>
          <p:cNvSpPr txBox="1"/>
          <p:nvPr/>
        </p:nvSpPr>
        <p:spPr>
          <a:xfrm rot="0" flipH="0" flipV="0">
            <a:off x="7924800" y="2038350"/>
            <a:ext cx="15240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FFFFFF"/>
                </a:solidFill>
                <a:latin typeface="Microsoft YaHei"/>
                <a:ea typeface="Microsoft YaHei"/>
              </a:rPr>
              <a:t>工具入参</a:t>
            </a:r>
            <a:r>
              <a:rPr lang="en-US" sz="825">
                <a:solidFill>
                  <a:srgbClr val="FFFF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FFFFFF"/>
                </a:solidFill>
                <a:latin typeface="Microsoft YaHei"/>
                <a:ea typeface="Microsoft YaHei"/>
              </a:rPr>
              <a:t>记忆</a:t>
            </a:r>
            <a:endParaRPr/>
          </a:p>
        </p:txBody>
      </p:sp>
      <p:sp>
        <p:nvSpPr>
          <p:cNvPr id="853" name="" descr="{&quot;isTemplate&quot;:true,&quot;type&quot;:&quot;text&quot;}"/>
          <p:cNvSpPr txBox="1"/>
          <p:nvPr/>
        </p:nvSpPr>
        <p:spPr>
          <a:xfrm rot="0" flipH="0" flipV="0">
            <a:off x="7924800" y="2266950"/>
            <a:ext cx="15240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动作类型可引用实体对象</a:t>
            </a:r>
            <a:endParaRPr/>
          </a:p>
        </p:txBody>
      </p:sp>
      <p:sp>
        <p:nvSpPr>
          <p:cNvPr id="854" name="" descr="{&quot;isTemplate&quot;:true,&quot;type&quot;:&quot;text&quot;}"/>
          <p:cNvSpPr txBox="1"/>
          <p:nvPr/>
        </p:nvSpPr>
        <p:spPr>
          <a:xfrm rot="0" flipH="0" flipV="0">
            <a:off x="7924800" y="2495550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BA15C"/>
                </a:solidFill>
                <a:latin typeface="Microsoft YaHei"/>
                <a:ea typeface="Microsoft YaHei"/>
              </a:rPr>
              <a:t>风险：</a:t>
            </a:r>
            <a:r>
              <a:rPr lang="zh-CN" sz="788">
                <a:solidFill>
                  <a:srgbClr val="FBA15C"/>
                </a:solidFill>
                <a:latin typeface="Microsoft YaHei"/>
                <a:ea typeface="Microsoft YaHei"/>
              </a:rPr>
              <a:t>无上下文时靠猜做判断</a:t>
            </a:r>
            <a:endParaRPr/>
          </a:p>
        </p:txBody>
      </p:sp>
      <p:sp>
        <p:nvSpPr>
          <p:cNvPr id="855" name="" descr="{&quot;isTemplate&quot;:true,&quot;type&quot;:&quot;text&quot;}"/>
          <p:cNvSpPr txBox="1"/>
          <p:nvPr/>
        </p:nvSpPr>
        <p:spPr>
          <a:xfrm rot="0" flipH="0" flipV="0">
            <a:off x="7924800" y="2695575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对策：</a:t>
            </a:r>
            <a:r>
              <a:rPr lang="zh-CN" sz="788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返回必须带来源与置信度</a:t>
            </a:r>
            <a:endParaRPr/>
          </a:p>
        </p:txBody>
      </p:sp>
      <p:sp>
        <p:nvSpPr>
          <p:cNvPr id="856" name=""/>
          <p:cNvSpPr/>
          <p:nvPr/>
        </p:nvSpPr>
        <p:spPr>
          <a:xfrm rot="0" flipH="0" flipV="0">
            <a:off x="9639300" y="1724025"/>
            <a:ext cx="1752600" cy="1590675"/>
          </a:xfrm>
          <a:prstGeom prst="roundRect">
            <a:avLst>
              <a:gd name="adj" fmla="val 179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857" name=""/>
          <p:cNvSpPr/>
          <p:nvPr/>
        </p:nvSpPr>
        <p:spPr>
          <a:xfrm rot="0" flipH="0" flipV="0">
            <a:off x="9639300" y="1724025"/>
            <a:ext cx="1752600" cy="1590675"/>
          </a:xfrm>
          <a:custGeom>
            <a:pathLst>
              <a:path w="184" h="167">
                <a:moveTo>
                  <a:pt x="181" y="0"/>
                </a:moveTo>
                <a:cubicBezTo>
                  <a:pt x="183" y="0"/>
                  <a:pt x="184" y="1"/>
                  <a:pt x="184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81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858" name="" descr="{&quot;isTemplate&quot;:true,&quot;type&quot;:&quot;text&quot;}"/>
          <p:cNvSpPr txBox="1"/>
          <p:nvPr/>
        </p:nvSpPr>
        <p:spPr>
          <a:xfrm rot="0" flipH="0" flipV="0">
            <a:off x="9753600" y="181927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本体</a:t>
            </a:r>
            <a:endParaRPr/>
          </a:p>
        </p:txBody>
      </p:sp>
      <p:sp>
        <p:nvSpPr>
          <p:cNvPr id="859" name="" descr="{&quot;isTemplate&quot;:true,&quot;type&quot;:&quot;text&quot;}"/>
          <p:cNvSpPr txBox="1"/>
          <p:nvPr/>
        </p:nvSpPr>
        <p:spPr>
          <a:xfrm rot="0" flipH="0" flipV="0">
            <a:off x="9753600" y="2038350"/>
            <a:ext cx="15240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FFFFFF"/>
                </a:solidFill>
                <a:latin typeface="Microsoft YaHei"/>
                <a:ea typeface="Microsoft YaHei"/>
              </a:rPr>
              <a:t>对象类型</a:t>
            </a:r>
            <a:r>
              <a:rPr lang="en-US" sz="825">
                <a:solidFill>
                  <a:srgbClr val="FFFF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FFFFFF"/>
                </a:solidFill>
                <a:latin typeface="Microsoft YaHei"/>
                <a:ea typeface="Microsoft YaHei"/>
              </a:rPr>
              <a:t>链接类型</a:t>
            </a:r>
            <a:endParaRPr/>
          </a:p>
        </p:txBody>
      </p:sp>
      <p:sp>
        <p:nvSpPr>
          <p:cNvPr id="860" name="" descr="{&quot;isTemplate&quot;:true,&quot;type&quot;:&quot;text&quot;}"/>
          <p:cNvSpPr txBox="1"/>
          <p:nvPr/>
        </p:nvSpPr>
        <p:spPr>
          <a:xfrm rot="0" flipH="0" flipV="0">
            <a:off x="9753600" y="2266950"/>
            <a:ext cx="15240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主数据即本体的原生组成</a:t>
            </a:r>
            <a:endParaRPr/>
          </a:p>
        </p:txBody>
      </p:sp>
      <p:sp>
        <p:nvSpPr>
          <p:cNvPr id="861" name="" descr="{&quot;isTemplate&quot;:true,&quot;type&quot;:&quot;text&quot;}"/>
          <p:cNvSpPr txBox="1"/>
          <p:nvPr/>
        </p:nvSpPr>
        <p:spPr>
          <a:xfrm rot="0" flipH="0" flipV="0">
            <a:off x="9753600" y="2495550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BA15C"/>
                </a:solidFill>
                <a:latin typeface="Microsoft YaHei"/>
                <a:ea typeface="Microsoft YaHei"/>
              </a:rPr>
              <a:t>风险：</a:t>
            </a:r>
            <a:r>
              <a:rPr lang="zh-CN" sz="788">
                <a:solidFill>
                  <a:srgbClr val="FBA15C"/>
                </a:solidFill>
                <a:latin typeface="Microsoft YaHei"/>
                <a:ea typeface="Microsoft YaHei"/>
              </a:rPr>
              <a:t>本体切太碎，跨域连不起来</a:t>
            </a:r>
            <a:endParaRPr/>
          </a:p>
        </p:txBody>
      </p:sp>
      <p:sp>
        <p:nvSpPr>
          <p:cNvPr id="862" name="" descr="{&quot;isTemplate&quot;:true,&quot;type&quot;:&quot;text&quot;}"/>
          <p:cNvSpPr txBox="1"/>
          <p:nvPr/>
        </p:nvSpPr>
        <p:spPr>
          <a:xfrm rot="0" flipH="0" flipV="0">
            <a:off x="9753600" y="2695575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对策：</a:t>
            </a:r>
            <a:r>
              <a:rPr lang="zh-CN" sz="788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接口抽象</a:t>
            </a:r>
            <a:r>
              <a:rPr lang="en-US" sz="788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788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慎划本体边界</a:t>
            </a:r>
            <a:endParaRPr/>
          </a:p>
        </p:txBody>
      </p:sp>
      <p:sp>
        <p:nvSpPr>
          <p:cNvPr id="863" name=""/>
          <p:cNvSpPr/>
          <p:nvPr/>
        </p:nvSpPr>
        <p:spPr>
          <a:xfrm rot="0" flipH="0" flipV="0">
            <a:off x="647700" y="3514725"/>
            <a:ext cx="5934075" cy="2124075"/>
          </a:xfrm>
          <a:prstGeom prst="roundRect">
            <a:avLst>
              <a:gd name="adj" fmla="val 1794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864" name=""/>
          <p:cNvSpPr/>
          <p:nvPr/>
        </p:nvSpPr>
        <p:spPr>
          <a:xfrm rot="0" flipH="0" flipV="0">
            <a:off x="647700" y="3514725"/>
            <a:ext cx="5934075" cy="2124075"/>
          </a:xfrm>
          <a:custGeom>
            <a:pathLst>
              <a:path w="623" h="223">
                <a:moveTo>
                  <a:pt x="4" y="223"/>
                </a:moveTo>
                <a:cubicBezTo>
                  <a:pt x="2" y="223"/>
                  <a:pt x="0" y="221"/>
                  <a:pt x="0" y="21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2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865" name="" descr="{&quot;isTemplate&quot;:true,&quot;type&quot;:&quot;text&quot;}"/>
          <p:cNvSpPr txBox="1"/>
          <p:nvPr/>
        </p:nvSpPr>
        <p:spPr>
          <a:xfrm rot="0" flipH="0" flipV="0">
            <a:off x="809625" y="3990975"/>
            <a:ext cx="5572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主数据的四条硬边界（不可协商）</a:t>
            </a:r>
            <a:endParaRPr/>
          </a:p>
        </p:txBody>
      </p:sp>
      <p:sp>
        <p:nvSpPr>
          <p:cNvPr id="866" name="" descr="{&quot;isTemplate&quot;:true,&quot;type&quot;:&quot;text&quot;}"/>
          <p:cNvSpPr txBox="1"/>
          <p:nvPr/>
        </p:nvSpPr>
        <p:spPr>
          <a:xfrm rot="0" flipH="0" flipV="0">
            <a:off x="809625" y="4229100"/>
            <a:ext cx="5572125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一、主键先于匹配：主键策略没定就调匹配规则，等于在错误的空间里做优化。</a:t>
            </a:r>
            <a:endParaRPr/>
          </a:p>
        </p:txBody>
      </p:sp>
      <p:sp>
        <p:nvSpPr>
          <p:cNvPr id="867" name="" descr="{&quot;isTemplate&quot;:true,&quot;type&quot;:&quot;text&quot;}"/>
          <p:cNvSpPr txBox="1"/>
          <p:nvPr/>
        </p:nvSpPr>
        <p:spPr>
          <a:xfrm rot="0" flipH="0" flipV="0">
            <a:off x="809625" y="4476750"/>
            <a:ext cx="5572125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二、原始层不删：黄金记录是可重算的投影，底片必须留着，否则规则一变就得重采。</a:t>
            </a:r>
            <a:endParaRPr/>
          </a:p>
        </p:txBody>
      </p:sp>
      <p:sp>
        <p:nvSpPr>
          <p:cNvPr id="868" name="" descr="{&quot;isTemplate&quot;:true,&quot;type&quot;:&quot;text&quot;}"/>
          <p:cNvSpPr txBox="1"/>
          <p:nvPr/>
        </p:nvSpPr>
        <p:spPr>
          <a:xfrm rot="0" flipH="0" flipV="0">
            <a:off x="809625" y="4724400"/>
            <a:ext cx="5572125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三、合并可撤销：没有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unresolve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的合并系统，规模化等于规模化制造错误。</a:t>
            </a:r>
            <a:endParaRPr/>
          </a:p>
        </p:txBody>
      </p:sp>
      <p:sp>
        <p:nvSpPr>
          <p:cNvPr id="869" name="" descr="{&quot;isTemplate&quot;:true,&quot;type&quot;:&quot;text&quot;}"/>
          <p:cNvSpPr txBox="1"/>
          <p:nvPr/>
        </p:nvSpPr>
        <p:spPr>
          <a:xfrm rot="0" flipH="0" flipV="0">
            <a:off x="809625" y="4972050"/>
            <a:ext cx="5572125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四、归属先于工具：主数据跨部门，定义权不定就上工具，工具只会把分歧自动化。</a:t>
            </a:r>
            <a:endParaRPr/>
          </a:p>
        </p:txBody>
      </p:sp>
      <p:sp>
        <p:nvSpPr>
          <p:cNvPr id="870" name=""/>
          <p:cNvSpPr/>
          <p:nvPr/>
        </p:nvSpPr>
        <p:spPr>
          <a:xfrm rot="0" flipH="0" flipV="0">
            <a:off x="6638925" y="3514725"/>
            <a:ext cx="4943475" cy="2124075"/>
          </a:xfrm>
          <a:prstGeom prst="roundRect">
            <a:avLst>
              <a:gd name="adj" fmla="val 179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71" name="" descr="{&quot;isTemplate&quot;:true,&quot;type&quot;:&quot;text&quot;}"/>
          <p:cNvSpPr txBox="1"/>
          <p:nvPr/>
        </p:nvSpPr>
        <p:spPr>
          <a:xfrm rot="0" flipH="0" flipV="0">
            <a:off x="6800850" y="4019550"/>
            <a:ext cx="4619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推论：主数据是全部智能的前置条件</a:t>
            </a:r>
            <a:endParaRPr/>
          </a:p>
        </p:txBody>
      </p:sp>
      <p:sp>
        <p:nvSpPr>
          <p:cNvPr id="872" name="" descr="{&quot;isTemplate&quot;:true,&quot;type&quot;:&quot;text&quot;}"/>
          <p:cNvSpPr txBox="1"/>
          <p:nvPr/>
        </p:nvSpPr>
        <p:spPr>
          <a:xfrm rot="0" flipH="0" flipV="0">
            <a:off x="6800850" y="4248150"/>
            <a:ext cx="4619625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每个模型、每个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、每个对话回答，都继承它读到的实体记录的质量。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实体层做错了，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就在批量放大错误；实体层做对了，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就在复利放大价值。</a:t>
            </a:r>
            <a:endParaRPr/>
          </a:p>
        </p:txBody>
      </p:sp>
      <p:sp>
        <p:nvSpPr>
          <p:cNvPr id="873" name="" descr="{&quot;isTemplate&quot;:true,&quot;type&quot;:&quot;text&quot;}"/>
          <p:cNvSpPr txBox="1"/>
          <p:nvPr/>
        </p:nvSpPr>
        <p:spPr>
          <a:xfrm rot="0" flipH="0" flipV="0">
            <a:off x="6800850" y="4733925"/>
            <a:ext cx="4619625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这也是为什么建议从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一个域、一个人可量的痛点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切入——比如重复账号导致的收入漏损、或层级不全导致的供应商风险。把域切窄不叫保守，叫能落地。</a:t>
            </a:r>
            <a:endParaRPr/>
          </a:p>
        </p:txBody>
      </p:sp>
      <p:sp>
        <p:nvSpPr>
          <p:cNvPr id="874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75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76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主数据咨询方法论</a:t>
            </a:r>
            <a:endParaRPr/>
          </a:p>
        </p:txBody>
      </p:sp>
      <p:sp>
        <p:nvSpPr>
          <p:cNvPr id="877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24 / 30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878" name="" descr="&lt;Slide style={{ width: 1280, height: 720, background: '#0F1423' }}&gt;&#13;&#10;  &lt;Box style={{ position: 'absolute', left: 0, top: 0, width: 1280, height: 720, background: 'linear-gradient(135deg, #0F1423 0%, #2A1810 100%)' }} /&gt;&#13;&#10;  &lt;Box style={{ position: 'absolute', right: 0, top: 0, width: 560, height: 720, background: 'linear-gradient(200deg, rgba(250,79,36,0.28) 0%, rgba(250,79,36,0) 70%)' }} /&gt;&#13;&#10;&#13;&#10;  &lt;Box style={{ position: 'absolute', right: 70, top: 110 }}&gt;&#13;&#10;    &lt;Text style={{ fontSize: 300, fontWeight: 'bold', color: 'rgba(255,255,255,0.08)', lineHeight: 1.0 }}&gt;04&lt;/Text&gt;&#13;&#10;  &lt;/Box&gt;&#13;&#10;&#13;&#10;  &lt;Box style={{ position: 'absolute', left: 88, top: 232, width: 760, flexDirection: 'column' }}&gt;&#13;&#10;    &lt;Text style={{ fontSize: 15, color: 'rgba(255,255,255,0.5)', letterSpacing: 3 }}&gt;PART 04&lt;/Text&gt;&#13;&#10;    &lt;Box style={{ width: 72, height: 5, background: '#FA4F24', marginTop: 22 }} /&gt;&#13;&#10;    &lt;Text style={{ fontSize: 52, fontWeight: 'bold', color: '#FFFFFF', marginTop: 28, lineHeight: 1.15 }}&gt;回到 4A&lt;/Text&gt;&#13;&#10;    &lt;Text style={{ fontSize: 17, color: 'rgba(255,255,255,0.62)', letterSpacing: 2, marginTop: 20 }}&gt;BACK TO THE 4A ARCHITECTURE&lt;/Text&gt;&#13;&#10;    &lt;Text style={{ fontSize: 19, color: 'rgba(255,255,255,0.85)', marginTop: 26, lineHeight: 1.6 }}&gt;把主数据当成一个业务应用来设计&lt;/Text&gt;&#13;&#10;    &lt;Text style={{ fontSize: 14.5, color: 'rgba(255,255,255,0.55)', marginTop: 16, lineHeight: 1.55, width: 720 }}&gt;主数据同样是业务应用：有业务对象、有归属组织、有支撑应用、有技术底座，也有它自己特殊的地方——尤其是「谁拥有这个实体」这个在其他专册里不存在的问题。&lt;/Text&gt;&#13;&#10;  &lt;/Box&gt;&#13;&#10;&#13;&#10;  &lt;Box style={{ position: 'absolute', right: 88, bottom: 64, flexDirection: 'row', alignItems: 'center', gap: 12 }}&gt;&#13;&#10;    &lt;Box style={{ width: 14, height: 14, background: '#FA4F24' }} /&gt;&#13;&#10;    &lt;Text style={{ fontSize: 14, color: 'rgba(255,255,255,0.5)' }}&gt;硕磐机密 · 主数据咨询方法论&lt;/Text&gt;&#13;&#10;    &lt;Text style={{ fontSize: 14, color: 'rgba(255,255,255,0.5)', marginLeft: 12 }}&gt;@@PAGE@@ / 30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8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81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882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883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723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04</a:t>
            </a:r>
            <a:endParaRPr/>
          </a:p>
        </p:txBody>
      </p:sp>
      <p:sp>
        <p:nvSpPr>
          <p:cNvPr id="884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85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7239000" cy="6858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回到</a:t>
            </a:r>
            <a:r>
              <a:rPr lang="en-US" sz="39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4A</a:t>
            </a:r>
            <a:endParaRPr/>
          </a:p>
        </p:txBody>
      </p:sp>
      <p:sp>
        <p:nvSpPr>
          <p:cNvPr id="886" name="" descr="{&quot;isTemplate&quot;:true,&quot;type&quot;:&quot;text&quot;}"/>
          <p:cNvSpPr txBox="1"/>
          <p:nvPr/>
        </p:nvSpPr>
        <p:spPr>
          <a:xfrm rot="0" flipH="0" flipV="0">
            <a:off x="838200" y="3781425"/>
            <a:ext cx="723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BACK TO THE 4A ARCHITECTURE</a:t>
            </a:r>
            <a:endParaRPr/>
          </a:p>
        </p:txBody>
      </p:sp>
      <p:sp>
        <p:nvSpPr>
          <p:cNvPr id="887" name="" descr="{&quot;isTemplate&quot;:true,&quot;type&quot;:&quot;text&quot;}"/>
          <p:cNvSpPr txBox="1"/>
          <p:nvPr/>
        </p:nvSpPr>
        <p:spPr>
          <a:xfrm rot="0" flipH="0" flipV="0">
            <a:off x="838200" y="4229100"/>
            <a:ext cx="72390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把主数据当成一个业务应用来设计</a:t>
            </a:r>
            <a:endParaRPr/>
          </a:p>
        </p:txBody>
      </p:sp>
      <p:sp>
        <p:nvSpPr>
          <p:cNvPr id="888" name="" descr="{&quot;isTemplate&quot;:true,&quot;type&quot;:&quot;text&quot;}"/>
          <p:cNvSpPr txBox="1"/>
          <p:nvPr/>
        </p:nvSpPr>
        <p:spPr>
          <a:xfrm rot="0" flipH="0" flipV="0">
            <a:off x="838200" y="4733925"/>
            <a:ext cx="6858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88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主数据同样是业务应用：有业务对象、有归属组织、有支撑应用、有技术底座，也有它自己特殊的地方——尤其是「谁拥有这个实体」这个在其他专册里不存在的问题。</a:t>
            </a:r>
            <a:endParaRPr/>
          </a:p>
        </p:txBody>
      </p:sp>
      <p:sp>
        <p:nvSpPr>
          <p:cNvPr id="889" name=""/>
          <p:cNvSpPr/>
          <p:nvPr/>
        </p:nvSpPr>
        <p:spPr>
          <a:xfrm rot="0" flipH="0" flipV="0">
            <a:off x="7981950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90" name="" descr="{&quot;isTemplate&quot;:true,&quot;type&quot;:&quot;text&quot;}"/>
          <p:cNvSpPr txBox="1"/>
          <p:nvPr/>
        </p:nvSpPr>
        <p:spPr>
          <a:xfrm rot="0" flipH="0" flipV="0">
            <a:off x="8229600" y="608647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主数据咨询方法论</a:t>
            </a:r>
            <a:endParaRPr/>
          </a:p>
        </p:txBody>
      </p:sp>
      <p:sp>
        <p:nvSpPr>
          <p:cNvPr id="891" name="" descr="{&quot;isTemplate&quot;:true,&quot;type&quot;:&quot;text&quot;}"/>
          <p:cNvSpPr txBox="1"/>
          <p:nvPr/>
        </p:nvSpPr>
        <p:spPr>
          <a:xfrm rot="0" flipH="0" flipV="0">
            <a:off x="10172700" y="6086475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@@PAGE@@ / 30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892" name="" descr="&lt;Slide style={{ width: 1280, height: 720, background: '#FFFFFF', padding: '24px 64px 0' }}&gt;&#13;&#10;  &lt;Box style={{ height: 96, flexDirection: 'column', justifyContent: 'flex-start' }}&gt;&#13;&#10;    &lt;Text style={{ fontSize: 32, fontWeight: 'bold', color: '#0F1423' }}&gt;&#13;&#10;      主数据的 4A 映射总览：把它当成一个业务应用&#13;&#10;    &lt;/Text&gt;&#13;&#10;    &lt;Text style={{ fontSize: 20, color: '#8A8F99', marginTop: 8 }}&gt;&#13;&#10;      同样有业务对象、有归属组织、有支撑应用、有技术底座，只是它有一个别人都没有的问题：谁拥有这个实体&#13;&#10;    &lt;/Text&gt;&#13;&#10;  &lt;/Box&gt;&#13;&#10;  &lt;Box style={{ height: 1, background: '#E8E8E8' }} /&gt;&#13;&#10;&#13;&#10;  &lt;Box style={{ paddingTop: 14, paddingBottom: 8, height: 479, flexDirection: 'column', gap: 10 }}&gt;&#13;&#10;    &lt;Box style={{ flex: 1, flexDirection: 'row', gap: 10 }}&gt;&#13;&#10;      &lt;Box style={{ flex: 1, background: '#F7F7F8', borderRadius: 4, padding: '13px 15px', flexDirection: 'column', borderTop: '4px solid #FA4F24' }}&gt;&#13;&#10;        &lt;Text style={{ fontSize: 15, fontWeight: 'bold', color: '#0F1423' }}&gt;BA 业务架构&lt;/Text&gt;&#13;&#10;        &lt;Text style={{ fontSize: 11, color: '#FA4F24', marginTop: 3 }}&gt;谁拥有这个实体&lt;/Text&gt;&#13;&#10;        &lt;Box style={{ flex: 1, marginTop: 9, flexDirection: 'column', gap: 5 }}&gt;&#13;&#10;          {[&#13;&#10;            '数据所有者：定义实体边界与字段口径',&#13;&#10;            '实体管理员：执行合并、拆分、维护层级',&#13;&#10;            '领域 steward：处理例外队列',&#13;&#10;            '仲裁人：影响重大的合并判定',&#13;&#10;            '消费方：按对象集订阅，不直连源表',&#13;&#10;          ].map((t) =&gt; (&#13;&#10;            &lt;Text key={t} style={{ fontSize: 11.5, color: '#3A4050', lineHeight: 1.45 }}&gt;· {t}&lt;/Text&gt;&#13;&#10;          ))}&#13;&#10;        &lt;/Box&gt;&#13;&#10;        &lt;Box style={{ marginTop: 8, background: '#FFFFFF', borderRadius: 3, padding: '7px 9px' }}&gt;&#13;&#10;          &lt;Text style={{ fontSize: 10.5, color: '#3A4050', lineHeight: 1.4 }}&gt;&#13;&#10;            特殊之处：&lt;tspan style={{ fontWeight: 'bold', color: '#C43A17' }}&gt;实体定义权&lt;/tspan&gt;是主数据独有的治理对象。&#13;&#10;          &lt;/Text&gt;&#13;&#10;        &lt;/Box&gt;&#13;&#10;      &lt;/Box&gt;&#13;&#10;&#13;&#10;      &lt;Box style={{ flex: 1, background: '#F7F7F8', borderRadius: 4, padding: '13px 15px', flexDirection: 'column', borderTop: '4px solid #FA4F24' }}&gt;&#13;&#10;        &lt;Text style={{ fontSize: 15, fontWeight: 'bold', color: '#0F1423' }}&gt;DA 数据架构&lt;/Text&gt;&#13;&#10;        &lt;Text style={{ fontSize: 11, color: '#FA4F24', marginTop: 3 }}&gt;十二项主数据元数据&lt;/Text&gt;&#13;&#10;        &lt;Box style={{ flex: 1, marginTop: 9, flexDirection: 'column', gap: 5 }}&gt;&#13;&#10;          {[&#13;&#10;            '对象类型与属性定义',&#13;&#10;            '主键策略与备选键',&#13;&#10;            '链接类型与基数决策',&#13;&#10;            '接口抽象与实现',&#13;&#10;            '解析元数据三件套',&#13;&#10;            '仲裁规则表（版本化）',&#13;&#10;            '匹配规则与阈值',&#13;&#10;            '合并与拆分事件',&#13;&#10;            '消费方订阅契约',&#13;&#10;          ].map((t) =&gt; (&#13;&#10;            &lt;Text key={t} style={{ fontSize: 10.5, color: '#3A4050', lineHeight: 1.35 }}&gt;· {t}&lt;/Text&gt;&#13;&#10;          ))}&#13;&#10;        &lt;/Box&gt;&#13;&#10;        &lt;Box style={{ marginTop: 8, background: '#FFFFFF', borderRadius: 3, padding: '7px 9px' }}&gt;&#13;&#10;          &lt;Text style={{ fontSize: 10, color: '#3A4050', lineHeight: 1.35 }}&gt;&#13;&#10;            特殊之处：解析元数据要&lt;tspan style={{ fontWeight: 'bold', color: '#C43A17' }}&gt;可逆&lt;/tspan&gt;，否则合并变单向。&#13;&#10;          &lt;/Text&gt;&#13;&#10;        &lt;/Box&gt;&#13;&#10;      &lt;/Box&gt;&#13;&#10;&#13;&#10;      &lt;Box style={{ flex: 1, background: '#F7F7F8', borderRadius: 4, padding: '13px 15px', flexDirection: 'column', borderTop: '4px solid #FA4F24' }}&gt;&#13;&#10;        &lt;Text style={{ fontSize: 15, fontWeight: 'bold', color: '#0F1423' }}&gt;AA 应用架构&lt;/Text&gt;&#13;&#10;        &lt;Text style={{ fontSize: 11, color: '#FA4F24', marginTop: 3 }}&gt;实体查询与运营应用&lt;/Text&gt;&#13;&#10;        &lt;Box style={{ flex: 1, marginTop: 9, flexDirection: 'column', gap: 5 }}&gt;&#13;&#10;          {[&#13;&#10;            '实体查询与对象浏览器',&#13;&#10;            '合并复核工作台',&#13;&#10;            '拆分审批与影响面评估',&#13;&#10;            '例外队列（低置信合并）',&#13;&#10;            '主数据订阅与分发 API',&#13;&#10;            '层级维护界面',&#13;&#10;            '质量与匹配率看板',&#13;&#10;          ].map((t) =&gt; (&#13;&#10;            &lt;Text key={t} style={{ fontSize: 11.5, color: '#3A4050', lineHeight: 1.45 }}&gt;· {t}&lt;/Text&gt;&#13;&#10;          ))}&#13;&#10;        &lt;/Box&gt;&#13;&#10;        &lt;Box style={{ marginTop: 8, background: '#FFFFFF', borderRadius: 3, padding: '7px 9px' }}&gt;&#13;&#10;          &lt;Text style={{ fontSize: 10.5, color: '#3A4050', lineHeight: 1.4 }}&gt;&#13;&#10;            特殊之处：这是&lt;tspan style={{ fontWeight: 'bold', color: '#C43A17' }}&gt;运营型&lt;/tspan&gt;应用，不是报表型。&#13;&#10;          &lt;/Text&gt;&#13;&#10;        &lt;/Box&gt;&#13;&#10;      &lt;/Box&gt;&#13;&#10;&#13;&#10;      &lt;Box style={{ flex: 1, background: '#0F1423', borderRadius: 4, padding: '13px 15px', flexDirection: 'column', borderTop: '4px solid #FBA15C' }}&gt;&#13;&#10;        &lt;Text style={{ fontSize: 15, fontWeight: 'bold', color: '#FFFFFF' }}&gt;TA 技术架构&lt;/Text&gt;&#13;&#10;        &lt;Text style={{ fontSize: 11, color: '#FBA15C', marginTop: 3 }}&gt;解析引擎与两速同步&lt;/Text&gt;&#13;&#10;        &lt;Box style={{ flex: 1, marginTop: 9, flexDirection: 'column', gap: 5 }}&gt;&#13;&#10;          {[&#13;&#10;            '实体解析服务（分块+打分+聚类）',&#13;&#10;            '图存储（层级与关系遍历）',&#13;&#10;            'writeback 数据集与版本',&#13;&#10;            '事件流与 API 网关',&#13;&#10;            '批量对账引擎（两速之一）',&#13;&#10;            '主键生成与唯一性校验',&#13;&#10;          ].map((t) =&gt; (&#13;&#10;            &lt;Text key={t} style={{ fontSize: 11.5, color: 'rgba(255,255,255,0.82)', lineHeight: 1.45 }}&gt;· {t}&lt;/Text&gt;&#13;&#10;          ))}&#13;&#10;        &lt;/Box&gt;&#13;&#10;        &lt;Box style={{ marginTop: 8, background: 'rgba(250,79,36,0.18)', borderRadius: 3, padding: '7px 9px' }}&gt;&#13;&#10;          &lt;Text style={{ fontSize: 10, color: 'rgba(255,255,255,0.9)', lineHeight: 1.35 }}&gt;&#13;&#10;            特殊之处：解析&lt;tspan style={{ fontWeight: 'bold', color: '#FBA15C' }}&gt;必须幂等&lt;/tspan&gt;，重跑不能产生第二组合并。&#13;&#10;          &lt;/Text&gt;&#13;&#10;        &lt;/Box&gt;&#13;&#10;      &lt;/Box&gt;&#13;&#10;    &lt;/Box&gt;&#13;&#10;&#13;&#10;    &lt;Box style={{ height: 112, background: '#FFF3EE', borderRadius: 4, borderLeft: '4px solid #FA4F24', padding: '12px 18px', flexDirection: 'row', alignItems: 'center', gap: 14 }}&gt;&#13;&#10;      &lt;Text style={{ fontSize: 14, fontWeight: 'bold', color: '#C43A17' }}&gt;主数据的四个「特有之处」&lt;/Text&gt;&#13;&#10;      &lt;Box style={{ width: 1, height: 62, background: '#FBA15C' }} /&gt;&#13;&#10;      {[&#13;&#10;        { t: '定义权是治理对象', d: '别的 4A 管数据与功能，主数据要先问「谁有权定义这个实体」' },&#13;&#10;        { t: '合并不是覆盖，是聚合', d: '带血缘的合并，且必须能撤销' },&#13;&#10;        { t: '真相运行时算出来', d: '多源值全留，仲裁规则版本化' },&#13;&#10;        { t: '错误被下游放大', d: '实体层做错，AI 在批量放大错误' },&#13;&#10;      ].map((x) =&gt; (&#13;&#10;        &lt;Box key={x.t} style={{ flex: 1, background: '#FFFFFF', borderRadius: 3, padding: '9px 11px' }}&gt;&#13;&#10;          &lt;Text style={{ fontSize: 12.5, fontWeight: 'bold', color: '#0F1423' }}&gt;{x.t}&lt;/Text&gt;&#13;&#10;          &lt;Text style={{ fontSize: 11, color: '#3A4050', marginTop: 4, lineHeight: 1.45 }}&gt;{x.d}&lt;/Text&gt;&#13;&#10;        &lt;/Box&gt;&#13;&#10;      ))}&#13;&#10;    &lt;/Box&gt;&#13;&#10;  &lt;/Box&gt;&#13;&#10;&#13;&#10;  &lt;Box style={{ height: 58, flexDirection: 'row', alignItems: 'center', borderTop: '1px solid #E8E8E8' }}&gt;&#13;&#10;    &lt;Box style={{ width: 10, height: 10, background: '#FA4F24' }} /&gt;&#13;&#10;    &lt;Text style={{ fontSize: 13, color: '#8A8F99', marginLeft: 12 }}&gt;硕磐机密 · 主数据咨询方法论&lt;/Text&gt;&#13;&#10;    &lt;Text style={{ fontSize: 13, color: '#8A8F99', marginLeft: 'auto' }}&gt;26 / 30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9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主数据的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4A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映射总览：把它当成一个业务应用</a:t>
            </a:r>
            <a:endParaRPr/>
          </a:p>
        </p:txBody>
      </p:sp>
      <p:sp>
        <p:nvSpPr>
          <p:cNvPr id="89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同样有业务对象、有归属组织、有支撑应用、有技术底座，只是它有一个别人都没有的问题：谁拥有这个实体</a:t>
            </a:r>
            <a:endParaRPr/>
          </a:p>
        </p:txBody>
      </p:sp>
      <p:sp>
        <p:nvSpPr>
          <p:cNvPr id="89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897" name=""/>
          <p:cNvSpPr/>
          <p:nvPr/>
        </p:nvSpPr>
        <p:spPr>
          <a:xfrm rot="0" flipH="0" flipV="0">
            <a:off x="609600" y="1323975"/>
            <a:ext cx="2676525" cy="3190875"/>
          </a:xfrm>
          <a:prstGeom prst="roundRect">
            <a:avLst>
              <a:gd name="adj" fmla="val 142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98" name=""/>
          <p:cNvSpPr/>
          <p:nvPr/>
        </p:nvSpPr>
        <p:spPr>
          <a:xfrm rot="0" flipH="0" flipV="0">
            <a:off x="609600" y="1323975"/>
            <a:ext cx="2676525" cy="3190875"/>
          </a:xfrm>
          <a:custGeom>
            <a:pathLst>
              <a:path w="281" h="335">
                <a:moveTo>
                  <a:pt x="277" y="0"/>
                </a:moveTo>
                <a:cubicBezTo>
                  <a:pt x="279" y="0"/>
                  <a:pt x="281" y="2"/>
                  <a:pt x="281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77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899" name="" descr="{&quot;isTemplate&quot;:true,&quot;type&quot;:&quot;text&quot;}"/>
          <p:cNvSpPr txBox="1"/>
          <p:nvPr/>
        </p:nvSpPr>
        <p:spPr>
          <a:xfrm rot="0" flipH="0" flipV="0">
            <a:off x="752475" y="1447800"/>
            <a:ext cx="2390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BA </a:t>
            </a: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业务架构</a:t>
            </a:r>
            <a:endParaRPr/>
          </a:p>
        </p:txBody>
      </p:sp>
      <p:sp>
        <p:nvSpPr>
          <p:cNvPr id="900" name="" descr="{&quot;isTemplate&quot;:true,&quot;type&quot;:&quot;text&quot;}"/>
          <p:cNvSpPr txBox="1"/>
          <p:nvPr/>
        </p:nvSpPr>
        <p:spPr>
          <a:xfrm rot="0" flipH="0" flipV="0">
            <a:off x="752475" y="1647825"/>
            <a:ext cx="2390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A4F24"/>
                </a:solidFill>
                <a:latin typeface="Microsoft YaHei"/>
                <a:ea typeface="Microsoft YaHei"/>
              </a:rPr>
              <a:t>谁拥有这个实体</a:t>
            </a:r>
            <a:endParaRPr/>
          </a:p>
        </p:txBody>
      </p:sp>
      <p:sp>
        <p:nvSpPr>
          <p:cNvPr id="901" name="" descr="{&quot;isTemplate&quot;:true,&quot;type&quot;:&quot;text&quot;}"/>
          <p:cNvSpPr txBox="1"/>
          <p:nvPr/>
        </p:nvSpPr>
        <p:spPr>
          <a:xfrm rot="0" flipH="0" flipV="0">
            <a:off x="752475" y="1866900"/>
            <a:ext cx="23907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数据所有者：定义实体边界与字段口径</a:t>
            </a:r>
            <a:endParaRPr/>
          </a:p>
        </p:txBody>
      </p:sp>
      <p:sp>
        <p:nvSpPr>
          <p:cNvPr id="902" name="" descr="{&quot;isTemplate&quot;:true,&quot;type&quot;:&quot;text&quot;}"/>
          <p:cNvSpPr txBox="1"/>
          <p:nvPr/>
        </p:nvSpPr>
        <p:spPr>
          <a:xfrm rot="0" flipH="0" flipV="0">
            <a:off x="752475" y="2114550"/>
            <a:ext cx="23907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实体管理员：执行合并、拆分、维护层级</a:t>
            </a:r>
            <a:endParaRPr/>
          </a:p>
        </p:txBody>
      </p:sp>
      <p:sp>
        <p:nvSpPr>
          <p:cNvPr id="903" name="" descr="{&quot;isTemplate&quot;:true,&quot;type&quot;:&quot;text&quot;}"/>
          <p:cNvSpPr txBox="1"/>
          <p:nvPr/>
        </p:nvSpPr>
        <p:spPr>
          <a:xfrm rot="0" flipH="0" flipV="0">
            <a:off x="752475" y="2362200"/>
            <a:ext cx="23907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领域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steward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：处理例外队列</a:t>
            </a:r>
            <a:endParaRPr/>
          </a:p>
        </p:txBody>
      </p:sp>
      <p:sp>
        <p:nvSpPr>
          <p:cNvPr id="904" name="" descr="{&quot;isTemplate&quot;:true,&quot;type&quot;:&quot;text&quot;}"/>
          <p:cNvSpPr txBox="1"/>
          <p:nvPr/>
        </p:nvSpPr>
        <p:spPr>
          <a:xfrm rot="0" flipH="0" flipV="0">
            <a:off x="752475" y="2609850"/>
            <a:ext cx="23907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仲裁人：影响重大的合并判定</a:t>
            </a:r>
            <a:endParaRPr/>
          </a:p>
        </p:txBody>
      </p:sp>
      <p:sp>
        <p:nvSpPr>
          <p:cNvPr id="905" name="" descr="{&quot;isTemplate&quot;:true,&quot;type&quot;:&quot;text&quot;}"/>
          <p:cNvSpPr txBox="1"/>
          <p:nvPr/>
        </p:nvSpPr>
        <p:spPr>
          <a:xfrm rot="0" flipH="0" flipV="0">
            <a:off x="752475" y="2857500"/>
            <a:ext cx="23907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消费方：按对象集订阅，不直连源表</a:t>
            </a:r>
            <a:endParaRPr/>
          </a:p>
        </p:txBody>
      </p:sp>
      <p:sp>
        <p:nvSpPr>
          <p:cNvPr id="906" name=""/>
          <p:cNvSpPr/>
          <p:nvPr/>
        </p:nvSpPr>
        <p:spPr>
          <a:xfrm rot="0" flipH="0" flipV="0">
            <a:off x="752475" y="4048125"/>
            <a:ext cx="2390775" cy="3048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07" name="" descr="{&quot;isTemplate&quot;:true,&quot;type&quot;:&quot;text&quot;}"/>
          <p:cNvSpPr txBox="1"/>
          <p:nvPr/>
        </p:nvSpPr>
        <p:spPr>
          <a:xfrm rot="0" flipH="0" flipV="0">
            <a:off x="838200" y="4114800"/>
            <a:ext cx="221932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特殊之处：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实体定义权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是主数据独有的治理对象。</a:t>
            </a:r>
            <a:endParaRPr/>
          </a:p>
        </p:txBody>
      </p:sp>
      <p:sp>
        <p:nvSpPr>
          <p:cNvPr id="908" name=""/>
          <p:cNvSpPr/>
          <p:nvPr/>
        </p:nvSpPr>
        <p:spPr>
          <a:xfrm rot="0" flipH="0" flipV="0">
            <a:off x="3381375" y="1323975"/>
            <a:ext cx="2667000" cy="3190875"/>
          </a:xfrm>
          <a:prstGeom prst="roundRect">
            <a:avLst>
              <a:gd name="adj" fmla="val 142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09" name=""/>
          <p:cNvSpPr/>
          <p:nvPr/>
        </p:nvSpPr>
        <p:spPr>
          <a:xfrm rot="0" flipH="0" flipV="0">
            <a:off x="3381375" y="1323975"/>
            <a:ext cx="2667000" cy="3190875"/>
          </a:xfrm>
          <a:custGeom>
            <a:pathLst>
              <a:path w="280" h="335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10" name="" descr="{&quot;isTemplate&quot;:true,&quot;type&quot;:&quot;text&quot;}"/>
          <p:cNvSpPr txBox="1"/>
          <p:nvPr/>
        </p:nvSpPr>
        <p:spPr>
          <a:xfrm rot="0" flipH="0" flipV="0">
            <a:off x="3524250" y="1447800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DA </a:t>
            </a: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数据架构</a:t>
            </a:r>
            <a:endParaRPr/>
          </a:p>
        </p:txBody>
      </p:sp>
      <p:sp>
        <p:nvSpPr>
          <p:cNvPr id="911" name="" descr="{&quot;isTemplate&quot;:true,&quot;type&quot;:&quot;text&quot;}"/>
          <p:cNvSpPr txBox="1"/>
          <p:nvPr/>
        </p:nvSpPr>
        <p:spPr>
          <a:xfrm rot="0" flipH="0" flipV="0">
            <a:off x="3524250" y="1647825"/>
            <a:ext cx="23812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A4F24"/>
                </a:solidFill>
                <a:latin typeface="Microsoft YaHei"/>
                <a:ea typeface="Microsoft YaHei"/>
              </a:rPr>
              <a:t>十二项主数据元数据</a:t>
            </a:r>
            <a:endParaRPr/>
          </a:p>
        </p:txBody>
      </p:sp>
      <p:sp>
        <p:nvSpPr>
          <p:cNvPr id="912" name="" descr="{&quot;isTemplate&quot;:true,&quot;type&quot;:&quot;text&quot;}"/>
          <p:cNvSpPr txBox="1"/>
          <p:nvPr/>
        </p:nvSpPr>
        <p:spPr>
          <a:xfrm rot="0" flipH="0" flipV="0">
            <a:off x="3524250" y="1866900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对象类型与属性定义</a:t>
            </a:r>
            <a:endParaRPr/>
          </a:p>
        </p:txBody>
      </p:sp>
      <p:sp>
        <p:nvSpPr>
          <p:cNvPr id="913" name="" descr="{&quot;isTemplate&quot;:true,&quot;type&quot;:&quot;text&quot;}"/>
          <p:cNvSpPr txBox="1"/>
          <p:nvPr/>
        </p:nvSpPr>
        <p:spPr>
          <a:xfrm rot="0" flipH="0" flipV="0">
            <a:off x="3524250" y="2085975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主键策略与备选键</a:t>
            </a:r>
            <a:endParaRPr/>
          </a:p>
        </p:txBody>
      </p:sp>
      <p:sp>
        <p:nvSpPr>
          <p:cNvPr id="914" name="" descr="{&quot;isTemplate&quot;:true,&quot;type&quot;:&quot;text&quot;}"/>
          <p:cNvSpPr txBox="1"/>
          <p:nvPr/>
        </p:nvSpPr>
        <p:spPr>
          <a:xfrm rot="0" flipH="0" flipV="0">
            <a:off x="3524250" y="2305050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链接类型与基数决策</a:t>
            </a:r>
            <a:endParaRPr/>
          </a:p>
        </p:txBody>
      </p:sp>
      <p:sp>
        <p:nvSpPr>
          <p:cNvPr id="915" name="" descr="{&quot;isTemplate&quot;:true,&quot;type&quot;:&quot;text&quot;}"/>
          <p:cNvSpPr txBox="1"/>
          <p:nvPr/>
        </p:nvSpPr>
        <p:spPr>
          <a:xfrm rot="0" flipH="0" flipV="0">
            <a:off x="3524250" y="2524125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接口抽象与实现</a:t>
            </a:r>
            <a:endParaRPr/>
          </a:p>
        </p:txBody>
      </p:sp>
      <p:sp>
        <p:nvSpPr>
          <p:cNvPr id="916" name="" descr="{&quot;isTemplate&quot;:true,&quot;type&quot;:&quot;text&quot;}"/>
          <p:cNvSpPr txBox="1"/>
          <p:nvPr/>
        </p:nvSpPr>
        <p:spPr>
          <a:xfrm rot="0" flipH="0" flipV="0">
            <a:off x="3524250" y="2743200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解析元数据三件套</a:t>
            </a:r>
            <a:endParaRPr/>
          </a:p>
        </p:txBody>
      </p:sp>
      <p:sp>
        <p:nvSpPr>
          <p:cNvPr id="917" name="" descr="{&quot;isTemplate&quot;:true,&quot;type&quot;:&quot;text&quot;}"/>
          <p:cNvSpPr txBox="1"/>
          <p:nvPr/>
        </p:nvSpPr>
        <p:spPr>
          <a:xfrm rot="0" flipH="0" flipV="0">
            <a:off x="3524250" y="2962275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仲裁规则表（版本化）</a:t>
            </a:r>
            <a:endParaRPr/>
          </a:p>
        </p:txBody>
      </p:sp>
      <p:sp>
        <p:nvSpPr>
          <p:cNvPr id="918" name="" descr="{&quot;isTemplate&quot;:true,&quot;type&quot;:&quot;text&quot;}"/>
          <p:cNvSpPr txBox="1"/>
          <p:nvPr/>
        </p:nvSpPr>
        <p:spPr>
          <a:xfrm rot="0" flipH="0" flipV="0">
            <a:off x="3524250" y="3181350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匹配规则与阈值</a:t>
            </a:r>
            <a:endParaRPr/>
          </a:p>
        </p:txBody>
      </p:sp>
      <p:sp>
        <p:nvSpPr>
          <p:cNvPr id="919" name="" descr="{&quot;isTemplate&quot;:true,&quot;type&quot;:&quot;text&quot;}"/>
          <p:cNvSpPr txBox="1"/>
          <p:nvPr/>
        </p:nvSpPr>
        <p:spPr>
          <a:xfrm rot="0" flipH="0" flipV="0">
            <a:off x="3524250" y="3400425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合并与拆分事件</a:t>
            </a:r>
            <a:endParaRPr/>
          </a:p>
        </p:txBody>
      </p:sp>
      <p:sp>
        <p:nvSpPr>
          <p:cNvPr id="920" name="" descr="{&quot;isTemplate&quot;:true,&quot;type&quot;:&quot;text&quot;}"/>
          <p:cNvSpPr txBox="1"/>
          <p:nvPr/>
        </p:nvSpPr>
        <p:spPr>
          <a:xfrm rot="0" flipH="0" flipV="0">
            <a:off x="3524250" y="3619500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消费方订阅契约</a:t>
            </a:r>
            <a:endParaRPr/>
          </a:p>
        </p:txBody>
      </p:sp>
      <p:sp>
        <p:nvSpPr>
          <p:cNvPr id="921" name=""/>
          <p:cNvSpPr/>
          <p:nvPr/>
        </p:nvSpPr>
        <p:spPr>
          <a:xfrm rot="0" flipH="0" flipV="0">
            <a:off x="3524250" y="4057650"/>
            <a:ext cx="2381250" cy="295275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22" name="" descr="{&quot;isTemplate&quot;:true,&quot;type&quot;:&quot;text&quot;}"/>
          <p:cNvSpPr txBox="1"/>
          <p:nvPr/>
        </p:nvSpPr>
        <p:spPr>
          <a:xfrm rot="0" flipH="0" flipV="0">
            <a:off x="3609975" y="4124325"/>
            <a:ext cx="2209800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3A4050"/>
                </a:solidFill>
                <a:latin typeface="Microsoft YaHei"/>
                <a:ea typeface="Microsoft YaHei"/>
              </a:rPr>
              <a:t>特殊之处：解析元数据要</a:t>
            </a:r>
            <a:r>
              <a:rPr lang="zh-CN" sz="750">
                <a:solidFill>
                  <a:srgbClr val="3A4050"/>
                </a:solidFill>
                <a:latin typeface="Microsoft YaHei"/>
                <a:ea typeface="Microsoft YaHei"/>
              </a:rPr>
              <a:t>可逆</a:t>
            </a:r>
            <a:r>
              <a:rPr lang="zh-CN" sz="750">
                <a:solidFill>
                  <a:srgbClr val="3A4050"/>
                </a:solidFill>
                <a:latin typeface="Microsoft YaHei"/>
                <a:ea typeface="Microsoft YaHei"/>
              </a:rPr>
              <a:t>，否则合并变单向。</a:t>
            </a:r>
            <a:endParaRPr/>
          </a:p>
        </p:txBody>
      </p:sp>
      <p:sp>
        <p:nvSpPr>
          <p:cNvPr id="923" name=""/>
          <p:cNvSpPr/>
          <p:nvPr/>
        </p:nvSpPr>
        <p:spPr>
          <a:xfrm rot="0" flipH="0" flipV="0">
            <a:off x="6143625" y="1323975"/>
            <a:ext cx="2676525" cy="3190875"/>
          </a:xfrm>
          <a:prstGeom prst="roundRect">
            <a:avLst>
              <a:gd name="adj" fmla="val 142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24" name=""/>
          <p:cNvSpPr/>
          <p:nvPr/>
        </p:nvSpPr>
        <p:spPr>
          <a:xfrm rot="0" flipH="0" flipV="0">
            <a:off x="6143625" y="1323975"/>
            <a:ext cx="2676525" cy="3190875"/>
          </a:xfrm>
          <a:custGeom>
            <a:pathLst>
              <a:path w="281" h="335">
                <a:moveTo>
                  <a:pt x="277" y="0"/>
                </a:moveTo>
                <a:cubicBezTo>
                  <a:pt x="279" y="0"/>
                  <a:pt x="281" y="2"/>
                  <a:pt x="281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77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25" name="" descr="{&quot;isTemplate&quot;:true,&quot;type&quot;:&quot;text&quot;}"/>
          <p:cNvSpPr txBox="1"/>
          <p:nvPr/>
        </p:nvSpPr>
        <p:spPr>
          <a:xfrm rot="0" flipH="0" flipV="0">
            <a:off x="6286500" y="1447800"/>
            <a:ext cx="2390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AA </a:t>
            </a: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应用架构</a:t>
            </a:r>
            <a:endParaRPr/>
          </a:p>
        </p:txBody>
      </p:sp>
      <p:sp>
        <p:nvSpPr>
          <p:cNvPr id="926" name="" descr="{&quot;isTemplate&quot;:true,&quot;type&quot;:&quot;text&quot;}"/>
          <p:cNvSpPr txBox="1"/>
          <p:nvPr/>
        </p:nvSpPr>
        <p:spPr>
          <a:xfrm rot="0" flipH="0" flipV="0">
            <a:off x="6286500" y="1647825"/>
            <a:ext cx="2390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A4F24"/>
                </a:solidFill>
                <a:latin typeface="Microsoft YaHei"/>
                <a:ea typeface="Microsoft YaHei"/>
              </a:rPr>
              <a:t>实体查询与运营应用</a:t>
            </a:r>
            <a:endParaRPr/>
          </a:p>
        </p:txBody>
      </p:sp>
      <p:sp>
        <p:nvSpPr>
          <p:cNvPr id="927" name="" descr="{&quot;isTemplate&quot;:true,&quot;type&quot;:&quot;text&quot;}"/>
          <p:cNvSpPr txBox="1"/>
          <p:nvPr/>
        </p:nvSpPr>
        <p:spPr>
          <a:xfrm rot="0" flipH="0" flipV="0">
            <a:off x="6286500" y="1866900"/>
            <a:ext cx="23907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实体查询与对象浏览器</a:t>
            </a:r>
            <a:endParaRPr/>
          </a:p>
        </p:txBody>
      </p:sp>
      <p:sp>
        <p:nvSpPr>
          <p:cNvPr id="928" name="" descr="{&quot;isTemplate&quot;:true,&quot;type&quot;:&quot;text&quot;}"/>
          <p:cNvSpPr txBox="1"/>
          <p:nvPr/>
        </p:nvSpPr>
        <p:spPr>
          <a:xfrm rot="0" flipH="0" flipV="0">
            <a:off x="6286500" y="2114550"/>
            <a:ext cx="23907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合并复核工作台</a:t>
            </a:r>
            <a:endParaRPr/>
          </a:p>
        </p:txBody>
      </p:sp>
      <p:sp>
        <p:nvSpPr>
          <p:cNvPr id="929" name="" descr="{&quot;isTemplate&quot;:true,&quot;type&quot;:&quot;text&quot;}"/>
          <p:cNvSpPr txBox="1"/>
          <p:nvPr/>
        </p:nvSpPr>
        <p:spPr>
          <a:xfrm rot="0" flipH="0" flipV="0">
            <a:off x="6286500" y="2362200"/>
            <a:ext cx="23907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拆分审批与影响面评估</a:t>
            </a:r>
            <a:endParaRPr/>
          </a:p>
        </p:txBody>
      </p:sp>
      <p:sp>
        <p:nvSpPr>
          <p:cNvPr id="930" name="" descr="{&quot;isTemplate&quot;:true,&quot;type&quot;:&quot;text&quot;}"/>
          <p:cNvSpPr txBox="1"/>
          <p:nvPr/>
        </p:nvSpPr>
        <p:spPr>
          <a:xfrm rot="0" flipH="0" flipV="0">
            <a:off x="6286500" y="2609850"/>
            <a:ext cx="23907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例外队列（低置信合并）</a:t>
            </a:r>
            <a:endParaRPr/>
          </a:p>
        </p:txBody>
      </p:sp>
      <p:sp>
        <p:nvSpPr>
          <p:cNvPr id="931" name="" descr="{&quot;isTemplate&quot;:true,&quot;type&quot;:&quot;text&quot;}"/>
          <p:cNvSpPr txBox="1"/>
          <p:nvPr/>
        </p:nvSpPr>
        <p:spPr>
          <a:xfrm rot="0" flipH="0" flipV="0">
            <a:off x="6286500" y="2857500"/>
            <a:ext cx="23907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主数据订阅与分发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API</a:t>
            </a:r>
            <a:endParaRPr/>
          </a:p>
        </p:txBody>
      </p:sp>
      <p:sp>
        <p:nvSpPr>
          <p:cNvPr id="932" name="" descr="{&quot;isTemplate&quot;:true,&quot;type&quot;:&quot;text&quot;}"/>
          <p:cNvSpPr txBox="1"/>
          <p:nvPr/>
        </p:nvSpPr>
        <p:spPr>
          <a:xfrm rot="0" flipH="0" flipV="0">
            <a:off x="6286500" y="3105150"/>
            <a:ext cx="23907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层级维护界面</a:t>
            </a:r>
            <a:endParaRPr/>
          </a:p>
        </p:txBody>
      </p:sp>
      <p:sp>
        <p:nvSpPr>
          <p:cNvPr id="933" name="" descr="{&quot;isTemplate&quot;:true,&quot;type&quot;:&quot;text&quot;}"/>
          <p:cNvSpPr txBox="1"/>
          <p:nvPr/>
        </p:nvSpPr>
        <p:spPr>
          <a:xfrm rot="0" flipH="0" flipV="0">
            <a:off x="6286500" y="3352800"/>
            <a:ext cx="23907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质量与匹配率看板</a:t>
            </a:r>
            <a:endParaRPr/>
          </a:p>
        </p:txBody>
      </p:sp>
      <p:sp>
        <p:nvSpPr>
          <p:cNvPr id="934" name=""/>
          <p:cNvSpPr/>
          <p:nvPr/>
        </p:nvSpPr>
        <p:spPr>
          <a:xfrm rot="0" flipH="0" flipV="0">
            <a:off x="6286500" y="4048125"/>
            <a:ext cx="2390775" cy="3048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35" name="" descr="{&quot;isTemplate&quot;:true,&quot;type&quot;:&quot;text&quot;}"/>
          <p:cNvSpPr txBox="1"/>
          <p:nvPr/>
        </p:nvSpPr>
        <p:spPr>
          <a:xfrm rot="0" flipH="0" flipV="0">
            <a:off x="6372225" y="4114800"/>
            <a:ext cx="221932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特殊之处：这是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运营型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应用，不是报表型。</a:t>
            </a:r>
            <a:endParaRPr/>
          </a:p>
        </p:txBody>
      </p:sp>
      <p:sp>
        <p:nvSpPr>
          <p:cNvPr id="936" name=""/>
          <p:cNvSpPr/>
          <p:nvPr/>
        </p:nvSpPr>
        <p:spPr>
          <a:xfrm rot="0" flipH="0" flipV="0">
            <a:off x="8915400" y="1323975"/>
            <a:ext cx="2667000" cy="3190875"/>
          </a:xfrm>
          <a:prstGeom prst="roundRect">
            <a:avLst>
              <a:gd name="adj" fmla="val 1429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937" name=""/>
          <p:cNvSpPr/>
          <p:nvPr/>
        </p:nvSpPr>
        <p:spPr>
          <a:xfrm rot="0" flipH="0" flipV="0">
            <a:off x="8915400" y="1323975"/>
            <a:ext cx="2667000" cy="3190875"/>
          </a:xfrm>
          <a:custGeom>
            <a:pathLst>
              <a:path w="280" h="335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938" name="" descr="{&quot;isTemplate&quot;:true,&quot;type&quot;:&quot;text&quot;}"/>
          <p:cNvSpPr txBox="1"/>
          <p:nvPr/>
        </p:nvSpPr>
        <p:spPr>
          <a:xfrm rot="0" flipH="0" flipV="0">
            <a:off x="9058275" y="1447800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TA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技术架构</a:t>
            </a:r>
            <a:endParaRPr/>
          </a:p>
        </p:txBody>
      </p:sp>
      <p:sp>
        <p:nvSpPr>
          <p:cNvPr id="939" name="" descr="{&quot;isTemplate&quot;:true,&quot;type&quot;:&quot;text&quot;}"/>
          <p:cNvSpPr txBox="1"/>
          <p:nvPr/>
        </p:nvSpPr>
        <p:spPr>
          <a:xfrm rot="0" flipH="0" flipV="0">
            <a:off x="9058275" y="1647825"/>
            <a:ext cx="23812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BA15C"/>
                </a:solidFill>
                <a:latin typeface="Microsoft YaHei"/>
                <a:ea typeface="Microsoft YaHei"/>
              </a:rPr>
              <a:t>解析引擎与两速同步</a:t>
            </a:r>
            <a:endParaRPr/>
          </a:p>
        </p:txBody>
      </p:sp>
      <p:sp>
        <p:nvSpPr>
          <p:cNvPr id="940" name="" descr="{&quot;isTemplate&quot;:true,&quot;type&quot;:&quot;text&quot;}"/>
          <p:cNvSpPr txBox="1"/>
          <p:nvPr/>
        </p:nvSpPr>
        <p:spPr>
          <a:xfrm rot="0" flipH="0" flipV="0">
            <a:off x="9058275" y="1866900"/>
            <a:ext cx="23812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实体解析服务（分块</a:t>
            </a:r>
            <a:r>
              <a:rPr lang="en-US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+</a:t>
            </a: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打分</a:t>
            </a:r>
            <a:r>
              <a:rPr lang="en-US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+</a:t>
            </a: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聚类）</a:t>
            </a:r>
            <a:endParaRPr/>
          </a:p>
        </p:txBody>
      </p:sp>
      <p:sp>
        <p:nvSpPr>
          <p:cNvPr id="941" name="" descr="{&quot;isTemplate&quot;:true,&quot;type&quot;:&quot;text&quot;}"/>
          <p:cNvSpPr txBox="1"/>
          <p:nvPr/>
        </p:nvSpPr>
        <p:spPr>
          <a:xfrm rot="0" flipH="0" flipV="0">
            <a:off x="9058275" y="2114550"/>
            <a:ext cx="23812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图存储（层级与关系遍历）</a:t>
            </a:r>
            <a:endParaRPr/>
          </a:p>
        </p:txBody>
      </p:sp>
      <p:sp>
        <p:nvSpPr>
          <p:cNvPr id="942" name="" descr="{&quot;isTemplate&quot;:true,&quot;type&quot;:&quot;text&quot;}"/>
          <p:cNvSpPr txBox="1"/>
          <p:nvPr/>
        </p:nvSpPr>
        <p:spPr>
          <a:xfrm rot="0" flipH="0" flipV="0">
            <a:off x="9058275" y="2362200"/>
            <a:ext cx="23812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en-US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writeback </a:t>
            </a: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数据集与版本</a:t>
            </a:r>
            <a:endParaRPr/>
          </a:p>
        </p:txBody>
      </p:sp>
      <p:sp>
        <p:nvSpPr>
          <p:cNvPr id="943" name="" descr="{&quot;isTemplate&quot;:true,&quot;type&quot;:&quot;text&quot;}"/>
          <p:cNvSpPr txBox="1"/>
          <p:nvPr/>
        </p:nvSpPr>
        <p:spPr>
          <a:xfrm rot="0" flipH="0" flipV="0">
            <a:off x="9058275" y="2609850"/>
            <a:ext cx="23812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事件流与</a:t>
            </a:r>
            <a:r>
              <a:rPr lang="en-US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网关</a:t>
            </a:r>
            <a:endParaRPr/>
          </a:p>
        </p:txBody>
      </p:sp>
      <p:sp>
        <p:nvSpPr>
          <p:cNvPr id="944" name="" descr="{&quot;isTemplate&quot;:true,&quot;type&quot;:&quot;text&quot;}"/>
          <p:cNvSpPr txBox="1"/>
          <p:nvPr/>
        </p:nvSpPr>
        <p:spPr>
          <a:xfrm rot="0" flipH="0" flipV="0">
            <a:off x="9058275" y="2857500"/>
            <a:ext cx="23812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批量对账引擎（两速之一）</a:t>
            </a:r>
            <a:endParaRPr/>
          </a:p>
        </p:txBody>
      </p:sp>
      <p:sp>
        <p:nvSpPr>
          <p:cNvPr id="945" name="" descr="{&quot;isTemplate&quot;:true,&quot;type&quot;:&quot;text&quot;}"/>
          <p:cNvSpPr txBox="1"/>
          <p:nvPr/>
        </p:nvSpPr>
        <p:spPr>
          <a:xfrm rot="0" flipH="0" flipV="0">
            <a:off x="9058275" y="3105150"/>
            <a:ext cx="23812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主键生成与唯一性校验</a:t>
            </a:r>
            <a:endParaRPr/>
          </a:p>
        </p:txBody>
      </p:sp>
      <p:sp>
        <p:nvSpPr>
          <p:cNvPr id="946" name=""/>
          <p:cNvSpPr/>
          <p:nvPr/>
        </p:nvSpPr>
        <p:spPr>
          <a:xfrm rot="0" flipH="0" flipV="0">
            <a:off x="9058275" y="3905250"/>
            <a:ext cx="2381250" cy="447675"/>
          </a:xfrm>
          <a:prstGeom prst="roundRect">
            <a:avLst>
              <a:gd name="adj" fmla="val 6383"/>
            </a:avLst>
          </a:prstGeom>
          <a:solidFill>
            <a:srgbClr val="FA4F24">
              <a:alpha val="18000"/>
            </a:srgbClr>
          </a:solidFill>
          <a:ln/>
        </p:spPr>
        <p:txBody>
          <a:bodyPr/>
          <a:p/>
        </p:txBody>
      </p:sp>
      <p:sp>
        <p:nvSpPr>
          <p:cNvPr id="947" name="" descr="{&quot;isTemplate&quot;:true,&quot;type&quot;:&quot;text&quot;}"/>
          <p:cNvSpPr txBox="1"/>
          <p:nvPr/>
        </p:nvSpPr>
        <p:spPr>
          <a:xfrm rot="0" flipH="0" flipV="0">
            <a:off x="9144000" y="3971925"/>
            <a:ext cx="2209800" cy="314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7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特殊之处：解析</a:t>
            </a:r>
            <a:r>
              <a:rPr lang="zh-CN" sz="7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必须幂等</a:t>
            </a:r>
            <a:r>
              <a:rPr lang="zh-CN" sz="7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，重跑不能产生第二组合并。</a:t>
            </a:r>
            <a:endParaRPr/>
          </a:p>
        </p:txBody>
      </p:sp>
      <p:sp>
        <p:nvSpPr>
          <p:cNvPr id="948" name=""/>
          <p:cNvSpPr/>
          <p:nvPr/>
        </p:nvSpPr>
        <p:spPr>
          <a:xfrm rot="0" flipH="0" flipV="0">
            <a:off x="647700" y="4572000"/>
            <a:ext cx="10972800" cy="1066800"/>
          </a:xfrm>
          <a:prstGeom prst="roundRect">
            <a:avLst>
              <a:gd name="adj" fmla="val 357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949" name=""/>
          <p:cNvSpPr/>
          <p:nvPr/>
        </p:nvSpPr>
        <p:spPr>
          <a:xfrm rot="0" flipH="0" flipV="0">
            <a:off x="647700" y="4572000"/>
            <a:ext cx="10972800" cy="1066800"/>
          </a:xfrm>
          <a:custGeom>
            <a:pathLst>
              <a:path w="1152" h="112">
                <a:moveTo>
                  <a:pt x="4" y="112"/>
                </a:moveTo>
                <a:cubicBezTo>
                  <a:pt x="2" y="112"/>
                  <a:pt x="0" y="110"/>
                  <a:pt x="0" y="10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1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50" name="" descr="{&quot;isTemplate&quot;:true,&quot;type&quot;:&quot;text&quot;}"/>
          <p:cNvSpPr txBox="1"/>
          <p:nvPr/>
        </p:nvSpPr>
        <p:spPr>
          <a:xfrm rot="0" flipH="0" flipV="0">
            <a:off x="819150" y="5029200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主数据的四个「特有之处」</a:t>
            </a:r>
            <a:endParaRPr/>
          </a:p>
        </p:txBody>
      </p:sp>
      <p:sp>
        <p:nvSpPr>
          <p:cNvPr id="951" name=""/>
          <p:cNvSpPr/>
          <p:nvPr/>
        </p:nvSpPr>
        <p:spPr>
          <a:xfrm rot="0" flipH="0" flipV="0">
            <a:off x="2552700" y="4810125"/>
            <a:ext cx="9525" cy="590550"/>
          </a:xfrm>
          <a:prstGeom prst="rect">
            <a:avLst/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952" name=""/>
          <p:cNvSpPr/>
          <p:nvPr/>
        </p:nvSpPr>
        <p:spPr>
          <a:xfrm rot="0" flipH="0" flipV="0">
            <a:off x="2695575" y="4743450"/>
            <a:ext cx="2076450" cy="7239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53" name="" descr="{&quot;isTemplate&quot;:true,&quot;type&quot;:&quot;text&quot;}"/>
          <p:cNvSpPr txBox="1"/>
          <p:nvPr/>
        </p:nvSpPr>
        <p:spPr>
          <a:xfrm rot="0" flipH="0" flipV="0">
            <a:off x="2800350" y="4829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定义权是治理对象</a:t>
            </a:r>
            <a:endParaRPr/>
          </a:p>
        </p:txBody>
      </p:sp>
      <p:sp>
        <p:nvSpPr>
          <p:cNvPr id="954" name="" descr="{&quot;isTemplate&quot;:true,&quot;type&quot;:&quot;text&quot;}"/>
          <p:cNvSpPr txBox="1"/>
          <p:nvPr/>
        </p:nvSpPr>
        <p:spPr>
          <a:xfrm rot="0" flipH="0" flipV="0">
            <a:off x="2800350" y="5010150"/>
            <a:ext cx="18669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别的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4A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管数据与功能，主数据要先问「谁有权定义这个实体」</a:t>
            </a:r>
            <a:endParaRPr/>
          </a:p>
        </p:txBody>
      </p:sp>
      <p:sp>
        <p:nvSpPr>
          <p:cNvPr id="955" name=""/>
          <p:cNvSpPr/>
          <p:nvPr/>
        </p:nvSpPr>
        <p:spPr>
          <a:xfrm rot="0" flipH="0" flipV="0">
            <a:off x="4905375" y="4838700"/>
            <a:ext cx="2085975" cy="542925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56" name="" descr="{&quot;isTemplate&quot;:true,&quot;type&quot;:&quot;text&quot;}"/>
          <p:cNvSpPr txBox="1"/>
          <p:nvPr/>
        </p:nvSpPr>
        <p:spPr>
          <a:xfrm rot="0" flipH="0" flipV="0">
            <a:off x="5010150" y="4924425"/>
            <a:ext cx="1876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合并不是覆盖，是聚合</a:t>
            </a:r>
            <a:endParaRPr/>
          </a:p>
        </p:txBody>
      </p:sp>
      <p:sp>
        <p:nvSpPr>
          <p:cNvPr id="957" name="" descr="{&quot;isTemplate&quot;:true,&quot;type&quot;:&quot;text&quot;}"/>
          <p:cNvSpPr txBox="1"/>
          <p:nvPr/>
        </p:nvSpPr>
        <p:spPr>
          <a:xfrm rot="0" flipH="0" flipV="0">
            <a:off x="5010150" y="5105400"/>
            <a:ext cx="187642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带血缘的合并，且必须能撤销</a:t>
            </a:r>
            <a:endParaRPr/>
          </a:p>
        </p:txBody>
      </p:sp>
      <p:sp>
        <p:nvSpPr>
          <p:cNvPr id="958" name=""/>
          <p:cNvSpPr/>
          <p:nvPr/>
        </p:nvSpPr>
        <p:spPr>
          <a:xfrm rot="0" flipH="0" flipV="0">
            <a:off x="7124700" y="4838700"/>
            <a:ext cx="2076450" cy="542925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59" name="" descr="{&quot;isTemplate&quot;:true,&quot;type&quot;:&quot;text&quot;}"/>
          <p:cNvSpPr txBox="1"/>
          <p:nvPr/>
        </p:nvSpPr>
        <p:spPr>
          <a:xfrm rot="0" flipH="0" flipV="0">
            <a:off x="7229475" y="492442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真相运行时算出来</a:t>
            </a:r>
            <a:endParaRPr/>
          </a:p>
        </p:txBody>
      </p:sp>
      <p:sp>
        <p:nvSpPr>
          <p:cNvPr id="960" name="" descr="{&quot;isTemplate&quot;:true,&quot;type&quot;:&quot;text&quot;}"/>
          <p:cNvSpPr txBox="1"/>
          <p:nvPr/>
        </p:nvSpPr>
        <p:spPr>
          <a:xfrm rot="0" flipH="0" flipV="0">
            <a:off x="7229475" y="5105400"/>
            <a:ext cx="18669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多源值全留，仲裁规则版本化</a:t>
            </a:r>
            <a:endParaRPr/>
          </a:p>
        </p:txBody>
      </p:sp>
      <p:sp>
        <p:nvSpPr>
          <p:cNvPr id="961" name=""/>
          <p:cNvSpPr/>
          <p:nvPr/>
        </p:nvSpPr>
        <p:spPr>
          <a:xfrm rot="0" flipH="0" flipV="0">
            <a:off x="9334500" y="4838700"/>
            <a:ext cx="2076450" cy="542925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62" name="" descr="{&quot;isTemplate&quot;:true,&quot;type&quot;:&quot;text&quot;}"/>
          <p:cNvSpPr txBox="1"/>
          <p:nvPr/>
        </p:nvSpPr>
        <p:spPr>
          <a:xfrm rot="0" flipH="0" flipV="0">
            <a:off x="9439275" y="492442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错误被下游放大</a:t>
            </a:r>
            <a:endParaRPr/>
          </a:p>
        </p:txBody>
      </p:sp>
      <p:sp>
        <p:nvSpPr>
          <p:cNvPr id="963" name="" descr="{&quot;isTemplate&quot;:true,&quot;type&quot;:&quot;text&quot;}"/>
          <p:cNvSpPr txBox="1"/>
          <p:nvPr/>
        </p:nvSpPr>
        <p:spPr>
          <a:xfrm rot="0" flipH="0" flipV="0">
            <a:off x="9439275" y="5105400"/>
            <a:ext cx="18669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实体层做错，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在批量放大错误</a:t>
            </a:r>
            <a:endParaRPr/>
          </a:p>
        </p:txBody>
      </p:sp>
      <p:sp>
        <p:nvSpPr>
          <p:cNvPr id="964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65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66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主数据咨询方法论</a:t>
            </a:r>
            <a:endParaRPr/>
          </a:p>
        </p:txBody>
      </p:sp>
      <p:sp>
        <p:nvSpPr>
          <p:cNvPr id="967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26 / 30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968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BA 层：&lt;span style={{ color: '#FA4F24' }}&gt;谁拥有这个实体&lt;/span&gt;，比「谁有这张表」难得多&#10;    &lt;/Text&gt;&#10;    &lt;Text style={{ fontSize: 20, color: '#8A8F99', marginTop: 8 }}&gt;&#10;      主数据的核心争议不是技术，是「这三条记录到底算不算同一家公司，最终由谁说了算」&#10;    &lt;/Text&gt;&#10;  &lt;/Box&gt;&#10;  &lt;Box style={{ height: 1, background: '#E8E8E8' }} /&gt;&#10;&#10;  &lt;Box style={{ paddingTop: 14, paddingBottom: 8, height: 479, flexDirection: 'column', gap: 10 }}&gt;&#10;    &lt;Box style={{ flex: 1, flexDirection: 'row', gap: 10 }}&gt;&#10;      &lt;Box style={{ flex: 1.25, background: '#FFFFFF', border: '1px solid #E8E8E8', borderRadius: 4, padding: '13px 17px', flexDirection: 'column' }}&gt;&#10;        &lt;Text style={{ fontSize: 14, fontWeight: 'bold', color: '#0F1423' }}&gt;五类角色的裁决权与产出&lt;/Text&gt;&#10;        &lt;Box style={{ flex: 1, marginTop: 10, flexDirection: 'column', gap: 7 }}&gt;&#10;          {[&#10;            { r: '实体所有者', p: '定义这个实体的边界、主键策略与字段口径', o: '实体定义书' },&#10;            { r: '实体管理员', p: '执行合并、拆分、层级维护，处理例外队列', o: '合并与拆分记录' },&#10;            { r: '领域 steward', p: '按业务语境判定边界情况，签核中低置信合并', o: '例外处置台账' },&#10;            { r: '仲裁人', p: '影响重大的合并与主体判定，一锤定音', o: '仲裁裁定记录' },&#10;            { r: '消费方', p: '按对象集订阅，不直连源表', o: '订阅契约' },&#10;          ].map((x) =&gt; (&#10;            &lt;Box key={x.r} style={{ flexDirection: 'row', gap: 9, alignItems: 'center' }}&gt;&#10;              &lt;Box style={{ width: 92, background: '#F7F7F8', borderRadius: 3, borderLeft: '3px solid #FA4F24', padding: '6px 8px' }}&gt;&#10;                &lt;Text style={{ fontSize: 11.5, fontWeight: 'bold', color: '#0F1423' }}&gt;{x.r}&lt;/Text&gt;&#10;              &lt;/Box&gt;&#10;              &lt;Text style={{ fontSize: 11.5, color: '#3A4050', flex: 1.3, lineHeight: 1.4 }}&gt;{x.p}&lt;/Text&gt;&#10;              &lt;Text style={{ fontSize: 10.5, color: '#FA4F24', fontWeight: 'bold' }}&gt;{x.o}&lt;/Text&gt;&#10;            &lt;/Box&gt;&#10;          ))}&#10;        &lt;/Box&gt;&#10;        &lt;Box style={{ marginTop: 9, background: '#FFF3EE', borderRadius: 3, padding: '8px 11px' }}&gt;&#10;          &lt;Text style={{ fontSize: 11, color: '#3A4050', lineHeight: 1.45 }}&gt;&#10;            常见失败：把五类压成两类——「数据部门管数据，业务随便用」。结果是业务不认数据部门裁定的边界，数据部门也拿不到业务语境。&#10;          &lt;/Text&gt;&#10;        &lt;/Box&gt;&#10;      &lt;/Box&gt;&#10;&#10;      &lt;Box style={{ flex: 1, background: '#0F1423', borderRadius: 4, padding: '13px 17px', flexDirection: 'column' }}&gt;&#10;        &lt;Text style={{ fontSize: 14, fontWeight: 'bold', color: '#FBA15C' }}&gt;三场最难谈的边界争议&lt;/Text&gt;&#10;        &lt;Box style={{ flex: 1, marginTop: 10, flexDirection: 'column', gap: 8 }}&gt;&#10;          {[&#10;            { t: '法人 vs 联系人', d: '一个客户既是法人实体又是一组自然人联系人。硬压成一个模型，结果是两边都不好用。' },&#10;            { t: 'SKU vs 套装', d: '产品既是单品又是组合件。层级不建模，库存与定价口径必然对不上。' },&#10;            { t: '集团内交易对手', d: '子公司之间的关联交易，是不是同一个实体？这个判断只有业务能拍，技术给不出答案。' },&#10;          ].map((x, i) =&gt; (&#10;            &lt;Box key={x.t} style={{ background: 'rgba(255,255,255,0.07)', borderRadius: 3, borderLeft: '3px solid ' + (i === 2 ? '#C43A17' : '#FA4F24'), padding: '9px 11px' }}&gt;&#10;              &lt;Text style={{ fontSize: 12.5, fontWeight: 'bold', color: '#FFFFFF' }}&gt;{x.t}&lt;/Text&gt;&#10;              &lt;Text style={{ fontSize: 11, color: 'rgba(255,255,255,0.8)', marginTop: 3, lineHeight: 1.45 }}&gt;{x.d}&lt;/Text&gt;&#10;            &lt;/Box&gt;&#10;          ))}&#10;        &lt;/Box&gt;&#10;        &lt;Box style={{ marginTop: 9, background: 'rgba(250,79,36,0.18)', borderRadius: 3, padding: '8px 11px' }}&gt;&#10;          &lt;Text style={{ fontSize: 11, color: 'rgba(255,255,255,0.92)', lineHeight: 1.45 }}&gt;&#10;            公网上那句判断很值得引用：主数据跨部门，归属不明确时，黄金记录会变成&lt;tspan style={{ fontWeight: 'bold', color: '#FBA15C' }}&gt;政治产物&lt;/tspan&gt;而不是运营资产。&#10;          &lt;/Text&gt;&#10;        &lt;/Box&gt;&#10;      &lt;/Box&gt;&#10;&#10;      &lt;Box style={{ flex: 0.8, background: '#FFF3EE', borderRadius: 4, borderLeft: '4px solid #FA4F24', padding: '13px 16px', flexDirection: 'column', justifyContent: 'center' }}&gt;&#10;        &lt;Text style={{ fontSize: 14, fontWeight: 'bold', color: '#C43A17' }}&gt;BA 层四个必答问题&lt;/Text&gt;&#10;        &lt;Box style={{ flexDirection: 'column', gap: 9, marginTop: 9 }}&gt;&#10;          {[&#10;            { q: '这个实体归谁？', a: '要具体到部门和一个名字，不能是「业务部」。' },&#10;            { q: '边界争议谁裁？', a: '必须有一个唯一的仲裁人，且不在被争议部门内。' },&#10;            { q: '拆分谁批准？', a: '拆分风险高于合并，审批层级应更高。' },&#10;            { q: '消费方怎么退出？', a: '要能取消订阅，否则改口径时没人配合。' },&#10;          ].map((x) =&gt; (&#10;            &lt;Box key={x.q}&gt;&#10;              &lt;Text style={{ fontSize: 12.5, fontWeight: 'bold', color: '#0F1423' }}&gt;{x.q}&lt;/Text&gt;&#10;              &lt;Text style={{ fontSize: 11, color: '#3A4050', marginTop: 3, lineHeight: 1.45 }}&gt;{x.a}&lt;/Text&gt;&#10;            &lt;/Box&gt;&#10;          ))}&#10;        &lt;/Box&gt;&#10;      &lt;/Box&gt;&#10;    &lt;/Box&gt;&#10;&#10;    &lt;Box style={{ height: 92, background: '#F7F7F8', borderRadius: 4, padding: '11px 18px', flexDirection: 'column' }}&gt;&#10;      &lt;Text style={{ fontSize: 13.5, fontWeight: 'bold', color: '#0F1423' }}&gt;BA 层的产出物清单&lt;/Text&gt;&#10;      &lt;Box style={{ flexDirection: 'row', gap: 8, marginTop: 8 }}&gt;&#10;        {[&#10;          '主数据域与归属矩阵',&#10;          '实体定义书（含主键策略）',&#10;          '边界争议仲裁规则与流程',&#10;          '合并与拆分审批权限表',&#10;          '消费方订阅与退出机制',&#10;        ].map((t) =&gt; (&#10;          &lt;Box key={t} style={{ flex: 1, background: '#FFFFFF', borderRadius: 3, borderTop: '3px solid #FA4F24', padding: '8px 10px' }}&gt;&#10;            &lt;Text style={{ fontSize: 11.5, color: '#3A4050', lineHeight: 1.45 }}&gt;{t}&lt;/Text&gt;&#10;          &lt;/Box&gt;&#10;        ))}&#10;      &lt;/Box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主数据咨询方法论&lt;/Text&gt;&#10;    &lt;Text style={{ fontSize: 13, color: '#8A8F99', marginLeft: 'auto' }}&gt;27 / 3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70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BA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层：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谁拥有这个实体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，比「谁有这张表」难得多</a:t>
            </a:r>
            <a:endParaRPr/>
          </a:p>
        </p:txBody>
      </p:sp>
      <p:sp>
        <p:nvSpPr>
          <p:cNvPr id="97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主数据的核心争议不是技术，是「这三条记录到底算不算同一家公司，最终由谁说了算」</a:t>
            </a:r>
            <a:endParaRPr/>
          </a:p>
        </p:txBody>
      </p:sp>
      <p:sp>
        <p:nvSpPr>
          <p:cNvPr id="972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973" name=""/>
          <p:cNvSpPr/>
          <p:nvPr/>
        </p:nvSpPr>
        <p:spPr>
          <a:xfrm rot="0" flipH="0" flipV="0">
            <a:off x="609600" y="1285875"/>
            <a:ext cx="4419600" cy="3409950"/>
          </a:xfrm>
          <a:prstGeom prst="roundRect">
            <a:avLst>
              <a:gd name="adj" fmla="val 111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974" name="" descr="{&quot;isTemplate&quot;:true,&quot;type&quot;:&quot;text&quot;}"/>
          <p:cNvSpPr txBox="1"/>
          <p:nvPr/>
        </p:nvSpPr>
        <p:spPr>
          <a:xfrm rot="0" flipH="0" flipV="0">
            <a:off x="771525" y="1409700"/>
            <a:ext cx="409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五类角色的裁决权与产出</a:t>
            </a:r>
            <a:endParaRPr/>
          </a:p>
        </p:txBody>
      </p:sp>
      <p:sp>
        <p:nvSpPr>
          <p:cNvPr id="975" name=""/>
          <p:cNvSpPr/>
          <p:nvPr/>
        </p:nvSpPr>
        <p:spPr>
          <a:xfrm rot="0" flipH="0" flipV="0">
            <a:off x="800100" y="1666875"/>
            <a:ext cx="847725" cy="247650"/>
          </a:xfrm>
          <a:prstGeom prst="roundRect">
            <a:avLst>
              <a:gd name="adj" fmla="val 1153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76" name=""/>
          <p:cNvSpPr/>
          <p:nvPr/>
        </p:nvSpPr>
        <p:spPr>
          <a:xfrm rot="0" flipH="0" flipV="0">
            <a:off x="800100" y="1666875"/>
            <a:ext cx="847725" cy="247650"/>
          </a:xfrm>
          <a:custGeom>
            <a:pathLst>
              <a:path w="89" h="26">
                <a:moveTo>
                  <a:pt x="3" y="26"/>
                </a:moveTo>
                <a:cubicBezTo>
                  <a:pt x="1" y="26"/>
                  <a:pt x="0" y="25"/>
                  <a:pt x="0" y="2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2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77" name="" descr="{&quot;isTemplate&quot;:true,&quot;type&quot;:&quot;text&quot;}"/>
          <p:cNvSpPr txBox="1"/>
          <p:nvPr/>
        </p:nvSpPr>
        <p:spPr>
          <a:xfrm rot="0" flipH="0" flipV="0">
            <a:off x="876300" y="1724025"/>
            <a:ext cx="695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实体所有者</a:t>
            </a:r>
            <a:endParaRPr/>
          </a:p>
        </p:txBody>
      </p:sp>
      <p:sp>
        <p:nvSpPr>
          <p:cNvPr id="978" name="" descr="{&quot;isTemplate&quot;:true,&quot;type&quot;:&quot;text&quot;}"/>
          <p:cNvSpPr txBox="1"/>
          <p:nvPr/>
        </p:nvSpPr>
        <p:spPr>
          <a:xfrm rot="0" flipH="0" flipV="0">
            <a:off x="1733550" y="1695450"/>
            <a:ext cx="254317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定义这个实体的边界、主键策略与字段口径</a:t>
            </a:r>
            <a:endParaRPr/>
          </a:p>
        </p:txBody>
      </p:sp>
      <p:sp>
        <p:nvSpPr>
          <p:cNvPr id="979" name="" descr="{&quot;isTemplate&quot;:true,&quot;type&quot;:&quot;text&quot;}"/>
          <p:cNvSpPr txBox="1"/>
          <p:nvPr/>
        </p:nvSpPr>
        <p:spPr>
          <a:xfrm rot="0" flipH="0" flipV="0">
            <a:off x="4362450" y="1733550"/>
            <a:ext cx="5048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FA4F24"/>
                </a:solidFill>
                <a:latin typeface="Microsoft YaHei"/>
                <a:ea typeface="Microsoft YaHei"/>
              </a:rPr>
              <a:t>实体定义书</a:t>
            </a:r>
            <a:endParaRPr/>
          </a:p>
        </p:txBody>
      </p:sp>
      <p:sp>
        <p:nvSpPr>
          <p:cNvPr id="980" name=""/>
          <p:cNvSpPr/>
          <p:nvPr/>
        </p:nvSpPr>
        <p:spPr>
          <a:xfrm rot="0" flipH="0" flipV="0">
            <a:off x="800100" y="1981200"/>
            <a:ext cx="847725" cy="247650"/>
          </a:xfrm>
          <a:prstGeom prst="roundRect">
            <a:avLst>
              <a:gd name="adj" fmla="val 1153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81" name=""/>
          <p:cNvSpPr/>
          <p:nvPr/>
        </p:nvSpPr>
        <p:spPr>
          <a:xfrm rot="0" flipH="0" flipV="0">
            <a:off x="800100" y="1981200"/>
            <a:ext cx="847725" cy="247650"/>
          </a:xfrm>
          <a:custGeom>
            <a:pathLst>
              <a:path w="89" h="26">
                <a:moveTo>
                  <a:pt x="3" y="26"/>
                </a:moveTo>
                <a:cubicBezTo>
                  <a:pt x="1" y="26"/>
                  <a:pt x="0" y="25"/>
                  <a:pt x="0" y="2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2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82" name="" descr="{&quot;isTemplate&quot;:true,&quot;type&quot;:&quot;text&quot;}"/>
          <p:cNvSpPr txBox="1"/>
          <p:nvPr/>
        </p:nvSpPr>
        <p:spPr>
          <a:xfrm rot="0" flipH="0" flipV="0">
            <a:off x="876300" y="2038350"/>
            <a:ext cx="695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实体管理员</a:t>
            </a:r>
            <a:endParaRPr/>
          </a:p>
        </p:txBody>
      </p:sp>
      <p:sp>
        <p:nvSpPr>
          <p:cNvPr id="983" name="" descr="{&quot;isTemplate&quot;:true,&quot;type&quot;:&quot;text&quot;}"/>
          <p:cNvSpPr txBox="1"/>
          <p:nvPr/>
        </p:nvSpPr>
        <p:spPr>
          <a:xfrm rot="0" flipH="0" flipV="0">
            <a:off x="1733550" y="2009775"/>
            <a:ext cx="23431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执行合并、拆分、层级维护，处理例外队列</a:t>
            </a:r>
            <a:endParaRPr/>
          </a:p>
        </p:txBody>
      </p:sp>
      <p:sp>
        <p:nvSpPr>
          <p:cNvPr id="984" name="" descr="{&quot;isTemplate&quot;:true,&quot;type&quot;:&quot;text&quot;}"/>
          <p:cNvSpPr txBox="1"/>
          <p:nvPr/>
        </p:nvSpPr>
        <p:spPr>
          <a:xfrm rot="0" flipH="0" flipV="0">
            <a:off x="4162425" y="2047875"/>
            <a:ext cx="7048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FA4F24"/>
                </a:solidFill>
                <a:latin typeface="Microsoft YaHei"/>
                <a:ea typeface="Microsoft YaHei"/>
              </a:rPr>
              <a:t>合并与拆分记录</a:t>
            </a:r>
            <a:endParaRPr/>
          </a:p>
        </p:txBody>
      </p:sp>
      <p:sp>
        <p:nvSpPr>
          <p:cNvPr id="985" name=""/>
          <p:cNvSpPr/>
          <p:nvPr/>
        </p:nvSpPr>
        <p:spPr>
          <a:xfrm rot="0" flipH="0" flipV="0">
            <a:off x="800100" y="2295525"/>
            <a:ext cx="847725" cy="247650"/>
          </a:xfrm>
          <a:prstGeom prst="roundRect">
            <a:avLst>
              <a:gd name="adj" fmla="val 1153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86" name=""/>
          <p:cNvSpPr/>
          <p:nvPr/>
        </p:nvSpPr>
        <p:spPr>
          <a:xfrm rot="0" flipH="0" flipV="0">
            <a:off x="800100" y="2295525"/>
            <a:ext cx="847725" cy="247650"/>
          </a:xfrm>
          <a:custGeom>
            <a:pathLst>
              <a:path w="89" h="26">
                <a:moveTo>
                  <a:pt x="3" y="26"/>
                </a:moveTo>
                <a:cubicBezTo>
                  <a:pt x="1" y="26"/>
                  <a:pt x="0" y="25"/>
                  <a:pt x="0" y="2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2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87" name="" descr="{&quot;isTemplate&quot;:true,&quot;type&quot;:&quot;text&quot;}"/>
          <p:cNvSpPr txBox="1"/>
          <p:nvPr/>
        </p:nvSpPr>
        <p:spPr>
          <a:xfrm rot="0" flipH="0" flipV="0">
            <a:off x="876300" y="2352675"/>
            <a:ext cx="695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领域</a:t>
            </a:r>
            <a:r>
              <a:rPr lang="en-US" sz="863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steward</a:t>
            </a:r>
            <a:endParaRPr/>
          </a:p>
        </p:txBody>
      </p:sp>
      <p:sp>
        <p:nvSpPr>
          <p:cNvPr id="988" name="" descr="{&quot;isTemplate&quot;:true,&quot;type&quot;:&quot;text&quot;}"/>
          <p:cNvSpPr txBox="1"/>
          <p:nvPr/>
        </p:nvSpPr>
        <p:spPr>
          <a:xfrm rot="0" flipH="0" flipV="0">
            <a:off x="1733550" y="2324100"/>
            <a:ext cx="244792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按业务语境判定边界情况，签核中低置信合并</a:t>
            </a:r>
            <a:endParaRPr/>
          </a:p>
        </p:txBody>
      </p:sp>
      <p:sp>
        <p:nvSpPr>
          <p:cNvPr id="989" name="" descr="{&quot;isTemplate&quot;:true,&quot;type&quot;:&quot;text&quot;}"/>
          <p:cNvSpPr txBox="1"/>
          <p:nvPr/>
        </p:nvSpPr>
        <p:spPr>
          <a:xfrm rot="0" flipH="0" flipV="0">
            <a:off x="4267200" y="2362200"/>
            <a:ext cx="6000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FA4F24"/>
                </a:solidFill>
                <a:latin typeface="Microsoft YaHei"/>
                <a:ea typeface="Microsoft YaHei"/>
              </a:rPr>
              <a:t>例外处置台账</a:t>
            </a:r>
            <a:endParaRPr/>
          </a:p>
        </p:txBody>
      </p:sp>
      <p:sp>
        <p:nvSpPr>
          <p:cNvPr id="990" name=""/>
          <p:cNvSpPr/>
          <p:nvPr/>
        </p:nvSpPr>
        <p:spPr>
          <a:xfrm rot="0" flipH="0" flipV="0">
            <a:off x="800100" y="2609850"/>
            <a:ext cx="847725" cy="247650"/>
          </a:xfrm>
          <a:prstGeom prst="roundRect">
            <a:avLst>
              <a:gd name="adj" fmla="val 1153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91" name=""/>
          <p:cNvSpPr/>
          <p:nvPr/>
        </p:nvSpPr>
        <p:spPr>
          <a:xfrm rot="0" flipH="0" flipV="0">
            <a:off x="800100" y="2609850"/>
            <a:ext cx="847725" cy="247650"/>
          </a:xfrm>
          <a:custGeom>
            <a:pathLst>
              <a:path w="89" h="26">
                <a:moveTo>
                  <a:pt x="3" y="26"/>
                </a:moveTo>
                <a:cubicBezTo>
                  <a:pt x="1" y="26"/>
                  <a:pt x="0" y="25"/>
                  <a:pt x="0" y="2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2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92" name="" descr="{&quot;isTemplate&quot;:true,&quot;type&quot;:&quot;text&quot;}"/>
          <p:cNvSpPr txBox="1"/>
          <p:nvPr/>
        </p:nvSpPr>
        <p:spPr>
          <a:xfrm rot="0" flipH="0" flipV="0">
            <a:off x="876300" y="2667000"/>
            <a:ext cx="695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仲裁人</a:t>
            </a:r>
            <a:endParaRPr/>
          </a:p>
        </p:txBody>
      </p:sp>
      <p:sp>
        <p:nvSpPr>
          <p:cNvPr id="993" name="" descr="{&quot;isTemplate&quot;:true,&quot;type&quot;:&quot;text&quot;}"/>
          <p:cNvSpPr txBox="1"/>
          <p:nvPr/>
        </p:nvSpPr>
        <p:spPr>
          <a:xfrm rot="0" flipH="0" flipV="0">
            <a:off x="1733550" y="2638425"/>
            <a:ext cx="244792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影响重大的合并与主体判定，一锤定音</a:t>
            </a:r>
            <a:endParaRPr/>
          </a:p>
        </p:txBody>
      </p:sp>
      <p:sp>
        <p:nvSpPr>
          <p:cNvPr id="994" name="" descr="{&quot;isTemplate&quot;:true,&quot;type&quot;:&quot;text&quot;}"/>
          <p:cNvSpPr txBox="1"/>
          <p:nvPr/>
        </p:nvSpPr>
        <p:spPr>
          <a:xfrm rot="0" flipH="0" flipV="0">
            <a:off x="4267200" y="2676525"/>
            <a:ext cx="6000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FA4F24"/>
                </a:solidFill>
                <a:latin typeface="Microsoft YaHei"/>
                <a:ea typeface="Microsoft YaHei"/>
              </a:rPr>
              <a:t>仲裁裁定记录</a:t>
            </a:r>
            <a:endParaRPr/>
          </a:p>
        </p:txBody>
      </p:sp>
      <p:sp>
        <p:nvSpPr>
          <p:cNvPr id="995" name=""/>
          <p:cNvSpPr/>
          <p:nvPr/>
        </p:nvSpPr>
        <p:spPr>
          <a:xfrm rot="0" flipH="0" flipV="0">
            <a:off x="800100" y="2924175"/>
            <a:ext cx="847725" cy="247650"/>
          </a:xfrm>
          <a:prstGeom prst="roundRect">
            <a:avLst>
              <a:gd name="adj" fmla="val 1153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96" name=""/>
          <p:cNvSpPr/>
          <p:nvPr/>
        </p:nvSpPr>
        <p:spPr>
          <a:xfrm rot="0" flipH="0" flipV="0">
            <a:off x="800100" y="2924175"/>
            <a:ext cx="847725" cy="247650"/>
          </a:xfrm>
          <a:custGeom>
            <a:pathLst>
              <a:path w="89" h="26">
                <a:moveTo>
                  <a:pt x="3" y="26"/>
                </a:moveTo>
                <a:cubicBezTo>
                  <a:pt x="1" y="26"/>
                  <a:pt x="0" y="25"/>
                  <a:pt x="0" y="2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2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97" name="" descr="{&quot;isTemplate&quot;:true,&quot;type&quot;:&quot;text&quot;}"/>
          <p:cNvSpPr txBox="1"/>
          <p:nvPr/>
        </p:nvSpPr>
        <p:spPr>
          <a:xfrm rot="0" flipH="0" flipV="0">
            <a:off x="876300" y="2981325"/>
            <a:ext cx="695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消费方</a:t>
            </a:r>
            <a:endParaRPr/>
          </a:p>
        </p:txBody>
      </p:sp>
      <p:sp>
        <p:nvSpPr>
          <p:cNvPr id="998" name="" descr="{&quot;isTemplate&quot;:true,&quot;type&quot;:&quot;text&quot;}"/>
          <p:cNvSpPr txBox="1"/>
          <p:nvPr/>
        </p:nvSpPr>
        <p:spPr>
          <a:xfrm rot="0" flipH="0" flipV="0">
            <a:off x="1733550" y="2952750"/>
            <a:ext cx="26479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按对象集订阅，不直连源表</a:t>
            </a:r>
            <a:endParaRPr/>
          </a:p>
        </p:txBody>
      </p:sp>
      <p:sp>
        <p:nvSpPr>
          <p:cNvPr id="999" name="" descr="{&quot;isTemplate&quot;:true,&quot;type&quot;:&quot;text&quot;}"/>
          <p:cNvSpPr txBox="1"/>
          <p:nvPr/>
        </p:nvSpPr>
        <p:spPr>
          <a:xfrm rot="0" flipH="0" flipV="0">
            <a:off x="4467225" y="2990850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FA4F24"/>
                </a:solidFill>
                <a:latin typeface="Microsoft YaHei"/>
                <a:ea typeface="Microsoft YaHei"/>
              </a:rPr>
              <a:t>订阅契约</a:t>
            </a:r>
            <a:endParaRPr/>
          </a:p>
        </p:txBody>
      </p:sp>
      <p:sp>
        <p:nvSpPr>
          <p:cNvPr id="1000" name=""/>
          <p:cNvSpPr/>
          <p:nvPr/>
        </p:nvSpPr>
        <p:spPr>
          <a:xfrm rot="0" flipH="0" flipV="0">
            <a:off x="771525" y="4048125"/>
            <a:ext cx="4095750" cy="523875"/>
          </a:xfrm>
          <a:prstGeom prst="roundRect">
            <a:avLst>
              <a:gd name="adj" fmla="val 5455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001" name="" descr="{&quot;isTemplate&quot;:true,&quot;type&quot;:&quot;text&quot;}"/>
          <p:cNvSpPr txBox="1"/>
          <p:nvPr/>
        </p:nvSpPr>
        <p:spPr>
          <a:xfrm rot="0" flipH="0" flipV="0">
            <a:off x="876300" y="4124325"/>
            <a:ext cx="3886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常见失败：把五类压成两类——「数据部门管数据，业务随便用」。结果是业务不认数据部门裁定的边界，数据部门也拿不到业务语境。</a:t>
            </a:r>
            <a:endParaRPr/>
          </a:p>
        </p:txBody>
      </p:sp>
      <p:sp>
        <p:nvSpPr>
          <p:cNvPr id="1002" name=""/>
          <p:cNvSpPr/>
          <p:nvPr/>
        </p:nvSpPr>
        <p:spPr>
          <a:xfrm rot="0" flipH="0" flipV="0">
            <a:off x="5124450" y="1285875"/>
            <a:ext cx="3533775" cy="3409950"/>
          </a:xfrm>
          <a:prstGeom prst="roundRect">
            <a:avLst>
              <a:gd name="adj" fmla="val 111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03" name="" descr="{&quot;isTemplate&quot;:true,&quot;type&quot;:&quot;text&quot;}"/>
          <p:cNvSpPr txBox="1"/>
          <p:nvPr/>
        </p:nvSpPr>
        <p:spPr>
          <a:xfrm rot="0" flipH="0" flipV="0">
            <a:off x="5286375" y="1409700"/>
            <a:ext cx="3209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三场最难谈的边界争议</a:t>
            </a:r>
            <a:endParaRPr/>
          </a:p>
        </p:txBody>
      </p:sp>
      <p:sp>
        <p:nvSpPr>
          <p:cNvPr id="1004" name=""/>
          <p:cNvSpPr/>
          <p:nvPr/>
        </p:nvSpPr>
        <p:spPr>
          <a:xfrm rot="0" flipH="0" flipV="0">
            <a:off x="5314950" y="1666875"/>
            <a:ext cx="3209925" cy="714375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005" name=""/>
          <p:cNvSpPr/>
          <p:nvPr/>
        </p:nvSpPr>
        <p:spPr>
          <a:xfrm rot="0" flipH="0" flipV="0">
            <a:off x="5314950" y="1666875"/>
            <a:ext cx="3209925" cy="714375"/>
          </a:xfrm>
          <a:custGeom>
            <a:pathLst>
              <a:path w="337" h="75">
                <a:moveTo>
                  <a:pt x="3" y="75"/>
                </a:moveTo>
                <a:cubicBezTo>
                  <a:pt x="1" y="75"/>
                  <a:pt x="0" y="74"/>
                  <a:pt x="0" y="7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06" name="" descr="{&quot;isTemplate&quot;:true,&quot;type&quot;:&quot;text&quot;}"/>
          <p:cNvSpPr txBox="1"/>
          <p:nvPr/>
        </p:nvSpPr>
        <p:spPr>
          <a:xfrm rot="0" flipH="0" flipV="0">
            <a:off x="5419725" y="1752600"/>
            <a:ext cx="2971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法人</a:t>
            </a:r>
            <a:r>
              <a:rPr lang="en-US" sz="938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vs </a:t>
            </a: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联系人</a:t>
            </a:r>
            <a:endParaRPr/>
          </a:p>
        </p:txBody>
      </p:sp>
      <p:sp>
        <p:nvSpPr>
          <p:cNvPr id="1007" name="" descr="{&quot;isTemplate&quot;:true,&quot;type&quot;:&quot;text&quot;}"/>
          <p:cNvSpPr txBox="1"/>
          <p:nvPr/>
        </p:nvSpPr>
        <p:spPr>
          <a:xfrm rot="0" flipH="0" flipV="0">
            <a:off x="5419725" y="1924050"/>
            <a:ext cx="29718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一个客户既是法人实体又是一组自然人联系人。硬压成一个模型，结果是两边都不好用。</a:t>
            </a:r>
            <a:endParaRPr/>
          </a:p>
        </p:txBody>
      </p:sp>
      <p:sp>
        <p:nvSpPr>
          <p:cNvPr id="1008" name=""/>
          <p:cNvSpPr/>
          <p:nvPr/>
        </p:nvSpPr>
        <p:spPr>
          <a:xfrm rot="0" flipH="0" flipV="0">
            <a:off x="5314950" y="2457450"/>
            <a:ext cx="3209925" cy="714375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009" name=""/>
          <p:cNvSpPr/>
          <p:nvPr/>
        </p:nvSpPr>
        <p:spPr>
          <a:xfrm rot="0" flipH="0" flipV="0">
            <a:off x="5314950" y="2457450"/>
            <a:ext cx="3209925" cy="714375"/>
          </a:xfrm>
          <a:custGeom>
            <a:pathLst>
              <a:path w="337" h="75">
                <a:moveTo>
                  <a:pt x="3" y="75"/>
                </a:moveTo>
                <a:cubicBezTo>
                  <a:pt x="1" y="75"/>
                  <a:pt x="0" y="74"/>
                  <a:pt x="0" y="7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10" name="" descr="{&quot;isTemplate&quot;:true,&quot;type&quot;:&quot;text&quot;}"/>
          <p:cNvSpPr txBox="1"/>
          <p:nvPr/>
        </p:nvSpPr>
        <p:spPr>
          <a:xfrm rot="0" flipH="0" flipV="0">
            <a:off x="5419725" y="2543175"/>
            <a:ext cx="2971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SKU vs </a:t>
            </a: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套装</a:t>
            </a:r>
            <a:endParaRPr/>
          </a:p>
        </p:txBody>
      </p:sp>
      <p:sp>
        <p:nvSpPr>
          <p:cNvPr id="1011" name="" descr="{&quot;isTemplate&quot;:true,&quot;type&quot;:&quot;text&quot;}"/>
          <p:cNvSpPr txBox="1"/>
          <p:nvPr/>
        </p:nvSpPr>
        <p:spPr>
          <a:xfrm rot="0" flipH="0" flipV="0">
            <a:off x="5419725" y="2714625"/>
            <a:ext cx="29718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产品既是单品又是组合件。层级不建模，库存与定价口径必然对不上。</a:t>
            </a:r>
            <a:endParaRPr/>
          </a:p>
        </p:txBody>
      </p:sp>
      <p:sp>
        <p:nvSpPr>
          <p:cNvPr id="1012" name=""/>
          <p:cNvSpPr/>
          <p:nvPr/>
        </p:nvSpPr>
        <p:spPr>
          <a:xfrm rot="0" flipH="0" flipV="0">
            <a:off x="5314950" y="3248025"/>
            <a:ext cx="3209925" cy="714375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013" name=""/>
          <p:cNvSpPr/>
          <p:nvPr/>
        </p:nvSpPr>
        <p:spPr>
          <a:xfrm rot="0" flipH="0" flipV="0">
            <a:off x="5314950" y="3248025"/>
            <a:ext cx="3209925" cy="714375"/>
          </a:xfrm>
          <a:custGeom>
            <a:pathLst>
              <a:path w="337" h="75">
                <a:moveTo>
                  <a:pt x="3" y="75"/>
                </a:moveTo>
                <a:cubicBezTo>
                  <a:pt x="1" y="75"/>
                  <a:pt x="0" y="74"/>
                  <a:pt x="0" y="7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5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014" name="" descr="{&quot;isTemplate&quot;:true,&quot;type&quot;:&quot;text&quot;}"/>
          <p:cNvSpPr txBox="1"/>
          <p:nvPr/>
        </p:nvSpPr>
        <p:spPr>
          <a:xfrm rot="0" flipH="0" flipV="0">
            <a:off x="5419725" y="3333750"/>
            <a:ext cx="2971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集团内交易对手</a:t>
            </a:r>
            <a:endParaRPr/>
          </a:p>
        </p:txBody>
      </p:sp>
      <p:sp>
        <p:nvSpPr>
          <p:cNvPr id="1015" name="" descr="{&quot;isTemplate&quot;:true,&quot;type&quot;:&quot;text&quot;}"/>
          <p:cNvSpPr txBox="1"/>
          <p:nvPr/>
        </p:nvSpPr>
        <p:spPr>
          <a:xfrm rot="0" flipH="0" flipV="0">
            <a:off x="5419725" y="3505200"/>
            <a:ext cx="29718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子公司之间的关联交易，是不是同一个实体？这个判断只有业务能拍，技术给不出答案。</a:t>
            </a:r>
            <a:endParaRPr/>
          </a:p>
        </p:txBody>
      </p:sp>
      <p:sp>
        <p:nvSpPr>
          <p:cNvPr id="1016" name=""/>
          <p:cNvSpPr/>
          <p:nvPr/>
        </p:nvSpPr>
        <p:spPr>
          <a:xfrm rot="0" flipH="0" flipV="0">
            <a:off x="5286375" y="4048125"/>
            <a:ext cx="3209925" cy="523875"/>
          </a:xfrm>
          <a:prstGeom prst="roundRect">
            <a:avLst>
              <a:gd name="adj" fmla="val 5455"/>
            </a:avLst>
          </a:prstGeom>
          <a:solidFill>
            <a:srgbClr val="FA4F24">
              <a:alpha val="18000"/>
            </a:srgbClr>
          </a:solidFill>
          <a:ln/>
        </p:spPr>
        <p:txBody>
          <a:bodyPr/>
          <a:p/>
        </p:txBody>
      </p:sp>
      <p:sp>
        <p:nvSpPr>
          <p:cNvPr id="1017" name="" descr="{&quot;isTemplate&quot;:true,&quot;type&quot;:&quot;text&quot;}"/>
          <p:cNvSpPr txBox="1"/>
          <p:nvPr/>
        </p:nvSpPr>
        <p:spPr>
          <a:xfrm rot="0" flipH="0" flipV="0">
            <a:off x="5391150" y="4124325"/>
            <a:ext cx="3000375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公网上那句判断很值得引用：主数据跨部门，归属不明确时，黄金记录会变成</a:t>
            </a:r>
            <a:r>
              <a:rPr lang="zh-CN" sz="8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政治产物</a:t>
            </a:r>
            <a:r>
              <a:rPr lang="zh-CN" sz="8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而不是运营资产。</a:t>
            </a:r>
            <a:endParaRPr/>
          </a:p>
        </p:txBody>
      </p:sp>
      <p:sp>
        <p:nvSpPr>
          <p:cNvPr id="1018" name=""/>
          <p:cNvSpPr/>
          <p:nvPr/>
        </p:nvSpPr>
        <p:spPr>
          <a:xfrm rot="0" flipH="0" flipV="0">
            <a:off x="8791575" y="1285875"/>
            <a:ext cx="2828925" cy="3409950"/>
          </a:xfrm>
          <a:prstGeom prst="roundRect">
            <a:avLst>
              <a:gd name="adj" fmla="val 134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019" name=""/>
          <p:cNvSpPr/>
          <p:nvPr/>
        </p:nvSpPr>
        <p:spPr>
          <a:xfrm rot="0" flipH="0" flipV="0">
            <a:off x="8791575" y="1285875"/>
            <a:ext cx="2828925" cy="3409950"/>
          </a:xfrm>
          <a:custGeom>
            <a:pathLst>
              <a:path w="297" h="358">
                <a:moveTo>
                  <a:pt x="4" y="358"/>
                </a:moveTo>
                <a:cubicBezTo>
                  <a:pt x="2" y="358"/>
                  <a:pt x="0" y="356"/>
                  <a:pt x="0" y="35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35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20" name="" descr="{&quot;isTemplate&quot;:true,&quot;type&quot;:&quot;text&quot;}"/>
          <p:cNvSpPr txBox="1"/>
          <p:nvPr/>
        </p:nvSpPr>
        <p:spPr>
          <a:xfrm rot="0" flipH="0" flipV="0">
            <a:off x="8943975" y="2019300"/>
            <a:ext cx="2486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BA </a:t>
            </a: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层四个必答问题</a:t>
            </a:r>
            <a:endParaRPr/>
          </a:p>
        </p:txBody>
      </p:sp>
      <p:sp>
        <p:nvSpPr>
          <p:cNvPr id="1021" name="" descr="{&quot;isTemplate&quot;:true,&quot;type&quot;:&quot;text&quot;}"/>
          <p:cNvSpPr txBox="1"/>
          <p:nvPr/>
        </p:nvSpPr>
        <p:spPr>
          <a:xfrm rot="0" flipH="0" flipV="0">
            <a:off x="8943975" y="2266950"/>
            <a:ext cx="2486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这个实体归谁？</a:t>
            </a:r>
            <a:endParaRPr/>
          </a:p>
        </p:txBody>
      </p:sp>
      <p:sp>
        <p:nvSpPr>
          <p:cNvPr id="1022" name="" descr="{&quot;isTemplate&quot;:true,&quot;type&quot;:&quot;text&quot;}"/>
          <p:cNvSpPr txBox="1"/>
          <p:nvPr/>
        </p:nvSpPr>
        <p:spPr>
          <a:xfrm rot="0" flipH="0" flipV="0">
            <a:off x="8943975" y="2438400"/>
            <a:ext cx="248602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要具体到部门和一个名字，不能是「业务部」。</a:t>
            </a:r>
            <a:endParaRPr/>
          </a:p>
        </p:txBody>
      </p:sp>
      <p:sp>
        <p:nvSpPr>
          <p:cNvPr id="1023" name="" descr="{&quot;isTemplate&quot;:true,&quot;type&quot;:&quot;text&quot;}"/>
          <p:cNvSpPr txBox="1"/>
          <p:nvPr/>
        </p:nvSpPr>
        <p:spPr>
          <a:xfrm rot="0" flipH="0" flipV="0">
            <a:off x="8943975" y="2714625"/>
            <a:ext cx="2486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边界争议谁裁？</a:t>
            </a:r>
            <a:endParaRPr/>
          </a:p>
        </p:txBody>
      </p:sp>
      <p:sp>
        <p:nvSpPr>
          <p:cNvPr id="1024" name="" descr="{&quot;isTemplate&quot;:true,&quot;type&quot;:&quot;text&quot;}"/>
          <p:cNvSpPr txBox="1"/>
          <p:nvPr/>
        </p:nvSpPr>
        <p:spPr>
          <a:xfrm rot="0" flipH="0" flipV="0">
            <a:off x="8943975" y="2886075"/>
            <a:ext cx="248602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必须有一个唯一的仲裁人，且不在被争议部门内。</a:t>
            </a:r>
            <a:endParaRPr/>
          </a:p>
        </p:txBody>
      </p:sp>
      <p:sp>
        <p:nvSpPr>
          <p:cNvPr id="1025" name="" descr="{&quot;isTemplate&quot;:true,&quot;type&quot;:&quot;text&quot;}"/>
          <p:cNvSpPr txBox="1"/>
          <p:nvPr/>
        </p:nvSpPr>
        <p:spPr>
          <a:xfrm rot="0" flipH="0" flipV="0">
            <a:off x="8943975" y="3162300"/>
            <a:ext cx="2486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拆分谁批准？</a:t>
            </a:r>
            <a:endParaRPr/>
          </a:p>
        </p:txBody>
      </p:sp>
      <p:sp>
        <p:nvSpPr>
          <p:cNvPr id="1026" name="" descr="{&quot;isTemplate&quot;:true,&quot;type&quot;:&quot;text&quot;}"/>
          <p:cNvSpPr txBox="1"/>
          <p:nvPr/>
        </p:nvSpPr>
        <p:spPr>
          <a:xfrm rot="0" flipH="0" flipV="0">
            <a:off x="8943975" y="3333750"/>
            <a:ext cx="248602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拆分风险高于合并，审批层级应更高。</a:t>
            </a:r>
            <a:endParaRPr/>
          </a:p>
        </p:txBody>
      </p:sp>
      <p:sp>
        <p:nvSpPr>
          <p:cNvPr id="1027" name="" descr="{&quot;isTemplate&quot;:true,&quot;type&quot;:&quot;text&quot;}"/>
          <p:cNvSpPr txBox="1"/>
          <p:nvPr/>
        </p:nvSpPr>
        <p:spPr>
          <a:xfrm rot="0" flipH="0" flipV="0">
            <a:off x="8943975" y="3609975"/>
            <a:ext cx="2486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消费方怎么退出？</a:t>
            </a:r>
            <a:endParaRPr/>
          </a:p>
        </p:txBody>
      </p:sp>
      <p:sp>
        <p:nvSpPr>
          <p:cNvPr id="1028" name="" descr="{&quot;isTemplate&quot;:true,&quot;type&quot;:&quot;text&quot;}"/>
          <p:cNvSpPr txBox="1"/>
          <p:nvPr/>
        </p:nvSpPr>
        <p:spPr>
          <a:xfrm rot="0" flipH="0" flipV="0">
            <a:off x="8943975" y="3781425"/>
            <a:ext cx="248602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要能取消订阅，否则改口径时没人配合。</a:t>
            </a:r>
            <a:endParaRPr/>
          </a:p>
        </p:txBody>
      </p:sp>
      <p:sp>
        <p:nvSpPr>
          <p:cNvPr id="1029" name=""/>
          <p:cNvSpPr/>
          <p:nvPr/>
        </p:nvSpPr>
        <p:spPr>
          <a:xfrm rot="0" flipH="0" flipV="0">
            <a:off x="609600" y="4791075"/>
            <a:ext cx="109728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30" name="" descr="{&quot;isTemplate&quot;:true,&quot;type&quot;:&quot;text&quot;}"/>
          <p:cNvSpPr txBox="1"/>
          <p:nvPr/>
        </p:nvSpPr>
        <p:spPr>
          <a:xfrm rot="0" flipH="0" flipV="0">
            <a:off x="781050" y="4895850"/>
            <a:ext cx="10629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BA </a:t>
            </a: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层的产出物清单</a:t>
            </a:r>
            <a:endParaRPr/>
          </a:p>
        </p:txBody>
      </p:sp>
      <p:sp>
        <p:nvSpPr>
          <p:cNvPr id="1031" name=""/>
          <p:cNvSpPr/>
          <p:nvPr/>
        </p:nvSpPr>
        <p:spPr>
          <a:xfrm rot="0" flipH="0" flipV="0">
            <a:off x="781050" y="5162550"/>
            <a:ext cx="2066925" cy="381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32" name=""/>
          <p:cNvSpPr/>
          <p:nvPr/>
        </p:nvSpPr>
        <p:spPr>
          <a:xfrm rot="0" flipH="0" flipV="0">
            <a:off x="781050" y="5162550"/>
            <a:ext cx="2066925" cy="381000"/>
          </a:xfrm>
          <a:custGeom>
            <a:pathLst>
              <a:path w="217" h="40">
                <a:moveTo>
                  <a:pt x="214" y="0"/>
                </a:moveTo>
                <a:cubicBezTo>
                  <a:pt x="216" y="0"/>
                  <a:pt x="217" y="1"/>
                  <a:pt x="217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1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33" name="" descr="{&quot;isTemplate&quot;:true,&quot;type&quot;:&quot;text&quot;}"/>
          <p:cNvSpPr txBox="1"/>
          <p:nvPr/>
        </p:nvSpPr>
        <p:spPr>
          <a:xfrm rot="0" flipH="0" flipV="0">
            <a:off x="876300" y="5238750"/>
            <a:ext cx="187642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主数据域与归属矩阵</a:t>
            </a:r>
            <a:endParaRPr/>
          </a:p>
        </p:txBody>
      </p:sp>
      <p:sp>
        <p:nvSpPr>
          <p:cNvPr id="1034" name=""/>
          <p:cNvSpPr/>
          <p:nvPr/>
        </p:nvSpPr>
        <p:spPr>
          <a:xfrm rot="0" flipH="0" flipV="0">
            <a:off x="2924175" y="5162550"/>
            <a:ext cx="2066925" cy="381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35" name=""/>
          <p:cNvSpPr/>
          <p:nvPr/>
        </p:nvSpPr>
        <p:spPr>
          <a:xfrm rot="0" flipH="0" flipV="0">
            <a:off x="2924175" y="5162550"/>
            <a:ext cx="2066925" cy="381000"/>
          </a:xfrm>
          <a:custGeom>
            <a:pathLst>
              <a:path w="217" h="40">
                <a:moveTo>
                  <a:pt x="214" y="0"/>
                </a:moveTo>
                <a:cubicBezTo>
                  <a:pt x="216" y="0"/>
                  <a:pt x="217" y="1"/>
                  <a:pt x="217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1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36" name="" descr="{&quot;isTemplate&quot;:true,&quot;type&quot;:&quot;text&quot;}"/>
          <p:cNvSpPr txBox="1"/>
          <p:nvPr/>
        </p:nvSpPr>
        <p:spPr>
          <a:xfrm rot="0" flipH="0" flipV="0">
            <a:off x="3019425" y="5238750"/>
            <a:ext cx="187642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实体定义书（含主键策略）</a:t>
            </a:r>
            <a:endParaRPr/>
          </a:p>
        </p:txBody>
      </p:sp>
      <p:sp>
        <p:nvSpPr>
          <p:cNvPr id="1037" name=""/>
          <p:cNvSpPr/>
          <p:nvPr/>
        </p:nvSpPr>
        <p:spPr>
          <a:xfrm rot="0" flipH="0" flipV="0">
            <a:off x="5067300" y="5162550"/>
            <a:ext cx="2057400" cy="381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38" name=""/>
          <p:cNvSpPr/>
          <p:nvPr/>
        </p:nvSpPr>
        <p:spPr>
          <a:xfrm rot="0" flipH="0" flipV="0">
            <a:off x="5067300" y="5162550"/>
            <a:ext cx="2057400" cy="381000"/>
          </a:xfrm>
          <a:custGeom>
            <a:pathLst>
              <a:path w="216" h="40">
                <a:moveTo>
                  <a:pt x="213" y="0"/>
                </a:moveTo>
                <a:cubicBezTo>
                  <a:pt x="215" y="0"/>
                  <a:pt x="216" y="1"/>
                  <a:pt x="216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13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39" name="" descr="{&quot;isTemplate&quot;:true,&quot;type&quot;:&quot;text&quot;}"/>
          <p:cNvSpPr txBox="1"/>
          <p:nvPr/>
        </p:nvSpPr>
        <p:spPr>
          <a:xfrm rot="0" flipH="0" flipV="0">
            <a:off x="5162550" y="5238750"/>
            <a:ext cx="186690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边界争议仲裁规则与流程</a:t>
            </a:r>
            <a:endParaRPr/>
          </a:p>
        </p:txBody>
      </p:sp>
      <p:sp>
        <p:nvSpPr>
          <p:cNvPr id="1040" name=""/>
          <p:cNvSpPr/>
          <p:nvPr/>
        </p:nvSpPr>
        <p:spPr>
          <a:xfrm rot="0" flipH="0" flipV="0">
            <a:off x="7200900" y="5162550"/>
            <a:ext cx="2066925" cy="381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41" name=""/>
          <p:cNvSpPr/>
          <p:nvPr/>
        </p:nvSpPr>
        <p:spPr>
          <a:xfrm rot="0" flipH="0" flipV="0">
            <a:off x="7200900" y="5162550"/>
            <a:ext cx="2066925" cy="381000"/>
          </a:xfrm>
          <a:custGeom>
            <a:pathLst>
              <a:path w="217" h="40">
                <a:moveTo>
                  <a:pt x="214" y="0"/>
                </a:moveTo>
                <a:cubicBezTo>
                  <a:pt x="216" y="0"/>
                  <a:pt x="217" y="1"/>
                  <a:pt x="217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1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42" name="" descr="{&quot;isTemplate&quot;:true,&quot;type&quot;:&quot;text&quot;}"/>
          <p:cNvSpPr txBox="1"/>
          <p:nvPr/>
        </p:nvSpPr>
        <p:spPr>
          <a:xfrm rot="0" flipH="0" flipV="0">
            <a:off x="7296150" y="5238750"/>
            <a:ext cx="187642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合并与拆分审批权限表</a:t>
            </a:r>
            <a:endParaRPr/>
          </a:p>
        </p:txBody>
      </p:sp>
      <p:sp>
        <p:nvSpPr>
          <p:cNvPr id="1043" name=""/>
          <p:cNvSpPr/>
          <p:nvPr/>
        </p:nvSpPr>
        <p:spPr>
          <a:xfrm rot="0" flipH="0" flipV="0">
            <a:off x="9344025" y="5162550"/>
            <a:ext cx="2066925" cy="381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44" name=""/>
          <p:cNvSpPr/>
          <p:nvPr/>
        </p:nvSpPr>
        <p:spPr>
          <a:xfrm rot="0" flipH="0" flipV="0">
            <a:off x="9344025" y="5162550"/>
            <a:ext cx="2066925" cy="381000"/>
          </a:xfrm>
          <a:custGeom>
            <a:pathLst>
              <a:path w="217" h="40">
                <a:moveTo>
                  <a:pt x="214" y="0"/>
                </a:moveTo>
                <a:cubicBezTo>
                  <a:pt x="216" y="0"/>
                  <a:pt x="217" y="1"/>
                  <a:pt x="217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1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45" name="" descr="{&quot;isTemplate&quot;:true,&quot;type&quot;:&quot;text&quot;}"/>
          <p:cNvSpPr txBox="1"/>
          <p:nvPr/>
        </p:nvSpPr>
        <p:spPr>
          <a:xfrm rot="0" flipH="0" flipV="0">
            <a:off x="9439275" y="5238750"/>
            <a:ext cx="187642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消费方订阅与退出机制</a:t>
            </a:r>
            <a:endParaRPr/>
          </a:p>
        </p:txBody>
      </p:sp>
      <p:sp>
        <p:nvSpPr>
          <p:cNvPr id="1046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47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48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主数据咨询方法论</a:t>
            </a:r>
            <a:endParaRPr/>
          </a:p>
        </p:txBody>
      </p:sp>
      <p:sp>
        <p:nvSpPr>
          <p:cNvPr id="1049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27 / 30</a:t>
            </a:r>
            <a:endParaRPr/>
          </a:p>
        </p:txBody>
      </p:sp>
    </p:spTree>
  </p:cSld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050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DA 层：主数据元数据模型与&lt;span style={{ color: '#FA4F24' }}&gt;十二项必建模&lt;/span&gt;&#10;    &lt;/Text&gt;&#10;    &lt;Text style={{ fontSize: 20, color: '#8A8F99', marginTop: 8 }}&gt;&#10;      建模顺序有硬依赖：先有主键策略，才谈得上匹配；先有解析元数据，才谈得上撤销&#10;    &lt;/Text&gt;&#10;  &lt;/Box&gt;&#10;  &lt;Box style={{ height: 1, background: '#E8E8E8' }} /&gt;&#10;&#10;  &lt;Box style={{ paddingTop: 14, paddingBottom: 8, height: 479, flexDirection: 'column', gap: 10 }}&gt;&#10;    &lt;Box style={{ height: 214, background: '#0F1423', borderRadius: 4, padding: '14px 18px', flexDirection: 'column' }}&gt;&#10;      &lt;Text style={{ fontSize: 14, fontWeight: 'bold', color: '#FBA15C' }}&gt;十二项必建模（按四组分）&lt;/Text&gt;&#10;      &lt;Box style={{ flex: 1, flexDirection: 'row', gap: 10, marginTop: 11 }}&gt;&#10;        {[&#10;          { g: '定义组', items: ['对象类型与属性定义', '主键策略与备选键', '链接类型与基数决策', '接口抽象与实现清单'] },&#10;          { g: '解析组', items: ['匹配规则与阈值配置', '解析元数据三件套', '黄金记录版本'] },&#10;          { g: '仲裁组', items: ['仲裁规则表（版本化）', '生存规则与字段例外', '多源值留存策略'] },&#10;          { g: '运营组', items: ['合并与拆分事件记录', '质量与匹配率指标', '消费方订阅契约'] },&#10;        ].map((x) =&gt; (&#10;          &lt;Box key={x.g} style={{ flex: 1, background: 'rgba(255,255,255,0.07)', borderRadius: 3, borderLeft: '3px solid #FA4F24', padding: '10px 12px', flexDirection: 'column' }}&gt;&#10;            &lt;Text style={{ fontSize: 13.5, fontWeight: 'bold', color: '#FBA15C' }}&gt;{x.g}&lt;/Text&gt;&#10;            &lt;Box style={{ flex: 1, marginTop: 8, flexDirection: 'column', gap: 6 }}&gt;&#10;              {x.items.map((it) =&gt; (&#10;                &lt;Text key={it} style={{ fontSize: 11.5, color: 'rgba(255,255,255,0.85)', lineHeight: 1.4 }}&gt;· {it}&lt;/Text&gt;&#10;              ))}&#10;            &lt;/Box&gt;&#10;          &lt;/Box&gt;&#10;        ))}&#10;      &lt;/Box&gt;&#10;      &lt;Text style={{ fontSize: 11.5, color: 'rgba(255,255,255,0.72)', marginTop: 10, lineHeight: 1.5 }}&gt;&#10;        反过来说也成立：&lt;tspan style={{ fontWeight: 'bold', color: '#FFFFFF' }}&gt;缺了解析元数据，合并就是单向的&lt;/tspan&gt;；缺了仲裁规则表，多源冲突就只能靠人临时拍板。&#10;      &lt;/Text&gt;&#10;    &lt;/Box&gt;&#10;&#10;    &lt;Box style={{ flex: 1, flexDirection: 'row', gap: 10 }}&gt;&#10;      &lt;Box style={{ flex: 1.15, background: '#FFF3EE', borderRadius: 4, borderLeft: '4px solid #FA4F24', padding: '12px 16px', flexDirection: 'column' }}&gt;&#10;        &lt;Text style={{ fontSize: 13.5, fontWeight: 'bold', color: '#C43A17' }}&gt;三条建模硬约束&lt;/Text&gt;&#10;        &lt;Box style={{ flexDirection: 'column', gap: 7, marginTop: 9 }}&gt;&#10;          {[&#10;            '解析元数据必须可逆——canonical / winner / other 三件套齐全，否则拆分无从下手。',&#10;            '仲裁规则必须版本化——上周那个结论是按哪版规则算的，要能回答。',&#10;            '原始层与本体层并存——投影可重算，底片不能删；删了规则一变就得重采。',&#10;          ].map((t) =&gt; (&#10;            &lt;Text key={t} style={{ fontSize: 11.5, color: '#3A4050', lineHeight: 1.5 }}&gt;{t}&lt;/Text&gt;&#10;          ))}&#10;        &lt;/Box&gt;&#10;        &lt;Box style={{ flex: 1, marginTop: 10, background: '#FFFFFF', borderRadius: 3, padding: '9px 11px' }}&gt;&#10;          &lt;Text style={{ fontSize: 11.5, color: '#3A4050', lineHeight: 1.5 }}&gt;&#10;            还有一条容易漏的：&lt;tspan style={{ fontWeight: 'bold', color: '#C43A17' }}&gt;实体→切片的反向索引&lt;/tspan&gt;不在主数据标准清单里，但没有它，实体一变就无法通知知识库重建。&#10;          &lt;/Text&gt;&#10;        &lt;/Box&gt;&#10;      &lt;/Box&gt;&#10;      &lt;Box style={{ flex: 1, background: '#F7F7F8', borderRadius: 4, padding: '12px 16px', flexDirection: 'column', justifyContent: 'center' }}&gt;&#10;        &lt;Text style={{ fontSize: 13.5, fontWeight: 'bold', color: '#0F1423' }}&gt;主键策略的三种选择&lt;/Text&gt;&#10;        &lt;Box style={{ flexDirection: 'column', gap: 7, marginTop: 9 }}&gt;&#10;          {[&#10;            { t: '内部 ID', v: '最稳，但源系统拿不到，所有关联都要靠映射表维护。' },&#10;            { t: '业务键', v: '如 VIN、统一社会信用代码。跨系统可比，但源系统改了它就崩。' },&#10;            { t: '业务键 + 内部 ID 双主', v: '折中做法：内部 ID 为主，业务键做备选与匹配用。多数企业最终选这个。' },&#10;          ].map((x, i) =&gt; (&#10;            &lt;Box key={x.t} style={{ background: '#FFFFFF', borderRadius: 3, borderLeft: '3px solid ' + (i === 2 ? '#C43A17' : '#FA4F24'), padding: '8px 10px' }}&gt;&#10;              &lt;Text style={{ fontSize: 12, fontWeight: 'bold', color: '#0F1423' }}&gt;{x.t}&lt;/Text&gt;&#10;              &lt;Text style={{ fontSize: 11, color: '#3A4050', marginTop: 2, lineHeight: 1.45 }}&gt;{x.v}&lt;/Text&gt;&#10;            &lt;/Box&gt;&#10;          ))}&#10;        &lt;/Box&gt;&#10;      &lt;/Box&gt;&#10;      &lt;Box style={{ flex: 0.85, background: '#FFFFFF', border: '1px solid #E8E8E8', borderRadius: 4, padding: '12px 16px', flexDirection: 'column', justifyContent: 'center' }}&gt;&#10;        &lt;Text style={{ fontSize: 13.5, fontWeight: 'bold', color: '#0F1423' }}&gt;最容易被漏掉的四项&lt;/Text&gt;&#10;        &lt;Text style={{ fontSize: 11.5, color: '#3A4050', marginTop: 8, lineHeight: 1.65 }}&gt;&#10;          一、&lt;tspan style={{ fontWeight: 'bold' }}&gt;仲裁规则版本&lt;/tspan&gt;：规则变了，历史结论无法解释；二、&lt;tspan style={{ fontWeight: 'bold' }}&gt;拆分事件&lt;/tspan&gt;：只记合并不记拆分，等于只记进攻不记撤退；三、&lt;tspan style={{ fontWeight: 'bold' }}&gt;例外队列&lt;/tspan&gt;：低置信合并人工看过的痕迹要留；四、&lt;tspan style={{ fontWeight: 'bold' }}&gt;订阅契约&lt;/tspan&gt;：消费方拿到的是「当前形态」，不是源表。&#10;        &lt;/Text&gt;&#10;      &lt;/Box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主数据咨询方法论&lt;/Text&gt;&#10;    &lt;Text style={{ fontSize: 13, color: '#8A8F99', marginLeft: 'auto' }}&gt;28 / 3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52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DA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层：主数据元数据模型与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十二项必建模</a:t>
            </a:r>
            <a:endParaRPr/>
          </a:p>
        </p:txBody>
      </p:sp>
      <p:sp>
        <p:nvSpPr>
          <p:cNvPr id="1053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建模顺序有硬依赖：先有主键策略，才谈得上匹配；先有解析元数据，才谈得上撤销</a:t>
            </a:r>
            <a:endParaRPr/>
          </a:p>
        </p:txBody>
      </p:sp>
      <p:sp>
        <p:nvSpPr>
          <p:cNvPr id="1054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55" name=""/>
          <p:cNvSpPr/>
          <p:nvPr/>
        </p:nvSpPr>
        <p:spPr>
          <a:xfrm rot="0" flipH="0" flipV="0">
            <a:off x="609600" y="1285875"/>
            <a:ext cx="10972800" cy="2038350"/>
          </a:xfrm>
          <a:prstGeom prst="roundRect">
            <a:avLst>
              <a:gd name="adj" fmla="val 1869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56" name="" descr="{&quot;isTemplate&quot;:true,&quot;type&quot;:&quot;text&quot;}"/>
          <p:cNvSpPr txBox="1"/>
          <p:nvPr/>
        </p:nvSpPr>
        <p:spPr>
          <a:xfrm rot="0" flipH="0" flipV="0">
            <a:off x="781050" y="1419225"/>
            <a:ext cx="10629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十二项必建模（按四组分）</a:t>
            </a:r>
            <a:endParaRPr/>
          </a:p>
        </p:txBody>
      </p:sp>
      <p:sp>
        <p:nvSpPr>
          <p:cNvPr id="1057" name=""/>
          <p:cNvSpPr/>
          <p:nvPr/>
        </p:nvSpPr>
        <p:spPr>
          <a:xfrm rot="0" flipH="0" flipV="0">
            <a:off x="809625" y="1685925"/>
            <a:ext cx="2590800" cy="1362075"/>
          </a:xfrm>
          <a:prstGeom prst="roundRect">
            <a:avLst>
              <a:gd name="adj" fmla="val 209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058" name=""/>
          <p:cNvSpPr/>
          <p:nvPr/>
        </p:nvSpPr>
        <p:spPr>
          <a:xfrm rot="0" flipH="0" flipV="0">
            <a:off x="809625" y="1685925"/>
            <a:ext cx="2590800" cy="1362075"/>
          </a:xfrm>
          <a:custGeom>
            <a:pathLst>
              <a:path w="272" h="143">
                <a:moveTo>
                  <a:pt x="3" y="143"/>
                </a:moveTo>
                <a:cubicBezTo>
                  <a:pt x="1" y="143"/>
                  <a:pt x="0" y="142"/>
                  <a:pt x="0" y="140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4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59" name="" descr="{&quot;isTemplate&quot;:true,&quot;type&quot;:&quot;text&quot;}"/>
          <p:cNvSpPr txBox="1"/>
          <p:nvPr/>
        </p:nvSpPr>
        <p:spPr>
          <a:xfrm rot="0" flipH="0" flipV="0">
            <a:off x="923925" y="1781175"/>
            <a:ext cx="2333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定义组</a:t>
            </a:r>
            <a:endParaRPr/>
          </a:p>
        </p:txBody>
      </p:sp>
      <p:sp>
        <p:nvSpPr>
          <p:cNvPr id="1060" name="" descr="{&quot;isTemplate&quot;:true,&quot;type&quot;:&quot;text&quot;}"/>
          <p:cNvSpPr txBox="1"/>
          <p:nvPr/>
        </p:nvSpPr>
        <p:spPr>
          <a:xfrm rot="0" flipH="0" flipV="0">
            <a:off x="923925" y="2019300"/>
            <a:ext cx="233362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对象类型与属性定义</a:t>
            </a:r>
            <a:endParaRPr/>
          </a:p>
        </p:txBody>
      </p:sp>
      <p:sp>
        <p:nvSpPr>
          <p:cNvPr id="1061" name="" descr="{&quot;isTemplate&quot;:true,&quot;type&quot;:&quot;text&quot;}"/>
          <p:cNvSpPr txBox="1"/>
          <p:nvPr/>
        </p:nvSpPr>
        <p:spPr>
          <a:xfrm rot="0" flipH="0" flipV="0">
            <a:off x="923925" y="2266950"/>
            <a:ext cx="233362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主键策略与备选键</a:t>
            </a:r>
            <a:endParaRPr/>
          </a:p>
        </p:txBody>
      </p:sp>
      <p:sp>
        <p:nvSpPr>
          <p:cNvPr id="1062" name="" descr="{&quot;isTemplate&quot;:true,&quot;type&quot;:&quot;text&quot;}"/>
          <p:cNvSpPr txBox="1"/>
          <p:nvPr/>
        </p:nvSpPr>
        <p:spPr>
          <a:xfrm rot="0" flipH="0" flipV="0">
            <a:off x="923925" y="2514600"/>
            <a:ext cx="233362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链接类型与基数决策</a:t>
            </a:r>
            <a:endParaRPr/>
          </a:p>
        </p:txBody>
      </p:sp>
      <p:sp>
        <p:nvSpPr>
          <p:cNvPr id="1063" name="" descr="{&quot;isTemplate&quot;:true,&quot;type&quot;:&quot;text&quot;}"/>
          <p:cNvSpPr txBox="1"/>
          <p:nvPr/>
        </p:nvSpPr>
        <p:spPr>
          <a:xfrm rot="0" flipH="0" flipV="0">
            <a:off x="923925" y="2762250"/>
            <a:ext cx="233362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接口抽象与实现清单</a:t>
            </a:r>
            <a:endParaRPr/>
          </a:p>
        </p:txBody>
      </p:sp>
      <p:sp>
        <p:nvSpPr>
          <p:cNvPr id="1064" name=""/>
          <p:cNvSpPr/>
          <p:nvPr/>
        </p:nvSpPr>
        <p:spPr>
          <a:xfrm rot="0" flipH="0" flipV="0">
            <a:off x="3495675" y="1685925"/>
            <a:ext cx="2581275" cy="1362075"/>
          </a:xfrm>
          <a:prstGeom prst="roundRect">
            <a:avLst>
              <a:gd name="adj" fmla="val 209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065" name=""/>
          <p:cNvSpPr/>
          <p:nvPr/>
        </p:nvSpPr>
        <p:spPr>
          <a:xfrm rot="0" flipH="0" flipV="0">
            <a:off x="3495675" y="1685925"/>
            <a:ext cx="2581275" cy="1362075"/>
          </a:xfrm>
          <a:custGeom>
            <a:pathLst>
              <a:path w="271" h="143">
                <a:moveTo>
                  <a:pt x="3" y="143"/>
                </a:moveTo>
                <a:cubicBezTo>
                  <a:pt x="1" y="143"/>
                  <a:pt x="0" y="142"/>
                  <a:pt x="0" y="140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4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66" name="" descr="{&quot;isTemplate&quot;:true,&quot;type&quot;:&quot;text&quot;}"/>
          <p:cNvSpPr txBox="1"/>
          <p:nvPr/>
        </p:nvSpPr>
        <p:spPr>
          <a:xfrm rot="0" flipH="0" flipV="0">
            <a:off x="3609975" y="1781175"/>
            <a:ext cx="2324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解析组</a:t>
            </a:r>
            <a:endParaRPr/>
          </a:p>
        </p:txBody>
      </p:sp>
      <p:sp>
        <p:nvSpPr>
          <p:cNvPr id="1067" name="" descr="{&quot;isTemplate&quot;:true,&quot;type&quot;:&quot;text&quot;}"/>
          <p:cNvSpPr txBox="1"/>
          <p:nvPr/>
        </p:nvSpPr>
        <p:spPr>
          <a:xfrm rot="0" flipH="0" flipV="0">
            <a:off x="3609975" y="2019300"/>
            <a:ext cx="23241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匹配规则与阈值配置</a:t>
            </a:r>
            <a:endParaRPr/>
          </a:p>
        </p:txBody>
      </p:sp>
      <p:sp>
        <p:nvSpPr>
          <p:cNvPr id="1068" name="" descr="{&quot;isTemplate&quot;:true,&quot;type&quot;:&quot;text&quot;}"/>
          <p:cNvSpPr txBox="1"/>
          <p:nvPr/>
        </p:nvSpPr>
        <p:spPr>
          <a:xfrm rot="0" flipH="0" flipV="0">
            <a:off x="3609975" y="2266950"/>
            <a:ext cx="23241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解析元数据三件套</a:t>
            </a:r>
            <a:endParaRPr/>
          </a:p>
        </p:txBody>
      </p:sp>
      <p:sp>
        <p:nvSpPr>
          <p:cNvPr id="1069" name="" descr="{&quot;isTemplate&quot;:true,&quot;type&quot;:&quot;text&quot;}"/>
          <p:cNvSpPr txBox="1"/>
          <p:nvPr/>
        </p:nvSpPr>
        <p:spPr>
          <a:xfrm rot="0" flipH="0" flipV="0">
            <a:off x="3609975" y="2514600"/>
            <a:ext cx="23241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黄金记录版本</a:t>
            </a:r>
            <a:endParaRPr/>
          </a:p>
        </p:txBody>
      </p:sp>
      <p:sp>
        <p:nvSpPr>
          <p:cNvPr id="1070" name=""/>
          <p:cNvSpPr/>
          <p:nvPr/>
        </p:nvSpPr>
        <p:spPr>
          <a:xfrm rot="0" flipH="0" flipV="0">
            <a:off x="6172200" y="1685925"/>
            <a:ext cx="2590800" cy="1362075"/>
          </a:xfrm>
          <a:prstGeom prst="roundRect">
            <a:avLst>
              <a:gd name="adj" fmla="val 209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071" name=""/>
          <p:cNvSpPr/>
          <p:nvPr/>
        </p:nvSpPr>
        <p:spPr>
          <a:xfrm rot="0" flipH="0" flipV="0">
            <a:off x="6172200" y="1685925"/>
            <a:ext cx="2590800" cy="1362075"/>
          </a:xfrm>
          <a:custGeom>
            <a:pathLst>
              <a:path w="272" h="143">
                <a:moveTo>
                  <a:pt x="3" y="143"/>
                </a:moveTo>
                <a:cubicBezTo>
                  <a:pt x="1" y="143"/>
                  <a:pt x="0" y="142"/>
                  <a:pt x="0" y="140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4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72" name="" descr="{&quot;isTemplate&quot;:true,&quot;type&quot;:&quot;text&quot;}"/>
          <p:cNvSpPr txBox="1"/>
          <p:nvPr/>
        </p:nvSpPr>
        <p:spPr>
          <a:xfrm rot="0" flipH="0" flipV="0">
            <a:off x="6286500" y="1781175"/>
            <a:ext cx="2333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仲裁组</a:t>
            </a:r>
            <a:endParaRPr/>
          </a:p>
        </p:txBody>
      </p:sp>
      <p:sp>
        <p:nvSpPr>
          <p:cNvPr id="1073" name="" descr="{&quot;isTemplate&quot;:true,&quot;type&quot;:&quot;text&quot;}"/>
          <p:cNvSpPr txBox="1"/>
          <p:nvPr/>
        </p:nvSpPr>
        <p:spPr>
          <a:xfrm rot="0" flipH="0" flipV="0">
            <a:off x="6286500" y="2019300"/>
            <a:ext cx="233362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仲裁规则表（版本化）</a:t>
            </a:r>
            <a:endParaRPr/>
          </a:p>
        </p:txBody>
      </p:sp>
      <p:sp>
        <p:nvSpPr>
          <p:cNvPr id="1074" name="" descr="{&quot;isTemplate&quot;:true,&quot;type&quot;:&quot;text&quot;}"/>
          <p:cNvSpPr txBox="1"/>
          <p:nvPr/>
        </p:nvSpPr>
        <p:spPr>
          <a:xfrm rot="0" flipH="0" flipV="0">
            <a:off x="6286500" y="2266950"/>
            <a:ext cx="233362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生存规则与字段例外</a:t>
            </a:r>
            <a:endParaRPr/>
          </a:p>
        </p:txBody>
      </p:sp>
      <p:sp>
        <p:nvSpPr>
          <p:cNvPr id="1075" name="" descr="{&quot;isTemplate&quot;:true,&quot;type&quot;:&quot;text&quot;}"/>
          <p:cNvSpPr txBox="1"/>
          <p:nvPr/>
        </p:nvSpPr>
        <p:spPr>
          <a:xfrm rot="0" flipH="0" flipV="0">
            <a:off x="6286500" y="2514600"/>
            <a:ext cx="233362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多源值留存策略</a:t>
            </a:r>
            <a:endParaRPr/>
          </a:p>
        </p:txBody>
      </p:sp>
      <p:sp>
        <p:nvSpPr>
          <p:cNvPr id="1076" name=""/>
          <p:cNvSpPr/>
          <p:nvPr/>
        </p:nvSpPr>
        <p:spPr>
          <a:xfrm rot="0" flipH="0" flipV="0">
            <a:off x="8858250" y="1685925"/>
            <a:ext cx="2581275" cy="1362075"/>
          </a:xfrm>
          <a:prstGeom prst="roundRect">
            <a:avLst>
              <a:gd name="adj" fmla="val 209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077" name=""/>
          <p:cNvSpPr/>
          <p:nvPr/>
        </p:nvSpPr>
        <p:spPr>
          <a:xfrm rot="0" flipH="0" flipV="0">
            <a:off x="8858250" y="1685925"/>
            <a:ext cx="2581275" cy="1362075"/>
          </a:xfrm>
          <a:custGeom>
            <a:pathLst>
              <a:path w="271" h="143">
                <a:moveTo>
                  <a:pt x="3" y="143"/>
                </a:moveTo>
                <a:cubicBezTo>
                  <a:pt x="1" y="143"/>
                  <a:pt x="0" y="142"/>
                  <a:pt x="0" y="140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4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78" name="" descr="{&quot;isTemplate&quot;:true,&quot;type&quot;:&quot;text&quot;}"/>
          <p:cNvSpPr txBox="1"/>
          <p:nvPr/>
        </p:nvSpPr>
        <p:spPr>
          <a:xfrm rot="0" flipH="0" flipV="0">
            <a:off x="8972550" y="1781175"/>
            <a:ext cx="2324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运营组</a:t>
            </a:r>
            <a:endParaRPr/>
          </a:p>
        </p:txBody>
      </p:sp>
      <p:sp>
        <p:nvSpPr>
          <p:cNvPr id="1079" name="" descr="{&quot;isTemplate&quot;:true,&quot;type&quot;:&quot;text&quot;}"/>
          <p:cNvSpPr txBox="1"/>
          <p:nvPr/>
        </p:nvSpPr>
        <p:spPr>
          <a:xfrm rot="0" flipH="0" flipV="0">
            <a:off x="8972550" y="2019300"/>
            <a:ext cx="23241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合并与拆分事件记录</a:t>
            </a:r>
            <a:endParaRPr/>
          </a:p>
        </p:txBody>
      </p:sp>
      <p:sp>
        <p:nvSpPr>
          <p:cNvPr id="1080" name="" descr="{&quot;isTemplate&quot;:true,&quot;type&quot;:&quot;text&quot;}"/>
          <p:cNvSpPr txBox="1"/>
          <p:nvPr/>
        </p:nvSpPr>
        <p:spPr>
          <a:xfrm rot="0" flipH="0" flipV="0">
            <a:off x="8972550" y="2266950"/>
            <a:ext cx="23241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质量与匹配率指标</a:t>
            </a:r>
            <a:endParaRPr/>
          </a:p>
        </p:txBody>
      </p:sp>
      <p:sp>
        <p:nvSpPr>
          <p:cNvPr id="1081" name="" descr="{&quot;isTemplate&quot;:true,&quot;type&quot;:&quot;text&quot;}"/>
          <p:cNvSpPr txBox="1"/>
          <p:nvPr/>
        </p:nvSpPr>
        <p:spPr>
          <a:xfrm rot="0" flipH="0" flipV="0">
            <a:off x="8972550" y="2514600"/>
            <a:ext cx="23241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消费方订阅契约</a:t>
            </a:r>
            <a:endParaRPr/>
          </a:p>
        </p:txBody>
      </p:sp>
      <p:sp>
        <p:nvSpPr>
          <p:cNvPr id="1082" name="" descr="{&quot;isTemplate&quot;:true,&quot;type&quot;:&quot;text&quot;}"/>
          <p:cNvSpPr txBox="1"/>
          <p:nvPr/>
        </p:nvSpPr>
        <p:spPr>
          <a:xfrm rot="0" flipH="0" flipV="0">
            <a:off x="781050" y="3143250"/>
            <a:ext cx="106299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反过来说也成立：</a:t>
            </a:r>
            <a:r>
              <a:rPr lang="zh-CN" sz="863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缺了解析元数据，合并就是单向的</a:t>
            </a:r>
            <a:r>
              <a:rPr lang="zh-CN" sz="863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；缺了仲裁规则表，多源冲突就只能靠人临时拍板。</a:t>
            </a:r>
            <a:endParaRPr/>
          </a:p>
        </p:txBody>
      </p:sp>
      <p:sp>
        <p:nvSpPr>
          <p:cNvPr id="1083" name=""/>
          <p:cNvSpPr/>
          <p:nvPr/>
        </p:nvSpPr>
        <p:spPr>
          <a:xfrm rot="0" flipH="0" flipV="0">
            <a:off x="647700" y="3419475"/>
            <a:ext cx="4133850" cy="2305050"/>
          </a:xfrm>
          <a:prstGeom prst="roundRect">
            <a:avLst>
              <a:gd name="adj" fmla="val 165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084" name=""/>
          <p:cNvSpPr/>
          <p:nvPr/>
        </p:nvSpPr>
        <p:spPr>
          <a:xfrm rot="0" flipH="0" flipV="0">
            <a:off x="647700" y="3419475"/>
            <a:ext cx="4133850" cy="2305050"/>
          </a:xfrm>
          <a:custGeom>
            <a:pathLst>
              <a:path w="434" h="242">
                <a:moveTo>
                  <a:pt x="4" y="242"/>
                </a:moveTo>
                <a:cubicBezTo>
                  <a:pt x="2" y="242"/>
                  <a:pt x="0" y="240"/>
                  <a:pt x="0" y="23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4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85" name="" descr="{&quot;isTemplate&quot;:true,&quot;type&quot;:&quot;text&quot;}"/>
          <p:cNvSpPr txBox="1"/>
          <p:nvPr/>
        </p:nvSpPr>
        <p:spPr>
          <a:xfrm rot="0" flipH="0" flipV="0">
            <a:off x="800100" y="3533775"/>
            <a:ext cx="3790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C43A17"/>
                </a:solidFill>
                <a:latin typeface="Microsoft YaHei"/>
                <a:ea typeface="Microsoft YaHei"/>
              </a:rPr>
              <a:t>三条建模硬约束</a:t>
            </a:r>
            <a:endParaRPr/>
          </a:p>
        </p:txBody>
      </p:sp>
      <p:sp>
        <p:nvSpPr>
          <p:cNvPr id="1086" name="" descr="{&quot;isTemplate&quot;:true,&quot;type&quot;:&quot;text&quot;}"/>
          <p:cNvSpPr txBox="1"/>
          <p:nvPr/>
        </p:nvSpPr>
        <p:spPr>
          <a:xfrm rot="0" flipH="0" flipV="0">
            <a:off x="800100" y="3781425"/>
            <a:ext cx="379095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解析元数据必须可逆——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canonical / winner / other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三件套齐全，否则拆分无从下手。</a:t>
            </a:r>
            <a:endParaRPr/>
          </a:p>
        </p:txBody>
      </p:sp>
      <p:sp>
        <p:nvSpPr>
          <p:cNvPr id="1087" name="" descr="{&quot;isTemplate&quot;:true,&quot;type&quot;:&quot;text&quot;}"/>
          <p:cNvSpPr txBox="1"/>
          <p:nvPr/>
        </p:nvSpPr>
        <p:spPr>
          <a:xfrm rot="0" flipH="0" flipV="0">
            <a:off x="800100" y="4248150"/>
            <a:ext cx="379095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仲裁规则必须版本化——上周那个结论是按哪版规则算的，要能回答。</a:t>
            </a:r>
            <a:endParaRPr/>
          </a:p>
        </p:txBody>
      </p:sp>
      <p:sp>
        <p:nvSpPr>
          <p:cNvPr id="1088" name="" descr="{&quot;isTemplate&quot;:true,&quot;type&quot;:&quot;text&quot;}"/>
          <p:cNvSpPr txBox="1"/>
          <p:nvPr/>
        </p:nvSpPr>
        <p:spPr>
          <a:xfrm rot="0" flipH="0" flipV="0">
            <a:off x="800100" y="4514850"/>
            <a:ext cx="379095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原始层与本体层并存——投影可重算，底片不能删；删了规则一变就得重采。</a:t>
            </a:r>
            <a:endParaRPr/>
          </a:p>
        </p:txBody>
      </p:sp>
      <p:sp>
        <p:nvSpPr>
          <p:cNvPr id="1089" name=""/>
          <p:cNvSpPr/>
          <p:nvPr/>
        </p:nvSpPr>
        <p:spPr>
          <a:xfrm rot="0" flipH="0" flipV="0">
            <a:off x="800100" y="4810125"/>
            <a:ext cx="3790950" cy="8001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90" name="" descr="{&quot;isTemplate&quot;:true,&quot;type&quot;:&quot;text&quot;}"/>
          <p:cNvSpPr txBox="1"/>
          <p:nvPr/>
        </p:nvSpPr>
        <p:spPr>
          <a:xfrm rot="0" flipH="0" flipV="0">
            <a:off x="904875" y="4895850"/>
            <a:ext cx="35814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还有一条容易漏的：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实体→切片的反向索引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不在主数据标准清单里，但没有它，实体一变就无法通知知识库重建。</a:t>
            </a:r>
            <a:endParaRPr/>
          </a:p>
        </p:txBody>
      </p:sp>
      <p:sp>
        <p:nvSpPr>
          <p:cNvPr id="1091" name=""/>
          <p:cNvSpPr/>
          <p:nvPr/>
        </p:nvSpPr>
        <p:spPr>
          <a:xfrm rot="0" flipH="0" flipV="0">
            <a:off x="4838700" y="3419475"/>
            <a:ext cx="3590925" cy="2305050"/>
          </a:xfrm>
          <a:prstGeom prst="roundRect">
            <a:avLst>
              <a:gd name="adj" fmla="val 165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92" name="" descr="{&quot;isTemplate&quot;:true,&quot;type&quot;:&quot;text&quot;}"/>
          <p:cNvSpPr txBox="1"/>
          <p:nvPr/>
        </p:nvSpPr>
        <p:spPr>
          <a:xfrm rot="0" flipH="0" flipV="0">
            <a:off x="4991100" y="3533775"/>
            <a:ext cx="3286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主键策略的三种选择</a:t>
            </a:r>
            <a:endParaRPr/>
          </a:p>
        </p:txBody>
      </p:sp>
      <p:sp>
        <p:nvSpPr>
          <p:cNvPr id="1093" name=""/>
          <p:cNvSpPr/>
          <p:nvPr/>
        </p:nvSpPr>
        <p:spPr>
          <a:xfrm rot="0" flipH="0" flipV="0">
            <a:off x="5019675" y="3781425"/>
            <a:ext cx="3286125" cy="504825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94" name=""/>
          <p:cNvSpPr/>
          <p:nvPr/>
        </p:nvSpPr>
        <p:spPr>
          <a:xfrm rot="0" flipH="0" flipV="0">
            <a:off x="5019675" y="3781425"/>
            <a:ext cx="3286125" cy="504825"/>
          </a:xfrm>
          <a:custGeom>
            <a:pathLst>
              <a:path w="345" h="53">
                <a:moveTo>
                  <a:pt x="3" y="53"/>
                </a:moveTo>
                <a:cubicBezTo>
                  <a:pt x="1" y="53"/>
                  <a:pt x="0" y="52"/>
                  <a:pt x="0" y="50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95" name="" descr="{&quot;isTemplate&quot;:true,&quot;type&quot;:&quot;text&quot;}"/>
          <p:cNvSpPr txBox="1"/>
          <p:nvPr/>
        </p:nvSpPr>
        <p:spPr>
          <a:xfrm rot="0" flipH="0" flipV="0">
            <a:off x="5114925" y="3857625"/>
            <a:ext cx="3067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内部</a:t>
            </a:r>
            <a:r>
              <a:rPr lang="en-US" sz="9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ID</a:t>
            </a:r>
            <a:endParaRPr/>
          </a:p>
        </p:txBody>
      </p:sp>
      <p:sp>
        <p:nvSpPr>
          <p:cNvPr id="1096" name="" descr="{&quot;isTemplate&quot;:true,&quot;type&quot;:&quot;text&quot;}"/>
          <p:cNvSpPr txBox="1"/>
          <p:nvPr/>
        </p:nvSpPr>
        <p:spPr>
          <a:xfrm rot="0" flipH="0" flipV="0">
            <a:off x="5114925" y="4019550"/>
            <a:ext cx="306705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最稳，但源系统拿不到，所有关联都要靠映射表维护。</a:t>
            </a:r>
            <a:endParaRPr/>
          </a:p>
        </p:txBody>
      </p:sp>
      <p:sp>
        <p:nvSpPr>
          <p:cNvPr id="1097" name=""/>
          <p:cNvSpPr/>
          <p:nvPr/>
        </p:nvSpPr>
        <p:spPr>
          <a:xfrm rot="0" flipH="0" flipV="0">
            <a:off x="5019675" y="4352925"/>
            <a:ext cx="3286125" cy="504825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98" name=""/>
          <p:cNvSpPr/>
          <p:nvPr/>
        </p:nvSpPr>
        <p:spPr>
          <a:xfrm rot="0" flipH="0" flipV="0">
            <a:off x="5019675" y="4352925"/>
            <a:ext cx="3286125" cy="504825"/>
          </a:xfrm>
          <a:custGeom>
            <a:pathLst>
              <a:path w="345" h="53">
                <a:moveTo>
                  <a:pt x="3" y="53"/>
                </a:moveTo>
                <a:cubicBezTo>
                  <a:pt x="1" y="53"/>
                  <a:pt x="0" y="52"/>
                  <a:pt x="0" y="50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99" name="" descr="{&quot;isTemplate&quot;:true,&quot;type&quot;:&quot;text&quot;}"/>
          <p:cNvSpPr txBox="1"/>
          <p:nvPr/>
        </p:nvSpPr>
        <p:spPr>
          <a:xfrm rot="0" flipH="0" flipV="0">
            <a:off x="5114925" y="4429125"/>
            <a:ext cx="3067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业务键</a:t>
            </a:r>
            <a:endParaRPr/>
          </a:p>
        </p:txBody>
      </p:sp>
      <p:sp>
        <p:nvSpPr>
          <p:cNvPr id="1100" name="" descr="{&quot;isTemplate&quot;:true,&quot;type&quot;:&quot;text&quot;}"/>
          <p:cNvSpPr txBox="1"/>
          <p:nvPr/>
        </p:nvSpPr>
        <p:spPr>
          <a:xfrm rot="0" flipH="0" flipV="0">
            <a:off x="5114925" y="4591050"/>
            <a:ext cx="306705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如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VIN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、统一社会信用代码。跨系统可比，但源系统改了它就崩。</a:t>
            </a:r>
            <a:endParaRPr/>
          </a:p>
        </p:txBody>
      </p:sp>
      <p:sp>
        <p:nvSpPr>
          <p:cNvPr id="1101" name=""/>
          <p:cNvSpPr/>
          <p:nvPr/>
        </p:nvSpPr>
        <p:spPr>
          <a:xfrm rot="0" flipH="0" flipV="0">
            <a:off x="5019675" y="4924425"/>
            <a:ext cx="3286125" cy="6858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02" name=""/>
          <p:cNvSpPr/>
          <p:nvPr/>
        </p:nvSpPr>
        <p:spPr>
          <a:xfrm rot="0" flipH="0" flipV="0">
            <a:off x="5019675" y="4924425"/>
            <a:ext cx="3286125" cy="685800"/>
          </a:xfrm>
          <a:custGeom>
            <a:pathLst>
              <a:path w="345" h="72">
                <a:moveTo>
                  <a:pt x="3" y="72"/>
                </a:moveTo>
                <a:cubicBezTo>
                  <a:pt x="1" y="72"/>
                  <a:pt x="0" y="71"/>
                  <a:pt x="0" y="6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2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103" name="" descr="{&quot;isTemplate&quot;:true,&quot;type&quot;:&quot;text&quot;}"/>
          <p:cNvSpPr txBox="1"/>
          <p:nvPr/>
        </p:nvSpPr>
        <p:spPr>
          <a:xfrm rot="0" flipH="0" flipV="0">
            <a:off x="5114925" y="5000625"/>
            <a:ext cx="3067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业务键</a:t>
            </a:r>
            <a:r>
              <a:rPr lang="en-US" sz="9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内部</a:t>
            </a:r>
            <a:r>
              <a:rPr lang="en-US" sz="9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双主</a:t>
            </a:r>
            <a:endParaRPr/>
          </a:p>
        </p:txBody>
      </p:sp>
      <p:sp>
        <p:nvSpPr>
          <p:cNvPr id="1104" name="" descr="{&quot;isTemplate&quot;:true,&quot;type&quot;:&quot;text&quot;}"/>
          <p:cNvSpPr txBox="1"/>
          <p:nvPr/>
        </p:nvSpPr>
        <p:spPr>
          <a:xfrm rot="0" flipH="0" flipV="0">
            <a:off x="5114925" y="5162550"/>
            <a:ext cx="306705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折中做法：内部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为主，业务键做备选与匹配用。多数企业最终选这个。</a:t>
            </a:r>
            <a:endParaRPr/>
          </a:p>
        </p:txBody>
      </p:sp>
      <p:sp>
        <p:nvSpPr>
          <p:cNvPr id="1105" name=""/>
          <p:cNvSpPr/>
          <p:nvPr/>
        </p:nvSpPr>
        <p:spPr>
          <a:xfrm rot="0" flipH="0" flipV="0">
            <a:off x="8524875" y="3419475"/>
            <a:ext cx="3057525" cy="2305050"/>
          </a:xfrm>
          <a:prstGeom prst="roundRect">
            <a:avLst>
              <a:gd name="adj" fmla="val 165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106" name="" descr="{&quot;isTemplate&quot;:true,&quot;type&quot;:&quot;text&quot;}"/>
          <p:cNvSpPr txBox="1"/>
          <p:nvPr/>
        </p:nvSpPr>
        <p:spPr>
          <a:xfrm rot="0" flipH="0" flipV="0">
            <a:off x="8677275" y="4019550"/>
            <a:ext cx="2752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最容易被漏掉的四项</a:t>
            </a:r>
            <a:endParaRPr/>
          </a:p>
        </p:txBody>
      </p:sp>
      <p:sp>
        <p:nvSpPr>
          <p:cNvPr id="1107" name="" descr="{&quot;isTemplate&quot;:true,&quot;type&quot;:&quot;text&quot;}"/>
          <p:cNvSpPr txBox="1"/>
          <p:nvPr/>
        </p:nvSpPr>
        <p:spPr>
          <a:xfrm rot="0" flipH="0" flipV="0">
            <a:off x="8677275" y="4257675"/>
            <a:ext cx="2752725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一、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仲裁规则版本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：规则变了，历史结论无法解释；二、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拆分事件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：只记合并不记拆分，等于只记进攻不记撤退；三、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例外队列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：低置信合并人工看过的痕迹要留；四、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订阅契约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：消费方拿到的是「当前形态」，不是源表。</a:t>
            </a:r>
            <a:endParaRPr/>
          </a:p>
        </p:txBody>
      </p:sp>
      <p:sp>
        <p:nvSpPr>
          <p:cNvPr id="1108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109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10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主数据咨询方法论</a:t>
            </a:r>
            <a:endParaRPr/>
          </a:p>
        </p:txBody>
      </p:sp>
      <p:sp>
        <p:nvSpPr>
          <p:cNvPr id="1111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28 / 30</a:t>
            </a:r>
            <a:endParaRPr/>
          </a:p>
        </p:txBody>
      </p:sp>
    </p:spTree>
  </p:cSld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1112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AA + TA：策略即应用，解析引擎与两速同步&#10;    &lt;/Text&gt;&#10;    &lt;Text style={{ fontSize: 20, color: '#8A8F99', marginTop: 8 }}&gt;&#10;      主数据能不能落地，看两件事：业务有没有在应用里真的用它，以及重跑解析会不会把数据搞乱&#10;    &lt;/Text&gt;&#10;  &lt;/Box&gt;&#10;  &lt;Box style={{ height: 1, background: '#E8E8E8' }} /&gt;&#10;&#10;  &lt;Box style={{ paddingTop: 14, paddingBottom: 8, height: 479, flexDirection: 'column', gap: 10 }}&gt;&#10;    &lt;Box style={{ flex: 1, flexDirection: 'row', gap: 10 }}&gt;&#10;      &lt;Box style={{ flex: 1, background: '#0F1423', borderRadius: 4, padding: '13px 17px', flexDirection: 'column' }}&gt;&#10;        &lt;Text style={{ fontSize: 14, fontWeight: 'bold', color: '#FBA15C' }}&gt;AA 层：六个主数据应用&lt;/Text&gt;&#10;        &lt;Box style={{ flex: 1, marginTop: 10, flexDirection: 'column', gap: 7 }}&gt;&#10;          {[&#10;            { n: 'A1', t: '实体查询与对象浏览器', d: '按业务语言查实体，返回时带来源、时效与置信度' },&#10;            { n: 'A2', t: '合并复核工作台', d: '中置信合并排队复核，支持一批准就批量提交' },&#10;            { n: 'A3', t: '拆分审批与影响面评估', d: '强制展示引用清单，不评估完不允许提交' },&#10;            { n: 'A4', t: '例外队列', d: '低置信合并与异常候选，人工判定并回流训练' },&#10;            { n: 'A5', t: '主数据订阅与分发', d: '按对象集授权，API 与事件流双通道' },&#10;            { n: 'A6', t: '质量与匹配率看板', d: '准召、断流、漂移、层级完整度四项常驻指标' },&#10;          ].map((x) =&gt; (&#10;            &lt;Box key={x.n} style={{ flexDirection: 'row', gap: 9, alignItems: 'flex-start' }}&gt;&#10;              &lt;Box style={{ width: 26, background: 'rgba(250,79,36,0.24)', borderRadius: 3, padding: '3px 0', alignItems: 'center' }}&gt;&#10;                &lt;Text style={{ fontSize: 10.5, fontWeight: 'bold', color: '#FBA15C' }}&gt;{x.n}&lt;/Text&gt;&#10;              &lt;/Box&gt;&#10;              &lt;Text style={{ fontSize: 11.5, color: 'rgba(255,255,255,0.85)', flex: 1, lineHeight: 1.45 }}&gt;&#10;                &lt;tspan style={{ fontWeight: 'bold', color: '#FFFFFF' }}&gt;{x.t}&lt;/tspan&gt;：{x.d}&#10;              &lt;/Text&gt;&#10;            &lt;/Box&gt;&#10;          ))}&#10;        &lt;/Box&gt;&#10;        &lt;Box style={{ marginTop: 9, background: 'rgba(250,79,36,0.18)', borderRadius: 3, padding: '8px 11px' }}&gt;&#10;          &lt;Text style={{ fontSize: 11, color: 'rgba(255,255,255,0.9)', lineHeight: 1.45 }}&gt;&#10;            上线顺序：先 A2 与 A3（有流程才有人信），再 A1（让人看见），最后 A4 与 A6（持续管治）。&#10;          &lt;/Text&gt;&#10;        &lt;/Box&gt;&#10;      &lt;/Box&gt;&#10;&#10;      &lt;Box style={{ flex: 1.15, background: '#FFFFFF', border: '1px solid #E8E8E8', borderRadius: 4, padding: '13px 17px', flexDirection: 'column' }}&gt;&#10;        &lt;Text style={{ fontSize: 14, fontWeight: 'bold', color: '#0F1423' }}&gt;TA 层：两速同步是这个架构的核心难点&lt;/Text&gt;&#10;        &lt;Box style={{ flex: 1, marginTop: 10, flexDirection: 'row', gap: 9 }}&gt;&#10;          &lt;Box style={{ flex: 1, background: '#F7F7F8', borderRadius: 3, borderLeft: '3px solid #FA4F24', padding: '10px 11px', flexDirection: 'column' }}&gt;&#10;            &lt;Text style={{ fontSize: 12.5, fontWeight: 'bold', color: '#0F1423' }}&gt;批量对账&lt;/Text&gt;&#10;            &lt;Text style={{ fontSize: 11, color: '#3A4050', marginTop: 5, lineHeight: 1.5, flex: 1 }}&gt;&#10;              夜间全量跑解析与仲裁，产出权威快照，适合结算、报表、合规口径。&#10;            &lt;/Text&gt;&#10;            &lt;Text style={{ fontSize: 10.5, color: '#FA4F24', marginTop: 6, lineHeight: 1.4 }}&gt;慢但一致&lt;/Text&gt;&#10;          &lt;/Box&gt;&#10;          &lt;Box style={{ flex: 1, background: '#FFF3EE', borderRadius: 3, borderLeft: '3px solid #C43A17', padding: '10px 11px', flexDirection: 'column' }}&gt;&#10;            &lt;Text style={{ fontSize: 12.5, fontWeight: 'bold', color: '#C43A17' }}&gt;事件增量&lt;/Text&gt;&#10;            &lt;Text style={{ fontSize: 11, color: '#3A4050', marginTop: 5, lineHeight: 1.5, flex: 1 }}&gt;&#10;              源表变更即触发，适合运营视图与 Agent 实时读取。&#10;            &lt;/Text&gt;&#10;            &lt;Text style={{ fontSize: 10.5, color: '#C43A17', marginTop: 6, lineHeight: 1.4 }}&gt;快但要收敛&lt;/Text&gt;&#10;          &lt;/Box&gt;&#10;        &lt;/Box&gt;&#10;        &lt;Box style={{ flex: 1, marginTop: 10, background: '#0F1423', borderRadius: 3, padding: '10px 12px' }}&gt;&#10;          &lt;Text style={{ fontSize: 11.5, color: 'rgba(255,255,255,0.9)', lineHeight: 1.55 }}&gt;&#10;            &lt;tspan style={{ fontWeight: 'bold', color: '#FBA15C' }}&gt;真正的坑：&lt;/tspan&gt;两速并存如果收敛不好，就会&lt;tspan style={{ fontWeight: 'bold', color: '#FFFFFF' }}&gt;产生分析视图与运营视图的新分歧&lt;/tspan&gt;——同一个客户在两个系统里是两个 ID，比只有一个错误更糟。&#10;          &lt;/Text&gt;&#10;        &lt;/Box&gt;&#10;        &lt;Text style={{ fontSize: 11, color: '#3A4050', marginTop: 10, lineHeight: 1.45 }}&gt;&#10;          处方：&lt;tspan style={{ fontWeight: 'bold' }}&gt;解析必须幂等&lt;/tspan&gt;（同一批重跑不产生第二组合并）+ 每次重解析留批次号 + 黄金记录上的每个 ID 都能查出来自哪一批。&#10;        &lt;/Text&gt;&#10;      &lt;/Box&gt;&#10;&#10;      &lt;Box style={{ flex: 0.85, background: '#FFF3EE', borderRadius: 4, borderLeft: '4px solid #FA4F24', padding: '13px 16px', flexDirection: 'column', justifyContent: 'center' }}&gt;&#10;        &lt;Text style={{ fontSize: 14, fontWeight: 'bold', color: '#C43A17' }}&gt;TA 层三条非功能底线&lt;/Text&gt;&#10;        &lt;Box style={{ flexDirection: 'column', gap: 8, marginTop: 9 }}&gt;&#10;          {[&#10;            { t: '解析幂等', d: '重跑不产生新合并，解析元数据不能越滚越乱。' },&#10;            { t: '类型强约束', d: '把「N/A」塞进 Double 字段直接报错，不要隐式转换。' },&#10;            { t: '断流必须报警', d: '源表不更新是最隐蔽的失败——黄金记录看着正常，实际已过期。' },&#10;          ].map((x) =&gt; (&#10;            &lt;Box key={x.t} style={{ background: '#FFFFFF', borderRadius: 3, padding: '8px 10px' }}&gt;&#10;              &lt;Text style={{ fontSize: 12, fontWeight: 'bold', color: '#0F1423' }}&gt;{x.t}&lt;/Text&gt;&#10;              &lt;Text style={{ fontSize: 11, color: '#3A4050', marginTop: 2, lineHeight: 1.45 }}&gt;{x.d}&lt;/Text&gt;&#10;            &lt;/Box&gt;&#10;          ))}&#10;        &lt;/Box&gt;&#10;      &lt;/Box&gt;&#10;    &lt;/Box&gt;&#10;&#10;    &lt;Box style={{ height: 96, background: '#F7F7F8', borderRadius: 4, padding: '11px 18px', flexDirection: 'row', alignItems: 'center', gap: 14 }}&gt;&#10;      &lt;Text style={{ fontSize: 13.5, fontWeight: 'bold', color: '#0F1423' }}&gt;判断主数据有没有真落地：三个可验证的问题&lt;/Text&gt;&#10;      {[&#10;        { t: '业务用它吗', d: '打开系统，第一个动作是查实体，而不是查表——这说明主数据成了入口。' },&#10;        { t: '敢改吗', d: '业务愿意通过动作改属性，而不是找管理员直连数据库——这说明治理闭环了。' },&#10;        { t: '查得到吗', d: '三秒内能回答「这个客户是谁、来自哪、有多可信、合并过几次」——这说明元数据齐了。' },&#10;      ].map((x) =&gt; (&#10;        &lt;Box key={x.t} style={{ flex: 1, background: '#FFFFFF', borderRadius: 3, borderLeft: '3px solid #FA4F24', padding: '9px 11px' }}&gt;&#10;          &lt;Text style={{ fontSize: 12.5, fontWeight: 'bold', color: '#0F1423' }}&gt;{x.t}&lt;/Text&gt;&#10;          &lt;Text style={{ fontSize: 11, color: '#3A4050', marginTop: 3, lineHeight: 1.45 }}&gt;{x.d}&lt;/Text&gt;&#10;        &lt;/Box&gt;&#10;      ))}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主数据咨询方法论&lt;/Text&gt;&#10;    &lt;Text style={{ fontSize: 13, color: '#8A8F99', marginLeft: 'auto' }}&gt;29 / 3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1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>AA + TA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：策略即应用，解析引擎与两速同步</a:t>
            </a:r>
            <a:endParaRPr/>
          </a:p>
        </p:txBody>
      </p:sp>
      <p:sp>
        <p:nvSpPr>
          <p:cNvPr id="111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主数据能不能落地，看两件事：业务有没有在应用里真的用它，以及重跑解析会不会把数据搞乱</a:t>
            </a:r>
            <a:endParaRPr/>
          </a:p>
        </p:txBody>
      </p:sp>
      <p:sp>
        <p:nvSpPr>
          <p:cNvPr id="111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117" name=""/>
          <p:cNvSpPr/>
          <p:nvPr/>
        </p:nvSpPr>
        <p:spPr>
          <a:xfrm rot="0" flipH="0" flipV="0">
            <a:off x="609600" y="1285875"/>
            <a:ext cx="3590925" cy="3409950"/>
          </a:xfrm>
          <a:prstGeom prst="roundRect">
            <a:avLst>
              <a:gd name="adj" fmla="val 111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118" name="" descr="{&quot;isTemplate&quot;:true,&quot;type&quot;:&quot;text&quot;}"/>
          <p:cNvSpPr txBox="1"/>
          <p:nvPr/>
        </p:nvSpPr>
        <p:spPr>
          <a:xfrm rot="0" flipH="0" flipV="0">
            <a:off x="771525" y="1409700"/>
            <a:ext cx="3267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AA </a:t>
            </a: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层：六个主数据应用</a:t>
            </a:r>
            <a:endParaRPr/>
          </a:p>
        </p:txBody>
      </p:sp>
      <p:sp>
        <p:nvSpPr>
          <p:cNvPr id="1119" name=""/>
          <p:cNvSpPr/>
          <p:nvPr/>
        </p:nvSpPr>
        <p:spPr>
          <a:xfrm rot="0" flipH="0" flipV="0">
            <a:off x="771525" y="1666875"/>
            <a:ext cx="247650" cy="180975"/>
          </a:xfrm>
          <a:prstGeom prst="roundRect">
            <a:avLst>
              <a:gd name="adj" fmla="val 15789"/>
            </a:avLst>
          </a:prstGeom>
          <a:solidFill>
            <a:srgbClr val="FA4F24">
              <a:alpha val="24000"/>
            </a:srgbClr>
          </a:solidFill>
          <a:ln/>
        </p:spPr>
        <p:txBody>
          <a:bodyPr/>
          <a:p/>
        </p:txBody>
      </p:sp>
      <p:sp>
        <p:nvSpPr>
          <p:cNvPr id="1120" name="" descr="{&quot;isTemplate&quot;:true,&quot;type&quot;:&quot;text&quot;}"/>
          <p:cNvSpPr txBox="1"/>
          <p:nvPr/>
        </p:nvSpPr>
        <p:spPr>
          <a:xfrm rot="0" flipH="0" flipV="0">
            <a:off x="828675" y="1695450"/>
            <a:ext cx="1428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BA15C"/>
                </a:solidFill>
                <a:latin typeface="Microsoft YaHei"/>
                <a:ea typeface="Microsoft YaHei"/>
              </a:rPr>
              <a:t>A1</a:t>
            </a:r>
            <a:endParaRPr/>
          </a:p>
        </p:txBody>
      </p:sp>
      <p:sp>
        <p:nvSpPr>
          <p:cNvPr id="1121" name="" descr="{&quot;isTemplate&quot;:true,&quot;type&quot;:&quot;text&quot;}"/>
          <p:cNvSpPr txBox="1"/>
          <p:nvPr/>
        </p:nvSpPr>
        <p:spPr>
          <a:xfrm rot="0" flipH="0" flipV="0">
            <a:off x="1104900" y="1666875"/>
            <a:ext cx="29337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实体查询与对象浏览器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：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按业务语言查实体，返回时带来源、时效与置信度</a:t>
            </a:r>
            <a:endParaRPr/>
          </a:p>
        </p:txBody>
      </p:sp>
      <p:sp>
        <p:nvSpPr>
          <p:cNvPr id="1122" name=""/>
          <p:cNvSpPr/>
          <p:nvPr/>
        </p:nvSpPr>
        <p:spPr>
          <a:xfrm rot="0" flipH="0" flipV="0">
            <a:off x="771525" y="2124075"/>
            <a:ext cx="247650" cy="180975"/>
          </a:xfrm>
          <a:prstGeom prst="roundRect">
            <a:avLst>
              <a:gd name="adj" fmla="val 15789"/>
            </a:avLst>
          </a:prstGeom>
          <a:solidFill>
            <a:srgbClr val="FA4F24">
              <a:alpha val="24000"/>
            </a:srgbClr>
          </a:solidFill>
          <a:ln/>
        </p:spPr>
        <p:txBody>
          <a:bodyPr/>
          <a:p/>
        </p:txBody>
      </p:sp>
      <p:sp>
        <p:nvSpPr>
          <p:cNvPr id="1123" name="" descr="{&quot;isTemplate&quot;:true,&quot;type&quot;:&quot;text&quot;}"/>
          <p:cNvSpPr txBox="1"/>
          <p:nvPr/>
        </p:nvSpPr>
        <p:spPr>
          <a:xfrm rot="0" flipH="0" flipV="0">
            <a:off x="828675" y="2152650"/>
            <a:ext cx="1428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BA15C"/>
                </a:solidFill>
                <a:latin typeface="Microsoft YaHei"/>
                <a:ea typeface="Microsoft YaHei"/>
              </a:rPr>
              <a:t>A2</a:t>
            </a:r>
            <a:endParaRPr/>
          </a:p>
        </p:txBody>
      </p:sp>
      <p:sp>
        <p:nvSpPr>
          <p:cNvPr id="1124" name="" descr="{&quot;isTemplate&quot;:true,&quot;type&quot;:&quot;text&quot;}"/>
          <p:cNvSpPr txBox="1"/>
          <p:nvPr/>
        </p:nvSpPr>
        <p:spPr>
          <a:xfrm rot="0" flipH="0" flipV="0">
            <a:off x="1104900" y="2124075"/>
            <a:ext cx="29337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合并复核工作台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：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中置信合并排队复核，支持一批准就批量提交</a:t>
            </a:r>
            <a:endParaRPr/>
          </a:p>
        </p:txBody>
      </p:sp>
      <p:sp>
        <p:nvSpPr>
          <p:cNvPr id="1125" name=""/>
          <p:cNvSpPr/>
          <p:nvPr/>
        </p:nvSpPr>
        <p:spPr>
          <a:xfrm rot="0" flipH="0" flipV="0">
            <a:off x="771525" y="2581275"/>
            <a:ext cx="247650" cy="180975"/>
          </a:xfrm>
          <a:prstGeom prst="roundRect">
            <a:avLst>
              <a:gd name="adj" fmla="val 15789"/>
            </a:avLst>
          </a:prstGeom>
          <a:solidFill>
            <a:srgbClr val="FA4F24">
              <a:alpha val="24000"/>
            </a:srgbClr>
          </a:solidFill>
          <a:ln/>
        </p:spPr>
        <p:txBody>
          <a:bodyPr/>
          <a:p/>
        </p:txBody>
      </p:sp>
      <p:sp>
        <p:nvSpPr>
          <p:cNvPr id="1126" name="" descr="{&quot;isTemplate&quot;:true,&quot;type&quot;:&quot;text&quot;}"/>
          <p:cNvSpPr txBox="1"/>
          <p:nvPr/>
        </p:nvSpPr>
        <p:spPr>
          <a:xfrm rot="0" flipH="0" flipV="0">
            <a:off x="828675" y="2609850"/>
            <a:ext cx="1428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BA15C"/>
                </a:solidFill>
                <a:latin typeface="Microsoft YaHei"/>
                <a:ea typeface="Microsoft YaHei"/>
              </a:rPr>
              <a:t>A3</a:t>
            </a:r>
            <a:endParaRPr/>
          </a:p>
        </p:txBody>
      </p:sp>
      <p:sp>
        <p:nvSpPr>
          <p:cNvPr id="1127" name="" descr="{&quot;isTemplate&quot;:true,&quot;type&quot;:&quot;text&quot;}"/>
          <p:cNvSpPr txBox="1"/>
          <p:nvPr/>
        </p:nvSpPr>
        <p:spPr>
          <a:xfrm rot="0" flipH="0" flipV="0">
            <a:off x="1104900" y="2581275"/>
            <a:ext cx="29337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拆分审批与影响面评估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：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强制展示引用清单，不评估完不允许提交</a:t>
            </a:r>
            <a:endParaRPr/>
          </a:p>
        </p:txBody>
      </p:sp>
      <p:sp>
        <p:nvSpPr>
          <p:cNvPr id="1128" name=""/>
          <p:cNvSpPr/>
          <p:nvPr/>
        </p:nvSpPr>
        <p:spPr>
          <a:xfrm rot="0" flipH="0" flipV="0">
            <a:off x="771525" y="3038475"/>
            <a:ext cx="247650" cy="180975"/>
          </a:xfrm>
          <a:prstGeom prst="roundRect">
            <a:avLst>
              <a:gd name="adj" fmla="val 15789"/>
            </a:avLst>
          </a:prstGeom>
          <a:solidFill>
            <a:srgbClr val="FA4F24">
              <a:alpha val="24000"/>
            </a:srgbClr>
          </a:solidFill>
          <a:ln/>
        </p:spPr>
        <p:txBody>
          <a:bodyPr/>
          <a:p/>
        </p:txBody>
      </p:sp>
      <p:sp>
        <p:nvSpPr>
          <p:cNvPr id="1129" name="" descr="{&quot;isTemplate&quot;:true,&quot;type&quot;:&quot;text&quot;}"/>
          <p:cNvSpPr txBox="1"/>
          <p:nvPr/>
        </p:nvSpPr>
        <p:spPr>
          <a:xfrm rot="0" flipH="0" flipV="0">
            <a:off x="828675" y="3067050"/>
            <a:ext cx="1428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BA15C"/>
                </a:solidFill>
                <a:latin typeface="Microsoft YaHei"/>
                <a:ea typeface="Microsoft YaHei"/>
              </a:rPr>
              <a:t>A4</a:t>
            </a:r>
            <a:endParaRPr/>
          </a:p>
        </p:txBody>
      </p:sp>
      <p:sp>
        <p:nvSpPr>
          <p:cNvPr id="1130" name="" descr="{&quot;isTemplate&quot;:true,&quot;type&quot;:&quot;text&quot;}"/>
          <p:cNvSpPr txBox="1"/>
          <p:nvPr/>
        </p:nvSpPr>
        <p:spPr>
          <a:xfrm rot="0" flipH="0" flipV="0">
            <a:off x="1104900" y="3038475"/>
            <a:ext cx="293370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例外队列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：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低置信合并与异常候选，人工判定并回流训练</a:t>
            </a:r>
            <a:endParaRPr/>
          </a:p>
        </p:txBody>
      </p:sp>
      <p:sp>
        <p:nvSpPr>
          <p:cNvPr id="1131" name=""/>
          <p:cNvSpPr/>
          <p:nvPr/>
        </p:nvSpPr>
        <p:spPr>
          <a:xfrm rot="0" flipH="0" flipV="0">
            <a:off x="771525" y="3305175"/>
            <a:ext cx="247650" cy="180975"/>
          </a:xfrm>
          <a:prstGeom prst="roundRect">
            <a:avLst>
              <a:gd name="adj" fmla="val 15789"/>
            </a:avLst>
          </a:prstGeom>
          <a:solidFill>
            <a:srgbClr val="FA4F24">
              <a:alpha val="24000"/>
            </a:srgbClr>
          </a:solidFill>
          <a:ln/>
        </p:spPr>
        <p:txBody>
          <a:bodyPr/>
          <a:p/>
        </p:txBody>
      </p:sp>
      <p:sp>
        <p:nvSpPr>
          <p:cNvPr id="1132" name="" descr="{&quot;isTemplate&quot;:true,&quot;type&quot;:&quot;text&quot;}"/>
          <p:cNvSpPr txBox="1"/>
          <p:nvPr/>
        </p:nvSpPr>
        <p:spPr>
          <a:xfrm rot="0" flipH="0" flipV="0">
            <a:off x="828675" y="3333750"/>
            <a:ext cx="1428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BA15C"/>
                </a:solidFill>
                <a:latin typeface="Microsoft YaHei"/>
                <a:ea typeface="Microsoft YaHei"/>
              </a:rPr>
              <a:t>A5</a:t>
            </a:r>
            <a:endParaRPr/>
          </a:p>
        </p:txBody>
      </p:sp>
      <p:sp>
        <p:nvSpPr>
          <p:cNvPr id="1133" name="" descr="{&quot;isTemplate&quot;:true,&quot;type&quot;:&quot;text&quot;}"/>
          <p:cNvSpPr txBox="1"/>
          <p:nvPr/>
        </p:nvSpPr>
        <p:spPr>
          <a:xfrm rot="0" flipH="0" flipV="0">
            <a:off x="1104900" y="3305175"/>
            <a:ext cx="293370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主数据订阅与分发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：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按对象集授权，</a:t>
            </a:r>
            <a:r>
              <a:rPr lang="en-US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API 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与事件流双通道</a:t>
            </a:r>
            <a:endParaRPr/>
          </a:p>
        </p:txBody>
      </p:sp>
      <p:sp>
        <p:nvSpPr>
          <p:cNvPr id="1134" name=""/>
          <p:cNvSpPr/>
          <p:nvPr/>
        </p:nvSpPr>
        <p:spPr>
          <a:xfrm rot="0" flipH="0" flipV="0">
            <a:off x="771525" y="3571875"/>
            <a:ext cx="247650" cy="180975"/>
          </a:xfrm>
          <a:prstGeom prst="roundRect">
            <a:avLst>
              <a:gd name="adj" fmla="val 15789"/>
            </a:avLst>
          </a:prstGeom>
          <a:solidFill>
            <a:srgbClr val="FA4F24">
              <a:alpha val="24000"/>
            </a:srgbClr>
          </a:solidFill>
          <a:ln/>
        </p:spPr>
        <p:txBody>
          <a:bodyPr/>
          <a:p/>
        </p:txBody>
      </p:sp>
      <p:sp>
        <p:nvSpPr>
          <p:cNvPr id="1135" name="" descr="{&quot;isTemplate&quot;:true,&quot;type&quot;:&quot;text&quot;}"/>
          <p:cNvSpPr txBox="1"/>
          <p:nvPr/>
        </p:nvSpPr>
        <p:spPr>
          <a:xfrm rot="0" flipH="0" flipV="0">
            <a:off x="828675" y="3600450"/>
            <a:ext cx="1428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BA15C"/>
                </a:solidFill>
                <a:latin typeface="Microsoft YaHei"/>
                <a:ea typeface="Microsoft YaHei"/>
              </a:rPr>
              <a:t>A6</a:t>
            </a:r>
            <a:endParaRPr/>
          </a:p>
        </p:txBody>
      </p:sp>
      <p:sp>
        <p:nvSpPr>
          <p:cNvPr id="1136" name="" descr="{&quot;isTemplate&quot;:true,&quot;type&quot;:&quot;text&quot;}"/>
          <p:cNvSpPr txBox="1"/>
          <p:nvPr/>
        </p:nvSpPr>
        <p:spPr>
          <a:xfrm rot="0" flipH="0" flipV="0">
            <a:off x="1104900" y="3571875"/>
            <a:ext cx="29337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质量与匹配率看板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：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准召、断流、漂移、层级完整度四项常驻指标</a:t>
            </a:r>
            <a:endParaRPr/>
          </a:p>
        </p:txBody>
      </p:sp>
      <p:sp>
        <p:nvSpPr>
          <p:cNvPr id="1137" name=""/>
          <p:cNvSpPr/>
          <p:nvPr/>
        </p:nvSpPr>
        <p:spPr>
          <a:xfrm rot="0" flipH="0" flipV="0">
            <a:off x="771525" y="4048125"/>
            <a:ext cx="3267075" cy="523875"/>
          </a:xfrm>
          <a:prstGeom prst="roundRect">
            <a:avLst>
              <a:gd name="adj" fmla="val 5455"/>
            </a:avLst>
          </a:prstGeom>
          <a:solidFill>
            <a:srgbClr val="FA4F24">
              <a:alpha val="18000"/>
            </a:srgbClr>
          </a:solidFill>
          <a:ln/>
        </p:spPr>
        <p:txBody>
          <a:bodyPr/>
          <a:p/>
        </p:txBody>
      </p:sp>
      <p:sp>
        <p:nvSpPr>
          <p:cNvPr id="1138" name="" descr="{&quot;isTemplate&quot;:true,&quot;type&quot;:&quot;text&quot;}"/>
          <p:cNvSpPr txBox="1"/>
          <p:nvPr/>
        </p:nvSpPr>
        <p:spPr>
          <a:xfrm rot="0" flipH="0" flipV="0">
            <a:off x="876300" y="4124325"/>
            <a:ext cx="3057525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上线顺序：先</a:t>
            </a:r>
            <a:r>
              <a:rPr lang="en-US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A2 </a:t>
            </a:r>
            <a:r>
              <a:rPr lang="zh-CN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与</a:t>
            </a:r>
            <a:r>
              <a:rPr lang="en-US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A3</a:t>
            </a:r>
            <a:r>
              <a:rPr lang="zh-CN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（有流程才有人信），再</a:t>
            </a:r>
            <a:r>
              <a:rPr lang="en-US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A1</a:t>
            </a:r>
            <a:r>
              <a:rPr lang="zh-CN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（让人看见），最后</a:t>
            </a:r>
            <a:r>
              <a:rPr lang="en-US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A4 </a:t>
            </a:r>
            <a:r>
              <a:rPr lang="zh-CN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与</a:t>
            </a:r>
            <a:r>
              <a:rPr lang="en-US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A6</a:t>
            </a:r>
            <a:r>
              <a:rPr lang="zh-CN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（持续管治）。</a:t>
            </a:r>
            <a:endParaRPr/>
          </a:p>
        </p:txBody>
      </p:sp>
      <p:sp>
        <p:nvSpPr>
          <p:cNvPr id="1139" name=""/>
          <p:cNvSpPr/>
          <p:nvPr/>
        </p:nvSpPr>
        <p:spPr>
          <a:xfrm rot="0" flipH="0" flipV="0">
            <a:off x="4295775" y="1285875"/>
            <a:ext cx="4133850" cy="3409950"/>
          </a:xfrm>
          <a:prstGeom prst="roundRect">
            <a:avLst>
              <a:gd name="adj" fmla="val 111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140" name="" descr="{&quot;isTemplate&quot;:true,&quot;type&quot;:&quot;text&quot;}"/>
          <p:cNvSpPr txBox="1"/>
          <p:nvPr/>
        </p:nvSpPr>
        <p:spPr>
          <a:xfrm rot="0" flipH="0" flipV="0">
            <a:off x="4457700" y="1409700"/>
            <a:ext cx="3810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TA </a:t>
            </a: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层：两速同步是这个架构的核心难点</a:t>
            </a:r>
            <a:endParaRPr/>
          </a:p>
        </p:txBody>
      </p:sp>
      <p:sp>
        <p:nvSpPr>
          <p:cNvPr id="1141" name=""/>
          <p:cNvSpPr/>
          <p:nvPr/>
        </p:nvSpPr>
        <p:spPr>
          <a:xfrm rot="0" flipH="0" flipV="0">
            <a:off x="4486275" y="1666875"/>
            <a:ext cx="1866900" cy="1466850"/>
          </a:xfrm>
          <a:prstGeom prst="roundRect">
            <a:avLst>
              <a:gd name="adj" fmla="val 194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42" name=""/>
          <p:cNvSpPr/>
          <p:nvPr/>
        </p:nvSpPr>
        <p:spPr>
          <a:xfrm rot="0" flipH="0" flipV="0">
            <a:off x="4486275" y="1666875"/>
            <a:ext cx="1866900" cy="1466850"/>
          </a:xfrm>
          <a:custGeom>
            <a:pathLst>
              <a:path w="196" h="154">
                <a:moveTo>
                  <a:pt x="3" y="154"/>
                </a:moveTo>
                <a:cubicBezTo>
                  <a:pt x="1" y="154"/>
                  <a:pt x="0" y="153"/>
                  <a:pt x="0" y="15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5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43" name="" descr="{&quot;isTemplate&quot;:true,&quot;type&quot;:&quot;text&quot;}"/>
          <p:cNvSpPr txBox="1"/>
          <p:nvPr/>
        </p:nvSpPr>
        <p:spPr>
          <a:xfrm rot="0" flipH="0" flipV="0">
            <a:off x="4591050" y="1762125"/>
            <a:ext cx="1628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批量对账</a:t>
            </a:r>
            <a:endParaRPr/>
          </a:p>
        </p:txBody>
      </p:sp>
      <p:sp>
        <p:nvSpPr>
          <p:cNvPr id="1144" name="" descr="{&quot;isTemplate&quot;:true,&quot;type&quot;:&quot;text&quot;}"/>
          <p:cNvSpPr txBox="1"/>
          <p:nvPr/>
        </p:nvSpPr>
        <p:spPr>
          <a:xfrm rot="0" flipH="0" flipV="0">
            <a:off x="4591050" y="1952625"/>
            <a:ext cx="1628775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夜间全量跑解析与仲裁，产出权威快照，适合结算、报表、合规口径。</a:t>
            </a:r>
            <a:endParaRPr/>
          </a:p>
        </p:txBody>
      </p:sp>
      <p:sp>
        <p:nvSpPr>
          <p:cNvPr id="1145" name="" descr="{&quot;isTemplate&quot;:true,&quot;type&quot;:&quot;text&quot;}"/>
          <p:cNvSpPr txBox="1"/>
          <p:nvPr/>
        </p:nvSpPr>
        <p:spPr>
          <a:xfrm rot="0" flipH="0" flipV="0">
            <a:off x="4591050" y="2867025"/>
            <a:ext cx="162877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A4F24"/>
                </a:solidFill>
                <a:latin typeface="Microsoft YaHei"/>
                <a:ea typeface="Microsoft YaHei"/>
              </a:rPr>
              <a:t>慢但一致</a:t>
            </a:r>
            <a:endParaRPr/>
          </a:p>
        </p:txBody>
      </p:sp>
      <p:sp>
        <p:nvSpPr>
          <p:cNvPr id="1146" name=""/>
          <p:cNvSpPr/>
          <p:nvPr/>
        </p:nvSpPr>
        <p:spPr>
          <a:xfrm rot="0" flipH="0" flipV="0">
            <a:off x="6438900" y="1666875"/>
            <a:ext cx="1857375" cy="1466850"/>
          </a:xfrm>
          <a:prstGeom prst="roundRect">
            <a:avLst>
              <a:gd name="adj" fmla="val 1948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147" name=""/>
          <p:cNvSpPr/>
          <p:nvPr/>
        </p:nvSpPr>
        <p:spPr>
          <a:xfrm rot="0" flipH="0" flipV="0">
            <a:off x="6438900" y="1666875"/>
            <a:ext cx="1857375" cy="1466850"/>
          </a:xfrm>
          <a:custGeom>
            <a:pathLst>
              <a:path w="195" h="154">
                <a:moveTo>
                  <a:pt x="3" y="154"/>
                </a:moveTo>
                <a:cubicBezTo>
                  <a:pt x="1" y="154"/>
                  <a:pt x="0" y="153"/>
                  <a:pt x="0" y="15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54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148" name="" descr="{&quot;isTemplate&quot;:true,&quot;type&quot;:&quot;text&quot;}"/>
          <p:cNvSpPr txBox="1"/>
          <p:nvPr/>
        </p:nvSpPr>
        <p:spPr>
          <a:xfrm rot="0" flipH="0" flipV="0">
            <a:off x="6543675" y="1762125"/>
            <a:ext cx="1619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事件增量</a:t>
            </a:r>
            <a:endParaRPr/>
          </a:p>
        </p:txBody>
      </p:sp>
      <p:sp>
        <p:nvSpPr>
          <p:cNvPr id="1149" name="" descr="{&quot;isTemplate&quot;:true,&quot;type&quot;:&quot;text&quot;}"/>
          <p:cNvSpPr txBox="1"/>
          <p:nvPr/>
        </p:nvSpPr>
        <p:spPr>
          <a:xfrm rot="0" flipH="0" flipV="0">
            <a:off x="6543675" y="1952625"/>
            <a:ext cx="161925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源表变更即触发，适合运营视图与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实时读取。</a:t>
            </a:r>
            <a:endParaRPr/>
          </a:p>
        </p:txBody>
      </p:sp>
      <p:sp>
        <p:nvSpPr>
          <p:cNvPr id="1150" name="" descr="{&quot;isTemplate&quot;:true,&quot;type&quot;:&quot;text&quot;}"/>
          <p:cNvSpPr txBox="1"/>
          <p:nvPr/>
        </p:nvSpPr>
        <p:spPr>
          <a:xfrm rot="0" flipH="0" flipV="0">
            <a:off x="6543675" y="2867025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C43A17"/>
                </a:solidFill>
                <a:latin typeface="Microsoft YaHei"/>
                <a:ea typeface="Microsoft YaHei"/>
              </a:rPr>
              <a:t>快但要收敛</a:t>
            </a:r>
            <a:endParaRPr/>
          </a:p>
        </p:txBody>
      </p:sp>
      <p:sp>
        <p:nvSpPr>
          <p:cNvPr id="1151" name=""/>
          <p:cNvSpPr/>
          <p:nvPr/>
        </p:nvSpPr>
        <p:spPr>
          <a:xfrm rot="0" flipH="0" flipV="0">
            <a:off x="4457700" y="3228975"/>
            <a:ext cx="3810000" cy="876300"/>
          </a:xfrm>
          <a:prstGeom prst="roundRect">
            <a:avLst>
              <a:gd name="adj" fmla="val 326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152" name="" descr="{&quot;isTemplate&quot;:true,&quot;type&quot;:&quot;text&quot;}"/>
          <p:cNvSpPr txBox="1"/>
          <p:nvPr/>
        </p:nvSpPr>
        <p:spPr>
          <a:xfrm rot="0" flipH="0" flipV="0">
            <a:off x="4572000" y="3324225"/>
            <a:ext cx="3581400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真正的坑：</a:t>
            </a:r>
            <a:r>
              <a:rPr lang="zh-CN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两速并存如果收敛不好，就会</a:t>
            </a:r>
            <a:r>
              <a:rPr lang="zh-CN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产生分析视图与运营视图的新分歧</a:t>
            </a:r>
            <a:r>
              <a:rPr lang="zh-CN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——同一个客户在两个系统里是两个</a:t>
            </a:r>
            <a:r>
              <a:rPr lang="en-US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ID</a:t>
            </a:r>
            <a:r>
              <a:rPr lang="zh-CN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，比只有一个错误更糟。</a:t>
            </a:r>
            <a:endParaRPr/>
          </a:p>
        </p:txBody>
      </p:sp>
      <p:sp>
        <p:nvSpPr>
          <p:cNvPr id="1153" name="" descr="{&quot;isTemplate&quot;:true,&quot;type&quot;:&quot;text&quot;}"/>
          <p:cNvSpPr txBox="1"/>
          <p:nvPr/>
        </p:nvSpPr>
        <p:spPr>
          <a:xfrm rot="0" flipH="0" flipV="0">
            <a:off x="4457700" y="4200525"/>
            <a:ext cx="38100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处方：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解析必须幂等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（同一批重跑不产生第二组合并）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+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每次重解析留批次号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黄金记录上的每个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都能查出来自哪一批。</a:t>
            </a:r>
            <a:endParaRPr/>
          </a:p>
        </p:txBody>
      </p:sp>
      <p:sp>
        <p:nvSpPr>
          <p:cNvPr id="1154" name=""/>
          <p:cNvSpPr/>
          <p:nvPr/>
        </p:nvSpPr>
        <p:spPr>
          <a:xfrm rot="0" flipH="0" flipV="0">
            <a:off x="8562975" y="1285875"/>
            <a:ext cx="3057525" cy="3409950"/>
          </a:xfrm>
          <a:prstGeom prst="roundRect">
            <a:avLst>
              <a:gd name="adj" fmla="val 1246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155" name=""/>
          <p:cNvSpPr/>
          <p:nvPr/>
        </p:nvSpPr>
        <p:spPr>
          <a:xfrm rot="0" flipH="0" flipV="0">
            <a:off x="8562975" y="1285875"/>
            <a:ext cx="3057525" cy="3409950"/>
          </a:xfrm>
          <a:custGeom>
            <a:pathLst>
              <a:path w="321" h="358">
                <a:moveTo>
                  <a:pt x="4" y="358"/>
                </a:moveTo>
                <a:cubicBezTo>
                  <a:pt x="2" y="358"/>
                  <a:pt x="0" y="356"/>
                  <a:pt x="0" y="35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35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56" name="" descr="{&quot;isTemplate&quot;:true,&quot;type&quot;:&quot;text&quot;}"/>
          <p:cNvSpPr txBox="1"/>
          <p:nvPr/>
        </p:nvSpPr>
        <p:spPr>
          <a:xfrm rot="0" flipH="0" flipV="0">
            <a:off x="8715375" y="1857375"/>
            <a:ext cx="2714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TA </a:t>
            </a: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层三条非功能底线</a:t>
            </a:r>
            <a:endParaRPr/>
          </a:p>
        </p:txBody>
      </p:sp>
      <p:sp>
        <p:nvSpPr>
          <p:cNvPr id="1157" name=""/>
          <p:cNvSpPr/>
          <p:nvPr/>
        </p:nvSpPr>
        <p:spPr>
          <a:xfrm rot="0" flipH="0" flipV="0">
            <a:off x="8715375" y="2105025"/>
            <a:ext cx="2714625" cy="504825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58" name="" descr="{&quot;isTemplate&quot;:true,&quot;type&quot;:&quot;text&quot;}"/>
          <p:cNvSpPr txBox="1"/>
          <p:nvPr/>
        </p:nvSpPr>
        <p:spPr>
          <a:xfrm rot="0" flipH="0" flipV="0">
            <a:off x="8810625" y="2181225"/>
            <a:ext cx="2524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解析幂等</a:t>
            </a:r>
            <a:endParaRPr/>
          </a:p>
        </p:txBody>
      </p:sp>
      <p:sp>
        <p:nvSpPr>
          <p:cNvPr id="1159" name="" descr="{&quot;isTemplate&quot;:true,&quot;type&quot;:&quot;text&quot;}"/>
          <p:cNvSpPr txBox="1"/>
          <p:nvPr/>
        </p:nvSpPr>
        <p:spPr>
          <a:xfrm rot="0" flipH="0" flipV="0">
            <a:off x="8810625" y="2343150"/>
            <a:ext cx="252412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重跑不产生新合并，解析元数据不能越滚越乱。</a:t>
            </a:r>
            <a:endParaRPr/>
          </a:p>
        </p:txBody>
      </p:sp>
      <p:sp>
        <p:nvSpPr>
          <p:cNvPr id="1160" name=""/>
          <p:cNvSpPr/>
          <p:nvPr/>
        </p:nvSpPr>
        <p:spPr>
          <a:xfrm rot="0" flipH="0" flipV="0">
            <a:off x="8715375" y="2686050"/>
            <a:ext cx="2714625" cy="6858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61" name="" descr="{&quot;isTemplate&quot;:true,&quot;type&quot;:&quot;text&quot;}"/>
          <p:cNvSpPr txBox="1"/>
          <p:nvPr/>
        </p:nvSpPr>
        <p:spPr>
          <a:xfrm rot="0" flipH="0" flipV="0">
            <a:off x="8810625" y="2762250"/>
            <a:ext cx="2524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类型强约束</a:t>
            </a:r>
            <a:endParaRPr/>
          </a:p>
        </p:txBody>
      </p:sp>
      <p:sp>
        <p:nvSpPr>
          <p:cNvPr id="1162" name="" descr="{&quot;isTemplate&quot;:true,&quot;type&quot;:&quot;text&quot;}"/>
          <p:cNvSpPr txBox="1"/>
          <p:nvPr/>
        </p:nvSpPr>
        <p:spPr>
          <a:xfrm rot="0" flipH="0" flipV="0">
            <a:off x="8810625" y="2924175"/>
            <a:ext cx="2524125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把「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N/A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」塞进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Double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字段直接报错，不要隐式转换。</a:t>
            </a:r>
            <a:endParaRPr/>
          </a:p>
        </p:txBody>
      </p:sp>
      <p:sp>
        <p:nvSpPr>
          <p:cNvPr id="1163" name=""/>
          <p:cNvSpPr/>
          <p:nvPr/>
        </p:nvSpPr>
        <p:spPr>
          <a:xfrm rot="0" flipH="0" flipV="0">
            <a:off x="8715375" y="3448050"/>
            <a:ext cx="2714625" cy="6858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64" name="" descr="{&quot;isTemplate&quot;:true,&quot;type&quot;:&quot;text&quot;}"/>
          <p:cNvSpPr txBox="1"/>
          <p:nvPr/>
        </p:nvSpPr>
        <p:spPr>
          <a:xfrm rot="0" flipH="0" flipV="0">
            <a:off x="8810625" y="3524250"/>
            <a:ext cx="2524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断流必须报警</a:t>
            </a:r>
            <a:endParaRPr/>
          </a:p>
        </p:txBody>
      </p:sp>
      <p:sp>
        <p:nvSpPr>
          <p:cNvPr id="1165" name="" descr="{&quot;isTemplate&quot;:true,&quot;type&quot;:&quot;text&quot;}"/>
          <p:cNvSpPr txBox="1"/>
          <p:nvPr/>
        </p:nvSpPr>
        <p:spPr>
          <a:xfrm rot="0" flipH="0" flipV="0">
            <a:off x="8810625" y="3686175"/>
            <a:ext cx="2524125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源表不更新是最隐蔽的失败——黄金记录看着正常，实际已过期。</a:t>
            </a:r>
            <a:endParaRPr/>
          </a:p>
        </p:txBody>
      </p:sp>
      <p:sp>
        <p:nvSpPr>
          <p:cNvPr id="1166" name=""/>
          <p:cNvSpPr/>
          <p:nvPr/>
        </p:nvSpPr>
        <p:spPr>
          <a:xfrm rot="0" flipH="0" flipV="0">
            <a:off x="609600" y="4791075"/>
            <a:ext cx="10972800" cy="914400"/>
          </a:xfrm>
          <a:prstGeom prst="roundRect">
            <a:avLst>
              <a:gd name="adj" fmla="val 416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67" name="" descr="{&quot;isTemplate&quot;:true,&quot;type&quot;:&quot;text&quot;}"/>
          <p:cNvSpPr txBox="1"/>
          <p:nvPr/>
        </p:nvSpPr>
        <p:spPr>
          <a:xfrm rot="0" flipH="0" flipV="0">
            <a:off x="781050" y="5172075"/>
            <a:ext cx="2571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判断主数据有没有真落地：三个可验证的问题</a:t>
            </a:r>
            <a:endParaRPr/>
          </a:p>
        </p:txBody>
      </p:sp>
      <p:sp>
        <p:nvSpPr>
          <p:cNvPr id="1168" name=""/>
          <p:cNvSpPr/>
          <p:nvPr/>
        </p:nvSpPr>
        <p:spPr>
          <a:xfrm rot="0" flipH="0" flipV="0">
            <a:off x="3514725" y="4895850"/>
            <a:ext cx="2552700" cy="7143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69" name=""/>
          <p:cNvSpPr/>
          <p:nvPr/>
        </p:nvSpPr>
        <p:spPr>
          <a:xfrm rot="0" flipH="0" flipV="0">
            <a:off x="3514725" y="4895850"/>
            <a:ext cx="2552700" cy="714375"/>
          </a:xfrm>
          <a:custGeom>
            <a:pathLst>
              <a:path w="268" h="75">
                <a:moveTo>
                  <a:pt x="3" y="75"/>
                </a:moveTo>
                <a:cubicBezTo>
                  <a:pt x="1" y="75"/>
                  <a:pt x="0" y="74"/>
                  <a:pt x="0" y="7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70" name="" descr="{&quot;isTemplate&quot;:true,&quot;type&quot;:&quot;text&quot;}"/>
          <p:cNvSpPr txBox="1"/>
          <p:nvPr/>
        </p:nvSpPr>
        <p:spPr>
          <a:xfrm rot="0" flipH="0" flipV="0">
            <a:off x="3619500" y="4981575"/>
            <a:ext cx="2314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业务用它吗</a:t>
            </a:r>
            <a:endParaRPr/>
          </a:p>
        </p:txBody>
      </p:sp>
      <p:sp>
        <p:nvSpPr>
          <p:cNvPr id="1171" name="" descr="{&quot;isTemplate&quot;:true,&quot;type&quot;:&quot;text&quot;}"/>
          <p:cNvSpPr txBox="1"/>
          <p:nvPr/>
        </p:nvSpPr>
        <p:spPr>
          <a:xfrm rot="0" flipH="0" flipV="0">
            <a:off x="3619500" y="5153025"/>
            <a:ext cx="2314575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打开系统，第一个动作是查实体，而不是查表——这说明主数据成了入口。</a:t>
            </a:r>
            <a:endParaRPr/>
          </a:p>
        </p:txBody>
      </p:sp>
      <p:sp>
        <p:nvSpPr>
          <p:cNvPr id="1172" name=""/>
          <p:cNvSpPr/>
          <p:nvPr/>
        </p:nvSpPr>
        <p:spPr>
          <a:xfrm rot="0" flipH="0" flipV="0">
            <a:off x="6200775" y="4895850"/>
            <a:ext cx="2552700" cy="7143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73" name=""/>
          <p:cNvSpPr/>
          <p:nvPr/>
        </p:nvSpPr>
        <p:spPr>
          <a:xfrm rot="0" flipH="0" flipV="0">
            <a:off x="6200775" y="4895850"/>
            <a:ext cx="2552700" cy="714375"/>
          </a:xfrm>
          <a:custGeom>
            <a:pathLst>
              <a:path w="268" h="75">
                <a:moveTo>
                  <a:pt x="3" y="75"/>
                </a:moveTo>
                <a:cubicBezTo>
                  <a:pt x="1" y="75"/>
                  <a:pt x="0" y="74"/>
                  <a:pt x="0" y="7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74" name="" descr="{&quot;isTemplate&quot;:true,&quot;type&quot;:&quot;text&quot;}"/>
          <p:cNvSpPr txBox="1"/>
          <p:nvPr/>
        </p:nvSpPr>
        <p:spPr>
          <a:xfrm rot="0" flipH="0" flipV="0">
            <a:off x="6305550" y="4981575"/>
            <a:ext cx="2314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敢改吗</a:t>
            </a:r>
            <a:endParaRPr/>
          </a:p>
        </p:txBody>
      </p:sp>
      <p:sp>
        <p:nvSpPr>
          <p:cNvPr id="1175" name="" descr="{&quot;isTemplate&quot;:true,&quot;type&quot;:&quot;text&quot;}"/>
          <p:cNvSpPr txBox="1"/>
          <p:nvPr/>
        </p:nvSpPr>
        <p:spPr>
          <a:xfrm rot="0" flipH="0" flipV="0">
            <a:off x="6305550" y="5153025"/>
            <a:ext cx="2314575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业务愿意通过动作改属性，而不是找管理员直连数据库——这说明治理闭环了。</a:t>
            </a:r>
            <a:endParaRPr/>
          </a:p>
        </p:txBody>
      </p:sp>
      <p:sp>
        <p:nvSpPr>
          <p:cNvPr id="1176" name=""/>
          <p:cNvSpPr/>
          <p:nvPr/>
        </p:nvSpPr>
        <p:spPr>
          <a:xfrm rot="0" flipH="0" flipV="0">
            <a:off x="8886825" y="4895850"/>
            <a:ext cx="2552700" cy="7143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77" name=""/>
          <p:cNvSpPr/>
          <p:nvPr/>
        </p:nvSpPr>
        <p:spPr>
          <a:xfrm rot="0" flipH="0" flipV="0">
            <a:off x="8886825" y="4895850"/>
            <a:ext cx="2552700" cy="714375"/>
          </a:xfrm>
          <a:custGeom>
            <a:pathLst>
              <a:path w="268" h="75">
                <a:moveTo>
                  <a:pt x="3" y="75"/>
                </a:moveTo>
                <a:cubicBezTo>
                  <a:pt x="1" y="75"/>
                  <a:pt x="0" y="74"/>
                  <a:pt x="0" y="7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78" name="" descr="{&quot;isTemplate&quot;:true,&quot;type&quot;:&quot;text&quot;}"/>
          <p:cNvSpPr txBox="1"/>
          <p:nvPr/>
        </p:nvSpPr>
        <p:spPr>
          <a:xfrm rot="0" flipH="0" flipV="0">
            <a:off x="8991600" y="4981575"/>
            <a:ext cx="2314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查得到吗</a:t>
            </a:r>
            <a:endParaRPr/>
          </a:p>
        </p:txBody>
      </p:sp>
      <p:sp>
        <p:nvSpPr>
          <p:cNvPr id="1179" name="" descr="{&quot;isTemplate&quot;:true,&quot;type&quot;:&quot;text&quot;}"/>
          <p:cNvSpPr txBox="1"/>
          <p:nvPr/>
        </p:nvSpPr>
        <p:spPr>
          <a:xfrm rot="0" flipH="0" flipV="0">
            <a:off x="8991600" y="5153025"/>
            <a:ext cx="2314575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三秒内能回答「这个客户是谁、来自哪、有多可信、合并过几次」——这说明元数据齐了。</a:t>
            </a:r>
            <a:endParaRPr/>
          </a:p>
        </p:txBody>
      </p:sp>
      <p:sp>
        <p:nvSpPr>
          <p:cNvPr id="1180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181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82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590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主数据咨询方法论</a:t>
            </a:r>
            <a:endParaRPr/>
          </a:p>
        </p:txBody>
      </p:sp>
      <p:sp>
        <p:nvSpPr>
          <p:cNvPr id="1183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29 / 30</a:t>
            </a:r>
            <a:endParaRPr/>
          </a:p>
        </p:txBody>
      </p:sp>
    </p:spTree>
  </p:cSld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252" name="" descr="&lt;Slide style={{ width: 1280, height: 720, background: '#FFFFFF', padding: '24px 64px 0' }}&gt;&#13;&#10;  &lt;Box style={{ height: 96, flexDirection: 'column', justifyContent: 'flex-start' }}&gt;&#13;&#10;    &lt;Text style={{ fontSize: 32, fontWeight: 'bold', color: '#0F1423' }}&gt;&#13;&#10;      成熟度五级 · 五类失效 · 十二项评审 · 结语&#13;&#10;    &lt;/Text&gt;&#13;&#10;    &lt;Text style={{ fontSize: 20, color: '#8A8F99', marginTop: 8 }}&gt;&#13;&#10;      主数据水平不看上了多少工具，只看三件事：能不能答、能不能撤、能不能被业务接受&#13;&#10;    &lt;/Text&gt;&#13;&#10;  &lt;/Box&gt;&#13;&#10;  &lt;Box style={{ height: 1, background: '#E8E8E8' }} /&gt;&#13;&#10;&#13;&#10;  &lt;Box style={{ paddingTop: 12, paddingBottom: 8, height: 479, flexDirection: 'column', gap: 9 }}&gt;&#13;&#10;    &lt;Box style={{ height: 110, flexDirection: 'row', gap: 9 }}&gt;&#13;&#10;      {[&#13;&#10;        { l: 'L1 分散', d: '各系统各一套编码，没有唯一标识。', c: '#8A8F99' },&#13;&#10;        { l: 'L2 对齐', d: '主键统一了，但层级与合并记录还缺。', c: '#FBA15C' },&#13;&#10;        { l: 'L3 可信', d: '黄金记录上线，合并可撤销，能溯源。', c: '#F87D2F' },&#13;&#10;        { l: 'L4 可运营', d: '业务在应用里改，走动作、走审批。', c: '#FA4F24' },&#13;&#10;        { l: 'L5 有上下文', d: '关系与层级完备，Agent 能沿链接推理。', c: '#C43A17' },&#13;&#10;      ].map((x, i) =&gt; (&#13;&#10;        &lt;Box key={x.l} style={{ flex: 1, background: '#F7F7F8', borderRadius: 4, borderTop: '4px solid ' + x.c, padding: '10px 12px', flexDirection: 'column' }}&gt;&#13;&#10;          &lt;Text style={{ fontSize: 15, fontWeight: 'bold', color: x.c }}&gt;{x.l}&lt;/Text&gt;&#13;&#10;          &lt;Text style={{ fontSize: 11, color: '#3A4050', marginTop: 6, lineHeight: 1.45, flex: 1 }}&gt;{x.d}&lt;/Text&gt;&#13;&#10;        &lt;/Box&gt;&#13;&#10;      ))}&#13;&#10;    &lt;/Box&gt;&#13;&#10;&#13;&#10;    &lt;Box style={{ flex: 1, flexDirection: 'row', gap: 10 }}&gt;&#13;&#10;      &lt;Box style={{ flex: 0.85, background: '#0F1423', borderRadius: 4, padding: '12px 16px', flexDirection: 'column' }}&gt;&#13;&#10;        &lt;Text style={{ fontSize: 13.5, fontWeight: 'bold', color: '#FBA15C' }}&gt;五类失效&lt;/Text&gt;&#13;&#10;        &lt;Box style={{ flex: 1, marginTop: 9, flexDirection: 'column', gap: 6 }}&gt;&#13;&#10;          {[&#13;&#10;            { t: '身份错乱', d: '同一实体两个 ID，或一个 ID 两个实体。' },&#13;&#10;            { t: '合并不可逆', d: '合错了拆不回来，只能重建。' },&#13;&#10;            { t: '层级缺失', d: '集团结构不全，风险与合并口径全错。' },&#13;&#10;            { t: '规则不版本化', d: '改了仲裁规则，历史结论解释不清。' },&#13;&#10;            { t: '两速分歧', d: '分析视图与运营视图给出不同答案。' },&#13;&#10;          ].map((x) =&gt; (&#13;&#10;            &lt;Box key={x.t} style={{ background: 'rgba(255,255,255,0.07)', borderRadius: 3, borderLeft: '3px solid #C43A17', padding: '7px 10px' }}&gt;&#13;&#10;              &lt;Text style={{ fontSize: 11.5, fontWeight: 'bold', color: '#FFFFFF' }}&gt;{x.t}&lt;/Text&gt;&#13;&#10;              &lt;Text style={{ fontSize: 10.5, color: 'rgba(255,255,255,0.78)', marginTop: 2, lineHeight: 1.4 }}&gt;{x.d}&lt;/Text&gt;&#13;&#10;            &lt;/Box&gt;&#13;&#10;          ))}&#13;&#10;        &lt;/Box&gt;&#13;&#10;      &lt;/Box&gt;&#13;&#10;&#13;&#10;      &lt;Box style={{ flex: 1.1, background: '#FFFFFF', border: '1px solid #E8E8E8', borderRadius: 4, padding: '12px 16px', flexDirection: 'column' }}&gt;&#13;&#10;        &lt;Text style={{ fontSize: 13.5, fontWeight: 'bold', color: '#0F1423' }}&gt;十二项评审&lt;/Text&gt;&#13;&#10;        &lt;Box style={{ flex: 1, marginTop: 9, flexDirection: 'row', flexWrap: 'wrap', gap: 6, alignContent: 'flex-start' }}&gt;&#13;&#10;          {[&#13;&#10;            '主键策略有文档且被认可吗？',&#13;&#10;            '解析元数据三件套齐全吗？',&#13;&#10;            '合并能撤销吗，SLA 是多少？',&#13;&#10;            '拆分有没有影响面评估？',&#13;&#10;            '仲裁规则版本化了吗？',&#13;&#10;            '被覆盖的旧值还留着吗？',&#13;&#10;            '原始层还在还是被删了？',&#13;&#10;            '重跑解析幂等吗？',&#13;&#10;            '重解析留批次号了吗？',&#13;&#10;            '断流有报警吗？',&#13;&#10;            '实体→切片反向索引建了吗？',&#13;&#10;            '有没有人在守例外队列？',&#13;&#10;          ].map((q, i) =&gt; (&#13;&#10;            &lt;Box key={q} style={{ width: '48.6%', background: '#F7F7F8', borderRadius: 3, padding: '6px 9px' }}&gt;&#13;&#10;              &lt;Text style={{ fontSize: 11, color: '#3A4050', lineHeight: 1.4 }}&gt;&#13;&#10;                &lt;tspan style={{ fontWeight: 'bold', color: '#FA4F24' }}&gt;{i + 1}. &lt;/tspan&gt;{q}&#13;&#10;              &lt;/Text&gt;&#13;&#10;            &lt;/Box&gt;&#13;&#10;          ))}&#13;&#10;        &lt;/Box&gt;&#13;&#10;      &lt;/Box&gt;&#13;&#10;&#13;&#10;      &lt;Box style={{ flex: 0.9, background: '#FFF3EE', borderRadius: 4, borderLeft: '4px solid #FA4F24', padding: '12px 15px', flexDirection: 'column', justifyContent: 'center' }}&gt;&#13;&#10;        &lt;Text style={{ fontSize: 13.5, fontWeight: 'bold', color: '#C43A17' }}&gt;结语：十册走完一条线&lt;/Text&gt;&#13;&#10;        &lt;Box style={{ flexDirection: 'column', gap: 5, marginTop: 8 }}&gt;&#13;&#10;          {[&#13;&#10;            'DA 先有治，才有存',&#13;&#10;            'BA 能力与组织解耦',&#13;&#10;            'AA 应用多了带来技术债',&#13;&#10;            'TA 不押注单点技术',&#13;&#10;            'ONT 语义与动力学合一',&#13;&#10;            'AGT 明确谁来判断、何时停手',&#13;&#10;            'KB 知识要被治理，不只是存',&#13;&#10;            'PIPE 进出本体要可管可追可退',&#13;&#10;            'GOV 管的是动作，不是文件',&#13;&#10;            'MDM 实体身份是全部智能的前置',&#13;&#10;          ].map((t) =&gt; (&#13;&#10;            &lt;Text key={t} style={{ fontSize: 10.5, color: '#3A4050', lineHeight: 1.35 }}&gt;{t}&lt;/Text&gt;&#13;&#10;          ))}&#13;&#10;        &lt;/Box&gt;&#13;&#10;        &lt;Box style={{ marginTop: 9, background: '#FFFFFF', borderRadius: 3, padding: '9px 11px' }}&gt;&#13;&#10;          &lt;Text style={{ fontSize: 11.5, color: '#3A4050', lineHeight: 1.5 }}&gt;&#13;&#10;            实体层做错了，AI 在批量放大错误；做对了，AI 在复利放大价值。&lt;tspan style={{ fontWeight: 'bold', color: '#C43A17' }}&gt;从今天起，先定主键。&lt;/tspan&gt;&#13;&#10;          &lt;/Text&gt;&#13;&#10;        &lt;/Box&gt;&#13;&#10;      &lt;/Box&gt;&#13;&#10;    &lt;/Box&gt;&#13;&#10;  &lt;/Box&gt;&#13;&#10;&#13;&#10;  &lt;Box style={{ height: 58, flexDirection: 'row', alignItems: 'center', borderTop: '1px solid #E8E8E8' }}&gt;&#13;&#10;    &lt;Box style={{ width: 10, height: 10, background: '#FA4F24' }} /&gt;&#13;&#10;    &lt;Text style={{ fontSize: 13, color: '#8A8F99', marginLeft: 12 }}&gt;硕磐机密 · 主数据咨询方法论 · 第十册完&lt;/Text&gt;&#13;&#10;    &lt;Text style={{ fontSize: 13, color: '#8A8F99', marginLeft: 'auto' }}&gt;30 / 30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5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成熟度五级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五类失效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十二项评审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结语</a:t>
            </a:r>
            <a:endParaRPr/>
          </a:p>
        </p:txBody>
      </p:sp>
      <p:sp>
        <p:nvSpPr>
          <p:cNvPr id="125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主数据水平不看上了多少工具，只看三件事：能不能答、能不能撤、能不能被业务接受</a:t>
            </a:r>
            <a:endParaRPr/>
          </a:p>
        </p:txBody>
      </p:sp>
      <p:sp>
        <p:nvSpPr>
          <p:cNvPr id="125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57" name=""/>
          <p:cNvSpPr/>
          <p:nvPr/>
        </p:nvSpPr>
        <p:spPr>
          <a:xfrm rot="0" flipH="0" flipV="0">
            <a:off x="609600" y="1304925"/>
            <a:ext cx="2124075" cy="1047750"/>
          </a:xfrm>
          <a:prstGeom prst="roundRect">
            <a:avLst>
              <a:gd name="adj" fmla="val 363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58" name=""/>
          <p:cNvSpPr/>
          <p:nvPr/>
        </p:nvSpPr>
        <p:spPr>
          <a:xfrm rot="0" flipH="0" flipV="0">
            <a:off x="609600" y="1304925"/>
            <a:ext cx="2124075" cy="1047750"/>
          </a:xfrm>
          <a:custGeom>
            <a:pathLst>
              <a:path w="223" h="110">
                <a:moveTo>
                  <a:pt x="219" y="0"/>
                </a:moveTo>
                <a:cubicBezTo>
                  <a:pt x="221" y="0"/>
                  <a:pt x="223" y="2"/>
                  <a:pt x="223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19" y="0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1259" name="" descr="{&quot;isTemplate&quot;:true,&quot;type&quot;:&quot;text&quot;}"/>
          <p:cNvSpPr txBox="1"/>
          <p:nvPr/>
        </p:nvSpPr>
        <p:spPr>
          <a:xfrm rot="0" flipH="0" flipV="0">
            <a:off x="723900" y="1400175"/>
            <a:ext cx="1895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8A8F99"/>
                </a:solidFill>
                <a:latin typeface="Microsoft YaHei"/>
                <a:ea typeface="Microsoft YaHei"/>
              </a:rPr>
              <a:t xml:space="preserve">L1 </a:t>
            </a:r>
            <a:r>
              <a:rPr lang="zh-CN" sz="1125" b="1">
                <a:solidFill>
                  <a:srgbClr val="8A8F99"/>
                </a:solidFill>
                <a:latin typeface="Microsoft YaHei"/>
                <a:ea typeface="Microsoft YaHei"/>
              </a:rPr>
              <a:t>分散</a:t>
            </a:r>
            <a:endParaRPr/>
          </a:p>
        </p:txBody>
      </p:sp>
      <p:sp>
        <p:nvSpPr>
          <p:cNvPr id="1260" name="" descr="{&quot;isTemplate&quot;:true,&quot;type&quot;:&quot;text&quot;}"/>
          <p:cNvSpPr txBox="1"/>
          <p:nvPr/>
        </p:nvSpPr>
        <p:spPr>
          <a:xfrm rot="0" flipH="0" flipV="0">
            <a:off x="723900" y="1628775"/>
            <a:ext cx="1895475" cy="590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各系统各一套编码，没有唯一标识。</a:t>
            </a:r>
            <a:endParaRPr/>
          </a:p>
        </p:txBody>
      </p:sp>
      <p:sp>
        <p:nvSpPr>
          <p:cNvPr id="1261" name=""/>
          <p:cNvSpPr/>
          <p:nvPr/>
        </p:nvSpPr>
        <p:spPr>
          <a:xfrm rot="0" flipH="0" flipV="0">
            <a:off x="2819400" y="1304925"/>
            <a:ext cx="2124075" cy="1047750"/>
          </a:xfrm>
          <a:prstGeom prst="roundRect">
            <a:avLst>
              <a:gd name="adj" fmla="val 363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62" name=""/>
          <p:cNvSpPr/>
          <p:nvPr/>
        </p:nvSpPr>
        <p:spPr>
          <a:xfrm rot="0" flipH="0" flipV="0">
            <a:off x="2819400" y="1304925"/>
            <a:ext cx="2124075" cy="1047750"/>
          </a:xfrm>
          <a:custGeom>
            <a:pathLst>
              <a:path w="223" h="110">
                <a:moveTo>
                  <a:pt x="219" y="0"/>
                </a:moveTo>
                <a:cubicBezTo>
                  <a:pt x="221" y="0"/>
                  <a:pt x="223" y="2"/>
                  <a:pt x="223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19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263" name="" descr="{&quot;isTemplate&quot;:true,&quot;type&quot;:&quot;text&quot;}"/>
          <p:cNvSpPr txBox="1"/>
          <p:nvPr/>
        </p:nvSpPr>
        <p:spPr>
          <a:xfrm rot="0" flipH="0" flipV="0">
            <a:off x="2933700" y="1400175"/>
            <a:ext cx="1895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L2 </a:t>
            </a:r>
            <a:r>
              <a:rPr lang="zh-CN" sz="1125" b="1">
                <a:solidFill>
                  <a:srgbClr val="FBA15C"/>
                </a:solidFill>
                <a:latin typeface="Microsoft YaHei"/>
                <a:ea typeface="Microsoft YaHei"/>
              </a:rPr>
              <a:t>对齐</a:t>
            </a:r>
            <a:endParaRPr/>
          </a:p>
        </p:txBody>
      </p:sp>
      <p:sp>
        <p:nvSpPr>
          <p:cNvPr id="1264" name="" descr="{&quot;isTemplate&quot;:true,&quot;type&quot;:&quot;text&quot;}"/>
          <p:cNvSpPr txBox="1"/>
          <p:nvPr/>
        </p:nvSpPr>
        <p:spPr>
          <a:xfrm rot="0" flipH="0" flipV="0">
            <a:off x="2933700" y="1628775"/>
            <a:ext cx="1895475" cy="590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主键统一了，但层级与合并记录还缺。</a:t>
            </a:r>
            <a:endParaRPr/>
          </a:p>
        </p:txBody>
      </p:sp>
      <p:sp>
        <p:nvSpPr>
          <p:cNvPr id="1265" name=""/>
          <p:cNvSpPr/>
          <p:nvPr/>
        </p:nvSpPr>
        <p:spPr>
          <a:xfrm rot="0" flipH="0" flipV="0">
            <a:off x="5029200" y="1304925"/>
            <a:ext cx="2133600" cy="1047750"/>
          </a:xfrm>
          <a:prstGeom prst="roundRect">
            <a:avLst>
              <a:gd name="adj" fmla="val 363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66" name=""/>
          <p:cNvSpPr/>
          <p:nvPr/>
        </p:nvSpPr>
        <p:spPr>
          <a:xfrm rot="0" flipH="0" flipV="0">
            <a:off x="5029200" y="1304925"/>
            <a:ext cx="2133600" cy="1047750"/>
          </a:xfrm>
          <a:custGeom>
            <a:pathLst>
              <a:path w="224" h="110">
                <a:moveTo>
                  <a:pt x="220" y="0"/>
                </a:moveTo>
                <a:cubicBezTo>
                  <a:pt x="222" y="0"/>
                  <a:pt x="224" y="2"/>
                  <a:pt x="224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20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267" name="" descr="{&quot;isTemplate&quot;:true,&quot;type&quot;:&quot;text&quot;}"/>
          <p:cNvSpPr txBox="1"/>
          <p:nvPr/>
        </p:nvSpPr>
        <p:spPr>
          <a:xfrm rot="0" flipH="0" flipV="0">
            <a:off x="5143500" y="1400175"/>
            <a:ext cx="190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87D2F"/>
                </a:solidFill>
                <a:latin typeface="Microsoft YaHei"/>
                <a:ea typeface="Microsoft YaHei"/>
              </a:rPr>
              <a:t xml:space="preserve">L3 </a:t>
            </a:r>
            <a:r>
              <a:rPr lang="zh-CN" sz="1125" b="1">
                <a:solidFill>
                  <a:srgbClr val="F87D2F"/>
                </a:solidFill>
                <a:latin typeface="Microsoft YaHei"/>
                <a:ea typeface="Microsoft YaHei"/>
              </a:rPr>
              <a:t>可信</a:t>
            </a:r>
            <a:endParaRPr/>
          </a:p>
        </p:txBody>
      </p:sp>
      <p:sp>
        <p:nvSpPr>
          <p:cNvPr id="1268" name="" descr="{&quot;isTemplate&quot;:true,&quot;type&quot;:&quot;text&quot;}"/>
          <p:cNvSpPr txBox="1"/>
          <p:nvPr/>
        </p:nvSpPr>
        <p:spPr>
          <a:xfrm rot="0" flipH="0" flipV="0">
            <a:off x="5143500" y="1628775"/>
            <a:ext cx="1905000" cy="590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黄金记录上线，合并可撤销，能溯源。</a:t>
            </a:r>
            <a:endParaRPr/>
          </a:p>
        </p:txBody>
      </p:sp>
      <p:sp>
        <p:nvSpPr>
          <p:cNvPr id="1269" name=""/>
          <p:cNvSpPr/>
          <p:nvPr/>
        </p:nvSpPr>
        <p:spPr>
          <a:xfrm rot="0" flipH="0" flipV="0">
            <a:off x="7248525" y="1304925"/>
            <a:ext cx="2124075" cy="1047750"/>
          </a:xfrm>
          <a:prstGeom prst="roundRect">
            <a:avLst>
              <a:gd name="adj" fmla="val 363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70" name=""/>
          <p:cNvSpPr/>
          <p:nvPr/>
        </p:nvSpPr>
        <p:spPr>
          <a:xfrm rot="0" flipH="0" flipV="0">
            <a:off x="7248525" y="1304925"/>
            <a:ext cx="2124075" cy="1047750"/>
          </a:xfrm>
          <a:custGeom>
            <a:pathLst>
              <a:path w="223" h="110">
                <a:moveTo>
                  <a:pt x="219" y="0"/>
                </a:moveTo>
                <a:cubicBezTo>
                  <a:pt x="221" y="0"/>
                  <a:pt x="223" y="2"/>
                  <a:pt x="223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19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71" name="" descr="{&quot;isTemplate&quot;:true,&quot;type&quot;:&quot;text&quot;}"/>
          <p:cNvSpPr txBox="1"/>
          <p:nvPr/>
        </p:nvSpPr>
        <p:spPr>
          <a:xfrm rot="0" flipH="0" flipV="0">
            <a:off x="7362825" y="1400175"/>
            <a:ext cx="1895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L4 </a:t>
            </a: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可运营</a:t>
            </a:r>
            <a:endParaRPr/>
          </a:p>
        </p:txBody>
      </p:sp>
      <p:sp>
        <p:nvSpPr>
          <p:cNvPr id="1272" name="" descr="{&quot;isTemplate&quot;:true,&quot;type&quot;:&quot;text&quot;}"/>
          <p:cNvSpPr txBox="1"/>
          <p:nvPr/>
        </p:nvSpPr>
        <p:spPr>
          <a:xfrm rot="0" flipH="0" flipV="0">
            <a:off x="7362825" y="1628775"/>
            <a:ext cx="1895475" cy="590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业务在应用里改，走动作、走审批。</a:t>
            </a:r>
            <a:endParaRPr/>
          </a:p>
        </p:txBody>
      </p:sp>
      <p:sp>
        <p:nvSpPr>
          <p:cNvPr id="1273" name=""/>
          <p:cNvSpPr/>
          <p:nvPr/>
        </p:nvSpPr>
        <p:spPr>
          <a:xfrm rot="0" flipH="0" flipV="0">
            <a:off x="9458325" y="1304925"/>
            <a:ext cx="2124075" cy="1047750"/>
          </a:xfrm>
          <a:prstGeom prst="roundRect">
            <a:avLst>
              <a:gd name="adj" fmla="val 363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74" name=""/>
          <p:cNvSpPr/>
          <p:nvPr/>
        </p:nvSpPr>
        <p:spPr>
          <a:xfrm rot="0" flipH="0" flipV="0">
            <a:off x="9458325" y="1304925"/>
            <a:ext cx="2124075" cy="1047750"/>
          </a:xfrm>
          <a:custGeom>
            <a:pathLst>
              <a:path w="223" h="110">
                <a:moveTo>
                  <a:pt x="219" y="0"/>
                </a:moveTo>
                <a:cubicBezTo>
                  <a:pt x="221" y="0"/>
                  <a:pt x="223" y="2"/>
                  <a:pt x="223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19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275" name="" descr="{&quot;isTemplate&quot;:true,&quot;type&quot;:&quot;text&quot;}"/>
          <p:cNvSpPr txBox="1"/>
          <p:nvPr/>
        </p:nvSpPr>
        <p:spPr>
          <a:xfrm rot="0" flipH="0" flipV="0">
            <a:off x="9572625" y="1400175"/>
            <a:ext cx="1895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L5 </a:t>
            </a: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有上下文</a:t>
            </a:r>
            <a:endParaRPr/>
          </a:p>
        </p:txBody>
      </p:sp>
      <p:sp>
        <p:nvSpPr>
          <p:cNvPr id="1276" name="" descr="{&quot;isTemplate&quot;:true,&quot;type&quot;:&quot;text&quot;}"/>
          <p:cNvSpPr txBox="1"/>
          <p:nvPr/>
        </p:nvSpPr>
        <p:spPr>
          <a:xfrm rot="0" flipH="0" flipV="0">
            <a:off x="9572625" y="1628775"/>
            <a:ext cx="18954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关系与层级完备，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能沿链接推理。</a:t>
            </a:r>
            <a:endParaRPr/>
          </a:p>
        </p:txBody>
      </p:sp>
      <p:sp>
        <p:nvSpPr>
          <p:cNvPr id="1277" name=""/>
          <p:cNvSpPr/>
          <p:nvPr/>
        </p:nvSpPr>
        <p:spPr>
          <a:xfrm rot="0" flipH="0" flipV="0">
            <a:off x="609600" y="2400300"/>
            <a:ext cx="3219450" cy="3267075"/>
          </a:xfrm>
          <a:prstGeom prst="roundRect">
            <a:avLst>
              <a:gd name="adj" fmla="val 1183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278" name="" descr="{&quot;isTemplate&quot;:true,&quot;type&quot;:&quot;text&quot;}"/>
          <p:cNvSpPr txBox="1"/>
          <p:nvPr/>
        </p:nvSpPr>
        <p:spPr>
          <a:xfrm rot="0" flipH="0" flipV="0">
            <a:off x="762000" y="2514600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五类失效</a:t>
            </a:r>
            <a:endParaRPr/>
          </a:p>
        </p:txBody>
      </p:sp>
      <p:sp>
        <p:nvSpPr>
          <p:cNvPr id="1279" name=""/>
          <p:cNvSpPr/>
          <p:nvPr/>
        </p:nvSpPr>
        <p:spPr>
          <a:xfrm rot="0" flipH="0" flipV="0">
            <a:off x="790575" y="2762250"/>
            <a:ext cx="2914650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280" name=""/>
          <p:cNvSpPr/>
          <p:nvPr/>
        </p:nvSpPr>
        <p:spPr>
          <a:xfrm rot="0" flipH="0" flipV="0">
            <a:off x="790575" y="2762250"/>
            <a:ext cx="2914650" cy="457200"/>
          </a:xfrm>
          <a:custGeom>
            <a:pathLst>
              <a:path w="306" h="48">
                <a:moveTo>
                  <a:pt x="3" y="48"/>
                </a:moveTo>
                <a:cubicBezTo>
                  <a:pt x="1" y="48"/>
                  <a:pt x="0" y="47"/>
                  <a:pt x="0" y="4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8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281" name="" descr="{&quot;isTemplate&quot;:true,&quot;type&quot;:&quot;text&quot;}"/>
          <p:cNvSpPr txBox="1"/>
          <p:nvPr/>
        </p:nvSpPr>
        <p:spPr>
          <a:xfrm rot="0" flipH="0" flipV="0">
            <a:off x="885825" y="2828925"/>
            <a:ext cx="2695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FFFFF"/>
                </a:solidFill>
                <a:latin typeface="Microsoft YaHei"/>
                <a:ea typeface="Microsoft YaHei"/>
              </a:rPr>
              <a:t>身份错乱</a:t>
            </a:r>
            <a:endParaRPr/>
          </a:p>
        </p:txBody>
      </p:sp>
      <p:sp>
        <p:nvSpPr>
          <p:cNvPr id="1282" name="" descr="{&quot;isTemplate&quot;:true,&quot;type&quot;:&quot;text&quot;}"/>
          <p:cNvSpPr txBox="1"/>
          <p:nvPr/>
        </p:nvSpPr>
        <p:spPr>
          <a:xfrm rot="0" flipH="0" flipV="0">
            <a:off x="885825" y="2981325"/>
            <a:ext cx="269557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同一实体两个</a:t>
            </a:r>
            <a:r>
              <a:rPr lang="en-US" sz="788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 xml:space="preserve"> ID</a:t>
            </a:r>
            <a:r>
              <a:rPr lang="zh-CN" sz="788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，或一个</a:t>
            </a:r>
            <a:r>
              <a:rPr lang="en-US" sz="788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788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两个实体。</a:t>
            </a:r>
            <a:endParaRPr/>
          </a:p>
        </p:txBody>
      </p:sp>
      <p:sp>
        <p:nvSpPr>
          <p:cNvPr id="1283" name=""/>
          <p:cNvSpPr/>
          <p:nvPr/>
        </p:nvSpPr>
        <p:spPr>
          <a:xfrm rot="0" flipH="0" flipV="0">
            <a:off x="790575" y="3276600"/>
            <a:ext cx="2914650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284" name=""/>
          <p:cNvSpPr/>
          <p:nvPr/>
        </p:nvSpPr>
        <p:spPr>
          <a:xfrm rot="0" flipH="0" flipV="0">
            <a:off x="790575" y="3276600"/>
            <a:ext cx="2914650" cy="457200"/>
          </a:xfrm>
          <a:custGeom>
            <a:pathLst>
              <a:path w="306" h="48">
                <a:moveTo>
                  <a:pt x="3" y="48"/>
                </a:moveTo>
                <a:cubicBezTo>
                  <a:pt x="1" y="48"/>
                  <a:pt x="0" y="47"/>
                  <a:pt x="0" y="4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8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285" name="" descr="{&quot;isTemplate&quot;:true,&quot;type&quot;:&quot;text&quot;}"/>
          <p:cNvSpPr txBox="1"/>
          <p:nvPr/>
        </p:nvSpPr>
        <p:spPr>
          <a:xfrm rot="0" flipH="0" flipV="0">
            <a:off x="885825" y="3343275"/>
            <a:ext cx="2695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FFFFF"/>
                </a:solidFill>
                <a:latin typeface="Microsoft YaHei"/>
                <a:ea typeface="Microsoft YaHei"/>
              </a:rPr>
              <a:t>合并不可逆</a:t>
            </a:r>
            <a:endParaRPr/>
          </a:p>
        </p:txBody>
      </p:sp>
      <p:sp>
        <p:nvSpPr>
          <p:cNvPr id="1286" name="" descr="{&quot;isTemplate&quot;:true,&quot;type&quot;:&quot;text&quot;}"/>
          <p:cNvSpPr txBox="1"/>
          <p:nvPr/>
        </p:nvSpPr>
        <p:spPr>
          <a:xfrm rot="0" flipH="0" flipV="0">
            <a:off x="885825" y="3495675"/>
            <a:ext cx="269557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合错了拆不回来，只能重建。</a:t>
            </a:r>
            <a:endParaRPr/>
          </a:p>
        </p:txBody>
      </p:sp>
      <p:sp>
        <p:nvSpPr>
          <p:cNvPr id="1287" name=""/>
          <p:cNvSpPr/>
          <p:nvPr/>
        </p:nvSpPr>
        <p:spPr>
          <a:xfrm rot="0" flipH="0" flipV="0">
            <a:off x="790575" y="3790950"/>
            <a:ext cx="2914650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288" name=""/>
          <p:cNvSpPr/>
          <p:nvPr/>
        </p:nvSpPr>
        <p:spPr>
          <a:xfrm rot="0" flipH="0" flipV="0">
            <a:off x="790575" y="3790950"/>
            <a:ext cx="2914650" cy="457200"/>
          </a:xfrm>
          <a:custGeom>
            <a:pathLst>
              <a:path w="306" h="48">
                <a:moveTo>
                  <a:pt x="3" y="48"/>
                </a:moveTo>
                <a:cubicBezTo>
                  <a:pt x="1" y="48"/>
                  <a:pt x="0" y="47"/>
                  <a:pt x="0" y="4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8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289" name="" descr="{&quot;isTemplate&quot;:true,&quot;type&quot;:&quot;text&quot;}"/>
          <p:cNvSpPr txBox="1"/>
          <p:nvPr/>
        </p:nvSpPr>
        <p:spPr>
          <a:xfrm rot="0" flipH="0" flipV="0">
            <a:off x="885825" y="3857625"/>
            <a:ext cx="2695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FFFFF"/>
                </a:solidFill>
                <a:latin typeface="Microsoft YaHei"/>
                <a:ea typeface="Microsoft YaHei"/>
              </a:rPr>
              <a:t>层级缺失</a:t>
            </a:r>
            <a:endParaRPr/>
          </a:p>
        </p:txBody>
      </p:sp>
      <p:sp>
        <p:nvSpPr>
          <p:cNvPr id="1290" name="" descr="{&quot;isTemplate&quot;:true,&quot;type&quot;:&quot;text&quot;}"/>
          <p:cNvSpPr txBox="1"/>
          <p:nvPr/>
        </p:nvSpPr>
        <p:spPr>
          <a:xfrm rot="0" flipH="0" flipV="0">
            <a:off x="885825" y="4010025"/>
            <a:ext cx="269557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集团结构不全，风险与合并口径全错。</a:t>
            </a:r>
            <a:endParaRPr/>
          </a:p>
        </p:txBody>
      </p:sp>
      <p:sp>
        <p:nvSpPr>
          <p:cNvPr id="1291" name=""/>
          <p:cNvSpPr/>
          <p:nvPr/>
        </p:nvSpPr>
        <p:spPr>
          <a:xfrm rot="0" flipH="0" flipV="0">
            <a:off x="790575" y="4305300"/>
            <a:ext cx="2914650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292" name=""/>
          <p:cNvSpPr/>
          <p:nvPr/>
        </p:nvSpPr>
        <p:spPr>
          <a:xfrm rot="0" flipH="0" flipV="0">
            <a:off x="790575" y="4305300"/>
            <a:ext cx="2914650" cy="457200"/>
          </a:xfrm>
          <a:custGeom>
            <a:pathLst>
              <a:path w="306" h="48">
                <a:moveTo>
                  <a:pt x="3" y="48"/>
                </a:moveTo>
                <a:cubicBezTo>
                  <a:pt x="1" y="48"/>
                  <a:pt x="0" y="47"/>
                  <a:pt x="0" y="4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8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293" name="" descr="{&quot;isTemplate&quot;:true,&quot;type&quot;:&quot;text&quot;}"/>
          <p:cNvSpPr txBox="1"/>
          <p:nvPr/>
        </p:nvSpPr>
        <p:spPr>
          <a:xfrm rot="0" flipH="0" flipV="0">
            <a:off x="885825" y="4371975"/>
            <a:ext cx="2695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FFFFF"/>
                </a:solidFill>
                <a:latin typeface="Microsoft YaHei"/>
                <a:ea typeface="Microsoft YaHei"/>
              </a:rPr>
              <a:t>规则不版本化</a:t>
            </a:r>
            <a:endParaRPr/>
          </a:p>
        </p:txBody>
      </p:sp>
      <p:sp>
        <p:nvSpPr>
          <p:cNvPr id="1294" name="" descr="{&quot;isTemplate&quot;:true,&quot;type&quot;:&quot;text&quot;}"/>
          <p:cNvSpPr txBox="1"/>
          <p:nvPr/>
        </p:nvSpPr>
        <p:spPr>
          <a:xfrm rot="0" flipH="0" flipV="0">
            <a:off x="885825" y="4524375"/>
            <a:ext cx="269557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改了仲裁规则，历史结论解释不清。</a:t>
            </a:r>
            <a:endParaRPr/>
          </a:p>
        </p:txBody>
      </p:sp>
      <p:sp>
        <p:nvSpPr>
          <p:cNvPr id="1295" name=""/>
          <p:cNvSpPr/>
          <p:nvPr/>
        </p:nvSpPr>
        <p:spPr>
          <a:xfrm rot="0" flipH="0" flipV="0">
            <a:off x="790575" y="4819650"/>
            <a:ext cx="2914650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296" name=""/>
          <p:cNvSpPr/>
          <p:nvPr/>
        </p:nvSpPr>
        <p:spPr>
          <a:xfrm rot="0" flipH="0" flipV="0">
            <a:off x="790575" y="4819650"/>
            <a:ext cx="2914650" cy="457200"/>
          </a:xfrm>
          <a:custGeom>
            <a:pathLst>
              <a:path w="306" h="48">
                <a:moveTo>
                  <a:pt x="3" y="48"/>
                </a:moveTo>
                <a:cubicBezTo>
                  <a:pt x="1" y="48"/>
                  <a:pt x="0" y="47"/>
                  <a:pt x="0" y="4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8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297" name="" descr="{&quot;isTemplate&quot;:true,&quot;type&quot;:&quot;text&quot;}"/>
          <p:cNvSpPr txBox="1"/>
          <p:nvPr/>
        </p:nvSpPr>
        <p:spPr>
          <a:xfrm rot="0" flipH="0" flipV="0">
            <a:off x="885825" y="4886325"/>
            <a:ext cx="2695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FFFFF"/>
                </a:solidFill>
                <a:latin typeface="Microsoft YaHei"/>
                <a:ea typeface="Microsoft YaHei"/>
              </a:rPr>
              <a:t>两速分歧</a:t>
            </a:r>
            <a:endParaRPr/>
          </a:p>
        </p:txBody>
      </p:sp>
      <p:sp>
        <p:nvSpPr>
          <p:cNvPr id="1298" name="" descr="{&quot;isTemplate&quot;:true,&quot;type&quot;:&quot;text&quot;}"/>
          <p:cNvSpPr txBox="1"/>
          <p:nvPr/>
        </p:nvSpPr>
        <p:spPr>
          <a:xfrm rot="0" flipH="0" flipV="0">
            <a:off x="885825" y="5038725"/>
            <a:ext cx="269557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分析视图与运营视图给出不同答案。</a:t>
            </a:r>
            <a:endParaRPr/>
          </a:p>
        </p:txBody>
      </p:sp>
      <p:sp>
        <p:nvSpPr>
          <p:cNvPr id="1299" name=""/>
          <p:cNvSpPr/>
          <p:nvPr/>
        </p:nvSpPr>
        <p:spPr>
          <a:xfrm rot="0" flipH="0" flipV="0">
            <a:off x="3924300" y="2400300"/>
            <a:ext cx="4162425" cy="3267075"/>
          </a:xfrm>
          <a:prstGeom prst="roundRect">
            <a:avLst>
              <a:gd name="adj" fmla="val 1166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300" name="" descr="{&quot;isTemplate&quot;:true,&quot;type&quot;:&quot;text&quot;}"/>
          <p:cNvSpPr txBox="1"/>
          <p:nvPr/>
        </p:nvSpPr>
        <p:spPr>
          <a:xfrm rot="0" flipH="0" flipV="0">
            <a:off x="4076700" y="2514600"/>
            <a:ext cx="3857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十二项评审</a:t>
            </a:r>
            <a:endParaRPr/>
          </a:p>
        </p:txBody>
      </p:sp>
      <p:sp>
        <p:nvSpPr>
          <p:cNvPr id="1301" name=""/>
          <p:cNvSpPr/>
          <p:nvPr/>
        </p:nvSpPr>
        <p:spPr>
          <a:xfrm rot="0" flipH="0" flipV="0">
            <a:off x="4076700" y="2762250"/>
            <a:ext cx="1876425" cy="419100"/>
          </a:xfrm>
          <a:prstGeom prst="roundRect">
            <a:avLst>
              <a:gd name="adj" fmla="val 681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02" name="" descr="{&quot;isTemplate&quot;:true,&quot;type&quot;:&quot;text&quot;}"/>
          <p:cNvSpPr txBox="1"/>
          <p:nvPr/>
        </p:nvSpPr>
        <p:spPr>
          <a:xfrm rot="0" flipH="0" flipV="0">
            <a:off x="4162425" y="2819400"/>
            <a:ext cx="170497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1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.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主键策略有文档且被认可吗？</a:t>
            </a:r>
            <a:endParaRPr/>
          </a:p>
        </p:txBody>
      </p:sp>
      <p:sp>
        <p:nvSpPr>
          <p:cNvPr id="1303" name=""/>
          <p:cNvSpPr/>
          <p:nvPr/>
        </p:nvSpPr>
        <p:spPr>
          <a:xfrm rot="0" flipH="0" flipV="0">
            <a:off x="6010275" y="2762250"/>
            <a:ext cx="1876425" cy="419100"/>
          </a:xfrm>
          <a:prstGeom prst="roundRect">
            <a:avLst>
              <a:gd name="adj" fmla="val 681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04" name="" descr="{&quot;isTemplate&quot;:true,&quot;type&quot;:&quot;text&quot;}"/>
          <p:cNvSpPr txBox="1"/>
          <p:nvPr/>
        </p:nvSpPr>
        <p:spPr>
          <a:xfrm rot="0" flipH="0" flipV="0">
            <a:off x="6096000" y="2819400"/>
            <a:ext cx="170497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2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.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解析元数据三件套齐全吗？</a:t>
            </a:r>
            <a:endParaRPr/>
          </a:p>
        </p:txBody>
      </p:sp>
      <p:sp>
        <p:nvSpPr>
          <p:cNvPr id="1305" name=""/>
          <p:cNvSpPr/>
          <p:nvPr/>
        </p:nvSpPr>
        <p:spPr>
          <a:xfrm rot="0" flipH="0" flipV="0">
            <a:off x="4076700" y="3238500"/>
            <a:ext cx="1876425" cy="419100"/>
          </a:xfrm>
          <a:prstGeom prst="roundRect">
            <a:avLst>
              <a:gd name="adj" fmla="val 681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06" name="" descr="{&quot;isTemplate&quot;:true,&quot;type&quot;:&quot;text&quot;}"/>
          <p:cNvSpPr txBox="1"/>
          <p:nvPr/>
        </p:nvSpPr>
        <p:spPr>
          <a:xfrm rot="0" flipH="0" flipV="0">
            <a:off x="4162425" y="3295650"/>
            <a:ext cx="170497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3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.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合并能撤销吗，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SLA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是多少？</a:t>
            </a:r>
            <a:endParaRPr/>
          </a:p>
        </p:txBody>
      </p:sp>
      <p:sp>
        <p:nvSpPr>
          <p:cNvPr id="1307" name=""/>
          <p:cNvSpPr/>
          <p:nvPr/>
        </p:nvSpPr>
        <p:spPr>
          <a:xfrm rot="0" flipH="0" flipV="0">
            <a:off x="6010275" y="3238500"/>
            <a:ext cx="1876425" cy="419100"/>
          </a:xfrm>
          <a:prstGeom prst="roundRect">
            <a:avLst>
              <a:gd name="adj" fmla="val 681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08" name="" descr="{&quot;isTemplate&quot;:true,&quot;type&quot;:&quot;text&quot;}"/>
          <p:cNvSpPr txBox="1"/>
          <p:nvPr/>
        </p:nvSpPr>
        <p:spPr>
          <a:xfrm rot="0" flipH="0" flipV="0">
            <a:off x="6096000" y="3295650"/>
            <a:ext cx="170497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4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.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拆分有没有影响面评估？</a:t>
            </a:r>
            <a:endParaRPr/>
          </a:p>
        </p:txBody>
      </p:sp>
      <p:sp>
        <p:nvSpPr>
          <p:cNvPr id="1309" name=""/>
          <p:cNvSpPr/>
          <p:nvPr/>
        </p:nvSpPr>
        <p:spPr>
          <a:xfrm rot="0" flipH="0" flipV="0">
            <a:off x="4076700" y="3714750"/>
            <a:ext cx="1876425" cy="419100"/>
          </a:xfrm>
          <a:prstGeom prst="roundRect">
            <a:avLst>
              <a:gd name="adj" fmla="val 681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10" name="" descr="{&quot;isTemplate&quot;:true,&quot;type&quot;:&quot;text&quot;}"/>
          <p:cNvSpPr txBox="1"/>
          <p:nvPr/>
        </p:nvSpPr>
        <p:spPr>
          <a:xfrm rot="0" flipH="0" flipV="0">
            <a:off x="4162425" y="3771900"/>
            <a:ext cx="170497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5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.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仲裁规则版本化了吗？</a:t>
            </a:r>
            <a:endParaRPr/>
          </a:p>
        </p:txBody>
      </p:sp>
      <p:sp>
        <p:nvSpPr>
          <p:cNvPr id="1311" name=""/>
          <p:cNvSpPr/>
          <p:nvPr/>
        </p:nvSpPr>
        <p:spPr>
          <a:xfrm rot="0" flipH="0" flipV="0">
            <a:off x="6010275" y="3714750"/>
            <a:ext cx="1876425" cy="419100"/>
          </a:xfrm>
          <a:prstGeom prst="roundRect">
            <a:avLst>
              <a:gd name="adj" fmla="val 681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12" name="" descr="{&quot;isTemplate&quot;:true,&quot;type&quot;:&quot;text&quot;}"/>
          <p:cNvSpPr txBox="1"/>
          <p:nvPr/>
        </p:nvSpPr>
        <p:spPr>
          <a:xfrm rot="0" flipH="0" flipV="0">
            <a:off x="6096000" y="3771900"/>
            <a:ext cx="170497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6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.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被覆盖的旧值还留着吗？</a:t>
            </a:r>
            <a:endParaRPr/>
          </a:p>
        </p:txBody>
      </p:sp>
      <p:sp>
        <p:nvSpPr>
          <p:cNvPr id="1313" name=""/>
          <p:cNvSpPr/>
          <p:nvPr/>
        </p:nvSpPr>
        <p:spPr>
          <a:xfrm rot="0" flipH="0" flipV="0">
            <a:off x="4076700" y="4191000"/>
            <a:ext cx="1876425" cy="409575"/>
          </a:xfrm>
          <a:prstGeom prst="roundRect">
            <a:avLst>
              <a:gd name="adj" fmla="val 697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14" name="" descr="{&quot;isTemplate&quot;:true,&quot;type&quot;:&quot;text&quot;}"/>
          <p:cNvSpPr txBox="1"/>
          <p:nvPr/>
        </p:nvSpPr>
        <p:spPr>
          <a:xfrm rot="0" flipH="0" flipV="0">
            <a:off x="4162425" y="4248150"/>
            <a:ext cx="170497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7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.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原始层还在还是被删了？</a:t>
            </a:r>
            <a:endParaRPr/>
          </a:p>
        </p:txBody>
      </p:sp>
      <p:sp>
        <p:nvSpPr>
          <p:cNvPr id="1315" name=""/>
          <p:cNvSpPr/>
          <p:nvPr/>
        </p:nvSpPr>
        <p:spPr>
          <a:xfrm rot="0" flipH="0" flipV="0">
            <a:off x="6010275" y="4191000"/>
            <a:ext cx="1876425" cy="409575"/>
          </a:xfrm>
          <a:prstGeom prst="roundRect">
            <a:avLst>
              <a:gd name="adj" fmla="val 697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16" name="" descr="{&quot;isTemplate&quot;:true,&quot;type&quot;:&quot;text&quot;}"/>
          <p:cNvSpPr txBox="1"/>
          <p:nvPr/>
        </p:nvSpPr>
        <p:spPr>
          <a:xfrm rot="0" flipH="0" flipV="0">
            <a:off x="6096000" y="4248150"/>
            <a:ext cx="170497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8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.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重跑解析幂等吗？</a:t>
            </a:r>
            <a:endParaRPr/>
          </a:p>
        </p:txBody>
      </p:sp>
      <p:sp>
        <p:nvSpPr>
          <p:cNvPr id="1317" name=""/>
          <p:cNvSpPr/>
          <p:nvPr/>
        </p:nvSpPr>
        <p:spPr>
          <a:xfrm rot="0" flipH="0" flipV="0">
            <a:off x="4076700" y="4657725"/>
            <a:ext cx="1876425" cy="419100"/>
          </a:xfrm>
          <a:prstGeom prst="roundRect">
            <a:avLst>
              <a:gd name="adj" fmla="val 681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18" name="" descr="{&quot;isTemplate&quot;:true,&quot;type&quot;:&quot;text&quot;}"/>
          <p:cNvSpPr txBox="1"/>
          <p:nvPr/>
        </p:nvSpPr>
        <p:spPr>
          <a:xfrm rot="0" flipH="0" flipV="0">
            <a:off x="4162425" y="4714875"/>
            <a:ext cx="170497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9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.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重解析留批次号了吗？</a:t>
            </a:r>
            <a:endParaRPr/>
          </a:p>
        </p:txBody>
      </p:sp>
      <p:sp>
        <p:nvSpPr>
          <p:cNvPr id="1319" name=""/>
          <p:cNvSpPr/>
          <p:nvPr/>
        </p:nvSpPr>
        <p:spPr>
          <a:xfrm rot="0" flipH="0" flipV="0">
            <a:off x="6010275" y="4657725"/>
            <a:ext cx="1876425" cy="419100"/>
          </a:xfrm>
          <a:prstGeom prst="roundRect">
            <a:avLst>
              <a:gd name="adj" fmla="val 681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20" name="" descr="{&quot;isTemplate&quot;:true,&quot;type&quot;:&quot;text&quot;}"/>
          <p:cNvSpPr txBox="1"/>
          <p:nvPr/>
        </p:nvSpPr>
        <p:spPr>
          <a:xfrm rot="0" flipH="0" flipV="0">
            <a:off x="6096000" y="4714875"/>
            <a:ext cx="170497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10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.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断流有报警吗？</a:t>
            </a:r>
            <a:endParaRPr/>
          </a:p>
        </p:txBody>
      </p:sp>
      <p:sp>
        <p:nvSpPr>
          <p:cNvPr id="1321" name=""/>
          <p:cNvSpPr/>
          <p:nvPr/>
        </p:nvSpPr>
        <p:spPr>
          <a:xfrm rot="0" flipH="0" flipV="0">
            <a:off x="4076700" y="5133975"/>
            <a:ext cx="1876425" cy="419100"/>
          </a:xfrm>
          <a:prstGeom prst="roundRect">
            <a:avLst>
              <a:gd name="adj" fmla="val 681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22" name="" descr="{&quot;isTemplate&quot;:true,&quot;type&quot;:&quot;text&quot;}"/>
          <p:cNvSpPr txBox="1"/>
          <p:nvPr/>
        </p:nvSpPr>
        <p:spPr>
          <a:xfrm rot="0" flipH="0" flipV="0">
            <a:off x="4162425" y="5191125"/>
            <a:ext cx="170497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11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.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实体→切片反向索引建了吗？</a:t>
            </a:r>
            <a:endParaRPr/>
          </a:p>
        </p:txBody>
      </p:sp>
      <p:sp>
        <p:nvSpPr>
          <p:cNvPr id="1323" name=""/>
          <p:cNvSpPr/>
          <p:nvPr/>
        </p:nvSpPr>
        <p:spPr>
          <a:xfrm rot="0" flipH="0" flipV="0">
            <a:off x="6010275" y="5133975"/>
            <a:ext cx="1876425" cy="419100"/>
          </a:xfrm>
          <a:prstGeom prst="roundRect">
            <a:avLst>
              <a:gd name="adj" fmla="val 681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24" name="" descr="{&quot;isTemplate&quot;:true,&quot;type&quot;:&quot;text&quot;}"/>
          <p:cNvSpPr txBox="1"/>
          <p:nvPr/>
        </p:nvSpPr>
        <p:spPr>
          <a:xfrm rot="0" flipH="0" flipV="0">
            <a:off x="6096000" y="5191125"/>
            <a:ext cx="170497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12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.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有没有人在守例外队列？</a:t>
            </a:r>
            <a:endParaRPr/>
          </a:p>
        </p:txBody>
      </p:sp>
      <p:sp>
        <p:nvSpPr>
          <p:cNvPr id="1325" name=""/>
          <p:cNvSpPr/>
          <p:nvPr/>
        </p:nvSpPr>
        <p:spPr>
          <a:xfrm rot="0" flipH="0" flipV="0">
            <a:off x="8220075" y="2400300"/>
            <a:ext cx="3400425" cy="3267075"/>
          </a:xfrm>
          <a:prstGeom prst="roundRect">
            <a:avLst>
              <a:gd name="adj" fmla="val 1166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326" name=""/>
          <p:cNvSpPr/>
          <p:nvPr/>
        </p:nvSpPr>
        <p:spPr>
          <a:xfrm rot="0" flipH="0" flipV="0">
            <a:off x="8220075" y="2400300"/>
            <a:ext cx="3400425" cy="3267075"/>
          </a:xfrm>
          <a:custGeom>
            <a:pathLst>
              <a:path w="357" h="343">
                <a:moveTo>
                  <a:pt x="4" y="343"/>
                </a:moveTo>
                <a:cubicBezTo>
                  <a:pt x="2" y="343"/>
                  <a:pt x="0" y="341"/>
                  <a:pt x="0" y="33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34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27" name="" descr="{&quot;isTemplate&quot;:true,&quot;type&quot;:&quot;text&quot;}"/>
          <p:cNvSpPr txBox="1"/>
          <p:nvPr/>
        </p:nvSpPr>
        <p:spPr>
          <a:xfrm rot="0" flipH="0" flipV="0">
            <a:off x="8362950" y="2514600"/>
            <a:ext cx="3076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C43A17"/>
                </a:solidFill>
                <a:latin typeface="Microsoft YaHei"/>
                <a:ea typeface="Microsoft YaHei"/>
              </a:rPr>
              <a:t>结语：十册走完一条线</a:t>
            </a:r>
            <a:endParaRPr/>
          </a:p>
        </p:txBody>
      </p:sp>
      <p:sp>
        <p:nvSpPr>
          <p:cNvPr id="1328" name="" descr="{&quot;isTemplate&quot;:true,&quot;type&quot;:&quot;text&quot;}"/>
          <p:cNvSpPr txBox="1"/>
          <p:nvPr/>
        </p:nvSpPr>
        <p:spPr>
          <a:xfrm rot="0" flipH="0" flipV="0">
            <a:off x="8362950" y="2752725"/>
            <a:ext cx="30765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DA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先有治，才有存</a:t>
            </a:r>
            <a:endParaRPr/>
          </a:p>
        </p:txBody>
      </p:sp>
      <p:sp>
        <p:nvSpPr>
          <p:cNvPr id="1329" name="" descr="{&quot;isTemplate&quot;:true,&quot;type&quot;:&quot;text&quot;}"/>
          <p:cNvSpPr txBox="1"/>
          <p:nvPr/>
        </p:nvSpPr>
        <p:spPr>
          <a:xfrm rot="0" flipH="0" flipV="0">
            <a:off x="8362950" y="2971800"/>
            <a:ext cx="30765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BA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能力与组织解耦</a:t>
            </a:r>
            <a:endParaRPr/>
          </a:p>
        </p:txBody>
      </p:sp>
      <p:sp>
        <p:nvSpPr>
          <p:cNvPr id="1330" name="" descr="{&quot;isTemplate&quot;:true,&quot;type&quot;:&quot;text&quot;}"/>
          <p:cNvSpPr txBox="1"/>
          <p:nvPr/>
        </p:nvSpPr>
        <p:spPr>
          <a:xfrm rot="0" flipH="0" flipV="0">
            <a:off x="8362950" y="3190875"/>
            <a:ext cx="30765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AA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应用多了带来技术债</a:t>
            </a:r>
            <a:endParaRPr/>
          </a:p>
        </p:txBody>
      </p:sp>
      <p:sp>
        <p:nvSpPr>
          <p:cNvPr id="1331" name="" descr="{&quot;isTemplate&quot;:true,&quot;type&quot;:&quot;text&quot;}"/>
          <p:cNvSpPr txBox="1"/>
          <p:nvPr/>
        </p:nvSpPr>
        <p:spPr>
          <a:xfrm rot="0" flipH="0" flipV="0">
            <a:off x="8362950" y="3409950"/>
            <a:ext cx="30765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TA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不押注单点技术</a:t>
            </a:r>
            <a:endParaRPr/>
          </a:p>
        </p:txBody>
      </p:sp>
      <p:sp>
        <p:nvSpPr>
          <p:cNvPr id="1332" name="" descr="{&quot;isTemplate&quot;:true,&quot;type&quot;:&quot;text&quot;}"/>
          <p:cNvSpPr txBox="1"/>
          <p:nvPr/>
        </p:nvSpPr>
        <p:spPr>
          <a:xfrm rot="0" flipH="0" flipV="0">
            <a:off x="8362950" y="3629025"/>
            <a:ext cx="30765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ONT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语义与动力学合一</a:t>
            </a:r>
            <a:endParaRPr/>
          </a:p>
        </p:txBody>
      </p:sp>
      <p:sp>
        <p:nvSpPr>
          <p:cNvPr id="1333" name="" descr="{&quot;isTemplate&quot;:true,&quot;type&quot;:&quot;text&quot;}"/>
          <p:cNvSpPr txBox="1"/>
          <p:nvPr/>
        </p:nvSpPr>
        <p:spPr>
          <a:xfrm rot="0" flipH="0" flipV="0">
            <a:off x="8362950" y="3848100"/>
            <a:ext cx="30765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AGT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明确谁来判断、何时停手</a:t>
            </a:r>
            <a:endParaRPr/>
          </a:p>
        </p:txBody>
      </p:sp>
      <p:sp>
        <p:nvSpPr>
          <p:cNvPr id="1334" name="" descr="{&quot;isTemplate&quot;:true,&quot;type&quot;:&quot;text&quot;}"/>
          <p:cNvSpPr txBox="1"/>
          <p:nvPr/>
        </p:nvSpPr>
        <p:spPr>
          <a:xfrm rot="0" flipH="0" flipV="0">
            <a:off x="8362950" y="4067175"/>
            <a:ext cx="30765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KB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知识要被治理，不只是存</a:t>
            </a:r>
            <a:endParaRPr/>
          </a:p>
        </p:txBody>
      </p:sp>
      <p:sp>
        <p:nvSpPr>
          <p:cNvPr id="1335" name="" descr="{&quot;isTemplate&quot;:true,&quot;type&quot;:&quot;text&quot;}"/>
          <p:cNvSpPr txBox="1"/>
          <p:nvPr/>
        </p:nvSpPr>
        <p:spPr>
          <a:xfrm rot="0" flipH="0" flipV="0">
            <a:off x="8362950" y="4286250"/>
            <a:ext cx="30765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PIPE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进出本体要可管可追可退</a:t>
            </a:r>
            <a:endParaRPr/>
          </a:p>
        </p:txBody>
      </p:sp>
      <p:sp>
        <p:nvSpPr>
          <p:cNvPr id="1336" name="" descr="{&quot;isTemplate&quot;:true,&quot;type&quot;:&quot;text&quot;}"/>
          <p:cNvSpPr txBox="1"/>
          <p:nvPr/>
        </p:nvSpPr>
        <p:spPr>
          <a:xfrm rot="0" flipH="0" flipV="0">
            <a:off x="8362950" y="4505325"/>
            <a:ext cx="30765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GOV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管的是动作，不是文件</a:t>
            </a:r>
            <a:endParaRPr/>
          </a:p>
        </p:txBody>
      </p:sp>
      <p:sp>
        <p:nvSpPr>
          <p:cNvPr id="1337" name="" descr="{&quot;isTemplate&quot;:true,&quot;type&quot;:&quot;text&quot;}"/>
          <p:cNvSpPr txBox="1"/>
          <p:nvPr/>
        </p:nvSpPr>
        <p:spPr>
          <a:xfrm rot="0" flipH="0" flipV="0">
            <a:off x="8362950" y="4724400"/>
            <a:ext cx="30765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MDM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实体身份是全部智能的前置</a:t>
            </a:r>
            <a:endParaRPr/>
          </a:p>
        </p:txBody>
      </p:sp>
      <p:sp>
        <p:nvSpPr>
          <p:cNvPr id="1338" name=""/>
          <p:cNvSpPr/>
          <p:nvPr/>
        </p:nvSpPr>
        <p:spPr>
          <a:xfrm rot="0" flipH="0" flipV="0">
            <a:off x="8362950" y="4981575"/>
            <a:ext cx="3076575" cy="571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39" name="" descr="{&quot;isTemplate&quot;:true,&quot;type&quot;:&quot;text&quot;}"/>
          <p:cNvSpPr txBox="1"/>
          <p:nvPr/>
        </p:nvSpPr>
        <p:spPr>
          <a:xfrm rot="0" flipH="0" flipV="0">
            <a:off x="8467725" y="5067300"/>
            <a:ext cx="2867025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实体层做错了，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在批量放大错误；做对了，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在复利放大价值。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从今天起，先定主键。</a:t>
            </a:r>
            <a:endParaRPr/>
          </a:p>
        </p:txBody>
      </p:sp>
      <p:sp>
        <p:nvSpPr>
          <p:cNvPr id="1340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341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42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2190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主数据咨询方法论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第十册完</a:t>
            </a:r>
            <a:endParaRPr/>
          </a:p>
        </p:txBody>
      </p:sp>
      <p:sp>
        <p:nvSpPr>
          <p:cNvPr id="1343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30 / 30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2026-10-12T09:52:28Z</dcterms:created>
  <dcterms:modified xsi:type="dcterms:W3CDTF">2026-10-12T09:52:28Z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{"AIGC":{"Label":"1","ContentProducer":"00119111010856365494821B355","ProduceID":"01a12daae0dd72348b17e3413c54e038","ReservedCode1":"","ContentPropagator":"00119111010856365494821B355","PropagateID":"01a12daae0dd72348b17e3413c54e038","ReservedCode2":""}}</vt:lpwstr>
  </property>
</Properties>
</file>