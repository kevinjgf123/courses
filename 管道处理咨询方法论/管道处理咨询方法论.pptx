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tableStyles" Target="tableStyles.xml"/><Relationship Id="rId3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各位好，这是 EA 企业架构咨询方法论系列的第八册。前七册我们分别谈完了 DA、BA、AA、TA 四层架构底座，然后加了本体、智能体、知识库三个新实践点。</a:t>
            </a:r>
          </a:p>
          <a:p>
            <a:endParaRPr lang="zh-CN"/>
          </a:p>
          <a:p>
            <a:r>
              <a:rPr lang="zh-CN" sz="1200" dirty="0"/>
              <a:t>今天要补的第八块，是管道处理。有人一听这个名字会觉得是老话题，ETL 嘛，报个表抽个数，有什么好谈的。我想说的是，接下来半小时我们要把它当成一个业务应用来看——它有业务责任人，有业务产出物，有生命周期，也有服务对象。</a:t>
            </a:r>
          </a:p>
          <a:p>
            <a:endParaRPr lang="zh-CN"/>
          </a:p>
          <a:p>
            <a:r>
              <a:rPr lang="zh-CN" sz="1200" dirty="0"/>
              <a:t>这一册的核心主张就一句话：数据进出本体，必须可管、可追、可退。做不到这三条，本体就只是一张漂亮的关系图。</a:t>
            </a:r>
          </a:p>
          <a:p>
            <a:endParaRPr lang="zh-CN"/>
          </a:p>
          <a:p>
            <a:r>
              <a:rPr lang="zh-CN" sz="1200" dirty="0"/>
              <a:t>我们沿用这一系列的老规矩：三十页，四个部分，前面有一页 Approach，讲清楚先做什么后做什么、每一步产出什么。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先说结构。这册分四部分。</a:t>
            </a:r>
          </a:p>
          <a:p>
            <a:endParaRPr lang="zh-CN"/>
          </a:p>
          <a:p>
            <a:r>
              <a:rPr lang="zh-CN" sz="1200" dirty="0"/>
              <a:t>序论和方法在第三、第四页。第三页讲为什么四层架构讲完了还要谈管道，第四页是 Approach 八阶段。</a:t>
            </a:r>
          </a:p>
          <a:p>
            <a:endParaRPr lang="zh-CN"/>
          </a:p>
          <a:p>
            <a:r>
              <a:rPr lang="zh-CN" sz="1200" dirty="0"/>
              <a:t>第一部分，管道处理本身。管道到底是什么、Palantir 的整套管道体系怎么摆的、数据连接这层怎么管版本、自动化生成管道的边界在哪，以及快照和增量这个必须早做的选择。</a:t>
            </a:r>
          </a:p>
          <a:p>
            <a:endParaRPr lang="zh-CN"/>
          </a:p>
          <a:p>
            <a:r>
              <a:rPr lang="zh-CN" sz="1200" dirty="0"/>
              <a:t>第二部分只讲一个方向：往里进。数据源怎么进本体，一共六道关口，以及版本血缘和分支发布。</a:t>
            </a:r>
          </a:p>
          <a:p>
            <a:endParaRPr lang="zh-CN"/>
          </a:p>
          <a:p>
            <a:r>
              <a:rPr lang="zh-CN" sz="1200" dirty="0"/>
              <a:t>第三部分讲另一个方向：往外出。本体里的东西怎么被调出去，顺便把管道和知识库、和智能体的关系一次讲清。</a:t>
            </a:r>
          </a:p>
          <a:p>
            <a:endParaRPr lang="zh-CN"/>
          </a:p>
          <a:p>
            <a:r>
              <a:rPr lang="zh-CN" sz="1200" dirty="0"/>
              <a:t>第四部分回到 4A，把管道当成一个应用放进四层架构里看，然后讲门、讲失效、讲上线评审和演进路径。</a:t>
            </a:r>
          </a:p>
          <a:p>
            <a:endParaRPr lang="zh-CN"/>
          </a:p>
          <a:p>
            <a:r>
              <a:rPr lang="zh-CN" sz="1200" dirty="0"/>
              <a:t>右边这张图请重点看：八册不是八本独立的册子，是一条链路上的八段。管道是这条链上唯一贯穿始终的构件。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这一页讲为什么有了四层架构还要补管道。</a:t>
            </a:r>
          </a:p>
          <a:p>
            <a:endParaRPr lang="zh-CN"/>
          </a:p>
          <a:p>
            <a:r>
              <a:rPr lang="zh-CN" sz="1200" dirty="0"/>
              <a:t>四层架构本质上都是静态设计。DA 画的表结构，AA 画的模块图，都是某一个时刻的快照。三个月之后，它们和真实系统之间已经有偏差，而这个偏差没有人为它负责。</a:t>
            </a:r>
          </a:p>
          <a:p>
            <a:endParaRPr lang="zh-CN"/>
          </a:p>
          <a:p>
            <a:r>
              <a:rPr lang="zh-CN" sz="1200" dirty="0"/>
              <a:t>第二件事，责任无处安放。口径错了、数据晚到了、重复处理了，这些问题既不属于数据架构，也不属于应用架构，最后就落在 nobody 头上。</a:t>
            </a:r>
          </a:p>
          <a:p>
            <a:endParaRPr lang="zh-CN"/>
          </a:p>
          <a:p>
            <a:r>
              <a:rPr lang="zh-CN" sz="1200" dirty="0"/>
              <a:t>第三件事，可退的能力是缺失的。出了错只能改代码补救，改完之后谁也不知道影响了哪些下游。血缘断了，等于没有架构。</a:t>
            </a:r>
          </a:p>
          <a:p>
            <a:endParaRPr lang="zh-CN"/>
          </a:p>
          <a:p>
            <a:r>
              <a:rPr lang="zh-CN" sz="1200" dirty="0"/>
              <a:t>所以管道要补三块责任。第一块是时序责任：什么时候进来、多久一次、延迟多少、断了怎么补。第二块是版本责任：哪一版数据、由哪次同步产生、从哪个分支发布、怎么回滚。第三块是边界责任：哪些字段能进本体、哪些能出本体、哪些只允许读不允许写。</a:t>
            </a:r>
          </a:p>
          <a:p>
            <a:endParaRPr lang="zh-CN"/>
          </a:p>
          <a:p>
            <a:r>
              <a:rPr lang="zh-CN" sz="1200" dirty="0"/>
              <a:t>右下这句话我想留久一点：管道之所以算一个业务应用，是因为它三样齐全——有业务责任人，有业务产出物，有生命周期和被审计的记录。少一样就还是运维脚本。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这一页是老外讲的 Approach，我们的中文叫「之路径」。八个阶段，每个阶段都写清楚性质、做什么、产出什么。</a:t>
            </a:r>
          </a:p>
          <a:p>
            <a:endParaRPr lang="zh-CN"/>
          </a:p>
          <a:p>
            <a:r>
              <a:rPr lang="zh-CN" sz="1200" dirty="0"/>
              <a:t>性质这一列我分了三类：治理、设计、工程。前两个阶段是治理，定源清单、定口径、定边界。第三、第四阶段是设计，连接方式和加工逻辑。第五阶段又是治理，定版本策略和血缘。第六、第七是工程，分支发布和健康可观测。第八是运营，做演进和退役。</a:t>
            </a:r>
          </a:p>
          <a:p>
            <a:endParaRPr lang="zh-CN"/>
          </a:p>
          <a:p>
            <a:r>
              <a:rPr lang="zh-CN" sz="1200" dirty="0"/>
              <a:t>请注意治理和设计是交替出现的，不是先治完再设计。这样排是因为口径会在设计中暴露歧义，设计也会反过来逼出口径。</a:t>
            </a:r>
          </a:p>
          <a:p>
            <a:endParaRPr lang="zh-CN"/>
          </a:p>
          <a:p>
            <a:r>
              <a:rPr lang="zh-CN" sz="1200" dirty="0"/>
              <a:t>下面三条硬规则，是这一页真正想留下的。</a:t>
            </a:r>
          </a:p>
          <a:p>
            <a:endParaRPr lang="zh-CN"/>
          </a:p>
          <a:p>
            <a:r>
              <a:rPr lang="zh-CN" sz="1200" dirty="0"/>
              <a:t>第一条，先批后增再流。绝大多数团队是想直接上实时，结果数据量一大就跑不动了。</a:t>
            </a:r>
          </a:p>
          <a:p>
            <a:endParaRPr lang="zh-CN"/>
          </a:p>
          <a:p>
            <a:r>
              <a:rPr lang="zh-CN" sz="1200" dirty="0"/>
              <a:t>第二条，先只读取数，跑稳了再谈写回。写回本体的动作必须由逻辑层执行，这是不能省的。</a:t>
            </a:r>
          </a:p>
          <a:p>
            <a:endParaRPr lang="zh-CN"/>
          </a:p>
          <a:p>
            <a:r>
              <a:rPr lang="zh-CN" sz="1200" dirty="0"/>
              <a:t>第三条，先有血缘和健康检查，再上生产。没有这两样东西，出事你连影响面都算不出来。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第一部分，我们把管道本身这件事讲清楚。</a:t>
            </a:r>
          </a:p>
          <a:p>
            <a:endParaRPr lang="zh-CN"/>
          </a:p>
          <a:p>
            <a:r>
              <a:rPr lang="zh-CN" sz="1200" dirty="0"/>
              <a:t>这一部分的五页，分别是：管道到底是什么、Palantir 的整套管道体系怎么摆、数据连接这层在管什么、自动化生成管道的真实边界在哪，以及快照和增量这个选择。</a:t>
            </a:r>
          </a:p>
          <a:p>
            <a:endParaRPr lang="zh-CN"/>
          </a:p>
          <a:p>
            <a:r>
              <a:rPr lang="zh-CN" sz="1200" dirty="0"/>
              <a:t>在开始之前先给一个判断标准：如果你听完这一部分，能在客户面前说清楚「管道和 ETL 到底差在哪」，这一部分就没白讲。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管道到底是什么？我给的定义是：它不是一条单向的 ETL 作业，而是进向管道加出向管道，中间加一层版本与血缘。</a:t>
            </a:r>
          </a:p>
          <a:p>
            <a:endParaRPr lang="zh-CN"/>
          </a:p>
          <a:p>
            <a:r>
              <a:rPr lang="zh-CN" sz="1200" dirty="0"/>
              <a:t>很多客户理解管道，只画了左边这段——从源到仓，从仓到表。右边这段几乎没人管：本体里的数据被谁调出去、带走了什么权限、出了问题的责任在谁。</a:t>
            </a:r>
          </a:p>
          <a:p>
            <a:endParaRPr lang="zh-CN"/>
          </a:p>
          <a:p>
            <a:r>
              <a:rPr lang="zh-CN" sz="1200" dirty="0"/>
              <a:t>中间那层版本，是这册反复强调的东西。传统 ETL 的基本单位是表，而且这张表是不断被覆盖的。管道的基本单位是版本，一版一版往后排，每一版都能说清是哪次同步产生的。</a:t>
            </a:r>
          </a:p>
          <a:p>
            <a:endParaRPr lang="zh-CN"/>
          </a:p>
          <a:p>
            <a:r>
              <a:rPr lang="zh-CN" sz="1200" dirty="0"/>
              <a:t>下面四个对比，是想说清楚为什么不能沿用旧词。传统 ETL 先清洗后入仓，目标就是搬，搬完就结束，不关心搬的是第几版。ELT 先入仓后建模，把建模权交给仓内，灵活，但代价是临时表谁来管说不清。</a:t>
            </a:r>
          </a:p>
          <a:p>
            <a:endParaRPr lang="zh-CN"/>
          </a:p>
          <a:p>
            <a:r>
              <a:rPr lang="zh-CN" sz="1200" dirty="0"/>
              <a:t>管道处理以版本为管理单位，所以天生带血缘；而且它不只管进来，还管出去。</a:t>
            </a:r>
          </a:p>
          <a:p>
            <a:endParaRPr lang="zh-CN"/>
          </a:p>
          <a:p>
            <a:r>
              <a:rPr lang="zh-CN" sz="1200" dirty="0"/>
              <a:t>下面这四条特殊之处，是我们后面所有内容的根：因为单位是版本，所以要回答批的问题；因为下游是智能体和本体，安全边界要重新划；因为它自己必须可观测，不然没人敢让它上生产。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 Palantir 的管道体系全景。做咨询时先认清楚这几个部件的名字和位置，因为客户画的架构图上往往只画了一两个，还都叫「数据同步」。</a:t>
            </a:r>
          </a:p>
          <a:p>
            <a:endParaRPr lang="zh-CN"/>
          </a:p>
          <a:p>
            <a:r>
              <a:rPr lang="zh-CN" sz="1200" dirty="0"/>
              <a:t>上面这五个是进向：连接器负责批量、流、CDC 和虚拟表；源探索是引导式发现，先看清源里有什么，可以像逛超市一样把一批表放进同步清单；自动生成管道就是后面第九页要讲的；管道构建器可以图形化也可以写代码；最后一步是把数据集映射成对象类型和链接类型，这是数据真正进入本体的时刻。</a:t>
            </a:r>
          </a:p>
          <a:p>
            <a:endParaRPr lang="zh-CN"/>
          </a:p>
          <a:p>
            <a:r>
              <a:rPr lang="zh-CN" sz="1200" dirty="0"/>
              <a:t>下面官方给的标准开发流程是五步：先建好项目结构，从一开始就把数据安全和治理组织好；然后写批处理管道做清洗过滤和关联，产出高质量数据集；再映射成对象类型和链接类型；然后设调度让它定期流动；最后补增强项——单元测试、分支发布、健康检查。</a:t>
            </a:r>
          </a:p>
          <a:p>
            <a:endParaRPr lang="zh-CN"/>
          </a:p>
          <a:p>
            <a:r>
              <a:rPr lang="zh-CN" sz="1200" dirty="0"/>
              <a:t>出向有三个出口：数据、逻辑、动作，下面还会有一页专门讲。旁边两个是运维面：数据健康和数据血缘。</a:t>
            </a:r>
          </a:p>
          <a:p>
            <a:endParaRPr lang="zh-CN"/>
          </a:p>
          <a:p>
            <a:r>
              <a:rPr lang="zh-CN" sz="1200" dirty="0"/>
              <a:t>右下这块要特别提醒：官方明确要求所有数据保持原始格式，通过标准接口访问，用虚拟表框架直接对接已有数据资产，不要重复复制。这句话在很多客户那里是反着做的，先全部搬到自己家里再说。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这一页只讲数据连接这一层，但它是整套管道可追溯性的根。</a:t>
            </a:r>
          </a:p>
          <a:p>
            <a:endParaRPr lang="zh-CN"/>
          </a:p>
          <a:p>
            <a:r>
              <a:rPr lang="zh-CN" sz="1200" dirty="0"/>
              <a:t>官方定义的原话大意是：这一框架用于随时间管理数据，方式是使用数据集事务来管理离散版本，并由此提供跨时间的完整数据版本血缘。</a:t>
            </a:r>
          </a:p>
          <a:p>
            <a:endParaRPr lang="zh-CN"/>
          </a:p>
          <a:p>
            <a:r>
              <a:rPr lang="zh-CN" sz="1200" dirty="0"/>
              <a:t>关键不是「连上了」，而是「以事务为单位」。右边这六件事，每一件都要落到设计里。</a:t>
            </a:r>
          </a:p>
          <a:p>
            <a:endParaRPr lang="zh-CN"/>
          </a:p>
          <a:p>
            <a:r>
              <a:rPr lang="zh-CN" sz="1200" dirty="0"/>
              <a:t>第一件，事务即版本。每一次同步是一个事务，数据集是这一串事务的结果，不是一张不断被覆盖的表。</a:t>
            </a:r>
          </a:p>
          <a:p>
            <a:endParaRPr lang="zh-CN"/>
          </a:p>
          <a:p>
            <a:r>
              <a:rPr lang="zh-CN" sz="1200" dirty="0"/>
              <a:t>第二件，全时间血缘。能回答某天某刻的某个数值，来自哪次同步、哪个源、哪个版本。</a:t>
            </a:r>
          </a:p>
          <a:p>
            <a:endParaRPr lang="zh-CN"/>
          </a:p>
          <a:p>
            <a:r>
              <a:rPr lang="zh-CN" sz="1200" dirty="0"/>
              <a:t>第三件，增量优先。只同步需要的数据，全量是例外不是常态。</a:t>
            </a:r>
          </a:p>
          <a:p>
            <a:endParaRPr lang="zh-CN"/>
          </a:p>
          <a:p>
            <a:r>
              <a:rPr lang="zh-CN" sz="1200" dirty="0"/>
              <a:t>第四件，细粒度安全。同步集合甚至单个同步，都可以按角色或分类级做访问控制。这一条经常被漏掉。</a:t>
            </a:r>
          </a:p>
          <a:p>
            <a:endParaRPr lang="zh-CN"/>
          </a:p>
          <a:p>
            <a:r>
              <a:rPr lang="zh-CN" sz="1200" dirty="0"/>
              <a:t>第五件，元数据分离。同步的元数据和同步定义分开管，配置才有版本可谈。</a:t>
            </a:r>
          </a:p>
          <a:p>
            <a:endParaRPr lang="zh-CN"/>
          </a:p>
          <a:p>
            <a:r>
              <a:rPr lang="zh-CN" sz="1200" dirty="0"/>
              <a:t>第六件，分支可测。支持完整分支，新配置先在沙箱分支里跑。</a:t>
            </a:r>
          </a:p>
          <a:p>
            <a:endParaRPr lang="zh-CN"/>
          </a:p>
          <a:p>
            <a:r>
              <a:rPr lang="zh-CN" sz="1200" dirty="0"/>
              <a:t>右下角是咨询里最实用的诊断动作：随便挑一张核心表，问一句「昨天上午十点这个字段是什么值」，答不上来，就是没做事务化。这句话在客户面前非常好用。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这一页讲自动生成管道。先说一句：自动生成不是为了省事，是为了让从源到本体这一整段有一份可以被评审的代码。</a:t>
            </a:r>
          </a:p>
          <a:p>
            <a:endParaRPr lang="zh-CN"/>
          </a:p>
          <a:p>
            <a:r>
              <a:rPr lang="zh-CN" sz="1200" dirty="0"/>
              <a:t>上面三个组件：连接器负责双向安全传输；源探索是引导式发现加批量创建同步；自动生成管道负责把原始数据变成精选数据集和本体里的对象类型。</a:t>
            </a:r>
          </a:p>
          <a:p>
            <a:endParaRPr lang="zh-CN"/>
          </a:p>
          <a:p>
            <a:r>
              <a:rPr lang="zh-CN" sz="1200" dirty="0"/>
              <a:t>中间四步是自动生成管道的核心。请记住这四步的顺序，因为咨询时你要能说出客户的数据经过了哪几步：第一步源特定预处理，把源的结构固定成统一模式；第二步套标准清洗库，把口径差异在入口抹平；第三步核心生成，做富化、改名、去重、合并；第四步派生元素，做关联表、时序数据集这些高级加工。</a:t>
            </a:r>
          </a:p>
          <a:p>
            <a:endParaRPr lang="zh-CN"/>
          </a:p>
          <a:p>
            <a:r>
              <a:rPr lang="zh-CN" sz="1200" dirty="0"/>
              <a:t>下面两条是我认为最值得盯住的。第一条，产出是人类可读的代码，不是黑盒配置。生成结果像 Spark 这样的代码，可以评审、修改、测试、做版本控制，能签进 git。这一步的意义是，管道第一次变成了可审计的资产，而不是藏在某个调度平台里的作业配置。</a:t>
            </a:r>
          </a:p>
          <a:p>
            <a:endParaRPr lang="zh-CN"/>
          </a:p>
          <a:p>
            <a:r>
              <a:rPr lang="zh-CN" sz="1200" dirty="0"/>
              <a:t>第二条，它可以从源自动生成本体。它基于源系统元数据推导同步方案、转换逻辑甚至本体设计，甚至能反规范化 ERP 那种密集命名空间，把技术字段重构成业务对象。</a:t>
            </a:r>
          </a:p>
          <a:p>
            <a:endParaRPr lang="zh-CN"/>
          </a:p>
          <a:p>
            <a:r>
              <a:rPr lang="zh-CN" sz="1200" dirty="0"/>
              <a:t>右下角一个现实提醒：自动生成第一代已经退役，第二代已发布，企业侧在强推第二代。所以看客户架构图上写的是哪一代，得问清楚。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这一页是本册技术含量最高的一页，也是最需要早做决定的一页：快照还是增量。</a:t>
            </a:r>
          </a:p>
          <a:p>
            <a:endParaRPr lang="zh-CN"/>
          </a:p>
          <a:p>
            <a:r>
              <a:rPr lang="zh-CN" sz="1200" dirty="0"/>
              <a:t>官方原话是：只有当输入数据集通过追加事务，或者通过不修改既有文件的更新事务变更时，增量才会生效。把快照输入标成增量，不会报错，也不会有任何效果。</a:t>
            </a:r>
          </a:p>
          <a:p>
            <a:endParaRPr lang="zh-CN"/>
          </a:p>
          <a:p>
            <a:r>
              <a:rPr lang="zh-CN" sz="1200" dirty="0"/>
              <a:t>这是最危险的一种失败——不报警、不中断，只是默默按全量跑，等数据涨上去才发现延迟已经到了天。应对办法是打开「要求增量执行」的开关，一旦不是增量就让作业直接失败。</a:t>
            </a:r>
          </a:p>
          <a:p>
            <a:endParaRPr lang="zh-CN"/>
          </a:p>
          <a:p>
            <a:r>
              <a:rPr lang="zh-CN" sz="1200" dirty="0"/>
              <a:t>中间这五条是增量模式的硬限制。关联的时候，增量数据集必须放在左边，两个增量数据集互相关联目前不支持；合并要求所有输入同一种计算模式；窗口函数、聚合、透视只能作用于当前事务，看不到之前的输出，所以跨事务的窗口根本没有意义；重放只支持全量输入。</a:t>
            </a:r>
          </a:p>
          <a:p>
            <a:endParaRPr lang="zh-CN"/>
          </a:p>
          <a:p>
            <a:r>
              <a:rPr lang="zh-CN" sz="1200" dirty="0"/>
              <a:t>右下是这个选择的三步路径。先做批量，把口径和映射做对；等单次全量跑不动了，或者时效承诺满足了，再上增量；只有业务真的要求分钟级以内，才考虑流式。</a:t>
            </a:r>
          </a:p>
          <a:p>
            <a:endParaRPr lang="zh-CN"/>
          </a:p>
          <a:p>
            <a:r>
              <a:rPr lang="zh-CN" sz="1200" dirty="0"/>
              <a:t>还要记住流式的物理约束：流式管道只会和它最慢的组件一样快。所以目标延迟和吞吐必须在设计之初就确认，不是上线后再调优。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第二部分只讲一个方向：往里进。</a:t>
            </a:r>
          </a:p>
          <a:p>
            <a:endParaRPr lang="zh-CN"/>
          </a:p>
          <a:p>
            <a:r>
              <a:rPr lang="zh-CN" sz="1200" dirty="0"/>
              <a:t>这一部分三页。第一页是数据源到本体的六道关口，这是全册最实用的一页，既能当体检工具用，也能当路线图用；后面两页分别讲版本血缘和分支与发布。</a:t>
            </a:r>
          </a:p>
          <a:p>
            <a:endParaRPr lang="zh-CN"/>
          </a:p>
          <a:p>
            <a:r>
              <a:rPr lang="zh-CN" sz="1200" dirty="0"/>
              <a:t>往里进这件事，客户通常有两个极端做法。一种是完全不管，什么都直接连上去了，反正能查到数就行；另一种是什么都要先设计清楚，设计三个月一行数据没进来。前一种后面返工，后一种永远上不了线。</a:t>
            </a:r>
          </a:p>
          <a:p>
            <a:endParaRPr lang="zh-CN"/>
          </a:p>
          <a:p>
            <a:r>
              <a:rPr lang="zh-CN" sz="1200" dirty="0"/>
              <a:t>这一部分想给的是一个中间位置的判断方法：哪几件事不做好绝对不能往下走，哪几件事可以边跑边补。六道关口就是按这个原则排的。</a:t>
            </a:r>
          </a:p>
          <a:p>
            <a:endParaRPr lang="zh-CN"/>
          </a:p>
          <a:p>
            <a:r>
              <a:rPr lang="zh-CN" sz="1200" dirty="0"/>
              <a:t>另外提一句，这一部分的顺序也是诊断顺序。如果客户说「我们数据经常对不上」，先查关一和关二的产出物有没有，再查关五的映射表覆盖率，最后才去看技术实现。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往里进的六道关口，我给每道关都配了一个要问的问题和一份要留下的产出物。</a:t>
            </a:r>
          </a:p>
          <a:p>
            <a:endParaRPr lang="zh-CN"/>
          </a:p>
          <a:p>
            <a:r>
              <a:rPr lang="zh-CN" sz="1200" dirty="0"/>
              <a:t>关一，来源合法。问这个源系统谁批准接的，含不含敏感字段。产出物是源清单和敏感分级。</a:t>
            </a:r>
          </a:p>
          <a:p>
            <a:endParaRPr lang="zh-CN"/>
          </a:p>
          <a:p>
            <a:r>
              <a:rPr lang="zh-CN" sz="1200" dirty="0"/>
              <a:t>关二，口径统一。问同一个指标在三个系统里三个算法，进本体前按哪个算。这一关最容易被跳过。</a:t>
            </a:r>
          </a:p>
          <a:p>
            <a:endParaRPr lang="zh-CN"/>
          </a:p>
          <a:p>
            <a:r>
              <a:rPr lang="zh-CN" sz="1200" dirty="0"/>
              <a:t>关三，结构固定。问源结构变了怎么办，谁先发现。这就是模式漂移监控。</a:t>
            </a:r>
          </a:p>
          <a:p>
            <a:endParaRPr lang="zh-CN"/>
          </a:p>
          <a:p>
            <a:r>
              <a:rPr lang="zh-CN" sz="1200" dirty="0"/>
              <a:t>关四，数据可重放。问能不能从某个事务重跑一遍，结果完全一致。这一关决定了后面能不能出增量。</a:t>
            </a:r>
          </a:p>
          <a:p>
            <a:endParaRPr lang="zh-CN"/>
          </a:p>
          <a:p>
            <a:r>
              <a:rPr lang="zh-CN" sz="1200" dirty="0"/>
              <a:t>关五，映射成对象。问这张表变成几个对象类型，对象之间的链接从哪来。</a:t>
            </a:r>
          </a:p>
          <a:p>
            <a:endParaRPr lang="zh-CN"/>
          </a:p>
          <a:p>
            <a:r>
              <a:rPr lang="zh-CN" sz="1200" dirty="0"/>
              <a:t>关六，质量有闸。问五类健康检查谁在看，告警发给谁，停了谁来拍板。</a:t>
            </a:r>
          </a:p>
          <a:p>
            <a:endParaRPr lang="zh-CN"/>
          </a:p>
          <a:p>
            <a:r>
              <a:rPr lang="zh-CN" sz="1200" dirty="0"/>
              <a:t>下面这一条要特别说：六道关的性质只有三种——治理要业务参与，工程靠平台默认，运营靠值班和预案。三种节奏不一样，硬要一起推，结果就是治理被工程拖住、工程被治理卡死。</a:t>
            </a:r>
          </a:p>
          <a:p>
            <a:endParaRPr lang="zh-CN"/>
          </a:p>
          <a:p>
            <a:r>
              <a:rPr lang="zh-CN" sz="1200" dirty="0"/>
              <a:t>最下面这段是经验之谈：客户最愿意花钱的是接入和监控，最不愿意做的是定口径和画映射。结果数据全进来了，本体里的对象类型却对不上业务，最后所有人绕过本体直接查表。这是最贵的一种返工。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这一页讲版本血缘。这是整册最实操的一页。</a:t>
            </a:r>
          </a:p>
          <a:p>
            <a:endParaRPr lang="zh-CN"/>
          </a:p>
          <a:p>
            <a:r>
              <a:rPr lang="zh-CN" sz="1200" dirty="0"/>
              <a:t>左边这条时间轴：一个数据集有 v1、v2、v3，每一段事务就是一版。v3 是当前版本，v1 还留着，随时可以退回去。这一点很关键——「可退」不是靠备份文件实现的，是靠保留历史版本实现的。</a:t>
            </a:r>
          </a:p>
          <a:p>
            <a:endParaRPr lang="zh-CN"/>
          </a:p>
          <a:p>
            <a:r>
              <a:rPr lang="zh-CN" sz="1200" dirty="0"/>
              <a:t>血缘要能双向回答。正向是：这一版是哪次同步产生的，这是审计要求。反向是：这一版被替换掉之后有多少下游对象受影响，这是止损要求。客户通常只做了正向，反向做不了，所以出事时算不出影响面。</a:t>
            </a:r>
          </a:p>
          <a:p>
            <a:endParaRPr lang="zh-CN"/>
          </a:p>
          <a:p>
            <a:r>
              <a:rPr lang="zh-CN" sz="1200" dirty="0"/>
              <a:t>右边是三层血缘，只做一层不够。表级血缘是源表到中间数据集到对象类型；字段级血缘是目标字段由哪些源字段经过什么表达式算出来；任务级血缘是哪一次同步任务、哪一次运行产生了这一版。</a:t>
            </a:r>
          </a:p>
          <a:p>
            <a:endParaRPr lang="zh-CN"/>
          </a:p>
          <a:p>
            <a:r>
              <a:rPr lang="zh-CN" sz="1200" dirty="0"/>
              <a:t>下面两条设计原则：第一，血缘必须由管道自动产生，绝对不允许人工维护——人工维护的血缘三个月内必然失真；第二，元数据要和企业既有的数据目录、主数据管理双向连接，不要另起一套。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这一页讲分支与发布。官方把分支与发布流程列为管道建设的增强项，因为在有本体和智能体的世界里，管道变更就是业务变更。</a:t>
            </a:r>
          </a:p>
          <a:p>
            <a:endParaRPr lang="zh-CN"/>
          </a:p>
          <a:p>
            <a:r>
              <a:rPr lang="zh-CN" sz="1200" dirty="0"/>
              <a:t>上面这条路径是标准姿势：生产在主分支上稳定运行，一次改动独立开分支互不干扰，先在沙箱分支跑通数据和规则，然后评审——评审时必须评估口径影响和血缘影响面，合并后生成新的事务版本，并且始终保留上一版可回滚。</a:t>
            </a:r>
          </a:p>
          <a:p>
            <a:endParaRPr lang="zh-CN"/>
          </a:p>
          <a:p>
            <a:r>
              <a:rPr lang="zh-CN" sz="1200" dirty="0"/>
              <a:t>左边解释为什么管道变更要按业务变更来管。三个理由：它会改口径，改一个清洗表达式，所有引用这个对象类型的智能体结论都会跟着变；它会改数字，指标变了不通知，下游报表对不上，重新建立信任的成本极高；它会改权限，同步范围扩大，可能带进来原本不该被这一类用户看到的字段。</a:t>
            </a:r>
          </a:p>
          <a:p>
            <a:endParaRPr lang="zh-CN"/>
          </a:p>
          <a:p>
            <a:r>
              <a:rPr lang="zh-CN" sz="1200" dirty="0"/>
              <a:t>右边是发布检查表的六项。前四项是常规评审，后两项最容易被漏：一是沙箱分支的产出与生产基线的差异清单，二是回滚路径是否可执行、回滚要多久。这两项没验过，就不算发布准备完成。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第三部分讲另一个方向，往外出。这个方向比往里进更危险，因为它是数据离开本体的最后一道关口。</a:t>
            </a:r>
          </a:p>
          <a:p>
            <a:endParaRPr lang="zh-CN"/>
          </a:p>
          <a:p>
            <a:r>
              <a:rPr lang="zh-CN" sz="1200" dirty="0"/>
              <a:t>这一部分五页：三条出口、管道和知识库的关系、管道和智能体的关系、管道和本体的映射与写回边界，最后一页把四者关系和三条硬边界收在一起。</a:t>
            </a:r>
          </a:p>
          <a:p>
            <a:endParaRPr lang="zh-CN"/>
          </a:p>
          <a:p>
            <a:r>
              <a:rPr lang="zh-CN" sz="1200" dirty="0"/>
              <a:t>有一个判断标准：做进向的时候，出了问题影响的是系统；做出向的时候，出了问题影响的是信任。一旦客户开始怀疑「这个数到底能不能信」，后面所有的架构投入都会被折价。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往外出有三条出口，先看官方一句原话：大模型不能直接访问工具，它只能请求使用工具，工具调用由逻辑层在发起用户的权限内执行。这一句话决定了整个出向的设计。</a:t>
            </a:r>
          </a:p>
          <a:p>
            <a:endParaRPr lang="zh-CN"/>
          </a:p>
          <a:p>
            <a:r>
              <a:rPr lang="zh-CN" sz="1200" dirty="0"/>
              <a:t>出口一，数据出口，只读。按对象类型和链接类型取数，返回结构化结果，行列级权限在这一层生效。但要注意它的边界：只过滤读进提示词的数据，不覆盖输出，也不覆盖应用动作，所以要管住输出必须再配分类级访问控制。</a:t>
            </a:r>
          </a:p>
          <a:p>
            <a:endParaRPr lang="zh-CN"/>
          </a:p>
          <a:p>
            <a:r>
              <a:rPr lang="zh-CN" sz="1200" dirty="0"/>
              <a:t>出口二，逻辑出口，可以改本体。函数和业务逻辑是唯一能真正修改本体定义的东西，本体的编辑也必须通过执行逻辑函数才生效。边界是：谁能定义函数、谁审批函数、函数出错怎么回退，都要有机制。</a:t>
            </a:r>
          </a:p>
          <a:p>
            <a:endParaRPr lang="zh-CN"/>
          </a:p>
          <a:p>
            <a:r>
              <a:rPr lang="zh-CN" sz="1200" dirty="0"/>
              <a:t>出口三，动作出口，写与外发。写回源系统、发消息、调外部接口。边界最硬：必须在逻辑层里执行，且在发起人权限范围内，绝不允许模型自己直接触发。</a:t>
            </a:r>
          </a:p>
          <a:p>
            <a:endParaRPr lang="zh-CN"/>
          </a:p>
          <a:p>
            <a:r>
              <a:rPr lang="zh-CN" sz="1200" dirty="0"/>
              <a:t>下面三项建设内容：发布面，SDK、REST 接口、回调、模型上下文协议这几种对外形态都要有版本和弃用策略；权限面，调用方的身份要能一路传到源系统，不允许出现「到了出向就放行」的缺口；留痕面，谁在什么时候通过哪个出口取了什么、改了什么，全部可审计。</a:t>
            </a:r>
          </a:p>
          <a:p>
            <a:endParaRPr lang="zh-CN"/>
          </a:p>
          <a:p>
            <a:r>
              <a:rPr lang="zh-CN" sz="1200" dirty="0"/>
              <a:t>右下这句是我一定要讲给客户的话：出了本体的数据，不再有对象类型和链接类型替你兜着。进向管住的是「进来的是不是对的」，出向管住的是「出去的有没有越权」。出向必须单独做一轮安全设计，不能因为「它来自本体」就默认安全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这一页讲管道和知识库的关系。非结构化数据进本体，要过的关口比结构化数据多四道。</a:t>
            </a:r>
          </a:p>
          <a:p>
            <a:endParaRPr lang="zh-CN"/>
          </a:p>
          <a:p>
            <a:r>
              <a:rPr lang="zh-CN" sz="1200" dirty="0"/>
              <a:t>左边是知识抽取管道的七步，从接入原始文档一直到留下引用锚点。注意最后一步，引用锚点必须保留位置，能指回原件的某一页某一段，否则前面做的就都白做了。</a:t>
            </a:r>
          </a:p>
          <a:p>
            <a:endParaRPr lang="zh-CN"/>
          </a:p>
          <a:p>
            <a:r>
              <a:rPr lang="zh-CN" sz="1200" dirty="0"/>
              <a:t>右边是四道额外关口。第一道，切片级版本：文档改一段，整篇的切片都变，所以必须有文档级和切片级两套版本，否则引用会指错。第二道，权限随切片走：权限标在切片上，不能只在文档上，一份文档不同章节可见性不同是常态。第三道，实体对齐要有人工兜底：自动对齐会错，错一次就是智能体拿着错的身份做决策，低置信度的必须转人工队列。第四道，时效要有失效链：文档过期后，引用了它的所有结论都应标记为待复核，而不是继续可信。</a:t>
            </a:r>
          </a:p>
          <a:p>
            <a:endParaRPr lang="zh-CN"/>
          </a:p>
          <a:p>
            <a:r>
              <a:rPr lang="zh-CN" sz="1200" dirty="0"/>
              <a:t>下面三件事是管道在这里承担的额外职责：建链，把抽取出的事实挂到本体对象上；守密，密级沿管道内传，出库时必须再校验一次，不能只信入库时打的标；可回溯，任何一句结论都要能一键回到原始文档的具体位置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这一页讲管道和智能体的关系。先看上面这条供给链路：智能体做一次判断，底层要经过本体对象、结构化事实、知识片段、上下文规格，最后才是工具调用。</a:t>
            </a:r>
          </a:p>
          <a:p>
            <a:endParaRPr lang="zh-CN"/>
          </a:p>
          <a:p>
            <a:r>
              <a:rPr lang="zh-CN" sz="1200" dirty="0"/>
              <a:t>这五样东西全部由管道供给。所以管道延迟一次，智能体的结论就错一次，而且是那种看起来完全合理的错。</a:t>
            </a:r>
          </a:p>
          <a:p>
            <a:endParaRPr lang="zh-CN"/>
          </a:p>
          <a:p>
            <a:r>
              <a:rPr lang="zh-CN" sz="1200" dirty="0"/>
              <a:t>下面四件事是管道必须为智能体保证的。时效可承诺：给智能体用的每个对象类型都要有数据时效承诺，比如「不超过十五分钟」，做不到就别让它做实时判断。口径可追溯：智能体回答里出现的数字，必须能点回口径定义和源版本，否则模型会自己编。权限可传递：调用者的权限必须一路传到管道出口，不能因为是智能体在问就放行。缺失可识别：数据没到要能被识别成「缺失」，而不是零值——零值会被当成事实，这是最隐蔽的一种错。</a:t>
            </a:r>
          </a:p>
          <a:p>
            <a:endParaRPr lang="zh-CN"/>
          </a:p>
          <a:p>
            <a:r>
              <a:rPr lang="zh-CN" sz="1200" dirty="0"/>
              <a:t>右下这块讲终止控制。智能体册里讲终止条件主要由智能体侧负责，但有三种终止信号只能由管道发出：数据超过时效承诺自动熔断；要求引用却找不到完整血缘，直接失败不降级成猜测；调用链上任何一环权限不够，直接失败，不允许截取可见部分继续算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这一页讲管道和本体的关系，最核心的是一次翻译：数据集映射成对象类型和链接类型。这一步翻译错了，后面全错。</a:t>
            </a:r>
          </a:p>
          <a:p>
            <a:endParaRPr lang="zh-CN"/>
          </a:p>
          <a:p>
            <a:r>
              <a:rPr lang="zh-CN" sz="1200" dirty="0"/>
              <a:t>左边五件事是映射表里必须写清的。一个数据集拆成几个对象类型，通常是一个主对象加若干从对象，拆的依据是业务身份而不是表结构；每个对象的业务唯一标识来自源系统哪个字段，没有业务主键的必须补代理键并写清生成规则；链接类型从外键、规则匹配还是本体推导来，规则匹配的匹配率要先算出来；每个字段的语义、是否敏感、是否参与检索、是否允许出向；还有空值与缺失的表达，「没有这条记录」和「有记录但值为空」在本体里必须能区分。</a:t>
            </a:r>
          </a:p>
          <a:p>
            <a:endParaRPr lang="zh-CN"/>
          </a:p>
          <a:p>
            <a:r>
              <a:rPr lang="zh-CN" sz="1200" dirty="0"/>
              <a:t>右边是写回本体的四条边界。官方明确本体的编辑只能通过在动作里执行逻辑函数生效，模型不能直接改本体。所以写回必须有审批、有版本记录、有回退路径。改变对象类型、链接类型、属性语义的写回，等同于改本体契约，需要业务和技术双签。</a:t>
            </a:r>
          </a:p>
          <a:p>
            <a:endParaRPr lang="zh-CN"/>
          </a:p>
          <a:p>
            <a:r>
              <a:rPr lang="zh-CN" sz="1200" dirty="0"/>
              <a:t>下面这两条是验收线。左边给了三条验收指标，建议直接写在映射表首页作为上线依据：对象覆盖率、链接有效率、口径一致率。</a:t>
            </a:r>
          </a:p>
          <a:p>
            <a:endParaRPr lang="zh-CN"/>
          </a:p>
          <a:p>
            <a:r>
              <a:rPr lang="zh-CN" sz="1200" dirty="0"/>
              <a:t>右边这句是本册的观点：管道不只是搬运工，它是本体契约的执行者。本体上写的每一个对象类型，背后都必须有一条管道负责把它按约定喂饱；没有管道兜底的对象类型，本体上就不该先写上去。所以本体设计和管道设计必须同时做、互为约束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这一页把四者关系收在一起。</a:t>
            </a:r>
          </a:p>
          <a:p>
            <a:endParaRPr lang="zh-CN"/>
          </a:p>
          <a:p>
            <a:r>
              <a:rPr lang="zh-CN" sz="1200" dirty="0"/>
              <a:t>上面这条链是四者的位置和交付物。管道把源变成可用的数据与知识，交付数据集版本、血缘和映射表。本体给数据一个业务身份和关系，交付对象类型、链接类型和函数。知识库给本体补上非结构化依据，交付知识单元、引用、时效和密级。智能体在权限内做判断和发起动作，交付判定、动作和可回溯的结论。</a:t>
            </a:r>
          </a:p>
          <a:p>
            <a:endParaRPr lang="zh-CN"/>
          </a:p>
          <a:p>
            <a:r>
              <a:rPr lang="zh-CN" sz="1200" dirty="0"/>
              <a:t>管道同时服务两端：向下为本体供数，向上为知识库和智能体供给上下文。它是这条链上唯一贯穿始终的构件，也是唯一同时握有原始数据和出口两项风险的角色。</a:t>
            </a:r>
          </a:p>
          <a:p>
            <a:endParaRPr lang="zh-CN"/>
          </a:p>
          <a:p>
            <a:r>
              <a:rPr lang="zh-CN" sz="1200" dirty="0"/>
              <a:t>中间三条硬边界是这一部分的核心内容。</a:t>
            </a:r>
          </a:p>
          <a:p>
            <a:endParaRPr lang="zh-CN"/>
          </a:p>
          <a:p>
            <a:r>
              <a:rPr lang="zh-CN" sz="1200" dirty="0"/>
              <a:t>边界一，管道到本体，进得来也要退得回去。映射表必须同时写明什么条件下的这一版可以被换掉，否则本体永远只能追加不能修正；发布失败时要能整体退回上一版，而不是停在半成品状态。</a:t>
            </a:r>
          </a:p>
          <a:p>
            <a:endParaRPr lang="zh-CN"/>
          </a:p>
          <a:p>
            <a:r>
              <a:rPr lang="zh-CN" sz="1200" dirty="0"/>
              <a:t>边界二，管道到知识库，密级随数据走，不能只标一次。必须在每个切片入库时校验一次、出库时再校验一次，只信入库时的标记，权限体系迟早被绕过。</a:t>
            </a:r>
          </a:p>
          <a:p>
            <a:endParaRPr lang="zh-CN"/>
          </a:p>
          <a:p>
            <a:r>
              <a:rPr lang="zh-CN" sz="1200" dirty="0"/>
              <a:t>边界三，管道到智能体，缺失必须显式，不能用零值顶替。数据没到、版本不对、口径不一致，这三种情况都必须以失败或明确的缺失状态传过去，绝不能折算成零或空字符串。</a:t>
            </a:r>
          </a:p>
          <a:p>
            <a:endParaRPr lang="zh-CN"/>
          </a:p>
          <a:p>
            <a:r>
              <a:rPr lang="zh-CN" sz="1200" dirty="0"/>
              <a:t>最后一句话总结四者：本体管的是「什么是真的」，知识库管的是「依据是什么」，智能体管的是「谁来做决定」，管道管的是「这四件事靠不靠得住」。管道不做判断，但判断的一切前提都由它提供。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第四部分回到 4A。这一部分要做的事，是把管道当成一个业务应用，放进四层架构里逐层看一遍，然后讲门、失效、上线评审和演进。</a:t>
            </a:r>
          </a:p>
          <a:p>
            <a:endParaRPr lang="zh-CN"/>
          </a:p>
          <a:p>
            <a:r>
              <a:rPr lang="zh-CN" sz="1200" dirty="0"/>
              <a:t>如果这一部分只讲一件事，那就讲二十二页的映射总览——它决定了这套管道方案能不能进入企业的整体架构规划，而不是被当成运维项目对待。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这一页是管道处理的四 A 映射总览，也是把管道立项成「一个业务应用」的四张证明。</a:t>
            </a:r>
          </a:p>
          <a:p>
            <a:endParaRPr lang="zh-CN"/>
          </a:p>
          <a:p>
            <a:r>
              <a:rPr lang="zh-CN" sz="1200" dirty="0"/>
              <a:t>业务架构回答管什么、谁负责、什么时候停；数据架构回答三层数据和必建模元数据；应用架构回答拓扑与调用编排；技术架构回答运行时、调度与非功能。四句话各对应一个架构层的产出。</a:t>
            </a:r>
          </a:p>
          <a:p>
            <a:endParaRPr lang="zh-CN"/>
          </a:p>
          <a:p>
            <a:r>
              <a:rPr lang="zh-CN" sz="1200" dirty="0"/>
              <a:t>下面是三个特殊之处，也是管道和别的应用最大的区别。</a:t>
            </a:r>
          </a:p>
          <a:p>
            <a:endParaRPr lang="zh-CN"/>
          </a:p>
          <a:p>
            <a:r>
              <a:rPr lang="zh-CN" sz="1200" dirty="0"/>
              <a:t>第一，它是唯一有版本的。别的应用发版是换代码，管道发版是产生新的数据版本，影响面通过血缘可以算出来。</a:t>
            </a:r>
          </a:p>
          <a:p>
            <a:endParaRPr lang="zh-CN"/>
          </a:p>
          <a:p>
            <a:r>
              <a:rPr lang="zh-CN" sz="1200" dirty="0"/>
              <a:t>第二，它同时握有入口和出口。别的架构只管调用链的一端，管道两头都在自己手里，风险集中。</a:t>
            </a:r>
          </a:p>
          <a:p>
            <a:endParaRPr lang="zh-CN"/>
          </a:p>
          <a:p>
            <a:r>
              <a:rPr lang="zh-CN" sz="1200" dirty="0"/>
              <a:t>第三，它的失效是静默的。代码报错会停，管道错了只会算出一个看起来合理的数。所以必须靠健康检查兜。</a:t>
            </a:r>
          </a:p>
          <a:p>
            <a:endParaRPr lang="zh-CN"/>
          </a:p>
          <a:p>
            <a:r>
              <a:rPr lang="zh-CN" sz="1200" dirty="0"/>
              <a:t>右边这段是立项时最容易漏掉的三件事：口径责任人不进组织图，导致口径争议永远无法收敛；值班与告警没有承接方，管道上线三周后就没人管；退役机制缺失，旧管道永远不下线，新旧两套口径并存，最后没人说得清哪个是权威。第三件事的代价最大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这一页是管道处理在业务架构层要回答的三个问题。</a:t>
            </a:r>
          </a:p>
          <a:p>
            <a:endParaRPr lang="zh-CN"/>
          </a:p>
          <a:p>
            <a:r>
              <a:rPr lang="zh-CN" sz="1200" dirty="0"/>
              <a:t>管什么，三件东西必须被明确托管：口径、边界、时效。边界是哪些数据允许进、允许出；时效是多久算过期、承诺几个小时。这三件都要写成文字，不能停留在口头共识。</a:t>
            </a:r>
          </a:p>
          <a:p>
            <a:endParaRPr lang="zh-CN"/>
          </a:p>
          <a:p>
            <a:r>
              <a:rPr lang="zh-CN" sz="1200" dirty="0"/>
              <a:t>谁负责，四类角色，缺一不可：口径责任人、业务数据责任人、管道运维责任人、上线审批人。这四个人的签字不能由一个人代。</a:t>
            </a:r>
          </a:p>
          <a:p>
            <a:endParaRPr lang="zh-CN"/>
          </a:p>
          <a:p>
            <a:r>
              <a:rPr lang="zh-CN" sz="1200" dirty="0"/>
              <a:t>什么时候停，三类必须停的硬条件：健康检查连续失败、映射质量不达标、下游出现口径争议且无法裁决。停的条件要写在发布检查表里，写成可判定的条件，不能写「视情况而定」。</a:t>
            </a:r>
          </a:p>
          <a:p>
            <a:endParaRPr lang="zh-CN"/>
          </a:p>
          <a:p>
            <a:r>
              <a:rPr lang="zh-CN" sz="1200" dirty="0"/>
              <a:t>下面左边的黑块讲一个组织问题：大多数企业里这四个角色会压在两三个人身上。咨询要做的不是建议增编，而是让责任在组织图上显式存在——写进岗位说明、写进发布检查表的签字栏、写进值班表。责任在流程里，不在某个人的脑子里。</a:t>
            </a:r>
          </a:p>
          <a:p>
            <a:endParaRPr lang="zh-CN"/>
          </a:p>
          <a:p>
            <a:r>
              <a:rPr lang="zh-CN" sz="1200" dirty="0"/>
              <a:t>右边是管道作为业务应用的三个标志：有业务产出物，映射表、血缘矩阵、发布记录都是业务和技术共用的资产，不是运维日志；有生命周期，设计、建设、运行、演进、退役五个阶段各有进出条件；有服务对象，服务本体、知识库、智能体三类内部客户，需求和验收标准各不相同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这一页是数据架构层。三层数据加十二项必建模元数据。</a:t>
            </a:r>
          </a:p>
          <a:p>
            <a:endParaRPr lang="zh-CN"/>
          </a:p>
          <a:p>
            <a:r>
              <a:rPr lang="zh-CN" sz="1200" dirty="0"/>
              <a:t>三层数据的核心不是分层本身，而是每层要规定清楚「谁能改」。贴源层从源系统搬过来，尽量不加工，唯一动作是落地和记录事务，任何人不许改，只能新增版本。明细层是清洗、标准化、去重、映射后的中间数据集，是本体映射的直接输入，管道维护者可以改，但必须过发布流程。语义层是已经映射成对象类型和链接类型的数据，带着业务语义、血缘和密级，只有逻辑函数能改，而且必须审批和留版本。</a:t>
            </a:r>
          </a:p>
          <a:p>
            <a:endParaRPr lang="zh-CN"/>
          </a:p>
          <a:p>
            <a:r>
              <a:rPr lang="zh-CN" sz="1200" dirty="0"/>
              <a:t>「谁能改」这一栏是这一页的重点。分层图画得再漂亮，没有改权限的约定，等于没分。</a:t>
            </a:r>
          </a:p>
          <a:p>
            <a:endParaRPr lang="zh-CN"/>
          </a:p>
          <a:p>
            <a:r>
              <a:rPr lang="zh-CN" sz="1200" dirty="0"/>
              <a:t>下面是十二项必建模元数据。这十二项必须由管道自动产出，不允许人工维护。其中第十项计算模式、也就是快照还是增量，以及第十二项退役标记，是管道独有的两项，其他应用架构里找不到对应物。</a:t>
            </a:r>
          </a:p>
          <a:p>
            <a:endParaRPr lang="zh-CN"/>
          </a:p>
          <a:p>
            <a:r>
              <a:rPr lang="zh-CN" sz="1200" dirty="0"/>
              <a:t>另外提醒第九项：五类健康检查的最近结论要能被查到，不能只在出事时去翻日志。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这一页是应用架构层，讲管道的拓扑和调用编排。</a:t>
            </a:r>
          </a:p>
          <a:p>
            <a:endParaRPr lang="zh-CN"/>
          </a:p>
          <a:p>
            <a:r>
              <a:rPr lang="zh-CN" sz="1200" dirty="0"/>
              <a:t>上面五类节点：源节点是外部业务系统，以只读为主；接入节点是连接器和同步任务；加工节点做清洗、关联、富化和映射；发布节点负责映射进本体并生成新事务；出口节点是数据、逻辑、动作和回调。</a:t>
            </a:r>
          </a:p>
          <a:p>
            <a:endParaRPr lang="zh-CN"/>
          </a:p>
          <a:p>
            <a:r>
              <a:rPr lang="zh-CN" sz="1200" dirty="0"/>
              <a:t>四类边比五类节点更重要，因为大部分架构图只画节点不画边。数据依赖边是上游产出作为下游输入；口径依赖边是同一口径的不同实现，必须标为冲突；权限依赖边是下游权限不得宽于上游；发布依赖边是标出一次发布涉及的一组节点。</a:t>
            </a:r>
          </a:p>
          <a:p>
            <a:endParaRPr lang="zh-CN"/>
          </a:p>
          <a:p>
            <a:r>
              <a:rPr lang="zh-CN" sz="1200" dirty="0"/>
              <a:t>下面那句话是拓扑图的验收标准：必须能一键圈出「这次发布影响哪些节点」，以及「这两条口径互相冲突」。做不到这两点，拓扑就只是一张装饰图。</a:t>
            </a:r>
          </a:p>
          <a:p>
            <a:endParaRPr lang="zh-CN"/>
          </a:p>
          <a:p>
            <a:r>
              <a:rPr lang="zh-CN" sz="1200" dirty="0"/>
              <a:t>下面是调用编排的三条规则。调度要分层，接入按小时或按天、加工按依赖拓扑排序、出口按事件触发，三层不要混在一张调度表里。并发与幂等，同一条数据可能被两个任务同时处理，必须有幂等键和去重机制。失败隔离，一条管道挂掉不能拖垮同批次的其他管道，失败要能单独重跑而不影响已成功的部分。</a:t>
            </a:r>
          </a:p>
          <a:p>
            <a:endParaRPr lang="zh-CN"/>
          </a:p>
          <a:p>
            <a:r>
              <a:rPr lang="zh-CN" sz="1200" dirty="0"/>
              <a:t>右边这段是我总结的管道型技术债的三个征兆：同一张源表有三条以上互不知情的管道在各自加工；同一个指标在三个报表里有三个数；找不到任何一个能说清「这个数从哪来」的人。这三条一旦凑齐，就不是优化问题，而是要重建管道域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这一页是技术架构层。我要强调的是：这一层要回答的不是买什么，而是管道的真实非功能指标是什么。</a:t>
            </a:r>
          </a:p>
          <a:p>
            <a:endParaRPr lang="zh-CN"/>
          </a:p>
          <a:p>
            <a:r>
              <a:rPr lang="zh-CN" sz="1200" dirty="0"/>
              <a:t>上面黑块是官方给的两条硬约束。第一条，管道支持 Iceberg、Parquet 这些开放格式，但必须启用服务端加密，客户端加密只是可选项。第二条我前面讲过，流式管道只会和它最慢的组件一样快，目标延迟和吞吐必须在设计之初确认。</a:t>
            </a:r>
          </a:p>
          <a:p>
            <a:endParaRPr lang="zh-CN"/>
          </a:p>
          <a:p>
            <a:r>
              <a:rPr lang="zh-CN" sz="1200" dirty="0"/>
              <a:t>左边五类非功能指标，每一条都要有数字，不能只写「较高」。数据时效，从源系统发生变更到本体可查，端到端多少分钟；任务成功率，按月统计，连续失败多久触发熔断；资源与成本，单次全量、单次增量的算力开销和保留周期；可恢复性，从最近一次成功事务重放需要多久；存储与加密，加密方式、密钥轮换周期、跨域访问策略。</a:t>
            </a:r>
          </a:p>
          <a:p>
            <a:endParaRPr lang="zh-CN"/>
          </a:p>
          <a:p>
            <a:r>
              <a:rPr lang="zh-CN" sz="1200" dirty="0"/>
              <a:t>右边这条建议是：能力可换，契约不可换。官方支持 Python、Java、SparkSQL，可以搭配 Spark、Flink、DataFusion、Polars，也允许自带容器运行时。所以建议把引擎选择留成可替换项，把事务语义、幂等、血缘粒度写死成不可协商的契约。</a:t>
            </a:r>
          </a:p>
          <a:p>
            <a:endParaRPr lang="zh-CN"/>
          </a:p>
          <a:p>
            <a:r>
              <a:rPr lang="zh-CN" sz="1200" dirty="0"/>
              <a:t>调度方面，三类节奏三套保障：接入节奏看业务窗口，加工节奏看依赖关系，出口节奏看事件。每类节奏都要有独立的重试策略、超时阈值和补数预案，不能共用一套默认配置。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这一页是五道门，从立项到退役。前面讲了那么多原则，这一页是可以落成动作的部分。</a:t>
            </a:r>
          </a:p>
          <a:p>
            <a:endParaRPr lang="zh-CN"/>
          </a:p>
          <a:p>
            <a:r>
              <a:rPr lang="zh-CN" sz="1200" dirty="0"/>
              <a:t>门一，口径门。口径字典写完了吗？冲突台账清了吗？谁有权裁决？不清就退回，不进下一道。</a:t>
            </a:r>
          </a:p>
          <a:p>
            <a:endParaRPr lang="zh-CN"/>
          </a:p>
          <a:p>
            <a:r>
              <a:rPr lang="zh-CN" sz="1200" dirty="0"/>
              <a:t>门二，映射门。对象类型、链接类型、字段密级都定了吗？覆盖率算出来了吗？覆盖率不达标退回设计。</a:t>
            </a:r>
          </a:p>
          <a:p>
            <a:endParaRPr lang="zh-CN"/>
          </a:p>
          <a:p>
            <a:r>
              <a:rPr lang="zh-CN" sz="1200" dirty="0"/>
              <a:t>门三，血缘门。三层血缘齐吗？能算出这次改动的影响面吗？算不出影响面不许发布。</a:t>
            </a:r>
          </a:p>
          <a:p>
            <a:endParaRPr lang="zh-CN"/>
          </a:p>
          <a:p>
            <a:r>
              <a:rPr lang="zh-CN" sz="1200" dirty="0"/>
              <a:t>门四，健康门。五类检查配了吗？告警发给谁？熔断阈值是多少？没有告警接收人退回运维。</a:t>
            </a:r>
          </a:p>
          <a:p>
            <a:endParaRPr lang="zh-CN"/>
          </a:p>
          <a:p>
            <a:r>
              <a:rPr lang="zh-CN" sz="1200" dirty="0"/>
              <a:t>门五，退役门。旧管道下线条件是什么？替代者是谁？谁来确认？没有退役条件退回立项。</a:t>
            </a:r>
          </a:p>
          <a:p>
            <a:endParaRPr lang="zh-CN"/>
          </a:p>
          <a:p>
            <a:r>
              <a:rPr lang="zh-CN" sz="1200" dirty="0"/>
              <a:t>每一道门我都在右边写了退回条件。写「应关注」的门是没有用的，因为退回需要依据。</a:t>
            </a:r>
          </a:p>
          <a:p>
            <a:endParaRPr lang="zh-CN"/>
          </a:p>
          <a:p>
            <a:r>
              <a:rPr lang="zh-CN" sz="1200" dirty="0"/>
              <a:t>下面左边的黑块顺便把五类健康检查的官方维度讲完：状态、时间、规模、内容、模式。诊断动作是把客户现有的告警规则对照这五类列一遍，通常会发现「内容」和「模式」两类是空的，也就是脏数据和模式漂移从来没人管。</a:t>
            </a:r>
          </a:p>
          <a:p>
            <a:endParaRPr lang="zh-CN"/>
          </a:p>
          <a:p>
            <a:r>
              <a:rPr lang="zh-CN" sz="1200" dirty="0"/>
              <a:t>右下这句是这一页最想说的：门的真正作用是让退回变得体面。没有门的时候，退回靠个人坚持，扛不住进度压力；有了门，退回是执行流程，扛的是制度而不是个人。所以门必须写清退回条件。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这一页讲五类失败模式。这五类失效都不会报错，只会安静地算出一个看起来合理的数，所以要按症状排查，而不是等报警。</a:t>
            </a:r>
          </a:p>
          <a:p>
            <a:endParaRPr lang="zh-CN"/>
          </a:p>
          <a:p>
            <a:r>
              <a:rPr lang="zh-CN" sz="1200" dirty="0"/>
              <a:t>失效一，静默漏数。症状是少了一部分记录，但总数看起来合理。根因通常是源侧过滤条件变更没通知、增量事务漏提交、或者重试把失败当成成功跳过。处方是贴源层做行数与金额双校验，缺一个就熔断，不能只对行数——只对行数会漏掉金额不对但行数对的情况。</a:t>
            </a:r>
          </a:p>
          <a:p>
            <a:endParaRPr lang="zh-CN"/>
          </a:p>
          <a:p>
            <a:r>
              <a:rPr lang="zh-CN" sz="1200" dirty="0"/>
              <a:t>失效二，口径漂移。症状是同一个指标每个月都在小幅变化。根因是多条管道各自实现同一口径、修数逻辑越加越多、没有基准口径。处方是一个指标只允许一处实现，其余引用；发现冲突标红而不是取最新。</a:t>
            </a:r>
          </a:p>
          <a:p>
            <a:endParaRPr lang="zh-CN"/>
          </a:p>
          <a:p>
            <a:r>
              <a:rPr lang="zh-CN" sz="1200" dirty="0"/>
              <a:t>失效三，延迟累积。症状是单条管道不慢，整体越来越晚。根因是串行环节增多、窗口计算重叠、补数与常规任务抢资源。处方是为端到端时效设承诺并逐段打点，超时自动告警，而不是等业务来投诉。</a:t>
            </a:r>
          </a:p>
          <a:p>
            <a:endParaRPr lang="zh-CN"/>
          </a:p>
          <a:p>
            <a:r>
              <a:rPr lang="zh-CN" sz="1200" dirty="0"/>
              <a:t>失效四，重复处理。症状是同一批数据算了两遍，结果翻倍。根因是重试没有幂等键、两个任务同时消费同一事务、补数与常规任务重叠。处方是以业务主键加事务号做幂等键，用唯一约束拦住，而不是靠代码判断。</a:t>
            </a:r>
          </a:p>
          <a:p>
            <a:endParaRPr lang="zh-CN"/>
          </a:p>
          <a:p>
            <a:r>
              <a:rPr lang="zh-CN" sz="1200" dirty="0"/>
              <a:t>失效五，血缘断裂。症状是改一个字段不知道谁在用。根因是血缘靠人工维护、临时表绕过管道、私下直连库查询。处方是血缘必须自动产出，禁止绕过管道直连，临时表必须挂在管道节点上。</a:t>
            </a:r>
          </a:p>
          <a:p>
            <a:endParaRPr lang="zh-CN"/>
          </a:p>
          <a:p>
            <a:r>
              <a:rPr lang="zh-CN" sz="1200" dirty="0"/>
              <a:t>右下是这个排查的切入顺序，建议记下来：先看事务序列是否连续，能快速排除漏数和重复；再看指标历史曲线是否平滑，查口径漂移；再看端到端时效趋势，查延迟累积；最后看血缘覆盖度，查断裂。这个顺序的好处是前两步几分钟就能排除一半可能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这一页是两个可以直接拿去用的东西：左边上线评审十二项，右边批到增到流的三步演进。</a:t>
            </a:r>
          </a:p>
          <a:p>
            <a:endParaRPr lang="zh-CN"/>
          </a:p>
          <a:p>
            <a:r>
              <a:rPr lang="zh-CN" sz="1200" dirty="0"/>
              <a:t>十二项我按性质标了颜色，治理类四项、设计类三项、工程类四项、运营类一项。请注意是逐项打勾，不允许「基本满足」这种表述——一旦允许基本满足，评审就退化成走过场。</a:t>
            </a:r>
          </a:p>
          <a:p>
            <a:endParaRPr lang="zh-CN"/>
          </a:p>
          <a:p>
            <a:r>
              <a:rPr lang="zh-CN" sz="1200" dirty="0"/>
              <a:t>第五项要特别提一下：计算模式要明确，而且已经打开强制增量校验开关。这一项不设，就等于把「静默退化成快照」这个风险留在生产里。</a:t>
            </a:r>
          </a:p>
          <a:p>
            <a:endParaRPr lang="zh-CN"/>
          </a:p>
          <a:p>
            <a:r>
              <a:rPr lang="zh-CN" sz="1200" dirty="0"/>
              <a:t>右边三步演进，每一步我都写了进入下一步的判断依据。没有判断依据的演进就是凭感觉升级。</a:t>
            </a:r>
          </a:p>
          <a:p>
            <a:endParaRPr lang="zh-CN"/>
          </a:p>
          <a:p>
            <a:r>
              <a:rPr lang="zh-CN" sz="1200" dirty="0"/>
              <a:t>第一步批处理，进入下一步的依据是口径稳定、映射覆盖率达标、血缘完整。请注意顺序——这三项没到位就上增量，是把问题放大。</a:t>
            </a:r>
          </a:p>
          <a:p>
            <a:endParaRPr lang="zh-CN"/>
          </a:p>
          <a:p>
            <a:r>
              <a:rPr lang="zh-CN" sz="1200" dirty="0"/>
              <a:t>第二步增量，进入下一步的依据是单次全量已经跑不动，或者时效承诺满足不了。前提是所有输入都通过追加或不修改既有文件的更新事务变更。</a:t>
            </a:r>
          </a:p>
          <a:p>
            <a:endParaRPr lang="zh-CN"/>
          </a:p>
          <a:p>
            <a:r>
              <a:rPr lang="zh-CN" sz="1200" dirty="0"/>
              <a:t>第三步流式，进入这一步的依据是业务确实要求分钟级以内，而且增量已经满足不了。记住那句物理约束：流式只会和最慢组件一样快，所以设计之初就要确认目标延迟与吞吐能达成。</a:t>
            </a:r>
          </a:p>
          <a:p>
            <a:endParaRPr lang="zh-CN"/>
          </a:p>
          <a:p>
            <a:r>
              <a:rPr lang="zh-CN" sz="1200" dirty="0"/>
              <a:t>如果客户问「能不能直接上实时」，标准回答是：能，但要先把第二步的准入条件全部满足，并且承认复杂度会显著高于批量。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最后把八册串一下。</a:t>
            </a:r>
          </a:p>
          <a:p>
            <a:endParaRPr lang="zh-CN"/>
          </a:p>
          <a:p>
            <a:r>
              <a:rPr lang="zh-CN" sz="1200" dirty="0"/>
              <a:t>前四册是四层架构底座：数据架构回答先有治才有存，业务架构回答能力与组织解耦，应用架构回答数量增长带来的技术债，技术架构回答不押注单点技术。</a:t>
            </a:r>
          </a:p>
          <a:p>
            <a:endParaRPr lang="zh-CN"/>
          </a:p>
          <a:p>
            <a:r>
              <a:rPr lang="zh-CN" sz="1200" dirty="0"/>
              <a:t>后四册是 AI 时代的四个实践点：本体回答语义与动力学合一，知识库回答知识要被治理而不只是被存起来，智能体回答谁来判断、权限多大、何时停手，管道回答可管可追可退。</a:t>
            </a:r>
          </a:p>
          <a:p>
            <a:endParaRPr lang="zh-CN"/>
          </a:p>
          <a:p>
            <a:r>
              <a:rPr lang="zh-CN" sz="1200" dirty="0"/>
              <a:t>顺序不是随意排的。前四册解决「能不能建得起来」，后四册解决「建起来之后靠不靠得住」。而这四者当中，管道是唯一一个同时服务上下游、同时握有原始数据和出口的角色。</a:t>
            </a:r>
          </a:p>
          <a:p>
            <a:endParaRPr lang="zh-CN"/>
          </a:p>
          <a:p>
            <a:r>
              <a:rPr lang="zh-CN" sz="1200" dirty="0"/>
              <a:t>这一册大家记住两句话就够了。第一句是：本体画的是「世界应该长什么样」，管道要保证的是「它现在真的长这样」。前者靠设计，后者只能靠一版一版的验证、一次一次的可回退、以及一份永远可信的血缘。</a:t>
            </a:r>
          </a:p>
          <a:p>
            <a:endParaRPr lang="zh-CN"/>
          </a:p>
          <a:p>
            <a:r>
              <a:rPr lang="zh-CN" sz="1200" dirty="0"/>
              <a:t>第二句是：如果这三样都没有，那么再漂亮的本体图、再聪明的智能体，都只是在一个没人验证过的假设上做判断。</a:t>
            </a:r>
          </a:p>
          <a:p>
            <a:endParaRPr lang="zh-CN"/>
          </a:p>
          <a:p>
            <a:r>
              <a:rPr lang="zh-CN" sz="1200" dirty="0"/>
              <a:t>这一册之后，下一步可以接着做三件事：用五道门和五类失效做一次管道域体检；按 Approach 八阶段做一次完整交付，形成第一版管道资产集；以及把智能体册里的上下文规格和终止条件，和管道时效承诺对齐成一份契约。</a:t>
            </a:r>
          </a:p>
          <a:p>
            <a:endParaRPr lang="zh-CN"/>
          </a:p>
          <a:p>
            <a:r>
              <a:rPr lang="zh-CN" sz="1200" dirty="0"/>
              <a:t>第八册到此结束，谢谢大家。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0F1423' }}&gt;&#10;  &lt;Box style={{ position: 'absolute', left: 0, top: 0, width: 1280, height: 720, background: 'linear-gradient(135deg, #0F1423 0%, #2A1810 100%)' }} /&gt;&#10;  &lt;Box style={{ position: 'absolute', right: 0, top: 0, width: 620, height: 720, background: 'linear-gradient(200deg, rgba(250,79,36,0.26) 0%, rgba(250,79,36,0) 70%)' }} /&gt;&#10;&#10;  &lt;Box style={{ position: 'absolute', left: 88, top: 92, width: 1104 }}&gt;&#10;    &lt;Box style={{ flexDirection: 'row', alignItems: 'center', gap: 14 }}&gt;&#10;      &lt;Box style={{ width: 14, height: 14, background: '#FA4F24' }} /&gt;&#10;      &lt;Text style={{ fontSize: 15, color: 'rgba(255,255,255,0.5)', letterSpacing: 3 }}&gt;EA 企业架构咨询方法论 · 第八册&lt;/Text&gt;&#10;    &lt;/Box&gt;&#10;    &lt;Text style={{ fontSize: 58, fontWeight: 'bold', color: '#FFFFFF', marginTop: 26, lineHeight: 1.15 }}&gt;&#10;      管道处理&lt;span style={{ color: '#FA4F24' }}&gt;咨询方法论&lt;/span&gt;&#10;    &lt;/Text&gt;&#10;    &lt;Text style={{ fontSize: 19, color: 'rgba(255,255,255,0.72)', marginTop: 22, lineHeight: 1.6, width: 820 }}&gt;&#10;      管道处理是 4A 架构的第八个实践点，它要回答的不是「怎么搬」，而是「哪一版数据、什么口径、由谁批的、从哪进、往哪出、能不能退回去」&#10;    &lt;/Text&gt;&#10;    &lt;Box style={{ width: 72, height: 5, background: '#FA4F24', marginTop: 30 }} /&gt;&#10;&#10;    &lt;Box style={{ flexDirection: 'row', gap: 10, marginTop: 34 }}&gt;&#10;      {['30 页', '四个部分', '含 Approach 八阶段', '含管道 × 知识库 × Agent × Ontology 四者关系'].map((t, i) =&gt; (&#10;        &lt;Box key={t} style={{ height: 32, borderRadius: 16, border: '1px solid rgba(255,255,255,0.22)', padding: '0 15px', flexDirection: 'row', alignItems: 'center' }}&gt;&#10;          &lt;Text style={{ fontSize: 13, color: 'rgba(255,255,255,0.78)' }}&gt;{t}&lt;/Text&gt;&#10;        &lt;/Box&gt;&#10;      ))}&#10;    &lt;/Box&gt;&#10;  &lt;/Box&gt;&#10;&#10;  &lt;Box style={{ position: 'absolute', left: 88, top: 566, flexDirection: 'row', gap: 36 }}&gt;&#10;    {[&#10;      { b: 'DA', t: '数据架构' },&#10;      { b: 'BA', t: '业务架构' },&#10;      { b: 'AA', t: '应用架构' },&#10;      { b: 'TA', t: '技术架构' },&#10;      { b: 'ONT', t: 'Ontology' },&#10;      { b: 'AGT', t: 'Agent' },&#10;      { b: 'KB', t: '知识库' },&#10;      { b: 'PIPE', t: '管道处理', c: '#FA4F24' },&#10;    ].map((x, i) =&gt; (&#10;      &lt;Box key={x.b} style={{ opacity: i === 7 ? 1 : 0.42 }}&gt;&#10;        &lt;Text style={{ fontSize: 16, fontWeight: 'bold', color: x.c || '#FFFFFF' }}&gt;{x.b}&lt;/Text&gt;&#10;        &lt;Text style={{ fontSize: 12, color: 'rgba(255,255,255,0.7)', marginTop: 3 }}&gt;{x.t}&lt;/Text&gt;&#10;      &lt;/Box&gt;&#10;    ))}&#10;  &lt;/Box&gt;&#10;&#10;  &lt;Box style={{ position: 'absolute', right: 88, bottom: 46, flexDirection: 'row', alignItems: 'center', gap: 12 }}&gt;&#10;    &lt;Text style={{ fontSize: 14, color: 'rgba(255,255,255,0.5)' }}&gt;硕磐机密 · 管道处理咨询方法论&lt;/Text&gt;&#10;    &lt;Text style={{ fontSize: 14, color: 'rgba(255,255,255,0.5)', marginLeft: 12 }}&gt;01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6286500" y="0"/>
            <a:ext cx="5905500" cy="6858000"/>
          </a:xfrm>
          <a:prstGeom prst="rect">
            <a:avLst/>
          </a:prstGeom>
          <a:gradFill>
            <a:gsLst>
              <a:gs pos="0">
                <a:srgbClr val="FA4F24">
                  <a:alpha val="26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838200" y="89535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104900" y="876300"/>
            <a:ext cx="2571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EA </a:t>
            </a:r>
            <a:r>
              <a:rPr lang="zh-CN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第八册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38200" y="1295400"/>
            <a:ext cx="105156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管道处理</a:t>
            </a:r>
            <a:r>
              <a:rPr lang="zh-CN" sz="4350" b="1">
                <a:solidFill>
                  <a:srgbClr val="FA4F24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38200" y="2276475"/>
            <a:ext cx="78105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管道处理是</a:t>
            </a:r>
            <a:r>
              <a:rPr lang="en-US" sz="142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142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架构的第八个实践点，它要回答的不是「怎么搬」，而是「哪一版数据、什么口径、由谁批的、从哪进、往哪出、能不能退回去」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838200" y="325755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" name=""/>
          <p:cNvSpPr/>
          <p:nvPr/>
        </p:nvSpPr>
        <p:spPr>
          <a:xfrm rot="0" flipH="0" flipV="0">
            <a:off x="838200" y="3629025"/>
            <a:ext cx="600075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81075" y="3705225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1533525" y="3629025"/>
            <a:ext cx="781050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676400" y="37052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四个部分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2409825" y="3629025"/>
            <a:ext cx="1438275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552700" y="3705225"/>
            <a:ext cx="1152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含</a:t>
            </a: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Approach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八阶段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3943350" y="3629025"/>
            <a:ext cx="2981325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086225" y="3705225"/>
            <a:ext cx="2695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含管道</a:t>
            </a: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知识库</a:t>
            </a: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× Agent × Ontology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四者关系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267450" y="53911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PIPE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267450" y="56102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管道处理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38200" y="53911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>
                    <a:alpha val="42000"/>
                  </a:srgbClr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38200" y="56102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29400"/>
                  </a:srgbClr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638300" y="53911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>
                    <a:alpha val="42000"/>
                  </a:srgbClr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638300" y="56102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29400"/>
                  </a:srgbClr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2438400" y="53911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>
                    <a:alpha val="42000"/>
                  </a:srgbClr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2438400" y="56102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29400"/>
                  </a:srgbClr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3238500" y="53911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>
                    <a:alpha val="42000"/>
                  </a:srgbClr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3238500" y="56102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29400"/>
                  </a:srgbClr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038600" y="5391150"/>
            <a:ext cx="523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>
                    <a:alpha val="42000"/>
                  </a:srgbClr>
                </a:solidFill>
                <a:latin typeface="Microsoft YaHei"/>
                <a:ea typeface="Microsoft YaHei"/>
              </a:rPr>
              <a:t>ONT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038600" y="5610225"/>
            <a:ext cx="523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29400"/>
                  </a:srgbClr>
                </a:solidFill>
                <a:latin typeface="Microsoft YaHei"/>
                <a:ea typeface="Microsoft YaHei"/>
              </a:rPr>
              <a:t>Ontology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905375" y="5391150"/>
            <a:ext cx="333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>
                    <a:alpha val="42000"/>
                  </a:srgbClr>
                </a:solidFill>
                <a:latin typeface="Microsoft YaHei"/>
                <a:ea typeface="Microsoft YaHei"/>
              </a:rPr>
              <a:t>AGT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905375" y="5610225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29400"/>
                  </a:srgbClr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581650" y="53911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>
                    <a:alpha val="42000"/>
                  </a:srgbClr>
                </a:solidFill>
                <a:latin typeface="Microsoft YaHei"/>
                <a:ea typeface="Microsoft YaHei"/>
              </a:rPr>
              <a:t>KB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581650" y="56102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29400"/>
                  </a:srgbClr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820150" y="625792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8966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01 / 30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512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本册&lt;span style={{ color: '#FA4F24' }}&gt;结构&lt;/span&gt;：四部分，一条主线&#10;      &lt;/Text&gt;&#10;      &lt;Text style={{ fontSize: 20, color: '#8A8F99', marginTop: 8 }}&gt;&#10;        前两部分讲管道本身与四方关系，第三部分回到 4A，第四部分讲门、失效与演进&#10;      &lt;/Text&gt;&#10;    &lt;/Box&gt;&#10;    &lt;Box style={{ height: 1, background: '#E8E8E8' }} /&gt;&#10;&#10;    &lt;Box style={{ paddingTop: 18, paddingBottom: 10, height: 479, flexDirection: 'row', gap: 12 }}&gt;&#10;      &lt;Box style={{ width: 632, flexDirection: 'column', gap: 8 }}&gt;&#10;        {[&#10;          { n: '序论 + 方法', p: '03-04', t: '为什么 4A 之后还要谈管道处理；Approach 八阶段与每步产出物', c: '#0F1423' },&#10;          { n: 'PART 01', p: '05-10', t: '管道处理是什么：双向两个方向、Palantir 管道全景、Data Connection、SDDI、快照与增量', c: '#FA4F24' },&#10;          { n: 'PART 02', p: '11-14', t: '方向一：源系统 → Ontology 的六道关口、版本血缘、分支与发布', c: '#F87D2F' },&#10;          { n: 'PART 03', p: '15-20', t: '方向二：本体 → 调用三条出口，以及与知识库、Agent 的关系和三条硬边界', c: '#E0651A' },&#10;          { n: 'PART 04', p: '21-30', t: '回到 4A：BA / DA / AA / TA、五道门、五类失效、上线评审与三步演进', c: '#C43A17' },&#10;        ].map((it, i) =&gt; (&#10;          &lt;Box key={it.n} style={{ flex: 1, background: '#F7F7F8', borderRadius: 4, borderLeft: '4px solid ' + it.c, padding: '0 16px', flexDirection: 'row', alignItems: 'center', gap: 14 }}&gt;&#10;            &lt;Box style={{ width: 128 }}&gt;&#10;              &lt;Text style={{ fontSize: 15, fontWeight: 'bold', color: it.c }}&gt;{it.n}&lt;/Text&gt;&#10;              &lt;Text style={{ fontSize: 11, color: '#8A8F99', marginTop: 2 }}&gt;{it.p}&lt;/Text&gt;&#10;            &lt;/Box&gt;&#10;            &lt;Text style={{ fontSize: 13, color: '#3A4050', flex: 1, lineHeight: 1.45 }}&gt;{it.t}&lt;/Text&gt;&#10;          &lt;/Box&gt;&#10;        ))}&#10;        &lt;Box style={{ height: 66, background: '#0F1423', borderRadius: 4, padding: '0 16px', flexDirection: 'row', alignItems: 'center', gap: 14 }}&gt;&#10;          &lt;Text style={{ fontSize: 13, fontWeight: 'bold', color: '#FBA15C', width: 168 }}&gt;本册要回答的核心问题&lt;/Text&gt;&#10;          &lt;Text style={{ fontSize: 13, color: 'rgba(255,255,255,0.92)', flex: 1, lineHeight: 1.45 }}&gt;&#10;            一条数据从源系统进到本体、再从本体被调出去，中间要经过什么；为什么管道不是 ETL；为什么出了本体的数据反而更容易失控。&#10;          &lt;/Text&gt;&#10;        &lt;/Box&gt;&#10;      &lt;/Box&gt;&#10;&#10;      &lt;Box style={{ flex: 1, flexDirection: 'column', gap: 8 }}&gt;&#10;        &lt;Box style={{ height: 214, background: '#FFF3EE', borderRadius: 4, borderLeft: '4px solid #FA4F24', padding: '12px 16px', flexDirection: 'column' }}&gt;&#10;          &lt;Text style={{ fontSize: 15, fontWeight: 'bold', color: '#C43A17', marginBottom: 8 }}&gt;八册的关系：一条链路，不是八本独立册子&lt;/Text&gt;&#10;          {[&#10;            { b: 'DA / BA / AA / TA', t: '四层架构，方法底座', c: '#8A8F99' },&#10;            { b: 'Ontology', t: '语义与动力学合一，汇流点', c: '#F87D2F' },&#10;            { b: '知识库 / Agent', t: '非结构化供给与有职权的角色', c: '#FA4F24' },&#10;            { b: '管道处理', t: '把前面三者接进接出', c: '#0F1423' },&#10;          ].map((it, i) =&gt; (&#10;            &lt;Box key={it.b} style={{ flex: 1, flexDirection: 'row', alignItems: 'center', gap: 10, borderTop: i === 0 ? 'none' : '1px solid #FBA15C' }}&gt;&#10;              &lt;Text style={{ fontSize: 13, fontWeight: 'bold', color: it.c, width: 152 }}&gt;{it.b}&lt;/Text&gt;&#10;              &lt;Text style={{ fontSize: 12, color: '#5A6072', flex: 1 }}&gt;{it.t}&lt;/Text&gt;&#10;            &lt;/Box&gt;&#10;          ))}&#10;        &lt;/Box&gt;&#10;        &lt;Box style={{ flex: 1, background: '#0F1423', borderRadius: 4, padding: '12px 16px', flexDirection: 'column', justifyContent: 'center' }}&gt;&#10;          &lt;Text style={{ fontSize: 14, fontWeight: 'bold', color: '#FBA15C' }}&gt;与前四册的关系&lt;/Text&gt;&#10;          &lt;Text style={{ fontSize: 13, color: 'rgba(255,255,255,0.9)', marginTop: 8, lineHeight: 1.6 }}&gt;&#10;            DA 讲数据分层与元数据，本册讲这些数据怎么持续流过来；AA 讲应用拓扑，本册讲管道就是其中一类应用；TA 讲底座能力，本册讲管道对底座的真实要求。&#10;          &lt;/Text&gt;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02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本册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结构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：四部分，一条主线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前两部分讲管道本身与四方关系，第三部分回到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4A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，第四部分讲门、失效与演进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517" name=""/>
          <p:cNvSpPr/>
          <p:nvPr/>
        </p:nvSpPr>
        <p:spPr>
          <a:xfrm rot="0" flipH="0" flipV="0">
            <a:off x="647700" y="1323975"/>
            <a:ext cx="6019800" cy="638175"/>
          </a:xfrm>
          <a:prstGeom prst="roundRect">
            <a:avLst>
              <a:gd name="adj" fmla="val 597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18" name=""/>
          <p:cNvSpPr/>
          <p:nvPr/>
        </p:nvSpPr>
        <p:spPr>
          <a:xfrm rot="0" flipH="0" flipV="0">
            <a:off x="647700" y="1323975"/>
            <a:ext cx="6019800" cy="638175"/>
          </a:xfrm>
          <a:custGeom>
            <a:pathLst>
              <a:path w="632" h="67">
                <a:moveTo>
                  <a:pt x="4" y="67"/>
                </a:moveTo>
                <a:cubicBezTo>
                  <a:pt x="2" y="67"/>
                  <a:pt x="0" y="65"/>
                  <a:pt x="0" y="6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7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800100" y="148590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序论</a:t>
            </a:r>
            <a:r>
              <a:rPr lang="en-US" sz="11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方法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800100" y="1676400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03-04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2152650" y="1533525"/>
            <a:ext cx="43243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为什么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之后还要谈管道处理；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Approach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八阶段与每步产出物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647700" y="2038350"/>
            <a:ext cx="6019800" cy="742950"/>
          </a:xfrm>
          <a:prstGeom prst="roundRect">
            <a:avLst>
              <a:gd name="adj" fmla="val 5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23" name=""/>
          <p:cNvSpPr/>
          <p:nvPr/>
        </p:nvSpPr>
        <p:spPr>
          <a:xfrm rot="0" flipH="0" flipV="0">
            <a:off x="647700" y="2038350"/>
            <a:ext cx="6019800" cy="742950"/>
          </a:xfrm>
          <a:custGeom>
            <a:pathLst>
              <a:path w="632" h="78">
                <a:moveTo>
                  <a:pt x="4" y="78"/>
                </a:moveTo>
                <a:cubicBezTo>
                  <a:pt x="2" y="78"/>
                  <a:pt x="0" y="76"/>
                  <a:pt x="0" y="7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800100" y="224790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PART 01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800100" y="2438400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05-10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2152650" y="2190750"/>
            <a:ext cx="43243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管道处理是什么：双向两个方向、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Palantir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管道全景、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>Data Connection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>SDDI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、快照与增量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647700" y="2857500"/>
            <a:ext cx="6019800" cy="638175"/>
          </a:xfrm>
          <a:prstGeom prst="roundRect">
            <a:avLst>
              <a:gd name="adj" fmla="val 597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28" name=""/>
          <p:cNvSpPr/>
          <p:nvPr/>
        </p:nvSpPr>
        <p:spPr>
          <a:xfrm rot="0" flipH="0" flipV="0">
            <a:off x="647700" y="2857500"/>
            <a:ext cx="6019800" cy="638175"/>
          </a:xfrm>
          <a:custGeom>
            <a:pathLst>
              <a:path w="632" h="67">
                <a:moveTo>
                  <a:pt x="4" y="67"/>
                </a:moveTo>
                <a:cubicBezTo>
                  <a:pt x="2" y="67"/>
                  <a:pt x="0" y="65"/>
                  <a:pt x="0" y="6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7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800100" y="3019425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87D2F"/>
                </a:solidFill>
                <a:latin typeface="Microsoft YaHei"/>
                <a:ea typeface="Microsoft YaHei"/>
              </a:rPr>
              <a:t>PART 02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800100" y="3209925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11-14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2152650" y="3067050"/>
            <a:ext cx="43243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方向一：源系统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Ontology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的六道关口、版本血缘、分支与发布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647700" y="3571875"/>
            <a:ext cx="601980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33" name=""/>
          <p:cNvSpPr/>
          <p:nvPr/>
        </p:nvSpPr>
        <p:spPr>
          <a:xfrm rot="0" flipH="0" flipV="0">
            <a:off x="647700" y="3571875"/>
            <a:ext cx="6019800" cy="628650"/>
          </a:xfrm>
          <a:custGeom>
            <a:pathLst>
              <a:path w="632" h="66">
                <a:moveTo>
                  <a:pt x="4" y="66"/>
                </a:moveTo>
                <a:cubicBezTo>
                  <a:pt x="2" y="66"/>
                  <a:pt x="0" y="64"/>
                  <a:pt x="0" y="6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6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800100" y="3724275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0651A"/>
                </a:solidFill>
                <a:latin typeface="Microsoft YaHei"/>
                <a:ea typeface="Microsoft YaHei"/>
              </a:rPr>
              <a:t>PART 03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800100" y="3914775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15-20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2152650" y="3781425"/>
            <a:ext cx="43243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方向二：本体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调用三条出口，以及与知识库、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的关系和三条硬边界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647700" y="4276725"/>
            <a:ext cx="6019800" cy="638175"/>
          </a:xfrm>
          <a:prstGeom prst="roundRect">
            <a:avLst>
              <a:gd name="adj" fmla="val 597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38" name=""/>
          <p:cNvSpPr/>
          <p:nvPr/>
        </p:nvSpPr>
        <p:spPr>
          <a:xfrm rot="0" flipH="0" flipV="0">
            <a:off x="647700" y="4276725"/>
            <a:ext cx="6019800" cy="638175"/>
          </a:xfrm>
          <a:custGeom>
            <a:pathLst>
              <a:path w="632" h="67">
                <a:moveTo>
                  <a:pt x="4" y="67"/>
                </a:moveTo>
                <a:cubicBezTo>
                  <a:pt x="2" y="67"/>
                  <a:pt x="0" y="65"/>
                  <a:pt x="0" y="6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7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800100" y="443865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43A17"/>
                </a:solidFill>
                <a:latin typeface="Microsoft YaHei"/>
                <a:ea typeface="Microsoft YaHei"/>
              </a:rPr>
              <a:t>PART 04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800100" y="4629150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21-30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2152650" y="4486275"/>
            <a:ext cx="43243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回到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4A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：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>BA / DA / AA / TA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、五道门、五类失效、上线评审与三步演进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609600" y="4991100"/>
            <a:ext cx="6019800" cy="628650"/>
          </a:xfrm>
          <a:prstGeom prst="roundRect">
            <a:avLst>
              <a:gd name="adj" fmla="val 606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762000" y="5229225"/>
            <a:ext cx="1600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BA15C"/>
                </a:solidFill>
                <a:latin typeface="Microsoft YaHei"/>
                <a:ea typeface="Microsoft YaHei"/>
              </a:rPr>
              <a:t>本册要回答的核心问题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2495550" y="5086350"/>
            <a:ext cx="39814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一条数据从源系统进到本体、再从本体被调出去，中间要经过什么；为什么管道不是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ETL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；为什么出了本体的数据反而更容易失控。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6781800" y="1323975"/>
            <a:ext cx="4838700" cy="2038350"/>
          </a:xfrm>
          <a:prstGeom prst="roundRect">
            <a:avLst>
              <a:gd name="adj" fmla="val 1869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46" name=""/>
          <p:cNvSpPr/>
          <p:nvPr/>
        </p:nvSpPr>
        <p:spPr>
          <a:xfrm rot="0" flipH="0" flipV="0">
            <a:off x="6781800" y="1323975"/>
            <a:ext cx="4838700" cy="2038350"/>
          </a:xfrm>
          <a:custGeom>
            <a:pathLst>
              <a:path w="508" h="214">
                <a:moveTo>
                  <a:pt x="4" y="214"/>
                </a:moveTo>
                <a:cubicBezTo>
                  <a:pt x="2" y="214"/>
                  <a:pt x="0" y="212"/>
                  <a:pt x="0" y="21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1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934200" y="1438275"/>
            <a:ext cx="449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八册的关系：一条链路，不是八本独立册子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6934200" y="1800225"/>
            <a:ext cx="144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8F99"/>
                </a:solidFill>
                <a:latin typeface="Microsoft YaHei"/>
                <a:ea typeface="Microsoft YaHei"/>
              </a:rPr>
              <a:t>DA / BA / AA / TA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477250" y="1809750"/>
            <a:ext cx="2952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四层架构，方法底座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6934200" y="2066925"/>
            <a:ext cx="4495800" cy="409575"/>
          </a:xfrm>
          <a:custGeom>
            <a:pathLst>
              <a:path w="472" h="43">
                <a:moveTo>
                  <a:pt x="0" y="0"/>
                </a:moveTo>
                <a:lnTo>
                  <a:pt x="472" y="0"/>
                </a:lnTo>
                <a:lnTo>
                  <a:pt x="472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6934200" y="2200275"/>
            <a:ext cx="144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87D2F"/>
                </a:solidFill>
                <a:latin typeface="Microsoft YaHei"/>
                <a:ea typeface="Microsoft YaHei"/>
              </a:rPr>
              <a:t>Ontology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8477250" y="2200275"/>
            <a:ext cx="2952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语义与动力学合一，汇流点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6934200" y="2466975"/>
            <a:ext cx="4495800" cy="400050"/>
          </a:xfrm>
          <a:custGeom>
            <a:pathLst>
              <a:path w="472" h="42">
                <a:moveTo>
                  <a:pt x="0" y="0"/>
                </a:moveTo>
                <a:lnTo>
                  <a:pt x="472" y="0"/>
                </a:lnTo>
                <a:lnTo>
                  <a:pt x="472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6934200" y="2590800"/>
            <a:ext cx="144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知识库</a:t>
            </a: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/ Agent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8477250" y="2600325"/>
            <a:ext cx="2952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非结构化供给与有职权的角色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6934200" y="2857500"/>
            <a:ext cx="4495800" cy="400050"/>
          </a:xfrm>
          <a:custGeom>
            <a:pathLst>
              <a:path w="472" h="42">
                <a:moveTo>
                  <a:pt x="0" y="0"/>
                </a:moveTo>
                <a:lnTo>
                  <a:pt x="472" y="0"/>
                </a:lnTo>
                <a:lnTo>
                  <a:pt x="472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6934200" y="2981325"/>
            <a:ext cx="144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管道处理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8477250" y="2990850"/>
            <a:ext cx="2952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把前面三者接进接出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6743700" y="3438525"/>
            <a:ext cx="4838700" cy="2181225"/>
          </a:xfrm>
          <a:prstGeom prst="roundRect">
            <a:avLst>
              <a:gd name="adj" fmla="val 174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6896100" y="4171950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与前四册的关系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6896100" y="4410075"/>
            <a:ext cx="45339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讲数据分层与元数据，本册讲这些数据怎么持续流过来；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讲应用拓扑，本册讲管道就是其中一类应用；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讲底座能力，本册讲管道对底座的真实要求。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63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02 / 30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142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序论：为什么 4A 之后还要谈&lt;span style={{ color: '#FA4F24' }}&gt;管道处理&lt;/span&gt;&#10;      &lt;/Text&gt;&#10;      &lt;Text style={{ fontSize: 20, color: '#8A8F99', marginTop: 8 }}&gt;&#10;        因为四层架构都是「静态设计」，而本体、Agent、知识库都是「活系统」，它们之间唯一稳定的东西是管道&#10;      &lt;/Text&gt;&#10;    &lt;/Box&gt;&#10;    &lt;Box style={{ height: 1, background: '#E8E8E8' }} /&gt;&#10;&#10;    &lt;Box style={{ paddingTop: 14, paddingBottom: 8, height: 479, flexDirection: 'row', gap: 12 }}&gt;&#10;      &lt;Box style={{ width: 400, background: '#0F1423', borderRadius: 4, padding: '18px 20px', flexDirection: 'column' }}&gt;&#10;        &lt;Text style={{ fontSize: 16, fontWeight: 'bold', color: '#FBA15C' }}&gt;四层架构解决不了的三件事&lt;/Text&gt;&#10;        &lt;Box style={{ height: 1, background: 'rgba(255,255,255,0.14)', marginTop: 12, marginBottom: 12 }} /&gt;&#10;        {[&#10;          { t: '一、静态与活的落差', d: 'DA 画的表结构、AA 画的模块图，都是某一时刻的快照；三个月后它们和真实系统已经有偏差，而偏差没人负责' },&#10;          { t: '二、责任无处安放', d: '口径错、数据晚到、重复处理，这些问题既不属于数据架构，也不属于应用架构，最后落在 nobody 头上' },&#10;          { t: '三、可退能力缺失', d: '出了错只能改代码补救，改完谁也不知道影响了哪些下游——血缘断了，就等于没有架构' },&#10;        ].map((it, i) =&gt; (&#10;          &lt;Box key={it.t} style={{ flex: 1, flexDirection: 'column', justifyContent: 'center' }}&gt;&#10;            &lt;Box style={{ flexDirection: 'row', alignItems: 'center', gap: 8 }}&gt;&#10;              &lt;Box style={{ width: 20, height: 20, background: '#FA4F24', alignItems: 'center', justifyContent: 'center' }}&gt;&#10;                &lt;Text style={{ fontSize: 12, fontWeight: 'bold', color: '#FFFFFF' }}&gt;{String(i + 1)}&lt;/Text&gt;&#10;              &lt;/Box&gt;&#10;              &lt;Text style={{ fontSize: 14, fontWeight: 'bold', color: '#FFFFFF' }}&gt;{it.t}&lt;/Text&gt;&#10;            &lt;/Box&gt;&#10;            &lt;Text style={{ fontSize: 12, color: 'rgba(255,255,255,0.72)', marginTop: 6, lineHeight: 1.55 }}&gt;{it.d}&lt;/Text&gt;&#10;          &lt;/Box&gt;&#10;        ))}&#10;      &lt;/Box&gt;&#10;&#10;      &lt;Box style={{ flex: 1, flexDirection: 'column', gap: 8 }}&gt;&#10;        &lt;Box style={{ height: 168, background: '#F7F7F8', borderRadius: 4, padding: '14px 18px', flexDirection: 'column' }}&gt;&#10;          &lt;Text style={{ fontSize: 15, fontWeight: 'bold', color: '#0F1423', marginBottom: 10 }}&gt;管道处理补上的三块责任&lt;/Text&gt;&#10;          {[&#10;            { b: '时序责任', t: '什么时候进来、多久一次、延迟多少、断了怎么补', c: '#FA4F24' },&#10;            { b: '版本责任', t: '哪一版数据、由哪次同步产生、从哪个分支发布、怎么回滚', c: '#F87D2F' },&#10;            { b: '边界责任', t: '哪些字段能进本体、哪些能出本体、哪些只允许读不允许写', c: '#E0651A' },&#10;          ].map((it, i) =&gt; (&#10;            &lt;Box key={it.b} style={{ flex: 1, flexDirection: 'row', alignItems: 'center', gap: 12, borderTop: i === 0 ? 'none' : '1px solid #E8E8E8' }}&gt;&#10;              &lt;Text style={{ fontSize: 13, fontWeight: 'bold', color: it.c, width: 84 }}&gt;{it.b}&lt;/Text&gt;&#10;              &lt;Text style={{ fontSize: 12, color: '#3A4050', flex: 1 }}&gt;{it.t}&lt;/Text&gt;&#10;            &lt;/Box&gt;&#10;          ))}&#10;        &lt;/Box&gt;&#10;&#10;        &lt;Box style={{ height: 132, background: '#FFF3EE', borderRadius: 4, borderLeft: '4px solid #FA4F24', padding: '12px 18px', flexDirection: 'column' }}&gt;&#10;          &lt;Text style={{ fontSize: 15, fontWeight: 'bold', color: '#C43A17' }}&gt;它为什么算一个业务应用&lt;/Text&gt;&#10;          &lt;Text style={{ fontSize: 12.5, color: '#3A4050', marginTop: 8, lineHeight: 1.6 }}&gt;&#10;            因为它有业务责任人（口径由谁定）、有业务产出物（映射表、血缘矩阵、发布记录）、有生命周期（从批到增到流再退役）、有服务对象（本体与所有调用方）。这三样齐全，就不是一个 ETL 作业，而是一个可以立项、可以验收、可以被审计的应用。&#10;          &lt;/Text&gt;&#10;        &lt;/Box&gt;&#10;&#10;        &lt;Box style={{ flex: 1, background: '#0F1423', borderRadius: 4, padding: '12px 18px', flexDirection: 'column', justifyContent: 'center' }}&gt;&#10;          &lt;Text style={{ fontSize: 14, fontWeight: 'bold', color: '#FBA15C' }}&gt;本册的一句话主张&lt;/Text&gt;&#10;          &lt;Text style={{ fontSize: 15, color: '#FFFFFF', marginTop: 8, lineHeight: 1.5 }}&gt;&#10;            数据进出本体，必须&lt;span style={{ color: '#FA4F24' }}&gt;可管、可追、可退&lt;/span&gt;。做不到这三条，Ontology 只是一张漂亮的关系图。&#10;          &lt;/Text&gt;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03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4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序论：为什么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之后还要谈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管道处理</a:t>
            </a:r>
            <a:endParaRPr/>
          </a:p>
        </p:txBody>
      </p:sp>
      <p:sp>
        <p:nvSpPr>
          <p:cNvPr id="114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因为四层架构都是「静态设计」，而本体、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>Agent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、知识库都是「活系统」，它们之间唯一稳定的东西是管道</a:t>
            </a:r>
            <a:endParaRPr/>
          </a:p>
        </p:txBody>
      </p:sp>
      <p:sp>
        <p:nvSpPr>
          <p:cNvPr id="114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47" name=""/>
          <p:cNvSpPr/>
          <p:nvPr/>
        </p:nvSpPr>
        <p:spPr>
          <a:xfrm rot="0" flipH="0" flipV="0">
            <a:off x="609600" y="1285875"/>
            <a:ext cx="3810000" cy="4352925"/>
          </a:xfrm>
          <a:prstGeom prst="roundRect">
            <a:avLst>
              <a:gd name="adj" fmla="val 1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48" name="" descr="{&quot;isTemplate&quot;:true,&quot;type&quot;:&quot;text&quot;}"/>
          <p:cNvSpPr txBox="1"/>
          <p:nvPr/>
        </p:nvSpPr>
        <p:spPr>
          <a:xfrm rot="0" flipH="0" flipV="0">
            <a:off x="800100" y="1457325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BA15C"/>
                </a:solidFill>
                <a:latin typeface="Microsoft YaHei"/>
                <a:ea typeface="Microsoft YaHei"/>
              </a:rPr>
              <a:t>四层架构解决不了的三件事</a:t>
            </a:r>
            <a:endParaRPr/>
          </a:p>
        </p:txBody>
      </p:sp>
      <p:sp>
        <p:nvSpPr>
          <p:cNvPr id="1149" name=""/>
          <p:cNvSpPr/>
          <p:nvPr/>
        </p:nvSpPr>
        <p:spPr>
          <a:xfrm rot="0" flipH="0" flipV="0">
            <a:off x="800100" y="1762125"/>
            <a:ext cx="3429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1150" name=""/>
          <p:cNvSpPr/>
          <p:nvPr/>
        </p:nvSpPr>
        <p:spPr>
          <a:xfrm rot="0" flipH="0" flipV="0">
            <a:off x="800100" y="2143125"/>
            <a:ext cx="190500" cy="1905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51" name="" descr="{&quot;isTemplate&quot;:true,&quot;type&quot;:&quot;text&quot;}"/>
          <p:cNvSpPr txBox="1"/>
          <p:nvPr/>
        </p:nvSpPr>
        <p:spPr>
          <a:xfrm rot="0" flipH="0" flipV="0">
            <a:off x="857250" y="217170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152" name="" descr="{&quot;isTemplate&quot;:true,&quot;type&quot;:&quot;text&quot;}"/>
          <p:cNvSpPr txBox="1"/>
          <p:nvPr/>
        </p:nvSpPr>
        <p:spPr>
          <a:xfrm rot="0" flipH="0" flipV="0">
            <a:off x="1066800" y="216217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一、静态与活的落差</a:t>
            </a:r>
            <a:endParaRPr/>
          </a:p>
        </p:txBody>
      </p:sp>
      <p:sp>
        <p:nvSpPr>
          <p:cNvPr id="1153" name="" descr="{&quot;isTemplate&quot;:true,&quot;type&quot;:&quot;text&quot;}"/>
          <p:cNvSpPr txBox="1"/>
          <p:nvPr/>
        </p:nvSpPr>
        <p:spPr>
          <a:xfrm rot="0" flipH="0" flipV="0">
            <a:off x="800100" y="2390775"/>
            <a:ext cx="34290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画的表结构、</a:t>
            </a:r>
            <a:r>
              <a:rPr lang="en-US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画的模块图，都是某一时刻的快照；三个月后它们和真实系统已经有偏差，而偏差没人负责</a:t>
            </a:r>
            <a:endParaRPr/>
          </a:p>
        </p:txBody>
      </p:sp>
      <p:sp>
        <p:nvSpPr>
          <p:cNvPr id="1154" name=""/>
          <p:cNvSpPr/>
          <p:nvPr/>
        </p:nvSpPr>
        <p:spPr>
          <a:xfrm rot="0" flipH="0" flipV="0">
            <a:off x="800100" y="3343275"/>
            <a:ext cx="190500" cy="1905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55" name="" descr="{&quot;isTemplate&quot;:true,&quot;type&quot;:&quot;text&quot;}"/>
          <p:cNvSpPr txBox="1"/>
          <p:nvPr/>
        </p:nvSpPr>
        <p:spPr>
          <a:xfrm rot="0" flipH="0" flipV="0">
            <a:off x="857250" y="337185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156" name="" descr="{&quot;isTemplate&quot;:true,&quot;type&quot;:&quot;text&quot;}"/>
          <p:cNvSpPr txBox="1"/>
          <p:nvPr/>
        </p:nvSpPr>
        <p:spPr>
          <a:xfrm rot="0" flipH="0" flipV="0">
            <a:off x="1066800" y="336232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二、责任无处安放</a:t>
            </a:r>
            <a:endParaRPr/>
          </a:p>
        </p:txBody>
      </p:sp>
      <p:sp>
        <p:nvSpPr>
          <p:cNvPr id="1157" name="" descr="{&quot;isTemplate&quot;:true,&quot;type&quot;:&quot;text&quot;}"/>
          <p:cNvSpPr txBox="1"/>
          <p:nvPr/>
        </p:nvSpPr>
        <p:spPr>
          <a:xfrm rot="0" flipH="0" flipV="0">
            <a:off x="800100" y="3590925"/>
            <a:ext cx="34290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口径错、数据晚到、重复处理，这些问题既不属于数据架构，也不属于应用架构，最后落在</a:t>
            </a:r>
            <a:r>
              <a:rPr lang="en-US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 nobody </a:t>
            </a:r>
            <a:r>
              <a:rPr lang="zh-CN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头上</a:t>
            </a:r>
            <a:endParaRPr/>
          </a:p>
        </p:txBody>
      </p:sp>
      <p:sp>
        <p:nvSpPr>
          <p:cNvPr id="1158" name=""/>
          <p:cNvSpPr/>
          <p:nvPr/>
        </p:nvSpPr>
        <p:spPr>
          <a:xfrm rot="0" flipH="0" flipV="0">
            <a:off x="800100" y="4533900"/>
            <a:ext cx="190500" cy="1905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59" name="" descr="{&quot;isTemplate&quot;:true,&quot;type&quot;:&quot;text&quot;}"/>
          <p:cNvSpPr txBox="1"/>
          <p:nvPr/>
        </p:nvSpPr>
        <p:spPr>
          <a:xfrm rot="0" flipH="0" flipV="0">
            <a:off x="857250" y="45624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160" name="" descr="{&quot;isTemplate&quot;:true,&quot;type&quot;:&quot;text&quot;}"/>
          <p:cNvSpPr txBox="1"/>
          <p:nvPr/>
        </p:nvSpPr>
        <p:spPr>
          <a:xfrm rot="0" flipH="0" flipV="0">
            <a:off x="1066800" y="455295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三、可退能力缺失</a:t>
            </a:r>
            <a:endParaRPr/>
          </a:p>
        </p:txBody>
      </p:sp>
      <p:sp>
        <p:nvSpPr>
          <p:cNvPr id="1161" name="" descr="{&quot;isTemplate&quot;:true,&quot;type&quot;:&quot;text&quot;}"/>
          <p:cNvSpPr txBox="1"/>
          <p:nvPr/>
        </p:nvSpPr>
        <p:spPr>
          <a:xfrm rot="0" flipH="0" flipV="0">
            <a:off x="800100" y="4781550"/>
            <a:ext cx="34290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出了错只能改代码补救，改完谁也不知道影响了哪些下游——血缘断了，就等于没有架构</a:t>
            </a:r>
            <a:endParaRPr/>
          </a:p>
        </p:txBody>
      </p:sp>
      <p:sp>
        <p:nvSpPr>
          <p:cNvPr id="1162" name=""/>
          <p:cNvSpPr/>
          <p:nvPr/>
        </p:nvSpPr>
        <p:spPr>
          <a:xfrm rot="0" flipH="0" flipV="0">
            <a:off x="4533900" y="1285875"/>
            <a:ext cx="7048500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63" name="" descr="{&quot;isTemplate&quot;:true,&quot;type&quot;:&quot;text&quot;}"/>
          <p:cNvSpPr txBox="1"/>
          <p:nvPr/>
        </p:nvSpPr>
        <p:spPr>
          <a:xfrm rot="0" flipH="0" flipV="0">
            <a:off x="4705350" y="1419225"/>
            <a:ext cx="670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管道处理补上的三块责任</a:t>
            </a:r>
            <a:endParaRPr/>
          </a:p>
        </p:txBody>
      </p:sp>
      <p:sp>
        <p:nvSpPr>
          <p:cNvPr id="1164" name="" descr="{&quot;isTemplate&quot;:true,&quot;type&quot;:&quot;text&quot;}"/>
          <p:cNvSpPr txBox="1"/>
          <p:nvPr/>
        </p:nvSpPr>
        <p:spPr>
          <a:xfrm rot="0" flipH="0" flipV="0">
            <a:off x="4705350" y="1790700"/>
            <a:ext cx="80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时序责任</a:t>
            </a:r>
            <a:endParaRPr/>
          </a:p>
        </p:txBody>
      </p:sp>
      <p:sp>
        <p:nvSpPr>
          <p:cNvPr id="1165" name="" descr="{&quot;isTemplate&quot;:true,&quot;type&quot;:&quot;text&quot;}"/>
          <p:cNvSpPr txBox="1"/>
          <p:nvPr/>
        </p:nvSpPr>
        <p:spPr>
          <a:xfrm rot="0" flipH="0" flipV="0">
            <a:off x="5619750" y="1790700"/>
            <a:ext cx="5791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什么时候进来、多久一次、延迟多少、断了怎么补</a:t>
            </a:r>
            <a:endParaRPr/>
          </a:p>
        </p:txBody>
      </p:sp>
      <p:sp>
        <p:nvSpPr>
          <p:cNvPr id="1166" name=""/>
          <p:cNvSpPr/>
          <p:nvPr/>
        </p:nvSpPr>
        <p:spPr>
          <a:xfrm rot="0" flipH="0" flipV="0">
            <a:off x="4705350" y="2038350"/>
            <a:ext cx="6705600" cy="361950"/>
          </a:xfrm>
          <a:custGeom>
            <a:pathLst>
              <a:path w="704" h="38">
                <a:moveTo>
                  <a:pt x="0" y="0"/>
                </a:moveTo>
                <a:lnTo>
                  <a:pt x="704" y="0"/>
                </a:lnTo>
                <a:lnTo>
                  <a:pt x="704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67" name="" descr="{&quot;isTemplate&quot;:true,&quot;type&quot;:&quot;text&quot;}"/>
          <p:cNvSpPr txBox="1"/>
          <p:nvPr/>
        </p:nvSpPr>
        <p:spPr>
          <a:xfrm rot="0" flipH="0" flipV="0">
            <a:off x="4705350" y="2143125"/>
            <a:ext cx="80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87D2F"/>
                </a:solidFill>
                <a:latin typeface="Microsoft YaHei"/>
                <a:ea typeface="Microsoft YaHei"/>
              </a:rPr>
              <a:t>版本责任</a:t>
            </a:r>
            <a:endParaRPr/>
          </a:p>
        </p:txBody>
      </p:sp>
      <p:sp>
        <p:nvSpPr>
          <p:cNvPr id="1168" name="" descr="{&quot;isTemplate&quot;:true,&quot;type&quot;:&quot;text&quot;}"/>
          <p:cNvSpPr txBox="1"/>
          <p:nvPr/>
        </p:nvSpPr>
        <p:spPr>
          <a:xfrm rot="0" flipH="0" flipV="0">
            <a:off x="5619750" y="2152650"/>
            <a:ext cx="5791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哪一版数据、由哪次同步产生、从哪个分支发布、怎么回滚</a:t>
            </a:r>
            <a:endParaRPr/>
          </a:p>
        </p:txBody>
      </p:sp>
      <p:sp>
        <p:nvSpPr>
          <p:cNvPr id="1169" name=""/>
          <p:cNvSpPr/>
          <p:nvPr/>
        </p:nvSpPr>
        <p:spPr>
          <a:xfrm rot="0" flipH="0" flipV="0">
            <a:off x="4705350" y="2390775"/>
            <a:ext cx="6705600" cy="371475"/>
          </a:xfrm>
          <a:custGeom>
            <a:pathLst>
              <a:path w="704" h="39">
                <a:moveTo>
                  <a:pt x="0" y="0"/>
                </a:moveTo>
                <a:lnTo>
                  <a:pt x="704" y="0"/>
                </a:lnTo>
                <a:lnTo>
                  <a:pt x="704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70" name="" descr="{&quot;isTemplate&quot;:true,&quot;type&quot;:&quot;text&quot;}"/>
          <p:cNvSpPr txBox="1"/>
          <p:nvPr/>
        </p:nvSpPr>
        <p:spPr>
          <a:xfrm rot="0" flipH="0" flipV="0">
            <a:off x="4705350" y="2505075"/>
            <a:ext cx="80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0651A"/>
                </a:solidFill>
                <a:latin typeface="Microsoft YaHei"/>
                <a:ea typeface="Microsoft YaHei"/>
              </a:rPr>
              <a:t>边界责任</a:t>
            </a:r>
            <a:endParaRPr/>
          </a:p>
        </p:txBody>
      </p:sp>
      <p:sp>
        <p:nvSpPr>
          <p:cNvPr id="1171" name="" descr="{&quot;isTemplate&quot;:true,&quot;type&quot;:&quot;text&quot;}"/>
          <p:cNvSpPr txBox="1"/>
          <p:nvPr/>
        </p:nvSpPr>
        <p:spPr>
          <a:xfrm rot="0" flipH="0" flipV="0">
            <a:off x="5619750" y="2505075"/>
            <a:ext cx="5791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哪些字段能进本体、哪些能出本体、哪些只允许读不允许写</a:t>
            </a:r>
            <a:endParaRPr/>
          </a:p>
        </p:txBody>
      </p:sp>
      <p:sp>
        <p:nvSpPr>
          <p:cNvPr id="1172" name=""/>
          <p:cNvSpPr/>
          <p:nvPr/>
        </p:nvSpPr>
        <p:spPr>
          <a:xfrm rot="0" flipH="0" flipV="0">
            <a:off x="4572000" y="2962275"/>
            <a:ext cx="7048500" cy="1257300"/>
          </a:xfrm>
          <a:prstGeom prst="roundRect">
            <a:avLst>
              <a:gd name="adj" fmla="val 303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73" name=""/>
          <p:cNvSpPr/>
          <p:nvPr/>
        </p:nvSpPr>
        <p:spPr>
          <a:xfrm rot="0" flipH="0" flipV="0">
            <a:off x="4572000" y="2962275"/>
            <a:ext cx="7048500" cy="1257300"/>
          </a:xfrm>
          <a:custGeom>
            <a:pathLst>
              <a:path w="740" h="132">
                <a:moveTo>
                  <a:pt x="4" y="132"/>
                </a:moveTo>
                <a:cubicBezTo>
                  <a:pt x="2" y="132"/>
                  <a:pt x="0" y="130"/>
                  <a:pt x="0" y="12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3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74" name="" descr="{&quot;isTemplate&quot;:true,&quot;type&quot;:&quot;text&quot;}"/>
          <p:cNvSpPr txBox="1"/>
          <p:nvPr/>
        </p:nvSpPr>
        <p:spPr>
          <a:xfrm rot="0" flipH="0" flipV="0">
            <a:off x="4743450" y="3076575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它为什么算一个业务应用</a:t>
            </a:r>
            <a:endParaRPr/>
          </a:p>
        </p:txBody>
      </p:sp>
      <p:sp>
        <p:nvSpPr>
          <p:cNvPr id="1175" name="" descr="{&quot;isTemplate&quot;:true,&quot;type&quot;:&quot;text&quot;}"/>
          <p:cNvSpPr txBox="1"/>
          <p:nvPr/>
        </p:nvSpPr>
        <p:spPr>
          <a:xfrm rot="0" flipH="0" flipV="0">
            <a:off x="4743450" y="3324225"/>
            <a:ext cx="66675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因为它有业务责任人（口径由谁定）、有业务产出物（映射表、血缘矩阵、发布记录）、有生命周期（从批到增到流再退役）、有服务对象（本体与所有调用方）。这三样齐全，就不是一个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ETL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作业，而是一个可以立项、可以验收、可以被审计的应用。</a:t>
            </a:r>
            <a:endParaRPr/>
          </a:p>
        </p:txBody>
      </p:sp>
      <p:sp>
        <p:nvSpPr>
          <p:cNvPr id="1176" name=""/>
          <p:cNvSpPr/>
          <p:nvPr/>
        </p:nvSpPr>
        <p:spPr>
          <a:xfrm rot="0" flipH="0" flipV="0">
            <a:off x="4533900" y="4295775"/>
            <a:ext cx="7048500" cy="1343025"/>
          </a:xfrm>
          <a:prstGeom prst="roundRect">
            <a:avLst>
              <a:gd name="adj" fmla="val 283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77" name="" descr="{&quot;isTemplate&quot;:true,&quot;type&quot;:&quot;text&quot;}"/>
          <p:cNvSpPr txBox="1"/>
          <p:nvPr/>
        </p:nvSpPr>
        <p:spPr>
          <a:xfrm rot="0" flipH="0" flipV="0">
            <a:off x="4705350" y="4724400"/>
            <a:ext cx="670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本册的一句话主张</a:t>
            </a:r>
            <a:endParaRPr/>
          </a:p>
        </p:txBody>
      </p:sp>
      <p:sp>
        <p:nvSpPr>
          <p:cNvPr id="1178" name="" descr="{&quot;isTemplate&quot;:true,&quot;type&quot;:&quot;text&quot;}"/>
          <p:cNvSpPr txBox="1"/>
          <p:nvPr/>
        </p:nvSpPr>
        <p:spPr>
          <a:xfrm rot="0" flipH="0" flipV="0">
            <a:off x="4705350" y="4962525"/>
            <a:ext cx="6705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数据进出本体，必须</a:t>
            </a:r>
            <a:r>
              <a:rPr lang="zh-CN" sz="1125">
                <a:solidFill>
                  <a:srgbClr val="FA4F24"/>
                </a:solidFill>
                <a:latin typeface="Microsoft YaHei"/>
                <a:ea typeface="Microsoft YaHei"/>
              </a:rPr>
              <a:t>可管、可追、可退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。做不到这三条，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Ontology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只是一张漂亮的关系图。</a:t>
            </a:r>
            <a:endParaRPr/>
          </a:p>
        </p:txBody>
      </p:sp>
      <p:sp>
        <p:nvSpPr>
          <p:cNvPr id="1179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80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81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1182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03 / 30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248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之路径：&lt;span style={{ color: '#FA4F24' }}&gt;Approach 八阶段&lt;/span&gt;，先做什么后做什么、每步产出什么&#10;      &lt;/Text&gt;&#10;      &lt;Text style={{ fontSize: 20, color: '#8A8F99', marginTop: 8 }}&gt;&#10;        前两阶段定口径，中间三阶段定版本与发布，后三阶段定可观测与演进；顺序颠倒的代价是把口径问题拖到上线后爆&#10;      &lt;/Text&gt;&#10;    &lt;/Box&gt;&#10;    &lt;Box style={{ height: 1, background: '#E8E8E8' }} /&gt;&#10;&#10;    &lt;Box style={{ paddingTop: 14, paddingBottom: 8, height: 479, flexDirection: 'column', gap: 7 }}&gt;&#10;      &lt;Box style={{ flexDirection: 'row', gap: 7 }}&gt;&#10;        &lt;Box style={{ width: 46, background: '#0F1423', alignItems: 'center', justifyContent: 'center' }}&gt;&lt;Text style={{ fontSize: 11, fontWeight: 'bold', color: '#FFFFFF' }}&gt;阶段&lt;/Text&gt;&lt;/Box&gt;&#10;        &lt;Box style={{ width: 46, background: '#0F1423', alignItems: 'center', justifyContent: 'center' }}&gt;&lt;Text style={{ fontSize: 11, fontWeight: 'bold', color: '#FFFFFF' }}&gt;性质&lt;/Text&gt;&lt;/Box&gt;&#10;        &lt;Box style={{ flex: 1, background: '#0F1423', padding: '0 12px', justifyContent: 'center' }}&gt;&lt;Text style={{ fontSize: 11, fontWeight: 'bold', color: '#FFFFFF' }}&gt;这一步做什么&lt;/Text&gt;&lt;/Box&gt;&#10;        &lt;Box style={{ width: 340, background: '#0F1423', padding: '0 12px', justifyContent: 'center' }}&gt;&lt;Text style={{ fontSize: 11, fontWeight: 'bold', color: '#FFFFFF' }}&gt;产出物&lt;/Text&gt;&lt;/Box&gt;&#10;      &lt;/Box&gt;&#10;&#10;      {[&#10;        { n: '1', k: '治理', t: '盘点源系统与要支撑的场景，先定「为谁而建」', o: '源清单 + 场景清单', c: '#FA4F24' },&#10;        { n: '2', k: '治理', t: '定口径、划边界，设计数据集到本体对象的映射', o: '口径字典 + 本体映射表', c: '#FA4F24' },&#10;        { n: '3', k: '设计', t: '设计连接方式、同步频率、批次与事务粒度', o: '接入方案 + 同步模式表', c: '#F87D2F' },&#10;        { n: '4', k: '设计', t: '设计加工逻辑、清洗规则与五类健康检查', o: '加工逻辑规范 + 质量规则表', c: '#F87D2F' },&#10;        { n: '5', k: '治理', t: '设计版本策略、事务粒度与三层血缘矩阵', o: '版本策略 + 血缘矩阵', c: '#E0651A' },&#10;        { n: '6', k: '工程', t: '设计分支规范、评审、发布与回滚流程', o: '分支规范 + 发布检查表', c: '#E0651A' },&#10;        { n: '7', k: '工程', t: '设计可观测：状态、时间、规模、内容、模式五维检查', o: '健康检查清单 + 告警矩阵', c: '#C43A17' },&#10;        { n: '8', k: '运营', t: '设计演进路线（批→增→流）与旧管道退役预案', o: '演进路线图 + 退役预案', c: '#C43A17' },&#10;      ].map((it, i) =&gt; (&#10;        &lt;Box key={it.n} style={{ flex: 1, flexDirection: 'row', gap: 7 }}&gt;&#10;          &lt;Box style={{ width: 46, background: '#F7F7F8', alignItems: 'center', justifyContent: 'center' }}&gt;&#10;            &lt;Text style={{ fontSize: 20, fontWeight: 'bold', color: it.c }}&gt;{it.n}&lt;/Text&gt;&#10;          &lt;/Box&gt;&#10;          &lt;Box style={{ width: 46, background: it.k === '治理' ? '#FFF3EE' : '#F7F7F8', alignItems: 'center', justifyContent: 'center' }}&gt;&#10;            &lt;Text style={{ fontSize: 12, fontWeight: 'bold', color: it.c }}&gt;{it.k}&lt;/Text&gt;&#10;          &lt;/Box&gt;&#10;          &lt;Box style={{ flex: 1, background: '#F7F7F8', padding: '0 12px', justifyContent: 'center' }}&gt;&#10;            &lt;Text style={{ fontSize: 13, color: '#0F1423' }}&gt;{it.t}&lt;/Text&gt;&#10;          &lt;/Box&gt;&#10;          &lt;Box style={{ width: 340, background: '#FFF3EE', padding: '0 12px', justifyContent: 'center', borderLeft: '2px solid #FBA15C' }}&gt;&#10;            &lt;Text style={{ fontSize: 12, fontWeight: 'bold', color: '#C43A17' }}&gt;{it.o}&lt;/Text&gt;&#10;          &lt;/Box&gt;&#10;        &lt;/Box&gt;&#10;      ))}&#10;&#10;      &lt;Box style={{ height: 62, background: '#0F1423', borderRadius: 4, padding: '0 18px', flexDirection: 'row', alignItems: 'center', gap: 12 }}&gt;&#10;        &lt;Text style={{ fontSize: 14, fontWeight: 'bold', color: '#FBA15C', width: 128 }}&gt;三条硬规则&lt;/Text&gt;&#10;        &lt;Box style={{ flex: 1, flexDirection: 'row', gap: 10 }}&gt;&#10;          {[&#10;            { n: '先 batch 后流', d: '先批后增再流，倒过来复杂度指数上升' },&#10;            { n: '先只读后写回', d: '读数跑稳了，再谈 Action 写本体' },&#10;            { n: '先血缘后生产', d: '没有血缘和健康检查，不许上生产' },&#10;          ].map((x, i) =&gt; (&#10;            &lt;Box key={x.n} style={{ flex: 1, background: 'rgba(255,255,255,0.07)', borderRadius: 3, padding: '6px 10px' }}&gt;&#10;              &lt;Box style={{ flexDirection: 'row', alignItems: 'center', gap: 7 }}&gt;&#10;                &lt;Text style={{ fontSize: 11, fontWeight: 'bold', color: '#FA4F24' }}&gt;{String(i + 1)}&lt;/Text&gt;&#10;                &lt;Text style={{ fontSize: 13, fontWeight: 'bold', color: '#FFFFFF' }}&gt;{x.n}&lt;/Text&gt;&#10;              &lt;/Box&gt;&#10;              &lt;Text style={{ fontSize: 10, color: 'rgba(255,255,255,0.6)', marginTop: 2 }}&gt;{x.d}&lt;/Text&gt;&#10;            &lt;/Box&gt;&#10;          ))}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04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5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之路径：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Approach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八阶段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，先做什么后做什么、每步产出什么</a:t>
            </a:r>
            <a:endParaRPr/>
          </a:p>
        </p:txBody>
      </p:sp>
      <p:sp>
        <p:nvSpPr>
          <p:cNvPr id="125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前两阶段定口径，中间三阶段定版本与发布，后三阶段定可观测与演进；顺序颠倒的代价是把口径问题拖到上线后爆</a:t>
            </a:r>
            <a:endParaRPr/>
          </a:p>
        </p:txBody>
      </p:sp>
      <p:sp>
        <p:nvSpPr>
          <p:cNvPr id="125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53" name=""/>
          <p:cNvSpPr/>
          <p:nvPr/>
        </p:nvSpPr>
        <p:spPr>
          <a:xfrm rot="0" flipH="0" flipV="0">
            <a:off x="609600" y="1285875"/>
            <a:ext cx="438150" cy="1333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54" name="" descr="{&quot;isTemplate&quot;:true,&quot;type&quot;:&quot;text&quot;}"/>
          <p:cNvSpPr txBox="1"/>
          <p:nvPr/>
        </p:nvSpPr>
        <p:spPr>
          <a:xfrm rot="0" flipH="0" flipV="0">
            <a:off x="723900" y="1285875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阶段</a:t>
            </a:r>
            <a:endParaRPr/>
          </a:p>
        </p:txBody>
      </p:sp>
      <p:sp>
        <p:nvSpPr>
          <p:cNvPr id="1255" name=""/>
          <p:cNvSpPr/>
          <p:nvPr/>
        </p:nvSpPr>
        <p:spPr>
          <a:xfrm rot="0" flipH="0" flipV="0">
            <a:off x="1114425" y="1285875"/>
            <a:ext cx="438150" cy="1333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56" name="" descr="{&quot;isTemplate&quot;:true,&quot;type&quot;:&quot;text&quot;}"/>
          <p:cNvSpPr txBox="1"/>
          <p:nvPr/>
        </p:nvSpPr>
        <p:spPr>
          <a:xfrm rot="0" flipH="0" flipV="0">
            <a:off x="1228725" y="1285875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性质</a:t>
            </a:r>
            <a:endParaRPr/>
          </a:p>
        </p:txBody>
      </p:sp>
      <p:sp>
        <p:nvSpPr>
          <p:cNvPr id="1257" name=""/>
          <p:cNvSpPr/>
          <p:nvPr/>
        </p:nvSpPr>
        <p:spPr>
          <a:xfrm rot="0" flipH="0" flipV="0">
            <a:off x="1619250" y="1285875"/>
            <a:ext cx="6657975" cy="1333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58" name="" descr="{&quot;isTemplate&quot;:true,&quot;type&quot;:&quot;text&quot;}"/>
          <p:cNvSpPr txBox="1"/>
          <p:nvPr/>
        </p:nvSpPr>
        <p:spPr>
          <a:xfrm rot="0" flipH="0" flipV="0">
            <a:off x="1733550" y="1285875"/>
            <a:ext cx="6429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这一步做什么</a:t>
            </a:r>
            <a:endParaRPr/>
          </a:p>
        </p:txBody>
      </p:sp>
      <p:sp>
        <p:nvSpPr>
          <p:cNvPr id="1259" name=""/>
          <p:cNvSpPr/>
          <p:nvPr/>
        </p:nvSpPr>
        <p:spPr>
          <a:xfrm rot="0" flipH="0" flipV="0">
            <a:off x="8343900" y="1285875"/>
            <a:ext cx="3238500" cy="1333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60" name="" descr="{&quot;isTemplate&quot;:true,&quot;type&quot;:&quot;text&quot;}"/>
          <p:cNvSpPr txBox="1"/>
          <p:nvPr/>
        </p:nvSpPr>
        <p:spPr>
          <a:xfrm rot="0" flipH="0" flipV="0">
            <a:off x="8458200" y="1285875"/>
            <a:ext cx="3009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产出物</a:t>
            </a:r>
            <a:endParaRPr/>
          </a:p>
        </p:txBody>
      </p:sp>
      <p:sp>
        <p:nvSpPr>
          <p:cNvPr id="1261" name=""/>
          <p:cNvSpPr/>
          <p:nvPr/>
        </p:nvSpPr>
        <p:spPr>
          <a:xfrm rot="0" flipH="0" flipV="0">
            <a:off x="609600" y="1485900"/>
            <a:ext cx="4381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62" name="" descr="{&quot;isTemplate&quot;:true,&quot;type&quot;:&quot;text&quot;}"/>
          <p:cNvSpPr txBox="1"/>
          <p:nvPr/>
        </p:nvSpPr>
        <p:spPr>
          <a:xfrm rot="0" flipH="0" flipV="0">
            <a:off x="771525" y="15621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263" name=""/>
          <p:cNvSpPr/>
          <p:nvPr/>
        </p:nvSpPr>
        <p:spPr>
          <a:xfrm rot="0" flipH="0" flipV="0">
            <a:off x="1114425" y="1485900"/>
            <a:ext cx="43815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64" name="" descr="{&quot;isTemplate&quot;:true,&quot;type&quot;:&quot;text&quot;}"/>
          <p:cNvSpPr txBox="1"/>
          <p:nvPr/>
        </p:nvSpPr>
        <p:spPr>
          <a:xfrm rot="0" flipH="0" flipV="0">
            <a:off x="1219200" y="16097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治理</a:t>
            </a:r>
            <a:endParaRPr/>
          </a:p>
        </p:txBody>
      </p:sp>
      <p:sp>
        <p:nvSpPr>
          <p:cNvPr id="1265" name=""/>
          <p:cNvSpPr/>
          <p:nvPr/>
        </p:nvSpPr>
        <p:spPr>
          <a:xfrm rot="0" flipH="0" flipV="0">
            <a:off x="1619250" y="1485900"/>
            <a:ext cx="6657975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66" name="" descr="{&quot;isTemplate&quot;:true,&quot;type&quot;:&quot;text&quot;}"/>
          <p:cNvSpPr txBox="1"/>
          <p:nvPr/>
        </p:nvSpPr>
        <p:spPr>
          <a:xfrm rot="0" flipH="0" flipV="0">
            <a:off x="1733550" y="1600200"/>
            <a:ext cx="642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盘点源系统与要支撑的场景，先定「为谁而建」</a:t>
            </a:r>
            <a:endParaRPr/>
          </a:p>
        </p:txBody>
      </p:sp>
      <p:sp>
        <p:nvSpPr>
          <p:cNvPr id="1267" name=""/>
          <p:cNvSpPr/>
          <p:nvPr/>
        </p:nvSpPr>
        <p:spPr>
          <a:xfrm rot="0" flipH="0" flipV="0">
            <a:off x="8362950" y="1485900"/>
            <a:ext cx="321945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68" name=""/>
          <p:cNvSpPr/>
          <p:nvPr/>
        </p:nvSpPr>
        <p:spPr>
          <a:xfrm rot="0" flipH="0" flipV="0">
            <a:off x="8343900" y="1485900"/>
            <a:ext cx="3238500" cy="381000"/>
          </a:xfrm>
          <a:custGeom>
            <a:pathLst>
              <a:path w="340" h="40">
                <a:moveTo>
                  <a:pt x="0" y="0"/>
                </a:moveTo>
                <a:lnTo>
                  <a:pt x="2" y="0"/>
                </a:lnTo>
                <a:lnTo>
                  <a:pt x="2" y="40"/>
                </a:lnTo>
                <a:lnTo>
                  <a:pt x="0" y="4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269" name="" descr="{&quot;isTemplate&quot;:true,&quot;type&quot;:&quot;text&quot;}"/>
          <p:cNvSpPr txBox="1"/>
          <p:nvPr/>
        </p:nvSpPr>
        <p:spPr>
          <a:xfrm rot="0" flipH="0" flipV="0">
            <a:off x="8477250" y="1609725"/>
            <a:ext cx="2990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源清单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场景清单</a:t>
            </a:r>
            <a:endParaRPr/>
          </a:p>
        </p:txBody>
      </p:sp>
      <p:sp>
        <p:nvSpPr>
          <p:cNvPr id="1270" name=""/>
          <p:cNvSpPr/>
          <p:nvPr/>
        </p:nvSpPr>
        <p:spPr>
          <a:xfrm rot="0" flipH="0" flipV="0">
            <a:off x="609600" y="1933575"/>
            <a:ext cx="4381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71" name="" descr="{&quot;isTemplate&quot;:true,&quot;type&quot;:&quot;text&quot;}"/>
          <p:cNvSpPr txBox="1"/>
          <p:nvPr/>
        </p:nvSpPr>
        <p:spPr>
          <a:xfrm rot="0" flipH="0" flipV="0">
            <a:off x="771525" y="20097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272" name=""/>
          <p:cNvSpPr/>
          <p:nvPr/>
        </p:nvSpPr>
        <p:spPr>
          <a:xfrm rot="0" flipH="0" flipV="0">
            <a:off x="1114425" y="1933575"/>
            <a:ext cx="43815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73" name="" descr="{&quot;isTemplate&quot;:true,&quot;type&quot;:&quot;text&quot;}"/>
          <p:cNvSpPr txBox="1"/>
          <p:nvPr/>
        </p:nvSpPr>
        <p:spPr>
          <a:xfrm rot="0" flipH="0" flipV="0">
            <a:off x="1219200" y="205740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治理</a:t>
            </a:r>
            <a:endParaRPr/>
          </a:p>
        </p:txBody>
      </p:sp>
      <p:sp>
        <p:nvSpPr>
          <p:cNvPr id="1274" name=""/>
          <p:cNvSpPr/>
          <p:nvPr/>
        </p:nvSpPr>
        <p:spPr>
          <a:xfrm rot="0" flipH="0" flipV="0">
            <a:off x="1619250" y="1933575"/>
            <a:ext cx="6657975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75" name="" descr="{&quot;isTemplate&quot;:true,&quot;type&quot;:&quot;text&quot;}"/>
          <p:cNvSpPr txBox="1"/>
          <p:nvPr/>
        </p:nvSpPr>
        <p:spPr>
          <a:xfrm rot="0" flipH="0" flipV="0">
            <a:off x="1733550" y="2047875"/>
            <a:ext cx="642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定口径、划边界，设计数据集到本体对象的映射</a:t>
            </a:r>
            <a:endParaRPr/>
          </a:p>
        </p:txBody>
      </p:sp>
      <p:sp>
        <p:nvSpPr>
          <p:cNvPr id="1276" name=""/>
          <p:cNvSpPr/>
          <p:nvPr/>
        </p:nvSpPr>
        <p:spPr>
          <a:xfrm rot="0" flipH="0" flipV="0">
            <a:off x="8362950" y="1933575"/>
            <a:ext cx="321945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77" name=""/>
          <p:cNvSpPr/>
          <p:nvPr/>
        </p:nvSpPr>
        <p:spPr>
          <a:xfrm rot="0" flipH="0" flipV="0">
            <a:off x="8343900" y="1933575"/>
            <a:ext cx="3238500" cy="381000"/>
          </a:xfrm>
          <a:custGeom>
            <a:pathLst>
              <a:path w="340" h="40">
                <a:moveTo>
                  <a:pt x="0" y="0"/>
                </a:moveTo>
                <a:lnTo>
                  <a:pt x="2" y="0"/>
                </a:lnTo>
                <a:lnTo>
                  <a:pt x="2" y="40"/>
                </a:lnTo>
                <a:lnTo>
                  <a:pt x="0" y="4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278" name="" descr="{&quot;isTemplate&quot;:true,&quot;type&quot;:&quot;text&quot;}"/>
          <p:cNvSpPr txBox="1"/>
          <p:nvPr/>
        </p:nvSpPr>
        <p:spPr>
          <a:xfrm rot="0" flipH="0" flipV="0">
            <a:off x="8477250" y="2057400"/>
            <a:ext cx="2990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口径字典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本体映射表</a:t>
            </a:r>
            <a:endParaRPr/>
          </a:p>
        </p:txBody>
      </p:sp>
      <p:sp>
        <p:nvSpPr>
          <p:cNvPr id="1279" name=""/>
          <p:cNvSpPr/>
          <p:nvPr/>
        </p:nvSpPr>
        <p:spPr>
          <a:xfrm rot="0" flipH="0" flipV="0">
            <a:off x="609600" y="2381250"/>
            <a:ext cx="438150" cy="3714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80" name="" descr="{&quot;isTemplate&quot;:true,&quot;type&quot;:&quot;text&quot;}"/>
          <p:cNvSpPr txBox="1"/>
          <p:nvPr/>
        </p:nvSpPr>
        <p:spPr>
          <a:xfrm rot="0" flipH="0" flipV="0">
            <a:off x="771525" y="24574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87D2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81" name=""/>
          <p:cNvSpPr/>
          <p:nvPr/>
        </p:nvSpPr>
        <p:spPr>
          <a:xfrm rot="0" flipH="0" flipV="0">
            <a:off x="1114425" y="2381250"/>
            <a:ext cx="438150" cy="3714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82" name="" descr="{&quot;isTemplate&quot;:true,&quot;type&quot;:&quot;text&quot;}"/>
          <p:cNvSpPr txBox="1"/>
          <p:nvPr/>
        </p:nvSpPr>
        <p:spPr>
          <a:xfrm rot="0" flipH="0" flipV="0">
            <a:off x="1219200" y="249555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87D2F"/>
                </a:solidFill>
                <a:latin typeface="Microsoft YaHei"/>
                <a:ea typeface="Microsoft YaHei"/>
              </a:rPr>
              <a:t>设计</a:t>
            </a:r>
            <a:endParaRPr/>
          </a:p>
        </p:txBody>
      </p:sp>
      <p:sp>
        <p:nvSpPr>
          <p:cNvPr id="1283" name=""/>
          <p:cNvSpPr/>
          <p:nvPr/>
        </p:nvSpPr>
        <p:spPr>
          <a:xfrm rot="0" flipH="0" flipV="0">
            <a:off x="1619250" y="2381250"/>
            <a:ext cx="6657975" cy="3714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84" name="" descr="{&quot;isTemplate&quot;:true,&quot;type&quot;:&quot;text&quot;}"/>
          <p:cNvSpPr txBox="1"/>
          <p:nvPr/>
        </p:nvSpPr>
        <p:spPr>
          <a:xfrm rot="0" flipH="0" flipV="0">
            <a:off x="1733550" y="2495550"/>
            <a:ext cx="642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设计连接方式、同步频率、批次与事务粒度</a:t>
            </a:r>
            <a:endParaRPr/>
          </a:p>
        </p:txBody>
      </p:sp>
      <p:sp>
        <p:nvSpPr>
          <p:cNvPr id="1285" name=""/>
          <p:cNvSpPr/>
          <p:nvPr/>
        </p:nvSpPr>
        <p:spPr>
          <a:xfrm rot="0" flipH="0" flipV="0">
            <a:off x="8362950" y="2381250"/>
            <a:ext cx="3219450" cy="37147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86" name=""/>
          <p:cNvSpPr/>
          <p:nvPr/>
        </p:nvSpPr>
        <p:spPr>
          <a:xfrm rot="0" flipH="0" flipV="0">
            <a:off x="8343900" y="2381250"/>
            <a:ext cx="3238500" cy="371475"/>
          </a:xfrm>
          <a:custGeom>
            <a:pathLst>
              <a:path w="340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287" name="" descr="{&quot;isTemplate&quot;:true,&quot;type&quot;:&quot;text&quot;}"/>
          <p:cNvSpPr txBox="1"/>
          <p:nvPr/>
        </p:nvSpPr>
        <p:spPr>
          <a:xfrm rot="0" flipH="0" flipV="0">
            <a:off x="8477250" y="2495550"/>
            <a:ext cx="2990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接入方案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同步模式表</a:t>
            </a:r>
            <a:endParaRPr/>
          </a:p>
        </p:txBody>
      </p:sp>
      <p:sp>
        <p:nvSpPr>
          <p:cNvPr id="1288" name=""/>
          <p:cNvSpPr/>
          <p:nvPr/>
        </p:nvSpPr>
        <p:spPr>
          <a:xfrm rot="0" flipH="0" flipV="0">
            <a:off x="609600" y="2819400"/>
            <a:ext cx="4381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89" name="" descr="{&quot;isTemplate&quot;:true,&quot;type&quot;:&quot;text&quot;}"/>
          <p:cNvSpPr txBox="1"/>
          <p:nvPr/>
        </p:nvSpPr>
        <p:spPr>
          <a:xfrm rot="0" flipH="0" flipV="0">
            <a:off x="771525" y="28956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87D2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290" name=""/>
          <p:cNvSpPr/>
          <p:nvPr/>
        </p:nvSpPr>
        <p:spPr>
          <a:xfrm rot="0" flipH="0" flipV="0">
            <a:off x="1114425" y="2819400"/>
            <a:ext cx="4381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91" name="" descr="{&quot;isTemplate&quot;:true,&quot;type&quot;:&quot;text&quot;}"/>
          <p:cNvSpPr txBox="1"/>
          <p:nvPr/>
        </p:nvSpPr>
        <p:spPr>
          <a:xfrm rot="0" flipH="0" flipV="0">
            <a:off x="1219200" y="29432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87D2F"/>
                </a:solidFill>
                <a:latin typeface="Microsoft YaHei"/>
                <a:ea typeface="Microsoft YaHei"/>
              </a:rPr>
              <a:t>设计</a:t>
            </a:r>
            <a:endParaRPr/>
          </a:p>
        </p:txBody>
      </p:sp>
      <p:sp>
        <p:nvSpPr>
          <p:cNvPr id="1292" name=""/>
          <p:cNvSpPr/>
          <p:nvPr/>
        </p:nvSpPr>
        <p:spPr>
          <a:xfrm rot="0" flipH="0" flipV="0">
            <a:off x="1619250" y="2819400"/>
            <a:ext cx="6657975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93" name="" descr="{&quot;isTemplate&quot;:true,&quot;type&quot;:&quot;text&quot;}"/>
          <p:cNvSpPr txBox="1"/>
          <p:nvPr/>
        </p:nvSpPr>
        <p:spPr>
          <a:xfrm rot="0" flipH="0" flipV="0">
            <a:off x="1733550" y="2933700"/>
            <a:ext cx="642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设计加工逻辑、清洗规则与五类健康检查</a:t>
            </a:r>
            <a:endParaRPr/>
          </a:p>
        </p:txBody>
      </p:sp>
      <p:sp>
        <p:nvSpPr>
          <p:cNvPr id="1294" name=""/>
          <p:cNvSpPr/>
          <p:nvPr/>
        </p:nvSpPr>
        <p:spPr>
          <a:xfrm rot="0" flipH="0" flipV="0">
            <a:off x="8362950" y="2819400"/>
            <a:ext cx="321945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95" name=""/>
          <p:cNvSpPr/>
          <p:nvPr/>
        </p:nvSpPr>
        <p:spPr>
          <a:xfrm rot="0" flipH="0" flipV="0">
            <a:off x="8343900" y="2819400"/>
            <a:ext cx="3238500" cy="381000"/>
          </a:xfrm>
          <a:custGeom>
            <a:pathLst>
              <a:path w="340" h="40">
                <a:moveTo>
                  <a:pt x="0" y="0"/>
                </a:moveTo>
                <a:lnTo>
                  <a:pt x="2" y="0"/>
                </a:lnTo>
                <a:lnTo>
                  <a:pt x="2" y="40"/>
                </a:lnTo>
                <a:lnTo>
                  <a:pt x="0" y="4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296" name="" descr="{&quot;isTemplate&quot;:true,&quot;type&quot;:&quot;text&quot;}"/>
          <p:cNvSpPr txBox="1"/>
          <p:nvPr/>
        </p:nvSpPr>
        <p:spPr>
          <a:xfrm rot="0" flipH="0" flipV="0">
            <a:off x="8477250" y="2943225"/>
            <a:ext cx="2990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加工逻辑规范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质量规则表</a:t>
            </a:r>
            <a:endParaRPr/>
          </a:p>
        </p:txBody>
      </p:sp>
      <p:sp>
        <p:nvSpPr>
          <p:cNvPr id="1297" name=""/>
          <p:cNvSpPr/>
          <p:nvPr/>
        </p:nvSpPr>
        <p:spPr>
          <a:xfrm rot="0" flipH="0" flipV="0">
            <a:off x="609600" y="3267075"/>
            <a:ext cx="4381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98" name="" descr="{&quot;isTemplate&quot;:true,&quot;type&quot;:&quot;text&quot;}"/>
          <p:cNvSpPr txBox="1"/>
          <p:nvPr/>
        </p:nvSpPr>
        <p:spPr>
          <a:xfrm rot="0" flipH="0" flipV="0">
            <a:off x="771525" y="33432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0651A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299" name=""/>
          <p:cNvSpPr/>
          <p:nvPr/>
        </p:nvSpPr>
        <p:spPr>
          <a:xfrm rot="0" flipH="0" flipV="0">
            <a:off x="1114425" y="3267075"/>
            <a:ext cx="43815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00" name="" descr="{&quot;isTemplate&quot;:true,&quot;type&quot;:&quot;text&quot;}"/>
          <p:cNvSpPr txBox="1"/>
          <p:nvPr/>
        </p:nvSpPr>
        <p:spPr>
          <a:xfrm rot="0" flipH="0" flipV="0">
            <a:off x="1219200" y="339090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E0651A"/>
                </a:solidFill>
                <a:latin typeface="Microsoft YaHei"/>
                <a:ea typeface="Microsoft YaHei"/>
              </a:rPr>
              <a:t>治理</a:t>
            </a:r>
            <a:endParaRPr/>
          </a:p>
        </p:txBody>
      </p:sp>
      <p:sp>
        <p:nvSpPr>
          <p:cNvPr id="1301" name=""/>
          <p:cNvSpPr/>
          <p:nvPr/>
        </p:nvSpPr>
        <p:spPr>
          <a:xfrm rot="0" flipH="0" flipV="0">
            <a:off x="1619250" y="3267075"/>
            <a:ext cx="6657975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02" name="" descr="{&quot;isTemplate&quot;:true,&quot;type&quot;:&quot;text&quot;}"/>
          <p:cNvSpPr txBox="1"/>
          <p:nvPr/>
        </p:nvSpPr>
        <p:spPr>
          <a:xfrm rot="0" flipH="0" flipV="0">
            <a:off x="1733550" y="3381375"/>
            <a:ext cx="642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设计版本策略、事务粒度与三层血缘矩阵</a:t>
            </a:r>
            <a:endParaRPr/>
          </a:p>
        </p:txBody>
      </p:sp>
      <p:sp>
        <p:nvSpPr>
          <p:cNvPr id="1303" name=""/>
          <p:cNvSpPr/>
          <p:nvPr/>
        </p:nvSpPr>
        <p:spPr>
          <a:xfrm rot="0" flipH="0" flipV="0">
            <a:off x="8362950" y="3267075"/>
            <a:ext cx="321945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04" name=""/>
          <p:cNvSpPr/>
          <p:nvPr/>
        </p:nvSpPr>
        <p:spPr>
          <a:xfrm rot="0" flipH="0" flipV="0">
            <a:off x="8343900" y="3267075"/>
            <a:ext cx="3238500" cy="381000"/>
          </a:xfrm>
          <a:custGeom>
            <a:pathLst>
              <a:path w="340" h="40">
                <a:moveTo>
                  <a:pt x="0" y="0"/>
                </a:moveTo>
                <a:lnTo>
                  <a:pt x="2" y="0"/>
                </a:lnTo>
                <a:lnTo>
                  <a:pt x="2" y="40"/>
                </a:lnTo>
                <a:lnTo>
                  <a:pt x="0" y="4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305" name="" descr="{&quot;isTemplate&quot;:true,&quot;type&quot;:&quot;text&quot;}"/>
          <p:cNvSpPr txBox="1"/>
          <p:nvPr/>
        </p:nvSpPr>
        <p:spPr>
          <a:xfrm rot="0" flipH="0" flipV="0">
            <a:off x="8477250" y="3390900"/>
            <a:ext cx="2990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版本策略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血缘矩阵</a:t>
            </a:r>
            <a:endParaRPr/>
          </a:p>
        </p:txBody>
      </p:sp>
      <p:sp>
        <p:nvSpPr>
          <p:cNvPr id="1306" name=""/>
          <p:cNvSpPr/>
          <p:nvPr/>
        </p:nvSpPr>
        <p:spPr>
          <a:xfrm rot="0" flipH="0" flipV="0">
            <a:off x="609600" y="3714750"/>
            <a:ext cx="4381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07" name="" descr="{&quot;isTemplate&quot;:true,&quot;type&quot;:&quot;text&quot;}"/>
          <p:cNvSpPr txBox="1"/>
          <p:nvPr/>
        </p:nvSpPr>
        <p:spPr>
          <a:xfrm rot="0" flipH="0" flipV="0">
            <a:off x="771525" y="37909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0651A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308" name=""/>
          <p:cNvSpPr/>
          <p:nvPr/>
        </p:nvSpPr>
        <p:spPr>
          <a:xfrm rot="0" flipH="0" flipV="0">
            <a:off x="1114425" y="3714750"/>
            <a:ext cx="4381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09" name="" descr="{&quot;isTemplate&quot;:true,&quot;type&quot;:&quot;text&quot;}"/>
          <p:cNvSpPr txBox="1"/>
          <p:nvPr/>
        </p:nvSpPr>
        <p:spPr>
          <a:xfrm rot="0" flipH="0" flipV="0">
            <a:off x="1219200" y="38385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E0651A"/>
                </a:solidFill>
                <a:latin typeface="Microsoft YaHei"/>
                <a:ea typeface="Microsoft YaHei"/>
              </a:rPr>
              <a:t>工程</a:t>
            </a:r>
            <a:endParaRPr/>
          </a:p>
        </p:txBody>
      </p:sp>
      <p:sp>
        <p:nvSpPr>
          <p:cNvPr id="1310" name=""/>
          <p:cNvSpPr/>
          <p:nvPr/>
        </p:nvSpPr>
        <p:spPr>
          <a:xfrm rot="0" flipH="0" flipV="0">
            <a:off x="1619250" y="3714750"/>
            <a:ext cx="6657975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11" name="" descr="{&quot;isTemplate&quot;:true,&quot;type&quot;:&quot;text&quot;}"/>
          <p:cNvSpPr txBox="1"/>
          <p:nvPr/>
        </p:nvSpPr>
        <p:spPr>
          <a:xfrm rot="0" flipH="0" flipV="0">
            <a:off x="1733550" y="3829050"/>
            <a:ext cx="642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设计分支规范、评审、发布与回滚流程</a:t>
            </a:r>
            <a:endParaRPr/>
          </a:p>
        </p:txBody>
      </p:sp>
      <p:sp>
        <p:nvSpPr>
          <p:cNvPr id="1312" name=""/>
          <p:cNvSpPr/>
          <p:nvPr/>
        </p:nvSpPr>
        <p:spPr>
          <a:xfrm rot="0" flipH="0" flipV="0">
            <a:off x="8362950" y="3714750"/>
            <a:ext cx="321945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13" name=""/>
          <p:cNvSpPr/>
          <p:nvPr/>
        </p:nvSpPr>
        <p:spPr>
          <a:xfrm rot="0" flipH="0" flipV="0">
            <a:off x="8343900" y="3714750"/>
            <a:ext cx="3238500" cy="381000"/>
          </a:xfrm>
          <a:custGeom>
            <a:pathLst>
              <a:path w="340" h="40">
                <a:moveTo>
                  <a:pt x="0" y="0"/>
                </a:moveTo>
                <a:lnTo>
                  <a:pt x="2" y="0"/>
                </a:lnTo>
                <a:lnTo>
                  <a:pt x="2" y="40"/>
                </a:lnTo>
                <a:lnTo>
                  <a:pt x="0" y="4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314" name="" descr="{&quot;isTemplate&quot;:true,&quot;type&quot;:&quot;text&quot;}"/>
          <p:cNvSpPr txBox="1"/>
          <p:nvPr/>
        </p:nvSpPr>
        <p:spPr>
          <a:xfrm rot="0" flipH="0" flipV="0">
            <a:off x="8477250" y="3838575"/>
            <a:ext cx="2990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分支规范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发布检查表</a:t>
            </a:r>
            <a:endParaRPr/>
          </a:p>
        </p:txBody>
      </p:sp>
      <p:sp>
        <p:nvSpPr>
          <p:cNvPr id="1315" name=""/>
          <p:cNvSpPr/>
          <p:nvPr/>
        </p:nvSpPr>
        <p:spPr>
          <a:xfrm rot="0" flipH="0" flipV="0">
            <a:off x="609600" y="4162425"/>
            <a:ext cx="438150" cy="3714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16" name="" descr="{&quot;isTemplate&quot;:true,&quot;type&quot;:&quot;text&quot;}"/>
          <p:cNvSpPr txBox="1"/>
          <p:nvPr/>
        </p:nvSpPr>
        <p:spPr>
          <a:xfrm rot="0" flipH="0" flipV="0">
            <a:off x="771525" y="42386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43A17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1317" name=""/>
          <p:cNvSpPr/>
          <p:nvPr/>
        </p:nvSpPr>
        <p:spPr>
          <a:xfrm rot="0" flipH="0" flipV="0">
            <a:off x="1114425" y="4162425"/>
            <a:ext cx="438150" cy="3714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18" name="" descr="{&quot;isTemplate&quot;:true,&quot;type&quot;:&quot;text&quot;}"/>
          <p:cNvSpPr txBox="1"/>
          <p:nvPr/>
        </p:nvSpPr>
        <p:spPr>
          <a:xfrm rot="0" flipH="0" flipV="0">
            <a:off x="1219200" y="42767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工程</a:t>
            </a:r>
            <a:endParaRPr/>
          </a:p>
        </p:txBody>
      </p:sp>
      <p:sp>
        <p:nvSpPr>
          <p:cNvPr id="1319" name=""/>
          <p:cNvSpPr/>
          <p:nvPr/>
        </p:nvSpPr>
        <p:spPr>
          <a:xfrm rot="0" flipH="0" flipV="0">
            <a:off x="1619250" y="4162425"/>
            <a:ext cx="6657975" cy="3714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20" name="" descr="{&quot;isTemplate&quot;:true,&quot;type&quot;:&quot;text&quot;}"/>
          <p:cNvSpPr txBox="1"/>
          <p:nvPr/>
        </p:nvSpPr>
        <p:spPr>
          <a:xfrm rot="0" flipH="0" flipV="0">
            <a:off x="1733550" y="4276725"/>
            <a:ext cx="642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设计可观测：状态、时间、规模、内容、模式五维检查</a:t>
            </a:r>
            <a:endParaRPr/>
          </a:p>
        </p:txBody>
      </p:sp>
      <p:sp>
        <p:nvSpPr>
          <p:cNvPr id="1321" name=""/>
          <p:cNvSpPr/>
          <p:nvPr/>
        </p:nvSpPr>
        <p:spPr>
          <a:xfrm rot="0" flipH="0" flipV="0">
            <a:off x="8362950" y="4162425"/>
            <a:ext cx="3219450" cy="37147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22" name=""/>
          <p:cNvSpPr/>
          <p:nvPr/>
        </p:nvSpPr>
        <p:spPr>
          <a:xfrm rot="0" flipH="0" flipV="0">
            <a:off x="8343900" y="4162425"/>
            <a:ext cx="3238500" cy="371475"/>
          </a:xfrm>
          <a:custGeom>
            <a:pathLst>
              <a:path w="340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323" name="" descr="{&quot;isTemplate&quot;:true,&quot;type&quot;:&quot;text&quot;}"/>
          <p:cNvSpPr txBox="1"/>
          <p:nvPr/>
        </p:nvSpPr>
        <p:spPr>
          <a:xfrm rot="0" flipH="0" flipV="0">
            <a:off x="8477250" y="4276725"/>
            <a:ext cx="2990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健康检查清单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告警矩阵</a:t>
            </a:r>
            <a:endParaRPr/>
          </a:p>
        </p:txBody>
      </p:sp>
      <p:sp>
        <p:nvSpPr>
          <p:cNvPr id="1324" name=""/>
          <p:cNvSpPr/>
          <p:nvPr/>
        </p:nvSpPr>
        <p:spPr>
          <a:xfrm rot="0" flipH="0" flipV="0">
            <a:off x="609600" y="4600575"/>
            <a:ext cx="4381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25" name="" descr="{&quot;isTemplate&quot;:true,&quot;type&quot;:&quot;text&quot;}"/>
          <p:cNvSpPr txBox="1"/>
          <p:nvPr/>
        </p:nvSpPr>
        <p:spPr>
          <a:xfrm rot="0" flipH="0" flipV="0">
            <a:off x="771525" y="46767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43A17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1326" name=""/>
          <p:cNvSpPr/>
          <p:nvPr/>
        </p:nvSpPr>
        <p:spPr>
          <a:xfrm rot="0" flipH="0" flipV="0">
            <a:off x="1114425" y="4600575"/>
            <a:ext cx="4381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27" name="" descr="{&quot;isTemplate&quot;:true,&quot;type&quot;:&quot;text&quot;}"/>
          <p:cNvSpPr txBox="1"/>
          <p:nvPr/>
        </p:nvSpPr>
        <p:spPr>
          <a:xfrm rot="0" flipH="0" flipV="0">
            <a:off x="1219200" y="472440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运营</a:t>
            </a:r>
            <a:endParaRPr/>
          </a:p>
        </p:txBody>
      </p:sp>
      <p:sp>
        <p:nvSpPr>
          <p:cNvPr id="1328" name=""/>
          <p:cNvSpPr/>
          <p:nvPr/>
        </p:nvSpPr>
        <p:spPr>
          <a:xfrm rot="0" flipH="0" flipV="0">
            <a:off x="1619250" y="4600575"/>
            <a:ext cx="6657975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29" name="" descr="{&quot;isTemplate&quot;:true,&quot;type&quot;:&quot;text&quot;}"/>
          <p:cNvSpPr txBox="1"/>
          <p:nvPr/>
        </p:nvSpPr>
        <p:spPr>
          <a:xfrm rot="0" flipH="0" flipV="0">
            <a:off x="1733550" y="4714875"/>
            <a:ext cx="642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设计演进路线（批→增→流）与旧管道退役预案</a:t>
            </a:r>
            <a:endParaRPr/>
          </a:p>
        </p:txBody>
      </p:sp>
      <p:sp>
        <p:nvSpPr>
          <p:cNvPr id="1330" name=""/>
          <p:cNvSpPr/>
          <p:nvPr/>
        </p:nvSpPr>
        <p:spPr>
          <a:xfrm rot="0" flipH="0" flipV="0">
            <a:off x="8362950" y="4600575"/>
            <a:ext cx="321945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31" name=""/>
          <p:cNvSpPr/>
          <p:nvPr/>
        </p:nvSpPr>
        <p:spPr>
          <a:xfrm rot="0" flipH="0" flipV="0">
            <a:off x="8343900" y="4600575"/>
            <a:ext cx="3238500" cy="381000"/>
          </a:xfrm>
          <a:custGeom>
            <a:pathLst>
              <a:path w="340" h="40">
                <a:moveTo>
                  <a:pt x="0" y="0"/>
                </a:moveTo>
                <a:lnTo>
                  <a:pt x="2" y="0"/>
                </a:lnTo>
                <a:lnTo>
                  <a:pt x="2" y="40"/>
                </a:lnTo>
                <a:lnTo>
                  <a:pt x="0" y="4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332" name="" descr="{&quot;isTemplate&quot;:true,&quot;type&quot;:&quot;text&quot;}"/>
          <p:cNvSpPr txBox="1"/>
          <p:nvPr/>
        </p:nvSpPr>
        <p:spPr>
          <a:xfrm rot="0" flipH="0" flipV="0">
            <a:off x="8477250" y="4724400"/>
            <a:ext cx="2990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演进路线图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退役预案</a:t>
            </a:r>
            <a:endParaRPr/>
          </a:p>
        </p:txBody>
      </p:sp>
      <p:sp>
        <p:nvSpPr>
          <p:cNvPr id="1333" name=""/>
          <p:cNvSpPr/>
          <p:nvPr/>
        </p:nvSpPr>
        <p:spPr>
          <a:xfrm rot="0" flipH="0" flipV="0">
            <a:off x="609600" y="5048250"/>
            <a:ext cx="10972800" cy="590550"/>
          </a:xfrm>
          <a:prstGeom prst="roundRect">
            <a:avLst>
              <a:gd name="adj" fmla="val 645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34" name="" descr="{&quot;isTemplate&quot;:true,&quot;type&quot;:&quot;text&quot;}"/>
          <p:cNvSpPr txBox="1"/>
          <p:nvPr/>
        </p:nvSpPr>
        <p:spPr>
          <a:xfrm rot="0" flipH="0" flipV="0">
            <a:off x="781050" y="5267325"/>
            <a:ext cx="121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三条硬规则</a:t>
            </a:r>
            <a:endParaRPr/>
          </a:p>
        </p:txBody>
      </p:sp>
      <p:sp>
        <p:nvSpPr>
          <p:cNvPr id="1335" name=""/>
          <p:cNvSpPr/>
          <p:nvPr/>
        </p:nvSpPr>
        <p:spPr>
          <a:xfrm rot="0" flipH="0" flipV="0">
            <a:off x="2114550" y="5143500"/>
            <a:ext cx="3038475" cy="400050"/>
          </a:xfrm>
          <a:prstGeom prst="roundRect">
            <a:avLst>
              <a:gd name="adj" fmla="val 7143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336" name="" descr="{&quot;isTemplate&quot;:true,&quot;type&quot;:&quot;text&quot;}"/>
          <p:cNvSpPr txBox="1"/>
          <p:nvPr/>
        </p:nvSpPr>
        <p:spPr>
          <a:xfrm rot="0" flipH="0" flipV="0">
            <a:off x="2209800" y="52101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337" name="" descr="{&quot;isTemplate&quot;:true,&quot;type&quot;:&quot;text&quot;}"/>
          <p:cNvSpPr txBox="1"/>
          <p:nvPr/>
        </p:nvSpPr>
        <p:spPr>
          <a:xfrm rot="0" flipH="0" flipV="0">
            <a:off x="2343150" y="5200650"/>
            <a:ext cx="80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先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batch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后流</a:t>
            </a:r>
            <a:endParaRPr/>
          </a:p>
        </p:txBody>
      </p:sp>
      <p:sp>
        <p:nvSpPr>
          <p:cNvPr id="1338" name="" descr="{&quot;isTemplate&quot;:true,&quot;type&quot;:&quot;text&quot;}"/>
          <p:cNvSpPr txBox="1"/>
          <p:nvPr/>
        </p:nvSpPr>
        <p:spPr>
          <a:xfrm rot="0" flipH="0" flipV="0">
            <a:off x="2209800" y="5372100"/>
            <a:ext cx="2847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先批后增再流，倒过来复杂度指数上升</a:t>
            </a:r>
            <a:endParaRPr/>
          </a:p>
        </p:txBody>
      </p:sp>
      <p:sp>
        <p:nvSpPr>
          <p:cNvPr id="1339" name=""/>
          <p:cNvSpPr/>
          <p:nvPr/>
        </p:nvSpPr>
        <p:spPr>
          <a:xfrm rot="0" flipH="0" flipV="0">
            <a:off x="5248275" y="5143500"/>
            <a:ext cx="3028950" cy="400050"/>
          </a:xfrm>
          <a:prstGeom prst="roundRect">
            <a:avLst>
              <a:gd name="adj" fmla="val 7143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340" name="" descr="{&quot;isTemplate&quot;:true,&quot;type&quot;:&quot;text&quot;}"/>
          <p:cNvSpPr txBox="1"/>
          <p:nvPr/>
        </p:nvSpPr>
        <p:spPr>
          <a:xfrm rot="0" flipH="0" flipV="0">
            <a:off x="5343525" y="52101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341" name="" descr="{&quot;isTemplate&quot;:true,&quot;type&quot;:&quot;text&quot;}"/>
          <p:cNvSpPr txBox="1"/>
          <p:nvPr/>
        </p:nvSpPr>
        <p:spPr>
          <a:xfrm rot="0" flipH="0" flipV="0">
            <a:off x="5476875" y="520065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先只读后写回</a:t>
            </a:r>
            <a:endParaRPr/>
          </a:p>
        </p:txBody>
      </p:sp>
      <p:sp>
        <p:nvSpPr>
          <p:cNvPr id="1342" name="" descr="{&quot;isTemplate&quot;:true,&quot;type&quot;:&quot;text&quot;}"/>
          <p:cNvSpPr txBox="1"/>
          <p:nvPr/>
        </p:nvSpPr>
        <p:spPr>
          <a:xfrm rot="0" flipH="0" flipV="0">
            <a:off x="5343525" y="5372100"/>
            <a:ext cx="28384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读数跑稳了，再谈</a:t>
            </a:r>
            <a:r>
              <a:rPr lang="en-US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 xml:space="preserve"> Action </a:t>
            </a: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写本体</a:t>
            </a:r>
            <a:endParaRPr/>
          </a:p>
        </p:txBody>
      </p:sp>
      <p:sp>
        <p:nvSpPr>
          <p:cNvPr id="1343" name=""/>
          <p:cNvSpPr/>
          <p:nvPr/>
        </p:nvSpPr>
        <p:spPr>
          <a:xfrm rot="0" flipH="0" flipV="0">
            <a:off x="8372475" y="5143500"/>
            <a:ext cx="3038475" cy="400050"/>
          </a:xfrm>
          <a:prstGeom prst="roundRect">
            <a:avLst>
              <a:gd name="adj" fmla="val 7143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344" name="" descr="{&quot;isTemplate&quot;:true,&quot;type&quot;:&quot;text&quot;}"/>
          <p:cNvSpPr txBox="1"/>
          <p:nvPr/>
        </p:nvSpPr>
        <p:spPr>
          <a:xfrm rot="0" flipH="0" flipV="0">
            <a:off x="8467725" y="52101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345" name="" descr="{&quot;isTemplate&quot;:true,&quot;type&quot;:&quot;text&quot;}"/>
          <p:cNvSpPr txBox="1"/>
          <p:nvPr/>
        </p:nvSpPr>
        <p:spPr>
          <a:xfrm rot="0" flipH="0" flipV="0">
            <a:off x="8601075" y="520065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先血缘后生产</a:t>
            </a:r>
            <a:endParaRPr/>
          </a:p>
        </p:txBody>
      </p:sp>
      <p:sp>
        <p:nvSpPr>
          <p:cNvPr id="1346" name="" descr="{&quot;isTemplate&quot;:true,&quot;type&quot;:&quot;text&quot;}"/>
          <p:cNvSpPr txBox="1"/>
          <p:nvPr/>
        </p:nvSpPr>
        <p:spPr>
          <a:xfrm rot="0" flipH="0" flipV="0">
            <a:off x="8467725" y="5372100"/>
            <a:ext cx="2847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没有血缘和健康检查，不许上生产</a:t>
            </a:r>
            <a:endParaRPr/>
          </a:p>
        </p:txBody>
      </p:sp>
      <p:sp>
        <p:nvSpPr>
          <p:cNvPr id="1347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48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49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1350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04 / 30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351" name="" descr="&lt;Slide style={{ width: 1280, height: 720, background: '#0F1423' }}&gt;&#10;  &lt;Box style={{ position: 'absolute', left: 0, top: 0, width: 1280, height: 720, background: 'linear-gradient(135deg, #0F1423 0%, #2A1810 100%)' }} /&gt;&#10;  &lt;Box style={{ position: 'absolute', right: 0, top: 0, width: 560, height: 720, background: 'linear-gradient(200deg, rgba(250,79,36,0.28) 0%, rgba(250,79,36,0) 70%)' }} /&gt;&#10;&#10;  &lt;Box style={{ position: 'absolute', right: 70, top: 110 }}&gt;&#10;    &lt;Text style={{ fontSize: 300, fontWeight: 'bold', color: 'rgba(255,255,255,0.08)', lineHeight: 1.0 }}&gt;01&lt;/Text&gt;&#10;  &lt;/Box&gt;&#10;&#10;  &lt;Box style={{ position: 'absolute', left: 88, top: 232, width: 700, flexDirection: 'column' }}&gt;&#10;    &lt;Text style={{ fontSize: 15, color: 'rgba(255,255,255,0.5)', letterSpacing: 3 }}&gt;PART 01&lt;/Text&gt;&#10;    &lt;Box style={{ width: 72, height: 5, background: '#FA4F24', marginTop: 22 }} /&gt;&#10;    &lt;Text style={{ fontSize: 52, fontWeight: 'bold', color: '#FFFFFF', marginTop: 28, lineHeight: 1.15 }}&gt;管道处理本身&lt;/Text&gt;&#10;    &lt;Text style={{ fontSize: 17, color: 'rgba(255,255,255,0.62)', letterSpacing: 2, marginTop: 20 }}&gt;WHAT A PIPELINE REALLY IS&lt;/Text&gt;&#10;    &lt;Text style={{ fontSize: 19, color: 'rgba(255,255,255,0.85)', marginTop: 26, lineHeight: 1.6 }}&gt;管道不是 ETL 的新名字，它是「随时间管理数据版本」的一套机制&lt;/Text&gt;&#10;  &lt;/Box&gt;&#10;&#10;  &lt;Box style={{ position: 'absolute', right: 88, bottom: 64, flexDirection: 'row', alignItems: 'center', gap: 12 }}&gt;&#10;    &lt;Box style={{ width: 14, height: 14, background: '#FA4F24' }} /&gt;&#10;    &lt;Text style={{ fontSize: 14, color: 'rgba(255,255,255,0.5)' }}&gt;硕磐机密 · 管道处理咨询方法论&lt;/Text&gt;&#10;    &lt;Text style={{ fontSize: 14, color: 'rgba(255,255,255,0.5)', marginLeft: 12 }}&gt;05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354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355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356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01</a:t>
            </a:r>
            <a:endParaRPr/>
          </a:p>
        </p:txBody>
      </p:sp>
      <p:sp>
        <p:nvSpPr>
          <p:cNvPr id="1357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58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667500" cy="6858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管道处理本身</a:t>
            </a:r>
            <a:endParaRPr/>
          </a:p>
        </p:txBody>
      </p:sp>
      <p:sp>
        <p:nvSpPr>
          <p:cNvPr id="1359" name="" descr="{&quot;isTemplate&quot;:true,&quot;type&quot;:&quot;text&quot;}"/>
          <p:cNvSpPr txBox="1"/>
          <p:nvPr/>
        </p:nvSpPr>
        <p:spPr>
          <a:xfrm rot="0" flipH="0" flipV="0">
            <a:off x="838200" y="3781425"/>
            <a:ext cx="666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WHAT A PIPELINE REALLY IS</a:t>
            </a:r>
            <a:endParaRPr/>
          </a:p>
        </p:txBody>
      </p:sp>
      <p:sp>
        <p:nvSpPr>
          <p:cNvPr id="1360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6667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管道不是</a:t>
            </a: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ETL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的新名字，它是「随时间管理数据版本」的一套机制</a:t>
            </a:r>
            <a:endParaRPr/>
          </a:p>
        </p:txBody>
      </p:sp>
      <p:sp>
        <p:nvSpPr>
          <p:cNvPr id="1361" name=""/>
          <p:cNvSpPr/>
          <p:nvPr/>
        </p:nvSpPr>
        <p:spPr>
          <a:xfrm rot="0" flipH="0" flipV="0">
            <a:off x="857250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62" name="" descr="{&quot;isTemplate&quot;:true,&quot;type&quot;:&quot;text&quot;}"/>
          <p:cNvSpPr txBox="1"/>
          <p:nvPr/>
        </p:nvSpPr>
        <p:spPr>
          <a:xfrm rot="0" flipH="0" flipV="0">
            <a:off x="8820150" y="60864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1363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05 / 30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364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管道处理到底是什么：&lt;span style={{ color: '#FA4F24' }}&gt;双向两个方向&lt;/span&gt;&#10;      &lt;/Text&gt;&#10;      &lt;Text style={{ fontSize: 20, color: '#8A8F99', marginTop: 8 }}&gt;&#10;        它不是一条单向的 ETL 作业，而是「进向管道 + 出向管道」加中间那层版本与血缘&#10;      &lt;/Text&gt;&#10;    &lt;/Box&gt;&#10;    &lt;Box style={{ height: 1, background: '#E8E8E8' }} /&gt;&#10;&#10;    &lt;Box style={{ paddingTop: 14, paddingBottom: 8, height: 479, flexDirection: 'column', gap: 10 }}&gt;&#10;      {/* 双向示意 */}&#10;      &lt;Box style={{ height: 150, background: '#F7F7F8', borderRadius: 4, padding: '12px 18px', flexDirection: 'column' }}&gt;&#10;        &lt;Text style={{ fontSize: 14, fontWeight: 'bold', color: '#0F1423', marginBottom: 10 }}&gt;管道处理的两个方向与中间的版本层&lt;/Text&gt;&#10;        &lt;Box style={{ flex: 1, flexDirection: 'row', alignItems: 'center', gap: 8 }}&gt;&#10;          &lt;Box style={{ width: 150, height: 62, background: '#FFFFFF', border: '1px solid #E8E8E8', borderRadius: 3, alignItems: 'center', justifyContent: 'center' }}&gt;&#10;            &lt;Text style={{ fontSize: 14, fontWeight: 'bold', color: '#0F1423' }}&gt;源系统&lt;/Text&gt;&#10;            &lt;Text style={{ fontSize: 10.5, color: '#8A8F99', marginTop: 3 }}&gt;ERP / CRM / MES&lt;/Text&gt;&#10;          &lt;/Box&gt;&#10;          &lt;Box style={{ flex: 1, flexDirection: 'column', alignItems: 'center' }}&gt;&#10;            &lt;Text style={{ fontSize: 11, fontWeight: 'bold', color: '#FA4F24' }}&gt;进向管道&lt;/Text&gt;&#10;            &lt;Box style={{ height: 4, width: '100%', background: '#FA4F24', marginTop: 5 }} /&gt;&#10;            &lt;Text style={{ fontSize: 10.5, color: '#5A6072', marginTop: 5 }}&gt;接入 · 清洗 · 建模 · 版本化&lt;/Text&gt;&#10;          &lt;/Box&gt;&#10;          &lt;Box style={{ width: 190, height: 78, background: '#0F1423', borderRadius: 3, alignItems: 'center', justifyContent: 'center', padding: '0 10px' }}&gt;&#10;            &lt;Text style={{ fontSize: 14, fontWeight: 'bold', color: '#FFFFFF' }}&gt;Ontology&lt;/Text&gt;&#10;            &lt;Text style={{ fontSize: 10.5, color: 'rgba(255,255,255,0.68)', marginTop: 4, textAlign: 'center' }}&gt;对象类型 · 链接类型 · 函数 · 动作&lt;/Text&gt;&#10;          &lt;/Box&gt;&#10;          &lt;Box style={{ flex: 1, flexDirection: 'column', alignItems: 'center' }}&gt;&#10;            &lt;Text style={{ fontSize: 11, fontWeight: 'bold', color: '#E0651A' }}&gt;出向管道&lt;/Text&gt;&#10;            &lt;Box style={{ height: 4, width: '100%', background: '#E0651A', marginTop: 5 }} /&gt;&#10;            &lt;Text style={{ fontSize: 10.5, color: '#5A6072', marginTop: 5 }}&gt;数据 · 逻辑 · 动作 · Webhook&lt;/Text&gt;&#10;          &lt;/Box&gt;&#10;          &lt;Box style={{ width: 168, height: 62, background: '#FFFFFF', border: '1px solid #E8E8E8', borderRadius: 3, alignItems: 'center', justifyContent: 'center', padding: '0 8px' }}&gt;&#10;            &lt;Text style={{ fontSize: 13, fontWeight: 'bold', color: '#0F1423' }}&gt;调用方&lt;/Text&gt;&#10;            &lt;Text style={{ fontSize: 10.5, color: '#8A8F99', marginTop: 3, textAlign: 'center' }}&gt;应用 / 知识库 / Agent&lt;/Text&gt;&#10;          &lt;/Box&gt;&#10;        &lt;/Box&gt;&#10;      &lt;/Box&gt;&#10;&#10;      {/* 四个对比块 */}&#10;      &lt;Box style={{ flex: 1, flexDirection: 'row', gap: 10 }}&gt;&#10;        {[&#10;          { b: '传统 ETL', s: '先清洗后入仓', d: '目标是把数据搬到仓里；搬完就结束，不关心搬的是第几版，也不管谁在用', c: '#8A8F99' },&#10;          { b: 'ELT', s: '先入仓后建模', d: '把建模权交给仓内，灵活但代价是「谁在仓里建了临时表」没人说得清', c: '#8A8F99' },&#10;          { b: '管道处理', s: '以版本为管理单位', d: '以 dataset transaction 为单位管理数据随时间的每一次变更，因此天然带血缘', c: '#FA4F24' },&#10;          { b: '进一步', s: '进向与出向都管', d: '不仅管「进不进得来」，还管「出得去时带走了什么权限、什么上下文、什么边界」', c: '#E0651A' },&#10;        ].map((it, i) =&gt; (&#10;          &lt;Box key={it.b} style={{ flex: 1, background: i &lt; 2 ? '#F7F7F8' : '#FFF3EE', borderRadius: 4, borderTop: '3px solid ' + it.c, padding: '10px 13px', flexDirection: 'column' }}&gt;&#10;            &lt;Text style={{ fontSize: 14, fontWeight: 'bold', color: it.c }}&gt;{it.b}&lt;/Text&gt;&#10;            &lt;Text style={{ fontSize: 12.5, fontWeight: 'bold', color: '#0F1423', marginTop: 5 }}&gt;{it.s}&lt;/Text&gt;&#10;            &lt;Text style={{ fontSize: 11.5, color: '#5A6072', marginTop: 6, lineHeight: 1.55 }}&gt;{it.d}&lt;/Text&gt;&#10;          &lt;/Box&gt;&#10;        ))}&#10;      &lt;/Box&gt;&#10;&#10;      &lt;Box style={{ height: 66, background: '#0F1423', borderRadius: 4, padding: '0 18px', flexDirection: 'row', alignItems: 'center', gap: 12 }}&gt;&#10;        &lt;Text style={{ fontSize: 14, fontWeight: 'bold', color: '#FBA15C', width: 128 }}&gt;四个特殊之处&lt;/Text&gt;&#10;        &lt;Text style={{ fontSize: 13, color: 'rgba(255,255,255,0.92)', flex: 1, lineHeight: 1.5 }}&gt;&#10;          一、它的基本单位是「版本」而不是「表」；二、它天生要回答「谁批的、能不能退」；三、它的下游是 Agent 与本体，安全边界要重新划；四、它自己必须可观测，否则没人敢让它上生产。&#10;        &lt;/Text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06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6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管道处理到底是什么：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双向两个方向</a:t>
            </a:r>
            <a:endParaRPr/>
          </a:p>
        </p:txBody>
      </p:sp>
      <p:sp>
        <p:nvSpPr>
          <p:cNvPr id="136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它不是一条单向的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ETL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作业，而是「进向管道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出向管道」加中间那层版本与血缘</a:t>
            </a:r>
            <a:endParaRPr/>
          </a:p>
        </p:txBody>
      </p:sp>
      <p:sp>
        <p:nvSpPr>
          <p:cNvPr id="136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69" name=""/>
          <p:cNvSpPr/>
          <p:nvPr/>
        </p:nvSpPr>
        <p:spPr>
          <a:xfrm rot="0" flipH="0" flipV="0">
            <a:off x="609600" y="1285875"/>
            <a:ext cx="10972800" cy="1428750"/>
          </a:xfrm>
          <a:prstGeom prst="roundRect">
            <a:avLst>
              <a:gd name="adj" fmla="val 2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70" name="" descr="{&quot;isTemplate&quot;:true,&quot;type&quot;:&quot;text&quot;}"/>
          <p:cNvSpPr txBox="1"/>
          <p:nvPr/>
        </p:nvSpPr>
        <p:spPr>
          <a:xfrm rot="0" flipH="0" flipV="0">
            <a:off x="781050" y="140017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管道处理的两个方向与中间的版本层</a:t>
            </a:r>
            <a:endParaRPr/>
          </a:p>
        </p:txBody>
      </p:sp>
      <p:sp>
        <p:nvSpPr>
          <p:cNvPr id="1371" name=""/>
          <p:cNvSpPr/>
          <p:nvPr/>
        </p:nvSpPr>
        <p:spPr>
          <a:xfrm rot="0" flipH="0" flipV="0">
            <a:off x="781050" y="1838325"/>
            <a:ext cx="1428750" cy="59055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372" name="" descr="{&quot;isTemplate&quot;:true,&quot;type&quot;:&quot;text&quot;}"/>
          <p:cNvSpPr txBox="1"/>
          <p:nvPr/>
        </p:nvSpPr>
        <p:spPr>
          <a:xfrm rot="0" flipH="0" flipV="0">
            <a:off x="1295400" y="19812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源系统</a:t>
            </a:r>
            <a:endParaRPr/>
          </a:p>
        </p:txBody>
      </p:sp>
      <p:sp>
        <p:nvSpPr>
          <p:cNvPr id="1373" name="" descr="{&quot;isTemplate&quot;:true,&quot;type&quot;:&quot;text&quot;}"/>
          <p:cNvSpPr txBox="1"/>
          <p:nvPr/>
        </p:nvSpPr>
        <p:spPr>
          <a:xfrm rot="0" flipH="0" flipV="0">
            <a:off x="1085850" y="2171700"/>
            <a:ext cx="828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>ERP / CRM / MES</a:t>
            </a:r>
            <a:endParaRPr/>
          </a:p>
        </p:txBody>
      </p:sp>
      <p:sp>
        <p:nvSpPr>
          <p:cNvPr id="1374" name="" descr="{&quot;isTemplate&quot;:true,&quot;type&quot;:&quot;text&quot;}"/>
          <p:cNvSpPr txBox="1"/>
          <p:nvPr/>
        </p:nvSpPr>
        <p:spPr>
          <a:xfrm rot="0" flipH="0" flipV="0">
            <a:off x="3448050" y="193357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A4F24"/>
                </a:solidFill>
                <a:latin typeface="Microsoft YaHei"/>
                <a:ea typeface="Microsoft YaHei"/>
              </a:rPr>
              <a:t>进向管道</a:t>
            </a:r>
            <a:endParaRPr/>
          </a:p>
        </p:txBody>
      </p:sp>
      <p:sp>
        <p:nvSpPr>
          <p:cNvPr id="1375" name=""/>
          <p:cNvSpPr/>
          <p:nvPr/>
        </p:nvSpPr>
        <p:spPr>
          <a:xfrm rot="0" flipH="0" flipV="0">
            <a:off x="2286000" y="2114550"/>
            <a:ext cx="2743200" cy="381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76" name="" descr="{&quot;isTemplate&quot;:true,&quot;type&quot;:&quot;text&quot;}"/>
          <p:cNvSpPr txBox="1"/>
          <p:nvPr/>
        </p:nvSpPr>
        <p:spPr>
          <a:xfrm rot="0" flipH="0" flipV="0">
            <a:off x="3086100" y="2200275"/>
            <a:ext cx="1152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5A6072"/>
                </a:solidFill>
                <a:latin typeface="Microsoft YaHei"/>
                <a:ea typeface="Microsoft YaHei"/>
              </a:rPr>
              <a:t>接入</a:t>
            </a:r>
            <a:r>
              <a:rPr lang="en-US" sz="788">
                <a:solidFill>
                  <a:srgbClr val="5A6072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>
                <a:solidFill>
                  <a:srgbClr val="5A6072"/>
                </a:solidFill>
                <a:latin typeface="Microsoft YaHei"/>
                <a:ea typeface="Microsoft YaHei"/>
              </a:rPr>
              <a:t>清洗</a:t>
            </a:r>
            <a:r>
              <a:rPr lang="en-US" sz="788">
                <a:solidFill>
                  <a:srgbClr val="5A6072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>
                <a:solidFill>
                  <a:srgbClr val="5A6072"/>
                </a:solidFill>
                <a:latin typeface="Microsoft YaHei"/>
                <a:ea typeface="Microsoft YaHei"/>
              </a:rPr>
              <a:t>建模</a:t>
            </a:r>
            <a:r>
              <a:rPr lang="en-US" sz="788">
                <a:solidFill>
                  <a:srgbClr val="5A6072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>
                <a:solidFill>
                  <a:srgbClr val="5A6072"/>
                </a:solidFill>
                <a:latin typeface="Microsoft YaHei"/>
                <a:ea typeface="Microsoft YaHei"/>
              </a:rPr>
              <a:t>版本化</a:t>
            </a:r>
            <a:endParaRPr/>
          </a:p>
        </p:txBody>
      </p:sp>
      <p:sp>
        <p:nvSpPr>
          <p:cNvPr id="1377" name=""/>
          <p:cNvSpPr/>
          <p:nvPr/>
        </p:nvSpPr>
        <p:spPr>
          <a:xfrm rot="0" flipH="0" flipV="0">
            <a:off x="5105400" y="1762125"/>
            <a:ext cx="1809750" cy="742950"/>
          </a:xfrm>
          <a:prstGeom prst="roundRect">
            <a:avLst>
              <a:gd name="adj" fmla="val 384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78" name="" descr="{&quot;isTemplate&quot;:true,&quot;type&quot;:&quot;text&quot;}"/>
          <p:cNvSpPr txBox="1"/>
          <p:nvPr/>
        </p:nvSpPr>
        <p:spPr>
          <a:xfrm rot="0" flipH="0" flipV="0">
            <a:off x="5695950" y="1971675"/>
            <a:ext cx="638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Ontology</a:t>
            </a:r>
            <a:endParaRPr/>
          </a:p>
        </p:txBody>
      </p:sp>
      <p:sp>
        <p:nvSpPr>
          <p:cNvPr id="1379" name="" descr="{&quot;isTemplate&quot;:true,&quot;type&quot;:&quot;text&quot;}"/>
          <p:cNvSpPr txBox="1"/>
          <p:nvPr/>
        </p:nvSpPr>
        <p:spPr>
          <a:xfrm rot="0" flipH="0" flipV="0">
            <a:off x="5286375" y="2171700"/>
            <a:ext cx="1457325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对象类型</a:t>
            </a:r>
            <a:r>
              <a:rPr lang="en-US" sz="788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链接类型</a:t>
            </a:r>
            <a:r>
              <a:rPr lang="en-US" sz="788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函数</a:t>
            </a:r>
            <a:r>
              <a:rPr lang="en-US" sz="788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动作</a:t>
            </a:r>
            <a:endParaRPr/>
          </a:p>
        </p:txBody>
      </p:sp>
      <p:sp>
        <p:nvSpPr>
          <p:cNvPr id="1380" name="" descr="{&quot;isTemplate&quot;:true,&quot;type&quot;:&quot;text&quot;}"/>
          <p:cNvSpPr txBox="1"/>
          <p:nvPr/>
        </p:nvSpPr>
        <p:spPr>
          <a:xfrm rot="0" flipH="0" flipV="0">
            <a:off x="8153400" y="193357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E0651A"/>
                </a:solidFill>
                <a:latin typeface="Microsoft YaHei"/>
                <a:ea typeface="Microsoft YaHei"/>
              </a:rPr>
              <a:t>出向管道</a:t>
            </a:r>
            <a:endParaRPr/>
          </a:p>
        </p:txBody>
      </p:sp>
      <p:sp>
        <p:nvSpPr>
          <p:cNvPr id="1381" name=""/>
          <p:cNvSpPr/>
          <p:nvPr/>
        </p:nvSpPr>
        <p:spPr>
          <a:xfrm rot="0" flipH="0" flipV="0">
            <a:off x="6991350" y="2114550"/>
            <a:ext cx="2743200" cy="38100"/>
          </a:xfrm>
          <a:prstGeom prst="rect">
            <a:avLst/>
          </a:prstGeom>
          <a:solidFill>
            <a:srgbClr val="E0651A"/>
          </a:solidFill>
          <a:ln/>
        </p:spPr>
        <p:txBody>
          <a:bodyPr/>
          <a:p/>
        </p:txBody>
      </p:sp>
      <p:sp>
        <p:nvSpPr>
          <p:cNvPr id="1382" name="" descr="{&quot;isTemplate&quot;:true,&quot;type&quot;:&quot;text&quot;}"/>
          <p:cNvSpPr txBox="1"/>
          <p:nvPr/>
        </p:nvSpPr>
        <p:spPr>
          <a:xfrm rot="0" flipH="0" flipV="0">
            <a:off x="7705725" y="2200275"/>
            <a:ext cx="13144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5A6072"/>
                </a:solidFill>
                <a:latin typeface="Microsoft YaHei"/>
                <a:ea typeface="Microsoft YaHei"/>
              </a:rPr>
              <a:t>数据</a:t>
            </a:r>
            <a:r>
              <a:rPr lang="en-US" sz="788">
                <a:solidFill>
                  <a:srgbClr val="5A6072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>
                <a:solidFill>
                  <a:srgbClr val="5A6072"/>
                </a:solidFill>
                <a:latin typeface="Microsoft YaHei"/>
                <a:ea typeface="Microsoft YaHei"/>
              </a:rPr>
              <a:t>逻辑</a:t>
            </a:r>
            <a:r>
              <a:rPr lang="en-US" sz="788">
                <a:solidFill>
                  <a:srgbClr val="5A6072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>
                <a:solidFill>
                  <a:srgbClr val="5A6072"/>
                </a:solidFill>
                <a:latin typeface="Microsoft YaHei"/>
                <a:ea typeface="Microsoft YaHei"/>
              </a:rPr>
              <a:t>动作</a:t>
            </a:r>
            <a:r>
              <a:rPr lang="en-US" sz="788">
                <a:solidFill>
                  <a:srgbClr val="5A6072"/>
                </a:solidFill>
                <a:latin typeface="Microsoft YaHei"/>
                <a:ea typeface="Microsoft YaHei"/>
              </a:rPr>
              <a:t xml:space="preserve"> · Webhook</a:t>
            </a:r>
            <a:endParaRPr/>
          </a:p>
        </p:txBody>
      </p:sp>
      <p:sp>
        <p:nvSpPr>
          <p:cNvPr id="1383" name=""/>
          <p:cNvSpPr/>
          <p:nvPr/>
        </p:nvSpPr>
        <p:spPr>
          <a:xfrm rot="0" flipH="0" flipV="0">
            <a:off x="9810750" y="1838325"/>
            <a:ext cx="1600200" cy="59055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384" name="" descr="{&quot;isTemplate&quot;:true,&quot;type&quot;:&quot;text&quot;}"/>
          <p:cNvSpPr txBox="1"/>
          <p:nvPr/>
        </p:nvSpPr>
        <p:spPr>
          <a:xfrm rot="0" flipH="0" flipV="0">
            <a:off x="10429875" y="198120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调用方</a:t>
            </a:r>
            <a:endParaRPr/>
          </a:p>
        </p:txBody>
      </p:sp>
      <p:sp>
        <p:nvSpPr>
          <p:cNvPr id="1385" name="" descr="{&quot;isTemplate&quot;:true,&quot;type&quot;:&quot;text&quot;}"/>
          <p:cNvSpPr txBox="1"/>
          <p:nvPr/>
        </p:nvSpPr>
        <p:spPr>
          <a:xfrm rot="0" flipH="0" flipV="0">
            <a:off x="10115550" y="2162175"/>
            <a:ext cx="1000125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应用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知识库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/ Agent</a:t>
            </a:r>
            <a:endParaRPr/>
          </a:p>
        </p:txBody>
      </p:sp>
      <p:sp>
        <p:nvSpPr>
          <p:cNvPr id="1386" name=""/>
          <p:cNvSpPr/>
          <p:nvPr/>
        </p:nvSpPr>
        <p:spPr>
          <a:xfrm rot="0" flipH="0" flipV="0">
            <a:off x="609600" y="2838450"/>
            <a:ext cx="2676525" cy="2105025"/>
          </a:xfrm>
          <a:prstGeom prst="roundRect">
            <a:avLst>
              <a:gd name="adj" fmla="val 181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87" name=""/>
          <p:cNvSpPr/>
          <p:nvPr/>
        </p:nvSpPr>
        <p:spPr>
          <a:xfrm rot="0" flipH="0" flipV="0">
            <a:off x="609600" y="2838450"/>
            <a:ext cx="2676525" cy="2105025"/>
          </a:xfrm>
          <a:custGeom>
            <a:pathLst>
              <a:path w="281" h="221">
                <a:moveTo>
                  <a:pt x="277" y="0"/>
                </a:moveTo>
                <a:cubicBezTo>
                  <a:pt x="279" y="0"/>
                  <a:pt x="281" y="2"/>
                  <a:pt x="281" y="4"/>
                </a:cubicBezTo>
                <a:cubicBezTo>
                  <a:pt x="281" y="3"/>
                  <a:pt x="280" y="3"/>
                  <a:pt x="280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7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388" name="" descr="{&quot;isTemplate&quot;:true,&quot;type&quot;:&quot;text&quot;}"/>
          <p:cNvSpPr txBox="1"/>
          <p:nvPr/>
        </p:nvSpPr>
        <p:spPr>
          <a:xfrm rot="0" flipH="0" flipV="0">
            <a:off x="733425" y="2933700"/>
            <a:ext cx="2428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8A8F99"/>
                </a:solidFill>
                <a:latin typeface="Microsoft YaHei"/>
                <a:ea typeface="Microsoft YaHei"/>
              </a:rPr>
              <a:t>传统</a:t>
            </a:r>
            <a:r>
              <a:rPr lang="en-US" sz="1050" b="1">
                <a:solidFill>
                  <a:srgbClr val="8A8F99"/>
                </a:solidFill>
                <a:latin typeface="Microsoft YaHei"/>
                <a:ea typeface="Microsoft YaHei"/>
              </a:rPr>
              <a:t xml:space="preserve"> ETL</a:t>
            </a:r>
            <a:endParaRPr/>
          </a:p>
        </p:txBody>
      </p:sp>
      <p:sp>
        <p:nvSpPr>
          <p:cNvPr id="1389" name="" descr="{&quot;isTemplate&quot;:true,&quot;type&quot;:&quot;text&quot;}"/>
          <p:cNvSpPr txBox="1"/>
          <p:nvPr/>
        </p:nvSpPr>
        <p:spPr>
          <a:xfrm rot="0" flipH="0" flipV="0">
            <a:off x="733425" y="3143250"/>
            <a:ext cx="2428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先清洗后入仓</a:t>
            </a:r>
            <a:endParaRPr/>
          </a:p>
        </p:txBody>
      </p:sp>
      <p:sp>
        <p:nvSpPr>
          <p:cNvPr id="1390" name="" descr="{&quot;isTemplate&quot;:true,&quot;type&quot;:&quot;text&quot;}"/>
          <p:cNvSpPr txBox="1"/>
          <p:nvPr/>
        </p:nvSpPr>
        <p:spPr>
          <a:xfrm rot="0" flipH="0" flipV="0">
            <a:off x="733425" y="3343275"/>
            <a:ext cx="242887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5A6072"/>
                </a:solidFill>
                <a:latin typeface="Microsoft YaHei"/>
                <a:ea typeface="Microsoft YaHei"/>
              </a:rPr>
              <a:t>目标是把数据搬到仓里；搬完就结束，不关心搬的是第几版，也不管谁在用</a:t>
            </a:r>
            <a:endParaRPr/>
          </a:p>
        </p:txBody>
      </p:sp>
      <p:sp>
        <p:nvSpPr>
          <p:cNvPr id="1391" name=""/>
          <p:cNvSpPr/>
          <p:nvPr/>
        </p:nvSpPr>
        <p:spPr>
          <a:xfrm rot="0" flipH="0" flipV="0">
            <a:off x="3381375" y="2838450"/>
            <a:ext cx="2667000" cy="2105025"/>
          </a:xfrm>
          <a:prstGeom prst="roundRect">
            <a:avLst>
              <a:gd name="adj" fmla="val 181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92" name=""/>
          <p:cNvSpPr/>
          <p:nvPr/>
        </p:nvSpPr>
        <p:spPr>
          <a:xfrm rot="0" flipH="0" flipV="0">
            <a:off x="3381375" y="2838450"/>
            <a:ext cx="2667000" cy="2105025"/>
          </a:xfrm>
          <a:custGeom>
            <a:pathLst>
              <a:path w="280" h="221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393" name="" descr="{&quot;isTemplate&quot;:true,&quot;type&quot;:&quot;text&quot;}"/>
          <p:cNvSpPr txBox="1"/>
          <p:nvPr/>
        </p:nvSpPr>
        <p:spPr>
          <a:xfrm rot="0" flipH="0" flipV="0">
            <a:off x="3505200" y="2933700"/>
            <a:ext cx="2419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A8F99"/>
                </a:solidFill>
                <a:latin typeface="Microsoft YaHei"/>
                <a:ea typeface="Microsoft YaHei"/>
              </a:rPr>
              <a:t>ELT</a:t>
            </a:r>
            <a:endParaRPr/>
          </a:p>
        </p:txBody>
      </p:sp>
      <p:sp>
        <p:nvSpPr>
          <p:cNvPr id="1394" name="" descr="{&quot;isTemplate&quot;:true,&quot;type&quot;:&quot;text&quot;}"/>
          <p:cNvSpPr txBox="1"/>
          <p:nvPr/>
        </p:nvSpPr>
        <p:spPr>
          <a:xfrm rot="0" flipH="0" flipV="0">
            <a:off x="3505200" y="3143250"/>
            <a:ext cx="2419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先入仓后建模</a:t>
            </a:r>
            <a:endParaRPr/>
          </a:p>
        </p:txBody>
      </p:sp>
      <p:sp>
        <p:nvSpPr>
          <p:cNvPr id="1395" name="" descr="{&quot;isTemplate&quot;:true,&quot;type&quot;:&quot;text&quot;}"/>
          <p:cNvSpPr txBox="1"/>
          <p:nvPr/>
        </p:nvSpPr>
        <p:spPr>
          <a:xfrm rot="0" flipH="0" flipV="0">
            <a:off x="3505200" y="3343275"/>
            <a:ext cx="24193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5A6072"/>
                </a:solidFill>
                <a:latin typeface="Microsoft YaHei"/>
                <a:ea typeface="Microsoft YaHei"/>
              </a:rPr>
              <a:t>把建模权交给仓内，灵活但代价是「谁在仓里建了临时表」没人说得清</a:t>
            </a:r>
            <a:endParaRPr/>
          </a:p>
        </p:txBody>
      </p:sp>
      <p:sp>
        <p:nvSpPr>
          <p:cNvPr id="1396" name=""/>
          <p:cNvSpPr/>
          <p:nvPr/>
        </p:nvSpPr>
        <p:spPr>
          <a:xfrm rot="0" flipH="0" flipV="0">
            <a:off x="6143625" y="2838450"/>
            <a:ext cx="2676525" cy="2105025"/>
          </a:xfrm>
          <a:prstGeom prst="roundRect">
            <a:avLst>
              <a:gd name="adj" fmla="val 181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97" name=""/>
          <p:cNvSpPr/>
          <p:nvPr/>
        </p:nvSpPr>
        <p:spPr>
          <a:xfrm rot="0" flipH="0" flipV="0">
            <a:off x="6143625" y="2838450"/>
            <a:ext cx="2676525" cy="2105025"/>
          </a:xfrm>
          <a:custGeom>
            <a:pathLst>
              <a:path w="281" h="221">
                <a:moveTo>
                  <a:pt x="277" y="0"/>
                </a:moveTo>
                <a:cubicBezTo>
                  <a:pt x="279" y="0"/>
                  <a:pt x="281" y="2"/>
                  <a:pt x="281" y="4"/>
                </a:cubicBezTo>
                <a:cubicBezTo>
                  <a:pt x="281" y="3"/>
                  <a:pt x="280" y="3"/>
                  <a:pt x="280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7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98" name="" descr="{&quot;isTemplate&quot;:true,&quot;type&quot;:&quot;text&quot;}"/>
          <p:cNvSpPr txBox="1"/>
          <p:nvPr/>
        </p:nvSpPr>
        <p:spPr>
          <a:xfrm rot="0" flipH="0" flipV="0">
            <a:off x="6267450" y="2933700"/>
            <a:ext cx="2428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管道处理</a:t>
            </a:r>
            <a:endParaRPr/>
          </a:p>
        </p:txBody>
      </p:sp>
      <p:sp>
        <p:nvSpPr>
          <p:cNvPr id="1399" name="" descr="{&quot;isTemplate&quot;:true,&quot;type&quot;:&quot;text&quot;}"/>
          <p:cNvSpPr txBox="1"/>
          <p:nvPr/>
        </p:nvSpPr>
        <p:spPr>
          <a:xfrm rot="0" flipH="0" flipV="0">
            <a:off x="6267450" y="3143250"/>
            <a:ext cx="2428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以版本为管理单位</a:t>
            </a:r>
            <a:endParaRPr/>
          </a:p>
        </p:txBody>
      </p:sp>
      <p:sp>
        <p:nvSpPr>
          <p:cNvPr id="1400" name="" descr="{&quot;isTemplate&quot;:true,&quot;type&quot;:&quot;text&quot;}"/>
          <p:cNvSpPr txBox="1"/>
          <p:nvPr/>
        </p:nvSpPr>
        <p:spPr>
          <a:xfrm rot="0" flipH="0" flipV="0">
            <a:off x="6267450" y="3343275"/>
            <a:ext cx="242887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5A6072"/>
                </a:solidFill>
                <a:latin typeface="Microsoft YaHei"/>
                <a:ea typeface="Microsoft YaHei"/>
              </a:rPr>
              <a:t>以</a:t>
            </a:r>
            <a:r>
              <a:rPr lang="en-US" sz="863">
                <a:solidFill>
                  <a:srgbClr val="5A6072"/>
                </a:solidFill>
                <a:latin typeface="Microsoft YaHei"/>
                <a:ea typeface="Microsoft YaHei"/>
              </a:rPr>
              <a:t xml:space="preserve"> dataset transaction </a:t>
            </a:r>
            <a:r>
              <a:rPr lang="zh-CN" sz="863">
                <a:solidFill>
                  <a:srgbClr val="5A6072"/>
                </a:solidFill>
                <a:latin typeface="Microsoft YaHei"/>
                <a:ea typeface="Microsoft YaHei"/>
              </a:rPr>
              <a:t>为单位管理数据随时间的每一次变更，因此天然带血缘</a:t>
            </a:r>
            <a:endParaRPr/>
          </a:p>
        </p:txBody>
      </p:sp>
      <p:sp>
        <p:nvSpPr>
          <p:cNvPr id="1401" name=""/>
          <p:cNvSpPr/>
          <p:nvPr/>
        </p:nvSpPr>
        <p:spPr>
          <a:xfrm rot="0" flipH="0" flipV="0">
            <a:off x="8915400" y="2838450"/>
            <a:ext cx="2667000" cy="2105025"/>
          </a:xfrm>
          <a:prstGeom prst="roundRect">
            <a:avLst>
              <a:gd name="adj" fmla="val 181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02" name=""/>
          <p:cNvSpPr/>
          <p:nvPr/>
        </p:nvSpPr>
        <p:spPr>
          <a:xfrm rot="0" flipH="0" flipV="0">
            <a:off x="8915400" y="2838450"/>
            <a:ext cx="2667000" cy="2105025"/>
          </a:xfrm>
          <a:custGeom>
            <a:pathLst>
              <a:path w="280" h="221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1403" name="" descr="{&quot;isTemplate&quot;:true,&quot;type&quot;:&quot;text&quot;}"/>
          <p:cNvSpPr txBox="1"/>
          <p:nvPr/>
        </p:nvSpPr>
        <p:spPr>
          <a:xfrm rot="0" flipH="0" flipV="0">
            <a:off x="9039225" y="2933700"/>
            <a:ext cx="2419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0651A"/>
                </a:solidFill>
                <a:latin typeface="Microsoft YaHei"/>
                <a:ea typeface="Microsoft YaHei"/>
              </a:rPr>
              <a:t>进一步</a:t>
            </a:r>
            <a:endParaRPr/>
          </a:p>
        </p:txBody>
      </p:sp>
      <p:sp>
        <p:nvSpPr>
          <p:cNvPr id="1404" name="" descr="{&quot;isTemplate&quot;:true,&quot;type&quot;:&quot;text&quot;}"/>
          <p:cNvSpPr txBox="1"/>
          <p:nvPr/>
        </p:nvSpPr>
        <p:spPr>
          <a:xfrm rot="0" flipH="0" flipV="0">
            <a:off x="9039225" y="3143250"/>
            <a:ext cx="2419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进向与出向都管</a:t>
            </a:r>
            <a:endParaRPr/>
          </a:p>
        </p:txBody>
      </p:sp>
      <p:sp>
        <p:nvSpPr>
          <p:cNvPr id="1405" name="" descr="{&quot;isTemplate&quot;:true,&quot;type&quot;:&quot;text&quot;}"/>
          <p:cNvSpPr txBox="1"/>
          <p:nvPr/>
        </p:nvSpPr>
        <p:spPr>
          <a:xfrm rot="0" flipH="0" flipV="0">
            <a:off x="9039225" y="3343275"/>
            <a:ext cx="24193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5A6072"/>
                </a:solidFill>
                <a:latin typeface="Microsoft YaHei"/>
                <a:ea typeface="Microsoft YaHei"/>
              </a:rPr>
              <a:t>不仅管「进不进得来」，还管「出得去时带走了什么权限、什么上下文、什么边界」</a:t>
            </a:r>
            <a:endParaRPr/>
          </a:p>
        </p:txBody>
      </p:sp>
      <p:sp>
        <p:nvSpPr>
          <p:cNvPr id="1406" name=""/>
          <p:cNvSpPr/>
          <p:nvPr/>
        </p:nvSpPr>
        <p:spPr>
          <a:xfrm rot="0" flipH="0" flipV="0">
            <a:off x="609600" y="5010150"/>
            <a:ext cx="10972800" cy="628650"/>
          </a:xfrm>
          <a:prstGeom prst="roundRect">
            <a:avLst>
              <a:gd name="adj" fmla="val 606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07" name="" descr="{&quot;isTemplate&quot;:true,&quot;type&quot;:&quot;text&quot;}"/>
          <p:cNvSpPr txBox="1"/>
          <p:nvPr/>
        </p:nvSpPr>
        <p:spPr>
          <a:xfrm rot="0" flipH="0" flipV="0">
            <a:off x="781050" y="5248275"/>
            <a:ext cx="121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四个特殊之处</a:t>
            </a:r>
            <a:endParaRPr/>
          </a:p>
        </p:txBody>
      </p:sp>
      <p:sp>
        <p:nvSpPr>
          <p:cNvPr id="1408" name="" descr="{&quot;isTemplate&quot;:true,&quot;type&quot;:&quot;text&quot;}"/>
          <p:cNvSpPr txBox="1"/>
          <p:nvPr/>
        </p:nvSpPr>
        <p:spPr>
          <a:xfrm rot="0" flipH="0" flipV="0">
            <a:off x="2114550" y="5105400"/>
            <a:ext cx="92964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一、它的基本单位是「版本」而不是「表」；二、它天生要回答「谁批的、能不能退」；三、它的下游是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与本体，安全边界要重新划；四、它自己必须可观测，否则没人敢让它上生产。</a:t>
            </a:r>
            <a:endParaRPr/>
          </a:p>
        </p:txBody>
      </p:sp>
      <p:sp>
        <p:nvSpPr>
          <p:cNvPr id="1409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10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11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1412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06 / 30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413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Palantir 管道体系全景：&lt;span style={{ color: '#FA4F24' }}&gt;源到本体、本体到应用&lt;/span&gt;&#10;      &lt;/Text&gt;&#10;      &lt;Text style={{ fontSize: 20, color: '#8A8F99', marginTop: 8 }}&gt;&#10;        咨询时先认清楚五个部件的名字与位置，客户的架构图上往往只画了其中一两个&#10;      &lt;/Text&gt;&#10;    &lt;/Box&gt;&#10;    &lt;Box style={{ height: 1, background: '#E8E8E8' }} /&gt;&#10;&#10;    &lt;Box style={{ paddingTop: 14, paddingBottom: 8, height: 479, flexDirection: 'column', gap: 10 }}&gt;&#10;      {/* 五段流水线 */}&#10;      &lt;Box style={{ height: 186, background: '#0F1423', borderRadius: 4, padding: '14px 18px', flexDirection: 'column' }}&gt;&#10;        &lt;Text style={{ fontSize: 14, fontWeight: 'bold', color: '#FBA15C' }}&gt;进向五段：连接 → 探索 → 加工 → 映射 → 调度&lt;/Text&gt;&#10;        &lt;Box style={{ flex: 1, flexDirection: 'row', alignItems: 'center', gap: 7, marginTop: 10 }}&gt;&#10;          {[&#10;            { n: 'Connectors', t: '批量 / 流 / CDC / 虚拟表', d: '建立连接与增量同步' },&#10;            { n: 'Source exploration', t: '引导式发现 + 批量入篮', d: '先看清源里有什么' },&#10;            { n: 'HyperAuto / SDDI', t: '自动生成四步管道', d: '元数据推导转换逻辑' },&#10;            { n: 'Pipeline Builder', t: '图形化与代码双模', d: '清洗过滤 join 富化' },&#10;            { n: 'Ontology mapping', t: '映射对象类型与链接类型', d: '数据集成为本体的一部分' },&#10;          ].map((it, i) =&gt; (&#10;            &lt;Box key={it.n} style={{ flex: 1, background: 'rgba(255,255,255,0.07)', borderRadius: 3, padding: '8px 10px', borderLeft: '3px solid #FA4F24' }}&gt;&#10;              &lt;Text style={{ fontSize: 12, fontWeight: 'bold', color: '#FFFFFF' }}&gt;{it.n}&lt;/Text&gt;&#10;              &lt;Text style={{ fontSize: 10.5, color: '#FBA15C', marginTop: 4 }}&gt;{it.t}&lt;/Text&gt;&#10;              &lt;Text style={{ fontSize: 10.5, color: 'rgba(255,255,255,0.6)', marginTop: 4, lineHeight: 1.45 }}&gt;{it.d}&lt;/Text&gt;&#10;              {i &lt; 4 ? &lt;Text style={{ fontSize: 14, color: 'rgba(255,255,255,0.35)', marginTop: 4 }}&gt;›&lt;/Text&gt; : null}&#10;            &lt;/Box&gt;&#10;          ))}&#10;        &lt;/Box&gt;&#10;        &lt;Text style={{ fontSize: 11, color: 'rgba(255,255,255,0.55)', marginTop: 9 }}&gt;&#10;          官方开发流程：先建 Project 结构 → 写 batch pipeline 产出高质量数据集 → 映射成 object / link types → 设置调度 → 再补单测、分支发布、健康检查&#10;        &lt;/Text&gt;&#10;      &lt;/Box&gt;&#10;&#10;      &lt;Box style={{ flex: 1, flexDirection: 'row', gap: 10 }}&gt;&#10;        &lt;Box style={{ width: 424, background: '#FFF3EE', borderRadius: 4, borderLeft: '4px solid #FA4F24', padding: '12px 16px', flexDirection: 'column' }}&gt;&#10;          &lt;Text style={{ fontSize: 14, fontWeight: 'bold', color: '#C43A17' }}&gt;出向三出口 + 两个运维面&lt;/Text&gt;&#10;          {[&#10;            { b: 'Data', t: '查询与取数，按行级列级权限过滤' },&#10;            { b: 'Logic', t: '函数与逻辑，只有它能真正改本体' },&#10;            { b: 'Action', t: '写回与外发，必须由 Logic 执行' },&#10;            { b: 'Data Health', t: '状态 / 时间 / 规模 / 内容 / 模式五维检查' },&#10;            { b: 'Data Lineage', t: '一处问题如何影响下游，看得见' },&#10;          ].map((it, i) =&gt; (&#10;            &lt;Box key={it.b} style={{ flex: 1, flexDirection: 'row', alignItems: 'center', gap: 10, borderTop: i === 0 ? 'none' : '1px solid #FBA15C' }}&gt;&#10;              &lt;Text style={{ fontSize: 12, fontWeight: 'bold', color: '#FA4F24', width: 96 }}&gt;{it.b}&lt;/Text&gt;&#10;              &lt;Text style={{ fontSize: 11.5, color: '#3A4050', flex: 1 }}&gt;{it.t}&lt;/Text&gt;&#10;            &lt;/Box&gt;&#10;          ))}&#10;        &lt;/Box&gt;&#10;&#10;        &lt;Box style={{ flex: 1, background: '#F7F7F8', borderRadius: 4, padding: '12px 16px', flexDirection: 'column' }}&gt;&#10;          &lt;Text style={{ fontSize: 14, fontWeight: 'bold', color: '#0F1423' }}&gt;互操作：不复制别人已有的数据&lt;/Text&gt;&#10;          &lt;Text style={{ fontSize: 11.5, color: '#3A4050', marginTop: 8, lineHeight: 1.6 }}&gt;&#10;            官方明确要求：所有数据保持原始格式（CSV / Iceberg / Parquet），通过 REST、JDBC、S3 兼容接口访问；通过多模态数据平面与虚拟表框架，直接对接 Databricks、Snowflake、BigQuery 中已有的数据资产，避免无谓的数据复制。&#10;          &lt;/Text&gt;&#10;          &lt;Box style={{ flex: 1, flexDirection: 'row', gap: 8, marginTop: 10 }}&gt;&#10;            {[&#10;              { b: 'Metadata', t: '与既有数据目录、主数据双向连接' },&#10;              { b: 'Code', t: 'Python / Java / SparkSQL，多引擎可换' },&#10;            ].map((it, i) =&gt; (&#10;              &lt;Box key={it.b} style={{ flex: 1, background: '#FFFFFF', border: '1px solid #E8E8E8', borderRadius: 3, padding: '8px 11px' }}&gt;&#10;                &lt;Text style={{ fontSize: 12.5, fontWeight: 'bold', color: '#0F1423' }}&gt;{it.b}&lt;/Text&gt;&#10;                &lt;Text style={{ fontSize: 11, color: '#5A6072', marginTop: 4, lineHeight: 1.45 }}&gt;{it.t}&lt;/Text&gt;&#10;              &lt;/Box&gt;&#10;            ))}&#10;          &lt;/Box&gt;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07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1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Palantir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管道体系全景：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源到本体、本体到应用</a:t>
            </a:r>
            <a:endParaRPr/>
          </a:p>
        </p:txBody>
      </p:sp>
      <p:sp>
        <p:nvSpPr>
          <p:cNvPr id="141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咨询时先认清楚五个部件的名字与位置，客户的架构图上往往只画了其中一两个</a:t>
            </a:r>
            <a:endParaRPr/>
          </a:p>
        </p:txBody>
      </p:sp>
      <p:sp>
        <p:nvSpPr>
          <p:cNvPr id="141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18" name=""/>
          <p:cNvSpPr/>
          <p:nvPr/>
        </p:nvSpPr>
        <p:spPr>
          <a:xfrm rot="0" flipH="0" flipV="0">
            <a:off x="609600" y="1285875"/>
            <a:ext cx="10972800" cy="1771650"/>
          </a:xfrm>
          <a:prstGeom prst="roundRect">
            <a:avLst>
              <a:gd name="adj" fmla="val 21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19" name="" descr="{&quot;isTemplate&quot;:true,&quot;type&quot;:&quot;text&quot;}"/>
          <p:cNvSpPr txBox="1"/>
          <p:nvPr/>
        </p:nvSpPr>
        <p:spPr>
          <a:xfrm rot="0" flipH="0" flipV="0">
            <a:off x="781050" y="141922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进向五段：连接</a:t>
            </a:r>
            <a:r>
              <a:rPr lang="en-US" sz="105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探索</a:t>
            </a:r>
            <a:r>
              <a:rPr lang="en-US" sz="105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加工</a:t>
            </a:r>
            <a:r>
              <a:rPr lang="en-US" sz="105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映射</a:t>
            </a:r>
            <a:r>
              <a:rPr lang="en-US" sz="105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调度</a:t>
            </a:r>
            <a:endParaRPr/>
          </a:p>
        </p:txBody>
      </p:sp>
      <p:sp>
        <p:nvSpPr>
          <p:cNvPr id="1420" name=""/>
          <p:cNvSpPr/>
          <p:nvPr/>
        </p:nvSpPr>
        <p:spPr>
          <a:xfrm rot="0" flipH="0" flipV="0">
            <a:off x="809625" y="1752600"/>
            <a:ext cx="2076450" cy="876300"/>
          </a:xfrm>
          <a:prstGeom prst="roundRect">
            <a:avLst>
              <a:gd name="adj" fmla="val 3261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421" name=""/>
          <p:cNvSpPr/>
          <p:nvPr/>
        </p:nvSpPr>
        <p:spPr>
          <a:xfrm rot="0" flipH="0" flipV="0">
            <a:off x="809625" y="1752600"/>
            <a:ext cx="2076450" cy="876300"/>
          </a:xfrm>
          <a:custGeom>
            <a:pathLst>
              <a:path w="218" h="92">
                <a:moveTo>
                  <a:pt x="3" y="92"/>
                </a:moveTo>
                <a:cubicBezTo>
                  <a:pt x="1" y="92"/>
                  <a:pt x="0" y="91"/>
                  <a:pt x="0" y="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22" name="" descr="{&quot;isTemplate&quot;:true,&quot;type&quot;:&quot;text&quot;}"/>
          <p:cNvSpPr txBox="1"/>
          <p:nvPr/>
        </p:nvSpPr>
        <p:spPr>
          <a:xfrm rot="0" flipH="0" flipV="0">
            <a:off x="904875" y="1828800"/>
            <a:ext cx="1857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Connectors</a:t>
            </a:r>
            <a:endParaRPr/>
          </a:p>
        </p:txBody>
      </p:sp>
      <p:sp>
        <p:nvSpPr>
          <p:cNvPr id="1423" name="" descr="{&quot;isTemplate&quot;:true,&quot;type&quot;:&quot;text&quot;}"/>
          <p:cNvSpPr txBox="1"/>
          <p:nvPr/>
        </p:nvSpPr>
        <p:spPr>
          <a:xfrm rot="0" flipH="0" flipV="0">
            <a:off x="904875" y="2009775"/>
            <a:ext cx="18573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BA15C"/>
                </a:solidFill>
                <a:latin typeface="Microsoft YaHei"/>
                <a:ea typeface="Microsoft YaHei"/>
              </a:rPr>
              <a:t>批量</a:t>
            </a:r>
            <a:r>
              <a:rPr lang="en-US" sz="788">
                <a:solidFill>
                  <a:srgbClr val="FBA15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788">
                <a:solidFill>
                  <a:srgbClr val="FBA15C"/>
                </a:solidFill>
                <a:latin typeface="Microsoft YaHei"/>
                <a:ea typeface="Microsoft YaHei"/>
              </a:rPr>
              <a:t>流</a:t>
            </a:r>
            <a:r>
              <a:rPr lang="en-US" sz="788">
                <a:solidFill>
                  <a:srgbClr val="FBA15C"/>
                </a:solidFill>
                <a:latin typeface="Microsoft YaHei"/>
                <a:ea typeface="Microsoft YaHei"/>
              </a:rPr>
              <a:t xml:space="preserve"> / CDC / </a:t>
            </a:r>
            <a:r>
              <a:rPr lang="zh-CN" sz="788">
                <a:solidFill>
                  <a:srgbClr val="FBA15C"/>
                </a:solidFill>
                <a:latin typeface="Microsoft YaHei"/>
                <a:ea typeface="Microsoft YaHei"/>
              </a:rPr>
              <a:t>虚拟表</a:t>
            </a:r>
            <a:endParaRPr/>
          </a:p>
        </p:txBody>
      </p:sp>
      <p:sp>
        <p:nvSpPr>
          <p:cNvPr id="1424" name="" descr="{&quot;isTemplate&quot;:true,&quot;type&quot;:&quot;text&quot;}"/>
          <p:cNvSpPr txBox="1"/>
          <p:nvPr/>
        </p:nvSpPr>
        <p:spPr>
          <a:xfrm rot="0" flipH="0" flipV="0">
            <a:off x="904875" y="2171700"/>
            <a:ext cx="18573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建立连接与增量同步</a:t>
            </a:r>
            <a:endParaRPr/>
          </a:p>
        </p:txBody>
      </p:sp>
      <p:sp>
        <p:nvSpPr>
          <p:cNvPr id="1425" name="" descr="{&quot;isTemplate&quot;:true,&quot;type&quot;:&quot;text&quot;}"/>
          <p:cNvSpPr txBox="1"/>
          <p:nvPr/>
        </p:nvSpPr>
        <p:spPr>
          <a:xfrm rot="0" flipH="0" flipV="0">
            <a:off x="904875" y="2390775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FFFFFF">
                    <a:alpha val="35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426" name=""/>
          <p:cNvSpPr/>
          <p:nvPr/>
        </p:nvSpPr>
        <p:spPr>
          <a:xfrm rot="0" flipH="0" flipV="0">
            <a:off x="2952750" y="1752600"/>
            <a:ext cx="2066925" cy="876300"/>
          </a:xfrm>
          <a:prstGeom prst="roundRect">
            <a:avLst>
              <a:gd name="adj" fmla="val 3261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427" name=""/>
          <p:cNvSpPr/>
          <p:nvPr/>
        </p:nvSpPr>
        <p:spPr>
          <a:xfrm rot="0" flipH="0" flipV="0">
            <a:off x="2952750" y="1752600"/>
            <a:ext cx="2066925" cy="876300"/>
          </a:xfrm>
          <a:custGeom>
            <a:pathLst>
              <a:path w="217" h="92">
                <a:moveTo>
                  <a:pt x="3" y="92"/>
                </a:moveTo>
                <a:cubicBezTo>
                  <a:pt x="1" y="92"/>
                  <a:pt x="0" y="91"/>
                  <a:pt x="0" y="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28" name="" descr="{&quot;isTemplate&quot;:true,&quot;type&quot;:&quot;text&quot;}"/>
          <p:cNvSpPr txBox="1"/>
          <p:nvPr/>
        </p:nvSpPr>
        <p:spPr>
          <a:xfrm rot="0" flipH="0" flipV="0">
            <a:off x="3048000" y="1828800"/>
            <a:ext cx="1847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Source exploration</a:t>
            </a:r>
            <a:endParaRPr/>
          </a:p>
        </p:txBody>
      </p:sp>
      <p:sp>
        <p:nvSpPr>
          <p:cNvPr id="1429" name="" descr="{&quot;isTemplate&quot;:true,&quot;type&quot;:&quot;text&quot;}"/>
          <p:cNvSpPr txBox="1"/>
          <p:nvPr/>
        </p:nvSpPr>
        <p:spPr>
          <a:xfrm rot="0" flipH="0" flipV="0">
            <a:off x="3048000" y="2009775"/>
            <a:ext cx="18478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BA15C"/>
                </a:solidFill>
                <a:latin typeface="Microsoft YaHei"/>
                <a:ea typeface="Microsoft YaHei"/>
              </a:rPr>
              <a:t>引导式发现</a:t>
            </a:r>
            <a:r>
              <a:rPr lang="en-US" sz="788">
                <a:solidFill>
                  <a:srgbClr val="FBA15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FBA15C"/>
                </a:solidFill>
                <a:latin typeface="Microsoft YaHei"/>
                <a:ea typeface="Microsoft YaHei"/>
              </a:rPr>
              <a:t>批量入篮</a:t>
            </a:r>
            <a:endParaRPr/>
          </a:p>
        </p:txBody>
      </p:sp>
      <p:sp>
        <p:nvSpPr>
          <p:cNvPr id="1430" name="" descr="{&quot;isTemplate&quot;:true,&quot;type&quot;:&quot;text&quot;}"/>
          <p:cNvSpPr txBox="1"/>
          <p:nvPr/>
        </p:nvSpPr>
        <p:spPr>
          <a:xfrm rot="0" flipH="0" flipV="0">
            <a:off x="3048000" y="2171700"/>
            <a:ext cx="18478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先看清源里有什么</a:t>
            </a:r>
            <a:endParaRPr/>
          </a:p>
        </p:txBody>
      </p:sp>
      <p:sp>
        <p:nvSpPr>
          <p:cNvPr id="1431" name="" descr="{&quot;isTemplate&quot;:true,&quot;type&quot;:&quot;text&quot;}"/>
          <p:cNvSpPr txBox="1"/>
          <p:nvPr/>
        </p:nvSpPr>
        <p:spPr>
          <a:xfrm rot="0" flipH="0" flipV="0">
            <a:off x="3048000" y="23907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FFFFFF">
                    <a:alpha val="35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432" name=""/>
          <p:cNvSpPr/>
          <p:nvPr/>
        </p:nvSpPr>
        <p:spPr>
          <a:xfrm rot="0" flipH="0" flipV="0">
            <a:off x="5086350" y="1752600"/>
            <a:ext cx="2076450" cy="876300"/>
          </a:xfrm>
          <a:prstGeom prst="roundRect">
            <a:avLst>
              <a:gd name="adj" fmla="val 3261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433" name=""/>
          <p:cNvSpPr/>
          <p:nvPr/>
        </p:nvSpPr>
        <p:spPr>
          <a:xfrm rot="0" flipH="0" flipV="0">
            <a:off x="5086350" y="1752600"/>
            <a:ext cx="2076450" cy="876300"/>
          </a:xfrm>
          <a:custGeom>
            <a:pathLst>
              <a:path w="218" h="92">
                <a:moveTo>
                  <a:pt x="3" y="92"/>
                </a:moveTo>
                <a:cubicBezTo>
                  <a:pt x="1" y="92"/>
                  <a:pt x="0" y="91"/>
                  <a:pt x="0" y="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34" name="" descr="{&quot;isTemplate&quot;:true,&quot;type&quot;:&quot;text&quot;}"/>
          <p:cNvSpPr txBox="1"/>
          <p:nvPr/>
        </p:nvSpPr>
        <p:spPr>
          <a:xfrm rot="0" flipH="0" flipV="0">
            <a:off x="5181600" y="1828800"/>
            <a:ext cx="1857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HyperAuto / SDDI</a:t>
            </a:r>
            <a:endParaRPr/>
          </a:p>
        </p:txBody>
      </p:sp>
      <p:sp>
        <p:nvSpPr>
          <p:cNvPr id="1435" name="" descr="{&quot;isTemplate&quot;:true,&quot;type&quot;:&quot;text&quot;}"/>
          <p:cNvSpPr txBox="1"/>
          <p:nvPr/>
        </p:nvSpPr>
        <p:spPr>
          <a:xfrm rot="0" flipH="0" flipV="0">
            <a:off x="5181600" y="2009775"/>
            <a:ext cx="18573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BA15C"/>
                </a:solidFill>
                <a:latin typeface="Microsoft YaHei"/>
                <a:ea typeface="Microsoft YaHei"/>
              </a:rPr>
              <a:t>自动生成四步管道</a:t>
            </a:r>
            <a:endParaRPr/>
          </a:p>
        </p:txBody>
      </p:sp>
      <p:sp>
        <p:nvSpPr>
          <p:cNvPr id="1436" name="" descr="{&quot;isTemplate&quot;:true,&quot;type&quot;:&quot;text&quot;}"/>
          <p:cNvSpPr txBox="1"/>
          <p:nvPr/>
        </p:nvSpPr>
        <p:spPr>
          <a:xfrm rot="0" flipH="0" flipV="0">
            <a:off x="5181600" y="2171700"/>
            <a:ext cx="18573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元数据推导转换逻辑</a:t>
            </a:r>
            <a:endParaRPr/>
          </a:p>
        </p:txBody>
      </p:sp>
      <p:sp>
        <p:nvSpPr>
          <p:cNvPr id="1437" name="" descr="{&quot;isTemplate&quot;:true,&quot;type&quot;:&quot;text&quot;}"/>
          <p:cNvSpPr txBox="1"/>
          <p:nvPr/>
        </p:nvSpPr>
        <p:spPr>
          <a:xfrm rot="0" flipH="0" flipV="0">
            <a:off x="5181600" y="2390775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FFFFFF">
                    <a:alpha val="35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438" name=""/>
          <p:cNvSpPr/>
          <p:nvPr/>
        </p:nvSpPr>
        <p:spPr>
          <a:xfrm rot="0" flipH="0" flipV="0">
            <a:off x="7229475" y="1752600"/>
            <a:ext cx="2066925" cy="876300"/>
          </a:xfrm>
          <a:prstGeom prst="roundRect">
            <a:avLst>
              <a:gd name="adj" fmla="val 3261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439" name=""/>
          <p:cNvSpPr/>
          <p:nvPr/>
        </p:nvSpPr>
        <p:spPr>
          <a:xfrm rot="0" flipH="0" flipV="0">
            <a:off x="7229475" y="1752600"/>
            <a:ext cx="2066925" cy="876300"/>
          </a:xfrm>
          <a:custGeom>
            <a:pathLst>
              <a:path w="217" h="92">
                <a:moveTo>
                  <a:pt x="3" y="92"/>
                </a:moveTo>
                <a:cubicBezTo>
                  <a:pt x="1" y="92"/>
                  <a:pt x="0" y="91"/>
                  <a:pt x="0" y="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40" name="" descr="{&quot;isTemplate&quot;:true,&quot;type&quot;:&quot;text&quot;}"/>
          <p:cNvSpPr txBox="1"/>
          <p:nvPr/>
        </p:nvSpPr>
        <p:spPr>
          <a:xfrm rot="0" flipH="0" flipV="0">
            <a:off x="7324725" y="1828800"/>
            <a:ext cx="1847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Pipeline Builder</a:t>
            </a:r>
            <a:endParaRPr/>
          </a:p>
        </p:txBody>
      </p:sp>
      <p:sp>
        <p:nvSpPr>
          <p:cNvPr id="1441" name="" descr="{&quot;isTemplate&quot;:true,&quot;type&quot;:&quot;text&quot;}"/>
          <p:cNvSpPr txBox="1"/>
          <p:nvPr/>
        </p:nvSpPr>
        <p:spPr>
          <a:xfrm rot="0" flipH="0" flipV="0">
            <a:off x="7324725" y="2009775"/>
            <a:ext cx="18478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BA15C"/>
                </a:solidFill>
                <a:latin typeface="Microsoft YaHei"/>
                <a:ea typeface="Microsoft YaHei"/>
              </a:rPr>
              <a:t>图形化与代码双模</a:t>
            </a:r>
            <a:endParaRPr/>
          </a:p>
        </p:txBody>
      </p:sp>
      <p:sp>
        <p:nvSpPr>
          <p:cNvPr id="1442" name="" descr="{&quot;isTemplate&quot;:true,&quot;type&quot;:&quot;text&quot;}"/>
          <p:cNvSpPr txBox="1"/>
          <p:nvPr/>
        </p:nvSpPr>
        <p:spPr>
          <a:xfrm rot="0" flipH="0" flipV="0">
            <a:off x="7324725" y="2171700"/>
            <a:ext cx="18478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清洗过滤</a:t>
            </a:r>
            <a:r>
              <a:rPr lang="en-US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 xml:space="preserve"> join </a:t>
            </a:r>
            <a:r>
              <a:rPr lang="zh-CN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富化</a:t>
            </a:r>
            <a:endParaRPr/>
          </a:p>
        </p:txBody>
      </p:sp>
      <p:sp>
        <p:nvSpPr>
          <p:cNvPr id="1443" name="" descr="{&quot;isTemplate&quot;:true,&quot;type&quot;:&quot;text&quot;}"/>
          <p:cNvSpPr txBox="1"/>
          <p:nvPr/>
        </p:nvSpPr>
        <p:spPr>
          <a:xfrm rot="0" flipH="0" flipV="0">
            <a:off x="7324725" y="23907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FFFFFF">
                    <a:alpha val="35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444" name=""/>
          <p:cNvSpPr/>
          <p:nvPr/>
        </p:nvSpPr>
        <p:spPr>
          <a:xfrm rot="0" flipH="0" flipV="0">
            <a:off x="9363075" y="1857375"/>
            <a:ext cx="2076450" cy="676275"/>
          </a:xfrm>
          <a:prstGeom prst="roundRect">
            <a:avLst>
              <a:gd name="adj" fmla="val 422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445" name=""/>
          <p:cNvSpPr/>
          <p:nvPr/>
        </p:nvSpPr>
        <p:spPr>
          <a:xfrm rot="0" flipH="0" flipV="0">
            <a:off x="9363075" y="1857375"/>
            <a:ext cx="2076450" cy="676275"/>
          </a:xfrm>
          <a:custGeom>
            <a:pathLst>
              <a:path w="218" h="71">
                <a:moveTo>
                  <a:pt x="3" y="71"/>
                </a:moveTo>
                <a:cubicBezTo>
                  <a:pt x="1" y="71"/>
                  <a:pt x="0" y="70"/>
                  <a:pt x="0" y="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46" name="" descr="{&quot;isTemplate&quot;:true,&quot;type&quot;:&quot;text&quot;}"/>
          <p:cNvSpPr txBox="1"/>
          <p:nvPr/>
        </p:nvSpPr>
        <p:spPr>
          <a:xfrm rot="0" flipH="0" flipV="0">
            <a:off x="9458325" y="1933575"/>
            <a:ext cx="1857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Ontology mapping</a:t>
            </a:r>
            <a:endParaRPr/>
          </a:p>
        </p:txBody>
      </p:sp>
      <p:sp>
        <p:nvSpPr>
          <p:cNvPr id="1447" name="" descr="{&quot;isTemplate&quot;:true,&quot;type&quot;:&quot;text&quot;}"/>
          <p:cNvSpPr txBox="1"/>
          <p:nvPr/>
        </p:nvSpPr>
        <p:spPr>
          <a:xfrm rot="0" flipH="0" flipV="0">
            <a:off x="9458325" y="2114550"/>
            <a:ext cx="18573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BA15C"/>
                </a:solidFill>
                <a:latin typeface="Microsoft YaHei"/>
                <a:ea typeface="Microsoft YaHei"/>
              </a:rPr>
              <a:t>映射对象类型与链接类型</a:t>
            </a:r>
            <a:endParaRPr/>
          </a:p>
        </p:txBody>
      </p:sp>
      <p:sp>
        <p:nvSpPr>
          <p:cNvPr id="1448" name="" descr="{&quot;isTemplate&quot;:true,&quot;type&quot;:&quot;text&quot;}"/>
          <p:cNvSpPr txBox="1"/>
          <p:nvPr/>
        </p:nvSpPr>
        <p:spPr>
          <a:xfrm rot="0" flipH="0" flipV="0">
            <a:off x="9458325" y="2276475"/>
            <a:ext cx="18573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数据集成为本体的一部分</a:t>
            </a:r>
            <a:endParaRPr/>
          </a:p>
        </p:txBody>
      </p:sp>
      <p:sp>
        <p:nvSpPr>
          <p:cNvPr id="1449" name="" descr="{&quot;isTemplate&quot;:true,&quot;type&quot;:&quot;text&quot;}"/>
          <p:cNvSpPr txBox="1"/>
          <p:nvPr/>
        </p:nvSpPr>
        <p:spPr>
          <a:xfrm rot="0" flipH="0" flipV="0">
            <a:off x="781050" y="2790825"/>
            <a:ext cx="10629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官方开发流程：先建</a:t>
            </a: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Project </a:t>
            </a: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结构</a:t>
            </a: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写</a:t>
            </a: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batch pipeline </a:t>
            </a: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产出高质量数据集</a:t>
            </a: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映射成</a:t>
            </a: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object / link types → </a:t>
            </a: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设置调度</a:t>
            </a: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再补单测、分支发布、健康检查</a:t>
            </a:r>
            <a:endParaRPr/>
          </a:p>
        </p:txBody>
      </p:sp>
      <p:sp>
        <p:nvSpPr>
          <p:cNvPr id="1450" name=""/>
          <p:cNvSpPr/>
          <p:nvPr/>
        </p:nvSpPr>
        <p:spPr>
          <a:xfrm rot="0" flipH="0" flipV="0">
            <a:off x="647700" y="3152775"/>
            <a:ext cx="4000500" cy="2486025"/>
          </a:xfrm>
          <a:prstGeom prst="roundRect">
            <a:avLst>
              <a:gd name="adj" fmla="val 153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51" name=""/>
          <p:cNvSpPr/>
          <p:nvPr/>
        </p:nvSpPr>
        <p:spPr>
          <a:xfrm rot="0" flipH="0" flipV="0">
            <a:off x="647700" y="3152775"/>
            <a:ext cx="4000500" cy="2486025"/>
          </a:xfrm>
          <a:custGeom>
            <a:pathLst>
              <a:path w="420" h="261">
                <a:moveTo>
                  <a:pt x="4" y="261"/>
                </a:moveTo>
                <a:cubicBezTo>
                  <a:pt x="2" y="261"/>
                  <a:pt x="0" y="259"/>
                  <a:pt x="0" y="25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6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52" name="" descr="{&quot;isTemplate&quot;:true,&quot;type&quot;:&quot;text&quot;}"/>
          <p:cNvSpPr txBox="1"/>
          <p:nvPr/>
        </p:nvSpPr>
        <p:spPr>
          <a:xfrm rot="0" flipH="0" flipV="0">
            <a:off x="800100" y="3267075"/>
            <a:ext cx="3695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出向三出口</a:t>
            </a: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两个运维面</a:t>
            </a:r>
            <a:endParaRPr/>
          </a:p>
        </p:txBody>
      </p:sp>
      <p:sp>
        <p:nvSpPr>
          <p:cNvPr id="1453" name="" descr="{&quot;isTemplate&quot;:true,&quot;type&quot;:&quot;text&quot;}"/>
          <p:cNvSpPr txBox="1"/>
          <p:nvPr/>
        </p:nvSpPr>
        <p:spPr>
          <a:xfrm rot="0" flipH="0" flipV="0">
            <a:off x="800100" y="3562350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Data</a:t>
            </a:r>
            <a:endParaRPr/>
          </a:p>
        </p:txBody>
      </p:sp>
      <p:sp>
        <p:nvSpPr>
          <p:cNvPr id="1454" name="" descr="{&quot;isTemplate&quot;:true,&quot;type&quot;:&quot;text&quot;}"/>
          <p:cNvSpPr txBox="1"/>
          <p:nvPr/>
        </p:nvSpPr>
        <p:spPr>
          <a:xfrm rot="0" flipH="0" flipV="0">
            <a:off x="1809750" y="3571875"/>
            <a:ext cx="2686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查询与取数，按行级列级权限过滤</a:t>
            </a:r>
            <a:endParaRPr/>
          </a:p>
        </p:txBody>
      </p:sp>
      <p:sp>
        <p:nvSpPr>
          <p:cNvPr id="1455" name=""/>
          <p:cNvSpPr/>
          <p:nvPr/>
        </p:nvSpPr>
        <p:spPr>
          <a:xfrm rot="0" flipH="0" flipV="0">
            <a:off x="800100" y="3838575"/>
            <a:ext cx="3695700" cy="428625"/>
          </a:xfrm>
          <a:custGeom>
            <a:pathLst>
              <a:path w="388" h="45">
                <a:moveTo>
                  <a:pt x="0" y="0"/>
                </a:moveTo>
                <a:lnTo>
                  <a:pt x="388" y="0"/>
                </a:lnTo>
                <a:lnTo>
                  <a:pt x="388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456" name="" descr="{&quot;isTemplate&quot;:true,&quot;type&quot;:&quot;text&quot;}"/>
          <p:cNvSpPr txBox="1"/>
          <p:nvPr/>
        </p:nvSpPr>
        <p:spPr>
          <a:xfrm rot="0" flipH="0" flipV="0">
            <a:off x="800100" y="3981450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Logic</a:t>
            </a:r>
            <a:endParaRPr/>
          </a:p>
        </p:txBody>
      </p:sp>
      <p:sp>
        <p:nvSpPr>
          <p:cNvPr id="1457" name="" descr="{&quot;isTemplate&quot;:true,&quot;type&quot;:&quot;text&quot;}"/>
          <p:cNvSpPr txBox="1"/>
          <p:nvPr/>
        </p:nvSpPr>
        <p:spPr>
          <a:xfrm rot="0" flipH="0" flipV="0">
            <a:off x="1809750" y="3990975"/>
            <a:ext cx="2686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函数与逻辑，只有它能真正改本体</a:t>
            </a:r>
            <a:endParaRPr/>
          </a:p>
        </p:txBody>
      </p:sp>
      <p:sp>
        <p:nvSpPr>
          <p:cNvPr id="1458" name=""/>
          <p:cNvSpPr/>
          <p:nvPr/>
        </p:nvSpPr>
        <p:spPr>
          <a:xfrm rot="0" flipH="0" flipV="0">
            <a:off x="800100" y="4257675"/>
            <a:ext cx="3695700" cy="438150"/>
          </a:xfrm>
          <a:custGeom>
            <a:pathLst>
              <a:path w="388" h="46">
                <a:moveTo>
                  <a:pt x="0" y="0"/>
                </a:moveTo>
                <a:lnTo>
                  <a:pt x="388" y="0"/>
                </a:lnTo>
                <a:lnTo>
                  <a:pt x="388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459" name="" descr="{&quot;isTemplate&quot;:true,&quot;type&quot;:&quot;text&quot;}"/>
          <p:cNvSpPr txBox="1"/>
          <p:nvPr/>
        </p:nvSpPr>
        <p:spPr>
          <a:xfrm rot="0" flipH="0" flipV="0">
            <a:off x="800100" y="441007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Action</a:t>
            </a:r>
            <a:endParaRPr/>
          </a:p>
        </p:txBody>
      </p:sp>
      <p:sp>
        <p:nvSpPr>
          <p:cNvPr id="1460" name="" descr="{&quot;isTemplate&quot;:true,&quot;type&quot;:&quot;text&quot;}"/>
          <p:cNvSpPr txBox="1"/>
          <p:nvPr/>
        </p:nvSpPr>
        <p:spPr>
          <a:xfrm rot="0" flipH="0" flipV="0">
            <a:off x="1809750" y="4410075"/>
            <a:ext cx="2686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写回与外发，必须由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Logic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执行</a:t>
            </a:r>
            <a:endParaRPr/>
          </a:p>
        </p:txBody>
      </p:sp>
      <p:sp>
        <p:nvSpPr>
          <p:cNvPr id="1461" name=""/>
          <p:cNvSpPr/>
          <p:nvPr/>
        </p:nvSpPr>
        <p:spPr>
          <a:xfrm rot="0" flipH="0" flipV="0">
            <a:off x="800100" y="4686300"/>
            <a:ext cx="3695700" cy="428625"/>
          </a:xfrm>
          <a:custGeom>
            <a:pathLst>
              <a:path w="388" h="45">
                <a:moveTo>
                  <a:pt x="0" y="0"/>
                </a:moveTo>
                <a:lnTo>
                  <a:pt x="388" y="0"/>
                </a:lnTo>
                <a:lnTo>
                  <a:pt x="388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462" name="" descr="{&quot;isTemplate&quot;:true,&quot;type&quot;:&quot;text&quot;}"/>
          <p:cNvSpPr txBox="1"/>
          <p:nvPr/>
        </p:nvSpPr>
        <p:spPr>
          <a:xfrm rot="0" flipH="0" flipV="0">
            <a:off x="800100" y="482917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Data Health</a:t>
            </a:r>
            <a:endParaRPr/>
          </a:p>
        </p:txBody>
      </p:sp>
      <p:sp>
        <p:nvSpPr>
          <p:cNvPr id="1463" name="" descr="{&quot;isTemplate&quot;:true,&quot;type&quot;:&quot;text&quot;}"/>
          <p:cNvSpPr txBox="1"/>
          <p:nvPr/>
        </p:nvSpPr>
        <p:spPr>
          <a:xfrm rot="0" flipH="0" flipV="0">
            <a:off x="1809750" y="4838700"/>
            <a:ext cx="2686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状态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时间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规模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内容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模式五维检查</a:t>
            </a:r>
            <a:endParaRPr/>
          </a:p>
        </p:txBody>
      </p:sp>
      <p:sp>
        <p:nvSpPr>
          <p:cNvPr id="1464" name=""/>
          <p:cNvSpPr/>
          <p:nvPr/>
        </p:nvSpPr>
        <p:spPr>
          <a:xfrm rot="0" flipH="0" flipV="0">
            <a:off x="800100" y="5105400"/>
            <a:ext cx="3695700" cy="428625"/>
          </a:xfrm>
          <a:custGeom>
            <a:pathLst>
              <a:path w="388" h="45">
                <a:moveTo>
                  <a:pt x="0" y="0"/>
                </a:moveTo>
                <a:lnTo>
                  <a:pt x="388" y="0"/>
                </a:lnTo>
                <a:lnTo>
                  <a:pt x="388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465" name="" descr="{&quot;isTemplate&quot;:true,&quot;type&quot;:&quot;text&quot;}"/>
          <p:cNvSpPr txBox="1"/>
          <p:nvPr/>
        </p:nvSpPr>
        <p:spPr>
          <a:xfrm rot="0" flipH="0" flipV="0">
            <a:off x="800100" y="524827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Data Lineage</a:t>
            </a:r>
            <a:endParaRPr/>
          </a:p>
        </p:txBody>
      </p:sp>
      <p:sp>
        <p:nvSpPr>
          <p:cNvPr id="1466" name="" descr="{&quot;isTemplate&quot;:true,&quot;type&quot;:&quot;text&quot;}"/>
          <p:cNvSpPr txBox="1"/>
          <p:nvPr/>
        </p:nvSpPr>
        <p:spPr>
          <a:xfrm rot="0" flipH="0" flipV="0">
            <a:off x="1809750" y="5257800"/>
            <a:ext cx="2686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一处问题如何影响下游，看得见</a:t>
            </a:r>
            <a:endParaRPr/>
          </a:p>
        </p:txBody>
      </p:sp>
      <p:sp>
        <p:nvSpPr>
          <p:cNvPr id="1467" name=""/>
          <p:cNvSpPr/>
          <p:nvPr/>
        </p:nvSpPr>
        <p:spPr>
          <a:xfrm rot="0" flipH="0" flipV="0">
            <a:off x="4743450" y="3152775"/>
            <a:ext cx="6838950" cy="2486025"/>
          </a:xfrm>
          <a:prstGeom prst="roundRect">
            <a:avLst>
              <a:gd name="adj" fmla="val 15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68" name="" descr="{&quot;isTemplate&quot;:true,&quot;type&quot;:&quot;text&quot;}"/>
          <p:cNvSpPr txBox="1"/>
          <p:nvPr/>
        </p:nvSpPr>
        <p:spPr>
          <a:xfrm rot="0" flipH="0" flipV="0">
            <a:off x="4895850" y="3267075"/>
            <a:ext cx="6534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互操作：不复制别人已有的数据</a:t>
            </a:r>
            <a:endParaRPr/>
          </a:p>
        </p:txBody>
      </p:sp>
      <p:sp>
        <p:nvSpPr>
          <p:cNvPr id="1469" name="" descr="{&quot;isTemplate&quot;:true,&quot;type&quot;:&quot;text&quot;}"/>
          <p:cNvSpPr txBox="1"/>
          <p:nvPr/>
        </p:nvSpPr>
        <p:spPr>
          <a:xfrm rot="0" flipH="0" flipV="0">
            <a:off x="4895850" y="3505200"/>
            <a:ext cx="653415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官方明确要求：所有数据保持原始格式（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>CSV / Iceberg / Parquet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），通过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REST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>JDBC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S3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兼容接口访问；通过多模态数据平面与虚拟表框架，直接对接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Databricks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>Snowflake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BigQuery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中已有的数据资产，避免无谓的数据复制。</a:t>
            </a:r>
            <a:endParaRPr/>
          </a:p>
        </p:txBody>
      </p:sp>
      <p:sp>
        <p:nvSpPr>
          <p:cNvPr id="1470" name=""/>
          <p:cNvSpPr/>
          <p:nvPr/>
        </p:nvSpPr>
        <p:spPr>
          <a:xfrm rot="0" flipH="0" flipV="0">
            <a:off x="4895850" y="4029075"/>
            <a:ext cx="3228975" cy="1495425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471" name="" descr="{&quot;isTemplate&quot;:true,&quot;type&quot;:&quot;text&quot;}"/>
          <p:cNvSpPr txBox="1"/>
          <p:nvPr/>
        </p:nvSpPr>
        <p:spPr>
          <a:xfrm rot="0" flipH="0" flipV="0">
            <a:off x="5000625" y="4105275"/>
            <a:ext cx="3019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>Metadata</a:t>
            </a:r>
            <a:endParaRPr/>
          </a:p>
        </p:txBody>
      </p:sp>
      <p:sp>
        <p:nvSpPr>
          <p:cNvPr id="1472" name="" descr="{&quot;isTemplate&quot;:true,&quot;type&quot;:&quot;text&quot;}"/>
          <p:cNvSpPr txBox="1"/>
          <p:nvPr/>
        </p:nvSpPr>
        <p:spPr>
          <a:xfrm rot="0" flipH="0" flipV="0">
            <a:off x="5000625" y="4286250"/>
            <a:ext cx="301942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与既有数据目录、主数据双向连接</a:t>
            </a:r>
            <a:endParaRPr/>
          </a:p>
        </p:txBody>
      </p:sp>
      <p:sp>
        <p:nvSpPr>
          <p:cNvPr id="1473" name=""/>
          <p:cNvSpPr/>
          <p:nvPr/>
        </p:nvSpPr>
        <p:spPr>
          <a:xfrm rot="0" flipH="0" flipV="0">
            <a:off x="8201025" y="4029075"/>
            <a:ext cx="3228975" cy="1495425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474" name="" descr="{&quot;isTemplate&quot;:true,&quot;type&quot;:&quot;text&quot;}"/>
          <p:cNvSpPr txBox="1"/>
          <p:nvPr/>
        </p:nvSpPr>
        <p:spPr>
          <a:xfrm rot="0" flipH="0" flipV="0">
            <a:off x="8305800" y="4105275"/>
            <a:ext cx="3019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>Code</a:t>
            </a:r>
            <a:endParaRPr/>
          </a:p>
        </p:txBody>
      </p:sp>
      <p:sp>
        <p:nvSpPr>
          <p:cNvPr id="1475" name="" descr="{&quot;isTemplate&quot;:true,&quot;type&quot;:&quot;text&quot;}"/>
          <p:cNvSpPr txBox="1"/>
          <p:nvPr/>
        </p:nvSpPr>
        <p:spPr>
          <a:xfrm rot="0" flipH="0" flipV="0">
            <a:off x="8305800" y="4286250"/>
            <a:ext cx="301942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>Python / Java / SparkSQL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，多引擎可换</a:t>
            </a:r>
            <a:endParaRPr/>
          </a:p>
        </p:txBody>
      </p:sp>
      <p:sp>
        <p:nvSpPr>
          <p:cNvPr id="147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77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78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1479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07 / 30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480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Data Connection：&lt;span style={{ color: '#FA4F24' }}&gt;把源系统管起来&lt;/span&gt;&#10;      &lt;/Text&gt;&#10;      &lt;Text style={{ fontSize: 20, color: '#8A8F99', marginTop: 8 }}&gt;&#10;        它不是一个连接器，而是一套「以事务管理数据随时间变化」的框架——这是管道可追溯的根&#10;      &lt;/Text&gt;&#10;    &lt;/Box&gt;&#10;    &lt;Box style={{ height: 1, background: '#E8E8E8' }} /&gt;&#10;&#10;    &lt;Box style={{ paddingTop: 14, paddingBottom: 8, height: 479, flexDirection: 'column', gap: 10 }}&gt;&#10;      &lt;Box style={{ height: 92, background: '#0F1423', borderRadius: 4, padding: '12px 18px', flexDirection: 'column' }}&gt;&#10;        &lt;Text style={{ fontSize: 13, fontWeight: 'bold', color: '#FBA15C' }}&gt;官方定义（原文要点）&lt;/Text&gt;&#10;        &lt;Text style={{ fontSize: 14, color: '#FFFFFF', marginTop: 8, lineHeight: 1.55 }}&gt;&#10;          这一框架用于「随时间管理数据」，方式是使用数据集事务来管理离散版本，并由此提供跨时间的完整数据版本血缘——能追溯哪个同步任务产生了哪个版本的哪一个数据集。&#10;        &lt;/Text&gt;&#10;      &lt;/Box&gt;&#10;&#10;      &lt;Box style={{ flex: 1, flexDirection: 'row', gap: 10 }}&gt;&#10;        &lt;Box style={{ flex: 1, flexDirection: 'column', gap: 8 }}&gt;&#10;          &lt;Text style={{ fontSize: 14, fontWeight: 'bold', color: '#0F1423' }}&gt;六件必须落到设计里的事&lt;/Text&gt;&#10;          {[&#10;            { n: '01', t: '事务即版本', d: '每一次同步是一个事务，数据集是事务序列的结果，不是「一张不断被覆盖的表」' },&#10;            { n: '02', t: '全时间血缘', d: '能回答某天某刻的某个数值，来自哪次同步、哪个源、哪个版本' },&#10;            { n: '03', t: '增量优先', d: '只同步需要的数据，避免每次全量；全量是例外不是常态' },&#10;            { n: '04', t: '细粒度安全', d: '同步集合甚至单个同步，都可以按角色或分类级做访问控制' },&#10;            { n: '05', t: '元数据分离', d: '同步的元数据与同步定义分开管，配置才有版本可谈' },&#10;            { n: '06', t: '分支可测', d: '支持完整分支，新配置先在沙箱分支里跑，跑通再合并' },&#10;          ].map((it, i) =&gt; (&#10;            &lt;Box key={it.n} style={{ flex: 1, background: '#F7F7F8', borderRadius: 3, padding: '0 12px', flexDirection: 'row', alignItems: 'center', gap: 12 }}&gt;&#10;              &lt;Text style={{ fontSize: 15, fontWeight: 'bold', color: '#FA4F24', width: 26 }}&gt;{it.n}&lt;/Text&gt;&#10;              &lt;Box style={{ flex: 1, flexDirection: 'column' }}&gt;&#10;                &lt;Text style={{ fontSize: 12.5, fontWeight: 'bold', color: '#0F1423' }}&gt;{it.t}&lt;/Text&gt;&#10;                &lt;Text style={{ fontSize: 11, color: '#5A6072', marginTop: 2 }}&gt;{it.d}&lt;/Text&gt;&#10;              &lt;/Box&gt;&#10;            &lt;/Box&gt;&#10;          ))}&#10;        &lt;/Box&gt;&#10;&#10;        &lt;Box style={{ width: 420, flexDirection: 'column', gap: 8 }}&gt;&#10;          &lt;Box style={{ flex: 1, background: '#FFF3EE', borderRadius: 4, borderLeft: '4px solid #FA4F24', padding: '12px 16px', flexDirection: 'column' }}&gt;&#10;            &lt;Text style={{ fontSize: 14, fontWeight: 'bold', color: '#C43A17' }}&gt;支持的四类接入方式&lt;/Text&gt;&#10;            {[&#10;              { b: '批量同步', t: '定时全量或按窗口抽取，最常用' },&#10;              { b: '流式接入', t: '持续增量，要求端到端延迟达标' },&#10;              { b: 'CDC 同步', t: '只取变更，天然适合增量管道' },&#10;              { b: '虚拟表', t: '不复制数据，直接引用外部已有资产' },&#10;              { b: '媒体数据', t: '非结构化文件的接入与加工' },&#10;            ].map((it, i) =&gt; (&#10;              &lt;Box key={it.b} style={{ flex: 1, flexDirection: 'row', alignItems: 'center', gap: 10, borderTop: i === 0 ? 'none' : '1px solid #FBA15C' }}&gt;&#10;                &lt;Text style={{ fontSize: 12.5, fontWeight: 'bold', color: '#FA4F24', width: 78 }}&gt;{it.b}&lt;/Text&gt;&#10;                &lt;Text style={{ fontSize: 11.5, color: '#3A4050', flex: 1 }}&gt;{it.t}&lt;/Text&gt;&#10;              &lt;/Box&gt;&#10;            ))}&#10;          &lt;/Box&gt;&#10;          &lt;Box style={{ height: 138, background: '#F7F7F8', borderRadius: 4, padding: '12px 16px', flexDirection: 'column' }}&gt;&#10;            &lt;Text style={{ fontSize: 14, fontWeight: 'bold', color: '#0F1423' }}&gt;咨询切入点&lt;/Text&gt;&#10;            &lt;Text style={{ fontSize: 12, color: '#3A4050', marginTop: 8, lineHeight: 1.6 }}&gt;&#10;              客户最常见的问题是「我们的同步是覆盖式的，没有版本」，于是三个月后没人能解释报表里的数字从哪来。诊断动作很直接：抽查一张核心表，问「昨天上午十点这个字段是什么值」，答不上来就是没做事务化。&#10;            &lt;/Text&gt;&#10;          &lt;/Box&gt;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08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8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>Data Connection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把源系统管起来</a:t>
            </a:r>
            <a:endParaRPr/>
          </a:p>
        </p:txBody>
      </p:sp>
      <p:sp>
        <p:nvSpPr>
          <p:cNvPr id="148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它不是一个连接器，而是一套「以事务管理数据随时间变化」的框架——这是管道可追溯的根</a:t>
            </a:r>
            <a:endParaRPr/>
          </a:p>
        </p:txBody>
      </p:sp>
      <p:sp>
        <p:nvSpPr>
          <p:cNvPr id="148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85" name=""/>
          <p:cNvSpPr/>
          <p:nvPr/>
        </p:nvSpPr>
        <p:spPr>
          <a:xfrm rot="0" flipH="0" flipV="0">
            <a:off x="609600" y="1285875"/>
            <a:ext cx="10972800" cy="876300"/>
          </a:xfrm>
          <a:prstGeom prst="roundRect">
            <a:avLst>
              <a:gd name="adj" fmla="val 434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86" name="" descr="{&quot;isTemplate&quot;:true,&quot;type&quot;:&quot;text&quot;}"/>
          <p:cNvSpPr txBox="1"/>
          <p:nvPr/>
        </p:nvSpPr>
        <p:spPr>
          <a:xfrm rot="0" flipH="0" flipV="0">
            <a:off x="781050" y="1400175"/>
            <a:ext cx="10629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BA15C"/>
                </a:solidFill>
                <a:latin typeface="Microsoft YaHei"/>
                <a:ea typeface="Microsoft YaHei"/>
              </a:rPr>
              <a:t>官方定义（原文要点）</a:t>
            </a:r>
            <a:endParaRPr/>
          </a:p>
        </p:txBody>
      </p:sp>
      <p:sp>
        <p:nvSpPr>
          <p:cNvPr id="1487" name="" descr="{&quot;isTemplate&quot;:true,&quot;type&quot;:&quot;text&quot;}"/>
          <p:cNvSpPr txBox="1"/>
          <p:nvPr/>
        </p:nvSpPr>
        <p:spPr>
          <a:xfrm rot="0" flipH="0" flipV="0">
            <a:off x="781050" y="1628775"/>
            <a:ext cx="106299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这一框架用于「随时间管理数据」，方式是使用数据集事务来管理离散版本，并由此提供跨时间的完整数据版本血缘——能追溯哪个同步任务产生了哪个版本的哪一个数据集。</a:t>
            </a:r>
            <a:endParaRPr/>
          </a:p>
        </p:txBody>
      </p:sp>
      <p:sp>
        <p:nvSpPr>
          <p:cNvPr id="1488" name="" descr="{&quot;isTemplate&quot;:true,&quot;type&quot;:&quot;text&quot;}"/>
          <p:cNvSpPr txBox="1"/>
          <p:nvPr/>
        </p:nvSpPr>
        <p:spPr>
          <a:xfrm rot="0" flipH="0" flipV="0">
            <a:off x="609600" y="2257425"/>
            <a:ext cx="687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六件必须落到设计里的事</a:t>
            </a:r>
            <a:endParaRPr/>
          </a:p>
        </p:txBody>
      </p:sp>
      <p:sp>
        <p:nvSpPr>
          <p:cNvPr id="1489" name=""/>
          <p:cNvSpPr/>
          <p:nvPr/>
        </p:nvSpPr>
        <p:spPr>
          <a:xfrm rot="0" flipH="0" flipV="0">
            <a:off x="609600" y="2495550"/>
            <a:ext cx="6877050" cy="457200"/>
          </a:xfrm>
          <a:prstGeom prst="roundRect">
            <a:avLst>
              <a:gd name="adj" fmla="val 625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90" name="" descr="{&quot;isTemplate&quot;:true,&quot;type&quot;:&quot;text&quot;}"/>
          <p:cNvSpPr txBox="1"/>
          <p:nvPr/>
        </p:nvSpPr>
        <p:spPr>
          <a:xfrm rot="0" flipH="0" flipV="0">
            <a:off x="723900" y="2638425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491" name="" descr="{&quot;isTemplate&quot;:true,&quot;type&quot;:&quot;text&quot;}"/>
          <p:cNvSpPr txBox="1"/>
          <p:nvPr/>
        </p:nvSpPr>
        <p:spPr>
          <a:xfrm rot="0" flipH="0" flipV="0">
            <a:off x="1085850" y="2581275"/>
            <a:ext cx="6286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事务即版本</a:t>
            </a:r>
            <a:endParaRPr/>
          </a:p>
        </p:txBody>
      </p:sp>
      <p:sp>
        <p:nvSpPr>
          <p:cNvPr id="1492" name="" descr="{&quot;isTemplate&quot;:true,&quot;type&quot;:&quot;text&quot;}"/>
          <p:cNvSpPr txBox="1"/>
          <p:nvPr/>
        </p:nvSpPr>
        <p:spPr>
          <a:xfrm rot="0" flipH="0" flipV="0">
            <a:off x="1085850" y="2743200"/>
            <a:ext cx="6286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每一次同步是一个事务，数据集是事务序列的结果，不是「一张不断被覆盖的表」</a:t>
            </a:r>
            <a:endParaRPr/>
          </a:p>
        </p:txBody>
      </p:sp>
      <p:sp>
        <p:nvSpPr>
          <p:cNvPr id="1493" name=""/>
          <p:cNvSpPr/>
          <p:nvPr/>
        </p:nvSpPr>
        <p:spPr>
          <a:xfrm rot="0" flipH="0" flipV="0">
            <a:off x="609600" y="3028950"/>
            <a:ext cx="6877050" cy="466725"/>
          </a:xfrm>
          <a:prstGeom prst="roundRect">
            <a:avLst>
              <a:gd name="adj" fmla="val 612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94" name="" descr="{&quot;isTemplate&quot;:true,&quot;type&quot;:&quot;text&quot;}"/>
          <p:cNvSpPr txBox="1"/>
          <p:nvPr/>
        </p:nvSpPr>
        <p:spPr>
          <a:xfrm rot="0" flipH="0" flipV="0">
            <a:off x="723900" y="3181350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495" name="" descr="{&quot;isTemplate&quot;:true,&quot;type&quot;:&quot;text&quot;}"/>
          <p:cNvSpPr txBox="1"/>
          <p:nvPr/>
        </p:nvSpPr>
        <p:spPr>
          <a:xfrm rot="0" flipH="0" flipV="0">
            <a:off x="1085850" y="3114675"/>
            <a:ext cx="6286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全时间血缘</a:t>
            </a:r>
            <a:endParaRPr/>
          </a:p>
        </p:txBody>
      </p:sp>
      <p:sp>
        <p:nvSpPr>
          <p:cNvPr id="1496" name="" descr="{&quot;isTemplate&quot;:true,&quot;type&quot;:&quot;text&quot;}"/>
          <p:cNvSpPr txBox="1"/>
          <p:nvPr/>
        </p:nvSpPr>
        <p:spPr>
          <a:xfrm rot="0" flipH="0" flipV="0">
            <a:off x="1085850" y="3276600"/>
            <a:ext cx="6286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能回答某天某刻的某个数值，来自哪次同步、哪个源、哪个版本</a:t>
            </a:r>
            <a:endParaRPr/>
          </a:p>
        </p:txBody>
      </p:sp>
      <p:sp>
        <p:nvSpPr>
          <p:cNvPr id="1497" name=""/>
          <p:cNvSpPr/>
          <p:nvPr/>
        </p:nvSpPr>
        <p:spPr>
          <a:xfrm rot="0" flipH="0" flipV="0">
            <a:off x="609600" y="3571875"/>
            <a:ext cx="6877050" cy="457200"/>
          </a:xfrm>
          <a:prstGeom prst="roundRect">
            <a:avLst>
              <a:gd name="adj" fmla="val 625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98" name="" descr="{&quot;isTemplate&quot;:true,&quot;type&quot;:&quot;text&quot;}"/>
          <p:cNvSpPr txBox="1"/>
          <p:nvPr/>
        </p:nvSpPr>
        <p:spPr>
          <a:xfrm rot="0" flipH="0" flipV="0">
            <a:off x="723900" y="3714750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499" name="" descr="{&quot;isTemplate&quot;:true,&quot;type&quot;:&quot;text&quot;}"/>
          <p:cNvSpPr txBox="1"/>
          <p:nvPr/>
        </p:nvSpPr>
        <p:spPr>
          <a:xfrm rot="0" flipH="0" flipV="0">
            <a:off x="1085850" y="3657600"/>
            <a:ext cx="6286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增量优先</a:t>
            </a:r>
            <a:endParaRPr/>
          </a:p>
        </p:txBody>
      </p:sp>
      <p:sp>
        <p:nvSpPr>
          <p:cNvPr id="1500" name="" descr="{&quot;isTemplate&quot;:true,&quot;type&quot;:&quot;text&quot;}"/>
          <p:cNvSpPr txBox="1"/>
          <p:nvPr/>
        </p:nvSpPr>
        <p:spPr>
          <a:xfrm rot="0" flipH="0" flipV="0">
            <a:off x="1085850" y="3819525"/>
            <a:ext cx="6286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只同步需要的数据，避免每次全量；全量是例外不是常态</a:t>
            </a:r>
            <a:endParaRPr/>
          </a:p>
        </p:txBody>
      </p:sp>
      <p:sp>
        <p:nvSpPr>
          <p:cNvPr id="1501" name=""/>
          <p:cNvSpPr/>
          <p:nvPr/>
        </p:nvSpPr>
        <p:spPr>
          <a:xfrm rot="0" flipH="0" flipV="0">
            <a:off x="609600" y="4105275"/>
            <a:ext cx="6877050" cy="457200"/>
          </a:xfrm>
          <a:prstGeom prst="roundRect">
            <a:avLst>
              <a:gd name="adj" fmla="val 625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02" name="" descr="{&quot;isTemplate&quot;:true,&quot;type&quot;:&quot;text&quot;}"/>
          <p:cNvSpPr txBox="1"/>
          <p:nvPr/>
        </p:nvSpPr>
        <p:spPr>
          <a:xfrm rot="0" flipH="0" flipV="0">
            <a:off x="723900" y="4248150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503" name="" descr="{&quot;isTemplate&quot;:true,&quot;type&quot;:&quot;text&quot;}"/>
          <p:cNvSpPr txBox="1"/>
          <p:nvPr/>
        </p:nvSpPr>
        <p:spPr>
          <a:xfrm rot="0" flipH="0" flipV="0">
            <a:off x="1085850" y="4191000"/>
            <a:ext cx="6286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细粒度安全</a:t>
            </a:r>
            <a:endParaRPr/>
          </a:p>
        </p:txBody>
      </p:sp>
      <p:sp>
        <p:nvSpPr>
          <p:cNvPr id="1504" name="" descr="{&quot;isTemplate&quot;:true,&quot;type&quot;:&quot;text&quot;}"/>
          <p:cNvSpPr txBox="1"/>
          <p:nvPr/>
        </p:nvSpPr>
        <p:spPr>
          <a:xfrm rot="0" flipH="0" flipV="0">
            <a:off x="1085850" y="4352925"/>
            <a:ext cx="6286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同步集合甚至单个同步，都可以按角色或分类级做访问控制</a:t>
            </a:r>
            <a:endParaRPr/>
          </a:p>
        </p:txBody>
      </p:sp>
      <p:sp>
        <p:nvSpPr>
          <p:cNvPr id="1505" name=""/>
          <p:cNvSpPr/>
          <p:nvPr/>
        </p:nvSpPr>
        <p:spPr>
          <a:xfrm rot="0" flipH="0" flipV="0">
            <a:off x="609600" y="4638675"/>
            <a:ext cx="6877050" cy="466725"/>
          </a:xfrm>
          <a:prstGeom prst="roundRect">
            <a:avLst>
              <a:gd name="adj" fmla="val 612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06" name="" descr="{&quot;isTemplate&quot;:true,&quot;type&quot;:&quot;text&quot;}"/>
          <p:cNvSpPr txBox="1"/>
          <p:nvPr/>
        </p:nvSpPr>
        <p:spPr>
          <a:xfrm rot="0" flipH="0" flipV="0">
            <a:off x="723900" y="4791075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507" name="" descr="{&quot;isTemplate&quot;:true,&quot;type&quot;:&quot;text&quot;}"/>
          <p:cNvSpPr txBox="1"/>
          <p:nvPr/>
        </p:nvSpPr>
        <p:spPr>
          <a:xfrm rot="0" flipH="0" flipV="0">
            <a:off x="1085850" y="4724400"/>
            <a:ext cx="6286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元数据分离</a:t>
            </a:r>
            <a:endParaRPr/>
          </a:p>
        </p:txBody>
      </p:sp>
      <p:sp>
        <p:nvSpPr>
          <p:cNvPr id="1508" name="" descr="{&quot;isTemplate&quot;:true,&quot;type&quot;:&quot;text&quot;}"/>
          <p:cNvSpPr txBox="1"/>
          <p:nvPr/>
        </p:nvSpPr>
        <p:spPr>
          <a:xfrm rot="0" flipH="0" flipV="0">
            <a:off x="1085850" y="4886325"/>
            <a:ext cx="6286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同步的元数据与同步定义分开管，配置才有版本可谈</a:t>
            </a:r>
            <a:endParaRPr/>
          </a:p>
        </p:txBody>
      </p:sp>
      <p:sp>
        <p:nvSpPr>
          <p:cNvPr id="1509" name=""/>
          <p:cNvSpPr/>
          <p:nvPr/>
        </p:nvSpPr>
        <p:spPr>
          <a:xfrm rot="0" flipH="0" flipV="0">
            <a:off x="609600" y="5181600"/>
            <a:ext cx="6877050" cy="457200"/>
          </a:xfrm>
          <a:prstGeom prst="roundRect">
            <a:avLst>
              <a:gd name="adj" fmla="val 625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10" name="" descr="{&quot;isTemplate&quot;:true,&quot;type&quot;:&quot;text&quot;}"/>
          <p:cNvSpPr txBox="1"/>
          <p:nvPr/>
        </p:nvSpPr>
        <p:spPr>
          <a:xfrm rot="0" flipH="0" flipV="0">
            <a:off x="723900" y="5324475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1511" name="" descr="{&quot;isTemplate&quot;:true,&quot;type&quot;:&quot;text&quot;}"/>
          <p:cNvSpPr txBox="1"/>
          <p:nvPr/>
        </p:nvSpPr>
        <p:spPr>
          <a:xfrm rot="0" flipH="0" flipV="0">
            <a:off x="1085850" y="5267325"/>
            <a:ext cx="6286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分支可测</a:t>
            </a:r>
            <a:endParaRPr/>
          </a:p>
        </p:txBody>
      </p:sp>
      <p:sp>
        <p:nvSpPr>
          <p:cNvPr id="1512" name="" descr="{&quot;isTemplate&quot;:true,&quot;type&quot;:&quot;text&quot;}"/>
          <p:cNvSpPr txBox="1"/>
          <p:nvPr/>
        </p:nvSpPr>
        <p:spPr>
          <a:xfrm rot="0" flipH="0" flipV="0">
            <a:off x="1085850" y="5429250"/>
            <a:ext cx="6286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支持完整分支，新配置先在沙箱分支里跑，跑通再合并</a:t>
            </a:r>
            <a:endParaRPr/>
          </a:p>
        </p:txBody>
      </p:sp>
      <p:sp>
        <p:nvSpPr>
          <p:cNvPr id="1513" name=""/>
          <p:cNvSpPr/>
          <p:nvPr/>
        </p:nvSpPr>
        <p:spPr>
          <a:xfrm rot="0" flipH="0" flipV="0">
            <a:off x="7620000" y="2257425"/>
            <a:ext cx="4000500" cy="1990725"/>
          </a:xfrm>
          <a:prstGeom prst="roundRect">
            <a:avLst>
              <a:gd name="adj" fmla="val 191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14" name=""/>
          <p:cNvSpPr/>
          <p:nvPr/>
        </p:nvSpPr>
        <p:spPr>
          <a:xfrm rot="0" flipH="0" flipV="0">
            <a:off x="7620000" y="2257425"/>
            <a:ext cx="4000500" cy="1990725"/>
          </a:xfrm>
          <a:custGeom>
            <a:pathLst>
              <a:path w="420" h="209">
                <a:moveTo>
                  <a:pt x="4" y="209"/>
                </a:moveTo>
                <a:cubicBezTo>
                  <a:pt x="2" y="209"/>
                  <a:pt x="0" y="207"/>
                  <a:pt x="0" y="20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0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15" name="" descr="{&quot;isTemplate&quot;:true,&quot;type&quot;:&quot;text&quot;}"/>
          <p:cNvSpPr txBox="1"/>
          <p:nvPr/>
        </p:nvSpPr>
        <p:spPr>
          <a:xfrm rot="0" flipH="0" flipV="0">
            <a:off x="7772400" y="2371725"/>
            <a:ext cx="3657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支持的四类接入方式</a:t>
            </a:r>
            <a:endParaRPr/>
          </a:p>
        </p:txBody>
      </p:sp>
      <p:sp>
        <p:nvSpPr>
          <p:cNvPr id="1516" name="" descr="{&quot;isTemplate&quot;:true,&quot;type&quot;:&quot;text&quot;}"/>
          <p:cNvSpPr txBox="1"/>
          <p:nvPr/>
        </p:nvSpPr>
        <p:spPr>
          <a:xfrm rot="0" flipH="0" flipV="0">
            <a:off x="7772400" y="2619375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批量同步</a:t>
            </a:r>
            <a:endParaRPr/>
          </a:p>
        </p:txBody>
      </p:sp>
      <p:sp>
        <p:nvSpPr>
          <p:cNvPr id="1517" name="" descr="{&quot;isTemplate&quot;:true,&quot;type&quot;:&quot;text&quot;}"/>
          <p:cNvSpPr txBox="1"/>
          <p:nvPr/>
        </p:nvSpPr>
        <p:spPr>
          <a:xfrm rot="0" flipH="0" flipV="0">
            <a:off x="8610600" y="2628900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定时全量或按窗口抽取，最常用</a:t>
            </a:r>
            <a:endParaRPr/>
          </a:p>
        </p:txBody>
      </p:sp>
      <p:sp>
        <p:nvSpPr>
          <p:cNvPr id="1518" name=""/>
          <p:cNvSpPr/>
          <p:nvPr/>
        </p:nvSpPr>
        <p:spPr>
          <a:xfrm rot="0" flipH="0" flipV="0">
            <a:off x="7772400" y="2847975"/>
            <a:ext cx="3657600" cy="333375"/>
          </a:xfrm>
          <a:custGeom>
            <a:pathLst>
              <a:path w="384" h="35">
                <a:moveTo>
                  <a:pt x="0" y="0"/>
                </a:moveTo>
                <a:lnTo>
                  <a:pt x="384" y="0"/>
                </a:lnTo>
                <a:lnTo>
                  <a:pt x="3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519" name="" descr="{&quot;isTemplate&quot;:true,&quot;type&quot;:&quot;text&quot;}"/>
          <p:cNvSpPr txBox="1"/>
          <p:nvPr/>
        </p:nvSpPr>
        <p:spPr>
          <a:xfrm rot="0" flipH="0" flipV="0">
            <a:off x="7772400" y="2943225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流式接入</a:t>
            </a:r>
            <a:endParaRPr/>
          </a:p>
        </p:txBody>
      </p:sp>
      <p:sp>
        <p:nvSpPr>
          <p:cNvPr id="1520" name="" descr="{&quot;isTemplate&quot;:true,&quot;type&quot;:&quot;text&quot;}"/>
          <p:cNvSpPr txBox="1"/>
          <p:nvPr/>
        </p:nvSpPr>
        <p:spPr>
          <a:xfrm rot="0" flipH="0" flipV="0">
            <a:off x="8610600" y="2952750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持续增量，要求端到端延迟达标</a:t>
            </a:r>
            <a:endParaRPr/>
          </a:p>
        </p:txBody>
      </p:sp>
      <p:sp>
        <p:nvSpPr>
          <p:cNvPr id="1521" name=""/>
          <p:cNvSpPr/>
          <p:nvPr/>
        </p:nvSpPr>
        <p:spPr>
          <a:xfrm rot="0" flipH="0" flipV="0">
            <a:off x="7772400" y="3171825"/>
            <a:ext cx="3657600" cy="323850"/>
          </a:xfrm>
          <a:custGeom>
            <a:pathLst>
              <a:path w="384" h="34">
                <a:moveTo>
                  <a:pt x="0" y="0"/>
                </a:moveTo>
                <a:lnTo>
                  <a:pt x="384" y="0"/>
                </a:lnTo>
                <a:lnTo>
                  <a:pt x="3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522" name="" descr="{&quot;isTemplate&quot;:true,&quot;type&quot;:&quot;text&quot;}"/>
          <p:cNvSpPr txBox="1"/>
          <p:nvPr/>
        </p:nvSpPr>
        <p:spPr>
          <a:xfrm rot="0" flipH="0" flipV="0">
            <a:off x="7772400" y="3267075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CDC </a:t>
            </a: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同步</a:t>
            </a:r>
            <a:endParaRPr/>
          </a:p>
        </p:txBody>
      </p:sp>
      <p:sp>
        <p:nvSpPr>
          <p:cNvPr id="1523" name="" descr="{&quot;isTemplate&quot;:true,&quot;type&quot;:&quot;text&quot;}"/>
          <p:cNvSpPr txBox="1"/>
          <p:nvPr/>
        </p:nvSpPr>
        <p:spPr>
          <a:xfrm rot="0" flipH="0" flipV="0">
            <a:off x="8610600" y="3267075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只取变更，天然适合增量管道</a:t>
            </a:r>
            <a:endParaRPr/>
          </a:p>
        </p:txBody>
      </p:sp>
      <p:sp>
        <p:nvSpPr>
          <p:cNvPr id="1524" name=""/>
          <p:cNvSpPr/>
          <p:nvPr/>
        </p:nvSpPr>
        <p:spPr>
          <a:xfrm rot="0" flipH="0" flipV="0">
            <a:off x="7772400" y="3486150"/>
            <a:ext cx="3657600" cy="333375"/>
          </a:xfrm>
          <a:custGeom>
            <a:pathLst>
              <a:path w="384" h="35">
                <a:moveTo>
                  <a:pt x="0" y="0"/>
                </a:moveTo>
                <a:lnTo>
                  <a:pt x="384" y="0"/>
                </a:lnTo>
                <a:lnTo>
                  <a:pt x="3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525" name="" descr="{&quot;isTemplate&quot;:true,&quot;type&quot;:&quot;text&quot;}"/>
          <p:cNvSpPr txBox="1"/>
          <p:nvPr/>
        </p:nvSpPr>
        <p:spPr>
          <a:xfrm rot="0" flipH="0" flipV="0">
            <a:off x="7772400" y="3581400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虚拟表</a:t>
            </a:r>
            <a:endParaRPr/>
          </a:p>
        </p:txBody>
      </p:sp>
      <p:sp>
        <p:nvSpPr>
          <p:cNvPr id="1526" name="" descr="{&quot;isTemplate&quot;:true,&quot;type&quot;:&quot;text&quot;}"/>
          <p:cNvSpPr txBox="1"/>
          <p:nvPr/>
        </p:nvSpPr>
        <p:spPr>
          <a:xfrm rot="0" flipH="0" flipV="0">
            <a:off x="8610600" y="3590925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不复制数据，直接引用外部已有资产</a:t>
            </a:r>
            <a:endParaRPr/>
          </a:p>
        </p:txBody>
      </p:sp>
      <p:sp>
        <p:nvSpPr>
          <p:cNvPr id="1527" name=""/>
          <p:cNvSpPr/>
          <p:nvPr/>
        </p:nvSpPr>
        <p:spPr>
          <a:xfrm rot="0" flipH="0" flipV="0">
            <a:off x="7772400" y="3810000"/>
            <a:ext cx="3657600" cy="333375"/>
          </a:xfrm>
          <a:custGeom>
            <a:pathLst>
              <a:path w="384" h="35">
                <a:moveTo>
                  <a:pt x="0" y="0"/>
                </a:moveTo>
                <a:lnTo>
                  <a:pt x="384" y="0"/>
                </a:lnTo>
                <a:lnTo>
                  <a:pt x="3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528" name="" descr="{&quot;isTemplate&quot;:true,&quot;type&quot;:&quot;text&quot;}"/>
          <p:cNvSpPr txBox="1"/>
          <p:nvPr/>
        </p:nvSpPr>
        <p:spPr>
          <a:xfrm rot="0" flipH="0" flipV="0">
            <a:off x="7772400" y="3905250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媒体数据</a:t>
            </a:r>
            <a:endParaRPr/>
          </a:p>
        </p:txBody>
      </p:sp>
      <p:sp>
        <p:nvSpPr>
          <p:cNvPr id="1529" name="" descr="{&quot;isTemplate&quot;:true,&quot;type&quot;:&quot;text&quot;}"/>
          <p:cNvSpPr txBox="1"/>
          <p:nvPr/>
        </p:nvSpPr>
        <p:spPr>
          <a:xfrm rot="0" flipH="0" flipV="0">
            <a:off x="8610600" y="3914775"/>
            <a:ext cx="2819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非结构化文件的接入与加工</a:t>
            </a:r>
            <a:endParaRPr/>
          </a:p>
        </p:txBody>
      </p:sp>
      <p:sp>
        <p:nvSpPr>
          <p:cNvPr id="1530" name=""/>
          <p:cNvSpPr/>
          <p:nvPr/>
        </p:nvSpPr>
        <p:spPr>
          <a:xfrm rot="0" flipH="0" flipV="0">
            <a:off x="7581900" y="4324350"/>
            <a:ext cx="4000500" cy="1314450"/>
          </a:xfrm>
          <a:prstGeom prst="roundRect">
            <a:avLst>
              <a:gd name="adj" fmla="val 289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31" name="" descr="{&quot;isTemplate&quot;:true,&quot;type&quot;:&quot;text&quot;}"/>
          <p:cNvSpPr txBox="1"/>
          <p:nvPr/>
        </p:nvSpPr>
        <p:spPr>
          <a:xfrm rot="0" flipH="0" flipV="0">
            <a:off x="7734300" y="4438650"/>
            <a:ext cx="3695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咨询切入点</a:t>
            </a:r>
            <a:endParaRPr/>
          </a:p>
        </p:txBody>
      </p:sp>
      <p:sp>
        <p:nvSpPr>
          <p:cNvPr id="1532" name="" descr="{&quot;isTemplate&quot;:true,&quot;type&quot;:&quot;text&quot;}"/>
          <p:cNvSpPr txBox="1"/>
          <p:nvPr/>
        </p:nvSpPr>
        <p:spPr>
          <a:xfrm rot="0" flipH="0" flipV="0">
            <a:off x="7734300" y="4676775"/>
            <a:ext cx="36957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客户最常见的问题是「我们的同步是覆盖式的，没有版本」，于是三个月后没人能解释报表里的数字从哪来。诊断动作很直接：抽查一张核心表，问「昨天上午十点这个字段是什么值」，答不上来就是没做事务化。</a:t>
            </a:r>
            <a:endParaRPr/>
          </a:p>
        </p:txBody>
      </p:sp>
      <p:sp>
        <p:nvSpPr>
          <p:cNvPr id="153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3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3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153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08 / 30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537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HyperAuto / SDDI：&lt;span style={{ color: '#FA4F24' }}&gt;让元数据生成管道&lt;/span&gt;&#10;      &lt;/Text&gt;&#10;      &lt;Text style={{ fontSize: 20, color: '#8A8F99', marginTop: 8 }}&gt;&#10;        软件定义数据集成——自动生成不是为了省事，而是为了让「从源到本体」全链路有一份可评审的代码&#10;      &lt;/Text&gt;&#10;    &lt;/Box&gt;&#10;    &lt;Box style={{ height: 1, background: '#E8E8E8' }} /&gt;&#10;&#10;    &lt;Box style={{ paddingTop: 14, paddingBottom: 8, height: 479, flexDirection: 'column', gap: 10 }}&gt;&#10;      {/* 三组件 */}&#10;      &lt;Box style={{ height: 88, flexDirection: 'row', gap: 10 }}&gt;&#10;        {[&#10;          { b: 'Connectors', t: '与源系统双向、安全、优化地传输大规模数据', c: '#FA4F24' },&#10;          { b: 'Source exploration', t: '引导式数据发现 + 购物车式批量创建同步', c: '#F87D2F' },&#10;          { b: 'Automatic pipeline generation', t: '把原始数据变成精选数据集与本体对象类型', c: '#E0651A' },&#10;        ].map((it, i) =&gt; (&#10;          &lt;Box key={it.b} style={{ flex: 1, background: '#0F1423', borderRadius: 4, padding: '10px 14px', borderLeft: '3px solid ' + it.c }}&gt;&#10;            &lt;Text style={{ fontSize: 13, fontWeight: 'bold', color: '#FFFFFF' }}&gt;{it.b}&lt;/Text&gt;&#10;            &lt;Text style={{ fontSize: 11.5, color: 'rgba(255,255,255,0.66)', marginTop: 5, lineHeight: 1.45 }}&gt;{it.t}&lt;/Text&gt;&#10;          &lt;/Box&gt;&#10;        ))}&#10;      &lt;/Box&gt;&#10;&#10;      {/* 四步生成 */}&#10;      &lt;Box style={{ height: 172, background: '#F7F7F8', borderRadius: 4, padding: '12px 16px', flexDirection: 'column' }}&gt;&#10;        &lt;Text style={{ fontSize: 14, fontWeight: 'bold', color: '#0F1423' }}&gt;自动生成管道的四个步骤&lt;/Text&gt;&#10;        &lt;Box style={{ flex: 1, flexDirection: 'row', gap: 8, marginTop: 10 }}&gt;&#10;          {[&#10;            { n: '1', t: '源特定预处理', d: '产出固定 schema 的元数据集，先把源的结构固定下来', c: '#FA4F24' },&#10;            { n: '2', t: '标准清洗库', d: '套用标准化清洗步骤，把口径差异在入口就抹平', c: '#F87D2F' },&#10;            { n: '3', t: '核心生成', d: '数据富化、列重命名、去重、union', c: '#E0651A' },&#10;            { n: '4', t: '派生元素', d: 'join 表、时序数据集、富化列等高级加工支撑', c: '#C43A17' },&#10;          ].map((it, i) =&gt; (&#10;            &lt;Box key={it.n} style={{ flex: 1, background: '#FFFFFF', border: '1px solid #E8E8E8', borderRadius: 3, padding: '10px 12px', flexDirection: 'column' }}&gt;&#10;              &lt;Box style={{ width: 22, height: 22, background: it.c, alignItems: 'center', justifyContent: 'center' }}&gt;&#10;                &lt;Text style={{ fontSize: 12, fontWeight: 'bold', color: '#FFFFFF' }}&gt;{it.n}&lt;/Text&gt;&#10;              &lt;/Box&gt;&#10;              &lt;Text style={{ fontSize: 13, fontWeight: 'bold', color: '#0F1423', marginTop: 7 }}&gt;{it.t}&lt;/Text&gt;&#10;              &lt;Text style={{ fontSize: 11.5, color: '#5A6072', marginTop: 5, lineHeight: 1.5 }}&gt;{it.d}&lt;/Text&gt;&#10;            &lt;/Box&gt;&#10;          ))}&#10;        &lt;/Box&gt;&#10;      &lt;/Box&gt;&#10;&#10;      &lt;Box style={{ flex: 1, flexDirection: 'row', gap: 10 }}&gt;&#10;        &lt;Box style={{ flex: 1, background: '#FFF3EE', borderRadius: 4, borderLeft: '4px solid #FA4F24', padding: '12px 16px', flexDirection: 'column' }}&gt;&#10;          &lt;Text style={{ fontSize: 14, fontWeight: 'bold', color: '#C43A17' }}&gt;为什么咨询时要盯住这两条&lt;/Text&gt;&#10;          &lt;Box style={{ flex: 1, flexDirection: 'column', marginTop: 8 }}&gt;&#10;            {[&#10;              { t: '产出是人类可读代码', d: '生成结果是像 Spark 这样的可读代码，可以 review、修改、测试、做版本控制，能 check-in 到 git——这意味着管道第一次变成了可审计资产' },&#10;              { t: '可从源自动生成本体', d: '基于源系统元数据推导同步方案、转换逻辑与本体设计，甚至能反规范化 ERP 的密集命名空间，把技术字段重构成业务对象' },&#10;            ].map((it, i) =&gt; (&#10;              &lt;Box key={it.t} style={{ flex: 1, flexDirection: 'column', justifyContent: 'center', borderTop: i === 0 ? 'none' : '1px solid #FBA15C' }}&gt;&#10;                &lt;Text style={{ fontSize: 12.5, fontWeight: 'bold', color: '#0F1423' }}&gt;{it.t}&lt;/Text&gt;&#10;                &lt;Text style={{ fontSize: 11.5, color: '#3A4050', marginTop: 4, lineHeight: 1.55 }}&gt;{it.d}&lt;/Text&gt;&#10;              &lt;/Box&gt;&#10;            ))}&#10;          &lt;/Box&gt;&#10;        &lt;/Box&gt;&#10;&#10;        &lt;Box style={{ width: 400, background: '#F7F7F8', borderRadius: 4, padding: '12px 16px', flexDirection: 'column' }}&gt;&#10;          &lt;Text style={{ fontSize: 14, fontWeight: 'bold', color: '#0F1423' }}&gt;现实提醒&lt;/Text&gt;&#10;          {[&#10;            { t: '版本状态', d: 'HyperAuto 第一代已进入退役，第二代已发布，SAP 侧在强推第二代——架构图上写哪个版本要问清楚' },&#10;            { t: '覆盖范围', d: '内置 SAP、Salesforce、NetSuite、HubSpot 等连接器；对象存储、流、JDBC、REST、NoSQL 也能接，但质量感受连接器成熟度影响很大' },&#10;          ].map((it, i) =&gt; (&#10;            &lt;Box key={it.t} style={{ flex: 1, flexDirection: 'column', justifyContent: 'center' }}&gt;&#10;              &lt;Text style={{ fontSize: 12.5, fontWeight: 'bold', color: '#E0651A' }}&gt;{it.t}&lt;/Text&gt;&#10;              &lt;Text style={{ fontSize: 11.5, color: '#3A4050', marginTop: 4, lineHeight: 1.55 }}&gt;{it.d}&lt;/Text&gt;&#10;            &lt;/Box&gt;&#10;          ))}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09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3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>HyperAuto / SDDI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让元数据生成管道</a:t>
            </a:r>
            <a:endParaRPr/>
          </a:p>
        </p:txBody>
      </p:sp>
      <p:sp>
        <p:nvSpPr>
          <p:cNvPr id="154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软件定义数据集成——自动生成不是为了省事，而是为了让「从源到本体」全链路有一份可评审的代码</a:t>
            </a:r>
            <a:endParaRPr/>
          </a:p>
        </p:txBody>
      </p:sp>
      <p:sp>
        <p:nvSpPr>
          <p:cNvPr id="154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42" name=""/>
          <p:cNvSpPr/>
          <p:nvPr/>
        </p:nvSpPr>
        <p:spPr>
          <a:xfrm rot="0" flipH="0" flipV="0">
            <a:off x="638175" y="1285875"/>
            <a:ext cx="3590925" cy="838200"/>
          </a:xfrm>
          <a:prstGeom prst="roundRect">
            <a:avLst>
              <a:gd name="adj" fmla="val 454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43" name=""/>
          <p:cNvSpPr/>
          <p:nvPr/>
        </p:nvSpPr>
        <p:spPr>
          <a:xfrm rot="0" flipH="0" flipV="0">
            <a:off x="638175" y="1285875"/>
            <a:ext cx="3590925" cy="838200"/>
          </a:xfrm>
          <a:custGeom>
            <a:pathLst>
              <a:path w="377" h="8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87"/>
                </a:lnTo>
                <a:cubicBezTo>
                  <a:pt x="3" y="87"/>
                  <a:pt x="3" y="88"/>
                  <a:pt x="4" y="88"/>
                </a:cubicBezTo>
                <a:cubicBezTo>
                  <a:pt x="2" y="88"/>
                  <a:pt x="0" y="86"/>
                  <a:pt x="0" y="8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44" name="" descr="{&quot;isTemplate&quot;:true,&quot;type&quot;:&quot;text&quot;}"/>
          <p:cNvSpPr txBox="1"/>
          <p:nvPr/>
        </p:nvSpPr>
        <p:spPr>
          <a:xfrm rot="0" flipH="0" flipV="0">
            <a:off x="771525" y="1381125"/>
            <a:ext cx="3295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Connectors</a:t>
            </a:r>
            <a:endParaRPr/>
          </a:p>
        </p:txBody>
      </p:sp>
      <p:sp>
        <p:nvSpPr>
          <p:cNvPr id="1545" name="" descr="{&quot;isTemplate&quot;:true,&quot;type&quot;:&quot;text&quot;}"/>
          <p:cNvSpPr txBox="1"/>
          <p:nvPr/>
        </p:nvSpPr>
        <p:spPr>
          <a:xfrm rot="0" flipH="0" flipV="0">
            <a:off x="771525" y="1581150"/>
            <a:ext cx="32956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</a:rPr>
              <a:t>与源系统双向、安全、优化地传输大规模数据</a:t>
            </a:r>
            <a:endParaRPr/>
          </a:p>
        </p:txBody>
      </p:sp>
      <p:sp>
        <p:nvSpPr>
          <p:cNvPr id="1546" name=""/>
          <p:cNvSpPr/>
          <p:nvPr/>
        </p:nvSpPr>
        <p:spPr>
          <a:xfrm rot="0" flipH="0" flipV="0">
            <a:off x="4324350" y="1285875"/>
            <a:ext cx="3600450" cy="838200"/>
          </a:xfrm>
          <a:prstGeom prst="roundRect">
            <a:avLst>
              <a:gd name="adj" fmla="val 454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47" name=""/>
          <p:cNvSpPr/>
          <p:nvPr/>
        </p:nvSpPr>
        <p:spPr>
          <a:xfrm rot="0" flipH="0" flipV="0">
            <a:off x="4324350" y="1285875"/>
            <a:ext cx="3600450" cy="838200"/>
          </a:xfrm>
          <a:custGeom>
            <a:pathLst>
              <a:path w="378" h="8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87"/>
                </a:lnTo>
                <a:cubicBezTo>
                  <a:pt x="3" y="87"/>
                  <a:pt x="3" y="88"/>
                  <a:pt x="4" y="88"/>
                </a:cubicBezTo>
                <a:cubicBezTo>
                  <a:pt x="2" y="88"/>
                  <a:pt x="0" y="86"/>
                  <a:pt x="0" y="8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548" name="" descr="{&quot;isTemplate&quot;:true,&quot;type&quot;:&quot;text&quot;}"/>
          <p:cNvSpPr txBox="1"/>
          <p:nvPr/>
        </p:nvSpPr>
        <p:spPr>
          <a:xfrm rot="0" flipH="0" flipV="0">
            <a:off x="4457700" y="1381125"/>
            <a:ext cx="3305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Source exploration</a:t>
            </a:r>
            <a:endParaRPr/>
          </a:p>
        </p:txBody>
      </p:sp>
      <p:sp>
        <p:nvSpPr>
          <p:cNvPr id="1549" name="" descr="{&quot;isTemplate&quot;:true,&quot;type&quot;:&quot;text&quot;}"/>
          <p:cNvSpPr txBox="1"/>
          <p:nvPr/>
        </p:nvSpPr>
        <p:spPr>
          <a:xfrm rot="0" flipH="0" flipV="0">
            <a:off x="4457700" y="1581150"/>
            <a:ext cx="33051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</a:rPr>
              <a:t>引导式数据发现</a:t>
            </a:r>
            <a:r>
              <a:rPr lang="en-US" sz="863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63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</a:rPr>
              <a:t>购物车式批量创建同步</a:t>
            </a:r>
            <a:endParaRPr/>
          </a:p>
        </p:txBody>
      </p:sp>
      <p:sp>
        <p:nvSpPr>
          <p:cNvPr id="1550" name=""/>
          <p:cNvSpPr/>
          <p:nvPr/>
        </p:nvSpPr>
        <p:spPr>
          <a:xfrm rot="0" flipH="0" flipV="0">
            <a:off x="8020050" y="1285875"/>
            <a:ext cx="3590925" cy="838200"/>
          </a:xfrm>
          <a:prstGeom prst="roundRect">
            <a:avLst>
              <a:gd name="adj" fmla="val 454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51" name=""/>
          <p:cNvSpPr/>
          <p:nvPr/>
        </p:nvSpPr>
        <p:spPr>
          <a:xfrm rot="0" flipH="0" flipV="0">
            <a:off x="8020050" y="1285875"/>
            <a:ext cx="3590925" cy="838200"/>
          </a:xfrm>
          <a:custGeom>
            <a:pathLst>
              <a:path w="377" h="8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87"/>
                </a:lnTo>
                <a:cubicBezTo>
                  <a:pt x="3" y="87"/>
                  <a:pt x="3" y="88"/>
                  <a:pt x="4" y="88"/>
                </a:cubicBezTo>
                <a:cubicBezTo>
                  <a:pt x="2" y="88"/>
                  <a:pt x="0" y="86"/>
                  <a:pt x="0" y="8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1552" name="" descr="{&quot;isTemplate&quot;:true,&quot;type&quot;:&quot;text&quot;}"/>
          <p:cNvSpPr txBox="1"/>
          <p:nvPr/>
        </p:nvSpPr>
        <p:spPr>
          <a:xfrm rot="0" flipH="0" flipV="0">
            <a:off x="8153400" y="1381125"/>
            <a:ext cx="3295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Automatic pipeline generation</a:t>
            </a:r>
            <a:endParaRPr/>
          </a:p>
        </p:txBody>
      </p:sp>
      <p:sp>
        <p:nvSpPr>
          <p:cNvPr id="1553" name="" descr="{&quot;isTemplate&quot;:true,&quot;type&quot;:&quot;text&quot;}"/>
          <p:cNvSpPr txBox="1"/>
          <p:nvPr/>
        </p:nvSpPr>
        <p:spPr>
          <a:xfrm rot="0" flipH="0" flipV="0">
            <a:off x="8153400" y="1581150"/>
            <a:ext cx="32956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66000"/>
                  </a:srgbClr>
                </a:solidFill>
                <a:latin typeface="Microsoft YaHei"/>
                <a:ea typeface="Microsoft YaHei"/>
              </a:rPr>
              <a:t>把原始数据变成精选数据集与本体对象类型</a:t>
            </a:r>
            <a:endParaRPr/>
          </a:p>
        </p:txBody>
      </p:sp>
      <p:sp>
        <p:nvSpPr>
          <p:cNvPr id="1554" name=""/>
          <p:cNvSpPr/>
          <p:nvPr/>
        </p:nvSpPr>
        <p:spPr>
          <a:xfrm rot="0" flipH="0" flipV="0">
            <a:off x="609600" y="2219325"/>
            <a:ext cx="10972800" cy="1638300"/>
          </a:xfrm>
          <a:prstGeom prst="roundRect">
            <a:avLst>
              <a:gd name="adj" fmla="val 23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55" name="" descr="{&quot;isTemplate&quot;:true,&quot;type&quot;:&quot;text&quot;}"/>
          <p:cNvSpPr txBox="1"/>
          <p:nvPr/>
        </p:nvSpPr>
        <p:spPr>
          <a:xfrm rot="0" flipH="0" flipV="0">
            <a:off x="762000" y="2333625"/>
            <a:ext cx="1066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自动生成管道的四个步骤</a:t>
            </a:r>
            <a:endParaRPr/>
          </a:p>
        </p:txBody>
      </p:sp>
      <p:sp>
        <p:nvSpPr>
          <p:cNvPr id="1556" name=""/>
          <p:cNvSpPr/>
          <p:nvPr/>
        </p:nvSpPr>
        <p:spPr>
          <a:xfrm rot="0" flipH="0" flipV="0">
            <a:off x="762000" y="2590800"/>
            <a:ext cx="2609850" cy="1152525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557" name=""/>
          <p:cNvSpPr/>
          <p:nvPr/>
        </p:nvSpPr>
        <p:spPr>
          <a:xfrm rot="0" flipH="0" flipV="0">
            <a:off x="876300" y="2686050"/>
            <a:ext cx="209550" cy="2095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58" name="" descr="{&quot;isTemplate&quot;:true,&quot;type&quot;:&quot;text&quot;}"/>
          <p:cNvSpPr txBox="1"/>
          <p:nvPr/>
        </p:nvSpPr>
        <p:spPr>
          <a:xfrm rot="0" flipH="0" flipV="0">
            <a:off x="942975" y="272415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559" name="" descr="{&quot;isTemplate&quot;:true,&quot;type&quot;:&quot;text&quot;}"/>
          <p:cNvSpPr txBox="1"/>
          <p:nvPr/>
        </p:nvSpPr>
        <p:spPr>
          <a:xfrm rot="0" flipH="0" flipV="0">
            <a:off x="876300" y="2962275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源特定预处理</a:t>
            </a:r>
            <a:endParaRPr/>
          </a:p>
        </p:txBody>
      </p:sp>
      <p:sp>
        <p:nvSpPr>
          <p:cNvPr id="1560" name="" descr="{&quot;isTemplate&quot;:true,&quot;type&quot;:&quot;text&quot;}"/>
          <p:cNvSpPr txBox="1"/>
          <p:nvPr/>
        </p:nvSpPr>
        <p:spPr>
          <a:xfrm rot="0" flipH="0" flipV="0">
            <a:off x="876300" y="3162300"/>
            <a:ext cx="23812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5A6072"/>
                </a:solidFill>
                <a:latin typeface="Microsoft YaHei"/>
                <a:ea typeface="Microsoft YaHei"/>
              </a:rPr>
              <a:t>产出固定</a:t>
            </a:r>
            <a:r>
              <a:rPr lang="en-US" sz="863">
                <a:solidFill>
                  <a:srgbClr val="5A6072"/>
                </a:solidFill>
                <a:latin typeface="Microsoft YaHei"/>
                <a:ea typeface="Microsoft YaHei"/>
              </a:rPr>
              <a:t xml:space="preserve"> schema </a:t>
            </a:r>
            <a:r>
              <a:rPr lang="zh-CN" sz="863">
                <a:solidFill>
                  <a:srgbClr val="5A6072"/>
                </a:solidFill>
                <a:latin typeface="Microsoft YaHei"/>
                <a:ea typeface="Microsoft YaHei"/>
              </a:rPr>
              <a:t>的元数据集，先把源的结构固定下来</a:t>
            </a:r>
            <a:endParaRPr/>
          </a:p>
        </p:txBody>
      </p:sp>
      <p:sp>
        <p:nvSpPr>
          <p:cNvPr id="1561" name=""/>
          <p:cNvSpPr/>
          <p:nvPr/>
        </p:nvSpPr>
        <p:spPr>
          <a:xfrm rot="0" flipH="0" flipV="0">
            <a:off x="3448050" y="2590800"/>
            <a:ext cx="2609850" cy="1152525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562" name=""/>
          <p:cNvSpPr/>
          <p:nvPr/>
        </p:nvSpPr>
        <p:spPr>
          <a:xfrm rot="0" flipH="0" flipV="0">
            <a:off x="3562350" y="2686050"/>
            <a:ext cx="209550" cy="209550"/>
          </a:xfrm>
          <a:prstGeom prst="rect">
            <a:avLst/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1563" name="" descr="{&quot;isTemplate&quot;:true,&quot;type&quot;:&quot;text&quot;}"/>
          <p:cNvSpPr txBox="1"/>
          <p:nvPr/>
        </p:nvSpPr>
        <p:spPr>
          <a:xfrm rot="0" flipH="0" flipV="0">
            <a:off x="3629025" y="272415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564" name="" descr="{&quot;isTemplate&quot;:true,&quot;type&quot;:&quot;text&quot;}"/>
          <p:cNvSpPr txBox="1"/>
          <p:nvPr/>
        </p:nvSpPr>
        <p:spPr>
          <a:xfrm rot="0" flipH="0" flipV="0">
            <a:off x="3562350" y="2962275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标准清洗库</a:t>
            </a:r>
            <a:endParaRPr/>
          </a:p>
        </p:txBody>
      </p:sp>
      <p:sp>
        <p:nvSpPr>
          <p:cNvPr id="1565" name="" descr="{&quot;isTemplate&quot;:true,&quot;type&quot;:&quot;text&quot;}"/>
          <p:cNvSpPr txBox="1"/>
          <p:nvPr/>
        </p:nvSpPr>
        <p:spPr>
          <a:xfrm rot="0" flipH="0" flipV="0">
            <a:off x="3562350" y="3162300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5A6072"/>
                </a:solidFill>
                <a:latin typeface="Microsoft YaHei"/>
                <a:ea typeface="Microsoft YaHei"/>
              </a:rPr>
              <a:t>套用标准化清洗步骤，把口径差异在入口就抹平</a:t>
            </a:r>
            <a:endParaRPr/>
          </a:p>
        </p:txBody>
      </p:sp>
      <p:sp>
        <p:nvSpPr>
          <p:cNvPr id="1566" name=""/>
          <p:cNvSpPr/>
          <p:nvPr/>
        </p:nvSpPr>
        <p:spPr>
          <a:xfrm rot="0" flipH="0" flipV="0">
            <a:off x="6134100" y="2590800"/>
            <a:ext cx="2609850" cy="1152525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567" name=""/>
          <p:cNvSpPr/>
          <p:nvPr/>
        </p:nvSpPr>
        <p:spPr>
          <a:xfrm rot="0" flipH="0" flipV="0">
            <a:off x="6248400" y="2686050"/>
            <a:ext cx="209550" cy="209550"/>
          </a:xfrm>
          <a:prstGeom prst="rect">
            <a:avLst/>
          </a:prstGeom>
          <a:solidFill>
            <a:srgbClr val="E0651A"/>
          </a:solidFill>
          <a:ln/>
        </p:spPr>
        <p:txBody>
          <a:bodyPr/>
          <a:p/>
        </p:txBody>
      </p:sp>
      <p:sp>
        <p:nvSpPr>
          <p:cNvPr id="1568" name="" descr="{&quot;isTemplate&quot;:true,&quot;type&quot;:&quot;text&quot;}"/>
          <p:cNvSpPr txBox="1"/>
          <p:nvPr/>
        </p:nvSpPr>
        <p:spPr>
          <a:xfrm rot="0" flipH="0" flipV="0">
            <a:off x="6315075" y="272415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569" name="" descr="{&quot;isTemplate&quot;:true,&quot;type&quot;:&quot;text&quot;}"/>
          <p:cNvSpPr txBox="1"/>
          <p:nvPr/>
        </p:nvSpPr>
        <p:spPr>
          <a:xfrm rot="0" flipH="0" flipV="0">
            <a:off x="6248400" y="2962275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核心生成</a:t>
            </a:r>
            <a:endParaRPr/>
          </a:p>
        </p:txBody>
      </p:sp>
      <p:sp>
        <p:nvSpPr>
          <p:cNvPr id="1570" name="" descr="{&quot;isTemplate&quot;:true,&quot;type&quot;:&quot;text&quot;}"/>
          <p:cNvSpPr txBox="1"/>
          <p:nvPr/>
        </p:nvSpPr>
        <p:spPr>
          <a:xfrm rot="0" flipH="0" flipV="0">
            <a:off x="6248400" y="3162300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5A6072"/>
                </a:solidFill>
                <a:latin typeface="Microsoft YaHei"/>
                <a:ea typeface="Microsoft YaHei"/>
              </a:rPr>
              <a:t>数据富化、列重命名、去重、</a:t>
            </a:r>
            <a:r>
              <a:rPr lang="en-US" sz="863">
                <a:solidFill>
                  <a:srgbClr val="5A6072"/>
                </a:solidFill>
                <a:latin typeface="Microsoft YaHei"/>
                <a:ea typeface="Microsoft YaHei"/>
              </a:rPr>
              <a:t>union</a:t>
            </a:r>
            <a:endParaRPr/>
          </a:p>
        </p:txBody>
      </p:sp>
      <p:sp>
        <p:nvSpPr>
          <p:cNvPr id="1571" name=""/>
          <p:cNvSpPr/>
          <p:nvPr/>
        </p:nvSpPr>
        <p:spPr>
          <a:xfrm rot="0" flipH="0" flipV="0">
            <a:off x="8820150" y="2590800"/>
            <a:ext cx="2609850" cy="1152525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572" name=""/>
          <p:cNvSpPr/>
          <p:nvPr/>
        </p:nvSpPr>
        <p:spPr>
          <a:xfrm rot="0" flipH="0" flipV="0">
            <a:off x="8934450" y="2686050"/>
            <a:ext cx="209550" cy="209550"/>
          </a:xfrm>
          <a:prstGeom prst="rect">
            <a:avLst/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573" name="" descr="{&quot;isTemplate&quot;:true,&quot;type&quot;:&quot;text&quot;}"/>
          <p:cNvSpPr txBox="1"/>
          <p:nvPr/>
        </p:nvSpPr>
        <p:spPr>
          <a:xfrm rot="0" flipH="0" flipV="0">
            <a:off x="9001125" y="272415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574" name="" descr="{&quot;isTemplate&quot;:true,&quot;type&quot;:&quot;text&quot;}"/>
          <p:cNvSpPr txBox="1"/>
          <p:nvPr/>
        </p:nvSpPr>
        <p:spPr>
          <a:xfrm rot="0" flipH="0" flipV="0">
            <a:off x="8934450" y="2962275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派生元素</a:t>
            </a:r>
            <a:endParaRPr/>
          </a:p>
        </p:txBody>
      </p:sp>
      <p:sp>
        <p:nvSpPr>
          <p:cNvPr id="1575" name="" descr="{&quot;isTemplate&quot;:true,&quot;type&quot;:&quot;text&quot;}"/>
          <p:cNvSpPr txBox="1"/>
          <p:nvPr/>
        </p:nvSpPr>
        <p:spPr>
          <a:xfrm rot="0" flipH="0" flipV="0">
            <a:off x="8934450" y="3162300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5A6072"/>
                </a:solidFill>
                <a:latin typeface="Microsoft YaHei"/>
                <a:ea typeface="Microsoft YaHei"/>
              </a:rPr>
              <a:t xml:space="preserve">join </a:t>
            </a:r>
            <a:r>
              <a:rPr lang="zh-CN" sz="863">
                <a:solidFill>
                  <a:srgbClr val="5A6072"/>
                </a:solidFill>
                <a:latin typeface="Microsoft YaHei"/>
                <a:ea typeface="Microsoft YaHei"/>
              </a:rPr>
              <a:t>表、时序数据集、富化列等高级加工支撑</a:t>
            </a:r>
            <a:endParaRPr/>
          </a:p>
        </p:txBody>
      </p:sp>
      <p:sp>
        <p:nvSpPr>
          <p:cNvPr id="1576" name=""/>
          <p:cNvSpPr/>
          <p:nvPr/>
        </p:nvSpPr>
        <p:spPr>
          <a:xfrm rot="0" flipH="0" flipV="0">
            <a:off x="647700" y="3952875"/>
            <a:ext cx="7067550" cy="1685925"/>
          </a:xfrm>
          <a:prstGeom prst="roundRect">
            <a:avLst>
              <a:gd name="adj" fmla="val 226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77" name=""/>
          <p:cNvSpPr/>
          <p:nvPr/>
        </p:nvSpPr>
        <p:spPr>
          <a:xfrm rot="0" flipH="0" flipV="0">
            <a:off x="647700" y="3952875"/>
            <a:ext cx="7067550" cy="1685925"/>
          </a:xfrm>
          <a:custGeom>
            <a:pathLst>
              <a:path w="742" h="177">
                <a:moveTo>
                  <a:pt x="4" y="177"/>
                </a:moveTo>
                <a:cubicBezTo>
                  <a:pt x="2" y="177"/>
                  <a:pt x="0" y="175"/>
                  <a:pt x="0" y="17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7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78" name="" descr="{&quot;isTemplate&quot;:true,&quot;type&quot;:&quot;text&quot;}"/>
          <p:cNvSpPr txBox="1"/>
          <p:nvPr/>
        </p:nvSpPr>
        <p:spPr>
          <a:xfrm rot="0" flipH="0" flipV="0">
            <a:off x="800100" y="4067175"/>
            <a:ext cx="672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为什么咨询时要盯住这两条</a:t>
            </a:r>
            <a:endParaRPr/>
          </a:p>
        </p:txBody>
      </p:sp>
      <p:sp>
        <p:nvSpPr>
          <p:cNvPr id="1579" name="" descr="{&quot;isTemplate&quot;:true,&quot;type&quot;:&quot;text&quot;}"/>
          <p:cNvSpPr txBox="1"/>
          <p:nvPr/>
        </p:nvSpPr>
        <p:spPr>
          <a:xfrm rot="0" flipH="0" flipV="0">
            <a:off x="800100" y="4362450"/>
            <a:ext cx="6724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产出是人类可读代码</a:t>
            </a:r>
            <a:endParaRPr/>
          </a:p>
        </p:txBody>
      </p:sp>
      <p:sp>
        <p:nvSpPr>
          <p:cNvPr id="1580" name="" descr="{&quot;isTemplate&quot;:true,&quot;type&quot;:&quot;text&quot;}"/>
          <p:cNvSpPr txBox="1"/>
          <p:nvPr/>
        </p:nvSpPr>
        <p:spPr>
          <a:xfrm rot="0" flipH="0" flipV="0">
            <a:off x="800100" y="4543425"/>
            <a:ext cx="67246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生成结果是像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Spark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这样的可读代码，可以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review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、修改、测试、做版本控制，能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check-in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到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git——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这意味着管道第一次变成了可审计资产</a:t>
            </a:r>
            <a:endParaRPr/>
          </a:p>
        </p:txBody>
      </p:sp>
      <p:sp>
        <p:nvSpPr>
          <p:cNvPr id="1581" name=""/>
          <p:cNvSpPr/>
          <p:nvPr/>
        </p:nvSpPr>
        <p:spPr>
          <a:xfrm rot="0" flipH="0" flipV="0">
            <a:off x="800100" y="5010150"/>
            <a:ext cx="6724650" cy="523875"/>
          </a:xfrm>
          <a:custGeom>
            <a:pathLst>
              <a:path w="706" h="55">
                <a:moveTo>
                  <a:pt x="0" y="0"/>
                </a:moveTo>
                <a:lnTo>
                  <a:pt x="706" y="0"/>
                </a:lnTo>
                <a:lnTo>
                  <a:pt x="706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582" name="" descr="{&quot;isTemplate&quot;:true,&quot;type&quot;:&quot;text&quot;}"/>
          <p:cNvSpPr txBox="1"/>
          <p:nvPr/>
        </p:nvSpPr>
        <p:spPr>
          <a:xfrm rot="0" flipH="0" flipV="0">
            <a:off x="800100" y="5076825"/>
            <a:ext cx="6724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可从源自动生成本体</a:t>
            </a:r>
            <a:endParaRPr/>
          </a:p>
        </p:txBody>
      </p:sp>
      <p:sp>
        <p:nvSpPr>
          <p:cNvPr id="1583" name="" descr="{&quot;isTemplate&quot;:true,&quot;type&quot;:&quot;text&quot;}"/>
          <p:cNvSpPr txBox="1"/>
          <p:nvPr/>
        </p:nvSpPr>
        <p:spPr>
          <a:xfrm rot="0" flipH="0" flipV="0">
            <a:off x="800100" y="5257800"/>
            <a:ext cx="6724650" cy="209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基于源系统元数据推导同步方案、转换逻辑与本体设计，甚至能反规范化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ERP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的密集命名空间，把技术字段重构成业务对象</a:t>
            </a:r>
            <a:endParaRPr/>
          </a:p>
        </p:txBody>
      </p:sp>
      <p:sp>
        <p:nvSpPr>
          <p:cNvPr id="1584" name=""/>
          <p:cNvSpPr/>
          <p:nvPr/>
        </p:nvSpPr>
        <p:spPr>
          <a:xfrm rot="0" flipH="0" flipV="0">
            <a:off x="7772400" y="3952875"/>
            <a:ext cx="3810000" cy="1685925"/>
          </a:xfrm>
          <a:prstGeom prst="roundRect">
            <a:avLst>
              <a:gd name="adj" fmla="val 226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85" name="" descr="{&quot;isTemplate&quot;:true,&quot;type&quot;:&quot;text&quot;}"/>
          <p:cNvSpPr txBox="1"/>
          <p:nvPr/>
        </p:nvSpPr>
        <p:spPr>
          <a:xfrm rot="0" flipH="0" flipV="0">
            <a:off x="7924800" y="4067175"/>
            <a:ext cx="3505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现实提醒</a:t>
            </a:r>
            <a:endParaRPr/>
          </a:p>
        </p:txBody>
      </p:sp>
      <p:sp>
        <p:nvSpPr>
          <p:cNvPr id="1586" name="" descr="{&quot;isTemplate&quot;:true,&quot;type&quot;:&quot;text&quot;}"/>
          <p:cNvSpPr txBox="1"/>
          <p:nvPr/>
        </p:nvSpPr>
        <p:spPr>
          <a:xfrm rot="0" flipH="0" flipV="0">
            <a:off x="7924800" y="4257675"/>
            <a:ext cx="3505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E0651A"/>
                </a:solidFill>
                <a:latin typeface="Microsoft YaHei"/>
                <a:ea typeface="Microsoft YaHei"/>
              </a:rPr>
              <a:t>版本状态</a:t>
            </a:r>
            <a:endParaRPr/>
          </a:p>
        </p:txBody>
      </p:sp>
      <p:sp>
        <p:nvSpPr>
          <p:cNvPr id="1587" name="" descr="{&quot;isTemplate&quot;:true,&quot;type&quot;:&quot;text&quot;}"/>
          <p:cNvSpPr txBox="1"/>
          <p:nvPr/>
        </p:nvSpPr>
        <p:spPr>
          <a:xfrm rot="0" flipH="0" flipV="0">
            <a:off x="7924800" y="4438650"/>
            <a:ext cx="350520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HyperAuto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第一代已进入退役，第二代已发布，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SAP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侧在强推第二代——架构图上写哪个版本要问清楚</a:t>
            </a:r>
            <a:endParaRPr/>
          </a:p>
        </p:txBody>
      </p:sp>
      <p:sp>
        <p:nvSpPr>
          <p:cNvPr id="1588" name="" descr="{&quot;isTemplate&quot;:true,&quot;type&quot;:&quot;text&quot;}"/>
          <p:cNvSpPr txBox="1"/>
          <p:nvPr/>
        </p:nvSpPr>
        <p:spPr>
          <a:xfrm rot="0" flipH="0" flipV="0">
            <a:off x="7924800" y="4905375"/>
            <a:ext cx="3505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E0651A"/>
                </a:solidFill>
                <a:latin typeface="Microsoft YaHei"/>
                <a:ea typeface="Microsoft YaHei"/>
              </a:rPr>
              <a:t>覆盖范围</a:t>
            </a:r>
            <a:endParaRPr/>
          </a:p>
        </p:txBody>
      </p:sp>
      <p:sp>
        <p:nvSpPr>
          <p:cNvPr id="1589" name="" descr="{&quot;isTemplate&quot;:true,&quot;type&quot;:&quot;text&quot;}"/>
          <p:cNvSpPr txBox="1"/>
          <p:nvPr/>
        </p:nvSpPr>
        <p:spPr>
          <a:xfrm rot="0" flipH="0" flipV="0">
            <a:off x="7924800" y="5086350"/>
            <a:ext cx="350520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内置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SAP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>Salesforce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>NetSuite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HubSpot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等连接器；对象存储、流、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>JDBC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>REST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NoSQL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也能接，但质量感受连接器成熟度影响很大</a:t>
            </a:r>
            <a:endParaRPr/>
          </a:p>
        </p:txBody>
      </p:sp>
      <p:sp>
        <p:nvSpPr>
          <p:cNvPr id="159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91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92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1593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09 / 30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6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Snapshot vs Incremental：&lt;span style={{ color: '#FA4F24' }}&gt;一条决定整条管道命运的选择&lt;/span&gt;&#10;      &lt;/Text&gt;&#10;      &lt;Text style={{ fontSize: 20, color: '#8A8F99', marginTop: 8 }}&gt;&#10;        官方原文：只有当输入数据集通过追加事务，或通过不修改既有文件的更新事务变更时，增量才会生效&#10;      &lt;/Text&gt;&#10;    &lt;/Box&gt;&#10;    &lt;Box style={{ height: 1, background: '#E8E8E8' }} /&gt;&#10;&#10;    &lt;Box style={{ paddingTop: 14, paddingBottom: 8, height: 479, flexDirection: 'row', gap: 12 }}&gt;&#10;      {/* 左：两种模式对比 */}&#10;      &lt;Box style={{ width: 424, flexDirection: 'column', gap: 10 }}&gt;&#10;        &lt;Box style={{ height: 152, background: '#F7F7F8', borderRadius: 4, borderLeft: '4px solid #8A8F99', padding: '12px 16px', flexDirection: 'column' }}&gt;&#10;          &lt;Text style={{ fontSize: 16, fontWeight: 'bold', color: '#5A6072' }}&gt;快照式计算&lt;/Text&gt;&#10;          &lt;Text style={{ fontSize: 12.5, color: '#3A4050', marginTop: 8, lineHeight: 1.6 }}&gt;&#10;            对整个输入执行变换，输出每次被完全替换。简单、可重放、易理解，是新管道的正确起点。代价是数据量大时一次跑不完、延迟随数据量线性增长。&#10;          &lt;/Text&gt;&#10;        &lt;/Box&gt;&#10;        &lt;Box style={{ height: 152, background: '#FFF3EE', borderRadius: 4, borderLeft: '4px solid #FA4F24', padding: '12px 16px', flexDirection: 'column' }}&gt;&#10;          &lt;Text style={{ fontSize: 16, fontWeight: 'bold', color: '#FA4F24' }}&gt;增量式计算&lt;/Text&gt;&#10;          &lt;Text style={{ fontSize: 12.5, color: '#3A4050', marginTop: 8, lineHeight: 1.6 }}&gt;&#10;            只对上一次构建之后追加进来的新数据执行变换，输出只追加不覆盖。性能与延迟都好，代价是所有依赖都必须满足事务前提，且一旦退化会静默出错。&#10;          &lt;/Text&gt;&#10;        &lt;/Box&gt;&#10;        &lt;Box style={{ flex: 1, background: '#0F1423', borderRadius: 4, padding: '12px 16px', flexDirection: 'column', justifyContent: 'center' }}&gt;&#10;          &lt;Text style={{ fontSize: 13.5, fontWeight: 'bold', color: '#FBA15C' }}&gt;把快照输入标成增量，不会报错，也不会有任何效果&lt;/Text&gt;&#10;          &lt;Text style={{ fontSize: 12, color: 'rgba(255,255,255,0.72)', marginTop: 6, lineHeight: 1.55 }}&gt;&#10;            这是最危险的一种失败：不报警、不中断，只是默默按全量跑，等到数据涨上去才发现延迟已经到天。&#10;          &lt;/Text&gt;&#10;        &lt;/Box&gt;&#10;      &lt;/Box&gt;&#10;&#10;      {/* 右：五类限制 */}&#10;      &lt;Box style={{ flex: 1, flexDirection: 'column', gap: 8 }}&gt;&#10;        &lt;Text style={{ fontSize: 15, fontWeight: 'bold', color: '#0F1423' }}&gt;增量模式的五类硬限制（官方明确）&lt;/Text&gt;&#10;        {[&#10;          { n: 'Join', d: '增量数据集必须放在 join 的左侧，快照数据集放右侧；两个增量数据集互相 join 目前不支持' },&#10;          { n: 'Union', d: '所有输入必须处于同一种计算模式，不能一半增量一半快照' },&#10;          { n: 'Transforms', d: '窗口函数、聚合、透视只作用于当前事务，看不到之前的输出——跨事务的窗口没有意义' },&#10;          { n: 'Replay', d: '重放只支持全量输入，不支持对增量状态做部分重放' },&#10;          { n: 'Fail-fast', d: '可以开启「要求增量执行」，一旦非增量就让作业直接失败，防止悄悄退化成快照' },&#10;        ].map((it, i) =&gt; (&#10;          &lt;Box key={it.n} style={{ flex: 1, background: '#F7F7F8', borderRadius: 3, padding: '0 14px', flexDirection: 'row', alignItems: 'center', gap: 12 }}&gt;&#10;            &lt;Text style={{ fontSize: 13, fontWeight: 'bold', color: '#E0651A', width: 72 }}&gt;{it.n}&lt;/Text&gt;&#10;            &lt;Text style={{ fontSize: 12, color: '#3A4050', flex: 1, lineHeight: 1.5 }}&gt;{it.d}&lt;/Text&gt;&#10;          &lt;/Box&gt;&#10;        ))}&#10;&#10;        &lt;Box style={{ height: 92, background: '#FFF3EE', borderRadius: 4, borderLeft: '4px solid #FA4F24', padding: '11px 16px', flexDirection: 'column' }}&gt;&#10;          &lt;Text style={{ fontSize: 13.5, fontWeight: 'bold', color: '#C43A17' }}&gt;咨询上的取舍：批 → 增 → 流&lt;/Text&gt;&#10;          &lt;Text style={{ fontSize: 12, color: '#3A4050', marginTop: 6, lineHeight: 1.55 }}&gt;&#10;            多数情况先做批量，之后再引入增量提升性能、降低延迟。已知新数据规模极大时，可以从一开始设计成增量，但复杂度显著更高。延迟要求极低才用流式，而且流式管道只会和它最慢的组件一样快，所以必须在设计之初就确认目标延迟与吞吐能达成。&#10;          &lt;/Text&gt;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10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>Snapshot vs Incremental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一条决定整条管道命运的选择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官方原文：只有当输入数据集通过追加事务，或通过不修改既有文件的更新事务变更时，增量才会生效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647700" y="1285875"/>
            <a:ext cx="4038600" cy="1447800"/>
          </a:xfrm>
          <a:prstGeom prst="roundRect">
            <a:avLst>
              <a:gd name="adj" fmla="val 263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647700" y="1285875"/>
            <a:ext cx="4038600" cy="1447800"/>
          </a:xfrm>
          <a:custGeom>
            <a:pathLst>
              <a:path w="424" h="152">
                <a:moveTo>
                  <a:pt x="4" y="152"/>
                </a:moveTo>
                <a:cubicBezTo>
                  <a:pt x="2" y="152"/>
                  <a:pt x="0" y="150"/>
                  <a:pt x="0" y="14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2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00100" y="1400175"/>
            <a:ext cx="3695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A6072"/>
                </a:solidFill>
                <a:latin typeface="Microsoft YaHei"/>
                <a:ea typeface="Microsoft YaHei"/>
              </a:rPr>
              <a:t>快照式计算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00100" y="1666875"/>
            <a:ext cx="36957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对整个输入执行变换，输出每次被完全替换。简单、可重放、易理解，是新管道的正确起点。代价是数据量大时一次跑不完、延迟随数据量线性增长。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47700" y="2828925"/>
            <a:ext cx="4038600" cy="1447800"/>
          </a:xfrm>
          <a:prstGeom prst="roundRect">
            <a:avLst>
              <a:gd name="adj" fmla="val 263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647700" y="2828925"/>
            <a:ext cx="4038600" cy="1447800"/>
          </a:xfrm>
          <a:custGeom>
            <a:pathLst>
              <a:path w="424" h="152">
                <a:moveTo>
                  <a:pt x="4" y="152"/>
                </a:moveTo>
                <a:cubicBezTo>
                  <a:pt x="2" y="152"/>
                  <a:pt x="0" y="150"/>
                  <a:pt x="0" y="14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00100" y="2943225"/>
            <a:ext cx="3695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增量式计算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00100" y="3209925"/>
            <a:ext cx="36957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只对上一次构建之后追加进来的新数据执行变换，输出只追加不覆盖。性能与延迟都好，代价是所有依赖都必须满足事务前提，且一旦退化会静默出错。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09600" y="4371975"/>
            <a:ext cx="4038600" cy="1266825"/>
          </a:xfrm>
          <a:prstGeom prst="roundRect">
            <a:avLst>
              <a:gd name="adj" fmla="val 300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62000" y="4686300"/>
            <a:ext cx="3733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把快照输入标成增量，不会报错，也不会有任何效果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62000" y="4905375"/>
            <a:ext cx="37338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这是最危险的一种失败：不报警、不中断，只是默默按全量跑，等到数据涨上去才发现延迟已经到天。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762500" y="1285875"/>
            <a:ext cx="681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增量模式的五类硬限制（官方明确）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4762500" y="1533525"/>
            <a:ext cx="6819900" cy="5715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895850" y="1743075"/>
            <a:ext cx="685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0651A"/>
                </a:solidFill>
                <a:latin typeface="Microsoft YaHei"/>
                <a:ea typeface="Microsoft YaHei"/>
              </a:rPr>
              <a:t>Join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695950" y="1714500"/>
            <a:ext cx="57531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增量数据集必须放在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join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的左侧，快照数据集放右侧；两个增量数据集互相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join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目前不支持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4762500" y="2181225"/>
            <a:ext cx="6819900" cy="5715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4895850" y="2390775"/>
            <a:ext cx="685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0651A"/>
                </a:solidFill>
                <a:latin typeface="Microsoft YaHei"/>
                <a:ea typeface="Microsoft YaHei"/>
              </a:rPr>
              <a:t>Union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695950" y="2362200"/>
            <a:ext cx="57531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所有输入必须处于同一种计算模式，不能一半增量一半快照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4762500" y="2828925"/>
            <a:ext cx="6819900" cy="561975"/>
          </a:xfrm>
          <a:prstGeom prst="roundRect">
            <a:avLst>
              <a:gd name="adj" fmla="val 508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895850" y="3038475"/>
            <a:ext cx="685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0651A"/>
                </a:solidFill>
                <a:latin typeface="Microsoft YaHei"/>
                <a:ea typeface="Microsoft YaHei"/>
              </a:rPr>
              <a:t>Transforms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695950" y="3009900"/>
            <a:ext cx="57531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窗口函数、聚合、透视只作用于当前事务，看不到之前的输出——跨事务的窗口没有意义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4762500" y="3467100"/>
            <a:ext cx="6819900" cy="5715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895850" y="3676650"/>
            <a:ext cx="685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0651A"/>
                </a:solidFill>
                <a:latin typeface="Microsoft YaHei"/>
                <a:ea typeface="Microsoft YaHei"/>
              </a:rPr>
              <a:t>Replay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695950" y="3648075"/>
            <a:ext cx="57531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重放只支持全量输入，不支持对增量状态做部分重放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4762500" y="4114800"/>
            <a:ext cx="6819900" cy="5715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895850" y="4324350"/>
            <a:ext cx="685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0651A"/>
                </a:solidFill>
                <a:latin typeface="Microsoft YaHei"/>
                <a:ea typeface="Microsoft YaHei"/>
              </a:rPr>
              <a:t>Fail-fast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695950" y="4295775"/>
            <a:ext cx="57531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可以开启「要求增量执行」，一旦非增量就让作业直接失败，防止悄悄退化成快照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4800600" y="4762500"/>
            <a:ext cx="6819900" cy="876300"/>
          </a:xfrm>
          <a:prstGeom prst="roundRect">
            <a:avLst>
              <a:gd name="adj" fmla="val 434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4800600" y="4762500"/>
            <a:ext cx="6819900" cy="876300"/>
          </a:xfrm>
          <a:custGeom>
            <a:pathLst>
              <a:path w="716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953000" y="4867275"/>
            <a:ext cx="647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咨询上的取舍：批</a:t>
            </a:r>
            <a:r>
              <a:rPr lang="en-US" sz="101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增</a:t>
            </a:r>
            <a:r>
              <a:rPr lang="en-US" sz="101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流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953000" y="5086350"/>
            <a:ext cx="64770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多数情况先做批量，之后再引入增量提升性能、降低延迟。已知新数据规模极大时，可以从一开始设计成增量，但复杂度显著更高。延迟要求极低才用流式，而且流式管道只会和它最慢的组件一样快，所以必须在设计之初就确认目标延迟与吞吐能达成。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10 / 30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76" name="" descr="&lt;Slide style={{ width: 1280, height: 720, background: '#0F1423' }}&gt;&#10;  &lt;Box style={{ position: 'absolute', left: 0, top: 0, width: 1280, height: 720, background: 'linear-gradient(135deg, #0F1423 0%, #2A1810 100%)' }} /&gt;&#10;  &lt;Box style={{ position: 'absolute', right: 0, top: 0, width: 560, height: 720, background: 'linear-gradient(200deg, rgba(250,79,36,0.28) 0%, rgba(250,79,36,0) 70%)' }} /&gt;&#10;&#10;  &lt;Box style={{ position: 'absolute', right: 70, top: 110 }}&gt;&#10;    &lt;Text style={{ fontSize: 300, fontWeight: 'bold', color: 'rgba(255,255,255,0.08)', lineHeight: 1.0 }}&gt;02&lt;/Text&gt;&#10;  &lt;/Box&gt;&#10;&#10;  &lt;Box style={{ position: 'absolute', left: 88, top: 232, width: 700, flexDirection: 'column' }}&gt;&#10;    &lt;Text style={{ fontSize: 15, color: 'rgba(255,255,255,0.5)', letterSpacing: 3 }}&gt;PART 02&lt;/Text&gt;&#10;    &lt;Box style={{ width: 72, height: 5, background: '#FA4F24', marginTop: 22 }} /&gt;&#10;    &lt;Text style={{ fontSize: 52, fontWeight: 'bold', color: '#FFFFFF', marginTop: 28, lineHeight: 1.15 }}&gt;方向一：往里进&lt;/Text&gt;&#10;    &lt;Text style={{ fontSize: 17, color: 'rgba(255,255,255,0.62)', letterSpacing: 2, marginTop: 20 }}&gt;DATA SOURCE TO ONTOLOGY&lt;/Text&gt;&#10;    &lt;Text style={{ fontSize: 19, color: 'rgba(255,255,255,0.85)', marginTop: 26, lineHeight: 1.6 }}&gt;六道关口决定了一份源数据能不能进本体，以及以哪一版进&lt;/Text&gt;&#10;  &lt;/Box&gt;&#10;&#10;  &lt;Box style={{ position: 'absolute', right: 88, bottom: 64, flexDirection: 'row', alignItems: 'center', gap: 12 }}&gt;&#10;    &lt;Box style={{ width: 14, height: 14, background: '#FA4F24' }} /&gt;&#10;    &lt;Text style={{ fontSize: 14, color: 'rgba(255,255,255,0.5)' }}&gt;硕磐机密 · 管道处理咨询方法论&lt;/Text&gt;&#10;    &lt;Text style={{ fontSize: 14, color: 'rgba(255,255,255,0.5)', marginLeft: 12 }}&gt;11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02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667500" cy="6858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方向一：往里进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38200" y="3781425"/>
            <a:ext cx="666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DATA SOURCE TO ONTOLOGY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6667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六道关口决定了一份源数据能不能进本体，以及以哪一版进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857250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820150" y="60864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11 / 30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9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方向一：数据源 &lt;span style={{ color: '#FA4F24' }}&gt;→&lt;/span&gt; Ontology 的&lt;span style={{ color: '#FA4F24' }}&gt;六道关口&lt;/span&gt;&#10;      &lt;/Text&gt;&#10;      &lt;Text style={{ fontSize: 20, color: '#8A8F99', marginTop: 8 }}&gt;&#10;        每过一道关，都要留下一份可查的产出物；过不去就停在原地，不要靠下游兜底&#10;      &lt;/Text&gt;&#10;    &lt;/Box&gt;&#10;    &lt;Box style={{ height: 1, background: '#E8E8E8' }} /&gt;&#10;&#10;    &lt;Box style={{ paddingTop: 14, paddingBottom: 8, height: 479, flexDirection: 'column', gap: 9 }}&gt;&#10;      {/* 六道关口 */}&#10;      &lt;Box style={{ height: 306, flexDirection: 'row', gap: 8 }}&gt;&#10;        {[&#10;          { n: '关1', t: '来源合法', q: '这个源系统谁批准接的？含不含个人敏感与商业敏感字段？', o: '源清单 + 敏感分级', f: '管', c: '#FA4F24' },&#10;          { n: '关2', t: '口径统一', q: '同一个指标在三个系统里三个算法，进入本体前按哪个算？', o: '口径字典 + 冲突台账', f: '治', c: '#F87D2F' },&#10;          { n: '关3', t: '结构固定', q: '源结构变了怎么办？schema 漂移谁先发现？', o: 'schema 契约 + 漂移告警', f: '技', c: '#E0651A' },&#10;          { n: '关4', t: '数据可重放', q: '能不能从某个事务重跑一遍，结果完全一致？', o: '事务边界定义 + 幂等键规则', f: '技', c: '#E0651A' },&#10;          { n: '关5', t: '映射成对象', q: '这张表要变成几个对象类型？对象之间的链接从哪来？', o: '本体映射表 + 链接规则', f: '治', c: '#F87D2F' },&#10;          { n: '关6', t: '质量有闸', q: '五类健康检查谁在看？告警发给谁？停了谁来拍板？', o: '健康检查清单 + 告警矩阵', f: '运', c: '#C43A17' },&#10;        ].map((it, i) =&gt; (&#10;          &lt;Box key={it.n} style={{ flex: 1, background: '#F7F7F8', borderRadius: 4, flexDirection: 'column', overflow: 'hidden' }}&gt;&#10;            &lt;Box style={{ height: 54, background: it.c, padding: '0 10px', justifyContent: 'center' }}&gt;&#10;              &lt;Text style={{ fontSize: 11, color: 'rgba(255,255,255,0.8)', letterSpacing: 1 }}&gt;{it.n} · {it.f}&lt;/Text&gt;&#10;              &lt;Text style={{ fontSize: 15, fontWeight: 'bold', color: '#FFFFFF', marginTop: 3 }}&gt;{it.t}&lt;/Text&gt;&#10;            &lt;/Box&gt;&#10;            &lt;Box style={{ flex: 1, padding: '9px 10px', justifyContent: 'space-between' }}&gt;&#10;              &lt;Text style={{ fontSize: 11, color: '#3A4050', lineHeight: 1.5 }}&gt;{it.q}&lt;/Text&gt;&#10;              &lt;Box style={{ background: '#FFFFFF', borderLeft: '2px solid ' + it.c, padding: '5px 7px' }}&gt;&#10;                &lt;Text style={{ fontSize: 10, color: '#8A8F99' }}&gt;产出物&lt;/Text&gt;&#10;                &lt;Text style={{ fontSize: 10.5, fontWeight: 'bold', color: '#0F1423', marginTop: 2, lineHeight: 1.35 }}&gt;{it.o}&lt;/Text&gt;&#10;              &lt;/Box&gt;&#10;            &lt;/Box&gt;&#10;          &lt;/Box&gt;&#10;        ))}&#10;      &lt;/Box&gt;&#10;&#10;      {/* 三条说明 */}&#10;      &lt;Box style={{ flex: 1, flexDirection: 'row', gap: 10 }}&gt;&#10;        &lt;Box style={{ flex: 1, background: '#0F1423', borderRadius: 4, padding: '12px 16px', flexDirection: 'column', justifyContent: 'center' }}&gt;&#10;          &lt;Text style={{ fontSize: 14, fontWeight: 'bold', color: '#FBA15C' }}&gt;六道关的性质只有三种&lt;/Text&gt;&#10;          &lt;Text style={{ fontSize: 12, color: 'rgba(255,255,255,0.85)', marginTop: 7, lineHeight: 1.55 }}&gt;&#10;            「治」是治理动作，需要业务参与、「技」是工程约束、可以靠平台默认、「运」是运营动作，靠值班和预案。三种性质的推进节奏不一样，硬要一起推，结果就是治理被工程拖住、工程被治理卡死。&#10;          &lt;/Text&gt;&#10;        &lt;/Box&gt;&#10;        &lt;Box style={{ flex: 1, background: '#FFF3EE', borderRadius: 4, borderLeft: '4px solid #FA4F24', padding: '12px 16px', flexDirection: 'column', justifyContent: 'center' }}&gt;&#10;          &lt;Text style={{ fontSize: 14, fontWeight: 'bold', color: '#C43A17' }}&gt;最常被跳过的是关2 和关5&lt;/Text&gt;&#10;          &lt;Text style={{ fontSize: 12, color: '#3A4050', marginTop: 7, lineHeight: 1.55 }}&gt;&#10;            客户往往愿意花钱做接入和监控，却不愿意定口径、不愿意画映射。结果是数据全进来了，本体里的对象类型却对不上业务，最后所有人绕过本体直接查表——这是最贵的返工。&#10;          &lt;/Text&gt;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12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方向一：数据源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sz="2400" b="1">
                <a:solidFill>
                  <a:srgbClr val="FA4F24"/>
                </a:solidFill>
                <a:latin typeface="Microsoft YaHei"/>
                <a:ea typeface="Microsoft YaHei"/>
              </a:rPr>
              <a:t>→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Ontology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六道关口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每过一道关，都要留下一份可查的产出物；过不去就停在原地，不要靠下游兜底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609600" y="1285875"/>
            <a:ext cx="1762125" cy="2914650"/>
          </a:xfrm>
          <a:prstGeom prst="roundRect">
            <a:avLst>
              <a:gd name="adj" fmla="val 21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609600" y="1285875"/>
            <a:ext cx="1762125" cy="514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04850" y="1381125"/>
            <a:ext cx="1571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关</a:t>
            </a:r>
            <a:r>
              <a:rPr lang="en-US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1</a:t>
            </a:r>
            <a:r>
              <a:rPr lang="en-US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管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04850" y="154305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来源合法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04850" y="1885950"/>
            <a:ext cx="1571625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这个源系统谁批准接的？含不含个人敏感与商业敏感字段？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723900" y="3714750"/>
            <a:ext cx="1571625" cy="400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704850" y="3714750"/>
            <a:ext cx="1590675" cy="400050"/>
          </a:xfrm>
          <a:custGeom>
            <a:pathLst>
              <a:path w="167" h="42">
                <a:moveTo>
                  <a:pt x="0" y="0"/>
                </a:moveTo>
                <a:lnTo>
                  <a:pt x="2" y="0"/>
                </a:lnTo>
                <a:lnTo>
                  <a:pt x="2" y="42"/>
                </a:lnTo>
                <a:lnTo>
                  <a:pt x="0" y="4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90575" y="3762375"/>
            <a:ext cx="1419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产出物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90575" y="3895725"/>
            <a:ext cx="14192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 b="1">
                <a:solidFill>
                  <a:srgbClr val="0F1423"/>
                </a:solidFill>
                <a:latin typeface="Microsoft YaHei"/>
                <a:ea typeface="Microsoft YaHei"/>
              </a:rPr>
              <a:t>源清单</a:t>
            </a:r>
            <a:r>
              <a:rPr lang="en-US" sz="78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 b="1">
                <a:solidFill>
                  <a:srgbClr val="0F1423"/>
                </a:solidFill>
                <a:latin typeface="Microsoft YaHei"/>
                <a:ea typeface="Microsoft YaHei"/>
              </a:rPr>
              <a:t>敏感分级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2447925" y="1285875"/>
            <a:ext cx="1771650" cy="2914650"/>
          </a:xfrm>
          <a:prstGeom prst="roundRect">
            <a:avLst>
              <a:gd name="adj" fmla="val 215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2447925" y="1285875"/>
            <a:ext cx="1771650" cy="514350"/>
          </a:xfrm>
          <a:prstGeom prst="rect">
            <a:avLst/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2543175" y="1381125"/>
            <a:ext cx="1581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关</a:t>
            </a:r>
            <a:r>
              <a:rPr lang="en-US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2</a:t>
            </a:r>
            <a:r>
              <a:rPr lang="en-US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治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2543175" y="1543050"/>
            <a:ext cx="158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口径统一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2543175" y="1885950"/>
            <a:ext cx="1581150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同一个指标在三个系统里三个算法，进入本体前按哪个算？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2562225" y="3714750"/>
            <a:ext cx="15811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2543175" y="3714750"/>
            <a:ext cx="1600200" cy="400050"/>
          </a:xfrm>
          <a:custGeom>
            <a:pathLst>
              <a:path w="168" h="42">
                <a:moveTo>
                  <a:pt x="0" y="0"/>
                </a:moveTo>
                <a:lnTo>
                  <a:pt x="2" y="0"/>
                </a:lnTo>
                <a:lnTo>
                  <a:pt x="2" y="42"/>
                </a:lnTo>
                <a:lnTo>
                  <a:pt x="0" y="42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2628900" y="3762375"/>
            <a:ext cx="1428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产出物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2628900" y="38957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 b="1">
                <a:solidFill>
                  <a:srgbClr val="0F1423"/>
                </a:solidFill>
                <a:latin typeface="Microsoft YaHei"/>
                <a:ea typeface="Microsoft YaHei"/>
              </a:rPr>
              <a:t>口径字典</a:t>
            </a:r>
            <a:r>
              <a:rPr lang="en-US" sz="78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 b="1">
                <a:solidFill>
                  <a:srgbClr val="0F1423"/>
                </a:solidFill>
                <a:latin typeface="Microsoft YaHei"/>
                <a:ea typeface="Microsoft YaHei"/>
              </a:rPr>
              <a:t>冲突台账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4295775" y="1285875"/>
            <a:ext cx="1762125" cy="2914650"/>
          </a:xfrm>
          <a:prstGeom prst="roundRect">
            <a:avLst>
              <a:gd name="adj" fmla="val 21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4295775" y="1285875"/>
            <a:ext cx="1762125" cy="514350"/>
          </a:xfrm>
          <a:prstGeom prst="rect">
            <a:avLst/>
          </a:prstGeom>
          <a:solidFill>
            <a:srgbClr val="E0651A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391025" y="1381125"/>
            <a:ext cx="1571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关</a:t>
            </a:r>
            <a:r>
              <a:rPr lang="en-US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3</a:t>
            </a:r>
            <a:r>
              <a:rPr lang="en-US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技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4391025" y="154305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结构固定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391025" y="1885950"/>
            <a:ext cx="1571625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源结构变了怎么办？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schema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漂移谁先发现？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4410075" y="3714750"/>
            <a:ext cx="1571625" cy="400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8" name=""/>
          <p:cNvSpPr/>
          <p:nvPr/>
        </p:nvSpPr>
        <p:spPr>
          <a:xfrm rot="0" flipH="0" flipV="0">
            <a:off x="4391025" y="3714750"/>
            <a:ext cx="1590675" cy="400050"/>
          </a:xfrm>
          <a:custGeom>
            <a:pathLst>
              <a:path w="167" h="42">
                <a:moveTo>
                  <a:pt x="0" y="0"/>
                </a:moveTo>
                <a:lnTo>
                  <a:pt x="2" y="0"/>
                </a:lnTo>
                <a:lnTo>
                  <a:pt x="2" y="42"/>
                </a:lnTo>
                <a:lnTo>
                  <a:pt x="0" y="42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476750" y="3762375"/>
            <a:ext cx="1419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产出物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476750" y="3895725"/>
            <a:ext cx="14192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schema </a:t>
            </a:r>
            <a:r>
              <a:rPr lang="zh-CN" sz="788" b="1">
                <a:solidFill>
                  <a:srgbClr val="0F1423"/>
                </a:solidFill>
                <a:latin typeface="Microsoft YaHei"/>
                <a:ea typeface="Microsoft YaHei"/>
              </a:rPr>
              <a:t>契约</a:t>
            </a:r>
            <a:r>
              <a:rPr lang="en-US" sz="78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 b="1">
                <a:solidFill>
                  <a:srgbClr val="0F1423"/>
                </a:solidFill>
                <a:latin typeface="Microsoft YaHei"/>
                <a:ea typeface="Microsoft YaHei"/>
              </a:rPr>
              <a:t>漂移告警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134100" y="1285875"/>
            <a:ext cx="1762125" cy="2914650"/>
          </a:xfrm>
          <a:prstGeom prst="roundRect">
            <a:avLst>
              <a:gd name="adj" fmla="val 21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6134100" y="1285875"/>
            <a:ext cx="1762125" cy="514350"/>
          </a:xfrm>
          <a:prstGeom prst="rect">
            <a:avLst/>
          </a:prstGeom>
          <a:solidFill>
            <a:srgbClr val="E0651A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229350" y="1381125"/>
            <a:ext cx="1571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关</a:t>
            </a:r>
            <a:r>
              <a:rPr lang="en-US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4</a:t>
            </a:r>
            <a:r>
              <a:rPr lang="en-US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技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229350" y="154305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数据可重放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229350" y="1885950"/>
            <a:ext cx="1571625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能不能从某个事务重跑一遍，结果完全一致？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248400" y="3714750"/>
            <a:ext cx="1571625" cy="400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6229350" y="3714750"/>
            <a:ext cx="1590675" cy="400050"/>
          </a:xfrm>
          <a:custGeom>
            <a:pathLst>
              <a:path w="167" h="42">
                <a:moveTo>
                  <a:pt x="0" y="0"/>
                </a:moveTo>
                <a:lnTo>
                  <a:pt x="2" y="0"/>
                </a:lnTo>
                <a:lnTo>
                  <a:pt x="2" y="42"/>
                </a:lnTo>
                <a:lnTo>
                  <a:pt x="0" y="42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315075" y="3762375"/>
            <a:ext cx="1419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产出物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315075" y="3895725"/>
            <a:ext cx="14192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 b="1">
                <a:solidFill>
                  <a:srgbClr val="0F1423"/>
                </a:solidFill>
                <a:latin typeface="Microsoft YaHei"/>
                <a:ea typeface="Microsoft YaHei"/>
              </a:rPr>
              <a:t>事务边界定义</a:t>
            </a:r>
            <a:r>
              <a:rPr lang="en-US" sz="78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 b="1">
                <a:solidFill>
                  <a:srgbClr val="0F1423"/>
                </a:solidFill>
                <a:latin typeface="Microsoft YaHei"/>
                <a:ea typeface="Microsoft YaHei"/>
              </a:rPr>
              <a:t>幂等键规则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7972425" y="1285875"/>
            <a:ext cx="1771650" cy="2914650"/>
          </a:xfrm>
          <a:prstGeom prst="roundRect">
            <a:avLst>
              <a:gd name="adj" fmla="val 215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7972425" y="1285875"/>
            <a:ext cx="1771650" cy="514350"/>
          </a:xfrm>
          <a:prstGeom prst="rect">
            <a:avLst/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067675" y="1381125"/>
            <a:ext cx="1581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关</a:t>
            </a:r>
            <a:r>
              <a:rPr lang="en-US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5</a:t>
            </a:r>
            <a:r>
              <a:rPr lang="en-US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治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067675" y="1543050"/>
            <a:ext cx="158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映射成对象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067675" y="1885950"/>
            <a:ext cx="1581150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这张表要变成几个对象类型？对象之间的链接从哪来？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8086725" y="3714750"/>
            <a:ext cx="158115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8067675" y="3714750"/>
            <a:ext cx="1600200" cy="400050"/>
          </a:xfrm>
          <a:custGeom>
            <a:pathLst>
              <a:path w="168" h="42">
                <a:moveTo>
                  <a:pt x="0" y="0"/>
                </a:moveTo>
                <a:lnTo>
                  <a:pt x="2" y="0"/>
                </a:lnTo>
                <a:lnTo>
                  <a:pt x="2" y="42"/>
                </a:lnTo>
                <a:lnTo>
                  <a:pt x="0" y="42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153400" y="3762375"/>
            <a:ext cx="1428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产出物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153400" y="38957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 b="1">
                <a:solidFill>
                  <a:srgbClr val="0F1423"/>
                </a:solidFill>
                <a:latin typeface="Microsoft YaHei"/>
                <a:ea typeface="Microsoft YaHei"/>
              </a:rPr>
              <a:t>本体映射表</a:t>
            </a:r>
            <a:r>
              <a:rPr lang="en-US" sz="78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 b="1">
                <a:solidFill>
                  <a:srgbClr val="0F1423"/>
                </a:solidFill>
                <a:latin typeface="Microsoft YaHei"/>
                <a:ea typeface="Microsoft YaHei"/>
              </a:rPr>
              <a:t>链接规则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9820275" y="1285875"/>
            <a:ext cx="1762125" cy="2914650"/>
          </a:xfrm>
          <a:prstGeom prst="roundRect">
            <a:avLst>
              <a:gd name="adj" fmla="val 21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9820275" y="1285875"/>
            <a:ext cx="1762125" cy="514350"/>
          </a:xfrm>
          <a:prstGeom prst="rect">
            <a:avLst/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915525" y="1381125"/>
            <a:ext cx="1571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关</a:t>
            </a:r>
            <a:r>
              <a:rPr lang="en-US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6</a:t>
            </a:r>
            <a:r>
              <a:rPr lang="en-US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运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9915525" y="154305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质量有闸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9915525" y="1885950"/>
            <a:ext cx="1571625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五类健康检查谁在看？告警发给谁？停了谁来拍板？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9934575" y="3714750"/>
            <a:ext cx="1571625" cy="400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9915525" y="3714750"/>
            <a:ext cx="1590675" cy="400050"/>
          </a:xfrm>
          <a:custGeom>
            <a:pathLst>
              <a:path w="167" h="42">
                <a:moveTo>
                  <a:pt x="0" y="0"/>
                </a:moveTo>
                <a:lnTo>
                  <a:pt x="2" y="0"/>
                </a:lnTo>
                <a:lnTo>
                  <a:pt x="2" y="42"/>
                </a:lnTo>
                <a:lnTo>
                  <a:pt x="0" y="42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0001250" y="3762375"/>
            <a:ext cx="1419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产出物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0001250" y="3895725"/>
            <a:ext cx="14192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 b="1">
                <a:solidFill>
                  <a:srgbClr val="0F1423"/>
                </a:solidFill>
                <a:latin typeface="Microsoft YaHei"/>
                <a:ea typeface="Microsoft YaHei"/>
              </a:rPr>
              <a:t>健康检查清单</a:t>
            </a:r>
            <a:r>
              <a:rPr lang="en-US" sz="78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 b="1">
                <a:solidFill>
                  <a:srgbClr val="0F1423"/>
                </a:solidFill>
                <a:latin typeface="Microsoft YaHei"/>
                <a:ea typeface="Microsoft YaHei"/>
              </a:rPr>
              <a:t>告警矩阵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09600" y="4286250"/>
            <a:ext cx="5438775" cy="1352550"/>
          </a:xfrm>
          <a:prstGeom prst="roundRect">
            <a:avLst>
              <a:gd name="adj" fmla="val 281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62000" y="4638675"/>
            <a:ext cx="513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六道关的性质只有三种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62000" y="4867275"/>
            <a:ext cx="513397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「治」是治理动作，需要业务参与、「技」是工程约束、可以靠平台默认、「运」是运营动作，靠值班和预案。三种性质的推进节奏不一样，硬要一起推，结果就是治理被工程拖住、工程被治理卡死。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181725" y="4286250"/>
            <a:ext cx="5438775" cy="1352550"/>
          </a:xfrm>
          <a:prstGeom prst="roundRect">
            <a:avLst>
              <a:gd name="adj" fmla="val 281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2" name=""/>
          <p:cNvSpPr/>
          <p:nvPr/>
        </p:nvSpPr>
        <p:spPr>
          <a:xfrm rot="0" flipH="0" flipV="0">
            <a:off x="6181725" y="4286250"/>
            <a:ext cx="5438775" cy="1352550"/>
          </a:xfrm>
          <a:custGeom>
            <a:pathLst>
              <a:path w="571" h="142">
                <a:moveTo>
                  <a:pt x="4" y="142"/>
                </a:moveTo>
                <a:cubicBezTo>
                  <a:pt x="2" y="142"/>
                  <a:pt x="0" y="140"/>
                  <a:pt x="0" y="13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4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334125" y="4638675"/>
            <a:ext cx="509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最常被跳过的是关</a:t>
            </a: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和关</a:t>
            </a: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334125" y="4867275"/>
            <a:ext cx="509587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客户往往愿意花钱做接入和监控，却不愿意定口径、不愿意画映射。结果是数据全进来了，本体里的对象类型却对不上业务，最后所有人绕过本体直接查表——这是最贵的返工。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12 / 30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59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dataset transactions 与&lt;span style={{ color: '#FA4F24' }}&gt;版本血缘&lt;/span&gt;：可追溯的根&#10;      &lt;/Text&gt;&#10;      &lt;Text style={{ fontSize: 20, color: '#8A8F99', marginTop: 8 }}&gt;&#10;        「某个时点的某个数字」这个问题答不上来，就说明整条链路没有版本概念&#10;      &lt;/Text&gt;&#10;    &lt;/Box&gt;&#10;    &lt;Box style={{ height: 1, background: '#E8E8E8' }} /&gt;&#10;&#10;    &lt;Box style={{ paddingTop: 14, paddingBottom: 8, height: 479, flexDirection: 'row', gap: 12 }}&gt;&#10;      {/* 时间轴 */}&#10;      &lt;Box style={{ width: 700, background: '#0F1423', borderRadius: 4, padding: '14px 18px', flexDirection: 'column' }}&gt;&#10;        &lt;Text style={{ fontSize: 14, fontWeight: 'bold', color: '#FBA15C' }}&gt;一个数据集的版本时间轴：每段事务都是一版&lt;/Text&gt;&#10;        &lt;Box style={{ flex: 1, flexDirection: 'column', justifyContent: 'center', marginTop: 12 }}&gt;&#10;          {[&#10;            { v: 'v3', s: '事务 03 · 2026-10-10 06:00', d: '增量同步 1.2 万行', k: '被本次管道消费' },&#10;            { v: 'v2', s: '事务 02 · 2026-10-09 06:00', d: '增量同步 0.8 万行', k: '已被 v3 取代' },&#10;            { v: 'v1', s: '事务 01 · 2026-10-08 06:00', d: '全量快照 120 万行', k: '可随时回退到这一版' },&#10;          ].map((it, i) =&gt; (&#10;            &lt;Box key={it.v} style={{ flex: 1, flexDirection: 'row', alignItems: 'center', gap: 12, borderTop: i === 0 ? 'none' : '1px solid rgba(255,255,255,0.1)' }}&gt;&#10;              &lt;Box style={{ width: 44, height: 30, background: i === 0 ? '#FA4F24' : 'rgba(255,255,255,0.1)', alignItems: 'center', justifyContent: 'center' }}&gt;&#10;                &lt;Text style={{ fontSize: 13, fontWeight: 'bold', color: i === 0 ? '#FFFFFF' : 'rgba(255,255,255,0.7)' }}&gt;{it.v}&lt;/Text&gt;&#10;              &lt;/Box&gt;&#10;              &lt;Box style={{ flex: 1, flexDirection: 'column' }}&gt;&#10;                &lt;Text style={{ fontSize: 12, color: '#FFFFFF' }}&gt;{it.s}&lt;/Text&gt;&#10;                &lt;Text style={{ fontSize: 11, color: 'rgba(255,255,255,0.55)', marginTop: 2 }}&gt;{it.d}&lt;/Text&gt;&#10;              &lt;/Box&gt;&#10;              &lt;Text style={{ fontSize: 11, color: 'rgba(255,255,255,0.5)', width: 168, textAlign: 'right' }}&gt;{it.k}&lt;/Text&gt;&#10;            &lt;/Box&gt;&#10;          ))}&#10;        &lt;/Box&gt;&#10;        &lt;Box style={{ height: 1, background: 'rgba(255,255,255,0.14)', marginTop: 6 }} /&gt;&#10;        &lt;Text style={{ fontSize: 11.5, color: 'rgba(255,255,255,0.72)', marginTop: 10, lineHeight: 1.5 }}&gt;&#10;          血缘要能双向回答：正向「v3 是哪次同步产生的」，反向「v1 之后有多少个下游对象受影响」。前者是审计要求，后者是止损要求。&#10;        &lt;/Text&gt;&#10;      &lt;/Box&gt;&#10;&#10;      {/* 三层血缘 */}&#10;      &lt;Box style={{ flex: 1, flexDirection: 'column', gap: 8 }}&gt;&#10;        &lt;Text style={{ fontSize: 15, fontWeight: 'bold', color: '#0F1423' }}&gt;血缘必须做三层，只做一层不够&lt;/Text&gt;&#10;        {[&#10;          { n: '表级血缘', d: '源表 → 中间数据集 → 本体对象类型', c: '#FA4F24' },&#10;          { n: '字段级血缘', d: '目标字段由哪些源字段经过什么表达式算出来', c: '#F87D2F' },&#10;          { n: '任务级血缘', d: '哪一次同步任务、哪一次运行产生了这一版', c: '#E0651A' },&#10;        ].map((it, i) =&gt; (&#10;          &lt;Box key={it.n} style={{ height: 66, background: '#F7F7F8', borderRadius: 3, borderLeft: '3px solid ' + it.c, padding: '0 14px', justifyContent: 'center' }}&gt;&#10;            &lt;Text style={{ fontSize: 13, fontWeight: 'bold', color: it.c }}&gt;{it.n}&lt;/Text&gt;&#10;            &lt;Text style={{ fontSize: 11.5, color: '#3A4050', marginTop: 3, lineHeight: 1.4 }}&gt;{it.d}&lt;/Text&gt;&#10;          &lt;/Box&gt;&#10;        ))}&#10;        &lt;Box style={{ flex: 1, background: '#FFF3EE', borderRadius: 4, borderLeft: '4px solid #FA4F24', padding: '11px 15px', flexDirection: 'column', justifyContent: 'center' }}&gt;&#10;          &lt;Text style={{ fontSize: 13, fontWeight: 'bold', color: '#C43A17' }}&gt;两条设计原则&lt;/Text&gt;&#10;          &lt;Text style={{ fontSize: 11.5, color: '#3A4050', marginTop: 6, lineHeight: 1.55 }}&gt;&#10;            一、血缘由管道自动产生，不允许人工维护——人工维护的血缘三个月内必然失真。二、元数据与治理体系双向连接，与企业既有数据目录、主数据管理对齐，不另起一套。&#10;          &lt;/Text&gt;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13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dataset transactions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版本血缘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：可追溯的根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「某个时点的某个数字」这个问题答不上来，就说明整条链路没有版本概念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609600" y="1285875"/>
            <a:ext cx="6667500" cy="4352925"/>
          </a:xfrm>
          <a:prstGeom prst="roundRect">
            <a:avLst>
              <a:gd name="adj" fmla="val 87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781050" y="1419225"/>
            <a:ext cx="6324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一个数据集的版本时间轴：每段事务都是一版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781050" y="2095500"/>
            <a:ext cx="419100" cy="2857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914400" y="21621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v3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314450" y="2085975"/>
            <a:ext cx="4076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事务</a:t>
            </a: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 03 · 2026-10-10 06:00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314450" y="2247900"/>
            <a:ext cx="4076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增量同步</a:t>
            </a: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1.2 </a:t>
            </a: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万行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505450" y="2171700"/>
            <a:ext cx="16002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被本次管道消费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781050" y="2771775"/>
            <a:ext cx="6324600" cy="1095375"/>
          </a:xfrm>
          <a:custGeom>
            <a:pathLst>
              <a:path w="664" h="115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781050" y="3181350"/>
            <a:ext cx="419100" cy="2857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914400" y="324802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v2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314450" y="3171825"/>
            <a:ext cx="4076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事务</a:t>
            </a: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 02 · 2026-10-09 06:00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314450" y="3333750"/>
            <a:ext cx="4076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增量同步</a:t>
            </a: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0.8 </a:t>
            </a: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万行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5505450" y="3257550"/>
            <a:ext cx="16002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已被</a:t>
            </a:r>
            <a:r>
              <a:rPr lang="en-US" sz="8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v3 </a:t>
            </a:r>
            <a:r>
              <a:rPr lang="zh-CN" sz="8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取代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781050" y="3857625"/>
            <a:ext cx="6324600" cy="1095375"/>
          </a:xfrm>
          <a:custGeom>
            <a:pathLst>
              <a:path w="664" h="115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781050" y="4267200"/>
            <a:ext cx="419100" cy="2857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914400" y="43338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v1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314450" y="4257675"/>
            <a:ext cx="4076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事务</a:t>
            </a: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 01 · 2026-10-08 06:00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314450" y="4419600"/>
            <a:ext cx="4076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全量快照</a:t>
            </a: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120 </a:t>
            </a: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万行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505450" y="4343400"/>
            <a:ext cx="16002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可随时回退到这一版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781050" y="5000625"/>
            <a:ext cx="63246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81050" y="5105400"/>
            <a:ext cx="63246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血缘要能双向回答：正向「</a:t>
            </a:r>
            <a:r>
              <a:rPr lang="en-US" sz="863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v3 </a:t>
            </a:r>
            <a:r>
              <a:rPr lang="zh-CN" sz="863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是哪次同步产生的」，反向「</a:t>
            </a:r>
            <a:r>
              <a:rPr lang="en-US" sz="863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v1 </a:t>
            </a:r>
            <a:r>
              <a:rPr lang="zh-CN" sz="863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之后有多少个下游对象受影响」。前者是审计要求，后者是止损要求。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391400" y="1285875"/>
            <a:ext cx="419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血缘必须做三层，只做一层不够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7419975" y="1533525"/>
            <a:ext cx="4191000" cy="628650"/>
          </a:xfrm>
          <a:prstGeom prst="roundRect">
            <a:avLst>
              <a:gd name="adj" fmla="val 454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7419975" y="1533525"/>
            <a:ext cx="4191000" cy="628650"/>
          </a:xfrm>
          <a:custGeom>
            <a:pathLst>
              <a:path w="440" h="66">
                <a:moveTo>
                  <a:pt x="3" y="66"/>
                </a:moveTo>
                <a:cubicBezTo>
                  <a:pt x="1" y="66"/>
                  <a:pt x="0" y="65"/>
                  <a:pt x="0" y="6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6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553325" y="1666875"/>
            <a:ext cx="389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表级血缘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7553325" y="1847850"/>
            <a:ext cx="38957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源表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中间数据集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本体对象类型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7419975" y="2238375"/>
            <a:ext cx="4191000" cy="628650"/>
          </a:xfrm>
          <a:prstGeom prst="roundRect">
            <a:avLst>
              <a:gd name="adj" fmla="val 454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7419975" y="2238375"/>
            <a:ext cx="4191000" cy="628650"/>
          </a:xfrm>
          <a:custGeom>
            <a:pathLst>
              <a:path w="440" h="66">
                <a:moveTo>
                  <a:pt x="3" y="66"/>
                </a:moveTo>
                <a:cubicBezTo>
                  <a:pt x="1" y="66"/>
                  <a:pt x="0" y="65"/>
                  <a:pt x="0" y="6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66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553325" y="2371725"/>
            <a:ext cx="389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87D2F"/>
                </a:solidFill>
                <a:latin typeface="Microsoft YaHei"/>
                <a:ea typeface="Microsoft YaHei"/>
              </a:rPr>
              <a:t>字段级血缘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553325" y="2552700"/>
            <a:ext cx="38957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目标字段由哪些源字段经过什么表达式算出来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7419975" y="2943225"/>
            <a:ext cx="4191000" cy="628650"/>
          </a:xfrm>
          <a:prstGeom prst="roundRect">
            <a:avLst>
              <a:gd name="adj" fmla="val 454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7419975" y="2943225"/>
            <a:ext cx="4191000" cy="628650"/>
          </a:xfrm>
          <a:custGeom>
            <a:pathLst>
              <a:path w="440" h="66">
                <a:moveTo>
                  <a:pt x="3" y="66"/>
                </a:moveTo>
                <a:cubicBezTo>
                  <a:pt x="1" y="66"/>
                  <a:pt x="0" y="65"/>
                  <a:pt x="0" y="6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66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553325" y="3076575"/>
            <a:ext cx="389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0651A"/>
                </a:solidFill>
                <a:latin typeface="Microsoft YaHei"/>
                <a:ea typeface="Microsoft YaHei"/>
              </a:rPr>
              <a:t>任务级血缘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553325" y="3257550"/>
            <a:ext cx="38957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哪一次同步任务、哪一次运行产生了这一版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7429500" y="3648075"/>
            <a:ext cx="4191000" cy="1990725"/>
          </a:xfrm>
          <a:prstGeom prst="roundRect">
            <a:avLst>
              <a:gd name="adj" fmla="val 191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7429500" y="3648075"/>
            <a:ext cx="4191000" cy="1990725"/>
          </a:xfrm>
          <a:custGeom>
            <a:pathLst>
              <a:path w="440" h="209">
                <a:moveTo>
                  <a:pt x="4" y="209"/>
                </a:moveTo>
                <a:cubicBezTo>
                  <a:pt x="2" y="209"/>
                  <a:pt x="0" y="207"/>
                  <a:pt x="0" y="20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0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572375" y="4229100"/>
            <a:ext cx="3867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两条设计原则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572375" y="4438650"/>
            <a:ext cx="38671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一、血缘由管道自动产生，不允许人工维护——人工维护的血缘三个月内必然失真。二、元数据与治理体系双向连接，与企业既有数据目录、主数据管理对齐，不另起一套。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13 / 30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206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管道分支与发布：&lt;span style={{ color: '#FA4F24' }}&gt;一次都不许直接改生产&lt;/span&gt;&#10;      &lt;/Text&gt;&#10;      &lt;Text style={{ fontSize: 20, color: '#8A8F99', marginTop: 8 }}&gt;&#10;        官方把「分支与发布流程」列为管道建设的增强项，因为在有 Agent 和本体的世界里，管道变更就是业务变更&#10;      &lt;/Text&gt;&#10;    &lt;/Box&gt;&#10;    &lt;Box style={{ height: 1, background: '#E8E8E8' }} /&gt;&#10;&#10;    &lt;Box style={{ paddingTop: 14, paddingBottom: 8, height: 479, flexDirection: 'column', gap: 10 }}&gt;&#10;      {/* 分支流 */}&#10;      &lt;Box style={{ height: 168, background: '#F7F7F8', borderRadius: 4, padding: '14px 18px', flexDirection: 'column' }}&gt;&#10;        &lt;Text style={{ fontSize: 14, fontWeight: 'bold', color: '#0F1423' }}&gt;一次管道变更的完整路径&lt;/Text&gt;&#10;        &lt;Box style={{ flex: 1, flexDirection: 'row', alignItems: 'center', gap: 7, marginTop: 10 }}&gt;&#10;          {[&#10;            { n: '生产', t: 'main 分支上的稳定版本', c: '#0F1423' },&#10;            { n: '开分支', t: '一条改动独立开分支，互不干扰', c: '#F87D2F' },&#10;            { n: '沙箱验证', t: '沙箱分支跑通数据与规则', c: '#E0651A' },&#10;            { n: '评审', t: '口径影响 + 血缘影响面评估', c: '#E0651A' },&#10;            { n: '合并发布', t: '合并并生成新事务版本', c: '#FA4F24' },&#10;            { n: '可回滚', t: '保留上一版，随时切回', c: '#C43A17' },&#10;          ].map((it, i) =&gt; (&#10;            &lt;Box key={it.n} style={{ flex: 1, background: it.c, borderRadius: 3, padding: '0 10px', height: 76, justifyContent: 'center' }}&gt;&#10;              &lt;Text style={{ fontSize: 12.5, fontWeight: 'bold', color: '#FFFFFF' }}&gt;{it.n}&lt;/Text&gt;&#10;              &lt;Text style={{ fontSize: 10.5, color: 'rgba(255,255,255,0.8)', marginTop: 4, lineHeight: 1.4 }}&gt;{it.t}&lt;/Text&gt;&#10;              {i &lt; 5 ? &lt;Text style={{ fontSize: 15, color: '#C9CDD6', marginTop: 6 }}&gt;›&lt;/Text&gt; : null}&#10;            &lt;/Box&gt;&#10;          ))}&#10;        &lt;/Box&gt;&#10;      &lt;/Box&gt;&#10;&#10;      &lt;Box style={{ flex: 1, flexDirection: 'row', gap: 10 }}&gt;&#10;        &lt;Box style={{ flex: 1, background: '#FFF3EE', borderRadius: 4, borderLeft: '4px solid #FA4F24', padding: '12px 16px', flexDirection: 'column' }}&gt;&#10;          &lt;Text style={{ fontSize: 14, fontWeight: 'bold', color: '#C43A17' }}&gt;为什么管道变更要按业务变更管&lt;/Text&gt;&#10;          {[&#10;            { t: '它会改口径', d: '改一个清洗表达式，本体里所有引用这个对象类型的 Agent 结论都会跟着变' },&#10;            { t: '它会改数字', d: '指标变了但没人通知，下游报表对不上，重新建立信任的成本极高' },&#10;            { t: '它会改权限', d: '同步范围扩大，可能带进来原本不该被这一类用户看到的字段' },&#10;          ].map((it, i) =&gt; (&#10;            &lt;Box key={it.t} style={{ flex: 1, flexDirection: 'column', justifyContent: 'center', borderTop: i === 0 ? 'none' : '1px solid #FBA15C' }}&gt;&#10;              &lt;Text style={{ fontSize: 12.5, fontWeight: 'bold', color: '#0F1423' }}&gt;{it.t}&lt;/Text&gt;&#10;              &lt;Text style={{ fontSize: 11.5, color: '#3A4050', marginTop: 4, lineHeight: 1.5 }}&gt;{it.d}&lt;/Text&gt;&#10;            &lt;/Box&gt;&#10;          ))}&#10;        &lt;/Box&gt;&#10;&#10;        &lt;Box style={{ flex: 1, background: '#0F1423', borderRadius: 4, padding: '12px 16px', flexDirection: 'column' }}&gt;&#10;          &lt;Text style={{ fontSize: 14, fontWeight: 'bold', color: '#FBA15C' }}&gt;发布检查表（六项）&lt;/Text&gt;&#10;          &lt;Box style={{ flex: 1, flexDirection: 'column', marginTop: 8 }}&gt;&#10;            {[&#10;              '本次改动影响哪些对象类型与链接类型',&#10;              '口径是否有变化，是否需要同步字典',&#10;              '血缘影响面是否已评估，下游是否已通知',&#10;              '是否新增敏感字段，权限是否同步调整',&#10;              '沙箱分支的产出与生产基线的差异清单',&#10;              '回滚路径是否可执行，回滚耗时多久',&#10;            ].map((it, i) =&gt; (&#10;              &lt;Box key={it} style={{ flex: 1, flexDirection: 'row', alignItems: 'center', gap: 9, borderTop: i === 0 ? 'none' : '1px solid rgba(255,255,255,0.1)' }}&gt;&#10;                &lt;Box style={{ width: 15, height: 15, border: '1px solid #FBA15C', alignItems: 'center', justifyContent: 'center' }} /&gt;&#10;                &lt;Text style={{ fontSize: 11.5, color: 'rgba(255,255,255,0.88)', flex: 1 }}&gt;{it}&lt;/Text&gt;&#10;              &lt;/Box&gt;&#10;            ))}&#10;          &lt;/Box&gt;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14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管道分支与发布：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一次都不许直接改生产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官方把「分支与发布流程」列为管道建设的增强项，因为在有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和本体的世界里，管道变更就是业务变更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11" name=""/>
          <p:cNvSpPr/>
          <p:nvPr/>
        </p:nvSpPr>
        <p:spPr>
          <a:xfrm rot="0" flipH="0" flipV="0">
            <a:off x="609600" y="1285875"/>
            <a:ext cx="10972800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81050" y="141922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一次管道变更的完整路径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781050" y="1857375"/>
            <a:ext cx="1714500" cy="723900"/>
          </a:xfrm>
          <a:prstGeom prst="roundRect">
            <a:avLst>
              <a:gd name="adj" fmla="val 394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76300" y="1933575"/>
            <a:ext cx="1524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生产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76300" y="2114550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main </a:t>
            </a: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分支上的稳定版本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76300" y="2343150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C9CDD6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2562225" y="1857375"/>
            <a:ext cx="1714500" cy="723900"/>
          </a:xfrm>
          <a:prstGeom prst="roundRect">
            <a:avLst>
              <a:gd name="adj" fmla="val 3947"/>
            </a:avLst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2657475" y="1933575"/>
            <a:ext cx="1524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开分支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2657475" y="2114550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一条改动独立开分支，互不干扰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2657475" y="2343150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C9CDD6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4343400" y="1857375"/>
            <a:ext cx="1724025" cy="723900"/>
          </a:xfrm>
          <a:prstGeom prst="roundRect">
            <a:avLst>
              <a:gd name="adj" fmla="val 3947"/>
            </a:avLst>
          </a:prstGeom>
          <a:solidFill>
            <a:srgbClr val="E0651A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438650" y="1933575"/>
            <a:ext cx="1533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沙箱验证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4438650" y="2114550"/>
            <a:ext cx="15335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沙箱分支跑通数据与规则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4438650" y="2343150"/>
            <a:ext cx="1533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C9CDD6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134100" y="1857375"/>
            <a:ext cx="1714500" cy="723900"/>
          </a:xfrm>
          <a:prstGeom prst="roundRect">
            <a:avLst>
              <a:gd name="adj" fmla="val 3947"/>
            </a:avLst>
          </a:prstGeom>
          <a:solidFill>
            <a:srgbClr val="E0651A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229350" y="1933575"/>
            <a:ext cx="1524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评审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229350" y="2114550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口径影响</a:t>
            </a:r>
            <a:r>
              <a:rPr lang="en-US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血缘影响面评估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229350" y="2343150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C9CDD6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7915275" y="1857375"/>
            <a:ext cx="1714500" cy="723900"/>
          </a:xfrm>
          <a:prstGeom prst="roundRect">
            <a:avLst>
              <a:gd name="adj" fmla="val 3947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010525" y="1933575"/>
            <a:ext cx="1524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合并发布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010525" y="2114550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合并并生成新事务版本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010525" y="2343150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C9CDD6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9696450" y="1857375"/>
            <a:ext cx="1714500" cy="723900"/>
          </a:xfrm>
          <a:prstGeom prst="roundRect">
            <a:avLst>
              <a:gd name="adj" fmla="val 3947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9791700" y="2047875"/>
            <a:ext cx="1524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可回滚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791700" y="2228850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保留上一版，随时切回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47700" y="2981325"/>
            <a:ext cx="5438775" cy="2657475"/>
          </a:xfrm>
          <a:prstGeom prst="roundRect">
            <a:avLst>
              <a:gd name="adj" fmla="val 143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647700" y="2981325"/>
            <a:ext cx="5438775" cy="2657475"/>
          </a:xfrm>
          <a:custGeom>
            <a:pathLst>
              <a:path w="571" h="279">
                <a:moveTo>
                  <a:pt x="4" y="279"/>
                </a:moveTo>
                <a:cubicBezTo>
                  <a:pt x="2" y="279"/>
                  <a:pt x="0" y="277"/>
                  <a:pt x="0" y="27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7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00100" y="3095625"/>
            <a:ext cx="509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为什么管道变更要按业务变更管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00100" y="3448050"/>
            <a:ext cx="5095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它会改口径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00100" y="3629025"/>
            <a:ext cx="50958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改一个清洗表达式，本体里所有引用这个对象类型的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结论都会跟着变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800100" y="4010025"/>
            <a:ext cx="5095875" cy="762000"/>
          </a:xfrm>
          <a:custGeom>
            <a:pathLst>
              <a:path w="535" h="80">
                <a:moveTo>
                  <a:pt x="0" y="0"/>
                </a:moveTo>
                <a:lnTo>
                  <a:pt x="535" y="0"/>
                </a:lnTo>
                <a:lnTo>
                  <a:pt x="535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00100" y="4200525"/>
            <a:ext cx="5095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它会改数字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00100" y="4381500"/>
            <a:ext cx="50958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指标变了但没人通知，下游报表对不上，重新建立信任的成本极高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800100" y="4762500"/>
            <a:ext cx="5095875" cy="771525"/>
          </a:xfrm>
          <a:custGeom>
            <a:pathLst>
              <a:path w="535" h="81">
                <a:moveTo>
                  <a:pt x="0" y="0"/>
                </a:moveTo>
                <a:lnTo>
                  <a:pt x="535" y="0"/>
                </a:lnTo>
                <a:lnTo>
                  <a:pt x="535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00100" y="4962525"/>
            <a:ext cx="5095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它会改权限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00100" y="5143500"/>
            <a:ext cx="50958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同步范围扩大，可能带进来原本不该被这一类用户看到的字段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6143625" y="2981325"/>
            <a:ext cx="5438775" cy="2657475"/>
          </a:xfrm>
          <a:prstGeom prst="roundRect">
            <a:avLst>
              <a:gd name="adj" fmla="val 143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296025" y="3095625"/>
            <a:ext cx="513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发布检查表（六项）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296025" y="3448050"/>
            <a:ext cx="142875" cy="142875"/>
          </a:xfrm>
          <a:prstGeom prst="rect">
            <a:avLst/>
          </a:prstGeom>
          <a:ln w="12700">
            <a:solidFill>
              <a:srgbClr val="FBA15C"/>
            </a:solidFill>
            <a:prstDash val="solid"/>
          </a:ln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524625" y="3448050"/>
            <a:ext cx="490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本次改动影响哪些对象类型与链接类型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6296025" y="3695700"/>
            <a:ext cx="5133975" cy="371475"/>
          </a:xfrm>
          <a:custGeom>
            <a:pathLst>
              <a:path w="539" h="39">
                <a:moveTo>
                  <a:pt x="0" y="0"/>
                </a:moveTo>
                <a:lnTo>
                  <a:pt x="539" y="0"/>
                </a:lnTo>
                <a:lnTo>
                  <a:pt x="53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6296025" y="3810000"/>
            <a:ext cx="142875" cy="142875"/>
          </a:xfrm>
          <a:prstGeom prst="rect">
            <a:avLst/>
          </a:prstGeom>
          <a:ln w="12700">
            <a:solidFill>
              <a:srgbClr val="FBA15C"/>
            </a:solidFill>
            <a:prstDash val="solid"/>
          </a:ln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524625" y="3819525"/>
            <a:ext cx="490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口径是否有变化，是否需要同步字典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296025" y="4057650"/>
            <a:ext cx="5133975" cy="381000"/>
          </a:xfrm>
          <a:custGeom>
            <a:pathLst>
              <a:path w="539" h="40">
                <a:moveTo>
                  <a:pt x="0" y="0"/>
                </a:moveTo>
                <a:lnTo>
                  <a:pt x="539" y="0"/>
                </a:lnTo>
                <a:lnTo>
                  <a:pt x="53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6296025" y="4181475"/>
            <a:ext cx="142875" cy="142875"/>
          </a:xfrm>
          <a:prstGeom prst="rect">
            <a:avLst/>
          </a:prstGeom>
          <a:ln w="12700">
            <a:solidFill>
              <a:srgbClr val="FBA15C"/>
            </a:solidFill>
            <a:prstDash val="solid"/>
          </a:ln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524625" y="4181475"/>
            <a:ext cx="490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血缘影响面是否已评估，下游是否已通知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296025" y="4429125"/>
            <a:ext cx="5133975" cy="371475"/>
          </a:xfrm>
          <a:custGeom>
            <a:pathLst>
              <a:path w="539" h="39">
                <a:moveTo>
                  <a:pt x="0" y="0"/>
                </a:moveTo>
                <a:lnTo>
                  <a:pt x="539" y="0"/>
                </a:lnTo>
                <a:lnTo>
                  <a:pt x="53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6296025" y="4543425"/>
            <a:ext cx="142875" cy="142875"/>
          </a:xfrm>
          <a:prstGeom prst="rect">
            <a:avLst/>
          </a:prstGeom>
          <a:ln w="12700">
            <a:solidFill>
              <a:srgbClr val="FBA15C"/>
            </a:solidFill>
            <a:prstDash val="solid"/>
          </a:ln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524625" y="4552950"/>
            <a:ext cx="490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是否新增敏感字段，权限是否同步调整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296025" y="4791075"/>
            <a:ext cx="5133975" cy="381000"/>
          </a:xfrm>
          <a:custGeom>
            <a:pathLst>
              <a:path w="539" h="40">
                <a:moveTo>
                  <a:pt x="0" y="0"/>
                </a:moveTo>
                <a:lnTo>
                  <a:pt x="539" y="0"/>
                </a:lnTo>
                <a:lnTo>
                  <a:pt x="53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61" name=""/>
          <p:cNvSpPr/>
          <p:nvPr/>
        </p:nvSpPr>
        <p:spPr>
          <a:xfrm rot="0" flipH="0" flipV="0">
            <a:off x="6296025" y="4914900"/>
            <a:ext cx="142875" cy="142875"/>
          </a:xfrm>
          <a:prstGeom prst="rect">
            <a:avLst/>
          </a:prstGeom>
          <a:ln w="12700">
            <a:solidFill>
              <a:srgbClr val="FBA15C"/>
            </a:solidFill>
            <a:prstDash val="solid"/>
          </a:ln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524625" y="4914900"/>
            <a:ext cx="490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沙箱分支的产出与生产基线的差异清单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296025" y="5162550"/>
            <a:ext cx="5133975" cy="371475"/>
          </a:xfrm>
          <a:custGeom>
            <a:pathLst>
              <a:path w="539" h="39">
                <a:moveTo>
                  <a:pt x="0" y="0"/>
                </a:moveTo>
                <a:lnTo>
                  <a:pt x="539" y="0"/>
                </a:lnTo>
                <a:lnTo>
                  <a:pt x="53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6296025" y="5276850"/>
            <a:ext cx="142875" cy="142875"/>
          </a:xfrm>
          <a:prstGeom prst="rect">
            <a:avLst/>
          </a:prstGeom>
          <a:ln w="12700">
            <a:solidFill>
              <a:srgbClr val="FBA15C"/>
            </a:solidFill>
            <a:prstDash val="solid"/>
          </a:ln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524625" y="5286375"/>
            <a:ext cx="490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回滚路径是否可执行，回滚耗时多久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14 / 30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70" name="" descr="&lt;Slide style={{ width: 1280, height: 720, background: '#0F1423' }}&gt;&#10;  &lt;Box style={{ position: 'absolute', left: 0, top: 0, width: 1280, height: 720, background: 'linear-gradient(135deg, #0F1423 0%, #2A1810 100%)' }} /&gt;&#10;  &lt;Box style={{ position: 'absolute', right: 0, top: 0, width: 560, height: 720, background: 'linear-gradient(200deg, rgba(250,79,36,0.28) 0%, rgba(250,79,36,0) 70%)' }} /&gt;&#10;&#10;  &lt;Box style={{ position: 'absolute', right: 70, top: 110 }}&gt;&#10;    &lt;Text style={{ fontSize: 300, fontWeight: 'bold', color: 'rgba(255,255,255,0.08)', lineHeight: 1.0 }}&gt;03&lt;/Text&gt;&#10;  &lt;/Box&gt;&#10;&#10;  &lt;Box style={{ position: 'absolute', left: 88, top: 232, width: 700, flexDirection: 'column' }}&gt;&#10;    &lt;Text style={{ fontSize: 15, color: 'rgba(255,255,255,0.5)', letterSpacing: 3 }}&gt;PART 03&lt;/Text&gt;&#10;    &lt;Box style={{ width: 72, height: 5, background: '#FA4F24', marginTop: 22 }} /&gt;&#10;    &lt;Text style={{ fontSize: 52, fontWeight: 'bold', color: '#FFFFFF', marginTop: 28, lineHeight: 1.15 }}&gt;方向二：往外出&lt;/Text&gt;&#10;    &lt;Text style={{ fontSize: 17, color: 'rgba(255,255,255,0.62)', letterSpacing: 2, marginTop: 20 }}&gt;ONTOLOGY TO CONSUMERS&lt;/Text&gt;&#10;    &lt;Text style={{ fontSize: 19, color: 'rgba(255,255,255,0.85)', marginTop: 26, lineHeight: 1.6 }}&gt;本体里的数据怎么被调出去，以及知识库与 Agent 在哪一环挂接&lt;/Text&gt;&#10;  &lt;/Box&gt;&#10;&#10;  &lt;Box style={{ position: 'absolute', right: 88, bottom: 64, flexDirection: 'row', alignItems: 'center', gap: 12 }}&gt;&#10;    &lt;Box style={{ width: 14, height: 14, background: '#FA4F24' }} /&gt;&#10;    &lt;Text style={{ fontSize: 14, color: 'rgba(255,255,255,0.5)' }}&gt;硕磐机密 · 管道处理咨询方法论&lt;/Text&gt;&#10;    &lt;Text style={{ fontSize: 14, color: 'rgba(255,255,255,0.5)', marginLeft: 12 }}&gt;15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03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667500" cy="6858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方向二：往外出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38200" y="3781425"/>
            <a:ext cx="666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ONTOLOGY TO CONSUMERS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6667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本体里的数据怎么被调出去，以及知识库与</a:t>
            </a: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在哪一环挂接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857250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820150" y="60864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15 / 30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83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方向二：Ontology &lt;span style={{ color: '#FA4F24' }}&gt;→&lt;/span&gt; 调用的&lt;span style={{ color: '#FA4F24' }}&gt;三条出口&lt;/span&gt;&#10;      &lt;/Text&gt;&#10;      &lt;Text style={{ fontSize: 20, color: '#8A8F99', marginTop: 8 }}&gt;&#10;        官方原文：大模型不能直接访问工具，只能请求使用工具，工具调用由逻辑层在发起用户的权限内执行&#10;      &lt;/Text&gt;&#10;    &lt;/Box&gt;&#10;    &lt;Box style={{ height: 1, background: '#E8E8E8' }} /&gt;&#10;&#10;    &lt;Box style={{ paddingTop: 14, paddingBottom: 8, height: 479, flexDirection: 'column', gap: 10 }}&gt;&#10;      &lt;Box style={{ height: 240, flexDirection: 'row', gap: 10 }}&gt;&#10;        {[&#10;          { n: '出口一', t: 'Data · 数据出口', s: '只读', d: '按对象类型与链接类型取数，返回结构化结果。行列级权限在这一层生效，只过滤读进提示词的数据。', lim: '不覆盖输出，也不覆盖 Apply 动作；要管住输出必须再配分类级访问控制。', c: '#FA4F24' },&#10;          { n: '出口二', t: 'Logic · 逻辑出口', s: '可改本体', d: '函数与业务逻辑，是唯一能真正修改本体定义的东西；本体的编辑也必须通过执行逻辑函数才生效。', lim: '谁能定义函数、谁审批函数、函数出错怎么回退，都要有机制。', c: '#F87D2F' },&#10;          { n: '出口三', t: 'Action · 动作出口', s: '写与外发', d: '写回源系统、发消息、调外部接口；从本体发起业务动作，或把事件推给 Webhook。', lim: '必须在逻辑层里执行，且在发起人权限范围内，绝不允许模型自己直接触发。', c: '#E0651A' },&#10;        ].map((it, i) =&gt; (&#10;          &lt;Box key={it.n} style={{ flex: 1, background: '#F7F7F8', borderRadius: 4, flexDirection: 'column', overflow: 'hidden' }}&gt;&#10;            &lt;Box style={{ height: 62, background: it.c, padding: '0 14px', justifyContent: 'center' }}&gt;&#10;              &lt;Text style={{ fontSize: 10.5, color: 'rgba(255,255,255,0.82)' }}&gt;{it.n}&lt;/Text&gt;&#10;              &lt;Box style={{ flexDirection: 'row', alignItems: 'center', gap: 8, marginTop: 3 }}&gt;&#10;                &lt;Text style={{ fontSize: 15, fontWeight: 'bold', color: '#FFFFFF' }}&gt;{it.t}&lt;/Text&gt;&#10;                &lt;Box style={{ height: 18, background: 'rgba(255,255,255,0.22)', padding: '0 8px', justifyContent: 'center' }}&gt;&#10;                  &lt;Text style={{ fontSize: 10, color: '#FFFFFF' }}&gt;{it.s}&lt;/Text&gt;&#10;                &lt;/Box&gt;&#10;              &lt;/Box&gt;&#10;            &lt;/Box&gt;&#10;            &lt;Box style={{ flex: 1, padding: '10px 14px' }}&gt;&#10;              &lt;Text style={{ fontSize: 12, color: '#0F1423', lineHeight: 1.55 }}&gt;{it.d}&lt;/Text&gt;&#10;              &lt;Box style={{ background: '#FFF3EE', borderLeft: '2px solid #FBA15C', padding: '7px 9px', marginTop: 10 }}&gt;&#10;                &lt;Text style={{ fontSize: 10, color: '#C43A17' }}&gt;边界&lt;/Text&gt;&#10;                &lt;Text style={{ fontSize: 11, color: '#3A4050', marginTop: 2, lineHeight: 1.45 }}&gt;{it.lim}&lt;/Text&gt;&#10;              &lt;/Box&gt;&#10;            &lt;/Box&gt;&#10;          &lt;/Box&gt;&#10;        ))}&#10;      &lt;/Box&gt;&#10;&#10;      &lt;Box style={{ flex: 1, flexDirection: 'row', gap: 10 }}&gt;&#10;        &lt;Box style={{ flex: 1, background: '#0F1423', borderRadius: 4, padding: '12px 16px', flexDirection: 'column', justifyContent: 'center' }}&gt;&#10;          &lt;Text style={{ fontSize: 14, fontWeight: 'bold', color: '#FBA15C' }}&gt;出向管道的三项建设内容&lt;/Text&gt;&#10;          {[&#10;            { b: '发布面', t: '本体 SDK / REST 接口 / JSON 驱动编制 / Webhook / 模型上下文协议，五种对外形态要有版本与弃用策略' },&#10;            { b: '权限面', t: '调用方的身份要能一路传到源系统，不允许出现「到了出向就放行」的缺口' },&#10;            { b: '留痕面', t: '谁在什么时候通过哪个出口取了什么、改了什么，全部可审计' },&#10;          ].map((it, i) =&gt; (&#10;            &lt;Box key={it.b} style={{ flex: 1, flexDirection: 'row', alignItems: 'center', gap: 12, borderTop: i === 0 ? 'none' : '1px solid rgba(255,255,255,0.1)' }}&gt;&#10;              &lt;Text style={{ fontSize: 12, fontWeight: 'bold', color: '#FA4F24', width: 62 }}&gt;{it.b}&lt;/Text&gt;&#10;              &lt;Text style={{ fontSize: 11.5, color: 'rgba(255,255,255,0.85)', flex: 1, lineHeight: 1.45 }}&gt;{it.t}&lt;/Text&gt;&#10;            &lt;/Box&gt;&#10;          ))}&#10;        &lt;/Box&gt;&#10;        &lt;Box style={{ width: 400, background: '#FFF3EE', borderRadius: 4, borderLeft: '4px solid #FA4F24', padding: '12px 16px', flexDirection: 'column', justifyContent: 'center' }}&gt;&#10;          &lt;Text style={{ fontSize: 14, fontWeight: 'bold', color: '#C43A17' }}&gt;一句必须讲给客户的话&lt;/Text&gt;&#10;          &lt;Text style={{ fontSize: 12, color: '#3A4050', marginTop: 8, lineHeight: 1.6 }}&gt;&#10;            出了本体的数据，不再有对象类型和链接类型替你兜着。进向管住的是「进来的是不是对的」，出向管住的是「出去的有没有越权」。所以出向必须单独做一轮安全设计，不能因为「它来自本体」就默认安全。&#10;          &lt;/Text&gt;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16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方向二：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Ontology </a:t>
            </a:r>
            <a:r>
              <a:rPr sz="2400" b="1">
                <a:solidFill>
                  <a:srgbClr val="FA4F24"/>
                </a:solidFill>
                <a:latin typeface="Microsoft YaHei"/>
                <a:ea typeface="Microsoft YaHei"/>
              </a:rPr>
              <a:t>→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调用的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三条出口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官方原文：大模型不能直接访问工具，只能请求使用工具，工具调用由逻辑层在发起用户的权限内执行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609600" y="1285875"/>
            <a:ext cx="3590925" cy="2286000"/>
          </a:xfrm>
          <a:prstGeom prst="roundRect">
            <a:avLst>
              <a:gd name="adj" fmla="val 1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9" name=""/>
          <p:cNvSpPr/>
          <p:nvPr/>
        </p:nvSpPr>
        <p:spPr>
          <a:xfrm rot="0" flipH="0" flipV="0">
            <a:off x="609600" y="1285875"/>
            <a:ext cx="3590925" cy="5905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742950" y="1419225"/>
            <a:ext cx="33242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出口一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742950" y="1571625"/>
            <a:ext cx="1057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Data ·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数据出口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1876425" y="1571625"/>
            <a:ext cx="342900" cy="17145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952625" y="1600200"/>
            <a:ext cx="190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/>
                </a:solidFill>
                <a:latin typeface="Microsoft YaHei"/>
                <a:ea typeface="Microsoft YaHei"/>
              </a:rPr>
              <a:t>只读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742950" y="1971675"/>
            <a:ext cx="332422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按对象类型与链接类型取数，返回结构化结果。行列级权限在这一层生效，只过滤读进提示词的数据。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762000" y="2495550"/>
            <a:ext cx="3324225" cy="63817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742950" y="2495550"/>
            <a:ext cx="3343275" cy="638175"/>
          </a:xfrm>
          <a:custGeom>
            <a:pathLst>
              <a:path w="351" h="67">
                <a:moveTo>
                  <a:pt x="0" y="0"/>
                </a:moveTo>
                <a:lnTo>
                  <a:pt x="2" y="0"/>
                </a:lnTo>
                <a:lnTo>
                  <a:pt x="2" y="67"/>
                </a:lnTo>
                <a:lnTo>
                  <a:pt x="0" y="67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47725" y="2562225"/>
            <a:ext cx="31337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边界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47725" y="2695575"/>
            <a:ext cx="313372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不覆盖输出，也不覆盖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Apply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动作；要管住输出必须再配分类级访问控制。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4295775" y="1285875"/>
            <a:ext cx="3600450" cy="2286000"/>
          </a:xfrm>
          <a:prstGeom prst="roundRect">
            <a:avLst>
              <a:gd name="adj" fmla="val 1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4295775" y="1285875"/>
            <a:ext cx="3600450" cy="590550"/>
          </a:xfrm>
          <a:prstGeom prst="rect">
            <a:avLst/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429125" y="1419225"/>
            <a:ext cx="33337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出口二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429125" y="1571625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Logic ·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逻辑出口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5610225" y="1571625"/>
            <a:ext cx="533400" cy="17145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5686425" y="160020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/>
                </a:solidFill>
                <a:latin typeface="Microsoft YaHei"/>
                <a:ea typeface="Microsoft YaHei"/>
              </a:rPr>
              <a:t>可改本体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429125" y="1971675"/>
            <a:ext cx="333375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函数与业务逻辑，是唯一能真正修改本体定义的东西；本体的编辑也必须通过执行逻辑函数才生效。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4448175" y="2495550"/>
            <a:ext cx="3333750" cy="4572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4429125" y="2495550"/>
            <a:ext cx="3352800" cy="457200"/>
          </a:xfrm>
          <a:custGeom>
            <a:pathLst>
              <a:path w="352" h="48">
                <a:moveTo>
                  <a:pt x="0" y="0"/>
                </a:moveTo>
                <a:lnTo>
                  <a:pt x="2" y="0"/>
                </a:lnTo>
                <a:lnTo>
                  <a:pt x="2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533900" y="2562225"/>
            <a:ext cx="3143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边界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533900" y="2695575"/>
            <a:ext cx="314325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谁能定义函数、谁审批函数、函数出错怎么回退，都要有机制。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7991475" y="1285875"/>
            <a:ext cx="3590925" cy="2286000"/>
          </a:xfrm>
          <a:prstGeom prst="roundRect">
            <a:avLst>
              <a:gd name="adj" fmla="val 1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1" name=""/>
          <p:cNvSpPr/>
          <p:nvPr/>
        </p:nvSpPr>
        <p:spPr>
          <a:xfrm rot="0" flipH="0" flipV="0">
            <a:off x="7991475" y="1285875"/>
            <a:ext cx="3590925" cy="590550"/>
          </a:xfrm>
          <a:prstGeom prst="rect">
            <a:avLst/>
          </a:prstGeom>
          <a:solidFill>
            <a:srgbClr val="E0651A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8124825" y="1419225"/>
            <a:ext cx="33242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出口三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8124825" y="1571625"/>
            <a:ext cx="1190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Action ·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动作出口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9391650" y="1571625"/>
            <a:ext cx="533400" cy="17145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9467850" y="160020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/>
                </a:solidFill>
                <a:latin typeface="Microsoft YaHei"/>
                <a:ea typeface="Microsoft YaHei"/>
              </a:rPr>
              <a:t>写与外发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124825" y="1971675"/>
            <a:ext cx="332422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写回源系统、发消息、调外部接口；从本体发起业务动作，或把事件推给</a:t>
            </a:r>
            <a:r>
              <a:rPr lang="en-US" sz="900">
                <a:solidFill>
                  <a:srgbClr val="0F1423"/>
                </a:solidFill>
                <a:latin typeface="Microsoft YaHei"/>
                <a:ea typeface="Microsoft YaHei"/>
              </a:rPr>
              <a:t xml:space="preserve"> Webhook</a:t>
            </a: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8143875" y="2495550"/>
            <a:ext cx="3324225" cy="63817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18" name=""/>
          <p:cNvSpPr/>
          <p:nvPr/>
        </p:nvSpPr>
        <p:spPr>
          <a:xfrm rot="0" flipH="0" flipV="0">
            <a:off x="8124825" y="2495550"/>
            <a:ext cx="3343275" cy="638175"/>
          </a:xfrm>
          <a:custGeom>
            <a:pathLst>
              <a:path w="351" h="67">
                <a:moveTo>
                  <a:pt x="0" y="0"/>
                </a:moveTo>
                <a:lnTo>
                  <a:pt x="2" y="0"/>
                </a:lnTo>
                <a:lnTo>
                  <a:pt x="2" y="67"/>
                </a:lnTo>
                <a:lnTo>
                  <a:pt x="0" y="67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8229600" y="2562225"/>
            <a:ext cx="31337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边界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229600" y="2695575"/>
            <a:ext cx="313372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必须在逻辑层里执行，且在发起人权限范围内，绝不允许模型自己直接触发。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609600" y="3667125"/>
            <a:ext cx="7067550" cy="1971675"/>
          </a:xfrm>
          <a:prstGeom prst="roundRect">
            <a:avLst>
              <a:gd name="adj" fmla="val 193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762000" y="3781425"/>
            <a:ext cx="6762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出向管道的三项建设内容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762000" y="413385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发布面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466850" y="4105275"/>
            <a:ext cx="60579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本体</a:t>
            </a: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SDK / REST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接口</a:t>
            </a: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/ JSON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驱动编制</a:t>
            </a: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/ Webhook /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模型上下文协议，五种对外形态要有版本与弃用策略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762000" y="4467225"/>
            <a:ext cx="6762750" cy="533400"/>
          </a:xfrm>
          <a:custGeom>
            <a:pathLst>
              <a:path w="710" h="56">
                <a:moveTo>
                  <a:pt x="0" y="0"/>
                </a:moveTo>
                <a:lnTo>
                  <a:pt x="710" y="0"/>
                </a:lnTo>
                <a:lnTo>
                  <a:pt x="710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762000" y="466725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权限面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466850" y="4638675"/>
            <a:ext cx="60579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调用方的身份要能一路传到源系统，不允许出现「到了出向就放行」的缺口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762000" y="4991100"/>
            <a:ext cx="6762750" cy="542925"/>
          </a:xfrm>
          <a:custGeom>
            <a:pathLst>
              <a:path w="710" h="57">
                <a:moveTo>
                  <a:pt x="0" y="0"/>
                </a:moveTo>
                <a:lnTo>
                  <a:pt x="710" y="0"/>
                </a:lnTo>
                <a:lnTo>
                  <a:pt x="710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62000" y="519112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留痕面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1466850" y="5162550"/>
            <a:ext cx="60579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谁在什么时候通过哪个出口取了什么、改了什么，全部可审计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7810500" y="3667125"/>
            <a:ext cx="3771900" cy="1971675"/>
          </a:xfrm>
          <a:prstGeom prst="roundRect">
            <a:avLst>
              <a:gd name="adj" fmla="val 193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7810500" y="3667125"/>
            <a:ext cx="3771900" cy="1971675"/>
          </a:xfrm>
          <a:custGeom>
            <a:pathLst>
              <a:path w="396" h="207">
                <a:moveTo>
                  <a:pt x="4" y="207"/>
                </a:moveTo>
                <a:cubicBezTo>
                  <a:pt x="2" y="207"/>
                  <a:pt x="0" y="205"/>
                  <a:pt x="0" y="20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0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7962900" y="4095750"/>
            <a:ext cx="3467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一句必须讲给客户的话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7962900" y="4333875"/>
            <a:ext cx="34671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出了本体的数据，不再有对象类型和链接类型替你兜着。进向管住的是「进来的是不是对的」，出向管住的是「出去的有没有越权」。所以出向必须单独做一轮安全设计，不能因为「它来自本体」就默认安全。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3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16 / 30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339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管道 &lt;span style={{ color: '#FA4F24' }}&gt;×&lt;/span&gt; 知识库：知识抽取管道的特殊性&#10;      &lt;/Text&gt;&#10;      &lt;Text style={{ fontSize: 20, color: '#8A8F99', marginTop: 8 }}&gt;&#10;        非结构化数据进本体，要过的不只是清洗关，还有切片、嵌入、实体对齐、时效四道额外关口&#10;      &lt;/Text&gt;&#10;    &lt;/Box&gt;&#10;    &lt;Box style={{ height: 1, background: '#E8E8E8' }} /&gt;&#10;&#10;    &lt;Box style={{ paddingTop: 14, paddingBottom: 8, height: 479, flexDirection: 'row', gap: 12 }}&gt;&#10;      &lt;Box style={{ width: 400, background: '#0F1423', borderRadius: 4, padding: '14px 18px', flexDirection: 'column' }}&gt;&#10;        &lt;Text style={{ fontSize: 15, fontWeight: 'bold', color: '#FBA15C' }}&gt;知识抽取管道：七步&lt;/Text&gt;&#10;        &lt;Box style={{ flex: 1, flexDirection: 'column', marginTop: 10 }}&gt;&#10;          {[&#10;            { n: '1', t: '接入原始文档', d: '保留原件，不覆盖' },&#10;            { n: '2', t: '解析与切片', d: '切成可引用的最小单元' },&#10;            { n: '3', t: '嵌入', d: '向量化，同时保留原文字段' },&#10;            { n: '4', t: '实体对齐', d: '把文中的对象连到本体对象类型' },&#10;            { n: '5', t: '权限打标', d: '切片级打分类标记，随权限传播' },&#10;            { n: '6', t: '时效与冲突处理', d: '同义不同说要有裁决规则' },&#10;            { n: '7', t: '引用锚点', d: '保留位置，指回原件某页某段' },&#10;          ].map((it, i) =&gt; (&#10;            &lt;Box key={it.n} style={{ flex: 1, flexDirection: 'row', alignItems: 'center', gap: 10, borderTop: i === 0 ? 'none' : '1px solid rgba(255,255,255,0.1)' }}&gt;&#10;              &lt;Text style={{ fontSize: 12.5, fontWeight: 'bold', color: '#FA4F24', width: 16 }}&gt;{it.n}&lt;/Text&gt;&#10;              &lt;Text style={{ fontSize: 12, color: '#FFFFFF', width: 88 }}&gt;{it.t}&lt;/Text&gt;&#10;              &lt;Text style={{ fontSize: 11, color: 'rgba(255,255,255,0.55)', flex: 1 }}&gt;{it.d}&lt;/Text&gt;&#10;            &lt;/Box&gt;&#10;          ))}&#10;        &lt;/Box&gt;&#10;      &lt;/Box&gt;&#10;&#10;      &lt;Box style={{ flex: 1, flexDirection: 'column', gap: 9 }}&gt;&#10;        &lt;Box style={{ height: 196, background: '#FFF3EE', borderRadius: 4, borderLeft: '4px solid #FA4F24', padding: '12px 16px', flexDirection: 'column' }}&gt;&#10;          &lt;Text style={{ fontSize: 14, fontWeight: 'bold', color: '#C43A17' }}&gt;四道额外关口，是结构化数据没有的&lt;/Text&gt;&#10;          {[&#10;            { t: '切片级版本', d: '文档改一段，整篇的切片都变；必须有文档级与切片级两套版本，否则引用会指错' },&#10;            { t: '权限随切片走', d: '权限标在切片上，不能只在文档上；一份文档不同章节可见性不同是常态' },&#10;            { t: '实体对齐要人工兜底', d: '自动对齐会错，错一次就是 Agent 拿着错的身份做决策，必须有低置信度转人工队列' },&#10;            { t: '时效要有失效链', d: '文档过期后，引用了它的所有结论都应标记为待复核，而不是继续可信' },&#10;          ].map((it, i) =&gt; (&#10;            &lt;Box key={it.t} style={{ flex: 1, flexDirection: 'column', justifyContent: 'center', borderTop: i === 0 ? 'none' : '1px solid #FBA15C' }}&gt;&#10;              &lt;Text style={{ fontSize: 12.5, fontWeight: 'bold', color: '#0F1423' }}&gt;{it.t}&lt;/Text&gt;&#10;              &lt;Text style={{ fontSize: 11.5, color: '#3A4050', marginTop: 3, lineHeight: 1.45 }}&gt;{it.d}&lt;/Text&gt;&#10;            &lt;/Box&gt;&#10;          ))}&#10;        &lt;/Box&gt;&#10;&#10;        &lt;Box style={{ flex: 1, background: '#F7F7F8', borderRadius: 4, padding: '12px 16px', flexDirection: 'column' }}&gt;&#10;          &lt;Text style={{ fontSize: 14, fontWeight: 'bold', color: '#0F1423' }}&gt;管道在这里承担的三个额外职责&lt;/Text&gt;&#10;          {[&#10;            { b: '建链', t: '把抽取出的事实挂到本体对象上，让文档能回答「这条说的是谁」' },&#10;            { b: '守密', t: '权限与密级沿管道内传，出库时必须再校验一次，不能只信入库时打的标' },&#10;            { b: '可回溯', t: '任何一句结论都要能一键回到原始文档的具体位置，否则就是引用幻觉' },&#10;          ].map((it, i) =&gt; (&#10;            &lt;Box key={it.b} style={{ flex: 1, flexDirection: 'row', alignItems: 'center', gap: 12, borderTop: i === 0 ? 'none' : '1px solid #E8E8E8' }}&gt;&#10;              &lt;Box style={{ width: 46, height: 24, background: '#FA4F24', alignItems: 'center', justifyContent: 'center' }}&gt;&#10;                &lt;Text style={{ fontSize: 12, fontWeight: 'bold', color: '#FFFFFF' }}&gt;{it.b}&lt;/Text&gt;&#10;              &lt;/Box&gt;&#10;              &lt;Text style={{ fontSize: 12, color: '#3A4050', flex: 1, lineHeight: 1.45 }}&gt;{it.t}&lt;/Text&gt;&#10;            &lt;/Box&gt;&#10;          ))}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17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管道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sz="2400" b="1">
                <a:solidFill>
                  <a:srgbClr val="FA4F24"/>
                </a:solidFill>
                <a:latin typeface="Microsoft YaHei"/>
                <a:ea typeface="Microsoft YaHei"/>
              </a:rPr>
              <a:t>×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知识库：知识抽取管道的特殊性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非结构化数据进本体，要过的不只是清洗关，还有切片、嵌入、实体对齐、时效四道额外关口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44" name=""/>
          <p:cNvSpPr/>
          <p:nvPr/>
        </p:nvSpPr>
        <p:spPr>
          <a:xfrm rot="0" flipH="0" flipV="0">
            <a:off x="609600" y="1285875"/>
            <a:ext cx="3810000" cy="4352925"/>
          </a:xfrm>
          <a:prstGeom prst="roundRect">
            <a:avLst>
              <a:gd name="adj" fmla="val 1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781050" y="1419225"/>
            <a:ext cx="3467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知识抽取管道：七步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781050" y="1885950"/>
            <a:ext cx="15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1028700" y="1885950"/>
            <a:ext cx="838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接入原始文档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962150" y="1885950"/>
            <a:ext cx="2286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保留原件，不覆盖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781050" y="2219325"/>
            <a:ext cx="3467100" cy="561975"/>
          </a:xfrm>
          <a:custGeom>
            <a:pathLst>
              <a:path w="364" h="59">
                <a:moveTo>
                  <a:pt x="0" y="0"/>
                </a:moveTo>
                <a:lnTo>
                  <a:pt x="364" y="0"/>
                </a:lnTo>
                <a:lnTo>
                  <a:pt x="3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781050" y="2428875"/>
            <a:ext cx="15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A4F2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028700" y="2428875"/>
            <a:ext cx="838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解析与切片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1962150" y="2438400"/>
            <a:ext cx="2286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切成可引用的最小单元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781050" y="2771775"/>
            <a:ext cx="3467100" cy="552450"/>
          </a:xfrm>
          <a:custGeom>
            <a:pathLst>
              <a:path w="364" h="58">
                <a:moveTo>
                  <a:pt x="0" y="0"/>
                </a:moveTo>
                <a:lnTo>
                  <a:pt x="364" y="0"/>
                </a:lnTo>
                <a:lnTo>
                  <a:pt x="3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781050" y="2981325"/>
            <a:ext cx="15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A4F2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1028700" y="2981325"/>
            <a:ext cx="838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嵌入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962150" y="2981325"/>
            <a:ext cx="2286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向量化，同时保留原文字段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781050" y="3314700"/>
            <a:ext cx="3467100" cy="561975"/>
          </a:xfrm>
          <a:custGeom>
            <a:pathLst>
              <a:path w="364" h="59">
                <a:moveTo>
                  <a:pt x="0" y="0"/>
                </a:moveTo>
                <a:lnTo>
                  <a:pt x="364" y="0"/>
                </a:lnTo>
                <a:lnTo>
                  <a:pt x="3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781050" y="3524250"/>
            <a:ext cx="15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A4F24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1028700" y="3524250"/>
            <a:ext cx="838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实体对齐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962150" y="3533775"/>
            <a:ext cx="2286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把文中的对象连到本体对象类型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781050" y="3867150"/>
            <a:ext cx="3467100" cy="552450"/>
          </a:xfrm>
          <a:custGeom>
            <a:pathLst>
              <a:path w="364" h="58">
                <a:moveTo>
                  <a:pt x="0" y="0"/>
                </a:moveTo>
                <a:lnTo>
                  <a:pt x="364" y="0"/>
                </a:lnTo>
                <a:lnTo>
                  <a:pt x="3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781050" y="4076700"/>
            <a:ext cx="15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A4F24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1028700" y="4076700"/>
            <a:ext cx="838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权限打标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1962150" y="4076700"/>
            <a:ext cx="2286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切片级打分类标记，随权限传播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781050" y="4410075"/>
            <a:ext cx="3467100" cy="561975"/>
          </a:xfrm>
          <a:custGeom>
            <a:pathLst>
              <a:path w="364" h="59">
                <a:moveTo>
                  <a:pt x="0" y="0"/>
                </a:moveTo>
                <a:lnTo>
                  <a:pt x="364" y="0"/>
                </a:lnTo>
                <a:lnTo>
                  <a:pt x="3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781050" y="4619625"/>
            <a:ext cx="15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A4F24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1028700" y="4619625"/>
            <a:ext cx="838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时效与冲突处理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962150" y="4629150"/>
            <a:ext cx="2286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同义不同说要有裁决规则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781050" y="4962525"/>
            <a:ext cx="3467100" cy="552450"/>
          </a:xfrm>
          <a:custGeom>
            <a:pathLst>
              <a:path w="364" h="58">
                <a:moveTo>
                  <a:pt x="0" y="0"/>
                </a:moveTo>
                <a:lnTo>
                  <a:pt x="364" y="0"/>
                </a:lnTo>
                <a:lnTo>
                  <a:pt x="3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781050" y="5172075"/>
            <a:ext cx="15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A4F24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1028700" y="5172075"/>
            <a:ext cx="838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引用锚点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1962150" y="5172075"/>
            <a:ext cx="2286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保留位置，指回原件某页某段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4572000" y="1285875"/>
            <a:ext cx="7048500" cy="1866900"/>
          </a:xfrm>
          <a:prstGeom prst="roundRect">
            <a:avLst>
              <a:gd name="adj" fmla="val 204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74" name=""/>
          <p:cNvSpPr/>
          <p:nvPr/>
        </p:nvSpPr>
        <p:spPr>
          <a:xfrm rot="0" flipH="0" flipV="0">
            <a:off x="4572000" y="1285875"/>
            <a:ext cx="7048500" cy="1866900"/>
          </a:xfrm>
          <a:custGeom>
            <a:pathLst>
              <a:path w="740" h="196">
                <a:moveTo>
                  <a:pt x="4" y="196"/>
                </a:moveTo>
                <a:cubicBezTo>
                  <a:pt x="2" y="196"/>
                  <a:pt x="0" y="194"/>
                  <a:pt x="0" y="19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9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4724400" y="1400175"/>
            <a:ext cx="670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四道额外关口，是结构化数据没有的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4724400" y="1562100"/>
            <a:ext cx="6705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切片级版本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4724400" y="1733550"/>
            <a:ext cx="67056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文档改一段，整篇的切片都变；必须有文档级与切片级两套版本，否则引用会指错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4724400" y="1933575"/>
            <a:ext cx="6705600" cy="390525"/>
          </a:xfrm>
          <a:custGeom>
            <a:pathLst>
              <a:path w="704" h="41">
                <a:moveTo>
                  <a:pt x="0" y="0"/>
                </a:moveTo>
                <a:lnTo>
                  <a:pt x="704" y="0"/>
                </a:lnTo>
                <a:lnTo>
                  <a:pt x="704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4724400" y="1943100"/>
            <a:ext cx="6705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权限随切片走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4724400" y="2114550"/>
            <a:ext cx="67056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权限标在切片上，不能只在文档上；一份文档不同章节可见性不同是常态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4724400" y="2314575"/>
            <a:ext cx="6705600" cy="390525"/>
          </a:xfrm>
          <a:custGeom>
            <a:pathLst>
              <a:path w="704" h="41">
                <a:moveTo>
                  <a:pt x="0" y="0"/>
                </a:moveTo>
                <a:lnTo>
                  <a:pt x="704" y="0"/>
                </a:lnTo>
                <a:lnTo>
                  <a:pt x="704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4724400" y="2324100"/>
            <a:ext cx="6705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实体对齐要人工兜底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4724400" y="2495550"/>
            <a:ext cx="67056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自动对齐会错，错一次就是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拿着错的身份做决策，必须有低置信度转人工队列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4724400" y="2695575"/>
            <a:ext cx="6705600" cy="390525"/>
          </a:xfrm>
          <a:custGeom>
            <a:pathLst>
              <a:path w="704" h="41">
                <a:moveTo>
                  <a:pt x="0" y="0"/>
                </a:moveTo>
                <a:lnTo>
                  <a:pt x="704" y="0"/>
                </a:lnTo>
                <a:lnTo>
                  <a:pt x="704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4724400" y="2705100"/>
            <a:ext cx="6705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时效要有失效链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4724400" y="2876550"/>
            <a:ext cx="67056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文档过期后，引用了它的所有结论都应标记为待复核，而不是继续可信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4533900" y="3238500"/>
            <a:ext cx="7048500" cy="2400300"/>
          </a:xfrm>
          <a:prstGeom prst="roundRect">
            <a:avLst>
              <a:gd name="adj" fmla="val 158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4686300" y="3352800"/>
            <a:ext cx="674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管道在这里承担的三个额外职责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4686300" y="3733800"/>
            <a:ext cx="438150" cy="2286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4791075" y="37814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建链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5238750" y="3752850"/>
            <a:ext cx="61912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把抽取出的事实挂到本体对象上，让文档能回答「这条说的是谁」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4686300" y="4181475"/>
            <a:ext cx="6743700" cy="676275"/>
          </a:xfrm>
          <a:custGeom>
            <a:pathLst>
              <a:path w="708" h="71">
                <a:moveTo>
                  <a:pt x="0" y="0"/>
                </a:moveTo>
                <a:lnTo>
                  <a:pt x="708" y="0"/>
                </a:lnTo>
                <a:lnTo>
                  <a:pt x="70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93" name=""/>
          <p:cNvSpPr/>
          <p:nvPr/>
        </p:nvSpPr>
        <p:spPr>
          <a:xfrm rot="0" flipH="0" flipV="0">
            <a:off x="4686300" y="4410075"/>
            <a:ext cx="438150" cy="2286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4791075" y="445770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守密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5238750" y="4419600"/>
            <a:ext cx="61912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权限与密级沿管道内传，出库时必须再校验一次，不能只信入库时打的标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4686300" y="4848225"/>
            <a:ext cx="6743700" cy="685800"/>
          </a:xfrm>
          <a:custGeom>
            <a:pathLst>
              <a:path w="708" h="72">
                <a:moveTo>
                  <a:pt x="0" y="0"/>
                </a:moveTo>
                <a:lnTo>
                  <a:pt x="708" y="0"/>
                </a:lnTo>
                <a:lnTo>
                  <a:pt x="70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97" name=""/>
          <p:cNvSpPr/>
          <p:nvPr/>
        </p:nvSpPr>
        <p:spPr>
          <a:xfrm rot="0" flipH="0" flipV="0">
            <a:off x="4686300" y="5076825"/>
            <a:ext cx="438150" cy="2286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4733925" y="512445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可回溯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5238750" y="5095875"/>
            <a:ext cx="61912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任何一句结论都要能一键回到原始文档的具体位置，否则就是引用幻觉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01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17 / 30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404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管道 &lt;span style={{ color: '#FA4F24' }}&gt;×&lt;/span&gt; Agent：上下文供给与终止控制&#10;      &lt;/Text&gt;&#10;      &lt;Text style={{ fontSize: 20, color: '#8A8F99', marginTop: 8 }}&gt;&#10;        Agent 的一切判断都建立在管道供给的数据之上；管道延迟一次，Agent 的结论就错一次&#10;      &lt;/Text&gt;&#10;    &lt;/Box&gt;&#10;    &lt;Box style={{ height: 1, background: '#E8E8E8' }} /&gt;&#10;&#10;    &lt;Box style={{ paddingTop: 14, paddingBottom: 8, height: 479, flexDirection: 'column', gap: 10 }}&gt;&#10;      {/* 供给链路 */}&#10;      &lt;Box style={{ height: 122, background: '#F7F7F8', borderRadius: 4, padding: '13px 18px', flexDirection: 'column' }}&gt;&#10;        &lt;Text style={{ fontSize: 14, fontWeight: 'bold', color: '#0F1423' }}&gt;一次 Agent 判定的数据供给链路&lt;/Text&gt;&#10;        &lt;Box style={{ flex: 1, flexDirection: 'row', alignItems: 'center', gap: 7, marginTop: 9 }}&gt;&#10;          {[&#10;            { t: '本体对象', d: '主键与身份', c: '#0F1423' },&#10;            { t: '结构化事实', d: '管道进来的表数据', c: '#FA4F24' },&#10;            { t: '知识片段', d: '检索得到，带引用', c: '#F87D2F' },&#10;            { t: '上下文规格', d: '来源、预算、时效、压缩、不可信标记', c: '#E0651A' },&#10;            { t: '工具调用', d: '在发起人权限内执行', c: '#C43A17' },&#10;          ].map((it, i) =&gt; (&#10;            &lt;Box key={it.t} style={{ flex: 1, background: it.c, borderRadius: 3, padding: '0 10px', height: 56, justifyContent: 'center' }}&gt;&#10;              &lt;Text style={{ fontSize: 12, fontWeight: 'bold', color: '#FFFFFF' }}&gt;{it.t}&lt;/Text&gt;&#10;              &lt;Text style={{ fontSize: 10.5, color: 'rgba(255,255,255,0.8)', marginTop: 3 }}&gt;{it.d}&lt;/Text&gt;&#10;              {i &lt; 4 ? &lt;Text style={{ fontSize: 14, color: '#C9CDD6', marginTop: 4 }}&gt;›&lt;/Text&gt; : null}&#10;            &lt;/Box&gt;&#10;          ))}&#10;        &lt;/Box&gt;&#10;      &lt;/Box&gt;&#10;&#10;      &lt;Box style={{ flex: 1, flexDirection: 'row', gap: 10 }}&gt;&#10;        &lt;Box style={{ flex: 1, background: '#0F1423', borderRadius: 4, padding: '12px 16px', flexDirection: 'column' }}&gt;&#10;          &lt;Text style={{ fontSize: 14, fontWeight: 'bold', color: '#FBA15C' }}&gt;管道必须为 Agent 保证的四件事&lt;/Text&gt;&#10;          &lt;Box style={{ flex: 1, flexDirection: 'column', marginTop: 8 }}&gt;&#10;            {[&#10;              { t: '时效可承诺', d: '给 Agent 的每个对象类型都要有数据时效承诺，比如「不超过 15 分钟」，做不到就别让它做实时判断' },&#10;              { t: '口径可追溯', d: 'Agent 回答里出现的数字，必须能点回口径定义与源版本，否则模型会自己编' },&#10;              { t: '权限可传递', d: '调用者的权限必须一路传到管道出口，不能因为是 Agent 在问就放行' },&#10;              { t: '缺失可识别', d: '数据没到要能被识别成「缺失」，而不是零值；零值会被 Agent 当成事实' },&#10;            ].map((it, i) =&gt; (&#10;              &lt;Box key={it.t} style={{ flex: 1, flexDirection: 'column', justifyContent: 'center', borderTop: i === 0 ? 'none' : '1px solid rgba(255,255,255,0.1)' }}&gt;&#10;                &lt;Text style={{ fontSize: 12.5, fontWeight: 'bold', color: '#FA4F24' }}&gt;{it.t}&lt;/Text&gt;&#10;                &lt;Text style={{ fontSize: 11.5, color: 'rgba(255,255,255,0.82)', marginTop: 3, lineHeight: 1.45 }}&gt;{it.d}&lt;/Text&gt;&#10;              &lt;/Box&gt;&#10;            ))}&#10;          &lt;/Box&gt;&#10;        &lt;/Box&gt;&#10;&#10;        &lt;Box style={{ flex: 1, background: '#FFF3EE', borderRadius: 4, borderLeft: '4px solid #FA4F24', padding: '12px 16px', flexDirection: 'column' }}&gt;&#10;          &lt;Text style={{ fontSize: 14, fontWeight: 'bold', color: '#C43A17' }}&gt;终止控制：管道也管「什么时候不许再给」&lt;/Text&gt;&#10;          &lt;Text style={{ fontSize: 12, color: '#3A4050', marginTop: 7, lineHeight: 1.55 }}&gt;&#10;            Agent 册讲终止条件主要由 Agent 侧负责，但有三种终止信号只能由管道发出，它们不能等到 Agent 自己发现：&#10;          &lt;/Text&gt;&#10;          &lt;Box style={{ flex: 1, flexDirection: 'column', marginTop: 8 }}&gt;&#10;            {[&#10;              { b: '陈旧熔断', t: '关键对象的数据超过时效承诺，自动标记为不可用于判定' },&#10;              { b: '溯源失败', t: '要引用的数据找不到完整血缘，直接失败，不允许降级成猜测' },&#10;              { b: '权限不足', t: '调用链上任何一环权限不够，直接失败，不允许截取可见部分继续算' },&#10;            ].map((it, i) =&gt; (&#10;              &lt;Box key={it.b} style={{ flex: 1, flexDirection: 'row', alignItems: 'center', gap: 10, borderTop: i === 0 ? 'none' : '1px solid #FBA15C' }}&gt;&#10;                &lt;Box style={{ width: 72, height: 24, background: '#FA4F24', alignItems: 'center', justifyContent: 'center' }}&gt;&#10;                  &lt;Text style={{ fontSize: 11.5, fontWeight: 'bold', color: '#FFFFFF' }}&gt;{it.b}&lt;/Text&gt;&#10;                &lt;/Box&gt;&#10;                &lt;Text style={{ fontSize: 11.5, color: '#3A4050', flex: 1, lineHeight: 1.4 }}&gt;{it.t}&lt;/Text&gt;&#10;              &lt;/Box&gt;&#10;            ))}&#10;          &lt;/Box&gt;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18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管道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sz="2400" b="1">
                <a:solidFill>
                  <a:srgbClr val="FA4F24"/>
                </a:solidFill>
                <a:latin typeface="Microsoft YaHei"/>
                <a:ea typeface="Microsoft YaHei"/>
              </a:rPr>
              <a:t>×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：上下文供给与终止控制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的一切判断都建立在管道供给的数据之上；管道延迟一次，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的结论就错一次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609600" y="1285875"/>
            <a:ext cx="10972800" cy="1162050"/>
          </a:xfrm>
          <a:prstGeom prst="roundRect">
            <a:avLst>
              <a:gd name="adj" fmla="val 327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781050" y="1409700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一次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判定的数据供给链路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781050" y="1724025"/>
            <a:ext cx="2076450" cy="533400"/>
          </a:xfrm>
          <a:prstGeom prst="roundRect">
            <a:avLst>
              <a:gd name="adj" fmla="val 535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76300" y="1743075"/>
            <a:ext cx="1885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本体对象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76300" y="1914525"/>
            <a:ext cx="1885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主键与身份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76300" y="20764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C9CDD6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2924175" y="1724025"/>
            <a:ext cx="2066925" cy="533400"/>
          </a:xfrm>
          <a:prstGeom prst="roundRect">
            <a:avLst>
              <a:gd name="adj" fmla="val 5357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3019425" y="1743075"/>
            <a:ext cx="1876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结构化事实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3019425" y="1914525"/>
            <a:ext cx="18764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管道进来的表数据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3019425" y="2076450"/>
            <a:ext cx="1876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C9CDD6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5057775" y="1724025"/>
            <a:ext cx="2076450" cy="533400"/>
          </a:xfrm>
          <a:prstGeom prst="roundRect">
            <a:avLst>
              <a:gd name="adj" fmla="val 5357"/>
            </a:avLst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5153025" y="1743075"/>
            <a:ext cx="1885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知识片段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5153025" y="1914525"/>
            <a:ext cx="1885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检索得到，带引用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153025" y="20764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C9CDD6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7200900" y="1724025"/>
            <a:ext cx="2066925" cy="533400"/>
          </a:xfrm>
          <a:prstGeom prst="roundRect">
            <a:avLst>
              <a:gd name="adj" fmla="val 5357"/>
            </a:avLst>
          </a:prstGeom>
          <a:solidFill>
            <a:srgbClr val="E0651A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7296150" y="1743075"/>
            <a:ext cx="1876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上下文规格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7296150" y="1914525"/>
            <a:ext cx="18764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来源、预算、时效、压缩、不可信标记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7296150" y="2076450"/>
            <a:ext cx="1876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C9CDD6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9334500" y="1724025"/>
            <a:ext cx="2076450" cy="533400"/>
          </a:xfrm>
          <a:prstGeom prst="roundRect">
            <a:avLst>
              <a:gd name="adj" fmla="val 5357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9429750" y="1847850"/>
            <a:ext cx="1885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工具调用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9429750" y="2019300"/>
            <a:ext cx="1885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在发起人权限内执行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609600" y="2543175"/>
            <a:ext cx="5438775" cy="3095625"/>
          </a:xfrm>
          <a:prstGeom prst="roundRect">
            <a:avLst>
              <a:gd name="adj" fmla="val 123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762000" y="2657475"/>
            <a:ext cx="513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管道必须为</a:t>
            </a:r>
            <a:r>
              <a:rPr lang="en-US" sz="105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保证的四件事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762000" y="3038475"/>
            <a:ext cx="513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时效可承诺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762000" y="3209925"/>
            <a:ext cx="51339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给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的每个对象类型都要有数据时效承诺，比如「不超过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分钟」，做不到就别让它做实时判断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762000" y="3543300"/>
            <a:ext cx="5133975" cy="676275"/>
          </a:xfrm>
          <a:custGeom>
            <a:pathLst>
              <a:path w="539" h="71">
                <a:moveTo>
                  <a:pt x="0" y="0"/>
                </a:moveTo>
                <a:lnTo>
                  <a:pt x="539" y="0"/>
                </a:lnTo>
                <a:lnTo>
                  <a:pt x="53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762000" y="3695700"/>
            <a:ext cx="513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口径可追溯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762000" y="3867150"/>
            <a:ext cx="51339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回答里出现的数字，必须能点回口径定义与源版本，否则模型会自己编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762000" y="4210050"/>
            <a:ext cx="5133975" cy="666750"/>
          </a:xfrm>
          <a:custGeom>
            <a:pathLst>
              <a:path w="539" h="70">
                <a:moveTo>
                  <a:pt x="0" y="0"/>
                </a:moveTo>
                <a:lnTo>
                  <a:pt x="539" y="0"/>
                </a:lnTo>
                <a:lnTo>
                  <a:pt x="53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762000" y="4362450"/>
            <a:ext cx="513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权限可传递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762000" y="4533900"/>
            <a:ext cx="51339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调用者的权限必须一路传到管道出口，不能因为是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在问就放行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762000" y="4867275"/>
            <a:ext cx="5133975" cy="666750"/>
          </a:xfrm>
          <a:custGeom>
            <a:pathLst>
              <a:path w="539" h="70">
                <a:moveTo>
                  <a:pt x="0" y="0"/>
                </a:moveTo>
                <a:lnTo>
                  <a:pt x="539" y="0"/>
                </a:lnTo>
                <a:lnTo>
                  <a:pt x="53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762000" y="5019675"/>
            <a:ext cx="513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缺失可识别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762000" y="5191125"/>
            <a:ext cx="51339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数据没到要能被识别成「缺失」，而不是零值；零值会被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当成事实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6181725" y="2543175"/>
            <a:ext cx="5438775" cy="3095625"/>
          </a:xfrm>
          <a:prstGeom prst="roundRect">
            <a:avLst>
              <a:gd name="adj" fmla="val 123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44" name=""/>
          <p:cNvSpPr/>
          <p:nvPr/>
        </p:nvSpPr>
        <p:spPr>
          <a:xfrm rot="0" flipH="0" flipV="0">
            <a:off x="6181725" y="2543175"/>
            <a:ext cx="5438775" cy="3095625"/>
          </a:xfrm>
          <a:custGeom>
            <a:pathLst>
              <a:path w="571" h="325">
                <a:moveTo>
                  <a:pt x="4" y="325"/>
                </a:moveTo>
                <a:cubicBezTo>
                  <a:pt x="2" y="325"/>
                  <a:pt x="0" y="323"/>
                  <a:pt x="0" y="32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32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6334125" y="2657475"/>
            <a:ext cx="509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终止控制：管道也管「什么时候不许再给」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6334125" y="2886075"/>
            <a:ext cx="509587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册讲终止条件主要由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侧负责，但有三种终止信号只能由管道发出，它们不能等到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自己发现：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6334125" y="3629025"/>
            <a:ext cx="685800" cy="2286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457950" y="3676650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陈旧熔断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7115175" y="3648075"/>
            <a:ext cx="43148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关键对象的数据超过时效承诺，自动标记为不可用于判定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6334125" y="4095750"/>
            <a:ext cx="5095875" cy="723900"/>
          </a:xfrm>
          <a:custGeom>
            <a:pathLst>
              <a:path w="535" h="76">
                <a:moveTo>
                  <a:pt x="0" y="0"/>
                </a:moveTo>
                <a:lnTo>
                  <a:pt x="535" y="0"/>
                </a:lnTo>
                <a:lnTo>
                  <a:pt x="535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451" name=""/>
          <p:cNvSpPr/>
          <p:nvPr/>
        </p:nvSpPr>
        <p:spPr>
          <a:xfrm rot="0" flipH="0" flipV="0">
            <a:off x="6334125" y="4343400"/>
            <a:ext cx="685800" cy="2286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457950" y="439102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溯源失败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7115175" y="4362450"/>
            <a:ext cx="43148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要引用的数据找不到完整血缘，直接失败，不允许降级成猜测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6334125" y="4810125"/>
            <a:ext cx="5095875" cy="723900"/>
          </a:xfrm>
          <a:custGeom>
            <a:pathLst>
              <a:path w="535" h="76">
                <a:moveTo>
                  <a:pt x="0" y="0"/>
                </a:moveTo>
                <a:lnTo>
                  <a:pt x="535" y="0"/>
                </a:lnTo>
                <a:lnTo>
                  <a:pt x="535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455" name=""/>
          <p:cNvSpPr/>
          <p:nvPr/>
        </p:nvSpPr>
        <p:spPr>
          <a:xfrm rot="0" flipH="0" flipV="0">
            <a:off x="6334125" y="5057775"/>
            <a:ext cx="685800" cy="2286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6457950" y="5105400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权限不足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7115175" y="5076825"/>
            <a:ext cx="43148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调用链上任何一环权限不够，直接失败，不允许截取可见部分继续算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59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18 / 30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462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管道 &lt;span style={{ color: '#FA4F24' }}&gt;×&lt;/span&gt; Ontology：映射规则与写回边界&#10;      &lt;/Text&gt;&#10;      &lt;Text style={{ fontSize: 20, color: '#8A8F99', marginTop: 8 }}&gt;&#10;        数据集映射成对象类型与链接类型，是管道最关键的一次翻译，翻译错了后面全错&#10;      &lt;/Text&gt;&#10;    &lt;/Box&gt;&#10;    &lt;Box style={{ height: 1, background: '#E8E8E8' }} /&gt;&#10;&#10;    &lt;Box style={{ paddingTop: 14, paddingBottom: 8, height: 479, flexDirection: 'column', gap: 10 }}&gt;&#10;      &lt;Box style={{ height: 238, flexDirection: 'row', gap: 10 }}&gt;&#10;        &lt;Box style={{ flex: 1, background: '#F7F7F8', borderRadius: 4, padding: '13px 16px', flexDirection: 'column' }}&gt;&#10;          &lt;Text style={{ fontSize: 14, fontWeight: 'bold', color: '#0F1423' }}&gt;映射要写清的五件事&lt;/Text&gt;&#10;          &lt;Box style={{ flex: 1, flexDirection: 'column', marginTop: 9 }}&gt;&#10;            {[&#10;              { n: '1', t: '一个数据集拆成几个对象类型', d: '通常是主对象加若干从对象，拆的依据是业务身份，不是表结构' },&#10;              { n: '2', t: '每个对象的业务唯一标识', d: '来自源系统哪个字段；没有业务主键的，必须补一个代理键并写清生成规则' },&#10;              { n: '3', t: '链接类型从哪来', d: '外键、规则匹配还是本体推导；规则匹配的匹配率要先算出来' },&#10;              { n: '4', t: '字段的属性与密级', d: '每个字段的语义、是否敏感、是否参与检索、是否允许出向' },&#10;              { n: '5', t: '空值与缺失的表达', d: '「没有这条记录」和「有记录但值为空」在本体里必须能区分' },&#10;            ].map((it, i) =&gt; (&#10;              &lt;Box key={it.n} style={{ flex: 1, flexDirection: 'row', alignItems: 'center', gap: 10, borderTop: i === 0 ? 'none' : '1px solid #E8E8E8' }}&gt;&#10;                &lt;Text style={{ fontSize: 13, fontWeight: 'bold', color: '#FA4F24', width: 16 }}&gt;{it.n}&lt;/Text&gt;&#10;                &lt;Box style={{ flex: 1, flexDirection: 'column' }}&gt;&#10;                  &lt;Text style={{ fontSize: 12.5, fontWeight: 'bold', color: '#0F1423' }}&gt;{it.t}&lt;/Text&gt;&#10;                  &lt;Text style={{ fontSize: 11, color: '#5A6072', marginTop: 2, lineHeight: 1.4 }}&gt;{it.d}&lt;/Text&gt;&#10;                &lt;/Box&gt;&#10;              &lt;/Box&gt;&#10;            ))}&#10;          &lt;/Box&gt;&#10;        &lt;/Box&gt;&#10;&#10;        &lt;Box style={{ width: 400, background: '#0F1423', borderRadius: 4, padding: '13px 16px', flexDirection: 'column' }}&gt;&#10;          &lt;Text style={{ fontSize: 14, fontWeight: 'bold', color: '#FBA15C' }}&gt;写回本体的四条边界&lt;/Text&gt;&#10;          &lt;Box style={{ flex: 1, flexDirection: 'column', marginTop: 9 }}&gt;&#10;            {[&#10;              { t: '必须由逻辑执行', d: '本体的编辑只能通过在动作里执行逻辑函数生效，模型不能直接改本体' },&#10;              { t: '必须审批', d: '改变对象类型、链接类型、属性语义的写回，等同于改本体契约，需要业务与技术双签' },&#10;              { t: '必须留版本', d: '写回本身要有版本记录，能回答「这个对象类型是什么时候被谁改成的」' },&#10;              { t: '必须可回退', d: '写回出错要能退回上一版结构，不能靠人工记忆修回去' },&#10;            ].map((it, i) =&gt; (&#10;              &lt;Box key={it.t} style={{ flex: 1, flexDirection: 'column', justifyContent: 'center', borderTop: i === 0 ? 'none' : '1px solid rgba(255,255,255,0.1)' }}&gt;&#10;                &lt;Text style={{ fontSize: 12.5, fontWeight: 'bold', color: '#FA4F24' }}&gt;{it.t}&lt;/Text&gt;&#10;                &lt;Text style={{ fontSize: 11.5, color: 'rgba(255,255,255,0.82)', marginTop: 3, lineHeight: 1.45 }}&gt;{it.d}&lt;/Text&gt;&#10;              &lt;/Box&gt;&#10;            ))}&#10;          &lt;/Box&gt;&#10;        &lt;/Box&gt;&#10;      &lt;/Box&gt;&#10;&#10;      &lt;Box style={{ flex: 1, flexDirection: 'row', gap: 10 }}&gt;&#10;        &lt;Box style={{ flex: 1, background: '#FFF3EE', borderRadius: 4, borderLeft: '4px solid #FA4F24', padding: '12px 16px', flexDirection: 'column', justifyContent: 'center' }}&gt;&#10;          &lt;Text style={{ fontSize: 14, fontWeight: 'bold', color: '#C43A17' }}&gt;映射质量的三条验收线&lt;/Text&gt;&#10;          &lt;Text style={{ fontSize: 12, color: '#3A4050', marginTop: 8, lineHeight: 1.6 }}&gt;&#10;            一、对象覆盖率：源里有多少比例的记录能落进某个对象类型，落不进去的要给出理由。二、链接有效率：推导出来的链接有多少比例指向真实存在的对象。三、口径一致率：同一指标在本体里和源系统里能对上多少。三个数都要写在映射表首页，作为上线依据。&#10;          &lt;/Text&gt;&#10;        &lt;/Box&gt;&#10;        &lt;Box style={{ flex: 1, background: '#F7F7F8', borderRadius: 4, padding: '12px 16px', flexDirection: 'column', justifyContent: 'center' }}&gt;&#10;          &lt;Text style={{ fontSize: 14, fontWeight: 'bold', color: '#0F1423' }}&gt;管道在这一层的角色&lt;/Text&gt;&#10;          &lt;Text style={{ fontSize: 12, color: '#3A4050', marginTop: 8, lineHeight: 1.6 }}&gt;&#10;            管道不只是搬运工，它是「本体契约的执行者」。本体上写的每一个对象类型，背后都必须有一条管道负责把它按约定喂饱；没有管道兜底的对象类型，本体上就不该先写上去。所以本体设计与管道设计必须同时做、互为约束。&#10;          &lt;/Text&gt;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19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管道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sz="2400" b="1">
                <a:solidFill>
                  <a:srgbClr val="FA4F24"/>
                </a:solidFill>
                <a:latin typeface="Microsoft YaHei"/>
                <a:ea typeface="Microsoft YaHei"/>
              </a:rPr>
              <a:t>×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Ontology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：映射规则与写回边界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数据集映射成对象类型与链接类型，是管道最关键的一次翻译，翻译错了后面全错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67" name=""/>
          <p:cNvSpPr/>
          <p:nvPr/>
        </p:nvSpPr>
        <p:spPr>
          <a:xfrm rot="0" flipH="0" flipV="0">
            <a:off x="609600" y="1285875"/>
            <a:ext cx="7067550" cy="2266950"/>
          </a:xfrm>
          <a:prstGeom prst="roundRect">
            <a:avLst>
              <a:gd name="adj" fmla="val 168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762000" y="1409700"/>
            <a:ext cx="6762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映射要写清的五件事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762000" y="175260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009650" y="1657350"/>
            <a:ext cx="6515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一个数据集拆成几个对象类型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1009650" y="1819275"/>
            <a:ext cx="65151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通常是主对象加若干从对象，拆的依据是业务身份，不是表结构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762000" y="2000250"/>
            <a:ext cx="6762750" cy="371475"/>
          </a:xfrm>
          <a:custGeom>
            <a:pathLst>
              <a:path w="710" h="39">
                <a:moveTo>
                  <a:pt x="0" y="0"/>
                </a:moveTo>
                <a:lnTo>
                  <a:pt x="710" y="0"/>
                </a:lnTo>
                <a:lnTo>
                  <a:pt x="710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762000" y="211455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1009650" y="2019300"/>
            <a:ext cx="6515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每个对象的业务唯一标识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009650" y="2181225"/>
            <a:ext cx="65151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来自源系统哪个字段；没有业务主键的，必须补一个代理键并写清生成规则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762000" y="2362200"/>
            <a:ext cx="6762750" cy="361950"/>
          </a:xfrm>
          <a:custGeom>
            <a:pathLst>
              <a:path w="710" h="38">
                <a:moveTo>
                  <a:pt x="0" y="0"/>
                </a:moveTo>
                <a:lnTo>
                  <a:pt x="710" y="0"/>
                </a:lnTo>
                <a:lnTo>
                  <a:pt x="710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762000" y="24669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1009650" y="2371725"/>
            <a:ext cx="6515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链接类型从哪来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1009650" y="2533650"/>
            <a:ext cx="65151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外键、规则匹配还是本体推导；规则匹配的匹配率要先算出来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762000" y="2714625"/>
            <a:ext cx="6762750" cy="371475"/>
          </a:xfrm>
          <a:custGeom>
            <a:pathLst>
              <a:path w="710" h="39">
                <a:moveTo>
                  <a:pt x="0" y="0"/>
                </a:moveTo>
                <a:lnTo>
                  <a:pt x="710" y="0"/>
                </a:lnTo>
                <a:lnTo>
                  <a:pt x="710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762000" y="282892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1009650" y="2733675"/>
            <a:ext cx="6515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字段的属性与密级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1009650" y="2895600"/>
            <a:ext cx="65151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每个字段的语义、是否敏感、是否参与检索、是否允许出向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762000" y="3076575"/>
            <a:ext cx="6762750" cy="361950"/>
          </a:xfrm>
          <a:custGeom>
            <a:pathLst>
              <a:path w="710" h="38">
                <a:moveTo>
                  <a:pt x="0" y="0"/>
                </a:moveTo>
                <a:lnTo>
                  <a:pt x="710" y="0"/>
                </a:lnTo>
                <a:lnTo>
                  <a:pt x="710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762000" y="318135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1009650" y="3086100"/>
            <a:ext cx="6515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空值与缺失的表达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1009650" y="3248025"/>
            <a:ext cx="65151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「没有这条记录」和「有记录但值为空」在本体里必须能区分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7772400" y="1285875"/>
            <a:ext cx="3810000" cy="2266950"/>
          </a:xfrm>
          <a:prstGeom prst="roundRect">
            <a:avLst>
              <a:gd name="adj" fmla="val 168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7924800" y="1409700"/>
            <a:ext cx="3505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写回本体的四条边界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7924800" y="1666875"/>
            <a:ext cx="3505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必须由逻辑执行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7924800" y="1838325"/>
            <a:ext cx="35052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本体的编辑只能通过在动作里执行逻辑函数生效，模型不能直接改本体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7924800" y="2047875"/>
            <a:ext cx="3505200" cy="600075"/>
          </a:xfrm>
          <a:custGeom>
            <a:pathLst>
              <a:path w="368" h="63">
                <a:moveTo>
                  <a:pt x="0" y="0"/>
                </a:moveTo>
                <a:lnTo>
                  <a:pt x="368" y="0"/>
                </a:lnTo>
                <a:lnTo>
                  <a:pt x="3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7924800" y="2066925"/>
            <a:ext cx="3505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必须审批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7924800" y="2238375"/>
            <a:ext cx="35052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改变对象类型、链接类型、属性语义的写回，等同于改本体契约，需要业务与技术双签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7924800" y="2638425"/>
            <a:ext cx="3505200" cy="400050"/>
          </a:xfrm>
          <a:custGeom>
            <a:pathLst>
              <a:path w="368" h="42">
                <a:moveTo>
                  <a:pt x="0" y="0"/>
                </a:moveTo>
                <a:lnTo>
                  <a:pt x="368" y="0"/>
                </a:lnTo>
                <a:lnTo>
                  <a:pt x="3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7924800" y="2657475"/>
            <a:ext cx="3505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必须留版本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7924800" y="2828925"/>
            <a:ext cx="35052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写回本身要有版本记录，能回答「这个对象类型是什么时候被谁改成的」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7924800" y="3028950"/>
            <a:ext cx="3505200" cy="409575"/>
          </a:xfrm>
          <a:custGeom>
            <a:pathLst>
              <a:path w="368" h="43">
                <a:moveTo>
                  <a:pt x="0" y="0"/>
                </a:moveTo>
                <a:lnTo>
                  <a:pt x="368" y="0"/>
                </a:lnTo>
                <a:lnTo>
                  <a:pt x="3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7924800" y="3048000"/>
            <a:ext cx="3505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必须可回退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7924800" y="3219450"/>
            <a:ext cx="35052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写回出错要能退回上一版结构，不能靠人工记忆修回去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647700" y="3648075"/>
            <a:ext cx="5438775" cy="1990725"/>
          </a:xfrm>
          <a:prstGeom prst="roundRect">
            <a:avLst>
              <a:gd name="adj" fmla="val 191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02" name=""/>
          <p:cNvSpPr/>
          <p:nvPr/>
        </p:nvSpPr>
        <p:spPr>
          <a:xfrm rot="0" flipH="0" flipV="0">
            <a:off x="647700" y="3648075"/>
            <a:ext cx="5438775" cy="1990725"/>
          </a:xfrm>
          <a:custGeom>
            <a:pathLst>
              <a:path w="571" h="209">
                <a:moveTo>
                  <a:pt x="4" y="209"/>
                </a:moveTo>
                <a:cubicBezTo>
                  <a:pt x="2" y="209"/>
                  <a:pt x="0" y="207"/>
                  <a:pt x="0" y="20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0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800100" y="4191000"/>
            <a:ext cx="509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映射质量的三条验收线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800100" y="4429125"/>
            <a:ext cx="50958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一、对象覆盖率：源里有多少比例的记录能落进某个对象类型，落不进去的要给出理由。二、链接有效率：推导出来的链接有多少比例指向真实存在的对象。三、口径一致率：同一指标在本体里和源系统里能对上多少。三个数都要写在映射表首页，作为上线依据。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6143625" y="3648075"/>
            <a:ext cx="5438775" cy="1990725"/>
          </a:xfrm>
          <a:prstGeom prst="roundRect">
            <a:avLst>
              <a:gd name="adj" fmla="val 191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6296025" y="4191000"/>
            <a:ext cx="513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管道在这一层的角色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6296025" y="4429125"/>
            <a:ext cx="51339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管道不只是搬运工，它是「本体契约的执行者」。本体上写的每一个对象类型，背后都必须有一条管道负责把它按约定喂饱；没有管道兜底的对象类型，本体上就不该先写上去。所以本体设计与管道设计必须同时做、互为约束。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09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19 / 30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566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管道 × 知识库 × Agent × Ontology：&lt;span style={{ color: '#FA4F24' }}&gt;四者关系与三条硬边界&lt;/span&gt;&#10;      &lt;/Text&gt;&#10;      &lt;Text style={{ fontSize: 20, color: '#8A8F99', marginTop: 8 }}&gt;&#10;        四者不是并列关系，而是一条链上的四段；每两段之间都有一个必须守住的边界&#10;      &lt;/Text&gt;&#10;    &lt;/Box&gt;&#10;    &lt;Box style={{ height: 1, background: '#E8E8E8' }} /&gt;&#10;&#10;    &lt;Box style={{ paddingTop: 14, paddingBottom: 8, height: 479, flexDirection: 'column', gap: 10 }}&gt;&#10;      {/* 链条 */}&#10;      &lt;Box style={{ height: 164, background: '#F7F7F8', borderRadius: 4, padding: '13px 18px', flexDirection: 'column' }}&gt;&#10;        &lt;Text style={{ fontSize: 14, fontWeight: 'bold', color: '#0F1423' }}&gt;四者在一条链上的位置与交付物&lt;/Text&gt;&#10;        &lt;Box style={{ flex: 1, flexDirection: 'row', alignItems: 'center', gap: 8, marginTop: 10 }}&gt;&#10;          {[&#10;            { b: '管道处理', t: '把源变成可用的数据与知识', o: '数据集版本 + 血缘 + 映射表', c: '#FA4F24' },&#10;            { b: 'Ontology', t: '给数据一个业务身份和关系', o: '对象类型 + 链接类型 + 函数', c: '#F87D2F' },&#10;            { b: '知识库', t: '给本体补上非结构化依据', o: '知识单元 + 引用 + 时效 + 密级', c: '#E0651A' },&#10;            { b: 'Agent', t: '在权限内做判断和发起动作', o: '判定 + 动作 + 可回溯结论', c: '#C43A17' },&#10;          ].map((it, i) =&gt; (&#10;            &lt;Box key={it.b} style={{ flex: 1, background: '#FFFFFF', borderTop: '3px solid ' + it.c, borderRadius: 3, padding: '9px 12px', height: 92, justifyContent: 'center' }}&gt;&#10;              &lt;Text style={{ fontSize: 14, fontWeight: 'bold', color: it.c }}&gt;{it.b}&lt;/Text&gt;&#10;              &lt;Text style={{ fontSize: 11.5, color: '#3A4050', marginTop: 4, lineHeight: 1.4 }}&gt;{it.t}&lt;/Text&gt;&#10;              &lt;Text style={{ fontSize: 10.5, color: '#8A8F99', marginTop: 4, lineHeight: 1.4 }}&gt;{it.o}&lt;/Text&gt;&#10;              {i &lt; 3 ? &lt;Text style={{ fontSize: 15, color: '#C9CDD6', marginTop: 5 }}&gt;›&lt;/Text&gt; : null}&#10;            &lt;/Box&gt;&#10;          ))}&#10;        &lt;/Box&gt;&#10;        &lt;Text style={{ fontSize: 11.5, color: '#5A6072', marginTop: 9, lineHeight: 1.45 }}&gt;&#10;          管道同时服务两端：向下为本体供数、向上为知识库与 Agent 供给上下文。它是这条链上唯一贯穿始终的构件，也是唯一同时握有「原始数据」和「出口」两项风险的角色。&#10;        &lt;/Text&gt;&#10;      &lt;/Box&gt;&#10;&#10;      {/* 三条硬边界 */}&#10;      &lt;Box style={{ flex: 1, flexDirection: 'row', gap: 10 }}&gt;&#10;        {[&#10;          { n: '边界一', t: '管道 → Ontology：进得来也要退得回去', l: '映射表必须同时写明「什么条件下的这一版可以被换掉」，否则本体永远只能追加、不能修正。发布失败时要能整体退回上一版，而不是停在半成品状态。', c: '#FA4F24' },&#10;          { n: '边界二', t: '管道 → 知识库：密级随数据走，不能只标一次', l: '密级必须在每个切片入库时校验一次、出库时再校验一次；只信入库时的标记，权限体系迟早会被绕过。冲突与过期必须在管道里就标记，不能等到 Agent 撞上。', c: '#F87D2F' },&#10;          { n: '边界三', t: '管道 → Agent：缺失必须显式，不能用零值顶替', l: '数据没到、版本不对、口径不一致，这三种情况都必须以失败或明确的缺失状态传给 Agent，绝不能折算成零或空字符串——模型会把它们当成事实。', c: '#E0651A' },&#10;        ].map((it, i) =&gt; (&#10;          &lt;Box key={it.n} style={{ flex: 1, background: i === 0 ? '#FFF3EE' : '#F7F7F8', borderRadius: 4, borderLeft: '4px solid ' + it.c, padding: '12px 15px', flexDirection: 'column', justifyContent: 'center' }}&gt;&#10;            &lt;Text style={{ fontSize: 14, fontWeight: 'bold', color: it.c }}&gt;{it.t}&lt;/Text&gt;&#10;            &lt;Text style={{ fontSize: 12, color: '#3A4050', marginTop: 8, lineHeight: 1.6 }}&gt;{it.l}&lt;/Text&gt;&#10;          &lt;/Box&gt;&#10;        ))}&#10;      &lt;/Box&gt;&#10;&#10;      &lt;Box style={{ height: 62, background: '#0F1423', borderRadius: 4, padding: '0 18px', flexDirection: 'row', alignItems: 'center', gap: 12 }}&gt;&#10;        &lt;Text style={{ fontSize: 14, fontWeight: 'bold', color: '#FBA15C', width: 152 }}&gt;一句话讲给客户&lt;/Text&gt;&#10;        &lt;Text style={{ fontSize: 13, color: 'rgba(255,255,255,0.92)', flex: 1, lineHeight: 1.5 }}&gt;&#10;          本体管的是「什么是真的」，知识库管的是「依据是什么」，Agent 管的是「谁来做决定」，管道管的是「这四件事靠不靠得住」。管道不做判断，但判断的一切前提都由它提供。&#10;        &lt;/Text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20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管道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知识库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× Agent × Ontology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四者关系与三条硬边界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四者不是并列关系，而是一条链上的四段；每两段之间都有一个必须守住的边界</a:t>
            </a:r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571" name=""/>
          <p:cNvSpPr/>
          <p:nvPr/>
        </p:nvSpPr>
        <p:spPr>
          <a:xfrm rot="0" flipH="0" flipV="0">
            <a:off x="609600" y="1285875"/>
            <a:ext cx="10972800" cy="1562100"/>
          </a:xfrm>
          <a:prstGeom prst="roundRect">
            <a:avLst>
              <a:gd name="adj" fmla="val 24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781050" y="1409700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四者在一条链上的位置与交付物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781050" y="1695450"/>
            <a:ext cx="2600325" cy="847725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4" name=""/>
          <p:cNvSpPr/>
          <p:nvPr/>
        </p:nvSpPr>
        <p:spPr>
          <a:xfrm rot="0" flipH="0" flipV="0">
            <a:off x="781050" y="1695450"/>
            <a:ext cx="2600325" cy="847725"/>
          </a:xfrm>
          <a:custGeom>
            <a:pathLst>
              <a:path w="273" h="89">
                <a:moveTo>
                  <a:pt x="270" y="0"/>
                </a:moveTo>
                <a:cubicBezTo>
                  <a:pt x="272" y="0"/>
                  <a:pt x="273" y="1"/>
                  <a:pt x="273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0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895350" y="1714500"/>
            <a:ext cx="2371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管道处理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95350" y="1914525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把源变成可用的数据与知识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895350" y="2143125"/>
            <a:ext cx="23717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数据集版本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血缘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映射表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95350" y="2362200"/>
            <a:ext cx="2371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C9CDD6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3457575" y="1695450"/>
            <a:ext cx="2600325" cy="847725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0" name=""/>
          <p:cNvSpPr/>
          <p:nvPr/>
        </p:nvSpPr>
        <p:spPr>
          <a:xfrm rot="0" flipH="0" flipV="0">
            <a:off x="3457575" y="1695450"/>
            <a:ext cx="2600325" cy="847725"/>
          </a:xfrm>
          <a:custGeom>
            <a:pathLst>
              <a:path w="273" h="89">
                <a:moveTo>
                  <a:pt x="270" y="0"/>
                </a:moveTo>
                <a:cubicBezTo>
                  <a:pt x="272" y="0"/>
                  <a:pt x="273" y="1"/>
                  <a:pt x="273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0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3571875" y="1714500"/>
            <a:ext cx="2371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87D2F"/>
                </a:solidFill>
                <a:latin typeface="Microsoft YaHei"/>
                <a:ea typeface="Microsoft YaHei"/>
              </a:rPr>
              <a:t>Ontology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3571875" y="1914525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给数据一个业务身份和关系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3571875" y="2143125"/>
            <a:ext cx="23717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对象类型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链接类型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函数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3571875" y="2362200"/>
            <a:ext cx="2371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C9CDD6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6134100" y="1695450"/>
            <a:ext cx="2600325" cy="847725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6" name=""/>
          <p:cNvSpPr/>
          <p:nvPr/>
        </p:nvSpPr>
        <p:spPr>
          <a:xfrm rot="0" flipH="0" flipV="0">
            <a:off x="6134100" y="1695450"/>
            <a:ext cx="2600325" cy="847725"/>
          </a:xfrm>
          <a:custGeom>
            <a:pathLst>
              <a:path w="273" h="89">
                <a:moveTo>
                  <a:pt x="270" y="0"/>
                </a:moveTo>
                <a:cubicBezTo>
                  <a:pt x="272" y="0"/>
                  <a:pt x="273" y="1"/>
                  <a:pt x="273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0" y="0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6248400" y="1714500"/>
            <a:ext cx="2371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0651A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6248400" y="1914525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给本体补上非结构化依据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6248400" y="2143125"/>
            <a:ext cx="23717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知识单元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引用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时效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密级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6248400" y="2362200"/>
            <a:ext cx="2371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C9CDD6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8810625" y="1695450"/>
            <a:ext cx="2600325" cy="847725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2" name=""/>
          <p:cNvSpPr/>
          <p:nvPr/>
        </p:nvSpPr>
        <p:spPr>
          <a:xfrm rot="0" flipH="0" flipV="0">
            <a:off x="8810625" y="1695450"/>
            <a:ext cx="2600325" cy="847725"/>
          </a:xfrm>
          <a:custGeom>
            <a:pathLst>
              <a:path w="273" h="89">
                <a:moveTo>
                  <a:pt x="270" y="0"/>
                </a:moveTo>
                <a:cubicBezTo>
                  <a:pt x="272" y="0"/>
                  <a:pt x="273" y="1"/>
                  <a:pt x="273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0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8924925" y="1819275"/>
            <a:ext cx="2371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8924925" y="201930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在权限内做判断和发起动作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8924925" y="2247900"/>
            <a:ext cx="23717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判定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动作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可回溯结论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781050" y="2628900"/>
            <a:ext cx="106299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5A6072"/>
                </a:solidFill>
                <a:latin typeface="Microsoft YaHei"/>
                <a:ea typeface="Microsoft YaHei"/>
              </a:rPr>
              <a:t>管道同时服务两端：向下为本体供数、向上为知识库与</a:t>
            </a:r>
            <a:r>
              <a:rPr lang="en-US" sz="863">
                <a:solidFill>
                  <a:srgbClr val="5A6072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863">
                <a:solidFill>
                  <a:srgbClr val="5A6072"/>
                </a:solidFill>
                <a:latin typeface="Microsoft YaHei"/>
                <a:ea typeface="Microsoft YaHei"/>
              </a:rPr>
              <a:t>供给上下文。它是这条链上唯一贯穿始终的构件，也是唯一同时握有「原始数据」和「出口」两项风险的角色。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647700" y="2943225"/>
            <a:ext cx="3590925" cy="2009775"/>
          </a:xfrm>
          <a:prstGeom prst="roundRect">
            <a:avLst>
              <a:gd name="adj" fmla="val 1896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98" name=""/>
          <p:cNvSpPr/>
          <p:nvPr/>
        </p:nvSpPr>
        <p:spPr>
          <a:xfrm rot="0" flipH="0" flipV="0">
            <a:off x="647700" y="2943225"/>
            <a:ext cx="3590925" cy="2009775"/>
          </a:xfrm>
          <a:custGeom>
            <a:pathLst>
              <a:path w="377" h="211">
                <a:moveTo>
                  <a:pt x="4" y="211"/>
                </a:moveTo>
                <a:cubicBezTo>
                  <a:pt x="2" y="211"/>
                  <a:pt x="0" y="209"/>
                  <a:pt x="0" y="20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1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790575" y="3495675"/>
            <a:ext cx="3267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管道</a:t>
            </a: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→ Ontology</a:t>
            </a: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：进得来也要退得回去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790575" y="3733800"/>
            <a:ext cx="32670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映射表必须同时写明「什么条件下的这一版可以被换掉」，否则本体永远只能追加、不能修正。发布失败时要能整体退回上一版，而不是停在半成品状态。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4333875" y="2943225"/>
            <a:ext cx="3600450" cy="2009775"/>
          </a:xfrm>
          <a:prstGeom prst="roundRect">
            <a:avLst>
              <a:gd name="adj" fmla="val 18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02" name=""/>
          <p:cNvSpPr/>
          <p:nvPr/>
        </p:nvSpPr>
        <p:spPr>
          <a:xfrm rot="0" flipH="0" flipV="0">
            <a:off x="4333875" y="2943225"/>
            <a:ext cx="3600450" cy="2009775"/>
          </a:xfrm>
          <a:custGeom>
            <a:pathLst>
              <a:path w="378" h="211">
                <a:moveTo>
                  <a:pt x="4" y="211"/>
                </a:moveTo>
                <a:cubicBezTo>
                  <a:pt x="2" y="211"/>
                  <a:pt x="0" y="209"/>
                  <a:pt x="0" y="20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11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4476750" y="3495675"/>
            <a:ext cx="3276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87D2F"/>
                </a:solidFill>
                <a:latin typeface="Microsoft YaHei"/>
                <a:ea typeface="Microsoft YaHei"/>
              </a:rPr>
              <a:t>管道</a:t>
            </a:r>
            <a:r>
              <a:rPr lang="en-US" sz="1050" b="1">
                <a:solidFill>
                  <a:srgbClr val="F87D2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 b="1">
                <a:solidFill>
                  <a:srgbClr val="F87D2F"/>
                </a:solidFill>
                <a:latin typeface="Microsoft YaHei"/>
                <a:ea typeface="Microsoft YaHei"/>
              </a:rPr>
              <a:t>知识库：密级随数据走，不能只标一次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4476750" y="3733800"/>
            <a:ext cx="32766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密级必须在每个切片入库时校验一次、出库时再校验一次；只信入库时的标记，权限体系迟早会被绕过。冲突与过期必须在管道里就标记，不能等到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撞上。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8029575" y="2943225"/>
            <a:ext cx="3590925" cy="2009775"/>
          </a:xfrm>
          <a:prstGeom prst="roundRect">
            <a:avLst>
              <a:gd name="adj" fmla="val 18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06" name=""/>
          <p:cNvSpPr/>
          <p:nvPr/>
        </p:nvSpPr>
        <p:spPr>
          <a:xfrm rot="0" flipH="0" flipV="0">
            <a:off x="8029575" y="2943225"/>
            <a:ext cx="3590925" cy="2009775"/>
          </a:xfrm>
          <a:custGeom>
            <a:pathLst>
              <a:path w="377" h="211">
                <a:moveTo>
                  <a:pt x="4" y="211"/>
                </a:moveTo>
                <a:cubicBezTo>
                  <a:pt x="2" y="211"/>
                  <a:pt x="0" y="209"/>
                  <a:pt x="0" y="20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11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8172450" y="3495675"/>
            <a:ext cx="3267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0651A"/>
                </a:solidFill>
                <a:latin typeface="Microsoft YaHei"/>
                <a:ea typeface="Microsoft YaHei"/>
              </a:rPr>
              <a:t>管道</a:t>
            </a:r>
            <a:r>
              <a:rPr lang="en-US" sz="1050" b="1">
                <a:solidFill>
                  <a:srgbClr val="E0651A"/>
                </a:solidFill>
                <a:latin typeface="Microsoft YaHei"/>
                <a:ea typeface="Microsoft YaHei"/>
              </a:rPr>
              <a:t xml:space="preserve"> → Agent</a:t>
            </a:r>
            <a:r>
              <a:rPr lang="zh-CN" sz="1050" b="1">
                <a:solidFill>
                  <a:srgbClr val="E0651A"/>
                </a:solidFill>
                <a:latin typeface="Microsoft YaHei"/>
                <a:ea typeface="Microsoft YaHei"/>
              </a:rPr>
              <a:t>：缺失必须显式，不能用零值顶替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8172450" y="3733800"/>
            <a:ext cx="32670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数据没到、版本不对、口径不一致，这三种情况都必须以失败或明确的缺失状态传给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，绝不能折算成零或空字符串——模型会把它们当成事实。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609600" y="5048250"/>
            <a:ext cx="10972800" cy="590550"/>
          </a:xfrm>
          <a:prstGeom prst="roundRect">
            <a:avLst>
              <a:gd name="adj" fmla="val 645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781050" y="526732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一句话讲给客户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2343150" y="5124450"/>
            <a:ext cx="90678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本体管的是「什么是真的」，知识库管的是「依据是什么」，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管的是「谁来做决定」，管道管的是「这四件事靠不靠得住」。管道不做判断，但判断的一切前提都由它提供。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613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20 / 30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616" name="" descr="&lt;Slide style={{ width: 1280, height: 720, background: '#0F1423' }}&gt;&#10;  &lt;Box style={{ position: 'absolute', left: 0, top: 0, width: 1280, height: 720, background: 'linear-gradient(135deg, #0F1423 0%, #2A1810 100%)' }} /&gt;&#10;  &lt;Box style={{ position: 'absolute', right: 0, top: 0, width: 560, height: 720, background: 'linear-gradient(200deg, rgba(250,79,36,0.28) 0%, rgba(250,79,36,0) 70%)' }} /&gt;&#10;&#10;  &lt;Box style={{ position: 'absolute', right: 70, top: 110 }}&gt;&#10;    &lt;Text style={{ fontSize: 300, fontWeight: 'bold', color: 'rgba(255,255,255,0.08)', lineHeight: 1.0 }}&gt;04&lt;/Text&gt;&#10;  &lt;/Box&gt;&#10;&#10;  &lt;Box style={{ position: 'absolute', left: 88, top: 232, width: 700, flexDirection: 'column' }}&gt;&#10;    &lt;Text style={{ fontSize: 15, color: 'rgba(255,255,255,0.5)', letterSpacing: 3 }}&gt;PART 04&lt;/Text&gt;&#10;    &lt;Box style={{ width: 72, height: 5, background: '#FA4F24', marginTop: 22 }} /&gt;&#10;    &lt;Text style={{ fontSize: 52, fontWeight: 'bold', color: '#FFFFFF', marginTop: 28, lineHeight: 1.15 }}&gt;回到 4A&lt;/Text&gt;&#10;    &lt;Text style={{ fontSize: 17, color: 'rgba(255,255,255,0.62)', letterSpacing: 2, marginTop: 20 }}&gt;PIPELINE AS A BUSINESS APPLICATION&lt;/Text&gt;&#10;    &lt;Text style={{ fontSize: 19, color: 'rgba(255,255,255,0.85)', marginTop: 26, lineHeight: 1.6 }}&gt;管道也有自己的 BA / DA / AA / TA，也有自己的门与失效模式&lt;/Text&gt;&#10;  &lt;/Box&gt;&#10;&#10;  &lt;Box style={{ position: 'absolute', right: 88, bottom: 64, flexDirection: 'row', alignItems: 'center', gap: 12 }}&gt;&#10;    &lt;Box style={{ width: 14, height: 14, background: '#FA4F24' }} /&gt;&#10;    &lt;Text style={{ fontSize: 14, color: 'rgba(255,255,255,0.5)' }}&gt;硕磐机密 · 管道处理咨询方法论&lt;/Text&gt;&#10;    &lt;Text style={{ fontSize: 14, color: 'rgba(255,255,255,0.5)', marginLeft: 12 }}&gt;21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19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04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667500" cy="6858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回到</a:t>
            </a:r>
            <a:r>
              <a:rPr lang="en-US" sz="3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4A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838200" y="3781425"/>
            <a:ext cx="666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PIPELINE AS A BUSINESS APPLICATION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6667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管道也有自己的</a:t>
            </a: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BA / DA / AA / TA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，也有自己的门与失效模式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857250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8820150" y="60864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21 / 30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629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管道处理的 &lt;span style={{ color: '#FA4F24' }}&gt;4A 映射总览&lt;/span&gt;&#10;      &lt;/Text&gt;&#10;      &lt;Text style={{ fontSize: 20, color: '#8A8F99', marginTop: 8 }}&gt;&#10;        把管道当成一个业务应用来立项，它在四层架构里各变成什么&#10;      &lt;/Text&gt;&#10;    &lt;/Box&gt;&#10;    &lt;Box style={{ height: 1, background: '#E8E8E8' }} /&gt;&#10;&#10;    &lt;Box style={{ paddingTop: 14, paddingBottom: 8, height: 479, flexDirection: 'column', gap: 10 }}&gt;&#10;      {/* 映射总览 */}&#10;      &lt;Box style={{ height: 302, flexDirection: 'row', gap: 9 }}&gt;&#10;        {[&#10;          { a: 'BA', t: '业务架构', q: '管什么、谁负责、什么时候停', r: '能力与责任', c: '#FA4F24' },&#10;          { a: 'DA', t: '数据架构', q: '三层数据与必建模元数据', r: '分层与口径', c: '#F87D2F' },&#10;          { a: 'AA', t: '应用架构', q: '管道拓扑与调用编排', r: '节点与依赖', c: '#E0651A' },&#10;          { a: 'TA', t: '技术架构', q: '运行时、调度与非功能', r: '底座与指标', c: '#C43A17' },&#10;        ].map((it, i) =&gt; (&#10;          &lt;Box key={it.a} style={{ flex: 1, background: '#F7F7F8', borderRadius: 4, flexDirection: 'column', overflow: 'hidden' }}&gt;&#10;            &lt;Box style={{ height: 70, background: it.c, padding: '0 14px', justifyContent: 'center' }}&gt;&#10;              &lt;Text style={{ fontSize: 26, fontWeight: 'bold', color: 'rgba(255,255,255,0.9)' }}&gt;{it.a}&lt;/Text&gt;&#10;            &lt;/Box&gt;&#10;            &lt;Box style={{ flex: 1, padding: '11px 13px' }}&gt;&#10;              &lt;Text style={{ fontSize: 14, fontWeight: 'bold', color: '#0F1423' }}&gt;{it.t}&lt;/Text&gt;&#10;              &lt;Text style={{ fontSize: 11.5, color: '#5A6072', marginTop: 5, lineHeight: 1.45 }}&gt;{it.q}&lt;/Text&gt;&#10;              &lt;Box style={{ height: 1, background: '#E8E8E8', marginTop: 10, marginBottom: 9 }} /&gt;&#10;              &lt;Text style={{ fontSize: 10, color: '#8A8F99' }}&gt;在管道里变成&lt;/Text&gt;&#10;              &lt;Text style={{ fontSize: 13, fontWeight: 'bold', color: it.c, marginTop: 4 }}&gt;{it.r}&lt;/Text&gt;&#10;            &lt;/Box&gt;&#10;          &lt;/Box&gt;&#10;        ))}&#10;      &lt;/Box&gt;&#10;&#10;      &lt;Box style={{ flex: 1, flexDirection: 'row', gap: 10 }}&gt;&#10;        &lt;Box style={{ flex: 1, background: '#0F1423', borderRadius: 4, padding: '12px 16px', flexDirection: 'column', justifyContent: 'center' }}&gt;&#10;          &lt;Text style={{ fontSize: 14, fontWeight: 'bold', color: '#FBA15C' }}&gt;管道的三个特殊之处&lt;/Text&gt;&#10;          {[&#10;            { b: '它是唯一有版本的', t: '其他应用发版是换代码，管道发版是产生新的数据版本，影响面通过血缘可算' },&#10;            { b: '它同时握有入口和出口', t: '别的架构只管调用链的一端，管道两端都在自己手里，风险集中' },&#10;            { b: '它的失效是静默的', t: '代码报错会停，管道错了只会算出一个看起来合理的数，必须靠健康检查兜' },&#10;          ].map((it, i) =&gt; (&#10;            &lt;Box key={it.b} style={{ flex: 1, flexDirection: 'row', alignItems: 'center', gap: 12, borderTop: i === 0 ? 'none' : '1px solid rgba(255,255,255,0.1)' }}&gt;&#10;              &lt;Text style={{ fontSize: 11.5, fontWeight: 'bold', color: '#FA4F24', width: 148 }}&gt;{it.b}&lt;/Text&gt;&#10;              &lt;Text style={{ fontSize: 11.5, color: 'rgba(255,255,255,0.85)', flex: 1, lineHeight: 1.45 }}&gt;{it.t}&lt;/Text&gt;&#10;            &lt;/Box&gt;&#10;          ))}&#10;        &lt;/Box&gt;&#10;        &lt;Box style={{ flex: 1, background: '#FFF3EE', borderRadius: 4, borderLeft: '4px solid #FA4F24', padding: '12px 16px', flexDirection: 'column', justifyContent: 'center' }}&gt;&#10;          &lt;Text style={{ fontSize: 14, fontWeight: 'bold', color: '#C43A17' }}&gt;立项时容易被漏掉的三件事&lt;/Text&gt;&#10;          &lt;Text style={{ fontSize: 12, color: '#3A4050', marginTop: 8, lineHeight: 1.6 }}&gt;&#10;            一、口径责任人不进组织图，导致口径无人裁定；二、值班与告警没有承接方，管道上线三周后就没人管；三、退役机制缺失，旧管道永远不下线，新旧两套口径并存，最后没人说得清哪个是权威。&#10;          &lt;/Text&gt;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22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管道处理的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4A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映射总览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把管道当成一个业务应用来立项，它在四层架构里各变成什么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34" name=""/>
          <p:cNvSpPr/>
          <p:nvPr/>
        </p:nvSpPr>
        <p:spPr>
          <a:xfrm rot="0" flipH="0" flipV="0">
            <a:off x="609600" y="1285875"/>
            <a:ext cx="2676525" cy="2876550"/>
          </a:xfrm>
          <a:prstGeom prst="roundRect">
            <a:avLst>
              <a:gd name="adj" fmla="val 142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35" name=""/>
          <p:cNvSpPr/>
          <p:nvPr/>
        </p:nvSpPr>
        <p:spPr>
          <a:xfrm rot="0" flipH="0" flipV="0">
            <a:off x="609600" y="1285875"/>
            <a:ext cx="2676525" cy="6667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742950" y="1466850"/>
            <a:ext cx="24098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733425" y="2057400"/>
            <a:ext cx="2428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733425" y="226695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5A6072"/>
                </a:solidFill>
                <a:latin typeface="Microsoft YaHei"/>
                <a:ea typeface="Microsoft YaHei"/>
              </a:rPr>
              <a:t>管什么、谁负责、什么时候停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733425" y="2562225"/>
            <a:ext cx="2428875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733425" y="2657475"/>
            <a:ext cx="24288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在管道里变成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733425" y="2809875"/>
            <a:ext cx="2428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能力与责任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3371850" y="1285875"/>
            <a:ext cx="2686050" cy="2876550"/>
          </a:xfrm>
          <a:prstGeom prst="roundRect">
            <a:avLst>
              <a:gd name="adj" fmla="val 14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43" name=""/>
          <p:cNvSpPr/>
          <p:nvPr/>
        </p:nvSpPr>
        <p:spPr>
          <a:xfrm rot="0" flipH="0" flipV="0">
            <a:off x="3371850" y="1285875"/>
            <a:ext cx="2686050" cy="666750"/>
          </a:xfrm>
          <a:prstGeom prst="rect">
            <a:avLst/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3505200" y="1466850"/>
            <a:ext cx="2419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3495675" y="20574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3495675" y="2266950"/>
            <a:ext cx="24384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5A6072"/>
                </a:solidFill>
                <a:latin typeface="Microsoft YaHei"/>
                <a:ea typeface="Microsoft YaHei"/>
              </a:rPr>
              <a:t>三层数据与必建模元数据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3495675" y="2562225"/>
            <a:ext cx="24384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3495675" y="2657475"/>
            <a:ext cx="2438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在管道里变成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3495675" y="2809875"/>
            <a:ext cx="2438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87D2F"/>
                </a:solidFill>
                <a:latin typeface="Microsoft YaHei"/>
                <a:ea typeface="Microsoft YaHei"/>
              </a:rPr>
              <a:t>分层与口径</a:t>
            </a:r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6143625" y="1285875"/>
            <a:ext cx="2676525" cy="2876550"/>
          </a:xfrm>
          <a:prstGeom prst="roundRect">
            <a:avLst>
              <a:gd name="adj" fmla="val 142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51" name=""/>
          <p:cNvSpPr/>
          <p:nvPr/>
        </p:nvSpPr>
        <p:spPr>
          <a:xfrm rot="0" flipH="0" flipV="0">
            <a:off x="6143625" y="1285875"/>
            <a:ext cx="2676525" cy="666750"/>
          </a:xfrm>
          <a:prstGeom prst="rect">
            <a:avLst/>
          </a:prstGeom>
          <a:solidFill>
            <a:srgbClr val="E0651A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6276975" y="1466850"/>
            <a:ext cx="24098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6267450" y="2057400"/>
            <a:ext cx="2428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6267450" y="226695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5A6072"/>
                </a:solidFill>
                <a:latin typeface="Microsoft YaHei"/>
                <a:ea typeface="Microsoft YaHei"/>
              </a:rPr>
              <a:t>管道拓扑与调用编排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6267450" y="2562225"/>
            <a:ext cx="2428875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6267450" y="2657475"/>
            <a:ext cx="24288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在管道里变成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6267450" y="2809875"/>
            <a:ext cx="2428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0651A"/>
                </a:solidFill>
                <a:latin typeface="Microsoft YaHei"/>
                <a:ea typeface="Microsoft YaHei"/>
              </a:rPr>
              <a:t>节点与依赖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8905875" y="1285875"/>
            <a:ext cx="2676525" cy="2876550"/>
          </a:xfrm>
          <a:prstGeom prst="roundRect">
            <a:avLst>
              <a:gd name="adj" fmla="val 142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59" name=""/>
          <p:cNvSpPr/>
          <p:nvPr/>
        </p:nvSpPr>
        <p:spPr>
          <a:xfrm rot="0" flipH="0" flipV="0">
            <a:off x="8905875" y="1285875"/>
            <a:ext cx="2676525" cy="666750"/>
          </a:xfrm>
          <a:prstGeom prst="rect">
            <a:avLst/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9039225" y="1466850"/>
            <a:ext cx="24098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9029700" y="2057400"/>
            <a:ext cx="2428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9029700" y="226695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5A6072"/>
                </a:solidFill>
                <a:latin typeface="Microsoft YaHei"/>
                <a:ea typeface="Microsoft YaHei"/>
              </a:rPr>
              <a:t>运行时、调度与非功能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9029700" y="2562225"/>
            <a:ext cx="2428875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9029700" y="2657475"/>
            <a:ext cx="24288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在管道里变成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9029700" y="2809875"/>
            <a:ext cx="2428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底座与指标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609600" y="4257675"/>
            <a:ext cx="5438775" cy="1390650"/>
          </a:xfrm>
          <a:prstGeom prst="roundRect">
            <a:avLst>
              <a:gd name="adj" fmla="val 274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762000" y="4371975"/>
            <a:ext cx="513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管道的三个特殊之处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762000" y="4667250"/>
            <a:ext cx="1409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A4F24"/>
                </a:solidFill>
                <a:latin typeface="Microsoft YaHei"/>
                <a:ea typeface="Microsoft YaHei"/>
              </a:rPr>
              <a:t>它是唯一有版本的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2286000" y="4533900"/>
            <a:ext cx="36099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其他应用发版是换代码，管道发版是产生新的数据版本，影响面通过血缘可算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762000" y="4924425"/>
            <a:ext cx="5133975" cy="219075"/>
          </a:xfrm>
          <a:custGeom>
            <a:pathLst>
              <a:path w="539" h="23">
                <a:moveTo>
                  <a:pt x="0" y="0"/>
                </a:moveTo>
                <a:lnTo>
                  <a:pt x="539" y="0"/>
                </a:lnTo>
                <a:lnTo>
                  <a:pt x="53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762000" y="4972050"/>
            <a:ext cx="1409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A4F24"/>
                </a:solidFill>
                <a:latin typeface="Microsoft YaHei"/>
                <a:ea typeface="Microsoft YaHei"/>
              </a:rPr>
              <a:t>它同时握有入口和出口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2286000" y="4933950"/>
            <a:ext cx="36099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别的架构只管调用链的一端，管道两端都在自己手里，风险集中</a:t>
            </a:r>
            <a:endParaRPr/>
          </a:p>
        </p:txBody>
      </p:sp>
      <p:sp>
        <p:nvSpPr>
          <p:cNvPr id="673" name=""/>
          <p:cNvSpPr/>
          <p:nvPr/>
        </p:nvSpPr>
        <p:spPr>
          <a:xfrm rot="0" flipH="0" flipV="0">
            <a:off x="762000" y="5133975"/>
            <a:ext cx="5133975" cy="409575"/>
          </a:xfrm>
          <a:custGeom>
            <a:pathLst>
              <a:path w="539" h="43">
                <a:moveTo>
                  <a:pt x="0" y="0"/>
                </a:moveTo>
                <a:lnTo>
                  <a:pt x="539" y="0"/>
                </a:lnTo>
                <a:lnTo>
                  <a:pt x="53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762000" y="5276850"/>
            <a:ext cx="1409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A4F24"/>
                </a:solidFill>
                <a:latin typeface="Microsoft YaHei"/>
                <a:ea typeface="Microsoft YaHei"/>
              </a:rPr>
              <a:t>它的失效是静默的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2286000" y="5143500"/>
            <a:ext cx="36099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代码报错会停，管道错了只会算出一个看起来合理的数，必须靠健康检查兜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6181725" y="4257675"/>
            <a:ext cx="5438775" cy="1390650"/>
          </a:xfrm>
          <a:prstGeom prst="roundRect">
            <a:avLst>
              <a:gd name="adj" fmla="val 274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77" name=""/>
          <p:cNvSpPr/>
          <p:nvPr/>
        </p:nvSpPr>
        <p:spPr>
          <a:xfrm rot="0" flipH="0" flipV="0">
            <a:off x="6181725" y="4257675"/>
            <a:ext cx="5438775" cy="1390650"/>
          </a:xfrm>
          <a:custGeom>
            <a:pathLst>
              <a:path w="571" h="146">
                <a:moveTo>
                  <a:pt x="4" y="146"/>
                </a:moveTo>
                <a:cubicBezTo>
                  <a:pt x="2" y="146"/>
                  <a:pt x="0" y="144"/>
                  <a:pt x="0" y="14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4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6334125" y="4610100"/>
            <a:ext cx="509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立项时容易被漏掉的三件事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6334125" y="4848225"/>
            <a:ext cx="50958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一、口径责任人不进组织图，导致口径无人裁定；二、值班与告警没有承接方，管道上线三周后就没人管；三、退役机制缺失，旧管道永远不下线，新旧两套口径并存，最后没人说得清哪个是权威。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681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22 / 30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684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BA：管道处理管什么、&lt;span style={{ color: '#FA4F24' }}&gt;谁负责、什么时候停&lt;/span&gt;&#10;      &lt;/Text&gt;&#10;      &lt;Text style={{ fontSize: 20, color: '#8A8F99', marginTop: 8 }}&gt;&#10;        管道一旦成为应用，就必须有业务责任人，否则口径争议永远无法收敛&#10;      &lt;/Text&gt;&#10;    &lt;/Box&gt;&#10;    &lt;Box style={{ height: 1, background: '#E8E8E8' }} /&gt;&#10;&#10;    &lt;Box style={{ paddingTop: 14, paddingBottom: 8, height: 479, flexDirection: 'column', gap: 10 }}&gt;&#10;      {/* 三个问题 */}&#10;      &lt;Box style={{ height: 150, flexDirection: 'row', gap: 10 }}&gt;&#10;        {[&#10;          { n: '管什么', t: '三件东西必须被明确托管', d: '口径：某个指标按哪个定义算。边界：哪些数据允许进、允许出。时效：多久算过期，承诺几个小时。', c: '#FA4F24' },&#10;          { n: '谁负责', t: '四类角色，缺一不可', d: '口径责任人、业务数据责任人、管道运维责任人、上线审批人。四个人的签字不能由一个人代。', c: '#F87D2F' },&#10;          { n: '什么时候停', t: '三类必须停的硬条件', d: '健康检查连续失败、映射质量不达标、下游出现口径争议且无法裁决。停的条件要写在发布检查表里。', c: '#E0651A' },&#10;        ].map((it, i) =&gt; (&#10;          &lt;Box key={it.n} style={{ flex: 1, background: '#F7F7F8', borderRadius: 4, borderTop: '3px solid ' + it.c, padding: '11px 14px', flexDirection: 'column' }}&gt;&#10;            &lt;Text style={{ fontSize: 16, fontWeight: 'bold', color: it.c }}&gt;{it.n}&lt;/Text&gt;&#10;            &lt;Text style={{ fontSize: 12.5, fontWeight: 'bold', color: '#0F1423', marginTop: 6 }}&gt;{it.t}&lt;/Text&gt;&#10;            &lt;Text style={{ fontSize: 12, color: '#3A4050', marginTop: 6, lineHeight: 1.55 }}&gt;{it.d}&lt;/Text&gt;&#10;          &lt;/Box&gt;&#10;        ))}&#10;      &lt;/Box&gt;&#10;&#10;      &lt;Box style={{ flex: 1, flexDirection: 'row', gap: 10 }}&gt;&#10;        &lt;Box style={{ flex: 1, background: '#0F1423', borderRadius: 4, padding: '13px 16px', flexDirection: 'column' }}&gt;&#10;          &lt;Text style={{ fontSize: 14, fontWeight: 'bold', color: '#FBA15C' }}&gt;能力与组织解耦：四个角色不等于四个人&lt;/Text&gt;&#10;          &lt;Text style={{ fontSize: 12, color: 'rgba(255,255,255,0.78)', marginTop: 7, lineHeight: 1.5 }}&gt;&#10;            大多数企业里这四个角色会压在两三个人身上。咨询要做的不是增编，而是让责任在组织图上显式存在——写进岗位说明、写进发布检查表的签字栏、写进值班表。&#10;          &lt;/Text&gt;&#10;          &lt;Box style={{ flex: 1, flexDirection: 'column', marginTop: 10 }}&gt;&#10;            {[&#10;              { b: '口径责任人', t: '业务侧，决定定义并裁决冲突' },&#10;              { b: '业务数据责任人', t: '业务侧，确认数据符合业务现实' },&#10;              { b: '管道运维责任人', t: '技术侧，负责运行、值班、回滚' },&#10;              { b: '上线审批人', t: '双方联合，对发布与停用负责' },&#10;            ].map((it, i) =&gt; (&#10;              &lt;Box key={it.b} style={{ flex: 1, flexDirection: 'row', alignItems: 'center', gap: 10, borderTop: i === 0 ? 'none' : '1px solid rgba(255,255,255,0.1)' }}&gt;&#10;                &lt;Text style={{ fontSize: 12, fontWeight: 'bold', color: '#FA4F24', width: 116 }}&gt;{it.b}&lt;/Text&gt;&#10;                &lt;Text style={{ fontSize: 11.5, color: 'rgba(255,255,255,0.85)', flex: 1 }}&gt;{it.t}&lt;/Text&gt;&#10;              &lt;/Box&gt;&#10;            ))}&#10;          &lt;/Box&gt;&#10;        &lt;/Box&gt;&#10;&#10;        &lt;Box style={{ flex: 1, background: '#FFF3EE', borderRadius: 4, borderLeft: '4px solid #FA4F24', padding: '13px 16px', flexDirection: 'column' }}&gt;&#10;          &lt;Text style={{ fontSize: 14, fontWeight: 'bold', color: '#C43A17' }}&gt;管道作为业务应用的三个标志&lt;/Text&gt;&#10;          &lt;Box style={{ flex: 1, flexDirection: 'column', marginTop: 10 }}&gt;&#10;            {[&#10;              { t: '有业务产出物', d: '映射表、血缘矩阵、发布记录都是业务与技术共用的资产，不是运维日志' },&#10;              { t: '有生命周期', d: '设计、建设、运行、演进、退役五个阶段，每个阶段有进入条件和退出条件' },&#10;              { t: '有服务对象', d: '服务本体、知识库、Agent 三类内部客户，各自的需求和验收标准不同' },&#10;              { t: '可被审计', d: '谁来过、谁批的、谁停的、谁退役的，全部留痕，可复盘' },&#10;            ].map((it, i) =&gt; (&#10;              &lt;Box key={it.t} style={{ flex: 1, flexDirection: 'column', justifyContent: 'center', borderTop: i === 0 ? 'none' : '1px solid #FBA15C' }}&gt;&#10;                &lt;Text style={{ fontSize: 12.5, fontWeight: 'bold', color: '#0F1423' }}&gt;{it.t}&lt;/Text&gt;&#10;                &lt;Text style={{ fontSize: 11.5, color: '#3A4050', marginTop: 3, lineHeight: 1.45 }}&gt;{it.d}&lt;/Text&gt;&#10;              &lt;/Box&gt;&#10;            ))}&#10;          &lt;/Box&gt;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23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>BA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：管道处理管什么、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谁负责、什么时候停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管道一旦成为应用，就必须有业务责任人，否则口径争议永远无法收敛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89" name=""/>
          <p:cNvSpPr/>
          <p:nvPr/>
        </p:nvSpPr>
        <p:spPr>
          <a:xfrm rot="0" flipH="0" flipV="0">
            <a:off x="609600" y="1314450"/>
            <a:ext cx="3590925" cy="1428750"/>
          </a:xfrm>
          <a:prstGeom prst="roundRect">
            <a:avLst>
              <a:gd name="adj" fmla="val 2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90" name=""/>
          <p:cNvSpPr/>
          <p:nvPr/>
        </p:nvSpPr>
        <p:spPr>
          <a:xfrm rot="0" flipH="0" flipV="0">
            <a:off x="609600" y="1314450"/>
            <a:ext cx="3590925" cy="1428750"/>
          </a:xfrm>
          <a:custGeom>
            <a:pathLst>
              <a:path w="377" h="150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cubicBezTo>
                  <a:pt x="377" y="3"/>
                  <a:pt x="376" y="3"/>
                  <a:pt x="376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742950" y="1419225"/>
            <a:ext cx="3324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管什么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742950" y="1666875"/>
            <a:ext cx="3324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三件东西必须被明确托管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742950" y="1866900"/>
            <a:ext cx="332422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口径：某个指标按哪个定义算。边界：哪些数据允许进、允许出。时效：多久算过期，承诺几个小时。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4295775" y="1314450"/>
            <a:ext cx="3600450" cy="1428750"/>
          </a:xfrm>
          <a:prstGeom prst="roundRect">
            <a:avLst>
              <a:gd name="adj" fmla="val 2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95" name=""/>
          <p:cNvSpPr/>
          <p:nvPr/>
        </p:nvSpPr>
        <p:spPr>
          <a:xfrm rot="0" flipH="0" flipV="0">
            <a:off x="4295775" y="1314450"/>
            <a:ext cx="3600450" cy="1428750"/>
          </a:xfrm>
          <a:custGeom>
            <a:pathLst>
              <a:path w="378" h="150">
                <a:moveTo>
                  <a:pt x="374" y="0"/>
                </a:moveTo>
                <a:cubicBezTo>
                  <a:pt x="376" y="0"/>
                  <a:pt x="378" y="2"/>
                  <a:pt x="378" y="4"/>
                </a:cubicBezTo>
                <a:cubicBezTo>
                  <a:pt x="378" y="3"/>
                  <a:pt x="377" y="3"/>
                  <a:pt x="377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4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4429125" y="1419225"/>
            <a:ext cx="3333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7D2F"/>
                </a:solidFill>
                <a:latin typeface="Microsoft YaHei"/>
                <a:ea typeface="Microsoft YaHei"/>
              </a:rPr>
              <a:t>谁负责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4429125" y="1666875"/>
            <a:ext cx="3333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四类角色，缺一不可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4429125" y="1866900"/>
            <a:ext cx="333375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口径责任人、业务数据责任人、管道运维责任人、上线审批人。四个人的签字不能由一个人代。</a:t>
            </a:r>
            <a:endParaRPr/>
          </a:p>
        </p:txBody>
      </p:sp>
      <p:sp>
        <p:nvSpPr>
          <p:cNvPr id="699" name=""/>
          <p:cNvSpPr/>
          <p:nvPr/>
        </p:nvSpPr>
        <p:spPr>
          <a:xfrm rot="0" flipH="0" flipV="0">
            <a:off x="7991475" y="1314450"/>
            <a:ext cx="3590925" cy="1428750"/>
          </a:xfrm>
          <a:prstGeom prst="roundRect">
            <a:avLst>
              <a:gd name="adj" fmla="val 2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00" name=""/>
          <p:cNvSpPr/>
          <p:nvPr/>
        </p:nvSpPr>
        <p:spPr>
          <a:xfrm rot="0" flipH="0" flipV="0">
            <a:off x="7991475" y="1314450"/>
            <a:ext cx="3590925" cy="1428750"/>
          </a:xfrm>
          <a:custGeom>
            <a:pathLst>
              <a:path w="377" h="150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cubicBezTo>
                  <a:pt x="377" y="3"/>
                  <a:pt x="376" y="3"/>
                  <a:pt x="376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8124825" y="1419225"/>
            <a:ext cx="3324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651A"/>
                </a:solidFill>
                <a:latin typeface="Microsoft YaHei"/>
                <a:ea typeface="Microsoft YaHei"/>
              </a:rPr>
              <a:t>什么时候停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8124825" y="1666875"/>
            <a:ext cx="3324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三类必须停的硬条件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8124825" y="1866900"/>
            <a:ext cx="332422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健康检查连续失败、映射质量不达标、下游出现口径争议且无法裁决。停的条件要写在发布检查表里。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609600" y="2809875"/>
            <a:ext cx="5438775" cy="2828925"/>
          </a:xfrm>
          <a:prstGeom prst="roundRect">
            <a:avLst>
              <a:gd name="adj" fmla="val 134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762000" y="2933700"/>
            <a:ext cx="513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能力与组织解耦：四个角色不等于四个人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762000" y="3162300"/>
            <a:ext cx="51339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大多数企业里这四个角色会压在两三个人身上。咨询要做的不是增编，而是让责任在组织图上显式存在——写进岗位说明、写进发布检查表的签字栏、写进值班表。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762000" y="3838575"/>
            <a:ext cx="1104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口径责任人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1962150" y="3838575"/>
            <a:ext cx="393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业务侧，决定定义并裁决冲突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762000" y="4133850"/>
            <a:ext cx="5133975" cy="466725"/>
          </a:xfrm>
          <a:custGeom>
            <a:pathLst>
              <a:path w="539" h="49">
                <a:moveTo>
                  <a:pt x="0" y="0"/>
                </a:moveTo>
                <a:lnTo>
                  <a:pt x="539" y="0"/>
                </a:lnTo>
                <a:lnTo>
                  <a:pt x="53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762000" y="4295775"/>
            <a:ext cx="1104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业务数据责任人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1962150" y="4305300"/>
            <a:ext cx="393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业务侧，确认数据符合业务现实</a:t>
            </a:r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762000" y="4591050"/>
            <a:ext cx="5133975" cy="476250"/>
          </a:xfrm>
          <a:custGeom>
            <a:pathLst>
              <a:path w="539" h="50">
                <a:moveTo>
                  <a:pt x="0" y="0"/>
                </a:moveTo>
                <a:lnTo>
                  <a:pt x="539" y="0"/>
                </a:lnTo>
                <a:lnTo>
                  <a:pt x="53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762000" y="4762500"/>
            <a:ext cx="1104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管道运维责任人</a:t>
            </a:r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1962150" y="4762500"/>
            <a:ext cx="393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技术侧，负责运行、值班、回滚</a:t>
            </a:r>
            <a:endParaRPr/>
          </a:p>
        </p:txBody>
      </p:sp>
      <p:sp>
        <p:nvSpPr>
          <p:cNvPr id="715" name=""/>
          <p:cNvSpPr/>
          <p:nvPr/>
        </p:nvSpPr>
        <p:spPr>
          <a:xfrm rot="0" flipH="0" flipV="0">
            <a:off x="762000" y="5057775"/>
            <a:ext cx="5133975" cy="466725"/>
          </a:xfrm>
          <a:custGeom>
            <a:pathLst>
              <a:path w="539" h="49">
                <a:moveTo>
                  <a:pt x="0" y="0"/>
                </a:moveTo>
                <a:lnTo>
                  <a:pt x="539" y="0"/>
                </a:lnTo>
                <a:lnTo>
                  <a:pt x="53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762000" y="5219700"/>
            <a:ext cx="1104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上线审批人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1962150" y="5229225"/>
            <a:ext cx="393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双方联合，对发布与停用负责</a:t>
            </a:r>
            <a:endParaRPr/>
          </a:p>
        </p:txBody>
      </p:sp>
      <p:sp>
        <p:nvSpPr>
          <p:cNvPr id="718" name=""/>
          <p:cNvSpPr/>
          <p:nvPr/>
        </p:nvSpPr>
        <p:spPr>
          <a:xfrm rot="0" flipH="0" flipV="0">
            <a:off x="6181725" y="2809875"/>
            <a:ext cx="5438775" cy="2828925"/>
          </a:xfrm>
          <a:prstGeom prst="roundRect">
            <a:avLst>
              <a:gd name="adj" fmla="val 134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19" name=""/>
          <p:cNvSpPr/>
          <p:nvPr/>
        </p:nvSpPr>
        <p:spPr>
          <a:xfrm rot="0" flipH="0" flipV="0">
            <a:off x="6181725" y="2809875"/>
            <a:ext cx="5438775" cy="2828925"/>
          </a:xfrm>
          <a:custGeom>
            <a:pathLst>
              <a:path w="571" h="297">
                <a:moveTo>
                  <a:pt x="4" y="297"/>
                </a:moveTo>
                <a:cubicBezTo>
                  <a:pt x="2" y="297"/>
                  <a:pt x="0" y="295"/>
                  <a:pt x="0" y="29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9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6334125" y="2933700"/>
            <a:ext cx="509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管道作为业务应用的三个标志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6334125" y="3295650"/>
            <a:ext cx="5095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有业务产出物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6334125" y="3467100"/>
            <a:ext cx="50958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映射表、血缘矩阵、发布记录都是业务与技术共用的资产，不是运维日志</a:t>
            </a:r>
            <a:endParaRPr/>
          </a:p>
        </p:txBody>
      </p:sp>
      <p:sp>
        <p:nvSpPr>
          <p:cNvPr id="723" name=""/>
          <p:cNvSpPr/>
          <p:nvPr/>
        </p:nvSpPr>
        <p:spPr>
          <a:xfrm rot="0" flipH="0" flipV="0">
            <a:off x="6334125" y="3762375"/>
            <a:ext cx="5095875" cy="600075"/>
          </a:xfrm>
          <a:custGeom>
            <a:pathLst>
              <a:path w="535" h="63">
                <a:moveTo>
                  <a:pt x="0" y="0"/>
                </a:moveTo>
                <a:lnTo>
                  <a:pt x="535" y="0"/>
                </a:lnTo>
                <a:lnTo>
                  <a:pt x="535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6334125" y="3876675"/>
            <a:ext cx="5095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有生命周期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6334125" y="4048125"/>
            <a:ext cx="50958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设计、建设、运行、演进、退役五个阶段，每个阶段有进入条件和退出条件</a:t>
            </a:r>
            <a:endParaRPr/>
          </a:p>
        </p:txBody>
      </p:sp>
      <p:sp>
        <p:nvSpPr>
          <p:cNvPr id="726" name=""/>
          <p:cNvSpPr/>
          <p:nvPr/>
        </p:nvSpPr>
        <p:spPr>
          <a:xfrm rot="0" flipH="0" flipV="0">
            <a:off x="6334125" y="4352925"/>
            <a:ext cx="5095875" cy="590550"/>
          </a:xfrm>
          <a:custGeom>
            <a:pathLst>
              <a:path w="535" h="62">
                <a:moveTo>
                  <a:pt x="0" y="0"/>
                </a:moveTo>
                <a:lnTo>
                  <a:pt x="535" y="0"/>
                </a:lnTo>
                <a:lnTo>
                  <a:pt x="535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6334125" y="4467225"/>
            <a:ext cx="5095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有服务对象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6334125" y="4638675"/>
            <a:ext cx="50958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服务本体、知识库、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三类内部客户，各自的需求和验收标准不同</a:t>
            </a:r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6334125" y="4933950"/>
            <a:ext cx="5095875" cy="590550"/>
          </a:xfrm>
          <a:custGeom>
            <a:pathLst>
              <a:path w="535" h="62">
                <a:moveTo>
                  <a:pt x="0" y="0"/>
                </a:moveTo>
                <a:lnTo>
                  <a:pt x="535" y="0"/>
                </a:lnTo>
                <a:lnTo>
                  <a:pt x="535" y="1"/>
                </a:lnTo>
                <a:lnTo>
                  <a:pt x="0" y="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6334125" y="5048250"/>
            <a:ext cx="5095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可被审计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6334125" y="5219700"/>
            <a:ext cx="50958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谁来过、谁批的、谁停的、谁退役的，全部留痕，可复盘</a:t>
            </a:r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733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23 / 30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736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DA：管道处理的&lt;span style={{ color: '#FA4F24' }}&gt;三层数据&lt;/span&gt;与十二项必建模元数据&#10;      &lt;/Text&gt;&#10;      &lt;Text style={{ fontSize: 20, color: '#8A8F99', marginTop: 8 }}&gt;&#10;        数据架构在管道里的作用不是画图，而是规定哪一层的数据可以被谁碰&#10;      &lt;/Text&gt;&#10;    &lt;/Box&gt;&#10;    &lt;Box style={{ height: 1, background: '#E8E8E8' }} /&gt;&#10;&#10;    &lt;Box style={{ paddingTop: 14, paddingBottom: 8, height: 479, flexDirection: 'column', gap: 10 }}&gt;&#10;      {/* 三层 */}&#10;      &lt;Box style={{ height: 158, flexDirection: 'row', gap: 10 }}&gt;&#10;        {[&#10;          { n: '贴源层', s: 'Raw / Staging', d: '从源系统搬过来的原始形态，尽量不加工。唯一动作是落地与记录事务。', r: '谁能改：任何人不许改，只能新增版本', c: '#8A8F99' },&#10;          { n: '明细层', s: 'Curated', d: '清洗、标准化、去重、映射后的中间数据集，是本体映射的直接输入。', r: '谁能改：管道维护者，改动必须过发布流程', c: '#F87D2F' },&#10;          { n: '语义层', s: 'Semantic', d: '已映射成对象类型与链接类型的数据，带着业务语义、血缘与密级。', r: '谁能改：仅逻辑函数，且必须审批与留版本', c: '#FA4F24' },&#10;        ].map((it, i) =&gt; (&#10;          &lt;Box key={it.n} style={{ flex: 1, background: '#F7F7F8', borderRadius: 4, borderLeft: '4px solid ' + it.c, padding: '12px 15px', flexDirection: 'column' }}&gt;&#10;            &lt;Text style={{ fontSize: 16, fontWeight: 'bold', color: it.c }}&gt;{it.n}&lt;/Text&gt;&#10;            &lt;Text style={{ fontSize: 11, color: '#8A8F99', marginTop: 3 }}&gt;{it.s}&lt;/Text&gt;&#10;            &lt;Text style={{ fontSize: 12, color: '#3A4050', marginTop: 7, lineHeight: 1.5 }}&gt;{it.d}&lt;/Text&gt;&#10;            &lt;Box style={{ flex: 1, background: '#FFFFFF', borderRadius: 3, padding: '6px 9px', marginTop: 8, justifyContent: 'center' }}&gt;&#10;              &lt;Text style={{ fontSize: 11, color: '#0F1423', lineHeight: 1.4 }}&gt;{it.r}&lt;/Text&gt;&#10;            &lt;/Box&gt;&#10;          &lt;/Box&gt;&#10;        ))}&#10;      &lt;/Box&gt;&#10;&#10;      {/* 十二项元数据 */}&#10;      &lt;Box style={{ flex: 1, background: '#0F1423', borderRadius: 4, padding: '13px 18px', flexDirection: 'column' }}&gt;&#10;        &lt;Text style={{ fontSize: 14, fontWeight: 'bold', color: '#FBA15C' }}&gt;管道上生产的十二项必建模元数据&lt;/Text&gt;&#10;        &lt;Box style={{ flex: 1, flexDirection: 'row', gap: 8, marginTop: 10 }}&gt;&#10;          &lt;Box style={{ flex: 1, flexDirection: 'column', gap: 6 }}&gt;&#10;            {[&#10;              { n: '01', t: '业务唯一标识', d: '对象的主键来自哪个字段' },&#10;              { n: '02', t: '口径定义', d: '指标的算法与统计范围' },&#10;              { n: '03', t: '更新时间戳', d: '事件时间与加载时间分开记' },&#10;              { n: '04', t: '事务边界', d: '哪一次同步、哪一个版本' },&#10;              { n: '05', t: '来源标识', d: '源系统、源表、源字段' },&#10;              { n: '06', t: '血缘关系', d: '表级、字段级、任务级三层' },&#10;            ].map((it, i) =&gt; (&#10;              &lt;Box key={it.n} style={{ flex: 1, background: 'rgba(255,255,255,0.07)', borderRadius: 3, padding: '0 10px', flexDirection: 'row', alignItems: 'center', gap: 9 }}&gt;&#10;                &lt;Text style={{ fontSize: 12, fontWeight: 'bold', color: '#FA4F24', width: 20 }}&gt;{it.n}&lt;/Text&gt;&#10;                &lt;Box style={{ flex: 1, flexDirection: 'column' }}&gt;&#10;                  &lt;Text style={{ fontSize: 12, color: '#FFFFFF' }}&gt;{it.t}&lt;/Text&gt;&#10;                  &lt;Text style={{ fontSize: 10.5, color: 'rgba(255,255,255,0.55)', marginTop: 1 }}&gt;{it.d}&lt;/Text&gt;&#10;                &lt;/Box&gt;&#10;              &lt;/Box&gt;&#10;            ))}&#10;          &lt;/Box&gt;&#10;          &lt;Box style={{ flex: 1, flexDirection: 'column', gap: 6 }}&gt;&#10;            {[&#10;              { n: '07', t: '密级与访问策略', d: '字段级分类级控制标记' },&#10;              { n: '08', t: '时效承诺', d: '多久算过期，可否用于判定' },&#10;              { n: '09', t: '质量检查结果', d: '五类健康检查的最近结论' },&#10;              { n: '10', t: '计算模式', d: '快照还是增量，事务类型' },&#10;              { n: '11', t: '依赖与影响面', d: '上游是谁、下游受谁影响' },&#10;              { n: '12', t: '退役标记', d: '是否已废弃、替代者是谁' },&#10;            ].map((it, i) =&gt; (&#10;              &lt;Box key={it.n} style={{ flex: 1, background: 'rgba(255,255,255,0.07)', borderRadius: 3, padding: '0 10px', flexDirection: 'row', alignItems: 'center', gap: 9 }}&gt;&#10;                &lt;Text style={{ fontSize: 12, fontWeight: 'bold', color: '#FA4F24', width: 20 }}&gt;{it.n}&lt;/Text&gt;&#10;                &lt;Box style={{ flex: 1, flexDirection: 'column' }}&gt;&#10;                  &lt;Text style={{ fontSize: 12, color: '#FFFFFF' }}&gt;{it.t}&lt;/Text&gt;&#10;                  &lt;Text style={{ fontSize: 10.5, color: 'rgba(255,255,255,0.55)', marginTop: 1 }}&gt;{it.d}&lt;/Text&gt;&#10;                &lt;/Box&gt;&#10;              &lt;/Box&gt;&#10;            ))}&#10;          &lt;/Box&gt;&#10;        &lt;/Box&gt;&#10;        &lt;Text style={{ fontSize: 11, color: 'rgba(255,255,255,0.6)', marginTop: 9, lineHeight: 1.45 }}&gt;&#10;          这十二项必须由管道自动产出，不允许人工维护。第10 项计算模式与第 12 项退役标记是管道独有的两项，其他应用架构里找不到对应物。&#10;        &lt;/Text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24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>DA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：管道处理的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三层数据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与十二项必建模元数据</a:t>
            </a:r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数据架构在管道里的作用不是画图，而是规定哪一层的数据可以被谁碰</a:t>
            </a:r>
            <a:endParaRPr/>
          </a:p>
        </p:txBody>
      </p:sp>
      <p:sp>
        <p:nvSpPr>
          <p:cNvPr id="74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41" name=""/>
          <p:cNvSpPr/>
          <p:nvPr/>
        </p:nvSpPr>
        <p:spPr>
          <a:xfrm rot="0" flipH="0" flipV="0">
            <a:off x="647700" y="1285875"/>
            <a:ext cx="3590925" cy="1504950"/>
          </a:xfrm>
          <a:prstGeom prst="roundRect">
            <a:avLst>
              <a:gd name="adj" fmla="val 253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42" name=""/>
          <p:cNvSpPr/>
          <p:nvPr/>
        </p:nvSpPr>
        <p:spPr>
          <a:xfrm rot="0" flipH="0" flipV="0">
            <a:off x="647700" y="1285875"/>
            <a:ext cx="3590925" cy="1504950"/>
          </a:xfrm>
          <a:custGeom>
            <a:pathLst>
              <a:path w="377" h="158">
                <a:moveTo>
                  <a:pt x="4" y="158"/>
                </a:moveTo>
                <a:cubicBezTo>
                  <a:pt x="2" y="158"/>
                  <a:pt x="0" y="156"/>
                  <a:pt x="0" y="15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8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790575" y="1400175"/>
            <a:ext cx="3267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8A8F99"/>
                </a:solidFill>
                <a:latin typeface="Microsoft YaHei"/>
                <a:ea typeface="Microsoft YaHei"/>
              </a:rPr>
              <a:t>贴源层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790575" y="1619250"/>
            <a:ext cx="3267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Raw / Staging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790575" y="1819275"/>
            <a:ext cx="32670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从源系统搬过来的原始形态，尽量不加工。唯一动作是落地与记录事务。</a:t>
            </a:r>
            <a:endParaRPr/>
          </a:p>
        </p:txBody>
      </p:sp>
      <p:sp>
        <p:nvSpPr>
          <p:cNvPr id="746" name=""/>
          <p:cNvSpPr/>
          <p:nvPr/>
        </p:nvSpPr>
        <p:spPr>
          <a:xfrm rot="0" flipH="0" flipV="0">
            <a:off x="790575" y="2314575"/>
            <a:ext cx="3267075" cy="36195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876300" y="2409825"/>
            <a:ext cx="30956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0F1423"/>
                </a:solidFill>
                <a:latin typeface="Microsoft YaHei"/>
                <a:ea typeface="Microsoft YaHei"/>
              </a:rPr>
              <a:t>谁能改：任何人不许改，只能新增版本</a:t>
            </a:r>
            <a:endParaRPr/>
          </a:p>
        </p:txBody>
      </p:sp>
      <p:sp>
        <p:nvSpPr>
          <p:cNvPr id="748" name=""/>
          <p:cNvSpPr/>
          <p:nvPr/>
        </p:nvSpPr>
        <p:spPr>
          <a:xfrm rot="0" flipH="0" flipV="0">
            <a:off x="4333875" y="1285875"/>
            <a:ext cx="3600450" cy="1504950"/>
          </a:xfrm>
          <a:prstGeom prst="roundRect">
            <a:avLst>
              <a:gd name="adj" fmla="val 253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49" name=""/>
          <p:cNvSpPr/>
          <p:nvPr/>
        </p:nvSpPr>
        <p:spPr>
          <a:xfrm rot="0" flipH="0" flipV="0">
            <a:off x="4333875" y="1285875"/>
            <a:ext cx="3600450" cy="1504950"/>
          </a:xfrm>
          <a:custGeom>
            <a:pathLst>
              <a:path w="378" h="158">
                <a:moveTo>
                  <a:pt x="4" y="158"/>
                </a:moveTo>
                <a:cubicBezTo>
                  <a:pt x="2" y="158"/>
                  <a:pt x="0" y="156"/>
                  <a:pt x="0" y="15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8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4476750" y="1400175"/>
            <a:ext cx="327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7D2F"/>
                </a:solidFill>
                <a:latin typeface="Microsoft YaHei"/>
                <a:ea typeface="Microsoft YaHei"/>
              </a:rPr>
              <a:t>明细层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4476750" y="1619250"/>
            <a:ext cx="3276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Curated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4476750" y="1819275"/>
            <a:ext cx="32766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清洗、标准化、去重、映射后的中间数据集，是本体映射的直接输入。</a:t>
            </a:r>
            <a:endParaRPr/>
          </a:p>
        </p:txBody>
      </p:sp>
      <p:sp>
        <p:nvSpPr>
          <p:cNvPr id="753" name=""/>
          <p:cNvSpPr/>
          <p:nvPr/>
        </p:nvSpPr>
        <p:spPr>
          <a:xfrm rot="0" flipH="0" flipV="0">
            <a:off x="4476750" y="2314575"/>
            <a:ext cx="3276600" cy="36195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4562475" y="2409825"/>
            <a:ext cx="31051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0F1423"/>
                </a:solidFill>
                <a:latin typeface="Microsoft YaHei"/>
                <a:ea typeface="Microsoft YaHei"/>
              </a:rPr>
              <a:t>谁能改：管道维护者，改动必须过发布流程</a:t>
            </a:r>
            <a:endParaRPr/>
          </a:p>
        </p:txBody>
      </p:sp>
      <p:sp>
        <p:nvSpPr>
          <p:cNvPr id="755" name=""/>
          <p:cNvSpPr/>
          <p:nvPr/>
        </p:nvSpPr>
        <p:spPr>
          <a:xfrm rot="0" flipH="0" flipV="0">
            <a:off x="8029575" y="1285875"/>
            <a:ext cx="3590925" cy="1504950"/>
          </a:xfrm>
          <a:prstGeom prst="roundRect">
            <a:avLst>
              <a:gd name="adj" fmla="val 253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56" name=""/>
          <p:cNvSpPr/>
          <p:nvPr/>
        </p:nvSpPr>
        <p:spPr>
          <a:xfrm rot="0" flipH="0" flipV="0">
            <a:off x="8029575" y="1285875"/>
            <a:ext cx="3590925" cy="1504950"/>
          </a:xfrm>
          <a:custGeom>
            <a:pathLst>
              <a:path w="377" h="158">
                <a:moveTo>
                  <a:pt x="4" y="158"/>
                </a:moveTo>
                <a:cubicBezTo>
                  <a:pt x="2" y="158"/>
                  <a:pt x="0" y="156"/>
                  <a:pt x="0" y="15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8172450" y="1400175"/>
            <a:ext cx="3267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语义层</a:t>
            </a:r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8172450" y="1619250"/>
            <a:ext cx="3267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Semantic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8172450" y="1819275"/>
            <a:ext cx="32670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已映射成对象类型与链接类型的数据，带着业务语义、血缘与密级。</a:t>
            </a:r>
            <a:endParaRPr/>
          </a:p>
        </p:txBody>
      </p:sp>
      <p:sp>
        <p:nvSpPr>
          <p:cNvPr id="760" name=""/>
          <p:cNvSpPr/>
          <p:nvPr/>
        </p:nvSpPr>
        <p:spPr>
          <a:xfrm rot="0" flipH="0" flipV="0">
            <a:off x="8172450" y="2314575"/>
            <a:ext cx="3267075" cy="36195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8258175" y="2409825"/>
            <a:ext cx="30956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0F1423"/>
                </a:solidFill>
                <a:latin typeface="Microsoft YaHei"/>
                <a:ea typeface="Microsoft YaHei"/>
              </a:rPr>
              <a:t>谁能改：仅逻辑函数，且必须审批与留版本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609600" y="2886075"/>
            <a:ext cx="10972800" cy="2752725"/>
          </a:xfrm>
          <a:prstGeom prst="roundRect">
            <a:avLst>
              <a:gd name="adj" fmla="val 138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781050" y="3009900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管道上生产的十二项必建模元数据</a:t>
            </a:r>
            <a:endParaRPr/>
          </a:p>
        </p:txBody>
      </p:sp>
      <p:sp>
        <p:nvSpPr>
          <p:cNvPr id="764" name=""/>
          <p:cNvSpPr/>
          <p:nvPr/>
        </p:nvSpPr>
        <p:spPr>
          <a:xfrm rot="0" flipH="0" flipV="0">
            <a:off x="781050" y="3267075"/>
            <a:ext cx="5276850" cy="285750"/>
          </a:xfrm>
          <a:prstGeom prst="roundRect">
            <a:avLst>
              <a:gd name="adj" fmla="val 1000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876300" y="3343275"/>
            <a:ext cx="19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1152525" y="3276600"/>
            <a:ext cx="4810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业务唯一标识</a:t>
            </a:r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1152525" y="3429000"/>
            <a:ext cx="4810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对象的主键来自哪个字段</a:t>
            </a:r>
            <a:endParaRPr/>
          </a:p>
        </p:txBody>
      </p:sp>
      <p:sp>
        <p:nvSpPr>
          <p:cNvPr id="768" name=""/>
          <p:cNvSpPr/>
          <p:nvPr/>
        </p:nvSpPr>
        <p:spPr>
          <a:xfrm rot="0" flipH="0" flipV="0">
            <a:off x="781050" y="3609975"/>
            <a:ext cx="5276850" cy="276225"/>
          </a:xfrm>
          <a:prstGeom prst="roundRect">
            <a:avLst>
              <a:gd name="adj" fmla="val 1034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876300" y="3676650"/>
            <a:ext cx="19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1152525" y="3609975"/>
            <a:ext cx="4810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口径定义</a:t>
            </a:r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1152525" y="3762375"/>
            <a:ext cx="4810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指标的算法与统计范围</a:t>
            </a:r>
            <a:endParaRPr/>
          </a:p>
        </p:txBody>
      </p:sp>
      <p:sp>
        <p:nvSpPr>
          <p:cNvPr id="772" name=""/>
          <p:cNvSpPr/>
          <p:nvPr/>
        </p:nvSpPr>
        <p:spPr>
          <a:xfrm rot="0" flipH="0" flipV="0">
            <a:off x="781050" y="3943350"/>
            <a:ext cx="5276850" cy="285750"/>
          </a:xfrm>
          <a:prstGeom prst="roundRect">
            <a:avLst>
              <a:gd name="adj" fmla="val 1000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876300" y="4019550"/>
            <a:ext cx="19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1152525" y="3952875"/>
            <a:ext cx="4810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更新时间戳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1152525" y="4105275"/>
            <a:ext cx="4810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事件时间与加载时间分开记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781050" y="4286250"/>
            <a:ext cx="5276850" cy="276225"/>
          </a:xfrm>
          <a:prstGeom prst="roundRect">
            <a:avLst>
              <a:gd name="adj" fmla="val 1034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876300" y="4352925"/>
            <a:ext cx="19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1152525" y="4286250"/>
            <a:ext cx="4810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事务边界</a:t>
            </a:r>
            <a:endParaRPr/>
          </a:p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1152525" y="4438650"/>
            <a:ext cx="4810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哪一次同步、哪一个版本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781050" y="4619625"/>
            <a:ext cx="5276850" cy="285750"/>
          </a:xfrm>
          <a:prstGeom prst="roundRect">
            <a:avLst>
              <a:gd name="adj" fmla="val 1000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876300" y="4695825"/>
            <a:ext cx="19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1152525" y="4629150"/>
            <a:ext cx="4810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来源标识</a:t>
            </a:r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1152525" y="4781550"/>
            <a:ext cx="4810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源系统、源表、源字段</a:t>
            </a:r>
            <a:endParaRPr/>
          </a:p>
        </p:txBody>
      </p:sp>
      <p:sp>
        <p:nvSpPr>
          <p:cNvPr id="784" name=""/>
          <p:cNvSpPr/>
          <p:nvPr/>
        </p:nvSpPr>
        <p:spPr>
          <a:xfrm rot="0" flipH="0" flipV="0">
            <a:off x="781050" y="4962525"/>
            <a:ext cx="5276850" cy="276225"/>
          </a:xfrm>
          <a:prstGeom prst="roundRect">
            <a:avLst>
              <a:gd name="adj" fmla="val 1034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876300" y="5029200"/>
            <a:ext cx="19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1152525" y="4962525"/>
            <a:ext cx="4810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血缘关系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1152525" y="5114925"/>
            <a:ext cx="4810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表级、字段级、任务级三层</a:t>
            </a:r>
            <a:endParaRPr/>
          </a:p>
        </p:txBody>
      </p:sp>
      <p:sp>
        <p:nvSpPr>
          <p:cNvPr id="788" name=""/>
          <p:cNvSpPr/>
          <p:nvPr/>
        </p:nvSpPr>
        <p:spPr>
          <a:xfrm rot="0" flipH="0" flipV="0">
            <a:off x="6134100" y="3267075"/>
            <a:ext cx="5276850" cy="285750"/>
          </a:xfrm>
          <a:prstGeom prst="roundRect">
            <a:avLst>
              <a:gd name="adj" fmla="val 1000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6229350" y="3343275"/>
            <a:ext cx="19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6505575" y="3276600"/>
            <a:ext cx="4810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密级与访问策略</a:t>
            </a:r>
            <a:endParaRPr/>
          </a:p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6505575" y="3429000"/>
            <a:ext cx="4810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字段级分类级控制标记</a:t>
            </a:r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6134100" y="3609975"/>
            <a:ext cx="5276850" cy="276225"/>
          </a:xfrm>
          <a:prstGeom prst="roundRect">
            <a:avLst>
              <a:gd name="adj" fmla="val 1034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6229350" y="3676650"/>
            <a:ext cx="19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6505575" y="3609975"/>
            <a:ext cx="4810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时效承诺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6505575" y="3762375"/>
            <a:ext cx="4810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多久算过期，可否用于判定</a:t>
            </a:r>
            <a:endParaRPr/>
          </a:p>
        </p:txBody>
      </p:sp>
      <p:sp>
        <p:nvSpPr>
          <p:cNvPr id="796" name=""/>
          <p:cNvSpPr/>
          <p:nvPr/>
        </p:nvSpPr>
        <p:spPr>
          <a:xfrm rot="0" flipH="0" flipV="0">
            <a:off x="6134100" y="3943350"/>
            <a:ext cx="5276850" cy="285750"/>
          </a:xfrm>
          <a:prstGeom prst="roundRect">
            <a:avLst>
              <a:gd name="adj" fmla="val 1000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6229350" y="4019550"/>
            <a:ext cx="19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09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6505575" y="3952875"/>
            <a:ext cx="4810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质量检查结果</a:t>
            </a:r>
            <a:endParaRPr/>
          </a:p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6505575" y="4105275"/>
            <a:ext cx="4810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五类健康检查的最近结论</a:t>
            </a:r>
            <a:endParaRPr/>
          </a:p>
        </p:txBody>
      </p:sp>
      <p:sp>
        <p:nvSpPr>
          <p:cNvPr id="800" name=""/>
          <p:cNvSpPr/>
          <p:nvPr/>
        </p:nvSpPr>
        <p:spPr>
          <a:xfrm rot="0" flipH="0" flipV="0">
            <a:off x="6134100" y="4286250"/>
            <a:ext cx="5276850" cy="276225"/>
          </a:xfrm>
          <a:prstGeom prst="roundRect">
            <a:avLst>
              <a:gd name="adj" fmla="val 1034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6229350" y="4352925"/>
            <a:ext cx="19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6505575" y="4286250"/>
            <a:ext cx="4810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计算模式</a:t>
            </a:r>
            <a:endParaRPr/>
          </a:p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6505575" y="4438650"/>
            <a:ext cx="4810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快照还是增量，事务类型</a:t>
            </a:r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6134100" y="4619625"/>
            <a:ext cx="5276850" cy="285750"/>
          </a:xfrm>
          <a:prstGeom prst="roundRect">
            <a:avLst>
              <a:gd name="adj" fmla="val 1000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6229350" y="4695825"/>
            <a:ext cx="19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6505575" y="4629150"/>
            <a:ext cx="4810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依赖与影响面</a:t>
            </a:r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6505575" y="4781550"/>
            <a:ext cx="4810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上游是谁、下游受谁影响</a:t>
            </a:r>
            <a:endParaRPr/>
          </a:p>
        </p:txBody>
      </p:sp>
      <p:sp>
        <p:nvSpPr>
          <p:cNvPr id="808" name=""/>
          <p:cNvSpPr/>
          <p:nvPr/>
        </p:nvSpPr>
        <p:spPr>
          <a:xfrm rot="0" flipH="0" flipV="0">
            <a:off x="6134100" y="4962525"/>
            <a:ext cx="5276850" cy="276225"/>
          </a:xfrm>
          <a:prstGeom prst="roundRect">
            <a:avLst>
              <a:gd name="adj" fmla="val 1034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6229350" y="5029200"/>
            <a:ext cx="19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6505575" y="4962525"/>
            <a:ext cx="4810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退役标记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6505575" y="5114925"/>
            <a:ext cx="4810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是否已废弃、替代者是谁</a:t>
            </a:r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781050" y="5324475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这十二项必须由管道自动产出，不允许人工维护。第</a:t>
            </a:r>
            <a:r>
              <a:rPr lang="en-US" sz="8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8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项计算模式与第</a:t>
            </a:r>
            <a:r>
              <a:rPr lang="en-US" sz="8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8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项退役标记是管道独有的两项，其他应用架构里找不到对应物。</a:t>
            </a:r>
            <a:endParaRPr/>
          </a:p>
        </p:txBody>
      </p:sp>
      <p:sp>
        <p:nvSpPr>
          <p:cNvPr id="81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1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24 / 30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817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AA：管道&lt;span style={{ color: '#FA4F24' }}&gt;拓扑&lt;/span&gt;与调用编排&#10;      &lt;/Text&gt;&#10;      &lt;Text style={{ fontSize: 20, color: '#8A8F99', marginTop: 8 }}&gt;&#10;        应用数量增长会带来技术债，管道数量增长带来的是「数据不一致的技术债」，后者更难发现&#10;      &lt;/Text&gt;&#10;    &lt;/Box&gt;&#10;    &lt;Box style={{ height: 1, background: '#E8E8E8' }} /&gt;&#10;&#10;    &lt;Box style={{ paddingTop: 14, paddingBottom: 8, height: 479, flexDirection: 'column', gap: 10 }}&gt;&#10;      {/* 拓扑 */}&#10;      &lt;Box style={{ height: 244, background: '#0F1423', borderRadius: 4, padding: '13px 18px', flexDirection: 'column' }}&gt;&#10;        &lt;Text style={{ fontSize: 14, fontWeight: 'bold', color: '#FBA15C' }}&gt;管道的五类节点与四种边&lt;/Text&gt;&#10;        &lt;Box style={{ flex: 1, flexDirection: 'row', gap: 14, marginTop: 10 }}&gt;&#10;          &lt;Box style={{ flex: 1, flexDirection: 'column', gap: 6 }}&gt;&#10;            {[&#10;              { n: '源节点', t: '外部业务系统，只读为主', c: '#8A8F99' },&#10;              { n: '接入节点', t: '连接器与同步任务', c: '#FA4F24' },&#10;              { n: '加工节点', t: '清洗、join、富化、映射', c: '#F87D2F' },&#10;              { n: '发布节点', t: '映射进本体、生成新事务', c: '#E0651A' },&#10;              { n: '出口节点', t: '数据、逻辑、动作、回调', c: '#C43A17' },&#10;            ].map((it, i) =&gt; (&#10;              &lt;Box key={it.n} style={{ flex: 1, background: 'rgba(255,255,255,0.07)', borderRadius: 3, borderLeft: '3px solid ' + it.c, padding: '0 11px', flexDirection: 'column', justifyContent: 'center' }}&gt;&#10;                &lt;Text style={{ fontSize: 12.5, fontWeight: 'bold', color: '#FFFFFF' }}&gt;{it.n}&lt;/Text&gt;&#10;                &lt;Text style={{ fontSize: 10.5, color: 'rgba(255,255,255,0.6)', marginTop: 2 }}&gt;{it.t}&lt;/Text&gt;&#10;              &lt;/Box&gt;&#10;            ))}&#10;          &lt;/Box&gt;&#10;          &lt;Box style={{ width: 320, flexDirection: 'column', gap: 6 }}&gt;&#10;            {[&#10;              { n: '数据依赖边', d: '上游产出是下游输入' },&#10;              { n: '口径依赖边', d: '同一口径的不同实现，必须标为冲突' },&#10;              { n: '权限依赖边', d: '下游权限不得宽于上游' },&#10;              { n: '发布依赖边', d: '一次发布涉及的一组节点' },&#10;            ].map((it, i) =&gt; (&#10;              &lt;Box key={it.n} style={{ flex: 1, background: 'rgba(250,79,36,0.14)', borderRadius: 3, padding: '0 12px', flexDirection: 'column', justifyContent: 'center' }}&gt;&#10;                &lt;Text style={{ fontSize: 12, fontWeight: 'bold', color: '#FA4F24' }}&gt;{it.n}&lt;/Text&gt;&#10;                &lt;Text style={{ fontSize: 10.5, color: 'rgba(255,255,255,0.68)', marginTop: 2 }}&gt;{it.d}&lt;/Text&gt;&#10;              &lt;/Box&gt;&#10;            ))}&#10;          &lt;/Box&gt;&#10;        &lt;/Box&gt;&#10;        &lt;Text style={{ fontSize: 11, color: 'rgba(255,255,255,0.6)', marginTop: 9, lineHeight: 1.45 }}&gt;&#10;          拓扑图上必须能一键圈出「这次发布影响哪些节点」，以及「这两条口径互相冲突」——做不到这两点，拓扑就只是一张装饰图。&#10;        &lt;/Text&gt;&#10;      &lt;/Box&gt;&#10;&#10;      &lt;Box style={{ flex: 1, flexDirection: 'row', gap: 10 }}&gt;&#10;        &lt;Box style={{ flex: 1, background: '#F7F7F8', borderRadius: 4, padding: '12px 16px', flexDirection: 'column' }}&gt;&#10;          &lt;Text style={{ fontSize: 14, fontWeight: 'bold', color: '#0F1423' }}&gt;调用编排的三条规则&lt;/Text&gt;&#10;          &lt;Box style={{ flex: 1, flexDirection: 'column', marginTop: 8 }}&gt;&#10;            {[&#10;              { t: '调度分层', d: '接入按小时或按天，加工按依赖拓扑排序，出口按事件触发；三层不要混在一张调度表里' },&#10;              { t: '并发与幂等', d: '同一条数据可能被两个任务同时处理，必须有幂等键与去重机制，否则重复处理不可查' },&#10;              { t: '失败隔离', d: '一条管道挂掉不能拖垮同批次的其他管道；失败要能单独重跑而不影响已成功的部分' },&#10;            ].map((it, i) =&gt; (&#10;              &lt;Box key={it.t} style={{ flex: 1, flexDirection: 'column', justifyContent: 'center', borderTop: i === 0 ? 'none' : '1px solid #E8E8E8' }}&gt;&#10;                &lt;Text style={{ fontSize: 12.5, fontWeight: 'bold', color: '#0F1423' }}&gt;{it.t}&lt;/Text&gt;&#10;                &lt;Text style={{ fontSize: 11.5, color: '#3A4050', marginTop: 3, lineHeight: 1.45 }}&gt;{it.d}&lt;/Text&gt;&#10;              &lt;/Box&gt;&#10;            ))}&#10;          &lt;/Box&gt;&#10;        &lt;/Box&gt;&#10;        &lt;Box style={{ flex: 1, background: '#FFF3EE', borderRadius: 4, borderLeft: '4px solid #FA4F24', padding: '12px 16px', flexDirection: 'column', justifyContent: 'center' }}&gt;&#10;          &lt;Text style={{ fontSize: 14, fontWeight: 'bold', color: '#C43A17' }}&gt;管道型技术债的三个征兆&lt;/Text&gt;&#10;          &lt;Text style={{ fontSize: 12, color: '#3A4050', marginTop: 8, lineHeight: 1.6 }}&gt;&#10;            一、同一张源表有三条以上互不知情的管道在各自加工；二、同一个指标在三个报表里有三个数；三、找不到任何一个能说清「这个数从哪来」的人。这三条一旦凑齐，就不是优化问题，而是要重建管道域。&#10;          &lt;/Text&gt;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25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>AA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：管道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拓扑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与调用编排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应用数量增长会带来技术债，管道数量增长带来的是「数据不一致的技术债」，后者更难发现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22" name=""/>
          <p:cNvSpPr/>
          <p:nvPr/>
        </p:nvSpPr>
        <p:spPr>
          <a:xfrm rot="0" flipH="0" flipV="0">
            <a:off x="609600" y="1285875"/>
            <a:ext cx="10972800" cy="2324100"/>
          </a:xfrm>
          <a:prstGeom prst="roundRect">
            <a:avLst>
              <a:gd name="adj" fmla="val 163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781050" y="1409700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管道的五类节点与四种边</a:t>
            </a:r>
            <a:endParaRPr/>
          </a:p>
        </p:txBody>
      </p:sp>
      <p:sp>
        <p:nvSpPr>
          <p:cNvPr id="824" name=""/>
          <p:cNvSpPr/>
          <p:nvPr/>
        </p:nvSpPr>
        <p:spPr>
          <a:xfrm rot="0" flipH="0" flipV="0">
            <a:off x="809625" y="1666875"/>
            <a:ext cx="7448550" cy="285750"/>
          </a:xfrm>
          <a:prstGeom prst="roundRect">
            <a:avLst>
              <a:gd name="adj" fmla="val 1000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25" name=""/>
          <p:cNvSpPr/>
          <p:nvPr/>
        </p:nvSpPr>
        <p:spPr>
          <a:xfrm rot="0" flipH="0" flipV="0">
            <a:off x="809625" y="1666875"/>
            <a:ext cx="7448550" cy="285750"/>
          </a:xfrm>
          <a:custGeom>
            <a:pathLst>
              <a:path w="782" h="30">
                <a:moveTo>
                  <a:pt x="3" y="30"/>
                </a:moveTo>
                <a:cubicBezTo>
                  <a:pt x="1" y="30"/>
                  <a:pt x="0" y="29"/>
                  <a:pt x="0" y="2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914400" y="1666875"/>
            <a:ext cx="7210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源节点</a:t>
            </a:r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914400" y="1828800"/>
            <a:ext cx="72104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外部业务系统，只读为主</a:t>
            </a:r>
            <a:endParaRPr/>
          </a:p>
        </p:txBody>
      </p:sp>
      <p:sp>
        <p:nvSpPr>
          <p:cNvPr id="828" name=""/>
          <p:cNvSpPr/>
          <p:nvPr/>
        </p:nvSpPr>
        <p:spPr>
          <a:xfrm rot="0" flipH="0" flipV="0">
            <a:off x="809625" y="2009775"/>
            <a:ext cx="7448550" cy="285750"/>
          </a:xfrm>
          <a:prstGeom prst="roundRect">
            <a:avLst>
              <a:gd name="adj" fmla="val 1000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29" name=""/>
          <p:cNvSpPr/>
          <p:nvPr/>
        </p:nvSpPr>
        <p:spPr>
          <a:xfrm rot="0" flipH="0" flipV="0">
            <a:off x="809625" y="2009775"/>
            <a:ext cx="7448550" cy="285750"/>
          </a:xfrm>
          <a:custGeom>
            <a:pathLst>
              <a:path w="782" h="30">
                <a:moveTo>
                  <a:pt x="3" y="30"/>
                </a:moveTo>
                <a:cubicBezTo>
                  <a:pt x="1" y="30"/>
                  <a:pt x="0" y="29"/>
                  <a:pt x="0" y="2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914400" y="2009775"/>
            <a:ext cx="7210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接入节点</a:t>
            </a:r>
            <a:endParaRPr/>
          </a:p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914400" y="2171700"/>
            <a:ext cx="72104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连接器与同步任务</a:t>
            </a:r>
            <a:endParaRPr/>
          </a:p>
        </p:txBody>
      </p:sp>
      <p:sp>
        <p:nvSpPr>
          <p:cNvPr id="832" name=""/>
          <p:cNvSpPr/>
          <p:nvPr/>
        </p:nvSpPr>
        <p:spPr>
          <a:xfrm rot="0" flipH="0" flipV="0">
            <a:off x="809625" y="2352675"/>
            <a:ext cx="7448550" cy="285750"/>
          </a:xfrm>
          <a:prstGeom prst="roundRect">
            <a:avLst>
              <a:gd name="adj" fmla="val 1000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33" name=""/>
          <p:cNvSpPr/>
          <p:nvPr/>
        </p:nvSpPr>
        <p:spPr>
          <a:xfrm rot="0" flipH="0" flipV="0">
            <a:off x="809625" y="2352675"/>
            <a:ext cx="7448550" cy="285750"/>
          </a:xfrm>
          <a:custGeom>
            <a:pathLst>
              <a:path w="782" h="30">
                <a:moveTo>
                  <a:pt x="3" y="30"/>
                </a:moveTo>
                <a:cubicBezTo>
                  <a:pt x="1" y="30"/>
                  <a:pt x="0" y="29"/>
                  <a:pt x="0" y="2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914400" y="2352675"/>
            <a:ext cx="7210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加工节点</a:t>
            </a:r>
            <a:endParaRPr/>
          </a:p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914400" y="2514600"/>
            <a:ext cx="72104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清洗、</a:t>
            </a:r>
            <a:r>
              <a:rPr lang="en-US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join</a:t>
            </a:r>
            <a:r>
              <a:rPr lang="zh-CN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、富化、映射</a:t>
            </a:r>
            <a:endParaRPr/>
          </a:p>
        </p:txBody>
      </p:sp>
      <p:sp>
        <p:nvSpPr>
          <p:cNvPr id="836" name=""/>
          <p:cNvSpPr/>
          <p:nvPr/>
        </p:nvSpPr>
        <p:spPr>
          <a:xfrm rot="0" flipH="0" flipV="0">
            <a:off x="809625" y="2695575"/>
            <a:ext cx="7448550" cy="285750"/>
          </a:xfrm>
          <a:prstGeom prst="roundRect">
            <a:avLst>
              <a:gd name="adj" fmla="val 1000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37" name=""/>
          <p:cNvSpPr/>
          <p:nvPr/>
        </p:nvSpPr>
        <p:spPr>
          <a:xfrm rot="0" flipH="0" flipV="0">
            <a:off x="809625" y="2695575"/>
            <a:ext cx="7448550" cy="285750"/>
          </a:xfrm>
          <a:custGeom>
            <a:pathLst>
              <a:path w="782" h="30">
                <a:moveTo>
                  <a:pt x="3" y="30"/>
                </a:moveTo>
                <a:cubicBezTo>
                  <a:pt x="1" y="30"/>
                  <a:pt x="0" y="29"/>
                  <a:pt x="0" y="2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0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914400" y="2695575"/>
            <a:ext cx="7210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发布节点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914400" y="2857500"/>
            <a:ext cx="72104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映射进本体、生成新事务</a:t>
            </a:r>
            <a:endParaRPr/>
          </a:p>
        </p:txBody>
      </p:sp>
      <p:sp>
        <p:nvSpPr>
          <p:cNvPr id="840" name=""/>
          <p:cNvSpPr/>
          <p:nvPr/>
        </p:nvSpPr>
        <p:spPr>
          <a:xfrm rot="0" flipH="0" flipV="0">
            <a:off x="809625" y="3038475"/>
            <a:ext cx="7448550" cy="285750"/>
          </a:xfrm>
          <a:prstGeom prst="roundRect">
            <a:avLst>
              <a:gd name="adj" fmla="val 1000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41" name=""/>
          <p:cNvSpPr/>
          <p:nvPr/>
        </p:nvSpPr>
        <p:spPr>
          <a:xfrm rot="0" flipH="0" flipV="0">
            <a:off x="809625" y="3038475"/>
            <a:ext cx="7448550" cy="285750"/>
          </a:xfrm>
          <a:custGeom>
            <a:pathLst>
              <a:path w="782" h="30">
                <a:moveTo>
                  <a:pt x="3" y="30"/>
                </a:moveTo>
                <a:cubicBezTo>
                  <a:pt x="1" y="30"/>
                  <a:pt x="0" y="29"/>
                  <a:pt x="0" y="2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914400" y="3038475"/>
            <a:ext cx="7210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出口节点</a:t>
            </a:r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914400" y="3200400"/>
            <a:ext cx="72104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数据、逻辑、动作、回调</a:t>
            </a:r>
            <a:endParaRPr/>
          </a:p>
        </p:txBody>
      </p:sp>
      <p:sp>
        <p:nvSpPr>
          <p:cNvPr id="844" name=""/>
          <p:cNvSpPr/>
          <p:nvPr/>
        </p:nvSpPr>
        <p:spPr>
          <a:xfrm rot="0" flipH="0" flipV="0">
            <a:off x="8362950" y="1666875"/>
            <a:ext cx="3048000" cy="371475"/>
          </a:xfrm>
          <a:prstGeom prst="roundRect">
            <a:avLst>
              <a:gd name="adj" fmla="val 7692"/>
            </a:avLst>
          </a:prstGeom>
          <a:solidFill>
            <a:srgbClr val="FA4F24">
              <a:alpha val="14000"/>
            </a:srgbClr>
          </a:solidFill>
          <a:ln/>
        </p:spPr>
        <p:txBody>
          <a:bodyPr/>
          <a:p/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8477250" y="1714500"/>
            <a:ext cx="2819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数据依赖边</a:t>
            </a:r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8477250" y="1876425"/>
            <a:ext cx="28194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上游产出是下游输入</a:t>
            </a:r>
            <a:endParaRPr/>
          </a:p>
        </p:txBody>
      </p:sp>
      <p:sp>
        <p:nvSpPr>
          <p:cNvPr id="847" name=""/>
          <p:cNvSpPr/>
          <p:nvPr/>
        </p:nvSpPr>
        <p:spPr>
          <a:xfrm rot="0" flipH="0" flipV="0">
            <a:off x="8362950" y="2095500"/>
            <a:ext cx="3048000" cy="371475"/>
          </a:xfrm>
          <a:prstGeom prst="roundRect">
            <a:avLst>
              <a:gd name="adj" fmla="val 7692"/>
            </a:avLst>
          </a:prstGeom>
          <a:solidFill>
            <a:srgbClr val="FA4F24">
              <a:alpha val="14000"/>
            </a:srgbClr>
          </a:solidFill>
          <a:ln/>
        </p:spPr>
        <p:txBody>
          <a:bodyPr/>
          <a:p/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8477250" y="2143125"/>
            <a:ext cx="2819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口径依赖边</a:t>
            </a:r>
            <a:endParaRPr/>
          </a:p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8477250" y="2305050"/>
            <a:ext cx="28194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同一口径的不同实现，必须标为冲突</a:t>
            </a:r>
            <a:endParaRPr/>
          </a:p>
        </p:txBody>
      </p:sp>
      <p:sp>
        <p:nvSpPr>
          <p:cNvPr id="850" name=""/>
          <p:cNvSpPr/>
          <p:nvPr/>
        </p:nvSpPr>
        <p:spPr>
          <a:xfrm rot="0" flipH="0" flipV="0">
            <a:off x="8362950" y="2524125"/>
            <a:ext cx="3048000" cy="371475"/>
          </a:xfrm>
          <a:prstGeom prst="roundRect">
            <a:avLst>
              <a:gd name="adj" fmla="val 7692"/>
            </a:avLst>
          </a:prstGeom>
          <a:solidFill>
            <a:srgbClr val="FA4F24">
              <a:alpha val="14000"/>
            </a:srgbClr>
          </a:solidFill>
          <a:ln/>
        </p:spPr>
        <p:txBody>
          <a:bodyPr/>
          <a:p/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8477250" y="2571750"/>
            <a:ext cx="2819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权限依赖边</a:t>
            </a:r>
            <a:endParaRPr/>
          </a:p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8477250" y="2733675"/>
            <a:ext cx="28194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下游权限不得宽于上游</a:t>
            </a:r>
            <a:endParaRPr/>
          </a:p>
        </p:txBody>
      </p:sp>
      <p:sp>
        <p:nvSpPr>
          <p:cNvPr id="853" name=""/>
          <p:cNvSpPr/>
          <p:nvPr/>
        </p:nvSpPr>
        <p:spPr>
          <a:xfrm rot="0" flipH="0" flipV="0">
            <a:off x="8362950" y="2952750"/>
            <a:ext cx="3048000" cy="371475"/>
          </a:xfrm>
          <a:prstGeom prst="roundRect">
            <a:avLst>
              <a:gd name="adj" fmla="val 7692"/>
            </a:avLst>
          </a:prstGeom>
          <a:solidFill>
            <a:srgbClr val="FA4F24">
              <a:alpha val="14000"/>
            </a:srgbClr>
          </a:solidFill>
          <a:ln/>
        </p:spPr>
        <p:txBody>
          <a:bodyPr/>
          <a:p/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8477250" y="3000375"/>
            <a:ext cx="2819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发布依赖边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8477250" y="3162300"/>
            <a:ext cx="28194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</a:rPr>
              <a:t>一次发布涉及的一组节点</a:t>
            </a:r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781050" y="3409950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拓扑图上必须能一键圈出「这次发布影响哪些节点」，以及「这两条口径互相冲突」——做不到这两点，拓扑就只是一张装饰图。</a:t>
            </a:r>
            <a:endParaRPr/>
          </a:p>
        </p:txBody>
      </p:sp>
      <p:sp>
        <p:nvSpPr>
          <p:cNvPr id="857" name=""/>
          <p:cNvSpPr/>
          <p:nvPr/>
        </p:nvSpPr>
        <p:spPr>
          <a:xfrm rot="0" flipH="0" flipV="0">
            <a:off x="609600" y="3705225"/>
            <a:ext cx="5438775" cy="1933575"/>
          </a:xfrm>
          <a:prstGeom prst="roundRect">
            <a:avLst>
              <a:gd name="adj" fmla="val 197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762000" y="3819525"/>
            <a:ext cx="513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调用编排的三条规则</a:t>
            </a:r>
            <a:endParaRPr/>
          </a:p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762000" y="4114800"/>
            <a:ext cx="513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调度分层</a:t>
            </a:r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762000" y="4286250"/>
            <a:ext cx="51339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接入按小时或按天，加工按依赖拓扑排序，出口按事件触发；三层不要混在一张调度表里</a:t>
            </a:r>
            <a:endParaRPr/>
          </a:p>
        </p:txBody>
      </p:sp>
      <p:sp>
        <p:nvSpPr>
          <p:cNvPr id="861" name=""/>
          <p:cNvSpPr/>
          <p:nvPr/>
        </p:nvSpPr>
        <p:spPr>
          <a:xfrm rot="0" flipH="0" flipV="0">
            <a:off x="762000" y="4543425"/>
            <a:ext cx="5133975" cy="495300"/>
          </a:xfrm>
          <a:custGeom>
            <a:pathLst>
              <a:path w="539" h="52">
                <a:moveTo>
                  <a:pt x="0" y="0"/>
                </a:moveTo>
                <a:lnTo>
                  <a:pt x="539" y="0"/>
                </a:lnTo>
                <a:lnTo>
                  <a:pt x="539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762000" y="4610100"/>
            <a:ext cx="513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并发与幂等</a:t>
            </a:r>
            <a:endParaRPr/>
          </a:p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762000" y="4781550"/>
            <a:ext cx="51339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同一条数据可能被两个任务同时处理，必须有幂等键与去重机制，否则重复处理不可查</a:t>
            </a:r>
            <a:endParaRPr/>
          </a:p>
        </p:txBody>
      </p:sp>
      <p:sp>
        <p:nvSpPr>
          <p:cNvPr id="864" name=""/>
          <p:cNvSpPr/>
          <p:nvPr/>
        </p:nvSpPr>
        <p:spPr>
          <a:xfrm rot="0" flipH="0" flipV="0">
            <a:off x="762000" y="5029200"/>
            <a:ext cx="5133975" cy="504825"/>
          </a:xfrm>
          <a:custGeom>
            <a:pathLst>
              <a:path w="539" h="53">
                <a:moveTo>
                  <a:pt x="0" y="0"/>
                </a:moveTo>
                <a:lnTo>
                  <a:pt x="539" y="0"/>
                </a:lnTo>
                <a:lnTo>
                  <a:pt x="539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762000" y="5095875"/>
            <a:ext cx="513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失败隔离</a:t>
            </a:r>
            <a:endParaRPr/>
          </a:p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762000" y="5267325"/>
            <a:ext cx="51339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一条管道挂掉不能拖垮同批次的其他管道；失败要能单独重跑而不影响已成功的部分</a:t>
            </a:r>
            <a:endParaRPr/>
          </a:p>
        </p:txBody>
      </p:sp>
      <p:sp>
        <p:nvSpPr>
          <p:cNvPr id="867" name=""/>
          <p:cNvSpPr/>
          <p:nvPr/>
        </p:nvSpPr>
        <p:spPr>
          <a:xfrm rot="0" flipH="0" flipV="0">
            <a:off x="6181725" y="3705225"/>
            <a:ext cx="5438775" cy="1933575"/>
          </a:xfrm>
          <a:prstGeom prst="roundRect">
            <a:avLst>
              <a:gd name="adj" fmla="val 197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68" name=""/>
          <p:cNvSpPr/>
          <p:nvPr/>
        </p:nvSpPr>
        <p:spPr>
          <a:xfrm rot="0" flipH="0" flipV="0">
            <a:off x="6181725" y="3705225"/>
            <a:ext cx="5438775" cy="1933575"/>
          </a:xfrm>
          <a:custGeom>
            <a:pathLst>
              <a:path w="571" h="203">
                <a:moveTo>
                  <a:pt x="4" y="203"/>
                </a:moveTo>
                <a:cubicBezTo>
                  <a:pt x="2" y="203"/>
                  <a:pt x="0" y="201"/>
                  <a:pt x="0" y="19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0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6334125" y="4219575"/>
            <a:ext cx="509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管道型技术债的三个征兆</a:t>
            </a:r>
            <a:endParaRPr/>
          </a:p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6334125" y="4457700"/>
            <a:ext cx="50958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一、同一张源表有三条以上互不知情的管道在各自加工；二、同一个指标在三个报表里有三个数；三、找不到任何一个能说清「这个数从哪来」的人。这三条一旦凑齐，就不是优化问题，而是要重建管道域。</a:t>
            </a:r>
            <a:endParaRPr/>
          </a:p>
        </p:txBody>
      </p:sp>
      <p:sp>
        <p:nvSpPr>
          <p:cNvPr id="871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72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25 / 30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875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TA：&lt;span style={{ color: '#FA4F24' }}&gt;运行时、调度与非功能&lt;/span&gt;&#10;      &lt;/Text&gt;&#10;      &lt;Text style={{ fontSize: 20, color: '#8A8F99', marginTop: 8 }}&gt;&#10;        技术架构在这里要回答的不是买什么，而是管道的真实非功能指标是什么&#10;      &lt;/Text&gt;&#10;    &lt;/Box&gt;&#10;    &lt;Box style={{ height: 1, background: '#E8E8E8' }} /&gt;&#10;&#10;    &lt;Box style={{ paddingTop: 14, paddingBottom: 8, height: 479, flexDirection: 'column', gap: 10 }}&gt;&#10;      &lt;Box style={{ height: 92, background: '#0F1423', borderRadius: 4, padding: '12px 18px', flexDirection: 'column' }}&gt;&#10;        &lt;Text style={{ fontSize: 13.5, fontWeight: 'bold', color: '#FBA15C' }}&gt;官方给出的两条硬约束&lt;/Text&gt;&#10;        &lt;Text style={{ fontSize: 12.5, color: 'rgba(255,255,255,0.9)', marginTop: 8, lineHeight: 1.55 }}&gt;&#10;          一、管道支持 Iceberg、Parquet 等开放格式，但必须启用服务端加密，客户端加密只是可选项；二、流式管道只会和它最慢的组件一样快，所以目标延迟与吞吐必须在设计之初确认，而不是上线后调优。&#10;        &lt;/Text&gt;&#10;      &lt;/Box&gt;&#10;&#10;      &lt;Box style={{ flex: 1, flexDirection: 'row', gap: 10 }}&gt;&#10;        &lt;Box style={{ flex: 1, background: '#F7F7F8', borderRadius: 4, padding: '13px 16px', flexDirection: 'column' }}&gt;&#10;          &lt;Text style={{ fontSize: 14, fontWeight: 'bold', color: '#0F1423' }}&gt;五类非功能指标（每条都要有数字）&lt;/Text&gt;&#10;          &lt;Box style={{ flex: 1, flexDirection: 'column', marginTop: 9 }}&gt;&#10;            {[&#10;              { t: '数据时效', d: '从源系统发生变更到本体可查，端到端多少分钟', c: '#FA4F24' },&#10;              { t: '任务成功率', d: '按月统计，连续失败多久触发熔断', c: '#F87D2F' },&#10;              { t: '资源与成本', d: '单次全量、单次增量的算力开销，保留周期', c: '#E0651A' },&#10;              { t: '可恢复性', d: '从最近一次成功事务重放需要多久', c: '#C43A17' },&#10;              { t: '存储与加密', d: '加密方式、密钥轮换周期、跨域访问策略', c: '#0F1423' },&#10;            ].map((it, i) =&gt; (&#10;              &lt;Box key={it.t} style={{ flex: 1, flexDirection: 'row', alignItems: 'center', gap: 11, borderTop: i === 0 ? 'none' : '1px solid #E8E8E8' }}&gt;&#10;                &lt;Box style={{ width: 5, height: 26, background: it.c }} /&gt;&#10;                &lt;Box style={{ flex: 1, flexDirection: 'column' }}&gt;&#10;                  &lt;Text style={{ fontSize: 12.5, fontWeight: 'bold', color: '#0F1423' }}&gt;{it.t}&lt;/Text&gt;&#10;                  &lt;Text style={{ fontSize: 11, color: '#5A6072', marginTop: 2, lineHeight: 1.4 }}&gt;{it.d}&lt;/Text&gt;&#10;                &lt;/Box&gt;&#10;              &lt;/Box&gt;&#10;            ))}&#10;          &lt;/Box&gt;&#10;        &lt;/Box&gt;&#10;&#10;        &lt;Box style={{ width: 420, flexDirection: 'column', gap: 10 }}&gt;&#10;          &lt;Box style={{ flex: 1, background: '#FFF3EE', borderRadius: 4, borderLeft: '4px solid #FA4F24', padding: '13px 16px', flexDirection: 'column' }}&gt;&#10;            &lt;Text style={{ fontSize: 14, fontWeight: 'bold', color: '#C43A17' }}&gt;运行时：能力可换，契约不可换&lt;/Text&gt;&#10;            &lt;Text style={{ fontSize: 12, color: '#3A4050', marginTop: 8, lineHeight: 1.55 }}&gt;&#10;              官方支持 Python、Java、SparkSQL，可搭配 Spark、Flink、DataFusion、Polars，并允许自带容器运行时。咨询建议：把「引擎选择」留成可替换项，把「事务语义、幂等、血粒度」写死成不可协商的契约。&#10;            &lt;/Text&gt;&#10;          &lt;/Box&gt;&#10;          &lt;Box style={{ flex: 1, background: '#0F1423', borderRadius: 4, padding: '13px 16px', flexDirection: 'column', justifyContent: 'center' }}&gt;&#10;            &lt;Text style={{ fontSize: 14, fontWeight: 'bold', color: '#FBA15C' }}&gt;调度：三类节奏，三套保障&lt;/Text&gt;&#10;            &lt;Text style={{ fontSize: 12, color: 'rgba(255,255,255,0.85)', marginTop: 7, lineHeight: 1.5 }}&gt;&#10;              接入节奏看业务窗口，加工节奏看依赖关系，出口节奏看事件。每类节奏都要有独立的重试策略、超时阈值和补数预案，不能共用一套默认配置。&#10;            &lt;/Text&gt;&#10;          &lt;/Box&gt;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26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>TA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运行时、调度与非功能</a:t>
            </a:r>
            <a:endParaRPr/>
          </a:p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技术架构在这里要回答的不是买什么，而是管道的真实非功能指标是什么</a:t>
            </a:r>
            <a:endParaRPr/>
          </a:p>
        </p:txBody>
      </p:sp>
      <p:sp>
        <p:nvSpPr>
          <p:cNvPr id="87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80" name=""/>
          <p:cNvSpPr/>
          <p:nvPr/>
        </p:nvSpPr>
        <p:spPr>
          <a:xfrm rot="0" flipH="0" flipV="0">
            <a:off x="609600" y="1285875"/>
            <a:ext cx="10972800" cy="876300"/>
          </a:xfrm>
          <a:prstGeom prst="roundRect">
            <a:avLst>
              <a:gd name="adj" fmla="val 434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781050" y="140017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官方给出的两条硬约束</a:t>
            </a:r>
            <a:endParaRPr/>
          </a:p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781050" y="1638300"/>
            <a:ext cx="106299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一、管道支持</a:t>
            </a:r>
            <a:r>
              <a:rPr lang="en-US" sz="93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Iceberg</a:t>
            </a:r>
            <a:r>
              <a:rPr lang="zh-CN" sz="93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93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Parquet </a:t>
            </a:r>
            <a:r>
              <a:rPr lang="zh-CN" sz="93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等开放格式，但必须启用服务端加密，客户端加密只是可选项；二、流式管道只会和它最慢的组件一样快，所以目标延迟与吞吐必须在设计之初确认，而不是上线后调优。</a:t>
            </a:r>
            <a:endParaRPr/>
          </a:p>
        </p:txBody>
      </p:sp>
      <p:sp>
        <p:nvSpPr>
          <p:cNvPr id="883" name=""/>
          <p:cNvSpPr/>
          <p:nvPr/>
        </p:nvSpPr>
        <p:spPr>
          <a:xfrm rot="0" flipH="0" flipV="0">
            <a:off x="609600" y="2257425"/>
            <a:ext cx="6877050" cy="3381375"/>
          </a:xfrm>
          <a:prstGeom prst="roundRect">
            <a:avLst>
              <a:gd name="adj" fmla="val 112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762000" y="2381250"/>
            <a:ext cx="657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五类非功能指标（每条都要有数字）</a:t>
            </a:r>
            <a:endParaRPr/>
          </a:p>
        </p:txBody>
      </p:sp>
      <p:sp>
        <p:nvSpPr>
          <p:cNvPr id="885" name=""/>
          <p:cNvSpPr/>
          <p:nvPr/>
        </p:nvSpPr>
        <p:spPr>
          <a:xfrm rot="0" flipH="0" flipV="0">
            <a:off x="762000" y="2790825"/>
            <a:ext cx="47625" cy="2476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914400" y="2743200"/>
            <a:ext cx="6419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数据时效</a:t>
            </a:r>
            <a:endParaRPr/>
          </a:p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914400" y="2905125"/>
            <a:ext cx="64198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从源系统发生变更到本体可查，端到端多少分钟</a:t>
            </a:r>
            <a:endParaRPr/>
          </a:p>
        </p:txBody>
      </p:sp>
      <p:sp>
        <p:nvSpPr>
          <p:cNvPr id="888" name=""/>
          <p:cNvSpPr/>
          <p:nvPr/>
        </p:nvSpPr>
        <p:spPr>
          <a:xfrm rot="0" flipH="0" flipV="0">
            <a:off x="762000" y="3200400"/>
            <a:ext cx="6572250" cy="590550"/>
          </a:xfrm>
          <a:custGeom>
            <a:pathLst>
              <a:path w="690" h="62">
                <a:moveTo>
                  <a:pt x="0" y="0"/>
                </a:moveTo>
                <a:lnTo>
                  <a:pt x="690" y="0"/>
                </a:lnTo>
                <a:lnTo>
                  <a:pt x="690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89" name=""/>
          <p:cNvSpPr/>
          <p:nvPr/>
        </p:nvSpPr>
        <p:spPr>
          <a:xfrm rot="0" flipH="0" flipV="0">
            <a:off x="762000" y="3371850"/>
            <a:ext cx="47625" cy="247650"/>
          </a:xfrm>
          <a:prstGeom prst="rect">
            <a:avLst/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890" name="" descr="{&quot;isTemplate&quot;:true,&quot;type&quot;:&quot;text&quot;}"/>
          <p:cNvSpPr txBox="1"/>
          <p:nvPr/>
        </p:nvSpPr>
        <p:spPr>
          <a:xfrm rot="0" flipH="0" flipV="0">
            <a:off x="914400" y="3324225"/>
            <a:ext cx="6419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任务成功率</a:t>
            </a:r>
            <a:endParaRPr/>
          </a:p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914400" y="3486150"/>
            <a:ext cx="64198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按月统计，连续失败多久触发熔断</a:t>
            </a:r>
            <a:endParaRPr/>
          </a:p>
        </p:txBody>
      </p:sp>
      <p:sp>
        <p:nvSpPr>
          <p:cNvPr id="892" name=""/>
          <p:cNvSpPr/>
          <p:nvPr/>
        </p:nvSpPr>
        <p:spPr>
          <a:xfrm rot="0" flipH="0" flipV="0">
            <a:off x="762000" y="3781425"/>
            <a:ext cx="6572250" cy="581025"/>
          </a:xfrm>
          <a:custGeom>
            <a:pathLst>
              <a:path w="690" h="61">
                <a:moveTo>
                  <a:pt x="0" y="0"/>
                </a:moveTo>
                <a:lnTo>
                  <a:pt x="690" y="0"/>
                </a:lnTo>
                <a:lnTo>
                  <a:pt x="690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93" name=""/>
          <p:cNvSpPr/>
          <p:nvPr/>
        </p:nvSpPr>
        <p:spPr>
          <a:xfrm rot="0" flipH="0" flipV="0">
            <a:off x="762000" y="3952875"/>
            <a:ext cx="47625" cy="247650"/>
          </a:xfrm>
          <a:prstGeom prst="rect">
            <a:avLst/>
          </a:prstGeom>
          <a:solidFill>
            <a:srgbClr val="E0651A"/>
          </a:solidFill>
          <a:ln/>
        </p:spPr>
        <p:txBody>
          <a:bodyPr/>
          <a:p/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914400" y="3905250"/>
            <a:ext cx="6419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资源与成本</a:t>
            </a:r>
            <a:endParaRPr/>
          </a:p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914400" y="4067175"/>
            <a:ext cx="64198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单次全量、单次增量的算力开销，保留周期</a:t>
            </a:r>
            <a:endParaRPr/>
          </a:p>
        </p:txBody>
      </p:sp>
      <p:sp>
        <p:nvSpPr>
          <p:cNvPr id="896" name=""/>
          <p:cNvSpPr/>
          <p:nvPr/>
        </p:nvSpPr>
        <p:spPr>
          <a:xfrm rot="0" flipH="0" flipV="0">
            <a:off x="762000" y="4352925"/>
            <a:ext cx="6572250" cy="590550"/>
          </a:xfrm>
          <a:custGeom>
            <a:pathLst>
              <a:path w="690" h="62">
                <a:moveTo>
                  <a:pt x="0" y="0"/>
                </a:moveTo>
                <a:lnTo>
                  <a:pt x="690" y="0"/>
                </a:lnTo>
                <a:lnTo>
                  <a:pt x="690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97" name=""/>
          <p:cNvSpPr/>
          <p:nvPr/>
        </p:nvSpPr>
        <p:spPr>
          <a:xfrm rot="0" flipH="0" flipV="0">
            <a:off x="762000" y="4524375"/>
            <a:ext cx="47625" cy="247650"/>
          </a:xfrm>
          <a:prstGeom prst="rect">
            <a:avLst/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914400" y="4476750"/>
            <a:ext cx="6419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可恢复性</a:t>
            </a:r>
            <a:endParaRPr/>
          </a:p>
        </p:txBody>
      </p:sp>
      <p:sp>
        <p:nvSpPr>
          <p:cNvPr id="899" name="" descr="{&quot;isTemplate&quot;:true,&quot;type&quot;:&quot;text&quot;}"/>
          <p:cNvSpPr txBox="1"/>
          <p:nvPr/>
        </p:nvSpPr>
        <p:spPr>
          <a:xfrm rot="0" flipH="0" flipV="0">
            <a:off x="914400" y="4638675"/>
            <a:ext cx="64198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从最近一次成功事务重放需要多久</a:t>
            </a:r>
            <a:endParaRPr/>
          </a:p>
        </p:txBody>
      </p:sp>
      <p:sp>
        <p:nvSpPr>
          <p:cNvPr id="900" name=""/>
          <p:cNvSpPr/>
          <p:nvPr/>
        </p:nvSpPr>
        <p:spPr>
          <a:xfrm rot="0" flipH="0" flipV="0">
            <a:off x="762000" y="4933950"/>
            <a:ext cx="6572250" cy="590550"/>
          </a:xfrm>
          <a:custGeom>
            <a:pathLst>
              <a:path w="690" h="62">
                <a:moveTo>
                  <a:pt x="0" y="0"/>
                </a:moveTo>
                <a:lnTo>
                  <a:pt x="690" y="0"/>
                </a:lnTo>
                <a:lnTo>
                  <a:pt x="690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01" name=""/>
          <p:cNvSpPr/>
          <p:nvPr/>
        </p:nvSpPr>
        <p:spPr>
          <a:xfrm rot="0" flipH="0" flipV="0">
            <a:off x="762000" y="5105400"/>
            <a:ext cx="47625" cy="2476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914400" y="5057775"/>
            <a:ext cx="6419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存储与加密</a:t>
            </a:r>
            <a:endParaRPr/>
          </a:p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914400" y="5219700"/>
            <a:ext cx="64198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加密方式、密钥轮换周期、跨域访问策略</a:t>
            </a:r>
            <a:endParaRPr/>
          </a:p>
        </p:txBody>
      </p:sp>
      <p:sp>
        <p:nvSpPr>
          <p:cNvPr id="904" name=""/>
          <p:cNvSpPr/>
          <p:nvPr/>
        </p:nvSpPr>
        <p:spPr>
          <a:xfrm rot="0" flipH="0" flipV="0">
            <a:off x="7620000" y="2257425"/>
            <a:ext cx="4000500" cy="1866900"/>
          </a:xfrm>
          <a:prstGeom prst="roundRect">
            <a:avLst>
              <a:gd name="adj" fmla="val 204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05" name=""/>
          <p:cNvSpPr/>
          <p:nvPr/>
        </p:nvSpPr>
        <p:spPr>
          <a:xfrm rot="0" flipH="0" flipV="0">
            <a:off x="7620000" y="2257425"/>
            <a:ext cx="4000500" cy="1866900"/>
          </a:xfrm>
          <a:custGeom>
            <a:pathLst>
              <a:path w="420" h="196">
                <a:moveTo>
                  <a:pt x="4" y="196"/>
                </a:moveTo>
                <a:cubicBezTo>
                  <a:pt x="2" y="196"/>
                  <a:pt x="0" y="194"/>
                  <a:pt x="0" y="19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9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7772400" y="2381250"/>
            <a:ext cx="3657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运行时：能力可换，契约不可换</a:t>
            </a:r>
            <a:endParaRPr/>
          </a:p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7772400" y="2619375"/>
            <a:ext cx="36576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官方支持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Python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Java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SparkSQL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，可搭配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Spark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Flink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DataFusion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Polars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，并允许自带容器运行时。咨询建议：把「引擎选择」留成可替换项，把「事务语义、幂等、血粒度」写死成不可协商的契约。</a:t>
            </a:r>
            <a:endParaRPr/>
          </a:p>
        </p:txBody>
      </p:sp>
      <p:sp>
        <p:nvSpPr>
          <p:cNvPr id="908" name=""/>
          <p:cNvSpPr/>
          <p:nvPr/>
        </p:nvSpPr>
        <p:spPr>
          <a:xfrm rot="0" flipH="0" flipV="0">
            <a:off x="7581900" y="4219575"/>
            <a:ext cx="4000500" cy="1419225"/>
          </a:xfrm>
          <a:prstGeom prst="roundRect">
            <a:avLst>
              <a:gd name="adj" fmla="val 268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7734300" y="4610100"/>
            <a:ext cx="3695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调度：三类节奏，三套保障</a:t>
            </a:r>
            <a:endParaRPr/>
          </a:p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7734300" y="4838700"/>
            <a:ext cx="36957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接入节奏看业务窗口，加工节奏看依赖关系，出口节奏看事件。每类节奏都要有独立的重试策略、超时阈值和补数预案，不能共用一套默认配置。</a:t>
            </a:r>
            <a:endParaRPr/>
          </a:p>
        </p:txBody>
      </p:sp>
      <p:sp>
        <p:nvSpPr>
          <p:cNvPr id="911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12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26 / 30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915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管道处理的&lt;span style={{ color: '#FA4F24' }}&gt;五道门&lt;/span&gt;：从立项到退役&#10;      &lt;/Text&gt;&#10;      &lt;Text style={{ fontSize: 20, color: '#8A8F99', marginTop: 8 }}&gt;&#10;        五道门是准入门槛，不是走完就结束的流程；每道门都要有明确的退回条件&#10;      &lt;/Text&gt;&#10;    &lt;/Box&gt;&#10;    &lt;Box style={{ height: 1, background: '#E8E8E8' }} /&gt;&#10;&#10;    &lt;Box style={{ paddingTop: 14, paddingBottom: 8, height: 479, flexDirection: 'column', gap: 10 }}&gt;&#10;      {/* 五门 */}&#10;      {[&#10;        { n: '门一', t: '口径门', q: '口径字典写完了吗？冲突台账清了吗？谁有权裁决？', b: '不清就退回，不进下一道', c: '#FA4F24' },&#10;        { n: '门二', t: '映射门', q: '对象类型、链接类型、字段密级都定了吗？覆盖率算出来了吗？', b: '覆盖率不达标退回设计', c: '#F87D2F' },&#10;        { n: '门三', t: '血缘门', q: '三层血缘齐吗？能算出这次改动的影响面吗？', b: '算不出影响面不许发布', c: '#E0651A' },&#10;        { n: '门四', t: '健康门', q: '五类检查配了吗？告警发给谁？熔断阈值是多少？', b: '没告警接收人退回运维', c: '#C43A17' },&#10;        { n: '门五', t: '退役门', q: '旧管道下线条件是什么？替代者是谁？谁来确认？', b: '没有退役条件退回立项', c: '#0F1423' },&#10;      ].map((it, i) =&gt; (&#10;        &lt;Box key={it.n} style={{ flex: 1, background: '#F7F7F8', borderRadius: 4, borderLeft: '4px solid ' + it.c, padding: '0 16px', flexDirection: 'row', alignItems: 'center', gap: 14 }}&gt;&#10;          &lt;Box style={{ width: 60, height: 42, background: it.c, alignItems: 'center', justifyContent: 'center' }}&gt;&#10;            &lt;Text style={{ fontSize: 15, fontWeight: 'bold', color: '#FFFFFF' }}&gt;{it.n}&lt;/Text&gt;&#10;          &lt;/Box&gt;&#10;          &lt;Box style={{ width: 96 }}&gt;&#10;            &lt;Text style={{ fontSize: 15, fontWeight: 'bold', color: it.c }}&gt;{it.t}&lt;/Text&gt;&#10;          &lt;/Box&gt;&#10;          &lt;Text style={{ fontSize: 12.5, color: '#0F1423', flex: 1, lineHeight: 1.45 }}&gt;{it.q}&lt;/Text&gt;&#10;          &lt;Box style={{ width: 196, background: '#FFFFFF', borderRadius: 3, padding: '7px 11px', borderLeft: '2px solid ' + it.c }}&gt;&#10;            &lt;Text style={{ fontSize: 11.5, fontWeight: 'bold', color: '#0F1423' }}&gt;{it.b}&lt;/Text&gt;&#10;          &lt;/Box&gt;&#10;        &lt;/Box&gt;&#10;      ))}&#10;&#10;      {/* 退回机制 */}&#10;      &lt;Box style={{ height: 116, flexDirection: 'row', gap: 10 }}&gt;&#10;        &lt;Box style={{ flex: 1, background: '#0F1423', borderRadius: 4, padding: '12px 16px', flexDirection: 'column', justifyContent: 'center' }}&gt;&#10;          &lt;Text style={{ fontSize: 14, fontWeight: 'bold', color: '#FBA15C' }}&gt;五类健康检查（官方维度）&lt;/Text&gt;&#10;          &lt;Text style={{ fontSize: 12, color: 'rgba(255,255,255,0.85)', marginTop: 8, lineHeight: 1.55 }}&gt;&#10;            状态、时间、规模、内容、模式——每一类都要能配严重级别和告警。诊断动作：把客户现有的告警规则对照这五类列一遍，通常会发现「内容」和「模式」两类是空的，也就是脏数据和漂移从来没人管。&#10;          &lt;/Text&gt;&#10;        &lt;/Box&gt;&#10;        &lt;Box style={{ width: 400, background: '#FFF3EE', borderRadius: 4, borderLeft: '4px solid #FA4F24', padding: '12px 16px', flexDirection: 'column', justifyContent: 'center' }}&gt;&#10;          &lt;Text style={{ fontSize: 14, fontWeight: 'bold', color: '#C43A17' }}&gt;门的真正作用是「让退回变得体面」&lt;/Text&gt;&#10;          &lt;Text style={{ fontSize: 12, color: '#3A4050', marginTop: 7, lineHeight: 1.55 }}&gt;&#10;            没有门的时候，退回是靠个人坚持，扛不住进度压力；有了门，退回是执行流程，扛的是制度而不是个人。所以门必须写清退回条件，而不是写清「应关注」。&#10;          &lt;/Text&gt;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27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管道处理的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五道门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：从立项到退役</a:t>
            </a:r>
            <a:endParaRPr/>
          </a:p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五道门是准入门槛，不是走完就结束的流程；每道门都要有明确的退回条件</a:t>
            </a:r>
            <a:endParaRPr/>
          </a:p>
        </p:txBody>
      </p:sp>
      <p:sp>
        <p:nvSpPr>
          <p:cNvPr id="91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20" name=""/>
          <p:cNvSpPr/>
          <p:nvPr/>
        </p:nvSpPr>
        <p:spPr>
          <a:xfrm rot="0" flipH="0" flipV="0">
            <a:off x="647700" y="1285875"/>
            <a:ext cx="10972800" cy="552450"/>
          </a:xfrm>
          <a:prstGeom prst="roundRect">
            <a:avLst>
              <a:gd name="adj" fmla="val 68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21" name=""/>
          <p:cNvSpPr/>
          <p:nvPr/>
        </p:nvSpPr>
        <p:spPr>
          <a:xfrm rot="0" flipH="0" flipV="0">
            <a:off x="647700" y="1285875"/>
            <a:ext cx="10972800" cy="552450"/>
          </a:xfrm>
          <a:custGeom>
            <a:pathLst>
              <a:path w="1152" h="58">
                <a:moveTo>
                  <a:pt x="4" y="58"/>
                </a:moveTo>
                <a:cubicBezTo>
                  <a:pt x="2" y="58"/>
                  <a:pt x="0" y="56"/>
                  <a:pt x="0" y="5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22" name=""/>
          <p:cNvSpPr/>
          <p:nvPr/>
        </p:nvSpPr>
        <p:spPr>
          <a:xfrm rot="0" flipH="0" flipV="0">
            <a:off x="800100" y="1362075"/>
            <a:ext cx="571500" cy="4000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942975" y="14763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门一</a:t>
            </a:r>
            <a:endParaRPr/>
          </a:p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1504950" y="14763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口径门</a:t>
            </a:r>
            <a:endParaRPr/>
          </a:p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2552700" y="1457325"/>
            <a:ext cx="68770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0F1423"/>
                </a:solidFill>
                <a:latin typeface="Microsoft YaHei"/>
                <a:ea typeface="Microsoft YaHei"/>
              </a:rPr>
              <a:t>口径字典写完了吗？冲突台账清了吗？谁有权裁决？</a:t>
            </a:r>
            <a:endParaRPr/>
          </a:p>
        </p:txBody>
      </p:sp>
      <p:sp>
        <p:nvSpPr>
          <p:cNvPr id="926" name=""/>
          <p:cNvSpPr/>
          <p:nvPr/>
        </p:nvSpPr>
        <p:spPr>
          <a:xfrm rot="0" flipH="0" flipV="0">
            <a:off x="9582150" y="1428750"/>
            <a:ext cx="1847850" cy="2667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7" name=""/>
          <p:cNvSpPr/>
          <p:nvPr/>
        </p:nvSpPr>
        <p:spPr>
          <a:xfrm rot="0" flipH="0" flipV="0">
            <a:off x="9582150" y="1428750"/>
            <a:ext cx="1847850" cy="266700"/>
          </a:xfrm>
          <a:custGeom>
            <a:pathLst>
              <a:path w="194" h="28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27"/>
                </a:lnTo>
                <a:cubicBezTo>
                  <a:pt x="2" y="27"/>
                  <a:pt x="2" y="28"/>
                  <a:pt x="3" y="28"/>
                </a:cubicBezTo>
                <a:cubicBezTo>
                  <a:pt x="1" y="28"/>
                  <a:pt x="0" y="27"/>
                  <a:pt x="0" y="2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9686925" y="1495425"/>
            <a:ext cx="1638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不清就退回，不进下一道</a:t>
            </a:r>
            <a:endParaRPr/>
          </a:p>
        </p:txBody>
      </p:sp>
      <p:sp>
        <p:nvSpPr>
          <p:cNvPr id="929" name=""/>
          <p:cNvSpPr/>
          <p:nvPr/>
        </p:nvSpPr>
        <p:spPr>
          <a:xfrm rot="0" flipH="0" flipV="0">
            <a:off x="647700" y="1933575"/>
            <a:ext cx="10972800" cy="552450"/>
          </a:xfrm>
          <a:prstGeom prst="roundRect">
            <a:avLst>
              <a:gd name="adj" fmla="val 68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30" name=""/>
          <p:cNvSpPr/>
          <p:nvPr/>
        </p:nvSpPr>
        <p:spPr>
          <a:xfrm rot="0" flipH="0" flipV="0">
            <a:off x="647700" y="1933575"/>
            <a:ext cx="10972800" cy="552450"/>
          </a:xfrm>
          <a:custGeom>
            <a:pathLst>
              <a:path w="1152" h="58">
                <a:moveTo>
                  <a:pt x="4" y="58"/>
                </a:moveTo>
                <a:cubicBezTo>
                  <a:pt x="2" y="58"/>
                  <a:pt x="0" y="56"/>
                  <a:pt x="0" y="5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8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931" name=""/>
          <p:cNvSpPr/>
          <p:nvPr/>
        </p:nvSpPr>
        <p:spPr>
          <a:xfrm rot="0" flipH="0" flipV="0">
            <a:off x="800100" y="2009775"/>
            <a:ext cx="571500" cy="400050"/>
          </a:xfrm>
          <a:prstGeom prst="rect">
            <a:avLst/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942975" y="21240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门二</a:t>
            </a:r>
            <a:endParaRPr/>
          </a:p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1504950" y="2124075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87D2F"/>
                </a:solidFill>
                <a:latin typeface="Microsoft YaHei"/>
                <a:ea typeface="Microsoft YaHei"/>
              </a:rPr>
              <a:t>映射门</a:t>
            </a:r>
            <a:endParaRPr/>
          </a:p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2552700" y="2105025"/>
            <a:ext cx="68770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0F1423"/>
                </a:solidFill>
                <a:latin typeface="Microsoft YaHei"/>
                <a:ea typeface="Microsoft YaHei"/>
              </a:rPr>
              <a:t>对象类型、链接类型、字段密级都定了吗？覆盖率算出来了吗？</a:t>
            </a:r>
            <a:endParaRPr/>
          </a:p>
        </p:txBody>
      </p:sp>
      <p:sp>
        <p:nvSpPr>
          <p:cNvPr id="935" name=""/>
          <p:cNvSpPr/>
          <p:nvPr/>
        </p:nvSpPr>
        <p:spPr>
          <a:xfrm rot="0" flipH="0" flipV="0">
            <a:off x="9582150" y="2076450"/>
            <a:ext cx="1847850" cy="2667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36" name=""/>
          <p:cNvSpPr/>
          <p:nvPr/>
        </p:nvSpPr>
        <p:spPr>
          <a:xfrm rot="0" flipH="0" flipV="0">
            <a:off x="9582150" y="2076450"/>
            <a:ext cx="1847850" cy="266700"/>
          </a:xfrm>
          <a:custGeom>
            <a:pathLst>
              <a:path w="194" h="28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27"/>
                </a:lnTo>
                <a:cubicBezTo>
                  <a:pt x="2" y="27"/>
                  <a:pt x="2" y="28"/>
                  <a:pt x="3" y="28"/>
                </a:cubicBezTo>
                <a:cubicBezTo>
                  <a:pt x="1" y="28"/>
                  <a:pt x="0" y="27"/>
                  <a:pt x="0" y="2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9686925" y="2143125"/>
            <a:ext cx="1638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覆盖率不达标退回设计</a:t>
            </a:r>
            <a:endParaRPr/>
          </a:p>
        </p:txBody>
      </p:sp>
      <p:sp>
        <p:nvSpPr>
          <p:cNvPr id="938" name=""/>
          <p:cNvSpPr/>
          <p:nvPr/>
        </p:nvSpPr>
        <p:spPr>
          <a:xfrm rot="0" flipH="0" flipV="0">
            <a:off x="647700" y="2581275"/>
            <a:ext cx="10972800" cy="561975"/>
          </a:xfrm>
          <a:prstGeom prst="roundRect">
            <a:avLst>
              <a:gd name="adj" fmla="val 678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39" name=""/>
          <p:cNvSpPr/>
          <p:nvPr/>
        </p:nvSpPr>
        <p:spPr>
          <a:xfrm rot="0" flipH="0" flipV="0">
            <a:off x="647700" y="2581275"/>
            <a:ext cx="10972800" cy="561975"/>
          </a:xfrm>
          <a:custGeom>
            <a:pathLst>
              <a:path w="1152" h="59">
                <a:moveTo>
                  <a:pt x="4" y="59"/>
                </a:moveTo>
                <a:cubicBezTo>
                  <a:pt x="2" y="59"/>
                  <a:pt x="0" y="57"/>
                  <a:pt x="0" y="5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9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940" name=""/>
          <p:cNvSpPr/>
          <p:nvPr/>
        </p:nvSpPr>
        <p:spPr>
          <a:xfrm rot="0" flipH="0" flipV="0">
            <a:off x="800100" y="2667000"/>
            <a:ext cx="571500" cy="400050"/>
          </a:xfrm>
          <a:prstGeom prst="rect">
            <a:avLst/>
          </a:prstGeom>
          <a:solidFill>
            <a:srgbClr val="E0651A"/>
          </a:solidFill>
          <a:ln/>
        </p:spPr>
        <p:txBody>
          <a:bodyPr/>
          <a:p/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942975" y="27813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门三</a:t>
            </a:r>
            <a:endParaRPr/>
          </a:p>
        </p:txBody>
      </p:sp>
      <p:sp>
        <p:nvSpPr>
          <p:cNvPr id="942" name="" descr="{&quot;isTemplate&quot;:true,&quot;type&quot;:&quot;text&quot;}"/>
          <p:cNvSpPr txBox="1"/>
          <p:nvPr/>
        </p:nvSpPr>
        <p:spPr>
          <a:xfrm rot="0" flipH="0" flipV="0">
            <a:off x="1504950" y="278130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0651A"/>
                </a:solidFill>
                <a:latin typeface="Microsoft YaHei"/>
                <a:ea typeface="Microsoft YaHei"/>
              </a:rPr>
              <a:t>血缘门</a:t>
            </a:r>
            <a:endParaRPr/>
          </a:p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2552700" y="2762250"/>
            <a:ext cx="68770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0F1423"/>
                </a:solidFill>
                <a:latin typeface="Microsoft YaHei"/>
                <a:ea typeface="Microsoft YaHei"/>
              </a:rPr>
              <a:t>三层血缘齐吗？能算出这次改动的影响面吗？</a:t>
            </a:r>
            <a:endParaRPr/>
          </a:p>
        </p:txBody>
      </p:sp>
      <p:sp>
        <p:nvSpPr>
          <p:cNvPr id="944" name=""/>
          <p:cNvSpPr/>
          <p:nvPr/>
        </p:nvSpPr>
        <p:spPr>
          <a:xfrm rot="0" flipH="0" flipV="0">
            <a:off x="9582150" y="2733675"/>
            <a:ext cx="1847850" cy="2667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45" name=""/>
          <p:cNvSpPr/>
          <p:nvPr/>
        </p:nvSpPr>
        <p:spPr>
          <a:xfrm rot="0" flipH="0" flipV="0">
            <a:off x="9582150" y="2733675"/>
            <a:ext cx="1847850" cy="266700"/>
          </a:xfrm>
          <a:custGeom>
            <a:pathLst>
              <a:path w="194" h="28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27"/>
                </a:lnTo>
                <a:cubicBezTo>
                  <a:pt x="2" y="27"/>
                  <a:pt x="2" y="28"/>
                  <a:pt x="3" y="28"/>
                </a:cubicBezTo>
                <a:cubicBezTo>
                  <a:pt x="1" y="28"/>
                  <a:pt x="0" y="27"/>
                  <a:pt x="0" y="2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9686925" y="2800350"/>
            <a:ext cx="1638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算不出影响面不许发布</a:t>
            </a:r>
            <a:endParaRPr/>
          </a:p>
        </p:txBody>
      </p:sp>
      <p:sp>
        <p:nvSpPr>
          <p:cNvPr id="947" name=""/>
          <p:cNvSpPr/>
          <p:nvPr/>
        </p:nvSpPr>
        <p:spPr>
          <a:xfrm rot="0" flipH="0" flipV="0">
            <a:off x="647700" y="3238500"/>
            <a:ext cx="10972800" cy="552450"/>
          </a:xfrm>
          <a:prstGeom prst="roundRect">
            <a:avLst>
              <a:gd name="adj" fmla="val 68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48" name=""/>
          <p:cNvSpPr/>
          <p:nvPr/>
        </p:nvSpPr>
        <p:spPr>
          <a:xfrm rot="0" flipH="0" flipV="0">
            <a:off x="647700" y="3238500"/>
            <a:ext cx="10972800" cy="552450"/>
          </a:xfrm>
          <a:custGeom>
            <a:pathLst>
              <a:path w="1152" h="58">
                <a:moveTo>
                  <a:pt x="4" y="58"/>
                </a:moveTo>
                <a:cubicBezTo>
                  <a:pt x="2" y="58"/>
                  <a:pt x="0" y="56"/>
                  <a:pt x="0" y="5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8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949" name=""/>
          <p:cNvSpPr/>
          <p:nvPr/>
        </p:nvSpPr>
        <p:spPr>
          <a:xfrm rot="0" flipH="0" flipV="0">
            <a:off x="800100" y="3314700"/>
            <a:ext cx="571500" cy="400050"/>
          </a:xfrm>
          <a:prstGeom prst="rect">
            <a:avLst/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942975" y="34290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门四</a:t>
            </a:r>
            <a:endParaRPr/>
          </a:p>
        </p:txBody>
      </p:sp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1504950" y="342900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健康门</a:t>
            </a:r>
            <a:endParaRPr/>
          </a:p>
        </p:txBody>
      </p:sp>
      <p:sp>
        <p:nvSpPr>
          <p:cNvPr id="952" name="" descr="{&quot;isTemplate&quot;:true,&quot;type&quot;:&quot;text&quot;}"/>
          <p:cNvSpPr txBox="1"/>
          <p:nvPr/>
        </p:nvSpPr>
        <p:spPr>
          <a:xfrm rot="0" flipH="0" flipV="0">
            <a:off x="2552700" y="3409950"/>
            <a:ext cx="68770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0F1423"/>
                </a:solidFill>
                <a:latin typeface="Microsoft YaHei"/>
                <a:ea typeface="Microsoft YaHei"/>
              </a:rPr>
              <a:t>五类检查配了吗？告警发给谁？熔断阈值是多少？</a:t>
            </a:r>
            <a:endParaRPr/>
          </a:p>
        </p:txBody>
      </p:sp>
      <p:sp>
        <p:nvSpPr>
          <p:cNvPr id="953" name=""/>
          <p:cNvSpPr/>
          <p:nvPr/>
        </p:nvSpPr>
        <p:spPr>
          <a:xfrm rot="0" flipH="0" flipV="0">
            <a:off x="9582150" y="3381375"/>
            <a:ext cx="1847850" cy="2667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4" name=""/>
          <p:cNvSpPr/>
          <p:nvPr/>
        </p:nvSpPr>
        <p:spPr>
          <a:xfrm rot="0" flipH="0" flipV="0">
            <a:off x="9582150" y="3381375"/>
            <a:ext cx="1847850" cy="266700"/>
          </a:xfrm>
          <a:custGeom>
            <a:pathLst>
              <a:path w="194" h="28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27"/>
                </a:lnTo>
                <a:cubicBezTo>
                  <a:pt x="2" y="27"/>
                  <a:pt x="2" y="28"/>
                  <a:pt x="3" y="28"/>
                </a:cubicBezTo>
                <a:cubicBezTo>
                  <a:pt x="1" y="28"/>
                  <a:pt x="0" y="27"/>
                  <a:pt x="0" y="2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9686925" y="3448050"/>
            <a:ext cx="1638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没告警接收人退回运维</a:t>
            </a:r>
            <a:endParaRPr/>
          </a:p>
        </p:txBody>
      </p:sp>
      <p:sp>
        <p:nvSpPr>
          <p:cNvPr id="956" name=""/>
          <p:cNvSpPr/>
          <p:nvPr/>
        </p:nvSpPr>
        <p:spPr>
          <a:xfrm rot="0" flipH="0" flipV="0">
            <a:off x="647700" y="3886200"/>
            <a:ext cx="10972800" cy="552450"/>
          </a:xfrm>
          <a:prstGeom prst="roundRect">
            <a:avLst>
              <a:gd name="adj" fmla="val 68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57" name=""/>
          <p:cNvSpPr/>
          <p:nvPr/>
        </p:nvSpPr>
        <p:spPr>
          <a:xfrm rot="0" flipH="0" flipV="0">
            <a:off x="647700" y="3886200"/>
            <a:ext cx="10972800" cy="552450"/>
          </a:xfrm>
          <a:custGeom>
            <a:pathLst>
              <a:path w="1152" h="58">
                <a:moveTo>
                  <a:pt x="4" y="58"/>
                </a:moveTo>
                <a:cubicBezTo>
                  <a:pt x="2" y="58"/>
                  <a:pt x="0" y="56"/>
                  <a:pt x="0" y="5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8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958" name=""/>
          <p:cNvSpPr/>
          <p:nvPr/>
        </p:nvSpPr>
        <p:spPr>
          <a:xfrm rot="0" flipH="0" flipV="0">
            <a:off x="800100" y="3962400"/>
            <a:ext cx="571500" cy="4000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59" name="" descr="{&quot;isTemplate&quot;:true,&quot;type&quot;:&quot;text&quot;}"/>
          <p:cNvSpPr txBox="1"/>
          <p:nvPr/>
        </p:nvSpPr>
        <p:spPr>
          <a:xfrm rot="0" flipH="0" flipV="0">
            <a:off x="942975" y="40767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门五</a:t>
            </a:r>
            <a:endParaRPr/>
          </a:p>
        </p:txBody>
      </p:sp>
      <p:sp>
        <p:nvSpPr>
          <p:cNvPr id="960" name="" descr="{&quot;isTemplate&quot;:true,&quot;type&quot;:&quot;text&quot;}"/>
          <p:cNvSpPr txBox="1"/>
          <p:nvPr/>
        </p:nvSpPr>
        <p:spPr>
          <a:xfrm rot="0" flipH="0" flipV="0">
            <a:off x="1504950" y="407670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退役门</a:t>
            </a:r>
            <a:endParaRPr/>
          </a:p>
        </p:txBody>
      </p:sp>
      <p:sp>
        <p:nvSpPr>
          <p:cNvPr id="961" name="" descr="{&quot;isTemplate&quot;:true,&quot;type&quot;:&quot;text&quot;}"/>
          <p:cNvSpPr txBox="1"/>
          <p:nvPr/>
        </p:nvSpPr>
        <p:spPr>
          <a:xfrm rot="0" flipH="0" flipV="0">
            <a:off x="2552700" y="4057650"/>
            <a:ext cx="68770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0F1423"/>
                </a:solidFill>
                <a:latin typeface="Microsoft YaHei"/>
                <a:ea typeface="Microsoft YaHei"/>
              </a:rPr>
              <a:t>旧管道下线条件是什么？替代者是谁？谁来确认？</a:t>
            </a:r>
            <a:endParaRPr/>
          </a:p>
        </p:txBody>
      </p:sp>
      <p:sp>
        <p:nvSpPr>
          <p:cNvPr id="962" name=""/>
          <p:cNvSpPr/>
          <p:nvPr/>
        </p:nvSpPr>
        <p:spPr>
          <a:xfrm rot="0" flipH="0" flipV="0">
            <a:off x="9582150" y="4029075"/>
            <a:ext cx="1847850" cy="2667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3" name=""/>
          <p:cNvSpPr/>
          <p:nvPr/>
        </p:nvSpPr>
        <p:spPr>
          <a:xfrm rot="0" flipH="0" flipV="0">
            <a:off x="9582150" y="4029075"/>
            <a:ext cx="1847850" cy="266700"/>
          </a:xfrm>
          <a:custGeom>
            <a:pathLst>
              <a:path w="194" h="28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27"/>
                </a:lnTo>
                <a:cubicBezTo>
                  <a:pt x="2" y="27"/>
                  <a:pt x="2" y="28"/>
                  <a:pt x="3" y="28"/>
                </a:cubicBezTo>
                <a:cubicBezTo>
                  <a:pt x="1" y="28"/>
                  <a:pt x="0" y="27"/>
                  <a:pt x="0" y="2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9686925" y="4095750"/>
            <a:ext cx="1638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没有退役条件退回立项</a:t>
            </a:r>
            <a:endParaRPr/>
          </a:p>
        </p:txBody>
      </p:sp>
      <p:sp>
        <p:nvSpPr>
          <p:cNvPr id="965" name=""/>
          <p:cNvSpPr/>
          <p:nvPr/>
        </p:nvSpPr>
        <p:spPr>
          <a:xfrm rot="0" flipH="0" flipV="0">
            <a:off x="609600" y="4533900"/>
            <a:ext cx="7067550" cy="1104900"/>
          </a:xfrm>
          <a:prstGeom prst="roundRect">
            <a:avLst>
              <a:gd name="adj" fmla="val 344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762000" y="4752975"/>
            <a:ext cx="6762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五类健康检查（官方维度）</a:t>
            </a:r>
            <a:endParaRPr/>
          </a:p>
        </p:txBody>
      </p:sp>
      <p:sp>
        <p:nvSpPr>
          <p:cNvPr id="967" name="" descr="{&quot;isTemplate&quot;:true,&quot;type&quot;:&quot;text&quot;}"/>
          <p:cNvSpPr txBox="1"/>
          <p:nvPr/>
        </p:nvSpPr>
        <p:spPr>
          <a:xfrm rot="0" flipH="0" flipV="0">
            <a:off x="762000" y="4991100"/>
            <a:ext cx="676275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状态、时间、规模、内容、模式——每一类都要能配严重级别和告警。诊断动作：把客户现有的告警规则对照这五类列一遍，通常会发现「内容」和「模式」两类是空的，也就是脏数据和漂移从来没人管。</a:t>
            </a:r>
            <a:endParaRPr/>
          </a:p>
        </p:txBody>
      </p:sp>
      <p:sp>
        <p:nvSpPr>
          <p:cNvPr id="968" name=""/>
          <p:cNvSpPr/>
          <p:nvPr/>
        </p:nvSpPr>
        <p:spPr>
          <a:xfrm rot="0" flipH="0" flipV="0">
            <a:off x="7810500" y="4533900"/>
            <a:ext cx="3771900" cy="1104900"/>
          </a:xfrm>
          <a:prstGeom prst="roundRect">
            <a:avLst>
              <a:gd name="adj" fmla="val 344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69" name=""/>
          <p:cNvSpPr/>
          <p:nvPr/>
        </p:nvSpPr>
        <p:spPr>
          <a:xfrm rot="0" flipH="0" flipV="0">
            <a:off x="7810500" y="4533900"/>
            <a:ext cx="3771900" cy="1104900"/>
          </a:xfrm>
          <a:custGeom>
            <a:pathLst>
              <a:path w="396" h="116">
                <a:moveTo>
                  <a:pt x="4" y="116"/>
                </a:moveTo>
                <a:cubicBezTo>
                  <a:pt x="2" y="116"/>
                  <a:pt x="0" y="114"/>
                  <a:pt x="0" y="11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1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7962900" y="4657725"/>
            <a:ext cx="3467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门的真正作用是「让退回变得体面」</a:t>
            </a:r>
            <a:endParaRPr/>
          </a:p>
        </p:txBody>
      </p:sp>
      <p:sp>
        <p:nvSpPr>
          <p:cNvPr id="971" name="" descr="{&quot;isTemplate&quot;:true,&quot;type&quot;:&quot;text&quot;}"/>
          <p:cNvSpPr txBox="1"/>
          <p:nvPr/>
        </p:nvSpPr>
        <p:spPr>
          <a:xfrm rot="0" flipH="0" flipV="0">
            <a:off x="7962900" y="4886325"/>
            <a:ext cx="34671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没有门的时候，退回是靠个人坚持，扛不住进度压力；有了门，退回是执行流程，扛的是制度而不是个人。所以门必须写清退回条件，而不是写清「应关注」。</a:t>
            </a:r>
            <a:endParaRPr/>
          </a:p>
        </p:txBody>
      </p:sp>
      <p:sp>
        <p:nvSpPr>
          <p:cNvPr id="972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73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27 / 30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976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管道处理的&lt;span style={{ color: '#FA4F24' }}&gt;五类失败模式&lt;/span&gt;&#10;      &lt;/Text&gt;&#10;      &lt;Text style={{ fontSize: 20, color: '#8A8F99', marginTop: 8 }}&gt;&#10;        五类失效都不会报错，只会安静地算出一个看起来合理的数——所以要按症状而不是按报错来排查&#10;      &lt;/Text&gt;&#10;    &lt;/Box&gt;&#10;    &lt;Box style={{ height: 1, background: '#E8E8E8' }} /&gt;&#10;&#10;    &lt;Box style={{ paddingTop: 14, paddingBottom: 8, height: 479, flexDirection: 'column', gap: 10 }}&gt;&#10;      &lt;Box style={{ flex: 1, flexDirection: 'row', gap: 9 }}&gt;&#10;        {[&#10;          { n: '失效一', t: '静默漏数', s: '少了一部分记录，但总数看起来合理', r: '根因：源侧过滤条件变更未通知、增量事务漏提交、重试把失败当成成功跳过', f: '处方：贴源层做行数与金额双校验，缺一即熔断，不允许只对行数', c: '#FA4F24' },&#10;          { n: '失效二', t: '口径漂移', s: '同一个指标每个月都在小幅变化', r: '根因：多条管道各自实现同一口径、修数逻辑越加越多、没有基准口径', f: '处方：一个指标只允许一处实现，其余引用；发现冲突标红而不是取最新', c: '#F87D2F' },&#10;          { n: '失效三', t: '延迟累积', s: '单条管道不慢，整体越来越晚', r: '根因：串行环节增多、窗口计算重叠、补数与常规任务抢资源', f: '处方：为端到端时效设承诺并逐段打点，超时自动告警而不是等业务来投诉', c: '#E0651A' },&#10;        ].map((it, i) =&gt; (&#10;          &lt;Box key={it.n} style={{ flex: 1, background: '#F7F7F8', borderRadius: 4, flexDirection: 'column', overflow: 'hidden' }}&gt;&#10;            &lt;Box style={{ height: 60, background: it.c, padding: '0 14px', justifyContent: 'center' }}&gt;&#10;              &lt;Text style={{ fontSize: 10.5, color: 'rgba(255,255,255,0.8)' }}&gt;{it.n}&lt;/Text&gt;&#10;              &lt;Text style={{ fontSize: 16, fontWeight: 'bold', color: '#FFFFFF', marginTop: 3 }}&gt;{it.t}&lt;/Text&gt;&#10;            &lt;/Box&gt;&#10;            &lt;Box style={{ flex: 1, padding: '10px 14px' }}&gt;&#10;              &lt;Box style={{ background: '#FFFFFF', borderRadius: 3, padding: '6px 9px' }}&gt;&#10;                &lt;Text style={{ fontSize: 10, color: '#8A8F99' }}&gt;症状&lt;/Text&gt;&#10;                &lt;Text style={{ fontSize: 11.5, color: '#0F1423', marginTop: 2, lineHeight: 1.4 }}&gt;{it.s}&lt;/Text&gt;&#10;              &lt;/Box&gt;&#10;              &lt;Text style={{ fontSize: 11.5, color: '#3A4050', marginTop: 8, lineHeight: 1.5 }}&gt;{it.r}&lt;/Text&gt;&#10;              &lt;Box style={{ flex: 1, background: '#FFF3EE', borderLeft: '2px solid ' + it.c, padding: '7px 9px', marginTop: 8, justifyContent: 'center' }}&gt;&#10;                &lt;Text style={{ fontSize: 11.5, color: '#0F1423', lineHeight: 1.5 }}&gt;{it.f}&lt;/Text&gt;&#10;              &lt;/Box&gt;&#10;            &lt;/Box&gt;&#10;          &lt;/Box&gt;&#10;        ))}&#10;      &lt;/Box&gt;&#10;&#10;      &lt;Box style={{ flex: 1, flexDirection: 'row', gap: 9 }}&gt;&#10;        {[&#10;          { n: '失效四', t: '重复处理', s: '同一批数据算了两遍，结果翻倍', r: '根因：重试没有幂等键、两个任务同时消费同一事务、补数与常规任务重叠', f: '处方：以业务主键加事务号做幂等键，重复写入由唯一约束拦住而不是靠代码判断', c: '#C43A17' },&#10;          { n: '失效五', t: '血缘断裂', s: '改一个字段，不知道谁在用', r: '根因：血缘靠人工维护、临时表绕过了管道、私下直连库查询', f: '处方：血缘必须自动产出；禁止绕过管道直连；临时表必须挂在管道节点上', c: '#0F1423' },&#10;        ].map((it, i) =&gt; (&#10;          &lt;Box key={it.n} style={{ flex: 1, background: '#F7F7F8', borderRadius: 4, borderLeft: '4px solid ' + it.c, padding: '12px 16px', flexDirection: 'column' }}&gt;&#10;            &lt;Text style={{ fontSize: 10.5, color: '#8A8F99' }}&gt;{it.n}&lt;/Text&gt;&#10;            &lt;Text style={{ fontSize: 15, fontWeight: 'bold', color: it.c, marginTop: 3 }}&gt;{it.t}&lt;/Text&gt;&#10;            &lt;Text style={{ fontSize: 11.5, color: '#3A4050', marginTop: 7, lineHeight: 1.5 }}&gt;{it.r}&lt;/Text&gt;&#10;            &lt;Box style={{ flex: 1, background: '#FFF3EE', borderRadius: 3, padding: '8px 11px', marginTop: 8, justifyContent: 'center' }}&gt;&#10;              &lt;Text style={{ fontSize: 11.5, color: '#0F1423', lineHeight: 1.5 }}&gt;{it.f}&lt;/Text&gt;&#10;            &lt;/Box&gt;&#10;          &lt;/Box&gt;&#10;        ))}&#10;        &lt;Box style={{ width: 320, background: '#0F1423', borderRadius: 4, padding: '12px 16px', flexDirection: 'column', justifyContent: 'center' }}&gt;&#10;          &lt;Text style={{ fontSize: 14, fontWeight: 'bold', color: '#FBA15C' }}&gt;排查的切入顺序&lt;/Text&gt;&#10;          &lt;Text style={{ fontSize: 12, color: 'rgba(255,255,255,0.85)', marginTop: 8, lineHeight: 1.55 }}&gt;&#10;            先看事务序列是否连续（查漏数与重复），再看指标历史曲线是否平滑（查口径漂移），再看端到端时效趋势（查延迟累积），最后看血缘覆盖度（查断裂）。这个顺序的好处是前两步几分钟就能排除一半可能。&#10;          &lt;/Text&gt;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28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管道处理的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五类失败模式</a:t>
            </a:r>
            <a:endParaRPr/>
          </a:p>
        </p:txBody>
      </p:sp>
      <p:sp>
        <p:nvSpPr>
          <p:cNvPr id="97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五类失效都不会报错，只会安静地算出一个看起来合理的数——所以要按症状而不是按报错来排查</a:t>
            </a:r>
            <a:endParaRPr/>
          </a:p>
        </p:txBody>
      </p:sp>
      <p:sp>
        <p:nvSpPr>
          <p:cNvPr id="98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81" name=""/>
          <p:cNvSpPr/>
          <p:nvPr/>
        </p:nvSpPr>
        <p:spPr>
          <a:xfrm rot="0" flipH="0" flipV="0">
            <a:off x="609600" y="1285875"/>
            <a:ext cx="3600450" cy="2447925"/>
          </a:xfrm>
          <a:prstGeom prst="roundRect">
            <a:avLst>
              <a:gd name="adj" fmla="val 15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82" name=""/>
          <p:cNvSpPr/>
          <p:nvPr/>
        </p:nvSpPr>
        <p:spPr>
          <a:xfrm rot="0" flipH="0" flipV="0">
            <a:off x="609600" y="1285875"/>
            <a:ext cx="3600450" cy="5715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83" name="" descr="{&quot;isTemplate&quot;:true,&quot;type&quot;:&quot;text&quot;}"/>
          <p:cNvSpPr txBox="1"/>
          <p:nvPr/>
        </p:nvSpPr>
        <p:spPr>
          <a:xfrm rot="0" flipH="0" flipV="0">
            <a:off x="742950" y="1400175"/>
            <a:ext cx="33337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失效一</a:t>
            </a:r>
            <a:endParaRPr/>
          </a:p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742950" y="1552575"/>
            <a:ext cx="3333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静默漏数</a:t>
            </a:r>
            <a:endParaRPr/>
          </a:p>
        </p:txBody>
      </p:sp>
      <p:sp>
        <p:nvSpPr>
          <p:cNvPr id="985" name=""/>
          <p:cNvSpPr/>
          <p:nvPr/>
        </p:nvSpPr>
        <p:spPr>
          <a:xfrm rot="0" flipH="0" flipV="0">
            <a:off x="742950" y="1952625"/>
            <a:ext cx="3333750" cy="4381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828675" y="2009775"/>
            <a:ext cx="3162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症状</a:t>
            </a:r>
            <a:endParaRPr/>
          </a:p>
        </p:txBody>
      </p:sp>
      <p:sp>
        <p:nvSpPr>
          <p:cNvPr id="987" name="" descr="{&quot;isTemplate&quot;:true,&quot;type&quot;:&quot;text&quot;}"/>
          <p:cNvSpPr txBox="1"/>
          <p:nvPr/>
        </p:nvSpPr>
        <p:spPr>
          <a:xfrm rot="0" flipH="0" flipV="0">
            <a:off x="828675" y="2143125"/>
            <a:ext cx="31623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0F1423"/>
                </a:solidFill>
                <a:latin typeface="Microsoft YaHei"/>
                <a:ea typeface="Microsoft YaHei"/>
              </a:rPr>
              <a:t>少了一部分记录，但总数看起来合理</a:t>
            </a:r>
            <a:endParaRPr/>
          </a:p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742950" y="2466975"/>
            <a:ext cx="33337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根因：源侧过滤条件变更未通知、增量事务漏提交、重试把失败当成成功跳过</a:t>
            </a:r>
            <a:endParaRPr/>
          </a:p>
        </p:txBody>
      </p:sp>
      <p:sp>
        <p:nvSpPr>
          <p:cNvPr id="989" name=""/>
          <p:cNvSpPr/>
          <p:nvPr/>
        </p:nvSpPr>
        <p:spPr>
          <a:xfrm rot="0" flipH="0" flipV="0">
            <a:off x="762000" y="2943225"/>
            <a:ext cx="3333750" cy="6953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90" name=""/>
          <p:cNvSpPr/>
          <p:nvPr/>
        </p:nvSpPr>
        <p:spPr>
          <a:xfrm rot="0" flipH="0" flipV="0">
            <a:off x="742950" y="2943225"/>
            <a:ext cx="3352800" cy="695325"/>
          </a:xfrm>
          <a:custGeom>
            <a:pathLst>
              <a:path w="352" h="73">
                <a:moveTo>
                  <a:pt x="0" y="0"/>
                </a:moveTo>
                <a:lnTo>
                  <a:pt x="2" y="0"/>
                </a:lnTo>
                <a:lnTo>
                  <a:pt x="2" y="73"/>
                </a:lnTo>
                <a:lnTo>
                  <a:pt x="0" y="7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91" name="" descr="{&quot;isTemplate&quot;:true,&quot;type&quot;:&quot;text&quot;}"/>
          <p:cNvSpPr txBox="1"/>
          <p:nvPr/>
        </p:nvSpPr>
        <p:spPr>
          <a:xfrm rot="0" flipH="0" flipV="0">
            <a:off x="847725" y="3095625"/>
            <a:ext cx="31432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0F1423"/>
                </a:solidFill>
                <a:latin typeface="Microsoft YaHei"/>
                <a:ea typeface="Microsoft YaHei"/>
              </a:rPr>
              <a:t>处方：贴源层做行数与金额双校验，缺一即熔断，不允许只对行数</a:t>
            </a:r>
            <a:endParaRPr/>
          </a:p>
        </p:txBody>
      </p:sp>
      <p:sp>
        <p:nvSpPr>
          <p:cNvPr id="992" name=""/>
          <p:cNvSpPr/>
          <p:nvPr/>
        </p:nvSpPr>
        <p:spPr>
          <a:xfrm rot="0" flipH="0" flipV="0">
            <a:off x="4295775" y="1285875"/>
            <a:ext cx="3600450" cy="2447925"/>
          </a:xfrm>
          <a:prstGeom prst="roundRect">
            <a:avLst>
              <a:gd name="adj" fmla="val 15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93" name=""/>
          <p:cNvSpPr/>
          <p:nvPr/>
        </p:nvSpPr>
        <p:spPr>
          <a:xfrm rot="0" flipH="0" flipV="0">
            <a:off x="4295775" y="1285875"/>
            <a:ext cx="3600450" cy="571500"/>
          </a:xfrm>
          <a:prstGeom prst="rect">
            <a:avLst/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4429125" y="1400175"/>
            <a:ext cx="33337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失效二</a:t>
            </a:r>
            <a:endParaRPr/>
          </a:p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4429125" y="1552575"/>
            <a:ext cx="3333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口径漂移</a:t>
            </a:r>
            <a:endParaRPr/>
          </a:p>
        </p:txBody>
      </p:sp>
      <p:sp>
        <p:nvSpPr>
          <p:cNvPr id="996" name=""/>
          <p:cNvSpPr/>
          <p:nvPr/>
        </p:nvSpPr>
        <p:spPr>
          <a:xfrm rot="0" flipH="0" flipV="0">
            <a:off x="4429125" y="1952625"/>
            <a:ext cx="3333750" cy="4381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7" name="" descr="{&quot;isTemplate&quot;:true,&quot;type&quot;:&quot;text&quot;}"/>
          <p:cNvSpPr txBox="1"/>
          <p:nvPr/>
        </p:nvSpPr>
        <p:spPr>
          <a:xfrm rot="0" flipH="0" flipV="0">
            <a:off x="4514850" y="2009775"/>
            <a:ext cx="3162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症状</a:t>
            </a:r>
            <a:endParaRPr/>
          </a:p>
        </p:txBody>
      </p:sp>
      <p:sp>
        <p:nvSpPr>
          <p:cNvPr id="998" name="" descr="{&quot;isTemplate&quot;:true,&quot;type&quot;:&quot;text&quot;}"/>
          <p:cNvSpPr txBox="1"/>
          <p:nvPr/>
        </p:nvSpPr>
        <p:spPr>
          <a:xfrm rot="0" flipH="0" flipV="0">
            <a:off x="4514850" y="2143125"/>
            <a:ext cx="31623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0F1423"/>
                </a:solidFill>
                <a:latin typeface="Microsoft YaHei"/>
                <a:ea typeface="Microsoft YaHei"/>
              </a:rPr>
              <a:t>同一个指标每个月都在小幅变化</a:t>
            </a:r>
            <a:endParaRPr/>
          </a:p>
        </p:txBody>
      </p:sp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4429125" y="2466975"/>
            <a:ext cx="33337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根因：多条管道各自实现同一口径、修数逻辑越加越多、没有基准口径</a:t>
            </a:r>
            <a:endParaRPr/>
          </a:p>
        </p:txBody>
      </p:sp>
      <p:sp>
        <p:nvSpPr>
          <p:cNvPr id="1000" name=""/>
          <p:cNvSpPr/>
          <p:nvPr/>
        </p:nvSpPr>
        <p:spPr>
          <a:xfrm rot="0" flipH="0" flipV="0">
            <a:off x="4448175" y="2943225"/>
            <a:ext cx="3333750" cy="6953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01" name=""/>
          <p:cNvSpPr/>
          <p:nvPr/>
        </p:nvSpPr>
        <p:spPr>
          <a:xfrm rot="0" flipH="0" flipV="0">
            <a:off x="4429125" y="2943225"/>
            <a:ext cx="3352800" cy="695325"/>
          </a:xfrm>
          <a:custGeom>
            <a:pathLst>
              <a:path w="352" h="73">
                <a:moveTo>
                  <a:pt x="0" y="0"/>
                </a:moveTo>
                <a:lnTo>
                  <a:pt x="2" y="0"/>
                </a:lnTo>
                <a:lnTo>
                  <a:pt x="2" y="73"/>
                </a:lnTo>
                <a:lnTo>
                  <a:pt x="0" y="73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002" name="" descr="{&quot;isTemplate&quot;:true,&quot;type&quot;:&quot;text&quot;}"/>
          <p:cNvSpPr txBox="1"/>
          <p:nvPr/>
        </p:nvSpPr>
        <p:spPr>
          <a:xfrm rot="0" flipH="0" flipV="0">
            <a:off x="4533900" y="3095625"/>
            <a:ext cx="31432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0F1423"/>
                </a:solidFill>
                <a:latin typeface="Microsoft YaHei"/>
                <a:ea typeface="Microsoft YaHei"/>
              </a:rPr>
              <a:t>处方：一个指标只允许一处实现，其余引用；发现冲突标红而不是取最新</a:t>
            </a:r>
            <a:endParaRPr/>
          </a:p>
        </p:txBody>
      </p:sp>
      <p:sp>
        <p:nvSpPr>
          <p:cNvPr id="1003" name=""/>
          <p:cNvSpPr/>
          <p:nvPr/>
        </p:nvSpPr>
        <p:spPr>
          <a:xfrm rot="0" flipH="0" flipV="0">
            <a:off x="7981950" y="1285875"/>
            <a:ext cx="3600450" cy="2447925"/>
          </a:xfrm>
          <a:prstGeom prst="roundRect">
            <a:avLst>
              <a:gd name="adj" fmla="val 15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04" name=""/>
          <p:cNvSpPr/>
          <p:nvPr/>
        </p:nvSpPr>
        <p:spPr>
          <a:xfrm rot="0" flipH="0" flipV="0">
            <a:off x="7981950" y="1285875"/>
            <a:ext cx="3600450" cy="571500"/>
          </a:xfrm>
          <a:prstGeom prst="rect">
            <a:avLst/>
          </a:prstGeom>
          <a:solidFill>
            <a:srgbClr val="E0651A"/>
          </a:solidFill>
          <a:ln/>
        </p:spPr>
        <p:txBody>
          <a:bodyPr/>
          <a:p/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8115300" y="1400175"/>
            <a:ext cx="33337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失效三</a:t>
            </a:r>
            <a:endParaRPr/>
          </a:p>
        </p:txBody>
      </p:sp>
      <p:sp>
        <p:nvSpPr>
          <p:cNvPr id="1006" name="" descr="{&quot;isTemplate&quot;:true,&quot;type&quot;:&quot;text&quot;}"/>
          <p:cNvSpPr txBox="1"/>
          <p:nvPr/>
        </p:nvSpPr>
        <p:spPr>
          <a:xfrm rot="0" flipH="0" flipV="0">
            <a:off x="8115300" y="1552575"/>
            <a:ext cx="3333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延迟累积</a:t>
            </a:r>
            <a:endParaRPr/>
          </a:p>
        </p:txBody>
      </p:sp>
      <p:sp>
        <p:nvSpPr>
          <p:cNvPr id="1007" name=""/>
          <p:cNvSpPr/>
          <p:nvPr/>
        </p:nvSpPr>
        <p:spPr>
          <a:xfrm rot="0" flipH="0" flipV="0">
            <a:off x="8115300" y="1952625"/>
            <a:ext cx="3333750" cy="4381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8" name="" descr="{&quot;isTemplate&quot;:true,&quot;type&quot;:&quot;text&quot;}"/>
          <p:cNvSpPr txBox="1"/>
          <p:nvPr/>
        </p:nvSpPr>
        <p:spPr>
          <a:xfrm rot="0" flipH="0" flipV="0">
            <a:off x="8201025" y="2009775"/>
            <a:ext cx="3162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症状</a:t>
            </a:r>
            <a:endParaRPr/>
          </a:p>
        </p:txBody>
      </p:sp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8201025" y="2143125"/>
            <a:ext cx="31623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0F1423"/>
                </a:solidFill>
                <a:latin typeface="Microsoft YaHei"/>
                <a:ea typeface="Microsoft YaHei"/>
              </a:rPr>
              <a:t>单条管道不慢，整体越来越晚</a:t>
            </a:r>
            <a:endParaRPr/>
          </a:p>
        </p:txBody>
      </p:sp>
      <p:sp>
        <p:nvSpPr>
          <p:cNvPr id="1010" name="" descr="{&quot;isTemplate&quot;:true,&quot;type&quot;:&quot;text&quot;}"/>
          <p:cNvSpPr txBox="1"/>
          <p:nvPr/>
        </p:nvSpPr>
        <p:spPr>
          <a:xfrm rot="0" flipH="0" flipV="0">
            <a:off x="8115300" y="2466975"/>
            <a:ext cx="333375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根因：串行环节增多、窗口计算重叠、补数与常规任务抢资源</a:t>
            </a:r>
            <a:endParaRPr/>
          </a:p>
        </p:txBody>
      </p:sp>
      <p:sp>
        <p:nvSpPr>
          <p:cNvPr id="1011" name=""/>
          <p:cNvSpPr/>
          <p:nvPr/>
        </p:nvSpPr>
        <p:spPr>
          <a:xfrm rot="0" flipH="0" flipV="0">
            <a:off x="8134350" y="2743200"/>
            <a:ext cx="3333750" cy="89535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12" name=""/>
          <p:cNvSpPr/>
          <p:nvPr/>
        </p:nvSpPr>
        <p:spPr>
          <a:xfrm rot="0" flipH="0" flipV="0">
            <a:off x="8115300" y="2743200"/>
            <a:ext cx="3352800" cy="895350"/>
          </a:xfrm>
          <a:custGeom>
            <a:pathLst>
              <a:path w="352" h="94">
                <a:moveTo>
                  <a:pt x="0" y="0"/>
                </a:moveTo>
                <a:lnTo>
                  <a:pt x="2" y="0"/>
                </a:lnTo>
                <a:lnTo>
                  <a:pt x="2" y="94"/>
                </a:lnTo>
                <a:lnTo>
                  <a:pt x="0" y="94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8220075" y="2990850"/>
            <a:ext cx="31432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0F1423"/>
                </a:solidFill>
                <a:latin typeface="Microsoft YaHei"/>
                <a:ea typeface="Microsoft YaHei"/>
              </a:rPr>
              <a:t>处方：为端到端时效设承诺并逐段打点，超时自动告警而不是等业务来投诉</a:t>
            </a:r>
            <a:endParaRPr/>
          </a:p>
        </p:txBody>
      </p:sp>
      <p:sp>
        <p:nvSpPr>
          <p:cNvPr id="1014" name=""/>
          <p:cNvSpPr/>
          <p:nvPr/>
        </p:nvSpPr>
        <p:spPr>
          <a:xfrm rot="0" flipH="0" flipV="0">
            <a:off x="647700" y="3829050"/>
            <a:ext cx="3876675" cy="1809750"/>
          </a:xfrm>
          <a:prstGeom prst="roundRect">
            <a:avLst>
              <a:gd name="adj" fmla="val 21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15" name=""/>
          <p:cNvSpPr/>
          <p:nvPr/>
        </p:nvSpPr>
        <p:spPr>
          <a:xfrm rot="0" flipH="0" flipV="0">
            <a:off x="647700" y="3829050"/>
            <a:ext cx="3876675" cy="1809750"/>
          </a:xfrm>
          <a:custGeom>
            <a:pathLst>
              <a:path w="407" h="190">
                <a:moveTo>
                  <a:pt x="4" y="190"/>
                </a:moveTo>
                <a:cubicBezTo>
                  <a:pt x="2" y="190"/>
                  <a:pt x="0" y="188"/>
                  <a:pt x="0" y="18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9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800100" y="3943350"/>
            <a:ext cx="35337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失效四</a:t>
            </a:r>
            <a:endParaRPr/>
          </a:p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800100" y="4095750"/>
            <a:ext cx="3533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重复处理</a:t>
            </a:r>
            <a:endParaRPr/>
          </a:p>
        </p:txBody>
      </p:sp>
      <p:sp>
        <p:nvSpPr>
          <p:cNvPr id="1018" name="" descr="{&quot;isTemplate&quot;:true,&quot;type&quot;:&quot;text&quot;}"/>
          <p:cNvSpPr txBox="1"/>
          <p:nvPr/>
        </p:nvSpPr>
        <p:spPr>
          <a:xfrm rot="0" flipH="0" flipV="0">
            <a:off x="800100" y="4333875"/>
            <a:ext cx="353377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根因：重试没有幂等键、两个任务同时消费同一事务、补数与常规任务重叠</a:t>
            </a:r>
            <a:endParaRPr/>
          </a:p>
        </p:txBody>
      </p:sp>
      <p:sp>
        <p:nvSpPr>
          <p:cNvPr id="1019" name=""/>
          <p:cNvSpPr/>
          <p:nvPr/>
        </p:nvSpPr>
        <p:spPr>
          <a:xfrm rot="0" flipH="0" flipV="0">
            <a:off x="800100" y="4810125"/>
            <a:ext cx="3533775" cy="714375"/>
          </a:xfrm>
          <a:prstGeom prst="roundRect">
            <a:avLst>
              <a:gd name="adj" fmla="val 4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20" name="" descr="{&quot;isTemplate&quot;:true,&quot;type&quot;:&quot;text&quot;}"/>
          <p:cNvSpPr txBox="1"/>
          <p:nvPr/>
        </p:nvSpPr>
        <p:spPr>
          <a:xfrm rot="0" flipH="0" flipV="0">
            <a:off x="904875" y="4972050"/>
            <a:ext cx="332422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0F1423"/>
                </a:solidFill>
                <a:latin typeface="Microsoft YaHei"/>
                <a:ea typeface="Microsoft YaHei"/>
              </a:rPr>
              <a:t>处方：以业务主键加事务号做幂等键，重复写入由唯一约束拦住而不是靠代码判断</a:t>
            </a:r>
            <a:endParaRPr/>
          </a:p>
        </p:txBody>
      </p:sp>
      <p:sp>
        <p:nvSpPr>
          <p:cNvPr id="1021" name=""/>
          <p:cNvSpPr/>
          <p:nvPr/>
        </p:nvSpPr>
        <p:spPr>
          <a:xfrm rot="0" flipH="0" flipV="0">
            <a:off x="4610100" y="3829050"/>
            <a:ext cx="3876675" cy="1809750"/>
          </a:xfrm>
          <a:prstGeom prst="roundRect">
            <a:avLst>
              <a:gd name="adj" fmla="val 21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22" name=""/>
          <p:cNvSpPr/>
          <p:nvPr/>
        </p:nvSpPr>
        <p:spPr>
          <a:xfrm rot="0" flipH="0" flipV="0">
            <a:off x="4610100" y="3829050"/>
            <a:ext cx="3876675" cy="1809750"/>
          </a:xfrm>
          <a:custGeom>
            <a:pathLst>
              <a:path w="407" h="190">
                <a:moveTo>
                  <a:pt x="4" y="190"/>
                </a:moveTo>
                <a:cubicBezTo>
                  <a:pt x="2" y="190"/>
                  <a:pt x="0" y="188"/>
                  <a:pt x="0" y="18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9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4762500" y="3943350"/>
            <a:ext cx="35337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失效五</a:t>
            </a:r>
            <a:endParaRPr/>
          </a:p>
        </p:txBody>
      </p:sp>
      <p:sp>
        <p:nvSpPr>
          <p:cNvPr id="1024" name="" descr="{&quot;isTemplate&quot;:true,&quot;type&quot;:&quot;text&quot;}"/>
          <p:cNvSpPr txBox="1"/>
          <p:nvPr/>
        </p:nvSpPr>
        <p:spPr>
          <a:xfrm rot="0" flipH="0" flipV="0">
            <a:off x="4762500" y="4095750"/>
            <a:ext cx="3533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血缘断裂</a:t>
            </a:r>
            <a:endParaRPr/>
          </a:p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4762500" y="4333875"/>
            <a:ext cx="35337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根因：血缘靠人工维护、临时表绕过了管道、私下直连库查询</a:t>
            </a:r>
            <a:endParaRPr/>
          </a:p>
        </p:txBody>
      </p:sp>
      <p:sp>
        <p:nvSpPr>
          <p:cNvPr id="1026" name=""/>
          <p:cNvSpPr/>
          <p:nvPr/>
        </p:nvSpPr>
        <p:spPr>
          <a:xfrm rot="0" flipH="0" flipV="0">
            <a:off x="4762500" y="4610100"/>
            <a:ext cx="3533775" cy="914400"/>
          </a:xfrm>
          <a:prstGeom prst="roundRect">
            <a:avLst>
              <a:gd name="adj" fmla="val 312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27" name="" descr="{&quot;isTemplate&quot;:true,&quot;type&quot;:&quot;text&quot;}"/>
          <p:cNvSpPr txBox="1"/>
          <p:nvPr/>
        </p:nvSpPr>
        <p:spPr>
          <a:xfrm rot="0" flipH="0" flipV="0">
            <a:off x="4867275" y="4867275"/>
            <a:ext cx="332422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0F1423"/>
                </a:solidFill>
                <a:latin typeface="Microsoft YaHei"/>
                <a:ea typeface="Microsoft YaHei"/>
              </a:rPr>
              <a:t>处方：血缘必须自动产出；禁止绕过管道直连；临时表必须挂在管道节点上</a:t>
            </a:r>
            <a:endParaRPr/>
          </a:p>
        </p:txBody>
      </p:sp>
      <p:sp>
        <p:nvSpPr>
          <p:cNvPr id="1028" name=""/>
          <p:cNvSpPr/>
          <p:nvPr/>
        </p:nvSpPr>
        <p:spPr>
          <a:xfrm rot="0" flipH="0" flipV="0">
            <a:off x="8534400" y="3829050"/>
            <a:ext cx="3048000" cy="1809750"/>
          </a:xfrm>
          <a:prstGeom prst="roundRect">
            <a:avLst>
              <a:gd name="adj" fmla="val 210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29" name="" descr="{&quot;isTemplate&quot;:true,&quot;type&quot;:&quot;text&quot;}"/>
          <p:cNvSpPr txBox="1"/>
          <p:nvPr/>
        </p:nvSpPr>
        <p:spPr>
          <a:xfrm rot="0" flipH="0" flipV="0">
            <a:off x="8686800" y="4191000"/>
            <a:ext cx="274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排查的切入顺序</a:t>
            </a:r>
            <a:endParaRPr/>
          </a:p>
        </p:txBody>
      </p:sp>
      <p:sp>
        <p:nvSpPr>
          <p:cNvPr id="1030" name="" descr="{&quot;isTemplate&quot;:true,&quot;type&quot;:&quot;text&quot;}"/>
          <p:cNvSpPr txBox="1"/>
          <p:nvPr/>
        </p:nvSpPr>
        <p:spPr>
          <a:xfrm rot="0" flipH="0" flipV="0">
            <a:off x="8686800" y="4429125"/>
            <a:ext cx="27432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先看事务序列是否连续（查漏数与重复），再看指标历史曲线是否平滑（查口径漂移），再看端到端时效趋势（查延迟累积），最后看血缘覆盖度（查断裂）。这个顺序的好处是前两步几分钟就能排除一半可能。</a:t>
            </a:r>
            <a:endParaRPr/>
          </a:p>
        </p:txBody>
      </p:sp>
      <p:sp>
        <p:nvSpPr>
          <p:cNvPr id="1031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32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1034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28 / 30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035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上线评审 12 项 + 从批到增再到流的&lt;span style={{ color: '#FA4F24' }}&gt;三步演进&lt;/span&gt;&#10;      &lt;/Text&gt;&#10;      &lt;Text style={{ fontSize: 20, color: '#8A8F99', marginTop: 8 }}&gt;&#10;        左边是准入清单，右边是演进路径；两条线都要求同一件事——每一步都有明确的判断依据&#10;      &lt;/Text&gt;&#10;    &lt;/Box&gt;&#10;    &lt;Box style={{ height: 1, background: '#E8E8E8' }} /&gt;&#10;&#10;    &lt;Box style={{ paddingTop: 14, paddingBottom: 8, height: 479, flexDirection: 'row', gap: 12 }}&gt;&#10;      {/* 12 项 */}&#10;      &lt;Box style={{ width: 552, background: '#F7F7F8', borderRadius: 4, padding: '13px 16px', flexDirection: 'column' }}&gt;&#10;        &lt;Text style={{ fontSize: 14, fontWeight: 'bold', color: '#0F1423' }}&gt;上线评审十二项（逐项打勾，不允许「基本满足」）&lt;/Text&gt;&#10;        &lt;Box style={{ flex: 1, flexDirection: 'column', gap: 5, marginTop: 10 }}&gt;&#10;          {[&#10;            { n: '01', t: '源清单已登记，敏感字段已分级', g: '治理' },&#10;            { n: '02', t: '口径字典已发布，冲突台账为空', g: '治理' },&#10;            { n: '03', t: '本体映射表已评审，覆盖率与链接有效率达标', g: '设计' },&#10;            { n: '04', t: '事务边界与幂等键规则已确定', g: '设计' },&#10;            { n: '05', t: '计算模式已明确（快照或增量），已开启强制增量校验', g: '设计' },&#10;            { n: '06', t: '三层血缘齐备且自动产出', g: '治理' },&#10;            { n: '07', t: '分支沙箱已跑通，差异清单已确认', g: '工程' },&#10;            { n: '08', t: '发布检查表签字齐全，回滚路径已验证', g: '工程' },&#10;            { n: '09', t: '五类健康检查已配置，告警接收人明确', g: '工程' },&#10;            { n: '10', t: '时效承诺已给出，并已在实测中达标', g: '工程' },&#10;            { n: '11', t: '权限与密级在出口处已二次校验', g: '治理' },&#10;            { n: '12', t: '退役条件与替代者已写明', g: '运营' },&#10;          ].map((it, i) =&gt; (&#10;            &lt;Box key={it.n} style={{ flex: 1, background: '#FFFFFF', borderRadius: 3, padding: '0 10px', flexDirection: 'row', alignItems: 'center', gap: 10 }}&gt;&#10;              &lt;Box style={{ width: 14, height: 14, border: '1px solid #C9CDD6', alignItems: 'center', justifyContent: 'center' }} /&gt;&#10;              &lt;Text style={{ fontSize: 11, fontWeight: 'bold', color: '#FA4F24', width: 18 }}&gt;{it.n}&lt;/Text&gt;&#10;              &lt;Text style={{ fontSize: 11.5, color: '#0F1423', flex: 1 }}&gt;{it.t}&lt;/Text&gt;&#10;              &lt;Box style={{ height: 17, background: it.g === '治理' ? '#FFF3EE' : it.g === '设计' ? '#F7F7F8' : '#0F1423', padding: '0 7px', justifyContent: 'center' }}&gt;&#10;                &lt;Text style={{ fontSize: 9.5, color: it.g === '工程' ? '#FBA15C' : '#C43A17' }}&gt;{it.g}&lt;/Text&gt;&#10;              &lt;/Box&gt;&#10;            &lt;/Box&gt;&#10;          ))}&#10;        &lt;/Box&gt;&#10;      &lt;/Box&gt;&#10;&#10;      {/* 三步演进 */}&#10;      &lt;Box style={{ flex: 1, flexDirection: 'column', gap: 9 }}&gt;&#10;        {[&#10;          { n: '第一步', t: '批处理', s: '先把跑通放在第一位', d: '全量或按窗口抽取，实现简单、可重放、易理解。目标是把口径与映射做对，不是快。', k: '进入下一步的判断依据：口径稳定、映射覆盖率达标、血缘完整', c: '#8A8F99' },&#10;          { n: '第二步', t: '增量', s: '把成本与延迟降下来', d: '只处理追加事务。前提是所有输入都通过追加或不修改既有文件的更新事务变更。', k: '进入下一步的判断依据：单次全量已跑不动，或时效承诺无法满足', c: '#F87D2F' },&#10;          { n: '第三步', t: '流式', s: '只为极致延迟而做', d: '端到端持续计算。记住流式只会和最慢组件一样快，设计之初就要确认目标延迟与吞吐。', k: '进入下一步的判断依据：业务确实要求分钟级以内，且增量已无法满足', c: '#FA4F24' },&#10;        ].map((it, i) =&gt; (&#10;          &lt;Box key={it.n} style={{ flex: 1, background: i === 2 ? '#FFF3EE' : '#F7F7F8', borderRadius: 4, borderLeft: '4px solid ' + it.c, padding: '12px 15px', flexDirection: 'column', justifyContent: 'center' }}&gt;&#10;            &lt;Box style={{ flexDirection: 'row', alignItems: 'center', gap: 9 }}&gt;&#10;              &lt;Text style={{ fontSize: 11, color: it.c }}&gt;{it.n}&lt;/Text&gt;&#10;              &lt;Text style={{ fontSize: 16, fontWeight: 'bold', color: it.c }}&gt;{it.t}&lt;/Text&gt;&#10;              &lt;Text style={{ fontSize: 11, color: '#8A8F99' }}&gt;{it.s}&lt;/Text&gt;&#10;            &lt;/Box&gt;&#10;            &lt;Text style={{ fontSize: 12, color: '#3A4050', marginTop: 7, lineHeight: 1.5 }}&gt;{it.d}&lt;/Text&gt;&#10;            &lt;Box style={{ background: '#FFFFFF', borderRadius: 3, padding: '6px 9px', marginTop: 8 }}&gt;&#10;              &lt;Text style={{ fontSize: 11, color: '#0F1423', lineHeight: 1.4 }}&gt;{it.k}&lt;/Text&gt;&#10;            &lt;/Box&gt;&#10;          &lt;/Box&gt;&#10;        ))}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29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3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上线评审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项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从批到增再到流的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三步演进</a:t>
            </a:r>
            <a:endParaRPr/>
          </a:p>
        </p:txBody>
      </p:sp>
      <p:sp>
        <p:nvSpPr>
          <p:cNvPr id="103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左边是准入清单，右边是演进路径；两条线都要求同一件事——每一步都有明确的判断依据</a:t>
            </a:r>
            <a:endParaRPr/>
          </a:p>
        </p:txBody>
      </p:sp>
      <p:sp>
        <p:nvSpPr>
          <p:cNvPr id="103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40" name=""/>
          <p:cNvSpPr/>
          <p:nvPr/>
        </p:nvSpPr>
        <p:spPr>
          <a:xfrm rot="0" flipH="0" flipV="0">
            <a:off x="609600" y="1285875"/>
            <a:ext cx="5257800" cy="4352925"/>
          </a:xfrm>
          <a:prstGeom prst="roundRect">
            <a:avLst>
              <a:gd name="adj" fmla="val 87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41" name="" descr="{&quot;isTemplate&quot;:true,&quot;type&quot;:&quot;text&quot;}"/>
          <p:cNvSpPr txBox="1"/>
          <p:nvPr/>
        </p:nvSpPr>
        <p:spPr>
          <a:xfrm rot="0" flipH="0" flipV="0">
            <a:off x="762000" y="1409700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上线评审十二项（逐项打勾，不允许「基本满足」）</a:t>
            </a:r>
            <a:endParaRPr/>
          </a:p>
        </p:txBody>
      </p:sp>
      <p:sp>
        <p:nvSpPr>
          <p:cNvPr id="1042" name=""/>
          <p:cNvSpPr/>
          <p:nvPr/>
        </p:nvSpPr>
        <p:spPr>
          <a:xfrm rot="0" flipH="0" flipV="0">
            <a:off x="762000" y="1666875"/>
            <a:ext cx="4953000" cy="276225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43" name=""/>
          <p:cNvSpPr/>
          <p:nvPr/>
        </p:nvSpPr>
        <p:spPr>
          <a:xfrm rot="0" flipH="0" flipV="0">
            <a:off x="857250" y="1743075"/>
            <a:ext cx="133350" cy="133350"/>
          </a:xfrm>
          <a:prstGeom prst="rect">
            <a:avLst/>
          </a:prstGeom>
          <a:ln w="12700">
            <a:solidFill>
              <a:srgbClr val="C9CDD6"/>
            </a:solidFill>
            <a:prstDash val="solid"/>
          </a:ln>
        </p:spPr>
        <p:txBody>
          <a:bodyPr/>
          <a:p/>
        </p:txBody>
      </p:sp>
      <p:sp>
        <p:nvSpPr>
          <p:cNvPr id="1044" name="" descr="{&quot;isTemplate&quot;:true,&quot;type&quot;:&quot;text&quot;}"/>
          <p:cNvSpPr txBox="1"/>
          <p:nvPr/>
        </p:nvSpPr>
        <p:spPr>
          <a:xfrm rot="0" flipH="0" flipV="0">
            <a:off x="1085850" y="1743075"/>
            <a:ext cx="17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045" name="" descr="{&quot;isTemplate&quot;:true,&quot;type&quot;:&quot;text&quot;}"/>
          <p:cNvSpPr txBox="1"/>
          <p:nvPr/>
        </p:nvSpPr>
        <p:spPr>
          <a:xfrm rot="0" flipH="0" flipV="0">
            <a:off x="1352550" y="1743075"/>
            <a:ext cx="385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F1423"/>
                </a:solidFill>
                <a:latin typeface="Microsoft YaHei"/>
                <a:ea typeface="Microsoft YaHei"/>
              </a:rPr>
              <a:t>源清单已登记，敏感字段已分级</a:t>
            </a:r>
            <a:endParaRPr/>
          </a:p>
        </p:txBody>
      </p:sp>
      <p:sp>
        <p:nvSpPr>
          <p:cNvPr id="1046" name=""/>
          <p:cNvSpPr/>
          <p:nvPr/>
        </p:nvSpPr>
        <p:spPr>
          <a:xfrm rot="0" flipH="0" flipV="0">
            <a:off x="5305425" y="1724025"/>
            <a:ext cx="314325" cy="1619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47" name="" descr="{&quot;isTemplate&quot;:true,&quot;type&quot;:&quot;text&quot;}"/>
          <p:cNvSpPr txBox="1"/>
          <p:nvPr/>
        </p:nvSpPr>
        <p:spPr>
          <a:xfrm rot="0" flipH="0" flipV="0">
            <a:off x="5372100" y="1752600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C43A17"/>
                </a:solidFill>
                <a:latin typeface="Microsoft YaHei"/>
                <a:ea typeface="Microsoft YaHei"/>
              </a:rPr>
              <a:t>治理</a:t>
            </a:r>
            <a:endParaRPr/>
          </a:p>
        </p:txBody>
      </p:sp>
      <p:sp>
        <p:nvSpPr>
          <p:cNvPr id="1048" name=""/>
          <p:cNvSpPr/>
          <p:nvPr/>
        </p:nvSpPr>
        <p:spPr>
          <a:xfrm rot="0" flipH="0" flipV="0">
            <a:off x="762000" y="1990725"/>
            <a:ext cx="4953000" cy="276225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49" name=""/>
          <p:cNvSpPr/>
          <p:nvPr/>
        </p:nvSpPr>
        <p:spPr>
          <a:xfrm rot="0" flipH="0" flipV="0">
            <a:off x="857250" y="2066925"/>
            <a:ext cx="133350" cy="133350"/>
          </a:xfrm>
          <a:prstGeom prst="rect">
            <a:avLst/>
          </a:prstGeom>
          <a:ln w="12700">
            <a:solidFill>
              <a:srgbClr val="C9CDD6"/>
            </a:solidFill>
            <a:prstDash val="solid"/>
          </a:ln>
        </p:spPr>
        <p:txBody>
          <a:bodyPr/>
          <a:p/>
        </p:txBody>
      </p:sp>
      <p:sp>
        <p:nvSpPr>
          <p:cNvPr id="1050" name="" descr="{&quot;isTemplate&quot;:true,&quot;type&quot;:&quot;text&quot;}"/>
          <p:cNvSpPr txBox="1"/>
          <p:nvPr/>
        </p:nvSpPr>
        <p:spPr>
          <a:xfrm rot="0" flipH="0" flipV="0">
            <a:off x="1085850" y="2066925"/>
            <a:ext cx="17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051" name="" descr="{&quot;isTemplate&quot;:true,&quot;type&quot;:&quot;text&quot;}"/>
          <p:cNvSpPr txBox="1"/>
          <p:nvPr/>
        </p:nvSpPr>
        <p:spPr>
          <a:xfrm rot="0" flipH="0" flipV="0">
            <a:off x="1352550" y="2066925"/>
            <a:ext cx="385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F1423"/>
                </a:solidFill>
                <a:latin typeface="Microsoft YaHei"/>
                <a:ea typeface="Microsoft YaHei"/>
              </a:rPr>
              <a:t>口径字典已发布，冲突台账为空</a:t>
            </a:r>
            <a:endParaRPr/>
          </a:p>
        </p:txBody>
      </p:sp>
      <p:sp>
        <p:nvSpPr>
          <p:cNvPr id="1052" name=""/>
          <p:cNvSpPr/>
          <p:nvPr/>
        </p:nvSpPr>
        <p:spPr>
          <a:xfrm rot="0" flipH="0" flipV="0">
            <a:off x="5305425" y="2047875"/>
            <a:ext cx="314325" cy="1619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53" name="" descr="{&quot;isTemplate&quot;:true,&quot;type&quot;:&quot;text&quot;}"/>
          <p:cNvSpPr txBox="1"/>
          <p:nvPr/>
        </p:nvSpPr>
        <p:spPr>
          <a:xfrm rot="0" flipH="0" flipV="0">
            <a:off x="5372100" y="2076450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C43A17"/>
                </a:solidFill>
                <a:latin typeface="Microsoft YaHei"/>
                <a:ea typeface="Microsoft YaHei"/>
              </a:rPr>
              <a:t>治理</a:t>
            </a:r>
            <a:endParaRPr/>
          </a:p>
        </p:txBody>
      </p:sp>
      <p:sp>
        <p:nvSpPr>
          <p:cNvPr id="1054" name=""/>
          <p:cNvSpPr/>
          <p:nvPr/>
        </p:nvSpPr>
        <p:spPr>
          <a:xfrm rot="0" flipH="0" flipV="0">
            <a:off x="762000" y="2314575"/>
            <a:ext cx="4953000" cy="276225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5" name=""/>
          <p:cNvSpPr/>
          <p:nvPr/>
        </p:nvSpPr>
        <p:spPr>
          <a:xfrm rot="0" flipH="0" flipV="0">
            <a:off x="857250" y="2390775"/>
            <a:ext cx="133350" cy="133350"/>
          </a:xfrm>
          <a:prstGeom prst="rect">
            <a:avLst/>
          </a:prstGeom>
          <a:ln w="12700">
            <a:solidFill>
              <a:srgbClr val="C9CDD6"/>
            </a:solidFill>
            <a:prstDash val="solid"/>
          </a:ln>
        </p:spPr>
        <p:txBody>
          <a:bodyPr/>
          <a:p/>
        </p:txBody>
      </p:sp>
      <p:sp>
        <p:nvSpPr>
          <p:cNvPr id="1056" name="" descr="{&quot;isTemplate&quot;:true,&quot;type&quot;:&quot;text&quot;}"/>
          <p:cNvSpPr txBox="1"/>
          <p:nvPr/>
        </p:nvSpPr>
        <p:spPr>
          <a:xfrm rot="0" flipH="0" flipV="0">
            <a:off x="1085850" y="2390775"/>
            <a:ext cx="17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057" name="" descr="{&quot;isTemplate&quot;:true,&quot;type&quot;:&quot;text&quot;}"/>
          <p:cNvSpPr txBox="1"/>
          <p:nvPr/>
        </p:nvSpPr>
        <p:spPr>
          <a:xfrm rot="0" flipH="0" flipV="0">
            <a:off x="1352550" y="2390775"/>
            <a:ext cx="385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F1423"/>
                </a:solidFill>
                <a:latin typeface="Microsoft YaHei"/>
                <a:ea typeface="Microsoft YaHei"/>
              </a:rPr>
              <a:t>本体映射表已评审，覆盖率与链接有效率达标</a:t>
            </a:r>
            <a:endParaRPr/>
          </a:p>
        </p:txBody>
      </p:sp>
      <p:sp>
        <p:nvSpPr>
          <p:cNvPr id="1058" name=""/>
          <p:cNvSpPr/>
          <p:nvPr/>
        </p:nvSpPr>
        <p:spPr>
          <a:xfrm rot="0" flipH="0" flipV="0">
            <a:off x="5305425" y="2371725"/>
            <a:ext cx="314325" cy="1619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59" name="" descr="{&quot;isTemplate&quot;:true,&quot;type&quot;:&quot;text&quot;}"/>
          <p:cNvSpPr txBox="1"/>
          <p:nvPr/>
        </p:nvSpPr>
        <p:spPr>
          <a:xfrm rot="0" flipH="0" flipV="0">
            <a:off x="5372100" y="2400300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C43A17"/>
                </a:solidFill>
                <a:latin typeface="Microsoft YaHei"/>
                <a:ea typeface="Microsoft YaHei"/>
              </a:rPr>
              <a:t>设计</a:t>
            </a:r>
            <a:endParaRPr/>
          </a:p>
        </p:txBody>
      </p:sp>
      <p:sp>
        <p:nvSpPr>
          <p:cNvPr id="1060" name=""/>
          <p:cNvSpPr/>
          <p:nvPr/>
        </p:nvSpPr>
        <p:spPr>
          <a:xfrm rot="0" flipH="0" flipV="0">
            <a:off x="762000" y="2638425"/>
            <a:ext cx="4953000" cy="276225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1" name=""/>
          <p:cNvSpPr/>
          <p:nvPr/>
        </p:nvSpPr>
        <p:spPr>
          <a:xfrm rot="0" flipH="0" flipV="0">
            <a:off x="857250" y="2714625"/>
            <a:ext cx="133350" cy="133350"/>
          </a:xfrm>
          <a:prstGeom prst="rect">
            <a:avLst/>
          </a:prstGeom>
          <a:ln w="12700">
            <a:solidFill>
              <a:srgbClr val="C9CDD6"/>
            </a:solidFill>
            <a:prstDash val="solid"/>
          </a:ln>
        </p:spPr>
        <p:txBody>
          <a:bodyPr/>
          <a:p/>
        </p:txBody>
      </p:sp>
      <p:sp>
        <p:nvSpPr>
          <p:cNvPr id="1062" name="" descr="{&quot;isTemplate&quot;:true,&quot;type&quot;:&quot;text&quot;}"/>
          <p:cNvSpPr txBox="1"/>
          <p:nvPr/>
        </p:nvSpPr>
        <p:spPr>
          <a:xfrm rot="0" flipH="0" flipV="0">
            <a:off x="1085850" y="2714625"/>
            <a:ext cx="17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063" name="" descr="{&quot;isTemplate&quot;:true,&quot;type&quot;:&quot;text&quot;}"/>
          <p:cNvSpPr txBox="1"/>
          <p:nvPr/>
        </p:nvSpPr>
        <p:spPr>
          <a:xfrm rot="0" flipH="0" flipV="0">
            <a:off x="1352550" y="2714625"/>
            <a:ext cx="385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F1423"/>
                </a:solidFill>
                <a:latin typeface="Microsoft YaHei"/>
                <a:ea typeface="Microsoft YaHei"/>
              </a:rPr>
              <a:t>事务边界与幂等键规则已确定</a:t>
            </a:r>
            <a:endParaRPr/>
          </a:p>
        </p:txBody>
      </p:sp>
      <p:sp>
        <p:nvSpPr>
          <p:cNvPr id="1064" name=""/>
          <p:cNvSpPr/>
          <p:nvPr/>
        </p:nvSpPr>
        <p:spPr>
          <a:xfrm rot="0" flipH="0" flipV="0">
            <a:off x="5305425" y="2695575"/>
            <a:ext cx="314325" cy="1619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65" name="" descr="{&quot;isTemplate&quot;:true,&quot;type&quot;:&quot;text&quot;}"/>
          <p:cNvSpPr txBox="1"/>
          <p:nvPr/>
        </p:nvSpPr>
        <p:spPr>
          <a:xfrm rot="0" flipH="0" flipV="0">
            <a:off x="5372100" y="2724150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C43A17"/>
                </a:solidFill>
                <a:latin typeface="Microsoft YaHei"/>
                <a:ea typeface="Microsoft YaHei"/>
              </a:rPr>
              <a:t>设计</a:t>
            </a:r>
            <a:endParaRPr/>
          </a:p>
        </p:txBody>
      </p:sp>
      <p:sp>
        <p:nvSpPr>
          <p:cNvPr id="1066" name=""/>
          <p:cNvSpPr/>
          <p:nvPr/>
        </p:nvSpPr>
        <p:spPr>
          <a:xfrm rot="0" flipH="0" flipV="0">
            <a:off x="762000" y="2962275"/>
            <a:ext cx="4953000" cy="276225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7" name=""/>
          <p:cNvSpPr/>
          <p:nvPr/>
        </p:nvSpPr>
        <p:spPr>
          <a:xfrm rot="0" flipH="0" flipV="0">
            <a:off x="857250" y="3038475"/>
            <a:ext cx="133350" cy="133350"/>
          </a:xfrm>
          <a:prstGeom prst="rect">
            <a:avLst/>
          </a:prstGeom>
          <a:ln w="12700">
            <a:solidFill>
              <a:srgbClr val="C9CDD6"/>
            </a:solidFill>
            <a:prstDash val="solid"/>
          </a:ln>
        </p:spPr>
        <p:txBody>
          <a:bodyPr/>
          <a:p/>
        </p:txBody>
      </p:sp>
      <p:sp>
        <p:nvSpPr>
          <p:cNvPr id="1068" name="" descr="{&quot;isTemplate&quot;:true,&quot;type&quot;:&quot;text&quot;}"/>
          <p:cNvSpPr txBox="1"/>
          <p:nvPr/>
        </p:nvSpPr>
        <p:spPr>
          <a:xfrm rot="0" flipH="0" flipV="0">
            <a:off x="1085850" y="3038475"/>
            <a:ext cx="17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069" name="" descr="{&quot;isTemplate&quot;:true,&quot;type&quot;:&quot;text&quot;}"/>
          <p:cNvSpPr txBox="1"/>
          <p:nvPr/>
        </p:nvSpPr>
        <p:spPr>
          <a:xfrm rot="0" flipH="0" flipV="0">
            <a:off x="1352550" y="3038475"/>
            <a:ext cx="385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F1423"/>
                </a:solidFill>
                <a:latin typeface="Microsoft YaHei"/>
                <a:ea typeface="Microsoft YaHei"/>
              </a:rPr>
              <a:t>计算模式已明确（快照或增量），已开启强制增量校验</a:t>
            </a:r>
            <a:endParaRPr/>
          </a:p>
        </p:txBody>
      </p:sp>
      <p:sp>
        <p:nvSpPr>
          <p:cNvPr id="1070" name=""/>
          <p:cNvSpPr/>
          <p:nvPr/>
        </p:nvSpPr>
        <p:spPr>
          <a:xfrm rot="0" flipH="0" flipV="0">
            <a:off x="5305425" y="3019425"/>
            <a:ext cx="314325" cy="1619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71" name="" descr="{&quot;isTemplate&quot;:true,&quot;type&quot;:&quot;text&quot;}"/>
          <p:cNvSpPr txBox="1"/>
          <p:nvPr/>
        </p:nvSpPr>
        <p:spPr>
          <a:xfrm rot="0" flipH="0" flipV="0">
            <a:off x="5372100" y="3048000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C43A17"/>
                </a:solidFill>
                <a:latin typeface="Microsoft YaHei"/>
                <a:ea typeface="Microsoft YaHei"/>
              </a:rPr>
              <a:t>设计</a:t>
            </a:r>
            <a:endParaRPr/>
          </a:p>
        </p:txBody>
      </p:sp>
      <p:sp>
        <p:nvSpPr>
          <p:cNvPr id="1072" name=""/>
          <p:cNvSpPr/>
          <p:nvPr/>
        </p:nvSpPr>
        <p:spPr>
          <a:xfrm rot="0" flipH="0" flipV="0">
            <a:off x="762000" y="3286125"/>
            <a:ext cx="4953000" cy="2857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73" name=""/>
          <p:cNvSpPr/>
          <p:nvPr/>
        </p:nvSpPr>
        <p:spPr>
          <a:xfrm rot="0" flipH="0" flipV="0">
            <a:off x="857250" y="3362325"/>
            <a:ext cx="133350" cy="133350"/>
          </a:xfrm>
          <a:prstGeom prst="rect">
            <a:avLst/>
          </a:prstGeom>
          <a:ln w="12700">
            <a:solidFill>
              <a:srgbClr val="C9CDD6"/>
            </a:solidFill>
            <a:prstDash val="solid"/>
          </a:ln>
        </p:spPr>
        <p:txBody>
          <a:bodyPr/>
          <a:p/>
        </p:txBody>
      </p:sp>
      <p:sp>
        <p:nvSpPr>
          <p:cNvPr id="1074" name="" descr="{&quot;isTemplate&quot;:true,&quot;type&quot;:&quot;text&quot;}"/>
          <p:cNvSpPr txBox="1"/>
          <p:nvPr/>
        </p:nvSpPr>
        <p:spPr>
          <a:xfrm rot="0" flipH="0" flipV="0">
            <a:off x="1085850" y="3362325"/>
            <a:ext cx="17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1075" name="" descr="{&quot;isTemplate&quot;:true,&quot;type&quot;:&quot;text&quot;}"/>
          <p:cNvSpPr txBox="1"/>
          <p:nvPr/>
        </p:nvSpPr>
        <p:spPr>
          <a:xfrm rot="0" flipH="0" flipV="0">
            <a:off x="1352550" y="3362325"/>
            <a:ext cx="385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F1423"/>
                </a:solidFill>
                <a:latin typeface="Microsoft YaHei"/>
                <a:ea typeface="Microsoft YaHei"/>
              </a:rPr>
              <a:t>三层血缘齐备且自动产出</a:t>
            </a:r>
            <a:endParaRPr/>
          </a:p>
        </p:txBody>
      </p:sp>
      <p:sp>
        <p:nvSpPr>
          <p:cNvPr id="1076" name=""/>
          <p:cNvSpPr/>
          <p:nvPr/>
        </p:nvSpPr>
        <p:spPr>
          <a:xfrm rot="0" flipH="0" flipV="0">
            <a:off x="5305425" y="3352800"/>
            <a:ext cx="314325" cy="1619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77" name="" descr="{&quot;isTemplate&quot;:true,&quot;type&quot;:&quot;text&quot;}"/>
          <p:cNvSpPr txBox="1"/>
          <p:nvPr/>
        </p:nvSpPr>
        <p:spPr>
          <a:xfrm rot="0" flipH="0" flipV="0">
            <a:off x="5372100" y="338137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C43A17"/>
                </a:solidFill>
                <a:latin typeface="Microsoft YaHei"/>
                <a:ea typeface="Microsoft YaHei"/>
              </a:rPr>
              <a:t>治理</a:t>
            </a:r>
            <a:endParaRPr/>
          </a:p>
        </p:txBody>
      </p:sp>
      <p:sp>
        <p:nvSpPr>
          <p:cNvPr id="1078" name=""/>
          <p:cNvSpPr/>
          <p:nvPr/>
        </p:nvSpPr>
        <p:spPr>
          <a:xfrm rot="0" flipH="0" flipV="0">
            <a:off x="762000" y="3619500"/>
            <a:ext cx="4953000" cy="276225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79" name=""/>
          <p:cNvSpPr/>
          <p:nvPr/>
        </p:nvSpPr>
        <p:spPr>
          <a:xfrm rot="0" flipH="0" flipV="0">
            <a:off x="857250" y="3695700"/>
            <a:ext cx="133350" cy="133350"/>
          </a:xfrm>
          <a:prstGeom prst="rect">
            <a:avLst/>
          </a:prstGeom>
          <a:ln w="12700">
            <a:solidFill>
              <a:srgbClr val="C9CDD6"/>
            </a:solidFill>
            <a:prstDash val="solid"/>
          </a:ln>
        </p:spPr>
        <p:txBody>
          <a:bodyPr/>
          <a:p/>
        </p:txBody>
      </p:sp>
      <p:sp>
        <p:nvSpPr>
          <p:cNvPr id="1080" name="" descr="{&quot;isTemplate&quot;:true,&quot;type&quot;:&quot;text&quot;}"/>
          <p:cNvSpPr txBox="1"/>
          <p:nvPr/>
        </p:nvSpPr>
        <p:spPr>
          <a:xfrm rot="0" flipH="0" flipV="0">
            <a:off x="1085850" y="3695700"/>
            <a:ext cx="17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1081" name="" descr="{&quot;isTemplate&quot;:true,&quot;type&quot;:&quot;text&quot;}"/>
          <p:cNvSpPr txBox="1"/>
          <p:nvPr/>
        </p:nvSpPr>
        <p:spPr>
          <a:xfrm rot="0" flipH="0" flipV="0">
            <a:off x="1352550" y="3695700"/>
            <a:ext cx="385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F1423"/>
                </a:solidFill>
                <a:latin typeface="Microsoft YaHei"/>
                <a:ea typeface="Microsoft YaHei"/>
              </a:rPr>
              <a:t>分支沙箱已跑通，差异清单已确认</a:t>
            </a:r>
            <a:endParaRPr/>
          </a:p>
        </p:txBody>
      </p:sp>
      <p:sp>
        <p:nvSpPr>
          <p:cNvPr id="1082" name=""/>
          <p:cNvSpPr/>
          <p:nvPr/>
        </p:nvSpPr>
        <p:spPr>
          <a:xfrm rot="0" flipH="0" flipV="0">
            <a:off x="5305425" y="3676650"/>
            <a:ext cx="314325" cy="16192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83" name="" descr="{&quot;isTemplate&quot;:true,&quot;type&quot;:&quot;text&quot;}"/>
          <p:cNvSpPr txBox="1"/>
          <p:nvPr/>
        </p:nvSpPr>
        <p:spPr>
          <a:xfrm rot="0" flipH="0" flipV="0">
            <a:off x="5372100" y="370522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BA15C"/>
                </a:solidFill>
                <a:latin typeface="Microsoft YaHei"/>
                <a:ea typeface="Microsoft YaHei"/>
              </a:rPr>
              <a:t>工程</a:t>
            </a:r>
            <a:endParaRPr/>
          </a:p>
        </p:txBody>
      </p:sp>
      <p:sp>
        <p:nvSpPr>
          <p:cNvPr id="1084" name=""/>
          <p:cNvSpPr/>
          <p:nvPr/>
        </p:nvSpPr>
        <p:spPr>
          <a:xfrm rot="0" flipH="0" flipV="0">
            <a:off x="762000" y="3943350"/>
            <a:ext cx="4953000" cy="276225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5" name=""/>
          <p:cNvSpPr/>
          <p:nvPr/>
        </p:nvSpPr>
        <p:spPr>
          <a:xfrm rot="0" flipH="0" flipV="0">
            <a:off x="857250" y="4019550"/>
            <a:ext cx="133350" cy="133350"/>
          </a:xfrm>
          <a:prstGeom prst="rect">
            <a:avLst/>
          </a:prstGeom>
          <a:ln w="12700">
            <a:solidFill>
              <a:srgbClr val="C9CDD6"/>
            </a:solidFill>
            <a:prstDash val="solid"/>
          </a:ln>
        </p:spPr>
        <p:txBody>
          <a:bodyPr/>
          <a:p/>
        </p:txBody>
      </p:sp>
      <p:sp>
        <p:nvSpPr>
          <p:cNvPr id="1086" name="" descr="{&quot;isTemplate&quot;:true,&quot;type&quot;:&quot;text&quot;}"/>
          <p:cNvSpPr txBox="1"/>
          <p:nvPr/>
        </p:nvSpPr>
        <p:spPr>
          <a:xfrm rot="0" flipH="0" flipV="0">
            <a:off x="1085850" y="4019550"/>
            <a:ext cx="17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1087" name="" descr="{&quot;isTemplate&quot;:true,&quot;type&quot;:&quot;text&quot;}"/>
          <p:cNvSpPr txBox="1"/>
          <p:nvPr/>
        </p:nvSpPr>
        <p:spPr>
          <a:xfrm rot="0" flipH="0" flipV="0">
            <a:off x="1352550" y="4019550"/>
            <a:ext cx="385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F1423"/>
                </a:solidFill>
                <a:latin typeface="Microsoft YaHei"/>
                <a:ea typeface="Microsoft YaHei"/>
              </a:rPr>
              <a:t>发布检查表签字齐全，回滚路径已验证</a:t>
            </a:r>
            <a:endParaRPr/>
          </a:p>
        </p:txBody>
      </p:sp>
      <p:sp>
        <p:nvSpPr>
          <p:cNvPr id="1088" name=""/>
          <p:cNvSpPr/>
          <p:nvPr/>
        </p:nvSpPr>
        <p:spPr>
          <a:xfrm rot="0" flipH="0" flipV="0">
            <a:off x="5305425" y="4000500"/>
            <a:ext cx="314325" cy="16192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89" name="" descr="{&quot;isTemplate&quot;:true,&quot;type&quot;:&quot;text&quot;}"/>
          <p:cNvSpPr txBox="1"/>
          <p:nvPr/>
        </p:nvSpPr>
        <p:spPr>
          <a:xfrm rot="0" flipH="0" flipV="0">
            <a:off x="5372100" y="402907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BA15C"/>
                </a:solidFill>
                <a:latin typeface="Microsoft YaHei"/>
                <a:ea typeface="Microsoft YaHei"/>
              </a:rPr>
              <a:t>工程</a:t>
            </a:r>
            <a:endParaRPr/>
          </a:p>
        </p:txBody>
      </p:sp>
      <p:sp>
        <p:nvSpPr>
          <p:cNvPr id="1090" name=""/>
          <p:cNvSpPr/>
          <p:nvPr/>
        </p:nvSpPr>
        <p:spPr>
          <a:xfrm rot="0" flipH="0" flipV="0">
            <a:off x="762000" y="4267200"/>
            <a:ext cx="4953000" cy="276225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91" name=""/>
          <p:cNvSpPr/>
          <p:nvPr/>
        </p:nvSpPr>
        <p:spPr>
          <a:xfrm rot="0" flipH="0" flipV="0">
            <a:off x="857250" y="4343400"/>
            <a:ext cx="133350" cy="133350"/>
          </a:xfrm>
          <a:prstGeom prst="rect">
            <a:avLst/>
          </a:prstGeom>
          <a:ln w="12700">
            <a:solidFill>
              <a:srgbClr val="C9CDD6"/>
            </a:solidFill>
            <a:prstDash val="solid"/>
          </a:ln>
        </p:spPr>
        <p:txBody>
          <a:bodyPr/>
          <a:p/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1085850" y="4343400"/>
            <a:ext cx="17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09</a:t>
            </a:r>
            <a:endParaRPr/>
          </a:p>
        </p:txBody>
      </p:sp>
      <p:sp>
        <p:nvSpPr>
          <p:cNvPr id="1093" name="" descr="{&quot;isTemplate&quot;:true,&quot;type&quot;:&quot;text&quot;}"/>
          <p:cNvSpPr txBox="1"/>
          <p:nvPr/>
        </p:nvSpPr>
        <p:spPr>
          <a:xfrm rot="0" flipH="0" flipV="0">
            <a:off x="1352550" y="4343400"/>
            <a:ext cx="385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F1423"/>
                </a:solidFill>
                <a:latin typeface="Microsoft YaHei"/>
                <a:ea typeface="Microsoft YaHei"/>
              </a:rPr>
              <a:t>五类健康检查已配置，告警接收人明确</a:t>
            </a:r>
            <a:endParaRPr/>
          </a:p>
        </p:txBody>
      </p:sp>
      <p:sp>
        <p:nvSpPr>
          <p:cNvPr id="1094" name=""/>
          <p:cNvSpPr/>
          <p:nvPr/>
        </p:nvSpPr>
        <p:spPr>
          <a:xfrm rot="0" flipH="0" flipV="0">
            <a:off x="5305425" y="4324350"/>
            <a:ext cx="314325" cy="16192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95" name="" descr="{&quot;isTemplate&quot;:true,&quot;type&quot;:&quot;text&quot;}"/>
          <p:cNvSpPr txBox="1"/>
          <p:nvPr/>
        </p:nvSpPr>
        <p:spPr>
          <a:xfrm rot="0" flipH="0" flipV="0">
            <a:off x="5372100" y="435292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BA15C"/>
                </a:solidFill>
                <a:latin typeface="Microsoft YaHei"/>
                <a:ea typeface="Microsoft YaHei"/>
              </a:rPr>
              <a:t>工程</a:t>
            </a:r>
            <a:endParaRPr/>
          </a:p>
        </p:txBody>
      </p:sp>
      <p:sp>
        <p:nvSpPr>
          <p:cNvPr id="1096" name=""/>
          <p:cNvSpPr/>
          <p:nvPr/>
        </p:nvSpPr>
        <p:spPr>
          <a:xfrm rot="0" flipH="0" flipV="0">
            <a:off x="762000" y="4591050"/>
            <a:ext cx="4953000" cy="276225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97" name=""/>
          <p:cNvSpPr/>
          <p:nvPr/>
        </p:nvSpPr>
        <p:spPr>
          <a:xfrm rot="0" flipH="0" flipV="0">
            <a:off x="857250" y="4667250"/>
            <a:ext cx="133350" cy="133350"/>
          </a:xfrm>
          <a:prstGeom prst="rect">
            <a:avLst/>
          </a:prstGeom>
          <a:ln w="12700">
            <a:solidFill>
              <a:srgbClr val="C9CDD6"/>
            </a:solidFill>
            <a:prstDash val="solid"/>
          </a:ln>
        </p:spPr>
        <p:txBody>
          <a:bodyPr/>
          <a:p/>
        </p:txBody>
      </p:sp>
      <p:sp>
        <p:nvSpPr>
          <p:cNvPr id="1098" name="" descr="{&quot;isTemplate&quot;:true,&quot;type&quot;:&quot;text&quot;}"/>
          <p:cNvSpPr txBox="1"/>
          <p:nvPr/>
        </p:nvSpPr>
        <p:spPr>
          <a:xfrm rot="0" flipH="0" flipV="0">
            <a:off x="1085850" y="4667250"/>
            <a:ext cx="17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1099" name="" descr="{&quot;isTemplate&quot;:true,&quot;type&quot;:&quot;text&quot;}"/>
          <p:cNvSpPr txBox="1"/>
          <p:nvPr/>
        </p:nvSpPr>
        <p:spPr>
          <a:xfrm rot="0" flipH="0" flipV="0">
            <a:off x="1352550" y="4667250"/>
            <a:ext cx="385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F1423"/>
                </a:solidFill>
                <a:latin typeface="Microsoft YaHei"/>
                <a:ea typeface="Microsoft YaHei"/>
              </a:rPr>
              <a:t>时效承诺已给出，并已在实测中达标</a:t>
            </a:r>
            <a:endParaRPr/>
          </a:p>
        </p:txBody>
      </p:sp>
      <p:sp>
        <p:nvSpPr>
          <p:cNvPr id="1100" name=""/>
          <p:cNvSpPr/>
          <p:nvPr/>
        </p:nvSpPr>
        <p:spPr>
          <a:xfrm rot="0" flipH="0" flipV="0">
            <a:off x="5305425" y="4648200"/>
            <a:ext cx="314325" cy="16192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01" name="" descr="{&quot;isTemplate&quot;:true,&quot;type&quot;:&quot;text&quot;}"/>
          <p:cNvSpPr txBox="1"/>
          <p:nvPr/>
        </p:nvSpPr>
        <p:spPr>
          <a:xfrm rot="0" flipH="0" flipV="0">
            <a:off x="5372100" y="467677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BA15C"/>
                </a:solidFill>
                <a:latin typeface="Microsoft YaHei"/>
                <a:ea typeface="Microsoft YaHei"/>
              </a:rPr>
              <a:t>工程</a:t>
            </a:r>
            <a:endParaRPr/>
          </a:p>
        </p:txBody>
      </p:sp>
      <p:sp>
        <p:nvSpPr>
          <p:cNvPr id="1102" name=""/>
          <p:cNvSpPr/>
          <p:nvPr/>
        </p:nvSpPr>
        <p:spPr>
          <a:xfrm rot="0" flipH="0" flipV="0">
            <a:off x="762000" y="4914900"/>
            <a:ext cx="4953000" cy="276225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03" name=""/>
          <p:cNvSpPr/>
          <p:nvPr/>
        </p:nvSpPr>
        <p:spPr>
          <a:xfrm rot="0" flipH="0" flipV="0">
            <a:off x="857250" y="4991100"/>
            <a:ext cx="133350" cy="133350"/>
          </a:xfrm>
          <a:prstGeom prst="rect">
            <a:avLst/>
          </a:prstGeom>
          <a:ln w="12700">
            <a:solidFill>
              <a:srgbClr val="C9CDD6"/>
            </a:solidFill>
            <a:prstDash val="solid"/>
          </a:ln>
        </p:spPr>
        <p:txBody>
          <a:bodyPr/>
          <a:p/>
        </p:txBody>
      </p:sp>
      <p:sp>
        <p:nvSpPr>
          <p:cNvPr id="1104" name="" descr="{&quot;isTemplate&quot;:true,&quot;type&quot;:&quot;text&quot;}"/>
          <p:cNvSpPr txBox="1"/>
          <p:nvPr/>
        </p:nvSpPr>
        <p:spPr>
          <a:xfrm rot="0" flipH="0" flipV="0">
            <a:off x="1085850" y="4991100"/>
            <a:ext cx="17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  <p:sp>
        <p:nvSpPr>
          <p:cNvPr id="1105" name="" descr="{&quot;isTemplate&quot;:true,&quot;type&quot;:&quot;text&quot;}"/>
          <p:cNvSpPr txBox="1"/>
          <p:nvPr/>
        </p:nvSpPr>
        <p:spPr>
          <a:xfrm rot="0" flipH="0" flipV="0">
            <a:off x="1352550" y="4991100"/>
            <a:ext cx="385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F1423"/>
                </a:solidFill>
                <a:latin typeface="Microsoft YaHei"/>
                <a:ea typeface="Microsoft YaHei"/>
              </a:rPr>
              <a:t>权限与密级在出口处已二次校验</a:t>
            </a:r>
            <a:endParaRPr/>
          </a:p>
        </p:txBody>
      </p:sp>
      <p:sp>
        <p:nvSpPr>
          <p:cNvPr id="1106" name=""/>
          <p:cNvSpPr/>
          <p:nvPr/>
        </p:nvSpPr>
        <p:spPr>
          <a:xfrm rot="0" flipH="0" flipV="0">
            <a:off x="5305425" y="4972050"/>
            <a:ext cx="314325" cy="1619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07" name="" descr="{&quot;isTemplate&quot;:true,&quot;type&quot;:&quot;text&quot;}"/>
          <p:cNvSpPr txBox="1"/>
          <p:nvPr/>
        </p:nvSpPr>
        <p:spPr>
          <a:xfrm rot="0" flipH="0" flipV="0">
            <a:off x="5372100" y="500062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C43A17"/>
                </a:solidFill>
                <a:latin typeface="Microsoft YaHei"/>
                <a:ea typeface="Microsoft YaHei"/>
              </a:rPr>
              <a:t>治理</a:t>
            </a:r>
            <a:endParaRPr/>
          </a:p>
        </p:txBody>
      </p:sp>
      <p:sp>
        <p:nvSpPr>
          <p:cNvPr id="1108" name=""/>
          <p:cNvSpPr/>
          <p:nvPr/>
        </p:nvSpPr>
        <p:spPr>
          <a:xfrm rot="0" flipH="0" flipV="0">
            <a:off x="762000" y="5238750"/>
            <a:ext cx="4953000" cy="276225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09" name=""/>
          <p:cNvSpPr/>
          <p:nvPr/>
        </p:nvSpPr>
        <p:spPr>
          <a:xfrm rot="0" flipH="0" flipV="0">
            <a:off x="857250" y="5314950"/>
            <a:ext cx="133350" cy="133350"/>
          </a:xfrm>
          <a:prstGeom prst="rect">
            <a:avLst/>
          </a:prstGeom>
          <a:ln w="12700">
            <a:solidFill>
              <a:srgbClr val="C9CDD6"/>
            </a:solidFill>
            <a:prstDash val="solid"/>
          </a:ln>
        </p:spPr>
        <p:txBody>
          <a:bodyPr/>
          <a:p/>
        </p:txBody>
      </p:sp>
      <p:sp>
        <p:nvSpPr>
          <p:cNvPr id="1110" name="" descr="{&quot;isTemplate&quot;:true,&quot;type&quot;:&quot;text&quot;}"/>
          <p:cNvSpPr txBox="1"/>
          <p:nvPr/>
        </p:nvSpPr>
        <p:spPr>
          <a:xfrm rot="0" flipH="0" flipV="0">
            <a:off x="1085850" y="5314950"/>
            <a:ext cx="17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1111" name="" descr="{&quot;isTemplate&quot;:true,&quot;type&quot;:&quot;text&quot;}"/>
          <p:cNvSpPr txBox="1"/>
          <p:nvPr/>
        </p:nvSpPr>
        <p:spPr>
          <a:xfrm rot="0" flipH="0" flipV="0">
            <a:off x="1352550" y="5314950"/>
            <a:ext cx="385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F1423"/>
                </a:solidFill>
                <a:latin typeface="Microsoft YaHei"/>
                <a:ea typeface="Microsoft YaHei"/>
              </a:rPr>
              <a:t>退役条件与替代者已写明</a:t>
            </a:r>
            <a:endParaRPr/>
          </a:p>
        </p:txBody>
      </p:sp>
      <p:sp>
        <p:nvSpPr>
          <p:cNvPr id="1112" name=""/>
          <p:cNvSpPr/>
          <p:nvPr/>
        </p:nvSpPr>
        <p:spPr>
          <a:xfrm rot="0" flipH="0" flipV="0">
            <a:off x="5305425" y="5295900"/>
            <a:ext cx="314325" cy="16192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13" name="" descr="{&quot;isTemplate&quot;:true,&quot;type&quot;:&quot;text&quot;}"/>
          <p:cNvSpPr txBox="1"/>
          <p:nvPr/>
        </p:nvSpPr>
        <p:spPr>
          <a:xfrm rot="0" flipH="0" flipV="0">
            <a:off x="5372100" y="532447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C43A17"/>
                </a:solidFill>
                <a:latin typeface="Microsoft YaHei"/>
                <a:ea typeface="Microsoft YaHei"/>
              </a:rPr>
              <a:t>运营</a:t>
            </a:r>
            <a:endParaRPr/>
          </a:p>
        </p:txBody>
      </p:sp>
      <p:sp>
        <p:nvSpPr>
          <p:cNvPr id="1114" name=""/>
          <p:cNvSpPr/>
          <p:nvPr/>
        </p:nvSpPr>
        <p:spPr>
          <a:xfrm rot="0" flipH="0" flipV="0">
            <a:off x="6019800" y="1285875"/>
            <a:ext cx="5600700" cy="1390650"/>
          </a:xfrm>
          <a:prstGeom prst="roundRect">
            <a:avLst>
              <a:gd name="adj" fmla="val 274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15" name=""/>
          <p:cNvSpPr/>
          <p:nvPr/>
        </p:nvSpPr>
        <p:spPr>
          <a:xfrm rot="0" flipH="0" flipV="0">
            <a:off x="6019800" y="1285875"/>
            <a:ext cx="5600700" cy="1390650"/>
          </a:xfrm>
          <a:custGeom>
            <a:pathLst>
              <a:path w="588" h="146">
                <a:moveTo>
                  <a:pt x="4" y="146"/>
                </a:moveTo>
                <a:cubicBezTo>
                  <a:pt x="2" y="146"/>
                  <a:pt x="0" y="144"/>
                  <a:pt x="0" y="14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46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116" name="" descr="{&quot;isTemplate&quot;:true,&quot;type&quot;:&quot;text&quot;}"/>
          <p:cNvSpPr txBox="1"/>
          <p:nvPr/>
        </p:nvSpPr>
        <p:spPr>
          <a:xfrm rot="0" flipH="0" flipV="0">
            <a:off x="6162675" y="1590675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第一步</a:t>
            </a:r>
            <a:endParaRPr/>
          </a:p>
        </p:txBody>
      </p:sp>
      <p:sp>
        <p:nvSpPr>
          <p:cNvPr id="1117" name="" descr="{&quot;isTemplate&quot;:true,&quot;type&quot;:&quot;text&quot;}"/>
          <p:cNvSpPr txBox="1"/>
          <p:nvPr/>
        </p:nvSpPr>
        <p:spPr>
          <a:xfrm rot="0" flipH="0" flipV="0">
            <a:off x="6562725" y="15621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8A8F99"/>
                </a:solidFill>
                <a:latin typeface="Microsoft YaHei"/>
                <a:ea typeface="Microsoft YaHei"/>
              </a:rPr>
              <a:t>批处理</a:t>
            </a:r>
            <a:endParaRPr/>
          </a:p>
        </p:txBody>
      </p:sp>
      <p:sp>
        <p:nvSpPr>
          <p:cNvPr id="1118" name="" descr="{&quot;isTemplate&quot;:true,&quot;type&quot;:&quot;text&quot;}"/>
          <p:cNvSpPr txBox="1"/>
          <p:nvPr/>
        </p:nvSpPr>
        <p:spPr>
          <a:xfrm rot="0" flipH="0" flipV="0">
            <a:off x="7105650" y="1590675"/>
            <a:ext cx="942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先把跑通放在第一位</a:t>
            </a:r>
            <a:endParaRPr/>
          </a:p>
        </p:txBody>
      </p:sp>
      <p:sp>
        <p:nvSpPr>
          <p:cNvPr id="1119" name="" descr="{&quot;isTemplate&quot;:true,&quot;type&quot;:&quot;text&quot;}"/>
          <p:cNvSpPr txBox="1"/>
          <p:nvPr/>
        </p:nvSpPr>
        <p:spPr>
          <a:xfrm rot="0" flipH="0" flipV="0">
            <a:off x="6162675" y="1819275"/>
            <a:ext cx="52768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全量或按窗口抽取，实现简单、可重放、易理解。目标是把口径与映射做对，不是快。</a:t>
            </a:r>
            <a:endParaRPr/>
          </a:p>
        </p:txBody>
      </p:sp>
      <p:sp>
        <p:nvSpPr>
          <p:cNvPr id="1120" name=""/>
          <p:cNvSpPr/>
          <p:nvPr/>
        </p:nvSpPr>
        <p:spPr>
          <a:xfrm rot="0" flipH="0" flipV="0">
            <a:off x="6162675" y="2105025"/>
            <a:ext cx="5276850" cy="295275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21" name="" descr="{&quot;isTemplate&quot;:true,&quot;type&quot;:&quot;text&quot;}"/>
          <p:cNvSpPr txBox="1"/>
          <p:nvPr/>
        </p:nvSpPr>
        <p:spPr>
          <a:xfrm rot="0" flipH="0" flipV="0">
            <a:off x="6248400" y="2162175"/>
            <a:ext cx="51054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0F1423"/>
                </a:solidFill>
                <a:latin typeface="Microsoft YaHei"/>
                <a:ea typeface="Microsoft YaHei"/>
              </a:rPr>
              <a:t>进入下一步的判断依据：口径稳定、映射覆盖率达标、血缘完整</a:t>
            </a:r>
            <a:endParaRPr/>
          </a:p>
        </p:txBody>
      </p:sp>
      <p:sp>
        <p:nvSpPr>
          <p:cNvPr id="1122" name=""/>
          <p:cNvSpPr/>
          <p:nvPr/>
        </p:nvSpPr>
        <p:spPr>
          <a:xfrm rot="0" flipH="0" flipV="0">
            <a:off x="6019800" y="2762250"/>
            <a:ext cx="5600700" cy="1400175"/>
          </a:xfrm>
          <a:prstGeom prst="roundRect">
            <a:avLst>
              <a:gd name="adj" fmla="val 272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23" name=""/>
          <p:cNvSpPr/>
          <p:nvPr/>
        </p:nvSpPr>
        <p:spPr>
          <a:xfrm rot="0" flipH="0" flipV="0">
            <a:off x="6019800" y="2762250"/>
            <a:ext cx="5600700" cy="1400175"/>
          </a:xfrm>
          <a:custGeom>
            <a:pathLst>
              <a:path w="588" h="147">
                <a:moveTo>
                  <a:pt x="4" y="147"/>
                </a:moveTo>
                <a:cubicBezTo>
                  <a:pt x="2" y="147"/>
                  <a:pt x="0" y="145"/>
                  <a:pt x="0" y="14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47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124" name="" descr="{&quot;isTemplate&quot;:true,&quot;type&quot;:&quot;text&quot;}"/>
          <p:cNvSpPr txBox="1"/>
          <p:nvPr/>
        </p:nvSpPr>
        <p:spPr>
          <a:xfrm rot="0" flipH="0" flipV="0">
            <a:off x="6162675" y="3076575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87D2F"/>
                </a:solidFill>
                <a:latin typeface="Microsoft YaHei"/>
                <a:ea typeface="Microsoft YaHei"/>
              </a:rPr>
              <a:t>第二步</a:t>
            </a:r>
            <a:endParaRPr/>
          </a:p>
        </p:txBody>
      </p:sp>
      <p:sp>
        <p:nvSpPr>
          <p:cNvPr id="1125" name="" descr="{&quot;isTemplate&quot;:true,&quot;type&quot;:&quot;text&quot;}"/>
          <p:cNvSpPr txBox="1"/>
          <p:nvPr/>
        </p:nvSpPr>
        <p:spPr>
          <a:xfrm rot="0" flipH="0" flipV="0">
            <a:off x="6562725" y="30480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7D2F"/>
                </a:solidFill>
                <a:latin typeface="Microsoft YaHei"/>
                <a:ea typeface="Microsoft YaHei"/>
              </a:rPr>
              <a:t>增量</a:t>
            </a:r>
            <a:endParaRPr/>
          </a:p>
        </p:txBody>
      </p:sp>
      <p:sp>
        <p:nvSpPr>
          <p:cNvPr id="1126" name="" descr="{&quot;isTemplate&quot;:true,&quot;type&quot;:&quot;text&quot;}"/>
          <p:cNvSpPr txBox="1"/>
          <p:nvPr/>
        </p:nvSpPr>
        <p:spPr>
          <a:xfrm rot="0" flipH="0" flipV="0">
            <a:off x="6953250" y="3076575"/>
            <a:ext cx="942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把成本与延迟降下来</a:t>
            </a:r>
            <a:endParaRPr/>
          </a:p>
        </p:txBody>
      </p:sp>
      <p:sp>
        <p:nvSpPr>
          <p:cNvPr id="1127" name="" descr="{&quot;isTemplate&quot;:true,&quot;type&quot;:&quot;text&quot;}"/>
          <p:cNvSpPr txBox="1"/>
          <p:nvPr/>
        </p:nvSpPr>
        <p:spPr>
          <a:xfrm rot="0" flipH="0" flipV="0">
            <a:off x="6162675" y="3305175"/>
            <a:ext cx="52768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只处理追加事务。前提是所有输入都通过追加或不修改既有文件的更新事务变更。</a:t>
            </a:r>
            <a:endParaRPr/>
          </a:p>
        </p:txBody>
      </p:sp>
      <p:sp>
        <p:nvSpPr>
          <p:cNvPr id="1128" name=""/>
          <p:cNvSpPr/>
          <p:nvPr/>
        </p:nvSpPr>
        <p:spPr>
          <a:xfrm rot="0" flipH="0" flipV="0">
            <a:off x="6162675" y="3590925"/>
            <a:ext cx="5276850" cy="295275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29" name="" descr="{&quot;isTemplate&quot;:true,&quot;type&quot;:&quot;text&quot;}"/>
          <p:cNvSpPr txBox="1"/>
          <p:nvPr/>
        </p:nvSpPr>
        <p:spPr>
          <a:xfrm rot="0" flipH="0" flipV="0">
            <a:off x="6248400" y="3648075"/>
            <a:ext cx="51054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0F1423"/>
                </a:solidFill>
                <a:latin typeface="Microsoft YaHei"/>
                <a:ea typeface="Microsoft YaHei"/>
              </a:rPr>
              <a:t>进入下一步的判断依据：单次全量已跑不动，或时效承诺无法满足</a:t>
            </a:r>
            <a:endParaRPr/>
          </a:p>
        </p:txBody>
      </p:sp>
      <p:sp>
        <p:nvSpPr>
          <p:cNvPr id="1130" name=""/>
          <p:cNvSpPr/>
          <p:nvPr/>
        </p:nvSpPr>
        <p:spPr>
          <a:xfrm rot="0" flipH="0" flipV="0">
            <a:off x="6019800" y="4248150"/>
            <a:ext cx="5600700" cy="1390650"/>
          </a:xfrm>
          <a:prstGeom prst="roundRect">
            <a:avLst>
              <a:gd name="adj" fmla="val 274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31" name=""/>
          <p:cNvSpPr/>
          <p:nvPr/>
        </p:nvSpPr>
        <p:spPr>
          <a:xfrm rot="0" flipH="0" flipV="0">
            <a:off x="6019800" y="4248150"/>
            <a:ext cx="5600700" cy="1390650"/>
          </a:xfrm>
          <a:custGeom>
            <a:pathLst>
              <a:path w="588" h="146">
                <a:moveTo>
                  <a:pt x="4" y="146"/>
                </a:moveTo>
                <a:cubicBezTo>
                  <a:pt x="2" y="146"/>
                  <a:pt x="0" y="144"/>
                  <a:pt x="0" y="14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4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32" name="" descr="{&quot;isTemplate&quot;:true,&quot;type&quot;:&quot;text&quot;}"/>
          <p:cNvSpPr txBox="1"/>
          <p:nvPr/>
        </p:nvSpPr>
        <p:spPr>
          <a:xfrm rot="0" flipH="0" flipV="0">
            <a:off x="6162675" y="4552950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A4F24"/>
                </a:solidFill>
                <a:latin typeface="Microsoft YaHei"/>
                <a:ea typeface="Microsoft YaHei"/>
              </a:rPr>
              <a:t>第三步</a:t>
            </a:r>
            <a:endParaRPr/>
          </a:p>
        </p:txBody>
      </p:sp>
      <p:sp>
        <p:nvSpPr>
          <p:cNvPr id="1133" name="" descr="{&quot;isTemplate&quot;:true,&quot;type&quot;:&quot;text&quot;}"/>
          <p:cNvSpPr txBox="1"/>
          <p:nvPr/>
        </p:nvSpPr>
        <p:spPr>
          <a:xfrm rot="0" flipH="0" flipV="0">
            <a:off x="6562725" y="45243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流式</a:t>
            </a:r>
            <a:endParaRPr/>
          </a:p>
        </p:txBody>
      </p:sp>
      <p:sp>
        <p:nvSpPr>
          <p:cNvPr id="1134" name="" descr="{&quot;isTemplate&quot;:true,&quot;type&quot;:&quot;text&quot;}"/>
          <p:cNvSpPr txBox="1"/>
          <p:nvPr/>
        </p:nvSpPr>
        <p:spPr>
          <a:xfrm rot="0" flipH="0" flipV="0">
            <a:off x="6953250" y="4552950"/>
            <a:ext cx="838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只为极致延迟而做</a:t>
            </a:r>
            <a:endParaRPr/>
          </a:p>
        </p:txBody>
      </p:sp>
      <p:sp>
        <p:nvSpPr>
          <p:cNvPr id="1135" name="" descr="{&quot;isTemplate&quot;:true,&quot;type&quot;:&quot;text&quot;}"/>
          <p:cNvSpPr txBox="1"/>
          <p:nvPr/>
        </p:nvSpPr>
        <p:spPr>
          <a:xfrm rot="0" flipH="0" flipV="0">
            <a:off x="6162675" y="4781550"/>
            <a:ext cx="52768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端到端持续计算。记住流式只会和最慢组件一样快，设计之初就要确认目标延迟与吞吐。</a:t>
            </a:r>
            <a:endParaRPr/>
          </a:p>
        </p:txBody>
      </p:sp>
      <p:sp>
        <p:nvSpPr>
          <p:cNvPr id="1136" name=""/>
          <p:cNvSpPr/>
          <p:nvPr/>
        </p:nvSpPr>
        <p:spPr>
          <a:xfrm rot="0" flipH="0" flipV="0">
            <a:off x="6162675" y="5067300"/>
            <a:ext cx="5276850" cy="295275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37" name="" descr="{&quot;isTemplate&quot;:true,&quot;type&quot;:&quot;text&quot;}"/>
          <p:cNvSpPr txBox="1"/>
          <p:nvPr/>
        </p:nvSpPr>
        <p:spPr>
          <a:xfrm rot="0" flipH="0" flipV="0">
            <a:off x="6248400" y="5124450"/>
            <a:ext cx="51054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0F1423"/>
                </a:solidFill>
                <a:latin typeface="Microsoft YaHei"/>
                <a:ea typeface="Microsoft YaHei"/>
              </a:rPr>
              <a:t>进入下一步的判断依据：业务确实要求分钟级以内，且增量已无法满足</a:t>
            </a:r>
            <a:endParaRPr/>
          </a:p>
        </p:txBody>
      </p:sp>
      <p:sp>
        <p:nvSpPr>
          <p:cNvPr id="113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39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40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1141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29 / 30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183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       结语：&lt;span style={{ color: '#FA4F24' }}&gt;八册一条线&lt;/span&gt;，管道是最后一块拼图&#10;      &lt;/Text&gt;&#10;      &lt;Text style={{ fontSize: 20, color: '#8A8F99', marginTop: 8 }}&gt;&#10;        四层架构打底，本体汇流，知识库供依据，Agent 做判断，管道保证这一切靠得住&#10;      &lt;/Text&gt;&#10;    &lt;/Box&gt;&#10;    &lt;Box style={{ height: 1, background: '#E8E8E8' }} /&gt;&#10;&#10;    &lt;Box style={{ paddingTop: 14, paddingBottom: 8, height: 479, flexDirection: 'column', gap: 10 }}&gt;&#10;      {/* 八册主线 */}&#10;      &lt;Box style={{ height: 176, background: '#0F1423', borderRadius: 4, padding: '16px 20px', flexDirection: 'column' }}&gt;&#10;        &lt;Text style={{ fontSize: 14, fontWeight: 'bold', color: '#FBA15C' }}&gt;八册的推进顺序与各自回答的问题&lt;/Text&gt;&#10;        &lt;Box style={{ flex: 1, flexDirection: 'row', alignItems: 'center', gap: 7, marginTop: 12 }}&gt;&#10;          {[&#10;            { b: 'DA', t: '先有治，才有存', c: '#5A6072' },&#10;            { b: 'BA', t: '能力与组织解耦', c: '#5A6072' },&#10;            { b: 'AA', t: '数量增长带技术债', c: '#5A6072' },&#10;            { b: 'TA', t: '不押注单点技术', c: '#5A6072' },&#10;            { b: 'ONT', t: '语义与动力学合一', c: '#F87D2F' },&#10;            { b: 'KB', t: '知识要被治理', c: '#F87D2F' },&#10;            { b: 'AGT', t: '谁判断、何时停', c: '#FA4F24' },&#10;            { b: 'PIPE', t: '可管、可追、可退', c: '#FA4F24' },&#10;          ].map((it, i) =&gt; (&#10;            &lt;Box key={it.b} style={{ flex: 1, background: 'rgba(255,255,255,0.07)', borderRadius: 3, padding: '0 9px', height: 72, justifyContent: 'center', borderTop: '3px solid ' + it.c }}&gt;&#10;              &lt;Text style={{ fontSize: 14, fontWeight: 'bold', color: it.c === '#5A6072' ? 'rgba(255,255,255,0.7)' : it.c }}&gt;{it.b}&lt;/Text&gt;&#10;              &lt;Text style={{ fontSize: 10.5, color: 'rgba(255,255,255,0.65)', marginTop: 5, lineHeight: 1.4 }}&gt;{it.t}&lt;/Text&gt;&#10;              {i &lt; 7 ? &lt;Text style={{ fontSize: 13, color: 'rgba(255,255,255,0.3)', marginTop: 5 }}&gt;›&lt;/Text&gt; : null}&#10;            &lt;/Box&gt;&#10;          ))}&#10;        &lt;/Box&gt;&#10;      &lt;/Box&gt;&#10;&#10;      &lt;Box style={{ flex: 1, flexDirection: 'row', gap: 10 }}&gt;&#10;        &lt;Box style={{ flex: 1, background: '#FFF3EE', borderRadius: 4, borderLeft: '4px solid #FA4F24', padding: '13px 17px', flexDirection: 'column', justifyContent: 'center' }}&gt;&#10;          &lt;Text style={{ fontSize: 15, fontWeight: 'bold', color: '#C43A17' }}&gt;本册要留下的一句话&lt;/Text&gt;&#10;          &lt;Text style={{ fontSize: 15, color: '#0F1423', marginTop: 9, lineHeight: 1.55 }}&gt;&#10;            本体画的是「世界应该长什么样」，管道要保证的是「它现在真的长这样」。前者靠设计，后者只能靠一版一版的验证、一次一次的可回退、以及一份永远可信的血缘。&#10;          &lt;/Text&gt;&#10;          &lt;Text style={{ fontSize: 13, color: '#5A6072', marginTop: 9, lineHeight: 1.5 }}&gt;&#10;            如果这三样东西都没有，那么再漂亮的本体图、再聪明的 Agent，都只是在一个没人验证过的假设上做判断。&#10;          &lt;/Text&gt;&#10;        &lt;/Box&gt;&#10;&#10;        &lt;Box style={{ width: 400, background: '#F7F7F8', borderRadius: 4, padding: '13px 17px', flexDirection: 'column' }}&gt;&#10;          &lt;Text style={{ fontSize: 14, fontWeight: 'bold', color: '#0F1423' }}&gt;下一步可以接着做的三件事&lt;/Text&gt;&#10;          &lt;Box style={{ flex: 1, flexDirection: 'column', marginTop: 9 }}&gt;&#10;            {[&#10;              { t: '管道域现状体检', d: '用五道门与五类失效做一轮扫描，出问题优先级清单' },&#10;              { t: 'Approach 八阶段落地', d: '按八个阶段做一次完整交付，形成第一版管道资产集' },&#10;              { t: '与 Agent 册联合出方案', d: '把上下文规格与终止条件，和管道时效承诺对齐成一份契约' },&#10;            ].map((it, i) =&gt; (&#10;              &lt;Box key={it.t} style={{ flex: 1, flexDirection: 'column', justifyContent: 'center', borderTop: i === 0 ? 'none' : '1px solid #E8E8E8' }}&gt;&#10;                &lt;Text style={{ fontSize: 12.5, fontWeight: 'bold', color: '#0F1423' }}&gt;{it.t}&lt;/Text&gt;&#10;                &lt;Text style={{ fontSize: 11.5, color: '#5A6072', marginTop: 3, lineHeight: 1.45 }}&gt;{it.d}&lt;/Text&gt;&#10;              &lt;/Box&gt;&#10;            ))}&#10;          &lt;/Box&gt;&#10;        &lt;/Box&gt;&#10;      &lt;/Box&gt;&#10;    &lt;/Box&gt;&#10;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管道处理咨询方法论&lt;/Text&gt;&#10;      &lt;Text style={{ fontSize: 13, color: '#8A8F99', marginLeft: 'auto' }}&gt;30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8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结语：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八册一条线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，管道是最后一块拼图</a:t>
            </a:r>
            <a:endParaRPr/>
          </a:p>
        </p:txBody>
      </p:sp>
      <p:sp>
        <p:nvSpPr>
          <p:cNvPr id="118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四层架构打底，本体汇流，知识库供依据，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做判断，管道保证这一切靠得住</a:t>
            </a:r>
            <a:endParaRPr/>
          </a:p>
        </p:txBody>
      </p:sp>
      <p:sp>
        <p:nvSpPr>
          <p:cNvPr id="118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88" name=""/>
          <p:cNvSpPr/>
          <p:nvPr/>
        </p:nvSpPr>
        <p:spPr>
          <a:xfrm rot="0" flipH="0" flipV="0">
            <a:off x="609600" y="1285875"/>
            <a:ext cx="10972800" cy="1676400"/>
          </a:xfrm>
          <a:prstGeom prst="roundRect">
            <a:avLst>
              <a:gd name="adj" fmla="val 227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89" name="" descr="{&quot;isTemplate&quot;:true,&quot;type&quot;:&quot;text&quot;}"/>
          <p:cNvSpPr txBox="1"/>
          <p:nvPr/>
        </p:nvSpPr>
        <p:spPr>
          <a:xfrm rot="0" flipH="0" flipV="0">
            <a:off x="800100" y="1438275"/>
            <a:ext cx="10591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八册的推进顺序与各自回答的问题</a:t>
            </a:r>
            <a:endParaRPr/>
          </a:p>
        </p:txBody>
      </p:sp>
      <p:sp>
        <p:nvSpPr>
          <p:cNvPr id="1190" name=""/>
          <p:cNvSpPr/>
          <p:nvPr/>
        </p:nvSpPr>
        <p:spPr>
          <a:xfrm rot="0" flipH="0" flipV="0">
            <a:off x="800100" y="1952625"/>
            <a:ext cx="1266825" cy="657225"/>
          </a:xfrm>
          <a:prstGeom prst="roundRect">
            <a:avLst>
              <a:gd name="adj" fmla="val 434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191" name=""/>
          <p:cNvSpPr/>
          <p:nvPr/>
        </p:nvSpPr>
        <p:spPr>
          <a:xfrm rot="0" flipH="0" flipV="0">
            <a:off x="800100" y="1952625"/>
            <a:ext cx="1266825" cy="657225"/>
          </a:xfrm>
          <a:custGeom>
            <a:pathLst>
              <a:path w="133" h="69">
                <a:moveTo>
                  <a:pt x="130" y="0"/>
                </a:moveTo>
                <a:cubicBezTo>
                  <a:pt x="132" y="0"/>
                  <a:pt x="133" y="1"/>
                  <a:pt x="133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30" y="0"/>
                </a:lnTo>
                <a:close/>
              </a:path>
            </a:pathLst>
          </a:custGeom>
          <a:solidFill>
            <a:srgbClr val="5A6072"/>
          </a:solidFill>
          <a:ln/>
        </p:spPr>
        <p:txBody>
          <a:bodyPr/>
          <a:p/>
        </p:txBody>
      </p:sp>
      <p:sp>
        <p:nvSpPr>
          <p:cNvPr id="1192" name="" descr="{&quot;isTemplate&quot;:true,&quot;type&quot;:&quot;text&quot;}"/>
          <p:cNvSpPr txBox="1"/>
          <p:nvPr/>
        </p:nvSpPr>
        <p:spPr>
          <a:xfrm rot="0" flipH="0" flipV="0">
            <a:off x="885825" y="1990725"/>
            <a:ext cx="1095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1193" name="" descr="{&quot;isTemplate&quot;:true,&quot;type&quot;:&quot;text&quot;}"/>
          <p:cNvSpPr txBox="1"/>
          <p:nvPr/>
        </p:nvSpPr>
        <p:spPr>
          <a:xfrm rot="0" flipH="0" flipV="0">
            <a:off x="885825" y="2200275"/>
            <a:ext cx="10953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先有治，才有存</a:t>
            </a:r>
            <a:endParaRPr/>
          </a:p>
        </p:txBody>
      </p:sp>
      <p:sp>
        <p:nvSpPr>
          <p:cNvPr id="1194" name="" descr="{&quot;isTemplate&quot;:true,&quot;type&quot;:&quot;text&quot;}"/>
          <p:cNvSpPr txBox="1"/>
          <p:nvPr/>
        </p:nvSpPr>
        <p:spPr>
          <a:xfrm rot="0" flipH="0" flipV="0">
            <a:off x="885825" y="2419350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195" name=""/>
          <p:cNvSpPr/>
          <p:nvPr/>
        </p:nvSpPr>
        <p:spPr>
          <a:xfrm rot="0" flipH="0" flipV="0">
            <a:off x="2133600" y="1952625"/>
            <a:ext cx="1266825" cy="657225"/>
          </a:xfrm>
          <a:prstGeom prst="roundRect">
            <a:avLst>
              <a:gd name="adj" fmla="val 434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196" name=""/>
          <p:cNvSpPr/>
          <p:nvPr/>
        </p:nvSpPr>
        <p:spPr>
          <a:xfrm rot="0" flipH="0" flipV="0">
            <a:off x="2133600" y="1952625"/>
            <a:ext cx="1266825" cy="657225"/>
          </a:xfrm>
          <a:custGeom>
            <a:pathLst>
              <a:path w="133" h="69">
                <a:moveTo>
                  <a:pt x="130" y="0"/>
                </a:moveTo>
                <a:cubicBezTo>
                  <a:pt x="132" y="0"/>
                  <a:pt x="133" y="1"/>
                  <a:pt x="133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30" y="0"/>
                </a:lnTo>
                <a:close/>
              </a:path>
            </a:pathLst>
          </a:custGeom>
          <a:solidFill>
            <a:srgbClr val="5A6072"/>
          </a:solidFill>
          <a:ln/>
        </p:spPr>
        <p:txBody>
          <a:bodyPr/>
          <a:p/>
        </p:txBody>
      </p:sp>
      <p:sp>
        <p:nvSpPr>
          <p:cNvPr id="1197" name="" descr="{&quot;isTemplate&quot;:true,&quot;type&quot;:&quot;text&quot;}"/>
          <p:cNvSpPr txBox="1"/>
          <p:nvPr/>
        </p:nvSpPr>
        <p:spPr>
          <a:xfrm rot="0" flipH="0" flipV="0">
            <a:off x="2219325" y="1990725"/>
            <a:ext cx="1095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1198" name="" descr="{&quot;isTemplate&quot;:true,&quot;type&quot;:&quot;text&quot;}"/>
          <p:cNvSpPr txBox="1"/>
          <p:nvPr/>
        </p:nvSpPr>
        <p:spPr>
          <a:xfrm rot="0" flipH="0" flipV="0">
            <a:off x="2219325" y="2200275"/>
            <a:ext cx="10953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能力与组织解耦</a:t>
            </a:r>
            <a:endParaRPr/>
          </a:p>
        </p:txBody>
      </p:sp>
      <p:sp>
        <p:nvSpPr>
          <p:cNvPr id="1199" name="" descr="{&quot;isTemplate&quot;:true,&quot;type&quot;:&quot;text&quot;}"/>
          <p:cNvSpPr txBox="1"/>
          <p:nvPr/>
        </p:nvSpPr>
        <p:spPr>
          <a:xfrm rot="0" flipH="0" flipV="0">
            <a:off x="2219325" y="2419350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200" name=""/>
          <p:cNvSpPr/>
          <p:nvPr/>
        </p:nvSpPr>
        <p:spPr>
          <a:xfrm rot="0" flipH="0" flipV="0">
            <a:off x="3467100" y="1952625"/>
            <a:ext cx="1266825" cy="657225"/>
          </a:xfrm>
          <a:prstGeom prst="roundRect">
            <a:avLst>
              <a:gd name="adj" fmla="val 434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201" name=""/>
          <p:cNvSpPr/>
          <p:nvPr/>
        </p:nvSpPr>
        <p:spPr>
          <a:xfrm rot="0" flipH="0" flipV="0">
            <a:off x="3467100" y="1952625"/>
            <a:ext cx="1266825" cy="657225"/>
          </a:xfrm>
          <a:custGeom>
            <a:pathLst>
              <a:path w="133" h="69">
                <a:moveTo>
                  <a:pt x="130" y="0"/>
                </a:moveTo>
                <a:cubicBezTo>
                  <a:pt x="132" y="0"/>
                  <a:pt x="133" y="1"/>
                  <a:pt x="133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30" y="0"/>
                </a:lnTo>
                <a:close/>
              </a:path>
            </a:pathLst>
          </a:custGeom>
          <a:solidFill>
            <a:srgbClr val="5A6072"/>
          </a:solidFill>
          <a:ln/>
        </p:spPr>
        <p:txBody>
          <a:bodyPr/>
          <a:p/>
        </p:txBody>
      </p:sp>
      <p:sp>
        <p:nvSpPr>
          <p:cNvPr id="1202" name="" descr="{&quot;isTemplate&quot;:true,&quot;type&quot;:&quot;text&quot;}"/>
          <p:cNvSpPr txBox="1"/>
          <p:nvPr/>
        </p:nvSpPr>
        <p:spPr>
          <a:xfrm rot="0" flipH="0" flipV="0">
            <a:off x="3552825" y="1990725"/>
            <a:ext cx="1095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1203" name="" descr="{&quot;isTemplate&quot;:true,&quot;type&quot;:&quot;text&quot;}"/>
          <p:cNvSpPr txBox="1"/>
          <p:nvPr/>
        </p:nvSpPr>
        <p:spPr>
          <a:xfrm rot="0" flipH="0" flipV="0">
            <a:off x="3552825" y="2200275"/>
            <a:ext cx="10953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数量增长带技术债</a:t>
            </a:r>
            <a:endParaRPr/>
          </a:p>
        </p:txBody>
      </p:sp>
      <p:sp>
        <p:nvSpPr>
          <p:cNvPr id="1204" name="" descr="{&quot;isTemplate&quot;:true,&quot;type&quot;:&quot;text&quot;}"/>
          <p:cNvSpPr txBox="1"/>
          <p:nvPr/>
        </p:nvSpPr>
        <p:spPr>
          <a:xfrm rot="0" flipH="0" flipV="0">
            <a:off x="3552825" y="2419350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205" name=""/>
          <p:cNvSpPr/>
          <p:nvPr/>
        </p:nvSpPr>
        <p:spPr>
          <a:xfrm rot="0" flipH="0" flipV="0">
            <a:off x="4800600" y="1952625"/>
            <a:ext cx="1266825" cy="657225"/>
          </a:xfrm>
          <a:prstGeom prst="roundRect">
            <a:avLst>
              <a:gd name="adj" fmla="val 434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206" name=""/>
          <p:cNvSpPr/>
          <p:nvPr/>
        </p:nvSpPr>
        <p:spPr>
          <a:xfrm rot="0" flipH="0" flipV="0">
            <a:off x="4800600" y="1952625"/>
            <a:ext cx="1266825" cy="657225"/>
          </a:xfrm>
          <a:custGeom>
            <a:pathLst>
              <a:path w="133" h="69">
                <a:moveTo>
                  <a:pt x="130" y="0"/>
                </a:moveTo>
                <a:cubicBezTo>
                  <a:pt x="132" y="0"/>
                  <a:pt x="133" y="1"/>
                  <a:pt x="133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30" y="0"/>
                </a:lnTo>
                <a:close/>
              </a:path>
            </a:pathLst>
          </a:custGeom>
          <a:solidFill>
            <a:srgbClr val="5A6072"/>
          </a:solidFill>
          <a:ln/>
        </p:spPr>
        <p:txBody>
          <a:bodyPr/>
          <a:p/>
        </p:txBody>
      </p:sp>
      <p:sp>
        <p:nvSpPr>
          <p:cNvPr id="1207" name="" descr="{&quot;isTemplate&quot;:true,&quot;type&quot;:&quot;text&quot;}"/>
          <p:cNvSpPr txBox="1"/>
          <p:nvPr/>
        </p:nvSpPr>
        <p:spPr>
          <a:xfrm rot="0" flipH="0" flipV="0">
            <a:off x="4886325" y="1990725"/>
            <a:ext cx="1095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1208" name="" descr="{&quot;isTemplate&quot;:true,&quot;type&quot;:&quot;text&quot;}"/>
          <p:cNvSpPr txBox="1"/>
          <p:nvPr/>
        </p:nvSpPr>
        <p:spPr>
          <a:xfrm rot="0" flipH="0" flipV="0">
            <a:off x="4886325" y="2200275"/>
            <a:ext cx="10953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不押注单点技术</a:t>
            </a:r>
            <a:endParaRPr/>
          </a:p>
        </p:txBody>
      </p:sp>
      <p:sp>
        <p:nvSpPr>
          <p:cNvPr id="1209" name="" descr="{&quot;isTemplate&quot;:true,&quot;type&quot;:&quot;text&quot;}"/>
          <p:cNvSpPr txBox="1"/>
          <p:nvPr/>
        </p:nvSpPr>
        <p:spPr>
          <a:xfrm rot="0" flipH="0" flipV="0">
            <a:off x="4886325" y="2419350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210" name=""/>
          <p:cNvSpPr/>
          <p:nvPr/>
        </p:nvSpPr>
        <p:spPr>
          <a:xfrm rot="0" flipH="0" flipV="0">
            <a:off x="6134100" y="1952625"/>
            <a:ext cx="1257300" cy="657225"/>
          </a:xfrm>
          <a:prstGeom prst="roundRect">
            <a:avLst>
              <a:gd name="adj" fmla="val 434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211" name=""/>
          <p:cNvSpPr/>
          <p:nvPr/>
        </p:nvSpPr>
        <p:spPr>
          <a:xfrm rot="0" flipH="0" flipV="0">
            <a:off x="6134100" y="1952625"/>
            <a:ext cx="1257300" cy="657225"/>
          </a:xfrm>
          <a:custGeom>
            <a:pathLst>
              <a:path w="132" h="69">
                <a:moveTo>
                  <a:pt x="129" y="0"/>
                </a:moveTo>
                <a:cubicBezTo>
                  <a:pt x="131" y="0"/>
                  <a:pt x="132" y="1"/>
                  <a:pt x="132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29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212" name="" descr="{&quot;isTemplate&quot;:true,&quot;type&quot;:&quot;text&quot;}"/>
          <p:cNvSpPr txBox="1"/>
          <p:nvPr/>
        </p:nvSpPr>
        <p:spPr>
          <a:xfrm rot="0" flipH="0" flipV="0">
            <a:off x="6219825" y="1990725"/>
            <a:ext cx="1085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87D2F"/>
                </a:solidFill>
                <a:latin typeface="Microsoft YaHei"/>
                <a:ea typeface="Microsoft YaHei"/>
              </a:rPr>
              <a:t>ONT</a:t>
            </a:r>
            <a:endParaRPr/>
          </a:p>
        </p:txBody>
      </p:sp>
      <p:sp>
        <p:nvSpPr>
          <p:cNvPr id="1213" name="" descr="{&quot;isTemplate&quot;:true,&quot;type&quot;:&quot;text&quot;}"/>
          <p:cNvSpPr txBox="1"/>
          <p:nvPr/>
        </p:nvSpPr>
        <p:spPr>
          <a:xfrm rot="0" flipH="0" flipV="0">
            <a:off x="6219825" y="2200275"/>
            <a:ext cx="1085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语义与动力学合一</a:t>
            </a:r>
            <a:endParaRPr/>
          </a:p>
        </p:txBody>
      </p:sp>
      <p:sp>
        <p:nvSpPr>
          <p:cNvPr id="1214" name="" descr="{&quot;isTemplate&quot;:true,&quot;type&quot;:&quot;text&quot;}"/>
          <p:cNvSpPr txBox="1"/>
          <p:nvPr/>
        </p:nvSpPr>
        <p:spPr>
          <a:xfrm rot="0" flipH="0" flipV="0">
            <a:off x="6219825" y="2419350"/>
            <a:ext cx="108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215" name=""/>
          <p:cNvSpPr/>
          <p:nvPr/>
        </p:nvSpPr>
        <p:spPr>
          <a:xfrm rot="0" flipH="0" flipV="0">
            <a:off x="7458075" y="1952625"/>
            <a:ext cx="1266825" cy="657225"/>
          </a:xfrm>
          <a:prstGeom prst="roundRect">
            <a:avLst>
              <a:gd name="adj" fmla="val 434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216" name=""/>
          <p:cNvSpPr/>
          <p:nvPr/>
        </p:nvSpPr>
        <p:spPr>
          <a:xfrm rot="0" flipH="0" flipV="0">
            <a:off x="7458075" y="1952625"/>
            <a:ext cx="1266825" cy="657225"/>
          </a:xfrm>
          <a:custGeom>
            <a:pathLst>
              <a:path w="133" h="69">
                <a:moveTo>
                  <a:pt x="130" y="0"/>
                </a:moveTo>
                <a:cubicBezTo>
                  <a:pt x="132" y="0"/>
                  <a:pt x="133" y="1"/>
                  <a:pt x="133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30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217" name="" descr="{&quot;isTemplate&quot;:true,&quot;type&quot;:&quot;text&quot;}"/>
          <p:cNvSpPr txBox="1"/>
          <p:nvPr/>
        </p:nvSpPr>
        <p:spPr>
          <a:xfrm rot="0" flipH="0" flipV="0">
            <a:off x="7543800" y="1990725"/>
            <a:ext cx="1095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87D2F"/>
                </a:solidFill>
                <a:latin typeface="Microsoft YaHei"/>
                <a:ea typeface="Microsoft YaHei"/>
              </a:rPr>
              <a:t>KB</a:t>
            </a:r>
            <a:endParaRPr/>
          </a:p>
        </p:txBody>
      </p:sp>
      <p:sp>
        <p:nvSpPr>
          <p:cNvPr id="1218" name="" descr="{&quot;isTemplate&quot;:true,&quot;type&quot;:&quot;text&quot;}"/>
          <p:cNvSpPr txBox="1"/>
          <p:nvPr/>
        </p:nvSpPr>
        <p:spPr>
          <a:xfrm rot="0" flipH="0" flipV="0">
            <a:off x="7543800" y="2200275"/>
            <a:ext cx="10953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知识要被治理</a:t>
            </a:r>
            <a:endParaRPr/>
          </a:p>
        </p:txBody>
      </p:sp>
      <p:sp>
        <p:nvSpPr>
          <p:cNvPr id="1219" name="" descr="{&quot;isTemplate&quot;:true,&quot;type&quot;:&quot;text&quot;}"/>
          <p:cNvSpPr txBox="1"/>
          <p:nvPr/>
        </p:nvSpPr>
        <p:spPr>
          <a:xfrm rot="0" flipH="0" flipV="0">
            <a:off x="7543800" y="2419350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220" name=""/>
          <p:cNvSpPr/>
          <p:nvPr/>
        </p:nvSpPr>
        <p:spPr>
          <a:xfrm rot="0" flipH="0" flipV="0">
            <a:off x="8791575" y="1952625"/>
            <a:ext cx="1266825" cy="657225"/>
          </a:xfrm>
          <a:prstGeom prst="roundRect">
            <a:avLst>
              <a:gd name="adj" fmla="val 434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221" name=""/>
          <p:cNvSpPr/>
          <p:nvPr/>
        </p:nvSpPr>
        <p:spPr>
          <a:xfrm rot="0" flipH="0" flipV="0">
            <a:off x="8791575" y="1952625"/>
            <a:ext cx="1266825" cy="657225"/>
          </a:xfrm>
          <a:custGeom>
            <a:pathLst>
              <a:path w="133" h="69">
                <a:moveTo>
                  <a:pt x="130" y="0"/>
                </a:moveTo>
                <a:cubicBezTo>
                  <a:pt x="132" y="0"/>
                  <a:pt x="133" y="1"/>
                  <a:pt x="133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30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22" name="" descr="{&quot;isTemplate&quot;:true,&quot;type&quot;:&quot;text&quot;}"/>
          <p:cNvSpPr txBox="1"/>
          <p:nvPr/>
        </p:nvSpPr>
        <p:spPr>
          <a:xfrm rot="0" flipH="0" flipV="0">
            <a:off x="8877300" y="1990725"/>
            <a:ext cx="1095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AGT</a:t>
            </a:r>
            <a:endParaRPr/>
          </a:p>
        </p:txBody>
      </p:sp>
      <p:sp>
        <p:nvSpPr>
          <p:cNvPr id="1223" name="" descr="{&quot;isTemplate&quot;:true,&quot;type&quot;:&quot;text&quot;}"/>
          <p:cNvSpPr txBox="1"/>
          <p:nvPr/>
        </p:nvSpPr>
        <p:spPr>
          <a:xfrm rot="0" flipH="0" flipV="0">
            <a:off x="8877300" y="2200275"/>
            <a:ext cx="10953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谁判断、何时停</a:t>
            </a:r>
            <a:endParaRPr/>
          </a:p>
        </p:txBody>
      </p:sp>
      <p:sp>
        <p:nvSpPr>
          <p:cNvPr id="1224" name="" descr="{&quot;isTemplate&quot;:true,&quot;type&quot;:&quot;text&quot;}"/>
          <p:cNvSpPr txBox="1"/>
          <p:nvPr/>
        </p:nvSpPr>
        <p:spPr>
          <a:xfrm rot="0" flipH="0" flipV="0">
            <a:off x="8877300" y="2419350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225" name=""/>
          <p:cNvSpPr/>
          <p:nvPr/>
        </p:nvSpPr>
        <p:spPr>
          <a:xfrm rot="0" flipH="0" flipV="0">
            <a:off x="10125075" y="1952625"/>
            <a:ext cx="1266825" cy="657225"/>
          </a:xfrm>
          <a:prstGeom prst="roundRect">
            <a:avLst>
              <a:gd name="adj" fmla="val 434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226" name=""/>
          <p:cNvSpPr/>
          <p:nvPr/>
        </p:nvSpPr>
        <p:spPr>
          <a:xfrm rot="0" flipH="0" flipV="0">
            <a:off x="10125075" y="1952625"/>
            <a:ext cx="1266825" cy="657225"/>
          </a:xfrm>
          <a:custGeom>
            <a:pathLst>
              <a:path w="133" h="69">
                <a:moveTo>
                  <a:pt x="130" y="0"/>
                </a:moveTo>
                <a:cubicBezTo>
                  <a:pt x="132" y="0"/>
                  <a:pt x="133" y="1"/>
                  <a:pt x="133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30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27" name="" descr="{&quot;isTemplate&quot;:true,&quot;type&quot;:&quot;text&quot;}"/>
          <p:cNvSpPr txBox="1"/>
          <p:nvPr/>
        </p:nvSpPr>
        <p:spPr>
          <a:xfrm rot="0" flipH="0" flipV="0">
            <a:off x="10210800" y="2095500"/>
            <a:ext cx="1095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PIPE</a:t>
            </a:r>
            <a:endParaRPr/>
          </a:p>
        </p:txBody>
      </p:sp>
      <p:sp>
        <p:nvSpPr>
          <p:cNvPr id="1228" name="" descr="{&quot;isTemplate&quot;:true,&quot;type&quot;:&quot;text&quot;}"/>
          <p:cNvSpPr txBox="1"/>
          <p:nvPr/>
        </p:nvSpPr>
        <p:spPr>
          <a:xfrm rot="0" flipH="0" flipV="0">
            <a:off x="10210800" y="2305050"/>
            <a:ext cx="10953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可管、可追、可退</a:t>
            </a:r>
            <a:endParaRPr/>
          </a:p>
        </p:txBody>
      </p:sp>
      <p:sp>
        <p:nvSpPr>
          <p:cNvPr id="1229" name=""/>
          <p:cNvSpPr/>
          <p:nvPr/>
        </p:nvSpPr>
        <p:spPr>
          <a:xfrm rot="0" flipH="0" flipV="0">
            <a:off x="647700" y="3057525"/>
            <a:ext cx="7067550" cy="2581275"/>
          </a:xfrm>
          <a:prstGeom prst="roundRect">
            <a:avLst>
              <a:gd name="adj" fmla="val 1476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30" name=""/>
          <p:cNvSpPr/>
          <p:nvPr/>
        </p:nvSpPr>
        <p:spPr>
          <a:xfrm rot="0" flipH="0" flipV="0">
            <a:off x="647700" y="3057525"/>
            <a:ext cx="7067550" cy="2581275"/>
          </a:xfrm>
          <a:custGeom>
            <a:pathLst>
              <a:path w="742" h="271">
                <a:moveTo>
                  <a:pt x="4" y="271"/>
                </a:moveTo>
                <a:cubicBezTo>
                  <a:pt x="2" y="271"/>
                  <a:pt x="0" y="269"/>
                  <a:pt x="0" y="26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7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31" name="" descr="{&quot;isTemplate&quot;:true,&quot;type&quot;:&quot;text&quot;}"/>
          <p:cNvSpPr txBox="1"/>
          <p:nvPr/>
        </p:nvSpPr>
        <p:spPr>
          <a:xfrm rot="0" flipH="0" flipV="0">
            <a:off x="809625" y="3800475"/>
            <a:ext cx="670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本册要留下的一句话</a:t>
            </a:r>
            <a:endParaRPr/>
          </a:p>
        </p:txBody>
      </p:sp>
      <p:sp>
        <p:nvSpPr>
          <p:cNvPr id="1232" name="" descr="{&quot;isTemplate&quot;:true,&quot;type&quot;:&quot;text&quot;}"/>
          <p:cNvSpPr txBox="1"/>
          <p:nvPr/>
        </p:nvSpPr>
        <p:spPr>
          <a:xfrm rot="0" flipH="0" flipV="0">
            <a:off x="809625" y="4057650"/>
            <a:ext cx="67056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0F1423"/>
                </a:solidFill>
                <a:latin typeface="Microsoft YaHei"/>
                <a:ea typeface="Microsoft YaHei"/>
              </a:rPr>
              <a:t>本体画的是「世界应该长什么样」，管道要保证的是「它现在真的长这样」。前者靠设计，后者只能靠一版一版的验证、一次一次的可回退、以及一份永远可信的血缘。</a:t>
            </a:r>
            <a:endParaRPr/>
          </a:p>
        </p:txBody>
      </p:sp>
      <p:sp>
        <p:nvSpPr>
          <p:cNvPr id="1233" name="" descr="{&quot;isTemplate&quot;:true,&quot;type&quot;:&quot;text&quot;}"/>
          <p:cNvSpPr txBox="1"/>
          <p:nvPr/>
        </p:nvSpPr>
        <p:spPr>
          <a:xfrm rot="0" flipH="0" flipV="0">
            <a:off x="809625" y="4676775"/>
            <a:ext cx="6705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如果这三样东西都没有，那么再漂亮的本体图、再聪明的</a:t>
            </a:r>
            <a:r>
              <a:rPr lang="en-US" sz="975">
                <a:solidFill>
                  <a:srgbClr val="5A6072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，都只是在一个没人验证过的假设上做判断。</a:t>
            </a:r>
            <a:endParaRPr/>
          </a:p>
        </p:txBody>
      </p:sp>
      <p:sp>
        <p:nvSpPr>
          <p:cNvPr id="1234" name=""/>
          <p:cNvSpPr/>
          <p:nvPr/>
        </p:nvSpPr>
        <p:spPr>
          <a:xfrm rot="0" flipH="0" flipV="0">
            <a:off x="7772400" y="3057525"/>
            <a:ext cx="3810000" cy="2581275"/>
          </a:xfrm>
          <a:prstGeom prst="roundRect">
            <a:avLst>
              <a:gd name="adj" fmla="val 147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35" name="" descr="{&quot;isTemplate&quot;:true,&quot;type&quot;:&quot;text&quot;}"/>
          <p:cNvSpPr txBox="1"/>
          <p:nvPr/>
        </p:nvSpPr>
        <p:spPr>
          <a:xfrm rot="0" flipH="0" flipV="0">
            <a:off x="7934325" y="3181350"/>
            <a:ext cx="3486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下一步可以接着做的三件事</a:t>
            </a:r>
            <a:endParaRPr/>
          </a:p>
        </p:txBody>
      </p:sp>
      <p:sp>
        <p:nvSpPr>
          <p:cNvPr id="1236" name="" descr="{&quot;isTemplate&quot;:true,&quot;type&quot;:&quot;text&quot;}"/>
          <p:cNvSpPr txBox="1"/>
          <p:nvPr/>
        </p:nvSpPr>
        <p:spPr>
          <a:xfrm rot="0" flipH="0" flipV="0">
            <a:off x="7934325" y="3590925"/>
            <a:ext cx="3486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管道域现状体检</a:t>
            </a:r>
            <a:endParaRPr/>
          </a:p>
        </p:txBody>
      </p:sp>
      <p:sp>
        <p:nvSpPr>
          <p:cNvPr id="1237" name="" descr="{&quot;isTemplate&quot;:true,&quot;type&quot;:&quot;text&quot;}"/>
          <p:cNvSpPr txBox="1"/>
          <p:nvPr/>
        </p:nvSpPr>
        <p:spPr>
          <a:xfrm rot="0" flipH="0" flipV="0">
            <a:off x="7934325" y="3762375"/>
            <a:ext cx="34861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5A6072"/>
                </a:solidFill>
                <a:latin typeface="Microsoft YaHei"/>
                <a:ea typeface="Microsoft YaHei"/>
              </a:rPr>
              <a:t>用五道门与五类失效做一轮扫描，出问题优先级清单</a:t>
            </a:r>
            <a:endParaRPr/>
          </a:p>
        </p:txBody>
      </p:sp>
      <p:sp>
        <p:nvSpPr>
          <p:cNvPr id="1238" name=""/>
          <p:cNvSpPr/>
          <p:nvPr/>
        </p:nvSpPr>
        <p:spPr>
          <a:xfrm rot="0" flipH="0" flipV="0">
            <a:off x="7934325" y="4114800"/>
            <a:ext cx="3486150" cy="714375"/>
          </a:xfrm>
          <a:custGeom>
            <a:pathLst>
              <a:path w="366" h="75">
                <a:moveTo>
                  <a:pt x="0" y="0"/>
                </a:moveTo>
                <a:lnTo>
                  <a:pt x="366" y="0"/>
                </a:lnTo>
                <a:lnTo>
                  <a:pt x="36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39" name="" descr="{&quot;isTemplate&quot;:true,&quot;type&quot;:&quot;text&quot;}"/>
          <p:cNvSpPr txBox="1"/>
          <p:nvPr/>
        </p:nvSpPr>
        <p:spPr>
          <a:xfrm rot="0" flipH="0" flipV="0">
            <a:off x="7934325" y="4286250"/>
            <a:ext cx="3486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Approach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八阶段落地</a:t>
            </a:r>
            <a:endParaRPr/>
          </a:p>
        </p:txBody>
      </p:sp>
      <p:sp>
        <p:nvSpPr>
          <p:cNvPr id="1240" name="" descr="{&quot;isTemplate&quot;:true,&quot;type&quot;:&quot;text&quot;}"/>
          <p:cNvSpPr txBox="1"/>
          <p:nvPr/>
        </p:nvSpPr>
        <p:spPr>
          <a:xfrm rot="0" flipH="0" flipV="0">
            <a:off x="7934325" y="4457700"/>
            <a:ext cx="34861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5A6072"/>
                </a:solidFill>
                <a:latin typeface="Microsoft YaHei"/>
                <a:ea typeface="Microsoft YaHei"/>
              </a:rPr>
              <a:t>按八个阶段做一次完整交付，形成第一版管道资产集</a:t>
            </a:r>
            <a:endParaRPr/>
          </a:p>
        </p:txBody>
      </p:sp>
      <p:sp>
        <p:nvSpPr>
          <p:cNvPr id="1241" name=""/>
          <p:cNvSpPr/>
          <p:nvPr/>
        </p:nvSpPr>
        <p:spPr>
          <a:xfrm rot="0" flipH="0" flipV="0">
            <a:off x="7934325" y="4819650"/>
            <a:ext cx="3486150" cy="704850"/>
          </a:xfrm>
          <a:custGeom>
            <a:pathLst>
              <a:path w="366" h="74">
                <a:moveTo>
                  <a:pt x="0" y="0"/>
                </a:moveTo>
                <a:lnTo>
                  <a:pt x="366" y="0"/>
                </a:lnTo>
                <a:lnTo>
                  <a:pt x="36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42" name="" descr="{&quot;isTemplate&quot;:true,&quot;type&quot;:&quot;text&quot;}"/>
          <p:cNvSpPr txBox="1"/>
          <p:nvPr/>
        </p:nvSpPr>
        <p:spPr>
          <a:xfrm rot="0" flipH="0" flipV="0">
            <a:off x="7934325" y="4991100"/>
            <a:ext cx="3486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与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册联合出方案</a:t>
            </a:r>
            <a:endParaRPr/>
          </a:p>
        </p:txBody>
      </p:sp>
      <p:sp>
        <p:nvSpPr>
          <p:cNvPr id="1243" name="" descr="{&quot;isTemplate&quot;:true,&quot;type&quot;:&quot;text&quot;}"/>
          <p:cNvSpPr txBox="1"/>
          <p:nvPr/>
        </p:nvSpPr>
        <p:spPr>
          <a:xfrm rot="0" flipH="0" flipV="0">
            <a:off x="7934325" y="5162550"/>
            <a:ext cx="34861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5A6072"/>
                </a:solidFill>
                <a:latin typeface="Microsoft YaHei"/>
                <a:ea typeface="Microsoft YaHei"/>
              </a:rPr>
              <a:t>把上下文规格与终止条件，和管道时效承诺对齐成一份契约</a:t>
            </a:r>
            <a:endParaRPr/>
          </a:p>
        </p:txBody>
      </p:sp>
      <p:sp>
        <p:nvSpPr>
          <p:cNvPr id="1244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45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46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管道处理咨询方法论</a:t>
            </a:r>
            <a:endParaRPr/>
          </a:p>
        </p:txBody>
      </p:sp>
      <p:sp>
        <p:nvSpPr>
          <p:cNvPr id="1247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30 / 30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2026-10-12T07:43:14Z</dcterms:created>
  <dcterms:modified xsi:type="dcterms:W3CDTF">2026-10-12T07:43:14Z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{"AIGC":{"Label":"1","ContentProducer":"00119111010856365494821B355","ProduceID":"01a12d4858147a45bd4148900948a5fd","ReservedCode1":"","ContentPropagator":"00119111010856365494821B355","PropagateID":"01a12d4858147a45bd4148900948a5fd","ReservedCode2":""}}</vt:lpwstr>
  </property>
</Properties>
</file>