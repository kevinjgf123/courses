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tableStyles" Target="tableStyles.xml"/><Relationship Id="rId6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这一册是系列里的第十二本。前十一本讲的都是架构和方法——数据架构、业务架构、应用架构、技术架构，加上本体、智能体、知识库、管道处理、数据治理、主数据、指标。</a:t>
            </a:r>
          </a:p>
          <a:p>
            <a:endParaRPr lang="zh-CN"/>
          </a:p>
          <a:p>
            <a:r>
              <a:rPr lang="zh-CN" sz="1200" dirty="0"/>
              <a:t>我想请各位先想一个问题：这些册子全部假设了一件事——有一支能建平台的团队。这个假设在 2023 年之后不成立了。</a:t>
            </a:r>
          </a:p>
          <a:p>
            <a:endParaRPr lang="zh-CN"/>
          </a:p>
          <a:p>
            <a:r>
              <a:rPr lang="zh-CN" sz="1200" dirty="0"/>
              <a:t>原因有三个，都很具体：客户现场的数据环境是碎的，不是缺一个模块，是所有东西都要在客户那台机器上重写一遍；交付周期从几个月压到了几天；还有，现有两类人各缺一半——顾问会写蓝图不会写生产代码，开发经理会写代码但不敢进客户现场替他们做决策。</a:t>
            </a:r>
          </a:p>
          <a:p>
            <a:endParaRPr lang="zh-CN"/>
          </a:p>
          <a:p>
            <a:r>
              <a:rPr lang="zh-CN" sz="1200" dirty="0"/>
              <a:t>FDE 这个岗位就是为这三件事同时存在的。所以今天这一本，我不讲它是一个怎么样的职位，我讲它是一种怎么样的交付模型。</a:t>
            </a:r>
          </a:p>
          <a:p>
            <a:endParaRPr lang="zh-CN"/>
          </a:p>
          <a:p>
            <a:r>
              <a:rPr lang="zh-CN" sz="1200" dirty="0"/>
              <a:t>封面下面那些缩写各位可以扫一眼，前面十一个都是这套体系的一层，最右边这个是唯一横切所有层的一个。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这是这一册的地图。五个部分，我不展开讲，只提醒两个结构性设计。</a:t>
            </a:r>
          </a:p>
          <a:p>
            <a:endParaRPr lang="zh-CN"/>
          </a:p>
          <a:p>
            <a:r>
              <a:rPr lang="zh-CN" sz="1200" dirty="0"/>
              <a:t>第一个，第一部分到第三部分都在讲 FDE 自己——它是什么角色、在现场怎么干活、真实现场长什么样。这三部分是方法层。</a:t>
            </a:r>
          </a:p>
          <a:p>
            <a:endParaRPr lang="zh-CN"/>
          </a:p>
          <a:p>
            <a:r>
              <a:rPr lang="zh-CN" sz="1200" dirty="0"/>
              <a:t>第二个，第四部分和第五部分是我认为对各位最有用的。第四部分讲 FDE 在前面那十一册的每一个领域里到底特殊在哪：建本体、建智能体、接管道、治数据、治主数据、定口径，各自有什么不一样的处理法。第五部分讲组织和工具——团队怎么配，以及 FDE 用什么工作台把手艺固化成可复用的东西。</a:t>
            </a:r>
          </a:p>
          <a:p>
            <a:endParaRPr lang="zh-CN"/>
          </a:p>
          <a:p>
            <a:r>
              <a:rPr lang="zh-CN" sz="1200" dirty="0"/>
              <a:t>最后我想预告第四部分那一页，就是下一页。这是我认为这一册里最实用的一张图：如果你手上有一个团队，怎么判断它到底是顾问团队、产品团队，还是 FDE 团队，就看那张表。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在讲方法之前，我想先把整册的必要性讲清楚。</a:t>
            </a:r>
          </a:p>
          <a:p>
            <a:endParaRPr lang="zh-CN"/>
          </a:p>
          <a:p>
            <a:r>
              <a:rPr lang="zh-CN" sz="1200" dirty="0"/>
              <a:t>左边这三段是我今天最想说的话。第一段，客户现场的数据是碎的。设计院的图纸直接变成工程量，中间那层翻译没人做，这就是 FDE 存在的理由。</a:t>
            </a:r>
          </a:p>
          <a:p>
            <a:endParaRPr lang="zh-CN"/>
          </a:p>
          <a:p>
            <a:r>
              <a:rPr lang="zh-CN" sz="1200" dirty="0"/>
              <a:t>第二段，交付周期被压缩到天级。官方口径是三个月到六个月、多人参与，压到大约五天，第三天交出可运行的智能应用。这个效率提升的来源我请各位注意——不是算法突破，是把二十年积累的经验从人身上搬到了平台上。</a:t>
            </a:r>
          </a:p>
          <a:p>
            <a:endParaRPr lang="zh-CN"/>
          </a:p>
          <a:p>
            <a:r>
              <a:rPr lang="zh-CN" sz="1200" dirty="0"/>
              <a:t>第三段，现有两类人都不够用。这是我认为最关键的一句：缺一半不是缺一半，是这个活干不成，因为现场交付没有时间交接三次。</a:t>
            </a:r>
          </a:p>
          <a:p>
            <a:endParaRPr lang="zh-CN"/>
          </a:p>
          <a:p>
            <a:r>
              <a:rPr lang="zh-CN" sz="1200" dirty="0"/>
              <a:t>中间这块深色是我今天想让大家带走的一句话。它不是职级，因为它衡量的东西根本不是工时。底下这三行是补充——新人第一天就背责任，不被隔绝在客户和后果之外，以及要穿上客户的鞋走很多路。</a:t>
            </a:r>
          </a:p>
          <a:p>
            <a:endParaRPr lang="zh-CN"/>
          </a:p>
          <a:p>
            <a:r>
              <a:rPr lang="zh-CN" sz="1200" dirty="0"/>
              <a:t>下面这张图讲的是二十年那条路，讲完我们进第一部分。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这张图是整册的施工图，我请各位拍下来。</a:t>
            </a:r>
          </a:p>
          <a:p>
            <a:endParaRPr lang="zh-CN"/>
          </a:p>
          <a:p>
            <a:r>
              <a:rPr lang="zh-CN" sz="1200" dirty="0"/>
              <a:t>横向五个阶段，从左到右读，箭头就是顺序，不能颠倒也不能跳步。每个方框里我写的是这一步必须交出来的东西，交不出来就是空转。</a:t>
            </a:r>
          </a:p>
          <a:p>
            <a:endParaRPr lang="zh-CN"/>
          </a:p>
          <a:p>
            <a:r>
              <a:rPr lang="zh-CN" sz="1200" dirty="0"/>
              <a:t>第一阶段进场，四步。这里我要强调第二步到第四步的顺序——先配对组队、拿准入，再摸底，最后才排痛点。顺序反了就会出现最常见的毛病：人到了现场，但没跟一线用户说过话。</a:t>
            </a:r>
          </a:p>
          <a:p>
            <a:endParaRPr lang="zh-CN"/>
          </a:p>
          <a:p>
            <a:r>
              <a:rPr lang="zh-CN" sz="1200" dirty="0"/>
              <a:t>第二阶段诊断，这一段是全册最不能省的四步。决策链梳理、真实流程还原、痛点量化、场景定选。这一段做扎实，后面才建得起来；这一段糊弄过去，后面全是返工。</a:t>
            </a:r>
          </a:p>
          <a:p>
            <a:endParaRPr lang="zh-CN"/>
          </a:p>
          <a:p>
            <a:r>
              <a:rPr lang="zh-CN" sz="1200" dirty="0"/>
              <a:t>第三阶段建模，四步。注意顺序：先定对象和链接，再定主数据解析策略，然后才是治理和指标。这四步的顺序就是第一册那本数据架构讲的施工顺序。</a:t>
            </a:r>
          </a:p>
          <a:p>
            <a:endParaRPr lang="zh-CN"/>
          </a:p>
          <a:p>
            <a:r>
              <a:rPr lang="zh-CN" sz="1200" dirty="0"/>
              <a:t>第四阶段构建，管线、切片、装配、生产、验收，一口气做完到上线。</a:t>
            </a:r>
          </a:p>
          <a:p>
            <a:endParaRPr lang="zh-CN"/>
          </a:p>
          <a:p>
            <a:r>
              <a:rPr lang="zh-CN" sz="1200" dirty="0"/>
              <a:t>第五阶段回流移交，这一步最容易被跳过，但它是整个模型能不能转起来的唯一出口。</a:t>
            </a:r>
          </a:p>
          <a:p>
            <a:endParaRPr lang="zh-CN"/>
          </a:p>
          <a:p>
            <a:r>
              <a:rPr lang="zh-CN" sz="1200" dirty="0"/>
              <a:t>底部三条请各位记住：顺序铁律、碎石路机制、知识转移。这三条贯穿全程。下面进入第一部分。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第一部分，角色本体论。</a:t>
            </a:r>
          </a:p>
          <a:p>
            <a:endParaRPr lang="zh-CN"/>
          </a:p>
          <a:p>
            <a:r>
              <a:rPr lang="zh-CN" sz="1200" dirty="0"/>
              <a:t>这一部分回答四个问题：FDE 到底是个什么东西；Palantir 内部的三种角色怎么分工；这个岗位为什么在 2005 年就出现了，而不是 AI 时代；以及最关键的——它跟传统的咨询顾问、产品经理、开发经理到底差在哪。</a:t>
            </a:r>
          </a:p>
          <a:p>
            <a:endParaRPr lang="zh-CN"/>
          </a:p>
          <a:p>
            <a:r>
              <a:rPr lang="zh-CN" sz="1200" dirty="0"/>
              <a:t>第四个问题是我认为这一册最重要的部分。各位在座如果有咨询公司或者企业的朋友，可以拿那一页的判据去套一个人，看他到底应该叫什么角色。</a:t>
            </a:r>
          </a:p>
          <a:p>
            <a:endParaRPr lang="zh-CN"/>
          </a:p>
          <a:p>
            <a:r>
              <a:rPr lang="zh-CN" sz="1200" dirty="0"/>
              <a:t>后面十二页我按这个顺序讲：先定义，再分工，再讲人，再讲对比，最后讲反面。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这一页我要先纠正一个常见的说法——FDE 是一个职级。</a:t>
            </a:r>
          </a:p>
          <a:p>
            <a:endParaRPr lang="zh-CN"/>
          </a:p>
          <a:p>
            <a:r>
              <a:rPr lang="zh-CN" sz="1200" dirty="0"/>
              <a:t>它不是。职级是纵向的序列，付更高的薪、担更大的责。FDE 是横向的——它跟 Dev 并列，甚至一度人数更多。</a:t>
            </a:r>
          </a:p>
          <a:p>
            <a:endParaRPr lang="zh-CN"/>
          </a:p>
          <a:p>
            <a:r>
              <a:rPr lang="zh-CN" sz="1200" dirty="0"/>
              <a:t>这一页三个衡量口径，前两个是错的：按交付物衡量，按工时衡量。为什么按工时是错的？因为驻场八到十六周甚至以年计，工时和产出完全不成比例。这是 FDE 最难被财务接受的地方，也是它必须按效果付费的原因。</a:t>
            </a:r>
          </a:p>
          <a:p>
            <a:endParaRPr lang="zh-CN"/>
          </a:p>
          <a:p>
            <a:r>
              <a:rPr lang="zh-CN" sz="1200" dirty="0"/>
              <a:t>第三个才是对的：按现场改变衡量。客户上线了新的作业方式、新的决策依据、新的数据口径，并且有人在用。</a:t>
            </a:r>
          </a:p>
          <a:p>
            <a:endParaRPr lang="zh-CN"/>
          </a:p>
          <a:p>
            <a:r>
              <a:rPr lang="zh-CN" sz="1200" dirty="0"/>
              <a:t>下面这块我引了官方的原话：radical commitment to the outcome，对结果的极端承诺。这句话的重点不是承诺，是极端——它把 FDE 和所有交付岗在责任性质上分开了。前面三种角色对过程负责，FDE 对客户那套流程的运行结果负责。</a:t>
            </a:r>
          </a:p>
          <a:p>
            <a:endParaRPr lang="zh-CN"/>
          </a:p>
          <a:p>
            <a:r>
              <a:rPr lang="zh-CN" sz="1200" dirty="0"/>
              <a:t>底下三行是配套的行为约束。最底下这个橙红是全册反复要用的一句话，我后面每一部分都会回到它。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这一页是全册最重要的一张表，三种角色。请各位把三句话记住：Dev 建平台，Delta 修路，Echo 指路。</a:t>
            </a:r>
          </a:p>
          <a:p>
            <a:endParaRPr lang="zh-CN"/>
          </a:p>
          <a:p>
            <a:r>
              <a:rPr lang="zh-CN" sz="1200" dirty="0"/>
              <a:t>这三个不是层级，是三种完全不同的人。Dev 属于产品开发部门，目标是让一项能力服务多个客户。Delta 属于业务开发部门，目标是让一个客户用上多种能力——这就是 FDE 本体。Echo 在客户侧，通常不是工程师，目标是找到最值得修的那条路。</a:t>
            </a:r>
          </a:p>
          <a:p>
            <a:endParaRPr lang="zh-CN"/>
          </a:p>
          <a:p>
            <a:r>
              <a:rPr lang="zh-CN" sz="1200" dirty="0"/>
              <a:t>中间这块我请各位重点看。Delta 和 Echo 是一对一的，这个配对是刻意制造的张力，不是随便排的班。为什么？因为 Delta 单独干，会做出技术上正确但运营无关的东西——模型很漂亮，没人用。Echo 的职责不是给 Delta 派活，是把工作拽回真实的客户问题上。</a:t>
            </a:r>
          </a:p>
          <a:p>
            <a:endParaRPr lang="zh-CN"/>
          </a:p>
          <a:p>
            <a:r>
              <a:rPr lang="zh-CN" sz="1200" dirty="0"/>
              <a:t>上面三张卡里我都写了各自的失败形态，各位对照看看自己的团队是不是正在犯。</a:t>
            </a:r>
          </a:p>
          <a:p>
            <a:endParaRPr lang="zh-CN"/>
          </a:p>
          <a:p>
            <a:r>
              <a:rPr lang="zh-CN" sz="1200" dirty="0"/>
              <a:t>右边这个数字请各位有心理准备：官方口径的候选人接受率是百分之一，全球池子几千人，而且大部分已经被雇走了。这不是靠扩招能解决的岗位，它是结构性稀缺资源。所以 2016 年 FDE 数量超过了传统软件工程师这件事，不奇怪。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 Echo 的选人标准，我认为这是整套模型里最容易被跳过、但跳过就必然失败的一条。</a:t>
            </a:r>
          </a:p>
          <a:p>
            <a:endParaRPr lang="zh-CN"/>
          </a:p>
          <a:p>
            <a:r>
              <a:rPr lang="zh-CN" sz="1200" dirty="0"/>
              <a:t>官方 CTO 麦克格鲁的原话：Echo 必须是叛逆者。他的解释是——一个觉得「现在这套挺好」的人，找不到值得派 Delta 去修的路。</a:t>
            </a:r>
          </a:p>
          <a:p>
            <a:endParaRPr lang="zh-CN"/>
          </a:p>
          <a:p>
            <a:r>
              <a:rPr lang="zh-CN" sz="1200" dirty="0"/>
              <a:t>上面这两块我请各位对照看。左边的类型熟悉业务、敬业、稳定，正是招聘史上最想招的那种人，但他们的最优策略是保守。右边这类人同样懂行业，但坚信现有体系不够用。理想的画像是前军官、医疗老兵、金融老手。</a:t>
            </a:r>
          </a:p>
          <a:p>
            <a:endParaRPr lang="zh-CN"/>
          </a:p>
          <a:p>
            <a:r>
              <a:rPr lang="zh-CN" sz="1200" dirty="0"/>
              <a:t>下面左边这块我想多说一句。为什么这条是死线？因为 FDE 的产出是客户没做过的事。一个认为客户现状合理的人，他的最优策略一定是保守，而保守的结果是技术完美、零改变。</a:t>
            </a:r>
          </a:p>
          <a:p>
            <a:endParaRPr lang="zh-CN"/>
          </a:p>
          <a:p>
            <a:r>
              <a:rPr lang="zh-CN" sz="1200" dirty="0"/>
              <a:t>中间这四个提问是我建议直接拿去用的面试题。第四个尤其重要——你上一次说服一个资深业务负责人改流程是什么时候。答不上来的，基本可以排除。</a:t>
            </a:r>
          </a:p>
          <a:p>
            <a:endParaRPr lang="zh-CN"/>
          </a:p>
          <a:p>
            <a:r>
              <a:rPr lang="zh-CN" sz="1200" dirty="0"/>
              <a:t>最后我想回应一个行业里的批评。有风投说这就是头衔套利，是给已有能力起了个新名字。这个批评有道理，但反过来看，深度集成确实需要一个专属角色来承担，这个角色不叫 FDE 也会叫别的名字。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这一页我要纠正一个时间点的误解：FDE 不是 AI 时代的事。</a:t>
            </a:r>
          </a:p>
          <a:p>
            <a:endParaRPr lang="zh-CN"/>
          </a:p>
          <a:p>
            <a:r>
              <a:rPr lang="zh-CN" sz="1200" dirty="0"/>
              <a:t>它是 2005 年的产物，比这个词被行业广泛使用早二十年。那一年 Palantir 在卖 Gotham，客户是 CIA、NSA 和陆军情报单位。</a:t>
            </a:r>
          </a:p>
          <a:p>
            <a:endParaRPr lang="zh-CN"/>
          </a:p>
          <a:p>
            <a:r>
              <a:rPr lang="zh-CN" sz="1200" dirty="0"/>
              <a:t>上面这条时间轴请各位看四个节点。2005 年问题出现，顾问不会写生产代码，售前工程师不敢改产品。2005 年做决策，把员工派驻现场，带着现有产品进场。2016 年规模化，产品线扩到 Foundry。2023 年之后是 AIP 时代。</a:t>
            </a:r>
          </a:p>
          <a:p>
            <a:endParaRPr lang="zh-CN"/>
          </a:p>
          <a:p>
            <a:r>
              <a:rPr lang="zh-CN" sz="1200" dirty="0"/>
              <a:t>中间这一块是我认为整段路里最重要的一段，请各位记住那句话：先铺一条碎石路，再把它变成铺好的高速公路。</a:t>
            </a:r>
          </a:p>
          <a:p>
            <a:endParaRPr lang="zh-CN"/>
          </a:p>
          <a:p>
            <a:r>
              <a:rPr lang="zh-CN" sz="1200" dirty="0"/>
              <a:t>这就是 FDE 商业模式的全部——一个客户定制，抽象成平台能力，再推广五到十个客户。慢的那一步不许省，因为它保证了这条路真的贴合客户。</a:t>
            </a:r>
          </a:p>
          <a:p>
            <a:endParaRPr lang="zh-CN"/>
          </a:p>
          <a:p>
            <a:r>
              <a:rPr lang="zh-CN" sz="1200" dirty="0"/>
              <a:t>右边这一段是关于这套模式能不能被复制。我的结论是：技术栈完全可以拼出来，开源生态里都有对应的东西。真正拼不出来的是三样——二十年的行业本体积累、政府客户的资质与信任、以及二十年持续且常常不盈利的投入。</a:t>
            </a:r>
          </a:p>
          <a:p>
            <a:endParaRPr lang="zh-CN"/>
          </a:p>
          <a:p>
            <a:r>
              <a:rPr lang="zh-CN" sz="1200" dirty="0"/>
              <a:t>所以对各位的启示是：可以借鉴它的交付结构和方法，不要指望复制它的积累。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这一页我把碎石路机制单独讲一页，因为它决定了这个模式能不能长期存在。</a:t>
            </a:r>
          </a:p>
          <a:p>
            <a:endParaRPr lang="zh-CN"/>
          </a:p>
          <a:p>
            <a:r>
              <a:rPr lang="zh-CN" sz="1200" dirty="0"/>
              <a:t>上面三步我请各位看第三步的关键词：决定能不能规模化。</a:t>
            </a:r>
          </a:p>
          <a:p>
            <a:endParaRPr lang="zh-CN"/>
          </a:p>
          <a:p>
            <a:r>
              <a:rPr lang="zh-CN" sz="1200" dirty="0"/>
              <a:t>中间深色这块是第二步的判据，我叫它可复用度。现场每建一块，FDE 都要当场问一句：这块能不能被下一个客户直接用。答案是不能的时候，要在现场记录它为什么不能——那是平台的缺口清单，不是客户的定制需求。这个记录动作很重要，因为大部分人记不下来，然后就默认它是客户特例。</a:t>
            </a:r>
          </a:p>
          <a:p>
            <a:endParaRPr lang="zh-CN"/>
          </a:p>
          <a:p>
            <a:r>
              <a:rPr lang="zh-CN" sz="1200" dirty="0"/>
              <a:t>左边那段我讲一下不回流会怎样。经验只留在个人脑子里，下一个客户来了还是要派同样多的人、做同样多的活。收入增长受制于人力弹性，这和咨询公司受制于高级合伙人数量是同一个瓶颈。</a:t>
            </a:r>
          </a:p>
          <a:p>
            <a:endParaRPr lang="zh-CN"/>
          </a:p>
          <a:p>
            <a:r>
              <a:rPr lang="zh-CN" sz="1200" dirty="0"/>
              <a:t>右边这段是这套机制的软肋，也是我最想请各位注意的：AIP 的本质就是把二十年经验里的重复步骤做成模板。效率提升来自用软件替代稀缺的人类经验，而不是来自算法突破。所以这个机制一旦不跑，整件事的逻辑就断了。</a:t>
            </a:r>
          </a:p>
          <a:p>
            <a:endParaRPr lang="zh-CN"/>
          </a:p>
          <a:p>
            <a:r>
              <a:rPr lang="zh-CN" sz="1200" dirty="0"/>
              <a:t>底下四个数字是资源侧的硬参数，管道比一比两百到五百万美元，也就是说 FDE 是管道不是销售成本。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这一页讲行为准则。官方原话是不惜代价逼近真相，我把它拆成现场能用的四个动作。</a:t>
            </a:r>
          </a:p>
          <a:p>
            <a:endParaRPr lang="zh-CN"/>
          </a:p>
          <a:p>
            <a:r>
              <a:rPr lang="zh-CN" sz="1200" dirty="0"/>
              <a:t>上面三句是官方岗位描述里的原文，我念一遍各位听听味道。第一句，入职第一天就被托付责任，不会给你一个工单队列。第二句，不被隔绝于客户、混乱与后果之外——出事的时候你就在现场。第三句，要穿上客户的鞋走很多路。</a:t>
            </a:r>
          </a:p>
          <a:p>
            <a:endParaRPr lang="zh-CN"/>
          </a:p>
          <a:p>
            <a:r>
              <a:rPr lang="zh-CN" sz="1200" dirty="0"/>
              <a:t>这三条合起来说明一件事：这个岗位要的是判断力，不是执行力。</a:t>
            </a:r>
          </a:p>
          <a:p>
            <a:endParaRPr lang="zh-CN"/>
          </a:p>
          <a:p>
            <a:r>
              <a:rPr lang="zh-CN" sz="1200" dirty="0"/>
              <a:t>中间左边四个动作是我建议直接用的。第一个，找真正的决策点——不要问要什么功能，问上一次这个决定是怎么做出来的。第二个，让数字对不上，主动去验证口径，越对不上越要当场挖根因。第三个，看一线怎么绕过系统，员工拿 Excel 救火的地方就是真实流程。第四个，写下不利于自己的事实，做不成的原因不要写成客户配合度不足。</a:t>
            </a:r>
          </a:p>
          <a:p>
            <a:endParaRPr lang="zh-CN"/>
          </a:p>
          <a:p>
            <a:r>
              <a:rPr lang="zh-CN" sz="1200" dirty="0"/>
              <a:t>右边是反面，现场常见的三种自我欺骗，我不多解释，各位对照一下自己的团队。</a:t>
            </a:r>
          </a:p>
          <a:p>
            <a:endParaRPr lang="zh-CN"/>
          </a:p>
          <a:p>
            <a:r>
              <a:rPr lang="zh-CN" sz="1200" dirty="0"/>
              <a:t>最底下那块深色是原因：FDE 的失败是静默的。系统上线了，没人用；交付完成了，业务照旧。没有审计日志能告诉你这件事，所以真相必须靠现场的人主动去挖。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这一页是全册最有实用价值的判据，我建议各位拍下来。</a:t>
            </a:r>
          </a:p>
          <a:p>
            <a:endParaRPr lang="zh-CN"/>
          </a:p>
          <a:p>
            <a:r>
              <a:rPr lang="zh-CN" sz="1200" dirty="0"/>
              <a:t>先说结论：FDE 和传统三种角色的差异不是能力清单不同，是交付物形态不同。能力可以学，形态改不了。</a:t>
            </a:r>
          </a:p>
          <a:p>
            <a:endParaRPr lang="zh-CN"/>
          </a:p>
          <a:p>
            <a:r>
              <a:rPr lang="zh-CN" sz="1200" dirty="0"/>
              <a:t>这张表六个维度我逐行讲一下重点。最上面那行是交付物形态：前三个人分别交 PPT、交需求文档、交排期和上线报告，FDE 交可运行的生产环境。这一行决定了其他所有行的走向。</a:t>
            </a:r>
          </a:p>
          <a:p>
            <a:endParaRPr lang="zh-CN"/>
          </a:p>
          <a:p>
            <a:r>
              <a:rPr lang="zh-CN" sz="1200" dirty="0"/>
              <a:t>写不写生产代码这一行也很关键。开发经理不写代码，他管别人写。FDE 自己写，而且是在客户现场写。</a:t>
            </a:r>
          </a:p>
          <a:p>
            <a:endParaRPr lang="zh-CN"/>
          </a:p>
          <a:p>
            <a:r>
              <a:rPr lang="zh-CN" sz="1200" dirty="0"/>
              <a:t>停留位置那一行是很多人判断不出来的——开发经理其实是在内部。FDE 在客户生产环境。</a:t>
            </a:r>
          </a:p>
          <a:p>
            <a:endParaRPr lang="zh-CN"/>
          </a:p>
          <a:p>
            <a:r>
              <a:rPr lang="zh-CN" sz="1200" dirty="0"/>
              <a:t>失败代价那一行我想请各位留意：前三个人失败了，最多是延期或者需求做错。FDE 失败了，是客户业务停摆。责任性质不同，所以人的配置方式也不同。</a:t>
            </a:r>
          </a:p>
          <a:p>
            <a:endParaRPr lang="zh-CN"/>
          </a:p>
          <a:p>
            <a:r>
              <a:rPr lang="zh-CN" sz="1200" dirty="0"/>
              <a:t>下面是两条判别式，可以直接拿去用。第一条：他写的代码，客户生产环境在用吗？这一条能把四种角色全部分开。第二条：业务负责人否掉他的方案，他怎么办？这一条能把驻场工程师和外包实施分开。FDE 会在现场找证据，不是执行，也不是放弃。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这一页讲能力三角，工程、业务、销售影响力三条边。</a:t>
            </a:r>
          </a:p>
          <a:p>
            <a:endParaRPr lang="zh-CN"/>
          </a:p>
          <a:p>
            <a:r>
              <a:rPr lang="zh-CN" sz="1200" dirty="0"/>
              <a:t>为什么必须在一个身上？因为分给三个人就是三次交接，每次交接掉一层信息。现场交付没有时间交接三次。</a:t>
            </a:r>
          </a:p>
          <a:p>
            <a:endParaRPr lang="zh-CN"/>
          </a:p>
          <a:p>
            <a:r>
              <a:rPr lang="zh-CN" sz="1200" dirty="0"/>
              <a:t>上面三块每块我都写了一条缺失的后果，这条比能力描述更有用：缺工程这条变成售前工程师，缺业务这条变成纯工程师，缺影响力这条天花板就是资深工程师。</a:t>
            </a:r>
          </a:p>
          <a:p>
            <a:endParaRPr lang="zh-CN"/>
          </a:p>
          <a:p>
            <a:r>
              <a:rPr lang="zh-CN" sz="1200" dirty="0"/>
              <a:t>最下面这个数字请各位有预期：三条边齐全的人极少。所以现实中更可行的做法是拆成两人小队，一个偏工程一个偏业务，共享同一个交付责任——这也正是 Delta 和 Echo 一对一配对的现实理由，不是因为组织设计好看，是因为一个人确实干不完。</a:t>
            </a:r>
          </a:p>
          <a:p>
            <a:endParaRPr lang="zh-CN"/>
          </a:p>
          <a:p>
            <a:r>
              <a:rPr lang="zh-CN" sz="1200" dirty="0"/>
              <a:t>中间右边这三问是我建议每季度问一遍自己的：上周我写了多少行进了生产环境的代码？我能不能用客户的话复述他要什么？上一次让不肯改的人改了主意是什么时候？</a:t>
            </a:r>
          </a:p>
          <a:p>
            <a:endParaRPr lang="zh-CN"/>
          </a:p>
          <a:p>
            <a:r>
              <a:rPr lang="zh-CN" sz="1200" dirty="0"/>
              <a:t>Echo 那条我在下面单独说一句：Echo 的工程边可以为零，他不需要写代码，但他必须懂到能判断 Delta 的方案对不对。这是 Echo 的底线。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这一页讲人才从哪来。我想先说一个结论：不要指望靠招人来解决 FDE，因为接受率百分之一。</a:t>
            </a:r>
          </a:p>
          <a:p>
            <a:endParaRPr lang="zh-CN"/>
          </a:p>
          <a:p>
            <a:r>
              <a:rPr lang="zh-CN" sz="1200" dirty="0"/>
              <a:t>上面三条路径我按成功率排了一下。最稳的是从行业里捞——前军官、医疗从业者、金融从业者，这类人懂行业但工程能力弱，必须配一个能带他的 Delta。这也是最难被替代的一类人。</a:t>
            </a:r>
          </a:p>
          <a:p>
            <a:endParaRPr lang="zh-CN"/>
          </a:p>
          <a:p>
            <a:r>
              <a:rPr lang="zh-CN" sz="1200" dirty="0"/>
              <a:t>第二条是从工程里放出去。资深平台工程师转过来，好处是懂平台，坏处是要重建行业观，而且要让他愿意承认自己不懂业务。</a:t>
            </a:r>
          </a:p>
          <a:p>
            <a:endParaRPr lang="zh-CN"/>
          </a:p>
          <a:p>
            <a:r>
              <a:rPr lang="zh-CN" sz="1200" dirty="0"/>
              <a:t>第三条是从咨询里转过来。这条上手最快，但常被误认为已经会了。最难补的是工程这一边。</a:t>
            </a:r>
          </a:p>
          <a:p>
            <a:endParaRPr lang="zh-CN"/>
          </a:p>
          <a:p>
            <a:r>
              <a:rPr lang="zh-CN" sz="1200" dirty="0"/>
              <a:t>中间深色这块是我最想讲的：不招全三角的人，就改工作设计。把它拆成两人小队，代价是队里必须有人愿意做翻译，通常就是 Echo。</a:t>
            </a:r>
          </a:p>
          <a:p>
            <a:endParaRPr lang="zh-CN"/>
          </a:p>
          <a:p>
            <a:r>
              <a:rPr lang="zh-CN" sz="1200" dirty="0"/>
              <a:t>右边这三道面试题我建议直接用。第三题是让步测试，否掉他的方案，看他是找证据还是执行——这一题最能区分 FDE 和普通工程师。</a:t>
            </a:r>
          </a:p>
          <a:p>
            <a:endParaRPr lang="zh-CN"/>
          </a:p>
          <a:p>
            <a:r>
              <a:rPr lang="zh-CN" sz="1200" dirty="0"/>
              <a:t>下面这个误判我特别提醒：技术面试通过不等于能做 FDE。技术只验证了三条边里的一条。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这一页讲反面画像，四种典型失败现场。这一页的用法是中期止损，不是结项复盘。</a:t>
            </a:r>
          </a:p>
          <a:p>
            <a:endParaRPr lang="zh-CN"/>
          </a:p>
          <a:p>
            <a:r>
              <a:rPr lang="zh-CN" sz="1200" dirty="0"/>
              <a:t>四种失败我按发生顺序讲。第一种，会议室里的 FDE——人在客户现场办公，但一周开三次视频会跟总部对齐，没有一次跟一线用户坐在一起。现场特征是所有输入都来自业务负责人一个人。止损动作很直接：这周内安排五场一线对话，不接受替代。</a:t>
            </a:r>
          </a:p>
          <a:p>
            <a:endParaRPr lang="zh-CN"/>
          </a:p>
          <a:p>
            <a:r>
              <a:rPr lang="zh-CN" sz="1200" dirty="0"/>
              <a:t>第二种，保守的 FDE。把客户现状当既定条件做优化，交付了一个更快的旧流程。现场特征是系统上线了，业务流程一张纸都没改。止损是立一个改变一件事的硬指标，只做一件也行。</a:t>
            </a:r>
          </a:p>
          <a:p>
            <a:endParaRPr lang="zh-CN"/>
          </a:p>
          <a:p>
            <a:r>
              <a:rPr lang="zh-CN" sz="1200" dirty="0"/>
              <a:t>第三种，不回流的经验。踩过的坑写在自己笔记本里，项目结束就带走。现场特征是交付物里找不到任何为什么这么做。止损是当场写成模板或平台需求。</a:t>
            </a:r>
          </a:p>
          <a:p>
            <a:endParaRPr lang="zh-CN"/>
          </a:p>
          <a:p>
            <a:r>
              <a:rPr lang="zh-CN" sz="1200" dirty="0"/>
              <a:t>第四种，交付即结束。上线那天办完验收就撤。现场特征是上线后两周活跃用户掉到个位数。止损是移交必须三层。</a:t>
            </a:r>
          </a:p>
          <a:p>
            <a:endParaRPr lang="zh-CN"/>
          </a:p>
          <a:p>
            <a:r>
              <a:rPr lang="zh-CN" sz="1200" dirty="0"/>
              <a:t>底下这句话是四种失败的共同点：都把交付完成当成了终点。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这一页把二十年那条线拉完，看它对今天的咨询公司意味着什么。</a:t>
            </a:r>
          </a:p>
          <a:p>
            <a:endParaRPr lang="zh-CN"/>
          </a:p>
          <a:p>
            <a:r>
              <a:rPr lang="zh-CN" sz="1200" dirty="0"/>
              <a:t>上面四个阶段我快速过一遍。2005 年是项目制，产品是项目的一部分，不是项目的目标。2010 年代开始平台化，一个客户定制变成平台的一次实例化。2016 年组织第一次正面碰撞，极致贴近客户和平台化沉淀之间的矛盾，最后达成动态平衡。2023 年之后是经验软件化，FDE 的角色从铺路转向找新路。</a:t>
            </a:r>
          </a:p>
          <a:p>
            <a:endParaRPr lang="zh-CN"/>
          </a:p>
          <a:p>
            <a:r>
              <a:rPr lang="zh-CN" sz="1200" dirty="0"/>
              <a:t>中间这块是我今天真正的结论：贴近客户和沉淀平台不矛盾，但需要一个明确的抽象动作。多数咨询公司卡住的地方不是不愿意贴现场，是没做过抽象这一步。</a:t>
            </a:r>
          </a:p>
          <a:p>
            <a:endParaRPr lang="zh-CN"/>
          </a:p>
          <a:p>
            <a:r>
              <a:rPr lang="zh-CN" sz="1200" dirty="0"/>
              <a:t>所以右边三件事可以直接借用：把交付即上线写进合同和考核，设一个抽象回流的硬性交付物，按 Echo 和 Delta 配对组队而不是按专业分组。这三件事都不花钱，只改工作方式。</a:t>
            </a:r>
          </a:p>
          <a:p>
            <a:endParaRPr lang="zh-CN"/>
          </a:p>
          <a:p>
            <a:r>
              <a:rPr lang="zh-CN" sz="1200" dirty="0"/>
              <a:t>下面要提醒一句别照抄的部分：保密资质和二十年行业积累复制不了，可复制的是交付结构和方法。</a:t>
            </a:r>
          </a:p>
          <a:p>
            <a:endParaRPr lang="zh-CN"/>
          </a:p>
          <a:p>
            <a:r>
              <a:rPr lang="zh-CN" sz="1200" dirty="0"/>
              <a:t>第一部分到这里。下一部分讲现场三动作，这是这一册里最实操的一段。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第二部分，现场三动作。</a:t>
            </a:r>
          </a:p>
          <a:p>
            <a:endParaRPr lang="zh-CN"/>
          </a:p>
          <a:p>
            <a:r>
              <a:rPr lang="zh-CN" sz="1200" dirty="0"/>
              <a:t>第一部分讲的是 FDE 是什么、谁来做。这一部分讲的是到了现场之后具体怎么干活，一共十页。</a:t>
            </a:r>
          </a:p>
          <a:p>
            <a:endParaRPr lang="zh-CN"/>
          </a:p>
          <a:p>
            <a:r>
              <a:rPr lang="zh-CN" sz="1200" dirty="0"/>
              <a:t>三个动作：进场、挖真相、跑生产。顺序不可颠倒，跳过中间那一步是最致命的失误。</a:t>
            </a:r>
          </a:p>
          <a:p>
            <a:endParaRPr lang="zh-CN"/>
          </a:p>
          <a:p>
            <a:r>
              <a:rPr lang="zh-CN" sz="1200" dirty="0"/>
              <a:t>接下来十页我按这个顺序讲：进场第一天做什么，挖真相具体怎么挖，交付即上线是什么意思，AIP 时代那条硬顺序为什么不能颠倒，然后是现场作战手册、交付验收标准、抽象回流的具体做法，以及规模化瓶颈这件事到底卡在哪。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这一页讲三个动作的总体结构。</a:t>
            </a:r>
          </a:p>
          <a:p>
            <a:endParaRPr lang="zh-CN"/>
          </a:p>
          <a:p>
            <a:r>
              <a:rPr lang="zh-CN" sz="1200" dirty="0"/>
              <a:t>三个动作我各写了一句话和一条产出物。Enter 产出的是现场问题清单和数据环境画像。Investigate 产出的是决策链路图和痛点优先级矩阵。Execute 产出的是可运行的生产环境和平台抽象提案。</a:t>
            </a:r>
          </a:p>
          <a:p>
            <a:endParaRPr lang="zh-CN"/>
          </a:p>
          <a:p>
            <a:r>
              <a:rPr lang="zh-CN" sz="1200" dirty="0"/>
              <a:t>三张卡下面我都写了最常见的偷懒方式，这三条是现场最常见的死法。第一个是不带 Echo 去，只派一个工程师。第二个是只听业务负责人一个人的话。第三个是演示跑通了就算上线。</a:t>
            </a:r>
          </a:p>
          <a:p>
            <a:endParaRPr lang="zh-CN"/>
          </a:p>
          <a:p>
            <a:r>
              <a:rPr lang="zh-CN" sz="1200" dirty="0"/>
              <a:t>中间深色这块我想重点讲：为什么不能跳过 Investigate。本体的粒度只能在真实数据上试出来。你没法在会议室里决定设备这个对象该怎么切分——只有连着实时数据看，才知道设备和测点到底是不是一回事。</a:t>
            </a:r>
          </a:p>
          <a:p>
            <a:endParaRPr lang="zh-CN"/>
          </a:p>
          <a:p>
            <a:r>
              <a:rPr lang="zh-CN" sz="1200" dirty="0"/>
              <a:t>右边这四个前置条件是我建议当检查点用的。任何一条不满足就不该进 Execute。</a:t>
            </a:r>
          </a:p>
          <a:p>
            <a:endParaRPr lang="zh-CN"/>
          </a:p>
          <a:p>
            <a:r>
              <a:rPr lang="zh-CN" sz="1200" dirty="0"/>
              <a:t>底下这个时间分配比例是官方口径，请各位记住：百分之三十到四十的时间用来挖真相，剩下才是建。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 Enter，进场第一天做什么。</a:t>
            </a:r>
          </a:p>
          <a:p>
            <a:endParaRPr lang="zh-CN"/>
          </a:p>
          <a:p>
            <a:r>
              <a:rPr lang="zh-CN" sz="1200" dirty="0"/>
              <a:t>很多人以为进场第一天是装环境、拉代码。不是。第一天做的事只有一件：拿到人。</a:t>
            </a:r>
          </a:p>
          <a:p>
            <a:endParaRPr lang="zh-CN"/>
          </a:p>
          <a:p>
            <a:r>
              <a:rPr lang="zh-CN" sz="1200" dirty="0"/>
              <a:t>上面这三块我按顺序讲。第一块，配对组建。Echo 和 Delta 一起进，而且第一天就要把分工契约写下来——谁去开客户会议，谁去碰数据。这个不写清楚，两个人会互相等。</a:t>
            </a:r>
          </a:p>
          <a:p>
            <a:endParaRPr lang="zh-CN"/>
          </a:p>
          <a:p>
            <a:r>
              <a:rPr lang="zh-CN" sz="1200" dirty="0"/>
              <a:t>第二块，现场准入。这一块全是行政和合规，看起来不技术，但它决定你第一天能不能碰到数据。很多项目死在这里，签了保密协议等三周。</a:t>
            </a:r>
          </a:p>
          <a:p>
            <a:endParaRPr lang="zh-CN"/>
          </a:p>
          <a:p>
            <a:r>
              <a:rPr lang="zh-CN" sz="1200" dirty="0"/>
              <a:t>第三块，摸底。这一块有具体的动作顺序，我下面展开。</a:t>
            </a:r>
          </a:p>
          <a:p>
            <a:endParaRPr lang="zh-CN"/>
          </a:p>
          <a:p>
            <a:r>
              <a:rPr lang="zh-CN" sz="1200" dirty="0"/>
              <a:t>右边这块我想提醒：摸底不是调研。调研问的是业务想要什么，摸底问的是有什么、缺什么、能动什么。这两个问题混了，后面建模一定跑偏。</a:t>
            </a:r>
          </a:p>
          <a:p>
            <a:endParaRPr lang="zh-CN"/>
          </a:p>
          <a:p>
            <a:r>
              <a:rPr lang="zh-CN" sz="1200" dirty="0"/>
              <a:t>下面这份摸底清单我建议直接用，六项。前三项是技术侧，后三项是业务侧。其中第五项最容易被忽略——谁能拍板。这一项不清楚，你后面所有的验收标准都是空的。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 Investigate，挖真相。</a:t>
            </a:r>
          </a:p>
          <a:p>
            <a:endParaRPr lang="zh-CN"/>
          </a:p>
          <a:p>
            <a:r>
              <a:rPr lang="zh-CN" sz="1200" dirty="0"/>
              <a:t>先把官方的数字摆出来：百分之三十到四十的时间，每周五到十五场对话。这不是理想状态，是硬指标。</a:t>
            </a:r>
          </a:p>
          <a:p>
            <a:endParaRPr lang="zh-CN"/>
          </a:p>
          <a:p>
            <a:r>
              <a:rPr lang="zh-CN" sz="1200" dirty="0"/>
              <a:t>上面这三个层次请各位对照：业务层问业务痛什么，数据层问数为什么对不上，系统层问现有实现怎么绕。这三层要分开问，混在一起问会得到混在一起的答案。</a:t>
            </a:r>
          </a:p>
          <a:p>
            <a:endParaRPr lang="zh-CN"/>
          </a:p>
          <a:p>
            <a:r>
              <a:rPr lang="zh-CN" sz="1200" dirty="0"/>
              <a:t>中间这块决策链是我认为最关键的工具。很多客户说不出自己怎么决策的，因为从来没被要求说明过。现场就要做这件事，谁、在什么会上、用什么数据、做什么决定。</a:t>
            </a:r>
          </a:p>
          <a:p>
            <a:endParaRPr lang="zh-CN"/>
          </a:p>
          <a:p>
            <a:r>
              <a:rPr lang="zh-CN" sz="1200" dirty="0"/>
              <a:t>右边这块我列了对话的四条追问，都是现场问过之后发现有效的。第一条最有用——上次这个决定是怎么做出来的。这一句能问出整个决策链。</a:t>
            </a:r>
          </a:p>
          <a:p>
            <a:endParaRPr lang="zh-CN"/>
          </a:p>
          <a:p>
            <a:r>
              <a:rPr lang="zh-CN" sz="1200" dirty="0"/>
              <a:t>底下这块我想提醒的是数量背后的质量要求。这周的五场对话，来自五个不同的人，还是同一个人说了五遍，这是完全不同的两件事。我请各位把这条当止损信号用。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交付即上线，这四个字我要拆开讲，因为国内大部分交付停在准生产那一档。</a:t>
            </a:r>
          </a:p>
          <a:p>
            <a:endParaRPr lang="zh-CN"/>
          </a:p>
          <a:p>
            <a:r>
              <a:rPr lang="zh-CN" sz="1200" dirty="0"/>
              <a:t>看这条从左到右的四级阶梯，每一级的差别只在两件事：跑的是不是客户真数据，在不在客户环境。沙盒演示是样例数据加自己的机器；PoC 换成客户脱敏数据但还是隔离环境；准生产上了真实数据和客户环境，但只到预发；只有最后一档是接客户真实写路径。</a:t>
            </a:r>
          </a:p>
          <a:p>
            <a:endParaRPr lang="zh-CN"/>
          </a:p>
          <a:p>
            <a:r>
              <a:rPr lang="zh-CN" sz="1200" dirty="0"/>
              <a:t>很多项目做到第三档就很满意了——准确率漂亮、性能达标、汇报好看。但业务不认账，因为业务要的不是准生产，是一个真的能替代他现有动作的东西。</a:t>
            </a:r>
          </a:p>
          <a:p>
            <a:endParaRPr lang="zh-CN"/>
          </a:p>
          <a:p>
            <a:r>
              <a:rPr lang="zh-CN" sz="1200" dirty="0"/>
              <a:t>Execute 阶段的四条纪律请各位注意，第一条最容易违反：在客户环境写代码，不是回总部写完再部署。这一条违反，后面三条守不住。</a:t>
            </a:r>
          </a:p>
          <a:p>
            <a:endParaRPr lang="zh-CN"/>
          </a:p>
          <a:p>
            <a:r>
              <a:rPr lang="zh-CN" sz="1200" dirty="0"/>
              <a:t>右边三条判定是硬标准。有人在用、写路径通了、出事有人管，三条全满足才算上线。最下面这一栏是三种角色失败代价的对比——我想请各位感受一下这个差别：延期、需求做错，都是可以补救的；业务停摆，是当场就要有人负责的。</a:t>
            </a:r>
          </a:p>
          <a:p>
            <a:endParaRPr lang="zh-CN"/>
          </a:p>
          <a:p>
            <a:r>
              <a:rPr lang="zh-CN" sz="1200" dirty="0"/>
              <a:t>这一页其实回答了一个很现实的问题：为什么 FDE 的报价敢比传统实施贵数倍。因为承担的风险等级不一样。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 AIP 时代唯一的强约束，我给它单独一页。</a:t>
            </a:r>
          </a:p>
          <a:p>
            <a:endParaRPr lang="zh-CN"/>
          </a:p>
          <a:p>
            <a:r>
              <a:rPr lang="zh-CN" sz="1200" dirty="0"/>
              <a:t>左右两栏是同一个项目的两条路。左栏是很多人默认的顺序：先接一个大模型做问答，再接几张报表，然后上线，然后发现它不知道设备是什么，于是加规则、加提示词、加知识条目，半年后维护成本超过开发成本。</a:t>
            </a:r>
          </a:p>
          <a:p>
            <a:endParaRPr lang="zh-CN"/>
          </a:p>
          <a:p>
            <a:r>
              <a:rPr lang="zh-CN" sz="1200" dirty="0"/>
              <a:t>右栏是正确顺序：先把对象、链接、动作、密级在真实数据上建出来，让它们成为唯一事实来源，再在之上接 AI。AI 只做推理和表达，不承担定义职责。</a:t>
            </a:r>
          </a:p>
          <a:p>
            <a:endParaRPr lang="zh-CN"/>
          </a:p>
          <a:p>
            <a:r>
              <a:rPr lang="zh-CN" sz="1200" dirty="0"/>
              <a:t>中间深色这块讲的是为什么不能颠倒，本体的三个不可替代职责我列了命名、基数、密级。名字不统一，同一件事三个人叫三个名字；基数不定，链接就是错的；密级不在本体层管，就到处都是漏洞。</a:t>
            </a:r>
          </a:p>
          <a:p>
            <a:endParaRPr lang="zh-CN"/>
          </a:p>
          <a:p>
            <a:r>
              <a:rPr lang="zh-CN" sz="1200" dirty="0"/>
              <a:t>最关键的一句在下面：颠倒顺序做出来的东西，误差无法归因。你分不清是模型不行，还是事实定义本身就有歧义。归因不了就没法优化，没法优化就永远是演示好看、上线失败。</a:t>
            </a:r>
          </a:p>
          <a:p>
            <a:endParaRPr lang="zh-CN"/>
          </a:p>
          <a:p>
            <a:r>
              <a:rPr lang="zh-CN" sz="1200" dirty="0"/>
              <a:t>客户一定会问什么时候上机器人。答案是第二周，先跑第一条链路。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现场五日作战手册，这一页是可以直接照着排日历的。</a:t>
            </a:r>
          </a:p>
          <a:p>
            <a:endParaRPr lang="zh-CN"/>
          </a:p>
          <a:p>
            <a:r>
              <a:rPr lang="zh-CN" sz="1200" dirty="0"/>
              <a:t>先讲这个五天是怎么来的。官方 Bootcamp 的硬要求是第三天交出可运行的智能应用——不是演示，是能跑的那种。三到六个月的传统交付压到大约五天，靠的不是加班，是砍掉了等审批的时间。</a:t>
            </a:r>
          </a:p>
          <a:p>
            <a:endParaRPr lang="zh-CN"/>
          </a:p>
          <a:p>
            <a:r>
              <a:rPr lang="zh-CN" sz="1200" dirty="0"/>
              <a:t>我把这五天拆成了几个动作。第一天找准问题，见的是签字的那个人，看的是真实脏数据，出的是现像报告。第二天建对象，定主键、定链接、标密级，出本体骨架。第三天跑通链路，接一条真数据、写回一个动作、出第一版结论——这是硬要求，也是很多人第一天就开始拖的地方。第四天贴到人，让作业员实际上手用一遍，收集反对意见，改口径。第五天固化，补监控告警、写运维手册、定知识转移。</a:t>
            </a:r>
          </a:p>
          <a:p>
            <a:endParaRPr lang="zh-CN"/>
          </a:p>
          <a:p>
            <a:r>
              <a:rPr lang="zh-CN" sz="1200" dirty="0"/>
              <a:t>中间左边这块我想说明白：为什么五天能跑完三个月的活。三个条件——不等审批，当天方案当天拍板；不追求完整，只做一个场景的一条链路，其余全砍；不换环境，第一天就连生产。</a:t>
            </a:r>
          </a:p>
          <a:p>
            <a:endParaRPr lang="zh-CN"/>
          </a:p>
          <a:p>
            <a:r>
              <a:rPr lang="zh-CN" sz="1200" dirty="0"/>
              <a:t>右边这三条是最容易被跳过、也最致命的：被先做原型哄住只见执行层、用清洗过的样例数据跑通第三天、没让作业员实际点开导致上线即闲置。</a:t>
            </a:r>
          </a:p>
          <a:p>
            <a:endParaRPr lang="zh-CN"/>
          </a:p>
          <a:p>
            <a:r>
              <a:rPr lang="zh-CN" sz="1200" dirty="0"/>
              <a:t>下面是 Bootcamp 之后的节奏，请注意第五天不等于结束。第五到十四天是问题暴露期，才是真正检验的时候。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交付验收这一页，我建议直接做成现场工作台的默认清单。</a:t>
            </a:r>
          </a:p>
          <a:p>
            <a:endParaRPr lang="zh-CN"/>
          </a:p>
          <a:p>
            <a:r>
              <a:rPr lang="zh-CN" sz="1200" dirty="0"/>
              <a:t>上面四组是十二项检查，我按环境真实、业务在用、口径签字、责任落地来分。任何一项不满足，就是没上线，不接受基本完成这一档。</a:t>
            </a:r>
          </a:p>
          <a:p>
            <a:endParaRPr lang="zh-CN"/>
          </a:p>
          <a:p>
            <a:r>
              <a:rPr lang="zh-CN" sz="1200" dirty="0"/>
              <a:t>最容易被跳过、代价最大的三项我单独说说。历史不可追溯——出事查不到原因，前面的努力全归零。作业员没实际登录过——没登录就上线，等于交付给空气。运维手册没交接——FDE 一撤，客户就没人会维护。</a:t>
            </a:r>
          </a:p>
          <a:p>
            <a:endParaRPr lang="zh-CN"/>
          </a:p>
          <a:p>
            <a:r>
              <a:rPr lang="zh-CN" sz="1200" dirty="0"/>
              <a:t>中间深色这块是 FDE 离场时必须留下的六件：活的系统、本体定义、口径裁定、运维手册、回流提案、培训记录。少一件就视为未交付。这六件和那十二项的区别是：十二项是检查，这六件是产物。</a:t>
            </a:r>
          </a:p>
          <a:p>
            <a:endParaRPr lang="zh-CN"/>
          </a:p>
          <a:p>
            <a:r>
              <a:rPr lang="zh-CN" sz="1200" dirty="0"/>
              <a:t>右边这三条是看起来交付了的假象，我念一下各位对照：演示通过——给客户看的版本和生产跑的版本不是同一个；文档齐全——蓝图画得极漂亮，但没有一条连到生产数据；验收签字——签字的人没打开过系统，是被安排来签的。</a:t>
            </a:r>
          </a:p>
          <a:p>
            <a:endParaRPr lang="zh-CN"/>
          </a:p>
          <a:p>
            <a:r>
              <a:rPr lang="zh-CN" sz="1200" dirty="0"/>
              <a:t>最下面这三句问法是我推荐的验收提问方式，不问做完了吗，只问这三句。要名字、要次数、要人名。答不出来就是没过。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抽象回流这一页，是决定这套模式能不能长期存在的关键。</a:t>
            </a:r>
          </a:p>
          <a:p>
            <a:endParaRPr lang="zh-CN"/>
          </a:p>
          <a:p>
            <a:r>
              <a:rPr lang="zh-CN" sz="1200" dirty="0"/>
              <a:t>先讲碎石路机制的三段。第一段现场铺路，Delta 在客户现场写代码，只为这一个客户解决问题，不考虑通用性。第二段总部找抽象，同一批人从各个现场带回经验，Dev 找哪些能变成一项能力。第三段铺成高速公路，进平台，推广到五到十个客户，第二次做同类场景成本降到十分之一。</a:t>
            </a:r>
          </a:p>
          <a:p>
            <a:endParaRPr lang="zh-CN"/>
          </a:p>
          <a:p>
            <a:r>
              <a:rPr lang="zh-CN" sz="1200" dirty="0"/>
              <a:t>中间这条判据我请各位记住：把客户名换成另一个客户，还成立吗？成立就是能力，不成立就是定制。这条判据要当场判，不能回去慢慢想。</a:t>
            </a:r>
          </a:p>
          <a:p>
            <a:endParaRPr lang="zh-CN"/>
          </a:p>
          <a:p>
            <a:r>
              <a:rPr lang="zh-CN" sz="1200" dirty="0"/>
              <a:t>右边要提醒一句反的：不要求全部抽象。抽象错了比不抽象更贵，因为会把一个客户的特殊需求塞进所有客户。</a:t>
            </a:r>
          </a:p>
          <a:p>
            <a:endParaRPr lang="zh-CN"/>
          </a:p>
          <a:p>
            <a:r>
              <a:rPr lang="zh-CN" sz="1200" dirty="0"/>
              <a:t>所以底下这四档分法我建议现场就用。A 档全通用，客户名一换就成立；B 档可配置，骨架通用参数不同；C 档半定制，要改流程和密级；D 档纯定制，只服务这一个客户。D 档要写进不值得抽象清单，避免下次重复讨论。</a:t>
            </a:r>
          </a:p>
          <a:p>
            <a:endParaRPr lang="zh-CN"/>
          </a:p>
          <a:p>
            <a:r>
              <a:rPr lang="zh-CN" sz="1200" dirty="0"/>
              <a:t>这一页其实是上一页失败现场三的正面对照。上一页讲经验不回流会造成什么，这一页讲怎么不回流。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规模化瓶颈这一页，我放一个大家一定会问的问题：FDE 会不会被铺量压垮。</a:t>
            </a:r>
          </a:p>
          <a:p>
            <a:endParaRPr lang="zh-CN"/>
          </a:p>
          <a:p>
            <a:r>
              <a:rPr lang="zh-CN" sz="1200" dirty="0"/>
              <a:t>三个瓶颈我按现实程度排。第一，人力线性增长——每个客户都要两到四名 FDE 常驻，客户数翻倍人力就翻倍。第二，知识不沉淀——人走了经验带走，下一个客户从零开始，这表面看是人才流失，实质是知识没有资产化。第三，客户方接不住——系统跑在客户环境但运维靠 FDE，FDE 一撤系统就停，这是客户最不敢接受的形态。</a:t>
            </a:r>
          </a:p>
          <a:p>
            <a:endParaRPr lang="zh-CN"/>
          </a:p>
          <a:p>
            <a:r>
              <a:rPr lang="zh-CN" sz="1200" dirty="0"/>
              <a:t>但我想说的是：官方从来不指望靠堆人规模化。每两百到五百万美元企业管道配一名 FDE，按商机算，不按人头算。二零一六年 FDE 数量超过传统软件工程师，这说明这类岗位的产出密度高于按项目交付。</a:t>
            </a:r>
          </a:p>
          <a:p>
            <a:endParaRPr lang="zh-CN"/>
          </a:p>
          <a:p>
            <a:r>
              <a:rPr lang="zh-CN" sz="1200" dirty="0"/>
              <a:t>规模化的分母不是人数，是每个客户复用了多少上一次的东西。这句话是这一部分的核心。</a:t>
            </a:r>
          </a:p>
          <a:p>
            <a:endParaRPr lang="zh-CN"/>
          </a:p>
          <a:p>
            <a:r>
              <a:rPr lang="zh-CN" sz="1200" dirty="0"/>
              <a:t>右边三条降本路径：模板化、参数化、交接化。底下这个时间杠杆的官方口径——三到六个月压到五天，靠的不是加班，是砍掉等待与审批。</a:t>
            </a:r>
          </a:p>
          <a:p>
            <a:endParaRPr lang="zh-CN"/>
          </a:p>
          <a:p>
            <a:r>
              <a:rPr lang="zh-CN" sz="1200" dirty="0"/>
              <a:t>最后这三条判断标准要看你第二个客户，不看你第一个。复用比、周期比、人力比。如果第二个客户和第一个一样贵，那就没有复制性，只有一家一家的定制。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第三部分，场景实战。</a:t>
            </a:r>
          </a:p>
          <a:p>
            <a:endParaRPr lang="zh-CN"/>
          </a:p>
          <a:p>
            <a:r>
              <a:rPr lang="zh-CN" sz="1200" dirty="0"/>
              <a:t>前两部分讲的是角色和流程，这一部分讲的是真实现场。</a:t>
            </a:r>
          </a:p>
          <a:p>
            <a:endParaRPr lang="zh-CN"/>
          </a:p>
          <a:p>
            <a:r>
              <a:rPr lang="zh-CN" sz="1200" dirty="0"/>
              <a:t>一共十四页，分四段：Bootcamp 五天和单场景两周两个节奏模板；制造质检、能源电站检修、招标书生成三个来自我们自己的真实现场；然后是三类失败复盘——技术正确但运营无关、把咨询产出物当产品、经验不回流；最后是现场五问、八类高危动作、十二项检查、Delta 与 Echo 的分工契约、以及运营移交的判定标准。</a:t>
            </a:r>
          </a:p>
          <a:p>
            <a:endParaRPr lang="zh-CN"/>
          </a:p>
          <a:p>
            <a:r>
              <a:rPr lang="zh-CN" sz="1200" dirty="0"/>
              <a:t>这一部分我想强调一点：前面讲的都是应该怎么做，这一部分讲的是做错了长什么样。失败现场那三页是我建议各位在中途拿出来对照的，不要等结项。</a:t>
            </a:r>
          </a:p>
          <a:p>
            <a:endParaRPr lang="zh-CN"/>
          </a:p>
          <a:p>
            <a:r>
              <a:rPr lang="zh-CN" sz="1200" dirty="0"/>
              <a:t>我先讲两个节奏模板。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Bootcamp 五天和上一页的五日作战手册是一回事，这一页我把它当成一种机制来讲——它不是培训营，是一次真实的现场交付。</a:t>
            </a:r>
          </a:p>
          <a:p>
            <a:endParaRPr lang="zh-CN"/>
          </a:p>
          <a:p>
            <a:r>
              <a:rPr lang="zh-CN" sz="1200" dirty="0"/>
              <a:t>第五天没有结业式，只有移交清单。这句话我想请各位体会一下：一个岗位的培养方式，是把它藏进一次真实的交付里。</a:t>
            </a:r>
          </a:p>
          <a:p>
            <a:endParaRPr lang="zh-CN"/>
          </a:p>
          <a:p>
            <a:r>
              <a:rPr lang="zh-CN" sz="1200" dirty="0"/>
              <a:t>三条不可协商的硬约束：不脱产，全程在客户现场；不放过，当天方案当天拍板；不做全，只做一个场景一条链路。这三条每一条都是在跟人性对抗——人在现场的第一反应是等一个明确的指令，而 FDE 必须自己拍。</a:t>
            </a:r>
          </a:p>
          <a:p>
            <a:endParaRPr lang="zh-CN"/>
          </a:p>
          <a:p>
            <a:r>
              <a:rPr lang="zh-CN" sz="1200" dirty="0"/>
              <a:t>右边三种被淘汰的表现我想说得重一点。手不碰生产——只让客户演示，FDE 自己没写一行现场代码。嘴不挖真相——没跟作业员聊过，只听管理层汇报。心不回流——交付完就走，没想过哪部分能变平台能力。这三种人当场就淘汰，不给第二次机会。</a:t>
            </a:r>
          </a:p>
          <a:p>
            <a:endParaRPr lang="zh-CN"/>
          </a:p>
          <a:p>
            <a:r>
              <a:rPr lang="zh-CN" sz="1200" dirty="0"/>
              <a:t>底下这一栏是我最想说的一句话：判断标准只有一条，客户有没有在用。课堂作业看分数，方案评审看逻辑，Bootcamp 看客户有没有天天登录。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单场景两周，这是 Bootcamp 之后的真实节奏。</a:t>
            </a:r>
          </a:p>
          <a:p>
            <a:endParaRPr lang="zh-CN"/>
          </a:p>
          <a:p>
            <a:r>
              <a:rPr lang="zh-CN" sz="1200" dirty="0"/>
              <a:t>排期我按周分四段。前半周现像期，决策链还原、痛点量化、场景定选，出的是现像报告和场景定义书。后半周建模期，核心对象与链接、主键与基数、密级与权限，出本体骨架和密级矩阵。第二周前半建设期，管道接通、切片工艺、Agent 装配，出可运行场景。后半周上线期，业务试用、口径裁定、十二项验收，出验收签字和移交清单。</a:t>
            </a:r>
          </a:p>
          <a:p>
            <a:endParaRPr lang="zh-CN"/>
          </a:p>
          <a:p>
            <a:r>
              <a:rPr lang="zh-CN" sz="1200" dirty="0"/>
              <a:t>为什么是两周？因为场景要同时满足两条——小到两周能上线，大到业务天天用。太大做不完，太小上线即闲置。</a:t>
            </a:r>
          </a:p>
          <a:p>
            <a:endParaRPr lang="zh-CN"/>
          </a:p>
          <a:p>
            <a:r>
              <a:rPr lang="zh-CN" sz="1200" dirty="0"/>
              <a:t>中间那条判断法我请各位记住：问这个场景今天不做，会有人难受吗？没人难受的场景，不值得两周。</a:t>
            </a:r>
          </a:p>
          <a:p>
            <a:endParaRPr lang="zh-CN"/>
          </a:p>
          <a:p>
            <a:r>
              <a:rPr lang="zh-CN" sz="1200" dirty="0"/>
              <a:t>右边三次签字是三个检查点。第一周前签场景与口径，不签这单就停在这里；第一周后签对象与密级，错一次后面全错；第二周后签验收与移交，决定 FDE 能不能退出。</a:t>
            </a:r>
          </a:p>
          <a:p>
            <a:endParaRPr lang="zh-CN"/>
          </a:p>
          <a:p>
            <a:r>
              <a:rPr lang="zh-CN" sz="1200" dirty="0"/>
              <a:t>底下这四个拖期原因我想请各位特别留意，因为都不是技术问题：审批排队、口径反复、数据没到位、陪同人离职。前三个是客户侧问题，第四个是现场管理问题——陪同人换人就意味着前面的上下文全部作废。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第一个真实现场，制造质检。这是我们做对的一个样本，我拿它当正向参照。</a:t>
            </a:r>
          </a:p>
          <a:p>
            <a:endParaRPr lang="zh-CN"/>
          </a:p>
          <a:p>
            <a:r>
              <a:rPr lang="zh-CN" sz="1200" dirty="0"/>
              <a:t>上面四个对象是我当时切出来的：批次、设备、测点、缺陷。批次是最小追溯单元，主键是批次号加工序号；设备是台账，含型号、能力范围、校准有效期；测点是可测量位置，含量程、精度、检定周期；缺陷是检验判定的结果。这里有个最容易犯的错——把设备和测点合成一个对象，检修工单挂不上去，因为一个设备上有十几个测点。</a:t>
            </a:r>
          </a:p>
          <a:p>
            <a:endParaRPr lang="zh-CN"/>
          </a:p>
          <a:p>
            <a:r>
              <a:rPr lang="zh-CN" sz="1200" dirty="0"/>
              <a:t>中间左右对照是我今天最想让大家看到的。左边先建本体，第二周就上线缺陷归因，当天质检组长开始用。第三周补缺陷码统一，追溯链完整。右边先上 AI：第一个月做出缺陷识别 Demo，效果不错；第二个月业务发现缺陷码有七套含义，AI 判断全错；第三个月回头做对象和码表，AI 全部重调。</a:t>
            </a:r>
          </a:p>
          <a:p>
            <a:endParaRPr lang="zh-CN"/>
          </a:p>
          <a:p>
            <a:r>
              <a:rPr lang="zh-CN" sz="1200" dirty="0"/>
              <a:t>同样的模型，同样的团队，差三个月。差别只在顺序。</a:t>
            </a:r>
          </a:p>
          <a:p>
            <a:endParaRPr lang="zh-CN"/>
          </a:p>
          <a:p>
            <a:r>
              <a:rPr lang="zh-CN" sz="1200" dirty="0"/>
              <a:t>底下这四个动作是传统顾问不会做的——他们不会驻线一周、不会现场裁定码表、不会直接写管道、不会当场写回。这四件事是 FDE 的定义性动作。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第二个真实现场，能源电站检修。这个场景比制造质检难，难在两件事：对象互相纠缠，密级会继承。</a:t>
            </a:r>
          </a:p>
          <a:p>
            <a:endParaRPr lang="zh-CN"/>
          </a:p>
          <a:p>
            <a:r>
              <a:rPr lang="zh-CN" sz="1200" dirty="0"/>
              <a:t>上面三个切分决策我请各位对照着看。为什么设备不等于测点——一个设备十几个测点，一个测点只对应一个通道，混成一个对象工单挂不上去。为什么缺陷不等于事件——事件是一次发生，缺陷是持续状态，不分开历史追溯链就断了。为什么工单要独立——工单是动作对象不是设备属性，挂在设备上状态没法流转。</a:t>
            </a:r>
          </a:p>
          <a:p>
            <a:endParaRPr lang="zh-CN"/>
          </a:p>
          <a:p>
            <a:r>
              <a:rPr lang="zh-CN" sz="1200" dirty="0"/>
              <a:t>中间深色这块是密级继承，这是电站场景最容易漏的一条。对象可以建，但链接未必都能看。电厂检修记录挂在设备下，设备密级是机密，那么这个设备下所有测点历史、工单、缺陷记录都自动继承机密。</a:t>
            </a:r>
          </a:p>
          <a:p>
            <a:endParaRPr lang="zh-CN"/>
          </a:p>
          <a:p>
            <a:r>
              <a:rPr lang="zh-CN" sz="1200" dirty="0"/>
              <a:t>不设继承的后果我要强调一下：本体建好了，一查就泄露。所以这条规则必须在现场写进本体，不能留给客户后续补。</a:t>
            </a:r>
          </a:p>
          <a:p>
            <a:endParaRPr lang="zh-CN"/>
          </a:p>
          <a:p>
            <a:r>
              <a:rPr lang="zh-CN" sz="1200" dirty="0"/>
              <a:t>右边三条硬约束是这个场景的特殊性，也是 FDE 必须现场的原因：不能停产、不能等审批、不能靠网络。厂区网闸隔离，连离线优先这条都得现场权衡。</a:t>
            </a:r>
          </a:p>
          <a:p>
            <a:endParaRPr lang="zh-CN"/>
          </a:p>
          <a:p>
            <a:r>
              <a:rPr lang="zh-CN" sz="1200" dirty="0"/>
              <a:t>底下那四步我强调一句：跟班这一项必须在机舱里完成，不能在会议室里讨论。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第三个现场是招标书生成，这个场景的难点不在技术，在客户耐心。</a:t>
            </a:r>
          </a:p>
          <a:p>
            <a:endParaRPr lang="zh-CN"/>
          </a:p>
          <a:p>
            <a:r>
              <a:rPr lang="zh-CN" sz="1200" dirty="0"/>
              <a:t>五段流水线我快速过：拆解、匹配、生成、预览、固化。这个场景有意思的地方是第三和第四段——按章节增量输出，右侧就地预览不下载。这两条不是为了体验，是为了评审。</a:t>
            </a:r>
          </a:p>
          <a:p>
            <a:endParaRPr lang="zh-CN"/>
          </a:p>
          <a:p>
            <a:r>
              <a:rPr lang="zh-CN" sz="1200" dirty="0"/>
              <a:t>中间深色这块是我今天最想讲的。这个场景验证了一条铁律：客户不是在等结果，是在等敢不敢签字。</a:t>
            </a:r>
          </a:p>
          <a:p>
            <a:endParaRPr lang="zh-CN"/>
          </a:p>
          <a:p>
            <a:r>
              <a:rPr lang="zh-CN" sz="1200" dirty="0"/>
              <a:t>你看原来的做法——整份文档生成完再给客户，第三天客户拿到一份成品，发现有三分之一不满意，全部推翻重做。改成交付方式之后，客户在第一小时就介入，边看边提意见边改，最后是客户自己认可的一份东西。</a:t>
            </a:r>
          </a:p>
          <a:p>
            <a:endParaRPr lang="zh-CN"/>
          </a:p>
          <a:p>
            <a:r>
              <a:rPr lang="zh-CN" sz="1200" dirty="0"/>
              <a:t>所以正确的打开方式，我请各位记住这句话：让客户尽早犯错，而不是让客户尽早惊喜。惊喜之后是失望，早期介入之后是认账。</a:t>
            </a:r>
          </a:p>
          <a:p>
            <a:endParaRPr lang="zh-CN"/>
          </a:p>
          <a:p>
            <a:r>
              <a:rPr lang="zh-CN" sz="1200" dirty="0"/>
              <a:t>底下这块我说明一下本体在这个场景里的价值，它不是炫技，是省钱。条款、素材、资质、章节这四个对象建好之后可以复用到下一本标书，如果不建，每次都从零开始。这就是回流的实际含义。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失败现场第一类：技术正确，运营无关。这是 Delta 单独干时的默认结局。</a:t>
            </a:r>
          </a:p>
          <a:p>
            <a:endParaRPr lang="zh-CN"/>
          </a:p>
          <a:p>
            <a:r>
              <a:rPr lang="zh-CN" sz="1200" dirty="0"/>
              <a:t>上面三个症状我念一下各位对照。技术指标全绿——准确率九十二、响应三百毫秒、日处理百万级、零事故，放到任何评审会上都是满分。业务使用为零——上线三个月日活零到两人，而且都是 FDE 自己点的。问不出原因——技术团队认为业务不重视，业务认为技术不好用，互相指责，项目进入维护状态。</a:t>
            </a:r>
          </a:p>
          <a:p>
            <a:endParaRPr lang="zh-CN"/>
          </a:p>
          <a:p>
            <a:r>
              <a:rPr lang="zh-CN" sz="1200" dirty="0"/>
              <a:t>这一类最麻烦的地方在于它看起来是成功的。所有技术会议都是绿的，所有汇报材料都是好的，只有使用量是零。</a:t>
            </a:r>
          </a:p>
          <a:p>
            <a:endParaRPr lang="zh-CN"/>
          </a:p>
          <a:p>
            <a:r>
              <a:rPr lang="zh-CN" sz="1200" dirty="0"/>
              <a:t>中间左边是四个根因和对应的 Echo 动作。我请各位注意这个对应关系——每一个根因后面都有一个 Echo 要做的具体动作，右边那三个追问也是。痛点是编的，Echo 去追决策链验证；流程没对齐，Echo 跟作业员走一遍；没进流程，Echo 追问这个结论会回到哪个动作；没人担责，Echo 找到签字的人把名字写进移交清单。</a:t>
            </a:r>
          </a:p>
          <a:p>
            <a:endParaRPr lang="zh-CN"/>
          </a:p>
          <a:p>
            <a:r>
              <a:rPr lang="zh-CN" sz="1200" dirty="0"/>
              <a:t>右边自检三问是我建议每周问一遍的。如果今天我离开，客户会继续用吗？这个系统的结论改变了谁的什么动作？客户有没有一次因为它而改变过原有做法？三问答不出是，就是运营无关。</a:t>
            </a:r>
          </a:p>
          <a:p>
            <a:endParaRPr lang="zh-CN"/>
          </a:p>
          <a:p>
            <a:r>
              <a:rPr lang="zh-CN" sz="1200" dirty="0"/>
              <a:t>底下这四条是预防机制，关键是第七天查使用量，不达标立刻整改，不等到月底。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失败现场第二类：把咨询产出物当产品。这是我认为转型期最常见的自我污染。</a:t>
            </a:r>
          </a:p>
          <a:p>
            <a:endParaRPr lang="zh-CN"/>
          </a:p>
          <a:p>
            <a:r>
              <a:rPr lang="zh-CN" sz="1200" dirty="0"/>
              <a:t>为什么？因为 FDE 天天做交付，手上全是 PPT 模板，交付物会不自觉地退化成 PPT。这个过程是看不见的，等到发现的时候已经交了两版蓝图。</a:t>
            </a:r>
          </a:p>
          <a:p>
            <a:endParaRPr lang="zh-CN"/>
          </a:p>
          <a:p>
            <a:r>
              <a:rPr lang="zh-CN" sz="1200" dirty="0"/>
              <a:t>上面五个症状我念前三个。架构图画得极漂亮但连不上一条真实数据通路；方案写完就归档，客户生产系统里什么都没变；把方案通过评审当成交付完成，客户却从未登录过。</a:t>
            </a:r>
          </a:p>
          <a:p>
            <a:endParaRPr lang="zh-CN"/>
          </a:p>
          <a:p>
            <a:r>
              <a:rPr lang="zh-CN" sz="1200" dirty="0"/>
              <a:t>中间深色这块是最硬的一条判据，我请各位把它贴在办公室墙上：把 PPT 的页数全删掉，问一句，客户生产环境里多了什么？答不上来，无论 PPT 多厚都是零。</a:t>
            </a:r>
          </a:p>
          <a:p>
            <a:endParaRPr lang="zh-CN"/>
          </a:p>
          <a:p>
            <a:r>
              <a:rPr lang="zh-CN" sz="1200" dirty="0"/>
              <a:t>这句话背后是一个边界判断——前三种角色交付的是关于系统的论述，FDE 交付的是系统本身。这不是勤奋程度的差别，是交付物形态的差别。</a:t>
            </a:r>
          </a:p>
          <a:p>
            <a:endParaRPr lang="zh-CN"/>
          </a:p>
          <a:p>
            <a:r>
              <a:rPr lang="zh-CN" sz="1200" dirty="0"/>
              <a:t>右边这块讲每一份产出物的唯一去向。蓝图和架构图进本体设计文档，方案和建议进代码注释与运维手册，汇报材料进移交清单的口头讲解，风险清单进告警规则和值班表。每一份纸都有它该去的地方，没有一份是单独交付给客户的。</a:t>
            </a:r>
          </a:p>
          <a:p>
            <a:endParaRPr lang="zh-CN"/>
          </a:p>
          <a:p>
            <a:r>
              <a:rPr lang="zh-CN" sz="1200" dirty="0"/>
              <a:t>底下这四条是自保机制，都需要制度支撑。代码进生产、每周现场天数、手写代码量记录、交接必须发生——最后一条最关键，没有客户方接手就不算完。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失败现场第三类：经验不回流，碎石路修成断头路。</a:t>
            </a:r>
          </a:p>
          <a:p>
            <a:endParaRPr lang="zh-CN"/>
          </a:p>
          <a:p>
            <a:r>
              <a:rPr lang="zh-CN" sz="1200" dirty="0"/>
              <a:t>上面四段是这条断路的过程。第一段第一段是通的——现场铺路完成，客户上线，使用量达标，FDE 也很自豪。第二段缺失——没有人负责把经验整理成平台提案，因为这件事不在任何人的考核里。第三段断了——第二个同类客户到来，团队重新造一遍轮子，成本和第一个完全相同。</a:t>
            </a:r>
          </a:p>
          <a:p>
            <a:endParaRPr lang="zh-CN"/>
          </a:p>
          <a:p>
            <a:r>
              <a:rPr lang="zh-CN" sz="1200" dirty="0"/>
              <a:t>问题就出在第二段。而且我要说，它不是疏忽，是必然。因为客户现场的人下周就换项目了，总部的人不知道现场做了什么，管理层不考核这项，所以它永远排在最后。</a:t>
            </a:r>
          </a:p>
          <a:p>
            <a:endParaRPr lang="zh-CN"/>
          </a:p>
          <a:p>
            <a:r>
              <a:rPr lang="zh-CN" sz="1200" dirty="0"/>
              <a:t>中间深色这块是我列的五类必须提交的回流物，缺一件都不算项目关闭。本体骨架、管道模板、Agent 模板、验收清单、坑位清单。最后这一类最容易被忽略但最值钱——哪里踩过雷、为什么、下次怎么避。</a:t>
            </a:r>
          </a:p>
          <a:p>
            <a:endParaRPr lang="zh-CN"/>
          </a:p>
          <a:p>
            <a:r>
              <a:rPr lang="zh-CN" sz="1200" dirty="0"/>
              <a:t>右边这段是制度性解法，我想强调：回流提案不签字，项目不算关闭。这一条要写进交付流程，而不是靠个人自觉。制度不写，人一走就断。</a:t>
            </a:r>
          </a:p>
          <a:p>
            <a:endParaRPr lang="zh-CN"/>
          </a:p>
          <a:p>
            <a:r>
              <a:rPr lang="zh-CN" sz="1200" dirty="0"/>
              <a:t>底下这四个指标是管理上唯一的抓手。特别是最后一个采纳率——提案提交了但总部没采纳，一样是流失。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现场五问，这是 Echo 每场对话的固定开场。</a:t>
            </a:r>
          </a:p>
          <a:p>
            <a:endParaRPr lang="zh-CN"/>
          </a:p>
          <a:p>
            <a:r>
              <a:rPr lang="zh-CN" sz="1200" dirty="0"/>
              <a:t>我强调一下：这不是访谈提纲，是不靠临场发挥的固定清单。三十到四十的时间就是靠一遍遍问这五个问题花掉的。</a:t>
            </a:r>
          </a:p>
          <a:p>
            <a:endParaRPr lang="zh-CN"/>
          </a:p>
          <a:p>
            <a:r>
              <a:rPr lang="zh-CN" sz="1200" dirty="0"/>
              <a:t>五问我各说一句它的用意。问谁在做——这题的答案通常是执行层的名字，不是组织架构图上的名字。问出过事吗——如果一个流程从没出过事，那它大概不是真痛点。问这个数怎么来——口径分歧就是本体的切入点，问到这题往往能挖出三套算法。问谁会反对——变革阻力藏在反对者那里，不在支持者那里。问要什么才改——拿到的是真实期待，不是客户以为的期待。</a:t>
            </a:r>
          </a:p>
          <a:p>
            <a:endParaRPr lang="zh-CN"/>
          </a:p>
          <a:p>
            <a:r>
              <a:rPr lang="zh-CN" sz="1200" dirty="0"/>
              <a:t>中间左边三条追问纪律。问原话，记原话不要转述；追问三次，对方第一次给的答案通常是制度答案；不当裁判，只记事实不评价对错。</a:t>
            </a:r>
          </a:p>
          <a:p>
            <a:endParaRPr lang="zh-CN"/>
          </a:p>
          <a:p>
            <a:r>
              <a:rPr lang="zh-CN" sz="1200" dirty="0"/>
              <a:t>右边三层对话对象我想请各位注意：决策者、执行者、反对者，三种声音都要听。只听一种声音，那就是 Delta 单干。执行者关心会不会增加工作量，反对者关心自己的位置——这两个声音通常和管理层完全不一样。</a:t>
            </a:r>
          </a:p>
          <a:p>
            <a:endParaRPr lang="zh-CN"/>
          </a:p>
          <a:p>
            <a:r>
              <a:rPr lang="zh-CN" sz="1200" dirty="0"/>
              <a:t>底下这组数字是官方口径，不达标就是没做 Investigate。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八类高危动作，这一页我建议各位在做现场手册的时候直接抄进去。</a:t>
            </a:r>
          </a:p>
          <a:p>
            <a:endParaRPr lang="zh-CN"/>
          </a:p>
          <a:p>
            <a:r>
              <a:rPr lang="zh-CN" sz="1200" dirty="0"/>
              <a:t>这八类有一个共同点：后果落在客户身上，而你在现场。这不是能力问题，是位置问题——所以必须靠流程和清单约束自己，不能靠自觉。</a:t>
            </a:r>
          </a:p>
          <a:p>
            <a:endParaRPr lang="zh-CN"/>
          </a:p>
          <a:p>
            <a:r>
              <a:rPr lang="zh-CN" sz="1200" dirty="0"/>
              <a:t>我快速说最危险的三条。第一条直连生产库读全表，一个 select 星号就能打满客户的 IO，影响人家业务。第二条无幂等直接重跑，重复写入，客户账目对不上，这个责任很严重。第三条绕过密级取数，为了跑通演示拉越权数据——这一条在任何公司都是事故级。</a:t>
            </a:r>
          </a:p>
          <a:p>
            <a:endParaRPr lang="zh-CN"/>
          </a:p>
          <a:p>
            <a:r>
              <a:rPr lang="zh-CN" sz="1200" dirty="0"/>
              <a:t>左边中间这四行是合规替代写法，请各位对着用。限流只读，走只读副本、限制时间窗和扫描行数；批次幂等，每批带批次号可重放可回滚；变更走单，客户 IT 审批后才动既有代码；密级前置，按密级申请，不因演示破例。</a:t>
            </a:r>
          </a:p>
          <a:p>
            <a:endParaRPr lang="zh-CN"/>
          </a:p>
          <a:p>
            <a:r>
              <a:rPr lang="zh-CN" sz="1200" dirty="0"/>
              <a:t>右边我给了一条判据，各位可以用：如果这个动作出事了，客户能不能在半小时内自己恢复？能就做，不能就不要做。</a:t>
            </a:r>
          </a:p>
          <a:p>
            <a:endParaRPr lang="zh-CN"/>
          </a:p>
          <a:p>
            <a:r>
              <a:rPr lang="zh-CN" sz="1200" dirty="0"/>
              <a:t>底下这四条红线我建议进场第一天就写进工作守则，让客户签字确认：不越权、不带走、不擅动、不留痕。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十二项上线检查，这一页和上一页是一组。上一页是不能做的，这一页是必须做的。</a:t>
            </a:r>
          </a:p>
          <a:p>
            <a:endParaRPr lang="zh-CN"/>
          </a:p>
          <a:p>
            <a:r>
              <a:rPr lang="zh-CN" sz="1200" dirty="0"/>
              <a:t>十二项我按四组分：数据四项、本体三项、业务三项、运营两项。我想请各位注意这个分布——它反映了一个取向：交付质量的一半在技术之外。数据要真能跑、要幂等、要告警、要可追溯；本体要客户签字、基数要定、密级继承要配；业务要作业员真的登录过、口径要签字、结论要进真实流程；运营要指定责任人、要交运维手册。</a:t>
            </a:r>
          </a:p>
          <a:p>
            <a:endParaRPr lang="zh-CN"/>
          </a:p>
          <a:p>
            <a:r>
              <a:rPr lang="zh-CN" sz="1200" dirty="0"/>
              <a:t>中间深色是判定规则，请注意没有基本完成这一档。十二比十二可以移交，十一到九限期整改且整改期不算完成，八以下视为未上线，必须重走上线流程。</a:t>
            </a:r>
          </a:p>
          <a:p>
            <a:endParaRPr lang="zh-CN"/>
          </a:p>
          <a:p>
            <a:r>
              <a:rPr lang="zh-CN" sz="1200" dirty="0"/>
              <a:t>我见过太多项目卡在十一分上——差的那一项永远是那句以后再补。</a:t>
            </a:r>
          </a:p>
          <a:p>
            <a:endParaRPr lang="zh-CN"/>
          </a:p>
          <a:p>
            <a:r>
              <a:rPr lang="zh-CN" sz="1200" dirty="0"/>
              <a:t>右边这三项代价最大我再点一次名。历史不可追溯、作业员没登录过、运维手册没交。</a:t>
            </a:r>
          </a:p>
          <a:p>
            <a:endParaRPr lang="zh-CN"/>
          </a:p>
          <a:p>
            <a:r>
              <a:rPr lang="zh-CN" sz="1200" dirty="0"/>
              <a:t>底下这行我想说明白：这份清单是 FDE 退出和留下的分界线。不达标就得继续驻场整改，而且不计交付完成。这条写进合同，客户就不会觉得你在拖延——因为规则是提前说好的。</a:t>
            </a:r>
          </a:p>
          <a:p>
            <a:endParaRPr lang="zh-CN"/>
          </a:p>
          <a:p>
            <a:r>
              <a:rPr lang="zh-CN" sz="1200" dirty="0"/>
              <a:t>执行方式我建议客户方和 FDE 逐项共同确认，双方签字，不允许会后补签。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Echo 与 Delta 的分工契约，这一页讲的是一对配对为什么是刻意设计的张力。</a:t>
            </a:r>
          </a:p>
          <a:p>
            <a:endParaRPr lang="zh-CN"/>
          </a:p>
          <a:p>
            <a:r>
              <a:rPr lang="zh-CN" sz="1200" dirty="0"/>
              <a:t>上面左右两栏我念一下关键差异。Delta 属于业务拓展方向，但工作在客户现场，目标是让一个客户用上多种能力，判断标准是技术上对不对。Echo 通常不是软件工程师，目标是找到最值得修的那条路，判断标准这是不是真问题。</a:t>
            </a:r>
          </a:p>
          <a:p>
            <a:endParaRPr lang="zh-CN"/>
          </a:p>
          <a:p>
            <a:r>
              <a:rPr lang="zh-CN" sz="1200" dirty="0"/>
              <a:t>两个人各自的成功标准和失败形态我都写了：Delta 的失败是技术正确但运营无关，Echo 的失败是方向找对了但拿不出东西。</a:t>
            </a:r>
          </a:p>
          <a:p>
            <a:endParaRPr lang="zh-CN"/>
          </a:p>
          <a:p>
            <a:r>
              <a:rPr lang="zh-CN" sz="1200" dirty="0"/>
              <a:t>中间这块我请各位重点看。为什么必须配对：Delta 单独干容易做出技术正确但运营无关的东西；Echo 单独干容易找出真问题但拿不出可运行的东西。两者相向而立，一个推快、一个踩刹车，项目才不会跑偏。</a:t>
            </a:r>
          </a:p>
          <a:p>
            <a:endParaRPr lang="zh-CN"/>
          </a:p>
          <a:p>
            <a:r>
              <a:rPr lang="zh-CN" sz="1200" dirty="0"/>
              <a:t>右边这三行是现场冲突的正确处理方式，我希望各位记住，因为它听起来很简单但很少有人做。Delta 说做，Echo 就问谁用、改变了什么动作。Echo 说停，Delta 就问不做会损失多少。两个人僵持，就拉客户业务负责人当场裁决。</a:t>
            </a:r>
          </a:p>
          <a:p>
            <a:endParaRPr lang="zh-CN"/>
          </a:p>
          <a:p>
            <a:r>
              <a:rPr lang="zh-CN" sz="1200" dirty="0"/>
              <a:t>底下这句话我认为是这一段的重点：冲突不是坏事，说明两边都在认真工作。一个从不冲突的小队，通常是其中一个人根本没在负责。</a:t>
            </a:r>
          </a:p>
          <a:p>
            <a:endParaRPr lang="zh-CN"/>
          </a:p>
          <a:p>
            <a:r>
              <a:rPr lang="zh-CN" sz="1200" dirty="0"/>
              <a:t>最底下这组配比数字和理想背景，前面第一部分讲过了，这里只提醒一句：Echo 常来自前军官、医疗老兵、金融老手。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运营移交，这一页回答 FDE 什么时候可以走。</a:t>
            </a:r>
          </a:p>
          <a:p>
            <a:endParaRPr lang="zh-CN"/>
          </a:p>
          <a:p>
            <a:r>
              <a:rPr lang="zh-CN" sz="1200" dirty="0"/>
              <a:t>不以功能做完为终点，以客户能自己维护为终点。这句话我想请各位作为交付定义写进合同——因为走早了等于没交付，而且后面客户出问题还会找你。</a:t>
            </a:r>
          </a:p>
          <a:p>
            <a:endParaRPr lang="zh-CN"/>
          </a:p>
          <a:p>
            <a:r>
              <a:rPr lang="zh-CN" sz="1200" dirty="0"/>
              <a:t>上面四步。运维接管，客户方指定责任人，拿到账号权限告警配置，过关标准是能登录、能看告警、能重启。口径接管，业务方接手口径裁定权，包括后续加指标的权限，过关标准是客户自己敢改口径。知识接管，培训加考核，过关标准是考核通过率百分之百——注意不是看着会了，是真考过。回流接管，平台侧接手抽象提案，过关标准是提案进入平台迭代。</a:t>
            </a:r>
          </a:p>
          <a:p>
            <a:endParaRPr lang="zh-CN"/>
          </a:p>
          <a:p>
            <a:r>
              <a:rPr lang="zh-CN" sz="1200" dirty="0"/>
              <a:t>中间右边三种不该走的情形我请各位注意：还在催——客户还天天问这个怎么用，说明没教会；还在改——每周都有口径变更，模型没稳定；还在救——上线一个月内就在处理故障，运维没接住。</a:t>
            </a:r>
          </a:p>
          <a:p>
            <a:endParaRPr lang="zh-CN"/>
          </a:p>
          <a:p>
            <a:r>
              <a:rPr lang="zh-CN" sz="1200" dirty="0"/>
              <a:t>早退是 FDE 最常见的人情债。客户不好意思留你，你就不好意思走，结果两个月后系统出问题还是找你，两头不是人。</a:t>
            </a:r>
          </a:p>
          <a:p>
            <a:endParaRPr lang="zh-CN"/>
          </a:p>
          <a:p>
            <a:r>
              <a:rPr lang="zh-CN" sz="1200" dirty="0"/>
              <a:t>底下这个提醒：移交之后不是断绝，留一条按需回叫的通道，两周内可远程响应。回访节奏定成一月、一月、三月各一次，看的只看使用量和新增痛点，不看汇报材料。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第四部分，FDE 乘以八大领域。这是这一册对各位业务最有用的部分。</a:t>
            </a:r>
          </a:p>
          <a:p>
            <a:endParaRPr lang="zh-CN"/>
          </a:p>
          <a:p>
            <a:r>
              <a:rPr lang="zh-CN" sz="1200" dirty="0"/>
              <a:t>前面十册讲的是每个领域本身怎么做——本体怎么做、智能体怎么做、管道怎么做、治理怎么做。这一部分讲的是同样这些事，用 FDE 的方式做和用传统方式做，有什么不一样。</a:t>
            </a:r>
          </a:p>
          <a:p>
            <a:endParaRPr lang="zh-CN"/>
          </a:p>
          <a:p>
            <a:r>
              <a:rPr lang="zh-CN" sz="1200" dirty="0"/>
              <a:t>一共十二页，八个领域各一页，然后是可复用度矩阵、一票否决权、以及跨领域共通的八条硬规则。</a:t>
            </a:r>
          </a:p>
          <a:p>
            <a:endParaRPr lang="zh-CN"/>
          </a:p>
          <a:p>
            <a:r>
              <a:rPr lang="zh-CN" sz="1200" dirty="0"/>
              <a:t>我先说为什么这个部分重要。同一个领域，FDE 和顾问的做法差异不在水平，在位置。顾问在会议室里，位置决定了他能定范围、能画蓝图、能开方案会，但定不了粒度、裁不了密级、划不了权限。FDE 在现场，这三件事都必须当场办。</a:t>
            </a:r>
          </a:p>
          <a:p>
            <a:endParaRPr lang="zh-CN"/>
          </a:p>
          <a:p>
            <a:r>
              <a:rPr lang="zh-CN" sz="1200" dirty="0"/>
              <a:t>所以这八页里最有价值的不是方法步骤，是每页底下的现场四步——那是可以直接抄进现场手册的动作。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先讲本体，因为它是第一个也是最核心的领域。</a:t>
            </a:r>
          </a:p>
          <a:p>
            <a:endParaRPr lang="zh-CN"/>
          </a:p>
          <a:p>
            <a:r>
              <a:rPr lang="zh-CN" sz="1200" dirty="0"/>
              <a:t>标题里那句话是整个领域的题眼：FDE 建的从来不是某个客户的项目本体，而是平台的又一次实例化。这决定了他建东西的顺序。</a:t>
            </a:r>
          </a:p>
          <a:p>
            <a:endParaRPr lang="zh-CN"/>
          </a:p>
          <a:p>
            <a:r>
              <a:rPr lang="zh-CN" sz="1200" dirty="0"/>
              <a:t>上面四个特有处理。粒度试错——对象怎么切只能在真实数据上试，会议室里定的粒度到现场往往被推翻。实例化——先照平台范式建，不自创一套，偏离越多第二个客户越贵。密级前置——建对象时就定，不许先建后补。版本化——schema 变更走流程，不现场改。</a:t>
            </a:r>
          </a:p>
          <a:p>
            <a:endParaRPr lang="zh-CN"/>
          </a:p>
          <a:p>
            <a:r>
              <a:rPr lang="zh-CN" sz="1200" dirty="0"/>
              <a:t>中间左边三个判据是现场粒度试错的具体手法，我请各位记一下，都能当场用。能不能挂——这个对象能挂到一个动作上吗，挂不上就是粒度错。是不是一对一——若一对一多半该合并，若一对多多半该拆开。换个人认吗——换个资深员工还认这个定义吗，不认就是没对齐。第三个最简单也最有效。</a:t>
            </a:r>
          </a:p>
          <a:p>
            <a:endParaRPr lang="zh-CN"/>
          </a:p>
          <a:p>
            <a:r>
              <a:rPr lang="zh-CN" sz="1200" dirty="0"/>
              <a:t>右边是 FDE 和架构师的分工。架构师决定平台应该长什么样，FDE 决定这一次实例长什么样。如果这次实例比范式更优，提为新范式。偏离范式必须有理由，而且理由必须被记录。</a:t>
            </a:r>
          </a:p>
          <a:p>
            <a:endParaRPr lang="zh-CN"/>
          </a:p>
          <a:p>
            <a:r>
              <a:rPr lang="zh-CN" sz="1200" dirty="0"/>
              <a:t>底下产出物我强调一句：都是活的东西。本体骨架跑在客户环境，密级矩阵逐链接生效，偏离说明含理由与代价，范式提案若更优则提。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Agent 这个领域，我要先说一个判断：Agent 不是模型封装。</a:t>
            </a:r>
          </a:p>
          <a:p>
            <a:endParaRPr lang="zh-CN"/>
          </a:p>
          <a:p>
            <a:r>
              <a:rPr lang="zh-CN" sz="1200" dirty="0"/>
              <a:t>它带工具、带权限、带记忆、带出口。这四样每一项都是现场的责任边界。所以 FDE 的做法是把它当成一个有权限的员工来管——一个有权限的员工，你得给他一个权限清单，而不是给他一个提示词。</a:t>
            </a:r>
          </a:p>
          <a:p>
            <a:endParaRPr lang="zh-CN"/>
          </a:p>
          <a:p>
            <a:r>
              <a:rPr lang="zh-CN" sz="1200" dirty="0"/>
              <a:t>上面四件必须现场定义的事。工具白名单，这个 Agent 能调什么不能调什么，不允许顺手访问其他数据源。出口策略，结论写到哪里、谁能看、写错了怎么撤，写路径必须可回滚。记忆边界，什么能记住、记多久、跨场景能不能用，默认是不记住。遥测日志，每次调用留痕：谁问的、调了什么、依据什么、答了什么。</a:t>
            </a:r>
          </a:p>
          <a:p>
            <a:endParaRPr lang="zh-CN"/>
          </a:p>
          <a:p>
            <a:r>
              <a:rPr lang="zh-CN" sz="1200" dirty="0"/>
              <a:t>中间这六条上线红线我请各位写进工作守则：默认只读，写操作必须显式授权；无写回路径的场景不许上线；无遥测日志不许上线；无密级校验不许连真实数据；无兜底话术不许面向客户；无人工确认不许触发批量动作。</a:t>
            </a:r>
          </a:p>
          <a:p>
            <a:endParaRPr lang="zh-CN"/>
          </a:p>
          <a:p>
            <a:r>
              <a:rPr lang="zh-CN" sz="1200" dirty="0"/>
              <a:t>右边这一栏是我认为 Dify 式拼装和 FDE 式装配的根本差别。前者关注提示词调得好不好、看 demo 效果；后者关注权限边界清不清、看出事能不能追。验收指标完全不同——前者看好答案，后者看权限与日志。</a:t>
            </a:r>
          </a:p>
          <a:p>
            <a:endParaRPr lang="zh-CN"/>
          </a:p>
          <a:p>
            <a:r>
              <a:rPr lang="zh-CN" sz="1200" dirty="0"/>
              <a:t>最底下这句是我的观点：一个能干的 Agent，不是一个聪明的 Agent。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知识库这个领域，我开门见山：知识库项目失败，八成不是模型不行，是切片切错了、密级漏了、反向索引没建。这三样全是现场活。</a:t>
            </a:r>
          </a:p>
          <a:p>
            <a:endParaRPr lang="zh-CN"/>
          </a:p>
          <a:p>
            <a:r>
              <a:rPr lang="zh-CN" sz="1200" dirty="0"/>
              <a:t>上面三个特有处理。切片工艺，按语义边界切不按字数切，表格、条款、图纸说明各有切法。密级继承，一个文件里的段落可能不同密级，切片必须带密级标签。反向索引，从答案反查来源段落，这既是可信手段也是审计要求。</a:t>
            </a:r>
          </a:p>
          <a:p>
            <a:endParaRPr lang="zh-CN"/>
          </a:p>
          <a:p>
            <a:r>
              <a:rPr lang="zh-CN" sz="1200" dirty="0"/>
              <a:t>中间左边三个判据是切片工艺的现场手法。看边界——一个切片能不能独立读懂，读不懂就是切错了。看归属——每段能不能追到原始文件与页码，不能就是没留痕。看召回——拿十个真实问题测，答对几条，低于七条不上线。这第三条我建议直接写进验收。</a:t>
            </a:r>
          </a:p>
          <a:p>
            <a:endParaRPr lang="zh-CN"/>
          </a:p>
          <a:p>
            <a:r>
              <a:rPr lang="zh-CN" sz="1200" dirty="0"/>
              <a:t>右边讲关系，这一页的连接点比内容更重要。本体定范围——知识库只管本体覆盖不到的那部分文档；知识库供语料——Agent 从知识库取依据，不凭空生成；Agent 出处——每个结论必须带知识库切片链接。</a:t>
            </a:r>
          </a:p>
          <a:p>
            <a:endParaRPr lang="zh-CN"/>
          </a:p>
          <a:p>
            <a:r>
              <a:rPr lang="zh-CN" sz="1200" dirty="0"/>
              <a:t>底下那句我想强调：没有出处的答案，在客户处等于没有答案。这条对 AI 时代尤其重要，因为模型很擅长自信地说错话。</a:t>
            </a:r>
          </a:p>
          <a:p>
            <a:endParaRPr lang="zh-CN"/>
          </a:p>
          <a:p>
            <a:r>
              <a:rPr lang="zh-CN" sz="1200" dirty="0"/>
              <a:t>底下那四步我提醒一句：切片工艺的测试一定要拿真实业务问题跑十遍，不要自己编问题测。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管道这个领域我要特别讲，因为它是最能证明 FDE 必须在现场的一个。</a:t>
            </a:r>
          </a:p>
          <a:p>
            <a:endParaRPr lang="zh-CN"/>
          </a:p>
          <a:p>
            <a:r>
              <a:rPr lang="zh-CN" sz="1200" dirty="0"/>
              <a:t>上面两栏是双向管道。Inbound 数据怎么进本体：现场写抽取，不接受先给个接口文档这种说法；每批带批次号，可整批重放；限流只读，不打满客户库；失败落错误表，不吞异常。Outbound 本体怎么被调出去：写回路径必须接到客户真实作业动作；每次写回可撤回，有审计记录；对外接口逐条走密级校验；不建万能接口给自己方便。</a:t>
            </a:r>
          </a:p>
          <a:p>
            <a:endParaRPr lang="zh-CN"/>
          </a:p>
          <a:p>
            <a:r>
              <a:rPr lang="zh-CN" sz="1200" dirty="0"/>
              <a:t>中间左边三件套是必写的，请各位记一下名字就行，具体写法各家不同。批次号，每批一个唯一号，重放靠它去重；重试策略，指数退避加最大次数，不能无限重试；对账脚本，每日核对源与目标条数和金额。第三件是保险，前两件是能力。</a:t>
            </a:r>
          </a:p>
          <a:p>
            <a:endParaRPr lang="zh-CN"/>
          </a:p>
          <a:p>
            <a:r>
              <a:rPr lang="zh-CN" sz="1200" dirty="0"/>
              <a:t>右边我想说明白为什么管道特别考验 FDE。管道是唯一错了会静默的东西——不报错，数据就是错的。客户环境千差万别：离线、网闸、老库、乱码。这些只能在现场发现，文档里永远写不出来。</a:t>
            </a:r>
          </a:p>
          <a:p>
            <a:endParaRPr lang="zh-CN"/>
          </a:p>
          <a:p>
            <a:r>
              <a:rPr lang="zh-CN" sz="1200" dirty="0"/>
              <a:t>所以这句话我想让各位记住：管道不通，本体就是空的；本体是空的，Agent 全是幻觉。这三件事是一条链。</a:t>
            </a:r>
          </a:p>
          <a:p>
            <a:endParaRPr lang="zh-CN"/>
          </a:p>
          <a:p>
            <a:r>
              <a:rPr lang="zh-CN" sz="1200" dirty="0"/>
              <a:t>底下四步里，断点演练那一步我请各位一定要做——故意掐断一次看能不能补回来，比跑通一百次更有说服力。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数据治理这个领域，FDE 和传统治理的差异最大，我要讲清楚为什么。</a:t>
            </a:r>
          </a:p>
          <a:p>
            <a:endParaRPr lang="zh-CN"/>
          </a:p>
          <a:p>
            <a:r>
              <a:rPr lang="zh-CN" sz="1200" dirty="0"/>
              <a:t>传统治理做全域，以年计，交付方案，靠汇报。FDE 只能推够这一轮用的那部分，而且要立刻见效。这不是简化，这是唯一能在现场推得动的方式。</a:t>
            </a:r>
          </a:p>
          <a:p>
            <a:endParaRPr lang="zh-CN"/>
          </a:p>
          <a:p>
            <a:r>
              <a:rPr lang="zh-CN" sz="1200" dirty="0"/>
              <a:t>上面四条就是最小可行治理的做法。只治用到的——这一轮用到哪几张表几个字段，就只治这几个，其余明确挂起，当场定责——每个字段谁负责谁审批，当场写名字，不设待定。先可逆再完美——合并删除类操作先做可逆版本。再加一条最关键的：当场兑现——治完立刻在场景里用出来，让治理方看到收益。</a:t>
            </a:r>
          </a:p>
          <a:p>
            <a:endParaRPr lang="zh-CN"/>
          </a:p>
          <a:p>
            <a:r>
              <a:rPr lang="zh-CN" sz="1200" dirty="0"/>
              <a:t>中间右边三行是我认为最小可行反而更容易成的三个原因。治一小块，业务方看得见好处，才愿意配合下一轮；范围小，决策链短，一个负责人就能拍板；两周能出结果，治理就从长期工程变成已证明的事。</a:t>
            </a:r>
          </a:p>
          <a:p>
            <a:endParaRPr lang="zh-CN"/>
          </a:p>
          <a:p>
            <a:r>
              <a:rPr lang="zh-CN" sz="1200" dirty="0"/>
              <a:t>所以治到能用，比治到完美更有说服力。这句话我请各位记住，它能解决很多推不动治理的问题。</a:t>
            </a:r>
          </a:p>
          <a:p>
            <a:endParaRPr lang="zh-CN"/>
          </a:p>
          <a:p>
            <a:r>
              <a:rPr lang="zh-CN" sz="1200" dirty="0"/>
              <a:t>底下四步里定责人那一步最容易被跳过——一定要当场写名字，不留待定。留了待定就等于没人负责。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主数据这个领域，我要讲一条最关键的：合并与拆分必须可逆。</a:t>
            </a:r>
          </a:p>
          <a:p>
            <a:endParaRPr lang="zh-CN"/>
          </a:p>
          <a:p>
            <a:r>
              <a:rPr lang="zh-CN" sz="1200" dirty="0"/>
              <a:t>主数据是唯一动错了会静默出错的地方。管道错了会报错，界面错了客户会指出来，主数据错了——一切看起来正常，只是三个月后没人说得清数据为什么对不上。</a:t>
            </a:r>
          </a:p>
          <a:p>
            <a:endParaRPr lang="zh-CN"/>
          </a:p>
          <a:p>
            <a:r>
              <a:rPr lang="zh-CN" sz="1200" dirty="0"/>
              <a:t>上面四个特有处理。实体解析，在真数据上判断哪些是同一个，规则、相似度、人工确认三样都要有。合并可逆，合并前留快照，合并后写映射表，随时能拆回去。拆分谨慎，拆分会断掉所有历史链接，拆之前必须问业务方。金规则，主键策略当场定死，改一次就是全量返工。</a:t>
            </a:r>
          </a:p>
          <a:p>
            <a:endParaRPr lang="zh-CN"/>
          </a:p>
          <a:p>
            <a:r>
              <a:rPr lang="zh-CN" sz="1200" dirty="0"/>
              <a:t>中间左边三步法请各位照做：一备，合并前把两条原始记录整条快照存下来；二映，写映射表，旧主键对新主键，一条不少；三认，让业务方抽查十组，确认合对了。</a:t>
            </a:r>
          </a:p>
          <a:p>
            <a:endParaRPr lang="zh-CN"/>
          </a:p>
          <a:p>
            <a:r>
              <a:rPr lang="zh-CN" sz="1200" dirty="0"/>
              <a:t>请注意少做第一步会怎样：客户半年后想拆回来就拆不回了。这不是技术问题，是当时的你替客户做了不可逆的决定。</a:t>
            </a:r>
          </a:p>
          <a:p>
            <a:endParaRPr lang="zh-CN"/>
          </a:p>
          <a:p>
            <a:r>
              <a:rPr lang="zh-CN" sz="1200" dirty="0"/>
              <a:t>右边讲 AI 时代主数据的新含义，这一块是这一册和前十一册的连接点。主数据即事实——Agent 的推理必须基于唯一主数据，否则归因不了；主数据即训练集——错的主数据会持续污染每一次问答；主数据即置信度——合并越草率，整套 AI 越不可信。</a:t>
            </a:r>
          </a:p>
          <a:p>
            <a:endParaRPr lang="zh-CN"/>
          </a:p>
          <a:p>
            <a:r>
              <a:rPr lang="zh-CN" sz="1200" dirty="0"/>
              <a:t>这一条在 AI 时代比过去任何时候都更要命，因为过去主数据错了最多是报表不准，现在会让整个 AI 系统持续说错话。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指标这个领域，标题那句话我想请各位记住：口径是策略，不是配置。</a:t>
            </a:r>
          </a:p>
          <a:p>
            <a:endParaRPr lang="zh-CN"/>
          </a:p>
          <a:p>
            <a:r>
              <a:rPr lang="zh-CN" sz="1200" dirty="0"/>
              <a:t>指标体系失败，八成不是算错，是谁说了算这件事没定。三个部门各有一套算法，会上都对，数字永远对不上，最后谁都不认账。</a:t>
            </a:r>
          </a:p>
          <a:p>
            <a:endParaRPr lang="zh-CN"/>
          </a:p>
          <a:p>
            <a:r>
              <a:rPr lang="zh-CN" sz="1200" dirty="0"/>
              <a:t>上面四要素。定义——这个指标要回答什么问题，不是算什么，是回答什么。公式——分子分母、时间窗、过滤条件逐条写死，不留给开发猜。归属——这个口径谁签字、以后谁有权改，没有归属的口径必然漂移。争议——记录曾经有哪几种算法、各自什么理由，保留裁定痕迹。这一条是我建议加的，比前三项更少人做。</a:t>
            </a:r>
          </a:p>
          <a:p>
            <a:endParaRPr lang="zh-CN"/>
          </a:p>
          <a:p>
            <a:r>
              <a:rPr lang="zh-CN" sz="1200" dirty="0"/>
              <a:t>中间左边四步是现场裁定的做法。摆出来，把同一个指标的三套算法同时摆桌上；问动机，每套背后是谁在用、为什么这么算；当场定，由业务负责人签字定一套；留档，另外几套写进争议记录，不删。</a:t>
            </a:r>
          </a:p>
          <a:p>
            <a:endParaRPr lang="zh-CN"/>
          </a:p>
          <a:p>
            <a:r>
              <a:rPr lang="zh-CN" sz="1200" dirty="0"/>
              <a:t>不删这一条我特别强调。删掉以后，还会有第三套算法冒出来，那时候没人记得为什么废了前两套。</a:t>
            </a:r>
          </a:p>
          <a:p>
            <a:endParaRPr lang="zh-CN"/>
          </a:p>
          <a:p>
            <a:r>
              <a:rPr lang="zh-CN" sz="1200" dirty="0"/>
              <a:t>右边三行是口径不统一对 AI 的杀伤，这个在 AI 时代是新问题。同一个问题 AI 每隔一段时间给不同答案，信任归零；无法归因，说不清是模型不行还是口径变了；驾驶舱问数报表三套数字，会上吵到无法决策。</a:t>
            </a:r>
          </a:p>
          <a:p>
            <a:endParaRPr lang="zh-CN"/>
          </a:p>
          <a:p>
            <a:r>
              <a:rPr lang="zh-CN" sz="1200" dirty="0"/>
              <a:t>底下这块讲指标挂在哪：指标是本体的派生视图，依赖本体、不直连库、Agent 只读、改口径要走流程。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4A 架构这一页要讲的是 FDE 和前面四本的关系。</a:t>
            </a:r>
          </a:p>
          <a:p>
            <a:endParaRPr lang="zh-CN"/>
          </a:p>
          <a:p>
            <a:r>
              <a:rPr lang="zh-CN" sz="1200" dirty="0"/>
              <a:t>FDE 不是一个只管某层的角色。他的价值在于把四层横着串起来，让每一层的产出物在下一层立刻可用。</a:t>
            </a:r>
          </a:p>
          <a:p>
            <a:endParaRPr lang="zh-CN"/>
          </a:p>
          <a:p>
            <a:r>
              <a:rPr lang="zh-CN" sz="1200" dirty="0"/>
              <a:t>上面四层我写的是各自的落点和最容易踩的坑。数据架构层落点是现场写管道、建本体、定主键，坑是不接真数据就建本体。应用架构层落点是把 Agent 装到真实作业动作上，坑是只做演示不做写回。数据治理层落点是最小可行治理、当场裁定口径，坑是治理范围铺太大。业务架构层落点是追到签字的人、改到流程上，坑是只跟执行层对话。</a:t>
            </a:r>
          </a:p>
          <a:p>
            <a:endParaRPr lang="zh-CN"/>
          </a:p>
          <a:p>
            <a:r>
              <a:rPr lang="zh-CN" sz="1200" dirty="0"/>
              <a:t>这四个坑我在前面每一册都单独讲过。在 FDE 现场，它们的表现形式是同时出现的——所以要一条条自查。</a:t>
            </a:r>
          </a:p>
          <a:p>
            <a:endParaRPr lang="zh-CN"/>
          </a:p>
          <a:p>
            <a:r>
              <a:rPr lang="zh-CN" sz="1200" dirty="0"/>
              <a:t>中间左边讲四层怎么串成一条，注意顺序：业务先动，从决策链倒推需要什么数据；数据跟上，管道加本体让数据可对齐；治理兜底，口径与密级当场定；应用收口，Agent 把结论送回业务动作里。</a:t>
            </a:r>
          </a:p>
          <a:p>
            <a:endParaRPr lang="zh-CN"/>
          </a:p>
          <a:p>
            <a:r>
              <a:rPr lang="zh-CN" sz="1200" dirty="0"/>
              <a:t>右边是分工。架构师定四层——分层标准、边界、规范、成熟度模型。FDE 落四层——在一个客户现场把四层串通一次。FDE 反哺——如果串不通的地方，那就是架构缺陷，要报上去。</a:t>
            </a:r>
          </a:p>
          <a:p>
            <a:endParaRPr lang="zh-CN"/>
          </a:p>
          <a:p>
            <a:r>
              <a:rPr lang="zh-CN" sz="1200" dirty="0"/>
              <a:t>我想请各位特别注意第三句。很多架构师收不到现场反馈，因为没人告诉他们串不通。所以 FDE 的角色里有一条是给架构师做压力测试。</a:t>
            </a:r>
          </a:p>
          <a:p>
            <a:endParaRPr lang="zh-CN"/>
          </a:p>
          <a:p>
            <a:r>
              <a:rPr lang="zh-CN" sz="1200" dirty="0"/>
              <a:t>底下这四个自评问题只问四句，不做打分表。管道通吗、本体定吗、口径一吗、流程改吗。最后一句才是关键——有没有一个动作真的变了。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八大领域可复用度矩阵，这一页决定公司是在积累能力还是在重复劳动。</a:t>
            </a:r>
          </a:p>
          <a:p>
            <a:endParaRPr lang="zh-CN"/>
          </a:p>
          <a:p>
            <a:r>
              <a:rPr lang="zh-CN" sz="1200" dirty="0"/>
              <a:t>请各位看这张矩阵的读法。左边一列是领域，中间一列是档位，右边两栏是可复用和不可复用各是什么。</a:t>
            </a:r>
          </a:p>
          <a:p>
            <a:endParaRPr lang="zh-CN"/>
          </a:p>
          <a:p>
            <a:r>
              <a:rPr lang="zh-CN" sz="1200" dirty="0"/>
              <a:t>A 档两项：管道处理和知识库。管道的幂等重试对账模板几乎可以完全通用，唯一不可复用的是各网闸差异；知识库的切片工艺与反查机制通用，密级规则要本地配。</a:t>
            </a:r>
          </a:p>
          <a:p>
            <a:endParaRPr lang="zh-CN"/>
          </a:p>
          <a:p>
            <a:r>
              <a:rPr lang="zh-CN" sz="1200" dirty="0"/>
              <a:t>B 档四项：本体、主数据、指标、Agent。这四块的共同特征是骨架通用、参数本地。本体的行业骨架可用但粒度要现场试错；主数据的合并拆分可逆流程通用但实体规则强行业相关；指标的口径裁定流程通用但指标定义完全本地化；Agent 的工具白名单与出口策略通用但工具集强场景相关。</a:t>
            </a:r>
          </a:p>
          <a:p>
            <a:endParaRPr lang="zh-CN"/>
          </a:p>
          <a:p>
            <a:r>
              <a:rPr lang="zh-CN" sz="1200" dirty="0"/>
              <a:t>C 档一项：4A 架构。四层串接顺序做成方法论模板，不要做成工具。这是我判断的结果。</a:t>
            </a:r>
          </a:p>
          <a:p>
            <a:endParaRPr lang="zh-CN"/>
          </a:p>
          <a:p>
            <a:r>
              <a:rPr lang="zh-CN" sz="1200" dirty="0"/>
              <a:t>中间这块我想请各位记住结论：A 档最该沉淀成平台，B 档做成配置项，C 档做成方法论。研发资源就按这个分。</a:t>
            </a:r>
          </a:p>
          <a:p>
            <a:endParaRPr lang="zh-CN"/>
          </a:p>
          <a:p>
            <a:r>
              <a:rPr lang="zh-CN" sz="1200" dirty="0"/>
              <a:t>右边是判定纪律，我强调一条：由 Delta 提草案、Echo 复核，当场定档，不许留到总部再定。定档拖延等于默认全档 D——全档 D 就等于公司放弃了积累。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这一页讲一票否决权，这是传统咨询里没有的东西。</a:t>
            </a:r>
          </a:p>
          <a:p>
            <a:endParaRPr lang="zh-CN"/>
          </a:p>
          <a:p>
            <a:r>
              <a:rPr lang="zh-CN" sz="1200" dirty="0"/>
              <a:t>为什么 FDE 有否决权？因为他在现场，他能看到后果。传统顾问看到的是汇报材料里的后果，FDE 看到的是真的后果。这个位置差异就是他有权踩刹车的合法性来源。</a:t>
            </a:r>
          </a:p>
          <a:p>
            <a:endParaRPr lang="zh-CN"/>
          </a:p>
          <a:p>
            <a:r>
              <a:rPr lang="zh-CN" sz="1200" dirty="0"/>
              <a:t>四道闸我念一下。密级否决——要进系统的数据密级与继承没标清楚，停。生产否决——在客户生产环境做无回滚的批量写，停。口径否决——客户业务负责人没签字就往下建，停。使用否决——场景没法进客户真实作业流程，换场景。</a:t>
            </a:r>
          </a:p>
          <a:p>
            <a:endParaRPr lang="zh-CN"/>
          </a:p>
          <a:p>
            <a:r>
              <a:rPr lang="zh-CN" sz="1200" dirty="0"/>
              <a:t>右边归属我想说明白。密级否决权在客户安全负责人和 FDE双签，缺一即停；生产否决 FDE 可单方叫停，事后再谈；口径否决在客户业务负责人，缺签即停；使用否决由 Echo 提出，Delta 与客户共同确认。</a:t>
            </a:r>
          </a:p>
          <a:p>
            <a:endParaRPr lang="zh-CN"/>
          </a:p>
          <a:p>
            <a:r>
              <a:rPr lang="zh-CN" sz="1200" dirty="0"/>
              <a:t>注意这几条的性质不同：有些是共同否决，有些是单方否决。这是有意的——生产上那一条如果需要双签，就等于没有否决权。</a:t>
            </a:r>
          </a:p>
          <a:p>
            <a:endParaRPr lang="zh-CN"/>
          </a:p>
          <a:p>
            <a:r>
              <a:rPr lang="zh-CN" sz="1200" dirty="0"/>
              <a:t>中间深色这块我想请各位想一想：为什么必须有否决权？因为现场交付的压力天然是往前走。进度、客户期待、合同节点都在推。密级、签字、可逆性这三件事，只有 FDE 自己会踩刹车。</a:t>
            </a:r>
          </a:p>
          <a:p>
            <a:endParaRPr lang="zh-CN"/>
          </a:p>
          <a:p>
            <a:r>
              <a:rPr lang="zh-CN" sz="1200" dirty="0"/>
              <a:t>所以这句话是我今天的重要观点：有否决权才敢停手。只会推进的人不是 FDE，是执行。</a:t>
            </a:r>
          </a:p>
          <a:p>
            <a:endParaRPr lang="zh-CN"/>
          </a:p>
          <a:p>
            <a:r>
              <a:rPr lang="zh-CN" sz="1200" dirty="0"/>
              <a:t>底下这四条是停手之后怎么办。补齐再走、换路径、换场景、留记录。停手不等于放弃。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八大领域共通硬规则，这一页我想请各位把它单独打印出来。</a:t>
            </a:r>
          </a:p>
          <a:p>
            <a:endParaRPr lang="zh-CN"/>
          </a:p>
          <a:p>
            <a:r>
              <a:rPr lang="zh-CN" sz="1200" dirty="0"/>
              <a:t>这八条是从八个领域里抽出来的公约。记住它们，比记住某个领域的具体做法更有用——因为具体做法每家不同，这八条是不变的。</a:t>
            </a:r>
          </a:p>
          <a:p>
            <a:endParaRPr lang="zh-CN"/>
          </a:p>
          <a:p>
            <a:r>
              <a:rPr lang="zh-CN" sz="1200" dirty="0"/>
              <a:t>我按结构把它们分成三组。前置三条：真数据优先、密级前置、当场签字，都在动手之前。同步三条：现场写码、写回路径、当场定档，都在过程之中。收口两条：可逆、七成验收，都在交付之前。</a:t>
            </a:r>
          </a:p>
          <a:p>
            <a:endParaRPr lang="zh-CN"/>
          </a:p>
          <a:p>
            <a:r>
              <a:rPr lang="zh-CN" sz="1200" dirty="0"/>
              <a:t>中间左边这个分组是最有价值的部分——它告诉你这些规则为什么这么排。前置和同步两类管的是「别做错」，收口那类管的是「别假完成」。三类缺一类都会出事。</a:t>
            </a:r>
          </a:p>
          <a:p>
            <a:endParaRPr lang="zh-CN"/>
          </a:p>
          <a:p>
            <a:r>
              <a:rPr lang="zh-CN" sz="1200" dirty="0"/>
              <a:t>右边三条我建议直接写进现场工作守则，因为违反这三条后果最重。密级前置违反，数据泄露无法挽回；写回路径违反，交付即闲置，前面白做；当场定档违反，经验流失，公司没长进。</a:t>
            </a:r>
          </a:p>
          <a:p>
            <a:endParaRPr lang="zh-CN"/>
          </a:p>
          <a:p>
            <a:r>
              <a:rPr lang="zh-CN" sz="1200" dirty="0"/>
              <a:t>底下这个适用性我想强调：这八条对四个阶段都适用，八个领域都适用，做新客户项目和做平台迭代同样适用。它不是某一页的方法，它是一切现场工作的下限。</a:t>
            </a:r>
          </a:p>
          <a:p>
            <a:endParaRPr lang="zh-CN"/>
          </a:p>
          <a:p>
            <a:r>
              <a:rPr lang="zh-CN" sz="1200" dirty="0"/>
              <a:t>第四部分到这里。下一部分讲组织、工具和职业路径。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第五部分，组织与工具。</a:t>
            </a:r>
          </a:p>
          <a:p>
            <a:endParaRPr lang="zh-CN"/>
          </a:p>
          <a:p>
            <a:r>
              <a:rPr lang="zh-CN" sz="1200" dirty="0"/>
              <a:t>这一部分回答两个问题：这套模式在组织上怎么落地，以及 FDE 用什么工具把手艺固化成可复制的东西。</a:t>
            </a:r>
          </a:p>
          <a:p>
            <a:endParaRPr lang="zh-CN"/>
          </a:p>
          <a:p>
            <a:r>
              <a:rPr lang="zh-CN" sz="1200" dirty="0"/>
              <a:t>一共八页。团队配比和组织治理两页讲制度——尤其是那三条不设工单队列的设计，这是 FDE 区别于高级外包的关键。</a:t>
            </a:r>
          </a:p>
          <a:p>
            <a:endParaRPr lang="zh-CN"/>
          </a:p>
          <a:p>
            <a:r>
              <a:rPr lang="zh-CN" sz="1200" dirty="0"/>
              <a:t>中间三页是工作台，这一部分是我认为这一册里最容易被忽略但最有用的。做一张好看的架构图不难，难的是把决策链画清楚、把十二项检查变成机器不让它跳过。工具的意义是让你没办法用旧角色的方式偷懒。</a:t>
            </a:r>
          </a:p>
          <a:p>
            <a:endParaRPr lang="zh-CN"/>
          </a:p>
          <a:p>
            <a:r>
              <a:rPr lang="zh-CN" sz="1200" dirty="0"/>
              <a:t>最后两页讲职业路径和结语。职业路径那一页我想讲清楚一件事：这不是晋升通道，是责任范围的重划。被追问的问题变了、被考核的指标变了、否决权的分量变了——这三样变了你才真的成了 FDE。</a:t>
            </a:r>
          </a:p>
          <a:p>
            <a:endParaRPr lang="zh-CN"/>
          </a:p>
          <a:p>
            <a:r>
              <a:rPr lang="zh-CN" sz="1200" dirty="0"/>
              <a:t>先讲团队怎么配。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团队配比这一页，先说一个数字：候选人接受率百分之一。这不是营销话术，是筛选强度的真实描述。</a:t>
            </a:r>
          </a:p>
          <a:p>
            <a:endParaRPr lang="zh-CN"/>
          </a:p>
          <a:p>
            <a:r>
              <a:rPr lang="zh-CN" sz="1200" dirty="0"/>
              <a:t>上面三组配比我念一下。每客户配置两到四名，Delta 与 Echo 一对一配对为基本单元，另加平台侧支持。常驻现场两到六人，长期驻场那部分，随项目阶段进出，不是全程不变。管道配比是一比两百到五百万美元，按商机算，不按人头算。</a:t>
            </a:r>
          </a:p>
          <a:p>
            <a:endParaRPr lang="zh-CN"/>
          </a:p>
          <a:p>
            <a:r>
              <a:rPr lang="zh-CN" sz="1200" dirty="0"/>
              <a:t>这一组里我请各位特别注意第三个数字。FDE 是管道不是销售成本——它的成本不摊到每个项目上，它是跟着商机走的。</a:t>
            </a:r>
          </a:p>
          <a:p>
            <a:endParaRPr lang="zh-CN"/>
          </a:p>
          <a:p>
            <a:r>
              <a:rPr lang="zh-CN" sz="1200" dirty="0"/>
              <a:t>中间左边三类能力我之前讲过能力三角，这里我补一个组织角度的结论：不要指望招到一个三条边全齐的人。现实做法是拆成两人小队，一个偏工程一个偏业务，共享同一个交付责任。这不是妥协，是因为一个人确实干不完。</a:t>
            </a:r>
          </a:p>
          <a:p>
            <a:endParaRPr lang="zh-CN"/>
          </a:p>
          <a:p>
            <a:r>
              <a:rPr lang="zh-CN" sz="1200" dirty="0"/>
              <a:t>右边 Echo 的理想背景我要再强调一次：通常不是软件工程师。前军官、医疗老兵、金融老手。招 Delta 找技术，招 Echo 找做过艰难交付的人。</a:t>
            </a:r>
          </a:p>
          <a:p>
            <a:endParaRPr lang="zh-CN"/>
          </a:p>
          <a:p>
            <a:r>
              <a:rPr lang="zh-CN" sz="1200" dirty="0"/>
              <a:t>底下这三条是筛选机制：全天实战五天在客户现场，当场淘汰手不碰生产即止，背责任新人第一天就接真实后果。</a:t>
            </a:r>
          </a:p>
          <a:p>
            <a:endParaRPr lang="zh-CN"/>
          </a:p>
          <a:p>
            <a:r>
              <a:rPr lang="zh-CN" sz="1200" dirty="0"/>
              <a:t>最后我想说：这种稀缺不是靠扩招能解决的，它是结构性稀缺资源。所以组织设计要假设这个人很难找、很难替、很难留。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组织治理这一页，我讲三条制度设计。这三条不写进制度，FDE 就会退化成高级外包。</a:t>
            </a:r>
          </a:p>
          <a:p>
            <a:endParaRPr lang="zh-CN"/>
          </a:p>
          <a:p>
            <a:r>
              <a:rPr lang="zh-CN" sz="1200" dirty="0"/>
              <a:t>第一条，不设工单队列。这是官方明文规定。FDE 不接工单池，事情直接落到具体人，不排期、不等待、不被优先级排序。这条为什么重要？因为一旦进队列，FDE 就变成了资源调度，那正是执行岗的逻辑。</a:t>
            </a:r>
          </a:p>
          <a:p>
            <a:endParaRPr lang="zh-CN"/>
          </a:p>
          <a:p>
            <a:r>
              <a:rPr lang="zh-CN" sz="1200" dirty="0"/>
              <a:t>第二条，不被隔绝于现场。不让 FDE 只在办公室看数据，必须被允许看到客户的混乱与后果。这条是第二条行为准则的制度化——FDE 的判断力只有在现场才能形成。</a:t>
            </a:r>
          </a:p>
          <a:p>
            <a:endParaRPr lang="zh-CN"/>
          </a:p>
          <a:p>
            <a:r>
              <a:rPr lang="zh-CN" sz="1200" dirty="0"/>
              <a:t>第三条，第一天就背责任。新人第一天就对接真实后果，不是先培训再看影子项目。这条听着反直觉，但道理很直接——如果第一周不真做，他永远不知道自己适不适合。</a:t>
            </a:r>
          </a:p>
          <a:p>
            <a:endParaRPr lang="zh-CN"/>
          </a:p>
          <a:p>
            <a:r>
              <a:rPr lang="zh-CN" sz="1200" dirty="0"/>
              <a:t>中间深色这两条是官方原文，radical commitment to the outcome，ruthless commitment to truth-seeking。我翻译成中文念一遍：对结果做彻底的承诺，对追真相做无情的坚持。重点在彻底和无情——它把 FDE 和所有交付岗在责任性质上分开了。</a:t>
            </a:r>
          </a:p>
          <a:p>
            <a:endParaRPr lang="zh-CN"/>
          </a:p>
          <a:p>
            <a:r>
              <a:rPr lang="zh-CN" sz="1200" dirty="0"/>
              <a:t>右边是对外争议，我认为各位会被问到，所以放上来。有风投说这是头衔套利。回应是这样：大企业与政府的深度软件集成确实需要专属角色承担。右边第三行说明这不是 Palantir 独有——模型厂商、数据平台、企业 AI、云厂商都在建同类岗位。</a:t>
            </a:r>
          </a:p>
          <a:p>
            <a:endParaRPr lang="zh-CN"/>
          </a:p>
          <a:p>
            <a:r>
              <a:rPr lang="zh-CN" sz="1200" dirty="0"/>
              <a:t>底下这四种组织反模式出现即模式失效：驻场外包按人天结算、工单化所有事进队列、双头汇报要审批才能动代码、经验私有离场不回流。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从这一页开始讲工具。我想先说为什么工具这件事对 FDE 特别重要。</a:t>
            </a:r>
          </a:p>
          <a:p>
            <a:endParaRPr lang="zh-CN"/>
          </a:p>
          <a:p>
            <a:r>
              <a:rPr lang="zh-CN" sz="1200" dirty="0"/>
              <a:t>角色差异最终体现在交付物形态上，工具是形态的固化件。同样是访谈，顾问的工具产出纪要，FDE 的工具要能画出决策链——因为工具会逼着你用它的方式工作，你没办法用旧角色的方式偷懒。</a:t>
            </a:r>
          </a:p>
          <a:p>
            <a:endParaRPr lang="zh-CN"/>
          </a:p>
          <a:p>
            <a:r>
              <a:rPr lang="zh-CN" sz="1200" dirty="0"/>
              <a:t>工作台 A 是客户现场发现台。三个功能：对话记录用五问结构化落库，强制记原话；痛点量化，每条痛点绑定一个数字与损失口径；角色分层，决策者、执行者、反对者分别打标。这三个功能对应的是前面讲的三个死线动作。</a:t>
            </a:r>
          </a:p>
          <a:p>
            <a:endParaRPr lang="zh-CN"/>
          </a:p>
          <a:p>
            <a:r>
              <a:rPr lang="zh-CN" sz="1200" dirty="0"/>
              <a:t>工作台 B 是决策链画布。三个功能：反向追溯，从报表往回追到签字那一层；断点标注，标出谁看、做什么决定、传给谁；空白检测，追不到的环节就是组织真空——这个功能我特别有用，它能告诉你客户的问题根本不在数据层。</a:t>
            </a:r>
          </a:p>
          <a:p>
            <a:endParaRPr lang="zh-CN"/>
          </a:p>
          <a:p>
            <a:r>
              <a:rPr lang="zh-CN" sz="1200" dirty="0"/>
              <a:t>中间右边是三种角色做同一件事的产出物对比。顾问交纪要加报告，PM 交需求清单加优先级表，开发经理交排期表加上线计划，FDE 交决策链画布——是那件要修的事的坐标。</a:t>
            </a:r>
          </a:p>
          <a:p>
            <a:endParaRPr lang="zh-CN"/>
          </a:p>
          <a:p>
            <a:r>
              <a:rPr lang="zh-CN" sz="1200" dirty="0"/>
              <a:t>右边这三条是工具形态上的差异：强制留痕、就地连线、绑定数字。都是为了让旧做法在新工具里行不通。</a:t>
            </a:r>
          </a:p>
          <a:p>
            <a:endParaRPr lang="zh-CN"/>
          </a:p>
          <a:p>
            <a:r>
              <a:rPr lang="zh-CN" sz="1200" dirty="0"/>
              <a:t>底下三条使用纪律：当天填不过夜、原话存不用书面语改写、数字挂不上就进不了优先级。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这一页继续讲工作台，C 是装配台，D 是回流台，E 是验收台。</a:t>
            </a:r>
          </a:p>
          <a:p>
            <a:endParaRPr lang="zh-CN"/>
          </a:p>
          <a:p>
            <a:r>
              <a:rPr lang="zh-CN" sz="1200" dirty="0"/>
              <a:t>装配台 C 覆盖 Agent 和管道。工具白名单是勾选式授权、默认全关；出口策略逐条选写回目标、可设可撤回；管道骨架提供批次号、重试、对账三件套模板；切片工艺按语义边界切并标密级标签。这四项加起来能装出一个可运行的生产环境。</a:t>
            </a:r>
          </a:p>
          <a:p>
            <a:endParaRPr lang="zh-CN"/>
          </a:p>
          <a:p>
            <a:r>
              <a:rPr lang="zh-CN" sz="1200" dirty="0"/>
              <a:t>回流台 E 是四件事：可复用度矩阵，八领域逐项定档 A 到 D 当场判；抽象提案，A 档进平台迭代，D 档写进不抽象清单；坑位清单，哪里踩雷为什么下次怎么避；分支隔离，客户现场环境独立分支不污染主线。</a:t>
            </a:r>
          </a:p>
          <a:p>
            <a:endParaRPr lang="zh-CN"/>
          </a:p>
          <a:p>
            <a:r>
              <a:rPr lang="zh-CN" sz="1200" dirty="0"/>
              <a:t>验收台 D 上一页专门讲，这一页只列产出。</a:t>
            </a:r>
          </a:p>
          <a:p>
            <a:endParaRPr lang="zh-CN"/>
          </a:p>
          <a:p>
            <a:r>
              <a:rPr lang="zh-CN" sz="1200" dirty="0"/>
              <a:t>右边这四条我想请各位注意：防退化、防遗漏、防私有、防越界。这四个词概括了工具的四种作用。照着 PPT 交付很容易，靠台子逼你交活的东西；十二项检查不填完流程走不到下一步；回流提案不签字项目不许关闭；默认全关的白名单不勾选就没有权限。</a:t>
            </a:r>
          </a:p>
          <a:p>
            <a:endParaRPr lang="zh-CN"/>
          </a:p>
          <a:p>
            <a:r>
              <a:rPr lang="zh-CN" sz="1200" dirty="0"/>
              <a:t>下面这句话是我今天关于工具的总结：角色差异最终体现在交付物形态上，工具是形态的固化件。如果一个人的交付物退化了，通常不是他不想做好，是手上的工具允许他退化。</a:t>
            </a:r>
          </a:p>
          <a:p>
            <a:endParaRPr lang="zh-CN"/>
          </a:p>
          <a:p>
            <a:r>
              <a:rPr lang="zh-CN" sz="1200" dirty="0"/>
              <a:t>底下这四台工作台对应 Approach 的四个阶段。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验收台我单独讲一页，因为它是我认为最能改变交付质量的一台机器。</a:t>
            </a:r>
          </a:p>
          <a:p>
            <a:endParaRPr lang="zh-CN"/>
          </a:p>
          <a:p>
            <a:r>
              <a:rPr lang="zh-CN" sz="1200" dirty="0"/>
              <a:t>这台机器唯一的作用，是把上线了从形容词变成一组客户和 FDE 共同确认的数字。</a:t>
            </a:r>
          </a:p>
          <a:p>
            <a:endParaRPr lang="zh-CN"/>
          </a:p>
          <a:p>
            <a:r>
              <a:rPr lang="zh-CN" sz="1200" dirty="0"/>
              <a:t>上面四个可验证指标。使用量——日活用户数与名单，可截图可查询；写回量——结论回写进客户真实动作的条数；口径唯一——该指标在系统内只有一种算法；可恢复——客户自己能处理一次真实故障。</a:t>
            </a:r>
          </a:p>
          <a:p>
            <a:endParaRPr lang="zh-CN"/>
          </a:p>
          <a:p>
            <a:r>
              <a:rPr lang="zh-CN" sz="1200" dirty="0"/>
              <a:t>这四个我都要提醒一句：都必须是可查询的数字，不是感受。写回量这个指标我建议各位重点看，因为它最能识别假上线——如果结论从来没回到业务动作里，那这个系统本质上只是个查询工具，业务不会依赖它。</a:t>
            </a:r>
          </a:p>
          <a:p>
            <a:endParaRPr lang="zh-CN"/>
          </a:p>
          <a:p>
            <a:r>
              <a:rPr lang="zh-CN" sz="1200" dirty="0"/>
              <a:t>中间右边这一招我最推荐：随机抽一个真实用户，当面问他上周你用它做过哪个决定。</a:t>
            </a:r>
          </a:p>
          <a:p>
            <a:endParaRPr lang="zh-CN"/>
          </a:p>
          <a:p>
            <a:r>
              <a:rPr lang="zh-CN" sz="1200" dirty="0"/>
              <a:t>这一招能瞬间打掉所有自欺欺人的验收。我见过太多验收会，PPT 讲四十分钟，演示跑一遍，双方点头签字。会后去问一个用户，他说什么都没用过——因为签合同的是管理者，用系统的是作业员，这两个人在场上的表现完全不同。</a:t>
            </a:r>
          </a:p>
          <a:p>
            <a:endParaRPr lang="zh-CN"/>
          </a:p>
          <a:p>
            <a:r>
              <a:rPr lang="zh-CN" sz="1200" dirty="0"/>
              <a:t>答不上来的用户，说明这个系统是给验收会看的，不是给业务用的。</a:t>
            </a:r>
          </a:p>
          <a:p>
            <a:endParaRPr lang="zh-CN"/>
          </a:p>
          <a:p>
            <a:r>
              <a:rPr lang="zh-CN" sz="1200" dirty="0"/>
              <a:t>底下这个输出我强调一下：不是一份报告，是三份签收。检查表、用户抽查记录、移交清单。抽查记录也签，说明我真的做过抽查，不是走个形式。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职业路径这一页，我要先说清它不是晋升通道，是责任范围的重划。</a:t>
            </a:r>
          </a:p>
          <a:p>
            <a:endParaRPr lang="zh-CN"/>
          </a:p>
          <a:p>
            <a:r>
              <a:rPr lang="zh-CN" sz="1200" dirty="0"/>
              <a:t>上面三张卡是三个角色。Dev 在平台侧，把能力做成一项产品，看平台指标和采纳客户数，风险是平台很漂亮客户一个也不用。Delta 在现场侧，在客户环境写生产代码，看上线场景数和使用量，风险是技术正确运营无关。Echo 在策略侧，找到最值得修的那条路，看决策链命中和采纳率，风险是方向对但拿不出东西。</a:t>
            </a:r>
          </a:p>
          <a:p>
            <a:endParaRPr lang="zh-CN"/>
          </a:p>
          <a:p>
            <a:r>
              <a:rPr lang="zh-CN" sz="1200" dirty="0"/>
              <a:t>这三个角色的风险我各写了一句，因为每种角色都有它典型的死法。选哪条路，要看你能承受哪种失败。</a:t>
            </a:r>
          </a:p>
          <a:p>
            <a:endParaRPr lang="zh-CN"/>
          </a:p>
          <a:p>
            <a:r>
              <a:rPr lang="zh-CN" sz="1200" dirty="0"/>
              <a:t>中间左边三段能力重心我想讲得再细一点。第一到二年是在脏环境里把东西跑通，建立工程手感。这个阶段最难的不是技术，是忍受脏——乱码、网闸、老库、临时表。三到四年是把业务问题转成对象与口径，建立判断力。这一跳最陡，因为要学会问口径而不是问需求。四年以后是说服资深负责人改流程，建立影响力。</a:t>
            </a:r>
          </a:p>
          <a:p>
            <a:endParaRPr lang="zh-CN"/>
          </a:p>
          <a:p>
            <a:r>
              <a:rPr lang="zh-CN" sz="1200" dirty="0"/>
              <a:t>走完第三段，天花板就是资深工程师。这句话不客气但是真的。</a:t>
            </a:r>
          </a:p>
          <a:p>
            <a:endParaRPr lang="zh-CN"/>
          </a:p>
          <a:p>
            <a:r>
              <a:rPr lang="zh-CN" sz="1200" dirty="0"/>
              <a:t>右边这三行是从交付到对赌结果的变化：被追问的问题从进度如何变成上线了吗管用吗；被考核的指标从工时排期变成使用量采纳率；被约束的除了指标还有否决权，但也要为停手负责。</a:t>
            </a:r>
          </a:p>
          <a:p>
            <a:endParaRPr lang="zh-CN"/>
          </a:p>
          <a:p>
            <a:r>
              <a:rPr lang="zh-CN" sz="1200" dirty="0"/>
              <a:t>最后一句：权力变大了，责任也变大了，这才叫职业路径。只涨权力不涨责任，那叫升职不叫晋级。</a:t>
            </a:r>
          </a:p>
          <a:p>
            <a:endParaRPr lang="zh-CN"/>
          </a:p>
          <a:p>
            <a:r>
              <a:rPr lang="zh-CN" sz="1200" dirty="0"/>
              <a:t>底下这四家说明这不是一家公司的独创做法。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最后用一页讲结语。这一页我希望各位只带走一句话。</a:t>
            </a:r>
          </a:p>
          <a:p>
            <a:endParaRPr lang="zh-CN"/>
          </a:p>
          <a:p>
            <a:r>
              <a:rPr lang="zh-CN" sz="1200" dirty="0"/>
              <a:t>中间那块深色上写着：如果把这次项目的所有 PPT 全部删掉，客户生产环境里还剩下什么？</a:t>
            </a:r>
          </a:p>
          <a:p>
            <a:endParaRPr lang="zh-CN"/>
          </a:p>
          <a:p>
            <a:r>
              <a:rPr lang="zh-CN" sz="1200" dirty="0"/>
              <a:t>这个问题之所以有效，是因为它一次性区分了四种角色。顾问交付的是论述，删掉 PPT 什么都不剩；产品经理交付的是需求文档，删掉什么都能重写；开发经理交付的是排期表，删掉项目照样能排；FDE 交付的是活的对象定义、跑着的管道和 Agent、被统一的口径、被继承的密级、客户自己能维护的运维手册。删掉 PPT，这些东西还在。</a:t>
            </a:r>
          </a:p>
          <a:p>
            <a:endParaRPr lang="zh-CN"/>
          </a:p>
          <a:p>
            <a:r>
              <a:rPr lang="zh-CN" sz="1200" dirty="0"/>
              <a:t>上面六条是全册的骨架，我不复述，各位翻回去看。我只说一句：第六条是最容易记的——边界由交付物形态决定，不是由能力清单决定。能力可以学，形态改不了。</a:t>
            </a:r>
          </a:p>
          <a:p>
            <a:endParaRPr lang="zh-CN"/>
          </a:p>
          <a:p>
            <a:r>
              <a:rPr lang="zh-CN" sz="1200" dirty="0"/>
              <a:t>底下这三步是我建议明天就可以开始的：先追决策链，不谈方案；两周边跑通一个场景；十二项打勾，签完再走。</a:t>
            </a:r>
          </a:p>
          <a:p>
            <a:endParaRPr lang="zh-CN"/>
          </a:p>
          <a:p>
            <a:r>
              <a:rPr lang="zh-CN" sz="1200" dirty="0"/>
              <a:t>这三步不需要预算、不需要改组织、不需要招人。需要的只是把手上的客户当成一个真实现场，而不是一个交付对象。</a:t>
            </a:r>
          </a:p>
          <a:p>
            <a:endParaRPr lang="zh-CN"/>
          </a:p>
          <a:p>
            <a:r>
              <a:rPr lang="zh-CN" sz="1200" dirty="0"/>
              <a:t>这一册讲到这里。前面十一册讲的是每一层怎么做，这一册讲的是谁在建这栋楼的时候站在施工现场。谢谢各位。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6) 0%, rgba(250,79,36,0) 70%)' }} /&gt;&#10;&#10;  &lt;Box style={{ position: 'absolute', left: 88, top: 82, width: 1104 }}&gt;&#10;    &lt;Box style={{ flexDirection: 'row', alignItems: 'center', gap: 14 }}&gt;&#10;      &lt;Box style={{ width: 14, height: 14, background: '#FA4F24' }} /&gt;&#10;      &lt;Text style={{ fontSize: 15, color: 'rgba(255,255,255,0.5)', letterSpacing: 3 }}&gt;EA 企业架构咨询方法论 · 第十二册&lt;/Text&gt;&#10;    &lt;/Box&gt;&#10;    &lt;Text style={{ fontSize: 58, fontWeight: 'bold', color: '#FFFFFF', marginTop: 26, lineHeight: 1.15 }}&gt;&#10;      FDE&lt;span style={{ color: '#FA4F24' }}&gt;咨询方法论&lt;/span&gt;&#10;    &lt;/Text&gt;&#10;    &lt;Text style={{ fontSize: 19, color: 'rgba(255,255,255,0.72)', marginTop: 22, lineHeight: 1.6, width: 880 }}&gt;&#10;      前线部署工程师—— 不是职级，是一种交付模型：让懂业务的人带着代码进客户生产环境，把碎石路一条条走通&#10;    &lt;/Text&gt;&#10;    &lt;Box style={{ width: 72, height: 5, background: '#FA4F24', marginTop: 28 }} /&gt;&#10;&#10;    &lt;Box style={{ flexDirection: 'row', gap: 10, marginTop: 32 }}&gt;&#10;      {['60 页', '五个部分', '含 Approach 五阶段', '含 Dev / Delta / Echo 三角色', '含 FDE × 八大领域', '含工具与工作台'].map((t) =&gt; (&#10;        &lt;Box key={t} style={{ height: 32, borderRadius: 16, border: '1px solid rgba(255,255,255,0.22)', padding: '0 15px', flexDirection: 'row', alignItems: 'center' }}&gt;&#10;          &lt;Text style={{ fontSize: 13, color: 'rgba(255,255,255,0.78)' }}&gt;{t}&lt;/Text&gt;&#10;        &lt;/Box&gt;&#10;      ))}&#10;    &lt;/Box&gt;&#10;  &lt;/Box&gt;&#10;&#10;  &lt;Box style={{ position: 'absolute', left: 88, top: 574, flexDirection: 'row', gap: 26 }}&gt;&#10;    {[&#10;      { b: 'DA', t: '数据架构' },&#10;      { b: 'BA', t: '业务架构' },&#10;      { b: 'AA', t: '应用架构' },&#10;      { b: 'TA', t: '技术架构' },&#10;      { b: 'ONT', t: 'Ontology' },&#10;      { b: 'AGT', t: 'Agent' },&#10;      { b: 'KB', t: '知识库' },&#10;      { b: 'PIPE', t: '管道处理' },&#10;      { b: 'GOV', t: '数据治理' },&#10;      { b: 'MDM', t: '主数据' },&#10;      { b: 'KPI', t: '指标' },&#10;      { b: 'FDE', t: '前线部署', c: '#FA4F24' },&#10;    ].map((x, i) =&gt; (&#10;      &lt;Box key={x.b} style={{ opacity: i === 11 ? 1 : 0.4 }}&gt;&#10;        &lt;Text style={{ fontSize: 15, fontWeight: 'bold', color: x.c || '#FFFFFF' }}&gt;{x.b}&lt;/Text&gt;&#10;        &lt;Text style={{ fontSize: 11.5, color: 'rgba(255,255,255,0.7)', marginTop: 3 }}&gt;{x.t}&lt;/Text&gt;&#10;      &lt;/Box&gt;&#10;    ))}&#10;  &lt;/Box&gt;&#10;&#10;  &lt;Box style={{ position: 'absolute', right: 88, bottom: 46, flexDirection: 'row', alignItems: 'center', gap: 12 }}&gt;&#10;    &lt;Text style={{ fontSize: 14, color: 'rgba(255,255,255,0.5)' }}&gt;硕磐机密 · FDE咨询方法论&lt;/Text&gt;&#10;    &lt;Text style={{ fontSize: 14, color: 'rgba(255,255,255,0.5)', marginLeft: 12 }}&gt;01 / 6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8001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7810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第十二册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200150"/>
            <a:ext cx="105156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>FDE</a:t>
            </a:r>
            <a:r>
              <a:rPr lang="zh-CN" sz="435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181225"/>
            <a:ext cx="8382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前线部署工程师——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不是职级，是一种交付模型：让懂业务的人带着代码进客户生产环境，把碎石路一条条走通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31432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38200" y="3495675"/>
            <a:ext cx="6000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81075" y="3571875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60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533525" y="3495675"/>
            <a:ext cx="7810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676400" y="35718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五个部分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409825" y="3495675"/>
            <a:ext cx="14382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52700" y="3571875"/>
            <a:ext cx="115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五阶段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3943350" y="3495675"/>
            <a:ext cx="19335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086225" y="3571875"/>
            <a:ext cx="1647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Dev / Delta / Echo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三角色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972175" y="3495675"/>
            <a:ext cx="134302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115050" y="3571875"/>
            <a:ext cx="1057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FDE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八大领域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410450" y="3495675"/>
            <a:ext cx="115252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553325" y="35718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含工具与工作台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01000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FDE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001000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前线部署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8200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524000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524000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209800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209800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895600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895600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581400" y="54673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581400" y="5667375"/>
            <a:ext cx="49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324350" y="546735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324350" y="566737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895850" y="5467350"/>
            <a:ext cx="33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895850" y="566737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476875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PIPE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476875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162675" y="54673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GOV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162675" y="56673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48475" y="5467350"/>
            <a:ext cx="40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MDM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48475" y="56673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505700" y="546735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KPI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505700" y="566737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105900" y="62579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01 / 60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9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本册覆盖&lt;span style={{ color: '#FA4F24' }}&gt;五个部分&lt;/span&gt;，把 FDE 从「岗位介绍」讲到「可复制的手艺」&#10;        &lt;/Text&gt;&#10;        &lt;Text style={{ fontSize: 20, color: '#8A8F99', marginTop: 8 }}&gt;&#10;            角色本体论 → 现场三动作 → 场景实战 → 八大领域落法 → 组织与工具，每部分均含「方法 · 内容 · 模板」三段式&#10;        &lt;/Text&gt;&#10;    &lt;/Box&gt;&#10;    &lt;Box style={{ height: 1, background: '#E8E8E8' }} /&gt;&#10;&#10;    {/* B 区 */}&#10;    &lt;Box style={{ paddingTop: 24, paddingBottom: 12, height: 479, flexDirection: 'row', gap: 20 }}&gt;&#10;&#10;        {/* 左 60% 五条 */}&#10;        &lt;Box style={{ width: 700, flexDirection: 'column', gap: 12 }}&gt;&#10;            {[&#10;                { n: '01', t: '角色本体论', d: 'FDE 是什么、三种角色分工、2005 年起源与规模化机制', tag: 'P05–16' },&#10;                { n: '02', t: '现场三动作', d: 'Enter / Investigate / Execute，先建 Ontology 再上 AI', tag: 'P17–26' },&#10;                { n: '03', t: '场景实战', d: 'Bootcamp 五天节奏、三个真实现场、三类失败复盘', tag: 'P27–40' },&#10;                { n: '04', t: '× 八大领域', d: 'Ontology / Agent / 知识库 / 管道 / 治理 / 主数据 / 指标 / 4A', tag: 'P41–52' },&#10;                { n: '05', t: '组织与工具', d: '团队配比、组织治理、现场工作台、职业路径与结语', tag: 'P53–60' },&#10;            ].map((it, i) =&gt; (&#10;                &lt;Box key={i} style={{ flex: 1, flexDirection: 'row', alignItems: 'center', background: '#F7F7F8', borderRadius: 4, padding: '0 20px', gap: 16 }}&gt;&#10;                    &lt;Text style={{ fontSize: 28, fontWeight: 'bold', color: '#FA4F24', width: 48 }}&gt;{it.n}&lt;/Text&gt;&#10;                    &lt;Box style={{ width: 150 }}&gt;&#10;                        &lt;Text style={{ fontSize: 19, fontWeight: 'bold', color: '#0F1423' }}&gt;{it.t}&lt;/Text&gt;&#10;                    &lt;/Box&gt;&#10;                    &lt;Text style={{ fontSize: 14.5, color: '#3A4050', lineHeight: 1.4, flex: 1 }}&gt;{it.d}&lt;/Text&gt;&#10;                    &lt;Text style={{ fontSize: 13, color: '#C43A17', width: 70, textAlign: 'right' }}&gt;{it.tag}&lt;/Text&gt;&#10;                &lt;/Box&gt;&#10;            ))}&#10;        &lt;/Box&gt;&#10;&#10;        {/* 右 40% Approach + 收口 */}&#10;        &lt;Box style={{ flex: 1, flexDirection: 'column', gap: 12 }}&gt;&#10;            &lt;Box style={{ height: 84, background: '#FFF3EE', borderRadius: 4, borderLeft: '4px solid #FA4F24', padding: '12px 18px', flexDirection: 'column', justifyContent: 'center' }}&gt;&#10;                &lt;Text style={{ fontSize: 17, fontWeight: 'bold', color: '#0F1423' }}&gt;&#10;                    &lt;tspan style={{ color: '#FA4F24' }}&gt;P04&lt;/tspan&gt;　Approach：五阶段推进与产出物&#10;                &lt;/Text&gt;&#10;                &lt;Text style={{ fontSize: 13.5, color: '#3A4050', lineHeight: 1.45, marginTop: 6 }}&gt;&#10;                    进场 → 诊断 → 建模 → 构建 → 回流移交，每一步写明必须交出来的东西&#10;                &lt;/Text&gt;&#10;            &lt;/Box&gt;&#10;            {[&#10;                { t: '碎石路机制', d: '一个客户定制 → 抽象成平台能力 → 下 5–10 个客户不用现场支持也能用' },&#10;                { t: 'Echo 与 Delta 一对', d: '一个指路，一个修路；单独任一个都会产出错误的东西' },&#10;            ].map((x) =&gt; (&#10;                &lt;Box key={x.t} style={{ flex: 1, background: '#F7F7F8', borderRadius: 4, padding: '0 20px', flexDirection: 'column', justifyContent: 'center' }}&gt;&#10;                    &lt;Text style={{ fontSize: 17, fontWeight: 'bold', color: '#0F1423' }}&gt;{x.t}&lt;/Text&gt;&#10;                    &lt;Text style={{ fontSize: 14, color: '#3A4050', lineHeight: 1.5, marginTop: 8 }}&gt;{x.d}&lt;/Text&gt;&#10;                &lt;/Box&gt;&#10;            ))}&#10;            &lt;Box style={{ flex: 1, background: 'linear-gradient(160deg, #FA4F24 0%, #F87D2F 100%)', borderRadius: 4, padding: '18px 20px', flexDirection: 'column', justifyContent: 'center' }}&gt;&#10;                &lt;Text style={{ fontSize: 17, fontWeight: 'bold', color: '#FFFFFF' }}&gt;全册一条主线&lt;/Text&gt;&#10;                &lt;Text style={{ fontSize: 14.5, color: 'rgba(255,255,255,0.92)', lineHeight: 1.5, marginTop: 8 }}&gt;&#10;                    FDE 交付的不是关于系统的论述，是系统本身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FDE咨询方法论&lt;/Text&gt;&#10;        &lt;/Box&gt;&#10;        &lt;Text style={{ fontSize: 14, color: '#8A8F99' }}&gt;02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从「岗位介绍」讲到「可复制的手艺」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角色本体论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现场三动作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场景实战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八大领域落法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组织与工具，每部分均含「方法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609600" y="1381125"/>
            <a:ext cx="6667500" cy="809625"/>
          </a:xfrm>
          <a:prstGeom prst="roundRect">
            <a:avLst>
              <a:gd name="adj" fmla="val 47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00100" y="16287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1409700" y="1676400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角色本体论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2990850" y="1552575"/>
            <a:ext cx="32766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是什么、三种角色分工、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2005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年起源与规模化机制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419850" y="1714500"/>
            <a:ext cx="6667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P05–16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2305050"/>
            <a:ext cx="6667500" cy="809625"/>
          </a:xfrm>
          <a:prstGeom prst="roundRect">
            <a:avLst>
              <a:gd name="adj" fmla="val 47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800100" y="25527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409700" y="260032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现场三动作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2990850" y="2476500"/>
            <a:ext cx="32766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>Enter / Investigate / Execute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，先建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再上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6419850" y="2638425"/>
            <a:ext cx="6667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P17–26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3228975"/>
            <a:ext cx="66675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00100" y="340042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1409700" y="34575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场景实战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2990850" y="3448050"/>
            <a:ext cx="32766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五天节奏、三个真实现场、三类失败复盘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6419850" y="3486150"/>
            <a:ext cx="6667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P27–40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609600" y="4010025"/>
            <a:ext cx="6667500" cy="809625"/>
          </a:xfrm>
          <a:prstGeom prst="roundRect">
            <a:avLst>
              <a:gd name="adj" fmla="val 47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800100" y="42576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409700" y="4305300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×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八大领域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2990850" y="4181475"/>
            <a:ext cx="32766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Ontology / Agent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知识库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管道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治理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主数据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指标</a:t>
            </a:r>
            <a:r>
              <a:rPr lang="en-US" sz="108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4A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419850" y="4343400"/>
            <a:ext cx="6667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P41–52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09600" y="4933950"/>
            <a:ext cx="66675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00100" y="51054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409700" y="5162550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组织与工具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2990850" y="5153025"/>
            <a:ext cx="3276600" cy="2381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88">
                <a:solidFill>
                  <a:srgbClr val="3A4050"/>
                </a:solidFill>
                <a:latin typeface="Microsoft YaHei"/>
                <a:ea typeface="Microsoft YaHei"/>
              </a:rPr>
              <a:t>团队配比、组织治理、现场工作台、职业路径与结语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6419850" y="5191125"/>
            <a:ext cx="66675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P53–60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505700" y="1381125"/>
            <a:ext cx="4114800" cy="800100"/>
          </a:xfrm>
          <a:prstGeom prst="roundRect">
            <a:avLst>
              <a:gd name="adj" fmla="val 476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7505700" y="1381125"/>
            <a:ext cx="4114800" cy="800100"/>
          </a:xfrm>
          <a:custGeom>
            <a:pathLst>
              <a:path w="432" h="84">
                <a:moveTo>
                  <a:pt x="4" y="84"/>
                </a:moveTo>
                <a:cubicBezTo>
                  <a:pt x="2" y="84"/>
                  <a:pt x="0" y="82"/>
                  <a:pt x="0" y="8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677150" y="1428750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P04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　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Approach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：五阶段推进与产出物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677150" y="1685925"/>
            <a:ext cx="3733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进场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诊断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建模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构建</a:t>
            </a:r>
            <a:r>
              <a:rPr lang="en-US" sz="101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13">
                <a:solidFill>
                  <a:srgbClr val="3A4050"/>
                </a:solidFill>
                <a:latin typeface="Microsoft YaHei"/>
                <a:ea typeface="Microsoft YaHei"/>
              </a:rPr>
              <a:t>回流移交，每一步写明必须交出来的东西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7467600" y="2295525"/>
            <a:ext cx="4114800" cy="1066800"/>
          </a:xfrm>
          <a:prstGeom prst="roundRect">
            <a:avLst>
              <a:gd name="adj" fmla="val 357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658100" y="244792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碎石路机制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658100" y="2724150"/>
            <a:ext cx="3733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一个客户定制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抽象成平台能力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下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5–10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个客户不用现场支持也能用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7467600" y="3476625"/>
            <a:ext cx="4114800" cy="828675"/>
          </a:xfrm>
          <a:prstGeom prst="roundRect">
            <a:avLst>
              <a:gd name="adj" fmla="val 459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658100" y="362902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一对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658100" y="3905250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一个指路，一个修路；单独任一个都会产出错误的东西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7467600" y="4419600"/>
            <a:ext cx="4114800" cy="1181100"/>
          </a:xfrm>
          <a:prstGeom prst="roundRect">
            <a:avLst>
              <a:gd name="adj" fmla="val 3226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658100" y="4743450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658100" y="501967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088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交付的不是关于系统的论述，是系统本身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60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43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前十一册都假设「有一支能建平台的团队」——&lt;span style={{ color: '#FA4F24' }}&gt;这个假设刚刚失效&lt;/span&gt;&#10;        &lt;/Text&gt;&#10;        &lt;Text style={{ fontSize: 20, color: '#8A8F99', marginTop: 8 }}&gt;&#10;            AI 时代的交付难点从「设计得对不对」变成「能不能在客户那台跑起来」，这是 FDE 存在的全部理由&#10;        &lt;/Text&gt;&#10;    &lt;/Box&gt;&#10;    &lt;Box style={{ height: 1, background: '#E8E8E8' }} /&gt;&#10;&#10;    {/* B 区 */}&#10;    &lt;Box style={{ paddingTop: 22, paddingBottom: 14, height: 479, flexDirection: 'column', gap: 14 }}&gt;&#10;&#10;        {/* 上：三段失效 */}&#10;        &lt;Box style={{ height: 206, flexDirection: 'row', gap: 10 }}&gt;&#10;            {[&#10;                {&#10;                    n: '01', t: '客户现场的数据是碎的',&#10;                    d: '不是「缺一个模块」，是所有东西都要在客户环境重写一遍。表结构不统一、主键对不上、历史脏数据没人敢删。',&#10;                    k: '设计院图纸直接变成工程量',&#10;                },&#10;                {&#10;                    n: '02', t: '交付周期被压缩到天级',&#10;                    d: 'AIP Bootcamp 把 3–6 个月、多人参与的交付压到约 5 天，第 3 天交出可运行的 LLM 应用。',&#10;                    k: '压缩的代价是经验从人搬到了平台',&#10;                },&#10;                {&#10;                    n: '03', t: '现有两类人都不够用',&#10;                    d: '顾问会写蓝图不会写生产代码；开发经理会写代码但不敢进客户现场替他们做决策。',&#10;                    k: '两边各缺一半，谁都补不齐',&#10;                },&#10;            ].map((x) =&gt; (&#10;                &lt;Box key={x.n} style={{ flex: 1, background: '#F7F7F8', borderRadius: 4, padding: '16px 18px', flexDirection: 'column' }}&gt;&#10;                    &lt;Box style={{ flexDirection: 'row', alignItems: 'center', gap: 10 }}&gt;&#10;                        &lt;Text style={{ fontSize: 22, fontWeight: 'bold', color: '#FA4F24' }}&gt;{x.n}&lt;/Text&gt;&#10;                        &lt;Text style={{ fontSize: 15.5, fontWeight: 'bold', color: '#0F1423' }}&gt;{x.t}&lt;/Text&gt;&#10;                    &lt;/Box&gt;&#10;                    &lt;Text style={{ fontSize: 13, color: '#3A4050', lineHeight: 1.55, marginTop: 12, flex: 1 }}&gt;{x.d}&lt;/Text&gt;&#10;                    &lt;Box style={{ background: '#FFF3EE', borderRadius: 3, padding: '8px 10px', borderLeft: '3px solid #FBA15C' }}&gt;&#10;                        &lt;Text style={{ fontSize: 12, fontWeight: 'bold', color: '#C43A17', lineHeight: 1.4 }}&gt;{x.k}&lt;/Text&gt;&#10;                    &lt;/Box&gt;&#10;                &lt;/Box&gt;&#10;            ))}&#10;        &lt;/Box&gt;&#10;&#10;        {/* 中：FDE 的定义 */}&#10;        &lt;Box style={{ height: 132, background: '#0F1423', borderRadius: 4, padding: '16px 22px', flexDirection: 'row', gap: 24, alignItems: 'center' }}&gt;&#10;            &lt;Box style={{ width: 300, flexDirection: 'column' }}&gt;&#10;                &lt;Text style={{ fontSize: 13, color: '#FBA15C', letterSpacing: 2 }}&gt;FORWARD DEPLOYED ENGINEER&lt;/Text&gt;&#10;                &lt;Text style={{ fontSize: 24, fontWeight: 'bold', color: '#FFFFFF', marginTop: 8, lineHeight: 1.3 }}&gt;&#10;                    带着&lt;span style={{ color: '#FA4F24' }}&gt;现有产品&lt;/span&gt;和&lt;span style={{ color: '#FA4F24' }}&gt;生产代码&lt;/span&gt;进现场的人&#10;                &lt;/Text&gt;&#10;            &lt;/Box&gt;&#10;            &lt;Box style={{ width: 1, height: 92, background: 'rgba(255,255,255,0.18)' }} /&gt;&#10;            &lt;Box style={{ flex: 1, flexDirection: 'column', gap: 8 }}&gt;&#10;                {[&#10;                    { k: '不是', v: '一个职级 —— 它衡量的是客户现场生产环境的改变程度，不是工时' },&#10;                    { k: '而是', v: '一种交付模型 —— 前十一年册讲的都是方法，这一册讲的是谁把这些方法送进现场' },&#10;                    { k: '关键', v: '个人知识必须回流成平台能力，否则 FDE 团队就是一个规模化不可解的咨询公司' },&#10;                ].map((x) =&gt; (&#10;                    &lt;Box key={x.k} style={{ flexDirection: 'row', gap: 10, alignItems: 'flex-start' }}&gt;&#10;                        &lt;Text style={{ fontSize: 12.5, fontWeight: 'bold', color: '#FBA15C', width: 32 }}&gt;{x.k}&lt;/Text&gt;&#10;                        &lt;Text style={{ fontSize: 13, color: 'rgba(255,255,255,0.88)', lineHeight: 1.5, flex: 1 }}&gt;{x.v}&lt;/Text&gt;&#10;                    &lt;/Box&gt;&#10;                ))}&#10;            &lt;/Box&gt;&#10;        &lt;/Box&gt;&#10;&#10;        {/* 下：铺开一行 */}&#10;        &lt;Box style={{ flex: 1, flexDirection: 'row', gap: 10, alignItems: 'stretch' }}&gt;&#10;            {[&#10;                { t: '起源不是 AI 时代', d: '2005 年卖 Gotham 给情报机构时就已成型，比这个词被行业广泛使用早二十年' },&#10;                { t: '核心机制是碎石路', d: '先为一个客户修一条碎石路，总部把它抽象成铺好的高速公路' },&#10;                { t: '今天全行业都在复制', d: 'Anthropic、OpenAI、Databricks、Cohere、Google 在 2024–2026 全面替换原有售前编制' },&#10;            ].map((x, i) =&gt; (&#10;                &lt;Box key={x.t} style={{ flex: 1, background: i === 1 ? '#FFF3EE' : '#F7F7F8', borderRadius: 4, borderLeft: '3px solid ' + (i === 1 ? '#FA4F24' : '#E8E8E8'), padding: '12px 15px', flexDirection: 'column', justifyContent: 'center' }}&gt;&#10;                    &lt;Text style={{ fontSize: 14.5, fontWeight: 'bold', color: '#0F1423' }}&gt;{x.t}&lt;/Text&gt;&#10;                    &lt;Text style={{ fontSize: 12.5, color: '#3A4050', lineHeight: 1.5, marginTop: 6 }}&gt;{x.d}&lt;/Text&gt;&#10;                &lt;/Box&gt;&#10;            ))}&#10;        &lt;/Box&gt;&#10;    &lt;/Box&gt;&#10;&#10;    {/* C 区 */}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03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前十一册都假设「有一支能建平台的团队」——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这个假设刚刚失效</a:t>
            </a:r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时代的交付难点从「设计得对不对」变成「能不能在客户那台跑起来」，这是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存在的全部理由</a:t>
            </a:r>
            <a:endParaRPr/>
          </a:p>
        </p:txBody>
      </p:sp>
      <p:sp>
        <p:nvSpPr>
          <p:cNvPr id="143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37" name=""/>
          <p:cNvSpPr/>
          <p:nvPr/>
        </p:nvSpPr>
        <p:spPr>
          <a:xfrm rot="0" flipH="0" flipV="0">
            <a:off x="609600" y="1362075"/>
            <a:ext cx="3590925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781050" y="15144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39" name="" descr="{&quot;isTemplate&quot;:true,&quot;type&quot;:&quot;text&quot;}"/>
          <p:cNvSpPr txBox="1"/>
          <p:nvPr/>
        </p:nvSpPr>
        <p:spPr>
          <a:xfrm rot="0" flipH="0" flipV="0">
            <a:off x="1143000" y="1552575"/>
            <a:ext cx="14763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客户现场的数据是碎的</a:t>
            </a:r>
            <a:endParaRPr/>
          </a:p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32480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不是「缺一个模块」，是所有东西都要在客户环境重写一遍。表结构不统一、主键对不上、历史脏数据没人敢删。</a:t>
            </a:r>
            <a:endParaRPr/>
          </a:p>
        </p:txBody>
      </p:sp>
      <p:sp>
        <p:nvSpPr>
          <p:cNvPr id="1441" name=""/>
          <p:cNvSpPr/>
          <p:nvPr/>
        </p:nvSpPr>
        <p:spPr>
          <a:xfrm rot="0" flipH="0" flipV="0">
            <a:off x="809625" y="2819400"/>
            <a:ext cx="3248025" cy="352425"/>
          </a:xfrm>
          <a:prstGeom prst="roundRect">
            <a:avLst>
              <a:gd name="adj" fmla="val 810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2" name=""/>
          <p:cNvSpPr/>
          <p:nvPr/>
        </p:nvSpPr>
        <p:spPr>
          <a:xfrm rot="0" flipH="0" flipV="0">
            <a:off x="809625" y="2819400"/>
            <a:ext cx="3248025" cy="352425"/>
          </a:xfrm>
          <a:custGeom>
            <a:pathLst>
              <a:path w="341" h="37">
                <a:moveTo>
                  <a:pt x="3" y="37"/>
                </a:moveTo>
                <a:cubicBezTo>
                  <a:pt x="1" y="37"/>
                  <a:pt x="0" y="36"/>
                  <a:pt x="0" y="3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904875" y="2895600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设计院图纸直接变成工程量</a:t>
            </a:r>
            <a:endParaRPr/>
          </a:p>
        </p:txBody>
      </p:sp>
      <p:sp>
        <p:nvSpPr>
          <p:cNvPr id="1444" name=""/>
          <p:cNvSpPr/>
          <p:nvPr/>
        </p:nvSpPr>
        <p:spPr>
          <a:xfrm rot="0" flipH="0" flipV="0">
            <a:off x="4295775" y="1362075"/>
            <a:ext cx="3600450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5" name="" descr="{&quot;isTemplate&quot;:true,&quot;type&quot;:&quot;text&quot;}"/>
          <p:cNvSpPr txBox="1"/>
          <p:nvPr/>
        </p:nvSpPr>
        <p:spPr>
          <a:xfrm rot="0" flipH="0" flipV="0">
            <a:off x="4467225" y="15144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4829175" y="1552575"/>
            <a:ext cx="14763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交付周期被压缩到天级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4467225" y="1885950"/>
            <a:ext cx="32575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AIP Bootcamp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3–6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个月、多人参与的交付压到约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天，第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天交出可运行的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应用。</a:t>
            </a:r>
            <a:endParaRPr/>
          </a:p>
        </p:txBody>
      </p:sp>
      <p:sp>
        <p:nvSpPr>
          <p:cNvPr id="1448" name=""/>
          <p:cNvSpPr/>
          <p:nvPr/>
        </p:nvSpPr>
        <p:spPr>
          <a:xfrm rot="0" flipH="0" flipV="0">
            <a:off x="4495800" y="2819400"/>
            <a:ext cx="3257550" cy="352425"/>
          </a:xfrm>
          <a:prstGeom prst="roundRect">
            <a:avLst>
              <a:gd name="adj" fmla="val 810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9" name=""/>
          <p:cNvSpPr/>
          <p:nvPr/>
        </p:nvSpPr>
        <p:spPr>
          <a:xfrm rot="0" flipH="0" flipV="0">
            <a:off x="4495800" y="2819400"/>
            <a:ext cx="3257550" cy="352425"/>
          </a:xfrm>
          <a:custGeom>
            <a:pathLst>
              <a:path w="342" h="37">
                <a:moveTo>
                  <a:pt x="3" y="37"/>
                </a:moveTo>
                <a:cubicBezTo>
                  <a:pt x="1" y="37"/>
                  <a:pt x="0" y="36"/>
                  <a:pt x="0" y="3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4591050" y="2895600"/>
            <a:ext cx="30384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压缩的代价是经验从人搬到了平台</a:t>
            </a:r>
            <a:endParaRPr/>
          </a:p>
        </p:txBody>
      </p:sp>
      <p:sp>
        <p:nvSpPr>
          <p:cNvPr id="1451" name=""/>
          <p:cNvSpPr/>
          <p:nvPr/>
        </p:nvSpPr>
        <p:spPr>
          <a:xfrm rot="0" flipH="0" flipV="0">
            <a:off x="7991475" y="1362075"/>
            <a:ext cx="3590925" cy="1962150"/>
          </a:xfrm>
          <a:prstGeom prst="roundRect">
            <a:avLst>
              <a:gd name="adj" fmla="val 194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8162925" y="15144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8524875" y="1552575"/>
            <a:ext cx="1333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现有两类人都不够用</a:t>
            </a:r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8162925" y="1885950"/>
            <a:ext cx="32480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顾问会写蓝图不会写生产代码；开发经理会写代码但不敢进客户现场替他们做决策。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8191500" y="2819400"/>
            <a:ext cx="3248025" cy="352425"/>
          </a:xfrm>
          <a:prstGeom prst="roundRect">
            <a:avLst>
              <a:gd name="adj" fmla="val 810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56" name=""/>
          <p:cNvSpPr/>
          <p:nvPr/>
        </p:nvSpPr>
        <p:spPr>
          <a:xfrm rot="0" flipH="0" flipV="0">
            <a:off x="8191500" y="2819400"/>
            <a:ext cx="3248025" cy="352425"/>
          </a:xfrm>
          <a:custGeom>
            <a:pathLst>
              <a:path w="341" h="37">
                <a:moveTo>
                  <a:pt x="3" y="37"/>
                </a:moveTo>
                <a:cubicBezTo>
                  <a:pt x="1" y="37"/>
                  <a:pt x="0" y="36"/>
                  <a:pt x="0" y="3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8286750" y="2895600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两边各缺一半，谁都补不齐</a:t>
            </a:r>
            <a:endParaRPr/>
          </a:p>
        </p:txBody>
      </p:sp>
      <p:sp>
        <p:nvSpPr>
          <p:cNvPr id="1458" name=""/>
          <p:cNvSpPr/>
          <p:nvPr/>
        </p:nvSpPr>
        <p:spPr>
          <a:xfrm rot="0" flipH="0" flipV="0">
            <a:off x="609600" y="3457575"/>
            <a:ext cx="10972800" cy="1257300"/>
          </a:xfrm>
          <a:prstGeom prst="roundRect">
            <a:avLst>
              <a:gd name="adj" fmla="val 303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819150" y="36195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BA15C"/>
                </a:solidFill>
                <a:latin typeface="Microsoft YaHei"/>
                <a:ea typeface="Microsoft YaHei"/>
              </a:rPr>
              <a:t>FORWARD DEPLOYED ENGINEER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819150" y="3848100"/>
            <a:ext cx="2857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带着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现有产品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和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生产代码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进现场的人</a:t>
            </a:r>
            <a:endParaRPr/>
          </a:p>
        </p:txBody>
      </p:sp>
      <p:sp>
        <p:nvSpPr>
          <p:cNvPr id="1461" name=""/>
          <p:cNvSpPr/>
          <p:nvPr/>
        </p:nvSpPr>
        <p:spPr>
          <a:xfrm rot="0" flipH="0" flipV="0">
            <a:off x="3905250" y="3648075"/>
            <a:ext cx="9525" cy="8763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462" name="" descr="{&quot;isTemplate&quot;:true,&quot;type&quot;:&quot;text&quot;}"/>
          <p:cNvSpPr txBox="1"/>
          <p:nvPr/>
        </p:nvSpPr>
        <p:spPr>
          <a:xfrm rot="0" flipH="0" flipV="0">
            <a:off x="4143375" y="3667125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不是</a:t>
            </a:r>
            <a:endParaRPr/>
          </a:p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4543425" y="3667125"/>
            <a:ext cx="68294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一个职级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它衡量的是客户现场生产环境的改变程度，不是工时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4143375" y="3971925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而是</a:t>
            </a:r>
            <a:endParaRPr/>
          </a:p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4543425" y="3971925"/>
            <a:ext cx="68294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一种交付模型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前十一年册讲的都是方法，这一册讲的是谁把这些方法送进现场</a:t>
            </a:r>
            <a:endParaRPr/>
          </a:p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4143375" y="4276725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关键</a:t>
            </a:r>
            <a:endParaRPr/>
          </a:p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4543425" y="4276725"/>
            <a:ext cx="68294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个人知识必须回流成平台能力，否则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团队就是一个规模化不可解的咨询公司</a:t>
            </a:r>
            <a:endParaRPr/>
          </a:p>
        </p:txBody>
      </p:sp>
      <p:sp>
        <p:nvSpPr>
          <p:cNvPr id="1468" name=""/>
          <p:cNvSpPr/>
          <p:nvPr/>
        </p:nvSpPr>
        <p:spPr>
          <a:xfrm rot="0" flipH="0" flipV="0">
            <a:off x="638175" y="4848225"/>
            <a:ext cx="3590925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69" name=""/>
          <p:cNvSpPr/>
          <p:nvPr/>
        </p:nvSpPr>
        <p:spPr>
          <a:xfrm rot="0" flipH="0" flipV="0">
            <a:off x="638175" y="4848225"/>
            <a:ext cx="3590925" cy="885825"/>
          </a:xfrm>
          <a:custGeom>
            <a:pathLst>
              <a:path w="377" h="9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92"/>
                </a:lnTo>
                <a:cubicBezTo>
                  <a:pt x="3" y="92"/>
                  <a:pt x="3" y="93"/>
                  <a:pt x="4" y="93"/>
                </a:cubicBez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781050" y="496252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起源不是</a:t>
            </a:r>
            <a:r>
              <a:rPr lang="en-US" sz="10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时代</a:t>
            </a:r>
            <a:endParaRPr/>
          </a:p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781050" y="5191125"/>
            <a:ext cx="32766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2005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年卖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Gotham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给情报机构时就已成型，比这个词被行业广泛使用早二十年</a:t>
            </a:r>
            <a:endParaRPr/>
          </a:p>
        </p:txBody>
      </p:sp>
      <p:sp>
        <p:nvSpPr>
          <p:cNvPr id="1472" name=""/>
          <p:cNvSpPr/>
          <p:nvPr/>
        </p:nvSpPr>
        <p:spPr>
          <a:xfrm rot="0" flipH="0" flipV="0">
            <a:off x="4324350" y="4848225"/>
            <a:ext cx="3600450" cy="885825"/>
          </a:xfrm>
          <a:prstGeom prst="roundRect">
            <a:avLst>
              <a:gd name="adj" fmla="val 430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73" name=""/>
          <p:cNvSpPr/>
          <p:nvPr/>
        </p:nvSpPr>
        <p:spPr>
          <a:xfrm rot="0" flipH="0" flipV="0">
            <a:off x="4324350" y="4848225"/>
            <a:ext cx="3600450" cy="885825"/>
          </a:xfrm>
          <a:custGeom>
            <a:pathLst>
              <a:path w="378" h="9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92"/>
                </a:lnTo>
                <a:cubicBezTo>
                  <a:pt x="3" y="92"/>
                  <a:pt x="3" y="93"/>
                  <a:pt x="4" y="93"/>
                </a:cubicBez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4467225" y="506730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核心机制是碎石路</a:t>
            </a:r>
            <a:endParaRPr/>
          </a:p>
        </p:txBody>
      </p:sp>
      <p:sp>
        <p:nvSpPr>
          <p:cNvPr id="1475" name="" descr="{&quot;isTemplate&quot;:true,&quot;type&quot;:&quot;text&quot;}"/>
          <p:cNvSpPr txBox="1"/>
          <p:nvPr/>
        </p:nvSpPr>
        <p:spPr>
          <a:xfrm rot="0" flipH="0" flipV="0">
            <a:off x="4467225" y="52959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先为一个客户修一条碎石路，总部把它抽象成铺好的高速公路</a:t>
            </a:r>
            <a:endParaRPr/>
          </a:p>
        </p:txBody>
      </p:sp>
      <p:sp>
        <p:nvSpPr>
          <p:cNvPr id="1476" name=""/>
          <p:cNvSpPr/>
          <p:nvPr/>
        </p:nvSpPr>
        <p:spPr>
          <a:xfrm rot="0" flipH="0" flipV="0">
            <a:off x="8020050" y="4848225"/>
            <a:ext cx="3590925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77" name=""/>
          <p:cNvSpPr/>
          <p:nvPr/>
        </p:nvSpPr>
        <p:spPr>
          <a:xfrm rot="0" flipH="0" flipV="0">
            <a:off x="8020050" y="4848225"/>
            <a:ext cx="3590925" cy="885825"/>
          </a:xfrm>
          <a:custGeom>
            <a:pathLst>
              <a:path w="377" h="93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92"/>
                </a:lnTo>
                <a:cubicBezTo>
                  <a:pt x="3" y="92"/>
                  <a:pt x="3" y="93"/>
                  <a:pt x="4" y="93"/>
                </a:cubicBez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8162925" y="496252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今天全行业都在复制</a:t>
            </a:r>
            <a:endParaRPr/>
          </a:p>
        </p:txBody>
      </p:sp>
      <p:sp>
        <p:nvSpPr>
          <p:cNvPr id="1479" name="" descr="{&quot;isTemplate&quot;:true,&quot;type&quot;:&quot;text&quot;}"/>
          <p:cNvSpPr txBox="1"/>
          <p:nvPr/>
        </p:nvSpPr>
        <p:spPr>
          <a:xfrm rot="0" flipH="0" flipV="0">
            <a:off x="8162925" y="5191125"/>
            <a:ext cx="32766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Anthropic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OpenAI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Databricks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Cohere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Google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2024–2026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全面替换原有售前编制</a:t>
            </a:r>
            <a:endParaRPr/>
          </a:p>
        </p:txBody>
      </p:sp>
      <p:sp>
        <p:nvSpPr>
          <p:cNvPr id="148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1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60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169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Approach：五阶段推进顺序与&lt;span style={{ color: '#FA4F24' }}&gt;每一步的产出物&lt;/span&gt;&#10;        &lt;/Text&gt;&#10;        &lt;Text style={{ fontSize: 20, color: '#8A8F99', marginTop: 8 }}&gt;&#10;            箭头就是施工顺序，不能颠倒也不能跳步——每个方框里写的是这一步必须交出来的东西，交不出来就是空转&#10;        &lt;/Text&gt;&#10;    &lt;/Box&gt;&#10;    &lt;Box style={{ height: 1, background: '#E8E8E8' }} /&gt;&#10;&#10;    {/* B 区 */}&#10;    &lt;Box style={{ paddingTop: 10, paddingBottom: 6, height: 479, flexDirection: 'column', gap: 8 }}&gt;&#10;&#10;        {/* 顶部阶段箭头带 */}&#10;        &lt;Box style={{ height: 38, flexDirection: 'row', gap: 3 }}&gt;&#10;            &lt;Box style={{ width: 66, background: '#5A6070', borderRadius: 3, alignItems: 'center', justifyContent: 'center' }}&gt;&#10;                &lt;Text style={{ fontSize: 14, fontWeight: 'bold', color: '#FFFFFF' }}&gt;启动&lt;/Text&gt;&#10;            &lt;/Box&gt;&#10;            {[&#10;                { n: '第一阶段', t: 'Enter 进场', c: '#FA4F24' },&#10;                { n: '第二阶段', t: 'Investigate 诊断', c: '#E0641E' },&#10;                { n: '第三阶段', t: 'Model 建模', c: '#D2531A' },&#10;                { n: '第四阶段', t: 'Build 构建', c: '#C43A17' },&#10;                { n: '第五阶段', t: 'Hand over 回流移交', c: '#9E3410' },&#10;            ].map((x) =&gt; (&#10;                &lt;Box key={x.n} style={{ flex: 1, background: x.c, borderRadius: 3, flexDirection: 'row', alignItems: 'center', justifyContent: 'center', gap: 8 }}&gt;&#10;                    &lt;Text style={{ fontSize: 13, fontWeight: 'bold', color: '#FFFFFF' }}&gt;{x.n}&lt;/Text&gt;&#10;                    &lt;Box style={{ width: 1, height: 14, background: 'rgba(255,255,255,0.45)' }} /&gt;&#10;                    &lt;Text style={{ fontSize: 12.5, color: 'rgba(255,255,255,0.94)' }}&gt;{x.t}&lt;/Text&gt;&#10;                &lt;/Box&gt;&#10;            ))}&#10;        &lt;/Box&gt;&#10;&#10;        {/* 任务区 */}&#10;        &lt;Box style={{ flex: 1, flexDirection: 'row', gap: 8 }}&gt;&#10;&#10;            {/* 左侧竖条 */}&#10;            &lt;Box style={{ width: 54, background: '#0F1423', borderRadius: 3, alignItems: 'center', justifyContent: 'center', padding: '8px 0' }}&gt;&#10;                {['项目', '实施', '任务', '分解'].map((t) =&gt; (&#10;                    &lt;Text key={t} style={{ fontSize: 14, fontWeight: 'bold', color: '#FFFFFF', marginTop: 4 }}&gt;{t}&lt;/Text&gt;&#10;                ))}&#10;            &lt;/Box&gt;&#10;&#10;            {/* 五行任务链 */}&#10;            &lt;Box style={{ flex: 1, flexDirection: 'column' }}&gt;&#10;                {[&#10;                    {&#10;                        n: '①', c: '#FA4F24',&#10;                        items: [&#10;                            { t: '配对组建', o: 'Echo + Delta 组队分工契约' },&#10;                            { t: '现场准入', o: '客户现场准入清单 · 安全与合规口径' },&#10;                            { t: '数据环境摸底', o: '数据环境画像 · 可用源与阻塞项台账' },&#10;                            { t: '痛点初筛', o: '现场问题清单 · 优先级初排' },&#10;                        ],&#10;                    },&#10;                    {&#10;                        n: '②', c: '#E0641E',&#10;                        items: [&#10;                            { t: '决策链梳理', o: '决策链路图 · 谁在什么会上做什么决定' },&#10;                            { t: '真实流程还原', o: '现场流程还原图 · 与制度文档的差异表' },&#10;                            { t: '痛点量化', o: '痛点优先级矩阵 · 耗时与错误成本' },&#10;                            { t: '场景定选', o: '首场景立项书 · 验收标准前置约定' },&#10;                        ],&#10;                    },&#10;                    {&#10;                        n: '③', c: '#D2531A',&#10;                        items: [&#10;                            { t: '对象与链接建模', o: '对象类型 / 链接类型 / 动作类型清单' },&#10;                            { t: '解析与写回策略', o: '主数据解析规则 · 可逆元数据设计' },&#10;                            { t: '最小可行治理', o: '密级标记目录 · 对象与属性级策略矩阵' },&#10;                            { t: '指标口径裁定', o: '口径注册表 · 五元组与唯一裁定记录' },&#10;                        ],&#10;                    },&#10;                    {&#10;                        n: '④', c: '#C43A17',&#10;                        items: [&#10;                            { t: '管道与切片', o: '幂等管道骨架 · 切片工艺与密级继承' },&#10;                            { t: 'Agent 装配', o: '工具白名单 · 出口策略 · 记忆边界 · 遥测' },&#10;                            { t: '生产环境跑通', o: '可运行的生产环境 · 并发与性能基线' },&#10;                            { t: '场景验收', o: '上线验收记录（12 项逐项打勾）' },&#10;                        ],&#10;                    },&#10;                    {&#10;                        n: '⑤', c: '#9E3410',&#10;                        items: [&#10;                            { t: '平台抽象', o: '平台抽象提案 · 通用 / 独有切分结论' },&#10;                            { t: '知识转移', o: '三层移交：操作手册 / 陪跑 / 自主' },&#10;                            { t: '运营移交', o: '运营手册 · 责任矩阵 · 问题闭环机制' },&#10;                            { t: '复盘与回流', o: '现场复盘报告 · 产品与平台反馈清单' },&#10;                        ],&#10;                    },&#10;                ].map((row, ri) =&gt; (&#10;                    &lt;Box key={row.n} style={{ flex: 1, flexDirection: 'column' }}&gt;&#10;                        &lt;Box style={{ flex: 1, flexDirection: 'row', alignItems: 'stretch', gap: 4 }}&gt;&#10;                            &lt;Box style={{ width: 22, background: row.c, borderRadius: 3, alignItems: 'center', justifyContent: 'center' }}&gt;&#10;                                &lt;Text style={{ fontSize: 12.5, fontWeight: 'bold', color: '#FFFFFF' }}&gt;{row.n}&lt;/Text&gt;&#10;                            &lt;/Box&gt;&#10;                            {row.items.map((x, i) =&gt; (&#10;                                &lt;Box key={x.t} style={{ flex: 1, flexDirection: 'row', alignItems: 'stretch', gap: 3 }}&gt;&#10;                                    &lt;Box style={{ flex: 1, background: '#FFF3EE', borderRadius: 3, border: '1px solid ' + row.c, padding: '5px 8px', flexDirection: 'column', justifyContent: 'center' }}&gt;&#10;                                        &lt;Text style={{ fontSize: 11, fontWeight: 'bold', color: '#0F1423' }}&gt;{x.t}&lt;/Text&gt;&#10;                                        &lt;Text style={{ fontSize: 9, color: '#C43A17', marginTop: 3, lineHeight: 1.3 }}&gt;产出：{x.o}&lt;/Text&gt;&#10;                                    &lt;/Box&gt;&#10;                                    {i &lt; row.items.length - 1 &amp;&amp; (&#10;                                        &lt;Box style={{ width: 12, alignItems: 'center', justifyContent: 'center' }}&gt;&#10;                                            &lt;Text style={{ fontSize: 13, fontWeight: 'bold', color: row.c }}&gt;→&lt;/Text&gt;&#10;                                        &lt;/Box&gt;&#10;                                    )}&#10;                                &lt;/Box&gt;&#10;                            ))}&#10;                        &lt;/Box&gt;&#10;                        {ri &lt; 4 &amp;&amp; (&#10;                            &lt;Box style={{ height: 11, flexDirection: 'row', alignItems: 'center', justifyContent: 'center' }}&gt;&#10;                                &lt;Box style={{ width: 1, height: 11, background: '#FBA15C' }} /&gt;&#10;                                &lt;Text style={{ fontSize: 11, fontWeight: 'bold', color: '#FA4F24', marginLeft: 2 }}&gt;↓&lt;/Text&gt;&#10;                            &lt;/Box&gt;&#10;                        )}&#10;                    &lt;/Box&gt;&#10;                ))}&#10;            &lt;/Box&gt;&#10;        &lt;/Box&gt;&#10;&#10;        {/* 底部贯穿条 */}&#10;        &lt;Box style={{ flexDirection: 'row', gap: 8, height: 28 }}&gt;&#10;            &lt;Box style={{ flex: 1, background: '#0F1423', borderRadius: 3, padding: '0 12px', flexDirection: 'row', alignItems: 'center' }}&gt;&#10;                &lt;Text style={{ fontSize: 12, fontWeight: 'bold', color: '#FBA15C', width: 80 }}&gt;顺序铁律&lt;/Text&gt;&#10;                &lt;Text style={{ fontSize: 10.5, color: 'rgba(255,255,255,0.9)', flex: 1 }}&gt;先诊断再建模，先建 Ontology 再上 AI，先跑生产再谈移交&lt;/Text&gt;&#10;            &lt;/Box&gt;&#10;            &lt;Box style={{ flex: 1, background: '#F7F7F8', borderRadius: 3, borderLeft: '4px solid #FA4F24', padding: '0 12px', flexDirection: 'row', alignItems: 'center' }}&gt;&#10;                &lt;Text style={{ fontSize: 12, fontWeight: 'bold', color: '#0F1423', width: 80 }}&gt;碎石路机制&lt;/Text&gt;&#10;                &lt;Text style={{ fontSize: 10.5, color: '#5A6070', flex: 1 }}&gt;贯穿全程：每一步都要问「这部分能不能被下一个客户复用」，能就抽象进平台&lt;/Text&gt;&#10;            &lt;/Box&gt;&#10;            &lt;Box style={{ flex: 1, background: '#F7F7F8', borderRadius: 3, borderLeft: '4px solid #F87D2F', padding: '0 12px', flexDirection: 'row', alignItems: 'center' }}&gt;&#10;                &lt;Text style={{ fontSize: 12, fontWeight: 'bold', color: '#0F1423', width: 80 }}&gt;知识转移&lt;/Text&gt;&#10;                &lt;Text style={{ fontSize: 10.5, color: '#5A6070', flex: 1 }}&gt;贯穿全程：Echo 管业务采纳，Delta 管系统运维，不做这两层的移交等于没交付&lt;/Text&gt;&#10;            &lt;/Box&gt;&#10;        &lt;/Box&gt;&#10;    &lt;/Box&gt;&#10;&#10;    {/* C 区 */}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04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Approach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：五阶段推进顺序与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每一步的产出物</a:t>
            </a:r>
            <a:endParaRPr/>
          </a:p>
        </p:txBody>
      </p:sp>
      <p:sp>
        <p:nvSpPr>
          <p:cNvPr id="217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箭头就是施工顺序，不能颠倒也不能跳步——每个方框里写的是这一步必须交出来的东西，交不出来就是空转</a:t>
            </a:r>
            <a:endParaRPr/>
          </a:p>
        </p:txBody>
      </p:sp>
      <p:sp>
        <p:nvSpPr>
          <p:cNvPr id="217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74" name=""/>
          <p:cNvSpPr/>
          <p:nvPr/>
        </p:nvSpPr>
        <p:spPr>
          <a:xfrm rot="0" flipH="0" flipV="0">
            <a:off x="609600" y="1247775"/>
            <a:ext cx="628650" cy="361950"/>
          </a:xfrm>
          <a:prstGeom prst="roundRect">
            <a:avLst>
              <a:gd name="adj" fmla="val 7895"/>
            </a:avLst>
          </a:prstGeom>
          <a:solidFill>
            <a:srgbClr val="5A6070"/>
          </a:solidFill>
          <a:ln/>
        </p:spPr>
        <p:txBody>
          <a:bodyPr/>
          <a:p/>
        </p:txBody>
      </p:sp>
      <p:sp>
        <p:nvSpPr>
          <p:cNvPr id="2175" name="" descr="{&quot;isTemplate&quot;:true,&quot;type&quot;:&quot;text&quot;}"/>
          <p:cNvSpPr txBox="1"/>
          <p:nvPr/>
        </p:nvSpPr>
        <p:spPr>
          <a:xfrm rot="0" flipH="0" flipV="0">
            <a:off x="790575" y="13525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启动</a:t>
            </a:r>
            <a:endParaRPr/>
          </a:p>
        </p:txBody>
      </p:sp>
      <p:sp>
        <p:nvSpPr>
          <p:cNvPr id="2176" name=""/>
          <p:cNvSpPr/>
          <p:nvPr/>
        </p:nvSpPr>
        <p:spPr>
          <a:xfrm rot="0" flipH="0" flipV="0">
            <a:off x="1266825" y="1247775"/>
            <a:ext cx="2038350" cy="361950"/>
          </a:xfrm>
          <a:prstGeom prst="roundRect">
            <a:avLst>
              <a:gd name="adj" fmla="val 789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77" name="" descr="{&quot;isTemplate&quot;:true,&quot;type&quot;:&quot;text&quot;}"/>
          <p:cNvSpPr txBox="1"/>
          <p:nvPr/>
        </p:nvSpPr>
        <p:spPr>
          <a:xfrm rot="0" flipH="0" flipV="0">
            <a:off x="1676400" y="1352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2178" name=""/>
          <p:cNvSpPr/>
          <p:nvPr/>
        </p:nvSpPr>
        <p:spPr>
          <a:xfrm rot="0" flipH="0" flipV="0">
            <a:off x="2247900" y="1362075"/>
            <a:ext cx="9525" cy="1333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179" name="" descr="{&quot;isTemplate&quot;:true,&quot;type&quot;:&quot;text&quot;}"/>
          <p:cNvSpPr txBox="1"/>
          <p:nvPr/>
        </p:nvSpPr>
        <p:spPr>
          <a:xfrm rot="0" flipH="0" flipV="0">
            <a:off x="2333625" y="13620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Enter </a:t>
            </a:r>
            <a:r>
              <a:rPr lang="zh-CN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进场</a:t>
            </a:r>
            <a:endParaRPr/>
          </a:p>
        </p:txBody>
      </p:sp>
      <p:sp>
        <p:nvSpPr>
          <p:cNvPr id="2180" name=""/>
          <p:cNvSpPr/>
          <p:nvPr/>
        </p:nvSpPr>
        <p:spPr>
          <a:xfrm rot="0" flipH="0" flipV="0">
            <a:off x="3333750" y="1247775"/>
            <a:ext cx="2038350" cy="361950"/>
          </a:xfrm>
          <a:prstGeom prst="roundRect">
            <a:avLst>
              <a:gd name="adj" fmla="val 7895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181" name="" descr="{&quot;isTemplate&quot;:true,&quot;type&quot;:&quot;text&quot;}"/>
          <p:cNvSpPr txBox="1"/>
          <p:nvPr/>
        </p:nvSpPr>
        <p:spPr>
          <a:xfrm rot="0" flipH="0" flipV="0">
            <a:off x="3581400" y="1352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2182" name=""/>
          <p:cNvSpPr/>
          <p:nvPr/>
        </p:nvSpPr>
        <p:spPr>
          <a:xfrm rot="0" flipH="0" flipV="0">
            <a:off x="4152900" y="1362075"/>
            <a:ext cx="9525" cy="1333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183" name="" descr="{&quot;isTemplate&quot;:true,&quot;type&quot;:&quot;text&quot;}"/>
          <p:cNvSpPr txBox="1"/>
          <p:nvPr/>
        </p:nvSpPr>
        <p:spPr>
          <a:xfrm rot="0" flipH="0" flipV="0">
            <a:off x="4238625" y="136207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Investigate </a:t>
            </a:r>
            <a:r>
              <a:rPr lang="zh-CN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诊断</a:t>
            </a:r>
            <a:endParaRPr/>
          </a:p>
        </p:txBody>
      </p:sp>
      <p:sp>
        <p:nvSpPr>
          <p:cNvPr id="2184" name=""/>
          <p:cNvSpPr/>
          <p:nvPr/>
        </p:nvSpPr>
        <p:spPr>
          <a:xfrm rot="0" flipH="0" flipV="0">
            <a:off x="5400675" y="1247775"/>
            <a:ext cx="2047875" cy="361950"/>
          </a:xfrm>
          <a:prstGeom prst="roundRect">
            <a:avLst>
              <a:gd name="adj" fmla="val 7895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2185" name="" descr="{&quot;isTemplate&quot;:true,&quot;type&quot;:&quot;text&quot;}"/>
          <p:cNvSpPr txBox="1"/>
          <p:nvPr/>
        </p:nvSpPr>
        <p:spPr>
          <a:xfrm rot="0" flipH="0" flipV="0">
            <a:off x="5772150" y="1352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2186" name=""/>
          <p:cNvSpPr/>
          <p:nvPr/>
        </p:nvSpPr>
        <p:spPr>
          <a:xfrm rot="0" flipH="0" flipV="0">
            <a:off x="6343650" y="1362075"/>
            <a:ext cx="9525" cy="1333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187" name="" descr="{&quot;isTemplate&quot;:true,&quot;type&quot;:&quot;text&quot;}"/>
          <p:cNvSpPr txBox="1"/>
          <p:nvPr/>
        </p:nvSpPr>
        <p:spPr>
          <a:xfrm rot="0" flipH="0" flipV="0">
            <a:off x="6429375" y="1362075"/>
            <a:ext cx="64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Model </a:t>
            </a:r>
            <a:r>
              <a:rPr lang="zh-CN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建模</a:t>
            </a:r>
            <a:endParaRPr/>
          </a:p>
        </p:txBody>
      </p:sp>
      <p:sp>
        <p:nvSpPr>
          <p:cNvPr id="2188" name=""/>
          <p:cNvSpPr/>
          <p:nvPr/>
        </p:nvSpPr>
        <p:spPr>
          <a:xfrm rot="0" flipH="0" flipV="0">
            <a:off x="7477125" y="1247775"/>
            <a:ext cx="2038350" cy="361950"/>
          </a:xfrm>
          <a:prstGeom prst="roundRect">
            <a:avLst>
              <a:gd name="adj" fmla="val 7895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2189" name="" descr="{&quot;isTemplate&quot;:true,&quot;type&quot;:&quot;text&quot;}"/>
          <p:cNvSpPr txBox="1"/>
          <p:nvPr/>
        </p:nvSpPr>
        <p:spPr>
          <a:xfrm rot="0" flipH="0" flipV="0">
            <a:off x="7886700" y="1352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第四阶段</a:t>
            </a:r>
            <a:endParaRPr/>
          </a:p>
        </p:txBody>
      </p:sp>
      <p:sp>
        <p:nvSpPr>
          <p:cNvPr id="2190" name=""/>
          <p:cNvSpPr/>
          <p:nvPr/>
        </p:nvSpPr>
        <p:spPr>
          <a:xfrm rot="0" flipH="0" flipV="0">
            <a:off x="8458200" y="1362075"/>
            <a:ext cx="9525" cy="1333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191" name="" descr="{&quot;isTemplate&quot;:true,&quot;type&quot;:&quot;text&quot;}"/>
          <p:cNvSpPr txBox="1"/>
          <p:nvPr/>
        </p:nvSpPr>
        <p:spPr>
          <a:xfrm rot="0" flipH="0" flipV="0">
            <a:off x="8543925" y="1362075"/>
            <a:ext cx="561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Build </a:t>
            </a:r>
            <a:r>
              <a:rPr lang="zh-CN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构建</a:t>
            </a:r>
            <a:endParaRPr/>
          </a:p>
        </p:txBody>
      </p:sp>
      <p:sp>
        <p:nvSpPr>
          <p:cNvPr id="2192" name=""/>
          <p:cNvSpPr/>
          <p:nvPr/>
        </p:nvSpPr>
        <p:spPr>
          <a:xfrm rot="0" flipH="0" flipV="0">
            <a:off x="9544050" y="1247775"/>
            <a:ext cx="2038350" cy="361950"/>
          </a:xfrm>
          <a:prstGeom prst="roundRect">
            <a:avLst>
              <a:gd name="adj" fmla="val 7895"/>
            </a:avLst>
          </a:prstGeom>
          <a:solidFill>
            <a:srgbClr val="9E3410"/>
          </a:solidFill>
          <a:ln/>
        </p:spPr>
        <p:txBody>
          <a:bodyPr/>
          <a:p/>
        </p:txBody>
      </p:sp>
      <p:sp>
        <p:nvSpPr>
          <p:cNvPr id="2193" name="" descr="{&quot;isTemplate&quot;:true,&quot;type&quot;:&quot;text&quot;}"/>
          <p:cNvSpPr txBox="1"/>
          <p:nvPr/>
        </p:nvSpPr>
        <p:spPr>
          <a:xfrm rot="0" flipH="0" flipV="0">
            <a:off x="9686925" y="13525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第五阶段</a:t>
            </a:r>
            <a:endParaRPr/>
          </a:p>
        </p:txBody>
      </p:sp>
      <p:sp>
        <p:nvSpPr>
          <p:cNvPr id="2194" name=""/>
          <p:cNvSpPr/>
          <p:nvPr/>
        </p:nvSpPr>
        <p:spPr>
          <a:xfrm rot="0" flipH="0" flipV="0">
            <a:off x="10258425" y="1362075"/>
            <a:ext cx="9525" cy="13335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195" name="" descr="{&quot;isTemplate&quot;:true,&quot;type&quot;:&quot;text&quot;}"/>
          <p:cNvSpPr txBox="1"/>
          <p:nvPr/>
        </p:nvSpPr>
        <p:spPr>
          <a:xfrm rot="0" flipH="0" flipV="0">
            <a:off x="10344150" y="13620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Hand over </a:t>
            </a:r>
            <a:r>
              <a:rPr lang="zh-CN" sz="938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回流移交</a:t>
            </a:r>
            <a:endParaRPr/>
          </a:p>
        </p:txBody>
      </p:sp>
      <p:sp>
        <p:nvSpPr>
          <p:cNvPr id="2196" name=""/>
          <p:cNvSpPr/>
          <p:nvPr/>
        </p:nvSpPr>
        <p:spPr>
          <a:xfrm rot="0" flipH="0" flipV="0">
            <a:off x="609600" y="1685925"/>
            <a:ext cx="514350" cy="3629025"/>
          </a:xfrm>
          <a:prstGeom prst="roundRect">
            <a:avLst>
              <a:gd name="adj" fmla="val 555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97" name="" descr="{&quot;isTemplate&quot;:true,&quot;type&quot;:&quot;text&quot;}"/>
          <p:cNvSpPr txBox="1"/>
          <p:nvPr/>
        </p:nvSpPr>
        <p:spPr>
          <a:xfrm rot="0" flipH="0" flipV="0">
            <a:off x="733425" y="31432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2198" name="" descr="{&quot;isTemplate&quot;:true,&quot;type&quot;:&quot;text&quot;}"/>
          <p:cNvSpPr txBox="1"/>
          <p:nvPr/>
        </p:nvSpPr>
        <p:spPr>
          <a:xfrm rot="0" flipH="0" flipV="0">
            <a:off x="733425" y="33432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实施</a:t>
            </a:r>
            <a:endParaRPr/>
          </a:p>
        </p:txBody>
      </p:sp>
      <p:sp>
        <p:nvSpPr>
          <p:cNvPr id="2199" name="" descr="{&quot;isTemplate&quot;:true,&quot;type&quot;:&quot;text&quot;}"/>
          <p:cNvSpPr txBox="1"/>
          <p:nvPr/>
        </p:nvSpPr>
        <p:spPr>
          <a:xfrm rot="0" flipH="0" flipV="0">
            <a:off x="733425" y="35433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2200" name="" descr="{&quot;isTemplate&quot;:true,&quot;type&quot;:&quot;text&quot;}"/>
          <p:cNvSpPr txBox="1"/>
          <p:nvPr/>
        </p:nvSpPr>
        <p:spPr>
          <a:xfrm rot="0" flipH="0" flipV="0">
            <a:off x="733425" y="37433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分解</a:t>
            </a:r>
            <a:endParaRPr/>
          </a:p>
        </p:txBody>
      </p:sp>
      <p:sp>
        <p:nvSpPr>
          <p:cNvPr id="2201" name=""/>
          <p:cNvSpPr/>
          <p:nvPr/>
        </p:nvSpPr>
        <p:spPr>
          <a:xfrm rot="0" flipH="0" flipV="0">
            <a:off x="1200150" y="1685925"/>
            <a:ext cx="209550" cy="638175"/>
          </a:xfrm>
          <a:prstGeom prst="roundRect">
            <a:avLst>
              <a:gd name="adj" fmla="val 1363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02" name="" descr="{&quot;isTemplate&quot;:true,&quot;type&quot;:&quot;text&quot;}"/>
          <p:cNvSpPr txBox="1"/>
          <p:nvPr/>
        </p:nvSpPr>
        <p:spPr>
          <a:xfrm rot="0" flipH="0" flipV="0">
            <a:off x="1247775" y="19335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203" name=""/>
          <p:cNvSpPr/>
          <p:nvPr/>
        </p:nvSpPr>
        <p:spPr>
          <a:xfrm rot="0" flipH="0" flipV="0">
            <a:off x="1447800" y="1685925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204" name="" descr="{&quot;isTemplate&quot;:true,&quot;type&quot;:&quot;text&quot;}"/>
          <p:cNvSpPr txBox="1"/>
          <p:nvPr/>
        </p:nvSpPr>
        <p:spPr>
          <a:xfrm rot="0" flipH="0" flipV="0">
            <a:off x="1524000" y="185737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配对组建</a:t>
            </a:r>
            <a:endParaRPr/>
          </a:p>
        </p:txBody>
      </p:sp>
      <p:sp>
        <p:nvSpPr>
          <p:cNvPr id="2205" name="" descr="{&quot;isTemplate&quot;:true,&quot;type&quot;:&quot;text&quot;}"/>
          <p:cNvSpPr txBox="1"/>
          <p:nvPr/>
        </p:nvSpPr>
        <p:spPr>
          <a:xfrm rot="0" flipH="0" flipV="0">
            <a:off x="1524000" y="20193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Echo + Delta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组队分工契约</a:t>
            </a:r>
            <a:endParaRPr/>
          </a:p>
        </p:txBody>
      </p:sp>
      <p:sp>
        <p:nvSpPr>
          <p:cNvPr id="2206" name="" descr="{&quot;isTemplate&quot;:true,&quot;type&quot;:&quot;text&quot;}"/>
          <p:cNvSpPr txBox="1"/>
          <p:nvPr/>
        </p:nvSpPr>
        <p:spPr>
          <a:xfrm rot="0" flipH="0" flipV="0">
            <a:off x="3838575" y="19335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07" name=""/>
          <p:cNvSpPr/>
          <p:nvPr/>
        </p:nvSpPr>
        <p:spPr>
          <a:xfrm rot="0" flipH="0" flipV="0">
            <a:off x="3990975" y="1685925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208" name="" descr="{&quot;isTemplate&quot;:true,&quot;type&quot;:&quot;text&quot;}"/>
          <p:cNvSpPr txBox="1"/>
          <p:nvPr/>
        </p:nvSpPr>
        <p:spPr>
          <a:xfrm rot="0" flipH="0" flipV="0">
            <a:off x="4067175" y="185737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现场准入</a:t>
            </a:r>
            <a:endParaRPr/>
          </a:p>
        </p:txBody>
      </p:sp>
      <p:sp>
        <p:nvSpPr>
          <p:cNvPr id="2209" name="" descr="{&quot;isTemplate&quot;:true,&quot;type&quot;:&quot;text&quot;}"/>
          <p:cNvSpPr txBox="1"/>
          <p:nvPr/>
        </p:nvSpPr>
        <p:spPr>
          <a:xfrm rot="0" flipH="0" flipV="0">
            <a:off x="4067175" y="20193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客户现场准入清单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安全与合规口径</a:t>
            </a:r>
            <a:endParaRPr/>
          </a:p>
        </p:txBody>
      </p:sp>
      <p:sp>
        <p:nvSpPr>
          <p:cNvPr id="2210" name="" descr="{&quot;isTemplate&quot;:true,&quot;type&quot;:&quot;text&quot;}"/>
          <p:cNvSpPr txBox="1"/>
          <p:nvPr/>
        </p:nvSpPr>
        <p:spPr>
          <a:xfrm rot="0" flipH="0" flipV="0">
            <a:off x="6381750" y="19335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11" name=""/>
          <p:cNvSpPr/>
          <p:nvPr/>
        </p:nvSpPr>
        <p:spPr>
          <a:xfrm rot="0" flipH="0" flipV="0">
            <a:off x="6534150" y="1685925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212" name="" descr="{&quot;isTemplate&quot;:true,&quot;type&quot;:&quot;text&quot;}"/>
          <p:cNvSpPr txBox="1"/>
          <p:nvPr/>
        </p:nvSpPr>
        <p:spPr>
          <a:xfrm rot="0" flipH="0" flipV="0">
            <a:off x="6610350" y="185737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数据环境摸底</a:t>
            </a:r>
            <a:endParaRPr/>
          </a:p>
        </p:txBody>
      </p:sp>
      <p:sp>
        <p:nvSpPr>
          <p:cNvPr id="2213" name="" descr="{&quot;isTemplate&quot;:true,&quot;type&quot;:&quot;text&quot;}"/>
          <p:cNvSpPr txBox="1"/>
          <p:nvPr/>
        </p:nvSpPr>
        <p:spPr>
          <a:xfrm rot="0" flipH="0" flipV="0">
            <a:off x="6610350" y="20193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数据环境画像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可用源与阻塞项台账</a:t>
            </a:r>
            <a:endParaRPr/>
          </a:p>
        </p:txBody>
      </p:sp>
      <p:sp>
        <p:nvSpPr>
          <p:cNvPr id="2214" name="" descr="{&quot;isTemplate&quot;:true,&quot;type&quot;:&quot;text&quot;}"/>
          <p:cNvSpPr txBox="1"/>
          <p:nvPr/>
        </p:nvSpPr>
        <p:spPr>
          <a:xfrm rot="0" flipH="0" flipV="0">
            <a:off x="8924925" y="19335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FA4F2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15" name=""/>
          <p:cNvSpPr/>
          <p:nvPr/>
        </p:nvSpPr>
        <p:spPr>
          <a:xfrm rot="0" flipH="0" flipV="0">
            <a:off x="9077325" y="1685925"/>
            <a:ext cx="2505075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216" name="" descr="{&quot;isTemplate&quot;:true,&quot;type&quot;:&quot;text&quot;}"/>
          <p:cNvSpPr txBox="1"/>
          <p:nvPr/>
        </p:nvSpPr>
        <p:spPr>
          <a:xfrm rot="0" flipH="0" flipV="0">
            <a:off x="9153525" y="185737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痛点初筛</a:t>
            </a:r>
            <a:endParaRPr/>
          </a:p>
        </p:txBody>
      </p:sp>
      <p:sp>
        <p:nvSpPr>
          <p:cNvPr id="2217" name="" descr="{&quot;isTemplate&quot;:true,&quot;type&quot;:&quot;text&quot;}"/>
          <p:cNvSpPr txBox="1"/>
          <p:nvPr/>
        </p:nvSpPr>
        <p:spPr>
          <a:xfrm rot="0" flipH="0" flipV="0">
            <a:off x="9153525" y="2019300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现场问题清单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优先级初排</a:t>
            </a:r>
            <a:endParaRPr/>
          </a:p>
        </p:txBody>
      </p:sp>
      <p:sp>
        <p:nvSpPr>
          <p:cNvPr id="2218" name=""/>
          <p:cNvSpPr/>
          <p:nvPr/>
        </p:nvSpPr>
        <p:spPr>
          <a:xfrm rot="0" flipH="0" flipV="0">
            <a:off x="6353175" y="2324100"/>
            <a:ext cx="9525" cy="1047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19" name="" descr="{&quot;isTemplate&quot;:true,&quot;type&quot;:&quot;text&quot;}"/>
          <p:cNvSpPr txBox="1"/>
          <p:nvPr/>
        </p:nvSpPr>
        <p:spPr>
          <a:xfrm rot="0" flipH="0" flipV="0">
            <a:off x="6381750" y="2314575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20" name=""/>
          <p:cNvSpPr/>
          <p:nvPr/>
        </p:nvSpPr>
        <p:spPr>
          <a:xfrm rot="0" flipH="0" flipV="0">
            <a:off x="1200150" y="2428875"/>
            <a:ext cx="209550" cy="647700"/>
          </a:xfrm>
          <a:prstGeom prst="roundRect">
            <a:avLst>
              <a:gd name="adj" fmla="val 1363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221" name="" descr="{&quot;isTemplate&quot;:true,&quot;type&quot;:&quot;text&quot;}"/>
          <p:cNvSpPr txBox="1"/>
          <p:nvPr/>
        </p:nvSpPr>
        <p:spPr>
          <a:xfrm rot="0" flipH="0" flipV="0">
            <a:off x="1247775" y="26860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222" name=""/>
          <p:cNvSpPr/>
          <p:nvPr/>
        </p:nvSpPr>
        <p:spPr>
          <a:xfrm rot="0" flipH="0" flipV="0">
            <a:off x="1447800" y="2428875"/>
            <a:ext cx="2362200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223" name="" descr="{&quot;isTemplate&quot;:true,&quot;type&quot;:&quot;text&quot;}"/>
          <p:cNvSpPr txBox="1"/>
          <p:nvPr/>
        </p:nvSpPr>
        <p:spPr>
          <a:xfrm rot="0" flipH="0" flipV="0">
            <a:off x="1524000" y="260032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决策链梳理</a:t>
            </a:r>
            <a:endParaRPr/>
          </a:p>
        </p:txBody>
      </p:sp>
      <p:sp>
        <p:nvSpPr>
          <p:cNvPr id="2224" name="" descr="{&quot;isTemplate&quot;:true,&quot;type&quot;:&quot;text&quot;}"/>
          <p:cNvSpPr txBox="1"/>
          <p:nvPr/>
        </p:nvSpPr>
        <p:spPr>
          <a:xfrm rot="0" flipH="0" flipV="0">
            <a:off x="1524000" y="27622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决策链路图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谁在什么会上做什么决定</a:t>
            </a:r>
            <a:endParaRPr/>
          </a:p>
        </p:txBody>
      </p:sp>
      <p:sp>
        <p:nvSpPr>
          <p:cNvPr id="2225" name="" descr="{&quot;isTemplate&quot;:true,&quot;type&quot;:&quot;text&quot;}"/>
          <p:cNvSpPr txBox="1"/>
          <p:nvPr/>
        </p:nvSpPr>
        <p:spPr>
          <a:xfrm rot="0" flipH="0" flipV="0">
            <a:off x="3838575" y="26765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0641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26" name=""/>
          <p:cNvSpPr/>
          <p:nvPr/>
        </p:nvSpPr>
        <p:spPr>
          <a:xfrm rot="0" flipH="0" flipV="0">
            <a:off x="3990975" y="2428875"/>
            <a:ext cx="2362200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227" name="" descr="{&quot;isTemplate&quot;:true,&quot;type&quot;:&quot;text&quot;}"/>
          <p:cNvSpPr txBox="1"/>
          <p:nvPr/>
        </p:nvSpPr>
        <p:spPr>
          <a:xfrm rot="0" flipH="0" flipV="0">
            <a:off x="4067175" y="260032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真实流程还原</a:t>
            </a:r>
            <a:endParaRPr/>
          </a:p>
        </p:txBody>
      </p:sp>
      <p:sp>
        <p:nvSpPr>
          <p:cNvPr id="2228" name="" descr="{&quot;isTemplate&quot;:true,&quot;type&quot;:&quot;text&quot;}"/>
          <p:cNvSpPr txBox="1"/>
          <p:nvPr/>
        </p:nvSpPr>
        <p:spPr>
          <a:xfrm rot="0" flipH="0" flipV="0">
            <a:off x="4067175" y="27622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现场流程还原图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与制度文档的差异表</a:t>
            </a:r>
            <a:endParaRPr/>
          </a:p>
        </p:txBody>
      </p:sp>
      <p:sp>
        <p:nvSpPr>
          <p:cNvPr id="2229" name="" descr="{&quot;isTemplate&quot;:true,&quot;type&quot;:&quot;text&quot;}"/>
          <p:cNvSpPr txBox="1"/>
          <p:nvPr/>
        </p:nvSpPr>
        <p:spPr>
          <a:xfrm rot="0" flipH="0" flipV="0">
            <a:off x="6381750" y="26765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0641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30" name=""/>
          <p:cNvSpPr/>
          <p:nvPr/>
        </p:nvSpPr>
        <p:spPr>
          <a:xfrm rot="0" flipH="0" flipV="0">
            <a:off x="6534150" y="2428875"/>
            <a:ext cx="2362200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231" name="" descr="{&quot;isTemplate&quot;:true,&quot;type&quot;:&quot;text&quot;}"/>
          <p:cNvSpPr txBox="1"/>
          <p:nvPr/>
        </p:nvSpPr>
        <p:spPr>
          <a:xfrm rot="0" flipH="0" flipV="0">
            <a:off x="6610350" y="260032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痛点量化</a:t>
            </a:r>
            <a:endParaRPr/>
          </a:p>
        </p:txBody>
      </p:sp>
      <p:sp>
        <p:nvSpPr>
          <p:cNvPr id="2232" name="" descr="{&quot;isTemplate&quot;:true,&quot;type&quot;:&quot;text&quot;}"/>
          <p:cNvSpPr txBox="1"/>
          <p:nvPr/>
        </p:nvSpPr>
        <p:spPr>
          <a:xfrm rot="0" flipH="0" flipV="0">
            <a:off x="6610350" y="27622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痛点优先级矩阵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耗时与错误成本</a:t>
            </a:r>
            <a:endParaRPr/>
          </a:p>
        </p:txBody>
      </p:sp>
      <p:sp>
        <p:nvSpPr>
          <p:cNvPr id="2233" name="" descr="{&quot;isTemplate&quot;:true,&quot;type&quot;:&quot;text&quot;}"/>
          <p:cNvSpPr txBox="1"/>
          <p:nvPr/>
        </p:nvSpPr>
        <p:spPr>
          <a:xfrm rot="0" flipH="0" flipV="0">
            <a:off x="8924925" y="26765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E0641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34" name=""/>
          <p:cNvSpPr/>
          <p:nvPr/>
        </p:nvSpPr>
        <p:spPr>
          <a:xfrm rot="0" flipH="0" flipV="0">
            <a:off x="9077325" y="2428875"/>
            <a:ext cx="2505075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235" name="" descr="{&quot;isTemplate&quot;:true,&quot;type&quot;:&quot;text&quot;}"/>
          <p:cNvSpPr txBox="1"/>
          <p:nvPr/>
        </p:nvSpPr>
        <p:spPr>
          <a:xfrm rot="0" flipH="0" flipV="0">
            <a:off x="9153525" y="260032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场景定选</a:t>
            </a:r>
            <a:endParaRPr/>
          </a:p>
        </p:txBody>
      </p:sp>
      <p:sp>
        <p:nvSpPr>
          <p:cNvPr id="2236" name="" descr="{&quot;isTemplate&quot;:true,&quot;type&quot;:&quot;text&quot;}"/>
          <p:cNvSpPr txBox="1"/>
          <p:nvPr/>
        </p:nvSpPr>
        <p:spPr>
          <a:xfrm rot="0" flipH="0" flipV="0">
            <a:off x="9153525" y="2762250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首场景立项书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验收标准前置约定</a:t>
            </a:r>
            <a:endParaRPr/>
          </a:p>
        </p:txBody>
      </p:sp>
      <p:sp>
        <p:nvSpPr>
          <p:cNvPr id="2237" name=""/>
          <p:cNvSpPr/>
          <p:nvPr/>
        </p:nvSpPr>
        <p:spPr>
          <a:xfrm rot="0" flipH="0" flipV="0">
            <a:off x="6353175" y="3076575"/>
            <a:ext cx="9525" cy="1047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38" name="" descr="{&quot;isTemplate&quot;:true,&quot;type&quot;:&quot;text&quot;}"/>
          <p:cNvSpPr txBox="1"/>
          <p:nvPr/>
        </p:nvSpPr>
        <p:spPr>
          <a:xfrm rot="0" flipH="0" flipV="0">
            <a:off x="6381750" y="3067050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39" name=""/>
          <p:cNvSpPr/>
          <p:nvPr/>
        </p:nvSpPr>
        <p:spPr>
          <a:xfrm rot="0" flipH="0" flipV="0">
            <a:off x="1200150" y="3181350"/>
            <a:ext cx="209550" cy="638175"/>
          </a:xfrm>
          <a:prstGeom prst="roundRect">
            <a:avLst>
              <a:gd name="adj" fmla="val 13636"/>
            </a:avLst>
          </a:prstGeom>
          <a:solidFill>
            <a:srgbClr val="D2531A"/>
          </a:solidFill>
          <a:ln/>
        </p:spPr>
        <p:txBody>
          <a:bodyPr/>
          <a:p/>
        </p:txBody>
      </p:sp>
      <p:sp>
        <p:nvSpPr>
          <p:cNvPr id="2240" name="" descr="{&quot;isTemplate&quot;:true,&quot;type&quot;:&quot;text&quot;}"/>
          <p:cNvSpPr txBox="1"/>
          <p:nvPr/>
        </p:nvSpPr>
        <p:spPr>
          <a:xfrm rot="0" flipH="0" flipV="0">
            <a:off x="1247775" y="342900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241" name=""/>
          <p:cNvSpPr/>
          <p:nvPr/>
        </p:nvSpPr>
        <p:spPr>
          <a:xfrm rot="0" flipH="0" flipV="0">
            <a:off x="1447800" y="3181350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D2531A"/>
            </a:solidFill>
            <a:prstDash val="solid"/>
          </a:ln>
        </p:spPr>
        <p:txBody>
          <a:bodyPr/>
          <a:p/>
        </p:txBody>
      </p:sp>
      <p:sp>
        <p:nvSpPr>
          <p:cNvPr id="2242" name="" descr="{&quot;isTemplate&quot;:true,&quot;type&quot;:&quot;text&quot;}"/>
          <p:cNvSpPr txBox="1"/>
          <p:nvPr/>
        </p:nvSpPr>
        <p:spPr>
          <a:xfrm rot="0" flipH="0" flipV="0">
            <a:off x="1524000" y="3352800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对象与链接建模</a:t>
            </a:r>
            <a:endParaRPr/>
          </a:p>
        </p:txBody>
      </p:sp>
      <p:sp>
        <p:nvSpPr>
          <p:cNvPr id="2243" name="" descr="{&quot;isTemplate&quot;:true,&quot;type&quot;:&quot;text&quot;}"/>
          <p:cNvSpPr txBox="1"/>
          <p:nvPr/>
        </p:nvSpPr>
        <p:spPr>
          <a:xfrm rot="0" flipH="0" flipV="0">
            <a:off x="1524000" y="35147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对象类型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链接类型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动作类型清单</a:t>
            </a:r>
            <a:endParaRPr/>
          </a:p>
        </p:txBody>
      </p:sp>
      <p:sp>
        <p:nvSpPr>
          <p:cNvPr id="2244" name="" descr="{&quot;isTemplate&quot;:true,&quot;type&quot;:&quot;text&quot;}"/>
          <p:cNvSpPr txBox="1"/>
          <p:nvPr/>
        </p:nvSpPr>
        <p:spPr>
          <a:xfrm rot="0" flipH="0" flipV="0">
            <a:off x="3838575" y="3429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D2531A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45" name=""/>
          <p:cNvSpPr/>
          <p:nvPr/>
        </p:nvSpPr>
        <p:spPr>
          <a:xfrm rot="0" flipH="0" flipV="0">
            <a:off x="3990975" y="3181350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D2531A"/>
            </a:solidFill>
            <a:prstDash val="solid"/>
          </a:ln>
        </p:spPr>
        <p:txBody>
          <a:bodyPr/>
          <a:p/>
        </p:txBody>
      </p:sp>
      <p:sp>
        <p:nvSpPr>
          <p:cNvPr id="2246" name="" descr="{&quot;isTemplate&quot;:true,&quot;type&quot;:&quot;text&quot;}"/>
          <p:cNvSpPr txBox="1"/>
          <p:nvPr/>
        </p:nvSpPr>
        <p:spPr>
          <a:xfrm rot="0" flipH="0" flipV="0">
            <a:off x="4067175" y="3352800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解析与写回策略</a:t>
            </a:r>
            <a:endParaRPr/>
          </a:p>
        </p:txBody>
      </p:sp>
      <p:sp>
        <p:nvSpPr>
          <p:cNvPr id="2247" name="" descr="{&quot;isTemplate&quot;:true,&quot;type&quot;:&quot;text&quot;}"/>
          <p:cNvSpPr txBox="1"/>
          <p:nvPr/>
        </p:nvSpPr>
        <p:spPr>
          <a:xfrm rot="0" flipH="0" flipV="0">
            <a:off x="4067175" y="35147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主数据解析规则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可逆元数据设计</a:t>
            </a:r>
            <a:endParaRPr/>
          </a:p>
        </p:txBody>
      </p:sp>
      <p:sp>
        <p:nvSpPr>
          <p:cNvPr id="2248" name="" descr="{&quot;isTemplate&quot;:true,&quot;type&quot;:&quot;text&quot;}"/>
          <p:cNvSpPr txBox="1"/>
          <p:nvPr/>
        </p:nvSpPr>
        <p:spPr>
          <a:xfrm rot="0" flipH="0" flipV="0">
            <a:off x="6381750" y="3429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D2531A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49" name=""/>
          <p:cNvSpPr/>
          <p:nvPr/>
        </p:nvSpPr>
        <p:spPr>
          <a:xfrm rot="0" flipH="0" flipV="0">
            <a:off x="6534150" y="3181350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D2531A"/>
            </a:solidFill>
            <a:prstDash val="solid"/>
          </a:ln>
        </p:spPr>
        <p:txBody>
          <a:bodyPr/>
          <a:p/>
        </p:txBody>
      </p:sp>
      <p:sp>
        <p:nvSpPr>
          <p:cNvPr id="2250" name="" descr="{&quot;isTemplate&quot;:true,&quot;type&quot;:&quot;text&quot;}"/>
          <p:cNvSpPr txBox="1"/>
          <p:nvPr/>
        </p:nvSpPr>
        <p:spPr>
          <a:xfrm rot="0" flipH="0" flipV="0">
            <a:off x="6610350" y="3352800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最小可行治理</a:t>
            </a:r>
            <a:endParaRPr/>
          </a:p>
        </p:txBody>
      </p:sp>
      <p:sp>
        <p:nvSpPr>
          <p:cNvPr id="2251" name="" descr="{&quot;isTemplate&quot;:true,&quot;type&quot;:&quot;text&quot;}"/>
          <p:cNvSpPr txBox="1"/>
          <p:nvPr/>
        </p:nvSpPr>
        <p:spPr>
          <a:xfrm rot="0" flipH="0" flipV="0">
            <a:off x="6610350" y="35147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密级标记目录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对象与属性级策略矩阵</a:t>
            </a:r>
            <a:endParaRPr/>
          </a:p>
        </p:txBody>
      </p:sp>
      <p:sp>
        <p:nvSpPr>
          <p:cNvPr id="2252" name="" descr="{&quot;isTemplate&quot;:true,&quot;type&quot;:&quot;text&quot;}"/>
          <p:cNvSpPr txBox="1"/>
          <p:nvPr/>
        </p:nvSpPr>
        <p:spPr>
          <a:xfrm rot="0" flipH="0" flipV="0">
            <a:off x="8924925" y="3429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D2531A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53" name=""/>
          <p:cNvSpPr/>
          <p:nvPr/>
        </p:nvSpPr>
        <p:spPr>
          <a:xfrm rot="0" flipH="0" flipV="0">
            <a:off x="9077325" y="3181350"/>
            <a:ext cx="2505075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D2531A"/>
            </a:solidFill>
            <a:prstDash val="solid"/>
          </a:ln>
        </p:spPr>
        <p:txBody>
          <a:bodyPr/>
          <a:p/>
        </p:txBody>
      </p:sp>
      <p:sp>
        <p:nvSpPr>
          <p:cNvPr id="2254" name="" descr="{&quot;isTemplate&quot;:true,&quot;type&quot;:&quot;text&quot;}"/>
          <p:cNvSpPr txBox="1"/>
          <p:nvPr/>
        </p:nvSpPr>
        <p:spPr>
          <a:xfrm rot="0" flipH="0" flipV="0">
            <a:off x="9153525" y="335280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指标口径裁定</a:t>
            </a:r>
            <a:endParaRPr/>
          </a:p>
        </p:txBody>
      </p:sp>
      <p:sp>
        <p:nvSpPr>
          <p:cNvPr id="2255" name="" descr="{&quot;isTemplate&quot;:true,&quot;type&quot;:&quot;text&quot;}"/>
          <p:cNvSpPr txBox="1"/>
          <p:nvPr/>
        </p:nvSpPr>
        <p:spPr>
          <a:xfrm rot="0" flipH="0" flipV="0">
            <a:off x="9153525" y="3514725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口径注册表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五元组与唯一裁定记录</a:t>
            </a:r>
            <a:endParaRPr/>
          </a:p>
        </p:txBody>
      </p:sp>
      <p:sp>
        <p:nvSpPr>
          <p:cNvPr id="2256" name=""/>
          <p:cNvSpPr/>
          <p:nvPr/>
        </p:nvSpPr>
        <p:spPr>
          <a:xfrm rot="0" flipH="0" flipV="0">
            <a:off x="6353175" y="3819525"/>
            <a:ext cx="9525" cy="1047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57" name="" descr="{&quot;isTemplate&quot;:true,&quot;type&quot;:&quot;text&quot;}"/>
          <p:cNvSpPr txBox="1"/>
          <p:nvPr/>
        </p:nvSpPr>
        <p:spPr>
          <a:xfrm rot="0" flipH="0" flipV="0">
            <a:off x="6381750" y="3810000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58" name=""/>
          <p:cNvSpPr/>
          <p:nvPr/>
        </p:nvSpPr>
        <p:spPr>
          <a:xfrm rot="0" flipH="0" flipV="0">
            <a:off x="1200150" y="3924300"/>
            <a:ext cx="209550" cy="647700"/>
          </a:xfrm>
          <a:prstGeom prst="roundRect">
            <a:avLst>
              <a:gd name="adj" fmla="val 13636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2259" name="" descr="{&quot;isTemplate&quot;:true,&quot;type&quot;:&quot;text&quot;}"/>
          <p:cNvSpPr txBox="1"/>
          <p:nvPr/>
        </p:nvSpPr>
        <p:spPr>
          <a:xfrm rot="0" flipH="0" flipV="0">
            <a:off x="1247775" y="41814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260" name=""/>
          <p:cNvSpPr/>
          <p:nvPr/>
        </p:nvSpPr>
        <p:spPr>
          <a:xfrm rot="0" flipH="0" flipV="0">
            <a:off x="1447800" y="3924300"/>
            <a:ext cx="2362200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261" name="" descr="{&quot;isTemplate&quot;:true,&quot;type&quot;:&quot;text&quot;}"/>
          <p:cNvSpPr txBox="1"/>
          <p:nvPr/>
        </p:nvSpPr>
        <p:spPr>
          <a:xfrm rot="0" flipH="0" flipV="0">
            <a:off x="1524000" y="4095750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管道与切片</a:t>
            </a:r>
            <a:endParaRPr/>
          </a:p>
        </p:txBody>
      </p:sp>
      <p:sp>
        <p:nvSpPr>
          <p:cNvPr id="2262" name="" descr="{&quot;isTemplate&quot;:true,&quot;type&quot;:&quot;text&quot;}"/>
          <p:cNvSpPr txBox="1"/>
          <p:nvPr/>
        </p:nvSpPr>
        <p:spPr>
          <a:xfrm rot="0" flipH="0" flipV="0">
            <a:off x="1524000" y="425767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幂等管道骨架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切片工艺与密级继承</a:t>
            </a:r>
            <a:endParaRPr/>
          </a:p>
        </p:txBody>
      </p:sp>
      <p:sp>
        <p:nvSpPr>
          <p:cNvPr id="2263" name="" descr="{&quot;isTemplate&quot;:true,&quot;type&quot;:&quot;text&quot;}"/>
          <p:cNvSpPr txBox="1"/>
          <p:nvPr/>
        </p:nvSpPr>
        <p:spPr>
          <a:xfrm rot="0" flipH="0" flipV="0">
            <a:off x="3838575" y="41719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64" name=""/>
          <p:cNvSpPr/>
          <p:nvPr/>
        </p:nvSpPr>
        <p:spPr>
          <a:xfrm rot="0" flipH="0" flipV="0">
            <a:off x="3990975" y="3924300"/>
            <a:ext cx="2362200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265" name="" descr="{&quot;isTemplate&quot;:true,&quot;type&quot;:&quot;text&quot;}"/>
          <p:cNvSpPr txBox="1"/>
          <p:nvPr/>
        </p:nvSpPr>
        <p:spPr>
          <a:xfrm rot="0" flipH="0" flipV="0">
            <a:off x="4067175" y="4095750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2266" name="" descr="{&quot;isTemplate&quot;:true,&quot;type&quot;:&quot;text&quot;}"/>
          <p:cNvSpPr txBox="1"/>
          <p:nvPr/>
        </p:nvSpPr>
        <p:spPr>
          <a:xfrm rot="0" flipH="0" flipV="0">
            <a:off x="4067175" y="425767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工具白名单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出口策略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记忆边界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遥测</a:t>
            </a:r>
            <a:endParaRPr/>
          </a:p>
        </p:txBody>
      </p:sp>
      <p:sp>
        <p:nvSpPr>
          <p:cNvPr id="2267" name="" descr="{&quot;isTemplate&quot;:true,&quot;type&quot;:&quot;text&quot;}"/>
          <p:cNvSpPr txBox="1"/>
          <p:nvPr/>
        </p:nvSpPr>
        <p:spPr>
          <a:xfrm rot="0" flipH="0" flipV="0">
            <a:off x="6381750" y="41719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68" name=""/>
          <p:cNvSpPr/>
          <p:nvPr/>
        </p:nvSpPr>
        <p:spPr>
          <a:xfrm rot="0" flipH="0" flipV="0">
            <a:off x="6534150" y="3924300"/>
            <a:ext cx="2362200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269" name="" descr="{&quot;isTemplate&quot;:true,&quot;type&quot;:&quot;text&quot;}"/>
          <p:cNvSpPr txBox="1"/>
          <p:nvPr/>
        </p:nvSpPr>
        <p:spPr>
          <a:xfrm rot="0" flipH="0" flipV="0">
            <a:off x="6610350" y="4095750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生产环境跑通</a:t>
            </a:r>
            <a:endParaRPr/>
          </a:p>
        </p:txBody>
      </p:sp>
      <p:sp>
        <p:nvSpPr>
          <p:cNvPr id="2270" name="" descr="{&quot;isTemplate&quot;:true,&quot;type&quot;:&quot;text&quot;}"/>
          <p:cNvSpPr txBox="1"/>
          <p:nvPr/>
        </p:nvSpPr>
        <p:spPr>
          <a:xfrm rot="0" flipH="0" flipV="0">
            <a:off x="6610350" y="425767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可运行的生产环境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并发与性能基线</a:t>
            </a:r>
            <a:endParaRPr/>
          </a:p>
        </p:txBody>
      </p:sp>
      <p:sp>
        <p:nvSpPr>
          <p:cNvPr id="2271" name="" descr="{&quot;isTemplate&quot;:true,&quot;type&quot;:&quot;text&quot;}"/>
          <p:cNvSpPr txBox="1"/>
          <p:nvPr/>
        </p:nvSpPr>
        <p:spPr>
          <a:xfrm rot="0" flipH="0" flipV="0">
            <a:off x="8924925" y="41719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72" name=""/>
          <p:cNvSpPr/>
          <p:nvPr/>
        </p:nvSpPr>
        <p:spPr>
          <a:xfrm rot="0" flipH="0" flipV="0">
            <a:off x="9077325" y="3924300"/>
            <a:ext cx="2505075" cy="647700"/>
          </a:xfrm>
          <a:prstGeom prst="roundRect">
            <a:avLst>
              <a:gd name="adj" fmla="val 4412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273" name="" descr="{&quot;isTemplate&quot;:true,&quot;type&quot;:&quot;text&quot;}"/>
          <p:cNvSpPr txBox="1"/>
          <p:nvPr/>
        </p:nvSpPr>
        <p:spPr>
          <a:xfrm rot="0" flipH="0" flipV="0">
            <a:off x="9153525" y="409575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场景验收</a:t>
            </a:r>
            <a:endParaRPr/>
          </a:p>
        </p:txBody>
      </p:sp>
      <p:sp>
        <p:nvSpPr>
          <p:cNvPr id="2274" name="" descr="{&quot;isTemplate&quot;:true,&quot;type&quot;:&quot;text&quot;}"/>
          <p:cNvSpPr txBox="1"/>
          <p:nvPr/>
        </p:nvSpPr>
        <p:spPr>
          <a:xfrm rot="0" flipH="0" flipV="0">
            <a:off x="9153525" y="4257675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上线验收记录（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项逐项打勾）</a:t>
            </a:r>
            <a:endParaRPr/>
          </a:p>
        </p:txBody>
      </p:sp>
      <p:sp>
        <p:nvSpPr>
          <p:cNvPr id="2275" name=""/>
          <p:cNvSpPr/>
          <p:nvPr/>
        </p:nvSpPr>
        <p:spPr>
          <a:xfrm rot="0" flipH="0" flipV="0">
            <a:off x="6353175" y="4572000"/>
            <a:ext cx="9525" cy="1047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76" name="" descr="{&quot;isTemplate&quot;:true,&quot;type&quot;:&quot;text&quot;}"/>
          <p:cNvSpPr txBox="1"/>
          <p:nvPr/>
        </p:nvSpPr>
        <p:spPr>
          <a:xfrm rot="0" flipH="0" flipV="0">
            <a:off x="6381750" y="4562475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77" name=""/>
          <p:cNvSpPr/>
          <p:nvPr/>
        </p:nvSpPr>
        <p:spPr>
          <a:xfrm rot="0" flipH="0" flipV="0">
            <a:off x="1200150" y="4676775"/>
            <a:ext cx="209550" cy="638175"/>
          </a:xfrm>
          <a:prstGeom prst="roundRect">
            <a:avLst>
              <a:gd name="adj" fmla="val 13636"/>
            </a:avLst>
          </a:prstGeom>
          <a:solidFill>
            <a:srgbClr val="9E3410"/>
          </a:solidFill>
          <a:ln/>
        </p:spPr>
        <p:txBody>
          <a:bodyPr/>
          <a:p/>
        </p:txBody>
      </p:sp>
      <p:sp>
        <p:nvSpPr>
          <p:cNvPr id="2278" name="" descr="{&quot;isTemplate&quot;:true,&quot;type&quot;:&quot;text&quot;}"/>
          <p:cNvSpPr txBox="1"/>
          <p:nvPr/>
        </p:nvSpPr>
        <p:spPr>
          <a:xfrm rot="0" flipH="0" flipV="0">
            <a:off x="1247775" y="492442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279" name=""/>
          <p:cNvSpPr/>
          <p:nvPr/>
        </p:nvSpPr>
        <p:spPr>
          <a:xfrm rot="0" flipH="0" flipV="0">
            <a:off x="1447800" y="4676775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9E3410"/>
            </a:solidFill>
            <a:prstDash val="solid"/>
          </a:ln>
        </p:spPr>
        <p:txBody>
          <a:bodyPr/>
          <a:p/>
        </p:txBody>
      </p:sp>
      <p:sp>
        <p:nvSpPr>
          <p:cNvPr id="2280" name="" descr="{&quot;isTemplate&quot;:true,&quot;type&quot;:&quot;text&quot;}"/>
          <p:cNvSpPr txBox="1"/>
          <p:nvPr/>
        </p:nvSpPr>
        <p:spPr>
          <a:xfrm rot="0" flipH="0" flipV="0">
            <a:off x="1524000" y="484822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平台抽象</a:t>
            </a:r>
            <a:endParaRPr/>
          </a:p>
        </p:txBody>
      </p:sp>
      <p:sp>
        <p:nvSpPr>
          <p:cNvPr id="2281" name="" descr="{&quot;isTemplate&quot;:true,&quot;type&quot;:&quot;text&quot;}"/>
          <p:cNvSpPr txBox="1"/>
          <p:nvPr/>
        </p:nvSpPr>
        <p:spPr>
          <a:xfrm rot="0" flipH="0" flipV="0">
            <a:off x="1524000" y="50101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平台抽象提案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通用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独有切分结论</a:t>
            </a:r>
            <a:endParaRPr/>
          </a:p>
        </p:txBody>
      </p:sp>
      <p:sp>
        <p:nvSpPr>
          <p:cNvPr id="2282" name="" descr="{&quot;isTemplate&quot;:true,&quot;type&quot;:&quot;text&quot;}"/>
          <p:cNvSpPr txBox="1"/>
          <p:nvPr/>
        </p:nvSpPr>
        <p:spPr>
          <a:xfrm rot="0" flipH="0" flipV="0">
            <a:off x="3838575" y="49244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E341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83" name=""/>
          <p:cNvSpPr/>
          <p:nvPr/>
        </p:nvSpPr>
        <p:spPr>
          <a:xfrm rot="0" flipH="0" flipV="0">
            <a:off x="3990975" y="4676775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9E3410"/>
            </a:solidFill>
            <a:prstDash val="solid"/>
          </a:ln>
        </p:spPr>
        <p:txBody>
          <a:bodyPr/>
          <a:p/>
        </p:txBody>
      </p:sp>
      <p:sp>
        <p:nvSpPr>
          <p:cNvPr id="2284" name="" descr="{&quot;isTemplate&quot;:true,&quot;type&quot;:&quot;text&quot;}"/>
          <p:cNvSpPr txBox="1"/>
          <p:nvPr/>
        </p:nvSpPr>
        <p:spPr>
          <a:xfrm rot="0" flipH="0" flipV="0">
            <a:off x="4067175" y="484822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知识转移</a:t>
            </a:r>
            <a:endParaRPr/>
          </a:p>
        </p:txBody>
      </p:sp>
      <p:sp>
        <p:nvSpPr>
          <p:cNvPr id="2285" name="" descr="{&quot;isTemplate&quot;:true,&quot;type&quot;:&quot;text&quot;}"/>
          <p:cNvSpPr txBox="1"/>
          <p:nvPr/>
        </p:nvSpPr>
        <p:spPr>
          <a:xfrm rot="0" flipH="0" flipV="0">
            <a:off x="4067175" y="50101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三层移交：操作手册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陪跑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自主</a:t>
            </a:r>
            <a:endParaRPr/>
          </a:p>
        </p:txBody>
      </p:sp>
      <p:sp>
        <p:nvSpPr>
          <p:cNvPr id="2286" name="" descr="{&quot;isTemplate&quot;:true,&quot;type&quot;:&quot;text&quot;}"/>
          <p:cNvSpPr txBox="1"/>
          <p:nvPr/>
        </p:nvSpPr>
        <p:spPr>
          <a:xfrm rot="0" flipH="0" flipV="0">
            <a:off x="6381750" y="49244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E341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87" name=""/>
          <p:cNvSpPr/>
          <p:nvPr/>
        </p:nvSpPr>
        <p:spPr>
          <a:xfrm rot="0" flipH="0" flipV="0">
            <a:off x="6534150" y="4676775"/>
            <a:ext cx="2362200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9E3410"/>
            </a:solidFill>
            <a:prstDash val="solid"/>
          </a:ln>
        </p:spPr>
        <p:txBody>
          <a:bodyPr/>
          <a:p/>
        </p:txBody>
      </p:sp>
      <p:sp>
        <p:nvSpPr>
          <p:cNvPr id="2288" name="" descr="{&quot;isTemplate&quot;:true,&quot;type&quot;:&quot;text&quot;}"/>
          <p:cNvSpPr txBox="1"/>
          <p:nvPr/>
        </p:nvSpPr>
        <p:spPr>
          <a:xfrm rot="0" flipH="0" flipV="0">
            <a:off x="6610350" y="4848225"/>
            <a:ext cx="2209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运营移交</a:t>
            </a:r>
            <a:endParaRPr/>
          </a:p>
        </p:txBody>
      </p:sp>
      <p:sp>
        <p:nvSpPr>
          <p:cNvPr id="2289" name="" descr="{&quot;isTemplate&quot;:true,&quot;type&quot;:&quot;text&quot;}"/>
          <p:cNvSpPr txBox="1"/>
          <p:nvPr/>
        </p:nvSpPr>
        <p:spPr>
          <a:xfrm rot="0" flipH="0" flipV="0">
            <a:off x="6610350" y="50101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运营手册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责任矩阵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问题闭环机制</a:t>
            </a:r>
            <a:endParaRPr/>
          </a:p>
        </p:txBody>
      </p:sp>
      <p:sp>
        <p:nvSpPr>
          <p:cNvPr id="2290" name="" descr="{&quot;isTemplate&quot;:true,&quot;type&quot;:&quot;text&quot;}"/>
          <p:cNvSpPr txBox="1"/>
          <p:nvPr/>
        </p:nvSpPr>
        <p:spPr>
          <a:xfrm rot="0" flipH="0" flipV="0">
            <a:off x="8924925" y="49244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E341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91" name=""/>
          <p:cNvSpPr/>
          <p:nvPr/>
        </p:nvSpPr>
        <p:spPr>
          <a:xfrm rot="0" flipH="0" flipV="0">
            <a:off x="9077325" y="4676775"/>
            <a:ext cx="2505075" cy="638175"/>
          </a:xfrm>
          <a:prstGeom prst="roundRect">
            <a:avLst>
              <a:gd name="adj" fmla="val 4478"/>
            </a:avLst>
          </a:prstGeom>
          <a:solidFill>
            <a:srgbClr val="FFF3EE"/>
          </a:solidFill>
          <a:ln w="12700">
            <a:solidFill>
              <a:srgbClr val="9E3410"/>
            </a:solidFill>
            <a:prstDash val="solid"/>
          </a:ln>
        </p:spPr>
        <p:txBody>
          <a:bodyPr/>
          <a:p/>
        </p:txBody>
      </p:sp>
      <p:sp>
        <p:nvSpPr>
          <p:cNvPr id="2292" name="" descr="{&quot;isTemplate&quot;:true,&quot;type&quot;:&quot;text&quot;}"/>
          <p:cNvSpPr txBox="1"/>
          <p:nvPr/>
        </p:nvSpPr>
        <p:spPr>
          <a:xfrm rot="0" flipH="0" flipV="0">
            <a:off x="9153525" y="484822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复盘与回流</a:t>
            </a:r>
            <a:endParaRPr/>
          </a:p>
        </p:txBody>
      </p:sp>
      <p:sp>
        <p:nvSpPr>
          <p:cNvPr id="2293" name="" descr="{&quot;isTemplate&quot;:true,&quot;type&quot;:&quot;text&quot;}"/>
          <p:cNvSpPr txBox="1"/>
          <p:nvPr/>
        </p:nvSpPr>
        <p:spPr>
          <a:xfrm rot="0" flipH="0" flipV="0">
            <a:off x="9153525" y="5010150"/>
            <a:ext cx="2352675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现场复盘报告</a:t>
            </a:r>
            <a:r>
              <a:rPr lang="en-US" sz="6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675">
                <a:solidFill>
                  <a:srgbClr val="C43A17"/>
                </a:solidFill>
                <a:latin typeface="Microsoft YaHei"/>
                <a:ea typeface="Microsoft YaHei"/>
              </a:rPr>
              <a:t>产品与平台反馈清单</a:t>
            </a:r>
            <a:endParaRPr/>
          </a:p>
        </p:txBody>
      </p:sp>
      <p:sp>
        <p:nvSpPr>
          <p:cNvPr id="2294" name=""/>
          <p:cNvSpPr/>
          <p:nvPr/>
        </p:nvSpPr>
        <p:spPr>
          <a:xfrm rot="0" flipH="0" flipV="0">
            <a:off x="609600" y="5391150"/>
            <a:ext cx="3609975" cy="266700"/>
          </a:xfrm>
          <a:prstGeom prst="roundRect">
            <a:avLst>
              <a:gd name="adj" fmla="val 1071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295" name="" descr="{&quot;isTemplate&quot;:true,&quot;type&quot;:&quot;text&quot;}"/>
          <p:cNvSpPr txBox="1"/>
          <p:nvPr/>
        </p:nvSpPr>
        <p:spPr>
          <a:xfrm rot="0" flipH="0" flipV="0">
            <a:off x="723900" y="5457825"/>
            <a:ext cx="762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顺序铁律</a:t>
            </a:r>
            <a:endParaRPr/>
          </a:p>
        </p:txBody>
      </p:sp>
      <p:sp>
        <p:nvSpPr>
          <p:cNvPr id="2296" name="" descr="{&quot;isTemplate&quot;:true,&quot;type&quot;:&quot;text&quot;}"/>
          <p:cNvSpPr txBox="1"/>
          <p:nvPr/>
        </p:nvSpPr>
        <p:spPr>
          <a:xfrm rot="0" flipH="0" flipV="0">
            <a:off x="1485900" y="5400675"/>
            <a:ext cx="2619375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先诊断再建模，先建</a:t>
            </a:r>
            <a:r>
              <a:rPr lang="en-US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再上</a:t>
            </a:r>
            <a:r>
              <a:rPr lang="en-US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，先跑生产再谈移交</a:t>
            </a:r>
            <a:endParaRPr/>
          </a:p>
        </p:txBody>
      </p:sp>
      <p:sp>
        <p:nvSpPr>
          <p:cNvPr id="2297" name=""/>
          <p:cNvSpPr/>
          <p:nvPr/>
        </p:nvSpPr>
        <p:spPr>
          <a:xfrm rot="0" flipH="0" flipV="0">
            <a:off x="4333875" y="5391150"/>
            <a:ext cx="3600450" cy="266700"/>
          </a:xfrm>
          <a:prstGeom prst="roundRect">
            <a:avLst>
              <a:gd name="adj" fmla="val 10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98" name=""/>
          <p:cNvSpPr/>
          <p:nvPr/>
        </p:nvSpPr>
        <p:spPr>
          <a:xfrm rot="0" flipH="0" flipV="0">
            <a:off x="4333875" y="5391150"/>
            <a:ext cx="3600450" cy="266700"/>
          </a:xfrm>
          <a:custGeom>
            <a:pathLst>
              <a:path w="378" h="28">
                <a:moveTo>
                  <a:pt x="4" y="28"/>
                </a:move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6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99" name="" descr="{&quot;isTemplate&quot;:true,&quot;type&quot;:&quot;text&quot;}"/>
          <p:cNvSpPr txBox="1"/>
          <p:nvPr/>
        </p:nvSpPr>
        <p:spPr>
          <a:xfrm rot="0" flipH="0" flipV="0">
            <a:off x="4448175" y="5457825"/>
            <a:ext cx="762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碎石路机制</a:t>
            </a:r>
            <a:endParaRPr/>
          </a:p>
        </p:txBody>
      </p:sp>
      <p:sp>
        <p:nvSpPr>
          <p:cNvPr id="2300" name="" descr="{&quot;isTemplate&quot;:true,&quot;type&quot;:&quot;text&quot;}"/>
          <p:cNvSpPr txBox="1"/>
          <p:nvPr/>
        </p:nvSpPr>
        <p:spPr>
          <a:xfrm rot="0" flipH="0" flipV="0">
            <a:off x="5210175" y="5400675"/>
            <a:ext cx="25717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贯穿全程：每一步都要问「这部分能不能被下一个客户复用」，能就抽象进平台</a:t>
            </a:r>
            <a:endParaRPr/>
          </a:p>
        </p:txBody>
      </p:sp>
      <p:sp>
        <p:nvSpPr>
          <p:cNvPr id="2301" name=""/>
          <p:cNvSpPr/>
          <p:nvPr/>
        </p:nvSpPr>
        <p:spPr>
          <a:xfrm rot="0" flipH="0" flipV="0">
            <a:off x="8010525" y="5391150"/>
            <a:ext cx="3609975" cy="266700"/>
          </a:xfrm>
          <a:prstGeom prst="roundRect">
            <a:avLst>
              <a:gd name="adj" fmla="val 10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02" name=""/>
          <p:cNvSpPr/>
          <p:nvPr/>
        </p:nvSpPr>
        <p:spPr>
          <a:xfrm rot="0" flipH="0" flipV="0">
            <a:off x="8010525" y="5391150"/>
            <a:ext cx="3609975" cy="266700"/>
          </a:xfrm>
          <a:custGeom>
            <a:pathLst>
              <a:path w="379" h="28">
                <a:moveTo>
                  <a:pt x="4" y="28"/>
                </a:move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6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03" name="" descr="{&quot;isTemplate&quot;:true,&quot;type&quot;:&quot;text&quot;}"/>
          <p:cNvSpPr txBox="1"/>
          <p:nvPr/>
        </p:nvSpPr>
        <p:spPr>
          <a:xfrm rot="0" flipH="0" flipV="0">
            <a:off x="8124825" y="5457825"/>
            <a:ext cx="762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知识转移</a:t>
            </a:r>
            <a:endParaRPr/>
          </a:p>
        </p:txBody>
      </p:sp>
      <p:sp>
        <p:nvSpPr>
          <p:cNvPr id="2304" name="" descr="{&quot;isTemplate&quot;:true,&quot;type&quot;:&quot;text&quot;}"/>
          <p:cNvSpPr txBox="1"/>
          <p:nvPr/>
        </p:nvSpPr>
        <p:spPr>
          <a:xfrm rot="0" flipH="0" flipV="0">
            <a:off x="8886825" y="5400675"/>
            <a:ext cx="2581275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贯穿全程：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管业务采纳，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管系统运维，不做这两层的移交等于没交付</a:t>
            </a:r>
            <a:endParaRPr/>
          </a:p>
        </p:txBody>
      </p:sp>
      <p:sp>
        <p:nvSpPr>
          <p:cNvPr id="230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30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0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30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04 / 60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893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1&lt;/Text&gt;&#13;&#10;  &lt;/Box&gt;&#13;&#10;&#13;&#10;  &lt;Box style={{ position: 'absolute', left: 88, top: 240, width: 700, flexDirection: 'column' }}&gt;&#13;&#10;    &lt;Text style={{ fontSize: 15, color: 'rgba(255,255,255,0.5)', letterSpacing: 3 }}&gt;PART 01&lt;/Text&gt;&#13;&#10;    &lt;Box style={{ width: 72, height: 5, background: '#FA4F24', marginTop: 22 }} /&gt;&#13;&#10;    &lt;Text style={{ fontSize: 56, fontWeight: 'bold', color: '#FFFFFF', marginTop: 28, lineHeight: 1.15 }}&gt;角色本体论&lt;/Text&gt;&#13;&#10;    &lt;Text style={{ fontSize: 17, color: 'rgba(255,255,255,0.62)', letterSpacing: 2, marginTop: 20 }}&gt;WHAT AN FDE REALLY IS&lt;/Text&gt;&#13;&#10;    &lt;Text style={{ fontSize: 19, color: 'rgba(255,255,255,0.85)', marginTop: 26, lineHeight: 1.6 }}&gt;三种角色、一个叛逆者、2005 年的起源，以及 FDE 与传统三 roles 的结构性差异&lt;/Text&gt;&#13;&#10;  &lt;/Box&gt;&#13;&#10;&#13;&#10;  &lt;Box style={{ position: 'absolute', left: 88, top: 520, flexDirection: 'row', gap: 34 }}&gt;&#13;&#10;    {[&#13;&#10;      { k: 'Dev', v: '建平台的人' },&#13;&#10;      { k: 'Delta', v: '修路的人' },&#13;&#10;      { k: 'Echo', v: '指路的人' },&#13;&#10;      { k: '1%', v: '候选人接受率' }&#13;&#10;    ].map((x, i) =&gt; (&#13;&#10;      &lt;Box key={x.k} style={{ opacity: 0.72 }}&gt;&#13;&#10;        &lt;Text style={{ fontSize: 12.5, color: '#FBA15C', fontWeight: 'bold' }}&gt;{x.k}&lt;/Text&gt;&#13;&#10;        &lt;Text style={{ fontSize: 12, color: 'rgba(255,255,255,0.8)', marginTop: 4 }}&gt;{x.v}&lt;/Text&gt;&#13;&#10;      &lt;/Box&gt;&#13;&#10;    ))}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FDE咨询方法论&lt;/Text&gt;&#13;&#10;    &lt;Text style={{ fontSize: 14, color: 'rgba(255,255,255,0.5)', marginLeft: 12 }}&gt;05 / 6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9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2897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898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2899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00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666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角色本体论</a:t>
            </a:r>
            <a:endParaRPr/>
          </a:p>
        </p:txBody>
      </p:sp>
      <p:sp>
        <p:nvSpPr>
          <p:cNvPr id="2901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WHAT AN FDE REALLY IS</a:t>
            </a:r>
            <a:endParaRPr/>
          </a:p>
        </p:txBody>
      </p:sp>
      <p:sp>
        <p:nvSpPr>
          <p:cNvPr id="2902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三种角色、一个叛逆者、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2005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年的起源，以及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与传统三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roles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的结构性差异</a:t>
            </a:r>
            <a:endParaRPr/>
          </a:p>
        </p:txBody>
      </p:sp>
      <p:sp>
        <p:nvSpPr>
          <p:cNvPr id="2903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Dev</a:t>
            </a:r>
            <a:endParaRPr/>
          </a:p>
        </p:txBody>
      </p:sp>
      <p:sp>
        <p:nvSpPr>
          <p:cNvPr id="2904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建平台的人</a:t>
            </a:r>
            <a:endParaRPr/>
          </a:p>
        </p:txBody>
      </p:sp>
      <p:sp>
        <p:nvSpPr>
          <p:cNvPr id="2905" name="" descr="{&quot;isTemplate&quot;:true,&quot;type&quot;:&quot;text&quot;}"/>
          <p:cNvSpPr txBox="1"/>
          <p:nvPr/>
        </p:nvSpPr>
        <p:spPr>
          <a:xfrm rot="0" flipH="0" flipV="0">
            <a:off x="1733550" y="4953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Delta</a:t>
            </a:r>
            <a:endParaRPr/>
          </a:p>
        </p:txBody>
      </p:sp>
      <p:sp>
        <p:nvSpPr>
          <p:cNvPr id="2906" name="" descr="{&quot;isTemplate&quot;:true,&quot;type&quot;:&quot;text&quot;}"/>
          <p:cNvSpPr txBox="1"/>
          <p:nvPr/>
        </p:nvSpPr>
        <p:spPr>
          <a:xfrm rot="0" flipH="0" flipV="0">
            <a:off x="1733550" y="51339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修路的人</a:t>
            </a:r>
            <a:endParaRPr/>
          </a:p>
        </p:txBody>
      </p:sp>
      <p:sp>
        <p:nvSpPr>
          <p:cNvPr id="2907" name="" descr="{&quot;isTemplate&quot;:true,&quot;type&quot;:&quot;text&quot;}"/>
          <p:cNvSpPr txBox="1"/>
          <p:nvPr/>
        </p:nvSpPr>
        <p:spPr>
          <a:xfrm rot="0" flipH="0" flipV="0">
            <a:off x="2514600" y="4953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Echo</a:t>
            </a:r>
            <a:endParaRPr/>
          </a:p>
        </p:txBody>
      </p:sp>
      <p:sp>
        <p:nvSpPr>
          <p:cNvPr id="2908" name="" descr="{&quot;isTemplate&quot;:true,&quot;type&quot;:&quot;text&quot;}"/>
          <p:cNvSpPr txBox="1"/>
          <p:nvPr/>
        </p:nvSpPr>
        <p:spPr>
          <a:xfrm rot="0" flipH="0" flipV="0">
            <a:off x="2514600" y="51339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指路的人</a:t>
            </a:r>
            <a:endParaRPr/>
          </a:p>
        </p:txBody>
      </p:sp>
      <p:sp>
        <p:nvSpPr>
          <p:cNvPr id="2909" name="" descr="{&quot;isTemplate&quot;:true,&quot;type&quot;:&quot;text&quot;}"/>
          <p:cNvSpPr txBox="1"/>
          <p:nvPr/>
        </p:nvSpPr>
        <p:spPr>
          <a:xfrm rot="0" flipH="0" flipV="0">
            <a:off x="3295650" y="4953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1%</a:t>
            </a:r>
            <a:endParaRPr/>
          </a:p>
        </p:txBody>
      </p:sp>
      <p:sp>
        <p:nvSpPr>
          <p:cNvPr id="2910" name="" descr="{&quot;isTemplate&quot;:true,&quot;type&quot;:&quot;text&quot;}"/>
          <p:cNvSpPr txBox="1"/>
          <p:nvPr/>
        </p:nvSpPr>
        <p:spPr>
          <a:xfrm rot="0" flipH="0" flipV="0">
            <a:off x="3295650" y="51339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候选人接受率</a:t>
            </a:r>
            <a:endParaRPr/>
          </a:p>
        </p:txBody>
      </p:sp>
      <p:sp>
        <p:nvSpPr>
          <p:cNvPr id="2911" name=""/>
          <p:cNvSpPr/>
          <p:nvPr/>
        </p:nvSpPr>
        <p:spPr>
          <a:xfrm rot="0" flipH="0" flipV="0">
            <a:off x="88582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12" name="" descr="{&quot;isTemplate&quot;:true,&quot;type&quot;:&quot;text&quot;}"/>
          <p:cNvSpPr txBox="1"/>
          <p:nvPr/>
        </p:nvSpPr>
        <p:spPr>
          <a:xfrm rot="0" flipH="0" flipV="0">
            <a:off x="9105900" y="608647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913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60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57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不是一个&lt;span style={{ color: '#FA4F24' }}&gt;职级&lt;/span&gt;，而是一种&lt;span style={{ color: '#FA4F24' }}&gt;交付模型&lt;/span&gt;&#10;        &lt;/Text&gt;&#10;        &lt;Text style={{ fontSize: 20, color: '#8A8F99', marginTop: 8 }}&gt;&#10;            衡量它的指标是客户现场生产环境的改变程度——不是工时、不是交付物数量、不是项目结项&#10;        &lt;/Text&gt;&#10;    &lt;/Box&gt;&#10;    &lt;Box style={{ height: 1, background: '#E8E8E8' }} /&gt;&#10;&#10;    &lt;Box style={{ paddingTop: 20, paddingBottom: 12, height: 479, flexDirection: 'column', gap: 12 }}&gt;&#10;&#10;        {/* 上：三种衡量口径对比 */}&#10;        &lt;Box style={{ height: 170, flexDirection: 'row', gap: 10 }}&gt;&#10;            {[&#10;                {&#10;                    t: '按交付物衡量', s: 'false', d: 'FDE 交的是可运行的生产环境，不是 PPT、不是需求文档、不是排期表。',&#10;                    e: '结项那天问「系统上线了吗」，不是「报告交了吗」',&#10;                },&#10;                {&#10;                    t: '按工时衡量', s: 'false', d: '驻场 8–16 周甚至以年计，工时和产出不成比例，这是它最难被财务接受的地方。',&#10;                    e: '把 FDE 当人天计费，这个团队永远不赚钱',&#10;                },&#10;                {&#10;                    t: '按现场改变衡量', s: 'true', d: '客户上线了新的作业方式、新的决策依据、新的数据口径，并且有人在用。',&#10;                    e: '这是唯一能同时对客户和平台负责的口径',&#10;                },&#10;            ].map((x) =&gt; (&#10;                &lt;Box key={x.t} style={{ flex: 1, background: x.s === 'true' ? '#0F1423' : '#F7F7F8', borderRadius: 4, padding: '14px 18px', flexDirection: 'column' }}&gt;&#10;                    &lt;Box style={{ flexDirection: 'row', alignItems: 'center', gap: 9 }}&gt;&#10;                        &lt;Box style={{ width: 8, height: 8, borderRadius: 4, background: x.s === 'true' ? '#FA4F24' : '#C9CBD1' }} /&gt;&#10;                        &lt;Text style={{ fontSize: 16.5, fontWeight: 'bold', color: x.s === 'true' ? '#FFFFFF' : '#0F1423' }}&gt;{x.t}&lt;/Text&gt;&#10;                    &lt;/Box&gt;&#10;                    &lt;Text style={{ fontSize: 13, color: x.s === 'true' ? 'rgba(255,255,255,0.85)' : '#3A4050', lineHeight: 1.55, marginTop: 12, flex: 1 }}&gt;{x.d}&lt;/Text&gt;&#10;                    &lt;Box style={{ background: x.s === 'true' ? 'rgba(250,79,36,0.22)' : '#FFF3EE', borderRadius: 3, padding: '8px 10px' }}&gt;&#10;                        &lt;Text style={{ fontSize: 12, fontWeight: 'bold', color: x.s === 'true' ? '#FBA15C' : '#C43A17', lineHeight: 1.4 }}&gt;{x.e}&lt;/Text&gt;&#10;                    &lt;/Box&gt;&#10;                &lt;/Box&gt;&#10;            ))}&#10;        &lt;/Box&gt;&#10;&#10;        {/* 中：为什么必须是交付模型 */}&#10;        &lt;Box style={{ flex: 1, flexDirection: 'row', gap: 12 }}&gt;&#10;            &lt;Box style={{ width: 470, background: '#FFF3EE', borderRadius: 4, borderLeft: '4px solid #FA4F24', padding: '14px 18px', flexDirection: 'column' }}&gt;&#10;                &lt;Text style={{ fontSize: 15, fontWeight: 'bold', color: '#FA4F24' }}&gt;为什么不能是「招一批顾问」&lt;/Text&gt;&#10;                &lt;Text style={{ fontSize: 13, color: '#3A4050', lineHeight: 1.6, marginTop: 10, flex: 1 }}&gt;&#10;                    AI 时代的交付难点已经从「设计得对不对」变成「能不能在客户那台跑起来」。这个转变是不可逆的：&#10;                &lt;/Text&gt;&#10;                {[&#10;                    '客户现场的脏数据只有进去才能看清，会议室里看不到',&#10;                    '本体的粒度只能连着真实数据边试边定',&#10;                    '失败的代价从「方案被否」变成「客户业务停摆」',&#10;                ].map((t, i) =&gt; (&#10;                    &lt;Box key={i} style={{ flexDirection: 'row', gap: 8, marginTop: 8, alignItems: 'flex-start' }}&gt;&#10;                        &lt;Text style={{ fontSize: 12, fontWeight: 'bold', color: '#FA4F24' }}&gt;{i + 1}&lt;/Text&gt;&#10;                        &lt;Text style={{ fontSize: 12.5, color: '#3A4050', lineHeight: 1.5, flex: 1 }}&gt;{t}&lt;/Text&gt;&#10;                    &lt;/Box&gt;&#10;                ))}&#10;            &lt;/Box&gt;&#10;&#10;            &lt;Box style={{ flex: 1, flexDirection: 'column', gap: 10 }}&gt;&#10;                &lt;Box style={{ height: 96, background: '#0F1423', borderRadius: 4, padding: '13px 18px', flexDirection: 'row', gap: 18, alignItems: 'center' }}&gt;&#10;                    &lt;Box style={{ width: 116, flexDirection: 'column' }}&gt;&#10;                        &lt;Text style={{ fontSize: 12, color: '#FBA15C', letterSpacing: 1 }}&gt;官方原话&lt;/Text&gt;&#10;                        &lt;Text style={{ fontSize: 13.5, color: '#FFFFFF', marginTop: 6, lineHeight: 1.4 }}&gt;radical commitment&lt;br /&gt;to the outcome&lt;/Text&gt;&#10;                    &lt;/Box&gt;&#10;                    &lt;Box style={{ width: 1, height: 66, background: 'rgba(255,255,255,0.18)' }} /&gt;&#10;                    &lt;Text style={{ fontSize: 13, color: 'rgba(255,255,255,0.88)', lineHeight: 1.6, flex: 1 }}&gt;&#10;                        对结果的极端承诺。这句话的重点不是「承诺」，是「极端」——它把 FDE 和所有交付岗在责任性质上分开了：&#10;                        不是对过程负责，是对客户那套流程的运行结果负责。&#10;                    &lt;/Text&gt;&#10;                &lt;/Box&gt;&#10;                &lt;Box style={{ flex: 1, flexDirection: 'row', gap: 10 }}&gt;&#10;                    {[&#10;                        { k: '新人第一天', v: '直接背责任，不给工单队列' },&#10;                        { k: '不被隔离', v: '不挡住客户、混乱与后果' },&#10;                        { k: '走出去', v: '要走很多路，穿客户的鞋' },&#10;                    ].map((x) =&gt; (&#10;                        &lt;Box key={x.k} style={{ flex: 1, background: '#F7F7F8', borderRadius: 4, padding: '12px 14px', flexDirection: 'column', justifyContent: 'center' }}&gt;&#10;                            &lt;Text style={{ fontSize: 13.5, fontWeight: 'bold', color: '#0F1423' }}&gt;{x.k}&lt;/Text&gt;&#10;                            &lt;Text style={{ fontSize: 12.5, color: '#3A4050', lineHeight: 1.5, marginTop: 6 }}&gt;{x.v}&lt;/Text&gt;&#10;                        &lt;/Box&gt;&#10;                    ))}&#10;                &lt;/Box&gt;&#10;            &lt;/Box&gt;&#10;        &lt;/Box&gt;&#10;&#10;        {/* 下：一句判据 */}&#10;        &lt;Box style={{ height: 62, background: 'linear-gradient(160deg, #FA4F24 0%, #F87D2F 100%)', borderRadius: 4, padding: '0 22px', flexDirection: 'row', alignItems: 'center', gap: 16 }}&gt;&#10;            &lt;Text style={{ fontSize: 15, fontWeight: 'bold', color: '#FFFFFF', width: 132 }}&gt;一句话判据&lt;/Text&gt;&#10;            &lt;Text style={{ fontSize: 17, color: '#FFFFFF', lineHeight: 1.5, flex: 1 }}&gt;&#10;                前三种角色交付的是&lt;tspan style={{ fontWeight: 'bold' }}&gt;关于系统的论述&lt;/tspan&gt;，FDE 交付的是&lt;tspan style={{ fontWeight: 'bold' }}&gt;系统本身&lt;/tspan&gt;&#10;            &lt;/Text&gt;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06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不是一个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职级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，而是一种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交付模型</a:t>
            </a:r>
            <a:endParaRPr/>
          </a:p>
        </p:txBody>
      </p:sp>
      <p:sp>
        <p:nvSpPr>
          <p:cNvPr id="357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衡量它的指标是客户现场生产环境的改变程度——不是工时、不是交付物数量、不是项目结项</a:t>
            </a:r>
            <a:endParaRPr/>
          </a:p>
        </p:txBody>
      </p:sp>
      <p:sp>
        <p:nvSpPr>
          <p:cNvPr id="357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75" name=""/>
          <p:cNvSpPr/>
          <p:nvPr/>
        </p:nvSpPr>
        <p:spPr>
          <a:xfrm rot="0" flipH="0" flipV="0">
            <a:off x="609600" y="1343025"/>
            <a:ext cx="3590925" cy="1619250"/>
          </a:xfrm>
          <a:prstGeom prst="roundRect">
            <a:avLst>
              <a:gd name="adj" fmla="val 235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76" name=""/>
          <p:cNvSpPr/>
          <p:nvPr/>
        </p:nvSpPr>
        <p:spPr>
          <a:xfrm rot="0" flipH="0" flipV="0">
            <a:off x="781050" y="1533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9CBD1"/>
          </a:solidFill>
          <a:ln/>
        </p:spPr>
        <p:txBody>
          <a:bodyPr/>
          <a:p/>
        </p:txBody>
      </p:sp>
      <p:sp>
        <p:nvSpPr>
          <p:cNvPr id="3577" name="" descr="{&quot;isTemplate&quot;:true,&quot;type&quot;:&quot;text&quot;}"/>
          <p:cNvSpPr txBox="1"/>
          <p:nvPr/>
        </p:nvSpPr>
        <p:spPr>
          <a:xfrm rot="0" flipH="0" flipV="0">
            <a:off x="942975" y="1476375"/>
            <a:ext cx="94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1423"/>
                </a:solidFill>
                <a:latin typeface="Microsoft YaHei"/>
                <a:ea typeface="Microsoft YaHei"/>
              </a:rPr>
              <a:t>按交付物衡量</a:t>
            </a:r>
            <a:endParaRPr/>
          </a:p>
        </p:txBody>
      </p:sp>
      <p:sp>
        <p:nvSpPr>
          <p:cNvPr id="3578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324802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交的是可运行的生产环境，不是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PPT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、不是需求文档、不是排期表。</a:t>
            </a:r>
            <a:endParaRPr/>
          </a:p>
        </p:txBody>
      </p:sp>
      <p:sp>
        <p:nvSpPr>
          <p:cNvPr id="3579" name=""/>
          <p:cNvSpPr/>
          <p:nvPr/>
        </p:nvSpPr>
        <p:spPr>
          <a:xfrm rot="0" flipH="0" flipV="0">
            <a:off x="781050" y="2476500"/>
            <a:ext cx="3248025" cy="352425"/>
          </a:xfrm>
          <a:prstGeom prst="roundRect">
            <a:avLst>
              <a:gd name="adj" fmla="val 810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580" name="" descr="{&quot;isTemplate&quot;:true,&quot;type&quot;:&quot;text&quot;}"/>
          <p:cNvSpPr txBox="1"/>
          <p:nvPr/>
        </p:nvSpPr>
        <p:spPr>
          <a:xfrm rot="0" flipH="0" flipV="0">
            <a:off x="876300" y="255270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结项那天问「系统上线了吗」，不是「报告交了吗」</a:t>
            </a:r>
            <a:endParaRPr/>
          </a:p>
        </p:txBody>
      </p:sp>
      <p:sp>
        <p:nvSpPr>
          <p:cNvPr id="3581" name=""/>
          <p:cNvSpPr/>
          <p:nvPr/>
        </p:nvSpPr>
        <p:spPr>
          <a:xfrm rot="0" flipH="0" flipV="0">
            <a:off x="4295775" y="1343025"/>
            <a:ext cx="3600450" cy="1619250"/>
          </a:xfrm>
          <a:prstGeom prst="roundRect">
            <a:avLst>
              <a:gd name="adj" fmla="val 235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82" name=""/>
          <p:cNvSpPr/>
          <p:nvPr/>
        </p:nvSpPr>
        <p:spPr>
          <a:xfrm rot="0" flipH="0" flipV="0">
            <a:off x="4467225" y="1533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9CBD1"/>
          </a:solidFill>
          <a:ln/>
        </p:spPr>
        <p:txBody>
          <a:bodyPr/>
          <a:p/>
        </p:txBody>
      </p:sp>
      <p:sp>
        <p:nvSpPr>
          <p:cNvPr id="3583" name="" descr="{&quot;isTemplate&quot;:true,&quot;type&quot;:&quot;text&quot;}"/>
          <p:cNvSpPr txBox="1"/>
          <p:nvPr/>
        </p:nvSpPr>
        <p:spPr>
          <a:xfrm rot="0" flipH="0" flipV="0">
            <a:off x="4629150" y="1476375"/>
            <a:ext cx="790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1423"/>
                </a:solidFill>
                <a:latin typeface="Microsoft YaHei"/>
                <a:ea typeface="Microsoft YaHei"/>
              </a:rPr>
              <a:t>按工时衡量</a:t>
            </a:r>
            <a:endParaRPr/>
          </a:p>
        </p:txBody>
      </p:sp>
      <p:sp>
        <p:nvSpPr>
          <p:cNvPr id="3584" name="" descr="{&quot;isTemplate&quot;:true,&quot;type&quot;:&quot;text&quot;}"/>
          <p:cNvSpPr txBox="1"/>
          <p:nvPr/>
        </p:nvSpPr>
        <p:spPr>
          <a:xfrm rot="0" flipH="0" flipV="0">
            <a:off x="4467225" y="1781175"/>
            <a:ext cx="3257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驻场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8–16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周甚至以年计，工时和产出不成比例，这是它最难被财务接受的地方。</a:t>
            </a:r>
            <a:endParaRPr/>
          </a:p>
        </p:txBody>
      </p:sp>
      <p:sp>
        <p:nvSpPr>
          <p:cNvPr id="3585" name=""/>
          <p:cNvSpPr/>
          <p:nvPr/>
        </p:nvSpPr>
        <p:spPr>
          <a:xfrm rot="0" flipH="0" flipV="0">
            <a:off x="4467225" y="2476500"/>
            <a:ext cx="3257550" cy="352425"/>
          </a:xfrm>
          <a:prstGeom prst="roundRect">
            <a:avLst>
              <a:gd name="adj" fmla="val 810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586" name="" descr="{&quot;isTemplate&quot;:true,&quot;type&quot;:&quot;text&quot;}"/>
          <p:cNvSpPr txBox="1"/>
          <p:nvPr/>
        </p:nvSpPr>
        <p:spPr>
          <a:xfrm rot="0" flipH="0" flipV="0">
            <a:off x="4562475" y="255270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把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当人天计费，这个团队永远不赚钱</a:t>
            </a:r>
            <a:endParaRPr/>
          </a:p>
        </p:txBody>
      </p:sp>
      <p:sp>
        <p:nvSpPr>
          <p:cNvPr id="3587" name=""/>
          <p:cNvSpPr/>
          <p:nvPr/>
        </p:nvSpPr>
        <p:spPr>
          <a:xfrm rot="0" flipH="0" flipV="0">
            <a:off x="7991475" y="1343025"/>
            <a:ext cx="3590925" cy="1619250"/>
          </a:xfrm>
          <a:prstGeom prst="roundRect">
            <a:avLst>
              <a:gd name="adj" fmla="val 235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88" name=""/>
          <p:cNvSpPr/>
          <p:nvPr/>
        </p:nvSpPr>
        <p:spPr>
          <a:xfrm rot="0" flipH="0" flipV="0">
            <a:off x="8162925" y="1533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89" name="" descr="{&quot;isTemplate&quot;:true,&quot;type&quot;:&quot;text&quot;}"/>
          <p:cNvSpPr txBox="1"/>
          <p:nvPr/>
        </p:nvSpPr>
        <p:spPr>
          <a:xfrm rot="0" flipH="0" flipV="0">
            <a:off x="8324850" y="14763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FFFFFF"/>
                </a:solidFill>
                <a:latin typeface="Microsoft YaHei"/>
                <a:ea typeface="Microsoft YaHei"/>
              </a:rPr>
              <a:t>按现场改变衡量</a:t>
            </a:r>
            <a:endParaRPr/>
          </a:p>
        </p:txBody>
      </p:sp>
      <p:sp>
        <p:nvSpPr>
          <p:cNvPr id="3590" name="" descr="{&quot;isTemplate&quot;:true,&quot;type&quot;:&quot;text&quot;}"/>
          <p:cNvSpPr txBox="1"/>
          <p:nvPr/>
        </p:nvSpPr>
        <p:spPr>
          <a:xfrm rot="0" flipH="0" flipV="0">
            <a:off x="8162925" y="1781175"/>
            <a:ext cx="324802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客户上线了新的作业方式、新的决策依据、新的数据口径，并且有人在用。</a:t>
            </a:r>
            <a:endParaRPr/>
          </a:p>
        </p:txBody>
      </p:sp>
      <p:sp>
        <p:nvSpPr>
          <p:cNvPr id="3591" name=""/>
          <p:cNvSpPr/>
          <p:nvPr/>
        </p:nvSpPr>
        <p:spPr>
          <a:xfrm rot="0" flipH="0" flipV="0">
            <a:off x="8162925" y="2476500"/>
            <a:ext cx="3248025" cy="352425"/>
          </a:xfrm>
          <a:prstGeom prst="roundRect">
            <a:avLst>
              <a:gd name="adj" fmla="val 8108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592" name="" descr="{&quot;isTemplate&quot;:true,&quot;type&quot;:&quot;text&quot;}"/>
          <p:cNvSpPr txBox="1"/>
          <p:nvPr/>
        </p:nvSpPr>
        <p:spPr>
          <a:xfrm rot="0" flipH="0" flipV="0">
            <a:off x="8258175" y="2552700"/>
            <a:ext cx="30575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这是唯一能同时对客户和平台负责的口径</a:t>
            </a:r>
            <a:endParaRPr/>
          </a:p>
        </p:txBody>
      </p:sp>
      <p:sp>
        <p:nvSpPr>
          <p:cNvPr id="3593" name=""/>
          <p:cNvSpPr/>
          <p:nvPr/>
        </p:nvSpPr>
        <p:spPr>
          <a:xfrm rot="0" flipH="0" flipV="0">
            <a:off x="647700" y="3076575"/>
            <a:ext cx="4438650" cy="1895475"/>
          </a:xfrm>
          <a:prstGeom prst="roundRect">
            <a:avLst>
              <a:gd name="adj" fmla="val 201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594" name=""/>
          <p:cNvSpPr/>
          <p:nvPr/>
        </p:nvSpPr>
        <p:spPr>
          <a:xfrm rot="0" flipH="0" flipV="0">
            <a:off x="647700" y="3076575"/>
            <a:ext cx="4438650" cy="1895475"/>
          </a:xfrm>
          <a:custGeom>
            <a:pathLst>
              <a:path w="466" h="199">
                <a:moveTo>
                  <a:pt x="4" y="199"/>
                </a:moveTo>
                <a:cubicBezTo>
                  <a:pt x="2" y="199"/>
                  <a:pt x="0" y="197"/>
                  <a:pt x="0" y="19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95" name="" descr="{&quot;isTemplate&quot;:true,&quot;type&quot;:&quot;text&quot;}"/>
          <p:cNvSpPr txBox="1"/>
          <p:nvPr/>
        </p:nvSpPr>
        <p:spPr>
          <a:xfrm rot="0" flipH="0" flipV="0">
            <a:off x="819150" y="32099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为什么不能是「招一批顾问」</a:t>
            </a:r>
            <a:endParaRPr/>
          </a:p>
        </p:txBody>
      </p:sp>
      <p:sp>
        <p:nvSpPr>
          <p:cNvPr id="3596" name="" descr="{&quot;isTemplate&quot;:true,&quot;type&quot;:&quot;text&quot;}"/>
          <p:cNvSpPr txBox="1"/>
          <p:nvPr/>
        </p:nvSpPr>
        <p:spPr>
          <a:xfrm rot="0" flipH="0" flipV="0">
            <a:off x="819150" y="3476625"/>
            <a:ext cx="40957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时代的交付难点已经从「设计得对不对」变成「能不能在客户那台跑起来」。这个转变是不可逆的：</a:t>
            </a:r>
            <a:endParaRPr/>
          </a:p>
        </p:txBody>
      </p:sp>
      <p:sp>
        <p:nvSpPr>
          <p:cNvPr id="3597" name="" descr="{&quot;isTemplate&quot;:true,&quot;type&quot;:&quot;text&quot;}"/>
          <p:cNvSpPr txBox="1"/>
          <p:nvPr/>
        </p:nvSpPr>
        <p:spPr>
          <a:xfrm rot="0" flipH="0" flipV="0">
            <a:off x="819150" y="40290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98" name="" descr="{&quot;isTemplate&quot;:true,&quot;type&quot;:&quot;text&quot;}"/>
          <p:cNvSpPr txBox="1"/>
          <p:nvPr/>
        </p:nvSpPr>
        <p:spPr>
          <a:xfrm rot="0" flipH="0" flipV="0">
            <a:off x="971550" y="4029075"/>
            <a:ext cx="3943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客户现场的脏数据只有进去才能看清，会议室里看不到</a:t>
            </a:r>
            <a:endParaRPr/>
          </a:p>
        </p:txBody>
      </p:sp>
      <p:sp>
        <p:nvSpPr>
          <p:cNvPr id="3599" name="" descr="{&quot;isTemplate&quot;:true,&quot;type&quot;:&quot;text&quot;}"/>
          <p:cNvSpPr txBox="1"/>
          <p:nvPr/>
        </p:nvSpPr>
        <p:spPr>
          <a:xfrm rot="0" flipH="0" flipV="0">
            <a:off x="819150" y="4324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00" name="" descr="{&quot;isTemplate&quot;:true,&quot;type&quot;:&quot;text&quot;}"/>
          <p:cNvSpPr txBox="1"/>
          <p:nvPr/>
        </p:nvSpPr>
        <p:spPr>
          <a:xfrm rot="0" flipH="0" flipV="0">
            <a:off x="971550" y="4324350"/>
            <a:ext cx="3943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本体的粒度只能连着真实数据边试边定</a:t>
            </a:r>
            <a:endParaRPr/>
          </a:p>
        </p:txBody>
      </p:sp>
      <p:sp>
        <p:nvSpPr>
          <p:cNvPr id="3601" name="" descr="{&quot;isTemplate&quot;:true,&quot;type&quot;:&quot;text&quot;}"/>
          <p:cNvSpPr txBox="1"/>
          <p:nvPr/>
        </p:nvSpPr>
        <p:spPr>
          <a:xfrm rot="0" flipH="0" flipV="0">
            <a:off x="819150" y="4619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02" name="" descr="{&quot;isTemplate&quot;:true,&quot;type&quot;:&quot;text&quot;}"/>
          <p:cNvSpPr txBox="1"/>
          <p:nvPr/>
        </p:nvSpPr>
        <p:spPr>
          <a:xfrm rot="0" flipH="0" flipV="0">
            <a:off x="971550" y="4619625"/>
            <a:ext cx="3943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失败的代价从「方案被否」变成「客户业务停摆」</a:t>
            </a:r>
            <a:endParaRPr/>
          </a:p>
        </p:txBody>
      </p:sp>
      <p:sp>
        <p:nvSpPr>
          <p:cNvPr id="3603" name=""/>
          <p:cNvSpPr/>
          <p:nvPr/>
        </p:nvSpPr>
        <p:spPr>
          <a:xfrm rot="0" flipH="0" flipV="0">
            <a:off x="5200650" y="3076575"/>
            <a:ext cx="6381750" cy="91440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04" name="" descr="{&quot;isTemplate&quot;:true,&quot;type&quot;:&quot;text&quot;}"/>
          <p:cNvSpPr txBox="1"/>
          <p:nvPr/>
        </p:nvSpPr>
        <p:spPr>
          <a:xfrm rot="0" flipH="0" flipV="0">
            <a:off x="5372100" y="310515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FBA15C"/>
                </a:solidFill>
                <a:latin typeface="Microsoft YaHei"/>
                <a:ea typeface="Microsoft YaHei"/>
              </a:rPr>
              <a:t>官方原话</a:t>
            </a:r>
            <a:endParaRPr/>
          </a:p>
        </p:txBody>
      </p:sp>
      <p:sp>
        <p:nvSpPr>
          <p:cNvPr id="3605" name="" descr="{&quot;isTemplate&quot;:true,&quot;type&quot;:&quot;text&quot;}"/>
          <p:cNvSpPr txBox="1"/>
          <p:nvPr/>
        </p:nvSpPr>
        <p:spPr>
          <a:xfrm rot="0" flipH="0" flipV="0">
            <a:off x="5372100" y="3305175"/>
            <a:ext cx="11049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radical commitment</a:t>
            </a:r>
            <a:endParaRPr/>
          </a:p>
          <a:p>
            <a:pPr>
              <a:lnSpc>
                <a:spcPct val="140000"/>
              </a:lnSpc>
            </a:pP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to the outcome</a:t>
            </a:r>
            <a:endParaRPr/>
          </a:p>
        </p:txBody>
      </p:sp>
      <p:sp>
        <p:nvSpPr>
          <p:cNvPr id="3606" name=""/>
          <p:cNvSpPr/>
          <p:nvPr/>
        </p:nvSpPr>
        <p:spPr>
          <a:xfrm rot="0" flipH="0" flipV="0">
            <a:off x="6648450" y="3219450"/>
            <a:ext cx="9525" cy="6286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3607" name="" descr="{&quot;isTemplate&quot;:true,&quot;type&quot;:&quot;text&quot;}"/>
          <p:cNvSpPr txBox="1"/>
          <p:nvPr/>
        </p:nvSpPr>
        <p:spPr>
          <a:xfrm rot="0" flipH="0" flipV="0">
            <a:off x="6829425" y="3181350"/>
            <a:ext cx="45815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对结果的极端承诺。这句话的重点不是「承诺」，是「极端」——它把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和所有交付岗在责任性质上分开了：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不是对过程负责，是对客户那套流程的运行结果负责。</a:t>
            </a:r>
            <a:endParaRPr/>
          </a:p>
        </p:txBody>
      </p:sp>
      <p:sp>
        <p:nvSpPr>
          <p:cNvPr id="3608" name=""/>
          <p:cNvSpPr/>
          <p:nvPr/>
        </p:nvSpPr>
        <p:spPr>
          <a:xfrm rot="0" flipH="0" flipV="0">
            <a:off x="5200650" y="4086225"/>
            <a:ext cx="2066925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09" name="" descr="{&quot;isTemplate&quot;:true,&quot;type&quot;:&quot;text&quot;}"/>
          <p:cNvSpPr txBox="1"/>
          <p:nvPr/>
        </p:nvSpPr>
        <p:spPr>
          <a:xfrm rot="0" flipH="0" flipV="0">
            <a:off x="5334000" y="4314825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新人第一天</a:t>
            </a:r>
            <a:endParaRPr/>
          </a:p>
        </p:txBody>
      </p:sp>
      <p:sp>
        <p:nvSpPr>
          <p:cNvPr id="3610" name="" descr="{&quot;isTemplate&quot;:true,&quot;type&quot;:&quot;text&quot;}"/>
          <p:cNvSpPr txBox="1"/>
          <p:nvPr/>
        </p:nvSpPr>
        <p:spPr>
          <a:xfrm rot="0" flipH="0" flipV="0">
            <a:off x="5334000" y="4533900"/>
            <a:ext cx="18002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直接背责任，不给工单队列</a:t>
            </a:r>
            <a:endParaRPr/>
          </a:p>
        </p:txBody>
      </p:sp>
      <p:sp>
        <p:nvSpPr>
          <p:cNvPr id="3611" name=""/>
          <p:cNvSpPr/>
          <p:nvPr/>
        </p:nvSpPr>
        <p:spPr>
          <a:xfrm rot="0" flipH="0" flipV="0">
            <a:off x="7362825" y="4086225"/>
            <a:ext cx="2057400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12" name="" descr="{&quot;isTemplate&quot;:true,&quot;type&quot;:&quot;text&quot;}"/>
          <p:cNvSpPr txBox="1"/>
          <p:nvPr/>
        </p:nvSpPr>
        <p:spPr>
          <a:xfrm rot="0" flipH="0" flipV="0">
            <a:off x="7496175" y="4314825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不被隔离</a:t>
            </a:r>
            <a:endParaRPr/>
          </a:p>
        </p:txBody>
      </p:sp>
      <p:sp>
        <p:nvSpPr>
          <p:cNvPr id="3613" name="" descr="{&quot;isTemplate&quot;:true,&quot;type&quot;:&quot;text&quot;}"/>
          <p:cNvSpPr txBox="1"/>
          <p:nvPr/>
        </p:nvSpPr>
        <p:spPr>
          <a:xfrm rot="0" flipH="0" flipV="0">
            <a:off x="7496175" y="4533900"/>
            <a:ext cx="17907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不挡住客户、混乱与后果</a:t>
            </a:r>
            <a:endParaRPr/>
          </a:p>
        </p:txBody>
      </p:sp>
      <p:sp>
        <p:nvSpPr>
          <p:cNvPr id="3614" name=""/>
          <p:cNvSpPr/>
          <p:nvPr/>
        </p:nvSpPr>
        <p:spPr>
          <a:xfrm rot="0" flipH="0" flipV="0">
            <a:off x="9515475" y="4086225"/>
            <a:ext cx="2066925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15" name="" descr="{&quot;isTemplate&quot;:true,&quot;type&quot;:&quot;text&quot;}"/>
          <p:cNvSpPr txBox="1"/>
          <p:nvPr/>
        </p:nvSpPr>
        <p:spPr>
          <a:xfrm rot="0" flipH="0" flipV="0">
            <a:off x="9648825" y="4314825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走出去</a:t>
            </a:r>
            <a:endParaRPr/>
          </a:p>
        </p:txBody>
      </p:sp>
      <p:sp>
        <p:nvSpPr>
          <p:cNvPr id="3616" name="" descr="{&quot;isTemplate&quot;:true,&quot;type&quot;:&quot;text&quot;}"/>
          <p:cNvSpPr txBox="1"/>
          <p:nvPr/>
        </p:nvSpPr>
        <p:spPr>
          <a:xfrm rot="0" flipH="0" flipV="0">
            <a:off x="9648825" y="4533900"/>
            <a:ext cx="18002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要走很多路，穿客户的鞋</a:t>
            </a:r>
            <a:endParaRPr/>
          </a:p>
        </p:txBody>
      </p:sp>
      <p:sp>
        <p:nvSpPr>
          <p:cNvPr id="3617" name=""/>
          <p:cNvSpPr/>
          <p:nvPr/>
        </p:nvSpPr>
        <p:spPr>
          <a:xfrm rot="0" flipH="0" flipV="0">
            <a:off x="609600" y="508635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618" name="" descr="{&quot;isTemplate&quot;:true,&quot;type&quot;:&quot;text&quot;}"/>
          <p:cNvSpPr txBox="1"/>
          <p:nvPr/>
        </p:nvSpPr>
        <p:spPr>
          <a:xfrm rot="0" flipH="0" flipV="0">
            <a:off x="819150" y="5295900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一句话判据</a:t>
            </a:r>
            <a:endParaRPr/>
          </a:p>
        </p:txBody>
      </p:sp>
      <p:sp>
        <p:nvSpPr>
          <p:cNvPr id="3619" name="" descr="{&quot;isTemplate&quot;:true,&quot;type&quot;:&quot;text&quot;}"/>
          <p:cNvSpPr txBox="1"/>
          <p:nvPr/>
        </p:nvSpPr>
        <p:spPr>
          <a:xfrm rot="0" flipH="0" flipV="0">
            <a:off x="2228850" y="5238750"/>
            <a:ext cx="9144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前三种角色交付的是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关于系统的论述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交付的是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系统本身</a:t>
            </a:r>
            <a:endParaRPr/>
          </a:p>
        </p:txBody>
      </p:sp>
      <p:sp>
        <p:nvSpPr>
          <p:cNvPr id="362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21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22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623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60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68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三种角色：&lt;span style={{ color: '#FA4F24' }}&gt;Dev&lt;/span&gt; / &lt;span style={{ color: '#FA4F24' }}&gt;Delta&lt;/span&gt; / &lt;span style={{ color: '#FA4F24' }}&gt;Echo&lt;/span&gt;——不是三个层级，是三种目标&#10;        &lt;/Text&gt;&#10;        &lt;Text style={{ fontSize: 20, color: '#8A8F99', marginTop: 8 }}&gt;&#10;            建平台的、修路的、指路的，缺任何一个 FDE 模型都不完整；少一个，交付就会偏到某一个方向上去&#10;        &lt;/Text&gt;&#10;    &lt;/Box&gt;&#10;    &lt;Box style={{ height: 1, background: '#E8E8E8' }} /&gt;&#10;&#10;    &lt;Box style={{ paddingTop: 18, paddingBottom: 10, height: 479, flexDirection: 'column', gap: 12 }}&gt;&#10;&#10;        {/* 三角色主卡 */}&#10;        &lt;Box style={{ height: 249, flexDirection: 'row', gap: 11 }}&gt;&#10;            {[&#10;                {&#10;                    k: 'Dev', en: 'Core Product Engineer', org: 'Core Platform / Product Development',&#10;                    goal: '一种能力服务多个客户',&#10;                    d: '在总部把路铺好。拥有某一项平台能力的完整生命周期，做通用件。',&#10;                    trap: '做出来的东西客户一个都用不上，但平台指标很漂亮',&#10;                    c: '#5A6070',&#10;                },&#10;                {&#10;                    k: 'Delta', en: 'Forward Deployed Engineer', org: 'Business Development',&#10;                    goal: '一个客户需要多种能力',&#10;                    d: 'FDE 本体。深入现场接数据、改流程、跑生产，修出那条碎石路。代码要能跑。',&#10;                    trap: '技术正确但运营无关——所以必须配 Echo',&#10;                    c: '#FA4F24', hot: true,&#10;                },&#10;                {&#10;                    k: 'Echo', en: 'Deployment Strategist', org: '客户侧，通常不是工程师',&#10;                    goal: '找到最值得修的那条路',&#10;                    d: '找真实痛点，管理客户关系与采纳。理想人选有行业背景：前军官、医疗老兵、金融老手。',&#10;                    trap: '变成「需求传声筒」，不去顶住错误的方向',&#10;                    c: '#E0641E',&#10;                },&#10;            ].map((x) =&gt; (&#10;                &lt;Box key={x.k} style={{ flex: 1, background: x.hot ? '#0F1423' : '#F7F7F8', borderRadius: 4, padding: '13px 17px', flexDirection: 'column' }}&gt;&#10;                    &lt;Box style={{ flexDirection: 'row', alignItems: 'baseline', gap: 10 }}&gt;&#10;                        &lt;Text style={{ fontSize: 30, fontWeight: 'bold', color: x.hot ? '#FA4F24' : x.c }}&gt;{x.k}&lt;/Text&gt;&#10;                        &lt;Text style={{ fontSize: 12.5, color: x.hot ? 'rgba(255,255,255,0.65)' : '#8A8F99', flex: 1 }}&gt;{x.en}&lt;/Text&gt;&#10;                    &lt;/Box&gt;&#10;                    &lt;Text style={{ fontSize: 11, color: x.hot ? 'rgba(255,255,255,0.5)' : '#8A8F99', marginTop: 6 }}&gt;{x.org}&lt;/Text&gt;&#10;                    &lt;Box style={{ background: x.hot ? 'rgba(250,79,36,0.22)' : '#FFF3EE', borderRadius: 3, padding: '8px 11px', marginTop: 10 }}&gt;&#10;                        &lt;Text style={{ fontSize: 11, color: x.hot ? '#FBA15C' : '#8A8F99' }}&gt;目标&lt;/Text&gt;&#10;                        &lt;Text style={{ fontSize: 15, fontWeight: 'bold', color: x.hot ? '#FFFFFF' : '#0F1423', marginTop: 4 }}&gt;{x.goal}&lt;/Text&gt;&#10;                    &lt;/Box&gt;&#10;                    &lt;Text style={{ fontSize: 12, color: x.hot ? 'rgba(255,255,255,0.85)' : '#3A4050', lineHeight: 1.5, marginTop: 10, flex: 1 }}&gt;{x.d}&lt;/Text&gt;&#10;                    &lt;Box style={{ borderTop: '1px solid ' + (x.hot ? 'rgba(255,255,255,0.16)' : '#E8E8E8'), paddingTop: 10 }}&gt;&#10;                        &lt;Text style={{ fontSize: 11, color: x.hot ? 'rgba(255,255,255,0.45)' : '#C9CBD1' }}&gt;失败形态&lt;/Text&gt;&#10;                        &lt;Text style={{ fontSize: 12, fontWeight: 'bold', color: x.hot ? '#FBA15C' : '#C43A17', marginTop: 4, lineHeight: 1.4 }}&gt;{x.trap}&lt;/Text&gt;&#10;                    &lt;/Box&gt;&#10;                &lt;/Box&gt;&#10;            ))}&#10;        &lt;/Box&gt;&#10;&#10;        {/* 中：Delta / Echo 配对机制 */}&#10;        &lt;Box style={{ height: 122, flexDirection: 'row', gap: 12 }}&gt;&#10;            &lt;Box style={{ width: 566, background: '#FFF3EE', borderRadius: 4, borderLeft: '4px solid #FA4F24', padding: '13px 18px', flexDirection: 'column' }}&gt;&#10;                &lt;Text style={{ fontSize: 15, fontWeight: 'bold', color: '#C43A17' }}&gt;刻意制造的张力：Delta 一对一配 Echo&lt;/Text&gt;&#10;                &lt;Text style={{ fontSize: 12, color: '#3A4050', lineHeight: 1.5, marginTop: 8, flex: 1 }}&gt;&#10;                    Delta 单独干，会做出技术正确但运营无关的东西——模型漂亮，没人用。Echo 的职责是把工作拽回真实客户问题上。&#10;                    这不是分工，是纠偏：Echo 不是派活的，是挑方向的。&#10;                &lt;/Text&gt;&#10;                &lt;Text style={{ fontSize: 11.5, color: '#8A8F99', marginTop: 6, lineHeight: 1.4 }}&gt;&#10;                    实操规模：每客户 2–4 名 FDE，单项目 2–6 名，驻场常以年计。&#10;                &lt;/Text&gt;&#10;            &lt;/Box&gt;&#10;&#10;            &lt;Box style={{ flex: 1, background: '#0F1423', borderRadius: 4, padding: '13px 18px', flexDirection: 'column' }}&gt;&#10;                &lt;Text style={{ fontSize: 15, fontWeight: 'bold', color: '#FBA15C' }}&gt;一个反直觉的事实&lt;/Text&gt;&#10;                &lt;Box style={{ flex: 1, flexDirection: 'row', gap: 14, alignItems: 'center', marginTop: 10 }}&gt;&#10;                    &lt;Text style={{ fontSize: 34, fontWeight: 'bold', color: '#FFFFFF' }}&gt;1%&lt;/Text&gt;&#10;                    &lt;Text style={{ fontSize: 12.5, color: 'rgba(255,255,255,0.85)', lineHeight: 1.55, flex: 1 }}&gt;&#10;                        官方估算的 FDE 候选人接受率。全球池子几千人，而且大多已经被雇走。&#10;                        2016 年，Palantir 的 FDE 数量&lt;b style={{ color: '#FBA15C' }}&gt;超过了传统软件工程师&lt;/b&gt;。&#10;                    &lt;/Text&gt;&#10;                &lt;/Box&gt;&#10;                &lt;Text style={{ fontSize: 11.5, color: 'rgba(255,255,255,0.55)', marginTop: 6 }}&gt;&#10;                    结论：这不是靠扩招能解决的岗位，是结构性稀缺资源。&#10;                &lt;/Text&gt;&#10;            &lt;/Box&gt;&#10;        &lt;/Box&gt;&#10;&#10;        {/* 下：行业扩散 */}&#10;        &lt;Box style={{ height: 66, flexDirection: 'row', gap: 10, alignItems: 'stretch' }}&gt;&#10;            &lt;Box style={{ width: 176, background: '#0F1423', borderRadius: 4, padding: '0 14px', flexDirection: 'column', justifyContent: 'center' }}&gt;&#10;                &lt;Text style={{ fontSize: 13.5, fontWeight: 'bold', color: '#FFFFFF' }}&gt;全行业在复制&lt;/Text&gt;&#10;                &lt;Text style={{ fontSize: 10.5, color: 'rgba(255,255,255,0.6)', marginTop: 5, lineHeight: 1.35 }}&gt;2024–2026 全面替换售前编制&lt;/Text&gt;&#10;            &lt;/Box&gt;&#10;            {[&#10;                { k: 'Anthropic', v: '前沿模型安全落地' },&#10;                { k: 'OpenAI', v: '企业微调与评测' },&#10;                { k: 'Databricks', v: '数据平台 + AI' },&#10;                { k: 'Cohere / Google', v: '企业模型交付' },&#10;            ].map((x) =&gt; (&#10;                &lt;Box key={x.k} style={{ flex: 1, background: '#F7F7F8', borderRadius: 4, padding: '0 13px', flexDirection: 'column', justifyContent: 'center', borderTop: '3px solid #FBA15C' }}&gt;&#10;                    &lt;Text style={{ fontSize: 14, fontWeight: 'bold', color: '#0F1423' }}&gt;{x.k}&lt;/Text&gt;&#10;                    &lt;Text style={{ fontSize: 11.5, color: '#3A4050'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07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三种角色：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Dev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Delta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Echo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——不是三个层级，是三种目标</a:t>
            </a:r>
            <a:endParaRPr/>
          </a:p>
        </p:txBody>
      </p:sp>
      <p:sp>
        <p:nvSpPr>
          <p:cNvPr id="368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建平台的、修路的、指路的，缺任何一个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模型都不完整；少一个，交付就会偏到某一个方向上去</a:t>
            </a:r>
            <a:endParaRPr/>
          </a:p>
        </p:txBody>
      </p:sp>
      <p:sp>
        <p:nvSpPr>
          <p:cNvPr id="368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86" name=""/>
          <p:cNvSpPr/>
          <p:nvPr/>
        </p:nvSpPr>
        <p:spPr>
          <a:xfrm rot="0" flipH="0" flipV="0">
            <a:off x="609600" y="1323975"/>
            <a:ext cx="3590925" cy="2371725"/>
          </a:xfrm>
          <a:prstGeom prst="roundRect">
            <a:avLst>
              <a:gd name="adj" fmla="val 16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87" name="" descr="{&quot;isTemplate&quot;:true,&quot;type&quot;:&quot;text&quot;}"/>
          <p:cNvSpPr txBox="1"/>
          <p:nvPr/>
        </p:nvSpPr>
        <p:spPr>
          <a:xfrm rot="0" flipH="0" flipV="0">
            <a:off x="771525" y="1447800"/>
            <a:ext cx="561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5A6070"/>
                </a:solidFill>
                <a:latin typeface="Microsoft YaHei"/>
                <a:ea typeface="Microsoft YaHei"/>
              </a:rPr>
              <a:t>Dev</a:t>
            </a:r>
            <a:endParaRPr/>
          </a:p>
        </p:txBody>
      </p:sp>
      <p:sp>
        <p:nvSpPr>
          <p:cNvPr id="3688" name="" descr="{&quot;isTemplate&quot;:true,&quot;type&quot;:&quot;text&quot;}"/>
          <p:cNvSpPr txBox="1"/>
          <p:nvPr/>
        </p:nvSpPr>
        <p:spPr>
          <a:xfrm rot="0" flipH="0" flipV="0">
            <a:off x="1428750" y="1447800"/>
            <a:ext cx="2609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A8F99"/>
                </a:solidFill>
                <a:latin typeface="Microsoft YaHei"/>
                <a:ea typeface="Microsoft YaHei"/>
              </a:rPr>
              <a:t>Core Product Engineer</a:t>
            </a:r>
            <a:endParaRPr/>
          </a:p>
        </p:txBody>
      </p:sp>
      <p:sp>
        <p:nvSpPr>
          <p:cNvPr id="3689" name="" descr="{&quot;isTemplate&quot;:true,&quot;type&quot;:&quot;text&quot;}"/>
          <p:cNvSpPr txBox="1"/>
          <p:nvPr/>
        </p:nvSpPr>
        <p:spPr>
          <a:xfrm rot="0" flipH="0" flipV="0">
            <a:off x="771525" y="184785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Core Platform / Product Development</a:t>
            </a:r>
            <a:endParaRPr/>
          </a:p>
        </p:txBody>
      </p:sp>
      <p:sp>
        <p:nvSpPr>
          <p:cNvPr id="3690" name=""/>
          <p:cNvSpPr/>
          <p:nvPr/>
        </p:nvSpPr>
        <p:spPr>
          <a:xfrm rot="0" flipH="0" flipV="0">
            <a:off x="771525" y="2076450"/>
            <a:ext cx="3267075" cy="495300"/>
          </a:xfrm>
          <a:prstGeom prst="roundRect">
            <a:avLst>
              <a:gd name="adj" fmla="val 576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691" name="" descr="{&quot;isTemplate&quot;:true,&quot;type&quot;:&quot;text&quot;}"/>
          <p:cNvSpPr txBox="1"/>
          <p:nvPr/>
        </p:nvSpPr>
        <p:spPr>
          <a:xfrm rot="0" flipH="0" flipV="0">
            <a:off x="876300" y="2152650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3692" name="" descr="{&quot;isTemplate&quot;:true,&quot;type&quot;:&quot;text&quot;}"/>
          <p:cNvSpPr txBox="1"/>
          <p:nvPr/>
        </p:nvSpPr>
        <p:spPr>
          <a:xfrm rot="0" flipH="0" flipV="0">
            <a:off x="876300" y="232410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一种能力服务多个客户</a:t>
            </a:r>
            <a:endParaRPr/>
          </a:p>
        </p:txBody>
      </p:sp>
      <p:sp>
        <p:nvSpPr>
          <p:cNvPr id="3693" name="" descr="{&quot;isTemplate&quot;:true,&quot;type&quot;:&quot;text&quot;}"/>
          <p:cNvSpPr txBox="1"/>
          <p:nvPr/>
        </p:nvSpPr>
        <p:spPr>
          <a:xfrm rot="0" flipH="0" flipV="0">
            <a:off x="771525" y="2667000"/>
            <a:ext cx="32670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在总部把路铺好。拥有某一项平台能力的完整生命周期，做通用件。</a:t>
            </a:r>
            <a:endParaRPr/>
          </a:p>
        </p:txBody>
      </p:sp>
      <p:sp>
        <p:nvSpPr>
          <p:cNvPr id="3694" name=""/>
          <p:cNvSpPr/>
          <p:nvPr/>
        </p:nvSpPr>
        <p:spPr>
          <a:xfrm rot="0" flipH="0" flipV="0">
            <a:off x="771525" y="3095625"/>
            <a:ext cx="3267075" cy="485775"/>
          </a:xfrm>
          <a:custGeom>
            <a:pathLst>
              <a:path w="343" h="51">
                <a:moveTo>
                  <a:pt x="0" y="0"/>
                </a:moveTo>
                <a:lnTo>
                  <a:pt x="343" y="0"/>
                </a:lnTo>
                <a:lnTo>
                  <a:pt x="343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95" name="" descr="{&quot;isTemplate&quot;:true,&quot;type&quot;:&quot;text&quot;}"/>
          <p:cNvSpPr txBox="1"/>
          <p:nvPr/>
        </p:nvSpPr>
        <p:spPr>
          <a:xfrm rot="0" flipH="0" flipV="0">
            <a:off x="771525" y="320040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9CBD1"/>
                </a:solidFill>
                <a:latin typeface="Microsoft YaHei"/>
                <a:ea typeface="Microsoft YaHei"/>
              </a:rPr>
              <a:t>失败形态</a:t>
            </a:r>
            <a:endParaRPr/>
          </a:p>
        </p:txBody>
      </p:sp>
      <p:sp>
        <p:nvSpPr>
          <p:cNvPr id="3696" name="" descr="{&quot;isTemplate&quot;:true,&quot;type&quot;:&quot;text&quot;}"/>
          <p:cNvSpPr txBox="1"/>
          <p:nvPr/>
        </p:nvSpPr>
        <p:spPr>
          <a:xfrm rot="0" flipH="0" flipV="0">
            <a:off x="771525" y="337185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做出来的东西客户一个都用不上，但平台指标很漂亮</a:t>
            </a:r>
            <a:endParaRPr/>
          </a:p>
        </p:txBody>
      </p:sp>
      <p:sp>
        <p:nvSpPr>
          <p:cNvPr id="3697" name=""/>
          <p:cNvSpPr/>
          <p:nvPr/>
        </p:nvSpPr>
        <p:spPr>
          <a:xfrm rot="0" flipH="0" flipV="0">
            <a:off x="4305300" y="1323975"/>
            <a:ext cx="3581400" cy="2371725"/>
          </a:xfrm>
          <a:prstGeom prst="roundRect">
            <a:avLst>
              <a:gd name="adj" fmla="val 160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98" name="" descr="{&quot;isTemplate&quot;:true,&quot;type&quot;:&quot;text&quot;}"/>
          <p:cNvSpPr txBox="1"/>
          <p:nvPr/>
        </p:nvSpPr>
        <p:spPr>
          <a:xfrm rot="0" flipH="0" flipV="0">
            <a:off x="4467225" y="1447800"/>
            <a:ext cx="76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Delta</a:t>
            </a:r>
            <a:endParaRPr/>
          </a:p>
        </p:txBody>
      </p:sp>
      <p:sp>
        <p:nvSpPr>
          <p:cNvPr id="3699" name="" descr="{&quot;isTemplate&quot;:true,&quot;type&quot;:&quot;text&quot;}"/>
          <p:cNvSpPr txBox="1"/>
          <p:nvPr/>
        </p:nvSpPr>
        <p:spPr>
          <a:xfrm rot="0" flipH="0" flipV="0">
            <a:off x="5324475" y="1447800"/>
            <a:ext cx="2400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Forward Deployed Engineer</a:t>
            </a:r>
            <a:endParaRPr/>
          </a:p>
        </p:txBody>
      </p:sp>
      <p:sp>
        <p:nvSpPr>
          <p:cNvPr id="3700" name="" descr="{&quot;isTemplate&quot;:true,&quot;type&quot;:&quot;text&quot;}"/>
          <p:cNvSpPr txBox="1"/>
          <p:nvPr/>
        </p:nvSpPr>
        <p:spPr>
          <a:xfrm rot="0" flipH="0" flipV="0">
            <a:off x="4467225" y="1847850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Business Development</a:t>
            </a:r>
            <a:endParaRPr/>
          </a:p>
        </p:txBody>
      </p:sp>
      <p:sp>
        <p:nvSpPr>
          <p:cNvPr id="3701" name=""/>
          <p:cNvSpPr/>
          <p:nvPr/>
        </p:nvSpPr>
        <p:spPr>
          <a:xfrm rot="0" flipH="0" flipV="0">
            <a:off x="4467225" y="2076450"/>
            <a:ext cx="3257550" cy="495300"/>
          </a:xfrm>
          <a:prstGeom prst="roundRect">
            <a:avLst>
              <a:gd name="adj" fmla="val 5769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702" name="" descr="{&quot;isTemplate&quot;:true,&quot;type&quot;:&quot;text&quot;}"/>
          <p:cNvSpPr txBox="1"/>
          <p:nvPr/>
        </p:nvSpPr>
        <p:spPr>
          <a:xfrm rot="0" flipH="0" flipV="0">
            <a:off x="4572000" y="2152650"/>
            <a:ext cx="3048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BA15C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3703" name="" descr="{&quot;isTemplate&quot;:true,&quot;type&quot;:&quot;text&quot;}"/>
          <p:cNvSpPr txBox="1"/>
          <p:nvPr/>
        </p:nvSpPr>
        <p:spPr>
          <a:xfrm rot="0" flipH="0" flipV="0">
            <a:off x="4572000" y="2324100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一个客户需要多种能力</a:t>
            </a:r>
            <a:endParaRPr/>
          </a:p>
        </p:txBody>
      </p:sp>
      <p:sp>
        <p:nvSpPr>
          <p:cNvPr id="3704" name="" descr="{&quot;isTemplate&quot;:true,&quot;type&quot;:&quot;text&quot;}"/>
          <p:cNvSpPr txBox="1"/>
          <p:nvPr/>
        </p:nvSpPr>
        <p:spPr>
          <a:xfrm rot="0" flipH="0" flipV="0">
            <a:off x="4467225" y="2667000"/>
            <a:ext cx="32575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本体。深入现场接数据、改流程、跑生产，修出那条碎石路。代码要能跑。</a:t>
            </a:r>
            <a:endParaRPr/>
          </a:p>
        </p:txBody>
      </p:sp>
      <p:sp>
        <p:nvSpPr>
          <p:cNvPr id="3705" name=""/>
          <p:cNvSpPr/>
          <p:nvPr/>
        </p:nvSpPr>
        <p:spPr>
          <a:xfrm rot="0" flipH="0" flipV="0">
            <a:off x="4467225" y="3095625"/>
            <a:ext cx="3257550" cy="485775"/>
          </a:xfrm>
          <a:custGeom>
            <a:pathLst>
              <a:path w="342" h="51">
                <a:moveTo>
                  <a:pt x="0" y="0"/>
                </a:moveTo>
                <a:lnTo>
                  <a:pt x="342" y="0"/>
                </a:lnTo>
                <a:lnTo>
                  <a:pt x="34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3706" name="" descr="{&quot;isTemplate&quot;:true,&quot;type&quot;:&quot;text&quot;}"/>
          <p:cNvSpPr txBox="1"/>
          <p:nvPr/>
        </p:nvSpPr>
        <p:spPr>
          <a:xfrm rot="0" flipH="0" flipV="0">
            <a:off x="4467225" y="3200400"/>
            <a:ext cx="3257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45000"/>
                  </a:srgbClr>
                </a:solidFill>
                <a:latin typeface="Microsoft YaHei"/>
                <a:ea typeface="Microsoft YaHei"/>
              </a:rPr>
              <a:t>失败形态</a:t>
            </a:r>
            <a:endParaRPr/>
          </a:p>
        </p:txBody>
      </p:sp>
      <p:sp>
        <p:nvSpPr>
          <p:cNvPr id="3707" name="" descr="{&quot;isTemplate&quot;:true,&quot;type&quot;:&quot;text&quot;}"/>
          <p:cNvSpPr txBox="1"/>
          <p:nvPr/>
        </p:nvSpPr>
        <p:spPr>
          <a:xfrm rot="0" flipH="0" flipV="0">
            <a:off x="4467225" y="337185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技术正确但运营无关——所以必须配</a:t>
            </a: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Echo</a:t>
            </a:r>
            <a:endParaRPr/>
          </a:p>
        </p:txBody>
      </p:sp>
      <p:sp>
        <p:nvSpPr>
          <p:cNvPr id="3708" name=""/>
          <p:cNvSpPr/>
          <p:nvPr/>
        </p:nvSpPr>
        <p:spPr>
          <a:xfrm rot="0" flipH="0" flipV="0">
            <a:off x="7991475" y="1323975"/>
            <a:ext cx="3590925" cy="2371725"/>
          </a:xfrm>
          <a:prstGeom prst="roundRect">
            <a:avLst>
              <a:gd name="adj" fmla="val 16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09" name="" descr="{&quot;isTemplate&quot;:true,&quot;type&quot;:&quot;text&quot;}"/>
          <p:cNvSpPr txBox="1"/>
          <p:nvPr/>
        </p:nvSpPr>
        <p:spPr>
          <a:xfrm rot="0" flipH="0" flipV="0">
            <a:off x="8153400" y="1447800"/>
            <a:ext cx="685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0641E"/>
                </a:solidFill>
                <a:latin typeface="Microsoft YaHei"/>
                <a:ea typeface="Microsoft YaHei"/>
              </a:rPr>
              <a:t>Echo</a:t>
            </a:r>
            <a:endParaRPr/>
          </a:p>
        </p:txBody>
      </p:sp>
      <p:sp>
        <p:nvSpPr>
          <p:cNvPr id="3710" name="" descr="{&quot;isTemplate&quot;:true,&quot;type&quot;:&quot;text&quot;}"/>
          <p:cNvSpPr txBox="1"/>
          <p:nvPr/>
        </p:nvSpPr>
        <p:spPr>
          <a:xfrm rot="0" flipH="0" flipV="0">
            <a:off x="8934450" y="1447800"/>
            <a:ext cx="24860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A8F99"/>
                </a:solidFill>
                <a:latin typeface="Microsoft YaHei"/>
                <a:ea typeface="Microsoft YaHei"/>
              </a:rPr>
              <a:t>Deployment Strategist</a:t>
            </a:r>
            <a:endParaRPr/>
          </a:p>
        </p:txBody>
      </p:sp>
      <p:sp>
        <p:nvSpPr>
          <p:cNvPr id="3711" name="" descr="{&quot;isTemplate&quot;:true,&quot;type&quot;:&quot;text&quot;}"/>
          <p:cNvSpPr txBox="1"/>
          <p:nvPr/>
        </p:nvSpPr>
        <p:spPr>
          <a:xfrm rot="0" flipH="0" flipV="0">
            <a:off x="8153400" y="184785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客户侧，通常不是工程师</a:t>
            </a:r>
            <a:endParaRPr/>
          </a:p>
        </p:txBody>
      </p:sp>
      <p:sp>
        <p:nvSpPr>
          <p:cNvPr id="3712" name=""/>
          <p:cNvSpPr/>
          <p:nvPr/>
        </p:nvSpPr>
        <p:spPr>
          <a:xfrm rot="0" flipH="0" flipV="0">
            <a:off x="8153400" y="2076450"/>
            <a:ext cx="3267075" cy="495300"/>
          </a:xfrm>
          <a:prstGeom prst="roundRect">
            <a:avLst>
              <a:gd name="adj" fmla="val 576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713" name="" descr="{&quot;isTemplate&quot;:true,&quot;type&quot;:&quot;text&quot;}"/>
          <p:cNvSpPr txBox="1"/>
          <p:nvPr/>
        </p:nvSpPr>
        <p:spPr>
          <a:xfrm rot="0" flipH="0" flipV="0">
            <a:off x="8258175" y="2152650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3714" name="" descr="{&quot;isTemplate&quot;:true,&quot;type&quot;:&quot;text&quot;}"/>
          <p:cNvSpPr txBox="1"/>
          <p:nvPr/>
        </p:nvSpPr>
        <p:spPr>
          <a:xfrm rot="0" flipH="0" flipV="0">
            <a:off x="8258175" y="232410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找到最值得修的那条路</a:t>
            </a:r>
            <a:endParaRPr/>
          </a:p>
        </p:txBody>
      </p:sp>
      <p:sp>
        <p:nvSpPr>
          <p:cNvPr id="3715" name="" descr="{&quot;isTemplate&quot;:true,&quot;type&quot;:&quot;text&quot;}"/>
          <p:cNvSpPr txBox="1"/>
          <p:nvPr/>
        </p:nvSpPr>
        <p:spPr>
          <a:xfrm rot="0" flipH="0" flipV="0">
            <a:off x="8153400" y="2667000"/>
            <a:ext cx="32670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找真实痛点，管理客户关系与采纳。理想人选有行业背景：前军官、医疗老兵、金融老手。</a:t>
            </a:r>
            <a:endParaRPr/>
          </a:p>
        </p:txBody>
      </p:sp>
      <p:sp>
        <p:nvSpPr>
          <p:cNvPr id="3716" name=""/>
          <p:cNvSpPr/>
          <p:nvPr/>
        </p:nvSpPr>
        <p:spPr>
          <a:xfrm rot="0" flipH="0" flipV="0">
            <a:off x="8153400" y="3095625"/>
            <a:ext cx="3267075" cy="485775"/>
          </a:xfrm>
          <a:custGeom>
            <a:pathLst>
              <a:path w="343" h="51">
                <a:moveTo>
                  <a:pt x="0" y="0"/>
                </a:moveTo>
                <a:lnTo>
                  <a:pt x="343" y="0"/>
                </a:lnTo>
                <a:lnTo>
                  <a:pt x="343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717" name="" descr="{&quot;isTemplate&quot;:true,&quot;type&quot;:&quot;text&quot;}"/>
          <p:cNvSpPr txBox="1"/>
          <p:nvPr/>
        </p:nvSpPr>
        <p:spPr>
          <a:xfrm rot="0" flipH="0" flipV="0">
            <a:off x="8153400" y="3200400"/>
            <a:ext cx="3267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9CBD1"/>
                </a:solidFill>
                <a:latin typeface="Microsoft YaHei"/>
                <a:ea typeface="Microsoft YaHei"/>
              </a:rPr>
              <a:t>失败形态</a:t>
            </a:r>
            <a:endParaRPr/>
          </a:p>
        </p:txBody>
      </p:sp>
      <p:sp>
        <p:nvSpPr>
          <p:cNvPr id="3718" name="" descr="{&quot;isTemplate&quot;:true,&quot;type&quot;:&quot;text&quot;}"/>
          <p:cNvSpPr txBox="1"/>
          <p:nvPr/>
        </p:nvSpPr>
        <p:spPr>
          <a:xfrm rot="0" flipH="0" flipV="0">
            <a:off x="8153400" y="3371850"/>
            <a:ext cx="3267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变成「需求传声筒」，不去顶住错误的方向</a:t>
            </a:r>
            <a:endParaRPr/>
          </a:p>
        </p:txBody>
      </p:sp>
      <p:sp>
        <p:nvSpPr>
          <p:cNvPr id="3719" name=""/>
          <p:cNvSpPr/>
          <p:nvPr/>
        </p:nvSpPr>
        <p:spPr>
          <a:xfrm rot="0" flipH="0" flipV="0">
            <a:off x="647700" y="3810000"/>
            <a:ext cx="5353050" cy="1162050"/>
          </a:xfrm>
          <a:prstGeom prst="roundRect">
            <a:avLst>
              <a:gd name="adj" fmla="val 327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720" name=""/>
          <p:cNvSpPr/>
          <p:nvPr/>
        </p:nvSpPr>
        <p:spPr>
          <a:xfrm rot="0" flipH="0" flipV="0">
            <a:off x="647700" y="3810000"/>
            <a:ext cx="5353050" cy="1162050"/>
          </a:xfrm>
          <a:custGeom>
            <a:pathLst>
              <a:path w="562" h="122">
                <a:moveTo>
                  <a:pt x="4" y="122"/>
                </a:moveTo>
                <a:cubicBezTo>
                  <a:pt x="2" y="122"/>
                  <a:pt x="0" y="120"/>
                  <a:pt x="0" y="11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21" name="" descr="{&quot;isTemplate&quot;:true,&quot;type&quot;:&quot;text&quot;}"/>
          <p:cNvSpPr txBox="1"/>
          <p:nvPr/>
        </p:nvSpPr>
        <p:spPr>
          <a:xfrm rot="0" flipH="0" flipV="0">
            <a:off x="819150" y="3933825"/>
            <a:ext cx="501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刻意制造的张力：</a:t>
            </a: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一对一配</a:t>
            </a: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Echo</a:t>
            </a:r>
            <a:endParaRPr/>
          </a:p>
        </p:txBody>
      </p:sp>
      <p:sp>
        <p:nvSpPr>
          <p:cNvPr id="3722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50101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单独干，会做出技术正确但运营无关的东西——模型漂亮，没人用。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的职责是把工作拽回真实客户问题上。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这不是分工，是纠偏：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不是派活的，是挑方向的。</a:t>
            </a:r>
            <a:endParaRPr/>
          </a:p>
        </p:txBody>
      </p:sp>
      <p:sp>
        <p:nvSpPr>
          <p:cNvPr id="3723" name="" descr="{&quot;isTemplate&quot;:true,&quot;type&quot;:&quot;text&quot;}"/>
          <p:cNvSpPr txBox="1"/>
          <p:nvPr/>
        </p:nvSpPr>
        <p:spPr>
          <a:xfrm rot="0" flipH="0" flipV="0">
            <a:off x="819150" y="46577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实操规模：每客户</a:t>
            </a:r>
            <a:r>
              <a:rPr lang="en-US" sz="863">
                <a:solidFill>
                  <a:srgbClr val="8A8F99"/>
                </a:solidFill>
                <a:latin typeface="Microsoft YaHei"/>
                <a:ea typeface="Microsoft YaHei"/>
              </a:rPr>
              <a:t xml:space="preserve"> 2–4 </a:t>
            </a: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名</a:t>
            </a:r>
            <a:r>
              <a:rPr lang="en-US" sz="863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，单项目</a:t>
            </a:r>
            <a:r>
              <a:rPr lang="en-US" sz="863">
                <a:solidFill>
                  <a:srgbClr val="8A8F99"/>
                </a:solidFill>
                <a:latin typeface="Microsoft YaHei"/>
                <a:ea typeface="Microsoft YaHei"/>
              </a:rPr>
              <a:t xml:space="preserve"> 2–6 </a:t>
            </a:r>
            <a:r>
              <a:rPr lang="zh-CN" sz="863">
                <a:solidFill>
                  <a:srgbClr val="8A8F99"/>
                </a:solidFill>
                <a:latin typeface="Microsoft YaHei"/>
                <a:ea typeface="Microsoft YaHei"/>
              </a:rPr>
              <a:t>名，驻场常以年计。</a:t>
            </a:r>
            <a:endParaRPr/>
          </a:p>
        </p:txBody>
      </p:sp>
      <p:sp>
        <p:nvSpPr>
          <p:cNvPr id="3724" name=""/>
          <p:cNvSpPr/>
          <p:nvPr/>
        </p:nvSpPr>
        <p:spPr>
          <a:xfrm rot="0" flipH="0" flipV="0">
            <a:off x="6115050" y="3810000"/>
            <a:ext cx="5467350" cy="1162050"/>
          </a:xfrm>
          <a:prstGeom prst="roundRect">
            <a:avLst>
              <a:gd name="adj" fmla="val 327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25" name="" descr="{&quot;isTemplate&quot;:true,&quot;type&quot;:&quot;text&quot;}"/>
          <p:cNvSpPr txBox="1"/>
          <p:nvPr/>
        </p:nvSpPr>
        <p:spPr>
          <a:xfrm rot="0" flipH="0" flipV="0">
            <a:off x="6286500" y="3933825"/>
            <a:ext cx="512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一个反直觉的事实</a:t>
            </a:r>
            <a:endParaRPr/>
          </a:p>
        </p:txBody>
      </p:sp>
      <p:sp>
        <p:nvSpPr>
          <p:cNvPr id="3726" name="" descr="{&quot;isTemplate&quot;:true,&quot;type&quot;:&quot;text&quot;}"/>
          <p:cNvSpPr txBox="1"/>
          <p:nvPr/>
        </p:nvSpPr>
        <p:spPr>
          <a:xfrm rot="0" flipH="0" flipV="0">
            <a:off x="6286500" y="4238625"/>
            <a:ext cx="504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1%</a:t>
            </a:r>
            <a:endParaRPr/>
          </a:p>
        </p:txBody>
      </p:sp>
      <p:sp>
        <p:nvSpPr>
          <p:cNvPr id="3727" name="" descr="{&quot;isTemplate&quot;:true,&quot;type&quot;:&quot;text&quot;}"/>
          <p:cNvSpPr txBox="1"/>
          <p:nvPr/>
        </p:nvSpPr>
        <p:spPr>
          <a:xfrm rot="0" flipH="0" flipV="0">
            <a:off x="6924675" y="4210050"/>
            <a:ext cx="44862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官方估算的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候选人接受率。全球池子几千人，而且大多已经被雇走。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2016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年，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Palantir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数量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超过了传统软件工程师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28" name="" descr="{&quot;isTemplate&quot;:true,&quot;type&quot;:&quot;text&quot;}"/>
          <p:cNvSpPr txBox="1"/>
          <p:nvPr/>
        </p:nvSpPr>
        <p:spPr>
          <a:xfrm rot="0" flipH="0" flipV="0">
            <a:off x="6286500" y="4714875"/>
            <a:ext cx="512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结论：这不是靠扩招能解决的岗位，是结构性稀缺资源。</a:t>
            </a:r>
            <a:endParaRPr/>
          </a:p>
        </p:txBody>
      </p:sp>
      <p:sp>
        <p:nvSpPr>
          <p:cNvPr id="3729" name=""/>
          <p:cNvSpPr/>
          <p:nvPr/>
        </p:nvSpPr>
        <p:spPr>
          <a:xfrm rot="0" flipH="0" flipV="0">
            <a:off x="609600" y="5086350"/>
            <a:ext cx="16764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30" name="" descr="{&quot;isTemplate&quot;:true,&quot;type&quot;:&quot;text&quot;}"/>
          <p:cNvSpPr txBox="1"/>
          <p:nvPr/>
        </p:nvSpPr>
        <p:spPr>
          <a:xfrm rot="0" flipH="0" flipV="0">
            <a:off x="742950" y="521017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全行业在复制</a:t>
            </a:r>
            <a:endParaRPr/>
          </a:p>
        </p:txBody>
      </p:sp>
      <p:sp>
        <p:nvSpPr>
          <p:cNvPr id="3731" name="" descr="{&quot;isTemplate&quot;:true,&quot;type&quot;:&quot;text&quot;}"/>
          <p:cNvSpPr txBox="1"/>
          <p:nvPr/>
        </p:nvSpPr>
        <p:spPr>
          <a:xfrm rot="0" flipH="0" flipV="0">
            <a:off x="742950" y="54197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2024–2026 </a:t>
            </a: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全面替换售前编制</a:t>
            </a:r>
            <a:endParaRPr/>
          </a:p>
        </p:txBody>
      </p:sp>
      <p:sp>
        <p:nvSpPr>
          <p:cNvPr id="3732" name=""/>
          <p:cNvSpPr/>
          <p:nvPr/>
        </p:nvSpPr>
        <p:spPr>
          <a:xfrm rot="0" flipH="0" flipV="0">
            <a:off x="2381250" y="5114925"/>
            <a:ext cx="22288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33" name=""/>
          <p:cNvSpPr/>
          <p:nvPr/>
        </p:nvSpPr>
        <p:spPr>
          <a:xfrm rot="0" flipH="0" flipV="0">
            <a:off x="2381250" y="5114925"/>
            <a:ext cx="2228850" cy="628650"/>
          </a:xfrm>
          <a:custGeom>
            <a:pathLst>
              <a:path w="234" h="66">
                <a:moveTo>
                  <a:pt x="230" y="0"/>
                </a:moveTo>
                <a:cubicBezTo>
                  <a:pt x="232" y="0"/>
                  <a:pt x="234" y="2"/>
                  <a:pt x="234" y="4"/>
                </a:cubicBezTo>
                <a:cubicBezTo>
                  <a:pt x="234" y="3"/>
                  <a:pt x="233" y="3"/>
                  <a:pt x="23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30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34" name="" descr="{&quot;isTemplate&quot;:true,&quot;type&quot;:&quot;text&quot;}"/>
          <p:cNvSpPr txBox="1"/>
          <p:nvPr/>
        </p:nvSpPr>
        <p:spPr>
          <a:xfrm rot="0" flipH="0" flipV="0">
            <a:off x="2505075" y="52482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Anthropic</a:t>
            </a:r>
            <a:endParaRPr/>
          </a:p>
        </p:txBody>
      </p:sp>
      <p:sp>
        <p:nvSpPr>
          <p:cNvPr id="3735" name="" descr="{&quot;isTemplate&quot;:true,&quot;type&quot;:&quot;text&quot;}"/>
          <p:cNvSpPr txBox="1"/>
          <p:nvPr/>
        </p:nvSpPr>
        <p:spPr>
          <a:xfrm rot="0" flipH="0" flipV="0">
            <a:off x="2505075" y="545782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前沿模型安全落地</a:t>
            </a:r>
            <a:endParaRPr/>
          </a:p>
        </p:txBody>
      </p:sp>
      <p:sp>
        <p:nvSpPr>
          <p:cNvPr id="3736" name=""/>
          <p:cNvSpPr/>
          <p:nvPr/>
        </p:nvSpPr>
        <p:spPr>
          <a:xfrm rot="0" flipH="0" flipV="0">
            <a:off x="4705350" y="5114925"/>
            <a:ext cx="22288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37" name=""/>
          <p:cNvSpPr/>
          <p:nvPr/>
        </p:nvSpPr>
        <p:spPr>
          <a:xfrm rot="0" flipH="0" flipV="0">
            <a:off x="4705350" y="5114925"/>
            <a:ext cx="2228850" cy="628650"/>
          </a:xfrm>
          <a:custGeom>
            <a:pathLst>
              <a:path w="234" h="66">
                <a:moveTo>
                  <a:pt x="230" y="0"/>
                </a:moveTo>
                <a:cubicBezTo>
                  <a:pt x="232" y="0"/>
                  <a:pt x="234" y="2"/>
                  <a:pt x="234" y="4"/>
                </a:cubicBezTo>
                <a:cubicBezTo>
                  <a:pt x="234" y="3"/>
                  <a:pt x="233" y="3"/>
                  <a:pt x="23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30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38" name="" descr="{&quot;isTemplate&quot;:true,&quot;type&quot;:&quot;text&quot;}"/>
          <p:cNvSpPr txBox="1"/>
          <p:nvPr/>
        </p:nvSpPr>
        <p:spPr>
          <a:xfrm rot="0" flipH="0" flipV="0">
            <a:off x="4829175" y="52482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OpenAI</a:t>
            </a:r>
            <a:endParaRPr/>
          </a:p>
        </p:txBody>
      </p:sp>
      <p:sp>
        <p:nvSpPr>
          <p:cNvPr id="3739" name="" descr="{&quot;isTemplate&quot;:true,&quot;type&quot;:&quot;text&quot;}"/>
          <p:cNvSpPr txBox="1"/>
          <p:nvPr/>
        </p:nvSpPr>
        <p:spPr>
          <a:xfrm rot="0" flipH="0" flipV="0">
            <a:off x="4829175" y="545782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企业微调与评测</a:t>
            </a:r>
            <a:endParaRPr/>
          </a:p>
        </p:txBody>
      </p:sp>
      <p:sp>
        <p:nvSpPr>
          <p:cNvPr id="3740" name=""/>
          <p:cNvSpPr/>
          <p:nvPr/>
        </p:nvSpPr>
        <p:spPr>
          <a:xfrm rot="0" flipH="0" flipV="0">
            <a:off x="7029450" y="5114925"/>
            <a:ext cx="22288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41" name=""/>
          <p:cNvSpPr/>
          <p:nvPr/>
        </p:nvSpPr>
        <p:spPr>
          <a:xfrm rot="0" flipH="0" flipV="0">
            <a:off x="7029450" y="5114925"/>
            <a:ext cx="2228850" cy="628650"/>
          </a:xfrm>
          <a:custGeom>
            <a:pathLst>
              <a:path w="234" h="66">
                <a:moveTo>
                  <a:pt x="230" y="0"/>
                </a:moveTo>
                <a:cubicBezTo>
                  <a:pt x="232" y="0"/>
                  <a:pt x="234" y="2"/>
                  <a:pt x="234" y="4"/>
                </a:cubicBezTo>
                <a:cubicBezTo>
                  <a:pt x="234" y="3"/>
                  <a:pt x="233" y="3"/>
                  <a:pt x="23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30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42" name="" descr="{&quot;isTemplate&quot;:true,&quot;type&quot;:&quot;text&quot;}"/>
          <p:cNvSpPr txBox="1"/>
          <p:nvPr/>
        </p:nvSpPr>
        <p:spPr>
          <a:xfrm rot="0" flipH="0" flipV="0">
            <a:off x="7153275" y="52482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Databricks</a:t>
            </a:r>
            <a:endParaRPr/>
          </a:p>
        </p:txBody>
      </p:sp>
      <p:sp>
        <p:nvSpPr>
          <p:cNvPr id="3743" name="" descr="{&quot;isTemplate&quot;:true,&quot;type&quot;:&quot;text&quot;}"/>
          <p:cNvSpPr txBox="1"/>
          <p:nvPr/>
        </p:nvSpPr>
        <p:spPr>
          <a:xfrm rot="0" flipH="0" flipV="0">
            <a:off x="7153275" y="545782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数据平台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+ AI</a:t>
            </a:r>
            <a:endParaRPr/>
          </a:p>
        </p:txBody>
      </p:sp>
      <p:sp>
        <p:nvSpPr>
          <p:cNvPr id="3744" name=""/>
          <p:cNvSpPr/>
          <p:nvPr/>
        </p:nvSpPr>
        <p:spPr>
          <a:xfrm rot="0" flipH="0" flipV="0">
            <a:off x="9353550" y="5114925"/>
            <a:ext cx="22288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45" name=""/>
          <p:cNvSpPr/>
          <p:nvPr/>
        </p:nvSpPr>
        <p:spPr>
          <a:xfrm rot="0" flipH="0" flipV="0">
            <a:off x="9353550" y="5114925"/>
            <a:ext cx="2228850" cy="628650"/>
          </a:xfrm>
          <a:custGeom>
            <a:pathLst>
              <a:path w="234" h="66">
                <a:moveTo>
                  <a:pt x="230" y="0"/>
                </a:moveTo>
                <a:cubicBezTo>
                  <a:pt x="232" y="0"/>
                  <a:pt x="234" y="2"/>
                  <a:pt x="234" y="4"/>
                </a:cubicBezTo>
                <a:cubicBezTo>
                  <a:pt x="234" y="3"/>
                  <a:pt x="233" y="3"/>
                  <a:pt x="23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30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46" name="" descr="{&quot;isTemplate&quot;:true,&quot;type&quot;:&quot;text&quot;}"/>
          <p:cNvSpPr txBox="1"/>
          <p:nvPr/>
        </p:nvSpPr>
        <p:spPr>
          <a:xfrm rot="0" flipH="0" flipV="0">
            <a:off x="9477375" y="52482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Cohere / Google</a:t>
            </a:r>
            <a:endParaRPr/>
          </a:p>
        </p:txBody>
      </p:sp>
      <p:sp>
        <p:nvSpPr>
          <p:cNvPr id="3747" name="" descr="{&quot;isTemplate&quot;:true,&quot;type&quot;:&quot;text&quot;}"/>
          <p:cNvSpPr txBox="1"/>
          <p:nvPr/>
        </p:nvSpPr>
        <p:spPr>
          <a:xfrm rot="0" flipH="0" flipV="0">
            <a:off x="9477375" y="545782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企业模型交付</a:t>
            </a:r>
            <a:endParaRPr/>
          </a:p>
        </p:txBody>
      </p:sp>
      <p:sp>
        <p:nvSpPr>
          <p:cNvPr id="374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74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5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75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07 / 60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75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Echo 必须是&lt;span style={{ color: '#FA4F24' }}&gt;叛逆者&lt;/span&gt;：认为「现在这套挺好」的人，找不到值得修的路&#10;        &lt;/Text&gt;&#10;        &lt;Text style={{ fontSize: 20, color: '#8A8F99', marginTop: 8 }}&gt;&#10;            麦克格鲁的原话——最容易被跳过、但跳过就必然失败的一条用人标准&#10;        &lt;/Text&gt;&#10;    &lt;/Box&gt;&#10;    &lt;Box style={{ height: 1, background: '#E8E8E8' }} /&gt;&#10;&#10;    &lt;Box style={{ paddingTop: 20, paddingBottom: 14, height: 479, flexDirection: 'column', gap: 13 }}&gt;&#10;&#10;        {/* 上：两种人对比 */}&#10;        &lt;Box style={{ height: 178, flexDirection: 'row', gap: 12 }}&gt;&#10;            {[&#10;                {&#10;                    t: '不是叛逆者', who: '「现有体系够好了」型',&#10;                    d: '熟悉业务、非常敬业、忠诚稳定——正是招聘史上最想招的那种人。',&#10;                    r: ['听到问题先找「是不是流程没走对」', '把改进建议写成现有流程的补充'],&#10;                    c: '#C9CBD1', bad: true,&#10;                },&#10;                {&#10;                    t: '是叛逆者', who: 'heretics 型',&#10;                    d: '同样懂行业，但坚信现有体系不够用。理想人选：前军官、医疗老兵、金融老手。',&#10;                    r: ['先问「为什么这件事现在要人做」', '敢当业务负责人的面说「这个指标是错的」'],&#10;                    c: '#FA4F24', bad: false,&#10;                },&#10;            ].map((x) =&gt; (&#10;                &lt;Box key={x.t} style={{ flex: 1, background: x.bad ? '#F7F7F8' : '#0F1423', borderRadius: 4, padding: '13px 18px', flexDirection: 'column' }}&gt;&#10;                    &lt;Box style={{ flexDirection: 'row', alignItems: 'center', gap: 10 }}&gt;&#10;                        &lt;Box style={{ width: 9, height: 9, borderRadius: 5, background: x.c }} /&gt;&#10;                        &lt;Text style={{ fontSize: 19, fontWeight: 'bold', color: x.bad ? '#0F1423' : '#FFFFFF' }}&gt;{x.t}&lt;/Text&gt;&#10;                        &lt;Text style={{ fontSize: 12, color: x.bad ? '#8A8F99' : '#FBA15C', marginLeft: 'auto' }}&gt;{x.who}&lt;/Text&gt;&#10;                    &lt;/Box&gt;&#10;                    &lt;Text style={{ fontSize: 12.5, color: x.bad ? '#3A4050' : 'rgba(255,255,255,0.85)', lineHeight: 1.5, marginTop: 10 }}&gt;{x.d}&lt;/Text&gt;&#10;                    &lt;Box style={{ flex: 1, flexDirection: 'column', gap: 8, marginTop: 11 }}&gt;&#10;                        {x.r.map((t, i) =&gt; (&#10;                            &lt;Box key={i} style={{ flexDirection: 'row', gap: 9, alignItems: 'flex-start', flex: 1 }}&gt;&#10;                                &lt;Text style={{ fontSize: 12, fontWeight: 'bold', color: x.c, width: 12 }}&gt;·&lt;/Text&gt;&#10;                                &lt;Text style={{ fontSize: 12, color: x.bad ? '#3A4050' : 'rgba(255,255,255,0.88)', lineHeight: 1.4, flex: 1 }}&gt;{t}&lt;/Text&gt;&#10;                            &lt;/Box&gt;&#10;                        ))}&#10;                    &lt;/Box&gt;&#10;                &lt;/Box&gt;&#10;            ))}&#10;        &lt;/Box&gt;&#10;&#10;        {/* 中：为什么是死线 + 招聘四问 */}&#10;        &lt;Box style={{ flex: 1, flexDirection: 'row', gap: 12 }}&gt;&#10;            &lt;Box style={{ width: 424, background: '#FFF3EE', borderRadius: 4, borderLeft: '4px solid #FA4F24', padding: '12px 18px', flexDirection: 'column' }}&gt;&#10;                &lt;Text style={{ fontSize: 16, fontWeight: 'bold', color: '#C43A17' }}&gt;为什么这条是死线&lt;/Text&gt;&#10;                &lt;Text style={{ fontSize: 12.5, color: '#3A4050', lineHeight: 1.55, marginTop: 9, flex: 1 }}&gt;&#10;                    FDE 的产出是「客户没做过的事」。如果派进去的人认为客户现状合理，他的最优策略就是保守——保守的结果是技术完美、零改变。&#10;                &lt;/Text&gt;&#10;                &lt;Box style={{ background: '#FFFFFF', borderRadius: 3, padding: '9px 11px', borderLeft: '3px solid #FA4F24' }}&gt;&#10;                    &lt;Text style={{ fontSize: 12.5, fontWeight: 'bold', color: '#0F1423', lineHeight: 1.45 }}&gt;&#10;                        保守的 FDE 把 100 天干成 100 天；激进的 FDE 把 100 天干成 30 天并改变一个流程&#10;                    &lt;/Text&gt;&#10;                &lt;/Box&gt;&#10;            &lt;/Box&gt;&#10;&#10;            &lt;Box style={{ flex: 1, background: '#F7F7F8', borderRadius: 4, padding: '12px 18px', flexDirection: 'column' }}&gt;&#10;                &lt;Text style={{ fontSize: 15, fontWeight: 'bold', color: '#0F1423' }}&gt;招聘时的四个提问（可直接用）&lt;/Text&gt;&#10;                {[&#10;                    '讲一个你看不上的行业惯例，说清它为什么错',&#10;                    '你做过的最反常识的一个技术判断是什么',&#10;                    '现场如果客户负责人否定了你的方案，你怎么办',&#10;                    '你上一次说服资深业务负责人改流程是什么时候',&#10;                ].map((q, i) =&gt; (&#10;                    &lt;Box key={i} style={{ flexDirection: 'row', gap: 10, marginTop: 9, alignItems: 'center', flex: 1 }}&gt;&#10;                        &lt;Text style={{ fontSize: 12, fontWeight: 'bold', color: '#FA4F24', width: 24 }}&gt;Q{i + 1}&lt;/Text&gt;&#10;                        &lt;Text style={{ fontSize: 13, color: '#3A4050', lineHeight: 1.4, flex: 1 }}&gt;{q}&lt;/Text&gt;&#10;                    &lt;/Box&gt;&#10;                ))}&#10;            &lt;/Box&gt;&#10;        &lt;/Box&gt;&#10;&#10;        {/* 下：行业反例 + 顶住的四种压力 */}&#10;        &lt;Box style={{ height: 88, flexDirection: 'row', gap: 12 }}&gt;&#10;            &lt;Box style={{ width: 296, background: '#0F1423', borderRadius: 4, padding: '0 15px', flexDirection: 'column' }}&gt;&#10;                &lt;Text style={{ fontSize: 11, color: '#FBA15C', letterSpacing: 1 }}&gt;行业反例&lt;/Text&gt;&#10;                &lt;Text style={{ fontSize: 12.5, color: 'rgba(255,255,255,0.85)', marginTop: 6, lineHeight: 1.45, flex: 1 }}&gt;&#10;                    a16z 创始人称 FDE 为「头衔套利」。但这个批评本身说明岗位不可替代——深度集成需要一个专属角色承担。&#10;                &lt;/Text&gt;&#10;            &lt;/Box&gt;&#10;            {[&#10;                { k: '业务负责人的护身符', v: '「这数我用了三年」——常正是问题本身' },&#10;                { k: 'IT 部门的防火墙', v: '「别碰我的系统」——要绕开，不是攻破' },&#10;                { k: '合规的拖字诀', v: '「等审批下来」——要最小可行治理' },&#10;                { k: '自己的交付压力', v: '「先跑起来再说」——最容易死在这条' },&#10;            ].map((x) =&gt; (&#10;                &lt;Box key={x.k} style={{ flex: 1, background: '#F7F7F8', borderRadius: 4, padding: '0 13px', flexDirection: 'column', justifyContent: 'center', borderLeft: '3px solid #FBA15C' }}&gt;&#10;                    &lt;Text style={{ fontSize: 12.5, fontWeight: 'bold', color: '#0F1423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08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必须是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叛逆者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：认为「现在这套挺好」的人，找不到值得修的路</a:t>
            </a:r>
            <a:endParaRPr/>
          </a:p>
        </p:txBody>
      </p:sp>
      <p:sp>
        <p:nvSpPr>
          <p:cNvPr id="375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麦克格鲁的原话——最容易被跳过、但跳过就必然失败的一条用人标准</a:t>
            </a:r>
            <a:endParaRPr/>
          </a:p>
        </p:txBody>
      </p:sp>
      <p:sp>
        <p:nvSpPr>
          <p:cNvPr id="375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757" name=""/>
          <p:cNvSpPr/>
          <p:nvPr/>
        </p:nvSpPr>
        <p:spPr>
          <a:xfrm rot="0" flipH="0" flipV="0">
            <a:off x="609600" y="1343025"/>
            <a:ext cx="5429250" cy="1695450"/>
          </a:xfrm>
          <a:prstGeom prst="roundRect">
            <a:avLst>
              <a:gd name="adj" fmla="val 224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58" name=""/>
          <p:cNvSpPr/>
          <p:nvPr/>
        </p:nvSpPr>
        <p:spPr>
          <a:xfrm rot="0" flipH="0" flipV="0">
            <a:off x="781050" y="15335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C9CBD1"/>
          </a:solidFill>
          <a:ln/>
        </p:spPr>
        <p:txBody>
          <a:bodyPr/>
          <a:p/>
        </p:txBody>
      </p:sp>
      <p:sp>
        <p:nvSpPr>
          <p:cNvPr id="3759" name="" descr="{&quot;isTemplate&quot;:true,&quot;type&quot;:&quot;text&quot;}"/>
          <p:cNvSpPr txBox="1"/>
          <p:nvPr/>
        </p:nvSpPr>
        <p:spPr>
          <a:xfrm rot="0" flipH="0" flipV="0">
            <a:off x="962025" y="14668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不是叛逆者</a:t>
            </a:r>
            <a:endParaRPr/>
          </a:p>
        </p:txBody>
      </p:sp>
      <p:sp>
        <p:nvSpPr>
          <p:cNvPr id="3760" name="" descr="{&quot;isTemplate&quot;:true,&quot;type&quot;:&quot;text&quot;}"/>
          <p:cNvSpPr txBox="1"/>
          <p:nvPr/>
        </p:nvSpPr>
        <p:spPr>
          <a:xfrm rot="0" flipH="0" flipV="0">
            <a:off x="4724400" y="150495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「现有体系够好了」型</a:t>
            </a:r>
            <a:endParaRPr/>
          </a:p>
        </p:txBody>
      </p:sp>
      <p:sp>
        <p:nvSpPr>
          <p:cNvPr id="3761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熟悉业务、非常敬业、忠诚稳定——正是招聘史上最想招的那种人。</a:t>
            </a:r>
            <a:endParaRPr/>
          </a:p>
        </p:txBody>
      </p:sp>
      <p:sp>
        <p:nvSpPr>
          <p:cNvPr id="3762" name="" descr="{&quot;isTemplate&quot;:true,&quot;type&quot;:&quot;text&quot;}"/>
          <p:cNvSpPr txBox="1"/>
          <p:nvPr/>
        </p:nvSpPr>
        <p:spPr>
          <a:xfrm rot="0" flipH="0" flipV="0">
            <a:off x="781050" y="2105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C9CBD1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763" name="" descr="{&quot;isTemplate&quot;:true,&quot;type&quot;:&quot;text&quot;}"/>
          <p:cNvSpPr txBox="1"/>
          <p:nvPr/>
        </p:nvSpPr>
        <p:spPr>
          <a:xfrm rot="0" flipH="0" flipV="0">
            <a:off x="981075" y="2105025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听到问题先找「是不是流程没走对」</a:t>
            </a:r>
            <a:endParaRPr/>
          </a:p>
        </p:txBody>
      </p:sp>
      <p:sp>
        <p:nvSpPr>
          <p:cNvPr id="3764" name="" descr="{&quot;isTemplate&quot;:true,&quot;type&quot;:&quot;text&quot;}"/>
          <p:cNvSpPr txBox="1"/>
          <p:nvPr/>
        </p:nvSpPr>
        <p:spPr>
          <a:xfrm rot="0" flipH="0" flipV="0">
            <a:off x="781050" y="25527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C9CBD1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765" name="" descr="{&quot;isTemplate&quot;:true,&quot;type&quot;:&quot;text&quot;}"/>
          <p:cNvSpPr txBox="1"/>
          <p:nvPr/>
        </p:nvSpPr>
        <p:spPr>
          <a:xfrm rot="0" flipH="0" flipV="0">
            <a:off x="981075" y="2552700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把改进建议写成现有流程的补充</a:t>
            </a:r>
            <a:endParaRPr/>
          </a:p>
        </p:txBody>
      </p:sp>
      <p:sp>
        <p:nvSpPr>
          <p:cNvPr id="3766" name=""/>
          <p:cNvSpPr/>
          <p:nvPr/>
        </p:nvSpPr>
        <p:spPr>
          <a:xfrm rot="0" flipH="0" flipV="0">
            <a:off x="6153150" y="1343025"/>
            <a:ext cx="5429250" cy="1695450"/>
          </a:xfrm>
          <a:prstGeom prst="roundRect">
            <a:avLst>
              <a:gd name="adj" fmla="val 22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67" name=""/>
          <p:cNvSpPr/>
          <p:nvPr/>
        </p:nvSpPr>
        <p:spPr>
          <a:xfrm rot="0" flipH="0" flipV="0">
            <a:off x="6324600" y="1533525"/>
            <a:ext cx="85725" cy="85725"/>
          </a:xfrm>
          <a:prstGeom prst="roundRect">
            <a:avLst>
              <a:gd name="adj" fmla="val 5555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68" name="" descr="{&quot;isTemplate&quot;:true,&quot;type&quot;:&quot;text&quot;}"/>
          <p:cNvSpPr txBox="1"/>
          <p:nvPr/>
        </p:nvSpPr>
        <p:spPr>
          <a:xfrm rot="0" flipH="0" flipV="0">
            <a:off x="6505575" y="14668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是叛逆者</a:t>
            </a:r>
            <a:endParaRPr/>
          </a:p>
        </p:txBody>
      </p:sp>
      <p:sp>
        <p:nvSpPr>
          <p:cNvPr id="3769" name="" descr="{&quot;isTemplate&quot;:true,&quot;type&quot;:&quot;text&quot;}"/>
          <p:cNvSpPr txBox="1"/>
          <p:nvPr/>
        </p:nvSpPr>
        <p:spPr>
          <a:xfrm rot="0" flipH="0" flipV="0">
            <a:off x="10829925" y="1504950"/>
            <a:ext cx="581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heretics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型</a:t>
            </a:r>
            <a:endParaRPr/>
          </a:p>
        </p:txBody>
      </p:sp>
      <p:sp>
        <p:nvSpPr>
          <p:cNvPr id="3770" name="" descr="{&quot;isTemplate&quot;:true,&quot;type&quot;:&quot;text&quot;}"/>
          <p:cNvSpPr txBox="1"/>
          <p:nvPr/>
        </p:nvSpPr>
        <p:spPr>
          <a:xfrm rot="0" flipH="0" flipV="0">
            <a:off x="6324600" y="1781175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同样懂行业，但坚信现有体系不够用。理想人选：前军官、医疗老兵、金融老手。</a:t>
            </a:r>
            <a:endParaRPr/>
          </a:p>
        </p:txBody>
      </p:sp>
      <p:sp>
        <p:nvSpPr>
          <p:cNvPr id="3771" name="" descr="{&quot;isTemplate&quot;:true,&quot;type&quot;:&quot;text&quot;}"/>
          <p:cNvSpPr txBox="1"/>
          <p:nvPr/>
        </p:nvSpPr>
        <p:spPr>
          <a:xfrm rot="0" flipH="0" flipV="0">
            <a:off x="6324600" y="21050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772" name="" descr="{&quot;isTemplate&quot;:true,&quot;type&quot;:&quot;text&quot;}"/>
          <p:cNvSpPr txBox="1"/>
          <p:nvPr/>
        </p:nvSpPr>
        <p:spPr>
          <a:xfrm rot="0" flipH="0" flipV="0">
            <a:off x="6524625" y="2105025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先问「为什么这件事现在要人做」</a:t>
            </a:r>
            <a:endParaRPr/>
          </a:p>
        </p:txBody>
      </p:sp>
      <p:sp>
        <p:nvSpPr>
          <p:cNvPr id="3773" name="" descr="{&quot;isTemplate&quot;:true,&quot;type&quot;:&quot;text&quot;}"/>
          <p:cNvSpPr txBox="1"/>
          <p:nvPr/>
        </p:nvSpPr>
        <p:spPr>
          <a:xfrm rot="0" flipH="0" flipV="0">
            <a:off x="6324600" y="25527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774" name="" descr="{&quot;isTemplate&quot;:true,&quot;type&quot;:&quot;text&quot;}"/>
          <p:cNvSpPr txBox="1"/>
          <p:nvPr/>
        </p:nvSpPr>
        <p:spPr>
          <a:xfrm rot="0" flipH="0" flipV="0">
            <a:off x="6524625" y="2552700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敢当业务负责人的面说「这个指标是错的」</a:t>
            </a:r>
            <a:endParaRPr/>
          </a:p>
        </p:txBody>
      </p:sp>
      <p:sp>
        <p:nvSpPr>
          <p:cNvPr id="3775" name=""/>
          <p:cNvSpPr/>
          <p:nvPr/>
        </p:nvSpPr>
        <p:spPr>
          <a:xfrm rot="0" flipH="0" flipV="0">
            <a:off x="647700" y="3162300"/>
            <a:ext cx="4000500" cy="1581150"/>
          </a:xfrm>
          <a:prstGeom prst="roundRect">
            <a:avLst>
              <a:gd name="adj" fmla="val 241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776" name=""/>
          <p:cNvSpPr/>
          <p:nvPr/>
        </p:nvSpPr>
        <p:spPr>
          <a:xfrm rot="0" flipH="0" flipV="0">
            <a:off x="647700" y="3162300"/>
            <a:ext cx="4000500" cy="1581150"/>
          </a:xfrm>
          <a:custGeom>
            <a:pathLst>
              <a:path w="420" h="166">
                <a:moveTo>
                  <a:pt x="4" y="166"/>
                </a:moveTo>
                <a:cubicBezTo>
                  <a:pt x="2" y="166"/>
                  <a:pt x="0" y="164"/>
                  <a:pt x="0" y="1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77" name="" descr="{&quot;isTemplate&quot;:true,&quot;type&quot;:&quot;text&quot;}"/>
          <p:cNvSpPr txBox="1"/>
          <p:nvPr/>
        </p:nvSpPr>
        <p:spPr>
          <a:xfrm rot="0" flipH="0" flipV="0">
            <a:off x="819150" y="327660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为什么这条是死线</a:t>
            </a:r>
            <a:endParaRPr/>
          </a:p>
        </p:txBody>
      </p:sp>
      <p:sp>
        <p:nvSpPr>
          <p:cNvPr id="3778" name="" descr="{&quot;isTemplate&quot;:true,&quot;type&quot;:&quot;text&quot;}"/>
          <p:cNvSpPr txBox="1"/>
          <p:nvPr/>
        </p:nvSpPr>
        <p:spPr>
          <a:xfrm rot="0" flipH="0" flipV="0">
            <a:off x="819150" y="3552825"/>
            <a:ext cx="3657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的产出是「客户没做过的事」。如果派进去的人认为客户现状合理，他的最优策略就是保守——保守的结果是技术完美、零改变。</a:t>
            </a:r>
            <a:endParaRPr/>
          </a:p>
        </p:txBody>
      </p:sp>
      <p:sp>
        <p:nvSpPr>
          <p:cNvPr id="3779" name=""/>
          <p:cNvSpPr/>
          <p:nvPr/>
        </p:nvSpPr>
        <p:spPr>
          <a:xfrm rot="0" flipH="0" flipV="0">
            <a:off x="847725" y="4038600"/>
            <a:ext cx="3657600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80" name=""/>
          <p:cNvSpPr/>
          <p:nvPr/>
        </p:nvSpPr>
        <p:spPr>
          <a:xfrm rot="0" flipH="0" flipV="0">
            <a:off x="847725" y="4038600"/>
            <a:ext cx="3657600" cy="590550"/>
          </a:xfrm>
          <a:custGeom>
            <a:pathLst>
              <a:path w="384" h="62">
                <a:moveTo>
                  <a:pt x="3" y="62"/>
                </a:moveTo>
                <a:cubicBezTo>
                  <a:pt x="1" y="62"/>
                  <a:pt x="0" y="61"/>
                  <a:pt x="0" y="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81" name="" descr="{&quot;isTemplate&quot;:true,&quot;type&quot;:&quot;text&quot;}"/>
          <p:cNvSpPr txBox="1"/>
          <p:nvPr/>
        </p:nvSpPr>
        <p:spPr>
          <a:xfrm rot="0" flipH="0" flipV="0">
            <a:off x="952500" y="4124325"/>
            <a:ext cx="34194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保守的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天干成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天；激进的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天干成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天并改变一个流程</a:t>
            </a:r>
            <a:endParaRPr/>
          </a:p>
        </p:txBody>
      </p:sp>
      <p:sp>
        <p:nvSpPr>
          <p:cNvPr id="3782" name=""/>
          <p:cNvSpPr/>
          <p:nvPr/>
        </p:nvSpPr>
        <p:spPr>
          <a:xfrm rot="0" flipH="0" flipV="0">
            <a:off x="4762500" y="3162300"/>
            <a:ext cx="6819900" cy="1581150"/>
          </a:xfrm>
          <a:prstGeom prst="roundRect">
            <a:avLst>
              <a:gd name="adj" fmla="val 24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83" name="" descr="{&quot;isTemplate&quot;:true,&quot;type&quot;:&quot;text&quot;}"/>
          <p:cNvSpPr txBox="1"/>
          <p:nvPr/>
        </p:nvSpPr>
        <p:spPr>
          <a:xfrm rot="0" flipH="0" flipV="0">
            <a:off x="4933950" y="3276600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招聘时的四个提问（可直接用）</a:t>
            </a:r>
            <a:endParaRPr/>
          </a:p>
        </p:txBody>
      </p:sp>
      <p:sp>
        <p:nvSpPr>
          <p:cNvPr id="3784" name="" descr="{&quot;isTemplate&quot;:true,&quot;type&quot;:&quot;text&quot;}"/>
          <p:cNvSpPr txBox="1"/>
          <p:nvPr/>
        </p:nvSpPr>
        <p:spPr>
          <a:xfrm rot="0" flipH="0" flipV="0">
            <a:off x="4933950" y="35718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Q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785" name="" descr="{&quot;isTemplate&quot;:true,&quot;type&quot;:&quot;text&quot;}"/>
          <p:cNvSpPr txBox="1"/>
          <p:nvPr/>
        </p:nvSpPr>
        <p:spPr>
          <a:xfrm rot="0" flipH="0" flipV="0">
            <a:off x="5257800" y="3533775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讲一个你看不上的行业惯例，说清它为什么错</a:t>
            </a:r>
            <a:endParaRPr/>
          </a:p>
        </p:txBody>
      </p:sp>
      <p:sp>
        <p:nvSpPr>
          <p:cNvPr id="3786" name="" descr="{&quot;isTemplate&quot;:true,&quot;type&quot;:&quot;text&quot;}"/>
          <p:cNvSpPr txBox="1"/>
          <p:nvPr/>
        </p:nvSpPr>
        <p:spPr>
          <a:xfrm rot="0" flipH="0" flipV="0">
            <a:off x="4933950" y="38671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Q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787" name="" descr="{&quot;isTemplate&quot;:true,&quot;type&quot;:&quot;text&quot;}"/>
          <p:cNvSpPr txBox="1"/>
          <p:nvPr/>
        </p:nvSpPr>
        <p:spPr>
          <a:xfrm rot="0" flipH="0" flipV="0">
            <a:off x="5257800" y="3829050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你做过的最反常识的一个技术判断是什么</a:t>
            </a:r>
            <a:endParaRPr/>
          </a:p>
        </p:txBody>
      </p:sp>
      <p:sp>
        <p:nvSpPr>
          <p:cNvPr id="3788" name="" descr="{&quot;isTemplate&quot;:true,&quot;type&quot;:&quot;text&quot;}"/>
          <p:cNvSpPr txBox="1"/>
          <p:nvPr/>
        </p:nvSpPr>
        <p:spPr>
          <a:xfrm rot="0" flipH="0" flipV="0">
            <a:off x="4933950" y="41624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Q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89" name="" descr="{&quot;isTemplate&quot;:true,&quot;type&quot;:&quot;text&quot;}"/>
          <p:cNvSpPr txBox="1"/>
          <p:nvPr/>
        </p:nvSpPr>
        <p:spPr>
          <a:xfrm rot="0" flipH="0" flipV="0">
            <a:off x="5257800" y="4124325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现场如果客户负责人否定了你的方案，你怎么办</a:t>
            </a:r>
            <a:endParaRPr/>
          </a:p>
        </p:txBody>
      </p:sp>
      <p:sp>
        <p:nvSpPr>
          <p:cNvPr id="3790" name="" descr="{&quot;isTemplate&quot;:true,&quot;type&quot;:&quot;text&quot;}"/>
          <p:cNvSpPr txBox="1"/>
          <p:nvPr/>
        </p:nvSpPr>
        <p:spPr>
          <a:xfrm rot="0" flipH="0" flipV="0">
            <a:off x="4933950" y="44577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Q</a:t>
            </a: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91" name="" descr="{&quot;isTemplate&quot;:true,&quot;type&quot;:&quot;text&quot;}"/>
          <p:cNvSpPr txBox="1"/>
          <p:nvPr/>
        </p:nvSpPr>
        <p:spPr>
          <a:xfrm rot="0" flipH="0" flipV="0">
            <a:off x="5257800" y="4419600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你上一次说服资深业务负责人改流程是什么时候</a:t>
            </a:r>
            <a:endParaRPr/>
          </a:p>
        </p:txBody>
      </p:sp>
      <p:sp>
        <p:nvSpPr>
          <p:cNvPr id="3792" name=""/>
          <p:cNvSpPr/>
          <p:nvPr/>
        </p:nvSpPr>
        <p:spPr>
          <a:xfrm rot="0" flipH="0" flipV="0">
            <a:off x="609600" y="4867275"/>
            <a:ext cx="2819400" cy="838200"/>
          </a:xfrm>
          <a:prstGeom prst="roundRect">
            <a:avLst>
              <a:gd name="adj" fmla="val 454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93" name="" descr="{&quot;isTemplate&quot;:true,&quot;type&quot;:&quot;text&quot;}"/>
          <p:cNvSpPr txBox="1"/>
          <p:nvPr/>
        </p:nvSpPr>
        <p:spPr>
          <a:xfrm rot="0" flipH="0" flipV="0">
            <a:off x="752475" y="4867275"/>
            <a:ext cx="2533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FBA15C"/>
                </a:solidFill>
                <a:latin typeface="Microsoft YaHei"/>
                <a:ea typeface="Microsoft YaHei"/>
              </a:rPr>
              <a:t>行业反例</a:t>
            </a:r>
            <a:endParaRPr/>
          </a:p>
        </p:txBody>
      </p:sp>
      <p:sp>
        <p:nvSpPr>
          <p:cNvPr id="3794" name="" descr="{&quot;isTemplate&quot;:true,&quot;type&quot;:&quot;text&quot;}"/>
          <p:cNvSpPr txBox="1"/>
          <p:nvPr/>
        </p:nvSpPr>
        <p:spPr>
          <a:xfrm rot="0" flipH="0" flipV="0">
            <a:off x="752475" y="5057775"/>
            <a:ext cx="25336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a16z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创始人称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为「头衔套利」。但这个批评本身说明岗位不可替代——深度集成需要一个专属角色承担。</a:t>
            </a:r>
            <a:endParaRPr/>
          </a:p>
        </p:txBody>
      </p:sp>
      <p:sp>
        <p:nvSpPr>
          <p:cNvPr id="3795" name=""/>
          <p:cNvSpPr/>
          <p:nvPr/>
        </p:nvSpPr>
        <p:spPr>
          <a:xfrm rot="0" flipH="0" flipV="0">
            <a:off x="3571875" y="4867275"/>
            <a:ext cx="1924050" cy="83820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96" name=""/>
          <p:cNvSpPr/>
          <p:nvPr/>
        </p:nvSpPr>
        <p:spPr>
          <a:xfrm rot="0" flipH="0" flipV="0">
            <a:off x="3571875" y="4867275"/>
            <a:ext cx="1924050" cy="838200"/>
          </a:xfrm>
          <a:custGeom>
            <a:pathLst>
              <a:path w="202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797" name="" descr="{&quot;isTemplate&quot;:true,&quot;type&quot;:&quot;text&quot;}"/>
          <p:cNvSpPr txBox="1"/>
          <p:nvPr/>
        </p:nvSpPr>
        <p:spPr>
          <a:xfrm rot="0" flipH="0" flipV="0">
            <a:off x="3695700" y="5019675"/>
            <a:ext cx="1647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业务负责人的护身符</a:t>
            </a:r>
            <a:endParaRPr/>
          </a:p>
        </p:txBody>
      </p:sp>
      <p:sp>
        <p:nvSpPr>
          <p:cNvPr id="3798" name="" descr="{&quot;isTemplate&quot;:true,&quot;type&quot;:&quot;text&quot;}"/>
          <p:cNvSpPr txBox="1"/>
          <p:nvPr/>
        </p:nvSpPr>
        <p:spPr>
          <a:xfrm rot="0" flipH="0" flipV="0">
            <a:off x="3695700" y="5210175"/>
            <a:ext cx="16478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「这数我用了三年」——常正是问题本身</a:t>
            </a:r>
            <a:endParaRPr/>
          </a:p>
        </p:txBody>
      </p:sp>
      <p:sp>
        <p:nvSpPr>
          <p:cNvPr id="3799" name=""/>
          <p:cNvSpPr/>
          <p:nvPr/>
        </p:nvSpPr>
        <p:spPr>
          <a:xfrm rot="0" flipH="0" flipV="0">
            <a:off x="5610225" y="4867275"/>
            <a:ext cx="1924050" cy="83820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00" name=""/>
          <p:cNvSpPr/>
          <p:nvPr/>
        </p:nvSpPr>
        <p:spPr>
          <a:xfrm rot="0" flipH="0" flipV="0">
            <a:off x="5610225" y="4867275"/>
            <a:ext cx="1924050" cy="838200"/>
          </a:xfrm>
          <a:custGeom>
            <a:pathLst>
              <a:path w="202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01" name="" descr="{&quot;isTemplate&quot;:true,&quot;type&quot;:&quot;text&quot;}"/>
          <p:cNvSpPr txBox="1"/>
          <p:nvPr/>
        </p:nvSpPr>
        <p:spPr>
          <a:xfrm rot="0" flipH="0" flipV="0">
            <a:off x="5734050" y="5019675"/>
            <a:ext cx="1647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部门的防火墙</a:t>
            </a:r>
            <a:endParaRPr/>
          </a:p>
        </p:txBody>
      </p:sp>
      <p:sp>
        <p:nvSpPr>
          <p:cNvPr id="3802" name="" descr="{&quot;isTemplate&quot;:true,&quot;type&quot;:&quot;text&quot;}"/>
          <p:cNvSpPr txBox="1"/>
          <p:nvPr/>
        </p:nvSpPr>
        <p:spPr>
          <a:xfrm rot="0" flipH="0" flipV="0">
            <a:off x="5734050" y="5210175"/>
            <a:ext cx="16478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「别碰我的系统」——要绕开，不是攻破</a:t>
            </a:r>
            <a:endParaRPr/>
          </a:p>
        </p:txBody>
      </p:sp>
      <p:sp>
        <p:nvSpPr>
          <p:cNvPr id="3803" name=""/>
          <p:cNvSpPr/>
          <p:nvPr/>
        </p:nvSpPr>
        <p:spPr>
          <a:xfrm rot="0" flipH="0" flipV="0">
            <a:off x="7648575" y="4867275"/>
            <a:ext cx="1924050" cy="83820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04" name=""/>
          <p:cNvSpPr/>
          <p:nvPr/>
        </p:nvSpPr>
        <p:spPr>
          <a:xfrm rot="0" flipH="0" flipV="0">
            <a:off x="7648575" y="4867275"/>
            <a:ext cx="1924050" cy="838200"/>
          </a:xfrm>
          <a:custGeom>
            <a:pathLst>
              <a:path w="202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05" name="" descr="{&quot;isTemplate&quot;:true,&quot;type&quot;:&quot;text&quot;}"/>
          <p:cNvSpPr txBox="1"/>
          <p:nvPr/>
        </p:nvSpPr>
        <p:spPr>
          <a:xfrm rot="0" flipH="0" flipV="0">
            <a:off x="7772400" y="5019675"/>
            <a:ext cx="1647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合规的拖字诀</a:t>
            </a:r>
            <a:endParaRPr/>
          </a:p>
        </p:txBody>
      </p:sp>
      <p:sp>
        <p:nvSpPr>
          <p:cNvPr id="3806" name="" descr="{&quot;isTemplate&quot;:true,&quot;type&quot;:&quot;text&quot;}"/>
          <p:cNvSpPr txBox="1"/>
          <p:nvPr/>
        </p:nvSpPr>
        <p:spPr>
          <a:xfrm rot="0" flipH="0" flipV="0">
            <a:off x="7772400" y="5210175"/>
            <a:ext cx="16478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「等审批下来」——要最小可行治理</a:t>
            </a:r>
            <a:endParaRPr/>
          </a:p>
        </p:txBody>
      </p:sp>
      <p:sp>
        <p:nvSpPr>
          <p:cNvPr id="3807" name=""/>
          <p:cNvSpPr/>
          <p:nvPr/>
        </p:nvSpPr>
        <p:spPr>
          <a:xfrm rot="0" flipH="0" flipV="0">
            <a:off x="9686925" y="4867275"/>
            <a:ext cx="1924050" cy="83820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08" name=""/>
          <p:cNvSpPr/>
          <p:nvPr/>
        </p:nvSpPr>
        <p:spPr>
          <a:xfrm rot="0" flipH="0" flipV="0">
            <a:off x="9686925" y="4867275"/>
            <a:ext cx="1924050" cy="838200"/>
          </a:xfrm>
          <a:custGeom>
            <a:pathLst>
              <a:path w="202" h="8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7"/>
                </a:lnTo>
                <a:cubicBezTo>
                  <a:pt x="3" y="87"/>
                  <a:pt x="3" y="88"/>
                  <a:pt x="4" y="88"/>
                </a:cubicBezTo>
                <a:cubicBezTo>
                  <a:pt x="2" y="88"/>
                  <a:pt x="0" y="86"/>
                  <a:pt x="0" y="8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09" name="" descr="{&quot;isTemplate&quot;:true,&quot;type&quot;:&quot;text&quot;}"/>
          <p:cNvSpPr txBox="1"/>
          <p:nvPr/>
        </p:nvSpPr>
        <p:spPr>
          <a:xfrm rot="0" flipH="0" flipV="0">
            <a:off x="9810750" y="5019675"/>
            <a:ext cx="1647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自己的交付压力</a:t>
            </a:r>
            <a:endParaRPr/>
          </a:p>
        </p:txBody>
      </p:sp>
      <p:sp>
        <p:nvSpPr>
          <p:cNvPr id="3810" name="" descr="{&quot;isTemplate&quot;:true,&quot;type&quot;:&quot;text&quot;}"/>
          <p:cNvSpPr txBox="1"/>
          <p:nvPr/>
        </p:nvSpPr>
        <p:spPr>
          <a:xfrm rot="0" flipH="0" flipV="0">
            <a:off x="9810750" y="5210175"/>
            <a:ext cx="16478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「先跑起来再说」——最容易死在这条</a:t>
            </a:r>
            <a:endParaRPr/>
          </a:p>
        </p:txBody>
      </p:sp>
      <p:sp>
        <p:nvSpPr>
          <p:cNvPr id="381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812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13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814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08 / 60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815" name="" descr="&lt;Slide style={{ width: 1280, height: 720, background: '#FFFFFF', padding: '24px 64px 0' }}&gt;&#13;&#10;    &lt;Box style={{ height: 96, flexDirection: 'column', justifyContent: 'flex-start' }}&gt;&#13;&#10;        &lt;Text style={{ fontSize: 32, fontWeight: 'bold', color: '#0F1423' }}&gt;&#13;&#10;            起源是 2005 年的情报机构，&lt;span style={{ color: '#FA4F24' }}&gt;不是 AI 时代的事&lt;/span&gt;&#13;&#10;        &lt;/Text&gt;&#13;&#10;        &lt;Text style={{ fontSize: 20, color: '#8A8F99', marginTop: 8 }}&gt;&#13;&#10;            当年那批客户：需求说不清、数据不能公开分享、不同机构工作流差异极大——顾问与售前工程师都接不住&#13;&#10;        &lt;/Text&gt;&#13;&#10;    &lt;/Box&gt;&#13;&#10;    &lt;Box style={{ height: 1, background: '#E8E8E8' }} /&gt;&#13;&#10;&#13;&#10;    &lt;Box style={{ paddingTop: 18, paddingBottom: 12, height: 479, flexDirection: 'column', gap: 12 }}&gt;&#13;&#10;&#13;&#10;        {/* 时间轴 */}&#13;&#10;        &lt;Box style={{ height: 76, flexDirection: 'row', gap: 10 }}&gt;&#13;&#10;            {[&#13;&#10;                { y: '2005', t: '问题出现', d: '卖 Gotham 给 CIA / NSA / 陆军情报单位。顾问不会写生产代码，售前工程师不敢改产品。' },&#13;&#10;                { y: '2005', t: '决策', d: 'Karp 与 Cohen 决定：把员工派驻现场，带着现有产品进场，先铺一条碎石路。' },&#13;&#10;                { y: '2016', t: '规模化', d: 'FDE 数量超过传统软件工程师。产品线扩到 Foundry（2016）与 AIP（2023）。' },&#13;&#10;                { y: '2023+', t: '行业扩散', d: 'Anthropic / OpenAI / Databricks / Google 全面复制，成为默认的企业交付形态。' },&#13;&#10;            ].map((x, i) =&gt; (&#13;&#10;                &lt;Box key={x.y + x.t} style={{ flex: 1, background: i === 1 ? '#0F1423' : '#F7F7F8', borderRadius: 4, padding: '0 13px', flexDirection: 'column', justifyContent: 'center' }}&gt;&#13;&#10;                    &lt;Box style={{ flexDirection: 'row', alignItems: 'center', gap: 8 }}&gt;&#13;&#10;                        &lt;Text style={{ fontSize: 17, fontWeight: 'bold', color: i === 1 ? '#FA4F24' : '#FA4F24' }}&gt;{x.y}&lt;/Text&gt;&#13;&#10;                        &lt;Text style={{ fontSize: 12.5, color: i === 1 ? '#FBA15C' : '#0F1423', fontWeight: 'bold' }}&gt;{x.t}&lt;/Text&gt;&#13;&#10;                    &lt;/Box&gt;&#13;&#10;                    &lt;Text style={{ fontSize: 11, color: i === 1 ? 'rgba(255,255,255,0.82)' : '#3A4050', lineHeight: 1.38, marginTop: 5 }}&gt;{x.d}&lt;/Text&gt;&#13;&#10;                &lt;/Box&gt;&#13;&#10;            ))}&#13;&#10;        &lt;/Box&gt;&#13;&#10;&#13;&#10;        {/* 核心：为什么这类客户逼出了 FDE */}&#13;&#10;        &lt;Box style={{ flex: 1, flexDirection: 'row', gap: 12 }}&gt;&#13;&#10;            &lt;Box style={{ width: 470, flexDirection: 'column', gap: 10 }}&gt;&#13;&#10;                &lt;Box style={{ height: 58, background: '#FFF3EE', borderRadius: 4, borderLeft: '4px solid #FA4F24', padding: '0 16px', flexDirection: 'column', justifyContent: 'center' }}&gt;&#13;&#10;                    &lt;Text style={{ fontSize: 15, fontWeight: 'bold', color: '#C43A17' }}&gt;当年的三个死结&lt;/Text&gt;&#13;&#10;                    &lt;Text style={{ fontSize: 12.5, color: '#3A4050', lineHeight: 1.5, marginTop: 6 }}&gt;&#13;&#10;                        客户需求难以清晰表述 · 数据不能公开分享 · 相似项目工作流程差异极大&#13;&#10;                    &lt;/Text&gt;&#13;&#10;                &lt;/Box&gt;&#13;&#10;                &lt;Box style={{ flex: 1, background: '#F7F7F8', borderRadius: 4, padding: '10px 16px', flexDirection: 'column' }}&gt;&#13;&#10;                    &lt;Text style={{ fontSize: 14.5, fontWeight: 'bold', color: '#0F1423' }}&gt;为什么标准交付模式必然失效&lt;/Text&gt;&#13;&#10;                    {[&#13;&#10;                        { k: '需求不清', v: '写不出需求文档，只能进现场用真实数据问出来' },&#13;&#10;                        { k: '数据不外流', v: '不进现场就碰不到数据，进不去就什么都做不了' },&#13;&#10;                        { k: '流程各异', v: '一个客户的做法搬到另一个客户必然失效' },&#13;&#10;                    ].map((x, i) =&gt; (&#13;&#10;                        &lt;Box key={x.k} style={{ flex: 1, flexDirection: 'row', gap: 11, alignItems: 'center' }}&gt;&#13;&#10;                            &lt;Text style={{ fontSize: 12.5, fontWeight: 'bold', color: '#C43A17', width: 62 }}&gt;{x.k}&lt;/Text&gt;&#13;&#10;                            &lt;Text style={{ fontSize: 12.5, color: '#3A4050', lineHeight: 1.45, flex: 1 }}&gt;{x.v}&lt;/Text&gt;&#13;&#10;                        &lt;/Box&gt;&#13;&#10;                    ))}&#13;&#10;                &lt;/Box&gt;&#13;&#10;            &lt;/Box&gt;&#13;&#10;&#13;&#10;            &lt;Box style={{ flex: 1, background: '#0F1423', borderRadius: 4, padding: '12px 18px', flexDirection: 'column' }}&gt;&#13;&#10;                &lt;Text style={{ fontSize: 12, color: '#FBA15C', letterSpacing: 2 }}&gt;THE GRAVEL ROAD&lt;/Text&gt;&#13;&#10;                &lt;Text style={{ fontSize: 20, fontWeight: 'bold', color: '#FFFFFF', marginTop: 8, lineHeight: 1.3 }}&gt;&#13;&#10;                    先铺一条&lt;span style={{ color: '#FA4F24' }}&gt;碎石路&lt;/span&gt;，&lt;br /&gt;&#13;&#10;                    再把它变成铺好的高速公路&#13;&#10;                &lt;/Text&gt;&#13;&#10;                &lt;Box style={{ flex: 1, flexDirection: 'column', gap: 8, marginTop: 10, justifyContent: 'center' }}&gt;&#13;&#10;                    {[&#13;&#10;                        { n: '1', t: '现场铺路', d: '一个客户一个客户地手铺，慢，但一定贴合这个客户' },&#13;&#10;                        { n: '2', t: '想清楚抽象', d: '总部产品团队想清楚这条路里哪一段是通用的' },&#13;&#10;                        { n: '3', t: '铺成高速公路', d: '推广到 5–10 个客户，这一段不用现场支持也能走' },&#13;&#10;                    ].map((x) =&gt; (&#13;&#10;                        &lt;Box key={x.n} style={{ flexDirection: 'row', gap: 12, alignItems: 'flex-start' }}&gt;&#13;&#10;                            &lt;Box style={{ width: 22, height: 22, borderRadius: 11, background: '#FA4F24', alignItems: 'center', justifyContent: 'center' }}&gt;&#13;&#10;                                &lt;Text style={{ fontSize: 12, fontWeight: 'bold', color: '#FFFFFF' }}&gt;{x.n}&lt;/Text&gt;&#13;&#10;                            &lt;/Box&gt;&#13;&#10;                            &lt;Box style={{ flex: 1, flexDirection: 'column' }}&gt;&#13;&#10;                                &lt;Text style={{ fontSize: 13.5, fontWeight: 'bold', color: '#FFFFFF' }}&gt;{x.t}&lt;/Text&gt;&#13;&#10;                                &lt;Text style={{ fontSize: 12, color: 'rgba(255,255,255,0.72)', lineHeight: 1.45, marginTop: 3 }}&gt;{x.d}&lt;/Text&gt;&#13;&#10;                            &lt;/Box&gt;&#13;&#10;                        &lt;/Box&gt;&#13;&#10;                    ))}&#13;&#10;                &lt;/Box&gt;&#13;&#10;                &lt;Box style={{ borderTop: '1px solid rgba(255,255,255,0.16)', paddingTop: 9 }}&gt;&#13;&#10;                    &lt;Text style={{ fontSize: 12.5, color: 'rgba(255,255,255,0.8)', lineHeight: 1.5 }}&gt;&#13;&#10;                        这条机制是 FDE 商业模式的全部：&lt;b style={{ color: '#FBA15C' }}&gt;一个客户定制 → 抽象成平台能力 → 规模化&lt;/b&gt;。&#13;&#10;                    &lt;/Text&gt;&#13;&#10;                &lt;/Box&gt;&#13;&#10;            &lt;/Box&gt;&#13;&#10;        &lt;/Box&gt;&#13;&#10;&#13;&#10;        {/* 下：为什么这条路只有 Palantir 走通了 */}&#13;&#10;        &lt;Box style={{ height: 70, flexDirection: 'row', gap: 10 }}&gt;&#13;&#10;            {[&#13;&#10;                { k: '技术栈可复制', v: 'Spark / Neo4j / LangChain 拼得出来' },&#13;&#10;                { k: '本体积累不可复制', v: '二十年规则在 FDE 经验里，不在论文里' },&#13;&#10;                { k: '资质与时间不可复制', v: '政府资质 + 二十年不盈利的投入' },&#13;&#10;            ].map((x) =&gt; (&#13;&#10;                &lt;Box key={x.k} style={{ flex: 1, background: x.ok ? '#F7F7F8' : '#FFF3EE', borderRadius: 4, padding: '0 13px', flexDirection: 'column', justifyContent: 'center', borderLeft: '3px solid ' + (x.ok ? '#C9CBD1' : '#FA4F24') }}&gt;&#13;&#10;                    &lt;Text style={{ fontSize: 13, fontWeight: 'bold', color: '#0F1423' }}&gt;{x.k}&lt;/Text&gt;&#13;&#10;                    &lt;Text style={{ fontSize: 11, color: '#3A4050', lineHeight: 1.35, marginTop: 5 }}&gt;{x.v}&lt;/Text&gt;&#13;&#10;                &lt;/Box&gt;&#13;&#10;            ))}&#13;&#10;        &lt;/Box&gt;&#13;&#10;    &lt;/Box&gt;&#13;&#10;&#13;&#10;    &lt;Box style={{ height: 58, flexDirection: 'row', alignItems: 'center', borderTop: '1px solid #E8E8E8' }}&gt;&#13;&#10;        &lt;Box style={{ width: 14, height: 14, background: '#FA4F24' }} /&gt;&#13;&#10;        &lt;Text style={{ fontSize: 14, color: '#8A8F99', marginLeft: 12 }}&gt;硕磐机密 · FDE咨询方法论&lt;/Text&gt;&#13;&#10;        &lt;Text style={{ fontSize: 14, color: '#8A8F99', marginLeft: 'auto' }}&gt;09 / 60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1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起源是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2005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年的情报机构，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不是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时代的事</a:t>
            </a:r>
            <a:endParaRPr/>
          </a:p>
        </p:txBody>
      </p:sp>
      <p:sp>
        <p:nvSpPr>
          <p:cNvPr id="38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当年那批客户：需求说不清、数据不能公开分享、不同机构工作流差异极大——顾问与售前工程师都接不住</a:t>
            </a:r>
            <a:endParaRPr/>
          </a:p>
        </p:txBody>
      </p:sp>
      <p:sp>
        <p:nvSpPr>
          <p:cNvPr id="381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820" name=""/>
          <p:cNvSpPr/>
          <p:nvPr/>
        </p:nvSpPr>
        <p:spPr>
          <a:xfrm rot="0" flipH="0" flipV="0">
            <a:off x="609600" y="1323975"/>
            <a:ext cx="2676525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21" name="" descr="{&quot;isTemplate&quot;:true,&quot;type&quot;:&quot;text&quot;}"/>
          <p:cNvSpPr txBox="1"/>
          <p:nvPr/>
        </p:nvSpPr>
        <p:spPr>
          <a:xfrm rot="0" flipH="0" flipV="0">
            <a:off x="733425" y="139065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2005</a:t>
            </a:r>
            <a:endParaRPr/>
          </a:p>
        </p:txBody>
      </p:sp>
      <p:sp>
        <p:nvSpPr>
          <p:cNvPr id="3822" name="" descr="{&quot;isTemplate&quot;:true,&quot;type&quot;:&quot;text&quot;}"/>
          <p:cNvSpPr txBox="1"/>
          <p:nvPr/>
        </p:nvSpPr>
        <p:spPr>
          <a:xfrm rot="0" flipH="0" flipV="0">
            <a:off x="1209675" y="14192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问题出现</a:t>
            </a:r>
            <a:endParaRPr/>
          </a:p>
        </p:txBody>
      </p:sp>
      <p:sp>
        <p:nvSpPr>
          <p:cNvPr id="3823" name="" descr="{&quot;isTemplate&quot;:true,&quot;type&quot;:&quot;text&quot;}"/>
          <p:cNvSpPr txBox="1"/>
          <p:nvPr/>
        </p:nvSpPr>
        <p:spPr>
          <a:xfrm rot="0" flipH="0" flipV="0">
            <a:off x="733425" y="1638300"/>
            <a:ext cx="24288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卖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Gotham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给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CIA / NSA /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陆军情报单位。顾问不会写生产代码，售前工程师不敢改产品。</a:t>
            </a:r>
            <a:endParaRPr/>
          </a:p>
        </p:txBody>
      </p:sp>
      <p:sp>
        <p:nvSpPr>
          <p:cNvPr id="3824" name=""/>
          <p:cNvSpPr/>
          <p:nvPr/>
        </p:nvSpPr>
        <p:spPr>
          <a:xfrm rot="0" flipH="0" flipV="0">
            <a:off x="3381375" y="1323975"/>
            <a:ext cx="2667000" cy="723900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825" name="" descr="{&quot;isTemplate&quot;:true,&quot;type&quot;:&quot;text&quot;}"/>
          <p:cNvSpPr txBox="1"/>
          <p:nvPr/>
        </p:nvSpPr>
        <p:spPr>
          <a:xfrm rot="0" flipH="0" flipV="0">
            <a:off x="3505200" y="139065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2005</a:t>
            </a:r>
            <a:endParaRPr/>
          </a:p>
        </p:txBody>
      </p:sp>
      <p:sp>
        <p:nvSpPr>
          <p:cNvPr id="3826" name="" descr="{&quot;isTemplate&quot;:true,&quot;type&quot;:&quot;text&quot;}"/>
          <p:cNvSpPr txBox="1"/>
          <p:nvPr/>
        </p:nvSpPr>
        <p:spPr>
          <a:xfrm rot="0" flipH="0" flipV="0">
            <a:off x="3981450" y="14192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3827" name="" descr="{&quot;isTemplate&quot;:true,&quot;type&quot;:&quot;text&quot;}"/>
          <p:cNvSpPr txBox="1"/>
          <p:nvPr/>
        </p:nvSpPr>
        <p:spPr>
          <a:xfrm rot="0" flipH="0" flipV="0">
            <a:off x="3505200" y="1638300"/>
            <a:ext cx="24193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Karp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Cohen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决定：把员工派驻现场，带着现有产品进场，先铺一条碎石路。</a:t>
            </a:r>
            <a:endParaRPr/>
          </a:p>
        </p:txBody>
      </p:sp>
      <p:sp>
        <p:nvSpPr>
          <p:cNvPr id="3828" name=""/>
          <p:cNvSpPr/>
          <p:nvPr/>
        </p:nvSpPr>
        <p:spPr>
          <a:xfrm rot="0" flipH="0" flipV="0">
            <a:off x="6143625" y="1323975"/>
            <a:ext cx="2676525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29" name="" descr="{&quot;isTemplate&quot;:true,&quot;type&quot;:&quot;text&quot;}"/>
          <p:cNvSpPr txBox="1"/>
          <p:nvPr/>
        </p:nvSpPr>
        <p:spPr>
          <a:xfrm rot="0" flipH="0" flipV="0">
            <a:off x="6267450" y="139065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2016</a:t>
            </a:r>
            <a:endParaRPr/>
          </a:p>
        </p:txBody>
      </p:sp>
      <p:sp>
        <p:nvSpPr>
          <p:cNvPr id="3830" name="" descr="{&quot;isTemplate&quot;:true,&quot;type&quot;:&quot;text&quot;}"/>
          <p:cNvSpPr txBox="1"/>
          <p:nvPr/>
        </p:nvSpPr>
        <p:spPr>
          <a:xfrm rot="0" flipH="0" flipV="0">
            <a:off x="6743700" y="14192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规模化</a:t>
            </a:r>
            <a:endParaRPr/>
          </a:p>
        </p:txBody>
      </p:sp>
      <p:sp>
        <p:nvSpPr>
          <p:cNvPr id="3831" name="" descr="{&quot;isTemplate&quot;:true,&quot;type&quot;:&quot;text&quot;}"/>
          <p:cNvSpPr txBox="1"/>
          <p:nvPr/>
        </p:nvSpPr>
        <p:spPr>
          <a:xfrm rot="0" flipH="0" flipV="0">
            <a:off x="6267450" y="1638300"/>
            <a:ext cx="24288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数量超过传统软件工程师。产品线扩到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Foundry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（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2016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）与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AIP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（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2023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3832" name=""/>
          <p:cNvSpPr/>
          <p:nvPr/>
        </p:nvSpPr>
        <p:spPr>
          <a:xfrm rot="0" flipH="0" flipV="0">
            <a:off x="8915400" y="1323975"/>
            <a:ext cx="2667000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33" name="" descr="{&quot;isTemplate&quot;:true,&quot;type&quot;:&quot;text&quot;}"/>
          <p:cNvSpPr txBox="1"/>
          <p:nvPr/>
        </p:nvSpPr>
        <p:spPr>
          <a:xfrm rot="0" flipH="0" flipV="0">
            <a:off x="9039225" y="1390650"/>
            <a:ext cx="523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2023+</a:t>
            </a:r>
            <a:endParaRPr/>
          </a:p>
        </p:txBody>
      </p:sp>
      <p:sp>
        <p:nvSpPr>
          <p:cNvPr id="3834" name="" descr="{&quot;isTemplate&quot;:true,&quot;type&quot;:&quot;text&quot;}"/>
          <p:cNvSpPr txBox="1"/>
          <p:nvPr/>
        </p:nvSpPr>
        <p:spPr>
          <a:xfrm rot="0" flipH="0" flipV="0">
            <a:off x="9639300" y="14192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行业扩散</a:t>
            </a:r>
            <a:endParaRPr/>
          </a:p>
        </p:txBody>
      </p:sp>
      <p:sp>
        <p:nvSpPr>
          <p:cNvPr id="3835" name="" descr="{&quot;isTemplate&quot;:true,&quot;type&quot;:&quot;text&quot;}"/>
          <p:cNvSpPr txBox="1"/>
          <p:nvPr/>
        </p:nvSpPr>
        <p:spPr>
          <a:xfrm rot="0" flipH="0" flipV="0">
            <a:off x="9039225" y="1638300"/>
            <a:ext cx="24193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Anthropic / OpenAI / Databricks / Google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全面复制，成为默认的企业交付形态。</a:t>
            </a:r>
            <a:endParaRPr/>
          </a:p>
        </p:txBody>
      </p:sp>
      <p:sp>
        <p:nvSpPr>
          <p:cNvPr id="3836" name=""/>
          <p:cNvSpPr/>
          <p:nvPr/>
        </p:nvSpPr>
        <p:spPr>
          <a:xfrm rot="0" flipH="0" flipV="0">
            <a:off x="647700" y="2162175"/>
            <a:ext cx="4476750" cy="552450"/>
          </a:xfrm>
          <a:prstGeom prst="roundRect">
            <a:avLst>
              <a:gd name="adj" fmla="val 689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837" name=""/>
          <p:cNvSpPr/>
          <p:nvPr/>
        </p:nvSpPr>
        <p:spPr>
          <a:xfrm rot="0" flipH="0" flipV="0">
            <a:off x="647700" y="2162175"/>
            <a:ext cx="4476750" cy="552450"/>
          </a:xfrm>
          <a:custGeom>
            <a:pathLst>
              <a:path w="470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38" name="" descr="{&quot;isTemplate&quot;:true,&quot;type&quot;:&quot;text&quot;}"/>
          <p:cNvSpPr txBox="1"/>
          <p:nvPr/>
        </p:nvSpPr>
        <p:spPr>
          <a:xfrm rot="0" flipH="0" flipV="0">
            <a:off x="800100" y="2219325"/>
            <a:ext cx="413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当年的三个死结</a:t>
            </a:r>
            <a:endParaRPr/>
          </a:p>
        </p:txBody>
      </p:sp>
      <p:sp>
        <p:nvSpPr>
          <p:cNvPr id="3839" name="" descr="{&quot;isTemplate&quot;:true,&quot;type&quot;:&quot;text&quot;}"/>
          <p:cNvSpPr txBox="1"/>
          <p:nvPr/>
        </p:nvSpPr>
        <p:spPr>
          <a:xfrm rot="0" flipH="0" flipV="0">
            <a:off x="800100" y="2447925"/>
            <a:ext cx="41338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客户需求难以清晰表述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数据不能公开分享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相似项目工作流程差异极大</a:t>
            </a:r>
            <a:endParaRPr/>
          </a:p>
        </p:txBody>
      </p:sp>
      <p:sp>
        <p:nvSpPr>
          <p:cNvPr id="3840" name=""/>
          <p:cNvSpPr/>
          <p:nvPr/>
        </p:nvSpPr>
        <p:spPr>
          <a:xfrm rot="0" flipH="0" flipV="0">
            <a:off x="609600" y="2809875"/>
            <a:ext cx="4476750" cy="2133600"/>
          </a:xfrm>
          <a:prstGeom prst="roundRect">
            <a:avLst>
              <a:gd name="adj" fmla="val 17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41" name="" descr="{&quot;isTemplate&quot;:true,&quot;type&quot;:&quot;text&quot;}"/>
          <p:cNvSpPr txBox="1"/>
          <p:nvPr/>
        </p:nvSpPr>
        <p:spPr>
          <a:xfrm rot="0" flipH="0" flipV="0">
            <a:off x="762000" y="2905125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为什么标准交付模式必然失效</a:t>
            </a:r>
            <a:endParaRPr/>
          </a:p>
        </p:txBody>
      </p:sp>
      <p:sp>
        <p:nvSpPr>
          <p:cNvPr id="3842" name="" descr="{&quot;isTemplate&quot;:true,&quot;type&quot;:&quot;text&quot;}"/>
          <p:cNvSpPr txBox="1"/>
          <p:nvPr/>
        </p:nvSpPr>
        <p:spPr>
          <a:xfrm rot="0" flipH="0" flipV="0">
            <a:off x="762000" y="32861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需求不清</a:t>
            </a:r>
            <a:endParaRPr/>
          </a:p>
        </p:txBody>
      </p:sp>
      <p:sp>
        <p:nvSpPr>
          <p:cNvPr id="3843" name="" descr="{&quot;isTemplate&quot;:true,&quot;type&quot;:&quot;text&quot;}"/>
          <p:cNvSpPr txBox="1"/>
          <p:nvPr/>
        </p:nvSpPr>
        <p:spPr>
          <a:xfrm rot="0" flipH="0" flipV="0">
            <a:off x="1457325" y="3257550"/>
            <a:ext cx="34766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写不出需求文档，只能进现场用真实数据问出来</a:t>
            </a:r>
            <a:endParaRPr/>
          </a:p>
        </p:txBody>
      </p:sp>
      <p:sp>
        <p:nvSpPr>
          <p:cNvPr id="3844" name="" descr="{&quot;isTemplate&quot;:true,&quot;type&quot;:&quot;text&quot;}"/>
          <p:cNvSpPr txBox="1"/>
          <p:nvPr/>
        </p:nvSpPr>
        <p:spPr>
          <a:xfrm rot="0" flipH="0" flipV="0">
            <a:off x="762000" y="3819525"/>
            <a:ext cx="590550" cy="285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数据不外流</a:t>
            </a:r>
            <a:endParaRPr/>
          </a:p>
        </p:txBody>
      </p:sp>
      <p:sp>
        <p:nvSpPr>
          <p:cNvPr id="3845" name="" descr="{&quot;isTemplate&quot;:true,&quot;type&quot;:&quot;text&quot;}"/>
          <p:cNvSpPr txBox="1"/>
          <p:nvPr/>
        </p:nvSpPr>
        <p:spPr>
          <a:xfrm rot="0" flipH="0" flipV="0">
            <a:off x="1457325" y="3857625"/>
            <a:ext cx="34766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不进现场就碰不到数据，进不去就什么都做不了</a:t>
            </a:r>
            <a:endParaRPr/>
          </a:p>
        </p:txBody>
      </p:sp>
      <p:sp>
        <p:nvSpPr>
          <p:cNvPr id="3846" name="" descr="{&quot;isTemplate&quot;:true,&quot;type&quot;:&quot;text&quot;}"/>
          <p:cNvSpPr txBox="1"/>
          <p:nvPr/>
        </p:nvSpPr>
        <p:spPr>
          <a:xfrm rot="0" flipH="0" flipV="0">
            <a:off x="762000" y="44958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流程各异</a:t>
            </a:r>
            <a:endParaRPr/>
          </a:p>
        </p:txBody>
      </p:sp>
      <p:sp>
        <p:nvSpPr>
          <p:cNvPr id="3847" name="" descr="{&quot;isTemplate&quot;:true,&quot;type&quot;:&quot;text&quot;}"/>
          <p:cNvSpPr txBox="1"/>
          <p:nvPr/>
        </p:nvSpPr>
        <p:spPr>
          <a:xfrm rot="0" flipH="0" flipV="0">
            <a:off x="1457325" y="4467225"/>
            <a:ext cx="34766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一个客户的做法搬到另一个客户必然失效</a:t>
            </a:r>
            <a:endParaRPr/>
          </a:p>
        </p:txBody>
      </p:sp>
      <p:sp>
        <p:nvSpPr>
          <p:cNvPr id="3848" name=""/>
          <p:cNvSpPr/>
          <p:nvPr/>
        </p:nvSpPr>
        <p:spPr>
          <a:xfrm rot="0" flipH="0" flipV="0">
            <a:off x="5200650" y="2162175"/>
            <a:ext cx="6381750" cy="2781300"/>
          </a:xfrm>
          <a:prstGeom prst="roundRect">
            <a:avLst>
              <a:gd name="adj" fmla="val 137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849" name="" descr="{&quot;isTemplate&quot;:true,&quot;type&quot;:&quot;text&quot;}"/>
          <p:cNvSpPr txBox="1"/>
          <p:nvPr/>
        </p:nvSpPr>
        <p:spPr>
          <a:xfrm rot="0" flipH="0" flipV="0">
            <a:off x="5372100" y="2276475"/>
            <a:ext cx="603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>THE GRAVEL ROAD</a:t>
            </a:r>
            <a:endParaRPr/>
          </a:p>
        </p:txBody>
      </p:sp>
      <p:sp>
        <p:nvSpPr>
          <p:cNvPr id="3850" name="" descr="{&quot;isTemplate&quot;:true,&quot;type&quot;:&quot;text&quot;}"/>
          <p:cNvSpPr txBox="1"/>
          <p:nvPr/>
        </p:nvSpPr>
        <p:spPr>
          <a:xfrm rot="0" flipH="0" flipV="0">
            <a:off x="5372100" y="2495550"/>
            <a:ext cx="603885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先铺一条</a:t>
            </a:r>
            <a:r>
              <a:rPr lang="zh-CN" sz="1500" b="1">
                <a:solidFill>
                  <a:srgbClr val="FA4F24"/>
                </a:solidFill>
                <a:latin typeface="Microsoft YaHei"/>
                <a:ea typeface="Microsoft YaHei"/>
              </a:rPr>
              <a:t>碎石路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3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再把它变成铺好的高速公路</a:t>
            </a:r>
            <a:endParaRPr/>
          </a:p>
        </p:txBody>
      </p:sp>
      <p:sp>
        <p:nvSpPr>
          <p:cNvPr id="3851" name=""/>
          <p:cNvSpPr/>
          <p:nvPr/>
        </p:nvSpPr>
        <p:spPr>
          <a:xfrm rot="0" flipH="0" flipV="0">
            <a:off x="5372100" y="31908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52" name="" descr="{&quot;isTemplate&quot;:true,&quot;type&quot;:&quot;text&quot;}"/>
          <p:cNvSpPr txBox="1"/>
          <p:nvPr/>
        </p:nvSpPr>
        <p:spPr>
          <a:xfrm rot="0" flipH="0" flipV="0">
            <a:off x="5438775" y="32289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853" name="" descr="{&quot;isTemplate&quot;:true,&quot;type&quot;:&quot;text&quot;}"/>
          <p:cNvSpPr txBox="1"/>
          <p:nvPr/>
        </p:nvSpPr>
        <p:spPr>
          <a:xfrm rot="0" flipH="0" flipV="0">
            <a:off x="5695950" y="3190875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现场铺路</a:t>
            </a:r>
            <a:endParaRPr/>
          </a:p>
        </p:txBody>
      </p:sp>
      <p:sp>
        <p:nvSpPr>
          <p:cNvPr id="3854" name="" descr="{&quot;isTemplate&quot;:true,&quot;type&quot;:&quot;text&quot;}"/>
          <p:cNvSpPr txBox="1"/>
          <p:nvPr/>
        </p:nvSpPr>
        <p:spPr>
          <a:xfrm rot="0" flipH="0" flipV="0">
            <a:off x="5695950" y="3381375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一个客户一个客户地手铺，慢，但一定贴合这个客户</a:t>
            </a:r>
            <a:endParaRPr/>
          </a:p>
        </p:txBody>
      </p:sp>
      <p:sp>
        <p:nvSpPr>
          <p:cNvPr id="3855" name=""/>
          <p:cNvSpPr/>
          <p:nvPr/>
        </p:nvSpPr>
        <p:spPr>
          <a:xfrm rot="0" flipH="0" flipV="0">
            <a:off x="5372100" y="3657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56" name="" descr="{&quot;isTemplate&quot;:true,&quot;type&quot;:&quot;text&quot;}"/>
          <p:cNvSpPr txBox="1"/>
          <p:nvPr/>
        </p:nvSpPr>
        <p:spPr>
          <a:xfrm rot="0" flipH="0" flipV="0">
            <a:off x="5438775" y="36957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57" name="" descr="{&quot;isTemplate&quot;:true,&quot;type&quot;:&quot;text&quot;}"/>
          <p:cNvSpPr txBox="1"/>
          <p:nvPr/>
        </p:nvSpPr>
        <p:spPr>
          <a:xfrm rot="0" flipH="0" flipV="0">
            <a:off x="5695950" y="365760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想清楚抽象</a:t>
            </a:r>
            <a:endParaRPr/>
          </a:p>
        </p:txBody>
      </p:sp>
      <p:sp>
        <p:nvSpPr>
          <p:cNvPr id="3858" name="" descr="{&quot;isTemplate&quot;:true,&quot;type&quot;:&quot;text&quot;}"/>
          <p:cNvSpPr txBox="1"/>
          <p:nvPr/>
        </p:nvSpPr>
        <p:spPr>
          <a:xfrm rot="0" flipH="0" flipV="0">
            <a:off x="5695950" y="384810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总部产品团队想清楚这条路里哪一段是通用的</a:t>
            </a:r>
            <a:endParaRPr/>
          </a:p>
        </p:txBody>
      </p:sp>
      <p:sp>
        <p:nvSpPr>
          <p:cNvPr id="3859" name=""/>
          <p:cNvSpPr/>
          <p:nvPr/>
        </p:nvSpPr>
        <p:spPr>
          <a:xfrm rot="0" flipH="0" flipV="0">
            <a:off x="5372100" y="41243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60" name="" descr="{&quot;isTemplate&quot;:true,&quot;type&quot;:&quot;text&quot;}"/>
          <p:cNvSpPr txBox="1"/>
          <p:nvPr/>
        </p:nvSpPr>
        <p:spPr>
          <a:xfrm rot="0" flipH="0" flipV="0">
            <a:off x="5438775" y="41624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861" name="" descr="{&quot;isTemplate&quot;:true,&quot;type&quot;:&quot;text&quot;}"/>
          <p:cNvSpPr txBox="1"/>
          <p:nvPr/>
        </p:nvSpPr>
        <p:spPr>
          <a:xfrm rot="0" flipH="0" flipV="0">
            <a:off x="5695950" y="4124325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铺成高速公路</a:t>
            </a:r>
            <a:endParaRPr/>
          </a:p>
        </p:txBody>
      </p:sp>
      <p:sp>
        <p:nvSpPr>
          <p:cNvPr id="3862" name="" descr="{&quot;isTemplate&quot;:true,&quot;type&quot;:&quot;text&quot;}"/>
          <p:cNvSpPr txBox="1"/>
          <p:nvPr/>
        </p:nvSpPr>
        <p:spPr>
          <a:xfrm rot="0" flipH="0" flipV="0">
            <a:off x="5695950" y="4314825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推广到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5–10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个客户，这一段不用现场支持也能走</a:t>
            </a:r>
            <a:endParaRPr/>
          </a:p>
        </p:txBody>
      </p:sp>
      <p:sp>
        <p:nvSpPr>
          <p:cNvPr id="3863" name=""/>
          <p:cNvSpPr/>
          <p:nvPr/>
        </p:nvSpPr>
        <p:spPr>
          <a:xfrm rot="0" flipH="0" flipV="0">
            <a:off x="5372100" y="4514850"/>
            <a:ext cx="6038850" cy="323850"/>
          </a:xfrm>
          <a:custGeom>
            <a:pathLst>
              <a:path w="634" h="34">
                <a:moveTo>
                  <a:pt x="0" y="0"/>
                </a:moveTo>
                <a:lnTo>
                  <a:pt x="634" y="0"/>
                </a:lnTo>
                <a:lnTo>
                  <a:pt x="63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3864" name="" descr="{&quot;isTemplate&quot;:true,&quot;type&quot;:&quot;text&quot;}"/>
          <p:cNvSpPr txBox="1"/>
          <p:nvPr/>
        </p:nvSpPr>
        <p:spPr>
          <a:xfrm rot="0" flipH="0" flipV="0">
            <a:off x="5372100" y="4610100"/>
            <a:ext cx="60388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这条机制是</a:t>
            </a:r>
            <a:r>
              <a:rPr lang="en-US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商业模式的全部：</a:t>
            </a: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一个客户定制</a:t>
            </a:r>
            <a:r>
              <a:rPr lang="en-US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抽象成平台能力</a:t>
            </a:r>
            <a:r>
              <a:rPr lang="en-US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规模化</a:t>
            </a:r>
            <a:r>
              <a:rPr lang="zh-CN" sz="93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65" name=""/>
          <p:cNvSpPr/>
          <p:nvPr/>
        </p:nvSpPr>
        <p:spPr>
          <a:xfrm rot="0" flipH="0" flipV="0">
            <a:off x="638175" y="5057775"/>
            <a:ext cx="3590925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866" name=""/>
          <p:cNvSpPr/>
          <p:nvPr/>
        </p:nvSpPr>
        <p:spPr>
          <a:xfrm rot="0" flipH="0" flipV="0">
            <a:off x="638175" y="5057775"/>
            <a:ext cx="3590925" cy="666750"/>
          </a:xfrm>
          <a:custGeom>
            <a:pathLst>
              <a:path w="377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67" name="" descr="{&quot;isTemplate&quot;:true,&quot;type&quot;:&quot;text&quot;}"/>
          <p:cNvSpPr txBox="1"/>
          <p:nvPr/>
        </p:nvSpPr>
        <p:spPr>
          <a:xfrm rot="0" flipH="0" flipV="0">
            <a:off x="762000" y="521017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技术栈可复制</a:t>
            </a:r>
            <a:endParaRPr/>
          </a:p>
        </p:txBody>
      </p:sp>
      <p:sp>
        <p:nvSpPr>
          <p:cNvPr id="3868" name="" descr="{&quot;isTemplate&quot;:true,&quot;type&quot;:&quot;text&quot;}"/>
          <p:cNvSpPr txBox="1"/>
          <p:nvPr/>
        </p:nvSpPr>
        <p:spPr>
          <a:xfrm rot="0" flipH="0" flipV="0">
            <a:off x="762000" y="541020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Spark / Neo4j / LangChain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拼得出来</a:t>
            </a:r>
            <a:endParaRPr/>
          </a:p>
        </p:txBody>
      </p:sp>
      <p:sp>
        <p:nvSpPr>
          <p:cNvPr id="3869" name=""/>
          <p:cNvSpPr/>
          <p:nvPr/>
        </p:nvSpPr>
        <p:spPr>
          <a:xfrm rot="0" flipH="0" flipV="0">
            <a:off x="4324350" y="5057775"/>
            <a:ext cx="3600450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870" name=""/>
          <p:cNvSpPr/>
          <p:nvPr/>
        </p:nvSpPr>
        <p:spPr>
          <a:xfrm rot="0" flipH="0" flipV="0">
            <a:off x="4324350" y="5057775"/>
            <a:ext cx="3600450" cy="666750"/>
          </a:xfrm>
          <a:custGeom>
            <a:pathLst>
              <a:path w="378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71" name="" descr="{&quot;isTemplate&quot;:true,&quot;type&quot;:&quot;text&quot;}"/>
          <p:cNvSpPr txBox="1"/>
          <p:nvPr/>
        </p:nvSpPr>
        <p:spPr>
          <a:xfrm rot="0" flipH="0" flipV="0">
            <a:off x="4448175" y="5210175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本体积累不可复制</a:t>
            </a:r>
            <a:endParaRPr/>
          </a:p>
        </p:txBody>
      </p:sp>
      <p:sp>
        <p:nvSpPr>
          <p:cNvPr id="3872" name="" descr="{&quot;isTemplate&quot;:true,&quot;type&quot;:&quot;text&quot;}"/>
          <p:cNvSpPr txBox="1"/>
          <p:nvPr/>
        </p:nvSpPr>
        <p:spPr>
          <a:xfrm rot="0" flipH="0" flipV="0">
            <a:off x="4448175" y="5410200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二十年规则在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经验里，不在论文里</a:t>
            </a:r>
            <a:endParaRPr/>
          </a:p>
        </p:txBody>
      </p:sp>
      <p:sp>
        <p:nvSpPr>
          <p:cNvPr id="3873" name=""/>
          <p:cNvSpPr/>
          <p:nvPr/>
        </p:nvSpPr>
        <p:spPr>
          <a:xfrm rot="0" flipH="0" flipV="0">
            <a:off x="8020050" y="5057775"/>
            <a:ext cx="3590925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874" name=""/>
          <p:cNvSpPr/>
          <p:nvPr/>
        </p:nvSpPr>
        <p:spPr>
          <a:xfrm rot="0" flipH="0" flipV="0">
            <a:off x="8020050" y="5057775"/>
            <a:ext cx="3590925" cy="666750"/>
          </a:xfrm>
          <a:custGeom>
            <a:pathLst>
              <a:path w="377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75" name="" descr="{&quot;isTemplate&quot;:true,&quot;type&quot;:&quot;text&quot;}"/>
          <p:cNvSpPr txBox="1"/>
          <p:nvPr/>
        </p:nvSpPr>
        <p:spPr>
          <a:xfrm rot="0" flipH="0" flipV="0">
            <a:off x="8143875" y="521017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资质与时间不可复制</a:t>
            </a:r>
            <a:endParaRPr/>
          </a:p>
        </p:txBody>
      </p:sp>
      <p:sp>
        <p:nvSpPr>
          <p:cNvPr id="3876" name="" descr="{&quot;isTemplate&quot;:true,&quot;type&quot;:&quot;text&quot;}"/>
          <p:cNvSpPr txBox="1"/>
          <p:nvPr/>
        </p:nvSpPr>
        <p:spPr>
          <a:xfrm rot="0" flipH="0" flipV="0">
            <a:off x="8143875" y="5410200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政府资质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二十年不盈利的投入</a:t>
            </a:r>
            <a:endParaRPr/>
          </a:p>
        </p:txBody>
      </p:sp>
      <p:sp>
        <p:nvSpPr>
          <p:cNvPr id="387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87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7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88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60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8" name="" descr="&lt;Slide style={{ width: 1280, height: 720, background: '#FFFFFF', padding: '24px 64px 0' }}&gt;&#13;&#10;    &lt;Box style={{ height: 96, flexDirection: 'column', justifyContent: 'flex-start' }}&gt;&#13;&#10;        &lt;Text style={{ fontSize: 32, fontWeight: 'bold', color: '#0F1423' }}&gt;&#13;&#10;            碎石路 → 超级高速公路：&lt;span style={{ color: '#FA4F24' }}&gt;这是 FDE 唯一的规模化机制&lt;/span&gt;&#13;&#10;        &lt;/Text&gt;&#13;&#10;        &lt;Text style={{ fontSize: 20, color: '#8A8F99', marginTop: 8 }}&gt;&#13;&#10;            不做这件事，FDE 团队就是一个规模化不可解的咨询公司——收入增长被人力弹性锁死&#13;&#10;        &lt;/Text&gt;&#13;&#10;    &lt;/Box&gt;&#13;&#10;    &lt;Box style={{ height: 1, background: '#E8E8E8' }} /&gt;&#13;&#10;&#13;&#10;    &lt;Box style={{ paddingTop: 18, paddingBottom: 12, height: 479, flexDirection: 'column', gap: 12 }}&gt;&#13;&#10;&#13;&#10;        {/* 核心三步 */}&#13;&#10;        &lt;Box style={{ height: 138, flexDirection: 'row', gap: 11, alignItems: 'stretch' }}&gt;&#13;&#10;            {[&#13;&#10;                {&#13;&#10;                    n: '1', t: '现场铺路', c: '#FA4F24', en: 'BUILD THE GRAVEL ROAD',&#13;&#10;                    d: '一个客户一个客户地手铺。慢，但一定贴合这个客户。',&#13;&#10;                    k: '这一步不许省，也不许并行',&#13;&#10;                },&#13;&#10;                {&#13;&#10;                    n: '2', t: '想清楚抽象', c: '#E0641E', en: 'FIND THE ABSTRACTION',&#13;&#10;                    d: '总部复盘：哪一段是通用的，哪一段只是客户的特例。',&#13;&#10;                    k: '这一步是全场最难的能力',&#13;&#10;                },&#13;&#10;                {&#13;&#10;                    n: '3', t: '铺成高速公路', c: '#C43A17', en: 'PROMOTE TO THE PLATFORM',&#13;&#10;                    d: '推广到 5–10 个客户，不用现场支持也能走。',&#13;&#10;                    k: '这一步决定能不能规模化',&#13;&#10;                },&#13;&#10;            ].map((x) =&gt; (&#13;&#10;                &lt;Box key={x.n} style={{ flex: 1, background: '#F7F7F8', borderRadius: 4, padding: '0 16px', flexDirection: 'column', justifyContent: 'center' }}&gt;&#13;&#10;                    &lt;Box style={{ flexDirection: 'row', alignItems: 'center', gap: 11 }}&gt;&#13;&#10;                        &lt;Box style={{ width: 30, height: 30, borderRadius: 15, background: x.c, alignItems: 'center', justifyContent: 'center' }}&gt;&#13;&#10;                            &lt;Text style={{ fontSize: 16, fontWeight: 'bold', color: '#FFFFFF' }}&gt;{x.n}&lt;/Text&gt;&#13;&#10;                        &lt;/Box&gt;&#13;&#10;                        &lt;Box style={{ flex: 1 }}&gt;&#13;&#10;                            &lt;Text style={{ fontSize: 17, fontWeight: 'bold', color: '#0F1423' }}&gt;{x.t}&lt;/Text&gt;&#13;&#10;                            &lt;Text style={{ fontSize: 9.5, color: '#8A8F99', letterSpacing: 1, marginTop: 2 }}&gt;{x.en}&lt;/Text&gt;&#13;&#10;                        &lt;/Box&gt;&#13;&#10;                    &lt;/Box&gt;&#13;&#10;                    &lt;Text style={{ fontSize: 12, color: '#3A4050', lineHeight: 1.4, marginTop: 8, flex: 1 }}&gt;{x.d}&lt;/Text&gt;&#13;&#10;                    &lt;Box style={{ borderTop: '1px solid #E8E8E8', paddingTop: 7 }}&gt;&#13;&#10;                        &lt;Text style={{ fontSize: 12.5, fontWeight: 'bold', color: '#C43A17' }}&gt;{x.k}&lt;/Text&gt;&#13;&#10;                    &lt;/Box&gt;&#13;&#10;                &lt;/Box&gt;&#13;&#10;            ))}&#13;&#10;        &lt;/Box&gt;&#13;&#10;&#13;&#10;        {/* 中：可复用度判断 + 现场证据 */}&#13;&#10;        &lt;Box style={{ flex: 1, flexDirection: 'row', gap: 12 }}&gt;&#13;&#10;            &lt;Box style={{ width: 456, background: '#0F1423', borderRadius: 4, padding: '11px 16px', flexDirection: 'column' }}&gt;&#13;&#10;                &lt;Text style={{ fontSize: 12, color: '#FBA15C', letterSpacing: 2 }}&gt;第二步的判据：可复用度&lt;/Text&gt;&#13;&#10;                &lt;Text style={{ fontSize: 12.5, color: 'rgba(255,255,255,0.85)', marginTop: 8, lineHeight: 1.45, flex: 1 }}&gt;&#13;&#10;                    现场每建一块，FDE 都要当场问一句：这块能不能被下一个客户直接用？答案是「不能」的时候，要在现场记录它为什么不能——那是平台的缺口清单，不是客户的定制需求。&#13;&#10;                &lt;/Text&gt;&#13;&#10;                {[&#13;&#10;                    { k: '可复用（进平台）', v: '行业通用规则、标准接法、常见对象建模' },&#13;&#10;                    { k: '半复用（进模板）', v: '骨架通用参数不同，做成可配置模板' },&#13;&#10;                    { k: '不可复用（留客户）', v: '客户特有组织结构、历史遗留字段' },&#13;&#10;                ].map((x, i) =&gt; (&#13;&#10;                    &lt;Box key={x.k} style={{ flexDirection: 'row', gap: 10, marginTop: 7, alignItems: 'flex-start', flex: 1 }}&gt;&#13;&#10;                        &lt;Box style={{ width: 6, height: 6, borderRadius: 3, background: ['#FA4F24', '#FBA15C', '#C9CBD1'][i], marginTop: 6 }} /&gt;&#13;&#10;                        &lt;Box style={{ flex: 1, flexDirection: 'column' }}&gt;&#13;&#10;                            &lt;Text style={{ fontSize: 12.5, fontWeight: 'bold', color: '#FFFFFF' }}&gt;{x.k}&lt;/Text&gt;&#13;&#10;                            &lt;Text style={{ fontSize: 11, color: 'rgba(255,255,255,0.65)', lineHeight: 1.32, marginTop: 2 }}&gt;{x.v}&lt;/Text&gt;&#13;&#10;                        &lt;/Box&gt;&#13;&#10;                    &lt;/Box&gt;&#13;&#10;                ))}&#13;&#10;            &lt;/Box&gt;&#13;&#10;&#13;&#10;            &lt;Box style={{ flex: 1, flexDirection: 'column', gap: 10 }}&gt;&#13;&#10;                &lt;Box style={{ flex: 1, background: '#FFF3EE', borderRadius: 4, borderLeft: '4px solid #FA4F24', padding: '10px 16px', flexDirection: 'column' }}&gt;&#13;&#10;                    &lt;Text style={{ fontSize: 15, fontWeight: 'bold', color: '#C43A17' }}&gt;不回流会怎样&lt;/Text&gt;&#13;&#10;                    &lt;Text style={{ fontSize: 12, color: '#3A4050', lineHeight: 1.48, marginTop: 7, flex: 1 }}&gt;&#13;&#10;                        FDE 的经验只留在个人脑子里。下一个客户来了，还是要派同样多的人、做同样多的活。&#13;&#10;                        收入增长受制于 FDE 人力弹性——和咨询公司受制于高级合伙人数量，是同一个瓶颈。&#13;&#10;                    &lt;/Text&gt;&#13;&#10;                    &lt;Text style={{ fontSize: 12, color: '#8A8F99', marginTop: 6 }}&gt;&#13;&#10;                        所以「抽象」不是研发部门的事，是 FDE 现场交付物的一部分。&#13;&#10;                    &lt;/Text&gt;&#13;&#10;                &lt;/Box&gt;&#13;&#10;                &lt;Box style={{ height: 84, background: '#0F1423', borderRadius: 4, padding: '0 15px', flexDirection: 'column', justifyContent: 'center' }}&gt;&#13;&#10;                    &lt;Text style={{ fontSize: 12, color: '#FBA15C', letterSpacing: 1 }}&gt;AIP 的本质就是这个机制的软件化&lt;/Text&gt;&#13;&#10;                    &lt;Text style={{ fontSize: 12, color: 'rgba(255,255,255,0.85)', lineHeight: 1.45, marginTop: 6 }}&gt;&#13;&#10;                        把二十年 FDE 经验里的重复步骤——数据接入、本体构建、规则编码、Agent 部署——做成模板。&#13;&#10;                        效率提升来自「用软件替代稀缺的人类经验」，不是来自算法突破。&#13;&#10;                    &lt;/Text&gt;&#13;&#10;                &lt;/Box&gt;&#13;&#10;            &lt;/Box&gt;&#13;&#10;        &lt;/Box&gt;&#13;&#10;&#13;&#10;        {/* 下：资源杠杆 */}&#13;&#10;        &lt;Box style={{ flexDirection: 'row', gap: 10, alignItems: 'stretch' }}&gt;&#13;&#10;            &lt;Box style={{ width: 214, background: '#0F1423', borderRadius: 4, padding: '0 14px', flexDirection: 'column', justifyContent: 'center' }}&gt;&#13;&#10;                &lt;Text style={{ fontSize: 11, color: '#FBA15C' }}&gt;资源杠杆&lt;/Text&gt;&#13;&#10;                &lt;Text style={{ fontSize: 12.5, fontWeight: 'bold', color: '#FFFFFF', marginTop: 4 }}&gt;FDE 是管道，不是销售成本&lt;/Text&gt;&#13;&#10;            &lt;/Box&gt;&#13;&#10;            {[&#13;&#10;                { k: '1 : 200–500 万', v: '企业管道配 1 名 FDE' },&#13;&#10;                { k: '8–16 周', v: '单客户嵌入时长' },&#13;&#10;                { k: '5–10 个', v: '一条路的目标客户数' },&#13;&#10;                { k: '第 3 天', v: 'Bootcamp 交可运行应用' },&#13;&#10;            ].map((x) =&gt; (&#13;&#10;                &lt;Box key={x.k} style={{ flex: 1, background: '#F7F7F8', borderRadius: 4, padding: '0 12px', flexDirection: 'column', justifyContent: 'center' }}&gt;&#13;&#10;                    &lt;Text style={{ fontSize: 13, fontWeight: 'bold', color: '#C43A17' }}&gt;{x.k}&lt;/Text&gt;&#13;&#10;                    &lt;Text style={{ fontSize: 10.5, color: '#3A4050', marginTop: 3 }}&gt;{x.v}&lt;/Text&gt;&#13;&#10;                &lt;/Box&gt;&#13;&#10;            ))}&#13;&#10;        &lt;/Box&gt;&#13;&#10;    &lt;/Box&gt;&#13;&#10;&#13;&#10;    &lt;Box style={{ height: 58, flexDirection: 'row', alignItems: 'center', borderTop: '1px solid #E8E8E8' }}&gt;&#13;&#10;        &lt;Box style={{ width: 14, height: 14, background: '#FA4F24' }} /&gt;&#13;&#10;        &lt;Text style={{ fontSize: 14, color: '#8A8F99', marginLeft: 12 }}&gt;硕磐机密 · FDE咨询方法论&lt;/Text&gt;&#13;&#10;        &lt;Text style={{ fontSize: 14, color: '#8A8F99', marginLeft: 'auto' }}&gt;10 / 60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碎石路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超级高速公路：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这是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唯一的规模化机制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不做这件事，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团队就是一个规模化不可解的咨询公司——收入增长被人力弹性锁死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09600" y="1323975"/>
            <a:ext cx="3590925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762000" y="1352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57250" y="14001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52525" y="13239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现场铺路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52525" y="1543050"/>
            <a:ext cx="2895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8A8F99"/>
                </a:solidFill>
                <a:latin typeface="Microsoft YaHei"/>
                <a:ea typeface="Microsoft YaHei"/>
              </a:rPr>
              <a:t>BUILD THE GRAVEL ROAD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2000" y="1733550"/>
            <a:ext cx="3286125" cy="685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一个客户一个客户地手铺。慢，但一定贴合这个客户。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62000" y="2419350"/>
            <a:ext cx="3286125" cy="228600"/>
          </a:xfrm>
          <a:custGeom>
            <a:pathLst>
              <a:path w="345" h="24">
                <a:moveTo>
                  <a:pt x="0" y="0"/>
                </a:moveTo>
                <a:lnTo>
                  <a:pt x="345" y="0"/>
                </a:lnTo>
                <a:lnTo>
                  <a:pt x="3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62000" y="2495550"/>
            <a:ext cx="3286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这一步不许省，也不许并行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305300" y="1323975"/>
            <a:ext cx="3581400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457700" y="1352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552950" y="14001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848225" y="1323975"/>
            <a:ext cx="2886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想清楚抽象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848225" y="1543050"/>
            <a:ext cx="2886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8A8F99"/>
                </a:solidFill>
                <a:latin typeface="Microsoft YaHei"/>
                <a:ea typeface="Microsoft YaHei"/>
              </a:rPr>
              <a:t>FIND THE ABSTRACTION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4457700" y="1733550"/>
            <a:ext cx="3276600" cy="685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总部复盘：哪一段是通用的，哪一段只是客户的特例。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457700" y="2419350"/>
            <a:ext cx="3276600" cy="228600"/>
          </a:xfrm>
          <a:custGeom>
            <a:pathLst>
              <a:path w="344" h="24">
                <a:moveTo>
                  <a:pt x="0" y="0"/>
                </a:moveTo>
                <a:lnTo>
                  <a:pt x="344" y="0"/>
                </a:lnTo>
                <a:lnTo>
                  <a:pt x="344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457700" y="2495550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这一步是全场最难的能力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7991475" y="1323975"/>
            <a:ext cx="3590925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143875" y="1352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239125" y="14001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534400" y="13239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铺成高速公路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534400" y="1543050"/>
            <a:ext cx="2895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8A8F99"/>
                </a:solidFill>
                <a:latin typeface="Microsoft YaHei"/>
                <a:ea typeface="Microsoft YaHei"/>
              </a:rPr>
              <a:t>PROMOTE TO THE PLATFORM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143875" y="1733550"/>
            <a:ext cx="3286125" cy="685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推广到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5–10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个客户，不用现场支持也能走。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8143875" y="2419350"/>
            <a:ext cx="3286125" cy="228600"/>
          </a:xfrm>
          <a:custGeom>
            <a:pathLst>
              <a:path w="345" h="24">
                <a:moveTo>
                  <a:pt x="0" y="0"/>
                </a:moveTo>
                <a:lnTo>
                  <a:pt x="345" y="0"/>
                </a:lnTo>
                <a:lnTo>
                  <a:pt x="3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143875" y="2495550"/>
            <a:ext cx="3286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这一步决定能不能规模化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2752725"/>
            <a:ext cx="4343400" cy="2419350"/>
          </a:xfrm>
          <a:prstGeom prst="roundRect">
            <a:avLst>
              <a:gd name="adj" fmla="val 157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第二步的判据：可复用度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62000" y="3076575"/>
            <a:ext cx="4038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现场每建一块，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都要当场问一句：这块能不能被下一个客户直接用？答案是「不能」的时候，要在现场记录它为什么不能——那是平台的缺口清单，不是客户的定制需求。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62000" y="3867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14400" y="3810000"/>
            <a:ext cx="388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可复用（进平台）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14400" y="3971925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8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行业通用规则、标准接法、常见对象建模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62000" y="4314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14400" y="4257675"/>
            <a:ext cx="388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半复用（进模板）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14400" y="441960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8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骨架通用参数不同，做成可配置模板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62000" y="4752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C9CBD1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14400" y="4695825"/>
            <a:ext cx="388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不可复用（留客户）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4400" y="4857750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8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客户特有组织结构、历史遗留字段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105400" y="2752725"/>
            <a:ext cx="6515100" cy="1524000"/>
          </a:xfrm>
          <a:prstGeom prst="roundRect">
            <a:avLst>
              <a:gd name="adj" fmla="val 25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5105400" y="2752725"/>
            <a:ext cx="6515100" cy="1524000"/>
          </a:xfrm>
          <a:custGeom>
            <a:pathLst>
              <a:path w="684" h="160">
                <a:moveTo>
                  <a:pt x="4" y="160"/>
                </a:moveTo>
                <a:cubicBezTo>
                  <a:pt x="2" y="160"/>
                  <a:pt x="0" y="158"/>
                  <a:pt x="0" y="1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257800" y="2847975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不回流会怎样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257800" y="3086100"/>
            <a:ext cx="61722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8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的经验只留在个人脑子里。下一个客户来了，还是要派同样多的人、做同样多的活。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收入增长受制于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人力弹性——和咨询公司受制于高级合伙人数量，是同一个瓶颈。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257800" y="4038600"/>
            <a:ext cx="617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所以「抽象」不是研发部门的事，是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现场交付物的一部分。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067300" y="4371975"/>
            <a:ext cx="6515100" cy="800100"/>
          </a:xfrm>
          <a:prstGeom prst="roundRect">
            <a:avLst>
              <a:gd name="adj" fmla="val 476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210175" y="4476750"/>
            <a:ext cx="622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BA15C"/>
                </a:solidFill>
                <a:latin typeface="Microsoft YaHei"/>
                <a:ea typeface="Microsoft YaHei"/>
              </a:rPr>
              <a:t xml:space="preserve">AIP </a:t>
            </a:r>
            <a:r>
              <a:rPr lang="zh-CN" sz="900" spc="75">
                <a:solidFill>
                  <a:srgbClr val="FBA15C"/>
                </a:solidFill>
                <a:latin typeface="Microsoft YaHei"/>
                <a:ea typeface="Microsoft YaHei"/>
              </a:rPr>
              <a:t>的本质就是这个机制的软件化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210175" y="4676775"/>
            <a:ext cx="62293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把二十年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经验里的重复步骤——数据接入、本体构建、规则编码、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部署——做成模板。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效率提升来自「用软件替代稀缺的人类经验」，不是来自算法突破。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5286375"/>
            <a:ext cx="2038350" cy="314325"/>
          </a:xfrm>
          <a:prstGeom prst="roundRect">
            <a:avLst>
              <a:gd name="adj" fmla="val 1212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42950" y="5286375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BA15C"/>
                </a:solidFill>
                <a:latin typeface="Microsoft YaHei"/>
                <a:ea typeface="Microsoft YaHei"/>
              </a:rPr>
              <a:t>资源杠杆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42950" y="5457825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是管道，不是销售成本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2743200" y="5286375"/>
            <a:ext cx="2143125" cy="314325"/>
          </a:xfrm>
          <a:prstGeom prst="roundRect">
            <a:avLst>
              <a:gd name="adj" fmla="val 121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857500" y="52959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1 : 200–500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2857500" y="5476875"/>
            <a:ext cx="1914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企业管道配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名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981575" y="5286375"/>
            <a:ext cx="2133600" cy="314325"/>
          </a:xfrm>
          <a:prstGeom prst="roundRect">
            <a:avLst>
              <a:gd name="adj" fmla="val 121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095875" y="5295900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8–16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095875" y="5476875"/>
            <a:ext cx="1905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单客户嵌入时长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210425" y="5286375"/>
            <a:ext cx="2143125" cy="314325"/>
          </a:xfrm>
          <a:prstGeom prst="roundRect">
            <a:avLst>
              <a:gd name="adj" fmla="val 121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324725" y="529590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5–10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324725" y="5476875"/>
            <a:ext cx="1914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一条路的目标客户数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9448800" y="5286375"/>
            <a:ext cx="2133600" cy="314325"/>
          </a:xfrm>
          <a:prstGeom prst="roundRect">
            <a:avLst>
              <a:gd name="adj" fmla="val 1212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563100" y="5295900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第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563100" y="5476875"/>
            <a:ext cx="1905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交可运行应用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10 / 60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「不惜代价逼近真相」：&lt;span style={{ color: '#FA4F24' }}&gt;这是 FDE 的行为准则&lt;/span&gt;&#10;        &lt;/Text&gt;&#10;        &lt;Text style={{ fontSize: 20, color: '#8A8F99', marginTop: 8 }}&gt;&#10;            ruthless commitment to truth-seeking —— 重点不是「承诺」，是「不惜代价」这四个字&#10;        &lt;/Text&gt;&#10;    &lt;/Box&gt;&#10;    &lt;Box style={{ height: 1, background: '#E8E8E8' }} /&gt;&#10;&#10;    &lt;Box style={{ paddingTop: 18, paddingBottom: 12, height: 479, flexDirection: 'column', gap: 12 }}&gt;&#10;&#10;        {/* 官方三句 */}&#10;        &lt;Box style={{ height: 116, background: '#0F1423', borderRadius: 4, padding: '15px 22px', flexDirection: 'column' }}&gt;&#10;            &lt;Text style={{ fontSize: 12, color: '#FBA15C', letterSpacing: 2 }}&gt;官方岗位描述原文（三句）&lt;/Text&gt;&#10;            &lt;Box style={{ flex: 1, flexDirection: 'row', gap: 20, marginTop: 12, alignItems: 'center' }}&gt;&#10;                {[&#10;                    { q: '「入职第一天就被托付责任」', d: '不会给你一个工单队列' },&#10;                    { q: '「不被隔绝于客户、混乱与后果之外」', d: '出事你就在现场' },&#10;                    { q: '「走到客户那边去，穿上他们的鞋」', d: '走出会议室，走很多路' },&#10;                ].map((x, i) =&gt; (&#10;                    &lt;Box key={x.q} style={{ flex: 1, flexDirection: 'row', gap: 11, alignItems: 'center' }}&gt;&#10;                        &lt;Box style={{ width: 24, height: 24, borderRadius: 12, background: 'rgba(250,79,36,0.25)', alignItems: 'center', justifyContent: 'center' }}&gt;&#10;                            &lt;Text style={{ fontSize: 12, fontWeight: 'bold', color: '#FA4F24' }}&gt;{i + 1}&lt;/Text&gt;&#10;                        &lt;/Box&gt;&#10;                        &lt;Box style={{ flex: 1, flexDirection: 'column' }}&gt;&#10;                            &lt;Text style={{ fontSize: 13, fontWeight: 'bold', color: '#FFFFFF', lineHeight: 1.35 }}&gt;{x.q}&lt;/Text&gt;&#10;                            &lt;Text style={{ fontSize: 11.5, color: 'rgba(255,255,255,0.6)', marginTop: 4 }}&gt;{x.d}&lt;/Text&gt;&#10;                        &lt;/Box&gt;&#10;                    &lt;/Box&gt;&#10;                ))}&#10;            &lt;/Box&gt;&#10;        &lt;/Box&gt;&#10;&#10;        {/* 中：四条行为准则 */}&#10;        &lt;Box style={{ flex: 1, flexDirection: 'row', gap: 12 }}&gt;&#10;            &lt;Box style={{ width: 424, flexDirection: 'column', gap: 10 }}&gt;&#10;                &lt;Text style={{ fontSize: 16, fontWeight: 'bold', color: '#0F1423' }}&gt;「逼近真相」在现场的四个具体动作&lt;/Text&gt;&#10;                {[&#10;                    { n: '01', t: '找到真正的决策点', d: '不问「要什么功能」，问「上次这个决定是怎么做出来的」' },&#10;                    { n: '02', t: '让数字对不上', d: '主动去验证口径，越对不上越要当场挖到根因' },&#10;                    { n: '03', t: '看一线怎么绕过系统', d: '员工怎么用 Excel 救火，那里就是真实流程' },&#10;                    { n: '04', t: '写下不利于自己的事实', d: '做不成的原因要写清楚，不写成「客户配合度不足」' },&#10;                ].map((x) =&gt; (&#10;                    &lt;Box key={x.n} style={{ flex: 1, background: '#F7F7F8', borderRadius: 4, padding: '0 15px', flexDirection: 'row', alignItems: 'center', gap: 13 }}&gt;&#10;                        &lt;Text style={{ fontSize: 15, fontWeight: 'bold', color: '#FA4F24', width: 26 }}&gt;{x.n}&lt;/Text&gt;&#10;                        &lt;Box style={{ flex: 1, flexDirection: 'column' }}&gt;&#10;                            &lt;Text style={{ fontSize: 13.5, fontWeight: 'bold', color: '#0F1423' }}&gt;{x.t}&lt;/Text&gt;&#10;                            &lt;Text style={{ fontSize: 12, color: '#3A4050', lineHeight: 1.4, marginTop: 3 }}&gt;{x.d}&lt;/Text&gt;&#10;                        &lt;/Box&gt;&#10;                    &lt;/Box&gt;&#10;                ))}&#10;            &lt;/Box&gt;&#10;&#10;            &lt;Box style={{ flex: 1, flexDirection: 'column', gap: 10 }}&gt;&#10;                &lt;Box style={{ flex: 1, background: '#FFF3EE', borderRadius: 4, borderLeft: '4px solid #FA4F24', padding: '13px 18px', flexDirection: 'column' }}&gt;&#10;                    &lt;Text style={{ fontSize: 15, fontWeight: 'bold', color: '#C43A17' }}&gt;这条准则的反面：现场常见的三种自我欺骗&lt;/Text&gt;&#10;                    {[&#10;                        { k: '把「客户说想要」当成「客户需要」', v: '需求访谈里的第一句话最不可信' },&#10;                        { k: '把「跑通了」当成「有人用了」', v: '演示成功和上线运营是两件事' },&#10;                        { k: '把「技术做不到」当成「做不了」', v: '十次里有九次是需求没问清' },&#10;                    ].map((x) =&gt; (&#10;                        &lt;Box key={x.k} style={{ flex: 1, flexDirection: 'row', gap: 11, alignItems: 'center' }}&gt;&#10;                            &lt;Box style={{ width: 6, height: 6, borderRadius: 3, background: '#FA4F24' }} /&gt;&#10;                            &lt;Box style={{ flex: 1, flexDirection: 'column' }}&gt;&#10;                                &lt;Text style={{ fontSize: 12.5, fontWeight: 'bold', color: '#0F1423' }}&gt;{x.k}&lt;/Text&gt;&#10;                                &lt;Text style={{ fontSize: 11.5, color: '#3A4050', marginTop: 2 }}&gt;{x.v}&lt;/Text&gt;&#10;                            &lt;/Box&gt;&#10;                        &lt;/Box&gt;&#10;                    ))}&#10;                &lt;/Box&gt;&#10;                &lt;Box style={{ height: 92, background: '#0F1423', borderRadius: 4, padding: '11px 18px', flexDirection: 'row', alignItems: 'center', gap: 16 }}&gt;&#10;                    &lt;Text style={{ fontSize: 13.5, fontWeight: 'bold', color: '#FBA15C', width: 96 }}&gt;为什么必须这样&lt;/Text&gt;&#10;                    &lt;Text style={{ fontSize: 12.5, color: 'rgba(255,255,255,0.85)', lineHeight: 1.5, flex: 1 }}&gt;&#10;                        FDE 的失败是静默的：系统上线了，没人用；交付完成了，业务照旧。&#10;                        没有审计日志能告诉你这件事——所以真相必须靠现场的人主动挖。&#10;                    &lt;/Text&gt;&#10;                &lt;/Box&gt;&#10;            &lt;/Box&gt;&#10;        &lt;/Box&gt;&#10;&#10;        {/* 下：现场代价 */}&#10;        &lt;Box style={{ height: 74, flexDirection: 'row', gap: 10, alignItems: 'stretch' }}&gt;&#10;            &lt;Box style={{ width: 250, background: '#F7F7F8', borderRadius: 4, padding: '0 16px', flexDirection: 'column', justifyContent: 'center' }}&gt;&#10;                &lt;Text style={{ fontSize: 12, color: '#8A8F99' }}&gt;这份工作的代价&lt;/Text&gt;&#10;                &lt;Text style={{ fontSize: 14, fontWeight: 'bold', color: '#0F1423', marginTop: 4 }}&gt;高密度人才 + 低弹性&lt;/Text&gt;&#10;            &lt;/Box&gt;&#10;            {[&#10;                { k: '一半时间在听', v: '每周 5–15 场客户对话是硬指标' },&#10;                { k: '入职即实战', v: '现场没有缓冲期，错了就是错了' },&#10;                { k: '出差是常态', v: '官方岗位普遍要求 25%–75% 出差' },&#10;                { k: '规模有限', v: '每客户 2–4 人，人力就是交付上限' },&#10;            ].map((x) =&gt; (&#10;                &lt;Box key={x.k} style={{ flex: 1, background: '#F7F7F8', borderRadius: 4, padding: '0 13px', flexDirection: 'column', justifyContent: 'center', borderLeft: '3px solid #C9CBD1' }}&gt;&#10;                    &lt;Text style={{ fontSize: 12.5, fontWeight: 'bold', color: '#0F1423' }}&gt;{x.k}&lt;/Text&gt;&#10;                    &lt;Text style={{ fontSize: 11, color: '#3A4050', lineHeight: 1.35, marginTop: 4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11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「不惜代价逼近真相」：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这是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的行为准则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ruthless commitment to truth-seeking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重点不是「承诺」，是「不惜代价」这四个字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09600" y="1323975"/>
            <a:ext cx="1097280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19150" y="1466850"/>
            <a:ext cx="10553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官方岗位描述原文（三句）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19150" y="1895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>
              <a:alpha val="25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95350" y="19431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52525" y="181927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「入职第一天就被托付责任」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52525" y="2066925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不会给你一个工单队列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400550" y="1895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>
              <a:alpha val="25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476750" y="19431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733925" y="181927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「不被隔绝于客户、混乱与后果之外」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733925" y="2066925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出事你就在现场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981950" y="18954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>
              <a:alpha val="25000"/>
            </a:srgbClr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058150" y="194310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315325" y="181927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「走到客户那边去，穿上他们的鞋」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15325" y="2066925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走出会议室，走很多路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254317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「逼近真相」在现场的四个具体动作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2828925"/>
            <a:ext cx="40386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52475" y="296227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3950" y="2847975"/>
            <a:ext cx="3381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找到真正的决策点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23950" y="3038475"/>
            <a:ext cx="3381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不问「要什么功能」，问「上次这个决定是怎么做出来的」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3352800"/>
            <a:ext cx="40386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52475" y="348615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23950" y="3371850"/>
            <a:ext cx="3381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让数字对不上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23950" y="3562350"/>
            <a:ext cx="3381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主动去验证口径，越对不上越要当场挖到根因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3876675"/>
            <a:ext cx="4038600" cy="419100"/>
          </a:xfrm>
          <a:prstGeom prst="roundRect">
            <a:avLst>
              <a:gd name="adj" fmla="val 90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52475" y="40005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23950" y="3895725"/>
            <a:ext cx="3381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看一线怎么绕过系统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3950" y="4086225"/>
            <a:ext cx="3381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员工怎么用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救火，那里就是真实流程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4391025"/>
            <a:ext cx="4038600" cy="428625"/>
          </a:xfrm>
          <a:prstGeom prst="roundRect">
            <a:avLst>
              <a:gd name="adj" fmla="val 888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52475" y="452437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23950" y="4410075"/>
            <a:ext cx="3381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写下不利于自己的事实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23950" y="4600575"/>
            <a:ext cx="3381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做不成的原因要写清楚，不写成「客户配合度不足」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800600" y="2543175"/>
            <a:ext cx="6819900" cy="1304925"/>
          </a:xfrm>
          <a:prstGeom prst="roundRect">
            <a:avLst>
              <a:gd name="adj" fmla="val 292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4800600" y="2543175"/>
            <a:ext cx="6819900" cy="1304925"/>
          </a:xfrm>
          <a:custGeom>
            <a:pathLst>
              <a:path w="716" h="137">
                <a:moveTo>
                  <a:pt x="4" y="137"/>
                </a:moveTo>
                <a:cubicBezTo>
                  <a:pt x="2" y="137"/>
                  <a:pt x="0" y="135"/>
                  <a:pt x="0" y="13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972050" y="2667000"/>
            <a:ext cx="6438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这条准则的反面：现场常见的三种自我欺骗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972050" y="29622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33975" y="2838450"/>
            <a:ext cx="6276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把「客户说想要」当成「客户需要」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133975" y="3000375"/>
            <a:ext cx="6276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需求访谈里的第一句话最不可信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972050" y="3257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133975" y="3133725"/>
            <a:ext cx="6276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把「跑通了」当成「有人用了」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133975" y="3295650"/>
            <a:ext cx="6276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演示成功和上线运营是两件事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972050" y="3552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133975" y="3429000"/>
            <a:ext cx="6276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把「技术做不到」当成「做不了」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133975" y="3590925"/>
            <a:ext cx="6276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十次里有九次是需求没问清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762500" y="3943350"/>
            <a:ext cx="6819900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933950" y="43053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为什么必须这样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00750" y="4171950"/>
            <a:ext cx="54102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的失败是静默的：系统上线了，没人用；交付完成了，业务照旧。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没有审计日志能告诉你这件事——所以真相必须靠现场的人主动挖。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4933950"/>
            <a:ext cx="238125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62000" y="5114925"/>
            <a:ext cx="2076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这份工作的代价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2000" y="5295900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高密度人才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低弹性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114675" y="4933950"/>
            <a:ext cx="20574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3114675" y="4933950"/>
            <a:ext cx="2057400" cy="704850"/>
          </a:xfrm>
          <a:custGeom>
            <a:pathLst>
              <a:path w="216" h="7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3"/>
                </a:lnTo>
                <a:cubicBezTo>
                  <a:pt x="3" y="73"/>
                  <a:pt x="3" y="74"/>
                  <a:pt x="4" y="74"/>
                </a:cubicBez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C9CBD1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238500" y="5114925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一半时间在听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238500" y="5295900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5–15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场客户对话是硬指标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267325" y="4933950"/>
            <a:ext cx="2047875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5267325" y="4933950"/>
            <a:ext cx="2047875" cy="704850"/>
          </a:xfrm>
          <a:custGeom>
            <a:pathLst>
              <a:path w="215" h="7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3"/>
                </a:lnTo>
                <a:cubicBezTo>
                  <a:pt x="3" y="73"/>
                  <a:pt x="3" y="74"/>
                  <a:pt x="4" y="74"/>
                </a:cubicBez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C9CBD1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391150" y="5114925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入职即实战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391150" y="529590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现场没有缓冲期，错了就是错了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7410450" y="4933950"/>
            <a:ext cx="20574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7410450" y="4933950"/>
            <a:ext cx="2057400" cy="704850"/>
          </a:xfrm>
          <a:custGeom>
            <a:pathLst>
              <a:path w="216" h="7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3"/>
                </a:lnTo>
                <a:cubicBezTo>
                  <a:pt x="3" y="73"/>
                  <a:pt x="3" y="74"/>
                  <a:pt x="4" y="74"/>
                </a:cubicBez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C9CBD1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534275" y="5114925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出差是常态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534275" y="5295900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官方岗位普遍要求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25%–75%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出差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563100" y="4933950"/>
            <a:ext cx="2047875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9563100" y="4933950"/>
            <a:ext cx="2047875" cy="704850"/>
          </a:xfrm>
          <a:custGeom>
            <a:pathLst>
              <a:path w="215" h="7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73"/>
                </a:lnTo>
                <a:cubicBezTo>
                  <a:pt x="3" y="73"/>
                  <a:pt x="3" y="74"/>
                  <a:pt x="4" y="74"/>
                </a:cubicBez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C9CBD1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686925" y="5114925"/>
            <a:ext cx="1771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规模有限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686925" y="529590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每客户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2–4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人，人力就是交付上限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60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与传统三 roles 的&lt;span style={{ color: '#FA4F24' }}&gt;结构性差异&lt;/span&gt;：不是能力清单不同，是交付物形态不同&#10;        &lt;/Text&gt;&#10;        &lt;Text style={{ fontSize: 20, color: '#8A8F99', marginTop: 8 }}&gt;&#10;            这一页是全册最有实用价值的判据——你可以拿它去判断一个人到底该叫什么角色&#10;        &lt;/Text&gt;&#10;    &lt;/Box&gt;&#10;    &lt;Box style={{ height: 1, background: '#E8E8E8' }} /&gt;&#10;&#10;    &lt;Box style={{ paddingTop: 18, paddingBottom: 12, height: 479, flexDirection: 'column', gap: 12 }}&gt;&#10;&#10;        {/* 对比表 */}&#10;        &lt;Box style={{ flex: 1, flexDirection: 'column', gap: 0 }}&gt;&#10;            &lt;Box style={{ height: 42, flexDirection: 'row', background: '#0F1423', borderRadius: 4, alignItems: 'center' }}&gt;&#10;                &lt;Text style={{ fontSize: 12, color: 'rgba(255,255,255,0.55)', width: 160, paddingLeft: 16 }}&gt;维度&lt;/Text&gt;&#10;                &lt;Text style={{ fontSize: 13.5, fontWeight: 'bold', color: '#C9CBD1', flex: 1, textAlign: 'center' }}&gt;咨询顾问&lt;/Text&gt;&#10;                &lt;Text style={{ fontSize: 13.5, fontWeight: 'bold', color: '#C9CBD1', flex: 1, textAlign: 'center' }}&gt;产品经理&lt;/Text&gt;&#10;                &lt;Text style={{ fontSize: 13.5, fontWeight: 'bold', color: '#C9CBD1', flex: 1, textAlign: 'center' }}&gt;开发经理&lt;/Text&gt;&#10;                &lt;Text style={{ fontSize: 13.5, fontWeight: 'bold', color: '#FA4F24', flex: 1, textAlign: 'center' }}&gt;FDE&lt;/Text&gt;&#10;            &lt;/Box&gt;&#10;            {[&#10;                { k: '交付物形态', a: 'PPT / 蓝图', b: '需求文档 / 路线图', c: '排期 / 上线报告', d: '可运行的生产环境', hot: true },&#10;                { k: '是否写生产代码', a: '不写', b: '不写', c: '不写（管别人写）', d: '写，且在现场写' },&#10;                { k: '停留位置', a: '会议室 / 远程', b: '会议室', c: '内部', d: '客户生产环境' },&#10;                { k: '与客户数据的关系', a: '看 PPT', b: '看看板', c: '看工单', d: '直接读写生产数据' },&#10;                { k: '失败的代价', a: '客户不续约', b: '需求做错', c: '延期', d: '客户业务停摆' },&#10;                { k: '被追问的对象', a: '项目成果', b: '需求合理性', c: '交付质量', d: '上线了吗，管用吗' },&#10;            ].map((x) =&gt; (&#10;                &lt;Box key={x.k} style={{ flex: 1, flexDirection: 'row', background: x.hot ? '#FFF3EE' : '#F7F7F8', borderRadius: 3, marginTop: 5, alignItems: 'center' }}&gt;&#10;                    &lt;Text style={{ fontSize: 12.5, fontWeight: 'bold', color: '#0F1423', width: 160, paddingLeft: 16 }}&gt;{x.k}&lt;/Text&gt;&#10;                    &lt;Text style={{ fontSize: 12, color: '#5A6070', flex: 1, textAlign: 'center' }}&gt;{x.a}&lt;/Text&gt;&#10;                    &lt;Text style={{ fontSize: 12, color: '#5A6070', flex: 1, textAlign: 'center' }}&gt;{x.b}&lt;/Text&gt;&#10;                    &lt;Text style={{ fontSize: 12, color: '#5A6070', flex: 1, textAlign: 'center' }}&gt;{x.c}&lt;/Text&gt;&#10;                    &lt;Text style={{ fontSize: 12.5, fontWeight: 'bold', color: '#C43A17', flex: 1, textAlign: 'center' }}&gt;{x.d}&lt;/Text&gt;&#10;                &lt;/Box&gt;&#10;            ))}&#10;        &lt;/Box&gt;&#10;&#10;        {/* 中：两条判别式 */}&#10;        &lt;Box style={{ height: 138, flexDirection: 'row', gap: 12 }}&gt;&#10;            &lt;Box style={{ flex: 1, background: '#0F1423', borderRadius: 4, padding: '14px 20px', flexDirection: 'column', justifyContent: 'center' }}&gt;&#10;                &lt;Text style={{ fontSize: 12, color: '#FBA15C', letterSpacing: 1 }}&gt;判别式一&lt;/Text&gt;&#10;                &lt;Text style={{ fontSize: 17, fontWeight: 'bold', color: '#FFFFFF', marginTop: 9, lineHeight: 1.4 }}&gt;&#10;                    他写的代码，客户生产环境在用吗？&#10;                &lt;/Text&gt;&#10;                &lt;Text style={{ fontSize: 12.5, color: 'rgba(255,255,255,0.75)', lineHeight: 1.5, marginTop: 8 }}&gt;&#10;                    这一条能把顾问、产品经理、开发经理和 FDE 全部分开。答案是「是」的，才叫 FDE。&#10;                &lt;/Text&gt;&#10;            &lt;/Box&gt;&#10;            &lt;Box style={{ flex: 1, background: '#0F1423', borderRadius: 4, padding: '14px 20px', flexDirection: 'column', justifyContent: 'center' }}&gt;&#10;                &lt;Text style={{ fontSize: 12, color: '#FBA15C', letterSpacing: 1 }}&gt;判别式二&lt;/Text&gt;&#10;                &lt;Text style={{ fontSize: 17, fontWeight: 'bold', color: '#FFFFFF', marginTop: 9, lineHeight: 1.4 }}&gt;&#10;                    业务负责人否掉他的方案，他怎么办？&#10;                &lt;/Text&gt;&#10;                &lt;Text style={{ fontSize: 12.5, color: 'rgba(255,255,255,0.75)', lineHeight: 1.5, marginTop: 8 }}&gt;&#10;                    这一条能把「驻场工程师」和「外包实施」分开。FDE 会在现场找证据，不是执行也不是放弃。&#10;                &lt;/Text&gt;&#10;            &lt;/Box&gt;&#10;        &lt;/Box&gt;&#10;&#10;        {/* 下：一句结论 */}&#10;        &lt;Box style={{ flexDirection: 'row', gap: 12, alignItems: 'stretch' }}&gt;&#10;            &lt;Box style={{ flex: 1, background: 'linear-gradient(160deg, #FA4F24 0%, #F87D2F 100%)', borderRadius: 4, padding: '0 22px', flexDirection: 'row', alignItems: 'center', gap: 16 }}&gt;&#10;                &lt;Text style={{ fontSize: 15, fontWeight: 'bold', color: '#FFFFFF', width: 132 }}&gt;一句话结论&lt;/Text&gt;&#10;                &lt;Text style={{ fontSize: 16.5, color: '#FFFFFF', lineHeight: 1.45, flex: 1 }}&gt;&#10;                    前三种角色交付的是&lt;tspan style={{ fontWeight: 'bold' }}&gt;关于系统的论述&lt;/tspan&gt;，FDE 交付的是&lt;tspan style={{ fontWeight: 'bold' }}&gt;系统本身&lt;/tspan&gt;&#10;                &lt;/Text&gt;&#10;            &lt;/Box&gt;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12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与传统三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roles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结构性差异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：不是能力清单不同，是交付物形态不同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这一页是全册最有实用价值的判据——你可以拿它去判断一个人到底该叫什么角色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09600" y="1323975"/>
            <a:ext cx="10972800" cy="400050"/>
          </a:xfrm>
          <a:prstGeom prst="roundRect">
            <a:avLst>
              <a:gd name="adj" fmla="val 95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维度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133600" y="1447800"/>
            <a:ext cx="2362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C9CBD1"/>
                </a:solidFill>
                <a:latin typeface="Microsoft YaHei"/>
                <a:ea typeface="Microsoft YaHei"/>
              </a:rPr>
              <a:t>咨询顾问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495800" y="1447800"/>
            <a:ext cx="2362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C9CBD1"/>
                </a:solidFill>
                <a:latin typeface="Microsoft YaHei"/>
                <a:ea typeface="Microsoft YaHei"/>
              </a:rPr>
              <a:t>产品经理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0" y="1447800"/>
            <a:ext cx="2362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C9CBD1"/>
                </a:solidFill>
                <a:latin typeface="Microsoft YaHei"/>
                <a:ea typeface="Microsoft YaHei"/>
              </a:rPr>
              <a:t>开发经理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220200" y="1447800"/>
            <a:ext cx="2362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13" b="1">
                <a:solidFill>
                  <a:srgbClr val="FA4F24"/>
                </a:solidFill>
                <a:latin typeface="Microsoft YaHei"/>
                <a:ea typeface="Microsoft YaHei"/>
              </a:rPr>
              <a:t>FDE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1771650"/>
            <a:ext cx="10972800" cy="295275"/>
          </a:xfrm>
          <a:prstGeom prst="roundRect">
            <a:avLst>
              <a:gd name="adj" fmla="val 967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交付物形态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133600" y="18478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5A6070"/>
                </a:solidFill>
                <a:latin typeface="Microsoft YaHei"/>
                <a:ea typeface="Microsoft YaHei"/>
              </a:rPr>
              <a:t xml:space="preserve">PPT / </a:t>
            </a: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蓝图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95800" y="18478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需求文档</a:t>
            </a:r>
            <a:r>
              <a:rPr lang="en-US" sz="900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路线图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0" y="18478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排期</a:t>
            </a:r>
            <a:r>
              <a:rPr lang="en-US" sz="900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上线报告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220200" y="18478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可运行的生产环境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2114550"/>
            <a:ext cx="10972800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是否写生产代码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133600" y="21907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不写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495800" y="21907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不写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858000" y="21907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不写（管别人写）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220200" y="21907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写，且在现场写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2457450"/>
            <a:ext cx="10972800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2533650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停留位置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133600" y="25336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会议室</a:t>
            </a:r>
            <a:r>
              <a:rPr lang="en-US" sz="900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远程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495800" y="25336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会议室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858000" y="25336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内部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220200" y="25336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客户生产环境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2800350"/>
            <a:ext cx="10972800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与客户数据的关系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133600" y="28765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看</a:t>
            </a:r>
            <a:r>
              <a:rPr lang="en-US" sz="900">
                <a:solidFill>
                  <a:srgbClr val="5A6070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95800" y="28765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看看板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858000" y="28765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看工单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220200" y="28765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直接读写生产数据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143250"/>
            <a:ext cx="10972800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失败的代价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133600" y="32194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客户不续约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95800" y="32194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需求做错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858000" y="32194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延期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220200" y="32194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客户业务停摆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3486150"/>
            <a:ext cx="10972800" cy="295275"/>
          </a:xfrm>
          <a:prstGeom prst="roundRect">
            <a:avLst>
              <a:gd name="adj" fmla="val 967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1524000" cy="14287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被追问的对象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133600" y="35623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项目成果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495800" y="35623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需求合理性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58000" y="35623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6070"/>
                </a:solidFill>
                <a:latin typeface="Microsoft YaHei"/>
                <a:ea typeface="Microsoft YaHei"/>
              </a:rPr>
              <a:t>交付质量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220200" y="3562350"/>
            <a:ext cx="2362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上线了吗，管用吗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3895725"/>
            <a:ext cx="5429250" cy="1314450"/>
          </a:xfrm>
          <a:prstGeom prst="roundRect">
            <a:avLst>
              <a:gd name="adj" fmla="val 289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00100" y="4152900"/>
            <a:ext cx="504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FBA15C"/>
                </a:solidFill>
                <a:latin typeface="Microsoft YaHei"/>
                <a:ea typeface="Microsoft YaHei"/>
              </a:rPr>
              <a:t>判别式一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00100" y="438150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他写的代码，客户生产环境在用吗？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00100" y="473392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这一条能把顾问、产品经理、开发经理和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全部分开。答案是「是」的，才叫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153150" y="3895725"/>
            <a:ext cx="5429250" cy="1314450"/>
          </a:xfrm>
          <a:prstGeom prst="roundRect">
            <a:avLst>
              <a:gd name="adj" fmla="val 289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343650" y="4152900"/>
            <a:ext cx="504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FBA15C"/>
                </a:solidFill>
                <a:latin typeface="Microsoft YaHei"/>
                <a:ea typeface="Microsoft YaHei"/>
              </a:rPr>
              <a:t>判别式二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343650" y="4381500"/>
            <a:ext cx="50482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业务负责人否掉他的方案，他怎么办？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343650" y="4733925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这一条能把「驻场工程师」和「外包实施」分开。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会在现场找证据，不是执行也不是放弃。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5324475"/>
            <a:ext cx="10972800" cy="276225"/>
          </a:xfrm>
          <a:prstGeom prst="roundRect">
            <a:avLst>
              <a:gd name="adj" fmla="val 13793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19150" y="53816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一句话结论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228850" y="5324475"/>
            <a:ext cx="9144000" cy="276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38">
                <a:solidFill>
                  <a:srgbClr val="FFFFFF"/>
                </a:solidFill>
                <a:latin typeface="Microsoft YaHei"/>
                <a:ea typeface="Microsoft YaHei"/>
              </a:rPr>
              <a:t>前三种角色交付的是</a:t>
            </a:r>
            <a:r>
              <a:rPr lang="zh-CN" sz="1238">
                <a:solidFill>
                  <a:srgbClr val="FFFFFF"/>
                </a:solidFill>
                <a:latin typeface="Microsoft YaHei"/>
                <a:ea typeface="Microsoft YaHei"/>
              </a:rPr>
              <a:t>关于系统的论述</a:t>
            </a:r>
            <a:r>
              <a:rPr lang="zh-CN" sz="1238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en-US" sz="1238">
                <a:solidFill>
                  <a:srgbClr val="FFFFFF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238">
                <a:solidFill>
                  <a:srgbClr val="FFFFFF"/>
                </a:solidFill>
                <a:latin typeface="Microsoft YaHei"/>
                <a:ea typeface="Microsoft YaHei"/>
              </a:rPr>
              <a:t>交付的是</a:t>
            </a:r>
            <a:r>
              <a:rPr lang="zh-CN" sz="1238">
                <a:solidFill>
                  <a:srgbClr val="FFFFFF"/>
                </a:solidFill>
                <a:latin typeface="Microsoft YaHei"/>
                <a:ea typeface="Microsoft YaHei"/>
              </a:rPr>
              <a:t>系统本身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12 / 60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能力三角：&lt;span style={{ color: '#FA4F24' }}&gt;工程、业务、销售影响力&lt;/span&gt;——缺一条就产不出东西&#10;        &lt;/Text&gt;&#10;        &lt;Text style={{ fontSize: 20, color: '#8A8F99', marginTop: 8 }}&gt;&#10;            三条边分给三个人就是三次交接，每次交接掉一层信息；现场交付没时间交接三次&#10;        &lt;/Text&gt;&#10;    &lt;/Box&gt;&#10;    &lt;Box style={{ height: 1, background: '#E8E8E8' }} /&gt;&#10;&#10;    &lt;Box style={{ paddingTop: 20, paddingBottom: 14, height: 479, flexDirection: 'column', gap: 13 }}&gt;&#10;&#10;        {/* 三条边 */}&#10;        &lt;Box style={{ flex: 1, flexDirection: 'row', gap: 11 }}&gt;&#10;            {[&#10;                {&#10;                    k: '工程', en: 'ENGINEERING', c: '#FA4F24',&#10;                    t: '能在脏环境里跑通',&#10;                    d: '不是会写代码，是能在数据环境恶劣的地方把东西跑起来——管住 PT 级管道、调试客户集群。',&#10;                    miss: '缺这条 → 变成售前工程师',&#10;                },&#10;                {&#10;                    k: '业务', en: 'BUSINESS', c: '#E0641E',&#10;                    t: '把模糊需求变成模型',&#10;                    d: '把含糊的运营需求变成精确的数据模型和本体对象。核心是翻译：业务的话 → 系统里的规则。',&#10;                    miss: '缺这条 → 变成纯工程师',&#10;                },&#10;                {&#10;                    k: '影响力', en: 'INFLUENCE', c: '#C43A17',&#10;                    t: '说服资深负责人改流程',&#10;                    d: '要能跟 CTO 对话，说服资深负责人改掉自己发明的护身符指标。这是与高级工程师的分水岭。',&#10;                    miss: '缺这条 → 天花板是资深工程师',&#10;                },&#10;            ].map((x) =&gt; (&#10;                &lt;Box key={x.k} style={{ flex: 1, background: '#F7F7F8', borderRadius: 4, padding: '0 17px', flexDirection: 'column', justifyContent: 'center' }}&gt;&#10;                    &lt;Box style={{ flexDirection: 'row', alignItems: 'baseline', gap: 9 }}&gt;&#10;                        &lt;Text style={{ fontSize: 26, fontWeight: 'bold', color: x.c }}&gt;{x.k}&lt;/Text&gt;&#10;                        &lt;Text style={{ fontSize: 10, color: '#8A8F99', letterSpacing: 1, flex: 1 }}&gt;{x.en}&lt;/Text&gt;&#10;                    &lt;/Box&gt;&#10;                    &lt;Text style={{ fontSize: 14, fontWeight: 'bold', color: '#0F1423', marginTop: 8 }}&gt;{x.t}&lt;/Text&gt;&#10;                    &lt;Text style={{ fontSize: 12, color: '#3A4050', lineHeight: 1.45, marginTop: 8, flex: 1 }}&gt;{x.d}&lt;/Text&gt;&#10;                    &lt;Box style={{ background: '#FFF3EE', borderRadius: 3, padding: '0 11px', marginTop: 8 }}&gt;&#10;                        &lt;Text style={{ fontSize: 11.5, fontWeight: 'bold', color: '#C43A17' }}&gt;{x.miss}&lt;/Text&gt;&#10;                    &lt;/Box&gt;&#10;                &lt;/Box&gt;&#10;            ))}&#10;        &lt;/Box&gt;&#10;&#10;        {/* 中：为什么 + 体检 */}&#10;        &lt;Box style={{ height: 152, flexDirection: 'row', gap: 12 }}&gt;&#10;            &lt;Box style={{ width: 452, background: '#0F1423', borderRadius: 4, padding: '0 18px', flexDirection: 'column', justifyContent: 'center' }}&gt;&#10;                &lt;Text style={{ fontSize: 12, color: '#FBA15C', letterSpacing: 2 }}&gt;为什么三条边必须在一个人身上&lt;/Text&gt;&#10;                &lt;Text style={{ fontSize: 12.5, color: 'rgba(255,255,255,0.85)', lineHeight: 1.5, marginTop: 9, flex: 1 }}&gt;&#10;                    现场交付没有时间交接三次。需求一变，系统就得跟着变，这个「变」的责任必须落在一个人头上，不能落在流程上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官方画像：Delta 是一个「像创业公司 CTO 的人」——技术够深、对模糊性自在。&#10;                    &lt;/Text&gt;&#10;                &lt;/Box&gt;&#10;            &lt;/Box&gt;&#10;&#10;            &lt;Box style={{ flex: 1, background: '#FFF3EE', borderRadius: 4, borderLeft: '4px solid #FA4F24', padding: '0 16px', flexDirection: 'column' }}&gt;&#10;                &lt;Text style={{ fontSize: 14.5, fontWeight: 'bold', color: '#C43A17' }}&gt;三条边的日常体检（每季度问一遍）&lt;/Text&gt;&#10;                {[&#10;                    { k: '工程边', q: '上周我写了多少行进了生产环境的代码？' },&#10;                    { k: '业务边', q: '我能不能用客户的话复述他要什么？' },&#10;                    { k: '影响力边', q: '上一次让不肯改的人改了主意是什么时候？' },&#10;                ].map((x) =&gt; (&#10;                    &lt;Box key={x.k} style={{ flex: 1, flexDirection: 'row', gap: 11, alignItems: 'center' }}&gt;&#10;                        &lt;Text style={{ fontSize: 12, fontWeight: 'bold', color: '#FA4F24', width: 58 }}&gt;{x.k}&lt;/Text&gt;&#10;                        &lt;Text style={{ fontSize: 12.5, color: '#3A4050', lineHeight: 1.4, flex: 1 }}&gt;{x.q}&lt;/Text&gt;&#10;                    &lt;/Box&gt;&#10;                ))}&#10;            &lt;/Box&gt;&#10;        &lt;/Box&gt;&#10;&#10;        {/* 下：现实 */}&#10;        &lt;Box style={{ height: 62, flexDirection: 'row', gap: 12, alignItems: 'stretch' }}&gt;&#10;            &lt;Box style={{ width: 214, background: '#F7F7F8', borderRadius: 4, padding: '0 15px', flexDirection: 'column', justifyContent: 'center' }}&gt;&#10;                &lt;Text style={{ fontSize: 11, color: '#8A8F99' }}&gt;现实&lt;/Text&gt;&#10;                &lt;Text style={{ fontSize: 12.5, fontWeight: 'bold', color: '#0F1423', marginTop: 4 }}&gt;Echo 的工程边可以为零&lt;/Text&gt;&#10;            &lt;/Box&gt;&#10;            {[&#10;                { k: '1%', v: '候选人接受率' },&#10;                { k: '几千人', v: '全球可用池' },&#10;                { k: '2–4 人', v: '每客户标配' },&#10;                { k: '2016', v: 'FDE 数量超软件工程师' },&#10;            ].map((x) =&gt; (&#10;                &lt;Box key={x.k} style={{ flex: 1, background: '#F7F7F8', borderRadius: 4, padding: '0 13px', flexDirection: 'column', justifyContent: 'center', borderTop: '3px solid #FBA15C' }}&gt;&#10;                    &lt;Text style={{ fontSize: 13.5, fontWeight: 'bold', color: '#C43A17' }}&gt;{x.k}&lt;/Text&gt;&#10;                    &lt;Text style={{ fontSize: 11, color: '#3A4050', marginTop: 3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13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能力三角：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工程、业务、销售影响力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——缺一条就产不出东西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三条边分给三个人就是三次交接，每次交接掉一层信息；现场交付没时间交接三次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609600" y="1343025"/>
            <a:ext cx="3590925" cy="1952625"/>
          </a:xfrm>
          <a:prstGeom prst="roundRect">
            <a:avLst>
              <a:gd name="adj" fmla="val 19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71525" y="134302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A4F24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352550" y="1343025"/>
            <a:ext cx="2686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8A8F99"/>
                </a:solidFill>
                <a:latin typeface="Microsoft YaHei"/>
                <a:ea typeface="Microsoft YaHei"/>
              </a:rPr>
              <a:t>ENGINEERING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71525" y="1724025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能在脏环境里跑通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71525" y="1962150"/>
            <a:ext cx="3267075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不是会写代码，是能在数据环境恶劣的地方把东西跑起来——管住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PT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级管道、调试客户集群。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71525" y="3162300"/>
            <a:ext cx="3267075" cy="133350"/>
          </a:xfrm>
          <a:prstGeom prst="roundRect">
            <a:avLst>
              <a:gd name="adj" fmla="val 2142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76300" y="3162300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缺这条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变成售前工程师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305300" y="1343025"/>
            <a:ext cx="3581400" cy="1952625"/>
          </a:xfrm>
          <a:prstGeom prst="roundRect">
            <a:avLst>
              <a:gd name="adj" fmla="val 19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467225" y="1343025"/>
            <a:ext cx="495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E0641E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048250" y="1343025"/>
            <a:ext cx="26765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8A8F99"/>
                </a:solidFill>
                <a:latin typeface="Microsoft YaHei"/>
                <a:ea typeface="Microsoft YaHei"/>
              </a:rPr>
              <a:t>BUSINESS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467225" y="1724025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把模糊需求变成模型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467225" y="1962150"/>
            <a:ext cx="325755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把含糊的运营需求变成精确的数据模型和本体对象。核心是翻译：业务的话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系统里的规则。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467225" y="3162300"/>
            <a:ext cx="3257550" cy="133350"/>
          </a:xfrm>
          <a:prstGeom prst="roundRect">
            <a:avLst>
              <a:gd name="adj" fmla="val 2142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572000" y="3162300"/>
            <a:ext cx="3048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缺这条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变成纯工程师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991475" y="1343025"/>
            <a:ext cx="3590925" cy="1952625"/>
          </a:xfrm>
          <a:prstGeom prst="roundRect">
            <a:avLst>
              <a:gd name="adj" fmla="val 19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53400" y="1343025"/>
            <a:ext cx="742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C43A17"/>
                </a:solidFill>
                <a:latin typeface="Microsoft YaHei"/>
                <a:ea typeface="Microsoft YaHei"/>
              </a:rPr>
              <a:t>影响力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982075" y="1343025"/>
            <a:ext cx="2438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8A8F99"/>
                </a:solidFill>
                <a:latin typeface="Microsoft YaHei"/>
                <a:ea typeface="Microsoft YaHei"/>
              </a:rPr>
              <a:t>INFLUENCE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153400" y="1724025"/>
            <a:ext cx="3267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说服资深负责人改流程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153400" y="1962150"/>
            <a:ext cx="3267075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要能跟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CTO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对话，说服资深负责人改掉自己发明的护身符指标。这是与高级工程师的分水岭。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153400" y="3162300"/>
            <a:ext cx="3267075" cy="133350"/>
          </a:xfrm>
          <a:prstGeom prst="roundRect">
            <a:avLst>
              <a:gd name="adj" fmla="val 2142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58175" y="3162300"/>
            <a:ext cx="3057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缺这条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天花板是资深工程师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3419475"/>
            <a:ext cx="4305300" cy="1447800"/>
          </a:xfrm>
          <a:prstGeom prst="roundRect">
            <a:avLst>
              <a:gd name="adj" fmla="val 26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为什么三条边必须在一个人身上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81050" y="3648075"/>
            <a:ext cx="39624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现场交付没有时间交接三次。需求一变，系统就得跟着变，这个「变」的责任必须落在一个人头上，不能落在流程上。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781050" y="4467225"/>
            <a:ext cx="39624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95350" y="4467225"/>
            <a:ext cx="37338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官方画像：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是一个「像创业公司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 CTO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的人」——技术够深、对模糊性自在。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067300" y="3419475"/>
            <a:ext cx="6553200" cy="1447800"/>
          </a:xfrm>
          <a:prstGeom prst="roundRect">
            <a:avLst>
              <a:gd name="adj" fmla="val 26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5067300" y="3419475"/>
            <a:ext cx="6553200" cy="1447800"/>
          </a:xfrm>
          <a:custGeom>
            <a:pathLst>
              <a:path w="688" h="152">
                <a:moveTo>
                  <a:pt x="4" y="152"/>
                </a:moveTo>
                <a:cubicBezTo>
                  <a:pt x="2" y="152"/>
                  <a:pt x="0" y="150"/>
                  <a:pt x="0" y="1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219700" y="341947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三条边的日常体检（每季度问一遍）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219700" y="373380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工程边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876925" y="3705225"/>
            <a:ext cx="5553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上周我写了多少行进了生产环境的代码？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219700" y="4162425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业务边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876925" y="4133850"/>
            <a:ext cx="5553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我能不能用客户的话复述他要什么？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219700" y="4581525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影响力边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876925" y="4552950"/>
            <a:ext cx="5553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上一次让不肯改的人改了主意是什么时候？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4991100"/>
            <a:ext cx="20383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52475" y="51339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现实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52475" y="5305425"/>
            <a:ext cx="1752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的工程边可以为零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2762250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2762250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2886075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1%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2886075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候选人接受率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5000625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5000625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24450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几千人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124450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全球可用池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7229475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7229475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353300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2–4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353300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每客户标配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9467850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9467850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591675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2016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591675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数量超软件工程师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60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315" name="" descr="&lt;Slide style={{ width: 1280, height: 720, background: '#FFFFFF', padding: '24px 64px 0' }}&gt;&#13;&#10;    &lt;Box style={{ height: 96, flexDirection: 'column', justifyContent: 'flex-start' }}&gt;&#13;&#10;        &lt;Text style={{ fontSize: 32, fontWeight: 'bold', color: '#0F1423' }}&gt;&#13;&#10;            人才画像：1% 接受率&lt;span style={{ color: '#FA4F24' }}&gt;意味着你不能靠「招人」解决 FDE&lt;/span&gt;&#13;&#10;        &lt;/Text&gt;&#13;&#10;        &lt;Text style={{ fontSize: 20, color: '#8A8F99', marginTop: 8 }}&gt;&#13;&#10;            只能靠两条路：内部养（把资深工程师放回现场）或改工作设计（让现场这件事本身变得可复制）&#13;&#10;        &lt;/Text&gt;&#13;&#10;    &lt;/Box&gt;&#13;&#10;    &lt;Box style={{ height: 1, background: '#E8E8E8' }} /&gt;&#13;&#10;&#13;&#10;    &lt;Box style={{ paddingTop: 20, paddingBottom: 14, height: 479, flexDirection: 'column', gap: 13 }}&gt;&#13;&#10;&#13;&#10;        {/* 上：三条来源 */}&#13;&#10;        &lt;Box style={{ flex: 1, flexDirection: 'row', gap: 11 }}&gt;&#13;&#10;            {[&#13;&#10;                {&#13;&#10;                    k: '路径一', t: '从行业里捞', c: '#FA4F24', best: '成功率最高',&#13;&#10;                    who: ['前军官 / 医疗从业者 / 金融从业者', '懂行业，但工程能力弱', '必须配一个能带他的 Delta'],&#13;&#10;                    note: 'Echo 的来源。这类人最难招，也最难被替代。',&#13;&#10;                },&#13;&#10;                {&#13;&#10;                    k: '路径二', t: '从工程里放出去', c: '#E0641E', best: '规模最稳',&#13;&#10;                    who: ['资深平台工程师', '工程能力强，但没进过现场', '要让他愿意承认「我不懂业务」'],&#13;&#10;                    note: 'Dev 转 Delta。好处是懂平台，坏处是要重建行业观。',&#13;&#10;                },&#13;&#10;                {&#13;&#10;                    k: '路径三', t: '从咨询里转过来', c: '#C43A17', best: '上手最快',&#13;&#10;                    who: ['懂业务与流程，但写不动生产代码', '常被误认为「已经会了」', '最难的是补上工程这一边'],&#13;&#10;                    note: '顾问转型。最容易被低估，也最容易被高估。',&#13;&#10;                },&#13;&#10;            ].map((x) =&gt; (&#13;&#10;                &lt;Box key={x.k} style={{ flex: 1, background: '#F7F7F8', borderRadius: 4, padding: '0 17px', flexDirection: 'column', justifyContent: 'center' }}&gt;&#13;&#10;                    &lt;Box style={{ flexDirection: 'row', alignItems: 'center', gap: 10 }}&gt;&#13;&#10;                        &lt;Text style={{ fontSize: 15.5, fontWeight: 'bold', color: x.c }}&gt;{x.k}&lt;/Text&gt;&#13;&#10;                        &lt;Text style={{ fontSize: 16, fontWeight: 'bold', color: '#0F1423', flex: 1 }}&gt;{x.t}&lt;/Text&gt;&#13;&#10;                        &lt;Box style={{ background: '#FFF3EE', borderRadius: 3, padding: '3px 8px' }}&gt;&#13;&#10;                            &lt;Text style={{ fontSize: 10.5, fontWeight: 'bold', color: '#C43A17' }}&gt;{x.best}&lt;/Text&gt;&#13;&#10;                        &lt;/Box&gt;&#13;&#10;                    &lt;/Box&gt;&#13;&#10;                    &lt;Box style={{ marginTop: 12, gap: 6 }}&gt;&#13;&#10;                        {x.who.map((w) =&gt; (&#13;&#10;                            &lt;Box key={w} style={{ flexDirection: 'row', gap: 8, alignItems: 'flex-start' }}&gt;&#13;&#10;                                &lt;Text style={{ fontSize: 11, fontWeight: 'bold', color: x.c }}&gt;·&lt;/Text&gt;&#13;&#10;                                &lt;Text style={{ fontSize: 12, color: '#3A4050', lineHeight: 1.4, flex: 1 }}&gt;{w}&lt;/Text&gt;&#13;&#10;                            &lt;/Box&gt;&#13;&#10;                        ))}&#13;&#10;                    &lt;/Box&gt;&#13;&#10;                    &lt;Box style={{ background: '#0F1423', borderRadius: 3, padding: '0 11px', marginTop: 12 }}&gt;&#13;&#10;                        &lt;Text style={{ fontSize: 11.5, color: 'rgba(255,255,255,0.85)', lineHeight: 1.4 }}&gt;{x.note}&lt;/Text&gt;&#13;&#10;                    &lt;/Box&gt;&#13;&#10;                &lt;/Box&gt;&#13;&#10;            ))}&#13;&#10;        &lt;/Box&gt;&#13;&#10;&#13;&#10;        {/* 中：改工作设计比招人更现实 */}&#13;&#10;        &lt;Box style={{ height: 166, flexDirection: 'row', gap: 12 }}&gt;&#13;&#10;            &lt;Box style={{ width: 452, background: '#0F1423', borderRadius: 4, padding: '0 18px', flexDirection: 'column', justifyContent: 'center' }}&gt;&#13;&#10;                &lt;Text style={{ fontSize: 12, color: '#FBA15C', letterSpacing: 2 }}&gt;更现实的一条路：改工作设计&lt;/Text&gt;&#13;&#10;                &lt;Text style={{ fontSize: 12.5, color: 'rgba(255,255,255,0.85)', lineHeight: 1.5, marginTop: 9, flex: 1 }}&gt;&#13;&#10;                    招不到全三角的人，就把它拆成两人小队——一个偏工程、一个偏业务，共享同一个交付责任。&#13;&#10;                    这样做的代价是队里必须有一个人愿意做「翻译」，通常就是 Echo。&#13;&#10;                &lt;/Text&gt;&#13;&#10;                &lt;Box style={{ background: 'rgba(250,79,36,0.22)', borderRadius: 3, padding: '0 12px', marginTop: 10 }}&gt;&#13;&#10;                    &lt;Text style={{ fontSize: 12, color: '#FBA15C', lineHeight: 1.45 }}&gt;&#13;&#10;                        这就是 Delta 与 Echo 一对一配对的现实理由——不是因为组织设计好看，是因为一个人确实干不完。&#13;&#10;                    &lt;/Text&gt;&#13;&#10;                &lt;/Box&gt;&#13;&#10;            &lt;/Box&gt;&#13;&#10;&#13;&#10;            &lt;Box style={{ flex: 1, flexDirection: 'column', gap: 10 }}&gt;&#13;&#10;                &lt;Box style={{ flex: 1, background: '#FFF3EE', borderRadius: 4, borderLeft: '4px solid #FA4F24', padding: '0 16px', flexDirection: 'column' }}&gt;&#13;&#10;                    &lt;Text style={{ fontSize: 14.5, fontWeight: 'bold', color: '#C43A17' }}&gt;面试怎么考（三道题定生死）&lt;/Text&gt;&#13;&#10;                    {[&#13;&#10;                    { k: '题一', v: '现场画一张本体：给你一个真实但未脱敏的业务场景' },&#13;&#10;                    { k: '题二', v: '追问：你怎么知道这个数是对的？——看他反问还是自己猜' },&#13;&#10;                    { k: '题三', v: '让步测试：否掉他的方案，看他是找证据还是执行' },&#13;&#10;                    ].map((x) =&gt; (&#13;&#10;                        &lt;Box key={x.k} style={{ flex: 1, flexDirection: 'row', gap: 11, alignItems: 'center' }}&gt;&#13;&#10;                            &lt;Text style={{ fontSize: 12, fontWeight: 'bold', color: '#FA4F24', width: 32 }}&gt;{x.k}&lt;/Text&gt;&#13;&#10;                            &lt;Text style={{ fontSize: 12, color: '#3A4050', lineHeight: 1.4, flex: 1 }}&gt;{x.v}&lt;/Text&gt;&#13;&#10;                        &lt;/Box&gt;&#13;&#10;                    ))}&#13;&#10;                &lt;/Box&gt;&#13;&#10;                &lt;Box style={{ height: 70, background: '#F7F7F8', borderRadius: 4, padding: '0 15px', flexDirection: 'row', alignItems: 'center', gap: 12 }}&gt;&#13;&#10;                    &lt;Text style={{ fontSize: 12.5, fontWeight: 'bold', color: '#0F1423', width: 78 }}&gt;常见误判&lt;/Text&gt;&#13;&#10;                    &lt;Text style={{ fontSize: 12, color: '#3A4050', lineHeight: 1.42, flex: 1 }}&gt;&#13;&#10;                        「技术面试通过 = 能做 FDE」。技术只验证了三条边里的一条，另两条要靠真实项目验证。&#13;&#10;                    &lt;/Text&gt;&#13;&#10;                &lt;/Box&gt;&#13;&#10;            &lt;/Box&gt;&#13;&#10;        &lt;/Box&gt;&#13;&#10;&#13;&#10;        {/* 下：投入产出 */}&#13;&#10;        &lt;Box style={{ height: 62, flexDirection: 'row', gap: 12, alignItems: 'stretch' }}&gt;&#13;&#10;            &lt;Box style={{ width: 214, background: '#F7F7F8', borderRadius: 4, padding: '0 15px', flexDirection: 'column', justifyContent: 'center' }}&gt;&#13;&#10;                &lt;Text style={{ fontSize: 11, color: '#8A8F99' }}&gt;投入产出&lt;/Text&gt;&#13;&#10;                &lt;Text style={{ fontSize: 12.5, fontWeight: 'bold', color: '#0F1423', marginTop: 4 }}&gt;算的是复利，不是人天&lt;/Text&gt;&#13;&#10;            &lt;/Box&gt;&#13;&#10;            {[&#13;&#10;                { k: '8–16 周', v: '一次嵌入的典型周期' },&#13;&#10;                { k: '5–10 个', v: '一条路的目标客户数' },&#13;&#10;                { k: '20 年', v: '知识沉淀到平台的周期' },&#13;&#10;                { k: '5 天', v: '平台化后的新客户周期' },&#13;&#10;            ].map((x) =&gt; (&#13;&#10;                &lt;Box key={x.k} style={{ flex: 1, background: '#F7F7F8', borderRadius: 4, padding: '0 13px', flexDirection: 'column', justifyContent: 'center', borderTop: '3px solid #FBA15C' }}&gt;&#13;&#10;                    &lt;Text style={{ fontSize: 13.5, fontWeight: 'bold', color: '#C43A17' }}&gt;{x.k}&lt;/Text&gt;&#13;&#10;                    &lt;Text style={{ fontSize: 11, color: '#3A4050', marginTop: 3 }}&gt;{x.v}&lt;/Text&gt;&#13;&#10;                &lt;/Box&gt;&#13;&#10;            ))}&#13;&#10;        &lt;/Box&gt;&#13;&#10;    &lt;/Box&gt;&#13;&#10;&#13;&#10;    &lt;Box style={{ height: 58, flexDirection: 'row', alignItems: 'center', borderTop: '1px solid #E8E8E8' }}&gt;&#13;&#10;        &lt;Box style={{ width: 14, height: 14, background: '#FA4F24' }} /&gt;&#13;&#10;        &lt;Text style={{ fontSize: 14, color: '#8A8F99', marginLeft: 12 }}&gt;硕磐机密 · FDE咨询方法论&lt;/Text&gt;&#13;&#10;        &lt;Text style={{ fontSize: 14, color: '#8A8F99', marginLeft: 'auto' }}&gt;14 / 60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人才画像：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1%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接受率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意味着你不能靠「招人」解决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FDE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只能靠两条路：内部养（把资深工程师放回现场）或改工作设计（让现场这件事本身变得可复制）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1343025"/>
            <a:ext cx="3590925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71525" y="1600200"/>
            <a:ext cx="4476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路径一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314450" y="1590675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从行业里捞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3381375" y="1600200"/>
            <a:ext cx="657225" cy="180975"/>
          </a:xfrm>
          <a:prstGeom prst="roundRect">
            <a:avLst>
              <a:gd name="adj" fmla="val 1578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3457575" y="1628775"/>
            <a:ext cx="504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成功率最高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71525" y="1895475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95350" y="189547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前军官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医疗从业者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金融从业者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71525" y="2152650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95350" y="2152650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懂行业，但工程能力弱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71525" y="2409825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95350" y="240982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必须配一个能带他的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Delta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771525" y="2724150"/>
            <a:ext cx="326707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76300" y="2724150"/>
            <a:ext cx="30575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的来源。这类人最难招，也最难被替代。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305300" y="1343025"/>
            <a:ext cx="3581400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467225" y="1600200"/>
            <a:ext cx="4476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0641E"/>
                </a:solidFill>
                <a:latin typeface="Microsoft YaHei"/>
                <a:ea typeface="Microsoft YaHei"/>
              </a:rPr>
              <a:t>路径二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010150" y="1590675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从工程里放出去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7172325" y="1600200"/>
            <a:ext cx="552450" cy="180975"/>
          </a:xfrm>
          <a:prstGeom prst="roundRect">
            <a:avLst>
              <a:gd name="adj" fmla="val 1578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248525" y="16287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规模最稳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467225" y="1895475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591050" y="1895475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资深平台工程师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467225" y="2152650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591050" y="2152650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工程能力强，但没进过现场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467225" y="2409825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591050" y="2409825"/>
            <a:ext cx="3133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要让他愿意承认「我不懂业务」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467225" y="2724150"/>
            <a:ext cx="32575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572000" y="272415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Dev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转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Delta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。好处是懂平台，坏处是要重建行业观。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7991475" y="1343025"/>
            <a:ext cx="3590925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153400" y="1600200"/>
            <a:ext cx="4476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路径三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696325" y="1590675"/>
            <a:ext cx="2076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从咨询里转过来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10868025" y="1600200"/>
            <a:ext cx="552450" cy="180975"/>
          </a:xfrm>
          <a:prstGeom prst="roundRect">
            <a:avLst>
              <a:gd name="adj" fmla="val 1578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0944225" y="16287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上手最快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153400" y="1895475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277225" y="189547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懂业务与流程，但写不动生产代码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53400" y="2152650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277225" y="2152650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常被误认为「已经会了」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153400" y="2409825"/>
            <a:ext cx="47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277225" y="2409825"/>
            <a:ext cx="31432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最难的是补上工程这一边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8153400" y="2724150"/>
            <a:ext cx="326707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258175" y="2724150"/>
            <a:ext cx="30575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顾问转型。最容易被低估，也最容易被高估。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3286125"/>
            <a:ext cx="4305300" cy="1581150"/>
          </a:xfrm>
          <a:prstGeom prst="roundRect">
            <a:avLst>
              <a:gd name="adj" fmla="val 241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81050" y="32861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更现实的一条路：改工作设计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81050" y="3514725"/>
            <a:ext cx="39624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招不到全三角的人，就把它拆成两人小队——一个偏工程、一个偏业务，共享同一个交付责任。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这样做的代价是队里必须有一个人愿意做「翻译」，通常就是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Echo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781050" y="4467225"/>
            <a:ext cx="39624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95350" y="4467225"/>
            <a:ext cx="37338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这就是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一对一配对的现实理由——不是因为组织设计好看，是因为一个人确实干不完。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5067300" y="3286125"/>
            <a:ext cx="6553200" cy="819150"/>
          </a:xfrm>
          <a:prstGeom prst="roundRect">
            <a:avLst>
              <a:gd name="adj" fmla="val 46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5067300" y="3286125"/>
            <a:ext cx="6553200" cy="819150"/>
          </a:xfrm>
          <a:custGeom>
            <a:pathLst>
              <a:path w="688" h="86">
                <a:moveTo>
                  <a:pt x="4" y="86"/>
                </a:moveTo>
                <a:cubicBezTo>
                  <a:pt x="2" y="86"/>
                  <a:pt x="0" y="84"/>
                  <a:pt x="0" y="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219700" y="328612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面试怎么考（三道题定生死）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219700" y="3495675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题一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629275" y="3467100"/>
            <a:ext cx="5800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现场画一张本体：给你一个真实但未脱敏的业务场景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219700" y="3714750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题二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629275" y="3686175"/>
            <a:ext cx="5800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追问：你怎么知道这个数是对的？——看他反问还是自己猜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219700" y="3924300"/>
            <a:ext cx="30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题三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629275" y="3895725"/>
            <a:ext cx="58007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让步测试：否掉他的方案，看他是找证据还是执行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5029200" y="4200525"/>
            <a:ext cx="65532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172075" y="446722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常见误判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029325" y="4438650"/>
            <a:ext cx="5410200" cy="200025"/>
          </a:xfrm>
          <a:prstGeom prst="rect"/>
        </p:spPr>
        <p:txBody>
          <a:bodyPr wrap="none" lIns="0" tIns="0" rIns="0" bIns="0"/>
          <a:p>
            <a:pPr>
              <a:lnSpc>
                <a:spcPct val="142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「技术面试通过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能做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」。技术只验证了三条边里的一条，另两条要靠真实项目验证。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09600" y="4991100"/>
            <a:ext cx="20383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52475" y="51339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投入产出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52475" y="5305425"/>
            <a:ext cx="1752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算的是复利，不是人天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2762250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2762250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2886075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8–16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2886075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一次嵌入的典型周期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5000625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5000625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124450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5–10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124450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一条路的目标客户数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229475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7229475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353300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353300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知识沉淀到平台的周期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9467850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9467850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9591675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591675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平台化后的新客户周期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14 / 60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399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反面画像：&lt;span style={{ color: '#FA4F24' }}&gt;四种典型失败现场&lt;/span&gt;——都不是能力不够，是站错了位置&#10;        &lt;/Text&gt;&#10;        &lt;Text style={{ fontSize: 20, color: '#8A8F99', marginTop: 8 }}&gt;&#10;            每一种失败都有明确的现场特征，可以用来在项目中期止损，而不是等到结项才发现&#10;        &lt;/Text&gt;&#10;    &lt;/Box&gt;&#10;    &lt;Box style={{ height: 1, background: '#E8E8E8' }} /&gt;&#10;&#10;    &lt;Box style={{ paddingTop: 20, paddingBottom: 14, height: 479, flexDirection: 'column', gap: 13 }}&gt;&#10;&#10;        {/* 四种失败 */}&#10;        &lt;Box style={{ flex: 1, flexDirection: 'row', gap: 11 }}&gt;&#10;            {[&#10;                {&#10;                    n: '失败一', t: '会议室里的 FDE', c: '#FA4F24',&#10;                    d: '人在客户现场办公，但一周开三次视频会跟总部对齐，没有一次跟一线用户坐在一起。',&#10;                    sign: '现场特征：所有输入都来自业务负责人一个人',&#10;                    fix: '本周内安排 5 场一线对话，不接受替代',&#10;                },&#10;                {&#10;                    n: '失败二', t: '保守的 FDE', c: '#E0641E',&#10;                    d: '把客户现状当既定条件做优化，交付了一个「更快的旧流程」，还写进复盘说客户很满意。',&#10;                    sign: '现场特征：系统上线了，业务流程一张纸都没改',&#10;                    fix: '立一个「改变一件事」的硬指标，只做一件也行',&#10;                },&#10;                {&#10;                    n: '失败三', t: '不回流的经验', c: '#C43A17',&#10;                    d: '现场踩过的坑写在自己笔记本里，项目结束就带走。下一个客户来了，从头再来一遍。',&#10;                    sign: '现场特征：交付物里找不到任何「为什么这么做」',&#10;                    fix: '当场把坑写成模板或平台需求，带进迭代清单',&#10;                },&#10;                {&#10;                    n: '失败四', t: '交付即结束', c: '#9E3410',&#10;                    d: '上线那天办完验收就撤，留下一个没人懂的系统和一群不知道该问谁的用户。',&#10;                    sign: '现场特征：上线后两周活跃用户数掉到个位数',&#10;                    fix: '移交必须三层：手册、陪跑、自主，三层缺一不算完成',&#10;                },&#10;            ].map((x) =&gt; (&#10;                &lt;Box key={x.n} style={{ flex: 1, background: '#F7F7F8', borderRadius: 4, padding: '0 15px', flexDirection: 'column', justifyContent: 'center' }}&gt;&#10;                    &lt;Text style={{ fontSize: 11.5, color: x.c, fontWeight: 'bold', letterSpacing: 1 }}&gt;{x.n}&lt;/Text&gt;&#10;                    &lt;Text style={{ fontSize: 15.5, fontWeight: 'bold', color: '#0F1423', marginTop: 6 }}&gt;{x.t}&lt;/Text&gt;&#10;                    &lt;Text style={{ fontSize: 12, color: '#3A4050', lineHeight: 1.45, marginTop: 9, flex: 1 }}&gt;{x.d}&lt;/Text&gt;&#10;                    &lt;Box style={{ background: '#0F1423', borderRadius: 3, padding: '0 10px', marginTop: 8 }}&gt;&#10;                        &lt;Text style={{ fontSize: 11, color: 'rgba(255,255,255,0.7)', lineHeight: 1.35 }}&gt;{x.sign}&lt;/Text&gt;&#10;                    &lt;/Box&gt;&#10;                    &lt;Box style={{ borderTop: '1px solid #E8E8E8', marginTop: 9, paddingTop: 8 }}&gt;&#10;                        &lt;Text style={{ fontSize: 11.5, fontWeight: 'bold', color: '#C43A17', lineHeight: 1.35 }}&gt;{x.fix}&lt;/Text&gt;&#10;                    &lt;/Box&gt;&#10;                &lt;/Box&gt;&#10;            ))}&#10;        &lt;/Box&gt;&#10;&#10;        {/* 中：中期止损信号 */}&#10;        &lt;Box style={{ height: 158, flexDirection: 'row', gap: 12 }}&gt;&#10;            &lt;Box style={{ width: 452, background: '#0F1423', borderRadius: 4, padding: '0 18px', flexDirection: 'column', justifyContent: 'center' }}&gt;&#10;                &lt;Text style={{ fontSize: 12, color: '#FBA15C', letterSpacing: 2 }}&gt;中期止损：四个可观测信号&lt;/Text&gt;&#10;                &lt;Text style={{ fontSize: 12.5, color: 'rgba(255,255,255,0.85)', lineHeight: 1.5, marginTop: 9, flex: 1 }}&gt;&#10;                    FDE 的失败是静默的——不会有人来投诉。所以必须靠可观测的信号主动发现，而不是等结项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原则：任何一条连续两周成立，就停下来重做方案，不要继续往前推。&#10;                    &lt;/Text&gt;&#10;                &lt;/Box&gt;&#10;            &lt;/Box&gt;&#10;&#10;            &lt;Box style={{ flex: 1, background: '#FFF3EE', borderRadius: 4, borderLeft: '4px solid #FA4F24', padding: '0 16px', flexDirection: 'column' }}&gt;&#10;                &lt;Text style={{ fontSize: 14.5, fontWeight: 'bold', color: '#C43A17' }}&gt;四个信号（每周过一遍）&lt;/Text&gt;&#10;                {[&#10;                    { k: '对话数', v: '本周一线对话是否少于 5 场？' },&#10;                    { k: '输入面', v: '需求是否全部来自同一个人？' },&#10;                    { k: '变更', v: '业务流程是否一张纸都没改？' },&#10;                    { k: '回流', v: '本周有没有产出可复用的模板？' },&#10;                ].map((x) =&gt; (&#10;                    &lt;Box key={x.k} style={{ flex: 1, flexDirection: 'row', gap: 11, alignItems: 'center' }}&gt;&#10;                        &lt;Text style={{ fontSize: 12, fontWeight: 'bold', color: '#FA4F24', width: 48 }}&gt;{x.k}&lt;/Text&gt;&#10;                        &lt;Text style={{ fontSize: 12.5, color: '#3A4050', lineHeight: 1.4, flex: 1 }}&gt;{x.v}&lt;/Text&gt;&#10;                    &lt;/Box&gt;&#10;                ))}&#10;            &lt;/Box&gt;&#10;        &lt;/Box&gt;&#10;&#10;        {/* 下：一句提醒 */}&#10;        &lt;Box style={{ height: 62, flexDirection: 'row', gap: 12, alignItems: 'stretch' }}&gt;&#10;            &lt;Box style={{ flex: 1, background: 'linear-gradient(160deg, #FA4F24 0%, #F87D2F 100%)', borderRadius: 4, padding: '0 22px', flexDirection: 'row', alignItems: 'center', gap: 16 }}&gt;&#10;                &lt;Text style={{ fontSize: 15, fontWeight: 'bold', color: '#FFFFFF', width: 148 }}&gt;四种失败的共同点&lt;/Text&gt;&#10;                &lt;Text style={{ fontSize: 16, color: '#FFFFFF', lineHeight: 1.45, flex: 1 }}&gt;&#10;                    都把「交付完成」当成了终点——而 FDE 的终点是&lt;tspan style={{ fontWeight: 'bold' }}&gt;客户现场的行为真的变了&lt;/tspan&gt;&#10;                &lt;/Text&gt;&#10;            &lt;/Box&gt;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15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反面画像：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四种典型失败现场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——都不是能力不够，是站错了位置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每一种失败都有明确的现场特征，可以用来在项目中期止损，而不是等到结项才发现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609600" y="1343025"/>
            <a:ext cx="2667000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52475" y="13430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75">
                <a:solidFill>
                  <a:srgbClr val="FA4F24"/>
                </a:solidFill>
                <a:latin typeface="Microsoft YaHei"/>
                <a:ea typeface="Microsoft YaHei"/>
              </a:rPr>
              <a:t>失败一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52475" y="1533525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会议室里的</a:t>
            </a:r>
            <a:r>
              <a:rPr lang="en-US" sz="11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FDE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52475" y="1800225"/>
            <a:ext cx="238125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人在客户现场办公，但一周开三次视频会跟总部对齐，没有一次跟一线用户坐在一起。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752475" y="2714625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47725" y="271462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现场特征：所有输入都来自业务负责人一个人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752475" y="2971800"/>
            <a:ext cx="2381250" cy="276225"/>
          </a:xfrm>
          <a:custGeom>
            <a:pathLst>
              <a:path w="250" h="29">
                <a:moveTo>
                  <a:pt x="0" y="0"/>
                </a:moveTo>
                <a:lnTo>
                  <a:pt x="250" y="0"/>
                </a:lnTo>
                <a:lnTo>
                  <a:pt x="25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52475" y="3057525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本周内安排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场一线对话，不接受替代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3381375" y="1343025"/>
            <a:ext cx="2667000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524250" y="13430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75">
                <a:solidFill>
                  <a:srgbClr val="E0641E"/>
                </a:solidFill>
                <a:latin typeface="Microsoft YaHei"/>
                <a:ea typeface="Microsoft YaHei"/>
              </a:rPr>
              <a:t>失败二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524250" y="1533525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保守的</a:t>
            </a:r>
            <a:r>
              <a:rPr lang="en-US" sz="11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FDE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3524250" y="1800225"/>
            <a:ext cx="2381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把客户现状当既定条件做优化，交付了一个「更快的旧流程」，还写进复盘说客户很满意。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3524250" y="2543175"/>
            <a:ext cx="2381250" cy="342900"/>
          </a:xfrm>
          <a:prstGeom prst="roundRect">
            <a:avLst>
              <a:gd name="adj" fmla="val 833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619500" y="2543175"/>
            <a:ext cx="21907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现场特征：系统上线了，业务流程一张纸都没改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3524250" y="2971800"/>
            <a:ext cx="2381250" cy="276225"/>
          </a:xfrm>
          <a:custGeom>
            <a:pathLst>
              <a:path w="250" h="29">
                <a:moveTo>
                  <a:pt x="0" y="0"/>
                </a:moveTo>
                <a:lnTo>
                  <a:pt x="250" y="0"/>
                </a:lnTo>
                <a:lnTo>
                  <a:pt x="25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524250" y="3057525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立一个「改变一件事」的硬指标，只做一件也行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153150" y="1343025"/>
            <a:ext cx="2657475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296025" y="1343025"/>
            <a:ext cx="2371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75">
                <a:solidFill>
                  <a:srgbClr val="C43A17"/>
                </a:solidFill>
                <a:latin typeface="Microsoft YaHei"/>
                <a:ea typeface="Microsoft YaHei"/>
              </a:rPr>
              <a:t>失败三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296025" y="1533525"/>
            <a:ext cx="23717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不回流的经验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296025" y="1800225"/>
            <a:ext cx="2371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现场踩过的坑写在自己笔记本里，项目结束就带走。下一个客户来了，从头再来一遍。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296025" y="2543175"/>
            <a:ext cx="2371725" cy="342900"/>
          </a:xfrm>
          <a:prstGeom prst="roundRect">
            <a:avLst>
              <a:gd name="adj" fmla="val 833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391275" y="2543175"/>
            <a:ext cx="21812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现场特征：交付物里找不到任何「为什么这么做」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296025" y="2971800"/>
            <a:ext cx="2371725" cy="276225"/>
          </a:xfrm>
          <a:custGeom>
            <a:pathLst>
              <a:path w="249" h="29">
                <a:moveTo>
                  <a:pt x="0" y="0"/>
                </a:moveTo>
                <a:lnTo>
                  <a:pt x="249" y="0"/>
                </a:lnTo>
                <a:lnTo>
                  <a:pt x="249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296025" y="3057525"/>
            <a:ext cx="23717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当场把坑写成模板或平台需求，带进迭代清单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8915400" y="1343025"/>
            <a:ext cx="2667000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058275" y="1343025"/>
            <a:ext cx="2381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75">
                <a:solidFill>
                  <a:srgbClr val="9E3410"/>
                </a:solidFill>
                <a:latin typeface="Microsoft YaHei"/>
                <a:ea typeface="Microsoft YaHei"/>
              </a:rPr>
              <a:t>失败四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9058275" y="1533525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0F1423"/>
                </a:solidFill>
                <a:latin typeface="Microsoft YaHei"/>
                <a:ea typeface="Microsoft YaHei"/>
              </a:rPr>
              <a:t>交付即结束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058275" y="1800225"/>
            <a:ext cx="2381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上线那天办完验收就撤，留下一个没人懂的系统和一群不知道该问谁的用户。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9058275" y="2533650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9153525" y="253365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现场特征：上线后两周活跃用户数掉到个位数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9058275" y="2790825"/>
            <a:ext cx="2381250" cy="457200"/>
          </a:xfrm>
          <a:custGeom>
            <a:pathLst>
              <a:path w="250" h="48">
                <a:moveTo>
                  <a:pt x="0" y="0"/>
                </a:moveTo>
                <a:lnTo>
                  <a:pt x="250" y="0"/>
                </a:lnTo>
                <a:lnTo>
                  <a:pt x="250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9058275" y="2876550"/>
            <a:ext cx="23812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移交必须三层：手册、陪跑、自主，三层缺一不算完成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3362325"/>
            <a:ext cx="4305300" cy="1504950"/>
          </a:xfrm>
          <a:prstGeom prst="roundRect">
            <a:avLst>
              <a:gd name="adj" fmla="val 25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中期止损：四个可观测信号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81050" y="3590925"/>
            <a:ext cx="39624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的失败是静默的——不会有人来投诉。所以必须靠可观测的信号主动发现，而不是等结项。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781050" y="4667250"/>
            <a:ext cx="3962400" cy="200025"/>
          </a:xfrm>
          <a:prstGeom prst="roundRect">
            <a:avLst>
              <a:gd name="adj" fmla="val 14286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95350" y="4667250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原则：任何一条连续两周成立，就停下来重做方案，不要继续往前推。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5067300" y="3362325"/>
            <a:ext cx="6553200" cy="1504950"/>
          </a:xfrm>
          <a:prstGeom prst="roundRect">
            <a:avLst>
              <a:gd name="adj" fmla="val 25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5067300" y="3362325"/>
            <a:ext cx="6553200" cy="1504950"/>
          </a:xfrm>
          <a:custGeom>
            <a:pathLst>
              <a:path w="688" h="158">
                <a:moveTo>
                  <a:pt x="4" y="158"/>
                </a:moveTo>
                <a:cubicBezTo>
                  <a:pt x="2" y="158"/>
                  <a:pt x="0" y="156"/>
                  <a:pt x="0" y="1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219700" y="336232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四个信号（每周过一遍）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219700" y="3629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对话数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781675" y="3600450"/>
            <a:ext cx="5648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本周一线对话是否少于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场？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219700" y="39624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输入面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5781675" y="3933825"/>
            <a:ext cx="5648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需求是否全部来自同一个人？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219700" y="42957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变更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781675" y="4267200"/>
            <a:ext cx="5648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业务流程是否一张纸都没改？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219700" y="46291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回流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781675" y="4600575"/>
            <a:ext cx="5648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本周有没有产出可复用的模板？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09600" y="4991100"/>
            <a:ext cx="10972800" cy="590550"/>
          </a:xfrm>
          <a:prstGeom prst="roundRect">
            <a:avLst>
              <a:gd name="adj" fmla="val 645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19150" y="5200650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四种失败的共同点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2381250" y="5153025"/>
            <a:ext cx="89916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都把「交付完成」当成了终点——而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的终点是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客户现场的行为真的变了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60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style={{ width: 1280, height: 720, background: '#FFFFFF', padding: '24px 64px 0' }}&gt;&#13;&#10;    &lt;Box style={{ height: 96, flexDirection: 'column', justifyContent: 'flex-start' }}&gt;&#13;&#10;        &lt;Text style={{ fontSize: 32, fontWeight: 'bold', color: '#0F1423' }}&gt;&#13;&#10;            FDE 走过的路：&lt;span style={{ color: '#FA4F24' }}&gt;从非标准交付到标准行业实践&lt;/span&gt;&#13;&#10;        &lt;/Text&gt;&#13;&#10;        &lt;Text style={{ fontSize: 20, color: '#8A8F99', marginTop: 8 }}&gt;&#13;&#10;            这二十年走过的路，对应今天咨询公司与企业 IT 之间的那条鸿沟——也是 FDE 方法论可以借鉴的全部理由&#13;&#10;        &lt;/Text&gt;&#13;&#10;    &lt;/Box&gt;&#13;&#10;    &lt;Box style={{ height: 1, background: '#E8E8E8' }} /&gt;&#13;&#10;&#13;&#10;    &lt;Box style={{ paddingTop: 20, paddingBottom: 14, height: 479, flexDirection: 'column', gap: 13 }}&gt;&#13;&#10;&#13;&#10;        {/* 四个阶段 */}&#13;&#10;        &lt;Box style={{ flex: 1, flexDirection: 'row', gap: 11 }}&gt;&#13;&#10;            {[&#13;&#10;                {&#13;&#10;                    y: '2005', t: '非标准交付', c: '#FA4F24',&#13;&#10;                    d: '为情报客户定制，几乎每个项目都从零开始。产品是项目的一部分，不是项目的目标。',&#13;&#10;                    k: '关键词：项目制',&#13;&#10;                },&#13;&#10;                {&#13;&#10;                    y: '2010s', t: '平台化起步', c: '#E0641E',&#13;&#10;                    d: '把重复的部分收进 Gotham / Foundry，本体成为平台的中心。「一个客户定制」开始变成「平台的一次实例化」。',&#13;&#10;                    k: '关键词：可复用',&#13;&#10;                },&#13;&#10;                {&#13;&#10;                    y: '2016', t: '组织失衡与平衡', c: '#C43A17',&#13;&#10;                    d: 'FDE 数量超过传统软件工程师。极致贴近客户与平台化沉淀之间第一次正面碰撞，最后达成动态平衡。',&#13;&#10;                    k: '关键词：动态平衡',&#13;&#10;                },&#13;&#10;                {&#13;&#10;                    y: '2023+', t: '经验软件化', c: '#9E3410',&#13;&#10;                    d: 'AIP Bootcamp 把二十年经验做成模板，3–6 个月的交付压到 5 天。FDE 的角色从「铺路」转向「找新路」。',&#13;&#10;                    k: '关键词：软件化',&#13;&#10;                },&#13;&#10;            ].map((x) =&gt; (&#13;&#10;                &lt;Box key={x.y} style={{ flex: 1, background: '#F7F7F8', borderRadius: 4, padding: '0 16px', flexDirection: 'column', justifyContent: 'center' }}&gt;&#13;&#10;                    &lt;Box style={{ flexDirection: 'row', alignItems: 'center', gap: 9 }}&gt;&#13;&#10;                        &lt;Text style={{ fontSize: 17, fontWeight: 'bold', color: x.c }}&gt;{x.y}&lt;/Text&gt;&#13;&#10;                        &lt;Box style={{ width: 1, height: 14, background: '#E8E8E8' }} /&gt;&#13;&#10;                        &lt;Text style={{ fontSize: 14.5, fontWeight: 'bold', color: '#0F1423', flex: 1 }}&gt;{x.t}&lt;/Text&gt;&#13;&#10;                    &lt;/Box&gt;&#13;&#10;                    &lt;Text style={{ fontSize: 12, color: '#3A4050', lineHeight: 1.5, marginTop: 10, flex: 1 }}&gt;{x.d}&lt;/Text&gt;&#13;&#10;                    &lt;Box style={{ background: '#FFF3EE', borderRadius: 3, padding: '0 11px', marginTop: 10 }}&gt;&#13;&#10;                        &lt;Text style={{ fontSize: 12, fontWeight: 'bold', color: '#C43A17' }}&gt;{x.k}&lt;/Text&gt;&#13;&#10;                    &lt;/Box&gt;&#13;&#10;                &lt;/Box&gt;&#13;&#10;            ))}&#13;&#10;        &lt;/Box&gt;&#13;&#10;&#13;&#10;        {/* 中：给咨询公司的启示 */}&#13;&#10;        &lt;Box style={{ height: 176, flexDirection: 'row', gap: 12 }}&gt;&#13;&#10;            &lt;Box style={{ width: 452, background: '#0F1423', borderRadius: 4, padding: '0 18px', flexDirection: 'column', justifyContent: 'center' }}&gt;&#13;&#10;                &lt;Text style={{ fontSize: 12, color: '#FBA15C', letterSpacing: 2 }}&gt;对今天的咨询公司意味着什么&lt;/Text&gt;&#13;&#10;                &lt;Text style={{ fontSize: 12.5, color: 'rgba(255,255,255,0.85)', lineHeight: 1.5, marginTop: 9, flex: 1 }}&gt;&#13;&#10;                    这条路证明了：贴近客户与沉淀平台不矛盾，但需要一个明确的抽象动作。多数咨询公司卡住的地方不是不愿意贴现场，是没做过抽象这一步。&#13;&#10;                &lt;/Text&gt;&#13;&#10;                &lt;Box style={{ background: 'rgba(250,79,36,0.22)', borderRadius: 3, padding: '0 12px', marginTop: 10 }}&gt;&#13;&#10;                    &lt;Text style={{ fontSize: 12, color: '#FBA15C', lineHeight: 1.45 }}&gt;&#13;&#10;                        这也是 FDE 与传统顾问最本质的分水岭：顾问交付完就走了，FDE 必须把经验带走。&#13;&#10;                    &lt;/Text&gt;&#13;&#10;                &lt;/Box&gt;&#13;&#10;            &lt;/Box&gt;&#13;&#10;&#13;&#10;            &lt;Box style={{ flex: 1, flexDirection: 'column', gap: 10 }}&gt;&#13;&#10;                &lt;Box style={{ flex: 1, background: '#FFF3EE', borderRadius: 4, borderLeft: '4px solid #FA4F24', padding: '0 16px', flexDirection: 'column' }}&gt;&#13;&#10;                    &lt;Text style={{ fontSize: 14.5, fontWeight: 'bold', color: '#C43A17' }}&gt;可以直接借用的三件事&lt;/Text&gt;&#13;&#10;                    {[&#13;&#10;                        { k: '借一', v: '把「交付即上线」写进合同和考核' },&#13;&#10;                        { k: '借二', v: '设一个抽象回流的硬性交付物' },&#13;&#10;                        { k: '借三', v: '按 Echo / Delta 配对组队，不按专业分组' },&#13;&#10;                    ].map((x) =&gt; (&#13;&#10;                        &lt;Box key={x.k} style={{ flex: 1, flexDirection: 'row', gap: 11, alignItems: 'center' }}&gt;&#13;&#10;                            &lt;Text style={{ fontSize: 12, fontWeight: 'bold', color: '#FA4F24', width: 34 }}&gt;{x.k}&lt;/Text&gt;&#13;&#10;                            &lt;Text style={{ fontSize: 12.5, color: '#3A4050', lineHeight: 1.4, flex: 1 }}&gt;{x.v}&lt;/Text&gt;&#13;&#10;                        &lt;/Box&gt;&#13;&#10;                    ))}&#13;&#10;                &lt;/Box&gt;&#13;&#10;                &lt;Box style={{ height: 68, background: '#F7F7F8', borderRadius: 4, padding: '0 15px', flexDirection: 'row', alignItems: 'center', gap: 12 }}&gt;&#13;&#10;                    &lt;Text style={{ fontSize: 13, fontWeight: 'bold', color: '#0F1423', width: 90 }}&gt;别照抄的部分&lt;/Text&gt;&#13;&#10;                    &lt;Text style={{ fontSize: 11.5, color: '#3A4050', lineHeight: 1.4, flex: 1 }}&gt;&#13;&#10;                        保密资质与二十年行业积累无法复制，可复制的是交付结构与方法。&#13;&#10;                    &lt;/Text&gt;&#13;&#10;                &lt;/Box&gt;&#13;&#10;            &lt;/Box&gt;&#13;&#10;        &lt;/Box&gt;&#13;&#10;&#13;&#10;        {/* 下：下一部分预告 */}&#13;&#10;        &lt;Box style={{ height: 62, flexDirection: 'row', gap: 12, alignItems: 'stretch' }}&gt;&#13;&#10;            &lt;Box style={{ width: 214, background: '#F7F7F8', borderRadius: 4, padding: '0 15px', flexDirection: 'column', justifyContent: 'center' }}&gt;&#13;&#10;                &lt;Text style={{ fontSize: 11, color: '#8A8F99' }}&gt;下一部分&lt;/Text&gt;&#13;&#10;                &lt;Text style={{ fontSize: 12.5, fontWeight: 'bold', color: '#0F1423', marginTop: 4 }}&gt;现场三动作&lt;/Text&gt;&#13;&#10;            &lt;/Box&gt;&#13;&#10;            {[&#13;&#10;                { k: 'Enter', v: '进场第一天做什么' },&#13;&#10;                { k: 'Investigate', v: '30–40% 时间挖真相' },&#13;&#10;                { k: 'Execute', v: '交付即上线' },&#13;&#10;                { k: '硬顺序', v: '先 Ontology 再 AI' },&#13;&#10;            ].map((x) =&gt; (&#13;&#10;                &lt;Box key={x.k} style={{ flex: 1, background: '#F7F7F8', borderRadius: 4, padding: '0 13px', flexDirection: 'column', justifyContent: 'center', borderTop: '3px solid #FBA15C' }}&gt;&#13;&#10;                    &lt;Text style={{ fontSize: 13.5, fontWeight: 'bold', color: '#C43A17' }}&gt;{x.k}&lt;/Text&gt;&#13;&#10;                    &lt;Text style={{ fontSize: 11, color: '#3A4050', marginTop: 3 }}&gt;{x.v}&lt;/Text&gt;&#13;&#10;                &lt;/Box&gt;&#13;&#10;            ))}&#13;&#10;        &lt;/Box&gt;&#13;&#10;    &lt;/Box&gt;&#13;&#10;&#13;&#10;    &lt;Box style={{ height: 58, flexDirection: 'row', alignItems: 'center', borderTop: '1px solid #E8E8E8' }}&gt;&#13;&#10;        &lt;Box style={{ width: 14, height: 14, background: '#FA4F24' }} /&gt;&#13;&#10;        &lt;Text style={{ fontSize: 14, color: '#8A8F99', marginLeft: 12 }}&gt;硕磐机密 · FDE咨询方法论&lt;/Text&gt;&#13;&#10;        &lt;Text style={{ fontSize: 14, color: '#8A8F99', marginLeft: 'auto' }}&gt;16 / 60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走过的路：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从非标准交付到标准行业实践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这二十年走过的路，对应今天咨询公司与企业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之间的那条鸿沟——也是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方法论可以借鉴的全部理由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609600" y="1343025"/>
            <a:ext cx="2667000" cy="1724025"/>
          </a:xfrm>
          <a:prstGeom prst="roundRect">
            <a:avLst>
              <a:gd name="adj" fmla="val 22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62000" y="13430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2005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1247775" y="1381125"/>
            <a:ext cx="9525" cy="133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343025" y="13620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非标准交付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62000" y="1638300"/>
            <a:ext cx="2362200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为情报客户定制，几乎每个项目都从零开始。产品是项目的一部分，不是项目的目标。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762000" y="2924175"/>
            <a:ext cx="2362200" cy="142875"/>
          </a:xfrm>
          <a:prstGeom prst="roundRect">
            <a:avLst>
              <a:gd name="adj" fmla="val 2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66775" y="292417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关键词：项目制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3381375" y="1343025"/>
            <a:ext cx="2667000" cy="1724025"/>
          </a:xfrm>
          <a:prstGeom prst="roundRect">
            <a:avLst>
              <a:gd name="adj" fmla="val 22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533775" y="13430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0641E"/>
                </a:solidFill>
                <a:latin typeface="Microsoft YaHei"/>
                <a:ea typeface="Microsoft YaHei"/>
              </a:rPr>
              <a:t>2010s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4105275" y="1381125"/>
            <a:ext cx="9525" cy="133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200525" y="136207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平台化起步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533775" y="1638300"/>
            <a:ext cx="2362200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把重复的部分收进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Gotham / Foundry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，本体成为平台的中心。「一个客户定制」开始变成「平台的一次实例化」。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3533775" y="2924175"/>
            <a:ext cx="2362200" cy="142875"/>
          </a:xfrm>
          <a:prstGeom prst="roundRect">
            <a:avLst>
              <a:gd name="adj" fmla="val 2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638550" y="292417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关键词：可复用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153150" y="1343025"/>
            <a:ext cx="2657475" cy="1724025"/>
          </a:xfrm>
          <a:prstGeom prst="roundRect">
            <a:avLst>
              <a:gd name="adj" fmla="val 22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305550" y="13430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3A17"/>
                </a:solidFill>
                <a:latin typeface="Microsoft YaHei"/>
                <a:ea typeface="Microsoft YaHei"/>
              </a:rPr>
              <a:t>2016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791325" y="1381125"/>
            <a:ext cx="9525" cy="133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886575" y="13620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组织失衡与平衡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305550" y="1638300"/>
            <a:ext cx="2352675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数量超过传统软件工程师。极致贴近客户与平台化沉淀之间第一次正面碰撞，最后达成动态平衡。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305550" y="2924175"/>
            <a:ext cx="2352675" cy="142875"/>
          </a:xfrm>
          <a:prstGeom prst="roundRect">
            <a:avLst>
              <a:gd name="adj" fmla="val 2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410325" y="2924175"/>
            <a:ext cx="2143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关键词：动态平衡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8915400" y="1343025"/>
            <a:ext cx="2667000" cy="1724025"/>
          </a:xfrm>
          <a:prstGeom prst="roundRect">
            <a:avLst>
              <a:gd name="adj" fmla="val 22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9067800" y="1343025"/>
            <a:ext cx="523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9E3410"/>
                </a:solidFill>
                <a:latin typeface="Microsoft YaHei"/>
                <a:ea typeface="Microsoft YaHei"/>
              </a:rPr>
              <a:t>2023+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9677400" y="1381125"/>
            <a:ext cx="9525" cy="133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772650" y="13620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经验软件化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067800" y="1638300"/>
            <a:ext cx="2362200" cy="1190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AIP Bootcamp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把二十年经验做成模板，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3–6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个月的交付压到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天。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的角色从「铺路」转向「找新路」。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9067800" y="2924175"/>
            <a:ext cx="2362200" cy="142875"/>
          </a:xfrm>
          <a:prstGeom prst="roundRect">
            <a:avLst>
              <a:gd name="adj" fmla="val 2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172575" y="2924175"/>
            <a:ext cx="2152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关键词：软件化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3190875"/>
            <a:ext cx="4305300" cy="1676400"/>
          </a:xfrm>
          <a:prstGeom prst="roundRect">
            <a:avLst>
              <a:gd name="adj" fmla="val 227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81050" y="319087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对今天的咨询公司意味着什么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39624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这条路证明了：贴近客户与沉淀平台不矛盾，但需要一个明确的抽象动作。多数咨询公司卡住的地方不是不愿意贴现场，是没做过抽象这一步。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781050" y="4467225"/>
            <a:ext cx="39624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95350" y="4467225"/>
            <a:ext cx="37338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这也是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与传统顾问最本质的分水岭：顾问交付完就走了，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必须把经验带走。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5067300" y="3190875"/>
            <a:ext cx="6553200" cy="933450"/>
          </a:xfrm>
          <a:prstGeom prst="roundRect">
            <a:avLst>
              <a:gd name="adj" fmla="val 40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5067300" y="3190875"/>
            <a:ext cx="6553200" cy="933450"/>
          </a:xfrm>
          <a:custGeom>
            <a:pathLst>
              <a:path w="688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219700" y="319087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可以直接借用的三件事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219700" y="3419475"/>
            <a:ext cx="323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借一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648325" y="3390900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把「交付即上线」写进合同和考核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219700" y="3676650"/>
            <a:ext cx="323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借二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648325" y="3648075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设一个抽象回流的硬性交付物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219700" y="3924300"/>
            <a:ext cx="323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借三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648325" y="3895725"/>
            <a:ext cx="5781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按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Echo / Delta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配对组队，不按专业分组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029200" y="4219575"/>
            <a:ext cx="65532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172075" y="446722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别照抄的部分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143625" y="4448175"/>
            <a:ext cx="52959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保密资质与二十年行业积累无法复制，可复制的是交付结构与方法。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4991100"/>
            <a:ext cx="20383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52475" y="51339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下一部分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52475" y="5305425"/>
            <a:ext cx="1752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现场三动作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2762250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2762250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2886075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Enter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2886075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进场第一天做什么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5000625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5000625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124450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Investigate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124450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30–40%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时间挖真相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229475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7229475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353300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Execute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353300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交付即上线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9467850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9467850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591675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硬顺序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9591675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先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再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16 / 60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532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2&lt;/Text&gt;&#13;&#10;  &lt;/Box&gt;&#13;&#10;&#13;&#10;  &lt;Box style={{ position: 'absolute', left: 88, top: 240, width: 700, flexDirection: 'column' }}&gt;&#13;&#10;    &lt;Text style={{ fontSize: 15, color: 'rgba(255,255,255,0.5)', letterSpacing: 3 }}&gt;PART 02&lt;/Text&gt;&#13;&#10;    &lt;Box style={{ width: 72, height: 5, background: '#FA4F24', marginTop: 22 }} /&gt;&#13;&#10;    &lt;Text style={{ fontSize: 56, fontWeight: 'bold', color: '#FFFFFF', marginTop: 28, lineHeight: 1.15 }}&gt;现场三动作&lt;/Text&gt;&#13;&#10;    &lt;Text style={{ fontSize: 17, color: 'rgba(255,255,255,0.62)', letterSpacing: 2, marginTop: 20 }}&gt;ENTER · INVESTIGATE · EXECUTE&lt;/Text&gt;&#13;&#10;    &lt;Text style={{ fontSize: 19, color: 'rgba(255,255,255,0.85)', marginTop: 26, lineHeight: 1.6 }}&gt;进场、挖真相、跑生产——以及 AIP 时代那条不可颠倒的硬顺序&lt;/Text&gt;&#13;&#10;  &lt;/Box&gt;&#13;&#10;&#13;&#10;  &lt;Box style={{ position: 'absolute', left: 88, top: 520, flexDirection: 'row', gap: 34 }}&gt;&#13;&#10;    {[&#13;&#10;      { k: 'Enter', v: '进场摸底' },&#13;&#10;      { k: 'Investigate', v: '30–40% 时间挖真相' },&#13;&#10;      { k: 'Execute', v: '交付即上线' },&#13;&#10;      { k: '先 Ontology', v: '再建 AI 应用' }&#13;&#10;    ].map((x, i) =&gt; (&#13;&#10;      &lt;Box key={x.k} style={{ opacity: 0.72 }}&gt;&#13;&#10;        &lt;Text style={{ fontSize: 12.5, color: '#FBA15C', fontWeight: 'bold' }}&gt;{x.k}&lt;/Text&gt;&#13;&#10;        &lt;Text style={{ fontSize: 12, color: 'rgba(255,255,255,0.8)', marginTop: 4 }}&gt;{x.v}&lt;/Text&gt;&#13;&#10;      &lt;/Box&gt;&#13;&#10;    ))}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FDE咨询方法论&lt;/Text&gt;&#13;&#10;    &lt;Text style={{ fontSize: 14, color: 'rgba(255,255,255,0.5)', marginLeft: 12 }}&gt;17 / 6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666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现场三动作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ENTER · INVESTIGATE · EXECUTE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进场、挖真相、跑生产——以及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AIP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时代那条不可颠倒的硬顺序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Enter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进场摸底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619250" y="49530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Investigate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619250" y="5133975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 xml:space="preserve">30–40% 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时间挖真相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2981325" y="49530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Execute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2981325" y="51339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交付即上线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3876675" y="4953000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先</a:t>
            </a: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 Ontology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876675" y="51339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再建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88582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105900" y="608647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17 / 60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553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三个行动：&lt;span style={{ color: '#FA4F24' }}&gt;Enter → Investigate → Execute&lt;/span&gt;&#10;        &lt;/Text&gt;&#10;        &lt;Text style={{ fontSize: 20, color: '#8A8F99', marginTop: 8 }}&gt;&#10;            顺序不可颠倒。跳过 Investigate 直接 Execute，是 FDE 最常见也最致命的失误&#10;        &lt;/Text&gt;&#10;    &lt;/Box&gt;&#10;    &lt;Box style={{ height: 1, background: '#E8E8E8' }} /&gt;&#10;&#10;    &lt;Box style={{ paddingTop: 20, paddingBottom: 14, height: 479, flexDirection: 'column', gap: 13 }}&gt;&#10;&#10;        {/* 三步 */}&#10;        &lt;Box style={{ flex: 1, flexDirection: 'row', gap: 11 }}&gt;&#10;            {[&#10;                {&#10;                    k: 'Enter', n: '01', c: '#FA4F24', cn: '进场',&#10;                    d: '把人和环境一起进场。组建配对小队、拿到现场准入、把客户的数据环境摸一遍底。',&#10;                    out: '产出：现场问题清单 · 数据环境画像',&#10;                    trap: '最常见的偷懒：不带 Echo 去，只派一个工程师',&#10;                },&#10;                {&#10;                    k: 'Investigate', n: '02', c: '#E0641E', cn: '挖真相',&#10;                    d: '把决策链还原出来，把痛点量化。30–40% 的时间花在这，每周 5–15 场对话是硬指标。',&#10;                    out: '产出：决策链路图 · 痛点优先级矩阵',&#10;                    trap: '最常见的偷懒：只听业务负责人一个人的',&#10;                },&#10;                {&#10;                    k: 'Execute', n: '03', c: '#C43A17', cn: '跑生产',&#10;                    d: '在客户真实环境里跑起来，不是演示、不是沙盒。同时把经验抽象回流到平台。',&#10;                    out: '产出：可运行的生产环境 · 平台抽象提案',&#10;                    trap: '最常见的偷懒：演示跑通了就算上线',&#10;                },&#10;            ].map((x) =&gt; (&#10;                &lt;Box key={x.k} style={{ flex: 1, background: '#F7F7F8', borderRadius: 4, padding: '0 16px', flexDirection: 'column', justifyContent: 'center' }}&gt;&#10;                    &lt;Box style={{ flexDirection: 'row', alignItems: 'baseline', gap: 9 }}&gt;&#10;                        &lt;Text style={{ fontSize: 20, fontWeight: 'bold', color: x.c }}&gt;{x.k}&lt;/Text&gt;&#10;                        &lt;Text style={{ fontSize: 13, color: '#0F1423', flex: 1 }}&gt;{x.cn}&lt;/Text&gt;&#10;                        &lt;Text style={{ fontSize: 12, color: '#8A8F99' }}&gt;{x.n}&lt;/Text&gt;&#10;                    &lt;/Box&gt;&#10;                    &lt;Text style={{ fontSize: 12, color: '#3A4050', lineHeight: 1.5, marginTop: 10, flex: 1 }}&gt;{x.d}&lt;/Text&gt;&#10;                    &lt;Box style={{ background: '#0F1423', borderRadius: 3, padding: '0 11px', marginTop: 10 }}&gt;&#10;                        &lt;Text style={{ fontSize: 11.5, color: 'rgba(255,255,255,0.88)', lineHeight: 1.4 }}&gt;{x.out}&lt;/Text&gt;&#10;                    &lt;/Box&gt;&#10;                    &lt;Box style={{ background: '#FFF3EE', borderRadius: 3, padding: '0 11px', marginTop: 8 }}&gt;&#10;                        &lt;Text style={{ fontSize: 11.5, fontWeight: 'bold', color: '#C43A17', lineHeight: 1.35 }}&gt;{x.trap}&lt;/Text&gt;&#10;                    &lt;/Box&gt;&#10;                &lt;/Box&gt;&#10;            ))}&#10;        &lt;/Box&gt;&#10;&#10;        {/* 中：为什么顺序不可颠倒 */}&#10;        &lt;Box style={{ height: 182, flexDirection: 'row', gap: 12 }}&gt;&#10;            &lt;Box style={{ width: 452, background: '#0F1423', borderRadius: 4, padding: '0 18px', flexDirection: 'column', justifyContent: 'center' }}&gt;&#10;                &lt;Text style={{ fontSize: 12, color: '#FBA15C', letterSpacing: 2 }}&gt;为什么不能跳过 Investigate&lt;/Text&gt;&#10;                &lt;Text style={{ fontSize: 12.5, color: 'rgba(255,255,255,0.85)', lineHeight: 1.5, marginTop: 9, flex: 1 }}&gt;&#10;                    本体的粒度只能在真实数据上试出来。你没法在会议室里决定「设备」这个对象该怎么切分——只有连着 SCADA 的实时数据看，才知道「设备」和「测点」到底是不是一回事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跳过它做出来的东西，技术上跑得通，业务上没人用——这是 Delta 最典型的失败形态。&#10;                    &lt;/Text&gt;&#10;                &lt;/Box&gt;&#10;            &lt;/Box&gt;&#10;&#10;            &lt;Box style={{ flex: 1, flexDirection: 'column', gap: 10 }}&gt;&#10;                &lt;Box style={{ flex: 1, background: '#FFF3EE', borderRadius: 4, borderLeft: '4px solid #FA4F24', padding: '0 16px', flexDirection: 'column' }}&gt;&#10;                    &lt;Text style={{ fontSize: 14.5, fontWeight: 'bold', color: '#C43A17' }}&gt;进入 Execute 前的四个前置条件&lt;/Text&gt;&#10;                    {[&#10;                        { k: '决策链', v: '至少还原出 1 条完整的决策链路' },&#10;                        { k: '对象', v: '核心对象类型与主键策略已经定下来' },&#10;                        { k: '密级', v: '要进系统的数据，密级与权限已标' },&#10;                        { k: '验收', v: '客户业务负责人已经签字确认口径' },&#10;                    ].map((x) =&gt; (&#10;                        &lt;Box key={x.k} style={{ flex: 1, flexDirection: 'row', gap: 11, alignItems: 'center' }}&gt;&#10;                            &lt;Text style={{ fontSize: 12, fontWeight: 'bold', color: '#FA4F24', width: 46 }}&gt;{x.k}&lt;/Text&gt;&#10;                            &lt;Text style={{ fontSize: 12.5, color: '#3A4050', lineHeight: 1.4, flex: 1 }}&gt;{x.v}&lt;/Text&gt;&#10;                        &lt;/Box&gt;&#10;                    ))}&#10;                &lt;/Box&gt;&#10;                &lt;Box style={{ height: 68, background: '#F7F7F8', borderRadius: 4, padding: '0 15px', flexDirection: 'row', alignItems: 'center', gap: 12 }}&gt;&#10;                    &lt;Text style={{ fontSize: 13, fontWeight: 'bold', color: '#0F1423', width: 90 }}&gt;时间分配&lt;/Text&gt;&#10;                    &lt;Text style={{ fontSize: 11.5, color: '#3A4050', lineHeight: 1.4, flex: 1 }}&gt;&#10;                        30–40% 挖真相，剩下才是建。这条比例是官方口径。&#10;                    &lt;/Text&gt;&#10;                &lt;/Box&gt;&#10;            &lt;/Box&gt;&#10;        &lt;/Box&gt;&#10;&#10;        {/* 下：节奏 */}&#10;        &lt;Box style={{ height: 62, flexDirection: 'row', gap: 12, alignItems: 'stretch' }}&gt;&#10;            &lt;Box style={{ width: 214, background: '#F7F7F8', borderRadius: 4, padding: '0 15px', flexDirection: 'column', justifyContent: 'center' }}&gt;&#10;                &lt;Text style={{ fontSize: 11, color: '#8A8F99' }}&gt;节奏参照&lt;/Text&gt;&#10;                &lt;Text style={{ fontSize: 12.5, fontWeight: 'bold', color: '#0F1423', marginTop: 4 }}&gt;嵌入 8–16 周&lt;/Text&gt;&#10;            &lt;/Box&gt;&#10;            {[&#10;                { k: 'D1', v: '配对组建与准入' },&#10;                { k: 'W1–W2', v: '摸底与初步对话' },&#10;                { k: 'W3–W6', v: '决策链与建模' },&#10;                { k: 'W7+', v: '跑生产与回流' },&#10;            ].map((x) =&gt; (&#10;                &lt;Box key={x.k} style={{ flex: 1, background: '#F7F7F8', borderRadius: 4, padding: '0 13px', flexDirection: 'column', justifyContent: 'center', borderTop: '3px solid #FBA15C' }}&gt;&#10;                    &lt;Text style={{ fontSize: 13.5, fontWeight: 'bold', color: '#C43A17' }}&gt;{x.k}&lt;/Text&gt;&#10;                    &lt;Text style={{ fontSize: 11, color: '#3A4050', marginTop: 3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18 / 6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三个行动：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Enter → Investigate → Execute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顺序不可颠倒。跳过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Investigate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直接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Execute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最常见也最致命的失误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609600" y="1343025"/>
            <a:ext cx="3590925" cy="1666875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62000" y="1343025"/>
            <a:ext cx="504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Enter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352550" y="1343025"/>
            <a:ext cx="2466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进场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905250" y="134302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62000" y="1666875"/>
            <a:ext cx="32861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把人和环境一起进场。组建配对小队、拿到现场准入、把客户的数据环境摸一遍底。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762000" y="2562225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66775" y="256222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产出：现场问题清单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数据环境画像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762000" y="2828925"/>
            <a:ext cx="3286125" cy="180975"/>
          </a:xfrm>
          <a:prstGeom prst="roundRect">
            <a:avLst>
              <a:gd name="adj" fmla="val 1578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66775" y="2828925"/>
            <a:ext cx="30765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最常见的偷懒：不带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去，只派一个工程师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305300" y="1343025"/>
            <a:ext cx="3581400" cy="1666875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457700" y="1343025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41E"/>
                </a:solidFill>
                <a:latin typeface="Microsoft YaHei"/>
                <a:ea typeface="Microsoft YaHei"/>
              </a:rPr>
              <a:t>Investigate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5610225" y="1343025"/>
            <a:ext cx="1895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挖真相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591425" y="134302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4457700" y="1666875"/>
            <a:ext cx="32766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把决策链还原出来，把痛点量化。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30–40%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的时间花在这，每周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5–15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场对话是硬指标。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4457700" y="2562225"/>
            <a:ext cx="327660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4562475" y="2562225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产出：决策链路图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痛点优先级矩阵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4457700" y="2828925"/>
            <a:ext cx="3276600" cy="180975"/>
          </a:xfrm>
          <a:prstGeom prst="roundRect">
            <a:avLst>
              <a:gd name="adj" fmla="val 1578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562475" y="2828925"/>
            <a:ext cx="30670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最常见的偷懒：只听业务负责人一个人的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7991475" y="1343025"/>
            <a:ext cx="3590925" cy="1666875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143875" y="1343025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3A17"/>
                </a:solidFill>
                <a:latin typeface="Microsoft YaHei"/>
                <a:ea typeface="Microsoft YaHei"/>
              </a:rPr>
              <a:t>Execute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972550" y="1343025"/>
            <a:ext cx="222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跑生产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287125" y="134302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143875" y="1666875"/>
            <a:ext cx="32861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在客户真实环境里跑起来，不是演示、不是沙盒。同时把经验抽象回流到平台。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8143875" y="2562225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248650" y="256222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产出：可运行的生产环境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平台抽象提案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8143875" y="2828925"/>
            <a:ext cx="3286125" cy="180975"/>
          </a:xfrm>
          <a:prstGeom prst="roundRect">
            <a:avLst>
              <a:gd name="adj" fmla="val 1578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248650" y="2828925"/>
            <a:ext cx="30765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最常见的偷懒：演示跑通了就算上线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09600" y="3133725"/>
            <a:ext cx="4305300" cy="1733550"/>
          </a:xfrm>
          <a:prstGeom prst="roundRect">
            <a:avLst>
              <a:gd name="adj" fmla="val 219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81050" y="31337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为什么不能跳过</a:t>
            </a: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 Investigate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39624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本体的粒度只能在真实数据上试出来。你没法在会议室里决定「设备」这个对象该怎么切分——只有连着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SCADA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的实时数据看，才知道「设备」和「测点」到底是不是一回事。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781050" y="4467225"/>
            <a:ext cx="39624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95350" y="4467225"/>
            <a:ext cx="37338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跳过它做出来的东西，技术上跑得通，业务上没人用——这是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最典型的失败形态。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5067300" y="3133725"/>
            <a:ext cx="6553200" cy="990600"/>
          </a:xfrm>
          <a:prstGeom prst="roundRect">
            <a:avLst>
              <a:gd name="adj" fmla="val 384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5067300" y="3133725"/>
            <a:ext cx="6553200" cy="990600"/>
          </a:xfrm>
          <a:custGeom>
            <a:pathLst>
              <a:path w="688" h="104">
                <a:moveTo>
                  <a:pt x="4" y="104"/>
                </a:moveTo>
                <a:cubicBezTo>
                  <a:pt x="2" y="104"/>
                  <a:pt x="0" y="102"/>
                  <a:pt x="0" y="10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5219700" y="313372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进入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Execute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前的四个前置条件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5219700" y="3343275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决策链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762625" y="3314700"/>
            <a:ext cx="5667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至少还原出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条完整的决策链路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219700" y="3543300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5762625" y="3514725"/>
            <a:ext cx="5667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核心对象类型与主键策略已经定下来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5219700" y="3752850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密级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62625" y="3724275"/>
            <a:ext cx="5667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要进系统的数据，密级与权限已标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5219700" y="3952875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5762625" y="3924300"/>
            <a:ext cx="56673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客户业务负责人已经签字确认口径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5029200" y="4219575"/>
            <a:ext cx="65532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5172075" y="446722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时间分配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6143625" y="4448175"/>
            <a:ext cx="52959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30–40%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挖真相，剩下才是建。这条比例是官方口径。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4991100"/>
            <a:ext cx="20383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52475" y="51339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节奏参照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52475" y="5305425"/>
            <a:ext cx="1752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嵌入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8–16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2762250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8" name=""/>
          <p:cNvSpPr/>
          <p:nvPr/>
        </p:nvSpPr>
        <p:spPr>
          <a:xfrm rot="0" flipH="0" flipV="0">
            <a:off x="2762250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2886075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2886075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配对组建与准入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5000625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5000625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124450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W1–W2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124450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摸底与初步对话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7229475" y="5019675"/>
            <a:ext cx="2124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7229475" y="5019675"/>
            <a:ext cx="2124075" cy="590550"/>
          </a:xfrm>
          <a:custGeom>
            <a:pathLst>
              <a:path w="223" h="6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353300" y="5143500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W3–W6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353300" y="5334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决策链与建模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9467850" y="5019675"/>
            <a:ext cx="2114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9467850" y="5019675"/>
            <a:ext cx="2114550" cy="590550"/>
          </a:xfrm>
          <a:custGeom>
            <a:pathLst>
              <a:path w="222" h="6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9591675" y="51435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W7+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9591675" y="5334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跑生产与回流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18 / 60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62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Enter：&lt;span style={{ color: '#FA4F24' }}&gt;进场第一天做什么&lt;/span&gt;&#10;        &lt;/Text&gt;&#10;        &lt;Text style={{ fontSize: 20, color: '#8A8F99', marginTop: 8 }}&gt;&#10;            第一天不写一行代码。第一天只干三件事：拿到人、拿到权限、拿到真数据&#10;        &lt;/Text&gt;&#10;    &lt;/Box&gt;&#10;    &lt;Box style={{ height: 1, background: '#E8E8E8' }} /&gt;&#10;&#10;    &lt;Box style={{ paddingTop: 20, paddingBottom: 14, height: 479, flexDirection: 'column', gap: 13 }}&gt;&#10;&#10;        {/* 上：当天时间轴 */}&#10;        &lt;Box style={{ flex: 1, flexDirection: 'row', gap: 10 }}&gt;&#10;            {[&#10;                { t: '09:00', k: '见人', d: '见业务负责人，不见 IT。见的是签字的那个人，不是对接的那个人。', c: '#FA4F24' },&#10;                { t: '11:00', k: '要权限', d: '要生产环境只读权限、要测试账号、要日志查看权。拿不到就当场升级。', c: '#E0641E' },&#10;                { t: '14:00', k: '看真数据', d: '连上真实数据源，看真实脏数据。看样本、看空值、看重复，不看数据字典。', c: '#C43A17' },&#10;                { t: '16:00', k: '定人', d: '当场定一位客户侧陪同人。没有陪同人的项目一律不启动。', c: '#A83310' },&#10;                { t: '18:00', k: '写现像', d: '当天写出现像报告。只写事实与卡点，不写方案。', c: '#8A2A0D' },&#10;            ].map((x) =&gt; (&#10;                &lt;Box key={x.t} style={{ flex: 1, background: '#F7F7F8', borderRadius: 4, padding: '0 14px', flexDirection: 'column', justifyContent: 'center', borderTop: `3px solid ${x.c}` }}&gt;&#10;                    &lt;Text style={{ fontSize: 15, fontWeight: 'bold', color: x.c }}&gt;{x.t}&lt;/Text&gt;&#10;                    &lt;Text style={{ fontSize: 14.5, fontWeight: 'bold', color: '#0F1423', marginTop: 6 }}&gt;{x.k}&lt;/Text&gt;&#10;                    &lt;Text style={{ fontSize: 11.5, color: '#3A4050', lineHeight: 1.45, marginTop: 8, flex: 1 }}&gt;{x.d}&lt;/Text&gt;&#10;                &lt;/Box&gt;&#10;            ))}&#10;        &lt;/Box&gt;&#10;&#10;        {/* 中：当天必须完成 / 当天绝对不做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当天必须完成的三件事&lt;/Text&gt;&#10;                {[&#10;                    { k: '配对到位', v: 'Delta 与 Echo 一对一配对，同时进场。不允许先派工程师、后补策略。' },&#10;                    { k: '准入打通', v: '生产环境准入、客户侧陪同人、保密边界，三件签完才叫进场。' },&#10;                    { k: '现像成文', v: '把听到的原话和看到的脏数据写成现像报告，不做加工、不加判断。' },&#10;                ].map((x) =&gt; (&#10;                    &lt;Box key={x.k} style={{ flexDirection: 'row', gap: 12, marginTop: 11, alignItems: 'flex-start' }}&gt;&#10;                        &lt;Text style={{ fontSize: 12, fontWeight: 'bold', color: '#FBA15C', width: 66 }}&gt;{x.k}&lt;/Text&gt;&#10;                        &lt;Text style={{ fontSize: 12.5, color: 'rgba(255,255,255,0.85)', lineHeight: 1.45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第一天绝对不做的四件事&lt;/Text&gt;&#10;                {[&#10;                    '不演示产品，不讲平台架构，不比较竞品',&#10;                    '不承诺交付时间，不承诺指标提升幅度',&#10;                    '不要求客户先整理数据、先补字段、先做治理',&#10;                    '不写代码，不建模型，不碰生产写操作',&#10;                ].map((x) =&gt; (&#10;                    &lt;Box key={x} style={{ flexDirection: 'row', gap: 10, marginTop: 9, alignItems: 'flex-start' }}&gt;&#10;                        &lt;Box style={{ width: 6, height: 6, borderRadius: 3, background: '#FA4F24', marginTop: 6 }} /&gt;&#10;                        &lt;Text style={{ fontSize: 12.5, color: '#3A4050', lineHeight: 1.4, flex: 1 }}&gt;{x}&lt;/Text&gt;&#10;                    &lt;/Box&gt;&#10;                ))}&#10;            &lt;/Box&gt;&#10;        &lt;/Box&gt;&#10;&#10;        {/* 下：准入清单 */}&#10;        &lt;Box style={{ flexDirection: 'row', gap: 12, alignItems: 'stretch' }}&gt;&#10;            &lt;Box style={{ width: 208, background: '#0F1423', borderRadius: 4, padding: '0 15px', flexDirection: 'column', justifyContent: 'center' }}&gt;&#10;                &lt;Text style={{ fontSize: 11, color: 'rgba(255,255,255,0.6)' }}&gt;进场准入四件套&lt;/Text&gt;&#10;                &lt;Text style={{ fontSize: 13, fontWeight: 'bold', color: '#FBA15C', marginTop: 6, lineHeight: 1.4 }}&gt;拿不到任何一件，项目不启动&lt;/Text&gt;&#10;            &lt;/Box&gt;&#10;            {[&#10;                { k: '人', v: '客户侧陪同人' },&#10;                { k: '权', v: '生产只读权限' },&#10;                { k: '境', v: '可用的测试环境' },&#10;                { k: '密', v: '明确的保密边界' },&#10;            ].map((x) =&gt; (&#10;                &lt;Box key={x.k} style={{ flex: 1, background: '#F7F7F8', borderRadius: 4, padding: '0 14px', flexDirection: 'row', alignItems: 'center', gap: 11 }}&gt;&#10;                    &lt;Box style={{ width: 30, height: 30, borderRadius: 15, background: '#FA4F24', alignItems: 'center', justifyContent: 'center' }}&gt;&#10;                        &lt;Text style={{ fontSize: 14, fontWeight: 'bold', color: '#FFFFFF' }}&gt;{x.k}&lt;/Text&gt;&#10;                    &lt;/Box&gt;&#10;                    &lt;Text style={{ fontSize: 12.5, color: '#0F1423', fontWeight: 'bold', flex: 1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19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Enter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进场第一天做什么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第一天不写一行代码。第一天只干三件事：拿到人、拿到权限、拿到真数据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609600" y="1371600"/>
            <a:ext cx="2114550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609600" y="1371600"/>
            <a:ext cx="2114550" cy="1819275"/>
          </a:xfrm>
          <a:custGeom>
            <a:pathLst>
              <a:path w="222" h="191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42950" y="13716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42950" y="16002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见人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742950" y="1847850"/>
            <a:ext cx="1847850" cy="131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见业务负责人，不见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。见的是签字的那个人，不是对接的那个人。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2819400" y="1371600"/>
            <a:ext cx="2124075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2819400" y="1371600"/>
            <a:ext cx="2124075" cy="1819275"/>
          </a:xfrm>
          <a:custGeom>
            <a:pathLst>
              <a:path w="223" h="191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2952750" y="13716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0641E"/>
                </a:solidFill>
                <a:latin typeface="Microsoft YaHei"/>
                <a:ea typeface="Microsoft YaHei"/>
              </a:rPr>
              <a:t>11:00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2952750" y="16002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要权限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2952750" y="1847850"/>
            <a:ext cx="1857375" cy="131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要生产环境只读权限、要测试账号、要日志查看权。拿不到就当场升级。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5038725" y="1371600"/>
            <a:ext cx="2114550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3" name=""/>
          <p:cNvSpPr/>
          <p:nvPr/>
        </p:nvSpPr>
        <p:spPr>
          <a:xfrm rot="0" flipH="0" flipV="0">
            <a:off x="5038725" y="1371600"/>
            <a:ext cx="2114550" cy="1819275"/>
          </a:xfrm>
          <a:custGeom>
            <a:pathLst>
              <a:path w="222" h="191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172075" y="13716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>14:00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172075" y="16002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看真数据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5172075" y="1847850"/>
            <a:ext cx="1847850" cy="131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连上真实数据源，看真实脏数据。看样本、看空值、看重复，不看数据字典。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7248525" y="1371600"/>
            <a:ext cx="2124075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7248525" y="1371600"/>
            <a:ext cx="2124075" cy="1819275"/>
          </a:xfrm>
          <a:custGeom>
            <a:pathLst>
              <a:path w="223" h="191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381875" y="13716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83310"/>
                </a:solidFill>
                <a:latin typeface="Microsoft YaHei"/>
                <a:ea typeface="Microsoft YaHei"/>
              </a:rPr>
              <a:t>16:00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7381875" y="16002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定人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381875" y="1847850"/>
            <a:ext cx="1857375" cy="131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当场定一位客户侧陪同人。没有陪同人的项目一律不启动。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9467850" y="1371600"/>
            <a:ext cx="2114550" cy="1819275"/>
          </a:xfrm>
          <a:prstGeom prst="roundRect">
            <a:avLst>
              <a:gd name="adj" fmla="val 20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9467850" y="1371600"/>
            <a:ext cx="2114550" cy="1819275"/>
          </a:xfrm>
          <a:custGeom>
            <a:pathLst>
              <a:path w="222" h="191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8A2A0D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9601200" y="13716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2A0D"/>
                </a:solidFill>
                <a:latin typeface="Microsoft YaHei"/>
                <a:ea typeface="Microsoft YaHei"/>
              </a:rPr>
              <a:t>18:00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9601200" y="1600200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写现像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601200" y="1847850"/>
            <a:ext cx="1847850" cy="131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当天写出现像报告。只写事实与卡点，不写方案。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328612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781050" y="34194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当天必须完成的三件事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配对到位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524000" y="3667125"/>
            <a:ext cx="3371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一对一配对，同时进场。不允许先派工程师、后补策略。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准入打通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524000" y="4191000"/>
            <a:ext cx="33718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生产环境准入、客户侧陪同人、保密边界，三件签完才叫进场。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81050" y="450532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现像成文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524000" y="4505325"/>
            <a:ext cx="33718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把听到的原话和看到的脏数据写成现像报告，不做加工、不加判断。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5219700" y="328612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66" name=""/>
          <p:cNvSpPr/>
          <p:nvPr/>
        </p:nvSpPr>
        <p:spPr>
          <a:xfrm rot="0" flipH="0" flipV="0">
            <a:off x="5219700" y="328612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5381625" y="35147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第一天绝对不做的四件事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381625" y="3829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534025" y="3771900"/>
            <a:ext cx="5886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不演示产品，不讲平台架构，不比较竞品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381625" y="41148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534025" y="4057650"/>
            <a:ext cx="5886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不承诺交付时间，不承诺指标提升幅度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5381625" y="4400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5534025" y="4343400"/>
            <a:ext cx="5886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不要求客户先整理数据、先补字段、先做治理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5381625" y="4686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5534025" y="4629150"/>
            <a:ext cx="5886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不写代码，不建模型，不碰生产写操作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09600" y="5181600"/>
            <a:ext cx="1981200" cy="400050"/>
          </a:xfrm>
          <a:prstGeom prst="roundRect">
            <a:avLst>
              <a:gd name="adj" fmla="val 95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52475" y="518160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进场准入四件套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52475" y="537210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拿不到任何一件，项目不启动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2705100" y="5181600"/>
            <a:ext cx="213360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2838450" y="5238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2914650" y="5305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3228975" y="53149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客户侧陪同人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4953000" y="5181600"/>
            <a:ext cx="213360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5086350" y="5238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5162550" y="5305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权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476875" y="53149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生产只读权限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7200900" y="5181600"/>
            <a:ext cx="213360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7334250" y="5238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410450" y="5305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境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724775" y="53149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可用的测试环境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9448800" y="5181600"/>
            <a:ext cx="213360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9582150" y="5238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9658350" y="53054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密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972675" y="53149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明确的保密边界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60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745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Investigate：&lt;span style={{ color: '#FA4F24' }}&gt;把 30–40% 的时间花在挖真相上&lt;/span&gt;&#10;        &lt;/Text&gt;&#10;        &lt;Text style={{ fontSize: 20, color: '#8A8F99', marginTop: 8 }}&gt;&#10;            这不是调研，这是找那个「值得派 Delta 去修」的问题。找错对象，后面全白干&#10;        &lt;/Text&gt;&#10;    &lt;/Box&gt;&#10;    &lt;Box style={{ height: 1, background: '#E8E8E8' }} /&gt;&#10;&#10;    &lt;Box style={{ paddingTop: 20, paddingBottom: 14, height: 479, flexDirection: 'column', gap: 13 }}&gt;&#10;&#10;        {/* 上：四个动作 */}&#10;        &lt;Box style={{ flex: 1, flexDirection: 'row', gap: 11 }}&gt;&#10;            {[&#10;                {&#10;                    k: '决策链', n: '01', c: '#FA4F24',&#10;                    d: '从报表往回追。谁看？看完了做什么决定？决定传给谁执行？追到签字那一层为止。',&#10;                    out: '产出：决策链路图',&#10;                    bad: '只听业务负责人的一面倒之词',&#10;                },&#10;                {&#10;                    k: '真流程', n: '02', c: '#E0641E',&#10;                    d: '跟着作业员走一遍完整流程。系统里的流程和纸上的流程都不是真流程。',&#10;                    out: '产出：现状流程图 · 断点清单',&#10;                    bad: '把制度文件当成流程真相',&#10;                },&#10;                {&#10;                    k: '量化', n: '03', c: '#C43A17',&#10;                    d: '把痛点变成数字。这个环节每月损失多少工时、出错代价多少、等待多少天。',&#10;                    out: '产出：痛点优先级矩阵',&#10;                    bad: '用形容词描述痛点',&#10;                },&#10;                {&#10;                    k: '定选', n: '04', c: '#A83310',&#10;                    d: '只选一个场景先做。第一个场景必须小到能在两周内上线，大到业务会天天用。',&#10;                    out: '产出：首个场景定义书',&#10;                    bad: '一次铺开五个场景全做',&#10;                },&#10;            ].map((x) =&gt; (&#10;                &lt;Box key={x.k} style={{ flex: 1, background: '#F7F7F8', borderRadius: 4, padding: '0 15px', flexDirection: 'column', justifyContent: 'center' }}&gt;&#10;                    &lt;Box style={{ flexDirection: 'row', alignItems: 'baseline', gap: 9 }}&gt;&#10;                        &lt;Text style={{ fontSize: 17, fontWeight: 'bold', color: x.c }}&gt;{x.k}&lt;/Text&gt;&#10;                        &lt;Text style={{ fontSize: 12, color: '#8A8F99', marginLeft: 'auto' }}&gt;{x.n}&lt;/Text&gt;&#10;                    &lt;/Box&gt;&#10;                    &lt;Text style={{ fontSize: 12, color: '#3A4050', lineHeight: 1.5, marginTop: 9, flex: 1 }}&gt;{x.d}&lt;/Text&gt;&#10;                    &lt;Box style={{ background: '#0F1423', borderRadius: 3, padding: '0 11px', marginTop: 9 }}&gt;&#10;                        &lt;Text style={{ fontSize: 11.5, color: 'rgba(255,255,255,0.88)', lineHeight: 1.4 }}&gt;{x.out}&lt;/Text&gt;&#10;                    &lt;/Box&gt;&#10;                    &lt;Box style={{ background: '#FFF3EE', borderRadius: 3, padding: '0 11px', marginTop: 7 }}&gt;&#10;                        &lt;Text style={{ fontSize: 11, fontWeight: 'bold', color: '#C43A17', lineHeight: 1.35 }}&gt;{x.bad}&lt;/Text&gt;&#10;                    &lt;/Box&gt;&#10;                &lt;/Box&gt;&#10;            ))}&#10;        &lt;/Box&gt;&#10;&#10;        {/* 中：时间硬指标 + 追问清单 */}&#10;        &lt;Box style={{ height: 178, flexDirection: 'row', gap: 12 }}&gt;&#10;            &lt;Box style={{ width: 424, background: '#0F1423', borderRadius: 4, padding: '0 18px', flexDirection: 'column', justifyContent: 'center' }}&gt;&#10;                &lt;Text style={{ fontSize: 12, color: '#FBA15C', letterSpacing: 2 }}&gt;时间分配的官方口径&lt;/Text&gt;&#10;                &lt;Box style={{ flexDirection: 'row', alignItems: 'baseline', gap: 12, marginTop: 10 }}&gt;&#10;                    &lt;Text style={{ fontSize: 34, fontWeight: 'bold', color: '#FA4F24' }}&gt;30–40%&lt;/Text&gt;&#10;                    &lt;Text style={{ fontSize: 12.5, color: 'rgba(255,255,255,0.82)', flex: 1, lineHeight: 1.45 }}&gt;&#10;                        的全部工时用于对话式客户发现。剩下 60–70% 才是建模与建设。&#10;                    &lt;/Text&gt;&#10;                &lt;/Box&gt;&#10;                &lt;Box style={{ flexDirection: 'row', gap: 12, marginTop: 14 }}&gt;&#10;                    {[&#10;                        { k: '每周', v: '5–15 场客户对话' },&#10;                        { k: '每次', v: '至少触及一位决策者' },&#10;                    ].map((x) =&gt; (&#10;                        &lt;Box key={x.k} style={{ flex: 1, background: 'rgba(250,79,36,0.2)', borderRadius: 3, padding: '0 12px' }}&gt;&#10;                            &lt;Text style={{ fontSize: 11, color: '#FBA15C' }}&gt;{x.k}&lt;/Text&gt;&#10;                            &lt;Text style={{ fontSize: 12.5, fontWeight: 'bold', color: '#FFFFFF', marginTop: 3 }}&gt;{x.v}&lt;/Text&gt;&#10;                        &lt;/Box&gt;&#10;                    ))}&#10;                &lt;/Box&gt;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每场对话必须问到的五句&lt;/Text&gt;&#10;                {[&#10;                    '这件事现在是谁在做？做多久了？',&#10;                    '上一次出问题是哪一次？怎么发现的？',&#10;                    '这个数字是怎么算出来的？口径谁定的？',&#10;                    '如果这个环节明天消失，谁会反对？',&#10;                    '你需要一个什么样的东西才愿意改流程？',&#10;                ].map((x) =&gt; (&#10;                    &lt;Text key={x} style={{ fontSize: 12.5, color: '#3A4050', lineHeight: 1.4, marginTop: 8 }}&gt;{x}&lt;/Text&gt;&#10;                ))}&#10;            &lt;/Box&gt;&#10;        &lt;/Box&gt;&#10;&#10;        {/* 下：常见误判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最贵的三个误判&lt;/Text&gt;&#10;                &lt;Text style={{ fontSize: 12.5, fontWeight: 'bold', color: '#0F1423', marginTop: 5, lineHeight: 1.4 }}&gt;踩中任意一个，Execute 必然失败&lt;/Text&gt;&#10;            &lt;/Box&gt;&#10;            {[&#10;                { k: '痛点是假象', v: '业务负责人说的痛点，动手做的同事不认' },&#10;                { k: '对象是错的', v: '粒度切错，后面全错' },&#10;                { k: '决策人没找到', v: '干完了没人敢签字' },&#10;            ].map((x) =&gt; (&#10;                &lt;Box key={x.k} style={{ flex: 1, background: '#F7F7F8', borderRadius: 4, padding: '0 14px', flexDirection: 'column', justifyContent: 'center' }}&gt;&#10;                    &lt;Text style={{ fontSize: 13, fontWeight: 'bold', color: '#C43A17' }}&gt;{x.k}&lt;/Text&gt;&#10;                    &lt;Text style={{ fontSize: 11.5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0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Investigate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30–40%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的时间花在挖真相上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这不是调研，这是找那个「值得派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去修」的问题。找错对象，后面全白干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50" name=""/>
          <p:cNvSpPr/>
          <p:nvPr/>
        </p:nvSpPr>
        <p:spPr>
          <a:xfrm rot="0" flipH="0" flipV="0">
            <a:off x="609600" y="1343025"/>
            <a:ext cx="2667000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52475" y="13430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决策链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2990850" y="134302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52475" y="1628775"/>
            <a:ext cx="23812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从报表往回追。谁看？看完了做什么决定？决定传给谁执行？追到签字那一层为止。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752475" y="262890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857250" y="262890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产出：决策链路图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752475" y="2886075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857250" y="288607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只听业务负责人的一面倒之词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3381375" y="1343025"/>
            <a:ext cx="2667000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3524250" y="13430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641E"/>
                </a:solidFill>
                <a:latin typeface="Microsoft YaHei"/>
                <a:ea typeface="Microsoft YaHei"/>
              </a:rPr>
              <a:t>真流程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762625" y="134302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524250" y="1628775"/>
            <a:ext cx="23812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跟着作业员走一遍完整流程。系统里的流程和纸上的流程都不是真流程。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3524250" y="262890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3629025" y="262890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产出：现状流程图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断点清单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3524250" y="2886075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3629025" y="288607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把制度文件当成流程真相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6153150" y="1343025"/>
            <a:ext cx="2657475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296025" y="13430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量化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8524875" y="134302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6296025" y="1628775"/>
            <a:ext cx="237172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把痛点变成数字。这个环节每月损失多少工时、出错代价多少、等待多少天。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6296025" y="2628900"/>
            <a:ext cx="23717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6400800" y="2628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产出：痛点优先级矩阵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6296025" y="2886075"/>
            <a:ext cx="2371725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400800" y="2886075"/>
            <a:ext cx="21621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用形容词描述痛点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8915400" y="1343025"/>
            <a:ext cx="2667000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9058275" y="13430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83310"/>
                </a:solidFill>
                <a:latin typeface="Microsoft YaHei"/>
                <a:ea typeface="Microsoft YaHei"/>
              </a:rPr>
              <a:t>定选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1296650" y="134302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9058275" y="1628775"/>
            <a:ext cx="23812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只选一个场景先做。第一个场景必须小到能在两周内上线，大到业务会天天用。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9058275" y="262890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9163050" y="262890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产出：首个场景定义书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9058275" y="2886075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163050" y="2886075"/>
            <a:ext cx="21717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一次铺开五个场景全做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09600" y="3181350"/>
            <a:ext cx="4038600" cy="1695450"/>
          </a:xfrm>
          <a:prstGeom prst="roundRect">
            <a:avLst>
              <a:gd name="adj" fmla="val 22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81050" y="3495675"/>
            <a:ext cx="3695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时间分配的官方口径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781050" y="3733800"/>
            <a:ext cx="1276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A4F24"/>
                </a:solidFill>
                <a:latin typeface="Microsoft YaHei"/>
                <a:ea typeface="Microsoft YaHei"/>
              </a:rPr>
              <a:t>30–40%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2171700" y="3733800"/>
            <a:ext cx="2305050" cy="3905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的全部工时用于对话式客户发现。剩下</a:t>
            </a:r>
            <a:r>
              <a:rPr lang="en-US" sz="93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60–70% </a:t>
            </a:r>
            <a:r>
              <a:rPr lang="zh-CN" sz="93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才是建模与建设。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781050" y="4257675"/>
            <a:ext cx="1790700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20000"/>
            </a:srgbClr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895350" y="4257675"/>
            <a:ext cx="1562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BA15C"/>
                </a:solidFill>
                <a:latin typeface="Microsoft YaHei"/>
                <a:ea typeface="Microsoft YaHei"/>
              </a:rPr>
              <a:t>每周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895350" y="441960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5–15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场客户对话</a:t>
            </a:r>
            <a:endParaRPr/>
          </a:p>
        </p:txBody>
      </p:sp>
      <p:sp>
        <p:nvSpPr>
          <p:cNvPr id="789" name=""/>
          <p:cNvSpPr/>
          <p:nvPr/>
        </p:nvSpPr>
        <p:spPr>
          <a:xfrm rot="0" flipH="0" flipV="0">
            <a:off x="2686050" y="4257675"/>
            <a:ext cx="1790700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20000"/>
            </a:srgbClr>
          </a:solidFill>
          <a:ln/>
        </p:spPr>
        <p:txBody>
          <a:bodyPr/>
          <a:p/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2800350" y="4257675"/>
            <a:ext cx="1562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BA15C"/>
                </a:solidFill>
                <a:latin typeface="Microsoft YaHei"/>
                <a:ea typeface="Microsoft YaHei"/>
              </a:rPr>
              <a:t>每次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2800350" y="441960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至少触及一位决策者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4800600" y="3181350"/>
            <a:ext cx="6819900" cy="1695450"/>
          </a:xfrm>
          <a:prstGeom prst="roundRect">
            <a:avLst>
              <a:gd name="adj" fmla="val 22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93" name=""/>
          <p:cNvSpPr/>
          <p:nvPr/>
        </p:nvSpPr>
        <p:spPr>
          <a:xfrm rot="0" flipH="0" flipV="0">
            <a:off x="4800600" y="3181350"/>
            <a:ext cx="6819900" cy="1695450"/>
          </a:xfrm>
          <a:custGeom>
            <a:pathLst>
              <a:path w="716" h="178">
                <a:moveTo>
                  <a:pt x="4" y="178"/>
                </a:moveTo>
                <a:cubicBezTo>
                  <a:pt x="2" y="178"/>
                  <a:pt x="0" y="176"/>
                  <a:pt x="0" y="1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4962525" y="3257550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每场对话必须问到的五句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4962525" y="3505200"/>
            <a:ext cx="6457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这件事现在是谁在做？做多久了？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4962525" y="3781425"/>
            <a:ext cx="6457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上一次出问题是哪一次？怎么发现的？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4962525" y="4057650"/>
            <a:ext cx="6457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这个数字是怎么算出来的？口径谁定的？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4962525" y="4333875"/>
            <a:ext cx="6457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如果这个环节明天消失，谁会反对？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4962525" y="4610100"/>
            <a:ext cx="6457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你需要一个什么样的东西才愿意改流程？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609600" y="5000625"/>
            <a:ext cx="19812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52475" y="50006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最贵的三个误判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752475" y="5181600"/>
            <a:ext cx="1695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踩中任意一个，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Execute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必然失败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2705100" y="5000625"/>
            <a:ext cx="2886075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2838450" y="5105400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痛点是假象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2838450" y="5305425"/>
            <a:ext cx="26193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业务负责人说的痛点，动手做的同事不认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5705475" y="5000625"/>
            <a:ext cx="287655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5838825" y="5105400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对象是错的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838825" y="5305425"/>
            <a:ext cx="26098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粒度切错，后面全错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696325" y="5000625"/>
            <a:ext cx="2886075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829675" y="5105400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决策人没找到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829675" y="5305425"/>
            <a:ext cx="26193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干完了没人敢签字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3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20 / 60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81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Execute：&lt;span style={{ color: '#FA4F24' }}&gt;交付即上线，上线即作战&lt;/span&gt;&#10;        &lt;/Text&gt;&#10;        &lt;Text style={{ fontSize: 20, color: '#8A8F99', marginTop: 8 }}&gt;&#10;            在客户生产环境里跑起来，不是演示、不是沙盒、不是 PoC。差别只在四个字：谁的数据&#10;        &lt;/Text&gt;&#10;    &lt;/Box&gt;&#10;    &lt;Box style={{ height: 1, background: '#E8E8E8' }} /&gt;&#10;&#10;    &lt;Box style={{ paddingTop: 20, paddingBottom: 14, height: 479, flexDirection: 'column', gap: 13 }}&gt;&#10;&#10;        {/* 上：四层递进 */}&#10;        &lt;Box style={{ flex: 1, flexDirection: 'row', gap: 10 }}&gt;&#10;            {[&#10;                { k: '沙盒演示', c: '#B8BCC4', d: '用样例数据，在自己环境', r: '最常见的假上线', dead: '客户业务从不使用' },&#10;                { k: 'PoC 验证', c: '#8A8F99', d: '用客户脱敏数据，在隔离环境', r: '技术上跑通', dead: '业务不认账、不接管' },&#10;                { k: '准生产', c: '#FBA15C', d: '用客户真实数据，在客户环境预发', r: '性能与权限已验证', dead: '差最后一步交接' },&#10;                { k: '生产上线', c: '#FA4F24', d: '用客户真实数据，接客户真实写路径', r: '业务天天在上面干活', dead: 'FDE 的交付终点' },&#10;            ].map((x, i) =&gt; (&#10;                &lt;Box key={x.k} style={{ flex: 1, background: i === 3 ? '#FFF3EE' : '#F7F7F8', borderRadius: 4, padding: '0 15px', flexDirection: 'column', justifyContent: 'center', borderTop: `3px solid ${x.c}` }}&gt;&#10;                    &lt;Text style={{ fontSize: 16, fontWeight: 'bold', color: i === 3 ? '#C43A17' : '#5A6070' }}&gt;{x.k}&lt;/Text&gt;&#10;                    &lt;Text style={{ fontSize: 12, color: '#3A4050', lineHeight: 1.45, marginTop: 9, flex: 1 }}&gt;{x.d}&lt;/Text&gt;&#10;                    &lt;Box style={{ background: '#FFFFFF', borderRadius: 3, padding: '0 11px', marginTop: 9 }}&gt;&#10;                        &lt;Text style={{ fontSize: 11.5, fontWeight: 'bold', color: '#0F1423', lineHeight: 1.4 }}&gt;{x.r}&lt;/Text&gt;&#10;                    &lt;/Box&gt;&#10;                    &lt;Text style={{ fontSize: 11, color: '#8A8F99', lineHeight: 1.35, marginTop: 7 }}&gt;{x.dead}&lt;/Text&gt;&#10;                &lt;/Box&gt;&#10;            ))}&#10;        &lt;/Box&gt;&#10;&#10;        {/* 中：Execute 阶段的四条纪律 */}&#10;        &lt;Box style={{ height: 182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Execute 阶段的四条纪律&lt;/Text&gt;&#10;                {[&#10;                    { k: '写生产码', v: '在客户环境写代码，不是回总部写完再部署' },&#10;                    { k: '每天现场', v: '有客户侧的人在旁边，一起看当天结果' },&#10;                    { k: '不建工单', v: '不给 FDE 设工单队列，事情不过夜' },&#10;                    { k: '背后果', v: '上线出问题，FDE 留在现场处理' },&#10;                ].map((x) =&gt; (&#10;                    &lt;Box key={x.k} style={{ flexDirection: 'row', gap: 12, marginTop: 11, alignItems: 'flex-start' }}&gt;&#10;                        &lt;Text style={{ fontSize: 12, fontWeight: 'bold', color: '#FBA15C', width: 6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7F7F8', borderRadius: 4, padding: '0 17px', flexDirection: 'column', justifyContent: 'center' }}&gt;&#10;                &lt;Text style={{ fontSize: 14.5, fontWeight: 'bold', color: '#0F1423' }}&gt;「上线」的三条判定，全部满足才算&lt;/Text&gt;&#10;                {[&#10;                    { k: '有人在用', v: '客户业务人员每天登录，且使用量可查' },&#10;                    { k: '写路径通了', v: '系统产生的结论会回到客户真实作业流程里' },&#10;                    { k: '出事有人管', v: '有值班、有告警、有客户侧的责任人' },&#10;                ].map((x) =&gt; (&#10;                    &lt;Box key={x.k} style={{ flexDirection: 'row', gap: 11, marginTop: 10, alignItems: 'center' }}&gt;&#10;                        &lt;Box style={{ width: 20, height: 20, borderRadius: 10, background: '#FA4F24', alignItems: 'center', justifyContent: 'center' }}&gt;&#10;                            &lt;Text style={{ fontSize: 11, fontWeight: 'bold', color: '#FFFFFF' }}&gt;✓&lt;/Text&gt;&#10;                        &lt;/Box&gt;&#10;                        &lt;Text style={{ fontSize: 12.5, fontWeight: 'bold', color: '#0F1423', width: 88 }}&gt;{x.k}&lt;/Text&gt;&#10;                        &lt;Text style={{ fontSize: 12, color: '#3A4050', lineHeight: 1.35, flex: 1 }}&gt;{x.v}&lt;/Text&gt;&#10;                    &lt;/Box&gt;&#10;                ))}&#10;            &lt;/Box&gt;&#10;        &lt;/Box&gt;&#10;&#10;        {/* 下：FDE 与传统交付的差别 */}&#10;        &lt;Box style={{ flexDirection: 'row', gap: 12, alignItems: 'stretch' }}&gt;&#10;            &lt;Box style={{ width: 208, background: '#0F1423', borderRadius: 4, padding: '0 15px', flexDirection: 'column', justifyContent: 'center' }}&gt;&#10;                &lt;Text style={{ fontSize: 11, color: 'rgba(255,255,255,0.6)' }}&gt;与传统交付的根本差别&lt;/Text&gt;&#10;                &lt;Text style={{ fontSize: 12.5, fontWeight: 'bold', color: '#FBA15C', marginTop: 6, lineHeight: 1.4 }}&gt;失败代价从「延期」变成「停摆」&lt;/Text&gt;&#10;            &lt;/Box&gt;&#10;            {[&#10;                { k: '延期', v: '顾问交付延期，被骂一顿，重签合同' },&#10;                { k: '做错需求', v: '产品交付做错需求，返工排期' },&#10;                { k: '停摆', v: 'FDE 交付出问题，客户业务当场停摆' },&#10;            ].map((x, i) =&gt; (&#10;                &lt;Box key={x.k} style={{ flex: 1, background: i === 2 ? '#FFF3EE' : '#F7F7F8', borderRadius: 4, padding: '0 14px', flexDirection: 'column', justifyContent: 'center', borderLeft: i === 2 ? '4px solid #FA4F24' : 'none' }}&gt;&#10;                    &lt;Text style={{ fontSize: 13.5, fontWeight: 'bold', color: i === 2 ? '#C43A17' : '#5A6070' }}&gt;{x.k}&lt;/Text&gt;&#10;                    &lt;Text style={{ fontSize: 11.5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1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Execute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交付即上线，上线即作战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在客户生产环境里跑起来，不是演示、不是沙盒、不是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PoC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。差别只在四个字：谁的数据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21" name=""/>
          <p:cNvSpPr/>
          <p:nvPr/>
        </p:nvSpPr>
        <p:spPr>
          <a:xfrm rot="0" flipH="0" flipV="0">
            <a:off x="609600" y="1371600"/>
            <a:ext cx="2676525" cy="1666875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609600" y="1371600"/>
            <a:ext cx="2676525" cy="1666875"/>
          </a:xfrm>
          <a:custGeom>
            <a:pathLst>
              <a:path w="281" h="175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cubicBezTo>
                  <a:pt x="281" y="3"/>
                  <a:pt x="280" y="3"/>
                  <a:pt x="28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B8BCC4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A6070"/>
                </a:solidFill>
                <a:latin typeface="Microsoft YaHei"/>
                <a:ea typeface="Microsoft YaHei"/>
              </a:rPr>
              <a:t>沙盒演示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52475" y="1647825"/>
            <a:ext cx="2390775" cy="847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用样例数据，在自己环境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752475" y="2581275"/>
            <a:ext cx="2390775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57250" y="2581275"/>
            <a:ext cx="21812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最常见的假上线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752475" y="2838450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客户业务从不使用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3381375" y="1371600"/>
            <a:ext cx="2667000" cy="1666875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9" name=""/>
          <p:cNvSpPr/>
          <p:nvPr/>
        </p:nvSpPr>
        <p:spPr>
          <a:xfrm rot="0" flipH="0" flipV="0">
            <a:off x="3381375" y="1371600"/>
            <a:ext cx="2667000" cy="1666875"/>
          </a:xfrm>
          <a:custGeom>
            <a:pathLst>
              <a:path w="280" h="17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A6070"/>
                </a:solidFill>
                <a:latin typeface="Microsoft YaHei"/>
                <a:ea typeface="Microsoft YaHei"/>
              </a:rPr>
              <a:t xml:space="preserve">PoC </a:t>
            </a:r>
            <a:r>
              <a:rPr lang="zh-CN" sz="1200" b="1">
                <a:solidFill>
                  <a:srgbClr val="5A6070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3524250" y="1647825"/>
            <a:ext cx="2381250" cy="847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用客户脱敏数据，在隔离环境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3524250" y="2581275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3629025" y="25812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技术上跑通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3524250" y="28384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业务不认账、不接管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6143625" y="1371600"/>
            <a:ext cx="2676525" cy="1666875"/>
          </a:xfrm>
          <a:prstGeom prst="roundRect">
            <a:avLst>
              <a:gd name="adj" fmla="val 228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36" name=""/>
          <p:cNvSpPr/>
          <p:nvPr/>
        </p:nvSpPr>
        <p:spPr>
          <a:xfrm rot="0" flipH="0" flipV="0">
            <a:off x="6143625" y="1371600"/>
            <a:ext cx="2676525" cy="1666875"/>
          </a:xfrm>
          <a:custGeom>
            <a:pathLst>
              <a:path w="281" h="175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cubicBezTo>
                  <a:pt x="281" y="3"/>
                  <a:pt x="280" y="3"/>
                  <a:pt x="28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6286500" y="1371600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A6070"/>
                </a:solidFill>
                <a:latin typeface="Microsoft YaHei"/>
                <a:ea typeface="Microsoft YaHei"/>
              </a:rPr>
              <a:t>准生产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6286500" y="1647825"/>
            <a:ext cx="2390775" cy="847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用客户真实数据，在客户环境预发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6286500" y="2581275"/>
            <a:ext cx="2390775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6391275" y="2581275"/>
            <a:ext cx="21812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性能与权限已验证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6286500" y="2838450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差最后一步交接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8915400" y="1371600"/>
            <a:ext cx="2667000" cy="1666875"/>
          </a:xfrm>
          <a:prstGeom prst="roundRect">
            <a:avLst>
              <a:gd name="adj" fmla="val 228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8915400" y="1371600"/>
            <a:ext cx="2667000" cy="1666875"/>
          </a:xfrm>
          <a:custGeom>
            <a:pathLst>
              <a:path w="280" h="17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生产上线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9058275" y="1647825"/>
            <a:ext cx="2381250" cy="847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用客户真实数据，接客户真实写路径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9058275" y="2581275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9163050" y="25812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业务天天在上面干活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9058275" y="283845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的交付终点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609600" y="3133725"/>
            <a:ext cx="4457700" cy="1733550"/>
          </a:xfrm>
          <a:prstGeom prst="roundRect">
            <a:avLst>
              <a:gd name="adj" fmla="val 219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781050" y="33242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Execute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阶段的四条纪律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781050" y="35718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写生产码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485900" y="35718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在客户环境写代码，不是回总部写完再部署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781050" y="38766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每天现场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1485900" y="38766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有客户侧的人在旁边，一起看当天结果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81050" y="41814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不建工单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1485900" y="4181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不给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设工单队列，事情不过夜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背后果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1485900" y="44862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上线出问题，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留在现场处理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5181600" y="3133725"/>
            <a:ext cx="6400800" cy="1733550"/>
          </a:xfrm>
          <a:prstGeom prst="roundRect">
            <a:avLst>
              <a:gd name="adj" fmla="val 219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5343525" y="3486150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「上线」的三条判定，全部满足才算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5343525" y="3752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5391150" y="3781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5638800" y="37814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有人在用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6581775" y="3752850"/>
            <a:ext cx="48387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客户业务人员每天登录，且使用量可查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5343525" y="4038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5391150" y="40671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5638800" y="40671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写路径通了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6581775" y="4038600"/>
            <a:ext cx="48387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系统产生的结论会回到客户真实作业流程里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5343525" y="43243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391150" y="43529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5638800" y="43529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出事有人管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581775" y="4324350"/>
            <a:ext cx="48387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有值班、有告警、有客户侧的责任人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609600" y="4991100"/>
            <a:ext cx="1981200" cy="590550"/>
          </a:xfrm>
          <a:prstGeom prst="roundRect">
            <a:avLst>
              <a:gd name="adj" fmla="val 64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752475" y="499110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与传统交付的根本差别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752475" y="5181600"/>
            <a:ext cx="1695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失败代价从「延期」变成「停摆」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2705100" y="4991100"/>
            <a:ext cx="28860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2838450" y="5095875"/>
            <a:ext cx="2619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5A6070"/>
                </a:solidFill>
                <a:latin typeface="Microsoft YaHei"/>
                <a:ea typeface="Microsoft YaHei"/>
              </a:rPr>
              <a:t>延期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2838450" y="5305425"/>
            <a:ext cx="26193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顾问交付延期，被骂一顿，重签合同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5705475" y="4991100"/>
            <a:ext cx="287655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5838825" y="509587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5A6070"/>
                </a:solidFill>
                <a:latin typeface="Microsoft YaHei"/>
                <a:ea typeface="Microsoft YaHei"/>
              </a:rPr>
              <a:t>做错需求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5838825" y="5305425"/>
            <a:ext cx="26098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产品交付做错需求，返工排期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8734425" y="4991100"/>
            <a:ext cx="2886075" cy="59055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83" name=""/>
          <p:cNvSpPr/>
          <p:nvPr/>
        </p:nvSpPr>
        <p:spPr>
          <a:xfrm rot="0" flipH="0" flipV="0">
            <a:off x="8734425" y="4991100"/>
            <a:ext cx="2886075" cy="590550"/>
          </a:xfrm>
          <a:custGeom>
            <a:pathLst>
              <a:path w="303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8867775" y="5095875"/>
            <a:ext cx="2581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停摆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8867775" y="5305425"/>
            <a:ext cx="2581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交付出问题，客户业务当场停摆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60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89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硬顺序：&lt;span style={{ color: '#FA4F24' }}&gt;先建本体，再上任何 AI 应用&lt;/span&gt;&#10;        &lt;/Text&gt;&#10;        &lt;Text style={{ fontSize: 20, color: '#8A8F99', marginTop: 8 }}&gt;&#10;            这是 AIP 时代唯一的强约束。顺序颠倒的项目，AI 应用一定建在流沙上&#10;        &lt;/Text&gt;&#10;    &lt;/Box&gt;&#10;    &lt;Box style={{ height: 1, background: '#E8E8E8' }} /&gt;&#10;&#10;    &lt;Box style={{ paddingTop: 20, paddingBottom: 14, height: 479, flexDirection: 'column', gap: 13 }}&gt;&#10;&#10;        {/* 上：正确 vs 错误 */}&#10;        &lt;Box style={{ flex: 1, flexDirection: 'row', gap: 13 }}&gt;&#10;            &lt;Box style={{ flex: 1, background: '#FFF3EE', borderRadius: 4, padding: '0 18px', flexDirection: 'column', justifyContent: 'center', borderLeft: '4px solid #FA4F24' }}&gt;&#10;                &lt;Text style={{ fontSize: 15, fontWeight: 'bold', color: '#C43A17' }}&gt;错误顺序：先做 AI 应用&lt;/Text&gt;&#10;                {[&#10;                    '接一个大模型，做一个问答机器人',&#10;                    '接上几张报表和几个系统',&#10;                    '上线后没人用——因为它不知道「设备」到底是什么',&#10;                    '于是加规则、加提示词、加知识条目',&#10;                    '半年后维护成本超过开发成本',&#10;                ].map((x, i) =&gt; (&#10;                    &lt;Box key={x} style={{ flexDirection: 'row', gap: 10, marginTop: 9, alignItems: 'flex-start' }}&gt;&#10;                        &lt;Text style={{ fontSize: 11, fontWeight: 'bold', color: '#C43A17', width: 16 }}&gt;{'✕'}&lt;/Text&gt;&#10;                        &lt;Text style={{ fontSize: 12.5, color: '#3A4050', lineHeight: 1.4, flex: 1 }}&gt;{x}&lt;/Text&gt;&#10;                    &lt;/Box&gt;&#10;                ))}&#10;            &lt;/Box&gt;&#10;&#10;            &lt;Box style={{ flex: 1, background: '#F7F7F8', borderRadius: 4, padding: '0 18px', flexDirection: 'column', justifyContent: 'center', borderLeft: '4px solid #0F1423' }}&gt;&#10;                &lt;Text style={{ fontSize: 15, fontWeight: 'bold', color: '#0F1423' }}&gt;正确顺序：先做本体&lt;/Text&gt;&#10;                {[&#10;                    '把对象、链接、动作、密级先在真实数据上建出来',&#10;                    '让对象和关系成为唯一事实来源',&#10;                    '在此之上接 AI 应用：Agent、知识库、问数',&#10;                    'AI 只做推理与表达，不承担定义职责',&#10;                    '新增场景只是本体的第 N 次实例化',&#10;                ].map((x) =&gt; (&#10;                    &lt;Box key={x} style={{ flexDirection: 'row', gap: 10, marginTop: 9, alignItems: 'flex-start' }}&gt;&#10;                        &lt;Text style={{ fontSize: 11, fontWeight: 'bold', color: '#FA4F24', width: 16 }}&gt;{'✓'}&lt;/Text&gt;&#10;                        &lt;Text style={{ fontSize: 12.5, color: '#3A4050', lineHeight: 1.4, flex: 1 }}&gt;{x}&lt;/Text&gt;&#10;                    &lt;/Box&gt;&#10;                ))}&#10;            &lt;/Box&gt;&#10;        &lt;/Box&gt;&#10;&#10;        {/* 中：为什么不能颠倒 */}&#10;        &lt;Box style={{ height: 190, flexDirection: 'row', gap: 12 }}&gt;&#10;            &lt;Box style={{ width: 456, background: '#0F1423', borderRadius: 4, padding: '0 18px', flexDirection: 'column', justifyContent: 'center' }}&gt;&#10;                &lt;Text style={{ fontSize: 12, color: '#FBA15C', letterSpacing: 2 }}&gt;为什么不能颠倒&lt;/Text&gt;&#10;                &lt;Text style={{ fontSize: 12.5, color: 'rgba(255,255,255,0.85)', lineHeight: 1.5, marginTop: 9, flex: 1 }}&gt;&#10;                    本体是「业务事实的落点」，AI 应用是「对事实的推理与表达」。推理建立在流沙上，误差无法归因——你分不清是模型不行，还是事实定义本身就有歧义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归因不了，就没法优化；没法优化，AI 应用就永远是「演示好看、上线失败」。&#10;                    &lt;/Text&gt;&#10;                &lt;/Box&gt;&#10;            &lt;/Box&gt;&#10;&#10;            &lt;Box style={{ flex: 1, flexDirection: 'column', gap: 10 }}&gt;&#10;                &lt;Box style={{ flex: 1, background: '#F7F7F8', borderRadius: 4, padding: '0 16px', flexDirection: 'column', justifyContent: 'center' }}&gt;&#10;                    &lt;Text style={{ fontSize: 14, fontWeight: 'bold', color: '#0F1423' }}&gt;本体的三个不可替代职责&lt;/Text&gt;&#10;                    {[&#10;                        { k: '命名', v: '一个对象只有一个名字，全公司通用' },&#10;                        { k: '基数', v: '「设备」和「测点」的关系一次定死' },&#10;                        { k: '密级', v: '哪条链接可被谁看见，本体层统一管' },&#10;                    ].map((x) =&gt; (&#10;                        &lt;Box key={x.k} style={{ flexDirection: 'row', gap: 11, marginTop: 8, alignItems: 'center' }}&gt;&#10;                            &lt;Text style={{ fontSize: 12, fontWeight: 'bold', color: '#FA4F24', width: 44 }}&gt;{x.k}&lt;/Text&gt;&#10;                            &lt;Text style={{ fontSize: 12.5, color: '#3A4050', lineHeight: 1.35, flex: 1 }}&gt;{x.v}&lt;/Text&gt;&#10;                        &lt;/Box&gt;&#10;                    ))}&#10;                &lt;/Box&gt;&#10;                &lt;Box style={{ height: 66, background: '#FFF3EE', borderRadius: 4, padding: '0 15px', flexDirection: 'row', alignItems: 'center', gap: 12 }}&gt;&#10;                    &lt;Text style={{ fontSize: 13, fontWeight: 'bold', color: '#C43A17', width: 92 }}&gt;FDE 的动作&lt;/Text&gt;&#10;                    &lt;Text style={{ fontSize: 11.5, color: '#3A4050', lineHeight: 1.4, flex: 1 }}&gt;&#10;                        现场第一周不做 AI 应用，只做对象与链接。客户会问「什么时候上机器人」，答案是「第二周」。&#10;                    &lt;/Text&gt;&#10;                &lt;/Box&gt;&#10;            &lt;/Box&gt;&#10;        &lt;/Box&gt;&#10;&#10;        {/* 下：四层与本体的关系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落点顺序&lt;/Text&gt;&#10;                &lt;Text style={{ fontSize: 12.5, fontWeight: 'bold', color: '#0F1423', marginTop: 5, lineHeight: 1.4 }}&gt;后一层只能建在前一层之上&lt;/Text&gt;&#10;            &lt;/Box&gt;&#10;            {[&#10;                { k: '1', v: '管道：数据先能进来' },&#10;                { k: '2', v: '本体：事实先能对齐' },&#10;                { k: '3', v: '知识库：语料先能检索' },&#10;                { k: '4', v: 'Agent：推理最后才上' },&#10;            ].map((x) =&gt; (&#10;                &lt;Box key={x.k} style={{ flex: 1, background: '#F7F7F8', borderRadius: 4, padding: '0 14px', flexDirection: 'row', alignItems: 'center', gap: 11 }}&gt;&#10;                    &lt;Box style={{ width: 26, height: 26, borderRadius: 13, background: '#FA4F24', alignItems: 'center', justifyContent: 'center' }}&gt;&#10;                        &lt;Text style={{ fontSize: 12.5, fontWeight: 'bold', color: '#FFFFFF' }}&gt;{x.k}&lt;/Text&gt;&#10;                    &lt;/Box&gt;&#10;                    &lt;Text style={{ fontSize: 12.5, color: '#0F1423', fontWeight: 'bold', flex: 1, lineHeight: 1.3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2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硬顺序：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先建本体，再上任何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AIP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时代唯一的强约束。顺序颠倒的项目，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应用一定建在流沙上</a:t>
            </a:r>
            <a:endParaRPr/>
          </a:p>
        </p:txBody>
      </p:sp>
      <p:sp>
        <p:nvSpPr>
          <p:cNvPr id="89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5" name=""/>
          <p:cNvSpPr/>
          <p:nvPr/>
        </p:nvSpPr>
        <p:spPr>
          <a:xfrm rot="0" flipH="0" flipV="0">
            <a:off x="647700" y="1343025"/>
            <a:ext cx="5429250" cy="1800225"/>
          </a:xfrm>
          <a:prstGeom prst="roundRect">
            <a:avLst>
              <a:gd name="adj" fmla="val 211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96" name=""/>
          <p:cNvSpPr/>
          <p:nvPr/>
        </p:nvSpPr>
        <p:spPr>
          <a:xfrm rot="0" flipH="0" flipV="0">
            <a:off x="647700" y="1343025"/>
            <a:ext cx="5429250" cy="1800225"/>
          </a:xfrm>
          <a:custGeom>
            <a:pathLst>
              <a:path w="570" h="189">
                <a:moveTo>
                  <a:pt x="4" y="189"/>
                </a:moveTo>
                <a:cubicBezTo>
                  <a:pt x="2" y="189"/>
                  <a:pt x="0" y="187"/>
                  <a:pt x="0" y="18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819150" y="1447800"/>
            <a:ext cx="504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错误顺序：先做</a:t>
            </a: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819150" y="17049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1066800" y="1704975"/>
            <a:ext cx="4800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接一个大模型，做一个问答机器人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819150" y="19907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1066800" y="1990725"/>
            <a:ext cx="4800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接上几张报表和几个系统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819150" y="22764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1066800" y="2276475"/>
            <a:ext cx="4800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上线后没人用——因为它不知道「设备」到底是什么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819150" y="25622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1066800" y="2562225"/>
            <a:ext cx="4800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于是加规则、加提示词、加知识条目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066800" y="2847975"/>
            <a:ext cx="4800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半年后维护成本超过开发成本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6200775" y="1343025"/>
            <a:ext cx="541972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9" name=""/>
          <p:cNvSpPr/>
          <p:nvPr/>
        </p:nvSpPr>
        <p:spPr>
          <a:xfrm rot="0" flipH="0" flipV="0">
            <a:off x="6200775" y="1343025"/>
            <a:ext cx="5419725" cy="1800225"/>
          </a:xfrm>
          <a:custGeom>
            <a:pathLst>
              <a:path w="569" h="189">
                <a:moveTo>
                  <a:pt x="4" y="189"/>
                </a:moveTo>
                <a:cubicBezTo>
                  <a:pt x="2" y="189"/>
                  <a:pt x="0" y="187"/>
                  <a:pt x="0" y="18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9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372225" y="1447800"/>
            <a:ext cx="503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正确顺序：先做本体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372225" y="17049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6619875" y="1704975"/>
            <a:ext cx="4791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把对象、链接、动作、密级先在真实数据上建出来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6372225" y="19907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6619875" y="1990725"/>
            <a:ext cx="4791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让对象和关系成为唯一事实来源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6372225" y="22764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619875" y="2276475"/>
            <a:ext cx="4791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在此之上接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应用：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Agent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、知识库、问数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6372225" y="25622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6619875" y="2562225"/>
            <a:ext cx="4791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只做推理与表达，不承担定义职责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6372225" y="28479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6619875" y="2847975"/>
            <a:ext cx="4791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新增场景只是本体的第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次实例化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09600" y="3267075"/>
            <a:ext cx="43434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781050" y="326707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为什么不能颠倒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781050" y="3495675"/>
            <a:ext cx="4000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本体是「业务事实的落点」，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应用是「对事实的推理与表达」。推理建立在流沙上，误差无法归因——你分不清是模型不行，还是事实定义本身就有歧义。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781050" y="4676775"/>
            <a:ext cx="40005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895350" y="4676775"/>
            <a:ext cx="37719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归因不了，就没法优化；没法优化，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应用就永远是「演示好看、上线失败」。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5067300" y="3267075"/>
            <a:ext cx="6515100" cy="108585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5219700" y="3314700"/>
            <a:ext cx="621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本体的三个不可替代职责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5219700" y="358140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命名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5743575" y="3552825"/>
            <a:ext cx="56864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一个对象只有一个名字，全公司通用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5219700" y="3857625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基数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5743575" y="3829050"/>
            <a:ext cx="56864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「设备」和「测点」的关系一次定死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5219700" y="4133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密级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5743575" y="4105275"/>
            <a:ext cx="56864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哪条链接可被谁看见，本体层统一管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5067300" y="4448175"/>
            <a:ext cx="6515100" cy="628650"/>
          </a:xfrm>
          <a:prstGeom prst="roundRect">
            <a:avLst>
              <a:gd name="adj" fmla="val 606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5210175" y="46863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的动作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6200775" y="4667250"/>
            <a:ext cx="52387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现场第一周不做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应用，只做对象与链接。客户会问「什么时候上机器人」，答案是「第二周」。</a:t>
            </a:r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落点顺序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后一层只能建在前一层之上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1" name=""/>
          <p:cNvSpPr/>
          <p:nvPr/>
        </p:nvSpPr>
        <p:spPr>
          <a:xfrm rot="0" flipH="0" flipV="0">
            <a:off x="2838450" y="52673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2924175" y="532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3190875" y="529590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管道：数据先能进来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5" name=""/>
          <p:cNvSpPr/>
          <p:nvPr/>
        </p:nvSpPr>
        <p:spPr>
          <a:xfrm rot="0" flipH="0" flipV="0">
            <a:off x="5086350" y="52673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5172075" y="532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5438775" y="529590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本体：事实先能对齐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9" name=""/>
          <p:cNvSpPr/>
          <p:nvPr/>
        </p:nvSpPr>
        <p:spPr>
          <a:xfrm rot="0" flipH="0" flipV="0">
            <a:off x="7334250" y="52673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7419975" y="532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7686675" y="529590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知识库：语料先能检索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3" name=""/>
          <p:cNvSpPr/>
          <p:nvPr/>
        </p:nvSpPr>
        <p:spPr>
          <a:xfrm rot="0" flipH="0" flipV="0">
            <a:off x="9582150" y="52673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9667875" y="53244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9934575" y="529590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Agent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：推理最后才上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22 / 60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96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现场五日作战手册：&lt;span style={{ color: '#FA4F24' }}&gt;Bootcamp 的节奏&lt;/span&gt;&#10;        &lt;/Text&gt;&#10;        &lt;Text style={{ fontSize: 20, color: '#8A8F99', marginTop: 8 }}&gt;&#10;            官方要求：第三天交出可运行的应用。五天不是压缩工期，是压缩「等审批」的时间&#10;        &lt;/Text&gt;&#10;    &lt;/Box&gt;&#10;    &lt;Box style={{ height: 1, background: '#E8E8E8' }} /&gt;&#10;&#10;    &lt;Box style={{ paddingTop: 20, paddingBottom: 14, height: 479, flexDirection: 'column', gap: 13 }}&gt;&#10;&#10;        {/* 上：五天时间轴 */}&#10;        &lt;Box style={{ flex: 1, flexDirection: 'row', gap: 10 }}&gt;&#10;            {[&#10;                { d: 'D1', k: '找准问题', c: '#FA4F24', t: ['见决策者', '看真数据', '定痛点数字'], out: '现像报告' },&#10;                { d: 'D2', k: '建对象', c: '#E0641E', t: ['定义核心对象', '定主键策略', '标密级'], out: '本体骨架 v0' },&#10;                { d: 'D3', k: '跑通链路', c: '#C43A17', t: ['接一条真数据', '写回一条动作', '出第一版结论'], out: '可运行应用' },&#10;                { d: 'D4', k: '贴到人', c: '#A83310', t: ['让作业员上手', '收集反对意见', '改口径'], out: '业务签认单' },&#10;                { d: 'D5', k: '固化', c: '#8A2A0D', t: ['补监控告警', '写运维手册', '定知识转移'], out: '移交清单' },&#10;            ].map((x) =&gt; (&#10;                &lt;Box key={x.d} style={{ flex: 1, background: '#F7F7F8', borderRadius: 4, padding: '0 14px', flexDirection: 'column', justifyContent: 'center', borderTop: `3px solid ${x.c}` }}&gt;&#10;                    &lt;Box style={{ flexDirection: 'row', alignItems: 'baseline', gap: 9 }}&gt;&#10;                        &lt;Text style={{ fontSize: 20, fontWeight: 'bold', color: x.c }}&gt;{x.d}&lt;/Text&gt;&#10;                        &lt;Text style={{ fontSize: 13.5, fontWeight: 'bold', color: '#0F1423' }}&gt;{x.k}&lt;/Text&gt;&#10;                    &lt;/Box&gt;&#10;                    &lt;Box style={{ flex: 1, marginTop: 9, justifyContent: 'center' }}&gt;&#10;                        {x.t.map((y) =&gt; (&#10;                            &lt;Box key={y} style={{ flexDirection: 'row', gap: 8, alignItems: 'flex-start', marginTop: 7 }}&gt;&#10;                                &lt;Box style={{ width: 5, height: 5, borderRadius: 3, background: x.c, marginTop: 6 }} /&gt;&#10;                                &lt;Text style={{ fontSize: 11.5, color: '#3A4050', lineHeight: 1.35, flex: 1 }}&gt;{y}&lt;/Text&gt;&#10;                            &lt;/Box&gt;&#10;                        ))}&#10;                    &lt;/Box&gt;&#10;                    &lt;Box style={{ background: '#0F1423', borderRadius: 3, padding: '0 10px', marginTop: 9 }}&gt;&#10;                        &lt;Text style={{ fontSize: 11, color: 'rgba(255,255,255,0.88)', lineHeight: 1.35 }}&gt;产出：{x.out}&lt;/Text&gt;&#10;                    &lt;/Box&gt;&#10;                &lt;/Box&gt;&#10;            ))}&#10;        &lt;/Box&gt;&#10;&#10;        {/* 中：五天的三个铁律 */}&#10;        &lt;Box style={{ height: 182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把工期从三个月压到五天，靠的是什么&lt;/Text&gt;&#10;                {[&#10;                    { k: '不等审批', v: '当天提的方案当天拍板，负责人现场签字' },&#10;                    { k: '不追求完整', v: '只做一个场景的一条链路，其余全部砍掉' },&#10;                    { k: '不换环境', v: 'D1 就连生产，不另建干净环境做演示' },&#10;                ].map((x) =&gt; (&#10;                    &lt;Box key={x.k} style={{ flexDirection: 'row', gap: 12, marginTop: 11, alignItems: 'flex-start' }}&gt;&#10;                        &lt;Text style={{ fontSize: 12, fontWeight: 'bold', color: '#FBA15C', width: 7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五天里最容易被跳过、也最致命的三步&lt;/Text&gt;&#10;                {[&#10;                    { k: 'D1 见决策者', v: '被「先做原型」哄住，见了执行层就开工' },&#10;                    { k: 'D3 真数据', v: '用清洗过的样例数据跑通，第三天的应用是假的' },&#10;                    { k: 'D4 贴到人', v: '没让作业员实际点开，导致上线即闲置' },&#10;                ].map((x) =&gt; (&#10;                    &lt;Box key={x.k} style={{ flexDirection: 'row', gap: 11, marginTop: 10, alignItems: 'flex-start' }}&gt;&#10;                        &lt;Text style={{ fontSize: 12, fontWeight: 'bold', color: '#C43A17', width: 96 }}&gt;{x.k}&lt;/Text&gt;&#10;                        &lt;Text style={{ fontSize: 12.5, color: '#3A4050', lineHeight: 1.4, flex: 1 }}&gt;{x.v}&lt;/Text&gt;&#10;                    &lt;/Box&gt;&#10;                ))}&#10;            &lt;/Box&gt;&#10;        &lt;/Box&gt;&#10;&#10;        {/* 下：节奏参照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Bootcamp 之后&lt;/Text&gt;&#10;                &lt;Text style={{ fontSize: 12.5, fontWeight: 'bold', color: '#0F1423', marginTop: 5, lineHeight: 1.4 }}&gt;五天跑通 ≠ 项目结束&lt;/Text&gt;&#10;            &lt;/Box&gt;&#10;            {[&#10;                { k: 'D6–D14', v: '场景进入日常使用，问题暴露期' },&#10;                { k: 'W3–W6', v: '补齐本体与管道，扩展第二个场景' },&#10;                { k: 'W7–W8', v: '抽象回流，交给 Dev 变成平台能力' },&#10;                { k: 'W9+', v: '运营移交，FDE 退出或转入下一场景' },&#10;            ].map((x) =&gt; (&#10;                &lt;Box key={x.k} style={{ flex: 1, background: '#F7F7F8', borderRadius: 4, padding: '0 13px', flexDirection: 'column', justifyContent: 'center' }}&gt;&#10;                    &lt;Text style={{ fontSize: 13, fontWeight: 'bold', color: '#FA4F24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3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现场五日作战手册：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的节奏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官方要求：第三天交出可运行的应用。五天不是压缩工期，是压缩「等审批」的时间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5" name=""/>
          <p:cNvSpPr/>
          <p:nvPr/>
        </p:nvSpPr>
        <p:spPr>
          <a:xfrm rot="0" flipH="0" flipV="0">
            <a:off x="609600" y="1371600"/>
            <a:ext cx="2114550" cy="1876425"/>
          </a:xfrm>
          <a:prstGeom prst="roundRect">
            <a:avLst>
              <a:gd name="adj" fmla="val 203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66" name=""/>
          <p:cNvSpPr/>
          <p:nvPr/>
        </p:nvSpPr>
        <p:spPr>
          <a:xfrm rot="0" flipH="0" flipV="0">
            <a:off x="609600" y="1371600"/>
            <a:ext cx="2114550" cy="1876425"/>
          </a:xfrm>
          <a:custGeom>
            <a:pathLst>
              <a:path w="222" h="197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742950" y="1371600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1104900" y="1371600"/>
            <a:ext cx="514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找准问题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742950" y="2076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866775" y="201930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见决策者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742950" y="2324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866775" y="226695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看真数据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742950" y="2571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866775" y="251460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定痛点数字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742950" y="3048000"/>
            <a:ext cx="18478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838200" y="30480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现像报告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2819400" y="1371600"/>
            <a:ext cx="2124075" cy="1876425"/>
          </a:xfrm>
          <a:prstGeom prst="roundRect">
            <a:avLst>
              <a:gd name="adj" fmla="val 203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8" name=""/>
          <p:cNvSpPr/>
          <p:nvPr/>
        </p:nvSpPr>
        <p:spPr>
          <a:xfrm rot="0" flipH="0" flipV="0">
            <a:off x="2819400" y="1371600"/>
            <a:ext cx="2124075" cy="1876425"/>
          </a:xfrm>
          <a:custGeom>
            <a:pathLst>
              <a:path w="223" h="197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2952750" y="1371600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41E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3314700" y="1371600"/>
            <a:ext cx="390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建对象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2952750" y="2076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3076575" y="2019300"/>
            <a:ext cx="17335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定义核心对象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2952750" y="2324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3076575" y="2266950"/>
            <a:ext cx="17335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定主键策略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2952750" y="2571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3076575" y="2514600"/>
            <a:ext cx="17335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标密级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2952750" y="3048000"/>
            <a:ext cx="1857375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3048000" y="304800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本体骨架</a:t>
            </a:r>
            <a:r>
              <a:rPr lang="en-US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v0</a:t>
            </a:r>
            <a:endParaRPr/>
          </a:p>
        </p:txBody>
      </p:sp>
      <p:sp>
        <p:nvSpPr>
          <p:cNvPr id="989" name=""/>
          <p:cNvSpPr/>
          <p:nvPr/>
        </p:nvSpPr>
        <p:spPr>
          <a:xfrm rot="0" flipH="0" flipV="0">
            <a:off x="5038725" y="1371600"/>
            <a:ext cx="2114550" cy="1876425"/>
          </a:xfrm>
          <a:prstGeom prst="roundRect">
            <a:avLst>
              <a:gd name="adj" fmla="val 203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0" name=""/>
          <p:cNvSpPr/>
          <p:nvPr/>
        </p:nvSpPr>
        <p:spPr>
          <a:xfrm rot="0" flipH="0" flipV="0">
            <a:off x="5038725" y="1371600"/>
            <a:ext cx="2114550" cy="1876425"/>
          </a:xfrm>
          <a:custGeom>
            <a:pathLst>
              <a:path w="222" h="197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5172075" y="1371600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3A17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5534025" y="1371600"/>
            <a:ext cx="514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跑通链路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5172075" y="2076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5295900" y="201930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接一条真数据</a:t>
            </a:r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5172075" y="2324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5295900" y="226695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写回一条动作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5172075" y="2571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5295900" y="251460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出第一版结论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5172075" y="3048000"/>
            <a:ext cx="18478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5267325" y="30480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可运行应用</a:t>
            </a:r>
            <a:endParaRPr/>
          </a:p>
        </p:txBody>
      </p:sp>
      <p:sp>
        <p:nvSpPr>
          <p:cNvPr id="1001" name=""/>
          <p:cNvSpPr/>
          <p:nvPr/>
        </p:nvSpPr>
        <p:spPr>
          <a:xfrm rot="0" flipH="0" flipV="0">
            <a:off x="7248525" y="1371600"/>
            <a:ext cx="2124075" cy="1876425"/>
          </a:xfrm>
          <a:prstGeom prst="roundRect">
            <a:avLst>
              <a:gd name="adj" fmla="val 203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2" name=""/>
          <p:cNvSpPr/>
          <p:nvPr/>
        </p:nvSpPr>
        <p:spPr>
          <a:xfrm rot="0" flipH="0" flipV="0">
            <a:off x="7248525" y="1371600"/>
            <a:ext cx="2124075" cy="1876425"/>
          </a:xfrm>
          <a:custGeom>
            <a:pathLst>
              <a:path w="223" h="197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7381875" y="1371600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83310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7743825" y="1371600"/>
            <a:ext cx="390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贴到人</a:t>
            </a:r>
            <a:endParaRPr/>
          </a:p>
        </p:txBody>
      </p:sp>
      <p:sp>
        <p:nvSpPr>
          <p:cNvPr id="1005" name=""/>
          <p:cNvSpPr/>
          <p:nvPr/>
        </p:nvSpPr>
        <p:spPr>
          <a:xfrm rot="0" flipH="0" flipV="0">
            <a:off x="7381875" y="2076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7505700" y="2019300"/>
            <a:ext cx="17335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让作业员上手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7381875" y="2324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7505700" y="2266950"/>
            <a:ext cx="17335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收集反对意见</a:t>
            </a:r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7381875" y="2571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7505700" y="2514600"/>
            <a:ext cx="17335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改口径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7381875" y="3048000"/>
            <a:ext cx="1857375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7477125" y="304800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业务签认单</a:t>
            </a:r>
            <a:endParaRPr/>
          </a:p>
        </p:txBody>
      </p:sp>
      <p:sp>
        <p:nvSpPr>
          <p:cNvPr id="1013" name=""/>
          <p:cNvSpPr/>
          <p:nvPr/>
        </p:nvSpPr>
        <p:spPr>
          <a:xfrm rot="0" flipH="0" flipV="0">
            <a:off x="9467850" y="1371600"/>
            <a:ext cx="2114550" cy="1876425"/>
          </a:xfrm>
          <a:prstGeom prst="roundRect">
            <a:avLst>
              <a:gd name="adj" fmla="val 203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4" name=""/>
          <p:cNvSpPr/>
          <p:nvPr/>
        </p:nvSpPr>
        <p:spPr>
          <a:xfrm rot="0" flipH="0" flipV="0">
            <a:off x="9467850" y="1371600"/>
            <a:ext cx="2114550" cy="1876425"/>
          </a:xfrm>
          <a:custGeom>
            <a:pathLst>
              <a:path w="222" h="197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8A2A0D"/>
          </a:solidFill>
          <a:ln/>
        </p:spPr>
        <p:txBody>
          <a:bodyPr/>
          <a:p/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9601200" y="1371600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A2A0D"/>
                </a:solidFill>
                <a:latin typeface="Microsoft YaHei"/>
                <a:ea typeface="Microsoft YaHei"/>
              </a:rPr>
              <a:t>D5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9963150" y="1371600"/>
            <a:ext cx="257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固化</a:t>
            </a:r>
            <a:endParaRPr/>
          </a:p>
        </p:txBody>
      </p:sp>
      <p:sp>
        <p:nvSpPr>
          <p:cNvPr id="1017" name=""/>
          <p:cNvSpPr/>
          <p:nvPr/>
        </p:nvSpPr>
        <p:spPr>
          <a:xfrm rot="0" flipH="0" flipV="0">
            <a:off x="9601200" y="2076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A2A0D"/>
          </a:solidFill>
          <a:ln/>
        </p:spPr>
        <p:txBody>
          <a:bodyPr/>
          <a:p/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9725025" y="201930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补监控告警</a:t>
            </a:r>
            <a:endParaRPr/>
          </a:p>
        </p:txBody>
      </p:sp>
      <p:sp>
        <p:nvSpPr>
          <p:cNvPr id="1019" name=""/>
          <p:cNvSpPr/>
          <p:nvPr/>
        </p:nvSpPr>
        <p:spPr>
          <a:xfrm rot="0" flipH="0" flipV="0">
            <a:off x="9601200" y="2324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A2A0D"/>
          </a:solidFill>
          <a:ln/>
        </p:spPr>
        <p:txBody>
          <a:bodyPr/>
          <a:p/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9725025" y="226695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写运维手册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9601200" y="2571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8A2A0D"/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9725025" y="2514600"/>
            <a:ext cx="172402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定知识转移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9601200" y="3048000"/>
            <a:ext cx="18478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9696450" y="30480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移交清单</a:t>
            </a:r>
            <a:endParaRPr/>
          </a:p>
        </p:txBody>
      </p:sp>
      <p:sp>
        <p:nvSpPr>
          <p:cNvPr id="1025" name=""/>
          <p:cNvSpPr/>
          <p:nvPr/>
        </p:nvSpPr>
        <p:spPr>
          <a:xfrm rot="0" flipH="0" flipV="0">
            <a:off x="609600" y="3343275"/>
            <a:ext cx="4457700" cy="1733550"/>
          </a:xfrm>
          <a:prstGeom prst="roundRect">
            <a:avLst>
              <a:gd name="adj" fmla="val 219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781050" y="36861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把工期从三个月压到五天，靠的是什么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781050" y="39338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不等审批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581150" y="393382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当天提的方案当天拍板，负责人现场签字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781050" y="42386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不追求完整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1581150" y="423862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只做一个场景的一条链路，其余全部砍掉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不换环境</a:t>
            </a:r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1581150" y="454342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D1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就连生产，不另建干净环境做演示</a:t>
            </a:r>
            <a:endParaRPr/>
          </a:p>
        </p:txBody>
      </p:sp>
      <p:sp>
        <p:nvSpPr>
          <p:cNvPr id="1033" name=""/>
          <p:cNvSpPr/>
          <p:nvPr/>
        </p:nvSpPr>
        <p:spPr>
          <a:xfrm rot="0" flipH="0" flipV="0">
            <a:off x="5219700" y="3343275"/>
            <a:ext cx="6400800" cy="1733550"/>
          </a:xfrm>
          <a:prstGeom prst="roundRect">
            <a:avLst>
              <a:gd name="adj" fmla="val 219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34" name=""/>
          <p:cNvSpPr/>
          <p:nvPr/>
        </p:nvSpPr>
        <p:spPr>
          <a:xfrm rot="0" flipH="0" flipV="0">
            <a:off x="5219700" y="3343275"/>
            <a:ext cx="6400800" cy="1733550"/>
          </a:xfrm>
          <a:custGeom>
            <a:pathLst>
              <a:path w="672" h="182">
                <a:moveTo>
                  <a:pt x="4" y="182"/>
                </a:moveTo>
                <a:cubicBezTo>
                  <a:pt x="2" y="182"/>
                  <a:pt x="0" y="180"/>
                  <a:pt x="0" y="17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5381625" y="36861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五天里最容易被跳过、也最致命的三步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5381625" y="39528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D1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见决策者</a:t>
            </a:r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6400800" y="39528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被「先做原型」哄住，见了执行层就开工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5381625" y="42481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D3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真数据</a:t>
            </a:r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6400800" y="4248150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用清洗过的样例数据跑通，第三天的应用是假的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5381625" y="45434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D4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贴到人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6400800" y="454342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没让作业员实际点开，导致上线即闲置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之后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五天跑通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项目结束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2828925" y="52101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D6–D14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2828925" y="54102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场景进入日常使用，问题暴露期</a:t>
            </a:r>
            <a:endParaRPr/>
          </a:p>
        </p:txBody>
      </p:sp>
      <p:sp>
        <p:nvSpPr>
          <p:cNvPr id="1048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5076825" y="52101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W3–W6</a:t>
            </a:r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5076825" y="54102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补齐本体与管道，扩展第二个场景</a:t>
            </a:r>
            <a:endParaRPr/>
          </a:p>
        </p:txBody>
      </p:sp>
      <p:sp>
        <p:nvSpPr>
          <p:cNvPr id="1051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7324725" y="52101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W7–W8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7324725" y="54102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抽象回流，交给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Dev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变成平台能力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9572625" y="52101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W9+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9572625" y="54102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运营移交，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退出或转入下一场景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5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23 / 60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06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交付验收：&lt;span style={{ color: '#FA4F24' }}&gt;什么叫「真的上线了」&lt;/span&gt;&#10;        &lt;/Text&gt;&#10;        &lt;Text style={{ fontSize: 20, color: '#8A8F99', marginTop: 8 }}&gt;&#10;            十二项检查。逐项打勾，全过才算交付。少一项就是「技术正确、运营无关」&#10;        &lt;/Text&gt;&#10;    &lt;/Box&gt;&#10;    &lt;Box style={{ height: 1, background: '#E8E8E8' }} /&gt;&#10;&#10;    &lt;Box style={{ paddingTop: 20, paddingBottom: 14, height: 479, flexDirection: 'column', gap: 13 }}&gt;&#10;&#10;        {/* 上：十二项检查 */}&#10;        &lt;Box style={{ flex: 1, flexDirection: 'row', gap: 11 }}&gt;&#10;            {[&#10;                { g: '环境真实', c: '#FA4F24', items: ['连客户真实数据源，非样例', '跑在客户环境，非总部演示机', '接真实写路径，不只读'] },&#10;                { g: '业务在用', c: '#E0641E', items: ['客户作业员每天登录', '使用量可查询、可截图', '业务方主动催过结果'] },&#10;                { g: '口径签字', c: '#C43A17', items: ['指标口径客户签字确认', '对象定义客户签字确认', '密级与权限客户签字确认'] },&#10;                { g: '责任落地', c: '#A83310', items: ['客户侧责任人已指定', '有告警、有值班、有响应人', 'FDE 退出后仍有人维护'] },&#10;            ].map((x) =&gt; (&#10;                &lt;Box key={x.g} style={{ flex: 1, background: '#F7F7F8', borderRadius: 4, padding: '0 15px', flexDirection: 'column', justifyContent: 'center', borderTop: `3px solid ${x.c}` }}&gt;&#10;                    &lt;Text style={{ fontSize: 15.5, fontWeight: 'bold', color: x.c }}&gt;{x.g}&lt;/Text&gt;&#10;                    &lt;Box style={{ flex: 1, justifyContent: 'center' }}&gt;&#10;                        {x.items.map((y) =&gt; (&#10;                            &lt;Box key={y} style={{ flexDirection: 'row', gap: 8, marginTop: 8, alignItems: 'flex-start' }}&gt;&#10;                                &lt;Text style={{ fontSize: 11, fontWeight: 'bold', color: x.c, width: 14 }}&gt;✓&lt;/Text&gt;&#10;                                &lt;Text style={{ fontSize: 11.5, color: '#3A4050', lineHeight: 1.4, flex: 1 }}&gt;{y}&lt;/Text&gt;&#10;                            &lt;/Box&gt;&#10;                        ))}&#10;                    &lt;/Box&gt;&#10;                &lt;/Box&gt;&#10;            ))}&#10;        &lt;/Box&gt;&#10;&#10;        {/* 中：交付物清单 + 反例 */}&#10;        &lt;Box style={{ height: 194, flexDirection: 'row', gap: 12 }}&gt;&#10;            &lt;Box style={{ width: 456, background: '#0F1423', borderRadius: 4, padding: '0 18px', flexDirection: 'column', justifyContent: 'center' }}&gt;&#10;                &lt;Text style={{ fontSize: 12, color: '#FBA15C', letterSpacing: 2 }}&gt;FDE 离场时必须留下的六件&lt;/Text&gt;&#10;                {[&#10;                    { k: '活的系统', v: '跑在客户生产环境的本体与 AI 应用' },&#10;                    { k: '本体定义', v: '对象、链接、基数、密级的书面定义' },&#10;                    { k: '口径裁定', v: '指标口径与计算逻辑，含争议记录' },&#10;                    { k: '运维手册', v: '日常操作、常见故障、升级路径' },&#10;                    { k: '回流提案', v: '提交平台的抽象能力与通用组件' },&#10;                    { k: '培训记录', v: '客户侧操作人培训与考核结果' },&#10;                ].map((x) =&gt; (&#10;                    &lt;Box key={x.k} style={{ flexDirection: 'row', gap: 11, marginTop: 8, alignItems: 'flex-start' }}&gt;&#10;                        &lt;Text style={{ fontSize: 11.5, fontWeight: 'bold', color: '#FBA15C', width: 68 }}&gt;{x.k}&lt;/Text&gt;&#10;                        &lt;Text style={{ fontSize: 12, color: 'rgba(255,255,255,0.85)', lineHeight: 1.35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三个「看起来交付了」的假象&lt;/Text&gt;&#10;                {[&#10;                    { k: '演示通过', v: '给客户看的版本与生产跑的版本不是同一个' },&#10;                    { k: '文档齐全', v: '蓝图画得极漂亮，但没有一条连到生产数据' },&#10;                    { k: '验收签字', v: '签字的人没打开过系统，是被安排来签的' },&#10;                ].map((x) =&gt; (&#10;                    &lt;Box key={x.k} style={{ marginTop: 12 }}&gt;&#10;                        &lt;Box style={{ flexDirection: 'row', gap: 10, alignItems: 'center' }}&gt;&#10;                            &lt;Box style={{ width: 20, height: 20, borderRadius: 10, background: '#FA4F24', alignItems: 'center', justifyContent: 'center' }}&gt;&#10;                                &lt;Text style={{ fontSize: 11, fontWeight: 'bold', color: '#FFFFFF' }}&gt;!&lt;/Text&gt;&#10;                            &lt;/Box&gt;&#10;                            &lt;Text style={{ fontSize: 13, fontWeight: 'bold', color: '#C43A17' }}&gt;{x.k}&lt;/Text&gt;&#10;                        &lt;/Box&gt;&#10;                        &lt;Text style={{ fontSize: 12, color: '#3A4050', lineHeight: 1.4, marginTop: 5, marginLeft: 30 }}&gt;{x.v}&lt;/Text&gt;&#10;                    &lt;/Box&gt;&#10;                ))}&#10;            &lt;/Box&gt;&#10;        &lt;/Box&gt;&#10;&#10;        {/* 下：验收口径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验收的唯一提问方式&lt;/Text&gt;&#10;                &lt;Text style={{ fontSize: 12.5, fontWeight: 'bold', color: '#0F1423', marginTop: 5, lineHeight: 1.4 }}&gt;不问「做完了吗」，只问这三句&lt;/Text&gt;&#10;            &lt;/Box&gt;&#10;            {[&#10;                { k: '上周谁用过？', v: '要名字，要次数' },&#10;                { k: '上周靠它做了什么决定？', v: '要具体决定' },&#10;                { k: '它坏了谁会知道？', v: '要人名' },&#10;            ].map((x) =&gt; (&#10;                &lt;Box key={x.k} style={{ flex: 1, background: '#F7F7F8', borderRadius: 4, padding: '0 14px', flexDirection: 'column', justifyContent: 'center' }}&gt;&#10;                    &lt;Text style={{ fontSize: 13, fontWeight: 'bold', color: '#0F1423', lineHeight: 1.3 }}&gt;{x.k}&lt;/Text&gt;&#10;                    &lt;Text style={{ fontSize: 11, color: '#8A8F99'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4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交付验收：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什么叫「真的上线了」</a:t>
            </a:r>
            <a:endParaRPr/>
          </a:p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十二项检查。逐项打勾，全过才算交付。少一项就是「技术正确、运营无关」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66" name=""/>
          <p:cNvSpPr/>
          <p:nvPr/>
        </p:nvSpPr>
        <p:spPr>
          <a:xfrm rot="0" flipH="0" flipV="0">
            <a:off x="609600" y="1371600"/>
            <a:ext cx="2667000" cy="1762125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7" name=""/>
          <p:cNvSpPr/>
          <p:nvPr/>
        </p:nvSpPr>
        <p:spPr>
          <a:xfrm rot="0" flipH="0" flipV="0">
            <a:off x="609600" y="1371600"/>
            <a:ext cx="2667000" cy="1762125"/>
          </a:xfrm>
          <a:custGeom>
            <a:pathLst>
              <a:path w="280" h="18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环境真实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752475" y="20097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962025" y="20097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连客户真实数据源，非样例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752475" y="22764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962025" y="22764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跑在客户环境，非总部演示机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752475" y="25431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962025" y="25431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接真实写路径，不只读</a:t>
            </a:r>
            <a:endParaRPr/>
          </a:p>
        </p:txBody>
      </p:sp>
      <p:sp>
        <p:nvSpPr>
          <p:cNvPr id="1075" name=""/>
          <p:cNvSpPr/>
          <p:nvPr/>
        </p:nvSpPr>
        <p:spPr>
          <a:xfrm rot="0" flipH="0" flipV="0">
            <a:off x="3381375" y="1371600"/>
            <a:ext cx="2667000" cy="1762125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6" name=""/>
          <p:cNvSpPr/>
          <p:nvPr/>
        </p:nvSpPr>
        <p:spPr>
          <a:xfrm rot="0" flipH="0" flipV="0">
            <a:off x="3381375" y="1371600"/>
            <a:ext cx="2667000" cy="1762125"/>
          </a:xfrm>
          <a:custGeom>
            <a:pathLst>
              <a:path w="280" h="18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0641E"/>
                </a:solidFill>
                <a:latin typeface="Microsoft YaHei"/>
                <a:ea typeface="Microsoft YaHei"/>
              </a:rPr>
              <a:t>业务在用</a:t>
            </a:r>
            <a:endParaRPr/>
          </a:p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3524250" y="20097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3733800" y="20097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客户作业员每天登录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3524250" y="22764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3733800" y="22764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使用量可查询、可截图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3524250" y="25431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E0641E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3733800" y="25431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业务方主动催过结果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6153150" y="1371600"/>
            <a:ext cx="2657475" cy="1762125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5" name=""/>
          <p:cNvSpPr/>
          <p:nvPr/>
        </p:nvSpPr>
        <p:spPr>
          <a:xfrm rot="0" flipH="0" flipV="0">
            <a:off x="6153150" y="1371600"/>
            <a:ext cx="2657475" cy="1762125"/>
          </a:xfrm>
          <a:custGeom>
            <a:pathLst>
              <a:path w="279" h="185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口径签字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6296025" y="20097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6505575" y="2009775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指标口径客户签字确认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6296025" y="22764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6505575" y="2276475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对象定义客户签字确认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6296025" y="25431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6505575" y="2543175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密级与权限客户签字确认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8915400" y="1371600"/>
            <a:ext cx="2667000" cy="1762125"/>
          </a:xfrm>
          <a:prstGeom prst="roundRect">
            <a:avLst>
              <a:gd name="adj" fmla="val 21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4" name=""/>
          <p:cNvSpPr/>
          <p:nvPr/>
        </p:nvSpPr>
        <p:spPr>
          <a:xfrm rot="0" flipH="0" flipV="0">
            <a:off x="8915400" y="1371600"/>
            <a:ext cx="2667000" cy="1762125"/>
          </a:xfrm>
          <a:custGeom>
            <a:pathLst>
              <a:path w="280" h="185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A83310"/>
                </a:solidFill>
                <a:latin typeface="Microsoft YaHei"/>
                <a:ea typeface="Microsoft YaHei"/>
              </a:rPr>
              <a:t>责任落地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9058275" y="20097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A83310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9267825" y="20097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客户侧责任人已指定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9058275" y="22764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A83310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9267825" y="22764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有告警、有值班、有响应人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9058275" y="2543175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A83310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9267825" y="25431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退出后仍有人维护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609600" y="3228975"/>
            <a:ext cx="4343400" cy="1847850"/>
          </a:xfrm>
          <a:prstGeom prst="roundRect">
            <a:avLst>
              <a:gd name="adj" fmla="val 206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781050" y="328612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离场时必须留下的六件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活的系统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1533525" y="35052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跑在客户生产环境的本体与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本体定义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1533525" y="37719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对象、链接、基数、密级的书面定义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781050" y="40386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口径裁定</a:t>
            </a:r>
            <a:endParaRPr/>
          </a:p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1533525" y="40386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指标口径与计算逻辑，含争议记录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781050" y="43053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运维手册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1533525" y="43053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日常操作、常见故障、升级路径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781050" y="45720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回流提案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1533525" y="45720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提交平台的抽象能力与通用组件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781050" y="4838700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培训记录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1533525" y="483870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客户侧操作人培训与考核结果</a:t>
            </a:r>
            <a:endParaRPr/>
          </a:p>
        </p:txBody>
      </p:sp>
      <p:sp>
        <p:nvSpPr>
          <p:cNvPr id="1116" name=""/>
          <p:cNvSpPr/>
          <p:nvPr/>
        </p:nvSpPr>
        <p:spPr>
          <a:xfrm rot="0" flipH="0" flipV="0">
            <a:off x="5105400" y="3228975"/>
            <a:ext cx="6515100" cy="1847850"/>
          </a:xfrm>
          <a:prstGeom prst="roundRect">
            <a:avLst>
              <a:gd name="adj" fmla="val 206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17" name=""/>
          <p:cNvSpPr/>
          <p:nvPr/>
        </p:nvSpPr>
        <p:spPr>
          <a:xfrm rot="0" flipH="0" flipV="0">
            <a:off x="5105400" y="3228975"/>
            <a:ext cx="6515100" cy="1847850"/>
          </a:xfrm>
          <a:custGeom>
            <a:pathLst>
              <a:path w="684" h="194">
                <a:moveTo>
                  <a:pt x="4" y="194"/>
                </a:moveTo>
                <a:cubicBezTo>
                  <a:pt x="2" y="194"/>
                  <a:pt x="0" y="192"/>
                  <a:pt x="0" y="1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5267325" y="3238500"/>
            <a:ext cx="615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三个「看起来交付了」的假象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5267325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5343525" y="3552825"/>
            <a:ext cx="38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5553075" y="35433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演示通过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5553075" y="3762375"/>
            <a:ext cx="5867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给客户看的版本与生产跑的版本不是同一个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5267325" y="4076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5343525" y="4105275"/>
            <a:ext cx="38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5553075" y="40957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文档齐全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5553075" y="4314825"/>
            <a:ext cx="5867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蓝图画得极漂亮，但没有一条连到生产数据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5267325" y="46291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5343525" y="4657725"/>
            <a:ext cx="38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5553075" y="46482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验收签字</a:t>
            </a:r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5553075" y="4867275"/>
            <a:ext cx="5867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签字的人没打开过系统，是被安排来签的</a:t>
            </a:r>
            <a:endParaRPr/>
          </a:p>
        </p:txBody>
      </p:sp>
      <p:sp>
        <p:nvSpPr>
          <p:cNvPr id="1131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验收的唯一提问方式</a:t>
            </a:r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不问「做完了吗」，只问这三句</a:t>
            </a:r>
            <a:endParaRPr/>
          </a:p>
        </p:txBody>
      </p:sp>
      <p:sp>
        <p:nvSpPr>
          <p:cNvPr id="1134" name=""/>
          <p:cNvSpPr/>
          <p:nvPr/>
        </p:nvSpPr>
        <p:spPr>
          <a:xfrm rot="0" flipH="0" flipV="0">
            <a:off x="2705100" y="5200650"/>
            <a:ext cx="28860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2838450" y="520065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上周谁用过？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2838450" y="5448300"/>
            <a:ext cx="2619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要名字，要次数</a:t>
            </a:r>
            <a:endParaRPr/>
          </a:p>
        </p:txBody>
      </p:sp>
      <p:sp>
        <p:nvSpPr>
          <p:cNvPr id="1137" name=""/>
          <p:cNvSpPr/>
          <p:nvPr/>
        </p:nvSpPr>
        <p:spPr>
          <a:xfrm rot="0" flipH="0" flipV="0">
            <a:off x="5705475" y="5200650"/>
            <a:ext cx="287655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5838825" y="5200650"/>
            <a:ext cx="260985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上周靠它做了什么决定？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5838825" y="5448300"/>
            <a:ext cx="2609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要具体决定</a:t>
            </a:r>
            <a:endParaRPr/>
          </a:p>
        </p:txBody>
      </p:sp>
      <p:sp>
        <p:nvSpPr>
          <p:cNvPr id="1140" name=""/>
          <p:cNvSpPr/>
          <p:nvPr/>
        </p:nvSpPr>
        <p:spPr>
          <a:xfrm rot="0" flipH="0" flipV="0">
            <a:off x="8696325" y="5200650"/>
            <a:ext cx="28860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8829675" y="520065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它坏了谁会知道？</a:t>
            </a:r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8829675" y="5448300"/>
            <a:ext cx="2619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要人名</a:t>
            </a:r>
            <a:endParaRPr/>
          </a:p>
        </p:txBody>
      </p:sp>
      <p:sp>
        <p:nvSpPr>
          <p:cNvPr id="114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44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24 / 60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14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抽象回流：&lt;span style={{ color: '#FA4F24' }}&gt;碎石路机制的第二段&lt;/span&gt;&#10;        &lt;/Text&gt;&#10;        &lt;Text style={{ fontSize: 20, color: '#8A8F99', marginTop: 8 }}&gt;&#10;            一个客户做出来的东西，只有变成平台能力，才算这一轮的投入没白花&#10;        &lt;/Text&gt;&#10;    &lt;/Box&gt;&#10;    &lt;Box style={{ height: 1, background: '#E8E8E8' }} /&gt;&#10;&#10;    &lt;Box style={{ paddingTop: 20, paddingBottom: 14, height: 479, flexDirection: 'column', gap: 13 }}&gt;&#10;&#10;        {/* 上：三段机制 */}&#10;        &lt;Box style={{ flex: 1, flexDirection: 'row', gap: 11 }}&gt;&#10;            {[&#10;                { n: '1', k: '现场铺路', c: '#FA4F24', d: 'Delta 在客户现场写生产代码，为这一个客户解决它的问题。不考虑通用性。', key: '关键词：能跑' },&#10;                { n: '2', k: '总部找抽象', c: '#E0641E', d: '同一批 Delta 从各个现场带回经验，Dev 在总部找出「哪些能变成一项能力」。', key: '关键词：能不能抽象' },&#10;                { n: '3', k: '铺成高速公路', c: '#C43A17', d: '能力进平台，推广到 5–10 个客户。第二次做同类场景，成本降到十分之一。', key: '关键词：复用' },&#10;            ].map((x) =&gt; (&#10;                &lt;Box key={x.n} style={{ flex: 1, background: '#F7F7F8', borderRadius: 4, padding: '0 16px', flexDirection: 'column', justifyContent: 'center' }}&gt;&#10;                    &lt;Box style={{ flexDirection: 'row', alignItems: 'baseline', gap: 10 }}&gt;&#10;                        &lt;Box style={{ width: 26, height: 26, borderRadius: 13, background: x.c, alignItems: 'center', justifyContent: 'center' }}&gt;&#10;                            &lt;Text style={{ fontSize: 13, fontWeight: 'bold', color: '#FFFFFF' }}&gt;{x.n}&lt;/Text&gt;&#10;                        &lt;/Box&gt;&#10;                        &lt;Text style={{ fontSize: 18, fontWeight: 'bold', color: x.c }}&gt;{x.k}&lt;/Text&gt;&#10;                    &lt;/Box&gt;&#10;                    &lt;Text style={{ fontSize: 12.5, color: '#3A4050', lineHeight: 1.5, marginTop: 11, flex: 1 }}&gt;{x.d}&lt;/Text&gt;&#10;                    &lt;Box style={{ background: '#0F1423', borderRadius: 3, padding: '0 11px', marginTop: 10 }}&gt;&#10;                        &lt;Text style={{ fontSize: 11.5, color: 'rgba(255,255,255,0.88)', lineHeight: 1.4 }}&gt;{x.key}&lt;/Text&gt;&#10;                    &lt;/Box&gt;&#10;                &lt;/Box&gt;&#10;            ))}&#10;        &lt;/Box&gt;&#10;&#10;        {/* 中：抽象的判定 */}&#10;        &lt;Box style={{ height: 180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抽象的判定标准&lt;/Text&gt;&#10;                &lt;Text style={{ fontSize: 12.5, color: 'rgba(255,255,255,0.85)', lineHeight: 1.5, marginTop: 9, flex: 1 }}&gt;&#10;                    问一句：这次现场做的东西，把客户名换成另一个客户，还成立吗？成立，就是能力；不成立，就是定制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不要求全部抽象。抽象错了比不抽象更贵——会把客户的特殊需求塞进所有客户。&#10;                    &lt;/Text&gt;&#10;                &lt;/Box&gt;&#10;            &lt;/Box&gt;&#10;&#10;            &lt;Box style={{ flex: 1, background: '#F7F7F8', borderRadius: 4, padding: '0 17px', flexDirection: 'column', justifyContent: 'center' }}&gt;&#10;                &lt;Text style={{ fontSize: 14.5, fontWeight: 'bold', color: '#0F1423' }}&gt;四类典型可抽象物&lt;/Text&gt;&#10;                {[&#10;                    { k: '本体骨架', v: '某类行业的标准对象与链接模型' },&#10;                    { k: '管道模板', v: '幂等、重试、批次号的成熟写法' },&#10;                    { k: 'Agent 装配', v: '工具白名单、出口策略、记忆边界' },&#10;                    { k: '验收清单', v: '十二项检查的同类改造版' },&#10;                ].map((x) =&gt; (&#10;                    &lt;Box key={x.k} style={{ flexDirection: 'row', gap: 11, marginTop: 9, alignItems: 'center' }}&gt;&#10;                        &lt;Text style={{ fontSize: 12, fontWeight: 'bold', color: '#FA4F24', width: 78 }}&gt;{x.k}&lt;/Text&gt;&#10;                        &lt;Text style={{ fontSize: 12.5, color: '#3A4050', lineHeight: 1.35, flex: 1 }}&gt;{x.v}&lt;/Text&gt;&#10;                    &lt;/Box&gt;&#10;                ))}&#10;            &lt;/Box&gt;&#10;        &lt;/Box&gt;&#10;&#10;        {/* 下：可复用度分档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可复用度四档&lt;/Text&gt;&#10;                &lt;Text style={{ fontSize: 12.5, fontWeight: 'bold', color: '#0F1423', marginTop: 5, lineHeight: 1.4 }}&gt;现场必须当场判定&lt;/Text&gt;&#10;            &lt;/Box&gt;&#10;            {[&#10;                { k: 'A档全通用', v: '客户名一换就成立' },&#10;                { k: 'B档可配置', v: '骨架通用，参数不同' },&#10;                { k: 'C档半定制', v: '需改流程与密级' },&#10;                { k: 'D档纯定制', v: '只服务这一个客户' },&#10;            ].map((x) =&gt; (&#10;                &lt;Box key={x.k} style={{ flex: 1, background: '#F7F7F8', borderRadius: 4, padding: '0 14px', flexDirection: 'column', justifyContent: 'center' }}&gt;&#10;                    &lt;Text style={{ fontSize: 13, fontWeight: 'bold', color: x.k.startsWith('A') ? '#FA4F24' : x.k.startsWith('B') ? '#E0641E' : x.k.startsWith('C') ? '#5A6070' : '#8A8F99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5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抽象回流：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碎石路机制的第二段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一个客户做出来的东西，只有变成平台能力，才算这一轮的投入没白花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52" name=""/>
          <p:cNvSpPr/>
          <p:nvPr/>
        </p:nvSpPr>
        <p:spPr>
          <a:xfrm rot="0" flipH="0" flipV="0">
            <a:off x="609600" y="1343025"/>
            <a:ext cx="3590925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53" name=""/>
          <p:cNvSpPr/>
          <p:nvPr/>
        </p:nvSpPr>
        <p:spPr>
          <a:xfrm rot="0" flipH="0" flipV="0">
            <a:off x="762000" y="13430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847725" y="13906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1104900" y="1343025"/>
            <a:ext cx="685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A4F24"/>
                </a:solidFill>
                <a:latin typeface="Microsoft YaHei"/>
                <a:ea typeface="Microsoft YaHei"/>
              </a:rPr>
              <a:t>现场铺路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762000" y="1695450"/>
            <a:ext cx="3286125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在客户现场写生产代码，为这一个客户解决它的问题。不考虑通用性。</a:t>
            </a:r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762000" y="3048000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866775" y="30480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关键词：能跑</a:t>
            </a:r>
            <a:endParaRPr/>
          </a:p>
        </p:txBody>
      </p:sp>
      <p:sp>
        <p:nvSpPr>
          <p:cNvPr id="1159" name=""/>
          <p:cNvSpPr/>
          <p:nvPr/>
        </p:nvSpPr>
        <p:spPr>
          <a:xfrm rot="0" flipH="0" flipV="0">
            <a:off x="4305300" y="1343025"/>
            <a:ext cx="3581400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0" name=""/>
          <p:cNvSpPr/>
          <p:nvPr/>
        </p:nvSpPr>
        <p:spPr>
          <a:xfrm rot="0" flipH="0" flipV="0">
            <a:off x="4457700" y="13430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4543425" y="13906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4800600" y="1343025"/>
            <a:ext cx="857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0641E"/>
                </a:solidFill>
                <a:latin typeface="Microsoft YaHei"/>
                <a:ea typeface="Microsoft YaHei"/>
              </a:rPr>
              <a:t>总部找抽象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4457700" y="1695450"/>
            <a:ext cx="3276600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同一批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从各个现场带回经验，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Dev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在总部找出「哪些能变成一项能力」。</a:t>
            </a:r>
            <a:endParaRPr/>
          </a:p>
        </p:txBody>
      </p:sp>
      <p:sp>
        <p:nvSpPr>
          <p:cNvPr id="1164" name=""/>
          <p:cNvSpPr/>
          <p:nvPr/>
        </p:nvSpPr>
        <p:spPr>
          <a:xfrm rot="0" flipH="0" flipV="0">
            <a:off x="4457700" y="3048000"/>
            <a:ext cx="327660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4562475" y="3048000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关键词：能不能抽象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7991475" y="1343025"/>
            <a:ext cx="3590925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67" name=""/>
          <p:cNvSpPr/>
          <p:nvPr/>
        </p:nvSpPr>
        <p:spPr>
          <a:xfrm rot="0" flipH="0" flipV="0">
            <a:off x="8143875" y="13430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8229600" y="139065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8486775" y="1343025"/>
            <a:ext cx="102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43A17"/>
                </a:solidFill>
                <a:latin typeface="Microsoft YaHei"/>
                <a:ea typeface="Microsoft YaHei"/>
              </a:rPr>
              <a:t>铺成高速公路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8143875" y="1695450"/>
            <a:ext cx="3286125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能力进平台，推广到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5–10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个客户。第二次做同类场景，成本降到十分之一。</a:t>
            </a:r>
            <a:endParaRPr/>
          </a:p>
        </p:txBody>
      </p:sp>
      <p:sp>
        <p:nvSpPr>
          <p:cNvPr id="1171" name=""/>
          <p:cNvSpPr/>
          <p:nvPr/>
        </p:nvSpPr>
        <p:spPr>
          <a:xfrm rot="0" flipH="0" flipV="0">
            <a:off x="8143875" y="3048000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8248650" y="304800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关键词：复用</a:t>
            </a:r>
            <a:endParaRPr/>
          </a:p>
        </p:txBody>
      </p:sp>
      <p:sp>
        <p:nvSpPr>
          <p:cNvPr id="1173" name=""/>
          <p:cNvSpPr/>
          <p:nvPr/>
        </p:nvSpPr>
        <p:spPr>
          <a:xfrm rot="0" flipH="0" flipV="0">
            <a:off x="609600" y="3362325"/>
            <a:ext cx="4457700" cy="1714500"/>
          </a:xfrm>
          <a:prstGeom prst="roundRect">
            <a:avLst>
              <a:gd name="adj" fmla="val 22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抽象的判定标准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781050" y="3590925"/>
            <a:ext cx="41148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问一句：这次现场做的东西，把客户名换成另一个客户，还成立吗？成立，就是能力；不成立，就是定制。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781050" y="4676775"/>
            <a:ext cx="41148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895350" y="4676775"/>
            <a:ext cx="38862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不要求全部抽象。抽象错了比不抽象更贵——会把客户的特殊需求塞进所有客户。</a:t>
            </a:r>
            <a:endParaRPr/>
          </a:p>
        </p:txBody>
      </p:sp>
      <p:sp>
        <p:nvSpPr>
          <p:cNvPr id="1178" name=""/>
          <p:cNvSpPr/>
          <p:nvPr/>
        </p:nvSpPr>
        <p:spPr>
          <a:xfrm rot="0" flipH="0" flipV="0">
            <a:off x="5181600" y="3362325"/>
            <a:ext cx="6400800" cy="1714500"/>
          </a:xfrm>
          <a:prstGeom prst="roundRect">
            <a:avLst>
              <a:gd name="adj" fmla="val 222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5343525" y="3562350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四类典型可抽象物</a:t>
            </a:r>
            <a:endParaRPr/>
          </a:p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5343525" y="38481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本体骨架</a:t>
            </a:r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6191250" y="381952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某类行业的标准对象与链接模型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5343525" y="413385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管道模板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6191250" y="410527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幂等、重试、批次号的成熟写法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5343525" y="44196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6191250" y="439102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工具白名单、出口策略、记忆边界</a:t>
            </a:r>
            <a:endParaRPr/>
          </a:p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5343525" y="470535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验收清单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6191250" y="467677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十二项检查的同类改造版</a:t>
            </a:r>
            <a:endParaRPr/>
          </a:p>
        </p:txBody>
      </p:sp>
      <p:sp>
        <p:nvSpPr>
          <p:cNvPr id="1188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可复用度四档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现场必须当场判定</a:t>
            </a:r>
            <a:endParaRPr/>
          </a:p>
        </p:txBody>
      </p:sp>
      <p:sp>
        <p:nvSpPr>
          <p:cNvPr id="1191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A</a:t>
            </a: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档全通用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28384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客户名一换就成立</a:t>
            </a:r>
            <a:endParaRPr/>
          </a:p>
        </p:txBody>
      </p:sp>
      <p:sp>
        <p:nvSpPr>
          <p:cNvPr id="1194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0641E"/>
                </a:solidFill>
                <a:latin typeface="Microsoft YaHei"/>
                <a:ea typeface="Microsoft YaHei"/>
              </a:rPr>
              <a:t>B</a:t>
            </a:r>
            <a:r>
              <a:rPr lang="zh-CN" sz="975" b="1">
                <a:solidFill>
                  <a:srgbClr val="E0641E"/>
                </a:solidFill>
                <a:latin typeface="Microsoft YaHei"/>
                <a:ea typeface="Microsoft YaHei"/>
              </a:rPr>
              <a:t>档可配置</a:t>
            </a:r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50863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骨架通用，参数不同</a:t>
            </a:r>
            <a:endParaRPr/>
          </a:p>
        </p:txBody>
      </p:sp>
      <p:sp>
        <p:nvSpPr>
          <p:cNvPr id="1197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A6070"/>
                </a:solidFill>
                <a:latin typeface="Microsoft YaHei"/>
                <a:ea typeface="Microsoft YaHei"/>
              </a:rPr>
              <a:t>C</a:t>
            </a:r>
            <a:r>
              <a:rPr lang="zh-CN" sz="975" b="1">
                <a:solidFill>
                  <a:srgbClr val="5A6070"/>
                </a:solidFill>
                <a:latin typeface="Microsoft YaHei"/>
                <a:ea typeface="Microsoft YaHei"/>
              </a:rPr>
              <a:t>档半定制</a:t>
            </a:r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73342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需改流程与密级</a:t>
            </a:r>
            <a:endParaRPr/>
          </a:p>
        </p:txBody>
      </p:sp>
      <p:sp>
        <p:nvSpPr>
          <p:cNvPr id="1200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>D</a:t>
            </a: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档纯定制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95821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只服务这一个客户</a:t>
            </a:r>
            <a:endParaRPr/>
          </a:p>
        </p:txBody>
      </p:sp>
      <p:sp>
        <p:nvSpPr>
          <p:cNvPr id="120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04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/ 60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20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规模化瓶颈：&lt;span style={{ color: '#FA4F24' }}&gt;FDE 模式会不会被铺量压垮&lt;/span&gt;&#10;        &lt;/Text&gt;&#10;        &lt;Text style={{ fontSize: 20, color: '#8A8F99', marginTop: 8 }}&gt;&#10;            这是外界最常质疑的一点：一个人一个项目地贴身，怎么规模化？答案是「先不规模化」&#10;        &lt;/Text&gt;&#10;    &lt;/Box&gt;&#10;    &lt;Box style={{ height: 1, background: '#E8E8E8' }} /&gt;&#10;&#10;    &lt;Box style={{ paddingTop: 20, paddingBottom: 14, height: 479, flexDirection: 'column', gap: 13 }}&gt;&#10;&#10;        {/* 上：三个瓶颈与三个机制 */}&#10;        &lt;Box style={{ flex: 1, flexDirection: 'row', gap: 12 }}&gt;&#10;            &lt;Box style={{ flex: 1, background: '#FFF3EE', borderRadius: 4, padding: '0 16px', flexDirection: 'column', justifyContent: 'center', borderLeft: '4px solid #FA4F24' }}&gt;&#10;                &lt;Text style={{ fontSize: 14.5, fontWeight: 'bold', color: '#C43A17' }}&gt;瓶颈一：人力线性增长&lt;/Text&gt;&#10;                &lt;Text style={{ fontSize: 12, color: '#3A4050', lineHeight: 1.5, marginTop: 10, flex: 1 }}&gt;&#10;                    每个客户都要 2–4 名 FDE 常驻，客户数翻倍，人力就翻倍。规模化的前提是「一个客户不需要这么多」。&#10;                &lt;/Text&gt;&#10;                &lt;Text style={{ fontSize: 11.5, fontWeight: 'bold', color: '#C43A17', marginTop: 9 }}&gt;对策：抽象先行，让第二个客户更便宜&lt;/Text&gt;&#10;            &lt;/Box&gt;&#10;            &lt;Box style={{ flex: 1, background: '#FFF3EE', borderRadius: 4, padding: '0 16px', flexDirection: 'column', justifyContent: 'center', borderLeft: '4px solid #FA4F24' }}&gt;&#10;                &lt;Text style={{ fontSize: 14.5, fontWeight: 'bold', color: '#C43A17' }}&gt;瓶颈二：知识不沉淀&lt;/Text&gt;&#10;                &lt;Text style={{ fontSize: 12, color: '#3A4050', lineHeight: 1.5, marginTop: 10, flex: 1 }}&gt;&#10;                    FDE 离职带走全部经验，下一个客户从零开始。表面看是人才流失，实质是知识没有资产化。&#10;                &lt;/Text&gt;&#10;                &lt;Text style={{ fontSize: 11.5, fontWeight: 'bold', color: '#C43A17', marginTop: 9 }}&gt;对策：交付物强制回流为平台资产&lt;/Text&gt;&#10;            &lt;/Box&gt;&#10;            &lt;Box style={{ flex: 1, background: '#FFF3EE', borderRadius: 4, padding: '0 16px', flexDirection: 'column', justifyContent: 'center', borderLeft: '4px solid #FA4F24' }}&gt;&#10;                &lt;Text style={{ fontSize: 14.5, fontWeight: 'bold', color: '#C43A17' }}&gt;瓶颈三：客户方接不住&lt;/Text&gt;&#10;                &lt;Text style={{ fontSize: 12, color: '#3A4050', lineHeight: 1.5, marginTop: 10, flex: 1 }}&gt;&#10;                    系统跑在客户环境，但运维靠 FDE。FDE 一撤，系统跟着停。这是客户最不敢接受的形态。&#10;                &lt;/Text&gt;&#10;                &lt;Text style={{ fontSize: 11.5, fontWeight: 'bold', color: '#C43A17', marginTop: 9 }}&gt;对策：运营移交作为交付终点&lt;/Text&gt;&#10;            &lt;/Box&gt;&#10;        &lt;/Box&gt;&#10;&#10;        {/* 中：官方配比 */}&#10;        &lt;Box style={{ height: 182, flexDirection: 'row', gap: 12 }}&gt;&#10;            &lt;Box style={{ width: 456, background: '#0F1423', borderRadius: 4, padding: '0 18px', flexDirection: 'column', justifyContent: 'center' }}&gt;&#10;                &lt;Text style={{ fontSize: 12, color: '#FBA15C', letterSpacing: 2 }}&gt;规模化并不靠堆人&lt;/Text&gt;&#10;                &lt;Text style={{ fontSize: 12.5, color: 'rgba(255,255,255,0.85)', lineHeight: 1.5, marginTop: 9, flex: 1 }}&gt;&#10;                    每 200–500 万美元企业管道配 1 名 FDE。2016 年起 FDE 数量超过传统软件工程师——说明这类岗位的产出密度高于按项目交付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规模化的分母不是人数，是「每个客户复用了多少上一次的东西」。&#10;                    &lt;/Text&gt;&#10;                &lt;/Box&gt;&#10;            &lt;/Box&gt;&#10;&#10;            &lt;Box style={{ flex: 1, flexDirection: 'column', gap: 10 }}&gt;&#10;                &lt;Box style={{ flex: 1, background: '#F7F7F8', borderRadius: 4, padding: '0 16px', flexDirection: 'column', justifyContent: 'center' }}&gt;&#10;                    &lt;Text style={{ fontSize: 14, fontWeight: 'bold', color: '#0F1423' }}&gt;降本的三条真实路径&lt;/Text&gt;&#10;                    {[&#10;                        { k: '模板化', v: '管道、Agent、验收清单做成可填空模板' },&#10;                        { k: '参数化', v: 'B 档能力做成配置项，不改代码' },&#10;                        { k: '交接化', v: '运营移交给客户方，FDE 转下一个场景' },&#10;                    ].map((x) =&gt; (&#10;                        &lt;Box key={x.k} style={{ flexDirection: 'row', gap: 11, marginTop: 8, alignItems: 'center' }}&gt;&#10;                            &lt;Text style={{ fontSize: 12, fontWeight: 'bold', color: '#FA4F24', width: 62 }}&gt;{x.k}&lt;/Text&gt;&#10;                            &lt;Text style={{ fontSize: 12.5, color: '#3A4050', lineHeight: 1.35, flex: 1 }}&gt;{x.v}&lt;/Text&gt;&#10;                        &lt;/Box&gt;&#10;                    ))}&#10;                &lt;/Box&gt;&#10;                &lt;Box style={{ height: 64, background: '#FFF3EE', borderRadius: 4, padding: '0 15px', flexDirection: 'row', alignItems: 'center', gap: 12 }}&gt;&#10;                    &lt;Text style={{ fontSize: 13, fontWeight: 'bold', color: '#C43A17', width: 92 }}&gt;时间杠杆&lt;/Text&gt;&#10;                    &lt;Text style={{ fontSize: 11.5, color: '#3A4050', lineHeight: 1.4, flex: 1 }}&gt;&#10;                        3–6 个月的传统交付被压到约 5 天，靠的不是加班，是砍掉等待与审批。&#10;                    &lt;/Text&gt;&#10;                &lt;/Box&gt;&#10;            &lt;/Box&gt;&#10;        &lt;/Box&gt;&#10;&#10;        {/* 下：判断标准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怎么判断是否具备复制性&lt;/Text&gt;&#10;                &lt;Text style={{ fontSize: 12.5, fontWeight: 'bold', color: '#0F1423', marginTop: 5, lineHeight: 1.4 }}&gt;看第二个客户，而不是看第一个&lt;/Text&gt;&#10;            &lt;/Box&gt;&#10;            {[&#10;                { k: '复用比', v: '第二客户复用上一次产物的比例' },&#10;                { k: '周期比', v: '第二客户上线周期 ÷ 第一客户' },&#10;                { k: '人力比', v: '第二客户投入人天 ÷ 第一客户' },&#10;            ].map((x) =&gt; (&#10;                &lt;Box key={x.k} style={{ flex: 1, background: '#F7F7F8', borderRadius: 4, padding: '0 14px', flexDirection: 'column', justifyContent: 'center' }}&gt;&#10;                    &lt;Text style={{ fontSize: 13, fontWeight: 'bold', color: '#0F1423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6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规模化瓶颈：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模式会不会被铺量压垮</a:t>
            </a:r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这是外界最常质疑的一点：一个人一个项目地贴身，怎么规模化？答案是「先不规模化」</a:t>
            </a:r>
            <a:endParaRPr/>
          </a:p>
        </p:txBody>
      </p:sp>
      <p:sp>
        <p:nvSpPr>
          <p:cNvPr id="121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2" name=""/>
          <p:cNvSpPr/>
          <p:nvPr/>
        </p:nvSpPr>
        <p:spPr>
          <a:xfrm rot="0" flipH="0" flipV="0">
            <a:off x="647700" y="1343025"/>
            <a:ext cx="3581400" cy="1876425"/>
          </a:xfrm>
          <a:prstGeom prst="roundRect">
            <a:avLst>
              <a:gd name="adj" fmla="val 203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13" name=""/>
          <p:cNvSpPr/>
          <p:nvPr/>
        </p:nvSpPr>
        <p:spPr>
          <a:xfrm rot="0" flipH="0" flipV="0">
            <a:off x="647700" y="1343025"/>
            <a:ext cx="3581400" cy="1876425"/>
          </a:xfrm>
          <a:custGeom>
            <a:pathLst>
              <a:path w="376" h="197">
                <a:moveTo>
                  <a:pt x="4" y="197"/>
                </a:moveTo>
                <a:cubicBezTo>
                  <a:pt x="2" y="197"/>
                  <a:pt x="0" y="195"/>
                  <a:pt x="0" y="19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800100" y="13430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瓶颈一：人力线性增长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800100" y="1609725"/>
            <a:ext cx="32385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每个客户都要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2–4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名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常驻，客户数翻倍，人力就翻倍。规模化的前提是「一个客户不需要这么多」。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800100" y="308610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对策：抽象先行，让第二个客户更便宜</a:t>
            </a:r>
            <a:endParaRPr/>
          </a:p>
        </p:txBody>
      </p:sp>
      <p:sp>
        <p:nvSpPr>
          <p:cNvPr id="1217" name=""/>
          <p:cNvSpPr/>
          <p:nvPr/>
        </p:nvSpPr>
        <p:spPr>
          <a:xfrm rot="0" flipH="0" flipV="0">
            <a:off x="4343400" y="1343025"/>
            <a:ext cx="3581400" cy="1876425"/>
          </a:xfrm>
          <a:prstGeom prst="roundRect">
            <a:avLst>
              <a:gd name="adj" fmla="val 203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18" name=""/>
          <p:cNvSpPr/>
          <p:nvPr/>
        </p:nvSpPr>
        <p:spPr>
          <a:xfrm rot="0" flipH="0" flipV="0">
            <a:off x="4343400" y="1343025"/>
            <a:ext cx="3581400" cy="1876425"/>
          </a:xfrm>
          <a:custGeom>
            <a:pathLst>
              <a:path w="376" h="197">
                <a:moveTo>
                  <a:pt x="4" y="197"/>
                </a:moveTo>
                <a:cubicBezTo>
                  <a:pt x="2" y="197"/>
                  <a:pt x="0" y="195"/>
                  <a:pt x="0" y="19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4495800" y="13430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瓶颈二：知识不沉淀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4495800" y="1609725"/>
            <a:ext cx="32385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离职带走全部经验，下一个客户从零开始。表面看是人才流失，实质是知识没有资产化。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4495800" y="308610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对策：交付物强制回流为平台资产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8039100" y="1343025"/>
            <a:ext cx="3581400" cy="1876425"/>
          </a:xfrm>
          <a:prstGeom prst="roundRect">
            <a:avLst>
              <a:gd name="adj" fmla="val 203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23" name=""/>
          <p:cNvSpPr/>
          <p:nvPr/>
        </p:nvSpPr>
        <p:spPr>
          <a:xfrm rot="0" flipH="0" flipV="0">
            <a:off x="8039100" y="1343025"/>
            <a:ext cx="3581400" cy="1876425"/>
          </a:xfrm>
          <a:custGeom>
            <a:pathLst>
              <a:path w="376" h="197">
                <a:moveTo>
                  <a:pt x="4" y="197"/>
                </a:moveTo>
                <a:cubicBezTo>
                  <a:pt x="2" y="197"/>
                  <a:pt x="0" y="195"/>
                  <a:pt x="0" y="19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8191500" y="1343025"/>
            <a:ext cx="323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瓶颈三：客户方接不住</a:t>
            </a:r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8191500" y="1609725"/>
            <a:ext cx="32385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系统跑在客户环境，但运维靠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一撤，系统跟着停。这是客户最不敢接受的形态。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8191500" y="3086100"/>
            <a:ext cx="3238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对策：运营移交作为交付终点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609600" y="3343275"/>
            <a:ext cx="4343400" cy="1733550"/>
          </a:xfrm>
          <a:prstGeom prst="roundRect">
            <a:avLst>
              <a:gd name="adj" fmla="val 219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781050" y="334327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规模化并不靠堆人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781050" y="3571875"/>
            <a:ext cx="40005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200–500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万美元企业管道配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名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2016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年起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数量超过传统软件工程师——说明这类岗位的产出密度高于按项目交付。</a:t>
            </a:r>
            <a:endParaRPr/>
          </a:p>
        </p:txBody>
      </p:sp>
      <p:sp>
        <p:nvSpPr>
          <p:cNvPr id="1230" name=""/>
          <p:cNvSpPr/>
          <p:nvPr/>
        </p:nvSpPr>
        <p:spPr>
          <a:xfrm rot="0" flipH="0" flipV="0">
            <a:off x="781050" y="4876800"/>
            <a:ext cx="4000500" cy="200025"/>
          </a:xfrm>
          <a:prstGeom prst="roundRect">
            <a:avLst>
              <a:gd name="adj" fmla="val 14286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895350" y="4876800"/>
            <a:ext cx="37719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规模化的分母不是人数，是「每个客户复用了多少上一次的东西」。</a:t>
            </a:r>
            <a:endParaRPr/>
          </a:p>
        </p:txBody>
      </p:sp>
      <p:sp>
        <p:nvSpPr>
          <p:cNvPr id="1232" name=""/>
          <p:cNvSpPr/>
          <p:nvPr/>
        </p:nvSpPr>
        <p:spPr>
          <a:xfrm rot="0" flipH="0" flipV="0">
            <a:off x="5067300" y="3343275"/>
            <a:ext cx="6515100" cy="1028700"/>
          </a:xfrm>
          <a:prstGeom prst="roundRect">
            <a:avLst>
              <a:gd name="adj" fmla="val 370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5219700" y="3362325"/>
            <a:ext cx="621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降本的三条真实路径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5219700" y="36290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模板化</a:t>
            </a:r>
            <a:endParaRPr/>
          </a:p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5915025" y="3600450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管道、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Agent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、验收清单做成可填空模板</a:t>
            </a:r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5219700" y="39052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参数化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5915025" y="3876675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档能力做成配置项，不改代码</a:t>
            </a:r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5219700" y="41814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交接化</a:t>
            </a:r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5915025" y="4152900"/>
            <a:ext cx="551497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运营移交给客户方，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转下一个场景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5067300" y="4467225"/>
            <a:ext cx="6515100" cy="609600"/>
          </a:xfrm>
          <a:prstGeom prst="roundRect">
            <a:avLst>
              <a:gd name="adj" fmla="val 62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5210175" y="46958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时间杠杆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6200775" y="4676775"/>
            <a:ext cx="52387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3–6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个月的传统交付被压到约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天，靠的不是加班，是砍掉等待与审批。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怎么判断是否具备复制性</a:t>
            </a:r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看第二个客户，而不是看第一个</a:t>
            </a:r>
            <a:endParaRPr/>
          </a:p>
        </p:txBody>
      </p:sp>
      <p:sp>
        <p:nvSpPr>
          <p:cNvPr id="1246" name=""/>
          <p:cNvSpPr/>
          <p:nvPr/>
        </p:nvSpPr>
        <p:spPr>
          <a:xfrm rot="0" flipH="0" flipV="0">
            <a:off x="2705100" y="5200650"/>
            <a:ext cx="28860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复用比</a:t>
            </a:r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2838450" y="541020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第二客户复用上一次产物的比例</a:t>
            </a:r>
            <a:endParaRPr/>
          </a:p>
        </p:txBody>
      </p:sp>
      <p:sp>
        <p:nvSpPr>
          <p:cNvPr id="1249" name=""/>
          <p:cNvSpPr/>
          <p:nvPr/>
        </p:nvSpPr>
        <p:spPr>
          <a:xfrm rot="0" flipH="0" flipV="0">
            <a:off x="5705475" y="5200650"/>
            <a:ext cx="287655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5838825" y="5210175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周期比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5838825" y="5410200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第二客户上线周期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第一客户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8696325" y="5200650"/>
            <a:ext cx="28860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8829675" y="5210175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人力比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8829675" y="541020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第二客户投入人天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第一客户</a:t>
            </a:r>
            <a:endParaRPr/>
          </a:p>
        </p:txBody>
      </p:sp>
      <p:sp>
        <p:nvSpPr>
          <p:cNvPr id="125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26 / 60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259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3&lt;/Text&gt;&#13;&#10;  &lt;/Box&gt;&#13;&#10;&#13;&#10;  &lt;Box style={{ position: 'absolute', left: 88, top: 240, width: 700, flexDirection: 'column' }}&gt;&#13;&#10;    &lt;Text style={{ fontSize: 15, color: 'rgba(255,255,255,0.5)', letterSpacing: 3 }}&gt;PART 03&lt;/Text&gt;&#13;&#10;    &lt;Box style={{ width: 72, height: 5, background: '#FA4F24', marginTop: 22 }} /&gt;&#13;&#10;    &lt;Text style={{ fontSize: 56, fontWeight: 'bold', color: '#FFFFFF', marginTop: 28, lineHeight: 1.15 }}&gt;场景实战&lt;/Text&gt;&#13;&#10;    &lt;Text style={{ fontSize: 17, color: 'rgba(255,255,255,0.62)', letterSpacing: 2, marginTop: 20 }}&gt;IN THE FIELD&lt;/Text&gt;&#13;&#10;    &lt;Text style={{ fontSize: 19, color: 'rgba(255,255,255,0.85)', marginTop: 26, lineHeight: 1.6 }}&gt;Bootcamp 五天节奏、三个真实现场、三类失败复盘与现场作战手册&lt;/Text&gt;&#13;&#10;  &lt;/Box&gt;&#13;&#10;&#13;&#10;  &lt;Box style={{ position: 'absolute', left: 88, top: 520, flexDirection: 'row', gap: 34 }}&gt;&#13;&#10;    {[&#13;&#10;      { k: '5 天', v: 'Bootcamp 节奏' },&#13;&#10;      { k: '3 现场', v: '制造 / 能源 / 招标' },&#13;&#10;      { k: '3 类失败', v: '为什么交付失败' },&#13;&#10;      { k: '12 项', v: '上线验收清单' }&#13;&#10;    ].map((x, i) =&gt; (&#13;&#10;      &lt;Box key={x.k} style={{ opacity: 0.72 }}&gt;&#13;&#10;        &lt;Text style={{ fontSize: 12.5, color: '#FBA15C', fontWeight: 'bold' }}&gt;{x.k}&lt;/Text&gt;&#13;&#10;        &lt;Text style={{ fontSize: 12, color: 'rgba(255,255,255,0.8)', marginTop: 4 }}&gt;{x.v}&lt;/Text&gt;&#13;&#10;      &lt;/Box&gt;&#13;&#10;    ))}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FDE咨询方法论&lt;/Text&gt;&#13;&#10;    &lt;Text style={{ fontSize: 14, color: 'rgba(255,255,255,0.5)', marginLeft: 12 }}&gt;27 / 6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6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1265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666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场景实战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IN THE FIELD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五天节奏、三个真实现场、三类失败复盘与现场作战手册</a:t>
            </a:r>
            <a:endParaRPr/>
          </a:p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82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82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节奏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1990725" y="4953000"/>
            <a:ext cx="923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现场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1990725" y="5133975"/>
            <a:ext cx="923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制造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能源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招标</a:t>
            </a:r>
            <a:endParaRPr/>
          </a:p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3238500" y="49530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类失败</a:t>
            </a:r>
            <a:endParaRPr/>
          </a:p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3238500" y="51339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为什么交付失败</a:t>
            </a:r>
            <a:endParaRPr/>
          </a:p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4362450" y="4953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4362450" y="51339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上线验收清单</a:t>
            </a:r>
            <a:endParaRPr/>
          </a:p>
        </p:txBody>
      </p:sp>
      <p:sp>
        <p:nvSpPr>
          <p:cNvPr id="1277" name=""/>
          <p:cNvSpPr/>
          <p:nvPr/>
        </p:nvSpPr>
        <p:spPr>
          <a:xfrm rot="0" flipH="0" flipV="0">
            <a:off x="88582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9105900" y="608647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27 / 60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28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Bootcamp 五天：&lt;span style={{ color: '#FA4F24' }}&gt;把 FDE 方法压成可复制的最短闭环&lt;/span&gt;&#10;        &lt;/Text&gt;&#10;        &lt;Text style={{ fontSize: 20, color: '#8A8F99', marginTop: 8 }}&gt;&#10;            它不是培训营，是一次真实的现场交付。第五天没有结业式，只有移交清单&#10;        &lt;/Text&gt;&#10;    &lt;/Box&gt;&#10;    &lt;Box style={{ height: 1, background: '#E8E8E8' }} /&gt;&#10;&#10;    &lt;Box style={{ paddingTop: 20, paddingBottom: 14, height: 479, flexDirection: 'column', gap: 13 }}&gt;&#10;&#10;        {/* 上：五天节奏条 */}&#10;        &lt;Box style={{ flex: 1, flexDirection: 'row', gap: 10 }}&gt;&#10;            {[&#10;                { d: 'D1', k: '现场', c: '#FA4F24', o: '进客户环境，见决策者' },&#10;                { d: 'D2', k: '建模', c: '#E0641E', o: '对象、链接、密级' },&#10;                { d: 'D3', k: '跑通', c: '#C43A17', o: '交出可运行应用' },&#10;                { d: 'D4', k: '贴人', c: '#A83310', o: '作业员实际使用' },&#10;                { d: 'D5', k: '移交', c: '#8A2A0D', o: '六件交付物签收' },&#10;            ].map((x) =&gt; (&#10;                &lt;Box key={x.d} style={{ flex: 1, background: '#F7F7F8', borderRadius: 4, padding: '0 14px', flexDirection: 'column', justifyContent: 'center', borderTop: `3px solid ${x.c}` }}&gt;&#10;                    &lt;Text style={{ fontSize: 24, fontWeight: 'bold', color: x.c }}&gt;{x.d}&lt;/Text&gt;&#10;                    &lt;Text style={{ fontSize: 15, fontWeight: 'bold', color: '#0F1423', marginTop: 6 }}&gt;{x.k}&lt;/Text&gt;&#10;                    &lt;Text style={{ fontSize: 11.5, color: '#3A4050', lineHeight: 1.4, marginTop: 9, flex: 1 }}&gt;{x.o}&lt;/Text&gt;&#10;                &lt;/Box&gt;&#10;            ))}&#10;        &lt;/Box&gt;&#10;&#10;        {/* 中：三条硬约束 + 淘汰标准 */}&#10;        &lt;Box style={{ height: 190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三条不可协商的硬约束&lt;/Text&gt;&#10;                {[&#10;                    { k: '不脱产', v: 'Bootcamp 全程在客户现场，不在会议室' },&#10;                    { k: '不放过', v: '当天提的方案当天拍板，不允许挂起等审批' },&#10;                    { k: '不做全', v: '只做一个场景的一条链路，其余明确不做' },&#10;                ].map((x) =&gt; (&#10;                    &lt;Box key={x.k} style={{ flexDirection: 'row', gap: 12, marginTop: 11, alignItems: 'flex-start' }}&gt;&#10;                        &lt;Text style={{ fontSize: 12, fontWeight: 'bold', color: '#FBA15C', width: 6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五天内被淘汰的三种表现&lt;/Text&gt;&#10;                {[&#10;                    { k: '手不碰生产', v: '只让客户演示，FDE 自己没写一行现场代码' },&#10;                    { k: '嘴不挖真相', v: '没跟作业员聊过，只听管理层汇报' },&#10;                    { k: '心不回流', v: '交付完就走，没想过哪部分能变平台能力' },&#10;                ].map((x) =&gt; (&#10;                    &lt;Box key={x.k} style={{ flexDirection: 'row', gap: 11, marginTop: 11, alignItems: 'flex-start' }}&gt;&#10;                        &lt;Text style={{ fontSize: 12, fontWeight: 'bold', color: '#C43A17', width: 86 }}&gt;{x.k}&lt;/Text&gt;&#10;                        &lt;Text style={{ fontSize: 12.5, color: '#3A4050', lineHeight: 1.4, flex: 1 }}&gt;{x.v}&lt;/Text&gt;&#10;                    &lt;/Box&gt;&#10;                ))}&#10;            &lt;/Box&gt;&#10;        &lt;/Box&gt;&#10;&#10;        {/* 下：与传统培训的区别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与传统培训的区别&lt;/Text&gt;&#10;                &lt;Text style={{ fontSize: 12.5, fontWeight: 'bold', color: '#0F1423', marginTop: 5, lineHeight: 1.4 }}&gt;唯一标准是客户有没有在用&lt;/Text&gt;&#10;            &lt;/Box&gt;&#10;            {[&#10;                { k: '课堂作业', v: '评委看的是分数' },&#10;                { k: '方案评审', v: '评委看的是逻辑' },&#10;                { k: 'Bootcamp', v: '客户看的是有没有人天天登录' },&#10;            ].map((x, i) =&gt; (&#10;                &lt;Box key={x.k} style={{ flex: 1, background: i === 2 ? '#FFF3EE' : '#F7F7F8', borderRadius: 4, padding: '0 14px', flexDirection: 'column', justifyContent: 'center', borderLeft: i === 2 ? '4px solid #FA4F24' : 'none' }}&gt;&#10;                    &lt;Text style={{ fontSize: 13.5, fontWeight: 'bold', color: i === 2 ? '#C43A17' : '#5A6070' }}&gt;{x.k}&lt;/Text&gt;&#10;                    &lt;Text style={{ fontSize: 11.5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8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五天：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方法压成可复制的最短闭环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它不是培训营，是一次真实的现场交付。第五天没有结业式，只有移交清单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85" name=""/>
          <p:cNvSpPr/>
          <p:nvPr/>
        </p:nvSpPr>
        <p:spPr>
          <a:xfrm rot="0" flipH="0" flipV="0">
            <a:off x="609600" y="1371600"/>
            <a:ext cx="2114550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6" name=""/>
          <p:cNvSpPr/>
          <p:nvPr/>
        </p:nvSpPr>
        <p:spPr>
          <a:xfrm rot="0" flipH="0" flipV="0">
            <a:off x="609600" y="1371600"/>
            <a:ext cx="2114550" cy="1790700"/>
          </a:xfrm>
          <a:custGeom>
            <a:pathLst>
              <a:path w="222" h="188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742950" y="1371600"/>
            <a:ext cx="1847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742950" y="1704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现场</a:t>
            </a:r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742950" y="1962150"/>
            <a:ext cx="1847850" cy="1171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进客户环境，见决策者</a:t>
            </a:r>
            <a:endParaRPr/>
          </a:p>
        </p:txBody>
      </p:sp>
      <p:sp>
        <p:nvSpPr>
          <p:cNvPr id="1290" name=""/>
          <p:cNvSpPr/>
          <p:nvPr/>
        </p:nvSpPr>
        <p:spPr>
          <a:xfrm rot="0" flipH="0" flipV="0">
            <a:off x="2819400" y="1371600"/>
            <a:ext cx="2124075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1" name=""/>
          <p:cNvSpPr/>
          <p:nvPr/>
        </p:nvSpPr>
        <p:spPr>
          <a:xfrm rot="0" flipH="0" flipV="0">
            <a:off x="2819400" y="1371600"/>
            <a:ext cx="2124075" cy="1790700"/>
          </a:xfrm>
          <a:custGeom>
            <a:pathLst>
              <a:path w="223" h="188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2952750" y="1371600"/>
            <a:ext cx="1857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0641E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2952750" y="17049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建模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2952750" y="1962150"/>
            <a:ext cx="1857375" cy="1171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对象、链接、密级</a:t>
            </a:r>
            <a:endParaRPr/>
          </a:p>
        </p:txBody>
      </p:sp>
      <p:sp>
        <p:nvSpPr>
          <p:cNvPr id="1295" name=""/>
          <p:cNvSpPr/>
          <p:nvPr/>
        </p:nvSpPr>
        <p:spPr>
          <a:xfrm rot="0" flipH="0" flipV="0">
            <a:off x="5038725" y="1371600"/>
            <a:ext cx="2114550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6" name=""/>
          <p:cNvSpPr/>
          <p:nvPr/>
        </p:nvSpPr>
        <p:spPr>
          <a:xfrm rot="0" flipH="0" flipV="0">
            <a:off x="5038725" y="1371600"/>
            <a:ext cx="2114550" cy="1790700"/>
          </a:xfrm>
          <a:custGeom>
            <a:pathLst>
              <a:path w="222" h="188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5172075" y="1371600"/>
            <a:ext cx="1847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43A17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5172075" y="1704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跑通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5172075" y="1962150"/>
            <a:ext cx="1847850" cy="1171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交出可运行应用</a:t>
            </a:r>
            <a:endParaRPr/>
          </a:p>
        </p:txBody>
      </p:sp>
      <p:sp>
        <p:nvSpPr>
          <p:cNvPr id="1300" name=""/>
          <p:cNvSpPr/>
          <p:nvPr/>
        </p:nvSpPr>
        <p:spPr>
          <a:xfrm rot="0" flipH="0" flipV="0">
            <a:off x="7248525" y="1371600"/>
            <a:ext cx="2124075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1" name=""/>
          <p:cNvSpPr/>
          <p:nvPr/>
        </p:nvSpPr>
        <p:spPr>
          <a:xfrm rot="0" flipH="0" flipV="0">
            <a:off x="7248525" y="1371600"/>
            <a:ext cx="2124075" cy="1790700"/>
          </a:xfrm>
          <a:custGeom>
            <a:pathLst>
              <a:path w="223" h="188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7381875" y="1371600"/>
            <a:ext cx="1857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A83310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7381875" y="17049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贴人</a:t>
            </a:r>
            <a:endParaRPr/>
          </a:p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7381875" y="1962150"/>
            <a:ext cx="1857375" cy="1171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作业员实际使用</a:t>
            </a:r>
            <a:endParaRPr/>
          </a:p>
        </p:txBody>
      </p:sp>
      <p:sp>
        <p:nvSpPr>
          <p:cNvPr id="1305" name=""/>
          <p:cNvSpPr/>
          <p:nvPr/>
        </p:nvSpPr>
        <p:spPr>
          <a:xfrm rot="0" flipH="0" flipV="0">
            <a:off x="9467850" y="1371600"/>
            <a:ext cx="2114550" cy="1790700"/>
          </a:xfrm>
          <a:prstGeom prst="roundRect">
            <a:avLst>
              <a:gd name="adj" fmla="val 2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06" name=""/>
          <p:cNvSpPr/>
          <p:nvPr/>
        </p:nvSpPr>
        <p:spPr>
          <a:xfrm rot="0" flipH="0" flipV="0">
            <a:off x="9467850" y="1371600"/>
            <a:ext cx="2114550" cy="1790700"/>
          </a:xfrm>
          <a:custGeom>
            <a:pathLst>
              <a:path w="222" h="188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8A2A0D"/>
          </a:soli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9601200" y="1371600"/>
            <a:ext cx="1847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8A2A0D"/>
                </a:solidFill>
                <a:latin typeface="Microsoft YaHei"/>
                <a:ea typeface="Microsoft YaHei"/>
              </a:rPr>
              <a:t>D5</a:t>
            </a:r>
            <a:endParaRPr/>
          </a:p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9601200" y="1704975"/>
            <a:ext cx="1847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移交</a:t>
            </a:r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9601200" y="1962150"/>
            <a:ext cx="1847850" cy="1171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六件交付物签收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609600" y="3257550"/>
            <a:ext cx="44577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781050" y="363855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三条不可协商的硬约束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781050" y="38862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不脱产</a:t>
            </a:r>
            <a:endParaRPr/>
          </a:p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1485900" y="38862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全程在客户现场，不在会议室</a:t>
            </a:r>
            <a:endParaRPr/>
          </a:p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不放过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1485900" y="41910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当天提的方案当天拍板，不允许挂起等审批</a:t>
            </a:r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不做全</a:t>
            </a:r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1485900" y="44958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只做一个场景的一条链路，其余明确不做</a:t>
            </a:r>
            <a:endParaRPr/>
          </a:p>
        </p:txBody>
      </p:sp>
      <p:sp>
        <p:nvSpPr>
          <p:cNvPr id="1318" name=""/>
          <p:cNvSpPr/>
          <p:nvPr/>
        </p:nvSpPr>
        <p:spPr>
          <a:xfrm rot="0" flipH="0" flipV="0">
            <a:off x="5219700" y="3257550"/>
            <a:ext cx="6400800" cy="1809750"/>
          </a:xfrm>
          <a:prstGeom prst="roundRect">
            <a:avLst>
              <a:gd name="adj" fmla="val 210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19" name=""/>
          <p:cNvSpPr/>
          <p:nvPr/>
        </p:nvSpPr>
        <p:spPr>
          <a:xfrm rot="0" flipH="0" flipV="0">
            <a:off x="5219700" y="3257550"/>
            <a:ext cx="6400800" cy="1809750"/>
          </a:xfrm>
          <a:custGeom>
            <a:pathLst>
              <a:path w="672" h="190">
                <a:moveTo>
                  <a:pt x="4" y="190"/>
                </a:moveTo>
                <a:cubicBezTo>
                  <a:pt x="2" y="190"/>
                  <a:pt x="0" y="188"/>
                  <a:pt x="0" y="18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5381625" y="361950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五天内被淘汰的三种表现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5381625" y="389572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手不碰生产</a:t>
            </a:r>
            <a:endParaRPr/>
          </a:p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6305550" y="3895725"/>
            <a:ext cx="51149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只让客户演示，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自己没写一行现场代码</a:t>
            </a:r>
            <a:endParaRPr/>
          </a:p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5381625" y="420052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嘴不挖真相</a:t>
            </a:r>
            <a:endParaRPr/>
          </a:p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6305550" y="4200525"/>
            <a:ext cx="51149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没跟作业员聊过，只听管理层汇报</a:t>
            </a:r>
            <a:endParaRPr/>
          </a:p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5381625" y="450532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心不回流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6305550" y="4505325"/>
            <a:ext cx="51149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交付完就走，没想过哪部分能变平台能力</a:t>
            </a:r>
            <a:endParaRPr/>
          </a:p>
        </p:txBody>
      </p:sp>
      <p:sp>
        <p:nvSpPr>
          <p:cNvPr id="1327" name=""/>
          <p:cNvSpPr/>
          <p:nvPr/>
        </p:nvSpPr>
        <p:spPr>
          <a:xfrm rot="0" flipH="0" flipV="0">
            <a:off x="609600" y="5191125"/>
            <a:ext cx="1981200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与传统培训的区别</a:t>
            </a:r>
            <a:endParaRPr/>
          </a:p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唯一标准是客户有没有在用</a:t>
            </a:r>
            <a:endParaRPr/>
          </a:p>
        </p:txBody>
      </p:sp>
      <p:sp>
        <p:nvSpPr>
          <p:cNvPr id="1330" name=""/>
          <p:cNvSpPr/>
          <p:nvPr/>
        </p:nvSpPr>
        <p:spPr>
          <a:xfrm rot="0" flipH="0" flipV="0">
            <a:off x="2705100" y="5191125"/>
            <a:ext cx="2886075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2838450" y="5191125"/>
            <a:ext cx="2619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5A6070"/>
                </a:solidFill>
                <a:latin typeface="Microsoft YaHei"/>
                <a:ea typeface="Microsoft YaHei"/>
              </a:rPr>
              <a:t>课堂作业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26193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评委看的是分数</a:t>
            </a:r>
            <a:endParaRPr/>
          </a:p>
        </p:txBody>
      </p:sp>
      <p:sp>
        <p:nvSpPr>
          <p:cNvPr id="1333" name=""/>
          <p:cNvSpPr/>
          <p:nvPr/>
        </p:nvSpPr>
        <p:spPr>
          <a:xfrm rot="0" flipH="0" flipV="0">
            <a:off x="5705475" y="5191125"/>
            <a:ext cx="2876550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5838825" y="5191125"/>
            <a:ext cx="260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5A6070"/>
                </a:solidFill>
                <a:latin typeface="Microsoft YaHei"/>
                <a:ea typeface="Microsoft YaHei"/>
              </a:rPr>
              <a:t>方案评审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5838825" y="5400675"/>
            <a:ext cx="26098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评委看的是逻辑</a:t>
            </a:r>
            <a:endParaRPr/>
          </a:p>
        </p:txBody>
      </p:sp>
      <p:sp>
        <p:nvSpPr>
          <p:cNvPr id="1336" name=""/>
          <p:cNvSpPr/>
          <p:nvPr/>
        </p:nvSpPr>
        <p:spPr>
          <a:xfrm rot="0" flipH="0" flipV="0">
            <a:off x="8734425" y="5191125"/>
            <a:ext cx="2886075" cy="390525"/>
          </a:xfrm>
          <a:prstGeom prst="roundRect">
            <a:avLst>
              <a:gd name="adj" fmla="val 975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37" name=""/>
          <p:cNvSpPr/>
          <p:nvPr/>
        </p:nvSpPr>
        <p:spPr>
          <a:xfrm rot="0" flipH="0" flipV="0">
            <a:off x="8734425" y="5191125"/>
            <a:ext cx="2886075" cy="390525"/>
          </a:xfrm>
          <a:custGeom>
            <a:pathLst>
              <a:path w="303" h="41">
                <a:moveTo>
                  <a:pt x="4" y="41"/>
                </a:moveTo>
                <a:cubicBezTo>
                  <a:pt x="2" y="41"/>
                  <a:pt x="0" y="39"/>
                  <a:pt x="0" y="3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8867775" y="5191125"/>
            <a:ext cx="2581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>Bootcamp</a:t>
            </a:r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8867775" y="5400675"/>
            <a:ext cx="2581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客户看的是有没有人天天登录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1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28 / 60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34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单场景两周：&lt;span style={{ color: '#FA4F24' }}&gt;从现像到上线的最小完整周期&lt;/span&gt;&#10;        &lt;/Text&gt;&#10;        &lt;Text style={{ fontSize: 20, color: '#8A8F99', marginTop: 8 }}&gt;&#10;            Bootcamp 之后才是真正的项目。两周切一个场景，是效率与风险的最优平衡点&#10;        &lt;/Text&gt;&#10;    &lt;/Box&gt;&#10;    &lt;Box style={{ height: 1, background: '#E8E8E8' }} /&gt;&#10;&#10;    &lt;Box style={{ paddingTop: 20, paddingBottom: 14, height: 479, flexDirection: 'column', gap: 13 }}&gt;&#10;&#10;        {/* 上：两周排期 */}&#10;        &lt;Box style={{ flex: 1, flexDirection: 'column', gap: 9 }}&gt;&#10;            {[&#10;                { w: 'W1 前半', k: '现像期', c: '#FA4F24', items: ['决策链还原', '痛点量化', '场景定选'], out: '现像报告 + 场景定义书' },&#10;                { w: 'W1 后半', k: '建模期', c: '#E0641E', items: ['核心对象与链接', '主键与基数', '密级与权限'], out: '本体骨架 + 密级矩阵' },&#10;                { w: 'W2 前半', k: '建设期', c: '#C43A17', items: ['管道接通', '切片工艺', 'Agent 装配'], out: '可运行场景 v1' },&#10;                { w: 'W2 后半', k: '上线期', c: '#A83310', items: ['业务试用', '口径裁定', '验收十二项'], out: '验收签字 + 移交清单' },&#10;            ].map((x) =&gt; (&#10;                &lt;Box key={x.w} style={{ flex: 1, flexDirection: 'row', gap: 12, alignItems: 'stretch' }}&gt;&#10;                    &lt;Box style={{ width: 118, background: '#0F1423', borderRadius: 4, alignItems: 'center', justifyContent: 'center', flexDirection: 'column' }}&gt;&#10;                        &lt;Text style={{ fontSize: 13, fontWeight: 'bold', color: '#FBA15C' }}&gt;{x.w}&lt;/Text&gt;&#10;                        &lt;Text style={{ fontSize: 11, color: 'rgba(255,255,255,0.7)', marginTop: 4 }}&gt;{x.k}&lt;/Text&gt;&#10;                    &lt;/Box&gt;&#10;                    &lt;Box style={{ flex: 1, background: '#F7F7F8', borderRadius: 4, borderLeft: `4px solid ${x.c}`, padding: '0 15px', flexDirection: 'row', alignItems: 'center', gap: 16 }}&gt;&#10;                        &lt;Box style={{ flexDirection: 'row', gap: 9, flex: 1 }}&gt;&#10;                            {x.items.map((y) =&gt; (&#10;                                &lt;Box key={y} style={{ flexDirection: 'row', gap: 7, alignItems: 'flex-start', flex: 1 }}&gt;&#10;                                    &lt;Box style={{ width: 5, height: 5, borderRadius: 3, background: x.c, marginTop: 6 }} /&gt;&#10;                                    &lt;Text style={{ fontSize: 12, color: '#3A4050', lineHeight: 1.35, flex: 1 }}&gt;{y}&lt;/Text&gt;&#10;                                &lt;/Box&gt;&#10;                            ))}&#10;                        &lt;/Box&gt;&#10;                        &lt;Text style={{ fontSize: 11.5, fontWeight: 'bold', color: '#0F1423', width: 216, textAlign: 'right' }}&gt;产出：{x.out}&lt;/Text&gt;&#10;                    &lt;/Box&gt;&#10;                &lt;/Box&gt;&#10;            ))}&#10;        &lt;/Box&gt;&#10;&#10;        {/* 中：单场景的取舍 */}&#10;        &lt;Box style={{ height: 182, flexDirection: 'row', gap: 12 }}&gt;&#10;            &lt;Box style={{ width: 456, background: '#0F1423', borderRadius: 4, padding: '0 18px', flexDirection: 'column', justifyContent: 'center' }}&gt;&#10;                &lt;Text style={{ fontSize: 12, color: '#FBA15C', letterSpacing: 2 }}&gt;单场景的取舍标准&lt;/Text&gt;&#10;                &lt;Text style={{ fontSize: 12.5, color: 'rgba(255,255,255,0.85)', lineHeight: 1.5, marginTop: 9, flex: 1 }}&gt;&#10;                    场景要同时满足两条：小到两周能上线，大到业务天天用。太大则两周做不完，太小则上线即闲置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判断法：问「这个场景今天不做，会有人难受吗？」没人难受的场景，不值得两周。&#10;                    &lt;/Text&gt;&#10;                &lt;/Box&gt;&#10;            &lt;/Box&gt;&#10;&#10;            &lt;Box style={{ flex: 1, background: '#F7F7F8', borderRadius: 4, padding: '0 17px', flexDirection: 'column', justifyContent: 'center' }}&gt;&#10;                &lt;Text style={{ fontSize: 14.5, fontWeight: 'bold', color: '#0F1423' }}&gt;两周里必须发生的三次签字&lt;/Text&gt;&#10;                {[&#10;                    { k: 'W1 前', v: '场景与口径签字——不做这单就停在这里' },&#10;                    { k: 'W1 后', v: '对象与密级签字——错一次后面全错' },&#10;                    { k: 'W2 后', v: '验收与移交签字——决定 FDE 能否退出' },&#10;                ].map((x) =&gt; (&#10;                    &lt;Box key={x.k} style={{ flexDirection: 'row', gap: 11, marginTop: 11, alignItems: 'center' }}&gt;&#10;                        &lt;Box style={{ width: 54, height: 22, borderRadius: 3, background: '#FA4F24', alignItems: 'center', justifyContent: 'center' }}&gt;&#10;                            &lt;Text style={{ fontSize: 11, fontWeight: 'bold', color: '#FFFFFF' }}&gt;{x.k}&lt;/Text&gt;&#10;                        &lt;/Box&gt;&#10;                        &lt;Text style={{ fontSize: 12.5, color: '#3A4050', lineHeight: 1.35, flex: 1 }}&gt;{x.v}&lt;/Text&gt;&#10;                    &lt;/Box&gt;&#10;                ))}&#10;            &lt;/Box&gt;&#10;        &lt;/Box&gt;&#10;&#10;        {/* 下：常见拖期原因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拖期的四个真实原因&lt;/Text&gt;&#10;                &lt;Text style={{ fontSize: 12.5, fontWeight: 'bold', color: '#0F1423', marginTop: 5, lineHeight: 1.4 }}&gt;都不是技术问题&lt;/Text&gt;&#10;            &lt;/Box&gt;&#10;            {[&#10;                { k: '审批排队', v: '等主管签字' },&#10;                { k: '口径反复', v: '同一指标三套算法' },&#10;                { k: '数据没到位', v: '要等上游给数' },&#10;                { k: '陪同人离职', v: '对接人换了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29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单场景两周：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从现像到上线的最小完整周期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Bootcamp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之后才是真正的项目。两周切一个场景，是效率与风险的最优平衡点</a:t>
            </a:r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9" name=""/>
          <p:cNvSpPr/>
          <p:nvPr/>
        </p:nvSpPr>
        <p:spPr>
          <a:xfrm rot="0" flipH="0" flipV="0">
            <a:off x="609600" y="1343025"/>
            <a:ext cx="1123950" cy="409575"/>
          </a:xfrm>
          <a:prstGeom prst="roundRect">
            <a:avLst>
              <a:gd name="adj" fmla="val 930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923925" y="13906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W1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前半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1019175" y="15811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现像期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1885950" y="1343025"/>
            <a:ext cx="9734550" cy="409575"/>
          </a:xfrm>
          <a:prstGeom prst="roundRect">
            <a:avLst>
              <a:gd name="adj" fmla="val 93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53" name=""/>
          <p:cNvSpPr/>
          <p:nvPr/>
        </p:nvSpPr>
        <p:spPr>
          <a:xfrm rot="0" flipH="0" flipV="0">
            <a:off x="1885950" y="1343025"/>
            <a:ext cx="9734550" cy="409575"/>
          </a:xfrm>
          <a:custGeom>
            <a:pathLst>
              <a:path w="1022" h="43">
                <a:moveTo>
                  <a:pt x="4" y="43"/>
                </a:moveTo>
                <a:cubicBezTo>
                  <a:pt x="2" y="43"/>
                  <a:pt x="0" y="41"/>
                  <a:pt x="0" y="3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4" name=""/>
          <p:cNvSpPr/>
          <p:nvPr/>
        </p:nvSpPr>
        <p:spPr>
          <a:xfrm rot="0" flipH="0" flipV="0">
            <a:off x="2028825" y="15144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2143125" y="1457325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决策链还原</a:t>
            </a:r>
            <a:endParaRPr/>
          </a:p>
        </p:txBody>
      </p:sp>
      <p:sp>
        <p:nvSpPr>
          <p:cNvPr id="1356" name=""/>
          <p:cNvSpPr/>
          <p:nvPr/>
        </p:nvSpPr>
        <p:spPr>
          <a:xfrm rot="0" flipH="0" flipV="0">
            <a:off x="4457700" y="15144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4572000" y="1457325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痛点量化</a:t>
            </a:r>
            <a:endParaRPr/>
          </a:p>
        </p:txBody>
      </p:sp>
      <p:sp>
        <p:nvSpPr>
          <p:cNvPr id="1358" name=""/>
          <p:cNvSpPr/>
          <p:nvPr/>
        </p:nvSpPr>
        <p:spPr>
          <a:xfrm rot="0" flipH="0" flipV="0">
            <a:off x="6886575" y="15144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7000875" y="1457325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场景定选</a:t>
            </a:r>
            <a:endParaRPr/>
          </a:p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9382125" y="1485900"/>
            <a:ext cx="20574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产出：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现像报告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场景定义书</a:t>
            </a:r>
            <a:endParaRPr/>
          </a:p>
        </p:txBody>
      </p:sp>
      <p:sp>
        <p:nvSpPr>
          <p:cNvPr id="1361" name=""/>
          <p:cNvSpPr/>
          <p:nvPr/>
        </p:nvSpPr>
        <p:spPr>
          <a:xfrm rot="0" flipH="0" flipV="0">
            <a:off x="609600" y="1838325"/>
            <a:ext cx="1123950" cy="400050"/>
          </a:xfrm>
          <a:prstGeom prst="roundRect">
            <a:avLst>
              <a:gd name="adj" fmla="val 95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923925" y="18764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W1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后半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1019175" y="20669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建模期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1885950" y="1838325"/>
            <a:ext cx="973455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65" name=""/>
          <p:cNvSpPr/>
          <p:nvPr/>
        </p:nvSpPr>
        <p:spPr>
          <a:xfrm rot="0" flipH="0" flipV="0">
            <a:off x="1885950" y="1838325"/>
            <a:ext cx="9734550" cy="400050"/>
          </a:xfrm>
          <a:custGeom>
            <a:pathLst>
              <a:path w="1022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366" name=""/>
          <p:cNvSpPr/>
          <p:nvPr/>
        </p:nvSpPr>
        <p:spPr>
          <a:xfrm rot="0" flipH="0" flipV="0">
            <a:off x="2028825" y="2000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2143125" y="19431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核心对象与链接</a:t>
            </a:r>
            <a:endParaRPr/>
          </a:p>
        </p:txBody>
      </p:sp>
      <p:sp>
        <p:nvSpPr>
          <p:cNvPr id="1368" name=""/>
          <p:cNvSpPr/>
          <p:nvPr/>
        </p:nvSpPr>
        <p:spPr>
          <a:xfrm rot="0" flipH="0" flipV="0">
            <a:off x="4457700" y="2000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369" name="" descr="{&quot;isTemplate&quot;:true,&quot;type&quot;:&quot;text&quot;}"/>
          <p:cNvSpPr txBox="1"/>
          <p:nvPr/>
        </p:nvSpPr>
        <p:spPr>
          <a:xfrm rot="0" flipH="0" flipV="0">
            <a:off x="4572000" y="19431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主键与基数</a:t>
            </a:r>
            <a:endParaRPr/>
          </a:p>
        </p:txBody>
      </p:sp>
      <p:sp>
        <p:nvSpPr>
          <p:cNvPr id="1370" name=""/>
          <p:cNvSpPr/>
          <p:nvPr/>
        </p:nvSpPr>
        <p:spPr>
          <a:xfrm rot="0" flipH="0" flipV="0">
            <a:off x="6886575" y="2000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7000875" y="19431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密级与权限</a:t>
            </a:r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9382125" y="1971675"/>
            <a:ext cx="20574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产出：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本体骨架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密级矩阵</a:t>
            </a:r>
            <a:endParaRPr/>
          </a:p>
        </p:txBody>
      </p:sp>
      <p:sp>
        <p:nvSpPr>
          <p:cNvPr id="1373" name=""/>
          <p:cNvSpPr/>
          <p:nvPr/>
        </p:nvSpPr>
        <p:spPr>
          <a:xfrm rot="0" flipH="0" flipV="0">
            <a:off x="609600" y="2324100"/>
            <a:ext cx="1123950" cy="409575"/>
          </a:xfrm>
          <a:prstGeom prst="roundRect">
            <a:avLst>
              <a:gd name="adj" fmla="val 930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923925" y="23717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W2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前半</a:t>
            </a:r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1019175" y="25622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建设期</a:t>
            </a:r>
            <a:endParaRPr/>
          </a:p>
        </p:txBody>
      </p:sp>
      <p:sp>
        <p:nvSpPr>
          <p:cNvPr id="1376" name=""/>
          <p:cNvSpPr/>
          <p:nvPr/>
        </p:nvSpPr>
        <p:spPr>
          <a:xfrm rot="0" flipH="0" flipV="0">
            <a:off x="1885950" y="2324100"/>
            <a:ext cx="9734550" cy="409575"/>
          </a:xfrm>
          <a:prstGeom prst="roundRect">
            <a:avLst>
              <a:gd name="adj" fmla="val 93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77" name=""/>
          <p:cNvSpPr/>
          <p:nvPr/>
        </p:nvSpPr>
        <p:spPr>
          <a:xfrm rot="0" flipH="0" flipV="0">
            <a:off x="1885950" y="2324100"/>
            <a:ext cx="9734550" cy="409575"/>
          </a:xfrm>
          <a:custGeom>
            <a:pathLst>
              <a:path w="1022" h="43">
                <a:moveTo>
                  <a:pt x="4" y="43"/>
                </a:moveTo>
                <a:cubicBezTo>
                  <a:pt x="2" y="43"/>
                  <a:pt x="0" y="41"/>
                  <a:pt x="0" y="3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3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78" name=""/>
          <p:cNvSpPr/>
          <p:nvPr/>
        </p:nvSpPr>
        <p:spPr>
          <a:xfrm rot="0" flipH="0" flipV="0">
            <a:off x="2028825" y="24955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2143125" y="24384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管道接通</a:t>
            </a:r>
            <a:endParaRPr/>
          </a:p>
        </p:txBody>
      </p:sp>
      <p:sp>
        <p:nvSpPr>
          <p:cNvPr id="1380" name=""/>
          <p:cNvSpPr/>
          <p:nvPr/>
        </p:nvSpPr>
        <p:spPr>
          <a:xfrm rot="0" flipH="0" flipV="0">
            <a:off x="4457700" y="24955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4572000" y="24384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切片工艺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6886575" y="24955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7000875" y="2438400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9382125" y="2466975"/>
            <a:ext cx="20574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产出：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可运行场景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v1</a:t>
            </a:r>
            <a:endParaRPr/>
          </a:p>
        </p:txBody>
      </p:sp>
      <p:sp>
        <p:nvSpPr>
          <p:cNvPr id="1385" name=""/>
          <p:cNvSpPr/>
          <p:nvPr/>
        </p:nvSpPr>
        <p:spPr>
          <a:xfrm rot="0" flipH="0" flipV="0">
            <a:off x="609600" y="2819400"/>
            <a:ext cx="1123950" cy="400050"/>
          </a:xfrm>
          <a:prstGeom prst="roundRect">
            <a:avLst>
              <a:gd name="adj" fmla="val 95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923925" y="2857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W2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后半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1019175" y="30480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上线期</a:t>
            </a:r>
            <a:endParaRPr/>
          </a:p>
        </p:txBody>
      </p:sp>
      <p:sp>
        <p:nvSpPr>
          <p:cNvPr id="1388" name=""/>
          <p:cNvSpPr/>
          <p:nvPr/>
        </p:nvSpPr>
        <p:spPr>
          <a:xfrm rot="0" flipH="0" flipV="0">
            <a:off x="1885950" y="2819400"/>
            <a:ext cx="973455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9" name=""/>
          <p:cNvSpPr/>
          <p:nvPr/>
        </p:nvSpPr>
        <p:spPr>
          <a:xfrm rot="0" flipH="0" flipV="0">
            <a:off x="1885950" y="2819400"/>
            <a:ext cx="9734550" cy="400050"/>
          </a:xfrm>
          <a:custGeom>
            <a:pathLst>
              <a:path w="1022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390" name=""/>
          <p:cNvSpPr/>
          <p:nvPr/>
        </p:nvSpPr>
        <p:spPr>
          <a:xfrm rot="0" flipH="0" flipV="0">
            <a:off x="2028825" y="2981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2143125" y="2924175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业务试用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4457700" y="2981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4572000" y="2924175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口径裁定</a:t>
            </a:r>
            <a:endParaRPr/>
          </a:p>
        </p:txBody>
      </p:sp>
      <p:sp>
        <p:nvSpPr>
          <p:cNvPr id="1394" name=""/>
          <p:cNvSpPr/>
          <p:nvPr/>
        </p:nvSpPr>
        <p:spPr>
          <a:xfrm rot="0" flipH="0" flipV="0">
            <a:off x="6886575" y="29813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7000875" y="2924175"/>
            <a:ext cx="2228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验收十二项</a:t>
            </a:r>
            <a:endParaRPr/>
          </a:p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9382125" y="2952750"/>
            <a:ext cx="20574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产出：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验收签字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移交清单</a:t>
            </a:r>
            <a:endParaRPr/>
          </a:p>
        </p:txBody>
      </p:sp>
      <p:sp>
        <p:nvSpPr>
          <p:cNvPr id="1397" name=""/>
          <p:cNvSpPr/>
          <p:nvPr/>
        </p:nvSpPr>
        <p:spPr>
          <a:xfrm rot="0" flipH="0" flipV="0">
            <a:off x="609600" y="3343275"/>
            <a:ext cx="4343400" cy="1733550"/>
          </a:xfrm>
          <a:prstGeom prst="roundRect">
            <a:avLst>
              <a:gd name="adj" fmla="val 219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781050" y="334327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单场景的取舍标准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781050" y="3571875"/>
            <a:ext cx="40005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场景要同时满足两条：小到两周能上线，大到业务天天用。太大则两周做不完，太小则上线即闲置。</a:t>
            </a:r>
            <a:endParaRPr/>
          </a:p>
        </p:txBody>
      </p:sp>
      <p:sp>
        <p:nvSpPr>
          <p:cNvPr id="1400" name=""/>
          <p:cNvSpPr/>
          <p:nvPr/>
        </p:nvSpPr>
        <p:spPr>
          <a:xfrm rot="0" flipH="0" flipV="0">
            <a:off x="781050" y="4676775"/>
            <a:ext cx="40005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895350" y="4676775"/>
            <a:ext cx="37719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判断法：问「这个场景今天不做，会有人难受吗？」没人难受的场景，不值得两周。</a:t>
            </a:r>
            <a:endParaRPr/>
          </a:p>
        </p:txBody>
      </p:sp>
      <p:sp>
        <p:nvSpPr>
          <p:cNvPr id="1402" name=""/>
          <p:cNvSpPr/>
          <p:nvPr/>
        </p:nvSpPr>
        <p:spPr>
          <a:xfrm rot="0" flipH="0" flipV="0">
            <a:off x="5067300" y="3343275"/>
            <a:ext cx="6515100" cy="1733550"/>
          </a:xfrm>
          <a:prstGeom prst="roundRect">
            <a:avLst>
              <a:gd name="adj" fmla="val 219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5229225" y="3657600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两周里必须发生的三次签字</a:t>
            </a:r>
            <a:endParaRPr/>
          </a:p>
        </p:txBody>
      </p:sp>
      <p:sp>
        <p:nvSpPr>
          <p:cNvPr id="1404" name=""/>
          <p:cNvSpPr/>
          <p:nvPr/>
        </p:nvSpPr>
        <p:spPr>
          <a:xfrm rot="0" flipH="0" flipV="0">
            <a:off x="5229225" y="3933825"/>
            <a:ext cx="514350" cy="209550"/>
          </a:xfrm>
          <a:prstGeom prst="roundRect">
            <a:avLst>
              <a:gd name="adj" fmla="val 1363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5334000" y="39719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W1 </a:t>
            </a: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前</a:t>
            </a:r>
            <a:endParaRPr/>
          </a:p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5848350" y="394335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场景与口径签字——不做这单就停在这里</a:t>
            </a:r>
            <a:endParaRPr/>
          </a:p>
        </p:txBody>
      </p:sp>
      <p:sp>
        <p:nvSpPr>
          <p:cNvPr id="1407" name=""/>
          <p:cNvSpPr/>
          <p:nvPr/>
        </p:nvSpPr>
        <p:spPr>
          <a:xfrm rot="0" flipH="0" flipV="0">
            <a:off x="5229225" y="4248150"/>
            <a:ext cx="514350" cy="209550"/>
          </a:xfrm>
          <a:prstGeom prst="roundRect">
            <a:avLst>
              <a:gd name="adj" fmla="val 1363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5334000" y="42862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W1 </a:t>
            </a: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后</a:t>
            </a:r>
            <a:endParaRPr/>
          </a:p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5848350" y="42576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对象与密级签字——错一次后面全错</a:t>
            </a:r>
            <a:endParaRPr/>
          </a:p>
        </p:txBody>
      </p:sp>
      <p:sp>
        <p:nvSpPr>
          <p:cNvPr id="1410" name=""/>
          <p:cNvSpPr/>
          <p:nvPr/>
        </p:nvSpPr>
        <p:spPr>
          <a:xfrm rot="0" flipH="0" flipV="0">
            <a:off x="5229225" y="4562475"/>
            <a:ext cx="514350" cy="209550"/>
          </a:xfrm>
          <a:prstGeom prst="roundRect">
            <a:avLst>
              <a:gd name="adj" fmla="val 1363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5334000" y="46005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W2 </a:t>
            </a: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后</a:t>
            </a:r>
            <a:endParaRPr/>
          </a:p>
        </p:txBody>
      </p:sp>
      <p:sp>
        <p:nvSpPr>
          <p:cNvPr id="1412" name="" descr="{&quot;isTemplate&quot;:true,&quot;type&quot;:&quot;text&quot;}"/>
          <p:cNvSpPr txBox="1"/>
          <p:nvPr/>
        </p:nvSpPr>
        <p:spPr>
          <a:xfrm rot="0" flipH="0" flipV="0">
            <a:off x="5848350" y="4572000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验收与移交签字——决定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能否退出</a:t>
            </a:r>
            <a:endParaRPr/>
          </a:p>
        </p:txBody>
      </p:sp>
      <p:sp>
        <p:nvSpPr>
          <p:cNvPr id="1413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4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拖期的四个真实原因</a:t>
            </a:r>
            <a:endParaRPr/>
          </a:p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都不是技术问题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审批排队</a:t>
            </a:r>
            <a:endParaRPr/>
          </a:p>
        </p:txBody>
      </p:sp>
      <p:sp>
        <p:nvSpPr>
          <p:cNvPr id="1418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等主管签字</a:t>
            </a:r>
            <a:endParaRPr/>
          </a:p>
        </p:txBody>
      </p:sp>
      <p:sp>
        <p:nvSpPr>
          <p:cNvPr id="1419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口径反复</a:t>
            </a:r>
            <a:endParaRPr/>
          </a:p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同一指标三套算法</a:t>
            </a:r>
            <a:endParaRPr/>
          </a:p>
        </p:txBody>
      </p:sp>
      <p:sp>
        <p:nvSpPr>
          <p:cNvPr id="1422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数据没到位</a:t>
            </a:r>
            <a:endParaRPr/>
          </a:p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要等上游给数</a:t>
            </a:r>
            <a:endParaRPr/>
          </a:p>
        </p:txBody>
      </p:sp>
      <p:sp>
        <p:nvSpPr>
          <p:cNvPr id="1425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6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陪同人离职</a:t>
            </a:r>
            <a:endParaRPr/>
          </a:p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对接人换了</a:t>
            </a:r>
            <a:endParaRPr/>
          </a:p>
        </p:txBody>
      </p:sp>
      <p:sp>
        <p:nvSpPr>
          <p:cNvPr id="142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2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29 / 60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48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案例 A：&lt;span style={{ color: '#FA4F24' }}&gt;制造质检 —— 本体先行，反模式样本&lt;/span&gt;&#10;        &lt;/Text&gt;&#10;        &lt;Text style={{ fontSize: 20, color: '#8A8F99', marginTop: 8 }}&gt;&#10;            这是一个「顺序做对了」的正向样本。同一场景，先建本体与先上 AI，结果差三个月&#10;        &lt;/Text&gt;&#10;    &lt;/Box&gt;&#10;    &lt;Box style={{ height: 1, background: '#E8E8E8' }} /&gt;&#10;&#10;    &lt;Box style={{ paddingTop: 20, paddingBottom: 14, height: 479, flexDirection: 'column', gap: 13 }}&gt;&#10;&#10;        {/* 上：本体四层 */}&#10;        &lt;Box style={{ flex: 1, flexDirection: 'row', gap: 11 }}&gt;&#10;            {[&#10;                { k: '批次', c: '#FA4F24', d: '一次投料、一次产出、一次检验，构成最小追溯单元', key: '主键：批次号 + 工序号' },&#10;                { k: '设备', c: '#E0641E', d: '产线设备台账，含型号、能力范围、校准有效期', key: '关键链接：跑哪个批次' },&#10;                { k: '测点', c: '#C43A17', d: '设备的可测量位置，含量程、精度、检定周期', key: '易错：设备 ≠ 测点' },&#10;                { k: '缺陷', c: '#A83310', d: '检验判定的结果对象，含分类、严重度、责任归属', key: '关键：缺陷码要统一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8, fontWeight: 'bold', color: x.c }}&gt;{x.k}&lt;/Text&gt;&#10;                    &lt;Text style={{ fontSize: 12, color: '#3A4050', lineHeight: 1.5, marginTop: 10, flex: 1 }}&gt;{x.d}&lt;/Text&gt;&#10;                    &lt;Box style={{ background: '#0F1423', borderRadius: 3, padding: '0 11px', marginTop: 9 }}&gt;&#10;                        &lt;Text style={{ fontSize: 11.5, color: 'rgba(255,255,255,0.88)', lineHeight: 1.4 }}&gt;{x.key}&lt;/Text&gt;&#10;                    &lt;/Box&gt;&#10;                &lt;/Box&gt;&#10;            ))}&#10;        &lt;/Box&gt;&#10;&#10;        {/* 中：正反对照 */}&#10;        &lt;Box style={{ height: 186, flexDirection: 'row', gap: 12 }}&gt;&#10;            &lt;Box style={{ flex: 1, background: '#F7F7F8', borderRadius: 4, padding: '0 17px', flexDirection: 'column', justifyContent: 'center', borderLeft: '4px solid #0F1423' }}&gt;&#10;                &lt;Text style={{ fontSize: 14.5, fontWeight: 'bold', color: '#0F1423' }}&gt;先建本体：第 2 周就能上线&lt;/Text&gt;&#10;                {[&#10;                    'W1 定批次、设备、测点、缺陷四类对象与链接',&#10;                    'W1 末上线缺陷归因，当天质检组长开始用',&#10;                    'W2 补缺陷码统一规则，追溯链完整',&#10;                ].map((x) =&gt; (&#10;                    &lt;Box key={x} style={{ flexDirection: 'row', gap: 10, marginTop: 9, alignItems: 'flex-start' }}&gt;&#10;                        &lt;Text style={{ fontSize: 11, fontWeight: 'bold', color: '#0F1423', width: 16 }}&gt;✓&lt;/Text&gt;&#10;                        &lt;Text style={{ fontSize: 12.5, color: '#3A4050', lineHeight: 1.4, flex: 1 }}&gt;{x}&lt;/Text&gt;&#10;                    &lt;/Box&gt;&#10;                ))}&#10;            &lt;/Box&gt;&#10;&#10;            &lt;Box style={{ flex: 1, background: '#FFF3EE', borderRadius: 4, padding: '0 17px', flexDirection: 'column', justifyContent: 'center', borderLeft: '4px solid #FA4F24' }}&gt;&#10;                &lt;Text style={{ fontSize: 14.5, fontWeight: 'bold', color: '#C43A17' }}&gt;先上 AI：三个月还在对齐词&lt;/Text&gt;&#10;                {[&#10;                    '第 1 个月：做缺陷识别 Demo，效果不错',&#10;                    '第 2 个月：业务发现缺陷码有七套含义，AI 判断全错',&#10;                    '第 3 个月：回头做对象与码表，AI 全部重调',&#10;                ].map((x) =&gt; (&#10;                    &lt;Box key={x} style={{ flexDirection: 'row', gap: 10, marginTop: 9, alignItems: 'flex-start' }}&gt;&#10;                        &lt;Text style={{ fontSize: 11, fontWeight: 'bold', color: '#C43A17', width: 16 }}&gt;✕&lt;/Text&gt;&#10;                        &lt;Text style={{ fontSize: 12.5, color: '#3A4050', lineHeight: 1.4, flex: 1 }}&gt;{x}&lt;/Text&gt;&#10;                    &lt;/Box&gt;&#10;                ))}&#10;            &lt;/Box&gt;&#10;        &lt;/Box&gt;&#10;&#10;        {/* 下：FDE 特有动作 */}&#10;        &lt;Box style={{ flexDirection: 'row', gap: 12, alignItems: 'stretch' }}&gt;&#10;            &lt;Box style={{ width: 208, background: '#0F1423', borderRadius: 4, padding: '0 15px', flexDirection: 'column', justifyContent: 'center' }}&gt;&#10;                &lt;Text style={{ fontSize: 11, color: 'rgba(255,255,255,0.6)' }}&gt;FDE 在此场景的特有动作&lt;/Text&gt;&#10;                &lt;Text style={{ fontSize: 12.5, fontWeight: 'bold', color: '#FBA15C', marginTop: 6, lineHeight: 1.4 }}&gt;传统顾问不会做的四件事&lt;/Text&gt;&#10;            &lt;/Box&gt;&#10;            {[&#10;                { k: '驻线一周', v: '跟质检员一起上工位' },&#10;                { k: '现场建码表', v: '当场裁定缺陷码统一' },&#10;                { k: '直接写管道', v: '现场写幂等与批次号' },&#10;                { k: '当场回写', v: '让结论进质检单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0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案例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制造质检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本体先行，反模式样本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这是一个「顺序做对了」的正向样本。同一场景，先建本体与先上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，结果差三个月</a:t>
            </a:r>
            <a:endParaRPr/>
          </a:p>
        </p:txBody>
      </p:sp>
      <p:sp>
        <p:nvSpPr>
          <p:cNvPr id="148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9" name=""/>
          <p:cNvSpPr/>
          <p:nvPr/>
        </p:nvSpPr>
        <p:spPr>
          <a:xfrm rot="0" flipH="0" flipV="0">
            <a:off x="609600" y="1371600"/>
            <a:ext cx="2667000" cy="1828800"/>
          </a:xfrm>
          <a:prstGeom prst="roundRect">
            <a:avLst>
              <a:gd name="adj" fmla="val 20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0" name=""/>
          <p:cNvSpPr/>
          <p:nvPr/>
        </p:nvSpPr>
        <p:spPr>
          <a:xfrm rot="0" flipH="0" flipV="0">
            <a:off x="609600" y="1371600"/>
            <a:ext cx="2667000" cy="1828800"/>
          </a:xfrm>
          <a:custGeom>
            <a:pathLst>
              <a:path w="280" h="192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A4F24"/>
                </a:solidFill>
                <a:latin typeface="Microsoft YaHei"/>
                <a:ea typeface="Microsoft YaHei"/>
              </a:rPr>
              <a:t>批次</a:t>
            </a:r>
            <a:endParaRPr/>
          </a:p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752475" y="1676400"/>
            <a:ext cx="2381250" cy="1219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一次投料、一次产出、一次检验，构成最小追溯单元</a:t>
            </a:r>
            <a:endParaRPr/>
          </a:p>
        </p:txBody>
      </p:sp>
      <p:sp>
        <p:nvSpPr>
          <p:cNvPr id="1493" name=""/>
          <p:cNvSpPr/>
          <p:nvPr/>
        </p:nvSpPr>
        <p:spPr>
          <a:xfrm rot="0" flipH="0" flipV="0">
            <a:off x="752475" y="2981325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857250" y="298132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主键：批次号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工序号</a:t>
            </a:r>
            <a:endParaRPr/>
          </a:p>
        </p:txBody>
      </p:sp>
      <p:sp>
        <p:nvSpPr>
          <p:cNvPr id="1495" name=""/>
          <p:cNvSpPr/>
          <p:nvPr/>
        </p:nvSpPr>
        <p:spPr>
          <a:xfrm rot="0" flipH="0" flipV="0">
            <a:off x="3381375" y="1371600"/>
            <a:ext cx="2667000" cy="1828800"/>
          </a:xfrm>
          <a:prstGeom prst="roundRect">
            <a:avLst>
              <a:gd name="adj" fmla="val 20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6" name=""/>
          <p:cNvSpPr/>
          <p:nvPr/>
        </p:nvSpPr>
        <p:spPr>
          <a:xfrm rot="0" flipH="0" flipV="0">
            <a:off x="3381375" y="1371600"/>
            <a:ext cx="2667000" cy="1828800"/>
          </a:xfrm>
          <a:custGeom>
            <a:pathLst>
              <a:path w="280" h="192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0641E"/>
                </a:solidFill>
                <a:latin typeface="Microsoft YaHei"/>
                <a:ea typeface="Microsoft YaHei"/>
              </a:rPr>
              <a:t>设备</a:t>
            </a:r>
            <a:endParaRPr/>
          </a:p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3524250" y="1676400"/>
            <a:ext cx="2381250" cy="1219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产线设备台账，含型号、能力范围、校准有效期</a:t>
            </a:r>
            <a:endParaRPr/>
          </a:p>
        </p:txBody>
      </p:sp>
      <p:sp>
        <p:nvSpPr>
          <p:cNvPr id="1499" name=""/>
          <p:cNvSpPr/>
          <p:nvPr/>
        </p:nvSpPr>
        <p:spPr>
          <a:xfrm rot="0" flipH="0" flipV="0">
            <a:off x="3524250" y="2981325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3629025" y="298132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关键链接：跑哪个批次</a:t>
            </a:r>
            <a:endParaRPr/>
          </a:p>
        </p:txBody>
      </p:sp>
      <p:sp>
        <p:nvSpPr>
          <p:cNvPr id="1501" name=""/>
          <p:cNvSpPr/>
          <p:nvPr/>
        </p:nvSpPr>
        <p:spPr>
          <a:xfrm rot="0" flipH="0" flipV="0">
            <a:off x="6153150" y="1371600"/>
            <a:ext cx="2657475" cy="1828800"/>
          </a:xfrm>
          <a:prstGeom prst="roundRect">
            <a:avLst>
              <a:gd name="adj" fmla="val 20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2" name=""/>
          <p:cNvSpPr/>
          <p:nvPr/>
        </p:nvSpPr>
        <p:spPr>
          <a:xfrm rot="0" flipH="0" flipV="0">
            <a:off x="6153150" y="1371600"/>
            <a:ext cx="2657475" cy="1828800"/>
          </a:xfrm>
          <a:custGeom>
            <a:pathLst>
              <a:path w="279" h="192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43A17"/>
                </a:solidFill>
                <a:latin typeface="Microsoft YaHei"/>
                <a:ea typeface="Microsoft YaHei"/>
              </a:rPr>
              <a:t>测点</a:t>
            </a:r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6296025" y="1676400"/>
            <a:ext cx="2371725" cy="12192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设备的可测量位置，含量程、精度、检定周期</a:t>
            </a:r>
            <a:endParaRPr/>
          </a:p>
        </p:txBody>
      </p:sp>
      <p:sp>
        <p:nvSpPr>
          <p:cNvPr id="1505" name=""/>
          <p:cNvSpPr/>
          <p:nvPr/>
        </p:nvSpPr>
        <p:spPr>
          <a:xfrm rot="0" flipH="0" flipV="0">
            <a:off x="6296025" y="2981325"/>
            <a:ext cx="23717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6400800" y="2981325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易错：设备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测点</a:t>
            </a:r>
            <a:endParaRPr/>
          </a:p>
        </p:txBody>
      </p:sp>
      <p:sp>
        <p:nvSpPr>
          <p:cNvPr id="1507" name=""/>
          <p:cNvSpPr/>
          <p:nvPr/>
        </p:nvSpPr>
        <p:spPr>
          <a:xfrm rot="0" flipH="0" flipV="0">
            <a:off x="8915400" y="1371600"/>
            <a:ext cx="2667000" cy="1828800"/>
          </a:xfrm>
          <a:prstGeom prst="roundRect">
            <a:avLst>
              <a:gd name="adj" fmla="val 20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8" name=""/>
          <p:cNvSpPr/>
          <p:nvPr/>
        </p:nvSpPr>
        <p:spPr>
          <a:xfrm rot="0" flipH="0" flipV="0">
            <a:off x="8915400" y="1371600"/>
            <a:ext cx="2667000" cy="1828800"/>
          </a:xfrm>
          <a:custGeom>
            <a:pathLst>
              <a:path w="280" h="192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A83310"/>
                </a:solidFill>
                <a:latin typeface="Microsoft YaHei"/>
                <a:ea typeface="Microsoft YaHei"/>
              </a:rPr>
              <a:t>缺陷</a:t>
            </a:r>
            <a:endParaRPr/>
          </a:p>
        </p:txBody>
      </p:sp>
      <p:sp>
        <p:nvSpPr>
          <p:cNvPr id="1510" name="" descr="{&quot;isTemplate&quot;:true,&quot;type&quot;:&quot;text&quot;}"/>
          <p:cNvSpPr txBox="1"/>
          <p:nvPr/>
        </p:nvSpPr>
        <p:spPr>
          <a:xfrm rot="0" flipH="0" flipV="0">
            <a:off x="9058275" y="1676400"/>
            <a:ext cx="2381250" cy="1219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检验判定的结果对象，含分类、严重度、责任归属</a:t>
            </a:r>
            <a:endParaRPr/>
          </a:p>
        </p:txBody>
      </p:sp>
      <p:sp>
        <p:nvSpPr>
          <p:cNvPr id="1511" name=""/>
          <p:cNvSpPr/>
          <p:nvPr/>
        </p:nvSpPr>
        <p:spPr>
          <a:xfrm rot="0" flipH="0" flipV="0">
            <a:off x="9058275" y="2981325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9163050" y="298132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关键：缺陷码要统一</a:t>
            </a:r>
            <a:endParaRPr/>
          </a:p>
        </p:txBody>
      </p:sp>
      <p:sp>
        <p:nvSpPr>
          <p:cNvPr id="1513" name=""/>
          <p:cNvSpPr/>
          <p:nvPr/>
        </p:nvSpPr>
        <p:spPr>
          <a:xfrm rot="0" flipH="0" flipV="0">
            <a:off x="647700" y="3295650"/>
            <a:ext cx="5429250" cy="1771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14" name=""/>
          <p:cNvSpPr/>
          <p:nvPr/>
        </p:nvSpPr>
        <p:spPr>
          <a:xfrm rot="0" flipH="0" flipV="0">
            <a:off x="647700" y="3295650"/>
            <a:ext cx="5429250" cy="1771650"/>
          </a:xfrm>
          <a:custGeom>
            <a:pathLst>
              <a:path w="570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809625" y="366712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先建本体：第</a:t>
            </a:r>
            <a:r>
              <a:rPr lang="en-US" sz="10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周就能上线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809625" y="392430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0F1423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1057275" y="3924300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W1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定批次、设备、测点、缺陷四类对象与链接</a:t>
            </a:r>
            <a:endParaRPr/>
          </a:p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809625" y="421005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0F1423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1057275" y="4210050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W1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末上线缺陷归因，当天质检组长开始用</a:t>
            </a:r>
            <a:endParaRPr/>
          </a:p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809625" y="449580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0F1423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1057275" y="4495800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W2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补缺陷码统一规则，追溯链完整</a:t>
            </a:r>
            <a:endParaRPr/>
          </a:p>
        </p:txBody>
      </p:sp>
      <p:sp>
        <p:nvSpPr>
          <p:cNvPr id="1522" name=""/>
          <p:cNvSpPr/>
          <p:nvPr/>
        </p:nvSpPr>
        <p:spPr>
          <a:xfrm rot="0" flipH="0" flipV="0">
            <a:off x="6191250" y="3295650"/>
            <a:ext cx="542925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23" name=""/>
          <p:cNvSpPr/>
          <p:nvPr/>
        </p:nvSpPr>
        <p:spPr>
          <a:xfrm rot="0" flipH="0" flipV="0">
            <a:off x="6191250" y="3295650"/>
            <a:ext cx="5429250" cy="1771650"/>
          </a:xfrm>
          <a:custGeom>
            <a:pathLst>
              <a:path w="570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6353175" y="366712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先上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：三个月还在对齐词</a:t>
            </a:r>
            <a:endParaRPr/>
          </a:p>
        </p:txBody>
      </p:sp>
      <p:sp>
        <p:nvSpPr>
          <p:cNvPr id="1525" name="" descr="{&quot;isTemplate&quot;:true,&quot;type&quot;:&quot;text&quot;}"/>
          <p:cNvSpPr txBox="1"/>
          <p:nvPr/>
        </p:nvSpPr>
        <p:spPr>
          <a:xfrm rot="0" flipH="0" flipV="0">
            <a:off x="6353175" y="392430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6600825" y="3924300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第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个月：做缺陷识别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Demo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，效果不错</a:t>
            </a:r>
            <a:endParaRPr/>
          </a:p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6353175" y="421005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6600825" y="4210050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第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个月：业务发现缺陷码有七套含义，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判断全错</a:t>
            </a:r>
            <a:endParaRPr/>
          </a:p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6353175" y="4495800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6600825" y="4495800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第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个月：回头做对象与码表，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全部重调</a:t>
            </a:r>
            <a:endParaRPr/>
          </a:p>
        </p:txBody>
      </p:sp>
      <p:sp>
        <p:nvSpPr>
          <p:cNvPr id="1531" name=""/>
          <p:cNvSpPr/>
          <p:nvPr/>
        </p:nvSpPr>
        <p:spPr>
          <a:xfrm rot="0" flipH="0" flipV="0">
            <a:off x="609600" y="5191125"/>
            <a:ext cx="1981200" cy="390525"/>
          </a:xfrm>
          <a:prstGeom prst="roundRect">
            <a:avLst>
              <a:gd name="adj" fmla="val 975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752475" y="51911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在此场景的特有动作</a:t>
            </a:r>
            <a:endParaRPr/>
          </a:p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传统顾问不会做的四件事</a:t>
            </a:r>
            <a:endParaRPr/>
          </a:p>
        </p:txBody>
      </p:sp>
      <p:sp>
        <p:nvSpPr>
          <p:cNvPr id="1534" name=""/>
          <p:cNvSpPr/>
          <p:nvPr/>
        </p:nvSpPr>
        <p:spPr>
          <a:xfrm rot="0" flipH="0" flipV="0">
            <a:off x="2705100" y="5191125"/>
            <a:ext cx="2133600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驻线一周</a:t>
            </a:r>
            <a:endParaRPr/>
          </a:p>
        </p:txBody>
      </p:sp>
      <p:sp>
        <p:nvSpPr>
          <p:cNvPr id="1536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跟质检员一起上工位</a:t>
            </a:r>
            <a:endParaRPr/>
          </a:p>
        </p:txBody>
      </p:sp>
      <p:sp>
        <p:nvSpPr>
          <p:cNvPr id="1537" name=""/>
          <p:cNvSpPr/>
          <p:nvPr/>
        </p:nvSpPr>
        <p:spPr>
          <a:xfrm rot="0" flipH="0" flipV="0">
            <a:off x="4953000" y="5191125"/>
            <a:ext cx="2133600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现场建码表</a:t>
            </a:r>
            <a:endParaRPr/>
          </a:p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当场裁定缺陷码统一</a:t>
            </a:r>
            <a:endParaRPr/>
          </a:p>
        </p:txBody>
      </p:sp>
      <p:sp>
        <p:nvSpPr>
          <p:cNvPr id="1540" name=""/>
          <p:cNvSpPr/>
          <p:nvPr/>
        </p:nvSpPr>
        <p:spPr>
          <a:xfrm rot="0" flipH="0" flipV="0">
            <a:off x="7200900" y="5191125"/>
            <a:ext cx="2133600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1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直接写管道</a:t>
            </a:r>
            <a:endParaRPr/>
          </a:p>
        </p:txBody>
      </p:sp>
      <p:sp>
        <p:nvSpPr>
          <p:cNvPr id="1542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现场写幂等与批次号</a:t>
            </a:r>
            <a:endParaRPr/>
          </a:p>
        </p:txBody>
      </p:sp>
      <p:sp>
        <p:nvSpPr>
          <p:cNvPr id="1543" name=""/>
          <p:cNvSpPr/>
          <p:nvPr/>
        </p:nvSpPr>
        <p:spPr>
          <a:xfrm rot="0" flipH="0" flipV="0">
            <a:off x="9448800" y="5191125"/>
            <a:ext cx="2133600" cy="390525"/>
          </a:xfrm>
          <a:prstGeom prst="roundRect">
            <a:avLst>
              <a:gd name="adj" fmla="val 97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当场回写</a:t>
            </a:r>
            <a:endParaRPr/>
          </a:p>
        </p:txBody>
      </p:sp>
      <p:sp>
        <p:nvSpPr>
          <p:cNvPr id="1545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让结论进质检单</a:t>
            </a:r>
            <a:endParaRPr/>
          </a:p>
        </p:txBody>
      </p:sp>
      <p:sp>
        <p:nvSpPr>
          <p:cNvPr id="154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4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30 / 60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55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案例 B：&lt;span style={{ color: '#FA4F24' }}&gt;能源电站检修 —— 主数据与密级的现场裁定&lt;/span&gt;&#10;        &lt;/Text&gt;&#10;        &lt;Text style={{ fontSize: 20, color: '#8A8F99', marginTop: 8 }}&gt;&#10;            设备台账、测点、缺陷、工单四类对象互相纠缠。切错一次，后面全部返工&#10;        &lt;/Text&gt;&#10;    &lt;/Box&gt;&#10;    &lt;Box style={{ height: 1, background: '#E8E8E8' }} /&gt;&#10;&#10;    &lt;Box style={{ paddingTop: 20, paddingBottom: 14, height: 479, flexDirection: 'column', gap: 13 }}&gt;&#10;&#10;        {/* 上：对象切分决策 */}&#10;        &lt;Box style={{ flex: 1, flexDirection: 'row', gap: 11 }}&gt;&#10;            {[&#10;                { k: '为什么设备≠测点', c: '#FA4F24', d: '一个设备上有十几个测点，一个测点只对应一个通道。混成一个对象，检修工单挂不上去。' },&#10;                { k: '为什么缺陷≠事件', c: '#E0641E', d: '事件是一次发生，缺陷是一个持续状态。不分开，历史追溯链就断了。' },&#10;                { k: '为什么工单独立', c: '#C43A17', d: '工单是动作对象，不是设备属性。挂在设备上会导致状态无法流转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5, fontWeight: 'bold', color: x.c, lineHeight: 1.35 }}&gt;{x.k}&lt;/Text&gt;&#10;                    &lt;Text style={{ fontSize: 12.5, color: '#3A4050', lineHeight: 1.5, marginTop: 11, flex: 1 }}&gt;{x.d}&lt;/Text&gt;&#10;                &lt;/Box&gt;&#10;            ))}&#10;        &lt;/Box&gt;&#10;&#10;        {/* 中：密级继承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密级继承：现场最容易漏的一条&lt;/Text&gt;&#10;                &lt;Text style={{ fontSize: 12.5, color: 'rgba(255,255,255,0.85)', lineHeight: 1.5, marginTop: 9, flex: 1 }}&gt;&#10;                    对象可以建，但链接未必都能看。电厂的检修记录挂在设备下，设备密级是机密，则该设备下所有测点历史、工单、缺陷记录自动继承机密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不设继承的后果：本体建好了，一查就泄露。FDE 必须当场把这条规则写进本体，不许留给客户后续补。&#10;                    &lt;/Text&gt;&#10;                &lt;/Box&gt;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电站场景的三条硬约束&lt;/Text&gt;&#10;                {[&#10;                    { k: '不能停产', v: '检修系统不能影响生产网，必须隔离部署' },&#10;                    { k: '不能等审批', v: '现场检修是连续作业，流程不允许等' },&#10;                    { k: '不能靠网络', v: '厂区网闸隔离，外网访问要走专线' },&#10;                ].map((x) =&gt; (&#10;                    &lt;Box key={x.k} style={{ flexDirection: 'row', gap: 11, marginTop: 11, alignItems: 'flex-start' }}&gt;&#10;                        &lt;Text style={{ fontSize: 12, fontWeight: 'bold', color: '#C43A17', width: 92 }}&gt;{x.k}&lt;/Text&gt;&#10;                        &lt;Text style={{ fontSize: 12.5, color: '#3A4050', lineHeight: 1.4, flex: 1 }}&gt;{x.v}&lt;/Text&gt;&#10;                    &lt;/Box&gt;&#10;                ))}&#10;            &lt;/Box&gt;&#10;        &lt;/Box&gt;&#10;&#10;        {/* 下：现场动作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现场四步&lt;/Text&gt;&#10;                &lt;Text style={{ fontSize: 12.5, fontWeight: 'bold', color: '#0F1423', marginTop: 5, lineHeight: 1.4 }}&gt;必须在机舱里完成，不能在会议室&lt;/Text&gt;&#10;            &lt;/Box&gt;&#10;            {[&#10;                { k: '跟班', v: '跟检修班上一整班' },&#10;                { k: '画链路', v: '当场画清工单挂到哪' },&#10;                { k: '定密级', v: '当场裁定继承规则' },&#10;                { k: '写管道', v: '离线优先，失败可重放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1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案例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能源电站检修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主数据与密级的现场裁定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设备台账、测点、缺陷、工单四类对象互相纠缠。切错一次，后面全部返工</a:t>
            </a:r>
            <a:endParaRPr/>
          </a:p>
        </p:txBody>
      </p:sp>
      <p:sp>
        <p:nvSpPr>
          <p:cNvPr id="155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55" name=""/>
          <p:cNvSpPr/>
          <p:nvPr/>
        </p:nvSpPr>
        <p:spPr>
          <a:xfrm rot="0" flipH="0" flipV="0">
            <a:off x="609600" y="1371600"/>
            <a:ext cx="3590925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6" name=""/>
          <p:cNvSpPr/>
          <p:nvPr/>
        </p:nvSpPr>
        <p:spPr>
          <a:xfrm rot="0" flipH="0" flipV="0">
            <a:off x="609600" y="1371600"/>
            <a:ext cx="3590925" cy="1638300"/>
          </a:xfrm>
          <a:custGeom>
            <a:pathLst>
              <a:path w="377" h="172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7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330517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为什么设备≠测点</a:t>
            </a:r>
            <a:endParaRPr/>
          </a:p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752475" y="1714500"/>
            <a:ext cx="3305175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一个设备上有十几个测点，一个测点只对应一个通道。混成一个对象，检修工单挂不上去。</a:t>
            </a:r>
            <a:endParaRPr/>
          </a:p>
        </p:txBody>
      </p:sp>
      <p:sp>
        <p:nvSpPr>
          <p:cNvPr id="1559" name=""/>
          <p:cNvSpPr/>
          <p:nvPr/>
        </p:nvSpPr>
        <p:spPr>
          <a:xfrm rot="0" flipH="0" flipV="0">
            <a:off x="4305300" y="1371600"/>
            <a:ext cx="358140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0" name=""/>
          <p:cNvSpPr/>
          <p:nvPr/>
        </p:nvSpPr>
        <p:spPr>
          <a:xfrm rot="0" flipH="0" flipV="0">
            <a:off x="4305300" y="1371600"/>
            <a:ext cx="3581400" cy="1638300"/>
          </a:xfrm>
          <a:custGeom>
            <a:pathLst>
              <a:path w="376" h="172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cubicBezTo>
                  <a:pt x="376" y="3"/>
                  <a:pt x="375" y="3"/>
                  <a:pt x="3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4448175" y="1371600"/>
            <a:ext cx="329565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 b="1">
                <a:solidFill>
                  <a:srgbClr val="E0641E"/>
                </a:solidFill>
                <a:latin typeface="Microsoft YaHei"/>
                <a:ea typeface="Microsoft YaHei"/>
              </a:rPr>
              <a:t>为什么缺陷≠事件</a:t>
            </a:r>
            <a:endParaRPr/>
          </a:p>
        </p:txBody>
      </p:sp>
      <p:sp>
        <p:nvSpPr>
          <p:cNvPr id="1562" name="" descr="{&quot;isTemplate&quot;:true,&quot;type&quot;:&quot;text&quot;}"/>
          <p:cNvSpPr txBox="1"/>
          <p:nvPr/>
        </p:nvSpPr>
        <p:spPr>
          <a:xfrm rot="0" flipH="0" flipV="0">
            <a:off x="4448175" y="1714500"/>
            <a:ext cx="3295650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事件是一次发生，缺陷是一个持续状态。不分开，历史追溯链就断了。</a:t>
            </a:r>
            <a:endParaRPr/>
          </a:p>
        </p:txBody>
      </p:sp>
      <p:sp>
        <p:nvSpPr>
          <p:cNvPr id="1563" name=""/>
          <p:cNvSpPr/>
          <p:nvPr/>
        </p:nvSpPr>
        <p:spPr>
          <a:xfrm rot="0" flipH="0" flipV="0">
            <a:off x="7991475" y="1371600"/>
            <a:ext cx="3590925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64" name=""/>
          <p:cNvSpPr/>
          <p:nvPr/>
        </p:nvSpPr>
        <p:spPr>
          <a:xfrm rot="0" flipH="0" flipV="0">
            <a:off x="7991475" y="1371600"/>
            <a:ext cx="3590925" cy="1638300"/>
          </a:xfrm>
          <a:custGeom>
            <a:pathLst>
              <a:path w="377" h="172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8134350" y="1371600"/>
            <a:ext cx="330517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为什么工单独立</a:t>
            </a:r>
            <a:endParaRPr/>
          </a:p>
        </p:txBody>
      </p:sp>
      <p:sp>
        <p:nvSpPr>
          <p:cNvPr id="1566" name="" descr="{&quot;isTemplate&quot;:true,&quot;type&quot;:&quot;text&quot;}"/>
          <p:cNvSpPr txBox="1"/>
          <p:nvPr/>
        </p:nvSpPr>
        <p:spPr>
          <a:xfrm rot="0" flipH="0" flipV="0">
            <a:off x="8134350" y="1714500"/>
            <a:ext cx="3305175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工单是动作对象，不是设备属性。挂在设备上会导致状态无法流转。</a:t>
            </a:r>
            <a:endParaRPr/>
          </a:p>
        </p:txBody>
      </p:sp>
      <p:sp>
        <p:nvSpPr>
          <p:cNvPr id="1567" name=""/>
          <p:cNvSpPr/>
          <p:nvPr/>
        </p:nvSpPr>
        <p:spPr>
          <a:xfrm rot="0" flipH="0" flipV="0">
            <a:off x="609600" y="3105150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68" name="" descr="{&quot;isTemplate&quot;:true,&quot;type&quot;:&quot;text&quot;}"/>
          <p:cNvSpPr txBox="1"/>
          <p:nvPr/>
        </p:nvSpPr>
        <p:spPr>
          <a:xfrm rot="0" flipH="0" flipV="0">
            <a:off x="781050" y="310515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密级继承：现场最容易漏的一条</a:t>
            </a:r>
            <a:endParaRPr/>
          </a:p>
        </p:txBody>
      </p:sp>
      <p:sp>
        <p:nvSpPr>
          <p:cNvPr id="1569" name="" descr="{&quot;isTemplate&quot;:true,&quot;type&quot;:&quot;text&quot;}"/>
          <p:cNvSpPr txBox="1"/>
          <p:nvPr/>
        </p:nvSpPr>
        <p:spPr>
          <a:xfrm rot="0" flipH="0" flipV="0">
            <a:off x="781050" y="3333750"/>
            <a:ext cx="41148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对象可以建，但链接未必都能看。电厂的检修记录挂在设备下，设备密级是机密，则该设备下所有测点历史、工单、缺陷记录自动继承机密。</a:t>
            </a:r>
            <a:endParaRPr/>
          </a:p>
        </p:txBody>
      </p:sp>
      <p:sp>
        <p:nvSpPr>
          <p:cNvPr id="1570" name=""/>
          <p:cNvSpPr/>
          <p:nvPr/>
        </p:nvSpPr>
        <p:spPr>
          <a:xfrm rot="0" flipH="0" flipV="0">
            <a:off x="781050" y="4476750"/>
            <a:ext cx="41148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571" name="" descr="{&quot;isTemplate&quot;:true,&quot;type&quot;:&quot;text&quot;}"/>
          <p:cNvSpPr txBox="1"/>
          <p:nvPr/>
        </p:nvSpPr>
        <p:spPr>
          <a:xfrm rot="0" flipH="0" flipV="0">
            <a:off x="895350" y="4476750"/>
            <a:ext cx="38862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不设继承的后果：本体建好了，一查就泄露。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必须当场把这条规则写进本体，不许留给客户后续补。</a:t>
            </a:r>
            <a:endParaRPr/>
          </a:p>
        </p:txBody>
      </p:sp>
      <p:sp>
        <p:nvSpPr>
          <p:cNvPr id="1572" name=""/>
          <p:cNvSpPr/>
          <p:nvPr/>
        </p:nvSpPr>
        <p:spPr>
          <a:xfrm rot="0" flipH="0" flipV="0">
            <a:off x="5219700" y="3105150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73" name=""/>
          <p:cNvSpPr/>
          <p:nvPr/>
        </p:nvSpPr>
        <p:spPr>
          <a:xfrm rot="0" flipH="0" flipV="0">
            <a:off x="5219700" y="3105150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5381625" y="34480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电站场景的三条硬约束</a:t>
            </a:r>
            <a:endParaRPr/>
          </a:p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5381625" y="37242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不能停产</a:t>
            </a:r>
            <a:endParaRPr/>
          </a:p>
        </p:txBody>
      </p:sp>
      <p:sp>
        <p:nvSpPr>
          <p:cNvPr id="1576" name="" descr="{&quot;isTemplate&quot;:true,&quot;type&quot;:&quot;text&quot;}"/>
          <p:cNvSpPr txBox="1"/>
          <p:nvPr/>
        </p:nvSpPr>
        <p:spPr>
          <a:xfrm rot="0" flipH="0" flipV="0">
            <a:off x="6362700" y="37242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检修系统不能影响生产网，必须隔离部署</a:t>
            </a:r>
            <a:endParaRPr/>
          </a:p>
        </p:txBody>
      </p:sp>
      <p:sp>
        <p:nvSpPr>
          <p:cNvPr id="1577" name="" descr="{&quot;isTemplate&quot;:true,&quot;type&quot;:&quot;text&quot;}"/>
          <p:cNvSpPr txBox="1"/>
          <p:nvPr/>
        </p:nvSpPr>
        <p:spPr>
          <a:xfrm rot="0" flipH="0" flipV="0">
            <a:off x="5381625" y="40290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不能等审批</a:t>
            </a:r>
            <a:endParaRPr/>
          </a:p>
        </p:txBody>
      </p:sp>
      <p:sp>
        <p:nvSpPr>
          <p:cNvPr id="1578" name="" descr="{&quot;isTemplate&quot;:true,&quot;type&quot;:&quot;text&quot;}"/>
          <p:cNvSpPr txBox="1"/>
          <p:nvPr/>
        </p:nvSpPr>
        <p:spPr>
          <a:xfrm rot="0" flipH="0" flipV="0">
            <a:off x="6362700" y="40290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现场检修是连续作业，流程不允许等</a:t>
            </a:r>
            <a:endParaRPr/>
          </a:p>
        </p:txBody>
      </p:sp>
      <p:sp>
        <p:nvSpPr>
          <p:cNvPr id="1579" name="" descr="{&quot;isTemplate&quot;:true,&quot;type&quot;:&quot;text&quot;}"/>
          <p:cNvSpPr txBox="1"/>
          <p:nvPr/>
        </p:nvSpPr>
        <p:spPr>
          <a:xfrm rot="0" flipH="0" flipV="0">
            <a:off x="5381625" y="43338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不能靠网络</a:t>
            </a:r>
            <a:endParaRPr/>
          </a:p>
        </p:txBody>
      </p:sp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6362700" y="43338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厂区网闸隔离，外网访问要走专线</a:t>
            </a:r>
            <a:endParaRPr/>
          </a:p>
        </p:txBody>
      </p:sp>
      <p:sp>
        <p:nvSpPr>
          <p:cNvPr id="1581" name=""/>
          <p:cNvSpPr/>
          <p:nvPr/>
        </p:nvSpPr>
        <p:spPr>
          <a:xfrm rot="0" flipH="0" flipV="0">
            <a:off x="609600" y="5000625"/>
            <a:ext cx="19812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752475" y="50006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现场四步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752475" y="5181600"/>
            <a:ext cx="1695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必须在机舱里完成，不能在会议室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27051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28384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跟班</a:t>
            </a:r>
            <a:endParaRPr/>
          </a:p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28384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跟检修班上一整班</a:t>
            </a:r>
            <a:endParaRPr/>
          </a:p>
        </p:txBody>
      </p:sp>
      <p:sp>
        <p:nvSpPr>
          <p:cNvPr id="1587" name=""/>
          <p:cNvSpPr/>
          <p:nvPr/>
        </p:nvSpPr>
        <p:spPr>
          <a:xfrm rot="0" flipH="0" flipV="0">
            <a:off x="49530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50863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画链路</a:t>
            </a:r>
            <a:endParaRPr/>
          </a:p>
        </p:txBody>
      </p:sp>
      <p:sp>
        <p:nvSpPr>
          <p:cNvPr id="1589" name="" descr="{&quot;isTemplate&quot;:true,&quot;type&quot;:&quot;text&quot;}"/>
          <p:cNvSpPr txBox="1"/>
          <p:nvPr/>
        </p:nvSpPr>
        <p:spPr>
          <a:xfrm rot="0" flipH="0" flipV="0">
            <a:off x="50863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当场画清工单挂到哪</a:t>
            </a:r>
            <a:endParaRPr/>
          </a:p>
        </p:txBody>
      </p:sp>
      <p:sp>
        <p:nvSpPr>
          <p:cNvPr id="1590" name=""/>
          <p:cNvSpPr/>
          <p:nvPr/>
        </p:nvSpPr>
        <p:spPr>
          <a:xfrm rot="0" flipH="0" flipV="0">
            <a:off x="72009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1" name="" descr="{&quot;isTemplate&quot;:true,&quot;type&quot;:&quot;text&quot;}"/>
          <p:cNvSpPr txBox="1"/>
          <p:nvPr/>
        </p:nvSpPr>
        <p:spPr>
          <a:xfrm rot="0" flipH="0" flipV="0">
            <a:off x="73342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定密级</a:t>
            </a:r>
            <a:endParaRPr/>
          </a:p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73342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当场裁定继承规则</a:t>
            </a:r>
            <a:endParaRPr/>
          </a:p>
        </p:txBody>
      </p:sp>
      <p:sp>
        <p:nvSpPr>
          <p:cNvPr id="1593" name=""/>
          <p:cNvSpPr/>
          <p:nvPr/>
        </p:nvSpPr>
        <p:spPr>
          <a:xfrm rot="0" flipH="0" flipV="0">
            <a:off x="94488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95821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写管道</a:t>
            </a:r>
            <a:endParaRPr/>
          </a:p>
        </p:txBody>
      </p:sp>
      <p:sp>
        <p:nvSpPr>
          <p:cNvPr id="1595" name="" descr="{&quot;isTemplate&quot;:true,&quot;type&quot;:&quot;text&quot;}"/>
          <p:cNvSpPr txBox="1"/>
          <p:nvPr/>
        </p:nvSpPr>
        <p:spPr>
          <a:xfrm rot="0" flipH="0" flipV="0">
            <a:off x="95821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离线优先，失败可重放</a:t>
            </a:r>
            <a:endParaRPr/>
          </a:p>
        </p:txBody>
      </p:sp>
      <p:sp>
        <p:nvSpPr>
          <p:cNvPr id="159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9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59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31 / 60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60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案例 C：&lt;span style={{ color: '#FA4F24' }}&gt;招标书生成 —— 长任务的增量交付范式&lt;/span&gt;&#10;        &lt;/Text&gt;&#10;        &lt;Text style={{ fontSize: 20, color: '#8A8F99', marginTop: 8 }}&gt;&#10;            这个场景最难的不是技术，是「等一整份文档出来」的客户耐心。FDE 用增量输出化解它&#10;        &lt;/Text&gt;&#10;    &lt;/Box&gt;&#10;    &lt;Box style={{ height: 1, background: '#E8E8E8' }} /&gt;&#10;&#10;    &lt;Box style={{ paddingTop: 20, paddingBottom: 14, height: 479, flexDirection: 'column', gap: 13 }}&gt;&#10;&#10;        {/* 上：五段流水线 */}&#10;        &lt;Box style={{ flex: 1, flexDirection: 'row', gap: 10 }}&gt;&#10;            {[&#10;                { n: '01', k: '招标书拆解', c: '#FA4F24', d: '把整本标书切成可应答的条款清单', out: '条款清单' },&#10;                { n: '02', k: '素材匹配', c: '#E0641E', d: '按条款去匹配历史投标素材与资质', out: '素材池命中表' },&#10;                { n: '03', k: '章节生成', c: '#C43A17', d: '按章节逐节生成，可中断可续跑', out: '章节草稿' },&#10;                { n: '04', k: '就地预览', c: '#A83310', d: '右侧直接看，不下载不等待', out: '评审意见' },&#10;                { n: '05', k: '版本固化', c: '#8A2A0D', d: '模板、样例、素材分版本管理', out: '版本快照' },&#10;            ].map((x) =&gt; (&#10;                &lt;Box key={x.n} style={{ flex: 1, background: '#F7F7F8', borderRadius: 4, padding: '0 14px', flexDirection: 'column', justifyContent: 'center', borderTop: `3px solid ${x.c}` }}&gt;&#10;                    &lt;Box style={{ flexDirection: 'row', alignItems: 'baseline', gap: 8 }}&gt;&#10;                        &lt;Text style={{ fontSize: 12, color: x.c }}&gt;{x.n}&lt;/Text&gt;&#10;                        &lt;Text style={{ fontSize: 14.5, fontWeight: 'bold', color: '#0F1423' }}&gt;{x.k}&lt;/Text&gt;&#10;                    &lt;/Box&gt;&#10;                    &lt;Text style={{ fontSize: 11.5, color: '#3A4050', lineHeight: 1.45, marginTop: 9, flex: 1 }}&gt;{x.d}&lt;/Text&gt;&#10;                    &lt;Box style={{ background: '#0F1423', borderRadius: 3, padding: '0 10px', marginTop: 8 }}&gt;&#10;                        &lt;Text style={{ fontSize: 11, color: 'rgba(255,255,255,0.88)', lineHeight: 1.35 }}&gt;产出：{x.out}&lt;/Text&gt;&#10;                    &lt;/Box&gt;&#10;                &lt;/Box&gt;&#10;            ))}&#10;        &lt;/Box&gt;&#10;&#10;        {/* 中：FDE 怎么改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FDE 改掉的四件事&lt;/Text&gt;&#10;                {[&#10;                    { k: '不整份出', v: '按章节增量输出，每章可当场评审' },&#10;                    { k: '不下载', v: '右侧就地预览，评审意见落在原文旁' },&#10;                    { k: '不重跑', v: '改一段只重生成这一段，不从头再来' },&#10;                    { k: '不定死', v: '模板与素材按版本管理，可逐版对比' },&#10;                ].map((x) =&gt; (&#10;                    &lt;Box key={x.k} style={{ flexDirection: 'row', gap: 12, marginTop: 10, alignItems: 'flex-start' }}&gt;&#10;                        &lt;Text style={{ fontSize: 12, fontWeight: 'bold', color: '#FBA15C', width: 6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这个场景验证了一条 FDE 铁律&lt;/Text&gt;&#10;                &lt;Text style={{ fontSize: 12.5, color: '#3A4050', lineHeight: 1.55, marginTop: 10, flex: 1 }}&gt;&#10;                    客户不是在等结果，是在等「敢不敢签字」。增量交付让客户在第一小时就介入，而不是第三天拿到一份成品再全部推翻。&#10;                &lt;/Text&gt;&#10;                &lt;Box style={{ background: '#FFFFFF', borderRadius: 3, padding: '0 12px', marginTop: 10 }}&gt;&#10;                    &lt;Text style={{ fontSize: 12, fontWeight: 'bold', color: '#C43A17', lineHeight: 1.45 }}&gt;&#10;                        交付节奏的正确打开方式：让客户尽早犯错的，而不是让客户尽早惊喜。&#10;                    &lt;/Text&gt;&#10;                &lt;/Box&gt;&#10;            &lt;/Box&gt;&#10;        &lt;/Box&gt;&#10;&#10;        {/* 下：本体层的落点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在这个场景里&lt;/Text&gt;&#10;                &lt;Text style={{ fontSize: 12.5, fontWeight: 'bold', color: '#0F1423', marginTop: 5, lineHeight: 1.4 }}&gt;本体不是炫技，是省钱&lt;/Text&gt;&#10;            &lt;/Box&gt;&#10;            {[&#10;                { k: '条款', v: '唯一可应答单元，可复用到下一本标书' },&#10;                { k: '素材', v: '带版本与有效期，过期自动失效' },&#10;                { k: '资质', v: '有有效期，过期不参与生成' },&#10;                { k: '章节', v: '模板与生成解耦，可换模板不改逻辑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2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案例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招标书生成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长任务的增量交付范式</a:t>
            </a:r>
            <a:endParaRPr/>
          </a:p>
        </p:txBody>
      </p:sp>
      <p:sp>
        <p:nvSpPr>
          <p:cNvPr id="160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这个场景最难的不是技术，是「等一整份文档出来」的客户耐心。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用增量输出化解它</a:t>
            </a:r>
            <a:endParaRPr/>
          </a:p>
        </p:txBody>
      </p:sp>
      <p:sp>
        <p:nvSpPr>
          <p:cNvPr id="160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05" name=""/>
          <p:cNvSpPr/>
          <p:nvPr/>
        </p:nvSpPr>
        <p:spPr>
          <a:xfrm rot="0" flipH="0" flipV="0">
            <a:off x="609600" y="1371600"/>
            <a:ext cx="21145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6" name=""/>
          <p:cNvSpPr/>
          <p:nvPr/>
        </p:nvSpPr>
        <p:spPr>
          <a:xfrm rot="0" flipH="0" flipV="0">
            <a:off x="609600" y="1371600"/>
            <a:ext cx="2114550" cy="1838325"/>
          </a:xfrm>
          <a:custGeom>
            <a:pathLst>
              <a:path w="222" h="193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07" name="" descr="{&quot;isTemplate&quot;:true,&quot;type&quot;:&quot;text&quot;}"/>
          <p:cNvSpPr txBox="1"/>
          <p:nvPr/>
        </p:nvSpPr>
        <p:spPr>
          <a:xfrm rot="0" flipH="0" flipV="0">
            <a:off x="742950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08" name="" descr="{&quot;isTemplate&quot;:true,&quot;type&quot;:&quot;text&quot;}"/>
          <p:cNvSpPr txBox="1"/>
          <p:nvPr/>
        </p:nvSpPr>
        <p:spPr>
          <a:xfrm rot="0" flipH="0" flipV="0">
            <a:off x="962025" y="1371600"/>
            <a:ext cx="69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招标书拆解</a:t>
            </a:r>
            <a:endParaRPr/>
          </a:p>
        </p:txBody>
      </p:sp>
      <p:sp>
        <p:nvSpPr>
          <p:cNvPr id="1609" name="" descr="{&quot;isTemplate&quot;:true,&quot;type&quot;:&quot;text&quot;}"/>
          <p:cNvSpPr txBox="1"/>
          <p:nvPr/>
        </p:nvSpPr>
        <p:spPr>
          <a:xfrm rot="0" flipH="0" flipV="0">
            <a:off x="742950" y="1628775"/>
            <a:ext cx="1847850" cy="1304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把整本标书切成可应答的条款清单</a:t>
            </a:r>
            <a:endParaRPr/>
          </a:p>
        </p:txBody>
      </p:sp>
      <p:sp>
        <p:nvSpPr>
          <p:cNvPr id="1610" name=""/>
          <p:cNvSpPr/>
          <p:nvPr/>
        </p:nvSpPr>
        <p:spPr>
          <a:xfrm rot="0" flipH="0" flipV="0">
            <a:off x="742950" y="3009900"/>
            <a:ext cx="18478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11" name="" descr="{&quot;isTemplate&quot;:true,&quot;type&quot;:&quot;text&quot;}"/>
          <p:cNvSpPr txBox="1"/>
          <p:nvPr/>
        </p:nvSpPr>
        <p:spPr>
          <a:xfrm rot="0" flipH="0" flipV="0">
            <a:off x="838200" y="30099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条款清单</a:t>
            </a:r>
            <a:endParaRPr/>
          </a:p>
        </p:txBody>
      </p:sp>
      <p:sp>
        <p:nvSpPr>
          <p:cNvPr id="1612" name=""/>
          <p:cNvSpPr/>
          <p:nvPr/>
        </p:nvSpPr>
        <p:spPr>
          <a:xfrm rot="0" flipH="0" flipV="0">
            <a:off x="2819400" y="1371600"/>
            <a:ext cx="21240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13" name=""/>
          <p:cNvSpPr/>
          <p:nvPr/>
        </p:nvSpPr>
        <p:spPr>
          <a:xfrm rot="0" flipH="0" flipV="0">
            <a:off x="2819400" y="1371600"/>
            <a:ext cx="2124075" cy="1838325"/>
          </a:xfrm>
          <a:custGeom>
            <a:pathLst>
              <a:path w="223" h="193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614" name="" descr="{&quot;isTemplate&quot;:true,&quot;type&quot;:&quot;text&quot;}"/>
          <p:cNvSpPr txBox="1"/>
          <p:nvPr/>
        </p:nvSpPr>
        <p:spPr>
          <a:xfrm rot="0" flipH="0" flipV="0">
            <a:off x="2952750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0641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15" name="" descr="{&quot;isTemplate&quot;:true,&quot;type&quot;:&quot;text&quot;}"/>
          <p:cNvSpPr txBox="1"/>
          <p:nvPr/>
        </p:nvSpPr>
        <p:spPr>
          <a:xfrm rot="0" flipH="0" flipV="0">
            <a:off x="3171825" y="1371600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素材匹配</a:t>
            </a:r>
            <a:endParaRPr/>
          </a:p>
        </p:txBody>
      </p:sp>
      <p:sp>
        <p:nvSpPr>
          <p:cNvPr id="1616" name="" descr="{&quot;isTemplate&quot;:true,&quot;type&quot;:&quot;text&quot;}"/>
          <p:cNvSpPr txBox="1"/>
          <p:nvPr/>
        </p:nvSpPr>
        <p:spPr>
          <a:xfrm rot="0" flipH="0" flipV="0">
            <a:off x="2952750" y="1628775"/>
            <a:ext cx="1857375" cy="1304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按条款去匹配历史投标素材与资质</a:t>
            </a:r>
            <a:endParaRPr/>
          </a:p>
        </p:txBody>
      </p:sp>
      <p:sp>
        <p:nvSpPr>
          <p:cNvPr id="1617" name=""/>
          <p:cNvSpPr/>
          <p:nvPr/>
        </p:nvSpPr>
        <p:spPr>
          <a:xfrm rot="0" flipH="0" flipV="0">
            <a:off x="2952750" y="3009900"/>
            <a:ext cx="1857375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18" name="" descr="{&quot;isTemplate&quot;:true,&quot;type&quot;:&quot;text&quot;}"/>
          <p:cNvSpPr txBox="1"/>
          <p:nvPr/>
        </p:nvSpPr>
        <p:spPr>
          <a:xfrm rot="0" flipH="0" flipV="0">
            <a:off x="3048000" y="300990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素材池命中表</a:t>
            </a:r>
            <a:endParaRPr/>
          </a:p>
        </p:txBody>
      </p:sp>
      <p:sp>
        <p:nvSpPr>
          <p:cNvPr id="1619" name=""/>
          <p:cNvSpPr/>
          <p:nvPr/>
        </p:nvSpPr>
        <p:spPr>
          <a:xfrm rot="0" flipH="0" flipV="0">
            <a:off x="5038725" y="1371600"/>
            <a:ext cx="21145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0" name=""/>
          <p:cNvSpPr/>
          <p:nvPr/>
        </p:nvSpPr>
        <p:spPr>
          <a:xfrm rot="0" flipH="0" flipV="0">
            <a:off x="5038725" y="1371600"/>
            <a:ext cx="2114550" cy="1838325"/>
          </a:xfrm>
          <a:custGeom>
            <a:pathLst>
              <a:path w="222" h="193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5172075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22" name="" descr="{&quot;isTemplate&quot;:true,&quot;type&quot;:&quot;text&quot;}"/>
          <p:cNvSpPr txBox="1"/>
          <p:nvPr/>
        </p:nvSpPr>
        <p:spPr>
          <a:xfrm rot="0" flipH="0" flipV="0">
            <a:off x="5391150" y="1371600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章节生成</a:t>
            </a:r>
            <a:endParaRPr/>
          </a:p>
        </p:txBody>
      </p:sp>
      <p:sp>
        <p:nvSpPr>
          <p:cNvPr id="1623" name="" descr="{&quot;isTemplate&quot;:true,&quot;type&quot;:&quot;text&quot;}"/>
          <p:cNvSpPr txBox="1"/>
          <p:nvPr/>
        </p:nvSpPr>
        <p:spPr>
          <a:xfrm rot="0" flipH="0" flipV="0">
            <a:off x="5172075" y="1628775"/>
            <a:ext cx="1847850" cy="1304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按章节逐节生成，可中断可续跑</a:t>
            </a:r>
            <a:endParaRPr/>
          </a:p>
        </p:txBody>
      </p:sp>
      <p:sp>
        <p:nvSpPr>
          <p:cNvPr id="1624" name=""/>
          <p:cNvSpPr/>
          <p:nvPr/>
        </p:nvSpPr>
        <p:spPr>
          <a:xfrm rot="0" flipH="0" flipV="0">
            <a:off x="5172075" y="3009900"/>
            <a:ext cx="18478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25" name="" descr="{&quot;isTemplate&quot;:true,&quot;type&quot;:&quot;text&quot;}"/>
          <p:cNvSpPr txBox="1"/>
          <p:nvPr/>
        </p:nvSpPr>
        <p:spPr>
          <a:xfrm rot="0" flipH="0" flipV="0">
            <a:off x="5267325" y="30099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章节草稿</a:t>
            </a:r>
            <a:endParaRPr/>
          </a:p>
        </p:txBody>
      </p:sp>
      <p:sp>
        <p:nvSpPr>
          <p:cNvPr id="1626" name=""/>
          <p:cNvSpPr/>
          <p:nvPr/>
        </p:nvSpPr>
        <p:spPr>
          <a:xfrm rot="0" flipH="0" flipV="0">
            <a:off x="7248525" y="1371600"/>
            <a:ext cx="21240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7" name=""/>
          <p:cNvSpPr/>
          <p:nvPr/>
        </p:nvSpPr>
        <p:spPr>
          <a:xfrm rot="0" flipH="0" flipV="0">
            <a:off x="7248525" y="1371600"/>
            <a:ext cx="2124075" cy="1838325"/>
          </a:xfrm>
          <a:custGeom>
            <a:pathLst>
              <a:path w="223" h="193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cubicBezTo>
                  <a:pt x="223" y="3"/>
                  <a:pt x="222" y="3"/>
                  <a:pt x="22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628" name="" descr="{&quot;isTemplate&quot;:true,&quot;type&quot;:&quot;text&quot;}"/>
          <p:cNvSpPr txBox="1"/>
          <p:nvPr/>
        </p:nvSpPr>
        <p:spPr>
          <a:xfrm rot="0" flipH="0" flipV="0">
            <a:off x="7381875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8331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29" name="" descr="{&quot;isTemplate&quot;:true,&quot;type&quot;:&quot;text&quot;}"/>
          <p:cNvSpPr txBox="1"/>
          <p:nvPr/>
        </p:nvSpPr>
        <p:spPr>
          <a:xfrm rot="0" flipH="0" flipV="0">
            <a:off x="7600950" y="1371600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就地预览</a:t>
            </a:r>
            <a:endParaRPr/>
          </a:p>
        </p:txBody>
      </p:sp>
      <p:sp>
        <p:nvSpPr>
          <p:cNvPr id="1630" name="" descr="{&quot;isTemplate&quot;:true,&quot;type&quot;:&quot;text&quot;}"/>
          <p:cNvSpPr txBox="1"/>
          <p:nvPr/>
        </p:nvSpPr>
        <p:spPr>
          <a:xfrm rot="0" flipH="0" flipV="0">
            <a:off x="7381875" y="1628775"/>
            <a:ext cx="1857375" cy="1304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右侧直接看，不下载不等待</a:t>
            </a:r>
            <a:endParaRPr/>
          </a:p>
        </p:txBody>
      </p:sp>
      <p:sp>
        <p:nvSpPr>
          <p:cNvPr id="1631" name=""/>
          <p:cNvSpPr/>
          <p:nvPr/>
        </p:nvSpPr>
        <p:spPr>
          <a:xfrm rot="0" flipH="0" flipV="0">
            <a:off x="7381875" y="3009900"/>
            <a:ext cx="1857375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32" name="" descr="{&quot;isTemplate&quot;:true,&quot;type&quot;:&quot;text&quot;}"/>
          <p:cNvSpPr txBox="1"/>
          <p:nvPr/>
        </p:nvSpPr>
        <p:spPr>
          <a:xfrm rot="0" flipH="0" flipV="0">
            <a:off x="7477125" y="300990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评审意见</a:t>
            </a:r>
            <a:endParaRPr/>
          </a:p>
        </p:txBody>
      </p:sp>
      <p:sp>
        <p:nvSpPr>
          <p:cNvPr id="1633" name=""/>
          <p:cNvSpPr/>
          <p:nvPr/>
        </p:nvSpPr>
        <p:spPr>
          <a:xfrm rot="0" flipH="0" flipV="0">
            <a:off x="9467850" y="1371600"/>
            <a:ext cx="21145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34" name=""/>
          <p:cNvSpPr/>
          <p:nvPr/>
        </p:nvSpPr>
        <p:spPr>
          <a:xfrm rot="0" flipH="0" flipV="0">
            <a:off x="9467850" y="1371600"/>
            <a:ext cx="2114550" cy="1838325"/>
          </a:xfrm>
          <a:custGeom>
            <a:pathLst>
              <a:path w="222" h="193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8A2A0D"/>
          </a:solidFill>
          <a:ln/>
        </p:spPr>
        <p:txBody>
          <a:bodyPr/>
          <a:p/>
        </p:txBody>
      </p:sp>
      <p:sp>
        <p:nvSpPr>
          <p:cNvPr id="1635" name="" descr="{&quot;isTemplate&quot;:true,&quot;type&quot;:&quot;text&quot;}"/>
          <p:cNvSpPr txBox="1"/>
          <p:nvPr/>
        </p:nvSpPr>
        <p:spPr>
          <a:xfrm rot="0" flipH="0" flipV="0">
            <a:off x="9601200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2A0D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9820275" y="1371600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版本固化</a:t>
            </a:r>
            <a:endParaRPr/>
          </a:p>
        </p:txBody>
      </p:sp>
      <p:sp>
        <p:nvSpPr>
          <p:cNvPr id="1637" name="" descr="{&quot;isTemplate&quot;:true,&quot;type&quot;:&quot;text&quot;}"/>
          <p:cNvSpPr txBox="1"/>
          <p:nvPr/>
        </p:nvSpPr>
        <p:spPr>
          <a:xfrm rot="0" flipH="0" flipV="0">
            <a:off x="9601200" y="1628775"/>
            <a:ext cx="1847850" cy="13049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模板、样例、素材分版本管理</a:t>
            </a:r>
            <a:endParaRPr/>
          </a:p>
        </p:txBody>
      </p:sp>
      <p:sp>
        <p:nvSpPr>
          <p:cNvPr id="1638" name=""/>
          <p:cNvSpPr/>
          <p:nvPr/>
        </p:nvSpPr>
        <p:spPr>
          <a:xfrm rot="0" flipH="0" flipV="0">
            <a:off x="9601200" y="3009900"/>
            <a:ext cx="1847850" cy="171450"/>
          </a:xfrm>
          <a:prstGeom prst="roundRect">
            <a:avLst>
              <a:gd name="adj" fmla="val 16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9696450" y="300990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</a:t>
            </a: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版本快照</a:t>
            </a:r>
            <a:endParaRPr/>
          </a:p>
        </p:txBody>
      </p:sp>
      <p:sp>
        <p:nvSpPr>
          <p:cNvPr id="1640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41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改掉的四件事</a:t>
            </a:r>
            <a:endParaRPr/>
          </a:p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不整份出</a:t>
            </a:r>
            <a:endParaRPr/>
          </a:p>
        </p:txBody>
      </p:sp>
      <p:sp>
        <p:nvSpPr>
          <p:cNvPr id="1643" name="" descr="{&quot;isTemplate&quot;:true,&quot;type&quot;:&quot;text&quot;}"/>
          <p:cNvSpPr txBox="1"/>
          <p:nvPr/>
        </p:nvSpPr>
        <p:spPr>
          <a:xfrm rot="0" flipH="0" flipV="0">
            <a:off x="1485900" y="37719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按章节增量输出，每章可当场评审</a:t>
            </a:r>
            <a:endParaRPr/>
          </a:p>
        </p:txBody>
      </p:sp>
      <p:sp>
        <p:nvSpPr>
          <p:cNvPr id="1644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不下载</a:t>
            </a:r>
            <a:endParaRPr/>
          </a:p>
        </p:txBody>
      </p:sp>
      <p:sp>
        <p:nvSpPr>
          <p:cNvPr id="1645" name="" descr="{&quot;isTemplate&quot;:true,&quot;type&quot;:&quot;text&quot;}"/>
          <p:cNvSpPr txBox="1"/>
          <p:nvPr/>
        </p:nvSpPr>
        <p:spPr>
          <a:xfrm rot="0" flipH="0" flipV="0">
            <a:off x="1485900" y="40671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右侧就地预览，评审意见落在原文旁</a:t>
            </a:r>
            <a:endParaRPr/>
          </a:p>
        </p:txBody>
      </p:sp>
      <p:sp>
        <p:nvSpPr>
          <p:cNvPr id="1646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不重跑</a:t>
            </a:r>
            <a:endParaRPr/>
          </a:p>
        </p:txBody>
      </p:sp>
      <p:sp>
        <p:nvSpPr>
          <p:cNvPr id="1647" name="" descr="{&quot;isTemplate&quot;:true,&quot;type&quot;:&quot;text&quot;}"/>
          <p:cNvSpPr txBox="1"/>
          <p:nvPr/>
        </p:nvSpPr>
        <p:spPr>
          <a:xfrm rot="0" flipH="0" flipV="0">
            <a:off x="1485900" y="436245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改一段只重生成这一段，不从头再来</a:t>
            </a:r>
            <a:endParaRPr/>
          </a:p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不定死</a:t>
            </a:r>
            <a:endParaRPr/>
          </a:p>
        </p:txBody>
      </p:sp>
      <p:sp>
        <p:nvSpPr>
          <p:cNvPr id="1649" name="" descr="{&quot;isTemplate&quot;:true,&quot;type&quot;:&quot;text&quot;}"/>
          <p:cNvSpPr txBox="1"/>
          <p:nvPr/>
        </p:nvSpPr>
        <p:spPr>
          <a:xfrm rot="0" flipH="0" flipV="0">
            <a:off x="1485900" y="465772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模板与素材按版本管理，可逐版对比</a:t>
            </a:r>
            <a:endParaRPr/>
          </a:p>
        </p:txBody>
      </p:sp>
      <p:sp>
        <p:nvSpPr>
          <p:cNvPr id="1650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51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52" name="" descr="{&quot;isTemplate&quot;:true,&quot;type&quot;:&quot;text&quot;}"/>
          <p:cNvSpPr txBox="1"/>
          <p:nvPr/>
        </p:nvSpPr>
        <p:spPr>
          <a:xfrm rot="0" flipH="0" flipV="0">
            <a:off x="5381625" y="33051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这个场景验证了一条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铁律</a:t>
            </a:r>
            <a:endParaRPr/>
          </a:p>
        </p:txBody>
      </p:sp>
      <p:sp>
        <p:nvSpPr>
          <p:cNvPr id="1653" name="" descr="{&quot;isTemplate&quot;:true,&quot;type&quot;:&quot;text&quot;}"/>
          <p:cNvSpPr txBox="1"/>
          <p:nvPr/>
        </p:nvSpPr>
        <p:spPr>
          <a:xfrm rot="0" flipH="0" flipV="0">
            <a:off x="5381625" y="3571875"/>
            <a:ext cx="603885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客户不是在等结果，是在等「敢不敢签字」。增量交付让客户在第一小时就介入，而不是第三天拿到一份成品再全部推翻。</a:t>
            </a:r>
            <a:endParaRPr/>
          </a:p>
        </p:txBody>
      </p:sp>
      <p:sp>
        <p:nvSpPr>
          <p:cNvPr id="1654" name=""/>
          <p:cNvSpPr/>
          <p:nvPr/>
        </p:nvSpPr>
        <p:spPr>
          <a:xfrm rot="0" flipH="0" flipV="0">
            <a:off x="5381625" y="4876800"/>
            <a:ext cx="60388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5" name="" descr="{&quot;isTemplate&quot;:true,&quot;type&quot;:&quot;text&quot;}"/>
          <p:cNvSpPr txBox="1"/>
          <p:nvPr/>
        </p:nvSpPr>
        <p:spPr>
          <a:xfrm rot="0" flipH="0" flipV="0">
            <a:off x="5495925" y="4876800"/>
            <a:ext cx="5810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交付节奏的正确打开方式：让客户尽早犯错的，而不是让客户尽早惊喜。</a:t>
            </a:r>
            <a:endParaRPr/>
          </a:p>
        </p:txBody>
      </p:sp>
      <p:sp>
        <p:nvSpPr>
          <p:cNvPr id="1656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57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在这个场景里</a:t>
            </a:r>
            <a:endParaRPr/>
          </a:p>
        </p:txBody>
      </p:sp>
      <p:sp>
        <p:nvSpPr>
          <p:cNvPr id="1658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本体不是炫技，是省钱</a:t>
            </a:r>
            <a:endParaRPr/>
          </a:p>
        </p:txBody>
      </p:sp>
      <p:sp>
        <p:nvSpPr>
          <p:cNvPr id="1659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60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条款</a:t>
            </a:r>
            <a:endParaRPr/>
          </a:p>
        </p:txBody>
      </p:sp>
      <p:sp>
        <p:nvSpPr>
          <p:cNvPr id="1661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唯一可应答单元，可复用到下一本标书</a:t>
            </a:r>
            <a:endParaRPr/>
          </a:p>
        </p:txBody>
      </p:sp>
      <p:sp>
        <p:nvSpPr>
          <p:cNvPr id="1662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63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素材</a:t>
            </a:r>
            <a:endParaRPr/>
          </a:p>
        </p:txBody>
      </p:sp>
      <p:sp>
        <p:nvSpPr>
          <p:cNvPr id="1664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带版本与有效期，过期自动失效</a:t>
            </a:r>
            <a:endParaRPr/>
          </a:p>
        </p:txBody>
      </p:sp>
      <p:sp>
        <p:nvSpPr>
          <p:cNvPr id="1665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66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资质</a:t>
            </a:r>
            <a:endParaRPr/>
          </a:p>
        </p:txBody>
      </p:sp>
      <p:sp>
        <p:nvSpPr>
          <p:cNvPr id="1667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有有效期，过期不参与生成</a:t>
            </a:r>
            <a:endParaRPr/>
          </a:p>
        </p:txBody>
      </p:sp>
      <p:sp>
        <p:nvSpPr>
          <p:cNvPr id="1668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69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章节</a:t>
            </a:r>
            <a:endParaRPr/>
          </a:p>
        </p:txBody>
      </p:sp>
      <p:sp>
        <p:nvSpPr>
          <p:cNvPr id="1670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模板与生成解耦，可换模板不改逻辑</a:t>
            </a:r>
            <a:endParaRPr/>
          </a:p>
        </p:txBody>
      </p:sp>
      <p:sp>
        <p:nvSpPr>
          <p:cNvPr id="167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72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73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674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32 / 60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675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失败现场一：&lt;span style={{ color: '#FA4F24' }}&gt;技术正确，运营无关&lt;/span&gt;&#10;        &lt;/Text&gt;&#10;        &lt;Text style={{ fontSize: 20, color: '#8A8F99', marginTop: 8 }}&gt;&#10;            Delta 单独干时的默认结局。系统跑得很漂亮，但客户业务从不使用它&#10;        &lt;/Text&gt;&#10;    &lt;/Box&gt;&#10;    &lt;Box style={{ height: 1, background: '#E8E8E8' }} /&gt;&#10;&#10;    &lt;Box style={{ paddingTop: 20, paddingBottom: 14, height: 479, flexDirection: 'column', gap: 13 }}&gt;&#10;&#10;        {/* 上：症状 */}&#10;        &lt;Box style={{ flex: 1, flexDirection: 'row', gap: 11 }}&gt;&#10;            {[&#10;                { k: '技术指标全绿', c: '#B8BCC4', d: '准确率 92%、响应 300ms、日处理百万级、零事故。放到任何评审会上都是满分。' },&#10;                { k: '业务使用为零', c: '#8A8F99', d: '上线三个月，日活用户 0–2 人，且都是 FDE 自己点的。' },&#10;                { k: '问不出原因', c: '#5A6070', d: '技术团队认为是业务不重视，业务认为是技术不好用。互相指责，项目进入维护状态。' },&#10;            ].map((x) =&gt; (&#10;                &lt;Box key={x.k} style={{ flex: 1, background: '#F7F7F8', borderRadius: 4, padding: '0 16px', flexDirection: 'column', justifyContent: 'center', borderTop: `3px solid ${x.c}` }}&gt;&#10;                    &lt;Text style={{ fontSize: 17, fontWeight: 'bold', color: '#3A4050', lineHeight: 1.3 }}&gt;{x.k}&lt;/Text&gt;&#10;                    &lt;Text style={{ fontSize: 12.5, color: '#5A6070', lineHeight: 1.5, marginTop: 12, flex: 1 }}&gt;{x.d}&lt;/Text&gt;&#10;                &lt;/Box&gt;&#10;            ))}&#10;        &lt;/Box&gt;&#10;&#10;        {/* 中：根因与对策 */}&#10;        &lt;Box style={{ height: 190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四个根因与对应的 Echo 动作&lt;/Text&gt;&#10;                {[&#10;                    { k: '痛点是编的', v: 'Echo 去追决策链，验证痛点是否真实存在' },&#10;                    { k: '流程不对齐', v: 'Echo 跟作业员走一遍，找真实断点' },&#10;                    { k: '没进流程', v: 'Echo 追问：这个结论会回到哪个动作里' },&#10;                    { k: '没人担责', v: 'Echo 找到签字的人，把名字写进移交清单' },&#10;                ].map((x) =&gt; (&#10;                    &lt;Box key={x.k} style={{ flexDirection: 'row', gap: 12, marginTop: 11, alignItems: 'flex-start' }}&gt;&#10;                        &lt;Text style={{ fontSize: 12, fontWeight: 'bold', color: '#FBA15C', width: 84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自检三问&lt;/Text&gt;&#10;                {[&#10;                    '如果我今天离开，客户会继续用吗？',&#10;                    '这个系统的结论，改变了谁的什么动作？',&#10;                    '客户有没有一次因为它而改变过原有做法？',&#10;                ].map((x, i) =&gt; (&#10;                    &lt;Box key={x} style={{ flexDirection: 'row', gap: 11, marginTop: 13, alignItems: 'flex-start' }}&gt;&#10;                        &lt;Box style={{ width: 20, height: 20, borderRadius: 10, background: '#FA4F24', alignItems: 'center', justifyContent: 'center' }}&gt;&#10;                            &lt;Text style={{ fontSize: 11, fontWeight: 'bold', color: '#FFFFFF' }}&gt;{i + 1}&lt;/Text&gt;&#10;                        &lt;/Box&gt;&#10;                        &lt;Text style={{ fontSize: 12.5, color: '#3A4050', lineHeight: 1.4, flex: 1 }}&gt;{x}&lt;/Text&gt;&#10;                    &lt;/Box&gt;&#10;                ))}&#10;                &lt;Text style={{ fontSize: 11.5, fontWeight: 'bold', color: '#C43A17', lineHeight: 1.4, marginTop: 14 }}&gt;&#10;                    三问答不出「是」，就是运营无关。&#10;                &lt;/Text&gt;&#10;            &lt;/Box&gt;&#10;        &lt;/Box&gt;&#10;&#10;        {/* 下：预防机制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预防机制&lt;/Text&gt;&#10;                &lt;Text style={{ fontSize: 12.5, fontWeight: 'bold', color: '#0F1423', marginTop: 5, lineHeight: 1.4 }}&gt;不靠事后复盘，靠事前设置&lt;/Text&gt;&#10;            &lt;/Box&gt;&#10;            {[&#10;                { k: 'Echo 必须配对', v: '不进项目的 Echo，视同没配对' },&#10;                { k: '使用量当指标', v: '把日活写进验收项，不是可选' },&#10;                { k: '写回路径强制', v: '无写回路径的场景不许上线' },&#10;                { k: '一周内复核', v: '上线第七天查使用量，不达标即整改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3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失败现场一：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技术正确，运营无关</a:t>
            </a:r>
            <a:endParaRPr/>
          </a:p>
        </p:txBody>
      </p:sp>
      <p:sp>
        <p:nvSpPr>
          <p:cNvPr id="167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单独干时的默认结局。系统跑得很漂亮，但客户业务从不使用它</a:t>
            </a:r>
            <a:endParaRPr/>
          </a:p>
        </p:txBody>
      </p:sp>
      <p:sp>
        <p:nvSpPr>
          <p:cNvPr id="167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80" name=""/>
          <p:cNvSpPr/>
          <p:nvPr/>
        </p:nvSpPr>
        <p:spPr>
          <a:xfrm rot="0" flipH="0" flipV="0">
            <a:off x="609600" y="1371600"/>
            <a:ext cx="359092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81" name=""/>
          <p:cNvSpPr/>
          <p:nvPr/>
        </p:nvSpPr>
        <p:spPr>
          <a:xfrm rot="0" flipH="0" flipV="0">
            <a:off x="609600" y="1371600"/>
            <a:ext cx="3590925" cy="1800225"/>
          </a:xfrm>
          <a:custGeom>
            <a:pathLst>
              <a:path w="377" h="189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B8BCC4"/>
          </a:solidFill>
          <a:ln/>
        </p:spPr>
        <p:txBody>
          <a:bodyPr/>
          <a:p/>
        </p:txBody>
      </p:sp>
      <p:sp>
        <p:nvSpPr>
          <p:cNvPr id="1682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3A4050"/>
                </a:solidFill>
                <a:latin typeface="Microsoft YaHei"/>
                <a:ea typeface="Microsoft YaHei"/>
              </a:rPr>
              <a:t>技术指标全绿</a:t>
            </a:r>
            <a:endParaRPr/>
          </a:p>
        </p:txBody>
      </p:sp>
      <p:sp>
        <p:nvSpPr>
          <p:cNvPr id="1683" name="" descr="{&quot;isTemplate&quot;:true,&quot;type&quot;:&quot;text&quot;}"/>
          <p:cNvSpPr txBox="1"/>
          <p:nvPr/>
        </p:nvSpPr>
        <p:spPr>
          <a:xfrm rot="0" flipH="0" flipV="0">
            <a:off x="762000" y="1743075"/>
            <a:ext cx="3286125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准确率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92%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、响应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300ms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、日处理百万级、零事故。放到任何评审会上都是满分。</a:t>
            </a:r>
            <a:endParaRPr/>
          </a:p>
        </p:txBody>
      </p:sp>
      <p:sp>
        <p:nvSpPr>
          <p:cNvPr id="1684" name=""/>
          <p:cNvSpPr/>
          <p:nvPr/>
        </p:nvSpPr>
        <p:spPr>
          <a:xfrm rot="0" flipH="0" flipV="0">
            <a:off x="4305300" y="1371600"/>
            <a:ext cx="35814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85" name=""/>
          <p:cNvSpPr/>
          <p:nvPr/>
        </p:nvSpPr>
        <p:spPr>
          <a:xfrm rot="0" flipH="0" flipV="0">
            <a:off x="4305300" y="1371600"/>
            <a:ext cx="3581400" cy="1800225"/>
          </a:xfrm>
          <a:custGeom>
            <a:pathLst>
              <a:path w="376" h="189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cubicBezTo>
                  <a:pt x="376" y="3"/>
                  <a:pt x="375" y="3"/>
                  <a:pt x="3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686" name="" descr="{&quot;isTemplate&quot;:true,&quot;type&quot;:&quot;text&quot;}"/>
          <p:cNvSpPr txBox="1"/>
          <p:nvPr/>
        </p:nvSpPr>
        <p:spPr>
          <a:xfrm rot="0" flipH="0" flipV="0">
            <a:off x="4457700" y="1371600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3A4050"/>
                </a:solidFill>
                <a:latin typeface="Microsoft YaHei"/>
                <a:ea typeface="Microsoft YaHei"/>
              </a:rPr>
              <a:t>业务使用为零</a:t>
            </a:r>
            <a:endParaRPr/>
          </a:p>
        </p:txBody>
      </p:sp>
      <p:sp>
        <p:nvSpPr>
          <p:cNvPr id="1687" name="" descr="{&quot;isTemplate&quot;:true,&quot;type&quot;:&quot;text&quot;}"/>
          <p:cNvSpPr txBox="1"/>
          <p:nvPr/>
        </p:nvSpPr>
        <p:spPr>
          <a:xfrm rot="0" flipH="0" flipV="0">
            <a:off x="4457700" y="1743075"/>
            <a:ext cx="3276600" cy="1400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上线三个月，日活用户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0–2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人，且都是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自己点的。</a:t>
            </a:r>
            <a:endParaRPr/>
          </a:p>
        </p:txBody>
      </p:sp>
      <p:sp>
        <p:nvSpPr>
          <p:cNvPr id="1688" name=""/>
          <p:cNvSpPr/>
          <p:nvPr/>
        </p:nvSpPr>
        <p:spPr>
          <a:xfrm rot="0" flipH="0" flipV="0">
            <a:off x="7991475" y="1371600"/>
            <a:ext cx="359092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89" name=""/>
          <p:cNvSpPr/>
          <p:nvPr/>
        </p:nvSpPr>
        <p:spPr>
          <a:xfrm rot="0" flipH="0" flipV="0">
            <a:off x="7991475" y="1371600"/>
            <a:ext cx="3590925" cy="1800225"/>
          </a:xfrm>
          <a:custGeom>
            <a:pathLst>
              <a:path w="377" h="189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5A6070"/>
          </a:solidFill>
          <a:ln/>
        </p:spPr>
        <p:txBody>
          <a:bodyPr/>
          <a:p/>
        </p:txBody>
      </p:sp>
      <p:sp>
        <p:nvSpPr>
          <p:cNvPr id="1690" name="" descr="{&quot;isTemplate&quot;:true,&quot;type&quot;:&quot;text&quot;}"/>
          <p:cNvSpPr txBox="1"/>
          <p:nvPr/>
        </p:nvSpPr>
        <p:spPr>
          <a:xfrm rot="0" flipH="0" flipV="0">
            <a:off x="8143875" y="1371600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3A4050"/>
                </a:solidFill>
                <a:latin typeface="Microsoft YaHei"/>
                <a:ea typeface="Microsoft YaHei"/>
              </a:rPr>
              <a:t>问不出原因</a:t>
            </a:r>
            <a:endParaRPr/>
          </a:p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8143875" y="1743075"/>
            <a:ext cx="3286125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技术团队认为是业务不重视，业务认为是技术不好用。互相指责，项目进入维护状态。</a:t>
            </a:r>
            <a:endParaRPr/>
          </a:p>
        </p:txBody>
      </p:sp>
      <p:sp>
        <p:nvSpPr>
          <p:cNvPr id="1692" name=""/>
          <p:cNvSpPr/>
          <p:nvPr/>
        </p:nvSpPr>
        <p:spPr>
          <a:xfrm rot="0" flipH="0" flipV="0">
            <a:off x="609600" y="3267075"/>
            <a:ext cx="44577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93" name="" descr="{&quot;isTemplate&quot;:true,&quot;type&quot;:&quot;text&quot;}"/>
          <p:cNvSpPr txBox="1"/>
          <p:nvPr/>
        </p:nvSpPr>
        <p:spPr>
          <a:xfrm rot="0" flipH="0" flipV="0">
            <a:off x="781050" y="34956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四个根因与对应的</a:t>
            </a: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1694" name="" descr="{&quot;isTemplate&quot;:true,&quot;type&quot;:&quot;text&quot;}"/>
          <p:cNvSpPr txBox="1"/>
          <p:nvPr/>
        </p:nvSpPr>
        <p:spPr>
          <a:xfrm rot="0" flipH="0" flipV="0">
            <a:off x="781050" y="37433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痛点是编的</a:t>
            </a:r>
            <a:endParaRPr/>
          </a:p>
        </p:txBody>
      </p:sp>
      <p:sp>
        <p:nvSpPr>
          <p:cNvPr id="1695" name="" descr="{&quot;isTemplate&quot;:true,&quot;type&quot;:&quot;text&quot;}"/>
          <p:cNvSpPr txBox="1"/>
          <p:nvPr/>
        </p:nvSpPr>
        <p:spPr>
          <a:xfrm rot="0" flipH="0" flipV="0">
            <a:off x="1695450" y="37433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去追决策链，验证痛点是否真实存在</a:t>
            </a:r>
            <a:endParaRPr/>
          </a:p>
        </p:txBody>
      </p:sp>
      <p:sp>
        <p:nvSpPr>
          <p:cNvPr id="1696" name="" descr="{&quot;isTemplate&quot;:true,&quot;type&quot;:&quot;text&quot;}"/>
          <p:cNvSpPr txBox="1"/>
          <p:nvPr/>
        </p:nvSpPr>
        <p:spPr>
          <a:xfrm rot="0" flipH="0" flipV="0">
            <a:off x="781050" y="40481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流程不对齐</a:t>
            </a:r>
            <a:endParaRPr/>
          </a:p>
        </p:txBody>
      </p:sp>
      <p:sp>
        <p:nvSpPr>
          <p:cNvPr id="1697" name="" descr="{&quot;isTemplate&quot;:true,&quot;type&quot;:&quot;text&quot;}"/>
          <p:cNvSpPr txBox="1"/>
          <p:nvPr/>
        </p:nvSpPr>
        <p:spPr>
          <a:xfrm rot="0" flipH="0" flipV="0">
            <a:off x="1695450" y="40481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跟作业员走一遍，找真实断点</a:t>
            </a:r>
            <a:endParaRPr/>
          </a:p>
        </p:txBody>
      </p:sp>
      <p:sp>
        <p:nvSpPr>
          <p:cNvPr id="1698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没进流程</a:t>
            </a:r>
            <a:endParaRPr/>
          </a:p>
        </p:txBody>
      </p:sp>
      <p:sp>
        <p:nvSpPr>
          <p:cNvPr id="1699" name="" descr="{&quot;isTemplate&quot;:true,&quot;type&quot;:&quot;text&quot;}"/>
          <p:cNvSpPr txBox="1"/>
          <p:nvPr/>
        </p:nvSpPr>
        <p:spPr>
          <a:xfrm rot="0" flipH="0" flipV="0">
            <a:off x="1695450" y="43529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追问：这个结论会回到哪个动作里</a:t>
            </a:r>
            <a:endParaRPr/>
          </a:p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没人担责</a:t>
            </a:r>
            <a:endParaRPr/>
          </a:p>
        </p:txBody>
      </p:sp>
      <p:sp>
        <p:nvSpPr>
          <p:cNvPr id="1701" name="" descr="{&quot;isTemplate&quot;:true,&quot;type&quot;:&quot;text&quot;}"/>
          <p:cNvSpPr txBox="1"/>
          <p:nvPr/>
        </p:nvSpPr>
        <p:spPr>
          <a:xfrm rot="0" flipH="0" flipV="0">
            <a:off x="1695450" y="46577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找到签字的人，把名字写进移交清单</a:t>
            </a:r>
            <a:endParaRPr/>
          </a:p>
        </p:txBody>
      </p:sp>
      <p:sp>
        <p:nvSpPr>
          <p:cNvPr id="1702" name=""/>
          <p:cNvSpPr/>
          <p:nvPr/>
        </p:nvSpPr>
        <p:spPr>
          <a:xfrm rot="0" flipH="0" flipV="0">
            <a:off x="5219700" y="3267075"/>
            <a:ext cx="6400800" cy="1809750"/>
          </a:xfrm>
          <a:prstGeom prst="roundRect">
            <a:avLst>
              <a:gd name="adj" fmla="val 210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03" name=""/>
          <p:cNvSpPr/>
          <p:nvPr/>
        </p:nvSpPr>
        <p:spPr>
          <a:xfrm rot="0" flipH="0" flipV="0">
            <a:off x="5219700" y="3267075"/>
            <a:ext cx="6400800" cy="1809750"/>
          </a:xfrm>
          <a:custGeom>
            <a:pathLst>
              <a:path w="672" h="190">
                <a:moveTo>
                  <a:pt x="4" y="190"/>
                </a:moveTo>
                <a:cubicBezTo>
                  <a:pt x="2" y="190"/>
                  <a:pt x="0" y="188"/>
                  <a:pt x="0" y="18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4" name="" descr="{&quot;isTemplate&quot;:true,&quot;type&quot;:&quot;text&quot;}"/>
          <p:cNvSpPr txBox="1"/>
          <p:nvPr/>
        </p:nvSpPr>
        <p:spPr>
          <a:xfrm rot="0" flipH="0" flipV="0">
            <a:off x="5381625" y="34385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自检三问</a:t>
            </a:r>
            <a:endParaRPr/>
          </a:p>
        </p:txBody>
      </p:sp>
      <p:sp>
        <p:nvSpPr>
          <p:cNvPr id="1705" name=""/>
          <p:cNvSpPr/>
          <p:nvPr/>
        </p:nvSpPr>
        <p:spPr>
          <a:xfrm rot="0" flipH="0" flipV="0">
            <a:off x="5381625" y="3733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6" name="" descr="{&quot;isTemplate&quot;:true,&quot;type&quot;:&quot;text&quot;}"/>
          <p:cNvSpPr txBox="1"/>
          <p:nvPr/>
        </p:nvSpPr>
        <p:spPr>
          <a:xfrm rot="0" flipH="0" flipV="0">
            <a:off x="5448300" y="3762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07" name="" descr="{&quot;isTemplate&quot;:true,&quot;type&quot;:&quot;text&quot;}"/>
          <p:cNvSpPr txBox="1"/>
          <p:nvPr/>
        </p:nvSpPr>
        <p:spPr>
          <a:xfrm rot="0" flipH="0" flipV="0">
            <a:off x="5676900" y="3733800"/>
            <a:ext cx="5743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如果我今天离开，客户会继续用吗？</a:t>
            </a:r>
            <a:endParaRPr/>
          </a:p>
        </p:txBody>
      </p:sp>
      <p:sp>
        <p:nvSpPr>
          <p:cNvPr id="1708" name=""/>
          <p:cNvSpPr/>
          <p:nvPr/>
        </p:nvSpPr>
        <p:spPr>
          <a:xfrm rot="0" flipH="0" flipV="0">
            <a:off x="5381625" y="4057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9" name="" descr="{&quot;isTemplate&quot;:true,&quot;type&quot;:&quot;text&quot;}"/>
          <p:cNvSpPr txBox="1"/>
          <p:nvPr/>
        </p:nvSpPr>
        <p:spPr>
          <a:xfrm rot="0" flipH="0" flipV="0">
            <a:off x="5448300" y="40862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10" name="" descr="{&quot;isTemplate&quot;:true,&quot;type&quot;:&quot;text&quot;}"/>
          <p:cNvSpPr txBox="1"/>
          <p:nvPr/>
        </p:nvSpPr>
        <p:spPr>
          <a:xfrm rot="0" flipH="0" flipV="0">
            <a:off x="5676900" y="4057650"/>
            <a:ext cx="5743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这个系统的结论，改变了谁的什么动作？</a:t>
            </a:r>
            <a:endParaRPr/>
          </a:p>
        </p:txBody>
      </p:sp>
      <p:sp>
        <p:nvSpPr>
          <p:cNvPr id="1711" name=""/>
          <p:cNvSpPr/>
          <p:nvPr/>
        </p:nvSpPr>
        <p:spPr>
          <a:xfrm rot="0" flipH="0" flipV="0">
            <a:off x="5381625" y="4381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12" name="" descr="{&quot;isTemplate&quot;:true,&quot;type&quot;:&quot;text&quot;}"/>
          <p:cNvSpPr txBox="1"/>
          <p:nvPr/>
        </p:nvSpPr>
        <p:spPr>
          <a:xfrm rot="0" flipH="0" flipV="0">
            <a:off x="5448300" y="44100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13" name="" descr="{&quot;isTemplate&quot;:true,&quot;type&quot;:&quot;text&quot;}"/>
          <p:cNvSpPr txBox="1"/>
          <p:nvPr/>
        </p:nvSpPr>
        <p:spPr>
          <a:xfrm rot="0" flipH="0" flipV="0">
            <a:off x="5676900" y="4381500"/>
            <a:ext cx="5743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客户有没有一次因为它而改变过原有做法？</a:t>
            </a:r>
            <a:endParaRPr/>
          </a:p>
        </p:txBody>
      </p:sp>
      <p:sp>
        <p:nvSpPr>
          <p:cNvPr id="1714" name="" descr="{&quot;isTemplate&quot;:true,&quot;type&quot;:&quot;text&quot;}"/>
          <p:cNvSpPr txBox="1"/>
          <p:nvPr/>
        </p:nvSpPr>
        <p:spPr>
          <a:xfrm rot="0" flipH="0" flipV="0">
            <a:off x="5381625" y="4714875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三问答不出「是」，就是运营无关。</a:t>
            </a:r>
            <a:endParaRPr/>
          </a:p>
        </p:txBody>
      </p:sp>
      <p:sp>
        <p:nvSpPr>
          <p:cNvPr id="1715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16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预防机制</a:t>
            </a:r>
            <a:endParaRPr/>
          </a:p>
        </p:txBody>
      </p:sp>
      <p:sp>
        <p:nvSpPr>
          <p:cNvPr id="1717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不靠事后复盘，靠事前设置</a:t>
            </a:r>
            <a:endParaRPr/>
          </a:p>
        </p:txBody>
      </p:sp>
      <p:sp>
        <p:nvSpPr>
          <p:cNvPr id="1718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19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必须配对</a:t>
            </a:r>
            <a:endParaRPr/>
          </a:p>
        </p:txBody>
      </p:sp>
      <p:sp>
        <p:nvSpPr>
          <p:cNvPr id="1720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不进项目的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Echo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，视同没配对</a:t>
            </a:r>
            <a:endParaRPr/>
          </a:p>
        </p:txBody>
      </p:sp>
      <p:sp>
        <p:nvSpPr>
          <p:cNvPr id="1721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22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使用量当指标</a:t>
            </a:r>
            <a:endParaRPr/>
          </a:p>
        </p:txBody>
      </p:sp>
      <p:sp>
        <p:nvSpPr>
          <p:cNvPr id="1723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把日活写进验收项，不是可选</a:t>
            </a:r>
            <a:endParaRPr/>
          </a:p>
        </p:txBody>
      </p:sp>
      <p:sp>
        <p:nvSpPr>
          <p:cNvPr id="1724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25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写回路径强制</a:t>
            </a:r>
            <a:endParaRPr/>
          </a:p>
        </p:txBody>
      </p:sp>
      <p:sp>
        <p:nvSpPr>
          <p:cNvPr id="1726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无写回路径的场景不许上线</a:t>
            </a:r>
            <a:endParaRPr/>
          </a:p>
        </p:txBody>
      </p:sp>
      <p:sp>
        <p:nvSpPr>
          <p:cNvPr id="1727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28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一周内复核</a:t>
            </a:r>
            <a:endParaRPr/>
          </a:p>
        </p:txBody>
      </p:sp>
      <p:sp>
        <p:nvSpPr>
          <p:cNvPr id="1729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上线第七天查使用量，不达标即整改</a:t>
            </a:r>
            <a:endParaRPr/>
          </a:p>
        </p:txBody>
      </p:sp>
      <p:sp>
        <p:nvSpPr>
          <p:cNvPr id="173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31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32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733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33 / 60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73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失败现场二：&lt;span style={{ color: '#FA4F24' }}&gt;把咨询产出物当产品&lt;/span&gt;&#10;        &lt;/Text&gt;&#10;        &lt;Text style={{ fontSize: 20, color: '#8A8F99', marginTop: 8 }}&gt;&#10;            这是转型期最常见的自我污染：FDE 天天做交付，手上全是 PPT 模板，交付物不自觉就退化成了 PPT&#10;        &lt;/Text&gt;&#10;    &lt;/Box&gt;&#10;    &lt;Box style={{ height: 1, background: '#E8E8E8' }} /&gt;&#10;&#10;    &lt;Box style={{ paddingTop: 20, paddingBottom: 14, height: 479, flexDirection: 'column', gap: 13 }}&gt;&#10;&#10;        {/* 上：五个退化症状 */}&#10;        &lt;Box style={{ flex: 1, flexDirection: 'column', gap: 9 }}&gt;&#10;            {[&#10;                { k: '架构图画得极漂亮，但连不上一条真实数据通路', c: '#FA4F24' },&#10;                { k: '方案写完就归档，客户生产系统里什么都没变', c: '#E0641E' },&#10;                { k: '把「方案通过评审」当成交付完成，客户却从未登录过', c: '#C43A17' },&#10;                { k: '把客户签字当成上线，签字的人没打开过系统', c: '#A83310' },&#10;                { k: '认为「以后再补数据接入」，结果永远没补', c: '#8A2A0D' },&#10;            ].map((x) =&gt; (&#10;                &lt;Box key={x.k} style={{ flex: 1, background: '#F7F7F8', borderRadius: 4, padding: '0 16px', flexDirection: 'row', alignItems: 'center', gap: 13, borderLeft: `4px solid ${x.c}` }}&gt;&#10;                    &lt;Box style={{ width: 22, height: 22, borderRadius: 11, background: x.c, alignItems: 'center', justifyContent: 'center' }}&gt;&#10;                        &lt;Text style={{ fontSize: 12, fontWeight: 'bold', color: '#FFFFFF' }}&gt;!&lt;/Text&gt;&#10;                    &lt;/Box&gt;&#10;                    &lt;Text style={{ fontSize: 13, color: '#3A4050', lineHeight: 1.4, flex: 1 }}&gt;{x.k}&lt;/Text&gt;&#10;                &lt;/Box&gt;&#10;            ))}&#10;        &lt;/Box&gt;&#10;&#10;        {/* 中：判据与替代物 */}&#10;        &lt;Box style={{ height: 20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最硬的一条判据&lt;/Text&gt;&#10;                &lt;Text style={{ fontSize: 12.5, color: 'rgba(255,255,255,0.85)', lineHeight: 1.5, marginTop: 9, flex: 1 }}&gt;&#10;                    把 PPT 的页数全删掉，问一句：客户生产环境里多了什么？如果答不上来，那么无论 PPT 多厚，都是零。&#10;                &lt;/Text&gt;&#10;                &lt;Box style={{ background: 'rgba(250,79,36,0.22)', borderRadius: 3, padding: '0 12px', marginTop: 10 }}&gt;&#10;                    &lt;Text style={{ fontSize: 12, color: '#FBA15C', lineHeight: 1.45 }}&gt;&#10;                        前三种角色交付的是「关于系统的论述」。FDE 交付的是「系统本身」。这是不可混淆的边界。&#10;                    &lt;/Text&gt;&#10;                &lt;/Box&gt;&#10;            &lt;/Box&gt;&#10;&#10;            &lt;Box style={{ flex: 1, flexDirection: 'column', gap: 10 }}&gt;&#10;                &lt;Box style={{ flex: 1, background: '#FFF3EE', borderRadius: 4, borderLeft: '4px solid #FA4F24', padding: '0 16px', flexDirection: 'column', justifyContent: 'center' }}&gt;&#10;                    &lt;Text style={{ fontSize: 14, fontWeight: 'bold', color: '#C43A17' }}&gt;每一份产出物的唯一去向&lt;/Text&gt;&#10;                    {[&#10;                        { k: '蓝图与架构图', v: '进本体设计文档，不单独交付' },&#10;                        { k: '方案与建议', v: '进代码注释与运维手册' },&#10;                        { k: '汇报材料', v: '进移交清单的口头讲解' },&#10;                        { k: '风险清单', v: '进告警规则与值班表' },&#10;                    ].map((x) =&gt; (&#10;                        &lt;Box key={x.k} style={{ flexDirection: 'row', gap: 11, marginTop: 8, alignItems: 'center' }}&gt;&#10;                            &lt;Text style={{ fontSize: 12, fontWeight: 'bold', color: '#C43A17', width: 100 }}&gt;{x.k}&lt;/Text&gt;&#10;                            &lt;Text style={{ fontSize: 12.5, color: '#3A4050', lineHeight: 1.35, flex: 1 }}&gt;{x.v}&lt;/Text&gt;&#10;                        &lt;/Box&gt;&#10;                    ))}&#10;                &lt;/Box&gt;&#10;                &lt;Box style={{ height: 62, background: '#F7F7F8', borderRadius: 4, padding: '0 15px', flexDirection: 'row', alignItems: 'center', gap: 12 }}&gt;&#10;                    &lt;Text style={{ fontSize: 13, fontWeight: 'bold', color: '#0F1423', width: 108 }}&gt;交付物最小集&lt;/Text&gt;&#10;                    &lt;Text style={{ fontSize: 11.5, color: '#3A4050', lineHeight: 1.4, flex: 1 }}&gt;&#10;                        活的系统、本体定义、口径裁定、运维手册、回流提案、培训记录。少一件即视为未交付。&#10;                    &lt;/Text&gt;&#10;                &lt;/Box&gt;&#10;            &lt;/Box&gt;&#10;        &lt;/Box&gt;&#10;&#10;        {/* 下：自保机制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怎么防止退化&lt;/Text&gt;&#10;                &lt;Text style={{ fontSize: 12.5, fontWeight: 'bold', color: '#0F1423', marginTop: 5, lineHeight: 1.4 }}&gt;把评审口径从「好看」换成「上线」&lt;/Text&gt;&#10;            &lt;/Box&gt;&#10;            {[&#10;                { k: '代码进生产', v: '每周必须有合入客户环境的提交' },&#10;                { k: '现场天数', v: '每周至少两天在客户现场' },&#10;                { k: '手写代码量', v: '记录行数，不能只写代码不落地' },&#10;                { k: '交接必须发生', v: '没有客户方接手就不算完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4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失败现场二：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把咨询产出物当产品</a:t>
            </a:r>
            <a:endParaRPr/>
          </a:p>
        </p:txBody>
      </p:sp>
      <p:sp>
        <p:nvSpPr>
          <p:cNvPr id="173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这是转型期最常见的自我污染：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天天做交付，手上全是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模板，交付物不自觉就退化成了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173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39" name=""/>
          <p:cNvSpPr/>
          <p:nvPr/>
        </p:nvSpPr>
        <p:spPr>
          <a:xfrm rot="0" flipH="0" flipV="0">
            <a:off x="647700" y="1343025"/>
            <a:ext cx="10972800" cy="219075"/>
          </a:xfrm>
          <a:prstGeom prst="roundRect">
            <a:avLst>
              <a:gd name="adj" fmla="val 173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40" name=""/>
          <p:cNvSpPr/>
          <p:nvPr/>
        </p:nvSpPr>
        <p:spPr>
          <a:xfrm rot="0" flipH="0" flipV="0">
            <a:off x="647700" y="1343025"/>
            <a:ext cx="10972800" cy="219075"/>
          </a:xfrm>
          <a:custGeom>
            <a:pathLst>
              <a:path w="1152" h="23">
                <a:moveTo>
                  <a:pt x="4" y="23"/>
                </a:moveTo>
                <a:cubicBezTo>
                  <a:pt x="2" y="23"/>
                  <a:pt x="0" y="21"/>
                  <a:pt x="0" y="1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41" name=""/>
          <p:cNvSpPr/>
          <p:nvPr/>
        </p:nvSpPr>
        <p:spPr>
          <a:xfrm rot="0" flipH="0" flipV="0">
            <a:off x="800100" y="13525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42" name="" descr="{&quot;isTemplate&quot;:true,&quot;type&quot;:&quot;text&quot;}"/>
          <p:cNvSpPr txBox="1"/>
          <p:nvPr/>
        </p:nvSpPr>
        <p:spPr>
          <a:xfrm rot="0" flipH="0" flipV="0">
            <a:off x="885825" y="1390650"/>
            <a:ext cx="47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743" name="" descr="{&quot;isTemplate&quot;:true,&quot;type&quot;:&quot;text&quot;}"/>
          <p:cNvSpPr txBox="1"/>
          <p:nvPr/>
        </p:nvSpPr>
        <p:spPr>
          <a:xfrm rot="0" flipH="0" flipV="0">
            <a:off x="1133475" y="1352550"/>
            <a:ext cx="102965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架构图画得极漂亮，但连不上一条真实数据通路</a:t>
            </a:r>
            <a:endParaRPr/>
          </a:p>
        </p:txBody>
      </p:sp>
      <p:sp>
        <p:nvSpPr>
          <p:cNvPr id="1744" name=""/>
          <p:cNvSpPr/>
          <p:nvPr/>
        </p:nvSpPr>
        <p:spPr>
          <a:xfrm rot="0" flipH="0" flipV="0">
            <a:off x="647700" y="1647825"/>
            <a:ext cx="10972800" cy="219075"/>
          </a:xfrm>
          <a:prstGeom prst="roundRect">
            <a:avLst>
              <a:gd name="adj" fmla="val 173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45" name=""/>
          <p:cNvSpPr/>
          <p:nvPr/>
        </p:nvSpPr>
        <p:spPr>
          <a:xfrm rot="0" flipH="0" flipV="0">
            <a:off x="647700" y="1647825"/>
            <a:ext cx="10972800" cy="219075"/>
          </a:xfrm>
          <a:custGeom>
            <a:pathLst>
              <a:path w="1152" h="23">
                <a:moveTo>
                  <a:pt x="4" y="23"/>
                </a:moveTo>
                <a:cubicBezTo>
                  <a:pt x="2" y="23"/>
                  <a:pt x="0" y="21"/>
                  <a:pt x="0" y="1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746" name=""/>
          <p:cNvSpPr/>
          <p:nvPr/>
        </p:nvSpPr>
        <p:spPr>
          <a:xfrm rot="0" flipH="0" flipV="0">
            <a:off x="800100" y="16573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747" name="" descr="{&quot;isTemplate&quot;:true,&quot;type&quot;:&quot;text&quot;}"/>
          <p:cNvSpPr txBox="1"/>
          <p:nvPr/>
        </p:nvSpPr>
        <p:spPr>
          <a:xfrm rot="0" flipH="0" flipV="0">
            <a:off x="885825" y="1695450"/>
            <a:ext cx="47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748" name="" descr="{&quot;isTemplate&quot;:true,&quot;type&quot;:&quot;text&quot;}"/>
          <p:cNvSpPr txBox="1"/>
          <p:nvPr/>
        </p:nvSpPr>
        <p:spPr>
          <a:xfrm rot="0" flipH="0" flipV="0">
            <a:off x="1133475" y="1657350"/>
            <a:ext cx="102965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方案写完就归档，客户生产系统里什么都没变</a:t>
            </a:r>
            <a:endParaRPr/>
          </a:p>
        </p:txBody>
      </p:sp>
      <p:sp>
        <p:nvSpPr>
          <p:cNvPr id="1749" name=""/>
          <p:cNvSpPr/>
          <p:nvPr/>
        </p:nvSpPr>
        <p:spPr>
          <a:xfrm rot="0" flipH="0" flipV="0">
            <a:off x="647700" y="1952625"/>
            <a:ext cx="10972800" cy="22860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50" name=""/>
          <p:cNvSpPr/>
          <p:nvPr/>
        </p:nvSpPr>
        <p:spPr>
          <a:xfrm rot="0" flipH="0" flipV="0">
            <a:off x="647700" y="1952625"/>
            <a:ext cx="10972800" cy="228600"/>
          </a:xfrm>
          <a:custGeom>
            <a:pathLst>
              <a:path w="1152" h="24">
                <a:moveTo>
                  <a:pt x="4" y="24"/>
                </a:moveTo>
                <a:cubicBezTo>
                  <a:pt x="2" y="24"/>
                  <a:pt x="0" y="22"/>
                  <a:pt x="0" y="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4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51" name=""/>
          <p:cNvSpPr/>
          <p:nvPr/>
        </p:nvSpPr>
        <p:spPr>
          <a:xfrm rot="0" flipH="0" flipV="0">
            <a:off x="800100" y="19621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52" name="" descr="{&quot;isTemplate&quot;:true,&quot;type&quot;:&quot;text&quot;}"/>
          <p:cNvSpPr txBox="1"/>
          <p:nvPr/>
        </p:nvSpPr>
        <p:spPr>
          <a:xfrm rot="0" flipH="0" flipV="0">
            <a:off x="885825" y="2000250"/>
            <a:ext cx="47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753" name="" descr="{&quot;isTemplate&quot;:true,&quot;type&quot;:&quot;text&quot;}"/>
          <p:cNvSpPr txBox="1"/>
          <p:nvPr/>
        </p:nvSpPr>
        <p:spPr>
          <a:xfrm rot="0" flipH="0" flipV="0">
            <a:off x="1133475" y="1962150"/>
            <a:ext cx="102965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把「方案通过评审」当成交付完成，客户却从未登录过</a:t>
            </a:r>
            <a:endParaRPr/>
          </a:p>
        </p:txBody>
      </p:sp>
      <p:sp>
        <p:nvSpPr>
          <p:cNvPr id="1754" name=""/>
          <p:cNvSpPr/>
          <p:nvPr/>
        </p:nvSpPr>
        <p:spPr>
          <a:xfrm rot="0" flipH="0" flipV="0">
            <a:off x="647700" y="2266950"/>
            <a:ext cx="10972800" cy="219075"/>
          </a:xfrm>
          <a:prstGeom prst="roundRect">
            <a:avLst>
              <a:gd name="adj" fmla="val 173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55" name=""/>
          <p:cNvSpPr/>
          <p:nvPr/>
        </p:nvSpPr>
        <p:spPr>
          <a:xfrm rot="0" flipH="0" flipV="0">
            <a:off x="647700" y="2266950"/>
            <a:ext cx="10972800" cy="219075"/>
          </a:xfrm>
          <a:custGeom>
            <a:pathLst>
              <a:path w="1152" h="23">
                <a:moveTo>
                  <a:pt x="4" y="23"/>
                </a:moveTo>
                <a:cubicBezTo>
                  <a:pt x="2" y="23"/>
                  <a:pt x="0" y="21"/>
                  <a:pt x="0" y="1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756" name=""/>
          <p:cNvSpPr/>
          <p:nvPr/>
        </p:nvSpPr>
        <p:spPr>
          <a:xfrm rot="0" flipH="0" flipV="0">
            <a:off x="800100" y="2276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1757" name="" descr="{&quot;isTemplate&quot;:true,&quot;type&quot;:&quot;text&quot;}"/>
          <p:cNvSpPr txBox="1"/>
          <p:nvPr/>
        </p:nvSpPr>
        <p:spPr>
          <a:xfrm rot="0" flipH="0" flipV="0">
            <a:off x="885825" y="2314575"/>
            <a:ext cx="47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758" name="" descr="{&quot;isTemplate&quot;:true,&quot;type&quot;:&quot;text&quot;}"/>
          <p:cNvSpPr txBox="1"/>
          <p:nvPr/>
        </p:nvSpPr>
        <p:spPr>
          <a:xfrm rot="0" flipH="0" flipV="0">
            <a:off x="1133475" y="2276475"/>
            <a:ext cx="102965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把客户签字当成上线，签字的人没打开过系统</a:t>
            </a:r>
            <a:endParaRPr/>
          </a:p>
        </p:txBody>
      </p:sp>
      <p:sp>
        <p:nvSpPr>
          <p:cNvPr id="1759" name=""/>
          <p:cNvSpPr/>
          <p:nvPr/>
        </p:nvSpPr>
        <p:spPr>
          <a:xfrm rot="0" flipH="0" flipV="0">
            <a:off x="647700" y="2571750"/>
            <a:ext cx="10972800" cy="219075"/>
          </a:xfrm>
          <a:prstGeom prst="roundRect">
            <a:avLst>
              <a:gd name="adj" fmla="val 173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60" name=""/>
          <p:cNvSpPr/>
          <p:nvPr/>
        </p:nvSpPr>
        <p:spPr>
          <a:xfrm rot="0" flipH="0" flipV="0">
            <a:off x="647700" y="2571750"/>
            <a:ext cx="10972800" cy="219075"/>
          </a:xfrm>
          <a:custGeom>
            <a:pathLst>
              <a:path w="1152" h="23">
                <a:moveTo>
                  <a:pt x="4" y="23"/>
                </a:moveTo>
                <a:cubicBezTo>
                  <a:pt x="2" y="23"/>
                  <a:pt x="0" y="21"/>
                  <a:pt x="0" y="1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"/>
                </a:lnTo>
                <a:close/>
              </a:path>
            </a:pathLst>
          </a:custGeom>
          <a:solidFill>
            <a:srgbClr val="8A2A0D"/>
          </a:solidFill>
          <a:ln/>
        </p:spPr>
        <p:txBody>
          <a:bodyPr/>
          <a:p/>
        </p:txBody>
      </p:sp>
      <p:sp>
        <p:nvSpPr>
          <p:cNvPr id="1761" name=""/>
          <p:cNvSpPr/>
          <p:nvPr/>
        </p:nvSpPr>
        <p:spPr>
          <a:xfrm rot="0" flipH="0" flipV="0">
            <a:off x="800100" y="2581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8A2A0D"/>
          </a:solidFill>
          <a:ln/>
        </p:spPr>
        <p:txBody>
          <a:bodyPr/>
          <a:p/>
        </p:txBody>
      </p:sp>
      <p:sp>
        <p:nvSpPr>
          <p:cNvPr id="1762" name="" descr="{&quot;isTemplate&quot;:true,&quot;type&quot;:&quot;text&quot;}"/>
          <p:cNvSpPr txBox="1"/>
          <p:nvPr/>
        </p:nvSpPr>
        <p:spPr>
          <a:xfrm rot="0" flipH="0" flipV="0">
            <a:off x="885825" y="2619375"/>
            <a:ext cx="47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1763" name="" descr="{&quot;isTemplate&quot;:true,&quot;type&quot;:&quot;text&quot;}"/>
          <p:cNvSpPr txBox="1"/>
          <p:nvPr/>
        </p:nvSpPr>
        <p:spPr>
          <a:xfrm rot="0" flipH="0" flipV="0">
            <a:off x="1133475" y="2581275"/>
            <a:ext cx="102965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认为「以后再补数据接入」，结果永远没补</a:t>
            </a:r>
            <a:endParaRPr/>
          </a:p>
        </p:txBody>
      </p:sp>
      <p:sp>
        <p:nvSpPr>
          <p:cNvPr id="1764" name=""/>
          <p:cNvSpPr/>
          <p:nvPr/>
        </p:nvSpPr>
        <p:spPr>
          <a:xfrm rot="0" flipH="0" flipV="0">
            <a:off x="609600" y="2914650"/>
            <a:ext cx="4457700" cy="1962150"/>
          </a:xfrm>
          <a:prstGeom prst="roundRect">
            <a:avLst>
              <a:gd name="adj" fmla="val 194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765" name="" descr="{&quot;isTemplate&quot;:true,&quot;type&quot;:&quot;text&quot;}"/>
          <p:cNvSpPr txBox="1"/>
          <p:nvPr/>
        </p:nvSpPr>
        <p:spPr>
          <a:xfrm rot="0" flipH="0" flipV="0">
            <a:off x="781050" y="291465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最硬的一条判据</a:t>
            </a:r>
            <a:endParaRPr/>
          </a:p>
        </p:txBody>
      </p:sp>
      <p:sp>
        <p:nvSpPr>
          <p:cNvPr id="1766" name="" descr="{&quot;isTemplate&quot;:true,&quot;type&quot;:&quot;text&quot;}"/>
          <p:cNvSpPr txBox="1"/>
          <p:nvPr/>
        </p:nvSpPr>
        <p:spPr>
          <a:xfrm rot="0" flipH="0" flipV="0">
            <a:off x="781050" y="3143250"/>
            <a:ext cx="41148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的页数全删掉，问一句：客户生产环境里多了什么？如果答不上来，那么无论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多厚，都是零。</a:t>
            </a:r>
            <a:endParaRPr/>
          </a:p>
        </p:txBody>
      </p:sp>
      <p:sp>
        <p:nvSpPr>
          <p:cNvPr id="1767" name=""/>
          <p:cNvSpPr/>
          <p:nvPr/>
        </p:nvSpPr>
        <p:spPr>
          <a:xfrm rot="0" flipH="0" flipV="0">
            <a:off x="781050" y="4476750"/>
            <a:ext cx="41148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768" name="" descr="{&quot;isTemplate&quot;:true,&quot;type&quot;:&quot;text&quot;}"/>
          <p:cNvSpPr txBox="1"/>
          <p:nvPr/>
        </p:nvSpPr>
        <p:spPr>
          <a:xfrm rot="0" flipH="0" flipV="0">
            <a:off x="895350" y="4476750"/>
            <a:ext cx="38862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前三种角色交付的是「关于系统的论述」。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交付的是「系统本身」。这是不可混淆的边界。</a:t>
            </a:r>
            <a:endParaRPr/>
          </a:p>
        </p:txBody>
      </p:sp>
      <p:sp>
        <p:nvSpPr>
          <p:cNvPr id="1769" name=""/>
          <p:cNvSpPr/>
          <p:nvPr/>
        </p:nvSpPr>
        <p:spPr>
          <a:xfrm rot="0" flipH="0" flipV="0">
            <a:off x="5219700" y="2914650"/>
            <a:ext cx="6400800" cy="1276350"/>
          </a:xfrm>
          <a:prstGeom prst="roundRect">
            <a:avLst>
              <a:gd name="adj" fmla="val 298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70" name=""/>
          <p:cNvSpPr/>
          <p:nvPr/>
        </p:nvSpPr>
        <p:spPr>
          <a:xfrm rot="0" flipH="0" flipV="0">
            <a:off x="5219700" y="2914650"/>
            <a:ext cx="6400800" cy="1276350"/>
          </a:xfrm>
          <a:custGeom>
            <a:pathLst>
              <a:path w="672" h="134">
                <a:moveTo>
                  <a:pt x="4" y="134"/>
                </a:moveTo>
                <a:cubicBezTo>
                  <a:pt x="2" y="134"/>
                  <a:pt x="0" y="132"/>
                  <a:pt x="0" y="13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71" name="" descr="{&quot;isTemplate&quot;:true,&quot;type&quot;:&quot;text&quot;}"/>
          <p:cNvSpPr txBox="1"/>
          <p:nvPr/>
        </p:nvSpPr>
        <p:spPr>
          <a:xfrm rot="0" flipH="0" flipV="0">
            <a:off x="5372100" y="292417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每一份产出物的唯一去向</a:t>
            </a:r>
            <a:endParaRPr/>
          </a:p>
        </p:txBody>
      </p:sp>
      <p:sp>
        <p:nvSpPr>
          <p:cNvPr id="1772" name="" descr="{&quot;isTemplate&quot;:true,&quot;type&quot;:&quot;text&quot;}"/>
          <p:cNvSpPr txBox="1"/>
          <p:nvPr/>
        </p:nvSpPr>
        <p:spPr>
          <a:xfrm rot="0" flipH="0" flipV="0">
            <a:off x="5372100" y="31908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蓝图与架构图</a:t>
            </a:r>
            <a:endParaRPr/>
          </a:p>
        </p:txBody>
      </p:sp>
      <p:sp>
        <p:nvSpPr>
          <p:cNvPr id="1773" name="" descr="{&quot;isTemplate&quot;:true,&quot;type&quot;:&quot;text&quot;}"/>
          <p:cNvSpPr txBox="1"/>
          <p:nvPr/>
        </p:nvSpPr>
        <p:spPr>
          <a:xfrm rot="0" flipH="0" flipV="0">
            <a:off x="6429375" y="3162300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进本体设计文档，不单独交付</a:t>
            </a:r>
            <a:endParaRPr/>
          </a:p>
        </p:txBody>
      </p:sp>
      <p:sp>
        <p:nvSpPr>
          <p:cNvPr id="1774" name="" descr="{&quot;isTemplate&quot;:true,&quot;type&quot;:&quot;text&quot;}"/>
          <p:cNvSpPr txBox="1"/>
          <p:nvPr/>
        </p:nvSpPr>
        <p:spPr>
          <a:xfrm rot="0" flipH="0" flipV="0">
            <a:off x="5372100" y="346710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方案与建议</a:t>
            </a:r>
            <a:endParaRPr/>
          </a:p>
        </p:txBody>
      </p:sp>
      <p:sp>
        <p:nvSpPr>
          <p:cNvPr id="1775" name="" descr="{&quot;isTemplate&quot;:true,&quot;type&quot;:&quot;text&quot;}"/>
          <p:cNvSpPr txBox="1"/>
          <p:nvPr/>
        </p:nvSpPr>
        <p:spPr>
          <a:xfrm rot="0" flipH="0" flipV="0">
            <a:off x="6429375" y="34385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进代码注释与运维手册</a:t>
            </a:r>
            <a:endParaRPr/>
          </a:p>
        </p:txBody>
      </p:sp>
      <p:sp>
        <p:nvSpPr>
          <p:cNvPr id="1776" name="" descr="{&quot;isTemplate&quot;:true,&quot;type&quot;:&quot;text&quot;}"/>
          <p:cNvSpPr txBox="1"/>
          <p:nvPr/>
        </p:nvSpPr>
        <p:spPr>
          <a:xfrm rot="0" flipH="0" flipV="0">
            <a:off x="5372100" y="374332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汇报材料</a:t>
            </a:r>
            <a:endParaRPr/>
          </a:p>
        </p:txBody>
      </p:sp>
      <p:sp>
        <p:nvSpPr>
          <p:cNvPr id="1777" name="" descr="{&quot;isTemplate&quot;:true,&quot;type&quot;:&quot;text&quot;}"/>
          <p:cNvSpPr txBox="1"/>
          <p:nvPr/>
        </p:nvSpPr>
        <p:spPr>
          <a:xfrm rot="0" flipH="0" flipV="0">
            <a:off x="6429375" y="3714750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进移交清单的口头讲解</a:t>
            </a:r>
            <a:endParaRPr/>
          </a:p>
        </p:txBody>
      </p:sp>
      <p:sp>
        <p:nvSpPr>
          <p:cNvPr id="1778" name="" descr="{&quot;isTemplate&quot;:true,&quot;type&quot;:&quot;text&quot;}"/>
          <p:cNvSpPr txBox="1"/>
          <p:nvPr/>
        </p:nvSpPr>
        <p:spPr>
          <a:xfrm rot="0" flipH="0" flipV="0">
            <a:off x="5372100" y="401955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风险清单</a:t>
            </a:r>
            <a:endParaRPr/>
          </a:p>
        </p:txBody>
      </p:sp>
      <p:sp>
        <p:nvSpPr>
          <p:cNvPr id="1779" name="" descr="{&quot;isTemplate&quot;:true,&quot;type&quot;:&quot;text&quot;}"/>
          <p:cNvSpPr txBox="1"/>
          <p:nvPr/>
        </p:nvSpPr>
        <p:spPr>
          <a:xfrm rot="0" flipH="0" flipV="0">
            <a:off x="6429375" y="399097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进告警规则与值班表</a:t>
            </a:r>
            <a:endParaRPr/>
          </a:p>
        </p:txBody>
      </p:sp>
      <p:sp>
        <p:nvSpPr>
          <p:cNvPr id="1780" name=""/>
          <p:cNvSpPr/>
          <p:nvPr/>
        </p:nvSpPr>
        <p:spPr>
          <a:xfrm rot="0" flipH="0" flipV="0">
            <a:off x="5181600" y="4286250"/>
            <a:ext cx="6400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81" name="" descr="{&quot;isTemplate&quot;:true,&quot;type&quot;:&quot;text&quot;}"/>
          <p:cNvSpPr txBox="1"/>
          <p:nvPr/>
        </p:nvSpPr>
        <p:spPr>
          <a:xfrm rot="0" flipH="0" flipV="0">
            <a:off x="5324475" y="450532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交付物最小集</a:t>
            </a:r>
            <a:endParaRPr/>
          </a:p>
        </p:txBody>
      </p:sp>
      <p:sp>
        <p:nvSpPr>
          <p:cNvPr id="1782" name="" descr="{&quot;isTemplate&quot;:true,&quot;type&quot;:&quot;text&quot;}"/>
          <p:cNvSpPr txBox="1"/>
          <p:nvPr/>
        </p:nvSpPr>
        <p:spPr>
          <a:xfrm rot="0" flipH="0" flipV="0">
            <a:off x="6467475" y="4486275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活的系统、本体定义、口径裁定、运维手册、回流提案、培训记录。少一件即视为未交付。</a:t>
            </a:r>
            <a:endParaRPr/>
          </a:p>
        </p:txBody>
      </p:sp>
      <p:sp>
        <p:nvSpPr>
          <p:cNvPr id="1783" name=""/>
          <p:cNvSpPr/>
          <p:nvPr/>
        </p:nvSpPr>
        <p:spPr>
          <a:xfrm rot="0" flipH="0" flipV="0">
            <a:off x="609600" y="5000625"/>
            <a:ext cx="19812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84" name="" descr="{&quot;isTemplate&quot;:true,&quot;type&quot;:&quot;text&quot;}"/>
          <p:cNvSpPr txBox="1"/>
          <p:nvPr/>
        </p:nvSpPr>
        <p:spPr>
          <a:xfrm rot="0" flipH="0" flipV="0">
            <a:off x="752475" y="50006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怎么防止退化</a:t>
            </a:r>
            <a:endParaRPr/>
          </a:p>
        </p:txBody>
      </p:sp>
      <p:sp>
        <p:nvSpPr>
          <p:cNvPr id="1785" name="" descr="{&quot;isTemplate&quot;:true,&quot;type&quot;:&quot;text&quot;}"/>
          <p:cNvSpPr txBox="1"/>
          <p:nvPr/>
        </p:nvSpPr>
        <p:spPr>
          <a:xfrm rot="0" flipH="0" flipV="0">
            <a:off x="752475" y="5181600"/>
            <a:ext cx="1695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把评审口径从「好看」换成「上线」</a:t>
            </a:r>
            <a:endParaRPr/>
          </a:p>
        </p:txBody>
      </p:sp>
      <p:sp>
        <p:nvSpPr>
          <p:cNvPr id="1786" name=""/>
          <p:cNvSpPr/>
          <p:nvPr/>
        </p:nvSpPr>
        <p:spPr>
          <a:xfrm rot="0" flipH="0" flipV="0">
            <a:off x="27051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87" name="" descr="{&quot;isTemplate&quot;:true,&quot;type&quot;:&quot;text&quot;}"/>
          <p:cNvSpPr txBox="1"/>
          <p:nvPr/>
        </p:nvSpPr>
        <p:spPr>
          <a:xfrm rot="0" flipH="0" flipV="0">
            <a:off x="28384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代码进生产</a:t>
            </a:r>
            <a:endParaRPr/>
          </a:p>
        </p:txBody>
      </p:sp>
      <p:sp>
        <p:nvSpPr>
          <p:cNvPr id="1788" name="" descr="{&quot;isTemplate&quot;:true,&quot;type&quot;:&quot;text&quot;}"/>
          <p:cNvSpPr txBox="1"/>
          <p:nvPr/>
        </p:nvSpPr>
        <p:spPr>
          <a:xfrm rot="0" flipH="0" flipV="0">
            <a:off x="28384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每周必须有合入客户环境的提交</a:t>
            </a:r>
            <a:endParaRPr/>
          </a:p>
        </p:txBody>
      </p:sp>
      <p:sp>
        <p:nvSpPr>
          <p:cNvPr id="1789" name=""/>
          <p:cNvSpPr/>
          <p:nvPr/>
        </p:nvSpPr>
        <p:spPr>
          <a:xfrm rot="0" flipH="0" flipV="0">
            <a:off x="49530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90" name="" descr="{&quot;isTemplate&quot;:true,&quot;type&quot;:&quot;text&quot;}"/>
          <p:cNvSpPr txBox="1"/>
          <p:nvPr/>
        </p:nvSpPr>
        <p:spPr>
          <a:xfrm rot="0" flipH="0" flipV="0">
            <a:off x="50863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现场天数</a:t>
            </a:r>
            <a:endParaRPr/>
          </a:p>
        </p:txBody>
      </p:sp>
      <p:sp>
        <p:nvSpPr>
          <p:cNvPr id="1791" name="" descr="{&quot;isTemplate&quot;:true,&quot;type&quot;:&quot;text&quot;}"/>
          <p:cNvSpPr txBox="1"/>
          <p:nvPr/>
        </p:nvSpPr>
        <p:spPr>
          <a:xfrm rot="0" flipH="0" flipV="0">
            <a:off x="50863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每周至少两天在客户现场</a:t>
            </a:r>
            <a:endParaRPr/>
          </a:p>
        </p:txBody>
      </p:sp>
      <p:sp>
        <p:nvSpPr>
          <p:cNvPr id="1792" name=""/>
          <p:cNvSpPr/>
          <p:nvPr/>
        </p:nvSpPr>
        <p:spPr>
          <a:xfrm rot="0" flipH="0" flipV="0">
            <a:off x="72009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93" name="" descr="{&quot;isTemplate&quot;:true,&quot;type&quot;:&quot;text&quot;}"/>
          <p:cNvSpPr txBox="1"/>
          <p:nvPr/>
        </p:nvSpPr>
        <p:spPr>
          <a:xfrm rot="0" flipH="0" flipV="0">
            <a:off x="73342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手写代码量</a:t>
            </a:r>
            <a:endParaRPr/>
          </a:p>
        </p:txBody>
      </p:sp>
      <p:sp>
        <p:nvSpPr>
          <p:cNvPr id="1794" name="" descr="{&quot;isTemplate&quot;:true,&quot;type&quot;:&quot;text&quot;}"/>
          <p:cNvSpPr txBox="1"/>
          <p:nvPr/>
        </p:nvSpPr>
        <p:spPr>
          <a:xfrm rot="0" flipH="0" flipV="0">
            <a:off x="73342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记录行数，不能只写代码不落地</a:t>
            </a:r>
            <a:endParaRPr/>
          </a:p>
        </p:txBody>
      </p:sp>
      <p:sp>
        <p:nvSpPr>
          <p:cNvPr id="1795" name=""/>
          <p:cNvSpPr/>
          <p:nvPr/>
        </p:nvSpPr>
        <p:spPr>
          <a:xfrm rot="0" flipH="0" flipV="0">
            <a:off x="9448800" y="5000625"/>
            <a:ext cx="21336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96" name="" descr="{&quot;isTemplate&quot;:true,&quot;type&quot;:&quot;text&quot;}"/>
          <p:cNvSpPr txBox="1"/>
          <p:nvPr/>
        </p:nvSpPr>
        <p:spPr>
          <a:xfrm rot="0" flipH="0" flipV="0">
            <a:off x="9582150" y="51149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交接必须发生</a:t>
            </a:r>
            <a:endParaRPr/>
          </a:p>
        </p:txBody>
      </p:sp>
      <p:sp>
        <p:nvSpPr>
          <p:cNvPr id="1797" name="" descr="{&quot;isTemplate&quot;:true,&quot;type&quot;:&quot;text&quot;}"/>
          <p:cNvSpPr txBox="1"/>
          <p:nvPr/>
        </p:nvSpPr>
        <p:spPr>
          <a:xfrm rot="0" flipH="0" flipV="0">
            <a:off x="9582150" y="53054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没有客户方接手就不算完</a:t>
            </a:r>
            <a:endParaRPr/>
          </a:p>
        </p:txBody>
      </p:sp>
      <p:sp>
        <p:nvSpPr>
          <p:cNvPr id="179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9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0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80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34 / 60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80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失败现场三：&lt;span style={{ color: '#FA4F24' }}&gt;经验不回流，碎石路修成断头路&lt;/span&gt;&#10;        &lt;/Text&gt;&#10;        &lt;Text style={{ fontSize: 20, color: '#8A8F99', marginTop: 8 }}&gt;&#10;            项目漂亮地交付了，客户满意了，公司一点能力都没多。半年后第二个客户还要从零开始&#10;        &lt;/Text&gt;&#10;    &lt;/Box&gt;&#10;    &lt;Box style={{ height: 1, background: '#E8E8E8' }} /&gt;&#10;&#10;    &lt;Box style={{ paddingTop: 20, paddingBottom: 14, height: 479, flexDirection: 'column', gap: 13 }}&gt;&#10;&#10;        {/* 上：断头路机制 */}&#10;        &lt;Box style={{ flex: 1, flexDirection: 'row', gap: 11 }}&gt;&#10;            {[&#10;                { k: '第一段通了', c: '#FA4F24', d: '现场铺路完成，客户上线，使用量达标。FDE 也很自豪。' },&#10;                { k: '第二段缺失', c: '#C43A17', d: '没有人负责把现场经验整理成平台提案——因为这不在任何人的 KPI 里。' },&#10;                { k: '第三段断了', c: '#5A6070', d: '第二个同类客户到来，团队重新造一遍轮子，成本与第一个完全相同。' },&#10;                { k: '结论', c: '#8A8F99', d: '碎石路没有连成高速公路，公司在用人力替代抽象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5.5, fontWeight: 'bold', color: x.c }}&gt;{x.k}&lt;/Text&gt;&#10;                    &lt;Text style={{ fontSize: 12.5, color: '#3A4050', lineHeight: 1.5, marginTop: 11, flex: 1 }}&gt;{x.d}&lt;/Text&gt;&#10;                &lt;/Box&gt;&#10;            ))}&#10;        &lt;/Box&gt;&#10;&#10;        {/* 中：回流清单 */}&#10;        &lt;Box style={{ height: 190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离场前必须提交的五类回流物&lt;/Text&gt;&#10;                {[&#10;                    { k: '本体骨架', v: '某类行业的标准对象与链接模型' },&#10;                    { k: '管道模板', v: '含幂等、重试、批次号的成熟写法' },&#10;                    { k: 'Agent 模板', v: '工具白名单、出口策略、记忆边界' },&#10;                    { k: '验收清单', v: '十二项检查的同类行业改造版' },&#10;                    { k: '坑位清单', v: '哪里踩过雷、为什么、下次怎么避' },&#10;                ].map((x) =&gt; (&#10;                    &lt;Box key={x.k} style={{ flexDirection: 'row', gap: 12, marginTop: 10, alignItems: 'flex-start' }}&gt;&#10;                        &lt;Text style={{ fontSize: 11.5, fontWeight: 'bold', color: '#FBA15C', width: 68 }}&gt;{x.k}&lt;/Text&gt;&#10;                        &lt;Text style={{ fontSize: 12, color: 'rgba(255,255,255,0.85)', lineHeight: 1.35, flex: 1 }}&gt;{x.v}&lt;/Text&gt;&#10;                    &lt;/Box&gt;&#10;                ))}&#10;            &lt;/Box&gt;&#10;&#10;            &lt;Box style={{ flex: 1, flexDirection: 'column', gap: 10 }}&gt;&#10;                &lt;Box style={{ flex: 1, background: '#FFF3EE', borderRadius: 4, borderLeft: '4px solid #FA4F24', padding: '0 16px', flexDirection: 'column', justifyContent: 'center' }}&gt;&#10;                    &lt;Text style={{ fontSize: 14, fontWeight: 'bold', color: '#C43A17' }}&gt;回流之所以不发生，是因为没定责任&lt;/Text&gt;&#10;                    {[&#10;                        '客户现场的人不会主动整理——他下周就换项目了',&#10;                        '总部 Dev 不知道现场做了什么——没人通知他',&#10;                        '管理层不考核这项——所以它永远排在最后',&#10;                    ].map((x) =&gt; (&#10;                        &lt;Box key={x} style={{ flexDirection: 'row', gap: 10, marginTop: 10, alignItems: 'flex-start' }}&gt;&#10;                            &lt;Box style={{ width: 5, height: 5, borderRadius: 3, background: '#FA4F24', marginTop: 6 }} /&gt;&#10;                            &lt;Text style={{ fontSize: 12.5, color: '#3A4050', lineHeight: 1.4, flex: 1 }}&gt;{x}&lt;/Text&gt;&#10;                        &lt;/Box&gt;&#10;                    ))}&#10;                &lt;/Box&gt;&#10;                &lt;Box style={{ height: 64, background: '#F7F7F8', borderRadius: 4, padding: '0 15px', flexDirection: 'row', alignItems: 'center', gap: 12 }}&gt;&#10;                    &lt;Text style={{ fontSize: 13, fontWeight: 'bold', color: '#0F1423', width: 108 }}&gt;制度性解法&lt;/Text&gt;&#10;                    &lt;Text style={{ fontSize: 11.5, color: '#3A4050', lineHeight: 1.4, flex: 1 }}&gt;&#10;                        回流提案不签字，项目不算关闭。这一条要写进交付流程，而不是靠个人自觉。&#10;                    &lt;/Text&gt;&#10;                &lt;/Box&gt;&#10;            &lt;/Box&gt;&#10;        &lt;/Box&gt;&#10;&#10;        {/* 下：可复用度指标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管理上唯一的抓手&lt;/Text&gt;&#10;                &lt;Text style={{ fontSize: 12.5, fontWeight: 'bold', color: '#0F1423', marginTop: 5, lineHeight: 1.4 }}&gt;复用率&lt;/Text&gt;&#10;            &lt;/Box&gt;&#10;            {[&#10;                { k: 'A 档占比', v: '交付内容里可通用部分的比例' },&#10;                { k: '二次成本', v: '第二客户投入 ÷ 第一客户投入' },&#10;                { k: '回流及时', v: '离场后两周内提案是否到总部' },&#10;                { k: '采纳率', v: '总部真正采纳并入平台的比例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5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失败现场三：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经验不回流，碎石路修成断头路</a:t>
            </a:r>
            <a:endParaRPr/>
          </a:p>
        </p:txBody>
      </p:sp>
      <p:sp>
        <p:nvSpPr>
          <p:cNvPr id="180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项目漂亮地交付了，客户满意了，公司一点能力都没多。半年后第二个客户还要从零开始</a:t>
            </a:r>
            <a:endParaRPr/>
          </a:p>
        </p:txBody>
      </p:sp>
      <p:sp>
        <p:nvSpPr>
          <p:cNvPr id="180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07" name=""/>
          <p:cNvSpPr/>
          <p:nvPr/>
        </p:nvSpPr>
        <p:spPr>
          <a:xfrm rot="0" flipH="0" flipV="0">
            <a:off x="609600" y="1371600"/>
            <a:ext cx="26670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08" name=""/>
          <p:cNvSpPr/>
          <p:nvPr/>
        </p:nvSpPr>
        <p:spPr>
          <a:xfrm rot="0" flipH="0" flipV="0">
            <a:off x="609600" y="1371600"/>
            <a:ext cx="2667000" cy="1800225"/>
          </a:xfrm>
          <a:custGeom>
            <a:pathLst>
              <a:path w="280" h="1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09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第一段通了</a:t>
            </a:r>
            <a:endParaRPr/>
          </a:p>
        </p:txBody>
      </p:sp>
      <p:sp>
        <p:nvSpPr>
          <p:cNvPr id="1810" name="" descr="{&quot;isTemplate&quot;:true,&quot;type&quot;:&quot;text&quot;}"/>
          <p:cNvSpPr txBox="1"/>
          <p:nvPr/>
        </p:nvSpPr>
        <p:spPr>
          <a:xfrm rot="0" flipH="0" flipV="0">
            <a:off x="752475" y="1657350"/>
            <a:ext cx="238125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现场铺路完成，客户上线，使用量达标。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也很自豪。</a:t>
            </a:r>
            <a:endParaRPr/>
          </a:p>
        </p:txBody>
      </p:sp>
      <p:sp>
        <p:nvSpPr>
          <p:cNvPr id="1811" name=""/>
          <p:cNvSpPr/>
          <p:nvPr/>
        </p:nvSpPr>
        <p:spPr>
          <a:xfrm rot="0" flipH="0" flipV="0">
            <a:off x="3381375" y="1371600"/>
            <a:ext cx="26670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12" name=""/>
          <p:cNvSpPr/>
          <p:nvPr/>
        </p:nvSpPr>
        <p:spPr>
          <a:xfrm rot="0" flipH="0" flipV="0">
            <a:off x="3381375" y="1371600"/>
            <a:ext cx="2667000" cy="1800225"/>
          </a:xfrm>
          <a:custGeom>
            <a:pathLst>
              <a:path w="280" h="1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13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第二段缺失</a:t>
            </a:r>
            <a:endParaRPr/>
          </a:p>
        </p:txBody>
      </p:sp>
      <p:sp>
        <p:nvSpPr>
          <p:cNvPr id="1814" name="" descr="{&quot;isTemplate&quot;:true,&quot;type&quot;:&quot;text&quot;}"/>
          <p:cNvSpPr txBox="1"/>
          <p:nvPr/>
        </p:nvSpPr>
        <p:spPr>
          <a:xfrm rot="0" flipH="0" flipV="0">
            <a:off x="3524250" y="1657350"/>
            <a:ext cx="238125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没有人负责把现场经验整理成平台提案——因为这不在任何人的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里。</a:t>
            </a:r>
            <a:endParaRPr/>
          </a:p>
        </p:txBody>
      </p:sp>
      <p:sp>
        <p:nvSpPr>
          <p:cNvPr id="1815" name=""/>
          <p:cNvSpPr/>
          <p:nvPr/>
        </p:nvSpPr>
        <p:spPr>
          <a:xfrm rot="0" flipH="0" flipV="0">
            <a:off x="6153150" y="1371600"/>
            <a:ext cx="265747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16" name=""/>
          <p:cNvSpPr/>
          <p:nvPr/>
        </p:nvSpPr>
        <p:spPr>
          <a:xfrm rot="0" flipH="0" flipV="0">
            <a:off x="6153150" y="1371600"/>
            <a:ext cx="2657475" cy="1800225"/>
          </a:xfrm>
          <a:custGeom>
            <a:pathLst>
              <a:path w="279" h="189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5A6070"/>
          </a:solidFill>
          <a:ln/>
        </p:spPr>
        <p:txBody>
          <a:bodyPr/>
          <a:p/>
        </p:txBody>
      </p:sp>
      <p:sp>
        <p:nvSpPr>
          <p:cNvPr id="1817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5A6070"/>
                </a:solidFill>
                <a:latin typeface="Microsoft YaHei"/>
                <a:ea typeface="Microsoft YaHei"/>
              </a:rPr>
              <a:t>第三段断了</a:t>
            </a:r>
            <a:endParaRPr/>
          </a:p>
        </p:txBody>
      </p:sp>
      <p:sp>
        <p:nvSpPr>
          <p:cNvPr id="1818" name="" descr="{&quot;isTemplate&quot;:true,&quot;type&quot;:&quot;text&quot;}"/>
          <p:cNvSpPr txBox="1"/>
          <p:nvPr/>
        </p:nvSpPr>
        <p:spPr>
          <a:xfrm rot="0" flipH="0" flipV="0">
            <a:off x="6296025" y="1657350"/>
            <a:ext cx="2371725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第二个同类客户到来，团队重新造一遍轮子，成本与第一个完全相同。</a:t>
            </a:r>
            <a:endParaRPr/>
          </a:p>
        </p:txBody>
      </p:sp>
      <p:sp>
        <p:nvSpPr>
          <p:cNvPr id="1819" name=""/>
          <p:cNvSpPr/>
          <p:nvPr/>
        </p:nvSpPr>
        <p:spPr>
          <a:xfrm rot="0" flipH="0" flipV="0">
            <a:off x="8915400" y="1371600"/>
            <a:ext cx="26670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20" name=""/>
          <p:cNvSpPr/>
          <p:nvPr/>
        </p:nvSpPr>
        <p:spPr>
          <a:xfrm rot="0" flipH="0" flipV="0">
            <a:off x="8915400" y="1371600"/>
            <a:ext cx="2667000" cy="1800225"/>
          </a:xfrm>
          <a:custGeom>
            <a:pathLst>
              <a:path w="280" h="1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821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8A8F99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822" name="" descr="{&quot;isTemplate&quot;:true,&quot;type&quot;:&quot;text&quot;}"/>
          <p:cNvSpPr txBox="1"/>
          <p:nvPr/>
        </p:nvSpPr>
        <p:spPr>
          <a:xfrm rot="0" flipH="0" flipV="0">
            <a:off x="9058275" y="1657350"/>
            <a:ext cx="238125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碎石路没有连成高速公路，公司在用人力替代抽象。</a:t>
            </a:r>
            <a:endParaRPr/>
          </a:p>
        </p:txBody>
      </p:sp>
      <p:sp>
        <p:nvSpPr>
          <p:cNvPr id="1823" name=""/>
          <p:cNvSpPr/>
          <p:nvPr/>
        </p:nvSpPr>
        <p:spPr>
          <a:xfrm rot="0" flipH="0" flipV="0">
            <a:off x="609600" y="3267075"/>
            <a:ext cx="44577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24" name="" descr="{&quot;isTemplate&quot;:true,&quot;type&quot;:&quot;text&quot;}"/>
          <p:cNvSpPr txBox="1"/>
          <p:nvPr/>
        </p:nvSpPr>
        <p:spPr>
          <a:xfrm rot="0" flipH="0" flipV="0">
            <a:off x="781050" y="339090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离场前必须提交的五类回流物</a:t>
            </a:r>
            <a:endParaRPr/>
          </a:p>
        </p:txBody>
      </p:sp>
      <p:sp>
        <p:nvSpPr>
          <p:cNvPr id="1825" name="" descr="{&quot;isTemplate&quot;:true,&quot;type&quot;:&quot;text&quot;}"/>
          <p:cNvSpPr txBox="1"/>
          <p:nvPr/>
        </p:nvSpPr>
        <p:spPr>
          <a:xfrm rot="0" flipH="0" flipV="0">
            <a:off x="781050" y="36290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本体骨架</a:t>
            </a:r>
            <a:endParaRPr/>
          </a:p>
        </p:txBody>
      </p:sp>
      <p:sp>
        <p:nvSpPr>
          <p:cNvPr id="1826" name="" descr="{&quot;isTemplate&quot;:true,&quot;type&quot;:&quot;text&quot;}"/>
          <p:cNvSpPr txBox="1"/>
          <p:nvPr/>
        </p:nvSpPr>
        <p:spPr>
          <a:xfrm rot="0" flipH="0" flipV="0">
            <a:off x="1543050" y="36290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某类行业的标准对象与链接模型</a:t>
            </a:r>
            <a:endParaRPr/>
          </a:p>
        </p:txBody>
      </p:sp>
      <p:sp>
        <p:nvSpPr>
          <p:cNvPr id="1827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管道模板</a:t>
            </a:r>
            <a:endParaRPr/>
          </a:p>
        </p:txBody>
      </p:sp>
      <p:sp>
        <p:nvSpPr>
          <p:cNvPr id="1828" name="" descr="{&quot;isTemplate&quot;:true,&quot;type&quot;:&quot;text&quot;}"/>
          <p:cNvSpPr txBox="1"/>
          <p:nvPr/>
        </p:nvSpPr>
        <p:spPr>
          <a:xfrm rot="0" flipH="0" flipV="0">
            <a:off x="1543050" y="391477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含幂等、重试、批次号的成熟写法</a:t>
            </a:r>
            <a:endParaRPr/>
          </a:p>
        </p:txBody>
      </p:sp>
      <p:sp>
        <p:nvSpPr>
          <p:cNvPr id="1829" name="" descr="{&quot;isTemplate&quot;:true,&quot;type&quot;:&quot;text&quot;}"/>
          <p:cNvSpPr txBox="1"/>
          <p:nvPr/>
        </p:nvSpPr>
        <p:spPr>
          <a:xfrm rot="0" flipH="0" flipV="0">
            <a:off x="781050" y="42005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830" name="" descr="{&quot;isTemplate&quot;:true,&quot;type&quot;:&quot;text&quot;}"/>
          <p:cNvSpPr txBox="1"/>
          <p:nvPr/>
        </p:nvSpPr>
        <p:spPr>
          <a:xfrm rot="0" flipH="0" flipV="0">
            <a:off x="1543050" y="42005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工具白名单、出口策略、记忆边界</a:t>
            </a:r>
            <a:endParaRPr/>
          </a:p>
        </p:txBody>
      </p:sp>
      <p:sp>
        <p:nvSpPr>
          <p:cNvPr id="1831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验收清单</a:t>
            </a:r>
            <a:endParaRPr/>
          </a:p>
        </p:txBody>
      </p:sp>
      <p:sp>
        <p:nvSpPr>
          <p:cNvPr id="1832" name="" descr="{&quot;isTemplate&quot;:true,&quot;type&quot;:&quot;text&quot;}"/>
          <p:cNvSpPr txBox="1"/>
          <p:nvPr/>
        </p:nvSpPr>
        <p:spPr>
          <a:xfrm rot="0" flipH="0" flipV="0">
            <a:off x="1543050" y="448627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十二项检查的同类行业改造版</a:t>
            </a:r>
            <a:endParaRPr/>
          </a:p>
        </p:txBody>
      </p:sp>
      <p:sp>
        <p:nvSpPr>
          <p:cNvPr id="1833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BA15C"/>
                </a:solidFill>
                <a:latin typeface="Microsoft YaHei"/>
                <a:ea typeface="Microsoft YaHei"/>
              </a:rPr>
              <a:t>坑位清单</a:t>
            </a:r>
            <a:endParaRPr/>
          </a:p>
        </p:txBody>
      </p:sp>
      <p:sp>
        <p:nvSpPr>
          <p:cNvPr id="1834" name="" descr="{&quot;isTemplate&quot;:true,&quot;type&quot;:&quot;text&quot;}"/>
          <p:cNvSpPr txBox="1"/>
          <p:nvPr/>
        </p:nvSpPr>
        <p:spPr>
          <a:xfrm rot="0" flipH="0" flipV="0">
            <a:off x="1543050" y="47720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哪里踩过雷、为什么、下次怎么避</a:t>
            </a:r>
            <a:endParaRPr/>
          </a:p>
        </p:txBody>
      </p:sp>
      <p:sp>
        <p:nvSpPr>
          <p:cNvPr id="1835" name=""/>
          <p:cNvSpPr/>
          <p:nvPr/>
        </p:nvSpPr>
        <p:spPr>
          <a:xfrm rot="0" flipH="0" flipV="0">
            <a:off x="5219700" y="3267075"/>
            <a:ext cx="6400800" cy="1104900"/>
          </a:xfrm>
          <a:prstGeom prst="roundRect">
            <a:avLst>
              <a:gd name="adj" fmla="val 34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36" name=""/>
          <p:cNvSpPr/>
          <p:nvPr/>
        </p:nvSpPr>
        <p:spPr>
          <a:xfrm rot="0" flipH="0" flipV="0">
            <a:off x="5219700" y="3267075"/>
            <a:ext cx="6400800" cy="1104900"/>
          </a:xfrm>
          <a:custGeom>
            <a:pathLst>
              <a:path w="672" h="116">
                <a:moveTo>
                  <a:pt x="4" y="116"/>
                </a:moveTo>
                <a:cubicBezTo>
                  <a:pt x="2" y="116"/>
                  <a:pt x="0" y="114"/>
                  <a:pt x="0" y="11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37" name="" descr="{&quot;isTemplate&quot;:true,&quot;type&quot;:&quot;text&quot;}"/>
          <p:cNvSpPr txBox="1"/>
          <p:nvPr/>
        </p:nvSpPr>
        <p:spPr>
          <a:xfrm rot="0" flipH="0" flipV="0">
            <a:off x="5372100" y="32956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回流之所以不发生，是因为没定责任</a:t>
            </a:r>
            <a:endParaRPr/>
          </a:p>
        </p:txBody>
      </p:sp>
      <p:sp>
        <p:nvSpPr>
          <p:cNvPr id="1838" name=""/>
          <p:cNvSpPr/>
          <p:nvPr/>
        </p:nvSpPr>
        <p:spPr>
          <a:xfrm rot="0" flipH="0" flipV="0">
            <a:off x="5372100" y="36099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39" name="" descr="{&quot;isTemplate&quot;:true,&quot;type&quot;:&quot;text&quot;}"/>
          <p:cNvSpPr txBox="1"/>
          <p:nvPr/>
        </p:nvSpPr>
        <p:spPr>
          <a:xfrm rot="0" flipH="0" flipV="0">
            <a:off x="5514975" y="3552825"/>
            <a:ext cx="59150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客户现场的人不会主动整理——他下周就换项目了</a:t>
            </a:r>
            <a:endParaRPr/>
          </a:p>
        </p:txBody>
      </p:sp>
      <p:sp>
        <p:nvSpPr>
          <p:cNvPr id="1840" name=""/>
          <p:cNvSpPr/>
          <p:nvPr/>
        </p:nvSpPr>
        <p:spPr>
          <a:xfrm rot="0" flipH="0" flipV="0">
            <a:off x="5372100" y="3905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41" name="" descr="{&quot;isTemplate&quot;:true,&quot;type&quot;:&quot;text&quot;}"/>
          <p:cNvSpPr txBox="1"/>
          <p:nvPr/>
        </p:nvSpPr>
        <p:spPr>
          <a:xfrm rot="0" flipH="0" flipV="0">
            <a:off x="5514975" y="3848100"/>
            <a:ext cx="59150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总部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Dev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不知道现场做了什么——没人通知他</a:t>
            </a:r>
            <a:endParaRPr/>
          </a:p>
        </p:txBody>
      </p:sp>
      <p:sp>
        <p:nvSpPr>
          <p:cNvPr id="1842" name=""/>
          <p:cNvSpPr/>
          <p:nvPr/>
        </p:nvSpPr>
        <p:spPr>
          <a:xfrm rot="0" flipH="0" flipV="0">
            <a:off x="5372100" y="42005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43" name="" descr="{&quot;isTemplate&quot;:true,&quot;type&quot;:&quot;text&quot;}"/>
          <p:cNvSpPr txBox="1"/>
          <p:nvPr/>
        </p:nvSpPr>
        <p:spPr>
          <a:xfrm rot="0" flipH="0" flipV="0">
            <a:off x="5514975" y="4143375"/>
            <a:ext cx="59150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管理层不考核这项——所以它永远排在最后</a:t>
            </a:r>
            <a:endParaRPr/>
          </a:p>
        </p:txBody>
      </p:sp>
      <p:sp>
        <p:nvSpPr>
          <p:cNvPr id="1844" name=""/>
          <p:cNvSpPr/>
          <p:nvPr/>
        </p:nvSpPr>
        <p:spPr>
          <a:xfrm rot="0" flipH="0" flipV="0">
            <a:off x="5181600" y="4467225"/>
            <a:ext cx="6400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45" name="" descr="{&quot;isTemplate&quot;:true,&quot;type&quot;:&quot;text&quot;}"/>
          <p:cNvSpPr txBox="1"/>
          <p:nvPr/>
        </p:nvSpPr>
        <p:spPr>
          <a:xfrm rot="0" flipH="0" flipV="0">
            <a:off x="5324475" y="469582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制度性解法</a:t>
            </a:r>
            <a:endParaRPr/>
          </a:p>
        </p:txBody>
      </p:sp>
      <p:sp>
        <p:nvSpPr>
          <p:cNvPr id="1846" name="" descr="{&quot;isTemplate&quot;:true,&quot;type&quot;:&quot;text&quot;}"/>
          <p:cNvSpPr txBox="1"/>
          <p:nvPr/>
        </p:nvSpPr>
        <p:spPr>
          <a:xfrm rot="0" flipH="0" flipV="0">
            <a:off x="6467475" y="4676775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回流提案不签字，项目不算关闭。这一条要写进交付流程，而不是靠个人自觉。</a:t>
            </a:r>
            <a:endParaRPr/>
          </a:p>
        </p:txBody>
      </p:sp>
      <p:sp>
        <p:nvSpPr>
          <p:cNvPr id="1847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48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管理上唯一的抓手</a:t>
            </a:r>
            <a:endParaRPr/>
          </a:p>
        </p:txBody>
      </p:sp>
      <p:sp>
        <p:nvSpPr>
          <p:cNvPr id="1849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复用率</a:t>
            </a:r>
            <a:endParaRPr/>
          </a:p>
        </p:txBody>
      </p:sp>
      <p:sp>
        <p:nvSpPr>
          <p:cNvPr id="1850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1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档占比</a:t>
            </a:r>
            <a:endParaRPr/>
          </a:p>
        </p:txBody>
      </p:sp>
      <p:sp>
        <p:nvSpPr>
          <p:cNvPr id="1852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交付内容里可通用部分的比例</a:t>
            </a:r>
            <a:endParaRPr/>
          </a:p>
        </p:txBody>
      </p:sp>
      <p:sp>
        <p:nvSpPr>
          <p:cNvPr id="1853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4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二次成本</a:t>
            </a:r>
            <a:endParaRPr/>
          </a:p>
        </p:txBody>
      </p:sp>
      <p:sp>
        <p:nvSpPr>
          <p:cNvPr id="1855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第二客户投入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第一客户投入</a:t>
            </a:r>
            <a:endParaRPr/>
          </a:p>
        </p:txBody>
      </p:sp>
      <p:sp>
        <p:nvSpPr>
          <p:cNvPr id="1856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57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回流及时</a:t>
            </a:r>
            <a:endParaRPr/>
          </a:p>
        </p:txBody>
      </p:sp>
      <p:sp>
        <p:nvSpPr>
          <p:cNvPr id="1858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离场后两周内提案是否到总部</a:t>
            </a:r>
            <a:endParaRPr/>
          </a:p>
        </p:txBody>
      </p:sp>
      <p:sp>
        <p:nvSpPr>
          <p:cNvPr id="1859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60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采纳率</a:t>
            </a:r>
            <a:endParaRPr/>
          </a:p>
        </p:txBody>
      </p:sp>
      <p:sp>
        <p:nvSpPr>
          <p:cNvPr id="1861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总部真正采纳并入平台的比例</a:t>
            </a:r>
            <a:endParaRPr/>
          </a:p>
        </p:txBody>
      </p:sp>
      <p:sp>
        <p:nvSpPr>
          <p:cNvPr id="186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63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64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865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35 / 60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86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现场五问：&lt;span style={{ color: '#FA4F24' }}&gt;Echo 每场对话的固定开场&lt;/span&gt;&#10;        &lt;/Text&gt;&#10;        &lt;Text style={{ fontSize: 20, color: '#8A8F99', marginTop: 8 }}&gt;&#10;            不靠临场发挥，靠固定问题清单。每场对话都问一遍，30–40% 的时间就是这么花掉的&#10;        &lt;/Text&gt;&#10;    &lt;/Box&gt;&#10;    &lt;Box style={{ height: 1, background: '#E8E8E8' }} /&gt;&#10;&#10;    &lt;Box style={{ paddingTop: 20, paddingBottom: 14, height: 479, flexDirection: 'column', gap: 13 }}&gt;&#10;&#10;        {/* 上：五问 */}&#10;        &lt;Box style={{ flex: 1, flexDirection: 'row', gap: 11 }}&gt;&#10;            {[&#10;                { n: 'Q1', k: '谁在做', q: '这件事现在是谁在做？做了多久？', p: '定位执行层，找到真正的信息源', c: '#FA4F24' },&#10;                { n: 'Q2', k: '出过事吗', q: '上一次出问题是哪一次？怎么发现的？', p: '检验问题是否真实存在', c: '#E0641E' },&#10;                { n: 'Q3', k: '数怎么来', q: '这个数字怎么算出来的？口径谁定的？', p: '暴露口径分歧，这是本体切入点', c: '#C43A17' },&#10;                { n: 'Q4', k: '谁会反对', q: '如果这个环节明天消失，谁会反对？', p: '找出变革阻力与关键人', c: '#A83310' },&#10;                { n: 'Q5', k: '要什么才改', q: '你需要什么样的东西才愿意改流程？', p: '拿到真实交付期待，不是想象的', c: '#8A2A0D' },&#10;            ].map((x) =&gt; (&#10;                &lt;Box key={x.n} style={{ flex: 1, background: '#F7F7F8', borderRadius: 4, padding: '0 15px', flexDirection: 'column', justifyContent: 'center', borderTop: `3px solid ${x.c}` }}&gt;&#10;                    &lt;Text style={{ fontSize: 20, fontWeight: 'bold', color: x.c }}&gt;{x.n}&lt;/Text&gt;&#10;                    &lt;Text style={{ fontSize: 14.5, fontWeight: 'bold', color: '#0F1423', marginTop: 5 }}&gt;{x.k}&lt;/Text&gt;&#10;                    &lt;Text style={{ fontSize: 11.5, color: '#3A4050', lineHeight: 1.45, marginTop: 9, flex: 1 }}&gt;{x.q}&lt;/Text&gt;&#10;                    &lt;Box style={{ background: '#0F1423', borderRadius: 3, padding: '0 11px', marginTop: 9 }}&gt;&#10;                        &lt;Text style={{ fontSize: 11, color: 'rgba(255,255,255,0.88)', lineHeight: 1.4 }}&gt;{x.p}&lt;/Text&gt;&#10;                    &lt;/Box&gt;&#10;                &lt;/Box&gt;&#10;            ))}&#10;        &lt;/Box&gt;&#10;&#10;        {/* 中：追问规则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三条追问纪律&lt;/Text&gt;&#10;                {[&#10;                    { k: '问原话', v: '记客户的原话，不要转述、不要美化' },&#10;                    { k: '追问三次', v: '对方第一次给的答案通常是制度答案' },&#10;                    { k: '不当裁判', v: '不评价对方对错，只记录事实' },&#10;                ].map((x) =&gt; (&#10;                    &lt;Box key={x.k} style={{ flexDirection: 'row', gap: 12, marginTop: 11, alignItems: 'flex-start' }}&gt;&#10;                        &lt;Text style={{ fontSize: 12, fontWeight: 'bold', color: '#FBA15C', width: 7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对话对象要分层，不许只听一种声音&lt;/Text&gt;&#10;                {[&#10;                    { k: '决策者', v: '签字的那个人，关心的是风险与收益' },&#10;                    { k: '执行者', v: '作业员，关心的是会不会增加工作量' },&#10;                    { k: '反对者', v: '会抵制的人，关心的是自己的位置' },&#10;                ].map((x) =&gt; (&#10;                    &lt;Box key={x.k} style={{ flexDirection: 'row', gap: 11, marginTop: 11, alignItems: 'flex-start' }}&gt;&#10;                        &lt;Text style={{ fontSize: 12, fontWeight: 'bold', color: '#C43A17', width: 56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只听一种声音，就是 Delta 单干。&#10;                &lt;/Text&gt;&#10;            &lt;/Box&gt;&#10;        &lt;/Box&gt;&#10;&#10;        {/* 下：硬指标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对话的硬指标&lt;/Text&gt;&#10;                &lt;Text style={{ fontSize: 12.5, fontWeight: 'bold', color: '#0F1423', marginTop: 5, lineHeight: 1.4 }}&gt;官方口径，不达标就是没做 Investigate&lt;/Text&gt;&#10;            &lt;/Box&gt;&#10;            {[&#10;                { k: '每周', v: '5–15 场客户对话' },&#10;                { k: '占工时', v: '30–40%' },&#10;                { k: '覆盖', v: '决策者 + 执行者 + 反对者' },&#10;            ].map((x) =&gt; (&#10;                &lt;Box key={x.k} style={{ flex: 1, background: '#F7F7F8', borderRadius: 4, padding: '0 14px', flexDirection: 'row', alignItems: 'center', gap: 12 }}&gt;&#10;                    &lt;Text style={{ fontSize: 13, fontWeight: 'bold', color: '#FA4F24', width: 48 }}&gt;{x.k}&lt;/Text&gt;&#10;                    &lt;Text style={{ fontSize: 12, color: '#3A4050', lineHeight: 1.35, flex: 1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6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6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现场五问：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每场对话的固定开场</a:t>
            </a:r>
            <a:endParaRPr/>
          </a:p>
        </p:txBody>
      </p:sp>
      <p:sp>
        <p:nvSpPr>
          <p:cNvPr id="186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不靠临场发挥，靠固定问题清单。每场对话都问一遍，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30–40%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的时间就是这么花掉的</a:t>
            </a:r>
            <a:endParaRPr/>
          </a:p>
        </p:txBody>
      </p:sp>
      <p:sp>
        <p:nvSpPr>
          <p:cNvPr id="187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71" name=""/>
          <p:cNvSpPr/>
          <p:nvPr/>
        </p:nvSpPr>
        <p:spPr>
          <a:xfrm rot="0" flipH="0" flipV="0">
            <a:off x="609600" y="1371600"/>
            <a:ext cx="21145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72" name=""/>
          <p:cNvSpPr/>
          <p:nvPr/>
        </p:nvSpPr>
        <p:spPr>
          <a:xfrm rot="0" flipH="0" flipV="0">
            <a:off x="609600" y="1371600"/>
            <a:ext cx="2114550" cy="1638300"/>
          </a:xfrm>
          <a:custGeom>
            <a:pathLst>
              <a:path w="222" h="17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73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182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1874" name="" descr="{&quot;isTemplate&quot;:true,&quot;type&quot;:&quot;text&quot;}"/>
          <p:cNvSpPr txBox="1"/>
          <p:nvPr/>
        </p:nvSpPr>
        <p:spPr>
          <a:xfrm rot="0" flipH="0" flipV="0">
            <a:off x="752475" y="16478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谁在做</a:t>
            </a:r>
            <a:endParaRPr/>
          </a:p>
        </p:txBody>
      </p:sp>
      <p:sp>
        <p:nvSpPr>
          <p:cNvPr id="1875" name="" descr="{&quot;isTemplate&quot;:true,&quot;type&quot;:&quot;text&quot;}"/>
          <p:cNvSpPr txBox="1"/>
          <p:nvPr/>
        </p:nvSpPr>
        <p:spPr>
          <a:xfrm rot="0" flipH="0" flipV="0">
            <a:off x="752475" y="1905000"/>
            <a:ext cx="1828800" cy="8096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这件事现在是谁在做？做了多久？</a:t>
            </a:r>
            <a:endParaRPr/>
          </a:p>
        </p:txBody>
      </p:sp>
      <p:sp>
        <p:nvSpPr>
          <p:cNvPr id="1876" name=""/>
          <p:cNvSpPr/>
          <p:nvPr/>
        </p:nvSpPr>
        <p:spPr>
          <a:xfrm rot="0" flipH="0" flipV="0">
            <a:off x="752475" y="2800350"/>
            <a:ext cx="1828800" cy="180975"/>
          </a:xfrm>
          <a:prstGeom prst="roundRect">
            <a:avLst>
              <a:gd name="adj" fmla="val 1578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77" name="" descr="{&quot;isTemplate&quot;:true,&quot;type&quot;:&quot;text&quot;}"/>
          <p:cNvSpPr txBox="1"/>
          <p:nvPr/>
        </p:nvSpPr>
        <p:spPr>
          <a:xfrm rot="0" flipH="0" flipV="0">
            <a:off x="857250" y="2800350"/>
            <a:ext cx="16192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定位执行层，找到真正的信息源</a:t>
            </a:r>
            <a:endParaRPr/>
          </a:p>
        </p:txBody>
      </p:sp>
      <p:sp>
        <p:nvSpPr>
          <p:cNvPr id="1878" name=""/>
          <p:cNvSpPr/>
          <p:nvPr/>
        </p:nvSpPr>
        <p:spPr>
          <a:xfrm rot="0" flipH="0" flipV="0">
            <a:off x="2828925" y="1371600"/>
            <a:ext cx="2105025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79" name=""/>
          <p:cNvSpPr/>
          <p:nvPr/>
        </p:nvSpPr>
        <p:spPr>
          <a:xfrm rot="0" flipH="0" flipV="0">
            <a:off x="2828925" y="1371600"/>
            <a:ext cx="2105025" cy="1638300"/>
          </a:xfrm>
          <a:custGeom>
            <a:pathLst>
              <a:path w="221" h="172">
                <a:moveTo>
                  <a:pt x="217" y="0"/>
                </a:moveTo>
                <a:cubicBezTo>
                  <a:pt x="219" y="0"/>
                  <a:pt x="221" y="2"/>
                  <a:pt x="221" y="4"/>
                </a:cubicBezTo>
                <a:cubicBezTo>
                  <a:pt x="221" y="3"/>
                  <a:pt x="220" y="3"/>
                  <a:pt x="22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1880" name="" descr="{&quot;isTemplate&quot;:true,&quot;type&quot;:&quot;text&quot;}"/>
          <p:cNvSpPr txBox="1"/>
          <p:nvPr/>
        </p:nvSpPr>
        <p:spPr>
          <a:xfrm rot="0" flipH="0" flipV="0">
            <a:off x="2971800" y="1371600"/>
            <a:ext cx="181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41E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1881" name="" descr="{&quot;isTemplate&quot;:true,&quot;type&quot;:&quot;text&quot;}"/>
          <p:cNvSpPr txBox="1"/>
          <p:nvPr/>
        </p:nvSpPr>
        <p:spPr>
          <a:xfrm rot="0" flipH="0" flipV="0">
            <a:off x="2971800" y="1647825"/>
            <a:ext cx="1819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出过事吗</a:t>
            </a:r>
            <a:endParaRPr/>
          </a:p>
        </p:txBody>
      </p:sp>
      <p:sp>
        <p:nvSpPr>
          <p:cNvPr id="1882" name="" descr="{&quot;isTemplate&quot;:true,&quot;type&quot;:&quot;text&quot;}"/>
          <p:cNvSpPr txBox="1"/>
          <p:nvPr/>
        </p:nvSpPr>
        <p:spPr>
          <a:xfrm rot="0" flipH="0" flipV="0">
            <a:off x="2971800" y="1905000"/>
            <a:ext cx="181927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上一次出问题是哪一次？怎么发现的？</a:t>
            </a:r>
            <a:endParaRPr/>
          </a:p>
        </p:txBody>
      </p:sp>
      <p:sp>
        <p:nvSpPr>
          <p:cNvPr id="1883" name=""/>
          <p:cNvSpPr/>
          <p:nvPr/>
        </p:nvSpPr>
        <p:spPr>
          <a:xfrm rot="0" flipH="0" flipV="0">
            <a:off x="2971800" y="2800350"/>
            <a:ext cx="1819275" cy="180975"/>
          </a:xfrm>
          <a:prstGeom prst="roundRect">
            <a:avLst>
              <a:gd name="adj" fmla="val 1578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84" name="" descr="{&quot;isTemplate&quot;:true,&quot;type&quot;:&quot;text&quot;}"/>
          <p:cNvSpPr txBox="1"/>
          <p:nvPr/>
        </p:nvSpPr>
        <p:spPr>
          <a:xfrm rot="0" flipH="0" flipV="0">
            <a:off x="3076575" y="2800350"/>
            <a:ext cx="16097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检验问题是否真实存在</a:t>
            </a:r>
            <a:endParaRPr/>
          </a:p>
        </p:txBody>
      </p:sp>
      <p:sp>
        <p:nvSpPr>
          <p:cNvPr id="1885" name=""/>
          <p:cNvSpPr/>
          <p:nvPr/>
        </p:nvSpPr>
        <p:spPr>
          <a:xfrm rot="0" flipH="0" flipV="0">
            <a:off x="5038725" y="1371600"/>
            <a:ext cx="21145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86" name=""/>
          <p:cNvSpPr/>
          <p:nvPr/>
        </p:nvSpPr>
        <p:spPr>
          <a:xfrm rot="0" flipH="0" flipV="0">
            <a:off x="5038725" y="1371600"/>
            <a:ext cx="2114550" cy="1638300"/>
          </a:xfrm>
          <a:custGeom>
            <a:pathLst>
              <a:path w="222" h="17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87" name="" descr="{&quot;isTemplate&quot;:true,&quot;type&quot;:&quot;text&quot;}"/>
          <p:cNvSpPr txBox="1"/>
          <p:nvPr/>
        </p:nvSpPr>
        <p:spPr>
          <a:xfrm rot="0" flipH="0" flipV="0">
            <a:off x="5181600" y="1371600"/>
            <a:ext cx="182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3A17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1888" name="" descr="{&quot;isTemplate&quot;:true,&quot;type&quot;:&quot;text&quot;}"/>
          <p:cNvSpPr txBox="1"/>
          <p:nvPr/>
        </p:nvSpPr>
        <p:spPr>
          <a:xfrm rot="0" flipH="0" flipV="0">
            <a:off x="5181600" y="16478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数怎么来</a:t>
            </a:r>
            <a:endParaRPr/>
          </a:p>
        </p:txBody>
      </p:sp>
      <p:sp>
        <p:nvSpPr>
          <p:cNvPr id="1889" name="" descr="{&quot;isTemplate&quot;:true,&quot;type&quot;:&quot;text&quot;}"/>
          <p:cNvSpPr txBox="1"/>
          <p:nvPr/>
        </p:nvSpPr>
        <p:spPr>
          <a:xfrm rot="0" flipH="0" flipV="0">
            <a:off x="5181600" y="1905000"/>
            <a:ext cx="18288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这个数字怎么算出来的？口径谁定的？</a:t>
            </a:r>
            <a:endParaRPr/>
          </a:p>
        </p:txBody>
      </p:sp>
      <p:sp>
        <p:nvSpPr>
          <p:cNvPr id="1890" name=""/>
          <p:cNvSpPr/>
          <p:nvPr/>
        </p:nvSpPr>
        <p:spPr>
          <a:xfrm rot="0" flipH="0" flipV="0">
            <a:off x="5181600" y="2800350"/>
            <a:ext cx="1828800" cy="180975"/>
          </a:xfrm>
          <a:prstGeom prst="roundRect">
            <a:avLst>
              <a:gd name="adj" fmla="val 1578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91" name="" descr="{&quot;isTemplate&quot;:true,&quot;type&quot;:&quot;text&quot;}"/>
          <p:cNvSpPr txBox="1"/>
          <p:nvPr/>
        </p:nvSpPr>
        <p:spPr>
          <a:xfrm rot="0" flipH="0" flipV="0">
            <a:off x="5286375" y="2800350"/>
            <a:ext cx="16192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暴露口径分歧，这是本体切入点</a:t>
            </a:r>
            <a:endParaRPr/>
          </a:p>
        </p:txBody>
      </p:sp>
      <p:sp>
        <p:nvSpPr>
          <p:cNvPr id="1892" name=""/>
          <p:cNvSpPr/>
          <p:nvPr/>
        </p:nvSpPr>
        <p:spPr>
          <a:xfrm rot="0" flipH="0" flipV="0">
            <a:off x="7258050" y="1371600"/>
            <a:ext cx="2105025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93" name=""/>
          <p:cNvSpPr/>
          <p:nvPr/>
        </p:nvSpPr>
        <p:spPr>
          <a:xfrm rot="0" flipH="0" flipV="0">
            <a:off x="7258050" y="1371600"/>
            <a:ext cx="2105025" cy="1638300"/>
          </a:xfrm>
          <a:custGeom>
            <a:pathLst>
              <a:path w="221" h="172">
                <a:moveTo>
                  <a:pt x="217" y="0"/>
                </a:moveTo>
                <a:cubicBezTo>
                  <a:pt x="219" y="0"/>
                  <a:pt x="221" y="2"/>
                  <a:pt x="221" y="4"/>
                </a:cubicBezTo>
                <a:cubicBezTo>
                  <a:pt x="221" y="3"/>
                  <a:pt x="220" y="3"/>
                  <a:pt x="220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1894" name="" descr="{&quot;isTemplate&quot;:true,&quot;type&quot;:&quot;text&quot;}"/>
          <p:cNvSpPr txBox="1"/>
          <p:nvPr/>
        </p:nvSpPr>
        <p:spPr>
          <a:xfrm rot="0" flipH="0" flipV="0">
            <a:off x="7400925" y="1371600"/>
            <a:ext cx="1819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A83310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1895" name="" descr="{&quot;isTemplate&quot;:true,&quot;type&quot;:&quot;text&quot;}"/>
          <p:cNvSpPr txBox="1"/>
          <p:nvPr/>
        </p:nvSpPr>
        <p:spPr>
          <a:xfrm rot="0" flipH="0" flipV="0">
            <a:off x="7400925" y="1647825"/>
            <a:ext cx="1819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谁会反对</a:t>
            </a:r>
            <a:endParaRPr/>
          </a:p>
        </p:txBody>
      </p:sp>
      <p:sp>
        <p:nvSpPr>
          <p:cNvPr id="1896" name="" descr="{&quot;isTemplate&quot;:true,&quot;type&quot;:&quot;text&quot;}"/>
          <p:cNvSpPr txBox="1"/>
          <p:nvPr/>
        </p:nvSpPr>
        <p:spPr>
          <a:xfrm rot="0" flipH="0" flipV="0">
            <a:off x="7400925" y="1905000"/>
            <a:ext cx="1819275" cy="8096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如果这个环节明天消失，谁会反对？</a:t>
            </a:r>
            <a:endParaRPr/>
          </a:p>
        </p:txBody>
      </p:sp>
      <p:sp>
        <p:nvSpPr>
          <p:cNvPr id="1897" name=""/>
          <p:cNvSpPr/>
          <p:nvPr/>
        </p:nvSpPr>
        <p:spPr>
          <a:xfrm rot="0" flipH="0" flipV="0">
            <a:off x="7400925" y="2800350"/>
            <a:ext cx="1819275" cy="180975"/>
          </a:xfrm>
          <a:prstGeom prst="roundRect">
            <a:avLst>
              <a:gd name="adj" fmla="val 1578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98" name="" descr="{&quot;isTemplate&quot;:true,&quot;type&quot;:&quot;text&quot;}"/>
          <p:cNvSpPr txBox="1"/>
          <p:nvPr/>
        </p:nvSpPr>
        <p:spPr>
          <a:xfrm rot="0" flipH="0" flipV="0">
            <a:off x="7505700" y="2800350"/>
            <a:ext cx="16097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找出变革阻力与关键人</a:t>
            </a:r>
            <a:endParaRPr/>
          </a:p>
        </p:txBody>
      </p:sp>
      <p:sp>
        <p:nvSpPr>
          <p:cNvPr id="1899" name=""/>
          <p:cNvSpPr/>
          <p:nvPr/>
        </p:nvSpPr>
        <p:spPr>
          <a:xfrm rot="0" flipH="0" flipV="0">
            <a:off x="9467850" y="1371600"/>
            <a:ext cx="2114550" cy="1638300"/>
          </a:xfrm>
          <a:prstGeom prst="roundRect">
            <a:avLst>
              <a:gd name="adj" fmla="val 23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00" name=""/>
          <p:cNvSpPr/>
          <p:nvPr/>
        </p:nvSpPr>
        <p:spPr>
          <a:xfrm rot="0" flipH="0" flipV="0">
            <a:off x="9467850" y="1371600"/>
            <a:ext cx="2114550" cy="1638300"/>
          </a:xfrm>
          <a:custGeom>
            <a:pathLst>
              <a:path w="222" h="172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cubicBezTo>
                  <a:pt x="222" y="3"/>
                  <a:pt x="221" y="3"/>
                  <a:pt x="22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8A2A0D"/>
          </a:solidFill>
          <a:ln/>
        </p:spPr>
        <p:txBody>
          <a:bodyPr/>
          <a:p/>
        </p:txBody>
      </p:sp>
      <p:sp>
        <p:nvSpPr>
          <p:cNvPr id="1901" name="" descr="{&quot;isTemplate&quot;:true,&quot;type&quot;:&quot;text&quot;}"/>
          <p:cNvSpPr txBox="1"/>
          <p:nvPr/>
        </p:nvSpPr>
        <p:spPr>
          <a:xfrm rot="0" flipH="0" flipV="0">
            <a:off x="9610725" y="1371600"/>
            <a:ext cx="182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A2A0D"/>
                </a:solidFill>
                <a:latin typeface="Microsoft YaHei"/>
                <a:ea typeface="Microsoft YaHei"/>
              </a:rPr>
              <a:t>Q5</a:t>
            </a:r>
            <a:endParaRPr/>
          </a:p>
        </p:txBody>
      </p:sp>
      <p:sp>
        <p:nvSpPr>
          <p:cNvPr id="1902" name="" descr="{&quot;isTemplate&quot;:true,&quot;type&quot;:&quot;text&quot;}"/>
          <p:cNvSpPr txBox="1"/>
          <p:nvPr/>
        </p:nvSpPr>
        <p:spPr>
          <a:xfrm rot="0" flipH="0" flipV="0">
            <a:off x="9610725" y="16478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要什么才改</a:t>
            </a:r>
            <a:endParaRPr/>
          </a:p>
        </p:txBody>
      </p:sp>
      <p:sp>
        <p:nvSpPr>
          <p:cNvPr id="1903" name="" descr="{&quot;isTemplate&quot;:true,&quot;type&quot;:&quot;text&quot;}"/>
          <p:cNvSpPr txBox="1"/>
          <p:nvPr/>
        </p:nvSpPr>
        <p:spPr>
          <a:xfrm rot="0" flipH="0" flipV="0">
            <a:off x="9610725" y="1905000"/>
            <a:ext cx="1828800" cy="8096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你需要什么样的东西才愿意改流程？</a:t>
            </a:r>
            <a:endParaRPr/>
          </a:p>
        </p:txBody>
      </p:sp>
      <p:sp>
        <p:nvSpPr>
          <p:cNvPr id="1904" name=""/>
          <p:cNvSpPr/>
          <p:nvPr/>
        </p:nvSpPr>
        <p:spPr>
          <a:xfrm rot="0" flipH="0" flipV="0">
            <a:off x="9610725" y="2800350"/>
            <a:ext cx="1828800" cy="180975"/>
          </a:xfrm>
          <a:prstGeom prst="roundRect">
            <a:avLst>
              <a:gd name="adj" fmla="val 1578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05" name="" descr="{&quot;isTemplate&quot;:true,&quot;type&quot;:&quot;text&quot;}"/>
          <p:cNvSpPr txBox="1"/>
          <p:nvPr/>
        </p:nvSpPr>
        <p:spPr>
          <a:xfrm rot="0" flipH="0" flipV="0">
            <a:off x="9715500" y="2800350"/>
            <a:ext cx="16192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拿到真实交付期待，不是想象的</a:t>
            </a:r>
            <a:endParaRPr/>
          </a:p>
        </p:txBody>
      </p:sp>
      <p:sp>
        <p:nvSpPr>
          <p:cNvPr id="1906" name=""/>
          <p:cNvSpPr/>
          <p:nvPr/>
        </p:nvSpPr>
        <p:spPr>
          <a:xfrm rot="0" flipH="0" flipV="0">
            <a:off x="609600" y="3105150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07" name="" descr="{&quot;isTemplate&quot;:true,&quot;type&quot;:&quot;text&quot;}"/>
          <p:cNvSpPr txBox="1"/>
          <p:nvPr/>
        </p:nvSpPr>
        <p:spPr>
          <a:xfrm rot="0" flipH="0" flipV="0">
            <a:off x="781050" y="346710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三条追问纪律</a:t>
            </a:r>
            <a:endParaRPr/>
          </a:p>
        </p:txBody>
      </p:sp>
      <p:sp>
        <p:nvSpPr>
          <p:cNvPr id="1908" name="" descr="{&quot;isTemplate&quot;:true,&quot;type&quot;:&quot;text&quot;}"/>
          <p:cNvSpPr txBox="1"/>
          <p:nvPr/>
        </p:nvSpPr>
        <p:spPr>
          <a:xfrm rot="0" flipH="0" flipV="0">
            <a:off x="781050" y="37147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问原话</a:t>
            </a:r>
            <a:endParaRPr/>
          </a:p>
        </p:txBody>
      </p:sp>
      <p:sp>
        <p:nvSpPr>
          <p:cNvPr id="1909" name="" descr="{&quot;isTemplate&quot;:true,&quot;type&quot;:&quot;text&quot;}"/>
          <p:cNvSpPr txBox="1"/>
          <p:nvPr/>
        </p:nvSpPr>
        <p:spPr>
          <a:xfrm rot="0" flipH="0" flipV="0">
            <a:off x="1581150" y="371475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记客户的原话，不要转述、不要美化</a:t>
            </a:r>
            <a:endParaRPr/>
          </a:p>
        </p:txBody>
      </p:sp>
      <p:sp>
        <p:nvSpPr>
          <p:cNvPr id="1910" name="" descr="{&quot;isTemplate&quot;:true,&quot;type&quot;:&quot;text&quot;}"/>
          <p:cNvSpPr txBox="1"/>
          <p:nvPr/>
        </p:nvSpPr>
        <p:spPr>
          <a:xfrm rot="0" flipH="0" flipV="0">
            <a:off x="781050" y="40195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追问三次</a:t>
            </a:r>
            <a:endParaRPr/>
          </a:p>
        </p:txBody>
      </p:sp>
      <p:sp>
        <p:nvSpPr>
          <p:cNvPr id="1911" name="" descr="{&quot;isTemplate&quot;:true,&quot;type&quot;:&quot;text&quot;}"/>
          <p:cNvSpPr txBox="1"/>
          <p:nvPr/>
        </p:nvSpPr>
        <p:spPr>
          <a:xfrm rot="0" flipH="0" flipV="0">
            <a:off x="1581150" y="401955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对方第一次给的答案通常是制度答案</a:t>
            </a:r>
            <a:endParaRPr/>
          </a:p>
        </p:txBody>
      </p:sp>
      <p:sp>
        <p:nvSpPr>
          <p:cNvPr id="1912" name="" descr="{&quot;isTemplate&quot;:true,&quot;type&quot;:&quot;text&quot;}"/>
          <p:cNvSpPr txBox="1"/>
          <p:nvPr/>
        </p:nvSpPr>
        <p:spPr>
          <a:xfrm rot="0" flipH="0" flipV="0">
            <a:off x="781050" y="43243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不当裁判</a:t>
            </a:r>
            <a:endParaRPr/>
          </a:p>
        </p:txBody>
      </p:sp>
      <p:sp>
        <p:nvSpPr>
          <p:cNvPr id="1913" name="" descr="{&quot;isTemplate&quot;:true,&quot;type&quot;:&quot;text&quot;}"/>
          <p:cNvSpPr txBox="1"/>
          <p:nvPr/>
        </p:nvSpPr>
        <p:spPr>
          <a:xfrm rot="0" flipH="0" flipV="0">
            <a:off x="1581150" y="432435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不评价对方对错，只记录事实</a:t>
            </a:r>
            <a:endParaRPr/>
          </a:p>
        </p:txBody>
      </p:sp>
      <p:sp>
        <p:nvSpPr>
          <p:cNvPr id="1914" name=""/>
          <p:cNvSpPr/>
          <p:nvPr/>
        </p:nvSpPr>
        <p:spPr>
          <a:xfrm rot="0" flipH="0" flipV="0">
            <a:off x="5219700" y="3105150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915" name=""/>
          <p:cNvSpPr/>
          <p:nvPr/>
        </p:nvSpPr>
        <p:spPr>
          <a:xfrm rot="0" flipH="0" flipV="0">
            <a:off x="5219700" y="3105150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16" name="" descr="{&quot;isTemplate&quot;:true,&quot;type&quot;:&quot;text&quot;}"/>
          <p:cNvSpPr txBox="1"/>
          <p:nvPr/>
        </p:nvSpPr>
        <p:spPr>
          <a:xfrm rot="0" flipH="0" flipV="0">
            <a:off x="5381625" y="32956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对话对象要分层，不许只听一种声音</a:t>
            </a:r>
            <a:endParaRPr/>
          </a:p>
        </p:txBody>
      </p:sp>
      <p:sp>
        <p:nvSpPr>
          <p:cNvPr id="1917" name="" descr="{&quot;isTemplate&quot;:true,&quot;type&quot;:&quot;text&quot;}"/>
          <p:cNvSpPr txBox="1"/>
          <p:nvPr/>
        </p:nvSpPr>
        <p:spPr>
          <a:xfrm rot="0" flipH="0" flipV="0">
            <a:off x="5381625" y="357187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决策者</a:t>
            </a:r>
            <a:endParaRPr/>
          </a:p>
        </p:txBody>
      </p:sp>
      <p:sp>
        <p:nvSpPr>
          <p:cNvPr id="1918" name="" descr="{&quot;isTemplate&quot;:true,&quot;type&quot;:&quot;text&quot;}"/>
          <p:cNvSpPr txBox="1"/>
          <p:nvPr/>
        </p:nvSpPr>
        <p:spPr>
          <a:xfrm rot="0" flipH="0" flipV="0">
            <a:off x="6019800" y="3571875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签字的那个人，关心的是风险与收益</a:t>
            </a:r>
            <a:endParaRPr/>
          </a:p>
        </p:txBody>
      </p:sp>
      <p:sp>
        <p:nvSpPr>
          <p:cNvPr id="1919" name="" descr="{&quot;isTemplate&quot;:true,&quot;type&quot;:&quot;text&quot;}"/>
          <p:cNvSpPr txBox="1"/>
          <p:nvPr/>
        </p:nvSpPr>
        <p:spPr>
          <a:xfrm rot="0" flipH="0" flipV="0">
            <a:off x="5381625" y="387667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执行者</a:t>
            </a:r>
            <a:endParaRPr/>
          </a:p>
        </p:txBody>
      </p:sp>
      <p:sp>
        <p:nvSpPr>
          <p:cNvPr id="1920" name="" descr="{&quot;isTemplate&quot;:true,&quot;type&quot;:&quot;text&quot;}"/>
          <p:cNvSpPr txBox="1"/>
          <p:nvPr/>
        </p:nvSpPr>
        <p:spPr>
          <a:xfrm rot="0" flipH="0" flipV="0">
            <a:off x="6019800" y="3876675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作业员，关心的是会不会增加工作量</a:t>
            </a:r>
            <a:endParaRPr/>
          </a:p>
        </p:txBody>
      </p:sp>
      <p:sp>
        <p:nvSpPr>
          <p:cNvPr id="1921" name="" descr="{&quot;isTemplate&quot;:true,&quot;type&quot;:&quot;text&quot;}"/>
          <p:cNvSpPr txBox="1"/>
          <p:nvPr/>
        </p:nvSpPr>
        <p:spPr>
          <a:xfrm rot="0" flipH="0" flipV="0">
            <a:off x="5381625" y="4181475"/>
            <a:ext cx="53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反对者</a:t>
            </a:r>
            <a:endParaRPr/>
          </a:p>
        </p:txBody>
      </p:sp>
      <p:sp>
        <p:nvSpPr>
          <p:cNvPr id="1922" name="" descr="{&quot;isTemplate&quot;:true,&quot;type&quot;:&quot;text&quot;}"/>
          <p:cNvSpPr txBox="1"/>
          <p:nvPr/>
        </p:nvSpPr>
        <p:spPr>
          <a:xfrm rot="0" flipH="0" flipV="0">
            <a:off x="6019800" y="4181475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会抵制的人，关心的是自己的位置</a:t>
            </a:r>
            <a:endParaRPr/>
          </a:p>
        </p:txBody>
      </p:sp>
      <p:sp>
        <p:nvSpPr>
          <p:cNvPr id="1923" name="" descr="{&quot;isTemplate&quot;:true,&quot;type&quot;:&quot;text&quot;}"/>
          <p:cNvSpPr txBox="1"/>
          <p:nvPr/>
        </p:nvSpPr>
        <p:spPr>
          <a:xfrm rot="0" flipH="0" flipV="0">
            <a:off x="5381625" y="4505325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只听一种声音，就是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单干。</a:t>
            </a:r>
            <a:endParaRPr/>
          </a:p>
        </p:txBody>
      </p:sp>
      <p:sp>
        <p:nvSpPr>
          <p:cNvPr id="1924" name=""/>
          <p:cNvSpPr/>
          <p:nvPr/>
        </p:nvSpPr>
        <p:spPr>
          <a:xfrm rot="0" flipH="0" flipV="0">
            <a:off x="609600" y="5000625"/>
            <a:ext cx="19812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25" name="" descr="{&quot;isTemplate&quot;:true,&quot;type&quot;:&quot;text&quot;}"/>
          <p:cNvSpPr txBox="1"/>
          <p:nvPr/>
        </p:nvSpPr>
        <p:spPr>
          <a:xfrm rot="0" flipH="0" flipV="0">
            <a:off x="752475" y="50006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对话的硬指标</a:t>
            </a:r>
            <a:endParaRPr/>
          </a:p>
        </p:txBody>
      </p:sp>
      <p:sp>
        <p:nvSpPr>
          <p:cNvPr id="1926" name="" descr="{&quot;isTemplate&quot;:true,&quot;type&quot;:&quot;text&quot;}"/>
          <p:cNvSpPr txBox="1"/>
          <p:nvPr/>
        </p:nvSpPr>
        <p:spPr>
          <a:xfrm rot="0" flipH="0" flipV="0">
            <a:off x="752475" y="5181600"/>
            <a:ext cx="1695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官方口径，不达标就是没做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Investigate</a:t>
            </a:r>
            <a:endParaRPr/>
          </a:p>
        </p:txBody>
      </p:sp>
      <p:sp>
        <p:nvSpPr>
          <p:cNvPr id="1927" name=""/>
          <p:cNvSpPr/>
          <p:nvPr/>
        </p:nvSpPr>
        <p:spPr>
          <a:xfrm rot="0" flipH="0" flipV="0">
            <a:off x="2705100" y="5000625"/>
            <a:ext cx="2886075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28" name="" descr="{&quot;isTemplate&quot;:true,&quot;type&quot;:&quot;text&quot;}"/>
          <p:cNvSpPr txBox="1"/>
          <p:nvPr/>
        </p:nvSpPr>
        <p:spPr>
          <a:xfrm rot="0" flipH="0" flipV="0">
            <a:off x="2838450" y="5219700"/>
            <a:ext cx="45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每周</a:t>
            </a:r>
            <a:endParaRPr/>
          </a:p>
        </p:txBody>
      </p:sp>
      <p:sp>
        <p:nvSpPr>
          <p:cNvPr id="1929" name="" descr="{&quot;isTemplate&quot;:true,&quot;type&quot;:&quot;text&quot;}"/>
          <p:cNvSpPr txBox="1"/>
          <p:nvPr/>
        </p:nvSpPr>
        <p:spPr>
          <a:xfrm rot="0" flipH="0" flipV="0">
            <a:off x="3409950" y="5200650"/>
            <a:ext cx="20478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5–15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场客户对话</a:t>
            </a:r>
            <a:endParaRPr/>
          </a:p>
        </p:txBody>
      </p:sp>
      <p:sp>
        <p:nvSpPr>
          <p:cNvPr id="1930" name=""/>
          <p:cNvSpPr/>
          <p:nvPr/>
        </p:nvSpPr>
        <p:spPr>
          <a:xfrm rot="0" flipH="0" flipV="0">
            <a:off x="5705475" y="5000625"/>
            <a:ext cx="287655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31" name="" descr="{&quot;isTemplate&quot;:true,&quot;type&quot;:&quot;text&quot;}"/>
          <p:cNvSpPr txBox="1"/>
          <p:nvPr/>
        </p:nvSpPr>
        <p:spPr>
          <a:xfrm rot="0" flipH="0" flipV="0">
            <a:off x="5838825" y="5219700"/>
            <a:ext cx="45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占工时</a:t>
            </a:r>
            <a:endParaRPr/>
          </a:p>
        </p:txBody>
      </p:sp>
      <p:sp>
        <p:nvSpPr>
          <p:cNvPr id="1932" name="" descr="{&quot;isTemplate&quot;:true,&quot;type&quot;:&quot;text&quot;}"/>
          <p:cNvSpPr txBox="1"/>
          <p:nvPr/>
        </p:nvSpPr>
        <p:spPr>
          <a:xfrm rot="0" flipH="0" flipV="0">
            <a:off x="6410325" y="5200650"/>
            <a:ext cx="20383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30–40%</a:t>
            </a:r>
            <a:endParaRPr/>
          </a:p>
        </p:txBody>
      </p:sp>
      <p:sp>
        <p:nvSpPr>
          <p:cNvPr id="1933" name=""/>
          <p:cNvSpPr/>
          <p:nvPr/>
        </p:nvSpPr>
        <p:spPr>
          <a:xfrm rot="0" flipH="0" flipV="0">
            <a:off x="8696325" y="5000625"/>
            <a:ext cx="2886075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34" name="" descr="{&quot;isTemplate&quot;:true,&quot;type&quot;:&quot;text&quot;}"/>
          <p:cNvSpPr txBox="1"/>
          <p:nvPr/>
        </p:nvSpPr>
        <p:spPr>
          <a:xfrm rot="0" flipH="0" flipV="0">
            <a:off x="8829675" y="5219700"/>
            <a:ext cx="45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覆盖</a:t>
            </a:r>
            <a:endParaRPr/>
          </a:p>
        </p:txBody>
      </p:sp>
      <p:sp>
        <p:nvSpPr>
          <p:cNvPr id="1935" name="" descr="{&quot;isTemplate&quot;:true,&quot;type&quot;:&quot;text&quot;}"/>
          <p:cNvSpPr txBox="1"/>
          <p:nvPr/>
        </p:nvSpPr>
        <p:spPr>
          <a:xfrm rot="0" flipH="0" flipV="0">
            <a:off x="9401175" y="5200650"/>
            <a:ext cx="20478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决策者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执行者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反对者</a:t>
            </a:r>
            <a:endParaRPr/>
          </a:p>
        </p:txBody>
      </p:sp>
      <p:sp>
        <p:nvSpPr>
          <p:cNvPr id="193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3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3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93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36 / 60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94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八类高危动作：&lt;span style={{ color: '#FA4F24' }}&gt;在现场绝对不能做的八件事&lt;/span&gt;&#10;        &lt;/Text&gt;&#10;        &lt;Text style={{ fontSize: 20, color: '#8A8F99', marginTop: 8 }}&gt;&#10;            这些动作在总部没人会犯错，但到了客户生产环境，每一条都可能造成不可逆后果&#10;        &lt;/Text&gt;&#10;    &lt;/Box&gt;&#10;    &lt;Box style={{ height: 1, background: '#E8E8E8' }} /&gt;&#10;&#10;    &lt;Box style={{ paddingTop: 20, paddingBottom: 14, height: 479, flexDirection: 'column', gap: 13 }}&gt;&#10;&#10;        {/* 上：八类 */}&#10;        &lt;Box style={{ flex: 1, flexDirection: 'row', gap: 11 }}&gt;&#10;            &lt;Box style={{ flex: 1, flexDirection: 'column', gap: 8 }}&gt;&#10;                {[&#10;                    { n: '01', k: '直连生产库读全表', w: '一个 select * 打满IO，影响客户业务' },&#10;                    { n: '02', k: '无幂等直接重跑', w: '重复写入，客户账目对不上' },&#10;                    { n: '03', k: '改客户既有代码', w: '绕过客户 IT，事故无人负责' },&#10;                    { n: '04', k: '绕过密级取数', w: '为了跑通演示拉越权数据' },&#10;                ].map((x) =&gt; (&#10;                    &lt;Box key={x.n} style={{ flex: 1, background: '#F7F7F8', borderRadius: 4, padding: '0 13px', flexDirection: 'column', justifyContent: 'center', borderLeft: '4px solid #FA4F24' }}&gt;&#10;                        &lt;Box style={{ flexDirection: 'row', alignItems: 'baseline', gap: 8 }}&gt;&#10;                            &lt;Text style={{ fontSize: 11, color: '#FA4F24' }}&gt;{x.n}&lt;/Text&gt;&#10;                            &lt;Text style={{ fontSize: 12.5, fontWeight: 'bold', color: '#0F1423' }}&gt;{x.k}&lt;/Text&gt;&#10;                        &lt;/Box&gt;&#10;                        &lt;Text style={{ fontSize: 11, color: '#5A6070', lineHeight: 1.35, marginTop: 5 }}&gt;{x.w}&lt;/Text&gt;&#10;                    &lt;/Box&gt;&#10;                ))}&#10;            &lt;/Box&gt;&#10;            &lt;Box style={{ flex: 1, flexDirection: 'column', gap: 8 }}&gt;&#10;                {[&#10;                    { n: '05', k: '承诺做不到的日期', w: '为了留住客户乱报工期' },&#10;                    { n: '06', k: '把客户数据带出环境', w: '为调试方便拷到本地' },&#10;                    { n: '07', k: '不备份就做批量写', w: '删除、合并、拆分前不快照' },&#10;                    { n: '08', k: '越过客户 IT 直连设备', w: '绕过网络隔离，连厂区网闸' },&#10;                ].map((x) =&gt; (&#10;                    &lt;Box key={x.n} style={{ flex: 1, background: '#F7F7F8', borderRadius: 4, padding: '0 13px', flexDirection: 'column', justifyContent: 'center', borderLeft: '4px solid #C43A17' }}&gt;&#10;                        &lt;Box style={{ flexDirection: 'row', alignItems: 'baseline', gap: 8 }}&gt;&#10;                            &lt;Text style={{ fontSize: 11, color: '#C43A17' }}&gt;{x.n}&lt;/Text&gt;&#10;                            &lt;Text style={{ fontSize: 12.5, fontWeight: 'bold', color: '#0F1423' }}&gt;{x.k}&lt;/Text&gt;&#10;                        &lt;/Box&gt;&#10;                        &lt;Text style={{ fontSize: 11, color: '#5A6070', lineHeight: 1.35, marginTop: 5 }}&gt;{x.w}&lt;/Text&gt;&#10;                    &lt;/Box&gt;&#10;                ))}&#10;            &lt;/Box&gt;&#10;        &lt;/Box&gt;&#10;&#10;        {/* 中：替代动作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每条高危动作的合规替代&lt;/Text&gt;&#10;                {[&#10;                    { k: '限流只读', v: '走只读副本，限制时间窗与扫描行数' },&#10;                    { k: '批次幂等', v: '每批带批次号，可重放可回滚' },&#10;                    { k: '变更走单', v: '客户 IT 审批后才动既有代码' },&#10;                    { k: '密级前置', v: '按密级申请，不因演示破例' },&#10;                ].map((x) =&gt; (&#10;                    &lt;Box key={x.k} style={{ flexDirection: 'row', gap: 12, marginTop: 10, alignItems: 'flex-start' }}&gt;&#10;                        &lt;Text style={{ fontSize: 12, fontWeight: 'bold', color: '#FBA15C', width: 7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为什么这八条是高危&lt;/Text&gt;&#10;                &lt;Text style={{ fontSize: 12.5, color: '#3A4050', lineHeight: 1.55, marginTop: 10, flex: 1 }}&gt;&#10;                    它们有一个共同点：后果落在客户身上，而你在现场。这不是能力问题，是位置问题——所以必须靠流程与清单约束自己，不能靠自觉。&#10;                &lt;/Text&gt;&#10;                &lt;Box style={{ background: '#FFFFFF', borderRadius: 3, padding: '0 12px', marginTop: 10 }}&gt;&#10;                    &lt;Text style={{ fontSize: 12, fontWeight: 'bold', color: '#C43A17', lineHeight: 1.45 }}&gt;&#10;                        判据：如果这个动作出事了，客户能不能在半小时内自己恢复？能，就做；不能，就不要做。&#10;                    &lt;/Text&gt;&#10;                &lt;/Box&gt;&#10;            &lt;/Box&gt;&#10;        &lt;/Box&gt;&#10;&#10;        {/* 下：现场红线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进场第一天就写进工作守则&lt;/Text&gt;&#10;                &lt;Text style={{ fontSize: 12.5, fontWeight: 'bold', color: '#0F1423', marginTop: 5, lineHeight: 1.4 }}&gt;红线四条，客户签字确认&lt;/Text&gt;&#10;            &lt;/Box&gt;&#10;            {[&#10;                { k: '不越权', v: '不取无授权数据' },&#10;                { k: '不带走', v: '不把数据拷出环境' },&#10;                { k: '不擅动', v: '不改客户既有系统' },&#10;                { k: '不留痕', v: '不留下无法回滚的改动' },&#10;            ].map((x) =&gt; (&#10;                &lt;Box key={x.k} style={{ flex: 1, background: '#F7F7F8', borderRadius: 4, padding: '0 14px', flexDirection: 'column', justifyContent: 'center' }}&gt;&#10;                    &lt;Text style={{ fontSize: 13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7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八类高危动作：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在现场绝对不能做的八件事</a:t>
            </a:r>
            <a:endParaRPr/>
          </a:p>
        </p:txBody>
      </p:sp>
      <p:sp>
        <p:nvSpPr>
          <p:cNvPr id="194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这些动作在总部没人会犯错，但到了客户生产环境，每一条都可能造成不可逆后果</a:t>
            </a:r>
            <a:endParaRPr/>
          </a:p>
        </p:txBody>
      </p:sp>
      <p:sp>
        <p:nvSpPr>
          <p:cNvPr id="194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45" name=""/>
          <p:cNvSpPr/>
          <p:nvPr/>
        </p:nvSpPr>
        <p:spPr>
          <a:xfrm rot="0" flipH="0" flipV="0">
            <a:off x="647700" y="1343025"/>
            <a:ext cx="5438775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46" name=""/>
          <p:cNvSpPr/>
          <p:nvPr/>
        </p:nvSpPr>
        <p:spPr>
          <a:xfrm rot="0" flipH="0" flipV="0">
            <a:off x="647700" y="1343025"/>
            <a:ext cx="5438775" cy="400050"/>
          </a:xfrm>
          <a:custGeom>
            <a:pathLst>
              <a:path w="571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47" name="" descr="{&quot;isTemplate&quot;:true,&quot;type&quot;:&quot;text&quot;}"/>
          <p:cNvSpPr txBox="1"/>
          <p:nvPr/>
        </p:nvSpPr>
        <p:spPr>
          <a:xfrm rot="0" flipH="0" flipV="0">
            <a:off x="771525" y="13620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48" name="" descr="{&quot;isTemplate&quot;:true,&quot;type&quot;:&quot;text&quot;}"/>
          <p:cNvSpPr txBox="1"/>
          <p:nvPr/>
        </p:nvSpPr>
        <p:spPr>
          <a:xfrm rot="0" flipH="0" flipV="0">
            <a:off x="971550" y="13620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直连生产库读全表</a:t>
            </a:r>
            <a:endParaRPr/>
          </a:p>
        </p:txBody>
      </p:sp>
      <p:sp>
        <p:nvSpPr>
          <p:cNvPr id="1949" name="" descr="{&quot;isTemplate&quot;:true,&quot;type&quot;:&quot;text&quot;}"/>
          <p:cNvSpPr txBox="1"/>
          <p:nvPr/>
        </p:nvSpPr>
        <p:spPr>
          <a:xfrm rot="0" flipH="0" flipV="0">
            <a:off x="771525" y="1552575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一个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select * 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打满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>IO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，影响客户业务</a:t>
            </a:r>
            <a:endParaRPr/>
          </a:p>
        </p:txBody>
      </p:sp>
      <p:sp>
        <p:nvSpPr>
          <p:cNvPr id="1950" name=""/>
          <p:cNvSpPr/>
          <p:nvPr/>
        </p:nvSpPr>
        <p:spPr>
          <a:xfrm rot="0" flipH="0" flipV="0">
            <a:off x="647700" y="1819275"/>
            <a:ext cx="5438775" cy="409575"/>
          </a:xfrm>
          <a:prstGeom prst="roundRect">
            <a:avLst>
              <a:gd name="adj" fmla="val 93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51" name=""/>
          <p:cNvSpPr/>
          <p:nvPr/>
        </p:nvSpPr>
        <p:spPr>
          <a:xfrm rot="0" flipH="0" flipV="0">
            <a:off x="647700" y="1819275"/>
            <a:ext cx="5438775" cy="409575"/>
          </a:xfrm>
          <a:custGeom>
            <a:pathLst>
              <a:path w="571" h="43">
                <a:moveTo>
                  <a:pt x="4" y="43"/>
                </a:moveTo>
                <a:cubicBezTo>
                  <a:pt x="2" y="43"/>
                  <a:pt x="0" y="41"/>
                  <a:pt x="0" y="3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52" name="" descr="{&quot;isTemplate&quot;:true,&quot;type&quot;:&quot;text&quot;}"/>
          <p:cNvSpPr txBox="1"/>
          <p:nvPr/>
        </p:nvSpPr>
        <p:spPr>
          <a:xfrm rot="0" flipH="0" flipV="0">
            <a:off x="771525" y="18478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53" name="" descr="{&quot;isTemplate&quot;:true,&quot;type&quot;:&quot;text&quot;}"/>
          <p:cNvSpPr txBox="1"/>
          <p:nvPr/>
        </p:nvSpPr>
        <p:spPr>
          <a:xfrm rot="0" flipH="0" flipV="0">
            <a:off x="971550" y="1847850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无幂等直接重跑</a:t>
            </a:r>
            <a:endParaRPr/>
          </a:p>
        </p:txBody>
      </p:sp>
      <p:sp>
        <p:nvSpPr>
          <p:cNvPr id="1954" name="" descr="{&quot;isTemplate&quot;:true,&quot;type&quot;:&quot;text&quot;}"/>
          <p:cNvSpPr txBox="1"/>
          <p:nvPr/>
        </p:nvSpPr>
        <p:spPr>
          <a:xfrm rot="0" flipH="0" flipV="0">
            <a:off x="771525" y="203835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重复写入，客户账目对不上</a:t>
            </a:r>
            <a:endParaRPr/>
          </a:p>
        </p:txBody>
      </p:sp>
      <p:sp>
        <p:nvSpPr>
          <p:cNvPr id="1955" name=""/>
          <p:cNvSpPr/>
          <p:nvPr/>
        </p:nvSpPr>
        <p:spPr>
          <a:xfrm rot="0" flipH="0" flipV="0">
            <a:off x="647700" y="2305050"/>
            <a:ext cx="5438775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56" name=""/>
          <p:cNvSpPr/>
          <p:nvPr/>
        </p:nvSpPr>
        <p:spPr>
          <a:xfrm rot="0" flipH="0" flipV="0">
            <a:off x="647700" y="2305050"/>
            <a:ext cx="5438775" cy="400050"/>
          </a:xfrm>
          <a:custGeom>
            <a:pathLst>
              <a:path w="571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57" name="" descr="{&quot;isTemplate&quot;:true,&quot;type&quot;:&quot;text&quot;}"/>
          <p:cNvSpPr txBox="1"/>
          <p:nvPr/>
        </p:nvSpPr>
        <p:spPr>
          <a:xfrm rot="0" flipH="0" flipV="0">
            <a:off x="771525" y="232410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58" name="" descr="{&quot;isTemplate&quot;:true,&quot;type&quot;:&quot;text&quot;}"/>
          <p:cNvSpPr txBox="1"/>
          <p:nvPr/>
        </p:nvSpPr>
        <p:spPr>
          <a:xfrm rot="0" flipH="0" flipV="0">
            <a:off x="971550" y="2324100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改客户既有代码</a:t>
            </a:r>
            <a:endParaRPr/>
          </a:p>
        </p:txBody>
      </p:sp>
      <p:sp>
        <p:nvSpPr>
          <p:cNvPr id="1959" name="" descr="{&quot;isTemplate&quot;:true,&quot;type&quot;:&quot;text&quot;}"/>
          <p:cNvSpPr txBox="1"/>
          <p:nvPr/>
        </p:nvSpPr>
        <p:spPr>
          <a:xfrm rot="0" flipH="0" flipV="0">
            <a:off x="771525" y="251460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绕过客户</a:t>
            </a:r>
            <a:r>
              <a:rPr lang="en-US" sz="825">
                <a:solidFill>
                  <a:srgbClr val="5A6070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，事故无人负责</a:t>
            </a:r>
            <a:endParaRPr/>
          </a:p>
        </p:txBody>
      </p:sp>
      <p:sp>
        <p:nvSpPr>
          <p:cNvPr id="1960" name=""/>
          <p:cNvSpPr/>
          <p:nvPr/>
        </p:nvSpPr>
        <p:spPr>
          <a:xfrm rot="0" flipH="0" flipV="0">
            <a:off x="647700" y="2781300"/>
            <a:ext cx="5438775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61" name=""/>
          <p:cNvSpPr/>
          <p:nvPr/>
        </p:nvSpPr>
        <p:spPr>
          <a:xfrm rot="0" flipH="0" flipV="0">
            <a:off x="647700" y="2781300"/>
            <a:ext cx="5438775" cy="400050"/>
          </a:xfrm>
          <a:custGeom>
            <a:pathLst>
              <a:path w="571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62" name="" descr="{&quot;isTemplate&quot;:true,&quot;type&quot;:&quot;text&quot;}"/>
          <p:cNvSpPr txBox="1"/>
          <p:nvPr/>
        </p:nvSpPr>
        <p:spPr>
          <a:xfrm rot="0" flipH="0" flipV="0">
            <a:off x="771525" y="28003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63" name="" descr="{&quot;isTemplate&quot;:true,&quot;type&quot;:&quot;text&quot;}"/>
          <p:cNvSpPr txBox="1"/>
          <p:nvPr/>
        </p:nvSpPr>
        <p:spPr>
          <a:xfrm rot="0" flipH="0" flipV="0">
            <a:off x="971550" y="2800350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绕过密级取数</a:t>
            </a:r>
            <a:endParaRPr/>
          </a:p>
        </p:txBody>
      </p:sp>
      <p:sp>
        <p:nvSpPr>
          <p:cNvPr id="1964" name="" descr="{&quot;isTemplate&quot;:true,&quot;type&quot;:&quot;text&quot;}"/>
          <p:cNvSpPr txBox="1"/>
          <p:nvPr/>
        </p:nvSpPr>
        <p:spPr>
          <a:xfrm rot="0" flipH="0" flipV="0">
            <a:off x="771525" y="299085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为了跑通演示拉越权数据</a:t>
            </a:r>
            <a:endParaRPr/>
          </a:p>
        </p:txBody>
      </p:sp>
      <p:sp>
        <p:nvSpPr>
          <p:cNvPr id="1965" name=""/>
          <p:cNvSpPr/>
          <p:nvPr/>
        </p:nvSpPr>
        <p:spPr>
          <a:xfrm rot="0" flipH="0" flipV="0">
            <a:off x="6191250" y="1343025"/>
            <a:ext cx="542925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66" name=""/>
          <p:cNvSpPr/>
          <p:nvPr/>
        </p:nvSpPr>
        <p:spPr>
          <a:xfrm rot="0" flipH="0" flipV="0">
            <a:off x="6191250" y="1343025"/>
            <a:ext cx="5429250" cy="400050"/>
          </a:xfrm>
          <a:custGeom>
            <a:pathLst>
              <a:path w="570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67" name="" descr="{&quot;isTemplate&quot;:true,&quot;type&quot;:&quot;text&quot;}"/>
          <p:cNvSpPr txBox="1"/>
          <p:nvPr/>
        </p:nvSpPr>
        <p:spPr>
          <a:xfrm rot="0" flipH="0" flipV="0">
            <a:off x="6315075" y="13620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968" name="" descr="{&quot;isTemplate&quot;:true,&quot;type&quot;:&quot;text&quot;}"/>
          <p:cNvSpPr txBox="1"/>
          <p:nvPr/>
        </p:nvSpPr>
        <p:spPr>
          <a:xfrm rot="0" flipH="0" flipV="0">
            <a:off x="6515100" y="13620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承诺做不到的日期</a:t>
            </a:r>
            <a:endParaRPr/>
          </a:p>
        </p:txBody>
      </p:sp>
      <p:sp>
        <p:nvSpPr>
          <p:cNvPr id="1969" name="" descr="{&quot;isTemplate&quot;:true,&quot;type&quot;:&quot;text&quot;}"/>
          <p:cNvSpPr txBox="1"/>
          <p:nvPr/>
        </p:nvSpPr>
        <p:spPr>
          <a:xfrm rot="0" flipH="0" flipV="0">
            <a:off x="6315075" y="1552575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为了留住客户乱报工期</a:t>
            </a:r>
            <a:endParaRPr/>
          </a:p>
        </p:txBody>
      </p:sp>
      <p:sp>
        <p:nvSpPr>
          <p:cNvPr id="1970" name=""/>
          <p:cNvSpPr/>
          <p:nvPr/>
        </p:nvSpPr>
        <p:spPr>
          <a:xfrm rot="0" flipH="0" flipV="0">
            <a:off x="6191250" y="1819275"/>
            <a:ext cx="5429250" cy="409575"/>
          </a:xfrm>
          <a:prstGeom prst="roundRect">
            <a:avLst>
              <a:gd name="adj" fmla="val 93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71" name=""/>
          <p:cNvSpPr/>
          <p:nvPr/>
        </p:nvSpPr>
        <p:spPr>
          <a:xfrm rot="0" flipH="0" flipV="0">
            <a:off x="6191250" y="1819275"/>
            <a:ext cx="5429250" cy="409575"/>
          </a:xfrm>
          <a:custGeom>
            <a:pathLst>
              <a:path w="570" h="43">
                <a:moveTo>
                  <a:pt x="4" y="43"/>
                </a:moveTo>
                <a:cubicBezTo>
                  <a:pt x="2" y="43"/>
                  <a:pt x="0" y="41"/>
                  <a:pt x="0" y="3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3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72" name="" descr="{&quot;isTemplate&quot;:true,&quot;type&quot;:&quot;text&quot;}"/>
          <p:cNvSpPr txBox="1"/>
          <p:nvPr/>
        </p:nvSpPr>
        <p:spPr>
          <a:xfrm rot="0" flipH="0" flipV="0">
            <a:off x="6315075" y="18478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973" name="" descr="{&quot;isTemplate&quot;:true,&quot;type&quot;:&quot;text&quot;}"/>
          <p:cNvSpPr txBox="1"/>
          <p:nvPr/>
        </p:nvSpPr>
        <p:spPr>
          <a:xfrm rot="0" flipH="0" flipV="0">
            <a:off x="6515100" y="1847850"/>
            <a:ext cx="1076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把客户数据带出环境</a:t>
            </a:r>
            <a:endParaRPr/>
          </a:p>
        </p:txBody>
      </p:sp>
      <p:sp>
        <p:nvSpPr>
          <p:cNvPr id="1974" name="" descr="{&quot;isTemplate&quot;:true,&quot;type&quot;:&quot;text&quot;}"/>
          <p:cNvSpPr txBox="1"/>
          <p:nvPr/>
        </p:nvSpPr>
        <p:spPr>
          <a:xfrm rot="0" flipH="0" flipV="0">
            <a:off x="6315075" y="203835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为调试方便拷到本地</a:t>
            </a:r>
            <a:endParaRPr/>
          </a:p>
        </p:txBody>
      </p:sp>
      <p:sp>
        <p:nvSpPr>
          <p:cNvPr id="1975" name=""/>
          <p:cNvSpPr/>
          <p:nvPr/>
        </p:nvSpPr>
        <p:spPr>
          <a:xfrm rot="0" flipH="0" flipV="0">
            <a:off x="6191250" y="2305050"/>
            <a:ext cx="542925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76" name=""/>
          <p:cNvSpPr/>
          <p:nvPr/>
        </p:nvSpPr>
        <p:spPr>
          <a:xfrm rot="0" flipH="0" flipV="0">
            <a:off x="6191250" y="2305050"/>
            <a:ext cx="5429250" cy="400050"/>
          </a:xfrm>
          <a:custGeom>
            <a:pathLst>
              <a:path w="570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77" name="" descr="{&quot;isTemplate&quot;:true,&quot;type&quot;:&quot;text&quot;}"/>
          <p:cNvSpPr txBox="1"/>
          <p:nvPr/>
        </p:nvSpPr>
        <p:spPr>
          <a:xfrm rot="0" flipH="0" flipV="0">
            <a:off x="6315075" y="232410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978" name="" descr="{&quot;isTemplate&quot;:true,&quot;type&quot;:&quot;text&quot;}"/>
          <p:cNvSpPr txBox="1"/>
          <p:nvPr/>
        </p:nvSpPr>
        <p:spPr>
          <a:xfrm rot="0" flipH="0" flipV="0">
            <a:off x="6515100" y="232410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不备份就做批量写</a:t>
            </a:r>
            <a:endParaRPr/>
          </a:p>
        </p:txBody>
      </p:sp>
      <p:sp>
        <p:nvSpPr>
          <p:cNvPr id="1979" name="" descr="{&quot;isTemplate&quot;:true,&quot;type&quot;:&quot;text&quot;}"/>
          <p:cNvSpPr txBox="1"/>
          <p:nvPr/>
        </p:nvSpPr>
        <p:spPr>
          <a:xfrm rot="0" flipH="0" flipV="0">
            <a:off x="6315075" y="251460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删除、合并、拆分前不快照</a:t>
            </a:r>
            <a:endParaRPr/>
          </a:p>
        </p:txBody>
      </p:sp>
      <p:sp>
        <p:nvSpPr>
          <p:cNvPr id="1980" name=""/>
          <p:cNvSpPr/>
          <p:nvPr/>
        </p:nvSpPr>
        <p:spPr>
          <a:xfrm rot="0" flipH="0" flipV="0">
            <a:off x="6191250" y="2781300"/>
            <a:ext cx="5429250" cy="400050"/>
          </a:xfrm>
          <a:prstGeom prst="roundRect">
            <a:avLst>
              <a:gd name="adj" fmla="val 95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81" name=""/>
          <p:cNvSpPr/>
          <p:nvPr/>
        </p:nvSpPr>
        <p:spPr>
          <a:xfrm rot="0" flipH="0" flipV="0">
            <a:off x="6191250" y="2781300"/>
            <a:ext cx="5429250" cy="400050"/>
          </a:xfrm>
          <a:custGeom>
            <a:pathLst>
              <a:path w="570" h="42">
                <a:moveTo>
                  <a:pt x="4" y="42"/>
                </a:moveTo>
                <a:cubicBezTo>
                  <a:pt x="2" y="42"/>
                  <a:pt x="0" y="40"/>
                  <a:pt x="0" y="3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2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982" name="" descr="{&quot;isTemplate&quot;:true,&quot;type&quot;:&quot;text&quot;}"/>
          <p:cNvSpPr txBox="1"/>
          <p:nvPr/>
        </p:nvSpPr>
        <p:spPr>
          <a:xfrm rot="0" flipH="0" flipV="0">
            <a:off x="6315075" y="28003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983" name="" descr="{&quot;isTemplate&quot;:true,&quot;type&quot;:&quot;text&quot;}"/>
          <p:cNvSpPr txBox="1"/>
          <p:nvPr/>
        </p:nvSpPr>
        <p:spPr>
          <a:xfrm rot="0" flipH="0" flipV="0">
            <a:off x="6515100" y="280035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越过客户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直连设备</a:t>
            </a:r>
            <a:endParaRPr/>
          </a:p>
        </p:txBody>
      </p:sp>
      <p:sp>
        <p:nvSpPr>
          <p:cNvPr id="1984" name="" descr="{&quot;isTemplate&quot;:true,&quot;type&quot;:&quot;text&quot;}"/>
          <p:cNvSpPr txBox="1"/>
          <p:nvPr/>
        </p:nvSpPr>
        <p:spPr>
          <a:xfrm rot="0" flipH="0" flipV="0">
            <a:off x="6315075" y="299085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绕过网络隔离，连厂区网闸</a:t>
            </a:r>
            <a:endParaRPr/>
          </a:p>
        </p:txBody>
      </p:sp>
      <p:sp>
        <p:nvSpPr>
          <p:cNvPr id="1985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86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每条高危动作的合规替代</a:t>
            </a:r>
            <a:endParaRPr/>
          </a:p>
        </p:txBody>
      </p:sp>
      <p:sp>
        <p:nvSpPr>
          <p:cNvPr id="1987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限流只读</a:t>
            </a:r>
            <a:endParaRPr/>
          </a:p>
        </p:txBody>
      </p:sp>
      <p:sp>
        <p:nvSpPr>
          <p:cNvPr id="1988" name="" descr="{&quot;isTemplate&quot;:true,&quot;type&quot;:&quot;text&quot;}"/>
          <p:cNvSpPr txBox="1"/>
          <p:nvPr/>
        </p:nvSpPr>
        <p:spPr>
          <a:xfrm rot="0" flipH="0" flipV="0">
            <a:off x="1581150" y="377190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走只读副本，限制时间窗与扫描行数</a:t>
            </a:r>
            <a:endParaRPr/>
          </a:p>
        </p:txBody>
      </p:sp>
      <p:sp>
        <p:nvSpPr>
          <p:cNvPr id="1989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批次幂等</a:t>
            </a:r>
            <a:endParaRPr/>
          </a:p>
        </p:txBody>
      </p:sp>
      <p:sp>
        <p:nvSpPr>
          <p:cNvPr id="1990" name="" descr="{&quot;isTemplate&quot;:true,&quot;type&quot;:&quot;text&quot;}"/>
          <p:cNvSpPr txBox="1"/>
          <p:nvPr/>
        </p:nvSpPr>
        <p:spPr>
          <a:xfrm rot="0" flipH="0" flipV="0">
            <a:off x="1581150" y="40671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每批带批次号，可重放可回滚</a:t>
            </a:r>
            <a:endParaRPr/>
          </a:p>
        </p:txBody>
      </p:sp>
      <p:sp>
        <p:nvSpPr>
          <p:cNvPr id="1991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变更走单</a:t>
            </a:r>
            <a:endParaRPr/>
          </a:p>
        </p:txBody>
      </p:sp>
      <p:sp>
        <p:nvSpPr>
          <p:cNvPr id="1992" name="" descr="{&quot;isTemplate&quot;:true,&quot;type&quot;:&quot;text&quot;}"/>
          <p:cNvSpPr txBox="1"/>
          <p:nvPr/>
        </p:nvSpPr>
        <p:spPr>
          <a:xfrm rot="0" flipH="0" flipV="0">
            <a:off x="1581150" y="436245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审批后才动既有代码</a:t>
            </a:r>
            <a:endParaRPr/>
          </a:p>
        </p:txBody>
      </p:sp>
      <p:sp>
        <p:nvSpPr>
          <p:cNvPr id="1993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密级前置</a:t>
            </a:r>
            <a:endParaRPr/>
          </a:p>
        </p:txBody>
      </p:sp>
      <p:sp>
        <p:nvSpPr>
          <p:cNvPr id="1994" name="" descr="{&quot;isTemplate&quot;:true,&quot;type&quot;:&quot;text&quot;}"/>
          <p:cNvSpPr txBox="1"/>
          <p:nvPr/>
        </p:nvSpPr>
        <p:spPr>
          <a:xfrm rot="0" flipH="0" flipV="0">
            <a:off x="1581150" y="465772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按密级申请，不因演示破例</a:t>
            </a:r>
            <a:endParaRPr/>
          </a:p>
        </p:txBody>
      </p:sp>
      <p:sp>
        <p:nvSpPr>
          <p:cNvPr id="1995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996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97" name="" descr="{&quot;isTemplate&quot;:true,&quot;type&quot;:&quot;text&quot;}"/>
          <p:cNvSpPr txBox="1"/>
          <p:nvPr/>
        </p:nvSpPr>
        <p:spPr>
          <a:xfrm rot="0" flipH="0" flipV="0">
            <a:off x="5381625" y="33051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为什么这八条是高危</a:t>
            </a:r>
            <a:endParaRPr/>
          </a:p>
        </p:txBody>
      </p:sp>
      <p:sp>
        <p:nvSpPr>
          <p:cNvPr id="1998" name="" descr="{&quot;isTemplate&quot;:true,&quot;type&quot;:&quot;text&quot;}"/>
          <p:cNvSpPr txBox="1"/>
          <p:nvPr/>
        </p:nvSpPr>
        <p:spPr>
          <a:xfrm rot="0" flipH="0" flipV="0">
            <a:off x="5381625" y="3571875"/>
            <a:ext cx="603885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它们有一个共同点：后果落在客户身上，而你在现场。这不是能力问题，是位置问题——所以必须靠流程与清单约束自己，不能靠自觉。</a:t>
            </a:r>
            <a:endParaRPr/>
          </a:p>
        </p:txBody>
      </p:sp>
      <p:sp>
        <p:nvSpPr>
          <p:cNvPr id="1999" name=""/>
          <p:cNvSpPr/>
          <p:nvPr/>
        </p:nvSpPr>
        <p:spPr>
          <a:xfrm rot="0" flipH="0" flipV="0">
            <a:off x="5381625" y="4876800"/>
            <a:ext cx="60388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0" name="" descr="{&quot;isTemplate&quot;:true,&quot;type&quot;:&quot;text&quot;}"/>
          <p:cNvSpPr txBox="1"/>
          <p:nvPr/>
        </p:nvSpPr>
        <p:spPr>
          <a:xfrm rot="0" flipH="0" flipV="0">
            <a:off x="5495925" y="4876800"/>
            <a:ext cx="5810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判据：如果这个动作出事了，客户能不能在半小时内自己恢复？能，就做；不能，就不要做。</a:t>
            </a:r>
            <a:endParaRPr/>
          </a:p>
        </p:txBody>
      </p:sp>
      <p:sp>
        <p:nvSpPr>
          <p:cNvPr id="2001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02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进场第一天就写进工作守则</a:t>
            </a:r>
            <a:endParaRPr/>
          </a:p>
        </p:txBody>
      </p:sp>
      <p:sp>
        <p:nvSpPr>
          <p:cNvPr id="2003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红线四条，客户签字确认</a:t>
            </a:r>
            <a:endParaRPr/>
          </a:p>
        </p:txBody>
      </p:sp>
      <p:sp>
        <p:nvSpPr>
          <p:cNvPr id="2004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05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不越权</a:t>
            </a:r>
            <a:endParaRPr/>
          </a:p>
        </p:txBody>
      </p:sp>
      <p:sp>
        <p:nvSpPr>
          <p:cNvPr id="2006" name="" descr="{&quot;isTemplate&quot;:true,&quot;type&quot;:&quot;text&quot;}"/>
          <p:cNvSpPr txBox="1"/>
          <p:nvPr/>
        </p:nvSpPr>
        <p:spPr>
          <a:xfrm rot="0" flipH="0" flipV="0">
            <a:off x="28384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不取无授权数据</a:t>
            </a:r>
            <a:endParaRPr/>
          </a:p>
        </p:txBody>
      </p:sp>
      <p:sp>
        <p:nvSpPr>
          <p:cNvPr id="2007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08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不带走</a:t>
            </a:r>
            <a:endParaRPr/>
          </a:p>
        </p:txBody>
      </p:sp>
      <p:sp>
        <p:nvSpPr>
          <p:cNvPr id="2009" name="" descr="{&quot;isTemplate&quot;:true,&quot;type&quot;:&quot;text&quot;}"/>
          <p:cNvSpPr txBox="1"/>
          <p:nvPr/>
        </p:nvSpPr>
        <p:spPr>
          <a:xfrm rot="0" flipH="0" flipV="0">
            <a:off x="50863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不把数据拷出环境</a:t>
            </a:r>
            <a:endParaRPr/>
          </a:p>
        </p:txBody>
      </p:sp>
      <p:sp>
        <p:nvSpPr>
          <p:cNvPr id="2010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11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不擅动</a:t>
            </a:r>
            <a:endParaRPr/>
          </a:p>
        </p:txBody>
      </p:sp>
      <p:sp>
        <p:nvSpPr>
          <p:cNvPr id="2012" name="" descr="{&quot;isTemplate&quot;:true,&quot;type&quot;:&quot;text&quot;}"/>
          <p:cNvSpPr txBox="1"/>
          <p:nvPr/>
        </p:nvSpPr>
        <p:spPr>
          <a:xfrm rot="0" flipH="0" flipV="0">
            <a:off x="73342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不改客户既有系统</a:t>
            </a:r>
            <a:endParaRPr/>
          </a:p>
        </p:txBody>
      </p:sp>
      <p:sp>
        <p:nvSpPr>
          <p:cNvPr id="2013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14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不留痕</a:t>
            </a:r>
            <a:endParaRPr/>
          </a:p>
        </p:txBody>
      </p:sp>
      <p:sp>
        <p:nvSpPr>
          <p:cNvPr id="2015" name="" descr="{&quot;isTemplate&quot;:true,&quot;type&quot;:&quot;text&quot;}"/>
          <p:cNvSpPr txBox="1"/>
          <p:nvPr/>
        </p:nvSpPr>
        <p:spPr>
          <a:xfrm rot="0" flipH="0" flipV="0">
            <a:off x="9582150" y="54102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不留下无法回滚的改动</a:t>
            </a:r>
            <a:endParaRPr/>
          </a:p>
        </p:txBody>
      </p:sp>
      <p:sp>
        <p:nvSpPr>
          <p:cNvPr id="201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1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1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01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37 / 60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202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十二项上线检查：&lt;span style={{ color: '#FA4F24' }}&gt;逐项打勾，缺一不算上线&lt;/span&gt;&#10;        &lt;/Text&gt;&#10;        &lt;Text style={{ fontSize: 20, color: '#8A8F99', marginTop: 8 }}&gt;&#10;            这一页建议直接做成现场工作台的默认清单。空一项就是没上线，不接受「基本完成」&#10;        &lt;/Text&gt;&#10;    &lt;/Box&gt;&#10;    &lt;Box style={{ height: 1, background: '#E8E8E8' }} /&gt;&#10;&#10;    &lt;Box style={{ paddingTop: 20, paddingBottom: 14, height: 479, flexDirection: 'column', gap: 13 }}&gt;&#10;&#10;        {/* 上：十二项 */}&#10;        &lt;Box style={{ flex: 1, flexDirection: 'row', gap: 11 }}&gt;&#10;            {[&#10;                { g: '数据（4项）', c: '#FA4F24', items: ['真实数据源已接通', '批处理幂等可重放', '失败有告警', '历史可追溯'] },&#10;                { g: '本体（3项）', c: '#E0641E', items: ['对象定义客户签字', '基数关系已定', '密级继承已配置'] },&#10;                { g: '业务（3项）', c: '#C43A17', items: ['作业员实际登录过', '口径客户签字', '结论进真实流程'] },&#10;                { g: '运营（2项）', c: '#A83310', items: ['客户侧责任人指定', '运维手册已交接'] },&#10;            ].map((x) =&gt; (&#10;                &lt;Box key={x.g} style={{ flex: 1, background: '#F7F7F8', borderRadius: 4, padding: '0 14px', flexDirection: 'column', justifyContent: 'center', borderTop: `3px solid ${x.c}` }}&gt;&#10;                    &lt;Text style={{ fontSize: 14, fontWeight: 'bold', color: x.c }}&gt;{x.g}&lt;/Text&gt;&#10;                    &lt;Box style={{ flex: 1, justifyContent: 'center' }}&gt;&#10;                        {x.items.map((y) =&gt; (&#10;                            &lt;Box key={y} style={{ flexDirection: 'row', gap: 8, marginTop: 9, alignItems: 'flex-start' }}&gt;&#10;                                &lt;Box style={{ width: 13, height: 13, borderRadius: 2, border: `1.5px solid ${x.c}`, marginTop: 3 }} /&gt;&#10;                                &lt;Text style={{ fontSize: 11.5, color: '#3A4050', lineHeight: 1.35, flex: 1 }}&gt;{y}&lt;/Text&gt;&#10;                            &lt;/Box&gt;&#10;                        ))}&#10;                    &lt;/Box&gt;&#10;                &lt;/Box&gt;&#10;            ))}&#10;        &lt;/Box&gt;&#10;&#10;        {/* 中：判定与整改 */}&#10;        &lt;Box style={{ height: 190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判定规则&lt;/Text&gt;&#10;                {[&#10;                    { k: '12/12', v: '可以移交，FDE 准备退出' },&#10;                    { k: '9–11', v: '限期整改，整改期不算交付完成' },&#10;                    { k: '≤8', v: '视为未上线，必须重走上线流程' },&#10;                ].map((x) =&gt; (&#10;                    &lt;Box key={x.k} style={{ flexDirection: 'row', gap: 12, marginTop: 11, alignItems: 'flex-start' }}&gt;&#10;                        &lt;Text style={{ fontSize: 13, fontWeight: 'bold', color: '#FBA15C', width: 58 }}&gt;{x.k}&lt;/Text&gt;&#10;                        &lt;Text style={{ fontSize: 12.5, color: 'rgba(255,255,255,0.85)', lineHeight: 1.4, flex: 1 }}&gt;{x.v}&lt;/Text&gt;&#10;                    &lt;/Box&gt;&#10;                ))}&#10;                &lt;Box style={{ background: 'rgba(250,79,36,0.22)', borderRadius: 3, padding: '0 12px', marginTop: 12 }}&gt;&#10;                    &lt;Text style={{ fontSize: 12, color: '#FBA15C', lineHeight: 1.45 }}&gt;&#10;                        不设「基本完成」这一档。这一档就是延期。&#10;                    &lt;/Text&gt;&#10;                &lt;/Box&gt;&#10;            &lt;/Box&gt;&#10;&#10;            &lt;Box style={{ flex: 1, flexDirection: 'column', gap: 10 }}&gt;&#10;                &lt;Box style={{ flex: 1, background: '#FFF3EE', borderRadius: 4, borderLeft: '4px solid #FA4F24', padding: '0 16px', flexDirection: 'column', justifyContent: 'center' }}&gt;&#10;                    &lt;Text style={{ fontSize: 14, fontWeight: 'bold', color: '#C43A17' }}&gt;最容易被跳过、代价最大的三项&lt;/Text&gt;&#10;                    {[&#10;                        { k: '历史可追溯', v: '出事查不到原因，前面的努力全归零' },&#10;                        { k: '作业员登录过', v: '没登录就上线，等于交付给空气' },&#10;                        { k: '运维手册', v: 'FDE 一撤，客户没人会维护' },&#10;                    ].map((x) =&gt; (&#10;                        &lt;Box key={x.k} style={{ flexDirection: 'row', gap: 11, marginTop: 9, alignItems: 'flex-start' }}&gt;&#10;                            &lt;Text style={{ fontSize: 12, fontWeight: 'bold', color: '#C43A17', width: 88 }}&gt;{x.k}&lt;/Text&gt;&#10;                            &lt;Text style={{ fontSize: 12.5, color: '#3A4050', lineHeight: 1.35, flex: 1 }}&gt;{x.v}&lt;/Text&gt;&#10;                        &lt;/Box&gt;&#10;                    ))}&#10;                &lt;/Box&gt;&#10;                &lt;Box style={{ height: 62, background: '#F7F7F8', borderRadius: 4, padding: '0 15px', flexDirection: 'row', alignItems: 'center', gap: 12 }}&gt;&#10;                    &lt;Text style={{ fontSize: 13, fontWeight: 'bold', color: '#0F1423', width: 108 }}&gt;执行方式&lt;/Text&gt;&#10;                    &lt;Text style={{ fontSize: 11.5, color: '#3A4050', lineHeight: 1.4, flex: 1 }}&gt;&#10;                        客户方与 FDE 逐项共同确认，双方签字。不允许会后补签。&#10;                    &lt;/Text&gt;&#10;                &lt;/Box&gt;&#10;            &lt;/Box&gt;&#10;        &lt;/Box&gt;&#10;&#10;        {/* 下：与移交的关系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这份清单的作用&lt;/Text&gt;&#10;                &lt;Text style={{ fontSize: 12.5, fontWeight: 'bold', color: '#0F1423', marginTop: 5, lineHeight: 1.4 }}&gt;它是 FDE 退出与留下的分界线&lt;/Text&gt;&#10;            &lt;/Box&gt;&#10;            {[&#10;                { k: '不达标 = 留下', v: '继续驻场整改，不计交付' },&#10;                { k: '全达标 = 退出', v: '转入运营移交' },&#10;                { k: '复用 = 下单', v: '进入第二个客户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8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十二项上线检查：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逐项打勾，缺一不算上线</a:t>
            </a:r>
            <a:endParaRPr/>
          </a:p>
        </p:txBody>
      </p:sp>
      <p:sp>
        <p:nvSpPr>
          <p:cNvPr id="202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这一页建议直接做成现场工作台的默认清单。空一项就是没上线，不接受「基本完成」</a:t>
            </a:r>
            <a:endParaRPr/>
          </a:p>
        </p:txBody>
      </p:sp>
      <p:sp>
        <p:nvSpPr>
          <p:cNvPr id="202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25" name=""/>
          <p:cNvSpPr/>
          <p:nvPr/>
        </p:nvSpPr>
        <p:spPr>
          <a:xfrm rot="0" flipH="0" flipV="0">
            <a:off x="609600" y="1371600"/>
            <a:ext cx="26670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26" name=""/>
          <p:cNvSpPr/>
          <p:nvPr/>
        </p:nvSpPr>
        <p:spPr>
          <a:xfrm rot="0" flipH="0" flipV="0">
            <a:off x="609600" y="1371600"/>
            <a:ext cx="2667000" cy="1800225"/>
          </a:xfrm>
          <a:custGeom>
            <a:pathLst>
              <a:path w="280" h="1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27" name="" descr="{&quot;isTemplate&quot;:true,&quot;type&quot;:&quot;text&quot;}"/>
          <p:cNvSpPr txBox="1"/>
          <p:nvPr/>
        </p:nvSpPr>
        <p:spPr>
          <a:xfrm rot="0" flipH="0" flipV="0">
            <a:off x="742950" y="13716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数据（</a:t>
            </a: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2028" name=""/>
          <p:cNvSpPr/>
          <p:nvPr/>
        </p:nvSpPr>
        <p:spPr>
          <a:xfrm rot="0" flipH="0" flipV="0">
            <a:off x="742950" y="192405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029" name="" descr="{&quot;isTemplate&quot;:true,&quot;type&quot;:&quot;text&quot;}"/>
          <p:cNvSpPr txBox="1"/>
          <p:nvPr/>
        </p:nvSpPr>
        <p:spPr>
          <a:xfrm rot="0" flipH="0" flipV="0">
            <a:off x="942975" y="189547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真实数据源已接通</a:t>
            </a:r>
            <a:endParaRPr/>
          </a:p>
        </p:txBody>
      </p:sp>
      <p:sp>
        <p:nvSpPr>
          <p:cNvPr id="2030" name=""/>
          <p:cNvSpPr/>
          <p:nvPr/>
        </p:nvSpPr>
        <p:spPr>
          <a:xfrm rot="0" flipH="0" flipV="0">
            <a:off x="742950" y="219075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031" name="" descr="{&quot;isTemplate&quot;:true,&quot;type&quot;:&quot;text&quot;}"/>
          <p:cNvSpPr txBox="1"/>
          <p:nvPr/>
        </p:nvSpPr>
        <p:spPr>
          <a:xfrm rot="0" flipH="0" flipV="0">
            <a:off x="942975" y="216217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批处理幂等可重放</a:t>
            </a:r>
            <a:endParaRPr/>
          </a:p>
        </p:txBody>
      </p:sp>
      <p:sp>
        <p:nvSpPr>
          <p:cNvPr id="2032" name=""/>
          <p:cNvSpPr/>
          <p:nvPr/>
        </p:nvSpPr>
        <p:spPr>
          <a:xfrm rot="0" flipH="0" flipV="0">
            <a:off x="742950" y="245745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033" name="" descr="{&quot;isTemplate&quot;:true,&quot;type&quot;:&quot;text&quot;}"/>
          <p:cNvSpPr txBox="1"/>
          <p:nvPr/>
        </p:nvSpPr>
        <p:spPr>
          <a:xfrm rot="0" flipH="0" flipV="0">
            <a:off x="942975" y="242887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失败有告警</a:t>
            </a:r>
            <a:endParaRPr/>
          </a:p>
        </p:txBody>
      </p:sp>
      <p:sp>
        <p:nvSpPr>
          <p:cNvPr id="2034" name=""/>
          <p:cNvSpPr/>
          <p:nvPr/>
        </p:nvSpPr>
        <p:spPr>
          <a:xfrm rot="0" flipH="0" flipV="0">
            <a:off x="742950" y="272415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2035" name="" descr="{&quot;isTemplate&quot;:true,&quot;type&quot;:&quot;text&quot;}"/>
          <p:cNvSpPr txBox="1"/>
          <p:nvPr/>
        </p:nvSpPr>
        <p:spPr>
          <a:xfrm rot="0" flipH="0" flipV="0">
            <a:off x="942975" y="269557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历史可追溯</a:t>
            </a:r>
            <a:endParaRPr/>
          </a:p>
        </p:txBody>
      </p:sp>
      <p:sp>
        <p:nvSpPr>
          <p:cNvPr id="2036" name=""/>
          <p:cNvSpPr/>
          <p:nvPr/>
        </p:nvSpPr>
        <p:spPr>
          <a:xfrm rot="0" flipH="0" flipV="0">
            <a:off x="3381375" y="1371600"/>
            <a:ext cx="26670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37" name=""/>
          <p:cNvSpPr/>
          <p:nvPr/>
        </p:nvSpPr>
        <p:spPr>
          <a:xfrm rot="0" flipH="0" flipV="0">
            <a:off x="3381375" y="1371600"/>
            <a:ext cx="2667000" cy="1800225"/>
          </a:xfrm>
          <a:custGeom>
            <a:pathLst>
              <a:path w="280" h="1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038" name="" descr="{&quot;isTemplate&quot;:true,&quot;type&quot;:&quot;text&quot;}"/>
          <p:cNvSpPr txBox="1"/>
          <p:nvPr/>
        </p:nvSpPr>
        <p:spPr>
          <a:xfrm rot="0" flipH="0" flipV="0">
            <a:off x="3514725" y="13716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41E"/>
                </a:solidFill>
                <a:latin typeface="Microsoft YaHei"/>
                <a:ea typeface="Microsoft YaHei"/>
              </a:rPr>
              <a:t>本体（</a:t>
            </a:r>
            <a:r>
              <a:rPr lang="en-US" sz="1050" b="1">
                <a:solidFill>
                  <a:srgbClr val="E0641E"/>
                </a:solidFill>
                <a:latin typeface="Microsoft YaHei"/>
                <a:ea typeface="Microsoft YaHei"/>
              </a:rPr>
              <a:t>3</a:t>
            </a:r>
            <a:r>
              <a:rPr lang="zh-CN" sz="1050" b="1">
                <a:solidFill>
                  <a:srgbClr val="E0641E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2039" name=""/>
          <p:cNvSpPr/>
          <p:nvPr/>
        </p:nvSpPr>
        <p:spPr>
          <a:xfrm rot="0" flipH="0" flipV="0">
            <a:off x="3514725" y="205740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040" name="" descr="{&quot;isTemplate&quot;:true,&quot;type&quot;:&quot;text&quot;}"/>
          <p:cNvSpPr txBox="1"/>
          <p:nvPr/>
        </p:nvSpPr>
        <p:spPr>
          <a:xfrm rot="0" flipH="0" flipV="0">
            <a:off x="3714750" y="202882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对象定义客户签字</a:t>
            </a:r>
            <a:endParaRPr/>
          </a:p>
        </p:txBody>
      </p:sp>
      <p:sp>
        <p:nvSpPr>
          <p:cNvPr id="2041" name=""/>
          <p:cNvSpPr/>
          <p:nvPr/>
        </p:nvSpPr>
        <p:spPr>
          <a:xfrm rot="0" flipH="0" flipV="0">
            <a:off x="3514725" y="232410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042" name="" descr="{&quot;isTemplate&quot;:true,&quot;type&quot;:&quot;text&quot;}"/>
          <p:cNvSpPr txBox="1"/>
          <p:nvPr/>
        </p:nvSpPr>
        <p:spPr>
          <a:xfrm rot="0" flipH="0" flipV="0">
            <a:off x="3714750" y="229552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基数关系已定</a:t>
            </a:r>
            <a:endParaRPr/>
          </a:p>
        </p:txBody>
      </p:sp>
      <p:sp>
        <p:nvSpPr>
          <p:cNvPr id="2043" name=""/>
          <p:cNvSpPr/>
          <p:nvPr/>
        </p:nvSpPr>
        <p:spPr>
          <a:xfrm rot="0" flipH="0" flipV="0">
            <a:off x="3514725" y="259080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E0641E"/>
            </a:solidFill>
            <a:prstDash val="solid"/>
          </a:ln>
        </p:spPr>
        <p:txBody>
          <a:bodyPr/>
          <a:p/>
        </p:txBody>
      </p:sp>
      <p:sp>
        <p:nvSpPr>
          <p:cNvPr id="2044" name="" descr="{&quot;isTemplate&quot;:true,&quot;type&quot;:&quot;text&quot;}"/>
          <p:cNvSpPr txBox="1"/>
          <p:nvPr/>
        </p:nvSpPr>
        <p:spPr>
          <a:xfrm rot="0" flipH="0" flipV="0">
            <a:off x="3714750" y="256222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密级继承已配置</a:t>
            </a:r>
            <a:endParaRPr/>
          </a:p>
        </p:txBody>
      </p:sp>
      <p:sp>
        <p:nvSpPr>
          <p:cNvPr id="2045" name=""/>
          <p:cNvSpPr/>
          <p:nvPr/>
        </p:nvSpPr>
        <p:spPr>
          <a:xfrm rot="0" flipH="0" flipV="0">
            <a:off x="6153150" y="1371600"/>
            <a:ext cx="265747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46" name=""/>
          <p:cNvSpPr/>
          <p:nvPr/>
        </p:nvSpPr>
        <p:spPr>
          <a:xfrm rot="0" flipH="0" flipV="0">
            <a:off x="6153150" y="1371600"/>
            <a:ext cx="2657475" cy="1800225"/>
          </a:xfrm>
          <a:custGeom>
            <a:pathLst>
              <a:path w="279" h="189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047" name="" descr="{&quot;isTemplate&quot;:true,&quot;type&quot;:&quot;text&quot;}"/>
          <p:cNvSpPr txBox="1"/>
          <p:nvPr/>
        </p:nvSpPr>
        <p:spPr>
          <a:xfrm rot="0" flipH="0" flipV="0">
            <a:off x="6286500" y="1371600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业务（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>3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2048" name=""/>
          <p:cNvSpPr/>
          <p:nvPr/>
        </p:nvSpPr>
        <p:spPr>
          <a:xfrm rot="0" flipH="0" flipV="0">
            <a:off x="6286500" y="205740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049" name="" descr="{&quot;isTemplate&quot;:true,&quot;type&quot;:&quot;text&quot;}"/>
          <p:cNvSpPr txBox="1"/>
          <p:nvPr/>
        </p:nvSpPr>
        <p:spPr>
          <a:xfrm rot="0" flipH="0" flipV="0">
            <a:off x="6486525" y="2028825"/>
            <a:ext cx="21907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作业员实际登录过</a:t>
            </a:r>
            <a:endParaRPr/>
          </a:p>
        </p:txBody>
      </p:sp>
      <p:sp>
        <p:nvSpPr>
          <p:cNvPr id="2050" name=""/>
          <p:cNvSpPr/>
          <p:nvPr/>
        </p:nvSpPr>
        <p:spPr>
          <a:xfrm rot="0" flipH="0" flipV="0">
            <a:off x="6286500" y="232410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051" name="" descr="{&quot;isTemplate&quot;:true,&quot;type&quot;:&quot;text&quot;}"/>
          <p:cNvSpPr txBox="1"/>
          <p:nvPr/>
        </p:nvSpPr>
        <p:spPr>
          <a:xfrm rot="0" flipH="0" flipV="0">
            <a:off x="6486525" y="2295525"/>
            <a:ext cx="21907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口径客户签字</a:t>
            </a:r>
            <a:endParaRPr/>
          </a:p>
        </p:txBody>
      </p:sp>
      <p:sp>
        <p:nvSpPr>
          <p:cNvPr id="2052" name=""/>
          <p:cNvSpPr/>
          <p:nvPr/>
        </p:nvSpPr>
        <p:spPr>
          <a:xfrm rot="0" flipH="0" flipV="0">
            <a:off x="6286500" y="259080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2053" name="" descr="{&quot;isTemplate&quot;:true,&quot;type&quot;:&quot;text&quot;}"/>
          <p:cNvSpPr txBox="1"/>
          <p:nvPr/>
        </p:nvSpPr>
        <p:spPr>
          <a:xfrm rot="0" flipH="0" flipV="0">
            <a:off x="6486525" y="2562225"/>
            <a:ext cx="2190750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结论进真实流程</a:t>
            </a:r>
            <a:endParaRPr/>
          </a:p>
        </p:txBody>
      </p:sp>
      <p:sp>
        <p:nvSpPr>
          <p:cNvPr id="2054" name=""/>
          <p:cNvSpPr/>
          <p:nvPr/>
        </p:nvSpPr>
        <p:spPr>
          <a:xfrm rot="0" flipH="0" flipV="0">
            <a:off x="8915400" y="1371600"/>
            <a:ext cx="2667000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55" name=""/>
          <p:cNvSpPr/>
          <p:nvPr/>
        </p:nvSpPr>
        <p:spPr>
          <a:xfrm rot="0" flipH="0" flipV="0">
            <a:off x="8915400" y="1371600"/>
            <a:ext cx="2667000" cy="1800225"/>
          </a:xfrm>
          <a:custGeom>
            <a:pathLst>
              <a:path w="280" h="1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056" name="" descr="{&quot;isTemplate&quot;:true,&quot;type&quot;:&quot;text&quot;}"/>
          <p:cNvSpPr txBox="1"/>
          <p:nvPr/>
        </p:nvSpPr>
        <p:spPr>
          <a:xfrm rot="0" flipH="0" flipV="0">
            <a:off x="9048750" y="13716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3310"/>
                </a:solidFill>
                <a:latin typeface="Microsoft YaHei"/>
                <a:ea typeface="Microsoft YaHei"/>
              </a:rPr>
              <a:t>运营（</a:t>
            </a:r>
            <a:r>
              <a:rPr lang="en-US" sz="1050" b="1">
                <a:solidFill>
                  <a:srgbClr val="A83310"/>
                </a:solidFill>
                <a:latin typeface="Microsoft YaHei"/>
                <a:ea typeface="Microsoft YaHei"/>
              </a:rPr>
              <a:t>2</a:t>
            </a:r>
            <a:r>
              <a:rPr lang="zh-CN" sz="1050" b="1">
                <a:solidFill>
                  <a:srgbClr val="A83310"/>
                </a:solidFill>
                <a:latin typeface="Microsoft YaHei"/>
                <a:ea typeface="Microsoft YaHei"/>
              </a:rPr>
              <a:t>项）</a:t>
            </a:r>
            <a:endParaRPr/>
          </a:p>
        </p:txBody>
      </p:sp>
      <p:sp>
        <p:nvSpPr>
          <p:cNvPr id="2057" name=""/>
          <p:cNvSpPr/>
          <p:nvPr/>
        </p:nvSpPr>
        <p:spPr>
          <a:xfrm rot="0" flipH="0" flipV="0">
            <a:off x="9048750" y="219075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A83310"/>
            </a:solidFill>
            <a:prstDash val="solid"/>
          </a:ln>
        </p:spPr>
        <p:txBody>
          <a:bodyPr/>
          <a:p/>
        </p:txBody>
      </p:sp>
      <p:sp>
        <p:nvSpPr>
          <p:cNvPr id="2058" name="" descr="{&quot;isTemplate&quot;:true,&quot;type&quot;:&quot;text&quot;}"/>
          <p:cNvSpPr txBox="1"/>
          <p:nvPr/>
        </p:nvSpPr>
        <p:spPr>
          <a:xfrm rot="0" flipH="0" flipV="0">
            <a:off x="9248775" y="216217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客户侧责任人指定</a:t>
            </a:r>
            <a:endParaRPr/>
          </a:p>
        </p:txBody>
      </p:sp>
      <p:sp>
        <p:nvSpPr>
          <p:cNvPr id="2059" name=""/>
          <p:cNvSpPr/>
          <p:nvPr/>
        </p:nvSpPr>
        <p:spPr>
          <a:xfrm rot="0" flipH="0" flipV="0">
            <a:off x="9048750" y="2457450"/>
            <a:ext cx="123825" cy="123825"/>
          </a:xfrm>
          <a:prstGeom prst="roundRect">
            <a:avLst>
              <a:gd name="adj" fmla="val 15385"/>
            </a:avLst>
          </a:prstGeom>
          <a:ln w="19050">
            <a:solidFill>
              <a:srgbClr val="A83310"/>
            </a:solidFill>
            <a:prstDash val="solid"/>
          </a:ln>
        </p:spPr>
        <p:txBody>
          <a:bodyPr/>
          <a:p/>
        </p:txBody>
      </p:sp>
      <p:sp>
        <p:nvSpPr>
          <p:cNvPr id="2060" name="" descr="{&quot;isTemplate&quot;:true,&quot;type&quot;:&quot;text&quot;}"/>
          <p:cNvSpPr txBox="1"/>
          <p:nvPr/>
        </p:nvSpPr>
        <p:spPr>
          <a:xfrm rot="0" flipH="0" flipV="0">
            <a:off x="9248775" y="2428875"/>
            <a:ext cx="2200275" cy="180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运维手册已交接</a:t>
            </a:r>
            <a:endParaRPr/>
          </a:p>
        </p:txBody>
      </p:sp>
      <p:sp>
        <p:nvSpPr>
          <p:cNvPr id="2061" name=""/>
          <p:cNvSpPr/>
          <p:nvPr/>
        </p:nvSpPr>
        <p:spPr>
          <a:xfrm rot="0" flipH="0" flipV="0">
            <a:off x="609600" y="3267075"/>
            <a:ext cx="4457700" cy="1809750"/>
          </a:xfrm>
          <a:prstGeom prst="roundRect">
            <a:avLst>
              <a:gd name="adj" fmla="val 21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062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判定规则</a:t>
            </a:r>
            <a:endParaRPr/>
          </a:p>
        </p:txBody>
      </p:sp>
      <p:sp>
        <p:nvSpPr>
          <p:cNvPr id="2063" name="" descr="{&quot;isTemplate&quot;:true,&quot;type&quot;:&quot;text&quot;}"/>
          <p:cNvSpPr txBox="1"/>
          <p:nvPr/>
        </p:nvSpPr>
        <p:spPr>
          <a:xfrm rot="0" flipH="0" flipV="0">
            <a:off x="781050" y="373380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12/12</a:t>
            </a:r>
            <a:endParaRPr/>
          </a:p>
        </p:txBody>
      </p:sp>
      <p:sp>
        <p:nvSpPr>
          <p:cNvPr id="2064" name="" descr="{&quot;isTemplate&quot;:true,&quot;type&quot;:&quot;text&quot;}"/>
          <p:cNvSpPr txBox="1"/>
          <p:nvPr/>
        </p:nvSpPr>
        <p:spPr>
          <a:xfrm rot="0" flipH="0" flipV="0">
            <a:off x="1447800" y="373380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可以移交，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准备退出</a:t>
            </a:r>
            <a:endParaRPr/>
          </a:p>
        </p:txBody>
      </p:sp>
      <p:sp>
        <p:nvSpPr>
          <p:cNvPr id="2065" name="" descr="{&quot;isTemplate&quot;:true,&quot;type&quot;:&quot;text&quot;}"/>
          <p:cNvSpPr txBox="1"/>
          <p:nvPr/>
        </p:nvSpPr>
        <p:spPr>
          <a:xfrm rot="0" flipH="0" flipV="0">
            <a:off x="781050" y="403860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9–11</a:t>
            </a:r>
            <a:endParaRPr/>
          </a:p>
        </p:txBody>
      </p:sp>
      <p:sp>
        <p:nvSpPr>
          <p:cNvPr id="2066" name="" descr="{&quot;isTemplate&quot;:true,&quot;type&quot;:&quot;text&quot;}"/>
          <p:cNvSpPr txBox="1"/>
          <p:nvPr/>
        </p:nvSpPr>
        <p:spPr>
          <a:xfrm rot="0" flipH="0" flipV="0">
            <a:off x="1447800" y="403860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限期整改，整改期不算交付完成</a:t>
            </a:r>
            <a:endParaRPr/>
          </a:p>
        </p:txBody>
      </p:sp>
      <p:sp>
        <p:nvSpPr>
          <p:cNvPr id="2067" name="" descr="{&quot;isTemplate&quot;:true,&quot;type&quot;:&quot;text&quot;}"/>
          <p:cNvSpPr txBox="1"/>
          <p:nvPr/>
        </p:nvSpPr>
        <p:spPr>
          <a:xfrm rot="0" flipH="0" flipV="0">
            <a:off x="781050" y="434340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>≤8</a:t>
            </a:r>
            <a:endParaRPr/>
          </a:p>
        </p:txBody>
      </p:sp>
      <p:sp>
        <p:nvSpPr>
          <p:cNvPr id="2068" name="" descr="{&quot;isTemplate&quot;:true,&quot;type&quot;:&quot;text&quot;}"/>
          <p:cNvSpPr txBox="1"/>
          <p:nvPr/>
        </p:nvSpPr>
        <p:spPr>
          <a:xfrm rot="0" flipH="0" flipV="0">
            <a:off x="1447800" y="434340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视为未上线，必须重走上线流程</a:t>
            </a:r>
            <a:endParaRPr/>
          </a:p>
        </p:txBody>
      </p:sp>
      <p:sp>
        <p:nvSpPr>
          <p:cNvPr id="2069" name=""/>
          <p:cNvSpPr/>
          <p:nvPr/>
        </p:nvSpPr>
        <p:spPr>
          <a:xfrm rot="0" flipH="0" flipV="0">
            <a:off x="781050" y="4657725"/>
            <a:ext cx="4114800" cy="200025"/>
          </a:xfrm>
          <a:prstGeom prst="roundRect">
            <a:avLst>
              <a:gd name="adj" fmla="val 14286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2070" name="" descr="{&quot;isTemplate&quot;:true,&quot;type&quot;:&quot;text&quot;}"/>
          <p:cNvSpPr txBox="1"/>
          <p:nvPr/>
        </p:nvSpPr>
        <p:spPr>
          <a:xfrm rot="0" flipH="0" flipV="0">
            <a:off x="895350" y="465772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不设「基本完成」这一档。这一档就是延期。</a:t>
            </a:r>
            <a:endParaRPr/>
          </a:p>
        </p:txBody>
      </p:sp>
      <p:sp>
        <p:nvSpPr>
          <p:cNvPr id="2071" name=""/>
          <p:cNvSpPr/>
          <p:nvPr/>
        </p:nvSpPr>
        <p:spPr>
          <a:xfrm rot="0" flipH="0" flipV="0">
            <a:off x="5219700" y="3267075"/>
            <a:ext cx="6400800" cy="1123950"/>
          </a:xfrm>
          <a:prstGeom prst="roundRect">
            <a:avLst>
              <a:gd name="adj" fmla="val 339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072" name=""/>
          <p:cNvSpPr/>
          <p:nvPr/>
        </p:nvSpPr>
        <p:spPr>
          <a:xfrm rot="0" flipH="0" flipV="0">
            <a:off x="5219700" y="3267075"/>
            <a:ext cx="6400800" cy="1123950"/>
          </a:xfrm>
          <a:custGeom>
            <a:pathLst>
              <a:path w="672" h="118">
                <a:moveTo>
                  <a:pt x="4" y="118"/>
                </a:moveTo>
                <a:cubicBezTo>
                  <a:pt x="2" y="118"/>
                  <a:pt x="0" y="116"/>
                  <a:pt x="0" y="11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73" name="" descr="{&quot;isTemplate&quot;:true,&quot;type&quot;:&quot;text&quot;}"/>
          <p:cNvSpPr txBox="1"/>
          <p:nvPr/>
        </p:nvSpPr>
        <p:spPr>
          <a:xfrm rot="0" flipH="0" flipV="0">
            <a:off x="5372100" y="332422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最容易被跳过、代价最大的三项</a:t>
            </a:r>
            <a:endParaRPr/>
          </a:p>
        </p:txBody>
      </p:sp>
      <p:sp>
        <p:nvSpPr>
          <p:cNvPr id="2074" name="" descr="{&quot;isTemplate&quot;:true,&quot;type&quot;:&quot;text&quot;}"/>
          <p:cNvSpPr txBox="1"/>
          <p:nvPr/>
        </p:nvSpPr>
        <p:spPr>
          <a:xfrm rot="0" flipH="0" flipV="0">
            <a:off x="5372100" y="35718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历史可追溯</a:t>
            </a:r>
            <a:endParaRPr/>
          </a:p>
        </p:txBody>
      </p:sp>
      <p:sp>
        <p:nvSpPr>
          <p:cNvPr id="2075" name="" descr="{&quot;isTemplate&quot;:true,&quot;type&quot;:&quot;text&quot;}"/>
          <p:cNvSpPr txBox="1"/>
          <p:nvPr/>
        </p:nvSpPr>
        <p:spPr>
          <a:xfrm rot="0" flipH="0" flipV="0">
            <a:off x="6315075" y="3571875"/>
            <a:ext cx="51149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出事查不到原因，前面的努力全归零</a:t>
            </a:r>
            <a:endParaRPr/>
          </a:p>
        </p:txBody>
      </p:sp>
      <p:sp>
        <p:nvSpPr>
          <p:cNvPr id="2076" name="" descr="{&quot;isTemplate&quot;:true,&quot;type&quot;:&quot;text&quot;}"/>
          <p:cNvSpPr txBox="1"/>
          <p:nvPr/>
        </p:nvSpPr>
        <p:spPr>
          <a:xfrm rot="0" flipH="0" flipV="0">
            <a:off x="5372100" y="38576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作业员登录过</a:t>
            </a:r>
            <a:endParaRPr/>
          </a:p>
        </p:txBody>
      </p:sp>
      <p:sp>
        <p:nvSpPr>
          <p:cNvPr id="2077" name="" descr="{&quot;isTemplate&quot;:true,&quot;type&quot;:&quot;text&quot;}"/>
          <p:cNvSpPr txBox="1"/>
          <p:nvPr/>
        </p:nvSpPr>
        <p:spPr>
          <a:xfrm rot="0" flipH="0" flipV="0">
            <a:off x="6315075" y="3857625"/>
            <a:ext cx="51149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没登录就上线，等于交付给空气</a:t>
            </a:r>
            <a:endParaRPr/>
          </a:p>
        </p:txBody>
      </p:sp>
      <p:sp>
        <p:nvSpPr>
          <p:cNvPr id="2078" name="" descr="{&quot;isTemplate&quot;:true,&quot;type&quot;:&quot;text&quot;}"/>
          <p:cNvSpPr txBox="1"/>
          <p:nvPr/>
        </p:nvSpPr>
        <p:spPr>
          <a:xfrm rot="0" flipH="0" flipV="0">
            <a:off x="5372100" y="41433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运维手册</a:t>
            </a:r>
            <a:endParaRPr/>
          </a:p>
        </p:txBody>
      </p:sp>
      <p:sp>
        <p:nvSpPr>
          <p:cNvPr id="2079" name="" descr="{&quot;isTemplate&quot;:true,&quot;type&quot;:&quot;text&quot;}"/>
          <p:cNvSpPr txBox="1"/>
          <p:nvPr/>
        </p:nvSpPr>
        <p:spPr>
          <a:xfrm rot="0" flipH="0" flipV="0">
            <a:off x="6315075" y="4143375"/>
            <a:ext cx="5114925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一撤，客户没人会维护</a:t>
            </a:r>
            <a:endParaRPr/>
          </a:p>
        </p:txBody>
      </p:sp>
      <p:sp>
        <p:nvSpPr>
          <p:cNvPr id="2080" name=""/>
          <p:cNvSpPr/>
          <p:nvPr/>
        </p:nvSpPr>
        <p:spPr>
          <a:xfrm rot="0" flipH="0" flipV="0">
            <a:off x="5181600" y="4486275"/>
            <a:ext cx="6400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81" name="" descr="{&quot;isTemplate&quot;:true,&quot;type&quot;:&quot;text&quot;}"/>
          <p:cNvSpPr txBox="1"/>
          <p:nvPr/>
        </p:nvSpPr>
        <p:spPr>
          <a:xfrm rot="0" flipH="0" flipV="0">
            <a:off x="5324475" y="4705350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执行方式</a:t>
            </a:r>
            <a:endParaRPr/>
          </a:p>
        </p:txBody>
      </p:sp>
      <p:sp>
        <p:nvSpPr>
          <p:cNvPr id="2082" name="" descr="{&quot;isTemplate&quot;:true,&quot;type&quot;:&quot;text&quot;}"/>
          <p:cNvSpPr txBox="1"/>
          <p:nvPr/>
        </p:nvSpPr>
        <p:spPr>
          <a:xfrm rot="0" flipH="0" flipV="0">
            <a:off x="6467475" y="4686300"/>
            <a:ext cx="4972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客户方与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逐项共同确认，双方签字。不允许会后补签。</a:t>
            </a:r>
            <a:endParaRPr/>
          </a:p>
        </p:txBody>
      </p:sp>
      <p:sp>
        <p:nvSpPr>
          <p:cNvPr id="2083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84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这份清单的作用</a:t>
            </a:r>
            <a:endParaRPr/>
          </a:p>
        </p:txBody>
      </p:sp>
      <p:sp>
        <p:nvSpPr>
          <p:cNvPr id="2085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它是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退出与留下的分界线</a:t>
            </a:r>
            <a:endParaRPr/>
          </a:p>
        </p:txBody>
      </p:sp>
      <p:sp>
        <p:nvSpPr>
          <p:cNvPr id="2086" name=""/>
          <p:cNvSpPr/>
          <p:nvPr/>
        </p:nvSpPr>
        <p:spPr>
          <a:xfrm rot="0" flipH="0" flipV="0">
            <a:off x="2705100" y="5200650"/>
            <a:ext cx="28860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87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不达标</a:t>
            </a: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留下</a:t>
            </a:r>
            <a:endParaRPr/>
          </a:p>
        </p:txBody>
      </p:sp>
      <p:sp>
        <p:nvSpPr>
          <p:cNvPr id="2088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继续驻场整改，不计交付</a:t>
            </a:r>
            <a:endParaRPr/>
          </a:p>
        </p:txBody>
      </p:sp>
      <p:sp>
        <p:nvSpPr>
          <p:cNvPr id="2089" name=""/>
          <p:cNvSpPr/>
          <p:nvPr/>
        </p:nvSpPr>
        <p:spPr>
          <a:xfrm rot="0" flipH="0" flipV="0">
            <a:off x="5705475" y="5200650"/>
            <a:ext cx="287655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90" name="" descr="{&quot;isTemplate&quot;:true,&quot;type&quot;:&quot;text&quot;}"/>
          <p:cNvSpPr txBox="1"/>
          <p:nvPr/>
        </p:nvSpPr>
        <p:spPr>
          <a:xfrm rot="0" flipH="0" flipV="0">
            <a:off x="5838825" y="521017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全达标</a:t>
            </a: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退出</a:t>
            </a:r>
            <a:endParaRPr/>
          </a:p>
        </p:txBody>
      </p:sp>
      <p:sp>
        <p:nvSpPr>
          <p:cNvPr id="2091" name="" descr="{&quot;isTemplate&quot;:true,&quot;type&quot;:&quot;text&quot;}"/>
          <p:cNvSpPr txBox="1"/>
          <p:nvPr/>
        </p:nvSpPr>
        <p:spPr>
          <a:xfrm rot="0" flipH="0" flipV="0">
            <a:off x="5838825" y="5400675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转入运营移交</a:t>
            </a:r>
            <a:endParaRPr/>
          </a:p>
        </p:txBody>
      </p:sp>
      <p:sp>
        <p:nvSpPr>
          <p:cNvPr id="2092" name=""/>
          <p:cNvSpPr/>
          <p:nvPr/>
        </p:nvSpPr>
        <p:spPr>
          <a:xfrm rot="0" flipH="0" flipV="0">
            <a:off x="8696325" y="5200650"/>
            <a:ext cx="28860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93" name="" descr="{&quot;isTemplate&quot;:true,&quot;type&quot;:&quot;text&quot;}"/>
          <p:cNvSpPr txBox="1"/>
          <p:nvPr/>
        </p:nvSpPr>
        <p:spPr>
          <a:xfrm rot="0" flipH="0" flipV="0">
            <a:off x="8829675" y="5210175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复用</a:t>
            </a: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下单</a:t>
            </a:r>
            <a:endParaRPr/>
          </a:p>
        </p:txBody>
      </p:sp>
      <p:sp>
        <p:nvSpPr>
          <p:cNvPr id="2094" name="" descr="{&quot;isTemplate&quot;:true,&quot;type&quot;:&quot;text&quot;}"/>
          <p:cNvSpPr txBox="1"/>
          <p:nvPr/>
        </p:nvSpPr>
        <p:spPr>
          <a:xfrm rot="0" flipH="0" flipV="0">
            <a:off x="8829675" y="5400675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进入第二个客户</a:t>
            </a:r>
            <a:endParaRPr/>
          </a:p>
        </p:txBody>
      </p:sp>
      <p:sp>
        <p:nvSpPr>
          <p:cNvPr id="209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9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9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09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38 / 60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2099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Echo 与 Delta 的分工契约：&lt;span style={{ color: '#FA4F24' }}&gt;一对配对，刻意制造张力&lt;/span&gt;&#10;        &lt;/Text&gt;&#10;        &lt;Text style={{ fontSize: 20, color: '#8A8F99', marginTop: 8 }}&gt;&#10;            这不是团队配置技巧，而是模式设计。少了任何一侧，交付都会偏向一边彻底跑偏&#10;        &lt;/Text&gt;&#10;    &lt;/Box&gt;&#10;    &lt;Box style={{ height: 1, background: '#E8E8E8' }} /&gt;&#10;&#10;    &lt;Box style={{ paddingTop: 20, paddingBottom: 14, height: 479, flexDirection: 'column', gap: 13 }}&gt;&#10;&#10;        {/* 上：双栏对照 */}&#10;        &lt;Box style={{ flex: 1, flexDirection: 'row', gap: 13 }}&gt;&#10;            &lt;Box style={{ flex: 1, background: '#F7F7F8', borderRadius: 4, padding: '0 18px', flexDirection: 'column', justifyContent: 'center', borderTop: '3px solid #FA4F24' }}&gt;&#10;                &lt;Text style={{ fontSize: 12, color: '#FA4F24', letterSpacing: 2 }}&gt;DELTA · FORWARD DEPLOYED ENGINEER&lt;/Text&gt;&#10;                &lt;Text style={{ fontSize: 19, fontWeight: 'bold', color: '#0F1423', marginTop: 8 }}&gt;把事情做成&lt;/Text&gt;&#10;                {[&#10;                    '归属：业务拓展方向，但工作在客户现场',&#10;                    '目标：一个客户需要多种能力',&#10;                    '动作：在客户环境直接写生产代码',&#10;                    '判断：技术上对不对',&#10;                    '失败形态：技术正确，运营无关',&#10;                ].map((x) =&gt; (&#10;                    &lt;Box key={x} style={{ flexDirection: 'row', gap: 10, marginTop: 10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&lt;/Box&gt;&#10;&#10;            &lt;Box style={{ flex: 1, background: '#0F1423', borderRadius: 4, padding: '0 18px', flexDirection: 'column', justifyContent: 'center', borderTop: '3px solid #FBA15C' }}&gt;&#10;                &lt;Text style={{ fontSize: 12, color: '#FBA15C', letterSpacing: 2 }}&gt;ECHO · DEPLOYMENT STRATEGIST&lt;/Text&gt;&#10;                &lt;Text style={{ fontSize: 19, fontWeight: 'bold', color: '#FFFFFF', marginTop: 8 }}&gt;把方向拽回来&lt;/Text&gt;&#10;                {[&#10;                    '通常不是软件工程师',&#10;                    '目标：找到最值得修的那条路',&#10;                    '动作：管客户关系、管采纳、管现场政治',&#10;                    '判断：这是不是真问题',&#10;                    '失败形态：方向找对了，但没人实现',&#10;                ].map((x) =&gt; (&#10;                    &lt;Box key={x} style={{ flexDirection: 'row', gap: 10, marginTop: 10, alignItems: 'flex-start' }}&gt;&#10;                        &lt;Box style={{ width: 5, height: 5, borderRadius: 3, background: '#FBA15C', marginTop: 6 }} /&gt;&#10;                        &lt;Text style={{ fontSize: 12.5, color: 'rgba(255,255,255,0.85)', lineHeight: 1.4, flex: 1 }}&gt;{x}&lt;/Text&gt;&#10;                    &lt;/Box&gt;&#10;                ))}&#10;            &lt;/Box&gt;&#10;        &lt;/Box&gt;&#10;&#10;        {/* 中：张力与配对 */}&#10;        &lt;Box style={{ height: 186, flexDirection: 'row', gap: 12 }}&gt;&#10;            &lt;Box style={{ width: 468, background: '#FFF3EE', borderRadius: 4, borderLeft: '4px solid #FA4F24', padding: '0 18px', flexDirection: 'column', justifyContent: 'center' }}&gt;&#10;                &lt;Text style={{ fontSize: 14.5, fontWeight: 'bold', color: '#C43A17' }}&gt;为什么必须配对，这是刻意制造的张力&lt;/Text&gt;&#10;                {[&#10;                    'Delta 单独干，很容易做出技术正确但运营无关的东西',&#10;                    'Echo 单独干，很容易找出真问题但拿不出可运行的东西',&#10;                    '两者相向而立，一个推快、一个踩刹车，项目才不会跑偏',&#10;                ].map((x) =&gt; (&#10;                    &lt;Box key={x} style={{ flexDirection: 'row', gap: 10, marginTop: 11, alignItems: 'flex-start' }}&gt;&#10;                        &lt;Text style={{ fontSize: 11, fontWeight: 'bold', color: '#C43A17', width: 16 }}&gt;·&lt;/Text&gt;&#10;                        &lt;Text style={{ fontSize: 12.5, color: '#3A4050', lineHeight: 1.4, flex: 1 }}&gt;{x}&lt;/Text&gt;&#10;                    &lt;/Box&gt;&#10;                ))}&#10;            &lt;/Box&gt;&#10;&#10;            &lt;Box style={{ flex: 1, background: '#F7F7F8', borderRadius: 4, padding: '0 17px', flexDirection: 'column', justifyContent: 'center' }}&gt;&#10;                &lt;Text style={{ fontSize: 14.5, fontWeight: 'bold', color: '#0F1423' }}&gt;现场冲突的正确处理&lt;/Text&gt;&#10;                {[&#10;                    { k: 'Delta 说做', v: 'Echo 问：谁用？改变了什么动作？' },&#10;                    { k: 'Echo 说停', v: 'Delta 问：不做会损失多少？' },&#10;                    { k: '两人僵持', v: '拉客户业务负责人当场裁决' },&#10;                ].map((x) =&gt; (&#10;                    &lt;Box key={x.k} style={{ flexDirection: 'row', gap: 11, marginTop: 11, alignItems: 'flex-start' }}&gt;&#10;                        &lt;Text style={{ fontSize: 12, fontWeight: 'bold', color: '#FA4F24', width: 82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冲突不是坏事，说明两边都在认真工作。&#10;                &lt;/Text&gt;&#10;            &lt;/Box&gt;&#10;        &lt;/Box&gt;&#10;&#10;        {/* 下：配比与背景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配比与背景偏好&lt;/Text&gt;&#10;                &lt;Text style={{ fontSize: 12.5, fontWeight: 'bold', color: '#0F1423', marginTop: 5, lineHeight: 1.4 }}&gt;Echo 常来自非技术岗&lt;/Text&gt;&#10;            &lt;/Box&gt;&#10;            {[&#10;                { k: '1 : 1', v: 'Delta 与 Echo 一对一配对' },&#10;                { k: '2–4 人', v: '每客户配置总数' },&#10;                { k: '2–6 人', v: '常驻现场人数' },&#10;                { k: '理想背景', v: '军官、医疗老兵、金融老手' },&#10;            ].map((x) =&gt; (&#10;                &lt;Box key={x.k} style={{ flex: 1, background: '#F7F7F8', borderRadius: 4, padding: '0 14px', flexDirection: 'column', justifyContent: 'center' }}&gt;&#10;                    &lt;Text style={{ fontSize: 13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39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的分工契约：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一对配对，刻意制造张力</a:t>
            </a:r>
            <a:endParaRPr/>
          </a:p>
        </p:txBody>
      </p:sp>
      <p:sp>
        <p:nvSpPr>
          <p:cNvPr id="21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这不是团队配置技巧，而是模式设计。少了任何一侧，交付都会偏向一边彻底跑偏</a:t>
            </a:r>
            <a:endParaRPr/>
          </a:p>
        </p:txBody>
      </p:sp>
      <p:sp>
        <p:nvSpPr>
          <p:cNvPr id="21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04" name=""/>
          <p:cNvSpPr/>
          <p:nvPr/>
        </p:nvSpPr>
        <p:spPr>
          <a:xfrm rot="0" flipH="0" flipV="0">
            <a:off x="609600" y="1371600"/>
            <a:ext cx="5429250" cy="1943100"/>
          </a:xfrm>
          <a:prstGeom prst="roundRect">
            <a:avLst>
              <a:gd name="adj" fmla="val 19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05" name=""/>
          <p:cNvSpPr/>
          <p:nvPr/>
        </p:nvSpPr>
        <p:spPr>
          <a:xfrm rot="0" flipH="0" flipV="0">
            <a:off x="609600" y="1371600"/>
            <a:ext cx="5429250" cy="1943100"/>
          </a:xfrm>
          <a:custGeom>
            <a:pathLst>
              <a:path w="570" h="204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cubicBezTo>
                  <a:pt x="570" y="3"/>
                  <a:pt x="569" y="3"/>
                  <a:pt x="5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06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5086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A4F24"/>
                </a:solidFill>
                <a:latin typeface="Microsoft YaHei"/>
                <a:ea typeface="Microsoft YaHei"/>
              </a:rPr>
              <a:t>DELTA · FORWARD DEPLOYED ENGINEER</a:t>
            </a:r>
            <a:endParaRPr/>
          </a:p>
        </p:txBody>
      </p:sp>
      <p:sp>
        <p:nvSpPr>
          <p:cNvPr id="2107" name="" descr="{&quot;isTemplate&quot;:true,&quot;type&quot;:&quot;text&quot;}"/>
          <p:cNvSpPr txBox="1"/>
          <p:nvPr/>
        </p:nvSpPr>
        <p:spPr>
          <a:xfrm rot="0" flipH="0" flipV="0">
            <a:off x="781050" y="1590675"/>
            <a:ext cx="508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把事情做成</a:t>
            </a:r>
            <a:endParaRPr/>
          </a:p>
        </p:txBody>
      </p:sp>
      <p:sp>
        <p:nvSpPr>
          <p:cNvPr id="2108" name=""/>
          <p:cNvSpPr/>
          <p:nvPr/>
        </p:nvSpPr>
        <p:spPr>
          <a:xfrm rot="0" flipH="0" flipV="0">
            <a:off x="781050" y="1962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09" name="" descr="{&quot;isTemplate&quot;:true,&quot;type&quot;:&quot;text&quot;}"/>
          <p:cNvSpPr txBox="1"/>
          <p:nvPr/>
        </p:nvSpPr>
        <p:spPr>
          <a:xfrm rot="0" flipH="0" flipV="0">
            <a:off x="923925" y="1905000"/>
            <a:ext cx="49434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归属：业务拓展方向，但工作在客户现场</a:t>
            </a:r>
            <a:endParaRPr/>
          </a:p>
        </p:txBody>
      </p:sp>
      <p:sp>
        <p:nvSpPr>
          <p:cNvPr id="2110" name=""/>
          <p:cNvSpPr/>
          <p:nvPr/>
        </p:nvSpPr>
        <p:spPr>
          <a:xfrm rot="0" flipH="0" flipV="0">
            <a:off x="781050" y="2257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11" name="" descr="{&quot;isTemplate&quot;:true,&quot;type&quot;:&quot;text&quot;}"/>
          <p:cNvSpPr txBox="1"/>
          <p:nvPr/>
        </p:nvSpPr>
        <p:spPr>
          <a:xfrm rot="0" flipH="0" flipV="0">
            <a:off x="923925" y="2200275"/>
            <a:ext cx="49434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目标：一个客户需要多种能力</a:t>
            </a:r>
            <a:endParaRPr/>
          </a:p>
        </p:txBody>
      </p:sp>
      <p:sp>
        <p:nvSpPr>
          <p:cNvPr id="2112" name=""/>
          <p:cNvSpPr/>
          <p:nvPr/>
        </p:nvSpPr>
        <p:spPr>
          <a:xfrm rot="0" flipH="0" flipV="0">
            <a:off x="781050" y="25527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13" name="" descr="{&quot;isTemplate&quot;:true,&quot;type&quot;:&quot;text&quot;}"/>
          <p:cNvSpPr txBox="1"/>
          <p:nvPr/>
        </p:nvSpPr>
        <p:spPr>
          <a:xfrm rot="0" flipH="0" flipV="0">
            <a:off x="923925" y="2495550"/>
            <a:ext cx="49434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动作：在客户环境直接写生产代码</a:t>
            </a:r>
            <a:endParaRPr/>
          </a:p>
        </p:txBody>
      </p:sp>
      <p:sp>
        <p:nvSpPr>
          <p:cNvPr id="2114" name=""/>
          <p:cNvSpPr/>
          <p:nvPr/>
        </p:nvSpPr>
        <p:spPr>
          <a:xfrm rot="0" flipH="0" flipV="0">
            <a:off x="781050" y="28479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15" name="" descr="{&quot;isTemplate&quot;:true,&quot;type&quot;:&quot;text&quot;}"/>
          <p:cNvSpPr txBox="1"/>
          <p:nvPr/>
        </p:nvSpPr>
        <p:spPr>
          <a:xfrm rot="0" flipH="0" flipV="0">
            <a:off x="923925" y="2790825"/>
            <a:ext cx="49434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判断：技术上对不对</a:t>
            </a:r>
            <a:endParaRPr/>
          </a:p>
        </p:txBody>
      </p:sp>
      <p:sp>
        <p:nvSpPr>
          <p:cNvPr id="2116" name=""/>
          <p:cNvSpPr/>
          <p:nvPr/>
        </p:nvSpPr>
        <p:spPr>
          <a:xfrm rot="0" flipH="0" flipV="0">
            <a:off x="781050" y="3143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17" name="" descr="{&quot;isTemplate&quot;:true,&quot;type&quot;:&quot;text&quot;}"/>
          <p:cNvSpPr txBox="1"/>
          <p:nvPr/>
        </p:nvSpPr>
        <p:spPr>
          <a:xfrm rot="0" flipH="0" flipV="0">
            <a:off x="923925" y="3086100"/>
            <a:ext cx="49434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失败形态：技术正确，运营无关</a:t>
            </a:r>
            <a:endParaRPr/>
          </a:p>
        </p:txBody>
      </p:sp>
      <p:sp>
        <p:nvSpPr>
          <p:cNvPr id="2118" name=""/>
          <p:cNvSpPr/>
          <p:nvPr/>
        </p:nvSpPr>
        <p:spPr>
          <a:xfrm rot="0" flipH="0" flipV="0">
            <a:off x="6162675" y="1371600"/>
            <a:ext cx="5419725" cy="1943100"/>
          </a:xfrm>
          <a:prstGeom prst="roundRect">
            <a:avLst>
              <a:gd name="adj" fmla="val 19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19" name=""/>
          <p:cNvSpPr/>
          <p:nvPr/>
        </p:nvSpPr>
        <p:spPr>
          <a:xfrm rot="0" flipH="0" flipV="0">
            <a:off x="6162675" y="1371600"/>
            <a:ext cx="5419725" cy="1943100"/>
          </a:xfrm>
          <a:custGeom>
            <a:pathLst>
              <a:path w="569" h="204">
                <a:moveTo>
                  <a:pt x="565" y="0"/>
                </a:moveTo>
                <a:cubicBezTo>
                  <a:pt x="567" y="0"/>
                  <a:pt x="569" y="2"/>
                  <a:pt x="569" y="4"/>
                </a:cubicBezTo>
                <a:cubicBezTo>
                  <a:pt x="569" y="3"/>
                  <a:pt x="568" y="3"/>
                  <a:pt x="56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120" name="" descr="{&quot;isTemplate&quot;:true,&quot;type&quot;:&quot;text&quot;}"/>
          <p:cNvSpPr txBox="1"/>
          <p:nvPr/>
        </p:nvSpPr>
        <p:spPr>
          <a:xfrm rot="0" flipH="0" flipV="0">
            <a:off x="6334125" y="1371600"/>
            <a:ext cx="5076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>ECHO · DEPLOYMENT STRATEGIST</a:t>
            </a:r>
            <a:endParaRPr/>
          </a:p>
        </p:txBody>
      </p:sp>
      <p:sp>
        <p:nvSpPr>
          <p:cNvPr id="2121" name="" descr="{&quot;isTemplate&quot;:true,&quot;type&quot;:&quot;text&quot;}"/>
          <p:cNvSpPr txBox="1"/>
          <p:nvPr/>
        </p:nvSpPr>
        <p:spPr>
          <a:xfrm rot="0" flipH="0" flipV="0">
            <a:off x="6334125" y="1590675"/>
            <a:ext cx="507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把方向拽回来</a:t>
            </a:r>
            <a:endParaRPr/>
          </a:p>
        </p:txBody>
      </p:sp>
      <p:sp>
        <p:nvSpPr>
          <p:cNvPr id="2122" name=""/>
          <p:cNvSpPr/>
          <p:nvPr/>
        </p:nvSpPr>
        <p:spPr>
          <a:xfrm rot="0" flipH="0" flipV="0">
            <a:off x="6334125" y="1962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123" name="" descr="{&quot;isTemplate&quot;:true,&quot;type&quot;:&quot;text&quot;}"/>
          <p:cNvSpPr txBox="1"/>
          <p:nvPr/>
        </p:nvSpPr>
        <p:spPr>
          <a:xfrm rot="0" flipH="0" flipV="0">
            <a:off x="6477000" y="1905000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通常不是软件工程师</a:t>
            </a:r>
            <a:endParaRPr/>
          </a:p>
        </p:txBody>
      </p:sp>
      <p:sp>
        <p:nvSpPr>
          <p:cNvPr id="2124" name=""/>
          <p:cNvSpPr/>
          <p:nvPr/>
        </p:nvSpPr>
        <p:spPr>
          <a:xfrm rot="0" flipH="0" flipV="0">
            <a:off x="6334125" y="2257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125" name="" descr="{&quot;isTemplate&quot;:true,&quot;type&quot;:&quot;text&quot;}"/>
          <p:cNvSpPr txBox="1"/>
          <p:nvPr/>
        </p:nvSpPr>
        <p:spPr>
          <a:xfrm rot="0" flipH="0" flipV="0">
            <a:off x="6477000" y="2200275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目标：找到最值得修的那条路</a:t>
            </a:r>
            <a:endParaRPr/>
          </a:p>
        </p:txBody>
      </p:sp>
      <p:sp>
        <p:nvSpPr>
          <p:cNvPr id="2126" name=""/>
          <p:cNvSpPr/>
          <p:nvPr/>
        </p:nvSpPr>
        <p:spPr>
          <a:xfrm rot="0" flipH="0" flipV="0">
            <a:off x="6334125" y="25527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127" name="" descr="{&quot;isTemplate&quot;:true,&quot;type&quot;:&quot;text&quot;}"/>
          <p:cNvSpPr txBox="1"/>
          <p:nvPr/>
        </p:nvSpPr>
        <p:spPr>
          <a:xfrm rot="0" flipH="0" flipV="0">
            <a:off x="6477000" y="2495550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动作：管客户关系、管采纳、管现场政治</a:t>
            </a:r>
            <a:endParaRPr/>
          </a:p>
        </p:txBody>
      </p:sp>
      <p:sp>
        <p:nvSpPr>
          <p:cNvPr id="2128" name=""/>
          <p:cNvSpPr/>
          <p:nvPr/>
        </p:nvSpPr>
        <p:spPr>
          <a:xfrm rot="0" flipH="0" flipV="0">
            <a:off x="6334125" y="28479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129" name="" descr="{&quot;isTemplate&quot;:true,&quot;type&quot;:&quot;text&quot;}"/>
          <p:cNvSpPr txBox="1"/>
          <p:nvPr/>
        </p:nvSpPr>
        <p:spPr>
          <a:xfrm rot="0" flipH="0" flipV="0">
            <a:off x="6477000" y="2790825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判断：这是不是真问题</a:t>
            </a:r>
            <a:endParaRPr/>
          </a:p>
        </p:txBody>
      </p:sp>
      <p:sp>
        <p:nvSpPr>
          <p:cNvPr id="2130" name=""/>
          <p:cNvSpPr/>
          <p:nvPr/>
        </p:nvSpPr>
        <p:spPr>
          <a:xfrm rot="0" flipH="0" flipV="0">
            <a:off x="6334125" y="3143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131" name="" descr="{&quot;isTemplate&quot;:true,&quot;type&quot;:&quot;text&quot;}"/>
          <p:cNvSpPr txBox="1"/>
          <p:nvPr/>
        </p:nvSpPr>
        <p:spPr>
          <a:xfrm rot="0" flipH="0" flipV="0">
            <a:off x="6477000" y="3086100"/>
            <a:ext cx="4933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失败形态：方向找对了，但没人实现</a:t>
            </a:r>
            <a:endParaRPr/>
          </a:p>
        </p:txBody>
      </p:sp>
      <p:sp>
        <p:nvSpPr>
          <p:cNvPr id="2132" name=""/>
          <p:cNvSpPr/>
          <p:nvPr/>
        </p:nvSpPr>
        <p:spPr>
          <a:xfrm rot="0" flipH="0" flipV="0">
            <a:off x="647700" y="3409950"/>
            <a:ext cx="44196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133" name=""/>
          <p:cNvSpPr/>
          <p:nvPr/>
        </p:nvSpPr>
        <p:spPr>
          <a:xfrm rot="0" flipH="0" flipV="0">
            <a:off x="647700" y="3409950"/>
            <a:ext cx="4419600" cy="1771650"/>
          </a:xfrm>
          <a:custGeom>
            <a:pathLst>
              <a:path w="464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34" name="" descr="{&quot;isTemplate&quot;:true,&quot;type&quot;:&quot;text&quot;}"/>
          <p:cNvSpPr txBox="1"/>
          <p:nvPr/>
        </p:nvSpPr>
        <p:spPr>
          <a:xfrm rot="0" flipH="0" flipV="0">
            <a:off x="819150" y="37528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为什么必须配对，这是刻意制造的张力</a:t>
            </a:r>
            <a:endParaRPr/>
          </a:p>
        </p:txBody>
      </p:sp>
      <p:sp>
        <p:nvSpPr>
          <p:cNvPr id="2135" name="" descr="{&quot;isTemplate&quot;:true,&quot;type&quot;:&quot;text&quot;}"/>
          <p:cNvSpPr txBox="1"/>
          <p:nvPr/>
        </p:nvSpPr>
        <p:spPr>
          <a:xfrm rot="0" flipH="0" flipV="0">
            <a:off x="819150" y="40290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136" name="" descr="{&quot;isTemplate&quot;:true,&quot;type&quot;:&quot;text&quot;}"/>
          <p:cNvSpPr txBox="1"/>
          <p:nvPr/>
        </p:nvSpPr>
        <p:spPr>
          <a:xfrm rot="0" flipH="0" flipV="0">
            <a:off x="1066800" y="4029075"/>
            <a:ext cx="3829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单独干，很容易做出技术正确但运营无关的东西</a:t>
            </a:r>
            <a:endParaRPr/>
          </a:p>
        </p:txBody>
      </p:sp>
      <p:sp>
        <p:nvSpPr>
          <p:cNvPr id="2137" name="" descr="{&quot;isTemplate&quot;:true,&quot;type&quot;:&quot;text&quot;}"/>
          <p:cNvSpPr txBox="1"/>
          <p:nvPr/>
        </p:nvSpPr>
        <p:spPr>
          <a:xfrm rot="0" flipH="0" flipV="0">
            <a:off x="819150" y="43338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138" name="" descr="{&quot;isTemplate&quot;:true,&quot;type&quot;:&quot;text&quot;}"/>
          <p:cNvSpPr txBox="1"/>
          <p:nvPr/>
        </p:nvSpPr>
        <p:spPr>
          <a:xfrm rot="0" flipH="0" flipV="0">
            <a:off x="1066800" y="4333875"/>
            <a:ext cx="3829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单独干，很容易找出真问题但拿不出可运行的东西</a:t>
            </a:r>
            <a:endParaRPr/>
          </a:p>
        </p:txBody>
      </p:sp>
      <p:sp>
        <p:nvSpPr>
          <p:cNvPr id="2139" name="" descr="{&quot;isTemplate&quot;:true,&quot;type&quot;:&quot;text&quot;}"/>
          <p:cNvSpPr txBox="1"/>
          <p:nvPr/>
        </p:nvSpPr>
        <p:spPr>
          <a:xfrm rot="0" flipH="0" flipV="0">
            <a:off x="819150" y="46386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140" name="" descr="{&quot;isTemplate&quot;:true,&quot;type&quot;:&quot;text&quot;}"/>
          <p:cNvSpPr txBox="1"/>
          <p:nvPr/>
        </p:nvSpPr>
        <p:spPr>
          <a:xfrm rot="0" flipH="0" flipV="0">
            <a:off x="1066800" y="4638675"/>
            <a:ext cx="3829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两者相向而立，一个推快、一个踩刹车，项目才不会跑偏</a:t>
            </a:r>
            <a:endParaRPr/>
          </a:p>
        </p:txBody>
      </p:sp>
      <p:sp>
        <p:nvSpPr>
          <p:cNvPr id="2141" name=""/>
          <p:cNvSpPr/>
          <p:nvPr/>
        </p:nvSpPr>
        <p:spPr>
          <a:xfrm rot="0" flipH="0" flipV="0">
            <a:off x="5181600" y="3409950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42" name="" descr="{&quot;isTemplate&quot;:true,&quot;type&quot;:&quot;text&quot;}"/>
          <p:cNvSpPr txBox="1"/>
          <p:nvPr/>
        </p:nvSpPr>
        <p:spPr>
          <a:xfrm rot="0" flipH="0" flipV="0">
            <a:off x="5343525" y="3600450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现场冲突的正确处理</a:t>
            </a:r>
            <a:endParaRPr/>
          </a:p>
        </p:txBody>
      </p:sp>
      <p:sp>
        <p:nvSpPr>
          <p:cNvPr id="2143" name="" descr="{&quot;isTemplate&quot;:true,&quot;type&quot;:&quot;text&quot;}"/>
          <p:cNvSpPr txBox="1"/>
          <p:nvPr/>
        </p:nvSpPr>
        <p:spPr>
          <a:xfrm rot="0" flipH="0" flipV="0">
            <a:off x="5343525" y="387667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说做</a:t>
            </a:r>
            <a:endParaRPr/>
          </a:p>
        </p:txBody>
      </p:sp>
      <p:sp>
        <p:nvSpPr>
          <p:cNvPr id="2144" name="" descr="{&quot;isTemplate&quot;:true,&quot;type&quot;:&quot;text&quot;}"/>
          <p:cNvSpPr txBox="1"/>
          <p:nvPr/>
        </p:nvSpPr>
        <p:spPr>
          <a:xfrm rot="0" flipH="0" flipV="0">
            <a:off x="6229350" y="3876675"/>
            <a:ext cx="5191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问：谁用？改变了什么动作？</a:t>
            </a:r>
            <a:endParaRPr/>
          </a:p>
        </p:txBody>
      </p:sp>
      <p:sp>
        <p:nvSpPr>
          <p:cNvPr id="2145" name="" descr="{&quot;isTemplate&quot;:true,&quot;type&quot;:&quot;text&quot;}"/>
          <p:cNvSpPr txBox="1"/>
          <p:nvPr/>
        </p:nvSpPr>
        <p:spPr>
          <a:xfrm rot="0" flipH="0" flipV="0">
            <a:off x="5343525" y="418147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说停</a:t>
            </a:r>
            <a:endParaRPr/>
          </a:p>
        </p:txBody>
      </p:sp>
      <p:sp>
        <p:nvSpPr>
          <p:cNvPr id="2146" name="" descr="{&quot;isTemplate&quot;:true,&quot;type&quot;:&quot;text&quot;}"/>
          <p:cNvSpPr txBox="1"/>
          <p:nvPr/>
        </p:nvSpPr>
        <p:spPr>
          <a:xfrm rot="0" flipH="0" flipV="0">
            <a:off x="6229350" y="4181475"/>
            <a:ext cx="5191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问：不做会损失多少？</a:t>
            </a:r>
            <a:endParaRPr/>
          </a:p>
        </p:txBody>
      </p:sp>
      <p:sp>
        <p:nvSpPr>
          <p:cNvPr id="2147" name="" descr="{&quot;isTemplate&quot;:true,&quot;type&quot;:&quot;text&quot;}"/>
          <p:cNvSpPr txBox="1"/>
          <p:nvPr/>
        </p:nvSpPr>
        <p:spPr>
          <a:xfrm rot="0" flipH="0" flipV="0">
            <a:off x="5343525" y="448627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两人僵持</a:t>
            </a:r>
            <a:endParaRPr/>
          </a:p>
        </p:txBody>
      </p:sp>
      <p:sp>
        <p:nvSpPr>
          <p:cNvPr id="2148" name="" descr="{&quot;isTemplate&quot;:true,&quot;type&quot;:&quot;text&quot;}"/>
          <p:cNvSpPr txBox="1"/>
          <p:nvPr/>
        </p:nvSpPr>
        <p:spPr>
          <a:xfrm rot="0" flipH="0" flipV="0">
            <a:off x="6229350" y="4486275"/>
            <a:ext cx="5191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拉客户业务负责人当场裁决</a:t>
            </a:r>
            <a:endParaRPr/>
          </a:p>
        </p:txBody>
      </p:sp>
      <p:sp>
        <p:nvSpPr>
          <p:cNvPr id="2149" name="" descr="{&quot;isTemplate&quot;:true,&quot;type&quot;:&quot;text&quot;}"/>
          <p:cNvSpPr txBox="1"/>
          <p:nvPr/>
        </p:nvSpPr>
        <p:spPr>
          <a:xfrm rot="0" flipH="0" flipV="0">
            <a:off x="5343525" y="4810125"/>
            <a:ext cx="60769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冲突不是坏事，说明两边都在认真工作。</a:t>
            </a:r>
            <a:endParaRPr/>
          </a:p>
        </p:txBody>
      </p:sp>
      <p:sp>
        <p:nvSpPr>
          <p:cNvPr id="2150" name=""/>
          <p:cNvSpPr/>
          <p:nvPr/>
        </p:nvSpPr>
        <p:spPr>
          <a:xfrm rot="0" flipH="0" flipV="0">
            <a:off x="609600" y="5305425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51" name="" descr="{&quot;isTemplate&quot;:true,&quot;type&quot;:&quot;text&quot;}"/>
          <p:cNvSpPr txBox="1"/>
          <p:nvPr/>
        </p:nvSpPr>
        <p:spPr>
          <a:xfrm rot="0" flipH="0" flipV="0">
            <a:off x="752475" y="53054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配比与背景偏好</a:t>
            </a:r>
            <a:endParaRPr/>
          </a:p>
        </p:txBody>
      </p:sp>
      <p:sp>
        <p:nvSpPr>
          <p:cNvPr id="2152" name="" descr="{&quot;isTemplate&quot;:true,&quot;type&quot;:&quot;text&quot;}"/>
          <p:cNvSpPr txBox="1"/>
          <p:nvPr/>
        </p:nvSpPr>
        <p:spPr>
          <a:xfrm rot="0" flipH="0" flipV="0">
            <a:off x="752475" y="5486400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常来自非技术岗</a:t>
            </a:r>
            <a:endParaRPr/>
          </a:p>
        </p:txBody>
      </p:sp>
      <p:sp>
        <p:nvSpPr>
          <p:cNvPr id="2153" name=""/>
          <p:cNvSpPr/>
          <p:nvPr/>
        </p:nvSpPr>
        <p:spPr>
          <a:xfrm rot="0" flipH="0" flipV="0">
            <a:off x="2705100" y="5305425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54" name="" descr="{&quot;isTemplate&quot;:true,&quot;type&quot;:&quot;text&quot;}"/>
          <p:cNvSpPr txBox="1"/>
          <p:nvPr/>
        </p:nvSpPr>
        <p:spPr>
          <a:xfrm rot="0" flipH="0" flipV="0">
            <a:off x="2838450" y="53149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1 : 1</a:t>
            </a:r>
            <a:endParaRPr/>
          </a:p>
        </p:txBody>
      </p:sp>
      <p:sp>
        <p:nvSpPr>
          <p:cNvPr id="2155" name="" descr="{&quot;isTemplate&quot;:true,&quot;type&quot;:&quot;text&quot;}"/>
          <p:cNvSpPr txBox="1"/>
          <p:nvPr/>
        </p:nvSpPr>
        <p:spPr>
          <a:xfrm rot="0" flipH="0" flipV="0">
            <a:off x="2838450" y="55149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一对一配对</a:t>
            </a:r>
            <a:endParaRPr/>
          </a:p>
        </p:txBody>
      </p:sp>
      <p:sp>
        <p:nvSpPr>
          <p:cNvPr id="2156" name=""/>
          <p:cNvSpPr/>
          <p:nvPr/>
        </p:nvSpPr>
        <p:spPr>
          <a:xfrm rot="0" flipH="0" flipV="0">
            <a:off x="4953000" y="5305425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57" name="" descr="{&quot;isTemplate&quot;:true,&quot;type&quot;:&quot;text&quot;}"/>
          <p:cNvSpPr txBox="1"/>
          <p:nvPr/>
        </p:nvSpPr>
        <p:spPr>
          <a:xfrm rot="0" flipH="0" flipV="0">
            <a:off x="5086350" y="53149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2–4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2158" name="" descr="{&quot;isTemplate&quot;:true,&quot;type&quot;:&quot;text&quot;}"/>
          <p:cNvSpPr txBox="1"/>
          <p:nvPr/>
        </p:nvSpPr>
        <p:spPr>
          <a:xfrm rot="0" flipH="0" flipV="0">
            <a:off x="5086350" y="55149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每客户配置总数</a:t>
            </a:r>
            <a:endParaRPr/>
          </a:p>
        </p:txBody>
      </p:sp>
      <p:sp>
        <p:nvSpPr>
          <p:cNvPr id="2159" name=""/>
          <p:cNvSpPr/>
          <p:nvPr/>
        </p:nvSpPr>
        <p:spPr>
          <a:xfrm rot="0" flipH="0" flipV="0">
            <a:off x="7200900" y="5305425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60" name="" descr="{&quot;isTemplate&quot;:true,&quot;type&quot;:&quot;text&quot;}"/>
          <p:cNvSpPr txBox="1"/>
          <p:nvPr/>
        </p:nvSpPr>
        <p:spPr>
          <a:xfrm rot="0" flipH="0" flipV="0">
            <a:off x="7334250" y="53149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2–6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2161" name="" descr="{&quot;isTemplate&quot;:true,&quot;type&quot;:&quot;text&quot;}"/>
          <p:cNvSpPr txBox="1"/>
          <p:nvPr/>
        </p:nvSpPr>
        <p:spPr>
          <a:xfrm rot="0" flipH="0" flipV="0">
            <a:off x="7334250" y="55149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常驻现场人数</a:t>
            </a:r>
            <a:endParaRPr/>
          </a:p>
        </p:txBody>
      </p:sp>
      <p:sp>
        <p:nvSpPr>
          <p:cNvPr id="2162" name=""/>
          <p:cNvSpPr/>
          <p:nvPr/>
        </p:nvSpPr>
        <p:spPr>
          <a:xfrm rot="0" flipH="0" flipV="0">
            <a:off x="9448800" y="5305425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63" name="" descr="{&quot;isTemplate&quot;:true,&quot;type&quot;:&quot;text&quot;}"/>
          <p:cNvSpPr txBox="1"/>
          <p:nvPr/>
        </p:nvSpPr>
        <p:spPr>
          <a:xfrm rot="0" flipH="0" flipV="0">
            <a:off x="9582150" y="531495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理想背景</a:t>
            </a:r>
            <a:endParaRPr/>
          </a:p>
        </p:txBody>
      </p:sp>
      <p:sp>
        <p:nvSpPr>
          <p:cNvPr id="2164" name="" descr="{&quot;isTemplate&quot;:true,&quot;type&quot;:&quot;text&quot;}"/>
          <p:cNvSpPr txBox="1"/>
          <p:nvPr/>
        </p:nvSpPr>
        <p:spPr>
          <a:xfrm rot="0" flipH="0" flipV="0">
            <a:off x="9582150" y="55149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军官、医疗老兵、金融老手</a:t>
            </a:r>
            <a:endParaRPr/>
          </a:p>
        </p:txBody>
      </p:sp>
      <p:sp>
        <p:nvSpPr>
          <p:cNvPr id="216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6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6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16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39 / 60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2309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运营移交：&lt;span style={{ color: '#FA4F24' }}&gt;FDE 什么时候可以走&lt;/span&gt;&#10;        &lt;/Text&gt;&#10;        &lt;Text style={{ fontSize: 20, color: '#8A8F99', marginTop: 8 }}&gt;&#10;            不以「功能做完」为终点，以「客户能自己维护」为终点。走早了等于没交付&#10;        &lt;/Text&gt;&#10;    &lt;/Box&gt;&#10;    &lt;Box style={{ height: 1, background: '#E8E8E8' }} /&gt;&#10;&#10;    &lt;Box style={{ paddingTop: 20, paddingBottom: 14, height: 479, flexDirection: 'column', gap: 13 }}&gt;&#10;&#10;        {/* 上：移交四步 */}&#10;        &lt;Box style={{ flex: 1, flexDirection: 'row', gap: 11 }}&gt;&#10;            {[&#10;                { n: '01', k: '运维接管', c: '#FA4F24', d: '客户方指定责任人，拿到账号、权限、告警配置。', chk: '能登录、能看告警、能重启' },&#10;                { n: '02', k: '口径接管', c: '#E0641E', d: '业务方接手口径裁定权，包括后续加指标的权限。', chk: '客户自己敢改口径' },&#10;                { n: '03', k: '知识接管', c: '#C43A17', d: '培训 + 考核，确保不是「看着会了」。', chk: '考核通过率 100%' },&#10;                { n: '04', k: '回流传管', c: '#A83310', d: '平台侧接手抽象提案，总部 Dev 跟进落地。', chk: '提案进入平台迭代' },&#10;            ].map((x) =&gt; (&#10;                &lt;Box key={x.n} style={{ flex: 1, background: '#F7F7F8', borderRadius: 4, padding: '0 15px', flexDirection: 'column', justifyContent: 'center', borderTop: `3px solid ${x.c}` }}&gt;&#10;                    &lt;Box style={{ flexDirection: 'row', alignItems: 'baseline', gap: 8 }}&gt;&#10;                        &lt;Text style={{ fontSize: 12, color: x.c }}&gt;{x.n}&lt;/Text&gt;&#10;                        &lt;Text style={{ fontSize: 15, fontWeight: 'bold', color: '#0F1423' }}&gt;{x.k}&lt;/Text&gt;&#10;                    &lt;/Box&gt;&#10;                    &lt;Text style={{ fontSize: 12, color: '#3A4050', lineHeight: 1.45, marginTop: 10, flex: 1 }}&gt;{x.d}&lt;/Text&gt;&#10;                    &lt;Box style={{ background: '#0F1423', borderRadius: 3, padding: '0 11px', marginTop: 9 }}&gt;&#10;                        &lt;Text style={{ fontSize: 11.5, color: 'rgba(255,255,255,0.88)', lineHeight: 1.4 }}&gt;过关：{x.chk}&lt;/Text&gt;&#10;                    &lt;/Box&gt;&#10;                &lt;/Box&gt;&#10;            ))}&#10;        &lt;/Box&gt;&#10;&#10;        {/* 中：走与不走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可以走的四个条件&lt;/Text&gt;&#10;                {[&#10;                    { k: '有人维护', v: '客户方责任人已上岗，不是「以后再说」' },&#10;                    { k: '能恢复', v: '出故障客户自己能处理，不依赖 FDE 在线' },&#10;                    { k: '敢改', v: '客户敢自己加指标、改口径，不需要请示' },&#10;                    { k: '留痕了', v: '本体定义、口径裁定、运维手册三样齐全' },&#10;                ].map((x) =&gt; (&#10;                    &lt;Box key={x.k} style={{ flexDirection: 'row', gap: 12, marginTop: 10, alignItems: 'flex-start' }}&gt;&#10;                        &lt;Text style={{ fontSize: 12, fontWeight: 'bold', color: '#FBA15C', width: 66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三种不该走的情形&lt;/Text&gt;&#10;                {[&#10;                    { k: '还在催', v: '客户还天天问「这个怎么用」，说明没教会' },&#10;                    { k: '还在改', v: '每周都有口径变更，模型还没稳定' },&#10;                    { k: '还在救', v: '上线一个月内就在处理故障，运维没接住' },&#10;                ].map((x) =&gt; (&#10;                    &lt;Box key={x.k} style={{ flexDirection: 'row', gap: 11, marginTop: 11, alignItems: 'flex-start' }}&gt;&#10;                        &lt;Text style={{ fontSize: 12, fontWeight: 'bold', color: '#C43A17', width: 66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早退是 FDE 最常见的人情债。&#10;                &lt;/Text&gt;&#10;            &lt;/Box&gt;&#10;        &lt;/Box&gt;&#10;&#10;        {/* 下：移交后的关系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移交之后不是断绝&lt;/Text&gt;&#10;                &lt;Text style={{ fontSize: 12.5, fontWeight: 'bold', color: '#0F1423', marginTop: 5, lineHeight: 1.4 }}&gt;留一条按需回叫的通道&lt;/Text&gt;&#10;            &lt;/Box&gt;&#10;            {[&#10;                { k: '远程待命', v: '两周内可远程响应，不驻场' },&#10;                { k: '回访节奏', v: '第 1 周、第 1 月、第 3 月各一次' },&#10;                { k: '回访内容', v: '只看使用量与新增痛点' },&#10;                { k: '下一单入口', v: '第二个场景优先派原班人马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0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运营移交：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什么时候可以走</a:t>
            </a:r>
            <a:endParaRPr/>
          </a:p>
        </p:txBody>
      </p:sp>
      <p:sp>
        <p:nvSpPr>
          <p:cNvPr id="23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不以「功能做完」为终点，以「客户能自己维护」为终点。走早了等于没交付</a:t>
            </a:r>
            <a:endParaRPr/>
          </a:p>
        </p:txBody>
      </p:sp>
      <p:sp>
        <p:nvSpPr>
          <p:cNvPr id="23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314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15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16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17" name="" descr="{&quot;isTemplate&quot;:true,&quot;type&quot;:&quot;text&quot;}"/>
          <p:cNvSpPr txBox="1"/>
          <p:nvPr/>
        </p:nvSpPr>
        <p:spPr>
          <a:xfrm rot="0" flipH="0" flipV="0">
            <a:off x="971550" y="1371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运维接管</a:t>
            </a:r>
            <a:endParaRPr/>
          </a:p>
        </p:txBody>
      </p:sp>
      <p:sp>
        <p:nvSpPr>
          <p:cNvPr id="2318" name="" descr="{&quot;isTemplate&quot;:true,&quot;type&quot;:&quot;text&quot;}"/>
          <p:cNvSpPr txBox="1"/>
          <p:nvPr/>
        </p:nvSpPr>
        <p:spPr>
          <a:xfrm rot="0" flipH="0" flipV="0">
            <a:off x="752475" y="1638300"/>
            <a:ext cx="2381250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客户方指定责任人，拿到账号、权限、告警配置。</a:t>
            </a:r>
            <a:endParaRPr/>
          </a:p>
        </p:txBody>
      </p:sp>
      <p:sp>
        <p:nvSpPr>
          <p:cNvPr id="2319" name=""/>
          <p:cNvSpPr/>
          <p:nvPr/>
        </p:nvSpPr>
        <p:spPr>
          <a:xfrm rot="0" flipH="0" flipV="0">
            <a:off x="752475" y="299085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20" name="" descr="{&quot;isTemplate&quot;:true,&quot;type&quot;:&quot;text&quot;}"/>
          <p:cNvSpPr txBox="1"/>
          <p:nvPr/>
        </p:nvSpPr>
        <p:spPr>
          <a:xfrm rot="0" flipH="0" flipV="0">
            <a:off x="857250" y="29908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过关：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能登录、能看告警、能重启</a:t>
            </a:r>
            <a:endParaRPr/>
          </a:p>
        </p:txBody>
      </p:sp>
      <p:sp>
        <p:nvSpPr>
          <p:cNvPr id="2321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22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323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0641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24" name="" descr="{&quot;isTemplate&quot;:true,&quot;type&quot;:&quot;text&quot;}"/>
          <p:cNvSpPr txBox="1"/>
          <p:nvPr/>
        </p:nvSpPr>
        <p:spPr>
          <a:xfrm rot="0" flipH="0" flipV="0">
            <a:off x="3743325" y="1371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口径接管</a:t>
            </a:r>
            <a:endParaRPr/>
          </a:p>
        </p:txBody>
      </p:sp>
      <p:sp>
        <p:nvSpPr>
          <p:cNvPr id="2325" name="" descr="{&quot;isTemplate&quot;:true,&quot;type&quot;:&quot;text&quot;}"/>
          <p:cNvSpPr txBox="1"/>
          <p:nvPr/>
        </p:nvSpPr>
        <p:spPr>
          <a:xfrm rot="0" flipH="0" flipV="0">
            <a:off x="3524250" y="1638300"/>
            <a:ext cx="2381250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业务方接手口径裁定权，包括后续加指标的权限。</a:t>
            </a:r>
            <a:endParaRPr/>
          </a:p>
        </p:txBody>
      </p:sp>
      <p:sp>
        <p:nvSpPr>
          <p:cNvPr id="2326" name=""/>
          <p:cNvSpPr/>
          <p:nvPr/>
        </p:nvSpPr>
        <p:spPr>
          <a:xfrm rot="0" flipH="0" flipV="0">
            <a:off x="3524250" y="299085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27" name="" descr="{&quot;isTemplate&quot;:true,&quot;type&quot;:&quot;text&quot;}"/>
          <p:cNvSpPr txBox="1"/>
          <p:nvPr/>
        </p:nvSpPr>
        <p:spPr>
          <a:xfrm rot="0" flipH="0" flipV="0">
            <a:off x="3629025" y="29908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过关：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客户自己敢改口径</a:t>
            </a:r>
            <a:endParaRPr/>
          </a:p>
        </p:txBody>
      </p:sp>
      <p:sp>
        <p:nvSpPr>
          <p:cNvPr id="2328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29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330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43A1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331" name="" descr="{&quot;isTemplate&quot;:true,&quot;type&quot;:&quot;text&quot;}"/>
          <p:cNvSpPr txBox="1"/>
          <p:nvPr/>
        </p:nvSpPr>
        <p:spPr>
          <a:xfrm rot="0" flipH="0" flipV="0">
            <a:off x="6515100" y="1371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知识接管</a:t>
            </a:r>
            <a:endParaRPr/>
          </a:p>
        </p:txBody>
      </p:sp>
      <p:sp>
        <p:nvSpPr>
          <p:cNvPr id="2332" name="" descr="{&quot;isTemplate&quot;:true,&quot;type&quot;:&quot;text&quot;}"/>
          <p:cNvSpPr txBox="1"/>
          <p:nvPr/>
        </p:nvSpPr>
        <p:spPr>
          <a:xfrm rot="0" flipH="0" flipV="0">
            <a:off x="6296025" y="1638300"/>
            <a:ext cx="2371725" cy="12668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培训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考核，确保不是「看着会了」。</a:t>
            </a:r>
            <a:endParaRPr/>
          </a:p>
        </p:txBody>
      </p:sp>
      <p:sp>
        <p:nvSpPr>
          <p:cNvPr id="2333" name=""/>
          <p:cNvSpPr/>
          <p:nvPr/>
        </p:nvSpPr>
        <p:spPr>
          <a:xfrm rot="0" flipH="0" flipV="0">
            <a:off x="6296025" y="2990850"/>
            <a:ext cx="23717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34" name="" descr="{&quot;isTemplate&quot;:true,&quot;type&quot;:&quot;text&quot;}"/>
          <p:cNvSpPr txBox="1"/>
          <p:nvPr/>
        </p:nvSpPr>
        <p:spPr>
          <a:xfrm rot="0" flipH="0" flipV="0">
            <a:off x="6400800" y="299085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过关：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考核通过率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100%</a:t>
            </a:r>
            <a:endParaRPr/>
          </a:p>
        </p:txBody>
      </p:sp>
      <p:sp>
        <p:nvSpPr>
          <p:cNvPr id="2335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36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337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8331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338" name="" descr="{&quot;isTemplate&quot;:true,&quot;type&quot;:&quot;text&quot;}"/>
          <p:cNvSpPr txBox="1"/>
          <p:nvPr/>
        </p:nvSpPr>
        <p:spPr>
          <a:xfrm rot="0" flipH="0" flipV="0">
            <a:off x="9277350" y="13716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回流传管</a:t>
            </a:r>
            <a:endParaRPr/>
          </a:p>
        </p:txBody>
      </p:sp>
      <p:sp>
        <p:nvSpPr>
          <p:cNvPr id="2339" name="" descr="{&quot;isTemplate&quot;:true,&quot;type&quot;:&quot;text&quot;}"/>
          <p:cNvSpPr txBox="1"/>
          <p:nvPr/>
        </p:nvSpPr>
        <p:spPr>
          <a:xfrm rot="0" flipH="0" flipV="0">
            <a:off x="9058275" y="1638300"/>
            <a:ext cx="2381250" cy="12668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平台侧接手抽象提案，总部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Dev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跟进落地。</a:t>
            </a:r>
            <a:endParaRPr/>
          </a:p>
        </p:txBody>
      </p:sp>
      <p:sp>
        <p:nvSpPr>
          <p:cNvPr id="2340" name=""/>
          <p:cNvSpPr/>
          <p:nvPr/>
        </p:nvSpPr>
        <p:spPr>
          <a:xfrm rot="0" flipH="0" flipV="0">
            <a:off x="9058275" y="299085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41" name="" descr="{&quot;isTemplate&quot;:true,&quot;type&quot;:&quot;text&quot;}"/>
          <p:cNvSpPr txBox="1"/>
          <p:nvPr/>
        </p:nvSpPr>
        <p:spPr>
          <a:xfrm rot="0" flipH="0" flipV="0">
            <a:off x="9163050" y="29908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过关：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提案进入平台迭代</a:t>
            </a:r>
            <a:endParaRPr/>
          </a:p>
        </p:txBody>
      </p:sp>
      <p:sp>
        <p:nvSpPr>
          <p:cNvPr id="2342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43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可以走的四个条件</a:t>
            </a:r>
            <a:endParaRPr/>
          </a:p>
        </p:txBody>
      </p:sp>
      <p:sp>
        <p:nvSpPr>
          <p:cNvPr id="2344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有人维护</a:t>
            </a:r>
            <a:endParaRPr/>
          </a:p>
        </p:txBody>
      </p:sp>
      <p:sp>
        <p:nvSpPr>
          <p:cNvPr id="2345" name="" descr="{&quot;isTemplate&quot;:true,&quot;type&quot;:&quot;text&quot;}"/>
          <p:cNvSpPr txBox="1"/>
          <p:nvPr/>
        </p:nvSpPr>
        <p:spPr>
          <a:xfrm rot="0" flipH="0" flipV="0">
            <a:off x="1524000" y="3771900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客户方责任人已上岗，不是「以后再说」</a:t>
            </a:r>
            <a:endParaRPr/>
          </a:p>
        </p:txBody>
      </p:sp>
      <p:sp>
        <p:nvSpPr>
          <p:cNvPr id="2346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能恢复</a:t>
            </a:r>
            <a:endParaRPr/>
          </a:p>
        </p:txBody>
      </p:sp>
      <p:sp>
        <p:nvSpPr>
          <p:cNvPr id="2347" name="" descr="{&quot;isTemplate&quot;:true,&quot;type&quot;:&quot;text&quot;}"/>
          <p:cNvSpPr txBox="1"/>
          <p:nvPr/>
        </p:nvSpPr>
        <p:spPr>
          <a:xfrm rot="0" flipH="0" flipV="0">
            <a:off x="1524000" y="40671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出故障客户自己能处理，不依赖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在线</a:t>
            </a:r>
            <a:endParaRPr/>
          </a:p>
        </p:txBody>
      </p:sp>
      <p:sp>
        <p:nvSpPr>
          <p:cNvPr id="2348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敢改</a:t>
            </a:r>
            <a:endParaRPr/>
          </a:p>
        </p:txBody>
      </p:sp>
      <p:sp>
        <p:nvSpPr>
          <p:cNvPr id="2349" name="" descr="{&quot;isTemplate&quot;:true,&quot;type&quot;:&quot;text&quot;}"/>
          <p:cNvSpPr txBox="1"/>
          <p:nvPr/>
        </p:nvSpPr>
        <p:spPr>
          <a:xfrm rot="0" flipH="0" flipV="0">
            <a:off x="1524000" y="4362450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客户敢自己加指标、改口径，不需要请示</a:t>
            </a:r>
            <a:endParaRPr/>
          </a:p>
        </p:txBody>
      </p:sp>
      <p:sp>
        <p:nvSpPr>
          <p:cNvPr id="2350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留痕了</a:t>
            </a:r>
            <a:endParaRPr/>
          </a:p>
        </p:txBody>
      </p:sp>
      <p:sp>
        <p:nvSpPr>
          <p:cNvPr id="2351" name="" descr="{&quot;isTemplate&quot;:true,&quot;type&quot;:&quot;text&quot;}"/>
          <p:cNvSpPr txBox="1"/>
          <p:nvPr/>
        </p:nvSpPr>
        <p:spPr>
          <a:xfrm rot="0" flipH="0" flipV="0">
            <a:off x="1524000" y="465772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本体定义、口径裁定、运维手册三样齐全</a:t>
            </a:r>
            <a:endParaRPr/>
          </a:p>
        </p:txBody>
      </p:sp>
      <p:sp>
        <p:nvSpPr>
          <p:cNvPr id="2352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353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54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三种不该走的情形</a:t>
            </a:r>
            <a:endParaRPr/>
          </a:p>
        </p:txBody>
      </p:sp>
      <p:sp>
        <p:nvSpPr>
          <p:cNvPr id="2355" name="" descr="{&quot;isTemplate&quot;:true,&quot;type&quot;:&quot;text&quot;}"/>
          <p:cNvSpPr txBox="1"/>
          <p:nvPr/>
        </p:nvSpPr>
        <p:spPr>
          <a:xfrm rot="0" flipH="0" flipV="0">
            <a:off x="5381625" y="3771900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还在催</a:t>
            </a:r>
            <a:endParaRPr/>
          </a:p>
        </p:txBody>
      </p:sp>
      <p:sp>
        <p:nvSpPr>
          <p:cNvPr id="2356" name="" descr="{&quot;isTemplate&quot;:true,&quot;type&quot;:&quot;text&quot;}"/>
          <p:cNvSpPr txBox="1"/>
          <p:nvPr/>
        </p:nvSpPr>
        <p:spPr>
          <a:xfrm rot="0" flipH="0" flipV="0">
            <a:off x="6115050" y="3771900"/>
            <a:ext cx="53054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客户还天天问「这个怎么用」，说明没教会</a:t>
            </a:r>
            <a:endParaRPr/>
          </a:p>
        </p:txBody>
      </p:sp>
      <p:sp>
        <p:nvSpPr>
          <p:cNvPr id="2357" name="" descr="{&quot;isTemplate&quot;:true,&quot;type&quot;:&quot;text&quot;}"/>
          <p:cNvSpPr txBox="1"/>
          <p:nvPr/>
        </p:nvSpPr>
        <p:spPr>
          <a:xfrm rot="0" flipH="0" flipV="0">
            <a:off x="5381625" y="4076700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还在改</a:t>
            </a:r>
            <a:endParaRPr/>
          </a:p>
        </p:txBody>
      </p:sp>
      <p:sp>
        <p:nvSpPr>
          <p:cNvPr id="2358" name="" descr="{&quot;isTemplate&quot;:true,&quot;type&quot;:&quot;text&quot;}"/>
          <p:cNvSpPr txBox="1"/>
          <p:nvPr/>
        </p:nvSpPr>
        <p:spPr>
          <a:xfrm rot="0" flipH="0" flipV="0">
            <a:off x="6115050" y="4076700"/>
            <a:ext cx="53054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每周都有口径变更，模型还没稳定</a:t>
            </a:r>
            <a:endParaRPr/>
          </a:p>
        </p:txBody>
      </p:sp>
      <p:sp>
        <p:nvSpPr>
          <p:cNvPr id="2359" name="" descr="{&quot;isTemplate&quot;:true,&quot;type&quot;:&quot;text&quot;}"/>
          <p:cNvSpPr txBox="1"/>
          <p:nvPr/>
        </p:nvSpPr>
        <p:spPr>
          <a:xfrm rot="0" flipH="0" flipV="0">
            <a:off x="5381625" y="4381500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还在救</a:t>
            </a:r>
            <a:endParaRPr/>
          </a:p>
        </p:txBody>
      </p:sp>
      <p:sp>
        <p:nvSpPr>
          <p:cNvPr id="2360" name="" descr="{&quot;isTemplate&quot;:true,&quot;type&quot;:&quot;text&quot;}"/>
          <p:cNvSpPr txBox="1"/>
          <p:nvPr/>
        </p:nvSpPr>
        <p:spPr>
          <a:xfrm rot="0" flipH="0" flipV="0">
            <a:off x="6115050" y="4381500"/>
            <a:ext cx="53054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上线一个月内就在处理故障，运维没接住</a:t>
            </a:r>
            <a:endParaRPr/>
          </a:p>
        </p:txBody>
      </p:sp>
      <p:sp>
        <p:nvSpPr>
          <p:cNvPr id="2361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早退是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最常见的人情债。</a:t>
            </a:r>
            <a:endParaRPr/>
          </a:p>
        </p:txBody>
      </p:sp>
      <p:sp>
        <p:nvSpPr>
          <p:cNvPr id="2362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63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移交之后不是断绝</a:t>
            </a:r>
            <a:endParaRPr/>
          </a:p>
        </p:txBody>
      </p:sp>
      <p:sp>
        <p:nvSpPr>
          <p:cNvPr id="2364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留一条按需回叫的通道</a:t>
            </a:r>
            <a:endParaRPr/>
          </a:p>
        </p:txBody>
      </p:sp>
      <p:sp>
        <p:nvSpPr>
          <p:cNvPr id="2365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66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远程待命</a:t>
            </a:r>
            <a:endParaRPr/>
          </a:p>
        </p:txBody>
      </p:sp>
      <p:sp>
        <p:nvSpPr>
          <p:cNvPr id="2367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两周内可远程响应，不驻场</a:t>
            </a:r>
            <a:endParaRPr/>
          </a:p>
        </p:txBody>
      </p:sp>
      <p:sp>
        <p:nvSpPr>
          <p:cNvPr id="2368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69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回访节奏</a:t>
            </a:r>
            <a:endParaRPr/>
          </a:p>
        </p:txBody>
      </p:sp>
      <p:sp>
        <p:nvSpPr>
          <p:cNvPr id="2370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周、第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月、第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月各一次</a:t>
            </a:r>
            <a:endParaRPr/>
          </a:p>
        </p:txBody>
      </p:sp>
      <p:sp>
        <p:nvSpPr>
          <p:cNvPr id="2371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72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回访内容</a:t>
            </a:r>
            <a:endParaRPr/>
          </a:p>
        </p:txBody>
      </p:sp>
      <p:sp>
        <p:nvSpPr>
          <p:cNvPr id="2373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只看使用量与新增痛点</a:t>
            </a:r>
            <a:endParaRPr/>
          </a:p>
        </p:txBody>
      </p:sp>
      <p:sp>
        <p:nvSpPr>
          <p:cNvPr id="2374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75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下一单入口</a:t>
            </a:r>
            <a:endParaRPr/>
          </a:p>
        </p:txBody>
      </p:sp>
      <p:sp>
        <p:nvSpPr>
          <p:cNvPr id="2376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第二个场景优先派原班人马</a:t>
            </a:r>
            <a:endParaRPr/>
          </a:p>
        </p:txBody>
      </p:sp>
      <p:sp>
        <p:nvSpPr>
          <p:cNvPr id="237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37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7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38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40 / 60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2381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4&lt;/Text&gt;&#13;&#10;  &lt;/Box&gt;&#13;&#10;&#13;&#10;  &lt;Box style={{ position: 'absolute', left: 88, top: 240, width: 700, flexDirection: 'column' }}&gt;&#13;&#10;    &lt;Text style={{ fontSize: 15, color: 'rgba(255,255,255,0.5)', letterSpacing: 3 }}&gt;PART 04&lt;/Text&gt;&#13;&#10;    &lt;Box style={{ width: 72, height: 5, background: '#FA4F24', marginTop: 22 }} /&gt;&#13;&#10;    &lt;Text style={{ fontSize: 56, fontWeight: 'bold', color: '#FFFFFF', marginTop: 28, lineHeight: 1.15 }}&gt;× 八大领域&lt;/Text&gt;&#13;&#10;    &lt;Text style={{ fontSize: 17, color: 'rgba(255,255,255,0.62)', letterSpacing: 2, marginTop: 20 }}&gt;FDE ACROSS THE STACK&lt;/Text&gt;&#13;&#10;    &lt;Text style={{ fontSize: 19, color: 'rgba(255,255,255,0.85)', marginTop: 26, lineHeight: 1.6 }}&gt;FDE 在 Ontology、Agent、知识库、管道、治理、主数据、指标、4A 上的特有处理&lt;/Text&gt;&#13;&#10;  &lt;/Box&gt;&#13;&#10;&#13;&#10;  &lt;Box style={{ position: 'absolute', left: 88, top: 520, flexDirection: 'row', gap: 34 }}&gt;&#13;&#10;    {[&#13;&#10;      { k: 'Ontology', v: '平台的第 N 次实例' },&#13;&#10;      { k: 'Agent', v: '四件事必须亲手配' },&#13;&#10;      { k: '治理', v: '最小可行治理' },&#13;&#10;      { k: '指标', v: '口径是策略' }&#13;&#10;    ].map((x, i) =&gt; (&#13;&#10;      &lt;Box key={x.k} style={{ opacity: 0.72 }}&gt;&#13;&#10;        &lt;Text style={{ fontSize: 12.5, color: '#FBA15C', fontWeight: 'bold' }}&gt;{x.k}&lt;/Text&gt;&#13;&#10;        &lt;Text style={{ fontSize: 12, color: 'rgba(255,255,255,0.8)', marginTop: 4 }}&gt;{x.v}&lt;/Text&gt;&#13;&#10;      &lt;/Box&gt;&#13;&#10;    ))}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FDE咨询方法论&lt;/Text&gt;&#13;&#10;    &lt;Text style={{ fontSize: 14, color: 'rgba(255,255,255,0.5)', marginLeft: 12 }}&gt;41 / 6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8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238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386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2387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88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666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×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八大领域</a:t>
            </a:r>
            <a:endParaRPr/>
          </a:p>
        </p:txBody>
      </p:sp>
      <p:sp>
        <p:nvSpPr>
          <p:cNvPr id="2389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FDE ACROSS THE STACK</a:t>
            </a:r>
            <a:endParaRPr/>
          </a:p>
        </p:txBody>
      </p:sp>
      <p:sp>
        <p:nvSpPr>
          <p:cNvPr id="2390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6667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Ontology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Agent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、知识库、管道、治理、主数据、指标、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上的特有处理</a:t>
            </a:r>
            <a:endParaRPr/>
          </a:p>
        </p:txBody>
      </p:sp>
      <p:sp>
        <p:nvSpPr>
          <p:cNvPr id="2391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962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2392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962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平台的第</a:t>
            </a:r>
            <a:r>
              <a:rPr lang="en-US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次实例</a:t>
            </a:r>
            <a:endParaRPr/>
          </a:p>
        </p:txBody>
      </p:sp>
      <p:sp>
        <p:nvSpPr>
          <p:cNvPr id="2393" name="" descr="{&quot;isTemplate&quot;:true,&quot;type&quot;:&quot;text&quot;}"/>
          <p:cNvSpPr txBox="1"/>
          <p:nvPr/>
        </p:nvSpPr>
        <p:spPr>
          <a:xfrm rot="0" flipH="0" flipV="0">
            <a:off x="2124075" y="49530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2394" name="" descr="{&quot;isTemplate&quot;:true,&quot;type&quot;:&quot;text&quot;}"/>
          <p:cNvSpPr txBox="1"/>
          <p:nvPr/>
        </p:nvSpPr>
        <p:spPr>
          <a:xfrm rot="0" flipH="0" flipV="0">
            <a:off x="2124075" y="51339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四件事必须亲手配</a:t>
            </a:r>
            <a:endParaRPr/>
          </a:p>
        </p:txBody>
      </p:sp>
      <p:sp>
        <p:nvSpPr>
          <p:cNvPr id="2395" name="" descr="{&quot;isTemplate&quot;:true,&quot;type&quot;:&quot;text&quot;}"/>
          <p:cNvSpPr txBox="1"/>
          <p:nvPr/>
        </p:nvSpPr>
        <p:spPr>
          <a:xfrm rot="0" flipH="0" flipV="0">
            <a:off x="3362325" y="4953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2396" name="" descr="{&quot;isTemplate&quot;:true,&quot;type&quot;:&quot;text&quot;}"/>
          <p:cNvSpPr txBox="1"/>
          <p:nvPr/>
        </p:nvSpPr>
        <p:spPr>
          <a:xfrm rot="0" flipH="0" flipV="0">
            <a:off x="3362325" y="51339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最小可行治理</a:t>
            </a:r>
            <a:endParaRPr/>
          </a:p>
        </p:txBody>
      </p:sp>
      <p:sp>
        <p:nvSpPr>
          <p:cNvPr id="2397" name="" descr="{&quot;isTemplate&quot;:true,&quot;type&quot;:&quot;text&quot;}"/>
          <p:cNvSpPr txBox="1"/>
          <p:nvPr/>
        </p:nvSpPr>
        <p:spPr>
          <a:xfrm rot="0" flipH="0" flipV="0">
            <a:off x="4371975" y="49530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2398" name="" descr="{&quot;isTemplate&quot;:true,&quot;type&quot;:&quot;text&quot;}"/>
          <p:cNvSpPr txBox="1"/>
          <p:nvPr/>
        </p:nvSpPr>
        <p:spPr>
          <a:xfrm rot="0" flipH="0" flipV="0">
            <a:off x="4371975" y="51339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口径是策略</a:t>
            </a:r>
            <a:endParaRPr/>
          </a:p>
        </p:txBody>
      </p:sp>
      <p:sp>
        <p:nvSpPr>
          <p:cNvPr id="2399" name=""/>
          <p:cNvSpPr/>
          <p:nvPr/>
        </p:nvSpPr>
        <p:spPr>
          <a:xfrm rot="0" flipH="0" flipV="0">
            <a:off x="88582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00" name="" descr="{&quot;isTemplate&quot;:true,&quot;type&quot;:&quot;text&quot;}"/>
          <p:cNvSpPr txBox="1"/>
          <p:nvPr/>
        </p:nvSpPr>
        <p:spPr>
          <a:xfrm rot="0" flipH="0" flipV="0">
            <a:off x="9105900" y="608647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40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41 / 60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240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Ontology：&lt;span style={{ color: '#FA4F24' }}&gt;在建平台的第 N 次实例化&lt;/span&gt;&#10;        &lt;/Text&gt;&#10;        &lt;Text style={{ fontSize: 20, color: '#8A8F99', marginTop: 8 }}&gt;&#10;            FDE 建的从来不是某个客户的项目本体，而是平台的又一次实例化。这决定了他建东西的顺序&#10;        &lt;/Text&gt;&#10;    &lt;/Box&gt;&#10;    &lt;Box style={{ height: 1, background: '#E8E8E8' }} /&gt;&#10;&#10;    &lt;Box style={{ paddingTop: 20, paddingBottom: 14, height: 479, flexDirection: 'column', gap: 13 }}&gt;&#10;&#10;        {/* 上：四个特有处理 */}&#10;        &lt;Box style={{ flex: 1, flexDirection: 'row', gap: 11 }}&gt;&#10;            {[&#10;                { k: '粒度试错', c: '#FA4F24', d: '对象怎么切，只能在真实数据上试。会议室里定的粒度在现场往往被推翻。' },&#10;                { k: '实例化', c: '#E0641E', d: '先照平台范式建，不自创一套。偏离越多，第二个客户越贵。' },&#10;                { k: '密级前置', c: '#C43A17', d: '密级与继承在建对象时就定，不许「先建后补」。' },&#10;                { k: '版本化', c: '#A83310', d: '本体有版本、有分支，schema 变更走流程，不现场改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6, fontWeight: 'bold', color: x.c }}&gt;{x.k}&lt;/Text&gt;&#10;                    &lt;Text style={{ fontSize: 12.5, color: '#3A4050', lineHeight: 1.5, marginTop: 11, flex: 1 }}&gt;{x.d}&lt;/Text&gt;&#10;                &lt;/Box&gt;&#10;            ))}&#10;        &lt;/Box&gt;&#10;&#10;        {/* 中：粒度试错的现场判据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粒度试错：现场判据&lt;/Text&gt;&#10;                {[&#10;                    { k: '能不能挂', v: '这个对象能挂到一个动作上吗？挂不上就是粒度错' },&#10;                    { k: '是不是一对一', v: '若一对一，多半该合并；若一对多，多半该拆开' },&#10;                    { k: '换个人认吗', v: '换个资深员工还认这个定义吗？不认就是没对齐' },&#10;                ].map((x) =&gt; (&#10;                    &lt;Box key={x.k} style={{ flexDirection: 'row', gap: 12, marginTop: 11, alignItems: 'flex-start' }}&gt;&#10;                        &lt;Text style={{ fontSize: 12, fontWeight: 'bold', color: '#FBA15C', width: 96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FDE 与架构师的根本分工&lt;/Text&gt;&#10;                {[&#10;                    { k: '架构师', v: '决定平台应该长什么样' },&#10;                    { k: 'FDE', v: '决定这一次的实例长什么样' },&#10;                    { k: '差异回流', v: '若这次实例比范式更优，提为新范式' },&#10;                ].map((x) =&gt; (&#10;                    &lt;Box key={x.k} style={{ flexDirection: 'row', gap: 11, marginTop: 11, alignItems: 'flex-start' }}&gt;&#10;                        &lt;Text style={{ fontSize: 12, fontWeight: 'bold', color: '#C43A17', width: 72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偏离范式必须有理由，且理由必须被记录。&#10;                &lt;/Text&gt;&#10;            &lt;/Box&gt;&#10;        &lt;/Box&gt;&#10;&#10;        {/* 下：产出与回流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FDE 在本领域的产出物&lt;/Text&gt;&#10;                &lt;Text style={{ fontSize: 12.5, fontWeight: 'bold', color: '#0F1423', marginTop: 5, lineHeight: 1.4 }}&gt;都是活的东西，不是文档&lt;/Text&gt;&#10;            &lt;/Box&gt;&#10;            {[&#10;                { k: '本体骨架', v: '跑在客户环境' },&#10;                { k: '密级矩阵', v: '逐链接生效' },&#10;                { k: '偏离说明', v: '含理由与代价' },&#10;                { k: '范式提案', v: '若更优则提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2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FDE × Ontology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在建平台的第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次实例化</a:t>
            </a:r>
            <a:endParaRPr/>
          </a:p>
        </p:txBody>
      </p:sp>
      <p:sp>
        <p:nvSpPr>
          <p:cNvPr id="240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建的从来不是某个客户的项目本体，而是平台的又一次实例化。这决定了他建东西的顺序</a:t>
            </a:r>
            <a:endParaRPr/>
          </a:p>
        </p:txBody>
      </p:sp>
      <p:sp>
        <p:nvSpPr>
          <p:cNvPr id="240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407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08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09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粒度试错</a:t>
            </a:r>
            <a:endParaRPr/>
          </a:p>
        </p:txBody>
      </p:sp>
      <p:sp>
        <p:nvSpPr>
          <p:cNvPr id="2410" name="" descr="{&quot;isTemplate&quot;:true,&quot;type&quot;:&quot;text&quot;}"/>
          <p:cNvSpPr txBox="1"/>
          <p:nvPr/>
        </p:nvSpPr>
        <p:spPr>
          <a:xfrm rot="0" flipH="0" flipV="0">
            <a:off x="752475" y="1666875"/>
            <a:ext cx="2381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对象怎么切，只能在真实数据上试。会议室里定的粒度在现场往往被推翻。</a:t>
            </a:r>
            <a:endParaRPr/>
          </a:p>
        </p:txBody>
      </p:sp>
      <p:sp>
        <p:nvSpPr>
          <p:cNvPr id="2411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12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413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641E"/>
                </a:solidFill>
                <a:latin typeface="Microsoft YaHei"/>
                <a:ea typeface="Microsoft YaHei"/>
              </a:rPr>
              <a:t>实例化</a:t>
            </a:r>
            <a:endParaRPr/>
          </a:p>
        </p:txBody>
      </p:sp>
      <p:sp>
        <p:nvSpPr>
          <p:cNvPr id="2414" name="" descr="{&quot;isTemplate&quot;:true,&quot;type&quot;:&quot;text&quot;}"/>
          <p:cNvSpPr txBox="1"/>
          <p:nvPr/>
        </p:nvSpPr>
        <p:spPr>
          <a:xfrm rot="0" flipH="0" flipV="0">
            <a:off x="3524250" y="1666875"/>
            <a:ext cx="2381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先照平台范式建，不自创一套。偏离越多，第二个客户越贵。</a:t>
            </a:r>
            <a:endParaRPr/>
          </a:p>
        </p:txBody>
      </p:sp>
      <p:sp>
        <p:nvSpPr>
          <p:cNvPr id="2415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16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417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密级前置</a:t>
            </a:r>
            <a:endParaRPr/>
          </a:p>
        </p:txBody>
      </p:sp>
      <p:sp>
        <p:nvSpPr>
          <p:cNvPr id="2418" name="" descr="{&quot;isTemplate&quot;:true,&quot;type&quot;:&quot;text&quot;}"/>
          <p:cNvSpPr txBox="1"/>
          <p:nvPr/>
        </p:nvSpPr>
        <p:spPr>
          <a:xfrm rot="0" flipH="0" flipV="0">
            <a:off x="6296025" y="1666875"/>
            <a:ext cx="2371725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密级与继承在建对象时就定，不许「先建后补」。</a:t>
            </a:r>
            <a:endParaRPr/>
          </a:p>
        </p:txBody>
      </p:sp>
      <p:sp>
        <p:nvSpPr>
          <p:cNvPr id="2419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20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421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3310"/>
                </a:solidFill>
                <a:latin typeface="Microsoft YaHei"/>
                <a:ea typeface="Microsoft YaHei"/>
              </a:rPr>
              <a:t>版本化</a:t>
            </a:r>
            <a:endParaRPr/>
          </a:p>
        </p:txBody>
      </p:sp>
      <p:sp>
        <p:nvSpPr>
          <p:cNvPr id="2422" name="" descr="{&quot;isTemplate&quot;:true,&quot;type&quot;:&quot;text&quot;}"/>
          <p:cNvSpPr txBox="1"/>
          <p:nvPr/>
        </p:nvSpPr>
        <p:spPr>
          <a:xfrm rot="0" flipH="0" flipV="0">
            <a:off x="9058275" y="1666875"/>
            <a:ext cx="2381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本体有版本、有分支，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变更走流程，不现场改。</a:t>
            </a:r>
            <a:endParaRPr/>
          </a:p>
        </p:txBody>
      </p:sp>
      <p:sp>
        <p:nvSpPr>
          <p:cNvPr id="2423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24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粒度试错：现场判据</a:t>
            </a:r>
            <a:endParaRPr/>
          </a:p>
        </p:txBody>
      </p:sp>
      <p:sp>
        <p:nvSpPr>
          <p:cNvPr id="2425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能不能挂</a:t>
            </a:r>
            <a:endParaRPr/>
          </a:p>
        </p:txBody>
      </p:sp>
      <p:sp>
        <p:nvSpPr>
          <p:cNvPr id="2426" name="" descr="{&quot;isTemplate&quot;:true,&quot;type&quot;:&quot;text&quot;}"/>
          <p:cNvSpPr txBox="1"/>
          <p:nvPr/>
        </p:nvSpPr>
        <p:spPr>
          <a:xfrm rot="0" flipH="0" flipV="0">
            <a:off x="1809750" y="3914775"/>
            <a:ext cx="30861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这个对象能挂到一个动作上吗？挂不上就是粒度错</a:t>
            </a:r>
            <a:endParaRPr/>
          </a:p>
        </p:txBody>
      </p:sp>
      <p:sp>
        <p:nvSpPr>
          <p:cNvPr id="2427" name="" descr="{&quot;isTemplate&quot;:true,&quot;type&quot;:&quot;text&quot;}"/>
          <p:cNvSpPr txBox="1"/>
          <p:nvPr/>
        </p:nvSpPr>
        <p:spPr>
          <a:xfrm rot="0" flipH="0" flipV="0">
            <a:off x="781050" y="42195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是不是一对一</a:t>
            </a:r>
            <a:endParaRPr/>
          </a:p>
        </p:txBody>
      </p:sp>
      <p:sp>
        <p:nvSpPr>
          <p:cNvPr id="2428" name="" descr="{&quot;isTemplate&quot;:true,&quot;type&quot;:&quot;text&quot;}"/>
          <p:cNvSpPr txBox="1"/>
          <p:nvPr/>
        </p:nvSpPr>
        <p:spPr>
          <a:xfrm rot="0" flipH="0" flipV="0">
            <a:off x="1809750" y="4219575"/>
            <a:ext cx="30861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若一对一，多半该合并；若一对多，多半该拆开</a:t>
            </a:r>
            <a:endParaRPr/>
          </a:p>
        </p:txBody>
      </p:sp>
      <p:sp>
        <p:nvSpPr>
          <p:cNvPr id="2429" name="" descr="{&quot;isTemplate&quot;:true,&quot;type&quot;:&quot;text&quot;}"/>
          <p:cNvSpPr txBox="1"/>
          <p:nvPr/>
        </p:nvSpPr>
        <p:spPr>
          <a:xfrm rot="0" flipH="0" flipV="0">
            <a:off x="781050" y="45243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换个人认吗</a:t>
            </a:r>
            <a:endParaRPr/>
          </a:p>
        </p:txBody>
      </p:sp>
      <p:sp>
        <p:nvSpPr>
          <p:cNvPr id="2430" name="" descr="{&quot;isTemplate&quot;:true,&quot;type&quot;:&quot;text&quot;}"/>
          <p:cNvSpPr txBox="1"/>
          <p:nvPr/>
        </p:nvSpPr>
        <p:spPr>
          <a:xfrm rot="0" flipH="0" flipV="0">
            <a:off x="1809750" y="4524375"/>
            <a:ext cx="30861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换个资深员工还认这个定义吗？不认就是没对齐</a:t>
            </a:r>
            <a:endParaRPr/>
          </a:p>
        </p:txBody>
      </p:sp>
      <p:sp>
        <p:nvSpPr>
          <p:cNvPr id="2431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432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33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与架构师的根本分工</a:t>
            </a:r>
            <a:endParaRPr/>
          </a:p>
        </p:txBody>
      </p:sp>
      <p:sp>
        <p:nvSpPr>
          <p:cNvPr id="2434" name="" descr="{&quot;isTemplate&quot;:true,&quot;type&quot;:&quot;text&quot;}"/>
          <p:cNvSpPr txBox="1"/>
          <p:nvPr/>
        </p:nvSpPr>
        <p:spPr>
          <a:xfrm rot="0" flipH="0" flipV="0">
            <a:off x="5381625" y="37719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架构师</a:t>
            </a:r>
            <a:endParaRPr/>
          </a:p>
        </p:txBody>
      </p:sp>
      <p:sp>
        <p:nvSpPr>
          <p:cNvPr id="2435" name="" descr="{&quot;isTemplate&quot;:true,&quot;type&quot;:&quot;text&quot;}"/>
          <p:cNvSpPr txBox="1"/>
          <p:nvPr/>
        </p:nvSpPr>
        <p:spPr>
          <a:xfrm rot="0" flipH="0" flipV="0">
            <a:off x="6172200" y="3771900"/>
            <a:ext cx="52482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决定平台应该长什么样</a:t>
            </a:r>
            <a:endParaRPr/>
          </a:p>
        </p:txBody>
      </p:sp>
      <p:sp>
        <p:nvSpPr>
          <p:cNvPr id="2436" name="" descr="{&quot;isTemplate&quot;:true,&quot;type&quot;:&quot;text&quot;}"/>
          <p:cNvSpPr txBox="1"/>
          <p:nvPr/>
        </p:nvSpPr>
        <p:spPr>
          <a:xfrm rot="0" flipH="0" flipV="0">
            <a:off x="5381625" y="40767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>FDE</a:t>
            </a:r>
            <a:endParaRPr/>
          </a:p>
        </p:txBody>
      </p:sp>
      <p:sp>
        <p:nvSpPr>
          <p:cNvPr id="2437" name="" descr="{&quot;isTemplate&quot;:true,&quot;type&quot;:&quot;text&quot;}"/>
          <p:cNvSpPr txBox="1"/>
          <p:nvPr/>
        </p:nvSpPr>
        <p:spPr>
          <a:xfrm rot="0" flipH="0" flipV="0">
            <a:off x="6172200" y="4076700"/>
            <a:ext cx="52482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决定这一次的实例长什么样</a:t>
            </a:r>
            <a:endParaRPr/>
          </a:p>
        </p:txBody>
      </p:sp>
      <p:sp>
        <p:nvSpPr>
          <p:cNvPr id="2438" name="" descr="{&quot;isTemplate&quot;:true,&quot;type&quot;:&quot;text&quot;}"/>
          <p:cNvSpPr txBox="1"/>
          <p:nvPr/>
        </p:nvSpPr>
        <p:spPr>
          <a:xfrm rot="0" flipH="0" flipV="0">
            <a:off x="5381625" y="43815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差异回流</a:t>
            </a:r>
            <a:endParaRPr/>
          </a:p>
        </p:txBody>
      </p:sp>
      <p:sp>
        <p:nvSpPr>
          <p:cNvPr id="2439" name="" descr="{&quot;isTemplate&quot;:true,&quot;type&quot;:&quot;text&quot;}"/>
          <p:cNvSpPr txBox="1"/>
          <p:nvPr/>
        </p:nvSpPr>
        <p:spPr>
          <a:xfrm rot="0" flipH="0" flipV="0">
            <a:off x="6172200" y="4381500"/>
            <a:ext cx="52482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若这次实例比范式更优，提为新范式</a:t>
            </a:r>
            <a:endParaRPr/>
          </a:p>
        </p:txBody>
      </p:sp>
      <p:sp>
        <p:nvSpPr>
          <p:cNvPr id="2440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偏离范式必须有理由，且理由必须被记录。</a:t>
            </a:r>
            <a:endParaRPr/>
          </a:p>
        </p:txBody>
      </p:sp>
      <p:sp>
        <p:nvSpPr>
          <p:cNvPr id="2441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42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在本领域的产出物</a:t>
            </a:r>
            <a:endParaRPr/>
          </a:p>
        </p:txBody>
      </p:sp>
      <p:sp>
        <p:nvSpPr>
          <p:cNvPr id="2443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都是活的东西，不是文档</a:t>
            </a:r>
            <a:endParaRPr/>
          </a:p>
        </p:txBody>
      </p:sp>
      <p:sp>
        <p:nvSpPr>
          <p:cNvPr id="2444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45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本体骨架</a:t>
            </a:r>
            <a:endParaRPr/>
          </a:p>
        </p:txBody>
      </p:sp>
      <p:sp>
        <p:nvSpPr>
          <p:cNvPr id="2446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跑在客户环境</a:t>
            </a:r>
            <a:endParaRPr/>
          </a:p>
        </p:txBody>
      </p:sp>
      <p:sp>
        <p:nvSpPr>
          <p:cNvPr id="2447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48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密级矩阵</a:t>
            </a:r>
            <a:endParaRPr/>
          </a:p>
        </p:txBody>
      </p:sp>
      <p:sp>
        <p:nvSpPr>
          <p:cNvPr id="2449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逐链接生效</a:t>
            </a:r>
            <a:endParaRPr/>
          </a:p>
        </p:txBody>
      </p:sp>
      <p:sp>
        <p:nvSpPr>
          <p:cNvPr id="2450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51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偏离说明</a:t>
            </a:r>
            <a:endParaRPr/>
          </a:p>
        </p:txBody>
      </p:sp>
      <p:sp>
        <p:nvSpPr>
          <p:cNvPr id="2452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含理由与代价</a:t>
            </a:r>
            <a:endParaRPr/>
          </a:p>
        </p:txBody>
      </p:sp>
      <p:sp>
        <p:nvSpPr>
          <p:cNvPr id="2453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54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范式提案</a:t>
            </a:r>
            <a:endParaRPr/>
          </a:p>
        </p:txBody>
      </p:sp>
      <p:sp>
        <p:nvSpPr>
          <p:cNvPr id="2455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若更优则提</a:t>
            </a:r>
            <a:endParaRPr/>
          </a:p>
        </p:txBody>
      </p:sp>
      <p:sp>
        <p:nvSpPr>
          <p:cNvPr id="245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45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5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45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42 / 60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246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Agent：&lt;span style={{ color: '#FA4F24' }}&gt;把 Agent 当成有权限的员工来管&lt;/span&gt;&#10;        &lt;/Text&gt;&#10;        &lt;Text style={{ fontSize: 20, color: '#8A8F99', marginTop: 8 }}&gt;&#10;            Agent 不是模型封装。它带工具、带权限、带记忆、带出口。每一项都是现场的责任边界&#10;        &lt;/Text&gt;&#10;    &lt;/Box&gt;&#10;    &lt;Box style={{ height: 1, background: '#E8E8E8' }} /&gt;&#10;&#10;    &lt;Box style={{ paddingTop: 20, paddingBottom: 14, height: 479, flexDirection: 'column', gap: 13 }}&gt;&#10;&#10;        {/* 上：四件必须现场定义的事 */}&#10;        &lt;Box style={{ flex: 1, flexDirection: 'row', gap: 11 }}&gt;&#10;            {[&#10;                { k: '工具白名单', c: '#FA4F24', d: '这个 Agent 能调什么、不能调什么。不允许「顺手」访问其他数据源。' },&#10;                { k: '出口策略', c: '#E0641E', d: '结论写到哪里、谁能看、写错了怎么撤。写路径必须可回滚。' },&#10;                { k: '记忆边界', c: '#C43A17', d: '什么能记住、记多久、跨场景能不能用。默认不记住。' },&#10;                { k: '遥测日志', c: '#A83310', d: '每次调用留痕：谁问的、调了什么、依据什么、答了什么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5.5, fontWeight: 'bold', color: x.c }}&gt;{x.k}&lt;/Text&gt;&#10;                    &lt;Text style={{ fontSize: 12.5, color: '#3A4050', lineHeight: 1.5, marginTop: 11, flex: 1 }}&gt;{x.d}&lt;/Text&gt;&#10;                &lt;/Box&gt;&#10;            ))}&#10;        &lt;/Box&gt;&#10;&#10;        {/* 中：现场红线 */}&#10;        &lt;Box style={{ height: 20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Agent 上线的六条现场红线&lt;/Text&gt;&#10;                {[&#10;                    '默认只读，写操作必须显式授权',&#10;                    '无写回路径的场景不许上线',&#10;                    '无遥测日志不许上线',&#10;                    '无密级校验不许连真实数据',&#10;                    '无兜底话术不许面向客户',&#10;                    '无人工确认不许触发批量动作',&#10;                ].map((x) =&gt; (&#10;                    &lt;Box key={x} style={{ flexDirection: 'row', gap: 10, marginTop: 9, alignItems: 'flex-start' }}&gt;&#10;                        &lt;Text style={{ fontSize: 11, fontWeight: 'bold', color: '#FBA15C', width: 16 }}&gt;✕&lt;/Text&gt;&#10;                        &lt;Text style={{ fontSize: 12.5, color: 'rgba(255,255,255,0.85)', lineHeight: 1.4, flex: 1 }}&gt;{x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与传统 AI 项目的差别&lt;/Text&gt;&#10;                {[&#10;                    { k: 'Dify 式拼装', v: '关注提示词调得好不好，看 demo 效果' },&#10;                    { k: 'FDE 式装配', v: '关注权限边界清不清，看出事能不能追' },&#10;                    { k: '验收指标', v: '前者看好答案，后者看权限与日志' },&#10;                ].map((x) =&gt; (&#10;                    &lt;Box key={x.k} style={{ marginTop: 11 }}&gt;&#10;                        &lt;Text style={{ fontSize: 12.5, fontWeight: 'bold', color: '#C43A17' }}&gt;{x.k}&lt;/Text&gt;&#10;                        &lt;Text style={{ fontSize: 12, color: '#3A4050', lineHeight: 1.4, marginTop: 4, marginLeft: 12 }}&gt;{x.v}&lt;/Text&gt;&#10;                    &lt;/Box&gt;&#10;                ))}&#10;                &lt;Text style={{ fontSize: 11.5, fontWeight: 'bold', color: '#C43A17', marginTop: 13, lineHeight: 1.4 }}&gt;&#10;                    一个能干的 Agent，不是一个聪明的 Agent。&#10;                &lt;/Text&gt;&#10;            &lt;/Box&gt;&#10;        &lt;/Box&gt;&#10;&#10;        {/* 下：现场动作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现场四步&lt;/Text&gt;&#10;                &lt;Text style={{ fontSize: 12.5, fontWeight: 'bold', color: '#0F1423', marginTop: 5, lineHeight: 1.4 }}&gt;与传统 AI 项目最不一样的地方&lt;/Text&gt;&#10;            &lt;/Box&gt;&#10;            {[&#10;                { k: '列工具', v: '先列工具，再写提示词' },&#10;                { k: '划权限', v: '当场划定每条链接的可见性' },&#10;                { k: '造兜底', v: '编不出答案时它说什么，要写死' },&#10;                { k: '跑一次失败', v: '故意让它失败，看能不能兜住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3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FDE × Agent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当成有权限的员工来管</a:t>
            </a:r>
            <a:endParaRPr/>
          </a:p>
        </p:txBody>
      </p:sp>
      <p:sp>
        <p:nvSpPr>
          <p:cNvPr id="246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不是模型封装。它带工具、带权限、带记忆、带出口。每一项都是现场的责任边界</a:t>
            </a:r>
            <a:endParaRPr/>
          </a:p>
        </p:txBody>
      </p:sp>
      <p:sp>
        <p:nvSpPr>
          <p:cNvPr id="246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465" name=""/>
          <p:cNvSpPr/>
          <p:nvPr/>
        </p:nvSpPr>
        <p:spPr>
          <a:xfrm rot="0" flipH="0" flipV="0">
            <a:off x="609600" y="1371600"/>
            <a:ext cx="266700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66" name=""/>
          <p:cNvSpPr/>
          <p:nvPr/>
        </p:nvSpPr>
        <p:spPr>
          <a:xfrm rot="0" flipH="0" flipV="0">
            <a:off x="609600" y="1371600"/>
            <a:ext cx="2667000" cy="1647825"/>
          </a:xfrm>
          <a:custGeom>
            <a:pathLst>
              <a:path w="280" h="17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67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工具白名单</a:t>
            </a:r>
            <a:endParaRPr/>
          </a:p>
        </p:txBody>
      </p:sp>
      <p:sp>
        <p:nvSpPr>
          <p:cNvPr id="2468" name="" descr="{&quot;isTemplate&quot;:true,&quot;type&quot;:&quot;text&quot;}"/>
          <p:cNvSpPr txBox="1"/>
          <p:nvPr/>
        </p:nvSpPr>
        <p:spPr>
          <a:xfrm rot="0" flipH="0" flipV="0">
            <a:off x="752475" y="1657350"/>
            <a:ext cx="2381250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这个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能调什么、不能调什么。不允许「顺手」访问其他数据源。</a:t>
            </a:r>
            <a:endParaRPr/>
          </a:p>
        </p:txBody>
      </p:sp>
      <p:sp>
        <p:nvSpPr>
          <p:cNvPr id="2469" name=""/>
          <p:cNvSpPr/>
          <p:nvPr/>
        </p:nvSpPr>
        <p:spPr>
          <a:xfrm rot="0" flipH="0" flipV="0">
            <a:off x="3381375" y="1371600"/>
            <a:ext cx="266700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70" name=""/>
          <p:cNvSpPr/>
          <p:nvPr/>
        </p:nvSpPr>
        <p:spPr>
          <a:xfrm rot="0" flipH="0" flipV="0">
            <a:off x="3381375" y="1371600"/>
            <a:ext cx="2667000" cy="1647825"/>
          </a:xfrm>
          <a:custGeom>
            <a:pathLst>
              <a:path w="280" h="17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471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0641E"/>
                </a:solidFill>
                <a:latin typeface="Microsoft YaHei"/>
                <a:ea typeface="Microsoft YaHei"/>
              </a:rPr>
              <a:t>出口策略</a:t>
            </a:r>
            <a:endParaRPr/>
          </a:p>
        </p:txBody>
      </p:sp>
      <p:sp>
        <p:nvSpPr>
          <p:cNvPr id="2472" name="" descr="{&quot;isTemplate&quot;:true,&quot;type&quot;:&quot;text&quot;}"/>
          <p:cNvSpPr txBox="1"/>
          <p:nvPr/>
        </p:nvSpPr>
        <p:spPr>
          <a:xfrm rot="0" flipH="0" flipV="0">
            <a:off x="3524250" y="1657350"/>
            <a:ext cx="2381250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结论写到哪里、谁能看、写错了怎么撤。写路径必须可回滚。</a:t>
            </a:r>
            <a:endParaRPr/>
          </a:p>
        </p:txBody>
      </p:sp>
      <p:sp>
        <p:nvSpPr>
          <p:cNvPr id="2473" name=""/>
          <p:cNvSpPr/>
          <p:nvPr/>
        </p:nvSpPr>
        <p:spPr>
          <a:xfrm rot="0" flipH="0" flipV="0">
            <a:off x="6153150" y="1371600"/>
            <a:ext cx="2657475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74" name=""/>
          <p:cNvSpPr/>
          <p:nvPr/>
        </p:nvSpPr>
        <p:spPr>
          <a:xfrm rot="0" flipH="0" flipV="0">
            <a:off x="6153150" y="1371600"/>
            <a:ext cx="2657475" cy="1647825"/>
          </a:xfrm>
          <a:custGeom>
            <a:pathLst>
              <a:path w="279" h="17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475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记忆边界</a:t>
            </a:r>
            <a:endParaRPr/>
          </a:p>
        </p:txBody>
      </p:sp>
      <p:sp>
        <p:nvSpPr>
          <p:cNvPr id="2476" name="" descr="{&quot;isTemplate&quot;:true,&quot;type&quot;:&quot;text&quot;}"/>
          <p:cNvSpPr txBox="1"/>
          <p:nvPr/>
        </p:nvSpPr>
        <p:spPr>
          <a:xfrm rot="0" flipH="0" flipV="0">
            <a:off x="6296025" y="1657350"/>
            <a:ext cx="2371725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什么能记住、记多久、跨场景能不能用。默认不记住。</a:t>
            </a:r>
            <a:endParaRPr/>
          </a:p>
        </p:txBody>
      </p:sp>
      <p:sp>
        <p:nvSpPr>
          <p:cNvPr id="2477" name=""/>
          <p:cNvSpPr/>
          <p:nvPr/>
        </p:nvSpPr>
        <p:spPr>
          <a:xfrm rot="0" flipH="0" flipV="0">
            <a:off x="8915400" y="1371600"/>
            <a:ext cx="2667000" cy="1647825"/>
          </a:xfrm>
          <a:prstGeom prst="roundRect">
            <a:avLst>
              <a:gd name="adj" fmla="val 231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78" name=""/>
          <p:cNvSpPr/>
          <p:nvPr/>
        </p:nvSpPr>
        <p:spPr>
          <a:xfrm rot="0" flipH="0" flipV="0">
            <a:off x="8915400" y="1371600"/>
            <a:ext cx="2667000" cy="1647825"/>
          </a:xfrm>
          <a:custGeom>
            <a:pathLst>
              <a:path w="280" h="17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479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A83310"/>
                </a:solidFill>
                <a:latin typeface="Microsoft YaHei"/>
                <a:ea typeface="Microsoft YaHei"/>
              </a:rPr>
              <a:t>遥测日志</a:t>
            </a:r>
            <a:endParaRPr/>
          </a:p>
        </p:txBody>
      </p:sp>
      <p:sp>
        <p:nvSpPr>
          <p:cNvPr id="2480" name="" descr="{&quot;isTemplate&quot;:true,&quot;type&quot;:&quot;text&quot;}"/>
          <p:cNvSpPr txBox="1"/>
          <p:nvPr/>
        </p:nvSpPr>
        <p:spPr>
          <a:xfrm rot="0" flipH="0" flipV="0">
            <a:off x="9058275" y="1657350"/>
            <a:ext cx="2381250" cy="1333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每次调用留痕：谁问的、调了什么、依据什么、答了什么。</a:t>
            </a:r>
            <a:endParaRPr/>
          </a:p>
        </p:txBody>
      </p:sp>
      <p:sp>
        <p:nvSpPr>
          <p:cNvPr id="2481" name=""/>
          <p:cNvSpPr/>
          <p:nvPr/>
        </p:nvSpPr>
        <p:spPr>
          <a:xfrm rot="0" flipH="0" flipV="0">
            <a:off x="609600" y="3114675"/>
            <a:ext cx="4457700" cy="1962150"/>
          </a:xfrm>
          <a:prstGeom prst="roundRect">
            <a:avLst>
              <a:gd name="adj" fmla="val 194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482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上线的六条现场红线</a:t>
            </a:r>
            <a:endParaRPr/>
          </a:p>
        </p:txBody>
      </p:sp>
      <p:sp>
        <p:nvSpPr>
          <p:cNvPr id="2483" name="" descr="{&quot;isTemplate&quot;:true,&quot;type&quot;:&quot;text&quot;}"/>
          <p:cNvSpPr txBox="1"/>
          <p:nvPr/>
        </p:nvSpPr>
        <p:spPr>
          <a:xfrm rot="0" flipH="0" flipV="0">
            <a:off x="781050" y="34004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BA15C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484" name="" descr="{&quot;isTemplate&quot;:true,&quot;type&quot;:&quot;text&quot;}"/>
          <p:cNvSpPr txBox="1"/>
          <p:nvPr/>
        </p:nvSpPr>
        <p:spPr>
          <a:xfrm rot="0" flipH="0" flipV="0">
            <a:off x="1028700" y="340042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默认只读，写操作必须显式授权</a:t>
            </a:r>
            <a:endParaRPr/>
          </a:p>
        </p:txBody>
      </p:sp>
      <p:sp>
        <p:nvSpPr>
          <p:cNvPr id="2485" name="" descr="{&quot;isTemplate&quot;:true,&quot;type&quot;:&quot;text&quot;}"/>
          <p:cNvSpPr txBox="1"/>
          <p:nvPr/>
        </p:nvSpPr>
        <p:spPr>
          <a:xfrm rot="0" flipH="0" flipV="0">
            <a:off x="781050" y="36861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BA15C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486" name="" descr="{&quot;isTemplate&quot;:true,&quot;type&quot;:&quot;text&quot;}"/>
          <p:cNvSpPr txBox="1"/>
          <p:nvPr/>
        </p:nvSpPr>
        <p:spPr>
          <a:xfrm rot="0" flipH="0" flipV="0">
            <a:off x="1028700" y="368617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无写回路径的场景不许上线</a:t>
            </a:r>
            <a:endParaRPr/>
          </a:p>
        </p:txBody>
      </p:sp>
      <p:sp>
        <p:nvSpPr>
          <p:cNvPr id="2487" name="" descr="{&quot;isTemplate&quot;:true,&quot;type&quot;:&quot;text&quot;}"/>
          <p:cNvSpPr txBox="1"/>
          <p:nvPr/>
        </p:nvSpPr>
        <p:spPr>
          <a:xfrm rot="0" flipH="0" flipV="0">
            <a:off x="781050" y="39719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BA15C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488" name="" descr="{&quot;isTemplate&quot;:true,&quot;type&quot;:&quot;text&quot;}"/>
          <p:cNvSpPr txBox="1"/>
          <p:nvPr/>
        </p:nvSpPr>
        <p:spPr>
          <a:xfrm rot="0" flipH="0" flipV="0">
            <a:off x="1028700" y="397192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无遥测日志不许上线</a:t>
            </a:r>
            <a:endParaRPr/>
          </a:p>
        </p:txBody>
      </p:sp>
      <p:sp>
        <p:nvSpPr>
          <p:cNvPr id="2489" name="" descr="{&quot;isTemplate&quot;:true,&quot;type&quot;:&quot;text&quot;}"/>
          <p:cNvSpPr txBox="1"/>
          <p:nvPr/>
        </p:nvSpPr>
        <p:spPr>
          <a:xfrm rot="0" flipH="0" flipV="0">
            <a:off x="781050" y="42576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BA15C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490" name="" descr="{&quot;isTemplate&quot;:true,&quot;type&quot;:&quot;text&quot;}"/>
          <p:cNvSpPr txBox="1"/>
          <p:nvPr/>
        </p:nvSpPr>
        <p:spPr>
          <a:xfrm rot="0" flipH="0" flipV="0">
            <a:off x="1028700" y="425767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无密级校验不许连真实数据</a:t>
            </a:r>
            <a:endParaRPr/>
          </a:p>
        </p:txBody>
      </p:sp>
      <p:sp>
        <p:nvSpPr>
          <p:cNvPr id="2491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BA15C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492" name="" descr="{&quot;isTemplate&quot;:true,&quot;type&quot;:&quot;text&quot;}"/>
          <p:cNvSpPr txBox="1"/>
          <p:nvPr/>
        </p:nvSpPr>
        <p:spPr>
          <a:xfrm rot="0" flipH="0" flipV="0">
            <a:off x="1028700" y="454342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无兜底话术不许面向客户</a:t>
            </a:r>
            <a:endParaRPr/>
          </a:p>
        </p:txBody>
      </p:sp>
      <p:sp>
        <p:nvSpPr>
          <p:cNvPr id="2493" name="" descr="{&quot;isTemplate&quot;:true,&quot;type&quot;:&quot;text&quot;}"/>
          <p:cNvSpPr txBox="1"/>
          <p:nvPr/>
        </p:nvSpPr>
        <p:spPr>
          <a:xfrm rot="0" flipH="0" flipV="0">
            <a:off x="781050" y="4829175"/>
            <a:ext cx="152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FBA15C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2494" name="" descr="{&quot;isTemplate&quot;:true,&quot;type&quot;:&quot;text&quot;}"/>
          <p:cNvSpPr txBox="1"/>
          <p:nvPr/>
        </p:nvSpPr>
        <p:spPr>
          <a:xfrm rot="0" flipH="0" flipV="0">
            <a:off x="1028700" y="4829175"/>
            <a:ext cx="3867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无人工确认不许触发批量动作</a:t>
            </a:r>
            <a:endParaRPr/>
          </a:p>
        </p:txBody>
      </p:sp>
      <p:sp>
        <p:nvSpPr>
          <p:cNvPr id="2495" name=""/>
          <p:cNvSpPr/>
          <p:nvPr/>
        </p:nvSpPr>
        <p:spPr>
          <a:xfrm rot="0" flipH="0" flipV="0">
            <a:off x="5219700" y="3114675"/>
            <a:ext cx="6400800" cy="1962150"/>
          </a:xfrm>
          <a:prstGeom prst="roundRect">
            <a:avLst>
              <a:gd name="adj" fmla="val 194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496" name=""/>
          <p:cNvSpPr/>
          <p:nvPr/>
        </p:nvSpPr>
        <p:spPr>
          <a:xfrm rot="0" flipH="0" flipV="0">
            <a:off x="5219700" y="3114675"/>
            <a:ext cx="6400800" cy="1962150"/>
          </a:xfrm>
          <a:custGeom>
            <a:pathLst>
              <a:path w="672" h="206">
                <a:moveTo>
                  <a:pt x="4" y="206"/>
                </a:moveTo>
                <a:cubicBezTo>
                  <a:pt x="2" y="206"/>
                  <a:pt x="0" y="204"/>
                  <a:pt x="0" y="20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97" name="" descr="{&quot;isTemplate&quot;:true,&quot;type&quot;:&quot;text&quot;}"/>
          <p:cNvSpPr txBox="1"/>
          <p:nvPr/>
        </p:nvSpPr>
        <p:spPr>
          <a:xfrm rot="0" flipH="0" flipV="0">
            <a:off x="5381625" y="312420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与传统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项目的差别</a:t>
            </a:r>
            <a:endParaRPr/>
          </a:p>
        </p:txBody>
      </p:sp>
      <p:sp>
        <p:nvSpPr>
          <p:cNvPr id="2498" name="" descr="{&quot;isTemplate&quot;:true,&quot;type&quot;:&quot;text&quot;}"/>
          <p:cNvSpPr txBox="1"/>
          <p:nvPr/>
        </p:nvSpPr>
        <p:spPr>
          <a:xfrm rot="0" flipH="0" flipV="0">
            <a:off x="5381625" y="3400425"/>
            <a:ext cx="603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Dify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式拼装</a:t>
            </a:r>
            <a:endParaRPr/>
          </a:p>
        </p:txBody>
      </p:sp>
      <p:sp>
        <p:nvSpPr>
          <p:cNvPr id="2499" name="" descr="{&quot;isTemplate&quot;:true,&quot;type&quot;:&quot;text&quot;}"/>
          <p:cNvSpPr txBox="1"/>
          <p:nvPr/>
        </p:nvSpPr>
        <p:spPr>
          <a:xfrm rot="0" flipH="0" flipV="0">
            <a:off x="5495925" y="358140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关注提示词调得好不好，看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demo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效果</a:t>
            </a:r>
            <a:endParaRPr/>
          </a:p>
        </p:txBody>
      </p:sp>
      <p:sp>
        <p:nvSpPr>
          <p:cNvPr id="2500" name="" descr="{&quot;isTemplate&quot;:true,&quot;type&quot;:&quot;text&quot;}"/>
          <p:cNvSpPr txBox="1"/>
          <p:nvPr/>
        </p:nvSpPr>
        <p:spPr>
          <a:xfrm rot="0" flipH="0" flipV="0">
            <a:off x="5381625" y="3886200"/>
            <a:ext cx="603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式装配</a:t>
            </a:r>
            <a:endParaRPr/>
          </a:p>
        </p:txBody>
      </p:sp>
      <p:sp>
        <p:nvSpPr>
          <p:cNvPr id="2501" name="" descr="{&quot;isTemplate&quot;:true,&quot;type&quot;:&quot;text&quot;}"/>
          <p:cNvSpPr txBox="1"/>
          <p:nvPr/>
        </p:nvSpPr>
        <p:spPr>
          <a:xfrm rot="0" flipH="0" flipV="0">
            <a:off x="5495925" y="4067175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关注权限边界清不清，看出事能不能追</a:t>
            </a:r>
            <a:endParaRPr/>
          </a:p>
        </p:txBody>
      </p:sp>
      <p:sp>
        <p:nvSpPr>
          <p:cNvPr id="2502" name="" descr="{&quot;isTemplate&quot;:true,&quot;type&quot;:&quot;text&quot;}"/>
          <p:cNvSpPr txBox="1"/>
          <p:nvPr/>
        </p:nvSpPr>
        <p:spPr>
          <a:xfrm rot="0" flipH="0" flipV="0">
            <a:off x="5381625" y="4371975"/>
            <a:ext cx="6038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验收指标</a:t>
            </a:r>
            <a:endParaRPr/>
          </a:p>
        </p:txBody>
      </p:sp>
      <p:sp>
        <p:nvSpPr>
          <p:cNvPr id="2503" name="" descr="{&quot;isTemplate&quot;:true,&quot;type&quot;:&quot;text&quot;}"/>
          <p:cNvSpPr txBox="1"/>
          <p:nvPr/>
        </p:nvSpPr>
        <p:spPr>
          <a:xfrm rot="0" flipH="0" flipV="0">
            <a:off x="5495925" y="4552950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前者看好答案，后者看权限与日志</a:t>
            </a:r>
            <a:endParaRPr/>
          </a:p>
        </p:txBody>
      </p:sp>
      <p:sp>
        <p:nvSpPr>
          <p:cNvPr id="2504" name="" descr="{&quot;isTemplate&quot;:true,&quot;type&quot;:&quot;text&quot;}"/>
          <p:cNvSpPr txBox="1"/>
          <p:nvPr/>
        </p:nvSpPr>
        <p:spPr>
          <a:xfrm rot="0" flipH="0" flipV="0">
            <a:off x="5381625" y="487680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一个能干的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，不是一个聪明的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05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06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现场四步</a:t>
            </a:r>
            <a:endParaRPr/>
          </a:p>
        </p:txBody>
      </p:sp>
      <p:sp>
        <p:nvSpPr>
          <p:cNvPr id="2507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与传统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项目最不一样的地方</a:t>
            </a:r>
            <a:endParaRPr/>
          </a:p>
        </p:txBody>
      </p:sp>
      <p:sp>
        <p:nvSpPr>
          <p:cNvPr id="2508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09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列工具</a:t>
            </a:r>
            <a:endParaRPr/>
          </a:p>
        </p:txBody>
      </p:sp>
      <p:sp>
        <p:nvSpPr>
          <p:cNvPr id="2510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先列工具，再写提示词</a:t>
            </a:r>
            <a:endParaRPr/>
          </a:p>
        </p:txBody>
      </p:sp>
      <p:sp>
        <p:nvSpPr>
          <p:cNvPr id="2511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12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划权限</a:t>
            </a:r>
            <a:endParaRPr/>
          </a:p>
        </p:txBody>
      </p:sp>
      <p:sp>
        <p:nvSpPr>
          <p:cNvPr id="2513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当场划定每条链接的可见性</a:t>
            </a:r>
            <a:endParaRPr/>
          </a:p>
        </p:txBody>
      </p:sp>
      <p:sp>
        <p:nvSpPr>
          <p:cNvPr id="2514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15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造兜底</a:t>
            </a:r>
            <a:endParaRPr/>
          </a:p>
        </p:txBody>
      </p:sp>
      <p:sp>
        <p:nvSpPr>
          <p:cNvPr id="2516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编不出答案时它说什么，要写死</a:t>
            </a:r>
            <a:endParaRPr/>
          </a:p>
        </p:txBody>
      </p:sp>
      <p:sp>
        <p:nvSpPr>
          <p:cNvPr id="2517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18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跑一次失败</a:t>
            </a:r>
            <a:endParaRPr/>
          </a:p>
        </p:txBody>
      </p:sp>
      <p:sp>
        <p:nvSpPr>
          <p:cNvPr id="2519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故意让它失败，看能不能兜住</a:t>
            </a:r>
            <a:endParaRPr/>
          </a:p>
        </p:txBody>
      </p:sp>
      <p:sp>
        <p:nvSpPr>
          <p:cNvPr id="252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21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22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523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43 / 60</a:t>
            </a:r>
            <a:endParaRPr/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252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知识库：&lt;span style={{ color: '#FA4F24' }}&gt;切片工艺与密级继承是现场活&lt;/span&gt;&#10;        &lt;/Text&gt;&#10;        &lt;Text style={{ fontSize: 20, color: '#8A8F99', marginTop: 8 }}&gt;&#10;            知识库项目失败，八成不是模型不行，是切片切错了、密级漏了、反向索引没建&#10;        &lt;/Text&gt;&#10;    &lt;/Box&gt;&#10;    &lt;Box style={{ height: 1, background: '#E8E8E8' }} /&gt;&#10;&#10;    &lt;Box style={{ paddingTop: 20, paddingBottom: 14, height: 479, flexDirection: 'column', gap: 13 }}&gt;&#10;&#10;        {/* 上：三个特有处理 */}&#10;        &lt;Box style={{ flex: 1, flexDirection: 'row', gap: 11 }}&gt;&#10;            {[&#10;                { k: '切片工艺', c: '#FA4F24', d: '按语义边界切，不按字数切。表格、条款、图纸说明各有切法。' },&#10;                { k: '密级继承', c: '#E0641E', d: '一个文件里的段落可能不同密级，切片必须带密级标签。' },&#10;                { k: '反向索引', c: '#C43A17', d: '从答案反查来源段落。这既是可信手段，也是审计要求。' },&#10;            ].map((x) =&gt; (&#10;                &lt;Box key={x.k} style={{ flex: 1, background: '#F7F7F8', borderRadius: 4, padding: '0 16px', flexDirection: 'column', justifyContent: 'center', borderTop: `3px solid ${x.c}` }}&gt;&#10;                    &lt;Text style={{ fontSize: 17, fontWeight: 'bold', color: x.c }}&gt;{x.k}&lt;/Text&gt;&#10;                    &lt;Text style={{ fontSize: 12.5, color: '#3A4050', lineHeight: 1.5, marginTop: 12, flex: 1 }}&gt;{x.d}&lt;/Text&gt;&#10;                &lt;/Box&gt;&#10;            ))}&#10;        &lt;/Box&gt;&#10;&#10;        {/* 中：切片工艺现场判据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切片工艺的现场判据&lt;/Text&gt;&#10;                {[&#10;                    { k: '看边界', v: '一个切片能不能独立读懂？读不懂就是切错了' },&#10;                    { k: '看归属', v: '每段能不能追到原始文件与页码？不能就是没留痕' },&#10;                    { k: '看召回', v: '拿十个真实问题测，答对几条？低于七条不上线' },&#10;                ].map((x) =&gt; (&#10;                    &lt;Box key={x.k} style={{ flexDirection: 'row', gap: 12, marginTop: 11, alignItems: 'flex-start' }}&gt;&#10;                        &lt;Text style={{ fontSize: 12, fontWeight: 'bold', color: '#FBA15C', width: 60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与本体、知识库、Agent 的关系&lt;/Text&gt;&#10;                {[&#10;                    { k: '本体定范围', v: '知识库只管本体覆盖不到的文档部分' },&#10;                    { k: '知识库供语料', v: 'Agent 从知识库取依据，不凭空生成' },&#10;                    { k: 'Agent 出处', v: '每个结论必须带知识库切片链接' },&#10;                ].map((x) =&gt; (&#10;                    &lt;Box key={x.k} style={{ flexDirection: 'row', gap: 11, marginTop: 11, alignItems: 'flex-start' }}&gt;&#10;                        &lt;Text style={{ fontSize: 12, fontWeight: 'bold', color: '#C43A17', width: 92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没有出处的答案，在客户处等于没有答案。&#10;                &lt;/Text&gt;&#10;            &lt;/Box&gt;&#10;        &lt;/Box&gt;&#10;&#10;        {/* 下：现场动作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现场四步&lt;/Text&gt;&#10;                &lt;Text style={{ fontSize: 12.5, fontWeight: 'bold', color: '#0F1423', marginTop: 5, lineHeight: 1.4 }}&gt;手工活多，所以更依赖现场&lt;/Text&gt;&#10;            &lt;/Box&gt;&#10;            {[&#10;                { k: '抽样本', v: '亲手切一百条看效果' },&#10;                { k: '标密级', v: '逐段落标，不按文件一刀切' },&#10;                { k: '建反查', v: '答案能点回原文位置' },&#10;                { k: '实测问', v: '拿真实业务问题跑十遍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4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知识库：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切片工艺与密级继承是现场活</a:t>
            </a:r>
            <a:endParaRPr/>
          </a:p>
        </p:txBody>
      </p:sp>
      <p:sp>
        <p:nvSpPr>
          <p:cNvPr id="25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知识库项目失败，八成不是模型不行，是切片切错了、密级漏了、反向索引没建</a:t>
            </a:r>
            <a:endParaRPr/>
          </a:p>
        </p:txBody>
      </p:sp>
      <p:sp>
        <p:nvSpPr>
          <p:cNvPr id="25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29" name=""/>
          <p:cNvSpPr/>
          <p:nvPr/>
        </p:nvSpPr>
        <p:spPr>
          <a:xfrm rot="0" flipH="0" flipV="0">
            <a:off x="609600" y="1371600"/>
            <a:ext cx="359092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30" name=""/>
          <p:cNvSpPr/>
          <p:nvPr/>
        </p:nvSpPr>
        <p:spPr>
          <a:xfrm rot="0" flipH="0" flipV="0">
            <a:off x="609600" y="1371600"/>
            <a:ext cx="3590925" cy="1838325"/>
          </a:xfrm>
          <a:custGeom>
            <a:pathLst>
              <a:path w="377" h="193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31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286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切片工艺</a:t>
            </a:r>
            <a:endParaRPr/>
          </a:p>
        </p:txBody>
      </p:sp>
      <p:sp>
        <p:nvSpPr>
          <p:cNvPr id="2532" name="" descr="{&quot;isTemplate&quot;:true,&quot;type&quot;:&quot;text&quot;}"/>
          <p:cNvSpPr txBox="1"/>
          <p:nvPr/>
        </p:nvSpPr>
        <p:spPr>
          <a:xfrm rot="0" flipH="0" flipV="0">
            <a:off x="762000" y="1685925"/>
            <a:ext cx="3286125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按语义边界切，不按字数切。表格、条款、图纸说明各有切法。</a:t>
            </a:r>
            <a:endParaRPr/>
          </a:p>
        </p:txBody>
      </p:sp>
      <p:sp>
        <p:nvSpPr>
          <p:cNvPr id="2533" name=""/>
          <p:cNvSpPr/>
          <p:nvPr/>
        </p:nvSpPr>
        <p:spPr>
          <a:xfrm rot="0" flipH="0" flipV="0">
            <a:off x="4305300" y="1371600"/>
            <a:ext cx="35814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34" name=""/>
          <p:cNvSpPr/>
          <p:nvPr/>
        </p:nvSpPr>
        <p:spPr>
          <a:xfrm rot="0" flipH="0" flipV="0">
            <a:off x="4305300" y="1371600"/>
            <a:ext cx="3581400" cy="1838325"/>
          </a:xfrm>
          <a:custGeom>
            <a:pathLst>
              <a:path w="376" h="193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cubicBezTo>
                  <a:pt x="376" y="3"/>
                  <a:pt x="375" y="3"/>
                  <a:pt x="3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535" name="" descr="{&quot;isTemplate&quot;:true,&quot;type&quot;:&quot;text&quot;}"/>
          <p:cNvSpPr txBox="1"/>
          <p:nvPr/>
        </p:nvSpPr>
        <p:spPr>
          <a:xfrm rot="0" flipH="0" flipV="0">
            <a:off x="4457700" y="137160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0641E"/>
                </a:solidFill>
                <a:latin typeface="Microsoft YaHei"/>
                <a:ea typeface="Microsoft YaHei"/>
              </a:rPr>
              <a:t>密级继承</a:t>
            </a:r>
            <a:endParaRPr/>
          </a:p>
        </p:txBody>
      </p:sp>
      <p:sp>
        <p:nvSpPr>
          <p:cNvPr id="2536" name="" descr="{&quot;isTemplate&quot;:true,&quot;type&quot;:&quot;text&quot;}"/>
          <p:cNvSpPr txBox="1"/>
          <p:nvPr/>
        </p:nvSpPr>
        <p:spPr>
          <a:xfrm rot="0" flipH="0" flipV="0">
            <a:off x="4457700" y="1685925"/>
            <a:ext cx="3276600" cy="14954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一个文件里的段落可能不同密级，切片必须带密级标签。</a:t>
            </a:r>
            <a:endParaRPr/>
          </a:p>
        </p:txBody>
      </p:sp>
      <p:sp>
        <p:nvSpPr>
          <p:cNvPr id="2537" name=""/>
          <p:cNvSpPr/>
          <p:nvPr/>
        </p:nvSpPr>
        <p:spPr>
          <a:xfrm rot="0" flipH="0" flipV="0">
            <a:off x="7991475" y="1371600"/>
            <a:ext cx="359092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38" name=""/>
          <p:cNvSpPr/>
          <p:nvPr/>
        </p:nvSpPr>
        <p:spPr>
          <a:xfrm rot="0" flipH="0" flipV="0">
            <a:off x="7991475" y="1371600"/>
            <a:ext cx="3590925" cy="1838325"/>
          </a:xfrm>
          <a:custGeom>
            <a:pathLst>
              <a:path w="377" h="193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539" name="" descr="{&quot;isTemplate&quot;:true,&quot;type&quot;:&quot;text&quot;}"/>
          <p:cNvSpPr txBox="1"/>
          <p:nvPr/>
        </p:nvSpPr>
        <p:spPr>
          <a:xfrm rot="0" flipH="0" flipV="0">
            <a:off x="8143875" y="1371600"/>
            <a:ext cx="3286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反向索引</a:t>
            </a:r>
            <a:endParaRPr/>
          </a:p>
        </p:txBody>
      </p:sp>
      <p:sp>
        <p:nvSpPr>
          <p:cNvPr id="2540" name="" descr="{&quot;isTemplate&quot;:true,&quot;type&quot;:&quot;text&quot;}"/>
          <p:cNvSpPr txBox="1"/>
          <p:nvPr/>
        </p:nvSpPr>
        <p:spPr>
          <a:xfrm rot="0" flipH="0" flipV="0">
            <a:off x="8143875" y="1685925"/>
            <a:ext cx="3286125" cy="14954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从答案反查来源段落。这既是可信手段，也是审计要求。</a:t>
            </a:r>
            <a:endParaRPr/>
          </a:p>
        </p:txBody>
      </p:sp>
      <p:sp>
        <p:nvSpPr>
          <p:cNvPr id="2541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542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切片工艺的现场判据</a:t>
            </a:r>
            <a:endParaRPr/>
          </a:p>
        </p:txBody>
      </p:sp>
      <p:sp>
        <p:nvSpPr>
          <p:cNvPr id="2543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看边界</a:t>
            </a:r>
            <a:endParaRPr/>
          </a:p>
        </p:txBody>
      </p:sp>
      <p:sp>
        <p:nvSpPr>
          <p:cNvPr id="2544" name="" descr="{&quot;isTemplate&quot;:true,&quot;type&quot;:&quot;text&quot;}"/>
          <p:cNvSpPr txBox="1"/>
          <p:nvPr/>
        </p:nvSpPr>
        <p:spPr>
          <a:xfrm rot="0" flipH="0" flipV="0">
            <a:off x="1466850" y="39147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一个切片能不能独立读懂？读不懂就是切错了</a:t>
            </a:r>
            <a:endParaRPr/>
          </a:p>
        </p:txBody>
      </p:sp>
      <p:sp>
        <p:nvSpPr>
          <p:cNvPr id="2545" name="" descr="{&quot;isTemplate&quot;:true,&quot;type&quot;:&quot;text&quot;}"/>
          <p:cNvSpPr txBox="1"/>
          <p:nvPr/>
        </p:nvSpPr>
        <p:spPr>
          <a:xfrm rot="0" flipH="0" flipV="0">
            <a:off x="781050" y="42195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看归属</a:t>
            </a:r>
            <a:endParaRPr/>
          </a:p>
        </p:txBody>
      </p:sp>
      <p:sp>
        <p:nvSpPr>
          <p:cNvPr id="2546" name="" descr="{&quot;isTemplate&quot;:true,&quot;type&quot;:&quot;text&quot;}"/>
          <p:cNvSpPr txBox="1"/>
          <p:nvPr/>
        </p:nvSpPr>
        <p:spPr>
          <a:xfrm rot="0" flipH="0" flipV="0">
            <a:off x="1466850" y="42195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每段能不能追到原始文件与页码？不能就是没留痕</a:t>
            </a:r>
            <a:endParaRPr/>
          </a:p>
        </p:txBody>
      </p:sp>
      <p:sp>
        <p:nvSpPr>
          <p:cNvPr id="2547" name="" descr="{&quot;isTemplate&quot;:true,&quot;type&quot;:&quot;text&quot;}"/>
          <p:cNvSpPr txBox="1"/>
          <p:nvPr/>
        </p:nvSpPr>
        <p:spPr>
          <a:xfrm rot="0" flipH="0" flipV="0">
            <a:off x="781050" y="45243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看召回</a:t>
            </a:r>
            <a:endParaRPr/>
          </a:p>
        </p:txBody>
      </p:sp>
      <p:sp>
        <p:nvSpPr>
          <p:cNvPr id="2548" name="" descr="{&quot;isTemplate&quot;:true,&quot;type&quot;:&quot;text&quot;}"/>
          <p:cNvSpPr txBox="1"/>
          <p:nvPr/>
        </p:nvSpPr>
        <p:spPr>
          <a:xfrm rot="0" flipH="0" flipV="0">
            <a:off x="1466850" y="45243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拿十个真实问题测，答对几条？低于七条不上线</a:t>
            </a:r>
            <a:endParaRPr/>
          </a:p>
        </p:txBody>
      </p:sp>
      <p:sp>
        <p:nvSpPr>
          <p:cNvPr id="2549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550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51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与本体、知识库、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的关系</a:t>
            </a:r>
            <a:endParaRPr/>
          </a:p>
        </p:txBody>
      </p:sp>
      <p:sp>
        <p:nvSpPr>
          <p:cNvPr id="2552" name="" descr="{&quot;isTemplate&quot;:true,&quot;type&quot;:&quot;text&quot;}"/>
          <p:cNvSpPr txBox="1"/>
          <p:nvPr/>
        </p:nvSpPr>
        <p:spPr>
          <a:xfrm rot="0" flipH="0" flipV="0">
            <a:off x="5381625" y="37719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本体定范围</a:t>
            </a:r>
            <a:endParaRPr/>
          </a:p>
        </p:txBody>
      </p:sp>
      <p:sp>
        <p:nvSpPr>
          <p:cNvPr id="2553" name="" descr="{&quot;isTemplate&quot;:true,&quot;type&quot;:&quot;text&quot;}"/>
          <p:cNvSpPr txBox="1"/>
          <p:nvPr/>
        </p:nvSpPr>
        <p:spPr>
          <a:xfrm rot="0" flipH="0" flipV="0">
            <a:off x="6362700" y="37719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知识库只管本体覆盖不到的文档部分</a:t>
            </a:r>
            <a:endParaRPr/>
          </a:p>
        </p:txBody>
      </p:sp>
      <p:sp>
        <p:nvSpPr>
          <p:cNvPr id="2554" name="" descr="{&quot;isTemplate&quot;:true,&quot;type&quot;:&quot;text&quot;}"/>
          <p:cNvSpPr txBox="1"/>
          <p:nvPr/>
        </p:nvSpPr>
        <p:spPr>
          <a:xfrm rot="0" flipH="0" flipV="0">
            <a:off x="5381625" y="4076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知识库供语料</a:t>
            </a:r>
            <a:endParaRPr/>
          </a:p>
        </p:txBody>
      </p:sp>
      <p:sp>
        <p:nvSpPr>
          <p:cNvPr id="2555" name="" descr="{&quot;isTemplate&quot;:true,&quot;type&quot;:&quot;text&quot;}"/>
          <p:cNvSpPr txBox="1"/>
          <p:nvPr/>
        </p:nvSpPr>
        <p:spPr>
          <a:xfrm rot="0" flipH="0" flipV="0">
            <a:off x="6362700" y="40767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从知识库取依据，不凭空生成</a:t>
            </a:r>
            <a:endParaRPr/>
          </a:p>
        </p:txBody>
      </p:sp>
      <p:sp>
        <p:nvSpPr>
          <p:cNvPr id="2556" name="" descr="{&quot;isTemplate&quot;:true,&quot;type&quot;:&quot;text&quot;}"/>
          <p:cNvSpPr txBox="1"/>
          <p:nvPr/>
        </p:nvSpPr>
        <p:spPr>
          <a:xfrm rot="0" flipH="0" flipV="0">
            <a:off x="5381625" y="43815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出处</a:t>
            </a:r>
            <a:endParaRPr/>
          </a:p>
        </p:txBody>
      </p:sp>
      <p:sp>
        <p:nvSpPr>
          <p:cNvPr id="2557" name="" descr="{&quot;isTemplate&quot;:true,&quot;type&quot;:&quot;text&quot;}"/>
          <p:cNvSpPr txBox="1"/>
          <p:nvPr/>
        </p:nvSpPr>
        <p:spPr>
          <a:xfrm rot="0" flipH="0" flipV="0">
            <a:off x="6362700" y="43815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每个结论必须带知识库切片链接</a:t>
            </a:r>
            <a:endParaRPr/>
          </a:p>
        </p:txBody>
      </p:sp>
      <p:sp>
        <p:nvSpPr>
          <p:cNvPr id="2558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没有出处的答案，在客户处等于没有答案。</a:t>
            </a:r>
            <a:endParaRPr/>
          </a:p>
        </p:txBody>
      </p:sp>
      <p:sp>
        <p:nvSpPr>
          <p:cNvPr id="2559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60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现场四步</a:t>
            </a:r>
            <a:endParaRPr/>
          </a:p>
        </p:txBody>
      </p:sp>
      <p:sp>
        <p:nvSpPr>
          <p:cNvPr id="2561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手工活多，所以更依赖现场</a:t>
            </a:r>
            <a:endParaRPr/>
          </a:p>
        </p:txBody>
      </p:sp>
      <p:sp>
        <p:nvSpPr>
          <p:cNvPr id="2562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63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抽样本</a:t>
            </a:r>
            <a:endParaRPr/>
          </a:p>
        </p:txBody>
      </p:sp>
      <p:sp>
        <p:nvSpPr>
          <p:cNvPr id="2564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亲手切一百条看效果</a:t>
            </a:r>
            <a:endParaRPr/>
          </a:p>
        </p:txBody>
      </p:sp>
      <p:sp>
        <p:nvSpPr>
          <p:cNvPr id="2565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66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标密级</a:t>
            </a:r>
            <a:endParaRPr/>
          </a:p>
        </p:txBody>
      </p:sp>
      <p:sp>
        <p:nvSpPr>
          <p:cNvPr id="2567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逐段落标，不按文件一刀切</a:t>
            </a:r>
            <a:endParaRPr/>
          </a:p>
        </p:txBody>
      </p:sp>
      <p:sp>
        <p:nvSpPr>
          <p:cNvPr id="2568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69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建反查</a:t>
            </a:r>
            <a:endParaRPr/>
          </a:p>
        </p:txBody>
      </p:sp>
      <p:sp>
        <p:nvSpPr>
          <p:cNvPr id="2570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答案能点回原文位置</a:t>
            </a:r>
            <a:endParaRPr/>
          </a:p>
        </p:txBody>
      </p:sp>
      <p:sp>
        <p:nvSpPr>
          <p:cNvPr id="2571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72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实测问</a:t>
            </a:r>
            <a:endParaRPr/>
          </a:p>
        </p:txBody>
      </p:sp>
      <p:sp>
        <p:nvSpPr>
          <p:cNvPr id="2573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拿真实业务问题跑十遍</a:t>
            </a:r>
            <a:endParaRPr/>
          </a:p>
        </p:txBody>
      </p:sp>
      <p:sp>
        <p:nvSpPr>
          <p:cNvPr id="257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75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76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577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44 / 60</a:t>
            </a:r>
            <a:endParaRPr/>
          </a:p>
        </p:txBody>
      </p:sp>
    </p:spTree>
  </p:cSld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257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管道：&lt;span style={{ color: '#FA4F24' }}&gt;双向管道，现场写幂等与重试&lt;/span&gt;&#10;        &lt;/Text&gt;&#10;        &lt;Text style={{ fontSize: 20, color: '#8A8F99', marginTop: 8 }}&gt;&#10;            数据怎么进本体，本体怎么被调出去。两条管道都是现场代码，不允许总部代写&#10;        &lt;/Text&gt;&#10;    &lt;/Box&gt;&#10;    &lt;Box style={{ height: 1, background: '#E8E8E8' }} /&gt;&#10;&#10;    &lt;Box style={{ paddingTop: 20, paddingBottom: 14, height: 479, flexDirection: 'column', gap: 13 }}&gt;&#10;&#10;        {/* 上：双向两条 */}&#10;        &lt;Box style={{ flex: 1, flexDirection: 'row', gap: 13 }}&gt;&#10;            &lt;Box style={{ flex: 1, background: '#F7F7F8', borderRadius: 4, padding: '0 17px', flexDirection: 'column', justifyContent: 'center', borderTop: '3px solid #FA4F24' }}&gt;&#10;                &lt;Text style={{ fontSize: 12, color: '#FA4F24', letterSpacing: 2 }}&gt;INBOUND · 数据怎么进本体&lt;/Text&gt;&#10;                {[&#10;                    '现场写抽取，不接受「先给个接口文档」',&#10;                    '每批带批次号，可整批重放',&#10;                    '限流只读，不打满客户库',&#10;                    '失败落错误表，不吞异常',&#10;                ].map((x) =&gt; (&#10;                    &lt;Box key={x} style={{ flexDirection: 'row', gap: 10, marginTop: 10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&lt;/Box&gt;&#10;            &lt;Box style={{ flex: 1, background: '#0F1423', borderRadius: 4, padding: '0 17px', flexDirection: 'column', justifyContent: 'center', borderTop: '3px solid #FBA15C' }}&gt;&#10;                &lt;Text style={{ fontSize: 12, color: '#FBA15C', letterSpacing: 2 }}&gt;OUTBOUND · 本体怎么被调出去&lt;/Text&gt;&#10;                {[&#10;                    '写回路径必须接到客户真实作业动作',&#10;                    '每次写回可撤回，有审计记录',&#10;                    '对外 API 逐条走密级校验',&#10;                    '不建「万能接口」给自己方便',&#10;                ].map((x) =&gt; (&#10;                    &lt;Box key={x} style={{ flexDirection: 'row', gap: 10, marginTop: 10, alignItems: 'flex-start' }}&gt;&#10;                        &lt;Box style={{ width: 5, height: 5, borderRadius: 3, background: '#FBA15C', marginTop: 6 }} /&gt;&#10;                        &lt;Text style={{ fontSize: 12.5, color: 'rgba(255,255,255,0.85)', lineHeight: 1.4, flex: 1 }}&gt;{x}&lt;/Text&gt;&#10;                    &lt;/Box&gt;&#10;                ))}&#10;            &lt;/Box&gt;&#10;        &lt;/Box&gt;&#10;&#10;        {/* 中：幂等三件套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现场必写的三件套&lt;/Text&gt;&#10;                {[&#10;                    { k: '批次号', v: '每批一个唯一号，重放靠它去重' },&#10;                    { k: '重试策略', v: '指数退避 + 最大次数，不无限重试' },&#10;                    { k: '对账脚本', v: '每日核对源与目标条数与金额' },&#10;                ].map((x) =&gt; (&#10;                    &lt;Box key={x.k} style={{ flexDirection: 'row', gap: 12, marginTop: 11, alignItems: 'flex-start' }}&gt;&#10;                        &lt;Text style={{ fontSize: 12, fontWeight: 'bold', color: '#FBA15C', width: 7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为什么管道特别考验 FDE&lt;/Text&gt;&#10;                {[&#10;                    '管道是唯一「错了会静默」的东西——不报错，数据就是错的',&#10;                    '客户环境千差万别：离线、网闸、老库、乱码',&#10;                    '这些只能在现场发现，文档里永远写不出来',&#10;                ].map((x) =&gt; (&#10;                    &lt;Box key={x} style={{ flexDirection: 'row', gap: 10, marginTop: 11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    &lt;Text style={{ fontSize: 11.5, fontWeight: 'bold', color: '#C43A17', marginTop: 13, lineHeight: 1.4 }}&gt;&#10;                    管道不通，本体就是空的；本体是空的，Agent 全是幻觉。&#10;                &lt;/Text&gt;&#10;            &lt;/Box&gt;&#10;        &lt;/Box&gt;&#10;&#10;        {/* 下：现场动作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现场四步&lt;/Text&gt;&#10;                &lt;Text style={{ fontSize: 12.5, fontWeight: 'bold', color: '#0F1423', marginTop: 5, lineHeight: 1.4 }}&gt;第一天就要动真数据&lt;/Text&gt;&#10;            &lt;/Box&gt;&#10;            {[&#10;                { k: '看清源头', v: '亲手看原始表的乱码' },&#10;                { k: '写三件套', v: '批次号、重试、对账' },&#10;                { k: '跑对账', v: '连续三天条数金额对齐' },&#10;                { k: '断点演练', v: '故意掐断一次看能不能补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5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双向管道，现场写幂等与重试</a:t>
            </a:r>
            <a:endParaRPr/>
          </a:p>
        </p:txBody>
      </p:sp>
      <p:sp>
        <p:nvSpPr>
          <p:cNvPr id="258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数据怎么进本体，本体怎么被调出去。两条管道都是现场代码，不允许总部代写</a:t>
            </a:r>
            <a:endParaRPr/>
          </a:p>
        </p:txBody>
      </p:sp>
      <p:sp>
        <p:nvSpPr>
          <p:cNvPr id="258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583" name=""/>
          <p:cNvSpPr/>
          <p:nvPr/>
        </p:nvSpPr>
        <p:spPr>
          <a:xfrm rot="0" flipH="0" flipV="0">
            <a:off x="609600" y="1371600"/>
            <a:ext cx="542925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84" name=""/>
          <p:cNvSpPr/>
          <p:nvPr/>
        </p:nvSpPr>
        <p:spPr>
          <a:xfrm rot="0" flipH="0" flipV="0">
            <a:off x="609600" y="1371600"/>
            <a:ext cx="5429250" cy="1838325"/>
          </a:xfrm>
          <a:custGeom>
            <a:pathLst>
              <a:path w="570" h="193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cubicBezTo>
                  <a:pt x="570" y="3"/>
                  <a:pt x="569" y="3"/>
                  <a:pt x="5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85" name="" descr="{&quot;isTemplate&quot;:true,&quot;type&quot;:&quot;text&quot;}"/>
          <p:cNvSpPr txBox="1"/>
          <p:nvPr/>
        </p:nvSpPr>
        <p:spPr>
          <a:xfrm rot="0" flipH="0" flipV="0">
            <a:off x="771525" y="1619250"/>
            <a:ext cx="5105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A4F24"/>
                </a:solidFill>
                <a:latin typeface="Microsoft YaHei"/>
                <a:ea typeface="Microsoft YaHei"/>
              </a:rPr>
              <a:t xml:space="preserve">INBOUND · </a:t>
            </a:r>
            <a:r>
              <a:rPr lang="zh-CN" sz="900" spc="150">
                <a:solidFill>
                  <a:srgbClr val="FA4F24"/>
                </a:solidFill>
                <a:latin typeface="Microsoft YaHei"/>
                <a:ea typeface="Microsoft YaHei"/>
              </a:rPr>
              <a:t>数据怎么进本体</a:t>
            </a:r>
            <a:endParaRPr/>
          </a:p>
        </p:txBody>
      </p:sp>
      <p:sp>
        <p:nvSpPr>
          <p:cNvPr id="2586" name=""/>
          <p:cNvSpPr/>
          <p:nvPr/>
        </p:nvSpPr>
        <p:spPr>
          <a:xfrm rot="0" flipH="0" flipV="0">
            <a:off x="771525" y="19145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87" name="" descr="{&quot;isTemplate&quot;:true,&quot;type&quot;:&quot;text&quot;}"/>
          <p:cNvSpPr txBox="1"/>
          <p:nvPr/>
        </p:nvSpPr>
        <p:spPr>
          <a:xfrm rot="0" flipH="0" flipV="0">
            <a:off x="914400" y="1857375"/>
            <a:ext cx="49625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现场写抽取，不接受「先给个接口文档」</a:t>
            </a:r>
            <a:endParaRPr/>
          </a:p>
        </p:txBody>
      </p:sp>
      <p:sp>
        <p:nvSpPr>
          <p:cNvPr id="2588" name=""/>
          <p:cNvSpPr/>
          <p:nvPr/>
        </p:nvSpPr>
        <p:spPr>
          <a:xfrm rot="0" flipH="0" flipV="0">
            <a:off x="771525" y="2209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89" name="" descr="{&quot;isTemplate&quot;:true,&quot;type&quot;:&quot;text&quot;}"/>
          <p:cNvSpPr txBox="1"/>
          <p:nvPr/>
        </p:nvSpPr>
        <p:spPr>
          <a:xfrm rot="0" flipH="0" flipV="0">
            <a:off x="914400" y="2152650"/>
            <a:ext cx="49625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每批带批次号，可整批重放</a:t>
            </a:r>
            <a:endParaRPr/>
          </a:p>
        </p:txBody>
      </p:sp>
      <p:sp>
        <p:nvSpPr>
          <p:cNvPr id="2590" name=""/>
          <p:cNvSpPr/>
          <p:nvPr/>
        </p:nvSpPr>
        <p:spPr>
          <a:xfrm rot="0" flipH="0" flipV="0">
            <a:off x="771525" y="25050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91" name="" descr="{&quot;isTemplate&quot;:true,&quot;type&quot;:&quot;text&quot;}"/>
          <p:cNvSpPr txBox="1"/>
          <p:nvPr/>
        </p:nvSpPr>
        <p:spPr>
          <a:xfrm rot="0" flipH="0" flipV="0">
            <a:off x="914400" y="2447925"/>
            <a:ext cx="49625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限流只读，不打满客户库</a:t>
            </a:r>
            <a:endParaRPr/>
          </a:p>
        </p:txBody>
      </p:sp>
      <p:sp>
        <p:nvSpPr>
          <p:cNvPr id="2592" name=""/>
          <p:cNvSpPr/>
          <p:nvPr/>
        </p:nvSpPr>
        <p:spPr>
          <a:xfrm rot="0" flipH="0" flipV="0">
            <a:off x="771525" y="2800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93" name="" descr="{&quot;isTemplate&quot;:true,&quot;type&quot;:&quot;text&quot;}"/>
          <p:cNvSpPr txBox="1"/>
          <p:nvPr/>
        </p:nvSpPr>
        <p:spPr>
          <a:xfrm rot="0" flipH="0" flipV="0">
            <a:off x="914400" y="2743200"/>
            <a:ext cx="49625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失败落错误表，不吞异常</a:t>
            </a:r>
            <a:endParaRPr/>
          </a:p>
        </p:txBody>
      </p:sp>
      <p:sp>
        <p:nvSpPr>
          <p:cNvPr id="2594" name=""/>
          <p:cNvSpPr/>
          <p:nvPr/>
        </p:nvSpPr>
        <p:spPr>
          <a:xfrm rot="0" flipH="0" flipV="0">
            <a:off x="6162675" y="1371600"/>
            <a:ext cx="5419725" cy="1838325"/>
          </a:xfrm>
          <a:prstGeom prst="roundRect">
            <a:avLst>
              <a:gd name="adj" fmla="val 207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595" name=""/>
          <p:cNvSpPr/>
          <p:nvPr/>
        </p:nvSpPr>
        <p:spPr>
          <a:xfrm rot="0" flipH="0" flipV="0">
            <a:off x="6162675" y="1371600"/>
            <a:ext cx="5419725" cy="1838325"/>
          </a:xfrm>
          <a:custGeom>
            <a:pathLst>
              <a:path w="569" h="193">
                <a:moveTo>
                  <a:pt x="565" y="0"/>
                </a:moveTo>
                <a:cubicBezTo>
                  <a:pt x="567" y="0"/>
                  <a:pt x="569" y="2"/>
                  <a:pt x="569" y="4"/>
                </a:cubicBezTo>
                <a:cubicBezTo>
                  <a:pt x="569" y="3"/>
                  <a:pt x="568" y="3"/>
                  <a:pt x="56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596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509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OUTBOUND ·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本体怎么被调出去</a:t>
            </a:r>
            <a:endParaRPr/>
          </a:p>
        </p:txBody>
      </p:sp>
      <p:sp>
        <p:nvSpPr>
          <p:cNvPr id="2597" name=""/>
          <p:cNvSpPr/>
          <p:nvPr/>
        </p:nvSpPr>
        <p:spPr>
          <a:xfrm rot="0" flipH="0" flipV="0">
            <a:off x="6324600" y="19145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598" name="" descr="{&quot;isTemplate&quot;:true,&quot;type&quot;:&quot;text&quot;}"/>
          <p:cNvSpPr txBox="1"/>
          <p:nvPr/>
        </p:nvSpPr>
        <p:spPr>
          <a:xfrm rot="0" flipH="0" flipV="0">
            <a:off x="6467475" y="185737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写回路径必须接到客户真实作业动作</a:t>
            </a:r>
            <a:endParaRPr/>
          </a:p>
        </p:txBody>
      </p:sp>
      <p:sp>
        <p:nvSpPr>
          <p:cNvPr id="2599" name=""/>
          <p:cNvSpPr/>
          <p:nvPr/>
        </p:nvSpPr>
        <p:spPr>
          <a:xfrm rot="0" flipH="0" flipV="0">
            <a:off x="6324600" y="2209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600" name="" descr="{&quot;isTemplate&quot;:true,&quot;type&quot;:&quot;text&quot;}"/>
          <p:cNvSpPr txBox="1"/>
          <p:nvPr/>
        </p:nvSpPr>
        <p:spPr>
          <a:xfrm rot="0" flipH="0" flipV="0">
            <a:off x="6467475" y="21526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每次写回可撤回，有审计记录</a:t>
            </a:r>
            <a:endParaRPr/>
          </a:p>
        </p:txBody>
      </p:sp>
      <p:sp>
        <p:nvSpPr>
          <p:cNvPr id="2601" name=""/>
          <p:cNvSpPr/>
          <p:nvPr/>
        </p:nvSpPr>
        <p:spPr>
          <a:xfrm rot="0" flipH="0" flipV="0">
            <a:off x="6324600" y="25050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602" name="" descr="{&quot;isTemplate&quot;:true,&quot;type&quot;:&quot;text&quot;}"/>
          <p:cNvSpPr txBox="1"/>
          <p:nvPr/>
        </p:nvSpPr>
        <p:spPr>
          <a:xfrm rot="0" flipH="0" flipV="0">
            <a:off x="6467475" y="24479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对外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逐条走密级校验</a:t>
            </a:r>
            <a:endParaRPr/>
          </a:p>
        </p:txBody>
      </p:sp>
      <p:sp>
        <p:nvSpPr>
          <p:cNvPr id="2603" name=""/>
          <p:cNvSpPr/>
          <p:nvPr/>
        </p:nvSpPr>
        <p:spPr>
          <a:xfrm rot="0" flipH="0" flipV="0">
            <a:off x="6324600" y="2800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2604" name="" descr="{&quot;isTemplate&quot;:true,&quot;type&quot;:&quot;text&quot;}"/>
          <p:cNvSpPr txBox="1"/>
          <p:nvPr/>
        </p:nvSpPr>
        <p:spPr>
          <a:xfrm rot="0" flipH="0" flipV="0">
            <a:off x="6467475" y="274320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不建「万能接口」给自己方便</a:t>
            </a:r>
            <a:endParaRPr/>
          </a:p>
        </p:txBody>
      </p:sp>
      <p:sp>
        <p:nvSpPr>
          <p:cNvPr id="2605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606" name="" descr="{&quot;isTemplate&quot;:true,&quot;type&quot;:&quot;text&quot;}"/>
          <p:cNvSpPr txBox="1"/>
          <p:nvPr/>
        </p:nvSpPr>
        <p:spPr>
          <a:xfrm rot="0" flipH="0" flipV="0">
            <a:off x="781050" y="36671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现场必写的三件套</a:t>
            </a:r>
            <a:endParaRPr/>
          </a:p>
        </p:txBody>
      </p:sp>
      <p:sp>
        <p:nvSpPr>
          <p:cNvPr id="2607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批次号</a:t>
            </a:r>
            <a:endParaRPr/>
          </a:p>
        </p:txBody>
      </p:sp>
      <p:sp>
        <p:nvSpPr>
          <p:cNvPr id="2608" name="" descr="{&quot;isTemplate&quot;:true,&quot;type&quot;:&quot;text&quot;}"/>
          <p:cNvSpPr txBox="1"/>
          <p:nvPr/>
        </p:nvSpPr>
        <p:spPr>
          <a:xfrm rot="0" flipH="0" flipV="0">
            <a:off x="1581150" y="39147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每批一个唯一号，重放靠它去重</a:t>
            </a:r>
            <a:endParaRPr/>
          </a:p>
        </p:txBody>
      </p:sp>
      <p:sp>
        <p:nvSpPr>
          <p:cNvPr id="2609" name="" descr="{&quot;isTemplate&quot;:true,&quot;type&quot;:&quot;text&quot;}"/>
          <p:cNvSpPr txBox="1"/>
          <p:nvPr/>
        </p:nvSpPr>
        <p:spPr>
          <a:xfrm rot="0" flipH="0" flipV="0">
            <a:off x="781050" y="42195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重试策略</a:t>
            </a:r>
            <a:endParaRPr/>
          </a:p>
        </p:txBody>
      </p:sp>
      <p:sp>
        <p:nvSpPr>
          <p:cNvPr id="2610" name="" descr="{&quot;isTemplate&quot;:true,&quot;type&quot;:&quot;text&quot;}"/>
          <p:cNvSpPr txBox="1"/>
          <p:nvPr/>
        </p:nvSpPr>
        <p:spPr>
          <a:xfrm rot="0" flipH="0" flipV="0">
            <a:off x="1581150" y="42195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指数退避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最大次数，不无限重试</a:t>
            </a:r>
            <a:endParaRPr/>
          </a:p>
        </p:txBody>
      </p:sp>
      <p:sp>
        <p:nvSpPr>
          <p:cNvPr id="2611" name="" descr="{&quot;isTemplate&quot;:true,&quot;type&quot;:&quot;text&quot;}"/>
          <p:cNvSpPr txBox="1"/>
          <p:nvPr/>
        </p:nvSpPr>
        <p:spPr>
          <a:xfrm rot="0" flipH="0" flipV="0">
            <a:off x="781050" y="45243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对账脚本</a:t>
            </a:r>
            <a:endParaRPr/>
          </a:p>
        </p:txBody>
      </p:sp>
      <p:sp>
        <p:nvSpPr>
          <p:cNvPr id="2612" name="" descr="{&quot;isTemplate&quot;:true,&quot;type&quot;:&quot;text&quot;}"/>
          <p:cNvSpPr txBox="1"/>
          <p:nvPr/>
        </p:nvSpPr>
        <p:spPr>
          <a:xfrm rot="0" flipH="0" flipV="0">
            <a:off x="1581150" y="45243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每日核对源与目标条数与金额</a:t>
            </a:r>
            <a:endParaRPr/>
          </a:p>
        </p:txBody>
      </p:sp>
      <p:sp>
        <p:nvSpPr>
          <p:cNvPr id="2613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614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15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为什么管道特别考验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FDE</a:t>
            </a:r>
            <a:endParaRPr/>
          </a:p>
        </p:txBody>
      </p:sp>
      <p:sp>
        <p:nvSpPr>
          <p:cNvPr id="2616" name=""/>
          <p:cNvSpPr/>
          <p:nvPr/>
        </p:nvSpPr>
        <p:spPr>
          <a:xfrm rot="0" flipH="0" flipV="0">
            <a:off x="5381625" y="3829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17" name="" descr="{&quot;isTemplate&quot;:true,&quot;type&quot;:&quot;text&quot;}"/>
          <p:cNvSpPr txBox="1"/>
          <p:nvPr/>
        </p:nvSpPr>
        <p:spPr>
          <a:xfrm rot="0" flipH="0" flipV="0">
            <a:off x="5524500" y="37719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管道是唯一「错了会静默」的东西——不报错，数据就是错的</a:t>
            </a:r>
            <a:endParaRPr/>
          </a:p>
        </p:txBody>
      </p:sp>
      <p:sp>
        <p:nvSpPr>
          <p:cNvPr id="2618" name=""/>
          <p:cNvSpPr/>
          <p:nvPr/>
        </p:nvSpPr>
        <p:spPr>
          <a:xfrm rot="0" flipH="0" flipV="0">
            <a:off x="5381625" y="4133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19" name="" descr="{&quot;isTemplate&quot;:true,&quot;type&quot;:&quot;text&quot;}"/>
          <p:cNvSpPr txBox="1"/>
          <p:nvPr/>
        </p:nvSpPr>
        <p:spPr>
          <a:xfrm rot="0" flipH="0" flipV="0">
            <a:off x="5524500" y="40767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客户环境千差万别：离线、网闸、老库、乱码</a:t>
            </a:r>
            <a:endParaRPr/>
          </a:p>
        </p:txBody>
      </p:sp>
      <p:sp>
        <p:nvSpPr>
          <p:cNvPr id="2620" name=""/>
          <p:cNvSpPr/>
          <p:nvPr/>
        </p:nvSpPr>
        <p:spPr>
          <a:xfrm rot="0" flipH="0" flipV="0">
            <a:off x="5381625" y="4438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21" name="" descr="{&quot;isTemplate&quot;:true,&quot;type&quot;:&quot;text&quot;}"/>
          <p:cNvSpPr txBox="1"/>
          <p:nvPr/>
        </p:nvSpPr>
        <p:spPr>
          <a:xfrm rot="0" flipH="0" flipV="0">
            <a:off x="5524500" y="43815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这些只能在现场发现，文档里永远写不出来</a:t>
            </a:r>
            <a:endParaRPr/>
          </a:p>
        </p:txBody>
      </p:sp>
      <p:sp>
        <p:nvSpPr>
          <p:cNvPr id="2622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管道不通，本体就是空的；本体是空的，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全是幻觉。</a:t>
            </a:r>
            <a:endParaRPr/>
          </a:p>
        </p:txBody>
      </p:sp>
      <p:sp>
        <p:nvSpPr>
          <p:cNvPr id="2623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24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现场四步</a:t>
            </a:r>
            <a:endParaRPr/>
          </a:p>
        </p:txBody>
      </p:sp>
      <p:sp>
        <p:nvSpPr>
          <p:cNvPr id="2625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第一天就要动真数据</a:t>
            </a:r>
            <a:endParaRPr/>
          </a:p>
        </p:txBody>
      </p:sp>
      <p:sp>
        <p:nvSpPr>
          <p:cNvPr id="2626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27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看清源头</a:t>
            </a:r>
            <a:endParaRPr/>
          </a:p>
        </p:txBody>
      </p:sp>
      <p:sp>
        <p:nvSpPr>
          <p:cNvPr id="2628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亲手看原始表的乱码</a:t>
            </a:r>
            <a:endParaRPr/>
          </a:p>
        </p:txBody>
      </p:sp>
      <p:sp>
        <p:nvSpPr>
          <p:cNvPr id="2629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30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写三件套</a:t>
            </a:r>
            <a:endParaRPr/>
          </a:p>
        </p:txBody>
      </p:sp>
      <p:sp>
        <p:nvSpPr>
          <p:cNvPr id="2631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批次号、重试、对账</a:t>
            </a:r>
            <a:endParaRPr/>
          </a:p>
        </p:txBody>
      </p:sp>
      <p:sp>
        <p:nvSpPr>
          <p:cNvPr id="2632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33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跑对账</a:t>
            </a:r>
            <a:endParaRPr/>
          </a:p>
        </p:txBody>
      </p:sp>
      <p:sp>
        <p:nvSpPr>
          <p:cNvPr id="2634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连续三天条数金额对齐</a:t>
            </a:r>
            <a:endParaRPr/>
          </a:p>
        </p:txBody>
      </p:sp>
      <p:sp>
        <p:nvSpPr>
          <p:cNvPr id="2635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36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断点演练</a:t>
            </a:r>
            <a:endParaRPr/>
          </a:p>
        </p:txBody>
      </p:sp>
      <p:sp>
        <p:nvSpPr>
          <p:cNvPr id="2637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故意掐断一次看能不能补</a:t>
            </a:r>
            <a:endParaRPr/>
          </a:p>
        </p:txBody>
      </p:sp>
      <p:sp>
        <p:nvSpPr>
          <p:cNvPr id="263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3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4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64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45 / 60</a:t>
            </a:r>
            <a:endParaRPr/>
          </a:p>
        </p:txBody>
      </p:sp>
    </p:spTree>
  </p:cSld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264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数据治理：&lt;span style={{ color: '#FA4F24' }}&gt;最小可行治理，不是完美治理&lt;/span&gt;&#10;        &lt;/Text&gt;&#10;        &lt;Text style={{ fontSize: 20, color: '#8A8F99', marginTop: 8 }}&gt;&#10;            FDE 在现场推不动三年规划。他只能推「够这一轮用的那部分治理」，并且立刻见效&#10;        &lt;/Text&gt;&#10;    &lt;/Box&gt;&#10;    &lt;Box style={{ height: 1, background: '#E8E8E8' }} /&gt;&#10;&#10;    &lt;Box style={{ paddingTop: 20, paddingBottom: 14, height: 479, flexDirection: 'column', gap: 13 }}&gt;&#10;&#10;        {/* 上：最小可行治理 */}&#10;        &lt;Box style={{ flex: 1, flexDirection: 'row', gap: 11 }}&gt;&#10;            {[&#10;                { k: '只治用到的', c: '#FA4F24', d: '这一轮场景用到哪几张表、几个字段，就只治这几个。其余明确挂起。' },&#10;                { k: '当场定责', c: '#E0641E', d: '每个字段谁负责、谁审批，当场写名字。不设「待定」。' },&#10;                { k: '先可逆再完美', c: '#C43A17', d: '合并、删除类操作先做可逆版本，再谈标准。' },&#10;                { k: '当场兑现', c: '#A83310', d: '治完立刻在场景里用出来，让治理方看到收益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5, fontWeight: 'bold', color: x.c }}&gt;{x.k}&lt;/Text&gt;&#10;                    &lt;Text style={{ fontSize: 12.5, color: '#3A4050', lineHeight: 1.5, marginTop: 11, flex: 1 }}&gt;{x.d}&lt;/Text&gt;&#10;                &lt;/Box&gt;&#10;            ))}&#10;        &lt;/Box&gt;&#10;&#10;        {/* 中：与传统治理的差别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与传统治理项目的四个差别&lt;/Text&gt;&#10;                {[&#10;                    { k: '范围', v: '传统做全域，FDE 只做用得到的那一小块' },&#10;                    { k: '周期', v: '传统以年计，FDE 以周计' },&#10;                    { k: '证据', v: '传统交方案，FDE 交当场生效的规则' },&#10;                    { k: '兑现', v: '传统靠汇报，FDE 靠场景里真的用上了' },&#10;                ].map((x) =&gt; (&#10;                    &lt;Box key={x.k} style={{ flexDirection: 'row', gap: 12, marginTop: 11, alignItems: 'flex-start' }}&gt;&#10;                        &lt;Text style={{ fontSize: 12, fontWeight: 'bold', color: '#FBA15C', width: 46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为什么最小可行反而更容易成&lt;/Text&gt;&#10;                {[&#10;                    '治一小块，业务方看得见好处，才愿意配合下一轮',&#10;                    '范围小，决策链短，一个负责人就能拍板',&#10;                    '两周能出结果，治理从「长期工程」变成「已证明的事」',&#10;                ].map((x) =&gt; (&#10;                    &lt;Box key={x} style={{ flexDirection: 'row', gap: 10, marginTop: 11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    &lt;Text style={{ fontSize: 11.5, fontWeight: 'bold', color: '#C43A17', marginTop: 13, lineHeight: 1.4 }}&gt;&#10;                    治到能用，比治到完美更有说服力。&#10;                &lt;/Text&gt;&#10;            &lt;/Box&gt;&#10;        &lt;/Box&gt;&#10;&#10;        {/* 下：现场动作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现场四步&lt;/Text&gt;&#10;                &lt;Text style={{ fontSize: 12.5, fontWeight: 'bold', color: '#0F1423', marginTop: 5, lineHeight: 1.4 }}&gt;治完当场在场景里用出来&lt;/Text&gt;&#10;            &lt;/Box&gt;&#10;            {[&#10;                { k: '列清单', v: '只用到的字段列出来' },&#10;                { k: '定责人', v: '当场写名字，不留空' },&#10;                { k: '做可逆', v: '合并删除先留快照' },&#10;                { k: '当场验', v: '在场景里跑一遍看生效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6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数据治理：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最小可行治理，不是完美治理</a:t>
            </a:r>
            <a:endParaRPr/>
          </a:p>
        </p:txBody>
      </p:sp>
      <p:sp>
        <p:nvSpPr>
          <p:cNvPr id="26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在现场推不动三年规划。他只能推「够这一轮用的那部分治理」，并且立刻见效</a:t>
            </a:r>
            <a:endParaRPr/>
          </a:p>
        </p:txBody>
      </p:sp>
      <p:sp>
        <p:nvSpPr>
          <p:cNvPr id="26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47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48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49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只治用到的</a:t>
            </a:r>
            <a:endParaRPr/>
          </a:p>
        </p:txBody>
      </p:sp>
      <p:sp>
        <p:nvSpPr>
          <p:cNvPr id="2650" name="" descr="{&quot;isTemplate&quot;:true,&quot;type&quot;:&quot;text&quot;}"/>
          <p:cNvSpPr txBox="1"/>
          <p:nvPr/>
        </p:nvSpPr>
        <p:spPr>
          <a:xfrm rot="0" flipH="0" flipV="0">
            <a:off x="752475" y="1647825"/>
            <a:ext cx="2381250" cy="1533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这一轮场景用到哪几张表、几个字段，就只治这几个。其余明确挂起。</a:t>
            </a:r>
            <a:endParaRPr/>
          </a:p>
        </p:txBody>
      </p:sp>
      <p:sp>
        <p:nvSpPr>
          <p:cNvPr id="2651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52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653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41E"/>
                </a:solidFill>
                <a:latin typeface="Microsoft YaHei"/>
                <a:ea typeface="Microsoft YaHei"/>
              </a:rPr>
              <a:t>当场定责</a:t>
            </a:r>
            <a:endParaRPr/>
          </a:p>
        </p:txBody>
      </p:sp>
      <p:sp>
        <p:nvSpPr>
          <p:cNvPr id="2654" name="" descr="{&quot;isTemplate&quot;:true,&quot;type&quot;:&quot;text&quot;}"/>
          <p:cNvSpPr txBox="1"/>
          <p:nvPr/>
        </p:nvSpPr>
        <p:spPr>
          <a:xfrm rot="0" flipH="0" flipV="0">
            <a:off x="3524250" y="1647825"/>
            <a:ext cx="2381250" cy="1533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每个字段谁负责、谁审批，当场写名字。不设「待定」。</a:t>
            </a:r>
            <a:endParaRPr/>
          </a:p>
        </p:txBody>
      </p:sp>
      <p:sp>
        <p:nvSpPr>
          <p:cNvPr id="2655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56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657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先可逆再完美</a:t>
            </a:r>
            <a:endParaRPr/>
          </a:p>
        </p:txBody>
      </p:sp>
      <p:sp>
        <p:nvSpPr>
          <p:cNvPr id="2658" name="" descr="{&quot;isTemplate&quot;:true,&quot;type&quot;:&quot;text&quot;}"/>
          <p:cNvSpPr txBox="1"/>
          <p:nvPr/>
        </p:nvSpPr>
        <p:spPr>
          <a:xfrm rot="0" flipH="0" flipV="0">
            <a:off x="6296025" y="1647825"/>
            <a:ext cx="2371725" cy="1533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合并、删除类操作先做可逆版本，再谈标准。</a:t>
            </a:r>
            <a:endParaRPr/>
          </a:p>
        </p:txBody>
      </p:sp>
      <p:sp>
        <p:nvSpPr>
          <p:cNvPr id="2659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60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661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3310"/>
                </a:solidFill>
                <a:latin typeface="Microsoft YaHei"/>
                <a:ea typeface="Microsoft YaHei"/>
              </a:rPr>
              <a:t>当场兑现</a:t>
            </a:r>
            <a:endParaRPr/>
          </a:p>
        </p:txBody>
      </p:sp>
      <p:sp>
        <p:nvSpPr>
          <p:cNvPr id="2662" name="" descr="{&quot;isTemplate&quot;:true,&quot;type&quot;:&quot;text&quot;}"/>
          <p:cNvSpPr txBox="1"/>
          <p:nvPr/>
        </p:nvSpPr>
        <p:spPr>
          <a:xfrm rot="0" flipH="0" flipV="0">
            <a:off x="9058275" y="1647825"/>
            <a:ext cx="2381250" cy="1533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治完立刻在场景里用出来，让治理方看到收益。</a:t>
            </a:r>
            <a:endParaRPr/>
          </a:p>
        </p:txBody>
      </p:sp>
      <p:sp>
        <p:nvSpPr>
          <p:cNvPr id="2663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664" name="" descr="{&quot;isTemplate&quot;:true,&quot;type&quot;:&quot;text&quot;}"/>
          <p:cNvSpPr txBox="1"/>
          <p:nvPr/>
        </p:nvSpPr>
        <p:spPr>
          <a:xfrm rot="0" flipH="0" flipV="0">
            <a:off x="781050" y="35147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与传统治理项目的四个差别</a:t>
            </a:r>
            <a:endParaRPr/>
          </a:p>
        </p:txBody>
      </p:sp>
      <p:sp>
        <p:nvSpPr>
          <p:cNvPr id="2665" name="" descr="{&quot;isTemplate&quot;:true,&quot;type&quot;:&quot;text&quot;}"/>
          <p:cNvSpPr txBox="1"/>
          <p:nvPr/>
        </p:nvSpPr>
        <p:spPr>
          <a:xfrm rot="0" flipH="0" flipV="0">
            <a:off x="781050" y="3762375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范围</a:t>
            </a:r>
            <a:endParaRPr/>
          </a:p>
        </p:txBody>
      </p:sp>
      <p:sp>
        <p:nvSpPr>
          <p:cNvPr id="2666" name="" descr="{&quot;isTemplate&quot;:true,&quot;type&quot;:&quot;text&quot;}"/>
          <p:cNvSpPr txBox="1"/>
          <p:nvPr/>
        </p:nvSpPr>
        <p:spPr>
          <a:xfrm rot="0" flipH="0" flipV="0">
            <a:off x="1333500" y="3762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传统做全域，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只做用得到的那一小块</a:t>
            </a:r>
            <a:endParaRPr/>
          </a:p>
        </p:txBody>
      </p:sp>
      <p:sp>
        <p:nvSpPr>
          <p:cNvPr id="2667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周期</a:t>
            </a:r>
            <a:endParaRPr/>
          </a:p>
        </p:txBody>
      </p:sp>
      <p:sp>
        <p:nvSpPr>
          <p:cNvPr id="2668" name="" descr="{&quot;isTemplate&quot;:true,&quot;type&quot;:&quot;text&quot;}"/>
          <p:cNvSpPr txBox="1"/>
          <p:nvPr/>
        </p:nvSpPr>
        <p:spPr>
          <a:xfrm rot="0" flipH="0" flipV="0">
            <a:off x="1333500" y="40671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传统以年计，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以周计</a:t>
            </a:r>
            <a:endParaRPr/>
          </a:p>
        </p:txBody>
      </p:sp>
      <p:sp>
        <p:nvSpPr>
          <p:cNvPr id="2669" name="" descr="{&quot;isTemplate&quot;:true,&quot;type&quot;:&quot;text&quot;}"/>
          <p:cNvSpPr txBox="1"/>
          <p:nvPr/>
        </p:nvSpPr>
        <p:spPr>
          <a:xfrm rot="0" flipH="0" flipV="0">
            <a:off x="781050" y="4371975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2670" name="" descr="{&quot;isTemplate&quot;:true,&quot;type&quot;:&quot;text&quot;}"/>
          <p:cNvSpPr txBox="1"/>
          <p:nvPr/>
        </p:nvSpPr>
        <p:spPr>
          <a:xfrm rot="0" flipH="0" flipV="0">
            <a:off x="1333500" y="43719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传统交方案，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交当场生效的规则</a:t>
            </a:r>
            <a:endParaRPr/>
          </a:p>
        </p:txBody>
      </p:sp>
      <p:sp>
        <p:nvSpPr>
          <p:cNvPr id="2671" name="" descr="{&quot;isTemplate&quot;:true,&quot;type&quot;:&quot;text&quot;}"/>
          <p:cNvSpPr txBox="1"/>
          <p:nvPr/>
        </p:nvSpPr>
        <p:spPr>
          <a:xfrm rot="0" flipH="0" flipV="0">
            <a:off x="781050" y="4676775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兑现</a:t>
            </a:r>
            <a:endParaRPr/>
          </a:p>
        </p:txBody>
      </p:sp>
      <p:sp>
        <p:nvSpPr>
          <p:cNvPr id="2672" name="" descr="{&quot;isTemplate&quot;:true,&quot;type&quot;:&quot;text&quot;}"/>
          <p:cNvSpPr txBox="1"/>
          <p:nvPr/>
        </p:nvSpPr>
        <p:spPr>
          <a:xfrm rot="0" flipH="0" flipV="0">
            <a:off x="1333500" y="46767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传统靠汇报，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靠场景里真的用上了</a:t>
            </a:r>
            <a:endParaRPr/>
          </a:p>
        </p:txBody>
      </p:sp>
      <p:sp>
        <p:nvSpPr>
          <p:cNvPr id="2673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674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75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为什么最小可行反而更容易成</a:t>
            </a:r>
            <a:endParaRPr/>
          </a:p>
        </p:txBody>
      </p:sp>
      <p:sp>
        <p:nvSpPr>
          <p:cNvPr id="2676" name=""/>
          <p:cNvSpPr/>
          <p:nvPr/>
        </p:nvSpPr>
        <p:spPr>
          <a:xfrm rot="0" flipH="0" flipV="0">
            <a:off x="5381625" y="3829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77" name="" descr="{&quot;isTemplate&quot;:true,&quot;type&quot;:&quot;text&quot;}"/>
          <p:cNvSpPr txBox="1"/>
          <p:nvPr/>
        </p:nvSpPr>
        <p:spPr>
          <a:xfrm rot="0" flipH="0" flipV="0">
            <a:off x="5524500" y="37719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治一小块，业务方看得见好处，才愿意配合下一轮</a:t>
            </a:r>
            <a:endParaRPr/>
          </a:p>
        </p:txBody>
      </p:sp>
      <p:sp>
        <p:nvSpPr>
          <p:cNvPr id="2678" name=""/>
          <p:cNvSpPr/>
          <p:nvPr/>
        </p:nvSpPr>
        <p:spPr>
          <a:xfrm rot="0" flipH="0" flipV="0">
            <a:off x="5381625" y="4133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79" name="" descr="{&quot;isTemplate&quot;:true,&quot;type&quot;:&quot;text&quot;}"/>
          <p:cNvSpPr txBox="1"/>
          <p:nvPr/>
        </p:nvSpPr>
        <p:spPr>
          <a:xfrm rot="0" flipH="0" flipV="0">
            <a:off x="5524500" y="40767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范围小，决策链短，一个负责人就能拍板</a:t>
            </a:r>
            <a:endParaRPr/>
          </a:p>
        </p:txBody>
      </p:sp>
      <p:sp>
        <p:nvSpPr>
          <p:cNvPr id="2680" name=""/>
          <p:cNvSpPr/>
          <p:nvPr/>
        </p:nvSpPr>
        <p:spPr>
          <a:xfrm rot="0" flipH="0" flipV="0">
            <a:off x="5381625" y="4438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81" name="" descr="{&quot;isTemplate&quot;:true,&quot;type&quot;:&quot;text&quot;}"/>
          <p:cNvSpPr txBox="1"/>
          <p:nvPr/>
        </p:nvSpPr>
        <p:spPr>
          <a:xfrm rot="0" flipH="0" flipV="0">
            <a:off x="5524500" y="43815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两周能出结果，治理从「长期工程」变成「已证明的事」</a:t>
            </a:r>
            <a:endParaRPr/>
          </a:p>
        </p:txBody>
      </p:sp>
      <p:sp>
        <p:nvSpPr>
          <p:cNvPr id="2682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治到能用，比治到完美更有说服力。</a:t>
            </a:r>
            <a:endParaRPr/>
          </a:p>
        </p:txBody>
      </p:sp>
      <p:sp>
        <p:nvSpPr>
          <p:cNvPr id="2683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84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现场四步</a:t>
            </a:r>
            <a:endParaRPr/>
          </a:p>
        </p:txBody>
      </p:sp>
      <p:sp>
        <p:nvSpPr>
          <p:cNvPr id="2685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治完当场在场景里用出来</a:t>
            </a:r>
            <a:endParaRPr/>
          </a:p>
        </p:txBody>
      </p:sp>
      <p:sp>
        <p:nvSpPr>
          <p:cNvPr id="2686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87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列清单</a:t>
            </a:r>
            <a:endParaRPr/>
          </a:p>
        </p:txBody>
      </p:sp>
      <p:sp>
        <p:nvSpPr>
          <p:cNvPr id="2688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只用到的字段列出来</a:t>
            </a:r>
            <a:endParaRPr/>
          </a:p>
        </p:txBody>
      </p:sp>
      <p:sp>
        <p:nvSpPr>
          <p:cNvPr id="2689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90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定责人</a:t>
            </a:r>
            <a:endParaRPr/>
          </a:p>
        </p:txBody>
      </p:sp>
      <p:sp>
        <p:nvSpPr>
          <p:cNvPr id="2691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当场写名字，不留空</a:t>
            </a:r>
            <a:endParaRPr/>
          </a:p>
        </p:txBody>
      </p:sp>
      <p:sp>
        <p:nvSpPr>
          <p:cNvPr id="2692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93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做可逆</a:t>
            </a:r>
            <a:endParaRPr/>
          </a:p>
        </p:txBody>
      </p:sp>
      <p:sp>
        <p:nvSpPr>
          <p:cNvPr id="2694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合并删除先留快照</a:t>
            </a:r>
            <a:endParaRPr/>
          </a:p>
        </p:txBody>
      </p:sp>
      <p:sp>
        <p:nvSpPr>
          <p:cNvPr id="2695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96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当场验</a:t>
            </a:r>
            <a:endParaRPr/>
          </a:p>
        </p:txBody>
      </p:sp>
      <p:sp>
        <p:nvSpPr>
          <p:cNvPr id="2697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在场景里跑一遍看生效</a:t>
            </a:r>
            <a:endParaRPr/>
          </a:p>
        </p:txBody>
      </p:sp>
      <p:sp>
        <p:nvSpPr>
          <p:cNvPr id="269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9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0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70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46 / 60</a:t>
            </a:r>
            <a:endParaRPr/>
          </a:p>
        </p:txBody>
      </p:sp>
    </p:spTree>
  </p:cSld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270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主数据：&lt;span style={{ color: '#FA4F24' }}&gt;合并与拆分必须可逆&lt;/span&gt;&#10;        &lt;/Text&gt;&#10;        &lt;Text style={{ fontSize: 20, color: '#8A8F99', marginTop: 8 }}&gt;&#10;            主数据是唯一「动错了会静默出错」的地方。FDE 在现场做主数据，第一原则是留退路&#10;        &lt;/Text&gt;&#10;    &lt;/Box&gt;&#10;    &lt;Box style={{ height: 1, background: '#E8E8E8' }} /&gt;&#10;&#10;    &lt;Box style={{ paddingTop: 20, paddingBottom: 14, height: 479, flexDirection: 'column', gap: 13 }}&gt;&#10;&#10;        {/* 上：四个特有处理 */}&#10;        &lt;Box style={{ flex: 1, flexDirection: 'row', gap: 11 }}&gt;&#10;            {[&#10;                { k: '实体解析', c: '#FA4F24', d: '在真数据上判断哪些是同一个。规则、相似度、人工确认三样都要有。' },&#10;                { k: '合并可逆', c: '#E0641E', d: '合并前留快照，合并后写映射表，随时能拆回去。' },&#10;                { k: '拆分谨慎', c: '#C43A17', d: '拆分会断掉所有历史链接。拆之前必须问业务方。' },&#10;                { k: '金规则', c: '#A83310', d: '主键策略当场定死，改一次就是全量返工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5.5, fontWeight: 'bold', color: x.c }}&gt;{x.k}&lt;/Text&gt;&#10;                    &lt;Text style={{ fontSize: 12.5, color: '#3A4050', lineHeight: 1.5, marginTop: 11, flex: 1 }}&gt;{x.d}&lt;/Text&gt;&#10;                &lt;/Box&gt;&#10;            ))}&#10;        &lt;/Box&gt;&#10;&#10;        {/* 中：现场三步合并法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现场合并三步法&lt;/Text&gt;&#10;                {[&#10;                    { k: '一备', v: '合并前把两条原始记录整条快照存下来' },&#10;                    { k: '二映', v: '写映射表：旧主键 → 新主键，一条不少' },&#10;                    { k: '三认', v: '让业务方抽查十组，确认合对了' },&#10;                ].map((x) =&gt; (&#10;                    &lt;Box key={x.k} style={{ flexDirection: 'row', gap: 12, marginTop: 11, alignItems: 'flex-start' }}&gt;&#10;                        &lt;Text style={{ fontSize: 12, fontWeight: 'bold', color: '#FBA15C', width: 48 }}&gt;{x.k}&lt;/Text&gt;&#10;                        &lt;Text style={{ fontSize: 12.5, color: 'rgba(255,255,255,0.85)', lineHeight: 1.4, flex: 1 }}&gt;{x.v}&lt;/Text&gt;&#10;                    &lt;/Box&gt;&#10;                ))}&#10;                &lt;Box style={{ background: 'rgba(250,79,36,0.22)', borderRadius: 3, padding: '0 12px', marginTop: 12 }}&gt;&#10;                    &lt;Text style={{ fontSize: 12, color: '#FBA15C', lineHeight: 1.45 }}&gt;&#10;                        少做第一步，客户半年后想拆回来就拆不回了。&#10;                    &lt;/Text&gt;&#10;                &lt;/Box&gt;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AI 时代主数据的新含义&lt;/Text&gt;&#10;                {[&#10;                    { k: '主数据即事实', v: 'Agent 的推理必须基于唯一主数据，否则归因不了' },&#10;                    { k: '主数据即训练集', v: '错的主数据会持续污染每一次问答' },&#10;                    { k: '主数据即置信度', v: '合并越草率，整套 AI 越不可信' },&#10;                ].map((x) =&gt; (&#10;                    &lt;Box key={x.k} style={{ flexDirection: 'row', gap: 11, marginTop: 11, alignItems: 'flex-start' }}&gt;&#10;                        &lt;Text style={{ fontSize: 12, fontWeight: 'bold', color: '#C43A17', width: 92 }}&gt;{x.k}&lt;/Text&gt;&#10;                        &lt;Text style={{ fontSize: 12.5, color: '#3A4050', lineHeight: 1.4, flex: 1 }}&gt;{x.v}&lt;/Text&gt;&#10;                    &lt;/Box&gt;&#10;                ))}&#10;            &lt;/Box&gt;&#10;        &lt;/Box&gt;&#10;&#10;        {/* 下：现场动作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现场四步&lt;/Text&gt;&#10;                &lt;Text style={{ fontSize: 12.5, fontWeight: 'bold', color: '#0F1423', marginTop: 5, lineHeight: 1.4 }}&gt;动手之前先问业务方&lt;/Text&gt;&#10;            &lt;/Box&gt;&#10;            {[&#10;                { k: '定金规则', v: '当场定主键策略' },&#10;                { k: '跑解析', v: '先跑不合并，只出候选' },&#10;                { k: '人确认', v: '业务方抽查确认' },&#10;                { k: '留退路', v: '快照与映射表同时落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7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合并与拆分必须可逆</a:t>
            </a:r>
            <a:endParaRPr/>
          </a:p>
        </p:txBody>
      </p:sp>
      <p:sp>
        <p:nvSpPr>
          <p:cNvPr id="270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主数据是唯一「动错了会静默出错」的地方。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在现场做主数据，第一原则是留退路</a:t>
            </a:r>
            <a:endParaRPr/>
          </a:p>
        </p:txBody>
      </p:sp>
      <p:sp>
        <p:nvSpPr>
          <p:cNvPr id="270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07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08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09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实体解析</a:t>
            </a:r>
            <a:endParaRPr/>
          </a:p>
        </p:txBody>
      </p:sp>
      <p:sp>
        <p:nvSpPr>
          <p:cNvPr id="2710" name="" descr="{&quot;isTemplate&quot;:true,&quot;type&quot;:&quot;text&quot;}"/>
          <p:cNvSpPr txBox="1"/>
          <p:nvPr/>
        </p:nvSpPr>
        <p:spPr>
          <a:xfrm rot="0" flipH="0" flipV="0">
            <a:off x="752475" y="1657350"/>
            <a:ext cx="2381250" cy="1524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在真数据上判断哪些是同一个。规则、相似度、人工确认三样都要有。</a:t>
            </a:r>
            <a:endParaRPr/>
          </a:p>
        </p:txBody>
      </p:sp>
      <p:sp>
        <p:nvSpPr>
          <p:cNvPr id="2711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12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713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0641E"/>
                </a:solidFill>
                <a:latin typeface="Microsoft YaHei"/>
                <a:ea typeface="Microsoft YaHei"/>
              </a:rPr>
              <a:t>合并可逆</a:t>
            </a:r>
            <a:endParaRPr/>
          </a:p>
        </p:txBody>
      </p:sp>
      <p:sp>
        <p:nvSpPr>
          <p:cNvPr id="2714" name="" descr="{&quot;isTemplate&quot;:true,&quot;type&quot;:&quot;text&quot;}"/>
          <p:cNvSpPr txBox="1"/>
          <p:nvPr/>
        </p:nvSpPr>
        <p:spPr>
          <a:xfrm rot="0" flipH="0" flipV="0">
            <a:off x="3524250" y="1657350"/>
            <a:ext cx="2381250" cy="1524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合并前留快照，合并后写映射表，随时能拆回去。</a:t>
            </a:r>
            <a:endParaRPr/>
          </a:p>
        </p:txBody>
      </p:sp>
      <p:sp>
        <p:nvSpPr>
          <p:cNvPr id="2715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16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717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拆分谨慎</a:t>
            </a:r>
            <a:endParaRPr/>
          </a:p>
        </p:txBody>
      </p:sp>
      <p:sp>
        <p:nvSpPr>
          <p:cNvPr id="2718" name="" descr="{&quot;isTemplate&quot;:true,&quot;type&quot;:&quot;text&quot;}"/>
          <p:cNvSpPr txBox="1"/>
          <p:nvPr/>
        </p:nvSpPr>
        <p:spPr>
          <a:xfrm rot="0" flipH="0" flipV="0">
            <a:off x="6296025" y="1657350"/>
            <a:ext cx="2371725" cy="1524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拆分会断掉所有历史链接。拆之前必须问业务方。</a:t>
            </a:r>
            <a:endParaRPr/>
          </a:p>
        </p:txBody>
      </p:sp>
      <p:sp>
        <p:nvSpPr>
          <p:cNvPr id="2719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20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721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A83310"/>
                </a:solidFill>
                <a:latin typeface="Microsoft YaHei"/>
                <a:ea typeface="Microsoft YaHei"/>
              </a:rPr>
              <a:t>金规则</a:t>
            </a:r>
            <a:endParaRPr/>
          </a:p>
        </p:txBody>
      </p:sp>
      <p:sp>
        <p:nvSpPr>
          <p:cNvPr id="2722" name="" descr="{&quot;isTemplate&quot;:true,&quot;type&quot;:&quot;text&quot;}"/>
          <p:cNvSpPr txBox="1"/>
          <p:nvPr/>
        </p:nvSpPr>
        <p:spPr>
          <a:xfrm rot="0" flipH="0" flipV="0">
            <a:off x="9058275" y="1657350"/>
            <a:ext cx="2381250" cy="1524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主键策略当场定死，改一次就是全量返工。</a:t>
            </a:r>
            <a:endParaRPr/>
          </a:p>
        </p:txBody>
      </p:sp>
      <p:sp>
        <p:nvSpPr>
          <p:cNvPr id="2723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724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现场合并三步法</a:t>
            </a:r>
            <a:endParaRPr/>
          </a:p>
        </p:txBody>
      </p:sp>
      <p:sp>
        <p:nvSpPr>
          <p:cNvPr id="2725" name="" descr="{&quot;isTemplate&quot;:true,&quot;type&quot;:&quot;text&quot;}"/>
          <p:cNvSpPr txBox="1"/>
          <p:nvPr/>
        </p:nvSpPr>
        <p:spPr>
          <a:xfrm rot="0" flipH="0" flipV="0">
            <a:off x="781050" y="37528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一备</a:t>
            </a:r>
            <a:endParaRPr/>
          </a:p>
        </p:txBody>
      </p:sp>
      <p:sp>
        <p:nvSpPr>
          <p:cNvPr id="2726" name="" descr="{&quot;isTemplate&quot;:true,&quot;type&quot;:&quot;text&quot;}"/>
          <p:cNvSpPr txBox="1"/>
          <p:nvPr/>
        </p:nvSpPr>
        <p:spPr>
          <a:xfrm rot="0" flipH="0" flipV="0">
            <a:off x="1352550" y="375285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合并前把两条原始记录整条快照存下来</a:t>
            </a:r>
            <a:endParaRPr/>
          </a:p>
        </p:txBody>
      </p:sp>
      <p:sp>
        <p:nvSpPr>
          <p:cNvPr id="2727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二映</a:t>
            </a:r>
            <a:endParaRPr/>
          </a:p>
        </p:txBody>
      </p:sp>
      <p:sp>
        <p:nvSpPr>
          <p:cNvPr id="2728" name="" descr="{&quot;isTemplate&quot;:true,&quot;type&quot;:&quot;text&quot;}"/>
          <p:cNvSpPr txBox="1"/>
          <p:nvPr/>
        </p:nvSpPr>
        <p:spPr>
          <a:xfrm rot="0" flipH="0" flipV="0">
            <a:off x="1352550" y="405765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写映射表：旧主键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新主键，一条不少</a:t>
            </a:r>
            <a:endParaRPr/>
          </a:p>
        </p:txBody>
      </p:sp>
      <p:sp>
        <p:nvSpPr>
          <p:cNvPr id="2729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三认</a:t>
            </a:r>
            <a:endParaRPr/>
          </a:p>
        </p:txBody>
      </p:sp>
      <p:sp>
        <p:nvSpPr>
          <p:cNvPr id="2730" name="" descr="{&quot;isTemplate&quot;:true,&quot;type&quot;:&quot;text&quot;}"/>
          <p:cNvSpPr txBox="1"/>
          <p:nvPr/>
        </p:nvSpPr>
        <p:spPr>
          <a:xfrm rot="0" flipH="0" flipV="0">
            <a:off x="1352550" y="436245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让业务方抽查十组，确认合对了</a:t>
            </a:r>
            <a:endParaRPr/>
          </a:p>
        </p:txBody>
      </p:sp>
      <p:sp>
        <p:nvSpPr>
          <p:cNvPr id="2731" name=""/>
          <p:cNvSpPr/>
          <p:nvPr/>
        </p:nvSpPr>
        <p:spPr>
          <a:xfrm rot="0" flipH="0" flipV="0">
            <a:off x="781050" y="4676775"/>
            <a:ext cx="4114800" cy="200025"/>
          </a:xfrm>
          <a:prstGeom prst="roundRect">
            <a:avLst>
              <a:gd name="adj" fmla="val 14286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2732" name="" descr="{&quot;isTemplate&quot;:true,&quot;type&quot;:&quot;text&quot;}"/>
          <p:cNvSpPr txBox="1"/>
          <p:nvPr/>
        </p:nvSpPr>
        <p:spPr>
          <a:xfrm rot="0" flipH="0" flipV="0">
            <a:off x="895350" y="46767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少做第一步，客户半年后想拆回来就拆不回了。</a:t>
            </a:r>
            <a:endParaRPr/>
          </a:p>
        </p:txBody>
      </p:sp>
      <p:sp>
        <p:nvSpPr>
          <p:cNvPr id="2733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734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35" name="" descr="{&quot;isTemplate&quot;:true,&quot;type&quot;:&quot;text&quot;}"/>
          <p:cNvSpPr txBox="1"/>
          <p:nvPr/>
        </p:nvSpPr>
        <p:spPr>
          <a:xfrm rot="0" flipH="0" flipV="0">
            <a:off x="5381625" y="36480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时代主数据的新含义</a:t>
            </a:r>
            <a:endParaRPr/>
          </a:p>
        </p:txBody>
      </p:sp>
      <p:sp>
        <p:nvSpPr>
          <p:cNvPr id="2736" name="" descr="{&quot;isTemplate&quot;:true,&quot;type&quot;:&quot;text&quot;}"/>
          <p:cNvSpPr txBox="1"/>
          <p:nvPr/>
        </p:nvSpPr>
        <p:spPr>
          <a:xfrm rot="0" flipH="0" flipV="0">
            <a:off x="5381625" y="39243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主数据即事实</a:t>
            </a:r>
            <a:endParaRPr/>
          </a:p>
        </p:txBody>
      </p:sp>
      <p:sp>
        <p:nvSpPr>
          <p:cNvPr id="2737" name="" descr="{&quot;isTemplate&quot;:true,&quot;type&quot;:&quot;text&quot;}"/>
          <p:cNvSpPr txBox="1"/>
          <p:nvPr/>
        </p:nvSpPr>
        <p:spPr>
          <a:xfrm rot="0" flipH="0" flipV="0">
            <a:off x="6362700" y="39243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的推理必须基于唯一主数据，否则归因不了</a:t>
            </a:r>
            <a:endParaRPr/>
          </a:p>
        </p:txBody>
      </p:sp>
      <p:sp>
        <p:nvSpPr>
          <p:cNvPr id="2738" name="" descr="{&quot;isTemplate&quot;:true,&quot;type&quot;:&quot;text&quot;}"/>
          <p:cNvSpPr txBox="1"/>
          <p:nvPr/>
        </p:nvSpPr>
        <p:spPr>
          <a:xfrm rot="0" flipH="0" flipV="0">
            <a:off x="5381625" y="42291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主数据即训练集</a:t>
            </a:r>
            <a:endParaRPr/>
          </a:p>
        </p:txBody>
      </p:sp>
      <p:sp>
        <p:nvSpPr>
          <p:cNvPr id="2739" name="" descr="{&quot;isTemplate&quot;:true,&quot;type&quot;:&quot;text&quot;}"/>
          <p:cNvSpPr txBox="1"/>
          <p:nvPr/>
        </p:nvSpPr>
        <p:spPr>
          <a:xfrm rot="0" flipH="0" flipV="0">
            <a:off x="6362700" y="42291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错的主数据会持续污染每一次问答</a:t>
            </a:r>
            <a:endParaRPr/>
          </a:p>
        </p:txBody>
      </p:sp>
      <p:sp>
        <p:nvSpPr>
          <p:cNvPr id="2740" name="" descr="{&quot;isTemplate&quot;:true,&quot;type&quot;:&quot;text&quot;}"/>
          <p:cNvSpPr txBox="1"/>
          <p:nvPr/>
        </p:nvSpPr>
        <p:spPr>
          <a:xfrm rot="0" flipH="0" flipV="0">
            <a:off x="5381625" y="45339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主数据即置信度</a:t>
            </a:r>
            <a:endParaRPr/>
          </a:p>
        </p:txBody>
      </p:sp>
      <p:sp>
        <p:nvSpPr>
          <p:cNvPr id="2741" name="" descr="{&quot;isTemplate&quot;:true,&quot;type&quot;:&quot;text&quot;}"/>
          <p:cNvSpPr txBox="1"/>
          <p:nvPr/>
        </p:nvSpPr>
        <p:spPr>
          <a:xfrm rot="0" flipH="0" flipV="0">
            <a:off x="6362700" y="45339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合并越草率，整套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越不可信</a:t>
            </a:r>
            <a:endParaRPr/>
          </a:p>
        </p:txBody>
      </p:sp>
      <p:sp>
        <p:nvSpPr>
          <p:cNvPr id="2742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43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现场四步</a:t>
            </a:r>
            <a:endParaRPr/>
          </a:p>
        </p:txBody>
      </p:sp>
      <p:sp>
        <p:nvSpPr>
          <p:cNvPr id="2744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动手之前先问业务方</a:t>
            </a:r>
            <a:endParaRPr/>
          </a:p>
        </p:txBody>
      </p:sp>
      <p:sp>
        <p:nvSpPr>
          <p:cNvPr id="2745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46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定金规则</a:t>
            </a:r>
            <a:endParaRPr/>
          </a:p>
        </p:txBody>
      </p:sp>
      <p:sp>
        <p:nvSpPr>
          <p:cNvPr id="2747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当场定主键策略</a:t>
            </a:r>
            <a:endParaRPr/>
          </a:p>
        </p:txBody>
      </p:sp>
      <p:sp>
        <p:nvSpPr>
          <p:cNvPr id="2748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49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跑解析</a:t>
            </a:r>
            <a:endParaRPr/>
          </a:p>
        </p:txBody>
      </p:sp>
      <p:sp>
        <p:nvSpPr>
          <p:cNvPr id="2750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先跑不合并，只出候选</a:t>
            </a:r>
            <a:endParaRPr/>
          </a:p>
        </p:txBody>
      </p:sp>
      <p:sp>
        <p:nvSpPr>
          <p:cNvPr id="2751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52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人确认</a:t>
            </a:r>
            <a:endParaRPr/>
          </a:p>
        </p:txBody>
      </p:sp>
      <p:sp>
        <p:nvSpPr>
          <p:cNvPr id="2753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业务方抽查确认</a:t>
            </a:r>
            <a:endParaRPr/>
          </a:p>
        </p:txBody>
      </p:sp>
      <p:sp>
        <p:nvSpPr>
          <p:cNvPr id="2754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55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留退路</a:t>
            </a:r>
            <a:endParaRPr/>
          </a:p>
        </p:txBody>
      </p:sp>
      <p:sp>
        <p:nvSpPr>
          <p:cNvPr id="2756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快照与映射表同时落</a:t>
            </a:r>
            <a:endParaRPr/>
          </a:p>
        </p:txBody>
      </p:sp>
      <p:sp>
        <p:nvSpPr>
          <p:cNvPr id="275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5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5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76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47 / 60</a:t>
            </a:r>
            <a:endParaRPr/>
          </a:p>
        </p:txBody>
      </p:sp>
    </p:spTree>
  </p:cSld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276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指标：&lt;span style={{ color: '#FA4F24' }}&gt;口径是策略，不是配置&lt;/span&gt;&#10;        &lt;/Text&gt;&#10;        &lt;Text style={{ fontSize: 20, color: '#8A8F99', marginTop: 8 }}&gt;&#10;            指标体系失败，八成不是算错，是「谁说了算」没定。FDE 必须把这件事摆到桌面上裁定&#10;        &lt;/Text&gt;&#10;    &lt;/Box&gt;&#10;    &lt;Box style={{ height: 1, background: '#E8E8E8' }} /&gt;&#10;&#10;    &lt;Box style={{ paddingTop: 20, paddingBottom: 14, height: 479, flexDirection: 'column', gap: 13 }}&gt;&#10;&#10;        {/* 上：口径四要素 */}&#10;        &lt;Box style={{ flex: 1, flexDirection: 'row', gap: 11 }}&gt;&#10;            {[&#10;                { k: '定义', c: '#FA4F24', d: '这个指标要回答什么问题。不是「算什么」，是「回答什么」。' },&#10;                { k: '公式', c: '#E0641E', d: '分子分母、时间窗、过滤条件，逐条写死，不留给开发猜。' },&#10;                { k: '归属', c: '#C43A17', d: '这个口径谁签字、以后谁有权改。没有归属的口径必然漂移。' },&#10;                { k: '争议', c: '#A83310', d: '记录曾经有哪几种算法、各自理由，保留裁定痕迹。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6, fontWeight: 'bold', color: x.c }}&gt;{x.k}&lt;/Text&gt;&#10;                    &lt;Text style={{ fontSize: 12.5, color: '#3A4050', lineHeight: 1.5, marginTop: 11, flex: 1 }}&gt;{x.d}&lt;/Text&gt;&#10;                &lt;/Box&gt;&#10;            ))}&#10;        &lt;/Box&gt;&#10;&#10;        {/* 中：现场裁定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现场裁定四步&lt;/Text&gt;&#10;                {[&#10;                    { k: '摆出来', v: '把同一个指标的三套算法同时摆桌上' },&#10;                    { k: '问动机', v: '每套算法背后是谁在用、为什么这么算' },&#10;                    { k: '当场定', v: '由业务负责人签字，当场定一套' },&#10;                    { k: '留档', v: '另外几套写进争议记录，不删' },&#10;                ].map((x) =&gt; (&#10;                    &lt;Box key={x.k} style={{ flexDirection: 'row', gap: 12, marginTop: 10, alignItems: 'flex-start' }}&gt;&#10;                        &lt;Text style={{ fontSize: 12, fontWeight: 'bold', color: '#FBA15C', width: 58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口径不统一对 AI 的杀伤&lt;/Text&gt;&#10;                {[&#10;                    '同一个问题，AI 每隔一段时间给不同答案，信任归零',&#10;                    '无法归因：说不清是模型不行还是口径变了',&#10;                    '驾驶舱、问数、报表三套数字，会上吵到无法决策',&#10;                ].map((x) =&gt; (&#10;                    &lt;Box key={x} style={{ flexDirection: 'row', gap: 10, marginTop: 11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    &lt;Text style={{ fontSize: 11.5, fontWeight: 'bold', color: '#C43A17', marginTop: 13, lineHeight: 1.4 }}&gt;&#10;                    指标不是技术问题，是一次组织决策。&#10;                &lt;/Text&gt;&#10;            &lt;/Box&gt;&#10;        &lt;/Box&gt;&#10;&#10;        {/* 下：口径与本体、Agent 的关系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指标挂在哪&lt;/Text&gt;&#10;                &lt;Text style={{ fontSize: 12.5, fontWeight: 'bold', color: '#0F1423', marginTop: 5, lineHeight: 1.4 }}&gt;指标是本体的派生视图&lt;/Text&gt;&#10;            &lt;/Box&gt;&#10;            {[&#10;                { k: '依赖本体', v: '算指标只用本体里的对象与链接' },&#10;                { k: '不直连库', v: '指标不直接查原始表' },&#10;                { k: 'Agent 只读', v: '问数走指标层，不自行拼 SQL' },&#10;                { k: '变更走流程', v: '改口径要重新签字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8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6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口径是策略，不是配置</a:t>
            </a:r>
            <a:endParaRPr/>
          </a:p>
        </p:txBody>
      </p:sp>
      <p:sp>
        <p:nvSpPr>
          <p:cNvPr id="276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指标体系失败，八成不是算错，是「谁说了算」没定。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必须把这件事摆到桌面上裁定</a:t>
            </a:r>
            <a:endParaRPr/>
          </a:p>
        </p:txBody>
      </p:sp>
      <p:sp>
        <p:nvSpPr>
          <p:cNvPr id="276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766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67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68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定义</a:t>
            </a:r>
            <a:endParaRPr/>
          </a:p>
        </p:txBody>
      </p:sp>
      <p:sp>
        <p:nvSpPr>
          <p:cNvPr id="2769" name="" descr="{&quot;isTemplate&quot;:true,&quot;type&quot;:&quot;text&quot;}"/>
          <p:cNvSpPr txBox="1"/>
          <p:nvPr/>
        </p:nvSpPr>
        <p:spPr>
          <a:xfrm rot="0" flipH="0" flipV="0">
            <a:off x="752475" y="1666875"/>
            <a:ext cx="2381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这个指标要回答什么问题。不是「算什么」，是「回答什么」。</a:t>
            </a:r>
            <a:endParaRPr/>
          </a:p>
        </p:txBody>
      </p:sp>
      <p:sp>
        <p:nvSpPr>
          <p:cNvPr id="2770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71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772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641E"/>
                </a:solidFill>
                <a:latin typeface="Microsoft YaHei"/>
                <a:ea typeface="Microsoft YaHei"/>
              </a:rPr>
              <a:t>公式</a:t>
            </a:r>
            <a:endParaRPr/>
          </a:p>
        </p:txBody>
      </p:sp>
      <p:sp>
        <p:nvSpPr>
          <p:cNvPr id="2773" name="" descr="{&quot;isTemplate&quot;:true,&quot;type&quot;:&quot;text&quot;}"/>
          <p:cNvSpPr txBox="1"/>
          <p:nvPr/>
        </p:nvSpPr>
        <p:spPr>
          <a:xfrm rot="0" flipH="0" flipV="0">
            <a:off x="3524250" y="1666875"/>
            <a:ext cx="2381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分子分母、时间窗、过滤条件，逐条写死，不留给开发猜。</a:t>
            </a:r>
            <a:endParaRPr/>
          </a:p>
        </p:txBody>
      </p:sp>
      <p:sp>
        <p:nvSpPr>
          <p:cNvPr id="2774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75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776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归属</a:t>
            </a:r>
            <a:endParaRPr/>
          </a:p>
        </p:txBody>
      </p:sp>
      <p:sp>
        <p:nvSpPr>
          <p:cNvPr id="2777" name="" descr="{&quot;isTemplate&quot;:true,&quot;type&quot;:&quot;text&quot;}"/>
          <p:cNvSpPr txBox="1"/>
          <p:nvPr/>
        </p:nvSpPr>
        <p:spPr>
          <a:xfrm rot="0" flipH="0" flipV="0">
            <a:off x="6296025" y="1666875"/>
            <a:ext cx="2371725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这个口径谁签字、以后谁有权改。没有归属的口径必然漂移。</a:t>
            </a:r>
            <a:endParaRPr/>
          </a:p>
        </p:txBody>
      </p:sp>
      <p:sp>
        <p:nvSpPr>
          <p:cNvPr id="2778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779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780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3310"/>
                </a:solidFill>
                <a:latin typeface="Microsoft YaHei"/>
                <a:ea typeface="Microsoft YaHei"/>
              </a:rPr>
              <a:t>争议</a:t>
            </a:r>
            <a:endParaRPr/>
          </a:p>
        </p:txBody>
      </p:sp>
      <p:sp>
        <p:nvSpPr>
          <p:cNvPr id="2781" name="" descr="{&quot;isTemplate&quot;:true,&quot;type&quot;:&quot;text&quot;}"/>
          <p:cNvSpPr txBox="1"/>
          <p:nvPr/>
        </p:nvSpPr>
        <p:spPr>
          <a:xfrm rot="0" flipH="0" flipV="0">
            <a:off x="9058275" y="1666875"/>
            <a:ext cx="2381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记录曾经有哪几种算法、各自理由，保留裁定痕迹。</a:t>
            </a:r>
            <a:endParaRPr/>
          </a:p>
        </p:txBody>
      </p:sp>
      <p:sp>
        <p:nvSpPr>
          <p:cNvPr id="2782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783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现场裁定四步</a:t>
            </a:r>
            <a:endParaRPr/>
          </a:p>
        </p:txBody>
      </p:sp>
      <p:sp>
        <p:nvSpPr>
          <p:cNvPr id="2784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摆出来</a:t>
            </a:r>
            <a:endParaRPr/>
          </a:p>
        </p:txBody>
      </p:sp>
      <p:sp>
        <p:nvSpPr>
          <p:cNvPr id="2785" name="" descr="{&quot;isTemplate&quot;:true,&quot;type&quot;:&quot;text&quot;}"/>
          <p:cNvSpPr txBox="1"/>
          <p:nvPr/>
        </p:nvSpPr>
        <p:spPr>
          <a:xfrm rot="0" flipH="0" flipV="0">
            <a:off x="1447800" y="377190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把同一个指标的三套算法同时摆桌上</a:t>
            </a:r>
            <a:endParaRPr/>
          </a:p>
        </p:txBody>
      </p:sp>
      <p:sp>
        <p:nvSpPr>
          <p:cNvPr id="2786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问动机</a:t>
            </a:r>
            <a:endParaRPr/>
          </a:p>
        </p:txBody>
      </p:sp>
      <p:sp>
        <p:nvSpPr>
          <p:cNvPr id="2787" name="" descr="{&quot;isTemplate&quot;:true,&quot;type&quot;:&quot;text&quot;}"/>
          <p:cNvSpPr txBox="1"/>
          <p:nvPr/>
        </p:nvSpPr>
        <p:spPr>
          <a:xfrm rot="0" flipH="0" flipV="0">
            <a:off x="1447800" y="4067175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每套算法背后是谁在用、为什么这么算</a:t>
            </a:r>
            <a:endParaRPr/>
          </a:p>
        </p:txBody>
      </p:sp>
      <p:sp>
        <p:nvSpPr>
          <p:cNvPr id="2788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当场定</a:t>
            </a:r>
            <a:endParaRPr/>
          </a:p>
        </p:txBody>
      </p:sp>
      <p:sp>
        <p:nvSpPr>
          <p:cNvPr id="2789" name="" descr="{&quot;isTemplate&quot;:true,&quot;type&quot;:&quot;text&quot;}"/>
          <p:cNvSpPr txBox="1"/>
          <p:nvPr/>
        </p:nvSpPr>
        <p:spPr>
          <a:xfrm rot="0" flipH="0" flipV="0">
            <a:off x="1447800" y="436245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由业务负责人签字，当场定一套</a:t>
            </a:r>
            <a:endParaRPr/>
          </a:p>
        </p:txBody>
      </p:sp>
      <p:sp>
        <p:nvSpPr>
          <p:cNvPr id="2790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552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留档</a:t>
            </a:r>
            <a:endParaRPr/>
          </a:p>
        </p:txBody>
      </p:sp>
      <p:sp>
        <p:nvSpPr>
          <p:cNvPr id="2791" name="" descr="{&quot;isTemplate&quot;:true,&quot;type&quot;:&quot;text&quot;}"/>
          <p:cNvSpPr txBox="1"/>
          <p:nvPr/>
        </p:nvSpPr>
        <p:spPr>
          <a:xfrm rot="0" flipH="0" flipV="0">
            <a:off x="1447800" y="4657725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另外几套写进争议记录，不删</a:t>
            </a:r>
            <a:endParaRPr/>
          </a:p>
        </p:txBody>
      </p:sp>
      <p:sp>
        <p:nvSpPr>
          <p:cNvPr id="2792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793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94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口径不统一对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的杀伤</a:t>
            </a:r>
            <a:endParaRPr/>
          </a:p>
        </p:txBody>
      </p:sp>
      <p:sp>
        <p:nvSpPr>
          <p:cNvPr id="2795" name=""/>
          <p:cNvSpPr/>
          <p:nvPr/>
        </p:nvSpPr>
        <p:spPr>
          <a:xfrm rot="0" flipH="0" flipV="0">
            <a:off x="5381625" y="3829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96" name="" descr="{&quot;isTemplate&quot;:true,&quot;type&quot;:&quot;text&quot;}"/>
          <p:cNvSpPr txBox="1"/>
          <p:nvPr/>
        </p:nvSpPr>
        <p:spPr>
          <a:xfrm rot="0" flipH="0" flipV="0">
            <a:off x="5524500" y="37719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同一个问题，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每隔一段时间给不同答案，信任归零</a:t>
            </a:r>
            <a:endParaRPr/>
          </a:p>
        </p:txBody>
      </p:sp>
      <p:sp>
        <p:nvSpPr>
          <p:cNvPr id="2797" name=""/>
          <p:cNvSpPr/>
          <p:nvPr/>
        </p:nvSpPr>
        <p:spPr>
          <a:xfrm rot="0" flipH="0" flipV="0">
            <a:off x="5381625" y="4133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98" name="" descr="{&quot;isTemplate&quot;:true,&quot;type&quot;:&quot;text&quot;}"/>
          <p:cNvSpPr txBox="1"/>
          <p:nvPr/>
        </p:nvSpPr>
        <p:spPr>
          <a:xfrm rot="0" flipH="0" flipV="0">
            <a:off x="5524500" y="40767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无法归因：说不清是模型不行还是口径变了</a:t>
            </a:r>
            <a:endParaRPr/>
          </a:p>
        </p:txBody>
      </p:sp>
      <p:sp>
        <p:nvSpPr>
          <p:cNvPr id="2799" name=""/>
          <p:cNvSpPr/>
          <p:nvPr/>
        </p:nvSpPr>
        <p:spPr>
          <a:xfrm rot="0" flipH="0" flipV="0">
            <a:off x="5381625" y="4438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00" name="" descr="{&quot;isTemplate&quot;:true,&quot;type&quot;:&quot;text&quot;}"/>
          <p:cNvSpPr txBox="1"/>
          <p:nvPr/>
        </p:nvSpPr>
        <p:spPr>
          <a:xfrm rot="0" flipH="0" flipV="0">
            <a:off x="5524500" y="43815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驾驶舱、问数、报表三套数字，会上吵到无法决策</a:t>
            </a:r>
            <a:endParaRPr/>
          </a:p>
        </p:txBody>
      </p:sp>
      <p:sp>
        <p:nvSpPr>
          <p:cNvPr id="2801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指标不是技术问题，是一次组织决策。</a:t>
            </a:r>
            <a:endParaRPr/>
          </a:p>
        </p:txBody>
      </p:sp>
      <p:sp>
        <p:nvSpPr>
          <p:cNvPr id="2802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03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指标挂在哪</a:t>
            </a:r>
            <a:endParaRPr/>
          </a:p>
        </p:txBody>
      </p:sp>
      <p:sp>
        <p:nvSpPr>
          <p:cNvPr id="2804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指标是本体的派生视图</a:t>
            </a:r>
            <a:endParaRPr/>
          </a:p>
        </p:txBody>
      </p:sp>
      <p:sp>
        <p:nvSpPr>
          <p:cNvPr id="2805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06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依赖本体</a:t>
            </a:r>
            <a:endParaRPr/>
          </a:p>
        </p:txBody>
      </p:sp>
      <p:sp>
        <p:nvSpPr>
          <p:cNvPr id="2807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算指标只用本体里的对象与链接</a:t>
            </a:r>
            <a:endParaRPr/>
          </a:p>
        </p:txBody>
      </p:sp>
      <p:sp>
        <p:nvSpPr>
          <p:cNvPr id="2808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09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不直连库</a:t>
            </a:r>
            <a:endParaRPr/>
          </a:p>
        </p:txBody>
      </p:sp>
      <p:sp>
        <p:nvSpPr>
          <p:cNvPr id="2810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指标不直接查原始表</a:t>
            </a:r>
            <a:endParaRPr/>
          </a:p>
        </p:txBody>
      </p:sp>
      <p:sp>
        <p:nvSpPr>
          <p:cNvPr id="2811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12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2813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问数走指标层，不自行拼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SQL</a:t>
            </a:r>
            <a:endParaRPr/>
          </a:p>
        </p:txBody>
      </p:sp>
      <p:sp>
        <p:nvSpPr>
          <p:cNvPr id="2814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15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变更走流程</a:t>
            </a:r>
            <a:endParaRPr/>
          </a:p>
        </p:txBody>
      </p:sp>
      <p:sp>
        <p:nvSpPr>
          <p:cNvPr id="2816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改口径要重新签字</a:t>
            </a:r>
            <a:endParaRPr/>
          </a:p>
        </p:txBody>
      </p:sp>
      <p:sp>
        <p:nvSpPr>
          <p:cNvPr id="281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1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1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82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48 / 60</a:t>
            </a:r>
            <a:endParaRPr/>
          </a:p>
        </p:txBody>
      </p:sp>
    </p:spTree>
  </p:cSld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282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× 4A 架构：&lt;span style={{ color: '#FA4F24' }}&gt;横切四层，但落点各不相同&lt;/span&gt;&#10;        &lt;/Text&gt;&#10;        &lt;Text style={{ fontSize: 20, color: '#8A8F99', marginTop: 8 }}&gt;&#10;            FDE 不是一个只管某层的角色。它把四层横着串起来，让每一层的产出物在下一层立刻可用&#10;        &lt;/Text&gt;&#10;    &lt;/Box&gt;&#10;    &lt;Box style={{ height: 1, background: '#E8E8E8' }} /&gt;&#10;&#10;    &lt;Box style={{ paddingTop: 20, paddingBottom: 14, height: 479, flexDirection: 'column', gap: 13 }}&gt;&#10;&#10;        {/* 上：四层落点 */}&#10;        &lt;Box style={{ flex: 1, flexDirection: 'row', gap: 11 }}&gt;&#10;            {[&#10;                { k: '数据架构层', c: '#FA4F24', d: '管道与本体', focus: '落点：现场写管道、建本体、定主键', pit: '坑：不接真数据就建本体' },&#10;                { k: '应用架构层', c: '#E0641E', d: 'Agent 与场景', focus: '落点：把 Agent 装到真实作业动作上', pit: '坑：只做演示不做写回' },&#10;                { k: '数据治理层', c: '#C43A17', d: '口径与密级', focus: '落点：最小可行治理，当场裁定口径', pit: '坑：治理范围铺太大' },&#10;                { k: '业务架构层', c: '#A83310', d: '决策与流程', focus: '落点：追到签字的人，改到流程上', pit: '坑：只跟执行层对话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5, fontWeight: 'bold', color: x.c }}&gt;{x.k}&lt;/Text&gt;&#10;                    &lt;Text style={{ fontSize: 12, color: '#8A8F99', marginTop: 4 }}&gt;{x.d}&lt;/Text&gt;&#10;                    &lt;Text style={{ fontSize: 12, color: '#3A4050', lineHeight: 1.45, marginTop: 10, flex: 1 }}&gt;{x.focus}&lt;/Text&gt;&#10;                    &lt;Box style={{ background: '#FFF3EE', borderRadius: 3, padding: '0 10px', marginTop: 8 }}&gt;&#10;                        &lt;Text style={{ fontSize: 11, fontWeight: 'bold', color: '#C43A17', lineHeight: 1.35 }}&gt;{x.pit}&lt;/Text&gt;&#10;                    &lt;/Box&gt;&#10;                &lt;/Box&gt;&#10;            ))}&#10;        &lt;/Box&gt;&#10;&#10;        {/* 中：串联方式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四层怎么被串成一条&lt;/Text&gt;&#10;                {[&#10;                    { k: '业务先动', v: '从业务决策链倒推需要什么数据' },&#10;                    { k: '数据跟上', v: '管道 + 本体让数据可对齐' },&#10;                    { k: '治理兜底', v: '口径与密级当场定，不留后患' },&#10;                    { k: '应用收口', v: 'Agent 把结论送回业务动作里' },&#10;                ].map((x) =&gt; (&#10;                    &lt;Box key={x.k} style={{ flexDirection: 'row', gap: 12, marginTop: 10, alignItems: 'flex-start' }}&gt;&#10;                        &lt;Text style={{ fontSize: 12, fontWeight: 'bold', color: '#FBA15C', width: 76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与架构师的分工&lt;/Text&gt;&#10;                {[&#10;                    { k: '架构师定四层', v: '分层标准、边界、规范、成熟度模型' },&#10;                    { k: 'FDE 落四层', v: '在一个客户现场把四层串通一次' },&#10;                    { k: 'FDE 反哺', v: '串不通的地方，就是架构缺陷，要报上去' },&#10;                ].map((x) =&gt; (&#10;                    &lt;Box key={x.k} style={{ flexDirection: 'row', gap: 11, marginTop: 11, alignItems: 'flex-start' }}&gt;&#10;                        &lt;Text style={{ fontSize: 12, fontWeight: 'bold', color: '#C43A17', width: 84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FDE 是架构师的「现场压力测试」。&#10;                &lt;/Text&gt;&#10;            &lt;/Box&gt;&#10;        &lt;/Box&gt;&#10;&#10;        {/* 下：成熟度自评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四层成熟度自评&lt;/Text&gt;&#10;                &lt;Text style={{ fontSize: 12.5, fontWeight: 'bold', color: '#0F1423', marginTop: 5, lineHeight: 1.4 }}&gt;只问四句，不做打分表&lt;/Text&gt;&#10;            &lt;/Box&gt;&#10;            {[&#10;                { k: '管道通吗', v: '每天自动跑通且可重放吗' },&#10;                { k: '本体定吗', v: '对象与基数客户签字了吗' },&#10;                { k: '口径一吗', v: '同一指标只有一个算法吗' },&#10;                { k: '流程改吗', v: '有没有一个动作真的变了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49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× 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架构：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横切四层，但落点各不相同</a:t>
            </a:r>
            <a:endParaRPr/>
          </a:p>
        </p:txBody>
      </p:sp>
      <p:sp>
        <p:nvSpPr>
          <p:cNvPr id="282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不是一个只管某层的角色。它把四层横着串起来，让每一层的产出物在下一层立刻可用</a:t>
            </a:r>
            <a:endParaRPr/>
          </a:p>
        </p:txBody>
      </p:sp>
      <p:sp>
        <p:nvSpPr>
          <p:cNvPr id="282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26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27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28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数据架构层</a:t>
            </a:r>
            <a:endParaRPr/>
          </a:p>
        </p:txBody>
      </p:sp>
      <p:sp>
        <p:nvSpPr>
          <p:cNvPr id="2829" name="" descr="{&quot;isTemplate&quot;:true,&quot;type&quot;:&quot;text&quot;}"/>
          <p:cNvSpPr txBox="1"/>
          <p:nvPr/>
        </p:nvSpPr>
        <p:spPr>
          <a:xfrm rot="0" flipH="0" flipV="0">
            <a:off x="752475" y="15811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管道与本体</a:t>
            </a:r>
            <a:endParaRPr/>
          </a:p>
        </p:txBody>
      </p:sp>
      <p:sp>
        <p:nvSpPr>
          <p:cNvPr id="2830" name="" descr="{&quot;isTemplate&quot;:true,&quot;type&quot;:&quot;text&quot;}"/>
          <p:cNvSpPr txBox="1"/>
          <p:nvPr/>
        </p:nvSpPr>
        <p:spPr>
          <a:xfrm rot="0" flipH="0" flipV="0">
            <a:off x="752475" y="1819275"/>
            <a:ext cx="2381250" cy="1114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落点：现场写管道、建本体、定主键</a:t>
            </a:r>
            <a:endParaRPr/>
          </a:p>
        </p:txBody>
      </p:sp>
      <p:sp>
        <p:nvSpPr>
          <p:cNvPr id="2831" name=""/>
          <p:cNvSpPr/>
          <p:nvPr/>
        </p:nvSpPr>
        <p:spPr>
          <a:xfrm rot="0" flipH="0" flipV="0">
            <a:off x="752475" y="3009900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832" name="" descr="{&quot;isTemplate&quot;:true,&quot;type&quot;:&quot;text&quot;}"/>
          <p:cNvSpPr txBox="1"/>
          <p:nvPr/>
        </p:nvSpPr>
        <p:spPr>
          <a:xfrm rot="0" flipH="0" flipV="0">
            <a:off x="847725" y="300990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坑：不接真数据就建本体</a:t>
            </a:r>
            <a:endParaRPr/>
          </a:p>
        </p:txBody>
      </p:sp>
      <p:sp>
        <p:nvSpPr>
          <p:cNvPr id="2833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34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2835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41E"/>
                </a:solidFill>
                <a:latin typeface="Microsoft YaHei"/>
                <a:ea typeface="Microsoft YaHei"/>
              </a:rPr>
              <a:t>应用架构层</a:t>
            </a:r>
            <a:endParaRPr/>
          </a:p>
        </p:txBody>
      </p:sp>
      <p:sp>
        <p:nvSpPr>
          <p:cNvPr id="2836" name="" descr="{&quot;isTemplate&quot;:true,&quot;type&quot;:&quot;text&quot;}"/>
          <p:cNvSpPr txBox="1"/>
          <p:nvPr/>
        </p:nvSpPr>
        <p:spPr>
          <a:xfrm rot="0" flipH="0" flipV="0">
            <a:off x="3524250" y="15811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与场景</a:t>
            </a:r>
            <a:endParaRPr/>
          </a:p>
        </p:txBody>
      </p:sp>
      <p:sp>
        <p:nvSpPr>
          <p:cNvPr id="2837" name="" descr="{&quot;isTemplate&quot;:true,&quot;type&quot;:&quot;text&quot;}"/>
          <p:cNvSpPr txBox="1"/>
          <p:nvPr/>
        </p:nvSpPr>
        <p:spPr>
          <a:xfrm rot="0" flipH="0" flipV="0">
            <a:off x="3524250" y="1819275"/>
            <a:ext cx="2381250" cy="1114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落点：把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装到真实作业动作上</a:t>
            </a:r>
            <a:endParaRPr/>
          </a:p>
        </p:txBody>
      </p:sp>
      <p:sp>
        <p:nvSpPr>
          <p:cNvPr id="2838" name=""/>
          <p:cNvSpPr/>
          <p:nvPr/>
        </p:nvSpPr>
        <p:spPr>
          <a:xfrm rot="0" flipH="0" flipV="0">
            <a:off x="3524250" y="3009900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839" name="" descr="{&quot;isTemplate&quot;:true,&quot;type&quot;:&quot;text&quot;}"/>
          <p:cNvSpPr txBox="1"/>
          <p:nvPr/>
        </p:nvSpPr>
        <p:spPr>
          <a:xfrm rot="0" flipH="0" flipV="0">
            <a:off x="3619500" y="300990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坑：只做演示不做写回</a:t>
            </a:r>
            <a:endParaRPr/>
          </a:p>
        </p:txBody>
      </p:sp>
      <p:sp>
        <p:nvSpPr>
          <p:cNvPr id="2840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41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842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数据治理层</a:t>
            </a:r>
            <a:endParaRPr/>
          </a:p>
        </p:txBody>
      </p:sp>
      <p:sp>
        <p:nvSpPr>
          <p:cNvPr id="2843" name="" descr="{&quot;isTemplate&quot;:true,&quot;type&quot;:&quot;text&quot;}"/>
          <p:cNvSpPr txBox="1"/>
          <p:nvPr/>
        </p:nvSpPr>
        <p:spPr>
          <a:xfrm rot="0" flipH="0" flipV="0">
            <a:off x="6296025" y="1581150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口径与密级</a:t>
            </a:r>
            <a:endParaRPr/>
          </a:p>
        </p:txBody>
      </p:sp>
      <p:sp>
        <p:nvSpPr>
          <p:cNvPr id="2844" name="" descr="{&quot;isTemplate&quot;:true,&quot;type&quot;:&quot;text&quot;}"/>
          <p:cNvSpPr txBox="1"/>
          <p:nvPr/>
        </p:nvSpPr>
        <p:spPr>
          <a:xfrm rot="0" flipH="0" flipV="0">
            <a:off x="6296025" y="1819275"/>
            <a:ext cx="2371725" cy="1114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落点：最小可行治理，当场裁定口径</a:t>
            </a:r>
            <a:endParaRPr/>
          </a:p>
        </p:txBody>
      </p:sp>
      <p:sp>
        <p:nvSpPr>
          <p:cNvPr id="2845" name=""/>
          <p:cNvSpPr/>
          <p:nvPr/>
        </p:nvSpPr>
        <p:spPr>
          <a:xfrm rot="0" flipH="0" flipV="0">
            <a:off x="6296025" y="3009900"/>
            <a:ext cx="2371725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846" name="" descr="{&quot;isTemplate&quot;:true,&quot;type&quot;:&quot;text&quot;}"/>
          <p:cNvSpPr txBox="1"/>
          <p:nvPr/>
        </p:nvSpPr>
        <p:spPr>
          <a:xfrm rot="0" flipH="0" flipV="0">
            <a:off x="6391275" y="3009900"/>
            <a:ext cx="21812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坑：治理范围铺太大</a:t>
            </a:r>
            <a:endParaRPr/>
          </a:p>
        </p:txBody>
      </p:sp>
      <p:sp>
        <p:nvSpPr>
          <p:cNvPr id="2847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48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2849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3310"/>
                </a:solidFill>
                <a:latin typeface="Microsoft YaHei"/>
                <a:ea typeface="Microsoft YaHei"/>
              </a:rPr>
              <a:t>业务架构层</a:t>
            </a:r>
            <a:endParaRPr/>
          </a:p>
        </p:txBody>
      </p:sp>
      <p:sp>
        <p:nvSpPr>
          <p:cNvPr id="2850" name="" descr="{&quot;isTemplate&quot;:true,&quot;type&quot;:&quot;text&quot;}"/>
          <p:cNvSpPr txBox="1"/>
          <p:nvPr/>
        </p:nvSpPr>
        <p:spPr>
          <a:xfrm rot="0" flipH="0" flipV="0">
            <a:off x="9058275" y="15811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决策与流程</a:t>
            </a:r>
            <a:endParaRPr/>
          </a:p>
        </p:txBody>
      </p:sp>
      <p:sp>
        <p:nvSpPr>
          <p:cNvPr id="2851" name="" descr="{&quot;isTemplate&quot;:true,&quot;type&quot;:&quot;text&quot;}"/>
          <p:cNvSpPr txBox="1"/>
          <p:nvPr/>
        </p:nvSpPr>
        <p:spPr>
          <a:xfrm rot="0" flipH="0" flipV="0">
            <a:off x="9058275" y="1819275"/>
            <a:ext cx="2381250" cy="11144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落点：追到签字的人，改到流程上</a:t>
            </a:r>
            <a:endParaRPr/>
          </a:p>
        </p:txBody>
      </p:sp>
      <p:sp>
        <p:nvSpPr>
          <p:cNvPr id="2852" name=""/>
          <p:cNvSpPr/>
          <p:nvPr/>
        </p:nvSpPr>
        <p:spPr>
          <a:xfrm rot="0" flipH="0" flipV="0">
            <a:off x="9058275" y="3009900"/>
            <a:ext cx="2381250" cy="171450"/>
          </a:xfrm>
          <a:prstGeom prst="roundRect">
            <a:avLst>
              <a:gd name="adj" fmla="val 16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853" name="" descr="{&quot;isTemplate&quot;:true,&quot;type&quot;:&quot;text&quot;}"/>
          <p:cNvSpPr txBox="1"/>
          <p:nvPr/>
        </p:nvSpPr>
        <p:spPr>
          <a:xfrm rot="0" flipH="0" flipV="0">
            <a:off x="9153525" y="300990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坑：只跟执行层对话</a:t>
            </a:r>
            <a:endParaRPr/>
          </a:p>
        </p:txBody>
      </p:sp>
      <p:sp>
        <p:nvSpPr>
          <p:cNvPr id="2854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55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四层怎么被串成一条</a:t>
            </a:r>
            <a:endParaRPr/>
          </a:p>
        </p:txBody>
      </p:sp>
      <p:sp>
        <p:nvSpPr>
          <p:cNvPr id="2856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业务先动</a:t>
            </a:r>
            <a:endParaRPr/>
          </a:p>
        </p:txBody>
      </p:sp>
      <p:sp>
        <p:nvSpPr>
          <p:cNvPr id="2857" name="" descr="{&quot;isTemplate&quot;:true,&quot;type&quot;:&quot;text&quot;}"/>
          <p:cNvSpPr txBox="1"/>
          <p:nvPr/>
        </p:nvSpPr>
        <p:spPr>
          <a:xfrm rot="0" flipH="0" flipV="0">
            <a:off x="1619250" y="377190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从业务决策链倒推需要什么数据</a:t>
            </a:r>
            <a:endParaRPr/>
          </a:p>
        </p:txBody>
      </p:sp>
      <p:sp>
        <p:nvSpPr>
          <p:cNvPr id="2858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数据跟上</a:t>
            </a:r>
            <a:endParaRPr/>
          </a:p>
        </p:txBody>
      </p:sp>
      <p:sp>
        <p:nvSpPr>
          <p:cNvPr id="2859" name="" descr="{&quot;isTemplate&quot;:true,&quot;type&quot;:&quot;text&quot;}"/>
          <p:cNvSpPr txBox="1"/>
          <p:nvPr/>
        </p:nvSpPr>
        <p:spPr>
          <a:xfrm rot="0" flipH="0" flipV="0">
            <a:off x="1619250" y="406717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管道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本体让数据可对齐</a:t>
            </a:r>
            <a:endParaRPr/>
          </a:p>
        </p:txBody>
      </p:sp>
      <p:sp>
        <p:nvSpPr>
          <p:cNvPr id="2860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治理兜底</a:t>
            </a:r>
            <a:endParaRPr/>
          </a:p>
        </p:txBody>
      </p:sp>
      <p:sp>
        <p:nvSpPr>
          <p:cNvPr id="2861" name="" descr="{&quot;isTemplate&quot;:true,&quot;type&quot;:&quot;text&quot;}"/>
          <p:cNvSpPr txBox="1"/>
          <p:nvPr/>
        </p:nvSpPr>
        <p:spPr>
          <a:xfrm rot="0" flipH="0" flipV="0">
            <a:off x="1619250" y="436245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口径与密级当场定，不留后患</a:t>
            </a:r>
            <a:endParaRPr/>
          </a:p>
        </p:txBody>
      </p:sp>
      <p:sp>
        <p:nvSpPr>
          <p:cNvPr id="2862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应用收口</a:t>
            </a:r>
            <a:endParaRPr/>
          </a:p>
        </p:txBody>
      </p:sp>
      <p:sp>
        <p:nvSpPr>
          <p:cNvPr id="2863" name="" descr="{&quot;isTemplate&quot;:true,&quot;type&quot;:&quot;text&quot;}"/>
          <p:cNvSpPr txBox="1"/>
          <p:nvPr/>
        </p:nvSpPr>
        <p:spPr>
          <a:xfrm rot="0" flipH="0" flipV="0">
            <a:off x="1619250" y="465772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把结论送回业务动作里</a:t>
            </a:r>
            <a:endParaRPr/>
          </a:p>
        </p:txBody>
      </p:sp>
      <p:sp>
        <p:nvSpPr>
          <p:cNvPr id="2864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865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66" name="" descr="{&quot;isTemplate&quot;:true,&quot;type&quot;:&quot;text&quot;}"/>
          <p:cNvSpPr txBox="1"/>
          <p:nvPr/>
        </p:nvSpPr>
        <p:spPr>
          <a:xfrm rot="0" flipH="0" flipV="0">
            <a:off x="5381625" y="34956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与架构师的分工</a:t>
            </a:r>
            <a:endParaRPr/>
          </a:p>
        </p:txBody>
      </p:sp>
      <p:sp>
        <p:nvSpPr>
          <p:cNvPr id="2867" name="" descr="{&quot;isTemplate&quot;:true,&quot;type&quot;:&quot;text&quot;}"/>
          <p:cNvSpPr txBox="1"/>
          <p:nvPr/>
        </p:nvSpPr>
        <p:spPr>
          <a:xfrm rot="0" flipH="0" flipV="0">
            <a:off x="5381625" y="37719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架构师定四层</a:t>
            </a:r>
            <a:endParaRPr/>
          </a:p>
        </p:txBody>
      </p:sp>
      <p:sp>
        <p:nvSpPr>
          <p:cNvPr id="2868" name="" descr="{&quot;isTemplate&quot;:true,&quot;type&quot;:&quot;text&quot;}"/>
          <p:cNvSpPr txBox="1"/>
          <p:nvPr/>
        </p:nvSpPr>
        <p:spPr>
          <a:xfrm rot="0" flipH="0" flipV="0">
            <a:off x="6286500" y="377190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分层标准、边界、规范、成熟度模型</a:t>
            </a:r>
            <a:endParaRPr/>
          </a:p>
        </p:txBody>
      </p:sp>
      <p:sp>
        <p:nvSpPr>
          <p:cNvPr id="2869" name="" descr="{&quot;isTemplate&quot;:true,&quot;type&quot;:&quot;text&quot;}"/>
          <p:cNvSpPr txBox="1"/>
          <p:nvPr/>
        </p:nvSpPr>
        <p:spPr>
          <a:xfrm rot="0" flipH="0" flipV="0">
            <a:off x="5381625" y="40767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落四层</a:t>
            </a:r>
            <a:endParaRPr/>
          </a:p>
        </p:txBody>
      </p:sp>
      <p:sp>
        <p:nvSpPr>
          <p:cNvPr id="2870" name="" descr="{&quot;isTemplate&quot;:true,&quot;type&quot;:&quot;text&quot;}"/>
          <p:cNvSpPr txBox="1"/>
          <p:nvPr/>
        </p:nvSpPr>
        <p:spPr>
          <a:xfrm rot="0" flipH="0" flipV="0">
            <a:off x="6286500" y="407670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在一个客户现场把四层串通一次</a:t>
            </a:r>
            <a:endParaRPr/>
          </a:p>
        </p:txBody>
      </p:sp>
      <p:sp>
        <p:nvSpPr>
          <p:cNvPr id="2871" name="" descr="{&quot;isTemplate&quot;:true,&quot;type&quot;:&quot;text&quot;}"/>
          <p:cNvSpPr txBox="1"/>
          <p:nvPr/>
        </p:nvSpPr>
        <p:spPr>
          <a:xfrm rot="0" flipH="0" flipV="0">
            <a:off x="5381625" y="43815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反哺</a:t>
            </a:r>
            <a:endParaRPr/>
          </a:p>
        </p:txBody>
      </p:sp>
      <p:sp>
        <p:nvSpPr>
          <p:cNvPr id="2872" name="" descr="{&quot;isTemplate&quot;:true,&quot;type&quot;:&quot;text&quot;}"/>
          <p:cNvSpPr txBox="1"/>
          <p:nvPr/>
        </p:nvSpPr>
        <p:spPr>
          <a:xfrm rot="0" flipH="0" flipV="0">
            <a:off x="6286500" y="4381500"/>
            <a:ext cx="5133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串不通的地方，就是架构缺陷，要报上去</a:t>
            </a:r>
            <a:endParaRPr/>
          </a:p>
        </p:txBody>
      </p:sp>
      <p:sp>
        <p:nvSpPr>
          <p:cNvPr id="2873" name="" descr="{&quot;isTemplate&quot;:true,&quot;type&quot;:&quot;text&quot;}"/>
          <p:cNvSpPr txBox="1"/>
          <p:nvPr/>
        </p:nvSpPr>
        <p:spPr>
          <a:xfrm rot="0" flipH="0" flipV="0">
            <a:off x="5381625" y="47053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是架构师的「现场压力测试」。</a:t>
            </a:r>
            <a:endParaRPr/>
          </a:p>
        </p:txBody>
      </p:sp>
      <p:sp>
        <p:nvSpPr>
          <p:cNvPr id="2874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75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四层成熟度自评</a:t>
            </a:r>
            <a:endParaRPr/>
          </a:p>
        </p:txBody>
      </p:sp>
      <p:sp>
        <p:nvSpPr>
          <p:cNvPr id="2876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只问四句，不做打分表</a:t>
            </a:r>
            <a:endParaRPr/>
          </a:p>
        </p:txBody>
      </p:sp>
      <p:sp>
        <p:nvSpPr>
          <p:cNvPr id="2877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78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管道通吗</a:t>
            </a:r>
            <a:endParaRPr/>
          </a:p>
        </p:txBody>
      </p:sp>
      <p:sp>
        <p:nvSpPr>
          <p:cNvPr id="2879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每天自动跑通且可重放吗</a:t>
            </a:r>
            <a:endParaRPr/>
          </a:p>
        </p:txBody>
      </p:sp>
      <p:sp>
        <p:nvSpPr>
          <p:cNvPr id="2880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81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本体定吗</a:t>
            </a:r>
            <a:endParaRPr/>
          </a:p>
        </p:txBody>
      </p:sp>
      <p:sp>
        <p:nvSpPr>
          <p:cNvPr id="2882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对象与基数客户签字了吗</a:t>
            </a:r>
            <a:endParaRPr/>
          </a:p>
        </p:txBody>
      </p:sp>
      <p:sp>
        <p:nvSpPr>
          <p:cNvPr id="2883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84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口径一吗</a:t>
            </a:r>
            <a:endParaRPr/>
          </a:p>
        </p:txBody>
      </p:sp>
      <p:sp>
        <p:nvSpPr>
          <p:cNvPr id="2885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同一指标只有一个算法吗</a:t>
            </a:r>
            <a:endParaRPr/>
          </a:p>
        </p:txBody>
      </p:sp>
      <p:sp>
        <p:nvSpPr>
          <p:cNvPr id="2886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87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流程改吗</a:t>
            </a:r>
            <a:endParaRPr/>
          </a:p>
        </p:txBody>
      </p:sp>
      <p:sp>
        <p:nvSpPr>
          <p:cNvPr id="2888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有没有一个动作真的变了</a:t>
            </a:r>
            <a:endParaRPr/>
          </a:p>
        </p:txBody>
      </p:sp>
      <p:sp>
        <p:nvSpPr>
          <p:cNvPr id="288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90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91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892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49 / 60</a:t>
            </a:r>
            <a:endParaRPr/>
          </a:p>
        </p:txBody>
      </p:sp>
    </p:spTree>
  </p:cSld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2914" name="" descr="&lt;Slide style={{ width: 1280, height: 720, background: '#FFFFFF', padding: '24px 64px 0' }}&gt;&#13;&#10;    &lt;Box style={{ height: 96, flexDirection: 'column', justifyContent: 'flex-start' }}&gt;&#13;&#10;        &lt;Text style={{ fontSize: 32, fontWeight: 'bold', color: '#0F1423' }}&gt;&#13;&#10;            八大领域可复用度矩阵：&lt;span style={{ color: '#FA4F24' }}&gt;哪些能力能变成平台&lt;/span&gt;&#13;&#10;        &lt;/Text&gt;&#13;&#10;        &lt;Text style={{ fontSize: 20, color: '#8A8F99', marginTop: 8 }}&gt;&#13;&#10;            这一页决定公司是在「积累能力」还是在「重复劳动」。矩阵必须逐项判，不许打太极&#13;&#10;        &lt;/Text&gt;&#13;&#10;    &lt;/Box&gt;&#13;&#10;    &lt;Box style={{ height: 1, background: '#E8E8E8' }} /&gt;&#13;&#10;&#13;&#10;    &lt;Box style={{ paddingTop: 20, paddingBottom: 14, height: 479, flexDirection: 'column', gap: 13 }}&gt;&#13;&#10;&#13;&#10;        {/* 上：八行矩阵 */}&#13;&#10;        &lt;Box style={{ flex: 1, flexDirection: 'column', gap: 5 }}&gt;&#13;&#10;            {[&#13;&#10;                { d: '管道处理', g: 'A', r: '幂等重试对账模板', w: '各网闸差异大' },&#13;&#10;                { d: 'Ontology', g: 'B', r: '行业骨架（批次/设备/缺陷）', w: '粒度需现场试错' },&#13;&#10;                { d: '主数据', g: 'B', r: '合并拆分可逆流程', w: '实体规则强行业相关' },&#13;&#10;                { d: '指标', g: 'B', r: '口径裁定流程与模板', w: '指标定义完全本地化' },&#13;&#10;                { d: '知识库', g: 'A', r: '切片工艺与反查机制', w: '密级规则要本地配' },&#13;&#10;                { d: '数据治理', g: 'A', r: '最小可行治理清单', w: '责任划分需现场定' },&#13;&#10;                { d: 'Agent', g: 'B', r: '工具白名单与出口策略', w: '工具集强场景相关' },&#13;&#10;                { d: '4A 架构', g: 'C', r: '四层串接顺序', w: '本质是一次性方法论' },&#13;&#10;            ].map((x) =&gt; (&#13;&#10;                &lt;Box key={x.d} style={{ flex: 1, flexDirection: 'row', gap: 10, alignItems: 'stretch' }}&gt;&#13;&#10;                    &lt;Box style={{ width: 124, background: '#F7F7F8', borderRadius: 4, padding: '0 12px', flexDirection: 'row', alignItems: 'center', justifyContent: 'space-between' }}&gt;&#13;&#10;                        &lt;Text style={{ fontSize: 12.5, fontWeight: 'bold', color: '#0F1423' }}&gt;{x.d}&lt;/Text&gt;&#13;&#10;                        &lt;Box style={{ width: 21, height: 21, borderRadius: 3, background: x.g === 'A' ? '#FA4F24' : x.g === 'B' ? '#E0641E' : '#C43A17', alignItems: 'center', justifyContent: 'center' }}&gt;&#13;&#10;                            &lt;Text style={{ fontSize: 11, fontWeight: 'bold', color: '#FFFFFF' }}&gt;{x.g}&lt;/Text&gt;&#13;&#10;                        &lt;/Box&gt;&#13;&#10;                    &lt;/Box&gt;&#13;&#10;                    &lt;Box style={{ flex: 1, background: '#F7F7F8', borderRadius: 4, padding: '0 13px', flexDirection: 'row', alignItems: 'center', gap: 10 }}&gt;&#13;&#10;                        &lt;Text style={{ fontSize: 11, color: '#3A4050', flex: 1 }}&gt;可复用：{x.r}&lt;/Text&gt;&#13;&#10;                        &lt;Box style={{ width: 1, height: 12, background: '#E8E8E8' }} /&gt;&#13;&#10;                        &lt;Text style={{ fontSize: 10.5, color: '#8A8F99', flex: 1, textAlign: 'right' }}&gt;不可复用：{x.w}&lt;/Text&gt;&#13;&#10;                    &lt;/Box&gt;&#13;&#10;                &lt;/Box&gt;&#13;&#10;            ))}&#13;&#10;        &lt;/Box&gt;&#13;&#10;&#13;&#10;        {/* 中：结论 */}&#13;&#10;        &lt;Box style={{ height: 150, flexDirection: 'row', gap: 12 }}&gt;&#13;&#10;            &lt;Box style={{ width: 468, background: '#0F1423', borderRadius: 4, padding: '0 18px', flexDirection: 'column', justifyContent: 'center' }}&gt;&#13;&#10;                &lt;Text style={{ fontSize: 12, color: '#FBA15C', letterSpacing: 2 }}&gt;这张矩阵读出来的三件事&lt;/Text&gt;&#13;&#10;                {[&#13;&#10;                    { k: 'A 档最值', v: '管道、知识库、治理三块最该沉淀成平台' },&#13;&#10;                    { k: 'B 档最多', v: '五块都是「骨架通用、参数本地」，做成配置项即可' },&#13;&#10;                    { k: 'C 档别硬抽', v: '4A 方法论做成模板，不要做成工具' },&#13;&#10;                ].map((x) =&gt; (&#13;&#10;                    &lt;Box key={x.k} style={{ flexDirection: 'row', gap: 12, marginTop: 11, alignItems: 'flex-start' }}&gt;&#13;&#10;                        &lt;Text style={{ fontSize: 12, fontWeight: 'bold', color: '#FBA15C', width: 76 }}&gt;{x.k}&lt;/Text&gt;&#13;&#10;                        &lt;Text style={{ fontSize: 12.5, color: 'rgba(255,255,255,0.85)', lineHeight: 1.4, flex: 1 }}&gt;{x.v}&lt;/Text&gt;&#13;&#10;                    &lt;/Box&gt;&#13;&#10;                ))}&#13;&#10;            &lt;/Box&gt;&#13;&#10;&#13;&#10;            &lt;Box style={{ flex: 1, background: '#FFF3EE', borderRadius: 4, borderLeft: '4px solid #FA4F24', padding: '0 17px', flexDirection: 'column', justifyContent: 'center' }}&gt;&#13;&#10;                &lt;Text style={{ fontSize: 14.5, fontWeight: 'bold', color: '#C43A17' }}&gt;判定纪律&lt;/Text&gt;&#13;&#10;                {[&#13;&#10;                    '由 Delta 提草案、Echo 复核，当场定档，不许留到总部再定',&#13;&#10;                    'A 档必须进平台迭代，否则视为流失',&#13;&#10;                    'D 档要写进「不值得抽象」清单，避免下次重复讨论',&#13;&#10;                ].map((x) =&gt; (&#13;&#10;                    &lt;Box key={x} style={{ flexDirection: 'row', gap: 10, marginTop: 11, alignItems: 'flex-start' }}&gt;&#13;&#10;                        &lt;Box style={{ width: 5, height: 5, borderRadius: 3, background: '#FA4F24', marginTop: 6 }} /&gt;&#13;&#10;                        &lt;Text style={{ fontSize: 12.5, color: '#3A4050', lineHeight: 1.4, flex: 1 }}&gt;{x}&lt;/Text&gt;&#13;&#10;                    &lt;/Box&gt;&#13;&#10;                ))}&#13;&#10;                &lt;Text style={{ fontSize: 11.5, fontWeight: 'bold', color: '#C43A17', marginTop: 13, lineHeight: 1.4 }}&gt;&#13;&#10;                    定档拖延，等于默认全档 D。&#13;&#10;                &lt;/Text&gt;&#13;&#10;            &lt;/Box&gt;&#13;&#10;        &lt;/Box&gt;&#13;&#10;&#13;&#10;        {/* 下：投入去向 */}&#13;&#10;        &lt;Box style={{ height: 68, flexDirection: 'row', gap: 12, alignItems: 'stretch' }}&gt;&#13;&#10;            &lt;Box style={{ width: 208, background: '#F7F7F8', borderRadius: 4, padding: '0 15px', flexDirection: 'column', justifyContent: 'center' }}&gt;&#13;&#10;                &lt;Text style={{ fontSize: 11, color: '#8A8F99' }}&gt;矩阵的真正用途&lt;/Text&gt;&#13;&#10;                &lt;Text style={{ fontSize: 12.5, fontWeight: 'bold', color: '#0F1423', marginTop: 5, lineHeight: 1.4 }}&gt;决定研发资源投在哪一档&lt;/Text&gt;&#13;&#10;            &lt;/Box&gt;&#13;&#10;            {[&#13;&#10;                { k: 'A 档', v: '做进平台，人人可用' },&#13;&#10;                { k: 'B 档', v: '做成配置项，不写死' },&#13;&#10;                { k: 'C 档', v: '做成方法论模板' },&#13;&#10;                { k: 'D 档', v: '承认定制，不投研发' },&#13;&#10;            ].map((x) =&gt; (&#13;&#10;                &lt;Box key={x.k} style={{ flex: 1, background: '#F7F7F8', borderRadius: 4, padding: '0 14px', flexDirection: 'column', justifyContent: 'center' }}&gt;&#13;&#10;                    &lt;Text style={{ fontSize: 13, fontWeight: 'bold', color: '#C43A17' }}&gt;{x.k}&lt;/Text&gt;&#13;&#10;                    &lt;Text style={{ fontSize: 11, color: '#3A4050', lineHeight: 1.35, marginTop: 5 }}&gt;{x.v}&lt;/Text&gt;&#13;&#10;                &lt;/Box&gt;&#13;&#10;            ))}&#13;&#10;        &lt;/Box&gt;&#13;&#10;    &lt;/Box&gt;&#13;&#10;&#13;&#10;    &lt;Box style={{ height: 58, flexDirection: 'row', alignItems: 'center', borderTop: '1px solid #E8E8E8' }}&gt;&#13;&#10;        &lt;Box style={{ width: 14, height: 14, background: '#FA4F24' }} /&gt;&#13;&#10;        &lt;Text style={{ fontSize: 14, color: '#8A8F99', marginLeft: 12 }}&gt;硕磐机密 · FDE咨询方法论&lt;/Text&gt;&#13;&#10;        &lt;Text style={{ fontSize: 14, color: '#8A8F99', marginLeft: 'auto' }}&gt;50 / 60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八大领域可复用度矩阵：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哪些能力能变成平台</a:t>
            </a:r>
            <a:endParaRPr/>
          </a:p>
        </p:txBody>
      </p:sp>
      <p:sp>
        <p:nvSpPr>
          <p:cNvPr id="291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这一页决定公司是在「积累能力」还是在「重复劳动」。矩阵必须逐项判，不许打太极</a:t>
            </a:r>
            <a:endParaRPr/>
          </a:p>
        </p:txBody>
      </p:sp>
      <p:sp>
        <p:nvSpPr>
          <p:cNvPr id="291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19" name=""/>
          <p:cNvSpPr/>
          <p:nvPr/>
        </p:nvSpPr>
        <p:spPr>
          <a:xfrm rot="0" flipH="0" flipV="0">
            <a:off x="609600" y="134302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20" name="" descr="{&quot;isTemplate&quot;:true,&quot;type&quot;:&quot;text&quot;}"/>
          <p:cNvSpPr txBox="1"/>
          <p:nvPr/>
        </p:nvSpPr>
        <p:spPr>
          <a:xfrm rot="0" flipH="0" flipV="0">
            <a:off x="723900" y="13716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2921" name=""/>
          <p:cNvSpPr/>
          <p:nvPr/>
        </p:nvSpPr>
        <p:spPr>
          <a:xfrm rot="0" flipH="0" flipV="0">
            <a:off x="1476375" y="134302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22" name="" descr="{&quot;isTemplate&quot;:true,&quot;type&quot;:&quot;text&quot;}"/>
          <p:cNvSpPr txBox="1"/>
          <p:nvPr/>
        </p:nvSpPr>
        <p:spPr>
          <a:xfrm rot="0" flipH="0" flipV="0">
            <a:off x="1533525" y="1381125"/>
            <a:ext cx="85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923" name=""/>
          <p:cNvSpPr/>
          <p:nvPr/>
        </p:nvSpPr>
        <p:spPr>
          <a:xfrm rot="0" flipH="0" flipV="0">
            <a:off x="1885950" y="134302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24" name="" descr="{&quot;isTemplate&quot;:true,&quot;type&quot;:&quot;text&quot;}"/>
          <p:cNvSpPr txBox="1"/>
          <p:nvPr/>
        </p:nvSpPr>
        <p:spPr>
          <a:xfrm rot="0" flipH="0" flipV="0">
            <a:off x="2009775" y="138112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幂等重试对账模板</a:t>
            </a:r>
            <a:endParaRPr/>
          </a:p>
        </p:txBody>
      </p:sp>
      <p:sp>
        <p:nvSpPr>
          <p:cNvPr id="2925" name=""/>
          <p:cNvSpPr/>
          <p:nvPr/>
        </p:nvSpPr>
        <p:spPr>
          <a:xfrm rot="0" flipH="0" flipV="0">
            <a:off x="6734175" y="139065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26" name="" descr="{&quot;isTemplate&quot;:true,&quot;type&quot;:&quot;text&quot;}"/>
          <p:cNvSpPr txBox="1"/>
          <p:nvPr/>
        </p:nvSpPr>
        <p:spPr>
          <a:xfrm rot="0" flipH="0" flipV="0">
            <a:off x="6838950" y="138112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各网闸差异大</a:t>
            </a:r>
            <a:endParaRPr/>
          </a:p>
        </p:txBody>
      </p:sp>
      <p:sp>
        <p:nvSpPr>
          <p:cNvPr id="2927" name=""/>
          <p:cNvSpPr/>
          <p:nvPr/>
        </p:nvSpPr>
        <p:spPr>
          <a:xfrm rot="0" flipH="0" flipV="0">
            <a:off x="609600" y="159067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28" name="" descr="{&quot;isTemplate&quot;:true,&quot;type&quot;:&quot;text&quot;}"/>
          <p:cNvSpPr txBox="1"/>
          <p:nvPr/>
        </p:nvSpPr>
        <p:spPr>
          <a:xfrm rot="0" flipH="0" flipV="0">
            <a:off x="723900" y="16192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2929" name=""/>
          <p:cNvSpPr/>
          <p:nvPr/>
        </p:nvSpPr>
        <p:spPr>
          <a:xfrm rot="0" flipH="0" flipV="0">
            <a:off x="1476375" y="159067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930" name="" descr="{&quot;isTemplate&quot;:true,&quot;type&quot;:&quot;text&quot;}"/>
          <p:cNvSpPr txBox="1"/>
          <p:nvPr/>
        </p:nvSpPr>
        <p:spPr>
          <a:xfrm rot="0" flipH="0" flipV="0">
            <a:off x="1543050" y="16287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2931" name=""/>
          <p:cNvSpPr/>
          <p:nvPr/>
        </p:nvSpPr>
        <p:spPr>
          <a:xfrm rot="0" flipH="0" flipV="0">
            <a:off x="1885950" y="159067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32" name="" descr="{&quot;isTemplate&quot;:true,&quot;type&quot;:&quot;text&quot;}"/>
          <p:cNvSpPr txBox="1"/>
          <p:nvPr/>
        </p:nvSpPr>
        <p:spPr>
          <a:xfrm rot="0" flipH="0" flipV="0">
            <a:off x="2009775" y="162877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行业骨架（批次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设备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缺陷）</a:t>
            </a:r>
            <a:endParaRPr/>
          </a:p>
        </p:txBody>
      </p:sp>
      <p:sp>
        <p:nvSpPr>
          <p:cNvPr id="2933" name=""/>
          <p:cNvSpPr/>
          <p:nvPr/>
        </p:nvSpPr>
        <p:spPr>
          <a:xfrm rot="0" flipH="0" flipV="0">
            <a:off x="6734175" y="163830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34" name="" descr="{&quot;isTemplate&quot;:true,&quot;type&quot;:&quot;text&quot;}"/>
          <p:cNvSpPr txBox="1"/>
          <p:nvPr/>
        </p:nvSpPr>
        <p:spPr>
          <a:xfrm rot="0" flipH="0" flipV="0">
            <a:off x="6838950" y="162877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粒度需现场试错</a:t>
            </a:r>
            <a:endParaRPr/>
          </a:p>
        </p:txBody>
      </p:sp>
      <p:sp>
        <p:nvSpPr>
          <p:cNvPr id="2935" name=""/>
          <p:cNvSpPr/>
          <p:nvPr/>
        </p:nvSpPr>
        <p:spPr>
          <a:xfrm rot="0" flipH="0" flipV="0">
            <a:off x="609600" y="183832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36" name="" descr="{&quot;isTemplate&quot;:true,&quot;type&quot;:&quot;text&quot;}"/>
          <p:cNvSpPr txBox="1"/>
          <p:nvPr/>
        </p:nvSpPr>
        <p:spPr>
          <a:xfrm rot="0" flipH="0" flipV="0">
            <a:off x="723900" y="186690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2937" name=""/>
          <p:cNvSpPr/>
          <p:nvPr/>
        </p:nvSpPr>
        <p:spPr>
          <a:xfrm rot="0" flipH="0" flipV="0">
            <a:off x="1476375" y="183832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938" name="" descr="{&quot;isTemplate&quot;:true,&quot;type&quot;:&quot;text&quot;}"/>
          <p:cNvSpPr txBox="1"/>
          <p:nvPr/>
        </p:nvSpPr>
        <p:spPr>
          <a:xfrm rot="0" flipH="0" flipV="0">
            <a:off x="1543050" y="18764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2939" name=""/>
          <p:cNvSpPr/>
          <p:nvPr/>
        </p:nvSpPr>
        <p:spPr>
          <a:xfrm rot="0" flipH="0" flipV="0">
            <a:off x="1885950" y="183832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40" name="" descr="{&quot;isTemplate&quot;:true,&quot;type&quot;:&quot;text&quot;}"/>
          <p:cNvSpPr txBox="1"/>
          <p:nvPr/>
        </p:nvSpPr>
        <p:spPr>
          <a:xfrm rot="0" flipH="0" flipV="0">
            <a:off x="2009775" y="187642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合并拆分可逆流程</a:t>
            </a:r>
            <a:endParaRPr/>
          </a:p>
        </p:txBody>
      </p:sp>
      <p:sp>
        <p:nvSpPr>
          <p:cNvPr id="2941" name=""/>
          <p:cNvSpPr/>
          <p:nvPr/>
        </p:nvSpPr>
        <p:spPr>
          <a:xfrm rot="0" flipH="0" flipV="0">
            <a:off x="6734175" y="188595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42" name="" descr="{&quot;isTemplate&quot;:true,&quot;type&quot;:&quot;text&quot;}"/>
          <p:cNvSpPr txBox="1"/>
          <p:nvPr/>
        </p:nvSpPr>
        <p:spPr>
          <a:xfrm rot="0" flipH="0" flipV="0">
            <a:off x="6838950" y="187642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实体规则强行业相关</a:t>
            </a:r>
            <a:endParaRPr/>
          </a:p>
        </p:txBody>
      </p:sp>
      <p:sp>
        <p:nvSpPr>
          <p:cNvPr id="2943" name=""/>
          <p:cNvSpPr/>
          <p:nvPr/>
        </p:nvSpPr>
        <p:spPr>
          <a:xfrm rot="0" flipH="0" flipV="0">
            <a:off x="609600" y="208597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44" name="" descr="{&quot;isTemplate&quot;:true,&quot;type&quot;:&quot;text&quot;}"/>
          <p:cNvSpPr txBox="1"/>
          <p:nvPr/>
        </p:nvSpPr>
        <p:spPr>
          <a:xfrm rot="0" flipH="0" flipV="0">
            <a:off x="723900" y="2114550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2945" name=""/>
          <p:cNvSpPr/>
          <p:nvPr/>
        </p:nvSpPr>
        <p:spPr>
          <a:xfrm rot="0" flipH="0" flipV="0">
            <a:off x="1476375" y="208597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946" name="" descr="{&quot;isTemplate&quot;:true,&quot;type&quot;:&quot;text&quot;}"/>
          <p:cNvSpPr txBox="1"/>
          <p:nvPr/>
        </p:nvSpPr>
        <p:spPr>
          <a:xfrm rot="0" flipH="0" flipV="0">
            <a:off x="1543050" y="21240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2947" name=""/>
          <p:cNvSpPr/>
          <p:nvPr/>
        </p:nvSpPr>
        <p:spPr>
          <a:xfrm rot="0" flipH="0" flipV="0">
            <a:off x="1885950" y="208597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48" name="" descr="{&quot;isTemplate&quot;:true,&quot;type&quot;:&quot;text&quot;}"/>
          <p:cNvSpPr txBox="1"/>
          <p:nvPr/>
        </p:nvSpPr>
        <p:spPr>
          <a:xfrm rot="0" flipH="0" flipV="0">
            <a:off x="2009775" y="212407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口径裁定流程与模板</a:t>
            </a:r>
            <a:endParaRPr/>
          </a:p>
        </p:txBody>
      </p:sp>
      <p:sp>
        <p:nvSpPr>
          <p:cNvPr id="2949" name=""/>
          <p:cNvSpPr/>
          <p:nvPr/>
        </p:nvSpPr>
        <p:spPr>
          <a:xfrm rot="0" flipH="0" flipV="0">
            <a:off x="6734175" y="213360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50" name="" descr="{&quot;isTemplate&quot;:true,&quot;type&quot;:&quot;text&quot;}"/>
          <p:cNvSpPr txBox="1"/>
          <p:nvPr/>
        </p:nvSpPr>
        <p:spPr>
          <a:xfrm rot="0" flipH="0" flipV="0">
            <a:off x="6838950" y="212407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指标定义完全本地化</a:t>
            </a:r>
            <a:endParaRPr/>
          </a:p>
        </p:txBody>
      </p:sp>
      <p:sp>
        <p:nvSpPr>
          <p:cNvPr id="2951" name=""/>
          <p:cNvSpPr/>
          <p:nvPr/>
        </p:nvSpPr>
        <p:spPr>
          <a:xfrm rot="0" flipH="0" flipV="0">
            <a:off x="609600" y="233362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52" name="" descr="{&quot;isTemplate&quot;:true,&quot;type&quot;:&quot;text&quot;}"/>
          <p:cNvSpPr txBox="1"/>
          <p:nvPr/>
        </p:nvSpPr>
        <p:spPr>
          <a:xfrm rot="0" flipH="0" flipV="0">
            <a:off x="723900" y="236220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2953" name=""/>
          <p:cNvSpPr/>
          <p:nvPr/>
        </p:nvSpPr>
        <p:spPr>
          <a:xfrm rot="0" flipH="0" flipV="0">
            <a:off x="1476375" y="233362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54" name="" descr="{&quot;isTemplate&quot;:true,&quot;type&quot;:&quot;text&quot;}"/>
          <p:cNvSpPr txBox="1"/>
          <p:nvPr/>
        </p:nvSpPr>
        <p:spPr>
          <a:xfrm rot="0" flipH="0" flipV="0">
            <a:off x="1533525" y="2371725"/>
            <a:ext cx="85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955" name=""/>
          <p:cNvSpPr/>
          <p:nvPr/>
        </p:nvSpPr>
        <p:spPr>
          <a:xfrm rot="0" flipH="0" flipV="0">
            <a:off x="1885950" y="233362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56" name="" descr="{&quot;isTemplate&quot;:true,&quot;type&quot;:&quot;text&quot;}"/>
          <p:cNvSpPr txBox="1"/>
          <p:nvPr/>
        </p:nvSpPr>
        <p:spPr>
          <a:xfrm rot="0" flipH="0" flipV="0">
            <a:off x="2009775" y="237172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切片工艺与反查机制</a:t>
            </a:r>
            <a:endParaRPr/>
          </a:p>
        </p:txBody>
      </p:sp>
      <p:sp>
        <p:nvSpPr>
          <p:cNvPr id="2957" name=""/>
          <p:cNvSpPr/>
          <p:nvPr/>
        </p:nvSpPr>
        <p:spPr>
          <a:xfrm rot="0" flipH="0" flipV="0">
            <a:off x="6734175" y="238125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58" name="" descr="{&quot;isTemplate&quot;:true,&quot;type&quot;:&quot;text&quot;}"/>
          <p:cNvSpPr txBox="1"/>
          <p:nvPr/>
        </p:nvSpPr>
        <p:spPr>
          <a:xfrm rot="0" flipH="0" flipV="0">
            <a:off x="6838950" y="237172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密级规则要本地配</a:t>
            </a:r>
            <a:endParaRPr/>
          </a:p>
        </p:txBody>
      </p:sp>
      <p:sp>
        <p:nvSpPr>
          <p:cNvPr id="2959" name=""/>
          <p:cNvSpPr/>
          <p:nvPr/>
        </p:nvSpPr>
        <p:spPr>
          <a:xfrm rot="0" flipH="0" flipV="0">
            <a:off x="609600" y="258127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60" name="" descr="{&quot;isTemplate&quot;:true,&quot;type&quot;:&quot;text&quot;}"/>
          <p:cNvSpPr txBox="1"/>
          <p:nvPr/>
        </p:nvSpPr>
        <p:spPr>
          <a:xfrm rot="0" flipH="0" flipV="0">
            <a:off x="723900" y="26098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2961" name=""/>
          <p:cNvSpPr/>
          <p:nvPr/>
        </p:nvSpPr>
        <p:spPr>
          <a:xfrm rot="0" flipH="0" flipV="0">
            <a:off x="1476375" y="258127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62" name="" descr="{&quot;isTemplate&quot;:true,&quot;type&quot;:&quot;text&quot;}"/>
          <p:cNvSpPr txBox="1"/>
          <p:nvPr/>
        </p:nvSpPr>
        <p:spPr>
          <a:xfrm rot="0" flipH="0" flipV="0">
            <a:off x="1533525" y="2619375"/>
            <a:ext cx="857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963" name=""/>
          <p:cNvSpPr/>
          <p:nvPr/>
        </p:nvSpPr>
        <p:spPr>
          <a:xfrm rot="0" flipH="0" flipV="0">
            <a:off x="1885950" y="258127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64" name="" descr="{&quot;isTemplate&quot;:true,&quot;type&quot;:&quot;text&quot;}"/>
          <p:cNvSpPr txBox="1"/>
          <p:nvPr/>
        </p:nvSpPr>
        <p:spPr>
          <a:xfrm rot="0" flipH="0" flipV="0">
            <a:off x="2009775" y="261937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最小可行治理清单</a:t>
            </a:r>
            <a:endParaRPr/>
          </a:p>
        </p:txBody>
      </p:sp>
      <p:sp>
        <p:nvSpPr>
          <p:cNvPr id="2965" name=""/>
          <p:cNvSpPr/>
          <p:nvPr/>
        </p:nvSpPr>
        <p:spPr>
          <a:xfrm rot="0" flipH="0" flipV="0">
            <a:off x="6734175" y="262890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66" name="" descr="{&quot;isTemplate&quot;:true,&quot;type&quot;:&quot;text&quot;}"/>
          <p:cNvSpPr txBox="1"/>
          <p:nvPr/>
        </p:nvSpPr>
        <p:spPr>
          <a:xfrm rot="0" flipH="0" flipV="0">
            <a:off x="6838950" y="261937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责任划分需现场定</a:t>
            </a:r>
            <a:endParaRPr/>
          </a:p>
        </p:txBody>
      </p:sp>
      <p:sp>
        <p:nvSpPr>
          <p:cNvPr id="2967" name=""/>
          <p:cNvSpPr/>
          <p:nvPr/>
        </p:nvSpPr>
        <p:spPr>
          <a:xfrm rot="0" flipH="0" flipV="0">
            <a:off x="609600" y="282892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68" name="" descr="{&quot;isTemplate&quot;:true,&quot;type&quot;:&quot;text&quot;}"/>
          <p:cNvSpPr txBox="1"/>
          <p:nvPr/>
        </p:nvSpPr>
        <p:spPr>
          <a:xfrm rot="0" flipH="0" flipV="0">
            <a:off x="723900" y="285750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2969" name=""/>
          <p:cNvSpPr/>
          <p:nvPr/>
        </p:nvSpPr>
        <p:spPr>
          <a:xfrm rot="0" flipH="0" flipV="0">
            <a:off x="1476375" y="282892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2970" name="" descr="{&quot;isTemplate&quot;:true,&quot;type&quot;:&quot;text&quot;}"/>
          <p:cNvSpPr txBox="1"/>
          <p:nvPr/>
        </p:nvSpPr>
        <p:spPr>
          <a:xfrm rot="0" flipH="0" flipV="0">
            <a:off x="1543050" y="286702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2971" name=""/>
          <p:cNvSpPr/>
          <p:nvPr/>
        </p:nvSpPr>
        <p:spPr>
          <a:xfrm rot="0" flipH="0" flipV="0">
            <a:off x="1885950" y="282892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72" name="" descr="{&quot;isTemplate&quot;:true,&quot;type&quot;:&quot;text&quot;}"/>
          <p:cNvSpPr txBox="1"/>
          <p:nvPr/>
        </p:nvSpPr>
        <p:spPr>
          <a:xfrm rot="0" flipH="0" flipV="0">
            <a:off x="2009775" y="286702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工具白名单与出口策略</a:t>
            </a:r>
            <a:endParaRPr/>
          </a:p>
        </p:txBody>
      </p:sp>
      <p:sp>
        <p:nvSpPr>
          <p:cNvPr id="2973" name=""/>
          <p:cNvSpPr/>
          <p:nvPr/>
        </p:nvSpPr>
        <p:spPr>
          <a:xfrm rot="0" flipH="0" flipV="0">
            <a:off x="6734175" y="287655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74" name="" descr="{&quot;isTemplate&quot;:true,&quot;type&quot;:&quot;text&quot;}"/>
          <p:cNvSpPr txBox="1"/>
          <p:nvPr/>
        </p:nvSpPr>
        <p:spPr>
          <a:xfrm rot="0" flipH="0" flipV="0">
            <a:off x="6838950" y="286702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工具集强场景相关</a:t>
            </a:r>
            <a:endParaRPr/>
          </a:p>
        </p:txBody>
      </p:sp>
      <p:sp>
        <p:nvSpPr>
          <p:cNvPr id="2975" name=""/>
          <p:cNvSpPr/>
          <p:nvPr/>
        </p:nvSpPr>
        <p:spPr>
          <a:xfrm rot="0" flipH="0" flipV="0">
            <a:off x="609600" y="3076575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76" name="" descr="{&quot;isTemplate&quot;:true,&quot;type&quot;:&quot;text&quot;}"/>
          <p:cNvSpPr txBox="1"/>
          <p:nvPr/>
        </p:nvSpPr>
        <p:spPr>
          <a:xfrm rot="0" flipH="0" flipV="0">
            <a:off x="723900" y="3105150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977" name=""/>
          <p:cNvSpPr/>
          <p:nvPr/>
        </p:nvSpPr>
        <p:spPr>
          <a:xfrm rot="0" flipH="0" flipV="0">
            <a:off x="1476375" y="3076575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2978" name="" descr="{&quot;isTemplate&quot;:true,&quot;type&quot;:&quot;text&quot;}"/>
          <p:cNvSpPr txBox="1"/>
          <p:nvPr/>
        </p:nvSpPr>
        <p:spPr>
          <a:xfrm rot="0" flipH="0" flipV="0">
            <a:off x="1543050" y="3114675"/>
            <a:ext cx="7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2979" name=""/>
          <p:cNvSpPr/>
          <p:nvPr/>
        </p:nvSpPr>
        <p:spPr>
          <a:xfrm rot="0" flipH="0" flipV="0">
            <a:off x="1885950" y="3076575"/>
            <a:ext cx="9696450" cy="200025"/>
          </a:xfrm>
          <a:prstGeom prst="roundRect">
            <a:avLst>
              <a:gd name="adj" fmla="val 190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80" name="" descr="{&quot;isTemplate&quot;:true,&quot;type&quot;:&quot;text&quot;}"/>
          <p:cNvSpPr txBox="1"/>
          <p:nvPr/>
        </p:nvSpPr>
        <p:spPr>
          <a:xfrm rot="0" flipH="0" flipV="0">
            <a:off x="2009775" y="3114675"/>
            <a:ext cx="4629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可复用：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四层串接顺序</a:t>
            </a:r>
            <a:endParaRPr/>
          </a:p>
        </p:txBody>
      </p:sp>
      <p:sp>
        <p:nvSpPr>
          <p:cNvPr id="2981" name=""/>
          <p:cNvSpPr/>
          <p:nvPr/>
        </p:nvSpPr>
        <p:spPr>
          <a:xfrm rot="0" flipH="0" flipV="0">
            <a:off x="6734175" y="3124200"/>
            <a:ext cx="9525" cy="11430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82" name="" descr="{&quot;isTemplate&quot;:true,&quot;type&quot;:&quot;text&quot;}"/>
          <p:cNvSpPr txBox="1"/>
          <p:nvPr/>
        </p:nvSpPr>
        <p:spPr>
          <a:xfrm rot="0" flipH="0" flipV="0">
            <a:off x="6838950" y="3114675"/>
            <a:ext cx="4619625" cy="1238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不可复用：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本质是一次性方法论</a:t>
            </a:r>
            <a:endParaRPr/>
          </a:p>
        </p:txBody>
      </p:sp>
      <p:sp>
        <p:nvSpPr>
          <p:cNvPr id="2983" name=""/>
          <p:cNvSpPr/>
          <p:nvPr/>
        </p:nvSpPr>
        <p:spPr>
          <a:xfrm rot="0" flipH="0" flipV="0">
            <a:off x="609600" y="3400425"/>
            <a:ext cx="4457700" cy="1428750"/>
          </a:xfrm>
          <a:prstGeom prst="roundRect">
            <a:avLst>
              <a:gd name="adj" fmla="val 26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984" name="" descr="{&quot;isTemplate&quot;:true,&quot;type&quot;:&quot;text&quot;}"/>
          <p:cNvSpPr txBox="1"/>
          <p:nvPr/>
        </p:nvSpPr>
        <p:spPr>
          <a:xfrm rot="0" flipH="0" flipV="0">
            <a:off x="781050" y="35909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这张矩阵读出来的三件事</a:t>
            </a:r>
            <a:endParaRPr/>
          </a:p>
        </p:txBody>
      </p:sp>
      <p:sp>
        <p:nvSpPr>
          <p:cNvPr id="2985" name="" descr="{&quot;isTemplate&quot;:true,&quot;type&quot;:&quot;text&quot;}"/>
          <p:cNvSpPr txBox="1"/>
          <p:nvPr/>
        </p:nvSpPr>
        <p:spPr>
          <a:xfrm rot="0" flipH="0" flipV="0">
            <a:off x="781050" y="38385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档最值</a:t>
            </a:r>
            <a:endParaRPr/>
          </a:p>
        </p:txBody>
      </p:sp>
      <p:sp>
        <p:nvSpPr>
          <p:cNvPr id="2986" name="" descr="{&quot;isTemplate&quot;:true,&quot;type&quot;:&quot;text&quot;}"/>
          <p:cNvSpPr txBox="1"/>
          <p:nvPr/>
        </p:nvSpPr>
        <p:spPr>
          <a:xfrm rot="0" flipH="0" flipV="0">
            <a:off x="1619250" y="383857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管道、知识库、治理三块最该沉淀成平台</a:t>
            </a:r>
            <a:endParaRPr/>
          </a:p>
        </p:txBody>
      </p:sp>
      <p:sp>
        <p:nvSpPr>
          <p:cNvPr id="2987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档最多</a:t>
            </a:r>
            <a:endParaRPr/>
          </a:p>
        </p:txBody>
      </p:sp>
      <p:sp>
        <p:nvSpPr>
          <p:cNvPr id="2988" name="" descr="{&quot;isTemplate&quot;:true,&quot;type&quot;:&quot;text&quot;}"/>
          <p:cNvSpPr txBox="1"/>
          <p:nvPr/>
        </p:nvSpPr>
        <p:spPr>
          <a:xfrm rot="0" flipH="0" flipV="0">
            <a:off x="1619250" y="414337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五块都是「骨架通用、参数本地」，做成配置项即可</a:t>
            </a:r>
            <a:endParaRPr/>
          </a:p>
        </p:txBody>
      </p:sp>
      <p:sp>
        <p:nvSpPr>
          <p:cNvPr id="2989" name="" descr="{&quot;isTemplate&quot;:true,&quot;type&quot;:&quot;text&quot;}"/>
          <p:cNvSpPr txBox="1"/>
          <p:nvPr/>
        </p:nvSpPr>
        <p:spPr>
          <a:xfrm rot="0" flipH="0" flipV="0">
            <a:off x="781050" y="4448175"/>
            <a:ext cx="72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档别硬抽</a:t>
            </a:r>
            <a:endParaRPr/>
          </a:p>
        </p:txBody>
      </p:sp>
      <p:sp>
        <p:nvSpPr>
          <p:cNvPr id="2990" name="" descr="{&quot;isTemplate&quot;:true,&quot;type&quot;:&quot;text&quot;}"/>
          <p:cNvSpPr txBox="1"/>
          <p:nvPr/>
        </p:nvSpPr>
        <p:spPr>
          <a:xfrm rot="0" flipH="0" flipV="0">
            <a:off x="1619250" y="4448175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方法论做成模板，不要做成工具</a:t>
            </a:r>
            <a:endParaRPr/>
          </a:p>
        </p:txBody>
      </p:sp>
      <p:sp>
        <p:nvSpPr>
          <p:cNvPr id="2991" name=""/>
          <p:cNvSpPr/>
          <p:nvPr/>
        </p:nvSpPr>
        <p:spPr>
          <a:xfrm rot="0" flipH="0" flipV="0">
            <a:off x="5219700" y="3400425"/>
            <a:ext cx="6400800" cy="1428750"/>
          </a:xfrm>
          <a:prstGeom prst="roundRect">
            <a:avLst>
              <a:gd name="adj" fmla="val 2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992" name=""/>
          <p:cNvSpPr/>
          <p:nvPr/>
        </p:nvSpPr>
        <p:spPr>
          <a:xfrm rot="0" flipH="0" flipV="0">
            <a:off x="5219700" y="3400425"/>
            <a:ext cx="6400800" cy="1428750"/>
          </a:xfrm>
          <a:custGeom>
            <a:pathLst>
              <a:path w="672" h="150">
                <a:moveTo>
                  <a:pt x="4" y="150"/>
                </a:moveTo>
                <a:cubicBezTo>
                  <a:pt x="2" y="150"/>
                  <a:pt x="0" y="148"/>
                  <a:pt x="0" y="1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93" name="" descr="{&quot;isTemplate&quot;:true,&quot;type&quot;:&quot;text&quot;}"/>
          <p:cNvSpPr txBox="1"/>
          <p:nvPr/>
        </p:nvSpPr>
        <p:spPr>
          <a:xfrm rot="0" flipH="0" flipV="0">
            <a:off x="5381625" y="34194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判定纪律</a:t>
            </a:r>
            <a:endParaRPr/>
          </a:p>
        </p:txBody>
      </p:sp>
      <p:sp>
        <p:nvSpPr>
          <p:cNvPr id="2994" name=""/>
          <p:cNvSpPr/>
          <p:nvPr/>
        </p:nvSpPr>
        <p:spPr>
          <a:xfrm rot="0" flipH="0" flipV="0">
            <a:off x="5381625" y="3752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95" name="" descr="{&quot;isTemplate&quot;:true,&quot;type&quot;:&quot;text&quot;}"/>
          <p:cNvSpPr txBox="1"/>
          <p:nvPr/>
        </p:nvSpPr>
        <p:spPr>
          <a:xfrm rot="0" flipH="0" flipV="0">
            <a:off x="5524500" y="36957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由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提草案、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复核，当场定档，不许留到总部再定</a:t>
            </a:r>
            <a:endParaRPr/>
          </a:p>
        </p:txBody>
      </p:sp>
      <p:sp>
        <p:nvSpPr>
          <p:cNvPr id="2996" name=""/>
          <p:cNvSpPr/>
          <p:nvPr/>
        </p:nvSpPr>
        <p:spPr>
          <a:xfrm rot="0" flipH="0" flipV="0">
            <a:off x="5381625" y="4057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97" name="" descr="{&quot;isTemplate&quot;:true,&quot;type&quot;:&quot;text&quot;}"/>
          <p:cNvSpPr txBox="1"/>
          <p:nvPr/>
        </p:nvSpPr>
        <p:spPr>
          <a:xfrm rot="0" flipH="0" flipV="0">
            <a:off x="5524500" y="40005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档必须进平台迭代，否则视为流失</a:t>
            </a:r>
            <a:endParaRPr/>
          </a:p>
        </p:txBody>
      </p:sp>
      <p:sp>
        <p:nvSpPr>
          <p:cNvPr id="2998" name=""/>
          <p:cNvSpPr/>
          <p:nvPr/>
        </p:nvSpPr>
        <p:spPr>
          <a:xfrm rot="0" flipH="0" flipV="0">
            <a:off x="5381625" y="43624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99" name="" descr="{&quot;isTemplate&quot;:true,&quot;type&quot;:&quot;text&quot;}"/>
          <p:cNvSpPr txBox="1"/>
          <p:nvPr/>
        </p:nvSpPr>
        <p:spPr>
          <a:xfrm rot="0" flipH="0" flipV="0">
            <a:off x="5524500" y="4305300"/>
            <a:ext cx="58959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D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档要写进「不值得抽象」清单，避免下次重复讨论</a:t>
            </a:r>
            <a:endParaRPr/>
          </a:p>
        </p:txBody>
      </p:sp>
      <p:sp>
        <p:nvSpPr>
          <p:cNvPr id="3000" name="" descr="{&quot;isTemplate&quot;:true,&quot;type&quot;:&quot;text&quot;}"/>
          <p:cNvSpPr txBox="1"/>
          <p:nvPr/>
        </p:nvSpPr>
        <p:spPr>
          <a:xfrm rot="0" flipH="0" flipV="0">
            <a:off x="5381625" y="462915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定档拖延，等于默认全档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D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01" name=""/>
          <p:cNvSpPr/>
          <p:nvPr/>
        </p:nvSpPr>
        <p:spPr>
          <a:xfrm rot="0" flipH="0" flipV="0">
            <a:off x="609600" y="4953000"/>
            <a:ext cx="19812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02" name="" descr="{&quot;isTemplate&quot;:true,&quot;type&quot;:&quot;text&quot;}"/>
          <p:cNvSpPr txBox="1"/>
          <p:nvPr/>
        </p:nvSpPr>
        <p:spPr>
          <a:xfrm rot="0" flipH="0" flipV="0">
            <a:off x="752475" y="50863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矩阵的真正用途</a:t>
            </a:r>
            <a:endParaRPr/>
          </a:p>
        </p:txBody>
      </p:sp>
      <p:sp>
        <p:nvSpPr>
          <p:cNvPr id="3003" name="" descr="{&quot;isTemplate&quot;:true,&quot;type&quot;:&quot;text&quot;}"/>
          <p:cNvSpPr txBox="1"/>
          <p:nvPr/>
        </p:nvSpPr>
        <p:spPr>
          <a:xfrm rot="0" flipH="0" flipV="0">
            <a:off x="752475" y="52673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决定研发资源投在哪一档</a:t>
            </a:r>
            <a:endParaRPr/>
          </a:p>
        </p:txBody>
      </p:sp>
      <p:sp>
        <p:nvSpPr>
          <p:cNvPr id="3004" name=""/>
          <p:cNvSpPr/>
          <p:nvPr/>
        </p:nvSpPr>
        <p:spPr>
          <a:xfrm rot="0" flipH="0" flipV="0">
            <a:off x="2705100" y="495300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05" name="" descr="{&quot;isTemplate&quot;:true,&quot;type&quot;:&quot;text&quot;}"/>
          <p:cNvSpPr txBox="1"/>
          <p:nvPr/>
        </p:nvSpPr>
        <p:spPr>
          <a:xfrm rot="0" flipH="0" flipV="0">
            <a:off x="2838450" y="50958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档</a:t>
            </a:r>
            <a:endParaRPr/>
          </a:p>
        </p:txBody>
      </p:sp>
      <p:sp>
        <p:nvSpPr>
          <p:cNvPr id="3006" name="" descr="{&quot;isTemplate&quot;:true,&quot;type&quot;:&quot;text&quot;}"/>
          <p:cNvSpPr txBox="1"/>
          <p:nvPr/>
        </p:nvSpPr>
        <p:spPr>
          <a:xfrm rot="0" flipH="0" flipV="0">
            <a:off x="2838450" y="52959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做进平台，人人可用</a:t>
            </a:r>
            <a:endParaRPr/>
          </a:p>
        </p:txBody>
      </p:sp>
      <p:sp>
        <p:nvSpPr>
          <p:cNvPr id="3007" name=""/>
          <p:cNvSpPr/>
          <p:nvPr/>
        </p:nvSpPr>
        <p:spPr>
          <a:xfrm rot="0" flipH="0" flipV="0">
            <a:off x="4953000" y="495300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08" name="" descr="{&quot;isTemplate&quot;:true,&quot;type&quot;:&quot;text&quot;}"/>
          <p:cNvSpPr txBox="1"/>
          <p:nvPr/>
        </p:nvSpPr>
        <p:spPr>
          <a:xfrm rot="0" flipH="0" flipV="0">
            <a:off x="5086350" y="50958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档</a:t>
            </a:r>
            <a:endParaRPr/>
          </a:p>
        </p:txBody>
      </p:sp>
      <p:sp>
        <p:nvSpPr>
          <p:cNvPr id="3009" name="" descr="{&quot;isTemplate&quot;:true,&quot;type&quot;:&quot;text&quot;}"/>
          <p:cNvSpPr txBox="1"/>
          <p:nvPr/>
        </p:nvSpPr>
        <p:spPr>
          <a:xfrm rot="0" flipH="0" flipV="0">
            <a:off x="5086350" y="52959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做成配置项，不写死</a:t>
            </a:r>
            <a:endParaRPr/>
          </a:p>
        </p:txBody>
      </p:sp>
      <p:sp>
        <p:nvSpPr>
          <p:cNvPr id="3010" name=""/>
          <p:cNvSpPr/>
          <p:nvPr/>
        </p:nvSpPr>
        <p:spPr>
          <a:xfrm rot="0" flipH="0" flipV="0">
            <a:off x="7200900" y="495300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11" name="" descr="{&quot;isTemplate&quot;:true,&quot;type&quot;:&quot;text&quot;}"/>
          <p:cNvSpPr txBox="1"/>
          <p:nvPr/>
        </p:nvSpPr>
        <p:spPr>
          <a:xfrm rot="0" flipH="0" flipV="0">
            <a:off x="7334250" y="50958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档</a:t>
            </a:r>
            <a:endParaRPr/>
          </a:p>
        </p:txBody>
      </p:sp>
      <p:sp>
        <p:nvSpPr>
          <p:cNvPr id="3012" name="" descr="{&quot;isTemplate&quot;:true,&quot;type&quot;:&quot;text&quot;}"/>
          <p:cNvSpPr txBox="1"/>
          <p:nvPr/>
        </p:nvSpPr>
        <p:spPr>
          <a:xfrm rot="0" flipH="0" flipV="0">
            <a:off x="7334250" y="52959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做成方法论模板</a:t>
            </a:r>
            <a:endParaRPr/>
          </a:p>
        </p:txBody>
      </p:sp>
      <p:sp>
        <p:nvSpPr>
          <p:cNvPr id="3013" name=""/>
          <p:cNvSpPr/>
          <p:nvPr/>
        </p:nvSpPr>
        <p:spPr>
          <a:xfrm rot="0" flipH="0" flipV="0">
            <a:off x="9448800" y="495300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14" name="" descr="{&quot;isTemplate&quot;:true,&quot;type&quot;:&quot;text&quot;}"/>
          <p:cNvSpPr txBox="1"/>
          <p:nvPr/>
        </p:nvSpPr>
        <p:spPr>
          <a:xfrm rot="0" flipH="0" flipV="0">
            <a:off x="9582150" y="50958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D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档</a:t>
            </a:r>
            <a:endParaRPr/>
          </a:p>
        </p:txBody>
      </p:sp>
      <p:sp>
        <p:nvSpPr>
          <p:cNvPr id="3015" name="" descr="{&quot;isTemplate&quot;:true,&quot;type&quot;:&quot;text&quot;}"/>
          <p:cNvSpPr txBox="1"/>
          <p:nvPr/>
        </p:nvSpPr>
        <p:spPr>
          <a:xfrm rot="0" flipH="0" flipV="0">
            <a:off x="9582150" y="529590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承认定制，不投研发</a:t>
            </a:r>
            <a:endParaRPr/>
          </a:p>
        </p:txBody>
      </p:sp>
      <p:sp>
        <p:nvSpPr>
          <p:cNvPr id="301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1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1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01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50 / 60</a:t>
            </a:r>
            <a:endParaRPr/>
          </a:p>
        </p:txBody>
      </p:sp>
    </p:spTree>
  </p:cSld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302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的四道一票否决：&lt;span style={{ color: '#FA4F24' }}&gt;什么情况下必须停手&lt;/span&gt;&#10;        &lt;/Text&gt;&#10;        &lt;Text style={{ fontSize: 20, color: '#8A8F99', marginTop: 8 }}&gt;&#10;            传统咨询没有否决权。FDE 有——因为他在现场，他能看到后果。这四道闸必须写进流程&#10;        &lt;/Text&gt;&#10;    &lt;/Box&gt;&#10;    &lt;Box style={{ height: 1, background: '#E8E8E8' }} /&gt;&#10;&#10;    &lt;Box style={{ paddingTop: 20, paddingBottom: 14, height: 479, flexDirection: 'column', gap: 13 }}&gt;&#10;&#10;        {/* 上：四道闸 */}&#10;        &lt;Box style={{ flex: 1, flexDirection: 'row', gap: 11 }}&gt;&#10;            {[&#10;                { n: '1', k: '密级否决', c: '#FA4F24', d: '要进系统的数据，密级与继承没标清楚——停。', why: '一旦泄露，无法挽回' },&#10;                { n: '2', k: '生产否决', c: '#E0641E', d: '在客户生产环境做无回滚的批量写——停。', why: '事故由客户承担' },&#10;                { n: '3', k: '口径否决', c: '#C43A17', d: '客户业务负责人没签字就往下建——停。', why: '后返工全链路' },&#10;                { n: '4', k: '使用否决', c: '#A83310', d: '场景没法进客户真实作业流程——换场景。', why: '交付即闲置' },&#10;            ].map((x) =&gt; (&#10;                &lt;Box key={x.n} style={{ flex: 1, background: '#F7F7F8', borderRadius: 4, padding: '0 15px', flexDirection: 'column', justifyContent: 'center', borderTop: `3px solid ${x.c}` }}&gt;&#10;                    &lt;Box style={{ flexDirection: 'row', alignItems: 'center', gap: 9 }}&gt;&#10;                        &lt;Box style={{ width: 24, height: 24, borderRadius: 12, background: x.c, alignItems: 'center', justifyContent: 'center' }}&gt;&#10;                            &lt;Text style={{ fontSize: 12, fontWeight: 'bold', color: '#FFFFFF' }}&gt;{x.n}&lt;/Text&gt;&#10;                        &lt;/Box&gt;&#10;                        &lt;Text style={{ fontSize: 15.5, fontWeight: 'bold', color: x.c }}&gt;{x.k}&lt;/Text&gt;&#10;                    &lt;/Box&gt;&#10;                    &lt;Text style={{ fontSize: 12.5, color: '#3A4050', lineHeight: 1.5, marginTop: 11, flex: 1 }}&gt;{x.d}&lt;/Text&gt;&#10;                    &lt;Box style={{ background: '#0F1423', borderRadius: 3, padding: '0 11px', marginTop: 9 }}&gt;&#10;                        &lt;Text style={{ fontSize: 11.5, color: 'rgba(255,255,255,0.88)', lineHeight: 1.4 }}&gt;理由：{x.why}&lt;/Text&gt;&#10;                    &lt;/Box&gt;&#10;                &lt;/Box&gt;&#10;            ))}&#10;        &lt;/Box&gt;&#10;&#10;        {/* 中：谁有权否决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否决权的归属&lt;/Text&gt;&#10;                {[&#10;                    { k: '密级', v: '客户安全负责人 + FDE 双签，缺一即停' },&#10;                    { k: '生产', v: 'FDE 可单方叫停，事后再谈' },&#10;                    { k: '口径', v: '客户业务负责人签字，缺签即停' },&#10;                    { k: '使用', v: 'Echo 提出，Delta 与客户共同确认' },&#10;                ].map((x) =&gt; (&#10;                    &lt;Box key={x.k} style={{ flexDirection: 'row', gap: 12, marginTop: 10, alignItems: 'flex-start' }}&gt;&#10;                        &lt;Text style={{ fontSize: 12, fontWeight: 'bold', color: '#FBA15C', width: 48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为什么必须有否决权&lt;/Text&gt;&#10;                &lt;Text style={{ fontSize: 12.5, color: '#3A4050', lineHeight: 1.55, marginTop: 10, flex: 1 }}&gt;&#10;                    现场交付的压力天然是「往前走」。进度、客户期待、合同节点都在推着人往前走。密级、签字、可逆性这三件事，只有 FDE 自己会踩刹车。&#10;                &lt;/Text&gt;&#10;                &lt;Box style={{ background: '#FFFFFF', borderRadius: 3, padding: '0 12px', marginTop: 10 }}&gt;&#10;                    &lt;Text style={{ fontSize: 12, fontWeight: 'bold', color: '#C43A17', lineHeight: 1.45 }}&gt;&#10;                        有否决权才敢停手。只会推进的人，不是 FDE，是执行。&#10;                    &lt;/Text&gt;&#10;                &lt;/Box&gt;&#10;            &lt;/Box&gt;&#10;        &lt;/Box&gt;&#10;&#10;        {/* 下：否决记录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否决之后怎么办&lt;/Text&gt;&#10;                &lt;Text style={{ fontSize: 12.5, fontWeight: 'bold', color: '#0F1423', marginTop: 5, lineHeight: 1.4 }}&gt;停手不等于放弃&lt;/Text&gt;&#10;            &lt;/Box&gt;&#10;            {[&#10;                { k: '补齐再走', v: '把前置条件补上，重新判定' },&#10;                { k: '换路径', v: '同样的问题换一条更安全的路' },&#10;                { k: '换场景', v: '这一条走不通，换一条痛点' },&#10;                { k: '留记录', v: '写进坑位清单，别再犯第二次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1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的四道一票否决：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什么情况下必须停手</a:t>
            </a:r>
            <a:endParaRPr/>
          </a:p>
        </p:txBody>
      </p:sp>
      <p:sp>
        <p:nvSpPr>
          <p:cNvPr id="302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传统咨询没有否决权。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有——因为他在现场，他能看到后果。这四道闸必须写进流程</a:t>
            </a:r>
            <a:endParaRPr/>
          </a:p>
        </p:txBody>
      </p:sp>
      <p:sp>
        <p:nvSpPr>
          <p:cNvPr id="302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25" name=""/>
          <p:cNvSpPr/>
          <p:nvPr/>
        </p:nvSpPr>
        <p:spPr>
          <a:xfrm rot="0" flipH="0" flipV="0">
            <a:off x="6096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26" name=""/>
          <p:cNvSpPr/>
          <p:nvPr/>
        </p:nvSpPr>
        <p:spPr>
          <a:xfrm rot="0" flipH="0" flipV="0">
            <a:off x="6096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27" name=""/>
          <p:cNvSpPr/>
          <p:nvPr/>
        </p:nvSpPr>
        <p:spPr>
          <a:xfrm rot="0" flipH="0" flipV="0">
            <a:off x="752475" y="13716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28" name="" descr="{&quot;isTemplate&quot;:true,&quot;type&quot;:&quot;text&quot;}"/>
          <p:cNvSpPr txBox="1"/>
          <p:nvPr/>
        </p:nvSpPr>
        <p:spPr>
          <a:xfrm rot="0" flipH="0" flipV="0">
            <a:off x="828675" y="14192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029" name="" descr="{&quot;isTemplate&quot;:true,&quot;type&quot;:&quot;text&quot;}"/>
          <p:cNvSpPr txBox="1"/>
          <p:nvPr/>
        </p:nvSpPr>
        <p:spPr>
          <a:xfrm rot="0" flipH="0" flipV="0">
            <a:off x="1066800" y="1400175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密级否决</a:t>
            </a:r>
            <a:endParaRPr/>
          </a:p>
        </p:txBody>
      </p:sp>
      <p:sp>
        <p:nvSpPr>
          <p:cNvPr id="3030" name="" descr="{&quot;isTemplate&quot;:true,&quot;type&quot;:&quot;text&quot;}"/>
          <p:cNvSpPr txBox="1"/>
          <p:nvPr/>
        </p:nvSpPr>
        <p:spPr>
          <a:xfrm rot="0" flipH="0" flipV="0">
            <a:off x="752475" y="1704975"/>
            <a:ext cx="23812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要进系统的数据，密级与继承没标清楚——停。</a:t>
            </a:r>
            <a:endParaRPr/>
          </a:p>
        </p:txBody>
      </p:sp>
      <p:sp>
        <p:nvSpPr>
          <p:cNvPr id="3031" name=""/>
          <p:cNvSpPr/>
          <p:nvPr/>
        </p:nvSpPr>
        <p:spPr>
          <a:xfrm rot="0" flipH="0" flipV="0">
            <a:off x="752475" y="299085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32" name="" descr="{&quot;isTemplate&quot;:true,&quot;type&quot;:&quot;text&quot;}"/>
          <p:cNvSpPr txBox="1"/>
          <p:nvPr/>
        </p:nvSpPr>
        <p:spPr>
          <a:xfrm rot="0" flipH="0" flipV="0">
            <a:off x="857250" y="29908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理由：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一旦泄露，无法挽回</a:t>
            </a:r>
            <a:endParaRPr/>
          </a:p>
        </p:txBody>
      </p:sp>
      <p:sp>
        <p:nvSpPr>
          <p:cNvPr id="3033" name=""/>
          <p:cNvSpPr/>
          <p:nvPr/>
        </p:nvSpPr>
        <p:spPr>
          <a:xfrm rot="0" flipH="0" flipV="0">
            <a:off x="3381375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34" name=""/>
          <p:cNvSpPr/>
          <p:nvPr/>
        </p:nvSpPr>
        <p:spPr>
          <a:xfrm rot="0" flipH="0" flipV="0">
            <a:off x="3381375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3035" name=""/>
          <p:cNvSpPr/>
          <p:nvPr/>
        </p:nvSpPr>
        <p:spPr>
          <a:xfrm rot="0" flipH="0" flipV="0">
            <a:off x="3524250" y="13716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3036" name="" descr="{&quot;isTemplate&quot;:true,&quot;type&quot;:&quot;text&quot;}"/>
          <p:cNvSpPr txBox="1"/>
          <p:nvPr/>
        </p:nvSpPr>
        <p:spPr>
          <a:xfrm rot="0" flipH="0" flipV="0">
            <a:off x="3600450" y="14192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037" name="" descr="{&quot;isTemplate&quot;:true,&quot;type&quot;:&quot;text&quot;}"/>
          <p:cNvSpPr txBox="1"/>
          <p:nvPr/>
        </p:nvSpPr>
        <p:spPr>
          <a:xfrm rot="0" flipH="0" flipV="0">
            <a:off x="3838575" y="1400175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0641E"/>
                </a:solidFill>
                <a:latin typeface="Microsoft YaHei"/>
                <a:ea typeface="Microsoft YaHei"/>
              </a:rPr>
              <a:t>生产否决</a:t>
            </a:r>
            <a:endParaRPr/>
          </a:p>
        </p:txBody>
      </p:sp>
      <p:sp>
        <p:nvSpPr>
          <p:cNvPr id="3038" name="" descr="{&quot;isTemplate&quot;:true,&quot;type&quot;:&quot;text&quot;}"/>
          <p:cNvSpPr txBox="1"/>
          <p:nvPr/>
        </p:nvSpPr>
        <p:spPr>
          <a:xfrm rot="0" flipH="0" flipV="0">
            <a:off x="3524250" y="1704975"/>
            <a:ext cx="2381250" cy="12001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在客户生产环境做无回滚的批量写——停。</a:t>
            </a:r>
            <a:endParaRPr/>
          </a:p>
        </p:txBody>
      </p:sp>
      <p:sp>
        <p:nvSpPr>
          <p:cNvPr id="3039" name=""/>
          <p:cNvSpPr/>
          <p:nvPr/>
        </p:nvSpPr>
        <p:spPr>
          <a:xfrm rot="0" flipH="0" flipV="0">
            <a:off x="3524250" y="299085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40" name="" descr="{&quot;isTemplate&quot;:true,&quot;type&quot;:&quot;text&quot;}"/>
          <p:cNvSpPr txBox="1"/>
          <p:nvPr/>
        </p:nvSpPr>
        <p:spPr>
          <a:xfrm rot="0" flipH="0" flipV="0">
            <a:off x="3629025" y="29908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理由：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事故由客户承担</a:t>
            </a:r>
            <a:endParaRPr/>
          </a:p>
        </p:txBody>
      </p:sp>
      <p:sp>
        <p:nvSpPr>
          <p:cNvPr id="3041" name=""/>
          <p:cNvSpPr/>
          <p:nvPr/>
        </p:nvSpPr>
        <p:spPr>
          <a:xfrm rot="0" flipH="0" flipV="0">
            <a:off x="6153150" y="1371600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42" name=""/>
          <p:cNvSpPr/>
          <p:nvPr/>
        </p:nvSpPr>
        <p:spPr>
          <a:xfrm rot="0" flipH="0" flipV="0">
            <a:off x="6153150" y="1371600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043" name=""/>
          <p:cNvSpPr/>
          <p:nvPr/>
        </p:nvSpPr>
        <p:spPr>
          <a:xfrm rot="0" flipH="0" flipV="0">
            <a:off x="6296025" y="13716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3044" name="" descr="{&quot;isTemplate&quot;:true,&quot;type&quot;:&quot;text&quot;}"/>
          <p:cNvSpPr txBox="1"/>
          <p:nvPr/>
        </p:nvSpPr>
        <p:spPr>
          <a:xfrm rot="0" flipH="0" flipV="0">
            <a:off x="6372225" y="14192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045" name="" descr="{&quot;isTemplate&quot;:true,&quot;type&quot;:&quot;text&quot;}"/>
          <p:cNvSpPr txBox="1"/>
          <p:nvPr/>
        </p:nvSpPr>
        <p:spPr>
          <a:xfrm rot="0" flipH="0" flipV="0">
            <a:off x="6610350" y="1400175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口径否决</a:t>
            </a:r>
            <a:endParaRPr/>
          </a:p>
        </p:txBody>
      </p:sp>
      <p:sp>
        <p:nvSpPr>
          <p:cNvPr id="3046" name="" descr="{&quot;isTemplate&quot;:true,&quot;type&quot;:&quot;text&quot;}"/>
          <p:cNvSpPr txBox="1"/>
          <p:nvPr/>
        </p:nvSpPr>
        <p:spPr>
          <a:xfrm rot="0" flipH="0" flipV="0">
            <a:off x="6296025" y="1704975"/>
            <a:ext cx="2371725" cy="12001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客户业务负责人没签字就往下建——停。</a:t>
            </a:r>
            <a:endParaRPr/>
          </a:p>
        </p:txBody>
      </p:sp>
      <p:sp>
        <p:nvSpPr>
          <p:cNvPr id="3047" name=""/>
          <p:cNvSpPr/>
          <p:nvPr/>
        </p:nvSpPr>
        <p:spPr>
          <a:xfrm rot="0" flipH="0" flipV="0">
            <a:off x="6296025" y="2990850"/>
            <a:ext cx="23717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48" name="" descr="{&quot;isTemplate&quot;:true,&quot;type&quot;:&quot;text&quot;}"/>
          <p:cNvSpPr txBox="1"/>
          <p:nvPr/>
        </p:nvSpPr>
        <p:spPr>
          <a:xfrm rot="0" flipH="0" flipV="0">
            <a:off x="6400800" y="299085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理由：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后返工全链路</a:t>
            </a:r>
            <a:endParaRPr/>
          </a:p>
        </p:txBody>
      </p:sp>
      <p:sp>
        <p:nvSpPr>
          <p:cNvPr id="3049" name=""/>
          <p:cNvSpPr/>
          <p:nvPr/>
        </p:nvSpPr>
        <p:spPr>
          <a:xfrm rot="0" flipH="0" flipV="0">
            <a:off x="8915400" y="1371600"/>
            <a:ext cx="2667000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50" name=""/>
          <p:cNvSpPr/>
          <p:nvPr/>
        </p:nvSpPr>
        <p:spPr>
          <a:xfrm rot="0" flipH="0" flipV="0">
            <a:off x="8915400" y="1371600"/>
            <a:ext cx="2667000" cy="1838325"/>
          </a:xfrm>
          <a:custGeom>
            <a:pathLst>
              <a:path w="280" h="193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3051" name=""/>
          <p:cNvSpPr/>
          <p:nvPr/>
        </p:nvSpPr>
        <p:spPr>
          <a:xfrm rot="0" flipH="0" flipV="0">
            <a:off x="9058275" y="13716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A83310"/>
          </a:solidFill>
          <a:ln/>
        </p:spPr>
        <p:txBody>
          <a:bodyPr/>
          <a:p/>
        </p:txBody>
      </p:sp>
      <p:sp>
        <p:nvSpPr>
          <p:cNvPr id="3052" name="" descr="{&quot;isTemplate&quot;:true,&quot;type&quot;:&quot;text&quot;}"/>
          <p:cNvSpPr txBox="1"/>
          <p:nvPr/>
        </p:nvSpPr>
        <p:spPr>
          <a:xfrm rot="0" flipH="0" flipV="0">
            <a:off x="9134475" y="14192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053" name="" descr="{&quot;isTemplate&quot;:true,&quot;type&quot;:&quot;text&quot;}"/>
          <p:cNvSpPr txBox="1"/>
          <p:nvPr/>
        </p:nvSpPr>
        <p:spPr>
          <a:xfrm rot="0" flipH="0" flipV="0">
            <a:off x="9372600" y="1400175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A83310"/>
                </a:solidFill>
                <a:latin typeface="Microsoft YaHei"/>
                <a:ea typeface="Microsoft YaHei"/>
              </a:rPr>
              <a:t>使用否决</a:t>
            </a:r>
            <a:endParaRPr/>
          </a:p>
        </p:txBody>
      </p:sp>
      <p:sp>
        <p:nvSpPr>
          <p:cNvPr id="3054" name="" descr="{&quot;isTemplate&quot;:true,&quot;type&quot;:&quot;text&quot;}"/>
          <p:cNvSpPr txBox="1"/>
          <p:nvPr/>
        </p:nvSpPr>
        <p:spPr>
          <a:xfrm rot="0" flipH="0" flipV="0">
            <a:off x="9058275" y="1704975"/>
            <a:ext cx="2381250" cy="12001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场景没法进客户真实作业流程——换场景。</a:t>
            </a:r>
            <a:endParaRPr/>
          </a:p>
        </p:txBody>
      </p:sp>
      <p:sp>
        <p:nvSpPr>
          <p:cNvPr id="3055" name=""/>
          <p:cNvSpPr/>
          <p:nvPr/>
        </p:nvSpPr>
        <p:spPr>
          <a:xfrm rot="0" flipH="0" flipV="0">
            <a:off x="9058275" y="299085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56" name="" descr="{&quot;isTemplate&quot;:true,&quot;type&quot;:&quot;text&quot;}"/>
          <p:cNvSpPr txBox="1"/>
          <p:nvPr/>
        </p:nvSpPr>
        <p:spPr>
          <a:xfrm rot="0" flipH="0" flipV="0">
            <a:off x="9163050" y="29908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理由：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交付即闲置</a:t>
            </a:r>
            <a:endParaRPr/>
          </a:p>
        </p:txBody>
      </p:sp>
      <p:sp>
        <p:nvSpPr>
          <p:cNvPr id="3057" name=""/>
          <p:cNvSpPr/>
          <p:nvPr/>
        </p:nvSpPr>
        <p:spPr>
          <a:xfrm rot="0" flipH="0" flipV="0">
            <a:off x="609600" y="33051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58" name="" descr="{&quot;isTemplate&quot;:true,&quot;type&quot;:&quot;text&quot;}"/>
          <p:cNvSpPr txBox="1"/>
          <p:nvPr/>
        </p:nvSpPr>
        <p:spPr>
          <a:xfrm rot="0" flipH="0" flipV="0">
            <a:off x="781050" y="3533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否决权的归属</a:t>
            </a:r>
            <a:endParaRPr/>
          </a:p>
        </p:txBody>
      </p:sp>
      <p:sp>
        <p:nvSpPr>
          <p:cNvPr id="3059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密级</a:t>
            </a:r>
            <a:endParaRPr/>
          </a:p>
        </p:txBody>
      </p:sp>
      <p:sp>
        <p:nvSpPr>
          <p:cNvPr id="3060" name="" descr="{&quot;isTemplate&quot;:true,&quot;type&quot;:&quot;text&quot;}"/>
          <p:cNvSpPr txBox="1"/>
          <p:nvPr/>
        </p:nvSpPr>
        <p:spPr>
          <a:xfrm rot="0" flipH="0" flipV="0">
            <a:off x="1352550" y="377190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客户安全负责人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+ 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双签，缺一即停</a:t>
            </a:r>
            <a:endParaRPr/>
          </a:p>
        </p:txBody>
      </p:sp>
      <p:sp>
        <p:nvSpPr>
          <p:cNvPr id="3061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生产</a:t>
            </a:r>
            <a:endParaRPr/>
          </a:p>
        </p:txBody>
      </p:sp>
      <p:sp>
        <p:nvSpPr>
          <p:cNvPr id="3062" name="" descr="{&quot;isTemplate&quot;:true,&quot;type&quot;:&quot;text&quot;}"/>
          <p:cNvSpPr txBox="1"/>
          <p:nvPr/>
        </p:nvSpPr>
        <p:spPr>
          <a:xfrm rot="0" flipH="0" flipV="0">
            <a:off x="1352550" y="4067175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可单方叫停，事后再谈</a:t>
            </a:r>
            <a:endParaRPr/>
          </a:p>
        </p:txBody>
      </p:sp>
      <p:sp>
        <p:nvSpPr>
          <p:cNvPr id="3063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3064" name="" descr="{&quot;isTemplate&quot;:true,&quot;type&quot;:&quot;text&quot;}"/>
          <p:cNvSpPr txBox="1"/>
          <p:nvPr/>
        </p:nvSpPr>
        <p:spPr>
          <a:xfrm rot="0" flipH="0" flipV="0">
            <a:off x="1352550" y="4362450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客户业务负责人签字，缺签即停</a:t>
            </a:r>
            <a:endParaRPr/>
          </a:p>
        </p:txBody>
      </p:sp>
      <p:sp>
        <p:nvSpPr>
          <p:cNvPr id="3065" name="" descr="{&quot;isTemplate&quot;:true,&quot;type&quot;:&quot;text&quot;}"/>
          <p:cNvSpPr txBox="1"/>
          <p:nvPr/>
        </p:nvSpPr>
        <p:spPr>
          <a:xfrm rot="0" flipH="0" flipV="0">
            <a:off x="781050" y="46577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使用</a:t>
            </a:r>
            <a:endParaRPr/>
          </a:p>
        </p:txBody>
      </p:sp>
      <p:sp>
        <p:nvSpPr>
          <p:cNvPr id="3066" name="" descr="{&quot;isTemplate&quot;:true,&quot;type&quot;:&quot;text&quot;}"/>
          <p:cNvSpPr txBox="1"/>
          <p:nvPr/>
        </p:nvSpPr>
        <p:spPr>
          <a:xfrm rot="0" flipH="0" flipV="0">
            <a:off x="1352550" y="4657725"/>
            <a:ext cx="35433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提出，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与客户共同确认</a:t>
            </a:r>
            <a:endParaRPr/>
          </a:p>
        </p:txBody>
      </p:sp>
      <p:sp>
        <p:nvSpPr>
          <p:cNvPr id="3067" name=""/>
          <p:cNvSpPr/>
          <p:nvPr/>
        </p:nvSpPr>
        <p:spPr>
          <a:xfrm rot="0" flipH="0" flipV="0">
            <a:off x="5219700" y="33051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068" name=""/>
          <p:cNvSpPr/>
          <p:nvPr/>
        </p:nvSpPr>
        <p:spPr>
          <a:xfrm rot="0" flipH="0" flipV="0">
            <a:off x="5219700" y="33051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69" name="" descr="{&quot;isTemplate&quot;:true,&quot;type&quot;:&quot;text&quot;}"/>
          <p:cNvSpPr txBox="1"/>
          <p:nvPr/>
        </p:nvSpPr>
        <p:spPr>
          <a:xfrm rot="0" flipH="0" flipV="0">
            <a:off x="5381625" y="33051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为什么必须有否决权</a:t>
            </a:r>
            <a:endParaRPr/>
          </a:p>
        </p:txBody>
      </p:sp>
      <p:sp>
        <p:nvSpPr>
          <p:cNvPr id="3070" name="" descr="{&quot;isTemplate&quot;:true,&quot;type&quot;:&quot;text&quot;}"/>
          <p:cNvSpPr txBox="1"/>
          <p:nvPr/>
        </p:nvSpPr>
        <p:spPr>
          <a:xfrm rot="0" flipH="0" flipV="0">
            <a:off x="5381625" y="3571875"/>
            <a:ext cx="603885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现场交付的压力天然是「往前走」。进度、客户期待、合同节点都在推着人往前走。密级、签字、可逆性这三件事，只有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自己会踩刹车。</a:t>
            </a:r>
            <a:endParaRPr/>
          </a:p>
        </p:txBody>
      </p:sp>
      <p:sp>
        <p:nvSpPr>
          <p:cNvPr id="3071" name=""/>
          <p:cNvSpPr/>
          <p:nvPr/>
        </p:nvSpPr>
        <p:spPr>
          <a:xfrm rot="0" flipH="0" flipV="0">
            <a:off x="5381625" y="4876800"/>
            <a:ext cx="60388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2" name="" descr="{&quot;isTemplate&quot;:true,&quot;type&quot;:&quot;text&quot;}"/>
          <p:cNvSpPr txBox="1"/>
          <p:nvPr/>
        </p:nvSpPr>
        <p:spPr>
          <a:xfrm rot="0" flipH="0" flipV="0">
            <a:off x="5495925" y="4876800"/>
            <a:ext cx="5810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有否决权才敢停手。只会推进的人，不是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，是执行。</a:t>
            </a:r>
            <a:endParaRPr/>
          </a:p>
        </p:txBody>
      </p:sp>
      <p:sp>
        <p:nvSpPr>
          <p:cNvPr id="3073" name=""/>
          <p:cNvSpPr/>
          <p:nvPr/>
        </p:nvSpPr>
        <p:spPr>
          <a:xfrm rot="0" flipH="0" flipV="0">
            <a:off x="609600" y="5200650"/>
            <a:ext cx="19812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74" name="" descr="{&quot;isTemplate&quot;:true,&quot;type&quot;:&quot;text&quot;}"/>
          <p:cNvSpPr txBox="1"/>
          <p:nvPr/>
        </p:nvSpPr>
        <p:spPr>
          <a:xfrm rot="0" flipH="0" flipV="0">
            <a:off x="752475" y="52006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否决之后怎么办</a:t>
            </a:r>
            <a:endParaRPr/>
          </a:p>
        </p:txBody>
      </p:sp>
      <p:sp>
        <p:nvSpPr>
          <p:cNvPr id="3075" name="" descr="{&quot;isTemplate&quot;:true,&quot;type&quot;:&quot;text&quot;}"/>
          <p:cNvSpPr txBox="1"/>
          <p:nvPr/>
        </p:nvSpPr>
        <p:spPr>
          <a:xfrm rot="0" flipH="0" flipV="0">
            <a:off x="752475" y="538162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停手不等于放弃</a:t>
            </a:r>
            <a:endParaRPr/>
          </a:p>
        </p:txBody>
      </p:sp>
      <p:sp>
        <p:nvSpPr>
          <p:cNvPr id="3076" name=""/>
          <p:cNvSpPr/>
          <p:nvPr/>
        </p:nvSpPr>
        <p:spPr>
          <a:xfrm rot="0" flipH="0" flipV="0">
            <a:off x="27051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77" name="" descr="{&quot;isTemplate&quot;:true,&quot;type&quot;:&quot;text&quot;}"/>
          <p:cNvSpPr txBox="1"/>
          <p:nvPr/>
        </p:nvSpPr>
        <p:spPr>
          <a:xfrm rot="0" flipH="0" flipV="0">
            <a:off x="28384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补齐再走</a:t>
            </a:r>
            <a:endParaRPr/>
          </a:p>
        </p:txBody>
      </p:sp>
      <p:sp>
        <p:nvSpPr>
          <p:cNvPr id="3078" name="" descr="{&quot;isTemplate&quot;:true,&quot;type&quot;:&quot;text&quot;}"/>
          <p:cNvSpPr txBox="1"/>
          <p:nvPr/>
        </p:nvSpPr>
        <p:spPr>
          <a:xfrm rot="0" flipH="0" flipV="0">
            <a:off x="28384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把前置条件补上，重新判定</a:t>
            </a:r>
            <a:endParaRPr/>
          </a:p>
        </p:txBody>
      </p:sp>
      <p:sp>
        <p:nvSpPr>
          <p:cNvPr id="3079" name=""/>
          <p:cNvSpPr/>
          <p:nvPr/>
        </p:nvSpPr>
        <p:spPr>
          <a:xfrm rot="0" flipH="0" flipV="0">
            <a:off x="49530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80" name="" descr="{&quot;isTemplate&quot;:true,&quot;type&quot;:&quot;text&quot;}"/>
          <p:cNvSpPr txBox="1"/>
          <p:nvPr/>
        </p:nvSpPr>
        <p:spPr>
          <a:xfrm rot="0" flipH="0" flipV="0">
            <a:off x="50863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换路径</a:t>
            </a:r>
            <a:endParaRPr/>
          </a:p>
        </p:txBody>
      </p:sp>
      <p:sp>
        <p:nvSpPr>
          <p:cNvPr id="3081" name="" descr="{&quot;isTemplate&quot;:true,&quot;type&quot;:&quot;text&quot;}"/>
          <p:cNvSpPr txBox="1"/>
          <p:nvPr/>
        </p:nvSpPr>
        <p:spPr>
          <a:xfrm rot="0" flipH="0" flipV="0">
            <a:off x="50863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同样的问题换一条更安全的路</a:t>
            </a:r>
            <a:endParaRPr/>
          </a:p>
        </p:txBody>
      </p:sp>
      <p:sp>
        <p:nvSpPr>
          <p:cNvPr id="3082" name=""/>
          <p:cNvSpPr/>
          <p:nvPr/>
        </p:nvSpPr>
        <p:spPr>
          <a:xfrm rot="0" flipH="0" flipV="0">
            <a:off x="72009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83" name="" descr="{&quot;isTemplate&quot;:true,&quot;type&quot;:&quot;text&quot;}"/>
          <p:cNvSpPr txBox="1"/>
          <p:nvPr/>
        </p:nvSpPr>
        <p:spPr>
          <a:xfrm rot="0" flipH="0" flipV="0">
            <a:off x="73342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换场景</a:t>
            </a:r>
            <a:endParaRPr/>
          </a:p>
        </p:txBody>
      </p:sp>
      <p:sp>
        <p:nvSpPr>
          <p:cNvPr id="3084" name="" descr="{&quot;isTemplate&quot;:true,&quot;type&quot;:&quot;text&quot;}"/>
          <p:cNvSpPr txBox="1"/>
          <p:nvPr/>
        </p:nvSpPr>
        <p:spPr>
          <a:xfrm rot="0" flipH="0" flipV="0">
            <a:off x="73342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这一条走不通，换一条痛点</a:t>
            </a:r>
            <a:endParaRPr/>
          </a:p>
        </p:txBody>
      </p:sp>
      <p:sp>
        <p:nvSpPr>
          <p:cNvPr id="3085" name=""/>
          <p:cNvSpPr/>
          <p:nvPr/>
        </p:nvSpPr>
        <p:spPr>
          <a:xfrm rot="0" flipH="0" flipV="0">
            <a:off x="9448800" y="5200650"/>
            <a:ext cx="2133600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86" name="" descr="{&quot;isTemplate&quot;:true,&quot;type&quot;:&quot;text&quot;}"/>
          <p:cNvSpPr txBox="1"/>
          <p:nvPr/>
        </p:nvSpPr>
        <p:spPr>
          <a:xfrm rot="0" flipH="0" flipV="0">
            <a:off x="9582150" y="521017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留记录</a:t>
            </a:r>
            <a:endParaRPr/>
          </a:p>
        </p:txBody>
      </p:sp>
      <p:sp>
        <p:nvSpPr>
          <p:cNvPr id="3087" name="" descr="{&quot;isTemplate&quot;:true,&quot;type&quot;:&quot;text&quot;}"/>
          <p:cNvSpPr txBox="1"/>
          <p:nvPr/>
        </p:nvSpPr>
        <p:spPr>
          <a:xfrm rot="0" flipH="0" flipV="0">
            <a:off x="9582150" y="54006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写进坑位清单，别再犯第二次</a:t>
            </a:r>
            <a:endParaRPr/>
          </a:p>
        </p:txBody>
      </p:sp>
      <p:sp>
        <p:nvSpPr>
          <p:cNvPr id="308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89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90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091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51 / 60</a:t>
            </a:r>
            <a:endParaRPr/>
          </a:p>
        </p:txBody>
      </p:sp>
    </p:spTree>
  </p:cSld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309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八大领域共通硬规则：&lt;span style={{ color: '#FA4F24' }}&gt;不管做哪个领域都成立&lt;/span&gt;&#10;        &lt;/Text&gt;&#10;        &lt;Text style={{ fontSize: 20, color: '#8A8F99', marginTop: 8 }}&gt;&#10;            这八条是从八个领域里抽出来的公约。记住它们，比记住某个领域的做法更有用&#10;        &lt;/Text&gt;&#10;    &lt;/Box&gt;&#10;    &lt;Box style={{ height: 1, background: '#E8E8E8' }} /&gt;&#10;&#10;    &lt;Box style={{ paddingTop: 20, paddingBottom: 14, height: 479, flexDirection: 'column', gap: 13 }}&gt;&#10;&#10;        {/* 上：八条规则 */}&#10;        &lt;Box style={{ flex: 1, flexDirection: 'row', gap: 10 }}&gt;&#10;            &lt;Box style={{ flex: 1, flexDirection: 'column', gap: 7 }}&gt;&#10;                {[&#10;                    { n: '01', k: '真数据优先', d: '任何东西没连真数据就不许建' },&#10;                    { n: '02', k: '密级前置', d: '建之前先标密级，不许后补' },&#10;                    { n: '03', k: '当场签字', d: '客户负责人签字，不接受代签' },&#10;                    { n: '04', k: '可逆优先', d: '删除合并先留退路' },&#10;                ].map((x) =&gt; (&#10;                    &lt;Box key={x.n} style={{ flex: 1, background: '#F7F7F8', borderRadius: 4, padding: '0 13px', flexDirection: 'column', justifyContent: 'center', borderLeft: '4px solid #FA4F24' }}&gt;&#10;                        &lt;Box style={{ flexDirection: 'row', alignItems: 'baseline', gap: 8 }}&gt;&#10;                            &lt;Text style={{ fontSize: 11, color: '#FA4F24' }}&gt;{x.n}&lt;/Text&gt;&#10;                            &lt;Text style={{ fontSize: 12.5, fontWeight: 'bold', color: '#0F1423' }}&gt;{x.k}&lt;/Text&gt;&#10;                        &lt;/Box&gt;&#10;                        &lt;Text style={{ fontSize: 11, color: '#5A6070', lineHeight: 1.35, marginTop: 5 }}&gt;{x.d}&lt;/Text&gt;&#10;                    &lt;/Box&gt;&#10;                ))}&#10;            &lt;/Box&gt;&#10;            &lt;Box style={{ flex: 1, flexDirection: 'column', gap: 7 }}&gt;&#10;                {[&#10;                    { n: '05', k: '现场写码', d: '在客户环境写，不总部代写' },&#10;                    { n: '06', k: '写回路径', d: '无写回路径的场景不上线' },&#10;                    { n: '07', k: '当场定档', d: '可复用度现场判定，不留到总部' },&#10;                    { n: '08', k: '七成验收', d: '召回低于七成不上线' },&#10;                ].map((x) =&gt; (&#10;                    &lt;Box key={x.n} style={{ flex: 1, background: '#F7F7F8', borderRadius: 4, padding: '0 13px', flexDirection: 'column', justifyContent: 'center', borderLeft: '4px solid #C43A17' }}&gt;&#10;                        &lt;Box style={{ flexDirection: 'row', alignItems: 'baseline', gap: 8 }}&gt;&#10;                            &lt;Text style={{ fontSize: 11, color: '#C43A17' }}&gt;{x.n}&lt;/Text&gt;&#10;                            &lt;Text style={{ fontSize: 12.5, fontWeight: 'bold', color: '#0F1423' }}&gt;{x.k}&lt;/Text&gt;&#10;                        &lt;/Box&gt;&#10;                        &lt;Text style={{ fontSize: 11, color: '#5A6070', lineHeight: 1.35, marginTop: 5 }}&gt;{x.d}&lt;/Text&gt;&#10;                    &lt;/Box&gt;&#10;                ))}&#10;            &lt;/Box&gt;&#10;        &lt;/Box&gt;&#10;&#10;        {/* 中：为什么是这八条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这八条的共同结构&lt;/Text&gt;&#10;                {[&#10;                    { k: '三条前置', v: '真数据、密级、签字——都在动手之前' },&#10;                    { k: '三条同步', v: '现场写码、写回路径、定档——都在过程之中' },&#10;                    { k: '两条收口', v: '可逆、验收——都在交付之前' },&#10;                ].map((x) =&gt; (&#10;                    &lt;Box key={x.k} style={{ flexDirection: 'row', gap: 12, marginTop: 11, alignItems: 'flex-start' }}&gt;&#10;                        &lt;Text style={{ fontSize: 12, fontWeight: 'bold', color: '#FBA15C', width: 66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违反哪条后果最重&lt;/Text&gt;&#10;                {[&#10;                    { k: '02 密级前置', v: '数据泄露，无法挽回' },&#10;                    { k: '06 写回路径', v: '交付即闲置，前面白做' },&#10;                    { k: '07 当场定档', v: '经验流失，公司没长进' },&#10;                ].map((x) =&gt; (&#10;                    &lt;Box key={x.k} style={{ flexDirection: 'row', gap: 11, marginTop: 12, alignItems: 'flex-start' }}&gt;&#10;                        &lt;Text style={{ fontSize: 12, fontWeight: 'bold', color: '#C43A17', width: 92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4, lineHeight: 1.4 }}&gt;&#10;                    这三条建议直接写进现场工作守则。&#10;                &lt;/Text&gt;&#10;            &lt;/Box&gt;&#10;        &lt;/Box&gt;&#10;&#10;        {/* 下：适用性 */}&#10;        &lt;Box style={{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适用范围&lt;/Text&gt;&#10;                &lt;Text style={{ fontSize: 12.5, fontWeight: 'bold', color: '#0F1423', marginTop: 5, lineHeight: 1.4 }}&gt;八大领域、四个阶段，一个都不例外&lt;/Text&gt;&#10;            &lt;/Box&gt;&#10;            {[&#10;                { k: '四阶段', v: 'Enter / Investigate / Execute / 回流' },&#10;                { k: '八领域', v: '管道·本体·主数据·指标·知识库·治理·Agent·4A' },&#10;                { k: '两种项目', v: '新客户项目与平台迭代同样适用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2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9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八大领域共通硬规则：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不管做哪个领域都成立</a:t>
            </a:r>
            <a:endParaRPr/>
          </a:p>
        </p:txBody>
      </p:sp>
      <p:sp>
        <p:nvSpPr>
          <p:cNvPr id="309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这八条是从八个领域里抽出来的公约。记住它们，比记住某个领域的做法更有用</a:t>
            </a:r>
            <a:endParaRPr/>
          </a:p>
        </p:txBody>
      </p:sp>
      <p:sp>
        <p:nvSpPr>
          <p:cNvPr id="309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97" name=""/>
          <p:cNvSpPr/>
          <p:nvPr/>
        </p:nvSpPr>
        <p:spPr>
          <a:xfrm rot="0" flipH="0" flipV="0">
            <a:off x="647700" y="1343025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98" name=""/>
          <p:cNvSpPr/>
          <p:nvPr/>
        </p:nvSpPr>
        <p:spPr>
          <a:xfrm rot="0" flipH="0" flipV="0">
            <a:off x="647700" y="1343025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99" name="" descr="{&quot;isTemplate&quot;:true,&quot;type&quot;:&quot;text&quot;}"/>
          <p:cNvSpPr txBox="1"/>
          <p:nvPr/>
        </p:nvSpPr>
        <p:spPr>
          <a:xfrm rot="0" flipH="0" flipV="0">
            <a:off x="771525" y="134302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100" name="" descr="{&quot;isTemplate&quot;:true,&quot;type&quot;:&quot;text&quot;}"/>
          <p:cNvSpPr txBox="1"/>
          <p:nvPr/>
        </p:nvSpPr>
        <p:spPr>
          <a:xfrm rot="0" flipH="0" flipV="0">
            <a:off x="971550" y="134302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真数据优先</a:t>
            </a:r>
            <a:endParaRPr/>
          </a:p>
        </p:txBody>
      </p:sp>
      <p:sp>
        <p:nvSpPr>
          <p:cNvPr id="3101" name="" descr="{&quot;isTemplate&quot;:true,&quot;type&quot;:&quot;text&quot;}"/>
          <p:cNvSpPr txBox="1"/>
          <p:nvPr/>
        </p:nvSpPr>
        <p:spPr>
          <a:xfrm rot="0" flipH="0" flipV="0">
            <a:off x="771525" y="1533525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任何东西没连真数据就不许建</a:t>
            </a:r>
            <a:endParaRPr/>
          </a:p>
        </p:txBody>
      </p:sp>
      <p:sp>
        <p:nvSpPr>
          <p:cNvPr id="3102" name=""/>
          <p:cNvSpPr/>
          <p:nvPr/>
        </p:nvSpPr>
        <p:spPr>
          <a:xfrm rot="0" flipH="0" flipV="0">
            <a:off x="647700" y="1771650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03" name=""/>
          <p:cNvSpPr/>
          <p:nvPr/>
        </p:nvSpPr>
        <p:spPr>
          <a:xfrm rot="0" flipH="0" flipV="0">
            <a:off x="647700" y="1771650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04" name="" descr="{&quot;isTemplate&quot;:true,&quot;type&quot;:&quot;text&quot;}"/>
          <p:cNvSpPr txBox="1"/>
          <p:nvPr/>
        </p:nvSpPr>
        <p:spPr>
          <a:xfrm rot="0" flipH="0" flipV="0">
            <a:off x="771525" y="17716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05" name="" descr="{&quot;isTemplate&quot;:true,&quot;type&quot;:&quot;text&quot;}"/>
          <p:cNvSpPr txBox="1"/>
          <p:nvPr/>
        </p:nvSpPr>
        <p:spPr>
          <a:xfrm rot="0" flipH="0" flipV="0">
            <a:off x="971550" y="1771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密级前置</a:t>
            </a:r>
            <a:endParaRPr/>
          </a:p>
        </p:txBody>
      </p:sp>
      <p:sp>
        <p:nvSpPr>
          <p:cNvPr id="3106" name="" descr="{&quot;isTemplate&quot;:true,&quot;type&quot;:&quot;text&quot;}"/>
          <p:cNvSpPr txBox="1"/>
          <p:nvPr/>
        </p:nvSpPr>
        <p:spPr>
          <a:xfrm rot="0" flipH="0" flipV="0">
            <a:off x="771525" y="196215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建之前先标密级，不许后补</a:t>
            </a:r>
            <a:endParaRPr/>
          </a:p>
        </p:txBody>
      </p:sp>
      <p:sp>
        <p:nvSpPr>
          <p:cNvPr id="3107" name=""/>
          <p:cNvSpPr/>
          <p:nvPr/>
        </p:nvSpPr>
        <p:spPr>
          <a:xfrm rot="0" flipH="0" flipV="0">
            <a:off x="647700" y="2200275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08" name=""/>
          <p:cNvSpPr/>
          <p:nvPr/>
        </p:nvSpPr>
        <p:spPr>
          <a:xfrm rot="0" flipH="0" flipV="0">
            <a:off x="647700" y="2200275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09" name="" descr="{&quot;isTemplate&quot;:true,&quot;type&quot;:&quot;text&quot;}"/>
          <p:cNvSpPr txBox="1"/>
          <p:nvPr/>
        </p:nvSpPr>
        <p:spPr>
          <a:xfrm rot="0" flipH="0" flipV="0">
            <a:off x="771525" y="22002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110" name="" descr="{&quot;isTemplate&quot;:true,&quot;type&quot;:&quot;text&quot;}"/>
          <p:cNvSpPr txBox="1"/>
          <p:nvPr/>
        </p:nvSpPr>
        <p:spPr>
          <a:xfrm rot="0" flipH="0" flipV="0">
            <a:off x="971550" y="22002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当场签字</a:t>
            </a:r>
            <a:endParaRPr/>
          </a:p>
        </p:txBody>
      </p:sp>
      <p:sp>
        <p:nvSpPr>
          <p:cNvPr id="3111" name="" descr="{&quot;isTemplate&quot;:true,&quot;type&quot;:&quot;text&quot;}"/>
          <p:cNvSpPr txBox="1"/>
          <p:nvPr/>
        </p:nvSpPr>
        <p:spPr>
          <a:xfrm rot="0" flipH="0" flipV="0">
            <a:off x="771525" y="2390775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客户负责人签字，不接受代签</a:t>
            </a:r>
            <a:endParaRPr/>
          </a:p>
        </p:txBody>
      </p:sp>
      <p:sp>
        <p:nvSpPr>
          <p:cNvPr id="3112" name=""/>
          <p:cNvSpPr/>
          <p:nvPr/>
        </p:nvSpPr>
        <p:spPr>
          <a:xfrm rot="0" flipH="0" flipV="0">
            <a:off x="647700" y="2628900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13" name=""/>
          <p:cNvSpPr/>
          <p:nvPr/>
        </p:nvSpPr>
        <p:spPr>
          <a:xfrm rot="0" flipH="0" flipV="0">
            <a:off x="647700" y="2628900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14" name="" descr="{&quot;isTemplate&quot;:true,&quot;type&quot;:&quot;text&quot;}"/>
          <p:cNvSpPr txBox="1"/>
          <p:nvPr/>
        </p:nvSpPr>
        <p:spPr>
          <a:xfrm rot="0" flipH="0" flipV="0">
            <a:off x="771525" y="262890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15" name="" descr="{&quot;isTemplate&quot;:true,&quot;type&quot;:&quot;text&quot;}"/>
          <p:cNvSpPr txBox="1"/>
          <p:nvPr/>
        </p:nvSpPr>
        <p:spPr>
          <a:xfrm rot="0" flipH="0" flipV="0">
            <a:off x="971550" y="26289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可逆优先</a:t>
            </a:r>
            <a:endParaRPr/>
          </a:p>
        </p:txBody>
      </p:sp>
      <p:sp>
        <p:nvSpPr>
          <p:cNvPr id="3116" name="" descr="{&quot;isTemplate&quot;:true,&quot;type&quot;:&quot;text&quot;}"/>
          <p:cNvSpPr txBox="1"/>
          <p:nvPr/>
        </p:nvSpPr>
        <p:spPr>
          <a:xfrm rot="0" flipH="0" flipV="0">
            <a:off x="771525" y="281940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删除合并先留退路</a:t>
            </a:r>
            <a:endParaRPr/>
          </a:p>
        </p:txBody>
      </p:sp>
      <p:sp>
        <p:nvSpPr>
          <p:cNvPr id="3117" name=""/>
          <p:cNvSpPr/>
          <p:nvPr/>
        </p:nvSpPr>
        <p:spPr>
          <a:xfrm rot="0" flipH="0" flipV="0">
            <a:off x="6181725" y="1343025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18" name=""/>
          <p:cNvSpPr/>
          <p:nvPr/>
        </p:nvSpPr>
        <p:spPr>
          <a:xfrm rot="0" flipH="0" flipV="0">
            <a:off x="6181725" y="1343025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119" name="" descr="{&quot;isTemplate&quot;:true,&quot;type&quot;:&quot;text&quot;}"/>
          <p:cNvSpPr txBox="1"/>
          <p:nvPr/>
        </p:nvSpPr>
        <p:spPr>
          <a:xfrm rot="0" flipH="0" flipV="0">
            <a:off x="6305550" y="134302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20" name="" descr="{&quot;isTemplate&quot;:true,&quot;type&quot;:&quot;text&quot;}"/>
          <p:cNvSpPr txBox="1"/>
          <p:nvPr/>
        </p:nvSpPr>
        <p:spPr>
          <a:xfrm rot="0" flipH="0" flipV="0">
            <a:off x="6505575" y="13430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现场写码</a:t>
            </a:r>
            <a:endParaRPr/>
          </a:p>
        </p:txBody>
      </p:sp>
      <p:sp>
        <p:nvSpPr>
          <p:cNvPr id="3121" name="" descr="{&quot;isTemplate&quot;:true,&quot;type&quot;:&quot;text&quot;}"/>
          <p:cNvSpPr txBox="1"/>
          <p:nvPr/>
        </p:nvSpPr>
        <p:spPr>
          <a:xfrm rot="0" flipH="0" flipV="0">
            <a:off x="6305550" y="1533525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在客户环境写，不总部代写</a:t>
            </a:r>
            <a:endParaRPr/>
          </a:p>
        </p:txBody>
      </p:sp>
      <p:sp>
        <p:nvSpPr>
          <p:cNvPr id="3122" name=""/>
          <p:cNvSpPr/>
          <p:nvPr/>
        </p:nvSpPr>
        <p:spPr>
          <a:xfrm rot="0" flipH="0" flipV="0">
            <a:off x="6181725" y="1771650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23" name=""/>
          <p:cNvSpPr/>
          <p:nvPr/>
        </p:nvSpPr>
        <p:spPr>
          <a:xfrm rot="0" flipH="0" flipV="0">
            <a:off x="6181725" y="1771650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124" name="" descr="{&quot;isTemplate&quot;:true,&quot;type&quot;:&quot;text&quot;}"/>
          <p:cNvSpPr txBox="1"/>
          <p:nvPr/>
        </p:nvSpPr>
        <p:spPr>
          <a:xfrm rot="0" flipH="0" flipV="0">
            <a:off x="6305550" y="177165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125" name="" descr="{&quot;isTemplate&quot;:true,&quot;type&quot;:&quot;text&quot;}"/>
          <p:cNvSpPr txBox="1"/>
          <p:nvPr/>
        </p:nvSpPr>
        <p:spPr>
          <a:xfrm rot="0" flipH="0" flipV="0">
            <a:off x="6505575" y="1771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写回路径</a:t>
            </a:r>
            <a:endParaRPr/>
          </a:p>
        </p:txBody>
      </p:sp>
      <p:sp>
        <p:nvSpPr>
          <p:cNvPr id="3126" name="" descr="{&quot;isTemplate&quot;:true,&quot;type&quot;:&quot;text&quot;}"/>
          <p:cNvSpPr txBox="1"/>
          <p:nvPr/>
        </p:nvSpPr>
        <p:spPr>
          <a:xfrm rot="0" flipH="0" flipV="0">
            <a:off x="6305550" y="196215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无写回路径的场景不上线</a:t>
            </a:r>
            <a:endParaRPr/>
          </a:p>
        </p:txBody>
      </p:sp>
      <p:sp>
        <p:nvSpPr>
          <p:cNvPr id="3127" name=""/>
          <p:cNvSpPr/>
          <p:nvPr/>
        </p:nvSpPr>
        <p:spPr>
          <a:xfrm rot="0" flipH="0" flipV="0">
            <a:off x="6181725" y="2200275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28" name=""/>
          <p:cNvSpPr/>
          <p:nvPr/>
        </p:nvSpPr>
        <p:spPr>
          <a:xfrm rot="0" flipH="0" flipV="0">
            <a:off x="6181725" y="2200275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129" name="" descr="{&quot;isTemplate&quot;:true,&quot;type&quot;:&quot;text&quot;}"/>
          <p:cNvSpPr txBox="1"/>
          <p:nvPr/>
        </p:nvSpPr>
        <p:spPr>
          <a:xfrm rot="0" flipH="0" flipV="0">
            <a:off x="6305550" y="22002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3130" name="" descr="{&quot;isTemplate&quot;:true,&quot;type&quot;:&quot;text&quot;}"/>
          <p:cNvSpPr txBox="1"/>
          <p:nvPr/>
        </p:nvSpPr>
        <p:spPr>
          <a:xfrm rot="0" flipH="0" flipV="0">
            <a:off x="6505575" y="22002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当场定档</a:t>
            </a:r>
            <a:endParaRPr/>
          </a:p>
        </p:txBody>
      </p:sp>
      <p:sp>
        <p:nvSpPr>
          <p:cNvPr id="3131" name="" descr="{&quot;isTemplate&quot;:true,&quot;type&quot;:&quot;text&quot;}"/>
          <p:cNvSpPr txBox="1"/>
          <p:nvPr/>
        </p:nvSpPr>
        <p:spPr>
          <a:xfrm rot="0" flipH="0" flipV="0">
            <a:off x="6305550" y="2390775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可复用度现场判定，不留到总部</a:t>
            </a:r>
            <a:endParaRPr/>
          </a:p>
        </p:txBody>
      </p:sp>
      <p:sp>
        <p:nvSpPr>
          <p:cNvPr id="3132" name=""/>
          <p:cNvSpPr/>
          <p:nvPr/>
        </p:nvSpPr>
        <p:spPr>
          <a:xfrm rot="0" flipH="0" flipV="0">
            <a:off x="6181725" y="2628900"/>
            <a:ext cx="5438775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33" name=""/>
          <p:cNvSpPr/>
          <p:nvPr/>
        </p:nvSpPr>
        <p:spPr>
          <a:xfrm rot="0" flipH="0" flipV="0">
            <a:off x="6181725" y="2628900"/>
            <a:ext cx="5438775" cy="361950"/>
          </a:xfrm>
          <a:custGeom>
            <a:pathLst>
              <a:path w="571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134" name="" descr="{&quot;isTemplate&quot;:true,&quot;type&quot;:&quot;text&quot;}"/>
          <p:cNvSpPr txBox="1"/>
          <p:nvPr/>
        </p:nvSpPr>
        <p:spPr>
          <a:xfrm rot="0" flipH="0" flipV="0">
            <a:off x="6305550" y="2628900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C43A17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3135" name="" descr="{&quot;isTemplate&quot;:true,&quot;type&quot;:&quot;text&quot;}"/>
          <p:cNvSpPr txBox="1"/>
          <p:nvPr/>
        </p:nvSpPr>
        <p:spPr>
          <a:xfrm rot="0" flipH="0" flipV="0">
            <a:off x="6505575" y="262890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七成验收</a:t>
            </a:r>
            <a:endParaRPr/>
          </a:p>
        </p:txBody>
      </p:sp>
      <p:sp>
        <p:nvSpPr>
          <p:cNvPr id="3136" name="" descr="{&quot;isTemplate&quot;:true,&quot;type&quot;:&quot;text&quot;}"/>
          <p:cNvSpPr txBox="1"/>
          <p:nvPr/>
        </p:nvSpPr>
        <p:spPr>
          <a:xfrm rot="0" flipH="0" flipV="0">
            <a:off x="6305550" y="2819400"/>
            <a:ext cx="51530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召回低于七成不上线</a:t>
            </a:r>
            <a:endParaRPr/>
          </a:p>
        </p:txBody>
      </p:sp>
      <p:sp>
        <p:nvSpPr>
          <p:cNvPr id="3137" name=""/>
          <p:cNvSpPr/>
          <p:nvPr/>
        </p:nvSpPr>
        <p:spPr>
          <a:xfrm rot="0" flipH="0" flipV="0">
            <a:off x="609600" y="31146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138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这八条的共同结构</a:t>
            </a:r>
            <a:endParaRPr/>
          </a:p>
        </p:txBody>
      </p:sp>
      <p:sp>
        <p:nvSpPr>
          <p:cNvPr id="3139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三条前置</a:t>
            </a:r>
            <a:endParaRPr/>
          </a:p>
        </p:txBody>
      </p:sp>
      <p:sp>
        <p:nvSpPr>
          <p:cNvPr id="3140" name="" descr="{&quot;isTemplate&quot;:true,&quot;type&quot;:&quot;text&quot;}"/>
          <p:cNvSpPr txBox="1"/>
          <p:nvPr/>
        </p:nvSpPr>
        <p:spPr>
          <a:xfrm rot="0" flipH="0" flipV="0">
            <a:off x="1524000" y="37242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真数据、密级、签字——都在动手之前</a:t>
            </a:r>
            <a:endParaRPr/>
          </a:p>
        </p:txBody>
      </p:sp>
      <p:sp>
        <p:nvSpPr>
          <p:cNvPr id="3141" name="" descr="{&quot;isTemplate&quot;:true,&quot;type&quot;:&quot;text&quot;}"/>
          <p:cNvSpPr txBox="1"/>
          <p:nvPr/>
        </p:nvSpPr>
        <p:spPr>
          <a:xfrm rot="0" flipH="0" flipV="0">
            <a:off x="781050" y="402907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三条同步</a:t>
            </a:r>
            <a:endParaRPr/>
          </a:p>
        </p:txBody>
      </p:sp>
      <p:sp>
        <p:nvSpPr>
          <p:cNvPr id="3142" name="" descr="{&quot;isTemplate&quot;:true,&quot;type&quot;:&quot;text&quot;}"/>
          <p:cNvSpPr txBox="1"/>
          <p:nvPr/>
        </p:nvSpPr>
        <p:spPr>
          <a:xfrm rot="0" flipH="0" flipV="0">
            <a:off x="1524000" y="40290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现场写码、写回路径、定档——都在过程之中</a:t>
            </a:r>
            <a:endParaRPr/>
          </a:p>
        </p:txBody>
      </p:sp>
      <p:sp>
        <p:nvSpPr>
          <p:cNvPr id="3143" name="" descr="{&quot;isTemplate&quot;:true,&quot;type&quot;:&quot;text&quot;}"/>
          <p:cNvSpPr txBox="1"/>
          <p:nvPr/>
        </p:nvSpPr>
        <p:spPr>
          <a:xfrm rot="0" flipH="0" flipV="0">
            <a:off x="781050" y="433387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两条收口</a:t>
            </a:r>
            <a:endParaRPr/>
          </a:p>
        </p:txBody>
      </p:sp>
      <p:sp>
        <p:nvSpPr>
          <p:cNvPr id="3144" name="" descr="{&quot;isTemplate&quot;:true,&quot;type&quot;:&quot;text&quot;}"/>
          <p:cNvSpPr txBox="1"/>
          <p:nvPr/>
        </p:nvSpPr>
        <p:spPr>
          <a:xfrm rot="0" flipH="0" flipV="0">
            <a:off x="1524000" y="43338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可逆、验收——都在交付之前</a:t>
            </a:r>
            <a:endParaRPr/>
          </a:p>
        </p:txBody>
      </p:sp>
      <p:sp>
        <p:nvSpPr>
          <p:cNvPr id="3145" name=""/>
          <p:cNvSpPr/>
          <p:nvPr/>
        </p:nvSpPr>
        <p:spPr>
          <a:xfrm rot="0" flipH="0" flipV="0">
            <a:off x="5219700" y="31146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146" name=""/>
          <p:cNvSpPr/>
          <p:nvPr/>
        </p:nvSpPr>
        <p:spPr>
          <a:xfrm rot="0" flipH="0" flipV="0">
            <a:off x="5219700" y="31146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47" name="" descr="{&quot;isTemplate&quot;:true,&quot;type&quot;:&quot;text&quot;}"/>
          <p:cNvSpPr txBox="1"/>
          <p:nvPr/>
        </p:nvSpPr>
        <p:spPr>
          <a:xfrm rot="0" flipH="0" flipV="0">
            <a:off x="5381625" y="32861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违反哪条后果最重</a:t>
            </a:r>
            <a:endParaRPr/>
          </a:p>
        </p:txBody>
      </p:sp>
      <p:sp>
        <p:nvSpPr>
          <p:cNvPr id="3148" name="" descr="{&quot;isTemplate&quot;:true,&quot;type&quot;:&quot;text&quot;}"/>
          <p:cNvSpPr txBox="1"/>
          <p:nvPr/>
        </p:nvSpPr>
        <p:spPr>
          <a:xfrm rot="0" flipH="0" flipV="0">
            <a:off x="5381625" y="35718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密级前置</a:t>
            </a:r>
            <a:endParaRPr/>
          </a:p>
        </p:txBody>
      </p:sp>
      <p:sp>
        <p:nvSpPr>
          <p:cNvPr id="3149" name="" descr="{&quot;isTemplate&quot;:true,&quot;type&quot;:&quot;text&quot;}"/>
          <p:cNvSpPr txBox="1"/>
          <p:nvPr/>
        </p:nvSpPr>
        <p:spPr>
          <a:xfrm rot="0" flipH="0" flipV="0">
            <a:off x="6362700" y="357187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数据泄露，无法挽回</a:t>
            </a:r>
            <a:endParaRPr/>
          </a:p>
        </p:txBody>
      </p:sp>
      <p:sp>
        <p:nvSpPr>
          <p:cNvPr id="3150" name="" descr="{&quot;isTemplate&quot;:true,&quot;type&quot;:&quot;text&quot;}"/>
          <p:cNvSpPr txBox="1"/>
          <p:nvPr/>
        </p:nvSpPr>
        <p:spPr>
          <a:xfrm rot="0" flipH="0" flipV="0">
            <a:off x="5381625" y="38862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06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写回路径</a:t>
            </a:r>
            <a:endParaRPr/>
          </a:p>
        </p:txBody>
      </p:sp>
      <p:sp>
        <p:nvSpPr>
          <p:cNvPr id="3151" name="" descr="{&quot;isTemplate&quot;:true,&quot;type&quot;:&quot;text&quot;}"/>
          <p:cNvSpPr txBox="1"/>
          <p:nvPr/>
        </p:nvSpPr>
        <p:spPr>
          <a:xfrm rot="0" flipH="0" flipV="0">
            <a:off x="6362700" y="3886200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交付即闲置，前面白做</a:t>
            </a:r>
            <a:endParaRPr/>
          </a:p>
        </p:txBody>
      </p:sp>
      <p:sp>
        <p:nvSpPr>
          <p:cNvPr id="3152" name="" descr="{&quot;isTemplate&quot;:true,&quot;type&quot;:&quot;text&quot;}"/>
          <p:cNvSpPr txBox="1"/>
          <p:nvPr/>
        </p:nvSpPr>
        <p:spPr>
          <a:xfrm rot="0" flipH="0" flipV="0">
            <a:off x="5381625" y="420052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07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当场定档</a:t>
            </a:r>
            <a:endParaRPr/>
          </a:p>
        </p:txBody>
      </p:sp>
      <p:sp>
        <p:nvSpPr>
          <p:cNvPr id="3153" name="" descr="{&quot;isTemplate&quot;:true,&quot;type&quot;:&quot;text&quot;}"/>
          <p:cNvSpPr txBox="1"/>
          <p:nvPr/>
        </p:nvSpPr>
        <p:spPr>
          <a:xfrm rot="0" flipH="0" flipV="0">
            <a:off x="6362700" y="4200525"/>
            <a:ext cx="5057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经验流失，公司没长进</a:t>
            </a:r>
            <a:endParaRPr/>
          </a:p>
        </p:txBody>
      </p:sp>
      <p:sp>
        <p:nvSpPr>
          <p:cNvPr id="3154" name="" descr="{&quot;isTemplate&quot;:true,&quot;type&quot;:&quot;text&quot;}"/>
          <p:cNvSpPr txBox="1"/>
          <p:nvPr/>
        </p:nvSpPr>
        <p:spPr>
          <a:xfrm rot="0" flipH="0" flipV="0">
            <a:off x="5381625" y="453390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这三条建议直接写进现场工作守则。</a:t>
            </a:r>
            <a:endParaRPr/>
          </a:p>
        </p:txBody>
      </p:sp>
      <p:sp>
        <p:nvSpPr>
          <p:cNvPr id="3155" name=""/>
          <p:cNvSpPr/>
          <p:nvPr/>
        </p:nvSpPr>
        <p:spPr>
          <a:xfrm rot="0" flipH="0" flipV="0">
            <a:off x="609600" y="5010150"/>
            <a:ext cx="198120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56" name="" descr="{&quot;isTemplate&quot;:true,&quot;type&quot;:&quot;text&quot;}"/>
          <p:cNvSpPr txBox="1"/>
          <p:nvPr/>
        </p:nvSpPr>
        <p:spPr>
          <a:xfrm rot="0" flipH="0" flipV="0">
            <a:off x="752475" y="501015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3157" name="" descr="{&quot;isTemplate&quot;:true,&quot;type&quot;:&quot;text&quot;}"/>
          <p:cNvSpPr txBox="1"/>
          <p:nvPr/>
        </p:nvSpPr>
        <p:spPr>
          <a:xfrm rot="0" flipH="0" flipV="0">
            <a:off x="752475" y="5191125"/>
            <a:ext cx="16954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八大领域、四个阶段，一个都不例外</a:t>
            </a:r>
            <a:endParaRPr/>
          </a:p>
        </p:txBody>
      </p:sp>
      <p:sp>
        <p:nvSpPr>
          <p:cNvPr id="3158" name=""/>
          <p:cNvSpPr/>
          <p:nvPr/>
        </p:nvSpPr>
        <p:spPr>
          <a:xfrm rot="0" flipH="0" flipV="0">
            <a:off x="2705100" y="5010150"/>
            <a:ext cx="2886075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59" name="" descr="{&quot;isTemplate&quot;:true,&quot;type&quot;:&quot;text&quot;}"/>
          <p:cNvSpPr txBox="1"/>
          <p:nvPr/>
        </p:nvSpPr>
        <p:spPr>
          <a:xfrm rot="0" flipH="0" flipV="0">
            <a:off x="2838450" y="51244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四阶段</a:t>
            </a:r>
            <a:endParaRPr/>
          </a:p>
        </p:txBody>
      </p:sp>
      <p:sp>
        <p:nvSpPr>
          <p:cNvPr id="3160" name="" descr="{&quot;isTemplate&quot;:true,&quot;type&quot;:&quot;text&quot;}"/>
          <p:cNvSpPr txBox="1"/>
          <p:nvPr/>
        </p:nvSpPr>
        <p:spPr>
          <a:xfrm rot="0" flipH="0" flipV="0">
            <a:off x="2838450" y="53149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Enter / Investigate / Execute /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回流</a:t>
            </a:r>
            <a:endParaRPr/>
          </a:p>
        </p:txBody>
      </p:sp>
      <p:sp>
        <p:nvSpPr>
          <p:cNvPr id="3161" name=""/>
          <p:cNvSpPr/>
          <p:nvPr/>
        </p:nvSpPr>
        <p:spPr>
          <a:xfrm rot="0" flipH="0" flipV="0">
            <a:off x="5705475" y="5010150"/>
            <a:ext cx="2876550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62" name="" descr="{&quot;isTemplate&quot;:true,&quot;type&quot;:&quot;text&quot;}"/>
          <p:cNvSpPr txBox="1"/>
          <p:nvPr/>
        </p:nvSpPr>
        <p:spPr>
          <a:xfrm rot="0" flipH="0" flipV="0">
            <a:off x="5838825" y="512445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八领域</a:t>
            </a:r>
            <a:endParaRPr/>
          </a:p>
        </p:txBody>
      </p:sp>
      <p:sp>
        <p:nvSpPr>
          <p:cNvPr id="3163" name="" descr="{&quot;isTemplate&quot;:true,&quot;type&quot;:&quot;text&quot;}"/>
          <p:cNvSpPr txBox="1"/>
          <p:nvPr/>
        </p:nvSpPr>
        <p:spPr>
          <a:xfrm rot="0" flipH="0" flipV="0">
            <a:off x="5838825" y="5314950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管道·本体·主数据·指标·知识库·治理·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Agent·4A</a:t>
            </a:r>
            <a:endParaRPr/>
          </a:p>
        </p:txBody>
      </p:sp>
      <p:sp>
        <p:nvSpPr>
          <p:cNvPr id="3164" name=""/>
          <p:cNvSpPr/>
          <p:nvPr/>
        </p:nvSpPr>
        <p:spPr>
          <a:xfrm rot="0" flipH="0" flipV="0">
            <a:off x="8696325" y="5010150"/>
            <a:ext cx="2886075" cy="581025"/>
          </a:xfrm>
          <a:prstGeom prst="roundRect">
            <a:avLst>
              <a:gd name="adj" fmla="val 655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65" name="" descr="{&quot;isTemplate&quot;:true,&quot;type&quot;:&quot;text&quot;}"/>
          <p:cNvSpPr txBox="1"/>
          <p:nvPr/>
        </p:nvSpPr>
        <p:spPr>
          <a:xfrm rot="0" flipH="0" flipV="0">
            <a:off x="8829675" y="51244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两种项目</a:t>
            </a:r>
            <a:endParaRPr/>
          </a:p>
        </p:txBody>
      </p:sp>
      <p:sp>
        <p:nvSpPr>
          <p:cNvPr id="3166" name="" descr="{&quot;isTemplate&quot;:true,&quot;type&quot;:&quot;text&quot;}"/>
          <p:cNvSpPr txBox="1"/>
          <p:nvPr/>
        </p:nvSpPr>
        <p:spPr>
          <a:xfrm rot="0" flipH="0" flipV="0">
            <a:off x="8829675" y="53149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新客户项目与平台迭代同样适用</a:t>
            </a:r>
            <a:endParaRPr/>
          </a:p>
        </p:txBody>
      </p:sp>
      <p:sp>
        <p:nvSpPr>
          <p:cNvPr id="316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6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6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17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52 / 60</a:t>
            </a:r>
            <a:endParaRPr/>
          </a:p>
        </p:txBody>
      </p:sp>
    </p:spTree>
  </p:cSld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3171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5&lt;/Text&gt;&#13;&#10;  &lt;/Box&gt;&#13;&#10;&#13;&#10;  &lt;Box style={{ position: 'absolute', left: 88, top: 240, width: 700, flexDirection: 'column' }}&gt;&#13;&#10;    &lt;Text style={{ fontSize: 15, color: 'rgba(255,255,255,0.5)', letterSpacing: 3 }}&gt;PART 05&lt;/Text&gt;&#13;&#10;    &lt;Box style={{ width: 72, height: 5, background: '#FA4F24', marginTop: 22 }} /&gt;&#13;&#10;    &lt;Text style={{ fontSize: 56, fontWeight: 'bold', color: '#FFFFFF', marginTop: 28, lineHeight: 1.15 }}&gt;组织与工具&lt;/Text&gt;&#13;&#10;    &lt;Text style={{ fontSize: 17, color: 'rgba(255,255,255,0.62)', letterSpacing: 2, marginTop: 20 }}&gt;ORGANIZATION &amp; TOOLING&lt;/Text&gt;&#13;&#10;    &lt;Text style={{ fontSize: 19, color: 'rgba(255,255,255,0.85)', marginTop: 26, lineHeight: 1.6 }}&gt;团队配比、组织治理、九个现场工作台，以及 FDE 的职业路径&lt;/Text&gt;&#13;&#10;  &lt;/Box&gt;&#13;&#10;&#13;&#10;  &lt;Box style={{ position: 'absolute', left: 88, top: 520, flexDirection: 'row', gap: 34 }}&gt;&#13;&#10;    {[&#13;&#10;      { k: '1 : 2–5M', v: '管道配比' },&#13;&#10;      { k: '9 个', v: '现场工作台' },&#13;&#10;      { k: '5 层', v: '知识转移' },&#13;&#10;      { k: '1 条', v: '最终判断标准' }&#13;&#10;    ].map((x, i) =&gt; (&#13;&#10;      &lt;Box key={x.k} style={{ opacity: 0.72 }}&gt;&#13;&#10;        &lt;Text style={{ fontSize: 12.5, color: '#FBA15C', fontWeight: 'bold' }}&gt;{x.k}&lt;/Text&gt;&#13;&#10;        &lt;Text style={{ fontSize: 12, color: 'rgba(255,255,255,0.8)', marginTop: 4 }}&gt;{x.v}&lt;/Text&gt;&#13;&#10;      &lt;/Box&gt;&#13;&#10;    ))}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FDE咨询方法论&lt;/Text&gt;&#13;&#10;    &lt;Text style={{ fontSize: 14, color: 'rgba(255,255,255,0.5)', marginLeft: 12 }}&gt;53 / 6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174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3175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76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05</a:t>
            </a:r>
            <a:endParaRPr/>
          </a:p>
        </p:txBody>
      </p:sp>
      <p:sp>
        <p:nvSpPr>
          <p:cNvPr id="3177" name=""/>
          <p:cNvSpPr/>
          <p:nvPr/>
        </p:nvSpPr>
        <p:spPr>
          <a:xfrm rot="0" flipH="0" flipV="0">
            <a:off x="838200" y="26670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78" name="" descr="{&quot;isTemplate&quot;:true,&quot;type&quot;:&quot;text&quot;}"/>
          <p:cNvSpPr txBox="1"/>
          <p:nvPr/>
        </p:nvSpPr>
        <p:spPr>
          <a:xfrm rot="0" flipH="0" flipV="0">
            <a:off x="838200" y="2981325"/>
            <a:ext cx="666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组织与工具</a:t>
            </a:r>
            <a:endParaRPr/>
          </a:p>
        </p:txBody>
      </p:sp>
      <p:sp>
        <p:nvSpPr>
          <p:cNvPr id="3179" name="" descr="{&quot;isTemplate&quot;:true,&quot;type&quot;:&quot;text&quot;}"/>
          <p:cNvSpPr txBox="1"/>
          <p:nvPr/>
        </p:nvSpPr>
        <p:spPr>
          <a:xfrm rot="0" flipH="0" flipV="0">
            <a:off x="838200" y="391477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ORGANIZATION &amp; TOOLING</a:t>
            </a:r>
            <a:endParaRPr/>
          </a:p>
        </p:txBody>
      </p:sp>
      <p:sp>
        <p:nvSpPr>
          <p:cNvPr id="3180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团队配比、组织治理、九个现场工作台，以及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的职业路径</a:t>
            </a:r>
            <a:endParaRPr/>
          </a:p>
        </p:txBody>
      </p:sp>
      <p:sp>
        <p:nvSpPr>
          <p:cNvPr id="3181" name="" descr="{&quot;isTemplate&quot;:true,&quot;type&quot;:&quot;text&quot;}"/>
          <p:cNvSpPr txBox="1"/>
          <p:nvPr/>
        </p:nvSpPr>
        <p:spPr>
          <a:xfrm rot="0" flipH="0" flipV="0">
            <a:off x="838200" y="4953000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1 : 2–5M</a:t>
            </a:r>
            <a:endParaRPr/>
          </a:p>
        </p:txBody>
      </p:sp>
      <p:sp>
        <p:nvSpPr>
          <p:cNvPr id="3182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管道配比</a:t>
            </a:r>
            <a:endParaRPr/>
          </a:p>
        </p:txBody>
      </p:sp>
      <p:sp>
        <p:nvSpPr>
          <p:cNvPr id="3183" name="" descr="{&quot;isTemplate&quot;:true,&quot;type&quot;:&quot;text&quot;}"/>
          <p:cNvSpPr txBox="1"/>
          <p:nvPr/>
        </p:nvSpPr>
        <p:spPr>
          <a:xfrm rot="0" flipH="0" flipV="0">
            <a:off x="1676400" y="49530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184" name="" descr="{&quot;isTemplate&quot;:true,&quot;type&quot;:&quot;text&quot;}"/>
          <p:cNvSpPr txBox="1"/>
          <p:nvPr/>
        </p:nvSpPr>
        <p:spPr>
          <a:xfrm rot="0" flipH="0" flipV="0">
            <a:off x="1676400" y="51339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现场工作台</a:t>
            </a:r>
            <a:endParaRPr/>
          </a:p>
        </p:txBody>
      </p:sp>
      <p:sp>
        <p:nvSpPr>
          <p:cNvPr id="3185" name="" descr="{&quot;isTemplate&quot;:true,&quot;type&quot;:&quot;text&quot;}"/>
          <p:cNvSpPr txBox="1"/>
          <p:nvPr/>
        </p:nvSpPr>
        <p:spPr>
          <a:xfrm rot="0" flipH="0" flipV="0">
            <a:off x="2571750" y="4953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3186" name="" descr="{&quot;isTemplate&quot;:true,&quot;type&quot;:&quot;text&quot;}"/>
          <p:cNvSpPr txBox="1"/>
          <p:nvPr/>
        </p:nvSpPr>
        <p:spPr>
          <a:xfrm rot="0" flipH="0" flipV="0">
            <a:off x="2571750" y="51339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知识转移</a:t>
            </a:r>
            <a:endParaRPr/>
          </a:p>
        </p:txBody>
      </p:sp>
      <p:sp>
        <p:nvSpPr>
          <p:cNvPr id="3187" name="" descr="{&quot;isTemplate&quot;:true,&quot;type&quot;:&quot;text&quot;}"/>
          <p:cNvSpPr txBox="1"/>
          <p:nvPr/>
        </p:nvSpPr>
        <p:spPr>
          <a:xfrm rot="0" flipH="0" flipV="0">
            <a:off x="3352800" y="4953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938" b="1">
                <a:solidFill>
                  <a:srgbClr val="FBA15C">
                    <a:alpha val="72000"/>
                  </a:srgbClr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3188" name="" descr="{&quot;isTemplate&quot;:true,&quot;type&quot;:&quot;text&quot;}"/>
          <p:cNvSpPr txBox="1"/>
          <p:nvPr/>
        </p:nvSpPr>
        <p:spPr>
          <a:xfrm rot="0" flipH="0" flipV="0">
            <a:off x="3352800" y="51339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7600"/>
                  </a:srgbClr>
                </a:solidFill>
                <a:latin typeface="Microsoft YaHei"/>
                <a:ea typeface="Microsoft YaHei"/>
              </a:rPr>
              <a:t>最终判断标准</a:t>
            </a:r>
            <a:endParaRPr/>
          </a:p>
        </p:txBody>
      </p:sp>
      <p:sp>
        <p:nvSpPr>
          <p:cNvPr id="3189" name=""/>
          <p:cNvSpPr/>
          <p:nvPr/>
        </p:nvSpPr>
        <p:spPr>
          <a:xfrm rot="0" flipH="0" flipV="0">
            <a:off x="885825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90" name="" descr="{&quot;isTemplate&quot;:true,&quot;type&quot;:&quot;text&quot;}"/>
          <p:cNvSpPr txBox="1"/>
          <p:nvPr/>
        </p:nvSpPr>
        <p:spPr>
          <a:xfrm rot="0" flipH="0" flipV="0">
            <a:off x="9105900" y="608647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19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53 / 60</a:t>
            </a:r>
            <a:endParaRPr/>
          </a:p>
        </p:txBody>
      </p:sp>
    </p:spTree>
  </p:cSld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319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团队配比：&lt;span style={{ color: '#FA4F24' }}&gt;怎么把人摆进一个项目&lt;/span&gt;&#10;        &lt;/Text&gt;&#10;        &lt;Text style={{ fontSize: 20, color: '#8A8F99', marginTop: 8 }}&gt;&#10;            1% 接受率不是营销话术，是筛选强度。进来的人怎么配，直接决定这套模式能不能跑&#10;        &lt;/Text&gt;&#10;    &lt;/Box&gt;&#10;    &lt;Box style={{ height: 1, background: '#E8E8E8' }} /&gt;&#10;&#10;    &lt;Box style={{ paddingTop: 20, paddingBottom: 14, height: 479, flexDirection: 'column', gap: 13 }}&gt;&#10;&#10;        {/* 上：三层配比 */}&#10;        &lt;Box style={{ flex: 1, flexDirection: 'row', gap: 11 }}&gt;&#10;            {[&#10;                { k: '每客户配置', n: '2–4 人', d: 'Delta 与 Echo 一对一配对为基本单元，另加平台侧支持。', c: '#FA4F24' },&#10;                { k: '常驻现场', n: '2–6 人', d: '长期驻场的那部分，随项目阶段进出，不是全程不变。', c: '#E0641E' },&#10;                { k: '管道配比', n: '1 : 200–500万', d: '每 200–500 万美元企业管道配 1 名 FDE，按商机算。', c: '#C43A17' },&#10;            ].map((x) =&gt; (&#10;                &lt;Box key={x.k} style={{ flex: 1, background: '#F7F7F8', borderRadius: 4, padding: '0 16px', flexDirection: 'column', justifyContent: 'center', borderTop: `3px solid ${x.c}` }}&gt;&#10;                    &lt;Text style={{ fontSize: 13.5, fontWeight: 'bold', color: x.c }}&gt;{x.k}&lt;/Text&gt;&#10;                    &lt;Text style={{ fontSize: 26, fontWeight: 'bold', color: '#0F1423', marginTop: 10 }}&gt;{x.n}&lt;/Text&gt;&#10;                    &lt;Text style={{ fontSize: 12, color: '#3A4050', lineHeight: 1.45, marginTop: 10, flex: 1 }}&gt;{x.d}&lt;/Text&gt;&#10;                &lt;/Box&gt;&#10;            ))}&#10;        &lt;/Box&gt;&#10;&#10;        {/* 中：能力三角与人选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三类能力缺一不可&lt;/Text&gt;&#10;                {[&#10;                    { k: '工程', v: '能在客户脏环境里把东西跑通' },&#10;                    { k: '业务', v: '把模糊需求变成可建的模型' },&#10;                    { k: '影响力', v: '说服资深负责人改流程' },&#10;                ].map((x) =&gt; (&#10;                    &lt;Box key={x.k} style={{ flexDirection: 'row', gap: 12, marginTop: 11, alignItems: 'flex-start' }}&gt;&#10;                        &lt;Text style={{ fontSize: 12, fontWeight: 'bold', color: '#FBA15C', width: 62 }}&gt;{x.k}&lt;/Text&gt;&#10;                        &lt;Text style={{ fontSize: 12.5, color: 'rgba(255,255,255,0.85)', lineHeight: 1.4, flex: 1 }}&gt;{x.v}&lt;/Text&gt;&#10;                    &lt;/Box&gt;&#10;                ))}&#10;                &lt;Box style={{ background: 'rgba(250,79,36,0.22)', borderRadius: 3, padding: '0 12px', marginTop: 12 }}&gt;&#10;                    &lt;Text style={{ fontSize: 12, color: '#FBA15C', lineHeight: 1.45 }}&gt;&#10;                        只挑工程好的人，得到的是售前工程师；三种都好，才敢叫 FDE。&#10;                    &lt;/Text&gt;&#10;                &lt;/Box&gt;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Echo 的理想背景&lt;/Text&gt;&#10;                &lt;Text style={{ fontSize: 12.5, color: '#3A4050', lineHeight: 1.5, marginTop: 10, flex: 1 }}&gt;&#10;                    通常不是软件工程师。军官、医疗老兵、金融老手——这类人见过真实的资源约束与组织政治，天然懂「怎么让事情在体系里跑起来」。&#10;                &lt;/Text&gt;&#10;                &lt;Box style={{ background: '#FFFFFF', borderRadius: 3, padding: '0 12px', marginTop: 10 }}&gt;&#10;                    &lt;Text style={{ fontSize: 12, fontWeight: 'bold', color: '#C43A17', lineHeight: 1.45 }}&gt;&#10;                        招 Delta 找技术，招 Echo 找做过艰难交付的人。&#10;                    &lt;/Text&gt;&#10;                &lt;/Box&gt;&#10;            &lt;/Box&gt;&#10;        &lt;/Box&gt;&#10;&#10;        {/* 下：筛选机制 */}&#10;        &lt;Box style={{ height: 68,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筛选机制&lt;/Text&gt;&#10;                &lt;Text style={{ fontSize: 12.5, fontWeight: 'bold', color: '#0F1423', marginTop: 5 }}&gt;候选人接受率约 1%&lt;/Text&gt;&#10;            &lt;/Box&gt;&#10;            {[&#10;                { k: '全天实战', v: '五天在客户现场' },&#10;                { k: '当场淘汰', v: '手不碰生产即淘汰' },&#10;                { k: '背责任', v: '新人第一天就背真实后果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4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团队配比：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怎么把人摆进一个项目</a:t>
            </a:r>
            <a:endParaRPr/>
          </a:p>
        </p:txBody>
      </p:sp>
      <p:sp>
        <p:nvSpPr>
          <p:cNvPr id="319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1%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接受率不是营销话术，是筛选强度。进来的人怎么配，直接决定这套模式能不能跑</a:t>
            </a:r>
            <a:endParaRPr/>
          </a:p>
        </p:txBody>
      </p:sp>
      <p:sp>
        <p:nvSpPr>
          <p:cNvPr id="319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97" name=""/>
          <p:cNvSpPr/>
          <p:nvPr/>
        </p:nvSpPr>
        <p:spPr>
          <a:xfrm rot="0" flipH="0" flipV="0">
            <a:off x="609600" y="1371600"/>
            <a:ext cx="3590925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98" name=""/>
          <p:cNvSpPr/>
          <p:nvPr/>
        </p:nvSpPr>
        <p:spPr>
          <a:xfrm rot="0" flipH="0" flipV="0">
            <a:off x="609600" y="1371600"/>
            <a:ext cx="3590925" cy="1571625"/>
          </a:xfrm>
          <a:custGeom>
            <a:pathLst>
              <a:path w="377" h="165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99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286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A4F24"/>
                </a:solidFill>
                <a:latin typeface="Microsoft YaHei"/>
                <a:ea typeface="Microsoft YaHei"/>
              </a:rPr>
              <a:t>每客户配置</a:t>
            </a:r>
            <a:endParaRPr/>
          </a:p>
        </p:txBody>
      </p:sp>
      <p:sp>
        <p:nvSpPr>
          <p:cNvPr id="3200" name="" descr="{&quot;isTemplate&quot;:true,&quot;type&quot;:&quot;text&quot;}"/>
          <p:cNvSpPr txBox="1"/>
          <p:nvPr/>
        </p:nvSpPr>
        <p:spPr>
          <a:xfrm rot="0" flipH="0" flipV="0">
            <a:off x="762000" y="1628775"/>
            <a:ext cx="3286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2–4 </a:t>
            </a:r>
            <a:r>
              <a:rPr lang="zh-CN" sz="1950" b="1">
                <a:solidFill>
                  <a:srgbClr val="0F1423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3201" name="" descr="{&quot;isTemplate&quot;:true,&quot;type&quot;:&quot;text&quot;}"/>
          <p:cNvSpPr txBox="1"/>
          <p:nvPr/>
        </p:nvSpPr>
        <p:spPr>
          <a:xfrm rot="0" flipH="0" flipV="0">
            <a:off x="762000" y="2028825"/>
            <a:ext cx="3286125" cy="8858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Delta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一对一配对为基本单元，另加平台侧支持。</a:t>
            </a:r>
            <a:endParaRPr/>
          </a:p>
        </p:txBody>
      </p:sp>
      <p:sp>
        <p:nvSpPr>
          <p:cNvPr id="3202" name=""/>
          <p:cNvSpPr/>
          <p:nvPr/>
        </p:nvSpPr>
        <p:spPr>
          <a:xfrm rot="0" flipH="0" flipV="0">
            <a:off x="4305300" y="1371600"/>
            <a:ext cx="3581400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03" name=""/>
          <p:cNvSpPr/>
          <p:nvPr/>
        </p:nvSpPr>
        <p:spPr>
          <a:xfrm rot="0" flipH="0" flipV="0">
            <a:off x="4305300" y="1371600"/>
            <a:ext cx="3581400" cy="1571625"/>
          </a:xfrm>
          <a:custGeom>
            <a:pathLst>
              <a:path w="376" h="165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cubicBezTo>
                  <a:pt x="376" y="3"/>
                  <a:pt x="375" y="3"/>
                  <a:pt x="3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3204" name="" descr="{&quot;isTemplate&quot;:true,&quot;type&quot;:&quot;text&quot;}"/>
          <p:cNvSpPr txBox="1"/>
          <p:nvPr/>
        </p:nvSpPr>
        <p:spPr>
          <a:xfrm rot="0" flipH="0" flipV="0">
            <a:off x="4457700" y="1371600"/>
            <a:ext cx="3276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0641E"/>
                </a:solidFill>
                <a:latin typeface="Microsoft YaHei"/>
                <a:ea typeface="Microsoft YaHei"/>
              </a:rPr>
              <a:t>常驻现场</a:t>
            </a:r>
            <a:endParaRPr/>
          </a:p>
        </p:txBody>
      </p:sp>
      <p:sp>
        <p:nvSpPr>
          <p:cNvPr id="3205" name="" descr="{&quot;isTemplate&quot;:true,&quot;type&quot;:&quot;text&quot;}"/>
          <p:cNvSpPr txBox="1"/>
          <p:nvPr/>
        </p:nvSpPr>
        <p:spPr>
          <a:xfrm rot="0" flipH="0" flipV="0">
            <a:off x="4457700" y="1628775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2–6 </a:t>
            </a:r>
            <a:r>
              <a:rPr lang="zh-CN" sz="1950" b="1">
                <a:solidFill>
                  <a:srgbClr val="0F1423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3206" name="" descr="{&quot;isTemplate&quot;:true,&quot;type&quot;:&quot;text&quot;}"/>
          <p:cNvSpPr txBox="1"/>
          <p:nvPr/>
        </p:nvSpPr>
        <p:spPr>
          <a:xfrm rot="0" flipH="0" flipV="0">
            <a:off x="4457700" y="2028825"/>
            <a:ext cx="3276600" cy="8858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长期驻场的那部分，随项目阶段进出，不是全程不变。</a:t>
            </a:r>
            <a:endParaRPr/>
          </a:p>
        </p:txBody>
      </p:sp>
      <p:sp>
        <p:nvSpPr>
          <p:cNvPr id="3207" name=""/>
          <p:cNvSpPr/>
          <p:nvPr/>
        </p:nvSpPr>
        <p:spPr>
          <a:xfrm rot="0" flipH="0" flipV="0">
            <a:off x="7991475" y="1371600"/>
            <a:ext cx="3590925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08" name=""/>
          <p:cNvSpPr/>
          <p:nvPr/>
        </p:nvSpPr>
        <p:spPr>
          <a:xfrm rot="0" flipH="0" flipV="0">
            <a:off x="7991475" y="1371600"/>
            <a:ext cx="3590925" cy="1571625"/>
          </a:xfrm>
          <a:custGeom>
            <a:pathLst>
              <a:path w="377" h="165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209" name="" descr="{&quot;isTemplate&quot;:true,&quot;type&quot;:&quot;text&quot;}"/>
          <p:cNvSpPr txBox="1"/>
          <p:nvPr/>
        </p:nvSpPr>
        <p:spPr>
          <a:xfrm rot="0" flipH="0" flipV="0">
            <a:off x="8143875" y="1371600"/>
            <a:ext cx="3286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管道配比</a:t>
            </a:r>
            <a:endParaRPr/>
          </a:p>
        </p:txBody>
      </p:sp>
      <p:sp>
        <p:nvSpPr>
          <p:cNvPr id="3210" name="" descr="{&quot;isTemplate&quot;:true,&quot;type&quot;:&quot;text&quot;}"/>
          <p:cNvSpPr txBox="1"/>
          <p:nvPr/>
        </p:nvSpPr>
        <p:spPr>
          <a:xfrm rot="0" flipH="0" flipV="0">
            <a:off x="8143875" y="1628775"/>
            <a:ext cx="3286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F1423"/>
                </a:solidFill>
                <a:latin typeface="Microsoft YaHei"/>
                <a:ea typeface="Microsoft YaHei"/>
              </a:rPr>
              <a:t>1 : 200–500</a:t>
            </a:r>
            <a:r>
              <a:rPr lang="zh-CN" sz="1950" b="1">
                <a:solidFill>
                  <a:srgbClr val="0F1423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211" name="" descr="{&quot;isTemplate&quot;:true,&quot;type&quot;:&quot;text&quot;}"/>
          <p:cNvSpPr txBox="1"/>
          <p:nvPr/>
        </p:nvSpPr>
        <p:spPr>
          <a:xfrm rot="0" flipH="0" flipV="0">
            <a:off x="8143875" y="2028825"/>
            <a:ext cx="3286125" cy="8858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每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200–500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万美元企业管道配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名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，按商机算。</a:t>
            </a:r>
            <a:endParaRPr/>
          </a:p>
        </p:txBody>
      </p:sp>
      <p:sp>
        <p:nvSpPr>
          <p:cNvPr id="3212" name=""/>
          <p:cNvSpPr/>
          <p:nvPr/>
        </p:nvSpPr>
        <p:spPr>
          <a:xfrm rot="0" flipH="0" flipV="0">
            <a:off x="609600" y="30384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13" name="" descr="{&quot;isTemplate&quot;:true,&quot;type&quot;:&quot;text&quot;}"/>
          <p:cNvSpPr txBox="1"/>
          <p:nvPr/>
        </p:nvSpPr>
        <p:spPr>
          <a:xfrm rot="0" flipH="0" flipV="0">
            <a:off x="781050" y="323850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三类能力缺一不可</a:t>
            </a:r>
            <a:endParaRPr/>
          </a:p>
        </p:txBody>
      </p:sp>
      <p:sp>
        <p:nvSpPr>
          <p:cNvPr id="3214" name="" descr="{&quot;isTemplate&quot;:true,&quot;type&quot;:&quot;text&quot;}"/>
          <p:cNvSpPr txBox="1"/>
          <p:nvPr/>
        </p:nvSpPr>
        <p:spPr>
          <a:xfrm rot="0" flipH="0" flipV="0">
            <a:off x="781050" y="3486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工程</a:t>
            </a:r>
            <a:endParaRPr/>
          </a:p>
        </p:txBody>
      </p:sp>
      <p:sp>
        <p:nvSpPr>
          <p:cNvPr id="3215" name="" descr="{&quot;isTemplate&quot;:true,&quot;type&quot;:&quot;text&quot;}"/>
          <p:cNvSpPr txBox="1"/>
          <p:nvPr/>
        </p:nvSpPr>
        <p:spPr>
          <a:xfrm rot="0" flipH="0" flipV="0">
            <a:off x="1485900" y="348615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能在客户脏环境里把东西跑通</a:t>
            </a:r>
            <a:endParaRPr/>
          </a:p>
        </p:txBody>
      </p:sp>
      <p:sp>
        <p:nvSpPr>
          <p:cNvPr id="3216" name="" descr="{&quot;isTemplate&quot;:true,&quot;type&quot;:&quot;text&quot;}"/>
          <p:cNvSpPr txBox="1"/>
          <p:nvPr/>
        </p:nvSpPr>
        <p:spPr>
          <a:xfrm rot="0" flipH="0" flipV="0">
            <a:off x="781050" y="37909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业务</a:t>
            </a:r>
            <a:endParaRPr/>
          </a:p>
        </p:txBody>
      </p:sp>
      <p:sp>
        <p:nvSpPr>
          <p:cNvPr id="3217" name="" descr="{&quot;isTemplate&quot;:true,&quot;type&quot;:&quot;text&quot;}"/>
          <p:cNvSpPr txBox="1"/>
          <p:nvPr/>
        </p:nvSpPr>
        <p:spPr>
          <a:xfrm rot="0" flipH="0" flipV="0">
            <a:off x="1485900" y="379095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把模糊需求变成可建的模型</a:t>
            </a:r>
            <a:endParaRPr/>
          </a:p>
        </p:txBody>
      </p:sp>
      <p:sp>
        <p:nvSpPr>
          <p:cNvPr id="3218" name="" descr="{&quot;isTemplate&quot;:true,&quot;type&quot;:&quot;text&quot;}"/>
          <p:cNvSpPr txBox="1"/>
          <p:nvPr/>
        </p:nvSpPr>
        <p:spPr>
          <a:xfrm rot="0" flipH="0" flipV="0">
            <a:off x="781050" y="40957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影响力</a:t>
            </a:r>
            <a:endParaRPr/>
          </a:p>
        </p:txBody>
      </p:sp>
      <p:sp>
        <p:nvSpPr>
          <p:cNvPr id="3219" name="" descr="{&quot;isTemplate&quot;:true,&quot;type&quot;:&quot;text&quot;}"/>
          <p:cNvSpPr txBox="1"/>
          <p:nvPr/>
        </p:nvSpPr>
        <p:spPr>
          <a:xfrm rot="0" flipH="0" flipV="0">
            <a:off x="1485900" y="409575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说服资深负责人改流程</a:t>
            </a:r>
            <a:endParaRPr/>
          </a:p>
        </p:txBody>
      </p:sp>
      <p:sp>
        <p:nvSpPr>
          <p:cNvPr id="3220" name=""/>
          <p:cNvSpPr/>
          <p:nvPr/>
        </p:nvSpPr>
        <p:spPr>
          <a:xfrm rot="0" flipH="0" flipV="0">
            <a:off x="781050" y="4410075"/>
            <a:ext cx="4114800" cy="200025"/>
          </a:xfrm>
          <a:prstGeom prst="roundRect">
            <a:avLst>
              <a:gd name="adj" fmla="val 14286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221" name="" descr="{&quot;isTemplate&quot;:true,&quot;type&quot;:&quot;text&quot;}"/>
          <p:cNvSpPr txBox="1"/>
          <p:nvPr/>
        </p:nvSpPr>
        <p:spPr>
          <a:xfrm rot="0" flipH="0" flipV="0">
            <a:off x="895350" y="44100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只挑工程好的人，得到的是售前工程师；三种都好，才敢叫</a:t>
            </a:r>
            <a:r>
              <a:rPr lang="en-US" sz="900">
                <a:solidFill>
                  <a:srgbClr val="FBA15C"/>
                </a:solidFill>
                <a:latin typeface="Microsoft YaHei"/>
                <a:ea typeface="Microsoft YaHei"/>
              </a:rPr>
              <a:t xml:space="preserve"> FDE</a:t>
            </a: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22" name=""/>
          <p:cNvSpPr/>
          <p:nvPr/>
        </p:nvSpPr>
        <p:spPr>
          <a:xfrm rot="0" flipH="0" flipV="0">
            <a:off x="5219700" y="30384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223" name=""/>
          <p:cNvSpPr/>
          <p:nvPr/>
        </p:nvSpPr>
        <p:spPr>
          <a:xfrm rot="0" flipH="0" flipV="0">
            <a:off x="5219700" y="30384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24" name="" descr="{&quot;isTemplate&quot;:true,&quot;type&quot;:&quot;text&quot;}"/>
          <p:cNvSpPr txBox="1"/>
          <p:nvPr/>
        </p:nvSpPr>
        <p:spPr>
          <a:xfrm rot="0" flipH="0" flipV="0">
            <a:off x="5381625" y="30384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的理想背景</a:t>
            </a:r>
            <a:endParaRPr/>
          </a:p>
        </p:txBody>
      </p:sp>
      <p:sp>
        <p:nvSpPr>
          <p:cNvPr id="3225" name="" descr="{&quot;isTemplate&quot;:true,&quot;type&quot;:&quot;text&quot;}"/>
          <p:cNvSpPr txBox="1"/>
          <p:nvPr/>
        </p:nvSpPr>
        <p:spPr>
          <a:xfrm rot="0" flipH="0" flipV="0">
            <a:off x="5381625" y="3305175"/>
            <a:ext cx="603885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通常不是软件工程师。军官、医疗老兵、金融老手——这类人见过真实的资源约束与组织政治，天然懂「怎么让事情在体系里跑起来」。</a:t>
            </a:r>
            <a:endParaRPr/>
          </a:p>
        </p:txBody>
      </p:sp>
      <p:sp>
        <p:nvSpPr>
          <p:cNvPr id="3226" name=""/>
          <p:cNvSpPr/>
          <p:nvPr/>
        </p:nvSpPr>
        <p:spPr>
          <a:xfrm rot="0" flipH="0" flipV="0">
            <a:off x="5381625" y="4610100"/>
            <a:ext cx="60388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27" name="" descr="{&quot;isTemplate&quot;:true,&quot;type&quot;:&quot;text&quot;}"/>
          <p:cNvSpPr txBox="1"/>
          <p:nvPr/>
        </p:nvSpPr>
        <p:spPr>
          <a:xfrm rot="0" flipH="0" flipV="0">
            <a:off x="5495925" y="4610100"/>
            <a:ext cx="5810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招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找技术，招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Echo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找做过艰难交付的人。</a:t>
            </a:r>
            <a:endParaRPr/>
          </a:p>
        </p:txBody>
      </p:sp>
      <p:sp>
        <p:nvSpPr>
          <p:cNvPr id="3228" name=""/>
          <p:cNvSpPr/>
          <p:nvPr/>
        </p:nvSpPr>
        <p:spPr>
          <a:xfrm rot="0" flipH="0" flipV="0">
            <a:off x="609600" y="4933950"/>
            <a:ext cx="19812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29" name="" descr="{&quot;isTemplate&quot;:true,&quot;type&quot;:&quot;text&quot;}"/>
          <p:cNvSpPr txBox="1"/>
          <p:nvPr/>
        </p:nvSpPr>
        <p:spPr>
          <a:xfrm rot="0" flipH="0" flipV="0">
            <a:off x="752475" y="509587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筛选机制</a:t>
            </a:r>
            <a:endParaRPr/>
          </a:p>
        </p:txBody>
      </p:sp>
      <p:sp>
        <p:nvSpPr>
          <p:cNvPr id="3230" name="" descr="{&quot;isTemplate&quot;:true,&quot;type&quot;:&quot;text&quot;}"/>
          <p:cNvSpPr txBox="1"/>
          <p:nvPr/>
        </p:nvSpPr>
        <p:spPr>
          <a:xfrm rot="0" flipH="0" flipV="0">
            <a:off x="752475" y="52768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候选人接受率约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1%</a:t>
            </a:r>
            <a:endParaRPr/>
          </a:p>
        </p:txBody>
      </p:sp>
      <p:sp>
        <p:nvSpPr>
          <p:cNvPr id="3231" name=""/>
          <p:cNvSpPr/>
          <p:nvPr/>
        </p:nvSpPr>
        <p:spPr>
          <a:xfrm rot="0" flipH="0" flipV="0">
            <a:off x="2705100" y="4933950"/>
            <a:ext cx="2886075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32" name="" descr="{&quot;isTemplate&quot;:true,&quot;type&quot;:&quot;text&quot;}"/>
          <p:cNvSpPr txBox="1"/>
          <p:nvPr/>
        </p:nvSpPr>
        <p:spPr>
          <a:xfrm rot="0" flipH="0" flipV="0">
            <a:off x="2838450" y="5076825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全天实战</a:t>
            </a:r>
            <a:endParaRPr/>
          </a:p>
        </p:txBody>
      </p:sp>
      <p:sp>
        <p:nvSpPr>
          <p:cNvPr id="3233" name="" descr="{&quot;isTemplate&quot;:true,&quot;type&quot;:&quot;text&quot;}"/>
          <p:cNvSpPr txBox="1"/>
          <p:nvPr/>
        </p:nvSpPr>
        <p:spPr>
          <a:xfrm rot="0" flipH="0" flipV="0">
            <a:off x="2838450" y="5267325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五天在客户现场</a:t>
            </a:r>
            <a:endParaRPr/>
          </a:p>
        </p:txBody>
      </p:sp>
      <p:sp>
        <p:nvSpPr>
          <p:cNvPr id="3234" name=""/>
          <p:cNvSpPr/>
          <p:nvPr/>
        </p:nvSpPr>
        <p:spPr>
          <a:xfrm rot="0" flipH="0" flipV="0">
            <a:off x="5705475" y="4933950"/>
            <a:ext cx="287655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35" name="" descr="{&quot;isTemplate&quot;:true,&quot;type&quot;:&quot;text&quot;}"/>
          <p:cNvSpPr txBox="1"/>
          <p:nvPr/>
        </p:nvSpPr>
        <p:spPr>
          <a:xfrm rot="0" flipH="0" flipV="0">
            <a:off x="5838825" y="5076825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当场淘汰</a:t>
            </a:r>
            <a:endParaRPr/>
          </a:p>
        </p:txBody>
      </p:sp>
      <p:sp>
        <p:nvSpPr>
          <p:cNvPr id="3236" name="" descr="{&quot;isTemplate&quot;:true,&quot;type&quot;:&quot;text&quot;}"/>
          <p:cNvSpPr txBox="1"/>
          <p:nvPr/>
        </p:nvSpPr>
        <p:spPr>
          <a:xfrm rot="0" flipH="0" flipV="0">
            <a:off x="5838825" y="5267325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手不碰生产即淘汰</a:t>
            </a:r>
            <a:endParaRPr/>
          </a:p>
        </p:txBody>
      </p:sp>
      <p:sp>
        <p:nvSpPr>
          <p:cNvPr id="3237" name=""/>
          <p:cNvSpPr/>
          <p:nvPr/>
        </p:nvSpPr>
        <p:spPr>
          <a:xfrm rot="0" flipH="0" flipV="0">
            <a:off x="8696325" y="4933950"/>
            <a:ext cx="2886075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38" name="" descr="{&quot;isTemplate&quot;:true,&quot;type&quot;:&quot;text&quot;}"/>
          <p:cNvSpPr txBox="1"/>
          <p:nvPr/>
        </p:nvSpPr>
        <p:spPr>
          <a:xfrm rot="0" flipH="0" flipV="0">
            <a:off x="8829675" y="5076825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背责任</a:t>
            </a:r>
            <a:endParaRPr/>
          </a:p>
        </p:txBody>
      </p:sp>
      <p:sp>
        <p:nvSpPr>
          <p:cNvPr id="3239" name="" descr="{&quot;isTemplate&quot;:true,&quot;type&quot;:&quot;text&quot;}"/>
          <p:cNvSpPr txBox="1"/>
          <p:nvPr/>
        </p:nvSpPr>
        <p:spPr>
          <a:xfrm rot="0" flipH="0" flipV="0">
            <a:off x="8829675" y="5267325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新人第一天就背真实后果</a:t>
            </a:r>
            <a:endParaRPr/>
          </a:p>
        </p:txBody>
      </p:sp>
      <p:sp>
        <p:nvSpPr>
          <p:cNvPr id="324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41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42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243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54 / 60</a:t>
            </a:r>
            <a:endParaRPr/>
          </a:p>
        </p:txBody>
      </p:sp>
    </p:spTree>
  </p:cSld>
</p:sld>
</file>

<file path=ppt/slides/slide55.xml><?xml version="1.0" encoding="utf-8"?>
<p:sld xmlns:p="http://schemas.openxmlformats.org/presentationml/2006/main" xmlns:a="http://schemas.openxmlformats.org/drawingml/2006/main">
  <p:cSld>
    <p:spTree>
      <p:nvGrpSpPr>
        <p:cNvPr id="324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组织治理：&lt;span style={{ color: '#FA4F24' }}&gt;不给工单队列的三条制度设计&lt;/span&gt;&#10;        &lt;/Text&gt;&#10;        &lt;Text style={{ fontSize: 20, color: '#8A8F99', marginTop: 8 }}&gt;&#10;            模式要落地，必须有制度护着。这三条不写进制度，FDE 就会退化成高级外包&#10;        &lt;/Text&gt;&#10;    &lt;/Box&gt;&#10;    &lt;Box style={{ height: 1, background: '#E8E8E8' }} /&gt;&#10;&#10;    &lt;Box style={{ paddingTop: 20, paddingBottom: 14, height: 479, flexDirection: 'column', gap: 13 }}&gt;&#10;&#10;        {/* 上：三根支柱 */}&#10;        &lt;Box style={{ flex: 1, flexDirection: 'row', gap: 11 }}&gt;&#10;            {[&#10;                { k: '不设工单队列', c: '#FA4F24', d: 'FDE 不接工单池。事情直接落到具体人，不排期、不等待、不被优先级排序。', key: '官方明文规定' },&#10;                { k: '不被隔绝于现场', c: '#E0641E', d: '不让 FDE 只在办公室看数据。必须被允许看到客户的混乱与后果。', key: '现场天数是硬要求' },&#10;                { k: '第一天就背责任', c: '#C43A17', d: '新人第一天就对接真实后果，而不是先做培训再看影子项目。', key: '没有观察期' },&#10;            ].map((x) =&gt; (&#10;                &lt;Box key={x.k} style={{ flex: 1, background: '#F7F7F8', borderRadius: 4, padding: '0 16px', flexDirection: 'column', justifyContent: 'center', borderTop: `3px solid ${x.c}` }}&gt;&#10;                    &lt;Text style={{ fontSize: 15.5, fontWeight: 'bold', color: x.c, lineHeight: 1.3 }}&gt;{x.k}&lt;/Text&gt;&#10;                    &lt;Text style={{ fontSize: 12.5, color: '#3A4050', lineHeight: 1.5, marginTop: 12, flex: 1 }}&gt;{x.d}&lt;/Text&gt;&#10;                    &lt;Box style={{ background: '#0F1423', borderRadius: 3, padding: '0 11px', marginTop: 10 }}&gt;&#10;                        &lt;Text style={{ fontSize: 11.5, color: 'rgba(255,255,255,0.88)', lineHeight: 1.4 }}&gt;{x.key}&lt;/Text&gt;&#10;                    &lt;/Box&gt;&#10;                &lt;/Box&gt;&#10;            ))}&#10;        &lt;/Box&gt;&#10;&#10;        {/* 中：两条行为准则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两条行为准则（官方表述）&lt;/Text&gt;&#10;                &lt;Box style={{ background: 'rgba(250,79,36,0.22)', borderRadius: 3, padding: '10px 13px', marginTop: 11 }}&gt;&#10;                    &lt;Text style={{ fontSize: 13.5, fontWeight: 'bold', color: '#FFFFFF', lineHeight: 1.4 }}&gt;&#10;                        对结果做彻底的承诺&#10;                    &lt;/Text&gt;&#10;                    &lt;Text style={{ fontSize: 11, color: 'rgba(255,255,255,0.65)', lineHeight: 1.35, marginTop: 4 }}&gt;&#10;                        radical commitment to the outcome&#10;                    &lt;/Text&gt;&#10;                &lt;/Box&gt;&#10;                &lt;Box style={{ background: 'rgba(250,79,36,0.22)', borderRadius: 3, padding: '10px 13px', marginTop: 10 }}&gt;&#10;                    &lt;Text style={{ fontSize: 13.5, fontWeight: 'bold', color: '#FFFFFF', lineHeight: 1.4 }}&gt;&#10;                        对追真相做无情的坚持&#10;                    &lt;/Text&gt;&#10;                    &lt;Text style={{ fontSize: 11, color: 'rgba(255,255,255,0.65)', lineHeight: 1.35, marginTop: 4 }}&gt;&#10;                        ruthless commitment to truth-seeking&#10;                    &lt;/Text&gt;&#10;                &lt;/Box&gt;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外部对这个头衔的批评与回应&lt;/Text&gt;&#10;                {[&#10;                    { k: '批评', v: 'a16z 创始人称其「头衔套利」——换了个名字干工程活' },&#10;                    { k: '回应', v: '大型企业与政府的深度软件集成，确实需要专属角色承担' },&#10;                    { k: '扩散', v: 'Anthropic、OpenAI、Databricks、Cohere、Google 都在建同类岗位' },&#10;                ].map((x) =&gt; (&#10;                    &lt;Box key={x.k} style={{ flexDirection: 'row', gap: 11, marginTop: 11, alignItems: 'flex-start' }}&gt;&#10;                        &lt;Text style={{ fontSize: 12, fontWeight: 'bold', color: '#C43A17', width: 40 }}&gt;{x.k}&lt;/Text&gt;&#10;                        &lt;Text style={{ fontSize: 12.5, color: '#3A4050', lineHeight: 1.4, flex: 1 }}&gt;{x.v}&lt;/Text&gt;&#10;                    &lt;/Box&gt;&#10;                ))}&#10;            &lt;/Box&gt;&#10;        &lt;/Box&gt;&#10;&#10;        {/* 下：四条反模式 */}&#10;        &lt;Box style={{ height: 68,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四种组织反模式&lt;/Text&gt;&#10;                &lt;Text style={{ fontSize: 12.5, fontWeight: 'bold', color: '#0F1423', marginTop: 5 }}&gt;出现即模式失效&lt;/Text&gt;&#10;            &lt;/Box&gt;&#10;            {[&#10;                { k: '驻场外包', v: '按人天结算，不承担后果' },&#10;                { k: '工单化', v: '所有事情进队列排期' },&#10;                { k: '双头汇报', v: '项目要审批才能动代码' },&#10;                { k: '经验私有', v: '离场不回流，个人带走路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5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组织治理：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不给工单队列的三条制度设计</a:t>
            </a:r>
            <a:endParaRPr/>
          </a:p>
        </p:txBody>
      </p:sp>
      <p:sp>
        <p:nvSpPr>
          <p:cNvPr id="32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模式要落地，必须有制度护着。这三条不写进制度，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就会退化成高级外包</a:t>
            </a:r>
            <a:endParaRPr/>
          </a:p>
        </p:txBody>
      </p:sp>
      <p:sp>
        <p:nvSpPr>
          <p:cNvPr id="32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49" name=""/>
          <p:cNvSpPr/>
          <p:nvPr/>
        </p:nvSpPr>
        <p:spPr>
          <a:xfrm rot="0" flipH="0" flipV="0">
            <a:off x="609600" y="1371600"/>
            <a:ext cx="3590925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50" name=""/>
          <p:cNvSpPr/>
          <p:nvPr/>
        </p:nvSpPr>
        <p:spPr>
          <a:xfrm rot="0" flipH="0" flipV="0">
            <a:off x="609600" y="1371600"/>
            <a:ext cx="3590925" cy="1571625"/>
          </a:xfrm>
          <a:custGeom>
            <a:pathLst>
              <a:path w="377" h="165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51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2861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FA4F24"/>
                </a:solidFill>
                <a:latin typeface="Microsoft YaHei"/>
                <a:ea typeface="Microsoft YaHei"/>
              </a:rPr>
              <a:t>不设工单队列</a:t>
            </a:r>
            <a:endParaRPr/>
          </a:p>
        </p:txBody>
      </p:sp>
      <p:sp>
        <p:nvSpPr>
          <p:cNvPr id="3252" name="" descr="{&quot;isTemplate&quot;:true,&quot;type&quot;:&quot;text&quot;}"/>
          <p:cNvSpPr txBox="1"/>
          <p:nvPr/>
        </p:nvSpPr>
        <p:spPr>
          <a:xfrm rot="0" flipH="0" flipV="0">
            <a:off x="762000" y="1724025"/>
            <a:ext cx="32861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不接工单池。事情直接落到具体人，不排期、不等待、不被优先级排序。</a:t>
            </a:r>
            <a:endParaRPr/>
          </a:p>
        </p:txBody>
      </p:sp>
      <p:sp>
        <p:nvSpPr>
          <p:cNvPr id="3253" name=""/>
          <p:cNvSpPr/>
          <p:nvPr/>
        </p:nvSpPr>
        <p:spPr>
          <a:xfrm rot="0" flipH="0" flipV="0">
            <a:off x="762000" y="2724150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54" name="" descr="{&quot;isTemplate&quot;:true,&quot;type&quot;:&quot;text&quot;}"/>
          <p:cNvSpPr txBox="1"/>
          <p:nvPr/>
        </p:nvSpPr>
        <p:spPr>
          <a:xfrm rot="0" flipH="0" flipV="0">
            <a:off x="866775" y="272415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官方明文规定</a:t>
            </a:r>
            <a:endParaRPr/>
          </a:p>
        </p:txBody>
      </p:sp>
      <p:sp>
        <p:nvSpPr>
          <p:cNvPr id="3255" name=""/>
          <p:cNvSpPr/>
          <p:nvPr/>
        </p:nvSpPr>
        <p:spPr>
          <a:xfrm rot="0" flipH="0" flipV="0">
            <a:off x="4305300" y="1371600"/>
            <a:ext cx="3581400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56" name=""/>
          <p:cNvSpPr/>
          <p:nvPr/>
        </p:nvSpPr>
        <p:spPr>
          <a:xfrm rot="0" flipH="0" flipV="0">
            <a:off x="4305300" y="1371600"/>
            <a:ext cx="3581400" cy="1571625"/>
          </a:xfrm>
          <a:custGeom>
            <a:pathLst>
              <a:path w="376" h="165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cubicBezTo>
                  <a:pt x="376" y="3"/>
                  <a:pt x="375" y="3"/>
                  <a:pt x="3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3257" name="" descr="{&quot;isTemplate&quot;:true,&quot;type&quot;:&quot;text&quot;}"/>
          <p:cNvSpPr txBox="1"/>
          <p:nvPr/>
        </p:nvSpPr>
        <p:spPr>
          <a:xfrm rot="0" flipH="0" flipV="0">
            <a:off x="4457700" y="1371600"/>
            <a:ext cx="3276600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E0641E"/>
                </a:solidFill>
                <a:latin typeface="Microsoft YaHei"/>
                <a:ea typeface="Microsoft YaHei"/>
              </a:rPr>
              <a:t>不被隔绝于现场</a:t>
            </a:r>
            <a:endParaRPr/>
          </a:p>
        </p:txBody>
      </p:sp>
      <p:sp>
        <p:nvSpPr>
          <p:cNvPr id="3258" name="" descr="{&quot;isTemplate&quot;:true,&quot;type&quot;:&quot;text&quot;}"/>
          <p:cNvSpPr txBox="1"/>
          <p:nvPr/>
        </p:nvSpPr>
        <p:spPr>
          <a:xfrm rot="0" flipH="0" flipV="0">
            <a:off x="4457700" y="1724025"/>
            <a:ext cx="32766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不让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只在办公室看数据。必须被允许看到客户的混乱与后果。</a:t>
            </a:r>
            <a:endParaRPr/>
          </a:p>
        </p:txBody>
      </p:sp>
      <p:sp>
        <p:nvSpPr>
          <p:cNvPr id="3259" name=""/>
          <p:cNvSpPr/>
          <p:nvPr/>
        </p:nvSpPr>
        <p:spPr>
          <a:xfrm rot="0" flipH="0" flipV="0">
            <a:off x="4457700" y="2724150"/>
            <a:ext cx="327660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60" name="" descr="{&quot;isTemplate&quot;:true,&quot;type&quot;:&quot;text&quot;}"/>
          <p:cNvSpPr txBox="1"/>
          <p:nvPr/>
        </p:nvSpPr>
        <p:spPr>
          <a:xfrm rot="0" flipH="0" flipV="0">
            <a:off x="4562475" y="2724150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现场天数是硬要求</a:t>
            </a:r>
            <a:endParaRPr/>
          </a:p>
        </p:txBody>
      </p:sp>
      <p:sp>
        <p:nvSpPr>
          <p:cNvPr id="3261" name=""/>
          <p:cNvSpPr/>
          <p:nvPr/>
        </p:nvSpPr>
        <p:spPr>
          <a:xfrm rot="0" flipH="0" flipV="0">
            <a:off x="7991475" y="1371600"/>
            <a:ext cx="3590925" cy="1571625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62" name=""/>
          <p:cNvSpPr/>
          <p:nvPr/>
        </p:nvSpPr>
        <p:spPr>
          <a:xfrm rot="0" flipH="0" flipV="0">
            <a:off x="7991475" y="1371600"/>
            <a:ext cx="3590925" cy="1571625"/>
          </a:xfrm>
          <a:custGeom>
            <a:pathLst>
              <a:path w="377" h="165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263" name="" descr="{&quot;isTemplate&quot;:true,&quot;type&quot;:&quot;text&quot;}"/>
          <p:cNvSpPr txBox="1"/>
          <p:nvPr/>
        </p:nvSpPr>
        <p:spPr>
          <a:xfrm rot="0" flipH="0" flipV="0">
            <a:off x="8143875" y="1371600"/>
            <a:ext cx="3286125" cy="238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163" b="1">
                <a:solidFill>
                  <a:srgbClr val="C43A17"/>
                </a:solidFill>
                <a:latin typeface="Microsoft YaHei"/>
                <a:ea typeface="Microsoft YaHei"/>
              </a:rPr>
              <a:t>第一天就背责任</a:t>
            </a:r>
            <a:endParaRPr/>
          </a:p>
        </p:txBody>
      </p:sp>
      <p:sp>
        <p:nvSpPr>
          <p:cNvPr id="3264" name="" descr="{&quot;isTemplate&quot;:true,&quot;type&quot;:&quot;text&quot;}"/>
          <p:cNvSpPr txBox="1"/>
          <p:nvPr/>
        </p:nvSpPr>
        <p:spPr>
          <a:xfrm rot="0" flipH="0" flipV="0">
            <a:off x="8143875" y="1724025"/>
            <a:ext cx="3286125" cy="9048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新人第一天就对接真实后果，而不是先做培训再看影子项目。</a:t>
            </a:r>
            <a:endParaRPr/>
          </a:p>
        </p:txBody>
      </p:sp>
      <p:sp>
        <p:nvSpPr>
          <p:cNvPr id="3265" name=""/>
          <p:cNvSpPr/>
          <p:nvPr/>
        </p:nvSpPr>
        <p:spPr>
          <a:xfrm rot="0" flipH="0" flipV="0">
            <a:off x="8143875" y="2724150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66" name="" descr="{&quot;isTemplate&quot;:true,&quot;type&quot;:&quot;text&quot;}"/>
          <p:cNvSpPr txBox="1"/>
          <p:nvPr/>
        </p:nvSpPr>
        <p:spPr>
          <a:xfrm rot="0" flipH="0" flipV="0">
            <a:off x="8248650" y="2724150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没有观察期</a:t>
            </a:r>
            <a:endParaRPr/>
          </a:p>
        </p:txBody>
      </p:sp>
      <p:sp>
        <p:nvSpPr>
          <p:cNvPr id="3267" name=""/>
          <p:cNvSpPr/>
          <p:nvPr/>
        </p:nvSpPr>
        <p:spPr>
          <a:xfrm rot="0" flipH="0" flipV="0">
            <a:off x="609600" y="303847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68" name="" descr="{&quot;isTemplate&quot;:true,&quot;type&quot;:&quot;text&quot;}"/>
          <p:cNvSpPr txBox="1"/>
          <p:nvPr/>
        </p:nvSpPr>
        <p:spPr>
          <a:xfrm rot="0" flipH="0" flipV="0">
            <a:off x="781050" y="31337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两条行为准则（官方表述）</a:t>
            </a:r>
            <a:endParaRPr/>
          </a:p>
        </p:txBody>
      </p:sp>
      <p:sp>
        <p:nvSpPr>
          <p:cNvPr id="3269" name=""/>
          <p:cNvSpPr/>
          <p:nvPr/>
        </p:nvSpPr>
        <p:spPr>
          <a:xfrm rot="0" flipH="0" flipV="0">
            <a:off x="781050" y="3381375"/>
            <a:ext cx="4114800" cy="619125"/>
          </a:xfrm>
          <a:prstGeom prst="roundRect">
            <a:avLst>
              <a:gd name="adj" fmla="val 4615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270" name="" descr="{&quot;isTemplate&quot;:true,&quot;type&quot;:&quot;text&quot;}"/>
          <p:cNvSpPr txBox="1"/>
          <p:nvPr/>
        </p:nvSpPr>
        <p:spPr>
          <a:xfrm rot="0" flipH="0" flipV="0">
            <a:off x="904875" y="3476625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对结果做彻底的承诺</a:t>
            </a:r>
            <a:endParaRPr/>
          </a:p>
        </p:txBody>
      </p:sp>
      <p:sp>
        <p:nvSpPr>
          <p:cNvPr id="3271" name="" descr="{&quot;isTemplate&quot;:true,&quot;type&quot;:&quot;text&quot;}"/>
          <p:cNvSpPr txBox="1"/>
          <p:nvPr/>
        </p:nvSpPr>
        <p:spPr>
          <a:xfrm rot="0" flipH="0" flipV="0">
            <a:off x="904875" y="3733800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radical commitment to the outcome</a:t>
            </a:r>
            <a:endParaRPr/>
          </a:p>
        </p:txBody>
      </p:sp>
      <p:sp>
        <p:nvSpPr>
          <p:cNvPr id="3272" name=""/>
          <p:cNvSpPr/>
          <p:nvPr/>
        </p:nvSpPr>
        <p:spPr>
          <a:xfrm rot="0" flipH="0" flipV="0">
            <a:off x="781050" y="4095750"/>
            <a:ext cx="4114800" cy="619125"/>
          </a:xfrm>
          <a:prstGeom prst="roundRect">
            <a:avLst>
              <a:gd name="adj" fmla="val 4615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273" name="" descr="{&quot;isTemplate&quot;:true,&quot;type&quot;:&quot;text&quot;}"/>
          <p:cNvSpPr txBox="1"/>
          <p:nvPr/>
        </p:nvSpPr>
        <p:spPr>
          <a:xfrm rot="0" flipH="0" flipV="0">
            <a:off x="904875" y="4191000"/>
            <a:ext cx="3867150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对追真相做无情的坚持</a:t>
            </a:r>
            <a:endParaRPr/>
          </a:p>
        </p:txBody>
      </p:sp>
      <p:sp>
        <p:nvSpPr>
          <p:cNvPr id="3274" name="" descr="{&quot;isTemplate&quot;:true,&quot;type&quot;:&quot;text&quot;}"/>
          <p:cNvSpPr txBox="1"/>
          <p:nvPr/>
        </p:nvSpPr>
        <p:spPr>
          <a:xfrm rot="0" flipH="0" flipV="0">
            <a:off x="904875" y="4448175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ruthless commitment to truth-seeking</a:t>
            </a:r>
            <a:endParaRPr/>
          </a:p>
        </p:txBody>
      </p:sp>
      <p:sp>
        <p:nvSpPr>
          <p:cNvPr id="3275" name=""/>
          <p:cNvSpPr/>
          <p:nvPr/>
        </p:nvSpPr>
        <p:spPr>
          <a:xfrm rot="0" flipH="0" flipV="0">
            <a:off x="5219700" y="303847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276" name=""/>
          <p:cNvSpPr/>
          <p:nvPr/>
        </p:nvSpPr>
        <p:spPr>
          <a:xfrm rot="0" flipH="0" flipV="0">
            <a:off x="5219700" y="303847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77" name="" descr="{&quot;isTemplate&quot;:true,&quot;type&quot;:&quot;text&quot;}"/>
          <p:cNvSpPr txBox="1"/>
          <p:nvPr/>
        </p:nvSpPr>
        <p:spPr>
          <a:xfrm rot="0" flipH="0" flipV="0">
            <a:off x="5381625" y="33813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外部对这个头衔的批评与回应</a:t>
            </a:r>
            <a:endParaRPr/>
          </a:p>
        </p:txBody>
      </p:sp>
      <p:sp>
        <p:nvSpPr>
          <p:cNvPr id="3278" name="" descr="{&quot;isTemplate&quot;:true,&quot;type&quot;:&quot;text&quot;}"/>
          <p:cNvSpPr txBox="1"/>
          <p:nvPr/>
        </p:nvSpPr>
        <p:spPr>
          <a:xfrm rot="0" flipH="0" flipV="0">
            <a:off x="5381625" y="3657600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批评</a:t>
            </a:r>
            <a:endParaRPr/>
          </a:p>
        </p:txBody>
      </p:sp>
      <p:sp>
        <p:nvSpPr>
          <p:cNvPr id="3279" name="" descr="{&quot;isTemplate&quot;:true,&quot;type&quot;:&quot;text&quot;}"/>
          <p:cNvSpPr txBox="1"/>
          <p:nvPr/>
        </p:nvSpPr>
        <p:spPr>
          <a:xfrm rot="0" flipH="0" flipV="0">
            <a:off x="5867400" y="3657600"/>
            <a:ext cx="5553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a16z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创始人称其「头衔套利」——换了个名字干工程活</a:t>
            </a:r>
            <a:endParaRPr/>
          </a:p>
        </p:txBody>
      </p:sp>
      <p:sp>
        <p:nvSpPr>
          <p:cNvPr id="3280" name="" descr="{&quot;isTemplate&quot;:true,&quot;type&quot;:&quot;text&quot;}"/>
          <p:cNvSpPr txBox="1"/>
          <p:nvPr/>
        </p:nvSpPr>
        <p:spPr>
          <a:xfrm rot="0" flipH="0" flipV="0">
            <a:off x="5381625" y="3962400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回应</a:t>
            </a:r>
            <a:endParaRPr/>
          </a:p>
        </p:txBody>
      </p:sp>
      <p:sp>
        <p:nvSpPr>
          <p:cNvPr id="3281" name="" descr="{&quot;isTemplate&quot;:true,&quot;type&quot;:&quot;text&quot;}"/>
          <p:cNvSpPr txBox="1"/>
          <p:nvPr/>
        </p:nvSpPr>
        <p:spPr>
          <a:xfrm rot="0" flipH="0" flipV="0">
            <a:off x="5867400" y="3962400"/>
            <a:ext cx="5553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大型企业与政府的深度软件集成，确实需要专属角色承担</a:t>
            </a:r>
            <a:endParaRPr/>
          </a:p>
        </p:txBody>
      </p:sp>
      <p:sp>
        <p:nvSpPr>
          <p:cNvPr id="3282" name="" descr="{&quot;isTemplate&quot;:true,&quot;type&quot;:&quot;text&quot;}"/>
          <p:cNvSpPr txBox="1"/>
          <p:nvPr/>
        </p:nvSpPr>
        <p:spPr>
          <a:xfrm rot="0" flipH="0" flipV="0">
            <a:off x="5381625" y="4267200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扩散</a:t>
            </a:r>
            <a:endParaRPr/>
          </a:p>
        </p:txBody>
      </p:sp>
      <p:sp>
        <p:nvSpPr>
          <p:cNvPr id="3283" name="" descr="{&quot;isTemplate&quot;:true,&quot;type&quot;:&quot;text&quot;}"/>
          <p:cNvSpPr txBox="1"/>
          <p:nvPr/>
        </p:nvSpPr>
        <p:spPr>
          <a:xfrm rot="0" flipH="0" flipV="0">
            <a:off x="5867400" y="4267200"/>
            <a:ext cx="55530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Anthropic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OpenAI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Databricks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>Cohere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Google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都在建同类岗位</a:t>
            </a:r>
            <a:endParaRPr/>
          </a:p>
        </p:txBody>
      </p:sp>
      <p:sp>
        <p:nvSpPr>
          <p:cNvPr id="3284" name=""/>
          <p:cNvSpPr/>
          <p:nvPr/>
        </p:nvSpPr>
        <p:spPr>
          <a:xfrm rot="0" flipH="0" flipV="0">
            <a:off x="609600" y="4933950"/>
            <a:ext cx="19812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85" name="" descr="{&quot;isTemplate&quot;:true,&quot;type&quot;:&quot;text&quot;}"/>
          <p:cNvSpPr txBox="1"/>
          <p:nvPr/>
        </p:nvSpPr>
        <p:spPr>
          <a:xfrm rot="0" flipH="0" flipV="0">
            <a:off x="752475" y="509587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四种组织反模式</a:t>
            </a:r>
            <a:endParaRPr/>
          </a:p>
        </p:txBody>
      </p:sp>
      <p:sp>
        <p:nvSpPr>
          <p:cNvPr id="3286" name="" descr="{&quot;isTemplate&quot;:true,&quot;type&quot;:&quot;text&quot;}"/>
          <p:cNvSpPr txBox="1"/>
          <p:nvPr/>
        </p:nvSpPr>
        <p:spPr>
          <a:xfrm rot="0" flipH="0" flipV="0">
            <a:off x="752475" y="52768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出现即模式失效</a:t>
            </a:r>
            <a:endParaRPr/>
          </a:p>
        </p:txBody>
      </p:sp>
      <p:sp>
        <p:nvSpPr>
          <p:cNvPr id="3287" name=""/>
          <p:cNvSpPr/>
          <p:nvPr/>
        </p:nvSpPr>
        <p:spPr>
          <a:xfrm rot="0" flipH="0" flipV="0">
            <a:off x="2705100" y="493395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88" name="" descr="{&quot;isTemplate&quot;:true,&quot;type&quot;:&quot;text&quot;}"/>
          <p:cNvSpPr txBox="1"/>
          <p:nvPr/>
        </p:nvSpPr>
        <p:spPr>
          <a:xfrm rot="0" flipH="0" flipV="0">
            <a:off x="2838450" y="50768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驻场外包</a:t>
            </a:r>
            <a:endParaRPr/>
          </a:p>
        </p:txBody>
      </p:sp>
      <p:sp>
        <p:nvSpPr>
          <p:cNvPr id="3289" name="" descr="{&quot;isTemplate&quot;:true,&quot;type&quot;:&quot;text&quot;}"/>
          <p:cNvSpPr txBox="1"/>
          <p:nvPr/>
        </p:nvSpPr>
        <p:spPr>
          <a:xfrm rot="0" flipH="0" flipV="0">
            <a:off x="2838450" y="52673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按人天结算，不承担后果</a:t>
            </a:r>
            <a:endParaRPr/>
          </a:p>
        </p:txBody>
      </p:sp>
      <p:sp>
        <p:nvSpPr>
          <p:cNvPr id="3290" name=""/>
          <p:cNvSpPr/>
          <p:nvPr/>
        </p:nvSpPr>
        <p:spPr>
          <a:xfrm rot="0" flipH="0" flipV="0">
            <a:off x="4953000" y="493395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91" name="" descr="{&quot;isTemplate&quot;:true,&quot;type&quot;:&quot;text&quot;}"/>
          <p:cNvSpPr txBox="1"/>
          <p:nvPr/>
        </p:nvSpPr>
        <p:spPr>
          <a:xfrm rot="0" flipH="0" flipV="0">
            <a:off x="5086350" y="50768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工单化</a:t>
            </a:r>
            <a:endParaRPr/>
          </a:p>
        </p:txBody>
      </p:sp>
      <p:sp>
        <p:nvSpPr>
          <p:cNvPr id="3292" name="" descr="{&quot;isTemplate&quot;:true,&quot;type&quot;:&quot;text&quot;}"/>
          <p:cNvSpPr txBox="1"/>
          <p:nvPr/>
        </p:nvSpPr>
        <p:spPr>
          <a:xfrm rot="0" flipH="0" flipV="0">
            <a:off x="5086350" y="52673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所有事情进队列排期</a:t>
            </a:r>
            <a:endParaRPr/>
          </a:p>
        </p:txBody>
      </p:sp>
      <p:sp>
        <p:nvSpPr>
          <p:cNvPr id="3293" name=""/>
          <p:cNvSpPr/>
          <p:nvPr/>
        </p:nvSpPr>
        <p:spPr>
          <a:xfrm rot="0" flipH="0" flipV="0">
            <a:off x="7200900" y="493395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94" name="" descr="{&quot;isTemplate&quot;:true,&quot;type&quot;:&quot;text&quot;}"/>
          <p:cNvSpPr txBox="1"/>
          <p:nvPr/>
        </p:nvSpPr>
        <p:spPr>
          <a:xfrm rot="0" flipH="0" flipV="0">
            <a:off x="7334250" y="50768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双头汇报</a:t>
            </a:r>
            <a:endParaRPr/>
          </a:p>
        </p:txBody>
      </p:sp>
      <p:sp>
        <p:nvSpPr>
          <p:cNvPr id="3295" name="" descr="{&quot;isTemplate&quot;:true,&quot;type&quot;:&quot;text&quot;}"/>
          <p:cNvSpPr txBox="1"/>
          <p:nvPr/>
        </p:nvSpPr>
        <p:spPr>
          <a:xfrm rot="0" flipH="0" flipV="0">
            <a:off x="7334250" y="52673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项目要审批才能动代码</a:t>
            </a:r>
            <a:endParaRPr/>
          </a:p>
        </p:txBody>
      </p:sp>
      <p:sp>
        <p:nvSpPr>
          <p:cNvPr id="3296" name=""/>
          <p:cNvSpPr/>
          <p:nvPr/>
        </p:nvSpPr>
        <p:spPr>
          <a:xfrm rot="0" flipH="0" flipV="0">
            <a:off x="9448800" y="4933950"/>
            <a:ext cx="21336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97" name="" descr="{&quot;isTemplate&quot;:true,&quot;type&quot;:&quot;text&quot;}"/>
          <p:cNvSpPr txBox="1"/>
          <p:nvPr/>
        </p:nvSpPr>
        <p:spPr>
          <a:xfrm rot="0" flipH="0" flipV="0">
            <a:off x="9582150" y="5076825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经验私有</a:t>
            </a:r>
            <a:endParaRPr/>
          </a:p>
        </p:txBody>
      </p:sp>
      <p:sp>
        <p:nvSpPr>
          <p:cNvPr id="3298" name="" descr="{&quot;isTemplate&quot;:true,&quot;type&quot;:&quot;text&quot;}"/>
          <p:cNvSpPr txBox="1"/>
          <p:nvPr/>
        </p:nvSpPr>
        <p:spPr>
          <a:xfrm rot="0" flipH="0" flipV="0">
            <a:off x="9582150" y="52673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离场不回流，个人带走路</a:t>
            </a:r>
            <a:endParaRPr/>
          </a:p>
        </p:txBody>
      </p:sp>
      <p:sp>
        <p:nvSpPr>
          <p:cNvPr id="329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00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01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302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55 / 60</a:t>
            </a:r>
            <a:endParaRPr/>
          </a:p>
        </p:txBody>
      </p:sp>
    </p:spTree>
  </p:cSld>
</p:sld>
</file>

<file path=ppt/slides/slide56.xml><?xml version="1.0" encoding="utf-8"?>
<p:sld xmlns:p="http://schemas.openxmlformats.org/presentationml/2006/main" xmlns:a="http://schemas.openxmlformats.org/drawingml/2006/main">
  <p:cSld>
    <p:spTree>
      <p:nvGrpSpPr>
        <p:cNvPr id="3303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专用工作台（一）：&lt;span style={{ color: '#FA4F24' }}&gt;发现台与决策链画布&lt;/span&gt;&#10;        &lt;/Text&gt;&#10;        &lt;Text style={{ fontSize: 20, color: '#8A8F99', marginTop: 8 }}&gt;&#10;            工具是角色的固化。顾问做访谈记录，PM 写需求文档，FDE 必须有一台能画出决策链的机器&#10;        &lt;/Text&gt;&#10;    &lt;/Box&gt;&#10;    &lt;Box style={{ height: 1, background: '#E8E8E8' }} /&gt;&#10;&#10;    &lt;Box style={{ paddingTop: 20, paddingBottom: 14, height: 479, flexDirection: 'column', gap: 13 }}&gt;&#10;&#10;        {/* 上：发现台 */}&#10;        &lt;Box style={{ flex: 1, flexDirection: 'row', gap: 12 }}&gt;&#10;            &lt;Box style={{ flex: 1, background: '#F7F7F8', borderRadius: 4, padding: '0 16px', flexDirection: 'column', justifyContent: 'center', borderTop: '3px solid #FA4F24' }}&gt;&#10;                &lt;Text style={{ fontSize: 12, color: '#FA4F24', letterSpacing: 2 }}&gt;工作台 A · 客户现场发现台&lt;/Text&gt;&#10;                {[&#10;                    '对话记录：五问结构化落库，强制记原话',&#10;                    '痛点量化：每条痛点绑定一个数字与损失口径',&#10;                    '角色分层：决策者 / 执行者 / 反对者 分别打标',&#10;                ].map((x) =&gt; (&#10;                    &lt;Box key={x} style={{ flexDirection: 'row', gap: 10, marginTop: 10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    &lt;Box style={{ background: '#0F1423', borderRadius: 3, padding: '0 11px', marginTop: 10 }}&gt;&#10;                    &lt;Text style={{ fontSize: 11.5, color: 'rgba(255,255,255,0.88)', lineHeight: 1.4 }}&gt;产出：现像报告 · 决策链路图 · 痛点优先级矩阵&lt;/Text&gt;&#10;                &lt;/Box&gt;&#10;            &lt;/Box&gt;&#10;            &lt;Box style={{ flex: 1, background: '#0F1423', borderRadius: 4, padding: '0 16px', flexDirection: 'column', justifyContent: 'center', borderTop: '3px solid #FBA15C' }}&gt;&#10;                &lt;Text style={{ fontSize: 12, color: '#FBA15C', letterSpacing: 2 }}&gt;工作台 B · 决策链画布&lt;/Text&gt;&#10;                {[&#10;                    '反向追溯：从报表往回追到签字那一层',&#10;                    '断点标注：标出「谁看 → 做什么决定 → 传给谁」',&#10;                    '空白检测：追不到的环节就是组织真空',&#10;                ].map((x) =&gt; (&#10;                    &lt;Box key={x} style={{ flexDirection: 'row', gap: 10, marginTop: 10, alignItems: 'flex-start' }}&gt;&#10;                        &lt;Box style={{ width: 5, height: 5, borderRadius: 3, background: '#FBA15C', marginTop: 6 }} /&gt;&#10;                        &lt;Text style={{ fontSize: 12.5, color: 'rgba(255,255,255,0.85)', lineHeight: 1.4, flex: 1 }}&gt;{x}&lt;/Text&gt;&#10;                    &lt;/Box&gt;&#10;                ))}&#10;                &lt;Box style={{ background: 'rgba(250,79,36,0.22)', borderRadius: 3, padding: '0 11px', marginTop: 10 }}&gt;&#10;                    &lt;Text style={{ fontSize: 11.5, color: '#FBA15C', lineHeight: 1.4 }}&gt;产出：决策链路图 · 真实流程图 · 断点清单&lt;/Text&gt;&#10;                &lt;/Box&gt;&#10;            &lt;/Box&gt;&#10;        &lt;/Box&gt;&#10;&#10;        {/* 中：与传统工具的区别 */}&#10;        &lt;Box style={{ height: 190, flexDirection: 'row', gap: 12 }}&gt;&#10;            &lt;Box style={{ width: 468, background: '#FFF3EE', borderRadius: 4, borderLeft: '4px solid #FA4F24', padding: '0 18px', flexDirection: 'column', justifyContent: 'center' }}&gt;&#10;                &lt;Text style={{ fontSize: 14.5, fontWeight: 'bold', color: '#C43A17' }}&gt;同样一件事，三种角色三种产出物&lt;/Text&gt;&#10;                {[&#10;                    { k: '咨询顾问', v: '访谈纪要 + 诊断报告，交付物是文档' },&#10;                    { k: '产品经理', v: '需求清单 + 优先级表，交付物是计划' },&#10;                    { k: '开发经理', v: '排期表 + 上线计划，交付物是时间表' },&#10;                    { k: 'FDE', v: '决策链画布，交付物是要修的那条路的坐标' },&#10;                ].map((x, i) =&gt; (&#10;                    &lt;Box key={x.k} style={{ flexDirection: 'row', gap: 11, marginTop: 11, alignItems: 'flex-start' }}&gt;&#10;                        &lt;Text style={{ fontSize: 12, fontWeight: 'bold', color: i === 3 ? '#FA4F24' : '#5A6070', width: 68 }}&gt;{x.k}&lt;/Text&gt;&#10;                        &lt;Text style={{ fontSize: 12.5, color: '#3A4050', lineHeight: 1.4, flex: 1 }}&gt;{x.v}&lt;/Text&gt;&#10;                    &lt;/Box&gt;&#10;                ))}&#10;            &lt;/Box&gt;&#10;&#10;            &lt;Box style={{ flex: 1, background: '#F7F7F8', borderRadius: 4, padding: '0 17px', flexDirection: 'column', justifyContent: 'center' }}&gt;&#10;                &lt;Text style={{ fontSize: 14.5, fontWeight: 'bold', color: '#0F1423' }}&gt;工具形态上的三个差异&lt;/Text&gt;&#10;                {[&#10;                    { k: '强制留痕', v: '不记原话不许关闭对话条目' },&#10;                    { k: '就地连线', v: '画布上直接连决策链，不画漂亮架构图' },&#10;                    { k: '绑定数字', v: '没有数字的痛点条目不许进优先级' },&#10;                ].map((x) =&gt; (&#10;                    &lt;Box key={x.k} style={{ flexDirection: 'row', gap: 11, marginTop: 11, alignItems: 'flex-start' }}&gt;&#10;                        &lt;Text style={{ fontSize: 12, fontWeight: 'bold', color: '#FA4F24', width: 78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4, lineHeight: 1.4 }}&gt;&#10;                    工具的作用是：让你没办法用旧角色的方式偷懒。&#10;                &lt;/Text&gt;&#10;            &lt;/Box&gt;&#10;        &lt;/Box&gt;&#10;&#10;        {/* 下：使用纪律 */}&#10;        &lt;Box style={{ height: 66,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使用纪律&lt;/Text&gt;&#10;                &lt;Text style={{ fontSize: 12.5, fontWeight: 'bold', color: '#0F1423', marginTop: 5 }}&gt;离开现场前必须填满&lt;/Text&gt;&#10;            &lt;/Box&gt;&#10;            {[&#10;                { k: '当天填', v: '对话当天录入，不过夜' },&#10;                { k: '原话存', v: '不用书面语改写' },&#10;                { k: '数字挂', v: '挂不上数字的进不了优先级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6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0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专用工作台（一）：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发现台与决策链画布</a:t>
            </a:r>
            <a:endParaRPr/>
          </a:p>
        </p:txBody>
      </p:sp>
      <p:sp>
        <p:nvSpPr>
          <p:cNvPr id="330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工具是角色的固化。顾问做访谈记录，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PM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写需求文档，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必须有一台能画出决策链的机器</a:t>
            </a:r>
            <a:endParaRPr/>
          </a:p>
        </p:txBody>
      </p:sp>
      <p:sp>
        <p:nvSpPr>
          <p:cNvPr id="330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08" name=""/>
          <p:cNvSpPr/>
          <p:nvPr/>
        </p:nvSpPr>
        <p:spPr>
          <a:xfrm rot="0" flipH="0" flipV="0">
            <a:off x="609600" y="1371600"/>
            <a:ext cx="5429250" cy="1552575"/>
          </a:xfrm>
          <a:prstGeom prst="roundRect">
            <a:avLst>
              <a:gd name="adj" fmla="val 24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09" name=""/>
          <p:cNvSpPr/>
          <p:nvPr/>
        </p:nvSpPr>
        <p:spPr>
          <a:xfrm rot="0" flipH="0" flipV="0">
            <a:off x="609600" y="1371600"/>
            <a:ext cx="5429250" cy="1552575"/>
          </a:xfrm>
          <a:custGeom>
            <a:pathLst>
              <a:path w="570" h="163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cubicBezTo>
                  <a:pt x="570" y="3"/>
                  <a:pt x="569" y="3"/>
                  <a:pt x="5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10" name="" descr="{&quot;isTemplate&quot;:true,&quot;type&quot;:&quot;text&quot;}"/>
          <p:cNvSpPr txBox="1"/>
          <p:nvPr/>
        </p:nvSpPr>
        <p:spPr>
          <a:xfrm rot="0" flipH="0" flipV="0">
            <a:off x="762000" y="1476375"/>
            <a:ext cx="512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A4F24"/>
                </a:solidFill>
                <a:latin typeface="Microsoft YaHei"/>
                <a:ea typeface="Microsoft YaHei"/>
              </a:rPr>
              <a:t>工作台</a:t>
            </a:r>
            <a:r>
              <a:rPr lang="en-US" sz="900" spc="150">
                <a:solidFill>
                  <a:srgbClr val="FA4F24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900" spc="150">
                <a:solidFill>
                  <a:srgbClr val="FA4F24"/>
                </a:solidFill>
                <a:latin typeface="Microsoft YaHei"/>
                <a:ea typeface="Microsoft YaHei"/>
              </a:rPr>
              <a:t>客户现场发现台</a:t>
            </a:r>
            <a:endParaRPr/>
          </a:p>
        </p:txBody>
      </p:sp>
      <p:sp>
        <p:nvSpPr>
          <p:cNvPr id="3311" name=""/>
          <p:cNvSpPr/>
          <p:nvPr/>
        </p:nvSpPr>
        <p:spPr>
          <a:xfrm rot="0" flipH="0" flipV="0">
            <a:off x="762000" y="1771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12" name="" descr="{&quot;isTemplate&quot;:true,&quot;type&quot;:&quot;text&quot;}"/>
          <p:cNvSpPr txBox="1"/>
          <p:nvPr/>
        </p:nvSpPr>
        <p:spPr>
          <a:xfrm rot="0" flipH="0" flipV="0">
            <a:off x="904875" y="17145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对话记录：五问结构化落库，强制记原话</a:t>
            </a:r>
            <a:endParaRPr/>
          </a:p>
        </p:txBody>
      </p:sp>
      <p:sp>
        <p:nvSpPr>
          <p:cNvPr id="3313" name=""/>
          <p:cNvSpPr/>
          <p:nvPr/>
        </p:nvSpPr>
        <p:spPr>
          <a:xfrm rot="0" flipH="0" flipV="0">
            <a:off x="762000" y="20669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14" name="" descr="{&quot;isTemplate&quot;:true,&quot;type&quot;:&quot;text&quot;}"/>
          <p:cNvSpPr txBox="1"/>
          <p:nvPr/>
        </p:nvSpPr>
        <p:spPr>
          <a:xfrm rot="0" flipH="0" flipV="0">
            <a:off x="904875" y="2009775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痛点量化：每条痛点绑定一个数字与损失口径</a:t>
            </a:r>
            <a:endParaRPr/>
          </a:p>
        </p:txBody>
      </p:sp>
      <p:sp>
        <p:nvSpPr>
          <p:cNvPr id="3315" name=""/>
          <p:cNvSpPr/>
          <p:nvPr/>
        </p:nvSpPr>
        <p:spPr>
          <a:xfrm rot="0" flipH="0" flipV="0">
            <a:off x="762000" y="2362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16" name="" descr="{&quot;isTemplate&quot;:true,&quot;type&quot;:&quot;text&quot;}"/>
          <p:cNvSpPr txBox="1"/>
          <p:nvPr/>
        </p:nvSpPr>
        <p:spPr>
          <a:xfrm rot="0" flipH="0" flipV="0">
            <a:off x="904875" y="23050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角色分层：决策者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执行者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反对者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分别打标</a:t>
            </a:r>
            <a:endParaRPr/>
          </a:p>
        </p:txBody>
      </p:sp>
      <p:sp>
        <p:nvSpPr>
          <p:cNvPr id="3317" name=""/>
          <p:cNvSpPr/>
          <p:nvPr/>
        </p:nvSpPr>
        <p:spPr>
          <a:xfrm rot="0" flipH="0" flipV="0">
            <a:off x="762000" y="2600325"/>
            <a:ext cx="51244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18" name="" descr="{&quot;isTemplate&quot;:true,&quot;type&quot;:&quot;text&quot;}"/>
          <p:cNvSpPr txBox="1"/>
          <p:nvPr/>
        </p:nvSpPr>
        <p:spPr>
          <a:xfrm rot="0" flipH="0" flipV="0">
            <a:off x="866775" y="2600325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产出：现像报告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决策链路图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痛点优先级矩阵</a:t>
            </a:r>
            <a:endParaRPr/>
          </a:p>
        </p:txBody>
      </p:sp>
      <p:sp>
        <p:nvSpPr>
          <p:cNvPr id="3319" name=""/>
          <p:cNvSpPr/>
          <p:nvPr/>
        </p:nvSpPr>
        <p:spPr>
          <a:xfrm rot="0" flipH="0" flipV="0">
            <a:off x="6153150" y="1371600"/>
            <a:ext cx="5429250" cy="1552575"/>
          </a:xfrm>
          <a:prstGeom prst="roundRect">
            <a:avLst>
              <a:gd name="adj" fmla="val 245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20" name=""/>
          <p:cNvSpPr/>
          <p:nvPr/>
        </p:nvSpPr>
        <p:spPr>
          <a:xfrm rot="0" flipH="0" flipV="0">
            <a:off x="6153150" y="1371600"/>
            <a:ext cx="5429250" cy="1552575"/>
          </a:xfrm>
          <a:custGeom>
            <a:pathLst>
              <a:path w="570" h="163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cubicBezTo>
                  <a:pt x="570" y="3"/>
                  <a:pt x="569" y="3"/>
                  <a:pt x="5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6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21" name="" descr="{&quot;isTemplate&quot;:true,&quot;type&quot;:&quot;text&quot;}"/>
          <p:cNvSpPr txBox="1"/>
          <p:nvPr/>
        </p:nvSpPr>
        <p:spPr>
          <a:xfrm rot="0" flipH="0" flipV="0">
            <a:off x="6305550" y="1476375"/>
            <a:ext cx="512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工作台</a:t>
            </a: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决策链画布</a:t>
            </a:r>
            <a:endParaRPr/>
          </a:p>
        </p:txBody>
      </p:sp>
      <p:sp>
        <p:nvSpPr>
          <p:cNvPr id="3322" name=""/>
          <p:cNvSpPr/>
          <p:nvPr/>
        </p:nvSpPr>
        <p:spPr>
          <a:xfrm rot="0" flipH="0" flipV="0">
            <a:off x="6305550" y="1771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23" name="" descr="{&quot;isTemplate&quot;:true,&quot;type&quot;:&quot;text&quot;}"/>
          <p:cNvSpPr txBox="1"/>
          <p:nvPr/>
        </p:nvSpPr>
        <p:spPr>
          <a:xfrm rot="0" flipH="0" flipV="0">
            <a:off x="6448425" y="17145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反向追溯：从报表往回追到签字那一层</a:t>
            </a:r>
            <a:endParaRPr/>
          </a:p>
        </p:txBody>
      </p:sp>
      <p:sp>
        <p:nvSpPr>
          <p:cNvPr id="3324" name=""/>
          <p:cNvSpPr/>
          <p:nvPr/>
        </p:nvSpPr>
        <p:spPr>
          <a:xfrm rot="0" flipH="0" flipV="0">
            <a:off x="6305550" y="20669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25" name="" descr="{&quot;isTemplate&quot;:true,&quot;type&quot;:&quot;text&quot;}"/>
          <p:cNvSpPr txBox="1"/>
          <p:nvPr/>
        </p:nvSpPr>
        <p:spPr>
          <a:xfrm rot="0" flipH="0" flipV="0">
            <a:off x="6448425" y="2009775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断点标注：标出「谁看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做什么决定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传给谁」</a:t>
            </a:r>
            <a:endParaRPr/>
          </a:p>
        </p:txBody>
      </p:sp>
      <p:sp>
        <p:nvSpPr>
          <p:cNvPr id="3326" name=""/>
          <p:cNvSpPr/>
          <p:nvPr/>
        </p:nvSpPr>
        <p:spPr>
          <a:xfrm rot="0" flipH="0" flipV="0">
            <a:off x="6305550" y="2362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27" name="" descr="{&quot;isTemplate&quot;:true,&quot;type&quot;:&quot;text&quot;}"/>
          <p:cNvSpPr txBox="1"/>
          <p:nvPr/>
        </p:nvSpPr>
        <p:spPr>
          <a:xfrm rot="0" flipH="0" flipV="0">
            <a:off x="6448425" y="23050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空白检测：追不到的环节就是组织真空</a:t>
            </a:r>
            <a:endParaRPr/>
          </a:p>
        </p:txBody>
      </p:sp>
      <p:sp>
        <p:nvSpPr>
          <p:cNvPr id="3328" name=""/>
          <p:cNvSpPr/>
          <p:nvPr/>
        </p:nvSpPr>
        <p:spPr>
          <a:xfrm rot="0" flipH="0" flipV="0">
            <a:off x="6305550" y="2600325"/>
            <a:ext cx="5124450" cy="190500"/>
          </a:xfrm>
          <a:prstGeom prst="roundRect">
            <a:avLst>
              <a:gd name="adj" fmla="val 15000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329" name="" descr="{&quot;isTemplate&quot;:true,&quot;type&quot;:&quot;text&quot;}"/>
          <p:cNvSpPr txBox="1"/>
          <p:nvPr/>
        </p:nvSpPr>
        <p:spPr>
          <a:xfrm rot="0" flipH="0" flipV="0">
            <a:off x="6410325" y="2600325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产出：决策链路图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真实流程图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断点清单</a:t>
            </a:r>
            <a:endParaRPr/>
          </a:p>
        </p:txBody>
      </p:sp>
      <p:sp>
        <p:nvSpPr>
          <p:cNvPr id="3330" name=""/>
          <p:cNvSpPr/>
          <p:nvPr/>
        </p:nvSpPr>
        <p:spPr>
          <a:xfrm rot="0" flipH="0" flipV="0">
            <a:off x="647700" y="3019425"/>
            <a:ext cx="4419600" cy="1809750"/>
          </a:xfrm>
          <a:prstGeom prst="roundRect">
            <a:avLst>
              <a:gd name="adj" fmla="val 210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331" name=""/>
          <p:cNvSpPr/>
          <p:nvPr/>
        </p:nvSpPr>
        <p:spPr>
          <a:xfrm rot="0" flipH="0" flipV="0">
            <a:off x="647700" y="3019425"/>
            <a:ext cx="4419600" cy="1809750"/>
          </a:xfrm>
          <a:custGeom>
            <a:pathLst>
              <a:path w="464" h="190">
                <a:moveTo>
                  <a:pt x="4" y="190"/>
                </a:moveTo>
                <a:cubicBezTo>
                  <a:pt x="2" y="190"/>
                  <a:pt x="0" y="188"/>
                  <a:pt x="0" y="18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9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32" name="" descr="{&quot;isTemplate&quot;:true,&quot;type&quot;:&quot;text&quot;}"/>
          <p:cNvSpPr txBox="1"/>
          <p:nvPr/>
        </p:nvSpPr>
        <p:spPr>
          <a:xfrm rot="0" flipH="0" flipV="0">
            <a:off x="819150" y="3228975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同样一件事，三种角色三种产出物</a:t>
            </a:r>
            <a:endParaRPr/>
          </a:p>
        </p:txBody>
      </p:sp>
      <p:sp>
        <p:nvSpPr>
          <p:cNvPr id="3333" name="" descr="{&quot;isTemplate&quot;:true,&quot;type&quot;:&quot;text&quot;}"/>
          <p:cNvSpPr txBox="1"/>
          <p:nvPr/>
        </p:nvSpPr>
        <p:spPr>
          <a:xfrm rot="0" flipH="0" flipV="0">
            <a:off x="819150" y="3505200"/>
            <a:ext cx="64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A6070"/>
                </a:solidFill>
                <a:latin typeface="Microsoft YaHei"/>
                <a:ea typeface="Microsoft YaHei"/>
              </a:rPr>
              <a:t>咨询顾问</a:t>
            </a:r>
            <a:endParaRPr/>
          </a:p>
        </p:txBody>
      </p:sp>
      <p:sp>
        <p:nvSpPr>
          <p:cNvPr id="3334" name="" descr="{&quot;isTemplate&quot;:true,&quot;type&quot;:&quot;text&quot;}"/>
          <p:cNvSpPr txBox="1"/>
          <p:nvPr/>
        </p:nvSpPr>
        <p:spPr>
          <a:xfrm rot="0" flipH="0" flipV="0">
            <a:off x="1571625" y="350520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访谈纪要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诊断报告，交付物是文档</a:t>
            </a:r>
            <a:endParaRPr/>
          </a:p>
        </p:txBody>
      </p:sp>
      <p:sp>
        <p:nvSpPr>
          <p:cNvPr id="3335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64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A6070"/>
                </a:solidFill>
                <a:latin typeface="Microsoft YaHei"/>
                <a:ea typeface="Microsoft YaHei"/>
              </a:rPr>
              <a:t>产品经理</a:t>
            </a:r>
            <a:endParaRPr/>
          </a:p>
        </p:txBody>
      </p:sp>
      <p:sp>
        <p:nvSpPr>
          <p:cNvPr id="3336" name="" descr="{&quot;isTemplate&quot;:true,&quot;type&quot;:&quot;text&quot;}"/>
          <p:cNvSpPr txBox="1"/>
          <p:nvPr/>
        </p:nvSpPr>
        <p:spPr>
          <a:xfrm rot="0" flipH="0" flipV="0">
            <a:off x="1571625" y="381000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需求清单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优先级表，交付物是计划</a:t>
            </a:r>
            <a:endParaRPr/>
          </a:p>
        </p:txBody>
      </p:sp>
      <p:sp>
        <p:nvSpPr>
          <p:cNvPr id="3337" name="" descr="{&quot;isTemplate&quot;:true,&quot;type&quot;:&quot;text&quot;}"/>
          <p:cNvSpPr txBox="1"/>
          <p:nvPr/>
        </p:nvSpPr>
        <p:spPr>
          <a:xfrm rot="0" flipH="0" flipV="0">
            <a:off x="819150" y="4114800"/>
            <a:ext cx="64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A6070"/>
                </a:solidFill>
                <a:latin typeface="Microsoft YaHei"/>
                <a:ea typeface="Microsoft YaHei"/>
              </a:rPr>
              <a:t>开发经理</a:t>
            </a:r>
            <a:endParaRPr/>
          </a:p>
        </p:txBody>
      </p:sp>
      <p:sp>
        <p:nvSpPr>
          <p:cNvPr id="3338" name="" descr="{&quot;isTemplate&quot;:true,&quot;type&quot;:&quot;text&quot;}"/>
          <p:cNvSpPr txBox="1"/>
          <p:nvPr/>
        </p:nvSpPr>
        <p:spPr>
          <a:xfrm rot="0" flipH="0" flipV="0">
            <a:off x="1571625" y="411480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排期表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上线计划，交付物是时间表</a:t>
            </a:r>
            <a:endParaRPr/>
          </a:p>
        </p:txBody>
      </p:sp>
      <p:sp>
        <p:nvSpPr>
          <p:cNvPr id="3339" name="" descr="{&quot;isTemplate&quot;:true,&quot;type&quot;:&quot;text&quot;}"/>
          <p:cNvSpPr txBox="1"/>
          <p:nvPr/>
        </p:nvSpPr>
        <p:spPr>
          <a:xfrm rot="0" flipH="0" flipV="0">
            <a:off x="819150" y="4419600"/>
            <a:ext cx="64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FDE</a:t>
            </a:r>
            <a:endParaRPr/>
          </a:p>
        </p:txBody>
      </p:sp>
      <p:sp>
        <p:nvSpPr>
          <p:cNvPr id="3340" name="" descr="{&quot;isTemplate&quot;:true,&quot;type&quot;:&quot;text&quot;}"/>
          <p:cNvSpPr txBox="1"/>
          <p:nvPr/>
        </p:nvSpPr>
        <p:spPr>
          <a:xfrm rot="0" flipH="0" flipV="0">
            <a:off x="1571625" y="441960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决策链画布，交付物是要修的那条路的坐标</a:t>
            </a:r>
            <a:endParaRPr/>
          </a:p>
        </p:txBody>
      </p:sp>
      <p:sp>
        <p:nvSpPr>
          <p:cNvPr id="3341" name=""/>
          <p:cNvSpPr/>
          <p:nvPr/>
        </p:nvSpPr>
        <p:spPr>
          <a:xfrm rot="0" flipH="0" flipV="0">
            <a:off x="5181600" y="3019425"/>
            <a:ext cx="6400800" cy="180975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42" name="" descr="{&quot;isTemplate&quot;:true,&quot;type&quot;:&quot;text&quot;}"/>
          <p:cNvSpPr txBox="1"/>
          <p:nvPr/>
        </p:nvSpPr>
        <p:spPr>
          <a:xfrm rot="0" flipH="0" flipV="0">
            <a:off x="5343525" y="3219450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工具形态上的三个差异</a:t>
            </a:r>
            <a:endParaRPr/>
          </a:p>
        </p:txBody>
      </p:sp>
      <p:sp>
        <p:nvSpPr>
          <p:cNvPr id="3343" name="" descr="{&quot;isTemplate&quot;:true,&quot;type&quot;:&quot;text&quot;}"/>
          <p:cNvSpPr txBox="1"/>
          <p:nvPr/>
        </p:nvSpPr>
        <p:spPr>
          <a:xfrm rot="0" flipH="0" flipV="0">
            <a:off x="5343525" y="34956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强制留痕</a:t>
            </a:r>
            <a:endParaRPr/>
          </a:p>
        </p:txBody>
      </p:sp>
      <p:sp>
        <p:nvSpPr>
          <p:cNvPr id="3344" name="" descr="{&quot;isTemplate&quot;:true,&quot;type&quot;:&quot;text&quot;}"/>
          <p:cNvSpPr txBox="1"/>
          <p:nvPr/>
        </p:nvSpPr>
        <p:spPr>
          <a:xfrm rot="0" flipH="0" flipV="0">
            <a:off x="6191250" y="349567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不记原话不许关闭对话条目</a:t>
            </a:r>
            <a:endParaRPr/>
          </a:p>
        </p:txBody>
      </p:sp>
      <p:sp>
        <p:nvSpPr>
          <p:cNvPr id="3345" name="" descr="{&quot;isTemplate&quot;:true,&quot;type&quot;:&quot;text&quot;}"/>
          <p:cNvSpPr txBox="1"/>
          <p:nvPr/>
        </p:nvSpPr>
        <p:spPr>
          <a:xfrm rot="0" flipH="0" flipV="0">
            <a:off x="5343525" y="38004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就地连线</a:t>
            </a:r>
            <a:endParaRPr/>
          </a:p>
        </p:txBody>
      </p:sp>
      <p:sp>
        <p:nvSpPr>
          <p:cNvPr id="3346" name="" descr="{&quot;isTemplate&quot;:true,&quot;type&quot;:&quot;text&quot;}"/>
          <p:cNvSpPr txBox="1"/>
          <p:nvPr/>
        </p:nvSpPr>
        <p:spPr>
          <a:xfrm rot="0" flipH="0" flipV="0">
            <a:off x="6191250" y="380047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画布上直接连决策链，不画漂亮架构图</a:t>
            </a:r>
            <a:endParaRPr/>
          </a:p>
        </p:txBody>
      </p:sp>
      <p:sp>
        <p:nvSpPr>
          <p:cNvPr id="3347" name="" descr="{&quot;isTemplate&quot;:true,&quot;type&quot;:&quot;text&quot;}"/>
          <p:cNvSpPr txBox="1"/>
          <p:nvPr/>
        </p:nvSpPr>
        <p:spPr>
          <a:xfrm rot="0" flipH="0" flipV="0">
            <a:off x="5343525" y="4105275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绑定数字</a:t>
            </a:r>
            <a:endParaRPr/>
          </a:p>
        </p:txBody>
      </p:sp>
      <p:sp>
        <p:nvSpPr>
          <p:cNvPr id="3348" name="" descr="{&quot;isTemplate&quot;:true,&quot;type&quot;:&quot;text&quot;}"/>
          <p:cNvSpPr txBox="1"/>
          <p:nvPr/>
        </p:nvSpPr>
        <p:spPr>
          <a:xfrm rot="0" flipH="0" flipV="0">
            <a:off x="6191250" y="4105275"/>
            <a:ext cx="52292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没有数字的痛点条目不许进优先级</a:t>
            </a:r>
            <a:endParaRPr/>
          </a:p>
        </p:txBody>
      </p:sp>
      <p:sp>
        <p:nvSpPr>
          <p:cNvPr id="3349" name="" descr="{&quot;isTemplate&quot;:true,&quot;type&quot;:&quot;text&quot;}"/>
          <p:cNvSpPr txBox="1"/>
          <p:nvPr/>
        </p:nvSpPr>
        <p:spPr>
          <a:xfrm rot="0" flipH="0" flipV="0">
            <a:off x="5343525" y="4438650"/>
            <a:ext cx="60769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工具的作用是：让你没办法用旧角色的方式偷懒。</a:t>
            </a:r>
            <a:endParaRPr/>
          </a:p>
        </p:txBody>
      </p:sp>
      <p:sp>
        <p:nvSpPr>
          <p:cNvPr id="3350" name=""/>
          <p:cNvSpPr/>
          <p:nvPr/>
        </p:nvSpPr>
        <p:spPr>
          <a:xfrm rot="0" flipH="0" flipV="0">
            <a:off x="609600" y="4953000"/>
            <a:ext cx="19812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51" name="" descr="{&quot;isTemplate&quot;:true,&quot;type&quot;:&quot;text&quot;}"/>
          <p:cNvSpPr txBox="1"/>
          <p:nvPr/>
        </p:nvSpPr>
        <p:spPr>
          <a:xfrm rot="0" flipH="0" flipV="0">
            <a:off x="752475" y="510540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使用纪律</a:t>
            </a:r>
            <a:endParaRPr/>
          </a:p>
        </p:txBody>
      </p:sp>
      <p:sp>
        <p:nvSpPr>
          <p:cNvPr id="3352" name="" descr="{&quot;isTemplate&quot;:true,&quot;type&quot;:&quot;text&quot;}"/>
          <p:cNvSpPr txBox="1"/>
          <p:nvPr/>
        </p:nvSpPr>
        <p:spPr>
          <a:xfrm rot="0" flipH="0" flipV="0">
            <a:off x="752475" y="5286375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离开现场前必须填满</a:t>
            </a:r>
            <a:endParaRPr/>
          </a:p>
        </p:txBody>
      </p:sp>
      <p:sp>
        <p:nvSpPr>
          <p:cNvPr id="3353" name=""/>
          <p:cNvSpPr/>
          <p:nvPr/>
        </p:nvSpPr>
        <p:spPr>
          <a:xfrm rot="0" flipH="0" flipV="0">
            <a:off x="2705100" y="4953000"/>
            <a:ext cx="2886075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54" name="" descr="{&quot;isTemplate&quot;:true,&quot;type&quot;:&quot;text&quot;}"/>
          <p:cNvSpPr txBox="1"/>
          <p:nvPr/>
        </p:nvSpPr>
        <p:spPr>
          <a:xfrm rot="0" flipH="0" flipV="0">
            <a:off x="2838450" y="50863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当天填</a:t>
            </a:r>
            <a:endParaRPr/>
          </a:p>
        </p:txBody>
      </p:sp>
      <p:sp>
        <p:nvSpPr>
          <p:cNvPr id="3355" name="" descr="{&quot;isTemplate&quot;:true,&quot;type&quot;:&quot;text&quot;}"/>
          <p:cNvSpPr txBox="1"/>
          <p:nvPr/>
        </p:nvSpPr>
        <p:spPr>
          <a:xfrm rot="0" flipH="0" flipV="0">
            <a:off x="2838450" y="52768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对话当天录入，不过夜</a:t>
            </a:r>
            <a:endParaRPr/>
          </a:p>
        </p:txBody>
      </p:sp>
      <p:sp>
        <p:nvSpPr>
          <p:cNvPr id="3356" name=""/>
          <p:cNvSpPr/>
          <p:nvPr/>
        </p:nvSpPr>
        <p:spPr>
          <a:xfrm rot="0" flipH="0" flipV="0">
            <a:off x="5705475" y="4953000"/>
            <a:ext cx="28765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57" name="" descr="{&quot;isTemplate&quot;:true,&quot;type&quot;:&quot;text&quot;}"/>
          <p:cNvSpPr txBox="1"/>
          <p:nvPr/>
        </p:nvSpPr>
        <p:spPr>
          <a:xfrm rot="0" flipH="0" flipV="0">
            <a:off x="5838825" y="508635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原话存</a:t>
            </a:r>
            <a:endParaRPr/>
          </a:p>
        </p:txBody>
      </p:sp>
      <p:sp>
        <p:nvSpPr>
          <p:cNvPr id="3358" name="" descr="{&quot;isTemplate&quot;:true,&quot;type&quot;:&quot;text&quot;}"/>
          <p:cNvSpPr txBox="1"/>
          <p:nvPr/>
        </p:nvSpPr>
        <p:spPr>
          <a:xfrm rot="0" flipH="0" flipV="0">
            <a:off x="5838825" y="5276850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不用书面语改写</a:t>
            </a:r>
            <a:endParaRPr/>
          </a:p>
        </p:txBody>
      </p:sp>
      <p:sp>
        <p:nvSpPr>
          <p:cNvPr id="3359" name=""/>
          <p:cNvSpPr/>
          <p:nvPr/>
        </p:nvSpPr>
        <p:spPr>
          <a:xfrm rot="0" flipH="0" flipV="0">
            <a:off x="8696325" y="4953000"/>
            <a:ext cx="2886075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60" name="" descr="{&quot;isTemplate&quot;:true,&quot;type&quot;:&quot;text&quot;}"/>
          <p:cNvSpPr txBox="1"/>
          <p:nvPr/>
        </p:nvSpPr>
        <p:spPr>
          <a:xfrm rot="0" flipH="0" flipV="0">
            <a:off x="8829675" y="50863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数字挂</a:t>
            </a:r>
            <a:endParaRPr/>
          </a:p>
        </p:txBody>
      </p:sp>
      <p:sp>
        <p:nvSpPr>
          <p:cNvPr id="3361" name="" descr="{&quot;isTemplate&quot;:true,&quot;type&quot;:&quot;text&quot;}"/>
          <p:cNvSpPr txBox="1"/>
          <p:nvPr/>
        </p:nvSpPr>
        <p:spPr>
          <a:xfrm rot="0" flipH="0" flipV="0">
            <a:off x="8829675" y="52768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挂不上数字的进不了优先级</a:t>
            </a:r>
            <a:endParaRPr/>
          </a:p>
        </p:txBody>
      </p:sp>
      <p:sp>
        <p:nvSpPr>
          <p:cNvPr id="336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63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64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365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56 / 60</a:t>
            </a:r>
            <a:endParaRPr/>
          </a:p>
        </p:txBody>
      </p:sp>
    </p:spTree>
  </p:cSld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336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专用工作台（二）：&lt;span style={{ color: '#FA4F24' }}&gt;装配台与验收台&lt;/span&gt;&#10;        &lt;/Text&gt;&#10;        &lt;Text style={{ fontSize: 20, color: '#8A8F99', marginTop: 8 }}&gt;&#10;            左边控制、右边就地预览；十二项检查逐项打勾。这两台机器的产物就是 FDE 的交付物&#10;        &lt;/Text&gt;&#10;    &lt;/Box&gt;&#10;    &lt;Box style={{ height: 1, background: '#E8E8E8' }} /&gt;&#10;&#10;    &lt;Box style={{ paddingTop: 20, paddingBottom: 14, height: 479, flexDirection: 'column', gap: 13 }}&gt;&#10;&#10;        {/* 上：装配台与验收台 */}&#10;        &lt;Box style={{ flex: 1, flexDirection: 'row', gap: 12 }}&gt;&#10;            &lt;Box style={{ flex: 1, background: '#F7F7F8', borderRadius: 4, padding: '0 16px', flexDirection: 'column', justifyContent: 'center', borderTop: '3px solid #FA4F24' }}&gt;&#10;                &lt;Text style={{ fontSize: 12, color: '#FA4F24', letterSpacing: 2 }}&gt;工作台 C · Agent 装配与管道工作台&lt;/Text&gt;&#10;                {[&#10;                    '工具白名单：勾选式授权，默认全关',&#10;                    '出口策略：写回目标逐条选，可设可撤回',&#10;                    '管道骨架：批次号 / 重试 / 对账三件套模板',&#10;                    '切片工艺：按语义边界切，标密级标签',&#10;                ].map((x) =&gt; (&#10;                    &lt;Box key={x} style={{ flexDirection: 'row', gap: 10, marginTop: 9, alignItems: 'flex-start' }}&gt;&#10;                        &lt;Box style={{ width: 5, height: 5, borderRadius: 3, background: '#FA4F24', marginTop: 6 }} /&gt;&#10;                        &lt;Text style={{ fontSize: 12.5, color: '#3A4050', lineHeight: 1.4, flex: 1 }}&gt;{x}&lt;/Text&gt;&#10;                    &lt;/Box&gt;&#10;                ))}&#10;                &lt;Box style={{ background: '#0F1423', borderRadius: 3, padding: '0 11px', marginTop: 9 }}&gt;&#10;                    &lt;Text style={{ fontSize: 11.5, color: 'rgba(255,255,255,0.88)', lineHeight: 1.4 }}&gt;产出：可运行的生产环境 · 遥测日志&lt;/Text&gt;&#10;                &lt;/Box&gt;&#10;            &lt;/Box&gt;&#10;            &lt;Box style={{ flex: 1, background: '#0F1423', borderRadius: 4, padding: '0 16px', flexDirection: 'column', justifyContent: 'center', borderTop: '3px solid #FBA15C' }}&gt;&#10;                &lt;Text style={{ fontSize: 12, color: '#FBA15C', letterSpacing: 2 }}&gt;工作台 D · 上线验收台&lt;/Text&gt;&#10;                {[&#10;                    '十二项检查：逐项打勾，双方共同确认',&#10;                    '判档：12/12 退出、9–11 整改、≤8 未上线',&#10;                    '三个提问：谁用过、改变了什么决定、坏了谁知道',&#10;                    '移交清单：六件交付物签收',&#10;                ].map((x) =&gt; (&#10;                    &lt;Box key={x} style={{ flexDirection: 'row', gap: 10, marginTop: 9, alignItems: 'flex-start' }}&gt;&#10;                        &lt;Box style={{ width: 5, height: 5, borderRadius: 3, background: '#FBA15C', marginTop: 6 }} /&gt;&#10;                        &lt;Text style={{ fontSize: 12.5, color: 'rgba(255,255,255,0.85)', lineHeight: 1.4, flex: 1 }}&gt;{x}&lt;/Text&gt;&#10;                    &lt;/Box&gt;&#10;                ))}&#10;                &lt;Box style={{ background: 'rgba(250,79,36,0.22)', borderRadius: 3, padding: '0 11px', marginTop: 9 }}&gt;&#10;                    &lt;Text style={{ fontSize: 11.5, color: '#FBA15C', lineHeight: 1.4 }}&gt;产出：验收签字 · 移交清单 · FDE 退出凭证&lt;/Text&gt;&#10;                &lt;/Box&gt;&#10;            &lt;/Box&gt;&#10;        &lt;/Box&gt;&#10;&#10;        {/* 中：可复用度矩阵与分支 */}&#10;        &lt;Box style={{ height: 186, flexDirection: 'row', gap: 12 }}&gt;&#10;            &lt;Box style={{ width: 468, background: '#FFF3EE', borderRadius: 4, borderLeft: '4px solid #FA4F24', padding: '0 18px', flexDirection: 'column', justifyContent: 'center' }}&gt;&#10;                &lt;Text style={{ fontSize: 14.5, fontWeight: 'bold', color: '#C43A17' }}&gt;工作台 E · 平台抽象与回流台&lt;/Text&gt;&#10;                {[&#10;                    { k: '可复用度矩阵', v: '八领域逐项定档 A/B/C/D，当场判' },&#10;                    { k: '抽象提案', v: 'A 档进平台迭代，D 档写进不抽象清单' },&#10;                    { k: '坑位清单', v: '哪里踩雷、为什么、下次怎么避' },&#10;                    { k: '分支隔离', v: '客户现场环境独立分支，不污染主线' },&#10;                ].map((x) =&gt; (&#10;                    &lt;Box key={x.k} style={{ flexDirection: 'row', gap: 11, marginTop: 10, alignItems: 'flex-start' }}&gt;&#10;                        &lt;Text style={{ fontSize: 12, fontWeight: 'bold', color: '#C43A17', width: 104 }}&gt;{x.k}&lt;/Text&gt;&#10;                        &lt;Text style={{ fontSize: 12.5, color: '#3A4050', lineHeight: 1.4, flex: 1 }}&gt;{x.v}&lt;/Text&gt;&#10;                    &lt;/Box&gt;&#10;                ))}&#10;            &lt;/Box&gt;&#10;&#10;            &lt;Box style={{ flex: 1, background: '#F7F7F8', borderRadius: 4, padding: '0 17px', flexDirection: 'column', justifyContent: 'center' }}&gt;&#10;                &lt;Text style={{ fontSize: 14.5, fontWeight: 'bold', color: '#0F1423' }}&gt;为什么必须有这些工作台&lt;/Text&gt;&#10;                {[&#10;                    { k: '防退化', v: '照着 PPT 交付很容易，靠台子逼你交活的东西' },&#10;                    { k: '防遗漏', v: '十二项检查不填完，流程走不到下一步' },&#10;                    { k: '防私有', v: '回流提案不签字，项目不许关闭' },&#10;                    { k: '防越界', v: '默认全关的白名单，不勾选就没有权限' },&#10;                ].map((x) =&gt; (&#10;                    &lt;Box key={x.k} style={{ flexDirection: 'row', gap: 11, marginTop: 10, alignItems: 'flex-start' }}&gt;&#10;                        &lt;Text style={{ fontSize: 12, fontWeight: 'bold', color: '#FA4F24', width: 60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角色差异最终体现在交付物形态上，工具是形态的固化件。&#10;                &lt;/Text&gt;&#10;            &lt;/Box&gt;&#10;        &lt;/Box&gt;&#10;&#10;        {/* 下：工作台清单 */}&#10;        &lt;Box style={{ height: 66,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六台工作台&lt;/Text&gt;&#10;                &lt;Text style={{ fontSize: 12.5, fontWeight: 'bold', color: '#0F1423', marginTop: 5 }}&gt;覆盖 Approach 全五阶段&lt;/Text&gt;&#10;            &lt;/Box&gt;&#10;            {[&#10;                { k: 'A 发现台', v: 'Enter/Investigate' },&#10;                { k: 'B 决策链', v: 'Investigate' },&#10;                { k: 'C 装配台', v: 'Build' },&#10;                { k: 'E 验收台', v: 'Hand over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7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专用工作台（二）：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装配台与验收台</a:t>
            </a:r>
            <a:endParaRPr/>
          </a:p>
        </p:txBody>
      </p:sp>
      <p:sp>
        <p:nvSpPr>
          <p:cNvPr id="336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左边控制、右边就地预览；十二项检查逐项打勾。这两台机器的产物就是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的交付物</a:t>
            </a:r>
            <a:endParaRPr/>
          </a:p>
        </p:txBody>
      </p:sp>
      <p:sp>
        <p:nvSpPr>
          <p:cNvPr id="337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71" name=""/>
          <p:cNvSpPr/>
          <p:nvPr/>
        </p:nvSpPr>
        <p:spPr>
          <a:xfrm rot="0" flipH="0" flipV="0">
            <a:off x="609600" y="1371600"/>
            <a:ext cx="5429250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72" name=""/>
          <p:cNvSpPr/>
          <p:nvPr/>
        </p:nvSpPr>
        <p:spPr>
          <a:xfrm rot="0" flipH="0" flipV="0">
            <a:off x="609600" y="1371600"/>
            <a:ext cx="5429250" cy="1590675"/>
          </a:xfrm>
          <a:custGeom>
            <a:pathLst>
              <a:path w="570" h="167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cubicBezTo>
                  <a:pt x="570" y="3"/>
                  <a:pt x="569" y="3"/>
                  <a:pt x="5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73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512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A4F24"/>
                </a:solidFill>
                <a:latin typeface="Microsoft YaHei"/>
                <a:ea typeface="Microsoft YaHei"/>
              </a:rPr>
              <a:t>工作台</a:t>
            </a:r>
            <a:r>
              <a:rPr lang="en-US" sz="900" spc="150">
                <a:solidFill>
                  <a:srgbClr val="FA4F24"/>
                </a:solidFill>
                <a:latin typeface="Microsoft YaHei"/>
                <a:ea typeface="Microsoft YaHei"/>
              </a:rPr>
              <a:t xml:space="preserve"> C · Agent </a:t>
            </a:r>
            <a:r>
              <a:rPr lang="zh-CN" sz="900" spc="150">
                <a:solidFill>
                  <a:srgbClr val="FA4F24"/>
                </a:solidFill>
                <a:latin typeface="Microsoft YaHei"/>
                <a:ea typeface="Microsoft YaHei"/>
              </a:rPr>
              <a:t>装配与管道工作台</a:t>
            </a:r>
            <a:endParaRPr/>
          </a:p>
        </p:txBody>
      </p:sp>
      <p:sp>
        <p:nvSpPr>
          <p:cNvPr id="3374" name=""/>
          <p:cNvSpPr/>
          <p:nvPr/>
        </p:nvSpPr>
        <p:spPr>
          <a:xfrm rot="0" flipH="0" flipV="0">
            <a:off x="762000" y="1657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75" name="" descr="{&quot;isTemplate&quot;:true,&quot;type&quot;:&quot;text&quot;}"/>
          <p:cNvSpPr txBox="1"/>
          <p:nvPr/>
        </p:nvSpPr>
        <p:spPr>
          <a:xfrm rot="0" flipH="0" flipV="0">
            <a:off x="904875" y="16002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工具白名单：勾选式授权，默认全关</a:t>
            </a:r>
            <a:endParaRPr/>
          </a:p>
        </p:txBody>
      </p:sp>
      <p:sp>
        <p:nvSpPr>
          <p:cNvPr id="3376" name=""/>
          <p:cNvSpPr/>
          <p:nvPr/>
        </p:nvSpPr>
        <p:spPr>
          <a:xfrm rot="0" flipH="0" flipV="0">
            <a:off x="762000" y="1943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77" name="" descr="{&quot;isTemplate&quot;:true,&quot;type&quot;:&quot;text&quot;}"/>
          <p:cNvSpPr txBox="1"/>
          <p:nvPr/>
        </p:nvSpPr>
        <p:spPr>
          <a:xfrm rot="0" flipH="0" flipV="0">
            <a:off x="904875" y="18859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出口策略：写回目标逐条选，可设可撤回</a:t>
            </a:r>
            <a:endParaRPr/>
          </a:p>
        </p:txBody>
      </p:sp>
      <p:sp>
        <p:nvSpPr>
          <p:cNvPr id="3378" name=""/>
          <p:cNvSpPr/>
          <p:nvPr/>
        </p:nvSpPr>
        <p:spPr>
          <a:xfrm rot="0" flipH="0" flipV="0">
            <a:off x="762000" y="2228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79" name="" descr="{&quot;isTemplate&quot;:true,&quot;type&quot;:&quot;text&quot;}"/>
          <p:cNvSpPr txBox="1"/>
          <p:nvPr/>
        </p:nvSpPr>
        <p:spPr>
          <a:xfrm rot="0" flipH="0" flipV="0">
            <a:off x="904875" y="21717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管道骨架：批次号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重试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对账三件套模板</a:t>
            </a:r>
            <a:endParaRPr/>
          </a:p>
        </p:txBody>
      </p:sp>
      <p:sp>
        <p:nvSpPr>
          <p:cNvPr id="3380" name=""/>
          <p:cNvSpPr/>
          <p:nvPr/>
        </p:nvSpPr>
        <p:spPr>
          <a:xfrm rot="0" flipH="0" flipV="0">
            <a:off x="762000" y="25146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81" name="" descr="{&quot;isTemplate&quot;:true,&quot;type&quot;:&quot;text&quot;}"/>
          <p:cNvSpPr txBox="1"/>
          <p:nvPr/>
        </p:nvSpPr>
        <p:spPr>
          <a:xfrm rot="0" flipH="0" flipV="0">
            <a:off x="904875" y="24574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切片工艺：按语义边界切，标密级标签</a:t>
            </a:r>
            <a:endParaRPr/>
          </a:p>
        </p:txBody>
      </p:sp>
      <p:sp>
        <p:nvSpPr>
          <p:cNvPr id="3382" name=""/>
          <p:cNvSpPr/>
          <p:nvPr/>
        </p:nvSpPr>
        <p:spPr>
          <a:xfrm rot="0" flipH="0" flipV="0">
            <a:off x="762000" y="2743200"/>
            <a:ext cx="51244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83" name="" descr="{&quot;isTemplate&quot;:true,&quot;type&quot;:&quot;text&quot;}"/>
          <p:cNvSpPr txBox="1"/>
          <p:nvPr/>
        </p:nvSpPr>
        <p:spPr>
          <a:xfrm rot="0" flipH="0" flipV="0">
            <a:off x="866775" y="274320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产出：可运行的生产环境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遥测日志</a:t>
            </a:r>
            <a:endParaRPr/>
          </a:p>
        </p:txBody>
      </p:sp>
      <p:sp>
        <p:nvSpPr>
          <p:cNvPr id="3384" name=""/>
          <p:cNvSpPr/>
          <p:nvPr/>
        </p:nvSpPr>
        <p:spPr>
          <a:xfrm rot="0" flipH="0" flipV="0">
            <a:off x="6153150" y="1371600"/>
            <a:ext cx="5429250" cy="1590675"/>
          </a:xfrm>
          <a:prstGeom prst="roundRect">
            <a:avLst>
              <a:gd name="adj" fmla="val 239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85" name=""/>
          <p:cNvSpPr/>
          <p:nvPr/>
        </p:nvSpPr>
        <p:spPr>
          <a:xfrm rot="0" flipH="0" flipV="0">
            <a:off x="6153150" y="1371600"/>
            <a:ext cx="5429250" cy="1590675"/>
          </a:xfrm>
          <a:custGeom>
            <a:pathLst>
              <a:path w="570" h="167">
                <a:moveTo>
                  <a:pt x="566" y="0"/>
                </a:moveTo>
                <a:cubicBezTo>
                  <a:pt x="568" y="0"/>
                  <a:pt x="570" y="2"/>
                  <a:pt x="570" y="4"/>
                </a:cubicBezTo>
                <a:cubicBezTo>
                  <a:pt x="570" y="3"/>
                  <a:pt x="569" y="3"/>
                  <a:pt x="5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6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86" name="" descr="{&quot;isTemplate&quot;:true,&quot;type&quot;:&quot;text&quot;}"/>
          <p:cNvSpPr txBox="1"/>
          <p:nvPr/>
        </p:nvSpPr>
        <p:spPr>
          <a:xfrm rot="0" flipH="0" flipV="0">
            <a:off x="6305550" y="1371600"/>
            <a:ext cx="512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工作台</a:t>
            </a: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 D ·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上线验收台</a:t>
            </a:r>
            <a:endParaRPr/>
          </a:p>
        </p:txBody>
      </p:sp>
      <p:sp>
        <p:nvSpPr>
          <p:cNvPr id="3387" name=""/>
          <p:cNvSpPr/>
          <p:nvPr/>
        </p:nvSpPr>
        <p:spPr>
          <a:xfrm rot="0" flipH="0" flipV="0">
            <a:off x="6305550" y="1657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88" name="" descr="{&quot;isTemplate&quot;:true,&quot;type&quot;:&quot;text&quot;}"/>
          <p:cNvSpPr txBox="1"/>
          <p:nvPr/>
        </p:nvSpPr>
        <p:spPr>
          <a:xfrm rot="0" flipH="0" flipV="0">
            <a:off x="6448425" y="16002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十二项检查：逐项打勾，双方共同确认</a:t>
            </a:r>
            <a:endParaRPr/>
          </a:p>
        </p:txBody>
      </p:sp>
      <p:sp>
        <p:nvSpPr>
          <p:cNvPr id="3389" name=""/>
          <p:cNvSpPr/>
          <p:nvPr/>
        </p:nvSpPr>
        <p:spPr>
          <a:xfrm rot="0" flipH="0" flipV="0">
            <a:off x="6305550" y="1943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90" name="" descr="{&quot;isTemplate&quot;:true,&quot;type&quot;:&quot;text&quot;}"/>
          <p:cNvSpPr txBox="1"/>
          <p:nvPr/>
        </p:nvSpPr>
        <p:spPr>
          <a:xfrm rot="0" flipH="0" flipV="0">
            <a:off x="6448425" y="18859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判档：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12/12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退出、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9–11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整改、≤</a:t>
            </a: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未上线</a:t>
            </a:r>
            <a:endParaRPr/>
          </a:p>
        </p:txBody>
      </p:sp>
      <p:sp>
        <p:nvSpPr>
          <p:cNvPr id="3391" name=""/>
          <p:cNvSpPr/>
          <p:nvPr/>
        </p:nvSpPr>
        <p:spPr>
          <a:xfrm rot="0" flipH="0" flipV="0">
            <a:off x="6305550" y="2228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92" name="" descr="{&quot;isTemplate&quot;:true,&quot;type&quot;:&quot;text&quot;}"/>
          <p:cNvSpPr txBox="1"/>
          <p:nvPr/>
        </p:nvSpPr>
        <p:spPr>
          <a:xfrm rot="0" flipH="0" flipV="0">
            <a:off x="6448425" y="217170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三个提问：谁用过、改变了什么决定、坏了谁知道</a:t>
            </a:r>
            <a:endParaRPr/>
          </a:p>
        </p:txBody>
      </p:sp>
      <p:sp>
        <p:nvSpPr>
          <p:cNvPr id="3393" name=""/>
          <p:cNvSpPr/>
          <p:nvPr/>
        </p:nvSpPr>
        <p:spPr>
          <a:xfrm rot="0" flipH="0" flipV="0">
            <a:off x="6305550" y="25146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94" name="" descr="{&quot;isTemplate&quot;:true,&quot;type&quot;:&quot;text&quot;}"/>
          <p:cNvSpPr txBox="1"/>
          <p:nvPr/>
        </p:nvSpPr>
        <p:spPr>
          <a:xfrm rot="0" flipH="0" flipV="0">
            <a:off x="6448425" y="2457450"/>
            <a:ext cx="49815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移交清单：六件交付物签收</a:t>
            </a:r>
            <a:endParaRPr/>
          </a:p>
        </p:txBody>
      </p:sp>
      <p:sp>
        <p:nvSpPr>
          <p:cNvPr id="3395" name=""/>
          <p:cNvSpPr/>
          <p:nvPr/>
        </p:nvSpPr>
        <p:spPr>
          <a:xfrm rot="0" flipH="0" flipV="0">
            <a:off x="6305550" y="2743200"/>
            <a:ext cx="5124450" cy="190500"/>
          </a:xfrm>
          <a:prstGeom prst="roundRect">
            <a:avLst>
              <a:gd name="adj" fmla="val 15000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396" name="" descr="{&quot;isTemplate&quot;:true,&quot;type&quot;:&quot;text&quot;}"/>
          <p:cNvSpPr txBox="1"/>
          <p:nvPr/>
        </p:nvSpPr>
        <p:spPr>
          <a:xfrm rot="0" flipH="0" flipV="0">
            <a:off x="6410325" y="274320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产出：验收签字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移交清单</a:t>
            </a:r>
            <a:r>
              <a:rPr lang="en-US" sz="863">
                <a:solidFill>
                  <a:srgbClr val="FBA15C"/>
                </a:solidFill>
                <a:latin typeface="Microsoft YaHei"/>
                <a:ea typeface="Microsoft YaHei"/>
              </a:rPr>
              <a:t xml:space="preserve"> · FDE </a:t>
            </a:r>
            <a:r>
              <a:rPr lang="zh-CN" sz="863">
                <a:solidFill>
                  <a:srgbClr val="FBA15C"/>
                </a:solidFill>
                <a:latin typeface="Microsoft YaHei"/>
                <a:ea typeface="Microsoft YaHei"/>
              </a:rPr>
              <a:t>退出凭证</a:t>
            </a:r>
            <a:endParaRPr/>
          </a:p>
        </p:txBody>
      </p:sp>
      <p:sp>
        <p:nvSpPr>
          <p:cNvPr id="3397" name=""/>
          <p:cNvSpPr/>
          <p:nvPr/>
        </p:nvSpPr>
        <p:spPr>
          <a:xfrm rot="0" flipH="0" flipV="0">
            <a:off x="647700" y="3057525"/>
            <a:ext cx="44196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398" name=""/>
          <p:cNvSpPr/>
          <p:nvPr/>
        </p:nvSpPr>
        <p:spPr>
          <a:xfrm rot="0" flipH="0" flipV="0">
            <a:off x="647700" y="3057525"/>
            <a:ext cx="4419600" cy="1771650"/>
          </a:xfrm>
          <a:custGeom>
            <a:pathLst>
              <a:path w="464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99" name="" descr="{&quot;isTemplate&quot;:true,&quot;type&quot;:&quot;text&quot;}"/>
          <p:cNvSpPr txBox="1"/>
          <p:nvPr/>
        </p:nvSpPr>
        <p:spPr>
          <a:xfrm rot="0" flipH="0" flipV="0">
            <a:off x="819150" y="3267075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工作台</a:t>
            </a:r>
            <a:r>
              <a:rPr lang="en-US" sz="10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E · </a:t>
            </a: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平台抽象与回流台</a:t>
            </a:r>
            <a:endParaRPr/>
          </a:p>
        </p:txBody>
      </p:sp>
      <p:sp>
        <p:nvSpPr>
          <p:cNvPr id="3400" name="" descr="{&quot;isTemplate&quot;:true,&quot;type&quot;:&quot;text&quot;}"/>
          <p:cNvSpPr txBox="1"/>
          <p:nvPr/>
        </p:nvSpPr>
        <p:spPr>
          <a:xfrm rot="0" flipH="0" flipV="0">
            <a:off x="819150" y="35337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可复用度矩阵</a:t>
            </a:r>
            <a:endParaRPr/>
          </a:p>
        </p:txBody>
      </p:sp>
      <p:sp>
        <p:nvSpPr>
          <p:cNvPr id="3401" name="" descr="{&quot;isTemplate&quot;:true,&quot;type&quot;:&quot;text&quot;}"/>
          <p:cNvSpPr txBox="1"/>
          <p:nvPr/>
        </p:nvSpPr>
        <p:spPr>
          <a:xfrm rot="0" flipH="0" flipV="0">
            <a:off x="1914525" y="3533775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八领域逐项定档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A/B/C/D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，当场判</a:t>
            </a:r>
            <a:endParaRPr/>
          </a:p>
        </p:txBody>
      </p:sp>
      <p:sp>
        <p:nvSpPr>
          <p:cNvPr id="3402" name="" descr="{&quot;isTemplate&quot;:true,&quot;type&quot;:&quot;text&quot;}"/>
          <p:cNvSpPr txBox="1"/>
          <p:nvPr/>
        </p:nvSpPr>
        <p:spPr>
          <a:xfrm rot="0" flipH="0" flipV="0">
            <a:off x="819150" y="38290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抽象提案</a:t>
            </a:r>
            <a:endParaRPr/>
          </a:p>
        </p:txBody>
      </p:sp>
      <p:sp>
        <p:nvSpPr>
          <p:cNvPr id="3403" name="" descr="{&quot;isTemplate&quot;:true,&quot;type&quot;:&quot;text&quot;}"/>
          <p:cNvSpPr txBox="1"/>
          <p:nvPr/>
        </p:nvSpPr>
        <p:spPr>
          <a:xfrm rot="0" flipH="0" flipV="0">
            <a:off x="1914525" y="3829050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档进平台迭代，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D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档写进不抽象清单</a:t>
            </a:r>
            <a:endParaRPr/>
          </a:p>
        </p:txBody>
      </p:sp>
      <p:sp>
        <p:nvSpPr>
          <p:cNvPr id="3404" name="" descr="{&quot;isTemplate&quot;:true,&quot;type&quot;:&quot;text&quot;}"/>
          <p:cNvSpPr txBox="1"/>
          <p:nvPr/>
        </p:nvSpPr>
        <p:spPr>
          <a:xfrm rot="0" flipH="0" flipV="0">
            <a:off x="819150" y="41243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坑位清单</a:t>
            </a:r>
            <a:endParaRPr/>
          </a:p>
        </p:txBody>
      </p:sp>
      <p:sp>
        <p:nvSpPr>
          <p:cNvPr id="3405" name="" descr="{&quot;isTemplate&quot;:true,&quot;type&quot;:&quot;text&quot;}"/>
          <p:cNvSpPr txBox="1"/>
          <p:nvPr/>
        </p:nvSpPr>
        <p:spPr>
          <a:xfrm rot="0" flipH="0" flipV="0">
            <a:off x="1914525" y="4124325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哪里踩雷、为什么、下次怎么避</a:t>
            </a:r>
            <a:endParaRPr/>
          </a:p>
        </p:txBody>
      </p:sp>
      <p:sp>
        <p:nvSpPr>
          <p:cNvPr id="3406" name="" descr="{&quot;isTemplate&quot;:true,&quot;type&quot;:&quot;text&quot;}"/>
          <p:cNvSpPr txBox="1"/>
          <p:nvPr/>
        </p:nvSpPr>
        <p:spPr>
          <a:xfrm rot="0" flipH="0" flipV="0">
            <a:off x="819150" y="44196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分支隔离</a:t>
            </a:r>
            <a:endParaRPr/>
          </a:p>
        </p:txBody>
      </p:sp>
      <p:sp>
        <p:nvSpPr>
          <p:cNvPr id="3407" name="" descr="{&quot;isTemplate&quot;:true,&quot;type&quot;:&quot;text&quot;}"/>
          <p:cNvSpPr txBox="1"/>
          <p:nvPr/>
        </p:nvSpPr>
        <p:spPr>
          <a:xfrm rot="0" flipH="0" flipV="0">
            <a:off x="1914525" y="4419600"/>
            <a:ext cx="29813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客户现场环境独立分支，不污染主线</a:t>
            </a:r>
            <a:endParaRPr/>
          </a:p>
        </p:txBody>
      </p:sp>
      <p:sp>
        <p:nvSpPr>
          <p:cNvPr id="3408" name=""/>
          <p:cNvSpPr/>
          <p:nvPr/>
        </p:nvSpPr>
        <p:spPr>
          <a:xfrm rot="0" flipH="0" flipV="0">
            <a:off x="5181600" y="305752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09" name="" descr="{&quot;isTemplate&quot;:true,&quot;type&quot;:&quot;text&quot;}"/>
          <p:cNvSpPr txBox="1"/>
          <p:nvPr/>
        </p:nvSpPr>
        <p:spPr>
          <a:xfrm rot="0" flipH="0" flipV="0">
            <a:off x="5343525" y="3114675"/>
            <a:ext cx="6076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为什么必须有这些工作台</a:t>
            </a:r>
            <a:endParaRPr/>
          </a:p>
        </p:txBody>
      </p:sp>
      <p:sp>
        <p:nvSpPr>
          <p:cNvPr id="3410" name="" descr="{&quot;isTemplate&quot;:true,&quot;type&quot;:&quot;text&quot;}"/>
          <p:cNvSpPr txBox="1"/>
          <p:nvPr/>
        </p:nvSpPr>
        <p:spPr>
          <a:xfrm rot="0" flipH="0" flipV="0">
            <a:off x="5343525" y="33813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防退化</a:t>
            </a:r>
            <a:endParaRPr/>
          </a:p>
        </p:txBody>
      </p:sp>
      <p:sp>
        <p:nvSpPr>
          <p:cNvPr id="3411" name="" descr="{&quot;isTemplate&quot;:true,&quot;type&quot;:&quot;text&quot;}"/>
          <p:cNvSpPr txBox="1"/>
          <p:nvPr/>
        </p:nvSpPr>
        <p:spPr>
          <a:xfrm rot="0" flipH="0" flipV="0">
            <a:off x="6019800" y="3381375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照着</a:t>
            </a:r>
            <a:r>
              <a:rPr lang="en-US" sz="938">
                <a:solidFill>
                  <a:srgbClr val="3A4050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交付很容易，靠台子逼你交活的东西</a:t>
            </a:r>
            <a:endParaRPr/>
          </a:p>
        </p:txBody>
      </p:sp>
      <p:sp>
        <p:nvSpPr>
          <p:cNvPr id="3412" name="" descr="{&quot;isTemplate&quot;:true,&quot;type&quot;:&quot;text&quot;}"/>
          <p:cNvSpPr txBox="1"/>
          <p:nvPr/>
        </p:nvSpPr>
        <p:spPr>
          <a:xfrm rot="0" flipH="0" flipV="0">
            <a:off x="5343525" y="36766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防遗漏</a:t>
            </a:r>
            <a:endParaRPr/>
          </a:p>
        </p:txBody>
      </p:sp>
      <p:sp>
        <p:nvSpPr>
          <p:cNvPr id="3413" name="" descr="{&quot;isTemplate&quot;:true,&quot;type&quot;:&quot;text&quot;}"/>
          <p:cNvSpPr txBox="1"/>
          <p:nvPr/>
        </p:nvSpPr>
        <p:spPr>
          <a:xfrm rot="0" flipH="0" flipV="0">
            <a:off x="6019800" y="3676650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十二项检查不填完，流程走不到下一步</a:t>
            </a:r>
            <a:endParaRPr/>
          </a:p>
        </p:txBody>
      </p:sp>
      <p:sp>
        <p:nvSpPr>
          <p:cNvPr id="3414" name="" descr="{&quot;isTemplate&quot;:true,&quot;type&quot;:&quot;text&quot;}"/>
          <p:cNvSpPr txBox="1"/>
          <p:nvPr/>
        </p:nvSpPr>
        <p:spPr>
          <a:xfrm rot="0" flipH="0" flipV="0">
            <a:off x="5343525" y="39719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防私有</a:t>
            </a:r>
            <a:endParaRPr/>
          </a:p>
        </p:txBody>
      </p:sp>
      <p:sp>
        <p:nvSpPr>
          <p:cNvPr id="3415" name="" descr="{&quot;isTemplate&quot;:true,&quot;type&quot;:&quot;text&quot;}"/>
          <p:cNvSpPr txBox="1"/>
          <p:nvPr/>
        </p:nvSpPr>
        <p:spPr>
          <a:xfrm rot="0" flipH="0" flipV="0">
            <a:off x="6019800" y="3971925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回流提案不签字，项目不许关闭</a:t>
            </a:r>
            <a:endParaRPr/>
          </a:p>
        </p:txBody>
      </p:sp>
      <p:sp>
        <p:nvSpPr>
          <p:cNvPr id="3416" name="" descr="{&quot;isTemplate&quot;:true,&quot;type&quot;:&quot;text&quot;}"/>
          <p:cNvSpPr txBox="1"/>
          <p:nvPr/>
        </p:nvSpPr>
        <p:spPr>
          <a:xfrm rot="0" flipH="0" flipV="0">
            <a:off x="5343525" y="42672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防越界</a:t>
            </a:r>
            <a:endParaRPr/>
          </a:p>
        </p:txBody>
      </p:sp>
      <p:sp>
        <p:nvSpPr>
          <p:cNvPr id="3417" name="" descr="{&quot;isTemplate&quot;:true,&quot;type&quot;:&quot;text&quot;}"/>
          <p:cNvSpPr txBox="1"/>
          <p:nvPr/>
        </p:nvSpPr>
        <p:spPr>
          <a:xfrm rot="0" flipH="0" flipV="0">
            <a:off x="6019800" y="4267200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默认全关的白名单，不勾选就没有权限</a:t>
            </a:r>
            <a:endParaRPr/>
          </a:p>
        </p:txBody>
      </p:sp>
      <p:sp>
        <p:nvSpPr>
          <p:cNvPr id="3418" name="" descr="{&quot;isTemplate&quot;:true,&quot;type&quot;:&quot;text&quot;}"/>
          <p:cNvSpPr txBox="1"/>
          <p:nvPr/>
        </p:nvSpPr>
        <p:spPr>
          <a:xfrm rot="0" flipH="0" flipV="0">
            <a:off x="5343525" y="4591050"/>
            <a:ext cx="60769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角色差异最终体现在交付物形态上，工具是形态的固化件。</a:t>
            </a:r>
            <a:endParaRPr/>
          </a:p>
        </p:txBody>
      </p:sp>
      <p:sp>
        <p:nvSpPr>
          <p:cNvPr id="3419" name=""/>
          <p:cNvSpPr/>
          <p:nvPr/>
        </p:nvSpPr>
        <p:spPr>
          <a:xfrm rot="0" flipH="0" flipV="0">
            <a:off x="609600" y="4953000"/>
            <a:ext cx="19812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20" name="" descr="{&quot;isTemplate&quot;:true,&quot;type&quot;:&quot;text&quot;}"/>
          <p:cNvSpPr txBox="1"/>
          <p:nvPr/>
        </p:nvSpPr>
        <p:spPr>
          <a:xfrm rot="0" flipH="0" flipV="0">
            <a:off x="752475" y="510540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六台工作台</a:t>
            </a:r>
            <a:endParaRPr/>
          </a:p>
        </p:txBody>
      </p:sp>
      <p:sp>
        <p:nvSpPr>
          <p:cNvPr id="3421" name="" descr="{&quot;isTemplate&quot;:true,&quot;type&quot;:&quot;text&quot;}"/>
          <p:cNvSpPr txBox="1"/>
          <p:nvPr/>
        </p:nvSpPr>
        <p:spPr>
          <a:xfrm rot="0" flipH="0" flipV="0">
            <a:off x="752475" y="5286375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覆盖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全五阶段</a:t>
            </a:r>
            <a:endParaRPr/>
          </a:p>
        </p:txBody>
      </p:sp>
      <p:sp>
        <p:nvSpPr>
          <p:cNvPr id="3422" name=""/>
          <p:cNvSpPr/>
          <p:nvPr/>
        </p:nvSpPr>
        <p:spPr>
          <a:xfrm rot="0" flipH="0" flipV="0">
            <a:off x="27051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23" name="" descr="{&quot;isTemplate&quot;:true,&quot;type&quot;:&quot;text&quot;}"/>
          <p:cNvSpPr txBox="1"/>
          <p:nvPr/>
        </p:nvSpPr>
        <p:spPr>
          <a:xfrm rot="0" flipH="0" flipV="0">
            <a:off x="28384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发现台</a:t>
            </a:r>
            <a:endParaRPr/>
          </a:p>
        </p:txBody>
      </p:sp>
      <p:sp>
        <p:nvSpPr>
          <p:cNvPr id="3424" name="" descr="{&quot;isTemplate&quot;:true,&quot;type&quot;:&quot;text&quot;}"/>
          <p:cNvSpPr txBox="1"/>
          <p:nvPr/>
        </p:nvSpPr>
        <p:spPr>
          <a:xfrm rot="0" flipH="0" flipV="0">
            <a:off x="28384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Enter/Investigate</a:t>
            </a:r>
            <a:endParaRPr/>
          </a:p>
        </p:txBody>
      </p:sp>
      <p:sp>
        <p:nvSpPr>
          <p:cNvPr id="3425" name=""/>
          <p:cNvSpPr/>
          <p:nvPr/>
        </p:nvSpPr>
        <p:spPr>
          <a:xfrm rot="0" flipH="0" flipV="0">
            <a:off x="49530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26" name="" descr="{&quot;isTemplate&quot;:true,&quot;type&quot;:&quot;text&quot;}"/>
          <p:cNvSpPr txBox="1"/>
          <p:nvPr/>
        </p:nvSpPr>
        <p:spPr>
          <a:xfrm rot="0" flipH="0" flipV="0">
            <a:off x="50863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决策链</a:t>
            </a:r>
            <a:endParaRPr/>
          </a:p>
        </p:txBody>
      </p:sp>
      <p:sp>
        <p:nvSpPr>
          <p:cNvPr id="3427" name="" descr="{&quot;isTemplate&quot;:true,&quot;type&quot;:&quot;text&quot;}"/>
          <p:cNvSpPr txBox="1"/>
          <p:nvPr/>
        </p:nvSpPr>
        <p:spPr>
          <a:xfrm rot="0" flipH="0" flipV="0">
            <a:off x="50863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Investigate</a:t>
            </a:r>
            <a:endParaRPr/>
          </a:p>
        </p:txBody>
      </p:sp>
      <p:sp>
        <p:nvSpPr>
          <p:cNvPr id="3428" name=""/>
          <p:cNvSpPr/>
          <p:nvPr/>
        </p:nvSpPr>
        <p:spPr>
          <a:xfrm rot="0" flipH="0" flipV="0">
            <a:off x="72009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29" name="" descr="{&quot;isTemplate&quot;:true,&quot;type&quot;:&quot;text&quot;}"/>
          <p:cNvSpPr txBox="1"/>
          <p:nvPr/>
        </p:nvSpPr>
        <p:spPr>
          <a:xfrm rot="0" flipH="0" flipV="0">
            <a:off x="73342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装配台</a:t>
            </a:r>
            <a:endParaRPr/>
          </a:p>
        </p:txBody>
      </p:sp>
      <p:sp>
        <p:nvSpPr>
          <p:cNvPr id="3430" name="" descr="{&quot;isTemplate&quot;:true,&quot;type&quot;:&quot;text&quot;}"/>
          <p:cNvSpPr txBox="1"/>
          <p:nvPr/>
        </p:nvSpPr>
        <p:spPr>
          <a:xfrm rot="0" flipH="0" flipV="0">
            <a:off x="73342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Build</a:t>
            </a:r>
            <a:endParaRPr/>
          </a:p>
        </p:txBody>
      </p:sp>
      <p:sp>
        <p:nvSpPr>
          <p:cNvPr id="3431" name=""/>
          <p:cNvSpPr/>
          <p:nvPr/>
        </p:nvSpPr>
        <p:spPr>
          <a:xfrm rot="0" flipH="0" flipV="0">
            <a:off x="94488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32" name="" descr="{&quot;isTemplate&quot;:true,&quot;type&quot;:&quot;text&quot;}"/>
          <p:cNvSpPr txBox="1"/>
          <p:nvPr/>
        </p:nvSpPr>
        <p:spPr>
          <a:xfrm rot="0" flipH="0" flipV="0">
            <a:off x="95821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E </a:t>
            </a: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验收台</a:t>
            </a:r>
            <a:endParaRPr/>
          </a:p>
        </p:txBody>
      </p:sp>
      <p:sp>
        <p:nvSpPr>
          <p:cNvPr id="3433" name="" descr="{&quot;isTemplate&quot;:true,&quot;type&quot;:&quot;text&quot;}"/>
          <p:cNvSpPr txBox="1"/>
          <p:nvPr/>
        </p:nvSpPr>
        <p:spPr>
          <a:xfrm rot="0" flipH="0" flipV="0">
            <a:off x="95821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Hand over</a:t>
            </a:r>
            <a:endParaRPr/>
          </a:p>
        </p:txBody>
      </p:sp>
      <p:sp>
        <p:nvSpPr>
          <p:cNvPr id="343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35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36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437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57 / 60</a:t>
            </a:r>
            <a:endParaRPr/>
          </a:p>
        </p:txBody>
      </p:sp>
    </p:spTree>
  </p:cSld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343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交付验收台：&lt;span style={{ color: '#FA4F24' }}&gt;把「上线了」变成可验证的事实&lt;/span&gt;&#10;        &lt;/Text&gt;&#10;        &lt;Text style={{ fontSize: 20, color: '#8A8F99', marginTop: 8 }}&gt;&#10;            这台机器唯一的作用：让「交付完成」不再是一个形容词，而是一组客户与 FDE 共同确认的数字&#10;        &lt;/Text&gt;&#10;    &lt;/Box&gt;&#10;    &lt;Box style={{ height: 1, background: '#E8E8E8' }} /&gt;&#10;&#10;    &lt;Box style={{ paddingTop: 20, paddingBottom: 14, height: 479, flexDirection: 'column', gap: 13 }}&gt;&#10;&#10;        {/* 上：可验证指标 */}&#10;        &lt;Box style={{ flex: 1, flexDirection: 'row', gap: 11 }}&gt;&#10;            {[&#10;                { k: '使用量', v: '日活用户数与名单，可截图可查询', kpi: '目标：客户业务人员每天登录', c: '#FA4F24' },&#10;                { k: '写回量', v: '结论回写进客户真实动作的条数', kpi: '目标：写回路径日均不为零', c: '#E0641E' },&#10;                { k: '口径唯一', v: '该指标在系统内只有一种算法', kpi: '目标：三套报表数字一致', c: '#C43A17' },&#10;                { k: '可恢复', v: '客户自己能处理一次真实故障', kpi: '目标：不依赖 FDE 在线', c: '#A83310' },&#10;            ].map((x) =&gt; (&#10;                &lt;Box key={x.k} style={{ flex: 1, background: '#F7F7F8', borderRadius: 4, padding: '0 15px', flexDirection: 'column', justifyContent: 'center', borderTop: `3px solid ${x.c}` }}&gt;&#10;                    &lt;Text style={{ fontSize: 16, fontWeight: 'bold', color: x.c }}&gt;{x.k}&lt;/Text&gt;&#10;                    &lt;Text style={{ fontSize: 12.5, color: '#3A4050', lineHeight: 1.5, marginTop: 11, flex: 1 }}&gt;{x.v}&lt;/Text&gt;&#10;                    &lt;Box style={{ background: '#0F1423', borderRadius: 3, padding: '0 11px', marginTop: 9 }}&gt;&#10;                        &lt;Text style={{ fontSize: 11.5, color: 'rgba(255,255,255,0.88)', lineHeight: 1.4 }}&gt;{x.kpi}&lt;/Text&gt;&#10;                    &lt;/Box&gt;&#10;                &lt;/Box&gt;&#10;            ))}&#10;        &lt;/Box&gt;&#10;&#10;        {/* 中：与验收会的区别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传统验收会 vs 验收台&lt;/Text&gt;&#10;                {[&#10;                    { k: '看演示', v: 'PPT + 演示，演得通就过' },&#10;                    { k: '看数字', v: '打开后台，日活写回当场可查' },&#10;                    { k: '听汇报', v: '项目组说「已具备推广条件」' },&#10;                    { k: '做抽查', v: '随机挑一个用户，问他上周用它做了什么' },&#10;                ].map((x) =&gt; (&#10;                    &lt;Box key={x.k} style={{ flexDirection: 'row', gap: 12, marginTop: 10, alignItems: 'flex-start' }}&gt;&#10;                        &lt;Text style={{ fontSize: 12, fontWeight: 'bold', color: '#FBA15C', width: 62 }}&gt;{x.k}&lt;/Text&gt;&#10;                        &lt;Text style={{ fontSize: 12.5, color: 'rgba(255,255,255,0.85)', lineHeight: 1.4, flex: 1 }}&gt;{x.v}&lt;/Text&gt;&#10;                    &lt;/Box&gt;&#10;                ))}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最有效的一条：随机抽一个真实用户&lt;/Text&gt;&#10;                &lt;Text style={{ fontSize: 12.5, color: '#3A4050', lineHeight: 1.5, marginTop: 10, flex: 1 }}&gt;&#10;                    从系统里随机挑一个用户，当面问他：上周你用它做过哪个决定？这一步能瞬间打掉所有自欺欺人的验收。&#10;                &lt;/Text&gt;&#10;                &lt;Box style={{ background: '#FFFFFF', borderRadius: 3, padding: '0 12px', marginTop: 10 }}&gt;&#10;                    &lt;Text style={{ fontSize: 12, fontWeight: 'bold', color: '#C43A17', lineHeight: 1.45 }}&gt;&#10;                        答不上来的用户，说明系统是给验收会看的，不是给业务用的。&#10;                    &lt;/Text&gt;&#10;                &lt;/Box&gt;&#10;            &lt;/Box&gt;&#10;        &lt;/Box&gt;&#10;&#10;        {/* 下：验收台输出 */}&#10;        &lt;Box style={{ height: 66,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验收台输出&lt;/Text&gt;&#10;                &lt;Text style={{ fontSize: 12.5, fontWeight: 'bold', color: '#0F1423', marginTop: 5 }}&gt;不是一份报告，是三份签收&lt;/Text&gt;&#10;            &lt;/Box&gt;&#10;            {[&#10;                { k: '检查表', v: '12 项逐项，双方签字' },&#10;                { k: '用户抽查记录', v: '随机用户与他的真实回答' },&#10;                { k: '移交清单', v: '六件交付物签收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8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交付验收台：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把「上线了」变成可验证的事实</a:t>
            </a:r>
            <a:endParaRPr/>
          </a:p>
        </p:txBody>
      </p:sp>
      <p:sp>
        <p:nvSpPr>
          <p:cNvPr id="34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这台机器唯一的作用：让「交付完成」不再是一个形容词，而是一组客户与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共同确认的数字</a:t>
            </a:r>
            <a:endParaRPr/>
          </a:p>
        </p:txBody>
      </p:sp>
      <p:sp>
        <p:nvSpPr>
          <p:cNvPr id="34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43" name=""/>
          <p:cNvSpPr/>
          <p:nvPr/>
        </p:nvSpPr>
        <p:spPr>
          <a:xfrm rot="0" flipH="0" flipV="0">
            <a:off x="609600" y="1371600"/>
            <a:ext cx="2667000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44" name=""/>
          <p:cNvSpPr/>
          <p:nvPr/>
        </p:nvSpPr>
        <p:spPr>
          <a:xfrm rot="0" flipH="0" flipV="0">
            <a:off x="609600" y="1371600"/>
            <a:ext cx="2667000" cy="1590675"/>
          </a:xfrm>
          <a:custGeom>
            <a:pathLst>
              <a:path w="280" h="167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45" name="" descr="{&quot;isTemplate&quot;:true,&quot;type&quot;:&quot;text&quot;}"/>
          <p:cNvSpPr txBox="1"/>
          <p:nvPr/>
        </p:nvSpPr>
        <p:spPr>
          <a:xfrm rot="0" flipH="0" flipV="0">
            <a:off x="7524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使用量</a:t>
            </a:r>
            <a:endParaRPr/>
          </a:p>
        </p:txBody>
      </p:sp>
      <p:sp>
        <p:nvSpPr>
          <p:cNvPr id="3446" name="" descr="{&quot;isTemplate&quot;:true,&quot;type&quot;:&quot;text&quot;}"/>
          <p:cNvSpPr txBox="1"/>
          <p:nvPr/>
        </p:nvSpPr>
        <p:spPr>
          <a:xfrm rot="0" flipH="0" flipV="0">
            <a:off x="752475" y="1666875"/>
            <a:ext cx="2381250" cy="990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日活用户数与名单，可截图可查询</a:t>
            </a:r>
            <a:endParaRPr/>
          </a:p>
        </p:txBody>
      </p:sp>
      <p:sp>
        <p:nvSpPr>
          <p:cNvPr id="3447" name=""/>
          <p:cNvSpPr/>
          <p:nvPr/>
        </p:nvSpPr>
        <p:spPr>
          <a:xfrm rot="0" flipH="0" flipV="0">
            <a:off x="752475" y="274320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48" name="" descr="{&quot;isTemplate&quot;:true,&quot;type&quot;:&quot;text&quot;}"/>
          <p:cNvSpPr txBox="1"/>
          <p:nvPr/>
        </p:nvSpPr>
        <p:spPr>
          <a:xfrm rot="0" flipH="0" flipV="0">
            <a:off x="857250" y="274320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目标：客户业务人员每天登录</a:t>
            </a:r>
            <a:endParaRPr/>
          </a:p>
        </p:txBody>
      </p:sp>
      <p:sp>
        <p:nvSpPr>
          <p:cNvPr id="3449" name=""/>
          <p:cNvSpPr/>
          <p:nvPr/>
        </p:nvSpPr>
        <p:spPr>
          <a:xfrm rot="0" flipH="0" flipV="0">
            <a:off x="3381375" y="1371600"/>
            <a:ext cx="2667000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50" name=""/>
          <p:cNvSpPr/>
          <p:nvPr/>
        </p:nvSpPr>
        <p:spPr>
          <a:xfrm rot="0" flipH="0" flipV="0">
            <a:off x="3381375" y="1371600"/>
            <a:ext cx="2667000" cy="1590675"/>
          </a:xfrm>
          <a:custGeom>
            <a:pathLst>
              <a:path w="280" h="167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3451" name="" descr="{&quot;isTemplate&quot;:true,&quot;type&quot;:&quot;text&quot;}"/>
          <p:cNvSpPr txBox="1"/>
          <p:nvPr/>
        </p:nvSpPr>
        <p:spPr>
          <a:xfrm rot="0" flipH="0" flipV="0">
            <a:off x="3524250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641E"/>
                </a:solidFill>
                <a:latin typeface="Microsoft YaHei"/>
                <a:ea typeface="Microsoft YaHei"/>
              </a:rPr>
              <a:t>写回量</a:t>
            </a:r>
            <a:endParaRPr/>
          </a:p>
        </p:txBody>
      </p:sp>
      <p:sp>
        <p:nvSpPr>
          <p:cNvPr id="3452" name="" descr="{&quot;isTemplate&quot;:true,&quot;type&quot;:&quot;text&quot;}"/>
          <p:cNvSpPr txBox="1"/>
          <p:nvPr/>
        </p:nvSpPr>
        <p:spPr>
          <a:xfrm rot="0" flipH="0" flipV="0">
            <a:off x="3524250" y="1666875"/>
            <a:ext cx="2381250" cy="990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结论回写进客户真实动作的条数</a:t>
            </a:r>
            <a:endParaRPr/>
          </a:p>
        </p:txBody>
      </p:sp>
      <p:sp>
        <p:nvSpPr>
          <p:cNvPr id="3453" name=""/>
          <p:cNvSpPr/>
          <p:nvPr/>
        </p:nvSpPr>
        <p:spPr>
          <a:xfrm rot="0" flipH="0" flipV="0">
            <a:off x="3524250" y="274320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54" name="" descr="{&quot;isTemplate&quot;:true,&quot;type&quot;:&quot;text&quot;}"/>
          <p:cNvSpPr txBox="1"/>
          <p:nvPr/>
        </p:nvSpPr>
        <p:spPr>
          <a:xfrm rot="0" flipH="0" flipV="0">
            <a:off x="3629025" y="274320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目标：写回路径日均不为零</a:t>
            </a:r>
            <a:endParaRPr/>
          </a:p>
        </p:txBody>
      </p:sp>
      <p:sp>
        <p:nvSpPr>
          <p:cNvPr id="3455" name=""/>
          <p:cNvSpPr/>
          <p:nvPr/>
        </p:nvSpPr>
        <p:spPr>
          <a:xfrm rot="0" flipH="0" flipV="0">
            <a:off x="6153150" y="1371600"/>
            <a:ext cx="2657475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56" name=""/>
          <p:cNvSpPr/>
          <p:nvPr/>
        </p:nvSpPr>
        <p:spPr>
          <a:xfrm rot="0" flipH="0" flipV="0">
            <a:off x="6153150" y="1371600"/>
            <a:ext cx="2657475" cy="1590675"/>
          </a:xfrm>
          <a:custGeom>
            <a:pathLst>
              <a:path w="279" h="167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cubicBezTo>
                  <a:pt x="279" y="3"/>
                  <a:pt x="278" y="3"/>
                  <a:pt x="278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457" name="" descr="{&quot;isTemplate&quot;:true,&quot;type&quot;:&quot;text&quot;}"/>
          <p:cNvSpPr txBox="1"/>
          <p:nvPr/>
        </p:nvSpPr>
        <p:spPr>
          <a:xfrm rot="0" flipH="0" flipV="0">
            <a:off x="6296025" y="137160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口径唯一</a:t>
            </a:r>
            <a:endParaRPr/>
          </a:p>
        </p:txBody>
      </p:sp>
      <p:sp>
        <p:nvSpPr>
          <p:cNvPr id="3458" name="" descr="{&quot;isTemplate&quot;:true,&quot;type&quot;:&quot;text&quot;}"/>
          <p:cNvSpPr txBox="1"/>
          <p:nvPr/>
        </p:nvSpPr>
        <p:spPr>
          <a:xfrm rot="0" flipH="0" flipV="0">
            <a:off x="6296025" y="1666875"/>
            <a:ext cx="2371725" cy="990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该指标在系统内只有一种算法</a:t>
            </a:r>
            <a:endParaRPr/>
          </a:p>
        </p:txBody>
      </p:sp>
      <p:sp>
        <p:nvSpPr>
          <p:cNvPr id="3459" name=""/>
          <p:cNvSpPr/>
          <p:nvPr/>
        </p:nvSpPr>
        <p:spPr>
          <a:xfrm rot="0" flipH="0" flipV="0">
            <a:off x="6296025" y="2743200"/>
            <a:ext cx="23717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60" name="" descr="{&quot;isTemplate&quot;:true,&quot;type&quot;:&quot;text&quot;}"/>
          <p:cNvSpPr txBox="1"/>
          <p:nvPr/>
        </p:nvSpPr>
        <p:spPr>
          <a:xfrm rot="0" flipH="0" flipV="0">
            <a:off x="6400800" y="27432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目标：三套报表数字一致</a:t>
            </a:r>
            <a:endParaRPr/>
          </a:p>
        </p:txBody>
      </p:sp>
      <p:sp>
        <p:nvSpPr>
          <p:cNvPr id="3461" name=""/>
          <p:cNvSpPr/>
          <p:nvPr/>
        </p:nvSpPr>
        <p:spPr>
          <a:xfrm rot="0" flipH="0" flipV="0">
            <a:off x="8915400" y="1371600"/>
            <a:ext cx="2667000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62" name=""/>
          <p:cNvSpPr/>
          <p:nvPr/>
        </p:nvSpPr>
        <p:spPr>
          <a:xfrm rot="0" flipH="0" flipV="0">
            <a:off x="8915400" y="1371600"/>
            <a:ext cx="2667000" cy="1590675"/>
          </a:xfrm>
          <a:custGeom>
            <a:pathLst>
              <a:path w="280" h="167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cubicBezTo>
                  <a:pt x="280" y="3"/>
                  <a:pt x="279" y="3"/>
                  <a:pt x="27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A83310"/>
          </a:solidFill>
          <a:ln/>
        </p:spPr>
        <p:txBody>
          <a:bodyPr/>
          <a:p/>
        </p:txBody>
      </p:sp>
      <p:sp>
        <p:nvSpPr>
          <p:cNvPr id="3463" name="" descr="{&quot;isTemplate&quot;:true,&quot;type&quot;:&quot;text&quot;}"/>
          <p:cNvSpPr txBox="1"/>
          <p:nvPr/>
        </p:nvSpPr>
        <p:spPr>
          <a:xfrm rot="0" flipH="0" flipV="0">
            <a:off x="9058275" y="13716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3310"/>
                </a:solidFill>
                <a:latin typeface="Microsoft YaHei"/>
                <a:ea typeface="Microsoft YaHei"/>
              </a:rPr>
              <a:t>可恢复</a:t>
            </a:r>
            <a:endParaRPr/>
          </a:p>
        </p:txBody>
      </p:sp>
      <p:sp>
        <p:nvSpPr>
          <p:cNvPr id="3464" name="" descr="{&quot;isTemplate&quot;:true,&quot;type&quot;:&quot;text&quot;}"/>
          <p:cNvSpPr txBox="1"/>
          <p:nvPr/>
        </p:nvSpPr>
        <p:spPr>
          <a:xfrm rot="0" flipH="0" flipV="0">
            <a:off x="9058275" y="1666875"/>
            <a:ext cx="2381250" cy="990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客户自己能处理一次真实故障</a:t>
            </a:r>
            <a:endParaRPr/>
          </a:p>
        </p:txBody>
      </p:sp>
      <p:sp>
        <p:nvSpPr>
          <p:cNvPr id="3465" name=""/>
          <p:cNvSpPr/>
          <p:nvPr/>
        </p:nvSpPr>
        <p:spPr>
          <a:xfrm rot="0" flipH="0" flipV="0">
            <a:off x="9058275" y="2743200"/>
            <a:ext cx="238125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66" name="" descr="{&quot;isTemplate&quot;:true,&quot;type&quot;:&quot;text&quot;}"/>
          <p:cNvSpPr txBox="1"/>
          <p:nvPr/>
        </p:nvSpPr>
        <p:spPr>
          <a:xfrm rot="0" flipH="0" flipV="0">
            <a:off x="9163050" y="274320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目标：不依赖</a:t>
            </a:r>
            <a:r>
              <a:rPr lang="en-US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在线</a:t>
            </a:r>
            <a:endParaRPr/>
          </a:p>
        </p:txBody>
      </p:sp>
      <p:sp>
        <p:nvSpPr>
          <p:cNvPr id="3467" name=""/>
          <p:cNvSpPr/>
          <p:nvPr/>
        </p:nvSpPr>
        <p:spPr>
          <a:xfrm rot="0" flipH="0" flipV="0">
            <a:off x="609600" y="305752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68" name="" descr="{&quot;isTemplate&quot;:true,&quot;type&quot;:&quot;text&quot;}"/>
          <p:cNvSpPr txBox="1"/>
          <p:nvPr/>
        </p:nvSpPr>
        <p:spPr>
          <a:xfrm rot="0" flipH="0" flipV="0">
            <a:off x="781050" y="32861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传统验收会</a:t>
            </a:r>
            <a:r>
              <a:rPr lang="en-US" sz="900" spc="150">
                <a:solidFill>
                  <a:srgbClr val="FBA15C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验收台</a:t>
            </a:r>
            <a:endParaRPr/>
          </a:p>
        </p:txBody>
      </p:sp>
      <p:sp>
        <p:nvSpPr>
          <p:cNvPr id="3469" name="" descr="{&quot;isTemplate&quot;:true,&quot;type&quot;:&quot;text&quot;}"/>
          <p:cNvSpPr txBox="1"/>
          <p:nvPr/>
        </p:nvSpPr>
        <p:spPr>
          <a:xfrm rot="0" flipH="0" flipV="0">
            <a:off x="781050" y="35242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看演示</a:t>
            </a:r>
            <a:endParaRPr/>
          </a:p>
        </p:txBody>
      </p:sp>
      <p:sp>
        <p:nvSpPr>
          <p:cNvPr id="3470" name="" descr="{&quot;isTemplate&quot;:true,&quot;type&quot;:&quot;text&quot;}"/>
          <p:cNvSpPr txBox="1"/>
          <p:nvPr/>
        </p:nvSpPr>
        <p:spPr>
          <a:xfrm rot="0" flipH="0" flipV="0">
            <a:off x="1485900" y="352425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PPT + </a:t>
            </a: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演示，演得通就过</a:t>
            </a:r>
            <a:endParaRPr/>
          </a:p>
        </p:txBody>
      </p:sp>
      <p:sp>
        <p:nvSpPr>
          <p:cNvPr id="3471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看数字</a:t>
            </a:r>
            <a:endParaRPr/>
          </a:p>
        </p:txBody>
      </p:sp>
      <p:sp>
        <p:nvSpPr>
          <p:cNvPr id="3472" name="" descr="{&quot;isTemplate&quot;:true,&quot;type&quot;:&quot;text&quot;}"/>
          <p:cNvSpPr txBox="1"/>
          <p:nvPr/>
        </p:nvSpPr>
        <p:spPr>
          <a:xfrm rot="0" flipH="0" flipV="0">
            <a:off x="1485900" y="381952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打开后台，日活写回当场可查</a:t>
            </a:r>
            <a:endParaRPr/>
          </a:p>
        </p:txBody>
      </p:sp>
      <p:sp>
        <p:nvSpPr>
          <p:cNvPr id="3473" name="" descr="{&quot;isTemplate&quot;:true,&quot;type&quot;:&quot;text&quot;}"/>
          <p:cNvSpPr txBox="1"/>
          <p:nvPr/>
        </p:nvSpPr>
        <p:spPr>
          <a:xfrm rot="0" flipH="0" flipV="0">
            <a:off x="781050" y="41148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听汇报</a:t>
            </a:r>
            <a:endParaRPr/>
          </a:p>
        </p:txBody>
      </p:sp>
      <p:sp>
        <p:nvSpPr>
          <p:cNvPr id="3474" name="" descr="{&quot;isTemplate&quot;:true,&quot;type&quot;:&quot;text&quot;}"/>
          <p:cNvSpPr txBox="1"/>
          <p:nvPr/>
        </p:nvSpPr>
        <p:spPr>
          <a:xfrm rot="0" flipH="0" flipV="0">
            <a:off x="1485900" y="4114800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项目组说「已具备推广条件」</a:t>
            </a:r>
            <a:endParaRPr/>
          </a:p>
        </p:txBody>
      </p:sp>
      <p:sp>
        <p:nvSpPr>
          <p:cNvPr id="3475" name="" descr="{&quot;isTemplate&quot;:true,&quot;type&quot;:&quot;text&quot;}"/>
          <p:cNvSpPr txBox="1"/>
          <p:nvPr/>
        </p:nvSpPr>
        <p:spPr>
          <a:xfrm rot="0" flipH="0" flipV="0">
            <a:off x="781050" y="44100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做抽查</a:t>
            </a:r>
            <a:endParaRPr/>
          </a:p>
        </p:txBody>
      </p:sp>
      <p:sp>
        <p:nvSpPr>
          <p:cNvPr id="3476" name="" descr="{&quot;isTemplate&quot;:true,&quot;type&quot;:&quot;text&quot;}"/>
          <p:cNvSpPr txBox="1"/>
          <p:nvPr/>
        </p:nvSpPr>
        <p:spPr>
          <a:xfrm rot="0" flipH="0" flipV="0">
            <a:off x="1485900" y="44100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随机挑一个用户，问他上周用它做了什么</a:t>
            </a:r>
            <a:endParaRPr/>
          </a:p>
        </p:txBody>
      </p:sp>
      <p:sp>
        <p:nvSpPr>
          <p:cNvPr id="3477" name=""/>
          <p:cNvSpPr/>
          <p:nvPr/>
        </p:nvSpPr>
        <p:spPr>
          <a:xfrm rot="0" flipH="0" flipV="0">
            <a:off x="5219700" y="305752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478" name=""/>
          <p:cNvSpPr/>
          <p:nvPr/>
        </p:nvSpPr>
        <p:spPr>
          <a:xfrm rot="0" flipH="0" flipV="0">
            <a:off x="5219700" y="305752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79" name="" descr="{&quot;isTemplate&quot;:true,&quot;type&quot;:&quot;text&quot;}"/>
          <p:cNvSpPr txBox="1"/>
          <p:nvPr/>
        </p:nvSpPr>
        <p:spPr>
          <a:xfrm rot="0" flipH="0" flipV="0">
            <a:off x="5381625" y="30575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最有效的一条：随机抽一个真实用户</a:t>
            </a:r>
            <a:endParaRPr/>
          </a:p>
        </p:txBody>
      </p:sp>
      <p:sp>
        <p:nvSpPr>
          <p:cNvPr id="3480" name="" descr="{&quot;isTemplate&quot;:true,&quot;type&quot;:&quot;text&quot;}"/>
          <p:cNvSpPr txBox="1"/>
          <p:nvPr/>
        </p:nvSpPr>
        <p:spPr>
          <a:xfrm rot="0" flipH="0" flipV="0">
            <a:off x="5381625" y="3324225"/>
            <a:ext cx="6038850" cy="1209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从系统里随机挑一个用户，当面问他：上周你用它做过哪个决定？这一步能瞬间打掉所有自欺欺人的验收。</a:t>
            </a:r>
            <a:endParaRPr/>
          </a:p>
        </p:txBody>
      </p:sp>
      <p:sp>
        <p:nvSpPr>
          <p:cNvPr id="3481" name=""/>
          <p:cNvSpPr/>
          <p:nvPr/>
        </p:nvSpPr>
        <p:spPr>
          <a:xfrm rot="0" flipH="0" flipV="0">
            <a:off x="5381625" y="4629150"/>
            <a:ext cx="60388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82" name="" descr="{&quot;isTemplate&quot;:true,&quot;type&quot;:&quot;text&quot;}"/>
          <p:cNvSpPr txBox="1"/>
          <p:nvPr/>
        </p:nvSpPr>
        <p:spPr>
          <a:xfrm rot="0" flipH="0" flipV="0">
            <a:off x="5495925" y="4629150"/>
            <a:ext cx="5810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答不上来的用户，说明系统是给验收会看的，不是给业务用的。</a:t>
            </a:r>
            <a:endParaRPr/>
          </a:p>
        </p:txBody>
      </p:sp>
      <p:sp>
        <p:nvSpPr>
          <p:cNvPr id="3483" name=""/>
          <p:cNvSpPr/>
          <p:nvPr/>
        </p:nvSpPr>
        <p:spPr>
          <a:xfrm rot="0" flipH="0" flipV="0">
            <a:off x="609600" y="4953000"/>
            <a:ext cx="19812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84" name="" descr="{&quot;isTemplate&quot;:true,&quot;type&quot;:&quot;text&quot;}"/>
          <p:cNvSpPr txBox="1"/>
          <p:nvPr/>
        </p:nvSpPr>
        <p:spPr>
          <a:xfrm rot="0" flipH="0" flipV="0">
            <a:off x="752475" y="510540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验收台输出</a:t>
            </a:r>
            <a:endParaRPr/>
          </a:p>
        </p:txBody>
      </p:sp>
      <p:sp>
        <p:nvSpPr>
          <p:cNvPr id="3485" name="" descr="{&quot;isTemplate&quot;:true,&quot;type&quot;:&quot;text&quot;}"/>
          <p:cNvSpPr txBox="1"/>
          <p:nvPr/>
        </p:nvSpPr>
        <p:spPr>
          <a:xfrm rot="0" flipH="0" flipV="0">
            <a:off x="752475" y="5286375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不是一份报告，是三份签收</a:t>
            </a:r>
            <a:endParaRPr/>
          </a:p>
        </p:txBody>
      </p:sp>
      <p:sp>
        <p:nvSpPr>
          <p:cNvPr id="3486" name=""/>
          <p:cNvSpPr/>
          <p:nvPr/>
        </p:nvSpPr>
        <p:spPr>
          <a:xfrm rot="0" flipH="0" flipV="0">
            <a:off x="2705100" y="4953000"/>
            <a:ext cx="2886075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87" name="" descr="{&quot;isTemplate&quot;:true,&quot;type&quot;:&quot;text&quot;}"/>
          <p:cNvSpPr txBox="1"/>
          <p:nvPr/>
        </p:nvSpPr>
        <p:spPr>
          <a:xfrm rot="0" flipH="0" flipV="0">
            <a:off x="2838450" y="50863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检查表</a:t>
            </a:r>
            <a:endParaRPr/>
          </a:p>
        </p:txBody>
      </p:sp>
      <p:sp>
        <p:nvSpPr>
          <p:cNvPr id="3488" name="" descr="{&quot;isTemplate&quot;:true,&quot;type&quot;:&quot;text&quot;}"/>
          <p:cNvSpPr txBox="1"/>
          <p:nvPr/>
        </p:nvSpPr>
        <p:spPr>
          <a:xfrm rot="0" flipH="0" flipV="0">
            <a:off x="2838450" y="52768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项逐项，双方签字</a:t>
            </a:r>
            <a:endParaRPr/>
          </a:p>
        </p:txBody>
      </p:sp>
      <p:sp>
        <p:nvSpPr>
          <p:cNvPr id="3489" name=""/>
          <p:cNvSpPr/>
          <p:nvPr/>
        </p:nvSpPr>
        <p:spPr>
          <a:xfrm rot="0" flipH="0" flipV="0">
            <a:off x="5705475" y="4953000"/>
            <a:ext cx="28765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90" name="" descr="{&quot;isTemplate&quot;:true,&quot;type&quot;:&quot;text&quot;}"/>
          <p:cNvSpPr txBox="1"/>
          <p:nvPr/>
        </p:nvSpPr>
        <p:spPr>
          <a:xfrm rot="0" flipH="0" flipV="0">
            <a:off x="5838825" y="508635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用户抽查记录</a:t>
            </a:r>
            <a:endParaRPr/>
          </a:p>
        </p:txBody>
      </p:sp>
      <p:sp>
        <p:nvSpPr>
          <p:cNvPr id="3491" name="" descr="{&quot;isTemplate&quot;:true,&quot;type&quot;:&quot;text&quot;}"/>
          <p:cNvSpPr txBox="1"/>
          <p:nvPr/>
        </p:nvSpPr>
        <p:spPr>
          <a:xfrm rot="0" flipH="0" flipV="0">
            <a:off x="5838825" y="5276850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随机用户与他的真实回答</a:t>
            </a:r>
            <a:endParaRPr/>
          </a:p>
        </p:txBody>
      </p:sp>
      <p:sp>
        <p:nvSpPr>
          <p:cNvPr id="3492" name=""/>
          <p:cNvSpPr/>
          <p:nvPr/>
        </p:nvSpPr>
        <p:spPr>
          <a:xfrm rot="0" flipH="0" flipV="0">
            <a:off x="8696325" y="4953000"/>
            <a:ext cx="2886075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93" name="" descr="{&quot;isTemplate&quot;:true,&quot;type&quot;:&quot;text&quot;}"/>
          <p:cNvSpPr txBox="1"/>
          <p:nvPr/>
        </p:nvSpPr>
        <p:spPr>
          <a:xfrm rot="0" flipH="0" flipV="0">
            <a:off x="8829675" y="50863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移交清单</a:t>
            </a:r>
            <a:endParaRPr/>
          </a:p>
        </p:txBody>
      </p:sp>
      <p:sp>
        <p:nvSpPr>
          <p:cNvPr id="3494" name="" descr="{&quot;isTemplate&quot;:true,&quot;type&quot;:&quot;text&quot;}"/>
          <p:cNvSpPr txBox="1"/>
          <p:nvPr/>
        </p:nvSpPr>
        <p:spPr>
          <a:xfrm rot="0" flipH="0" flipV="0">
            <a:off x="8829675" y="52768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六件交付物签收</a:t>
            </a:r>
            <a:endParaRPr/>
          </a:p>
        </p:txBody>
      </p:sp>
      <p:sp>
        <p:nvSpPr>
          <p:cNvPr id="349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96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9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498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58 / 60</a:t>
            </a:r>
            <a:endParaRPr/>
          </a:p>
        </p:txBody>
      </p:sp>
    </p:spTree>
  </p:cSld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3499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FDE 职业路径：&lt;span style={{ color: '#FA4F24' }}&gt;从工程师到对赌结果的人&lt;/span&gt;&#10;        &lt;/Text&gt;&#10;        &lt;Text style={{ fontSize: 20, color: '#8A8F99', marginTop: 8 }}&gt;&#10;            这不是一条晋升通道，是一次责任范围的重划。三个阶段的能力重心完全不同&#10;        &lt;/Text&gt;&#10;    &lt;/Box&gt;&#10;    &lt;Box style={{ height: 1, background: '#E8E8E8' }} /&gt;&#10;&#10;    &lt;Box style={{ paddingTop: 20, paddingBottom: 14, height: 479, flexDirection: 'column', gap: 13 }}&gt;&#10;&#10;        {/* 上：三阶段 */}&#10;        &lt;Box style={{ flex: 1, flexDirection: 'row', gap: 11 }}&gt;&#10;            {[&#10;                { k: 'Dev', n: '01', cn: '平台侧', c: '#8A8F99', d: '把能力做成一项产品：一种能力服务多个客户。', kpi: '平台指标、采纳客户数', risk: '风险：平台很漂亮，客户一个也不用' },&#10;                { k: 'Delta', n: '02', cn: '现场侧', c: '#FA4F24', d: '在客户环境写生产代码，为这一个客户解决问题。', kpi: '上线场景数、使用量', risk: '风险：技术正确，运营无关' },&#10;                { k: 'Echo', n: '03', cn: '策略侧', c: '#E0641E', d: '找到最值得修的那条路，管采纳与客户关系。', kpi: '决策链命中、采纳率', risk: '风险：方向对，但拿不出东西' },&#10;            ].map((x) =&gt; (&#10;                &lt;Box key={x.k} style={{ flex: 1, background: '#F7F7F8', borderRadius: 4, padding: '0 16px', flexDirection: 'column', justifyContent: 'center', borderTop: `3px solid ${x.c}` }}&gt;&#10;                    &lt;Box style={{ flexDirection: 'row', alignItems: 'baseline', gap: 9 }}&gt;&#10;                        &lt;Text style={{ fontSize: 20, fontWeight: 'bold', color: x.c }}&gt;{x.k}&lt;/Text&gt;&#10;                        &lt;Text style={{ fontSize: 12, color: '#8A8F99', marginLeft: 'auto' }}&gt;{x.n}&lt;/Text&gt;&#10;                    &lt;/Box&gt;&#10;                    &lt;Text style={{ fontSize: 13, fontWeight: 'bold', color: '#0F1423', marginTop: 4 }}&gt;{x.cn}&lt;/Text&gt;&#10;                    &lt;Text style={{ fontSize: 12.5, color: '#3A4050', lineHeight: 1.5, marginTop: 10, flex: 1 }}&gt;{x.d}&lt;/Text&gt;&#10;                    &lt;Box style={{ background: '#0F1423', borderRadius: 3, padding: '0 11px', marginTop: 9 }}&gt;&#10;                        &lt;Text style={{ fontSize: 11.5, color: 'rgba(255,255,255,0.88)', lineHeight: 1.4 }}&gt;看：{x.kpi}&lt;/Text&gt;&#10;                    &lt;/Box&gt;&#10;                    &lt;Text style={{ fontSize: 11, fontWeight: 'bold', color: '#C43A17', lineHeight: 1.35, marginTop: 7 }}&gt;{x.risk}&lt;/Text&gt;&#10;                &lt;/Box&gt;&#10;            ))}&#10;        &lt;/Box&gt;&#10;&#10;        {/* 中：能力演进 */}&#10;        &lt;Box style={{ height: 186, flexDirection: 'row', gap: 12 }}&gt;&#10;            &lt;Box style={{ width: 468, background: '#0F1423', borderRadius: 4, padding: '0 18px', flexDirection: 'column', justifyContent: 'center' }}&gt;&#10;                &lt;Text style={{ fontSize: 12, color: '#FBA15C', letterSpacing: 2 }}&gt;五年三段的能力重心&lt;/Text&gt;&#10;                {[&#10;                    { k: '第 1–2 年', v: '在脏环境里把东西跑通，建立工程手感' },&#10;                    { k: '第 2–4 年', v: '把业务问题转成对象与口径，建立判断力' },&#10;                    { k: '第 4 年以后', v: '说服资深负责人改流程，建立影响力' },&#10;                ].map((x) =&gt; (&#10;                    &lt;Box key={x.k} style={{ flexDirection: 'row', gap: 12, marginTop: 11, alignItems: 'flex-start' }}&gt;&#10;                        &lt;Text style={{ fontSize: 12, fontWeight: 'bold', color: '#FBA15C', width: 84 }}&gt;{x.k}&lt;/Text&gt;&#10;                        &lt;Text style={{ fontSize: 12.5, color: 'rgba(255,255,255,0.85)', lineHeight: 1.4, flex: 1 }}&gt;{x.v}&lt;/Text&gt;&#10;                    &lt;/Box&gt;&#10;                ))}&#10;                &lt;Box style={{ background: 'rgba(250,79,36,0.22)', borderRadius: 3, padding: '0 12px', marginTop: 12 }}&gt;&#10;                    &lt;Text style={{ fontSize: 12, color: '#FBA15C', lineHeight: 1.45 }}&gt;&#10;                        走不完第三段，天花板就是资深工程师。&#10;                    &lt;/Text&gt;&#10;                &lt;/Box&gt;&#10;            &lt;/Box&gt;&#10;&#10;            &lt;Box style={{ flex: 1, background: '#FFF3EE', borderRadius: 4, borderLeft: '4px solid #FA4F24', padding: '0 17px', flexDirection: 'column', justifyContent: 'center' }}&gt;&#10;                &lt;Text style={{ fontSize: 14.5, fontWeight: 'bold', color: '#C43A17' }}&gt;从交付到对赌结果&lt;/Text&gt;&#10;                {[&#10;                    { k: '被追问', v: '从「进度如何」变成「上线了吗、管用吗」' },&#10;                    { k: '被考核', v: '从工时与排期变成使用量与采纳率' },&#10;                    { k: '被约束', v: '有权否决，但也要为停手负责' },&#10;                ].map((x) =&gt; (&#10;                    &lt;Box key={x.k} style={{ flexDirection: 'row', gap: 11, marginTop: 11, alignItems: 'flex-start' }}&gt;&#10;                        &lt;Text style={{ fontSize: 12, fontWeight: 'bold', color: '#C43A17', width: 52 }}&gt;{x.k}&lt;/Text&gt;&#10;                        &lt;Text style={{ fontSize: 12.5, color: '#3A4050', lineHeight: 1.4, flex: 1 }}&gt;{x.v}&lt;/Text&gt;&#10;                    &lt;/Box&gt;&#10;                ))}&#10;                &lt;Text style={{ fontSize: 11.5, fontWeight: 'bold', color: '#C43A17', marginTop: 13, lineHeight: 1.4 }}&gt;&#10;                    权力变大了，责任也变大了——这才叫职业路径。&#10;                &lt;/Text&gt;&#10;            &lt;/Box&gt;&#10;        &lt;/Box&gt;&#10;&#10;        {/* 下：扩散 */}&#10;        &lt;Box style={{ height: 66, flexDirection: 'row', gap: 12, alignItems: 'stretch' }}&gt;&#10;            &lt;Box style={{ width: 208, background: '#F7F7F8', borderRadius: 4, padding: '0 15px', flexDirection: 'column', justifyContent: 'center' }}&gt;&#10;                &lt;Text style={{ fontSize: 11, color: '#8A8F99' }}&gt;行业扩散&lt;/Text&gt;&#10;                &lt;Text style={{ fontSize: 12.5, fontWeight: 'bold', color: '#0F1423', marginTop: 5 }}&gt;不是 Palantir 独有&lt;/Text&gt;&#10;            &lt;/Box&gt;&#10;            {[&#10;                { k: '模型厂商', v: 'Anthropic / OpenAI' },&#10;                { k: '数据平台', v: 'Databricks' },&#10;                { k: '企业 AI', v: 'Cohere' },&#10;                { k: '云厂商', v: 'Google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59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FDE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职业路径：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从工程师到对赌结果的人</a:t>
            </a:r>
            <a:endParaRPr/>
          </a:p>
        </p:txBody>
      </p:sp>
      <p:sp>
        <p:nvSpPr>
          <p:cNvPr id="35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这不是一条晋升通道，是一次责任范围的重划。三个阶段的能力重心完全不同</a:t>
            </a:r>
            <a:endParaRPr/>
          </a:p>
        </p:txBody>
      </p:sp>
      <p:sp>
        <p:nvSpPr>
          <p:cNvPr id="35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04" name=""/>
          <p:cNvSpPr/>
          <p:nvPr/>
        </p:nvSpPr>
        <p:spPr>
          <a:xfrm rot="0" flipH="0" flipV="0">
            <a:off x="609600" y="1371600"/>
            <a:ext cx="3590925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05" name=""/>
          <p:cNvSpPr/>
          <p:nvPr/>
        </p:nvSpPr>
        <p:spPr>
          <a:xfrm rot="0" flipH="0" flipV="0">
            <a:off x="609600" y="1371600"/>
            <a:ext cx="3590925" cy="1590675"/>
          </a:xfrm>
          <a:custGeom>
            <a:pathLst>
              <a:path w="377" h="167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3506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8A8F99"/>
                </a:solidFill>
                <a:latin typeface="Microsoft YaHei"/>
                <a:ea typeface="Microsoft YaHei"/>
              </a:rPr>
              <a:t>Dev</a:t>
            </a:r>
            <a:endParaRPr/>
          </a:p>
        </p:txBody>
      </p:sp>
      <p:sp>
        <p:nvSpPr>
          <p:cNvPr id="3507" name="" descr="{&quot;isTemplate&quot;:true,&quot;type&quot;:&quot;text&quot;}"/>
          <p:cNvSpPr txBox="1"/>
          <p:nvPr/>
        </p:nvSpPr>
        <p:spPr>
          <a:xfrm rot="0" flipH="0" flipV="0">
            <a:off x="3905250" y="1371600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508" name="" descr="{&quot;isTemplate&quot;:true,&quot;type&quot;:&quot;text&quot;}"/>
          <p:cNvSpPr txBox="1"/>
          <p:nvPr/>
        </p:nvSpPr>
        <p:spPr>
          <a:xfrm rot="0" flipH="0" flipV="0">
            <a:off x="762000" y="1638300"/>
            <a:ext cx="3286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平台侧</a:t>
            </a:r>
            <a:endParaRPr/>
          </a:p>
        </p:txBody>
      </p:sp>
      <p:sp>
        <p:nvSpPr>
          <p:cNvPr id="3509" name="" descr="{&quot;isTemplate&quot;:true,&quot;type&quot;:&quot;text&quot;}"/>
          <p:cNvSpPr txBox="1"/>
          <p:nvPr/>
        </p:nvSpPr>
        <p:spPr>
          <a:xfrm rot="0" flipH="0" flipV="0">
            <a:off x="762000" y="1885950"/>
            <a:ext cx="3286125" cy="5334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把能力做成一项产品：一种能力服务多个客户。</a:t>
            </a:r>
            <a:endParaRPr/>
          </a:p>
        </p:txBody>
      </p:sp>
      <p:sp>
        <p:nvSpPr>
          <p:cNvPr id="3510" name=""/>
          <p:cNvSpPr/>
          <p:nvPr/>
        </p:nvSpPr>
        <p:spPr>
          <a:xfrm rot="0" flipH="0" flipV="0">
            <a:off x="762000" y="2505075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11" name="" descr="{&quot;isTemplate&quot;:true,&quot;type&quot;:&quot;text&quot;}"/>
          <p:cNvSpPr txBox="1"/>
          <p:nvPr/>
        </p:nvSpPr>
        <p:spPr>
          <a:xfrm rot="0" flipH="0" flipV="0">
            <a:off x="866775" y="250507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看：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平台指标、采纳客户数</a:t>
            </a:r>
            <a:endParaRPr/>
          </a:p>
        </p:txBody>
      </p:sp>
      <p:sp>
        <p:nvSpPr>
          <p:cNvPr id="3512" name="" descr="{&quot;isTemplate&quot;:true,&quot;type&quot;:&quot;text&quot;}"/>
          <p:cNvSpPr txBox="1"/>
          <p:nvPr/>
        </p:nvSpPr>
        <p:spPr>
          <a:xfrm rot="0" flipH="0" flipV="0">
            <a:off x="762000" y="276225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风险：平台很漂亮，客户一个也不用</a:t>
            </a:r>
            <a:endParaRPr/>
          </a:p>
        </p:txBody>
      </p:sp>
      <p:sp>
        <p:nvSpPr>
          <p:cNvPr id="3513" name=""/>
          <p:cNvSpPr/>
          <p:nvPr/>
        </p:nvSpPr>
        <p:spPr>
          <a:xfrm rot="0" flipH="0" flipV="0">
            <a:off x="4305300" y="1371600"/>
            <a:ext cx="3581400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14" name=""/>
          <p:cNvSpPr/>
          <p:nvPr/>
        </p:nvSpPr>
        <p:spPr>
          <a:xfrm rot="0" flipH="0" flipV="0">
            <a:off x="4305300" y="1371600"/>
            <a:ext cx="3581400" cy="1590675"/>
          </a:xfrm>
          <a:custGeom>
            <a:pathLst>
              <a:path w="376" h="167">
                <a:moveTo>
                  <a:pt x="372" y="0"/>
                </a:moveTo>
                <a:cubicBezTo>
                  <a:pt x="374" y="0"/>
                  <a:pt x="376" y="2"/>
                  <a:pt x="376" y="4"/>
                </a:cubicBezTo>
                <a:cubicBezTo>
                  <a:pt x="376" y="3"/>
                  <a:pt x="375" y="3"/>
                  <a:pt x="37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15" name="" descr="{&quot;isTemplate&quot;:true,&quot;type&quot;:&quot;text&quot;}"/>
          <p:cNvSpPr txBox="1"/>
          <p:nvPr/>
        </p:nvSpPr>
        <p:spPr>
          <a:xfrm rot="0" flipH="0" flipV="0">
            <a:off x="4457700" y="1371600"/>
            <a:ext cx="514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>Delta</a:t>
            </a:r>
            <a:endParaRPr/>
          </a:p>
        </p:txBody>
      </p:sp>
      <p:sp>
        <p:nvSpPr>
          <p:cNvPr id="3516" name="" descr="{&quot;isTemplate&quot;:true,&quot;type&quot;:&quot;text&quot;}"/>
          <p:cNvSpPr txBox="1"/>
          <p:nvPr/>
        </p:nvSpPr>
        <p:spPr>
          <a:xfrm rot="0" flipH="0" flipV="0">
            <a:off x="7591425" y="1371600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17" name="" descr="{&quot;isTemplate&quot;:true,&quot;type&quot;:&quot;text&quot;}"/>
          <p:cNvSpPr txBox="1"/>
          <p:nvPr/>
        </p:nvSpPr>
        <p:spPr>
          <a:xfrm rot="0" flipH="0" flipV="0">
            <a:off x="4457700" y="163830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现场侧</a:t>
            </a:r>
            <a:endParaRPr/>
          </a:p>
        </p:txBody>
      </p:sp>
      <p:sp>
        <p:nvSpPr>
          <p:cNvPr id="3518" name="" descr="{&quot;isTemplate&quot;:true,&quot;type&quot;:&quot;text&quot;}"/>
          <p:cNvSpPr txBox="1"/>
          <p:nvPr/>
        </p:nvSpPr>
        <p:spPr>
          <a:xfrm rot="0" flipH="0" flipV="0">
            <a:off x="4457700" y="1885950"/>
            <a:ext cx="3276600" cy="5334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在客户环境写生产代码，为这一个客户解决问题。</a:t>
            </a:r>
            <a:endParaRPr/>
          </a:p>
        </p:txBody>
      </p:sp>
      <p:sp>
        <p:nvSpPr>
          <p:cNvPr id="3519" name=""/>
          <p:cNvSpPr/>
          <p:nvPr/>
        </p:nvSpPr>
        <p:spPr>
          <a:xfrm rot="0" flipH="0" flipV="0">
            <a:off x="4457700" y="2505075"/>
            <a:ext cx="3276600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20" name="" descr="{&quot;isTemplate&quot;:true,&quot;type&quot;:&quot;text&quot;}"/>
          <p:cNvSpPr txBox="1"/>
          <p:nvPr/>
        </p:nvSpPr>
        <p:spPr>
          <a:xfrm rot="0" flipH="0" flipV="0">
            <a:off x="4562475" y="2505075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看：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上线场景数、使用量</a:t>
            </a:r>
            <a:endParaRPr/>
          </a:p>
        </p:txBody>
      </p:sp>
      <p:sp>
        <p:nvSpPr>
          <p:cNvPr id="3521" name="" descr="{&quot;isTemplate&quot;:true,&quot;type&quot;:&quot;text&quot;}"/>
          <p:cNvSpPr txBox="1"/>
          <p:nvPr/>
        </p:nvSpPr>
        <p:spPr>
          <a:xfrm rot="0" flipH="0" flipV="0">
            <a:off x="4457700" y="276225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风险：技术正确，运营无关</a:t>
            </a:r>
            <a:endParaRPr/>
          </a:p>
        </p:txBody>
      </p:sp>
      <p:sp>
        <p:nvSpPr>
          <p:cNvPr id="3522" name=""/>
          <p:cNvSpPr/>
          <p:nvPr/>
        </p:nvSpPr>
        <p:spPr>
          <a:xfrm rot="0" flipH="0" flipV="0">
            <a:off x="7991475" y="1371600"/>
            <a:ext cx="3590925" cy="1590675"/>
          </a:xfrm>
          <a:prstGeom prst="roundRect">
            <a:avLst>
              <a:gd name="adj" fmla="val 239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23" name=""/>
          <p:cNvSpPr/>
          <p:nvPr/>
        </p:nvSpPr>
        <p:spPr>
          <a:xfrm rot="0" flipH="0" flipV="0">
            <a:off x="7991475" y="1371600"/>
            <a:ext cx="3590925" cy="1590675"/>
          </a:xfrm>
          <a:custGeom>
            <a:pathLst>
              <a:path w="377" h="167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cubicBezTo>
                  <a:pt x="377" y="3"/>
                  <a:pt x="376" y="3"/>
                  <a:pt x="37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E0641E"/>
          </a:solidFill>
          <a:ln/>
        </p:spPr>
        <p:txBody>
          <a:bodyPr/>
          <a:p/>
        </p:txBody>
      </p:sp>
      <p:sp>
        <p:nvSpPr>
          <p:cNvPr id="3524" name="" descr="{&quot;isTemplate&quot;:true,&quot;type&quot;:&quot;text&quot;}"/>
          <p:cNvSpPr txBox="1"/>
          <p:nvPr/>
        </p:nvSpPr>
        <p:spPr>
          <a:xfrm rot="0" flipH="0" flipV="0">
            <a:off x="8143875" y="1371600"/>
            <a:ext cx="457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0641E"/>
                </a:solidFill>
                <a:latin typeface="Microsoft YaHei"/>
                <a:ea typeface="Microsoft YaHei"/>
              </a:rPr>
              <a:t>Echo</a:t>
            </a:r>
            <a:endParaRPr/>
          </a:p>
        </p:txBody>
      </p:sp>
      <p:sp>
        <p:nvSpPr>
          <p:cNvPr id="3525" name="" descr="{&quot;isTemplate&quot;:true,&quot;type&quot;:&quot;text&quot;}"/>
          <p:cNvSpPr txBox="1"/>
          <p:nvPr/>
        </p:nvSpPr>
        <p:spPr>
          <a:xfrm rot="0" flipH="0" flipV="0">
            <a:off x="11287125" y="1371600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26" name="" descr="{&quot;isTemplate&quot;:true,&quot;type&quot;:&quot;text&quot;}"/>
          <p:cNvSpPr txBox="1"/>
          <p:nvPr/>
        </p:nvSpPr>
        <p:spPr>
          <a:xfrm rot="0" flipH="0" flipV="0">
            <a:off x="8143875" y="1638300"/>
            <a:ext cx="3286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策略侧</a:t>
            </a:r>
            <a:endParaRPr/>
          </a:p>
        </p:txBody>
      </p:sp>
      <p:sp>
        <p:nvSpPr>
          <p:cNvPr id="3527" name="" descr="{&quot;isTemplate&quot;:true,&quot;type&quot;:&quot;text&quot;}"/>
          <p:cNvSpPr txBox="1"/>
          <p:nvPr/>
        </p:nvSpPr>
        <p:spPr>
          <a:xfrm rot="0" flipH="0" flipV="0">
            <a:off x="8143875" y="1885950"/>
            <a:ext cx="3286125" cy="5334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找到最值得修的那条路，管采纳与客户关系。</a:t>
            </a:r>
            <a:endParaRPr/>
          </a:p>
        </p:txBody>
      </p:sp>
      <p:sp>
        <p:nvSpPr>
          <p:cNvPr id="3528" name=""/>
          <p:cNvSpPr/>
          <p:nvPr/>
        </p:nvSpPr>
        <p:spPr>
          <a:xfrm rot="0" flipH="0" flipV="0">
            <a:off x="8143875" y="2505075"/>
            <a:ext cx="3286125" cy="190500"/>
          </a:xfrm>
          <a:prstGeom prst="roundRect">
            <a:avLst>
              <a:gd name="adj" fmla="val 1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29" name="" descr="{&quot;isTemplate&quot;:true,&quot;type&quot;:&quot;text&quot;}"/>
          <p:cNvSpPr txBox="1"/>
          <p:nvPr/>
        </p:nvSpPr>
        <p:spPr>
          <a:xfrm rot="0" flipH="0" flipV="0">
            <a:off x="8248650" y="2505075"/>
            <a:ext cx="30765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看：</a:t>
            </a:r>
            <a:r>
              <a:rPr lang="zh-CN" sz="863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决策链命中、采纳率</a:t>
            </a:r>
            <a:endParaRPr/>
          </a:p>
        </p:txBody>
      </p:sp>
      <p:sp>
        <p:nvSpPr>
          <p:cNvPr id="3530" name="" descr="{&quot;isTemplate&quot;:true,&quot;type&quot;:&quot;text&quot;}"/>
          <p:cNvSpPr txBox="1"/>
          <p:nvPr/>
        </p:nvSpPr>
        <p:spPr>
          <a:xfrm rot="0" flipH="0" flipV="0">
            <a:off x="8143875" y="276225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风险：方向对，但拿不出东西</a:t>
            </a:r>
            <a:endParaRPr/>
          </a:p>
        </p:txBody>
      </p:sp>
      <p:sp>
        <p:nvSpPr>
          <p:cNvPr id="3531" name=""/>
          <p:cNvSpPr/>
          <p:nvPr/>
        </p:nvSpPr>
        <p:spPr>
          <a:xfrm rot="0" flipH="0" flipV="0">
            <a:off x="609600" y="3057525"/>
            <a:ext cx="4457700" cy="1771650"/>
          </a:xfrm>
          <a:prstGeom prst="roundRect">
            <a:avLst>
              <a:gd name="adj" fmla="val 21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32" name="" descr="{&quot;isTemplate&quot;:true,&quot;type&quot;:&quot;text&quot;}"/>
          <p:cNvSpPr txBox="1"/>
          <p:nvPr/>
        </p:nvSpPr>
        <p:spPr>
          <a:xfrm rot="0" flipH="0" flipV="0">
            <a:off x="781050" y="3257550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五年三段的能力重心</a:t>
            </a:r>
            <a:endParaRPr/>
          </a:p>
        </p:txBody>
      </p:sp>
      <p:sp>
        <p:nvSpPr>
          <p:cNvPr id="3533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第</a:t>
            </a: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3534" name="" descr="{&quot;isTemplate&quot;:true,&quot;type&quot;:&quot;text&quot;}"/>
          <p:cNvSpPr txBox="1"/>
          <p:nvPr/>
        </p:nvSpPr>
        <p:spPr>
          <a:xfrm rot="0" flipH="0" flipV="0">
            <a:off x="1695450" y="35052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在脏环境里把东西跑通，建立工程手感</a:t>
            </a:r>
            <a:endParaRPr/>
          </a:p>
        </p:txBody>
      </p:sp>
      <p:sp>
        <p:nvSpPr>
          <p:cNvPr id="3535" name="" descr="{&quot;isTemplate&quot;:true,&quot;type&quot;:&quot;text&quot;}"/>
          <p:cNvSpPr txBox="1"/>
          <p:nvPr/>
        </p:nvSpPr>
        <p:spPr>
          <a:xfrm rot="0" flipH="0" flipV="0">
            <a:off x="781050" y="38100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第</a:t>
            </a: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2–4 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3536" name="" descr="{&quot;isTemplate&quot;:true,&quot;type&quot;:&quot;text&quot;}"/>
          <p:cNvSpPr txBox="1"/>
          <p:nvPr/>
        </p:nvSpPr>
        <p:spPr>
          <a:xfrm rot="0" flipH="0" flipV="0">
            <a:off x="1695450" y="38100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把业务问题转成对象与口径，建立判断力</a:t>
            </a:r>
            <a:endParaRPr/>
          </a:p>
        </p:txBody>
      </p:sp>
      <p:sp>
        <p:nvSpPr>
          <p:cNvPr id="3537" name="" descr="{&quot;isTemplate&quot;:true,&quot;type&quot;:&quot;text&quot;}"/>
          <p:cNvSpPr txBox="1"/>
          <p:nvPr/>
        </p:nvSpPr>
        <p:spPr>
          <a:xfrm rot="0" flipH="0" flipV="0">
            <a:off x="781050" y="4114800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第</a:t>
            </a:r>
            <a:r>
              <a:rPr lang="en-US" sz="9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年以后</a:t>
            </a:r>
            <a:endParaRPr/>
          </a:p>
        </p:txBody>
      </p:sp>
      <p:sp>
        <p:nvSpPr>
          <p:cNvPr id="3538" name="" descr="{&quot;isTemplate&quot;:true,&quot;type&quot;:&quot;text&quot;}"/>
          <p:cNvSpPr txBox="1"/>
          <p:nvPr/>
        </p:nvSpPr>
        <p:spPr>
          <a:xfrm rot="0" flipH="0" flipV="0">
            <a:off x="1695450" y="41148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说服资深负责人改流程，建立影响力</a:t>
            </a:r>
            <a:endParaRPr/>
          </a:p>
        </p:txBody>
      </p:sp>
      <p:sp>
        <p:nvSpPr>
          <p:cNvPr id="3539" name=""/>
          <p:cNvSpPr/>
          <p:nvPr/>
        </p:nvSpPr>
        <p:spPr>
          <a:xfrm rot="0" flipH="0" flipV="0">
            <a:off x="781050" y="4429125"/>
            <a:ext cx="4114800" cy="200025"/>
          </a:xfrm>
          <a:prstGeom prst="roundRect">
            <a:avLst>
              <a:gd name="adj" fmla="val 14286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540" name="" descr="{&quot;isTemplate&quot;:true,&quot;type&quot;:&quot;text&quot;}"/>
          <p:cNvSpPr txBox="1"/>
          <p:nvPr/>
        </p:nvSpPr>
        <p:spPr>
          <a:xfrm rot="0" flipH="0" flipV="0">
            <a:off x="895350" y="442912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走不完第三段，天花板就是资深工程师。</a:t>
            </a:r>
            <a:endParaRPr/>
          </a:p>
        </p:txBody>
      </p:sp>
      <p:sp>
        <p:nvSpPr>
          <p:cNvPr id="3541" name=""/>
          <p:cNvSpPr/>
          <p:nvPr/>
        </p:nvSpPr>
        <p:spPr>
          <a:xfrm rot="0" flipH="0" flipV="0">
            <a:off x="5219700" y="3057525"/>
            <a:ext cx="6400800" cy="1771650"/>
          </a:xfrm>
          <a:prstGeom prst="roundRect">
            <a:avLst>
              <a:gd name="adj" fmla="val 215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542" name=""/>
          <p:cNvSpPr/>
          <p:nvPr/>
        </p:nvSpPr>
        <p:spPr>
          <a:xfrm rot="0" flipH="0" flipV="0">
            <a:off x="5219700" y="3057525"/>
            <a:ext cx="6400800" cy="1771650"/>
          </a:xfrm>
          <a:custGeom>
            <a:pathLst>
              <a:path w="672" h="186">
                <a:moveTo>
                  <a:pt x="4" y="186"/>
                </a:moveTo>
                <a:cubicBezTo>
                  <a:pt x="2" y="186"/>
                  <a:pt x="0" y="184"/>
                  <a:pt x="0" y="18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8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43" name="" descr="{&quot;isTemplate&quot;:true,&quot;type&quot;:&quot;text&quot;}"/>
          <p:cNvSpPr txBox="1"/>
          <p:nvPr/>
        </p:nvSpPr>
        <p:spPr>
          <a:xfrm rot="0" flipH="0" flipV="0">
            <a:off x="5381625" y="32480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C43A17"/>
                </a:solidFill>
                <a:latin typeface="Microsoft YaHei"/>
                <a:ea typeface="Microsoft YaHei"/>
              </a:rPr>
              <a:t>从交付到对赌结果</a:t>
            </a:r>
            <a:endParaRPr/>
          </a:p>
        </p:txBody>
      </p:sp>
      <p:sp>
        <p:nvSpPr>
          <p:cNvPr id="3544" name="" descr="{&quot;isTemplate&quot;:true,&quot;type&quot;:&quot;text&quot;}"/>
          <p:cNvSpPr txBox="1"/>
          <p:nvPr/>
        </p:nvSpPr>
        <p:spPr>
          <a:xfrm rot="0" flipH="0" flipV="0">
            <a:off x="5381625" y="35242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被追问</a:t>
            </a:r>
            <a:endParaRPr/>
          </a:p>
        </p:txBody>
      </p:sp>
      <p:sp>
        <p:nvSpPr>
          <p:cNvPr id="3545" name="" descr="{&quot;isTemplate&quot;:true,&quot;type&quot;:&quot;text&quot;}"/>
          <p:cNvSpPr txBox="1"/>
          <p:nvPr/>
        </p:nvSpPr>
        <p:spPr>
          <a:xfrm rot="0" flipH="0" flipV="0">
            <a:off x="5981700" y="3524250"/>
            <a:ext cx="5438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从「进度如何」变成「上线了吗、管用吗」</a:t>
            </a:r>
            <a:endParaRPr/>
          </a:p>
        </p:txBody>
      </p:sp>
      <p:sp>
        <p:nvSpPr>
          <p:cNvPr id="3546" name="" descr="{&quot;isTemplate&quot;:true,&quot;type&quot;:&quot;text&quot;}"/>
          <p:cNvSpPr txBox="1"/>
          <p:nvPr/>
        </p:nvSpPr>
        <p:spPr>
          <a:xfrm rot="0" flipH="0" flipV="0">
            <a:off x="5381625" y="38290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被考核</a:t>
            </a:r>
            <a:endParaRPr/>
          </a:p>
        </p:txBody>
      </p:sp>
      <p:sp>
        <p:nvSpPr>
          <p:cNvPr id="3547" name="" descr="{&quot;isTemplate&quot;:true,&quot;type&quot;:&quot;text&quot;}"/>
          <p:cNvSpPr txBox="1"/>
          <p:nvPr/>
        </p:nvSpPr>
        <p:spPr>
          <a:xfrm rot="0" flipH="0" flipV="0">
            <a:off x="5981700" y="3829050"/>
            <a:ext cx="5438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从工时与排期变成使用量与采纳率</a:t>
            </a:r>
            <a:endParaRPr/>
          </a:p>
        </p:txBody>
      </p:sp>
      <p:sp>
        <p:nvSpPr>
          <p:cNvPr id="3548" name="" descr="{&quot;isTemplate&quot;:true,&quot;type&quot;:&quot;text&quot;}"/>
          <p:cNvSpPr txBox="1"/>
          <p:nvPr/>
        </p:nvSpPr>
        <p:spPr>
          <a:xfrm rot="0" flipH="0" flipV="0">
            <a:off x="5381625" y="41338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被约束</a:t>
            </a:r>
            <a:endParaRPr/>
          </a:p>
        </p:txBody>
      </p:sp>
      <p:sp>
        <p:nvSpPr>
          <p:cNvPr id="3549" name="" descr="{&quot;isTemplate&quot;:true,&quot;type&quot;:&quot;text&quot;}"/>
          <p:cNvSpPr txBox="1"/>
          <p:nvPr/>
        </p:nvSpPr>
        <p:spPr>
          <a:xfrm rot="0" flipH="0" flipV="0">
            <a:off x="5981700" y="4133850"/>
            <a:ext cx="54387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3A4050"/>
                </a:solidFill>
                <a:latin typeface="Microsoft YaHei"/>
                <a:ea typeface="Microsoft YaHei"/>
              </a:rPr>
              <a:t>有权否决，但也要为停手负责</a:t>
            </a:r>
            <a:endParaRPr/>
          </a:p>
        </p:txBody>
      </p:sp>
      <p:sp>
        <p:nvSpPr>
          <p:cNvPr id="3550" name="" descr="{&quot;isTemplate&quot;:true,&quot;type&quot;:&quot;text&quot;}"/>
          <p:cNvSpPr txBox="1"/>
          <p:nvPr/>
        </p:nvSpPr>
        <p:spPr>
          <a:xfrm rot="0" flipH="0" flipV="0">
            <a:off x="5381625" y="445770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权力变大了，责任也变大了——这才叫职业路径。</a:t>
            </a:r>
            <a:endParaRPr/>
          </a:p>
        </p:txBody>
      </p:sp>
      <p:sp>
        <p:nvSpPr>
          <p:cNvPr id="3551" name=""/>
          <p:cNvSpPr/>
          <p:nvPr/>
        </p:nvSpPr>
        <p:spPr>
          <a:xfrm rot="0" flipH="0" flipV="0">
            <a:off x="609600" y="4953000"/>
            <a:ext cx="19812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52" name="" descr="{&quot;isTemplate&quot;:true,&quot;type&quot;:&quot;text&quot;}"/>
          <p:cNvSpPr txBox="1"/>
          <p:nvPr/>
        </p:nvSpPr>
        <p:spPr>
          <a:xfrm rot="0" flipH="0" flipV="0">
            <a:off x="752475" y="5105400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行业扩散</a:t>
            </a:r>
            <a:endParaRPr/>
          </a:p>
        </p:txBody>
      </p:sp>
      <p:sp>
        <p:nvSpPr>
          <p:cNvPr id="3553" name="" descr="{&quot;isTemplate&quot;:true,&quot;type&quot;:&quot;text&quot;}"/>
          <p:cNvSpPr txBox="1"/>
          <p:nvPr/>
        </p:nvSpPr>
        <p:spPr>
          <a:xfrm rot="0" flipH="0" flipV="0">
            <a:off x="752475" y="5286375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不是</a:t>
            </a:r>
            <a:r>
              <a:rPr lang="en-US" sz="93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Palantir </a:t>
            </a: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独有</a:t>
            </a:r>
            <a:endParaRPr/>
          </a:p>
        </p:txBody>
      </p:sp>
      <p:sp>
        <p:nvSpPr>
          <p:cNvPr id="3554" name=""/>
          <p:cNvSpPr/>
          <p:nvPr/>
        </p:nvSpPr>
        <p:spPr>
          <a:xfrm rot="0" flipH="0" flipV="0">
            <a:off x="27051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55" name="" descr="{&quot;isTemplate&quot;:true,&quot;type&quot;:&quot;text&quot;}"/>
          <p:cNvSpPr txBox="1"/>
          <p:nvPr/>
        </p:nvSpPr>
        <p:spPr>
          <a:xfrm rot="0" flipH="0" flipV="0">
            <a:off x="28384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模型厂商</a:t>
            </a:r>
            <a:endParaRPr/>
          </a:p>
        </p:txBody>
      </p:sp>
      <p:sp>
        <p:nvSpPr>
          <p:cNvPr id="3556" name="" descr="{&quot;isTemplate&quot;:true,&quot;type&quot;:&quot;text&quot;}"/>
          <p:cNvSpPr txBox="1"/>
          <p:nvPr/>
        </p:nvSpPr>
        <p:spPr>
          <a:xfrm rot="0" flipH="0" flipV="0">
            <a:off x="28384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Anthropic / OpenAI</a:t>
            </a:r>
            <a:endParaRPr/>
          </a:p>
        </p:txBody>
      </p:sp>
      <p:sp>
        <p:nvSpPr>
          <p:cNvPr id="3557" name=""/>
          <p:cNvSpPr/>
          <p:nvPr/>
        </p:nvSpPr>
        <p:spPr>
          <a:xfrm rot="0" flipH="0" flipV="0">
            <a:off x="49530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58" name="" descr="{&quot;isTemplate&quot;:true,&quot;type&quot;:&quot;text&quot;}"/>
          <p:cNvSpPr txBox="1"/>
          <p:nvPr/>
        </p:nvSpPr>
        <p:spPr>
          <a:xfrm rot="0" flipH="0" flipV="0">
            <a:off x="50863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数据平台</a:t>
            </a:r>
            <a:endParaRPr/>
          </a:p>
        </p:txBody>
      </p:sp>
      <p:sp>
        <p:nvSpPr>
          <p:cNvPr id="3559" name="" descr="{&quot;isTemplate&quot;:true,&quot;type&quot;:&quot;text&quot;}"/>
          <p:cNvSpPr txBox="1"/>
          <p:nvPr/>
        </p:nvSpPr>
        <p:spPr>
          <a:xfrm rot="0" flipH="0" flipV="0">
            <a:off x="50863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Databricks</a:t>
            </a:r>
            <a:endParaRPr/>
          </a:p>
        </p:txBody>
      </p:sp>
      <p:sp>
        <p:nvSpPr>
          <p:cNvPr id="3560" name=""/>
          <p:cNvSpPr/>
          <p:nvPr/>
        </p:nvSpPr>
        <p:spPr>
          <a:xfrm rot="0" flipH="0" flipV="0">
            <a:off x="72009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61" name="" descr="{&quot;isTemplate&quot;:true,&quot;type&quot;:&quot;text&quot;}"/>
          <p:cNvSpPr txBox="1"/>
          <p:nvPr/>
        </p:nvSpPr>
        <p:spPr>
          <a:xfrm rot="0" flipH="0" flipV="0">
            <a:off x="73342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企业</a:t>
            </a:r>
            <a:r>
              <a:rPr lang="en-US" sz="93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3562" name="" descr="{&quot;isTemplate&quot;:true,&quot;type&quot;:&quot;text&quot;}"/>
          <p:cNvSpPr txBox="1"/>
          <p:nvPr/>
        </p:nvSpPr>
        <p:spPr>
          <a:xfrm rot="0" flipH="0" flipV="0">
            <a:off x="73342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Cohere</a:t>
            </a:r>
            <a:endParaRPr/>
          </a:p>
        </p:txBody>
      </p:sp>
      <p:sp>
        <p:nvSpPr>
          <p:cNvPr id="3563" name=""/>
          <p:cNvSpPr/>
          <p:nvPr/>
        </p:nvSpPr>
        <p:spPr>
          <a:xfrm rot="0" flipH="0" flipV="0">
            <a:off x="9448800" y="4953000"/>
            <a:ext cx="21336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564" name="" descr="{&quot;isTemplate&quot;:true,&quot;type&quot;:&quot;text&quot;}"/>
          <p:cNvSpPr txBox="1"/>
          <p:nvPr/>
        </p:nvSpPr>
        <p:spPr>
          <a:xfrm rot="0" flipH="0" flipV="0">
            <a:off x="9582150" y="5086350"/>
            <a:ext cx="186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云厂商</a:t>
            </a:r>
            <a:endParaRPr/>
          </a:p>
        </p:txBody>
      </p:sp>
      <p:sp>
        <p:nvSpPr>
          <p:cNvPr id="3565" name="" descr="{&quot;isTemplate&quot;:true,&quot;type&quot;:&quot;text&quot;}"/>
          <p:cNvSpPr txBox="1"/>
          <p:nvPr/>
        </p:nvSpPr>
        <p:spPr>
          <a:xfrm rot="0" flipH="0" flipV="0">
            <a:off x="9582150" y="52768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Google</a:t>
            </a:r>
            <a:endParaRPr/>
          </a:p>
        </p:txBody>
      </p:sp>
      <p:sp>
        <p:nvSpPr>
          <p:cNvPr id="356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67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68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569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59 / 60</a:t>
            </a:r>
            <a:endParaRPr/>
          </a:p>
        </p:txBody>
      </p:sp>
    </p:spTree>
  </p:cSld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362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     结语：&lt;span style={{ color: '#FA4F24' }}&gt;判断一件事有没有做对，只问一句&lt;/span&gt;&#10;        &lt;/Text&gt;&#10;        &lt;Text style={{ fontSize: 20, color: '#8A8F99', marginTop: 8 }}&gt;&#10;            不看 PPT 有多厚，不看模型多聪明，只看客户生产环境里多出来的那一点东西&#10;        &lt;/Text&gt;&#10;    &lt;/Box&gt;&#10;    &lt;Box style={{ height: 1, background: '#E8E8E8' }} /&gt;&#10;&#10;    &lt;Box style={{ paddingTop: 20, paddingBottom: 14, height: 479, flexDirection: 'column', gap: 13 }}&gt;&#10;&#10;        {/* 上：唯一判据 */}&#10;        &lt;Box style={{ flex: 1, background: '#0F1423', borderRadius: 4, padding: '0 26px', flexDirection: 'column', justifyContent: 'center' }}&gt;&#10;            &lt;Text style={{ fontSize: 12, color: '#FBA15C', letterSpacing: 2 }}&gt;最终判断标准&lt;/Text&gt;&#10;            &lt;Text style={{ fontSize: 27, fontWeight: 'bold', color: '#FFFFFF', lineHeight: 1.45, marginTop: 16 }}&gt;&#10;                如果把这次项目的所有 PPT 全部删掉，&lt;br /&gt;&#10;                &lt;span style={{ color: '#FA4F24' }}&gt;客户生产环境里还剩下什么？&lt;/span&gt;&#10;            &lt;/Text&gt;&#10;            &lt;Text style={{ fontSize: 12.5, color: 'rgba(255,255,255,0.75)', lineHeight: 1.55, marginTop: 16, flex: 1 }}&gt;&#10;                剩下的是活的对象定义、跑着的管道与 Agent、被统一的口径、被继承的密级、客户自己能维护的运维手册——那这个项目就做对了。&#10;                什么都不剩，那再厚的蓝图也只是另一堆没落地的纸。&#10;            &lt;/Text&gt;&#10;            &lt;Box style={{ background: 'rgba(250,79,36,0.22)', borderRadius: 3, padding: '10px 14px', marginTop: 12 }}&gt;&#10;                &lt;Text style={{ fontSize: 12.5, color: '#FBA15C', lineHeight: 1.45 }}&gt;&#10;                    这一句能同时区分 FDE 与顾问、产品经理、开发经理——他们交付的都不是「环境里剩下的东西」。&#10;                &lt;/Text&gt;&#10;            &lt;/Box&gt;&#10;        &lt;/Box&gt;&#10;&#10;        {/* 中：六条主张 */}&#10;        &lt;Box style={{ height: 150, flexDirection: 'row', gap: 11 }}&gt;&#10;            {[&#10;                { n: '1', k: '是交付模型', d: '不是职级' },&#10;                { n: '2', k: 'Echo 与 Delta 一对', d: '缺一不可' },&#10;                { n: '3', k: '先本体后 AI', d: '顺序不可颠倒' },&#10;                { n: '4', k: '交付即生产环境', d: '不是 PPT' },&#10;                { n: '5', k: '经验必须回流', d: '否则等于没做' },&#10;                { n: '6', k: '边界由交付物定', d: '与三个老角色' },&#10;            ].map((x) =&gt; (&#10;                &lt;Box key={x.n} style={{ flex: 1, background: '#F7F7F8', borderRadius: 4, padding: '0 12px', flexDirection: 'column', justifyContent: 'center', borderTop: '3px solid #FA4F24' }}&gt;&#10;                    &lt;Text style={{ fontSize: 15, fontWeight: 'bold', color: '#FA4F24' }}&gt;{x.n}&lt;/Text&gt;&#10;                    &lt;Text style={{ fontSize: 12, fontWeight: 'bold', color: '#0F1423', lineHeight: 1.35, marginTop: 6, flex: 1 }}&gt;{x.k}&lt;/Text&gt;&#10;                    &lt;Text style={{ fontSize: 11, color: '#8A8F99', lineHeight: 1.3 }}&gt;{x.d}&lt;/Text&gt;&#10;                &lt;/Box&gt;&#10;            ))}&#10;        &lt;/Box&gt;&#10;&#10;        {/* 下：下一步 */}&#10;        &lt;Box style={{ height: 66, flexDirection: 'row', gap: 12, alignItems: 'stretch' }}&gt;&#10;            &lt;Box style={{ width: 208, background: '#0F1423', borderRadius: 4, padding: '0 15px', flexDirection: 'column', justifyContent: 'center' }}&gt;&#10;                &lt;Text style={{ fontSize: 11, color: 'rgba(255,255,255,0.6)' }}&gt;可以从明天开始做&lt;/Text&gt;&#10;                &lt;Text style={{ fontSize: 12.5, fontWeight: 'bold', color: '#FBA15C', marginTop: 5, lineHeight: 1.35 }}&gt;给手上客户挑一个最痛的场景&lt;/Text&gt;&#10;            &lt;/Box&gt;&#10;            {[&#10;                { k: '第一步', v: '先追决策链，不谈方案' },&#10;                { k: '第二步', v: '两周边跑通一个场景' },&#10;                { k: '第三步', v: '十二项打勾，签完再走' },&#10;            ].map((x) =&gt; (&#10;                &lt;Box key={x.k} style={{ flex: 1, background: '#F7F7F8', borderRadius: 4, padding: '0 14px', flexDirection: 'column', justifyContent: 'center' }}&gt;&#10;                    &lt;Text style={{ fontSize: 12.5, fontWeight: 'bold', color: '#C43A17' }}&gt;{x.k}&lt;/Text&gt;&#10;                    &lt;Text style={{ fontSize: 11, color: '#3A4050', lineHeight: 1.35, marginTop: 5 }}&gt;{x.v}&lt;/Text&gt;&#10;                &lt;/Box&gt;&#10;            ))}&#10;        &lt;/Box&gt;&#10;    &lt;/Box&gt;&#10;&#10;    &lt;Box style={{ height: 58, flexDirection: 'row', alignItems: 'center', borderTop: '1px solid #E8E8E8' }}&gt;&#10;        &lt;Box style={{ width: 14, height: 14, background: '#FA4F24' }} /&gt;&#10;        &lt;Text style={{ fontSize: 14, color: '#8A8F99', marginLeft: 12 }}&gt;硕磐机密 · FDE咨询方法论&lt;/Text&gt;&#10;        &lt;Text style={{ fontSize: 14, color: '#8A8F99', marginLeft: 'auto' }}&gt;60 / 6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结语：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判断一件事有没有做对，只问一句</a:t>
            </a:r>
            <a:endParaRPr/>
          </a:p>
        </p:txBody>
      </p:sp>
      <p:sp>
        <p:nvSpPr>
          <p:cNvPr id="36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不看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有多厚，不看模型多聪明，只看客户生产环境里多出来的那一点东西</a:t>
            </a:r>
            <a:endParaRPr/>
          </a:p>
        </p:txBody>
      </p:sp>
      <p:sp>
        <p:nvSpPr>
          <p:cNvPr id="36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29" name=""/>
          <p:cNvSpPr/>
          <p:nvPr/>
        </p:nvSpPr>
        <p:spPr>
          <a:xfrm rot="0" flipH="0" flipV="0">
            <a:off x="609600" y="1343025"/>
            <a:ext cx="10972800" cy="2085975"/>
          </a:xfrm>
          <a:prstGeom prst="roundRect">
            <a:avLst>
              <a:gd name="adj" fmla="val 182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30" name="" descr="{&quot;isTemplate&quot;:true,&quot;type&quot;:&quot;text&quot;}"/>
          <p:cNvSpPr txBox="1"/>
          <p:nvPr/>
        </p:nvSpPr>
        <p:spPr>
          <a:xfrm rot="0" flipH="0" flipV="0">
            <a:off x="857250" y="1343025"/>
            <a:ext cx="1047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FBA15C"/>
                </a:solidFill>
                <a:latin typeface="Microsoft YaHei"/>
                <a:ea typeface="Microsoft YaHei"/>
              </a:rPr>
              <a:t>最终判断标准</a:t>
            </a:r>
            <a:endParaRPr/>
          </a:p>
        </p:txBody>
      </p:sp>
      <p:sp>
        <p:nvSpPr>
          <p:cNvPr id="3631" name="" descr="{&quot;isTemplate&quot;:true,&quot;type&quot;:&quot;text&quot;}"/>
          <p:cNvSpPr txBox="1"/>
          <p:nvPr/>
        </p:nvSpPr>
        <p:spPr>
          <a:xfrm rot="0" flipH="0" flipV="0">
            <a:off x="857250" y="1638300"/>
            <a:ext cx="10477500" cy="8953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如果把这次项目的所有</a:t>
            </a:r>
            <a:r>
              <a:rPr lang="en-US" sz="20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2025" b="1">
                <a:solidFill>
                  <a:srgbClr val="FFFFFF"/>
                </a:solidFill>
                <a:latin typeface="Microsoft YaHei"/>
                <a:ea typeface="Microsoft YaHei"/>
              </a:rPr>
              <a:t>全部删掉，</a:t>
            </a:r>
            <a:endParaRPr/>
          </a:p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FA4F24"/>
                </a:solidFill>
                <a:latin typeface="Microsoft YaHei"/>
                <a:ea typeface="Microsoft YaHei"/>
              </a:rPr>
              <a:t>客户生产环境里还剩下什么？</a:t>
            </a:r>
            <a:endParaRPr/>
          </a:p>
        </p:txBody>
      </p:sp>
      <p:sp>
        <p:nvSpPr>
          <p:cNvPr id="3632" name="" descr="{&quot;isTemplate&quot;:true,&quot;type&quot;:&quot;text&quot;}"/>
          <p:cNvSpPr txBox="1"/>
          <p:nvPr/>
        </p:nvSpPr>
        <p:spPr>
          <a:xfrm rot="0" flipH="0" flipV="0">
            <a:off x="857250" y="2686050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剩下的是活的对象定义、跑着的管道与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、被统一的口径、被继承的密级、客户自己能维护的运维手册——那这个项目就做对了。</a:t>
            </a:r>
            <a:r>
              <a:rPr lang="en-US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什么都不剩，那再厚的蓝图也只是另一堆没落地的纸。</a:t>
            </a:r>
            <a:endParaRPr/>
          </a:p>
        </p:txBody>
      </p:sp>
      <p:sp>
        <p:nvSpPr>
          <p:cNvPr id="3633" name=""/>
          <p:cNvSpPr/>
          <p:nvPr/>
        </p:nvSpPr>
        <p:spPr>
          <a:xfrm rot="0" flipH="0" flipV="0">
            <a:off x="857250" y="3028950"/>
            <a:ext cx="104775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3634" name="" descr="{&quot;isTemplate&quot;:true,&quot;type&quot;:&quot;text&quot;}"/>
          <p:cNvSpPr txBox="1"/>
          <p:nvPr/>
        </p:nvSpPr>
        <p:spPr>
          <a:xfrm rot="0" flipH="0" flipV="0">
            <a:off x="990600" y="3124200"/>
            <a:ext cx="1021080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FBA15C"/>
                </a:solidFill>
                <a:latin typeface="Microsoft YaHei"/>
                <a:ea typeface="Microsoft YaHei"/>
              </a:rPr>
              <a:t>这一句能同时区分</a:t>
            </a:r>
            <a:r>
              <a:rPr lang="en-US" sz="938">
                <a:solidFill>
                  <a:srgbClr val="FBA15C"/>
                </a:solidFill>
                <a:latin typeface="Microsoft YaHei"/>
                <a:ea typeface="Microsoft YaHei"/>
              </a:rPr>
              <a:t xml:space="preserve"> FDE </a:t>
            </a:r>
            <a:r>
              <a:rPr lang="zh-CN" sz="938">
                <a:solidFill>
                  <a:srgbClr val="FBA15C"/>
                </a:solidFill>
                <a:latin typeface="Microsoft YaHei"/>
                <a:ea typeface="Microsoft YaHei"/>
              </a:rPr>
              <a:t>与顾问、产品经理、开发经理——他们交付的都不是「环境里剩下的东西」。</a:t>
            </a:r>
            <a:endParaRPr/>
          </a:p>
        </p:txBody>
      </p:sp>
      <p:sp>
        <p:nvSpPr>
          <p:cNvPr id="3635" name=""/>
          <p:cNvSpPr/>
          <p:nvPr/>
        </p:nvSpPr>
        <p:spPr>
          <a:xfrm rot="0" flipH="0" flipV="0">
            <a:off x="609600" y="3581400"/>
            <a:ext cx="174307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36" name=""/>
          <p:cNvSpPr/>
          <p:nvPr/>
        </p:nvSpPr>
        <p:spPr>
          <a:xfrm rot="0" flipH="0" flipV="0">
            <a:off x="609600" y="3581400"/>
            <a:ext cx="1743075" cy="1428750"/>
          </a:xfrm>
          <a:custGeom>
            <a:pathLst>
              <a:path w="183" h="150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37" name="" descr="{&quot;isTemplate&quot;:true,&quot;type&quot;:&quot;text&quot;}"/>
          <p:cNvSpPr txBox="1"/>
          <p:nvPr/>
        </p:nvSpPr>
        <p:spPr>
          <a:xfrm rot="0" flipH="0" flipV="0">
            <a:off x="723900" y="358140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38" name="" descr="{&quot;isTemplate&quot;:true,&quot;type&quot;:&quot;text&quot;}"/>
          <p:cNvSpPr txBox="1"/>
          <p:nvPr/>
        </p:nvSpPr>
        <p:spPr>
          <a:xfrm rot="0" flipH="0" flipV="0">
            <a:off x="723900" y="3810000"/>
            <a:ext cx="1514475" cy="1000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是交付模型</a:t>
            </a:r>
            <a:endParaRPr/>
          </a:p>
        </p:txBody>
      </p:sp>
      <p:sp>
        <p:nvSpPr>
          <p:cNvPr id="3639" name="" descr="{&quot;isTemplate&quot;:true,&quot;type&quot;:&quot;text&quot;}"/>
          <p:cNvSpPr txBox="1"/>
          <p:nvPr/>
        </p:nvSpPr>
        <p:spPr>
          <a:xfrm rot="0" flipH="0" flipV="0">
            <a:off x="723900" y="4810125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不是职级</a:t>
            </a:r>
            <a:endParaRPr/>
          </a:p>
        </p:txBody>
      </p:sp>
      <p:sp>
        <p:nvSpPr>
          <p:cNvPr id="3640" name=""/>
          <p:cNvSpPr/>
          <p:nvPr/>
        </p:nvSpPr>
        <p:spPr>
          <a:xfrm rot="0" flipH="0" flipV="0">
            <a:off x="2457450" y="3581400"/>
            <a:ext cx="174307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41" name=""/>
          <p:cNvSpPr/>
          <p:nvPr/>
        </p:nvSpPr>
        <p:spPr>
          <a:xfrm rot="0" flipH="0" flipV="0">
            <a:off x="2457450" y="3581400"/>
            <a:ext cx="1743075" cy="1428750"/>
          </a:xfrm>
          <a:custGeom>
            <a:pathLst>
              <a:path w="183" h="150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42" name="" descr="{&quot;isTemplate&quot;:true,&quot;type&quot;:&quot;text&quot;}"/>
          <p:cNvSpPr txBox="1"/>
          <p:nvPr/>
        </p:nvSpPr>
        <p:spPr>
          <a:xfrm rot="0" flipH="0" flipV="0">
            <a:off x="2571750" y="358140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43" name="" descr="{&quot;isTemplate&quot;:true,&quot;type&quot;:&quot;text&quot;}"/>
          <p:cNvSpPr txBox="1"/>
          <p:nvPr/>
        </p:nvSpPr>
        <p:spPr>
          <a:xfrm rot="0" flipH="0" flipV="0">
            <a:off x="2571750" y="3810000"/>
            <a:ext cx="1514475" cy="1000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Echo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Delta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一对</a:t>
            </a:r>
            <a:endParaRPr/>
          </a:p>
        </p:txBody>
      </p:sp>
      <p:sp>
        <p:nvSpPr>
          <p:cNvPr id="3644" name="" descr="{&quot;isTemplate&quot;:true,&quot;type&quot;:&quot;text&quot;}"/>
          <p:cNvSpPr txBox="1"/>
          <p:nvPr/>
        </p:nvSpPr>
        <p:spPr>
          <a:xfrm rot="0" flipH="0" flipV="0">
            <a:off x="2571750" y="4810125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缺一不可</a:t>
            </a:r>
            <a:endParaRPr/>
          </a:p>
        </p:txBody>
      </p:sp>
      <p:sp>
        <p:nvSpPr>
          <p:cNvPr id="3645" name=""/>
          <p:cNvSpPr/>
          <p:nvPr/>
        </p:nvSpPr>
        <p:spPr>
          <a:xfrm rot="0" flipH="0" flipV="0">
            <a:off x="4305300" y="3581400"/>
            <a:ext cx="174307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46" name=""/>
          <p:cNvSpPr/>
          <p:nvPr/>
        </p:nvSpPr>
        <p:spPr>
          <a:xfrm rot="0" flipH="0" flipV="0">
            <a:off x="4305300" y="3581400"/>
            <a:ext cx="1743075" cy="1428750"/>
          </a:xfrm>
          <a:custGeom>
            <a:pathLst>
              <a:path w="183" h="150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47" name="" descr="{&quot;isTemplate&quot;:true,&quot;type&quot;:&quot;text&quot;}"/>
          <p:cNvSpPr txBox="1"/>
          <p:nvPr/>
        </p:nvSpPr>
        <p:spPr>
          <a:xfrm rot="0" flipH="0" flipV="0">
            <a:off x="4419600" y="358140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48" name="" descr="{&quot;isTemplate&quot;:true,&quot;type&quot;:&quot;text&quot;}"/>
          <p:cNvSpPr txBox="1"/>
          <p:nvPr/>
        </p:nvSpPr>
        <p:spPr>
          <a:xfrm rot="0" flipH="0" flipV="0">
            <a:off x="4419600" y="3810000"/>
            <a:ext cx="1514475" cy="1000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先本体后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3649" name="" descr="{&quot;isTemplate&quot;:true,&quot;type&quot;:&quot;text&quot;}"/>
          <p:cNvSpPr txBox="1"/>
          <p:nvPr/>
        </p:nvSpPr>
        <p:spPr>
          <a:xfrm rot="0" flipH="0" flipV="0">
            <a:off x="4419600" y="4810125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顺序不可颠倒</a:t>
            </a:r>
            <a:endParaRPr/>
          </a:p>
        </p:txBody>
      </p:sp>
      <p:sp>
        <p:nvSpPr>
          <p:cNvPr id="3650" name=""/>
          <p:cNvSpPr/>
          <p:nvPr/>
        </p:nvSpPr>
        <p:spPr>
          <a:xfrm rot="0" flipH="0" flipV="0">
            <a:off x="6153150" y="3581400"/>
            <a:ext cx="1733550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51" name=""/>
          <p:cNvSpPr/>
          <p:nvPr/>
        </p:nvSpPr>
        <p:spPr>
          <a:xfrm rot="0" flipH="0" flipV="0">
            <a:off x="6153150" y="3581400"/>
            <a:ext cx="1733550" cy="1428750"/>
          </a:xfrm>
          <a:custGeom>
            <a:pathLst>
              <a:path w="182" h="150">
                <a:moveTo>
                  <a:pt x="178" y="0"/>
                </a:moveTo>
                <a:cubicBezTo>
                  <a:pt x="180" y="0"/>
                  <a:pt x="182" y="2"/>
                  <a:pt x="182" y="4"/>
                </a:cubicBezTo>
                <a:cubicBezTo>
                  <a:pt x="182" y="3"/>
                  <a:pt x="181" y="3"/>
                  <a:pt x="18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52" name="" descr="{&quot;isTemplate&quot;:true,&quot;type&quot;:&quot;text&quot;}"/>
          <p:cNvSpPr txBox="1"/>
          <p:nvPr/>
        </p:nvSpPr>
        <p:spPr>
          <a:xfrm rot="0" flipH="0" flipV="0">
            <a:off x="6267450" y="358140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653" name="" descr="{&quot;isTemplate&quot;:true,&quot;type&quot;:&quot;text&quot;}"/>
          <p:cNvSpPr txBox="1"/>
          <p:nvPr/>
        </p:nvSpPr>
        <p:spPr>
          <a:xfrm rot="0" flipH="0" flipV="0">
            <a:off x="6267450" y="3810000"/>
            <a:ext cx="1504950" cy="1000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交付即生产环境</a:t>
            </a:r>
            <a:endParaRPr/>
          </a:p>
        </p:txBody>
      </p:sp>
      <p:sp>
        <p:nvSpPr>
          <p:cNvPr id="3654" name="" descr="{&quot;isTemplate&quot;:true,&quot;type&quot;:&quot;text&quot;}"/>
          <p:cNvSpPr txBox="1"/>
          <p:nvPr/>
        </p:nvSpPr>
        <p:spPr>
          <a:xfrm rot="0" flipH="0" flipV="0">
            <a:off x="6267450" y="4810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不是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3655" name=""/>
          <p:cNvSpPr/>
          <p:nvPr/>
        </p:nvSpPr>
        <p:spPr>
          <a:xfrm rot="0" flipH="0" flipV="0">
            <a:off x="7991475" y="3581400"/>
            <a:ext cx="174307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56" name=""/>
          <p:cNvSpPr/>
          <p:nvPr/>
        </p:nvSpPr>
        <p:spPr>
          <a:xfrm rot="0" flipH="0" flipV="0">
            <a:off x="7991475" y="3581400"/>
            <a:ext cx="1743075" cy="1428750"/>
          </a:xfrm>
          <a:custGeom>
            <a:pathLst>
              <a:path w="183" h="150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57" name="" descr="{&quot;isTemplate&quot;:true,&quot;type&quot;:&quot;text&quot;}"/>
          <p:cNvSpPr txBox="1"/>
          <p:nvPr/>
        </p:nvSpPr>
        <p:spPr>
          <a:xfrm rot="0" flipH="0" flipV="0">
            <a:off x="8105775" y="358140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658" name="" descr="{&quot;isTemplate&quot;:true,&quot;type&quot;:&quot;text&quot;}"/>
          <p:cNvSpPr txBox="1"/>
          <p:nvPr/>
        </p:nvSpPr>
        <p:spPr>
          <a:xfrm rot="0" flipH="0" flipV="0">
            <a:off x="8105775" y="3810000"/>
            <a:ext cx="1514475" cy="1000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经验必须回流</a:t>
            </a:r>
            <a:endParaRPr/>
          </a:p>
        </p:txBody>
      </p:sp>
      <p:sp>
        <p:nvSpPr>
          <p:cNvPr id="3659" name="" descr="{&quot;isTemplate&quot;:true,&quot;type&quot;:&quot;text&quot;}"/>
          <p:cNvSpPr txBox="1"/>
          <p:nvPr/>
        </p:nvSpPr>
        <p:spPr>
          <a:xfrm rot="0" flipH="0" flipV="0">
            <a:off x="8105775" y="4810125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否则等于没做</a:t>
            </a:r>
            <a:endParaRPr/>
          </a:p>
        </p:txBody>
      </p:sp>
      <p:sp>
        <p:nvSpPr>
          <p:cNvPr id="3660" name=""/>
          <p:cNvSpPr/>
          <p:nvPr/>
        </p:nvSpPr>
        <p:spPr>
          <a:xfrm rot="0" flipH="0" flipV="0">
            <a:off x="9839325" y="3581400"/>
            <a:ext cx="1743075" cy="142875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61" name=""/>
          <p:cNvSpPr/>
          <p:nvPr/>
        </p:nvSpPr>
        <p:spPr>
          <a:xfrm rot="0" flipH="0" flipV="0">
            <a:off x="9839325" y="3581400"/>
            <a:ext cx="1743075" cy="1428750"/>
          </a:xfrm>
          <a:custGeom>
            <a:pathLst>
              <a:path w="183" h="150">
                <a:moveTo>
                  <a:pt x="179" y="0"/>
                </a:moveTo>
                <a:cubicBezTo>
                  <a:pt x="181" y="0"/>
                  <a:pt x="183" y="2"/>
                  <a:pt x="183" y="4"/>
                </a:cubicBezTo>
                <a:cubicBezTo>
                  <a:pt x="183" y="3"/>
                  <a:pt x="182" y="3"/>
                  <a:pt x="18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7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62" name="" descr="{&quot;isTemplate&quot;:true,&quot;type&quot;:&quot;text&quot;}"/>
          <p:cNvSpPr txBox="1"/>
          <p:nvPr/>
        </p:nvSpPr>
        <p:spPr>
          <a:xfrm rot="0" flipH="0" flipV="0">
            <a:off x="9953625" y="358140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663" name="" descr="{&quot;isTemplate&quot;:true,&quot;type&quot;:&quot;text&quot;}"/>
          <p:cNvSpPr txBox="1"/>
          <p:nvPr/>
        </p:nvSpPr>
        <p:spPr>
          <a:xfrm rot="0" flipH="0" flipV="0">
            <a:off x="9953625" y="3810000"/>
            <a:ext cx="1514475" cy="1000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边界由交付物定</a:t>
            </a:r>
            <a:endParaRPr/>
          </a:p>
        </p:txBody>
      </p:sp>
      <p:sp>
        <p:nvSpPr>
          <p:cNvPr id="3664" name="" descr="{&quot;isTemplate&quot;:true,&quot;type&quot;:&quot;text&quot;}"/>
          <p:cNvSpPr txBox="1"/>
          <p:nvPr/>
        </p:nvSpPr>
        <p:spPr>
          <a:xfrm rot="0" flipH="0" flipV="0">
            <a:off x="9953625" y="4810125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与三个老角色</a:t>
            </a:r>
            <a:endParaRPr/>
          </a:p>
        </p:txBody>
      </p:sp>
      <p:sp>
        <p:nvSpPr>
          <p:cNvPr id="3665" name=""/>
          <p:cNvSpPr/>
          <p:nvPr/>
        </p:nvSpPr>
        <p:spPr>
          <a:xfrm rot="0" flipH="0" flipV="0">
            <a:off x="609600" y="5105400"/>
            <a:ext cx="19812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66" name="" descr="{&quot;isTemplate&quot;:true,&quot;type&quot;:&quot;text&quot;}"/>
          <p:cNvSpPr txBox="1"/>
          <p:nvPr/>
        </p:nvSpPr>
        <p:spPr>
          <a:xfrm rot="0" flipH="0" flipV="0">
            <a:off x="752475" y="5229225"/>
            <a:ext cx="1695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可以从明天开始做</a:t>
            </a:r>
            <a:endParaRPr/>
          </a:p>
        </p:txBody>
      </p:sp>
      <p:sp>
        <p:nvSpPr>
          <p:cNvPr id="3667" name="" descr="{&quot;isTemplate&quot;:true,&quot;type&quot;:&quot;text&quot;}"/>
          <p:cNvSpPr txBox="1"/>
          <p:nvPr/>
        </p:nvSpPr>
        <p:spPr>
          <a:xfrm rot="0" flipH="0" flipV="0">
            <a:off x="752475" y="5410200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38" b="1">
                <a:solidFill>
                  <a:srgbClr val="FBA15C"/>
                </a:solidFill>
                <a:latin typeface="Microsoft YaHei"/>
                <a:ea typeface="Microsoft YaHei"/>
              </a:rPr>
              <a:t>给手上客户挑一个最痛的场景</a:t>
            </a:r>
            <a:endParaRPr/>
          </a:p>
        </p:txBody>
      </p:sp>
      <p:sp>
        <p:nvSpPr>
          <p:cNvPr id="3668" name=""/>
          <p:cNvSpPr/>
          <p:nvPr/>
        </p:nvSpPr>
        <p:spPr>
          <a:xfrm rot="0" flipH="0" flipV="0">
            <a:off x="2705100" y="5105400"/>
            <a:ext cx="2886075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69" name="" descr="{&quot;isTemplate&quot;:true,&quot;type&quot;:&quot;text&quot;}"/>
          <p:cNvSpPr txBox="1"/>
          <p:nvPr/>
        </p:nvSpPr>
        <p:spPr>
          <a:xfrm rot="0" flipH="0" flipV="0">
            <a:off x="2838450" y="52387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3670" name="" descr="{&quot;isTemplate&quot;:true,&quot;type&quot;:&quot;text&quot;}"/>
          <p:cNvSpPr txBox="1"/>
          <p:nvPr/>
        </p:nvSpPr>
        <p:spPr>
          <a:xfrm rot="0" flipH="0" flipV="0">
            <a:off x="2838450" y="54292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先追决策链，不谈方案</a:t>
            </a:r>
            <a:endParaRPr/>
          </a:p>
        </p:txBody>
      </p:sp>
      <p:sp>
        <p:nvSpPr>
          <p:cNvPr id="3671" name=""/>
          <p:cNvSpPr/>
          <p:nvPr/>
        </p:nvSpPr>
        <p:spPr>
          <a:xfrm rot="0" flipH="0" flipV="0">
            <a:off x="5705475" y="5105400"/>
            <a:ext cx="287655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72" name="" descr="{&quot;isTemplate&quot;:true,&quot;type&quot;:&quot;text&quot;}"/>
          <p:cNvSpPr txBox="1"/>
          <p:nvPr/>
        </p:nvSpPr>
        <p:spPr>
          <a:xfrm rot="0" flipH="0" flipV="0">
            <a:off x="5838825" y="523875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3673" name="" descr="{&quot;isTemplate&quot;:true,&quot;type&quot;:&quot;text&quot;}"/>
          <p:cNvSpPr txBox="1"/>
          <p:nvPr/>
        </p:nvSpPr>
        <p:spPr>
          <a:xfrm rot="0" flipH="0" flipV="0">
            <a:off x="5838825" y="5429250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两周边跑通一个场景</a:t>
            </a:r>
            <a:endParaRPr/>
          </a:p>
        </p:txBody>
      </p:sp>
      <p:sp>
        <p:nvSpPr>
          <p:cNvPr id="3674" name=""/>
          <p:cNvSpPr/>
          <p:nvPr/>
        </p:nvSpPr>
        <p:spPr>
          <a:xfrm rot="0" flipH="0" flipV="0">
            <a:off x="8696325" y="5105400"/>
            <a:ext cx="2886075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75" name="" descr="{&quot;isTemplate&quot;:true,&quot;type&quot;:&quot;text&quot;}"/>
          <p:cNvSpPr txBox="1"/>
          <p:nvPr/>
        </p:nvSpPr>
        <p:spPr>
          <a:xfrm rot="0" flipH="0" flipV="0">
            <a:off x="8829675" y="5238750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43A17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3676" name="" descr="{&quot;isTemplate&quot;:true,&quot;type&quot;:&quot;text&quot;}"/>
          <p:cNvSpPr txBox="1"/>
          <p:nvPr/>
        </p:nvSpPr>
        <p:spPr>
          <a:xfrm rot="0" flipH="0" flipV="0">
            <a:off x="8829675" y="54292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十二项打勾，签完再走</a:t>
            </a:r>
            <a:endParaRPr/>
          </a:p>
        </p:txBody>
      </p:sp>
      <p:sp>
        <p:nvSpPr>
          <p:cNvPr id="367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78" name=""/>
          <p:cNvSpPr/>
          <p:nvPr/>
        </p:nvSpPr>
        <p:spPr>
          <a:xfrm rot="0" flipH="0" flipV="0">
            <a:off x="609600" y="5934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79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FDE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680" name="" descr="{&quot;isTemplate&quot;:true,&quot;type&quot;:&quot;text&quot;}"/>
          <p:cNvSpPr txBox="1"/>
          <p:nvPr/>
        </p:nvSpPr>
        <p:spPr>
          <a:xfrm rot="0" flipH="0" flipV="0">
            <a:off x="11125200" y="59150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60 / 60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2026-10-13T12:07:13Z</dcterms:created>
  <dcterms:modified xsi:type="dcterms:W3CDTF">2026-10-13T12:07:13Z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{"AIGC":{"Label":"1","ContentProducer":"00119111010856365494821B355","ProduceID":"8bc70ce0cb724cbf847002bb0da26bb9","ReservedCode1":"","ContentPropagator":"00119111010856365494821B355","PropagateID":"8bc70ce0cb724cbf847002bb0da26bb9","ReservedCode2":""}}</vt:lpwstr>
  </property>
</Properties>
</file>