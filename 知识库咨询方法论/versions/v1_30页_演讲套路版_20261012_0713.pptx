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各位好，这套企业架构咨询方法论我们已经出过六册：数据架构、业务架构、应用架构、技术架构，加上本体和 Agent。今天要补的第七册，是知识库。</a:t>
            </a:r>
          </a:p>
          <a:p>
            <a:endParaRPr lang="zh-CN"/>
          </a:p>
          <a:p>
            <a:r>
              <a:rPr lang="zh-CN" sz="1200" dirty="0"/>
              <a:t>之所以要单独成册，理由很直接：这两年几乎每个企业都在建知识库，但绝大多数建成之后没人敢用——因为使用者不知道它给的答案是不是现行有效的，也不知道该找谁确认。这不是技术问题，是架构问题，因为它没回答「哪条知识算数」。</a:t>
            </a:r>
          </a:p>
          <a:p>
            <a:endParaRPr lang="zh-CN"/>
          </a:p>
          <a:p>
            <a:r>
              <a:rPr lang="zh-CN" sz="1200" dirty="0"/>
              <a:t>这一册三十页，结构上和前几册一样：方法、内容、模板三段式落地，前面加一篇立论和一页 Approach 总览，后面加一篇结语。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先看整体结构。</a:t>
            </a:r>
          </a:p>
          <a:p>
            <a:endParaRPr lang="zh-CN"/>
          </a:p>
          <a:p>
            <a:r>
              <a:rPr lang="zh-CN" sz="1200" dirty="0"/>
              <a:t>第一部分先把知识库本身讲清楚：它到底是什么、由哪五个部分组成、检索的三代做法、三类检索上下文、成熟度四级，以及责任怎么分。</a:t>
            </a:r>
          </a:p>
          <a:p>
            <a:endParaRPr lang="zh-CN"/>
          </a:p>
          <a:p>
            <a:r>
              <a:rPr lang="zh-CN" sz="1200" dirty="0"/>
              <a:t>第二部分是这一册的重点，八页，专门讲知识库、Ontology、Agent 这三者的关系。这三个词过去两年被混着谈，沟通成本非常高，这一部分的作用就是把它们拆开。</a:t>
            </a:r>
          </a:p>
          <a:p>
            <a:endParaRPr lang="zh-CN"/>
          </a:p>
          <a:p>
            <a:r>
              <a:rPr lang="zh-CN" sz="1200" dirty="0"/>
              <a:t>第三部分回到 4A，讲知识库作为业务应用时它的四层架构各自变成什么。</a:t>
            </a:r>
          </a:p>
          <a:p>
            <a:endParaRPr lang="zh-CN"/>
          </a:p>
          <a:p>
            <a:r>
              <a:rPr lang="zh-CN" sz="1200" dirty="0"/>
              <a:t>第四部分讲工程与治理：五道闸门、五类失败模式、可信度评测，以及从个人文档到企业知识资产的四步演进。</a:t>
            </a:r>
          </a:p>
          <a:p>
            <a:endParaRPr lang="zh-CN"/>
          </a:p>
          <a:p>
            <a:r>
              <a:rPr lang="zh-CN" sz="1200" dirty="0"/>
              <a:t>右上角这张图说明这本册子在系列里的位置：DA、BA、AA、TA 是方法底座，本体是汇流点，Agent 是消费知识与语义的这一端，知识库则负责往上供给非结构化的那部分。和上一册的衔接点在这里——Agent 册回答「它被允许做什么」，知识库册回答「它依据什么」。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这一页是全册的立论。</a:t>
            </a:r>
          </a:p>
          <a:p>
            <a:endParaRPr lang="zh-CN"/>
          </a:p>
          <a:p>
            <a:r>
              <a:rPr lang="zh-CN" sz="1200" dirty="0"/>
              <a:t>企业里能检索出来的东西其实分三类：模型参数里的知识、业务系统里的数据、知识库里的知识。这三类的可信度完全不同。</a:t>
            </a:r>
          </a:p>
          <a:p>
            <a:endParaRPr lang="zh-CN"/>
          </a:p>
          <a:p>
            <a:r>
              <a:rPr lang="zh-CN" sz="1200" dirty="0"/>
              <a:t>模型参数里的知识是通用常识和统计规律，它不知道你公司的口径，而且会编，且编得很自信。业务系统里的数据是实时的、结构化的、可审计的，但它只含记录不含判断。知识库里的知识是制度、方案、经验、案例，它有人负责、有时效、能引用——前提是有人治理。</a:t>
            </a:r>
          </a:p>
          <a:p>
            <a:endParaRPr lang="zh-CN"/>
          </a:p>
          <a:p>
            <a:r>
              <a:rPr lang="zh-CN" sz="1200" dirty="0"/>
              <a:t>所以知识库真正要回答的是四个问题：哪条算数、谁说了算、什么时候过期、凭什么引用。这四个问题一个都不是技术问题，但一个都绕不过去。</a:t>
            </a:r>
          </a:p>
          <a:p>
            <a:endParaRPr lang="zh-CN"/>
          </a:p>
          <a:p>
            <a:r>
              <a:rPr lang="zh-CN" sz="1200" dirty="0"/>
              <a:t>底下这句话是本册的立场：知识库不是把文档都倒进向量库。向量检索只是它最后一公里的实现方式，不是它的定义。企业在这一层偷懒，代价会在 Agent 上线三个月后集中出现，因为 Agent 会把互相矛盾的知识自信地拼在一起。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这是这一册的 Approach 页，七个阶段加每一步的产出物。</a:t>
            </a:r>
          </a:p>
          <a:p>
            <a:endParaRPr lang="zh-CN"/>
          </a:p>
          <a:p>
            <a:r>
              <a:rPr lang="zh-CN" sz="1200" dirty="0"/>
              <a:t>前七个阶段可以迭代，但顺序上的依赖是硬约束。</a:t>
            </a:r>
          </a:p>
          <a:p>
            <a:endParaRPr lang="zh-CN"/>
          </a:p>
          <a:p>
            <a:r>
              <a:rPr lang="zh-CN" sz="1200" dirty="0"/>
              <a:t>阶段一盘点知识资产、定义要服务的场景，产出是资产清单和场景清单。阶段二定口径、清冲突，产出是口径字典和冲突台账。这一步最容易被跳过，跳过之后的典型表现是同一件事在不同库里说法不同。</a:t>
            </a:r>
          </a:p>
          <a:p>
            <a:endParaRPr lang="zh-CN"/>
          </a:p>
          <a:p>
            <a:r>
              <a:rPr lang="zh-CN" sz="1200" dirty="0"/>
              <a:t>阶段三设计切片规则与实体抽取，产出是切片规范和抽取规则表。阶段四设计权限模型与时效台账。阶段五设计检索策略与评测集，注意顺序——先定验收线再建库，不要建完再想怎么评。阶段六试运行调优。阶段七上线评审并转入生命周期治理。</a:t>
            </a:r>
          </a:p>
          <a:p>
            <a:endParaRPr lang="zh-CN"/>
          </a:p>
          <a:p>
            <a:r>
              <a:rPr lang="zh-CN" sz="1200" dirty="0"/>
              <a:t>底下三条硬规则：先治理再建库，口径不清就不要先上向量库；先只读后写回，先做检索与引用再谈写回；先有评测再扩域，没有评测集不扩知识域。这三条违背了，后面都是在放大返工。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进入第一部分，主题是知识库本身。</a:t>
            </a:r>
          </a:p>
          <a:p>
            <a:endParaRPr lang="zh-CN"/>
          </a:p>
          <a:p>
            <a:r>
              <a:rPr lang="zh-CN" sz="1200" dirty="0"/>
              <a:t>这一部分六页。核心观点一句话：向量检索只是知识库的最后一公里，不是它的定义。</a:t>
            </a:r>
          </a:p>
          <a:p>
            <a:endParaRPr lang="zh-CN"/>
          </a:p>
          <a:p>
            <a:r>
              <a:rPr lang="zh-CN" sz="1200" dirty="0"/>
              <a:t>先说为什么把它单独立册。企业里做知识库，往往把它当成一个技术活——买个向量库、写个切片脚本、接个问答接口。技术部分确实做完了，但决定这套系统能不能被信任的三件事——口径、时效、权限——一件都没人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先把定义说清楚。知识库有四个角色。</a:t>
            </a:r>
          </a:p>
          <a:p>
            <a:endParaRPr lang="zh-CN"/>
          </a:p>
          <a:p>
            <a:r>
              <a:rPr lang="zh-CN" sz="1200" dirty="0"/>
              <a:t>采集者负责把散落在文档、系统、邮件、群聊、会议纪要里的内容，变成可索引的单元。加工者负责切片、抽取实体与关系、补口径标注，让每个片段能独立成立。服务方负责以检索上下文的形式供给 Agent 与应用，并保证引用可追。</a:t>
            </a:r>
          </a:p>
          <a:p>
            <a:endParaRPr lang="zh-CN"/>
          </a:p>
          <a:p>
            <a:r>
              <a:rPr lang="zh-CN" sz="1200" dirty="0"/>
              <a:t>第四个角色最关键：治理者。这个角色负责定口径、管时效、管权限、管下架，决定哪条知识算数。</a:t>
            </a:r>
          </a:p>
          <a:p>
            <a:endParaRPr lang="zh-CN"/>
          </a:p>
          <a:p>
            <a:r>
              <a:rPr lang="zh-CN" sz="1200" dirty="0"/>
              <a:t>这里要说一个比较重的判断：企业建知识库普遍只建了前两个角色，所以一年之后库里全是互相矛盾的旧文档。原因是采集和加工有明确产出物和技术工种，好分工也好考核；治理没有技术产出物，它的产出是「一道让大家放弃旧文档的决议」，这件事没人愿意认领。</a:t>
            </a:r>
          </a:p>
          <a:p>
            <a:endParaRPr lang="zh-CN"/>
          </a:p>
          <a:p>
            <a:r>
              <a:rPr lang="zh-CN" sz="1200" dirty="0"/>
              <a:t>最下面这三个问题可以当场问客户：同一个问题两个部门问，答出来的数一样吗；三个月前的制度还有人在按它执行吗；一条答案能不能十秒内点开到它依据的那份文件第几页。这三问答不上来，就是文档堆不是知识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这一页是知识库的五个组成部分，每一层都有各自的失守方式。</a:t>
            </a:r>
          </a:p>
          <a:p>
            <a:endParaRPr lang="zh-CN"/>
          </a:p>
          <a:p>
            <a:r>
              <a:rPr lang="zh-CN" sz="1200" dirty="0"/>
              <a:t>L1 知识源：制度、方案、案例、工单、邮件、纪要。失守方式是源没登记，出了问题找不到人。</a:t>
            </a:r>
          </a:p>
          <a:p>
            <a:endParaRPr lang="zh-CN"/>
          </a:p>
          <a:p>
            <a:r>
              <a:rPr lang="zh-CN" sz="1200" dirty="0"/>
              <a:t>L2 切片层：把内容切成能独立成立的最小单元。失守方式是切碎了语义，片段看不懂。</a:t>
            </a:r>
          </a:p>
          <a:p>
            <a:endParaRPr lang="zh-CN"/>
          </a:p>
          <a:p>
            <a:r>
              <a:rPr lang="zh-CN" sz="1200" dirty="0"/>
              <a:t>L3 实体层：抽出对象、属性、关系，挂到本体上。失守是只有文本没有结构，永远只能做语义匹配。</a:t>
            </a:r>
          </a:p>
          <a:p>
            <a:endParaRPr lang="zh-CN"/>
          </a:p>
          <a:p>
            <a:r>
              <a:rPr lang="zh-CN" sz="1200" dirty="0"/>
              <a:t>L4 索引层：向量索引加关键词索引加元数据过滤。失守是只有向量，精确编号和术语查不准。</a:t>
            </a:r>
          </a:p>
          <a:p>
            <a:endParaRPr lang="zh-CN"/>
          </a:p>
          <a:p>
            <a:r>
              <a:rPr lang="zh-CN" sz="1200" dirty="0"/>
              <a:t>L5 治理层：口径、时效、权限、责任人。失守是知识过期冲突、越权检索。</a:t>
            </a:r>
          </a:p>
          <a:p>
            <a:endParaRPr lang="zh-CN"/>
          </a:p>
          <a:p>
            <a:r>
              <a:rPr lang="zh-CN" sz="1200" dirty="0"/>
              <a:t>这一页想强调的是左下角：切片层是知识库最重要的设计决策。固定字数切片是最省事也最糟的做法，它会把一个完整判断从中间截断。比如「本项目须经」被切开，模型根本不知道须经谁批。实践中的判断标准很简单——如果人类读者需要靠上下文才能看懂这个片段，那它就不合格。</a:t>
            </a:r>
          </a:p>
          <a:p>
            <a:endParaRPr lang="zh-CN"/>
          </a:p>
          <a:p>
            <a:r>
              <a:rPr lang="zh-CN" sz="1200" dirty="0"/>
              <a:t>右下角讲索引层，三种检索能力各管一段，顺序必须是先元数据过滤缩小范围，再混合检索排序，最后才交给模型。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这一页讲检索的三代做法。</a:t>
            </a:r>
          </a:p>
          <a:p>
            <a:endParaRPr lang="zh-CN"/>
          </a:p>
          <a:p>
            <a:r>
              <a:rPr lang="zh-CN" sz="1200" dirty="0"/>
              <a:t>第一代 RAG，检索增强生成。从文档找相关片段塞进提示词。解决了「模型不知道你们公司的事」，但检索错就答错，也无法回答「所以该怎么做」。</a:t>
            </a:r>
          </a:p>
          <a:p>
            <a:endParaRPr lang="zh-CN"/>
          </a:p>
          <a:p>
            <a:r>
              <a:rPr lang="zh-CN" sz="1200" dirty="0"/>
              <a:t>第二代 RAG 加工具调用。除了读文档还能调函数查库、做精确计算。数字不再靠模型算，可靠性明显上升。但读到数据没有权限约束，模型也不知道什么能改。</a:t>
            </a:r>
          </a:p>
          <a:p>
            <a:endParaRPr lang="zh-CN"/>
          </a:p>
          <a:p>
            <a:r>
              <a:rPr lang="zh-CN" sz="1200" dirty="0"/>
              <a:t>第三代 OAG，本体增强生成。本体提供对象、逻辑和 Action，模型只在授权范围内取数与行动。答案锚定在业务事实和确定性逻辑上，可解释、可审计、可闭环。代价是对本体质量要求高，前期投入大。</a:t>
            </a:r>
          </a:p>
          <a:p>
            <a:endParaRPr lang="zh-CN"/>
          </a:p>
          <a:p>
            <a:r>
              <a:rPr lang="zh-CN" sz="1200" dirty="0"/>
              <a:t>中间这三条硬约束建议在客户面前念一遍，这是本册最该被写进架构文档的三句话：模型不能直接访问工具，它只能提出要用哪个工具，由平台在发起调用的那个用户的权限内执行；写回必须经由 Action，即使函数里已经写了写入动作，只要不是从 Action 里执行，变更就不会生效；读取控制不等于输出控制，行列级访问控制只过滤读进提示词的数据，不覆盖模型输出，也不覆盖写回。</a:t>
            </a:r>
          </a:p>
          <a:p>
            <a:endParaRPr lang="zh-CN"/>
          </a:p>
          <a:p>
            <a:r>
              <a:rPr lang="zh-CN" sz="1200" dirty="0"/>
              <a:t>选型建议在右下角：纯文档问答用第一代就够，涉及数字和接口用第二代，一旦要让 AI 参与决策闭环或者答案必须可审计，直接上第三代。不要用第一代的成本去换第三代的场景。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这一页讲三类检索上下文，这是 Palantir 官方文档里的划分，也是目前最实用的一种分法。</a:t>
            </a:r>
          </a:p>
          <a:p>
            <a:endParaRPr lang="zh-CN"/>
          </a:p>
          <a:p>
            <a:r>
              <a:rPr lang="zh-CN" sz="1200" dirty="0"/>
              <a:t>本体上下文，从本体对象里取事实：对象、属性、关系、指标。它有两种模式：静态输入是全量对象类型，动态输入是过滤后的对象集作为应用变量传进来。适合取数、对口径、判断现在是什么状态。不适合需要主观判断或流程性说明的事。</a:t>
            </a:r>
          </a:p>
          <a:p>
            <a:endParaRPr lang="zh-CN"/>
          </a:p>
          <a:p>
            <a:r>
              <a:rPr lang="zh-CN" sz="1200" dirty="0"/>
              <a:t>文档上下文，从文档里取文本片段，带出处。也有两种模式：全文模式把整篇给模型，相关片段模式是语义搜 K 个最相关片段。适合制度条款、方案说明、案例复盘。不适合需要精确数字和最新状态的场景。</a:t>
            </a:r>
          </a:p>
          <a:p>
            <a:endParaRPr lang="zh-CN"/>
          </a:p>
          <a:p>
            <a:r>
              <a:rPr lang="zh-CN" sz="1200" dirty="0"/>
              <a:t>函数上下文，用户自己写检索逻辑，每次查询现场执行。适合内置检索不满足的任何场景，比如关键词加语义混合、跨库联合、自定义排序。不适合团队里没人能维护这段逻辑的情况。</a:t>
            </a:r>
          </a:p>
          <a:p>
            <a:endParaRPr lang="zh-CN"/>
          </a:p>
          <a:p>
            <a:r>
              <a:rPr lang="zh-CN" sz="1200" dirty="0"/>
              <a:t>中间有两个必须显式做的设计动作。一是声明对象属性白名单——不要把对象所有属性都塞给模型，可打印的属性要挑着给，既省 token 也减少误引。二是声明库清单与用途。</a:t>
            </a:r>
          </a:p>
          <a:p>
            <a:endParaRPr lang="zh-CN"/>
          </a:p>
          <a:p>
            <a:r>
              <a:rPr lang="zh-CN" sz="1200" dirty="0"/>
              <a:t>右下角解释为什么要做「文档的文档」：库一多，模型就不知道该查哪一个。做法是给每个库单独写一份说明，写清它覆盖什么范围、什么时候该查它，然后把这些说明本身也纳入可检索范围。模型先读说明，再决定进哪个库。库少于五个可以先不做，超过十个不做必然出现查错库和漏查库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这一页是知识成熟度四级，用来避免投资错配。</a:t>
            </a:r>
          </a:p>
          <a:p>
            <a:endParaRPr lang="zh-CN"/>
          </a:p>
          <a:p>
            <a:r>
              <a:rPr lang="zh-CN" sz="1200" dirty="0"/>
              <a:t>L1 网盘级，文档堆在一起，能搜到标题。L2 可检索级，有切片有索引，能问答了，但答案没引用、库之间互相矛盾。L3 可信级，每条知识有责任人和时效，能溯源。L4 可决策级，知识与本体打通，能支撑判断与行动。</a:t>
            </a:r>
          </a:p>
          <a:p>
            <a:endParaRPr lang="zh-CN"/>
          </a:p>
          <a:p>
            <a:r>
              <a:rPr lang="zh-CN" sz="1200" dirty="0"/>
              <a:t>最后一列写的是每个级别下由谁负责。这一列比前面的描述更重要，因为它直接对应成本：L1 和 L2 有人兼职管就行，L3 要求每个知识域有明确责任人，L4 要求业务专家加架构师加治理委员会都到位。</a:t>
            </a:r>
          </a:p>
          <a:p>
            <a:endParaRPr lang="zh-CN"/>
          </a:p>
          <a:p>
            <a:r>
              <a:rPr lang="zh-CN" sz="1200" dirty="0"/>
              <a:t>中间这句话是这一页最想说的：大多数企业停在 L2，却按 L4 的要求投预算，这是知识库项目最常见的错配。</a:t>
            </a:r>
          </a:p>
          <a:p>
            <a:endParaRPr lang="zh-CN"/>
          </a:p>
          <a:p>
            <a:r>
              <a:rPr lang="zh-CN" sz="1200" dirty="0"/>
              <a:t>下面左边讲跳级的真实代价：从 L2 直接上 L4，最常见的失败不是技术不行，而是业务部门不愿意认领知识责任。第一阶段必须老老实实从 L2 做起，用「有引用」这个可感知的收益去换取业务方认领责任的动力。右边是建议节奏——先用一个业务域做到 L3，用它当样板去说服其他部门；L4 只在本体已成熟的领域做，因为没有本体的 L4 只是把矛盾放得更大。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这一页讲责任怎么分。</a:t>
            </a:r>
          </a:p>
          <a:p>
            <a:endParaRPr lang="zh-CN"/>
          </a:p>
          <a:p>
            <a:r>
              <a:rPr lang="zh-CN" sz="1200" dirty="0"/>
              <a:t>先看左边这份知识域责任人说明书，七栏。前面几栏大家都会想到，第七栏「不承担什么」是最容易被漏掉但最该写的。</a:t>
            </a:r>
          </a:p>
          <a:p>
            <a:endParaRPr lang="zh-CN"/>
          </a:p>
          <a:p>
            <a:r>
              <a:rPr lang="zh-CN" sz="1200" dirty="0"/>
              <a:t>知识库是跨部门产物，没有明确的免责边界，它就会变成谁都可以质疑、谁都不认领的活。把技术故障、模型生成质量、数据接入问题的责任明确切给对应角色，知识责任人才愿意签字。</a:t>
            </a:r>
          </a:p>
          <a:p>
            <a:endParaRPr lang="zh-CN"/>
          </a:p>
          <a:p>
            <a:r>
              <a:rPr lang="zh-CN" sz="1200" dirty="0"/>
              <a:t>右边是四类责任乘四种动作的矩阵。定口径和下架这两项必须落在业务侧，不能放在平台侧。这是最常见的一个错位：平台侧觉得自己最懂数据，于是把口径裁定也接过去了，结果是平台侧定的口径没人认。</a:t>
            </a:r>
          </a:p>
          <a:p>
            <a:endParaRPr lang="zh-CN"/>
          </a:p>
          <a:p>
            <a:r>
              <a:rPr lang="zh-CN" sz="1200" dirty="0"/>
              <a:t>最下面三个落地动作：把「知识准确性」写进业务部门的年度考核；建知识治理委员会，每月过一次失效清单；把知识域责任人名单写进知识库首页，让使用方知道该找谁提异议。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进入第二部分，知识库、Ontology、Agent 三者关系。这是这一册的重点，一共八页。</a:t>
            </a:r>
          </a:p>
          <a:p>
            <a:endParaRPr lang="zh-CN"/>
          </a:p>
          <a:p>
            <a:r>
              <a:rPr lang="zh-CN" sz="1200" dirty="0"/>
              <a:t>之所以要专门讲，是因为这三个词过去两年被混着谈。客户说「我们要上知识库」，问下去发现他想要的是本体；客户说「Agent 查不到知识」，实际问题是他没建治理机制。边界不清，项目做到一半一定会返工。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这一页是三者的总览，一句话各自划清。</a:t>
            </a:r>
          </a:p>
          <a:p>
            <a:endParaRPr lang="zh-CN"/>
          </a:p>
          <a:p>
            <a:r>
              <a:rPr lang="zh-CN" sz="1200" dirty="0"/>
              <a:t>知识库回答「这件事过去是怎么做的、规定是什么」，提供材料与出处，把非结构化变成可引用的单元。它是上游。</a:t>
            </a:r>
          </a:p>
          <a:p>
            <a:endParaRPr lang="zh-CN"/>
          </a:p>
          <a:p>
            <a:r>
              <a:rPr lang="zh-CN" sz="1200" dirty="0"/>
              <a:t>Ontology 回答「现在是什么状态、它们是什么关系」，提供结构与口径，把材料变成语义模型。它是中枢。</a:t>
            </a:r>
          </a:p>
          <a:p>
            <a:endParaRPr lang="zh-CN"/>
          </a:p>
          <a:p>
            <a:r>
              <a:rPr lang="zh-CN" sz="1200" dirty="0"/>
              <a:t>Agent 回答「接下来该做什么、谁来做」，提供判断与行动，把语义和材料变成决策。它是下游。</a:t>
            </a:r>
          </a:p>
          <a:p>
            <a:endParaRPr lang="zh-CN"/>
          </a:p>
          <a:p>
            <a:r>
              <a:rPr lang="zh-CN" sz="1200" dirty="0"/>
              <a:t>中间这条供给链路建议完整念一遍：文档工单邮件经过知识库的切片加实体加出处，进入本体成为对象加口径加 Action，再由 Agent 拿到上下文加判断加权限，最后经由 Action 完成受控变更加审计。每一步的产出物都是下一步的输入，中间任何一步偷懒，最后一步的输出就不可信。</a:t>
            </a:r>
          </a:p>
          <a:p>
            <a:endParaRPr lang="zh-CN"/>
          </a:p>
          <a:p>
            <a:r>
              <a:rPr lang="zh-CN" sz="1200" dirty="0"/>
              <a:t>最下面三个误解是需要在客户面前当场纠正的：说「知识库就是向量库」，要回应向量检索是最后一公里的实现方式不是知识治理；说「有本体就不用知识库了」，本体存的是结构化事实，流程说明和经验判断仍然要靠知识库；说「Agent 自己会查知识」，Agent 只能请求调用，权限与范围必须由架构预先给定。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先看知识库和 Ontology 怎么分工，这张表按四个维度拆：承载对象、表达形式、时间属性、权限粒度。</a:t>
            </a:r>
          </a:p>
          <a:p>
            <a:endParaRPr lang="zh-CN"/>
          </a:p>
          <a:p>
            <a:r>
              <a:rPr lang="zh-CN" sz="1200" dirty="0"/>
              <a:t>承载对象上，知识库装文档方案案例工单纪要经验，Ontology 装对象类型属性关系指标定义。</a:t>
            </a:r>
          </a:p>
          <a:p>
            <a:endParaRPr lang="zh-CN"/>
          </a:p>
          <a:p>
            <a:r>
              <a:rPr lang="zh-CN" sz="1200" dirty="0"/>
              <a:t>表达形式上，知识库是自然语言加切片片段加出处坐标，Ontology 是结构化字段加类型约束加计算式。</a:t>
            </a:r>
          </a:p>
          <a:p>
            <a:endParaRPr lang="zh-CN"/>
          </a:p>
          <a:p>
            <a:r>
              <a:rPr lang="zh-CN" sz="1200" dirty="0"/>
              <a:t>时间属性上，知识库存生效期失效期版本历史，Ontology 存当前有效快照与变更记录。</a:t>
            </a:r>
          </a:p>
          <a:p>
            <a:endParaRPr lang="zh-CN"/>
          </a:p>
          <a:p>
            <a:r>
              <a:rPr lang="zh-CN" sz="1200" dirty="0"/>
              <a:t>权限粒度上，知识库是文档级可见范围与密级标记，Ontology 是对象级和属性级安全策略。</a:t>
            </a:r>
          </a:p>
          <a:p>
            <a:endParaRPr lang="zh-CN"/>
          </a:p>
          <a:p>
            <a:r>
              <a:rPr lang="zh-CN" sz="1200" dirty="0"/>
              <a:t>最右这一列是每一条交界处最易出事的地方，都不是理论推演，是实际会发生的：同一个概念在两边各有一套名字；文本里的口径没进结构化字段被当成不一致反复返工；本体只存了当前值，审计答不出一周前的口径；文档侧标了密级，检索后只读不脱敏。</a:t>
            </a:r>
          </a:p>
          <a:p>
            <a:endParaRPr lang="zh-CN"/>
          </a:p>
          <a:p>
            <a:r>
              <a:rPr lang="zh-CN" sz="1200" dirty="0"/>
              <a:t>底下这一条链路的四个通道是知识库往本体里灌数据的方式：抽取对象、补全属性、挂接出处、回写判定。其中挂接出处这一条最容易被跳过，但它是本册反复强调的可信基础——给对象属性挂上「依据哪份文档第几页」的引用，后面所有溯源能力都建立在这上面。四个通道都要经由 Action，不能直连。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这一页讲知识库和 Agent 的分工，重点是知识库不能有哪四种能力。</a:t>
            </a:r>
          </a:p>
          <a:p>
            <a:endParaRPr lang="zh-CN"/>
          </a:p>
          <a:p>
            <a:r>
              <a:rPr lang="zh-CN" sz="1200" dirty="0"/>
              <a:t>不做最终判断——候选规则可以有倾向，但不能有裁定权。不绕过本体改数据——写回必须经由 Action。不参与权限裁定——可见范围由本体安全策略决定。不替组织背书——入库不代表这个做法被正式批准。</a:t>
            </a:r>
          </a:p>
          <a:p>
            <a:endParaRPr lang="zh-CN"/>
          </a:p>
          <a:p>
            <a:r>
              <a:rPr lang="zh-CN" sz="1200" dirty="0"/>
              <a:t>最下面这句话是为什么必须划这条线：一旦知识库能裁定，它就会被当成权威源；而它装的其实是从各处抄来的、有时过期、有时互相矛盾的文本。这是把「可查」误当「可信」的典型事故。</a:t>
            </a:r>
          </a:p>
          <a:p>
            <a:endParaRPr lang="zh-CN"/>
          </a:p>
          <a:p>
            <a:r>
              <a:rPr lang="zh-CN" sz="1200" dirty="0"/>
              <a:t>右边是知识库交给 Agent 的上下文契约，五项：来源标识、可信等级、时效信息、预算占用、不可信标记。缺一项，Agent 的输出就不可控。</a:t>
            </a:r>
          </a:p>
          <a:p>
            <a:endParaRPr lang="zh-CN"/>
          </a:p>
          <a:p>
            <a:r>
              <a:rPr lang="zh-CN" sz="1200" dirty="0"/>
              <a:t>特别说明第二项可信等级。知识库要给每条内容打上「正式制度、部门惯例、个人经验」这样的标记，模型据此调整语气——引用正式制度和引用同事的经验，说法的确定性是不一样的，这一点很多实现里没做。</a:t>
            </a:r>
          </a:p>
          <a:p>
            <a:endParaRPr lang="zh-CN"/>
          </a:p>
          <a:p>
            <a:r>
              <a:rPr lang="zh-CN" sz="1200" dirty="0"/>
              <a:t>下面 Agent 侧对应三项义务：只用带出处的内容回答，没有出处就说没找到依据而不是推测；引用要指到具体位置，不能只写「见某制度」；发现内容冲突时必须显式告知并请求裁定，不允许自己选一个继续往下走。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这一页讲引用与溯源，这是知识库唯一的硬指标。</a:t>
            </a:r>
          </a:p>
          <a:p>
            <a:endParaRPr lang="zh-CN"/>
          </a:p>
          <a:p>
            <a:r>
              <a:rPr lang="zh-CN" sz="1200" dirty="0"/>
              <a:t>先看左边这个不可接受的回答：说按规定该先取得审批，相关制度见《工程变更管理办法》。问题在哪？没说哪一条、没说第几页、不知道是不是最新版、读完还是不知道怎么做。这种回答等于没回答，它把核实成本原样退给了使用者。</a:t>
            </a:r>
          </a:p>
          <a:p>
            <a:endParaRPr lang="zh-CN"/>
          </a:p>
          <a:p>
            <a:r>
              <a:rPr lang="zh-CN" sz="1200" dirty="0"/>
              <a:t>右边是合格的回答：结论、依据、时效、动作四段。该情况应先取得审批，依据第四章第 3.2 条，现行版本 2026-03 生效，这条要求变更前完成技术方案评审并留档；同时主动指出 2025 版同位置表述不同且已失效。四个段落缺一段都算不合格。</a:t>
            </a:r>
          </a:p>
          <a:p>
            <a:endParaRPr lang="zh-CN"/>
          </a:p>
          <a:p>
            <a:r>
              <a:rPr lang="zh-CN" sz="1200" dirty="0"/>
              <a:t>引用质量分四级。上线要求至少达到 L2 可定位。L0 无引用是纯生成出处靠猜；L1 有出处但指不到位置；L2 指到章节条款或页码；L3 可验证，一键回到原文并高亮该句，版本与生效期可见。</a:t>
            </a:r>
          </a:p>
          <a:p>
            <a:endParaRPr lang="zh-CN"/>
          </a:p>
          <a:p>
            <a:r>
              <a:rPr lang="zh-CN" sz="1200" dirty="0"/>
              <a:t>要做到 L3，库侧必须存三样：位置锚点、版本与生效期、稳定性标识。第三样特别要注意——定位偏移量在内容变更后可能失效，所以要能自动校验锚点还在不在，否则用户点开发现跳到了别的地方，信任就没了。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这一页是本册最硬的一条边界，建议在客户面前重点讲。</a:t>
            </a:r>
          </a:p>
          <a:p>
            <a:endParaRPr lang="zh-CN"/>
          </a:p>
          <a:p>
            <a:r>
              <a:rPr lang="zh-CN" sz="1200" dirty="0"/>
              <a:t>先看这条链路：从知识源到检索过滤到模型处理到模型输出，再到写回本体。前三步看起来很安全——密级文件、访问控制过滤、模型拿到的是已过滤内容。但从第四步开始就出事了：模型输出不再受原始过滤约束，写回本体也不受该过滤约束。</a:t>
            </a:r>
          </a:p>
          <a:p>
            <a:endParaRPr lang="zh-CN"/>
          </a:p>
          <a:p>
            <a:r>
              <a:rPr lang="zh-CN" sz="1200" dirty="0"/>
              <a:t>这就是很多系统的真实漏洞：行列级的访问控制，本质上只管「哪些数据被读进提示词」，它不处理「读进来的数据在输出时怎么办」，也不处理「模型基于这些数据做出的变更要不要拦」。</a:t>
            </a:r>
          </a:p>
          <a:p>
            <a:endParaRPr lang="zh-CN"/>
          </a:p>
          <a:p>
            <a:r>
              <a:rPr lang="zh-CN" sz="1200" dirty="0"/>
              <a:t>右边是两个补法。补法一是给内容本身打密级标记，让标记跟着走完整个链路——不是只在检索时查一次，而是标记跟着内容走。补法二是在输出侧和写回侧再各拦一次：敏感等级高于请求人的内容不允许出现在回答里；基于受限数据产生的变更必须降级或转人工确认；同时检索侧要留痕，记录本次调用了哪些库、过滤掉了多少条。</a:t>
            </a:r>
          </a:p>
          <a:p>
            <a:endParaRPr lang="zh-CN"/>
          </a:p>
          <a:p>
            <a:r>
              <a:rPr lang="zh-CN" sz="1200" dirty="0"/>
              <a:t>底下这条纪律建议原话讲给客户：凡是「读」进来有权限控制的地方，都必须问一句，出来的路上还有没有同样的控制。凡是没有回答的，一律按没有保护来处理。安全评审时这应该是第一张要看的架构图，而不是最后才想起来补的一条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这一页是知识供给链路的六个关口，每一关都有对应的失败表现。</a:t>
            </a:r>
          </a:p>
          <a:p>
            <a:endParaRPr lang="zh-CN"/>
          </a:p>
          <a:p>
            <a:r>
              <a:rPr lang="zh-CN" sz="1200" dirty="0"/>
              <a:t>第一关源登记，产出是来源系统、文档库和责任人清单，失败表现是库里有内容但不知道谁维护，出错找不到人。</a:t>
            </a:r>
          </a:p>
          <a:p>
            <a:endParaRPr lang="zh-CN"/>
          </a:p>
          <a:p>
            <a:r>
              <a:rPr lang="zh-CN" sz="1200" dirty="0"/>
              <a:t>第二关解析归一，产出是统一格式与正文提取，失败表现是扫描件表格 PDF 提不出正文，检索永远命中不了。</a:t>
            </a:r>
          </a:p>
          <a:p>
            <a:endParaRPr lang="zh-CN"/>
          </a:p>
          <a:p>
            <a:r>
              <a:rPr lang="zh-CN" sz="1200" dirty="0"/>
              <a:t>第三关切片，产出是切片单元加位置锚点，失败是切碎语义，命中半句话。</a:t>
            </a:r>
          </a:p>
          <a:p>
            <a:endParaRPr lang="zh-CN"/>
          </a:p>
          <a:p>
            <a:r>
              <a:rPr lang="zh-CN" sz="1200" dirty="0"/>
              <a:t>第四关实体抽取，产出是对象关系属性加出处挂接，失败是只有文本没有结构，跨库无法关联。</a:t>
            </a:r>
          </a:p>
          <a:p>
            <a:endParaRPr lang="zh-CN"/>
          </a:p>
          <a:p>
            <a:r>
              <a:rPr lang="zh-CN" sz="1200" dirty="0"/>
              <a:t>第五关治理，产出是口径字典、时效台账、密级标记，失败是新旧口径并存，答案看着自信但依据是废的。</a:t>
            </a:r>
          </a:p>
          <a:p>
            <a:endParaRPr lang="zh-CN"/>
          </a:p>
          <a:p>
            <a:r>
              <a:rPr lang="zh-CN" sz="1200" dirty="0"/>
              <a:t>第六关检索供给，产出是过滤策略加排序加上下文装配，失败是召回一堆弱相关内容，模型被噪声带偏。</a:t>
            </a:r>
          </a:p>
          <a:p>
            <a:endParaRPr lang="zh-CN"/>
          </a:p>
          <a:p>
            <a:r>
              <a:rPr lang="zh-CN" sz="1200" dirty="0"/>
              <a:t>下面这个排查顺序建议直接给到客户团队：答案不对时，从上游往下游查，不要从结果往回猜。先查第二关正文提出来没有，扫描件和表格是重灾区；再查第三关切片是否独立可读；再查第五关召回的几条之间口径是否互相矛盾、是否已失效；最后才查第六关召回排序。</a:t>
            </a:r>
          </a:p>
          <a:p>
            <a:endParaRPr lang="zh-CN"/>
          </a:p>
          <a:p>
            <a:r>
              <a:rPr lang="zh-CN" sz="1200" dirty="0"/>
              <a:t>最后一句是经验值：八成的「AI 答得不对」问题在第二关和第三关就暴露了，跟模型能力关系不大。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这一页讲写回本体的三种方式。它们的门槛和风险差别很大，不要一起规划。</a:t>
            </a:r>
          </a:p>
          <a:p>
            <a:endParaRPr lang="zh-CN"/>
          </a:p>
          <a:p>
            <a:r>
              <a:rPr lang="zh-CN" sz="1200" dirty="0"/>
              <a:t>方式一补充事实，把文档里已有的属性值补到对象上，比如合同扫描件里的签订日期回填到合同对象。前提是必须是文档里白纸黑字写着的，不做任何推断。门槛低，风险低，可以第一批就做。</a:t>
            </a:r>
          </a:p>
          <a:p>
            <a:endParaRPr lang="zh-CN"/>
          </a:p>
          <a:p>
            <a:r>
              <a:rPr lang="zh-CN" sz="1200" dirty="0"/>
              <a:t>方式二建立关联，从文本里识别对象之间的关系并建链，比如邮件里提到的张工与工单里的负责人是同一人。需要人工确认一次，之后同类自动。门槛和风险都是中等——错误的关系会误导后续检索。</a:t>
            </a:r>
          </a:p>
          <a:p>
            <a:endParaRPr lang="zh-CN"/>
          </a:p>
          <a:p>
            <a:r>
              <a:rPr lang="zh-CN" sz="1200" dirty="0"/>
              <a:t>方式三回写结论，把审批或判定结果写成本体的状态变更。必须由人或被授权的 Agent 发起，走 Action。门槛最高，风险最高，因为错了是业务状态错误，要谨慎做。</a:t>
            </a:r>
          </a:p>
          <a:p>
            <a:endParaRPr lang="zh-CN"/>
          </a:p>
          <a:p>
            <a:r>
              <a:rPr lang="zh-CN" sz="1200" dirty="0"/>
              <a:t>底下这条铁律值得重复一遍：无论哪种方式，写回都必须经由 Action，且必须由人或被授权的 Agent 发起。即使函数里已经写好了写入动作，只要不是从 Action 里执行，变更就不会生效。这条约束的价值在于，它强制让每一次知识写回都留下授权记录。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回到 4A。这是第三部分，讲知识库作为业务应用时它的四层架构。</a:t>
            </a:r>
          </a:p>
          <a:p>
            <a:endParaRPr lang="zh-CN"/>
          </a:p>
          <a:p>
            <a:r>
              <a:rPr lang="zh-CN" sz="1200" dirty="0"/>
              <a:t>先说前提：知识库是一个业务应用。判断标准很朴素——有没有明确的服务对象、有没有明确的责任人、有没有可度量的产出。满足这三条，它就该有完整的架构，而不是挂在某个技术组件下面。</a:t>
            </a:r>
          </a:p>
          <a:p>
            <a:endParaRPr lang="zh-CN"/>
          </a:p>
          <a:p>
            <a:r>
              <a:rPr lang="zh-CN" sz="1200" dirty="0"/>
              <a:t>六页内容：先是 4A 映射总览，然后分 BA、DA、AA、TA 四页。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这一页是知识库的 4A 映射总览。看第四列，这是知识库独有的那部分。</a:t>
            </a:r>
          </a:p>
          <a:p>
            <a:endParaRPr lang="zh-CN"/>
          </a:p>
          <a:p>
            <a:r>
              <a:rPr lang="zh-CN" sz="1200" dirty="0"/>
              <a:t>BA 那一行，传统是部门流程职责边界，知识库场景变成增加一类角色——知识域责任人，并对知识准确性直接负责，独有的是口径裁定权与入库否决权。</a:t>
            </a:r>
          </a:p>
          <a:p>
            <a:endParaRPr lang="zh-CN"/>
          </a:p>
          <a:p>
            <a:r>
              <a:rPr lang="zh-CN" sz="1200" dirty="0"/>
              <a:t>DA 那一行，传统是数据模型表结构指标口径，变成数据分三层：原文与切片、抽取出的实体与关系、出处与版本，独有的是时效性与版本血缘。</a:t>
            </a:r>
          </a:p>
          <a:p>
            <a:endParaRPr lang="zh-CN"/>
          </a:p>
          <a:p>
            <a:r>
              <a:rPr lang="zh-CN" sz="1200" dirty="0"/>
              <a:t>AA 那一行，传统是应用清单集成关系调用链，变成检索链路：过滤、混合检索、重排、装配，独有的是上下文装配契约。</a:t>
            </a:r>
          </a:p>
          <a:p>
            <a:endParaRPr lang="zh-CN"/>
          </a:p>
          <a:p>
            <a:r>
              <a:rPr lang="zh-CN" sz="1200" dirty="0"/>
              <a:t>TA 那一行，传统是运行环境中间件非功能指标，变成运行时多了向量索引、切片管道、重排服务、密级标记服务，独有的是召回质量与延迟的平衡。</a:t>
            </a:r>
          </a:p>
          <a:p>
            <a:endParaRPr lang="zh-CN"/>
          </a:p>
          <a:p>
            <a:r>
              <a:rPr lang="zh-CN" sz="1200" dirty="0"/>
              <a:t>中间这一块是知识库的五类服务对象。这里想说明一件事：不同服务对象对架构的要求完全不同。一线员工要的是找得到看得懂，业务专家要的是像不像对不对口，Agent 要的是预算可控引用可追，管理者要的是时效与冲突可见，审计要的是可复现可回溯。一个知识库想同时满足五类需求，往往五类都满足不好。所以要明确谁是第一服务对象。</a:t>
            </a:r>
          </a:p>
          <a:p>
            <a:endParaRPr lang="zh-CN"/>
          </a:p>
          <a:p>
            <a:r>
              <a:rPr lang="zh-CN" sz="1200" dirty="0"/>
              <a:t>底下这句落点：知识库多出来的那一层，和 Agent 多出来的那一层其实是同一件事——它不再只是存放，而是决定什么算数。谁来决定是 BA 里的责任人，决定的结果怎么落是 DA 里的口径与时效，决定的过程怎么被调用是 AA 里的装配契约，决定能不能一直做对是 TA 里的评测。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这一层是业务架构。先看左边一条知识的完整流转和每个环节的责任人。</a:t>
            </a:r>
          </a:p>
          <a:p>
            <a:endParaRPr lang="zh-CN"/>
          </a:p>
          <a:p>
            <a:r>
              <a:rPr lang="zh-CN" sz="1200" dirty="0"/>
              <a:t>产生，业务人员，在实际工作中形成经验与判断。沉淀，知识运营，整理成文，明确适用范围与边界。审核，知识域责任人，确认口径正确表述无歧义。入库，平台侧，切片、抽取、挂出处、打标记。应用，使用部门，在工作中引用并反馈是否好用。</a:t>
            </a:r>
          </a:p>
          <a:p>
            <a:endParaRPr lang="zh-CN"/>
          </a:p>
          <a:p>
            <a:r>
              <a:rPr lang="zh-CN" sz="1200" dirty="0"/>
              <a:t>这里最容易被跳过的是「沉淀」这一环。经验留在个人脑子里时效率最高但风险最大，人一走知识就断。把经验写下来是有成本的，这个成本必须被承认并算进部门预算，否则知识库永远是「有余力才做」的事。</a:t>
            </a:r>
          </a:p>
          <a:p>
            <a:endParaRPr lang="zh-CN"/>
          </a:p>
          <a:p>
            <a:r>
              <a:rPr lang="zh-CN" sz="1200" dirty="0"/>
              <a:t>右上这四类判断不能交给知识库：首次出现的例外、涉及取舍的利益相关方冲突、需要承担责任的决定、口径本身存疑的情况。特别注意最后一条——两处写的不一样的时候，要人裁定，而不是等系统随机挑一个继续走。</a:t>
            </a:r>
          </a:p>
          <a:p>
            <a:endParaRPr lang="zh-CN"/>
          </a:p>
          <a:p>
            <a:r>
              <a:rPr lang="zh-CN" sz="1200" dirty="0"/>
              <a:t>右下是使用方的反馈回路，三个必须收集的信号：找不到、不敢用、用了但错。这三个信号分别对应切片、标识、治理三类问题，必须分开归因。混在一起看就会得出「检索不准」这个错误结论，然后在检索上花三个月做无效优化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这一层是数据架构。知识的数据分三层。</a:t>
            </a:r>
          </a:p>
          <a:p>
            <a:endParaRPr lang="zh-CN"/>
          </a:p>
          <a:p>
            <a:r>
              <a:rPr lang="zh-CN" sz="1200" dirty="0"/>
              <a:t>L1 原文与切片层：原文正文保真不可改，切片单元加位置锚点，文档版本与生效期，密级标记与可见范围。这一层有个硬要求——原文必须与切片同时保存。只存切片，事后无法核对引用是否准确，出事了连依据都找不回来。</a:t>
            </a:r>
          </a:p>
          <a:p>
            <a:endParaRPr lang="zh-CN"/>
          </a:p>
          <a:p>
            <a:r>
              <a:rPr lang="zh-CN" sz="1200" dirty="0"/>
              <a:t>L2 实体与关系层：识别出的业务对象、对象属性与属性值、对象之间的关系、与本体的对应关系。这一层只放从原文能直接读出的内容，任何推断结论都应单独标记置信度。</a:t>
            </a:r>
          </a:p>
          <a:p>
            <a:endParaRPr lang="zh-CN"/>
          </a:p>
          <a:p>
            <a:r>
              <a:rPr lang="zh-CN" sz="1200" dirty="0"/>
              <a:t>L3 出处与版本层：每条内容指向来源位置，修订历史与失效标记，冲突记录与裁定结果，评测与使用反馈。这里有一条要注意——冲突记录不能删。留住「这里曾经有过两种说法」，比强行合一说成一个更有价值，因为强行合并之后没有人知道当初的分歧在哪。</a:t>
            </a:r>
          </a:p>
          <a:p>
            <a:endParaRPr lang="zh-CN"/>
          </a:p>
          <a:p>
            <a:r>
              <a:rPr lang="zh-CN" sz="1200" dirty="0"/>
              <a:t>中间这一块是十二项必建模元数据。少一项就有一类问题查不出来。这块建议直接当检查清单用：来源系统、文档标识、责任人、生效期、失效期、版本号、密级、可见范围、位置锚点、口径归属、置信度、关联对象。</a:t>
            </a:r>
          </a:p>
          <a:p>
            <a:endParaRPr lang="zh-CN"/>
          </a:p>
          <a:p>
            <a:r>
              <a:rPr lang="zh-CN" sz="1200" dirty="0"/>
              <a:t>其中最容易漏的是置信度。有了它，遇到弱相关内容时系统能主动降权或者不召回；没有它，系统只能靠语义相似度硬排。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这一层是应用架构，讲检索拓扑和上下文装配。</a:t>
            </a:r>
          </a:p>
          <a:p>
            <a:endParaRPr lang="zh-CN"/>
          </a:p>
          <a:p>
            <a:r>
              <a:rPr lang="zh-CN" sz="1200" dirty="0"/>
              <a:t>知识库对外只暴露一个能力：给定一个问题，装配出一段带出处的上下文。所以中间这四段链路就是这个能力的内部实现。</a:t>
            </a:r>
          </a:p>
          <a:p>
            <a:endParaRPr lang="zh-CN"/>
          </a:p>
          <a:p>
            <a:r>
              <a:rPr lang="zh-CN" sz="1200" dirty="0"/>
              <a:t>第一段过滤，先按权限、密级、时效、部门收窄范围。第二段召回，向量加关键词并行。第三段重排，按可信等级、时效、场景相关性打分排序。第四段装配，截断、压缩、补出处、组织成结构化上下文。</a:t>
            </a:r>
          </a:p>
          <a:p>
            <a:endParaRPr lang="zh-CN"/>
          </a:p>
          <a:p>
            <a:r>
              <a:rPr lang="zh-CN" sz="1200" dirty="0"/>
              <a:t>这个顺序不能颠倒。这里要特别强调最常见的错误——跳过第一步直接做第二步。先检索再过滤，等于把越权内容召回来了再想办法藏，这中间的任何一次日志输出都可能泄露。</a:t>
            </a:r>
          </a:p>
          <a:p>
            <a:endParaRPr lang="zh-CN"/>
          </a:p>
          <a:p>
            <a:r>
              <a:rPr lang="zh-CN" sz="1200" dirty="0"/>
              <a:t>左边这三张是三种编排方式。单库直检，一个问题只查一个域，适合边界清晰、库少的阶段，优点是可解释易调优。路由分发，先判断问题属于哪个域，库数量到十个以上必须做这一步，关键是路由错了后面全错。跨库联合，需要多个库交叉验证，关键必须去重与标冲突。</a:t>
            </a:r>
          </a:p>
          <a:p>
            <a:endParaRPr lang="zh-CN"/>
          </a:p>
          <a:p>
            <a:r>
              <a:rPr lang="zh-CN" sz="1200" dirty="0"/>
              <a:t>下面这六个字段是装配输出的必选项：内容片段、来源标识、位置锚点、可信等级、版本与生效期、预算占用。缺来源就没法溯源，缺可信等级就没法排序，缺预算占用就没法控制上下文消耗。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这一层是技术架构。</a:t>
            </a:r>
          </a:p>
          <a:p>
            <a:endParaRPr lang="zh-CN"/>
          </a:p>
          <a:p>
            <a:r>
              <a:rPr lang="zh-CN" sz="1200" dirty="0"/>
              <a:t>先看运行时组件，标「新」的五块是知识库特有的：解析管道、切片管道、实体抽取、重排服务、密级标记服务。相比传统应用，运行时面明显更大。</a:t>
            </a:r>
          </a:p>
          <a:p>
            <a:endParaRPr lang="zh-CN"/>
          </a:p>
          <a:p>
            <a:r>
              <a:rPr lang="zh-CN" sz="1200" dirty="0"/>
              <a:t>中间这四个指标是真正要盯的。召回率，问该找到的找到了吗，低召回的表现是答不全，排查时先查切片再查索引最后查过滤条件。准确率，问找到的是对的吗，低准确的表现是被噪声带偏，先看重排打分再看元数据过滤顺序。可溯源性，问能指回原文吗，低的表现是不敢用，先查位置锚点是否存了、是否失效。上下文占用，问每次检索花了多少预算，超了会挤掉本体事实，先查召回条数再看是否做了压缩。</a:t>
            </a:r>
          </a:p>
          <a:p>
            <a:endParaRPr lang="zh-CN"/>
          </a:p>
          <a:p>
            <a:r>
              <a:rPr lang="zh-CN" sz="1200" dirty="0"/>
              <a:t>右下这一块讲选型立场，这几句可以直接说给客户：先不谈选型，先把评测集做出来，再看哪个库能过线，没有评测集的选型讨论都是拍脑袋；别只看召回率，企业场景的瓶颈常在过滤与重排，不在向量库本身的检索质量；别忘了元数据，缺少可靠的元数据支撑，再好的向量库也做不了权限与时效过滤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进入第四部分，工程与治理。这一部分的观点是：能搜到不算上线，能被信任、能被追责、能被停用才算上线。</a:t>
            </a:r>
          </a:p>
          <a:p>
            <a:endParaRPr lang="zh-CN"/>
          </a:p>
          <a:p>
            <a:r>
              <a:rPr lang="zh-CN" sz="1200" dirty="0"/>
              <a:t>这一页是知识库的五道门。这五道门的好处是业务侧自己就能跑，不需要外部安全团队参与，但绝大多数单位没跑过。</a:t>
            </a:r>
          </a:p>
          <a:p>
            <a:endParaRPr lang="zh-CN"/>
          </a:p>
          <a:p>
            <a:r>
              <a:rPr lang="zh-CN" sz="1200" dirty="0"/>
              <a:t>时效门，往库里放一条三个月的旧制度，看是否还能被检索到。冲突门，故意造两条矛盾内容，看系统是合并、报错还是显式告知。权限门，用一个无权限账号检索受限内容，看是否能召回、是否能读出正文。溯源门，随机抽二十条引用，验证定位准确、版本正确、无死链。空值门，问一个库里确实没有的问题，看是编造还是明确说没找到。</a:t>
            </a:r>
          </a:p>
          <a:p>
            <a:endParaRPr lang="zh-CN"/>
          </a:p>
          <a:p>
            <a:r>
              <a:rPr lang="zh-CN" sz="1200" dirty="0"/>
              <a:t>通过线：时效门与权限门必须百分之百，一条不过就不许对内开放。冲突门要求系统必须显式告知冲突，不接受自行合并。溯源门抽样溯源率不低于百分之九十五。空值门要求无依据时必须明确说没找到，不接受「据推测」。</a:t>
            </a:r>
          </a:p>
          <a:p>
            <a:endParaRPr lang="zh-CN"/>
          </a:p>
          <a:p>
            <a:r>
              <a:rPr lang="zh-CN" sz="1200" dirty="0"/>
              <a:t>右下角想说第五道门最容易被忽略。企业里绝大多数幻觉不是出现在完全找不到还硬答，而是出现在有一条弱相关的内容、模型顺着它编。所以要专门测弱相关召回时的表现。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这一页是五类典型失败模式，每一类都给了设计阶段的对策。</a:t>
            </a:r>
          </a:p>
          <a:p>
            <a:endParaRPr lang="zh-CN"/>
          </a:p>
          <a:p>
            <a:r>
              <a:rPr lang="zh-CN" sz="1200" dirty="0"/>
              <a:t>过期与冲突，症状是答案自信但依据是废的，根因是没有时效台账、没有口径裁定人，对策是时效台账加责任人裁定权加检索前过滤失效版本。</a:t>
            </a:r>
          </a:p>
          <a:p>
            <a:endParaRPr lang="zh-CN"/>
          </a:p>
          <a:p>
            <a:r>
              <a:rPr lang="zh-CN" sz="1200" dirty="0"/>
              <a:t>孤岛，症状是同一个问题跨库就答不全，根因是库与库之间不通、没有统一实体，对策是统一实体层加跨库联合检索加去重。</a:t>
            </a:r>
          </a:p>
          <a:p>
            <a:endParaRPr lang="zh-CN"/>
          </a:p>
          <a:p>
            <a:r>
              <a:rPr lang="zh-CN" sz="1200" dirty="0"/>
              <a:t>权限泄漏，症状是检索到不该看的内容，根因是先检索后过滤或输出侧无控制，对策是检索前过滤加内容密级标记加输出侧再拦一次。</a:t>
            </a:r>
          </a:p>
          <a:p>
            <a:endParaRPr lang="zh-CN"/>
          </a:p>
          <a:p>
            <a:r>
              <a:rPr lang="zh-CN" sz="1200" dirty="0"/>
              <a:t>引用幻觉，症状是有引用但引错了或引了个不相干的，根因是切片没有位置锚点、重排只看相似度，对策是位置锚点必存加重排加入相关度与可信度打分。</a:t>
            </a:r>
          </a:p>
          <a:p>
            <a:endParaRPr lang="zh-CN"/>
          </a:p>
          <a:p>
            <a:r>
              <a:rPr lang="zh-CN" sz="1200" dirty="0"/>
              <a:t>无梯度评测，症状是只能说感觉还行没法回归，根因是没有评测集，改一版不知道是好是坏，对策是评测集与上线同步建设，改配置必须跑回归。</a:t>
            </a:r>
          </a:p>
          <a:p>
            <a:endParaRPr lang="zh-CN"/>
          </a:p>
          <a:p>
            <a:r>
              <a:rPr lang="zh-CN" sz="1200" dirty="0"/>
              <a:t>中间这句话是这一页的落点：五类里没有一类是模型不够强或向量库不够好造成的，全部是治理与设计问题。所以知识库项目做不下去，通常不是技术选型错，是没有人把口径、时效、权限、锚点、评测当成设计对象。</a:t>
            </a:r>
          </a:p>
          <a:p>
            <a:endParaRPr lang="zh-CN"/>
          </a:p>
          <a:p>
            <a:r>
              <a:rPr lang="zh-CN" sz="1200" dirty="0"/>
              <a:t>右下方说最省钱的干预点：在第一类和第五类上花的精力回报最高。第一类决定答案对不对，决定项目成败；第五类保证改完之后还对，决定项目能不能持续。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这一页讲可信度评测和回归机制。</a:t>
            </a:r>
          </a:p>
          <a:p>
            <a:endParaRPr lang="zh-CN"/>
          </a:p>
          <a:p>
            <a:r>
              <a:rPr lang="zh-CN" sz="1200" dirty="0"/>
              <a:t>左边五个维度，各有各的度量方式。正确性，看结论与官方口径是否一致，方法专家盲评一百条，门槛百分之百。完整性，看该说的要点说全了没，用要点召回清单逐条对，门槛百分之八十五。可溯源性，看引用能否指回原文，抽样验证定位准确率，门槛百分之九十五。时效性，看引用的是不是现行有效版本，检查召回内容命中失效版本的比例，门槛百分之百。拒答率，看找不到时有没有乱答，用无答案样本的编造比例来测，门槛百分之百。</a:t>
            </a:r>
          </a:p>
          <a:p>
            <a:endParaRPr lang="zh-CN"/>
          </a:p>
          <a:p>
            <a:r>
              <a:rPr lang="zh-CN" sz="1200" dirty="0"/>
              <a:t>中间这块讲评测集怎么建，给一个可行做法：从真实工作里捞两百条过去三个月被反复问的问题，让业务专家标出标准答案和依据应该在哪。这里有个关键提醒——一定要包含一部分库里根本没有答案的问题。这部分专门用来测拒答能力，否则评测集会虚假地好看，你会以为系统已经很准了。</a:t>
            </a:r>
          </a:p>
          <a:p>
            <a:endParaRPr lang="zh-CN"/>
          </a:p>
          <a:p>
            <a:r>
              <a:rPr lang="zh-CN" sz="1200" dirty="0"/>
              <a:t>右边这六个必须跑全量回归的变更。切片规则改了召回基线全变；加了新库会影响既有问题的路由判断；调整重排权重排序变了可溯源性可能下降；换嵌入模型向量空间完全不同；调整过滤条件可能误杀有效内容；大批量修订文档位置锚点可能失效。</a:t>
            </a:r>
          </a:p>
          <a:p>
            <a:endParaRPr lang="zh-CN"/>
          </a:p>
          <a:p>
            <a:r>
              <a:rPr lang="zh-CN" sz="1200" dirty="0"/>
              <a:t>最后两条运营纪律：评测集由业务侧维护不由技术侧维护，因为什么算答对只有业务能定义；每次回归结果要留档，包括退步的版本，这样质量问题能定位到具体哪一次变更。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这一页讲从个人文档到企业知识资产的四步。</a:t>
            </a:r>
          </a:p>
          <a:p>
            <a:endParaRPr lang="zh-CN"/>
          </a:p>
          <a:p>
            <a:r>
              <a:rPr lang="zh-CN" sz="1200" dirty="0"/>
              <a:t>第一步找得到，把散落的文档集中起来，能搜到标题和全文。第二步看得懂，解析归一加语义切片，回答有内容可用。第三步敢引用，有出处、有版本、有责任人，敢拿去做决策依据。第四步能联动，知识与本体打通，能被 Agent 调用并驱动动作。</a:t>
            </a:r>
          </a:p>
          <a:p>
            <a:endParaRPr lang="zh-CN"/>
          </a:p>
          <a:p>
            <a:r>
              <a:rPr lang="zh-CN" sz="1200" dirty="0"/>
              <a:t>每一行下面写了门槛和证据。门槛是无门槛的只有第一步，证据分别是搜得到率、正文提取率、溯源率、Agent 调用成功率。这里强调证据这个词——每一步都要有可度量的证据才允许往上走，不能靠感觉宣布我们已经有知识库了。</a:t>
            </a:r>
          </a:p>
          <a:p>
            <a:endParaRPr lang="zh-CN"/>
          </a:p>
          <a:p>
            <a:r>
              <a:rPr lang="zh-CN" sz="1200" dirty="0"/>
              <a:t>中间这一块讲每一步真正卡住项目的组织动作，这才是关键：找得到阶段要确定唯一存放位置并宣布散落副本一律作废；看得懂阶段要把解析质量纳入验收，不合格源不接入；敢引用阶段要让责任人签字并写进考核，否则永远停留在内部参考；能联动阶段要把知识写回必须经由 Action 写进变更评审。</a:t>
            </a:r>
          </a:p>
          <a:p>
            <a:endParaRPr lang="zh-CN"/>
          </a:p>
          <a:p>
            <a:r>
              <a:rPr lang="zh-CN" sz="1200" dirty="0"/>
              <a:t>左下这条忠告：不要在第二步就宣称我们有知识库了。搜得到和敢引用之间隔着整个治理体系，过早宣称会让使用者形成「答不出来就是库不全」的印象，而不是反馈问题。</a:t>
            </a:r>
          </a:p>
          <a:p>
            <a:endParaRPr lang="zh-CN"/>
          </a:p>
          <a:p>
            <a:r>
              <a:rPr lang="zh-CN" sz="1200" dirty="0"/>
              <a:t>右下这条也重要：允许退回上一级。指标连续退步或时效门不过关时，把范围缩回一个知识域重新做扎实，比挂着全公司知识库的名头持续产出不可信答案要好得多。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最后收一下。</a:t>
            </a:r>
          </a:p>
          <a:p>
            <a:endParaRPr lang="zh-CN"/>
          </a:p>
          <a:p>
            <a:r>
              <a:rPr lang="zh-CN" sz="1200" dirty="0"/>
              <a:t>这一册的核心主张是一句话：会存知识不算本事，知道哪条算数才是。</a:t>
            </a:r>
          </a:p>
          <a:p>
            <a:endParaRPr lang="zh-CN"/>
          </a:p>
          <a:p>
            <a:r>
              <a:rPr lang="zh-CN" sz="1200" dirty="0"/>
              <a:t>下面七册串成一条完整链路。数据架构解决先有治才有存，业务架构解决能力与组织解耦，应用架构解决数量增长带来的技术债，技术架构解决不押注单点技术，本体是四 A 的汇流点，Agent 是四 A 的新实践点，知识库也是四 A 的新实践点。</a:t>
            </a:r>
          </a:p>
          <a:p>
            <a:endParaRPr lang="zh-CN"/>
          </a:p>
          <a:p>
            <a:r>
              <a:rPr lang="zh-CN" sz="1200" dirty="0"/>
              <a:t>三个收束句。知识库决定 Agent 能知道多少，依据必须带出处否则答案无法被采信。本体决定知识怎么被理解，同一个词在两处解释，检索越准错得越离谱。方法论的价值是划出红线：哪条算数、谁说了算、何时过期、凭什么引用。</a:t>
            </a:r>
          </a:p>
          <a:p>
            <a:endParaRPr lang="zh-CN"/>
          </a:p>
          <a:p>
            <a:r>
              <a:rPr lang="zh-CN" sz="1200" dirty="0"/>
              <a:t>如果只带走一句话，就是这句：让 AI 会回答不算本事，让它说的每句话都能被追到出处、并且有人为那个出处负责——这才叫知识库。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423' }}&gt;&#10;  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6) 0%, rgba(250,79,36,0) 70%)' }} /&gt;&#10;&#10;    &lt;Box style={{ position: 'absolute', left: 88, top: 92, width: 1104 }}&gt;&#10;        &lt;Box style={{ flexDirection: 'row', alignItems: 'center', gap: 14 }}&gt;&#10;    &lt;Box style={{ width: 14, height: 14, background: '#FA4F24' }} /&gt;&#10;        &lt;Text style={{ fontSize: 15, color: 'rgba(255,255,255,0.5)', letterSpacing: 3 }}&gt;EA 企业架构咨询方法论· 第七册&lt;/Text&gt;&#10;   &lt;/Box&gt;&#10;        &lt;Text style={{ fontSize: 62, fontWeight: 'bold', color: '#FFFFFF', marginTop: 26, lineHeight: 1.15 }}&gt;&#10;   知识库&lt;span style={{ color: '#FA4F24' }}&gt;咨询方法论&lt;/span&gt;&#10;   &lt;/Text&gt;&#10;        &lt;Text style={{ fontSize: 19, color: 'rgba(255,255,255,0.72)', marginTop: 22, lineHeight: 1.6, width: 800 }}&gt;&#10;    知识库是 4A 架构的第七个实践点，它要回答的不是「怎么存」，而是「哪条知识算数、谁说了算、什么时候过期、凭什么引用」&#10;      &lt;/Text&gt;&#10;     &lt;Box style={{ width: 72, height: 5, background: '#FA4F24', marginTop: 30 }} /&gt;&#10;&#10;     &lt;Box style={{ flexDirection: 'row', gap: 10, marginTop: 34 }}&gt;&#10;  {['30 页', '四部分', '含Approach 七阶段', '含 KB × Ontology × Agent 三者关系'].map((t, i) =&gt; (&#10;     &lt;Box key={t} style={{ height: 32, borderRadius: 16, border: '1px solid rgba(255,255,255,0.22)', padding: '0 15px', flexDirection: 'row', alignItems: 'center' }}&gt;&#10;       &lt;Text style={{ fontSize: 13, color: 'rgba(255,255,255,0.78)' }}&gt;{t}&lt;/Text&gt;&#10;        &lt;/Box&gt;&#10;     ))}&#10;      &lt;/Box&gt;&#10;    &lt;/Box&gt;&#10;&#10;  &lt;Box style={{ position: 'absolute', left: 88, top: 566, flexDirection: 'row', gap: 40 }}&gt;&#10;      {[&#10;  { b: 'DA', t: '数据架构' },&#10;        { b: 'BA', t: '业务架构' },&#10;        { b: 'AA', t: '应用架构' },&#10;        { b: 'TA', t: '技术架构' },&#10;        { b: 'ONT', t: 'Ontology' },&#10;        { b: 'AGT', t: 'Agent' },&#10;   { b: 'KB', t: '知识库', c: '#FA4F24' },&#10;      ].map((x, i) =&gt; (&#10;        &lt;Box key={x.b} style={{ opacity: i === 6 ? 1 : 0.42 }}&gt;&#10;     &lt;Text style={{ fontSize: 17, fontWeight: 'bold', color: x.c || '#FFFFFF' }}&gt;{x.b}&lt;/Text&gt;&#10;          &lt;Text style={{ fontSize: 12, color: 'rgba(255,255,255,0.7)', marginTop: 3 }}&gt;{x.t}&lt;/Text&gt;&#10;     &lt;/Box&gt;&#10;      ))}&#10;    &lt;/Box&gt;&#10;&#10; &lt;Box style={{ position: 'absolute', right: 88, bottom: 46, flexDirection: 'row', alignItems: 'center', gap: 12 }}&gt;&#10;  &lt;Text style={{ fontSize: 14, color: 'rgba(255,255,255,0.5)' }}&gt;硕磐机密 · 知识库咨询方法论&lt;/Text&gt;&#10;      &lt;Text style={{ fontSize: 14, color: 'rgba(255,255,255,0.5)', marginLeft: 12 }}&gt;0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8953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876300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企业架构咨询方法论·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第七册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295400"/>
            <a:ext cx="10515600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知识库</a:t>
            </a:r>
            <a:r>
              <a:rPr lang="zh-CN" sz="465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324100"/>
            <a:ext cx="7620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知识库是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架构的第七个实践点，它要回答的不是「怎么存」，而是「哪条知识算数、谁说了算、什么时候过期、凭什么引用」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3305175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38200" y="3676650"/>
            <a:ext cx="6000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81075" y="375285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533525" y="3676650"/>
            <a:ext cx="65722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676400" y="37528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四部分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286000" y="3676650"/>
            <a:ext cx="14001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428875" y="37528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七阶段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3781425" y="3676650"/>
            <a:ext cx="23812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924300" y="375285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KB × Ontology × Agent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三者关系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19775" y="5391150"/>
            <a:ext cx="34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819775" y="56197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5391150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5619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676400" y="5391150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676400" y="5619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514600" y="5391150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514600" y="5619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352800" y="5391150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352800" y="56197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191000" y="5391150"/>
            <a:ext cx="523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0" y="5619750"/>
            <a:ext cx="523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095875" y="5391150"/>
            <a:ext cx="34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095875" y="56197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953500" y="62579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01 / 30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75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本册&lt;span style={{ color: '#FA4F24' }}&gt;结构&lt;/span&gt;：四部分，一条主线&#10;      &lt;/Text&gt;&#10;   &lt;Text style={{ fontSize: 20, color: '#8A8F99', marginTop: 8 }}&gt;&#10;   前两部分讲知识库本身与三方关系，第三部分回到 4A，第四部分讲治理与演进&#10;        &lt;/Text&gt;&#10;    &lt;/Box&gt;&#10;    &lt;Box style={{ height: 1, background: '#E8E8E8' }} /&gt;&#10;&#10;  &lt;Box style={{ paddingTop: 18, paddingBottom: 10, height: 479, flexDirection: 'row', gap: 12 }}&gt;&#10;      &lt;Box style={{ width: 632, flexDirection: 'column', gap: 8 }}&gt;&#10;      {[&#10;   { n: '序论 + 方法', p: '03-04', t: '为什么 4A 之后还要谈知识库；Approach 七阶段与每步产出物', c: '#0F1423' },&#10;          { n: 'PART 01', p: '05-11', t: '知识库是什么：四个角色、五个组成、三类检索上下文、四级成熟度、岗位与责任', c: '#FA4F24' },&#10;  { n: 'PART 02', p: '12-19', t: '知识库 × Ontology × Agent：三方分工、引用与溯源、权限传播、供给链路', c: '#F87D2F' },&#10;  { n: 'PART 03', p: '20-25', t: '知识库的 4A：映射总览，以及 BA / DA / AA / TA 各自变成什么', c: '#E0651A' },&#10;     { n: 'PART 04', p: '26-30', t: '工程与治理：五道门、五类失败、可信度评测、四步演进、结语', c: '#C43A17' },&#10;     ].map((it, i) =&gt; (&#10;       &lt;Box key={it.n} style={{ flex: 1, background: '#F7F7F8', borderRadius: 4, borderLeft: '4px solid ' + it.c, padding: '0 16px', flexDirection: 'row', alignItems: 'center', gap: 14 }}&gt;&#10;     &lt;Box style={{ width: 128 }}&gt;&#10;     &lt;Text style={{ fontSize: 15, fontWeight: 'bold', color: it.c }}&gt;{it.n}&lt;/Text&gt;&#10;     &lt;Text style={{ fontSize: 11, color: '#8A8F99', marginTop: 2 }}&gt;{it.p}&lt;/Text&gt;&#10;       &lt;/Box&gt;&#10;    &lt;Text style={{ fontSize: 13, color: '#3A4050', flex: 1, lineHeight: 1.45 }}&gt;{it.t}&lt;/Text&gt;&#10;     &lt;/Box&gt;&#10;          ))}&#10;  &lt;Box style={{ height: 66, background: '#0F1423', borderRadius: 4, padding: '0 16px', flexDirection: 'row', alignItems: 'center', gap: 14 }}&gt;&#10;      &lt;Text style={{ fontSize: 13, fontWeight: 'bold', color: '#FBA15C', width: 168 }}&gt;本册要回答的核心问题&lt;/Text&gt;&#10;      &lt;Text style={{ fontSize: 13, color: 'rgba(255,255,255,0.92)', flex: 1, lineHeight: 1.45 }}&gt;&#10;      一条知识从产生到被引用，中间要经过什么；为什么向量库不等于知识库；Agent 要用知识时，为什么不能绕过本体。&#10;   &lt;/Text&gt;&#10;   &lt;/Box&gt;&#10;  &lt;/Box&gt;&#10;&#10;  &lt;Box style={{ flex: 1, flexDirection: 'column', gap: 8 }}&gt;&#10;  &lt;Box style={{ height: 214, background: '#FFF3EE', borderRadius: 4, borderLeft: '4px solid #FA4F24', padding: '12px 16px', flexDirection: 'column' }}&gt;&#10;   &lt;Text style={{ fontSize: 15, fontWeight: 'bold', color: '#C43A17', marginBottom: 8 }}&gt;七册的关系：一条链路，不是七本独立册子&lt;/Text&gt;&#10;        {[&#10;    { b: 'DA / BA / AA / TA', t: '四层架构，方法底座', c: '#8A8F99' },&#10;      { b: 'Ontology', t: '语义与动力学合一，汇流点', c: '#F87D2F' },&#10;     { b: 'Agent', t: '有职权的角色，消费知识与语义', c: '#FA4F24' },&#10;        { b: '知识库', t: '非结构化知识的供给与治理', c: '#0F1423' },&#10;    ].map((it, i) =&gt; (&#10;          &lt;Box key={it.b} style={{ flex: 1, flexDirection: 'row', alignItems: 'center', gap: 10, borderTop: i === 0 ? 'none' : '1px solid #FBA15C' }}&gt;&#10;            &lt;Text style={{ fontSize: 13, fontWeight: 'bold', color: it.c, width: 132 }}&gt;{it.b}&lt;/Text&gt;&#10;          &lt;Text style={{ fontSize: 12, color: '#5A6072', flex: 1 }}&gt;{it.t}&lt;/Text&gt;&#10;        &lt;/Box&gt;&#10;        ))}&#10;  &lt;/Box&gt;&#10;      &lt;Box style={{ flex: 1, background: '#0F1423', borderRadius: 4, padding: '12px 16px', flexDirection: 'column', justifyContent: 'center' }}&gt;&#10;     &lt;Text style={{ fontSize: 14, fontWeight: 'bold', color: '#FBA15C' }}&gt;与 Agent 册的关系&lt;/Text&gt;&#10;   &lt;Text style={{ fontSize: 13, color: 'rgba(255,255,255,0.9)', marginTop: 8, lineHeight: 1.6 }}&gt;&#10;    Agent 册回答「它被允许做什么」，知识库册回答「它依据什么」。上下文规格书里的「来源、预算、时效、压缩、不可信标记」五项，都由这一册提供设计方法。&#10;        &lt;/Text&gt;&#10;      &lt;/Box&gt;&#10;   &lt;/Box&gt;&#10;    &lt;/Box&gt;&#10;&#10;  &lt;Box style={{ height: 58, flexDirection: 'row', alignItems: 'center', borderTop: '1px solid #E8E8E8' }}&gt;&#10;   &lt;Box style={{ width: 10, height: 10, background: '#FA4F24' }} /&gt;&#10;        &lt;Text style={{ fontSize: 13, color: '#8A8F99', marginLeft: 12 }}&gt;硕磐机密 · 知识库咨询方法论&lt;/Text&gt;&#10;   &lt;Text style={{ fontSize: 13, color: '#8A8F99', marginLeft: 'auto' }}&gt;0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结构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：四部分，一条主线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前两部分讲知识库本身与三方关系，第三部分回到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4A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，第四部分讲治理与演进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647700" y="1323975"/>
            <a:ext cx="60198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647700" y="1323975"/>
            <a:ext cx="6019800" cy="638175"/>
          </a:xfrm>
          <a:custGeom>
            <a:pathLst>
              <a:path w="63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00100" y="14859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序论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03-04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2152650" y="1533525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为什么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之后还要谈知识库；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七阶段与每步产出物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647700" y="2038350"/>
            <a:ext cx="60198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647700" y="2038350"/>
            <a:ext cx="6019800" cy="742950"/>
          </a:xfrm>
          <a:custGeom>
            <a:pathLst>
              <a:path w="632" h="78">
                <a:moveTo>
                  <a:pt x="4" y="78"/>
                </a:moveTo>
                <a:cubicBezTo>
                  <a:pt x="2" y="78"/>
                  <a:pt x="0" y="76"/>
                  <a:pt x="0" y="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800100" y="22479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05-11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2152650" y="2190750"/>
            <a:ext cx="43243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知识库是什么：四个角色、五个组成、三类检索上下文、四级成熟度、岗位与责任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647700" y="2857500"/>
            <a:ext cx="60198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1" name=""/>
          <p:cNvSpPr/>
          <p:nvPr/>
        </p:nvSpPr>
        <p:spPr>
          <a:xfrm rot="0" flipH="0" flipV="0">
            <a:off x="647700" y="2857500"/>
            <a:ext cx="6019800" cy="638175"/>
          </a:xfrm>
          <a:custGeom>
            <a:pathLst>
              <a:path w="63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00100" y="301942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87D2F"/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800100" y="32099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12-19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2152650" y="3067050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知识库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× Ontology × Agent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：三方分工、引用与溯源、权限传播、供给链路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47700" y="3571875"/>
            <a:ext cx="60198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647700" y="3571875"/>
            <a:ext cx="6019800" cy="628650"/>
          </a:xfrm>
          <a:custGeom>
            <a:pathLst>
              <a:path w="632" h="66">
                <a:moveTo>
                  <a:pt x="4" y="66"/>
                </a:move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6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0651A"/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00100" y="391477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20-25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2152650" y="3781425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知识库的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4A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：映射总览，以及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/ DA / AA / TA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各自变成什么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47700" y="4276725"/>
            <a:ext cx="60198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647700" y="4276725"/>
            <a:ext cx="6019800" cy="638175"/>
          </a:xfrm>
          <a:custGeom>
            <a:pathLst>
              <a:path w="63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00100" y="4438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00100" y="462915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26-30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2152650" y="4486275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工程与治理：五道门、五类失败、可信度评测、四步演进、结语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09600" y="4991100"/>
            <a:ext cx="60198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62000" y="522922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本册要回答的核心问题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2495550" y="5086350"/>
            <a:ext cx="3981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一条知识从产生到被引用，中间要经过什么；为什么向量库不等于知识库；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要用知识时，为什么不能绕过本体。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6781800" y="1323975"/>
            <a:ext cx="4838700" cy="2038350"/>
          </a:xfrm>
          <a:prstGeom prst="roundRect">
            <a:avLst>
              <a:gd name="adj" fmla="val 186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09" name=""/>
          <p:cNvSpPr/>
          <p:nvPr/>
        </p:nvSpPr>
        <p:spPr>
          <a:xfrm rot="0" flipH="0" flipV="0">
            <a:off x="6781800" y="1323975"/>
            <a:ext cx="4838700" cy="2038350"/>
          </a:xfrm>
          <a:custGeom>
            <a:pathLst>
              <a:path w="508" h="214">
                <a:moveTo>
                  <a:pt x="4" y="214"/>
                </a:moveTo>
                <a:cubicBezTo>
                  <a:pt x="2" y="214"/>
                  <a:pt x="0" y="212"/>
                  <a:pt x="0" y="21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9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七册的关系：一条链路，不是七本独立册子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934200" y="1800225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DA / BA / AA / TA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286750" y="1809750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四层架构，方法底座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6934200" y="2066925"/>
            <a:ext cx="4495800" cy="409575"/>
          </a:xfrm>
          <a:custGeom>
            <a:pathLst>
              <a:path w="472" h="43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6934200" y="2200275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286750" y="2200275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语义与动力学合一，汇流点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934200" y="2466975"/>
            <a:ext cx="4495800" cy="400050"/>
          </a:xfrm>
          <a:custGeom>
            <a:pathLst>
              <a:path w="472" h="42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934200" y="259080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286750" y="2600325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有职权的角色，消费知识与语义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6934200" y="2857500"/>
            <a:ext cx="4495800" cy="400050"/>
          </a:xfrm>
          <a:custGeom>
            <a:pathLst>
              <a:path w="472" h="42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934200" y="2981325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286750" y="2990850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非结构化知识的供给与治理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6743700" y="3438525"/>
            <a:ext cx="4838700" cy="2181225"/>
          </a:xfrm>
          <a:prstGeom prst="roundRect">
            <a:avLst>
              <a:gd name="adj" fmla="val 17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896100" y="41719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与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册的关系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896100" y="4410075"/>
            <a:ext cx="45339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册回答「它被允许做什么」，知识库册回答「它依据什么」。上下文规格书里的「来源、预算、时效、压缩、不可信标记」五项，都由这一册提供设计方法。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2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42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之立论：为什么&lt;span style={{ color: '#FA4F24' }}&gt;模型不算数、知识才算数&lt;/span&gt;&#10;        &lt;/Text&gt;&#10;        &lt;Text style={{ fontSize: 20, color: '#8A8F99', marginTop: 8 }}&gt;&#10;        企业里有三类东西都能被检索出来，但它们的可信度完全不同&#10;  &lt;/Text&gt;&#10;    &lt;/Box&gt;&#10;    &lt;Box style={{ height: 1, background: '#E8E8E8' }} /&gt;&#10;&#10;    &lt;Box style={{ paddingTop: 16, paddingBottom: 10, height: 479, flexDirection: 'column', gap: 9 }}&gt;&#10;      {/* 三类东西 */}&#10;  &lt;Box style={{ flex: 1, flexDirection: 'row', gap: 9 }}&gt;&#10;     {[&#10;     { n: '模型参数里的知识', s: '通用常识与统计规律', ok: '不知道你公司的口径', bad: '会编，且编得很自信', c: '#8A8F99' },&#10;   { n: '业务系统里的数据', s: '订单、库存、工单、台账', ok: '实时、结构化、可审计', bad: '不含判断，只含记录', c: '#FBA15C' },&#10;      { n: '知识库里的知识', s: '制度、口径、方案、经验、案例', ok: '有人负责、有时效、可引用', bad: '不治理就会过期与冲突', c: '#FA4F24' },&#10;      ].map((it, i) =&gt; (&#10;     &lt;Box key={it.n} style={{ flex: 1, background: '#F7F7F8', borderRadius: 4, borderTop: '4px solid ' + it.c, padding: '11px 15px', flexDirection: 'column' }}&gt;&#10;     &lt;Text style={{ fontSize: 17, fontWeight: 'bold', color: it.c }}&gt;{it.n}&lt;/Text&gt;&#10;      &lt;Text style={{ fontSize: 12, color: '#8A8F99', marginTop: 3 }}&gt;{it.s}&lt;/Text&gt;&#10;       &lt;Box style={{ flex: 1, marginTop: 8 }}&gt;&#10;     &lt;Box style={{ flexDirection: 'row', gap: 8, flex: 1 }}&gt;&#10;       &lt;Box style={{ flex: 1, background: '#FFFFFF', borderRadius: 3, padding: '7px 10px' }}&gt;&#10;   &lt;Text style={{ fontSize: 11, fontWeight: 'bold', color: '#5A6072' }}&gt;✓ 优势&lt;/Text&gt;&#10;      &lt;Text style={{ fontSize: 11, color: '#3A4050', marginTop: 3, lineHeight: 1.4 }}&gt;{it.ok}&lt;/Text&gt;&#10;    &lt;/Box&gt;&#10;  &lt;Box style={{ flex: 1, background: '#FFF3EE', borderRadius: 3, padding: '7px 10px' }}&gt;&#10;       &lt;Text style={{ fontSize: 11, fontWeight: 'bold', color: '#C43A17' }}&gt;✕ 短板&lt;/Text&gt;&#10;       &lt;Text style={{ fontSize: 11, color: '#5A6072', marginTop: 3, lineHeight: 1.4 }}&gt;{it.bad}&lt;/Text&gt;&#10;     &lt;/Box&gt;&#10;    &lt;/Box&gt;&#10;          &lt;/Box&gt;&#10;   &lt;/Box&gt;&#10;        ))}&#10;      &lt;/Box&gt;&#10;&#10;  {/* 核心问题 */}&#10;  &lt;Box style={{ height: 104, background: '#0F1423', borderRadius: 4, padding: '12px 18px', flexDirection: 'column' }}&gt;&#10;        &lt;Text style={{ fontSize: 15, fontWeight: 'bold', color: '#FBA15C' }}&gt;知识库真正要回答的四个问题&lt;/Text&gt;&#10;     &lt;Box style={{ flexDirection: 'row', gap: 10, marginTop: 9, flex: 1 }}&gt;&#10;       {[&#10;  { q: '哪条算数', a: '同口径冲突时以谁为准' },&#10;            { q: '谁说了算', a: '每条知识的责任人与复核人' },&#10;         { q: '什么时候过期', a: '时效窗口与下架触发条件' },&#10;       { q: '凭什么引用', a: '答案能指回来源的哪个位置' },&#10;      ].map((x, i) =&gt; (&#10;   &lt;Box key={x.q} style={{ flex: 1, background: 'rgba(255,255,255,0.07)', borderRadius: 3, padding: '7px 11px' }}&gt;&#10;  &lt;Box style={{ flexDirection: 'row', alignItems: 'center', gap: 8 }}&gt;&#10;      &lt;Text style={{ fontSize: 11, fontWeight: 'bold', color: '#FA4F24' }}&gt;{String(i + 1).padStart(2, '0')}&lt;/Text&gt;&#10;      &lt;Text style={{ fontSize: 15, fontWeight: 'bold', color: '#FFFFFF' }}&gt;{x.q}&lt;/Text&gt;&#10; &lt;/Box&gt;&#10;    &lt;Text style={{ fontSize: 11, color: 'rgba(255,255,255,0.62)', marginTop: 4 }}&gt;{x.a}&lt;/Text&gt;&#10;       &lt;/Box&gt;&#10;     ))}&#10;        &lt;/Box&gt;&#10;      &lt;/Box&gt;&#10;&#10;      {/* 结论 */}&#10;      &lt;Box style={{ height: 88, background: '#FFF3EE', borderRadius: 4, borderLeft: '5px solid #FA4F24', padding: '0 18px', flexDirection: 'row', alignItems: 'center', gap: 16 }}&gt;&#10;     &lt;Text style={{ fontSize: 15, fontWeight: 'bold', color: '#C43A17', width: 168 }}&gt;所以本册的立场&lt;/Text&gt;&#10;    &lt;Text style={{ fontSize: 14, color: '#0F1423', flex: 1, lineHeight: 1.55 }}&gt;&#10;   知识库不是「把文档都倒进向量库」。它是一个有责任人、有口径、有时效、有权限、有引用的知识供给系统。向量检索只是它最后一公里的实现方式，不是它的定义。企业在这一层偷懒，代价会在 Agent 上线三个月后集中出现——因为Agent 会把矛盾的知识自信地拼在一起。&#10;        &lt;/Text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0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之立论：为什么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模型不算数、知识才算数</a:t>
            </a:r>
            <a:endParaRPr/>
          </a:p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企业里有三类东西都能被检索出来，但它们的可信度完全不同</a:t>
            </a:r>
            <a:endParaRPr/>
          </a:p>
        </p:txBody>
      </p:sp>
      <p:sp>
        <p:nvSpPr>
          <p:cNvPr id="142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26" name=""/>
          <p:cNvSpPr/>
          <p:nvPr/>
        </p:nvSpPr>
        <p:spPr>
          <a:xfrm rot="0" flipH="0" flipV="0">
            <a:off x="609600" y="1343025"/>
            <a:ext cx="3600450" cy="2314575"/>
          </a:xfrm>
          <a:prstGeom prst="roundRect">
            <a:avLst>
              <a:gd name="adj" fmla="val 16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7" name=""/>
          <p:cNvSpPr/>
          <p:nvPr/>
        </p:nvSpPr>
        <p:spPr>
          <a:xfrm rot="0" flipH="0" flipV="0">
            <a:off x="609600" y="1343025"/>
            <a:ext cx="3600450" cy="2314575"/>
          </a:xfrm>
          <a:custGeom>
            <a:pathLst>
              <a:path w="378" h="243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752475" y="144780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8A8F99"/>
                </a:solidFill>
                <a:latin typeface="Microsoft YaHei"/>
                <a:ea typeface="Microsoft YaHei"/>
              </a:rPr>
              <a:t>模型参数里的知识</a:t>
            </a:r>
            <a:endParaRPr/>
          </a:p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752475" y="167640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通用常识与统计规律</a:t>
            </a:r>
            <a:endParaRPr/>
          </a:p>
        </p:txBody>
      </p:sp>
      <p:sp>
        <p:nvSpPr>
          <p:cNvPr id="1430" name=""/>
          <p:cNvSpPr/>
          <p:nvPr/>
        </p:nvSpPr>
        <p:spPr>
          <a:xfrm rot="0" flipH="0" flipV="0">
            <a:off x="752475" y="1895475"/>
            <a:ext cx="1619250" cy="161925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847725" y="19621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5A6072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825" b="1">
                <a:solidFill>
                  <a:srgbClr val="5A6072"/>
                </a:solidFill>
                <a:latin typeface="Microsoft YaHei"/>
                <a:ea typeface="Microsoft YaHei"/>
              </a:rPr>
              <a:t>优势</a:t>
            </a:r>
            <a:endParaRPr/>
          </a:p>
        </p:txBody>
      </p:sp>
      <p:sp>
        <p:nvSpPr>
          <p:cNvPr id="1432" name="" descr="{&quot;isTemplate&quot;:true,&quot;type&quot;:&quot;text&quot;}"/>
          <p:cNvSpPr txBox="1"/>
          <p:nvPr/>
        </p:nvSpPr>
        <p:spPr>
          <a:xfrm rot="0" flipH="0" flipV="0">
            <a:off x="847725" y="2124075"/>
            <a:ext cx="1428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不知道你公司的口径</a:t>
            </a:r>
            <a:endParaRPr/>
          </a:p>
        </p:txBody>
      </p:sp>
      <p:sp>
        <p:nvSpPr>
          <p:cNvPr id="1433" name=""/>
          <p:cNvSpPr/>
          <p:nvPr/>
        </p:nvSpPr>
        <p:spPr>
          <a:xfrm rot="0" flipH="0" flipV="0">
            <a:off x="2447925" y="1895475"/>
            <a:ext cx="1619250" cy="1619250"/>
          </a:xfrm>
          <a:prstGeom prst="roundRect">
            <a:avLst>
              <a:gd name="adj" fmla="val 176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2543175" y="19621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✕ </a:t>
            </a: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短板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2543175" y="2124075"/>
            <a:ext cx="1428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会编，且编得很自信</a:t>
            </a:r>
            <a:endParaRPr/>
          </a:p>
        </p:txBody>
      </p:sp>
      <p:sp>
        <p:nvSpPr>
          <p:cNvPr id="1436" name=""/>
          <p:cNvSpPr/>
          <p:nvPr/>
        </p:nvSpPr>
        <p:spPr>
          <a:xfrm rot="0" flipH="0" flipV="0">
            <a:off x="4295775" y="1343025"/>
            <a:ext cx="3600450" cy="2314575"/>
          </a:xfrm>
          <a:prstGeom prst="roundRect">
            <a:avLst>
              <a:gd name="adj" fmla="val 16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7" name=""/>
          <p:cNvSpPr/>
          <p:nvPr/>
        </p:nvSpPr>
        <p:spPr>
          <a:xfrm rot="0" flipH="0" flipV="0">
            <a:off x="4295775" y="1343025"/>
            <a:ext cx="3600450" cy="2314575"/>
          </a:xfrm>
          <a:custGeom>
            <a:pathLst>
              <a:path w="378" h="243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4438650" y="144780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BA15C"/>
                </a:solidFill>
                <a:latin typeface="Microsoft YaHei"/>
                <a:ea typeface="Microsoft YaHei"/>
              </a:rPr>
              <a:t>业务系统里的数据</a:t>
            </a:r>
            <a:endParaRPr/>
          </a:p>
        </p:txBody>
      </p:sp>
      <p:sp>
        <p:nvSpPr>
          <p:cNvPr id="1439" name="" descr="{&quot;isTemplate&quot;:true,&quot;type&quot;:&quot;text&quot;}"/>
          <p:cNvSpPr txBox="1"/>
          <p:nvPr/>
        </p:nvSpPr>
        <p:spPr>
          <a:xfrm rot="0" flipH="0" flipV="0">
            <a:off x="4438650" y="167640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订单、库存、工单、台账</a:t>
            </a:r>
            <a:endParaRPr/>
          </a:p>
        </p:txBody>
      </p:sp>
      <p:sp>
        <p:nvSpPr>
          <p:cNvPr id="1440" name=""/>
          <p:cNvSpPr/>
          <p:nvPr/>
        </p:nvSpPr>
        <p:spPr>
          <a:xfrm rot="0" flipH="0" flipV="0">
            <a:off x="4438650" y="1895475"/>
            <a:ext cx="1619250" cy="161925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4533900" y="19621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5A6072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825" b="1">
                <a:solidFill>
                  <a:srgbClr val="5A6072"/>
                </a:solidFill>
                <a:latin typeface="Microsoft YaHei"/>
                <a:ea typeface="Microsoft YaHei"/>
              </a:rPr>
              <a:t>优势</a:t>
            </a:r>
            <a:endParaRPr/>
          </a:p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4533900" y="2124075"/>
            <a:ext cx="1428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实时、结构化、可审计</a:t>
            </a:r>
            <a:endParaRPr/>
          </a:p>
        </p:txBody>
      </p:sp>
      <p:sp>
        <p:nvSpPr>
          <p:cNvPr id="1443" name=""/>
          <p:cNvSpPr/>
          <p:nvPr/>
        </p:nvSpPr>
        <p:spPr>
          <a:xfrm rot="0" flipH="0" flipV="0">
            <a:off x="6134100" y="1895475"/>
            <a:ext cx="1619250" cy="1619250"/>
          </a:xfrm>
          <a:prstGeom prst="roundRect">
            <a:avLst>
              <a:gd name="adj" fmla="val 176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6229350" y="19621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✕ </a:t>
            </a: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短板</a:t>
            </a:r>
            <a:endParaRPr/>
          </a:p>
        </p:txBody>
      </p:sp>
      <p:sp>
        <p:nvSpPr>
          <p:cNvPr id="1445" name="" descr="{&quot;isTemplate&quot;:true,&quot;type&quot;:&quot;text&quot;}"/>
          <p:cNvSpPr txBox="1"/>
          <p:nvPr/>
        </p:nvSpPr>
        <p:spPr>
          <a:xfrm rot="0" flipH="0" flipV="0">
            <a:off x="6229350" y="2124075"/>
            <a:ext cx="1428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不含判断，只含记录</a:t>
            </a:r>
            <a:endParaRPr/>
          </a:p>
        </p:txBody>
      </p:sp>
      <p:sp>
        <p:nvSpPr>
          <p:cNvPr id="1446" name=""/>
          <p:cNvSpPr/>
          <p:nvPr/>
        </p:nvSpPr>
        <p:spPr>
          <a:xfrm rot="0" flipH="0" flipV="0">
            <a:off x="7981950" y="1343025"/>
            <a:ext cx="3600450" cy="2314575"/>
          </a:xfrm>
          <a:prstGeom prst="roundRect">
            <a:avLst>
              <a:gd name="adj" fmla="val 16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7" name=""/>
          <p:cNvSpPr/>
          <p:nvPr/>
        </p:nvSpPr>
        <p:spPr>
          <a:xfrm rot="0" flipH="0" flipV="0">
            <a:off x="7981950" y="1343025"/>
            <a:ext cx="3600450" cy="2314575"/>
          </a:xfrm>
          <a:custGeom>
            <a:pathLst>
              <a:path w="378" h="243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8124825" y="144780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知识库里的知识</a:t>
            </a:r>
            <a:endParaRPr/>
          </a:p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8124825" y="167640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制度、口径、方案、经验、案例</a:t>
            </a:r>
            <a:endParaRPr/>
          </a:p>
        </p:txBody>
      </p:sp>
      <p:sp>
        <p:nvSpPr>
          <p:cNvPr id="1450" name=""/>
          <p:cNvSpPr/>
          <p:nvPr/>
        </p:nvSpPr>
        <p:spPr>
          <a:xfrm rot="0" flipH="0" flipV="0">
            <a:off x="8124825" y="1895475"/>
            <a:ext cx="1619250" cy="161925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1" name="" descr="{&quot;isTemplate&quot;:true,&quot;type&quot;:&quot;text&quot;}"/>
          <p:cNvSpPr txBox="1"/>
          <p:nvPr/>
        </p:nvSpPr>
        <p:spPr>
          <a:xfrm rot="0" flipH="0" flipV="0">
            <a:off x="8220075" y="19621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5A6072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825" b="1">
                <a:solidFill>
                  <a:srgbClr val="5A6072"/>
                </a:solidFill>
                <a:latin typeface="Microsoft YaHei"/>
                <a:ea typeface="Microsoft YaHei"/>
              </a:rPr>
              <a:t>优势</a:t>
            </a:r>
            <a:endParaRPr/>
          </a:p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8220075" y="2124075"/>
            <a:ext cx="1428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有人负责、有时效、可引用</a:t>
            </a:r>
            <a:endParaRPr/>
          </a:p>
        </p:txBody>
      </p:sp>
      <p:sp>
        <p:nvSpPr>
          <p:cNvPr id="1453" name=""/>
          <p:cNvSpPr/>
          <p:nvPr/>
        </p:nvSpPr>
        <p:spPr>
          <a:xfrm rot="0" flipH="0" flipV="0">
            <a:off x="9820275" y="1895475"/>
            <a:ext cx="1619250" cy="1619250"/>
          </a:xfrm>
          <a:prstGeom prst="roundRect">
            <a:avLst>
              <a:gd name="adj" fmla="val 176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9915525" y="19621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✕ </a:t>
            </a: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短板</a:t>
            </a:r>
            <a:endParaRPr/>
          </a:p>
        </p:txBody>
      </p:sp>
      <p:sp>
        <p:nvSpPr>
          <p:cNvPr id="1455" name="" descr="{&quot;isTemplate&quot;:true,&quot;type&quot;:&quot;text&quot;}"/>
          <p:cNvSpPr txBox="1"/>
          <p:nvPr/>
        </p:nvSpPr>
        <p:spPr>
          <a:xfrm rot="0" flipH="0" flipV="0">
            <a:off x="9915525" y="2124075"/>
            <a:ext cx="1428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不治理就会过期与冲突</a:t>
            </a:r>
            <a:endParaRPr/>
          </a:p>
        </p:txBody>
      </p:sp>
      <p:sp>
        <p:nvSpPr>
          <p:cNvPr id="1456" name=""/>
          <p:cNvSpPr/>
          <p:nvPr/>
        </p:nvSpPr>
        <p:spPr>
          <a:xfrm rot="0" flipH="0" flipV="0">
            <a:off x="609600" y="3705225"/>
            <a:ext cx="10972800" cy="990600"/>
          </a:xfrm>
          <a:prstGeom prst="roundRect">
            <a:avLst>
              <a:gd name="adj" fmla="val 384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知识库真正要回答的四个问题</a:t>
            </a:r>
            <a:endParaRPr/>
          </a:p>
        </p:txBody>
      </p:sp>
      <p:sp>
        <p:nvSpPr>
          <p:cNvPr id="1458" name=""/>
          <p:cNvSpPr/>
          <p:nvPr/>
        </p:nvSpPr>
        <p:spPr>
          <a:xfrm rot="0" flipH="0" flipV="0">
            <a:off x="781050" y="4076700"/>
            <a:ext cx="2590800" cy="504825"/>
          </a:xfrm>
          <a:prstGeom prst="roundRect">
            <a:avLst>
              <a:gd name="adj" fmla="val 566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885825" y="416242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1095375" y="4143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哪条算数</a:t>
            </a:r>
            <a:endParaRPr/>
          </a:p>
        </p:txBody>
      </p:sp>
      <p:sp>
        <p:nvSpPr>
          <p:cNvPr id="1461" name="" descr="{&quot;isTemplate&quot;:true,&quot;type&quot;:&quot;text&quot;}"/>
          <p:cNvSpPr txBox="1"/>
          <p:nvPr/>
        </p:nvSpPr>
        <p:spPr>
          <a:xfrm rot="0" flipH="0" flipV="0">
            <a:off x="885825" y="43529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同口径冲突时以谁为准</a:t>
            </a:r>
            <a:endParaRPr/>
          </a:p>
        </p:txBody>
      </p:sp>
      <p:sp>
        <p:nvSpPr>
          <p:cNvPr id="1462" name=""/>
          <p:cNvSpPr/>
          <p:nvPr/>
        </p:nvSpPr>
        <p:spPr>
          <a:xfrm rot="0" flipH="0" flipV="0">
            <a:off x="3467100" y="4076700"/>
            <a:ext cx="2581275" cy="504825"/>
          </a:xfrm>
          <a:prstGeom prst="roundRect">
            <a:avLst>
              <a:gd name="adj" fmla="val 566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3571875" y="416242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3781425" y="4143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谁说了算</a:t>
            </a:r>
            <a:endParaRPr/>
          </a:p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3571875" y="4352925"/>
            <a:ext cx="2371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每条知识的责任人与复核人</a:t>
            </a:r>
            <a:endParaRPr/>
          </a:p>
        </p:txBody>
      </p:sp>
      <p:sp>
        <p:nvSpPr>
          <p:cNvPr id="1466" name=""/>
          <p:cNvSpPr/>
          <p:nvPr/>
        </p:nvSpPr>
        <p:spPr>
          <a:xfrm rot="0" flipH="0" flipV="0">
            <a:off x="6143625" y="4076700"/>
            <a:ext cx="2590800" cy="504825"/>
          </a:xfrm>
          <a:prstGeom prst="roundRect">
            <a:avLst>
              <a:gd name="adj" fmla="val 566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6248400" y="416242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6457950" y="41433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什么时候过期</a:t>
            </a:r>
            <a:endParaRPr/>
          </a:p>
        </p:txBody>
      </p:sp>
      <p:sp>
        <p:nvSpPr>
          <p:cNvPr id="1469" name="" descr="{&quot;isTemplate&quot;:true,&quot;type&quot;:&quot;text&quot;}"/>
          <p:cNvSpPr txBox="1"/>
          <p:nvPr/>
        </p:nvSpPr>
        <p:spPr>
          <a:xfrm rot="0" flipH="0" flipV="0">
            <a:off x="6248400" y="43529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时效窗口与下架触发条件</a:t>
            </a:r>
            <a:endParaRPr/>
          </a:p>
        </p:txBody>
      </p:sp>
      <p:sp>
        <p:nvSpPr>
          <p:cNvPr id="1470" name=""/>
          <p:cNvSpPr/>
          <p:nvPr/>
        </p:nvSpPr>
        <p:spPr>
          <a:xfrm rot="0" flipH="0" flipV="0">
            <a:off x="8829675" y="4076700"/>
            <a:ext cx="2581275" cy="504825"/>
          </a:xfrm>
          <a:prstGeom prst="roundRect">
            <a:avLst>
              <a:gd name="adj" fmla="val 566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8934450" y="416242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9144000" y="41433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凭什么引用</a:t>
            </a:r>
            <a:endParaRPr/>
          </a:p>
        </p:txBody>
      </p:sp>
      <p:sp>
        <p:nvSpPr>
          <p:cNvPr id="1473" name="" descr="{&quot;isTemplate&quot;:true,&quot;type&quot;:&quot;text&quot;}"/>
          <p:cNvSpPr txBox="1"/>
          <p:nvPr/>
        </p:nvSpPr>
        <p:spPr>
          <a:xfrm rot="0" flipH="0" flipV="0">
            <a:off x="8934450" y="4352925"/>
            <a:ext cx="2371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答案能指回来源的哪个位置</a:t>
            </a:r>
            <a:endParaRPr/>
          </a:p>
        </p:txBody>
      </p:sp>
      <p:sp>
        <p:nvSpPr>
          <p:cNvPr id="1474" name=""/>
          <p:cNvSpPr/>
          <p:nvPr/>
        </p:nvSpPr>
        <p:spPr>
          <a:xfrm rot="0" flipH="0" flipV="0">
            <a:off x="657225" y="4781550"/>
            <a:ext cx="10972800" cy="838200"/>
          </a:xfrm>
          <a:prstGeom prst="roundRect">
            <a:avLst>
              <a:gd name="adj" fmla="val 454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75" name=""/>
          <p:cNvSpPr/>
          <p:nvPr/>
        </p:nvSpPr>
        <p:spPr>
          <a:xfrm rot="0" flipH="0" flipV="0">
            <a:off x="657225" y="4781550"/>
            <a:ext cx="10972800" cy="838200"/>
          </a:xfrm>
          <a:custGeom>
            <a:pathLst>
              <a:path w="1152" h="88">
                <a:moveTo>
                  <a:pt x="5" y="88"/>
                </a:moveTo>
                <a:cubicBezTo>
                  <a:pt x="4" y="88"/>
                  <a:pt x="3" y="88"/>
                  <a:pt x="2" y="87"/>
                </a:cubicBezTo>
                <a:cubicBezTo>
                  <a:pt x="1" y="87"/>
                  <a:pt x="0" y="86"/>
                  <a:pt x="0" y="84"/>
                </a:cubicBezTo>
                <a:lnTo>
                  <a:pt x="0" y="84"/>
                </a:lnTo>
                <a:lnTo>
                  <a:pt x="0" y="8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828675" y="51149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所以本册的立场</a:t>
            </a:r>
            <a:endParaRPr/>
          </a:p>
        </p:txBody>
      </p:sp>
      <p:sp>
        <p:nvSpPr>
          <p:cNvPr id="1477" name="" descr="{&quot;isTemplate&quot;:true,&quot;type&quot;:&quot;text&quot;}"/>
          <p:cNvSpPr txBox="1"/>
          <p:nvPr/>
        </p:nvSpPr>
        <p:spPr>
          <a:xfrm rot="0" flipH="0" flipV="0">
            <a:off x="2581275" y="4953000"/>
            <a:ext cx="88296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知识库不是「把文档都倒进向量库」。它是一个有责任人、有口径、有时效、有权限、有引用的知识供给系统。向量检索只是它最后一公里的实现方式，不是它的定义。企业在这一层偷懒，代价会在</a:t>
            </a:r>
            <a:r>
              <a:rPr lang="en-US" sz="1050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上线三个月后集中出现——因为</a:t>
            </a:r>
            <a:r>
              <a:rPr lang="en-US" sz="1050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会把矛盾的知识自信地拼在一起。</a:t>
            </a:r>
            <a:endParaRPr/>
          </a:p>
        </p:txBody>
      </p:sp>
      <p:sp>
        <p:nvSpPr>
          <p:cNvPr id="147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7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8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48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4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路径：&lt;span style={{ color: '#FA4F24' }}&gt;Approach 七阶段&lt;/span&gt;，先做什么后做什么、每步产出什么&#10;     &lt;/Text&gt;&#10;        &lt;Text style={{ fontSize: 20, color: '#8A8F99', marginTop: 8 }}&gt;&#10;          前四阶段是治理，后三阶段是工程；顺序颠倒的代价是把口径问题拖到上线后爆&#10; &lt;/Text&gt;&#10;    &lt;/Box&gt;&#10;  &lt;Box style={{ height: 1, background: '#E8E8E8' }} /&gt;&#10;&#10;  &lt;Box style={{ paddingTop: 14, paddingBottom: 8, height: 479, flexDirection: 'column', gap: 7 }}&gt;&#10;      {/* 表头 */}&#10;      &lt;Box style={{ flexDirection: 'row', gap: 7 }}&gt;&#10;        &lt;Box style={{ width: 46, background: '#0F1423', alignItems: 'center', justifyContent: 'center' }}&gt;&lt;Text style={{ fontSize: 11, fontWeight: 'bold', color: '#FFFFFF' }}&gt;阶段&lt;/Text&gt;&lt;/Box&gt;&#10;        &lt;Box style={{ width: 46, background: '#0F1423', alignItems: 'center', justifyContent: 'center' }}&gt;&lt;Text style={{ fontSize: 11, fontWeight: 'bold', color: '#FFFFFF' }}&gt;性质&lt;/Text&gt;&lt;/Box&gt;&#10;        &lt;Box style={{ flex: 1, background: '#0F1423', padding: '0 12px', justifyContent: 'center' }}&gt;&lt;Text style={{ fontSize: 11, fontWeight: 'bold', color: '#FFFFFF' }}&gt;这一步做什么&lt;/Text&gt;&lt;/Box&gt;&#10;        &lt;Box style={{ width: 340, background: '#0F1423', padding: '0 12px', justifyContent: 'center' }}&gt;&lt;Text style={{ fontSize: 11, fontWeight: 'bold', color: '#FFFFFF' }}&gt;产出物&lt;/Text&gt;&lt;/Box&gt;&#10;      &lt;/Box&gt;&#10;&#10;      {[&#10;   { n: '1', k: '治理', t: '盘点知识资产，定义要服务的场景', o: '知识资产清单 + 场景清单', c: '#FA4F24' },&#10;     { n: '2', k: '治理', t: '定口径、清冲突，明确同义不同说的处理规则', o: '口径字典 + 冲突台账', c: '#FA4F24' },&#10;        { n: '3', k: '设计', t: '设计切片规则与实体抽取，把文本变成可引用单元', o: '切片规范 + 抽取规则表', c: '#F87D2F' },&#10;        { n: '4', k: '治理', t: '设计权限模型与时效台账，明确谁可见、何时失效', o: '访问矩阵 + 时效台账', c: '#F87D2F' },&#10; { n: '5', k: '设计', t: '设计检索策略与评测集，先定验收线再建库', o: '检索策略书 + 评测集', c: '#E0651A' },&#10;        { n: '6', k: '工程', t: '试运行，调切片、调召回、调重排', o: '试运行报告 + 调优记录', c: '#E0651A' },&#10;      { n: '7', k: '运营', t: '上线评审，转入生命周期治理', o: '上线评审表 + 治理运营手册', c: '#C43A17' },&#10;      ].map((it, i) =&gt; (&#10;        &lt;Box key={it.n} style={{ flex: 1, flexDirection: 'row', gap: 7 }}&gt;&#10;          &lt;Box style={{ width: 46, background: '#F7F7F8', alignItems: 'center', justifyContent: 'center' }}&gt;&#10;   &lt;Text style={{ fontSize: 20, fontWeight: 'bold', color: it.c }}&gt;{it.n}&lt;/Text&gt;&#10;    &lt;/Box&gt;&#10;          &lt;Box style={{ width: 46, background: it.bg || (it.k === '治理' ? '#FFF3EE' : '#F7F7F8'), alignItems: 'center', justifyContent: 'center' }}&gt;&#10;    &lt;Text style={{ fontSize: 12, fontWeight: 'bold', color: it.c }}&gt;{it.k}&lt;/Text&gt;&#10;          &lt;/Box&gt;&#10;   &lt;Box style={{ flex: 1, background: '#F7F7F8', padding: '0 12px', justifyContent: 'center' }}&gt;&#10;     &lt;Text style={{ fontSize: 13, color: '#0F1423' }}&gt;{it.t}&lt;/Text&gt;&#10;   &lt;/Box&gt;&#10;     &lt;Box style={{ width: 340, background: '#FFF3EE', padding: '0 12px', justifyContent: 'center', borderLeft: '2px solid #FBA15C' }}&gt;&#10;            &lt;Text style={{ fontSize: 12, fontWeight: 'bold', color: '#C43A17' }}&gt;{it.o}&lt;/Text&gt;&#10;     &lt;/Box&gt;&#10;        &lt;/Box&gt;&#10;      ))}&#10;&#10;    {/* 三条硬规则 */}&#10;      &lt;Box style={{ height: 68, background: '#0F1423', borderRadius: 4, padding: '0 18px', flexDirection: 'row', alignItems: 'center', gap: 12 }}&gt;&#10;    &lt;Text style={{ fontSize: 14, fontWeight: 'bold', color: '#FBA15C', width: 128 }}&gt;三条硬规则&lt;/Text&gt;&#10;    &lt;Box style={{ flex: 1, flexDirection: 'row', gap: 10 }}&gt;&#10;      {[&#10;        { n: '先治理再建库', d: '口径不清就不要先上向量库' },&#10;        { n: '先只读后写回', d: '先做检索与引用，再谈写回' },&#10;  { n: '先有评测再扩域', d: '没有评测集不扩知识域' },&#10;      ].map((x, i) =&gt; (&#10;     &lt;Box key={x.n} style={{ flex: 1, background: 'rgba(255,255,255,0.07)', borderRadius: 3, padding: '6px 10px' }}&gt;&#10;    &lt;Box style={{ flexDirection: 'row', alignItems: 'center', gap: 7 }}&gt;&#10;      &lt;Text style={{ fontSize: 11, fontWeight: 'bold', color: '#FA4F24' }}&gt;{String(i + 1)}&lt;/Text&gt;&#10;   &lt;Text style={{ fontSize: 13, fontWeight: 'bold', color: '#FFFFFF' }}&gt;{x.n}&lt;/Text&gt;&#10;     &lt;/Box&gt;&#10;  &lt;Text style={{ fontSize: 10, color: 'rgba(255,255,255,0.6)', marginTop: 2 }}&gt;{x.d}&lt;/Text&gt;&#10;        &lt;/Box&gt;&#10;    ))}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0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之路径：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七阶段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，先做什么后做什么、每步产出什么</a:t>
            </a:r>
            <a:endParaRPr/>
          </a:p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前四阶段是治理，后三阶段是工程；顺序颠倒的代价是把口径问题拖到上线后爆</a:t>
            </a:r>
            <a:endParaRPr/>
          </a:p>
        </p:txBody>
      </p:sp>
      <p:sp>
        <p:nvSpPr>
          <p:cNvPr id="154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45" name=""/>
          <p:cNvSpPr/>
          <p:nvPr/>
        </p:nvSpPr>
        <p:spPr>
          <a:xfrm rot="0" flipH="0" flipV="0">
            <a:off x="609600" y="1285875"/>
            <a:ext cx="438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46" name="" descr="{&quot;isTemplate&quot;:true,&quot;type&quot;:&quot;text&quot;}"/>
          <p:cNvSpPr txBox="1"/>
          <p:nvPr/>
        </p:nvSpPr>
        <p:spPr>
          <a:xfrm rot="0" flipH="0" flipV="0">
            <a:off x="723900" y="12858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1547" name=""/>
          <p:cNvSpPr/>
          <p:nvPr/>
        </p:nvSpPr>
        <p:spPr>
          <a:xfrm rot="0" flipH="0" flipV="0">
            <a:off x="1114425" y="1285875"/>
            <a:ext cx="438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1228725" y="12858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性质</a:t>
            </a:r>
            <a:endParaRPr/>
          </a:p>
        </p:txBody>
      </p:sp>
      <p:sp>
        <p:nvSpPr>
          <p:cNvPr id="1549" name=""/>
          <p:cNvSpPr/>
          <p:nvPr/>
        </p:nvSpPr>
        <p:spPr>
          <a:xfrm rot="0" flipH="0" flipV="0">
            <a:off x="1619250" y="1285875"/>
            <a:ext cx="6657975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50" name="" descr="{&quot;isTemplate&quot;:true,&quot;type&quot;:&quot;text&quot;}"/>
          <p:cNvSpPr txBox="1"/>
          <p:nvPr/>
        </p:nvSpPr>
        <p:spPr>
          <a:xfrm rot="0" flipH="0" flipV="0">
            <a:off x="1733550" y="1285875"/>
            <a:ext cx="6429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这一步做什么</a:t>
            </a:r>
            <a:endParaRPr/>
          </a:p>
        </p:txBody>
      </p:sp>
      <p:sp>
        <p:nvSpPr>
          <p:cNvPr id="1551" name=""/>
          <p:cNvSpPr/>
          <p:nvPr/>
        </p:nvSpPr>
        <p:spPr>
          <a:xfrm rot="0" flipH="0" flipV="0">
            <a:off x="8343900" y="1285875"/>
            <a:ext cx="323850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8458200" y="1285875"/>
            <a:ext cx="3009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553" name=""/>
          <p:cNvSpPr/>
          <p:nvPr/>
        </p:nvSpPr>
        <p:spPr>
          <a:xfrm rot="0" flipH="0" flipV="0">
            <a:off x="609600" y="1485900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4" name="" descr="{&quot;isTemplate&quot;:true,&quot;type&quot;:&quot;text&quot;}"/>
          <p:cNvSpPr txBox="1"/>
          <p:nvPr/>
        </p:nvSpPr>
        <p:spPr>
          <a:xfrm rot="0" flipH="0" flipV="0">
            <a:off x="771525" y="1590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55" name=""/>
          <p:cNvSpPr/>
          <p:nvPr/>
        </p:nvSpPr>
        <p:spPr>
          <a:xfrm rot="0" flipH="0" flipV="0">
            <a:off x="1114425" y="1485900"/>
            <a:ext cx="438150" cy="4381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1219200" y="16383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557" name=""/>
          <p:cNvSpPr/>
          <p:nvPr/>
        </p:nvSpPr>
        <p:spPr>
          <a:xfrm rot="0" flipH="0" flipV="0">
            <a:off x="1619250" y="1485900"/>
            <a:ext cx="6657975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1733550" y="162877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盘点知识资产，定义要服务的场景</a:t>
            </a:r>
            <a:endParaRPr/>
          </a:p>
        </p:txBody>
      </p:sp>
      <p:sp>
        <p:nvSpPr>
          <p:cNvPr id="1559" name=""/>
          <p:cNvSpPr/>
          <p:nvPr/>
        </p:nvSpPr>
        <p:spPr>
          <a:xfrm rot="0" flipH="0" flipV="0">
            <a:off x="8362950" y="1485900"/>
            <a:ext cx="3219450" cy="4381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60" name=""/>
          <p:cNvSpPr/>
          <p:nvPr/>
        </p:nvSpPr>
        <p:spPr>
          <a:xfrm rot="0" flipH="0" flipV="0">
            <a:off x="8343900" y="1485900"/>
            <a:ext cx="3238500" cy="438150"/>
          </a:xfrm>
          <a:custGeom>
            <a:pathLst>
              <a:path w="340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8477250" y="163830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知识资产清单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场景清单</a:t>
            </a:r>
            <a:endParaRPr/>
          </a:p>
        </p:txBody>
      </p:sp>
      <p:sp>
        <p:nvSpPr>
          <p:cNvPr id="1562" name=""/>
          <p:cNvSpPr/>
          <p:nvPr/>
        </p:nvSpPr>
        <p:spPr>
          <a:xfrm rot="0" flipH="0" flipV="0">
            <a:off x="609600" y="1990725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3" name="" descr="{&quot;isTemplate&quot;:true,&quot;type&quot;:&quot;text&quot;}"/>
          <p:cNvSpPr txBox="1"/>
          <p:nvPr/>
        </p:nvSpPr>
        <p:spPr>
          <a:xfrm rot="0" flipH="0" flipV="0">
            <a:off x="771525" y="20955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64" name=""/>
          <p:cNvSpPr/>
          <p:nvPr/>
        </p:nvSpPr>
        <p:spPr>
          <a:xfrm rot="0" flipH="0" flipV="0">
            <a:off x="1114425" y="1990725"/>
            <a:ext cx="438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1219200" y="21336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566" name=""/>
          <p:cNvSpPr/>
          <p:nvPr/>
        </p:nvSpPr>
        <p:spPr>
          <a:xfrm rot="0" flipH="0" flipV="0">
            <a:off x="1619250" y="1990725"/>
            <a:ext cx="6657975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7" name="" descr="{&quot;isTemplate&quot;:true,&quot;type&quot;:&quot;text&quot;}"/>
          <p:cNvSpPr txBox="1"/>
          <p:nvPr/>
        </p:nvSpPr>
        <p:spPr>
          <a:xfrm rot="0" flipH="0" flipV="0">
            <a:off x="1733550" y="213360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定口径、清冲突，明确同义不同说的处理规则</a:t>
            </a:r>
            <a:endParaRPr/>
          </a:p>
        </p:txBody>
      </p:sp>
      <p:sp>
        <p:nvSpPr>
          <p:cNvPr id="1568" name=""/>
          <p:cNvSpPr/>
          <p:nvPr/>
        </p:nvSpPr>
        <p:spPr>
          <a:xfrm rot="0" flipH="0" flipV="0">
            <a:off x="8362950" y="1990725"/>
            <a:ext cx="32194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69" name=""/>
          <p:cNvSpPr/>
          <p:nvPr/>
        </p:nvSpPr>
        <p:spPr>
          <a:xfrm rot="0" flipH="0" flipV="0">
            <a:off x="8343900" y="1990725"/>
            <a:ext cx="3238500" cy="428625"/>
          </a:xfrm>
          <a:custGeom>
            <a:pathLst>
              <a:path w="340" h="45">
                <a:moveTo>
                  <a:pt x="0" y="0"/>
                </a:moveTo>
                <a:lnTo>
                  <a:pt x="2" y="0"/>
                </a:lnTo>
                <a:lnTo>
                  <a:pt x="2" y="45"/>
                </a:lnTo>
                <a:lnTo>
                  <a:pt x="0" y="4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8477250" y="213360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口径字典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冲突台账</a:t>
            </a:r>
            <a:endParaRPr/>
          </a:p>
        </p:txBody>
      </p:sp>
      <p:sp>
        <p:nvSpPr>
          <p:cNvPr id="1571" name=""/>
          <p:cNvSpPr/>
          <p:nvPr/>
        </p:nvSpPr>
        <p:spPr>
          <a:xfrm rot="0" flipH="0" flipV="0">
            <a:off x="609600" y="2486025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72" name="" descr="{&quot;isTemplate&quot;:true,&quot;type&quot;:&quot;text&quot;}"/>
          <p:cNvSpPr txBox="1"/>
          <p:nvPr/>
        </p:nvSpPr>
        <p:spPr>
          <a:xfrm rot="0" flipH="0" flipV="0">
            <a:off x="771525" y="2590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73" name=""/>
          <p:cNvSpPr/>
          <p:nvPr/>
        </p:nvSpPr>
        <p:spPr>
          <a:xfrm rot="0" flipH="0" flipV="0">
            <a:off x="1114425" y="2486025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1219200" y="26384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87D2F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575" name=""/>
          <p:cNvSpPr/>
          <p:nvPr/>
        </p:nvSpPr>
        <p:spPr>
          <a:xfrm rot="0" flipH="0" flipV="0">
            <a:off x="1619250" y="2486025"/>
            <a:ext cx="6657975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76" name="" descr="{&quot;isTemplate&quot;:true,&quot;type&quot;:&quot;text&quot;}"/>
          <p:cNvSpPr txBox="1"/>
          <p:nvPr/>
        </p:nvSpPr>
        <p:spPr>
          <a:xfrm rot="0" flipH="0" flipV="0">
            <a:off x="1733550" y="262890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设计切片规则与实体抽取，把文本变成可引用单元</a:t>
            </a:r>
            <a:endParaRPr/>
          </a:p>
        </p:txBody>
      </p:sp>
      <p:sp>
        <p:nvSpPr>
          <p:cNvPr id="1577" name=""/>
          <p:cNvSpPr/>
          <p:nvPr/>
        </p:nvSpPr>
        <p:spPr>
          <a:xfrm rot="0" flipH="0" flipV="0">
            <a:off x="8362950" y="2486025"/>
            <a:ext cx="3219450" cy="4381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78" name=""/>
          <p:cNvSpPr/>
          <p:nvPr/>
        </p:nvSpPr>
        <p:spPr>
          <a:xfrm rot="0" flipH="0" flipV="0">
            <a:off x="8343900" y="2486025"/>
            <a:ext cx="3238500" cy="438150"/>
          </a:xfrm>
          <a:custGeom>
            <a:pathLst>
              <a:path w="340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79" name="" descr="{&quot;isTemplate&quot;:true,&quot;type&quot;:&quot;text&quot;}"/>
          <p:cNvSpPr txBox="1"/>
          <p:nvPr/>
        </p:nvSpPr>
        <p:spPr>
          <a:xfrm rot="0" flipH="0" flipV="0">
            <a:off x="8477250" y="263842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切片规范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抽取规则表</a:t>
            </a:r>
            <a:endParaRPr/>
          </a:p>
        </p:txBody>
      </p:sp>
      <p:sp>
        <p:nvSpPr>
          <p:cNvPr id="1580" name=""/>
          <p:cNvSpPr/>
          <p:nvPr/>
        </p:nvSpPr>
        <p:spPr>
          <a:xfrm rot="0" flipH="0" flipV="0">
            <a:off x="609600" y="2990850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771525" y="30956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82" name=""/>
          <p:cNvSpPr/>
          <p:nvPr/>
        </p:nvSpPr>
        <p:spPr>
          <a:xfrm rot="0" flipH="0" flipV="0">
            <a:off x="1114425" y="2990850"/>
            <a:ext cx="438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1219200" y="31337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87D2F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1619250" y="2990850"/>
            <a:ext cx="6657975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1733550" y="313372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设计权限模型与时效台账，明确谁可见、何时失效</a:t>
            </a:r>
            <a:endParaRPr/>
          </a:p>
        </p:txBody>
      </p:sp>
      <p:sp>
        <p:nvSpPr>
          <p:cNvPr id="1586" name=""/>
          <p:cNvSpPr/>
          <p:nvPr/>
        </p:nvSpPr>
        <p:spPr>
          <a:xfrm rot="0" flipH="0" flipV="0">
            <a:off x="8362950" y="2990850"/>
            <a:ext cx="32194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87" name=""/>
          <p:cNvSpPr/>
          <p:nvPr/>
        </p:nvSpPr>
        <p:spPr>
          <a:xfrm rot="0" flipH="0" flipV="0">
            <a:off x="8343900" y="2990850"/>
            <a:ext cx="3238500" cy="428625"/>
          </a:xfrm>
          <a:custGeom>
            <a:pathLst>
              <a:path w="340" h="45">
                <a:moveTo>
                  <a:pt x="0" y="0"/>
                </a:moveTo>
                <a:lnTo>
                  <a:pt x="2" y="0"/>
                </a:lnTo>
                <a:lnTo>
                  <a:pt x="2" y="45"/>
                </a:lnTo>
                <a:lnTo>
                  <a:pt x="0" y="4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8477250" y="313372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访问矩阵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时效台账</a:t>
            </a:r>
            <a:endParaRPr/>
          </a:p>
        </p:txBody>
      </p:sp>
      <p:sp>
        <p:nvSpPr>
          <p:cNvPr id="1589" name=""/>
          <p:cNvSpPr/>
          <p:nvPr/>
        </p:nvSpPr>
        <p:spPr>
          <a:xfrm rot="0" flipH="0" flipV="0">
            <a:off x="609600" y="3486150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0" name="" descr="{&quot;isTemplate&quot;:true,&quot;type&quot;:&quot;text&quot;}"/>
          <p:cNvSpPr txBox="1"/>
          <p:nvPr/>
        </p:nvSpPr>
        <p:spPr>
          <a:xfrm rot="0" flipH="0" flipV="0">
            <a:off x="771525" y="35909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51A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91" name=""/>
          <p:cNvSpPr/>
          <p:nvPr/>
        </p:nvSpPr>
        <p:spPr>
          <a:xfrm rot="0" flipH="0" flipV="0">
            <a:off x="1114425" y="3486150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1219200" y="3638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0651A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593" name=""/>
          <p:cNvSpPr/>
          <p:nvPr/>
        </p:nvSpPr>
        <p:spPr>
          <a:xfrm rot="0" flipH="0" flipV="0">
            <a:off x="1619250" y="3486150"/>
            <a:ext cx="6657975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1733550" y="362902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设计检索策略与评测集，先定验收线再建库</a:t>
            </a:r>
            <a:endParaRPr/>
          </a:p>
        </p:txBody>
      </p:sp>
      <p:sp>
        <p:nvSpPr>
          <p:cNvPr id="1595" name=""/>
          <p:cNvSpPr/>
          <p:nvPr/>
        </p:nvSpPr>
        <p:spPr>
          <a:xfrm rot="0" flipH="0" flipV="0">
            <a:off x="8362950" y="3486150"/>
            <a:ext cx="3219450" cy="4381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96" name=""/>
          <p:cNvSpPr/>
          <p:nvPr/>
        </p:nvSpPr>
        <p:spPr>
          <a:xfrm rot="0" flipH="0" flipV="0">
            <a:off x="8343900" y="3486150"/>
            <a:ext cx="3238500" cy="438150"/>
          </a:xfrm>
          <a:custGeom>
            <a:pathLst>
              <a:path w="340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97" name="" descr="{&quot;isTemplate&quot;:true,&quot;type&quot;:&quot;text&quot;}"/>
          <p:cNvSpPr txBox="1"/>
          <p:nvPr/>
        </p:nvSpPr>
        <p:spPr>
          <a:xfrm rot="0" flipH="0" flipV="0">
            <a:off x="8477250" y="363855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检索策略书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评测集</a:t>
            </a:r>
            <a:endParaRPr/>
          </a:p>
        </p:txBody>
      </p:sp>
      <p:sp>
        <p:nvSpPr>
          <p:cNvPr id="1598" name=""/>
          <p:cNvSpPr/>
          <p:nvPr/>
        </p:nvSpPr>
        <p:spPr>
          <a:xfrm rot="0" flipH="0" flipV="0">
            <a:off x="609600" y="3990975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9" name="" descr="{&quot;isTemplate&quot;:true,&quot;type&quot;:&quot;text&quot;}"/>
          <p:cNvSpPr txBox="1"/>
          <p:nvPr/>
        </p:nvSpPr>
        <p:spPr>
          <a:xfrm rot="0" flipH="0" flipV="0">
            <a:off x="771525" y="40957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51A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600" name=""/>
          <p:cNvSpPr/>
          <p:nvPr/>
        </p:nvSpPr>
        <p:spPr>
          <a:xfrm rot="0" flipH="0" flipV="0">
            <a:off x="1114425" y="3990975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1" name="" descr="{&quot;isTemplate&quot;:true,&quot;type&quot;:&quot;text&quot;}"/>
          <p:cNvSpPr txBox="1"/>
          <p:nvPr/>
        </p:nvSpPr>
        <p:spPr>
          <a:xfrm rot="0" flipH="0" flipV="0">
            <a:off x="1219200" y="41338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0651A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602" name=""/>
          <p:cNvSpPr/>
          <p:nvPr/>
        </p:nvSpPr>
        <p:spPr>
          <a:xfrm rot="0" flipH="0" flipV="0">
            <a:off x="1619250" y="3990975"/>
            <a:ext cx="6657975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3" name="" descr="{&quot;isTemplate&quot;:true,&quot;type&quot;:&quot;text&quot;}"/>
          <p:cNvSpPr txBox="1"/>
          <p:nvPr/>
        </p:nvSpPr>
        <p:spPr>
          <a:xfrm rot="0" flipH="0" flipV="0">
            <a:off x="1733550" y="413385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试运行，调切片、调召回、调重排</a:t>
            </a:r>
            <a:endParaRPr/>
          </a:p>
        </p:txBody>
      </p:sp>
      <p:sp>
        <p:nvSpPr>
          <p:cNvPr id="1604" name=""/>
          <p:cNvSpPr/>
          <p:nvPr/>
        </p:nvSpPr>
        <p:spPr>
          <a:xfrm rot="0" flipH="0" flipV="0">
            <a:off x="8362950" y="3990975"/>
            <a:ext cx="32194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05" name=""/>
          <p:cNvSpPr/>
          <p:nvPr/>
        </p:nvSpPr>
        <p:spPr>
          <a:xfrm rot="0" flipH="0" flipV="0">
            <a:off x="8343900" y="3990975"/>
            <a:ext cx="3238500" cy="428625"/>
          </a:xfrm>
          <a:custGeom>
            <a:pathLst>
              <a:path w="340" h="45">
                <a:moveTo>
                  <a:pt x="0" y="0"/>
                </a:moveTo>
                <a:lnTo>
                  <a:pt x="2" y="0"/>
                </a:lnTo>
                <a:lnTo>
                  <a:pt x="2" y="45"/>
                </a:lnTo>
                <a:lnTo>
                  <a:pt x="0" y="4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06" name="" descr="{&quot;isTemplate&quot;:true,&quot;type&quot;:&quot;text&quot;}"/>
          <p:cNvSpPr txBox="1"/>
          <p:nvPr/>
        </p:nvSpPr>
        <p:spPr>
          <a:xfrm rot="0" flipH="0" flipV="0">
            <a:off x="8477250" y="413385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试运行报告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调优记录</a:t>
            </a:r>
            <a:endParaRPr/>
          </a:p>
        </p:txBody>
      </p:sp>
      <p:sp>
        <p:nvSpPr>
          <p:cNvPr id="1607" name=""/>
          <p:cNvSpPr/>
          <p:nvPr/>
        </p:nvSpPr>
        <p:spPr>
          <a:xfrm rot="0" flipH="0" flipV="0">
            <a:off x="609600" y="4486275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8" name="" descr="{&quot;isTemplate&quot;:true,&quot;type&quot;:&quot;text&quot;}"/>
          <p:cNvSpPr txBox="1"/>
          <p:nvPr/>
        </p:nvSpPr>
        <p:spPr>
          <a:xfrm rot="0" flipH="0" flipV="0">
            <a:off x="771525" y="45910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3A17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609" name=""/>
          <p:cNvSpPr/>
          <p:nvPr/>
        </p:nvSpPr>
        <p:spPr>
          <a:xfrm rot="0" flipH="0" flipV="0">
            <a:off x="1114425" y="4486275"/>
            <a:ext cx="438150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1219200" y="46386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运营</a:t>
            </a:r>
            <a:endParaRPr/>
          </a:p>
        </p:txBody>
      </p:sp>
      <p:sp>
        <p:nvSpPr>
          <p:cNvPr id="1611" name=""/>
          <p:cNvSpPr/>
          <p:nvPr/>
        </p:nvSpPr>
        <p:spPr>
          <a:xfrm rot="0" flipH="0" flipV="0">
            <a:off x="1619250" y="4486275"/>
            <a:ext cx="6657975" cy="4381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12" name="" descr="{&quot;isTemplate&quot;:true,&quot;type&quot;:&quot;text&quot;}"/>
          <p:cNvSpPr txBox="1"/>
          <p:nvPr/>
        </p:nvSpPr>
        <p:spPr>
          <a:xfrm rot="0" flipH="0" flipV="0">
            <a:off x="1733550" y="462915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上线评审，转入生命周期治理</a:t>
            </a:r>
            <a:endParaRPr/>
          </a:p>
        </p:txBody>
      </p:sp>
      <p:sp>
        <p:nvSpPr>
          <p:cNvPr id="1613" name=""/>
          <p:cNvSpPr/>
          <p:nvPr/>
        </p:nvSpPr>
        <p:spPr>
          <a:xfrm rot="0" flipH="0" flipV="0">
            <a:off x="8362950" y="4486275"/>
            <a:ext cx="3219450" cy="4381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14" name=""/>
          <p:cNvSpPr/>
          <p:nvPr/>
        </p:nvSpPr>
        <p:spPr>
          <a:xfrm rot="0" flipH="0" flipV="0">
            <a:off x="8343900" y="4486275"/>
            <a:ext cx="3238500" cy="438150"/>
          </a:xfrm>
          <a:custGeom>
            <a:pathLst>
              <a:path w="340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15" name="" descr="{&quot;isTemplate&quot;:true,&quot;type&quot;:&quot;text&quot;}"/>
          <p:cNvSpPr txBox="1"/>
          <p:nvPr/>
        </p:nvSpPr>
        <p:spPr>
          <a:xfrm rot="0" flipH="0" flipV="0">
            <a:off x="8477250" y="463867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上线评审表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治理运营手册</a:t>
            </a:r>
            <a:endParaRPr/>
          </a:p>
        </p:txBody>
      </p:sp>
      <p:sp>
        <p:nvSpPr>
          <p:cNvPr id="1616" name=""/>
          <p:cNvSpPr/>
          <p:nvPr/>
        </p:nvSpPr>
        <p:spPr>
          <a:xfrm rot="0" flipH="0" flipV="0">
            <a:off x="609600" y="4991100"/>
            <a:ext cx="10972800" cy="64770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17" name="" descr="{&quot;isTemplate&quot;:true,&quot;type&quot;:&quot;text&quot;}"/>
          <p:cNvSpPr txBox="1"/>
          <p:nvPr/>
        </p:nvSpPr>
        <p:spPr>
          <a:xfrm rot="0" flipH="0" flipV="0">
            <a:off x="781050" y="5238750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三条硬规则</a:t>
            </a:r>
            <a:endParaRPr/>
          </a:p>
        </p:txBody>
      </p:sp>
      <p:sp>
        <p:nvSpPr>
          <p:cNvPr id="1618" name=""/>
          <p:cNvSpPr/>
          <p:nvPr/>
        </p:nvSpPr>
        <p:spPr>
          <a:xfrm rot="0" flipH="0" flipV="0">
            <a:off x="2114550" y="5114925"/>
            <a:ext cx="30384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619" name="" descr="{&quot;isTemplate&quot;:true,&quot;type&quot;:&quot;text&quot;}"/>
          <p:cNvSpPr txBox="1"/>
          <p:nvPr/>
        </p:nvSpPr>
        <p:spPr>
          <a:xfrm rot="0" flipH="0" flipV="0">
            <a:off x="2209800" y="51816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20" name="" descr="{&quot;isTemplate&quot;:true,&quot;type&quot;:&quot;text&quot;}"/>
          <p:cNvSpPr txBox="1"/>
          <p:nvPr/>
        </p:nvSpPr>
        <p:spPr>
          <a:xfrm rot="0" flipH="0" flipV="0">
            <a:off x="2343150" y="51720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先治理再建库</a:t>
            </a:r>
            <a:endParaRPr/>
          </a:p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2209800" y="5343525"/>
            <a:ext cx="2847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口径不清就不要先上向量库</a:t>
            </a:r>
            <a:endParaRPr/>
          </a:p>
        </p:txBody>
      </p:sp>
      <p:sp>
        <p:nvSpPr>
          <p:cNvPr id="1622" name=""/>
          <p:cNvSpPr/>
          <p:nvPr/>
        </p:nvSpPr>
        <p:spPr>
          <a:xfrm rot="0" flipH="0" flipV="0">
            <a:off x="5248275" y="5114925"/>
            <a:ext cx="3028950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623" name="" descr="{&quot;isTemplate&quot;:true,&quot;type&quot;:&quot;text&quot;}"/>
          <p:cNvSpPr txBox="1"/>
          <p:nvPr/>
        </p:nvSpPr>
        <p:spPr>
          <a:xfrm rot="0" flipH="0" flipV="0">
            <a:off x="5343525" y="51816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24" name="" descr="{&quot;isTemplate&quot;:true,&quot;type&quot;:&quot;text&quot;}"/>
          <p:cNvSpPr txBox="1"/>
          <p:nvPr/>
        </p:nvSpPr>
        <p:spPr>
          <a:xfrm rot="0" flipH="0" flipV="0">
            <a:off x="5476875" y="51720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先只读后写回</a:t>
            </a:r>
            <a:endParaRPr/>
          </a:p>
        </p:txBody>
      </p:sp>
      <p:sp>
        <p:nvSpPr>
          <p:cNvPr id="1625" name="" descr="{&quot;isTemplate&quot;:true,&quot;type&quot;:&quot;text&quot;}"/>
          <p:cNvSpPr txBox="1"/>
          <p:nvPr/>
        </p:nvSpPr>
        <p:spPr>
          <a:xfrm rot="0" flipH="0" flipV="0">
            <a:off x="5343525" y="5343525"/>
            <a:ext cx="2838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先做检索与引用，再谈写回</a:t>
            </a:r>
            <a:endParaRPr/>
          </a:p>
        </p:txBody>
      </p:sp>
      <p:sp>
        <p:nvSpPr>
          <p:cNvPr id="1626" name=""/>
          <p:cNvSpPr/>
          <p:nvPr/>
        </p:nvSpPr>
        <p:spPr>
          <a:xfrm rot="0" flipH="0" flipV="0">
            <a:off x="8372475" y="5114925"/>
            <a:ext cx="30384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627" name="" descr="{&quot;isTemplate&quot;:true,&quot;type&quot;:&quot;text&quot;}"/>
          <p:cNvSpPr txBox="1"/>
          <p:nvPr/>
        </p:nvSpPr>
        <p:spPr>
          <a:xfrm rot="0" flipH="0" flipV="0">
            <a:off x="8467725" y="51816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628" name="" descr="{&quot;isTemplate&quot;:true,&quot;type&quot;:&quot;text&quot;}"/>
          <p:cNvSpPr txBox="1"/>
          <p:nvPr/>
        </p:nvSpPr>
        <p:spPr>
          <a:xfrm rot="0" flipH="0" flipV="0">
            <a:off x="8601075" y="51720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先有评测再扩域</a:t>
            </a:r>
            <a:endParaRPr/>
          </a:p>
        </p:txBody>
      </p:sp>
      <p:sp>
        <p:nvSpPr>
          <p:cNvPr id="1629" name="" descr="{&quot;isTemplate&quot;:true,&quot;type&quot;:&quot;text&quot;}"/>
          <p:cNvSpPr txBox="1"/>
          <p:nvPr/>
        </p:nvSpPr>
        <p:spPr>
          <a:xfrm rot="0" flipH="0" flipV="0">
            <a:off x="8467725" y="5343525"/>
            <a:ext cx="2847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没有评测集不扩知识域</a:t>
            </a:r>
            <a:endParaRPr/>
          </a:p>
        </p:txBody>
      </p:sp>
      <p:sp>
        <p:nvSpPr>
          <p:cNvPr id="163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3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3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63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634" name="" descr="&lt;Slide style={{ width: 1280, height: 720, background: '#0F1423' }}&gt;&#10;    &lt;Box style={{ position: 'absolute', left: 0, top: 0, width: 1280, height: 720, background: 'linear-gradient(135deg, #0F1423 0%, #2A1810 100%)' }} /&gt;&#10; &lt;Box style={{ position: 'absolute', right: 0, top: 0, width: 560, height: 720, background: 'linear-gradient(200deg, rgba(250,79,36,0.28) 0%, rgba(250,79,36,0) 70%)' }} /&gt;&#10;&#10;  &lt;Box style={{ position: 'absolute', right: 70, top: 110 }}&gt;&#10;        &lt;Text style={{ fontSize: 300, fontWeight: 'bold', color: 'rgba(255,255,255,0.08)', lineHeight: 1.0 }}&gt;01&lt;/Text&gt;&#10;    &lt;/Box&gt;&#10;&#10;    &lt;Box style={{ position: 'absolute', left: 88, top: 232, width: 700, flexDirection: 'column' }}&gt;&#10;        &lt;Text style={{ fontSize: 15, color: 'rgba(255,255,255,0.5)', letterSpacing: 3 }}&gt;PART 01&lt;/Text&gt;&#10;    &lt;Box style={{ width: 72, height: 5, background: '#FA4F24', marginTop: 22 }} /&gt;&#10; &lt;Text style={{ fontSize: 52, fontWeight: 'bold', color: '#FFFFFF', marginTop: 28, lineHeight: 1.15 }}&gt;知识库本身&lt;/Text&gt;&#10;        &lt;Text style={{ fontSize: 17, color: 'rgba(255,255,255,0.62)', letterSpacing: 2, marginTop: 20 }}&gt;WHAT A KNOWLEDGE BASE REALLY IS&lt;/Text&gt;&#10;  &lt;Text style={{ fontSize: 19, color: 'rgba(255,255,255,0.85)', marginTop: 26, lineHeight: 1.6 }}&gt;向量检索只是它的最后一公里，不是它的定义&lt;/Text&gt;&#10; &lt;/Box&gt;&#10;&#10;    &lt;Box style={{ position: 'absolute', right: 88, bottom: 64, flexDirection: 'row', alignItems: 'center', gap: 12 }}&gt;&#10;   &lt;Box style={{ width: 14, height: 14, background: '#FA4F24' }} /&gt;&#10;        &lt;Text style={{ fontSize: 14, color: 'rgba(255,255,255,0.5)' }}&gt;硕磐机密 · 知识库咨询方法论&lt;/Text&gt;&#10;        &lt;Text style={{ fontSize: 14, color: 'rgba(255,255,255,0.5)', marginLeft: 12 }}&gt;05 / 30&lt;/Text&gt;&#10;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37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638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640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1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知识库本身</a:t>
            </a:r>
            <a:endParaRPr/>
          </a:p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WHAT A KNOWLEDGE BASE REALLY IS</a:t>
            </a:r>
            <a:endParaRPr/>
          </a:p>
        </p:txBody>
      </p:sp>
      <p:sp>
        <p:nvSpPr>
          <p:cNvPr id="1643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向量检索只是它的最后一公里，不是它的定义</a:t>
            </a:r>
            <a:endParaRPr/>
          </a:p>
        </p:txBody>
      </p:sp>
      <p:sp>
        <p:nvSpPr>
          <p:cNvPr id="1644" name=""/>
          <p:cNvSpPr/>
          <p:nvPr/>
        </p:nvSpPr>
        <p:spPr>
          <a:xfrm rot="0" flipH="0" flipV="0">
            <a:off x="87058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5" name="" descr="{&quot;isTemplate&quot;:true,&quot;type&quot;:&quot;text&quot;}"/>
          <p:cNvSpPr txBox="1"/>
          <p:nvPr/>
        </p:nvSpPr>
        <p:spPr>
          <a:xfrm rot="0" flipH="0" flipV="0">
            <a:off x="89535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646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647" name="" descr="&lt;Slide style={{ width: 1280, height: 720, background: '#FFFFFF', padding: '24px 64px 0' }}&gt;&#10;  &lt;Box style={{ height: 96, flexDirection: 'column', justifyContent: 'flex-start' }}&gt;&#10;        &lt;Text style={{ fontSize: 32, fontWeight: 'bold', color: '#0F1423' }}&gt;&#10;     之定义：知识库的&lt;span style={{ color: '#FA4F24' }}&gt;四个角色&lt;/span&gt;，缺第三个就一定失败&#10;        &lt;/Text&gt;&#10;        &lt;Text style={{ fontSize: 20, color: '#8A8F99', marginTop: 8 }}&gt;&#10;  企业建知识库普遍只建了前两个角色，所以一年之后库里全是互相矛盾的旧文档&#10; &lt;/Text&gt;&#10;    &lt;/Box&gt;&#10; &lt;Box style={{ height: 1, background: '#E8E8E8' }} /&gt;&#10;&#10;    &lt;Box style={{ paddingTop: 16, paddingBottom: 10, height: 479, flexDirection: 'column', gap: 9 }}&gt;&#10;      {/* 四个角色 */}&#10;      &lt;Box style={{ flex: 1, flexDirection: 'row', gap: 9 }}&gt;&#10;        {[&#10;        { n: '角色一', t: '采集者', d: '把散落在文档、系统、邮件、群聊、会议纪要里的内容，变成可索引的单元', todo: '对接源清单、采集频率、格式归一', c: '#8A8F99' },&#10;          { n: '角色二', t: '加工者', d: '切片、抽取实体与关系、补口径标注，让片段能独立成立', todo: '切片规范、抽取规则、元数据补齐', c: '#FBA15C' },&#10;     { n: '角色三', t: '治理者', d: '定口径、管时效、管权限、管下架——决定哪条知识算数', todo: '口径字典、时效台账、责任矩阵', c: '#FA4F24', star: true },&#10;    { n: '角色四', t: '服务方', d: '以检索上下文的形式供给 Agent 与应用，并保证引用可追', todo: '检索策略、引用规范、评测集', c: '#F87D2F' },&#10;        ].map((it, i) =&gt; (&#10;     &lt;Box key={it.n} style={{ flex: 1, background: it.star ? '#FFF3EE' : '#F7F7F8', borderRadius: 4, borderTop: '4px solid ' + it.c, padding: '11px 15px', flexDirection: 'column' }}&gt;&#10;         &lt;Text style={{ fontSize: 12, color: '#8A8F99' }}&gt;{it.n}&lt;/Text&gt;&#10;      &lt;Text style={{ fontSize: 22, fontWeight: 'bold', color: it.c, marginTop: 2 }}&gt;{it.t}&lt;/Text&gt;&#10;          &lt;Text style={{ fontSize: 12, color: '#3A4050', marginTop: 7, lineHeight: 1.5, flex: 1 }}&gt;{it.d}&lt;/Text&gt;&#10;      &lt;Box style={{ height: 46, background: '#FFFFFF', borderRadius: 3, padding: '6px 10px', marginTop: 7 }}&gt;&#10;     &lt;Text style={{ fontSize: 10, color: '#8A8F99' }}&gt;关键交付&lt;/Text&gt;&#10;       &lt;Text style={{ fontSize: 11, color: '#C43A17', fontWeight: 'bold', marginTop: 2, lineHeight: 1.35 }}&gt;{it.todo}&lt;/Text&gt;&#10;        &lt;/Box&gt;&#10;     &lt;/Box&gt;&#10;        ))}&#10;   &lt;/Box&gt;&#10;&#10;   {/* 失败规律 */}&#10;      &lt;Box style={{ height: 90, background: '#0F1423', borderRadius: 4, padding: '0 18px', flexDirection: 'row', alignItems: 'center', gap: 16 }}&gt;&#10;    &lt;Text style={{ fontSize: 15, fontWeight: 'bold', color: '#FBA15C', width: 196 }}&gt;为什么企业总是缺角色三&lt;/Text&gt;&#10;        &lt;Text style={{ fontSize: 13, color: 'rgba(255,255,255,0.92)', flex: 1, lineHeight: 1.55 }}&gt;&#10;  采集和加工有明确的产出物和技术工种，好分工也好考核；治理没有技术产出物，它的产出是「一道让大家放弃旧文档的决议」。所以大多数单位把它挂在某个部门兼管，没有人真正为知识准确性负责——最后知识库就退化成一个搜索更快的网盘。&#10;      &lt;/Text&gt;&#10;      &lt;/Box&gt;&#10;&#10; {/* 三条判据 */}&#10;      &lt;Box style={{ flex: 1, background: '#F7F7F8', borderRadius: 4, padding: '10px 16px', flexDirection: 'column' }}&gt;&#10;        &lt;Text style={{ fontSize: 14, fontWeight: 'bold', color: '#0F1423', marginBottom: 7 }}&gt;判断一家企业的知识库是「知识库」还是「文档堆」，看三件事&lt;/Text&gt;&#10;  &lt;Box style={{ flexDirection: 'row', gap: 10, flex: 1 }}&gt;&#10;       {[&#10;      { q: '同一个问题', a: '两个部门问同口径问题，答出来的数一样吗' },&#10;      { q: '一条三个月前的制度', a: '还有人在按它执行吗，系统会不会把它当成现行有效' },&#10;          { q: '一条答案', a: '能不能在十秒内点开到它依据的那份文件的第几页' },&#10;      ].map((x, i) =&gt; (&#10;   &lt;Box key={x.q} style={{ flex: 1, background: '#FFFFFF', borderRadius: 3, borderLeft: '3px solid #FA4F24', padding: '8px 11px' }}&gt;&#10;         &lt;Text style={{ fontSize: 12, fontWeight: 'bold', color: '#C43A17' }}&gt;{x.q}&lt;/Text&gt;&#10;      &lt;Text style={{ fontSize: 11, color: '#5A6072', marginTop: 3, lineHeight: 1.4 }}&gt;{x.a}&lt;/Text&gt;&#10;   &lt;/Box&gt;&#10;          ))}&#10; &lt;/Box&gt;&#10;      &lt;/Box&gt;&#10;    &lt;/Box&gt;&#10;&#10;    &lt;Box style={{ height: 58, flexDirection: 'row', alignItems: 'center', borderTop: '1px solid #E8E8E8' }}&gt;&#10;        &lt;Box style={{ width: 10, height: 10, background: '#FA4F24' }} /&gt;&#10;     &lt;Text style={{ fontSize: 13, color: '#8A8F99', marginLeft: 12 }}&gt;硕磐机密 · 知识库咨询方法论&lt;/Text&gt;&#10; &lt;Text style={{ fontSize: 13, color: '#8A8F99', marginLeft: 'auto' }}&gt;0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之定义：知识库的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四个角色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，缺第三个就一定失败</a:t>
            </a:r>
            <a:endParaRPr/>
          </a:p>
        </p:txBody>
      </p:sp>
      <p:sp>
        <p:nvSpPr>
          <p:cNvPr id="165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企业建知识库普遍只建了前两个角色，所以一年之后库里全是互相矛盾的旧文档</a:t>
            </a:r>
            <a:endParaRPr/>
          </a:p>
        </p:txBody>
      </p:sp>
      <p:sp>
        <p:nvSpPr>
          <p:cNvPr id="165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52" name=""/>
          <p:cNvSpPr/>
          <p:nvPr/>
        </p:nvSpPr>
        <p:spPr>
          <a:xfrm rot="0" flipH="0" flipV="0">
            <a:off x="609600" y="1343025"/>
            <a:ext cx="267652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53" name=""/>
          <p:cNvSpPr/>
          <p:nvPr/>
        </p:nvSpPr>
        <p:spPr>
          <a:xfrm rot="0" flipH="0" flipV="0">
            <a:off x="609600" y="1343025"/>
            <a:ext cx="2676525" cy="2009775"/>
          </a:xfrm>
          <a:custGeom>
            <a:pathLst>
              <a:path w="281" h="211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654" name="" descr="{&quot;isTemplate&quot;:true,&quot;type&quot;:&quot;text&quot;}"/>
          <p:cNvSpPr txBox="1"/>
          <p:nvPr/>
        </p:nvSpPr>
        <p:spPr>
          <a:xfrm rot="0" flipH="0" flipV="0">
            <a:off x="752475" y="1447800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角色一</a:t>
            </a:r>
            <a:endParaRPr/>
          </a:p>
        </p:txBody>
      </p:sp>
      <p:sp>
        <p:nvSpPr>
          <p:cNvPr id="1655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8A8F99"/>
                </a:solidFill>
                <a:latin typeface="Microsoft YaHei"/>
                <a:ea typeface="Microsoft YaHei"/>
              </a:rPr>
              <a:t>采集者</a:t>
            </a:r>
            <a:endParaRPr/>
          </a:p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752475" y="1933575"/>
            <a:ext cx="23907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把散落在文档、系统、邮件、群聊、会议纪要里的内容，变成可索引的单元</a:t>
            </a:r>
            <a:endParaRPr/>
          </a:p>
        </p:txBody>
      </p:sp>
      <p:sp>
        <p:nvSpPr>
          <p:cNvPr id="1657" name=""/>
          <p:cNvSpPr/>
          <p:nvPr/>
        </p:nvSpPr>
        <p:spPr>
          <a:xfrm rot="0" flipH="0" flipV="0">
            <a:off x="752475" y="2771775"/>
            <a:ext cx="23907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8" name="" descr="{&quot;isTemplate&quot;:true,&quot;type&quot;:&quot;text&quot;}"/>
          <p:cNvSpPr txBox="1"/>
          <p:nvPr/>
        </p:nvSpPr>
        <p:spPr>
          <a:xfrm rot="0" flipH="0" flipV="0">
            <a:off x="847725" y="2828925"/>
            <a:ext cx="2200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关键交付</a:t>
            </a:r>
            <a:endParaRPr/>
          </a:p>
        </p:txBody>
      </p:sp>
      <p:sp>
        <p:nvSpPr>
          <p:cNvPr id="1659" name="" descr="{&quot;isTemplate&quot;:true,&quot;type&quot;:&quot;text&quot;}"/>
          <p:cNvSpPr txBox="1"/>
          <p:nvPr/>
        </p:nvSpPr>
        <p:spPr>
          <a:xfrm rot="0" flipH="0" flipV="0">
            <a:off x="847725" y="2962275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对接源清单、采集频率、格式归一</a:t>
            </a:r>
            <a:endParaRPr/>
          </a:p>
        </p:txBody>
      </p:sp>
      <p:sp>
        <p:nvSpPr>
          <p:cNvPr id="1660" name=""/>
          <p:cNvSpPr/>
          <p:nvPr/>
        </p:nvSpPr>
        <p:spPr>
          <a:xfrm rot="0" flipH="0" flipV="0">
            <a:off x="3371850" y="1343025"/>
            <a:ext cx="2686050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61" name=""/>
          <p:cNvSpPr/>
          <p:nvPr/>
        </p:nvSpPr>
        <p:spPr>
          <a:xfrm rot="0" flipH="0" flipV="0">
            <a:off x="3371850" y="1343025"/>
            <a:ext cx="2686050" cy="2009775"/>
          </a:xfrm>
          <a:custGeom>
            <a:pathLst>
              <a:path w="282" h="211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62" name="" descr="{&quot;isTemplate&quot;:true,&quot;type&quot;:&quot;text&quot;}"/>
          <p:cNvSpPr txBox="1"/>
          <p:nvPr/>
        </p:nvSpPr>
        <p:spPr>
          <a:xfrm rot="0" flipH="0" flipV="0">
            <a:off x="3514725" y="1447800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角色二</a:t>
            </a:r>
            <a:endParaRPr/>
          </a:p>
        </p:txBody>
      </p:sp>
      <p:sp>
        <p:nvSpPr>
          <p:cNvPr id="1663" name="" descr="{&quot;isTemplate&quot;:true,&quot;type&quot;:&quot;text&quot;}"/>
          <p:cNvSpPr txBox="1"/>
          <p:nvPr/>
        </p:nvSpPr>
        <p:spPr>
          <a:xfrm rot="0" flipH="0" flipV="0">
            <a:off x="3514725" y="1609725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BA15C"/>
                </a:solidFill>
                <a:latin typeface="Microsoft YaHei"/>
                <a:ea typeface="Microsoft YaHei"/>
              </a:rPr>
              <a:t>加工者</a:t>
            </a:r>
            <a:endParaRPr/>
          </a:p>
        </p:txBody>
      </p:sp>
      <p:sp>
        <p:nvSpPr>
          <p:cNvPr id="1664" name="" descr="{&quot;isTemplate&quot;:true,&quot;type&quot;:&quot;text&quot;}"/>
          <p:cNvSpPr txBox="1"/>
          <p:nvPr/>
        </p:nvSpPr>
        <p:spPr>
          <a:xfrm rot="0" flipH="0" flipV="0">
            <a:off x="3514725" y="1933575"/>
            <a:ext cx="24003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切片、抽取实体与关系、补口径标注，让片段能独立成立</a:t>
            </a:r>
            <a:endParaRPr/>
          </a:p>
        </p:txBody>
      </p:sp>
      <p:sp>
        <p:nvSpPr>
          <p:cNvPr id="1665" name=""/>
          <p:cNvSpPr/>
          <p:nvPr/>
        </p:nvSpPr>
        <p:spPr>
          <a:xfrm rot="0" flipH="0" flipV="0">
            <a:off x="3514725" y="2771775"/>
            <a:ext cx="2400300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6" name="" descr="{&quot;isTemplate&quot;:true,&quot;type&quot;:&quot;text&quot;}"/>
          <p:cNvSpPr txBox="1"/>
          <p:nvPr/>
        </p:nvSpPr>
        <p:spPr>
          <a:xfrm rot="0" flipH="0" flipV="0">
            <a:off x="3609975" y="2828925"/>
            <a:ext cx="2209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关键交付</a:t>
            </a:r>
            <a:endParaRPr/>
          </a:p>
        </p:txBody>
      </p:sp>
      <p:sp>
        <p:nvSpPr>
          <p:cNvPr id="1667" name="" descr="{&quot;isTemplate&quot;:true,&quot;type&quot;:&quot;text&quot;}"/>
          <p:cNvSpPr txBox="1"/>
          <p:nvPr/>
        </p:nvSpPr>
        <p:spPr>
          <a:xfrm rot="0" flipH="0" flipV="0">
            <a:off x="3609975" y="2962275"/>
            <a:ext cx="22098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切片规范、抽取规则、元数据补齐</a:t>
            </a:r>
            <a:endParaRPr/>
          </a:p>
        </p:txBody>
      </p:sp>
      <p:sp>
        <p:nvSpPr>
          <p:cNvPr id="1668" name=""/>
          <p:cNvSpPr/>
          <p:nvPr/>
        </p:nvSpPr>
        <p:spPr>
          <a:xfrm rot="0" flipH="0" flipV="0">
            <a:off x="6143625" y="1343025"/>
            <a:ext cx="2676525" cy="2009775"/>
          </a:xfrm>
          <a:prstGeom prst="roundRect">
            <a:avLst>
              <a:gd name="adj" fmla="val 189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69" name=""/>
          <p:cNvSpPr/>
          <p:nvPr/>
        </p:nvSpPr>
        <p:spPr>
          <a:xfrm rot="0" flipH="0" flipV="0">
            <a:off x="6143625" y="1343025"/>
            <a:ext cx="2676525" cy="2009775"/>
          </a:xfrm>
          <a:custGeom>
            <a:pathLst>
              <a:path w="281" h="211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70" name="" descr="{&quot;isTemplate&quot;:true,&quot;type&quot;:&quot;text&quot;}"/>
          <p:cNvSpPr txBox="1"/>
          <p:nvPr/>
        </p:nvSpPr>
        <p:spPr>
          <a:xfrm rot="0" flipH="0" flipV="0">
            <a:off x="6286500" y="1447800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角色三</a:t>
            </a:r>
            <a:endParaRPr/>
          </a:p>
        </p:txBody>
      </p:sp>
      <p:sp>
        <p:nvSpPr>
          <p:cNvPr id="1671" name="" descr="{&quot;isTemplate&quot;:true,&quot;type&quot;:&quot;text&quot;}"/>
          <p:cNvSpPr txBox="1"/>
          <p:nvPr/>
        </p:nvSpPr>
        <p:spPr>
          <a:xfrm rot="0" flipH="0" flipV="0">
            <a:off x="6286500" y="160972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A4F24"/>
                </a:solidFill>
                <a:latin typeface="Microsoft YaHei"/>
                <a:ea typeface="Microsoft YaHei"/>
              </a:rPr>
              <a:t>治理者</a:t>
            </a:r>
            <a:endParaRPr/>
          </a:p>
        </p:txBody>
      </p:sp>
      <p:sp>
        <p:nvSpPr>
          <p:cNvPr id="1672" name="" descr="{&quot;isTemplate&quot;:true,&quot;type&quot;:&quot;text&quot;}"/>
          <p:cNvSpPr txBox="1"/>
          <p:nvPr/>
        </p:nvSpPr>
        <p:spPr>
          <a:xfrm rot="0" flipH="0" flipV="0">
            <a:off x="6286500" y="1933575"/>
            <a:ext cx="23907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定口径、管时效、管权限、管下架——决定哪条知识算数</a:t>
            </a:r>
            <a:endParaRPr/>
          </a:p>
        </p:txBody>
      </p:sp>
      <p:sp>
        <p:nvSpPr>
          <p:cNvPr id="1673" name=""/>
          <p:cNvSpPr/>
          <p:nvPr/>
        </p:nvSpPr>
        <p:spPr>
          <a:xfrm rot="0" flipH="0" flipV="0">
            <a:off x="6286500" y="2771775"/>
            <a:ext cx="23907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4" name="" descr="{&quot;isTemplate&quot;:true,&quot;type&quot;:&quot;text&quot;}"/>
          <p:cNvSpPr txBox="1"/>
          <p:nvPr/>
        </p:nvSpPr>
        <p:spPr>
          <a:xfrm rot="0" flipH="0" flipV="0">
            <a:off x="6381750" y="2828925"/>
            <a:ext cx="2200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关键交付</a:t>
            </a:r>
            <a:endParaRPr/>
          </a:p>
        </p:txBody>
      </p:sp>
      <p:sp>
        <p:nvSpPr>
          <p:cNvPr id="1675" name="" descr="{&quot;isTemplate&quot;:true,&quot;type&quot;:&quot;text&quot;}"/>
          <p:cNvSpPr txBox="1"/>
          <p:nvPr/>
        </p:nvSpPr>
        <p:spPr>
          <a:xfrm rot="0" flipH="0" flipV="0">
            <a:off x="6381750" y="2962275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口径字典、时效台账、责任矩阵</a:t>
            </a:r>
            <a:endParaRPr/>
          </a:p>
        </p:txBody>
      </p:sp>
      <p:sp>
        <p:nvSpPr>
          <p:cNvPr id="1676" name=""/>
          <p:cNvSpPr/>
          <p:nvPr/>
        </p:nvSpPr>
        <p:spPr>
          <a:xfrm rot="0" flipH="0" flipV="0">
            <a:off x="8905875" y="1343025"/>
            <a:ext cx="267652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77" name=""/>
          <p:cNvSpPr/>
          <p:nvPr/>
        </p:nvSpPr>
        <p:spPr>
          <a:xfrm rot="0" flipH="0" flipV="0">
            <a:off x="8905875" y="1343025"/>
            <a:ext cx="2676525" cy="2009775"/>
          </a:xfrm>
          <a:custGeom>
            <a:pathLst>
              <a:path w="281" h="211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678" name="" descr="{&quot;isTemplate&quot;:true,&quot;type&quot;:&quot;text&quot;}"/>
          <p:cNvSpPr txBox="1"/>
          <p:nvPr/>
        </p:nvSpPr>
        <p:spPr>
          <a:xfrm rot="0" flipH="0" flipV="0">
            <a:off x="9048750" y="1447800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角色四</a:t>
            </a:r>
            <a:endParaRPr/>
          </a:p>
        </p:txBody>
      </p:sp>
      <p:sp>
        <p:nvSpPr>
          <p:cNvPr id="1679" name="" descr="{&quot;isTemplate&quot;:true,&quot;type&quot;:&quot;text&quot;}"/>
          <p:cNvSpPr txBox="1"/>
          <p:nvPr/>
        </p:nvSpPr>
        <p:spPr>
          <a:xfrm rot="0" flipH="0" flipV="0">
            <a:off x="9048750" y="160972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7D2F"/>
                </a:solidFill>
                <a:latin typeface="Microsoft YaHei"/>
                <a:ea typeface="Microsoft YaHei"/>
              </a:rPr>
              <a:t>服务方</a:t>
            </a:r>
            <a:endParaRPr/>
          </a:p>
        </p:txBody>
      </p:sp>
      <p:sp>
        <p:nvSpPr>
          <p:cNvPr id="1680" name="" descr="{&quot;isTemplate&quot;:true,&quot;type&quot;:&quot;text&quot;}"/>
          <p:cNvSpPr txBox="1"/>
          <p:nvPr/>
        </p:nvSpPr>
        <p:spPr>
          <a:xfrm rot="0" flipH="0" flipV="0">
            <a:off x="9048750" y="1933575"/>
            <a:ext cx="23907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以检索上下文的形式供给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与应用，并保证引用可追</a:t>
            </a:r>
            <a:endParaRPr/>
          </a:p>
        </p:txBody>
      </p:sp>
      <p:sp>
        <p:nvSpPr>
          <p:cNvPr id="1681" name=""/>
          <p:cNvSpPr/>
          <p:nvPr/>
        </p:nvSpPr>
        <p:spPr>
          <a:xfrm rot="0" flipH="0" flipV="0">
            <a:off x="9048750" y="2771775"/>
            <a:ext cx="23907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2" name="" descr="{&quot;isTemplate&quot;:true,&quot;type&quot;:&quot;text&quot;}"/>
          <p:cNvSpPr txBox="1"/>
          <p:nvPr/>
        </p:nvSpPr>
        <p:spPr>
          <a:xfrm rot="0" flipH="0" flipV="0">
            <a:off x="9144000" y="2828925"/>
            <a:ext cx="2200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关键交付</a:t>
            </a:r>
            <a:endParaRPr/>
          </a:p>
        </p:txBody>
      </p:sp>
      <p:sp>
        <p:nvSpPr>
          <p:cNvPr id="1683" name="" descr="{&quot;isTemplate&quot;:true,&quot;type&quot;:&quot;text&quot;}"/>
          <p:cNvSpPr txBox="1"/>
          <p:nvPr/>
        </p:nvSpPr>
        <p:spPr>
          <a:xfrm rot="0" flipH="0" flipV="0">
            <a:off x="9144000" y="2962275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检索策略、引用规范、评测集</a:t>
            </a:r>
            <a:endParaRPr/>
          </a:p>
        </p:txBody>
      </p:sp>
      <p:sp>
        <p:nvSpPr>
          <p:cNvPr id="1684" name=""/>
          <p:cNvSpPr/>
          <p:nvPr/>
        </p:nvSpPr>
        <p:spPr>
          <a:xfrm rot="0" flipH="0" flipV="0">
            <a:off x="609600" y="3400425"/>
            <a:ext cx="10972800" cy="857250"/>
          </a:xfrm>
          <a:prstGeom prst="roundRect">
            <a:avLst>
              <a:gd name="adj" fmla="val 444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85" name="" descr="{&quot;isTemplate&quot;:true,&quot;type&quot;:&quot;text&quot;}"/>
          <p:cNvSpPr txBox="1"/>
          <p:nvPr/>
        </p:nvSpPr>
        <p:spPr>
          <a:xfrm rot="0" flipH="0" flipV="0">
            <a:off x="781050" y="37433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为什么企业总是缺角色三</a:t>
            </a:r>
            <a:endParaRPr/>
          </a:p>
        </p:txBody>
      </p:sp>
      <p:sp>
        <p:nvSpPr>
          <p:cNvPr id="1686" name="" descr="{&quot;isTemplate&quot;:true,&quot;type&quot;:&quot;text&quot;}"/>
          <p:cNvSpPr txBox="1"/>
          <p:nvPr/>
        </p:nvSpPr>
        <p:spPr>
          <a:xfrm rot="0" flipH="0" flipV="0">
            <a:off x="2800350" y="3600450"/>
            <a:ext cx="86106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采集和加工有明确的产出物和技术工种，好分工也好考核；治理没有技术产出物，它的产出是「一道让大家放弃旧文档的决议」。所以大多数单位把它挂在某个部门兼管，没有人真正为知识准确性负责——最后知识库就退化成一个搜索更快的网盘。</a:t>
            </a:r>
            <a:endParaRPr/>
          </a:p>
        </p:txBody>
      </p:sp>
      <p:sp>
        <p:nvSpPr>
          <p:cNvPr id="1687" name=""/>
          <p:cNvSpPr/>
          <p:nvPr/>
        </p:nvSpPr>
        <p:spPr>
          <a:xfrm rot="0" flipH="0" flipV="0">
            <a:off x="609600" y="4343400"/>
            <a:ext cx="10972800" cy="1276350"/>
          </a:xfrm>
          <a:prstGeom prst="roundRect">
            <a:avLst>
              <a:gd name="adj" fmla="val 29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88" name="" descr="{&quot;isTemplate&quot;:true,&quot;type&quot;:&quot;text&quot;}"/>
          <p:cNvSpPr txBox="1"/>
          <p:nvPr/>
        </p:nvSpPr>
        <p:spPr>
          <a:xfrm rot="0" flipH="0" flipV="0">
            <a:off x="762000" y="443865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判断一家企业的知识库是「知识库」还是「文档堆」，看三件事</a:t>
            </a:r>
            <a:endParaRPr/>
          </a:p>
        </p:txBody>
      </p:sp>
      <p:sp>
        <p:nvSpPr>
          <p:cNvPr id="1689" name=""/>
          <p:cNvSpPr/>
          <p:nvPr/>
        </p:nvSpPr>
        <p:spPr>
          <a:xfrm rot="0" flipH="0" flipV="0">
            <a:off x="790575" y="4667250"/>
            <a:ext cx="3495675" cy="857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0" name=""/>
          <p:cNvSpPr/>
          <p:nvPr/>
        </p:nvSpPr>
        <p:spPr>
          <a:xfrm rot="0" flipH="0" flipV="0">
            <a:off x="790575" y="4667250"/>
            <a:ext cx="3495675" cy="857250"/>
          </a:xfrm>
          <a:custGeom>
            <a:pathLst>
              <a:path w="367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895350" y="4743450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同一个问题</a:t>
            </a:r>
            <a:endParaRPr/>
          </a:p>
        </p:txBody>
      </p:sp>
      <p:sp>
        <p:nvSpPr>
          <p:cNvPr id="1692" name="" descr="{&quot;isTemplate&quot;:true,&quot;type&quot;:&quot;text&quot;}"/>
          <p:cNvSpPr txBox="1"/>
          <p:nvPr/>
        </p:nvSpPr>
        <p:spPr>
          <a:xfrm rot="0" flipH="0" flipV="0">
            <a:off x="895350" y="4914900"/>
            <a:ext cx="32575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两个部门问同口径问题，答出来的数一样吗</a:t>
            </a:r>
            <a:endParaRPr/>
          </a:p>
        </p:txBody>
      </p:sp>
      <p:sp>
        <p:nvSpPr>
          <p:cNvPr id="1693" name=""/>
          <p:cNvSpPr/>
          <p:nvPr/>
        </p:nvSpPr>
        <p:spPr>
          <a:xfrm rot="0" flipH="0" flipV="0">
            <a:off x="4381500" y="4667250"/>
            <a:ext cx="3486150" cy="857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4" name=""/>
          <p:cNvSpPr/>
          <p:nvPr/>
        </p:nvSpPr>
        <p:spPr>
          <a:xfrm rot="0" flipH="0" flipV="0">
            <a:off x="4381500" y="4667250"/>
            <a:ext cx="3486150" cy="857250"/>
          </a:xfrm>
          <a:custGeom>
            <a:pathLst>
              <a:path w="3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95" name="" descr="{&quot;isTemplate&quot;:true,&quot;type&quot;:&quot;text&quot;}"/>
          <p:cNvSpPr txBox="1"/>
          <p:nvPr/>
        </p:nvSpPr>
        <p:spPr>
          <a:xfrm rot="0" flipH="0" flipV="0">
            <a:off x="4486275" y="4743450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一条三个月前的制度</a:t>
            </a:r>
            <a:endParaRPr/>
          </a:p>
        </p:txBody>
      </p:sp>
      <p:sp>
        <p:nvSpPr>
          <p:cNvPr id="1696" name="" descr="{&quot;isTemplate&quot;:true,&quot;type&quot;:&quot;text&quot;}"/>
          <p:cNvSpPr txBox="1"/>
          <p:nvPr/>
        </p:nvSpPr>
        <p:spPr>
          <a:xfrm rot="0" flipH="0" flipV="0">
            <a:off x="4486275" y="4914900"/>
            <a:ext cx="32480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还有人在按它执行吗，系统会不会把它当成现行有效</a:t>
            </a:r>
            <a:endParaRPr/>
          </a:p>
        </p:txBody>
      </p:sp>
      <p:sp>
        <p:nvSpPr>
          <p:cNvPr id="1697" name=""/>
          <p:cNvSpPr/>
          <p:nvPr/>
        </p:nvSpPr>
        <p:spPr>
          <a:xfrm rot="0" flipH="0" flipV="0">
            <a:off x="7962900" y="4667250"/>
            <a:ext cx="3495675" cy="857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8" name=""/>
          <p:cNvSpPr/>
          <p:nvPr/>
        </p:nvSpPr>
        <p:spPr>
          <a:xfrm rot="0" flipH="0" flipV="0">
            <a:off x="7962900" y="4667250"/>
            <a:ext cx="3495675" cy="857250"/>
          </a:xfrm>
          <a:custGeom>
            <a:pathLst>
              <a:path w="367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99" name="" descr="{&quot;isTemplate&quot;:true,&quot;type&quot;:&quot;text&quot;}"/>
          <p:cNvSpPr txBox="1"/>
          <p:nvPr/>
        </p:nvSpPr>
        <p:spPr>
          <a:xfrm rot="0" flipH="0" flipV="0">
            <a:off x="8067675" y="4743450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一条答案</a:t>
            </a:r>
            <a:endParaRPr/>
          </a:p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8067675" y="4914900"/>
            <a:ext cx="32575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能不能在十秒内点开到它依据的那份文件的第几页</a:t>
            </a:r>
            <a:endParaRPr/>
          </a:p>
        </p:txBody>
      </p:sp>
      <p:sp>
        <p:nvSpPr>
          <p:cNvPr id="170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0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70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705" name="" descr="&lt;Slide style={{ width: 1280, height: 720, background: '#FFFFFF', padding: '24px 64px 0' }}&gt;&#10;    &lt;Box style={{ height: 96, flexDirection: 'column', justifyContent: 'flex-start' }}&gt;&#10;    &lt;Text style={{ fontSize: 32, fontWeight: 'bold', color: '#0F1423' }}&gt;&#10;     之构成：知识库的&lt;span style={{ color: '#FA4F24' }}&gt;五个组成部分&lt;/span&gt;，缺一层就出一类问题&#10;        &lt;/Text&gt;&#10;  &lt;Text style={{ fontSize: 20, color: '#8A8F99', marginTop: 8 }}&gt;&#10; 每层都有各自的失守方式，五层要分别设计、分别验收，不能合着买一套向量库了事&#10;     &lt;/Text&gt;&#10;    &lt;/Box&gt;&#10;    &lt;Box style={{ height: 1, background: '#E8E8E8' }} /&gt;&#10;&#10;    &lt;Box style={{ paddingTop: 14, paddingBottom: 10, height: 479, flexDirection: 'column', gap: 7 }}&gt;&#10;  {/* 五层链路 */}&#10;      &lt;Box style={{ height: 152, flexDirection: 'row', gap: 7, alignItems: 'stretch' }}&gt;&#10;        {[&#10;        { n: 'L1', t: '知识源', s: '制度 / 方案 / 案例 / 工单 / 邮件 / 纪要', f: '失守：源没登记，出了问题不知道找谁', c: '#8A8F99' },&#10;          { n: 'L2', t: '切片层', s: '把内容切成能独立成立的最小单元', f: '失守：切碎了语义，片段看不懂', c: '#FBA15C' },&#10;     { n: 'L3', t: '实体层', s: '抽出对象、属性、关系，挂到本体上', f: '失守：只有文本没有结构，永远只能语义匹配', c: '#F87D2F' },&#10;        { n: 'L4', t: '索引层', s: '向量索引 + 关键词索引 + 元数据过滤', f: '失守：只有向量，精确词查不准', c: '#E0651A' },&#10;          { n: 'L5', t: '治理层', s: '口径、时效、权限、责任人与下架', f: '失守：知识过期冲突，越权检索', c: '#FA4F24' },&#10;        ].map((it, i) =&gt; (&#10;          &lt;Box key={it.n} style={{ flex: 1, background: '#F7F7F8', borderRadius: 4, borderTop: '4px solid ' + it.c, padding: '9px 13px', flexDirection: 'column' }}&gt;&#10;            &lt;Box style={{ flexDirection: 'row', alignItems: 'center', gap: 8 }}&gt;&#10;           &lt;Text style={{ fontSize: 13, fontWeight: 'bold', color: it.c }}&gt;{it.n}&lt;/Text&gt;&#10;     &lt;Text style={{ fontSize: 17, fontWeight: 'bold', color: '#0F1423' }}&gt;{it.t}&lt;/Text&gt;&#10;        &lt;/Box&gt;&#10;  &lt;Text style={{ fontSize: 11, color: '#5A6072', marginTop: 6, lineHeight: 1.45, flex: 1 }}&gt;{it.s}&lt;/Text&gt;&#10;       &lt;Box style={{ height: 40, background: '#FFFFFF', borderRadius: 3, padding: '5px 9px' }}&gt;&#10;    &lt;Text style={{ fontSize: 10, color: '#C43A17', lineHeight: 1.35 }}&gt;{it.f}&lt;/Text&gt;&#10;     &lt;/Box&gt;&#10;       &lt;/Box&gt;&#10;   ))}&#10;      &lt;/Box&gt;&#10;&#10;      {/* L2 切片对比 */}&#10;      &lt;Box style={{ flex: 1, flexDirection: 'row', gap: 9 }}&gt;&#10;        &lt;Box style={{ flex: 1, background: '#FFF3EE', borderRadius: 4, borderLeft: '4px solid #FA4F24', padding: '10px 14px', flexDirection: 'column' }}&gt;&#10;   &lt;Text style={{ fontSize: 14, fontWeight: 'bold', color: '#C43A17' }}&gt;切片层是知识库最重要的设计决策&lt;/Text&gt;&#10;    &lt;Text style={{ fontSize: 12, color: '#3A4050', marginTop: 6, lineHeight: 1.5, flex: 1 }}&gt;&#10;    固定字数切片是最省事也最糟的做法：它会把一个完整判断从中间截断。检索时命中了半句「本项目须经」，模型根本不知道须经谁批。&#10;        &lt;/Text&gt;&#10;       &lt;Text style={{ fontSize: 12, color: '#5A6072', lineHeight: 1.5 }}&gt;&#10;     推荐按语义边界切：章节标题、条款号、段落首句。实践中的经验是——如果人类读者需要靠上下文才能看懂这个片段，那它就不合格。&#10;     &lt;/Text&gt;&#10; &lt;/Box&gt;&#10;        &lt;Box style={{ flex: 1, background: '#F7F7F8', borderRadius: 4, padding: '10px 14px', flexDirection: 'column' }}&gt;&#10;     &lt;Text style={{ fontSize: 14, fontWeight: 'bold', color: '#0F1423' }}&gt;索引层：三种检索能力，各管一段&lt;/Text&gt;&#10;   {[&#10;  { n: '语义检索', d: '查「意思相近」，靠向量' },&#10;       { n: '关键词检索', d: '查「确切编号与术语」，靠倒排' },&#10;            { n: '元数据过滤', d: '先按权限、时效、部门收窄范围' },&#10;          ].map((x, i) =&gt; (&#10;   &lt;Box key={x.n} style={{ flex: 1, flexDirection: 'row', alignItems: 'center', gap: 10, borderTop: i === 0 ? 'none' : '1px solid #E8E8E8' }}&gt;&#10;     &lt;Text style={{ fontSize: 13, fontWeight: 'bold', color: '#FA4F24', width: 84 }}&gt;{x.n}&lt;/Text&gt;&#10;              &lt;Text style={{ fontSize: 12, color: '#3A4050', flex: 1 }}&gt;{x.d}&lt;/Text&gt;&#10;      &lt;/Box&gt;&#10;          ))}&#10;      &lt;Text style={{ fontSize: 11, color: '#C43A17', marginTop: 6, lineHeight: 1.4 }}&gt;生产上顺序必须是：先用元数据过滤缩小范围，再混合检索排序，最后才交给模型。&lt;/Text&gt;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0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之构成：知识库的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五个组成部分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，缺一层就出一类问题</a:t>
            </a:r>
            <a:endParaRPr/>
          </a:p>
        </p:txBody>
      </p:sp>
      <p:sp>
        <p:nvSpPr>
          <p:cNvPr id="170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每层都有各自的失守方式，五层要分别设计、分别验收，不能合着买一套向量库了事</a:t>
            </a:r>
            <a:endParaRPr/>
          </a:p>
        </p:txBody>
      </p:sp>
      <p:sp>
        <p:nvSpPr>
          <p:cNvPr id="170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10" name=""/>
          <p:cNvSpPr/>
          <p:nvPr/>
        </p:nvSpPr>
        <p:spPr>
          <a:xfrm rot="0" flipH="0" flipV="0">
            <a:off x="609600" y="1323975"/>
            <a:ext cx="2143125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11" name=""/>
          <p:cNvSpPr/>
          <p:nvPr/>
        </p:nvSpPr>
        <p:spPr>
          <a:xfrm rot="0" flipH="0" flipV="0">
            <a:off x="609600" y="1323975"/>
            <a:ext cx="2143125" cy="1447800"/>
          </a:xfrm>
          <a:custGeom>
            <a:pathLst>
              <a:path w="225" h="152">
                <a:moveTo>
                  <a:pt x="221" y="0"/>
                </a:moveTo>
                <a:cubicBezTo>
                  <a:pt x="223" y="0"/>
                  <a:pt x="225" y="2"/>
                  <a:pt x="22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712" name="" descr="{&quot;isTemplate&quot;:true,&quot;type&quot;:&quot;text&quot;}"/>
          <p:cNvSpPr txBox="1"/>
          <p:nvPr/>
        </p:nvSpPr>
        <p:spPr>
          <a:xfrm rot="0" flipH="0" flipV="0">
            <a:off x="733425" y="14382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713" name="" descr="{&quot;isTemplate&quot;:true,&quot;type&quot;:&quot;text&quot;}"/>
          <p:cNvSpPr txBox="1"/>
          <p:nvPr/>
        </p:nvSpPr>
        <p:spPr>
          <a:xfrm rot="0" flipH="0" flipV="0">
            <a:off x="962025" y="14097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知识源</a:t>
            </a:r>
            <a:endParaRPr/>
          </a:p>
        </p:txBody>
      </p:sp>
      <p:sp>
        <p:nvSpPr>
          <p:cNvPr id="1714" name="" descr="{&quot;isTemplate&quot;:true,&quot;type&quot;:&quot;text&quot;}"/>
          <p:cNvSpPr txBox="1"/>
          <p:nvPr/>
        </p:nvSpPr>
        <p:spPr>
          <a:xfrm rot="0" flipH="0" flipV="0">
            <a:off x="733425" y="1666875"/>
            <a:ext cx="1895475" cy="600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制度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方案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案例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工单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邮件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纪要</a:t>
            </a:r>
            <a:endParaRPr/>
          </a:p>
        </p:txBody>
      </p:sp>
      <p:sp>
        <p:nvSpPr>
          <p:cNvPr id="1715" name=""/>
          <p:cNvSpPr/>
          <p:nvPr/>
        </p:nvSpPr>
        <p:spPr>
          <a:xfrm rot="0" flipH="0" flipV="0">
            <a:off x="733425" y="2266950"/>
            <a:ext cx="18954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6" name="" descr="{&quot;isTemplate&quot;:true,&quot;type&quot;:&quot;text&quot;}"/>
          <p:cNvSpPr txBox="1"/>
          <p:nvPr/>
        </p:nvSpPr>
        <p:spPr>
          <a:xfrm rot="0" flipH="0" flipV="0">
            <a:off x="819150" y="2314575"/>
            <a:ext cx="17240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失守：源没登记，出了问题不知道找谁</a:t>
            </a:r>
            <a:endParaRPr/>
          </a:p>
        </p:txBody>
      </p:sp>
      <p:sp>
        <p:nvSpPr>
          <p:cNvPr id="1717" name=""/>
          <p:cNvSpPr/>
          <p:nvPr/>
        </p:nvSpPr>
        <p:spPr>
          <a:xfrm rot="0" flipH="0" flipV="0">
            <a:off x="2819400" y="1323975"/>
            <a:ext cx="2143125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18" name=""/>
          <p:cNvSpPr/>
          <p:nvPr/>
        </p:nvSpPr>
        <p:spPr>
          <a:xfrm rot="0" flipH="0" flipV="0">
            <a:off x="2819400" y="1323975"/>
            <a:ext cx="2143125" cy="1447800"/>
          </a:xfrm>
          <a:custGeom>
            <a:pathLst>
              <a:path w="225" h="152">
                <a:moveTo>
                  <a:pt x="221" y="0"/>
                </a:moveTo>
                <a:cubicBezTo>
                  <a:pt x="223" y="0"/>
                  <a:pt x="225" y="2"/>
                  <a:pt x="22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19" name="" descr="{&quot;isTemplate&quot;:true,&quot;type&quot;:&quot;text&quot;}"/>
          <p:cNvSpPr txBox="1"/>
          <p:nvPr/>
        </p:nvSpPr>
        <p:spPr>
          <a:xfrm rot="0" flipH="0" flipV="0">
            <a:off x="2943225" y="14382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720" name="" descr="{&quot;isTemplate&quot;:true,&quot;type&quot;:&quot;text&quot;}"/>
          <p:cNvSpPr txBox="1"/>
          <p:nvPr/>
        </p:nvSpPr>
        <p:spPr>
          <a:xfrm rot="0" flipH="0" flipV="0">
            <a:off x="3171825" y="14097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切片层</a:t>
            </a:r>
            <a:endParaRPr/>
          </a:p>
        </p:txBody>
      </p:sp>
      <p:sp>
        <p:nvSpPr>
          <p:cNvPr id="1721" name="" descr="{&quot;isTemplate&quot;:true,&quot;type&quot;:&quot;text&quot;}"/>
          <p:cNvSpPr txBox="1"/>
          <p:nvPr/>
        </p:nvSpPr>
        <p:spPr>
          <a:xfrm rot="0" flipH="0" flipV="0">
            <a:off x="2943225" y="1666875"/>
            <a:ext cx="1895475" cy="600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把内容切成能独立成立的最小单元</a:t>
            </a:r>
            <a:endParaRPr/>
          </a:p>
        </p:txBody>
      </p:sp>
      <p:sp>
        <p:nvSpPr>
          <p:cNvPr id="1722" name=""/>
          <p:cNvSpPr/>
          <p:nvPr/>
        </p:nvSpPr>
        <p:spPr>
          <a:xfrm rot="0" flipH="0" flipV="0">
            <a:off x="2943225" y="2266950"/>
            <a:ext cx="18954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3" name="" descr="{&quot;isTemplate&quot;:true,&quot;type&quot;:&quot;text&quot;}"/>
          <p:cNvSpPr txBox="1"/>
          <p:nvPr/>
        </p:nvSpPr>
        <p:spPr>
          <a:xfrm rot="0" flipH="0" flipV="0">
            <a:off x="3028950" y="2314575"/>
            <a:ext cx="17240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失守：切碎了语义，片段看不懂</a:t>
            </a:r>
            <a:endParaRPr/>
          </a:p>
        </p:txBody>
      </p:sp>
      <p:sp>
        <p:nvSpPr>
          <p:cNvPr id="1724" name=""/>
          <p:cNvSpPr/>
          <p:nvPr/>
        </p:nvSpPr>
        <p:spPr>
          <a:xfrm rot="0" flipH="0" flipV="0">
            <a:off x="5029200" y="1323975"/>
            <a:ext cx="2133600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25" name=""/>
          <p:cNvSpPr/>
          <p:nvPr/>
        </p:nvSpPr>
        <p:spPr>
          <a:xfrm rot="0" flipH="0" flipV="0">
            <a:off x="5029200" y="1323975"/>
            <a:ext cx="2133600" cy="1447800"/>
          </a:xfrm>
          <a:custGeom>
            <a:pathLst>
              <a:path w="224" h="152">
                <a:moveTo>
                  <a:pt x="220" y="0"/>
                </a:moveTo>
                <a:cubicBezTo>
                  <a:pt x="222" y="0"/>
                  <a:pt x="224" y="2"/>
                  <a:pt x="22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0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726" name="" descr="{&quot;isTemplate&quot;:true,&quot;type&quot;:&quot;text&quot;}"/>
          <p:cNvSpPr txBox="1"/>
          <p:nvPr/>
        </p:nvSpPr>
        <p:spPr>
          <a:xfrm rot="0" flipH="0" flipV="0">
            <a:off x="5153025" y="14382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727" name="" descr="{&quot;isTemplate&quot;:true,&quot;type&quot;:&quot;text&quot;}"/>
          <p:cNvSpPr txBox="1"/>
          <p:nvPr/>
        </p:nvSpPr>
        <p:spPr>
          <a:xfrm rot="0" flipH="0" flipV="0">
            <a:off x="5381625" y="14097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实体层</a:t>
            </a:r>
            <a:endParaRPr/>
          </a:p>
        </p:txBody>
      </p:sp>
      <p:sp>
        <p:nvSpPr>
          <p:cNvPr id="1728" name="" descr="{&quot;isTemplate&quot;:true,&quot;type&quot;:&quot;text&quot;}"/>
          <p:cNvSpPr txBox="1"/>
          <p:nvPr/>
        </p:nvSpPr>
        <p:spPr>
          <a:xfrm rot="0" flipH="0" flipV="0">
            <a:off x="5153025" y="1666875"/>
            <a:ext cx="1885950" cy="600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抽出对象、属性、关系，挂到本体上</a:t>
            </a:r>
            <a:endParaRPr/>
          </a:p>
        </p:txBody>
      </p:sp>
      <p:sp>
        <p:nvSpPr>
          <p:cNvPr id="1729" name=""/>
          <p:cNvSpPr/>
          <p:nvPr/>
        </p:nvSpPr>
        <p:spPr>
          <a:xfrm rot="0" flipH="0" flipV="0">
            <a:off x="5153025" y="2266950"/>
            <a:ext cx="18859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0" name="" descr="{&quot;isTemplate&quot;:true,&quot;type&quot;:&quot;text&quot;}"/>
          <p:cNvSpPr txBox="1"/>
          <p:nvPr/>
        </p:nvSpPr>
        <p:spPr>
          <a:xfrm rot="0" flipH="0" flipV="0">
            <a:off x="5238750" y="2314575"/>
            <a:ext cx="1714500" cy="314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失守：只有文本没有结构，永远只能语义匹配</a:t>
            </a:r>
            <a:endParaRPr/>
          </a:p>
        </p:txBody>
      </p:sp>
      <p:sp>
        <p:nvSpPr>
          <p:cNvPr id="1731" name=""/>
          <p:cNvSpPr/>
          <p:nvPr/>
        </p:nvSpPr>
        <p:spPr>
          <a:xfrm rot="0" flipH="0" flipV="0">
            <a:off x="7229475" y="1323975"/>
            <a:ext cx="2143125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32" name=""/>
          <p:cNvSpPr/>
          <p:nvPr/>
        </p:nvSpPr>
        <p:spPr>
          <a:xfrm rot="0" flipH="0" flipV="0">
            <a:off x="7229475" y="1323975"/>
            <a:ext cx="2143125" cy="1447800"/>
          </a:xfrm>
          <a:custGeom>
            <a:pathLst>
              <a:path w="225" h="152">
                <a:moveTo>
                  <a:pt x="221" y="0"/>
                </a:moveTo>
                <a:cubicBezTo>
                  <a:pt x="223" y="0"/>
                  <a:pt x="225" y="2"/>
                  <a:pt x="22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733" name="" descr="{&quot;isTemplate&quot;:true,&quot;type&quot;:&quot;text&quot;}"/>
          <p:cNvSpPr txBox="1"/>
          <p:nvPr/>
        </p:nvSpPr>
        <p:spPr>
          <a:xfrm rot="0" flipH="0" flipV="0">
            <a:off x="7353300" y="14382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51A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1734" name="" descr="{&quot;isTemplate&quot;:true,&quot;type&quot;:&quot;text&quot;}"/>
          <p:cNvSpPr txBox="1"/>
          <p:nvPr/>
        </p:nvSpPr>
        <p:spPr>
          <a:xfrm rot="0" flipH="0" flipV="0">
            <a:off x="7581900" y="14097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索引层</a:t>
            </a:r>
            <a:endParaRPr/>
          </a:p>
        </p:txBody>
      </p:sp>
      <p:sp>
        <p:nvSpPr>
          <p:cNvPr id="1735" name="" descr="{&quot;isTemplate&quot;:true,&quot;type&quot;:&quot;text&quot;}"/>
          <p:cNvSpPr txBox="1"/>
          <p:nvPr/>
        </p:nvSpPr>
        <p:spPr>
          <a:xfrm rot="0" flipH="0" flipV="0">
            <a:off x="7353300" y="1666875"/>
            <a:ext cx="1895475" cy="600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向量索引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关键词索引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元数据过滤</a:t>
            </a:r>
            <a:endParaRPr/>
          </a:p>
        </p:txBody>
      </p:sp>
      <p:sp>
        <p:nvSpPr>
          <p:cNvPr id="1736" name=""/>
          <p:cNvSpPr/>
          <p:nvPr/>
        </p:nvSpPr>
        <p:spPr>
          <a:xfrm rot="0" flipH="0" flipV="0">
            <a:off x="7353300" y="2266950"/>
            <a:ext cx="18954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7" name="" descr="{&quot;isTemplate&quot;:true,&quot;type&quot;:&quot;text&quot;}"/>
          <p:cNvSpPr txBox="1"/>
          <p:nvPr/>
        </p:nvSpPr>
        <p:spPr>
          <a:xfrm rot="0" flipH="0" flipV="0">
            <a:off x="7439025" y="2314575"/>
            <a:ext cx="17240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失守：只有向量，精确词查不准</a:t>
            </a:r>
            <a:endParaRPr/>
          </a:p>
        </p:txBody>
      </p:sp>
      <p:sp>
        <p:nvSpPr>
          <p:cNvPr id="1738" name=""/>
          <p:cNvSpPr/>
          <p:nvPr/>
        </p:nvSpPr>
        <p:spPr>
          <a:xfrm rot="0" flipH="0" flipV="0">
            <a:off x="9439275" y="1323975"/>
            <a:ext cx="2143125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39" name=""/>
          <p:cNvSpPr/>
          <p:nvPr/>
        </p:nvSpPr>
        <p:spPr>
          <a:xfrm rot="0" flipH="0" flipV="0">
            <a:off x="9439275" y="1323975"/>
            <a:ext cx="2143125" cy="1447800"/>
          </a:xfrm>
          <a:custGeom>
            <a:pathLst>
              <a:path w="225" h="152">
                <a:moveTo>
                  <a:pt x="221" y="0"/>
                </a:moveTo>
                <a:cubicBezTo>
                  <a:pt x="223" y="0"/>
                  <a:pt x="225" y="2"/>
                  <a:pt x="22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40" name="" descr="{&quot;isTemplate&quot;:true,&quot;type&quot;:&quot;text&quot;}"/>
          <p:cNvSpPr txBox="1"/>
          <p:nvPr/>
        </p:nvSpPr>
        <p:spPr>
          <a:xfrm rot="0" flipH="0" flipV="0">
            <a:off x="9563100" y="14382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1741" name="" descr="{&quot;isTemplate&quot;:true,&quot;type&quot;:&quot;text&quot;}"/>
          <p:cNvSpPr txBox="1"/>
          <p:nvPr/>
        </p:nvSpPr>
        <p:spPr>
          <a:xfrm rot="0" flipH="0" flipV="0">
            <a:off x="9791700" y="14097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治理层</a:t>
            </a:r>
            <a:endParaRPr/>
          </a:p>
        </p:txBody>
      </p:sp>
      <p:sp>
        <p:nvSpPr>
          <p:cNvPr id="1742" name="" descr="{&quot;isTemplate&quot;:true,&quot;type&quot;:&quot;text&quot;}"/>
          <p:cNvSpPr txBox="1"/>
          <p:nvPr/>
        </p:nvSpPr>
        <p:spPr>
          <a:xfrm rot="0" flipH="0" flipV="0">
            <a:off x="9563100" y="1666875"/>
            <a:ext cx="1895475" cy="600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口径、时效、权限、责任人与下架</a:t>
            </a:r>
            <a:endParaRPr/>
          </a:p>
        </p:txBody>
      </p:sp>
      <p:sp>
        <p:nvSpPr>
          <p:cNvPr id="1743" name=""/>
          <p:cNvSpPr/>
          <p:nvPr/>
        </p:nvSpPr>
        <p:spPr>
          <a:xfrm rot="0" flipH="0" flipV="0">
            <a:off x="9563100" y="2266950"/>
            <a:ext cx="18954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4" name="" descr="{&quot;isTemplate&quot;:true,&quot;type&quot;:&quot;text&quot;}"/>
          <p:cNvSpPr txBox="1"/>
          <p:nvPr/>
        </p:nvSpPr>
        <p:spPr>
          <a:xfrm rot="0" flipH="0" flipV="0">
            <a:off x="9648825" y="2314575"/>
            <a:ext cx="17240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失守：知识过期冲突，越权检索</a:t>
            </a:r>
            <a:endParaRPr/>
          </a:p>
        </p:txBody>
      </p:sp>
      <p:sp>
        <p:nvSpPr>
          <p:cNvPr id="1745" name=""/>
          <p:cNvSpPr/>
          <p:nvPr/>
        </p:nvSpPr>
        <p:spPr>
          <a:xfrm rot="0" flipH="0" flipV="0">
            <a:off x="647700" y="2800350"/>
            <a:ext cx="5448300" cy="2819400"/>
          </a:xfrm>
          <a:prstGeom prst="roundRect">
            <a:avLst>
              <a:gd name="adj" fmla="val 13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46" name=""/>
          <p:cNvSpPr/>
          <p:nvPr/>
        </p:nvSpPr>
        <p:spPr>
          <a:xfrm rot="0" flipH="0" flipV="0">
            <a:off x="647700" y="2800350"/>
            <a:ext cx="5448300" cy="2819400"/>
          </a:xfrm>
          <a:custGeom>
            <a:pathLst>
              <a:path w="572" h="296">
                <a:moveTo>
                  <a:pt x="4" y="296"/>
                </a:moveTo>
                <a:cubicBezTo>
                  <a:pt x="2" y="296"/>
                  <a:pt x="0" y="294"/>
                  <a:pt x="0" y="2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9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47" name="" descr="{&quot;isTemplate&quot;:true,&quot;type&quot;:&quot;text&quot;}"/>
          <p:cNvSpPr txBox="1"/>
          <p:nvPr/>
        </p:nvSpPr>
        <p:spPr>
          <a:xfrm rot="0" flipH="0" flipV="0">
            <a:off x="781050" y="289560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切片层是知识库最重要的设计决策</a:t>
            </a:r>
            <a:endParaRPr/>
          </a:p>
        </p:txBody>
      </p:sp>
      <p:sp>
        <p:nvSpPr>
          <p:cNvPr id="1748" name="" descr="{&quot;isTemplate&quot;:true,&quot;type&quot;:&quot;text&quot;}"/>
          <p:cNvSpPr txBox="1"/>
          <p:nvPr/>
        </p:nvSpPr>
        <p:spPr>
          <a:xfrm rot="0" flipH="0" flipV="0">
            <a:off x="781050" y="3114675"/>
            <a:ext cx="5143500" cy="1990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固定字数切片是最省事也最糟的做法：它会把一个完整判断从中间截断。检索时命中了半句「本项目须经」，模型根本不知道须经谁批。</a:t>
            </a:r>
            <a:endParaRPr/>
          </a:p>
        </p:txBody>
      </p:sp>
      <p:sp>
        <p:nvSpPr>
          <p:cNvPr id="1749" name="" descr="{&quot;isTemplate&quot;:true,&quot;type&quot;:&quot;text&quot;}"/>
          <p:cNvSpPr txBox="1"/>
          <p:nvPr/>
        </p:nvSpPr>
        <p:spPr>
          <a:xfrm rot="0" flipH="0" flipV="0">
            <a:off x="781050" y="5105400"/>
            <a:ext cx="51435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推荐按语义边界切：章节标题、条款号、段落首句。实践中的经验是——如果人类读者需要靠上下文才能看懂这个片段，那它就不合格。</a:t>
            </a:r>
            <a:endParaRPr/>
          </a:p>
        </p:txBody>
      </p:sp>
      <p:sp>
        <p:nvSpPr>
          <p:cNvPr id="1750" name=""/>
          <p:cNvSpPr/>
          <p:nvPr/>
        </p:nvSpPr>
        <p:spPr>
          <a:xfrm rot="0" flipH="0" flipV="0">
            <a:off x="6143625" y="2800350"/>
            <a:ext cx="5438775" cy="2819400"/>
          </a:xfrm>
          <a:prstGeom prst="roundRect">
            <a:avLst>
              <a:gd name="adj" fmla="val 13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51" name="" descr="{&quot;isTemplate&quot;:true,&quot;type&quot;:&quot;text&quot;}"/>
          <p:cNvSpPr txBox="1"/>
          <p:nvPr/>
        </p:nvSpPr>
        <p:spPr>
          <a:xfrm rot="0" flipH="0" flipV="0">
            <a:off x="6276975" y="2895600"/>
            <a:ext cx="517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索引层：三种检索能力，各管一段</a:t>
            </a:r>
            <a:endParaRPr/>
          </a:p>
        </p:txBody>
      </p:sp>
      <p:sp>
        <p:nvSpPr>
          <p:cNvPr id="1752" name="" descr="{&quot;isTemplate&quot;:true,&quot;type&quot;:&quot;text&quot;}"/>
          <p:cNvSpPr txBox="1"/>
          <p:nvPr/>
        </p:nvSpPr>
        <p:spPr>
          <a:xfrm rot="0" flipH="0" flipV="0">
            <a:off x="6276975" y="3352800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语义检索</a:t>
            </a:r>
            <a:endParaRPr/>
          </a:p>
        </p:txBody>
      </p:sp>
      <p:sp>
        <p:nvSpPr>
          <p:cNvPr id="1753" name="" descr="{&quot;isTemplate&quot;:true,&quot;type&quot;:&quot;text&quot;}"/>
          <p:cNvSpPr txBox="1"/>
          <p:nvPr/>
        </p:nvSpPr>
        <p:spPr>
          <a:xfrm rot="0" flipH="0" flipV="0">
            <a:off x="7172325" y="3352800"/>
            <a:ext cx="427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查「意思相近」，靠向量</a:t>
            </a:r>
            <a:endParaRPr/>
          </a:p>
        </p:txBody>
      </p:sp>
      <p:sp>
        <p:nvSpPr>
          <p:cNvPr id="1754" name=""/>
          <p:cNvSpPr/>
          <p:nvPr/>
        </p:nvSpPr>
        <p:spPr>
          <a:xfrm rot="0" flipH="0" flipV="0">
            <a:off x="6276975" y="3790950"/>
            <a:ext cx="5172075" cy="762000"/>
          </a:xfrm>
          <a:custGeom>
            <a:pathLst>
              <a:path w="543" h="80">
                <a:moveTo>
                  <a:pt x="0" y="0"/>
                </a:moveTo>
                <a:lnTo>
                  <a:pt x="543" y="0"/>
                </a:lnTo>
                <a:lnTo>
                  <a:pt x="543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55" name="" descr="{&quot;isTemplate&quot;:true,&quot;type&quot;:&quot;text&quot;}"/>
          <p:cNvSpPr txBox="1"/>
          <p:nvPr/>
        </p:nvSpPr>
        <p:spPr>
          <a:xfrm rot="0" flipH="0" flipV="0">
            <a:off x="6276975" y="4095750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关键词检索</a:t>
            </a:r>
            <a:endParaRPr/>
          </a:p>
        </p:txBody>
      </p:sp>
      <p:sp>
        <p:nvSpPr>
          <p:cNvPr id="1756" name="" descr="{&quot;isTemplate&quot;:true,&quot;type&quot;:&quot;text&quot;}"/>
          <p:cNvSpPr txBox="1"/>
          <p:nvPr/>
        </p:nvSpPr>
        <p:spPr>
          <a:xfrm rot="0" flipH="0" flipV="0">
            <a:off x="7172325" y="4105275"/>
            <a:ext cx="427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查「确切编号与术语」，靠倒排</a:t>
            </a:r>
            <a:endParaRPr/>
          </a:p>
        </p:txBody>
      </p:sp>
      <p:sp>
        <p:nvSpPr>
          <p:cNvPr id="1757" name=""/>
          <p:cNvSpPr/>
          <p:nvPr/>
        </p:nvSpPr>
        <p:spPr>
          <a:xfrm rot="0" flipH="0" flipV="0">
            <a:off x="6276975" y="4543425"/>
            <a:ext cx="5172075" cy="752475"/>
          </a:xfrm>
          <a:custGeom>
            <a:pathLst>
              <a:path w="543" h="79">
                <a:moveTo>
                  <a:pt x="0" y="0"/>
                </a:moveTo>
                <a:lnTo>
                  <a:pt x="543" y="0"/>
                </a:lnTo>
                <a:lnTo>
                  <a:pt x="543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58" name="" descr="{&quot;isTemplate&quot;:true,&quot;type&quot;:&quot;text&quot;}"/>
          <p:cNvSpPr txBox="1"/>
          <p:nvPr/>
        </p:nvSpPr>
        <p:spPr>
          <a:xfrm rot="0" flipH="0" flipV="0">
            <a:off x="6276975" y="484822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元数据过滤</a:t>
            </a:r>
            <a:endParaRPr/>
          </a:p>
        </p:txBody>
      </p:sp>
      <p:sp>
        <p:nvSpPr>
          <p:cNvPr id="1759" name="" descr="{&quot;isTemplate&quot;:true,&quot;type&quot;:&quot;text&quot;}"/>
          <p:cNvSpPr txBox="1"/>
          <p:nvPr/>
        </p:nvSpPr>
        <p:spPr>
          <a:xfrm rot="0" flipH="0" flipV="0">
            <a:off x="7172325" y="4848225"/>
            <a:ext cx="427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先按权限、时效、部门收窄范围</a:t>
            </a:r>
            <a:endParaRPr/>
          </a:p>
        </p:txBody>
      </p:sp>
      <p:sp>
        <p:nvSpPr>
          <p:cNvPr id="1760" name="" descr="{&quot;isTemplate&quot;:true,&quot;type&quot;:&quot;text&quot;}"/>
          <p:cNvSpPr txBox="1"/>
          <p:nvPr/>
        </p:nvSpPr>
        <p:spPr>
          <a:xfrm rot="0" flipH="0" flipV="0">
            <a:off x="6276975" y="5343525"/>
            <a:ext cx="51720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生产上顺序必须是：先用元数据过滤缩小范围，再混合检索排序，最后才交给模型。</a:t>
            </a:r>
            <a:endParaRPr/>
          </a:p>
        </p:txBody>
      </p:sp>
      <p:sp>
        <p:nvSpPr>
          <p:cNvPr id="176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6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6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76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65" name="" descr="&lt;Slide style={{ width: 1280, height: 720, background: '#FFFFFF', padding: '24px 64px 0' }}&gt;&#10;    &lt;Box style={{ height: 96, flexDirection: 'column', justifyContent: 'flex-start' }}&gt;&#10;     &lt;Text style={{ fontSize: 32, fontWeight: 'bold', color: '#0F1423' }}&gt;&#10;  之演进：从&lt;span style={{ color: '#FA4F24' }}&gt;RAG 到 OAG&lt;/span&gt;，检索增强的三代做法&#10;        &lt;/Text&gt;&#10;        &lt;Text style={{ fontSize: 20, color: '#8A8F99', marginTop: 8 }}&gt;&#10;           企业场景的答案不在检索算法里，在「检索什么、谁来判、能不能改」这三件事上&#10;        &lt;/Text&gt;&#10;    &lt;/Box&gt;&#10;  &lt;Box style={{ height: 1, background: '#E8E8E8' }} /&gt;&#10;&#10;    &lt;Box style={{ paddingTop: 14, paddingBottom: 10, height: 479, flexDirection: 'column', gap: 8 }}&gt;&#10;      {/* 三代 */}&#10;      {[&#10;    { g: '第一代', t: 'RAG', s: '检索增强生成', how: '从文档里找相关片段，塞进提示词，模型据此作答', gain: '解决了「模型不知道你们公司的事」', risk: '检索错 → 答错；无法回答「所以该怎么做」', c: '#8A8F99' },&#10;        { g: '第二代', t: 'RAG + 工具调用', s: '让模型能查、能算、能调接口', how: '除了读文档，还能调函数查库、做精确计算', gain: '数字不再靠模型算，可靠性明显上升', risk: '读到的数据没权限约束；模型不知道什么能改', c: '#FBA15C' },&#10;   { g: '第三代', t: 'OAG', s: '本体增强生成', how: '本体提供对象·逻辑·Action，模型只在授权范围内取数与行动', gain: '答案锚定在业务事实与确定性逻辑上，可解释、可审计、可闭环', risk: '对本体质量要求高，前期投入大', c: '#FA4F24' },&#10;      ].map((it, i) =&gt; (&#10; &lt;Box key={it.g} style={{ flex: 1, background: '#F7F7F8', borderRadius: 4, borderLeft: '5px solid ' + it.c, padding: '10px 16px', flexDirection: 'row', alignItems: 'center', gap: 14 }}&gt;&#10;     &lt;Box style={{ width: 128 }}&gt;&#10;       &lt;Text style={{ fontSize: 12, color: '#8A8F99' }}&gt;{it.g}&lt;/Text&gt;&#10;     &lt;Text style={{ fontSize: 26, fontWeight: 'bold', color: it.c, marginTop: 1 }}&gt;{it.t}&lt;/Text&gt;&#10;  &lt;/Box&gt;&#10;        &lt;Box style={{ width: 210 }}&gt;&#10;       &lt;Text style={{ fontSize: 12, color: '#8A8F99' }}&gt;{it.s}&lt;/Text&gt;&#10;   &lt;Text style={{ fontSize: 11, color: '#5A6072', marginTop: 3, lineHeight: 1.35 }}&gt;{it.how}&lt;/Text&gt;&#10;       &lt;/Box&gt;&#10;          &lt;Box style={{ flex: 1, height: 40, background: '#FFFFFF', borderRadius: 3, padding: '0 11px', justifyContent: 'center' }}&gt;&#10;            &lt;Text style={{ fontSize: 11, fontWeight: 'bold', color: '#3A4050' }}&gt;↑ {it.gain}&lt;/Text&gt;&#10;      &lt;/Box&gt;&#10;        &lt;Box style={{ width: 300, height: 40, background: '#FFF3EE', borderRadius: 3, padding: '0 11px', justifyContent: 'center' }}&gt;&#10;            &lt;Text style={{ fontSize: 11, color: '#C43A17' }}&gt;↓ {it.risk}&lt;/Text&gt;&#10;  &lt;/Box&gt;&#10;        &lt;/Box&gt;&#10;      ))}&#10;&#10;      {/* 关键约束 */}&#10;      &lt;Box style={{ height: 114, background: '#0F1423', borderRadius: 4, padding: '12px 18px', flexDirection: 'column' }}&gt;&#10;        &lt;Text style={{ fontSize: 15, fontWeight: 'bold', color: '#FBA15C' }}&gt;OAG 的三条硬约束，也是本册最该被写进架构文档的三句话&lt;/Text&gt;&#10;    &lt;Box style={{ flexDirection: 'row', gap: 10, marginTop: 9, flex: 1 }}&gt;&#10;          {[&#10;      { n: '模型不能直接访问工具', d: '模型只能提出「要用哪个工具」，由平台在发起调用的那个用户的权限内执行' },&#10;  { n: '写回必须经由Action', d: '即使函数里含写入动作，若不是从 Action 里执行，变更不会生效' },&#10;    { n: '读取控制不等于输出控制', d: '行列级访问控制只过滤读入提示词的数据，不覆盖模型输出，也不覆盖写回' },&#10;   ].map((x, i) =&gt; (&#10;      &lt;Box key={x.n} style={{ flex: 1, background: 'rgba(255,255,255,0.07)', borderRadius: 3, borderLeft: '3px solid #FA4F24', padding: '7px 11px' }}&gt;&#10;     &lt;Box style={{ flexDirection: 'row', alignItems: 'center', gap: 8 }}&gt;&#10;      &lt;Text style={{ fontSize: 11, fontWeight: 'bold', color: '#FA4F24' }}&gt;{String(i + 1).padStart(2, '0')}&lt;/Text&gt;&#10;    &lt;Text style={{ fontSize: 13, fontWeight: 'bold', color: '#FFFFFF' }}&gt;{x.n}&lt;/Text&gt;&#10;      &lt;/Box&gt;&#10;  &lt;Text style={{ fontSize: 11, color: 'rgba(255,255,255,0.62)', marginTop: 4, lineHeight: 1.4 }}&gt;{x.d}&lt;/Text&gt;&#10;    &lt;/Box&gt;&#10;     ))}&#10;        &lt;/Box&gt;&#10;      &lt;/Box&gt;&#10;&#10;  {/* 选型建议 */}&#10;      &lt;Box style={{ height: 56, background: '#FFF3EE', borderRadius: 4, borderLeft: '5px solid #FA4F24', padding: '0 18px', flexDirection: 'row', alignItems: 'center', gap: 14 }}&gt;&#10;        &lt;Text style={{ fontSize: 14, fontWeight: 'bold', color: '#C43A17', width: 128 }}&gt;选型建议&lt;/Text&gt;&#10;     &lt;Text style={{ fontSize: 13, color: '#0F1423', flex: 1, lineHeight: 1.45 }}&gt;&#10;      纯文档问答用第一代就够；涉及数字和接口用第二代；一旦要让 AI 参与决策闭环，或者答案必须可审计，直接上第三代。不要用第一代的成本去换第三代的场景。&#10;   &lt;/Text&gt;&#10;      &lt;/Box&gt;&#10;    &lt;/Box&gt;&#10;&#10;    &lt;Box style={{ height: 58, flexDirection: 'row', alignItems: 'center', borderTop: '1px solid #E8E8E8' }}&gt;&#10;    &lt;Box style={{ width: 10, height: 10, background: '#FA4F24' }} /&gt;&#10;   &lt;Text style={{ fontSize: 13, color: '#8A8F99', marginLeft: 12 }}&gt;硕磐机密 · 知识库咨询方法论&lt;/Text&gt;&#10;        &lt;Text style={{ fontSize: 13, color: '#8A8F99', marginLeft: 'auto' }}&gt;0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之演进：从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RAG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OAG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，检索增强的三代做法</a:t>
            </a:r>
            <a:endParaRPr/>
          </a:p>
        </p:txBody>
      </p:sp>
      <p:sp>
        <p:nvSpPr>
          <p:cNvPr id="176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企业场景的答案不在检索算法里，在「检索什么、谁来判、能不能改」这三件事上</a:t>
            </a:r>
            <a:endParaRPr/>
          </a:p>
        </p:txBody>
      </p:sp>
      <p:sp>
        <p:nvSpPr>
          <p:cNvPr id="176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70" name=""/>
          <p:cNvSpPr/>
          <p:nvPr/>
        </p:nvSpPr>
        <p:spPr>
          <a:xfrm rot="0" flipH="0" flipV="0">
            <a:off x="657225" y="1285875"/>
            <a:ext cx="10972800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71" name=""/>
          <p:cNvSpPr/>
          <p:nvPr/>
        </p:nvSpPr>
        <p:spPr>
          <a:xfrm rot="0" flipH="0" flipV="0">
            <a:off x="657225" y="1285875"/>
            <a:ext cx="10972800" cy="723900"/>
          </a:xfrm>
          <a:custGeom>
            <a:pathLst>
              <a:path w="1152" h="76">
                <a:moveTo>
                  <a:pt x="5" y="76"/>
                </a:moveTo>
                <a:cubicBezTo>
                  <a:pt x="4" y="76"/>
                  <a:pt x="3" y="76"/>
                  <a:pt x="2" y="75"/>
                </a:cubicBezTo>
                <a:cubicBezTo>
                  <a:pt x="1" y="75"/>
                  <a:pt x="0" y="74"/>
                  <a:pt x="0" y="72"/>
                </a:cubicBezTo>
                <a:lnTo>
                  <a:pt x="0" y="72"/>
                </a:lnTo>
                <a:lnTo>
                  <a:pt x="0" y="7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772" name="" descr="{&quot;isTemplate&quot;:true,&quot;type&quot;:&quot;text&quot;}"/>
          <p:cNvSpPr txBox="1"/>
          <p:nvPr/>
        </p:nvSpPr>
        <p:spPr>
          <a:xfrm rot="0" flipH="0" flipV="0">
            <a:off x="809625" y="1419225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第一代</a:t>
            </a:r>
            <a:endParaRPr/>
          </a:p>
        </p:txBody>
      </p:sp>
      <p:sp>
        <p:nvSpPr>
          <p:cNvPr id="1773" name="" descr="{&quot;isTemplate&quot;:true,&quot;type&quot;:&quot;text&quot;}"/>
          <p:cNvSpPr txBox="1"/>
          <p:nvPr/>
        </p:nvSpPr>
        <p:spPr>
          <a:xfrm rot="0" flipH="0" flipV="0">
            <a:off x="809625" y="1571625"/>
            <a:ext cx="1219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A8F99"/>
                </a:solidFill>
                <a:latin typeface="Microsoft YaHei"/>
                <a:ea typeface="Microsoft YaHei"/>
              </a:rPr>
              <a:t>RAG</a:t>
            </a:r>
            <a:endParaRPr/>
          </a:p>
        </p:txBody>
      </p:sp>
      <p:sp>
        <p:nvSpPr>
          <p:cNvPr id="1774" name="" descr="{&quot;isTemplate&quot;:true,&quot;type&quot;:&quot;text&quot;}"/>
          <p:cNvSpPr txBox="1"/>
          <p:nvPr/>
        </p:nvSpPr>
        <p:spPr>
          <a:xfrm rot="0" flipH="0" flipV="0">
            <a:off x="2162175" y="1390650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检索增强生成</a:t>
            </a:r>
            <a:endParaRPr/>
          </a:p>
        </p:txBody>
      </p:sp>
      <p:sp>
        <p:nvSpPr>
          <p:cNvPr id="1775" name="" descr="{&quot;isTemplate&quot;:true,&quot;type&quot;:&quot;text&quot;}"/>
          <p:cNvSpPr txBox="1"/>
          <p:nvPr/>
        </p:nvSpPr>
        <p:spPr>
          <a:xfrm rot="0" flipH="0" flipV="0">
            <a:off x="2162175" y="1562100"/>
            <a:ext cx="20002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从文档里找相关片段，塞进提示词，模型据此作答</a:t>
            </a:r>
            <a:endParaRPr/>
          </a:p>
        </p:txBody>
      </p:sp>
      <p:sp>
        <p:nvSpPr>
          <p:cNvPr id="1776" name=""/>
          <p:cNvSpPr/>
          <p:nvPr/>
        </p:nvSpPr>
        <p:spPr>
          <a:xfrm rot="0" flipH="0" flipV="0">
            <a:off x="4295775" y="1457325"/>
            <a:ext cx="41433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7" name="" descr="{&quot;isTemplate&quot;:true,&quot;type&quot;:&quot;text&quot;}"/>
          <p:cNvSpPr txBox="1"/>
          <p:nvPr/>
        </p:nvSpPr>
        <p:spPr>
          <a:xfrm rot="0" flipH="0" flipV="0">
            <a:off x="4400550" y="1581150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↑ </a:t>
            </a: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解决了「模型不知道你们公司的事」</a:t>
            </a:r>
            <a:endParaRPr/>
          </a:p>
        </p:txBody>
      </p:sp>
      <p:sp>
        <p:nvSpPr>
          <p:cNvPr id="1778" name=""/>
          <p:cNvSpPr/>
          <p:nvPr/>
        </p:nvSpPr>
        <p:spPr>
          <a:xfrm rot="0" flipH="0" flipV="0">
            <a:off x="8572500" y="1457325"/>
            <a:ext cx="28575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79" name="" descr="{&quot;isTemplate&quot;:true,&quot;type&quot;:&quot;text&quot;}"/>
          <p:cNvSpPr txBox="1"/>
          <p:nvPr/>
        </p:nvSpPr>
        <p:spPr>
          <a:xfrm rot="0" flipH="0" flipV="0">
            <a:off x="8677275" y="1581150"/>
            <a:ext cx="2647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检索错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答错；无法回答「所以该怎么做」</a:t>
            </a:r>
            <a:endParaRPr/>
          </a:p>
        </p:txBody>
      </p:sp>
      <p:sp>
        <p:nvSpPr>
          <p:cNvPr id="1780" name=""/>
          <p:cNvSpPr/>
          <p:nvPr/>
        </p:nvSpPr>
        <p:spPr>
          <a:xfrm rot="0" flipH="0" flipV="0">
            <a:off x="657225" y="2085975"/>
            <a:ext cx="10972800" cy="962025"/>
          </a:xfrm>
          <a:prstGeom prst="roundRect">
            <a:avLst>
              <a:gd name="adj" fmla="val 39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81" name=""/>
          <p:cNvSpPr/>
          <p:nvPr/>
        </p:nvSpPr>
        <p:spPr>
          <a:xfrm rot="0" flipH="0" flipV="0">
            <a:off x="657225" y="2085975"/>
            <a:ext cx="10972800" cy="962025"/>
          </a:xfrm>
          <a:custGeom>
            <a:pathLst>
              <a:path w="1152" h="101">
                <a:moveTo>
                  <a:pt x="5" y="101"/>
                </a:moveTo>
                <a:cubicBezTo>
                  <a:pt x="4" y="101"/>
                  <a:pt x="3" y="101"/>
                  <a:pt x="2" y="100"/>
                </a:cubicBezTo>
                <a:cubicBezTo>
                  <a:pt x="1" y="100"/>
                  <a:pt x="0" y="99"/>
                  <a:pt x="0" y="97"/>
                </a:cubicBezTo>
                <a:lnTo>
                  <a:pt x="0" y="97"/>
                </a:lnTo>
                <a:lnTo>
                  <a:pt x="0" y="9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82" name="" descr="{&quot;isTemplate&quot;:true,&quot;type&quot;:&quot;text&quot;}"/>
          <p:cNvSpPr txBox="1"/>
          <p:nvPr/>
        </p:nvSpPr>
        <p:spPr>
          <a:xfrm rot="0" flipH="0" flipV="0">
            <a:off x="809625" y="219075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第二代</a:t>
            </a:r>
            <a:endParaRPr/>
          </a:p>
        </p:txBody>
      </p:sp>
      <p:sp>
        <p:nvSpPr>
          <p:cNvPr id="1783" name="" descr="{&quot;isTemplate&quot;:true,&quot;type&quot;:&quot;text&quot;}"/>
          <p:cNvSpPr txBox="1"/>
          <p:nvPr/>
        </p:nvSpPr>
        <p:spPr>
          <a:xfrm rot="0" flipH="0" flipV="0">
            <a:off x="809625" y="2343150"/>
            <a:ext cx="12192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RAG + </a:t>
            </a:r>
            <a:r>
              <a:rPr lang="zh-CN" sz="1950" b="1">
                <a:solidFill>
                  <a:srgbClr val="FBA15C"/>
                </a:solidFill>
                <a:latin typeface="Microsoft YaHei"/>
                <a:ea typeface="Microsoft YaHei"/>
              </a:rPr>
              <a:t>工具调用</a:t>
            </a:r>
            <a:endParaRPr/>
          </a:p>
        </p:txBody>
      </p:sp>
      <p:sp>
        <p:nvSpPr>
          <p:cNvPr id="1784" name="" descr="{&quot;isTemplate&quot;:true,&quot;type&quot;:&quot;text&quot;}"/>
          <p:cNvSpPr txBox="1"/>
          <p:nvPr/>
        </p:nvSpPr>
        <p:spPr>
          <a:xfrm rot="0" flipH="0" flipV="0">
            <a:off x="2162175" y="2400300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让模型能查、能算、能调接口</a:t>
            </a:r>
            <a:endParaRPr/>
          </a:p>
        </p:txBody>
      </p:sp>
      <p:sp>
        <p:nvSpPr>
          <p:cNvPr id="1785" name="" descr="{&quot;isTemplate&quot;:true,&quot;type&quot;:&quot;text&quot;}"/>
          <p:cNvSpPr txBox="1"/>
          <p:nvPr/>
        </p:nvSpPr>
        <p:spPr>
          <a:xfrm rot="0" flipH="0" flipV="0">
            <a:off x="2162175" y="25717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除了读文档，还能调函数查库、做精确计算</a:t>
            </a:r>
            <a:endParaRPr/>
          </a:p>
        </p:txBody>
      </p:sp>
      <p:sp>
        <p:nvSpPr>
          <p:cNvPr id="1786" name=""/>
          <p:cNvSpPr/>
          <p:nvPr/>
        </p:nvSpPr>
        <p:spPr>
          <a:xfrm rot="0" flipH="0" flipV="0">
            <a:off x="4295775" y="2381250"/>
            <a:ext cx="41433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7" name="" descr="{&quot;isTemplate&quot;:true,&quot;type&quot;:&quot;text&quot;}"/>
          <p:cNvSpPr txBox="1"/>
          <p:nvPr/>
        </p:nvSpPr>
        <p:spPr>
          <a:xfrm rot="0" flipH="0" flipV="0">
            <a:off x="4400550" y="2505075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↑ </a:t>
            </a: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数字不再靠模型算，可靠性明显上升</a:t>
            </a:r>
            <a:endParaRPr/>
          </a:p>
        </p:txBody>
      </p:sp>
      <p:sp>
        <p:nvSpPr>
          <p:cNvPr id="1788" name=""/>
          <p:cNvSpPr/>
          <p:nvPr/>
        </p:nvSpPr>
        <p:spPr>
          <a:xfrm rot="0" flipH="0" flipV="0">
            <a:off x="8572500" y="2381250"/>
            <a:ext cx="28575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89" name="" descr="{&quot;isTemplate&quot;:true,&quot;type&quot;:&quot;text&quot;}"/>
          <p:cNvSpPr txBox="1"/>
          <p:nvPr/>
        </p:nvSpPr>
        <p:spPr>
          <a:xfrm rot="0" flipH="0" flipV="0">
            <a:off x="8677275" y="2505075"/>
            <a:ext cx="2647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读到的数据没权限约束；模型不知道什么能改</a:t>
            </a:r>
            <a:endParaRPr/>
          </a:p>
        </p:txBody>
      </p:sp>
      <p:sp>
        <p:nvSpPr>
          <p:cNvPr id="1790" name=""/>
          <p:cNvSpPr/>
          <p:nvPr/>
        </p:nvSpPr>
        <p:spPr>
          <a:xfrm rot="0" flipH="0" flipV="0">
            <a:off x="657225" y="3124200"/>
            <a:ext cx="10972800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91" name=""/>
          <p:cNvSpPr/>
          <p:nvPr/>
        </p:nvSpPr>
        <p:spPr>
          <a:xfrm rot="0" flipH="0" flipV="0">
            <a:off x="657225" y="3124200"/>
            <a:ext cx="10972800" cy="723900"/>
          </a:xfrm>
          <a:custGeom>
            <a:pathLst>
              <a:path w="1152" h="76">
                <a:moveTo>
                  <a:pt x="5" y="76"/>
                </a:moveTo>
                <a:cubicBezTo>
                  <a:pt x="4" y="76"/>
                  <a:pt x="3" y="76"/>
                  <a:pt x="2" y="75"/>
                </a:cubicBezTo>
                <a:cubicBezTo>
                  <a:pt x="1" y="75"/>
                  <a:pt x="0" y="74"/>
                  <a:pt x="0" y="72"/>
                </a:cubicBezTo>
                <a:lnTo>
                  <a:pt x="0" y="72"/>
                </a:lnTo>
                <a:lnTo>
                  <a:pt x="0" y="7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92" name="" descr="{&quot;isTemplate&quot;:true,&quot;type&quot;:&quot;text&quot;}"/>
          <p:cNvSpPr txBox="1"/>
          <p:nvPr/>
        </p:nvSpPr>
        <p:spPr>
          <a:xfrm rot="0" flipH="0" flipV="0">
            <a:off x="809625" y="325755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第三代</a:t>
            </a:r>
            <a:endParaRPr/>
          </a:p>
        </p:txBody>
      </p:sp>
      <p:sp>
        <p:nvSpPr>
          <p:cNvPr id="1793" name="" descr="{&quot;isTemplate&quot;:true,&quot;type&quot;:&quot;text&quot;}"/>
          <p:cNvSpPr txBox="1"/>
          <p:nvPr/>
        </p:nvSpPr>
        <p:spPr>
          <a:xfrm rot="0" flipH="0" flipV="0">
            <a:off x="809625" y="3409950"/>
            <a:ext cx="1219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OAG</a:t>
            </a:r>
            <a:endParaRPr/>
          </a:p>
        </p:txBody>
      </p:sp>
      <p:sp>
        <p:nvSpPr>
          <p:cNvPr id="1794" name="" descr="{&quot;isTemplate&quot;:true,&quot;type&quot;:&quot;text&quot;}"/>
          <p:cNvSpPr txBox="1"/>
          <p:nvPr/>
        </p:nvSpPr>
        <p:spPr>
          <a:xfrm rot="0" flipH="0" flipV="0">
            <a:off x="2162175" y="3228975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本体增强生成</a:t>
            </a:r>
            <a:endParaRPr/>
          </a:p>
        </p:txBody>
      </p:sp>
      <p:sp>
        <p:nvSpPr>
          <p:cNvPr id="1795" name="" descr="{&quot;isTemplate&quot;:true,&quot;type&quot;:&quot;text&quot;}"/>
          <p:cNvSpPr txBox="1"/>
          <p:nvPr/>
        </p:nvSpPr>
        <p:spPr>
          <a:xfrm rot="0" flipH="0" flipV="0">
            <a:off x="2162175" y="3400425"/>
            <a:ext cx="20002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本体提供对象·逻辑·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>Action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，模型只在授权范围内取数与行动</a:t>
            </a:r>
            <a:endParaRPr/>
          </a:p>
        </p:txBody>
      </p:sp>
      <p:sp>
        <p:nvSpPr>
          <p:cNvPr id="1796" name=""/>
          <p:cNvSpPr/>
          <p:nvPr/>
        </p:nvSpPr>
        <p:spPr>
          <a:xfrm rot="0" flipH="0" flipV="0">
            <a:off x="4295775" y="3295650"/>
            <a:ext cx="41433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7" name="" descr="{&quot;isTemplate&quot;:true,&quot;type&quot;:&quot;text&quot;}"/>
          <p:cNvSpPr txBox="1"/>
          <p:nvPr/>
        </p:nvSpPr>
        <p:spPr>
          <a:xfrm rot="0" flipH="0" flipV="0">
            <a:off x="4400550" y="3419475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↑ </a:t>
            </a: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答案锚定在业务事实与确定性逻辑上，可解释、可审计、可闭环</a:t>
            </a:r>
            <a:endParaRPr/>
          </a:p>
        </p:txBody>
      </p:sp>
      <p:sp>
        <p:nvSpPr>
          <p:cNvPr id="1798" name=""/>
          <p:cNvSpPr/>
          <p:nvPr/>
        </p:nvSpPr>
        <p:spPr>
          <a:xfrm rot="0" flipH="0" flipV="0">
            <a:off x="8572500" y="3295650"/>
            <a:ext cx="28575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99" name="" descr="{&quot;isTemplate&quot;:true,&quot;type&quot;:&quot;text&quot;}"/>
          <p:cNvSpPr txBox="1"/>
          <p:nvPr/>
        </p:nvSpPr>
        <p:spPr>
          <a:xfrm rot="0" flipH="0" flipV="0">
            <a:off x="8677275" y="3419475"/>
            <a:ext cx="2647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对本体质量要求高，前期投入大</a:t>
            </a:r>
            <a:endParaRPr/>
          </a:p>
        </p:txBody>
      </p:sp>
      <p:sp>
        <p:nvSpPr>
          <p:cNvPr id="1800" name=""/>
          <p:cNvSpPr/>
          <p:nvPr/>
        </p:nvSpPr>
        <p:spPr>
          <a:xfrm rot="0" flipH="0" flipV="0">
            <a:off x="609600" y="3924300"/>
            <a:ext cx="10972800" cy="1085850"/>
          </a:xfrm>
          <a:prstGeom prst="roundRect">
            <a:avLst>
              <a:gd name="adj" fmla="val 350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01" name="" descr="{&quot;isTemplate&quot;:true,&quot;type&quot;:&quot;text&quot;}"/>
          <p:cNvSpPr txBox="1"/>
          <p:nvPr/>
        </p:nvSpPr>
        <p:spPr>
          <a:xfrm rot="0" flipH="0" flipV="0">
            <a:off x="781050" y="403860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OAG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的三条硬约束，也是本册最该被写进架构文档的三句话</a:t>
            </a:r>
            <a:endParaRPr/>
          </a:p>
        </p:txBody>
      </p:sp>
      <p:sp>
        <p:nvSpPr>
          <p:cNvPr id="1802" name=""/>
          <p:cNvSpPr/>
          <p:nvPr/>
        </p:nvSpPr>
        <p:spPr>
          <a:xfrm rot="0" flipH="0" flipV="0">
            <a:off x="809625" y="4295775"/>
            <a:ext cx="3476625" cy="676275"/>
          </a:xfrm>
          <a:prstGeom prst="roundRect">
            <a:avLst>
              <a:gd name="adj" fmla="val 422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803" name=""/>
          <p:cNvSpPr/>
          <p:nvPr/>
        </p:nvSpPr>
        <p:spPr>
          <a:xfrm rot="0" flipH="0" flipV="0">
            <a:off x="809625" y="4295775"/>
            <a:ext cx="3476625" cy="676275"/>
          </a:xfrm>
          <a:custGeom>
            <a:pathLst>
              <a:path w="365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04" name="" descr="{&quot;isTemplate&quot;:true,&quot;type&quot;:&quot;text&quot;}"/>
          <p:cNvSpPr txBox="1"/>
          <p:nvPr/>
        </p:nvSpPr>
        <p:spPr>
          <a:xfrm rot="0" flipH="0" flipV="0">
            <a:off x="914400" y="43719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05" name="" descr="{&quot;isTemplate&quot;:true,&quot;type&quot;:&quot;text&quot;}"/>
          <p:cNvSpPr txBox="1"/>
          <p:nvPr/>
        </p:nvSpPr>
        <p:spPr>
          <a:xfrm rot="0" flipH="0" flipV="0">
            <a:off x="1123950" y="43624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模型不能直接访问工具</a:t>
            </a:r>
            <a:endParaRPr/>
          </a:p>
        </p:txBody>
      </p:sp>
      <p:sp>
        <p:nvSpPr>
          <p:cNvPr id="1806" name="" descr="{&quot;isTemplate&quot;:true,&quot;type&quot;:&quot;text&quot;}"/>
          <p:cNvSpPr txBox="1"/>
          <p:nvPr/>
        </p:nvSpPr>
        <p:spPr>
          <a:xfrm rot="0" flipH="0" flipV="0">
            <a:off x="914400" y="4552950"/>
            <a:ext cx="3238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模型只能提出「要用哪个工具」，由平台在发起调用的那个用户的权限内执行</a:t>
            </a:r>
            <a:endParaRPr/>
          </a:p>
        </p:txBody>
      </p:sp>
      <p:sp>
        <p:nvSpPr>
          <p:cNvPr id="1807" name=""/>
          <p:cNvSpPr/>
          <p:nvPr/>
        </p:nvSpPr>
        <p:spPr>
          <a:xfrm rot="0" flipH="0" flipV="0">
            <a:off x="4381500" y="4295775"/>
            <a:ext cx="3486150" cy="676275"/>
          </a:xfrm>
          <a:prstGeom prst="roundRect">
            <a:avLst>
              <a:gd name="adj" fmla="val 422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808" name=""/>
          <p:cNvSpPr/>
          <p:nvPr/>
        </p:nvSpPr>
        <p:spPr>
          <a:xfrm rot="0" flipH="0" flipV="0">
            <a:off x="4381500" y="4295775"/>
            <a:ext cx="3486150" cy="676275"/>
          </a:xfrm>
          <a:custGeom>
            <a:pathLst>
              <a:path w="366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09" name="" descr="{&quot;isTemplate&quot;:true,&quot;type&quot;:&quot;text&quot;}"/>
          <p:cNvSpPr txBox="1"/>
          <p:nvPr/>
        </p:nvSpPr>
        <p:spPr>
          <a:xfrm rot="0" flipH="0" flipV="0">
            <a:off x="4486275" y="43719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10" name="" descr="{&quot;isTemplate&quot;:true,&quot;type&quot;:&quot;text&quot;}"/>
          <p:cNvSpPr txBox="1"/>
          <p:nvPr/>
        </p:nvSpPr>
        <p:spPr>
          <a:xfrm rot="0" flipH="0" flipV="0">
            <a:off x="4695825" y="4362450"/>
            <a:ext cx="115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写回必须经由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1811" name="" descr="{&quot;isTemplate&quot;:true,&quot;type&quot;:&quot;text&quot;}"/>
          <p:cNvSpPr txBox="1"/>
          <p:nvPr/>
        </p:nvSpPr>
        <p:spPr>
          <a:xfrm rot="0" flipH="0" flipV="0">
            <a:off x="4486275" y="4552950"/>
            <a:ext cx="32480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即使函数里含写入动作，若不是从</a:t>
            </a:r>
            <a:r>
              <a:rPr lang="en-US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里执行，变更不会生效</a:t>
            </a:r>
            <a:endParaRPr/>
          </a:p>
        </p:txBody>
      </p:sp>
      <p:sp>
        <p:nvSpPr>
          <p:cNvPr id="1812" name=""/>
          <p:cNvSpPr/>
          <p:nvPr/>
        </p:nvSpPr>
        <p:spPr>
          <a:xfrm rot="0" flipH="0" flipV="0">
            <a:off x="7962900" y="4295775"/>
            <a:ext cx="3476625" cy="676275"/>
          </a:xfrm>
          <a:prstGeom prst="roundRect">
            <a:avLst>
              <a:gd name="adj" fmla="val 422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813" name=""/>
          <p:cNvSpPr/>
          <p:nvPr/>
        </p:nvSpPr>
        <p:spPr>
          <a:xfrm rot="0" flipH="0" flipV="0">
            <a:off x="7962900" y="4295775"/>
            <a:ext cx="3476625" cy="676275"/>
          </a:xfrm>
          <a:custGeom>
            <a:pathLst>
              <a:path w="365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14" name="" descr="{&quot;isTemplate&quot;:true,&quot;type&quot;:&quot;text&quot;}"/>
          <p:cNvSpPr txBox="1"/>
          <p:nvPr/>
        </p:nvSpPr>
        <p:spPr>
          <a:xfrm rot="0" flipH="0" flipV="0">
            <a:off x="8067675" y="43719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15" name="" descr="{&quot;isTemplate&quot;:true,&quot;type&quot;:&quot;text&quot;}"/>
          <p:cNvSpPr txBox="1"/>
          <p:nvPr/>
        </p:nvSpPr>
        <p:spPr>
          <a:xfrm rot="0" flipH="0" flipV="0">
            <a:off x="8277225" y="436245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读取控制不等于输出控制</a:t>
            </a:r>
            <a:endParaRPr/>
          </a:p>
        </p:txBody>
      </p:sp>
      <p:sp>
        <p:nvSpPr>
          <p:cNvPr id="1816" name="" descr="{&quot;isTemplate&quot;:true,&quot;type&quot;:&quot;text&quot;}"/>
          <p:cNvSpPr txBox="1"/>
          <p:nvPr/>
        </p:nvSpPr>
        <p:spPr>
          <a:xfrm rot="0" flipH="0" flipV="0">
            <a:off x="8067675" y="4552950"/>
            <a:ext cx="3238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行列级访问控制只过滤读入提示词的数据，不覆盖模型输出，也不覆盖写回</a:t>
            </a:r>
            <a:endParaRPr/>
          </a:p>
        </p:txBody>
      </p:sp>
      <p:sp>
        <p:nvSpPr>
          <p:cNvPr id="1817" name=""/>
          <p:cNvSpPr/>
          <p:nvPr/>
        </p:nvSpPr>
        <p:spPr>
          <a:xfrm rot="0" flipH="0" flipV="0">
            <a:off x="657225" y="5086350"/>
            <a:ext cx="10972800" cy="5334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18" name=""/>
          <p:cNvSpPr/>
          <p:nvPr/>
        </p:nvSpPr>
        <p:spPr>
          <a:xfrm rot="0" flipH="0" flipV="0">
            <a:off x="657225" y="5086350"/>
            <a:ext cx="10972800" cy="533400"/>
          </a:xfrm>
          <a:custGeom>
            <a:pathLst>
              <a:path w="1152" h="56">
                <a:moveTo>
                  <a:pt x="5" y="56"/>
                </a:moveTo>
                <a:cubicBezTo>
                  <a:pt x="4" y="56"/>
                  <a:pt x="3" y="56"/>
                  <a:pt x="2" y="55"/>
                </a:cubicBezTo>
                <a:cubicBezTo>
                  <a:pt x="1" y="55"/>
                  <a:pt x="0" y="54"/>
                  <a:pt x="0" y="52"/>
                </a:cubicBezTo>
                <a:lnTo>
                  <a:pt x="0" y="52"/>
                </a:lnTo>
                <a:lnTo>
                  <a:pt x="0" y="5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19" name="" descr="{&quot;isTemplate&quot;:true,&quot;type&quot;:&quot;text&quot;}"/>
          <p:cNvSpPr txBox="1"/>
          <p:nvPr/>
        </p:nvSpPr>
        <p:spPr>
          <a:xfrm rot="0" flipH="0" flipV="0">
            <a:off x="828675" y="5276850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选型建议</a:t>
            </a:r>
            <a:endParaRPr/>
          </a:p>
        </p:txBody>
      </p:sp>
      <p:sp>
        <p:nvSpPr>
          <p:cNvPr id="1820" name="" descr="{&quot;isTemplate&quot;:true,&quot;type&quot;:&quot;text&quot;}"/>
          <p:cNvSpPr txBox="1"/>
          <p:nvPr/>
        </p:nvSpPr>
        <p:spPr>
          <a:xfrm rot="0" flipH="0" flipV="0">
            <a:off x="2181225" y="5248275"/>
            <a:ext cx="92297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纯文档问答用第一代就够；涉及数字和接口用第二代；一旦要让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参与决策闭环，或者答案必须可审计，直接上第三代。不要用第一代的成本去换第三代的场景。</a:t>
            </a:r>
            <a:endParaRPr/>
          </a:p>
        </p:txBody>
      </p:sp>
      <p:sp>
        <p:nvSpPr>
          <p:cNvPr id="182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2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2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82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825" name="" descr="&lt;Slide style={{ width: 1280, height: 720, background: '#FFFFFF', padding: '24px 64px 0' }}&gt;&#10;  &lt;Box style={{ height: 96, flexDirection: 'column', justifyContent: 'flex-start' }}&gt;&#10;     &lt;Text style={{ fontSize: 32, fontWeight: 'bold', color: '#0F1423' }}&gt;&#10;   之对照：&lt;span style={{ color: '#FA4F24' }}&gt;三类检索上下文&lt;/span&gt;，各自解决什么问题&#10;        &lt;/Text&gt;&#10;    &lt;Text style={{ fontSize: 20, color: '#8A8F99', marginTop: 8 }}&gt;&#10;        「文档的文档」这一步最容易被忽略：先告诉模型有什么库、什么时候该查哪个库&#10;        &lt;/Text&gt;&#10;    &lt;/Box&gt;&#10;    &lt;Box style={{ height: 1, background: '#E8E8E8' }} /&gt;&#10;&#10;    &lt;Box style={{ paddingTop: 14, paddingBottom: 10, height: 479, flexDirection: 'column', gap: 8 }}&gt;&#10;  {/* 三类对照表 */}&#10;    &lt;Box style={{ flexDirection: 'row', gap: 8 }}&gt;&#10;    &lt;Box style={{ width: 190, background: '#0F1423', alignItems: 'center', justifyContent: 'center' }}&gt;&lt;Text style={{ fontSize: 12, fontWeight: 'bold', color: '#FFFFFF' }}&gt;类型&lt;/Text&gt;&lt;/Box&gt;&#10;        &lt;Box style={{ flex: 1, background: '#0F1423', padding: '0 12px', justifyContent: 'center' }}&gt;&lt;Text style={{ fontSize: 12, fontWeight: 'bold', color: '#FFFFFF' }}&gt;取什么&lt;/Text&gt;&lt;/Box&gt;&#10;        &lt;Box style={{ width: 260, background: '#0F1423', padding: '0 12px', justifyContent: 'center' }}&gt;&lt;Text style={{ fontSize: 12, fontWeight: 'bold', color: '#FFFFFF' }}&gt;两种模式&lt;/Text&gt;&lt;/Box&gt;&#10;        &lt;Box style={{ width: 300, background: '#0F1423', padding: '0 12px', justifyContent: 'center' }}&gt;&lt;Text style={{ fontSize: 12, fontWeight: 'bold', color: '#FFFFFF' }}&gt;适合与不适合&lt;/Text&gt;&lt;/Box&gt;&#10;  &lt;/Box&gt;&#10;&#10;  {[&#10;   { n: '本体上下文', a: '从本体对象里取事实：对象、属性、关系、指标', m: '静态输入（全量对象类型）/ 动态输入（过滤后的对象集）', f: '适合：取数、对口径、判断「现在是什么状态」', nf: '不适合：需要主观判断或流程性说明', c: '#FA4F24' },&#10;        { n: '文档上下文', a: '从文档里取文本片段，带出处', m: '全文模式（整篇给模型）/ 相关片段模式（语义搜 K 个）', f: '适合：制度条款、方案说明、案例复盘', nf: '不适合：需要精确数字与最新状态', c: '#F87D2F' },&#10;        { n: '函数上下文', a: '自写检索逻辑，每次查询现场执行', m: '关键词 + 语义混合 / 跨库联合 / 自定义排序', f: '适合：内置检索不满足的任何场景', nf: '不适合：团队没人能维护这段逻辑', c: '#E0651A' },&#10;   ].map((it, i) =&gt; (&#10;        &lt;Box key={it.n} style={{ flex: 1, flexDirection: 'row', gap: 8 }}&gt;&#10;          &lt;Box style={{ width: 190, background: '#F7F7F8', borderLeft: '4px solid ' + it.c, padding: '0 12px', justifyContent: 'center' }}&gt;&#10;   &lt;Text style={{ fontSize: 15, fontWeight: 'bold', color: it.c }}&gt;{it.n}&lt;/Text&gt;&#10;          &lt;/Box&gt;&#10;        &lt;Box style={{ flex: 1, background: '#F7F7F8', padding: '0 12px', justifyContent: 'center' }}&gt;&#10;            &lt;Text style={{ fontSize: 12, color: '#3A4050', lineHeight: 1.45 }}&gt;{it.a}&lt;/Text&gt;&#10;          &lt;/Box&gt;&#10;          &lt;Box style={{ width: 260, background: '#F7F7F8', padding: '0 12px', justifyContent: 'center' }}&gt;&#10;          &lt;Text style={{ fontSize: 12, color: '#5A6072', lineHeight: 1.45 }}&gt;{it.m}&lt;/Text&gt;&#10;     &lt;/Box&gt;&#10;          &lt;Box style={{ width: 300, background: '#FFF3EE', padding: '0 12px', justifyContent: 'center' }}&gt;&#10;          &lt;Text style={{ fontSize: 11, color: '#3A4050', lineHeight: 1.4 }}&gt;✓ {it.f}&lt;/Text&gt;&#10;     &lt;Text style={{ fontSize: 11, color: '#C43A17', marginTop: 3, lineHeight: 1.4 }}&gt;✕ {it.nf}&lt;/Text&gt;&#10;          &lt;/Box&gt;&#10;        &lt;/Box&gt;&#10;      ))}&#10;&#10;      {/* 关键设计 */}&#10;    &lt;Box style={{ flex: 1, flexDirection: 'row', gap: 8 }}&gt;&#10;        &lt;Box style={{ flex: 1, background: '#0F1423', borderRadius: 4, padding: '10px 16px', flexDirection: 'column' }}&gt;&#10;      &lt;Text style={{ fontSize: 14, fontWeight: 'bold', color: '#FBA15C' }}&gt;两个必须显式做的设计动作&lt;/Text&gt;&#10;   {[&#10;       { n: '声明对象属性白名单', d: '不要把对象所有属性都塞给模型，可打印的属性要挑着给，既省 token 又减少误引' },&#10;        { n: '声明库清单与用途', d: '为每个文档库写一份说明，写清它覆盖什么范围、什么时候该查它' },&#10;    ].map((x, i) =&gt; (&#10;   &lt;Box key={x.n} style={{ flex: 1, flexDirection: 'row', alignItems: 'center', gap: 9, marginTop: i === 0 ? 7 : 0 }}&gt;&#10;     &lt;Text style={{ fontSize: 11, fontWeight: 'bold', color: '#FA4F24' }}&gt;{String(i + 1)}&lt;/Text&gt;&#10;       &lt;Box style={{ flex: 1 }}&gt;&#10;     &lt;Text style={{ fontSize: 13, fontWeight: 'bold', color: '#FFFFFF' }}&gt;{x.n}&lt;/Text&gt;&#10;      &lt;Text style={{ fontSize: 11, color: 'rgba(255,255,255,0.62)', marginTop: 2, lineHeight: 1.35 }}&gt;{x.d}&lt;/Text&gt;&#10;   &lt;/Box&gt;&#10;       &lt;/Box&gt;&#10;     ))}&#10; &lt;/Box&gt;&#10;        &lt;Box style={{ flex: 1, background: '#F7F7F8', borderRadius: 4, padding: '10px 16px', flexDirection: 'column' }}&gt;&#10;          &lt;Text style={{ fontSize: 14, fontWeight: 'bold', color: '#0F1423' }}&gt;为什么要「文档的文档」&lt;/Text&gt;&#10;    &lt;Text style={{ fontSize: 12, color: '#5A6072', marginTop: 7, lineHeight: 1.55, flex: 1 }}&gt;&#10;       库一多，模型就不知道该查哪一个。做法是给每个库单独写一份说明文档，写清库名与覆盖范围，把这些说明本身也纳入可检索范围。模型先读说明，再决定进哪个库。这不是多余动作——库少于五个可以先不做，超过十个不做必然出现「查错库」和「漏查库」。&#10;        &lt;/Text&gt;&#10;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&lt;Text style={{ fontSize: 13, color: '#8A8F99', marginLeft: 'auto' }}&gt;09 / 30&lt;/Text&gt;&#10;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之对照：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三类检索上下文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，各自解决什么问题</a:t>
            </a:r>
            <a:endParaRPr/>
          </a:p>
        </p:txBody>
      </p:sp>
      <p:sp>
        <p:nvSpPr>
          <p:cNvPr id="182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「文档的文档」这一步最容易被忽略：先告诉模型有什么库、什么时候该查哪个库</a:t>
            </a:r>
            <a:endParaRPr/>
          </a:p>
        </p:txBody>
      </p:sp>
      <p:sp>
        <p:nvSpPr>
          <p:cNvPr id="182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30" name=""/>
          <p:cNvSpPr/>
          <p:nvPr/>
        </p:nvSpPr>
        <p:spPr>
          <a:xfrm rot="0" flipH="0" flipV="0">
            <a:off x="609600" y="1285875"/>
            <a:ext cx="18097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31" name="" descr="{&quot;isTemplate&quot;:true,&quot;type&quot;:&quot;text&quot;}"/>
          <p:cNvSpPr txBox="1"/>
          <p:nvPr/>
        </p:nvSpPr>
        <p:spPr>
          <a:xfrm rot="0" flipH="0" flipV="0">
            <a:off x="1400175" y="12858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类型</a:t>
            </a:r>
            <a:endParaRPr/>
          </a:p>
        </p:txBody>
      </p:sp>
      <p:sp>
        <p:nvSpPr>
          <p:cNvPr id="1832" name=""/>
          <p:cNvSpPr/>
          <p:nvPr/>
        </p:nvSpPr>
        <p:spPr>
          <a:xfrm rot="0" flipH="0" flipV="0">
            <a:off x="2495550" y="1285875"/>
            <a:ext cx="36004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33" name="" descr="{&quot;isTemplate&quot;:true,&quot;type&quot;:&quot;text&quot;}"/>
          <p:cNvSpPr txBox="1"/>
          <p:nvPr/>
        </p:nvSpPr>
        <p:spPr>
          <a:xfrm rot="0" flipH="0" flipV="0">
            <a:off x="2609850" y="1285875"/>
            <a:ext cx="3371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取什么</a:t>
            </a:r>
            <a:endParaRPr/>
          </a:p>
        </p:txBody>
      </p:sp>
      <p:sp>
        <p:nvSpPr>
          <p:cNvPr id="1834" name=""/>
          <p:cNvSpPr/>
          <p:nvPr/>
        </p:nvSpPr>
        <p:spPr>
          <a:xfrm rot="0" flipH="0" flipV="0">
            <a:off x="6172200" y="1285875"/>
            <a:ext cx="24765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35" name="" descr="{&quot;isTemplate&quot;:true,&quot;type&quot;:&quot;text&quot;}"/>
          <p:cNvSpPr txBox="1"/>
          <p:nvPr/>
        </p:nvSpPr>
        <p:spPr>
          <a:xfrm rot="0" flipH="0" flipV="0">
            <a:off x="6286500" y="12858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两种模式</a:t>
            </a:r>
            <a:endParaRPr/>
          </a:p>
        </p:txBody>
      </p:sp>
      <p:sp>
        <p:nvSpPr>
          <p:cNvPr id="1836" name=""/>
          <p:cNvSpPr/>
          <p:nvPr/>
        </p:nvSpPr>
        <p:spPr>
          <a:xfrm rot="0" flipH="0" flipV="0">
            <a:off x="8724900" y="1285875"/>
            <a:ext cx="28575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37" name="" descr="{&quot;isTemplate&quot;:true,&quot;type&quot;:&quot;text&quot;}"/>
          <p:cNvSpPr txBox="1"/>
          <p:nvPr/>
        </p:nvSpPr>
        <p:spPr>
          <a:xfrm rot="0" flipH="0" flipV="0">
            <a:off x="8839200" y="128587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适合与不适合</a:t>
            </a:r>
            <a:endParaRPr/>
          </a:p>
        </p:txBody>
      </p:sp>
      <p:sp>
        <p:nvSpPr>
          <p:cNvPr id="1838" name=""/>
          <p:cNvSpPr/>
          <p:nvPr/>
        </p:nvSpPr>
        <p:spPr>
          <a:xfrm rot="0" flipH="0" flipV="0">
            <a:off x="647700" y="1504950"/>
            <a:ext cx="1771650" cy="800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39" name=""/>
          <p:cNvSpPr/>
          <p:nvPr/>
        </p:nvSpPr>
        <p:spPr>
          <a:xfrm rot="0" flipH="0" flipV="0">
            <a:off x="609600" y="1504950"/>
            <a:ext cx="1809750" cy="800100"/>
          </a:xfrm>
          <a:custGeom>
            <a:pathLst>
              <a:path w="190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40" name="" descr="{&quot;isTemplate&quot;:true,&quot;type&quot;:&quot;text&quot;}"/>
          <p:cNvSpPr txBox="1"/>
          <p:nvPr/>
        </p:nvSpPr>
        <p:spPr>
          <a:xfrm rot="0" flipH="0" flipV="0">
            <a:off x="762000" y="1819275"/>
            <a:ext cx="154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本体上下文</a:t>
            </a:r>
            <a:endParaRPr/>
          </a:p>
        </p:txBody>
      </p:sp>
      <p:sp>
        <p:nvSpPr>
          <p:cNvPr id="1841" name=""/>
          <p:cNvSpPr/>
          <p:nvPr/>
        </p:nvSpPr>
        <p:spPr>
          <a:xfrm rot="0" flipH="0" flipV="0">
            <a:off x="2495550" y="1504950"/>
            <a:ext cx="3600450" cy="800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42" name="" descr="{&quot;isTemplate&quot;:true,&quot;type&quot;:&quot;text&quot;}"/>
          <p:cNvSpPr txBox="1"/>
          <p:nvPr/>
        </p:nvSpPr>
        <p:spPr>
          <a:xfrm rot="0" flipH="0" flipV="0">
            <a:off x="2609850" y="1809750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从本体对象里取事实：对象、属性、关系、指标</a:t>
            </a:r>
            <a:endParaRPr/>
          </a:p>
        </p:txBody>
      </p:sp>
      <p:sp>
        <p:nvSpPr>
          <p:cNvPr id="1843" name=""/>
          <p:cNvSpPr/>
          <p:nvPr/>
        </p:nvSpPr>
        <p:spPr>
          <a:xfrm rot="0" flipH="0" flipV="0">
            <a:off x="6172200" y="1504950"/>
            <a:ext cx="2476500" cy="800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44" name="" descr="{&quot;isTemplate&quot;:true,&quot;type&quot;:&quot;text&quot;}"/>
          <p:cNvSpPr txBox="1"/>
          <p:nvPr/>
        </p:nvSpPr>
        <p:spPr>
          <a:xfrm rot="0" flipH="0" flipV="0">
            <a:off x="6286500" y="1704975"/>
            <a:ext cx="22479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静态输入（全量对象类型）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动态输入（过滤后的对象集）</a:t>
            </a:r>
            <a:endParaRPr/>
          </a:p>
        </p:txBody>
      </p:sp>
      <p:sp>
        <p:nvSpPr>
          <p:cNvPr id="1845" name=""/>
          <p:cNvSpPr/>
          <p:nvPr/>
        </p:nvSpPr>
        <p:spPr>
          <a:xfrm rot="0" flipH="0" flipV="0">
            <a:off x="8724900" y="1504950"/>
            <a:ext cx="2857500" cy="8001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46" name="" descr="{&quot;isTemplate&quot;:true,&quot;type&quot;:&quot;text&quot;}"/>
          <p:cNvSpPr txBox="1"/>
          <p:nvPr/>
        </p:nvSpPr>
        <p:spPr>
          <a:xfrm rot="0" flipH="0" flipV="0">
            <a:off x="8839200" y="1714500"/>
            <a:ext cx="2628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适合：取数、对口径、判断「现在是什么状态」</a:t>
            </a:r>
            <a:endParaRPr/>
          </a:p>
        </p:txBody>
      </p:sp>
      <p:sp>
        <p:nvSpPr>
          <p:cNvPr id="1847" name="" descr="{&quot;isTemplate&quot;:true,&quot;type&quot;:&quot;text&quot;}"/>
          <p:cNvSpPr txBox="1"/>
          <p:nvPr/>
        </p:nvSpPr>
        <p:spPr>
          <a:xfrm rot="0" flipH="0" flipV="0">
            <a:off x="8839200" y="1924050"/>
            <a:ext cx="2628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✕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不适合：需要主观判断或流程性说明</a:t>
            </a:r>
            <a:endParaRPr/>
          </a:p>
        </p:txBody>
      </p:sp>
      <p:sp>
        <p:nvSpPr>
          <p:cNvPr id="1848" name=""/>
          <p:cNvSpPr/>
          <p:nvPr/>
        </p:nvSpPr>
        <p:spPr>
          <a:xfrm rot="0" flipH="0" flipV="0">
            <a:off x="647700" y="2381250"/>
            <a:ext cx="1771650" cy="800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49" name=""/>
          <p:cNvSpPr/>
          <p:nvPr/>
        </p:nvSpPr>
        <p:spPr>
          <a:xfrm rot="0" flipH="0" flipV="0">
            <a:off x="609600" y="2381250"/>
            <a:ext cx="1809750" cy="800100"/>
          </a:xfrm>
          <a:custGeom>
            <a:pathLst>
              <a:path w="190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850" name="" descr="{&quot;isTemplate&quot;:true,&quot;type&quot;:&quot;text&quot;}"/>
          <p:cNvSpPr txBox="1"/>
          <p:nvPr/>
        </p:nvSpPr>
        <p:spPr>
          <a:xfrm rot="0" flipH="0" flipV="0">
            <a:off x="762000" y="2695575"/>
            <a:ext cx="154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D2F"/>
                </a:solidFill>
                <a:latin typeface="Microsoft YaHei"/>
                <a:ea typeface="Microsoft YaHei"/>
              </a:rPr>
              <a:t>文档上下文</a:t>
            </a:r>
            <a:endParaRPr/>
          </a:p>
        </p:txBody>
      </p:sp>
      <p:sp>
        <p:nvSpPr>
          <p:cNvPr id="1851" name=""/>
          <p:cNvSpPr/>
          <p:nvPr/>
        </p:nvSpPr>
        <p:spPr>
          <a:xfrm rot="0" flipH="0" flipV="0">
            <a:off x="2495550" y="2381250"/>
            <a:ext cx="3600450" cy="800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2" name="" descr="{&quot;isTemplate&quot;:true,&quot;type&quot;:&quot;text&quot;}"/>
          <p:cNvSpPr txBox="1"/>
          <p:nvPr/>
        </p:nvSpPr>
        <p:spPr>
          <a:xfrm rot="0" flipH="0" flipV="0">
            <a:off x="2609850" y="2686050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从文档里取文本片段，带出处</a:t>
            </a:r>
            <a:endParaRPr/>
          </a:p>
        </p:txBody>
      </p:sp>
      <p:sp>
        <p:nvSpPr>
          <p:cNvPr id="1853" name=""/>
          <p:cNvSpPr/>
          <p:nvPr/>
        </p:nvSpPr>
        <p:spPr>
          <a:xfrm rot="0" flipH="0" flipV="0">
            <a:off x="6172200" y="2381250"/>
            <a:ext cx="2476500" cy="800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4" name="" descr="{&quot;isTemplate&quot;:true,&quot;type&quot;:&quot;text&quot;}"/>
          <p:cNvSpPr txBox="1"/>
          <p:nvPr/>
        </p:nvSpPr>
        <p:spPr>
          <a:xfrm rot="0" flipH="0" flipV="0">
            <a:off x="6286500" y="2581275"/>
            <a:ext cx="22479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全文模式（整篇给模型）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相关片段模式（语义搜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个）</a:t>
            </a:r>
            <a:endParaRPr/>
          </a:p>
        </p:txBody>
      </p:sp>
      <p:sp>
        <p:nvSpPr>
          <p:cNvPr id="1855" name=""/>
          <p:cNvSpPr/>
          <p:nvPr/>
        </p:nvSpPr>
        <p:spPr>
          <a:xfrm rot="0" flipH="0" flipV="0">
            <a:off x="8724900" y="2381250"/>
            <a:ext cx="2857500" cy="8001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56" name="" descr="{&quot;isTemplate&quot;:true,&quot;type&quot;:&quot;text&quot;}"/>
          <p:cNvSpPr txBox="1"/>
          <p:nvPr/>
        </p:nvSpPr>
        <p:spPr>
          <a:xfrm rot="0" flipH="0" flipV="0">
            <a:off x="8839200" y="2590800"/>
            <a:ext cx="2628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适合：制度条款、方案说明、案例复盘</a:t>
            </a:r>
            <a:endParaRPr/>
          </a:p>
        </p:txBody>
      </p:sp>
      <p:sp>
        <p:nvSpPr>
          <p:cNvPr id="1857" name="" descr="{&quot;isTemplate&quot;:true,&quot;type&quot;:&quot;text&quot;}"/>
          <p:cNvSpPr txBox="1"/>
          <p:nvPr/>
        </p:nvSpPr>
        <p:spPr>
          <a:xfrm rot="0" flipH="0" flipV="0">
            <a:off x="8839200" y="2800350"/>
            <a:ext cx="2628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✕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不适合：需要精确数字与最新状态</a:t>
            </a:r>
            <a:endParaRPr/>
          </a:p>
        </p:txBody>
      </p:sp>
      <p:sp>
        <p:nvSpPr>
          <p:cNvPr id="1858" name=""/>
          <p:cNvSpPr/>
          <p:nvPr/>
        </p:nvSpPr>
        <p:spPr>
          <a:xfrm rot="0" flipH="0" flipV="0">
            <a:off x="647700" y="3257550"/>
            <a:ext cx="1771650" cy="7810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9" name=""/>
          <p:cNvSpPr/>
          <p:nvPr/>
        </p:nvSpPr>
        <p:spPr>
          <a:xfrm rot="0" flipH="0" flipV="0">
            <a:off x="609600" y="3257550"/>
            <a:ext cx="1809750" cy="781050"/>
          </a:xfrm>
          <a:custGeom>
            <a:pathLst>
              <a:path w="190" h="82">
                <a:moveTo>
                  <a:pt x="0" y="0"/>
                </a:moveTo>
                <a:lnTo>
                  <a:pt x="4" y="0"/>
                </a:lnTo>
                <a:lnTo>
                  <a:pt x="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860" name="" descr="{&quot;isTemplate&quot;:true,&quot;type&quot;:&quot;text&quot;}"/>
          <p:cNvSpPr txBox="1"/>
          <p:nvPr/>
        </p:nvSpPr>
        <p:spPr>
          <a:xfrm rot="0" flipH="0" flipV="0">
            <a:off x="762000" y="3562350"/>
            <a:ext cx="154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51A"/>
                </a:solidFill>
                <a:latin typeface="Microsoft YaHei"/>
                <a:ea typeface="Microsoft YaHei"/>
              </a:rPr>
              <a:t>函数上下文</a:t>
            </a:r>
            <a:endParaRPr/>
          </a:p>
        </p:txBody>
      </p:sp>
      <p:sp>
        <p:nvSpPr>
          <p:cNvPr id="1861" name=""/>
          <p:cNvSpPr/>
          <p:nvPr/>
        </p:nvSpPr>
        <p:spPr>
          <a:xfrm rot="0" flipH="0" flipV="0">
            <a:off x="2495550" y="3257550"/>
            <a:ext cx="3600450" cy="7810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62" name="" descr="{&quot;isTemplate&quot;:true,&quot;type&quot;:&quot;text&quot;}"/>
          <p:cNvSpPr txBox="1"/>
          <p:nvPr/>
        </p:nvSpPr>
        <p:spPr>
          <a:xfrm rot="0" flipH="0" flipV="0">
            <a:off x="2609850" y="355282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自写检索逻辑，每次查询现场执行</a:t>
            </a:r>
            <a:endParaRPr/>
          </a:p>
        </p:txBody>
      </p:sp>
      <p:sp>
        <p:nvSpPr>
          <p:cNvPr id="1863" name=""/>
          <p:cNvSpPr/>
          <p:nvPr/>
        </p:nvSpPr>
        <p:spPr>
          <a:xfrm rot="0" flipH="0" flipV="0">
            <a:off x="6172200" y="3257550"/>
            <a:ext cx="2476500" cy="7810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64" name="" descr="{&quot;isTemplate&quot;:true,&quot;type&quot;:&quot;text&quot;}"/>
          <p:cNvSpPr txBox="1"/>
          <p:nvPr/>
        </p:nvSpPr>
        <p:spPr>
          <a:xfrm rot="0" flipH="0" flipV="0">
            <a:off x="6286500" y="3552825"/>
            <a:ext cx="2247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关键词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语义混合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跨库联合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自定义排序</a:t>
            </a:r>
            <a:endParaRPr/>
          </a:p>
        </p:txBody>
      </p:sp>
      <p:sp>
        <p:nvSpPr>
          <p:cNvPr id="1865" name=""/>
          <p:cNvSpPr/>
          <p:nvPr/>
        </p:nvSpPr>
        <p:spPr>
          <a:xfrm rot="0" flipH="0" flipV="0">
            <a:off x="8724900" y="3257550"/>
            <a:ext cx="2857500" cy="7810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66" name="" descr="{&quot;isTemplate&quot;:true,&quot;type&quot;:&quot;text&quot;}"/>
          <p:cNvSpPr txBox="1"/>
          <p:nvPr/>
        </p:nvSpPr>
        <p:spPr>
          <a:xfrm rot="0" flipH="0" flipV="0">
            <a:off x="8839200" y="3457575"/>
            <a:ext cx="2628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✓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适合：内置检索不满足的任何场景</a:t>
            </a:r>
            <a:endParaRPr/>
          </a:p>
        </p:txBody>
      </p:sp>
      <p:sp>
        <p:nvSpPr>
          <p:cNvPr id="1867" name="" descr="{&quot;isTemplate&quot;:true,&quot;type&quot;:&quot;text&quot;}"/>
          <p:cNvSpPr txBox="1"/>
          <p:nvPr/>
        </p:nvSpPr>
        <p:spPr>
          <a:xfrm rot="0" flipH="0" flipV="0">
            <a:off x="8839200" y="3667125"/>
            <a:ext cx="2628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✕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不适合：团队没人能维护这段逻辑</a:t>
            </a:r>
            <a:endParaRPr/>
          </a:p>
        </p:txBody>
      </p:sp>
      <p:sp>
        <p:nvSpPr>
          <p:cNvPr id="1868" name=""/>
          <p:cNvSpPr/>
          <p:nvPr/>
        </p:nvSpPr>
        <p:spPr>
          <a:xfrm rot="0" flipH="0" flipV="0">
            <a:off x="609600" y="4114800"/>
            <a:ext cx="5448300" cy="1504950"/>
          </a:xfrm>
          <a:prstGeom prst="roundRect">
            <a:avLst>
              <a:gd name="adj" fmla="val 25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69" name="" descr="{&quot;isTemplate&quot;:true,&quot;type&quot;:&quot;text&quot;}"/>
          <p:cNvSpPr txBox="1"/>
          <p:nvPr/>
        </p:nvSpPr>
        <p:spPr>
          <a:xfrm rot="0" flipH="0" flipV="0">
            <a:off x="762000" y="421005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两个必须显式做的设计动作</a:t>
            </a:r>
            <a:endParaRPr/>
          </a:p>
        </p:txBody>
      </p:sp>
      <p:sp>
        <p:nvSpPr>
          <p:cNvPr id="1870" name="" descr="{&quot;isTemplate&quot;:true,&quot;type&quot;:&quot;text&quot;}"/>
          <p:cNvSpPr txBox="1"/>
          <p:nvPr/>
        </p:nvSpPr>
        <p:spPr>
          <a:xfrm rot="0" flipH="0" flipV="0">
            <a:off x="762000" y="46482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71" name="" descr="{&quot;isTemplate&quot;:true,&quot;type&quot;:&quot;text&quot;}"/>
          <p:cNvSpPr txBox="1"/>
          <p:nvPr/>
        </p:nvSpPr>
        <p:spPr>
          <a:xfrm rot="0" flipH="0" flipV="0">
            <a:off x="914400" y="454342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声明对象属性白名单</a:t>
            </a:r>
            <a:endParaRPr/>
          </a:p>
        </p:txBody>
      </p:sp>
      <p:sp>
        <p:nvSpPr>
          <p:cNvPr id="1872" name="" descr="{&quot;isTemplate&quot;:true,&quot;type&quot;:&quot;text&quot;}"/>
          <p:cNvSpPr txBox="1"/>
          <p:nvPr/>
        </p:nvSpPr>
        <p:spPr>
          <a:xfrm rot="0" flipH="0" flipV="0">
            <a:off x="914400" y="4714875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不要把对象所有属性都塞给模型，可打印的属性要挑着给，既省</a:t>
            </a:r>
            <a:r>
              <a:rPr lang="en-US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又减少误引</a:t>
            </a:r>
            <a:endParaRPr/>
          </a:p>
        </p:txBody>
      </p:sp>
      <p:sp>
        <p:nvSpPr>
          <p:cNvPr id="1873" name="" descr="{&quot;isTemplate&quot;:true,&quot;type&quot;:&quot;text&quot;}"/>
          <p:cNvSpPr txBox="1"/>
          <p:nvPr/>
        </p:nvSpPr>
        <p:spPr>
          <a:xfrm rot="0" flipH="0" flipV="0">
            <a:off x="762000" y="51911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874" name="" descr="{&quot;isTemplate&quot;:true,&quot;type&quot;:&quot;text&quot;}"/>
          <p:cNvSpPr txBox="1"/>
          <p:nvPr/>
        </p:nvSpPr>
        <p:spPr>
          <a:xfrm rot="0" flipH="0" flipV="0">
            <a:off x="914400" y="5086350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声明库清单与用途</a:t>
            </a:r>
            <a:endParaRPr/>
          </a:p>
        </p:txBody>
      </p:sp>
      <p:sp>
        <p:nvSpPr>
          <p:cNvPr id="1875" name="" descr="{&quot;isTemplate&quot;:true,&quot;type&quot;:&quot;text&quot;}"/>
          <p:cNvSpPr txBox="1"/>
          <p:nvPr/>
        </p:nvSpPr>
        <p:spPr>
          <a:xfrm rot="0" flipH="0" flipV="0">
            <a:off x="914400" y="525780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为每个文档库写一份说明，写清它覆盖什么范围、什么时候该查它</a:t>
            </a:r>
            <a:endParaRPr/>
          </a:p>
        </p:txBody>
      </p:sp>
      <p:sp>
        <p:nvSpPr>
          <p:cNvPr id="1876" name=""/>
          <p:cNvSpPr/>
          <p:nvPr/>
        </p:nvSpPr>
        <p:spPr>
          <a:xfrm rot="0" flipH="0" flipV="0">
            <a:off x="6134100" y="4114800"/>
            <a:ext cx="5448300" cy="1504950"/>
          </a:xfrm>
          <a:prstGeom prst="roundRect">
            <a:avLst>
              <a:gd name="adj" fmla="val 25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77" name="" descr="{&quot;isTemplate&quot;:true,&quot;type&quot;:&quot;text&quot;}"/>
          <p:cNvSpPr txBox="1"/>
          <p:nvPr/>
        </p:nvSpPr>
        <p:spPr>
          <a:xfrm rot="0" flipH="0" flipV="0">
            <a:off x="6286500" y="421005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为什么要「文档的文档」</a:t>
            </a:r>
            <a:endParaRPr/>
          </a:p>
        </p:txBody>
      </p:sp>
      <p:sp>
        <p:nvSpPr>
          <p:cNvPr id="1878" name="" descr="{&quot;isTemplate&quot;:true,&quot;type&quot;:&quot;text&quot;}"/>
          <p:cNvSpPr txBox="1"/>
          <p:nvPr/>
        </p:nvSpPr>
        <p:spPr>
          <a:xfrm rot="0" flipH="0" flipV="0">
            <a:off x="6286500" y="4438650"/>
            <a:ext cx="5143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库一多，模型就不知道该查哪一个。做法是给每个库单独写一份说明文档，写清库名与覆盖范围，把这些说明本身也纳入可检索范围。模型先读说明，再决定进哪个库。这不是多余动作——库少于五个可以先不做，超过十个不做必然出现「查错库」和「漏查库」。</a:t>
            </a:r>
            <a:endParaRPr/>
          </a:p>
        </p:txBody>
      </p:sp>
      <p:sp>
        <p:nvSpPr>
          <p:cNvPr id="187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8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8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88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标尺：知识成熟度&lt;span style={{ color: '#FA4F24' }}&gt;四级&lt;/span&gt;，先诚实定位再定投入&#10;  &lt;/Text&gt;&#10;    &lt;Text style={{ fontSize: 20, color: '#8A8F99', marginTop: 8 }}&gt;&#10;        大多数企业停在二级却按四级的要求投预算，这是知识库项目最常见的错配&#10;   &lt;/Text&gt;&#10;    &lt;/Box&gt;&#10;    &lt;Box style={{ height: 1, background: '#E8E8E8' }} /&gt;&#10;&#10;  &lt;Box style={{ paddingTop: 14, paddingBottom: 10, height: 479, flexDirection: 'column', gap: 8 }}&gt;&#10;      {[&#10;        { lv: 'L1', t: '网盘级', s: '文档堆在一起，能搜到标题', f: '搜到但读不懂、切不开、没有版本', who: '谁上传谁负责，基本无人维护', c: '#8A8F99' },&#10;        { lv: 'L2', t: '可检索级', s: '有切片有索引，能问答', f: '答案没引用、不同库互相矛盾', who: '有 IT 或运营兼职维护，无专职', c: '#FBA15C' },&#10;        { lv: 'L3', t: '可信级', s: '每条知识有责任人和时效，能溯源', f: '治理成本高，需要跨部门配合', who: '每个知识域有明确责任人', c: '#F87D2F' },&#10;     { lv: 'L4', t: '可决策级', s: '知识与本体打通，能支撑判断与行动', f: '要求本体成熟，组织协同难度最高', who: '业务专家 + 架构师 + 治理委员会', c: '#FA4F24' },&#10;      ].map((it, i) =&gt; (&#10;        &lt;Box key={it.lv} style={{ flex: 1, background: '#F7F7F8', borderRadius: 4, borderLeft: '5px solid ' + it.c, padding: '9px 16px', flexDirection: 'row', alignItems: 'center', gap: 14 }}&gt;&#10;        &lt;Box style={{ width: 46, height: 40, background: it.c, borderRadius: 3, alignItems: 'center', justifyContent: 'center' }}&gt;&#10;          &lt;Text style={{ fontSize: 19, fontWeight: 'bold', color: '#FFFFFF' }}&gt;{it.lv}&lt;/Text&gt;&#10;       &lt;/Box&gt;&#10;     &lt;Box style={{ width: 108 }}&gt;&#10;      &lt;Text style={{ fontSize: 18, fontWeight: 'bold', color: it.c }}&gt;{it.t}&lt;/Text&gt;&#10;     &lt;/Box&gt;&#10;   &lt;Box style={{ flex: 1, height: 40, background: '#FFFFFF', borderRadius: 3, padding: '0 12px', justifyContent: 'center' }}&gt;&#10;    &lt;Text style={{ fontSize: 12, color: '#0F1423' }}&gt;{it.s}&lt;/Text&gt;&#10;          &lt;/Box&gt;&#10;     &lt;Box style={{ width: 250, height: 40, background: '#FFF3EE', borderRadius: 3, padding: '0 12px', justifyContent: 'center' }}&gt;&#10;     &lt;Text style={{ fontSize: 11, color: '#C43A17' }}&gt;{it.f}&lt;/Text&gt;&#10;       &lt;/Box&gt;&#10;     &lt;Box style={{ width: 236, height: 40, background: '#F7F7F8', border: '1px solid #E8E8E8', borderRadius: 3, padding: '0 12px', justifyContent: 'center' }}&gt;&#10;            &lt;Text style={{ fontSize: 11, color: '#5A6072' }}&gt;{it.who}&lt;/Text&gt;&#10; &lt;/Box&gt;&#10;        &lt;/Box&gt;&#10;      ))}&#10;&#10;      &lt;Box style={{ flex: 1, flexDirection: 'row', gap: 8 }}&gt;&#10;        &lt;Box style={{ flex: 1, background: '#0F1423', borderRadius: 4, padding: '10px 16px', flexDirection: 'column', justifyContent: 'center' }}&gt;&#10;   &lt;Text style={{ fontSize: 14, fontWeight: 'bold', color: '#FBA15C' }}&gt;跳级的真实代价&lt;/Text&gt;&#10;    &lt;Text style={{ fontSize: 12, color: 'rgba(255,255,255,0.88)', marginTop: 6, lineHeight: 1.55 }}&gt;&#10;     从 L2 直接上 L4，最常见的失败不是技术不行，而是业务部门不愿意认领知识责任。第一阶段必须老老实实从 L2 做起，用「有引用」这个可感知的收益去换取业务方认领责任的动力。&#10;        &lt;/Text&gt;&#10;     &lt;/Box&gt;&#10; &lt;Box style={{ flex: 1, background: '#FFF3EE', borderRadius: 4, borderLeft: '5px solid #FA4F24', padding: '10px 16px', flexDirection: 'column', justifyContent: 'center' }}&gt;&#10;          &lt;Text style={{ fontSize: 14, fontWeight: 'bold', color: '#C43A17' }}&gt;本册的建议节奏&lt;/Text&gt;&#10;       &lt;Text style={{ fontSize: 12, color: '#3A4050', marginTop: 6, lineHeight: 1.55 }}&gt;&#10;  先用一个业务域做到 L3，用它当样板去说服其他部门；L4 只在本体已成熟的领域做，因为没有本体的 L4 只是把矛盾放得更大。切忌全公司一起上 L4。&#10;     &lt;/Text&gt;&#10;        &lt;/Box&gt;&#10;      &lt;/Box&gt;&#10;    &lt;/Box&gt;&#10;&#10;  &lt;Box style={{ height: 58, flexDirection: 'row', alignItems: 'center', borderTop: '1px solid #E8E8E8' }}&gt;&#10;        &lt;Box style={{ width: 10, height: 10, background: '#FA4F24' }} /&gt;&#10;  &lt;Text style={{ fontSize: 13, color: '#8A8F99', marginLeft: 12 }}&gt;硕磐机密 · 知识库咨询方法论&lt;/Text&gt;&#10;    &lt;Text style={{ fontSize: 13, color: '#8A8F99', marginLeft: 'auto' }}&gt;1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之标尺：知识成熟度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，先诚实定位再定投入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大多数企业停在二级却按四级的要求投预算，这是知识库项目最常见的错配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57225" y="1285875"/>
            <a:ext cx="10972800" cy="752475"/>
          </a:xfrm>
          <a:prstGeom prst="roundRect">
            <a:avLst>
              <a:gd name="adj" fmla="val 50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657225" y="1285875"/>
            <a:ext cx="10972800" cy="752475"/>
          </a:xfrm>
          <a:custGeom>
            <a:pathLst>
              <a:path w="1152" h="79">
                <a:moveTo>
                  <a:pt x="5" y="79"/>
                </a:moveTo>
                <a:cubicBezTo>
                  <a:pt x="4" y="79"/>
                  <a:pt x="3" y="79"/>
                  <a:pt x="2" y="78"/>
                </a:cubicBezTo>
                <a:cubicBezTo>
                  <a:pt x="1" y="78"/>
                  <a:pt x="0" y="77"/>
                  <a:pt x="0" y="75"/>
                </a:cubicBezTo>
                <a:lnTo>
                  <a:pt x="0" y="75"/>
                </a:lnTo>
                <a:lnTo>
                  <a:pt x="0" y="7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809625" y="1476375"/>
            <a:ext cx="438150" cy="381000"/>
          </a:xfrm>
          <a:prstGeom prst="roundRect">
            <a:avLst>
              <a:gd name="adj" fmla="val 7500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23925" y="156210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381125" y="15621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8F99"/>
                </a:solidFill>
                <a:latin typeface="Microsoft YaHei"/>
                <a:ea typeface="Microsoft YaHei"/>
              </a:rPr>
              <a:t>网盘级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2543175" y="1476375"/>
            <a:ext cx="39909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657475" y="1600200"/>
            <a:ext cx="3762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文档堆在一起，能搜到标题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667500" y="1476375"/>
            <a:ext cx="238125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781800" y="1600200"/>
            <a:ext cx="2152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搜到但读不懂、切不开、没有版本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9182100" y="1476375"/>
            <a:ext cx="2247900" cy="381000"/>
          </a:xfrm>
          <a:prstGeom prst="roundRect">
            <a:avLst>
              <a:gd name="adj" fmla="val 7500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296400" y="1600200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谁上传谁负责，基本无人维护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57225" y="2114550"/>
            <a:ext cx="109728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57225" y="2114550"/>
            <a:ext cx="10972800" cy="742950"/>
          </a:xfrm>
          <a:custGeom>
            <a:pathLst>
              <a:path w="1152" h="78">
                <a:moveTo>
                  <a:pt x="5" y="78"/>
                </a:moveTo>
                <a:cubicBezTo>
                  <a:pt x="4" y="78"/>
                  <a:pt x="3" y="78"/>
                  <a:pt x="2" y="77"/>
                </a:cubicBezTo>
                <a:cubicBezTo>
                  <a:pt x="1" y="77"/>
                  <a:pt x="0" y="76"/>
                  <a:pt x="0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809625" y="2295525"/>
            <a:ext cx="438150" cy="381000"/>
          </a:xfrm>
          <a:prstGeom prst="roundRect">
            <a:avLst>
              <a:gd name="adj" fmla="val 75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23925" y="238125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381125" y="23812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A15C"/>
                </a:solidFill>
                <a:latin typeface="Microsoft YaHei"/>
                <a:ea typeface="Microsoft YaHei"/>
              </a:rPr>
              <a:t>可检索级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2543175" y="2295525"/>
            <a:ext cx="39909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657475" y="2419350"/>
            <a:ext cx="3762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有切片有索引，能问答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667500" y="2295525"/>
            <a:ext cx="238125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781800" y="2419350"/>
            <a:ext cx="2152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答案没引用、不同库互相矛盾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9182100" y="2295525"/>
            <a:ext cx="2247900" cy="381000"/>
          </a:xfrm>
          <a:prstGeom prst="roundRect">
            <a:avLst>
              <a:gd name="adj" fmla="val 7500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296400" y="2419350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或运营兼职维护，无专职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57225" y="2933700"/>
            <a:ext cx="10972800" cy="752475"/>
          </a:xfrm>
          <a:prstGeom prst="roundRect">
            <a:avLst>
              <a:gd name="adj" fmla="val 50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657225" y="2933700"/>
            <a:ext cx="10972800" cy="752475"/>
          </a:xfrm>
          <a:custGeom>
            <a:pathLst>
              <a:path w="1152" h="79">
                <a:moveTo>
                  <a:pt x="5" y="79"/>
                </a:moveTo>
                <a:cubicBezTo>
                  <a:pt x="4" y="79"/>
                  <a:pt x="3" y="79"/>
                  <a:pt x="2" y="78"/>
                </a:cubicBezTo>
                <a:cubicBezTo>
                  <a:pt x="1" y="78"/>
                  <a:pt x="0" y="77"/>
                  <a:pt x="0" y="75"/>
                </a:cubicBezTo>
                <a:lnTo>
                  <a:pt x="0" y="75"/>
                </a:lnTo>
                <a:lnTo>
                  <a:pt x="0" y="7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809625" y="3124200"/>
            <a:ext cx="438150" cy="381000"/>
          </a:xfrm>
          <a:prstGeom prst="roundRect">
            <a:avLst>
              <a:gd name="adj" fmla="val 7500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23925" y="320992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381125" y="32099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7D2F"/>
                </a:solidFill>
                <a:latin typeface="Microsoft YaHei"/>
                <a:ea typeface="Microsoft YaHei"/>
              </a:rPr>
              <a:t>可信级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2543175" y="3124200"/>
            <a:ext cx="39909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657475" y="3248025"/>
            <a:ext cx="3762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每条知识有责任人和时效，能溯源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667500" y="3124200"/>
            <a:ext cx="238125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781800" y="3248025"/>
            <a:ext cx="2152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治理成本高，需要跨部门配合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9182100" y="3124200"/>
            <a:ext cx="2247900" cy="381000"/>
          </a:xfrm>
          <a:prstGeom prst="roundRect">
            <a:avLst>
              <a:gd name="adj" fmla="val 7500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296400" y="3248025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每个知识域有明确责任人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57225" y="3762375"/>
            <a:ext cx="109728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57225" y="3762375"/>
            <a:ext cx="10972800" cy="742950"/>
          </a:xfrm>
          <a:custGeom>
            <a:pathLst>
              <a:path w="1152" h="78">
                <a:moveTo>
                  <a:pt x="5" y="78"/>
                </a:moveTo>
                <a:cubicBezTo>
                  <a:pt x="4" y="78"/>
                  <a:pt x="3" y="78"/>
                  <a:pt x="2" y="77"/>
                </a:cubicBezTo>
                <a:cubicBezTo>
                  <a:pt x="1" y="77"/>
                  <a:pt x="0" y="76"/>
                  <a:pt x="0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809625" y="3943350"/>
            <a:ext cx="438150" cy="381000"/>
          </a:xfrm>
          <a:prstGeom prst="roundRect">
            <a:avLst>
              <a:gd name="adj" fmla="val 7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23925" y="4029075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381125" y="40290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A4F24"/>
                </a:solidFill>
                <a:latin typeface="Microsoft YaHei"/>
                <a:ea typeface="Microsoft YaHei"/>
              </a:rPr>
              <a:t>可决策级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2543175" y="3943350"/>
            <a:ext cx="399097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657475" y="4067175"/>
            <a:ext cx="3762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知识与本体打通，能支撑判断与行动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667500" y="3943350"/>
            <a:ext cx="238125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781800" y="4067175"/>
            <a:ext cx="2152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要求本体成熟，组织协同难度最高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9182100" y="3943350"/>
            <a:ext cx="2247900" cy="381000"/>
          </a:xfrm>
          <a:prstGeom prst="roundRect">
            <a:avLst>
              <a:gd name="adj" fmla="val 7500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296400" y="4067175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业务专家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架构师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治理委员会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4581525"/>
            <a:ext cx="5448300" cy="1038225"/>
          </a:xfrm>
          <a:prstGeom prst="roundRect">
            <a:avLst>
              <a:gd name="adj" fmla="val 367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62000" y="478155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跳级的真实代价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62000" y="5000625"/>
            <a:ext cx="51435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L2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直接上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L4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，最常见的失败不是技术不行，而是业务部门不愿意认领知识责任。第一阶段必须老老实实从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L2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做起，用「有引用」这个可感知的收益去换取业务方认领责任的动力。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181725" y="4581525"/>
            <a:ext cx="5448300" cy="1038225"/>
          </a:xfrm>
          <a:prstGeom prst="roundRect">
            <a:avLst>
              <a:gd name="adj" fmla="val 36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181725" y="4581525"/>
            <a:ext cx="5448300" cy="1038225"/>
          </a:xfrm>
          <a:custGeom>
            <a:pathLst>
              <a:path w="572" h="109">
                <a:moveTo>
                  <a:pt x="5" y="109"/>
                </a:moveTo>
                <a:cubicBezTo>
                  <a:pt x="4" y="109"/>
                  <a:pt x="3" y="109"/>
                  <a:pt x="2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105"/>
                </a:lnTo>
                <a:lnTo>
                  <a:pt x="0" y="10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334125" y="478155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本册的建议节奏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34125" y="5000625"/>
            <a:ext cx="50958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先用一个业务域做到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L3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，用它当样板去说服其他部门；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L4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只在本体已成熟的领域做，因为没有本体的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只是把矛盾放得更大。切忌全公司一起上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L4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style={{ width: 1280, height: 720, background: '#FFFFFF', padding: '24px 64px 0' }}&gt;&#10;    &lt;Box style={{ height: 96, flexDirection: 'column', justifyContent: 'flex-start' }}&gt;&#10;  &lt;Text style={{ fontSize: 32, fontWeight: 'bold', color: '#0F1423' }}&gt;&#10;     之责任：知识库&lt;span style={{ color: '#FA4F24' }}&gt;岗位说明书与责任矩阵&lt;/span&gt;，它不是一个岗位的活&#10;  &lt;/Text&gt;&#10;   &lt;Text style={{ fontSize: 20, color: '#8A8F99', marginTop: 8 }}&gt;&#10;         知识库失败最常见的原因，是没有人为「知识的准确性」这个结果负责&#10;    &lt;/Text&gt;&#10;    &lt;/Box&gt;&#10;    &lt;Box style={{ height: 1, background: '#E8E8E8' }} /&gt;&#10;&#10;    &lt;Box style={{ paddingTop: 14, paddingBottom: 10, height: 479, flexDirection: 'row', gap: 11 }}&gt;&#10;      {/* 岗位说明书 */}&#10;      &lt;Box style={{ width: 566, flexDirection: 'column', gap: 7 }}&gt;&#10;        &lt;Box style={{ height: 246, background: '#F7F7F8', borderRadius: 4, padding: '11px 15px', flexDirection: 'column' }}&gt;&#10;      &lt;Text style={{ fontSize: 15, fontWeight: 'bold', color: '#0F1423', marginBottom: 7 }}&gt;知识域责任人的说明书：七栏&lt;/Text&gt;&#10;          {[&#10;      { k: '负责的知识域', v: '例如「华东区工程变更管理」，边界要写清不含什么' },&#10;            { k: '入库否决权', v: '说得出口也用得上——不合格的内容不接收' },&#10;      { k: '口径裁定权', v: '同一说法有歧义时，由这个人定' },&#10;         { k: '时效承诺', v: '多久复核一次、什么条件下立即下架' },&#10;            { k: '引用标准', v: '什么情况下必须标注出处，什么情况算引用错误' },&#10;            { k: '对账义务', v: '每月核对本域知识的失效清单' },&#10;   { k: '不承担什么', v: '不为技术故障、不为模型生成质量负责' },&#10;          ].map((it, i) =&gt; (&#10;         &lt;Box key={it.k} style={{ flex: 1, flexDirection: 'row', alignItems: 'center', gap: 10, borderTop: i === 0 ? 'none' : '1px solid #E8E8E8' }}&gt;&#10;    &lt;Text style={{ fontSize: 12, fontWeight: 'bold', color: '#FA4F24', width: 106 }}&gt;{it.k}&lt;/Text&gt;&#10;    &lt;Text style={{ fontSize: 12, color: '#3A4050', flex: 1 }}&gt;{it.v}&lt;/Text&gt;&#10;     &lt;/Box&gt;&#10;          ))}&#10;    &lt;/Box&gt;&#10;     &lt;Box style={{ flex: 1, background: '#0F1423', borderRadius: 4, padding: '11px 15px', flexDirection: 'column', justifyContent: 'center' }}&gt;&#10;     &lt;Text style={{ fontSize: 14, fontWeight: 'bold', color: '#FBA15C' }}&gt;为什么要写「不承担什么」这一栏&lt;/Text&gt;&#10;       &lt;Text style={{ fontSize: 12, color: 'rgba(255,255,255,0.9)', marginTop: 7, lineHeight: 1.55 }}&gt;&#10;  知识库是跨部门产物，没有明确的免责边界就会变成谁都可以质疑、谁都不认领的活。把技术故障、模型生成质量、数据接入问题的责任明确切给对应角色，才能让知识责任人愿意签字。&#10;      &lt;/Text&gt;&#10;     &lt;/Box&gt;&#10;      &lt;/Box&gt;&#10;&#10;      {/* 责任矩阵 */}&#10;      &lt;Box style={{ flex: 1, flexDirection: 'column', gap: 7 }}&gt;&#10;        &lt;Box style={{ height: 300, background: '#F7F7F8', borderRadius: 4, padding: '11px 14px', flexDirection: 'column' }}&gt;&#10;          &lt;Text style={{ fontSize: 15, fontWeight: 'bold', color: '#0F1423', marginBottom: 7 }}&gt;四类责任 × 四种动作的 RACI&lt;/Text&gt;&#10;    &lt;Box style={{ flexDirection: 'row', gap: 5, marginBottom: 5 }}&gt;&#10;        &lt;Box style={{ width: 112 }} /&gt;&#10;            {['定口径', '准入', '复核', '下架'].map((t, i) =&gt; (&#10;        &lt;Box key={t} style={{ flex: 1, height: 22, background: '#0F1423', alignItems: 'center', justifyContent: 'center' }}&gt;&#10;    &lt;Text style={{ fontSize: 10, fontWeight: 'bold', color: '#FFFFFF' }}&gt;{t}&lt;/Text&gt;&#10;      &lt;/Box&gt;&#10;         ))}&#10;       &lt;/Box&gt;&#10;  {[&#10;  { r: '知识域责任人', v: ['A', 'R', 'R', 'A'], c: '#FA4F24' },&#10; { r: '知识运营', v: ['C', 'R', 'C', 'R'], c: '#F87D2F' },&#10;   { r: '架构 / 平台', v: ['C', 'C', 'I', 'I'], c: '#FBA15C' },&#10;      { r: '使用部门', v: ['I', 'I', 'C', 'C'], c: '#8A8F99' },&#10;    ].map((it, i) =&gt; (&#10;   &lt;Box key={it.r} style={{ flex: 1, flexDirection: 'row', gap: 5, alignItems: 'center' }}&gt;&#10;     &lt;Box style={{ width: 112, height: 40, background: '#FFFFFF', borderLeft: '3px solid ' + it.c, padding: '0 8px', justifyContent: 'center' }}&gt;&#10;    &lt;Text style={{ fontSize: 11, color: '#0F1423' }}&gt;{it.r}&lt;/Text&gt;&#10;          &lt;/Box&gt;&#10;     {it.v.map((x, k) =&gt; (&#10;       &lt;Box key={k} style={{ flex: 1, height: 40, background: x === 'A' ? it.c : '#FFFFFF', alignItems: 'center', justifyContent: 'center' }}&gt;&#10;      &lt;Text style={{ fontSize: 13, fontWeight: 'bold', color: x === 'A' ? '#FFFFFF' : (x === 'R' ? it.c : '#8A8F99') }}&gt;{x}&lt;/Text&gt;&#10;   &lt;/Box&gt;&#10;            ))}&#10;   &lt;/Box&gt;&#10;   ))}&#10;     &lt;Text style={{ fontSize: 11, color: '#8A8F99', lineHeight: 1.45, marginTop: 6 }}&gt;A 批准并负最终责任　R 实际执行　C 被咨询　I 被告知。定口径与下架必须落在业务侧，不能放在平台侧。&lt;/Text&gt;&#10;        &lt;/Box&gt;&#10;  &lt;Box style={{ flex: 1, background: '#FFF3EE', borderRadius: 4, borderLeft: '4px solid #FA4F24', padding: '10px 14px', flexDirection: 'column', justifyContent: 'center' }}&gt;&#10;   &lt;Text style={{ fontSize: 13, fontWeight: 'bold', color: '#C43A17' }}&gt;落地时的三个动作&lt;/Text&gt;&#10;      &lt;Text style={{ fontSize: 12, color: '#5A6072', marginTop: 6, lineHeight: 1.55 }}&gt;&#10;      把「知识准确性」写进业务部门的年度考核；建知识治理委员会，每月过一次失效清单；把知识域责任人名单写进知识库首页，让使用方知道该找谁提异议。&#10;        &lt;/Text&gt;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1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之责任：知识库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岗位说明书与责任矩阵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，它不是一个岗位的活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知识库失败最常见的原因，是没有人为「知识的准确性」这个结果负责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1285875"/>
            <a:ext cx="5391150" cy="2343150"/>
          </a:xfrm>
          <a:prstGeom prst="roundRect">
            <a:avLst>
              <a:gd name="adj" fmla="val 16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52475" y="13906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知识域责任人的说明书：七栏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52475" y="1695450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负责的知识域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857375" y="169545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例如「华东区工程变更管理」，边界要写清不含什么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52475" y="1895475"/>
            <a:ext cx="5105400" cy="276225"/>
          </a:xfrm>
          <a:custGeom>
            <a:pathLst>
              <a:path w="536" h="29">
                <a:moveTo>
                  <a:pt x="0" y="0"/>
                </a:moveTo>
                <a:lnTo>
                  <a:pt x="536" y="0"/>
                </a:lnTo>
                <a:lnTo>
                  <a:pt x="5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2475" y="1962150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入库否决权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857375" y="196215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说得出口也用得上——不合格的内容不接收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52475" y="2162175"/>
            <a:ext cx="5105400" cy="285750"/>
          </a:xfrm>
          <a:custGeom>
            <a:pathLst>
              <a:path w="536" h="30">
                <a:moveTo>
                  <a:pt x="0" y="0"/>
                </a:moveTo>
                <a:lnTo>
                  <a:pt x="536" y="0"/>
                </a:lnTo>
                <a:lnTo>
                  <a:pt x="5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52475" y="223837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口径裁定权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857375" y="223837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同一说法有歧义时，由这个人定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2475" y="2438400"/>
            <a:ext cx="5105400" cy="276225"/>
          </a:xfrm>
          <a:custGeom>
            <a:pathLst>
              <a:path w="536" h="29">
                <a:moveTo>
                  <a:pt x="0" y="0"/>
                </a:moveTo>
                <a:lnTo>
                  <a:pt x="536" y="0"/>
                </a:lnTo>
                <a:lnTo>
                  <a:pt x="5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52475" y="250507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时效承诺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857375" y="250507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多久复核一次、什么条件下立即下架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52475" y="2705100"/>
            <a:ext cx="5105400" cy="285750"/>
          </a:xfrm>
          <a:custGeom>
            <a:pathLst>
              <a:path w="536" h="30">
                <a:moveTo>
                  <a:pt x="0" y="0"/>
                </a:moveTo>
                <a:lnTo>
                  <a:pt x="536" y="0"/>
                </a:lnTo>
                <a:lnTo>
                  <a:pt x="5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52475" y="2781300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引用标准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857375" y="278130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什么情况下必须标注出处，什么情况算引用错误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52475" y="2981325"/>
            <a:ext cx="5105400" cy="276225"/>
          </a:xfrm>
          <a:custGeom>
            <a:pathLst>
              <a:path w="536" h="29">
                <a:moveTo>
                  <a:pt x="0" y="0"/>
                </a:moveTo>
                <a:lnTo>
                  <a:pt x="536" y="0"/>
                </a:lnTo>
                <a:lnTo>
                  <a:pt x="5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52475" y="3048000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对账义务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857375" y="304800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每月核对本域知识的失效清单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52475" y="3248025"/>
            <a:ext cx="5105400" cy="285750"/>
          </a:xfrm>
          <a:custGeom>
            <a:pathLst>
              <a:path w="536" h="30">
                <a:moveTo>
                  <a:pt x="0" y="0"/>
                </a:moveTo>
                <a:lnTo>
                  <a:pt x="536" y="0"/>
                </a:lnTo>
                <a:lnTo>
                  <a:pt x="5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52475" y="33242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不承担什么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857375" y="332422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不为技术故障、不为模型生成质量负责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3695700"/>
            <a:ext cx="5391150" cy="1924050"/>
          </a:xfrm>
          <a:prstGeom prst="roundRect">
            <a:avLst>
              <a:gd name="adj" fmla="val 198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52475" y="4333875"/>
            <a:ext cx="510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为什么要写「不承担什么」这一栏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52475" y="4562475"/>
            <a:ext cx="51054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知识库是跨部门产物，没有明确的免责边界就会变成谁都可以质疑、谁都不认领的活。把技术故障、模型生成质量、数据接入问题的责任明确切给对应角色，才能让知识责任人愿意签字。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105525" y="1285875"/>
            <a:ext cx="5476875" cy="2857500"/>
          </a:xfrm>
          <a:prstGeom prst="roundRect">
            <a:avLst>
              <a:gd name="adj" fmla="val 1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238875" y="1390650"/>
            <a:ext cx="521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四类责任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四种动作的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RACI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353300" y="1628775"/>
            <a:ext cx="990600" cy="2095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705725" y="16764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定口径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391525" y="1628775"/>
            <a:ext cx="990600" cy="2095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791575" y="16764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准入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9429750" y="1628775"/>
            <a:ext cx="981075" cy="2095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829800" y="16764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复核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10458450" y="1628775"/>
            <a:ext cx="990600" cy="2095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858500" y="16764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下架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267450" y="1933575"/>
            <a:ext cx="103822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238875" y="1933575"/>
            <a:ext cx="1066800" cy="381000"/>
          </a:xfrm>
          <a:custGeom>
            <a:pathLst>
              <a:path w="112" h="40">
                <a:moveTo>
                  <a:pt x="0" y="0"/>
                </a:moveTo>
                <a:lnTo>
                  <a:pt x="3" y="0"/>
                </a:lnTo>
                <a:lnTo>
                  <a:pt x="3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343650" y="2057400"/>
            <a:ext cx="885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知识域责任人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353300" y="1933575"/>
            <a:ext cx="990600" cy="3810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00975" y="204787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391525" y="193357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839200" y="204787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9429750" y="1933575"/>
            <a:ext cx="98107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877425" y="204787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10458450" y="1933575"/>
            <a:ext cx="990600" cy="3810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906125" y="204787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267450" y="2409825"/>
            <a:ext cx="103822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238875" y="2409825"/>
            <a:ext cx="1066800" cy="381000"/>
          </a:xfrm>
          <a:custGeom>
            <a:pathLst>
              <a:path w="112" h="40">
                <a:moveTo>
                  <a:pt x="0" y="0"/>
                </a:moveTo>
                <a:lnTo>
                  <a:pt x="3" y="0"/>
                </a:lnTo>
                <a:lnTo>
                  <a:pt x="3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43650" y="2533650"/>
            <a:ext cx="885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知识运营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7353300" y="240982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810500" y="25241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391525" y="240982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839200" y="25241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9429750" y="2409825"/>
            <a:ext cx="98107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877425" y="25241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10458450" y="240982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906125" y="25241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267450" y="2886075"/>
            <a:ext cx="103822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238875" y="2886075"/>
            <a:ext cx="1066800" cy="381000"/>
          </a:xfrm>
          <a:custGeom>
            <a:pathLst>
              <a:path w="112" h="40">
                <a:moveTo>
                  <a:pt x="0" y="0"/>
                </a:moveTo>
                <a:lnTo>
                  <a:pt x="3" y="0"/>
                </a:lnTo>
                <a:lnTo>
                  <a:pt x="3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343650" y="3009900"/>
            <a:ext cx="885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架构</a:t>
            </a:r>
            <a:r>
              <a:rPr lang="en-US" sz="825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平台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353300" y="288607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810500" y="3000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391525" y="288607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848725" y="3000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9429750" y="2886075"/>
            <a:ext cx="98107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896475" y="300037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I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10458450" y="288607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934700" y="300037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I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267450" y="3362325"/>
            <a:ext cx="103822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6238875" y="3362325"/>
            <a:ext cx="1066800" cy="381000"/>
          </a:xfrm>
          <a:custGeom>
            <a:pathLst>
              <a:path w="112" h="40">
                <a:moveTo>
                  <a:pt x="0" y="0"/>
                </a:moveTo>
                <a:lnTo>
                  <a:pt x="3" y="0"/>
                </a:lnTo>
                <a:lnTo>
                  <a:pt x="3" y="40"/>
                </a:lnTo>
                <a:lnTo>
                  <a:pt x="0" y="4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343650" y="3486150"/>
            <a:ext cx="885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使用部门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7353300" y="336232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829550" y="347662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I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391525" y="336232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867775" y="3476625"/>
            <a:ext cx="47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I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9429750" y="3362325"/>
            <a:ext cx="981075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877425" y="34766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0458450" y="3362325"/>
            <a:ext cx="9906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915650" y="34766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238875" y="3848100"/>
            <a:ext cx="52101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批准并负最终责任　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R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实际执行　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被咨询　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I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被告知。定口径与下架必须落在业务侧，不能放在平台侧。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143625" y="4210050"/>
            <a:ext cx="5476875" cy="1409700"/>
          </a:xfrm>
          <a:prstGeom prst="roundRect">
            <a:avLst>
              <a:gd name="adj" fmla="val 270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143625" y="4210050"/>
            <a:ext cx="5476875" cy="1409700"/>
          </a:xfrm>
          <a:custGeom>
            <a:pathLst>
              <a:path w="575" h="148">
                <a:moveTo>
                  <a:pt x="4" y="148"/>
                </a:moveTo>
                <a:cubicBezTo>
                  <a:pt x="2" y="148"/>
                  <a:pt x="0" y="146"/>
                  <a:pt x="0" y="1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276975" y="4600575"/>
            <a:ext cx="517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落地时的三个动作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276975" y="4810125"/>
            <a:ext cx="51720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把「知识准确性」写进业务部门的年度考核；建知识治理委员会，每月过一次失效清单；把知识域责任人名单写进知识库首页，让使用方知道该找谁提异议。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0F1423' }}&gt;&#10;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&#10;    &lt;Box style={{ position: 'absolute', right: 70, top: 110 }}&gt;&#10;        &lt;Text style={{ fontSize: 300, fontWeight: 'bold', color: 'rgba(255,255,255,0.08)', lineHeight: 1.0 }}&gt;02&lt;/Text&gt;&#10;    &lt;/Box&gt;&#10;&#10;    &lt;Box style={{ position: 'absolute', left: 88, top: 232, width: 720, flexDirection: 'column' }}&gt;&#10;        &lt;Text style={{ fontSize: 15, color: 'rgba(255,255,255,0.5)', letterSpacing: 3 }}&gt;PART 02&lt;/Text&gt;&#10;  &lt;Box style={{ width: 72, height: 5, background: '#FA4F24', marginTop: 22 }} /&gt;&#10;  &lt;Text style={{ fontSize: 52, fontWeight: 'bold', color: '#FFFFFF', marginTop: 28, lineHeight: 1.15 }}&gt;知识库 × Ontology × Agent&lt;/Text&gt;&#10;        &lt;Text style={{ fontSize: 17, color: 'rgba(255,255,255,0.62)', letterSpacing: 2, marginTop: 20 }}&gt;KNOWLEDGE · ONTOLOGY · AGENT&lt;/Text&gt;&#10;    &lt;Text style={{ fontSize: 19, color: 'rgba(255,255,255,0.85)', marginTop: 26, lineHeight: 1.6 }}&gt;三个词被混着用了两年，必须划清：谁提供事实、谁提供判断、谁负责行动&lt;/Text&gt;&#10;    &lt;/Box&gt;&#10;&#10;  &lt;Box style={{ position: 'absolute', right: 88, bottom: 64, flexDirection: 'row', alignItems: 'center', gap: 12 }}&gt;&#10;        &lt;Box style={{ width: 14, height: 14, background: '#FA4F24' }} /&gt;&#10;        &lt;Text style={{ fontSize: 14, color: 'rgba(255,255,255,0.5)' }}&gt;硕磐机密 · 知识库咨询方法论&lt;/Text&gt;&#10;        &lt;Text style={{ fontSize: 14, color: 'rgba(255,255,255,0.5)', marginLeft: 12 }}&gt;1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85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858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知识库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Ontology × Agent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85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KNOWLEDGE · ONTOLOGY · AGENT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858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三个词被混着用了两年，必须划清：谁提供事实、谁提供判断、谁负责行动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7058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9535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20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之总览：&lt;span style={{ color: '#FA4F24' }}&gt;三者各管哪一段&lt;/span&gt;，一句话各自划清&#10;        &lt;/Text&gt;&#10;        &lt;Text style={{ fontSize: 20, color: '#8A8F99', marginTop: 8 }}&gt;&#10;   把这三者混着谈，是过去两年 AI 项目最贵的沟通成本&#10;        &lt;/Text&gt;&#10;    &lt;/Box&gt;&#10;    &lt;Box style={{ height: 1, background: '#E8E8E8' }} /&gt;&#10;&#10;    &lt;Box style={{ paddingTop: 14, paddingBottom: 10, height: 479, flexDirection: 'column', gap: 8 }}&gt;&#10;      {/* 三个盒子 */}&#10;      &lt;Box style={{ flex: 1, flexDirection: 'row', gap: 9 }}&gt;&#10;        {[&#10;          { n: '知识库', s: 'KB', r: '回答「这件事过去是怎么做的、规定是什么」', q: '提供材料与出处', d: '非结构化 → 可引用单元', c: '#FA4F24', z: '上游' },&#10;     { n: 'Ontology', s: 'ONT', r: '回答「现在是什么状态、它们是什么关系」', q: '提供结构与口径', d: '材料 → 语义模型', c: '#F87D2F', z: '中枢' },&#10;        { n: 'Agent', s: 'AGT', r: '回答「接下来该做什么、谁来做」', q: '提供判断与行动', d: '语义 + 材料 → 决策', c: '#FBA15C', z: '下游' },&#10;        ].map((it, i) =&gt; (&#10;    &lt;Box key={it.n} style={{ flex: 1, background: '#F7F7F8', borderRadius: 4, borderTop: '4px solid ' + it.c, padding: '11px 15px', flexDirection: 'column' }}&gt;&#10;      &lt;Box style={{ flexDirection: 'row', alignItems: 'center', gap: 10 }}&gt;&#10;  &lt;Text style={{ fontSize: 22, fontWeight: 'bold', color: it.c }}&gt;{it.n}&lt;/Text&gt;&#10;        &lt;Text style={{ fontSize: 12, color: '#8A8F99', flex: 1, textAlign: 'right' }}&gt;{it.z}&lt;/Text&gt;&#10;            &lt;/Box&gt;&#10;        &lt;Text style={{ fontSize: 11, color: '#8A8F99', marginTop: 2 }}&gt;{it.s}&lt;/Text&gt;&#10;     &lt;Text style={{ fontSize: 14, fontWeight: 'bold', color: '#0F1423', marginTop: 8, lineHeight: 1.4 }}&gt;{it.r}&lt;/Text&gt;&#10;     &lt;Box style={{ flex: 1 }} /&gt;&#10;      &lt;Box style={{ height: 26, background: '#FFFFFF', borderRadius: 3, justifyContent: 'center', padding: '0 10px' }}&gt;&#10;        &lt;Text style={{ fontSize: 11, fontWeight: 'bold', color: it.c }}&gt;{it.q}&lt;/Text&gt;&#10;        &lt;/Box&gt;&#10;       &lt;Box style={{ height: 26, background: '#FFF3EE', borderRadius: 3, justifyContent: 'center', padding: '0 10px', marginTop: 5 }}&gt;&#10;        &lt;Text style={{ fontSize: 11, color: '#C43A17' }}&gt;{it.d}&lt;/Text&gt;&#10;    &lt;/Box&gt;&#10;          &lt;/Box&gt;&#10;     ))}&#10;      &lt;/Box&gt;&#10;&#10;  {/* 供给链路 */}&#10;      &lt;Box style={{ height: 116, background: '#0F1423', borderRadius: 4, padding: '12px 18px', flexDirection: 'column' }}&gt;&#10;  &lt;Text style={{ fontSize: 15, fontWeight: 'bold', color: '#FBA15C' }}&gt;供给链路：知识如何一步步变成一个可执行的决定&lt;/Text&gt;&#10;        &lt;Box style={{ flexDirection: 'row', alignItems: 'center', gap: 5, marginTop: 10, flex: 1 }}&gt;&#10;       {[&#10;     { t: '文档 / 工单 / 邮件', s: '原始材料', c: '#8A8F99' },&#10;  { t: '知识库', s: '切片 + 实体 + 出处', c: '#FA4F24' },&#10; { t: 'Ontology', s: '对象 + 口径 + Action', c: '#F87D2F' },&#10;    { t: 'Agent', s: '上下文 + 判断 + 权限', c: '#FBA15C' },&#10;            { t: 'Action', s: '受控变更 + 审计', c: '#5A6072' },&#10;          ].map((x, i) =&gt; (&#10;     &lt;Box key={x.t} style={{ flexDirection: 'row', alignItems: 'center', flex: 1, gap: 5 }}&gt;&#10;     &lt;Box style={{ flex: 1, height: 48, borderRadius: 3, background: 'rgba(255,255,255,0.08)', borderLeft: '3px solid ' + x.c, padding: '0 10px', justifyContent: 'center' }}&gt;&#10;   &lt;Text style={{ fontSize: 13, fontWeight: 'bold', color: '#FFFFFF' }}&gt;{x.t}&lt;/Text&gt;&#10;       &lt;Text style={{ fontSize: 10, color: 'rgba(255,255,255,0.6)', marginTop: 2 }}&gt;{x.s}&lt;/Text&gt;&#10; &lt;/Box&gt;&#10;              {i &lt; 4 ? &lt;Text style={{ fontSize: 13, color: 'rgba(255,255,255,0.4)' }}&gt;→&lt;/Text&gt; : null}&#10;       &lt;/Box&gt;&#10;          ))}&#10;     &lt;/Box&gt;&#10;      &lt;/Box&gt;&#10;&#10;      {/* 三条常见误解 */}&#10;      &lt;Box style={{ flex: 1, background: '#FFF3EE', borderRadius: 4, borderLeft: '5px solid #FA4F24', padding: '10px 18px', flexDirection: 'column' }}&gt;&#10;        &lt;Text style={{ fontSize: 14, fontWeight: 'bold', color: '#C43A17', marginBottom: 7 }}&gt;三个必须当场纠正的误解&lt;/Text&gt;&#10;  &lt;Box style={{ flexDirection: 'row', gap: 10, flex: 1 }}&gt;&#10;        {[&#10;   { m: '「知识库就是向量库」', t: '向量检索是最后一公里的实现方式，不是知识治理' },&#10;   { m: '「有本体就不用知识库了」', t: '本体存结构化事实，流程说明与经验判断仍要靠知识库' },&#10;            { m: '「Agent 自己会查知识」', t: 'Agent 只能请求调用，权限与范围必须由架构预先给定' },&#10;          ].map((x, i) =&gt; (&#10;       &lt;Box key={x.m} style={{ flex: 1, background: '#FFFFFF', borderRadius: 3, padding: '7px 11px' }}&gt;&#10;       &lt;Text style={{ fontSize: 12, fontWeight: 'bold', color: '#0F1423' }}&gt;{x.m}&lt;/Text&gt;&#10;       &lt;Text style={{ fontSize: 11, color: '#5A6072', marginTop: 3, lineHeight: 1.4 }}&gt;{x.t}&lt;/Text&gt;&#10;            &lt;/Box&gt;&#10;      ))}&#10;        &lt;/Box&gt;&#10;      &lt;/Box&gt;&#10;    &lt;/Box&gt;&#10;&#10;    &lt;Box style={{ height: 58, flexDirection: 'row', alignItems: 'center', borderTop: '1px solid #E8E8E8' }}&gt;&#10;   &lt;Box style={{ width: 10, height: 10, background: '#FA4F24' }} /&gt;&#10;        &lt;Text style={{ fontSize: 13, color: '#8A8F99', marginLeft: 12 }}&gt;硕磐机密 · 知识库咨询方法论&lt;/Text&gt;&#10;      &lt;Text style={{ fontSize: 13, color: '#8A8F99', marginLeft: 'auto' }}&gt;1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之总览：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三者各管哪一段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，一句话各自划清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把这三者混着谈，是过去两年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项目最贵的沟通成本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09600" y="1323975"/>
            <a:ext cx="36004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1323975"/>
            <a:ext cx="3600450" cy="1838325"/>
          </a:xfrm>
          <a:custGeom>
            <a:pathLst>
              <a:path w="378" h="193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52475" y="142875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A4F24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476375" y="1485900"/>
            <a:ext cx="25908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上游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52475" y="1704975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52475" y="19145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回答「这件事过去是怎么做的、规定是什么」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52475" y="2476500"/>
            <a:ext cx="33147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47725" y="2533650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提供材料与出处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52475" y="2771775"/>
            <a:ext cx="3314700" cy="247650"/>
          </a:xfrm>
          <a:prstGeom prst="roundRect">
            <a:avLst>
              <a:gd name="adj" fmla="val 1153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47725" y="2828925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非结构化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可引用单元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295775" y="1323975"/>
            <a:ext cx="36004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4295775" y="1323975"/>
            <a:ext cx="3600450" cy="1838325"/>
          </a:xfrm>
          <a:custGeom>
            <a:pathLst>
              <a:path w="378" h="193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438650" y="1428750"/>
            <a:ext cx="99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7D2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524500" y="1485900"/>
            <a:ext cx="22288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中枢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438650" y="1704975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438650" y="19145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回答「现在是什么状态、它们是什么关系」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4438650" y="2476500"/>
            <a:ext cx="33147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533900" y="2533650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87D2F"/>
                </a:solidFill>
                <a:latin typeface="Microsoft YaHei"/>
                <a:ea typeface="Microsoft YaHei"/>
              </a:rPr>
              <a:t>提供结构与口径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438650" y="2771775"/>
            <a:ext cx="3314700" cy="247650"/>
          </a:xfrm>
          <a:prstGeom prst="roundRect">
            <a:avLst>
              <a:gd name="adj" fmla="val 1153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533900" y="2828925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材料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语义模型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7981950" y="1323975"/>
            <a:ext cx="36004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7981950" y="1323975"/>
            <a:ext cx="3600450" cy="1838325"/>
          </a:xfrm>
          <a:custGeom>
            <a:pathLst>
              <a:path w="378" h="193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124825" y="14287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BA15C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867775" y="1485900"/>
            <a:ext cx="2571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下游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124825" y="1704975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124825" y="19145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回答「接下来该做什么、谁来做」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8124825" y="2476500"/>
            <a:ext cx="33147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20075" y="2533650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提供判断与行动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124825" y="2771775"/>
            <a:ext cx="3314700" cy="247650"/>
          </a:xfrm>
          <a:prstGeom prst="roundRect">
            <a:avLst>
              <a:gd name="adj" fmla="val 1153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220075" y="2828925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语义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材料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3200400"/>
            <a:ext cx="1097280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81050" y="331470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供给链路：知识如何一步步变成一个可执行的决定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09625" y="3657600"/>
            <a:ext cx="1914525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809625" y="3657600"/>
            <a:ext cx="1914525" cy="457200"/>
          </a:xfrm>
          <a:custGeom>
            <a:pathLst>
              <a:path w="201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04875" y="3743325"/>
            <a:ext cx="1695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文档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工单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邮件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04875" y="3914775"/>
            <a:ext cx="1695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原始材料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743200" y="3810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2943225" y="3657600"/>
            <a:ext cx="1914525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2943225" y="3657600"/>
            <a:ext cx="1914525" cy="457200"/>
          </a:xfrm>
          <a:custGeom>
            <a:pathLst>
              <a:path w="201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038475" y="3743325"/>
            <a:ext cx="1695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038475" y="3914775"/>
            <a:ext cx="1695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切片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实体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出处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876800" y="3810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076825" y="3657600"/>
            <a:ext cx="1924050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5076825" y="3657600"/>
            <a:ext cx="1924050" cy="457200"/>
          </a:xfrm>
          <a:custGeom>
            <a:pathLst>
              <a:path w="202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172075" y="3743325"/>
            <a:ext cx="1704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172075" y="3914775"/>
            <a:ext cx="1704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对象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口径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Action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019925" y="3810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219950" y="3657600"/>
            <a:ext cx="1914525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7219950" y="3657600"/>
            <a:ext cx="1914525" cy="457200"/>
          </a:xfrm>
          <a:custGeom>
            <a:pathLst>
              <a:path w="201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315200" y="3743325"/>
            <a:ext cx="1695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315200" y="3914775"/>
            <a:ext cx="1695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上下文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判断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153525" y="3810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9353550" y="3657600"/>
            <a:ext cx="2085975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9353550" y="3657600"/>
            <a:ext cx="2085975" cy="457200"/>
          </a:xfrm>
          <a:custGeom>
            <a:pathLst>
              <a:path w="219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448800" y="374332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448800" y="3914775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受控变更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57225" y="4381500"/>
            <a:ext cx="10972800" cy="1238250"/>
          </a:xfrm>
          <a:prstGeom prst="roundRect">
            <a:avLst>
              <a:gd name="adj" fmla="val 307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57225" y="4381500"/>
            <a:ext cx="10972800" cy="1238250"/>
          </a:xfrm>
          <a:custGeom>
            <a:pathLst>
              <a:path w="1152" h="130">
                <a:moveTo>
                  <a:pt x="5" y="130"/>
                </a:moveTo>
                <a:cubicBezTo>
                  <a:pt x="4" y="130"/>
                  <a:pt x="3" y="130"/>
                  <a:pt x="2" y="129"/>
                </a:cubicBezTo>
                <a:cubicBezTo>
                  <a:pt x="1" y="129"/>
                  <a:pt x="0" y="128"/>
                  <a:pt x="0" y="126"/>
                </a:cubicBezTo>
                <a:lnTo>
                  <a:pt x="0" y="126"/>
                </a:lnTo>
                <a:lnTo>
                  <a:pt x="0" y="12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28675" y="4476750"/>
            <a:ext cx="10582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三个必须当场纠正的误解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28675" y="4705350"/>
            <a:ext cx="3467100" cy="8191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33450" y="477202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「知识库就是向量库」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33450" y="4943475"/>
            <a:ext cx="32575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向量检索是最后一公里的实现方式，不是知识治理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4391025" y="4705350"/>
            <a:ext cx="3457575" cy="8191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495800" y="477202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「有本体就不用知识库了」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495800" y="4943475"/>
            <a:ext cx="32480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本体存结构化事实，流程说明与经验判断仍要靠知识库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943850" y="4705350"/>
            <a:ext cx="3467100" cy="8191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48625" y="477202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「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自己会查知识」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48625" y="4943475"/>
            <a:ext cx="32575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只能请求调用，权限与范围必须由架构预先给定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7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分工一：知识库与&lt;span style={{ color: '#FA4F24' }}&gt;Ontology&lt;/span&gt; 的四条分工线&#10;    &lt;/Text&gt;&#10;        &lt;Text style={{ fontSize: 20, color: '#8A8F99', marginTop: 8 }}&gt;&#10;   一句话：知识库往本体里灌事实与出处，本体往知识库里回写已生效的判定&#10;        &lt;/Text&gt;&#10;    &lt;/Box&gt;&#10;    &lt;Box style={{ height: 1, background: '#E8E8E8' }} /&gt;&#10;&#10;    &lt;Box style={{ paddingTop: 14, paddingBottom: 10, height: 479, flexDirection: 'column', gap: 8 }}&gt;&#10;      {/* 表头 */}&#10;      &lt;Box style={{ flexDirection: 'row', gap: 8 }}&gt;&#10;        &lt;Box style={{ width: 152, background: '#0F1423', padding: '0 12px', justifyContent: 'center' }}&gt;&lt;Text style={{ fontSize: 12, fontWeight: 'bold', color: '#FFFFFF' }}&gt;分工维度&lt;/Text&gt;&lt;/Box&gt;&#10;        &lt;Box style={{ flex: 1, background: '#0F1423', padding: '0 12px', justifyContent: 'center' }}&gt;&lt;Text style={{ fontSize: 12, fontWeight: 'bold', color: '#FFFFFF' }}&gt;知识库负责&lt;/Text&gt;&lt;/Box&gt;&#10;        &lt;Box style={{ flex: 1, background: '#0F1423', padding: '0 12px', justifyContent: 'center' }}&gt;&lt;Text style={{ fontSize: 12, fontWeight: 'bold', color: '#FFFFFF' }}&gt;Ontology 负责&lt;/Text&gt;&lt;/Box&gt;&#10;   &lt;Box style={{ width: 286, background: '#0F1423', padding: '0 12px', justifyContent: 'center' }}&gt;&lt;Text style={{ fontSize: 12, fontWeight: 'bold', color: '#FFFFFF' }}&gt;交界处最易出事的地方&lt;/Text&gt;&lt;/Box&gt;&#10;      &lt;/Box&gt;&#10;&#10;      {[&#10;  { d: '承载对象', a: '文档、方案、案例、工单、纪要、经验', b: '对象类型、属性、关系、指标定义', w: '同一概念在两边各有一套名字，谁也不认另一套', c: '#FA4F24' },&#10;        { d: '表达形式', a: '自然语言 + 切片片段 + 出处坐标', b: '结构化字段 + 类型约束 + 计算式', w: '文本里的口径没进结构化字段，被当成「不一致」反复返工', c: '#F87D2F' },&#10;        { d: '时间属性', a: '生效期、失效期、版本历史', b: '当前有效快照与变更记录', w: '本体只存了当前值，历史追溯不到，审计答不出一周前的口径', c: '#FBA15C' },&#10;        { d: '权限粒度', a: '文档级可见范围与密级标记', b: '对象级 / 属性级安全策略', w: '文档侧标了密级，检索后只读不脱敏，敏感内容被原样送进模型', c: '#E0651A' },&#10;      ].map((it, i) =&gt; (&#10;    &lt;Box key={it.d} style={{ flex: 1, flexDirection: 'row', gap: 8 }}&gt;&#10;   &lt;Box style={{ width: 152, background: '#F7F7F8', borderLeft: '4px solid ' + it.c, padding: '0 12px', justifyContent: 'center' }}&gt;&#10;    &lt;Text style={{ fontSize: 14, fontWeight: 'bold', color: it.c }}&gt;{it.d}&lt;/Text&gt;&#10;      &lt;/Box&gt;&#10;     &lt;Box style={{ flex: 1, background: '#F7F7F8', padding: '0 12px', justifyContent: 'center' }}&gt;&#10;            &lt;Text style={{ fontSize: 12, color: '#3A4050', lineHeight: 1.45 }}&gt;{it.a}&lt;/Text&gt;&#10;        &lt;/Box&gt;&#10;          &lt;Box style={{ flex: 1, background: '#F7F7F8', padding: '0 12px', justifyContent: 'center' }}&gt;&#10;      &lt;Text style={{ fontSize: 12, color: '#3A4050', lineHeight: 1.45 }}&gt;{it.b}&lt;/Text&gt;&#10;    &lt;/Box&gt;&#10;      &lt;Box style={{ width: 286, background: '#FFF3EE', padding: '0 12px', justifyContent: 'center' }}&gt;&#10;     &lt;Text style={{ fontSize: 11, color: '#C43A17', lineHeight: 1.45 }}&gt;{it.w}&lt;/Text&gt;&#10;     &lt;/Box&gt;&#10;        &lt;/Box&gt;&#10;      ))}&#10;&#10;  {/* 回写 */}&#10;      &lt;Box style={{ height: 108, background: '#0F1423', borderRadius: 4, padding: '12px 18px', flexDirection: 'row', alignItems: 'center', gap: 16 }}&gt;&#10;        &lt;Box style={{ width: 178 }}&gt;&#10;      &lt;Text style={{ fontSize: 15, fontWeight: 'bold', color: '#FBA15C' }}&gt;知识库 → 本体的四条注入通道&lt;/Text&gt;&#10;          &lt;Text style={{ fontSize: 11, color: 'rgba(255,255,255,0.55)', marginTop: 5 }}&gt;写回必须经由 Action，不能直连&lt;/Text&gt;&#10;      &lt;/Box&gt;&#10;   &lt;Box style={{ flex: 1, flexDirection: 'row', gap: 9 }}&gt;&#10;          {[&#10;            { n: '抽取对象', d: '从文本里识别业务对象，创建或关联本体对象' },&#10;      { n: '补全属性', d: '把散落在文档里的属性值补到对象上，标注来源' },&#10;            { n: '挂接出处', d: '给对象属性挂上「依据哪份文档第几页」的引用' },&#10;        { n: '回写判定', d: '把已生效的审批结论回写为对象状态' },&#10;          ].map((x, i) =&gt; (&#10;        &lt;Box key={x.n} style={{ flex: 1, background: 'rgba(255,255,255,0.07)', borderRadius: 3, borderLeft: '3px solid #FA4F24', padding: '7px 11px' }}&gt;&#10;      &lt;Text style={{ fontSize: 13, fontWeight: 'bold', color: '#FFFFFF' }}&gt;{x.n}&lt;/Text&gt;&#10;    &lt;Text style={{ fontSize: 10, color: 'rgba(255,255,255,0.62)', marginTop: 3, lineHeight: 1.4 }}&gt;{x.d}&lt;/Text&gt;&#10;         &lt;/Box&gt;&#10;  ))}&#10;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&lt;Text style={{ fontSize: 13, color: '#8A8F99', marginLeft: 'auto' }}&gt;1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之分工一：知识库与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Ontology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的四条分工线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一句话：知识库往本体里灌事实与出处，本体往知识库里回写已生效的判定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09600" y="1285875"/>
            <a:ext cx="14478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23900" y="1285875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分工维度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2133600" y="1285875"/>
            <a:ext cx="3286125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2247900" y="1285875"/>
            <a:ext cx="3057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知识库负责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495925" y="1285875"/>
            <a:ext cx="3286125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610225" y="1285875"/>
            <a:ext cx="3057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负责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858250" y="1285875"/>
            <a:ext cx="27241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972550" y="1285875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交界处最易出事的地方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47700" y="1504950"/>
            <a:ext cx="1409700" cy="5715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1504950"/>
            <a:ext cx="1447800" cy="571500"/>
          </a:xfrm>
          <a:custGeom>
            <a:pathLst>
              <a:path w="152" h="60">
                <a:moveTo>
                  <a:pt x="0" y="0"/>
                </a:moveTo>
                <a:lnTo>
                  <a:pt x="4" y="0"/>
                </a:lnTo>
                <a:lnTo>
                  <a:pt x="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承载对象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2133600" y="1504950"/>
            <a:ext cx="3286125" cy="5715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247900" y="169545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文档、方案、案例、工单、纪要、经验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495925" y="1504950"/>
            <a:ext cx="3286125" cy="5715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610225" y="169545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对象类型、属性、关系、指标定义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858250" y="1504950"/>
            <a:ext cx="2724150" cy="5715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972550" y="1695450"/>
            <a:ext cx="24955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同一概念在两边各有一套名字，谁也不认另一套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47700" y="2152650"/>
            <a:ext cx="1409700" cy="7334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09600" y="2152650"/>
            <a:ext cx="1447800" cy="733425"/>
          </a:xfrm>
          <a:custGeom>
            <a:pathLst>
              <a:path w="152" h="77">
                <a:moveTo>
                  <a:pt x="0" y="0"/>
                </a:moveTo>
                <a:lnTo>
                  <a:pt x="4" y="0"/>
                </a:lnTo>
                <a:lnTo>
                  <a:pt x="4" y="77"/>
                </a:lnTo>
                <a:lnTo>
                  <a:pt x="0" y="7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62000" y="24384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表达形式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2133600" y="2152650"/>
            <a:ext cx="3286125" cy="7334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2247900" y="241935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自然语言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切片片段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出处坐标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495925" y="2152650"/>
            <a:ext cx="3286125" cy="7334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610225" y="241935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结构化字段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类型约束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计算式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858250" y="2152650"/>
            <a:ext cx="2724150" cy="733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972550" y="2333625"/>
            <a:ext cx="24955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文本里的口径没进结构化字段，被当成「不一致」反复返工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47700" y="2962275"/>
            <a:ext cx="1409700" cy="742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609600" y="2962275"/>
            <a:ext cx="1447800" cy="742950"/>
          </a:xfrm>
          <a:custGeom>
            <a:pathLst>
              <a:path w="152" h="78">
                <a:moveTo>
                  <a:pt x="0" y="0"/>
                </a:moveTo>
                <a:lnTo>
                  <a:pt x="4" y="0"/>
                </a:lnTo>
                <a:lnTo>
                  <a:pt x="4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62000" y="325755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时间属性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2133600" y="2962275"/>
            <a:ext cx="3286125" cy="742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2247900" y="323850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生效期、失效期、版本历史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5495925" y="2962275"/>
            <a:ext cx="3286125" cy="742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610225" y="323850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当前有效快照与变更记录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8858250" y="2962275"/>
            <a:ext cx="2724150" cy="7429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972550" y="3152775"/>
            <a:ext cx="24955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本体只存了当前值，历史追溯不到，审计答不出一周前的口径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47700" y="3781425"/>
            <a:ext cx="1409700" cy="7334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609600" y="3781425"/>
            <a:ext cx="1447800" cy="733425"/>
          </a:xfrm>
          <a:custGeom>
            <a:pathLst>
              <a:path w="152" h="77">
                <a:moveTo>
                  <a:pt x="0" y="0"/>
                </a:moveTo>
                <a:lnTo>
                  <a:pt x="4" y="0"/>
                </a:lnTo>
                <a:lnTo>
                  <a:pt x="4" y="77"/>
                </a:lnTo>
                <a:lnTo>
                  <a:pt x="0" y="77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62000" y="406717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权限粒度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2133600" y="3781425"/>
            <a:ext cx="3286125" cy="7334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2247900" y="4048125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文档级可见范围与密级标记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5495925" y="3781425"/>
            <a:ext cx="3286125" cy="7334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610225" y="4048125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对象级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属性级安全策略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8858250" y="3781425"/>
            <a:ext cx="2724150" cy="733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972550" y="3962400"/>
            <a:ext cx="24955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文档侧标了密级，检索后只读不脱敏，敏感内容被原样送进模型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4591050"/>
            <a:ext cx="10972800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81050" y="4848225"/>
            <a:ext cx="16954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知识库</a:t>
            </a: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本体的四条注入通道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81050" y="52387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写回必须经由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Action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，不能直连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2657475" y="4791075"/>
            <a:ext cx="2133600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2657475" y="4791075"/>
            <a:ext cx="2133600" cy="638175"/>
          </a:xfrm>
          <a:custGeom>
            <a:pathLst>
              <a:path w="224" h="67">
                <a:moveTo>
                  <a:pt x="3" y="67"/>
                </a:moveTo>
                <a:cubicBezTo>
                  <a:pt x="1" y="67"/>
                  <a:pt x="0" y="66"/>
                  <a:pt x="0" y="6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2762250" y="48577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抽取对象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2762250" y="5038725"/>
            <a:ext cx="18954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从文本里识别业务对象，创建或关联本体对象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876800" y="4791075"/>
            <a:ext cx="2133600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876800" y="4791075"/>
            <a:ext cx="2133600" cy="638175"/>
          </a:xfrm>
          <a:custGeom>
            <a:pathLst>
              <a:path w="224" h="67">
                <a:moveTo>
                  <a:pt x="3" y="67"/>
                </a:moveTo>
                <a:cubicBezTo>
                  <a:pt x="1" y="67"/>
                  <a:pt x="0" y="66"/>
                  <a:pt x="0" y="6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981575" y="48577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补全属性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981575" y="5038725"/>
            <a:ext cx="18954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把散落在文档里的属性值补到对象上，标注来源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096125" y="4791075"/>
            <a:ext cx="2124075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7096125" y="4791075"/>
            <a:ext cx="2124075" cy="638175"/>
          </a:xfrm>
          <a:custGeom>
            <a:pathLst>
              <a:path w="223" h="67">
                <a:moveTo>
                  <a:pt x="3" y="67"/>
                </a:moveTo>
                <a:cubicBezTo>
                  <a:pt x="1" y="67"/>
                  <a:pt x="0" y="66"/>
                  <a:pt x="0" y="6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200900" y="4857750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挂接出处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200900" y="5038725"/>
            <a:ext cx="18859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给对象属性挂上「依据哪份文档第几页」的引用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9305925" y="4791075"/>
            <a:ext cx="2133600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9305925" y="4791075"/>
            <a:ext cx="2133600" cy="638175"/>
          </a:xfrm>
          <a:custGeom>
            <a:pathLst>
              <a:path w="224" h="67">
                <a:moveTo>
                  <a:pt x="3" y="67"/>
                </a:moveTo>
                <a:cubicBezTo>
                  <a:pt x="1" y="67"/>
                  <a:pt x="0" y="66"/>
                  <a:pt x="0" y="6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410700" y="48577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回写判定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9410700" y="503872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把已生效的审批结论回写为对象状态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349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分工二：知识库与 &lt;span style={{ color: '#FA4F24' }}&gt;Agent&lt;/span&gt; 的四条分工线&#10;        &lt;/Text&gt;&#10;        &lt;Text style={{ fontSize: 20, color: '#8A8F99', marginTop: 8 }}&gt;&#10;     一句话：知识库只提供「读」，不提供「信」；可信度由 Agent 的引用规范与本体口径共同担保&#10; &lt;/Text&gt;&#10;    &lt;/Box&gt;&#10;    &lt;Box style={{ height: 1, background: '#E8E8E8' }} /&gt;&#10;&#10;    &lt;Box style={{ paddingTop: 14, paddingBottom: 10, height: 479, flexDirection: 'row', gap: 11 }}&gt;&#10;      {/* 左：不该给知识库的权限 */}&#10;      &lt;Box style={{ width: 400, flexDirection: 'column', gap: 8 }}&gt;&#10;        &lt;Box style={{ height: 252, background: '#F7F7F8', borderRadius: 4, padding: '11px 15px', flexDirection: 'column' }}&gt;&#10;  &lt;Text style={{ fontSize: 15, fontWeight: 'bold', color: '#0F1423', marginBottom: 7 }}&gt;知识库的四条能力边界&lt;/Text&gt;&#10;          {[&#10;      { t: '不做最终判断', d: '候选规则可以有倾向，不能有裁定权' },&#10;     { t: '不绕过本体改数据', d: '写回必须经由 Action' },&#10;        { t: '不参与权限裁定', d: '可见范围由本体安全策略决定' },&#10;      { t: '不替组织背书', d: '入库不代表该做法被正式批准' },&#10;          ].map((it, i) =&gt; (&#10;            &lt;Box key={it.t} style={{ flex: 1, borderTop: i === 0 ? 'none' : '1px solid #E8E8E8', justifyContent: 'center' }}&gt;&#10;   &lt;Box style={{ flexDirection: 'row', alignItems: 'center', gap: 9 }}&gt;&#10;       &lt;Text style={{ fontSize: 11, fontWeight: 'bold', color: '#FA4F24' }}&gt;✕&lt;/Text&gt;&#10;     &lt;Text style={{ fontSize: 13, fontWeight: 'bold', color: '#0F1423' }}&gt;{it.t}&lt;/Text&gt;&#10;         &lt;/Box&gt;&#10;   &lt;Text style={{ fontSize: 11, color: '#5A6072', marginTop: 3, marginLeft: 20, lineHeight: 1.4 }}&gt;{it.d}&lt;/Text&gt;&#10; &lt;/Box&gt;&#10;       ))}&#10;        &lt;/Box&gt;&#10; &lt;Box style={{ flex: 1, background: '#FFF3EE', borderRadius: 4, borderLeft: '4px solid #FA4F24', padding: '10px 14px', flexDirection: 'column', justifyContent: 'center' }}&gt;&#10;    &lt;Text style={{ fontSize: 13, fontWeight: 'bold', color: '#C43A17' }}&gt;为什么必须划这条线&lt;/Text&gt;&#10;          &lt;Text style={{ fontSize: 12, color: '#3A4050', marginTop: 6, lineHeight: 1.55 }}&gt;&#10;  一旦知识库能裁定，它就会被当成权威源；而它装的其实是从各处抄来的、有时过期、有时互相矛盾的文本。这是把「可查」误当「可信」的典型事故。&#10;   &lt;/Text&gt;&#10;  &lt;/Box&gt;&#10;      &lt;/Box&gt;&#10;&#10;      {/* 右：上下文装配契约 */}&#10;      &lt;Box style={{ flex: 1, flexDirection: 'column', gap: 8 }}&gt;&#10;        &lt;Box style={{ height: 252, background: '#0F1423', borderRadius: 4, padding: '11px 16px', flexDirection: 'column' }}&gt;&#10;   &lt;Text style={{ fontSize: 15, fontWeight: 'bold', color: '#FBA15C' }}&gt;知识库交给 Agent 的上下文契约（五项）&lt;/Text&gt;&#10;     &lt;Text style={{ fontSize: 11, color: 'rgba(255,255,255,0.55)', marginTop: 4 }}&gt;缺一项，Agent 的输出就不可控&lt;/Text&gt;&#10;    &lt;Box style={{ marginTop: 9, flex: 1 }}&gt;&#10;       {[&#10;        { n: '来源标识', d: '每段内容标明来自哪个库、哪份文档、哪个位置' },&#10;            { n: '可信等级', d: '正式制度 / 部门惯例 / 个人经验，模型据此调整语气' },&#10;        { n: '时效信息', d: '生效期与更新时间，过期内容不主动召回' },&#10;            { n: '预算占用', d: '本次供给占用了多少上下文预算' },&#10;        { n: '不可信标记', d: '外部来源内容只作参考，不作为判断依据' },&#10; ].map((x, i) =&gt; (&#10;    &lt;Box key={x.n} style={{ flex: 1, flexDirection: 'row', alignItems: 'center', gap: 10, borderTop: i === 0 ? 'none' : '1px solid rgba(255,255,255,0.12)' }}&gt;&#10;     &lt;Text style={{ fontSize: 11, fontWeight: 'bold', color: '#FA4F24', width: 20 }}&gt;{String(i + 1).padStart(2, '0')}&lt;/Text&gt;&#10;              &lt;Text style={{ fontSize: 13, fontWeight: 'bold', color: '#FFFFFF', width: 96 }}&gt;{x.n}&lt;/Text&gt;&#10;     &lt;Text style={{ fontSize: 11, color: 'rgba(255,255,255,0.68)', flex: 1 }}&gt;{x.d}&lt;/Text&gt;&#10;         &lt;/Box&gt;&#10;       ))}&#10;          &lt;/Box&gt;&#10;  &lt;/Box&gt;&#10;    &lt;Box style={{ flex: 1, background: '#F7F7F8', borderRadius: 4, padding: '10px 15px', flexDirection: 'column', justifyContent: 'center' }}&gt;&#10;   &lt;Text style={{ fontSize: 13, fontWeight: 'bold', color: '#0F1423' }}&gt;Agent 侧对应的三项义务&lt;/Text&gt;&#10;   &lt;Text style={{ fontSize: 12, color: '#3A4050', marginTop: 6, lineHeight: 1.6 }}&gt;&#10;      一是只用带出处的内容回答，无出处就说明「没找到依据」而不是推测；二是引用要指到具体位置，不能只写「见某制度」；三是发现内容冲突时必须显式告知并请求裁定，不允许自行选一个继续往下走。&#10;        &lt;/Text&gt;&#10;  &lt;/Box&gt;&#10;      &lt;/Box&gt;&#10;    &lt;/Box&gt;&#10;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&lt;Text style={{ fontSize: 13, color: '#8A8F99', marginLeft: 'auto' }}&gt;1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之分工二：知识库与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Agent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的四条分工线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一句话：知识库只提供「读」，不提供「信」；可信度由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的引用规范与本体口径共同担保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09600" y="1285875"/>
            <a:ext cx="3810000" cy="2400300"/>
          </a:xfrm>
          <a:prstGeom prst="roundRect">
            <a:avLst>
              <a:gd name="adj" fmla="val 158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52475" y="13906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知识库的四条能力边界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52475" y="17049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42975" y="16954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不做最终判断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42975" y="187642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候选规则可以有倾向，不能有裁定权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752475" y="2114550"/>
            <a:ext cx="3524250" cy="495300"/>
          </a:xfrm>
          <a:custGeom>
            <a:pathLst>
              <a:path w="370" h="52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52475" y="21907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42975" y="21812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不绕过本体改数据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942975" y="2362200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写回必须经由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Action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752475" y="2600325"/>
            <a:ext cx="3524250" cy="504825"/>
          </a:xfrm>
          <a:custGeom>
            <a:pathLst>
              <a:path w="370" h="53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52475" y="26860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42975" y="26765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不参与权限裁定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42975" y="2857500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可见范围由本体安全策略决定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752475" y="3095625"/>
            <a:ext cx="3524250" cy="495300"/>
          </a:xfrm>
          <a:custGeom>
            <a:pathLst>
              <a:path w="370" h="52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52475" y="31718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942975" y="31623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不替组织背书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942975" y="334327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入库不代表该做法被正式批准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47700" y="3762375"/>
            <a:ext cx="3810000" cy="1857375"/>
          </a:xfrm>
          <a:prstGeom prst="roundRect">
            <a:avLst>
              <a:gd name="adj" fmla="val 20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47700" y="3762375"/>
            <a:ext cx="3810000" cy="1857375"/>
          </a:xfrm>
          <a:custGeom>
            <a:pathLst>
              <a:path w="400" h="195">
                <a:moveTo>
                  <a:pt x="4" y="195"/>
                </a:moveTo>
                <a:cubicBezTo>
                  <a:pt x="2" y="195"/>
                  <a:pt x="0" y="193"/>
                  <a:pt x="0" y="19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81050" y="426720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为什么必须划这条线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81050" y="4476750"/>
            <a:ext cx="35052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一旦知识库能裁定，它就会被当成权威源；而它装的其实是从各处抄来的、有时过期、有时互相矛盾的文本。这是把「可查」误当「可信」的典型事故。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524375" y="1285875"/>
            <a:ext cx="7058025" cy="2400300"/>
          </a:xfrm>
          <a:prstGeom prst="roundRect">
            <a:avLst>
              <a:gd name="adj" fmla="val 158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676775" y="1390650"/>
            <a:ext cx="675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知识库交给</a:t>
            </a: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的上下文契约（五项）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676775" y="1600200"/>
            <a:ext cx="6753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缺一项，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的输出就不可控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676775" y="192405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962525" y="19145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来源标识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972175" y="1924050"/>
            <a:ext cx="5457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每段内容标明来自哪个库、哪份文档、哪个位置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676775" y="2162175"/>
            <a:ext cx="6753225" cy="361950"/>
          </a:xfrm>
          <a:custGeom>
            <a:pathLst>
              <a:path w="709" h="38">
                <a:moveTo>
                  <a:pt x="0" y="0"/>
                </a:moveTo>
                <a:lnTo>
                  <a:pt x="709" y="0"/>
                </a:lnTo>
                <a:lnTo>
                  <a:pt x="70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676775" y="22764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962525" y="226695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可信等级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972175" y="2276475"/>
            <a:ext cx="5457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正式制度</a:t>
            </a:r>
            <a:r>
              <a:rPr lang="en-US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部门惯例</a:t>
            </a:r>
            <a:r>
              <a:rPr lang="en-US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个人经验，模型据此调整语气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676775" y="2514600"/>
            <a:ext cx="6753225" cy="371475"/>
          </a:xfrm>
          <a:custGeom>
            <a:pathLst>
              <a:path w="709" h="39">
                <a:moveTo>
                  <a:pt x="0" y="0"/>
                </a:moveTo>
                <a:lnTo>
                  <a:pt x="709" y="0"/>
                </a:lnTo>
                <a:lnTo>
                  <a:pt x="70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676775" y="26384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962525" y="26289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时效信息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972175" y="2638425"/>
            <a:ext cx="5457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生效期与更新时间，过期内容不主动召回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676775" y="2876550"/>
            <a:ext cx="6753225" cy="361950"/>
          </a:xfrm>
          <a:custGeom>
            <a:pathLst>
              <a:path w="709" h="38">
                <a:moveTo>
                  <a:pt x="0" y="0"/>
                </a:moveTo>
                <a:lnTo>
                  <a:pt x="709" y="0"/>
                </a:lnTo>
                <a:lnTo>
                  <a:pt x="70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676775" y="299085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962525" y="29813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预算占用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972175" y="2990850"/>
            <a:ext cx="5457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本次供给占用了多少上下文预算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676775" y="3228975"/>
            <a:ext cx="6753225" cy="361950"/>
          </a:xfrm>
          <a:custGeom>
            <a:pathLst>
              <a:path w="709" h="38">
                <a:moveTo>
                  <a:pt x="0" y="0"/>
                </a:moveTo>
                <a:lnTo>
                  <a:pt x="709" y="0"/>
                </a:lnTo>
                <a:lnTo>
                  <a:pt x="70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676775" y="33432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62525" y="333375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不可信标记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972175" y="3343275"/>
            <a:ext cx="5457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外部来源内容只作参考，不作为判断依据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524375" y="3762375"/>
            <a:ext cx="7058025" cy="1857375"/>
          </a:xfrm>
          <a:prstGeom prst="roundRect">
            <a:avLst>
              <a:gd name="adj" fmla="val 20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667250" y="4362450"/>
            <a:ext cx="6772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侧对应的三项义务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667250" y="4572000"/>
            <a:ext cx="67722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一是只用带出处的内容回答，无出处就说明「没找到依据」而不是推测；二是引用要指到具体位置，不能只写「见某制度」；三是发现内容冲突时必须显式告知并请求裁定，不允许自行选一个继续往下走。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40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信任：&lt;span style={{ color: '#FA4F24' }}&gt;引用与溯源&lt;/span&gt;，知识库唯一的硬指标&#10;        &lt;/Text&gt;&#10;        &lt;Text style={{ fontSize: 20, color: '#8A8F99', marginTop: 8 }}&gt;&#10; 准确率是可以优化的，引用是可以设计的；企业场景里后者决定这套系统能不能上&#10;  &lt;/Text&gt;&#10;    &lt;/Box&gt;&#10;    &lt;Box style={{ height: 1, background: '#E8E8E8' }} /&gt;&#10;&#10;    &lt;Box style={{ paddingTop: 14, paddingBottom: 10, height: 479, flexDirection: 'column', gap: 8 }}&gt;&#10;      {/* 好坏引用对比 */}&#10;    &lt;Box style={{ flex: 1, flexDirection: 'row', gap: 9 }}&gt;&#10;        &lt;Box style={{ flex: 1, background: '#F7F7F8', borderRadius: 4, borderTop: '4px solid #8A8F99', padding: '11px 16px', flexDirection: 'column' }}&gt;&#10;          &lt;Text style={{ fontSize: 16, fontWeight: 'bold', color: '#5A6072' }}&gt;不可接受的回答&lt;/Text&gt;&#10;     &lt;Text style={{ fontSize: 13, color: '#3A4050', marginTop: 8, lineHeight: 1.6, flex: 1 }}&gt;&#10;    「根据公司相关规定，该情况应当先取得审批再实施。相关制度见《工程变更管理办法》。」&#10;     &lt;/Text&gt;&#10;   &lt;Box style={{ flexDirection: 'row', gap: 8, marginTop: 8 }}&gt;&#10;       {['没说哪一条', '没说第几页', '不知道是不是最新版', '读完还是不知道怎么做'].map((t, i) =&gt; (&#10;        &lt;Box key={t} style={{ flex: 1, background: '#FFFFFF', borderRadius: 3, padding: '6px 8px' }}&gt;&#10;     &lt;Text style={{ fontSize: 10, color: '#8A8F99', textAlign: 'center' }}&gt;{t}&lt;/Text&gt;&#10;         &lt;/Box&gt;&#10;       ))}&#10;        &lt;/Box&gt;&#10;  &lt;Text style={{ fontSize: 12, color: '#C43A17', marginTop: 8 }}&gt;这种回答等于没回答——它把核实成本原样退给了使用者。&lt;/Text&gt;&#10;      &lt;/Box&gt;&#10;&#10;&lt;Box style={{ flex: 1, background: '#FFF3EE', borderRadius: 4, borderTop: '4px solid #FA4F24', padding: '11px 16px', flexDirection: 'column' }}&gt;&#10;        &lt;Text style={{ fontSize: 16, fontWeight: 'bold', color: '#C43A17' }}&gt;合格的回答&lt;/Text&gt;&#10;     &lt;Text style={{ fontSize: 13, color: '#0F1423', marginTop: 8, lineHeight: 1.6, flex: 1 }}&gt;&#10;      「该情况应先取得审批，依据《工程变更管理办法》第四章第 3.2 条（现行版本 2026-03 生效）。该条要求变更前完成技术方案评审并留档，评审通过后由分管领导在系统内确认。注意：2025 版同位置表述不同，已于 2026-03 失效。」&#10;    &lt;/Text&gt;&#10;        &lt;Box style={{ flexDirection: 'row', gap: 8, marginTop: 8 }}&gt;&#10;    {['指到条款', '标明版本', '说明时效', '给了下一步动作'].map((t, i) =&gt; (&#10;         &lt;Box key={t} style={{ flex: 1, background: '#FFFFFF', borderRadius: 3, padding: '6px 8px' }}&gt;&#10;       &lt;Text style={{ fontSize: 10, fontWeight: 'bold', color: '#FA4F24', textAlign: 'center' }}&gt;{t}&lt;/Text&gt;&#10;          &lt;/Box&gt;&#10;      ))}&#10;        &lt;/Box&gt;&#10;      &lt;Text style={{ fontSize: 12, color: '#C43A17', marginTop: 8 }}&gt;四段结构：结论 → 依据 → 时效 → 动作，缺一段都算不合格。&lt;/Text&gt;&#10;   &lt;/Box&gt;&#10;      &lt;/Box&gt;&#10;&#10;      {/* 引用四级 */}&#10;      &lt;Box style={{ height: 138, background: '#0F1423', borderRadius: 4, padding: '11px 18px', flexDirection: 'column' }}&gt;&#10;    &lt;Text style={{ fontSize: 14, fontWeight: 'bold', color: '#FBA15C' }}&gt;引用质量分四级，上线要求至少达到 L2&lt;/Text&gt;&#10;        &lt;Box style={{ flexDirection: 'row', gap: 9, marginTop: 8, flex: 1 }}&gt;&#10;    {[&#10;            { lv: 'L0', t: '无引用', d: '纯生成，出处靠猜', ok: false },&#10;            { lv: 'L1', t: '有出处但无定位', d: '说了来源名称，指不到位置', ok: false },&#10;            { lv: 'L2', t: '可定位', d: '指到章节、条款或页码', ok: true },&#10;   { lv: 'L3', t: '可验证', d: '一键回到原文并高亮该句，版本与生效期可见', ok: true },&#10;          ].map((x, i) =&gt; (&#10;   &lt;Box key={x.lv} style={{ flex: 1, background: 'rgba(255,255,255,0.07)', borderRadius: 3, borderTop: '3px solid ' + (x.ok ? '#FA4F24' : '#5A6072'), padding: '7px 11px' }}&gt;&#10;      &lt;Box style={{ flexDirection: 'row', alignItems: 'center', gap: 8 }}&gt;&#10;       &lt;Text style={{ fontSize: 15, fontWeight: 'bold', color: x.ok ? '#FA4F24' : 'rgba(255,255,255,0.5)' }}&gt;{x.lv}&lt;/Text&gt;&#10;      &lt;Text style={{ fontSize: 13, fontWeight: 'bold', color: '#FFFFFF' }}&gt;{x.t}&lt;/Text&gt;&#10;      {x.ok ? &lt;Text style={{ fontSize: 10, color: '#FA4F24', fontWeight: 'bold' }}&gt;达标&lt;/Text&gt; : null}&#10;   &lt;/Box&gt;&#10;        &lt;Text style={{ fontSize: 11, color: 'rgba(255,255,255,0.62)', marginTop: 4, lineHeight: 1.4 }}&gt;{x.d}&lt;/Text&gt;&#10;       &lt;/Box&gt;&#10;          ))}&#10;        &lt;/Box&gt;&#10;&lt;/Box&gt;&#10;&#10;      {/* 落地 */}&#10;      &lt;Box style={{ height: 74, background: '#F7F7F8', borderRadius: 4, padding: '0 16px', flexDirection: 'row', alignItems: 'center', gap: 14 }}&gt;&#10;   &lt;Text style={{ fontSize: 14, fontWeight: 'bold', color: '#C43A17', width: 152 }}&gt;要做到 L3，库侧必须存三样&lt;/Text&gt;&#10;        &lt;Box style={{ flex: 1, flexDirection: 'row', gap: 9 }}&gt;&#10;     {[&#10; { t: '位置锚点', d: '章节号、条款号或页偏移，支持高亮回跳' },&#10;   { t: '版本与生效期', d: '每次修订留痕，检索时自动过滤失效版本' },&#10;     { t: '稳定性标识', d: '定位偏移量，内容变更后能自动校验锚点是否失效' },&#10; ].map((x, i) =&gt; (&#10;      &lt;Box key={x.t} style={{ flex: 1, background: '#FFFFFF', borderLeft: '3px solid #FA4F24', borderRadius: 3, padding: '7px 11px' }}&gt;&#10;   &lt;Text style={{ fontSize: 13, fontWeight: 'bold', color: '#0F1423' }}&gt;{x.t}&lt;/Text&gt;&#10;        &lt;Text style={{ fontSize: 11, color: '#5A6072', marginTop: 2, lineHeight: 1.35 }}&gt;{x.d}&lt;/Text&gt;&#10;     &lt;/Box&gt;&#10;       ))}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&lt;Text style={{ fontSize: 13, color: '#8A8F99', marginLeft: 12 }}&gt;硕磐机密 · 知识库咨询方法论&lt;/Text&gt;&#10;        &lt;Text style={{ fontSize: 13, color: '#8A8F99', marginLeft: 'auto' }}&gt;1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之信任：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引用与溯源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，知识库唯一的硬指标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准确率是可以优化的，引用是可以设计的；企业场景里后者决定这套系统能不能上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09600" y="1323975"/>
            <a:ext cx="5448300" cy="2162175"/>
          </a:xfrm>
          <a:prstGeom prst="roundRect">
            <a:avLst>
              <a:gd name="adj" fmla="val 1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609600" y="1323975"/>
            <a:ext cx="5448300" cy="2162175"/>
          </a:xfrm>
          <a:custGeom>
            <a:pathLst>
              <a:path w="572" h="227">
                <a:moveTo>
                  <a:pt x="568" y="0"/>
                </a:moveTo>
                <a:cubicBezTo>
                  <a:pt x="570" y="0"/>
                  <a:pt x="572" y="2"/>
                  <a:pt x="57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8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514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A6072"/>
                </a:solidFill>
                <a:latin typeface="Microsoft YaHei"/>
                <a:ea typeface="Microsoft YaHei"/>
              </a:rPr>
              <a:t>不可接受的回答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62000" y="1695450"/>
            <a:ext cx="5143500" cy="11239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「根据公司相关规定，该情况应当先取得审批再实施。相关制度见《工程变更管理办法》。」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762000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没说哪一条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2066925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2143125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没说第几页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371850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448050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不知道是不是最新版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676775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752975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读完还是不知道怎么做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62000" y="3200400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这种回答等于没回答——它把核实成本原样退给了使用者。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143625" y="1323975"/>
            <a:ext cx="5438775" cy="2162175"/>
          </a:xfrm>
          <a:prstGeom prst="roundRect">
            <a:avLst>
              <a:gd name="adj" fmla="val 176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6143625" y="1323975"/>
            <a:ext cx="5438775" cy="2162175"/>
          </a:xfrm>
          <a:custGeom>
            <a:pathLst>
              <a:path w="571" h="227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296025" y="1428750"/>
            <a:ext cx="513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合格的回答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296025" y="1695450"/>
            <a:ext cx="5133975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「该情况应先取得审批，依据《工程变更管理办法》第四章第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3.2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条（现行版本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2026-03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生效）。该条要求变更前完成技术方案评审并留档，评审通过后由分管领导在系统内确认。注意：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版同位置表述不同，已于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2026-03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失效。」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296025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372225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指到条款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7600950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677150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标明版本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8905875" y="2895600"/>
            <a:ext cx="1219200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982075" y="2952750"/>
            <a:ext cx="10668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说明时效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10201275" y="2895600"/>
            <a:ext cx="122872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277475" y="2952750"/>
            <a:ext cx="10763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给了下一步动作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296025" y="320040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四段结构：结论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依据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时效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动作，缺一段都算不合格。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3524250"/>
            <a:ext cx="10972800" cy="1314450"/>
          </a:xfrm>
          <a:prstGeom prst="roundRect">
            <a:avLst>
              <a:gd name="adj" fmla="val 289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81050" y="36290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引用质量分四级，上线要求至少达到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L2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781050" y="3895725"/>
            <a:ext cx="2590800" cy="866775"/>
          </a:xfrm>
          <a:prstGeom prst="roundRect">
            <a:avLst>
              <a:gd name="adj" fmla="val 329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781050" y="3895725"/>
            <a:ext cx="2590800" cy="866775"/>
          </a:xfrm>
          <a:custGeom>
            <a:pathLst>
              <a:path w="272" h="91">
                <a:moveTo>
                  <a:pt x="269" y="0"/>
                </a:moveTo>
                <a:cubicBezTo>
                  <a:pt x="271" y="0"/>
                  <a:pt x="272" y="1"/>
                  <a:pt x="27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85825" y="396240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L0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33475" y="39719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无引用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85825" y="417195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纯生成，出处靠猜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3457575" y="3895725"/>
            <a:ext cx="2600325" cy="866775"/>
          </a:xfrm>
          <a:prstGeom prst="roundRect">
            <a:avLst>
              <a:gd name="adj" fmla="val 329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3457575" y="3895725"/>
            <a:ext cx="2600325" cy="866775"/>
          </a:xfrm>
          <a:custGeom>
            <a:pathLst>
              <a:path w="273" h="91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562350" y="396240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810000" y="39719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有出处但无定位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562350" y="4171950"/>
            <a:ext cx="23907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说了来源名称，指不到位置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143625" y="3895725"/>
            <a:ext cx="2590800" cy="866775"/>
          </a:xfrm>
          <a:prstGeom prst="roundRect">
            <a:avLst>
              <a:gd name="adj" fmla="val 329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6143625" y="3895725"/>
            <a:ext cx="2590800" cy="866775"/>
          </a:xfrm>
          <a:custGeom>
            <a:pathLst>
              <a:path w="272" h="91">
                <a:moveTo>
                  <a:pt x="269" y="0"/>
                </a:moveTo>
                <a:cubicBezTo>
                  <a:pt x="271" y="0"/>
                  <a:pt x="272" y="1"/>
                  <a:pt x="27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248400" y="396240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496050" y="39719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可定位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943725" y="39909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达标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248400" y="417195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指到章节、条款或页码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820150" y="3895725"/>
            <a:ext cx="2590800" cy="866775"/>
          </a:xfrm>
          <a:prstGeom prst="roundRect">
            <a:avLst>
              <a:gd name="adj" fmla="val 329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8820150" y="3895725"/>
            <a:ext cx="2590800" cy="866775"/>
          </a:xfrm>
          <a:custGeom>
            <a:pathLst>
              <a:path w="272" h="91">
                <a:moveTo>
                  <a:pt x="269" y="0"/>
                </a:moveTo>
                <a:cubicBezTo>
                  <a:pt x="271" y="0"/>
                  <a:pt x="272" y="1"/>
                  <a:pt x="27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924925" y="396240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172575" y="39719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可验证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9620250" y="39909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达标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924925" y="417195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一键回到原文并高亮该句，版本与生效期可见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4914900"/>
            <a:ext cx="109728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62000" y="5105400"/>
            <a:ext cx="14478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要做到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L3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，库侧必须存三样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2371725" y="5029200"/>
            <a:ext cx="29718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2371725" y="5029200"/>
            <a:ext cx="2971800" cy="476250"/>
          </a:xfrm>
          <a:custGeom>
            <a:pathLst>
              <a:path w="312" h="50">
                <a:moveTo>
                  <a:pt x="3" y="50"/>
                </a:moveTo>
                <a:cubicBezTo>
                  <a:pt x="1" y="50"/>
                  <a:pt x="0" y="49"/>
                  <a:pt x="0" y="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2476500" y="5095875"/>
            <a:ext cx="2733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位置锚点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2476500" y="5267325"/>
            <a:ext cx="27336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章节号、条款号或页偏移，支持高亮回跳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429250" y="5029200"/>
            <a:ext cx="29718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5429250" y="5029200"/>
            <a:ext cx="2971800" cy="476250"/>
          </a:xfrm>
          <a:custGeom>
            <a:pathLst>
              <a:path w="312" h="50">
                <a:moveTo>
                  <a:pt x="3" y="50"/>
                </a:moveTo>
                <a:cubicBezTo>
                  <a:pt x="1" y="50"/>
                  <a:pt x="0" y="49"/>
                  <a:pt x="0" y="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534025" y="5095875"/>
            <a:ext cx="2733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版本与生效期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534025" y="5267325"/>
            <a:ext cx="27336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每次修订留痕，检索时自动过滤失效版本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8486775" y="5029200"/>
            <a:ext cx="297180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8486775" y="5029200"/>
            <a:ext cx="2971800" cy="476250"/>
          </a:xfrm>
          <a:custGeom>
            <a:pathLst>
              <a:path w="312" h="50">
                <a:moveTo>
                  <a:pt x="3" y="50"/>
                </a:moveTo>
                <a:cubicBezTo>
                  <a:pt x="1" y="50"/>
                  <a:pt x="0" y="49"/>
                  <a:pt x="0" y="4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591550" y="5095875"/>
            <a:ext cx="2733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稳定性标识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591550" y="5267325"/>
            <a:ext cx="27336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定位偏移量，内容变更后能自动校验锚点是否失效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47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之硬边界：&lt;span style={{ color: '#FA4F24' }}&gt;权限传播&lt;/span&gt;，读得进去不等于出得来&#10;     &lt;/Text&gt;&#10;        &lt;Text style={{ fontSize: 20, color: '#8A8F99', marginTop: 8 }}&gt;&#10;   这是知识库侧最容易被漏掉的一条，也是数据泄露最常见的发生位置&#10;   &lt;/Text&gt;&#10;    &lt;/Box&gt;&#10;    &lt;Box style={{ height: 1, background: '#E8E8E8' }} /&gt;&#10;&#10;    &lt;Box style={{ paddingTop: 14, paddingBottom: 10, height: 479, flexDirection: 'column', gap: 8 }}&gt;&#10;      {/* 边界图 */}&#10;      &lt;Box style={{ height: 168, background: '#F7F7F8', borderRadius: 4, padding: '12px 16px', flexDirection: 'column' }}&gt;&#10;        &lt;Text style={{ fontSize: 14, fontWeight: 'bold', color: '#0F1423', marginBottom: 9 }}&gt;一个典型的泄露路径：过滤发生在左边，风险发生在右边&lt;/Text&gt;&#10;        &lt;Box style={{ flexDirection: 'row', alignItems: 'center', gap: 8, flex: 1 }}&gt;&#10;          {[&#10;         { t: '知识源', s: '密级文件', bg: '#F7F7F8', c: '#8A8F99' },&#10;  { t: '检索过滤', s: '按行列表访问控制过滤', bg: '#FFFFFF', c: '#FBA15C' },&#10;     { t: '模型处理', s: '拿到的已被过滤', bg: '#FFFFFF', c: '#F87D2F' },&#10;  { t: '模型输出', s: '不再受原始过滤约束', bg: '#FFF3EE', c: '#FA4F24' },&#10;      { t: '写回本体', s: '变更也不受该过滤约束', bg: '#FFF3EE', c: '#E0651A' },&#10;          ].map((x, i) =&gt; (&#10;    &lt;Box key={x.t} style={{ flexDirection: 'row', alignItems: 'center', flex: 1, gap: 8 }}&gt;&#10;       &lt;Box style={{ flex: 1, height: 66, background: x.bg, borderRadius: 3, borderTop: '3px solid ' + x.c, padding: '8px 10px', justifyContent: 'center' }}&gt;&#10;    &lt;Text style={{ fontSize: 13, fontWeight: 'bold', color: x.c }}&gt;{x.t}&lt;/Text&gt;&#10;        &lt;Text style={{ fontSize: 11, color: '#5A6072', marginTop: 3, lineHeight: 1.35 }}&gt;{x.s}&lt;/Text&gt;&#10;    &lt;/Box&gt;&#10;    {i &lt; 4 ? &lt;Text style={{ fontSize: 14, color: '#C43A17', fontWeight: 'bold' }}&gt;→&lt;/Text&gt; : null}&#10;     &lt;/Box&gt;&#10;          ))}&#10;     &lt;/Box&gt;&#10;      &lt;/Box&gt;&#10;&#10;  {/* 两条补法 */}&#10;      &lt;Box style={{ flex: 1, flexDirection: 'row', gap: 9 }}&gt;&#10;      &lt;Box style={{ flex: 1, background: '#0F1423', borderRadius: 4, padding: '11px 16px', flexDirection: 'column' }}&gt;&#10;    &lt;Text style={{ fontSize: 15, fontWeight: 'bold', color: '#FBA15C' }}&gt;补法一：标记 / 分类级访问控制&lt;/Text&gt;&#10;        &lt;Text style={{ fontSize: 12, color: 'rgba(255,255,255,0.9)', marginTop: 7, lineHeight: 1.55, flex: 1 }}&gt;&#10;    行级与列级的访问控制，本质上只管「哪些数据被读进提示词」。它不处理「读进来的数据在输出时怎么办」，也不处理「模型基于这些数据做出的变更要不要拦」。&#10;        &lt;/Text&gt;&#10;       &lt;Box style={{ height: 40, background: 'rgba(255,255,255,0.08)', borderRadius: 3, padding: '0 11px', justifyContent: 'center' }}&gt;&#10;          &lt;Text style={{ fontSize: 11, color: '#FA4F24', fontWeight: 'bold' }}&gt;所以要给内容本身打密级标记，让标记跟着走完整个链路&lt;/Text&gt;&#10;        &lt;/Box&gt;&#10;      &lt;/Box&gt;&#10;        &lt;Box style={{ flex: 1, background: '#F7F7F8', borderRadius: 4, padding: '11px 16px', flexDirection: 'column' }}&gt;&#10;          &lt;Text style={{ fontSize: 15, fontWeight: 'bold', color: '#0F1423' }}&gt;补法二：输出侧与写回侧再各拦一次&lt;/Text&gt;&#10;   &lt;Box style={{ marginTop: 7, flex: 1 }}&gt;&#10;      {[&#10;   { t: '输出侧检查', d: '敏感等级高于请求人的内容，不允许出现在回答里' },&#10;    { t: '写回侧检查', d: '基于受限数据产生的变更，必须降级或转人工确认' },&#10; { t: '检索侧留痕', d: '记录本次检索调用了哪些库、过滤掉了多少条' },&#10;    ].map((x, i) =&gt; (&#10;        &lt;Box key={x.t} style={{ flex: 1, borderTop: i === 0 ? 'none' : '1px solid #E8E8E8', justifyContent: 'center' }}&gt;&#10;     &lt;Text style={{ fontSize: 13, fontWeight: 'bold', color: '#C43A17' }}&gt;{x.t}&lt;/Text&gt;&#10;    &lt;Text style={{ fontSize: 11, color: '#5A6072', marginTop: 2, lineHeight: 1.4 }}&gt;{x.d}&lt;/Text&gt;&#10;            &lt;/Box&gt;&#10;      ))}&#10;      &lt;/Box&gt;&#10;        &lt;/Box&gt;&#10;      &lt;/Box&gt;&#10;&#10;      {/* 责任归属 */}&#10;      &lt;Box style={{ height: 78, background: '#FFF3EE', borderRadius: 4, borderLeft: '5px solid #FA4F24', padding: '0 18px', flexDirection: 'row', alignItems: 'center', gap: 16 }}&gt;&#10;        &lt;Text style={{ fontSize: 14, fontWeight: 'bold', color: '#C43A17', width: 152 }}&gt;一条架构纪律&lt;/Text&gt;&#10;        &lt;Text style={{ fontSize: 13, color: '#0F1423', flex: 1, lineHeight: 1.5 }}&gt;&#10;     凡是「读」进来有权限控制的地方，都必须问一句：出来的路上还有没有同样的控制。凡是没有回答的，一律按「没有保护」来处理。安全评审时这应该是第一张要看的架构图，而不是最后才想起来补的一条。&#10;     &lt;/Text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1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之硬边界：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权限传播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，读得进去不等于出得来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这是知识库侧最容易被漏掉的一条，也是数据泄露最常见的发生位置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609600" y="1285875"/>
            <a:ext cx="109728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62000" y="1400175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一个典型的泄露路径：过滤发生在左边，风险发生在右边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762000" y="1924050"/>
            <a:ext cx="1866900" cy="600075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762000" y="1924050"/>
            <a:ext cx="1866900" cy="600075"/>
          </a:xfrm>
          <a:custGeom>
            <a:pathLst>
              <a:path w="196" h="63">
                <a:moveTo>
                  <a:pt x="193" y="0"/>
                </a:moveTo>
                <a:cubicBezTo>
                  <a:pt x="195" y="0"/>
                  <a:pt x="196" y="1"/>
                  <a:pt x="19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3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57250" y="20478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知识源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57250" y="2228850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密级文件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2705100" y="21336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2914650" y="1924050"/>
            <a:ext cx="1857375" cy="600075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2914650" y="1924050"/>
            <a:ext cx="1857375" cy="600075"/>
          </a:xfrm>
          <a:custGeom>
            <a:pathLst>
              <a:path w="195" h="63">
                <a:moveTo>
                  <a:pt x="192" y="0"/>
                </a:moveTo>
                <a:cubicBezTo>
                  <a:pt x="194" y="0"/>
                  <a:pt x="195" y="1"/>
                  <a:pt x="19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2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009900" y="2047875"/>
            <a:ext cx="1666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检索过滤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009900" y="222885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按行列表访问控制过滤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848225" y="21336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5057775" y="1924050"/>
            <a:ext cx="1866900" cy="600075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5057775" y="1924050"/>
            <a:ext cx="1866900" cy="600075"/>
          </a:xfrm>
          <a:custGeom>
            <a:pathLst>
              <a:path w="196" h="63">
                <a:moveTo>
                  <a:pt x="193" y="0"/>
                </a:moveTo>
                <a:cubicBezTo>
                  <a:pt x="195" y="0"/>
                  <a:pt x="196" y="1"/>
                  <a:pt x="19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3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153025" y="20478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87D2F"/>
                </a:solidFill>
                <a:latin typeface="Microsoft YaHei"/>
                <a:ea typeface="Microsoft YaHei"/>
              </a:rPr>
              <a:t>模型处理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153025" y="2228850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拿到的已被过滤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000875" y="21336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7210425" y="1924050"/>
            <a:ext cx="1857375" cy="600075"/>
          </a:xfrm>
          <a:prstGeom prst="roundRect">
            <a:avLst>
              <a:gd name="adj" fmla="val 476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7210425" y="1924050"/>
            <a:ext cx="1857375" cy="600075"/>
          </a:xfrm>
          <a:custGeom>
            <a:pathLst>
              <a:path w="195" h="63">
                <a:moveTo>
                  <a:pt x="192" y="0"/>
                </a:moveTo>
                <a:cubicBezTo>
                  <a:pt x="194" y="0"/>
                  <a:pt x="195" y="1"/>
                  <a:pt x="19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2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305675" y="2047875"/>
            <a:ext cx="1666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模型输出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305675" y="222885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不再受原始过滤约束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144000" y="21336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9353550" y="1924050"/>
            <a:ext cx="2076450" cy="600075"/>
          </a:xfrm>
          <a:prstGeom prst="roundRect">
            <a:avLst>
              <a:gd name="adj" fmla="val 476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9353550" y="1924050"/>
            <a:ext cx="2076450" cy="600075"/>
          </a:xfrm>
          <a:custGeom>
            <a:pathLst>
              <a:path w="218" h="63">
                <a:moveTo>
                  <a:pt x="215" y="0"/>
                </a:moveTo>
                <a:cubicBezTo>
                  <a:pt x="217" y="0"/>
                  <a:pt x="218" y="1"/>
                  <a:pt x="218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5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448800" y="20478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51A"/>
                </a:solidFill>
                <a:latin typeface="Microsoft YaHei"/>
                <a:ea typeface="Microsoft YaHei"/>
              </a:rPr>
              <a:t>写回本体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448800" y="22288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变更也不受该过滤约束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2962275"/>
            <a:ext cx="5448300" cy="1838325"/>
          </a:xfrm>
          <a:prstGeom prst="roundRect">
            <a:avLst>
              <a:gd name="adj" fmla="val 207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62000" y="306705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补法一：标记</a:t>
            </a: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分类级访问控制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62000" y="3305175"/>
            <a:ext cx="51435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行级与列级的访问控制，本质上只管「哪些数据被读进提示词」。它不处理「读进来的数据在输出时怎么办」，也不处理「模型基于这些数据做出的变更要不要拦」。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762000" y="4314825"/>
            <a:ext cx="51435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66775" y="4438650"/>
            <a:ext cx="4933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所以要给内容本身打密级标记，让标记跟着走完整个链路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143625" y="2962275"/>
            <a:ext cx="54387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296025" y="3067050"/>
            <a:ext cx="513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补法二：输出侧与写回侧再各拦一次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296025" y="3362325"/>
            <a:ext cx="513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输出侧检查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296025" y="3533775"/>
            <a:ext cx="5133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敏感等级高于请求人的内容，不允许出现在回答里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296025" y="3762375"/>
            <a:ext cx="5133975" cy="476250"/>
          </a:xfrm>
          <a:custGeom>
            <a:pathLst>
              <a:path w="539" h="5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296025" y="3829050"/>
            <a:ext cx="513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写回侧检查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296025" y="4000500"/>
            <a:ext cx="5133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基于受限数据产生的变更，必须降级或转人工确认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296025" y="4229100"/>
            <a:ext cx="5133975" cy="476250"/>
          </a:xfrm>
          <a:custGeom>
            <a:pathLst>
              <a:path w="539" h="5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296025" y="4295775"/>
            <a:ext cx="513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检索侧留痕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296025" y="4467225"/>
            <a:ext cx="5133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记录本次检索调用了哪些库、过滤掉了多少条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57225" y="4876800"/>
            <a:ext cx="10972800" cy="742950"/>
          </a:xfrm>
          <a:prstGeom prst="roundRect">
            <a:avLst>
              <a:gd name="adj" fmla="val 512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57225" y="4876800"/>
            <a:ext cx="10972800" cy="742950"/>
          </a:xfrm>
          <a:custGeom>
            <a:pathLst>
              <a:path w="1152" h="78">
                <a:moveTo>
                  <a:pt x="5" y="78"/>
                </a:moveTo>
                <a:cubicBezTo>
                  <a:pt x="4" y="78"/>
                  <a:pt x="3" y="78"/>
                  <a:pt x="2" y="77"/>
                </a:cubicBezTo>
                <a:cubicBezTo>
                  <a:pt x="1" y="77"/>
                  <a:pt x="0" y="76"/>
                  <a:pt x="0" y="74"/>
                </a:cubicBezTo>
                <a:lnTo>
                  <a:pt x="0" y="74"/>
                </a:lnTo>
                <a:lnTo>
                  <a:pt x="0" y="7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28675" y="51720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一条架构纪律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2428875" y="5029200"/>
            <a:ext cx="8982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凡是「读」进来有权限控制的地方，都必须问一句：出来的路上还有没有同样的控制。凡是没有回答的，一律按「没有保护」来处理。安全评审时这应该是第一张要看的架构图，而不是最后才想起来补的一条。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53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之链路：&lt;span style={{ color: '#FA4F24' }}&gt;知识供给链路&lt;/span&gt;的六个关口与各自的失败表现&#10;        &lt;/Text&gt;&#10;        &lt;Text style={{ fontSize: 20, color: '#8A8F99', marginTop: 8 }}&gt;&#10;      端到端排查时按关口逐个过，比在结果上猜要快得多&#10;        &lt;/Text&gt;&#10;    &lt;/Box&gt;&#10; &lt;Box style={{ height: 1, background: '#E8E8E8' }} /&gt;&#10;&#10;    &lt;Box style={{ paddingTop: 14, paddingBottom: 10, height: 479, flexDirection: 'column', gap: 8 }}&gt;&#10;      {/* 表头 */}&#10;      &lt;Box style={{ flexDirection: 'row', gap: 8 }}&gt;&#10;     &lt;Box style={{ width: 46, background: '#0F1423', alignItems: 'center', justifyContent: 'center' }}&gt;&lt;Text style={{ fontSize: 11, fontWeight: 'bold', color: '#FFFFFF' }}&gt;关口&lt;/Text&gt;&lt;/Box&gt;&#10; &lt;Box style={{ width: 148, background: '#0F1423', padding: '0 12px', justifyContent: 'center' }}&gt;&lt;Text style={{ fontSize: 11, fontWeight: 'bold', color: '#FFFFFF' }}&gt;做什么&lt;/Text&gt;&lt;/Box&gt;&#10;        &lt;Box style={{ width: 208, background: '#0F1423', padding: '0 12px', justifyContent: 'center' }}&gt;&lt;Text style={{ fontSize: 11, fontWeight: 'bold', color: '#FFFFFF' }}&gt;产出物&lt;/Text&gt;&lt;/Box&gt;&#10;        &lt;Box style={{ flex: 1, background: '#0F1423', padding: '0 12px', justifyContent: 'center' }}&gt;&lt;Text style={{ fontSize: 11, fontWeight: 'bold', color: '#FFFFFF' }}&gt;这一关失败的典型表现&lt;/Text&gt;&lt;/Box&gt;&#10;      &lt;/Box&gt;&#10;&#10;      {[&#10;    { n: '1', a: '源登记', b: '来源系统 / 文档库 / 责任人清单', c: '库里有内容但不知道谁维护，出错找不到人', col: '#8A8F99' },&#10;        { n: '2', a: '解析归一', b: '统一格式与正文提取', c: '扫描件、表格、PDF 提不出正文，检索永远命中不了', col: '#FBA15C' },&#10;        { n: '3', a: '切片', b: '切片单元 + 位置锚点', c: '切碎了语义，命中半句话，模型答非所问', col: '#F87D2F' },&#10;      { n: '4', a: '实体抽取', b: '对象 / 关系 / 属性 + 出处挂接', c: '只有文本没有结构，跨库无法关联、无法进本体', col: '#E0651A' },&#10;        { n: '5', a: '治理', b: '口径字典 + 时效台账 + 密级标记', c: '新旧口径并存，答案看着自信但依据是废的', col: '#FA4F24' },&#10;     { n: '6', a: '检索供给', b: '过滤策略 + 排序 + 上下文装配', c: '召回一堆弱相关内容，模型被噪声带偏', col: '#C43A17' },&#10;      ].map((it, i) =&gt; (&#10;        &lt;Box key={it.n} style={{ flex: 1, flexDirection: 'row', gap: 8 }}&gt;&#10; &lt;Box style={{ width: 46, background: '#F7F7F8', alignItems: 'center', justifyContent: 'center' }}&gt;&#10;     &lt;Text style={{ fontSize: 19, fontWeight: 'bold', color: it.col }}&gt;{it.n}&lt;/Text&gt;&#10;       &lt;/Box&gt;&#10;   &lt;Box style={{ width: 148, background: '#F7F7F8', borderLeft: '4px solid ' + it.col, padding: '0 12px', justifyContent: 'center' }}&gt;&#10;    &lt;Text style={{ fontSize: 14, fontWeight: 'bold', color: it.col }}&gt;{it.a}&lt;/Text&gt;&#10;     &lt;/Box&gt;&#10;     &lt;Box style={{ width: 208, background: '#F7F7F8', padding: '0 12px', justifyContent: 'center' }}&gt;&#10;       &lt;Text style={{ fontSize: 12, color: '#3A4050', lineHeight: 1.4 }}&gt;{it.b}&lt;/Text&gt;&#10;          &lt;/Box&gt;&#10;          &lt;Box style={{ flex: 1, background: '#FFF3EE', padding: '0 12px', justifyContent: 'center' }}&gt;&#10;     &lt;Text style={{ fontSize: 12, color: '#C43A17', lineHeight: 1.4 }}&gt;{it.c}&lt;/Text&gt;&#10;  &lt;/Box&gt;&#10;        &lt;/Box&gt;&#10;      ))}&#10;&#10;      {/* 排查顺序 */}&#10; &lt;Box style={{ height: 116, background: '#0F1423', borderRadius: 4, padding: '12px 18px', flexDirection: 'column' }}&gt;&#10;        &lt;Text style={{ fontSize: 15, fontWeight: 'bold', color: '#FBA15C' }}&gt;答案不对时的排查顺序：从上游往下游查，不要从结果往回猜&lt;/Text&gt;&#10;        &lt;Box style={{ flexDirection: 'row', gap: 8, marginTop: 9, flex: 1 }}&gt;&#10;          {[&#10; { n: '先查第 2 关', d: '正文到底提出来没有——扫描件和表格是重灾区' },&#10;   { n: '再查第 3 关', d: '切片是否独立可读，命中片段自己能不能看懂' },&#10;     { n: '再查第 5 关', d: '召回的几条之间口径是否互相矛盾、是否已失效' },&#10;            { n: '最后查第 6 关', d: '召回排序是否把弱相关内容排在强相关内容前面' },&#10;          ].map((x, i) =&gt; (&#10;   &lt;Box key={x.n} style={{ flex: 1, background: 'rgba(255,255,255,0.07)', borderRadius: 3, borderLeft: '3px solid #FA4F24', padding: '7px 11px' }}&gt;&#10;     &lt;Text style={{ fontSize: 13, fontWeight: 'bold', color: '#FFFFFF' }}&gt;{x.n}&lt;/Text&gt;&#10;      &lt;Text style={{ fontSize: 11, color: 'rgba(255,255,255,0.62)', marginTop: 3, lineHeight: 1.4 }}&gt;{x.d}&lt;/Text&gt;&#10;       &lt;/Box&gt;&#10;     ))}&#10;    &lt;/Box&gt;&#10;   &lt;Text style={{ fontSize: 11, color: 'rgba(255,255,255,0.55)', marginTop: 8 }}&gt;&#10;      经验上，八成的「AI 答得不对」问题在第 2 和第 3 关就暴露了，跟模型能力关系不大。&#10;        &lt;/Text&gt;&#10;      &lt;/Box&gt;&#10;    &lt;/Box&gt;&#10;&#10;    &lt;Box style={{ height: 58, flexDirection: 'row', alignItems: 'center', borderTop: '1px solid #E8E8E8' }}&gt;&#10;        &lt;Box style={{ width: 10, height: 10, background: '#FA4F24' }} /&gt;&#10;     &lt;Text style={{ fontSize: 13, color: '#8A8F99', marginLeft: 12 }}&gt;硕磐机密 · 知识库咨询方法论&lt;/Text&gt;&#10;        &lt;Text style={{ fontSize: 13, color: '#8A8F99', marginLeft: 'auto' }}&gt;1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之链路：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知识供给链路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的六个关口与各自的失败表现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端到端排查时按关口逐个过，比在结果上猜要快得多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609600" y="1285875"/>
            <a:ext cx="438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23900" y="12858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关口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1123950" y="1285875"/>
            <a:ext cx="140970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238250" y="1285875"/>
            <a:ext cx="1181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2609850" y="1285875"/>
            <a:ext cx="198120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2724150" y="12858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4667250" y="1285875"/>
            <a:ext cx="6915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781550" y="1285875"/>
            <a:ext cx="6686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这一关失败的典型表现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09600" y="1495425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71525" y="16002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8A8F9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1162050" y="1495425"/>
            <a:ext cx="13716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1123950" y="1495425"/>
            <a:ext cx="1409700" cy="428625"/>
          </a:xfrm>
          <a:custGeom>
            <a:pathLst>
              <a:path w="148" h="45">
                <a:moveTo>
                  <a:pt x="0" y="0"/>
                </a:moveTo>
                <a:lnTo>
                  <a:pt x="4" y="0"/>
                </a:lnTo>
                <a:lnTo>
                  <a:pt x="4" y="45"/>
                </a:lnTo>
                <a:lnTo>
                  <a:pt x="0" y="45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276350" y="16287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8F99"/>
                </a:solidFill>
                <a:latin typeface="Microsoft YaHei"/>
                <a:ea typeface="Microsoft YaHei"/>
              </a:rPr>
              <a:t>源登记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2609850" y="1495425"/>
            <a:ext cx="19812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2724150" y="16097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来源系统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文档库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责任人清单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4667250" y="1495425"/>
            <a:ext cx="6915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781550" y="1609725"/>
            <a:ext cx="668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库里有内容但不知道谁维护，出错找不到人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2000250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71525" y="21050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BA15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1162050" y="2000250"/>
            <a:ext cx="13716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6" name=""/>
          <p:cNvSpPr/>
          <p:nvPr/>
        </p:nvSpPr>
        <p:spPr>
          <a:xfrm rot="0" flipH="0" flipV="0">
            <a:off x="1123950" y="2000250"/>
            <a:ext cx="1409700" cy="428625"/>
          </a:xfrm>
          <a:custGeom>
            <a:pathLst>
              <a:path w="148" h="45">
                <a:moveTo>
                  <a:pt x="0" y="0"/>
                </a:moveTo>
                <a:lnTo>
                  <a:pt x="4" y="0"/>
                </a:lnTo>
                <a:lnTo>
                  <a:pt x="4" y="45"/>
                </a:lnTo>
                <a:lnTo>
                  <a:pt x="0" y="4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276350" y="21336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解析归一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2609850" y="2000250"/>
            <a:ext cx="19812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2724150" y="2114550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统一格式与正文提取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4667250" y="2000250"/>
            <a:ext cx="6915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781550" y="2114550"/>
            <a:ext cx="668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扫描件、表格、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PDF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提不出正文，检索永远命中不了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2505075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71525" y="260985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87D2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1162050" y="2505075"/>
            <a:ext cx="13716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1123950" y="2505075"/>
            <a:ext cx="1409700" cy="428625"/>
          </a:xfrm>
          <a:custGeom>
            <a:pathLst>
              <a:path w="148" h="45">
                <a:moveTo>
                  <a:pt x="0" y="0"/>
                </a:moveTo>
                <a:lnTo>
                  <a:pt x="4" y="0"/>
                </a:lnTo>
                <a:lnTo>
                  <a:pt x="4" y="45"/>
                </a:lnTo>
                <a:lnTo>
                  <a:pt x="0" y="45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276350" y="26384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切片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2609850" y="2505075"/>
            <a:ext cx="19812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2724150" y="261937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切片单元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位置锚点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4667250" y="2505075"/>
            <a:ext cx="6915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781550" y="2619375"/>
            <a:ext cx="668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切碎了语义，命中半句话，模型答非所问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3009900"/>
            <a:ext cx="438150" cy="419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71525" y="31146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0651A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1162050" y="3009900"/>
            <a:ext cx="1371600" cy="419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1123950" y="3009900"/>
            <a:ext cx="1409700" cy="419100"/>
          </a:xfrm>
          <a:custGeom>
            <a:pathLst>
              <a:path w="148" h="44">
                <a:moveTo>
                  <a:pt x="0" y="0"/>
                </a:moveTo>
                <a:lnTo>
                  <a:pt x="4" y="0"/>
                </a:lnTo>
                <a:lnTo>
                  <a:pt x="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276350" y="31432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实体抽取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2609850" y="3009900"/>
            <a:ext cx="1981200" cy="4191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2724150" y="3124200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关系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出处挂接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4667250" y="3009900"/>
            <a:ext cx="6915150" cy="4191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4781550" y="3124200"/>
            <a:ext cx="668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只有文本没有结构，跨库无法关联、无法进本体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3505200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71525" y="36099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1162050" y="3505200"/>
            <a:ext cx="13716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1123950" y="3505200"/>
            <a:ext cx="1409700" cy="428625"/>
          </a:xfrm>
          <a:custGeom>
            <a:pathLst>
              <a:path w="148" h="45">
                <a:moveTo>
                  <a:pt x="0" y="0"/>
                </a:moveTo>
                <a:lnTo>
                  <a:pt x="4" y="0"/>
                </a:lnTo>
                <a:lnTo>
                  <a:pt x="4" y="45"/>
                </a:lnTo>
                <a:lnTo>
                  <a:pt x="0" y="4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276350" y="36385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2609850" y="3505200"/>
            <a:ext cx="19812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2724150" y="3619500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口径字典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时效台账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密级标记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4667250" y="3505200"/>
            <a:ext cx="6915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781550" y="3619500"/>
            <a:ext cx="668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新旧口径并存，答案看着自信但依据是废的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09600" y="4010025"/>
            <a:ext cx="43815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71525" y="41148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1162050" y="4010025"/>
            <a:ext cx="13716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1123950" y="4010025"/>
            <a:ext cx="1409700" cy="428625"/>
          </a:xfrm>
          <a:custGeom>
            <a:pathLst>
              <a:path w="148" h="45">
                <a:moveTo>
                  <a:pt x="0" y="0"/>
                </a:moveTo>
                <a:lnTo>
                  <a:pt x="4" y="0"/>
                </a:lnTo>
                <a:lnTo>
                  <a:pt x="4" y="45"/>
                </a:lnTo>
                <a:lnTo>
                  <a:pt x="0" y="45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276350" y="41433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检索供给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2609850" y="4010025"/>
            <a:ext cx="1981200" cy="4286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2724150" y="41243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过滤策略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排序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上下文装配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4667250" y="4010025"/>
            <a:ext cx="6915150" cy="4286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781550" y="4124325"/>
            <a:ext cx="668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召回一堆弱相关内容，模型被噪声带偏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4514850"/>
            <a:ext cx="1097280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81050" y="4629150"/>
            <a:ext cx="1062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答案不对时的排查顺序：从上游往下游查，不要从结果往回猜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809625" y="4886325"/>
            <a:ext cx="2600325" cy="495300"/>
          </a:xfrm>
          <a:prstGeom prst="roundRect">
            <a:avLst>
              <a:gd name="adj" fmla="val 576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809625" y="4886325"/>
            <a:ext cx="2600325" cy="495300"/>
          </a:xfrm>
          <a:custGeom>
            <a:pathLst>
              <a:path w="273" h="52">
                <a:moveTo>
                  <a:pt x="3" y="52"/>
                </a:moveTo>
                <a:cubicBezTo>
                  <a:pt x="1" y="52"/>
                  <a:pt x="0" y="51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914400" y="49530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先查第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关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914400" y="5133975"/>
            <a:ext cx="2362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正文到底提出来没有——扫描件和表格是重灾区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3486150" y="4886325"/>
            <a:ext cx="2600325" cy="495300"/>
          </a:xfrm>
          <a:prstGeom prst="roundRect">
            <a:avLst>
              <a:gd name="adj" fmla="val 576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3486150" y="4886325"/>
            <a:ext cx="2600325" cy="495300"/>
          </a:xfrm>
          <a:custGeom>
            <a:pathLst>
              <a:path w="273" h="52">
                <a:moveTo>
                  <a:pt x="3" y="52"/>
                </a:moveTo>
                <a:cubicBezTo>
                  <a:pt x="1" y="52"/>
                  <a:pt x="0" y="51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3590925" y="49530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再查第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关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3590925" y="5133975"/>
            <a:ext cx="2362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切片是否独立可读，命中片段自己能不能看懂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162675" y="4886325"/>
            <a:ext cx="2600325" cy="495300"/>
          </a:xfrm>
          <a:prstGeom prst="roundRect">
            <a:avLst>
              <a:gd name="adj" fmla="val 576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6162675" y="4886325"/>
            <a:ext cx="2600325" cy="495300"/>
          </a:xfrm>
          <a:custGeom>
            <a:pathLst>
              <a:path w="273" h="52">
                <a:moveTo>
                  <a:pt x="3" y="52"/>
                </a:moveTo>
                <a:cubicBezTo>
                  <a:pt x="1" y="52"/>
                  <a:pt x="0" y="51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267450" y="49530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再查第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关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267450" y="5133975"/>
            <a:ext cx="2362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召回的几条之间口径是否互相矛盾、是否已失效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8839200" y="4886325"/>
            <a:ext cx="2600325" cy="495300"/>
          </a:xfrm>
          <a:prstGeom prst="roundRect">
            <a:avLst>
              <a:gd name="adj" fmla="val 576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8839200" y="4886325"/>
            <a:ext cx="2600325" cy="495300"/>
          </a:xfrm>
          <a:custGeom>
            <a:pathLst>
              <a:path w="273" h="52">
                <a:moveTo>
                  <a:pt x="3" y="52"/>
                </a:moveTo>
                <a:cubicBezTo>
                  <a:pt x="1" y="52"/>
                  <a:pt x="0" y="51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943975" y="49530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最后查第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关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943975" y="5133975"/>
            <a:ext cx="2362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召回排序是否把弱相关内容排在强相关内容前面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81050" y="5457825"/>
            <a:ext cx="10629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经验上，八成的「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答得不对」问题在第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和第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关就暴露了，跟模型能力关系不大。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62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之写回：知识库&lt;span style={{ color: '#FA4F24' }}&gt;回写本体的三种方式&lt;/span&gt;与它们的门槛&#10;        &lt;/Text&gt;&#10;        &lt;Text style={{ fontSize: 20, color: '#8A8F99', marginTop: 8 }}&gt;&#10;    先分清「补充事实」和「形成结论」，前者是知识库能做的，后者不该由知识库发起&#10;  &lt;/Text&gt;&#10;  &lt;/Box&gt;&#10;    &lt;Box style={{ height: 1, background: '#E8E8E8' }} /&gt;&#10;&#10;    &lt;Box style={{ paddingTop: 14, paddingBottom: 10, height: 479, flexDirection: 'column', gap: 8 }}&gt;&#10;      {[&#10;   { n: '方式一', t: '补充事实', s: '把文档里已有的属性值补到对象上', ex: '合同扫描件里的签订日期，回填到合同对象的属性上',&#10;      pre: '必须是文档里白纸黑字写着的，不做任何推断', need: '低门槛：建抽取规则 + 挂出处', risk: '低：错了能按出处退回', c: '#8A8F99', lv: '第一批就做' },&#10;    { n: '方式二', t: '建立关联', s: '从文本里识别对象之间的关系并建链', ex: '邮件里提到的「张工」与工单里的负责人是同一人',&#10;   pre: '需要人工确认一次，之后同类自动', need: '中门槛：建实体消歧规则 + 人工复核队列', risk: '中：错误关系会误导后续检索', c: '#FBA15C', lv: '第二批' },&#10;      { n: '方式三', t: '回写结论', s: '把审批或判定结果写成本体的状态变更', ex: '审批意见落库，工单对象状态改为「已批准」',&#10;      pre: '必须由人或被授权的 Agent 发起，走 Action', need: '高门槛：Action 建模 + 权限 + 审计', risk: '高：错了是业务状态错误', c: '#FA4F24', lv: '谨慎做' },&#10;      ].map((it, i) =&gt; (&#10;        &lt;Box key={it.n} style={{ flex: 1, background: '#F7F7F8', borderRadius: 4, borderLeft: '5px solid ' + it.c, padding: '10px 16px', flexDirection: 'row', alignItems: 'center', gap: 14 }}&gt;&#10;     &lt;Box style={{ width: 142 }}&gt;&#10;    &lt;Text style={{ fontSize: 12, color: '#8A8F99' }}&gt;{it.n}&lt;/Text&gt;&#10;      &lt;Text style={{ fontSize: 18, fontWeight: 'bold', color: it.c, marginTop: 1 }}&gt;{it.t}&lt;/Text&gt;&#10;      &lt;/Box&gt;&#10;      &lt;Box style={{ width: 238, height: 42, background: '#FFFFFF', borderRadius: 3, padding: '0 12px', justifyContent: 'center' }}&gt;&#10;     &lt;Text style={{ fontSize: 12, color: '#3A4050', lineHeight: 1.4 }}&gt;{it.s}&lt;/Text&gt;&#10;        &lt;/Box&gt;&#10;&lt;Box style={{ width: 248, height: 42, background: '#FFFFFF', borderRadius: 3, padding: '0 11px', justifyContent: 'center' }}&gt;&#10;            &lt;Text style={{ fontSize: 11, color: '#0F1423', lineHeight: 1.4 }}&gt;例：{it.ex}&lt;/Text&gt;&#10;          &lt;/Box&gt;&#10;          &lt;Box style={{ width: 250, height: 42, background: '#FFF3EE', borderRadius: 3, padding: '0 12px', justifyContent: 'center' }}&gt;&#10;      &lt;Text style={{ fontSize: 11, color: '#C43A17', lineHeight: 1.4 }}&gt;{it.pre}&lt;/Text&gt;&#10;          &lt;/Box&gt;&#10;      &lt;Box style={{ width: 220, height: 42, background: '#FFF3EE', borderRadius: 3, padding: '0 12px', justifyContent: 'center' }}&gt;&#10;            &lt;Text style={{ fontSize: 11, color: '#C43A17', lineHeight: 1.4 }}&gt;门槛：{it.need}&lt;/Text&gt;&#10;            &lt;/Box&gt;&#10;          &lt;Box style={{ width: 126, height: 42, background: it.c, borderRadius: 3, alignItems: 'center', justifyContent: 'center' }}&gt;&#10;     &lt;Text style={{ fontSize: 12, fontWeight: 'bold', color: '#FFFFFF' }}&gt;{it.lv}&lt;/Text&gt;&#10;       &lt;/Box&gt;&#10;        &lt;/Box&gt;&#10;      ))}&#10;&#10;      {/* 铁律 */}&#10;      &lt;Box style={{ height: 92, background: '#0F1423', borderRadius: 4, padding: '12px 18px', flexDirection: 'row', alignItems: 'center', gap: 16 }}&gt;&#10; &lt;Text style={{ fontSize: 15, fontWeight: 'bold', color: '#FBA15C', width: 152 }}&gt;一条铁律&lt;/Text&gt;&#10;     &lt;Text style={{ fontSize: 13, color: 'rgba(255,255,255,0.92)', flex: 1, lineHeight: 1.55 }}&gt;&#10;     无论哪种方式，写回都必须经由 Action，且必须由人或被授权的 Agent 发起。即使函数里已经写好了写入动作，只要不是从 Action 里执行，变更就不会生效。这条约束的价值在于：它强制让每一次知识写回都留下授权记录。&#10;    &lt;/Text&gt;&#10;      &lt;/Box&gt;&#10;&#10;  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知识库咨询方法论&lt;/Text&gt;&#10;        &lt;Text style={{ fontSize: 13, color: '#8A8F99', marginLeft: 'auto' }}&gt;19 / 3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之写回：知识库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回写本体的三种方式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与它们的门槛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先分清「补充事实」和「形成结论」，前者是知识库能做的，后者不该由知识库发起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657225" y="1285875"/>
            <a:ext cx="10972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57225" y="1285875"/>
            <a:ext cx="10972800" cy="866775"/>
          </a:xfrm>
          <a:custGeom>
            <a:pathLst>
              <a:path w="1152" h="91">
                <a:moveTo>
                  <a:pt x="5" y="91"/>
                </a:moveTo>
                <a:cubicBezTo>
                  <a:pt x="4" y="91"/>
                  <a:pt x="3" y="91"/>
                  <a:pt x="2" y="90"/>
                </a:cubicBezTo>
                <a:cubicBezTo>
                  <a:pt x="1" y="90"/>
                  <a:pt x="0" y="89"/>
                  <a:pt x="0" y="87"/>
                </a:cubicBezTo>
                <a:lnTo>
                  <a:pt x="0" y="87"/>
                </a:lnTo>
                <a:lnTo>
                  <a:pt x="0" y="8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09625" y="1543050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方式一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09625" y="1695450"/>
            <a:ext cx="135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8F99"/>
                </a:solidFill>
                <a:latin typeface="Microsoft YaHei"/>
                <a:ea typeface="Microsoft YaHei"/>
              </a:rPr>
              <a:t>补充事实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2095500" y="1524000"/>
            <a:ext cx="226695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209800" y="1533525"/>
            <a:ext cx="20383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把文档里已有的属性值补到对象上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4162425" y="1524000"/>
            <a:ext cx="23622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267200" y="1552575"/>
            <a:ext cx="21526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例：</a:t>
            </a: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合同扫描件里的签订日期，回填到合同对象的属性上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315075" y="1524000"/>
            <a:ext cx="2381250" cy="40005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429375" y="1552575"/>
            <a:ext cx="21526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必须是文档里白纸黑字写着的，不做任何推断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8486775" y="1524000"/>
            <a:ext cx="2095500" cy="40005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601075" y="1552575"/>
            <a:ext cx="18669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门槛：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低门槛：建抽取规则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挂出处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10401300" y="1524000"/>
            <a:ext cx="1200150" cy="400050"/>
          </a:xfrm>
          <a:prstGeom prst="roundRect">
            <a:avLst>
              <a:gd name="adj" fmla="val 7143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0715625" y="16573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第一批就做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657225" y="2228850"/>
            <a:ext cx="10972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1" name=""/>
          <p:cNvSpPr/>
          <p:nvPr/>
        </p:nvSpPr>
        <p:spPr>
          <a:xfrm rot="0" flipH="0" flipV="0">
            <a:off x="657225" y="2228850"/>
            <a:ext cx="10972800" cy="866775"/>
          </a:xfrm>
          <a:custGeom>
            <a:pathLst>
              <a:path w="1152" h="91">
                <a:moveTo>
                  <a:pt x="5" y="91"/>
                </a:moveTo>
                <a:cubicBezTo>
                  <a:pt x="4" y="91"/>
                  <a:pt x="3" y="91"/>
                  <a:pt x="2" y="90"/>
                </a:cubicBezTo>
                <a:cubicBezTo>
                  <a:pt x="1" y="90"/>
                  <a:pt x="0" y="89"/>
                  <a:pt x="0" y="87"/>
                </a:cubicBezTo>
                <a:lnTo>
                  <a:pt x="0" y="87"/>
                </a:lnTo>
                <a:lnTo>
                  <a:pt x="0" y="8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09625" y="2486025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方式二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09625" y="2638425"/>
            <a:ext cx="135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A15C"/>
                </a:solidFill>
                <a:latin typeface="Microsoft YaHei"/>
                <a:ea typeface="Microsoft YaHei"/>
              </a:rPr>
              <a:t>建立关联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2095500" y="2466975"/>
            <a:ext cx="226695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2209800" y="2476500"/>
            <a:ext cx="20383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从文本里识别对象之间的关系并建链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4162425" y="2466975"/>
            <a:ext cx="23622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4267200" y="2495550"/>
            <a:ext cx="21526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例：</a:t>
            </a: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邮件里提到的「张工」与工单里的负责人是同一人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315075" y="2466975"/>
            <a:ext cx="2381250" cy="40005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429375" y="2581275"/>
            <a:ext cx="21526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需要人工确认一次，之后同类自动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8486775" y="2466975"/>
            <a:ext cx="2095500" cy="40005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8601075" y="2495550"/>
            <a:ext cx="18669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门槛：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中门槛：建实体消歧规则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人工复核队列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10401300" y="2466975"/>
            <a:ext cx="1200150" cy="400050"/>
          </a:xfrm>
          <a:prstGeom prst="roundRect">
            <a:avLst>
              <a:gd name="adj" fmla="val 7143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829925" y="260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第二批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57225" y="3171825"/>
            <a:ext cx="10972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657225" y="3171825"/>
            <a:ext cx="10972800" cy="866775"/>
          </a:xfrm>
          <a:custGeom>
            <a:pathLst>
              <a:path w="1152" h="91">
                <a:moveTo>
                  <a:pt x="5" y="91"/>
                </a:moveTo>
                <a:cubicBezTo>
                  <a:pt x="4" y="91"/>
                  <a:pt x="3" y="91"/>
                  <a:pt x="2" y="90"/>
                </a:cubicBezTo>
                <a:cubicBezTo>
                  <a:pt x="1" y="90"/>
                  <a:pt x="0" y="89"/>
                  <a:pt x="0" y="87"/>
                </a:cubicBezTo>
                <a:lnTo>
                  <a:pt x="0" y="87"/>
                </a:lnTo>
                <a:lnTo>
                  <a:pt x="0" y="8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809625" y="3429000"/>
            <a:ext cx="1352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方式三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09625" y="3581400"/>
            <a:ext cx="135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A4F24"/>
                </a:solidFill>
                <a:latin typeface="Microsoft YaHei"/>
                <a:ea typeface="Microsoft YaHei"/>
              </a:rPr>
              <a:t>回写结论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2095500" y="3409950"/>
            <a:ext cx="226695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2209800" y="3419475"/>
            <a:ext cx="20383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把审批或判定结果写成本体的状态变更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4162425" y="3409950"/>
            <a:ext cx="23622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4267200" y="3438525"/>
            <a:ext cx="21526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例：</a:t>
            </a: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审批意见落库，工单对象状态改为「已批准」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315075" y="3409950"/>
            <a:ext cx="2381250" cy="40005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429375" y="3438525"/>
            <a:ext cx="21526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必须由人或被授权的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发起，走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Action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8486775" y="3409950"/>
            <a:ext cx="2095500" cy="40005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601075" y="3438525"/>
            <a:ext cx="18669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门槛：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高门槛：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Action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建模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权限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10401300" y="3409950"/>
            <a:ext cx="1200150" cy="400050"/>
          </a:xfrm>
          <a:prstGeom prst="roundRect">
            <a:avLst>
              <a:gd name="adj" fmla="val 714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0829925" y="35433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谨慎做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609600" y="4114800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781050" y="446722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一条铁律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2381250" y="4324350"/>
            <a:ext cx="9029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无论哪种方式，写回都必须经由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Action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，且必须由人或被授权的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发起。即使函数里已经写好了写入动作，只要不是从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里执行，变更就不会生效。这条约束的价值在于：它强制让每一次知识写回都留下授权记录。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09600" y="50673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609600" y="53054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19150" y="52768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163300" y="52768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729" name="" descr="&lt;Slide style={{ width: 1280, height: 720, background: '#0F1423' }}&gt;&#10;  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3&lt;/Text&gt;&#10;    &lt;/Box&gt;&#10;&#10;  &lt;Box style={{ position: 'absolute', left: 88, top: 232, width: 700, flexDirection: 'column' }}&gt;&#10;   &lt;Text style={{ fontSize: 15, color: 'rgba(255,255,255,0.5)', letterSpacing: 3 }}&gt;PART 03&lt;/Text&gt;&#10;        &lt;Box style={{ width: 72, height: 5, background: '#FA4F24', marginTop: 22 }} /&gt;&#10;      &lt;Text style={{ fontSize: 52, fontWeight: 'bold', color: '#FFFFFF', marginTop: 28, lineHeight: 1.15 }}&gt;知识库的 4A 架构&lt;/Text&gt;&#10;    &lt;Text style={{ fontSize: 17, color: 'rgba(255,255,255,0.62)', letterSpacing: 2, marginTop: 20 }}&gt;KNOWLEDGE BASE AS A BUSINESS APPLICATION&lt;/Text&gt;&#10;        &lt;Text style={{ fontSize: 19, color: 'rgba(255,255,255,0.85)', marginTop: 26, lineHeight: 1.6 }}&gt;它服务谁、谁负责它、它由什么承载、它靠什么跑稳，一层一层都要说清&lt;/Text&gt;&#10;    &lt;/Box&gt;&#10;&#10;    &lt;Box style={{ position: 'absolute', right: 88, bottom: 64, flexDirection: 'row', alignItems: 'center', gap: 12 }}&gt;&#10;   &lt;Box style={{ width: 14, height: 14, background: '#FA4F24' }} /&gt;&#10;  &lt;Text style={{ fontSize: 14, color: 'rgba(255,255,255,0.5)' }}&gt;硕磐机密 · 知识库咨询方法论&lt;/Text&gt;&#10;        &lt;Text style={{ fontSize: 14, color: 'rgba(255,255,255,0.5)', marginLeft: 12 }}&gt;2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3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知识库的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KNOWLEDGE BASE AS A BUSINESS APPLICATION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它服务谁、谁负责它、它由什么承载、它靠什么跑稳，一层一层都要说清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87058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89535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742" name="" descr="&lt;Slide style={{ width: 1280, height: 720, background: '#FFFFFF', padding: '24px 64px 0' }}&gt;&#10;  &lt;Box style={{ height: 96, flexDirection: 'column', justifyContent: 'flex-start' }}&gt;&#10;        &lt;Text style={{ fontSize: 32, fontWeight: 'bold', color: '#0F1423' }}&gt;&#10;   之总览：知识库落在4A 的&lt;span style={{ color: '#FA4F24' }}&gt;哪一格、哪一层&lt;/span&gt;&#10;      &lt;/Text&gt;&#10;        &lt;Text style={{ fontSize: 20, color: '#8A8F99', marginTop: 8 }}&gt;&#10;   它是一个业务应用，判断标准是：有明确服务对象、有明确责任人、有可度量产出&#10;     &lt;/Text&gt;&#10;    &lt;/Box&gt;&#10;    &lt;Box style={{ height: 1, background: '#E8E8E8' }} /&gt;&#10;&#10;    &lt;Box style={{ paddingTop: 14, paddingBottom: 10, height: 479, flexDirection: 'column', gap: 8 }}&gt;&#10;      {/* 表头 */}&#10;      &lt;Box style={{ flexDirection: 'row', gap: 8 }}&gt;&#10;        &lt;Box style={{ width: 46, background: '#0F1423', alignItems: 'center', justifyContent: 'center' }}&gt;&lt;Text style={{ fontSize: 11, fontWeight: 'bold', color: '#FFFFFF' }}&gt;层&lt;/Text&gt;&lt;/Box&gt;&#10;        &lt;Box style={{ width: 210, background: '#0F1423', padding: '0 12px', justifyContent: 'center' }}&gt;&lt;Text style={{ fontSize: 11, fontWeight: 'bold', color: '#FFFFFF' }}&gt;传统架构里的对应物&lt;/Text&gt;&lt;/Box&gt;&#10;        &lt;Box style={{ flex: 1.2, background: '#0F1423', padding: '0 12px', justifyContent: 'center' }}&gt;&lt;Text style={{ fontSize: 11, fontWeight: 'bold', color: '#FFFFFF' }}&gt;知识库场景下变成什么&lt;/Text&gt;&lt;/Box&gt;&#10;        &lt;Box style={{ width: 278, background: '#0F1423', padding: '0 12px', justifyContent: 'center' }}&gt;&lt;Text style={{ fontSize: 11, fontWeight: 'bold', color: '#FFFFFF' }}&gt;知识库独有的那部分&lt;/Text&gt;&lt;/Box&gt;&#10;      &lt;/Box&gt;&#10;&#10;      {[&#10; { a: 'BA', b: '部门、流程、职责边界', c: '增加一类角色：知识域责任人，并对「知识准确性」直接负责', d: '口径裁定权与入库否决权', col: '#FA4F24' },&#10;        { a: 'DA', b: '数据模型、表结构、指标口径', c: '数据分三层：原文与切片、抽取出的实体与关系、出处与版本', d: '时效性与版本血缘', col: '#F87D2F' },&#10;      { a: 'AA', b: '应用清单、集成关系、调用链', c: '应用变成检索链路：过滤 → 混合检索 → 重排 → 装配', d: '上下文装配契约', col: '#E0651A' },&#10;    { a: 'TA', b: '运行环境、中间件、非功能指标', c: '运行时多了向量索引、切片管道、重排服务、密级标记服务', d: '召回质量与延迟的平衡', col: '#C43A17' },&#10;      ].map((it, i) =&gt; (&#10;        &lt;Box key={it.a} style={{ flex: 1, flexDirection: 'row', gap: 8 }}&gt;&#10;   &lt;Box style={{ width: 46, background: '#F7F7F8', borderLeft: '4px solid ' + it.col, alignItems: 'center', justifyContent: 'center' }}&gt;&#10;       &lt;Text style={{ fontSize: 19, fontWeight: 'bold', color: it.col }}&gt;{it.a}&lt;/Text&gt;&#10;     &lt;/Box&gt;&#10;      &lt;Box style={{ width: 210, background: '#F7F7F8', padding: '0 12px', justifyContent: 'center' }}&gt;&#10;    &lt;Text style={{ fontSize: 12, color: '#5A6072', lineHeight: 1.4 }}&gt;{it.b}&lt;/Text&gt;&#10;   &lt;/Box&gt;&#10;          &lt;Box style={{ flex: 1.2, background: '#F7F7F8', padding: '0 12px', justifyContent: 'center' }}&gt;&#10;            &lt;Text style={{ fontSize: 12, color: '#0F1423', lineHeight: 1.4 }}&gt;{it.c}&lt;/Text&gt;&#10;          &lt;/Box&gt;&#10;          &lt;Box style={{ width: 278, background: '#FFF3EE', borderLeft: '2px solid #FBA15C', padding: '0 12px', justifyContent: 'center' }}&gt;&#10;       &lt;Text style={{ fontSize: 12, fontWeight: 'bold', color: '#C43A17', lineHeight: 1.4 }}&gt;{it.d}&lt;/Text&gt;&#10;          &lt;/Box&gt;&#10;        &lt;/Box&gt;&#10;      ))}&#10;&#10;      {/* 服务对象 */}&#10;      &lt;Box style={{ height: 128, background: '#0F1423', borderRadius: 4, padding: '11px 18px', flexDirection: 'column' }}&gt;&#10;        &lt;Text style={{ fontSize: 14, fontWeight: 'bold', color: '#FBA15C' }}&gt;知识库的五类服务对象：需求不同，架构重点完全不同&lt;/Text&gt;&#10;        &lt;Box style={{ flexDirection: 'row', gap: 8, marginTop: 8, flex: 1 }}&gt;&#10;          {[&#10;   { s: '一线员工', d: '查规范与流程', k: '要求：找得到、看得懂', c: '#8A8F99' },&#10;            { s: '业务专家', d: '找同类案例与经验', k: '要求：像不像、对不对口', c: '#FBA15C' },&#10;  { s: 'Agent', d: '取上下文与依据', k: '要求：预算可控、引用可追', c: '#FA4F24' },&#10;      { s: '管理者', d: '看知识资产健康度', k: '要求：时效与冲突可见', c: '#F87D2F' },&#10;   { s: '审计与合规', d: '验证依据与流程', k: '要求：可复现、可回溯', c: '#E0651A' },&#10;          ].map((x, i) =&gt; (&#10;            &lt;Box key={x.s} style={{ flex: 1, background: 'rgba(255,255,255,0.07)', borderRadius: 3, borderLeft: '3px solid ' + x.c, padding: '7px 10px' }}&gt;&#10;   &lt;Text style={{ fontSize: 13, fontWeight: 'bold', color: '#FFFFFF' }}&gt;{x.s}&lt;/Text&gt;&#10;  &lt;Text style={{ fontSize: 10, color: 'rgba(255,255,255,0.6)', marginTop: 2 }}&gt;{x.d}&lt;/Text&gt;&#10;              &lt;Text style={{ fontSize: 11, color: x.c, fontWeight: 'bold', marginTop: 4 }}&gt;{x.k}&lt;/Text&gt;&#10;         &lt;/Box&gt;&#10;          ))}&#10;    &lt;/Box&gt;&#10;      &lt;/Box&gt;&#10;&#10;      &lt;Box style={{ height: 62, background: '#FFF3EE', borderRadius: 4, borderLeft: '5px solid #FA4F24', padding: '0 18px', flexDirection: 'row', alignItems: 'center', gap: 16 }}&gt;&#10;        &lt;Text style={{ fontSize: 14, fontWeight: 'bold', color: '#C43A17', width: 152 }}&gt;这一页的落点&lt;/Text&gt;&#10;        &lt;Text style={{ fontSize: 13, color: '#0F1423', flex: 1, lineHeight: 1.5 }}&gt;&#10;     知识库多出来的那一层，本质上和 Agent 多出来的那一层是同一件事——它不再只是「存放」，而是「决定什么算数」。谁来决定，就是 BA 里的责任人；决定的结果怎么落，就是 DA 里的口径与时效；决定的过程怎么被调用，就是 AA 里的装配契约；决定能不能一直做对，就是 TA 里的评测。&#10;     &lt;/Text&gt;&#10;      &lt;/Box&gt;&#10;    &lt;/Box&gt;&#10;&#10;    &lt;Box style={{ height: 58, flexDirection: 'row', alignItems: 'center', borderTop: '1px solid #E8E8E8' }}&gt;&#10;        &lt;Box style={{ width: 10, height: 10, background: '#FA4F24' }} /&gt;&#10;      &lt;Text style={{ fontSize: 13, color: '#8A8F99', marginLeft: 12 }}&gt;硕磐机密 · 知识库咨询方法论&lt;/Text&gt;&#10;        &lt;Text style={{ fontSize: 13, color: '#8A8F99', marginLeft: 'auto' }}&gt;2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之总览：知识库落在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哪一格、哪一层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它是一个业务应用，判断标准是：有明确服务对象、有明确责任人、有可度量产出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47" name=""/>
          <p:cNvSpPr/>
          <p:nvPr/>
        </p:nvSpPr>
        <p:spPr>
          <a:xfrm rot="0" flipH="0" flipV="0">
            <a:off x="609600" y="1285875"/>
            <a:ext cx="438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81050" y="12858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1123950" y="1285875"/>
            <a:ext cx="20002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1238250" y="1285875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传统架构里的对应物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3200400" y="1285875"/>
            <a:ext cx="56578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3314700" y="1285875"/>
            <a:ext cx="5429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知识库场景下变成什么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8934450" y="1285875"/>
            <a:ext cx="26479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048750" y="1285875"/>
            <a:ext cx="2419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知识库独有的那部分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647700" y="1495425"/>
            <a:ext cx="4000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609600" y="1495425"/>
            <a:ext cx="438150" cy="485775"/>
          </a:xfrm>
          <a:custGeom>
            <a:pathLst>
              <a:path w="46" h="51">
                <a:moveTo>
                  <a:pt x="0" y="0"/>
                </a:moveTo>
                <a:lnTo>
                  <a:pt x="4" y="0"/>
                </a:lnTo>
                <a:lnTo>
                  <a:pt x="4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14375" y="1628775"/>
            <a:ext cx="266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1123950" y="1495425"/>
            <a:ext cx="2000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1238250" y="1638300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部门、流程、职责边界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3200400" y="1495425"/>
            <a:ext cx="56578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314700" y="163830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增加一类角色：知识域责任人，并对「知识准确性」直接负责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8953500" y="1495425"/>
            <a:ext cx="2628900" cy="4857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8934450" y="1495425"/>
            <a:ext cx="2647950" cy="485775"/>
          </a:xfrm>
          <a:custGeom>
            <a:pathLst>
              <a:path w="278" h="51">
                <a:moveTo>
                  <a:pt x="0" y="0"/>
                </a:moveTo>
                <a:lnTo>
                  <a:pt x="2" y="0"/>
                </a:lnTo>
                <a:lnTo>
                  <a:pt x="2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9067800" y="163830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口径裁定权与入库否决权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647700" y="2057400"/>
            <a:ext cx="4000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6" name=""/>
          <p:cNvSpPr/>
          <p:nvPr/>
        </p:nvSpPr>
        <p:spPr>
          <a:xfrm rot="0" flipH="0" flipV="0">
            <a:off x="609600" y="2057400"/>
            <a:ext cx="438150" cy="485775"/>
          </a:xfrm>
          <a:custGeom>
            <a:pathLst>
              <a:path w="46" h="51">
                <a:moveTo>
                  <a:pt x="0" y="0"/>
                </a:moveTo>
                <a:lnTo>
                  <a:pt x="4" y="0"/>
                </a:lnTo>
                <a:lnTo>
                  <a:pt x="4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704850" y="2190750"/>
            <a:ext cx="285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87D2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1123950" y="2057400"/>
            <a:ext cx="2000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1238250" y="2200275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数据模型、表结构、指标口径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3200400" y="2057400"/>
            <a:ext cx="56578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3314700" y="2200275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数据分三层：原文与切片、抽取出的实体与关系、出处与版本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8953500" y="2057400"/>
            <a:ext cx="2628900" cy="4857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73" name=""/>
          <p:cNvSpPr/>
          <p:nvPr/>
        </p:nvSpPr>
        <p:spPr>
          <a:xfrm rot="0" flipH="0" flipV="0">
            <a:off x="8934450" y="2057400"/>
            <a:ext cx="2647950" cy="485775"/>
          </a:xfrm>
          <a:custGeom>
            <a:pathLst>
              <a:path w="278" h="51">
                <a:moveTo>
                  <a:pt x="0" y="0"/>
                </a:moveTo>
                <a:lnTo>
                  <a:pt x="2" y="0"/>
                </a:lnTo>
                <a:lnTo>
                  <a:pt x="2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9067800" y="2200275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时效性与版本血缘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647700" y="2619375"/>
            <a:ext cx="400050" cy="4762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6" name=""/>
          <p:cNvSpPr/>
          <p:nvPr/>
        </p:nvSpPr>
        <p:spPr>
          <a:xfrm rot="0" flipH="0" flipV="0">
            <a:off x="609600" y="2619375"/>
            <a:ext cx="438150" cy="476250"/>
          </a:xfrm>
          <a:custGeom>
            <a:pathLst>
              <a:path w="46" h="50">
                <a:moveTo>
                  <a:pt x="0" y="0"/>
                </a:moveTo>
                <a:lnTo>
                  <a:pt x="4" y="0"/>
                </a:lnTo>
                <a:lnTo>
                  <a:pt x="4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714375" y="2752725"/>
            <a:ext cx="276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0651A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123950" y="2619375"/>
            <a:ext cx="2000250" cy="4762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238250" y="2762250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应用清单、集成关系、调用链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3200400" y="2619375"/>
            <a:ext cx="5657850" cy="4762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314700" y="276225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应用变成检索链路：过滤</a:t>
            </a:r>
            <a:r>
              <a:rPr lang="en-US" sz="9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混合检索</a:t>
            </a:r>
            <a:r>
              <a:rPr lang="en-US" sz="9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重排</a:t>
            </a:r>
            <a:r>
              <a:rPr lang="en-US" sz="9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8953500" y="2619375"/>
            <a:ext cx="2628900" cy="4762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83" name=""/>
          <p:cNvSpPr/>
          <p:nvPr/>
        </p:nvSpPr>
        <p:spPr>
          <a:xfrm rot="0" flipH="0" flipV="0">
            <a:off x="8934450" y="2619375"/>
            <a:ext cx="2647950" cy="476250"/>
          </a:xfrm>
          <a:custGeom>
            <a:pathLst>
              <a:path w="278" h="50">
                <a:moveTo>
                  <a:pt x="0" y="0"/>
                </a:moveTo>
                <a:lnTo>
                  <a:pt x="2" y="0"/>
                </a:lnTo>
                <a:lnTo>
                  <a:pt x="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067800" y="276225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上下文装配契约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647700" y="3171825"/>
            <a:ext cx="4000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6" name=""/>
          <p:cNvSpPr/>
          <p:nvPr/>
        </p:nvSpPr>
        <p:spPr>
          <a:xfrm rot="0" flipH="0" flipV="0">
            <a:off x="609600" y="3171825"/>
            <a:ext cx="438150" cy="485775"/>
          </a:xfrm>
          <a:custGeom>
            <a:pathLst>
              <a:path w="46" h="51">
                <a:moveTo>
                  <a:pt x="0" y="0"/>
                </a:moveTo>
                <a:lnTo>
                  <a:pt x="4" y="0"/>
                </a:lnTo>
                <a:lnTo>
                  <a:pt x="4" y="51"/>
                </a:lnTo>
                <a:lnTo>
                  <a:pt x="0" y="51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33425" y="3305175"/>
            <a:ext cx="238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1123950" y="3171825"/>
            <a:ext cx="2000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1238250" y="3314700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运行环境、中间件、非功能指标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3200400" y="3171825"/>
            <a:ext cx="56578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3314700" y="3314700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运行时多了向量索引、切片管道、重排服务、密级标记服务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8953500" y="3171825"/>
            <a:ext cx="2628900" cy="4857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93" name=""/>
          <p:cNvSpPr/>
          <p:nvPr/>
        </p:nvSpPr>
        <p:spPr>
          <a:xfrm rot="0" flipH="0" flipV="0">
            <a:off x="8934450" y="3171825"/>
            <a:ext cx="2647950" cy="485775"/>
          </a:xfrm>
          <a:custGeom>
            <a:pathLst>
              <a:path w="278" h="51">
                <a:moveTo>
                  <a:pt x="0" y="0"/>
                </a:moveTo>
                <a:lnTo>
                  <a:pt x="2" y="0"/>
                </a:lnTo>
                <a:lnTo>
                  <a:pt x="2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9067800" y="331470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召回质量与延迟的平衡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609600" y="3733800"/>
            <a:ext cx="10972800" cy="1219200"/>
          </a:xfrm>
          <a:prstGeom prst="roundRect">
            <a:avLst>
              <a:gd name="adj" fmla="val 312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781050" y="38385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知识库的五类服务对象：需求不同，架构重点完全不同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809625" y="4076700"/>
            <a:ext cx="2066925" cy="771525"/>
          </a:xfrm>
          <a:prstGeom prst="roundRect">
            <a:avLst>
              <a:gd name="adj" fmla="val 370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809625" y="4076700"/>
            <a:ext cx="2066925" cy="771525"/>
          </a:xfrm>
          <a:custGeom>
            <a:pathLst>
              <a:path w="217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904875" y="4143375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一线员工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904875" y="4314825"/>
            <a:ext cx="1847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查规范与流程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04875" y="446722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8A8F99"/>
                </a:solidFill>
                <a:latin typeface="Microsoft YaHei"/>
                <a:ea typeface="Microsoft YaHei"/>
              </a:rPr>
              <a:t>要求：找得到、看得懂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2952750" y="4076700"/>
            <a:ext cx="2066925" cy="771525"/>
          </a:xfrm>
          <a:prstGeom prst="roundRect">
            <a:avLst>
              <a:gd name="adj" fmla="val 370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2952750" y="4076700"/>
            <a:ext cx="2066925" cy="771525"/>
          </a:xfrm>
          <a:custGeom>
            <a:pathLst>
              <a:path w="217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3048000" y="4143375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业务专家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3048000" y="4314825"/>
            <a:ext cx="1847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找同类案例与经验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3048000" y="446722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要求：像不像、对不对口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5095875" y="4076700"/>
            <a:ext cx="2057400" cy="771525"/>
          </a:xfrm>
          <a:prstGeom prst="roundRect">
            <a:avLst>
              <a:gd name="adj" fmla="val 370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08" name=""/>
          <p:cNvSpPr/>
          <p:nvPr/>
        </p:nvSpPr>
        <p:spPr>
          <a:xfrm rot="0" flipH="0" flipV="0">
            <a:off x="5095875" y="4076700"/>
            <a:ext cx="2057400" cy="771525"/>
          </a:xfrm>
          <a:custGeom>
            <a:pathLst>
              <a:path w="216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5191125" y="4143375"/>
            <a:ext cx="1838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5191125" y="4314825"/>
            <a:ext cx="1838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取上下文与依据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5191125" y="4467225"/>
            <a:ext cx="1838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要求：预算可控、引用可追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7229475" y="4076700"/>
            <a:ext cx="2066925" cy="771525"/>
          </a:xfrm>
          <a:prstGeom prst="roundRect">
            <a:avLst>
              <a:gd name="adj" fmla="val 370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13" name=""/>
          <p:cNvSpPr/>
          <p:nvPr/>
        </p:nvSpPr>
        <p:spPr>
          <a:xfrm rot="0" flipH="0" flipV="0">
            <a:off x="7229475" y="4076700"/>
            <a:ext cx="2066925" cy="771525"/>
          </a:xfrm>
          <a:custGeom>
            <a:pathLst>
              <a:path w="217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7324725" y="4143375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管理者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324725" y="4314825"/>
            <a:ext cx="1847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看知识资产健康度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324725" y="446722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87D2F"/>
                </a:solidFill>
                <a:latin typeface="Microsoft YaHei"/>
                <a:ea typeface="Microsoft YaHei"/>
              </a:rPr>
              <a:t>要求：时效与冲突可见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9372600" y="4076700"/>
            <a:ext cx="2066925" cy="771525"/>
          </a:xfrm>
          <a:prstGeom prst="roundRect">
            <a:avLst>
              <a:gd name="adj" fmla="val 370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18" name=""/>
          <p:cNvSpPr/>
          <p:nvPr/>
        </p:nvSpPr>
        <p:spPr>
          <a:xfrm rot="0" flipH="0" flipV="0">
            <a:off x="9372600" y="4076700"/>
            <a:ext cx="2066925" cy="771525"/>
          </a:xfrm>
          <a:custGeom>
            <a:pathLst>
              <a:path w="217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9467850" y="4143375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审计与合规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9467850" y="4314825"/>
            <a:ext cx="1847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验证依据与流程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9467850" y="4467225"/>
            <a:ext cx="1847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E0651A"/>
                </a:solidFill>
                <a:latin typeface="Microsoft YaHei"/>
                <a:ea typeface="Microsoft YaHei"/>
              </a:rPr>
              <a:t>要求：可复现、可回溯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657225" y="502920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23" name=""/>
          <p:cNvSpPr/>
          <p:nvPr/>
        </p:nvSpPr>
        <p:spPr>
          <a:xfrm rot="0" flipH="0" flipV="0">
            <a:off x="657225" y="5029200"/>
            <a:ext cx="10972800" cy="590550"/>
          </a:xfrm>
          <a:custGeom>
            <a:pathLst>
              <a:path w="1152" h="62">
                <a:moveTo>
                  <a:pt x="5" y="62"/>
                </a:moveTo>
                <a:cubicBezTo>
                  <a:pt x="4" y="62"/>
                  <a:pt x="3" y="62"/>
                  <a:pt x="2" y="61"/>
                </a:cubicBezTo>
                <a:cubicBezTo>
                  <a:pt x="1" y="61"/>
                  <a:pt x="0" y="60"/>
                  <a:pt x="0" y="58"/>
                </a:cubicBezTo>
                <a:lnTo>
                  <a:pt x="0" y="58"/>
                </a:lnTo>
                <a:lnTo>
                  <a:pt x="0" y="5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828675" y="52482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这一页的落点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2428875" y="5105400"/>
            <a:ext cx="8982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知识库多出来的那一层，本质上和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多出来的那一层是同一件事——它不再只是「存放」，而是「决定什么算数」。谁来决定，就是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里的责任人；决定的结果怎么落，就是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里的口径与时效；决定的过程怎么被调用，就是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里的装配契约；决定能不能一直做对，就是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TA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里的评测。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2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830" name="" descr="&lt;Slide style={{ width: 1280, height: 720, background: '#FFFFFF', padding: '24px 64px 0' }}&gt;&#10;  &lt;Box style={{ height: 96, flexDirection: 'column', justifyContent: 'flex-start' }}&gt;&#10;        &lt;Text style={{ fontSize: 32, fontWeight: 'bold', color: '#0F1423' }}&gt;&#10;     之 BA：知识&lt;span style={{ color: '#FA4F24' }}&gt;服务谁&lt;/span&gt;，以及谁不该被知识替代&#10;   &lt;/Text&gt;&#10;        &lt;Text style={{ fontSize: 20, color: '#8A8F99', marginTop: 8 }}&gt;&#10;    这一层最容易做虚，因为它既不产生代码也不产生报表，只有把人组织起来&#10;      &lt;/Text&gt;&#10;    &lt;/Box&gt;&#10;    &lt;Box style={{ height: 1, background: '#E8E8E8' }} /&gt;&#10;&#10;    &lt;Box style={{ paddingTop: 14, paddingBottom: 10, height: 479, flexDirection: 'row', gap: 11 }}&gt;&#10;  {/* 左：知识流 */}&#10;      &lt;Box style={{ width: 400, flexDirection: 'column', gap: 8 }}&gt;&#10;        &lt;Box style={{ height: 244, background: '#F7F7F8', borderRadius: 4, padding: '11px 15px', flexDirection: 'column' }}&gt;&#10;          &lt;Text style={{ fontSize: 15, fontWeight: 'bold', color: '#0F1423', marginBottom: 8 }}&gt;一条知识的完整流转与每个环节的责任人&lt;/Text&gt;&#10;          {[&#10;            { n: '产生', w: '业务人员', d: '在实际工作中形成经验与判断' },&#10;            { n: '沉淀', w: '知识运营', d: '整理成文，明确适用范围与边界' },&#10;      { n: '审核', w: '知识域责任人', d: '确认口径正确、表述无歧义' },&#10;            { n: '入库', w: '平台侧', d: '切片、抽取、挂出处、打标记' },&#10;            { n: '应用', w: '使用部门', d: '在工作中引用，并反馈是否好用' },&#10;          ].map((x, i) =&gt; (&#10;            &lt;Box key={x.n} style={{ flex: 1, flexDirection: 'row', alignItems: 'center', gap: 10, borderTop: i === 0 ? 'none' : '1px solid #E8E8E8' }}&gt;&#10;        &lt;Text style={{ fontSize: 12, fontWeight: 'bold', color: '#FA4F24', width: 42 }}&gt;{x.n}&lt;/Text&gt;&#10;      &lt;Text style={{ fontSize: 12, fontWeight: 'bold', color: '#0F1423', width: 96 }}&gt;{x.w}&lt;/Text&gt;&#10;      &lt;Text style={{ fontSize: 11, color: '#5A6072', flex: 1 }}&gt;{x.d}&lt;/Text&gt;&#10;            &lt;/Box&gt;&#10;    ))}&#10;     &lt;/Box&gt;&#10;    &lt;Box style={{ flex: 1, background: '#0F1423', borderRadius: 4, padding: '10px 15px', flexDirection: 'column', justifyContent: 'center' }}&gt;&#10;     &lt;Text style={{ fontSize: 13, fontWeight: 'bold', color: '#FBA15C' }}&gt;最容易被跳过的是「沉淀」这一环&lt;/Text&gt;&#10;     &lt;Text style={{ fontSize: 12, color: 'rgba(255,255,255,0.9)', marginTop: 6, lineHeight: 1.55 }}&gt;&#10; 经验留在个人脑子里时，效率最高但风险最大。人一走知识就断。把经验写下来是有成本的，这个成本必须被承认并算进部门预算，否则知识库永远是「有余力才做」的事。&#10;   &lt;/Text&gt;&#10;      &lt;/Box&gt;&#10;  &lt;/Box&gt;&#10;&#10;      {/* 右：不替代 + 反馈 */}&#10;      &lt;Box style={{ flex: 1, flexDirection: 'column', gap: 8 }}&gt;&#10;     &lt;Box style={{ height: 152, background: '#FFF3EE', borderRadius: 4, borderLeft: '4px solid #FA4F24', padding: '11px 15px', flexDirection: 'column' }}&gt;&#10;      &lt;Text style={{ fontSize: 15, fontWeight: 'bold', color: '#C43A17', marginBottom: 7 }}&gt;四类判断不能交给知识库&lt;/Text&gt;&#10;       {[&#10;    { t: '首次出现的例外', d: '库里没有先例，需要人判断' },&#10;      { t: '利益相关方冲突', d: '涉及取舍，不是查得到答案的事' },&#10;  { t: '需要承担责任的决定', d: '知识提供参考，不提供背书' },&#10;    { t: '口径本身存疑时', d: '两处写的不一样，要人裁定而非等系统选' },&#10;    ].map((x, i) =&gt; (&#10;   &lt;Box key={x.t} style={{ flex: 1, flexDirection: 'row', alignItems: 'center', gap: 9, borderTop: i === 0 ? 'none' : '1px solid #FBA15C' }}&gt;&#10;    &lt;Text style={{ fontSize: 11, fontWeight: 'bold', color: '#FA4F24' }}&gt;✕&lt;/Text&gt;&#10;    &lt;Text style={{ fontSize: 12, fontWeight: 'bold', color: '#0F1423', width: 118 }}&gt;{x.t}&lt;/Text&gt;&#10;   &lt;Text style={{ fontSize: 11, color: '#5A6072', flex: 1 }}&gt;{x.d}&lt;/Text&gt;&#10;       &lt;/Box&gt;&#10;  ))}&#10;        &lt;/Box&gt;&#10;        &lt;Box style={{ flex: 1, background: '#F7F7F8', borderRadius: 4, padding: '11px 15px', flexDirection: 'column' }}&gt;&#10;     &lt;Text style={{ fontSize: 15, fontWeight: 'bold', color: '#0F1423', marginBottom: 8 }}&gt;使用方的反馈回路：三个必须收集的信号&lt;/Text&gt;&#10;          {[&#10;        { n: '找不到', d: '检索没召回，说明切片或索引有问题' },&#10;   { n: '不敢用', d: '找到但不敢引用，说明来源可信度标识不足' },&#10;   { n: '用了但错', d: '引用了却发现过时，说明治理机制失效' },&#10;     ].map((x, i) =&gt; (&#10;      &lt;Box key={x.n} style={{ flex: 1, flexDirection: 'row', alignItems: 'center', gap: 11, borderTop: i === 0 ? 'none' : '1px solid #E8E8E8' }}&gt;&#10; &lt;Text style={{ fontSize: 14, fontWeight: 'bold', color: '#FA4F24', width: 88 }}&gt;{x.n}&lt;/Text&gt;&#10;   &lt;Text style={{ fontSize: 12, color: '#3A4050', flex: 1 }}&gt;{x.d}&lt;/Text&gt;&#10;    &lt;/Box&gt;&#10;        ))}&#10;          &lt;Box style={{ height: 46, background: '#FFFFFF', borderRadius: 3, padding: '7px 11px', marginTop: 6 }}&gt;&#10;   &lt;Text style={{ fontSize: 11, color: '#C43A17', lineHeight: 1.45 }}&gt;这三个信号分别对应切片、标识、治理三类问题，必须分开归因——混在一起看就会得出「检索不准」这个错误结论。&lt;/Text&gt;&#10;          &lt;/Box&gt;&#10; &lt;/Box&gt;&#10;      &lt;/Box&gt;&#10;    &lt;/Box&gt;&#10;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&lt;Text style={{ fontSize: 13, color: '#8A8F99', marginLeft: 'auto' }}&gt;2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：知识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服务谁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，以及谁不该被知识替代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这一层最容易做虚，因为它既不产生代码也不产生报表，只有把人组织起来</a:t>
            </a:r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35" name=""/>
          <p:cNvSpPr/>
          <p:nvPr/>
        </p:nvSpPr>
        <p:spPr>
          <a:xfrm rot="0" flipH="0" flipV="0">
            <a:off x="609600" y="1285875"/>
            <a:ext cx="3810000" cy="2324100"/>
          </a:xfrm>
          <a:prstGeom prst="roundRect">
            <a:avLst>
              <a:gd name="adj" fmla="val 16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52475" y="13906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一条知识的完整流转与每个环节的责任人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752475" y="1752600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产生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1247775" y="17526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业务人员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2257425" y="1752600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在实际工作中形成经验与判断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752475" y="2000250"/>
            <a:ext cx="3524250" cy="390525"/>
          </a:xfrm>
          <a:custGeom>
            <a:pathLst>
              <a:path w="370" h="4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752475" y="212407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沉淀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1247775" y="21240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知识运营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2257425" y="2133600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整理成文，明确适用范围与边界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752475" y="2381250"/>
            <a:ext cx="3524250" cy="381000"/>
          </a:xfrm>
          <a:custGeom>
            <a:pathLst>
              <a:path w="370" h="4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752475" y="250507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审核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1247775" y="25050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知识域责任人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2257425" y="2505075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确认口径正确、表述无歧义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752475" y="2752725"/>
            <a:ext cx="3524250" cy="390525"/>
          </a:xfrm>
          <a:custGeom>
            <a:pathLst>
              <a:path w="370" h="4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752475" y="2876550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入库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1247775" y="28765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平台侧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2257425" y="2886075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切片、抽取、挂出处、打标记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752475" y="3133725"/>
            <a:ext cx="3524250" cy="381000"/>
          </a:xfrm>
          <a:custGeom>
            <a:pathLst>
              <a:path w="370" h="4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752475" y="3257550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1247775" y="32575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使用部门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2257425" y="3257550"/>
            <a:ext cx="2019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在工作中引用，并反馈是否好用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609600" y="3686175"/>
            <a:ext cx="3810000" cy="1933575"/>
          </a:xfrm>
          <a:prstGeom prst="roundRect">
            <a:avLst>
              <a:gd name="adj" fmla="val 197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752475" y="4229100"/>
            <a:ext cx="352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最容易被跳过的是「沉淀」这一环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52475" y="4438650"/>
            <a:ext cx="3524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经验留在个人脑子里时，效率最高但风险最大。人一走知识就断。把经验写下来是有成本的，这个成本必须被承认并算进部门预算，否则知识库永远是「有余力才做」的事。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4562475" y="1285875"/>
            <a:ext cx="7058025" cy="1447800"/>
          </a:xfrm>
          <a:prstGeom prst="roundRect">
            <a:avLst>
              <a:gd name="adj" fmla="val 26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60" name=""/>
          <p:cNvSpPr/>
          <p:nvPr/>
        </p:nvSpPr>
        <p:spPr>
          <a:xfrm rot="0" flipH="0" flipV="0">
            <a:off x="4562475" y="1285875"/>
            <a:ext cx="7058025" cy="1447800"/>
          </a:xfrm>
          <a:custGeom>
            <a:pathLst>
              <a:path w="741" h="152">
                <a:moveTo>
                  <a:pt x="4" y="152"/>
                </a:moveTo>
                <a:cubicBezTo>
                  <a:pt x="2" y="152"/>
                  <a:pt x="0" y="150"/>
                  <a:pt x="0" y="1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4705350" y="1390650"/>
            <a:ext cx="673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四类判断不能交给知识库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4705350" y="16859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4895850" y="1685925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首次出现的例外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6105525" y="1685925"/>
            <a:ext cx="5334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库里没有先例，需要人判断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4705350" y="1876425"/>
            <a:ext cx="6734175" cy="257175"/>
          </a:xfrm>
          <a:custGeom>
            <a:pathLst>
              <a:path w="707" h="27">
                <a:moveTo>
                  <a:pt x="0" y="0"/>
                </a:moveTo>
                <a:lnTo>
                  <a:pt x="707" y="0"/>
                </a:lnTo>
                <a:lnTo>
                  <a:pt x="707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4705350" y="19431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4895850" y="1933575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利益相关方冲突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6105525" y="1943100"/>
            <a:ext cx="5334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涉及取舍，不是查得到答案的事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4705350" y="2124075"/>
            <a:ext cx="6734175" cy="266700"/>
          </a:xfrm>
          <a:custGeom>
            <a:pathLst>
              <a:path w="707" h="28">
                <a:moveTo>
                  <a:pt x="0" y="0"/>
                </a:moveTo>
                <a:lnTo>
                  <a:pt x="707" y="0"/>
                </a:lnTo>
                <a:lnTo>
                  <a:pt x="707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4705350" y="21907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4895850" y="2190750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需要承担责任的决定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105525" y="2190750"/>
            <a:ext cx="5334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知识提供参考，不提供背书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4705350" y="2381250"/>
            <a:ext cx="6734175" cy="257175"/>
          </a:xfrm>
          <a:custGeom>
            <a:pathLst>
              <a:path w="707" h="27">
                <a:moveTo>
                  <a:pt x="0" y="0"/>
                </a:moveTo>
                <a:lnTo>
                  <a:pt x="707" y="0"/>
                </a:lnTo>
                <a:lnTo>
                  <a:pt x="707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4705350" y="24479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4895850" y="2438400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口径本身存疑时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6105525" y="2447925"/>
            <a:ext cx="5334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两处写的不一样，要人裁定而非等系统选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4524375" y="2809875"/>
            <a:ext cx="7058025" cy="2809875"/>
          </a:xfrm>
          <a:prstGeom prst="roundRect">
            <a:avLst>
              <a:gd name="adj" fmla="val 13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4667250" y="2914650"/>
            <a:ext cx="677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使用方的反馈回路：三个必须收集的信号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4667250" y="339090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找不到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5610225" y="3400425"/>
            <a:ext cx="582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检索没召回，说明切片或索引有问题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4667250" y="3771900"/>
            <a:ext cx="6772275" cy="638175"/>
          </a:xfrm>
          <a:custGeom>
            <a:pathLst>
              <a:path w="711" h="67">
                <a:moveTo>
                  <a:pt x="0" y="0"/>
                </a:moveTo>
                <a:lnTo>
                  <a:pt x="711" y="0"/>
                </a:lnTo>
                <a:lnTo>
                  <a:pt x="711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4667250" y="401002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不敢用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5610225" y="4019550"/>
            <a:ext cx="582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找到但不敢引用，说明来源可信度标识不足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4667250" y="4400550"/>
            <a:ext cx="6772275" cy="628650"/>
          </a:xfrm>
          <a:custGeom>
            <a:pathLst>
              <a:path w="711" h="66">
                <a:moveTo>
                  <a:pt x="0" y="0"/>
                </a:moveTo>
                <a:lnTo>
                  <a:pt x="711" y="0"/>
                </a:lnTo>
                <a:lnTo>
                  <a:pt x="711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667250" y="46386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用了但错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5610225" y="4648200"/>
            <a:ext cx="582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引用了却发现过时，说明治理机制失效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4667250" y="5076825"/>
            <a:ext cx="67722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4772025" y="5143500"/>
            <a:ext cx="65627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这三个信号分别对应切片、标识、治理三类问题，必须分开归因——混在一起看就会得出「检索不准」这个错误结论。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893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 DA：知识的&lt;span style={{ color: '#FA4F24' }}&gt;三层数据&lt;/span&gt;与必须显式建模的元数据&#10;        &lt;/Text&gt;&#10;        &lt;Text style={{ fontSize: 20, color: '#8A8F99', marginTop: 8 }}&gt;&#10;     元数据不是可有可无的附加信息，它是知识能被治理的前提&#10;   &lt;/Text&gt;&#10;    &lt;/Box&gt;&#10;    &lt;Box style={{ height: 1, background: '#E8E8E8' }} /&gt;&#10;&#10;    &lt;Box style={{ paddingTop: 14, paddingBottom: 10, height: 479, flexDirection: 'column', gap: 8 }}&gt;&#10;      {/* 三层 */}&#10;      {[&#10;        { n: 'L1', t: '原文与切片层', c: '#8A8F99', bg: '#F7F7F8',&#10;    items: ['原文正文（保真不可改）', '切片单元 + 位置锚点', '文档版本与生效期', '密级标记与可见范围'],&#10;          guard: '原文必须与切片同时保存：只存切片，事后无法核对引用是否准确。' },&#10;   { n: 'L2', t: '实体与关系层', c: '#FBA15C', bg: '#FFF8F2',&#10;   items: ['识别出的业务对象', '对象属性与属性值', '对象之间的关系', '与本体的对应关系'],&#10;guard: '实体层只放从原文能直接读出的内容；任何推断结论都应单独标记置信度。' },&#10; { n: 'L3', t: '出处与版本层', c: '#FA4F24', bg: '#FFF3EE',&#10;      items: ['每条内容指向来源位置', '修订历史与失效标记', '冲突记录与裁定结果', '评测与使用反馈'],&#10;guard: '冲突记录不能删。留住「这里曾经有过两种说法」比强行合一更有价值。' },&#10;      ].map((it, i) =&gt; (&#10;        &lt;Box key={it.n} style={{ flex: 1, background: it.bg, borderRadius: 4, borderLeft: '5px solid ' + it.c, padding: '9px 14px', flexDirection: 'column' }}&gt;&#10;        &lt;Box style={{ flexDirection: 'row', alignItems: 'center', gap: 10 }}&gt;&#10;       &lt;Text style={{ fontSize: 13, fontWeight: 'bold', color: it.c, width: 28 }}&gt;{it.n}&lt;/Text&gt;&#10;     &lt;Text style={{ fontSize: 16, fontWeight: 'bold', color: '#0F1423' }}&gt;{it.t}&lt;/Text&gt;&#10;          &lt;/Box&gt;&#10;     &lt;Box style={{ flexDirection: 'row', gap: 8, marginTop: 6, flex: 1 }}&gt;&#10;     {it.items.map((x, k) =&gt; (&#10;            &lt;Box key={k} style={{ flex: 1, background: '#FFFFFF', borderRadius: 3, padding: '5px 9px', justifyContent: 'center' }}&gt;&#10;     &lt;Text style={{ fontSize: 11, color: '#3A4050', lineHeight: 1.35 }}&gt;{x}&lt;/Text&gt;&#10;     &lt;/Box&gt;&#10;        ))}&#10;       &lt;/Box&gt;&#10;      &lt;Box style={{ flexDirection: 'row', alignItems: 'center', gap: 8, marginTop: 5 }}&gt;&#10;            &lt;Text style={{ fontSize: 11, color: '#C43A17' }}&gt;⚠&lt;/Text&gt;&#10;     &lt;Text style={{ fontSize: 11, color: '#5A6072', flex: 1, lineHeight: 1.35 }}&gt;{it.guard}&lt;/Text&gt;&#10;       &lt;/Box&gt;&#10;        &lt;/Box&gt;&#10;      ))}&#10;&#10;      {/* 必建模元数据 */}&#10;      &lt;Box style={{ height: 124, background: '#0F1423', borderRadius: 4, padding: '11px 18px', flexDirection: 'column' }}&gt;&#10;     &lt;Text style={{ fontSize: 14, fontWeight: 'bold', color: '#FBA15C' }}&gt;十二项必建模元数据：少一项，就有一类问题查不出来&lt;/Text&gt;&#10;     &lt;Box style={{ flexDirection: 'row', flexWrap: 'wrap', gap: 7, marginTop: 9, flex: 1 }}&gt;&#10;   {[&#10; { n: '来源系统', g: 1 }, { n: '文档标识', g: 1 }, { n: '责任人', g: 1 }, { n: '生效期', g: 1 },&#10;          { n: '失效期', g: 1 }, { n: '版本号', g: 1 }, { n: '密级', g: 1 }, { n: '可见范围', g: 1 },&#10;    { n: '位置锚点', g: 1 }, { n: '口径归属', g: 1 }, { n: '置信度', g: 1 }, { n: '关联对象', g: 1 },&#10;        ].map((x, i) =&gt; (&#10;   &lt;Box key={x.n} style={{ width: 168, height: 34, background: 'rgba(255,255,255,0.08)', borderRadius: 3, borderLeft: '3px solid #FA4F24', padding: '0 10px', flexDirection: 'row', alignItems: 'center', gap: 8 }}&gt;&#10;    &lt;Text style={{ fontSize: 10, fontWeight: 'bold', color: '#FA4F24' }}&gt;{String(i + 1).padStart(2, '0')}&lt;/Text&gt;&#10;       &lt;Text style={{ fontSize: 12, color: '#FFFFFF' }}&gt;{x.n}&lt;/Text&gt;&#10;        &lt;/Box&gt;&#10;      ))}&#10;    &lt;/Box&gt;&#10;      &lt;/Box&gt;&#10;&#10;  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：知识的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三层数据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与必须显式建模的元数据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元数据不是可有可无的附加信息，它是知识能被治理的前提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8" name=""/>
          <p:cNvSpPr/>
          <p:nvPr/>
        </p:nvSpPr>
        <p:spPr>
          <a:xfrm rot="0" flipH="0" flipV="0">
            <a:off x="657225" y="1285875"/>
            <a:ext cx="10972800" cy="971550"/>
          </a:xfrm>
          <a:prstGeom prst="roundRect">
            <a:avLst>
              <a:gd name="adj" fmla="val 39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657225" y="1285875"/>
            <a:ext cx="10972800" cy="971550"/>
          </a:xfrm>
          <a:custGeom>
            <a:pathLst>
              <a:path w="1152" h="102">
                <a:moveTo>
                  <a:pt x="5" y="102"/>
                </a:moveTo>
                <a:cubicBezTo>
                  <a:pt x="4" y="102"/>
                  <a:pt x="3" y="102"/>
                  <a:pt x="2" y="101"/>
                </a:cubicBezTo>
                <a:cubicBezTo>
                  <a:pt x="1" y="101"/>
                  <a:pt x="0" y="100"/>
                  <a:pt x="0" y="98"/>
                </a:cubicBezTo>
                <a:lnTo>
                  <a:pt x="0" y="98"/>
                </a:lnTo>
                <a:lnTo>
                  <a:pt x="0" y="9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90575" y="139065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1152525" y="13716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原文与切片层</a:t>
            </a:r>
            <a:endParaRPr/>
          </a:p>
        </p:txBody>
      </p:sp>
      <p:sp>
        <p:nvSpPr>
          <p:cNvPr id="902" name=""/>
          <p:cNvSpPr/>
          <p:nvPr/>
        </p:nvSpPr>
        <p:spPr>
          <a:xfrm rot="0" flipH="0" flipV="0">
            <a:off x="790575" y="1619250"/>
            <a:ext cx="2609850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876300" y="170497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原文正文（保真不可改）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3476625" y="1619250"/>
            <a:ext cx="2609850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3562350" y="170497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切片单元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位置锚点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6162675" y="1619250"/>
            <a:ext cx="2600325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6248400" y="170497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文档版本与生效期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8839200" y="1619250"/>
            <a:ext cx="2609850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8924925" y="170497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密级标记与可见范围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90575" y="20193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⚠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971550" y="200025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原文必须与切片同时保存：只存切片，事后无法核对引用是否准确。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657225" y="2333625"/>
            <a:ext cx="10972800" cy="981075"/>
          </a:xfrm>
          <a:prstGeom prst="roundRect">
            <a:avLst>
              <a:gd name="adj" fmla="val 3883"/>
            </a:avLst>
          </a:prstGeom>
          <a:solidFill>
            <a:srgbClr val="FFF8F2"/>
          </a:solidFill>
          <a:ln/>
        </p:spPr>
        <p:txBody>
          <a:bodyPr/>
          <a:p/>
        </p:txBody>
      </p:sp>
      <p:sp>
        <p:nvSpPr>
          <p:cNvPr id="913" name=""/>
          <p:cNvSpPr/>
          <p:nvPr/>
        </p:nvSpPr>
        <p:spPr>
          <a:xfrm rot="0" flipH="0" flipV="0">
            <a:off x="657225" y="2333625"/>
            <a:ext cx="10972800" cy="981075"/>
          </a:xfrm>
          <a:custGeom>
            <a:pathLst>
              <a:path w="1152" h="103">
                <a:moveTo>
                  <a:pt x="5" y="103"/>
                </a:moveTo>
                <a:cubicBezTo>
                  <a:pt x="4" y="103"/>
                  <a:pt x="3" y="103"/>
                  <a:pt x="2" y="102"/>
                </a:cubicBezTo>
                <a:cubicBezTo>
                  <a:pt x="1" y="102"/>
                  <a:pt x="0" y="101"/>
                  <a:pt x="0" y="99"/>
                </a:cubicBezTo>
                <a:lnTo>
                  <a:pt x="0" y="99"/>
                </a:lnTo>
                <a:lnTo>
                  <a:pt x="0" y="9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90575" y="243840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1152525" y="24193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实体与关系层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790575" y="2667000"/>
            <a:ext cx="260985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76300" y="275272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识别出的业务对象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3476625" y="2667000"/>
            <a:ext cx="260985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3562350" y="275272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对象属性与属性值</a:t>
            </a:r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6162675" y="2667000"/>
            <a:ext cx="260032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6248400" y="275272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对象之间的关系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8839200" y="2667000"/>
            <a:ext cx="260985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8924925" y="2752725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与本体的对应关系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90575" y="30765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⚠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971550" y="3057525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实体层只放从原文能直接读出的内容；任何推断结论都应单独标记置信度。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657225" y="3390900"/>
            <a:ext cx="10972800" cy="971550"/>
          </a:xfrm>
          <a:prstGeom prst="roundRect">
            <a:avLst>
              <a:gd name="adj" fmla="val 392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7" name=""/>
          <p:cNvSpPr/>
          <p:nvPr/>
        </p:nvSpPr>
        <p:spPr>
          <a:xfrm rot="0" flipH="0" flipV="0">
            <a:off x="657225" y="3390900"/>
            <a:ext cx="10972800" cy="971550"/>
          </a:xfrm>
          <a:custGeom>
            <a:pathLst>
              <a:path w="1152" h="102">
                <a:moveTo>
                  <a:pt x="5" y="102"/>
                </a:moveTo>
                <a:cubicBezTo>
                  <a:pt x="4" y="102"/>
                  <a:pt x="3" y="102"/>
                  <a:pt x="2" y="101"/>
                </a:cubicBezTo>
                <a:cubicBezTo>
                  <a:pt x="1" y="101"/>
                  <a:pt x="0" y="100"/>
                  <a:pt x="0" y="98"/>
                </a:cubicBezTo>
                <a:lnTo>
                  <a:pt x="0" y="98"/>
                </a:lnTo>
                <a:lnTo>
                  <a:pt x="0" y="9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790575" y="349567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1152525" y="34766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出处与版本层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790575" y="3724275"/>
            <a:ext cx="2609850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876300" y="381000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每条内容指向来源位置</a:t>
            </a:r>
            <a:endParaRPr/>
          </a:p>
        </p:txBody>
      </p:sp>
      <p:sp>
        <p:nvSpPr>
          <p:cNvPr id="932" name=""/>
          <p:cNvSpPr/>
          <p:nvPr/>
        </p:nvSpPr>
        <p:spPr>
          <a:xfrm rot="0" flipH="0" flipV="0">
            <a:off x="3476625" y="3724275"/>
            <a:ext cx="2609850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3562350" y="381000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修订历史与失效标记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6162675" y="3724275"/>
            <a:ext cx="2600325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248400" y="3810000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冲突记录与裁定结果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8839200" y="3724275"/>
            <a:ext cx="2609850" cy="33337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8924925" y="381000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评测与使用反馈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790575" y="41243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⚠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971550" y="4105275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冲突记录不能删。留住「这里曾经有过两种说法」比强行合一更有价值。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609600" y="4438650"/>
            <a:ext cx="10972800" cy="1181100"/>
          </a:xfrm>
          <a:prstGeom prst="roundRect">
            <a:avLst>
              <a:gd name="adj" fmla="val 322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十二项必建模元数据：少一项，就有一类问题查不出来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809625" y="479107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43" name=""/>
          <p:cNvSpPr/>
          <p:nvPr/>
        </p:nvSpPr>
        <p:spPr>
          <a:xfrm rot="0" flipH="0" flipV="0">
            <a:off x="809625" y="479107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904875" y="48958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1104900" y="4886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来源系统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2476500" y="479107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47" name=""/>
          <p:cNvSpPr/>
          <p:nvPr/>
        </p:nvSpPr>
        <p:spPr>
          <a:xfrm rot="0" flipH="0" flipV="0">
            <a:off x="2476500" y="479107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2571750" y="48958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2771775" y="4886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文档标识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4143375" y="479107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51" name=""/>
          <p:cNvSpPr/>
          <p:nvPr/>
        </p:nvSpPr>
        <p:spPr>
          <a:xfrm rot="0" flipH="0" flipV="0">
            <a:off x="4143375" y="479107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4238625" y="48958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4438650" y="4886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责任人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5810250" y="479107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55" name=""/>
          <p:cNvSpPr/>
          <p:nvPr/>
        </p:nvSpPr>
        <p:spPr>
          <a:xfrm rot="0" flipH="0" flipV="0">
            <a:off x="5810250" y="479107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5905500" y="48958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6105525" y="4886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生效期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7477125" y="479107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59" name=""/>
          <p:cNvSpPr/>
          <p:nvPr/>
        </p:nvSpPr>
        <p:spPr>
          <a:xfrm rot="0" flipH="0" flipV="0">
            <a:off x="7477125" y="479107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7572375" y="48958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7772400" y="4886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失效期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9144000" y="479107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63" name=""/>
          <p:cNvSpPr/>
          <p:nvPr/>
        </p:nvSpPr>
        <p:spPr>
          <a:xfrm rot="0" flipH="0" flipV="0">
            <a:off x="9144000" y="479107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9239250" y="48958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9439275" y="4886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版本号</a:t>
            </a:r>
            <a:endParaRPr/>
          </a:p>
        </p:txBody>
      </p:sp>
      <p:sp>
        <p:nvSpPr>
          <p:cNvPr id="966" name=""/>
          <p:cNvSpPr/>
          <p:nvPr/>
        </p:nvSpPr>
        <p:spPr>
          <a:xfrm rot="0" flipH="0" flipV="0">
            <a:off x="809625" y="519112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67" name=""/>
          <p:cNvSpPr/>
          <p:nvPr/>
        </p:nvSpPr>
        <p:spPr>
          <a:xfrm rot="0" flipH="0" flipV="0">
            <a:off x="809625" y="519112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904875" y="52959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1104900" y="52863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密级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2476500" y="519112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71" name=""/>
          <p:cNvSpPr/>
          <p:nvPr/>
        </p:nvSpPr>
        <p:spPr>
          <a:xfrm rot="0" flipH="0" flipV="0">
            <a:off x="2476500" y="519112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2571750" y="52959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2771775" y="52863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可见范围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4143375" y="519112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75" name=""/>
          <p:cNvSpPr/>
          <p:nvPr/>
        </p:nvSpPr>
        <p:spPr>
          <a:xfrm rot="0" flipH="0" flipV="0">
            <a:off x="4143375" y="519112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4238625" y="52959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4438650" y="52863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位置锚点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5810250" y="519112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79" name=""/>
          <p:cNvSpPr/>
          <p:nvPr/>
        </p:nvSpPr>
        <p:spPr>
          <a:xfrm rot="0" flipH="0" flipV="0">
            <a:off x="5810250" y="519112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5905500" y="52959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6105525" y="52863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口径归属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7477125" y="519112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83" name=""/>
          <p:cNvSpPr/>
          <p:nvPr/>
        </p:nvSpPr>
        <p:spPr>
          <a:xfrm rot="0" flipH="0" flipV="0">
            <a:off x="7477125" y="519112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7572375" y="52959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7772400" y="52863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置信度</a:t>
            </a:r>
            <a:endParaRPr/>
          </a:p>
        </p:txBody>
      </p:sp>
      <p:sp>
        <p:nvSpPr>
          <p:cNvPr id="986" name=""/>
          <p:cNvSpPr/>
          <p:nvPr/>
        </p:nvSpPr>
        <p:spPr>
          <a:xfrm rot="0" flipH="0" flipV="0">
            <a:off x="9144000" y="5191125"/>
            <a:ext cx="157162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987" name=""/>
          <p:cNvSpPr/>
          <p:nvPr/>
        </p:nvSpPr>
        <p:spPr>
          <a:xfrm rot="0" flipH="0" flipV="0">
            <a:off x="9144000" y="5191125"/>
            <a:ext cx="1571625" cy="323850"/>
          </a:xfrm>
          <a:custGeom>
            <a:pathLst>
              <a:path w="165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9239250" y="52959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9439275" y="52863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关联对象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990" name="" descr="&lt;Slide style={{ width: 1280, height: 720, background: '#FFFFFF', padding: '24px 64px 0' }}&gt;&#10;  &lt;Box style={{ height: 96, flexDirection: 'column', justifyContent: 'flex-start' }}&gt;&#10;        &lt;Text style={{ fontSize: 32, fontWeight: 'bold', color: '#0F1423' }}&gt;&#10;     之 AA：&lt;span style={{ color: '#FA4F24' }}&gt;检索拓扑&lt;/span&gt;与上下文装配的编排方式&#10;        &lt;/Text&gt;&#10;      &lt;Text style={{ fontSize: 20, color: '#8A8F99', marginTop: 8 }}&gt;&#10;     知识库对外只暴露一个能力：给定一个问题，装配出一段带出处的上下文&#10;    &lt;/Text&gt;&#10;    &lt;/Box&gt;&#10;    &lt;Box style={{ height: 1, background: '#E8E8E8' }} /&gt;&#10;&#10;    &lt;Box style={{ paddingTop: 14, paddingBottom: 10, height: 479, flexDirection: 'column', gap: 8 }}&gt;&#10;      {/* 四段检索链 */}&#10;      &lt;Box style={{ height: 168, background: '#F7F7F8', borderRadius: 4, padding: '11px 16px', flexDirection: 'column' }}&gt;&#10;      &lt;Text style={{ fontSize: 14, fontWeight: 'bold', color: '#0F1423', marginBottom: 9 }}&gt;标准检索链：四段，顺序不能颠倒&lt;/Text&gt;&#10;        &lt;Box style={{ flexDirection: 'row', alignItems: 'stretch', gap: 8, flex: 1 }}&gt;&#10;    {[&#10;            { n: '① 过滤', t: '先按权限、密级、时效、部门收窄范围', d: '把不该看的排除在外，也把已失效的排除在外', c: '#0F1423' },&#10;            { n: '② 召回', t: '混合检索：向量 + 关键词并行', d: '向量管意思相近，关键词管确切编号与术语', c: '#F87D2F' },&#10;        { n: '③ 重排', t: '按可信等级、时效、场景相关性打分排序', d: '正式制度优先于个人经验，新版优先于旧版', c: '#E0651A' },&#10;     { n: '④ 装配', t: '截断、压缩、补出处、组织成结构化上下文', d: '每段带来源标识、可信等级与预算占用', c: '#FA4F24' },&#10;          ].map((x, i) =&gt; (&#10;      &lt;Box key={x.n} style={{ flex: 1, background: '#FFFFFF', borderRadius: 3, borderTop: '3px solid ' + x.c, padding: '8px 11px' }}&gt;&#10;         &lt;Text style={{ fontSize: 14, fontWeight: 'bold', color: x.c }}&gt;{x.n}&lt;/Text&gt;&#10;   &lt;Text style={{ fontSize: 13, fontWeight: 'bold', color: '#0F1423', marginTop: 4, lineHeight: 1.4 }}&gt;{x.t}&lt;/Text&gt;&#10;      &lt;Text style={{ fontSize: 11, color: '#5A6072', marginTop: 5, lineHeight: 1.4, flex: 1 }}&gt;{x.d}&lt;/Text&gt;&#10;      &lt;/Box&gt;&#10;       ))}&#10;      &lt;/Box&gt;&#10;    &lt;Text style={{ fontSize: 11, color: '#C43A17', marginTop: 8, lineHeight: 1.4 }}&gt;最常见的错误是跳过①直接做②——先检索再过滤，等于把越权内容召回来了再想办法藏，这中间的任何一次日志输出都可能泄露。&lt;/Text&gt;&#10;      &lt;/Box&gt;&#10;&#10;      {/* 三种编排 */}&#10;      &lt;Box style={{ flex: 1, flexDirection: 'row', gap: 8 }}&gt;&#10;        &lt;Box style={{ flex: 1, background: '#FFFFFF', border: '1px solid #E8E8E8', borderRadius: 4, padding: '10px 13px', flexDirection: 'column' }}&gt;&#10;          &lt;Text style={{ fontSize: 14, fontWeight: 'bold', color: '#8A8F99' }}&gt;单库直检&lt;/Text&gt;&#10;          &lt;Text style={{ fontSize: 11, color: '#5A6072', marginTop: 6, lineHeight: 1.5, flex: 1 }}&gt;一个问题只查一个知识域。适合领域边界清晰、库数量少的阶段。&lt;/Text&gt;&#10;       &lt;Text style={{ fontSize: 11, color: '#FA4F24', fontWeight: 'bold' }}&gt;优点：可解释、易调优&lt;/Text&gt;&#10;      &lt;/Box&gt;&#10;        &lt;Box style={{ flex: 1, background: '#FFFFFF', border: '1px solid #E8E8E8', borderRadius: 4, padding: '10px 13px', flexDirection: 'column' }}&gt;&#10;          &lt;Text style={{ fontSize: 14, fontWeight: 'bold', color: '#FBA15C' }}&gt;路由分发&lt;/Text&gt;&#10;     &lt;Text style={{ fontSize: 11, color: '#5A6072', marginTop: 6, lineHeight: 1.5, flex: 1 }}&gt;先判断问题属于哪个域，再进对应库。库数量到十个以上必须做这一步。&lt;/Text&gt;&#10;   &lt;Text style={{ fontSize: 11, color: '#FA4F24', fontWeight: 'bold' }}&gt;关键：路由错了后面全错&lt;/Text&gt;&#10;        &lt;/Box&gt;&#10;   &lt;Box style={{ flex: 1, background: '#FFFFFF', border: '1px solid #E8E8E8', borderRadius: 4, padding: '10px 13px', flexDirection: 'column' }}&gt;&#10;          &lt;Text style={{ fontSize: 14, fontWeight: 'bold', color: '#FA4F24' }}&gt;跨库联合&lt;/Text&gt;&#10;          &lt;Text style={{ fontSize: 11, color: '#5A6072', marginTop: 6, lineHeight: 1.5, flex: 1 }}&gt;一个问题需要多个库交叉验证，比如制度 + 案例 + 现行数据。&lt;/Text&gt;&#10;      &lt;Text style={{ fontSize: 11, color: '#FA4F24', fontWeight: 'bold' }}&gt;关键：必须去重与标冲突&lt;/Text&gt;&#10;   &lt;/Box&gt;&#10;      &lt;/Box&gt;&#10;&#10;      {/* 契约 */}&#10;  &lt;Box style={{ height: 96, background: '#0F1423', borderRadius: 4, padding: '11px 18px', flexDirection: 'row', alignItems: 'center', gap: 16 }}&gt;&#10;        &lt;Text style={{ fontSize: 14, fontWeight: 'bold', color: '#FBA15C', width: 152 }}&gt;装配输出的六项字段&lt;/Text&gt;&#10;        &lt;Box style={{ flex: 1, flexDirection: 'row', gap: 8 }}&gt;&#10;          {['内容片段', '来源标识', '位置锚点', '可信等级', '版本与生效期', '预算占用'].map((t, i) =&gt; (&#10;         &lt;Box key={t} style={{ flex: 1, height: 34, background: 'rgba(255,255,255,0.08)', borderRadius: 3, borderLeft: '3px solid #FA4F24', alignItems: 'center', justifyContent: 'center' }}&gt;&#10;     &lt;Text style={{ fontSize: 11, color: '#FFFFFF', fontWeight: 'bold' }}&gt;{t}&lt;/Text&gt;&#10;            &lt;/Box&gt;&#10;     ))}&#10;        &lt;/Box&gt;&#10;    &lt;Box style={{ width: 250 }}&gt;&#10;          &lt;Text style={{ fontSize: 11, color: 'rgba(255,255,255,0.62)', lineHeight: 1.45 }}&gt;这六项缺一不可：缺来源就没法溯源，缺可信等级就没法排序，缺预算占用就没法控制上下文消耗。&lt;/Text&gt;&#10;        &lt;/Box&gt;&#10;      &lt;/Box&gt;&#10;    &lt;/Box&gt;&#10;&#10;  &lt;Box style={{ height: 58, flexDirection: 'row', alignItems: 'center', borderTop: '1px solid #E8E8E8' }}&gt;&#10;        &lt;Box style={{ width: 10, height: 10, background: '#FA4F24' }} /&gt;&#10; &lt;Text style={{ fontSize: 13, color: '#8A8F99', marginLeft: 12 }}&gt;硕磐机密 · 知识库咨询方法论&lt;/Text&gt;&#10;      &lt;Text style={{ fontSize: 13, color: '#8A8F99', marginLeft: 'auto' }}&gt;2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检索拓扑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与上下文装配的编排方式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知识库对外只暴露一个能力：给定一个问题，装配出一段带出处的上下文</a:t>
            </a:r>
            <a:endParaRPr/>
          </a:p>
        </p:txBody>
      </p:sp>
      <p:sp>
        <p:nvSpPr>
          <p:cNvPr id="99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5" name=""/>
          <p:cNvSpPr/>
          <p:nvPr/>
        </p:nvSpPr>
        <p:spPr>
          <a:xfrm rot="0" flipH="0" flipV="0">
            <a:off x="609600" y="1285875"/>
            <a:ext cx="109728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762000" y="139065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标准检索链：四段，顺序不能颠倒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762000" y="1666875"/>
            <a:ext cx="2609850" cy="88582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8" name=""/>
          <p:cNvSpPr/>
          <p:nvPr/>
        </p:nvSpPr>
        <p:spPr>
          <a:xfrm rot="0" flipH="0" flipV="0">
            <a:off x="762000" y="1666875"/>
            <a:ext cx="2609850" cy="885825"/>
          </a:xfrm>
          <a:custGeom>
            <a:pathLst>
              <a:path w="274" h="93">
                <a:moveTo>
                  <a:pt x="271" y="0"/>
                </a:moveTo>
                <a:cubicBezTo>
                  <a:pt x="273" y="0"/>
                  <a:pt x="274" y="1"/>
                  <a:pt x="27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1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866775" y="17430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过滤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866775" y="19431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先按权限、密级、时效、部门收窄范围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866775" y="220027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把不该看的排除在外，也把已失效的排除在外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3448050" y="1666875"/>
            <a:ext cx="2609850" cy="88582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3" name=""/>
          <p:cNvSpPr/>
          <p:nvPr/>
        </p:nvSpPr>
        <p:spPr>
          <a:xfrm rot="0" flipH="0" flipV="0">
            <a:off x="3448050" y="1666875"/>
            <a:ext cx="2609850" cy="885825"/>
          </a:xfrm>
          <a:custGeom>
            <a:pathLst>
              <a:path w="274" h="93">
                <a:moveTo>
                  <a:pt x="271" y="0"/>
                </a:moveTo>
                <a:cubicBezTo>
                  <a:pt x="273" y="0"/>
                  <a:pt x="274" y="1"/>
                  <a:pt x="27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1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3552825" y="17430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召回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3552825" y="19431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混合检索：向量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关键词并行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3552825" y="220027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向量管意思相近，关键词管确切编号与术语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6134100" y="1666875"/>
            <a:ext cx="2609850" cy="88582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8" name=""/>
          <p:cNvSpPr/>
          <p:nvPr/>
        </p:nvSpPr>
        <p:spPr>
          <a:xfrm rot="0" flipH="0" flipV="0">
            <a:off x="6134100" y="1666875"/>
            <a:ext cx="2609850" cy="885825"/>
          </a:xfrm>
          <a:custGeom>
            <a:pathLst>
              <a:path w="274" h="93">
                <a:moveTo>
                  <a:pt x="271" y="0"/>
                </a:moveTo>
                <a:cubicBezTo>
                  <a:pt x="273" y="0"/>
                  <a:pt x="274" y="1"/>
                  <a:pt x="27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1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6238875" y="17430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0651A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重排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6238875" y="19431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按可信等级、时效、场景相关性打分排序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6238875" y="220027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正式制度优先于个人经验，新版优先于旧版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8820150" y="1666875"/>
            <a:ext cx="2609850" cy="88582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3" name=""/>
          <p:cNvSpPr/>
          <p:nvPr/>
        </p:nvSpPr>
        <p:spPr>
          <a:xfrm rot="0" flipH="0" flipV="0">
            <a:off x="8820150" y="1666875"/>
            <a:ext cx="2609850" cy="885825"/>
          </a:xfrm>
          <a:custGeom>
            <a:pathLst>
              <a:path w="274" h="93">
                <a:moveTo>
                  <a:pt x="271" y="0"/>
                </a:moveTo>
                <a:cubicBezTo>
                  <a:pt x="273" y="0"/>
                  <a:pt x="274" y="1"/>
                  <a:pt x="27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8924925" y="17430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8924925" y="19431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截断、压缩、补出处、组织成结构化上下文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8924925" y="220027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每段带来源标识、可信等级与预算占用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62000" y="2600325"/>
            <a:ext cx="10668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最常见的错误是跳过①直接做②——先检索再过滤，等于把越权内容召回来了再想办法藏，这中间的任何一次日志输出都可能泄露。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609600" y="2962275"/>
            <a:ext cx="3609975" cy="1666875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733425" y="3057525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8F99"/>
                </a:solidFill>
                <a:latin typeface="Microsoft YaHei"/>
                <a:ea typeface="Microsoft YaHei"/>
              </a:rPr>
              <a:t>单库直检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733425" y="3276600"/>
            <a:ext cx="3362325" cy="1123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一个问题只查一个知识域。适合领域边界清晰、库数量少的阶段。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733425" y="4400550"/>
            <a:ext cx="3362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优点：可解释、易调优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4295775" y="2962275"/>
            <a:ext cx="3600450" cy="1666875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4419600" y="3057525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路由分发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4419600" y="3276600"/>
            <a:ext cx="3352800" cy="1123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先判断问题属于哪个域，再进对应库。库数量到十个以上必须做这一步。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4419600" y="4400550"/>
            <a:ext cx="3352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关键：路由错了后面全错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7972425" y="2962275"/>
            <a:ext cx="3609975" cy="1666875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096250" y="3057525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跨库联合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096250" y="3276600"/>
            <a:ext cx="3362325" cy="1123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一个问题需要多个库交叉验证，比如制度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案例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现行数据。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8096250" y="4400550"/>
            <a:ext cx="3362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关键：必须去重与标冲突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609600" y="4705350"/>
            <a:ext cx="10972800" cy="91440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装配输出的六项字段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2409825" y="5000625"/>
            <a:ext cx="101917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033" name=""/>
          <p:cNvSpPr/>
          <p:nvPr/>
        </p:nvSpPr>
        <p:spPr>
          <a:xfrm rot="0" flipH="0" flipV="0">
            <a:off x="2409825" y="5000625"/>
            <a:ext cx="1019175" cy="323850"/>
          </a:xfrm>
          <a:custGeom>
            <a:pathLst>
              <a:path w="107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2695575" y="50958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内容片段</a:t>
            </a:r>
            <a:endParaRPr/>
          </a:p>
        </p:txBody>
      </p:sp>
      <p:sp>
        <p:nvSpPr>
          <p:cNvPr id="1035" name=""/>
          <p:cNvSpPr/>
          <p:nvPr/>
        </p:nvSpPr>
        <p:spPr>
          <a:xfrm rot="0" flipH="0" flipV="0">
            <a:off x="3505200" y="5000625"/>
            <a:ext cx="101917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036" name=""/>
          <p:cNvSpPr/>
          <p:nvPr/>
        </p:nvSpPr>
        <p:spPr>
          <a:xfrm rot="0" flipH="0" flipV="0">
            <a:off x="3505200" y="5000625"/>
            <a:ext cx="1019175" cy="323850"/>
          </a:xfrm>
          <a:custGeom>
            <a:pathLst>
              <a:path w="107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3790950" y="50958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来源标识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4600575" y="5000625"/>
            <a:ext cx="101917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039" name=""/>
          <p:cNvSpPr/>
          <p:nvPr/>
        </p:nvSpPr>
        <p:spPr>
          <a:xfrm rot="0" flipH="0" flipV="0">
            <a:off x="4600575" y="5000625"/>
            <a:ext cx="1019175" cy="323850"/>
          </a:xfrm>
          <a:custGeom>
            <a:pathLst>
              <a:path w="107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4886325" y="50958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位置锚点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5695950" y="5000625"/>
            <a:ext cx="101917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042" name=""/>
          <p:cNvSpPr/>
          <p:nvPr/>
        </p:nvSpPr>
        <p:spPr>
          <a:xfrm rot="0" flipH="0" flipV="0">
            <a:off x="5695950" y="5000625"/>
            <a:ext cx="1019175" cy="323850"/>
          </a:xfrm>
          <a:custGeom>
            <a:pathLst>
              <a:path w="107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5981700" y="50958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可信等级</a:t>
            </a:r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6791325" y="5000625"/>
            <a:ext cx="101917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045" name=""/>
          <p:cNvSpPr/>
          <p:nvPr/>
        </p:nvSpPr>
        <p:spPr>
          <a:xfrm rot="0" flipH="0" flipV="0">
            <a:off x="6791325" y="5000625"/>
            <a:ext cx="1019175" cy="323850"/>
          </a:xfrm>
          <a:custGeom>
            <a:pathLst>
              <a:path w="107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6972300" y="50958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版本与生效期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7886700" y="5000625"/>
            <a:ext cx="1019175" cy="32385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048" name=""/>
          <p:cNvSpPr/>
          <p:nvPr/>
        </p:nvSpPr>
        <p:spPr>
          <a:xfrm rot="0" flipH="0" flipV="0">
            <a:off x="7886700" y="5000625"/>
            <a:ext cx="1019175" cy="323850"/>
          </a:xfrm>
          <a:custGeom>
            <a:pathLst>
              <a:path w="107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8172450" y="50958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预算占用</a:t>
            </a:r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9029700" y="4981575"/>
            <a:ext cx="23812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这六项缺一不可：缺来源就没法溯源，缺可信等级就没法排序，缺预算占用就没法控制上下文消耗。</a:t>
            </a:r>
            <a:endParaRPr/>
          </a:p>
        </p:txBody>
      </p:sp>
      <p:sp>
        <p:nvSpPr>
          <p:cNvPr id="105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5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055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 TA：&lt;span style={{ color: '#FA4F24' }}&gt;运行时与非功能&lt;/span&gt;，四个必须自己盯的指标&#10;    &lt;/Text&gt;&#10;        &lt;Text style={{ fontSize: 20, color: '#8A8F99', marginTop: 8 }}&gt;&#10;     知识库的选型之争往往跑题了，真正要盯的是这四个数能不能压住&#10;        &lt;/Text&gt;&#10;    &lt;/Box&gt;&#10;    &lt;Box style={{ height: 1, background: '#E8E8E8' }} /&gt;&#10;&#10;  &lt;Box style={{ paddingTop: 14, paddingBottom: 10, height: 479, flexDirection: 'column', gap: 8 }}&gt;&#10;      {/* 组件 */}&#10;      &lt;Box style={{ height: 96, background: '#F7F7F8', borderRadius: 4, padding: '10px 14px', flexDirection: 'column' }}&gt;&#10;        &lt;Text style={{ fontSize: 14, fontWeight: 'bold', color: '#0F1423', marginBottom: 7 }}&gt;运行时组件：标「新」的是知识库特有的&lt;/Text&gt;&#10;     &lt;Box style={{ flexDirection: 'row', gap: 5, flex: 1 }}&gt;&#10;          {[&#10;    { t: '源接入', d: '文档 / 系统', c: '#8A8F99' },&#10;    { t: '解析管道', d: '正文提取 · 版面还原', c: '#FBA15C', n: true },&#10;      { t: '切片管道', d: '语义边界切分', c: '#FA4F24', n: true },&#10;   { t: '实体抽取', d: '对象 · 关系 · 出处', c: '#FA4F24', n: true },&#10;    { t: '向量索引', d: '语义召回', c: '#F87D2F' },&#10;   { t: '关键词索引', d: '精确匹配', c: '#F87D2F' },&#10;            { t: '重排服务', d: '可信度 · 时效打分', c: '#E0651A', n: true },&#10;      { t: '密级标记服务', d: '内容级标签', c: '#E0651A', n: true },&#10;  ].map((x, i) =&gt; (&#10;     &lt;Box key={x.t} style={{ flex: 1, background: '#FFFFFF', borderRadius: 3, borderTop: '3px solid ' + x.c, padding: '5px 5px' }}&gt;&#10;     &lt;Text style={{ fontSize: 11, fontWeight: 'bold', color: x.c, textAlign: 'center' }}&gt;{x.t}&lt;/Text&gt;&#10;     &lt;Text style={{ fontSize: 9, color: '#8A8F99', textAlign: 'center', marginTop: 2 }}&gt;{x.d}&lt;/Text&gt;&#10;       &lt;/Box&gt;&#10;   ))}&#10;      &lt;/Box&gt;&#10;      &lt;/Box&gt;&#10;&#10;      {/* 四指标 */}&#10;  &lt;Box style={{ flex: 1, flexDirection: 'row', gap: 8 }}&gt;&#10;   {[&#10;   { t: '召回率', q: '该找到的找到了吗', k: '评测集上人工标注的相关内容被召回的比例', bad: '低召回 → 答不全', how: '先查切片，再查索引，最后查过滤条件', c: '#FA4F24' },&#10;   { t: '准确率', q: '找到的是对的吗', k: '召回内容中真正相关的比例', bad: '低准确 → 被噪声带偏', how: '先看重排打分，再查元数据过滤顺序', c: '#F87D2F' },&#10;          { t: '引用可溯率', q: '能指回原文吗', k: '引用能一键回到原文并高亮对应句的比例', bad: '低溯率 → 不敢用', how: '先查位置锚点是否存了、是否失效', c: '#E0651A' },&#10;      { t: '上下文占用', q: '每次检索花了多少预算', k: '单次供给进提示词的 token 量与占比', bad: '超预算 → 挤掉本体事实', how: '先查召回条数，再查是否做了压缩', c: '#C43A17' },&#10;        ].map((it, i) =&gt; (&#10;      &lt;Box key={it.t} style={{ flex: 1, background: '#F7F7F8', borderRadius: 4, borderLeft: '4px solid ' + it.c, padding: '9px 13px', flexDirection: 'column' }}&gt;&#10;      &lt;Box style={{ flexDirection: 'row', alignItems: 'center', gap: 8 }}&gt;&#10;       &lt;Text style={{ fontSize: 17, fontWeight: 'bold', color: it.c }}&gt;{it.t}&lt;/Text&gt;&#10;   &lt;Text style={{ fontSize: 11, color: '#5A6072', flex: 1 }}&gt;{it.q}&lt;/Text&gt;&#10;    &lt;/Box&gt;&#10;        &lt;Text style={{ fontSize: 11, color: '#3A4050', marginTop: 7, lineHeight: 1.45, flex: 1 }}&gt;{it.k}&lt;/Text&gt;&#10;        &lt;Box style={{ height: 26, background: '#FFFFFF', borderRadius: 3, justifyContent: 'center', padding: '0 9px' }}&gt;&#10;     &lt;Text style={{ fontSize: 10, color: '#C43A17', fontWeight: 'bold' }}&gt;{it.bad}&lt;/Text&gt;&#10;        &lt;/Box&gt;&#10;     &lt;Box style={{ height: 30, background: '#FFF3EE', borderRadius: 3, justifyContent: 'center', padding: '0 9px', marginTop: 5 }}&gt;&#10;         &lt;Text style={{ fontSize: 10, color: '#C43A17', lineHeight: 1.35 }}&gt;{it.how}&lt;/Text&gt;&#10;        &lt;/Box&gt;&#10; &lt;/Box&gt;&#10;        ))}&#10;      &lt;/Box&gt;&#10;&#10;      {/* 选型立场 */}&#10;      &lt;Box style={{ height: 116, background: '#0F1423', borderRadius: 4, padding: '12px 18px', flexDirection: 'row', alignItems: 'center', gap: 16 }}&gt;&#10;        &lt;Text style={{ fontSize: 14, fontWeight: 'bold', color: '#FBA15C', width: 148 }}&gt;关于向量库选型的立场&lt;/Text&gt;&#10;     &lt;Box style={{ flex: 1, flexDirection: 'row', gap: 9 }}&gt;&#10;     {[&#10;   { t: '先不谈选型', d: '先把评测集做出来，再看哪个库能过线。没有评测集的选型讨论都是拍脑袋' },&#10;     { t: '别只看召回率', d: '企业场景的瓶颈常在过滤与重排，不在向量库本身的检索质量' },&#10;        { t: '别忘了元数据', d: '缺少可靠的元数据支撑，再好的向量库也做不了权限与时效过滤' },&#10;    ].map((x, i) =&gt; (&#10;   &lt;Box key={x.t} style={{ flex: 1, background: 'rgba(255,255,255,0.07)', borderRadius: 3, borderLeft: '3px solid #FA4F24', padding: '8px 11px' }}&gt;&#10;     &lt;Text style={{ fontSize: 13, fontWeight: 'bold', color: '#FFFFFF' }}&gt;{x.t}&lt;/Text&gt;&#10;      &lt;Text style={{ fontSize: 11, color: 'rgba(255,255,255,0.62)', marginTop: 4, lineHeight: 1.45 }}&gt;{x.d}&lt;/Text&gt;&#10;    &lt;/Box&gt;&#10;    ))}&#10;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2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TA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运行时与非功能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，四个必须自己盯的指标</a:t>
            </a:r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知识库的选型之争往往跑题了，真正要盯的是这四个数能不能压住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60" name=""/>
          <p:cNvSpPr/>
          <p:nvPr/>
        </p:nvSpPr>
        <p:spPr>
          <a:xfrm rot="0" flipH="0" flipV="0">
            <a:off x="609600" y="1285875"/>
            <a:ext cx="109728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742950" y="1381125"/>
            <a:ext cx="1070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运行时组件：标「新」的是知识库特有的</a:t>
            </a:r>
            <a:endParaRPr/>
          </a:p>
        </p:txBody>
      </p:sp>
      <p:sp>
        <p:nvSpPr>
          <p:cNvPr id="1062" name=""/>
          <p:cNvSpPr/>
          <p:nvPr/>
        </p:nvSpPr>
        <p:spPr>
          <a:xfrm rot="0" flipH="0" flipV="0">
            <a:off x="742950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3" name=""/>
          <p:cNvSpPr/>
          <p:nvPr/>
        </p:nvSpPr>
        <p:spPr>
          <a:xfrm rot="0" flipH="0" flipV="0">
            <a:off x="742950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790575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8A8F99"/>
                </a:solidFill>
                <a:latin typeface="Microsoft YaHei"/>
                <a:ea typeface="Microsoft YaHei"/>
              </a:rPr>
              <a:t>源接入</a:t>
            </a:r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790575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文档</a:t>
            </a:r>
            <a:r>
              <a:rPr lang="en-US" sz="675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066" name=""/>
          <p:cNvSpPr/>
          <p:nvPr/>
        </p:nvSpPr>
        <p:spPr>
          <a:xfrm rot="0" flipH="0" flipV="0">
            <a:off x="2085975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7" name=""/>
          <p:cNvSpPr/>
          <p:nvPr/>
        </p:nvSpPr>
        <p:spPr>
          <a:xfrm rot="0" flipH="0" flipV="0">
            <a:off x="2085975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2133600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解析管道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2133600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正文提取</a:t>
            </a:r>
            <a:r>
              <a:rPr lang="en-US" sz="6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版面还原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3429000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1" name=""/>
          <p:cNvSpPr/>
          <p:nvPr/>
        </p:nvSpPr>
        <p:spPr>
          <a:xfrm rot="0" flipH="0" flipV="0">
            <a:off x="3429000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3476625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切片管道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3476625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语义边界切分</a:t>
            </a:r>
            <a:endParaRPr/>
          </a:p>
        </p:txBody>
      </p:sp>
      <p:sp>
        <p:nvSpPr>
          <p:cNvPr id="1074" name=""/>
          <p:cNvSpPr/>
          <p:nvPr/>
        </p:nvSpPr>
        <p:spPr>
          <a:xfrm rot="0" flipH="0" flipV="0">
            <a:off x="4772025" y="1638300"/>
            <a:ext cx="1304925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5" name=""/>
          <p:cNvSpPr/>
          <p:nvPr/>
        </p:nvSpPr>
        <p:spPr>
          <a:xfrm rot="0" flipH="0" flipV="0">
            <a:off x="4772025" y="1638300"/>
            <a:ext cx="1304925" cy="495300"/>
          </a:xfrm>
          <a:custGeom>
            <a:pathLst>
              <a:path w="137" h="52">
                <a:moveTo>
                  <a:pt x="134" y="0"/>
                </a:moveTo>
                <a:cubicBezTo>
                  <a:pt x="136" y="0"/>
                  <a:pt x="137" y="1"/>
                  <a:pt x="13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4819650" y="1685925"/>
            <a:ext cx="12096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实体抽取</a:t>
            </a:r>
            <a:endParaRPr/>
          </a:p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4819650" y="1838325"/>
            <a:ext cx="1209675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对象</a:t>
            </a:r>
            <a:r>
              <a:rPr lang="en-US" sz="6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关系</a:t>
            </a:r>
            <a:r>
              <a:rPr lang="en-US" sz="6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出处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6124575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9" name=""/>
          <p:cNvSpPr/>
          <p:nvPr/>
        </p:nvSpPr>
        <p:spPr>
          <a:xfrm rot="0" flipH="0" flipV="0">
            <a:off x="6124575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6172200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F87D2F"/>
                </a:solidFill>
                <a:latin typeface="Microsoft YaHei"/>
                <a:ea typeface="Microsoft YaHei"/>
              </a:rPr>
              <a:t>向量索引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6172200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语义召回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7467600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3" name=""/>
          <p:cNvSpPr/>
          <p:nvPr/>
        </p:nvSpPr>
        <p:spPr>
          <a:xfrm rot="0" flipH="0" flipV="0">
            <a:off x="7467600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7515225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F87D2F"/>
                </a:solidFill>
                <a:latin typeface="Microsoft YaHei"/>
                <a:ea typeface="Microsoft YaHei"/>
              </a:rPr>
              <a:t>关键词索引</a:t>
            </a:r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7515225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精确匹配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8810625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7" name=""/>
          <p:cNvSpPr/>
          <p:nvPr/>
        </p:nvSpPr>
        <p:spPr>
          <a:xfrm rot="0" flipH="0" flipV="0">
            <a:off x="8810625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8858250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E0651A"/>
                </a:solidFill>
                <a:latin typeface="Microsoft YaHei"/>
                <a:ea typeface="Microsoft YaHei"/>
              </a:rPr>
              <a:t>重排服务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8858250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可信度</a:t>
            </a:r>
            <a:r>
              <a:rPr lang="en-US" sz="6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时效打分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10153650" y="1638300"/>
            <a:ext cx="12954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1" name=""/>
          <p:cNvSpPr/>
          <p:nvPr/>
        </p:nvSpPr>
        <p:spPr>
          <a:xfrm rot="0" flipH="0" flipV="0">
            <a:off x="10153650" y="1638300"/>
            <a:ext cx="1295400" cy="495300"/>
          </a:xfrm>
          <a:custGeom>
            <a:pathLst>
              <a:path w="136" h="52">
                <a:moveTo>
                  <a:pt x="133" y="0"/>
                </a:moveTo>
                <a:cubicBezTo>
                  <a:pt x="135" y="0"/>
                  <a:pt x="136" y="1"/>
                  <a:pt x="13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3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10201275" y="1685925"/>
            <a:ext cx="12001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E0651A"/>
                </a:solidFill>
                <a:latin typeface="Microsoft YaHei"/>
                <a:ea typeface="Microsoft YaHei"/>
              </a:rPr>
              <a:t>密级标记服务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0201275" y="1838325"/>
            <a:ext cx="1200150" cy="104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675">
                <a:solidFill>
                  <a:srgbClr val="8A8F99"/>
                </a:solidFill>
                <a:latin typeface="Microsoft YaHei"/>
                <a:ea typeface="Microsoft YaHei"/>
              </a:rPr>
              <a:t>内容级标签</a:t>
            </a:r>
            <a:endParaRPr/>
          </a:p>
        </p:txBody>
      </p:sp>
      <p:sp>
        <p:nvSpPr>
          <p:cNvPr id="1094" name=""/>
          <p:cNvSpPr/>
          <p:nvPr/>
        </p:nvSpPr>
        <p:spPr>
          <a:xfrm rot="0" flipH="0" flipV="0">
            <a:off x="647700" y="2276475"/>
            <a:ext cx="2686050" cy="2162175"/>
          </a:xfrm>
          <a:prstGeom prst="roundRect">
            <a:avLst>
              <a:gd name="adj" fmla="val 1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5" name=""/>
          <p:cNvSpPr/>
          <p:nvPr/>
        </p:nvSpPr>
        <p:spPr>
          <a:xfrm rot="0" flipH="0" flipV="0">
            <a:off x="647700" y="2276475"/>
            <a:ext cx="2686050" cy="2162175"/>
          </a:xfrm>
          <a:custGeom>
            <a:pathLst>
              <a:path w="282" h="227">
                <a:moveTo>
                  <a:pt x="4" y="227"/>
                </a:moveTo>
                <a:cubicBezTo>
                  <a:pt x="2" y="227"/>
                  <a:pt x="0" y="225"/>
                  <a:pt x="0" y="22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771525" y="23622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召回率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1333500" y="2400300"/>
            <a:ext cx="1838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该找到的找到了吗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771525" y="2628900"/>
            <a:ext cx="2400300" cy="11430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评测集上人工标注的相关内容被召回的比例</a:t>
            </a:r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771525" y="3771900"/>
            <a:ext cx="24003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857250" y="3838575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低召回</a:t>
            </a:r>
            <a:r>
              <a:rPr lang="en-US" sz="7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答不全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771525" y="4067175"/>
            <a:ext cx="2400300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857250" y="413385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先查切片，再查索引，最后查过滤条件</a:t>
            </a:r>
            <a:endParaRPr/>
          </a:p>
        </p:txBody>
      </p:sp>
      <p:sp>
        <p:nvSpPr>
          <p:cNvPr id="1103" name=""/>
          <p:cNvSpPr/>
          <p:nvPr/>
        </p:nvSpPr>
        <p:spPr>
          <a:xfrm rot="0" flipH="0" flipV="0">
            <a:off x="3409950" y="2276475"/>
            <a:ext cx="2686050" cy="2162175"/>
          </a:xfrm>
          <a:prstGeom prst="roundRect">
            <a:avLst>
              <a:gd name="adj" fmla="val 1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4" name=""/>
          <p:cNvSpPr/>
          <p:nvPr/>
        </p:nvSpPr>
        <p:spPr>
          <a:xfrm rot="0" flipH="0" flipV="0">
            <a:off x="3409950" y="2276475"/>
            <a:ext cx="2686050" cy="2162175"/>
          </a:xfrm>
          <a:custGeom>
            <a:pathLst>
              <a:path w="282" h="227">
                <a:moveTo>
                  <a:pt x="4" y="227"/>
                </a:moveTo>
                <a:cubicBezTo>
                  <a:pt x="2" y="227"/>
                  <a:pt x="0" y="225"/>
                  <a:pt x="0" y="22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3533775" y="23622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7D2F"/>
                </a:solidFill>
                <a:latin typeface="Microsoft YaHei"/>
                <a:ea typeface="Microsoft YaHei"/>
              </a:rPr>
              <a:t>准确率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4095750" y="2400300"/>
            <a:ext cx="1838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找到的是对的吗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3533775" y="2628900"/>
            <a:ext cx="2400300" cy="11430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召回内容中真正相关的比例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3533775" y="3771900"/>
            <a:ext cx="24003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3619500" y="3838575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低准确</a:t>
            </a:r>
            <a:r>
              <a:rPr lang="en-US" sz="7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被噪声带偏</a:t>
            </a:r>
            <a:endParaRPr/>
          </a:p>
        </p:txBody>
      </p:sp>
      <p:sp>
        <p:nvSpPr>
          <p:cNvPr id="1110" name=""/>
          <p:cNvSpPr/>
          <p:nvPr/>
        </p:nvSpPr>
        <p:spPr>
          <a:xfrm rot="0" flipH="0" flipV="0">
            <a:off x="3533775" y="4067175"/>
            <a:ext cx="2400300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3619500" y="413385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先看重排打分，再查元数据过滤顺序</a:t>
            </a:r>
            <a:endParaRPr/>
          </a:p>
        </p:txBody>
      </p:sp>
      <p:sp>
        <p:nvSpPr>
          <p:cNvPr id="1112" name=""/>
          <p:cNvSpPr/>
          <p:nvPr/>
        </p:nvSpPr>
        <p:spPr>
          <a:xfrm rot="0" flipH="0" flipV="0">
            <a:off x="6172200" y="2276475"/>
            <a:ext cx="2686050" cy="2162175"/>
          </a:xfrm>
          <a:prstGeom prst="roundRect">
            <a:avLst>
              <a:gd name="adj" fmla="val 1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3" name=""/>
          <p:cNvSpPr/>
          <p:nvPr/>
        </p:nvSpPr>
        <p:spPr>
          <a:xfrm rot="0" flipH="0" flipV="0">
            <a:off x="6172200" y="2276475"/>
            <a:ext cx="2686050" cy="2162175"/>
          </a:xfrm>
          <a:custGeom>
            <a:pathLst>
              <a:path w="282" h="227">
                <a:moveTo>
                  <a:pt x="4" y="227"/>
                </a:moveTo>
                <a:cubicBezTo>
                  <a:pt x="2" y="227"/>
                  <a:pt x="0" y="225"/>
                  <a:pt x="0" y="22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7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6296025" y="23622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651A"/>
                </a:solidFill>
                <a:latin typeface="Microsoft YaHei"/>
                <a:ea typeface="Microsoft YaHei"/>
              </a:rPr>
              <a:t>引用可溯率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7181850" y="2400300"/>
            <a:ext cx="1514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能指回原文吗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6296025" y="2628900"/>
            <a:ext cx="2400300" cy="11430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引用能一键回到原文并高亮对应句的比例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6296025" y="3771900"/>
            <a:ext cx="24003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6381750" y="3838575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低溯率</a:t>
            </a:r>
            <a:r>
              <a:rPr lang="en-US" sz="7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不敢用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6296025" y="4067175"/>
            <a:ext cx="2400300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6381750" y="413385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先查位置锚点是否存了、是否失效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8934450" y="2276475"/>
            <a:ext cx="2686050" cy="2162175"/>
          </a:xfrm>
          <a:prstGeom prst="roundRect">
            <a:avLst>
              <a:gd name="adj" fmla="val 1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2" name=""/>
          <p:cNvSpPr/>
          <p:nvPr/>
        </p:nvSpPr>
        <p:spPr>
          <a:xfrm rot="0" flipH="0" flipV="0">
            <a:off x="8934450" y="2276475"/>
            <a:ext cx="2686050" cy="2162175"/>
          </a:xfrm>
          <a:custGeom>
            <a:pathLst>
              <a:path w="282" h="227">
                <a:moveTo>
                  <a:pt x="4" y="227"/>
                </a:moveTo>
                <a:cubicBezTo>
                  <a:pt x="2" y="227"/>
                  <a:pt x="0" y="225"/>
                  <a:pt x="0" y="22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7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9058275" y="23622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上下文占用</a:t>
            </a:r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9944100" y="2400300"/>
            <a:ext cx="1514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每次检索花了多少预算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9058275" y="2628900"/>
            <a:ext cx="2400300" cy="11430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单次供给进提示词的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量与占比</a:t>
            </a:r>
            <a:endParaRPr/>
          </a:p>
        </p:txBody>
      </p:sp>
      <p:sp>
        <p:nvSpPr>
          <p:cNvPr id="1126" name=""/>
          <p:cNvSpPr/>
          <p:nvPr/>
        </p:nvSpPr>
        <p:spPr>
          <a:xfrm rot="0" flipH="0" flipV="0">
            <a:off x="9058275" y="3771900"/>
            <a:ext cx="24003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9144000" y="3838575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超预算</a:t>
            </a:r>
            <a:r>
              <a:rPr lang="en-US" sz="7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挤掉本体事实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9058275" y="4067175"/>
            <a:ext cx="2400300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9144000" y="413385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先查召回条数，再查是否做了压缩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609600" y="4514850"/>
            <a:ext cx="1097280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781050" y="499110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关于向量库选型的立场</a:t>
            </a:r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2371725" y="4714875"/>
            <a:ext cx="2962275" cy="714375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33" name=""/>
          <p:cNvSpPr/>
          <p:nvPr/>
        </p:nvSpPr>
        <p:spPr>
          <a:xfrm rot="0" flipH="0" flipV="0">
            <a:off x="2371725" y="4714875"/>
            <a:ext cx="2962275" cy="714375"/>
          </a:xfrm>
          <a:custGeom>
            <a:pathLst>
              <a:path w="311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2476500" y="4791075"/>
            <a:ext cx="2724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先不谈选型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2476500" y="4981575"/>
            <a:ext cx="27241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先把评测集做出来，再看哪个库能过线。没有评测集的选型讨论都是拍脑袋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5419725" y="4714875"/>
            <a:ext cx="2971800" cy="714375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37" name=""/>
          <p:cNvSpPr/>
          <p:nvPr/>
        </p:nvSpPr>
        <p:spPr>
          <a:xfrm rot="0" flipH="0" flipV="0">
            <a:off x="5419725" y="4714875"/>
            <a:ext cx="2971800" cy="714375"/>
          </a:xfrm>
          <a:custGeom>
            <a:pathLst>
              <a:path w="312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5524500" y="4791075"/>
            <a:ext cx="2733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别只看召回率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5524500" y="4981575"/>
            <a:ext cx="27336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企业场景的瓶颈常在过滤与重排，不在向量库本身的检索质量</a:t>
            </a:r>
            <a:endParaRPr/>
          </a:p>
        </p:txBody>
      </p:sp>
      <p:sp>
        <p:nvSpPr>
          <p:cNvPr id="1140" name=""/>
          <p:cNvSpPr/>
          <p:nvPr/>
        </p:nvSpPr>
        <p:spPr>
          <a:xfrm rot="0" flipH="0" flipV="0">
            <a:off x="8477250" y="4714875"/>
            <a:ext cx="2962275" cy="714375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41" name=""/>
          <p:cNvSpPr/>
          <p:nvPr/>
        </p:nvSpPr>
        <p:spPr>
          <a:xfrm rot="0" flipH="0" flipV="0">
            <a:off x="8477250" y="4714875"/>
            <a:ext cx="2962275" cy="714375"/>
          </a:xfrm>
          <a:custGeom>
            <a:pathLst>
              <a:path w="311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8582025" y="4791075"/>
            <a:ext cx="2724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别忘了元数据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8582025" y="4981575"/>
            <a:ext cx="27241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缺少可靠的元数据支撑，再好的向量库也做不了权限与时效过滤</a:t>
            </a:r>
            <a:endParaRPr/>
          </a:p>
        </p:txBody>
      </p:sp>
      <p:sp>
        <p:nvSpPr>
          <p:cNvPr id="114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4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148" name="" descr="&lt;Slide style={{ width: 1280, height: 720, background: '#FFFFFF', padding: '24px 64px 0' }}&gt;&#10;    &lt;Box style={{ height: 96, flexDirection: 'column', justifyContent: 'flex-start' }}&gt;&#10;  &lt;Text style={{ fontSize: 32, fontWeight: 'bold', color: '#0F1423' }}&gt;&#10; 之闸门：&lt;span style={{ color: '#FA4F24' }}&gt;知识库五道门&lt;/span&gt;，每道都能在内部自行验证&#10;        &lt;/Text&gt;&#10;        &lt;Text style={{ fontSize: 20, color: '#8A8F99', marginTop: 8 }}&gt;&#10;     这五道门不需要外部安全团队参与，业务侧自己就能跑，但绝大多数单位没跑过&#10;        &lt;/Text&gt;&#10;    &lt;/Box&gt;&#10;    &lt;Box style={{ height: 1, background: '#E8E8E8' }} /&gt;&#10;&#10;    &lt;Box style={{ paddingTop: 14, paddingBottom: 10, height: 479, flexDirection: 'column', gap: 8 }}&gt;&#10;      {[&#10;        { n: '第一道', t: '时效门', q: '过期内容还会被召回吗？', how: '在库里放一条三个月的旧制度，看是否还能被检索到', c: '#FA4F24' },&#10;     { n: '第二道', t: '冲突门', q: '同口径两种说法会怎么处理？', how: '故意造两条矛盾内容，看系统是合并、报错还是显式告知冲突', c: '#F87D2F' },&#10;     { n: '第三道', t: '权限门', q: '检索前过滤，还是检索后隐藏？', how: '用一个无权限账号检索受限内容，看是否能召回、能读出正文', c: '#E0651A' },&#10;        { n: '第四道', t: '溯源门', q: '引用能不能一键回到原文？', how: '随机抽二十条引用，验证定位准确、版本正确、无死链', c: '#C43A17' },&#10;        { n: '第五道', t: '空值门', q: '找不到时它会承认吗？', how: '问一个库里确实没有的问题，看是编造还是明确说没找到', c: '#0F1423' },&#10;      ].map((it, i) =&gt; (&#10;        &lt;Box key={it.n} style={{ flex: 1, background: '#F7F7F8', borderRadius: 4, borderLeft: '5px solid ' + it.c, padding: '9px 16px', flexDirection: 'row', alignItems: 'center', gap: 14 }}&gt;&#10;          &lt;Text style={{ fontSize: 13, fontWeight: 'bold', color: it.c, width: 56 }}&gt;{it.n}&lt;/Text&gt;&#10;          &lt;Text style={{ fontSize: 17, fontWeight: 'bold', color: '#0F1423', width: 88 }}&gt;{it.t}&lt;/Text&gt;&#10;      &lt;Box style={{ flex: 1, height: 40, background: '#FFFFFF', borderRadius: 3, padding: '0 12px', justifyContent: 'center' }}&gt;&#10;            &lt;Text style={{ fontSize: 13, color: '#0F1423' }}&gt;{it.q}&lt;/Text&gt;&#10;       &lt;/Box&gt;&#10;          &lt;Box style={{ width: 456, height: 40, background: '#FFF3EE', borderRadius: 3, padding: '0 12px', justifyContent: 'center', flexDirection: 'row', alignItems: 'center', gap: 9 }}&gt;&#10;            &lt;Text style={{ fontSize: 11, fontWeight: 'bold', color: '#C43A17' }}&gt;怎么测&lt;/Text&gt;&#10;            &lt;Text style={{ fontSize: 11, color: '#5A6072', flex: 1, lineHeight: 1.35 }}&gt;{it.how}&lt;/Text&gt;&#10;&lt;/Box&gt;&#10;        &lt;/Box&gt;&#10;      ))}&#10;&#10;  &lt;Box style={{ height: 108, flexDirection: 'row', gap: 8 }}&gt;&#10;   &lt;Box style={{ flex: 1, background: '#0F1423', borderRadius: 4, padding: '11px 16px', flexDirection: 'column', justifyContent: 'center' }}&gt;&#10;   &lt;Text style={{ fontSize: 14, fontWeight: 'bold', color: '#FBA15C' }}&gt;通过线怎么定&lt;/Text&gt;&#10;          &lt;Text style={{ fontSize: 12, color: 'rgba(255,255,255,0.9)', marginTop: 7, lineHeight: 1.55 }}&gt;&#10;    时效门与权限门必须 100%，一条不过就不许对内开放；冲突门要求系统必须显式告知冲突，不接受自行合并；溯源门要求抽样溯源率不低于 95%；空值门要求无依据时必须明确说没找到，不接受「据推测」。&#10;    &lt;/Text&gt;&#10;      &lt;/Box&gt;&#10;   &lt;Box style={{ width: 300, background: '#FFF3EE', borderRadius: 4, borderLeft: '4px solid #FA4F24', padding: '11px 16px', flexDirection: 'column', justifyContent: 'center' }}&gt;&#10;    &lt;Text style={{ fontSize: 13, fontWeight: 'bold', color: '#C43A17' }}&gt;第五道门最常被忽略&lt;/Text&gt;&#10;          &lt;Text style={{ fontSize: 11, color: '#5A6072', marginTop: 6, lineHeight: 1.5 }}&gt;企业里绝大多数幻觉不是出现在「找不到还硬答」，而是出现在「有一条弱相关的内容，模型顺着它编」。所以要测的是弱相关召回时的表现。&lt;/Text&gt;&#10;        &lt;/Box&gt;&#10;      &lt;/Box&gt;&#10;    &lt;/Box&gt;&#10;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2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之闸门：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知识库五道门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，每道都能在内部自行验证</a:t>
            </a:r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这五道门不需要外部安全团队参与，业务侧自己就能跑，但绝大多数单位没跑过</a:t>
            </a:r>
            <a:endParaRPr/>
          </a:p>
        </p:txBody>
      </p:sp>
      <p:sp>
        <p:nvSpPr>
          <p:cNvPr id="11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53" name=""/>
          <p:cNvSpPr/>
          <p:nvPr/>
        </p:nvSpPr>
        <p:spPr>
          <a:xfrm rot="0" flipH="0" flipV="0">
            <a:off x="657225" y="1285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54" name=""/>
          <p:cNvSpPr/>
          <p:nvPr/>
        </p:nvSpPr>
        <p:spPr>
          <a:xfrm rot="0" flipH="0" flipV="0">
            <a:off x="657225" y="1285875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809625" y="150495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第一道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1476375" y="147637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时效门</a:t>
            </a:r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2447925" y="1390650"/>
            <a:ext cx="45053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2562225" y="1504950"/>
            <a:ext cx="427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过期内容还会被召回吗？</a:t>
            </a:r>
            <a:endParaRPr/>
          </a:p>
        </p:txBody>
      </p:sp>
      <p:sp>
        <p:nvSpPr>
          <p:cNvPr id="1159" name=""/>
          <p:cNvSpPr/>
          <p:nvPr/>
        </p:nvSpPr>
        <p:spPr>
          <a:xfrm rot="0" flipH="0" flipV="0">
            <a:off x="7086600" y="1390650"/>
            <a:ext cx="43434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7200900" y="15144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7600950" y="14954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在库里放一条三个月的旧制度，看是否还能被检索到</a:t>
            </a:r>
            <a:endParaRPr/>
          </a:p>
        </p:txBody>
      </p:sp>
      <p:sp>
        <p:nvSpPr>
          <p:cNvPr id="1162" name=""/>
          <p:cNvSpPr/>
          <p:nvPr/>
        </p:nvSpPr>
        <p:spPr>
          <a:xfrm rot="0" flipH="0" flipV="0">
            <a:off x="657225" y="194310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3" name=""/>
          <p:cNvSpPr/>
          <p:nvPr/>
        </p:nvSpPr>
        <p:spPr>
          <a:xfrm rot="0" flipH="0" flipV="0">
            <a:off x="657225" y="1943100"/>
            <a:ext cx="10972800" cy="590550"/>
          </a:xfrm>
          <a:custGeom>
            <a:pathLst>
              <a:path w="1152" h="62">
                <a:moveTo>
                  <a:pt x="5" y="62"/>
                </a:moveTo>
                <a:cubicBezTo>
                  <a:pt x="4" y="62"/>
                  <a:pt x="3" y="62"/>
                  <a:pt x="2" y="61"/>
                </a:cubicBezTo>
                <a:cubicBezTo>
                  <a:pt x="1" y="61"/>
                  <a:pt x="0" y="60"/>
                  <a:pt x="0" y="58"/>
                </a:cubicBezTo>
                <a:lnTo>
                  <a:pt x="0" y="58"/>
                </a:lnTo>
                <a:lnTo>
                  <a:pt x="0" y="5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809625" y="216217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87D2F"/>
                </a:solidFill>
                <a:latin typeface="Microsoft YaHei"/>
                <a:ea typeface="Microsoft YaHei"/>
              </a:rPr>
              <a:t>第二道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1476375" y="214312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冲突门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2447925" y="2047875"/>
            <a:ext cx="45053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2562225" y="2162175"/>
            <a:ext cx="427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同口径两种说法会怎么处理？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7086600" y="2047875"/>
            <a:ext cx="43434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7200900" y="21717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7600950" y="215265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故意造两条矛盾内容，看系统是合并、报错还是显式告知冲突</a:t>
            </a:r>
            <a:endParaRPr/>
          </a:p>
        </p:txBody>
      </p:sp>
      <p:sp>
        <p:nvSpPr>
          <p:cNvPr id="1171" name=""/>
          <p:cNvSpPr/>
          <p:nvPr/>
        </p:nvSpPr>
        <p:spPr>
          <a:xfrm rot="0" flipH="0" flipV="0">
            <a:off x="657225" y="2609850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72" name=""/>
          <p:cNvSpPr/>
          <p:nvPr/>
        </p:nvSpPr>
        <p:spPr>
          <a:xfrm rot="0" flipH="0" flipV="0">
            <a:off x="657225" y="2609850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809625" y="282892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51A"/>
                </a:solidFill>
                <a:latin typeface="Microsoft YaHei"/>
                <a:ea typeface="Microsoft YaHei"/>
              </a:rPr>
              <a:t>第三道</a:t>
            </a:r>
            <a:endParaRPr/>
          </a:p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1476375" y="2800350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权限门</a:t>
            </a:r>
            <a:endParaRPr/>
          </a:p>
        </p:txBody>
      </p:sp>
      <p:sp>
        <p:nvSpPr>
          <p:cNvPr id="1175" name=""/>
          <p:cNvSpPr/>
          <p:nvPr/>
        </p:nvSpPr>
        <p:spPr>
          <a:xfrm rot="0" flipH="0" flipV="0">
            <a:off x="2447925" y="2714625"/>
            <a:ext cx="45053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2562225" y="2828925"/>
            <a:ext cx="427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检索前过滤，还是检索后隐藏？</a:t>
            </a:r>
            <a:endParaRPr/>
          </a:p>
        </p:txBody>
      </p:sp>
      <p:sp>
        <p:nvSpPr>
          <p:cNvPr id="1177" name=""/>
          <p:cNvSpPr/>
          <p:nvPr/>
        </p:nvSpPr>
        <p:spPr>
          <a:xfrm rot="0" flipH="0" flipV="0">
            <a:off x="7086600" y="2714625"/>
            <a:ext cx="43434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7200900" y="28384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7600950" y="28194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用一个无权限账号检索受限内容，看是否能召回、能读出正文</a:t>
            </a:r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657225" y="3267075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81" name=""/>
          <p:cNvSpPr/>
          <p:nvPr/>
        </p:nvSpPr>
        <p:spPr>
          <a:xfrm rot="0" flipH="0" flipV="0">
            <a:off x="657225" y="3267075"/>
            <a:ext cx="10972800" cy="590550"/>
          </a:xfrm>
          <a:custGeom>
            <a:pathLst>
              <a:path w="1152" h="62">
                <a:moveTo>
                  <a:pt x="5" y="62"/>
                </a:moveTo>
                <a:cubicBezTo>
                  <a:pt x="4" y="62"/>
                  <a:pt x="3" y="62"/>
                  <a:pt x="2" y="61"/>
                </a:cubicBezTo>
                <a:cubicBezTo>
                  <a:pt x="1" y="61"/>
                  <a:pt x="0" y="60"/>
                  <a:pt x="0" y="58"/>
                </a:cubicBezTo>
                <a:lnTo>
                  <a:pt x="0" y="58"/>
                </a:lnTo>
                <a:lnTo>
                  <a:pt x="0" y="5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809625" y="348615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第四道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1476375" y="3467100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溯源门</a:t>
            </a:r>
            <a:endParaRPr/>
          </a:p>
        </p:txBody>
      </p:sp>
      <p:sp>
        <p:nvSpPr>
          <p:cNvPr id="1184" name=""/>
          <p:cNvSpPr/>
          <p:nvPr/>
        </p:nvSpPr>
        <p:spPr>
          <a:xfrm rot="0" flipH="0" flipV="0">
            <a:off x="2447925" y="3371850"/>
            <a:ext cx="45053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2562225" y="3486150"/>
            <a:ext cx="427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引用能不能一键回到原文？</a:t>
            </a:r>
            <a:endParaRPr/>
          </a:p>
        </p:txBody>
      </p:sp>
      <p:sp>
        <p:nvSpPr>
          <p:cNvPr id="1186" name=""/>
          <p:cNvSpPr/>
          <p:nvPr/>
        </p:nvSpPr>
        <p:spPr>
          <a:xfrm rot="0" flipH="0" flipV="0">
            <a:off x="7086600" y="3371850"/>
            <a:ext cx="43434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7200900" y="34956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7600950" y="34766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随机抽二十条引用，验证定位准确、版本正确、无死链</a:t>
            </a:r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657225" y="393382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90" name=""/>
          <p:cNvSpPr/>
          <p:nvPr/>
        </p:nvSpPr>
        <p:spPr>
          <a:xfrm rot="0" flipH="0" flipV="0">
            <a:off x="657225" y="3933825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809625" y="41529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第五道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1476375" y="4124325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空值门</a:t>
            </a:r>
            <a:endParaRPr/>
          </a:p>
        </p:txBody>
      </p:sp>
      <p:sp>
        <p:nvSpPr>
          <p:cNvPr id="1193" name=""/>
          <p:cNvSpPr/>
          <p:nvPr/>
        </p:nvSpPr>
        <p:spPr>
          <a:xfrm rot="0" flipH="0" flipV="0">
            <a:off x="2447925" y="4038600"/>
            <a:ext cx="45053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2562225" y="4152900"/>
            <a:ext cx="427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找不到时它会承认吗？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7086600" y="4038600"/>
            <a:ext cx="4343400" cy="381000"/>
          </a:xfrm>
          <a:prstGeom prst="roundRect">
            <a:avLst>
              <a:gd name="adj" fmla="val 7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7200900" y="41624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7600950" y="414337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问一个库里确实没有的问题，看是编造还是明确说没找到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609600" y="4591050"/>
            <a:ext cx="8039100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762000" y="4781550"/>
            <a:ext cx="773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通过线怎么定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762000" y="5010150"/>
            <a:ext cx="77343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时效门与权限门必须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100%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，一条不过就不许对内开放；冲突门要求系统必须显式告知冲突，不接受自行合并；溯源门要求抽样溯源率不低于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95%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；空值门要求无依据时必须明确说没找到，不接受「据推测」。</a:t>
            </a:r>
            <a:endParaRPr/>
          </a:p>
        </p:txBody>
      </p:sp>
      <p:sp>
        <p:nvSpPr>
          <p:cNvPr id="1201" name=""/>
          <p:cNvSpPr/>
          <p:nvPr/>
        </p:nvSpPr>
        <p:spPr>
          <a:xfrm rot="0" flipH="0" flipV="0">
            <a:off x="8763000" y="4591050"/>
            <a:ext cx="2819400" cy="1028700"/>
          </a:xfrm>
          <a:prstGeom prst="roundRect">
            <a:avLst>
              <a:gd name="adj" fmla="val 370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02" name=""/>
          <p:cNvSpPr/>
          <p:nvPr/>
        </p:nvSpPr>
        <p:spPr>
          <a:xfrm rot="0" flipH="0" flipV="0">
            <a:off x="8763000" y="4591050"/>
            <a:ext cx="2819400" cy="1028700"/>
          </a:xfrm>
          <a:custGeom>
            <a:pathLst>
              <a:path w="296" h="108">
                <a:moveTo>
                  <a:pt x="4" y="108"/>
                </a:moveTo>
                <a:cubicBezTo>
                  <a:pt x="2" y="108"/>
                  <a:pt x="0" y="106"/>
                  <a:pt x="0" y="10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8915400" y="4714875"/>
            <a:ext cx="2514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第五道门最常被忽略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8915400" y="4924425"/>
            <a:ext cx="2514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企业里绝大多数幻觉不是出现在「找不到还硬答」，而是出现在「有一条弱相关的内容，模型顺着它编」。所以要测的是弱相关召回时的表现。</a:t>
            </a:r>
            <a:endParaRPr/>
          </a:p>
        </p:txBody>
      </p:sp>
      <p:sp>
        <p:nvSpPr>
          <p:cNvPr id="120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0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209" name="" descr="&lt;Slide style={{ width: 1280, height: 720, background: '#FFFFFF', padding: '24px 64px 0' }}&gt;&#10;    &lt;Box style={{ height: 96, flexDirection: 'column', justifyContent: 'flex-start' }}&gt;&#10;     &lt;Text style={{ fontSize: 32, fontWeight: 'bold', color: '#0F1423' }}&gt;&#10;     之失效：&lt;span style={{ color: '#FA4F24' }}&gt;五类典型失败模式&lt;/span&gt;与对应的设计动作&#10;        &lt;/Text&gt;&#10;        &lt;Text style={{ fontSize: 20, color: '#8A8F99', marginTop: 8 }}&gt;&#10;      这五类占了知识库项目返工原因的绝大部分，且都能在设计阶段挡住&#10;        &lt;/Text&gt;&#10;    &lt;/Box&gt;&#10;    &lt;Box style={{ height: 1, background: '#E8E8E8' }} /&gt;&#10;&#10;    &lt;Box style={{ paddingTop: 14, paddingBottom: 10, height: 479, flexDirection: 'column', gap: 8 }}&gt;&#10;      {/* 表头 */}&#10;      &lt;Box style={{ flexDirection: 'row', gap: 8 }}&gt;&#10;        &lt;Box style={{ width: 148, background: '#0F1423', padding: '0 12px', justifyContent: 'center' }}&gt;&lt;Text style={{ fontSize: 12, fontWeight: 'bold', color: '#FFFFFF' }}&gt;失败模式&lt;/Text&gt;&lt;/Box&gt;&#10;        &lt;Box style={{ flex: 1, background: '#0F1423', padding: '0 12px', justifyContent: 'center' }}&gt;&lt;Text style={{ fontSize: 12, fontWeight: 'bold', color: '#FFFFFF' }}&gt;典型症状&lt;/Text&gt;&lt;/Box&gt;&#10;        &lt;Box style={{ flex: 1, background: '#0F1423', padding: '0 12px', justifyContent: 'center' }}&gt;&lt;Text style={{ fontSize: 12, fontWeight: 'bold', color: '#FFFFFF' }}&gt;根因&lt;/Text&gt;&lt;/Box&gt;&#10;        &lt;Box style={{ flex: 1.2, background: '#0F1423', padding: '0 12px', justifyContent: 'center' }}&gt;&lt;Text style={{ fontSize: 12, fontWeight: 'bold', color: '#FFFFFF' }}&gt;设计阶段的对策&lt;/Text&gt;&lt;/Box&gt;&#10;      &lt;/Box&gt;&#10;&#10;  {[&#10;        { n: '过期与冲突', s: '答案自信但依据是废的', r: '没有时效台账，没有口径裁定人', f: '时效台账 + 责任人裁定权 + 检索前过滤失效版本', c: '#FA4F24' },&#10;        { n: '孤岛', s: '同一个问题跨库就答不全', r: '库与库之间不通，没有统一实体', f: '统一实体层 + 跨库联合检索 + 去重', c: '#F87D2F' },&#10;        { n: '权限泄漏', s: '检索到不该看的内容', r: '先检索后过滤，或输出侧无控制', f: '检索前过滤 + 内容密级标记 + 输出侧再拦一次', c: '#E0651A' },&#10;        { n: '引用幻觉', s: '有引用，但引错或引了个不相干的', r: '切片无位置锚点，重排只看相似度', f: '位置锚点必存 + 重排加入相关度与可信度打分', c: '#C43A17' },&#10;        { n: '无梯度评测', s: '只能说「感觉还行」，没法回归', r: '没有评测集，改一版不知道是好了还是坏了', f: '评测集与上线同步建设，改配置必须跑回归', c: '#0F1423' },&#10;      ].map((it, i) =&gt; (&#10;   &lt;Box key={it.n} style={{ flex: 1, flexDirection: 'row', gap: 8 }}&gt;&#10;      &lt;Box style={{ width: 148, background: '#F7F7F8', borderLeft: '4px solid ' + it.c, padding: '0 12px', justifyContent: 'center' }}&gt;&#10;    &lt;Text style={{ fontSize: 15, fontWeight: 'bold', color: it.c }}&gt;{it.n}&lt;/Text&gt;&#10;          &lt;/Box&gt;&#10;          &lt;Box style={{ flex: 1, background: '#F7F7F8', padding: '0 12px', justifyContent: 'center' }}&gt;&#10;       &lt;Text style={{ fontSize: 12, color: '#3A4050', lineHeight: 1.45 }}&gt;{it.s}&lt;/Text&gt;&#10;&lt;/Box&gt;&#10;   &lt;Box style={{ flex: 1, background: '#F7F7F8', padding: '0 12px', justifyContent: 'center' }}&gt;&#10;   &lt;Text style={{ fontSize: 12, color: '#5A6072', lineHeight: 1.45 }}&gt;{it.r}&lt;/Text&gt;&#10;          &lt;/Box&gt;&#10;      &lt;Box style={{ flex: 1.2, background: '#FFF3EE', padding: '0 12px', justifyContent: 'center' }}&gt;&#10;  &lt;Text style={{ fontSize: 12, fontWeight: 'bold', color: '#C43A17', lineHeight: 1.45 }}&gt;{it.f}&lt;/Text&gt;&#10;          &lt;/Box&gt;&#10;        &lt;/Box&gt;&#10;      ))}&#10;&#10;      &lt;Box style={{ height: 116, flexDirection: 'row', gap: 8 }}&gt;&#10;   &lt;Box style={{ flex: 1, background: '#0F1423', borderRadius: 4, padding: '11px 16px', flexDirection: 'column', justifyContent: 'center' }}&gt;&#10;          &lt;Text style={{ fontSize: 14, fontWeight: 'bold', color: '#FBA15C' }}&gt;一个共同点&lt;/Text&gt;&#10;    &lt;Text style={{ fontSize: 12, color: 'rgba(255,255,255,0.9)', marginTop: 7, lineHeight: 1.55 }}&gt;&#10;        五类里没有一类是「模型不够强」或「向量库不够好」造成的 —— 全部是治理与设计问题。所以知识库项目做不下去，通常不是技术选型错，是没有人把口径、时效、权限、锚点、评测当成设计对象。&#10;     &lt;/Text&gt;&#10;        &lt;/Box&gt;&#10;        &lt;Box style={{ width: 340, background: '#FFF3EE', borderRadius: 4, borderLeft: '4px solid #FA4F24', padding: '11px 16px', flexDirection: 'column', justifyContent: 'center' }}&gt;&#10;     &lt;Text style={{ fontSize: 13, fontWeight: 'bold', color: '#C43A17' }}&gt;最省钱的干预点&lt;/Text&gt;&#10;      &lt;Text style={{ fontSize: 11, color: '#5A6072', marginTop: 6, lineHeight: 1.5 }}&gt;&#10;  在第一类和第五类上花的精力，回报最高：第一类决定答案对不对，第五类保证改完之后还对。前者决定项目成败，后者决定项目能不能持续。&#10;        &lt;/Text&gt;&#10;        &lt;/Box&gt;&#10;      &lt;/Box&gt;&#10;    &lt;/Box&gt;&#10;&#10;  &lt;Box style={{ height: 58, flexDirection: 'row', alignItems: 'center', borderTop: '1px solid #E8E8E8' }}&gt;&#10;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2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之失效：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五类典型失败模式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与对应的设计动作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这五类占了知识库项目返工原因的绝大部分，且都能在设计阶段挡住</a:t>
            </a:r>
            <a:endParaRPr/>
          </a:p>
        </p:txBody>
      </p:sp>
      <p:sp>
        <p:nvSpPr>
          <p:cNvPr id="12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4" name=""/>
          <p:cNvSpPr/>
          <p:nvPr/>
        </p:nvSpPr>
        <p:spPr>
          <a:xfrm rot="0" flipH="0" flipV="0">
            <a:off x="609600" y="1285875"/>
            <a:ext cx="14097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723900" y="1285875"/>
            <a:ext cx="1181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失败模式</a:t>
            </a:r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2095500" y="1285875"/>
            <a:ext cx="29146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2209800" y="1285875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典型症状</a:t>
            </a:r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5086350" y="1285875"/>
            <a:ext cx="2924175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5200650" y="1285875"/>
            <a:ext cx="2695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根因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8086725" y="1285875"/>
            <a:ext cx="3495675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8201025" y="1285875"/>
            <a:ext cx="3267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设计阶段的对策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647700" y="1504950"/>
            <a:ext cx="13716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3" name=""/>
          <p:cNvSpPr/>
          <p:nvPr/>
        </p:nvSpPr>
        <p:spPr>
          <a:xfrm rot="0" flipH="0" flipV="0">
            <a:off x="609600" y="1504950"/>
            <a:ext cx="1409700" cy="523875"/>
          </a:xfrm>
          <a:custGeom>
            <a:pathLst>
              <a:path w="148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762000" y="16859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过期与冲突</a:t>
            </a:r>
            <a:endParaRPr/>
          </a:p>
        </p:txBody>
      </p:sp>
      <p:sp>
        <p:nvSpPr>
          <p:cNvPr id="1225" name=""/>
          <p:cNvSpPr/>
          <p:nvPr/>
        </p:nvSpPr>
        <p:spPr>
          <a:xfrm rot="0" flipH="0" flipV="0">
            <a:off x="2095500" y="1504950"/>
            <a:ext cx="29146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2209800" y="1666875"/>
            <a:ext cx="26860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答案自信但依据是废的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5086350" y="1504950"/>
            <a:ext cx="2924175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5200650" y="1666875"/>
            <a:ext cx="26955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没有时效台账，没有口径裁定人</a:t>
            </a:r>
            <a:endParaRPr/>
          </a:p>
        </p:txBody>
      </p:sp>
      <p:sp>
        <p:nvSpPr>
          <p:cNvPr id="1229" name=""/>
          <p:cNvSpPr/>
          <p:nvPr/>
        </p:nvSpPr>
        <p:spPr>
          <a:xfrm rot="0" flipH="0" flipV="0">
            <a:off x="8086725" y="1504950"/>
            <a:ext cx="3495675" cy="5238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8201025" y="1666875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时效台账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责任人裁定权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检索前过滤失效版本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647700" y="2105025"/>
            <a:ext cx="13716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2" name=""/>
          <p:cNvSpPr/>
          <p:nvPr/>
        </p:nvSpPr>
        <p:spPr>
          <a:xfrm rot="0" flipH="0" flipV="0">
            <a:off x="609600" y="2105025"/>
            <a:ext cx="1409700" cy="523875"/>
          </a:xfrm>
          <a:custGeom>
            <a:pathLst>
              <a:path w="148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D2F"/>
                </a:solidFill>
                <a:latin typeface="Microsoft YaHei"/>
                <a:ea typeface="Microsoft YaHei"/>
              </a:rPr>
              <a:t>孤岛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2095500" y="2105025"/>
            <a:ext cx="29146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2209800" y="2266950"/>
            <a:ext cx="26860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同一个问题跨库就答不全</a:t>
            </a:r>
            <a:endParaRPr/>
          </a:p>
        </p:txBody>
      </p:sp>
      <p:sp>
        <p:nvSpPr>
          <p:cNvPr id="1236" name=""/>
          <p:cNvSpPr/>
          <p:nvPr/>
        </p:nvSpPr>
        <p:spPr>
          <a:xfrm rot="0" flipH="0" flipV="0">
            <a:off x="5086350" y="2105025"/>
            <a:ext cx="2924175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5200650" y="2266950"/>
            <a:ext cx="26955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库与库之间不通，没有统一实体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8086725" y="2105025"/>
            <a:ext cx="3495675" cy="5238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8201025" y="226695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统一实体层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跨库联合检索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去重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647700" y="2705100"/>
            <a:ext cx="1371600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1" name=""/>
          <p:cNvSpPr/>
          <p:nvPr/>
        </p:nvSpPr>
        <p:spPr>
          <a:xfrm rot="0" flipH="0" flipV="0">
            <a:off x="609600" y="2705100"/>
            <a:ext cx="1409700" cy="533400"/>
          </a:xfrm>
          <a:custGeom>
            <a:pathLst>
              <a:path w="148" h="56">
                <a:moveTo>
                  <a:pt x="0" y="0"/>
                </a:moveTo>
                <a:lnTo>
                  <a:pt x="4" y="0"/>
                </a:lnTo>
                <a:lnTo>
                  <a:pt x="4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762000" y="28860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51A"/>
                </a:solidFill>
                <a:latin typeface="Microsoft YaHei"/>
                <a:ea typeface="Microsoft YaHei"/>
              </a:rPr>
              <a:t>权限泄漏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2095500" y="2705100"/>
            <a:ext cx="2914650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2209800" y="2876550"/>
            <a:ext cx="26860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检索到不该看的内容</a:t>
            </a:r>
            <a:endParaRPr/>
          </a:p>
        </p:txBody>
      </p:sp>
      <p:sp>
        <p:nvSpPr>
          <p:cNvPr id="1245" name=""/>
          <p:cNvSpPr/>
          <p:nvPr/>
        </p:nvSpPr>
        <p:spPr>
          <a:xfrm rot="0" flipH="0" flipV="0">
            <a:off x="5086350" y="2705100"/>
            <a:ext cx="2924175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5200650" y="2876550"/>
            <a:ext cx="26955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先检索后过滤，或输出侧无控制</a:t>
            </a:r>
            <a:endParaRPr/>
          </a:p>
        </p:txBody>
      </p:sp>
      <p:sp>
        <p:nvSpPr>
          <p:cNvPr id="1247" name=""/>
          <p:cNvSpPr/>
          <p:nvPr/>
        </p:nvSpPr>
        <p:spPr>
          <a:xfrm rot="0" flipH="0" flipV="0">
            <a:off x="8086725" y="2705100"/>
            <a:ext cx="3495675" cy="5334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8201025" y="287655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检索前过滤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内容密级标记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输出侧再拦一次</a:t>
            </a:r>
            <a:endParaRPr/>
          </a:p>
        </p:txBody>
      </p:sp>
      <p:sp>
        <p:nvSpPr>
          <p:cNvPr id="1249" name=""/>
          <p:cNvSpPr/>
          <p:nvPr/>
        </p:nvSpPr>
        <p:spPr>
          <a:xfrm rot="0" flipH="0" flipV="0">
            <a:off x="647700" y="3314700"/>
            <a:ext cx="13716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0" name=""/>
          <p:cNvSpPr/>
          <p:nvPr/>
        </p:nvSpPr>
        <p:spPr>
          <a:xfrm rot="0" flipH="0" flipV="0">
            <a:off x="609600" y="3314700"/>
            <a:ext cx="1409700" cy="523875"/>
          </a:xfrm>
          <a:custGeom>
            <a:pathLst>
              <a:path w="148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762000" y="34956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引用幻觉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2095500" y="3314700"/>
            <a:ext cx="29146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2209800" y="3476625"/>
            <a:ext cx="26860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有引用，但引错或引了个不相干的</a:t>
            </a:r>
            <a:endParaRPr/>
          </a:p>
        </p:txBody>
      </p:sp>
      <p:sp>
        <p:nvSpPr>
          <p:cNvPr id="1254" name=""/>
          <p:cNvSpPr/>
          <p:nvPr/>
        </p:nvSpPr>
        <p:spPr>
          <a:xfrm rot="0" flipH="0" flipV="0">
            <a:off x="5086350" y="3314700"/>
            <a:ext cx="2924175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5200650" y="3476625"/>
            <a:ext cx="26955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切片无位置锚点，重排只看相似度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8086725" y="3314700"/>
            <a:ext cx="3495675" cy="5238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8201025" y="3476625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位置锚点必存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重排加入相关度与可信度打分</a:t>
            </a:r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647700" y="3914775"/>
            <a:ext cx="13716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9" name=""/>
          <p:cNvSpPr/>
          <p:nvPr/>
        </p:nvSpPr>
        <p:spPr>
          <a:xfrm rot="0" flipH="0" flipV="0">
            <a:off x="609600" y="3914775"/>
            <a:ext cx="1409700" cy="523875"/>
          </a:xfrm>
          <a:custGeom>
            <a:pathLst>
              <a:path w="148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762000" y="40957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无梯度评测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2095500" y="3914775"/>
            <a:ext cx="29146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2209800" y="4076700"/>
            <a:ext cx="26860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只能说「感觉还行」，没法回归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5086350" y="3914775"/>
            <a:ext cx="2924175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5200650" y="4076700"/>
            <a:ext cx="26955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没有评测集，改一版不知道是好了还是坏了</a:t>
            </a:r>
            <a:endParaRPr/>
          </a:p>
        </p:txBody>
      </p:sp>
      <p:sp>
        <p:nvSpPr>
          <p:cNvPr id="1265" name=""/>
          <p:cNvSpPr/>
          <p:nvPr/>
        </p:nvSpPr>
        <p:spPr>
          <a:xfrm rot="0" flipH="0" flipV="0">
            <a:off x="8086725" y="3914775"/>
            <a:ext cx="3495675" cy="5238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8201025" y="407670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评测集与上线同步建设，改配置必须跑回归</a:t>
            </a:r>
            <a:endParaRPr/>
          </a:p>
        </p:txBody>
      </p:sp>
      <p:sp>
        <p:nvSpPr>
          <p:cNvPr id="1267" name=""/>
          <p:cNvSpPr/>
          <p:nvPr/>
        </p:nvSpPr>
        <p:spPr>
          <a:xfrm rot="0" flipH="0" flipV="0">
            <a:off x="609600" y="4514850"/>
            <a:ext cx="765810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762000" y="4743450"/>
            <a:ext cx="735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一个共同点</a:t>
            </a:r>
            <a:endParaRPr/>
          </a:p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762000" y="4972050"/>
            <a:ext cx="73533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五类里没有一类是「模型不够强」或「向量库不够好」造成的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全部是治理与设计问题。所以知识库项目做不下去，通常不是技术选型错，是没有人把口径、时效、权限、锚点、评测当成设计对象。</a:t>
            </a:r>
            <a:endParaRPr/>
          </a:p>
        </p:txBody>
      </p:sp>
      <p:sp>
        <p:nvSpPr>
          <p:cNvPr id="1270" name=""/>
          <p:cNvSpPr/>
          <p:nvPr/>
        </p:nvSpPr>
        <p:spPr>
          <a:xfrm rot="0" flipH="0" flipV="0">
            <a:off x="8382000" y="4514850"/>
            <a:ext cx="3200400" cy="1104900"/>
          </a:xfrm>
          <a:prstGeom prst="roundRect">
            <a:avLst>
              <a:gd name="adj" fmla="val 34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71" name=""/>
          <p:cNvSpPr/>
          <p:nvPr/>
        </p:nvSpPr>
        <p:spPr>
          <a:xfrm rot="0" flipH="0" flipV="0">
            <a:off x="8382000" y="4514850"/>
            <a:ext cx="3200400" cy="1104900"/>
          </a:xfrm>
          <a:custGeom>
            <a:pathLst>
              <a:path w="336" h="116">
                <a:moveTo>
                  <a:pt x="4" y="116"/>
                </a:moveTo>
                <a:cubicBezTo>
                  <a:pt x="2" y="116"/>
                  <a:pt x="0" y="114"/>
                  <a:pt x="0" y="11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8534400" y="4676775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最省钱的干预点</a:t>
            </a:r>
            <a:endParaRPr/>
          </a:p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8534400" y="4886325"/>
            <a:ext cx="2895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在第一类和第五类上花的精力，回报最高：第一类决定答案对不对，第五类保证改完之后还对。前者决定项目成败，后者决定项目能不能持续。</a:t>
            </a:r>
            <a:endParaRPr/>
          </a:p>
        </p:txBody>
      </p:sp>
      <p:sp>
        <p:nvSpPr>
          <p:cNvPr id="127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7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27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评测：&lt;span style={{ color: '#FA4F24' }}&gt;可信度评测&lt;/span&gt;与每次变更后的必跑回归&#10;        &lt;/Text&gt;&#10;        &lt;Text style={{ fontSize: 20, color: '#8A8F99', marginTop: 8 }}&gt;&#10;   知识库没有评测集，就没有「改完变好了还是变差了」这个概念&#10;        &lt;/Text&gt;&#10;    &lt;/Box&gt;&#10;    &lt;Box style={{ height: 1, background: '#E8E8E8' }} /&gt;&#10;&#10;    &lt;Box style={{ paddingTop: 14, paddingBottom: 10, height: 479, flexDirection: 'row', gap: 11 }}&gt;&#10;      {/* 左：五维 */}&#10;      &lt;Box style={{ width: 648, flexDirection: 'column', gap: 7 }}&gt;&#10;        &lt;Text style={{ fontSize: 15, fontWeight: 'bold', color: '#0F1423' }}&gt;五个维度，各有各的度量方式&lt;/Text&gt;&#10;     {[&#10;          { n: '正确性', q: '结论与官方口径一致吗', k: '专家盲评 100 条', bar: 100, c: '#FA4F24' },&#10;       { n: '完整性', q: '该说的要点说全了吗', k: '要点召回清单逐条对', bar: 85, c: '#F87D2F' },&#10;          { n: '可溯源性', q: '引用能否指回原文', k: '抽样验证定位准确率', bar: 95, c: '#E0651A' },&#10;          { n: '时效性', q: '引用的是不是现行有效版本', k: '检查召回内容命中失效版本的比例', bar: 100, c: '#C43A17' },&#10;          { n: '拒答率', q: '找不到时有没有乱答', k: '无答案样本的编造比例', bar: 100, c: '#0F1423' },&#10;        ].map((it, i) =&gt; (&#10;          &lt;Box key={it.n} style={{ flex: 1, background: '#F7F7F8', borderRadius: 4, borderLeft: '4px solid ' + it.c, padding: '0 14px', flexDirection: 'row', alignItems: 'center', gap: 11 }}&gt;&#10;            &lt;Text style={{ fontSize: 14, fontWeight: 'bold', color: it.c, width: 68 }}&gt;{it.n}&lt;/Text&gt;&#10;    &lt;Text style={{ fontSize: 12, color: '#0F1423', width: 210 }}&gt;{it.q}&lt;/Text&gt;&#10;   &lt;Text style={{ fontSize: 11, color: '#5A6072', flex: 1 }}&gt;{it.k}&lt;/Text&gt;&#10;       &lt;Box style={{ width: 118, height: 22, background: '#FFFFFF', borderRadius: 11, flexDirection: 'row', alignItems: 'center', justifyContent: 'center' }}&gt;&#10;      &lt;Text style={{ fontSize: 11, fontWeight: 'bold', color: it.c }}&gt;≥ {it.bar}%&lt;/Text&gt;&#10;        &lt;/Box&gt;&#10;     &lt;/Box&gt;&#10;        ))}&#10;        &lt;Box style={{ height: 96, background: '#0F1423', borderRadius: 4, padding: '11px 16px', flexDirection: 'column', justifyContent: 'center' }}&gt;&#10;      &lt;Text style={{ fontSize: 14, fontWeight: 'bold', color: '#FBA15C' }}&gt;评测集怎么建：一个可行做法&lt;/Text&gt;&#10;          &lt;Text style={{ fontSize: 12, color: 'rgba(255,255,255,0.9)', marginTop: 7, lineHeight: 1.55 }}&gt;&#10; 从真实工作里捞 200 条过去三个月被反复问的问题，让业务专家标出「标准答案」和「依据应该在哪」。注意一定要包含一部分库里根本没有答案的问题——这部分专门用来测拒答能力，否则评测集会虚假地好看。&#10;      &lt;/Text&gt;&#10;        &lt;/Box&gt;&#10;      &lt;/Box&gt;&#10;&#10;      {/* 右：回归 + 责任 */}&#10;      &lt;Box style={{ flex: 1, flexDirection: 'column', gap: 8 }}&gt;&#10;        &lt;Box style={{ height: 196, background: '#FFF3EE', borderRadius: 4, borderLeft: '4px solid #FA4F24', padding: '11px 15px', flexDirection: 'column' }}&gt;&#10;   &lt;Text style={{ fontSize: 15, fontWeight: 'bold', color: '#C43A17', marginBottom: 8 }}&gt;六类变更，六个都必须跑全量回归&lt;/Text&gt;&#10;     {[&#10;            { n: '切片规则改了', d: '召回基线全变' },&#10;         { n: '加了新库', d: '会影响既有问题的路由判断' },&#10;            { n: '调整了重排权重', d: '排序变了，可溯源性可能下降' },&#10;      { n: '换了嵌入模型', d: '向量空间完全不同' },&#10;      { n: '调整了过滤条件', d: '可能误杀有效内容' },&#10;    { n: '大批量修订了文档', d: '位置锚点可能失效' },&#10;          ].map((x, i) =&gt; (&#10;      &lt;Box key={x.n} style={{ flex: 1, flexDirection: 'row', alignItems: 'center', gap: 10, borderTop: i === 0 ? 'none' : '1px solid #FBA15C' }}&gt;&#10;     &lt;Text style={{ fontSize: 11, fontWeight: 'bold', color: '#FA4F24', width: 20 }}&gt;{String(i + 1)}&lt;/Text&gt;&#10;              &lt;Text style={{ fontSize: 12, fontWeight: 'bold', color: '#0F1423', width: 172 }}&gt;{x.n}&lt;/Text&gt;&#10;        &lt;Text style={{ fontSize: 11, color: '#5A6072', flex: 1 }}&gt;{x.d}&lt;/Text&gt;&#10;   &lt;/Box&gt;&#10;        ))}&#10;     &lt;/Box&gt;&#10;        &lt;Box style={{ flex: 1, background: '#F7F7F8', borderRadius: 4, padding: '11px 15px', flexDirection: 'column', justifyContent: 'center' }}&gt;&#10;     &lt;Text style={{ fontSize: 14, fontWeight: 'bold', color: '#0F1423' }}&gt;两条运营纪律&lt;/Text&gt;&#10;    &lt;Text style={{ fontSize: 12, color: '#3A4050', marginTop: 7, lineHeight: 1.6 }}&gt;&#10;         一是评测集由业务侧维护，不由技术侧维护——因为什么算「答对」只有业务能定义；二是每次回归的结果要留档，包括退步的版本，这样质量问题能定位到具体哪一次变更。&#10;     &lt;/Text&gt;&#10;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知识库咨询方法论&lt;/Text&gt;&#10; &lt;Text style={{ fontSize: 13, color: '#8A8F99', marginLeft: 'auto' }}&gt;2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之评测：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可信度评测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与每次变更后的必跑回归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知识库没有评测集，就没有「改完变好了还是变差了」这个概念</a:t>
            </a:r>
            <a:endParaRPr/>
          </a:p>
        </p:txBody>
      </p:sp>
      <p:sp>
        <p:nvSpPr>
          <p:cNvPr id="128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609600" y="12858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五个维度，各有各的度量方式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647700" y="1524000"/>
            <a:ext cx="61722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5" name=""/>
          <p:cNvSpPr/>
          <p:nvPr/>
        </p:nvSpPr>
        <p:spPr>
          <a:xfrm rot="0" flipH="0" flipV="0">
            <a:off x="647700" y="1524000"/>
            <a:ext cx="6172200" cy="571500"/>
          </a:xfrm>
          <a:custGeom>
            <a:pathLst>
              <a:path w="648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781050" y="1733550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正确性</a:t>
            </a:r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1533525" y="1743075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结论与官方口径一致吗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3638550" y="1743075"/>
            <a:ext cx="1781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专家盲评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289" name=""/>
          <p:cNvSpPr/>
          <p:nvPr/>
        </p:nvSpPr>
        <p:spPr>
          <a:xfrm rot="0" flipH="0" flipV="0">
            <a:off x="5524500" y="1704975"/>
            <a:ext cx="11239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5886450" y="17430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≥ </a:t>
            </a: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100</a:t>
            </a: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647700" y="2162175"/>
            <a:ext cx="61722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2" name=""/>
          <p:cNvSpPr/>
          <p:nvPr/>
        </p:nvSpPr>
        <p:spPr>
          <a:xfrm rot="0" flipH="0" flipV="0">
            <a:off x="647700" y="2162175"/>
            <a:ext cx="6172200" cy="571500"/>
          </a:xfrm>
          <a:custGeom>
            <a:pathLst>
              <a:path w="648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781050" y="237172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完整性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1533525" y="2381250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该说的要点说全了吗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3638550" y="2381250"/>
            <a:ext cx="1781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要点召回清单逐条对</a:t>
            </a:r>
            <a:endParaRPr/>
          </a:p>
        </p:txBody>
      </p:sp>
      <p:sp>
        <p:nvSpPr>
          <p:cNvPr id="1296" name=""/>
          <p:cNvSpPr/>
          <p:nvPr/>
        </p:nvSpPr>
        <p:spPr>
          <a:xfrm rot="0" flipH="0" flipV="0">
            <a:off x="5524500" y="2343150"/>
            <a:ext cx="11239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5915025" y="2381250"/>
            <a:ext cx="342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≥ </a:t>
            </a: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85</a:t>
            </a: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298" name=""/>
          <p:cNvSpPr/>
          <p:nvPr/>
        </p:nvSpPr>
        <p:spPr>
          <a:xfrm rot="0" flipH="0" flipV="0">
            <a:off x="647700" y="2800350"/>
            <a:ext cx="6172200" cy="561975"/>
          </a:xfrm>
          <a:prstGeom prst="roundRect">
            <a:avLst>
              <a:gd name="adj" fmla="val 67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9" name=""/>
          <p:cNvSpPr/>
          <p:nvPr/>
        </p:nvSpPr>
        <p:spPr>
          <a:xfrm rot="0" flipH="0" flipV="0">
            <a:off x="647700" y="2800350"/>
            <a:ext cx="6172200" cy="561975"/>
          </a:xfrm>
          <a:custGeom>
            <a:pathLst>
              <a:path w="648" h="59">
                <a:moveTo>
                  <a:pt x="4" y="59"/>
                </a:moveTo>
                <a:cubicBezTo>
                  <a:pt x="2" y="59"/>
                  <a:pt x="0" y="57"/>
                  <a:pt x="0" y="5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9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781050" y="30003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可溯源性</a:t>
            </a:r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1533525" y="3009900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引用能否指回原文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3638550" y="3019425"/>
            <a:ext cx="1781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抽样验证定位准确率</a:t>
            </a:r>
            <a:endParaRPr/>
          </a:p>
        </p:txBody>
      </p:sp>
      <p:sp>
        <p:nvSpPr>
          <p:cNvPr id="1303" name=""/>
          <p:cNvSpPr/>
          <p:nvPr/>
        </p:nvSpPr>
        <p:spPr>
          <a:xfrm rot="0" flipH="0" flipV="0">
            <a:off x="5524500" y="2981325"/>
            <a:ext cx="11239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5915025" y="3019425"/>
            <a:ext cx="342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0651A"/>
                </a:solidFill>
                <a:latin typeface="Microsoft YaHei"/>
                <a:ea typeface="Microsoft YaHei"/>
              </a:rPr>
              <a:t xml:space="preserve">≥ </a:t>
            </a:r>
            <a:r>
              <a:rPr lang="en-US" sz="825" b="1">
                <a:solidFill>
                  <a:srgbClr val="E0651A"/>
                </a:solidFill>
                <a:latin typeface="Microsoft YaHei"/>
                <a:ea typeface="Microsoft YaHei"/>
              </a:rPr>
              <a:t>95</a:t>
            </a:r>
            <a:r>
              <a:rPr lang="en-US" sz="825" b="1">
                <a:solidFill>
                  <a:srgbClr val="E0651A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305" name=""/>
          <p:cNvSpPr/>
          <p:nvPr/>
        </p:nvSpPr>
        <p:spPr>
          <a:xfrm rot="0" flipH="0" flipV="0">
            <a:off x="647700" y="3429000"/>
            <a:ext cx="61722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6" name=""/>
          <p:cNvSpPr/>
          <p:nvPr/>
        </p:nvSpPr>
        <p:spPr>
          <a:xfrm rot="0" flipH="0" flipV="0">
            <a:off x="647700" y="3429000"/>
            <a:ext cx="6172200" cy="571500"/>
          </a:xfrm>
          <a:custGeom>
            <a:pathLst>
              <a:path w="648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781050" y="3638550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时效性</a:t>
            </a:r>
            <a:endParaRPr/>
          </a:p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1533525" y="3648075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引用的是不是现行有效版本</a:t>
            </a:r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3638550" y="3648075"/>
            <a:ext cx="1781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检查召回内容命中失效版本的比例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5524500" y="3609975"/>
            <a:ext cx="11239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5886450" y="36480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≥ </a:t>
            </a: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100</a:t>
            </a: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647700" y="4067175"/>
            <a:ext cx="61722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3" name=""/>
          <p:cNvSpPr/>
          <p:nvPr/>
        </p:nvSpPr>
        <p:spPr>
          <a:xfrm rot="0" flipH="0" flipV="0">
            <a:off x="647700" y="4067175"/>
            <a:ext cx="6172200" cy="571500"/>
          </a:xfrm>
          <a:custGeom>
            <a:pathLst>
              <a:path w="648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拒答率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1533525" y="4286250"/>
            <a:ext cx="2000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找不到时有没有乱答</a:t>
            </a:r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3638550" y="4286250"/>
            <a:ext cx="1781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无答案样本的编造比例</a:t>
            </a:r>
            <a:endParaRPr/>
          </a:p>
        </p:txBody>
      </p:sp>
      <p:sp>
        <p:nvSpPr>
          <p:cNvPr id="1317" name=""/>
          <p:cNvSpPr/>
          <p:nvPr/>
        </p:nvSpPr>
        <p:spPr>
          <a:xfrm rot="0" flipH="0" flipV="0">
            <a:off x="5524500" y="4248150"/>
            <a:ext cx="11239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5886450" y="4286250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≥ </a:t>
            </a: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100</a:t>
            </a: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319" name=""/>
          <p:cNvSpPr/>
          <p:nvPr/>
        </p:nvSpPr>
        <p:spPr>
          <a:xfrm rot="0" flipH="0" flipV="0">
            <a:off x="609600" y="4705350"/>
            <a:ext cx="6172200" cy="91440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评测集怎么建：一个可行做法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762000" y="5067300"/>
            <a:ext cx="58674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从真实工作里捞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200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条过去三个月被反复问的问题，让业务专家标出「标准答案」和「依据应该在哪」。注意一定要包含一部分库里根本没有答案的问题——这部分专门用来测拒答能力，否则评测集会虚假地好看。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6924675" y="1285875"/>
            <a:ext cx="4695825" cy="1866900"/>
          </a:xfrm>
          <a:prstGeom prst="roundRect">
            <a:avLst>
              <a:gd name="adj" fmla="val 204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23" name=""/>
          <p:cNvSpPr/>
          <p:nvPr/>
        </p:nvSpPr>
        <p:spPr>
          <a:xfrm rot="0" flipH="0" flipV="0">
            <a:off x="6924675" y="1285875"/>
            <a:ext cx="4695825" cy="1866900"/>
          </a:xfrm>
          <a:custGeom>
            <a:pathLst>
              <a:path w="493" h="196">
                <a:moveTo>
                  <a:pt x="4" y="196"/>
                </a:moveTo>
                <a:cubicBezTo>
                  <a:pt x="2" y="196"/>
                  <a:pt x="0" y="194"/>
                  <a:pt x="0" y="1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7067550" y="139065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六类变更，六个都必须跑全量回归</a:t>
            </a:r>
            <a:endParaRPr/>
          </a:p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7067550" y="16859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7353300" y="168592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切片规则改了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9086850" y="168592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召回基线全变</a:t>
            </a:r>
            <a:endParaRPr/>
          </a:p>
        </p:txBody>
      </p:sp>
      <p:sp>
        <p:nvSpPr>
          <p:cNvPr id="1328" name=""/>
          <p:cNvSpPr/>
          <p:nvPr/>
        </p:nvSpPr>
        <p:spPr>
          <a:xfrm rot="0" flipH="0" flipV="0">
            <a:off x="7067550" y="1866900"/>
            <a:ext cx="4371975" cy="247650"/>
          </a:xfrm>
          <a:custGeom>
            <a:pathLst>
              <a:path w="459" h="26">
                <a:moveTo>
                  <a:pt x="0" y="0"/>
                </a:moveTo>
                <a:lnTo>
                  <a:pt x="459" y="0"/>
                </a:lnTo>
                <a:lnTo>
                  <a:pt x="459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7067550" y="192405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7353300" y="192405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加了新库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9086850" y="192405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会影响既有问题的路由判断</a:t>
            </a:r>
            <a:endParaRPr/>
          </a:p>
        </p:txBody>
      </p:sp>
      <p:sp>
        <p:nvSpPr>
          <p:cNvPr id="1332" name=""/>
          <p:cNvSpPr/>
          <p:nvPr/>
        </p:nvSpPr>
        <p:spPr>
          <a:xfrm rot="0" flipH="0" flipV="0">
            <a:off x="7067550" y="2105025"/>
            <a:ext cx="4371975" cy="247650"/>
          </a:xfrm>
          <a:custGeom>
            <a:pathLst>
              <a:path w="459" h="26">
                <a:moveTo>
                  <a:pt x="0" y="0"/>
                </a:moveTo>
                <a:lnTo>
                  <a:pt x="459" y="0"/>
                </a:lnTo>
                <a:lnTo>
                  <a:pt x="459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7067550" y="21621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7353300" y="216217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调整了重排权重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9086850" y="216217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排序变了，可溯源性可能下降</a:t>
            </a:r>
            <a:endParaRPr/>
          </a:p>
        </p:txBody>
      </p:sp>
      <p:sp>
        <p:nvSpPr>
          <p:cNvPr id="1336" name=""/>
          <p:cNvSpPr/>
          <p:nvPr/>
        </p:nvSpPr>
        <p:spPr>
          <a:xfrm rot="0" flipH="0" flipV="0">
            <a:off x="7067550" y="2343150"/>
            <a:ext cx="4371975" cy="238125"/>
          </a:xfrm>
          <a:custGeom>
            <a:pathLst>
              <a:path w="459" h="25">
                <a:moveTo>
                  <a:pt x="0" y="0"/>
                </a:moveTo>
                <a:lnTo>
                  <a:pt x="459" y="0"/>
                </a:lnTo>
                <a:lnTo>
                  <a:pt x="459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7067550" y="24003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7353300" y="239077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换了嵌入模型</a:t>
            </a:r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9086850" y="240030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向量空间完全不同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7067550" y="2571750"/>
            <a:ext cx="4371975" cy="247650"/>
          </a:xfrm>
          <a:custGeom>
            <a:pathLst>
              <a:path w="459" h="26">
                <a:moveTo>
                  <a:pt x="0" y="0"/>
                </a:moveTo>
                <a:lnTo>
                  <a:pt x="459" y="0"/>
                </a:lnTo>
                <a:lnTo>
                  <a:pt x="459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7067550" y="26289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7353300" y="262890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调整了过滤条件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9086850" y="262890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可能误杀有效内容</a:t>
            </a:r>
            <a:endParaRPr/>
          </a:p>
        </p:txBody>
      </p:sp>
      <p:sp>
        <p:nvSpPr>
          <p:cNvPr id="1344" name=""/>
          <p:cNvSpPr/>
          <p:nvPr/>
        </p:nvSpPr>
        <p:spPr>
          <a:xfrm rot="0" flipH="0" flipV="0">
            <a:off x="7067550" y="2809875"/>
            <a:ext cx="4371975" cy="247650"/>
          </a:xfrm>
          <a:custGeom>
            <a:pathLst>
              <a:path w="459" h="26">
                <a:moveTo>
                  <a:pt x="0" y="0"/>
                </a:moveTo>
                <a:lnTo>
                  <a:pt x="459" y="0"/>
                </a:lnTo>
                <a:lnTo>
                  <a:pt x="459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7067550" y="28670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7353300" y="286702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大批量修订了文档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9086850" y="286702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位置锚点可能失效</a:t>
            </a:r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6886575" y="3228975"/>
            <a:ext cx="4695825" cy="2390775"/>
          </a:xfrm>
          <a:prstGeom prst="roundRect">
            <a:avLst>
              <a:gd name="adj" fmla="val 15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7029450" y="3981450"/>
            <a:ext cx="441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两条运营纪律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7029450" y="4210050"/>
            <a:ext cx="4410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一是评测集由业务侧维护，不由技术侧维护——因为什么算「答对」只有业务能定义；二是每次回归的结果要留档，包括退步的版本，这样质量问题能定位到具体哪一次变更。</a:t>
            </a:r>
            <a:endParaRPr/>
          </a:p>
        </p:txBody>
      </p:sp>
      <p:sp>
        <p:nvSpPr>
          <p:cNvPr id="135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5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35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355" name="" descr="&lt;Slide style={{ width: 1280, height: 720, background: '#FFFFFF', padding: '24px 64px 0' }}&gt;&#10; &lt;Box style={{ height: 96, flexDirection: 'column', justifyContent: 'flex-start' }}&gt;&#10;  &lt;Text style={{ fontSize: 32, fontWeight: 'bold', color: '#0F1423' }}&gt;&#10;  之演进：从&lt;span style={{ color: '#FA4F24' }}&gt;个人文档到企业知识资产&lt;/span&gt;的四步&#10;        &lt;/Text&gt;&#10;        &lt;Text style={{ fontSize: 20, color: '#8A8F99', marginTop: 8 }}&gt;&#10;     每一步都要有可度量的证据才允许往上走，不能靠感觉宣布「我们已经有知识库了」&#10;        &lt;/Text&gt;&#10;    &lt;/Box&gt;&#10;    &lt;Box style={{ height: 1, background: '#E8E8E8' }} /&gt;&#10;&#10;    &lt;Box style={{ paddingTop: 14, paddingBottom: 10, height: 479, flexDirection: 'column', gap: 8 }}&gt;&#10;      {/* 四步 */}&#10;      &lt;Box style={{ flex: 1, flexDirection: 'row', gap: 8, alignItems: 'stretch' }}&gt;&#10;        {[&#10;          { n: 'Step 1', t: '找得到', d: '把散落的文档集中起来，能搜到标题和全文', g: '门槛：无', m: '证据：搜得到率', c: '#8A8F99' },&#10;          { n: 'Step 2', t: '看得懂', d: '解析归一 + 语义切片，回答有内容可用', g: '门槛：正文提取率 ≥ 95%', m: '证据：切片可读性抽检', c: '#FBA15C' },&#10;          { n: 'Step 3', t: '敢引用', d: '有出处、有版本、有责任人，敢拿去做决策依据', g: '门槛：五道门过四道', m: '证据：溯源率 ≥ 95%', c: '#FA4F24' },&#10;          { n: 'Step 4', t: '能联动', d: '知识与本体打通，能被 Agent 调用并驱动动作', g: '门槛：本体已成熟', m: '证据：Agent 调用成功率', c: '#0F1423' },&#10;        ].map((it, i) =&gt; (&#10;  &lt;Box key={it.n} style={{ flex: 1, marginTop: i * 14, background: '#F7F7F8', borderRadius: 4, borderTop: '4px solid ' + it.c, padding: '10px 14px', flexDirection: 'column' }}&gt;&#10;       &lt;Text style={{ fontSize: 12, fontWeight: 'bold', color: it.c, letterSpacing: 1 }}&gt;{it.n}&lt;/Text&gt;&#10;      &lt;Text style={{ fontSize: 22, fontWeight: 'bold', color: '#0F1423', marginTop: 4 }}&gt;{it.t}&lt;/Text&gt;&#10;            &lt;Text style={{ fontSize: 12, color: '#5A6072', marginTop: 7, lineHeight: 1.45, flex: 1 }}&gt;{it.d}&lt;/Text&gt;&#10;      &lt;Box style={{ height: 44, background: '#FFFFFF', borderRadius: 3, padding: '6px 10px', marginTop: 6 }}&gt;&#10;   &lt;Text style={{ fontSize: 11, fontWeight: 'bold', color: '#C43A17' }}&gt;{it.g}&lt;/Text&gt;&#10;     &lt;Text style={{ fontSize: 10, color: '#8A8F99', marginTop: 2 }}&gt;{it.m}&lt;/Text&gt;&#10;      &lt;/Box&gt;&#10;          &lt;/Box&gt;&#10;      ))}&#10;      &lt;/Box&gt;&#10;&#10;      {/* 每步的组织动作 */}&#10;      &lt;Box style={{ height: 112, background: '#FFF3EE', borderRadius: 4, borderLeft: '5px solid #FA4F24', padding: '10px 16px', flexDirection: 'column' }}&gt;&#10;      &lt;Text style={{ fontSize: 14, fontWeight: 'bold', color: '#C43A17', marginBottom: 7 }}&gt;每一步真正卡住项目的组织动作&lt;/Text&gt;&#10;        &lt;Box style={{ flexDirection: 'row', gap: 9, flex: 1 }}&gt;&#10;       {[&#10;            { n: '找得到', d: '确定唯一存放位置，宣布散落副本一律作废' },&#10;          { n: '看得懂', d: '把解析质量纳入验收，不合格源不接入' },&#10;         { n: '敢引用', d: '让责任人签字，写进考核；否则永远停留在内部参考' },&#10;   { n: '能联动', d: '知识写回必须经由 Action，纳入变更评审' },&#10;          ].map((x, i) =&gt; (&#10;       &lt;Box key={x.n} style={{ flex: 1, background: '#FFFFFF', borderRadius: 3, borderLeft: '3px solid #FA4F24', padding: '8px 11px' }}&gt;&#10;       &lt;Text style={{ fontSize: 14, fontWeight: 'bold', color: '#0F1423' }}&gt;{x.n}&lt;/Text&gt;&#10;      &lt;Text style={{ fontSize: 11, color: '#5A6072', marginTop: 4, lineHeight: 1.45 }}&gt;{x.d}&lt;/Text&gt;&#10;      &lt;/Box&gt;&#10;          ))}&#10;   &lt;/Box&gt;&#10;      &lt;/Box&gt;&#10;&#10;      {/* 两条忠告 */}&#10;      &lt;Box style={{ height: 100, flexDirection: 'row', gap: 8 }}&gt;&#10;     &lt;Box style={{ flex: 1, background: '#0F1423', borderRadius: 4, padding: '11px 16px', flexDirection: 'column', justifyContent: 'center' }}&gt;&#10;       &lt;Text style={{ fontSize: 14, fontWeight: 'bold', color: '#FBA15C' }}&gt;不要在第二步就宣称「我们有知识库了」&lt;/Text&gt;&#10;          &lt;Text style={{ fontSize: 12, color: 'rgba(255,255,255,0.9)', marginTop: 6, lineHeight: 1.5 }}&gt;&#10;      搜得到和敢引用之间隔着整个治理体系。过早宣称会让使用者形成「答不出来就是库不全」的印象，而不是反馈问题，这条路走不通。&#10;    &lt;/Text&gt;&#10; &lt;/Box&gt;&#10;   &lt;Box style={{ flex: 1, background: '#F7F7F8', borderRadius: 4, padding: '11px 16px', flexDirection: 'column', justifyContent: 'center' }}&gt;&#10;      &lt;Text style={{ fontSize: 14, fontWeight: 'bold', color: '#0F1423' }}&gt;允许退回上一级&lt;/Text&gt;&#10;          &lt;Text style={{ fontSize: 12, color: '#3A4050', marginTop: 6, lineHeight: 1.5 }}&gt;&#10;     指标连续退步或时效门不过关时，把范围缩回一个知识域重新做扎实，比挂着「全公司知识库」的名头持续产出不可信答案要好得多。&#10;     &lt;/Text&gt;&#10;      &lt;/Box&gt;&#10;      &lt;/Box&gt;&#10;    &lt;/Box&gt;&#10;&#10;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知识库咨询方法论&lt;/Text&gt;&#10;        &lt;Text style={{ fontSize: 13, color: '#8A8F99', marginLeft: 'auto' }}&gt;2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之演进：从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个人文档到企业知识资产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的四步</a:t>
            </a:r>
            <a:endParaRPr/>
          </a:p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每一步都要有可度量的证据才允许往上走，不能靠感觉宣布「我们已经有知识库了」</a:t>
            </a:r>
            <a:endParaRPr/>
          </a:p>
        </p:txBody>
      </p:sp>
      <p:sp>
        <p:nvSpPr>
          <p:cNvPr id="135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60" name=""/>
          <p:cNvSpPr/>
          <p:nvPr/>
        </p:nvSpPr>
        <p:spPr>
          <a:xfrm rot="0" flipH="0" flipV="0">
            <a:off x="609600" y="1323975"/>
            <a:ext cx="2686050" cy="2162175"/>
          </a:xfrm>
          <a:prstGeom prst="roundRect">
            <a:avLst>
              <a:gd name="adj" fmla="val 1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61" name=""/>
          <p:cNvSpPr/>
          <p:nvPr/>
        </p:nvSpPr>
        <p:spPr>
          <a:xfrm rot="0" flipH="0" flipV="0">
            <a:off x="609600" y="1323975"/>
            <a:ext cx="2686050" cy="2162175"/>
          </a:xfrm>
          <a:custGeom>
            <a:pathLst>
              <a:path w="282" h="227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742950" y="141922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8A8F99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742950" y="1600200"/>
            <a:ext cx="2419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找得到</a:t>
            </a:r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742950" y="1924050"/>
            <a:ext cx="2419350" cy="952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把散落的文档集中起来，能搜到标题和全文</a:t>
            </a:r>
            <a:endParaRPr/>
          </a:p>
        </p:txBody>
      </p:sp>
      <p:sp>
        <p:nvSpPr>
          <p:cNvPr id="1365" name=""/>
          <p:cNvSpPr/>
          <p:nvPr/>
        </p:nvSpPr>
        <p:spPr>
          <a:xfrm rot="0" flipH="0" flipV="0">
            <a:off x="742950" y="2933700"/>
            <a:ext cx="24193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838200" y="29908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门槛：无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838200" y="3143250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证据：搜得到率</a:t>
            </a:r>
            <a:endParaRPr/>
          </a:p>
        </p:txBody>
      </p:sp>
      <p:sp>
        <p:nvSpPr>
          <p:cNvPr id="1368" name=""/>
          <p:cNvSpPr/>
          <p:nvPr/>
        </p:nvSpPr>
        <p:spPr>
          <a:xfrm rot="0" flipH="0" flipV="0">
            <a:off x="3371850" y="1457325"/>
            <a:ext cx="2686050" cy="2028825"/>
          </a:xfrm>
          <a:prstGeom prst="roundRect">
            <a:avLst>
              <a:gd name="adj" fmla="val 187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69" name=""/>
          <p:cNvSpPr/>
          <p:nvPr/>
        </p:nvSpPr>
        <p:spPr>
          <a:xfrm rot="0" flipH="0" flipV="0">
            <a:off x="3371850" y="1457325"/>
            <a:ext cx="2686050" cy="2028825"/>
          </a:xfrm>
          <a:custGeom>
            <a:pathLst>
              <a:path w="282" h="213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3505200" y="155257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BA15C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3505200" y="1733550"/>
            <a:ext cx="2419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看得懂</a:t>
            </a:r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3505200" y="2057400"/>
            <a:ext cx="2419350" cy="819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解析归一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语义切片，回答有内容可用</a:t>
            </a:r>
            <a:endParaRPr/>
          </a:p>
        </p:txBody>
      </p:sp>
      <p:sp>
        <p:nvSpPr>
          <p:cNvPr id="1373" name=""/>
          <p:cNvSpPr/>
          <p:nvPr/>
        </p:nvSpPr>
        <p:spPr>
          <a:xfrm rot="0" flipH="0" flipV="0">
            <a:off x="3505200" y="2933700"/>
            <a:ext cx="24193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3600450" y="29908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门槛：正文提取率</a:t>
            </a: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≥ 95%</a:t>
            </a:r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3600450" y="3143250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证据：切片可读性抽检</a:t>
            </a:r>
            <a:endParaRPr/>
          </a:p>
        </p:txBody>
      </p:sp>
      <p:sp>
        <p:nvSpPr>
          <p:cNvPr id="1376" name=""/>
          <p:cNvSpPr/>
          <p:nvPr/>
        </p:nvSpPr>
        <p:spPr>
          <a:xfrm rot="0" flipH="0" flipV="0">
            <a:off x="6134100" y="1590675"/>
            <a:ext cx="2686050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77" name=""/>
          <p:cNvSpPr/>
          <p:nvPr/>
        </p:nvSpPr>
        <p:spPr>
          <a:xfrm rot="0" flipH="0" flipV="0">
            <a:off x="6134100" y="1590675"/>
            <a:ext cx="2686050" cy="1895475"/>
          </a:xfrm>
          <a:custGeom>
            <a:pathLst>
              <a:path w="282" h="199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6267450" y="168592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A4F2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6267450" y="1866900"/>
            <a:ext cx="2419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敢引用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6267450" y="2190750"/>
            <a:ext cx="2419350" cy="685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有出处、有版本、有责任人，敢拿去做决策依据</a:t>
            </a:r>
            <a:endParaRPr/>
          </a:p>
        </p:txBody>
      </p:sp>
      <p:sp>
        <p:nvSpPr>
          <p:cNvPr id="1381" name=""/>
          <p:cNvSpPr/>
          <p:nvPr/>
        </p:nvSpPr>
        <p:spPr>
          <a:xfrm rot="0" flipH="0" flipV="0">
            <a:off x="6267450" y="2933700"/>
            <a:ext cx="24193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6362700" y="29908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门槛：五道门过四道</a:t>
            </a:r>
            <a:endParaRPr/>
          </a:p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6362700" y="3143250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证据：溯源率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≥ 95%</a:t>
            </a:r>
            <a:endParaRPr/>
          </a:p>
        </p:txBody>
      </p:sp>
      <p:sp>
        <p:nvSpPr>
          <p:cNvPr id="1384" name=""/>
          <p:cNvSpPr/>
          <p:nvPr/>
        </p:nvSpPr>
        <p:spPr>
          <a:xfrm rot="0" flipH="0" flipV="0">
            <a:off x="8896350" y="1724025"/>
            <a:ext cx="2686050" cy="1762125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5" name=""/>
          <p:cNvSpPr/>
          <p:nvPr/>
        </p:nvSpPr>
        <p:spPr>
          <a:xfrm rot="0" flipH="0" flipV="0">
            <a:off x="8896350" y="1724025"/>
            <a:ext cx="2686050" cy="1762125"/>
          </a:xfrm>
          <a:custGeom>
            <a:pathLst>
              <a:path w="282" h="185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9029700" y="181927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F1423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9029700" y="2000250"/>
            <a:ext cx="2419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能联动</a:t>
            </a:r>
            <a:endParaRPr/>
          </a:p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9029700" y="2324100"/>
            <a:ext cx="2419350" cy="552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知识与本体打通，能被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调用并驱动动作</a:t>
            </a:r>
            <a:endParaRPr/>
          </a:p>
        </p:txBody>
      </p:sp>
      <p:sp>
        <p:nvSpPr>
          <p:cNvPr id="1389" name=""/>
          <p:cNvSpPr/>
          <p:nvPr/>
        </p:nvSpPr>
        <p:spPr>
          <a:xfrm rot="0" flipH="0" flipV="0">
            <a:off x="9029700" y="2933700"/>
            <a:ext cx="24193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9124950" y="2990850"/>
            <a:ext cx="2228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门槛：本体已成熟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9124950" y="3143250"/>
            <a:ext cx="2228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证据：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调用成功率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657225" y="3524250"/>
            <a:ext cx="10972800" cy="1066800"/>
          </a:xfrm>
          <a:prstGeom prst="roundRect">
            <a:avLst>
              <a:gd name="adj" fmla="val 357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3" name=""/>
          <p:cNvSpPr/>
          <p:nvPr/>
        </p:nvSpPr>
        <p:spPr>
          <a:xfrm rot="0" flipH="0" flipV="0">
            <a:off x="657225" y="3524250"/>
            <a:ext cx="10972800" cy="1066800"/>
          </a:xfrm>
          <a:custGeom>
            <a:pathLst>
              <a:path w="1152" h="112">
                <a:moveTo>
                  <a:pt x="5" y="112"/>
                </a:moveTo>
                <a:cubicBezTo>
                  <a:pt x="4" y="112"/>
                  <a:pt x="3" y="112"/>
                  <a:pt x="2" y="111"/>
                </a:cubicBezTo>
                <a:cubicBezTo>
                  <a:pt x="1" y="111"/>
                  <a:pt x="0" y="110"/>
                  <a:pt x="0" y="108"/>
                </a:cubicBezTo>
                <a:lnTo>
                  <a:pt x="0" y="108"/>
                </a:lnTo>
                <a:lnTo>
                  <a:pt x="0" y="10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809625" y="3619500"/>
            <a:ext cx="10620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每一步真正卡住项目的组织动作</a:t>
            </a:r>
            <a:endParaRPr/>
          </a:p>
        </p:txBody>
      </p:sp>
      <p:sp>
        <p:nvSpPr>
          <p:cNvPr id="1395" name=""/>
          <p:cNvSpPr/>
          <p:nvPr/>
        </p:nvSpPr>
        <p:spPr>
          <a:xfrm rot="0" flipH="0" flipV="0">
            <a:off x="838200" y="3848100"/>
            <a:ext cx="2590800" cy="7239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6" name=""/>
          <p:cNvSpPr/>
          <p:nvPr/>
        </p:nvSpPr>
        <p:spPr>
          <a:xfrm rot="0" flipH="0" flipV="0">
            <a:off x="838200" y="3848100"/>
            <a:ext cx="2590800" cy="723900"/>
          </a:xfrm>
          <a:custGeom>
            <a:pathLst>
              <a:path w="272" h="76">
                <a:moveTo>
                  <a:pt x="3" y="76"/>
                </a:moveTo>
                <a:cubicBezTo>
                  <a:pt x="1" y="76"/>
                  <a:pt x="0" y="75"/>
                  <a:pt x="0" y="7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942975" y="3924300"/>
            <a:ext cx="2352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找得到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942975" y="412432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确定唯一存放位置，宣布散落副本一律作废</a:t>
            </a:r>
            <a:endParaRPr/>
          </a:p>
        </p:txBody>
      </p:sp>
      <p:sp>
        <p:nvSpPr>
          <p:cNvPr id="1399" name=""/>
          <p:cNvSpPr/>
          <p:nvPr/>
        </p:nvSpPr>
        <p:spPr>
          <a:xfrm rot="0" flipH="0" flipV="0">
            <a:off x="3514725" y="3848100"/>
            <a:ext cx="2590800" cy="7239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0" name=""/>
          <p:cNvSpPr/>
          <p:nvPr/>
        </p:nvSpPr>
        <p:spPr>
          <a:xfrm rot="0" flipH="0" flipV="0">
            <a:off x="3514725" y="3848100"/>
            <a:ext cx="2590800" cy="723900"/>
          </a:xfrm>
          <a:custGeom>
            <a:pathLst>
              <a:path w="272" h="76">
                <a:moveTo>
                  <a:pt x="3" y="76"/>
                </a:moveTo>
                <a:cubicBezTo>
                  <a:pt x="1" y="76"/>
                  <a:pt x="0" y="75"/>
                  <a:pt x="0" y="7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3619500" y="3924300"/>
            <a:ext cx="2352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看得懂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3619500" y="412432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把解析质量纳入验收，不合格源不接入</a:t>
            </a:r>
            <a:endParaRPr/>
          </a:p>
        </p:txBody>
      </p:sp>
      <p:sp>
        <p:nvSpPr>
          <p:cNvPr id="1403" name=""/>
          <p:cNvSpPr/>
          <p:nvPr/>
        </p:nvSpPr>
        <p:spPr>
          <a:xfrm rot="0" flipH="0" flipV="0">
            <a:off x="6191250" y="3848100"/>
            <a:ext cx="2590800" cy="7239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4" name=""/>
          <p:cNvSpPr/>
          <p:nvPr/>
        </p:nvSpPr>
        <p:spPr>
          <a:xfrm rot="0" flipH="0" flipV="0">
            <a:off x="6191250" y="3848100"/>
            <a:ext cx="2590800" cy="723900"/>
          </a:xfrm>
          <a:custGeom>
            <a:pathLst>
              <a:path w="272" h="76">
                <a:moveTo>
                  <a:pt x="3" y="76"/>
                </a:moveTo>
                <a:cubicBezTo>
                  <a:pt x="1" y="76"/>
                  <a:pt x="0" y="75"/>
                  <a:pt x="0" y="7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6296025" y="3924300"/>
            <a:ext cx="2352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敢引用</a:t>
            </a:r>
            <a:endParaRPr/>
          </a:p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6296025" y="4124325"/>
            <a:ext cx="23526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让责任人签字，写进考核；否则永远停留在内部参考</a:t>
            </a:r>
            <a:endParaRPr/>
          </a:p>
        </p:txBody>
      </p:sp>
      <p:sp>
        <p:nvSpPr>
          <p:cNvPr id="1407" name=""/>
          <p:cNvSpPr/>
          <p:nvPr/>
        </p:nvSpPr>
        <p:spPr>
          <a:xfrm rot="0" flipH="0" flipV="0">
            <a:off x="8867775" y="3848100"/>
            <a:ext cx="2590800" cy="7239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8" name=""/>
          <p:cNvSpPr/>
          <p:nvPr/>
        </p:nvSpPr>
        <p:spPr>
          <a:xfrm rot="0" flipH="0" flipV="0">
            <a:off x="8867775" y="3848100"/>
            <a:ext cx="2590800" cy="723900"/>
          </a:xfrm>
          <a:custGeom>
            <a:pathLst>
              <a:path w="272" h="76">
                <a:moveTo>
                  <a:pt x="3" y="76"/>
                </a:moveTo>
                <a:cubicBezTo>
                  <a:pt x="1" y="76"/>
                  <a:pt x="0" y="75"/>
                  <a:pt x="0" y="7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8972550" y="3924300"/>
            <a:ext cx="2352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能联动</a:t>
            </a:r>
            <a:endParaRPr/>
          </a:p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8972550" y="412432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知识写回必须经由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Action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，纳入变更评审</a:t>
            </a:r>
            <a:endParaRPr/>
          </a:p>
        </p:txBody>
      </p:sp>
      <p:sp>
        <p:nvSpPr>
          <p:cNvPr id="1411" name=""/>
          <p:cNvSpPr/>
          <p:nvPr/>
        </p:nvSpPr>
        <p:spPr>
          <a:xfrm rot="0" flipH="0" flipV="0">
            <a:off x="609600" y="4667250"/>
            <a:ext cx="5448300" cy="952500"/>
          </a:xfrm>
          <a:prstGeom prst="roundRect">
            <a:avLst>
              <a:gd name="adj" fmla="val 4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12" name="" descr="{&quot;isTemplate&quot;:true,&quot;type&quot;:&quot;text&quot;}"/>
          <p:cNvSpPr txBox="1"/>
          <p:nvPr/>
        </p:nvSpPr>
        <p:spPr>
          <a:xfrm rot="0" flipH="0" flipV="0">
            <a:off x="762000" y="4829175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不要在第二步就宣称「我们有知识库了」</a:t>
            </a:r>
            <a:endParaRPr/>
          </a:p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762000" y="5048250"/>
            <a:ext cx="51435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搜得到和敢引用之间隔着整个治理体系。过早宣称会让使用者形成「答不出来就是库不全」的印象，而不是反馈问题，这条路走不通。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6134100" y="4667250"/>
            <a:ext cx="5448300" cy="9525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6286500" y="4829175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允许退回上一级</a:t>
            </a:r>
            <a:endParaRPr/>
          </a:p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6286500" y="5048250"/>
            <a:ext cx="51435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指标连续退步或时效门不过关时，把范围缩回一个知识域重新做扎实，比挂着「全公司知识库」的名头持续产出不可信答案要好得多。</a:t>
            </a:r>
            <a:endParaRPr/>
          </a:p>
        </p:txBody>
      </p:sp>
      <p:sp>
        <p:nvSpPr>
          <p:cNvPr id="141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1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482" name="" descr="&lt;Slide style={{ width: 1280, height: 720, background: '#0F1423' }}&gt;&#10; &lt;Box style={{ position: 'absolute', left: 0, top: 0, width: 1280, height: 720, background: 'linear-gradient(135deg, #0F1423 0%, #2A1810 100%)' }} /&gt;&#10;    &lt;Box style={{ position: 'absolute', right: 0, top: 0, width: 620, height: 720, background: 'linear-gradient(200deg, rgba(250,79,36,0.26) 0%, rgba(250,79,36,0) 70%)' }} /&gt;&#10;&#10;    &lt;Box style={{ position: 'absolute', left: 88, top: 52, width: 1104 }}&gt;&#10;        &lt;Text style={{ fontSize: 15, color: 'rgba(255,255,255,0.5)', letterSpacing: 3 }}&gt;结语 · 第七册&lt;/Text&gt;&#10;   &lt;Text style={{ fontSize: 42, fontWeight: 'bold', color: '#FFFFFF', marginTop: 14, lineHeight: 1.3 }}&gt;&#10;      会存知识不算本事，&lt;span style={{ color: '#FA4F24' }}&gt;知道哪条算数&lt;/span&gt;才是&#10;        &lt;/Text&gt;&#10;      &lt;Box style={{ width: 72, height: 5, background: '#FA4F24', marginTop: 20 }} /&gt;&#10;    &lt;/Box&gt;&#10;&#10;  {/* 七册 */}&#10;    &lt;Box style={{ position: 'absolute', left: 88, top: 222, width: 1104, flexDirection: 'column', gap: 6 }}&gt;&#10;      &lt;Text style={{ fontSize: 14, fontWeight: 'bold', color: 'rgba(255,255,255,0.72)' }}&gt;七册串成一条链路&lt;/Text&gt;&#10;      {[&#10;    { b: 'DA', t: '先有治，才有存', s: '数据架构是枢纽', c: '#8A8F99' },&#10;        { b: 'BA', t: '能力与组织解耦', s: '业务架构是基础', c: '#8A8F99' },&#10;   { b: 'AA', t: '数量增长带来技术债', s: '应用架构是载体', c: '#8A8F99' },&#10;        { b: 'TA', t: '不押注单点技术', s: '技术架构是底座', c: '#8A8F99' },&#10;        { b: 'ONT', t: '语义与动力学合一', s: '本体是 4A 的汇流点', c: '#F87D2F' },&#10;        { b: 'AGT', t: '明确谁来判断、何时停手', s: 'Agent 是 4A 的新实践点', c: '#F87D2F' },&#10;        { b: 'KB', t: '知识要被治理，不只是被存起来', s: '知识库是 4A 的新实践点', c: '#FA4F24' },&#10;      ].map((it, i) =&gt; (&#10;     &lt;Box key={it.b} style={{ height: 40, background: 'rgba(255,255,255,0.06)', borderRadius: 3, borderLeft: '3px solid ' + it.c, padding: '0 14px', flexDirection: 'row', alignItems: 'center', gap: 14 }}&gt;&#10;     &lt;Text style={{ fontSize: 14, fontWeight: 'bold', color: it.c, width: 44 }}&gt;{it.b}&lt;/Text&gt;&#10;   &lt;Text style={{ fontSize: 15, fontWeight: 'bold', color: '#FFFFFF', width: 320 }}&gt;{it.t}&lt;/Text&gt;&#10;   &lt;Text style={{ fontSize: 12, color: 'rgba(255,255,255,0.55)' }}&gt;{it.s}&lt;/Text&gt;&#10;      &lt;/Box&gt;&#10;      ))}&#10;    &lt;/Box&gt;&#10;&#10;    {/* 三个收束句 */}&#10;    &lt;Box style={{ position: 'absolute', left: 88, bottom: 88, width: 1104, flexDirection: 'row', gap: 10 }}&gt;&#10;      {[&#10;        { t: '知识库决定 Agent 能知道多少', d: '依据必须带出处，否则答案无法被采信。' },&#10;        { t: '本体决定知识怎么被理解', d: '同一个词在两处解释，检索越准错得越离谱。' },&#10;    { t: '方法论的价值是划出红线', d: '哪条算数、谁说了算、何时过期、凭什么引用。' },&#10;      ].map((it, i) =&gt; (&#10;   &lt;Box key={it.t} style={{ flex: 1, background: 'rgba(255,255,255,0.07)', borderRadius: 3, borderTop: '3px solid #FA4F24', padding: '10px 14px' }}&gt;&#10;          &lt;Text style={{ fontSize: 15, fontWeight: 'bold', color: '#FFFFFF' }}&gt;{it.t}&lt;/Text&gt;&#10;          &lt;Text style={{ fontSize: 12, color: 'rgba(255,255,255,0.62)', marginTop: 5, lineHeight: 1.45 }}&gt;{it.d}&lt;/Text&gt;&#10;    &lt;/Box&gt;&#10;      ))}&#10;    &lt;/Box&gt;&#10;&#10;    &lt;Box style={{ position: 'absolute', right: 88, bottom: 40, flexDirection: 'row', alignItems: 'center', gap: 12 }}&gt;&#10;   &lt;Box style={{ width: 14, height: 14, background: '#FA4F24' }} /&gt;&#10;      &lt;Text style={{ fontSize: 14, color: 'rgba(255,255,255,0.5)' }}&gt;硕磐机密 · 知识库咨询方法论&lt;/Text&gt;&#10;    &lt;Text style={{ fontSize: 14, color: 'rgba(255,255,255,0.5)', marginLeft: 12 }}&gt;3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85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838200" y="4953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结语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第七册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838200" y="800100"/>
            <a:ext cx="10515600" cy="6286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会存知识不算本事，</a:t>
            </a:r>
            <a:r>
              <a:rPr lang="zh-CN" sz="3150" b="1">
                <a:solidFill>
                  <a:srgbClr val="FA4F24"/>
                </a:solidFill>
                <a:latin typeface="Microsoft YaHei"/>
                <a:ea typeface="Microsoft YaHei"/>
              </a:rPr>
              <a:t>知道哪条算数</a:t>
            </a: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才是</a:t>
            </a:r>
            <a:endParaRPr/>
          </a:p>
        </p:txBody>
      </p:sp>
      <p:sp>
        <p:nvSpPr>
          <p:cNvPr id="1488" name=""/>
          <p:cNvSpPr/>
          <p:nvPr/>
        </p:nvSpPr>
        <p:spPr>
          <a:xfrm rot="0" flipH="0" flipV="0">
            <a:off x="838200" y="16192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89" name="" descr="{&quot;isTemplate&quot;:true,&quot;type&quot;:&quot;text&quot;}"/>
          <p:cNvSpPr txBox="1"/>
          <p:nvPr/>
        </p:nvSpPr>
        <p:spPr>
          <a:xfrm rot="0" flipH="0" flipV="0">
            <a:off x="838200" y="2114550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七册串成一条链路</a:t>
            </a:r>
            <a:endParaRPr/>
          </a:p>
        </p:txBody>
      </p:sp>
      <p:sp>
        <p:nvSpPr>
          <p:cNvPr id="1490" name=""/>
          <p:cNvSpPr/>
          <p:nvPr/>
        </p:nvSpPr>
        <p:spPr>
          <a:xfrm rot="0" flipH="0" flipV="0">
            <a:off x="866775" y="233362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91" name=""/>
          <p:cNvSpPr/>
          <p:nvPr/>
        </p:nvSpPr>
        <p:spPr>
          <a:xfrm rot="0" flipH="0" flipV="0">
            <a:off x="866775" y="233362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1000125" y="24479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1552575" y="24384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先有治，才有存</a:t>
            </a:r>
            <a:endParaRPr/>
          </a:p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4733925" y="24574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数据架构是枢纽</a:t>
            </a:r>
            <a:endParaRPr/>
          </a:p>
        </p:txBody>
      </p:sp>
      <p:sp>
        <p:nvSpPr>
          <p:cNvPr id="1495" name=""/>
          <p:cNvSpPr/>
          <p:nvPr/>
        </p:nvSpPr>
        <p:spPr>
          <a:xfrm rot="0" flipH="0" flipV="0">
            <a:off x="866775" y="277177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96" name=""/>
          <p:cNvSpPr/>
          <p:nvPr/>
        </p:nvSpPr>
        <p:spPr>
          <a:xfrm rot="0" flipH="0" flipV="0">
            <a:off x="866775" y="277177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1000125" y="28860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1552575" y="28765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能力与组织解耦</a:t>
            </a:r>
            <a:endParaRPr/>
          </a:p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4733925" y="28956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业务架构是基础</a:t>
            </a:r>
            <a:endParaRPr/>
          </a:p>
        </p:txBody>
      </p:sp>
      <p:sp>
        <p:nvSpPr>
          <p:cNvPr id="1500" name=""/>
          <p:cNvSpPr/>
          <p:nvPr/>
        </p:nvSpPr>
        <p:spPr>
          <a:xfrm rot="0" flipH="0" flipV="0">
            <a:off x="866775" y="320992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01" name=""/>
          <p:cNvSpPr/>
          <p:nvPr/>
        </p:nvSpPr>
        <p:spPr>
          <a:xfrm rot="0" flipH="0" flipV="0">
            <a:off x="866775" y="320992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1000125" y="33242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1552575" y="33147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数量增长带来技术债</a:t>
            </a:r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4733925" y="33337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应用架构是载体</a:t>
            </a:r>
            <a:endParaRPr/>
          </a:p>
        </p:txBody>
      </p:sp>
      <p:sp>
        <p:nvSpPr>
          <p:cNvPr id="1505" name=""/>
          <p:cNvSpPr/>
          <p:nvPr/>
        </p:nvSpPr>
        <p:spPr>
          <a:xfrm rot="0" flipH="0" flipV="0">
            <a:off x="866775" y="364807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06" name=""/>
          <p:cNvSpPr/>
          <p:nvPr/>
        </p:nvSpPr>
        <p:spPr>
          <a:xfrm rot="0" flipH="0" flipV="0">
            <a:off x="866775" y="364807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507" name="" descr="{&quot;isTemplate&quot;:true,&quot;type&quot;:&quot;text&quot;}"/>
          <p:cNvSpPr txBox="1"/>
          <p:nvPr/>
        </p:nvSpPr>
        <p:spPr>
          <a:xfrm rot="0" flipH="0" flipV="0">
            <a:off x="1000125" y="37623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1552575" y="37528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不押注单点技术</a:t>
            </a:r>
            <a:endParaRPr/>
          </a:p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4733925" y="37719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技术架构是底座</a:t>
            </a:r>
            <a:endParaRPr/>
          </a:p>
        </p:txBody>
      </p:sp>
      <p:sp>
        <p:nvSpPr>
          <p:cNvPr id="1510" name=""/>
          <p:cNvSpPr/>
          <p:nvPr/>
        </p:nvSpPr>
        <p:spPr>
          <a:xfrm rot="0" flipH="0" flipV="0">
            <a:off x="866775" y="408622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11" name=""/>
          <p:cNvSpPr/>
          <p:nvPr/>
        </p:nvSpPr>
        <p:spPr>
          <a:xfrm rot="0" flipH="0" flipV="0">
            <a:off x="866775" y="408622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1000125" y="42005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1513" name="" descr="{&quot;isTemplate&quot;:true,&quot;type&quot;:&quot;text&quot;}"/>
          <p:cNvSpPr txBox="1"/>
          <p:nvPr/>
        </p:nvSpPr>
        <p:spPr>
          <a:xfrm rot="0" flipH="0" flipV="0">
            <a:off x="1552575" y="41910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语义与动力学合一</a:t>
            </a:r>
            <a:endParaRPr/>
          </a:p>
        </p:txBody>
      </p:sp>
      <p:sp>
        <p:nvSpPr>
          <p:cNvPr id="1514" name="" descr="{&quot;isTemplate&quot;:true,&quot;type&quot;:&quot;text&quot;}"/>
          <p:cNvSpPr txBox="1"/>
          <p:nvPr/>
        </p:nvSpPr>
        <p:spPr>
          <a:xfrm rot="0" flipH="0" flipV="0">
            <a:off x="4733925" y="4210050"/>
            <a:ext cx="101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本体是</a:t>
            </a:r>
            <a:r>
              <a:rPr lang="en-US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的汇流点</a:t>
            </a:r>
            <a:endParaRPr/>
          </a:p>
        </p:txBody>
      </p:sp>
      <p:sp>
        <p:nvSpPr>
          <p:cNvPr id="1515" name=""/>
          <p:cNvSpPr/>
          <p:nvPr/>
        </p:nvSpPr>
        <p:spPr>
          <a:xfrm rot="0" flipH="0" flipV="0">
            <a:off x="866775" y="452437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16" name=""/>
          <p:cNvSpPr/>
          <p:nvPr/>
        </p:nvSpPr>
        <p:spPr>
          <a:xfrm rot="0" flipH="0" flipV="0">
            <a:off x="866775" y="452437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1000125" y="46386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1552575" y="46291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明确谁来判断、何时停手</a:t>
            </a:r>
            <a:endParaRPr/>
          </a:p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4733925" y="4648200"/>
            <a:ext cx="1266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是</a:t>
            </a:r>
            <a:r>
              <a:rPr lang="en-US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的新实践点</a:t>
            </a:r>
            <a:endParaRPr/>
          </a:p>
        </p:txBody>
      </p:sp>
      <p:sp>
        <p:nvSpPr>
          <p:cNvPr id="1520" name=""/>
          <p:cNvSpPr/>
          <p:nvPr/>
        </p:nvSpPr>
        <p:spPr>
          <a:xfrm rot="0" flipH="0" flipV="0">
            <a:off x="866775" y="4962525"/>
            <a:ext cx="10515600" cy="381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21" name=""/>
          <p:cNvSpPr/>
          <p:nvPr/>
        </p:nvSpPr>
        <p:spPr>
          <a:xfrm rot="0" flipH="0" flipV="0">
            <a:off x="866775" y="4962525"/>
            <a:ext cx="10515600" cy="381000"/>
          </a:xfrm>
          <a:custGeom>
            <a:pathLst>
              <a:path w="1104" h="40">
                <a:moveTo>
                  <a:pt x="3" y="40"/>
                </a:moveTo>
                <a:cubicBezTo>
                  <a:pt x="1" y="40"/>
                  <a:pt x="0" y="39"/>
                  <a:pt x="0" y="3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1000125" y="50768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1552575" y="50673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知识要被治理，不只是被存起来</a:t>
            </a:r>
            <a:endParaRPr/>
          </a:p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4733925" y="5086350"/>
            <a:ext cx="1247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知识库是</a:t>
            </a:r>
            <a:r>
              <a:rPr lang="en-US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的新实践点</a:t>
            </a:r>
            <a:endParaRPr/>
          </a:p>
        </p:txBody>
      </p:sp>
      <p:sp>
        <p:nvSpPr>
          <p:cNvPr id="1525" name=""/>
          <p:cNvSpPr/>
          <p:nvPr/>
        </p:nvSpPr>
        <p:spPr>
          <a:xfrm rot="0" flipH="0" flipV="0">
            <a:off x="838200" y="5410200"/>
            <a:ext cx="3438525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26" name=""/>
          <p:cNvSpPr/>
          <p:nvPr/>
        </p:nvSpPr>
        <p:spPr>
          <a:xfrm rot="0" flipH="0" flipV="0">
            <a:off x="838200" y="5410200"/>
            <a:ext cx="3438525" cy="638175"/>
          </a:xfrm>
          <a:custGeom>
            <a:pathLst>
              <a:path w="361" h="67">
                <a:moveTo>
                  <a:pt x="358" y="0"/>
                </a:moveTo>
                <a:cubicBezTo>
                  <a:pt x="360" y="0"/>
                  <a:pt x="361" y="1"/>
                  <a:pt x="36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971550" y="5505450"/>
            <a:ext cx="3171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知识库决定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能知道多少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971550" y="5724525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依据必须带出处，否则答案无法被采信。</a:t>
            </a:r>
            <a:endParaRPr/>
          </a:p>
        </p:txBody>
      </p:sp>
      <p:sp>
        <p:nvSpPr>
          <p:cNvPr id="1529" name=""/>
          <p:cNvSpPr/>
          <p:nvPr/>
        </p:nvSpPr>
        <p:spPr>
          <a:xfrm rot="0" flipH="0" flipV="0">
            <a:off x="4371975" y="5410200"/>
            <a:ext cx="3448050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30" name=""/>
          <p:cNvSpPr/>
          <p:nvPr/>
        </p:nvSpPr>
        <p:spPr>
          <a:xfrm rot="0" flipH="0" flipV="0">
            <a:off x="4371975" y="5410200"/>
            <a:ext cx="3448050" cy="638175"/>
          </a:xfrm>
          <a:custGeom>
            <a:pathLst>
              <a:path w="362" h="67">
                <a:moveTo>
                  <a:pt x="359" y="0"/>
                </a:moveTo>
                <a:cubicBezTo>
                  <a:pt x="361" y="0"/>
                  <a:pt x="362" y="1"/>
                  <a:pt x="36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4505325" y="5505450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本体决定知识怎么被理解</a:t>
            </a:r>
            <a:endParaRPr/>
          </a:p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4505325" y="5724525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同一个词在两处解释，检索越准错得越离谱。</a:t>
            </a:r>
            <a:endParaRPr/>
          </a:p>
        </p:txBody>
      </p:sp>
      <p:sp>
        <p:nvSpPr>
          <p:cNvPr id="1533" name=""/>
          <p:cNvSpPr/>
          <p:nvPr/>
        </p:nvSpPr>
        <p:spPr>
          <a:xfrm rot="0" flipH="0" flipV="0">
            <a:off x="7915275" y="5410200"/>
            <a:ext cx="3438525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34" name=""/>
          <p:cNvSpPr/>
          <p:nvPr/>
        </p:nvSpPr>
        <p:spPr>
          <a:xfrm rot="0" flipH="0" flipV="0">
            <a:off x="7915275" y="5410200"/>
            <a:ext cx="3438525" cy="638175"/>
          </a:xfrm>
          <a:custGeom>
            <a:pathLst>
              <a:path w="361" h="67">
                <a:moveTo>
                  <a:pt x="358" y="0"/>
                </a:moveTo>
                <a:cubicBezTo>
                  <a:pt x="360" y="0"/>
                  <a:pt x="361" y="1"/>
                  <a:pt x="36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8048625" y="5505450"/>
            <a:ext cx="3171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方法论的价值是划出红线</a:t>
            </a:r>
            <a:endParaRPr/>
          </a:p>
        </p:txBody>
      </p:sp>
      <p:sp>
        <p:nvSpPr>
          <p:cNvPr id="1536" name="" descr="{&quot;isTemplate&quot;:true,&quot;type&quot;:&quot;text&quot;}"/>
          <p:cNvSpPr txBox="1"/>
          <p:nvPr/>
        </p:nvSpPr>
        <p:spPr>
          <a:xfrm rot="0" flipH="0" flipV="0">
            <a:off x="8048625" y="5724525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哪条算数、谁说了算、何时过期、凭什么引用。</a:t>
            </a:r>
            <a:endParaRPr/>
          </a:p>
        </p:txBody>
      </p:sp>
      <p:sp>
        <p:nvSpPr>
          <p:cNvPr id="1537" name=""/>
          <p:cNvSpPr/>
          <p:nvPr/>
        </p:nvSpPr>
        <p:spPr>
          <a:xfrm rot="0" flipH="0" flipV="0">
            <a:off x="8705850" y="63341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8953500" y="63150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知识库咨询方法论</a:t>
            </a:r>
            <a:endParaRPr/>
          </a:p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108966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2026-10-12T07:10:25Z</dcterms:created>
  <dcterms:modified xsi:type="dcterms:W3CDTF">2026-10-12T07:10:25Z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{"AIGC":{"Label":"1","ContentProducer":"00119111010856365494821B355","ProduceID":"01a12d29b32d74b7980a7dc3e13596e8","ReservedCode1":"","ContentPropagator":"00119111010856365494821B355","PropagateID":"01a12d29b32d74b7980a7dc3e13596e8","ReservedCode2":""}}</vt:lpwstr>
  </property>
</Properties>
</file>